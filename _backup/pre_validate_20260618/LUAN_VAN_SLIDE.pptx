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1691640"/>
            <a:ext cx="822960" cy="73152"/>
          </a:xfrm>
          <a:prstGeom prst="rect">
            <a:avLst/>
          </a:prstGeom>
          <a:solidFill>
            <a:srgbClr val="8A2433"/>
          </a:solidFill>
          <a:ln/>
        </p:spPr>
      </p:sp>
      <p:sp>
        <p:nvSpPr>
          <p:cNvPr id="3" name="Text 1"/>
          <p:cNvSpPr/>
          <p:nvPr/>
        </p:nvSpPr>
        <p:spPr>
          <a:xfrm>
            <a:off x="731520" y="1920240"/>
            <a:ext cx="10058400" cy="365760"/>
          </a:xfrm>
          <a:prstGeom prst="rect">
            <a:avLst/>
          </a:prstGeom>
          <a:noFill/>
          <a:ln/>
        </p:spPr>
        <p:txBody>
          <a:bodyPr wrap="square" rtlCol="0" anchor="ctr"/>
          <a:lstStyle/>
          <a:p>
            <a:pPr indent="0" marL="0">
              <a:buNone/>
            </a:pPr>
            <a:r>
              <a:rPr lang="en-US" sz="1300" b="1" spc="300" kern="0" dirty="0">
                <a:solidFill>
                  <a:srgbClr val="8A2433"/>
                </a:solidFill>
                <a:latin typeface="Segoe UI" pitchFamily="34" charset="0"/>
                <a:ea typeface="Segoe UI" pitchFamily="34" charset="-122"/>
                <a:cs typeface="Segoe UI" pitchFamily="34" charset="-120"/>
              </a:rPr>
              <a:t>ĐỀ CƯƠNG LUẬN VĂN THẠC SĨ</a:t>
            </a:r>
            <a:endParaRPr lang="en-US" sz="1300" dirty="0"/>
          </a:p>
        </p:txBody>
      </p:sp>
      <p:sp>
        <p:nvSpPr>
          <p:cNvPr id="4" name="Text 2"/>
          <p:cNvSpPr/>
          <p:nvPr/>
        </p:nvSpPr>
        <p:spPr>
          <a:xfrm>
            <a:off x="713232" y="2331720"/>
            <a:ext cx="10789920" cy="1554480"/>
          </a:xfrm>
          <a:prstGeom prst="rect">
            <a:avLst/>
          </a:prstGeom>
          <a:noFill/>
          <a:ln/>
        </p:spPr>
        <p:txBody>
          <a:bodyPr wrap="square" rtlCol="0" anchor="ctr"/>
          <a:lstStyle/>
          <a:p>
            <a:pPr indent="0" marL="0">
              <a:lnSpc>
                <a:spcPct val="105000"/>
              </a:lnSpc>
              <a:buNone/>
            </a:pPr>
            <a:r>
              <a:rPr lang="en-US" sz="3600" b="1" dirty="0">
                <a:solidFill>
                  <a:srgbClr val="1C2530"/>
                </a:solidFill>
                <a:latin typeface="Cambria" pitchFamily="34" charset="0"/>
                <a:ea typeface="Cambria" pitchFamily="34" charset="-122"/>
                <a:cs typeface="Cambria" pitchFamily="34" charset="-120"/>
              </a:rPr>
              <a:t>Sinh tự động hướng dẫn sử dụng phần mềm</a:t>
            </a:r>
            <a:endParaRPr lang="en-US" sz="3600" dirty="0"/>
          </a:p>
          <a:p>
            <a:pPr indent="0" marL="0">
              <a:lnSpc>
                <a:spcPct val="105000"/>
              </a:lnSpc>
              <a:buNone/>
            </a:pPr>
            <a:r>
              <a:rPr lang="en-US" sz="3600" b="1" dirty="0">
                <a:solidFill>
                  <a:srgbClr val="1C2530"/>
                </a:solidFill>
                <a:latin typeface="Cambria" pitchFamily="34" charset="0"/>
                <a:ea typeface="Cambria" pitchFamily="34" charset="-122"/>
                <a:cs typeface="Cambria" pitchFamily="34" charset="-120"/>
              </a:rPr>
              <a:t>từ ảnh màn hình + câu hỏi</a:t>
            </a:r>
            <a:endParaRPr lang="en-US" sz="3600" dirty="0"/>
          </a:p>
        </p:txBody>
      </p:sp>
      <p:sp>
        <p:nvSpPr>
          <p:cNvPr id="5" name="Text 3"/>
          <p:cNvSpPr/>
          <p:nvPr/>
        </p:nvSpPr>
        <p:spPr>
          <a:xfrm>
            <a:off x="731520" y="3977640"/>
            <a:ext cx="10058400" cy="457200"/>
          </a:xfrm>
          <a:prstGeom prst="rect">
            <a:avLst/>
          </a:prstGeom>
          <a:noFill/>
          <a:ln/>
        </p:spPr>
        <p:txBody>
          <a:bodyPr wrap="square" rtlCol="0" anchor="ctr"/>
          <a:lstStyle/>
          <a:p>
            <a:pPr indent="0" marL="0">
              <a:buNone/>
            </a:pPr>
            <a:r>
              <a:rPr lang="en-US" sz="2000" i="1" dirty="0">
                <a:solidFill>
                  <a:srgbClr val="3C434B"/>
                </a:solidFill>
                <a:latin typeface="Cambria" pitchFamily="34" charset="0"/>
                <a:ea typeface="Cambria" pitchFamily="34" charset="-122"/>
                <a:cs typeface="Cambria" pitchFamily="34" charset="-120"/>
              </a:rPr>
              <a:t>và đánh giá khi không có bản hướng dẫn mẫu</a:t>
            </a:r>
            <a:endParaRPr lang="en-US" sz="2000" dirty="0"/>
          </a:p>
        </p:txBody>
      </p:sp>
      <p:sp>
        <p:nvSpPr>
          <p:cNvPr id="6" name="Text 4"/>
          <p:cNvSpPr/>
          <p:nvPr/>
        </p:nvSpPr>
        <p:spPr>
          <a:xfrm>
            <a:off x="731520" y="4754880"/>
            <a:ext cx="10607040" cy="365760"/>
          </a:xfrm>
          <a:prstGeom prst="rect">
            <a:avLst/>
          </a:prstGeom>
          <a:noFill/>
          <a:ln/>
        </p:spPr>
        <p:txBody>
          <a:bodyPr wrap="square" rtlCol="0" anchor="ctr"/>
          <a:lstStyle/>
          <a:p>
            <a:pPr indent="0" marL="0">
              <a:buNone/>
            </a:pPr>
            <a:r>
              <a:rPr lang="en-US" sz="1350" dirty="0">
                <a:solidFill>
                  <a:srgbClr val="8A929B"/>
                </a:solidFill>
                <a:latin typeface="Segoe UI" pitchFamily="34" charset="0"/>
                <a:ea typeface="Segoe UI" pitchFamily="34" charset="-122"/>
                <a:cs typeface="Segoe UI" pitchFamily="34" charset="-120"/>
              </a:rPr>
              <a:t>Mạch trình bày:  Bài toán → Dữ liệu → Đa bước (sắp thứ tự màn) → Pipeline → Cách chấm → Khả thi</a:t>
            </a:r>
            <a:endParaRPr lang="en-US" sz="1350" dirty="0"/>
          </a:p>
        </p:txBody>
      </p:sp>
      <p:sp>
        <p:nvSpPr>
          <p:cNvPr id="7" name="Text 5"/>
          <p:cNvSpPr/>
          <p:nvPr/>
        </p:nvSpPr>
        <p:spPr>
          <a:xfrm>
            <a:off x="731520" y="5989320"/>
            <a:ext cx="10058400" cy="365760"/>
          </a:xfrm>
          <a:prstGeom prst="rect">
            <a:avLst/>
          </a:prstGeom>
          <a:noFill/>
          <a:ln/>
        </p:spPr>
        <p:txBody>
          <a:bodyPr wrap="square" rtlCol="0" anchor="ctr"/>
          <a:lstStyle/>
          <a:p>
            <a:pPr indent="0" marL="0">
              <a:buNone/>
            </a:pPr>
            <a:r>
              <a:rPr lang="en-US" sz="1350" dirty="0">
                <a:solidFill>
                  <a:srgbClr val="3C434B"/>
                </a:solidFill>
                <a:latin typeface="Segoe UI" pitchFamily="34" charset="0"/>
                <a:ea typeface="Segoe UI" pitchFamily="34" charset="-122"/>
                <a:cs typeface="Segoe UI" pitchFamily="34" charset="-120"/>
              </a:rPr>
              <a:t>Học viên: ………………       GVHD: ………………       2026</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BÀI TOÁN</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Vào 1 ảnh + 1 câu hỏi  →  Ra hướng dẫn từng bước</a:t>
            </a:r>
            <a:endParaRPr lang="en-US" sz="2700" dirty="0"/>
          </a:p>
        </p:txBody>
      </p:sp>
      <p:sp>
        <p:nvSpPr>
          <p:cNvPr id="4" name="Shape 2"/>
          <p:cNvSpPr/>
          <p:nvPr/>
        </p:nvSpPr>
        <p:spPr>
          <a:xfrm>
            <a:off x="731520" y="1920240"/>
            <a:ext cx="45720" cy="1280160"/>
          </a:xfrm>
          <a:prstGeom prst="rect">
            <a:avLst/>
          </a:prstGeom>
          <a:solidFill>
            <a:srgbClr val="8A2433"/>
          </a:solidFill>
          <a:ln/>
        </p:spPr>
      </p:sp>
      <p:sp>
        <p:nvSpPr>
          <p:cNvPr id="5" name="Text 3"/>
          <p:cNvSpPr/>
          <p:nvPr/>
        </p:nvSpPr>
        <p:spPr>
          <a:xfrm>
            <a:off x="960120" y="1920240"/>
            <a:ext cx="4572000" cy="320040"/>
          </a:xfrm>
          <a:prstGeom prst="rect">
            <a:avLst/>
          </a:prstGeom>
          <a:noFill/>
          <a:ln/>
        </p:spPr>
        <p:txBody>
          <a:bodyPr wrap="square" lIns="0" tIns="0" rIns="0" bIns="0" rtlCol="0" anchor="ctr"/>
          <a:lstStyle/>
          <a:p>
            <a:pPr indent="0" marL="0">
              <a:buNone/>
            </a:pPr>
            <a:r>
              <a:rPr lang="en-US" sz="1400" b="1" dirty="0">
                <a:solidFill>
                  <a:srgbClr val="8A2433"/>
                </a:solidFill>
                <a:latin typeface="Segoe UI" pitchFamily="34" charset="0"/>
                <a:ea typeface="Segoe UI" pitchFamily="34" charset="-122"/>
                <a:cs typeface="Segoe UI" pitchFamily="34" charset="-120"/>
              </a:rPr>
              <a:t>VÀO</a:t>
            </a:r>
            <a:endParaRPr lang="en-US" sz="1400" dirty="0"/>
          </a:p>
        </p:txBody>
      </p:sp>
      <p:sp>
        <p:nvSpPr>
          <p:cNvPr id="6" name="Text 4"/>
          <p:cNvSpPr/>
          <p:nvPr/>
        </p:nvSpPr>
        <p:spPr>
          <a:xfrm>
            <a:off x="960120" y="2286000"/>
            <a:ext cx="4754880" cy="914400"/>
          </a:xfrm>
          <a:prstGeom prst="rect">
            <a:avLst/>
          </a:prstGeom>
          <a:noFill/>
          <a:ln/>
        </p:spPr>
        <p:txBody>
          <a:bodyPr wrap="square" lIns="0" tIns="0" rIns="0" bIns="0" rtlCol="0" anchor="ctr"/>
          <a:lstStyle/>
          <a:p>
            <a:pPr indent="0" marL="0">
              <a:lnSpc>
                <a:spcPct val="120000"/>
              </a:lnSpc>
              <a:buNone/>
            </a:pPr>
            <a:r>
              <a:rPr lang="en-US" sz="1600" dirty="0">
                <a:solidFill>
                  <a:srgbClr val="3C434B"/>
                </a:solidFill>
                <a:latin typeface="Segoe UI" pitchFamily="34" charset="0"/>
                <a:ea typeface="Segoe UI" pitchFamily="34" charset="-122"/>
                <a:cs typeface="Segoe UI" pitchFamily="34" charset="-120"/>
              </a:rPr>
              <a:t>• 1 ảnh chụp màn hình UI</a:t>
            </a:r>
            <a:endParaRPr lang="en-US" sz="1600" dirty="0"/>
          </a:p>
          <a:p>
            <a:pPr indent="0" marL="0">
              <a:lnSpc>
                <a:spcPct val="120000"/>
              </a:lnSpc>
              <a:buNone/>
            </a:pPr>
            <a:r>
              <a:rPr lang="en-US" sz="1600" dirty="0">
                <a:solidFill>
                  <a:srgbClr val="3C434B"/>
                </a:solidFill>
                <a:latin typeface="Segoe UI" pitchFamily="34" charset="0"/>
                <a:ea typeface="Segoe UI" pitchFamily="34" charset="-122"/>
                <a:cs typeface="Segoe UI" pitchFamily="34" charset="-120"/>
              </a:rPr>
              <a:t>• 1 câu hỏi bằng lời thường</a:t>
            </a:r>
            <a:endParaRPr lang="en-US" sz="1600" dirty="0"/>
          </a:p>
        </p:txBody>
      </p:sp>
      <p:sp>
        <p:nvSpPr>
          <p:cNvPr id="7" name="Shape 5"/>
          <p:cNvSpPr/>
          <p:nvPr/>
        </p:nvSpPr>
        <p:spPr>
          <a:xfrm>
            <a:off x="731520" y="3566160"/>
            <a:ext cx="45720" cy="1280160"/>
          </a:xfrm>
          <a:prstGeom prst="rect">
            <a:avLst/>
          </a:prstGeom>
          <a:solidFill>
            <a:srgbClr val="8A2433"/>
          </a:solidFill>
          <a:ln/>
        </p:spPr>
      </p:sp>
      <p:sp>
        <p:nvSpPr>
          <p:cNvPr id="8" name="Text 6"/>
          <p:cNvSpPr/>
          <p:nvPr/>
        </p:nvSpPr>
        <p:spPr>
          <a:xfrm>
            <a:off x="960120" y="3566160"/>
            <a:ext cx="4572000" cy="320040"/>
          </a:xfrm>
          <a:prstGeom prst="rect">
            <a:avLst/>
          </a:prstGeom>
          <a:noFill/>
          <a:ln/>
        </p:spPr>
        <p:txBody>
          <a:bodyPr wrap="square" lIns="0" tIns="0" rIns="0" bIns="0" rtlCol="0" anchor="ctr"/>
          <a:lstStyle/>
          <a:p>
            <a:pPr indent="0" marL="0">
              <a:buNone/>
            </a:pPr>
            <a:r>
              <a:rPr lang="en-US" sz="1400" b="1" dirty="0">
                <a:solidFill>
                  <a:srgbClr val="8A2433"/>
                </a:solidFill>
                <a:latin typeface="Segoe UI" pitchFamily="34" charset="0"/>
                <a:ea typeface="Segoe UI" pitchFamily="34" charset="-122"/>
                <a:cs typeface="Segoe UI" pitchFamily="34" charset="-120"/>
              </a:rPr>
              <a:t>RA</a:t>
            </a:r>
            <a:endParaRPr lang="en-US" sz="1400" dirty="0"/>
          </a:p>
        </p:txBody>
      </p:sp>
      <p:sp>
        <p:nvSpPr>
          <p:cNvPr id="9" name="Text 7"/>
          <p:cNvSpPr/>
          <p:nvPr/>
        </p:nvSpPr>
        <p:spPr>
          <a:xfrm>
            <a:off x="960120" y="3931920"/>
            <a:ext cx="4754880" cy="914400"/>
          </a:xfrm>
          <a:prstGeom prst="rect">
            <a:avLst/>
          </a:prstGeom>
          <a:noFill/>
          <a:ln/>
        </p:spPr>
        <p:txBody>
          <a:bodyPr wrap="square" lIns="0" tIns="0" rIns="0" bIns="0" rtlCol="0" anchor="ctr"/>
          <a:lstStyle/>
          <a:p>
            <a:pPr indent="0" marL="0">
              <a:lnSpc>
                <a:spcPct val="120000"/>
              </a:lnSpc>
              <a:buNone/>
            </a:pPr>
            <a:r>
              <a:rPr lang="en-US" sz="1600" dirty="0">
                <a:solidFill>
                  <a:srgbClr val="3C434B"/>
                </a:solidFill>
                <a:latin typeface="Segoe UI" pitchFamily="34" charset="0"/>
                <a:ea typeface="Segoe UI" pitchFamily="34" charset="-122"/>
                <a:cs typeface="Segoe UI" pitchFamily="34" charset="-120"/>
              </a:rPr>
              <a:t>Hướng dẫn bấm TỪNG BƯỚC, cho người đọc, bám sát ngữ cảnh ảnh.</a:t>
            </a:r>
            <a:endParaRPr lang="en-US" sz="1600" dirty="0"/>
          </a:p>
        </p:txBody>
      </p:sp>
      <p:sp>
        <p:nvSpPr>
          <p:cNvPr id="10" name="Shape 8"/>
          <p:cNvSpPr/>
          <p:nvPr/>
        </p:nvSpPr>
        <p:spPr>
          <a:xfrm>
            <a:off x="6583680" y="1920240"/>
            <a:ext cx="4846320" cy="3657600"/>
          </a:xfrm>
          <a:prstGeom prst="rect">
            <a:avLst/>
          </a:prstGeom>
          <a:solidFill>
            <a:srgbClr val="F4F6F8"/>
          </a:solidFill>
          <a:ln/>
        </p:spPr>
      </p:sp>
      <p:sp>
        <p:nvSpPr>
          <p:cNvPr id="11" name="Text 9"/>
          <p:cNvSpPr/>
          <p:nvPr/>
        </p:nvSpPr>
        <p:spPr>
          <a:xfrm>
            <a:off x="6858000" y="2103120"/>
            <a:ext cx="4389120" cy="320040"/>
          </a:xfrm>
          <a:prstGeom prst="rect">
            <a:avLst/>
          </a:prstGeom>
          <a:noFill/>
          <a:ln/>
        </p:spPr>
        <p:txBody>
          <a:bodyPr wrap="square" lIns="0" tIns="0" rIns="0" bIns="0" rtlCol="0" anchor="ctr"/>
          <a:lstStyle/>
          <a:p>
            <a:pPr indent="0" marL="0">
              <a:buNone/>
            </a:pPr>
            <a:r>
              <a:rPr lang="en-US" sz="1300" b="1" dirty="0">
                <a:solidFill>
                  <a:srgbClr val="8A2433"/>
                </a:solidFill>
                <a:latin typeface="Segoe UI" pitchFamily="34" charset="0"/>
                <a:ea typeface="Segoe UI" pitchFamily="34" charset="-122"/>
                <a:cs typeface="Segoe UI" pitchFamily="34" charset="-120"/>
              </a:rPr>
              <a:t>VÍ DỤ — app eTax  (minh hoạ)</a:t>
            </a:r>
            <a:endParaRPr lang="en-US" sz="1300" dirty="0"/>
          </a:p>
        </p:txBody>
      </p:sp>
      <p:sp>
        <p:nvSpPr>
          <p:cNvPr id="12" name="Text 10"/>
          <p:cNvSpPr/>
          <p:nvPr/>
        </p:nvSpPr>
        <p:spPr>
          <a:xfrm>
            <a:off x="6858000" y="2514600"/>
            <a:ext cx="4389120" cy="822960"/>
          </a:xfrm>
          <a:prstGeom prst="rect">
            <a:avLst/>
          </a:prstGeom>
          <a:noFill/>
          <a:ln/>
        </p:spPr>
        <p:txBody>
          <a:bodyPr wrap="square" lIns="0" tIns="0" rIns="0" bIns="0" rtlCol="0" anchor="ctr"/>
          <a:lstStyle/>
          <a:p>
            <a:pPr indent="0" marL="0">
              <a:lnSpc>
                <a:spcPct val="110000"/>
              </a:lnSpc>
              <a:buNone/>
            </a:pPr>
            <a:r>
              <a:rPr lang="en-US" sz="1500" b="1" i="1" dirty="0">
                <a:solidFill>
                  <a:srgbClr val="1C2530"/>
                </a:solidFill>
                <a:latin typeface="Segoe UI" pitchFamily="34" charset="0"/>
                <a:ea typeface="Segoe UI" pitchFamily="34" charset="-122"/>
                <a:cs typeface="Segoe UI" pitchFamily="34" charset="-120"/>
              </a:rPr>
              <a:t>Câu hỏi: </a:t>
            </a:r>
            <a:pPr indent="0" marL="0">
              <a:lnSpc>
                <a:spcPct val="110000"/>
              </a:lnSpc>
              <a:buNone/>
            </a:pPr>
            <a:r>
              <a:rPr lang="en-US" sz="1500" i="1" dirty="0">
                <a:solidFill>
                  <a:srgbClr val="1C2530"/>
                </a:solidFill>
                <a:latin typeface="Segoe UI" pitchFamily="34" charset="0"/>
                <a:ea typeface="Segoe UI" pitchFamily="34" charset="-122"/>
                <a:cs typeface="Segoe UI" pitchFamily="34" charset="-120"/>
              </a:rPr>
              <a:t>“Kiểm tra đã nộp thuế chưa thì vào đâu?”</a:t>
            </a:r>
            <a:endParaRPr lang="en-US" sz="1500" dirty="0"/>
          </a:p>
        </p:txBody>
      </p:sp>
      <p:sp>
        <p:nvSpPr>
          <p:cNvPr id="13" name="Text 11"/>
          <p:cNvSpPr/>
          <p:nvPr/>
        </p:nvSpPr>
        <p:spPr>
          <a:xfrm>
            <a:off x="6858000" y="3429000"/>
            <a:ext cx="4389120" cy="274320"/>
          </a:xfrm>
          <a:prstGeom prst="rect">
            <a:avLst/>
          </a:prstGeom>
          <a:noFill/>
          <a:ln/>
        </p:spPr>
        <p:txBody>
          <a:bodyPr wrap="square" lIns="0" tIns="0" rIns="0" bIns="0" rtlCol="0" anchor="ctr"/>
          <a:lstStyle/>
          <a:p>
            <a:pPr indent="0" marL="0">
              <a:buNone/>
            </a:pPr>
            <a:r>
              <a:rPr lang="en-US" sz="1300" b="1" dirty="0">
                <a:solidFill>
                  <a:srgbClr val="3C434B"/>
                </a:solidFill>
                <a:latin typeface="Segoe UI" pitchFamily="34" charset="0"/>
                <a:ea typeface="Segoe UI" pitchFamily="34" charset="-122"/>
                <a:cs typeface="Segoe UI" pitchFamily="34" charset="-120"/>
              </a:rPr>
              <a:t>Máy trả lời:</a:t>
            </a:r>
            <a:endParaRPr lang="en-US" sz="1300" dirty="0"/>
          </a:p>
        </p:txBody>
      </p:sp>
      <p:sp>
        <p:nvSpPr>
          <p:cNvPr id="14" name="Text 12"/>
          <p:cNvSpPr/>
          <p:nvPr/>
        </p:nvSpPr>
        <p:spPr>
          <a:xfrm>
            <a:off x="6858000" y="3749040"/>
            <a:ext cx="4389120" cy="1645920"/>
          </a:xfrm>
          <a:prstGeom prst="rect">
            <a:avLst/>
          </a:prstGeom>
          <a:noFill/>
          <a:ln/>
        </p:spPr>
        <p:txBody>
          <a:bodyPr wrap="square" lIns="0" tIns="0" rIns="0" bIns="0" rtlCol="0" anchor="ctr"/>
          <a:lstStyle/>
          <a:p>
            <a:pPr indent="0" marL="0">
              <a:lnSpc>
                <a:spcPct val="130000"/>
              </a:lnSpc>
              <a:buNone/>
            </a:pPr>
            <a:r>
              <a:rPr lang="en-US" sz="1500" dirty="0">
                <a:solidFill>
                  <a:srgbClr val="1C2530"/>
                </a:solidFill>
                <a:latin typeface="Segoe UI" pitchFamily="34" charset="0"/>
                <a:ea typeface="Segoe UI" pitchFamily="34" charset="-122"/>
                <a:cs typeface="Segoe UI" pitchFamily="34" charset="-120"/>
              </a:rPr>
              <a:t>1. Bấm “Tra cứu nghĩa vụ thuế”</a:t>
            </a:r>
            <a:endParaRPr lang="en-US" sz="1500" dirty="0"/>
          </a:p>
          <a:p>
            <a:pPr indent="0" marL="0">
              <a:lnSpc>
                <a:spcPct val="130000"/>
              </a:lnSpc>
              <a:buNone/>
            </a:pPr>
            <a:r>
              <a:rPr lang="en-US" sz="1500" dirty="0">
                <a:solidFill>
                  <a:srgbClr val="1C2530"/>
                </a:solidFill>
                <a:latin typeface="Segoe UI" pitchFamily="34" charset="0"/>
                <a:ea typeface="Segoe UI" pitchFamily="34" charset="-122"/>
                <a:cs typeface="Segoe UI" pitchFamily="34" charset="-120"/>
              </a:rPr>
              <a:t>2. Chọn kỳ tính thuế</a:t>
            </a:r>
            <a:endParaRPr lang="en-US" sz="1500" dirty="0"/>
          </a:p>
          <a:p>
            <a:pPr indent="0" marL="0">
              <a:lnSpc>
                <a:spcPct val="130000"/>
              </a:lnSpc>
              <a:buNone/>
            </a:pPr>
            <a:r>
              <a:rPr lang="en-US" sz="1500" dirty="0">
                <a:solidFill>
                  <a:srgbClr val="1C2530"/>
                </a:solidFill>
                <a:latin typeface="Segoe UI" pitchFamily="34" charset="0"/>
                <a:ea typeface="Segoe UI" pitchFamily="34" charset="-122"/>
                <a:cs typeface="Segoe UI" pitchFamily="34" charset="-120"/>
              </a:rPr>
              <a:t>3. Xem trạng thái đã / chưa nộp</a:t>
            </a:r>
            <a:endParaRPr lang="en-US" sz="1500" dirty="0"/>
          </a:p>
        </p:txBody>
      </p:sp>
      <p:sp>
        <p:nvSpPr>
          <p:cNvPr id="15" name="Text 13"/>
          <p:cNvSpPr/>
          <p:nvPr/>
        </p:nvSpPr>
        <p:spPr>
          <a:xfrm>
            <a:off x="731520" y="5897880"/>
            <a:ext cx="10725912" cy="457200"/>
          </a:xfrm>
          <a:prstGeom prst="rect">
            <a:avLst/>
          </a:prstGeom>
          <a:noFill/>
          <a:ln/>
        </p:spPr>
        <p:txBody>
          <a:bodyPr wrap="square" lIns="0" tIns="0" rIns="0" bIns="0" rtlCol="0" anchor="ctr"/>
          <a:lstStyle/>
          <a:p>
            <a:pPr indent="0" marL="0">
              <a:lnSpc>
                <a:spcPct val="105000"/>
              </a:lnSpc>
              <a:buNone/>
            </a:pPr>
            <a:r>
              <a:rPr lang="en-US" sz="1300" i="1" dirty="0">
                <a:solidFill>
                  <a:srgbClr val="8A929B"/>
                </a:solidFill>
                <a:latin typeface="Segoe UI" pitchFamily="34" charset="0"/>
                <a:ea typeface="Segoe UI" pitchFamily="34" charset="-122"/>
                <a:cs typeface="Segoe UI" pitchFamily="34" charset="-120"/>
              </a:rPr>
              <a:t>Lúc chạy thật, máy CHỈ thấy ảnh + câu hỏi — không có gì thêm. Sản phẩm nhận cả 1 ảnh (đơn bước) lẫn nhiều ảnh (đa bước).</a:t>
            </a:r>
            <a:endParaRPr lang="en-US" sz="1300" dirty="0"/>
          </a:p>
        </p:txBody>
      </p:sp>
      <p:sp>
        <p:nvSpPr>
          <p:cNvPr id="16" name="Text 14"/>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VÌ SAO KHÓ</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Ba thách thức cốt lõi</a:t>
            </a:r>
            <a:endParaRPr lang="en-US" sz="2700" dirty="0"/>
          </a:p>
        </p:txBody>
      </p:sp>
      <p:sp>
        <p:nvSpPr>
          <p:cNvPr id="4" name="Shape 2"/>
          <p:cNvSpPr/>
          <p:nvPr/>
        </p:nvSpPr>
        <p:spPr>
          <a:xfrm>
            <a:off x="731520" y="1965960"/>
            <a:ext cx="45720" cy="960120"/>
          </a:xfrm>
          <a:prstGeom prst="rect">
            <a:avLst/>
          </a:prstGeom>
          <a:solidFill>
            <a:srgbClr val="8A2433"/>
          </a:solidFill>
          <a:ln/>
        </p:spPr>
      </p:sp>
      <p:sp>
        <p:nvSpPr>
          <p:cNvPr id="5" name="Text 3"/>
          <p:cNvSpPr/>
          <p:nvPr/>
        </p:nvSpPr>
        <p:spPr>
          <a:xfrm>
            <a:off x="987552" y="1965960"/>
            <a:ext cx="10424160" cy="365760"/>
          </a:xfrm>
          <a:prstGeom prst="rect">
            <a:avLst/>
          </a:prstGeom>
          <a:noFill/>
          <a:ln/>
        </p:spPr>
        <p:txBody>
          <a:bodyPr wrap="square" lIns="0" tIns="0" rIns="0" bIns="0" rtlCol="0" anchor="ctr"/>
          <a:lstStyle/>
          <a:p>
            <a:pPr indent="0" marL="0">
              <a:buNone/>
            </a:pPr>
            <a:r>
              <a:rPr lang="en-US" sz="1800" b="1" dirty="0">
                <a:solidFill>
                  <a:srgbClr val="1C2530"/>
                </a:solidFill>
                <a:latin typeface="Cambria" pitchFamily="34" charset="0"/>
                <a:ea typeface="Cambria" pitchFamily="34" charset="-122"/>
                <a:cs typeface="Cambria" pitchFamily="34" charset="-120"/>
              </a:rPr>
              <a:t>1.  Không có bản hướng dẫn mẫu</a:t>
            </a:r>
            <a:endParaRPr lang="en-US" sz="1800" dirty="0"/>
          </a:p>
        </p:txBody>
      </p:sp>
      <p:sp>
        <p:nvSpPr>
          <p:cNvPr id="6" name="Text 4"/>
          <p:cNvSpPr/>
          <p:nvPr/>
        </p:nvSpPr>
        <p:spPr>
          <a:xfrm>
            <a:off x="987552" y="2350008"/>
            <a:ext cx="10058400" cy="640080"/>
          </a:xfrm>
          <a:prstGeom prst="rect">
            <a:avLst/>
          </a:prstGeom>
          <a:noFill/>
          <a:ln/>
        </p:spPr>
        <p:txBody>
          <a:bodyPr wrap="square" lIns="0" tIns="0" rIns="0" bIns="0" rtlCol="0" anchor="ctr"/>
          <a:lstStyle/>
          <a:p>
            <a:pPr indent="0" marL="0">
              <a:lnSpc>
                <a:spcPct val="108000"/>
              </a:lnSpc>
              <a:buNone/>
            </a:pPr>
            <a:r>
              <a:rPr lang="en-US" sz="1450" dirty="0">
                <a:solidFill>
                  <a:srgbClr val="3C434B"/>
                </a:solidFill>
                <a:latin typeface="Segoe UI" pitchFamily="34" charset="0"/>
                <a:ea typeface="Segoe UI" pitchFamily="34" charset="-122"/>
                <a:cs typeface="Segoe UI" pitchFamily="34" charset="-120"/>
              </a:rPr>
              <a:t>Không ai viết sẵn hướng dẫn chuẩn cho từng app để máy học/đối chiếu → phải nghĩ cách CHẤM ĐIỂM khi không có cái để so.</a:t>
            </a:r>
            <a:endParaRPr lang="en-US" sz="1450" dirty="0"/>
          </a:p>
        </p:txBody>
      </p:sp>
      <p:sp>
        <p:nvSpPr>
          <p:cNvPr id="7" name="Shape 5"/>
          <p:cNvSpPr/>
          <p:nvPr/>
        </p:nvSpPr>
        <p:spPr>
          <a:xfrm>
            <a:off x="731520" y="3291840"/>
            <a:ext cx="45720" cy="960120"/>
          </a:xfrm>
          <a:prstGeom prst="rect">
            <a:avLst/>
          </a:prstGeom>
          <a:solidFill>
            <a:srgbClr val="8A2433"/>
          </a:solidFill>
          <a:ln/>
        </p:spPr>
      </p:sp>
      <p:sp>
        <p:nvSpPr>
          <p:cNvPr id="8" name="Text 6"/>
          <p:cNvSpPr/>
          <p:nvPr/>
        </p:nvSpPr>
        <p:spPr>
          <a:xfrm>
            <a:off x="987552" y="3291840"/>
            <a:ext cx="10424160" cy="365760"/>
          </a:xfrm>
          <a:prstGeom prst="rect">
            <a:avLst/>
          </a:prstGeom>
          <a:noFill/>
          <a:ln/>
        </p:spPr>
        <p:txBody>
          <a:bodyPr wrap="square" lIns="0" tIns="0" rIns="0" bIns="0" rtlCol="0" anchor="ctr"/>
          <a:lstStyle/>
          <a:p>
            <a:pPr indent="0" marL="0">
              <a:buNone/>
            </a:pPr>
            <a:r>
              <a:rPr lang="en-US" sz="1800" b="1" dirty="0">
                <a:solidFill>
                  <a:srgbClr val="1C2530"/>
                </a:solidFill>
                <a:latin typeface="Cambria" pitchFamily="34" charset="0"/>
                <a:ea typeface="Cambria" pitchFamily="34" charset="-122"/>
                <a:cs typeface="Cambria" pitchFamily="34" charset="-120"/>
              </a:rPr>
              <a:t>2.  Máy hay “bịa” nút</a:t>
            </a:r>
            <a:endParaRPr lang="en-US" sz="1800" dirty="0"/>
          </a:p>
        </p:txBody>
      </p:sp>
      <p:sp>
        <p:nvSpPr>
          <p:cNvPr id="9" name="Text 7"/>
          <p:cNvSpPr/>
          <p:nvPr/>
        </p:nvSpPr>
        <p:spPr>
          <a:xfrm>
            <a:off x="987552" y="3675888"/>
            <a:ext cx="10058400" cy="640080"/>
          </a:xfrm>
          <a:prstGeom prst="rect">
            <a:avLst/>
          </a:prstGeom>
          <a:noFill/>
          <a:ln/>
        </p:spPr>
        <p:txBody>
          <a:bodyPr wrap="square" lIns="0" tIns="0" rIns="0" bIns="0" rtlCol="0" anchor="ctr"/>
          <a:lstStyle/>
          <a:p>
            <a:pPr indent="0" marL="0">
              <a:lnSpc>
                <a:spcPct val="108000"/>
              </a:lnSpc>
              <a:buNone/>
            </a:pPr>
            <a:r>
              <a:rPr lang="en-US" sz="1450" dirty="0">
                <a:solidFill>
                  <a:srgbClr val="3C434B"/>
                </a:solidFill>
                <a:latin typeface="Segoe UI" pitchFamily="34" charset="0"/>
                <a:ea typeface="Segoe UI" pitchFamily="34" charset="-122"/>
                <a:cs typeface="Segoe UI" pitchFamily="34" charset="-120"/>
              </a:rPr>
              <a:t>Mô hình nhìn-ảnh-viết-chữ (VLM) khi viết tự do thường nhắc tới nút KHÔNG có trên màn → hướng dẫn sai. Cần cơ chế chống bịa.</a:t>
            </a:r>
            <a:endParaRPr lang="en-US" sz="1450" dirty="0"/>
          </a:p>
        </p:txBody>
      </p:sp>
      <p:sp>
        <p:nvSpPr>
          <p:cNvPr id="10" name="Shape 8"/>
          <p:cNvSpPr/>
          <p:nvPr/>
        </p:nvSpPr>
        <p:spPr>
          <a:xfrm>
            <a:off x="731520" y="4617720"/>
            <a:ext cx="45720" cy="960120"/>
          </a:xfrm>
          <a:prstGeom prst="rect">
            <a:avLst/>
          </a:prstGeom>
          <a:solidFill>
            <a:srgbClr val="8A2433"/>
          </a:solidFill>
          <a:ln/>
        </p:spPr>
      </p:sp>
      <p:sp>
        <p:nvSpPr>
          <p:cNvPr id="11" name="Text 9"/>
          <p:cNvSpPr/>
          <p:nvPr/>
        </p:nvSpPr>
        <p:spPr>
          <a:xfrm>
            <a:off x="987552" y="4617720"/>
            <a:ext cx="10424160" cy="365760"/>
          </a:xfrm>
          <a:prstGeom prst="rect">
            <a:avLst/>
          </a:prstGeom>
          <a:noFill/>
          <a:ln/>
        </p:spPr>
        <p:txBody>
          <a:bodyPr wrap="square" lIns="0" tIns="0" rIns="0" bIns="0" rtlCol="0" anchor="ctr"/>
          <a:lstStyle/>
          <a:p>
            <a:pPr indent="0" marL="0">
              <a:buNone/>
            </a:pPr>
            <a:r>
              <a:rPr lang="en-US" sz="1800" b="1" dirty="0">
                <a:solidFill>
                  <a:srgbClr val="1C2530"/>
                </a:solidFill>
                <a:latin typeface="Cambria" pitchFamily="34" charset="0"/>
                <a:ea typeface="Cambria" pitchFamily="34" charset="-122"/>
                <a:cs typeface="Cambria" pitchFamily="34" charset="-120"/>
              </a:rPr>
              <a:t>3.  Đa bước: phải biết TRẬT TỰ màn</a:t>
            </a:r>
            <a:endParaRPr lang="en-US" sz="1800" dirty="0"/>
          </a:p>
        </p:txBody>
      </p:sp>
      <p:sp>
        <p:nvSpPr>
          <p:cNvPr id="12" name="Text 10"/>
          <p:cNvSpPr/>
          <p:nvPr/>
        </p:nvSpPr>
        <p:spPr>
          <a:xfrm>
            <a:off x="987552" y="5001768"/>
            <a:ext cx="10058400" cy="640080"/>
          </a:xfrm>
          <a:prstGeom prst="rect">
            <a:avLst/>
          </a:prstGeom>
          <a:noFill/>
          <a:ln/>
        </p:spPr>
        <p:txBody>
          <a:bodyPr wrap="square" lIns="0" tIns="0" rIns="0" bIns="0" rtlCol="0" anchor="ctr"/>
          <a:lstStyle/>
          <a:p>
            <a:pPr indent="0" marL="0">
              <a:lnSpc>
                <a:spcPct val="108000"/>
              </a:lnSpc>
              <a:buNone/>
            </a:pPr>
            <a:r>
              <a:rPr lang="en-US" sz="1450" dirty="0">
                <a:solidFill>
                  <a:srgbClr val="3C434B"/>
                </a:solidFill>
                <a:latin typeface="Segoe UI" pitchFamily="34" charset="0"/>
                <a:ea typeface="Segoe UI" pitchFamily="34" charset="-122"/>
                <a:cs typeface="Segoe UI" pitchFamily="34" charset="-120"/>
              </a:rPr>
              <a:t>Một việc trải nhiều màn. Khi đưa nhiều ảnh các màn (có thể lộn xộn), máy phải SUY RA màn nào trước–sau rồi mới hướng dẫn đúng thứ tự.</a:t>
            </a:r>
            <a:endParaRPr lang="en-US" sz="1450" dirty="0"/>
          </a:p>
        </p:txBody>
      </p:sp>
      <p:sp>
        <p:nvSpPr>
          <p:cNvPr id="13" name="Text 11"/>
          <p:cNvSpPr/>
          <p:nvPr/>
        </p:nvSpPr>
        <p:spPr>
          <a:xfrm>
            <a:off x="731520" y="5943600"/>
            <a:ext cx="10725912" cy="457200"/>
          </a:xfrm>
          <a:prstGeom prst="rect">
            <a:avLst/>
          </a:prstGeom>
          <a:noFill/>
          <a:ln/>
        </p:spPr>
        <p:txBody>
          <a:bodyPr wrap="square" lIns="0" tIns="0" rIns="0" bIns="0" rtlCol="0" anchor="ctr"/>
          <a:lstStyle/>
          <a:p>
            <a:pPr indent="0" marL="0">
              <a:lnSpc>
                <a:spcPct val="105000"/>
              </a:lnSpc>
              <a:buNone/>
            </a:pPr>
            <a:r>
              <a:rPr lang="en-US" sz="1300" i="1" dirty="0">
                <a:solidFill>
                  <a:srgbClr val="8A929B"/>
                </a:solidFill>
                <a:latin typeface="Segoe UI" pitchFamily="34" charset="0"/>
                <a:ea typeface="Segoe UI" pitchFamily="34" charset="-122"/>
                <a:cs typeface="Segoe UI" pitchFamily="34" charset="-120"/>
              </a:rPr>
              <a:t>Thách thức #3 là trọng tâm thầy quan tâm — slide “Đa bước = sắp thứ tự màn” trả lời thẳng.</a:t>
            </a:r>
            <a:endParaRPr lang="en-US" sz="1300" dirty="0"/>
          </a:p>
        </p:txBody>
      </p:sp>
      <p:sp>
        <p:nvSpPr>
          <p:cNvPr id="14" name="Text 12"/>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DỮ LIỆU</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Ba bộ dữ liệu — mỗi bộ làm một việc</a:t>
            </a:r>
            <a:endParaRPr lang="en-US" sz="2700" dirty="0"/>
          </a:p>
        </p:txBody>
      </p:sp>
      <p:sp>
        <p:nvSpPr>
          <p:cNvPr id="4" name="Text 2"/>
          <p:cNvSpPr/>
          <p:nvPr/>
        </p:nvSpPr>
        <p:spPr>
          <a:xfrm>
            <a:off x="731520" y="1783080"/>
            <a:ext cx="10607040" cy="365760"/>
          </a:xfrm>
          <a:prstGeom prst="rect">
            <a:avLst/>
          </a:prstGeom>
          <a:noFill/>
          <a:ln/>
        </p:spPr>
        <p:txBody>
          <a:bodyPr wrap="square" lIns="0" tIns="0" rIns="0" bIns="0" rtlCol="0" anchor="ctr"/>
          <a:lstStyle/>
          <a:p>
            <a:pPr indent="0" marL="0">
              <a:buNone/>
            </a:pPr>
            <a:r>
              <a:rPr lang="en-US" sz="1500" dirty="0">
                <a:solidFill>
                  <a:srgbClr val="3C434B"/>
                </a:solidFill>
                <a:latin typeface="Segoe UI" pitchFamily="34" charset="0"/>
                <a:ea typeface="Segoe UI" pitchFamily="34" charset="-122"/>
                <a:cs typeface="Segoe UI" pitchFamily="34" charset="-120"/>
              </a:rPr>
              <a:t>Em dùng 3 bộ dữ liệu công khai (app tiếng Anh). Hình dung đơn giản:</a:t>
            </a:r>
            <a:endParaRPr lang="en-US" sz="1500" dirty="0"/>
          </a:p>
        </p:txBody>
      </p:sp>
      <p:sp>
        <p:nvSpPr>
          <p:cNvPr id="5" name="Shape 3"/>
          <p:cNvSpPr/>
          <p:nvPr/>
        </p:nvSpPr>
        <p:spPr>
          <a:xfrm>
            <a:off x="731520" y="2286000"/>
            <a:ext cx="45720" cy="1051560"/>
          </a:xfrm>
          <a:prstGeom prst="rect">
            <a:avLst/>
          </a:prstGeom>
          <a:solidFill>
            <a:srgbClr val="8A2433"/>
          </a:solidFill>
          <a:ln/>
        </p:spPr>
      </p:sp>
      <p:sp>
        <p:nvSpPr>
          <p:cNvPr id="6" name="Text 4"/>
          <p:cNvSpPr/>
          <p:nvPr/>
        </p:nvSpPr>
        <p:spPr>
          <a:xfrm>
            <a:off x="987552" y="2286000"/>
            <a:ext cx="10332720" cy="640080"/>
          </a:xfrm>
          <a:prstGeom prst="rect">
            <a:avLst/>
          </a:prstGeom>
          <a:noFill/>
          <a:ln/>
        </p:spPr>
        <p:txBody>
          <a:bodyPr wrap="square" lIns="0" tIns="0" rIns="0" bIns="0" rtlCol="0" anchor="ctr"/>
          <a:lstStyle/>
          <a:p>
            <a:pPr indent="0" marL="0">
              <a:lnSpc>
                <a:spcPct val="106000"/>
              </a:lnSpc>
              <a:buNone/>
            </a:pPr>
            <a:r>
              <a:rPr lang="en-US" sz="1500" b="1" dirty="0">
                <a:solidFill>
                  <a:srgbClr val="1C2530"/>
                </a:solidFill>
                <a:latin typeface="Segoe UI" pitchFamily="34" charset="0"/>
                <a:ea typeface="Segoe UI" pitchFamily="34" charset="-122"/>
                <a:cs typeface="Segoe UI" pitchFamily="34" charset="-120"/>
              </a:rPr>
              <a:t>MobileViews  </a:t>
            </a:r>
            <a:pPr indent="0" marL="0">
              <a:lnSpc>
                <a:spcPct val="106000"/>
              </a:lnSpc>
              <a:buNone/>
            </a:pPr>
            <a:r>
              <a:rPr lang="en-US" sz="1500" i="1" dirty="0">
                <a:solidFill>
                  <a:srgbClr val="8A929B"/>
                </a:solidFill>
                <a:latin typeface="Segoe UI" pitchFamily="34" charset="0"/>
                <a:ea typeface="Segoe UI" pitchFamily="34" charset="-122"/>
                <a:cs typeface="Segoe UI" pitchFamily="34" charset="-120"/>
              </a:rPr>
              <a:t>— là gì: </a:t>
            </a:r>
            <a:pPr indent="0" marL="0">
              <a:lnSpc>
                <a:spcPct val="106000"/>
              </a:lnSpc>
              <a:buNone/>
            </a:pPr>
            <a:r>
              <a:rPr lang="en-US" sz="1500" dirty="0">
                <a:solidFill>
                  <a:srgbClr val="3C434B"/>
                </a:solidFill>
                <a:latin typeface="Segoe UI" pitchFamily="34" charset="0"/>
                <a:ea typeface="Segoe UI" pitchFamily="34" charset="-122"/>
                <a:cs typeface="Segoe UI" pitchFamily="34" charset="-120"/>
              </a:rPr>
              <a:t>kho ẢNH chụp màn hình điện thoại, mỗi ảnh kèm một BẢN LIỆT KÊ mọi nút (tên nút + vị trí).</a:t>
            </a:r>
            <a:endParaRPr lang="en-US" sz="1500" dirty="0"/>
          </a:p>
        </p:txBody>
      </p:sp>
      <p:sp>
        <p:nvSpPr>
          <p:cNvPr id="7" name="Text 5"/>
          <p:cNvSpPr/>
          <p:nvPr/>
        </p:nvSpPr>
        <p:spPr>
          <a:xfrm>
            <a:off x="987552" y="2889504"/>
            <a:ext cx="10332720" cy="365760"/>
          </a:xfrm>
          <a:prstGeom prst="rect">
            <a:avLst/>
          </a:prstGeom>
          <a:noFill/>
          <a:ln/>
        </p:spPr>
        <p:txBody>
          <a:bodyPr wrap="square" lIns="0" tIns="0" rIns="0" bIns="0" rtlCol="0" anchor="ctr"/>
          <a:lstStyle/>
          <a:p>
            <a:pPr indent="0" marL="0">
              <a:buNone/>
            </a:pPr>
            <a:r>
              <a:rPr lang="en-US" sz="1400" b="1" dirty="0">
                <a:solidFill>
                  <a:srgbClr val="8A2433"/>
                </a:solidFill>
                <a:latin typeface="Segoe UI" pitchFamily="34" charset="0"/>
                <a:ea typeface="Segoe UI" pitchFamily="34" charset="-122"/>
                <a:cs typeface="Segoe UI" pitchFamily="34" charset="-120"/>
              </a:rPr>
              <a:t>→ làm “đáp án” chấm máy có chỉ đúng nút trên MÀN ĐẦU không (Đóng góp 1).</a:t>
            </a:r>
            <a:endParaRPr lang="en-US" sz="1400" dirty="0"/>
          </a:p>
        </p:txBody>
      </p:sp>
      <p:sp>
        <p:nvSpPr>
          <p:cNvPr id="8" name="Shape 6"/>
          <p:cNvSpPr/>
          <p:nvPr/>
        </p:nvSpPr>
        <p:spPr>
          <a:xfrm>
            <a:off x="731520" y="3456432"/>
            <a:ext cx="45720" cy="1051560"/>
          </a:xfrm>
          <a:prstGeom prst="rect">
            <a:avLst/>
          </a:prstGeom>
          <a:solidFill>
            <a:srgbClr val="8A2433"/>
          </a:solidFill>
          <a:ln/>
        </p:spPr>
      </p:sp>
      <p:sp>
        <p:nvSpPr>
          <p:cNvPr id="9" name="Text 7"/>
          <p:cNvSpPr/>
          <p:nvPr/>
        </p:nvSpPr>
        <p:spPr>
          <a:xfrm>
            <a:off x="987552" y="3456432"/>
            <a:ext cx="10332720" cy="640080"/>
          </a:xfrm>
          <a:prstGeom prst="rect">
            <a:avLst/>
          </a:prstGeom>
          <a:noFill/>
          <a:ln/>
        </p:spPr>
        <p:txBody>
          <a:bodyPr wrap="square" lIns="0" tIns="0" rIns="0" bIns="0" rtlCol="0" anchor="ctr"/>
          <a:lstStyle/>
          <a:p>
            <a:pPr indent="0" marL="0">
              <a:lnSpc>
                <a:spcPct val="106000"/>
              </a:lnSpc>
              <a:buNone/>
            </a:pPr>
            <a:r>
              <a:rPr lang="en-US" sz="1500" b="1" dirty="0">
                <a:solidFill>
                  <a:srgbClr val="1C2530"/>
                </a:solidFill>
                <a:latin typeface="Segoe UI" pitchFamily="34" charset="0"/>
                <a:ea typeface="Segoe UI" pitchFamily="34" charset="-122"/>
                <a:cs typeface="Segoe UI" pitchFamily="34" charset="-120"/>
              </a:rPr>
              <a:t>AndroidControl  </a:t>
            </a:r>
            <a:pPr indent="0" marL="0">
              <a:lnSpc>
                <a:spcPct val="106000"/>
              </a:lnSpc>
              <a:buNone/>
            </a:pPr>
            <a:r>
              <a:rPr lang="en-US" sz="1500" i="1" dirty="0">
                <a:solidFill>
                  <a:srgbClr val="8A929B"/>
                </a:solidFill>
                <a:latin typeface="Segoe UI" pitchFamily="34" charset="0"/>
                <a:ea typeface="Segoe UI" pitchFamily="34" charset="-122"/>
                <a:cs typeface="Segoe UI" pitchFamily="34" charset="-120"/>
              </a:rPr>
              <a:t>— là gì: </a:t>
            </a:r>
            <a:pPr indent="0" marL="0">
              <a:lnSpc>
                <a:spcPct val="106000"/>
              </a:lnSpc>
              <a:buNone/>
            </a:pPr>
            <a:r>
              <a:rPr lang="en-US" sz="1500" dirty="0">
                <a:solidFill>
                  <a:srgbClr val="3C434B"/>
                </a:solidFill>
                <a:latin typeface="Segoe UI" pitchFamily="34" charset="0"/>
                <a:ea typeface="Segoe UI" pitchFamily="34" charset="-122"/>
                <a:cs typeface="Segoe UI" pitchFamily="34" charset="-120"/>
              </a:rPr>
              <a:t>các KỊCH BẢN thao tác thật: có mục tiêu + ghi rõ từng bước bấm gì, ở đâu, theo THỨ TỰ.</a:t>
            </a:r>
            <a:endParaRPr lang="en-US" sz="1500" dirty="0"/>
          </a:p>
        </p:txBody>
      </p:sp>
      <p:sp>
        <p:nvSpPr>
          <p:cNvPr id="10" name="Text 8"/>
          <p:cNvSpPr/>
          <p:nvPr/>
        </p:nvSpPr>
        <p:spPr>
          <a:xfrm>
            <a:off x="987552" y="4059936"/>
            <a:ext cx="10332720" cy="365760"/>
          </a:xfrm>
          <a:prstGeom prst="rect">
            <a:avLst/>
          </a:prstGeom>
          <a:noFill/>
          <a:ln/>
        </p:spPr>
        <p:txBody>
          <a:bodyPr wrap="square" lIns="0" tIns="0" rIns="0" bIns="0" rtlCol="0" anchor="ctr"/>
          <a:lstStyle/>
          <a:p>
            <a:pPr indent="0" marL="0">
              <a:buNone/>
            </a:pPr>
            <a:r>
              <a:rPr lang="en-US" sz="1400" b="1" dirty="0">
                <a:solidFill>
                  <a:srgbClr val="8A2433"/>
                </a:solidFill>
                <a:latin typeface="Segoe UI" pitchFamily="34" charset="0"/>
                <a:ea typeface="Segoe UI" pitchFamily="34" charset="-122"/>
                <a:cs typeface="Segoe UI" pitchFamily="34" charset="-120"/>
              </a:rPr>
              <a:t>→ xáo trộn các màn rồi bắt máy XẾP LẠI → chấm đa bước (Đóng góp 2).</a:t>
            </a:r>
            <a:endParaRPr lang="en-US" sz="1400" dirty="0"/>
          </a:p>
        </p:txBody>
      </p:sp>
      <p:sp>
        <p:nvSpPr>
          <p:cNvPr id="11" name="Shape 9"/>
          <p:cNvSpPr/>
          <p:nvPr/>
        </p:nvSpPr>
        <p:spPr>
          <a:xfrm>
            <a:off x="731520" y="4626864"/>
            <a:ext cx="45720" cy="1051560"/>
          </a:xfrm>
          <a:prstGeom prst="rect">
            <a:avLst/>
          </a:prstGeom>
          <a:solidFill>
            <a:srgbClr val="8A2433"/>
          </a:solidFill>
          <a:ln/>
        </p:spPr>
      </p:sp>
      <p:sp>
        <p:nvSpPr>
          <p:cNvPr id="12" name="Text 10"/>
          <p:cNvSpPr/>
          <p:nvPr/>
        </p:nvSpPr>
        <p:spPr>
          <a:xfrm>
            <a:off x="987552" y="4626864"/>
            <a:ext cx="10332720" cy="640080"/>
          </a:xfrm>
          <a:prstGeom prst="rect">
            <a:avLst/>
          </a:prstGeom>
          <a:noFill/>
          <a:ln/>
        </p:spPr>
        <p:txBody>
          <a:bodyPr wrap="square" lIns="0" tIns="0" rIns="0" bIns="0" rtlCol="0" anchor="ctr"/>
          <a:lstStyle/>
          <a:p>
            <a:pPr indent="0" marL="0">
              <a:lnSpc>
                <a:spcPct val="106000"/>
              </a:lnSpc>
              <a:buNone/>
            </a:pPr>
            <a:r>
              <a:rPr lang="en-US" sz="1500" b="1" dirty="0">
                <a:solidFill>
                  <a:srgbClr val="1C2530"/>
                </a:solidFill>
                <a:latin typeface="Segoe UI" pitchFamily="34" charset="0"/>
                <a:ea typeface="Segoe UI" pitchFamily="34" charset="-122"/>
                <a:cs typeface="Segoe UI" pitchFamily="34" charset="-120"/>
              </a:rPr>
              <a:t>ScreenSpot  </a:t>
            </a:r>
            <a:pPr indent="0" marL="0">
              <a:lnSpc>
                <a:spcPct val="106000"/>
              </a:lnSpc>
              <a:buNone/>
            </a:pPr>
            <a:r>
              <a:rPr lang="en-US" sz="1500" i="1" dirty="0">
                <a:solidFill>
                  <a:srgbClr val="8A929B"/>
                </a:solidFill>
                <a:latin typeface="Segoe UI" pitchFamily="34" charset="0"/>
                <a:ea typeface="Segoe UI" pitchFamily="34" charset="-122"/>
                <a:cs typeface="Segoe UI" pitchFamily="34" charset="-120"/>
              </a:rPr>
              <a:t>— là gì: </a:t>
            </a:r>
            <a:pPr indent="0" marL="0">
              <a:lnSpc>
                <a:spcPct val="106000"/>
              </a:lnSpc>
              <a:buNone/>
            </a:pPr>
            <a:r>
              <a:rPr lang="en-US" sz="1500" dirty="0">
                <a:solidFill>
                  <a:srgbClr val="3C434B"/>
                </a:solidFill>
                <a:latin typeface="Segoe UI" pitchFamily="34" charset="0"/>
                <a:ea typeface="Segoe UI" pitchFamily="34" charset="-122"/>
                <a:cs typeface="Segoe UI" pitchFamily="34" charset="-120"/>
              </a:rPr>
              <a:t>mỗi mẫu rất gọn: 1 câu lệnh + 1 nút đích (kèm vị trí).</a:t>
            </a:r>
            <a:endParaRPr lang="en-US" sz="1500" dirty="0"/>
          </a:p>
        </p:txBody>
      </p:sp>
      <p:sp>
        <p:nvSpPr>
          <p:cNvPr id="13" name="Text 11"/>
          <p:cNvSpPr/>
          <p:nvPr/>
        </p:nvSpPr>
        <p:spPr>
          <a:xfrm>
            <a:off x="987552" y="5230368"/>
            <a:ext cx="10332720" cy="365760"/>
          </a:xfrm>
          <a:prstGeom prst="rect">
            <a:avLst/>
          </a:prstGeom>
          <a:noFill/>
          <a:ln/>
        </p:spPr>
        <p:txBody>
          <a:bodyPr wrap="square" lIns="0" tIns="0" rIns="0" bIns="0" rtlCol="0" anchor="ctr"/>
          <a:lstStyle/>
          <a:p>
            <a:pPr indent="0" marL="0">
              <a:buNone/>
            </a:pPr>
            <a:r>
              <a:rPr lang="en-US" sz="1400" b="1" dirty="0">
                <a:solidFill>
                  <a:srgbClr val="8A2433"/>
                </a:solidFill>
                <a:latin typeface="Segoe UI" pitchFamily="34" charset="0"/>
                <a:ea typeface="Segoe UI" pitchFamily="34" charset="-122"/>
                <a:cs typeface="Segoe UI" pitchFamily="34" charset="-120"/>
              </a:rPr>
              <a:t>→ ĐỐI CHỨNG riêng việc “chỉ đúng chỗ”.</a:t>
            </a:r>
            <a:endParaRPr lang="en-US" sz="1400" dirty="0"/>
          </a:p>
        </p:txBody>
      </p:sp>
      <p:sp>
        <p:nvSpPr>
          <p:cNvPr id="14" name="Text 12"/>
          <p:cNvSpPr/>
          <p:nvPr/>
        </p:nvSpPr>
        <p:spPr>
          <a:xfrm>
            <a:off x="731520" y="5852160"/>
            <a:ext cx="10725912" cy="457200"/>
          </a:xfrm>
          <a:prstGeom prst="rect">
            <a:avLst/>
          </a:prstGeom>
          <a:noFill/>
          <a:ln/>
        </p:spPr>
        <p:txBody>
          <a:bodyPr wrap="square" lIns="0" tIns="0" rIns="0" bIns="0" rtlCol="0" anchor="ctr"/>
          <a:lstStyle/>
          <a:p>
            <a:pPr indent="0" marL="0">
              <a:lnSpc>
                <a:spcPct val="105000"/>
              </a:lnSpc>
              <a:buNone/>
            </a:pPr>
            <a:r>
              <a:rPr lang="en-US" sz="1300" i="1" dirty="0">
                <a:solidFill>
                  <a:srgbClr val="8A929B"/>
                </a:solidFill>
                <a:latin typeface="Segoe UI" pitchFamily="34" charset="0"/>
                <a:ea typeface="Segoe UI" pitchFamily="34" charset="-122"/>
                <a:cs typeface="Segoe UI" pitchFamily="34" charset="-120"/>
              </a:rPr>
              <a:t>“Bản liệt kê nút” (View Hierarchy) chỉ dùng LÚC CHẤM. AndroidControl: 15.283 kịch bản, trung bình ~5,5 bước (có luồng tới 13 bước). Tiếng Việt chưa có dữ liệu loại này → chỉ demo định tính.</a:t>
            </a:r>
            <a:endParaRPr lang="en-US" sz="1300" dirty="0"/>
          </a:p>
        </p:txBody>
      </p:sp>
      <p:sp>
        <p:nvSpPr>
          <p:cNvPr id="15" name="Text 13"/>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DỮ LIỆU</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Một bản ghi THẬT trông như thế nào</a:t>
            </a:r>
            <a:endParaRPr lang="en-US" sz="2700" dirty="0"/>
          </a:p>
        </p:txBody>
      </p:sp>
      <p:sp>
        <p:nvSpPr>
          <p:cNvPr id="4" name="Shape 2"/>
          <p:cNvSpPr/>
          <p:nvPr/>
        </p:nvSpPr>
        <p:spPr>
          <a:xfrm>
            <a:off x="731520" y="1874520"/>
            <a:ext cx="45720" cy="1371600"/>
          </a:xfrm>
          <a:prstGeom prst="rect">
            <a:avLst/>
          </a:prstGeom>
          <a:solidFill>
            <a:srgbClr val="8A2433"/>
          </a:solidFill>
          <a:ln/>
        </p:spPr>
      </p:sp>
      <p:sp>
        <p:nvSpPr>
          <p:cNvPr id="5" name="Text 3"/>
          <p:cNvSpPr/>
          <p:nvPr/>
        </p:nvSpPr>
        <p:spPr>
          <a:xfrm>
            <a:off x="987552" y="1874520"/>
            <a:ext cx="10332720" cy="320040"/>
          </a:xfrm>
          <a:prstGeom prst="rect">
            <a:avLst/>
          </a:prstGeom>
          <a:noFill/>
          <a:ln/>
        </p:spPr>
        <p:txBody>
          <a:bodyPr wrap="square" lIns="0" tIns="0" rIns="0" bIns="0" rtlCol="0" anchor="ctr"/>
          <a:lstStyle/>
          <a:p>
            <a:pPr indent="0" marL="0">
              <a:buNone/>
            </a:pPr>
            <a:r>
              <a:rPr lang="en-US" sz="1600" b="1" dirty="0">
                <a:solidFill>
                  <a:srgbClr val="1C2530"/>
                </a:solidFill>
                <a:latin typeface="Cambria" pitchFamily="34" charset="0"/>
                <a:ea typeface="Cambria" pitchFamily="34" charset="-122"/>
                <a:cs typeface="Cambria" pitchFamily="34" charset="-120"/>
              </a:rPr>
              <a:t>AndroidControl — một “kịch bản” thật (dùng làm THỨ TỰ ĐÚNG)</a:t>
            </a:r>
            <a:endParaRPr lang="en-US" sz="1600" dirty="0"/>
          </a:p>
        </p:txBody>
      </p:sp>
      <p:sp>
        <p:nvSpPr>
          <p:cNvPr id="6" name="Text 4"/>
          <p:cNvSpPr/>
          <p:nvPr/>
        </p:nvSpPr>
        <p:spPr>
          <a:xfrm>
            <a:off x="987552" y="2240280"/>
            <a:ext cx="10332720" cy="1005840"/>
          </a:xfrm>
          <a:prstGeom prst="rect">
            <a:avLst/>
          </a:prstGeom>
          <a:noFill/>
          <a:ln/>
        </p:spPr>
        <p:txBody>
          <a:bodyPr wrap="square" lIns="0" tIns="0" rIns="0" bIns="0" rtlCol="0" anchor="ctr"/>
          <a:lstStyle/>
          <a:p>
            <a:pPr indent="0" marL="0">
              <a:lnSpc>
                <a:spcPct val="112000"/>
              </a:lnSpc>
              <a:buNone/>
            </a:pPr>
            <a:r>
              <a:rPr lang="en-US" sz="1450" b="1" dirty="0">
                <a:solidFill>
                  <a:srgbClr val="3C434B"/>
                </a:solidFill>
                <a:latin typeface="Segoe UI" pitchFamily="34" charset="0"/>
                <a:ea typeface="Segoe UI" pitchFamily="34" charset="-122"/>
                <a:cs typeface="Segoe UI" pitchFamily="34" charset="-120"/>
              </a:rPr>
              <a:t>Mục tiêu: </a:t>
            </a:r>
            <a:pPr indent="0" marL="0">
              <a:lnSpc>
                <a:spcPct val="112000"/>
              </a:lnSpc>
              <a:buNone/>
            </a:pPr>
            <a:r>
              <a:rPr lang="en-US" sz="1450" dirty="0">
                <a:solidFill>
                  <a:srgbClr val="3C434B"/>
                </a:solidFill>
                <a:latin typeface="Segoe UI" pitchFamily="34" charset="0"/>
                <a:ea typeface="Segoe UI" pitchFamily="34" charset="-122"/>
                <a:cs typeface="Segoe UI" pitchFamily="34" charset="-120"/>
              </a:rPr>
              <a:t>“Trên app CruiseDeals, xem lịch tàu 4 đêm New York → Canada.”   </a:t>
            </a:r>
            <a:pPr indent="0" marL="0">
              <a:lnSpc>
                <a:spcPct val="112000"/>
              </a:lnSpc>
              <a:buNone/>
            </a:pPr>
            <a:r>
              <a:rPr lang="en-US" sz="1450" b="1" dirty="0">
                <a:solidFill>
                  <a:srgbClr val="3C434B"/>
                </a:solidFill>
                <a:latin typeface="Segoe UI" pitchFamily="34" charset="0"/>
                <a:ea typeface="Segoe UI" pitchFamily="34" charset="-122"/>
                <a:cs typeface="Segoe UI" pitchFamily="34" charset="-120"/>
              </a:rPr>
              <a:t>Lời giải mẫu (3 bước): </a:t>
            </a:r>
            <a:pPr indent="0" marL="0">
              <a:lnSpc>
                <a:spcPct val="112000"/>
              </a:lnSpc>
              <a:buNone/>
            </a:pPr>
            <a:r>
              <a:rPr lang="en-US" sz="1450" dirty="0">
                <a:solidFill>
                  <a:srgbClr val="3C434B"/>
                </a:solidFill>
                <a:latin typeface="Segoe UI" pitchFamily="34" charset="0"/>
                <a:ea typeface="Segoe UI" pitchFamily="34" charset="-122"/>
                <a:cs typeface="Segoe UI" pitchFamily="34" charset="-120"/>
              </a:rPr>
              <a:t>① mở app CruiseDeals → ② bấm điểm (313, 742) → ③ vuốt lên.   </a:t>
            </a:r>
            <a:pPr indent="0" marL="0">
              <a:lnSpc>
                <a:spcPct val="112000"/>
              </a:lnSpc>
              <a:buNone/>
            </a:pPr>
            <a:r>
              <a:rPr lang="en-US" sz="1450" b="1" dirty="0">
                <a:solidFill>
                  <a:srgbClr val="8A2433"/>
                </a:solidFill>
                <a:latin typeface="Segoe UI" pitchFamily="34" charset="0"/>
                <a:ea typeface="Segoe UI" pitchFamily="34" charset="-122"/>
                <a:cs typeface="Segoe UI" pitchFamily="34" charset="-120"/>
              </a:rPr>
              <a:t>→ Xáo trộn 3 màn này rồi bắt máy XẾP LẠI cho đúng.</a:t>
            </a:r>
            <a:endParaRPr lang="en-US" sz="1450" dirty="0"/>
          </a:p>
        </p:txBody>
      </p:sp>
      <p:sp>
        <p:nvSpPr>
          <p:cNvPr id="7" name="Shape 5"/>
          <p:cNvSpPr/>
          <p:nvPr/>
        </p:nvSpPr>
        <p:spPr>
          <a:xfrm>
            <a:off x="731520" y="3429000"/>
            <a:ext cx="45720" cy="1097280"/>
          </a:xfrm>
          <a:prstGeom prst="rect">
            <a:avLst/>
          </a:prstGeom>
          <a:solidFill>
            <a:srgbClr val="8A2433"/>
          </a:solidFill>
          <a:ln/>
        </p:spPr>
      </p:sp>
      <p:sp>
        <p:nvSpPr>
          <p:cNvPr id="8" name="Text 6"/>
          <p:cNvSpPr/>
          <p:nvPr/>
        </p:nvSpPr>
        <p:spPr>
          <a:xfrm>
            <a:off x="987552" y="3429000"/>
            <a:ext cx="10332720" cy="320040"/>
          </a:xfrm>
          <a:prstGeom prst="rect">
            <a:avLst/>
          </a:prstGeom>
          <a:noFill/>
          <a:ln/>
        </p:spPr>
        <p:txBody>
          <a:bodyPr wrap="square" lIns="0" tIns="0" rIns="0" bIns="0" rtlCol="0" anchor="ctr"/>
          <a:lstStyle/>
          <a:p>
            <a:pPr indent="0" marL="0">
              <a:buNone/>
            </a:pPr>
            <a:r>
              <a:rPr lang="en-US" sz="1600" b="1" dirty="0">
                <a:solidFill>
                  <a:srgbClr val="1C2530"/>
                </a:solidFill>
                <a:latin typeface="Cambria" pitchFamily="34" charset="0"/>
                <a:ea typeface="Cambria" pitchFamily="34" charset="-122"/>
                <a:cs typeface="Cambria" pitchFamily="34" charset="-120"/>
              </a:rPr>
              <a:t>ScreenSpot — một mẫu thật</a:t>
            </a:r>
            <a:endParaRPr lang="en-US" sz="1600" dirty="0"/>
          </a:p>
        </p:txBody>
      </p:sp>
      <p:sp>
        <p:nvSpPr>
          <p:cNvPr id="9" name="Text 7"/>
          <p:cNvSpPr/>
          <p:nvPr/>
        </p:nvSpPr>
        <p:spPr>
          <a:xfrm>
            <a:off x="987552" y="3794760"/>
            <a:ext cx="10332720" cy="731520"/>
          </a:xfrm>
          <a:prstGeom prst="rect">
            <a:avLst/>
          </a:prstGeom>
          <a:noFill/>
          <a:ln/>
        </p:spPr>
        <p:txBody>
          <a:bodyPr wrap="square" lIns="0" tIns="0" rIns="0" bIns="0" rtlCol="0" anchor="ctr"/>
          <a:lstStyle/>
          <a:p>
            <a:pPr indent="0" marL="0">
              <a:lnSpc>
                <a:spcPct val="112000"/>
              </a:lnSpc>
              <a:buNone/>
            </a:pPr>
            <a:r>
              <a:rPr lang="en-US" sz="1450" dirty="0">
                <a:solidFill>
                  <a:srgbClr val="3C434B"/>
                </a:solidFill>
                <a:latin typeface="Segoe UI" pitchFamily="34" charset="0"/>
                <a:ea typeface="Segoe UI" pitchFamily="34" charset="-122"/>
                <a:cs typeface="Segoe UI" pitchFamily="34" charset="-120"/>
              </a:rPr>
              <a:t>Cho 1 ảnh + câu lệnh </a:t>
            </a:r>
            <a:pPr indent="0" marL="0">
              <a:lnSpc>
                <a:spcPct val="112000"/>
              </a:lnSpc>
              <a:buNone/>
            </a:pPr>
            <a:r>
              <a:rPr lang="en-US" sz="1450" b="1" dirty="0">
                <a:solidFill>
                  <a:srgbClr val="3C434B"/>
                </a:solidFill>
                <a:latin typeface="Segoe UI" pitchFamily="34" charset="0"/>
                <a:ea typeface="Segoe UI" pitchFamily="34" charset="-122"/>
                <a:cs typeface="Segoe UI" pitchFamily="34" charset="-120"/>
              </a:rPr>
              <a:t>“close” (đóng)</a:t>
            </a:r>
            <a:pPr indent="0" marL="0">
              <a:lnSpc>
                <a:spcPct val="112000"/>
              </a:lnSpc>
              <a:buNone/>
            </a:pPr>
            <a:r>
              <a:rPr lang="en-US" sz="1450" dirty="0">
                <a:solidFill>
                  <a:srgbClr val="3C434B"/>
                </a:solidFill>
                <a:latin typeface="Segoe UI" pitchFamily="34" charset="0"/>
                <a:ea typeface="Segoe UI" pitchFamily="34" charset="-122"/>
                <a:cs typeface="Segoe UI" pitchFamily="34" charset="-120"/>
              </a:rPr>
              <a:t>. Đáp án: nút Đóng (✕) ở GÓC TRÊN–PHẢI.   </a:t>
            </a:r>
            <a:pPr indent="0" marL="0">
              <a:lnSpc>
                <a:spcPct val="112000"/>
              </a:lnSpc>
              <a:buNone/>
            </a:pPr>
            <a:r>
              <a:rPr lang="en-US" sz="1450" b="1" dirty="0">
                <a:solidFill>
                  <a:srgbClr val="8A2433"/>
                </a:solidFill>
                <a:latin typeface="Segoe UI" pitchFamily="34" charset="0"/>
                <a:ea typeface="Segoe UI" pitchFamily="34" charset="-122"/>
                <a:cs typeface="Segoe UI" pitchFamily="34" charset="-120"/>
              </a:rPr>
              <a:t>→ Máy phải trỏ điểm vào đúng nút đó.</a:t>
            </a:r>
            <a:endParaRPr lang="en-US" sz="1450" dirty="0"/>
          </a:p>
        </p:txBody>
      </p:sp>
      <p:sp>
        <p:nvSpPr>
          <p:cNvPr id="10" name="Shape 8"/>
          <p:cNvSpPr/>
          <p:nvPr/>
        </p:nvSpPr>
        <p:spPr>
          <a:xfrm>
            <a:off x="731520" y="4709160"/>
            <a:ext cx="45720" cy="1097280"/>
          </a:xfrm>
          <a:prstGeom prst="rect">
            <a:avLst/>
          </a:prstGeom>
          <a:solidFill>
            <a:srgbClr val="8A2433"/>
          </a:solidFill>
          <a:ln/>
        </p:spPr>
      </p:sp>
      <p:sp>
        <p:nvSpPr>
          <p:cNvPr id="11" name="Text 9"/>
          <p:cNvSpPr/>
          <p:nvPr/>
        </p:nvSpPr>
        <p:spPr>
          <a:xfrm>
            <a:off x="987552" y="4709160"/>
            <a:ext cx="10332720" cy="320040"/>
          </a:xfrm>
          <a:prstGeom prst="rect">
            <a:avLst/>
          </a:prstGeom>
          <a:noFill/>
          <a:ln/>
        </p:spPr>
        <p:txBody>
          <a:bodyPr wrap="square" lIns="0" tIns="0" rIns="0" bIns="0" rtlCol="0" anchor="ctr"/>
          <a:lstStyle/>
          <a:p>
            <a:pPr indent="0" marL="0">
              <a:buNone/>
            </a:pPr>
            <a:r>
              <a:rPr lang="en-US" sz="1600" b="1" dirty="0">
                <a:solidFill>
                  <a:srgbClr val="1C2530"/>
                </a:solidFill>
                <a:latin typeface="Cambria" pitchFamily="34" charset="0"/>
                <a:ea typeface="Cambria" pitchFamily="34" charset="-122"/>
                <a:cs typeface="Cambria" pitchFamily="34" charset="-120"/>
              </a:rPr>
              <a:t>MobileViews — một màn hình</a:t>
            </a:r>
            <a:endParaRPr lang="en-US" sz="1600" dirty="0"/>
          </a:p>
        </p:txBody>
      </p:sp>
      <p:sp>
        <p:nvSpPr>
          <p:cNvPr id="12" name="Text 10"/>
          <p:cNvSpPr/>
          <p:nvPr/>
        </p:nvSpPr>
        <p:spPr>
          <a:xfrm>
            <a:off x="987552" y="5074920"/>
            <a:ext cx="10332720" cy="777240"/>
          </a:xfrm>
          <a:prstGeom prst="rect">
            <a:avLst/>
          </a:prstGeom>
          <a:noFill/>
          <a:ln/>
        </p:spPr>
        <p:txBody>
          <a:bodyPr wrap="square" lIns="0" tIns="0" rIns="0" bIns="0" rtlCol="0" anchor="ctr"/>
          <a:lstStyle/>
          <a:p>
            <a:pPr indent="0" marL="0">
              <a:lnSpc>
                <a:spcPct val="112000"/>
              </a:lnSpc>
              <a:buNone/>
            </a:pPr>
            <a:r>
              <a:rPr lang="en-US" sz="1450" dirty="0">
                <a:solidFill>
                  <a:srgbClr val="3C434B"/>
                </a:solidFill>
                <a:latin typeface="Segoe UI" pitchFamily="34" charset="0"/>
                <a:ea typeface="Segoe UI" pitchFamily="34" charset="-122"/>
                <a:cs typeface="Segoe UI" pitchFamily="34" charset="-120"/>
              </a:rPr>
              <a:t>Gồm 1 ảnh + 1 bản liệt kê, ghi từng nút kiểu: </a:t>
            </a:r>
            <a:pPr indent="0" marL="0">
              <a:lnSpc>
                <a:spcPct val="112000"/>
              </a:lnSpc>
              <a:buNone/>
            </a:pPr>
            <a:r>
              <a:rPr lang="en-US" sz="1450" dirty="0">
                <a:solidFill>
                  <a:srgbClr val="3C434B"/>
                </a:solidFill>
                <a:latin typeface="Segoe UI" pitchFamily="34" charset="0"/>
                <a:ea typeface="Segoe UI" pitchFamily="34" charset="-122"/>
                <a:cs typeface="Segoe UI" pitchFamily="34" charset="-120"/>
              </a:rPr>
              <a:t>«nút X, nằm trong ô (trái,trên)–(phải,dưới), bấm được».   </a:t>
            </a:r>
            <a:pPr indent="0" marL="0">
              <a:lnSpc>
                <a:spcPct val="112000"/>
              </a:lnSpc>
              <a:buNone/>
            </a:pPr>
            <a:r>
              <a:rPr lang="en-US" sz="1450" b="1" dirty="0">
                <a:solidFill>
                  <a:srgbClr val="8A2433"/>
                </a:solidFill>
                <a:latin typeface="Segoe UI" pitchFamily="34" charset="0"/>
                <a:ea typeface="Segoe UI" pitchFamily="34" charset="-122"/>
                <a:cs typeface="Segoe UI" pitchFamily="34" charset="-120"/>
              </a:rPr>
              <a:t>→ Máy nói “bấm (x,y)” thì kiểm (x,y) có rơi trong ô đúng nút không.</a:t>
            </a:r>
            <a:endParaRPr lang="en-US" sz="1450" dirty="0"/>
          </a:p>
        </p:txBody>
      </p:sp>
      <p:sp>
        <p:nvSpPr>
          <p:cNvPr id="13" name="Text 11"/>
          <p:cNvSpPr/>
          <p:nvPr/>
        </p:nvSpPr>
        <p:spPr>
          <a:xfrm>
            <a:off x="731520" y="6053328"/>
            <a:ext cx="10725912" cy="457200"/>
          </a:xfrm>
          <a:prstGeom prst="rect">
            <a:avLst/>
          </a:prstGeom>
          <a:noFill/>
          <a:ln/>
        </p:spPr>
        <p:txBody>
          <a:bodyPr wrap="square" lIns="0" tIns="0" rIns="0" bIns="0" rtlCol="0" anchor="ctr"/>
          <a:lstStyle/>
          <a:p>
            <a:pPr indent="0" marL="0">
              <a:lnSpc>
                <a:spcPct val="105000"/>
              </a:lnSpc>
              <a:buNone/>
            </a:pPr>
            <a:r>
              <a:rPr lang="en-US" sz="1300" i="1" dirty="0">
                <a:solidFill>
                  <a:srgbClr val="8A929B"/>
                </a:solidFill>
                <a:latin typeface="Segoe UI" pitchFamily="34" charset="0"/>
                <a:ea typeface="Segoe UI" pitchFamily="34" charset="-122"/>
                <a:cs typeface="Segoe UI" pitchFamily="34" charset="-120"/>
              </a:rPr>
              <a:t>Ba bộ ghi toạ độ 3 kiểu (pixel · tỷ lệ 0–1 · điểm bấm) → code chấm phải quy về cùng một kiểu.</a:t>
            </a:r>
            <a:endParaRPr lang="en-US" sz="1300" dirty="0"/>
          </a:p>
        </p:txBody>
      </p:sp>
      <p:sp>
        <p:nvSpPr>
          <p:cNvPr id="14" name="Text 12"/>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ĐÓNG GÓP 2 — SLIDE QUAN TRỌNG NHẤT</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Đa bước = SẮP THỨ TỰ MÀN</a:t>
            </a:r>
            <a:endParaRPr lang="en-US" sz="2700" dirty="0"/>
          </a:p>
        </p:txBody>
      </p:sp>
      <p:sp>
        <p:nvSpPr>
          <p:cNvPr id="4" name="Text 2"/>
          <p:cNvSpPr/>
          <p:nvPr/>
        </p:nvSpPr>
        <p:spPr>
          <a:xfrm>
            <a:off x="731520" y="1554480"/>
            <a:ext cx="10698480" cy="365760"/>
          </a:xfrm>
          <a:prstGeom prst="rect">
            <a:avLst/>
          </a:prstGeom>
          <a:noFill/>
          <a:ln/>
        </p:spPr>
        <p:txBody>
          <a:bodyPr wrap="square" lIns="0" tIns="0" rIns="0" bIns="0" rtlCol="0" anchor="ctr"/>
          <a:lstStyle/>
          <a:p>
            <a:pPr indent="0" marL="0">
              <a:buNone/>
            </a:pPr>
            <a:r>
              <a:rPr lang="en-US" sz="1450" i="1" dirty="0">
                <a:solidFill>
                  <a:srgbClr val="8A929B"/>
                </a:solidFill>
                <a:latin typeface="Segoe UI" pitchFamily="34" charset="0"/>
                <a:ea typeface="Segoe UI" pitchFamily="34" charset="-122"/>
                <a:cs typeface="Segoe UI" pitchFamily="34" charset="-120"/>
              </a:rPr>
              <a:t>Đưa N ảnh các màn ĐÃ XÁO TRỘN + mục tiêu → máy phải (1) suy ra THỨ TỰ đúng, (2) sinh hướng dẫn theo thứ tự đó.</a:t>
            </a:r>
            <a:endParaRPr lang="en-US" sz="1450" dirty="0"/>
          </a:p>
        </p:txBody>
      </p:sp>
      <p:sp>
        <p:nvSpPr>
          <p:cNvPr id="5" name="Text 3"/>
          <p:cNvSpPr/>
          <p:nvPr/>
        </p:nvSpPr>
        <p:spPr>
          <a:xfrm>
            <a:off x="731520" y="1975104"/>
            <a:ext cx="4206240" cy="274320"/>
          </a:xfrm>
          <a:prstGeom prst="rect">
            <a:avLst/>
          </a:prstGeom>
          <a:noFill/>
          <a:ln/>
        </p:spPr>
        <p:txBody>
          <a:bodyPr wrap="square" lIns="0" tIns="0" rIns="0" bIns="0" rtlCol="0" anchor="ctr"/>
          <a:lstStyle/>
          <a:p>
            <a:pPr indent="0" marL="0">
              <a:buNone/>
            </a:pPr>
            <a:r>
              <a:rPr lang="en-US" sz="1150" b="1" spc="100" kern="0" dirty="0">
                <a:solidFill>
                  <a:srgbClr val="5B6B7A"/>
                </a:solidFill>
                <a:latin typeface="Segoe UI" pitchFamily="34" charset="0"/>
                <a:ea typeface="Segoe UI" pitchFamily="34" charset="-122"/>
                <a:cs typeface="Segoe UI" pitchFamily="34" charset="-120"/>
              </a:rPr>
              <a:t>XÁO TRỘN (đầu vào)</a:t>
            </a:r>
            <a:endParaRPr lang="en-US" sz="1150" dirty="0"/>
          </a:p>
        </p:txBody>
      </p:sp>
      <p:sp>
        <p:nvSpPr>
          <p:cNvPr id="6" name="Shape 4"/>
          <p:cNvSpPr/>
          <p:nvPr/>
        </p:nvSpPr>
        <p:spPr>
          <a:xfrm>
            <a:off x="868680" y="2286000"/>
            <a:ext cx="1188720" cy="1234440"/>
          </a:xfrm>
          <a:prstGeom prst="roundRect">
            <a:avLst>
              <a:gd name="adj" fmla="val 4615"/>
            </a:avLst>
          </a:prstGeom>
          <a:solidFill>
            <a:srgbClr val="FFFFFF"/>
          </a:solidFill>
          <a:ln w="12700">
            <a:solidFill>
              <a:srgbClr val="B9C0C8"/>
            </a:solidFill>
            <a:prstDash val="solid"/>
          </a:ln>
        </p:spPr>
      </p:sp>
      <p:sp>
        <p:nvSpPr>
          <p:cNvPr id="7" name="Shape 5"/>
          <p:cNvSpPr/>
          <p:nvPr/>
        </p:nvSpPr>
        <p:spPr>
          <a:xfrm>
            <a:off x="932688" y="2359152"/>
            <a:ext cx="1060704" cy="201168"/>
          </a:xfrm>
          <a:prstGeom prst="rect">
            <a:avLst/>
          </a:prstGeom>
          <a:solidFill>
            <a:srgbClr val="F4F6F8"/>
          </a:solidFill>
          <a:ln/>
        </p:spPr>
      </p:sp>
      <p:sp>
        <p:nvSpPr>
          <p:cNvPr id="8" name="Text 6"/>
          <p:cNvSpPr/>
          <p:nvPr/>
        </p:nvSpPr>
        <p:spPr>
          <a:xfrm>
            <a:off x="969264" y="2359152"/>
            <a:ext cx="987552" cy="201168"/>
          </a:xfrm>
          <a:prstGeom prst="rect">
            <a:avLst/>
          </a:prstGeom>
          <a:noFill/>
          <a:ln/>
        </p:spPr>
        <p:txBody>
          <a:bodyPr wrap="square" lIns="0" tIns="0" rIns="0" bIns="0" rtlCol="0" anchor="ctr"/>
          <a:lstStyle/>
          <a:p>
            <a:pPr indent="0" marL="0">
              <a:buNone/>
            </a:pPr>
            <a:r>
              <a:rPr lang="en-US" sz="800" b="1" dirty="0">
                <a:solidFill>
                  <a:srgbClr val="3C434B"/>
                </a:solidFill>
                <a:latin typeface="Segoe UI" pitchFamily="34" charset="0"/>
                <a:ea typeface="Segoe UI" pitchFamily="34" charset="-122"/>
                <a:cs typeface="Segoe UI" pitchFamily="34" charset="-120"/>
              </a:rPr>
              <a:t>?   Nhập giờ</a:t>
            </a:r>
            <a:endParaRPr lang="en-US" sz="800" dirty="0"/>
          </a:p>
        </p:txBody>
      </p:sp>
      <p:sp>
        <p:nvSpPr>
          <p:cNvPr id="9" name="Shape 7"/>
          <p:cNvSpPr/>
          <p:nvPr/>
        </p:nvSpPr>
        <p:spPr>
          <a:xfrm>
            <a:off x="960120" y="2651760"/>
            <a:ext cx="1005840" cy="246888"/>
          </a:xfrm>
          <a:prstGeom prst="rect">
            <a:avLst/>
          </a:prstGeom>
          <a:solidFill>
            <a:srgbClr val="FFFFFF"/>
          </a:solidFill>
          <a:ln w="6350">
            <a:solidFill>
              <a:srgbClr val="DCE1E6"/>
            </a:solidFill>
            <a:prstDash val="solid"/>
          </a:ln>
        </p:spPr>
      </p:sp>
      <p:sp>
        <p:nvSpPr>
          <p:cNvPr id="10" name="Text 8"/>
          <p:cNvSpPr/>
          <p:nvPr/>
        </p:nvSpPr>
        <p:spPr>
          <a:xfrm>
            <a:off x="1024128" y="2651760"/>
            <a:ext cx="896112" cy="246888"/>
          </a:xfrm>
          <a:prstGeom prst="rect">
            <a:avLst/>
          </a:prstGeom>
          <a:noFill/>
          <a:ln/>
        </p:spPr>
        <p:txBody>
          <a:bodyPr wrap="square" lIns="0" tIns="0" rIns="0" bIns="0" rtlCol="0" anchor="ctr"/>
          <a:lstStyle/>
          <a:p>
            <a:pPr indent="0" marL="0">
              <a:buNone/>
            </a:pPr>
            <a:r>
              <a:rPr lang="en-US" sz="800" dirty="0">
                <a:solidFill>
                  <a:srgbClr val="3C434B"/>
                </a:solidFill>
                <a:latin typeface="Segoe UI" pitchFamily="34" charset="0"/>
                <a:ea typeface="Segoe UI" pitchFamily="34" charset="-122"/>
                <a:cs typeface="Segoe UI" pitchFamily="34" charset="-120"/>
              </a:rPr>
              <a:t>07 : 00</a:t>
            </a:r>
            <a:endParaRPr lang="en-US" sz="800" dirty="0"/>
          </a:p>
        </p:txBody>
      </p:sp>
      <p:sp>
        <p:nvSpPr>
          <p:cNvPr id="11" name="Shape 9"/>
          <p:cNvSpPr/>
          <p:nvPr/>
        </p:nvSpPr>
        <p:spPr>
          <a:xfrm>
            <a:off x="960120" y="2953512"/>
            <a:ext cx="1005840" cy="246888"/>
          </a:xfrm>
          <a:prstGeom prst="rect">
            <a:avLst/>
          </a:prstGeom>
          <a:solidFill>
            <a:srgbClr val="F2E3E6"/>
          </a:solidFill>
          <a:ln w="12700">
            <a:solidFill>
              <a:srgbClr val="8A2433"/>
            </a:solidFill>
            <a:prstDash val="solid"/>
          </a:ln>
        </p:spPr>
      </p:sp>
      <p:sp>
        <p:nvSpPr>
          <p:cNvPr id="12" name="Text 10"/>
          <p:cNvSpPr/>
          <p:nvPr/>
        </p:nvSpPr>
        <p:spPr>
          <a:xfrm>
            <a:off x="1024128" y="2953512"/>
            <a:ext cx="896112" cy="246888"/>
          </a:xfrm>
          <a:prstGeom prst="rect">
            <a:avLst/>
          </a:prstGeom>
          <a:noFill/>
          <a:ln/>
        </p:spPr>
        <p:txBody>
          <a:bodyPr wrap="square" lIns="0" tIns="0" rIns="0" bIns="0" rtlCol="0" anchor="ctr"/>
          <a:lstStyle/>
          <a:p>
            <a:pPr indent="0" marL="0">
              <a:buNone/>
            </a:pPr>
            <a:r>
              <a:rPr lang="en-US" sz="800" b="1" dirty="0">
                <a:solidFill>
                  <a:srgbClr val="8A2433"/>
                </a:solidFill>
                <a:latin typeface="Segoe UI" pitchFamily="34" charset="0"/>
                <a:ea typeface="Segoe UI" pitchFamily="34" charset="-122"/>
                <a:cs typeface="Segoe UI" pitchFamily="34" charset="-120"/>
              </a:rPr>
              <a:t>Huỷ    OK</a:t>
            </a:r>
            <a:endParaRPr lang="en-US" sz="800" dirty="0"/>
          </a:p>
        </p:txBody>
      </p:sp>
      <p:sp>
        <p:nvSpPr>
          <p:cNvPr id="13" name="Shape 11"/>
          <p:cNvSpPr/>
          <p:nvPr/>
        </p:nvSpPr>
        <p:spPr>
          <a:xfrm>
            <a:off x="2286000" y="2286000"/>
            <a:ext cx="1188720" cy="1234440"/>
          </a:xfrm>
          <a:prstGeom prst="roundRect">
            <a:avLst>
              <a:gd name="adj" fmla="val 4615"/>
            </a:avLst>
          </a:prstGeom>
          <a:solidFill>
            <a:srgbClr val="FFFFFF"/>
          </a:solidFill>
          <a:ln w="12700">
            <a:solidFill>
              <a:srgbClr val="B9C0C8"/>
            </a:solidFill>
            <a:prstDash val="solid"/>
          </a:ln>
        </p:spPr>
      </p:sp>
      <p:sp>
        <p:nvSpPr>
          <p:cNvPr id="14" name="Shape 12"/>
          <p:cNvSpPr/>
          <p:nvPr/>
        </p:nvSpPr>
        <p:spPr>
          <a:xfrm>
            <a:off x="2350008" y="2359152"/>
            <a:ext cx="1060704" cy="201168"/>
          </a:xfrm>
          <a:prstGeom prst="rect">
            <a:avLst/>
          </a:prstGeom>
          <a:solidFill>
            <a:srgbClr val="F4F6F8"/>
          </a:solidFill>
          <a:ln/>
        </p:spPr>
      </p:sp>
      <p:sp>
        <p:nvSpPr>
          <p:cNvPr id="15" name="Text 13"/>
          <p:cNvSpPr/>
          <p:nvPr/>
        </p:nvSpPr>
        <p:spPr>
          <a:xfrm>
            <a:off x="2386584" y="2359152"/>
            <a:ext cx="987552" cy="201168"/>
          </a:xfrm>
          <a:prstGeom prst="rect">
            <a:avLst/>
          </a:prstGeom>
          <a:noFill/>
          <a:ln/>
        </p:spPr>
        <p:txBody>
          <a:bodyPr wrap="square" lIns="0" tIns="0" rIns="0" bIns="0" rtlCol="0" anchor="ctr"/>
          <a:lstStyle/>
          <a:p>
            <a:pPr indent="0" marL="0">
              <a:buNone/>
            </a:pPr>
            <a:r>
              <a:rPr lang="en-US" sz="800" b="1" dirty="0">
                <a:solidFill>
                  <a:srgbClr val="3C434B"/>
                </a:solidFill>
                <a:latin typeface="Segoe UI" pitchFamily="34" charset="0"/>
                <a:ea typeface="Segoe UI" pitchFamily="34" charset="-122"/>
                <a:cs typeface="Segoe UI" pitchFamily="34" charset="-120"/>
              </a:rPr>
              <a:t>?   Báo thức</a:t>
            </a:r>
            <a:endParaRPr lang="en-US" sz="800" dirty="0"/>
          </a:p>
        </p:txBody>
      </p:sp>
      <p:sp>
        <p:nvSpPr>
          <p:cNvPr id="16" name="Shape 14"/>
          <p:cNvSpPr/>
          <p:nvPr/>
        </p:nvSpPr>
        <p:spPr>
          <a:xfrm>
            <a:off x="2377440" y="2651760"/>
            <a:ext cx="1005840" cy="246888"/>
          </a:xfrm>
          <a:prstGeom prst="rect">
            <a:avLst/>
          </a:prstGeom>
          <a:solidFill>
            <a:srgbClr val="FFFFFF"/>
          </a:solidFill>
          <a:ln w="6350">
            <a:solidFill>
              <a:srgbClr val="DCE1E6"/>
            </a:solidFill>
            <a:prstDash val="solid"/>
          </a:ln>
        </p:spPr>
      </p:sp>
      <p:sp>
        <p:nvSpPr>
          <p:cNvPr id="17" name="Text 15"/>
          <p:cNvSpPr/>
          <p:nvPr/>
        </p:nvSpPr>
        <p:spPr>
          <a:xfrm>
            <a:off x="2441448" y="2651760"/>
            <a:ext cx="896112" cy="246888"/>
          </a:xfrm>
          <a:prstGeom prst="rect">
            <a:avLst/>
          </a:prstGeom>
          <a:noFill/>
          <a:ln/>
        </p:spPr>
        <p:txBody>
          <a:bodyPr wrap="square" lIns="0" tIns="0" rIns="0" bIns="0" rtlCol="0" anchor="ctr"/>
          <a:lstStyle/>
          <a:p>
            <a:pPr indent="0" marL="0">
              <a:buNone/>
            </a:pPr>
            <a:r>
              <a:rPr lang="en-US" sz="800" dirty="0">
                <a:solidFill>
                  <a:srgbClr val="3C434B"/>
                </a:solidFill>
                <a:latin typeface="Segoe UI" pitchFamily="34" charset="0"/>
                <a:ea typeface="Segoe UI" pitchFamily="34" charset="-122"/>
                <a:cs typeface="Segoe UI" pitchFamily="34" charset="-120"/>
              </a:rPr>
              <a:t>Danh sách</a:t>
            </a:r>
            <a:endParaRPr lang="en-US" sz="800" dirty="0"/>
          </a:p>
        </p:txBody>
      </p:sp>
      <p:sp>
        <p:nvSpPr>
          <p:cNvPr id="18" name="Shape 16"/>
          <p:cNvSpPr/>
          <p:nvPr/>
        </p:nvSpPr>
        <p:spPr>
          <a:xfrm>
            <a:off x="2377440" y="2953512"/>
            <a:ext cx="1005840" cy="246888"/>
          </a:xfrm>
          <a:prstGeom prst="rect">
            <a:avLst/>
          </a:prstGeom>
          <a:solidFill>
            <a:srgbClr val="F2E3E6"/>
          </a:solidFill>
          <a:ln w="12700">
            <a:solidFill>
              <a:srgbClr val="8A2433"/>
            </a:solidFill>
            <a:prstDash val="solid"/>
          </a:ln>
        </p:spPr>
      </p:sp>
      <p:sp>
        <p:nvSpPr>
          <p:cNvPr id="19" name="Text 17"/>
          <p:cNvSpPr/>
          <p:nvPr/>
        </p:nvSpPr>
        <p:spPr>
          <a:xfrm>
            <a:off x="2441448" y="2953512"/>
            <a:ext cx="896112" cy="246888"/>
          </a:xfrm>
          <a:prstGeom prst="rect">
            <a:avLst/>
          </a:prstGeom>
          <a:noFill/>
          <a:ln/>
        </p:spPr>
        <p:txBody>
          <a:bodyPr wrap="square" lIns="0" tIns="0" rIns="0" bIns="0" rtlCol="0" anchor="ctr"/>
          <a:lstStyle/>
          <a:p>
            <a:pPr indent="0" marL="0">
              <a:buNone/>
            </a:pPr>
            <a:r>
              <a:rPr lang="en-US" sz="800" b="1" dirty="0">
                <a:solidFill>
                  <a:srgbClr val="8A2433"/>
                </a:solidFill>
                <a:latin typeface="Segoe UI" pitchFamily="34" charset="0"/>
                <a:ea typeface="Segoe UI" pitchFamily="34" charset="-122"/>
                <a:cs typeface="Segoe UI" pitchFamily="34" charset="-120"/>
              </a:rPr>
              <a:t>+ Thêm</a:t>
            </a:r>
            <a:endParaRPr lang="en-US" sz="800" dirty="0"/>
          </a:p>
        </p:txBody>
      </p:sp>
      <p:sp>
        <p:nvSpPr>
          <p:cNvPr id="20" name="Shape 18"/>
          <p:cNvSpPr/>
          <p:nvPr/>
        </p:nvSpPr>
        <p:spPr>
          <a:xfrm>
            <a:off x="3703320" y="2286000"/>
            <a:ext cx="1188720" cy="1234440"/>
          </a:xfrm>
          <a:prstGeom prst="roundRect">
            <a:avLst>
              <a:gd name="adj" fmla="val 4615"/>
            </a:avLst>
          </a:prstGeom>
          <a:solidFill>
            <a:srgbClr val="FFFFFF"/>
          </a:solidFill>
          <a:ln w="12700">
            <a:solidFill>
              <a:srgbClr val="B9C0C8"/>
            </a:solidFill>
            <a:prstDash val="solid"/>
          </a:ln>
        </p:spPr>
      </p:sp>
      <p:sp>
        <p:nvSpPr>
          <p:cNvPr id="21" name="Shape 19"/>
          <p:cNvSpPr/>
          <p:nvPr/>
        </p:nvSpPr>
        <p:spPr>
          <a:xfrm>
            <a:off x="3767328" y="2359152"/>
            <a:ext cx="1060704" cy="201168"/>
          </a:xfrm>
          <a:prstGeom prst="rect">
            <a:avLst/>
          </a:prstGeom>
          <a:solidFill>
            <a:srgbClr val="F4F6F8"/>
          </a:solidFill>
          <a:ln/>
        </p:spPr>
      </p:sp>
      <p:sp>
        <p:nvSpPr>
          <p:cNvPr id="22" name="Text 20"/>
          <p:cNvSpPr/>
          <p:nvPr/>
        </p:nvSpPr>
        <p:spPr>
          <a:xfrm>
            <a:off x="3803904" y="2359152"/>
            <a:ext cx="987552" cy="201168"/>
          </a:xfrm>
          <a:prstGeom prst="rect">
            <a:avLst/>
          </a:prstGeom>
          <a:noFill/>
          <a:ln/>
        </p:spPr>
        <p:txBody>
          <a:bodyPr wrap="square" lIns="0" tIns="0" rIns="0" bIns="0" rtlCol="0" anchor="ctr"/>
          <a:lstStyle/>
          <a:p>
            <a:pPr indent="0" marL="0">
              <a:buNone/>
            </a:pPr>
            <a:r>
              <a:rPr lang="en-US" sz="800" b="1" dirty="0">
                <a:solidFill>
                  <a:srgbClr val="3C434B"/>
                </a:solidFill>
                <a:latin typeface="Segoe UI" pitchFamily="34" charset="0"/>
                <a:ea typeface="Segoe UI" pitchFamily="34" charset="-122"/>
                <a:cs typeface="Segoe UI" pitchFamily="34" charset="-120"/>
              </a:rPr>
              <a:t>?   Đồng hồ</a:t>
            </a:r>
            <a:endParaRPr lang="en-US" sz="800" dirty="0"/>
          </a:p>
        </p:txBody>
      </p:sp>
      <p:sp>
        <p:nvSpPr>
          <p:cNvPr id="23" name="Shape 21"/>
          <p:cNvSpPr/>
          <p:nvPr/>
        </p:nvSpPr>
        <p:spPr>
          <a:xfrm>
            <a:off x="3794760" y="2651760"/>
            <a:ext cx="1005840" cy="246888"/>
          </a:xfrm>
          <a:prstGeom prst="rect">
            <a:avLst/>
          </a:prstGeom>
          <a:solidFill>
            <a:srgbClr val="F2E3E6"/>
          </a:solidFill>
          <a:ln w="12700">
            <a:solidFill>
              <a:srgbClr val="8A2433"/>
            </a:solidFill>
            <a:prstDash val="solid"/>
          </a:ln>
        </p:spPr>
      </p:sp>
      <p:sp>
        <p:nvSpPr>
          <p:cNvPr id="24" name="Text 22"/>
          <p:cNvSpPr/>
          <p:nvPr/>
        </p:nvSpPr>
        <p:spPr>
          <a:xfrm>
            <a:off x="3858768" y="2651760"/>
            <a:ext cx="896112" cy="246888"/>
          </a:xfrm>
          <a:prstGeom prst="rect">
            <a:avLst/>
          </a:prstGeom>
          <a:noFill/>
          <a:ln/>
        </p:spPr>
        <p:txBody>
          <a:bodyPr wrap="square" lIns="0" tIns="0" rIns="0" bIns="0" rtlCol="0" anchor="ctr"/>
          <a:lstStyle/>
          <a:p>
            <a:pPr indent="0" marL="0">
              <a:buNone/>
            </a:pPr>
            <a:r>
              <a:rPr lang="en-US" sz="800" b="1" dirty="0">
                <a:solidFill>
                  <a:srgbClr val="8A2433"/>
                </a:solidFill>
                <a:latin typeface="Segoe UI" pitchFamily="34" charset="0"/>
                <a:ea typeface="Segoe UI" pitchFamily="34" charset="-122"/>
                <a:cs typeface="Segoe UI" pitchFamily="34" charset="-120"/>
              </a:rPr>
              <a:t>Báo thức</a:t>
            </a:r>
            <a:endParaRPr lang="en-US" sz="800" dirty="0"/>
          </a:p>
        </p:txBody>
      </p:sp>
      <p:sp>
        <p:nvSpPr>
          <p:cNvPr id="25" name="Shape 23"/>
          <p:cNvSpPr/>
          <p:nvPr/>
        </p:nvSpPr>
        <p:spPr>
          <a:xfrm>
            <a:off x="3794760" y="2953512"/>
            <a:ext cx="1005840" cy="246888"/>
          </a:xfrm>
          <a:prstGeom prst="rect">
            <a:avLst/>
          </a:prstGeom>
          <a:solidFill>
            <a:srgbClr val="FFFFFF"/>
          </a:solidFill>
          <a:ln w="6350">
            <a:solidFill>
              <a:srgbClr val="DCE1E6"/>
            </a:solidFill>
            <a:prstDash val="solid"/>
          </a:ln>
        </p:spPr>
      </p:sp>
      <p:sp>
        <p:nvSpPr>
          <p:cNvPr id="26" name="Text 24"/>
          <p:cNvSpPr/>
          <p:nvPr/>
        </p:nvSpPr>
        <p:spPr>
          <a:xfrm>
            <a:off x="3858768" y="2953512"/>
            <a:ext cx="896112" cy="246888"/>
          </a:xfrm>
          <a:prstGeom prst="rect">
            <a:avLst/>
          </a:prstGeom>
          <a:noFill/>
          <a:ln/>
        </p:spPr>
        <p:txBody>
          <a:bodyPr wrap="square" lIns="0" tIns="0" rIns="0" bIns="0" rtlCol="0" anchor="ctr"/>
          <a:lstStyle/>
          <a:p>
            <a:pPr indent="0" marL="0">
              <a:buNone/>
            </a:pPr>
            <a:r>
              <a:rPr lang="en-US" sz="800" dirty="0">
                <a:solidFill>
                  <a:srgbClr val="3C434B"/>
                </a:solidFill>
                <a:latin typeface="Segoe UI" pitchFamily="34" charset="0"/>
                <a:ea typeface="Segoe UI" pitchFamily="34" charset="-122"/>
                <a:cs typeface="Segoe UI" pitchFamily="34" charset="-120"/>
              </a:rPr>
              <a:t>Hẹn giờ</a:t>
            </a:r>
            <a:endParaRPr lang="en-US" sz="800" dirty="0"/>
          </a:p>
        </p:txBody>
      </p:sp>
      <p:sp>
        <p:nvSpPr>
          <p:cNvPr id="27" name="Shape 25"/>
          <p:cNvSpPr/>
          <p:nvPr/>
        </p:nvSpPr>
        <p:spPr>
          <a:xfrm>
            <a:off x="2834640" y="3611880"/>
            <a:ext cx="0" cy="274320"/>
          </a:xfrm>
          <a:prstGeom prst="line">
            <a:avLst/>
          </a:prstGeom>
          <a:noFill/>
          <a:ln w="28575">
            <a:solidFill>
              <a:srgbClr val="8A2433"/>
            </a:solidFill>
            <a:prstDash val="solid"/>
            <a:headEnd type="none"/>
            <a:tailEnd type="triangle"/>
          </a:ln>
        </p:spPr>
      </p:sp>
      <p:sp>
        <p:nvSpPr>
          <p:cNvPr id="28" name="Text 26"/>
          <p:cNvSpPr/>
          <p:nvPr/>
        </p:nvSpPr>
        <p:spPr>
          <a:xfrm>
            <a:off x="777240" y="3950208"/>
            <a:ext cx="5120640" cy="384048"/>
          </a:xfrm>
          <a:prstGeom prst="rect">
            <a:avLst/>
          </a:prstGeom>
          <a:noFill/>
          <a:ln/>
        </p:spPr>
        <p:txBody>
          <a:bodyPr wrap="square" lIns="0" tIns="0" rIns="0" bIns="0" rtlCol="0" anchor="ctr"/>
          <a:lstStyle/>
          <a:p>
            <a:pPr indent="0" marL="0">
              <a:lnSpc>
                <a:spcPct val="100000"/>
              </a:lnSpc>
              <a:buNone/>
            </a:pPr>
            <a:r>
              <a:rPr lang="en-US" sz="1050" i="1" dirty="0">
                <a:solidFill>
                  <a:srgbClr val="8A2433"/>
                </a:solidFill>
                <a:latin typeface="Segoe UI" pitchFamily="34" charset="0"/>
                <a:ea typeface="Segoe UI" pitchFamily="34" charset="-122"/>
                <a:cs typeface="Segoe UI" pitchFamily="34" charset="-120"/>
              </a:rPr>
              <a:t>Máy tự xếp — dựa ORDERING CUES (nút OK ⇒ drill-down; “+ Thêm” ⇒ màn danh sách đứng trước)</a:t>
            </a:r>
            <a:endParaRPr lang="en-US" sz="1050" dirty="0"/>
          </a:p>
        </p:txBody>
      </p:sp>
      <p:sp>
        <p:nvSpPr>
          <p:cNvPr id="29" name="Text 27"/>
          <p:cNvSpPr/>
          <p:nvPr/>
        </p:nvSpPr>
        <p:spPr>
          <a:xfrm>
            <a:off x="731520" y="4498848"/>
            <a:ext cx="4206240" cy="274320"/>
          </a:xfrm>
          <a:prstGeom prst="rect">
            <a:avLst/>
          </a:prstGeom>
          <a:noFill/>
          <a:ln/>
        </p:spPr>
        <p:txBody>
          <a:bodyPr wrap="square" lIns="0" tIns="0" rIns="0" bIns="0" rtlCol="0" anchor="ctr"/>
          <a:lstStyle/>
          <a:p>
            <a:pPr indent="0" marL="0">
              <a:buNone/>
            </a:pPr>
            <a:r>
              <a:rPr lang="en-US" sz="1150" b="1" spc="100" kern="0" dirty="0">
                <a:solidFill>
                  <a:srgbClr val="8A2433"/>
                </a:solidFill>
                <a:latin typeface="Segoe UI" pitchFamily="34" charset="0"/>
                <a:ea typeface="Segoe UI" pitchFamily="34" charset="-122"/>
                <a:cs typeface="Segoe UI" pitchFamily="34" charset="-120"/>
              </a:rPr>
              <a:t>ĐÃ SẮP ĐÚNG (đầu ra)</a:t>
            </a:r>
            <a:endParaRPr lang="en-US" sz="1150" dirty="0"/>
          </a:p>
        </p:txBody>
      </p:sp>
      <p:sp>
        <p:nvSpPr>
          <p:cNvPr id="30" name="Shape 28"/>
          <p:cNvSpPr/>
          <p:nvPr/>
        </p:nvSpPr>
        <p:spPr>
          <a:xfrm>
            <a:off x="868680" y="4809744"/>
            <a:ext cx="1188720" cy="1234440"/>
          </a:xfrm>
          <a:prstGeom prst="roundRect">
            <a:avLst>
              <a:gd name="adj" fmla="val 4615"/>
            </a:avLst>
          </a:prstGeom>
          <a:solidFill>
            <a:srgbClr val="FFFFFF"/>
          </a:solidFill>
          <a:ln w="12700">
            <a:solidFill>
              <a:srgbClr val="B9C0C8"/>
            </a:solidFill>
            <a:prstDash val="solid"/>
          </a:ln>
        </p:spPr>
      </p:sp>
      <p:sp>
        <p:nvSpPr>
          <p:cNvPr id="31" name="Shape 29"/>
          <p:cNvSpPr/>
          <p:nvPr/>
        </p:nvSpPr>
        <p:spPr>
          <a:xfrm>
            <a:off x="932688" y="4882896"/>
            <a:ext cx="1060704" cy="201168"/>
          </a:xfrm>
          <a:prstGeom prst="rect">
            <a:avLst/>
          </a:prstGeom>
          <a:solidFill>
            <a:srgbClr val="F4F6F8"/>
          </a:solidFill>
          <a:ln/>
        </p:spPr>
      </p:sp>
      <p:sp>
        <p:nvSpPr>
          <p:cNvPr id="32" name="Text 30"/>
          <p:cNvSpPr/>
          <p:nvPr/>
        </p:nvSpPr>
        <p:spPr>
          <a:xfrm>
            <a:off x="969264" y="4882896"/>
            <a:ext cx="987552" cy="201168"/>
          </a:xfrm>
          <a:prstGeom prst="rect">
            <a:avLst/>
          </a:prstGeom>
          <a:noFill/>
          <a:ln/>
        </p:spPr>
        <p:txBody>
          <a:bodyPr wrap="square" lIns="0" tIns="0" rIns="0" bIns="0" rtlCol="0" anchor="ctr"/>
          <a:lstStyle/>
          <a:p>
            <a:pPr indent="0" marL="0">
              <a:buNone/>
            </a:pPr>
            <a:r>
              <a:rPr lang="en-US" sz="800" b="1" dirty="0">
                <a:solidFill>
                  <a:srgbClr val="3C434B"/>
                </a:solidFill>
                <a:latin typeface="Segoe UI" pitchFamily="34" charset="0"/>
                <a:ea typeface="Segoe UI" pitchFamily="34" charset="-122"/>
                <a:cs typeface="Segoe UI" pitchFamily="34" charset="-120"/>
              </a:rPr>
              <a:t>①   Đồng hồ</a:t>
            </a:r>
            <a:endParaRPr lang="en-US" sz="800" dirty="0"/>
          </a:p>
        </p:txBody>
      </p:sp>
      <p:sp>
        <p:nvSpPr>
          <p:cNvPr id="33" name="Shape 31"/>
          <p:cNvSpPr/>
          <p:nvPr/>
        </p:nvSpPr>
        <p:spPr>
          <a:xfrm>
            <a:off x="960120" y="5175504"/>
            <a:ext cx="1005840" cy="246888"/>
          </a:xfrm>
          <a:prstGeom prst="rect">
            <a:avLst/>
          </a:prstGeom>
          <a:solidFill>
            <a:srgbClr val="F2E3E6"/>
          </a:solidFill>
          <a:ln w="12700">
            <a:solidFill>
              <a:srgbClr val="8A2433"/>
            </a:solidFill>
            <a:prstDash val="solid"/>
          </a:ln>
        </p:spPr>
      </p:sp>
      <p:sp>
        <p:nvSpPr>
          <p:cNvPr id="34" name="Text 32"/>
          <p:cNvSpPr/>
          <p:nvPr/>
        </p:nvSpPr>
        <p:spPr>
          <a:xfrm>
            <a:off x="1024128" y="5175504"/>
            <a:ext cx="896112" cy="246888"/>
          </a:xfrm>
          <a:prstGeom prst="rect">
            <a:avLst/>
          </a:prstGeom>
          <a:noFill/>
          <a:ln/>
        </p:spPr>
        <p:txBody>
          <a:bodyPr wrap="square" lIns="0" tIns="0" rIns="0" bIns="0" rtlCol="0" anchor="ctr"/>
          <a:lstStyle/>
          <a:p>
            <a:pPr indent="0" marL="0">
              <a:buNone/>
            </a:pPr>
            <a:r>
              <a:rPr lang="en-US" sz="800" b="1" dirty="0">
                <a:solidFill>
                  <a:srgbClr val="8A2433"/>
                </a:solidFill>
                <a:latin typeface="Segoe UI" pitchFamily="34" charset="0"/>
                <a:ea typeface="Segoe UI" pitchFamily="34" charset="-122"/>
                <a:cs typeface="Segoe UI" pitchFamily="34" charset="-120"/>
              </a:rPr>
              <a:t>Báo thức</a:t>
            </a:r>
            <a:endParaRPr lang="en-US" sz="800" dirty="0"/>
          </a:p>
        </p:txBody>
      </p:sp>
      <p:sp>
        <p:nvSpPr>
          <p:cNvPr id="35" name="Shape 33"/>
          <p:cNvSpPr/>
          <p:nvPr/>
        </p:nvSpPr>
        <p:spPr>
          <a:xfrm>
            <a:off x="960120" y="5477256"/>
            <a:ext cx="1005840" cy="246888"/>
          </a:xfrm>
          <a:prstGeom prst="rect">
            <a:avLst/>
          </a:prstGeom>
          <a:solidFill>
            <a:srgbClr val="FFFFFF"/>
          </a:solidFill>
          <a:ln w="6350">
            <a:solidFill>
              <a:srgbClr val="DCE1E6"/>
            </a:solidFill>
            <a:prstDash val="solid"/>
          </a:ln>
        </p:spPr>
      </p:sp>
      <p:sp>
        <p:nvSpPr>
          <p:cNvPr id="36" name="Text 34"/>
          <p:cNvSpPr/>
          <p:nvPr/>
        </p:nvSpPr>
        <p:spPr>
          <a:xfrm>
            <a:off x="1024128" y="5477256"/>
            <a:ext cx="896112" cy="246888"/>
          </a:xfrm>
          <a:prstGeom prst="rect">
            <a:avLst/>
          </a:prstGeom>
          <a:noFill/>
          <a:ln/>
        </p:spPr>
        <p:txBody>
          <a:bodyPr wrap="square" lIns="0" tIns="0" rIns="0" bIns="0" rtlCol="0" anchor="ctr"/>
          <a:lstStyle/>
          <a:p>
            <a:pPr indent="0" marL="0">
              <a:buNone/>
            </a:pPr>
            <a:r>
              <a:rPr lang="en-US" sz="800" dirty="0">
                <a:solidFill>
                  <a:srgbClr val="3C434B"/>
                </a:solidFill>
                <a:latin typeface="Segoe UI" pitchFamily="34" charset="0"/>
                <a:ea typeface="Segoe UI" pitchFamily="34" charset="-122"/>
                <a:cs typeface="Segoe UI" pitchFamily="34" charset="-120"/>
              </a:rPr>
              <a:t>Hẹn giờ</a:t>
            </a:r>
            <a:endParaRPr lang="en-US" sz="800" dirty="0"/>
          </a:p>
        </p:txBody>
      </p:sp>
      <p:sp>
        <p:nvSpPr>
          <p:cNvPr id="37" name="Shape 35"/>
          <p:cNvSpPr/>
          <p:nvPr/>
        </p:nvSpPr>
        <p:spPr>
          <a:xfrm>
            <a:off x="2286000" y="4809744"/>
            <a:ext cx="1188720" cy="1234440"/>
          </a:xfrm>
          <a:prstGeom prst="roundRect">
            <a:avLst>
              <a:gd name="adj" fmla="val 4615"/>
            </a:avLst>
          </a:prstGeom>
          <a:solidFill>
            <a:srgbClr val="FFFFFF"/>
          </a:solidFill>
          <a:ln w="12700">
            <a:solidFill>
              <a:srgbClr val="B9C0C8"/>
            </a:solidFill>
            <a:prstDash val="solid"/>
          </a:ln>
        </p:spPr>
      </p:sp>
      <p:sp>
        <p:nvSpPr>
          <p:cNvPr id="38" name="Shape 36"/>
          <p:cNvSpPr/>
          <p:nvPr/>
        </p:nvSpPr>
        <p:spPr>
          <a:xfrm>
            <a:off x="2350008" y="4882896"/>
            <a:ext cx="1060704" cy="201168"/>
          </a:xfrm>
          <a:prstGeom prst="rect">
            <a:avLst/>
          </a:prstGeom>
          <a:solidFill>
            <a:srgbClr val="F4F6F8"/>
          </a:solidFill>
          <a:ln/>
        </p:spPr>
      </p:sp>
      <p:sp>
        <p:nvSpPr>
          <p:cNvPr id="39" name="Text 37"/>
          <p:cNvSpPr/>
          <p:nvPr/>
        </p:nvSpPr>
        <p:spPr>
          <a:xfrm>
            <a:off x="2386584" y="4882896"/>
            <a:ext cx="987552" cy="201168"/>
          </a:xfrm>
          <a:prstGeom prst="rect">
            <a:avLst/>
          </a:prstGeom>
          <a:noFill/>
          <a:ln/>
        </p:spPr>
        <p:txBody>
          <a:bodyPr wrap="square" lIns="0" tIns="0" rIns="0" bIns="0" rtlCol="0" anchor="ctr"/>
          <a:lstStyle/>
          <a:p>
            <a:pPr indent="0" marL="0">
              <a:buNone/>
            </a:pPr>
            <a:r>
              <a:rPr lang="en-US" sz="800" b="1" dirty="0">
                <a:solidFill>
                  <a:srgbClr val="3C434B"/>
                </a:solidFill>
                <a:latin typeface="Segoe UI" pitchFamily="34" charset="0"/>
                <a:ea typeface="Segoe UI" pitchFamily="34" charset="-122"/>
                <a:cs typeface="Segoe UI" pitchFamily="34" charset="-120"/>
              </a:rPr>
              <a:t>②   Báo thức</a:t>
            </a:r>
            <a:endParaRPr lang="en-US" sz="800" dirty="0"/>
          </a:p>
        </p:txBody>
      </p:sp>
      <p:sp>
        <p:nvSpPr>
          <p:cNvPr id="40" name="Shape 38"/>
          <p:cNvSpPr/>
          <p:nvPr/>
        </p:nvSpPr>
        <p:spPr>
          <a:xfrm>
            <a:off x="2377440" y="5175504"/>
            <a:ext cx="1005840" cy="246888"/>
          </a:xfrm>
          <a:prstGeom prst="rect">
            <a:avLst/>
          </a:prstGeom>
          <a:solidFill>
            <a:srgbClr val="FFFFFF"/>
          </a:solidFill>
          <a:ln w="6350">
            <a:solidFill>
              <a:srgbClr val="DCE1E6"/>
            </a:solidFill>
            <a:prstDash val="solid"/>
          </a:ln>
        </p:spPr>
      </p:sp>
      <p:sp>
        <p:nvSpPr>
          <p:cNvPr id="41" name="Text 39"/>
          <p:cNvSpPr/>
          <p:nvPr/>
        </p:nvSpPr>
        <p:spPr>
          <a:xfrm>
            <a:off x="2441448" y="5175504"/>
            <a:ext cx="896112" cy="246888"/>
          </a:xfrm>
          <a:prstGeom prst="rect">
            <a:avLst/>
          </a:prstGeom>
          <a:noFill/>
          <a:ln/>
        </p:spPr>
        <p:txBody>
          <a:bodyPr wrap="square" lIns="0" tIns="0" rIns="0" bIns="0" rtlCol="0" anchor="ctr"/>
          <a:lstStyle/>
          <a:p>
            <a:pPr indent="0" marL="0">
              <a:buNone/>
            </a:pPr>
            <a:r>
              <a:rPr lang="en-US" sz="800" dirty="0">
                <a:solidFill>
                  <a:srgbClr val="3C434B"/>
                </a:solidFill>
                <a:latin typeface="Segoe UI" pitchFamily="34" charset="0"/>
                <a:ea typeface="Segoe UI" pitchFamily="34" charset="-122"/>
                <a:cs typeface="Segoe UI" pitchFamily="34" charset="-120"/>
              </a:rPr>
              <a:t>Danh sách</a:t>
            </a:r>
            <a:endParaRPr lang="en-US" sz="800" dirty="0"/>
          </a:p>
        </p:txBody>
      </p:sp>
      <p:sp>
        <p:nvSpPr>
          <p:cNvPr id="42" name="Shape 40"/>
          <p:cNvSpPr/>
          <p:nvPr/>
        </p:nvSpPr>
        <p:spPr>
          <a:xfrm>
            <a:off x="2377440" y="5477256"/>
            <a:ext cx="1005840" cy="246888"/>
          </a:xfrm>
          <a:prstGeom prst="rect">
            <a:avLst/>
          </a:prstGeom>
          <a:solidFill>
            <a:srgbClr val="F2E3E6"/>
          </a:solidFill>
          <a:ln w="12700">
            <a:solidFill>
              <a:srgbClr val="8A2433"/>
            </a:solidFill>
            <a:prstDash val="solid"/>
          </a:ln>
        </p:spPr>
      </p:sp>
      <p:sp>
        <p:nvSpPr>
          <p:cNvPr id="43" name="Text 41"/>
          <p:cNvSpPr/>
          <p:nvPr/>
        </p:nvSpPr>
        <p:spPr>
          <a:xfrm>
            <a:off x="2441448" y="5477256"/>
            <a:ext cx="896112" cy="246888"/>
          </a:xfrm>
          <a:prstGeom prst="rect">
            <a:avLst/>
          </a:prstGeom>
          <a:noFill/>
          <a:ln/>
        </p:spPr>
        <p:txBody>
          <a:bodyPr wrap="square" lIns="0" tIns="0" rIns="0" bIns="0" rtlCol="0" anchor="ctr"/>
          <a:lstStyle/>
          <a:p>
            <a:pPr indent="0" marL="0">
              <a:buNone/>
            </a:pPr>
            <a:r>
              <a:rPr lang="en-US" sz="800" b="1" dirty="0">
                <a:solidFill>
                  <a:srgbClr val="8A2433"/>
                </a:solidFill>
                <a:latin typeface="Segoe UI" pitchFamily="34" charset="0"/>
                <a:ea typeface="Segoe UI" pitchFamily="34" charset="-122"/>
                <a:cs typeface="Segoe UI" pitchFamily="34" charset="-120"/>
              </a:rPr>
              <a:t>+ Thêm</a:t>
            </a:r>
            <a:endParaRPr lang="en-US" sz="800" dirty="0"/>
          </a:p>
        </p:txBody>
      </p:sp>
      <p:sp>
        <p:nvSpPr>
          <p:cNvPr id="44" name="Shape 42"/>
          <p:cNvSpPr/>
          <p:nvPr/>
        </p:nvSpPr>
        <p:spPr>
          <a:xfrm>
            <a:off x="3703320" y="4809744"/>
            <a:ext cx="1188720" cy="1234440"/>
          </a:xfrm>
          <a:prstGeom prst="roundRect">
            <a:avLst>
              <a:gd name="adj" fmla="val 4615"/>
            </a:avLst>
          </a:prstGeom>
          <a:solidFill>
            <a:srgbClr val="FFFFFF"/>
          </a:solidFill>
          <a:ln w="12700">
            <a:solidFill>
              <a:srgbClr val="B9C0C8"/>
            </a:solidFill>
            <a:prstDash val="solid"/>
          </a:ln>
        </p:spPr>
      </p:sp>
      <p:sp>
        <p:nvSpPr>
          <p:cNvPr id="45" name="Shape 43"/>
          <p:cNvSpPr/>
          <p:nvPr/>
        </p:nvSpPr>
        <p:spPr>
          <a:xfrm>
            <a:off x="3767328" y="4882896"/>
            <a:ext cx="1060704" cy="201168"/>
          </a:xfrm>
          <a:prstGeom prst="rect">
            <a:avLst/>
          </a:prstGeom>
          <a:solidFill>
            <a:srgbClr val="F4F6F8"/>
          </a:solidFill>
          <a:ln/>
        </p:spPr>
      </p:sp>
      <p:sp>
        <p:nvSpPr>
          <p:cNvPr id="46" name="Text 44"/>
          <p:cNvSpPr/>
          <p:nvPr/>
        </p:nvSpPr>
        <p:spPr>
          <a:xfrm>
            <a:off x="3803904" y="4882896"/>
            <a:ext cx="987552" cy="201168"/>
          </a:xfrm>
          <a:prstGeom prst="rect">
            <a:avLst/>
          </a:prstGeom>
          <a:noFill/>
          <a:ln/>
        </p:spPr>
        <p:txBody>
          <a:bodyPr wrap="square" lIns="0" tIns="0" rIns="0" bIns="0" rtlCol="0" anchor="ctr"/>
          <a:lstStyle/>
          <a:p>
            <a:pPr indent="0" marL="0">
              <a:buNone/>
            </a:pPr>
            <a:r>
              <a:rPr lang="en-US" sz="800" b="1" dirty="0">
                <a:solidFill>
                  <a:srgbClr val="3C434B"/>
                </a:solidFill>
                <a:latin typeface="Segoe UI" pitchFamily="34" charset="0"/>
                <a:ea typeface="Segoe UI" pitchFamily="34" charset="-122"/>
                <a:cs typeface="Segoe UI" pitchFamily="34" charset="-120"/>
              </a:rPr>
              <a:t>③   Nhập giờ</a:t>
            </a:r>
            <a:endParaRPr lang="en-US" sz="800" dirty="0"/>
          </a:p>
        </p:txBody>
      </p:sp>
      <p:sp>
        <p:nvSpPr>
          <p:cNvPr id="47" name="Shape 45"/>
          <p:cNvSpPr/>
          <p:nvPr/>
        </p:nvSpPr>
        <p:spPr>
          <a:xfrm>
            <a:off x="3794760" y="5175504"/>
            <a:ext cx="1005840" cy="246888"/>
          </a:xfrm>
          <a:prstGeom prst="rect">
            <a:avLst/>
          </a:prstGeom>
          <a:solidFill>
            <a:srgbClr val="FFFFFF"/>
          </a:solidFill>
          <a:ln w="6350">
            <a:solidFill>
              <a:srgbClr val="DCE1E6"/>
            </a:solidFill>
            <a:prstDash val="solid"/>
          </a:ln>
        </p:spPr>
      </p:sp>
      <p:sp>
        <p:nvSpPr>
          <p:cNvPr id="48" name="Text 46"/>
          <p:cNvSpPr/>
          <p:nvPr/>
        </p:nvSpPr>
        <p:spPr>
          <a:xfrm>
            <a:off x="3858768" y="5175504"/>
            <a:ext cx="896112" cy="246888"/>
          </a:xfrm>
          <a:prstGeom prst="rect">
            <a:avLst/>
          </a:prstGeom>
          <a:noFill/>
          <a:ln/>
        </p:spPr>
        <p:txBody>
          <a:bodyPr wrap="square" lIns="0" tIns="0" rIns="0" bIns="0" rtlCol="0" anchor="ctr"/>
          <a:lstStyle/>
          <a:p>
            <a:pPr indent="0" marL="0">
              <a:buNone/>
            </a:pPr>
            <a:r>
              <a:rPr lang="en-US" sz="800" dirty="0">
                <a:solidFill>
                  <a:srgbClr val="3C434B"/>
                </a:solidFill>
                <a:latin typeface="Segoe UI" pitchFamily="34" charset="0"/>
                <a:ea typeface="Segoe UI" pitchFamily="34" charset="-122"/>
                <a:cs typeface="Segoe UI" pitchFamily="34" charset="-120"/>
              </a:rPr>
              <a:t>07 : 00</a:t>
            </a:r>
            <a:endParaRPr lang="en-US" sz="800" dirty="0"/>
          </a:p>
        </p:txBody>
      </p:sp>
      <p:sp>
        <p:nvSpPr>
          <p:cNvPr id="49" name="Shape 47"/>
          <p:cNvSpPr/>
          <p:nvPr/>
        </p:nvSpPr>
        <p:spPr>
          <a:xfrm>
            <a:off x="3794760" y="5477256"/>
            <a:ext cx="1005840" cy="246888"/>
          </a:xfrm>
          <a:prstGeom prst="rect">
            <a:avLst/>
          </a:prstGeom>
          <a:solidFill>
            <a:srgbClr val="F2E3E6"/>
          </a:solidFill>
          <a:ln w="12700">
            <a:solidFill>
              <a:srgbClr val="8A2433"/>
            </a:solidFill>
            <a:prstDash val="solid"/>
          </a:ln>
        </p:spPr>
      </p:sp>
      <p:sp>
        <p:nvSpPr>
          <p:cNvPr id="50" name="Text 48"/>
          <p:cNvSpPr/>
          <p:nvPr/>
        </p:nvSpPr>
        <p:spPr>
          <a:xfrm>
            <a:off x="3858768" y="5477256"/>
            <a:ext cx="896112" cy="246888"/>
          </a:xfrm>
          <a:prstGeom prst="rect">
            <a:avLst/>
          </a:prstGeom>
          <a:noFill/>
          <a:ln/>
        </p:spPr>
        <p:txBody>
          <a:bodyPr wrap="square" lIns="0" tIns="0" rIns="0" bIns="0" rtlCol="0" anchor="ctr"/>
          <a:lstStyle/>
          <a:p>
            <a:pPr indent="0" marL="0">
              <a:buNone/>
            </a:pPr>
            <a:r>
              <a:rPr lang="en-US" sz="800" b="1" dirty="0">
                <a:solidFill>
                  <a:srgbClr val="8A2433"/>
                </a:solidFill>
                <a:latin typeface="Segoe UI" pitchFamily="34" charset="0"/>
                <a:ea typeface="Segoe UI" pitchFamily="34" charset="-122"/>
                <a:cs typeface="Segoe UI" pitchFamily="34" charset="-120"/>
              </a:rPr>
              <a:t>Huỷ    OK</a:t>
            </a:r>
            <a:endParaRPr lang="en-US" sz="800" dirty="0"/>
          </a:p>
        </p:txBody>
      </p:sp>
      <p:sp>
        <p:nvSpPr>
          <p:cNvPr id="51" name="Text 49"/>
          <p:cNvSpPr/>
          <p:nvPr/>
        </p:nvSpPr>
        <p:spPr>
          <a:xfrm>
            <a:off x="777240" y="6071616"/>
            <a:ext cx="4937760" cy="274320"/>
          </a:xfrm>
          <a:prstGeom prst="rect">
            <a:avLst/>
          </a:prstGeom>
          <a:noFill/>
          <a:ln/>
        </p:spPr>
        <p:txBody>
          <a:bodyPr wrap="square" lIns="0" tIns="0" rIns="0" bIns="0" rtlCol="0" anchor="ctr"/>
          <a:lstStyle/>
          <a:p>
            <a:pPr indent="0" marL="0">
              <a:buNone/>
            </a:pPr>
            <a:r>
              <a:rPr lang="en-US" sz="1000" i="1" dirty="0">
                <a:solidFill>
                  <a:srgbClr val="8A929B"/>
                </a:solidFill>
                <a:latin typeface="Segoe UI" pitchFamily="34" charset="0"/>
                <a:ea typeface="Segoe UI" pitchFamily="34" charset="-122"/>
                <a:cs typeface="Segoe UI" pitchFamily="34" charset="-120"/>
              </a:rPr>
              <a:t>(ví dụ minh hoạ: đặt báo thức 7:00 · app Đồng hồ)</a:t>
            </a:r>
            <a:endParaRPr lang="en-US" sz="1000" dirty="0"/>
          </a:p>
        </p:txBody>
      </p:sp>
      <p:sp>
        <p:nvSpPr>
          <p:cNvPr id="52" name="Shape 50"/>
          <p:cNvSpPr/>
          <p:nvPr/>
        </p:nvSpPr>
        <p:spPr>
          <a:xfrm>
            <a:off x="5989320" y="2011680"/>
            <a:ext cx="5440680" cy="4160520"/>
          </a:xfrm>
          <a:prstGeom prst="rect">
            <a:avLst/>
          </a:prstGeom>
          <a:solidFill>
            <a:srgbClr val="F4F6F8"/>
          </a:solidFill>
          <a:ln/>
        </p:spPr>
      </p:sp>
      <p:sp>
        <p:nvSpPr>
          <p:cNvPr id="53" name="Text 51"/>
          <p:cNvSpPr/>
          <p:nvPr/>
        </p:nvSpPr>
        <p:spPr>
          <a:xfrm>
            <a:off x="6263640" y="2194560"/>
            <a:ext cx="4937760" cy="274320"/>
          </a:xfrm>
          <a:prstGeom prst="rect">
            <a:avLst/>
          </a:prstGeom>
          <a:noFill/>
          <a:ln/>
        </p:spPr>
        <p:txBody>
          <a:bodyPr wrap="square" lIns="0" tIns="0" rIns="0" bIns="0" rtlCol="0" anchor="ctr"/>
          <a:lstStyle/>
          <a:p>
            <a:pPr indent="0" marL="0">
              <a:buNone/>
            </a:pPr>
            <a:r>
              <a:rPr lang="en-US" sz="1150" b="1" spc="200" kern="0" dirty="0">
                <a:solidFill>
                  <a:srgbClr val="8A2433"/>
                </a:solidFill>
                <a:latin typeface="Segoe UI" pitchFamily="34" charset="0"/>
                <a:ea typeface="Segoe UI" pitchFamily="34" charset="-122"/>
                <a:cs typeface="Segoe UI" pitchFamily="34" charset="-120"/>
              </a:rPr>
              <a:t>CÁCH ĐO</a:t>
            </a:r>
            <a:endParaRPr lang="en-US" sz="1150" dirty="0"/>
          </a:p>
        </p:txBody>
      </p:sp>
      <p:sp>
        <p:nvSpPr>
          <p:cNvPr id="54" name="Text 52"/>
          <p:cNvSpPr/>
          <p:nvPr/>
        </p:nvSpPr>
        <p:spPr>
          <a:xfrm>
            <a:off x="6263640" y="2514600"/>
            <a:ext cx="4937760" cy="1143000"/>
          </a:xfrm>
          <a:prstGeom prst="rect">
            <a:avLst/>
          </a:prstGeom>
          <a:noFill/>
          <a:ln/>
        </p:spPr>
        <p:txBody>
          <a:bodyPr wrap="square" lIns="0" tIns="0" rIns="0" bIns="0" rtlCol="0" anchor="ctr"/>
          <a:lstStyle/>
          <a:p>
            <a:pPr indent="0" marL="0">
              <a:lnSpc>
                <a:spcPct val="112000"/>
              </a:lnSpc>
              <a:buNone/>
            </a:pPr>
            <a:r>
              <a:rPr lang="en-US" sz="1300" b="1" dirty="0">
                <a:solidFill>
                  <a:srgbClr val="1C2530"/>
                </a:solidFill>
                <a:latin typeface="Segoe UI" pitchFamily="34" charset="0"/>
                <a:ea typeface="Segoe UI" pitchFamily="34" charset="-122"/>
                <a:cs typeface="Segoe UI" pitchFamily="34" charset="-120"/>
              </a:rPr>
              <a:t>Kendall τ-b</a:t>
            </a:r>
            <a:pPr indent="0" marL="0">
              <a:lnSpc>
                <a:spcPct val="112000"/>
              </a:lnSpc>
              <a:buNone/>
            </a:pPr>
            <a:r>
              <a:rPr lang="en-US" sz="1300" dirty="0">
                <a:solidFill>
                  <a:srgbClr val="3C434B"/>
                </a:solidFill>
                <a:latin typeface="Segoe UI" pitchFamily="34" charset="0"/>
                <a:ea typeface="Segoe UI" pitchFamily="34" charset="-122"/>
                <a:cs typeface="Segoe UI" pitchFamily="34" charset="-120"/>
              </a:rPr>
              <a:t>  — máy xếp giống thứ tự đúng tới đâu. Chấm </a:t>
            </a:r>
            <a:pPr indent="0" marL="0">
              <a:lnSpc>
                <a:spcPct val="112000"/>
              </a:lnSpc>
              <a:buNone/>
            </a:pPr>
            <a:r>
              <a:rPr lang="en-US" sz="1300" b="1" dirty="0">
                <a:solidFill>
                  <a:srgbClr val="8A2433"/>
                </a:solidFill>
                <a:latin typeface="Segoe UI" pitchFamily="34" charset="0"/>
                <a:ea typeface="Segoe UI" pitchFamily="34" charset="-122"/>
                <a:cs typeface="Segoe UI" pitchFamily="34" charset="-120"/>
              </a:rPr>
              <a:t>theo thứ-tự-bộ-phận</a:t>
            </a:r>
            <a:pPr indent="0" marL="0">
              <a:lnSpc>
                <a:spcPct val="112000"/>
              </a:lnSpc>
              <a:buNone/>
            </a:pPr>
            <a:r>
              <a:rPr lang="en-US" sz="1300" dirty="0">
                <a:solidFill>
                  <a:srgbClr val="3C434B"/>
                </a:solidFill>
                <a:latin typeface="Segoe UI" pitchFamily="34" charset="0"/>
                <a:ea typeface="Segoe UI" pitchFamily="34" charset="-122"/>
                <a:cs typeface="Segoe UI" pitchFamily="34" charset="-120"/>
              </a:rPr>
              <a:t>: chỉ phạt khi đảo cặp BẮT BUỘC (vào tab trước khi nhập giờ); cặp tự-do (điền email/sđt) đảo vẫn ĐÚNG.</a:t>
            </a:r>
            <a:endParaRPr lang="en-US" sz="1300" dirty="0"/>
          </a:p>
        </p:txBody>
      </p:sp>
      <p:sp>
        <p:nvSpPr>
          <p:cNvPr id="55" name="Text 53"/>
          <p:cNvSpPr/>
          <p:nvPr/>
        </p:nvSpPr>
        <p:spPr>
          <a:xfrm>
            <a:off x="6263640" y="3703320"/>
            <a:ext cx="4937760" cy="868680"/>
          </a:xfrm>
          <a:prstGeom prst="rect">
            <a:avLst/>
          </a:prstGeom>
          <a:noFill/>
          <a:ln/>
        </p:spPr>
        <p:txBody>
          <a:bodyPr wrap="square" lIns="0" tIns="0" rIns="0" bIns="0" rtlCol="0" anchor="ctr"/>
          <a:lstStyle/>
          <a:p>
            <a:pPr indent="0" marL="0">
              <a:lnSpc>
                <a:spcPct val="112000"/>
              </a:lnSpc>
              <a:buNone/>
            </a:pPr>
            <a:r>
              <a:rPr lang="en-US" sz="1300" b="1" dirty="0">
                <a:solidFill>
                  <a:srgbClr val="1C2530"/>
                </a:solidFill>
                <a:latin typeface="Segoe UI" pitchFamily="34" charset="0"/>
                <a:ea typeface="Segoe UI" pitchFamily="34" charset="-122"/>
                <a:cs typeface="Segoe UI" pitchFamily="34" charset="-120"/>
              </a:rPr>
              <a:t>ordering gap</a:t>
            </a:r>
            <a:pPr indent="0" marL="0">
              <a:lnSpc>
                <a:spcPct val="112000"/>
              </a:lnSpc>
              <a:buNone/>
            </a:pPr>
            <a:r>
              <a:rPr lang="en-US" sz="1300" dirty="0">
                <a:solidFill>
                  <a:srgbClr val="3C434B"/>
                </a:solidFill>
                <a:latin typeface="Segoe UI" pitchFamily="34" charset="0"/>
                <a:ea typeface="Segoe UI" pitchFamily="34" charset="-122"/>
                <a:cs typeface="Segoe UI" pitchFamily="34" charset="-120"/>
              </a:rPr>
              <a:t> = chất-lượng(ảnh ĐÃ sắp đúng) − chất-lượng(ảnh xáo trộn, tự xếp) = </a:t>
            </a:r>
            <a:pPr indent="0" marL="0">
              <a:lnSpc>
                <a:spcPct val="112000"/>
              </a:lnSpc>
              <a:buNone/>
            </a:pPr>
            <a:r>
              <a:rPr lang="en-US" sz="1300" b="1" dirty="0">
                <a:solidFill>
                  <a:srgbClr val="8A2433"/>
                </a:solidFill>
                <a:latin typeface="Segoe UI" pitchFamily="34" charset="0"/>
                <a:ea typeface="Segoe UI" pitchFamily="34" charset="-122"/>
                <a:cs typeface="Segoe UI" pitchFamily="34" charset="-120"/>
              </a:rPr>
              <a:t>“cái giá của việc không biết trật tự”.</a:t>
            </a:r>
            <a:endParaRPr lang="en-US" sz="1300" dirty="0"/>
          </a:p>
        </p:txBody>
      </p:sp>
      <p:sp>
        <p:nvSpPr>
          <p:cNvPr id="56" name="Shape 54"/>
          <p:cNvSpPr/>
          <p:nvPr/>
        </p:nvSpPr>
        <p:spPr>
          <a:xfrm>
            <a:off x="6903720" y="4800600"/>
            <a:ext cx="868680" cy="1051560"/>
          </a:xfrm>
          <a:prstGeom prst="rect">
            <a:avLst/>
          </a:prstGeom>
          <a:solidFill>
            <a:srgbClr val="5B6B7A"/>
          </a:solidFill>
          <a:ln/>
        </p:spPr>
      </p:sp>
      <p:sp>
        <p:nvSpPr>
          <p:cNvPr id="57" name="Text 55"/>
          <p:cNvSpPr/>
          <p:nvPr/>
        </p:nvSpPr>
        <p:spPr>
          <a:xfrm>
            <a:off x="6720840" y="5870448"/>
            <a:ext cx="1234440" cy="292608"/>
          </a:xfrm>
          <a:prstGeom prst="rect">
            <a:avLst/>
          </a:prstGeom>
          <a:noFill/>
          <a:ln/>
        </p:spPr>
        <p:txBody>
          <a:bodyPr wrap="square" lIns="0" tIns="0" rIns="0" bIns="0" rtlCol="0" anchor="ctr"/>
          <a:lstStyle/>
          <a:p>
            <a:pPr algn="ctr" indent="0" marL="0">
              <a:buNone/>
            </a:pPr>
            <a:r>
              <a:rPr lang="en-US" sz="900" dirty="0">
                <a:solidFill>
                  <a:srgbClr val="3C434B"/>
                </a:solidFill>
                <a:latin typeface="Segoe UI" pitchFamily="34" charset="0"/>
                <a:ea typeface="Segoe UI" pitchFamily="34" charset="-122"/>
                <a:cs typeface="Segoe UI" pitchFamily="34" charset="-120"/>
              </a:rPr>
              <a:t>ORACLE</a:t>
            </a:r>
            <a:endParaRPr lang="en-US" sz="900" dirty="0"/>
          </a:p>
          <a:p>
            <a:pPr algn="ctr" indent="0" marL="0">
              <a:buNone/>
            </a:pPr>
            <a:r>
              <a:rPr lang="en-US" sz="900" dirty="0">
                <a:solidFill>
                  <a:srgbClr val="3C434B"/>
                </a:solidFill>
                <a:latin typeface="Segoe UI" pitchFamily="34" charset="0"/>
                <a:ea typeface="Segoe UI" pitchFamily="34" charset="-122"/>
                <a:cs typeface="Segoe UI" pitchFamily="34" charset="-120"/>
              </a:rPr>
              <a:t>(đã sắp)</a:t>
            </a:r>
            <a:endParaRPr lang="en-US" sz="900" dirty="0"/>
          </a:p>
        </p:txBody>
      </p:sp>
      <p:sp>
        <p:nvSpPr>
          <p:cNvPr id="58" name="Shape 56"/>
          <p:cNvSpPr/>
          <p:nvPr/>
        </p:nvSpPr>
        <p:spPr>
          <a:xfrm>
            <a:off x="8366760" y="5212080"/>
            <a:ext cx="868680" cy="640080"/>
          </a:xfrm>
          <a:prstGeom prst="rect">
            <a:avLst/>
          </a:prstGeom>
          <a:solidFill>
            <a:srgbClr val="8A2433"/>
          </a:solidFill>
          <a:ln/>
        </p:spPr>
      </p:sp>
      <p:sp>
        <p:nvSpPr>
          <p:cNvPr id="59" name="Text 57"/>
          <p:cNvSpPr/>
          <p:nvPr/>
        </p:nvSpPr>
        <p:spPr>
          <a:xfrm>
            <a:off x="8183880" y="5870448"/>
            <a:ext cx="1234440" cy="292608"/>
          </a:xfrm>
          <a:prstGeom prst="rect">
            <a:avLst/>
          </a:prstGeom>
          <a:noFill/>
          <a:ln/>
        </p:spPr>
        <p:txBody>
          <a:bodyPr wrap="square" lIns="0" tIns="0" rIns="0" bIns="0" rtlCol="0" anchor="ctr"/>
          <a:lstStyle/>
          <a:p>
            <a:pPr algn="ctr" indent="0" marL="0">
              <a:buNone/>
            </a:pPr>
            <a:r>
              <a:rPr lang="en-US" sz="900" dirty="0">
                <a:solidFill>
                  <a:srgbClr val="3C434B"/>
                </a:solidFill>
                <a:latin typeface="Segoe UI" pitchFamily="34" charset="0"/>
                <a:ea typeface="Segoe UI" pitchFamily="34" charset="-122"/>
                <a:cs typeface="Segoe UI" pitchFamily="34" charset="-120"/>
              </a:rPr>
              <a:t>SELF</a:t>
            </a:r>
            <a:endParaRPr lang="en-US" sz="900" dirty="0"/>
          </a:p>
          <a:p>
            <a:pPr algn="ctr" indent="0" marL="0">
              <a:buNone/>
            </a:pPr>
            <a:r>
              <a:rPr lang="en-US" sz="900" dirty="0">
                <a:solidFill>
                  <a:srgbClr val="3C434B"/>
                </a:solidFill>
                <a:latin typeface="Segoe UI" pitchFamily="34" charset="0"/>
                <a:ea typeface="Segoe UI" pitchFamily="34" charset="-122"/>
                <a:cs typeface="Segoe UI" pitchFamily="34" charset="-120"/>
              </a:rPr>
              <a:t>(tự xếp)</a:t>
            </a:r>
            <a:endParaRPr lang="en-US" sz="900" dirty="0"/>
          </a:p>
        </p:txBody>
      </p:sp>
      <p:sp>
        <p:nvSpPr>
          <p:cNvPr id="60" name="Shape 58"/>
          <p:cNvSpPr/>
          <p:nvPr/>
        </p:nvSpPr>
        <p:spPr>
          <a:xfrm>
            <a:off x="7772400" y="4800600"/>
            <a:ext cx="594360" cy="411480"/>
          </a:xfrm>
          <a:prstGeom prst="line">
            <a:avLst/>
          </a:prstGeom>
          <a:noFill/>
          <a:ln w="15875">
            <a:solidFill>
              <a:srgbClr val="1C2530"/>
            </a:solidFill>
            <a:prstDash val="solid"/>
            <a:headEnd type="oval"/>
            <a:tailEnd type="oval"/>
          </a:ln>
        </p:spPr>
      </p:sp>
      <p:sp>
        <p:nvSpPr>
          <p:cNvPr id="61" name="Text 59"/>
          <p:cNvSpPr/>
          <p:nvPr/>
        </p:nvSpPr>
        <p:spPr>
          <a:xfrm>
            <a:off x="7680960" y="4526280"/>
            <a:ext cx="822960" cy="256032"/>
          </a:xfrm>
          <a:prstGeom prst="rect">
            <a:avLst/>
          </a:prstGeom>
          <a:noFill/>
          <a:ln/>
        </p:spPr>
        <p:txBody>
          <a:bodyPr wrap="square" lIns="0" tIns="0" rIns="0" bIns="0" rtlCol="0" anchor="ctr"/>
          <a:lstStyle/>
          <a:p>
            <a:pPr algn="ctr" indent="0" marL="0">
              <a:buNone/>
            </a:pPr>
            <a:r>
              <a:rPr lang="en-US" sz="1000" b="1" i="1" dirty="0">
                <a:solidFill>
                  <a:srgbClr val="1C2530"/>
                </a:solidFill>
                <a:latin typeface="Segoe UI" pitchFamily="34" charset="0"/>
                <a:ea typeface="Segoe UI" pitchFamily="34" charset="-122"/>
                <a:cs typeface="Segoe UI" pitchFamily="34" charset="-120"/>
              </a:rPr>
              <a:t>gap</a:t>
            </a:r>
            <a:endParaRPr lang="en-US" sz="1000" dirty="0"/>
          </a:p>
        </p:txBody>
      </p:sp>
      <p:sp>
        <p:nvSpPr>
          <p:cNvPr id="62" name="Text 60"/>
          <p:cNvSpPr/>
          <p:nvPr/>
        </p:nvSpPr>
        <p:spPr>
          <a:xfrm>
            <a:off x="9418320" y="5074920"/>
            <a:ext cx="1828800" cy="731520"/>
          </a:xfrm>
          <a:prstGeom prst="rect">
            <a:avLst/>
          </a:prstGeom>
          <a:noFill/>
          <a:ln/>
        </p:spPr>
        <p:txBody>
          <a:bodyPr wrap="square" lIns="0" tIns="0" rIns="0" bIns="0" rtlCol="0" anchor="ctr"/>
          <a:lstStyle/>
          <a:p>
            <a:pPr indent="0" marL="0">
              <a:lnSpc>
                <a:spcPct val="105000"/>
              </a:lnSpc>
              <a:buNone/>
            </a:pPr>
            <a:r>
              <a:rPr lang="en-US" sz="1050" i="1" dirty="0">
                <a:solidFill>
                  <a:srgbClr val="8A929B"/>
                </a:solidFill>
                <a:latin typeface="Segoe UI" pitchFamily="34" charset="0"/>
                <a:ea typeface="Segoe UI" pitchFamily="34" charset="-122"/>
                <a:cs typeface="Segoe UI" pitchFamily="34" charset="-120"/>
              </a:rPr>
              <a:t>Sanity cứng: ORACLE ≥ SELF ở mọi episode.</a:t>
            </a:r>
            <a:endParaRPr lang="en-US" sz="1050" dirty="0"/>
          </a:p>
        </p:txBody>
      </p:sp>
      <p:sp>
        <p:nvSpPr>
          <p:cNvPr id="63" name="Text 61"/>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BỨC TRANH LỚN</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Hai đóng góp (phân biệt bằng: có sẵn đáp án để so không?)</a:t>
            </a:r>
            <a:endParaRPr lang="en-US" sz="2700" dirty="0"/>
          </a:p>
        </p:txBody>
      </p:sp>
      <p:sp>
        <p:nvSpPr>
          <p:cNvPr id="4" name="Shape 2"/>
          <p:cNvSpPr/>
          <p:nvPr/>
        </p:nvSpPr>
        <p:spPr>
          <a:xfrm>
            <a:off x="731520" y="2148840"/>
            <a:ext cx="45720" cy="1554480"/>
          </a:xfrm>
          <a:prstGeom prst="rect">
            <a:avLst/>
          </a:prstGeom>
          <a:solidFill>
            <a:srgbClr val="8A2433"/>
          </a:solidFill>
          <a:ln/>
        </p:spPr>
      </p:sp>
      <p:sp>
        <p:nvSpPr>
          <p:cNvPr id="5" name="Text 3"/>
          <p:cNvSpPr/>
          <p:nvPr/>
        </p:nvSpPr>
        <p:spPr>
          <a:xfrm>
            <a:off x="987552" y="2148840"/>
            <a:ext cx="10332720" cy="365760"/>
          </a:xfrm>
          <a:prstGeom prst="rect">
            <a:avLst/>
          </a:prstGeom>
          <a:noFill/>
          <a:ln/>
        </p:spPr>
        <p:txBody>
          <a:bodyPr wrap="square" lIns="0" tIns="0" rIns="0" bIns="0" rtlCol="0" anchor="ctr"/>
          <a:lstStyle/>
          <a:p>
            <a:pPr indent="0" marL="0">
              <a:buNone/>
            </a:pPr>
            <a:r>
              <a:rPr lang="en-US" sz="1700" b="1" dirty="0">
                <a:solidFill>
                  <a:srgbClr val="1C2530"/>
                </a:solidFill>
                <a:latin typeface="Cambria" pitchFamily="34" charset="0"/>
                <a:ea typeface="Cambria" pitchFamily="34" charset="-122"/>
                <a:cs typeface="Cambria" pitchFamily="34" charset="-120"/>
              </a:rPr>
              <a:t>Đóng góp 1 — đánh giá MÀN-0  (MobileViews)</a:t>
            </a:r>
            <a:endParaRPr lang="en-US" sz="1700" dirty="0"/>
          </a:p>
        </p:txBody>
      </p:sp>
      <p:sp>
        <p:nvSpPr>
          <p:cNvPr id="6" name="Text 4"/>
          <p:cNvSpPr/>
          <p:nvPr/>
        </p:nvSpPr>
        <p:spPr>
          <a:xfrm>
            <a:off x="987552" y="2542032"/>
            <a:ext cx="10241280" cy="914400"/>
          </a:xfrm>
          <a:prstGeom prst="rect">
            <a:avLst/>
          </a:prstGeom>
          <a:noFill/>
          <a:ln/>
        </p:spPr>
        <p:txBody>
          <a:bodyPr wrap="square" lIns="0" tIns="0" rIns="0" bIns="0" rtlCol="0" anchor="ctr"/>
          <a:lstStyle/>
          <a:p>
            <a:pPr indent="0" marL="0">
              <a:lnSpc>
                <a:spcPct val="110000"/>
              </a:lnSpc>
              <a:buNone/>
            </a:pPr>
            <a:r>
              <a:rPr lang="en-US" sz="1450" dirty="0">
                <a:solidFill>
                  <a:srgbClr val="3C434B"/>
                </a:solidFill>
                <a:latin typeface="Segoe UI" pitchFamily="34" charset="0"/>
                <a:ea typeface="Segoe UI" pitchFamily="34" charset="-122"/>
                <a:cs typeface="Segoe UI" pitchFamily="34" charset="-120"/>
              </a:rPr>
              <a:t>KHÔNG có hướng dẫn mẫu của người. “Đáp án để chấm” = bản liệt kê nút (View Hierarchy) do máy xuất — chấm grounding + chống-bịa + rõ-ràng. Đây là đóng góp về CÁCH ĐÁNH GIÁ (reference-free, neo bằng VH-silver).</a:t>
            </a:r>
            <a:endParaRPr lang="en-US" sz="1450" dirty="0"/>
          </a:p>
        </p:txBody>
      </p:sp>
      <p:sp>
        <p:nvSpPr>
          <p:cNvPr id="7" name="Shape 5"/>
          <p:cNvSpPr/>
          <p:nvPr/>
        </p:nvSpPr>
        <p:spPr>
          <a:xfrm>
            <a:off x="731520" y="3886200"/>
            <a:ext cx="45720" cy="1828800"/>
          </a:xfrm>
          <a:prstGeom prst="rect">
            <a:avLst/>
          </a:prstGeom>
          <a:solidFill>
            <a:srgbClr val="5B6B7A"/>
          </a:solidFill>
          <a:ln/>
        </p:spPr>
      </p:sp>
      <p:sp>
        <p:nvSpPr>
          <p:cNvPr id="8" name="Text 6"/>
          <p:cNvSpPr/>
          <p:nvPr/>
        </p:nvSpPr>
        <p:spPr>
          <a:xfrm>
            <a:off x="987552" y="3886200"/>
            <a:ext cx="10332720" cy="365760"/>
          </a:xfrm>
          <a:prstGeom prst="rect">
            <a:avLst/>
          </a:prstGeom>
          <a:noFill/>
          <a:ln/>
        </p:spPr>
        <p:txBody>
          <a:bodyPr wrap="square" lIns="0" tIns="0" rIns="0" bIns="0" rtlCol="0" anchor="ctr"/>
          <a:lstStyle/>
          <a:p>
            <a:pPr indent="0" marL="0">
              <a:buNone/>
            </a:pPr>
            <a:r>
              <a:rPr lang="en-US" sz="1700" b="1" dirty="0">
                <a:solidFill>
                  <a:srgbClr val="1C2530"/>
                </a:solidFill>
                <a:latin typeface="Cambria" pitchFamily="34" charset="0"/>
                <a:ea typeface="Cambria" pitchFamily="34" charset="-122"/>
                <a:cs typeface="Cambria" pitchFamily="34" charset="-120"/>
              </a:rPr>
              <a:t>Đóng góp 2 — SUY LUẬN TRẬT TỰ MÀN  (AndroidControl)</a:t>
            </a:r>
            <a:endParaRPr lang="en-US" sz="1700" dirty="0"/>
          </a:p>
        </p:txBody>
      </p:sp>
      <p:sp>
        <p:nvSpPr>
          <p:cNvPr id="9" name="Text 7"/>
          <p:cNvSpPr/>
          <p:nvPr/>
        </p:nvSpPr>
        <p:spPr>
          <a:xfrm>
            <a:off x="987552" y="4279392"/>
            <a:ext cx="10241280" cy="1005840"/>
          </a:xfrm>
          <a:prstGeom prst="rect">
            <a:avLst/>
          </a:prstGeom>
          <a:noFill/>
          <a:ln/>
        </p:spPr>
        <p:txBody>
          <a:bodyPr wrap="square" lIns="0" tIns="0" rIns="0" bIns="0" rtlCol="0" anchor="ctr"/>
          <a:lstStyle/>
          <a:p>
            <a:pPr indent="0" marL="0">
              <a:lnSpc>
                <a:spcPct val="110000"/>
              </a:lnSpc>
              <a:buNone/>
            </a:pPr>
            <a:r>
              <a:rPr lang="en-US" sz="1450" dirty="0">
                <a:solidFill>
                  <a:srgbClr val="3C434B"/>
                </a:solidFill>
                <a:latin typeface="Segoe UI" pitchFamily="34" charset="0"/>
                <a:ea typeface="Segoe UI" pitchFamily="34" charset="-122"/>
                <a:cs typeface="Segoe UI" pitchFamily="34" charset="-120"/>
              </a:rPr>
              <a:t>CÓ sẵn chuỗi thao tác đúng để so. Đưa N ảnh xáo trộn → máy tự xếp + sinh hướng dẫn; headline Kendall τ-b + ordering gap. Trả lời thẳng câu hỏi thầy “làm sao model biết trật tự?” bằng ordering cues + signal-attribution.</a:t>
            </a:r>
            <a:endParaRPr lang="en-US" sz="1450" dirty="0"/>
          </a:p>
        </p:txBody>
      </p:sp>
      <p:sp>
        <p:nvSpPr>
          <p:cNvPr id="10" name="Text 8"/>
          <p:cNvSpPr/>
          <p:nvPr/>
        </p:nvSpPr>
        <p:spPr>
          <a:xfrm>
            <a:off x="731520" y="5669280"/>
            <a:ext cx="10698480" cy="548640"/>
          </a:xfrm>
          <a:prstGeom prst="rect">
            <a:avLst/>
          </a:prstGeom>
          <a:noFill/>
          <a:ln/>
        </p:spPr>
        <p:txBody>
          <a:bodyPr wrap="square" lIns="0" tIns="0" rIns="0" bIns="0" rtlCol="0" anchor="ctr"/>
          <a:lstStyle/>
          <a:p>
            <a:pPr indent="0" marL="0">
              <a:lnSpc>
                <a:spcPct val="105000"/>
              </a:lnSpc>
              <a:buNone/>
            </a:pPr>
            <a:r>
              <a:rPr lang="en-US" sz="1350" b="1" dirty="0">
                <a:solidFill>
                  <a:srgbClr val="8A2433"/>
                </a:solidFill>
                <a:latin typeface="Segoe UI" pitchFamily="34" charset="0"/>
                <a:ea typeface="Segoe UI" pitchFamily="34" charset="-122"/>
                <a:cs typeface="Segoe UI" pitchFamily="34" charset="-120"/>
              </a:rPr>
              <a:t>Đóng góp CHÍNH = một CÁCH ĐÁNH GIÁ mới — không phải “hệ thống của em phải thắng”. Hai nửa bổ trợ: sau khi xếp đúng trật tự (ĐG2), mỗi màn được chấm grounding bằng chính metric của ĐG1.</a:t>
            </a:r>
            <a:endParaRPr lang="en-US" sz="1350" dirty="0"/>
          </a:p>
        </p:txBody>
      </p:sp>
      <p:sp>
        <p:nvSpPr>
          <p:cNvPr id="11" name="Text 9"/>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HỆ THỐNG (PIPELINE: REORDER-TUTOR)</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Một hệ duy nhất, có “bộ định tuyến” theo số ảnh</a:t>
            </a:r>
            <a:endParaRPr lang="en-US" sz="2700" dirty="0"/>
          </a:p>
        </p:txBody>
      </p:sp>
      <p:sp>
        <p:nvSpPr>
          <p:cNvPr id="4" name="Shape 2"/>
          <p:cNvSpPr/>
          <p:nvPr/>
        </p:nvSpPr>
        <p:spPr>
          <a:xfrm>
            <a:off x="731520" y="1920240"/>
            <a:ext cx="1828800" cy="640080"/>
          </a:xfrm>
          <a:prstGeom prst="roundRect">
            <a:avLst>
              <a:gd name="adj" fmla="val 7143"/>
            </a:avLst>
          </a:prstGeom>
          <a:solidFill>
            <a:srgbClr val="1C2530"/>
          </a:solidFill>
          <a:ln/>
        </p:spPr>
      </p:sp>
      <p:sp>
        <p:nvSpPr>
          <p:cNvPr id="5" name="Text 3"/>
          <p:cNvSpPr/>
          <p:nvPr/>
        </p:nvSpPr>
        <p:spPr>
          <a:xfrm>
            <a:off x="731520" y="1920240"/>
            <a:ext cx="18288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Ảnh + mục tiêu</a:t>
            </a:r>
            <a:endParaRPr lang="en-US" sz="1200" dirty="0"/>
          </a:p>
        </p:txBody>
      </p:sp>
      <p:sp>
        <p:nvSpPr>
          <p:cNvPr id="6" name="Shape 4"/>
          <p:cNvSpPr/>
          <p:nvPr/>
        </p:nvSpPr>
        <p:spPr>
          <a:xfrm>
            <a:off x="2606040" y="2240280"/>
            <a:ext cx="502920" cy="0"/>
          </a:xfrm>
          <a:prstGeom prst="line">
            <a:avLst/>
          </a:prstGeom>
          <a:noFill/>
          <a:ln w="28575">
            <a:solidFill>
              <a:srgbClr val="8A2433"/>
            </a:solidFill>
            <a:prstDash val="solid"/>
            <a:headEnd type="none"/>
            <a:tailEnd type="triangle"/>
          </a:ln>
        </p:spPr>
      </p:sp>
      <p:sp>
        <p:nvSpPr>
          <p:cNvPr id="7" name="Shape 5"/>
          <p:cNvSpPr/>
          <p:nvPr/>
        </p:nvSpPr>
        <p:spPr>
          <a:xfrm>
            <a:off x="3154680" y="1920240"/>
            <a:ext cx="1371600" cy="640080"/>
          </a:xfrm>
          <a:prstGeom prst="roundRect">
            <a:avLst>
              <a:gd name="adj" fmla="val 7143"/>
            </a:avLst>
          </a:prstGeom>
          <a:solidFill>
            <a:srgbClr val="FFFFFF"/>
          </a:solidFill>
          <a:ln w="19050">
            <a:solidFill>
              <a:srgbClr val="8A2433"/>
            </a:solidFill>
            <a:prstDash val="solid"/>
          </a:ln>
        </p:spPr>
      </p:sp>
      <p:sp>
        <p:nvSpPr>
          <p:cNvPr id="8" name="Text 6"/>
          <p:cNvSpPr/>
          <p:nvPr/>
        </p:nvSpPr>
        <p:spPr>
          <a:xfrm>
            <a:off x="3154680" y="1920240"/>
            <a:ext cx="1371600" cy="640080"/>
          </a:xfrm>
          <a:prstGeom prst="rect">
            <a:avLst/>
          </a:prstGeom>
          <a:noFill/>
          <a:ln/>
        </p:spPr>
        <p:txBody>
          <a:bodyPr wrap="square" lIns="0" tIns="0" rIns="0" bIns="0" rtlCol="0" anchor="ctr"/>
          <a:lstStyle/>
          <a:p>
            <a:pPr algn="ctr" indent="0" marL="0">
              <a:buNone/>
            </a:pPr>
            <a:r>
              <a:rPr lang="en-US" sz="1200" b="1" dirty="0">
                <a:solidFill>
                  <a:srgbClr val="8A2433"/>
                </a:solidFill>
                <a:latin typeface="Segoe UI" pitchFamily="34" charset="0"/>
                <a:ea typeface="Segoe UI" pitchFamily="34" charset="-122"/>
                <a:cs typeface="Segoe UI" pitchFamily="34" charset="-120"/>
              </a:rPr>
              <a:t>Router</a:t>
            </a:r>
            <a:endParaRPr lang="en-US" sz="1200" dirty="0"/>
          </a:p>
        </p:txBody>
      </p:sp>
      <p:sp>
        <p:nvSpPr>
          <p:cNvPr id="9" name="Shape 7"/>
          <p:cNvSpPr/>
          <p:nvPr/>
        </p:nvSpPr>
        <p:spPr>
          <a:xfrm>
            <a:off x="4572000" y="2066544"/>
            <a:ext cx="640080" cy="0"/>
          </a:xfrm>
          <a:prstGeom prst="line">
            <a:avLst/>
          </a:prstGeom>
          <a:noFill/>
          <a:ln w="28575">
            <a:solidFill>
              <a:srgbClr val="8A2433"/>
            </a:solidFill>
            <a:prstDash val="solid"/>
            <a:headEnd type="none"/>
            <a:tailEnd type="triangle"/>
          </a:ln>
        </p:spPr>
      </p:sp>
      <p:sp>
        <p:nvSpPr>
          <p:cNvPr id="10" name="Text 8"/>
          <p:cNvSpPr/>
          <p:nvPr/>
        </p:nvSpPr>
        <p:spPr>
          <a:xfrm>
            <a:off x="4572000" y="1810512"/>
            <a:ext cx="822960" cy="228600"/>
          </a:xfrm>
          <a:prstGeom prst="rect">
            <a:avLst/>
          </a:prstGeom>
          <a:noFill/>
          <a:ln/>
        </p:spPr>
        <p:txBody>
          <a:bodyPr wrap="square" lIns="0" tIns="0" rIns="0" bIns="0" rtlCol="0" anchor="ctr"/>
          <a:lstStyle/>
          <a:p>
            <a:pPr indent="0" marL="0">
              <a:buNone/>
            </a:pPr>
            <a:r>
              <a:rPr lang="en-US" sz="1000" b="1" dirty="0">
                <a:solidFill>
                  <a:srgbClr val="8A929B"/>
                </a:solidFill>
                <a:latin typeface="Segoe UI" pitchFamily="34" charset="0"/>
                <a:ea typeface="Segoe UI" pitchFamily="34" charset="-122"/>
                <a:cs typeface="Segoe UI" pitchFamily="34" charset="-120"/>
              </a:rPr>
              <a:t>N = 1</a:t>
            </a:r>
            <a:endParaRPr lang="en-US" sz="1000" dirty="0"/>
          </a:p>
        </p:txBody>
      </p:sp>
      <p:sp>
        <p:nvSpPr>
          <p:cNvPr id="11" name="Shape 9"/>
          <p:cNvSpPr/>
          <p:nvPr/>
        </p:nvSpPr>
        <p:spPr>
          <a:xfrm>
            <a:off x="5303520" y="1783080"/>
            <a:ext cx="6126480" cy="566928"/>
          </a:xfrm>
          <a:prstGeom prst="rect">
            <a:avLst/>
          </a:prstGeom>
          <a:solidFill>
            <a:srgbClr val="F4F6F8"/>
          </a:solidFill>
          <a:ln/>
        </p:spPr>
      </p:sp>
      <p:sp>
        <p:nvSpPr>
          <p:cNvPr id="12" name="Text 10"/>
          <p:cNvSpPr/>
          <p:nvPr/>
        </p:nvSpPr>
        <p:spPr>
          <a:xfrm>
            <a:off x="5440680" y="1783080"/>
            <a:ext cx="5943600" cy="566928"/>
          </a:xfrm>
          <a:prstGeom prst="rect">
            <a:avLst/>
          </a:prstGeom>
          <a:noFill/>
          <a:ln/>
        </p:spPr>
        <p:txBody>
          <a:bodyPr wrap="square" lIns="0" tIns="0" rIns="0" bIns="0" rtlCol="0" anchor="ctr"/>
          <a:lstStyle/>
          <a:p>
            <a:pPr indent="0" marL="0">
              <a:buNone/>
            </a:pPr>
            <a:r>
              <a:rPr lang="en-US" sz="1250" dirty="0">
                <a:solidFill>
                  <a:srgbClr val="3C434B"/>
                </a:solidFill>
                <a:latin typeface="Segoe UI" pitchFamily="34" charset="0"/>
                <a:ea typeface="Segoe UI" pitchFamily="34" charset="-122"/>
                <a:cs typeface="Segoe UI" pitchFamily="34" charset="-120"/>
              </a:rPr>
              <a:t>Đơn bước (DG1) — Stage 0 rỗng → chạy thẳng 5 bước dưới</a:t>
            </a:r>
            <a:endParaRPr lang="en-US" sz="1250" dirty="0"/>
          </a:p>
        </p:txBody>
      </p:sp>
      <p:sp>
        <p:nvSpPr>
          <p:cNvPr id="13" name="Shape 11"/>
          <p:cNvSpPr/>
          <p:nvPr/>
        </p:nvSpPr>
        <p:spPr>
          <a:xfrm>
            <a:off x="4572000" y="2825496"/>
            <a:ext cx="658368" cy="0"/>
          </a:xfrm>
          <a:prstGeom prst="line">
            <a:avLst/>
          </a:prstGeom>
          <a:noFill/>
          <a:ln w="28575">
            <a:solidFill>
              <a:srgbClr val="8A2433"/>
            </a:solidFill>
            <a:prstDash val="solid"/>
            <a:headEnd type="none"/>
            <a:tailEnd type="triangle"/>
          </a:ln>
        </p:spPr>
      </p:sp>
      <p:sp>
        <p:nvSpPr>
          <p:cNvPr id="14" name="Text 12"/>
          <p:cNvSpPr/>
          <p:nvPr/>
        </p:nvSpPr>
        <p:spPr>
          <a:xfrm>
            <a:off x="4572000" y="2578608"/>
            <a:ext cx="731520" cy="228600"/>
          </a:xfrm>
          <a:prstGeom prst="rect">
            <a:avLst/>
          </a:prstGeom>
          <a:noFill/>
          <a:ln/>
        </p:spPr>
        <p:txBody>
          <a:bodyPr wrap="square" lIns="0" tIns="0" rIns="0" bIns="0" rtlCol="0" anchor="ctr"/>
          <a:lstStyle/>
          <a:p>
            <a:pPr indent="0" marL="0">
              <a:buNone/>
            </a:pPr>
            <a:r>
              <a:rPr lang="en-US" sz="1000" b="1" dirty="0">
                <a:solidFill>
                  <a:srgbClr val="8A2433"/>
                </a:solidFill>
                <a:latin typeface="Segoe UI" pitchFamily="34" charset="0"/>
                <a:ea typeface="Segoe UI" pitchFamily="34" charset="-122"/>
                <a:cs typeface="Segoe UI" pitchFamily="34" charset="-120"/>
              </a:rPr>
              <a:t>N ≥ 2</a:t>
            </a:r>
            <a:endParaRPr lang="en-US" sz="1000" dirty="0"/>
          </a:p>
        </p:txBody>
      </p:sp>
      <p:sp>
        <p:nvSpPr>
          <p:cNvPr id="15" name="Shape 13"/>
          <p:cNvSpPr/>
          <p:nvPr/>
        </p:nvSpPr>
        <p:spPr>
          <a:xfrm>
            <a:off x="5303520" y="2542032"/>
            <a:ext cx="6126480" cy="566928"/>
          </a:xfrm>
          <a:prstGeom prst="rect">
            <a:avLst/>
          </a:prstGeom>
          <a:solidFill>
            <a:srgbClr val="F2E3E6"/>
          </a:solidFill>
          <a:ln/>
        </p:spPr>
      </p:sp>
      <p:sp>
        <p:nvSpPr>
          <p:cNvPr id="16" name="Text 14"/>
          <p:cNvSpPr/>
          <p:nvPr/>
        </p:nvSpPr>
        <p:spPr>
          <a:xfrm>
            <a:off x="5440680" y="2542032"/>
            <a:ext cx="5943600" cy="566928"/>
          </a:xfrm>
          <a:prstGeom prst="rect">
            <a:avLst/>
          </a:prstGeom>
          <a:noFill/>
          <a:ln/>
        </p:spPr>
        <p:txBody>
          <a:bodyPr wrap="square" lIns="0" tIns="0" rIns="0" bIns="0" rtlCol="0" anchor="ctr"/>
          <a:lstStyle/>
          <a:p>
            <a:pPr indent="0" marL="0">
              <a:buNone/>
            </a:pPr>
            <a:r>
              <a:rPr lang="en-US" sz="1250" b="1" dirty="0">
                <a:solidFill>
                  <a:srgbClr val="8A2433"/>
                </a:solidFill>
                <a:latin typeface="Segoe UI" pitchFamily="34" charset="0"/>
                <a:ea typeface="Segoe UI" pitchFamily="34" charset="-122"/>
                <a:cs typeface="Segoe UI" pitchFamily="34" charset="-120"/>
              </a:rPr>
              <a:t>Stage 0 — Screen-Ordering</a:t>
            </a:r>
            <a:pPr indent="0" marL="0">
              <a:buNone/>
            </a:pPr>
            <a:r>
              <a:rPr lang="en-US" sz="1250" dirty="0">
                <a:solidFill>
                  <a:srgbClr val="3C434B"/>
                </a:solidFill>
                <a:latin typeface="Segoe UI" pitchFamily="34" charset="0"/>
                <a:ea typeface="Segoe UI" pitchFamily="34" charset="-122"/>
                <a:cs typeface="Segoe UI" pitchFamily="34" charset="-120"/>
              </a:rPr>
              <a:t>  (xếp các màn xáo trộn theo thứ tự đúng) →  rồi mới chạy 5 bước dưới</a:t>
            </a:r>
            <a:endParaRPr lang="en-US" sz="1250" dirty="0"/>
          </a:p>
        </p:txBody>
      </p:sp>
      <p:sp>
        <p:nvSpPr>
          <p:cNvPr id="17" name="Text 15"/>
          <p:cNvSpPr/>
          <p:nvPr/>
        </p:nvSpPr>
        <p:spPr>
          <a:xfrm>
            <a:off x="731520" y="3429000"/>
            <a:ext cx="10698480" cy="320040"/>
          </a:xfrm>
          <a:prstGeom prst="rect">
            <a:avLst/>
          </a:prstGeom>
          <a:noFill/>
          <a:ln/>
        </p:spPr>
        <p:txBody>
          <a:bodyPr wrap="square" lIns="0" tIns="0" rIns="0" bIns="0" rtlCol="0" anchor="ctr"/>
          <a:lstStyle/>
          <a:p>
            <a:pPr indent="0" marL="0">
              <a:buNone/>
            </a:pPr>
            <a:r>
              <a:rPr lang="en-US" sz="1300" i="1" dirty="0">
                <a:solidFill>
                  <a:srgbClr val="8A929B"/>
                </a:solidFill>
                <a:latin typeface="Segoe UI" pitchFamily="34" charset="0"/>
                <a:ea typeface="Segoe UI" pitchFamily="34" charset="-122"/>
                <a:cs typeface="Segoe UI" pitchFamily="34" charset="-120"/>
              </a:rPr>
              <a:t>5 BƯỚC TRÊN TỪNG MÀN — biến bài “tự luận” (hay bịa) thành “trắc nghiệm” (ép chỉ vào số):</a:t>
            </a:r>
            <a:endParaRPr lang="en-US" sz="1300" dirty="0"/>
          </a:p>
        </p:txBody>
      </p:sp>
      <p:sp>
        <p:nvSpPr>
          <p:cNvPr id="18" name="Shape 16"/>
          <p:cNvSpPr/>
          <p:nvPr/>
        </p:nvSpPr>
        <p:spPr>
          <a:xfrm>
            <a:off x="731520" y="3840480"/>
            <a:ext cx="45720" cy="457200"/>
          </a:xfrm>
          <a:prstGeom prst="rect">
            <a:avLst/>
          </a:prstGeom>
          <a:solidFill>
            <a:srgbClr val="5B6B7A"/>
          </a:solidFill>
          <a:ln/>
        </p:spPr>
      </p:sp>
      <p:sp>
        <p:nvSpPr>
          <p:cNvPr id="19" name="Text 17"/>
          <p:cNvSpPr/>
          <p:nvPr/>
        </p:nvSpPr>
        <p:spPr>
          <a:xfrm>
            <a:off x="987552" y="3803904"/>
            <a:ext cx="4297680" cy="502920"/>
          </a:xfrm>
          <a:prstGeom prst="rect">
            <a:avLst/>
          </a:prstGeom>
          <a:noFill/>
          <a:ln/>
        </p:spPr>
        <p:txBody>
          <a:bodyPr wrap="square" lIns="0" tIns="0" rIns="0" bIns="0" rtlCol="0" anchor="ctr"/>
          <a:lstStyle/>
          <a:p>
            <a:pPr indent="0" marL="0">
              <a:buNone/>
            </a:pPr>
            <a:r>
              <a:rPr lang="en-US" sz="1400" b="1" dirty="0">
                <a:solidFill>
                  <a:srgbClr val="1C2530"/>
                </a:solidFill>
                <a:latin typeface="Cambria" pitchFamily="34" charset="0"/>
                <a:ea typeface="Cambria" pitchFamily="34" charset="-122"/>
                <a:cs typeface="Cambria" pitchFamily="34" charset="-120"/>
              </a:rPr>
              <a:t>1.  Dò &amp; đánh số nút</a:t>
            </a:r>
            <a:endParaRPr lang="en-US" sz="1400" dirty="0"/>
          </a:p>
        </p:txBody>
      </p:sp>
      <p:sp>
        <p:nvSpPr>
          <p:cNvPr id="20" name="Text 18"/>
          <p:cNvSpPr/>
          <p:nvPr/>
        </p:nvSpPr>
        <p:spPr>
          <a:xfrm>
            <a:off x="5212080" y="3803904"/>
            <a:ext cx="6217920" cy="502920"/>
          </a:xfrm>
          <a:prstGeom prst="rect">
            <a:avLst/>
          </a:prstGeom>
          <a:noFill/>
          <a:ln/>
        </p:spPr>
        <p:txBody>
          <a:bodyPr wrap="square" lIns="0" tIns="0" rIns="0" bIns="0" rtlCol="0" anchor="ctr"/>
          <a:lstStyle/>
          <a:p>
            <a:pPr indent="0" marL="0">
              <a:lnSpc>
                <a:spcPct val="100000"/>
              </a:lnSpc>
              <a:buNone/>
            </a:pPr>
            <a:r>
              <a:rPr lang="en-US" sz="1250" dirty="0">
                <a:solidFill>
                  <a:srgbClr val="3C434B"/>
                </a:solidFill>
                <a:latin typeface="Segoe UI" pitchFamily="34" charset="0"/>
                <a:ea typeface="Segoe UI" pitchFamily="34" charset="-122"/>
                <a:cs typeface="Segoe UI" pitchFamily="34" charset="-120"/>
              </a:rPr>
              <a:t>OmniParser tìm nút + OCR đọc chữ → mỗi nút một SỐ + ô bao.</a:t>
            </a:r>
            <a:endParaRPr lang="en-US" sz="1250" dirty="0"/>
          </a:p>
        </p:txBody>
      </p:sp>
      <p:sp>
        <p:nvSpPr>
          <p:cNvPr id="21" name="Shape 19"/>
          <p:cNvSpPr/>
          <p:nvPr/>
        </p:nvSpPr>
        <p:spPr>
          <a:xfrm>
            <a:off x="731520" y="4352544"/>
            <a:ext cx="45720" cy="457200"/>
          </a:xfrm>
          <a:prstGeom prst="rect">
            <a:avLst/>
          </a:prstGeom>
          <a:solidFill>
            <a:srgbClr val="5B6B7A"/>
          </a:solidFill>
          <a:ln/>
        </p:spPr>
      </p:sp>
      <p:sp>
        <p:nvSpPr>
          <p:cNvPr id="22" name="Text 20"/>
          <p:cNvSpPr/>
          <p:nvPr/>
        </p:nvSpPr>
        <p:spPr>
          <a:xfrm>
            <a:off x="987552" y="4315968"/>
            <a:ext cx="4297680" cy="502920"/>
          </a:xfrm>
          <a:prstGeom prst="rect">
            <a:avLst/>
          </a:prstGeom>
          <a:noFill/>
          <a:ln/>
        </p:spPr>
        <p:txBody>
          <a:bodyPr wrap="square" lIns="0" tIns="0" rIns="0" bIns="0" rtlCol="0" anchor="ctr"/>
          <a:lstStyle/>
          <a:p>
            <a:pPr indent="0" marL="0">
              <a:buNone/>
            </a:pPr>
            <a:r>
              <a:rPr lang="en-US" sz="1400" b="1" dirty="0">
                <a:solidFill>
                  <a:srgbClr val="1C2530"/>
                </a:solidFill>
                <a:latin typeface="Cambria" pitchFamily="34" charset="0"/>
                <a:ea typeface="Cambria" pitchFamily="34" charset="-122"/>
                <a:cs typeface="Cambria" pitchFamily="34" charset="-120"/>
              </a:rPr>
              <a:t>2.  Vẽ số lên ảnh</a:t>
            </a:r>
            <a:endParaRPr lang="en-US" sz="1400" dirty="0"/>
          </a:p>
        </p:txBody>
      </p:sp>
      <p:sp>
        <p:nvSpPr>
          <p:cNvPr id="23" name="Text 21"/>
          <p:cNvSpPr/>
          <p:nvPr/>
        </p:nvSpPr>
        <p:spPr>
          <a:xfrm>
            <a:off x="5212080" y="4315968"/>
            <a:ext cx="6217920" cy="502920"/>
          </a:xfrm>
          <a:prstGeom prst="rect">
            <a:avLst/>
          </a:prstGeom>
          <a:noFill/>
          <a:ln/>
        </p:spPr>
        <p:txBody>
          <a:bodyPr wrap="square" lIns="0" tIns="0" rIns="0" bIns="0" rtlCol="0" anchor="ctr"/>
          <a:lstStyle/>
          <a:p>
            <a:pPr indent="0" marL="0">
              <a:lnSpc>
                <a:spcPct val="100000"/>
              </a:lnSpc>
              <a:buNone/>
            </a:pPr>
            <a:r>
              <a:rPr lang="en-US" sz="1250" dirty="0">
                <a:solidFill>
                  <a:srgbClr val="3C434B"/>
                </a:solidFill>
                <a:latin typeface="Segoe UI" pitchFamily="34" charset="0"/>
                <a:ea typeface="Segoe UI" pitchFamily="34" charset="-122"/>
                <a:cs typeface="Segoe UI" pitchFamily="34" charset="-120"/>
              </a:rPr>
              <a:t>Vẽ ①②③ đè lên ảnh tại vị trí nút (Set-of-Mark).</a:t>
            </a:r>
            <a:endParaRPr lang="en-US" sz="1250" dirty="0"/>
          </a:p>
        </p:txBody>
      </p:sp>
      <p:sp>
        <p:nvSpPr>
          <p:cNvPr id="24" name="Shape 22"/>
          <p:cNvSpPr/>
          <p:nvPr/>
        </p:nvSpPr>
        <p:spPr>
          <a:xfrm>
            <a:off x="731520" y="4864608"/>
            <a:ext cx="45720" cy="457200"/>
          </a:xfrm>
          <a:prstGeom prst="rect">
            <a:avLst/>
          </a:prstGeom>
          <a:solidFill>
            <a:srgbClr val="8A2433"/>
          </a:solidFill>
          <a:ln/>
        </p:spPr>
      </p:sp>
      <p:sp>
        <p:nvSpPr>
          <p:cNvPr id="25" name="Text 23"/>
          <p:cNvSpPr/>
          <p:nvPr/>
        </p:nvSpPr>
        <p:spPr>
          <a:xfrm>
            <a:off x="987552" y="4828032"/>
            <a:ext cx="4297680" cy="502920"/>
          </a:xfrm>
          <a:prstGeom prst="rect">
            <a:avLst/>
          </a:prstGeom>
          <a:noFill/>
          <a:ln/>
        </p:spPr>
        <p:txBody>
          <a:bodyPr wrap="square" lIns="0" tIns="0" rIns="0" bIns="0" rtlCol="0" anchor="ctr"/>
          <a:lstStyle/>
          <a:p>
            <a:pPr indent="0" marL="0">
              <a:buNone/>
            </a:pPr>
            <a:r>
              <a:rPr lang="en-US" sz="1400" b="1" dirty="0">
                <a:solidFill>
                  <a:srgbClr val="1C2530"/>
                </a:solidFill>
                <a:latin typeface="Cambria" pitchFamily="34" charset="0"/>
                <a:ea typeface="Cambria" pitchFamily="34" charset="-122"/>
                <a:cs typeface="Cambria" pitchFamily="34" charset="-120"/>
              </a:rPr>
              <a:t>3.  Sinh có ràng buộc  (cốt lõi)</a:t>
            </a:r>
            <a:endParaRPr lang="en-US" sz="1400" dirty="0"/>
          </a:p>
        </p:txBody>
      </p:sp>
      <p:sp>
        <p:nvSpPr>
          <p:cNvPr id="26" name="Text 24"/>
          <p:cNvSpPr/>
          <p:nvPr/>
        </p:nvSpPr>
        <p:spPr>
          <a:xfrm>
            <a:off x="5212080" y="4828032"/>
            <a:ext cx="6217920" cy="502920"/>
          </a:xfrm>
          <a:prstGeom prst="rect">
            <a:avLst/>
          </a:prstGeom>
          <a:noFill/>
          <a:ln/>
        </p:spPr>
        <p:txBody>
          <a:bodyPr wrap="square" lIns="0" tIns="0" rIns="0" bIns="0" rtlCol="0" anchor="ctr"/>
          <a:lstStyle/>
          <a:p>
            <a:pPr indent="0" marL="0">
              <a:lnSpc>
                <a:spcPct val="100000"/>
              </a:lnSpc>
              <a:buNone/>
            </a:pPr>
            <a:r>
              <a:rPr lang="en-US" sz="1250" dirty="0">
                <a:solidFill>
                  <a:srgbClr val="3C434B"/>
                </a:solidFill>
                <a:latin typeface="Segoe UI" pitchFamily="34" charset="0"/>
                <a:ea typeface="Segoe UI" pitchFamily="34" charset="-122"/>
                <a:cs typeface="Segoe UI" pitchFamily="34" charset="-120"/>
              </a:rPr>
              <a:t>ÉP máy chỉ được trỏ vào SỐ đã có → không bịa nút mới.</a:t>
            </a:r>
            <a:endParaRPr lang="en-US" sz="1250" dirty="0"/>
          </a:p>
        </p:txBody>
      </p:sp>
      <p:sp>
        <p:nvSpPr>
          <p:cNvPr id="27" name="Shape 25"/>
          <p:cNvSpPr/>
          <p:nvPr/>
        </p:nvSpPr>
        <p:spPr>
          <a:xfrm>
            <a:off x="731520" y="5376672"/>
            <a:ext cx="45720" cy="457200"/>
          </a:xfrm>
          <a:prstGeom prst="rect">
            <a:avLst/>
          </a:prstGeom>
          <a:solidFill>
            <a:srgbClr val="5B6B7A"/>
          </a:solidFill>
          <a:ln/>
        </p:spPr>
      </p:sp>
      <p:sp>
        <p:nvSpPr>
          <p:cNvPr id="28" name="Text 26"/>
          <p:cNvSpPr/>
          <p:nvPr/>
        </p:nvSpPr>
        <p:spPr>
          <a:xfrm>
            <a:off x="987552" y="5340096"/>
            <a:ext cx="4297680" cy="502920"/>
          </a:xfrm>
          <a:prstGeom prst="rect">
            <a:avLst/>
          </a:prstGeom>
          <a:noFill/>
          <a:ln/>
        </p:spPr>
        <p:txBody>
          <a:bodyPr wrap="square" lIns="0" tIns="0" rIns="0" bIns="0" rtlCol="0" anchor="ctr"/>
          <a:lstStyle/>
          <a:p>
            <a:pPr indent="0" marL="0">
              <a:buNone/>
            </a:pPr>
            <a:r>
              <a:rPr lang="en-US" sz="1400" b="1" dirty="0">
                <a:solidFill>
                  <a:srgbClr val="1C2530"/>
                </a:solidFill>
                <a:latin typeface="Cambria" pitchFamily="34" charset="0"/>
                <a:ea typeface="Cambria" pitchFamily="34" charset="-122"/>
                <a:cs typeface="Cambria" pitchFamily="34" charset="-120"/>
              </a:rPr>
              <a:t>4.  Kiểm 3 tầng</a:t>
            </a:r>
            <a:endParaRPr lang="en-US" sz="1400" dirty="0"/>
          </a:p>
        </p:txBody>
      </p:sp>
      <p:sp>
        <p:nvSpPr>
          <p:cNvPr id="29" name="Text 27"/>
          <p:cNvSpPr/>
          <p:nvPr/>
        </p:nvSpPr>
        <p:spPr>
          <a:xfrm>
            <a:off x="5212080" y="5340096"/>
            <a:ext cx="6217920" cy="502920"/>
          </a:xfrm>
          <a:prstGeom prst="rect">
            <a:avLst/>
          </a:prstGeom>
          <a:noFill/>
          <a:ln/>
        </p:spPr>
        <p:txBody>
          <a:bodyPr wrap="square" lIns="0" tIns="0" rIns="0" bIns="0" rtlCol="0" anchor="ctr"/>
          <a:lstStyle/>
          <a:p>
            <a:pPr indent="0" marL="0">
              <a:lnSpc>
                <a:spcPct val="100000"/>
              </a:lnSpc>
              <a:buNone/>
            </a:pPr>
            <a:r>
              <a:rPr lang="en-US" sz="1250" dirty="0">
                <a:solidFill>
                  <a:srgbClr val="3C434B"/>
                </a:solidFill>
                <a:latin typeface="Segoe UI" pitchFamily="34" charset="0"/>
                <a:ea typeface="Segoe UI" pitchFamily="34" charset="-122"/>
                <a:cs typeface="Segoe UI" pitchFamily="34" charset="-120"/>
              </a:rPr>
              <a:t>V1 = code (số có thật?) · V2 = một AI khác (đúng ý?) · V3 = tự sửa.</a:t>
            </a:r>
            <a:endParaRPr lang="en-US" sz="1250" dirty="0"/>
          </a:p>
        </p:txBody>
      </p:sp>
      <p:sp>
        <p:nvSpPr>
          <p:cNvPr id="30" name="Shape 28"/>
          <p:cNvSpPr/>
          <p:nvPr/>
        </p:nvSpPr>
        <p:spPr>
          <a:xfrm>
            <a:off x="731520" y="5888736"/>
            <a:ext cx="45720" cy="457200"/>
          </a:xfrm>
          <a:prstGeom prst="rect">
            <a:avLst/>
          </a:prstGeom>
          <a:solidFill>
            <a:srgbClr val="5B6B7A"/>
          </a:solidFill>
          <a:ln/>
        </p:spPr>
      </p:sp>
      <p:sp>
        <p:nvSpPr>
          <p:cNvPr id="31" name="Text 29"/>
          <p:cNvSpPr/>
          <p:nvPr/>
        </p:nvSpPr>
        <p:spPr>
          <a:xfrm>
            <a:off x="987552" y="5852160"/>
            <a:ext cx="4297680" cy="502920"/>
          </a:xfrm>
          <a:prstGeom prst="rect">
            <a:avLst/>
          </a:prstGeom>
          <a:noFill/>
          <a:ln/>
        </p:spPr>
        <p:txBody>
          <a:bodyPr wrap="square" lIns="0" tIns="0" rIns="0" bIns="0" rtlCol="0" anchor="ctr"/>
          <a:lstStyle/>
          <a:p>
            <a:pPr indent="0" marL="0">
              <a:buNone/>
            </a:pPr>
            <a:r>
              <a:rPr lang="en-US" sz="1400" b="1" dirty="0">
                <a:solidFill>
                  <a:srgbClr val="1C2530"/>
                </a:solidFill>
                <a:latin typeface="Cambria" pitchFamily="34" charset="0"/>
                <a:ea typeface="Cambria" pitchFamily="34" charset="-122"/>
                <a:cs typeface="Cambria" pitchFamily="34" charset="-120"/>
              </a:rPr>
              <a:t>5.  Đổi số → toạ độ</a:t>
            </a:r>
            <a:endParaRPr lang="en-US" sz="1400" dirty="0"/>
          </a:p>
        </p:txBody>
      </p:sp>
      <p:sp>
        <p:nvSpPr>
          <p:cNvPr id="32" name="Text 30"/>
          <p:cNvSpPr/>
          <p:nvPr/>
        </p:nvSpPr>
        <p:spPr>
          <a:xfrm>
            <a:off x="5212080" y="5852160"/>
            <a:ext cx="6217920" cy="502920"/>
          </a:xfrm>
          <a:prstGeom prst="rect">
            <a:avLst/>
          </a:prstGeom>
          <a:noFill/>
          <a:ln/>
        </p:spPr>
        <p:txBody>
          <a:bodyPr wrap="square" lIns="0" tIns="0" rIns="0" bIns="0" rtlCol="0" anchor="ctr"/>
          <a:lstStyle/>
          <a:p>
            <a:pPr indent="0" marL="0">
              <a:lnSpc>
                <a:spcPct val="100000"/>
              </a:lnSpc>
              <a:buNone/>
            </a:pPr>
            <a:r>
              <a:rPr lang="en-US" sz="1250" dirty="0">
                <a:solidFill>
                  <a:srgbClr val="3C434B"/>
                </a:solidFill>
                <a:latin typeface="Segoe UI" pitchFamily="34" charset="0"/>
                <a:ea typeface="Segoe UI" pitchFamily="34" charset="-122"/>
                <a:cs typeface="Segoe UI" pitchFamily="34" charset="-120"/>
              </a:rPr>
              <a:t>Tra số ra ô/toạ độ để hiển thị cho người + để chấm.</a:t>
            </a:r>
            <a:endParaRPr lang="en-US" sz="1250" dirty="0"/>
          </a:p>
        </p:txBody>
      </p:sp>
      <p:sp>
        <p:nvSpPr>
          <p:cNvPr id="33" name="Text 31"/>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TRẢ LỜI CÂU HỎI THẦY</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Model dựa vào ĐÂU để biết trật tự?  (5 ordering cues)</a:t>
            </a:r>
            <a:endParaRPr lang="en-US" sz="2700" dirty="0"/>
          </a:p>
        </p:txBody>
      </p:sp>
      <p:sp>
        <p:nvSpPr>
          <p:cNvPr id="4" name="Shape 2"/>
          <p:cNvSpPr/>
          <p:nvPr/>
        </p:nvSpPr>
        <p:spPr>
          <a:xfrm>
            <a:off x="731520" y="1965960"/>
            <a:ext cx="45720" cy="548640"/>
          </a:xfrm>
          <a:prstGeom prst="rect">
            <a:avLst/>
          </a:prstGeom>
          <a:solidFill>
            <a:srgbClr val="8A2433"/>
          </a:solidFill>
          <a:ln/>
        </p:spPr>
      </p:sp>
      <p:sp>
        <p:nvSpPr>
          <p:cNvPr id="5" name="Text 3"/>
          <p:cNvSpPr/>
          <p:nvPr/>
        </p:nvSpPr>
        <p:spPr>
          <a:xfrm>
            <a:off x="969264" y="1965960"/>
            <a:ext cx="2468880" cy="548640"/>
          </a:xfrm>
          <a:prstGeom prst="rect">
            <a:avLst/>
          </a:prstGeom>
          <a:noFill/>
          <a:ln/>
        </p:spPr>
        <p:txBody>
          <a:bodyPr wrap="square" lIns="0" tIns="0" rIns="0" bIns="0" rtlCol="0" anchor="ctr"/>
          <a:lstStyle/>
          <a:p>
            <a:pPr indent="0" marL="0">
              <a:buNone/>
            </a:pPr>
            <a:r>
              <a:rPr lang="en-US" sz="1400" b="1" dirty="0">
                <a:solidFill>
                  <a:srgbClr val="8A2433"/>
                </a:solidFill>
                <a:latin typeface="Segoe UI" pitchFamily="34" charset="0"/>
                <a:ea typeface="Segoe UI" pitchFamily="34" charset="-122"/>
                <a:cs typeface="Segoe UI" pitchFamily="34" charset="-120"/>
              </a:rPr>
              <a:t>gating</a:t>
            </a:r>
            <a:endParaRPr lang="en-US" sz="1400" dirty="0"/>
          </a:p>
        </p:txBody>
      </p:sp>
      <p:sp>
        <p:nvSpPr>
          <p:cNvPr id="6" name="Text 4"/>
          <p:cNvSpPr/>
          <p:nvPr/>
        </p:nvSpPr>
        <p:spPr>
          <a:xfrm>
            <a:off x="3200400" y="1965960"/>
            <a:ext cx="3108960" cy="548640"/>
          </a:xfrm>
          <a:prstGeom prst="rect">
            <a:avLst/>
          </a:prstGeom>
          <a:noFill/>
          <a:ln/>
        </p:spPr>
        <p:txBody>
          <a:bodyPr wrap="square" lIns="0" tIns="0" rIns="0" bIns="0" rtlCol="0" anchor="ctr"/>
          <a:lstStyle/>
          <a:p>
            <a:pPr indent="0" marL="0">
              <a:lnSpc>
                <a:spcPct val="100000"/>
              </a:lnSpc>
              <a:buNone/>
            </a:pPr>
            <a:r>
              <a:rPr lang="en-US" sz="1250" dirty="0">
                <a:solidFill>
                  <a:srgbClr val="3C434B"/>
                </a:solidFill>
                <a:latin typeface="Segoe UI" pitchFamily="34" charset="0"/>
                <a:ea typeface="Segoe UI" pitchFamily="34" charset="-122"/>
                <a:cs typeface="Segoe UI" pitchFamily="34" charset="-120"/>
              </a:rPr>
              <a:t>đăng nhập / cấp quyền phải đứng trước</a:t>
            </a:r>
            <a:endParaRPr lang="en-US" sz="1250" dirty="0"/>
          </a:p>
        </p:txBody>
      </p:sp>
      <p:sp>
        <p:nvSpPr>
          <p:cNvPr id="7" name="Shape 5"/>
          <p:cNvSpPr/>
          <p:nvPr/>
        </p:nvSpPr>
        <p:spPr>
          <a:xfrm>
            <a:off x="731520" y="2606040"/>
            <a:ext cx="45720" cy="548640"/>
          </a:xfrm>
          <a:prstGeom prst="rect">
            <a:avLst/>
          </a:prstGeom>
          <a:solidFill>
            <a:srgbClr val="8A2433"/>
          </a:solidFill>
          <a:ln/>
        </p:spPr>
      </p:sp>
      <p:sp>
        <p:nvSpPr>
          <p:cNvPr id="8" name="Text 6"/>
          <p:cNvSpPr/>
          <p:nvPr/>
        </p:nvSpPr>
        <p:spPr>
          <a:xfrm>
            <a:off x="969264" y="2606040"/>
            <a:ext cx="2468880" cy="548640"/>
          </a:xfrm>
          <a:prstGeom prst="rect">
            <a:avLst/>
          </a:prstGeom>
          <a:noFill/>
          <a:ln/>
        </p:spPr>
        <p:txBody>
          <a:bodyPr wrap="square" lIns="0" tIns="0" rIns="0" bIns="0" rtlCol="0" anchor="ctr"/>
          <a:lstStyle/>
          <a:p>
            <a:pPr indent="0" marL="0">
              <a:buNone/>
            </a:pPr>
            <a:r>
              <a:rPr lang="en-US" sz="1400" b="1" dirty="0">
                <a:solidFill>
                  <a:srgbClr val="8A2433"/>
                </a:solidFill>
                <a:latin typeface="Segoe UI" pitchFamily="34" charset="0"/>
                <a:ea typeface="Segoe UI" pitchFamily="34" charset="-122"/>
                <a:cs typeface="Segoe UI" pitchFamily="34" charset="-120"/>
              </a:rPr>
              <a:t>nav-affordance</a:t>
            </a:r>
            <a:endParaRPr lang="en-US" sz="1400" dirty="0"/>
          </a:p>
        </p:txBody>
      </p:sp>
      <p:sp>
        <p:nvSpPr>
          <p:cNvPr id="9" name="Text 7"/>
          <p:cNvSpPr/>
          <p:nvPr/>
        </p:nvSpPr>
        <p:spPr>
          <a:xfrm>
            <a:off x="3200400" y="2606040"/>
            <a:ext cx="3108960" cy="548640"/>
          </a:xfrm>
          <a:prstGeom prst="rect">
            <a:avLst/>
          </a:prstGeom>
          <a:noFill/>
          <a:ln/>
        </p:spPr>
        <p:txBody>
          <a:bodyPr wrap="square" lIns="0" tIns="0" rIns="0" bIns="0" rtlCol="0" anchor="ctr"/>
          <a:lstStyle/>
          <a:p>
            <a:pPr indent="0" marL="0">
              <a:lnSpc>
                <a:spcPct val="100000"/>
              </a:lnSpc>
              <a:buNone/>
            </a:pPr>
            <a:r>
              <a:rPr lang="en-US" sz="1250" dirty="0">
                <a:solidFill>
                  <a:srgbClr val="3C434B"/>
                </a:solidFill>
                <a:latin typeface="Segoe UI" pitchFamily="34" charset="0"/>
                <a:ea typeface="Segoe UI" pitchFamily="34" charset="-122"/>
                <a:cs typeface="Segoe UI" pitchFamily="34" charset="-120"/>
              </a:rPr>
              <a:t>nút Next / Back / breadcrumb</a:t>
            </a:r>
            <a:endParaRPr lang="en-US" sz="1250" dirty="0"/>
          </a:p>
        </p:txBody>
      </p:sp>
      <p:sp>
        <p:nvSpPr>
          <p:cNvPr id="10" name="Shape 8"/>
          <p:cNvSpPr/>
          <p:nvPr/>
        </p:nvSpPr>
        <p:spPr>
          <a:xfrm>
            <a:off x="731520" y="3246120"/>
            <a:ext cx="45720" cy="548640"/>
          </a:xfrm>
          <a:prstGeom prst="rect">
            <a:avLst/>
          </a:prstGeom>
          <a:solidFill>
            <a:srgbClr val="8A2433"/>
          </a:solidFill>
          <a:ln/>
        </p:spPr>
      </p:sp>
      <p:sp>
        <p:nvSpPr>
          <p:cNvPr id="11" name="Text 9"/>
          <p:cNvSpPr/>
          <p:nvPr/>
        </p:nvSpPr>
        <p:spPr>
          <a:xfrm>
            <a:off x="969264" y="3246120"/>
            <a:ext cx="2468880" cy="548640"/>
          </a:xfrm>
          <a:prstGeom prst="rect">
            <a:avLst/>
          </a:prstGeom>
          <a:noFill/>
          <a:ln/>
        </p:spPr>
        <p:txBody>
          <a:bodyPr wrap="square" lIns="0" tIns="0" rIns="0" bIns="0" rtlCol="0" anchor="ctr"/>
          <a:lstStyle/>
          <a:p>
            <a:pPr indent="0" marL="0">
              <a:buNone/>
            </a:pPr>
            <a:r>
              <a:rPr lang="en-US" sz="1400" b="1" dirty="0">
                <a:solidFill>
                  <a:srgbClr val="8A2433"/>
                </a:solidFill>
                <a:latin typeface="Segoe UI" pitchFamily="34" charset="0"/>
                <a:ea typeface="Segoe UI" pitchFamily="34" charset="-122"/>
                <a:cs typeface="Segoe UI" pitchFamily="34" charset="-120"/>
              </a:rPr>
              <a:t>state-delta</a:t>
            </a:r>
            <a:endParaRPr lang="en-US" sz="1400" dirty="0"/>
          </a:p>
        </p:txBody>
      </p:sp>
      <p:sp>
        <p:nvSpPr>
          <p:cNvPr id="12" name="Text 10"/>
          <p:cNvSpPr/>
          <p:nvPr/>
        </p:nvSpPr>
        <p:spPr>
          <a:xfrm>
            <a:off x="3200400" y="3246120"/>
            <a:ext cx="3108960" cy="548640"/>
          </a:xfrm>
          <a:prstGeom prst="rect">
            <a:avLst/>
          </a:prstGeom>
          <a:noFill/>
          <a:ln/>
        </p:spPr>
        <p:txBody>
          <a:bodyPr wrap="square" lIns="0" tIns="0" rIns="0" bIns="0" rtlCol="0" anchor="ctr"/>
          <a:lstStyle/>
          <a:p>
            <a:pPr indent="0" marL="0">
              <a:lnSpc>
                <a:spcPct val="100000"/>
              </a:lnSpc>
              <a:buNone/>
            </a:pPr>
            <a:r>
              <a:rPr lang="en-US" sz="1250" dirty="0">
                <a:solidFill>
                  <a:srgbClr val="3C434B"/>
                </a:solidFill>
                <a:latin typeface="Segoe UI" pitchFamily="34" charset="0"/>
                <a:ea typeface="Segoe UI" pitchFamily="34" charset="-122"/>
                <a:cs typeface="Segoe UI" pitchFamily="34" charset="-120"/>
              </a:rPr>
              <a:t>toggle off→on, ô trống→đã điền, badge 0→1</a:t>
            </a:r>
            <a:endParaRPr lang="en-US" sz="1250" dirty="0"/>
          </a:p>
        </p:txBody>
      </p:sp>
      <p:sp>
        <p:nvSpPr>
          <p:cNvPr id="13" name="Shape 11"/>
          <p:cNvSpPr/>
          <p:nvPr/>
        </p:nvSpPr>
        <p:spPr>
          <a:xfrm>
            <a:off x="731520" y="3886200"/>
            <a:ext cx="45720" cy="548640"/>
          </a:xfrm>
          <a:prstGeom prst="rect">
            <a:avLst/>
          </a:prstGeom>
          <a:solidFill>
            <a:srgbClr val="8A2433"/>
          </a:solidFill>
          <a:ln/>
        </p:spPr>
      </p:sp>
      <p:sp>
        <p:nvSpPr>
          <p:cNvPr id="14" name="Text 12"/>
          <p:cNvSpPr/>
          <p:nvPr/>
        </p:nvSpPr>
        <p:spPr>
          <a:xfrm>
            <a:off x="969264" y="3886200"/>
            <a:ext cx="2468880" cy="548640"/>
          </a:xfrm>
          <a:prstGeom prst="rect">
            <a:avLst/>
          </a:prstGeom>
          <a:noFill/>
          <a:ln/>
        </p:spPr>
        <p:txBody>
          <a:bodyPr wrap="square" lIns="0" tIns="0" rIns="0" bIns="0" rtlCol="0" anchor="ctr"/>
          <a:lstStyle/>
          <a:p>
            <a:pPr indent="0" marL="0">
              <a:buNone/>
            </a:pPr>
            <a:r>
              <a:rPr lang="en-US" sz="1400" b="1" dirty="0">
                <a:solidFill>
                  <a:srgbClr val="8A2433"/>
                </a:solidFill>
                <a:latin typeface="Segoe UI" pitchFamily="34" charset="0"/>
                <a:ea typeface="Segoe UI" pitchFamily="34" charset="-122"/>
                <a:cs typeface="Segoe UI" pitchFamily="34" charset="-120"/>
              </a:rPr>
              <a:t>title-progression</a:t>
            </a:r>
            <a:endParaRPr lang="en-US" sz="1400" dirty="0"/>
          </a:p>
        </p:txBody>
      </p:sp>
      <p:sp>
        <p:nvSpPr>
          <p:cNvPr id="15" name="Text 13"/>
          <p:cNvSpPr/>
          <p:nvPr/>
        </p:nvSpPr>
        <p:spPr>
          <a:xfrm>
            <a:off x="3200400" y="3886200"/>
            <a:ext cx="3108960" cy="548640"/>
          </a:xfrm>
          <a:prstGeom prst="rect">
            <a:avLst/>
          </a:prstGeom>
          <a:noFill/>
          <a:ln/>
        </p:spPr>
        <p:txBody>
          <a:bodyPr wrap="square" lIns="0" tIns="0" rIns="0" bIns="0" rtlCol="0" anchor="ctr"/>
          <a:lstStyle/>
          <a:p>
            <a:pPr indent="0" marL="0">
              <a:lnSpc>
                <a:spcPct val="100000"/>
              </a:lnSpc>
              <a:buNone/>
            </a:pPr>
            <a:r>
              <a:rPr lang="en-US" sz="1250" dirty="0">
                <a:solidFill>
                  <a:srgbClr val="3C434B"/>
                </a:solidFill>
                <a:latin typeface="Segoe UI" pitchFamily="34" charset="0"/>
                <a:ea typeface="Segoe UI" pitchFamily="34" charset="-122"/>
                <a:cs typeface="Segoe UI" pitchFamily="34" charset="-120"/>
              </a:rPr>
              <a:t>tiêu đề tiến theo phiếu (1/3 → 2/3)</a:t>
            </a:r>
            <a:endParaRPr lang="en-US" sz="1250" dirty="0"/>
          </a:p>
        </p:txBody>
      </p:sp>
      <p:sp>
        <p:nvSpPr>
          <p:cNvPr id="16" name="Shape 14"/>
          <p:cNvSpPr/>
          <p:nvPr/>
        </p:nvSpPr>
        <p:spPr>
          <a:xfrm>
            <a:off x="731520" y="4526280"/>
            <a:ext cx="45720" cy="548640"/>
          </a:xfrm>
          <a:prstGeom prst="rect">
            <a:avLst/>
          </a:prstGeom>
          <a:solidFill>
            <a:srgbClr val="8A2433"/>
          </a:solidFill>
          <a:ln/>
        </p:spPr>
      </p:sp>
      <p:sp>
        <p:nvSpPr>
          <p:cNvPr id="17" name="Text 15"/>
          <p:cNvSpPr/>
          <p:nvPr/>
        </p:nvSpPr>
        <p:spPr>
          <a:xfrm>
            <a:off x="969264" y="4526280"/>
            <a:ext cx="2468880" cy="548640"/>
          </a:xfrm>
          <a:prstGeom prst="rect">
            <a:avLst/>
          </a:prstGeom>
          <a:noFill/>
          <a:ln/>
        </p:spPr>
        <p:txBody>
          <a:bodyPr wrap="square" lIns="0" tIns="0" rIns="0" bIns="0" rtlCol="0" anchor="ctr"/>
          <a:lstStyle/>
          <a:p>
            <a:pPr indent="0" marL="0">
              <a:buNone/>
            </a:pPr>
            <a:r>
              <a:rPr lang="en-US" sz="1400" b="1" dirty="0">
                <a:solidFill>
                  <a:srgbClr val="8A2433"/>
                </a:solidFill>
                <a:latin typeface="Segoe UI" pitchFamily="34" charset="0"/>
                <a:ea typeface="Segoe UI" pitchFamily="34" charset="-122"/>
                <a:cs typeface="Segoe UI" pitchFamily="34" charset="-120"/>
              </a:rPr>
              <a:t>drill-down</a:t>
            </a:r>
            <a:endParaRPr lang="en-US" sz="1400" dirty="0"/>
          </a:p>
        </p:txBody>
      </p:sp>
      <p:sp>
        <p:nvSpPr>
          <p:cNvPr id="18" name="Text 16"/>
          <p:cNvSpPr/>
          <p:nvPr/>
        </p:nvSpPr>
        <p:spPr>
          <a:xfrm>
            <a:off x="3200400" y="4526280"/>
            <a:ext cx="3108960" cy="548640"/>
          </a:xfrm>
          <a:prstGeom prst="rect">
            <a:avLst/>
          </a:prstGeom>
          <a:noFill/>
          <a:ln/>
        </p:spPr>
        <p:txBody>
          <a:bodyPr wrap="square" lIns="0" tIns="0" rIns="0" bIns="0" rtlCol="0" anchor="ctr"/>
          <a:lstStyle/>
          <a:p>
            <a:pPr indent="0" marL="0">
              <a:lnSpc>
                <a:spcPct val="100000"/>
              </a:lnSpc>
              <a:buNone/>
            </a:pPr>
            <a:r>
              <a:rPr lang="en-US" sz="1250" dirty="0">
                <a:solidFill>
                  <a:srgbClr val="3C434B"/>
                </a:solidFill>
                <a:latin typeface="Segoe UI" pitchFamily="34" charset="0"/>
                <a:ea typeface="Segoe UI" pitchFamily="34" charset="-122"/>
                <a:cs typeface="Segoe UI" pitchFamily="34" charset="-120"/>
              </a:rPr>
              <a:t>màn sau = chi tiết của item màn trước</a:t>
            </a:r>
            <a:endParaRPr lang="en-US" sz="1250" dirty="0"/>
          </a:p>
        </p:txBody>
      </p:sp>
      <p:sp>
        <p:nvSpPr>
          <p:cNvPr id="19" name="Text 17"/>
          <p:cNvSpPr/>
          <p:nvPr/>
        </p:nvSpPr>
        <p:spPr>
          <a:xfrm>
            <a:off x="6492240" y="1572768"/>
            <a:ext cx="4937760" cy="274320"/>
          </a:xfrm>
          <a:prstGeom prst="rect">
            <a:avLst/>
          </a:prstGeom>
          <a:noFill/>
          <a:ln/>
        </p:spPr>
        <p:txBody>
          <a:bodyPr wrap="square" lIns="0" tIns="0" rIns="0" bIns="0" rtlCol="0" anchor="ctr"/>
          <a:lstStyle/>
          <a:p>
            <a:pPr indent="0" marL="0">
              <a:buNone/>
            </a:pPr>
            <a:r>
              <a:rPr lang="en-US" sz="1150" b="1" dirty="0">
                <a:solidFill>
                  <a:srgbClr val="5B6B7A"/>
                </a:solidFill>
                <a:latin typeface="Segoe UI" pitchFamily="34" charset="0"/>
                <a:ea typeface="Segoe UI" pitchFamily="34" charset="-122"/>
                <a:cs typeface="Segoe UI" pitchFamily="34" charset="-120"/>
              </a:rPr>
              <a:t>Độ chính xác xếp đúng theo cue (minh hoạ)</a:t>
            </a:r>
            <a:endParaRPr lang="en-US" sz="1150" dirty="0"/>
          </a:p>
        </p:txBody>
      </p:sp>
      <p:sp>
        <p:nvSpPr>
          <p:cNvPr id="20" name="Shape 18"/>
          <p:cNvSpPr/>
          <p:nvPr/>
        </p:nvSpPr>
        <p:spPr>
          <a:xfrm>
            <a:off x="8686800" y="1965960"/>
            <a:ext cx="0" cy="2926080"/>
          </a:xfrm>
          <a:prstGeom prst="line">
            <a:avLst/>
          </a:prstGeom>
          <a:noFill/>
          <a:ln w="9525">
            <a:solidFill>
              <a:srgbClr val="E6EAEE"/>
            </a:solidFill>
            <a:prstDash val="solid"/>
          </a:ln>
        </p:spPr>
      </p:sp>
      <p:sp>
        <p:nvSpPr>
          <p:cNvPr id="21" name="Text 19"/>
          <p:cNvSpPr/>
          <p:nvPr/>
        </p:nvSpPr>
        <p:spPr>
          <a:xfrm>
            <a:off x="8412480" y="4910328"/>
            <a:ext cx="548640" cy="201168"/>
          </a:xfrm>
          <a:prstGeom prst="rect">
            <a:avLst/>
          </a:prstGeom>
          <a:noFill/>
          <a:ln/>
        </p:spPr>
        <p:txBody>
          <a:bodyPr wrap="square" lIns="0" tIns="0" rIns="0" bIns="0" rtlCol="0" anchor="ctr"/>
          <a:lstStyle/>
          <a:p>
            <a:pPr algn="ctr" indent="0" marL="0">
              <a:buNone/>
            </a:pPr>
            <a:r>
              <a:rPr lang="en-US" sz="800" dirty="0">
                <a:solidFill>
                  <a:srgbClr val="8A929B"/>
                </a:solidFill>
                <a:latin typeface="Segoe UI" pitchFamily="34" charset="0"/>
                <a:ea typeface="Segoe UI" pitchFamily="34" charset="-122"/>
                <a:cs typeface="Segoe UI" pitchFamily="34" charset="-120"/>
              </a:rPr>
              <a:t>50%</a:t>
            </a:r>
            <a:endParaRPr lang="en-US" sz="800" dirty="0"/>
          </a:p>
        </p:txBody>
      </p:sp>
      <p:sp>
        <p:nvSpPr>
          <p:cNvPr id="22" name="Shape 20"/>
          <p:cNvSpPr/>
          <p:nvPr/>
        </p:nvSpPr>
        <p:spPr>
          <a:xfrm>
            <a:off x="10698480" y="1965960"/>
            <a:ext cx="0" cy="2926080"/>
          </a:xfrm>
          <a:prstGeom prst="line">
            <a:avLst/>
          </a:prstGeom>
          <a:noFill/>
          <a:ln w="9525">
            <a:solidFill>
              <a:srgbClr val="E6EAEE"/>
            </a:solidFill>
            <a:prstDash val="solid"/>
          </a:ln>
        </p:spPr>
      </p:sp>
      <p:sp>
        <p:nvSpPr>
          <p:cNvPr id="23" name="Text 21"/>
          <p:cNvSpPr/>
          <p:nvPr/>
        </p:nvSpPr>
        <p:spPr>
          <a:xfrm>
            <a:off x="10424160" y="4910328"/>
            <a:ext cx="548640" cy="201168"/>
          </a:xfrm>
          <a:prstGeom prst="rect">
            <a:avLst/>
          </a:prstGeom>
          <a:noFill/>
          <a:ln/>
        </p:spPr>
        <p:txBody>
          <a:bodyPr wrap="square" lIns="0" tIns="0" rIns="0" bIns="0" rtlCol="0" anchor="ctr"/>
          <a:lstStyle/>
          <a:p>
            <a:pPr algn="ctr" indent="0" marL="0">
              <a:buNone/>
            </a:pPr>
            <a:r>
              <a:rPr lang="en-US" sz="800" dirty="0">
                <a:solidFill>
                  <a:srgbClr val="8A929B"/>
                </a:solidFill>
                <a:latin typeface="Segoe UI" pitchFamily="34" charset="0"/>
                <a:ea typeface="Segoe UI" pitchFamily="34" charset="-122"/>
                <a:cs typeface="Segoe UI" pitchFamily="34" charset="-120"/>
              </a:rPr>
              <a:t>100%</a:t>
            </a:r>
            <a:endParaRPr lang="en-US" sz="800" dirty="0"/>
          </a:p>
        </p:txBody>
      </p:sp>
      <p:sp>
        <p:nvSpPr>
          <p:cNvPr id="24" name="Shape 22"/>
          <p:cNvSpPr/>
          <p:nvPr/>
        </p:nvSpPr>
        <p:spPr>
          <a:xfrm>
            <a:off x="6675120" y="1965960"/>
            <a:ext cx="4023360" cy="365760"/>
          </a:xfrm>
          <a:prstGeom prst="rect">
            <a:avLst/>
          </a:prstGeom>
          <a:solidFill>
            <a:srgbClr val="EEF1F4"/>
          </a:solidFill>
          <a:ln/>
        </p:spPr>
      </p:sp>
      <p:sp>
        <p:nvSpPr>
          <p:cNvPr id="25" name="Shape 23"/>
          <p:cNvSpPr/>
          <p:nvPr/>
        </p:nvSpPr>
        <p:spPr>
          <a:xfrm>
            <a:off x="6675120" y="1965960"/>
            <a:ext cx="3741725" cy="365760"/>
          </a:xfrm>
          <a:prstGeom prst="rect">
            <a:avLst/>
          </a:prstGeom>
          <a:solidFill>
            <a:srgbClr val="8A2433"/>
          </a:solidFill>
          <a:ln/>
        </p:spPr>
      </p:sp>
      <p:sp>
        <p:nvSpPr>
          <p:cNvPr id="26" name="Text 24"/>
          <p:cNvSpPr/>
          <p:nvPr/>
        </p:nvSpPr>
        <p:spPr>
          <a:xfrm>
            <a:off x="10471709" y="1965960"/>
            <a:ext cx="548640" cy="365760"/>
          </a:xfrm>
          <a:prstGeom prst="rect">
            <a:avLst/>
          </a:prstGeom>
          <a:noFill/>
          <a:ln/>
        </p:spPr>
        <p:txBody>
          <a:bodyPr wrap="square" lIns="0" tIns="0" rIns="0" bIns="0" rtlCol="0" anchor="ctr"/>
          <a:lstStyle/>
          <a:p>
            <a:pPr indent="0" marL="0">
              <a:buNone/>
            </a:pPr>
            <a:r>
              <a:rPr lang="en-US" sz="950" b="1" dirty="0">
                <a:solidFill>
                  <a:srgbClr val="8A2433"/>
                </a:solidFill>
                <a:latin typeface="Segoe UI" pitchFamily="34" charset="0"/>
                <a:ea typeface="Segoe UI" pitchFamily="34" charset="-122"/>
                <a:cs typeface="Segoe UI" pitchFamily="34" charset="-120"/>
              </a:rPr>
              <a:t>93%</a:t>
            </a:r>
            <a:endParaRPr lang="en-US" sz="950" dirty="0"/>
          </a:p>
        </p:txBody>
      </p:sp>
      <p:sp>
        <p:nvSpPr>
          <p:cNvPr id="27" name="Shape 25"/>
          <p:cNvSpPr/>
          <p:nvPr/>
        </p:nvSpPr>
        <p:spPr>
          <a:xfrm>
            <a:off x="6675120" y="2606040"/>
            <a:ext cx="4023360" cy="365760"/>
          </a:xfrm>
          <a:prstGeom prst="rect">
            <a:avLst/>
          </a:prstGeom>
          <a:solidFill>
            <a:srgbClr val="EEF1F4"/>
          </a:solidFill>
          <a:ln/>
        </p:spPr>
      </p:sp>
      <p:sp>
        <p:nvSpPr>
          <p:cNvPr id="28" name="Shape 26"/>
          <p:cNvSpPr/>
          <p:nvPr/>
        </p:nvSpPr>
        <p:spPr>
          <a:xfrm>
            <a:off x="6675120" y="2606040"/>
            <a:ext cx="3460090" cy="365760"/>
          </a:xfrm>
          <a:prstGeom prst="rect">
            <a:avLst/>
          </a:prstGeom>
          <a:solidFill>
            <a:srgbClr val="8A2433"/>
          </a:solidFill>
          <a:ln/>
        </p:spPr>
      </p:sp>
      <p:sp>
        <p:nvSpPr>
          <p:cNvPr id="29" name="Text 27"/>
          <p:cNvSpPr/>
          <p:nvPr/>
        </p:nvSpPr>
        <p:spPr>
          <a:xfrm>
            <a:off x="10190074" y="2606040"/>
            <a:ext cx="548640" cy="365760"/>
          </a:xfrm>
          <a:prstGeom prst="rect">
            <a:avLst/>
          </a:prstGeom>
          <a:noFill/>
          <a:ln/>
        </p:spPr>
        <p:txBody>
          <a:bodyPr wrap="square" lIns="0" tIns="0" rIns="0" bIns="0" rtlCol="0" anchor="ctr"/>
          <a:lstStyle/>
          <a:p>
            <a:pPr indent="0" marL="0">
              <a:buNone/>
            </a:pPr>
            <a:r>
              <a:rPr lang="en-US" sz="950" b="1" dirty="0">
                <a:solidFill>
                  <a:srgbClr val="8A2433"/>
                </a:solidFill>
                <a:latin typeface="Segoe UI" pitchFamily="34" charset="0"/>
                <a:ea typeface="Segoe UI" pitchFamily="34" charset="-122"/>
                <a:cs typeface="Segoe UI" pitchFamily="34" charset="-120"/>
              </a:rPr>
              <a:t>86%</a:t>
            </a:r>
            <a:endParaRPr lang="en-US" sz="950" dirty="0"/>
          </a:p>
        </p:txBody>
      </p:sp>
      <p:sp>
        <p:nvSpPr>
          <p:cNvPr id="30" name="Shape 28"/>
          <p:cNvSpPr/>
          <p:nvPr/>
        </p:nvSpPr>
        <p:spPr>
          <a:xfrm>
            <a:off x="6675120" y="3246120"/>
            <a:ext cx="4023360" cy="365760"/>
          </a:xfrm>
          <a:prstGeom prst="rect">
            <a:avLst/>
          </a:prstGeom>
          <a:solidFill>
            <a:srgbClr val="EEF1F4"/>
          </a:solidFill>
          <a:ln/>
        </p:spPr>
      </p:sp>
      <p:sp>
        <p:nvSpPr>
          <p:cNvPr id="31" name="Shape 29"/>
          <p:cNvSpPr/>
          <p:nvPr/>
        </p:nvSpPr>
        <p:spPr>
          <a:xfrm>
            <a:off x="6675120" y="3246120"/>
            <a:ext cx="2856586" cy="365760"/>
          </a:xfrm>
          <a:prstGeom prst="rect">
            <a:avLst/>
          </a:prstGeom>
          <a:solidFill>
            <a:srgbClr val="8A2433"/>
          </a:solidFill>
          <a:ln/>
        </p:spPr>
      </p:sp>
      <p:sp>
        <p:nvSpPr>
          <p:cNvPr id="32" name="Text 30"/>
          <p:cNvSpPr/>
          <p:nvPr/>
        </p:nvSpPr>
        <p:spPr>
          <a:xfrm>
            <a:off x="9586570" y="3246120"/>
            <a:ext cx="548640" cy="365760"/>
          </a:xfrm>
          <a:prstGeom prst="rect">
            <a:avLst/>
          </a:prstGeom>
          <a:noFill/>
          <a:ln/>
        </p:spPr>
        <p:txBody>
          <a:bodyPr wrap="square" lIns="0" tIns="0" rIns="0" bIns="0" rtlCol="0" anchor="ctr"/>
          <a:lstStyle/>
          <a:p>
            <a:pPr indent="0" marL="0">
              <a:buNone/>
            </a:pPr>
            <a:r>
              <a:rPr lang="en-US" sz="950" b="1" dirty="0">
                <a:solidFill>
                  <a:srgbClr val="8A2433"/>
                </a:solidFill>
                <a:latin typeface="Segoe UI" pitchFamily="34" charset="0"/>
                <a:ea typeface="Segoe UI" pitchFamily="34" charset="-122"/>
                <a:cs typeface="Segoe UI" pitchFamily="34" charset="-120"/>
              </a:rPr>
              <a:t>71%</a:t>
            </a:r>
            <a:endParaRPr lang="en-US" sz="950" dirty="0"/>
          </a:p>
        </p:txBody>
      </p:sp>
      <p:sp>
        <p:nvSpPr>
          <p:cNvPr id="33" name="Shape 31"/>
          <p:cNvSpPr/>
          <p:nvPr/>
        </p:nvSpPr>
        <p:spPr>
          <a:xfrm>
            <a:off x="6675120" y="3886200"/>
            <a:ext cx="4023360" cy="365760"/>
          </a:xfrm>
          <a:prstGeom prst="rect">
            <a:avLst/>
          </a:prstGeom>
          <a:solidFill>
            <a:srgbClr val="EEF1F4"/>
          </a:solidFill>
          <a:ln/>
        </p:spPr>
      </p:sp>
      <p:sp>
        <p:nvSpPr>
          <p:cNvPr id="34" name="Shape 32"/>
          <p:cNvSpPr/>
          <p:nvPr/>
        </p:nvSpPr>
        <p:spPr>
          <a:xfrm>
            <a:off x="6675120" y="3886200"/>
            <a:ext cx="3138221" cy="365760"/>
          </a:xfrm>
          <a:prstGeom prst="rect">
            <a:avLst/>
          </a:prstGeom>
          <a:solidFill>
            <a:srgbClr val="8A2433"/>
          </a:solidFill>
          <a:ln/>
        </p:spPr>
      </p:sp>
      <p:sp>
        <p:nvSpPr>
          <p:cNvPr id="35" name="Text 33"/>
          <p:cNvSpPr/>
          <p:nvPr/>
        </p:nvSpPr>
        <p:spPr>
          <a:xfrm>
            <a:off x="9868205" y="3886200"/>
            <a:ext cx="548640" cy="365760"/>
          </a:xfrm>
          <a:prstGeom prst="rect">
            <a:avLst/>
          </a:prstGeom>
          <a:noFill/>
          <a:ln/>
        </p:spPr>
        <p:txBody>
          <a:bodyPr wrap="square" lIns="0" tIns="0" rIns="0" bIns="0" rtlCol="0" anchor="ctr"/>
          <a:lstStyle/>
          <a:p>
            <a:pPr indent="0" marL="0">
              <a:buNone/>
            </a:pPr>
            <a:r>
              <a:rPr lang="en-US" sz="950" b="1" dirty="0">
                <a:solidFill>
                  <a:srgbClr val="8A2433"/>
                </a:solidFill>
                <a:latin typeface="Segoe UI" pitchFamily="34" charset="0"/>
                <a:ea typeface="Segoe UI" pitchFamily="34" charset="-122"/>
                <a:cs typeface="Segoe UI" pitchFamily="34" charset="-120"/>
              </a:rPr>
              <a:t>78%</a:t>
            </a:r>
            <a:endParaRPr lang="en-US" sz="950" dirty="0"/>
          </a:p>
        </p:txBody>
      </p:sp>
      <p:sp>
        <p:nvSpPr>
          <p:cNvPr id="36" name="Shape 34"/>
          <p:cNvSpPr/>
          <p:nvPr/>
        </p:nvSpPr>
        <p:spPr>
          <a:xfrm>
            <a:off x="6675120" y="4526280"/>
            <a:ext cx="4023360" cy="365760"/>
          </a:xfrm>
          <a:prstGeom prst="rect">
            <a:avLst/>
          </a:prstGeom>
          <a:solidFill>
            <a:srgbClr val="EEF1F4"/>
          </a:solidFill>
          <a:ln/>
        </p:spPr>
      </p:sp>
      <p:sp>
        <p:nvSpPr>
          <p:cNvPr id="37" name="Shape 35"/>
          <p:cNvSpPr/>
          <p:nvPr/>
        </p:nvSpPr>
        <p:spPr>
          <a:xfrm>
            <a:off x="6675120" y="4526280"/>
            <a:ext cx="3621024" cy="365760"/>
          </a:xfrm>
          <a:prstGeom prst="rect">
            <a:avLst/>
          </a:prstGeom>
          <a:solidFill>
            <a:srgbClr val="8A2433"/>
          </a:solidFill>
          <a:ln/>
        </p:spPr>
      </p:sp>
      <p:sp>
        <p:nvSpPr>
          <p:cNvPr id="38" name="Text 36"/>
          <p:cNvSpPr/>
          <p:nvPr/>
        </p:nvSpPr>
        <p:spPr>
          <a:xfrm>
            <a:off x="10351008" y="4526280"/>
            <a:ext cx="548640" cy="365760"/>
          </a:xfrm>
          <a:prstGeom prst="rect">
            <a:avLst/>
          </a:prstGeom>
          <a:noFill/>
          <a:ln/>
        </p:spPr>
        <p:txBody>
          <a:bodyPr wrap="square" lIns="0" tIns="0" rIns="0" bIns="0" rtlCol="0" anchor="ctr"/>
          <a:lstStyle/>
          <a:p>
            <a:pPr indent="0" marL="0">
              <a:buNone/>
            </a:pPr>
            <a:r>
              <a:rPr lang="en-US" sz="950" b="1" dirty="0">
                <a:solidFill>
                  <a:srgbClr val="8A2433"/>
                </a:solidFill>
                <a:latin typeface="Segoe UI" pitchFamily="34" charset="0"/>
                <a:ea typeface="Segoe UI" pitchFamily="34" charset="-122"/>
                <a:cs typeface="Segoe UI" pitchFamily="34" charset="-120"/>
              </a:rPr>
              <a:t>90%</a:t>
            </a:r>
            <a:endParaRPr lang="en-US" sz="950" dirty="0"/>
          </a:p>
        </p:txBody>
      </p:sp>
      <p:sp>
        <p:nvSpPr>
          <p:cNvPr id="39" name="Text 37"/>
          <p:cNvSpPr/>
          <p:nvPr/>
        </p:nvSpPr>
        <p:spPr>
          <a:xfrm>
            <a:off x="731520" y="5806440"/>
            <a:ext cx="10725912" cy="457200"/>
          </a:xfrm>
          <a:prstGeom prst="rect">
            <a:avLst/>
          </a:prstGeom>
          <a:noFill/>
          <a:ln/>
        </p:spPr>
        <p:txBody>
          <a:bodyPr wrap="square" lIns="0" tIns="0" rIns="0" bIns="0" rtlCol="0" anchor="ctr"/>
          <a:lstStyle/>
          <a:p>
            <a:pPr indent="0" marL="0">
              <a:lnSpc>
                <a:spcPct val="105000"/>
              </a:lnSpc>
              <a:buNone/>
            </a:pPr>
            <a:r>
              <a:rPr lang="en-US" sz="1300" i="1" dirty="0">
                <a:solidFill>
                  <a:srgbClr val="8A929B"/>
                </a:solidFill>
                <a:latin typeface="Segoe UI" pitchFamily="34" charset="0"/>
                <a:ea typeface="Segoe UI" pitchFamily="34" charset="-122"/>
                <a:cs typeface="Segoe UI" pitchFamily="34" charset="-120"/>
              </a:rPr>
              <a:t>Signal-attribution = chỉ giữ cặp màn khác đúng MỘT cue rồi đo riêng → biết cue nào thực sự giúp. KHÔNG che pixel. Baseline đối chứng: GOAL-ONLY (che hết ảnh) + RANDOM-ORDER.</a:t>
            </a:r>
            <a:endParaRPr lang="en-US" sz="1300" dirty="0"/>
          </a:p>
        </p:txBody>
      </p:sp>
      <p:sp>
        <p:nvSpPr>
          <p:cNvPr id="40" name="Text 38"/>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ĐẶT MÌNH Ở ĐÂU</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Khảo sát liên quan &amp; điểm mới (cổng KZ′)</a:t>
            </a:r>
            <a:endParaRPr lang="en-US" sz="2700" dirty="0"/>
          </a:p>
        </p:txBody>
      </p:sp>
      <p:sp>
        <p:nvSpPr>
          <p:cNvPr id="4" name="Text 2"/>
          <p:cNvSpPr/>
          <p:nvPr/>
        </p:nvSpPr>
        <p:spPr>
          <a:xfrm>
            <a:off x="731520" y="1874520"/>
            <a:ext cx="5120640" cy="320040"/>
          </a:xfrm>
          <a:prstGeom prst="rect">
            <a:avLst/>
          </a:prstGeom>
          <a:noFill/>
          <a:ln/>
        </p:spPr>
        <p:txBody>
          <a:bodyPr wrap="square" lIns="0" tIns="0" rIns="0" bIns="0" rtlCol="0" anchor="ctr"/>
          <a:lstStyle/>
          <a:p>
            <a:pPr indent="0" marL="0">
              <a:buNone/>
            </a:pPr>
            <a:r>
              <a:rPr lang="en-US" sz="1350" b="1" dirty="0">
                <a:solidFill>
                  <a:srgbClr val="8A929B"/>
                </a:solidFill>
                <a:latin typeface="Segoe UI" pitchFamily="34" charset="0"/>
                <a:ea typeface="Segoe UI" pitchFamily="34" charset="-122"/>
                <a:cs typeface="Segoe UI" pitchFamily="34" charset="-120"/>
              </a:rPr>
              <a:t>ĐÃ CÓ (lineage — em thừa nhận)</a:t>
            </a:r>
            <a:endParaRPr lang="en-US" sz="1350" dirty="0"/>
          </a:p>
        </p:txBody>
      </p:sp>
      <p:sp>
        <p:nvSpPr>
          <p:cNvPr id="5" name="Text 3"/>
          <p:cNvSpPr/>
          <p:nvPr/>
        </p:nvSpPr>
        <p:spPr>
          <a:xfrm>
            <a:off x="731520" y="2286000"/>
            <a:ext cx="5120640" cy="2468880"/>
          </a:xfrm>
          <a:prstGeom prst="rect">
            <a:avLst/>
          </a:prstGeom>
          <a:noFill/>
          <a:ln/>
        </p:spPr>
        <p:txBody>
          <a:bodyPr wrap="square" lIns="0" tIns="0" rIns="0" bIns="0" rtlCol="0" anchor="ctr"/>
          <a:lstStyle/>
          <a:p>
            <a:pPr indent="0" marL="0">
              <a:lnSpc>
                <a:spcPct val="130000"/>
              </a:lnSpc>
              <a:buNone/>
            </a:pPr>
            <a:r>
              <a:rPr lang="en-US" sz="1400" dirty="0">
                <a:solidFill>
                  <a:srgbClr val="3C434B"/>
                </a:solidFill>
                <a:latin typeface="Segoe UI" pitchFamily="34" charset="0"/>
                <a:ea typeface="Segoe UI" pitchFamily="34" charset="-122"/>
                <a:cs typeface="Segoe UI" pitchFamily="34" charset="-120"/>
              </a:rPr>
              <a:t>• Sort-Story (EMNLP 2016) — xếp ảnh+caption bị xáo</a:t>
            </a:r>
            <a:endParaRPr lang="en-US" sz="1400" dirty="0"/>
          </a:p>
          <a:p>
            <a:pPr indent="0" marL="0">
              <a:lnSpc>
                <a:spcPct val="130000"/>
              </a:lnSpc>
              <a:buNone/>
            </a:pPr>
            <a:r>
              <a:rPr lang="en-US" sz="1400" dirty="0">
                <a:solidFill>
                  <a:srgbClr val="3C434B"/>
                </a:solidFill>
                <a:latin typeface="Segoe UI" pitchFamily="34" charset="0"/>
                <a:ea typeface="Segoe UI" pitchFamily="34" charset="-122"/>
                <a:cs typeface="Segoe UI" pitchFamily="34" charset="-120"/>
              </a:rPr>
              <a:t>• Sequencing Multimodal Manuals (ACL 2022) — xếp bước hướng dẫn đa phương thức</a:t>
            </a:r>
            <a:endParaRPr lang="en-US" sz="1400" dirty="0"/>
          </a:p>
          <a:p>
            <a:pPr indent="0" marL="0">
              <a:lnSpc>
                <a:spcPct val="130000"/>
              </a:lnSpc>
              <a:buNone/>
            </a:pPr>
            <a:r>
              <a:rPr lang="en-US" sz="1400" dirty="0">
                <a:solidFill>
                  <a:srgbClr val="3C434B"/>
                </a:solidFill>
                <a:latin typeface="Segoe UI" pitchFamily="34" charset="0"/>
                <a:ea typeface="Segoe UI" pitchFamily="34" charset="-122"/>
                <a:cs typeface="Segoe UI" pitchFamily="34" charset="-120"/>
              </a:rPr>
              <a:t>• RankGPT (EMNLP 2023) — LLM sinh thứ tự theo mục tiêu</a:t>
            </a:r>
            <a:endParaRPr lang="en-US" sz="1400" dirty="0"/>
          </a:p>
          <a:p>
            <a:pPr indent="0" marL="0">
              <a:lnSpc>
                <a:spcPct val="130000"/>
              </a:lnSpc>
              <a:buNone/>
            </a:pPr>
            <a:r>
              <a:rPr lang="en-US" sz="1400" dirty="0">
                <a:solidFill>
                  <a:srgbClr val="3C434B"/>
                </a:solidFill>
                <a:latin typeface="Segoe UI" pitchFamily="34" charset="0"/>
                <a:ea typeface="Segoe UI" pitchFamily="34" charset="-122"/>
                <a:cs typeface="Segoe UI" pitchFamily="34" charset="-120"/>
              </a:rPr>
              <a:t>• Thước đo thứ tự: Kendall τ, Spearman (kinh điển)</a:t>
            </a:r>
            <a:endParaRPr lang="en-US" sz="1400" dirty="0"/>
          </a:p>
        </p:txBody>
      </p:sp>
      <p:sp>
        <p:nvSpPr>
          <p:cNvPr id="6" name="Shape 4"/>
          <p:cNvSpPr/>
          <p:nvPr/>
        </p:nvSpPr>
        <p:spPr>
          <a:xfrm>
            <a:off x="6400800" y="1874520"/>
            <a:ext cx="45720" cy="2743200"/>
          </a:xfrm>
          <a:prstGeom prst="rect">
            <a:avLst/>
          </a:prstGeom>
          <a:solidFill>
            <a:srgbClr val="8A2433"/>
          </a:solidFill>
          <a:ln/>
        </p:spPr>
      </p:sp>
      <p:sp>
        <p:nvSpPr>
          <p:cNvPr id="7" name="Text 5"/>
          <p:cNvSpPr/>
          <p:nvPr/>
        </p:nvSpPr>
        <p:spPr>
          <a:xfrm>
            <a:off x="6656832" y="1874520"/>
            <a:ext cx="4754880" cy="320040"/>
          </a:xfrm>
          <a:prstGeom prst="rect">
            <a:avLst/>
          </a:prstGeom>
          <a:noFill/>
          <a:ln/>
        </p:spPr>
        <p:txBody>
          <a:bodyPr wrap="square" lIns="0" tIns="0" rIns="0" bIns="0" rtlCol="0" anchor="ctr"/>
          <a:lstStyle/>
          <a:p>
            <a:pPr indent="0" marL="0">
              <a:buNone/>
            </a:pPr>
            <a:r>
              <a:rPr lang="en-US" sz="1350" b="1" dirty="0">
                <a:solidFill>
                  <a:srgbClr val="8A2433"/>
                </a:solidFill>
                <a:latin typeface="Segoe UI" pitchFamily="34" charset="0"/>
                <a:ea typeface="Segoe UI" pitchFamily="34" charset="-122"/>
                <a:cs typeface="Segoe UI" pitchFamily="34" charset="-120"/>
              </a:rPr>
              <a:t>ĐIỂM MỚI CỦA EM</a:t>
            </a:r>
            <a:endParaRPr lang="en-US" sz="1350" dirty="0"/>
          </a:p>
        </p:txBody>
      </p:sp>
      <p:sp>
        <p:nvSpPr>
          <p:cNvPr id="8" name="Text 6"/>
          <p:cNvSpPr/>
          <p:nvPr/>
        </p:nvSpPr>
        <p:spPr>
          <a:xfrm>
            <a:off x="6656832" y="2286000"/>
            <a:ext cx="4754880" cy="640080"/>
          </a:xfrm>
          <a:prstGeom prst="rect">
            <a:avLst/>
          </a:prstGeom>
          <a:noFill/>
          <a:ln/>
        </p:spPr>
        <p:txBody>
          <a:bodyPr wrap="square" lIns="0" tIns="0" rIns="0" bIns="0" rtlCol="0" anchor="ctr"/>
          <a:lstStyle/>
          <a:p>
            <a:pPr indent="0" marL="0">
              <a:lnSpc>
                <a:spcPct val="110000"/>
              </a:lnSpc>
              <a:buNone/>
            </a:pPr>
            <a:r>
              <a:rPr lang="en-US" sz="1450" dirty="0">
                <a:solidFill>
                  <a:srgbClr val="1C2530"/>
                </a:solidFill>
                <a:latin typeface="Segoe UI" pitchFamily="34" charset="0"/>
                <a:ea typeface="Segoe UI" pitchFamily="34" charset="-122"/>
                <a:cs typeface="Segoe UI" pitchFamily="34" charset="-120"/>
              </a:rPr>
              <a:t>KHÔNG claim “xếp ảnh xáo là mới”. Điểm mới = TỔ HỢP + domain:</a:t>
            </a:r>
            <a:endParaRPr lang="en-US" sz="1450" dirty="0"/>
          </a:p>
        </p:txBody>
      </p:sp>
      <p:sp>
        <p:nvSpPr>
          <p:cNvPr id="9" name="Text 7"/>
          <p:cNvSpPr/>
          <p:nvPr/>
        </p:nvSpPr>
        <p:spPr>
          <a:xfrm>
            <a:off x="6656832" y="3017520"/>
            <a:ext cx="4754880" cy="1645920"/>
          </a:xfrm>
          <a:prstGeom prst="rect">
            <a:avLst/>
          </a:prstGeom>
          <a:noFill/>
          <a:ln/>
        </p:spPr>
        <p:txBody>
          <a:bodyPr wrap="square" lIns="0" tIns="0" rIns="0" bIns="0" rtlCol="0" anchor="ctr"/>
          <a:lstStyle/>
          <a:p>
            <a:pPr indent="0" marL="0">
              <a:lnSpc>
                <a:spcPct val="130000"/>
              </a:lnSpc>
              <a:buNone/>
            </a:pPr>
            <a:r>
              <a:rPr lang="en-US" sz="1450" b="1" dirty="0">
                <a:solidFill>
                  <a:srgbClr val="3C434B"/>
                </a:solidFill>
                <a:latin typeface="Segoe UI" pitchFamily="34" charset="0"/>
                <a:ea typeface="Segoe UI" pitchFamily="34" charset="-122"/>
                <a:cs typeface="Segoe UI" pitchFamily="34" charset="-120"/>
              </a:rPr>
              <a:t>(a) domain GUI màn hình</a:t>
            </a:r>
            <a:endParaRPr lang="en-US" sz="1450" dirty="0"/>
          </a:p>
          <a:p>
            <a:pPr indent="0" marL="0">
              <a:lnSpc>
                <a:spcPct val="130000"/>
              </a:lnSpc>
              <a:buNone/>
            </a:pPr>
            <a:r>
              <a:rPr lang="en-US" sz="1450" b="1" dirty="0">
                <a:solidFill>
                  <a:srgbClr val="3C434B"/>
                </a:solidFill>
                <a:latin typeface="Segoe UI" pitchFamily="34" charset="0"/>
                <a:ea typeface="Segoe UI" pitchFamily="34" charset="-122"/>
                <a:cs typeface="Segoe UI" pitchFamily="34" charset="-120"/>
              </a:rPr>
              <a:t>(b) điều kiện theo mục tiêu/use-case</a:t>
            </a:r>
            <a:endParaRPr lang="en-US" sz="1450" dirty="0"/>
          </a:p>
          <a:p>
            <a:pPr indent="0" marL="0">
              <a:lnSpc>
                <a:spcPct val="130000"/>
              </a:lnSpc>
              <a:buNone/>
            </a:pPr>
            <a:r>
              <a:rPr lang="en-US" sz="1450" b="1" dirty="0">
                <a:solidFill>
                  <a:srgbClr val="3C434B"/>
                </a:solidFill>
                <a:latin typeface="Segoe UI" pitchFamily="34" charset="0"/>
                <a:ea typeface="Segoe UI" pitchFamily="34" charset="-122"/>
                <a:cs typeface="Segoe UI" pitchFamily="34" charset="-120"/>
              </a:rPr>
              <a:t>(c) gắn ordering → SINH tutorial</a:t>
            </a:r>
            <a:endParaRPr lang="en-US" sz="1450" dirty="0"/>
          </a:p>
          <a:p>
            <a:pPr indent="0" marL="0">
              <a:lnSpc>
                <a:spcPct val="130000"/>
              </a:lnSpc>
              <a:buNone/>
            </a:pPr>
            <a:r>
              <a:rPr lang="en-US" sz="1450" b="1" dirty="0">
                <a:solidFill>
                  <a:srgbClr val="3C434B"/>
                </a:solidFill>
                <a:latin typeface="Segoe UI" pitchFamily="34" charset="0"/>
                <a:ea typeface="Segoe UI" pitchFamily="34" charset="-122"/>
                <a:cs typeface="Segoe UI" pitchFamily="34" charset="-120"/>
              </a:rPr>
              <a:t>(d) signal-attribution theo ordering cue</a:t>
            </a:r>
            <a:endParaRPr lang="en-US" sz="1450" dirty="0"/>
          </a:p>
        </p:txBody>
      </p:sp>
      <p:sp>
        <p:nvSpPr>
          <p:cNvPr id="10" name="Text 8"/>
          <p:cNvSpPr/>
          <p:nvPr/>
        </p:nvSpPr>
        <p:spPr>
          <a:xfrm>
            <a:off x="731520" y="5760720"/>
            <a:ext cx="10725912" cy="457200"/>
          </a:xfrm>
          <a:prstGeom prst="rect">
            <a:avLst/>
          </a:prstGeom>
          <a:noFill/>
          <a:ln/>
        </p:spPr>
        <p:txBody>
          <a:bodyPr wrap="square" lIns="0" tIns="0" rIns="0" bIns="0" rtlCol="0" anchor="ctr"/>
          <a:lstStyle/>
          <a:p>
            <a:pPr indent="0" marL="0">
              <a:lnSpc>
                <a:spcPct val="105000"/>
              </a:lnSpc>
              <a:buNone/>
            </a:pPr>
            <a:r>
              <a:rPr lang="en-US" sz="1300" i="1" dirty="0">
                <a:solidFill>
                  <a:srgbClr val="8A929B"/>
                </a:solidFill>
                <a:latin typeface="Segoe UI" pitchFamily="34" charset="0"/>
                <a:ea typeface="Segoe UI" pitchFamily="34" charset="-122"/>
                <a:cs typeface="Segoe UI" pitchFamily="34" charset="-120"/>
              </a:rPr>
              <a:t>Cổng KZ′ (tuần 1) đã rà — không thấy công trình trùng khít; đóng khung độ mới trung thực theo lineage trên.</a:t>
            </a:r>
            <a:endParaRPr lang="en-US" sz="1300" dirty="0"/>
          </a:p>
        </p:txBody>
      </p:sp>
      <p:sp>
        <p:nvSpPr>
          <p:cNvPr id="11" name="Text 9"/>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CÁCH CHẤM — ĐÓNG GÓP 1</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Chấm màn-0, neo vào bản liệt kê nút</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10725912" cy="914400"/>
        </p:xfrm>
        <a:graphic>
          <a:graphicData uri="http://schemas.openxmlformats.org/drawingml/2006/table">
            <a:tbl>
              <a:tblPr/>
              <a:tblGrid>
                <a:gridCol w="2377440"/>
                <a:gridCol w="3749040"/>
                <a:gridCol w="4599432"/>
              </a:tblGrid>
              <a:tr h="457200">
                <a:tc>
                  <a:txBody>
                    <a:bodyPr/>
                    <a:lstStyle/>
                    <a:p>
                      <a:pPr algn="l" indent="0" marL="0">
                        <a:buNone/>
                      </a:pPr>
                      <a:r>
                        <a:rPr lang="en-US" sz="1450" b="1" dirty="0">
                          <a:solidFill>
                            <a:srgbClr val="1C2530"/>
                          </a:solidFill>
                          <a:latin typeface="Segoe UI" pitchFamily="34" charset="0"/>
                          <a:ea typeface="Segoe UI" pitchFamily="34" charset="-122"/>
                          <a:cs typeface="Segoe UI" pitchFamily="34" charset="-120"/>
                        </a:rPr>
                        <a:t>Tiêu chí</a:t>
                      </a:r>
                      <a:endParaRPr lang="en-US" sz="1450" dirty="0">
                        <a:latin typeface="Segoe UI" charset="0"/>
                        <a:ea typeface="Segoe UI" charset="0"/>
                        <a:cs typeface="Segoe UI" charset="0"/>
                      </a:endParaRPr>
                    </a:p>
                  </a:txBody>
                  <a:tcPr marL="101600" marR="101600" marT="50800" marB="508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solidFill>
                      <a:srgbClr val="F4F6F8"/>
                    </a:solidFill>
                  </a:tcPr>
                </a:tc>
                <a:tc>
                  <a:txBody>
                    <a:bodyPr/>
                    <a:lstStyle/>
                    <a:p>
                      <a:pPr algn="l" indent="0" marL="0">
                        <a:buNone/>
                      </a:pPr>
                      <a:r>
                        <a:rPr lang="en-US" sz="1450" b="1" dirty="0">
                          <a:solidFill>
                            <a:srgbClr val="1C2530"/>
                          </a:solidFill>
                          <a:latin typeface="Segoe UI" pitchFamily="34" charset="0"/>
                          <a:ea typeface="Segoe UI" pitchFamily="34" charset="-122"/>
                          <a:cs typeface="Segoe UI" pitchFamily="34" charset="-120"/>
                        </a:rPr>
                        <a:t>Đo gì</a:t>
                      </a:r>
                      <a:endParaRPr lang="en-US" sz="1450" dirty="0">
                        <a:latin typeface="Segoe UI" charset="0"/>
                        <a:ea typeface="Segoe UI" charset="0"/>
                        <a:cs typeface="Segoe UI" charset="0"/>
                      </a:endParaRPr>
                    </a:p>
                  </a:txBody>
                  <a:tcPr marL="101600" marR="101600" marT="50800" marB="508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solidFill>
                      <a:srgbClr val="F4F6F8"/>
                    </a:solidFill>
                  </a:tcPr>
                </a:tc>
                <a:tc>
                  <a:txBody>
                    <a:bodyPr/>
                    <a:lstStyle/>
                    <a:p>
                      <a:pPr algn="l" indent="0" marL="0">
                        <a:buNone/>
                      </a:pPr>
                      <a:r>
                        <a:rPr lang="en-US" sz="1450" b="1" dirty="0">
                          <a:solidFill>
                            <a:srgbClr val="1C2530"/>
                          </a:solidFill>
                          <a:latin typeface="Segoe UI" pitchFamily="34" charset="0"/>
                          <a:ea typeface="Segoe UI" pitchFamily="34" charset="-122"/>
                          <a:cs typeface="Segoe UI" pitchFamily="34" charset="-120"/>
                        </a:rPr>
                        <a:t>Cách đo</a:t>
                      </a:r>
                      <a:endParaRPr lang="en-US" sz="1450" dirty="0">
                        <a:latin typeface="Segoe UI" charset="0"/>
                        <a:ea typeface="Segoe UI" charset="0"/>
                        <a:cs typeface="Segoe UI" charset="0"/>
                      </a:endParaRPr>
                    </a:p>
                  </a:txBody>
                  <a:tcPr marL="101600" marR="101600" marT="50800" marB="508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solidFill>
                      <a:srgbClr val="F4F6F8"/>
                    </a:solidFill>
                  </a:tcPr>
                </a:tc>
              </a:tr>
              <a:tr h="713232">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Grounding</a:t>
                      </a:r>
                      <a:endParaRPr lang="en-US" sz="1450" dirty="0">
                        <a:latin typeface="Segoe UI" charset="0"/>
                        <a:ea typeface="Segoe UI" charset="0"/>
                        <a:cs typeface="Segoe UI" charset="0"/>
                      </a:endParaRPr>
                    </a:p>
                  </a:txBody>
                  <a:tcPr marL="101600" marR="101600" marT="50800" marB="508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Chỗ bấm có trúng nút thật?</a:t>
                      </a:r>
                      <a:endParaRPr lang="en-US" sz="1450" dirty="0">
                        <a:latin typeface="Segoe UI" charset="0"/>
                        <a:ea typeface="Segoe UI" charset="0"/>
                        <a:cs typeface="Segoe UI" charset="0"/>
                      </a:endParaRPr>
                    </a:p>
                  </a:txBody>
                  <a:tcPr marL="101600" marR="101600" marT="50800" marB="508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điểm máy chỉ có nằm trong ô của nút (point-in-bbox, SeeClick ACL 2024)</a:t>
                      </a:r>
                      <a:endParaRPr lang="en-US" sz="1450" dirty="0">
                        <a:latin typeface="Segoe UI" charset="0"/>
                        <a:ea typeface="Segoe UI" charset="0"/>
                        <a:cs typeface="Segoe UI" charset="0"/>
                      </a:endParaRPr>
                    </a:p>
                  </a:txBody>
                  <a:tcPr marL="101600" marR="101600" marT="50800" marB="508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r>
              <a:tr h="713232">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Hallucination</a:t>
                      </a:r>
                      <a:endParaRPr lang="en-US" sz="1450" dirty="0">
                        <a:latin typeface="Segoe UI" charset="0"/>
                        <a:ea typeface="Segoe UI" charset="0"/>
                        <a:cs typeface="Segoe UI" charset="0"/>
                      </a:endParaRPr>
                    </a:p>
                  </a:txBody>
                  <a:tcPr marL="101600" marR="101600" marT="50800" marB="508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Có nhắc nút không tồn tại?</a:t>
                      </a:r>
                      <a:endParaRPr lang="en-US" sz="1450" dirty="0">
                        <a:latin typeface="Segoe UI" charset="0"/>
                        <a:ea typeface="Segoe UI" charset="0"/>
                        <a:cs typeface="Segoe UI" charset="0"/>
                      </a:endParaRPr>
                    </a:p>
                  </a:txBody>
                  <a:tcPr marL="101600" marR="101600" marT="50800" marB="508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1 − HER (tỷ lệ nút bịa); ý tưởng từ CHAIR (EMNLP 2018)</a:t>
                      </a:r>
                      <a:endParaRPr lang="en-US" sz="1450" dirty="0">
                        <a:latin typeface="Segoe UI" charset="0"/>
                        <a:ea typeface="Segoe UI" charset="0"/>
                        <a:cs typeface="Segoe UI" charset="0"/>
                      </a:endParaRPr>
                    </a:p>
                  </a:txBody>
                  <a:tcPr marL="101600" marR="101600" marT="50800" marB="508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r>
              <a:tr h="640080">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Coverage</a:t>
                      </a:r>
                      <a:endParaRPr lang="en-US" sz="1450" dirty="0">
                        <a:latin typeface="Segoe UI" charset="0"/>
                        <a:ea typeface="Segoe UI" charset="0"/>
                        <a:cs typeface="Segoe UI" charset="0"/>
                      </a:endParaRPr>
                    </a:p>
                  </a:txBody>
                  <a:tcPr marL="101600" marR="101600" marT="50800" marB="508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Có bỏ sót nút quan trọng?</a:t>
                      </a:r>
                      <a:endParaRPr lang="en-US" sz="1450" dirty="0">
                        <a:latin typeface="Segoe UI" charset="0"/>
                        <a:ea typeface="Segoe UI" charset="0"/>
                        <a:cs typeface="Segoe UI" charset="0"/>
                      </a:endParaRPr>
                    </a:p>
                  </a:txBody>
                  <a:tcPr marL="101600" marR="101600" marT="50800" marB="508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đếm xem nhắc đủ các nút cần không</a:t>
                      </a:r>
                      <a:endParaRPr lang="en-US" sz="1450" dirty="0">
                        <a:latin typeface="Segoe UI" charset="0"/>
                        <a:ea typeface="Segoe UI" charset="0"/>
                        <a:cs typeface="Segoe UI" charset="0"/>
                      </a:endParaRPr>
                    </a:p>
                  </a:txBody>
                  <a:tcPr marL="101600" marR="101600" marT="50800" marB="508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r>
              <a:tr h="640080">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Clarity / Format</a:t>
                      </a:r>
                      <a:endParaRPr lang="en-US" sz="1450" dirty="0">
                        <a:latin typeface="Segoe UI" charset="0"/>
                        <a:ea typeface="Segoe UI" charset="0"/>
                        <a:cs typeface="Segoe UI" charset="0"/>
                      </a:endParaRPr>
                    </a:p>
                  </a:txBody>
                  <a:tcPr marL="101600" marR="101600" marT="50800" marB="508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Có đánh số? có động từ? rõ?</a:t>
                      </a:r>
                      <a:endParaRPr lang="en-US" sz="1450" dirty="0">
                        <a:latin typeface="Segoe UI" charset="0"/>
                        <a:ea typeface="Segoe UI" charset="0"/>
                        <a:cs typeface="Segoe UI" charset="0"/>
                      </a:endParaRPr>
                    </a:p>
                  </a:txBody>
                  <a:tcPr marL="101600" marR="101600" marT="50800" marB="508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IFEval (luật) + G-Eval (một AI chấm 1–5, EMNLP 2023)</a:t>
                      </a:r>
                      <a:endParaRPr lang="en-US" sz="1450" dirty="0">
                        <a:latin typeface="Segoe UI" charset="0"/>
                        <a:ea typeface="Segoe UI" charset="0"/>
                        <a:cs typeface="Segoe UI" charset="0"/>
                      </a:endParaRPr>
                    </a:p>
                  </a:txBody>
                  <a:tcPr marL="101600" marR="101600" marT="50800" marB="508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r>
            </a:tbl>
          </a:graphicData>
        </a:graphic>
      </p:graphicFrame>
      <p:sp>
        <p:nvSpPr>
          <p:cNvPr id="5" name="Text 2"/>
          <p:cNvSpPr/>
          <p:nvPr/>
        </p:nvSpPr>
        <p:spPr>
          <a:xfrm>
            <a:off x="731520" y="5897880"/>
            <a:ext cx="10725912" cy="457200"/>
          </a:xfrm>
          <a:prstGeom prst="rect">
            <a:avLst/>
          </a:prstGeom>
          <a:noFill/>
          <a:ln/>
        </p:spPr>
        <p:txBody>
          <a:bodyPr wrap="square" lIns="0" tIns="0" rIns="0" bIns="0" rtlCol="0" anchor="ctr"/>
          <a:lstStyle/>
          <a:p>
            <a:pPr indent="0" marL="0">
              <a:lnSpc>
                <a:spcPct val="105000"/>
              </a:lnSpc>
              <a:buNone/>
            </a:pPr>
            <a:r>
              <a:rPr lang="en-US" sz="1300" i="1" dirty="0">
                <a:solidFill>
                  <a:srgbClr val="8A929B"/>
                </a:solidFill>
                <a:latin typeface="Segoe UI" pitchFamily="34" charset="0"/>
                <a:ea typeface="Segoe UI" pitchFamily="34" charset="-122"/>
                <a:cs typeface="Segoe UI" pitchFamily="34" charset="-120"/>
              </a:rPr>
              <a:t>Con số grounding báo theo 2 cách: RAW (số thật) và ORACLE (giả định bộ-dò-hoàn-hảo) — lý do ở slide rủi ro.</a:t>
            </a:r>
            <a:endParaRPr lang="en-US" sz="1300" dirty="0"/>
          </a:p>
        </p:txBody>
      </p:sp>
      <p:sp>
        <p:nvSpPr>
          <p:cNvPr id="6" name="Text 3"/>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CÁCH CHẤM — ĐÓNG GÓP 2</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Đo thứ tự (Kendall τ-b) + Tier A tham chiếu</a:t>
            </a:r>
            <a:endParaRPr lang="en-US" sz="2700" dirty="0"/>
          </a:p>
        </p:txBody>
      </p:sp>
      <p:sp>
        <p:nvSpPr>
          <p:cNvPr id="4" name="Shape 2"/>
          <p:cNvSpPr/>
          <p:nvPr/>
        </p:nvSpPr>
        <p:spPr>
          <a:xfrm>
            <a:off x="1417320" y="2194560"/>
            <a:ext cx="0" cy="2697480"/>
          </a:xfrm>
          <a:prstGeom prst="line">
            <a:avLst/>
          </a:prstGeom>
          <a:noFill/>
          <a:ln w="12700">
            <a:solidFill>
              <a:srgbClr val="8A929B"/>
            </a:solidFill>
            <a:prstDash val="solid"/>
          </a:ln>
        </p:spPr>
      </p:sp>
      <p:sp>
        <p:nvSpPr>
          <p:cNvPr id="5" name="Shape 3"/>
          <p:cNvSpPr/>
          <p:nvPr/>
        </p:nvSpPr>
        <p:spPr>
          <a:xfrm>
            <a:off x="1417320" y="4892040"/>
            <a:ext cx="4892040" cy="0"/>
          </a:xfrm>
          <a:prstGeom prst="line">
            <a:avLst/>
          </a:prstGeom>
          <a:noFill/>
          <a:ln w="12700">
            <a:solidFill>
              <a:srgbClr val="8A929B"/>
            </a:solidFill>
            <a:prstDash val="solid"/>
          </a:ln>
        </p:spPr>
      </p:sp>
      <p:sp>
        <p:nvSpPr>
          <p:cNvPr id="6" name="Text 4"/>
          <p:cNvSpPr/>
          <p:nvPr/>
        </p:nvSpPr>
        <p:spPr>
          <a:xfrm>
            <a:off x="731520" y="2176272"/>
            <a:ext cx="502920" cy="219456"/>
          </a:xfrm>
          <a:prstGeom prst="rect">
            <a:avLst/>
          </a:prstGeom>
          <a:noFill/>
          <a:ln/>
        </p:spPr>
        <p:txBody>
          <a:bodyPr wrap="square" lIns="0" tIns="0" rIns="0" bIns="0" rtlCol="0" anchor="ctr"/>
          <a:lstStyle/>
          <a:p>
            <a:pPr algn="r" indent="0" marL="0">
              <a:buNone/>
            </a:pPr>
            <a:r>
              <a:rPr lang="en-US" sz="900" dirty="0">
                <a:solidFill>
                  <a:srgbClr val="8A929B"/>
                </a:solidFill>
                <a:latin typeface="Segoe UI" pitchFamily="34" charset="0"/>
                <a:ea typeface="Segoe UI" pitchFamily="34" charset="-122"/>
                <a:cs typeface="Segoe UI" pitchFamily="34" charset="-120"/>
              </a:rPr>
              <a:t>1.0</a:t>
            </a:r>
            <a:endParaRPr lang="en-US" sz="900" dirty="0"/>
          </a:p>
        </p:txBody>
      </p:sp>
      <p:sp>
        <p:nvSpPr>
          <p:cNvPr id="7" name="Shape 5"/>
          <p:cNvSpPr/>
          <p:nvPr/>
        </p:nvSpPr>
        <p:spPr>
          <a:xfrm>
            <a:off x="1417320" y="2286000"/>
            <a:ext cx="4892040" cy="0"/>
          </a:xfrm>
          <a:prstGeom prst="line">
            <a:avLst/>
          </a:prstGeom>
          <a:noFill/>
          <a:ln w="6350">
            <a:solidFill>
              <a:srgbClr val="EEF1F4"/>
            </a:solidFill>
            <a:prstDash val="solid"/>
          </a:ln>
        </p:spPr>
      </p:sp>
      <p:sp>
        <p:nvSpPr>
          <p:cNvPr id="8" name="Text 6"/>
          <p:cNvSpPr/>
          <p:nvPr/>
        </p:nvSpPr>
        <p:spPr>
          <a:xfrm>
            <a:off x="731520" y="3479292"/>
            <a:ext cx="502920" cy="219456"/>
          </a:xfrm>
          <a:prstGeom prst="rect">
            <a:avLst/>
          </a:prstGeom>
          <a:noFill/>
          <a:ln/>
        </p:spPr>
        <p:txBody>
          <a:bodyPr wrap="square" lIns="0" tIns="0" rIns="0" bIns="0" rtlCol="0" anchor="ctr"/>
          <a:lstStyle/>
          <a:p>
            <a:pPr algn="r" indent="0" marL="0">
              <a:buNone/>
            </a:pPr>
            <a:r>
              <a:rPr lang="en-US" sz="900" dirty="0">
                <a:solidFill>
                  <a:srgbClr val="8A929B"/>
                </a:solidFill>
                <a:latin typeface="Segoe UI" pitchFamily="34" charset="0"/>
                <a:ea typeface="Segoe UI" pitchFamily="34" charset="-122"/>
                <a:cs typeface="Segoe UI" pitchFamily="34" charset="-120"/>
              </a:rPr>
              <a:t>0.5</a:t>
            </a:r>
            <a:endParaRPr lang="en-US" sz="900" dirty="0"/>
          </a:p>
        </p:txBody>
      </p:sp>
      <p:sp>
        <p:nvSpPr>
          <p:cNvPr id="9" name="Shape 7"/>
          <p:cNvSpPr/>
          <p:nvPr/>
        </p:nvSpPr>
        <p:spPr>
          <a:xfrm>
            <a:off x="1417320" y="3589020"/>
            <a:ext cx="4892040" cy="0"/>
          </a:xfrm>
          <a:prstGeom prst="line">
            <a:avLst/>
          </a:prstGeom>
          <a:noFill/>
          <a:ln w="6350">
            <a:solidFill>
              <a:srgbClr val="EEF1F4"/>
            </a:solidFill>
            <a:prstDash val="solid"/>
          </a:ln>
        </p:spPr>
      </p:sp>
      <p:sp>
        <p:nvSpPr>
          <p:cNvPr id="10" name="Text 8"/>
          <p:cNvSpPr/>
          <p:nvPr/>
        </p:nvSpPr>
        <p:spPr>
          <a:xfrm>
            <a:off x="731520" y="4782312"/>
            <a:ext cx="502920" cy="219456"/>
          </a:xfrm>
          <a:prstGeom prst="rect">
            <a:avLst/>
          </a:prstGeom>
          <a:noFill/>
          <a:ln/>
        </p:spPr>
        <p:txBody>
          <a:bodyPr wrap="square" lIns="0" tIns="0" rIns="0" bIns="0" rtlCol="0" anchor="ctr"/>
          <a:lstStyle/>
          <a:p>
            <a:pPr algn="r" indent="0" marL="0">
              <a:buNone/>
            </a:pPr>
            <a:r>
              <a:rPr lang="en-US" sz="900" dirty="0">
                <a:solidFill>
                  <a:srgbClr val="8A929B"/>
                </a:solidFill>
                <a:latin typeface="Segoe UI" pitchFamily="34" charset="0"/>
                <a:ea typeface="Segoe UI" pitchFamily="34" charset="-122"/>
                <a:cs typeface="Segoe UI" pitchFamily="34" charset="-120"/>
              </a:rPr>
              <a:t>0</a:t>
            </a:r>
            <a:endParaRPr lang="en-US" sz="900" dirty="0"/>
          </a:p>
        </p:txBody>
      </p:sp>
      <p:sp>
        <p:nvSpPr>
          <p:cNvPr id="11" name="Shape 9"/>
          <p:cNvSpPr/>
          <p:nvPr/>
        </p:nvSpPr>
        <p:spPr>
          <a:xfrm>
            <a:off x="1417320" y="2598725"/>
            <a:ext cx="941832" cy="234544"/>
          </a:xfrm>
          <a:prstGeom prst="line">
            <a:avLst/>
          </a:prstGeom>
          <a:noFill/>
          <a:ln w="31750">
            <a:solidFill>
              <a:srgbClr val="8A2433"/>
            </a:solidFill>
            <a:prstDash val="solid"/>
          </a:ln>
        </p:spPr>
      </p:sp>
      <p:sp>
        <p:nvSpPr>
          <p:cNvPr id="12" name="Shape 10"/>
          <p:cNvSpPr/>
          <p:nvPr/>
        </p:nvSpPr>
        <p:spPr>
          <a:xfrm>
            <a:off x="2359152" y="2833268"/>
            <a:ext cx="941832" cy="234544"/>
          </a:xfrm>
          <a:prstGeom prst="line">
            <a:avLst/>
          </a:prstGeom>
          <a:noFill/>
          <a:ln w="31750">
            <a:solidFill>
              <a:srgbClr val="8A2433"/>
            </a:solidFill>
            <a:prstDash val="solid"/>
          </a:ln>
        </p:spPr>
      </p:sp>
      <p:sp>
        <p:nvSpPr>
          <p:cNvPr id="13" name="Shape 11"/>
          <p:cNvSpPr/>
          <p:nvPr/>
        </p:nvSpPr>
        <p:spPr>
          <a:xfrm>
            <a:off x="3300984" y="3067812"/>
            <a:ext cx="941832" cy="208483"/>
          </a:xfrm>
          <a:prstGeom prst="line">
            <a:avLst/>
          </a:prstGeom>
          <a:noFill/>
          <a:ln w="31750">
            <a:solidFill>
              <a:srgbClr val="8A2433"/>
            </a:solidFill>
            <a:prstDash val="solid"/>
          </a:ln>
        </p:spPr>
      </p:sp>
      <p:sp>
        <p:nvSpPr>
          <p:cNvPr id="14" name="Shape 12"/>
          <p:cNvSpPr/>
          <p:nvPr/>
        </p:nvSpPr>
        <p:spPr>
          <a:xfrm>
            <a:off x="4242816" y="3276295"/>
            <a:ext cx="941832" cy="182423"/>
          </a:xfrm>
          <a:prstGeom prst="line">
            <a:avLst/>
          </a:prstGeom>
          <a:noFill/>
          <a:ln w="31750">
            <a:solidFill>
              <a:srgbClr val="8A2433"/>
            </a:solidFill>
            <a:prstDash val="solid"/>
          </a:ln>
        </p:spPr>
      </p:sp>
      <p:sp>
        <p:nvSpPr>
          <p:cNvPr id="15" name="Shape 13"/>
          <p:cNvSpPr/>
          <p:nvPr/>
        </p:nvSpPr>
        <p:spPr>
          <a:xfrm>
            <a:off x="5184648" y="3458718"/>
            <a:ext cx="941832" cy="130302"/>
          </a:xfrm>
          <a:prstGeom prst="line">
            <a:avLst/>
          </a:prstGeom>
          <a:noFill/>
          <a:ln w="31750">
            <a:solidFill>
              <a:srgbClr val="8A2433"/>
            </a:solidFill>
            <a:prstDash val="solid"/>
          </a:ln>
        </p:spPr>
      </p:sp>
      <p:sp>
        <p:nvSpPr>
          <p:cNvPr id="16" name="Shape 14"/>
          <p:cNvSpPr/>
          <p:nvPr/>
        </p:nvSpPr>
        <p:spPr>
          <a:xfrm>
            <a:off x="1357884" y="2539289"/>
            <a:ext cx="118872" cy="118872"/>
          </a:xfrm>
          <a:prstGeom prst="ellipse">
            <a:avLst/>
          </a:prstGeom>
          <a:solidFill>
            <a:srgbClr val="8A2433"/>
          </a:solidFill>
          <a:ln w="12700">
            <a:solidFill>
              <a:srgbClr val="FFFFFF"/>
            </a:solidFill>
            <a:prstDash val="solid"/>
          </a:ln>
        </p:spPr>
      </p:sp>
      <p:sp>
        <p:nvSpPr>
          <p:cNvPr id="17" name="Text 15"/>
          <p:cNvSpPr/>
          <p:nvPr/>
        </p:nvSpPr>
        <p:spPr>
          <a:xfrm>
            <a:off x="1124712" y="4946904"/>
            <a:ext cx="585216" cy="201168"/>
          </a:xfrm>
          <a:prstGeom prst="rect">
            <a:avLst/>
          </a:prstGeom>
          <a:noFill/>
          <a:ln/>
        </p:spPr>
        <p:txBody>
          <a:bodyPr wrap="square" lIns="0" tIns="0" rIns="0" bIns="0" rtlCol="0" anchor="ctr"/>
          <a:lstStyle/>
          <a:p>
            <a:pPr algn="ctr" indent="0" marL="0">
              <a:buNone/>
            </a:pPr>
            <a:r>
              <a:rPr lang="en-US" sz="900" dirty="0">
                <a:solidFill>
                  <a:srgbClr val="8A929B"/>
                </a:solidFill>
                <a:latin typeface="Segoe UI" pitchFamily="34" charset="0"/>
                <a:ea typeface="Segoe UI" pitchFamily="34" charset="-122"/>
                <a:cs typeface="Segoe UI" pitchFamily="34" charset="-120"/>
              </a:rPr>
              <a:t>N=3</a:t>
            </a:r>
            <a:endParaRPr lang="en-US" sz="900" dirty="0"/>
          </a:p>
        </p:txBody>
      </p:sp>
      <p:sp>
        <p:nvSpPr>
          <p:cNvPr id="18" name="Shape 16"/>
          <p:cNvSpPr/>
          <p:nvPr/>
        </p:nvSpPr>
        <p:spPr>
          <a:xfrm>
            <a:off x="2299716" y="2773832"/>
            <a:ext cx="118872" cy="118872"/>
          </a:xfrm>
          <a:prstGeom prst="ellipse">
            <a:avLst/>
          </a:prstGeom>
          <a:solidFill>
            <a:srgbClr val="8A2433"/>
          </a:solidFill>
          <a:ln w="12700">
            <a:solidFill>
              <a:srgbClr val="FFFFFF"/>
            </a:solidFill>
            <a:prstDash val="solid"/>
          </a:ln>
        </p:spPr>
      </p:sp>
      <p:sp>
        <p:nvSpPr>
          <p:cNvPr id="19" name="Text 17"/>
          <p:cNvSpPr/>
          <p:nvPr/>
        </p:nvSpPr>
        <p:spPr>
          <a:xfrm>
            <a:off x="2066544" y="4946904"/>
            <a:ext cx="585216" cy="201168"/>
          </a:xfrm>
          <a:prstGeom prst="rect">
            <a:avLst/>
          </a:prstGeom>
          <a:noFill/>
          <a:ln/>
        </p:spPr>
        <p:txBody>
          <a:bodyPr wrap="square" lIns="0" tIns="0" rIns="0" bIns="0" rtlCol="0" anchor="ctr"/>
          <a:lstStyle/>
          <a:p>
            <a:pPr algn="ctr" indent="0" marL="0">
              <a:buNone/>
            </a:pPr>
            <a:r>
              <a:rPr lang="en-US" sz="900" dirty="0">
                <a:solidFill>
                  <a:srgbClr val="8A929B"/>
                </a:solidFill>
                <a:latin typeface="Segoe UI" pitchFamily="34" charset="0"/>
                <a:ea typeface="Segoe UI" pitchFamily="34" charset="-122"/>
                <a:cs typeface="Segoe UI" pitchFamily="34" charset="-120"/>
              </a:rPr>
              <a:t>N=4</a:t>
            </a:r>
            <a:endParaRPr lang="en-US" sz="900" dirty="0"/>
          </a:p>
        </p:txBody>
      </p:sp>
      <p:sp>
        <p:nvSpPr>
          <p:cNvPr id="20" name="Shape 18"/>
          <p:cNvSpPr/>
          <p:nvPr/>
        </p:nvSpPr>
        <p:spPr>
          <a:xfrm>
            <a:off x="3241548" y="3008376"/>
            <a:ext cx="118872" cy="118872"/>
          </a:xfrm>
          <a:prstGeom prst="ellipse">
            <a:avLst/>
          </a:prstGeom>
          <a:solidFill>
            <a:srgbClr val="8A2433"/>
          </a:solidFill>
          <a:ln w="12700">
            <a:solidFill>
              <a:srgbClr val="FFFFFF"/>
            </a:solidFill>
            <a:prstDash val="solid"/>
          </a:ln>
        </p:spPr>
      </p:sp>
      <p:sp>
        <p:nvSpPr>
          <p:cNvPr id="21" name="Text 19"/>
          <p:cNvSpPr/>
          <p:nvPr/>
        </p:nvSpPr>
        <p:spPr>
          <a:xfrm>
            <a:off x="3008376" y="4946904"/>
            <a:ext cx="585216" cy="201168"/>
          </a:xfrm>
          <a:prstGeom prst="rect">
            <a:avLst/>
          </a:prstGeom>
          <a:noFill/>
          <a:ln/>
        </p:spPr>
        <p:txBody>
          <a:bodyPr wrap="square" lIns="0" tIns="0" rIns="0" bIns="0" rtlCol="0" anchor="ctr"/>
          <a:lstStyle/>
          <a:p>
            <a:pPr algn="ctr" indent="0" marL="0">
              <a:buNone/>
            </a:pPr>
            <a:r>
              <a:rPr lang="en-US" sz="900" dirty="0">
                <a:solidFill>
                  <a:srgbClr val="8A929B"/>
                </a:solidFill>
                <a:latin typeface="Segoe UI" pitchFamily="34" charset="0"/>
                <a:ea typeface="Segoe UI" pitchFamily="34" charset="-122"/>
                <a:cs typeface="Segoe UI" pitchFamily="34" charset="-120"/>
              </a:rPr>
              <a:t>N=5</a:t>
            </a:r>
            <a:endParaRPr lang="en-US" sz="900" dirty="0"/>
          </a:p>
        </p:txBody>
      </p:sp>
      <p:sp>
        <p:nvSpPr>
          <p:cNvPr id="22" name="Shape 20"/>
          <p:cNvSpPr/>
          <p:nvPr/>
        </p:nvSpPr>
        <p:spPr>
          <a:xfrm>
            <a:off x="4183380" y="3216859"/>
            <a:ext cx="118872" cy="118872"/>
          </a:xfrm>
          <a:prstGeom prst="ellipse">
            <a:avLst/>
          </a:prstGeom>
          <a:solidFill>
            <a:srgbClr val="8A2433"/>
          </a:solidFill>
          <a:ln w="12700">
            <a:solidFill>
              <a:srgbClr val="FFFFFF"/>
            </a:solidFill>
            <a:prstDash val="solid"/>
          </a:ln>
        </p:spPr>
      </p:sp>
      <p:sp>
        <p:nvSpPr>
          <p:cNvPr id="23" name="Text 21"/>
          <p:cNvSpPr/>
          <p:nvPr/>
        </p:nvSpPr>
        <p:spPr>
          <a:xfrm>
            <a:off x="3950208" y="4946904"/>
            <a:ext cx="585216" cy="201168"/>
          </a:xfrm>
          <a:prstGeom prst="rect">
            <a:avLst/>
          </a:prstGeom>
          <a:noFill/>
          <a:ln/>
        </p:spPr>
        <p:txBody>
          <a:bodyPr wrap="square" lIns="0" tIns="0" rIns="0" bIns="0" rtlCol="0" anchor="ctr"/>
          <a:lstStyle/>
          <a:p>
            <a:pPr algn="ctr" indent="0" marL="0">
              <a:buNone/>
            </a:pPr>
            <a:r>
              <a:rPr lang="en-US" sz="900" dirty="0">
                <a:solidFill>
                  <a:srgbClr val="8A929B"/>
                </a:solidFill>
                <a:latin typeface="Segoe UI" pitchFamily="34" charset="0"/>
                <a:ea typeface="Segoe UI" pitchFamily="34" charset="-122"/>
                <a:cs typeface="Segoe UI" pitchFamily="34" charset="-120"/>
              </a:rPr>
              <a:t>N=6</a:t>
            </a:r>
            <a:endParaRPr lang="en-US" sz="900" dirty="0"/>
          </a:p>
        </p:txBody>
      </p:sp>
      <p:sp>
        <p:nvSpPr>
          <p:cNvPr id="24" name="Shape 22"/>
          <p:cNvSpPr/>
          <p:nvPr/>
        </p:nvSpPr>
        <p:spPr>
          <a:xfrm>
            <a:off x="5125212" y="3399282"/>
            <a:ext cx="118872" cy="118872"/>
          </a:xfrm>
          <a:prstGeom prst="ellipse">
            <a:avLst/>
          </a:prstGeom>
          <a:solidFill>
            <a:srgbClr val="8A2433"/>
          </a:solidFill>
          <a:ln w="12700">
            <a:solidFill>
              <a:srgbClr val="FFFFFF"/>
            </a:solidFill>
            <a:prstDash val="solid"/>
          </a:ln>
        </p:spPr>
      </p:sp>
      <p:sp>
        <p:nvSpPr>
          <p:cNvPr id="25" name="Text 23"/>
          <p:cNvSpPr/>
          <p:nvPr/>
        </p:nvSpPr>
        <p:spPr>
          <a:xfrm>
            <a:off x="4892040" y="4946904"/>
            <a:ext cx="585216" cy="201168"/>
          </a:xfrm>
          <a:prstGeom prst="rect">
            <a:avLst/>
          </a:prstGeom>
          <a:noFill/>
          <a:ln/>
        </p:spPr>
        <p:txBody>
          <a:bodyPr wrap="square" lIns="0" tIns="0" rIns="0" bIns="0" rtlCol="0" anchor="ctr"/>
          <a:lstStyle/>
          <a:p>
            <a:pPr algn="ctr" indent="0" marL="0">
              <a:buNone/>
            </a:pPr>
            <a:r>
              <a:rPr lang="en-US" sz="900" dirty="0">
                <a:solidFill>
                  <a:srgbClr val="8A929B"/>
                </a:solidFill>
                <a:latin typeface="Segoe UI" pitchFamily="34" charset="0"/>
                <a:ea typeface="Segoe UI" pitchFamily="34" charset="-122"/>
                <a:cs typeface="Segoe UI" pitchFamily="34" charset="-120"/>
              </a:rPr>
              <a:t>N=7</a:t>
            </a:r>
            <a:endParaRPr lang="en-US" sz="900" dirty="0"/>
          </a:p>
        </p:txBody>
      </p:sp>
      <p:sp>
        <p:nvSpPr>
          <p:cNvPr id="26" name="Shape 24"/>
          <p:cNvSpPr/>
          <p:nvPr/>
        </p:nvSpPr>
        <p:spPr>
          <a:xfrm>
            <a:off x="6067044" y="3529584"/>
            <a:ext cx="118872" cy="118872"/>
          </a:xfrm>
          <a:prstGeom prst="ellipse">
            <a:avLst/>
          </a:prstGeom>
          <a:solidFill>
            <a:srgbClr val="8A2433"/>
          </a:solidFill>
          <a:ln w="12700">
            <a:solidFill>
              <a:srgbClr val="FFFFFF"/>
            </a:solidFill>
            <a:prstDash val="solid"/>
          </a:ln>
        </p:spPr>
      </p:sp>
      <p:sp>
        <p:nvSpPr>
          <p:cNvPr id="27" name="Text 25"/>
          <p:cNvSpPr/>
          <p:nvPr/>
        </p:nvSpPr>
        <p:spPr>
          <a:xfrm>
            <a:off x="5833872" y="4946904"/>
            <a:ext cx="585216" cy="201168"/>
          </a:xfrm>
          <a:prstGeom prst="rect">
            <a:avLst/>
          </a:prstGeom>
          <a:noFill/>
          <a:ln/>
        </p:spPr>
        <p:txBody>
          <a:bodyPr wrap="square" lIns="0" tIns="0" rIns="0" bIns="0" rtlCol="0" anchor="ctr"/>
          <a:lstStyle/>
          <a:p>
            <a:pPr algn="ctr" indent="0" marL="0">
              <a:buNone/>
            </a:pPr>
            <a:r>
              <a:rPr lang="en-US" sz="900" dirty="0">
                <a:solidFill>
                  <a:srgbClr val="8A929B"/>
                </a:solidFill>
                <a:latin typeface="Segoe UI" pitchFamily="34" charset="0"/>
                <a:ea typeface="Segoe UI" pitchFamily="34" charset="-122"/>
                <a:cs typeface="Segoe UI" pitchFamily="34" charset="-120"/>
              </a:rPr>
              <a:t>N=8</a:t>
            </a:r>
            <a:endParaRPr lang="en-US" sz="900" dirty="0"/>
          </a:p>
        </p:txBody>
      </p:sp>
      <p:sp>
        <p:nvSpPr>
          <p:cNvPr id="28" name="Shape 26"/>
          <p:cNvSpPr/>
          <p:nvPr/>
        </p:nvSpPr>
        <p:spPr>
          <a:xfrm>
            <a:off x="1417320" y="4787798"/>
            <a:ext cx="4709160" cy="0"/>
          </a:xfrm>
          <a:prstGeom prst="line">
            <a:avLst/>
          </a:prstGeom>
          <a:noFill/>
          <a:ln w="19050">
            <a:solidFill>
              <a:srgbClr val="9AA3AC"/>
            </a:solidFill>
            <a:prstDash val="dash"/>
          </a:ln>
        </p:spPr>
      </p:sp>
      <p:sp>
        <p:nvSpPr>
          <p:cNvPr id="29" name="Text 27"/>
          <p:cNvSpPr/>
          <p:nvPr/>
        </p:nvSpPr>
        <p:spPr>
          <a:xfrm>
            <a:off x="3118104" y="2756916"/>
            <a:ext cx="2377440" cy="219456"/>
          </a:xfrm>
          <a:prstGeom prst="rect">
            <a:avLst/>
          </a:prstGeom>
          <a:noFill/>
          <a:ln/>
        </p:spPr>
        <p:txBody>
          <a:bodyPr wrap="square" lIns="0" tIns="0" rIns="0" bIns="0" rtlCol="0" anchor="ctr"/>
          <a:lstStyle/>
          <a:p>
            <a:pPr indent="0" marL="0">
              <a:buNone/>
            </a:pPr>
            <a:r>
              <a:rPr lang="en-US" sz="1050" b="1" dirty="0">
                <a:solidFill>
                  <a:srgbClr val="8A2433"/>
                </a:solidFill>
                <a:latin typeface="Segoe UI" pitchFamily="34" charset="0"/>
                <a:ea typeface="Segoe UI" pitchFamily="34" charset="-122"/>
                <a:cs typeface="Segoe UI" pitchFamily="34" charset="-120"/>
              </a:rPr>
              <a:t>SELF-ORDER (máy tự xếp)</a:t>
            </a:r>
            <a:endParaRPr lang="en-US" sz="1050" dirty="0"/>
          </a:p>
        </p:txBody>
      </p:sp>
      <p:sp>
        <p:nvSpPr>
          <p:cNvPr id="30" name="Text 28"/>
          <p:cNvSpPr/>
          <p:nvPr/>
        </p:nvSpPr>
        <p:spPr>
          <a:xfrm>
            <a:off x="4343400" y="4550054"/>
            <a:ext cx="1783080" cy="201168"/>
          </a:xfrm>
          <a:prstGeom prst="rect">
            <a:avLst/>
          </a:prstGeom>
          <a:noFill/>
          <a:ln/>
        </p:spPr>
        <p:txBody>
          <a:bodyPr wrap="square" lIns="0" tIns="0" rIns="0" bIns="0" rtlCol="0" anchor="ctr"/>
          <a:lstStyle/>
          <a:p>
            <a:pPr algn="r" indent="0" marL="0">
              <a:buNone/>
            </a:pPr>
            <a:r>
              <a:rPr lang="en-US" sz="950" i="1" dirty="0">
                <a:solidFill>
                  <a:srgbClr val="8A929B"/>
                </a:solidFill>
                <a:latin typeface="Segoe UI" pitchFamily="34" charset="0"/>
                <a:ea typeface="Segoe UI" pitchFamily="34" charset="-122"/>
                <a:cs typeface="Segoe UI" pitchFamily="34" charset="-120"/>
              </a:rPr>
              <a:t>RANDOM ≈ 0 (xếp bừa)</a:t>
            </a:r>
            <a:endParaRPr lang="en-US" sz="950" dirty="0"/>
          </a:p>
        </p:txBody>
      </p:sp>
      <p:sp>
        <p:nvSpPr>
          <p:cNvPr id="31" name="Text 29"/>
          <p:cNvSpPr/>
          <p:nvPr/>
        </p:nvSpPr>
        <p:spPr>
          <a:xfrm>
            <a:off x="731520" y="5257800"/>
            <a:ext cx="6035040" cy="274320"/>
          </a:xfrm>
          <a:prstGeom prst="rect">
            <a:avLst/>
          </a:prstGeom>
          <a:noFill/>
          <a:ln/>
        </p:spPr>
        <p:txBody>
          <a:bodyPr wrap="square" lIns="0" tIns="0" rIns="0" bIns="0" rtlCol="0" anchor="ctr"/>
          <a:lstStyle/>
          <a:p>
            <a:pPr indent="0" marL="0">
              <a:buNone/>
            </a:pPr>
            <a:r>
              <a:rPr lang="en-US" sz="1100" i="1" dirty="0">
                <a:solidFill>
                  <a:srgbClr val="8A929B"/>
                </a:solidFill>
                <a:latin typeface="Segoe UI" pitchFamily="34" charset="0"/>
                <a:ea typeface="Segoe UI" pitchFamily="34" charset="-122"/>
                <a:cs typeface="Segoe UI" pitchFamily="34" charset="-120"/>
              </a:rPr>
              <a:t>Kendall τ-b theo độ dài N (minh hoạ): càng nhiều màn càng khó.</a:t>
            </a:r>
            <a:endParaRPr lang="en-US" sz="1100" dirty="0"/>
          </a:p>
        </p:txBody>
      </p:sp>
      <p:sp>
        <p:nvSpPr>
          <p:cNvPr id="32" name="Shape 30"/>
          <p:cNvSpPr/>
          <p:nvPr/>
        </p:nvSpPr>
        <p:spPr>
          <a:xfrm>
            <a:off x="7178040" y="1874520"/>
            <a:ext cx="45720" cy="1005840"/>
          </a:xfrm>
          <a:prstGeom prst="rect">
            <a:avLst/>
          </a:prstGeom>
          <a:solidFill>
            <a:srgbClr val="8A2433"/>
          </a:solidFill>
          <a:ln/>
        </p:spPr>
      </p:sp>
      <p:sp>
        <p:nvSpPr>
          <p:cNvPr id="33" name="Text 31"/>
          <p:cNvSpPr/>
          <p:nvPr/>
        </p:nvSpPr>
        <p:spPr>
          <a:xfrm>
            <a:off x="7406640" y="1874520"/>
            <a:ext cx="4023360" cy="292608"/>
          </a:xfrm>
          <a:prstGeom prst="rect">
            <a:avLst/>
          </a:prstGeom>
          <a:noFill/>
          <a:ln/>
        </p:spPr>
        <p:txBody>
          <a:bodyPr wrap="square" lIns="0" tIns="0" rIns="0" bIns="0" rtlCol="0" anchor="ctr"/>
          <a:lstStyle/>
          <a:p>
            <a:pPr indent="0" marL="0">
              <a:buNone/>
            </a:pPr>
            <a:r>
              <a:rPr lang="en-US" sz="1500" b="1" dirty="0">
                <a:solidFill>
                  <a:srgbClr val="8A2433"/>
                </a:solidFill>
                <a:latin typeface="Cambria" pitchFamily="34" charset="0"/>
                <a:ea typeface="Cambria" pitchFamily="34" charset="-122"/>
                <a:cs typeface="Cambria" pitchFamily="34" charset="-120"/>
              </a:rPr>
              <a:t>Headline = Kendall τ-b</a:t>
            </a:r>
            <a:endParaRPr lang="en-US" sz="1500" dirty="0"/>
          </a:p>
        </p:txBody>
      </p:sp>
      <p:sp>
        <p:nvSpPr>
          <p:cNvPr id="34" name="Text 32"/>
          <p:cNvSpPr/>
          <p:nvPr/>
        </p:nvSpPr>
        <p:spPr>
          <a:xfrm>
            <a:off x="7406640" y="2212848"/>
            <a:ext cx="4023360" cy="914400"/>
          </a:xfrm>
          <a:prstGeom prst="rect">
            <a:avLst/>
          </a:prstGeom>
          <a:noFill/>
          <a:ln/>
        </p:spPr>
        <p:txBody>
          <a:bodyPr wrap="square" lIns="0" tIns="0" rIns="0" bIns="0" rtlCol="0" anchor="ctr"/>
          <a:lstStyle/>
          <a:p>
            <a:pPr indent="0" marL="0">
              <a:lnSpc>
                <a:spcPct val="110000"/>
              </a:lnSpc>
              <a:buNone/>
            </a:pPr>
            <a:r>
              <a:rPr lang="en-US" sz="1300" dirty="0">
                <a:solidFill>
                  <a:srgbClr val="3C434B"/>
                </a:solidFill>
                <a:latin typeface="Segoe UI" pitchFamily="34" charset="0"/>
                <a:ea typeface="Segoe UI" pitchFamily="34" charset="-122"/>
                <a:cs typeface="Segoe UI" pitchFamily="34" charset="-120"/>
              </a:rPr>
              <a:t>Chấm partial-order-aware (chỉ phạt cặp bắt buộc). Phụ: pairwise + position-acc. Bỏ Exact-Match (N=3 trúng bừa ~17%).</a:t>
            </a:r>
            <a:endParaRPr lang="en-US" sz="1300" dirty="0"/>
          </a:p>
        </p:txBody>
      </p:sp>
      <p:sp>
        <p:nvSpPr>
          <p:cNvPr id="35" name="Shape 33"/>
          <p:cNvSpPr/>
          <p:nvPr/>
        </p:nvSpPr>
        <p:spPr>
          <a:xfrm>
            <a:off x="7178040" y="3383280"/>
            <a:ext cx="45720" cy="1554480"/>
          </a:xfrm>
          <a:prstGeom prst="rect">
            <a:avLst/>
          </a:prstGeom>
          <a:solidFill>
            <a:srgbClr val="5B6B7A"/>
          </a:solidFill>
          <a:ln/>
        </p:spPr>
      </p:sp>
      <p:sp>
        <p:nvSpPr>
          <p:cNvPr id="36" name="Text 34"/>
          <p:cNvSpPr/>
          <p:nvPr/>
        </p:nvSpPr>
        <p:spPr>
          <a:xfrm>
            <a:off x="7406640" y="3383280"/>
            <a:ext cx="4023360" cy="457200"/>
          </a:xfrm>
          <a:prstGeom prst="rect">
            <a:avLst/>
          </a:prstGeom>
          <a:noFill/>
          <a:ln/>
        </p:spPr>
        <p:txBody>
          <a:bodyPr wrap="square" lIns="0" tIns="0" rIns="0" bIns="0" rtlCol="0" anchor="ctr"/>
          <a:lstStyle/>
          <a:p>
            <a:pPr indent="0" marL="0">
              <a:lnSpc>
                <a:spcPct val="100000"/>
              </a:lnSpc>
              <a:buNone/>
            </a:pPr>
            <a:r>
              <a:rPr lang="en-US" sz="1500" b="1" dirty="0">
                <a:solidFill>
                  <a:srgbClr val="1C2530"/>
                </a:solidFill>
                <a:latin typeface="Cambria" pitchFamily="34" charset="0"/>
                <a:ea typeface="Cambria" pitchFamily="34" charset="-122"/>
                <a:cs typeface="Cambria" pitchFamily="34" charset="-120"/>
              </a:rPr>
              <a:t>Tier A — tham chiếu chuẩn ngành</a:t>
            </a:r>
            <a:endParaRPr lang="en-US" sz="1500" dirty="0"/>
          </a:p>
        </p:txBody>
      </p:sp>
      <p:sp>
        <p:nvSpPr>
          <p:cNvPr id="37" name="Text 35"/>
          <p:cNvSpPr/>
          <p:nvPr/>
        </p:nvSpPr>
        <p:spPr>
          <a:xfrm>
            <a:off x="7406640" y="3822192"/>
            <a:ext cx="4023360" cy="1188720"/>
          </a:xfrm>
          <a:prstGeom prst="rect">
            <a:avLst/>
          </a:prstGeom>
          <a:noFill/>
          <a:ln/>
        </p:spPr>
        <p:txBody>
          <a:bodyPr wrap="square" lIns="0" tIns="0" rIns="0" bIns="0" rtlCol="0" anchor="ctr"/>
          <a:lstStyle/>
          <a:p>
            <a:pPr indent="0" marL="0">
              <a:lnSpc>
                <a:spcPct val="110000"/>
              </a:lnSpc>
              <a:buNone/>
            </a:pPr>
            <a:r>
              <a:rPr lang="en-US" sz="1300" dirty="0">
                <a:solidFill>
                  <a:srgbClr val="3C434B"/>
                </a:solidFill>
                <a:latin typeface="Segoe UI" pitchFamily="34" charset="0"/>
                <a:ea typeface="Segoe UI" pitchFamily="34" charset="-122"/>
                <a:cs typeface="Segoe UI" pitchFamily="34" charset="-120"/>
              </a:rPr>
              <a:t>Đưa màn THẬT mỗi bước rồi chấm Action-Type / Grounding@14% / Step-SR. Giữ làm mốc đối sánh — KHÔNG còn là “đa bước chính”, KHÔNG claim ngang leaderboard.</a:t>
            </a:r>
            <a:endParaRPr lang="en-US" sz="1300" dirty="0"/>
          </a:p>
        </p:txBody>
      </p:sp>
      <p:sp>
        <p:nvSpPr>
          <p:cNvPr id="38" name="Text 36"/>
          <p:cNvSpPr/>
          <p:nvPr/>
        </p:nvSpPr>
        <p:spPr>
          <a:xfrm>
            <a:off x="731520" y="5806440"/>
            <a:ext cx="10725912" cy="457200"/>
          </a:xfrm>
          <a:prstGeom prst="rect">
            <a:avLst/>
          </a:prstGeom>
          <a:noFill/>
          <a:ln/>
        </p:spPr>
        <p:txBody>
          <a:bodyPr wrap="square" lIns="0" tIns="0" rIns="0" bIns="0" rtlCol="0" anchor="ctr"/>
          <a:lstStyle/>
          <a:p>
            <a:pPr indent="0" marL="0">
              <a:lnSpc>
                <a:spcPct val="105000"/>
              </a:lnSpc>
              <a:buNone/>
            </a:pPr>
            <a:r>
              <a:rPr lang="en-US" sz="1300" i="1" dirty="0">
                <a:solidFill>
                  <a:srgbClr val="8A929B"/>
                </a:solidFill>
                <a:latin typeface="Segoe UI" pitchFamily="34" charset="0"/>
                <a:ea typeface="Segoe UI" pitchFamily="34" charset="-122"/>
                <a:cs typeface="Segoe UI" pitchFamily="34" charset="-120"/>
              </a:rPr>
              <a:t>ORACLE-ORDER (ảnh đã sắp đúng) là cận-trên của trục thứ tự; ordering gap = ORACLE − SELF.</a:t>
            </a:r>
            <a:endParaRPr lang="en-US" sz="1300" dirty="0"/>
          </a:p>
        </p:txBody>
      </p:sp>
      <p:sp>
        <p:nvSpPr>
          <p:cNvPr id="39" name="Text 37"/>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CĂN CỨ</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Thước đo đều có nguồn bình duyệt (gồm paper của thầy)</a:t>
            </a:r>
            <a:endParaRPr lang="en-US" sz="2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10725912" cy="914400"/>
        </p:xfrm>
        <a:graphic>
          <a:graphicData uri="http://schemas.openxmlformats.org/drawingml/2006/table">
            <a:tbl>
              <a:tblPr/>
              <a:tblGrid>
                <a:gridCol w="2743200"/>
                <a:gridCol w="3840480"/>
                <a:gridCol w="4142232"/>
              </a:tblGrid>
              <a:tr h="502920">
                <a:tc>
                  <a:txBody>
                    <a:bodyPr/>
                    <a:lstStyle/>
                    <a:p>
                      <a:pPr algn="l" indent="0" marL="0">
                        <a:buNone/>
                      </a:pPr>
                      <a:r>
                        <a:rPr lang="en-US" sz="1300" b="1" dirty="0">
                          <a:solidFill>
                            <a:srgbClr val="1C2530"/>
                          </a:solidFill>
                          <a:latin typeface="Segoe UI" pitchFamily="34" charset="0"/>
                          <a:ea typeface="Segoe UI" pitchFamily="34" charset="-122"/>
                          <a:cs typeface="Segoe UI" pitchFamily="34" charset="-120"/>
                        </a:rPr>
                        <a:t>Tiêu chí</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solidFill>
                      <a:srgbClr val="F4F6F8"/>
                    </a:solidFill>
                  </a:tcPr>
                </a:tc>
                <a:tc>
                  <a:txBody>
                    <a:bodyPr/>
                    <a:lstStyle/>
                    <a:p>
                      <a:pPr algn="l" indent="0" marL="0">
                        <a:buNone/>
                      </a:pPr>
                      <a:r>
                        <a:rPr lang="en-US" sz="1300" b="1" dirty="0">
                          <a:solidFill>
                            <a:srgbClr val="1C2530"/>
                          </a:solidFill>
                          <a:latin typeface="Segoe UI" pitchFamily="34" charset="0"/>
                          <a:ea typeface="Segoe UI" pitchFamily="34" charset="-122"/>
                          <a:cs typeface="Segoe UI" pitchFamily="34" charset="-120"/>
                        </a:rPr>
                        <a:t>Thước đo</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solidFill>
                      <a:srgbClr val="F4F6F8"/>
                    </a:solidFill>
                  </a:tcPr>
                </a:tc>
                <a:tc>
                  <a:txBody>
                    <a:bodyPr/>
                    <a:lstStyle/>
                    <a:p>
                      <a:pPr algn="l" indent="0" marL="0">
                        <a:buNone/>
                      </a:pPr>
                      <a:r>
                        <a:rPr lang="en-US" sz="1300" b="1" dirty="0">
                          <a:solidFill>
                            <a:srgbClr val="1C2530"/>
                          </a:solidFill>
                          <a:latin typeface="Segoe UI" pitchFamily="34" charset="0"/>
                          <a:ea typeface="Segoe UI" pitchFamily="34" charset="-122"/>
                          <a:cs typeface="Segoe UI" pitchFamily="34" charset="-120"/>
                        </a:rPr>
                        <a:t>Nguồn</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solidFill>
                      <a:srgbClr val="F4F6F8"/>
                    </a:solidFill>
                  </a:tcPr>
                </a:tc>
              </a:tr>
              <a:tr h="502920">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Khung gốc (paper thầy)</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Intrinsic / Extrinsic</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Computational Linguistics 2025 (tạp chí)</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r>
              <a:tr h="502920">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Grounding</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Point-in-BBox</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ACL 2024 (SeeClick)</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r>
              <a:tr h="502920">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Hallucination</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HER + ALOHa</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EMNLP 2018 · NAACL 2024</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r>
              <a:tr h="502920">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Clarity / Format</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IFEval + G-Eval</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EMNLP 2023</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r>
              <a:tr h="502920">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Thứ tự màn (ĐG2)</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Kendall τ-b + ordering gap</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Kendall 1938 · Gao et al. NAACL 2025</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r>
              <a:tr h="502920">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Tham chiếu (Tier A)</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Action-Type / Grounding@14% / Step-SR</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300" dirty="0">
                          <a:solidFill>
                            <a:srgbClr val="3C434B"/>
                          </a:solidFill>
                          <a:latin typeface="Segoe UI" pitchFamily="34" charset="0"/>
                          <a:ea typeface="Segoe UI" pitchFamily="34" charset="-122"/>
                          <a:cs typeface="Segoe UI" pitchFamily="34" charset="-120"/>
                        </a:rPr>
                        <a:t>NeurIPS 2024 · ngưỡng 14% từ AITW</a:t>
                      </a:r>
                      <a:endParaRPr lang="en-US" sz="130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r>
            </a:tbl>
          </a:graphicData>
        </a:graphic>
      </p:graphicFrame>
      <p:sp>
        <p:nvSpPr>
          <p:cNvPr id="5" name="Text 2"/>
          <p:cNvSpPr/>
          <p:nvPr/>
        </p:nvSpPr>
        <p:spPr>
          <a:xfrm>
            <a:off x="731520" y="5852160"/>
            <a:ext cx="10725912" cy="457200"/>
          </a:xfrm>
          <a:prstGeom prst="rect">
            <a:avLst/>
          </a:prstGeom>
          <a:noFill/>
          <a:ln/>
        </p:spPr>
        <p:txBody>
          <a:bodyPr wrap="square" lIns="0" tIns="0" rIns="0" bIns="0" rtlCol="0" anchor="ctr"/>
          <a:lstStyle/>
          <a:p>
            <a:pPr indent="0" marL="0">
              <a:lnSpc>
                <a:spcPct val="105000"/>
              </a:lnSpc>
              <a:buNone/>
            </a:pPr>
            <a:r>
              <a:rPr lang="en-US" sz="1300" i="1" dirty="0">
                <a:solidFill>
                  <a:srgbClr val="8A929B"/>
                </a:solidFill>
                <a:latin typeface="Segoe UI" pitchFamily="34" charset="0"/>
                <a:ea typeface="Segoe UI" pitchFamily="34" charset="-122"/>
                <a:cs typeface="Segoe UI" pitchFamily="34" charset="-120"/>
              </a:rPr>
              <a:t>Không thước đo nào tự chế. Công cụ (OmniParser/Qwen/SoM) là preprint — chỉ là “hiện vật kỹ thuật em DÙNG”, không trình như đã bình duyệt.</a:t>
            </a:r>
            <a:endParaRPr lang="en-US" sz="1300" dirty="0"/>
          </a:p>
        </p:txBody>
      </p:sp>
      <p:sp>
        <p:nvSpPr>
          <p:cNvPr id="6" name="Text 3"/>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KIỂM TRA ĐỘ TIN</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Đối chiếu người chấm (kế thừa paper của thầy)</a:t>
            </a:r>
            <a:endParaRPr lang="en-US" sz="2700" dirty="0"/>
          </a:p>
        </p:txBody>
      </p:sp>
      <p:sp>
        <p:nvSpPr>
          <p:cNvPr id="4" name="Text 2"/>
          <p:cNvSpPr/>
          <p:nvPr/>
        </p:nvSpPr>
        <p:spPr>
          <a:xfrm>
            <a:off x="731520" y="1783080"/>
            <a:ext cx="10607040" cy="365760"/>
          </a:xfrm>
          <a:prstGeom prst="rect">
            <a:avLst/>
          </a:prstGeom>
          <a:noFill/>
          <a:ln/>
        </p:spPr>
        <p:txBody>
          <a:bodyPr wrap="square" lIns="0" tIns="0" rIns="0" bIns="0" rtlCol="0" anchor="ctr"/>
          <a:lstStyle/>
          <a:p>
            <a:pPr indent="0" marL="0">
              <a:buNone/>
            </a:pPr>
            <a:r>
              <a:rPr lang="en-US" sz="1500" i="1" dirty="0">
                <a:solidFill>
                  <a:srgbClr val="8A929B"/>
                </a:solidFill>
                <a:latin typeface="Segoe UI" pitchFamily="34" charset="0"/>
                <a:ea typeface="Segoe UI" pitchFamily="34" charset="-122"/>
                <a:cs typeface="Segoe UI" pitchFamily="34" charset="-120"/>
              </a:rPr>
              <a:t>Thước đo tự động phải được chứng minh đáng tin → chạy thử với chuyên gia chấm:</a:t>
            </a:r>
            <a:endParaRPr lang="en-US" sz="1500" dirty="0"/>
          </a:p>
        </p:txBody>
      </p:sp>
      <p:sp>
        <p:nvSpPr>
          <p:cNvPr id="5" name="Shape 3"/>
          <p:cNvSpPr/>
          <p:nvPr/>
        </p:nvSpPr>
        <p:spPr>
          <a:xfrm>
            <a:off x="731520" y="2286000"/>
            <a:ext cx="45720" cy="713232"/>
          </a:xfrm>
          <a:prstGeom prst="rect">
            <a:avLst/>
          </a:prstGeom>
          <a:solidFill>
            <a:srgbClr val="8A2433"/>
          </a:solidFill>
          <a:ln/>
        </p:spPr>
      </p:sp>
      <p:sp>
        <p:nvSpPr>
          <p:cNvPr id="6" name="Text 4"/>
          <p:cNvSpPr/>
          <p:nvPr/>
        </p:nvSpPr>
        <p:spPr>
          <a:xfrm>
            <a:off x="987552" y="2286000"/>
            <a:ext cx="10332720" cy="320040"/>
          </a:xfrm>
          <a:prstGeom prst="rect">
            <a:avLst/>
          </a:prstGeom>
          <a:noFill/>
          <a:ln/>
        </p:spPr>
        <p:txBody>
          <a:bodyPr wrap="square" lIns="0" tIns="0" rIns="0" bIns="0" rtlCol="0" anchor="ctr"/>
          <a:lstStyle/>
          <a:p>
            <a:pPr indent="0" marL="0">
              <a:buNone/>
            </a:pPr>
            <a:r>
              <a:rPr lang="en-US" sz="1550" b="1" dirty="0">
                <a:solidFill>
                  <a:srgbClr val="1C2530"/>
                </a:solidFill>
                <a:latin typeface="Cambria" pitchFamily="34" charset="0"/>
                <a:ea typeface="Cambria" pitchFamily="34" charset="-122"/>
                <a:cs typeface="Cambria" pitchFamily="34" charset="-120"/>
              </a:rPr>
              <a:t>BWS (Best-Worst Scaling)</a:t>
            </a:r>
            <a:endParaRPr lang="en-US" sz="1550" dirty="0"/>
          </a:p>
        </p:txBody>
      </p:sp>
      <p:sp>
        <p:nvSpPr>
          <p:cNvPr id="7" name="Text 5"/>
          <p:cNvSpPr/>
          <p:nvPr/>
        </p:nvSpPr>
        <p:spPr>
          <a:xfrm>
            <a:off x="987552" y="2615184"/>
            <a:ext cx="10241280" cy="384048"/>
          </a:xfrm>
          <a:prstGeom prst="rect">
            <a:avLst/>
          </a:prstGeom>
          <a:noFill/>
          <a:ln/>
        </p:spPr>
        <p:txBody>
          <a:bodyPr wrap="square" lIns="0" tIns="0" rIns="0" bIns="0" rtlCol="0" anchor="ctr"/>
          <a:lstStyle/>
          <a:p>
            <a:pPr indent="0" marL="0">
              <a:lnSpc>
                <a:spcPct val="105000"/>
              </a:lnSpc>
              <a:buNone/>
            </a:pPr>
            <a:r>
              <a:rPr lang="en-US" sz="1350" dirty="0">
                <a:solidFill>
                  <a:srgbClr val="3C434B"/>
                </a:solidFill>
                <a:latin typeface="Segoe UI" pitchFamily="34" charset="0"/>
                <a:ea typeface="Segoe UI" pitchFamily="34" charset="-122"/>
                <a:cs typeface="Segoe UI" pitchFamily="34" charset="-120"/>
              </a:rPr>
              <a:t>Cho chuyên gia chọn bản TỐT NHẤT &amp; TỆ NHẤT → suy ra thứ hạng (ổn định hơn chấm điểm tuyệt đối).</a:t>
            </a:r>
            <a:endParaRPr lang="en-US" sz="1350" dirty="0"/>
          </a:p>
        </p:txBody>
      </p:sp>
      <p:sp>
        <p:nvSpPr>
          <p:cNvPr id="8" name="Shape 6"/>
          <p:cNvSpPr/>
          <p:nvPr/>
        </p:nvSpPr>
        <p:spPr>
          <a:xfrm>
            <a:off x="731520" y="3154680"/>
            <a:ext cx="45720" cy="713232"/>
          </a:xfrm>
          <a:prstGeom prst="rect">
            <a:avLst/>
          </a:prstGeom>
          <a:solidFill>
            <a:srgbClr val="8A2433"/>
          </a:solidFill>
          <a:ln/>
        </p:spPr>
      </p:sp>
      <p:sp>
        <p:nvSpPr>
          <p:cNvPr id="9" name="Text 7"/>
          <p:cNvSpPr/>
          <p:nvPr/>
        </p:nvSpPr>
        <p:spPr>
          <a:xfrm>
            <a:off x="987552" y="3154680"/>
            <a:ext cx="10332720" cy="320040"/>
          </a:xfrm>
          <a:prstGeom prst="rect">
            <a:avLst/>
          </a:prstGeom>
          <a:noFill/>
          <a:ln/>
        </p:spPr>
        <p:txBody>
          <a:bodyPr wrap="square" lIns="0" tIns="0" rIns="0" bIns="0" rtlCol="0" anchor="ctr"/>
          <a:lstStyle/>
          <a:p>
            <a:pPr indent="0" marL="0">
              <a:buNone/>
            </a:pPr>
            <a:r>
              <a:rPr lang="en-US" sz="1550" b="1" dirty="0">
                <a:solidFill>
                  <a:srgbClr val="1C2530"/>
                </a:solidFill>
                <a:latin typeface="Cambria" pitchFamily="34" charset="0"/>
                <a:ea typeface="Cambria" pitchFamily="34" charset="-122"/>
                <a:cs typeface="Cambria" pitchFamily="34" charset="-120"/>
              </a:rPr>
              <a:t>Spearman / Kendall</a:t>
            </a:r>
            <a:endParaRPr lang="en-US" sz="1550" dirty="0"/>
          </a:p>
        </p:txBody>
      </p:sp>
      <p:sp>
        <p:nvSpPr>
          <p:cNvPr id="10" name="Text 8"/>
          <p:cNvSpPr/>
          <p:nvPr/>
        </p:nvSpPr>
        <p:spPr>
          <a:xfrm>
            <a:off x="987552" y="3483864"/>
            <a:ext cx="10241280" cy="384048"/>
          </a:xfrm>
          <a:prstGeom prst="rect">
            <a:avLst/>
          </a:prstGeom>
          <a:noFill/>
          <a:ln/>
        </p:spPr>
        <p:txBody>
          <a:bodyPr wrap="square" lIns="0" tIns="0" rIns="0" bIns="0" rtlCol="0" anchor="ctr"/>
          <a:lstStyle/>
          <a:p>
            <a:pPr indent="0" marL="0">
              <a:lnSpc>
                <a:spcPct val="105000"/>
              </a:lnSpc>
              <a:buNone/>
            </a:pPr>
            <a:r>
              <a:rPr lang="en-US" sz="1350" dirty="0">
                <a:solidFill>
                  <a:srgbClr val="3C434B"/>
                </a:solidFill>
                <a:latin typeface="Segoe UI" pitchFamily="34" charset="0"/>
                <a:ea typeface="Segoe UI" pitchFamily="34" charset="-122"/>
                <a:cs typeface="Segoe UI" pitchFamily="34" charset="-120"/>
              </a:rPr>
              <a:t>Đo độ KHỚP máy↔người (gồm: thứ tự máy xếp có giống thứ tự người sắp không).</a:t>
            </a:r>
            <a:endParaRPr lang="en-US" sz="1350" dirty="0"/>
          </a:p>
        </p:txBody>
      </p:sp>
      <p:sp>
        <p:nvSpPr>
          <p:cNvPr id="11" name="Shape 9"/>
          <p:cNvSpPr/>
          <p:nvPr/>
        </p:nvSpPr>
        <p:spPr>
          <a:xfrm>
            <a:off x="731520" y="4023360"/>
            <a:ext cx="45720" cy="713232"/>
          </a:xfrm>
          <a:prstGeom prst="rect">
            <a:avLst/>
          </a:prstGeom>
          <a:solidFill>
            <a:srgbClr val="8A2433"/>
          </a:solidFill>
          <a:ln/>
        </p:spPr>
      </p:sp>
      <p:sp>
        <p:nvSpPr>
          <p:cNvPr id="12" name="Text 10"/>
          <p:cNvSpPr/>
          <p:nvPr/>
        </p:nvSpPr>
        <p:spPr>
          <a:xfrm>
            <a:off x="987552" y="4023360"/>
            <a:ext cx="10332720" cy="320040"/>
          </a:xfrm>
          <a:prstGeom prst="rect">
            <a:avLst/>
          </a:prstGeom>
          <a:noFill/>
          <a:ln/>
        </p:spPr>
        <p:txBody>
          <a:bodyPr wrap="square" lIns="0" tIns="0" rIns="0" bIns="0" rtlCol="0" anchor="ctr"/>
          <a:lstStyle/>
          <a:p>
            <a:pPr indent="0" marL="0">
              <a:buNone/>
            </a:pPr>
            <a:r>
              <a:rPr lang="en-US" sz="1550" b="1" dirty="0">
                <a:solidFill>
                  <a:srgbClr val="1C2530"/>
                </a:solidFill>
                <a:latin typeface="Cambria" pitchFamily="34" charset="0"/>
                <a:ea typeface="Cambria" pitchFamily="34" charset="-122"/>
                <a:cs typeface="Cambria" pitchFamily="34" charset="-120"/>
              </a:rPr>
              <a:t>Krippendorff α</a:t>
            </a:r>
            <a:endParaRPr lang="en-US" sz="1550" dirty="0"/>
          </a:p>
        </p:txBody>
      </p:sp>
      <p:sp>
        <p:nvSpPr>
          <p:cNvPr id="13" name="Text 11"/>
          <p:cNvSpPr/>
          <p:nvPr/>
        </p:nvSpPr>
        <p:spPr>
          <a:xfrm>
            <a:off x="987552" y="4352544"/>
            <a:ext cx="10241280" cy="384048"/>
          </a:xfrm>
          <a:prstGeom prst="rect">
            <a:avLst/>
          </a:prstGeom>
          <a:noFill/>
          <a:ln/>
        </p:spPr>
        <p:txBody>
          <a:bodyPr wrap="square" lIns="0" tIns="0" rIns="0" bIns="0" rtlCol="0" anchor="ctr"/>
          <a:lstStyle/>
          <a:p>
            <a:pPr indent="0" marL="0">
              <a:lnSpc>
                <a:spcPct val="105000"/>
              </a:lnSpc>
              <a:buNone/>
            </a:pPr>
            <a:r>
              <a:rPr lang="en-US" sz="1350" dirty="0">
                <a:solidFill>
                  <a:srgbClr val="3C434B"/>
                </a:solidFill>
                <a:latin typeface="Segoe UI" pitchFamily="34" charset="0"/>
                <a:ea typeface="Segoe UI" pitchFamily="34" charset="-122"/>
                <a:cs typeface="Segoe UI" pitchFamily="34" charset="-120"/>
              </a:rPr>
              <a:t>Đo độ ĐỒNG THUẬN giữa các người chấm với nhau.</a:t>
            </a:r>
            <a:endParaRPr lang="en-US" sz="1350" dirty="0"/>
          </a:p>
        </p:txBody>
      </p:sp>
      <p:sp>
        <p:nvSpPr>
          <p:cNvPr id="14" name="Shape 12"/>
          <p:cNvSpPr/>
          <p:nvPr/>
        </p:nvSpPr>
        <p:spPr>
          <a:xfrm>
            <a:off x="731520" y="4892040"/>
            <a:ext cx="45720" cy="713232"/>
          </a:xfrm>
          <a:prstGeom prst="rect">
            <a:avLst/>
          </a:prstGeom>
          <a:solidFill>
            <a:srgbClr val="8A2433"/>
          </a:solidFill>
          <a:ln/>
        </p:spPr>
      </p:sp>
      <p:sp>
        <p:nvSpPr>
          <p:cNvPr id="15" name="Text 13"/>
          <p:cNvSpPr/>
          <p:nvPr/>
        </p:nvSpPr>
        <p:spPr>
          <a:xfrm>
            <a:off x="987552" y="4892040"/>
            <a:ext cx="10332720" cy="320040"/>
          </a:xfrm>
          <a:prstGeom prst="rect">
            <a:avLst/>
          </a:prstGeom>
          <a:noFill/>
          <a:ln/>
        </p:spPr>
        <p:txBody>
          <a:bodyPr wrap="square" lIns="0" tIns="0" rIns="0" bIns="0" rtlCol="0" anchor="ctr"/>
          <a:lstStyle/>
          <a:p>
            <a:pPr indent="0" marL="0">
              <a:buNone/>
            </a:pPr>
            <a:r>
              <a:rPr lang="en-US" sz="1550" b="1" dirty="0">
                <a:solidFill>
                  <a:srgbClr val="1C2530"/>
                </a:solidFill>
                <a:latin typeface="Cambria" pitchFamily="34" charset="0"/>
                <a:ea typeface="Cambria" pitchFamily="34" charset="-122"/>
                <a:cs typeface="Cambria" pitchFamily="34" charset="-120"/>
              </a:rPr>
              <a:t>Quy mô N ≥ 60–80</a:t>
            </a:r>
            <a:endParaRPr lang="en-US" sz="1550" dirty="0"/>
          </a:p>
        </p:txBody>
      </p:sp>
      <p:sp>
        <p:nvSpPr>
          <p:cNvPr id="16" name="Text 14"/>
          <p:cNvSpPr/>
          <p:nvPr/>
        </p:nvSpPr>
        <p:spPr>
          <a:xfrm>
            <a:off x="987552" y="5221224"/>
            <a:ext cx="10241280" cy="384048"/>
          </a:xfrm>
          <a:prstGeom prst="rect">
            <a:avLst/>
          </a:prstGeom>
          <a:noFill/>
          <a:ln/>
        </p:spPr>
        <p:txBody>
          <a:bodyPr wrap="square" lIns="0" tIns="0" rIns="0" bIns="0" rtlCol="0" anchor="ctr"/>
          <a:lstStyle/>
          <a:p>
            <a:pPr indent="0" marL="0">
              <a:lnSpc>
                <a:spcPct val="105000"/>
              </a:lnSpc>
              <a:buNone/>
            </a:pPr>
            <a:r>
              <a:rPr lang="en-US" sz="1350" dirty="0">
                <a:solidFill>
                  <a:srgbClr val="3C434B"/>
                </a:solidFill>
                <a:latin typeface="Segoe UI" pitchFamily="34" charset="0"/>
                <a:ea typeface="Segoe UI" pitchFamily="34" charset="-122"/>
                <a:cs typeface="Segoe UI" pitchFamily="34" charset="-120"/>
              </a:rPr>
              <a:t>Đủ tin; đóng khung là “kiểm tính khả dĩ”, không hứa tương quan cực chặt.</a:t>
            </a:r>
            <a:endParaRPr lang="en-US" sz="1350" dirty="0"/>
          </a:p>
        </p:txBody>
      </p:sp>
      <p:sp>
        <p:nvSpPr>
          <p:cNvPr id="17" name="Text 15"/>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THÍ NGHIỆM</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Thang bậc C0 → C4: tách “cơ chế nào trả công”</a:t>
            </a:r>
            <a:endParaRPr lang="en-US" sz="2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10725912" cy="914400"/>
        </p:xfrm>
        <a:graphic>
          <a:graphicData uri="http://schemas.openxmlformats.org/drawingml/2006/table">
            <a:tbl>
              <a:tblPr/>
              <a:tblGrid>
                <a:gridCol w="1188720"/>
                <a:gridCol w="4937760"/>
                <a:gridCol w="4599432"/>
              </a:tblGrid>
              <a:tr h="548640">
                <a:tc>
                  <a:txBody>
                    <a:bodyPr/>
                    <a:lstStyle/>
                    <a:p>
                      <a:pPr algn="l" indent="0" marL="0">
                        <a:buNone/>
                      </a:pPr>
                      <a:r>
                        <a:rPr lang="en-US" sz="1450" b="1" dirty="0">
                          <a:solidFill>
                            <a:srgbClr val="1C2530"/>
                          </a:solidFill>
                          <a:latin typeface="Segoe UI" pitchFamily="34" charset="0"/>
                          <a:ea typeface="Segoe UI" pitchFamily="34" charset="-122"/>
                          <a:cs typeface="Segoe UI" pitchFamily="34" charset="-120"/>
                        </a:rPr>
                        <a:t>Bậc</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solidFill>
                      <a:srgbClr val="F4F6F8"/>
                    </a:solidFill>
                  </a:tcPr>
                </a:tc>
                <a:tc>
                  <a:txBody>
                    <a:bodyPr/>
                    <a:lstStyle/>
                    <a:p>
                      <a:pPr algn="l" indent="0" marL="0">
                        <a:buNone/>
                      </a:pPr>
                      <a:r>
                        <a:rPr lang="en-US" sz="1450" b="1" dirty="0">
                          <a:solidFill>
                            <a:srgbClr val="1C2530"/>
                          </a:solidFill>
                          <a:latin typeface="Segoe UI" pitchFamily="34" charset="0"/>
                          <a:ea typeface="Segoe UI" pitchFamily="34" charset="-122"/>
                          <a:cs typeface="Segoe UI" pitchFamily="34" charset="-120"/>
                        </a:rPr>
                        <a:t>Thêm gì</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solidFill>
                      <a:srgbClr val="F4F6F8"/>
                    </a:solidFill>
                  </a:tcPr>
                </a:tc>
                <a:tc>
                  <a:txBody>
                    <a:bodyPr/>
                    <a:lstStyle/>
                    <a:p>
                      <a:pPr algn="l" indent="0" marL="0">
                        <a:buNone/>
                      </a:pPr>
                      <a:r>
                        <a:rPr lang="en-US" sz="1450" b="1" dirty="0">
                          <a:solidFill>
                            <a:srgbClr val="1C2530"/>
                          </a:solidFill>
                          <a:latin typeface="Segoe UI" pitchFamily="34" charset="0"/>
                          <a:ea typeface="Segoe UI" pitchFamily="34" charset="-122"/>
                          <a:cs typeface="Segoe UI" pitchFamily="34" charset="-120"/>
                        </a:rPr>
                        <a:t>Trả lời câu hỏi</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solidFill>
                      <a:srgbClr val="F4F6F8"/>
                    </a:solidFill>
                  </a:tcPr>
                </a:tc>
              </a:tr>
              <a:tr h="548640">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C0</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VLM trần</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đáy thô</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r>
              <a:tr h="548640">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C1</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 tự sửa (self-refine)</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BASELINE — mốc cơ sở để so</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r>
              <a:tr h="548640">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C2</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 đánh số nút (Set-of-Mark)</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vẽ số một mình có giúp?</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r>
              <a:tr h="548640">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C3</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 ép chọn số + kiểm tồn-tại (V1)</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ép “từ vựng đóng” có giúp?</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r>
              <a:tr h="548640">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C4</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 kiểm đúng-ý (V2) — đầy đủ</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c>
                  <a:txBody>
                    <a:bodyPr/>
                    <a:lstStyle/>
                    <a:p>
                      <a:pPr algn="l" indent="0" marL="0">
                        <a:buNone/>
                      </a:pPr>
                      <a:r>
                        <a:rPr lang="en-US" sz="1450" dirty="0">
                          <a:solidFill>
                            <a:srgbClr val="3C434B"/>
                          </a:solidFill>
                          <a:latin typeface="Segoe UI" pitchFamily="34" charset="0"/>
                          <a:ea typeface="Segoe UI" pitchFamily="34" charset="-122"/>
                          <a:cs typeface="Segoe UI" pitchFamily="34" charset="-120"/>
                        </a:rPr>
                        <a:t>kiểm intent có giúp?</a:t>
                      </a:r>
                      <a:endParaRPr lang="en-US" sz="1450" dirty="0">
                        <a:latin typeface="Segoe UI" charset="0"/>
                        <a:ea typeface="Segoe UI" charset="0"/>
                        <a:cs typeface="Segoe UI" charset="0"/>
                      </a:endParaRPr>
                    </a:p>
                  </a:txBody>
                  <a:tcPr marL="101600" marR="101600" marT="38100" marB="38100" anchor="ctr">
                    <a:lnL w="9525" cap="flat" cmpd="sng" algn="ctr">
                      <a:solidFill>
                        <a:srgbClr val="D7DCE1"/>
                      </a:solidFill>
                      <a:prstDash val="solid"/>
                      <a:round/>
                      <a:headEnd type="none" w="med" len="med"/>
                      <a:tailEnd type="none" w="med" len="med"/>
                    </a:lnL>
                    <a:lnR w="9525" cap="flat" cmpd="sng" algn="ctr">
                      <a:solidFill>
                        <a:srgbClr val="D7DCE1"/>
                      </a:solidFill>
                      <a:prstDash val="solid"/>
                      <a:round/>
                      <a:headEnd type="none" w="med" len="med"/>
                      <a:tailEnd type="none" w="med" len="med"/>
                    </a:lnR>
                    <a:lnT w="9525" cap="flat" cmpd="sng" algn="ctr">
                      <a:solidFill>
                        <a:srgbClr val="D7DCE1"/>
                      </a:solidFill>
                      <a:prstDash val="solid"/>
                      <a:round/>
                      <a:headEnd type="none" w="med" len="med"/>
                      <a:tailEnd type="none" w="med" len="med"/>
                    </a:lnT>
                    <a:lnB w="9525" cap="flat" cmpd="sng" algn="ctr">
                      <a:solidFill>
                        <a:srgbClr val="D7DCE1"/>
                      </a:solidFill>
                      <a:prstDash val="solid"/>
                      <a:round/>
                      <a:headEnd type="none" w="med" len="med"/>
                      <a:tailEnd type="none" w="med" len="med"/>
                    </a:lnB>
                  </a:tcPr>
                </a:tc>
              </a:tr>
            </a:tbl>
          </a:graphicData>
        </a:graphic>
      </p:graphicFrame>
      <p:sp>
        <p:nvSpPr>
          <p:cNvPr id="5" name="Text 2"/>
          <p:cNvSpPr/>
          <p:nvPr/>
        </p:nvSpPr>
        <p:spPr>
          <a:xfrm>
            <a:off x="731520" y="5806440"/>
            <a:ext cx="10725912" cy="457200"/>
          </a:xfrm>
          <a:prstGeom prst="rect">
            <a:avLst/>
          </a:prstGeom>
          <a:noFill/>
          <a:ln/>
        </p:spPr>
        <p:txBody>
          <a:bodyPr wrap="square" lIns="0" tIns="0" rIns="0" bIns="0" rtlCol="0" anchor="ctr"/>
          <a:lstStyle/>
          <a:p>
            <a:pPr indent="0" marL="0">
              <a:lnSpc>
                <a:spcPct val="105000"/>
              </a:lnSpc>
              <a:buNone/>
            </a:pPr>
            <a:r>
              <a:rPr lang="en-US" sz="1300" i="1" dirty="0">
                <a:solidFill>
                  <a:srgbClr val="8A929B"/>
                </a:solidFill>
                <a:latin typeface="Segoe UI" pitchFamily="34" charset="0"/>
                <a:ea typeface="Segoe UI" pitchFamily="34" charset="-122"/>
                <a:cs typeface="Segoe UI" pitchFamily="34" charset="-120"/>
              </a:rPr>
              <a:t>Thêm từng món, đo từng nấc → biết chính xác món nào có ích. Đóng góp 2 đo thêm: τ-b theo N (SELF vs ORACLE) + bar per-cue accuracy.</a:t>
            </a:r>
            <a:endParaRPr lang="en-US" sz="1300" dirty="0"/>
          </a:p>
        </p:txBody>
      </p:sp>
      <p:sp>
        <p:nvSpPr>
          <p:cNvPr id="6" name="Text 3"/>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RỦI RO LỚN NHẤT</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Hệ chỉ giỏi bằng bước dò nút + 3 cổng cho nhánh trật tự</a:t>
            </a:r>
            <a:endParaRPr lang="en-US" sz="2700" dirty="0"/>
          </a:p>
        </p:txBody>
      </p:sp>
      <p:sp>
        <p:nvSpPr>
          <p:cNvPr id="4" name="Shape 2"/>
          <p:cNvSpPr/>
          <p:nvPr/>
        </p:nvSpPr>
        <p:spPr>
          <a:xfrm>
            <a:off x="731520" y="1920240"/>
            <a:ext cx="45720" cy="1234440"/>
          </a:xfrm>
          <a:prstGeom prst="rect">
            <a:avLst/>
          </a:prstGeom>
          <a:solidFill>
            <a:srgbClr val="8A2433"/>
          </a:solidFill>
          <a:ln/>
        </p:spPr>
      </p:sp>
      <p:sp>
        <p:nvSpPr>
          <p:cNvPr id="5" name="Text 3"/>
          <p:cNvSpPr/>
          <p:nvPr/>
        </p:nvSpPr>
        <p:spPr>
          <a:xfrm>
            <a:off x="987552" y="1920240"/>
            <a:ext cx="10332720" cy="411480"/>
          </a:xfrm>
          <a:prstGeom prst="rect">
            <a:avLst/>
          </a:prstGeom>
          <a:noFill/>
          <a:ln/>
        </p:spPr>
        <p:txBody>
          <a:bodyPr wrap="square" lIns="0" tIns="0" rIns="0" bIns="0" rtlCol="0" anchor="ctr"/>
          <a:lstStyle/>
          <a:p>
            <a:pPr indent="0" marL="0">
              <a:buNone/>
            </a:pPr>
            <a:r>
              <a:rPr lang="en-US" sz="1700" b="1" dirty="0">
                <a:solidFill>
                  <a:srgbClr val="1C2530"/>
                </a:solidFill>
                <a:latin typeface="Cambria" pitchFamily="34" charset="0"/>
                <a:ea typeface="Cambria" pitchFamily="34" charset="-122"/>
                <a:cs typeface="Cambria" pitchFamily="34" charset="-120"/>
              </a:rPr>
              <a:t>Nút nào bộ dò bỏ sót thì máy vĩnh viễn không nhắc được.</a:t>
            </a:r>
            <a:endParaRPr lang="en-US" sz="1700" dirty="0"/>
          </a:p>
        </p:txBody>
      </p:sp>
      <p:sp>
        <p:nvSpPr>
          <p:cNvPr id="6" name="Text 4"/>
          <p:cNvSpPr/>
          <p:nvPr/>
        </p:nvSpPr>
        <p:spPr>
          <a:xfrm>
            <a:off x="987552" y="2340864"/>
            <a:ext cx="10241280" cy="731520"/>
          </a:xfrm>
          <a:prstGeom prst="rect">
            <a:avLst/>
          </a:prstGeom>
          <a:noFill/>
          <a:ln/>
        </p:spPr>
        <p:txBody>
          <a:bodyPr wrap="square" lIns="0" tIns="0" rIns="0" bIns="0" rtlCol="0" anchor="ctr"/>
          <a:lstStyle/>
          <a:p>
            <a:pPr indent="0" marL="0">
              <a:lnSpc>
                <a:spcPct val="110000"/>
              </a:lnSpc>
              <a:buNone/>
            </a:pPr>
            <a:r>
              <a:rPr lang="en-US" sz="1450" dirty="0">
                <a:solidFill>
                  <a:srgbClr val="3C434B"/>
                </a:solidFill>
                <a:latin typeface="Segoe UI" pitchFamily="34" charset="0"/>
                <a:ea typeface="Segoe UI" pitchFamily="34" charset="-122"/>
                <a:cs typeface="Segoe UI" pitchFamily="34" charset="-120"/>
              </a:rPr>
              <a:t>recall = trong 100 nút thật, bộ dò tìm ra bao nhiêu. Recall trên màn mobile dày CHƯA công bố rõ (tài liệu chỉ có “grounding accuracy ~57%”, là chỉ số khác).</a:t>
            </a:r>
            <a:endParaRPr lang="en-US" sz="1450" dirty="0"/>
          </a:p>
        </p:txBody>
      </p:sp>
      <p:sp>
        <p:nvSpPr>
          <p:cNvPr id="7" name="Text 5"/>
          <p:cNvSpPr/>
          <p:nvPr/>
        </p:nvSpPr>
        <p:spPr>
          <a:xfrm>
            <a:off x="731520" y="3429000"/>
            <a:ext cx="10058400" cy="320040"/>
          </a:xfrm>
          <a:prstGeom prst="rect">
            <a:avLst/>
          </a:prstGeom>
          <a:noFill/>
          <a:ln/>
        </p:spPr>
        <p:txBody>
          <a:bodyPr wrap="square" lIns="0" tIns="0" rIns="0" bIns="0" rtlCol="0" anchor="ctr"/>
          <a:lstStyle/>
          <a:p>
            <a:pPr indent="0" marL="0">
              <a:buNone/>
            </a:pPr>
            <a:r>
              <a:rPr lang="en-US" sz="1450" b="1" dirty="0">
                <a:solidFill>
                  <a:srgbClr val="8A2433"/>
                </a:solidFill>
                <a:latin typeface="Segoe UI" pitchFamily="34" charset="0"/>
                <a:ea typeface="Segoe UI" pitchFamily="34" charset="-122"/>
                <a:cs typeface="Segoe UI" pitchFamily="34" charset="-120"/>
              </a:rPr>
              <a:t>Bộ kill-test tuần 1 (nói thẳng, không giấu):</a:t>
            </a:r>
            <a:endParaRPr lang="en-US" sz="1450" dirty="0"/>
          </a:p>
        </p:txBody>
      </p:sp>
      <p:sp>
        <p:nvSpPr>
          <p:cNvPr id="8" name="Shape 6"/>
          <p:cNvSpPr/>
          <p:nvPr/>
        </p:nvSpPr>
        <p:spPr>
          <a:xfrm>
            <a:off x="731520" y="3886200"/>
            <a:ext cx="566928" cy="457200"/>
          </a:xfrm>
          <a:prstGeom prst="ellipse">
            <a:avLst/>
          </a:prstGeom>
          <a:solidFill>
            <a:srgbClr val="8A2433"/>
          </a:solidFill>
          <a:ln/>
        </p:spPr>
      </p:sp>
      <p:sp>
        <p:nvSpPr>
          <p:cNvPr id="9" name="Text 7"/>
          <p:cNvSpPr/>
          <p:nvPr/>
        </p:nvSpPr>
        <p:spPr>
          <a:xfrm>
            <a:off x="731520" y="3886200"/>
            <a:ext cx="566928"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K1</a:t>
            </a:r>
            <a:endParaRPr lang="en-US" sz="1150" dirty="0"/>
          </a:p>
        </p:txBody>
      </p:sp>
      <p:sp>
        <p:nvSpPr>
          <p:cNvPr id="10" name="Text 8"/>
          <p:cNvSpPr/>
          <p:nvPr/>
        </p:nvSpPr>
        <p:spPr>
          <a:xfrm>
            <a:off x="1463040" y="3886200"/>
            <a:ext cx="9966960" cy="457200"/>
          </a:xfrm>
          <a:prstGeom prst="rect">
            <a:avLst/>
          </a:prstGeom>
          <a:noFill/>
          <a:ln/>
        </p:spPr>
        <p:txBody>
          <a:bodyPr wrap="square" lIns="0" tIns="0" rIns="0" bIns="0" rtlCol="0" anchor="ctr"/>
          <a:lstStyle/>
          <a:p>
            <a:pPr indent="0" marL="0">
              <a:lnSpc>
                <a:spcPct val="100000"/>
              </a:lnSpc>
              <a:buNone/>
            </a:pPr>
            <a:r>
              <a:rPr lang="en-US" sz="1300" dirty="0">
                <a:solidFill>
                  <a:srgbClr val="3C434B"/>
                </a:solidFill>
                <a:latin typeface="Segoe UI" pitchFamily="34" charset="0"/>
                <a:ea typeface="Segoe UI" pitchFamily="34" charset="-122"/>
                <a:cs typeface="Segoe UI" pitchFamily="34" charset="-120"/>
              </a:rPr>
              <a:t>TỰ ĐO recall bộ dò trước khi chốt (cổng go/no-go). Mọi số grounding kèm “điều kiện recall = X%”; báo RAW vs ORACLE.</a:t>
            </a:r>
            <a:endParaRPr lang="en-US" sz="1300" dirty="0"/>
          </a:p>
        </p:txBody>
      </p:sp>
      <p:sp>
        <p:nvSpPr>
          <p:cNvPr id="11" name="Shape 9"/>
          <p:cNvSpPr/>
          <p:nvPr/>
        </p:nvSpPr>
        <p:spPr>
          <a:xfrm>
            <a:off x="731520" y="4434840"/>
            <a:ext cx="566928" cy="457200"/>
          </a:xfrm>
          <a:prstGeom prst="ellipse">
            <a:avLst/>
          </a:prstGeom>
          <a:solidFill>
            <a:srgbClr val="5B6B7A"/>
          </a:solidFill>
          <a:ln/>
        </p:spPr>
      </p:sp>
      <p:sp>
        <p:nvSpPr>
          <p:cNvPr id="12" name="Text 10"/>
          <p:cNvSpPr/>
          <p:nvPr/>
        </p:nvSpPr>
        <p:spPr>
          <a:xfrm>
            <a:off x="731520" y="4434840"/>
            <a:ext cx="566928"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KN</a:t>
            </a:r>
            <a:endParaRPr lang="en-US" sz="1150" dirty="0"/>
          </a:p>
        </p:txBody>
      </p:sp>
      <p:sp>
        <p:nvSpPr>
          <p:cNvPr id="13" name="Text 11"/>
          <p:cNvSpPr/>
          <p:nvPr/>
        </p:nvSpPr>
        <p:spPr>
          <a:xfrm>
            <a:off x="1463040" y="4434840"/>
            <a:ext cx="9966960" cy="457200"/>
          </a:xfrm>
          <a:prstGeom prst="rect">
            <a:avLst/>
          </a:prstGeom>
          <a:noFill/>
          <a:ln/>
        </p:spPr>
        <p:txBody>
          <a:bodyPr wrap="square" lIns="0" tIns="0" rIns="0" bIns="0" rtlCol="0" anchor="ctr"/>
          <a:lstStyle/>
          <a:p>
            <a:pPr indent="0" marL="0">
              <a:lnSpc>
                <a:spcPct val="100000"/>
              </a:lnSpc>
              <a:buNone/>
            </a:pPr>
            <a:r>
              <a:rPr lang="en-US" sz="1300" dirty="0">
                <a:solidFill>
                  <a:srgbClr val="3C434B"/>
                </a:solidFill>
                <a:latin typeface="Segoe UI" pitchFamily="34" charset="0"/>
                <a:ea typeface="Segoe UI" pitchFamily="34" charset="-122"/>
                <a:cs typeface="Segoe UI" pitchFamily="34" charset="-120"/>
              </a:rPr>
              <a:t>Tự đếm histogram độ dài episode (sơ bộ mean ~5,5, p95 = 13) → loại N≤2, chốt trục N ∈ [3, ~10].</a:t>
            </a:r>
            <a:endParaRPr lang="en-US" sz="1300" dirty="0"/>
          </a:p>
        </p:txBody>
      </p:sp>
      <p:sp>
        <p:nvSpPr>
          <p:cNvPr id="14" name="Shape 12"/>
          <p:cNvSpPr/>
          <p:nvPr/>
        </p:nvSpPr>
        <p:spPr>
          <a:xfrm>
            <a:off x="731520" y="4983480"/>
            <a:ext cx="566928" cy="457200"/>
          </a:xfrm>
          <a:prstGeom prst="ellipse">
            <a:avLst/>
          </a:prstGeom>
          <a:solidFill>
            <a:srgbClr val="5B6B7A"/>
          </a:solidFill>
          <a:ln/>
        </p:spPr>
      </p:sp>
      <p:sp>
        <p:nvSpPr>
          <p:cNvPr id="15" name="Text 13"/>
          <p:cNvSpPr/>
          <p:nvPr/>
        </p:nvSpPr>
        <p:spPr>
          <a:xfrm>
            <a:off x="731520" y="4983480"/>
            <a:ext cx="566928"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KZ′</a:t>
            </a:r>
            <a:endParaRPr lang="en-US" sz="1150" dirty="0"/>
          </a:p>
        </p:txBody>
      </p:sp>
      <p:sp>
        <p:nvSpPr>
          <p:cNvPr id="16" name="Text 14"/>
          <p:cNvSpPr/>
          <p:nvPr/>
        </p:nvSpPr>
        <p:spPr>
          <a:xfrm>
            <a:off x="1463040" y="4983480"/>
            <a:ext cx="9966960" cy="457200"/>
          </a:xfrm>
          <a:prstGeom prst="rect">
            <a:avLst/>
          </a:prstGeom>
          <a:noFill/>
          <a:ln/>
        </p:spPr>
        <p:txBody>
          <a:bodyPr wrap="square" lIns="0" tIns="0" rIns="0" bIns="0" rtlCol="0" anchor="ctr"/>
          <a:lstStyle/>
          <a:p>
            <a:pPr indent="0" marL="0">
              <a:lnSpc>
                <a:spcPct val="100000"/>
              </a:lnSpc>
              <a:buNone/>
            </a:pPr>
            <a:r>
              <a:rPr lang="en-US" sz="1300" dirty="0">
                <a:solidFill>
                  <a:srgbClr val="3C434B"/>
                </a:solidFill>
                <a:latin typeface="Segoe UI" pitchFamily="34" charset="0"/>
                <a:ea typeface="Segoe UI" pitchFamily="34" charset="-122"/>
                <a:cs typeface="Segoe UI" pitchFamily="34" charset="-120"/>
              </a:rPr>
              <a:t>Rà prior-art sắp-ảnh (đã khảo, GO) → đóng khung độ mới trung thực.</a:t>
            </a:r>
            <a:endParaRPr lang="en-US" sz="1300" dirty="0"/>
          </a:p>
        </p:txBody>
      </p:sp>
      <p:sp>
        <p:nvSpPr>
          <p:cNvPr id="17" name="Shape 15"/>
          <p:cNvSpPr/>
          <p:nvPr/>
        </p:nvSpPr>
        <p:spPr>
          <a:xfrm>
            <a:off x="731520" y="5532120"/>
            <a:ext cx="566928" cy="457200"/>
          </a:xfrm>
          <a:prstGeom prst="ellipse">
            <a:avLst/>
          </a:prstGeom>
          <a:solidFill>
            <a:srgbClr val="5B6B7A"/>
          </a:solidFill>
          <a:ln/>
        </p:spPr>
      </p:sp>
      <p:sp>
        <p:nvSpPr>
          <p:cNvPr id="18" name="Text 16"/>
          <p:cNvSpPr/>
          <p:nvPr/>
        </p:nvSpPr>
        <p:spPr>
          <a:xfrm>
            <a:off x="731520" y="5532120"/>
            <a:ext cx="566928"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KB</a:t>
            </a:r>
            <a:endParaRPr lang="en-US" sz="1150" dirty="0"/>
          </a:p>
        </p:txBody>
      </p:sp>
      <p:sp>
        <p:nvSpPr>
          <p:cNvPr id="19" name="Text 17"/>
          <p:cNvSpPr/>
          <p:nvPr/>
        </p:nvSpPr>
        <p:spPr>
          <a:xfrm>
            <a:off x="1463040" y="5532120"/>
            <a:ext cx="9966960" cy="457200"/>
          </a:xfrm>
          <a:prstGeom prst="rect">
            <a:avLst/>
          </a:prstGeom>
          <a:noFill/>
          <a:ln/>
        </p:spPr>
        <p:txBody>
          <a:bodyPr wrap="square" lIns="0" tIns="0" rIns="0" bIns="0" rtlCol="0" anchor="ctr"/>
          <a:lstStyle/>
          <a:p>
            <a:pPr indent="0" marL="0">
              <a:lnSpc>
                <a:spcPct val="100000"/>
              </a:lnSpc>
              <a:buNone/>
            </a:pPr>
            <a:r>
              <a:rPr lang="en-US" sz="1300" dirty="0">
                <a:solidFill>
                  <a:srgbClr val="3C434B"/>
                </a:solidFill>
                <a:latin typeface="Segoe UI" pitchFamily="34" charset="0"/>
                <a:ea typeface="Segoe UI" pitchFamily="34" charset="-122"/>
                <a:cs typeface="Segoe UI" pitchFamily="34" charset="-120"/>
              </a:rPr>
              <a:t>Chống leak thứ tự: xáo trộn phải strip metadata + tái mã hoá ảnh + đặt tên UUID (kẻo máy đọc lén thứ tự gốc).</a:t>
            </a:r>
            <a:endParaRPr lang="en-US" sz="1300" dirty="0"/>
          </a:p>
        </p:txBody>
      </p:sp>
      <p:sp>
        <p:nvSpPr>
          <p:cNvPr id="20" name="Text 18"/>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BẢO HIỂM KHOA HỌC</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Kết quả xấu vẫn ĐẬU</a:t>
            </a:r>
            <a:endParaRPr lang="en-US" sz="2700" dirty="0"/>
          </a:p>
        </p:txBody>
      </p:sp>
      <p:sp>
        <p:nvSpPr>
          <p:cNvPr id="4" name="Text 2"/>
          <p:cNvSpPr/>
          <p:nvPr/>
        </p:nvSpPr>
        <p:spPr>
          <a:xfrm>
            <a:off x="731520" y="1920240"/>
            <a:ext cx="10607040" cy="457200"/>
          </a:xfrm>
          <a:prstGeom prst="rect">
            <a:avLst/>
          </a:prstGeom>
          <a:noFill/>
          <a:ln/>
        </p:spPr>
        <p:txBody>
          <a:bodyPr wrap="square" lIns="0" tIns="0" rIns="0" bIns="0" rtlCol="0" anchor="ctr"/>
          <a:lstStyle/>
          <a:p>
            <a:pPr indent="0" marL="0">
              <a:lnSpc>
                <a:spcPct val="110000"/>
              </a:lnSpc>
              <a:buNone/>
            </a:pPr>
            <a:r>
              <a:rPr lang="en-US" sz="1600" i="1" dirty="0">
                <a:solidFill>
                  <a:srgbClr val="8A929B"/>
                </a:solidFill>
                <a:latin typeface="Segoe UI" pitchFamily="34" charset="0"/>
                <a:ea typeface="Segoe UI" pitchFamily="34" charset="-122"/>
                <a:cs typeface="Segoe UI" pitchFamily="34" charset="-120"/>
              </a:rPr>
              <a:t>pre-registration = đăng ký giả thuyết + ngưỡng đánh giá TRƯỚC khi chạy → không thể “thua thì đổi đề”.</a:t>
            </a:r>
            <a:endParaRPr lang="en-US" sz="1600" dirty="0"/>
          </a:p>
        </p:txBody>
      </p:sp>
      <p:sp>
        <p:nvSpPr>
          <p:cNvPr id="5" name="Shape 3"/>
          <p:cNvSpPr/>
          <p:nvPr/>
        </p:nvSpPr>
        <p:spPr>
          <a:xfrm>
            <a:off x="731520" y="2743200"/>
            <a:ext cx="45720" cy="1737360"/>
          </a:xfrm>
          <a:prstGeom prst="rect">
            <a:avLst/>
          </a:prstGeom>
          <a:solidFill>
            <a:srgbClr val="8A2433"/>
          </a:solidFill>
          <a:ln/>
        </p:spPr>
      </p:sp>
      <p:sp>
        <p:nvSpPr>
          <p:cNvPr id="6" name="Text 4"/>
          <p:cNvSpPr/>
          <p:nvPr/>
        </p:nvSpPr>
        <p:spPr>
          <a:xfrm>
            <a:off x="987552" y="2743200"/>
            <a:ext cx="10332720" cy="365760"/>
          </a:xfrm>
          <a:prstGeom prst="rect">
            <a:avLst/>
          </a:prstGeom>
          <a:noFill/>
          <a:ln/>
        </p:spPr>
        <p:txBody>
          <a:bodyPr wrap="square" lIns="0" tIns="0" rIns="0" bIns="0" rtlCol="0" anchor="ctr"/>
          <a:lstStyle/>
          <a:p>
            <a:pPr indent="0" marL="0">
              <a:buNone/>
            </a:pPr>
            <a:r>
              <a:rPr lang="en-US" sz="1700" b="1" dirty="0">
                <a:solidFill>
                  <a:srgbClr val="1C2530"/>
                </a:solidFill>
                <a:latin typeface="Cambria" pitchFamily="34" charset="0"/>
                <a:ea typeface="Cambria" pitchFamily="34" charset="-122"/>
                <a:cs typeface="Cambria" pitchFamily="34" charset="-120"/>
              </a:rPr>
              <a:t>Nếu hệ KHÔNG thắng baseline (null result)…</a:t>
            </a:r>
            <a:endParaRPr lang="en-US" sz="1700" dirty="0"/>
          </a:p>
        </p:txBody>
      </p:sp>
      <p:sp>
        <p:nvSpPr>
          <p:cNvPr id="7" name="Text 5"/>
          <p:cNvSpPr/>
          <p:nvPr/>
        </p:nvSpPr>
        <p:spPr>
          <a:xfrm>
            <a:off x="987552" y="3154680"/>
            <a:ext cx="10241280" cy="1280160"/>
          </a:xfrm>
          <a:prstGeom prst="rect">
            <a:avLst/>
          </a:prstGeom>
          <a:noFill/>
          <a:ln/>
        </p:spPr>
        <p:txBody>
          <a:bodyPr wrap="square" lIns="0" tIns="0" rIns="0" bIns="0" rtlCol="0" anchor="ctr"/>
          <a:lstStyle/>
          <a:p>
            <a:pPr indent="0" marL="0">
              <a:lnSpc>
                <a:spcPct val="115000"/>
              </a:lnSpc>
              <a:buNone/>
            </a:pPr>
            <a:r>
              <a:rPr lang="en-US" sz="1500" dirty="0">
                <a:solidFill>
                  <a:srgbClr val="3C434B"/>
                </a:solidFill>
                <a:latin typeface="Segoe UI" pitchFamily="34" charset="0"/>
                <a:ea typeface="Segoe UI" pitchFamily="34" charset="-122"/>
                <a:cs typeface="Segoe UI" pitchFamily="34" charset="-120"/>
              </a:rPr>
              <a:t>…thì một kết quả null ĐƯỢC GIẢI THÍCH CƠ CHẾ (vd “recall bộ dò chặn trần lợi ích”) VẪN là đóng góp khoa học hợp lệ. Hơn nữa, thang bậc C0→C4 và đường cong τ-b theo N tự chúng đo được cơ chế nào trả công.</a:t>
            </a:r>
            <a:endParaRPr lang="en-US" sz="1500" dirty="0"/>
          </a:p>
        </p:txBody>
      </p:sp>
      <p:sp>
        <p:nvSpPr>
          <p:cNvPr id="8" name="Text 6"/>
          <p:cNvSpPr/>
          <p:nvPr/>
        </p:nvSpPr>
        <p:spPr>
          <a:xfrm>
            <a:off x="731520" y="5029200"/>
            <a:ext cx="10607040" cy="365760"/>
          </a:xfrm>
          <a:prstGeom prst="rect">
            <a:avLst/>
          </a:prstGeom>
          <a:noFill/>
          <a:ln/>
        </p:spPr>
        <p:txBody>
          <a:bodyPr wrap="square" lIns="0" tIns="0" rIns="0" bIns="0" rtlCol="0" anchor="ctr"/>
          <a:lstStyle/>
          <a:p>
            <a:pPr indent="0" marL="0">
              <a:buNone/>
            </a:pPr>
            <a:r>
              <a:rPr lang="en-US" sz="1500" b="1" dirty="0">
                <a:solidFill>
                  <a:srgbClr val="8A2433"/>
                </a:solidFill>
                <a:latin typeface="Segoe UI" pitchFamily="34" charset="0"/>
                <a:ea typeface="Segoe UI" pitchFamily="34" charset="-122"/>
                <a:cs typeface="Segoe UI" pitchFamily="34" charset="-120"/>
              </a:rPr>
              <a:t>Luận văn KHÔNG phụ thuộc vào việc “hệ phải thắng”.</a:t>
            </a:r>
            <a:endParaRPr lang="en-US" sz="1500" dirty="0"/>
          </a:p>
        </p:txBody>
      </p:sp>
      <p:sp>
        <p:nvSpPr>
          <p:cNvPr id="9" name="Text 7"/>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725912" cy="274320"/>
          </a:xfrm>
          <a:prstGeom prst="rect">
            <a:avLst/>
          </a:prstGeom>
          <a:noFill/>
          <a:ln/>
        </p:spPr>
        <p:txBody>
          <a:bodyPr wrap="square" lIns="0" tIns="0" rIns="0" bIns="0" rtlCol="0" anchor="ctr"/>
          <a:lstStyle/>
          <a:p>
            <a:pPr indent="0" marL="0">
              <a:buNone/>
            </a:pPr>
            <a:r>
              <a:rPr lang="en-US" sz="1150" b="1" spc="300" kern="0" dirty="0">
                <a:solidFill>
                  <a:srgbClr val="8A2433"/>
                </a:solidFill>
                <a:latin typeface="Segoe UI" pitchFamily="34" charset="0"/>
                <a:ea typeface="Segoe UI" pitchFamily="34" charset="-122"/>
                <a:cs typeface="Segoe UI" pitchFamily="34" charset="-120"/>
              </a:rPr>
              <a:t>ĐỀ NGHỊ CHỐT</a:t>
            </a:r>
            <a:endParaRPr lang="en-US" sz="1150" dirty="0"/>
          </a:p>
        </p:txBody>
      </p:sp>
      <p:sp>
        <p:nvSpPr>
          <p:cNvPr id="3" name="Text 1"/>
          <p:cNvSpPr/>
          <p:nvPr/>
        </p:nvSpPr>
        <p:spPr>
          <a:xfrm>
            <a:off x="731520" y="786384"/>
            <a:ext cx="10725912" cy="73152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Phạm vi &amp; tính khả thi</a:t>
            </a:r>
            <a:endParaRPr lang="en-US" sz="2700" dirty="0"/>
          </a:p>
        </p:txBody>
      </p:sp>
      <p:sp>
        <p:nvSpPr>
          <p:cNvPr id="4" name="Text 2"/>
          <p:cNvSpPr/>
          <p:nvPr/>
        </p:nvSpPr>
        <p:spPr>
          <a:xfrm>
            <a:off x="731520" y="1920240"/>
            <a:ext cx="5029200" cy="320040"/>
          </a:xfrm>
          <a:prstGeom prst="rect">
            <a:avLst/>
          </a:prstGeom>
          <a:noFill/>
          <a:ln/>
        </p:spPr>
        <p:txBody>
          <a:bodyPr wrap="square" lIns="0" tIns="0" rIns="0" bIns="0" rtlCol="0" anchor="ctr"/>
          <a:lstStyle/>
          <a:p>
            <a:pPr indent="0" marL="0">
              <a:buNone/>
            </a:pPr>
            <a:r>
              <a:rPr lang="en-US" sz="1350" b="1" dirty="0">
                <a:solidFill>
                  <a:srgbClr val="8A2433"/>
                </a:solidFill>
                <a:latin typeface="Segoe UI" pitchFamily="34" charset="0"/>
                <a:ea typeface="Segoe UI" pitchFamily="34" charset="-122"/>
                <a:cs typeface="Segoe UI" pitchFamily="34" charset="-120"/>
              </a:rPr>
              <a:t>TRONG LUẬN VĂN</a:t>
            </a:r>
            <a:endParaRPr lang="en-US" sz="1350" dirty="0"/>
          </a:p>
        </p:txBody>
      </p:sp>
      <p:sp>
        <p:nvSpPr>
          <p:cNvPr id="5" name="Text 3"/>
          <p:cNvSpPr/>
          <p:nvPr/>
        </p:nvSpPr>
        <p:spPr>
          <a:xfrm>
            <a:off x="731520" y="2286000"/>
            <a:ext cx="5120640" cy="2011680"/>
          </a:xfrm>
          <a:prstGeom prst="rect">
            <a:avLst/>
          </a:prstGeom>
          <a:noFill/>
          <a:ln/>
        </p:spPr>
        <p:txBody>
          <a:bodyPr wrap="square" lIns="0" tIns="0" rIns="0" bIns="0" rtlCol="0" anchor="ctr"/>
          <a:lstStyle/>
          <a:p>
            <a:pPr indent="0" marL="0">
              <a:lnSpc>
                <a:spcPct val="130000"/>
              </a:lnSpc>
              <a:buNone/>
            </a:pPr>
            <a:r>
              <a:rPr lang="en-US" sz="1500" dirty="0">
                <a:solidFill>
                  <a:srgbClr val="3C434B"/>
                </a:solidFill>
                <a:latin typeface="Segoe UI" pitchFamily="34" charset="0"/>
                <a:ea typeface="Segoe UI" pitchFamily="34" charset="-122"/>
                <a:cs typeface="Segoe UI" pitchFamily="34" charset="-120"/>
              </a:rPr>
              <a:t>• Chấm màn-0 (Đóng góp 1, reference-free)</a:t>
            </a:r>
            <a:endParaRPr lang="en-US" sz="1500" dirty="0"/>
          </a:p>
          <a:p>
            <a:pPr indent="0" marL="0">
              <a:lnSpc>
                <a:spcPct val="130000"/>
              </a:lnSpc>
              <a:buNone/>
            </a:pPr>
            <a:r>
              <a:rPr lang="en-US" sz="1500" dirty="0">
                <a:solidFill>
                  <a:srgbClr val="3C434B"/>
                </a:solidFill>
                <a:latin typeface="Segoe UI" pitchFamily="34" charset="0"/>
                <a:ea typeface="Segoe UI" pitchFamily="34" charset="-122"/>
                <a:cs typeface="Segoe UI" pitchFamily="34" charset="-120"/>
              </a:rPr>
              <a:t>• Đa bước = SUY LUẬN TRẬT TỰ MÀN (Đóng góp 2): τ-b + ordering gap</a:t>
            </a:r>
            <a:endParaRPr lang="en-US" sz="1500" dirty="0"/>
          </a:p>
          <a:p>
            <a:pPr indent="0" marL="0">
              <a:lnSpc>
                <a:spcPct val="130000"/>
              </a:lnSpc>
              <a:buNone/>
            </a:pPr>
            <a:r>
              <a:rPr lang="en-US" sz="1500" dirty="0">
                <a:solidFill>
                  <a:srgbClr val="3C434B"/>
                </a:solidFill>
                <a:latin typeface="Segoe UI" pitchFamily="34" charset="0"/>
                <a:ea typeface="Segoe UI" pitchFamily="34" charset="-122"/>
                <a:cs typeface="Segoe UI" pitchFamily="34" charset="-120"/>
              </a:rPr>
              <a:t>• Thang bậc C0–C4 + pilot người chấm</a:t>
            </a:r>
            <a:endParaRPr lang="en-US" sz="1500" dirty="0"/>
          </a:p>
        </p:txBody>
      </p:sp>
      <p:sp>
        <p:nvSpPr>
          <p:cNvPr id="6" name="Text 4"/>
          <p:cNvSpPr/>
          <p:nvPr/>
        </p:nvSpPr>
        <p:spPr>
          <a:xfrm>
            <a:off x="6400800" y="1920240"/>
            <a:ext cx="5029200" cy="320040"/>
          </a:xfrm>
          <a:prstGeom prst="rect">
            <a:avLst/>
          </a:prstGeom>
          <a:noFill/>
          <a:ln/>
        </p:spPr>
        <p:txBody>
          <a:bodyPr wrap="square" lIns="0" tIns="0" rIns="0" bIns="0" rtlCol="0" anchor="ctr"/>
          <a:lstStyle/>
          <a:p>
            <a:pPr indent="0" marL="0">
              <a:buNone/>
            </a:pPr>
            <a:r>
              <a:rPr lang="en-US" sz="1350" b="1" dirty="0">
                <a:solidFill>
                  <a:srgbClr val="8A929B"/>
                </a:solidFill>
                <a:latin typeface="Segoe UI" pitchFamily="34" charset="0"/>
                <a:ea typeface="Segoe UI" pitchFamily="34" charset="-122"/>
                <a:cs typeface="Segoe UI" pitchFamily="34" charset="-120"/>
              </a:rPr>
              <a:t>FUTURE-WORK  (chưa có dữ liệu để chấm)</a:t>
            </a:r>
            <a:endParaRPr lang="en-US" sz="1350" dirty="0"/>
          </a:p>
        </p:txBody>
      </p:sp>
      <p:sp>
        <p:nvSpPr>
          <p:cNvPr id="7" name="Text 5"/>
          <p:cNvSpPr/>
          <p:nvPr/>
        </p:nvSpPr>
        <p:spPr>
          <a:xfrm>
            <a:off x="6400800" y="2286000"/>
            <a:ext cx="5029200" cy="1828800"/>
          </a:xfrm>
          <a:prstGeom prst="rect">
            <a:avLst/>
          </a:prstGeom>
          <a:noFill/>
          <a:ln/>
        </p:spPr>
        <p:txBody>
          <a:bodyPr wrap="square" lIns="0" tIns="0" rIns="0" bIns="0" rtlCol="0" anchor="ctr"/>
          <a:lstStyle/>
          <a:p>
            <a:pPr indent="0" marL="0">
              <a:lnSpc>
                <a:spcPct val="130000"/>
              </a:lnSpc>
              <a:buNone/>
            </a:pPr>
            <a:r>
              <a:rPr lang="en-US" sz="1500" dirty="0">
                <a:solidFill>
                  <a:srgbClr val="3C434B"/>
                </a:solidFill>
                <a:latin typeface="Segoe UI" pitchFamily="34" charset="0"/>
                <a:ea typeface="Segoe UI" pitchFamily="34" charset="-122"/>
                <a:cs typeface="Segoe UI" pitchFamily="34" charset="-120"/>
              </a:rPr>
              <a:t>• Chấm định lượng tiếng Việt</a:t>
            </a:r>
            <a:endParaRPr lang="en-US" sz="1500" dirty="0"/>
          </a:p>
          <a:p>
            <a:pPr indent="0" marL="0">
              <a:lnSpc>
                <a:spcPct val="130000"/>
              </a:lnSpc>
              <a:buNone/>
            </a:pPr>
            <a:r>
              <a:rPr lang="en-US" sz="1500" dirty="0">
                <a:solidFill>
                  <a:srgbClr val="3C434B"/>
                </a:solidFill>
                <a:latin typeface="Segoe UI" pitchFamily="34" charset="0"/>
                <a:ea typeface="Segoe UI" pitchFamily="34" charset="-122"/>
                <a:cs typeface="Segoe UI" pitchFamily="34" charset="-120"/>
              </a:rPr>
              <a:t>• World-model tự huấn luyện (cần train)</a:t>
            </a:r>
            <a:endParaRPr lang="en-US" sz="1500" dirty="0"/>
          </a:p>
          <a:p>
            <a:pPr indent="0" marL="0">
              <a:lnSpc>
                <a:spcPct val="130000"/>
              </a:lnSpc>
              <a:buNone/>
            </a:pPr>
            <a:r>
              <a:rPr lang="en-US" sz="1500" dirty="0">
                <a:solidFill>
                  <a:srgbClr val="3C434B"/>
                </a:solidFill>
                <a:latin typeface="Segoe UI" pitchFamily="34" charset="0"/>
                <a:ea typeface="Segoe UI" pitchFamily="34" charset="-122"/>
                <a:cs typeface="Segoe UI" pitchFamily="34" charset="-120"/>
              </a:rPr>
              <a:t>• Mở rộng nhánh web (Mind2Web)</a:t>
            </a:r>
            <a:endParaRPr lang="en-US" sz="1500" dirty="0"/>
          </a:p>
        </p:txBody>
      </p:sp>
      <p:sp>
        <p:nvSpPr>
          <p:cNvPr id="8" name="Shape 6"/>
          <p:cNvSpPr/>
          <p:nvPr/>
        </p:nvSpPr>
        <p:spPr>
          <a:xfrm>
            <a:off x="731520" y="4709160"/>
            <a:ext cx="10725912" cy="868680"/>
          </a:xfrm>
          <a:prstGeom prst="rect">
            <a:avLst/>
          </a:prstGeom>
          <a:solidFill>
            <a:srgbClr val="F4F6F8"/>
          </a:solidFill>
          <a:ln/>
        </p:spPr>
      </p:sp>
      <p:sp>
        <p:nvSpPr>
          <p:cNvPr id="9" name="Text 7"/>
          <p:cNvSpPr/>
          <p:nvPr/>
        </p:nvSpPr>
        <p:spPr>
          <a:xfrm>
            <a:off x="1005840" y="4709160"/>
            <a:ext cx="10177272" cy="868680"/>
          </a:xfrm>
          <a:prstGeom prst="rect">
            <a:avLst/>
          </a:prstGeom>
          <a:noFill/>
          <a:ln/>
        </p:spPr>
        <p:txBody>
          <a:bodyPr wrap="square" lIns="0" tIns="0" rIns="0" bIns="0" rtlCol="0" anchor="ctr"/>
          <a:lstStyle/>
          <a:p>
            <a:pPr indent="0" marL="0">
              <a:lnSpc>
                <a:spcPct val="110000"/>
              </a:lnSpc>
              <a:buNone/>
            </a:pPr>
            <a:r>
              <a:rPr lang="en-US" sz="1450" b="1" dirty="0">
                <a:solidFill>
                  <a:srgbClr val="1C2530"/>
                </a:solidFill>
                <a:latin typeface="Segoe UI" pitchFamily="34" charset="0"/>
                <a:ea typeface="Segoe UI" pitchFamily="34" charset="-122"/>
                <a:cs typeface="Segoe UI" pitchFamily="34" charset="-120"/>
              </a:rPr>
              <a:t>Khả thi: không huấn luyện model · 1 GPU 24GB + ~$100–300 (model rẻ + chạy theo lô) · lộ trình 6 pha có cổng kiểm tra.</a:t>
            </a:r>
            <a:endParaRPr lang="en-US" sz="1450" dirty="0"/>
          </a:p>
        </p:txBody>
      </p:sp>
      <p:sp>
        <p:nvSpPr>
          <p:cNvPr id="10" name="Text 8"/>
          <p:cNvSpPr/>
          <p:nvPr/>
        </p:nvSpPr>
        <p:spPr>
          <a:xfrm>
            <a:off x="11183112" y="6419088"/>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822960"/>
            <a:ext cx="822960" cy="73152"/>
          </a:xfrm>
          <a:prstGeom prst="rect">
            <a:avLst/>
          </a:prstGeom>
          <a:solidFill>
            <a:srgbClr val="8A2433"/>
          </a:solidFill>
          <a:ln/>
        </p:spPr>
      </p:sp>
      <p:sp>
        <p:nvSpPr>
          <p:cNvPr id="3" name="Text 1"/>
          <p:cNvSpPr/>
          <p:nvPr/>
        </p:nvSpPr>
        <p:spPr>
          <a:xfrm>
            <a:off x="731520" y="1051560"/>
            <a:ext cx="10058400" cy="365760"/>
          </a:xfrm>
          <a:prstGeom prst="rect">
            <a:avLst/>
          </a:prstGeom>
          <a:noFill/>
          <a:ln/>
        </p:spPr>
        <p:txBody>
          <a:bodyPr wrap="square" rtlCol="0" anchor="ctr"/>
          <a:lstStyle/>
          <a:p>
            <a:pPr indent="0" marL="0">
              <a:buNone/>
            </a:pPr>
            <a:r>
              <a:rPr lang="en-US" sz="1300" b="1" spc="300" kern="0" dirty="0">
                <a:solidFill>
                  <a:srgbClr val="8A2433"/>
                </a:solidFill>
                <a:latin typeface="Segoe UI" pitchFamily="34" charset="0"/>
                <a:ea typeface="Segoe UI" pitchFamily="34" charset="-122"/>
                <a:cs typeface="Segoe UI" pitchFamily="34" charset="-120"/>
              </a:rPr>
              <a:t>ĐỀ NGHỊ DUYỆT PHẠM VI</a:t>
            </a:r>
            <a:endParaRPr lang="en-US" sz="1300" dirty="0"/>
          </a:p>
        </p:txBody>
      </p:sp>
      <p:sp>
        <p:nvSpPr>
          <p:cNvPr id="4" name="Text 2"/>
          <p:cNvSpPr/>
          <p:nvPr/>
        </p:nvSpPr>
        <p:spPr>
          <a:xfrm>
            <a:off x="731520" y="1463040"/>
            <a:ext cx="10515600" cy="640080"/>
          </a:xfrm>
          <a:prstGeom prst="rect">
            <a:avLst/>
          </a:prstGeom>
          <a:noFill/>
          <a:ln/>
        </p:spPr>
        <p:txBody>
          <a:bodyPr wrap="square" rtlCol="0" anchor="ctr"/>
          <a:lstStyle/>
          <a:p>
            <a:pPr indent="0" marL="0">
              <a:buNone/>
            </a:pPr>
            <a:r>
              <a:rPr lang="en-US" sz="3000" b="1" dirty="0">
                <a:solidFill>
                  <a:srgbClr val="1C2530"/>
                </a:solidFill>
                <a:latin typeface="Cambria" pitchFamily="34" charset="0"/>
                <a:ea typeface="Cambria" pitchFamily="34" charset="-122"/>
                <a:cs typeface="Cambria" pitchFamily="34" charset="-120"/>
              </a:rPr>
              <a:t>Ba thứ luận văn mang lại</a:t>
            </a:r>
            <a:endParaRPr lang="en-US" sz="3000" dirty="0"/>
          </a:p>
        </p:txBody>
      </p:sp>
      <p:sp>
        <p:nvSpPr>
          <p:cNvPr id="5" name="Text 3"/>
          <p:cNvSpPr/>
          <p:nvPr/>
        </p:nvSpPr>
        <p:spPr>
          <a:xfrm>
            <a:off x="731520" y="2514600"/>
            <a:ext cx="457200" cy="548640"/>
          </a:xfrm>
          <a:prstGeom prst="rect">
            <a:avLst/>
          </a:prstGeom>
          <a:noFill/>
          <a:ln/>
        </p:spPr>
        <p:txBody>
          <a:bodyPr wrap="square" lIns="0" tIns="0" rIns="0" bIns="0" rtlCol="0" anchor="ctr"/>
          <a:lstStyle/>
          <a:p>
            <a:pPr indent="0" marL="0">
              <a:buNone/>
            </a:pPr>
            <a:r>
              <a:rPr lang="en-US" sz="1800" b="1" dirty="0">
                <a:solidFill>
                  <a:srgbClr val="8A2433"/>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234440" y="2496312"/>
            <a:ext cx="10058400" cy="822960"/>
          </a:xfrm>
          <a:prstGeom prst="rect">
            <a:avLst/>
          </a:prstGeom>
          <a:noFill/>
          <a:ln/>
        </p:spPr>
        <p:txBody>
          <a:bodyPr wrap="square" lIns="0" tIns="0" rIns="0" bIns="0" rtlCol="0" anchor="t"/>
          <a:lstStyle/>
          <a:p>
            <a:pPr indent="0" marL="0">
              <a:lnSpc>
                <a:spcPct val="105000"/>
              </a:lnSpc>
              <a:buNone/>
            </a:pPr>
            <a:r>
              <a:rPr lang="en-US" sz="1600" dirty="0">
                <a:solidFill>
                  <a:srgbClr val="3C434B"/>
                </a:solidFill>
                <a:latin typeface="Segoe UI" pitchFamily="34" charset="0"/>
                <a:ea typeface="Segoe UI" pitchFamily="34" charset="-122"/>
                <a:cs typeface="Segoe UI" pitchFamily="34" charset="-120"/>
              </a:rPr>
              <a:t>Một CÁCH ĐÁNH GIÁ hướng-dẫn-từ-ảnh khi không có hướng dẫn mẫu (reference-free, neo VH-silver).</a:t>
            </a:r>
            <a:endParaRPr lang="en-US" sz="1600" dirty="0"/>
          </a:p>
        </p:txBody>
      </p:sp>
      <p:sp>
        <p:nvSpPr>
          <p:cNvPr id="7" name="Text 5"/>
          <p:cNvSpPr/>
          <p:nvPr/>
        </p:nvSpPr>
        <p:spPr>
          <a:xfrm>
            <a:off x="731520" y="3429000"/>
            <a:ext cx="457200" cy="548640"/>
          </a:xfrm>
          <a:prstGeom prst="rect">
            <a:avLst/>
          </a:prstGeom>
          <a:noFill/>
          <a:ln/>
        </p:spPr>
        <p:txBody>
          <a:bodyPr wrap="square" lIns="0" tIns="0" rIns="0" bIns="0" rtlCol="0" anchor="ctr"/>
          <a:lstStyle/>
          <a:p>
            <a:pPr indent="0" marL="0">
              <a:buNone/>
            </a:pPr>
            <a:r>
              <a:rPr lang="en-US" sz="1800" b="1" dirty="0">
                <a:solidFill>
                  <a:srgbClr val="8A2433"/>
                </a:solidFill>
                <a:latin typeface="Cambria" pitchFamily="34" charset="0"/>
                <a:ea typeface="Cambria" pitchFamily="34" charset="-122"/>
                <a:cs typeface="Cambria" pitchFamily="34" charset="-120"/>
              </a:rPr>
              <a:t>2.</a:t>
            </a:r>
            <a:endParaRPr lang="en-US" sz="1800" dirty="0"/>
          </a:p>
        </p:txBody>
      </p:sp>
      <p:sp>
        <p:nvSpPr>
          <p:cNvPr id="8" name="Text 6"/>
          <p:cNvSpPr/>
          <p:nvPr/>
        </p:nvSpPr>
        <p:spPr>
          <a:xfrm>
            <a:off x="1234440" y="3410712"/>
            <a:ext cx="10058400" cy="822960"/>
          </a:xfrm>
          <a:prstGeom prst="rect">
            <a:avLst/>
          </a:prstGeom>
          <a:noFill/>
          <a:ln/>
        </p:spPr>
        <p:txBody>
          <a:bodyPr wrap="square" lIns="0" tIns="0" rIns="0" bIns="0" rtlCol="0" anchor="t"/>
          <a:lstStyle/>
          <a:p>
            <a:pPr indent="0" marL="0">
              <a:lnSpc>
                <a:spcPct val="105000"/>
              </a:lnSpc>
              <a:buNone/>
            </a:pPr>
            <a:r>
              <a:rPr lang="en-US" sz="1600" dirty="0">
                <a:solidFill>
                  <a:srgbClr val="3C434B"/>
                </a:solidFill>
                <a:latin typeface="Segoe UI" pitchFamily="34" charset="0"/>
                <a:ea typeface="Segoe UI" pitchFamily="34" charset="-122"/>
                <a:cs typeface="Segoe UI" pitchFamily="34" charset="-120"/>
              </a:rPr>
              <a:t>Bài toán SUY LUẬN TRẬT TỰ MÀN: đưa N ảnh xáo trộn → máy tự xếp + sinh hướng dẫn; đo Kendall τ-b + ordering gap + signal-attribution theo cue.</a:t>
            </a:r>
            <a:endParaRPr lang="en-US" sz="1600" dirty="0"/>
          </a:p>
        </p:txBody>
      </p:sp>
      <p:sp>
        <p:nvSpPr>
          <p:cNvPr id="9" name="Text 7"/>
          <p:cNvSpPr/>
          <p:nvPr/>
        </p:nvSpPr>
        <p:spPr>
          <a:xfrm>
            <a:off x="731520" y="4343400"/>
            <a:ext cx="457200" cy="548640"/>
          </a:xfrm>
          <a:prstGeom prst="rect">
            <a:avLst/>
          </a:prstGeom>
          <a:noFill/>
          <a:ln/>
        </p:spPr>
        <p:txBody>
          <a:bodyPr wrap="square" lIns="0" tIns="0" rIns="0" bIns="0" rtlCol="0" anchor="ctr"/>
          <a:lstStyle/>
          <a:p>
            <a:pPr indent="0" marL="0">
              <a:buNone/>
            </a:pPr>
            <a:r>
              <a:rPr lang="en-US" sz="1800" b="1" dirty="0">
                <a:solidFill>
                  <a:srgbClr val="8A2433"/>
                </a:solidFill>
                <a:latin typeface="Cambria" pitchFamily="34" charset="0"/>
                <a:ea typeface="Cambria" pitchFamily="34" charset="-122"/>
                <a:cs typeface="Cambria" pitchFamily="34" charset="-120"/>
              </a:rPr>
              <a:t>3.</a:t>
            </a:r>
            <a:endParaRPr lang="en-US" sz="1800" dirty="0"/>
          </a:p>
        </p:txBody>
      </p:sp>
      <p:sp>
        <p:nvSpPr>
          <p:cNvPr id="10" name="Text 8"/>
          <p:cNvSpPr/>
          <p:nvPr/>
        </p:nvSpPr>
        <p:spPr>
          <a:xfrm>
            <a:off x="1234440" y="4325112"/>
            <a:ext cx="10058400" cy="822960"/>
          </a:xfrm>
          <a:prstGeom prst="rect">
            <a:avLst/>
          </a:prstGeom>
          <a:noFill/>
          <a:ln/>
        </p:spPr>
        <p:txBody>
          <a:bodyPr wrap="square" lIns="0" tIns="0" rIns="0" bIns="0" rtlCol="0" anchor="t"/>
          <a:lstStyle/>
          <a:p>
            <a:pPr indent="0" marL="0">
              <a:lnSpc>
                <a:spcPct val="105000"/>
              </a:lnSpc>
              <a:buNone/>
            </a:pPr>
            <a:r>
              <a:rPr lang="en-US" sz="1600" dirty="0">
                <a:solidFill>
                  <a:srgbClr val="3C434B"/>
                </a:solidFill>
                <a:latin typeface="Segoe UI" pitchFamily="34" charset="0"/>
                <a:ea typeface="Segoe UI" pitchFamily="34" charset="-122"/>
                <a:cs typeface="Segoe UI" pitchFamily="34" charset="-120"/>
              </a:rPr>
              <a:t>Một THÍ NGHIỆM có kiểm soát (thang bậc C0–C4) + pilot người chấm.</a:t>
            </a:r>
            <a:endParaRPr lang="en-US" sz="1600" dirty="0"/>
          </a:p>
        </p:txBody>
      </p:sp>
      <p:sp>
        <p:nvSpPr>
          <p:cNvPr id="11" name="Shape 9"/>
          <p:cNvSpPr/>
          <p:nvPr/>
        </p:nvSpPr>
        <p:spPr>
          <a:xfrm>
            <a:off x="731520" y="5349240"/>
            <a:ext cx="10725912" cy="777240"/>
          </a:xfrm>
          <a:prstGeom prst="rect">
            <a:avLst/>
          </a:prstGeom>
          <a:solidFill>
            <a:srgbClr val="F4F6F8"/>
          </a:solidFill>
          <a:ln/>
        </p:spPr>
      </p:sp>
      <p:sp>
        <p:nvSpPr>
          <p:cNvPr id="12" name="Text 10"/>
          <p:cNvSpPr/>
          <p:nvPr/>
        </p:nvSpPr>
        <p:spPr>
          <a:xfrm>
            <a:off x="1005840" y="5349240"/>
            <a:ext cx="10177272" cy="777240"/>
          </a:xfrm>
          <a:prstGeom prst="rect">
            <a:avLst/>
          </a:prstGeom>
          <a:noFill/>
          <a:ln/>
        </p:spPr>
        <p:txBody>
          <a:bodyPr wrap="square" lIns="0" tIns="0" rIns="0" bIns="0" rtlCol="0" anchor="ctr"/>
          <a:lstStyle/>
          <a:p>
            <a:pPr indent="0" marL="0">
              <a:buNone/>
            </a:pPr>
            <a:r>
              <a:rPr lang="en-US" sz="1450" dirty="0">
                <a:solidFill>
                  <a:srgbClr val="1C2530"/>
                </a:solidFill>
                <a:latin typeface="Segoe UI" pitchFamily="34" charset="0"/>
                <a:ea typeface="Segoe UI" pitchFamily="34" charset="-122"/>
                <a:cs typeface="Segoe UI" pitchFamily="34" charset="-120"/>
              </a:rPr>
              <a:t>Tuần 1: chạy kill-test — K1 (tự đo recall) + KN (độ dài episode) + KZ′ (prior-art) + KB (chống leak) — rồi báo lại thầy chốt.</a:t>
            </a:r>
            <a:endParaRPr lang="en-US" sz="1450" dirty="0"/>
          </a:p>
        </p:txBody>
      </p:sp>
      <p:sp>
        <p:nvSpPr>
          <p:cNvPr id="13" name="Text 11"/>
          <p:cNvSpPr/>
          <p:nvPr/>
        </p:nvSpPr>
        <p:spPr>
          <a:xfrm>
            <a:off x="731520" y="6263640"/>
            <a:ext cx="5486400" cy="365760"/>
          </a:xfrm>
          <a:prstGeom prst="rect">
            <a:avLst/>
          </a:prstGeom>
          <a:noFill/>
          <a:ln/>
        </p:spPr>
        <p:txBody>
          <a:bodyPr wrap="square" rtlCol="0" anchor="ctr"/>
          <a:lstStyle/>
          <a:p>
            <a:pPr indent="0" marL="0">
              <a:buNone/>
            </a:pPr>
            <a:r>
              <a:rPr lang="en-US" sz="1500" i="1" dirty="0">
                <a:solidFill>
                  <a:srgbClr val="8A929B"/>
                </a:solidFill>
                <a:latin typeface="Cambria" pitchFamily="34" charset="0"/>
                <a:ea typeface="Cambria" pitchFamily="34" charset="-122"/>
                <a:cs typeface="Cambria" pitchFamily="34" charset="-120"/>
              </a:rPr>
              <a:t>Em cảm ơn thầy.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Sinh tu dong huong dan su dung phan mem (Screen-Ordering)</dc:title>
  <dc:subject>PptxGenJS Presentation</dc:subject>
  <dc:creator>Luan van thac si</dc:creator>
  <cp:lastModifiedBy>Luan van thac si</cp:lastModifiedBy>
  <cp:revision>1</cp:revision>
  <dcterms:created xsi:type="dcterms:W3CDTF">2026-06-17T17:18:31Z</dcterms:created>
  <dcterms:modified xsi:type="dcterms:W3CDTF">2026-06-17T17:18:31Z</dcterms:modified>
</cp:coreProperties>
</file>