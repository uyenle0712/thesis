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E4A9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QUY TRÌNH XỬ LÝ ·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Sinh hướng dẫn sử dụng phần mềm</a:t>
            </a:r>
            <a:endParaRPr lang="en-US" sz="33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từ ảnh giao diện và câu hỏi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41248" y="39776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9D2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Bản trình bày quy trình xử lý — xin thầy chốt khung trước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1248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FA0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Học viên · · · · ·      Giảng viên hướng dẫn · · · · ·     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445752" y="1764792"/>
            <a:ext cx="1911096" cy="3054096"/>
          </a:xfrm>
          <a:prstGeom prst="roundRect">
            <a:avLst>
              <a:gd name="adj" fmla="val 3349"/>
            </a:avLst>
          </a:prstGeom>
          <a:solidFill>
            <a:srgbClr val="FFFFFF"/>
          </a:solidFill>
          <a:ln w="12700">
            <a:solidFill>
              <a:srgbClr val="DBE0E6"/>
            </a:solidFill>
            <a:prstDash val="solid"/>
          </a:ln>
          <a:effectLst>
            <a:outerShdw sx="100000" sy="100000" kx="0" ky="0" algn="bl" rotWithShape="0" blurRad="88900" dist="38100" dir="5400000">
              <a:srgbClr val="9AA3AD">
                <a:alpha val="28000"/>
              </a:srgbClr>
            </a:outerShdw>
          </a:effectLst>
        </p:spPr>
      </p:sp>
      <p:pic>
        <p:nvPicPr>
          <p:cNvPr id="7" name="Image 0" descr="_img/real_mv_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09760" y="1828800"/>
            <a:ext cx="17830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66928"/>
            <a:ext cx="10506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BE5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VÀO VÀ RA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41248" y="896112"/>
            <a:ext cx="10506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Một ảnh và một câu hỏi, ra hướng dẫn từng bước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51560" y="2130552"/>
            <a:ext cx="2002536" cy="3456432"/>
          </a:xfrm>
          <a:prstGeom prst="roundRect">
            <a:avLst>
              <a:gd name="adj" fmla="val 3196"/>
            </a:avLst>
          </a:prstGeom>
          <a:solidFill>
            <a:srgbClr val="FFFFFF"/>
          </a:solidFill>
          <a:ln w="12700">
            <a:solidFill>
              <a:srgbClr val="DBE0E6"/>
            </a:solidFill>
            <a:prstDash val="solid"/>
          </a:ln>
          <a:effectLst>
            <a:outerShdw sx="100000" sy="100000" kx="0" ky="0" algn="bl" rotWithShape="0" blurRad="88900" dist="38100" dir="5400000">
              <a:srgbClr val="9AA3AD">
                <a:alpha val="28000"/>
              </a:srgbClr>
            </a:outerShdw>
          </a:effectLst>
        </p:spPr>
      </p:sp>
      <p:pic>
        <p:nvPicPr>
          <p:cNvPr id="5" name="Image 0" descr="_img/real_mv_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5568" y="2194560"/>
            <a:ext cx="1874520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5239512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Ảnh màn hình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977640" y="22860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E5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Câu hỏi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931920" y="2606040"/>
            <a:ext cx="3063240" cy="1097280"/>
          </a:xfrm>
          <a:prstGeom prst="roundRect">
            <a:avLst>
              <a:gd name="adj" fmla="val 6667"/>
            </a:avLst>
          </a:prstGeom>
          <a:solidFill>
            <a:srgbClr val="F3F5F7"/>
          </a:solidFill>
          <a:ln/>
        </p:spPr>
      </p:sp>
      <p:sp>
        <p:nvSpPr>
          <p:cNvPr id="9" name="Text 6"/>
          <p:cNvSpPr/>
          <p:nvPr/>
        </p:nvSpPr>
        <p:spPr>
          <a:xfrm>
            <a:off x="4160520" y="269748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D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“Cần làm gì để đặt giờ 20:35</a:t>
            </a:r>
            <a:endParaRPr lang="en-US" sz="15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D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rồi xác nhận?”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223760" y="2788920"/>
            <a:ext cx="502920" cy="0"/>
          </a:xfrm>
          <a:prstGeom prst="line">
            <a:avLst/>
          </a:prstGeom>
          <a:noFill/>
          <a:ln w="31750">
            <a:solidFill>
              <a:srgbClr val="BE5A2E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7909560" y="2148840"/>
            <a:ext cx="3520440" cy="3474720"/>
          </a:xfrm>
          <a:prstGeom prst="roundRect">
            <a:avLst>
              <a:gd name="adj" fmla="val 2632"/>
            </a:avLst>
          </a:prstGeom>
          <a:solidFill>
            <a:srgbClr val="F7EBE3"/>
          </a:solidFill>
          <a:ln/>
        </p:spPr>
      </p:sp>
      <p:sp>
        <p:nvSpPr>
          <p:cNvPr id="12" name="Text 9"/>
          <p:cNvSpPr/>
          <p:nvPr/>
        </p:nvSpPr>
        <p:spPr>
          <a:xfrm>
            <a:off x="8183880" y="23774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E5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Hướng dẫn sinh ra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183880" y="288036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D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Chọn giờ “8”, phút “35”</a:t>
            </a:r>
            <a:endParaRPr lang="en-US" sz="1700" dirty="0"/>
          </a:p>
          <a:p>
            <a:pPr algn="l" indent="0" marL="0">
              <a:lnSpc>
                <a:spcPct val="125000"/>
              </a:lnSpc>
              <a:buNone/>
            </a:pPr>
            <a:endParaRPr lang="en-US" sz="17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D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Chọn buổi “PM”</a:t>
            </a:r>
            <a:endParaRPr lang="en-US" sz="1700" dirty="0"/>
          </a:p>
          <a:p>
            <a:pPr algn="l" indent="0" marL="0">
              <a:lnSpc>
                <a:spcPct val="125000"/>
              </a:lnSpc>
              <a:buNone/>
            </a:pPr>
            <a:endParaRPr lang="en-US" sz="17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D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Nhấn “OK”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41248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454C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Nếu tác vụ trải nhiều màn, người dùng đưa vào nhiều ảnh — và các ảnh có thể bị xáo trộn.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122883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2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66928"/>
            <a:ext cx="10506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BE5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TOÀN CẢNH QUY TRÌNH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41248" y="896112"/>
            <a:ext cx="10506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Một hệ duy nhất — chọn nhánh theo số ảnh đưa vào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41248" y="2697480"/>
            <a:ext cx="1965960" cy="3246120"/>
          </a:xfrm>
          <a:prstGeom prst="roundRect">
            <a:avLst>
              <a:gd name="adj" fmla="val 4651"/>
            </a:avLst>
          </a:prstGeom>
          <a:solidFill>
            <a:srgbClr val="17233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28529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4A9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VÀO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0976" y="3200400"/>
            <a:ext cx="1737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Một hoặc nhiều ảnh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(có thể xáo trộn)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kèm câu hỏi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" y="489204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C9D2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chọn nhánh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C9D2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theo số ảnh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52928" y="3246120"/>
            <a:ext cx="457200" cy="0"/>
          </a:xfrm>
          <a:prstGeom prst="line">
            <a:avLst/>
          </a:prstGeom>
          <a:noFill/>
          <a:ln w="31750">
            <a:solidFill>
              <a:srgbClr val="52657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52928" y="5074920"/>
            <a:ext cx="457200" cy="0"/>
          </a:xfrm>
          <a:prstGeom prst="line">
            <a:avLst/>
          </a:prstGeom>
          <a:noFill/>
          <a:ln w="31750">
            <a:solidFill>
              <a:srgbClr val="52657A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42900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5265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Chỉ một ảnh — một màn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29000" y="2999232"/>
            <a:ext cx="1783080" cy="914400"/>
          </a:xfrm>
          <a:prstGeom prst="roundRect">
            <a:avLst>
              <a:gd name="adj" fmla="val 9000"/>
            </a:avLst>
          </a:prstGeom>
          <a:solidFill>
            <a:srgbClr val="F3F5F7"/>
          </a:solidFill>
          <a:ln/>
        </p:spPr>
      </p:sp>
      <p:sp>
        <p:nvSpPr>
          <p:cNvPr id="12" name="Shape 10"/>
          <p:cNvSpPr/>
          <p:nvPr/>
        </p:nvSpPr>
        <p:spPr>
          <a:xfrm>
            <a:off x="3538728" y="3072384"/>
            <a:ext cx="329184" cy="329184"/>
          </a:xfrm>
          <a:prstGeom prst="ellipse">
            <a:avLst/>
          </a:prstGeom>
          <a:solidFill>
            <a:srgbClr val="52657A"/>
          </a:solidFill>
          <a:ln/>
        </p:spPr>
      </p:sp>
      <p:sp>
        <p:nvSpPr>
          <p:cNvPr id="13" name="Text 11"/>
          <p:cNvSpPr/>
          <p:nvPr/>
        </p:nvSpPr>
        <p:spPr>
          <a:xfrm>
            <a:off x="3538728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24" dirty="0"/>
          </a:p>
        </p:txBody>
      </p:sp>
      <p:sp>
        <p:nvSpPr>
          <p:cNvPr id="14" name="Text 12"/>
          <p:cNvSpPr/>
          <p:nvPr/>
        </p:nvSpPr>
        <p:spPr>
          <a:xfrm>
            <a:off x="3447288" y="32004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D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Viết mù</a:t>
            </a:r>
            <a:endParaRPr lang="en-US" sz="12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D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(ảnh + câu hỏi)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230368" y="3456432"/>
            <a:ext cx="237744" cy="0"/>
          </a:xfrm>
          <a:prstGeom prst="line">
            <a:avLst/>
          </a:prstGeom>
          <a:noFill/>
          <a:ln w="31750">
            <a:solidFill>
              <a:srgbClr val="BE5A2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513832" y="2999232"/>
            <a:ext cx="1783080" cy="914400"/>
          </a:xfrm>
          <a:prstGeom prst="roundRect">
            <a:avLst>
              <a:gd name="adj" fmla="val 9000"/>
            </a:avLst>
          </a:prstGeom>
          <a:solidFill>
            <a:srgbClr val="F3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5623560" y="3072384"/>
            <a:ext cx="329184" cy="329184"/>
          </a:xfrm>
          <a:prstGeom prst="ellipse">
            <a:avLst/>
          </a:prstGeom>
          <a:solidFill>
            <a:srgbClr val="BE5A2E"/>
          </a:solidFill>
          <a:ln/>
        </p:spPr>
      </p:sp>
      <p:sp>
        <p:nvSpPr>
          <p:cNvPr id="18" name="Text 16"/>
          <p:cNvSpPr/>
          <p:nvPr/>
        </p:nvSpPr>
        <p:spPr>
          <a:xfrm>
            <a:off x="562356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24" dirty="0"/>
          </a:p>
        </p:txBody>
      </p:sp>
      <p:sp>
        <p:nvSpPr>
          <p:cNvPr id="19" name="Text 17"/>
          <p:cNvSpPr/>
          <p:nvPr/>
        </p:nvSpPr>
        <p:spPr>
          <a:xfrm>
            <a:off x="5532120" y="32004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D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Đối chiếu</a:t>
            </a:r>
            <a:endParaRPr lang="en-US" sz="12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D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nút thật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3456432"/>
            <a:ext cx="237744" cy="0"/>
          </a:xfrm>
          <a:prstGeom prst="line">
            <a:avLst/>
          </a:prstGeom>
          <a:noFill/>
          <a:ln w="31750">
            <a:solidFill>
              <a:srgbClr val="BE5A2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598664" y="2999232"/>
            <a:ext cx="1783080" cy="914400"/>
          </a:xfrm>
          <a:prstGeom prst="roundRect">
            <a:avLst>
              <a:gd name="adj" fmla="val 9000"/>
            </a:avLst>
          </a:prstGeom>
          <a:solidFill>
            <a:srgbClr val="F3F5F7"/>
          </a:solidFill>
          <a:ln/>
        </p:spPr>
      </p:sp>
      <p:sp>
        <p:nvSpPr>
          <p:cNvPr id="22" name="Shape 20"/>
          <p:cNvSpPr/>
          <p:nvPr/>
        </p:nvSpPr>
        <p:spPr>
          <a:xfrm>
            <a:off x="7708392" y="3072384"/>
            <a:ext cx="329184" cy="329184"/>
          </a:xfrm>
          <a:prstGeom prst="ellipse">
            <a:avLst/>
          </a:prstGeom>
          <a:solidFill>
            <a:srgbClr val="52657A"/>
          </a:solidFill>
          <a:ln/>
        </p:spPr>
      </p:sp>
      <p:sp>
        <p:nvSpPr>
          <p:cNvPr id="23" name="Text 21"/>
          <p:cNvSpPr/>
          <p:nvPr/>
        </p:nvSpPr>
        <p:spPr>
          <a:xfrm>
            <a:off x="7708392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24" dirty="0"/>
          </a:p>
        </p:txBody>
      </p:sp>
      <p:sp>
        <p:nvSpPr>
          <p:cNvPr id="24" name="Text 22"/>
          <p:cNvSpPr/>
          <p:nvPr/>
        </p:nvSpPr>
        <p:spPr>
          <a:xfrm>
            <a:off x="7616952" y="32004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D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Viết lại</a:t>
            </a:r>
            <a:endParaRPr lang="en-US" sz="12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D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chỗ bịa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92640" y="320040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6B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bản hướng dẫn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429000" y="4526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5265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Từ hai ảnh trở lên — nhiều màn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429000" y="4864608"/>
            <a:ext cx="3977640" cy="914400"/>
          </a:xfrm>
          <a:prstGeom prst="roundRect">
            <a:avLst>
              <a:gd name="adj" fmla="val 9000"/>
            </a:avLst>
          </a:prstGeom>
          <a:solidFill>
            <a:srgbClr val="F7EBE3"/>
          </a:solidFill>
          <a:ln/>
        </p:spPr>
      </p:sp>
      <p:sp>
        <p:nvSpPr>
          <p:cNvPr id="28" name="Text 26"/>
          <p:cNvSpPr/>
          <p:nvPr/>
        </p:nvSpPr>
        <p:spPr>
          <a:xfrm>
            <a:off x="3584448" y="4864608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BE5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Bước sắp thứ tự trước: 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D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từng cặp → đếm phiếu → gỡ vòng mâu thuẫn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52360" y="5321808"/>
            <a:ext cx="256032" cy="0"/>
          </a:xfrm>
          <a:prstGeom prst="line">
            <a:avLst/>
          </a:prstGeom>
          <a:noFill/>
          <a:ln w="31750">
            <a:solidFill>
              <a:srgbClr val="BE5A2E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772400" y="4864608"/>
            <a:ext cx="4023360" cy="914400"/>
          </a:xfrm>
          <a:prstGeom prst="roundRect">
            <a:avLst>
              <a:gd name="adj" fmla="val 9000"/>
            </a:avLst>
          </a:prstGeom>
          <a:solidFill>
            <a:srgbClr val="F3F5F7"/>
          </a:solidFill>
          <a:ln/>
        </p:spPr>
      </p:sp>
      <p:sp>
        <p:nvSpPr>
          <p:cNvPr id="31" name="Text 29"/>
          <p:cNvSpPr/>
          <p:nvPr/>
        </p:nvSpPr>
        <p:spPr>
          <a:xfrm>
            <a:off x="7918704" y="486460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1D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Rồi chạy đúng nhánh một màn cho TỪNG màn đã sắp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41248" y="60533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Nhánh nhiều màn chính là nhánh một màn, chỉ thêm một bước sắp thứ tự ở đầu.  </a:t>
            </a:r>
            <a:pPr algn="l" indent="0" marL="0">
              <a:buNone/>
            </a:pPr>
            <a:r>
              <a:rPr lang="en-US" sz="1300" dirty="0">
                <a:solidFill>
                  <a:srgbClr val="454C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Khi chỉ có một ảnh, bỏ qua bước sắp.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22883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2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66928"/>
            <a:ext cx="10506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BE5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Ý TƯỞNG CỐT LÕI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41248" y="896112"/>
            <a:ext cx="10506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có bản mẫu thì dựa vào chính màn hình để kiểm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454C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Không có đáp án mẫu để chấm, ta lấy chính danh sách nút thật của màn hình làm mốc.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41248" y="265176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3F5F7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" y="2816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5265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Cách chấm thông thường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15568" y="32186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Đáp án mẫu do người soạn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5568" y="3703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E5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bài toán này không có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10912" y="31272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265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thay bằng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3474720"/>
            <a:ext cx="960120" cy="0"/>
          </a:xfrm>
          <a:prstGeom prst="line">
            <a:avLst/>
          </a:prstGeom>
          <a:noFill/>
          <a:ln w="31750">
            <a:solidFill>
              <a:srgbClr val="BE5A2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172200" y="2651760"/>
            <a:ext cx="5175504" cy="1645920"/>
          </a:xfrm>
          <a:prstGeom prst="roundRect">
            <a:avLst>
              <a:gd name="adj" fmla="val 5556"/>
            </a:avLst>
          </a:prstGeom>
          <a:solidFill>
            <a:srgbClr val="F7EBE3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8163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BE5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Cách của luận văn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46520" y="32186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Danh sách nút thật của màn hình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46520" y="370332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6B4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có sẵn trong ứng dụng (siêu dữ liệu trợ năng), không cần ai soạn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41248" y="4617720"/>
            <a:ext cx="10506456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B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46177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BE5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Cách dùng:  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54C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đối chiếu từng bước hướng dẫn với danh sách này; bước nào nhắc một nút không có trên màn thì viết lại thành mô tả, không đoán nút khác.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" y="58521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54C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Danh sách nút chỉ dùng lúc kiểm, không đưa cho mô hình lúc viết — để phép thử công bằng.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22883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2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66928"/>
            <a:ext cx="10506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BE5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NHÁNH MỘT MÀN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41248" y="896112"/>
            <a:ext cx="10506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 bước: viết mù, đối chiếu, viết lại chỗ bịa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41248" y="2468880"/>
            <a:ext cx="3291840" cy="2926080"/>
          </a:xfrm>
          <a:prstGeom prst="roundRect">
            <a:avLst>
              <a:gd name="adj" fmla="val 3125"/>
            </a:avLst>
          </a:prstGeom>
          <a:solidFill>
            <a:srgbClr val="F3F5F7"/>
          </a:solidFill>
          <a:ln/>
        </p:spPr>
      </p:sp>
      <p:sp>
        <p:nvSpPr>
          <p:cNvPr id="5" name="Shape 3"/>
          <p:cNvSpPr/>
          <p:nvPr/>
        </p:nvSpPr>
        <p:spPr>
          <a:xfrm>
            <a:off x="1133856" y="2743200"/>
            <a:ext cx="658368" cy="658368"/>
          </a:xfrm>
          <a:prstGeom prst="ellipse">
            <a:avLst/>
          </a:prstGeom>
          <a:solidFill>
            <a:srgbClr val="52657A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" y="2743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4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48" dirty="0"/>
          </a:p>
        </p:txBody>
      </p:sp>
      <p:sp>
        <p:nvSpPr>
          <p:cNvPr id="7" name="Text 5"/>
          <p:cNvSpPr/>
          <p:nvPr/>
        </p:nvSpPr>
        <p:spPr>
          <a:xfrm>
            <a:off x="1938528" y="274320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Viết mù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61288" y="370332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454C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Mô hình chỉ thấy ảnh và câu hỏi, tự viết ra bản nháp hướng dẫn — chưa được xem danh sách nút.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187952" y="3931920"/>
            <a:ext cx="182880" cy="0"/>
          </a:xfrm>
          <a:prstGeom prst="line">
            <a:avLst/>
          </a:prstGeom>
          <a:noFill/>
          <a:ln w="31750">
            <a:solidFill>
              <a:srgbClr val="BE5A2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425696" y="2468880"/>
            <a:ext cx="3291840" cy="2926080"/>
          </a:xfrm>
          <a:prstGeom prst="roundRect">
            <a:avLst>
              <a:gd name="adj" fmla="val 3125"/>
            </a:avLst>
          </a:prstGeom>
          <a:solidFill>
            <a:srgbClr val="F7EBE3"/>
          </a:solidFill>
          <a:ln/>
        </p:spPr>
      </p:sp>
      <p:sp>
        <p:nvSpPr>
          <p:cNvPr id="11" name="Shape 9"/>
          <p:cNvSpPr/>
          <p:nvPr/>
        </p:nvSpPr>
        <p:spPr>
          <a:xfrm>
            <a:off x="4718304" y="2743200"/>
            <a:ext cx="658368" cy="658368"/>
          </a:xfrm>
          <a:prstGeom prst="ellipse">
            <a:avLst/>
          </a:prstGeom>
          <a:solidFill>
            <a:srgbClr val="BE5A2E"/>
          </a:solidFill>
          <a:ln/>
        </p:spPr>
      </p:sp>
      <p:sp>
        <p:nvSpPr>
          <p:cNvPr id="12" name="Text 10"/>
          <p:cNvSpPr/>
          <p:nvPr/>
        </p:nvSpPr>
        <p:spPr>
          <a:xfrm>
            <a:off x="4718304" y="2743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4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48" dirty="0"/>
          </a:p>
        </p:txBody>
      </p:sp>
      <p:sp>
        <p:nvSpPr>
          <p:cNvPr id="13" name="Text 11"/>
          <p:cNvSpPr/>
          <p:nvPr/>
        </p:nvSpPr>
        <p:spPr>
          <a:xfrm>
            <a:off x="5522976" y="274320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Đối chiếu nút thật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745736" y="370332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454C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Thuật toán so từng bước với danh sách nút thật của màn: bước này khớp một nút có thật hay không.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772400" y="3931920"/>
            <a:ext cx="182880" cy="0"/>
          </a:xfrm>
          <a:prstGeom prst="line">
            <a:avLst/>
          </a:prstGeom>
          <a:noFill/>
          <a:ln w="31750">
            <a:solidFill>
              <a:srgbClr val="BE5A2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010144" y="2468880"/>
            <a:ext cx="3291840" cy="2926080"/>
          </a:xfrm>
          <a:prstGeom prst="roundRect">
            <a:avLst>
              <a:gd name="adj" fmla="val 3125"/>
            </a:avLst>
          </a:prstGeom>
          <a:solidFill>
            <a:srgbClr val="F3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8302752" y="2743200"/>
            <a:ext cx="658368" cy="658368"/>
          </a:xfrm>
          <a:prstGeom prst="ellipse">
            <a:avLst/>
          </a:prstGeom>
          <a:solidFill>
            <a:srgbClr val="52657A"/>
          </a:solidFill>
          <a:ln/>
        </p:spPr>
      </p:sp>
      <p:sp>
        <p:nvSpPr>
          <p:cNvPr id="18" name="Text 16"/>
          <p:cNvSpPr/>
          <p:nvPr/>
        </p:nvSpPr>
        <p:spPr>
          <a:xfrm>
            <a:off x="8302752" y="2743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4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48" dirty="0"/>
          </a:p>
        </p:txBody>
      </p:sp>
      <p:sp>
        <p:nvSpPr>
          <p:cNvPr id="19" name="Text 17"/>
          <p:cNvSpPr/>
          <p:nvPr/>
        </p:nvSpPr>
        <p:spPr>
          <a:xfrm>
            <a:off x="9107424" y="274320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Viết lại chỗ bịa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8330184" y="370332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454C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Bước nào nhắc nút không có trên màn thì đổi thành mô tả bằng lời, không đoán sang nút khác.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41248" y="58064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E5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Lưu ý:  </a:t>
            </a:r>
            <a:pPr algn="l" indent="0" marL="0">
              <a:buNone/>
            </a:pPr>
            <a:r>
              <a:rPr lang="en-US" sz="1350" dirty="0">
                <a:solidFill>
                  <a:srgbClr val="454C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bước đối chiếu là thuật toán so nghĩa (so tên nút), không phải thêm một mô hình đoán chồng lên — nên không sinh thêm ảo giác.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22883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2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66928"/>
            <a:ext cx="10506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BE5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NHÁNH MỘT MÀN · VÍ DỤ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41248" y="896112"/>
            <a:ext cx="10506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Bắt lỗi khi máy nhắc một nút không có trên màn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68680" y="2267712"/>
            <a:ext cx="2093976" cy="3657600"/>
          </a:xfrm>
          <a:prstGeom prst="roundRect">
            <a:avLst>
              <a:gd name="adj" fmla="val 3057"/>
            </a:avLst>
          </a:prstGeom>
          <a:solidFill>
            <a:srgbClr val="FFFFFF"/>
          </a:solidFill>
          <a:ln w="12700">
            <a:solidFill>
              <a:srgbClr val="DBE0E6"/>
            </a:solidFill>
            <a:prstDash val="solid"/>
          </a:ln>
          <a:effectLst>
            <a:outerShdw sx="100000" sy="100000" kx="0" ky="0" algn="bl" rotWithShape="0" blurRad="88900" dist="38100" dir="5400000">
              <a:srgbClr val="9AA3AD">
                <a:alpha val="28000"/>
              </a:srgbClr>
            </a:outerShdw>
          </a:effectLst>
        </p:spPr>
      </p:sp>
      <p:pic>
        <p:nvPicPr>
          <p:cNvPr id="5" name="Image 0" descr="_img/real_mv_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32688" y="2331720"/>
            <a:ext cx="1965960" cy="32186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5577840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Màn đặt giờ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6120" y="2331720"/>
          <a:ext cx="79552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880360"/>
                <a:gridCol w="23317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D27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Máy viết ra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D27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Trên màn có nút này?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D27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Kết luận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Chọn giờ và phút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 (giờ, phút)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6B4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hợp lệ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Chọn “PM”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 (PM)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6B4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hợp lệ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Mở “Cài đặt”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B929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Không có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E5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nhắc nút không có thật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B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246120" y="4590288"/>
            <a:ext cx="7955280" cy="932688"/>
          </a:xfrm>
          <a:prstGeom prst="roundRect">
            <a:avLst>
              <a:gd name="adj" fmla="val 8824"/>
            </a:avLst>
          </a:prstGeom>
          <a:solidFill>
            <a:srgbClr val="F7EBE3"/>
          </a:solidFill>
          <a:ln/>
        </p:spPr>
      </p:sp>
      <p:sp>
        <p:nvSpPr>
          <p:cNvPr id="9" name="Text 5"/>
          <p:cNvSpPr/>
          <p:nvPr/>
        </p:nvSpPr>
        <p:spPr>
          <a:xfrm>
            <a:off x="3474720" y="4590288"/>
            <a:ext cx="75438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BE5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Lớp kiểm làm gì:  </a:t>
            </a:r>
            <a:pPr algn="l"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1D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hạ bước sai “Mở Cài đặt” xuống mô tả bằng lời, các bước đúng giữ nguyên. Nó chặn việc chỉ vào nút không có thật — nhưng CHƯA bảo đảm bước đó là thao tác đúng (ở đây đúng ra là “Nhấn OK”); mức làm đúng thao tác được đo riêng ở nhánh nhiều màn, nơi có đáp án mẫu.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3246120" y="5623560"/>
            <a:ext cx="7955280" cy="713232"/>
          </a:xfrm>
          <a:prstGeom prst="roundRect">
            <a:avLst>
              <a:gd name="adj" fmla="val 11538"/>
            </a:avLst>
          </a:prstGeom>
          <a:solidFill>
            <a:srgbClr val="17233B"/>
          </a:solidFill>
          <a:ln/>
        </p:spPr>
      </p:sp>
      <p:sp>
        <p:nvSpPr>
          <p:cNvPr id="11" name="Text 7"/>
          <p:cNvSpPr/>
          <p:nvPr/>
        </p:nvSpPr>
        <p:spPr>
          <a:xfrm>
            <a:off x="3474720" y="5623560"/>
            <a:ext cx="7498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E4A9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Vì sao KHÔNG đoán nút gần nhất? 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DBE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thay nút bịa bằng một nút thật nhưng sai việc (kiểu Submit→Save) sẽ khiến người dùng bấm nhầm mà không hay — lỗi âm thầm.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122883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2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66928"/>
            <a:ext cx="10506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BE5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NHÁNH NHIỀU MÀN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41248" y="896112"/>
            <a:ext cx="10506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Sắp lại đúng thứ tự trước, rồi viết cho từng màn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" y="20116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454C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Nhiều ảnh đưa vào bị xáo trộn. Trước khi viết hướng dẫn, hệ sắp lại đúng thứ tự các màn — làm theo bốn bước: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914400" y="2633472"/>
            <a:ext cx="1545336" cy="2724912"/>
          </a:xfrm>
          <a:prstGeom prst="roundRect">
            <a:avLst>
              <a:gd name="adj" fmla="val 4142"/>
            </a:avLst>
          </a:prstGeom>
          <a:solidFill>
            <a:srgbClr val="FFFFFF"/>
          </a:solidFill>
          <a:ln w="12700">
            <a:solidFill>
              <a:srgbClr val="DBE0E6"/>
            </a:solidFill>
            <a:prstDash val="solid"/>
          </a:ln>
          <a:effectLst>
            <a:outerShdw sx="100000" sy="100000" kx="0" ky="0" algn="bl" rotWithShape="0" blurRad="88900" dist="38100" dir="5400000">
              <a:srgbClr val="9AA3AD">
                <a:alpha val="28000"/>
              </a:srgbClr>
            </a:outerShdw>
          </a:effectLst>
        </p:spPr>
      </p:sp>
      <p:pic>
        <p:nvPicPr>
          <p:cNvPr id="6" name="Image 0" descr="_img/ac_o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78408" y="2697480"/>
            <a:ext cx="1417320" cy="228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5010912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Màn A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459736" y="3840480"/>
            <a:ext cx="256032" cy="0"/>
          </a:xfrm>
          <a:prstGeom prst="line">
            <a:avLst/>
          </a:prstGeom>
          <a:noFill/>
          <a:ln w="31750">
            <a:solidFill>
              <a:srgbClr val="52657A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697480" y="2633472"/>
            <a:ext cx="1545336" cy="2724912"/>
          </a:xfrm>
          <a:prstGeom prst="roundRect">
            <a:avLst>
              <a:gd name="adj" fmla="val 4142"/>
            </a:avLst>
          </a:prstGeom>
          <a:solidFill>
            <a:srgbClr val="FFFFFF"/>
          </a:solidFill>
          <a:ln w="12700">
            <a:solidFill>
              <a:srgbClr val="DBE0E6"/>
            </a:solidFill>
            <a:prstDash val="solid"/>
          </a:ln>
          <a:effectLst>
            <a:outerShdw sx="100000" sy="100000" kx="0" ky="0" algn="bl" rotWithShape="0" blurRad="88900" dist="38100" dir="5400000">
              <a:srgbClr val="9AA3AD">
                <a:alpha val="28000"/>
              </a:srgbClr>
            </a:outerShdw>
          </a:effectLst>
        </p:spPr>
      </p:sp>
      <p:pic>
        <p:nvPicPr>
          <p:cNvPr id="10" name="Image 1" descr="_img/ac_o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61488" y="2697480"/>
            <a:ext cx="1417320" cy="2286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97480" y="5010912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Màn B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242816" y="3840480"/>
            <a:ext cx="256032" cy="0"/>
          </a:xfrm>
          <a:prstGeom prst="line">
            <a:avLst/>
          </a:prstGeom>
          <a:noFill/>
          <a:ln w="31750">
            <a:solidFill>
              <a:srgbClr val="52657A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4480560" y="2633472"/>
            <a:ext cx="1545336" cy="2724912"/>
          </a:xfrm>
          <a:prstGeom prst="roundRect">
            <a:avLst>
              <a:gd name="adj" fmla="val 4142"/>
            </a:avLst>
          </a:prstGeom>
          <a:solidFill>
            <a:srgbClr val="FFFFFF"/>
          </a:solidFill>
          <a:ln w="12700">
            <a:solidFill>
              <a:srgbClr val="DBE0E6"/>
            </a:solidFill>
            <a:prstDash val="solid"/>
          </a:ln>
          <a:effectLst>
            <a:outerShdw sx="100000" sy="100000" kx="0" ky="0" algn="bl" rotWithShape="0" blurRad="88900" dist="38100" dir="5400000">
              <a:srgbClr val="9AA3AD">
                <a:alpha val="28000"/>
              </a:srgbClr>
            </a:outerShdw>
          </a:effectLst>
        </p:spPr>
      </p:sp>
      <p:pic>
        <p:nvPicPr>
          <p:cNvPr id="14" name="Image 2" descr="_img/ac_o3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44568" y="2697480"/>
            <a:ext cx="1417320" cy="2286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80560" y="5010912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Màn C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0" y="2697480"/>
            <a:ext cx="4937760" cy="2880360"/>
          </a:xfrm>
          <a:prstGeom prst="roundRect">
            <a:avLst>
              <a:gd name="adj" fmla="val 3175"/>
            </a:avLst>
          </a:prstGeom>
          <a:solidFill>
            <a:srgbClr val="F3F5F7"/>
          </a:solidFill>
          <a:ln/>
        </p:spPr>
      </p:sp>
      <p:sp>
        <p:nvSpPr>
          <p:cNvPr id="17" name="Text 12"/>
          <p:cNvSpPr/>
          <p:nvPr/>
        </p:nvSpPr>
        <p:spPr>
          <a:xfrm>
            <a:off x="6675120" y="2880360"/>
            <a:ext cx="44348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BE5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①  Hỏi từng cặp: 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D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“màn nào đến trước?”
</a:t>
            </a:r>
            <a:pPr algn="l"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BE5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②  Đếm phiếu,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D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màn thắng nhiều cặp xếp trước:
     A thắng 2, B thắng 1, C thắng 0
     nên thứ tự là  A, B, C
</a:t>
            </a:r>
            <a:pPr algn="l"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BE5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③  Gỡ vòng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D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nếu các phán đoán mâu thuẫn nhau
</a:t>
            </a:r>
            <a:pPr algn="l" indent="0" marL="0">
              <a:lnSpc>
                <a:spcPct val="128000"/>
              </a:lnSpc>
              <a:buNone/>
            </a:pPr>
            <a:r>
              <a:rPr lang="en-US" sz="1300" b="1" dirty="0">
                <a:solidFill>
                  <a:srgbClr val="BE5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④  Có thứ tự rồi, </a:t>
            </a:r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D27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viết hướng dẫn cho từng màn (chạy đúng nhánh một màn)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41248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4C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Ở bước ③, khi các phán đoán cắn đuôi nhau (A trước B, B trước C, nhưng C lại trước A), hệ bỏ đi ít phán đoán nhất để hết vòng — chọn phán đoán kém ổn định nhất khi hỏi lại, không dựa vào độ tự tin của mô hình.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22883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2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E4A9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CHỐT QUY TRÌNH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41248" y="16916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Toàn bộ pipeline trong một dòng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41248" y="2743200"/>
            <a:ext cx="1554480" cy="1051560"/>
          </a:xfrm>
          <a:prstGeom prst="roundRect">
            <a:avLst>
              <a:gd name="adj" fmla="val 8696"/>
            </a:avLst>
          </a:prstGeom>
          <a:solidFill>
            <a:srgbClr val="24334F"/>
          </a:solidFill>
          <a:ln/>
        </p:spPr>
      </p:sp>
      <p:sp>
        <p:nvSpPr>
          <p:cNvPr id="5" name="Text 3"/>
          <p:cNvSpPr/>
          <p:nvPr/>
        </p:nvSpPr>
        <p:spPr>
          <a:xfrm>
            <a:off x="886968" y="274320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Ảnh + câu hỏi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23160" y="3264408"/>
            <a:ext cx="155448" cy="0"/>
          </a:xfrm>
          <a:prstGeom prst="line">
            <a:avLst/>
          </a:prstGeom>
          <a:noFill/>
          <a:ln w="31750">
            <a:solidFill>
              <a:srgbClr val="E4A98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624328" y="2743200"/>
            <a:ext cx="1554480" cy="1051560"/>
          </a:xfrm>
          <a:prstGeom prst="roundRect">
            <a:avLst>
              <a:gd name="adj" fmla="val 8696"/>
            </a:avLst>
          </a:prstGeom>
          <a:solidFill>
            <a:srgbClr val="24334F"/>
          </a:solidFill>
          <a:ln/>
        </p:spPr>
      </p:sp>
      <p:sp>
        <p:nvSpPr>
          <p:cNvPr id="8" name="Text 6"/>
          <p:cNvSpPr/>
          <p:nvPr/>
        </p:nvSpPr>
        <p:spPr>
          <a:xfrm>
            <a:off x="2670048" y="274320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Sắp thứ tự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(nếu nhiều màn)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3264408"/>
            <a:ext cx="155448" cy="0"/>
          </a:xfrm>
          <a:prstGeom prst="line">
            <a:avLst/>
          </a:prstGeom>
          <a:noFill/>
          <a:ln w="31750">
            <a:solidFill>
              <a:srgbClr val="E4A98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407408" y="2743200"/>
            <a:ext cx="1554480" cy="1051560"/>
          </a:xfrm>
          <a:prstGeom prst="roundRect">
            <a:avLst>
              <a:gd name="adj" fmla="val 8696"/>
            </a:avLst>
          </a:prstGeom>
          <a:solidFill>
            <a:srgbClr val="24334F"/>
          </a:solidFill>
          <a:ln/>
        </p:spPr>
      </p:sp>
      <p:sp>
        <p:nvSpPr>
          <p:cNvPr id="11" name="Text 9"/>
          <p:cNvSpPr/>
          <p:nvPr/>
        </p:nvSpPr>
        <p:spPr>
          <a:xfrm>
            <a:off x="4453128" y="274320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Viết mù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9320" y="3264408"/>
            <a:ext cx="155448" cy="0"/>
          </a:xfrm>
          <a:prstGeom prst="line">
            <a:avLst/>
          </a:prstGeom>
          <a:noFill/>
          <a:ln w="31750">
            <a:solidFill>
              <a:srgbClr val="E4A98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190488" y="2743200"/>
            <a:ext cx="1554480" cy="1051560"/>
          </a:xfrm>
          <a:prstGeom prst="roundRect">
            <a:avLst>
              <a:gd name="adj" fmla="val 8696"/>
            </a:avLst>
          </a:prstGeom>
          <a:solidFill>
            <a:srgbClr val="24334F"/>
          </a:solidFill>
          <a:ln/>
        </p:spPr>
      </p:sp>
      <p:sp>
        <p:nvSpPr>
          <p:cNvPr id="14" name="Text 12"/>
          <p:cNvSpPr/>
          <p:nvPr/>
        </p:nvSpPr>
        <p:spPr>
          <a:xfrm>
            <a:off x="6236208" y="274320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Đối chiếu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nút thật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0" y="3264408"/>
            <a:ext cx="155448" cy="0"/>
          </a:xfrm>
          <a:prstGeom prst="line">
            <a:avLst/>
          </a:prstGeom>
          <a:noFill/>
          <a:ln w="31750">
            <a:solidFill>
              <a:srgbClr val="E4A98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973568" y="2743200"/>
            <a:ext cx="1554480" cy="1051560"/>
          </a:xfrm>
          <a:prstGeom prst="roundRect">
            <a:avLst>
              <a:gd name="adj" fmla="val 8696"/>
            </a:avLst>
          </a:prstGeom>
          <a:solidFill>
            <a:srgbClr val="24334F"/>
          </a:solidFill>
          <a:ln/>
        </p:spPr>
      </p:sp>
      <p:sp>
        <p:nvSpPr>
          <p:cNvPr id="17" name="Text 15"/>
          <p:cNvSpPr/>
          <p:nvPr/>
        </p:nvSpPr>
        <p:spPr>
          <a:xfrm>
            <a:off x="8019288" y="274320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Viết lại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chỗ bịa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555480" y="3264408"/>
            <a:ext cx="155448" cy="0"/>
          </a:xfrm>
          <a:prstGeom prst="line">
            <a:avLst/>
          </a:prstGeom>
          <a:noFill/>
          <a:ln w="31750">
            <a:solidFill>
              <a:srgbClr val="E4A98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756648" y="2743200"/>
            <a:ext cx="1554480" cy="1051560"/>
          </a:xfrm>
          <a:prstGeom prst="roundRect">
            <a:avLst>
              <a:gd name="adj" fmla="val 8696"/>
            </a:avLst>
          </a:prstGeom>
          <a:solidFill>
            <a:srgbClr val="234A32"/>
          </a:solidFill>
          <a:ln/>
        </p:spPr>
      </p:sp>
      <p:sp>
        <p:nvSpPr>
          <p:cNvPr id="20" name="Text 18"/>
          <p:cNvSpPr/>
          <p:nvPr/>
        </p:nvSpPr>
        <p:spPr>
          <a:xfrm>
            <a:off x="9802368" y="2743200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Hướng dẫn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 người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" y="40690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9D2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Danh sách nút thật chỉ dùng ở bước đối chiếu, không đưa cho mô hình lúc viết.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41248" y="4892040"/>
            <a:ext cx="10506456" cy="1051560"/>
          </a:xfrm>
          <a:prstGeom prst="roundRect">
            <a:avLst>
              <a:gd name="adj" fmla="val 8696"/>
            </a:avLst>
          </a:prstGeom>
          <a:solidFill>
            <a:srgbClr val="20304C"/>
          </a:solidFill>
          <a:ln/>
        </p:spPr>
      </p:sp>
      <p:sp>
        <p:nvSpPr>
          <p:cNvPr id="23" name="Text 21"/>
          <p:cNvSpPr/>
          <p:nvPr/>
        </p:nvSpPr>
        <p:spPr>
          <a:xfrm>
            <a:off x="1161288" y="4892040"/>
            <a:ext cx="9866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E4A9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Xin thầy chốt khung xử lý này.  </a:t>
            </a:r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Sau khi chốt, em sẽ trình phần thước đo đánh giá và kế hoạch thí nghiệm ở buổi sau.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sinh huong dan su dung phan mem</dc:title>
  <dc:subject>PptxGenJS Presentation</dc:subject>
  <dc:creator>Luan van thac si</dc:creator>
  <cp:lastModifiedBy>Luan van thac si</cp:lastModifiedBy>
  <cp:revision>1</cp:revision>
  <dcterms:created xsi:type="dcterms:W3CDTF">2026-07-08T13:39:36Z</dcterms:created>
  <dcterms:modified xsi:type="dcterms:W3CDTF">2026-07-08T13:39:36Z</dcterms:modified>
</cp:coreProperties>
</file>