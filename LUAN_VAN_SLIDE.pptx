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828800"/>
            <a:ext cx="822960" cy="73152"/>
          </a:xfrm>
          <a:prstGeom prst="rect">
            <a:avLst/>
          </a:prstGeom>
          <a:solidFill>
            <a:srgbClr val="8A2433"/>
          </a:solidFill>
          <a:ln/>
        </p:spPr>
      </p:sp>
      <p:sp>
        <p:nvSpPr>
          <p:cNvPr id="3" name="Text 1"/>
          <p:cNvSpPr/>
          <p:nvPr/>
        </p:nvSpPr>
        <p:spPr>
          <a:xfrm>
            <a:off x="822960" y="2057400"/>
            <a:ext cx="10058400" cy="365760"/>
          </a:xfrm>
          <a:prstGeom prst="rect">
            <a:avLst/>
          </a:prstGeom>
          <a:noFill/>
          <a:ln/>
        </p:spPr>
        <p:txBody>
          <a:bodyPr wrap="square" rtlCol="0" anchor="ctr"/>
          <a:lstStyle/>
          <a:p>
            <a:pPr indent="0" marL="0">
              <a:buNone/>
            </a:pPr>
            <a:r>
              <a:rPr lang="en-US" sz="1300" b="1" spc="300" kern="0" dirty="0">
                <a:solidFill>
                  <a:srgbClr val="8A2433"/>
                </a:solidFill>
                <a:latin typeface="Segoe UI" pitchFamily="34" charset="0"/>
                <a:ea typeface="Segoe UI" pitchFamily="34" charset="-122"/>
                <a:cs typeface="Segoe UI" pitchFamily="34" charset="-120"/>
              </a:rPr>
              <a:t>LUẬN VĂN THẠC SĨ — KHOA HỌC MÁY TÍNH</a:t>
            </a:r>
            <a:endParaRPr lang="en-US" sz="1300" dirty="0"/>
          </a:p>
        </p:txBody>
      </p:sp>
      <p:sp>
        <p:nvSpPr>
          <p:cNvPr id="4" name="Text 2"/>
          <p:cNvSpPr/>
          <p:nvPr/>
        </p:nvSpPr>
        <p:spPr>
          <a:xfrm>
            <a:off x="804672" y="2468880"/>
            <a:ext cx="10881360" cy="1554480"/>
          </a:xfrm>
          <a:prstGeom prst="rect">
            <a:avLst/>
          </a:prstGeom>
          <a:noFill/>
          <a:ln/>
        </p:spPr>
        <p:txBody>
          <a:bodyPr wrap="square" rtlCol="0" anchor="ctr"/>
          <a:lstStyle/>
          <a:p>
            <a:pPr indent="0" marL="0">
              <a:lnSpc>
                <a:spcPct val="105000"/>
              </a:lnSpc>
              <a:buNone/>
            </a:pPr>
            <a:r>
              <a:rPr lang="en-US" sz="3600" b="1" dirty="0">
                <a:solidFill>
                  <a:srgbClr val="1C2530"/>
                </a:solidFill>
                <a:latin typeface="Cambria" pitchFamily="34" charset="0"/>
                <a:ea typeface="Cambria" pitchFamily="34" charset="-122"/>
                <a:cs typeface="Cambria" pitchFamily="34" charset="-120"/>
              </a:rPr>
              <a:t>Sinh tự động hướng dẫn sử dụng phần mềm</a:t>
            </a:r>
            <a:endParaRPr lang="en-US" sz="3600" dirty="0"/>
          </a:p>
          <a:p>
            <a:pPr indent="0" marL="0">
              <a:lnSpc>
                <a:spcPct val="105000"/>
              </a:lnSpc>
              <a:buNone/>
            </a:pPr>
            <a:r>
              <a:rPr lang="en-US" sz="3600" b="1" dirty="0">
                <a:solidFill>
                  <a:srgbClr val="1C2530"/>
                </a:solidFill>
                <a:latin typeface="Cambria" pitchFamily="34" charset="0"/>
                <a:ea typeface="Cambria" pitchFamily="34" charset="-122"/>
                <a:cs typeface="Cambria" pitchFamily="34" charset="-120"/>
              </a:rPr>
              <a:t>từ ảnh màn hình và câu hỏi người dùng</a:t>
            </a:r>
            <a:endParaRPr lang="en-US" sz="3600" dirty="0"/>
          </a:p>
        </p:txBody>
      </p:sp>
      <p:sp>
        <p:nvSpPr>
          <p:cNvPr id="5" name="Text 3"/>
          <p:cNvSpPr/>
          <p:nvPr/>
        </p:nvSpPr>
        <p:spPr>
          <a:xfrm>
            <a:off x="822960" y="4160520"/>
            <a:ext cx="10515600" cy="457200"/>
          </a:xfrm>
          <a:prstGeom prst="rect">
            <a:avLst/>
          </a:prstGeom>
          <a:noFill/>
          <a:ln/>
        </p:spPr>
        <p:txBody>
          <a:bodyPr wrap="square" rtlCol="0" anchor="ctr"/>
          <a:lstStyle/>
          <a:p>
            <a:pPr indent="0" marL="0">
              <a:buNone/>
            </a:pPr>
            <a:r>
              <a:rPr lang="en-US" sz="1900" i="1" dirty="0">
                <a:solidFill>
                  <a:srgbClr val="3C434B"/>
                </a:solidFill>
                <a:latin typeface="Cambria" pitchFamily="34" charset="0"/>
                <a:ea typeface="Cambria" pitchFamily="34" charset="-122"/>
                <a:cs typeface="Cambria" pitchFamily="34" charset="-120"/>
              </a:rPr>
              <a:t>kèm phương pháp đánh giá trong điều kiện không có bản hướng dẫn mẫu</a:t>
            </a:r>
            <a:endParaRPr lang="en-US" sz="1900" dirty="0"/>
          </a:p>
        </p:txBody>
      </p:sp>
      <p:sp>
        <p:nvSpPr>
          <p:cNvPr id="6" name="Text 4"/>
          <p:cNvSpPr/>
          <p:nvPr/>
        </p:nvSpPr>
        <p:spPr>
          <a:xfrm>
            <a:off x="822960" y="5897880"/>
            <a:ext cx="10058400" cy="365760"/>
          </a:xfrm>
          <a:prstGeom prst="rect">
            <a:avLst/>
          </a:prstGeom>
          <a:noFill/>
          <a:ln/>
        </p:spPr>
        <p:txBody>
          <a:bodyPr wrap="square" rtlCol="0" anchor="ctr"/>
          <a:lstStyle/>
          <a:p>
            <a:pPr indent="0" marL="0">
              <a:buNone/>
            </a:pPr>
            <a:r>
              <a:rPr lang="en-US" sz="1350" dirty="0">
                <a:solidFill>
                  <a:srgbClr val="8A929B"/>
                </a:solidFill>
                <a:latin typeface="Segoe UI" pitchFamily="34" charset="0"/>
                <a:ea typeface="Segoe UI" pitchFamily="34" charset="-122"/>
                <a:cs typeface="Segoe UI" pitchFamily="34" charset="-120"/>
              </a:rPr>
              <a:t>Học viên ………    ·    Giảng viên hướng dẫn ………    ·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BÀI TOÁN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Đầu vào: ảnh và câu hỏi — Đầu ra: hướng dẫn theo bước</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1069848" y="1892808"/>
            <a:ext cx="2432304" cy="4023360"/>
          </a:xfrm>
          <a:prstGeom prst="roundRect">
            <a:avLst>
              <a:gd name="adj" fmla="val 2256"/>
            </a:avLst>
          </a:prstGeom>
          <a:solidFill>
            <a:srgbClr val="FFFFFF"/>
          </a:solidFill>
          <a:ln w="12700">
            <a:solidFill>
              <a:srgbClr val="D7DCE1"/>
            </a:solidFill>
            <a:prstDash val="solid"/>
          </a:ln>
        </p:spPr>
      </p:sp>
      <p:pic>
        <p:nvPicPr>
          <p:cNvPr id="6" name="Image 0" descr="_img/real_mv_1.png">    </p:cNvPr>
          <p:cNvPicPr>
            <a:picLocks noChangeAspect="1"/>
          </p:cNvPicPr>
          <p:nvPr/>
        </p:nvPicPr>
        <p:blipFill>
          <a:blip r:embed="rId1"/>
          <a:srcRect l="0" r="0" t="0" b="0"/>
          <a:stretch/>
        </p:blipFill>
        <p:spPr>
          <a:xfrm>
            <a:off x="1143000" y="1965960"/>
            <a:ext cx="2286000" cy="3566160"/>
          </a:xfrm>
          <a:prstGeom prst="rect">
            <a:avLst/>
          </a:prstGeom>
        </p:spPr>
      </p:pic>
      <p:sp>
        <p:nvSpPr>
          <p:cNvPr id="7" name="Text 4"/>
          <p:cNvSpPr/>
          <p:nvPr/>
        </p:nvSpPr>
        <p:spPr>
          <a:xfrm>
            <a:off x="1069848" y="5550408"/>
            <a:ext cx="243230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Ảnh màn hình</a:t>
            </a:r>
            <a:endParaRPr lang="en-US" sz="1200" dirty="0"/>
          </a:p>
        </p:txBody>
      </p:sp>
      <p:sp>
        <p:nvSpPr>
          <p:cNvPr id="8" name="Shape 5"/>
          <p:cNvSpPr/>
          <p:nvPr/>
        </p:nvSpPr>
        <p:spPr>
          <a:xfrm>
            <a:off x="4023360" y="2148840"/>
            <a:ext cx="3017520" cy="960120"/>
          </a:xfrm>
          <a:prstGeom prst="roundRect">
            <a:avLst>
              <a:gd name="adj" fmla="val 5714"/>
            </a:avLst>
          </a:prstGeom>
          <a:solidFill>
            <a:srgbClr val="F4F6F8"/>
          </a:solidFill>
          <a:ln/>
        </p:spPr>
      </p:sp>
      <p:sp>
        <p:nvSpPr>
          <p:cNvPr id="9" name="Text 6"/>
          <p:cNvSpPr/>
          <p:nvPr/>
        </p:nvSpPr>
        <p:spPr>
          <a:xfrm>
            <a:off x="4251960" y="2240280"/>
            <a:ext cx="2651760" cy="274320"/>
          </a:xfrm>
          <a:prstGeom prst="rect">
            <a:avLst/>
          </a:prstGeom>
          <a:noFill/>
          <a:ln/>
        </p:spPr>
        <p:txBody>
          <a:bodyPr wrap="square" lIns="0" tIns="0" rIns="0" bIns="0" rtlCol="0" anchor="ctr"/>
          <a:lstStyle/>
          <a:p>
            <a:pPr indent="0" marL="0">
              <a:buNone/>
            </a:pPr>
            <a:r>
              <a:rPr lang="en-US" sz="1200" b="1" dirty="0">
                <a:solidFill>
                  <a:srgbClr val="8A2433"/>
                </a:solidFill>
                <a:latin typeface="Segoe UI" pitchFamily="34" charset="0"/>
                <a:ea typeface="Segoe UI" pitchFamily="34" charset="-122"/>
                <a:cs typeface="Segoe UI" pitchFamily="34" charset="-120"/>
              </a:rPr>
              <a:t>Câu hỏi của người dùng</a:t>
            </a:r>
            <a:endParaRPr lang="en-US" sz="1200" dirty="0"/>
          </a:p>
        </p:txBody>
      </p:sp>
      <p:sp>
        <p:nvSpPr>
          <p:cNvPr id="10" name="Text 7"/>
          <p:cNvSpPr/>
          <p:nvPr/>
        </p:nvSpPr>
        <p:spPr>
          <a:xfrm>
            <a:off x="4251960" y="2542032"/>
            <a:ext cx="2697480" cy="548640"/>
          </a:xfrm>
          <a:prstGeom prst="rect">
            <a:avLst/>
          </a:prstGeom>
          <a:noFill/>
          <a:ln/>
        </p:spPr>
        <p:txBody>
          <a:bodyPr wrap="square" lIns="0" tIns="0" rIns="0" bIns="0" rtlCol="0" anchor="ctr"/>
          <a:lstStyle/>
          <a:p>
            <a:pPr indent="0" marL="0">
              <a:buNone/>
            </a:pPr>
            <a:r>
              <a:rPr lang="en-US" sz="1350" dirty="0">
                <a:solidFill>
                  <a:srgbClr val="1C2530"/>
                </a:solidFill>
                <a:latin typeface="Segoe UI" pitchFamily="34" charset="0"/>
                <a:ea typeface="Segoe UI" pitchFamily="34" charset="-122"/>
                <a:cs typeface="Segoe UI" pitchFamily="34" charset="-120"/>
              </a:rPr>
              <a:t>“Cần thao tác gì để đặt giờ 20:35 và xác nhận?”</a:t>
            </a:r>
            <a:endParaRPr lang="en-US" sz="1350" dirty="0"/>
          </a:p>
        </p:txBody>
      </p:sp>
      <p:sp>
        <p:nvSpPr>
          <p:cNvPr id="11" name="Shape 8"/>
          <p:cNvSpPr/>
          <p:nvPr/>
        </p:nvSpPr>
        <p:spPr>
          <a:xfrm>
            <a:off x="7178040" y="2651760"/>
            <a:ext cx="548640" cy="0"/>
          </a:xfrm>
          <a:prstGeom prst="line">
            <a:avLst/>
          </a:prstGeom>
          <a:noFill/>
          <a:ln w="31750">
            <a:solidFill>
              <a:srgbClr val="8A2433"/>
            </a:solidFill>
            <a:prstDash val="solid"/>
            <a:tailEnd type="triangle"/>
          </a:ln>
        </p:spPr>
      </p:sp>
      <p:sp>
        <p:nvSpPr>
          <p:cNvPr id="12" name="Shape 9"/>
          <p:cNvSpPr/>
          <p:nvPr/>
        </p:nvSpPr>
        <p:spPr>
          <a:xfrm>
            <a:off x="7863840" y="1965960"/>
            <a:ext cx="3566160" cy="3566160"/>
          </a:xfrm>
          <a:prstGeom prst="roundRect">
            <a:avLst>
              <a:gd name="adj" fmla="val 1538"/>
            </a:avLst>
          </a:prstGeom>
          <a:solidFill>
            <a:srgbClr val="F2E3E6"/>
          </a:solidFill>
          <a:ln/>
        </p:spPr>
      </p:sp>
      <p:sp>
        <p:nvSpPr>
          <p:cNvPr id="13" name="Text 10"/>
          <p:cNvSpPr/>
          <p:nvPr/>
        </p:nvSpPr>
        <p:spPr>
          <a:xfrm>
            <a:off x="8138160" y="2148840"/>
            <a:ext cx="3108960" cy="320040"/>
          </a:xfrm>
          <a:prstGeom prst="rect">
            <a:avLst/>
          </a:prstGeom>
          <a:noFill/>
          <a:ln/>
        </p:spPr>
        <p:txBody>
          <a:bodyPr wrap="square" lIns="0" tIns="0" rIns="0" bIns="0" rtlCol="0" anchor="ctr"/>
          <a:lstStyle/>
          <a:p>
            <a:pPr indent="0" marL="0">
              <a:buNone/>
            </a:pPr>
            <a:r>
              <a:rPr lang="en-US" sz="1250" b="1" dirty="0">
                <a:solidFill>
                  <a:srgbClr val="8A2433"/>
                </a:solidFill>
                <a:latin typeface="Segoe UI" pitchFamily="34" charset="0"/>
                <a:ea typeface="Segoe UI" pitchFamily="34" charset="-122"/>
                <a:cs typeface="Segoe UI" pitchFamily="34" charset="-120"/>
              </a:rPr>
              <a:t>Hướng dẫn sinh ra</a:t>
            </a:r>
            <a:endParaRPr lang="en-US" sz="1250" dirty="0"/>
          </a:p>
        </p:txBody>
      </p:sp>
      <p:sp>
        <p:nvSpPr>
          <p:cNvPr id="14" name="Text 11"/>
          <p:cNvSpPr/>
          <p:nvPr/>
        </p:nvSpPr>
        <p:spPr>
          <a:xfrm>
            <a:off x="8138160" y="2606040"/>
            <a:ext cx="3108960" cy="2743200"/>
          </a:xfrm>
          <a:prstGeom prst="rect">
            <a:avLst/>
          </a:prstGeom>
          <a:noFill/>
          <a:ln/>
        </p:spPr>
        <p:txBody>
          <a:bodyPr wrap="square" lIns="0" tIns="0" rIns="0" bIns="0" rtlCol="0" anchor="ctr"/>
          <a:lstStyle/>
          <a:p>
            <a:pPr indent="0" marL="0">
              <a:lnSpc>
                <a:spcPct val="140000"/>
              </a:lnSpc>
              <a:buNone/>
            </a:pPr>
            <a:r>
              <a:rPr lang="en-US" sz="1700" dirty="0">
                <a:solidFill>
                  <a:srgbClr val="1C2530"/>
                </a:solidFill>
                <a:latin typeface="Segoe UI" pitchFamily="34" charset="0"/>
                <a:ea typeface="Segoe UI" pitchFamily="34" charset="-122"/>
                <a:cs typeface="Segoe UI" pitchFamily="34" charset="-120"/>
              </a:rPr>
              <a:t>1.  Chọn giờ “8”, phút “35”</a:t>
            </a:r>
            <a:endParaRPr lang="en-US" sz="1700" dirty="0"/>
          </a:p>
          <a:p>
            <a:pPr indent="0" marL="0">
              <a:lnSpc>
                <a:spcPct val="140000"/>
              </a:lnSpc>
              <a:buNone/>
            </a:pPr>
            <a:r>
              <a:rPr lang="en-US" sz="1700" dirty="0">
                <a:solidFill>
                  <a:srgbClr val="1C2530"/>
                </a:solidFill>
                <a:latin typeface="Segoe UI" pitchFamily="34" charset="0"/>
                <a:ea typeface="Segoe UI" pitchFamily="34" charset="-122"/>
                <a:cs typeface="Segoe UI" pitchFamily="34" charset="-120"/>
              </a:rPr>
              <a:t>2.  Chọn buổi “PM”</a:t>
            </a:r>
            <a:endParaRPr lang="en-US" sz="1700" dirty="0"/>
          </a:p>
          <a:p>
            <a:pPr indent="0" marL="0">
              <a:lnSpc>
                <a:spcPct val="140000"/>
              </a:lnSpc>
              <a:buNone/>
            </a:pPr>
            <a:r>
              <a:rPr lang="en-US" sz="1700" dirty="0">
                <a:solidFill>
                  <a:srgbClr val="1C2530"/>
                </a:solidFill>
                <a:latin typeface="Segoe UI" pitchFamily="34" charset="0"/>
                <a:ea typeface="Segoe UI" pitchFamily="34" charset="-122"/>
                <a:cs typeface="Segoe UI" pitchFamily="34" charset="-120"/>
              </a:rPr>
              <a:t>3.  Chọn “OK”</a:t>
            </a:r>
            <a:endParaRPr lang="en-US" sz="1700" dirty="0"/>
          </a:p>
        </p:txBody>
      </p:sp>
      <p:sp>
        <p:nvSpPr>
          <p:cNvPr id="15" name="Text 12"/>
          <p:cNvSpPr/>
          <p:nvPr/>
        </p:nvSpPr>
        <p:spPr>
          <a:xfrm>
            <a:off x="822960" y="5806440"/>
            <a:ext cx="10515600" cy="365760"/>
          </a:xfrm>
          <a:prstGeom prst="rect">
            <a:avLst/>
          </a:prstGeom>
          <a:noFill/>
          <a:ln/>
        </p:spPr>
        <p:txBody>
          <a:bodyPr wrap="square" lIns="0" tIns="0" rIns="0" bIns="0" rtlCol="0" anchor="ctr"/>
          <a:lstStyle/>
          <a:p>
            <a:pPr indent="0" marL="0">
              <a:buNone/>
            </a:pPr>
            <a:r>
              <a:rPr lang="en-US" sz="1300" i="1" dirty="0">
                <a:solidFill>
                  <a:srgbClr val="8A929B"/>
                </a:solidFill>
                <a:latin typeface="Segoe UI" pitchFamily="34" charset="0"/>
                <a:ea typeface="Segoe UI" pitchFamily="34" charset="-122"/>
                <a:cs typeface="Segoe UI" pitchFamily="34" charset="-120"/>
              </a:rPr>
              <a:t>Đầu vào một ảnh: tác vụ trong một màn. Đầu vào nhiều ảnh: tác vụ trải nhiều màn — mô hình phải tự suy ra thứ tự.</a:t>
            </a:r>
            <a:endParaRPr lang="en-US" sz="1300" dirty="0"/>
          </a:p>
        </p:txBody>
      </p:sp>
      <p:sp>
        <p:nvSpPr>
          <p:cNvPr id="16" name="Text 13"/>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BÀI TOÁN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Ba thách thức trọng tâm</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2011680"/>
            <a:ext cx="3337560" cy="3200400"/>
          </a:xfrm>
          <a:prstGeom prst="roundRect">
            <a:avLst>
              <a:gd name="adj" fmla="val 1714"/>
            </a:avLst>
          </a:prstGeom>
          <a:solidFill>
            <a:srgbClr val="FFFFFF"/>
          </a:solidFill>
          <a:ln w="12700">
            <a:solidFill>
              <a:srgbClr val="D7DCE1"/>
            </a:solidFill>
            <a:prstDash val="solid"/>
          </a:ln>
        </p:spPr>
      </p:sp>
      <p:sp>
        <p:nvSpPr>
          <p:cNvPr id="6" name="Text 4"/>
          <p:cNvSpPr/>
          <p:nvPr/>
        </p:nvSpPr>
        <p:spPr>
          <a:xfrm>
            <a:off x="1051560" y="2194560"/>
            <a:ext cx="914400" cy="822960"/>
          </a:xfrm>
          <a:prstGeom prst="rect">
            <a:avLst/>
          </a:prstGeom>
          <a:noFill/>
          <a:ln/>
        </p:spPr>
        <p:txBody>
          <a:bodyPr wrap="square" lIns="0" tIns="0" rIns="0" bIns="0" rtlCol="0" anchor="ctr"/>
          <a:lstStyle/>
          <a:p>
            <a:pPr indent="0" marL="0">
              <a:buNone/>
            </a:pPr>
            <a:r>
              <a:rPr lang="en-US" sz="4600" b="1" dirty="0">
                <a:solidFill>
                  <a:srgbClr val="8A2433"/>
                </a:solidFill>
                <a:latin typeface="Cambria" pitchFamily="34" charset="0"/>
                <a:ea typeface="Cambria" pitchFamily="34" charset="-122"/>
                <a:cs typeface="Cambria" pitchFamily="34" charset="-120"/>
              </a:rPr>
              <a:t>1</a:t>
            </a:r>
            <a:endParaRPr lang="en-US" sz="4600" dirty="0"/>
          </a:p>
        </p:txBody>
      </p:sp>
      <p:sp>
        <p:nvSpPr>
          <p:cNvPr id="7" name="Text 5"/>
          <p:cNvSpPr/>
          <p:nvPr/>
        </p:nvSpPr>
        <p:spPr>
          <a:xfrm>
            <a:off x="1051560" y="3108960"/>
            <a:ext cx="2880360" cy="8229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Ảo giác giao diện</a:t>
            </a:r>
            <a:endParaRPr lang="en-US" sz="1800" dirty="0"/>
          </a:p>
        </p:txBody>
      </p:sp>
      <p:sp>
        <p:nvSpPr>
          <p:cNvPr id="8" name="Text 6"/>
          <p:cNvSpPr/>
          <p:nvPr/>
        </p:nvSpPr>
        <p:spPr>
          <a:xfrm>
            <a:off x="1051560" y="3977640"/>
            <a:ext cx="2880360" cy="1188720"/>
          </a:xfrm>
          <a:prstGeom prst="rect">
            <a:avLst/>
          </a:prstGeom>
          <a:noFill/>
          <a:ln/>
        </p:spPr>
        <p:txBody>
          <a:bodyPr wrap="square" lIns="0" tIns="0" rIns="0" bIns="0" rtlCol="0" anchor="ctr"/>
          <a:lstStyle/>
          <a:p>
            <a:pPr indent="0" marL="0">
              <a:lnSpc>
                <a:spcPct val="120000"/>
              </a:lnSpc>
              <a:buNone/>
            </a:pPr>
            <a:r>
              <a:rPr lang="en-US" sz="1350" dirty="0">
                <a:solidFill>
                  <a:srgbClr val="3C434B"/>
                </a:solidFill>
                <a:latin typeface="Segoe UI" pitchFamily="34" charset="0"/>
                <a:ea typeface="Segoe UI" pitchFamily="34" charset="-122"/>
                <a:cs typeface="Segoe UI" pitchFamily="34" charset="-120"/>
              </a:rPr>
              <a:t>Mô hình tham chiếu nút không tồn tại trên màn hình; người dùng không thể thực hiện theo.</a:t>
            </a:r>
            <a:endParaRPr lang="en-US" sz="1350" dirty="0"/>
          </a:p>
        </p:txBody>
      </p:sp>
      <p:sp>
        <p:nvSpPr>
          <p:cNvPr id="9" name="Shape 7"/>
          <p:cNvSpPr/>
          <p:nvPr/>
        </p:nvSpPr>
        <p:spPr>
          <a:xfrm>
            <a:off x="4434840" y="2011680"/>
            <a:ext cx="3337560" cy="3200400"/>
          </a:xfrm>
          <a:prstGeom prst="roundRect">
            <a:avLst>
              <a:gd name="adj" fmla="val 1714"/>
            </a:avLst>
          </a:prstGeom>
          <a:solidFill>
            <a:srgbClr val="FFFFFF"/>
          </a:solidFill>
          <a:ln w="12700">
            <a:solidFill>
              <a:srgbClr val="D7DCE1"/>
            </a:solidFill>
            <a:prstDash val="solid"/>
          </a:ln>
        </p:spPr>
      </p:sp>
      <p:sp>
        <p:nvSpPr>
          <p:cNvPr id="10" name="Text 8"/>
          <p:cNvSpPr/>
          <p:nvPr/>
        </p:nvSpPr>
        <p:spPr>
          <a:xfrm>
            <a:off x="4663440" y="2194560"/>
            <a:ext cx="914400" cy="822960"/>
          </a:xfrm>
          <a:prstGeom prst="rect">
            <a:avLst/>
          </a:prstGeom>
          <a:noFill/>
          <a:ln/>
        </p:spPr>
        <p:txBody>
          <a:bodyPr wrap="square" lIns="0" tIns="0" rIns="0" bIns="0" rtlCol="0" anchor="ctr"/>
          <a:lstStyle/>
          <a:p>
            <a:pPr indent="0" marL="0">
              <a:buNone/>
            </a:pPr>
            <a:r>
              <a:rPr lang="en-US" sz="4600" b="1" dirty="0">
                <a:solidFill>
                  <a:srgbClr val="8A2433"/>
                </a:solidFill>
                <a:latin typeface="Cambria" pitchFamily="34" charset="0"/>
                <a:ea typeface="Cambria" pitchFamily="34" charset="-122"/>
                <a:cs typeface="Cambria" pitchFamily="34" charset="-120"/>
              </a:rPr>
              <a:t>2</a:t>
            </a:r>
            <a:endParaRPr lang="en-US" sz="4600" dirty="0"/>
          </a:p>
        </p:txBody>
      </p:sp>
      <p:sp>
        <p:nvSpPr>
          <p:cNvPr id="11" name="Text 9"/>
          <p:cNvSpPr/>
          <p:nvPr/>
        </p:nvSpPr>
        <p:spPr>
          <a:xfrm>
            <a:off x="4663440" y="3108960"/>
            <a:ext cx="2880360" cy="8229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Thiếu bản hướng dẫn mẫu</a:t>
            </a:r>
            <a:endParaRPr lang="en-US" sz="1800" dirty="0"/>
          </a:p>
        </p:txBody>
      </p:sp>
      <p:sp>
        <p:nvSpPr>
          <p:cNvPr id="12" name="Text 10"/>
          <p:cNvSpPr/>
          <p:nvPr/>
        </p:nvSpPr>
        <p:spPr>
          <a:xfrm>
            <a:off x="4663440" y="3977640"/>
            <a:ext cx="2880360" cy="1188720"/>
          </a:xfrm>
          <a:prstGeom prst="rect">
            <a:avLst/>
          </a:prstGeom>
          <a:noFill/>
          <a:ln/>
        </p:spPr>
        <p:txBody>
          <a:bodyPr wrap="square" lIns="0" tIns="0" rIns="0" bIns="0" rtlCol="0" anchor="ctr"/>
          <a:lstStyle/>
          <a:p>
            <a:pPr indent="0" marL="0">
              <a:lnSpc>
                <a:spcPct val="120000"/>
              </a:lnSpc>
              <a:buNone/>
            </a:pPr>
            <a:r>
              <a:rPr lang="en-US" sz="1350" dirty="0">
                <a:solidFill>
                  <a:srgbClr val="3C434B"/>
                </a:solidFill>
                <a:latin typeface="Segoe UI" pitchFamily="34" charset="0"/>
                <a:ea typeface="Segoe UI" pitchFamily="34" charset="-122"/>
                <a:cs typeface="Segoe UI" pitchFamily="34" charset="-120"/>
              </a:rPr>
              <a:t>Không có tập hướng dẫn chuẩn do con người biên soạn cho mọi ứng dụng để làm mốc đánh giá.</a:t>
            </a:r>
            <a:endParaRPr lang="en-US" sz="1350" dirty="0"/>
          </a:p>
        </p:txBody>
      </p:sp>
      <p:sp>
        <p:nvSpPr>
          <p:cNvPr id="13" name="Shape 11"/>
          <p:cNvSpPr/>
          <p:nvPr/>
        </p:nvSpPr>
        <p:spPr>
          <a:xfrm>
            <a:off x="8046720" y="2011680"/>
            <a:ext cx="3337560" cy="3200400"/>
          </a:xfrm>
          <a:prstGeom prst="roundRect">
            <a:avLst>
              <a:gd name="adj" fmla="val 1714"/>
            </a:avLst>
          </a:prstGeom>
          <a:solidFill>
            <a:srgbClr val="FFFFFF"/>
          </a:solidFill>
          <a:ln w="12700">
            <a:solidFill>
              <a:srgbClr val="D7DCE1"/>
            </a:solidFill>
            <a:prstDash val="solid"/>
          </a:ln>
        </p:spPr>
      </p:sp>
      <p:sp>
        <p:nvSpPr>
          <p:cNvPr id="14" name="Text 12"/>
          <p:cNvSpPr/>
          <p:nvPr/>
        </p:nvSpPr>
        <p:spPr>
          <a:xfrm>
            <a:off x="8275320" y="2194560"/>
            <a:ext cx="914400" cy="822960"/>
          </a:xfrm>
          <a:prstGeom prst="rect">
            <a:avLst/>
          </a:prstGeom>
          <a:noFill/>
          <a:ln/>
        </p:spPr>
        <p:txBody>
          <a:bodyPr wrap="square" lIns="0" tIns="0" rIns="0" bIns="0" rtlCol="0" anchor="ctr"/>
          <a:lstStyle/>
          <a:p>
            <a:pPr indent="0" marL="0">
              <a:buNone/>
            </a:pPr>
            <a:r>
              <a:rPr lang="en-US" sz="4600" b="1" dirty="0">
                <a:solidFill>
                  <a:srgbClr val="8A2433"/>
                </a:solidFill>
                <a:latin typeface="Cambria" pitchFamily="34" charset="0"/>
                <a:ea typeface="Cambria" pitchFamily="34" charset="-122"/>
                <a:cs typeface="Cambria" pitchFamily="34" charset="-120"/>
              </a:rPr>
              <a:t>3</a:t>
            </a:r>
            <a:endParaRPr lang="en-US" sz="4600" dirty="0"/>
          </a:p>
        </p:txBody>
      </p:sp>
      <p:sp>
        <p:nvSpPr>
          <p:cNvPr id="15" name="Text 13"/>
          <p:cNvSpPr/>
          <p:nvPr/>
        </p:nvSpPr>
        <p:spPr>
          <a:xfrm>
            <a:off x="8275320" y="3108960"/>
            <a:ext cx="2880360" cy="822960"/>
          </a:xfrm>
          <a:prstGeom prst="rect">
            <a:avLst/>
          </a:prstGeom>
          <a:noFill/>
          <a:ln/>
        </p:spPr>
        <p:txBody>
          <a:bodyPr wrap="square" lIns="0" tIns="0" rIns="0" bIns="0" rtlCol="0" anchor="ctr"/>
          <a:lstStyle/>
          <a:p>
            <a:pPr indent="0" marL="0">
              <a:buNone/>
            </a:pPr>
            <a:r>
              <a:rPr lang="en-US" sz="1800" b="1" dirty="0">
                <a:solidFill>
                  <a:srgbClr val="1C2530"/>
                </a:solidFill>
                <a:latin typeface="Cambria" pitchFamily="34" charset="0"/>
                <a:ea typeface="Cambria" pitchFamily="34" charset="-122"/>
                <a:cs typeface="Cambria" pitchFamily="34" charset="-120"/>
              </a:rPr>
              <a:t>Thứ tự các màn</a:t>
            </a:r>
            <a:endParaRPr lang="en-US" sz="1800" dirty="0"/>
          </a:p>
        </p:txBody>
      </p:sp>
      <p:sp>
        <p:nvSpPr>
          <p:cNvPr id="16" name="Text 14"/>
          <p:cNvSpPr/>
          <p:nvPr/>
        </p:nvSpPr>
        <p:spPr>
          <a:xfrm>
            <a:off x="8275320" y="3977640"/>
            <a:ext cx="2880360" cy="1188720"/>
          </a:xfrm>
          <a:prstGeom prst="rect">
            <a:avLst/>
          </a:prstGeom>
          <a:noFill/>
          <a:ln/>
        </p:spPr>
        <p:txBody>
          <a:bodyPr wrap="square" lIns="0" tIns="0" rIns="0" bIns="0" rtlCol="0" anchor="ctr"/>
          <a:lstStyle/>
          <a:p>
            <a:pPr indent="0" marL="0">
              <a:lnSpc>
                <a:spcPct val="120000"/>
              </a:lnSpc>
              <a:buNone/>
            </a:pPr>
            <a:r>
              <a:rPr lang="en-US" sz="1350" dirty="0">
                <a:solidFill>
                  <a:srgbClr val="3C434B"/>
                </a:solidFill>
                <a:latin typeface="Segoe UI" pitchFamily="34" charset="0"/>
                <a:ea typeface="Segoe UI" pitchFamily="34" charset="-122"/>
                <a:cs typeface="Segoe UI" pitchFamily="34" charset="-120"/>
              </a:rPr>
              <a:t>Với nhiều ảnh bị xáo trộn, mô hình phải tự suy ra thứ tự đúng — dựa vào căn cứ nào?</a:t>
            </a:r>
            <a:endParaRPr lang="en-US" sz="1350" dirty="0"/>
          </a:p>
        </p:txBody>
      </p:sp>
      <p:sp>
        <p:nvSpPr>
          <p:cNvPr id="17" name="Text 15"/>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DỮ LIỆU</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Ba bộ dữ liệu — vai trò phân định</a:t>
            </a:r>
            <a:endParaRPr lang="en-US" sz="2700" dirty="0"/>
          </a:p>
        </p:txBody>
      </p:sp>
      <p:sp>
        <p:nvSpPr>
          <p:cNvPr id="4" name="Shape 2"/>
          <p:cNvSpPr/>
          <p:nvPr/>
        </p:nvSpPr>
        <p:spPr>
          <a:xfrm>
            <a:off x="822960" y="1481328"/>
            <a:ext cx="640080" cy="45720"/>
          </a:xfrm>
          <a:prstGeom prst="rect">
            <a:avLst/>
          </a:prstGeom>
          <a:solidFill>
            <a:srgbClr val="8A2433"/>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43032" cy="914400"/>
        </p:xfrm>
        <a:graphic>
          <a:graphicData uri="http://schemas.openxmlformats.org/drawingml/2006/table">
            <a:tbl>
              <a:tblPr/>
              <a:tblGrid>
                <a:gridCol w="2286000"/>
                <a:gridCol w="3840480"/>
                <a:gridCol w="1737360"/>
                <a:gridCol w="2651760"/>
              </a:tblGrid>
              <a:tr h="914400">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Bộ dữ liệu</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Nội dung</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algn="ctr" indent="0" marL="0">
                        <a:buNone/>
                      </a:pPr>
                      <a:r>
                        <a:rPr lang="en-US" sz="1250" b="1" dirty="0">
                          <a:solidFill>
                            <a:srgbClr val="1C2530"/>
                          </a:solidFill>
                          <a:latin typeface="Segoe UI" pitchFamily="34" charset="0"/>
                          <a:ea typeface="Segoe UI" pitchFamily="34" charset="-122"/>
                          <a:cs typeface="Segoe UI" pitchFamily="34" charset="-120"/>
                        </a:rPr>
                        <a:t>Nhãn có sẵn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Vai trò trong luận văn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r>
              <a:tr h="914400">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MobileViews</a:t>
                      </a:r>
                      <a:endParaRPr lang="en-US" sz="1250" dirty="0">
                        <a:latin typeface="Segoe UI" charset="0"/>
                        <a:ea typeface="Segoe UI" charset="0"/>
                        <a:cs typeface="Segoe UI" charset="0"/>
                      </a:endParaRPr>
                    </a:p>
                    <a:p>
                      <a:pPr indent="0" marL="0">
                        <a:buNone/>
                      </a:pPr>
                      <a:r>
                        <a:rPr lang="en-US" sz="1250" b="1" dirty="0">
                          <a:solidFill>
                            <a:srgbClr val="1C2530"/>
                          </a:solidFill>
                          <a:latin typeface="Segoe UI" pitchFamily="34" charset="0"/>
                          <a:ea typeface="Segoe UI" pitchFamily="34" charset="-122"/>
                          <a:cs typeface="Segoe UI" pitchFamily="34" charset="-120"/>
                        </a:rPr>
                        <a:t>(một màn)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Ảnh + cây phân cấp giao diện + toạ độ nút</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250" dirty="0">
                          <a:solidFill>
                            <a:srgbClr val="8A2433"/>
                          </a:solidFill>
                          <a:latin typeface="Segoe UI" pitchFamily="34" charset="0"/>
                          <a:ea typeface="Segoe UI" pitchFamily="34" charset="-122"/>
                          <a:cs typeface="Segoe UI" pitchFamily="34" charset="-120"/>
                        </a:rPr>
                        <a:t>Không có</a:t>
                      </a:r>
                      <a:endParaRPr lang="en-US" sz="1250" dirty="0">
                        <a:latin typeface="Segoe UI" charset="0"/>
                        <a:ea typeface="Segoe UI" charset="0"/>
                        <a:cs typeface="Segoe UI" charset="0"/>
                      </a:endParaRPr>
                    </a:p>
                    <a:p>
                      <a:pPr algn="ctr" indent="0" marL="0">
                        <a:buNone/>
                      </a:pPr>
                      <a:r>
                        <a:rPr lang="en-US" sz="1250" dirty="0">
                          <a:solidFill>
                            <a:srgbClr val="8A2433"/>
                          </a:solidFill>
                          <a:latin typeface="Segoe UI" pitchFamily="34" charset="0"/>
                          <a:ea typeface="Segoe UI" pitchFamily="34" charset="-122"/>
                          <a:cs typeface="Segoe UI" pitchFamily="34" charset="-120"/>
                        </a:rPr>
                        <a:t>quỹ đạo vàng</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Đánh giá độ trung thực với giao diện trên một màn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914400">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AndroidControl</a:t>
                      </a:r>
                      <a:endParaRPr lang="en-US" sz="1250" dirty="0">
                        <a:latin typeface="Segoe UI" charset="0"/>
                        <a:ea typeface="Segoe UI" charset="0"/>
                        <a:cs typeface="Segoe UI" charset="0"/>
                      </a:endParaRPr>
                    </a:p>
                    <a:p>
                      <a:pPr indent="0" marL="0">
                        <a:buNone/>
                      </a:pPr>
                      <a:r>
                        <a:rPr lang="en-US" sz="1250" b="1" dirty="0">
                          <a:solidFill>
                            <a:srgbClr val="1C2530"/>
                          </a:solidFill>
                          <a:latin typeface="Segoe UI" pitchFamily="34" charset="0"/>
                          <a:ea typeface="Segoe UI" pitchFamily="34" charset="-122"/>
                          <a:cs typeface="Segoe UI" pitchFamily="34" charset="-120"/>
                        </a:rPr>
                        <a:t>(nhiều màn)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Chuỗi màn của một tác vụ + cây trợ năng + thao tác đúng từng bước</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250" b="1" dirty="0">
                          <a:solidFill>
                            <a:srgbClr val="1E6B43"/>
                          </a:solidFill>
                          <a:latin typeface="Segoe UI" pitchFamily="34" charset="0"/>
                          <a:ea typeface="Segoe UI" pitchFamily="34" charset="-122"/>
                          <a:cs typeface="Segoe UI" pitchFamily="34" charset="-120"/>
                        </a:rPr>
                        <a:t>Có</a:t>
                      </a:r>
                      <a:endParaRPr lang="en-US" sz="1250" dirty="0">
                        <a:latin typeface="Segoe UI" charset="0"/>
                        <a:ea typeface="Segoe UI" charset="0"/>
                        <a:cs typeface="Segoe UI" charset="0"/>
                      </a:endParaRPr>
                    </a:p>
                    <a:p>
                      <a:pPr algn="ctr" indent="0" marL="0">
                        <a:buNone/>
                      </a:pPr>
                      <a:r>
                        <a:rPr lang="en-US" sz="1250" b="1" dirty="0">
                          <a:solidFill>
                            <a:srgbClr val="1E6B43"/>
                          </a:solidFill>
                          <a:latin typeface="Segoe UI" pitchFamily="34" charset="0"/>
                          <a:ea typeface="Segoe UI" pitchFamily="34" charset="-122"/>
                          <a:cs typeface="Segoe UI" pitchFamily="34" charset="-120"/>
                        </a:rPr>
                        <a:t>quỹ đạo vàng</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Đánh giá sắp thứ tự màn &amp; hoàn thành tác vụ</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914400">
                <a:tc>
                  <a:txBody>
                    <a:bodyPr/>
                    <a:lstStyle/>
                    <a:p>
                      <a:pPr indent="0" marL="0">
                        <a:buNone/>
                      </a:pPr>
                      <a:r>
                        <a:rPr lang="en-US" sz="1250" b="1" dirty="0">
                          <a:solidFill>
                            <a:srgbClr val="1C2530"/>
                          </a:solidFill>
                          <a:latin typeface="Segoe UI" pitchFamily="34" charset="0"/>
                          <a:ea typeface="Segoe UI" pitchFamily="34" charset="-122"/>
                          <a:cs typeface="Segoe UI" pitchFamily="34" charset="-120"/>
                        </a:rPr>
                        <a:t>ScreenSpot-v2</a:t>
                      </a:r>
                      <a:endParaRPr lang="en-US" sz="1250" dirty="0">
                        <a:latin typeface="Segoe UI" charset="0"/>
                        <a:ea typeface="Segoe UI" charset="0"/>
                        <a:cs typeface="Segoe UI" charset="0"/>
                      </a:endParaRPr>
                    </a:p>
                    <a:p>
                      <a:pPr indent="0" marL="0">
                        <a:buNone/>
                      </a:pPr>
                      <a:r>
                        <a:rPr lang="en-US" sz="1250" b="1" dirty="0">
                          <a:solidFill>
                            <a:srgbClr val="1C2530"/>
                          </a:solidFill>
                          <a:latin typeface="Segoe UI" pitchFamily="34" charset="0"/>
                          <a:ea typeface="Segoe UI" pitchFamily="34" charset="-122"/>
                          <a:cs typeface="Segoe UI" pitchFamily="34" charset="-120"/>
                        </a:rPr>
                        <a:t>(đối chứng)</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Ảnh + toạ độ nút chuẩn cho bài trỏ đúng nút</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250" dirty="0">
                          <a:solidFill>
                            <a:srgbClr val="1E6B43"/>
                          </a:solidFill>
                          <a:latin typeface="Segoe UI" pitchFamily="34" charset="0"/>
                          <a:ea typeface="Segoe UI" pitchFamily="34" charset="-122"/>
                          <a:cs typeface="Segoe UI" pitchFamily="34" charset="-120"/>
                        </a:rPr>
                        <a:t>Có toạ độ</a:t>
                      </a:r>
                      <a:endParaRPr lang="en-US" sz="1250" dirty="0">
                        <a:latin typeface="Segoe UI" charset="0"/>
                        <a:ea typeface="Segoe UI" charset="0"/>
                        <a:cs typeface="Segoe UI" charset="0"/>
                      </a:endParaRPr>
                    </a:p>
                    <a:p>
                      <a:pPr algn="ctr" indent="0" marL="0">
                        <a:buNone/>
                      </a:pPr>
                      <a:r>
                        <a:rPr lang="en-US" sz="1250" dirty="0">
                          <a:solidFill>
                            <a:srgbClr val="1E6B43"/>
                          </a:solidFill>
                          <a:latin typeface="Segoe UI" pitchFamily="34" charset="0"/>
                          <a:ea typeface="Segoe UI" pitchFamily="34" charset="-122"/>
                          <a:cs typeface="Segoe UI" pitchFamily="34" charset="-120"/>
                        </a:rPr>
                        <a:t>chuẩn</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250" dirty="0">
                          <a:solidFill>
                            <a:srgbClr val="000000"/>
                          </a:solidFill>
                          <a:latin typeface="Segoe UI" pitchFamily="34" charset="0"/>
                          <a:ea typeface="Segoe UI" pitchFamily="34" charset="-122"/>
                          <a:cs typeface="Segoe UI" pitchFamily="34" charset="-120"/>
                        </a:rPr>
                        <a:t>Kiểm định độc lập độ chính xác “trỏ đúng nút”</a:t>
                      </a:r>
                      <a:endParaRPr lang="en-US" sz="12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bl>
          </a:graphicData>
        </a:graphic>
      </p:graphicFrame>
      <p:sp>
        <p:nvSpPr>
          <p:cNvPr id="6" name="Text 3"/>
          <p:cNvSpPr/>
          <p:nvPr/>
        </p:nvSpPr>
        <p:spPr>
          <a:xfrm>
            <a:off x="822960" y="5943600"/>
            <a:ext cx="10515600" cy="548640"/>
          </a:xfrm>
          <a:prstGeom prst="rect">
            <a:avLst/>
          </a:prstGeom>
          <a:noFill/>
          <a:ln/>
        </p:spPr>
        <p:txBody>
          <a:bodyPr wrap="square" lIns="0" tIns="0" rIns="0" bIns="0" rtlCol="0" anchor="ctr"/>
          <a:lstStyle/>
          <a:p>
            <a:pPr indent="0" marL="0">
              <a:lnSpc>
                <a:spcPct val="115000"/>
              </a:lnSpc>
              <a:buNone/>
            </a:pPr>
            <a:r>
              <a:rPr lang="en-US" sz="1250" i="1" dirty="0">
                <a:solidFill>
                  <a:srgbClr val="8A929B"/>
                </a:solidFill>
                <a:latin typeface="Segoe UI" pitchFamily="34" charset="0"/>
                <a:ea typeface="Segoe UI" pitchFamily="34" charset="-122"/>
                <a:cs typeface="Segoe UI" pitchFamily="34" charset="-120"/>
              </a:rPr>
              <a:t>Trục phân định: có hay không có quỹ đạo vàng. MobileViews và AndroidControl đều cung cấp danh sách nút thật làm mốc neo; ScreenSpot bổ sung một chuẩn đã bình duyệt cho phép đo trỏ đúng nút.</a:t>
            </a:r>
            <a:endParaRPr lang="en-US" sz="1250" dirty="0"/>
          </a:p>
        </p:txBody>
      </p:sp>
      <p:sp>
        <p:nvSpPr>
          <p:cNvPr id="7" name="Text 4"/>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DỮ LIỆU · MINH HOẠ</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MobileViews — một màn kèm danh sách nút thật</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1115568" y="1938528"/>
            <a:ext cx="2523744" cy="3803904"/>
          </a:xfrm>
          <a:prstGeom prst="roundRect">
            <a:avLst>
              <a:gd name="adj" fmla="val 2174"/>
            </a:avLst>
          </a:prstGeom>
          <a:solidFill>
            <a:srgbClr val="FFFFFF"/>
          </a:solidFill>
          <a:ln w="12700">
            <a:solidFill>
              <a:srgbClr val="D7DCE1"/>
            </a:solidFill>
            <a:prstDash val="solid"/>
          </a:ln>
        </p:spPr>
      </p:sp>
      <p:pic>
        <p:nvPicPr>
          <p:cNvPr id="6" name="Image 0" descr="_img/real_mv_1.png">    </p:cNvPr>
          <p:cNvPicPr>
            <a:picLocks noChangeAspect="1"/>
          </p:cNvPicPr>
          <p:nvPr/>
        </p:nvPicPr>
        <p:blipFill>
          <a:blip r:embed="rId1"/>
          <a:srcRect l="0" r="0" t="0" b="0"/>
          <a:stretch/>
        </p:blipFill>
        <p:spPr>
          <a:xfrm>
            <a:off x="1188720" y="2011680"/>
            <a:ext cx="2377440" cy="3657600"/>
          </a:xfrm>
          <a:prstGeom prst="rect">
            <a:avLst/>
          </a:prstGeom>
        </p:spPr>
      </p:pic>
      <p:sp>
        <p:nvSpPr>
          <p:cNvPr id="7" name="Shape 4"/>
          <p:cNvSpPr/>
          <p:nvPr/>
        </p:nvSpPr>
        <p:spPr>
          <a:xfrm>
            <a:off x="3721608" y="1938528"/>
            <a:ext cx="2523744" cy="3803904"/>
          </a:xfrm>
          <a:prstGeom prst="roundRect">
            <a:avLst>
              <a:gd name="adj" fmla="val 2174"/>
            </a:avLst>
          </a:prstGeom>
          <a:solidFill>
            <a:srgbClr val="FFFFFF"/>
          </a:solidFill>
          <a:ln w="12700">
            <a:solidFill>
              <a:srgbClr val="D7DCE1"/>
            </a:solidFill>
            <a:prstDash val="solid"/>
          </a:ln>
        </p:spPr>
      </p:sp>
      <p:pic>
        <p:nvPicPr>
          <p:cNvPr id="8" name="Image 1" descr="_img/real_mv_2.png">    </p:cNvPr>
          <p:cNvPicPr>
            <a:picLocks noChangeAspect="1"/>
          </p:cNvPicPr>
          <p:nvPr/>
        </p:nvPicPr>
        <p:blipFill>
          <a:blip r:embed="rId2"/>
          <a:srcRect l="0" r="0" t="0" b="0"/>
          <a:stretch/>
        </p:blipFill>
        <p:spPr>
          <a:xfrm>
            <a:off x="3794760" y="2011680"/>
            <a:ext cx="2377440" cy="3657600"/>
          </a:xfrm>
          <a:prstGeom prst="rect">
            <a:avLst/>
          </a:prstGeom>
        </p:spPr>
      </p:pic>
      <p:sp>
        <p:nvSpPr>
          <p:cNvPr id="9" name="Shape 5"/>
          <p:cNvSpPr/>
          <p:nvPr/>
        </p:nvSpPr>
        <p:spPr>
          <a:xfrm>
            <a:off x="6766560" y="2011680"/>
            <a:ext cx="4572000" cy="3657600"/>
          </a:xfrm>
          <a:prstGeom prst="roundRect">
            <a:avLst>
              <a:gd name="adj" fmla="val 1500"/>
            </a:avLst>
          </a:prstGeom>
          <a:solidFill>
            <a:srgbClr val="F4F6F8"/>
          </a:solidFill>
          <a:ln/>
        </p:spPr>
      </p:sp>
      <p:sp>
        <p:nvSpPr>
          <p:cNvPr id="10" name="Text 6"/>
          <p:cNvSpPr/>
          <p:nvPr/>
        </p:nvSpPr>
        <p:spPr>
          <a:xfrm>
            <a:off x="7040880" y="2194560"/>
            <a:ext cx="4114800" cy="548640"/>
          </a:xfrm>
          <a:prstGeom prst="rect">
            <a:avLst/>
          </a:prstGeom>
          <a:noFill/>
          <a:ln/>
        </p:spPr>
        <p:txBody>
          <a:bodyPr wrap="square" lIns="0" tIns="0" rIns="0" bIns="0" rtlCol="0" anchor="ctr"/>
          <a:lstStyle/>
          <a:p>
            <a:pPr indent="0" marL="0">
              <a:buNone/>
            </a:pPr>
            <a:r>
              <a:rPr lang="en-US" sz="1400" b="1" dirty="0">
                <a:solidFill>
                  <a:srgbClr val="8A2433"/>
                </a:solidFill>
                <a:latin typeface="Segoe UI" pitchFamily="34" charset="0"/>
                <a:ea typeface="Segoe UI" pitchFamily="34" charset="-122"/>
                <a:cs typeface="Segoe UI" pitchFamily="34" charset="-120"/>
              </a:rPr>
              <a:t>Mỗi ảnh đi kèm (không cung cấp cho mô hình khi sinh):</a:t>
            </a:r>
            <a:endParaRPr lang="en-US" sz="1400" dirty="0"/>
          </a:p>
        </p:txBody>
      </p:sp>
      <p:sp>
        <p:nvSpPr>
          <p:cNvPr id="11" name="Text 7"/>
          <p:cNvSpPr/>
          <p:nvPr/>
        </p:nvSpPr>
        <p:spPr>
          <a:xfrm>
            <a:off x="7040880" y="2880360"/>
            <a:ext cx="4114800" cy="1463040"/>
          </a:xfrm>
          <a:prstGeom prst="rect">
            <a:avLst/>
          </a:prstGeom>
          <a:noFill/>
          <a:ln/>
        </p:spPr>
        <p:txBody>
          <a:bodyPr wrap="square" lIns="0" tIns="0" rIns="0" bIns="0" rtlCol="0" anchor="ctr"/>
          <a:lstStyle/>
          <a:p>
            <a:pPr indent="0" marL="0">
              <a:lnSpc>
                <a:spcPct val="130000"/>
              </a:lnSpc>
              <a:buNone/>
            </a:pPr>
            <a:r>
              <a:rPr lang="en-US" sz="1450" dirty="0">
                <a:solidFill>
                  <a:srgbClr val="3C434B"/>
                </a:solidFill>
                <a:latin typeface="Segoe UI" pitchFamily="34" charset="0"/>
                <a:ea typeface="Segoe UI" pitchFamily="34" charset="-122"/>
                <a:cs typeface="Segoe UI" pitchFamily="34" charset="-120"/>
              </a:rPr>
              <a:t>•  Danh sách nút và nhãn hiển thị</a:t>
            </a:r>
            <a:endParaRPr lang="en-US" sz="1450" dirty="0"/>
          </a:p>
          <a:p>
            <a:pPr indent="0" marL="0">
              <a:lnSpc>
                <a:spcPct val="130000"/>
              </a:lnSpc>
              <a:buNone/>
            </a:pPr>
            <a:r>
              <a:rPr lang="en-US" sz="1450" dirty="0">
                <a:solidFill>
                  <a:srgbClr val="3C434B"/>
                </a:solidFill>
                <a:latin typeface="Segoe UI" pitchFamily="34" charset="0"/>
                <a:ea typeface="Segoe UI" pitchFamily="34" charset="-122"/>
                <a:cs typeface="Segoe UI" pitchFamily="34" charset="-120"/>
              </a:rPr>
              <a:t>    ví dụ: OK · Cancel · hour · minute · PM</a:t>
            </a:r>
            <a:endParaRPr lang="en-US" sz="1450" dirty="0"/>
          </a:p>
          <a:p>
            <a:pPr indent="0" marL="0">
              <a:lnSpc>
                <a:spcPct val="130000"/>
              </a:lnSpc>
              <a:buNone/>
            </a:pPr>
            <a:endParaRPr lang="en-US" sz="1450" dirty="0"/>
          </a:p>
          <a:p>
            <a:pPr indent="0" marL="0">
              <a:lnSpc>
                <a:spcPct val="130000"/>
              </a:lnSpc>
              <a:buNone/>
            </a:pPr>
            <a:r>
              <a:rPr lang="en-US" sz="1450" dirty="0">
                <a:solidFill>
                  <a:srgbClr val="3C434B"/>
                </a:solidFill>
                <a:latin typeface="Segoe UI" pitchFamily="34" charset="0"/>
                <a:ea typeface="Segoe UI" pitchFamily="34" charset="-122"/>
                <a:cs typeface="Segoe UI" pitchFamily="34" charset="-120"/>
              </a:rPr>
              <a:t>•  Toạ độ khung mỗi nút  [l, t, r, b]</a:t>
            </a:r>
            <a:endParaRPr lang="en-US" sz="1450" dirty="0"/>
          </a:p>
        </p:txBody>
      </p:sp>
      <p:sp>
        <p:nvSpPr>
          <p:cNvPr id="12" name="Shape 8"/>
          <p:cNvSpPr/>
          <p:nvPr/>
        </p:nvSpPr>
        <p:spPr>
          <a:xfrm>
            <a:off x="7040880" y="4434840"/>
            <a:ext cx="4023360" cy="1097280"/>
          </a:xfrm>
          <a:prstGeom prst="roundRect">
            <a:avLst>
              <a:gd name="adj" fmla="val 5000"/>
            </a:avLst>
          </a:prstGeom>
          <a:solidFill>
            <a:srgbClr val="F2E3E6"/>
          </a:solidFill>
          <a:ln/>
        </p:spPr>
      </p:sp>
      <p:sp>
        <p:nvSpPr>
          <p:cNvPr id="13" name="Text 9"/>
          <p:cNvSpPr/>
          <p:nvPr/>
        </p:nvSpPr>
        <p:spPr>
          <a:xfrm>
            <a:off x="7223760" y="4526280"/>
            <a:ext cx="3657600" cy="914400"/>
          </a:xfrm>
          <a:prstGeom prst="rect">
            <a:avLst/>
          </a:prstGeom>
          <a:noFill/>
          <a:ln/>
        </p:spPr>
        <p:txBody>
          <a:bodyPr wrap="square" lIns="0" tIns="0" rIns="0" bIns="0" rtlCol="0" anchor="ctr"/>
          <a:lstStyle/>
          <a:p>
            <a:pPr indent="0" marL="0">
              <a:lnSpc>
                <a:spcPct val="115000"/>
              </a:lnSpc>
              <a:buNone/>
            </a:pPr>
            <a:r>
              <a:rPr lang="en-US" sz="1300" b="1" dirty="0">
                <a:solidFill>
                  <a:srgbClr val="1C2530"/>
                </a:solidFill>
                <a:latin typeface="Segoe UI" pitchFamily="34" charset="0"/>
                <a:ea typeface="Segoe UI" pitchFamily="34" charset="-122"/>
                <a:cs typeface="Segoe UI" pitchFamily="34" charset="-120"/>
              </a:rPr>
              <a:t>Danh sách nút chỉ tham gia ở bước đánh giá, không cung cấp cho mô hình ở bước sinh (tránh rò rỉ thông tin).</a:t>
            </a:r>
            <a:endParaRPr lang="en-US" sz="1300" dirty="0"/>
          </a:p>
        </p:txBody>
      </p:sp>
      <p:sp>
        <p:nvSpPr>
          <p:cNvPr id="14" name="Text 10"/>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DỮ LIỆU · MINH HOẠ</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AndroidControl — chuỗi nhiều màn kèm quỹ đạo vàng</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932688" y="1938528"/>
            <a:ext cx="2066544" cy="3566160"/>
          </a:xfrm>
          <a:prstGeom prst="roundRect">
            <a:avLst>
              <a:gd name="adj" fmla="val 2655"/>
            </a:avLst>
          </a:prstGeom>
          <a:solidFill>
            <a:srgbClr val="FFFFFF"/>
          </a:solidFill>
          <a:ln w="12700">
            <a:solidFill>
              <a:srgbClr val="D7DCE1"/>
            </a:solidFill>
            <a:prstDash val="solid"/>
          </a:ln>
        </p:spPr>
      </p:sp>
      <p:pic>
        <p:nvPicPr>
          <p:cNvPr id="6" name="Image 0" descr="_img/ac_o1.png">    </p:cNvPr>
          <p:cNvPicPr>
            <a:picLocks noChangeAspect="1"/>
          </p:cNvPicPr>
          <p:nvPr/>
        </p:nvPicPr>
        <p:blipFill>
          <a:blip r:embed="rId1"/>
          <a:srcRect l="0" r="0" t="0" b="0"/>
          <a:stretch/>
        </p:blipFill>
        <p:spPr>
          <a:xfrm>
            <a:off x="1005840" y="2011680"/>
            <a:ext cx="1920240" cy="3108960"/>
          </a:xfrm>
          <a:prstGeom prst="rect">
            <a:avLst/>
          </a:prstGeom>
        </p:spPr>
      </p:pic>
      <p:sp>
        <p:nvSpPr>
          <p:cNvPr id="7" name="Text 4"/>
          <p:cNvSpPr/>
          <p:nvPr/>
        </p:nvSpPr>
        <p:spPr>
          <a:xfrm>
            <a:off x="932688" y="5138928"/>
            <a:ext cx="206654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1</a:t>
            </a:r>
            <a:endParaRPr lang="en-US" sz="1200" dirty="0"/>
          </a:p>
        </p:txBody>
      </p:sp>
      <p:sp>
        <p:nvSpPr>
          <p:cNvPr id="8" name="Shape 5"/>
          <p:cNvSpPr/>
          <p:nvPr/>
        </p:nvSpPr>
        <p:spPr>
          <a:xfrm>
            <a:off x="3017520" y="3520440"/>
            <a:ext cx="256032" cy="0"/>
          </a:xfrm>
          <a:prstGeom prst="line">
            <a:avLst/>
          </a:prstGeom>
          <a:noFill/>
          <a:ln w="31750">
            <a:solidFill>
              <a:srgbClr val="5B6B7A"/>
            </a:solidFill>
            <a:prstDash val="solid"/>
            <a:tailEnd type="triangle"/>
          </a:ln>
        </p:spPr>
      </p:sp>
      <p:sp>
        <p:nvSpPr>
          <p:cNvPr id="9" name="Shape 6"/>
          <p:cNvSpPr/>
          <p:nvPr/>
        </p:nvSpPr>
        <p:spPr>
          <a:xfrm>
            <a:off x="3264408" y="1938528"/>
            <a:ext cx="2066544" cy="3566160"/>
          </a:xfrm>
          <a:prstGeom prst="roundRect">
            <a:avLst>
              <a:gd name="adj" fmla="val 2655"/>
            </a:avLst>
          </a:prstGeom>
          <a:solidFill>
            <a:srgbClr val="FFFFFF"/>
          </a:solidFill>
          <a:ln w="12700">
            <a:solidFill>
              <a:srgbClr val="D7DCE1"/>
            </a:solidFill>
            <a:prstDash val="solid"/>
          </a:ln>
        </p:spPr>
      </p:sp>
      <p:pic>
        <p:nvPicPr>
          <p:cNvPr id="10" name="Image 1" descr="_img/ac_o2.png">    </p:cNvPr>
          <p:cNvPicPr>
            <a:picLocks noChangeAspect="1"/>
          </p:cNvPicPr>
          <p:nvPr/>
        </p:nvPicPr>
        <p:blipFill>
          <a:blip r:embed="rId2"/>
          <a:srcRect l="0" r="0" t="0" b="0"/>
          <a:stretch/>
        </p:blipFill>
        <p:spPr>
          <a:xfrm>
            <a:off x="3337560" y="2011680"/>
            <a:ext cx="1920240" cy="3108960"/>
          </a:xfrm>
          <a:prstGeom prst="rect">
            <a:avLst/>
          </a:prstGeom>
        </p:spPr>
      </p:pic>
      <p:sp>
        <p:nvSpPr>
          <p:cNvPr id="11" name="Text 7"/>
          <p:cNvSpPr/>
          <p:nvPr/>
        </p:nvSpPr>
        <p:spPr>
          <a:xfrm>
            <a:off x="3264408" y="5138928"/>
            <a:ext cx="206654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2</a:t>
            </a:r>
            <a:endParaRPr lang="en-US" sz="1200" dirty="0"/>
          </a:p>
        </p:txBody>
      </p:sp>
      <p:sp>
        <p:nvSpPr>
          <p:cNvPr id="12" name="Shape 8"/>
          <p:cNvSpPr/>
          <p:nvPr/>
        </p:nvSpPr>
        <p:spPr>
          <a:xfrm>
            <a:off x="5349240" y="3520440"/>
            <a:ext cx="256032" cy="0"/>
          </a:xfrm>
          <a:prstGeom prst="line">
            <a:avLst/>
          </a:prstGeom>
          <a:noFill/>
          <a:ln w="31750">
            <a:solidFill>
              <a:srgbClr val="5B6B7A"/>
            </a:solidFill>
            <a:prstDash val="solid"/>
            <a:tailEnd type="triangle"/>
          </a:ln>
        </p:spPr>
      </p:sp>
      <p:sp>
        <p:nvSpPr>
          <p:cNvPr id="13" name="Shape 9"/>
          <p:cNvSpPr/>
          <p:nvPr/>
        </p:nvSpPr>
        <p:spPr>
          <a:xfrm>
            <a:off x="5596128" y="1938528"/>
            <a:ext cx="2066544" cy="3566160"/>
          </a:xfrm>
          <a:prstGeom prst="roundRect">
            <a:avLst>
              <a:gd name="adj" fmla="val 2655"/>
            </a:avLst>
          </a:prstGeom>
          <a:solidFill>
            <a:srgbClr val="FFFFFF"/>
          </a:solidFill>
          <a:ln w="12700">
            <a:solidFill>
              <a:srgbClr val="D7DCE1"/>
            </a:solidFill>
            <a:prstDash val="solid"/>
          </a:ln>
        </p:spPr>
      </p:sp>
      <p:pic>
        <p:nvPicPr>
          <p:cNvPr id="14" name="Image 2" descr="_img/ac_o3.png">    </p:cNvPr>
          <p:cNvPicPr>
            <a:picLocks noChangeAspect="1"/>
          </p:cNvPicPr>
          <p:nvPr/>
        </p:nvPicPr>
        <p:blipFill>
          <a:blip r:embed="rId3"/>
          <a:srcRect l="0" r="0" t="0" b="0"/>
          <a:stretch/>
        </p:blipFill>
        <p:spPr>
          <a:xfrm>
            <a:off x="5669280" y="2011680"/>
            <a:ext cx="1920240" cy="3108960"/>
          </a:xfrm>
          <a:prstGeom prst="rect">
            <a:avLst/>
          </a:prstGeom>
        </p:spPr>
      </p:pic>
      <p:sp>
        <p:nvSpPr>
          <p:cNvPr id="15" name="Text 10"/>
          <p:cNvSpPr/>
          <p:nvPr/>
        </p:nvSpPr>
        <p:spPr>
          <a:xfrm>
            <a:off x="5596128" y="5138928"/>
            <a:ext cx="206654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3</a:t>
            </a:r>
            <a:endParaRPr lang="en-US" sz="1200" dirty="0"/>
          </a:p>
        </p:txBody>
      </p:sp>
      <p:sp>
        <p:nvSpPr>
          <p:cNvPr id="16" name="Shape 11"/>
          <p:cNvSpPr/>
          <p:nvPr/>
        </p:nvSpPr>
        <p:spPr>
          <a:xfrm>
            <a:off x="8138160" y="2011680"/>
            <a:ext cx="3200400" cy="3108960"/>
          </a:xfrm>
          <a:prstGeom prst="roundRect">
            <a:avLst>
              <a:gd name="adj" fmla="val 1765"/>
            </a:avLst>
          </a:prstGeom>
          <a:solidFill>
            <a:srgbClr val="F4F6F8"/>
          </a:solidFill>
          <a:ln/>
        </p:spPr>
      </p:sp>
      <p:sp>
        <p:nvSpPr>
          <p:cNvPr id="17" name="Text 12"/>
          <p:cNvSpPr/>
          <p:nvPr/>
        </p:nvSpPr>
        <p:spPr>
          <a:xfrm>
            <a:off x="8366760" y="2194560"/>
            <a:ext cx="2834640" cy="548640"/>
          </a:xfrm>
          <a:prstGeom prst="rect">
            <a:avLst/>
          </a:prstGeom>
          <a:noFill/>
          <a:ln/>
        </p:spPr>
        <p:txBody>
          <a:bodyPr wrap="square" lIns="0" tIns="0" rIns="0" bIns="0" rtlCol="0" anchor="ctr"/>
          <a:lstStyle/>
          <a:p>
            <a:pPr indent="0" marL="0">
              <a:buNone/>
            </a:pPr>
            <a:r>
              <a:rPr lang="en-US" sz="1350" b="1" dirty="0">
                <a:solidFill>
                  <a:srgbClr val="8A2433"/>
                </a:solidFill>
                <a:latin typeface="Segoe UI" pitchFamily="34" charset="0"/>
                <a:ea typeface="Segoe UI" pitchFamily="34" charset="-122"/>
                <a:cs typeface="Segoe UI" pitchFamily="34" charset="-120"/>
              </a:rPr>
              <a:t>Nhãn đi kèm (dùng khi đánh giá):</a:t>
            </a:r>
            <a:endParaRPr lang="en-US" sz="1350" dirty="0"/>
          </a:p>
        </p:txBody>
      </p:sp>
      <p:sp>
        <p:nvSpPr>
          <p:cNvPr id="18" name="Text 13"/>
          <p:cNvSpPr/>
          <p:nvPr/>
        </p:nvSpPr>
        <p:spPr>
          <a:xfrm>
            <a:off x="8366760" y="2834640"/>
            <a:ext cx="2834640" cy="2194560"/>
          </a:xfrm>
          <a:prstGeom prst="rect">
            <a:avLst/>
          </a:prstGeom>
          <a:noFill/>
          <a:ln/>
        </p:spPr>
        <p:txBody>
          <a:bodyPr wrap="square" lIns="0" tIns="0" rIns="0" bIns="0" rtlCol="0" anchor="ctr"/>
          <a:lstStyle/>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Thứ tự đúng của các màn</a:t>
            </a:r>
            <a:endParaRPr lang="en-US" sz="1400" dirty="0"/>
          </a:p>
          <a:p>
            <a:pPr indent="0" marL="0">
              <a:lnSpc>
                <a:spcPct val="130000"/>
              </a:lnSpc>
              <a:buNone/>
            </a:pP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Thao tác đúng ở mỗi màn</a:t>
            </a: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(loại thao tác, đối tượng, vị trí)</a:t>
            </a:r>
            <a:endParaRPr lang="en-US" sz="1400" dirty="0"/>
          </a:p>
        </p:txBody>
      </p:sp>
      <p:sp>
        <p:nvSpPr>
          <p:cNvPr id="19" name="Text 14"/>
          <p:cNvSpPr/>
          <p:nvPr/>
        </p:nvSpPr>
        <p:spPr>
          <a:xfrm>
            <a:off x="822960" y="5440680"/>
            <a:ext cx="10515600" cy="457200"/>
          </a:xfrm>
          <a:prstGeom prst="rect">
            <a:avLst/>
          </a:prstGeom>
          <a:noFill/>
          <a:ln/>
        </p:spPr>
        <p:txBody>
          <a:bodyPr wrap="square" lIns="0" tIns="0" rIns="0" bIns="0" rtlCol="0" anchor="ctr"/>
          <a:lstStyle/>
          <a:p>
            <a:pPr indent="0" marL="0">
              <a:lnSpc>
                <a:spcPct val="115000"/>
              </a:lnSpc>
              <a:buNone/>
            </a:pPr>
            <a:r>
              <a:rPr lang="en-US" sz="1250" i="1" dirty="0">
                <a:solidFill>
                  <a:srgbClr val="8A929B"/>
                </a:solidFill>
                <a:latin typeface="Segoe UI" pitchFamily="34" charset="0"/>
                <a:ea typeface="Segoe UI" pitchFamily="34" charset="-122"/>
                <a:cs typeface="Segoe UI" pitchFamily="34" charset="-120"/>
              </a:rPr>
              <a:t>Khi thử nghiệm, các màn được xáo trộn để mô hình tự sắp xếp lại; quỹ đạo vàng chỉ dùng để đối chiếu. Nguồn: Li et al., NeurIPS 2024 (Datasets &amp; Benchmarks).</a:t>
            </a:r>
            <a:endParaRPr lang="en-US" sz="1250" dirty="0"/>
          </a:p>
        </p:txBody>
      </p:sp>
      <p:sp>
        <p:nvSpPr>
          <p:cNvPr id="20" name="Text 15"/>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DỮ LIỆU · MINH HOẠ</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ScreenSpot-v2 — đối chứng cho phép đo “trỏ đúng nút”</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1024128" y="1938528"/>
            <a:ext cx="2340864" cy="3712464"/>
          </a:xfrm>
          <a:prstGeom prst="roundRect">
            <a:avLst>
              <a:gd name="adj" fmla="val 2344"/>
            </a:avLst>
          </a:prstGeom>
          <a:solidFill>
            <a:srgbClr val="FFFFFF"/>
          </a:solidFill>
          <a:ln w="12700">
            <a:solidFill>
              <a:srgbClr val="D7DCE1"/>
            </a:solidFill>
            <a:prstDash val="solid"/>
          </a:ln>
        </p:spPr>
      </p:sp>
      <p:pic>
        <p:nvPicPr>
          <p:cNvPr id="6" name="Image 0" descr="_img/ss_mobile.png">    </p:cNvPr>
          <p:cNvPicPr>
            <a:picLocks noChangeAspect="1"/>
          </p:cNvPicPr>
          <p:nvPr/>
        </p:nvPicPr>
        <p:blipFill>
          <a:blip r:embed="rId1"/>
          <a:srcRect l="0" r="0" t="0" b="0"/>
          <a:stretch/>
        </p:blipFill>
        <p:spPr>
          <a:xfrm>
            <a:off x="1097280" y="2011680"/>
            <a:ext cx="2194560" cy="3566160"/>
          </a:xfrm>
          <a:prstGeom prst="rect">
            <a:avLst/>
          </a:prstGeom>
        </p:spPr>
      </p:pic>
      <p:sp>
        <p:nvSpPr>
          <p:cNvPr id="7" name="Shape 4"/>
          <p:cNvSpPr/>
          <p:nvPr/>
        </p:nvSpPr>
        <p:spPr>
          <a:xfrm>
            <a:off x="3566160" y="2011680"/>
            <a:ext cx="7772400" cy="1737360"/>
          </a:xfrm>
          <a:prstGeom prst="roundRect">
            <a:avLst>
              <a:gd name="adj" fmla="val 3158"/>
            </a:avLst>
          </a:prstGeom>
          <a:solidFill>
            <a:srgbClr val="F4F6F8"/>
          </a:solidFill>
          <a:ln/>
        </p:spPr>
      </p:sp>
      <p:sp>
        <p:nvSpPr>
          <p:cNvPr id="8" name="Text 5"/>
          <p:cNvSpPr/>
          <p:nvPr/>
        </p:nvSpPr>
        <p:spPr>
          <a:xfrm>
            <a:off x="3840480" y="2148840"/>
            <a:ext cx="7315200" cy="320040"/>
          </a:xfrm>
          <a:prstGeom prst="rect">
            <a:avLst/>
          </a:prstGeom>
          <a:noFill/>
          <a:ln/>
        </p:spPr>
        <p:txBody>
          <a:bodyPr wrap="square" lIns="0" tIns="0" rIns="0" bIns="0" rtlCol="0" anchor="ctr"/>
          <a:lstStyle/>
          <a:p>
            <a:pPr indent="0" marL="0">
              <a:buNone/>
            </a:pPr>
            <a:r>
              <a:rPr lang="en-US" sz="1600" b="1" dirty="0">
                <a:solidFill>
                  <a:srgbClr val="8A2433"/>
                </a:solidFill>
                <a:latin typeface="Cambria" pitchFamily="34" charset="0"/>
                <a:ea typeface="Cambria" pitchFamily="34" charset="-122"/>
                <a:cs typeface="Cambria" pitchFamily="34" charset="-120"/>
              </a:rPr>
              <a:t>Vai trò</a:t>
            </a:r>
            <a:endParaRPr lang="en-US" sz="1600" dirty="0"/>
          </a:p>
        </p:txBody>
      </p:sp>
      <p:sp>
        <p:nvSpPr>
          <p:cNvPr id="9" name="Text 6"/>
          <p:cNvSpPr/>
          <p:nvPr/>
        </p:nvSpPr>
        <p:spPr>
          <a:xfrm>
            <a:off x="3840480" y="2514600"/>
            <a:ext cx="7315200" cy="1143000"/>
          </a:xfrm>
          <a:prstGeom prst="rect">
            <a:avLst/>
          </a:prstGeom>
          <a:noFill/>
          <a:ln/>
        </p:spPr>
        <p:txBody>
          <a:bodyPr wrap="square" lIns="0" tIns="0" rIns="0" bIns="0" rtlCol="0" anchor="ctr"/>
          <a:lstStyle/>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Là chuẩn đã được bình duyệt cho bài toán trỏ đúng nút từ mô tả. Dùng để kiểm định độc lập độ chính xác của bộ trỏ nút trong luận văn, tách khỏi dữ liệu chính.</a:t>
            </a:r>
            <a:endParaRPr lang="en-US" sz="1400" dirty="0"/>
          </a:p>
        </p:txBody>
      </p:sp>
      <p:sp>
        <p:nvSpPr>
          <p:cNvPr id="10" name="Shape 7"/>
          <p:cNvSpPr/>
          <p:nvPr/>
        </p:nvSpPr>
        <p:spPr>
          <a:xfrm>
            <a:off x="3566160" y="3931920"/>
            <a:ext cx="7772400" cy="1645920"/>
          </a:xfrm>
          <a:prstGeom prst="roundRect">
            <a:avLst>
              <a:gd name="adj" fmla="val 3333"/>
            </a:avLst>
          </a:prstGeom>
          <a:solidFill>
            <a:srgbClr val="F2E3E6"/>
          </a:solidFill>
          <a:ln/>
        </p:spPr>
      </p:sp>
      <p:sp>
        <p:nvSpPr>
          <p:cNvPr id="11" name="Text 8"/>
          <p:cNvSpPr/>
          <p:nvPr/>
        </p:nvSpPr>
        <p:spPr>
          <a:xfrm>
            <a:off x="3840480" y="4069080"/>
            <a:ext cx="7315200" cy="320040"/>
          </a:xfrm>
          <a:prstGeom prst="rect">
            <a:avLst/>
          </a:prstGeom>
          <a:noFill/>
          <a:ln/>
        </p:spPr>
        <p:txBody>
          <a:bodyPr wrap="square" lIns="0" tIns="0" rIns="0" bIns="0" rtlCol="0" anchor="ctr"/>
          <a:lstStyle/>
          <a:p>
            <a:pPr indent="0" marL="0">
              <a:buNone/>
            </a:pPr>
            <a:r>
              <a:rPr lang="en-US" sz="1550" b="1" dirty="0">
                <a:solidFill>
                  <a:srgbClr val="8A2433"/>
                </a:solidFill>
                <a:latin typeface="Cambria" pitchFamily="34" charset="0"/>
                <a:ea typeface="Cambria" pitchFamily="34" charset="-122"/>
                <a:cs typeface="Cambria" pitchFamily="34" charset="-120"/>
              </a:rPr>
              <a:t>Vì sao cần bộ đối chứng này</a:t>
            </a:r>
            <a:endParaRPr lang="en-US" sz="1550" dirty="0"/>
          </a:p>
        </p:txBody>
      </p:sp>
      <p:sp>
        <p:nvSpPr>
          <p:cNvPr id="12" name="Text 9"/>
          <p:cNvSpPr/>
          <p:nvPr/>
        </p:nvSpPr>
        <p:spPr>
          <a:xfrm>
            <a:off x="3840480" y="4434840"/>
            <a:ext cx="7315200" cy="1051560"/>
          </a:xfrm>
          <a:prstGeom prst="rect">
            <a:avLst/>
          </a:prstGeom>
          <a:noFill/>
          <a:ln/>
        </p:spPr>
        <p:txBody>
          <a:bodyPr wrap="square" lIns="0" tIns="0" rIns="0" bIns="0" rtlCol="0" anchor="ctr"/>
          <a:lstStyle/>
          <a:p>
            <a:pPr indent="0" marL="0">
              <a:lnSpc>
                <a:spcPct val="125000"/>
              </a:lnSpc>
              <a:buNone/>
            </a:pPr>
            <a:r>
              <a:rPr lang="en-US" sz="1350" dirty="0">
                <a:solidFill>
                  <a:srgbClr val="3C434B"/>
                </a:solidFill>
                <a:latin typeface="Segoe UI" pitchFamily="34" charset="0"/>
                <a:ea typeface="Segoe UI" pitchFamily="34" charset="-122"/>
                <a:cs typeface="Segoe UI" pitchFamily="34" charset="-120"/>
              </a:rPr>
              <a:t>•  MobileViews hiện là bản tiền ấn phẩm → cần một chuẩn đã bình duyệt để củng cố độ tin cậy.</a:t>
            </a:r>
            <a:endParaRPr lang="en-US" sz="1350" dirty="0"/>
          </a:p>
          <a:p>
            <a:pPr indent="0" marL="0">
              <a:lnSpc>
                <a:spcPct val="125000"/>
              </a:lnSpc>
              <a:buNone/>
            </a:pPr>
            <a:r>
              <a:rPr lang="en-US" sz="1350" dirty="0">
                <a:solidFill>
                  <a:srgbClr val="3C434B"/>
                </a:solidFill>
                <a:latin typeface="Segoe UI" pitchFamily="34" charset="0"/>
                <a:ea typeface="Segoe UI" pitchFamily="34" charset="-122"/>
                <a:cs typeface="Segoe UI" pitchFamily="34" charset="-120"/>
              </a:rPr>
              <a:t>•  Cho phép báo cáo độ chính xác “trỏ đúng nút” trên dữ liệu độc lập, không trùng với tập đánh giá chính.</a:t>
            </a:r>
            <a:endParaRPr lang="en-US" sz="1350" dirty="0"/>
          </a:p>
        </p:txBody>
      </p:sp>
      <p:sp>
        <p:nvSpPr>
          <p:cNvPr id="13" name="Text 10"/>
          <p:cNvSpPr/>
          <p:nvPr/>
        </p:nvSpPr>
        <p:spPr>
          <a:xfrm>
            <a:off x="822960" y="5806440"/>
            <a:ext cx="10515600" cy="365760"/>
          </a:xfrm>
          <a:prstGeom prst="rect">
            <a:avLst/>
          </a:prstGeom>
          <a:noFill/>
          <a:ln/>
        </p:spPr>
        <p:txBody>
          <a:bodyPr wrap="square" lIns="0" tIns="0" rIns="0" bIns="0" rtlCol="0" anchor="ctr"/>
          <a:lstStyle/>
          <a:p>
            <a:pPr indent="0" marL="0">
              <a:buNone/>
            </a:pPr>
            <a:r>
              <a:rPr lang="en-US" sz="1200" i="1" dirty="0">
                <a:solidFill>
                  <a:srgbClr val="8A929B"/>
                </a:solidFill>
                <a:latin typeface="Segoe UI" pitchFamily="34" charset="0"/>
                <a:ea typeface="Segoe UI" pitchFamily="34" charset="-122"/>
                <a:cs typeface="Segoe UI" pitchFamily="34" charset="-120"/>
              </a:rPr>
              <a:t>ScreenSpot-v2: bản làm sạch nhãn (OS-Atlas, ICLR 2025); ScreenSpot gốc từ SeeClick, ACL 2024.</a:t>
            </a:r>
            <a:endParaRPr lang="en-US" sz="1200" dirty="0"/>
          </a:p>
        </p:txBody>
      </p:sp>
      <p:sp>
        <p:nvSpPr>
          <p:cNvPr id="14" name="Text 11"/>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PHƯƠNG PHÁP · MỘT MÀN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Sinh trước, đối chiếu danh sách nút thật sau</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1965960"/>
            <a:ext cx="10543032" cy="1417320"/>
          </a:xfrm>
          <a:prstGeom prst="roundRect">
            <a:avLst>
              <a:gd name="adj" fmla="val 3871"/>
            </a:avLst>
          </a:prstGeom>
          <a:solidFill>
            <a:srgbClr val="F4F6F8"/>
          </a:solidFill>
          <a:ln/>
        </p:spPr>
      </p:sp>
      <p:sp>
        <p:nvSpPr>
          <p:cNvPr id="6" name="Shape 4"/>
          <p:cNvSpPr/>
          <p:nvPr/>
        </p:nvSpPr>
        <p:spPr>
          <a:xfrm>
            <a:off x="1097280" y="2212848"/>
            <a:ext cx="1828800" cy="384048"/>
          </a:xfrm>
          <a:prstGeom prst="roundRect">
            <a:avLst>
              <a:gd name="adj" fmla="val 50000"/>
            </a:avLst>
          </a:prstGeom>
          <a:solidFill>
            <a:srgbClr val="8A2433"/>
          </a:solidFill>
          <a:ln/>
        </p:spPr>
      </p:sp>
      <p:sp>
        <p:nvSpPr>
          <p:cNvPr id="7" name="Text 5"/>
          <p:cNvSpPr/>
          <p:nvPr/>
        </p:nvSpPr>
        <p:spPr>
          <a:xfrm>
            <a:off x="1097280" y="2212848"/>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BƯỚC 1 · SINH</a:t>
            </a:r>
            <a:endParaRPr lang="en-US" sz="1300" dirty="0"/>
          </a:p>
        </p:txBody>
      </p:sp>
      <p:sp>
        <p:nvSpPr>
          <p:cNvPr id="8" name="Text 6"/>
          <p:cNvSpPr/>
          <p:nvPr/>
        </p:nvSpPr>
        <p:spPr>
          <a:xfrm>
            <a:off x="3108960" y="2194560"/>
            <a:ext cx="4937760" cy="411480"/>
          </a:xfrm>
          <a:prstGeom prst="rect">
            <a:avLst/>
          </a:prstGeom>
          <a:noFill/>
          <a:ln/>
        </p:spPr>
        <p:txBody>
          <a:bodyPr wrap="square" lIns="0" tIns="0" rIns="0" bIns="0" rtlCol="0" anchor="ctr"/>
          <a:lstStyle/>
          <a:p>
            <a:pPr indent="0" marL="0">
              <a:buNone/>
            </a:pPr>
            <a:r>
              <a:rPr lang="en-US" sz="1550" b="1" dirty="0">
                <a:solidFill>
                  <a:srgbClr val="1C2530"/>
                </a:solidFill>
                <a:latin typeface="Segoe UI" pitchFamily="34" charset="0"/>
                <a:ea typeface="Segoe UI" pitchFamily="34" charset="-122"/>
                <a:cs typeface="Segoe UI" pitchFamily="34" charset="-120"/>
              </a:rPr>
              <a:t>Mô hình chỉ nhận:  ảnh  +  câu hỏi</a:t>
            </a:r>
            <a:endParaRPr lang="en-US" sz="1550" dirty="0"/>
          </a:p>
        </p:txBody>
      </p:sp>
      <p:sp>
        <p:nvSpPr>
          <p:cNvPr id="9" name="Shape 7"/>
          <p:cNvSpPr/>
          <p:nvPr/>
        </p:nvSpPr>
        <p:spPr>
          <a:xfrm>
            <a:off x="7406640" y="2404872"/>
            <a:ext cx="502920" cy="0"/>
          </a:xfrm>
          <a:prstGeom prst="line">
            <a:avLst/>
          </a:prstGeom>
          <a:noFill/>
          <a:ln w="31750">
            <a:solidFill>
              <a:srgbClr val="8A2433"/>
            </a:solidFill>
            <a:prstDash val="solid"/>
            <a:tailEnd type="triangle"/>
          </a:ln>
        </p:spPr>
      </p:sp>
      <p:sp>
        <p:nvSpPr>
          <p:cNvPr id="10" name="Shape 8"/>
          <p:cNvSpPr/>
          <p:nvPr/>
        </p:nvSpPr>
        <p:spPr>
          <a:xfrm>
            <a:off x="8001000" y="2212848"/>
            <a:ext cx="2834640" cy="384048"/>
          </a:xfrm>
          <a:prstGeom prst="roundRect">
            <a:avLst>
              <a:gd name="adj" fmla="val 50000"/>
            </a:avLst>
          </a:prstGeom>
          <a:solidFill>
            <a:srgbClr val="F2E3E6"/>
          </a:solidFill>
          <a:ln/>
        </p:spPr>
      </p:sp>
      <p:sp>
        <p:nvSpPr>
          <p:cNvPr id="11" name="Text 9"/>
          <p:cNvSpPr/>
          <p:nvPr/>
        </p:nvSpPr>
        <p:spPr>
          <a:xfrm>
            <a:off x="8001000" y="2212848"/>
            <a:ext cx="2834640" cy="384048"/>
          </a:xfrm>
          <a:prstGeom prst="rect">
            <a:avLst/>
          </a:prstGeom>
          <a:noFill/>
          <a:ln/>
        </p:spPr>
        <p:txBody>
          <a:bodyPr wrap="square" lIns="0" tIns="0" rIns="0" bIns="0" rtlCol="0" anchor="ctr"/>
          <a:lstStyle/>
          <a:p>
            <a:pPr algn="ctr" indent="0" marL="0">
              <a:buNone/>
            </a:pPr>
            <a:r>
              <a:rPr lang="en-US" sz="1300" b="1" dirty="0">
                <a:solidFill>
                  <a:srgbClr val="1C2530"/>
                </a:solidFill>
                <a:latin typeface="Segoe UI" pitchFamily="34" charset="0"/>
                <a:ea typeface="Segoe UI" pitchFamily="34" charset="-122"/>
                <a:cs typeface="Segoe UI" pitchFamily="34" charset="-120"/>
              </a:rPr>
              <a:t>bản sinh gốc (baseline)</a:t>
            </a:r>
            <a:endParaRPr lang="en-US" sz="1300" dirty="0"/>
          </a:p>
        </p:txBody>
      </p:sp>
      <p:sp>
        <p:nvSpPr>
          <p:cNvPr id="12" name="Text 10"/>
          <p:cNvSpPr/>
          <p:nvPr/>
        </p:nvSpPr>
        <p:spPr>
          <a:xfrm>
            <a:off x="1097280" y="2880360"/>
            <a:ext cx="10058400" cy="411480"/>
          </a:xfrm>
          <a:prstGeom prst="rect">
            <a:avLst/>
          </a:prstGeom>
          <a:noFill/>
          <a:ln/>
        </p:spPr>
        <p:txBody>
          <a:bodyPr wrap="square" lIns="0" tIns="0" rIns="0" bIns="0" rtlCol="0" anchor="ctr"/>
          <a:lstStyle/>
          <a:p>
            <a:pPr indent="0" marL="0">
              <a:buNone/>
            </a:pPr>
            <a:r>
              <a:rPr lang="en-US" sz="1350" i="1" dirty="0">
                <a:solidFill>
                  <a:srgbClr val="8A2433"/>
                </a:solidFill>
                <a:latin typeface="Segoe UI" pitchFamily="34" charset="0"/>
                <a:ea typeface="Segoe UI" pitchFamily="34" charset="-122"/>
                <a:cs typeface="Segoe UI" pitchFamily="34" charset="-120"/>
              </a:rPr>
              <a:t>Danh sách nút thật không được cung cấp ở bước này để tránh rò rỉ thông tin.</a:t>
            </a:r>
            <a:endParaRPr lang="en-US" sz="1350" dirty="0"/>
          </a:p>
        </p:txBody>
      </p:sp>
      <p:sp>
        <p:nvSpPr>
          <p:cNvPr id="13" name="Shape 11"/>
          <p:cNvSpPr/>
          <p:nvPr/>
        </p:nvSpPr>
        <p:spPr>
          <a:xfrm>
            <a:off x="822960" y="3611880"/>
            <a:ext cx="10543032" cy="1874520"/>
          </a:xfrm>
          <a:prstGeom prst="roundRect">
            <a:avLst>
              <a:gd name="adj" fmla="val 2927"/>
            </a:avLst>
          </a:prstGeom>
          <a:solidFill>
            <a:srgbClr val="F2E3E6"/>
          </a:solidFill>
          <a:ln/>
        </p:spPr>
      </p:sp>
      <p:sp>
        <p:nvSpPr>
          <p:cNvPr id="14" name="Shape 12"/>
          <p:cNvSpPr/>
          <p:nvPr/>
        </p:nvSpPr>
        <p:spPr>
          <a:xfrm>
            <a:off x="1097280" y="3858768"/>
            <a:ext cx="2468880" cy="384048"/>
          </a:xfrm>
          <a:prstGeom prst="roundRect">
            <a:avLst>
              <a:gd name="adj" fmla="val 50000"/>
            </a:avLst>
          </a:prstGeom>
          <a:solidFill>
            <a:srgbClr val="5B6B7A"/>
          </a:solidFill>
          <a:ln/>
        </p:spPr>
      </p:sp>
      <p:sp>
        <p:nvSpPr>
          <p:cNvPr id="15" name="Text 13"/>
          <p:cNvSpPr/>
          <p:nvPr/>
        </p:nvSpPr>
        <p:spPr>
          <a:xfrm>
            <a:off x="1097280" y="3858768"/>
            <a:ext cx="24688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BƯỚC 2 · ĐỐI CHIẾU</a:t>
            </a:r>
            <a:endParaRPr lang="en-US" sz="1300" dirty="0"/>
          </a:p>
        </p:txBody>
      </p:sp>
      <p:sp>
        <p:nvSpPr>
          <p:cNvPr id="16" name="Text 14"/>
          <p:cNvSpPr/>
          <p:nvPr/>
        </p:nvSpPr>
        <p:spPr>
          <a:xfrm>
            <a:off x="3749040" y="3840480"/>
            <a:ext cx="5943600" cy="411480"/>
          </a:xfrm>
          <a:prstGeom prst="rect">
            <a:avLst/>
          </a:prstGeom>
          <a:noFill/>
          <a:ln/>
        </p:spPr>
        <p:txBody>
          <a:bodyPr wrap="square" lIns="0" tIns="0" rIns="0" bIns="0" rtlCol="0" anchor="ctr"/>
          <a:lstStyle/>
          <a:p>
            <a:pPr indent="0" marL="0">
              <a:buNone/>
            </a:pPr>
            <a:r>
              <a:rPr lang="en-US" sz="1550" b="1" dirty="0">
                <a:solidFill>
                  <a:srgbClr val="1C2530"/>
                </a:solidFill>
                <a:latin typeface="Segoe UI" pitchFamily="34" charset="0"/>
                <a:ea typeface="Segoe UI" pitchFamily="34" charset="-122"/>
                <a:cs typeface="Segoe UI" pitchFamily="34" charset="-120"/>
              </a:rPr>
              <a:t>Thuật toán so khớp từng bước với danh sách nút thật</a:t>
            </a:r>
            <a:endParaRPr lang="en-US" sz="1550" dirty="0"/>
          </a:p>
        </p:txBody>
      </p:sp>
      <p:sp>
        <p:nvSpPr>
          <p:cNvPr id="17" name="Text 15"/>
          <p:cNvSpPr/>
          <p:nvPr/>
        </p:nvSpPr>
        <p:spPr>
          <a:xfrm>
            <a:off x="1097280" y="4434840"/>
            <a:ext cx="10332720" cy="960120"/>
          </a:xfrm>
          <a:prstGeom prst="rect">
            <a:avLst/>
          </a:prstGeom>
          <a:noFill/>
          <a:ln/>
        </p:spPr>
        <p:txBody>
          <a:bodyPr wrap="square" lIns="0" tIns="0" rIns="0" bIns="0" rtlCol="0" anchor="ctr"/>
          <a:lstStyle/>
          <a:p>
            <a:pPr indent="0" marL="0">
              <a:lnSpc>
                <a:spcPct val="130000"/>
              </a:lnSpc>
              <a:buNone/>
            </a:pPr>
            <a:r>
              <a:rPr lang="en-US" sz="1450" dirty="0">
                <a:solidFill>
                  <a:srgbClr val="3C434B"/>
                </a:solidFill>
                <a:latin typeface="Segoe UI" pitchFamily="34" charset="0"/>
                <a:ea typeface="Segoe UI" pitchFamily="34" charset="-122"/>
                <a:cs typeface="Segoe UI" pitchFamily="34" charset="-120"/>
              </a:rPr>
              <a:t>•  Bước tham chiếu nút có thật  →  giữ nguyên</a:t>
            </a:r>
            <a:endParaRPr lang="en-US" sz="1450" dirty="0"/>
          </a:p>
          <a:p>
            <a:pPr indent="0" marL="0">
              <a:lnSpc>
                <a:spcPct val="130000"/>
              </a:lnSpc>
              <a:buNone/>
            </a:pPr>
            <a:r>
              <a:rPr lang="en-US" sz="1450" dirty="0">
                <a:solidFill>
                  <a:srgbClr val="3C434B"/>
                </a:solidFill>
                <a:latin typeface="Segoe UI" pitchFamily="34" charset="0"/>
                <a:ea typeface="Segoe UI" pitchFamily="34" charset="-122"/>
                <a:cs typeface="Segoe UI" pitchFamily="34" charset="-120"/>
              </a:rPr>
              <a:t>•  Bước tham chiếu nút không tồn tại  →  thay bằng mô tả khái quát, không suy đoán nút thay thế</a:t>
            </a:r>
            <a:endParaRPr lang="en-US" sz="1450" dirty="0"/>
          </a:p>
        </p:txBody>
      </p:sp>
      <p:sp>
        <p:nvSpPr>
          <p:cNvPr id="18" name="Text 16"/>
          <p:cNvSpPr/>
          <p:nvPr/>
        </p:nvSpPr>
        <p:spPr>
          <a:xfrm>
            <a:off x="822960" y="5669280"/>
            <a:ext cx="10515600" cy="365760"/>
          </a:xfrm>
          <a:prstGeom prst="rect">
            <a:avLst/>
          </a:prstGeom>
          <a:noFill/>
          <a:ln/>
        </p:spPr>
        <p:txBody>
          <a:bodyPr wrap="square" lIns="0" tIns="0" rIns="0" bIns="0" rtlCol="0" anchor="ctr"/>
          <a:lstStyle/>
          <a:p>
            <a:pPr indent="0" marL="0">
              <a:buNone/>
            </a:pPr>
            <a:r>
              <a:rPr lang="en-US" sz="1250" i="1" dirty="0">
                <a:solidFill>
                  <a:srgbClr val="8A929B"/>
                </a:solidFill>
                <a:latin typeface="Segoe UI" pitchFamily="34" charset="0"/>
                <a:ea typeface="Segoe UI" pitchFamily="34" charset="-122"/>
                <a:cs typeface="Segoe UI" pitchFamily="34" charset="-120"/>
              </a:rPr>
              <a:t>Bước đối chiếu là thuật toán so khớp ngữ nghĩa, không phải một mô hình ngôn ngữ. Bước mô tả thay thế dùng khuôn cố định, không suy đoán chức năng. Danh sách nút chỉ tham gia ở bước 2.</a:t>
            </a:r>
            <a:endParaRPr lang="en-US" sz="1250" dirty="0"/>
          </a:p>
        </p:txBody>
      </p:sp>
      <p:sp>
        <p:nvSpPr>
          <p:cNvPr id="19" name="Text 17"/>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PHƯƠNG PHÁP · MỘT MÀN · MINH HOẠ</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Đối chiếu từng bước với danh sách nút thật</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41248" y="1938528"/>
            <a:ext cx="2249424" cy="3438144"/>
          </a:xfrm>
          <a:prstGeom prst="roundRect">
            <a:avLst>
              <a:gd name="adj" fmla="val 2439"/>
            </a:avLst>
          </a:prstGeom>
          <a:solidFill>
            <a:srgbClr val="FFFFFF"/>
          </a:solidFill>
          <a:ln w="12700">
            <a:solidFill>
              <a:srgbClr val="D7DCE1"/>
            </a:solidFill>
            <a:prstDash val="solid"/>
          </a:ln>
        </p:spPr>
      </p:sp>
      <p:pic>
        <p:nvPicPr>
          <p:cNvPr id="6" name="Image 0" descr="_img/real_mv_1.png">    </p:cNvPr>
          <p:cNvPicPr>
            <a:picLocks noChangeAspect="1"/>
          </p:cNvPicPr>
          <p:nvPr/>
        </p:nvPicPr>
        <p:blipFill>
          <a:blip r:embed="rId1"/>
          <a:srcRect l="0" r="0" t="0" b="0"/>
          <a:stretch/>
        </p:blipFill>
        <p:spPr>
          <a:xfrm>
            <a:off x="914400" y="2011680"/>
            <a:ext cx="2103120" cy="3291840"/>
          </a:xfrm>
          <a:prstGeom prst="rect">
            <a:avLst/>
          </a:prstGeom>
        </p:spPr>
      </p:pic>
      <p:sp>
        <p:nvSpPr>
          <p:cNvPr id="7" name="Text 4"/>
          <p:cNvSpPr/>
          <p:nvPr/>
        </p:nvSpPr>
        <p:spPr>
          <a:xfrm>
            <a:off x="2743200" y="1965960"/>
            <a:ext cx="8503920" cy="320040"/>
          </a:xfrm>
          <a:prstGeom prst="rect">
            <a:avLst/>
          </a:prstGeom>
          <a:noFill/>
          <a:ln/>
        </p:spPr>
        <p:txBody>
          <a:bodyPr wrap="square" lIns="0" tIns="0" rIns="0" bIns="0" rtlCol="0" anchor="ctr"/>
          <a:lstStyle/>
          <a:p>
            <a:pPr indent="0" marL="0">
              <a:buNone/>
            </a:pPr>
            <a:r>
              <a:rPr lang="en-US" sz="1300" b="1" dirty="0">
                <a:solidFill>
                  <a:srgbClr val="5B6B7A"/>
                </a:solidFill>
                <a:latin typeface="Segoe UI" pitchFamily="34" charset="0"/>
                <a:ea typeface="Segoe UI" pitchFamily="34" charset="-122"/>
                <a:cs typeface="Segoe UI" pitchFamily="34" charset="-120"/>
              </a:rPr>
              <a:t>Danh sách nút thật:  hour · minute · PM · OK · Cancel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0" y="2377440"/>
          <a:ext cx="8503920" cy="914400"/>
        </p:xfrm>
        <a:graphic>
          <a:graphicData uri="http://schemas.openxmlformats.org/drawingml/2006/table">
            <a:tbl>
              <a:tblPr/>
              <a:tblGrid>
                <a:gridCol w="3200400"/>
                <a:gridCol w="3108960"/>
                <a:gridCol w="2194560"/>
              </a:tblGrid>
              <a:tr h="566928">
                <a:tc>
                  <a:txBody>
                    <a:bodyPr/>
                    <a:lstStyle/>
                    <a:p>
                      <a:pPr indent="0" marL="0">
                        <a:buNone/>
                      </a:pPr>
                      <a:r>
                        <a:rPr lang="en-US" sz="1450" b="1" dirty="0">
                          <a:solidFill>
                            <a:srgbClr val="1C2530"/>
                          </a:solidFill>
                          <a:latin typeface="Segoe UI" pitchFamily="34" charset="0"/>
                          <a:ea typeface="Segoe UI" pitchFamily="34" charset="-122"/>
                          <a:cs typeface="Segoe UI" pitchFamily="34" charset="-120"/>
                        </a:rPr>
                        <a:t>Mô hình sinh ra</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indent="0" marL="0">
                        <a:buNone/>
                      </a:pPr>
                      <a:r>
                        <a:rPr lang="en-US" sz="1450" b="1" dirty="0">
                          <a:solidFill>
                            <a:srgbClr val="1C2530"/>
                          </a:solidFill>
                          <a:latin typeface="Segoe UI" pitchFamily="34" charset="0"/>
                          <a:ea typeface="Segoe UI" pitchFamily="34" charset="-122"/>
                          <a:cs typeface="Segoe UI" pitchFamily="34" charset="-120"/>
                        </a:rPr>
                        <a:t>Nút thật gần nhất</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algn="ctr" indent="0" marL="0">
                        <a:buNone/>
                      </a:pPr>
                      <a:r>
                        <a:rPr lang="en-US" sz="1450" b="1" dirty="0">
                          <a:solidFill>
                            <a:srgbClr val="1C2530"/>
                          </a:solidFill>
                          <a:latin typeface="Segoe UI" pitchFamily="34" charset="0"/>
                          <a:ea typeface="Segoe UI" pitchFamily="34" charset="-122"/>
                          <a:cs typeface="Segoe UI" pitchFamily="34" charset="-120"/>
                        </a:rPr>
                        <a:t>Kết luận</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r>
              <a:tr h="566928">
                <a:tc>
                  <a:txBody>
                    <a:bodyPr/>
                    <a:lstStyle/>
                    <a:p>
                      <a:pPr indent="0" marL="0">
                        <a:buNone/>
                      </a:pPr>
                      <a:r>
                        <a:rPr lang="en-US" sz="1450" dirty="0">
                          <a:solidFill>
                            <a:srgbClr val="000000"/>
                          </a:solidFill>
                          <a:latin typeface="Segoe UI" pitchFamily="34" charset="0"/>
                          <a:ea typeface="Segoe UI" pitchFamily="34" charset="-122"/>
                          <a:cs typeface="Segoe UI" pitchFamily="34" charset="-120"/>
                        </a:rPr>
                        <a:t>Chọn giờ và phút</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450" dirty="0">
                          <a:solidFill>
                            <a:srgbClr val="000000"/>
                          </a:solidFill>
                          <a:latin typeface="Segoe UI" pitchFamily="34" charset="0"/>
                          <a:ea typeface="Segoe UI" pitchFamily="34" charset="-122"/>
                          <a:cs typeface="Segoe UI" pitchFamily="34" charset="-120"/>
                        </a:rPr>
                        <a:t>hour / minute</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450" b="1" dirty="0">
                          <a:solidFill>
                            <a:srgbClr val="1E6B43"/>
                          </a:solidFill>
                          <a:latin typeface="Segoe UI" pitchFamily="34" charset="0"/>
                          <a:ea typeface="Segoe UI" pitchFamily="34" charset="-122"/>
                          <a:cs typeface="Segoe UI" pitchFamily="34" charset="-120"/>
                        </a:rPr>
                        <a:t>hợp lệ</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566928">
                <a:tc>
                  <a:txBody>
                    <a:bodyPr/>
                    <a:lstStyle/>
                    <a:p>
                      <a:pPr indent="0" marL="0">
                        <a:buNone/>
                      </a:pPr>
                      <a:r>
                        <a:rPr lang="en-US" sz="1450" dirty="0">
                          <a:solidFill>
                            <a:srgbClr val="000000"/>
                          </a:solidFill>
                          <a:latin typeface="Segoe UI" pitchFamily="34" charset="0"/>
                          <a:ea typeface="Segoe UI" pitchFamily="34" charset="-122"/>
                          <a:cs typeface="Segoe UI" pitchFamily="34" charset="-120"/>
                        </a:rPr>
                        <a:t>Chọn “PM”</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450" dirty="0">
                          <a:solidFill>
                            <a:srgbClr val="000000"/>
                          </a:solidFill>
                          <a:latin typeface="Segoe UI" pitchFamily="34" charset="0"/>
                          <a:ea typeface="Segoe UI" pitchFamily="34" charset="-122"/>
                          <a:cs typeface="Segoe UI" pitchFamily="34" charset="-120"/>
                        </a:rPr>
                        <a:t>PM</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450" b="1" dirty="0">
                          <a:solidFill>
                            <a:srgbClr val="1E6B43"/>
                          </a:solidFill>
                          <a:latin typeface="Segoe UI" pitchFamily="34" charset="0"/>
                          <a:ea typeface="Segoe UI" pitchFamily="34" charset="-122"/>
                          <a:cs typeface="Segoe UI" pitchFamily="34" charset="-120"/>
                        </a:rPr>
                        <a:t>hợp lệ</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566928">
                <a:tc>
                  <a:txBody>
                    <a:bodyPr/>
                    <a:lstStyle/>
                    <a:p>
                      <a:pPr indent="0" marL="0">
                        <a:buNone/>
                      </a:pPr>
                      <a:r>
                        <a:rPr lang="en-US" sz="1450" dirty="0">
                          <a:solidFill>
                            <a:srgbClr val="000000"/>
                          </a:solidFill>
                          <a:latin typeface="Segoe UI" pitchFamily="34" charset="0"/>
                          <a:ea typeface="Segoe UI" pitchFamily="34" charset="-122"/>
                          <a:cs typeface="Segoe UI" pitchFamily="34" charset="-120"/>
                        </a:rPr>
                        <a:t>Mở “Cài đặt”</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450" dirty="0">
                          <a:solidFill>
                            <a:srgbClr val="8A929B"/>
                          </a:solidFill>
                          <a:latin typeface="Segoe UI" pitchFamily="34" charset="0"/>
                          <a:ea typeface="Segoe UI" pitchFamily="34" charset="-122"/>
                          <a:cs typeface="Segoe UI" pitchFamily="34" charset="-120"/>
                        </a:rPr>
                        <a:t>(không có nút tương ứng)</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algn="ctr" indent="0" marL="0">
                        <a:buNone/>
                      </a:pPr>
                      <a:r>
                        <a:rPr lang="en-US" sz="1450" b="1" dirty="0">
                          <a:solidFill>
                            <a:srgbClr val="8A2433"/>
                          </a:solidFill>
                          <a:latin typeface="Segoe UI" pitchFamily="34" charset="0"/>
                          <a:ea typeface="Segoe UI" pitchFamily="34" charset="-122"/>
                          <a:cs typeface="Segoe UI" pitchFamily="34" charset="-120"/>
                        </a:rPr>
                        <a:t>ẢO GIÁC</a:t>
                      </a:r>
                      <a:endParaRPr lang="en-US" sz="14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bl>
          </a:graphicData>
        </a:graphic>
      </p:graphicFrame>
      <p:sp>
        <p:nvSpPr>
          <p:cNvPr id="9" name="Text 5"/>
          <p:cNvSpPr/>
          <p:nvPr/>
        </p:nvSpPr>
        <p:spPr>
          <a:xfrm>
            <a:off x="2743200" y="4617720"/>
            <a:ext cx="8503920" cy="274320"/>
          </a:xfrm>
          <a:prstGeom prst="rect">
            <a:avLst/>
          </a:prstGeom>
          <a:noFill/>
          <a:ln/>
        </p:spPr>
        <p:txBody>
          <a:bodyPr wrap="square" lIns="0" tIns="0" rIns="0" bIns="0" rtlCol="0" anchor="ctr"/>
          <a:lstStyle/>
          <a:p>
            <a:pPr indent="0" marL="0">
              <a:buNone/>
            </a:pPr>
            <a:r>
              <a:rPr lang="en-US" sz="1250" i="1" dirty="0">
                <a:solidFill>
                  <a:srgbClr val="5B6B7A"/>
                </a:solidFill>
                <a:latin typeface="Segoe UI" pitchFamily="34" charset="0"/>
                <a:ea typeface="Segoe UI" pitchFamily="34" charset="-122"/>
                <a:cs typeface="Segoe UI" pitchFamily="34" charset="-120"/>
              </a:rPr>
              <a:t>Quy tắc: độ giống ngữ nghĩa ≥ ngưỡng τ → nút hợp lệ; dưới τ → ảo giác.</a:t>
            </a:r>
            <a:endParaRPr lang="en-US" sz="1250" dirty="0"/>
          </a:p>
        </p:txBody>
      </p:sp>
      <p:sp>
        <p:nvSpPr>
          <p:cNvPr id="10" name="Shape 6"/>
          <p:cNvSpPr/>
          <p:nvPr/>
        </p:nvSpPr>
        <p:spPr>
          <a:xfrm>
            <a:off x="2743200" y="4937760"/>
            <a:ext cx="8503920" cy="914400"/>
          </a:xfrm>
          <a:prstGeom prst="roundRect">
            <a:avLst>
              <a:gd name="adj" fmla="val 6000"/>
            </a:avLst>
          </a:prstGeom>
          <a:solidFill>
            <a:srgbClr val="F2E3E6"/>
          </a:solidFill>
          <a:ln/>
        </p:spPr>
      </p:sp>
      <p:sp>
        <p:nvSpPr>
          <p:cNvPr id="11" name="Text 7"/>
          <p:cNvSpPr/>
          <p:nvPr/>
        </p:nvSpPr>
        <p:spPr>
          <a:xfrm>
            <a:off x="2971800" y="4937760"/>
            <a:ext cx="8092440" cy="914400"/>
          </a:xfrm>
          <a:prstGeom prst="rect">
            <a:avLst/>
          </a:prstGeom>
          <a:noFill/>
          <a:ln/>
        </p:spPr>
        <p:txBody>
          <a:bodyPr wrap="square" lIns="0" tIns="0" rIns="0" bIns="0" rtlCol="0" anchor="ctr"/>
          <a:lstStyle/>
          <a:p>
            <a:pPr indent="0" marL="0">
              <a:lnSpc>
                <a:spcPct val="120000"/>
              </a:lnSpc>
              <a:buNone/>
            </a:pPr>
            <a:r>
              <a:rPr lang="en-US" sz="1400" dirty="0">
                <a:solidFill>
                  <a:srgbClr val="1C2530"/>
                </a:solidFill>
                <a:latin typeface="Segoe UI" pitchFamily="34" charset="0"/>
                <a:ea typeface="Segoe UI" pitchFamily="34" charset="-122"/>
                <a:cs typeface="Segoe UI" pitchFamily="34" charset="-120"/>
              </a:rPr>
              <a:t>Lớp đối chiếu chỉ can thiệp vào bước ảo giác:  “Mở Cài đặt”  →  “Tìm mục cài đặt liên quan trên màn hình”.  Các bước hợp lệ được giữ nguyên.</a:t>
            </a:r>
            <a:endParaRPr lang="en-US" sz="1400" dirty="0"/>
          </a:p>
        </p:txBody>
      </p:sp>
      <p:sp>
        <p:nvSpPr>
          <p:cNvPr id="12" name="Text 8"/>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PHƯƠNG PHÁP · NHIỀU MÀN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Sắp thứ tự bằng so cặp và tổng hợp Copeland</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Text 3"/>
          <p:cNvSpPr/>
          <p:nvPr/>
        </p:nvSpPr>
        <p:spPr>
          <a:xfrm>
            <a:off x="822960" y="1874520"/>
            <a:ext cx="10515600" cy="457200"/>
          </a:xfrm>
          <a:prstGeom prst="rect">
            <a:avLst/>
          </a:prstGeom>
          <a:noFill/>
          <a:ln/>
        </p:spPr>
        <p:txBody>
          <a:bodyPr wrap="square" lIns="0" tIns="0" rIns="0" bIns="0" rtlCol="0" anchor="ctr"/>
          <a:lstStyle/>
          <a:p>
            <a:pPr indent="0" marL="0">
              <a:lnSpc>
                <a:spcPct val="115000"/>
              </a:lnSpc>
              <a:buNone/>
            </a:pPr>
            <a:r>
              <a:rPr lang="en-US" sz="1450" dirty="0">
                <a:solidFill>
                  <a:srgbClr val="3C434B"/>
                </a:solidFill>
                <a:latin typeface="Segoe UI" pitchFamily="34" charset="0"/>
                <a:ea typeface="Segoe UI" pitchFamily="34" charset="-122"/>
                <a:cs typeface="Segoe UI" pitchFamily="34" charset="-120"/>
              </a:rPr>
              <a:t>Các màn được xáo trộn. Mô hình so sánh từng cặp (“màn nào trước?”), sau đó tổng hợp bằng điểm Copeland — số cặp mà mỗi màn thắng.</a:t>
            </a:r>
            <a:endParaRPr lang="en-US" sz="1450" dirty="0"/>
          </a:p>
        </p:txBody>
      </p:sp>
      <p:sp>
        <p:nvSpPr>
          <p:cNvPr id="6" name="Shape 4"/>
          <p:cNvSpPr/>
          <p:nvPr/>
        </p:nvSpPr>
        <p:spPr>
          <a:xfrm>
            <a:off x="841248" y="2441448"/>
            <a:ext cx="1563624" cy="2743200"/>
          </a:xfrm>
          <a:prstGeom prst="roundRect">
            <a:avLst>
              <a:gd name="adj" fmla="val 3509"/>
            </a:avLst>
          </a:prstGeom>
          <a:solidFill>
            <a:srgbClr val="FFFFFF"/>
          </a:solidFill>
          <a:ln w="12700">
            <a:solidFill>
              <a:srgbClr val="D7DCE1"/>
            </a:solidFill>
            <a:prstDash val="solid"/>
          </a:ln>
        </p:spPr>
      </p:sp>
      <p:pic>
        <p:nvPicPr>
          <p:cNvPr id="7" name="Image 0" descr="_img/ac_o1.png">    </p:cNvPr>
          <p:cNvPicPr>
            <a:picLocks noChangeAspect="1"/>
          </p:cNvPicPr>
          <p:nvPr/>
        </p:nvPicPr>
        <p:blipFill>
          <a:blip r:embed="rId1"/>
          <a:srcRect l="0" r="0" t="0" b="0"/>
          <a:stretch/>
        </p:blipFill>
        <p:spPr>
          <a:xfrm>
            <a:off x="914400" y="2514600"/>
            <a:ext cx="1417320" cy="2286000"/>
          </a:xfrm>
          <a:prstGeom prst="rect">
            <a:avLst/>
          </a:prstGeom>
        </p:spPr>
      </p:pic>
      <p:sp>
        <p:nvSpPr>
          <p:cNvPr id="8" name="Text 5"/>
          <p:cNvSpPr/>
          <p:nvPr/>
        </p:nvSpPr>
        <p:spPr>
          <a:xfrm>
            <a:off x="841248" y="4818888"/>
            <a:ext cx="156362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A</a:t>
            </a:r>
            <a:endParaRPr lang="en-US" sz="1200" dirty="0"/>
          </a:p>
        </p:txBody>
      </p:sp>
      <p:sp>
        <p:nvSpPr>
          <p:cNvPr id="9" name="Shape 6"/>
          <p:cNvSpPr/>
          <p:nvPr/>
        </p:nvSpPr>
        <p:spPr>
          <a:xfrm>
            <a:off x="2624328" y="2441448"/>
            <a:ext cx="1563624" cy="2743200"/>
          </a:xfrm>
          <a:prstGeom prst="roundRect">
            <a:avLst>
              <a:gd name="adj" fmla="val 3509"/>
            </a:avLst>
          </a:prstGeom>
          <a:solidFill>
            <a:srgbClr val="FFFFFF"/>
          </a:solidFill>
          <a:ln w="12700">
            <a:solidFill>
              <a:srgbClr val="D7DCE1"/>
            </a:solidFill>
            <a:prstDash val="solid"/>
          </a:ln>
        </p:spPr>
      </p:sp>
      <p:pic>
        <p:nvPicPr>
          <p:cNvPr id="10" name="Image 1" descr="_img/ac_o2.png">    </p:cNvPr>
          <p:cNvPicPr>
            <a:picLocks noChangeAspect="1"/>
          </p:cNvPicPr>
          <p:nvPr/>
        </p:nvPicPr>
        <p:blipFill>
          <a:blip r:embed="rId2"/>
          <a:srcRect l="0" r="0" t="0" b="0"/>
          <a:stretch/>
        </p:blipFill>
        <p:spPr>
          <a:xfrm>
            <a:off x="2697480" y="2514600"/>
            <a:ext cx="1417320" cy="2286000"/>
          </a:xfrm>
          <a:prstGeom prst="rect">
            <a:avLst/>
          </a:prstGeom>
        </p:spPr>
      </p:pic>
      <p:sp>
        <p:nvSpPr>
          <p:cNvPr id="11" name="Text 7"/>
          <p:cNvSpPr/>
          <p:nvPr/>
        </p:nvSpPr>
        <p:spPr>
          <a:xfrm>
            <a:off x="2624328" y="4818888"/>
            <a:ext cx="156362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B</a:t>
            </a:r>
            <a:endParaRPr lang="en-US" sz="1200" dirty="0"/>
          </a:p>
        </p:txBody>
      </p:sp>
      <p:sp>
        <p:nvSpPr>
          <p:cNvPr id="12" name="Shape 8"/>
          <p:cNvSpPr/>
          <p:nvPr/>
        </p:nvSpPr>
        <p:spPr>
          <a:xfrm>
            <a:off x="4407408" y="2441448"/>
            <a:ext cx="1563624" cy="2743200"/>
          </a:xfrm>
          <a:prstGeom prst="roundRect">
            <a:avLst>
              <a:gd name="adj" fmla="val 3509"/>
            </a:avLst>
          </a:prstGeom>
          <a:solidFill>
            <a:srgbClr val="FFFFFF"/>
          </a:solidFill>
          <a:ln w="12700">
            <a:solidFill>
              <a:srgbClr val="D7DCE1"/>
            </a:solidFill>
            <a:prstDash val="solid"/>
          </a:ln>
        </p:spPr>
      </p:sp>
      <p:pic>
        <p:nvPicPr>
          <p:cNvPr id="13" name="Image 2" descr="_img/ac_o3.png">    </p:cNvPr>
          <p:cNvPicPr>
            <a:picLocks noChangeAspect="1"/>
          </p:cNvPicPr>
          <p:nvPr/>
        </p:nvPicPr>
        <p:blipFill>
          <a:blip r:embed="rId3"/>
          <a:srcRect l="0" r="0" t="0" b="0"/>
          <a:stretch/>
        </p:blipFill>
        <p:spPr>
          <a:xfrm>
            <a:off x="4480560" y="2514600"/>
            <a:ext cx="1417320" cy="2286000"/>
          </a:xfrm>
          <a:prstGeom prst="rect">
            <a:avLst/>
          </a:prstGeom>
        </p:spPr>
      </p:pic>
      <p:sp>
        <p:nvSpPr>
          <p:cNvPr id="14" name="Text 9"/>
          <p:cNvSpPr/>
          <p:nvPr/>
        </p:nvSpPr>
        <p:spPr>
          <a:xfrm>
            <a:off x="4407408" y="4818888"/>
            <a:ext cx="1563624" cy="329184"/>
          </a:xfrm>
          <a:prstGeom prst="rect">
            <a:avLst/>
          </a:prstGeom>
          <a:noFill/>
          <a:ln/>
        </p:spPr>
        <p:txBody>
          <a:bodyPr wrap="square" lIns="0" tIns="0" rIns="0" bIns="0" rtlCol="0" anchor="ctr"/>
          <a:lstStyle/>
          <a:p>
            <a:pPr algn="ctr" indent="0" marL="0">
              <a:buNone/>
            </a:pPr>
            <a:r>
              <a:rPr lang="en-US" sz="1200" b="1" dirty="0">
                <a:solidFill>
                  <a:srgbClr val="1C2530"/>
                </a:solidFill>
                <a:latin typeface="Segoe UI" pitchFamily="34" charset="0"/>
                <a:ea typeface="Segoe UI" pitchFamily="34" charset="-122"/>
                <a:cs typeface="Segoe UI" pitchFamily="34" charset="-120"/>
              </a:rPr>
              <a:t>Màn C</a:t>
            </a:r>
            <a:endParaRPr lang="en-US" sz="1200" dirty="0"/>
          </a:p>
        </p:txBody>
      </p:sp>
      <p:sp>
        <p:nvSpPr>
          <p:cNvPr id="15" name="Shape 10"/>
          <p:cNvSpPr/>
          <p:nvPr/>
        </p:nvSpPr>
        <p:spPr>
          <a:xfrm>
            <a:off x="6309360" y="2514600"/>
            <a:ext cx="5029200" cy="2606040"/>
          </a:xfrm>
          <a:prstGeom prst="roundRect">
            <a:avLst>
              <a:gd name="adj" fmla="val 2105"/>
            </a:avLst>
          </a:prstGeom>
          <a:solidFill>
            <a:srgbClr val="F4F6F8"/>
          </a:solidFill>
          <a:ln/>
        </p:spPr>
      </p:sp>
      <p:sp>
        <p:nvSpPr>
          <p:cNvPr id="16" name="Text 11"/>
          <p:cNvSpPr/>
          <p:nvPr/>
        </p:nvSpPr>
        <p:spPr>
          <a:xfrm>
            <a:off x="6583680" y="2651760"/>
            <a:ext cx="4572000" cy="320040"/>
          </a:xfrm>
          <a:prstGeom prst="rect">
            <a:avLst/>
          </a:prstGeom>
          <a:noFill/>
          <a:ln/>
        </p:spPr>
        <p:txBody>
          <a:bodyPr wrap="square" lIns="0" tIns="0" rIns="0" bIns="0" rtlCol="0" anchor="ctr"/>
          <a:lstStyle/>
          <a:p>
            <a:pPr indent="0" marL="0">
              <a:buNone/>
            </a:pPr>
            <a:r>
              <a:rPr lang="en-US" sz="1300" b="1" dirty="0">
                <a:solidFill>
                  <a:srgbClr val="8A2433"/>
                </a:solidFill>
                <a:latin typeface="Segoe UI" pitchFamily="34" charset="0"/>
                <a:ea typeface="Segoe UI" pitchFamily="34" charset="-122"/>
                <a:cs typeface="Segoe UI" pitchFamily="34" charset="-120"/>
              </a:rPr>
              <a:t>Ví dụ ba màn</a:t>
            </a:r>
            <a:endParaRPr lang="en-US" sz="1300" dirty="0"/>
          </a:p>
        </p:txBody>
      </p:sp>
      <p:sp>
        <p:nvSpPr>
          <p:cNvPr id="17" name="Text 12"/>
          <p:cNvSpPr/>
          <p:nvPr/>
        </p:nvSpPr>
        <p:spPr>
          <a:xfrm>
            <a:off x="6583680" y="3017520"/>
            <a:ext cx="4572000" cy="2011680"/>
          </a:xfrm>
          <a:prstGeom prst="rect">
            <a:avLst/>
          </a:prstGeom>
          <a:noFill/>
          <a:ln/>
        </p:spPr>
        <p:txBody>
          <a:bodyPr wrap="square" lIns="0" tIns="0" rIns="0" bIns="0" rtlCol="0" anchor="ctr"/>
          <a:lstStyle/>
          <a:p>
            <a:pPr indent="0" marL="0">
              <a:lnSpc>
                <a:spcPct val="125000"/>
              </a:lnSpc>
              <a:buNone/>
            </a:pPr>
            <a:r>
              <a:rPr lang="en-US" sz="1550" dirty="0">
                <a:solidFill>
                  <a:srgbClr val="1C2530"/>
                </a:solidFill>
                <a:latin typeface="Segoe UI" pitchFamily="34" charset="0"/>
                <a:ea typeface="Segoe UI" pitchFamily="34" charset="-122"/>
                <a:cs typeface="Segoe UI" pitchFamily="34" charset="-120"/>
              </a:rPr>
              <a:t>A trước B ·  A trước C ·  B trước C</a:t>
            </a:r>
            <a:endParaRPr lang="en-US" sz="1550" dirty="0"/>
          </a:p>
          <a:p>
            <a:pPr indent="0" marL="0">
              <a:lnSpc>
                <a:spcPct val="125000"/>
              </a:lnSpc>
              <a:buNone/>
            </a:pPr>
            <a:endParaRPr lang="en-US" sz="1550" dirty="0"/>
          </a:p>
          <a:p>
            <a:pPr indent="0" marL="0">
              <a:lnSpc>
                <a:spcPct val="125000"/>
              </a:lnSpc>
              <a:buNone/>
            </a:pPr>
            <a:r>
              <a:rPr lang="en-US" sz="1550" dirty="0">
                <a:solidFill>
                  <a:srgbClr val="1C2530"/>
                </a:solidFill>
                <a:latin typeface="Segoe UI" pitchFamily="34" charset="0"/>
                <a:ea typeface="Segoe UI" pitchFamily="34" charset="-122"/>
                <a:cs typeface="Segoe UI" pitchFamily="34" charset="-120"/>
              </a:rPr>
              <a:t>→  A thắng 2,  B thắng 1,  C thắng 0</a:t>
            </a:r>
            <a:endParaRPr lang="en-US" sz="1550" dirty="0"/>
          </a:p>
          <a:p>
            <a:pPr indent="0" marL="0">
              <a:lnSpc>
                <a:spcPct val="125000"/>
              </a:lnSpc>
              <a:buNone/>
            </a:pPr>
            <a:endParaRPr lang="en-US" sz="1550" dirty="0"/>
          </a:p>
          <a:p>
            <a:pPr indent="0" marL="0">
              <a:lnSpc>
                <a:spcPct val="125000"/>
              </a:lnSpc>
              <a:buNone/>
            </a:pPr>
            <a:r>
              <a:rPr lang="en-US" sz="1550" dirty="0">
                <a:solidFill>
                  <a:srgbClr val="1C2530"/>
                </a:solidFill>
                <a:latin typeface="Segoe UI" pitchFamily="34" charset="0"/>
                <a:ea typeface="Segoe UI" pitchFamily="34" charset="-122"/>
                <a:cs typeface="Segoe UI" pitchFamily="34" charset="-120"/>
              </a:rPr>
              <a:t>→  thứ tự suy ra:   A  &lt;  B  &lt;  C</a:t>
            </a:r>
            <a:endParaRPr lang="en-US" sz="1550" dirty="0"/>
          </a:p>
        </p:txBody>
      </p:sp>
      <p:sp>
        <p:nvSpPr>
          <p:cNvPr id="18" name="Text 13"/>
          <p:cNvSpPr/>
          <p:nvPr/>
        </p:nvSpPr>
        <p:spPr>
          <a:xfrm>
            <a:off x="822960" y="5285232"/>
            <a:ext cx="10515600" cy="502920"/>
          </a:xfrm>
          <a:prstGeom prst="rect">
            <a:avLst/>
          </a:prstGeom>
          <a:noFill/>
          <a:ln/>
        </p:spPr>
        <p:txBody>
          <a:bodyPr wrap="square" lIns="0" tIns="0" rIns="0" bIns="0" rtlCol="0" anchor="ctr"/>
          <a:lstStyle/>
          <a:p>
            <a:pPr indent="0" marL="0">
              <a:lnSpc>
                <a:spcPct val="110000"/>
              </a:lnSpc>
              <a:buNone/>
            </a:pPr>
            <a:r>
              <a:rPr lang="en-US" sz="1150" i="1" dirty="0">
                <a:solidFill>
                  <a:srgbClr val="8A929B"/>
                </a:solidFill>
                <a:latin typeface="Segoe UI" pitchFamily="34" charset="0"/>
                <a:ea typeface="Segoe UI" pitchFamily="34" charset="-122"/>
                <a:cs typeface="Segoe UI" pitchFamily="34" charset="-120"/>
              </a:rPr>
              <a:t>Chuỗi đã sắp được đưa lần lượt qua nhánh một màn — một hệ thống thống nhất; đầu vào một ảnh là trường hợp không cần sắp xếp. Gặp mâu thuẫn vòng thì loại phán đoán cặp có độ tin cậy thấp nhất. Khi sắp xếp, mô hình chỉ thấy ảnh (đã che thanh trạng thái) và mục tiêu.</a:t>
            </a:r>
            <a:endParaRPr lang="en-US" sz="1150" dirty="0"/>
          </a:p>
        </p:txBody>
      </p:sp>
      <p:sp>
        <p:nvSpPr>
          <p:cNvPr id="19" name="Text 14"/>
          <p:cNvSpPr/>
          <p:nvPr/>
        </p:nvSpPr>
        <p:spPr>
          <a:xfrm>
            <a:off x="822960" y="5852160"/>
            <a:ext cx="10515600" cy="457200"/>
          </a:xfrm>
          <a:prstGeom prst="rect">
            <a:avLst/>
          </a:prstGeom>
          <a:noFill/>
          <a:ln/>
        </p:spPr>
        <p:txBody>
          <a:bodyPr wrap="square" lIns="0" tIns="0" rIns="0" bIns="0" rtlCol="0" anchor="ctr"/>
          <a:lstStyle/>
          <a:p>
            <a:pPr indent="0" marL="0">
              <a:lnSpc>
                <a:spcPct val="108000"/>
              </a:lnSpc>
              <a:buNone/>
            </a:pPr>
            <a:r>
              <a:rPr lang="en-US" sz="1100" i="1" dirty="0">
                <a:solidFill>
                  <a:srgbClr val="5B6B7A"/>
                </a:solidFill>
                <a:latin typeface="Segoe UI" pitchFamily="34" charset="0"/>
                <a:ea typeface="Segoe UI" pitchFamily="34" charset="-122"/>
                <a:cs typeface="Segoe UI" pitchFamily="34" charset="-120"/>
              </a:rPr>
              <a:t>So với các công trình sắp thứ tự ảnh trước đây (Sort-Story, EMNLP 2016; RankGPT, EMNLP 2023): điểm mới là miền giao diện, điều kiện hoá theo mục tiêu, và chấm thứ-tự-bộ-phận theo quỹ đạo vàng.</a:t>
            </a:r>
            <a:endParaRPr lang="en-US" sz="1100" dirty="0"/>
          </a:p>
        </p:txBody>
      </p:sp>
      <p:sp>
        <p:nvSpPr>
          <p:cNvPr id="20" name="Text 15"/>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PHƯƠNG PHÁP</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Căn cứ lựa chọn — tổng hợp</a:t>
            </a:r>
            <a:endParaRPr lang="en-US" sz="2700" dirty="0"/>
          </a:p>
        </p:txBody>
      </p:sp>
      <p:sp>
        <p:nvSpPr>
          <p:cNvPr id="4" name="Shape 2"/>
          <p:cNvSpPr/>
          <p:nvPr/>
        </p:nvSpPr>
        <p:spPr>
          <a:xfrm>
            <a:off x="822960" y="1481328"/>
            <a:ext cx="640080" cy="45720"/>
          </a:xfrm>
          <a:prstGeom prst="rect">
            <a:avLst/>
          </a:prstGeom>
          <a:solidFill>
            <a:srgbClr val="8A2433"/>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057400"/>
          <a:ext cx="10543032" cy="914400"/>
        </p:xfrm>
        <a:graphic>
          <a:graphicData uri="http://schemas.openxmlformats.org/drawingml/2006/table">
            <a:tbl>
              <a:tblPr/>
              <a:tblGrid>
                <a:gridCol w="2743200"/>
                <a:gridCol w="3566160"/>
                <a:gridCol w="4206240"/>
              </a:tblGrid>
              <a:tr h="777240">
                <a:tc>
                  <a:txBody>
                    <a:bodyPr/>
                    <a:lstStyle/>
                    <a:p>
                      <a:pPr indent="0" marL="0">
                        <a:buNone/>
                      </a:pPr>
                      <a:r>
                        <a:rPr lang="en-US" sz="1350" b="1" dirty="0">
                          <a:solidFill>
                            <a:srgbClr val="1C2530"/>
                          </a:solidFill>
                          <a:latin typeface="Segoe UI" pitchFamily="34" charset="0"/>
                          <a:ea typeface="Segoe UI" pitchFamily="34" charset="-122"/>
                          <a:cs typeface="Segoe UI" pitchFamily="34" charset="-120"/>
                        </a:rPr>
                        <a:t>Thách thức</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indent="0" marL="0">
                        <a:buNone/>
                      </a:pPr>
                      <a:r>
                        <a:rPr lang="en-US" sz="1350" b="1" dirty="0">
                          <a:solidFill>
                            <a:srgbClr val="1C2530"/>
                          </a:solidFill>
                          <a:latin typeface="Segoe UI" pitchFamily="34" charset="0"/>
                          <a:ea typeface="Segoe UI" pitchFamily="34" charset="-122"/>
                          <a:cs typeface="Segoe UI" pitchFamily="34" charset="-120"/>
                        </a:rPr>
                        <a:t>Giải pháp</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c>
                  <a:txBody>
                    <a:bodyPr/>
                    <a:lstStyle/>
                    <a:p>
                      <a:pPr indent="0" marL="0">
                        <a:buNone/>
                      </a:pPr>
                      <a:r>
                        <a:rPr lang="en-US" sz="1350" b="1" dirty="0">
                          <a:solidFill>
                            <a:srgbClr val="1C2530"/>
                          </a:solidFill>
                          <a:latin typeface="Segoe UI" pitchFamily="34" charset="0"/>
                          <a:ea typeface="Segoe UI" pitchFamily="34" charset="-122"/>
                          <a:cs typeface="Segoe UI" pitchFamily="34" charset="-120"/>
                        </a:rPr>
                        <a:t>Căn cứ</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4F6F8"/>
                    </a:solidFill>
                  </a:tcPr>
                </a:tc>
              </a:tr>
              <a:tr h="777240">
                <a:tc>
                  <a:txBody>
                    <a:bodyPr/>
                    <a:lstStyle/>
                    <a:p>
                      <a:pPr indent="0" marL="0">
                        <a:buNone/>
                      </a:pPr>
                      <a:r>
                        <a:rPr lang="en-US" sz="1350" b="1" dirty="0">
                          <a:solidFill>
                            <a:srgbClr val="3C434B"/>
                          </a:solidFill>
                          <a:latin typeface="Segoe UI" pitchFamily="34" charset="0"/>
                          <a:ea typeface="Segoe UI" pitchFamily="34" charset="-122"/>
                          <a:cs typeface="Segoe UI" pitchFamily="34" charset="-120"/>
                        </a:rPr>
                        <a:t>Ảo giác giao diện</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Sinh trước, đối chiếu nút thật sau</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Đo được tỉ lệ ảo giác, không rò rỉ thông tin</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777240">
                <a:tc>
                  <a:txBody>
                    <a:bodyPr/>
                    <a:lstStyle/>
                    <a:p>
                      <a:pPr indent="0" marL="0">
                        <a:buNone/>
                      </a:pPr>
                      <a:r>
                        <a:rPr lang="en-US" sz="1350" b="1" dirty="0">
                          <a:solidFill>
                            <a:srgbClr val="3C434B"/>
                          </a:solidFill>
                          <a:latin typeface="Segoe UI" pitchFamily="34" charset="0"/>
                          <a:ea typeface="Segoe UI" pitchFamily="34" charset="-122"/>
                          <a:cs typeface="Segoe UI" pitchFamily="34" charset="-120"/>
                        </a:rPr>
                        <a:t>Thiếu bản mẫu</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Neo bằng danh sách nút thật (nhãn bạc)</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Có mốc đánh giá khách quan, không cần biên soạn thủ công</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777240">
                <a:tc>
                  <a:txBody>
                    <a:bodyPr/>
                    <a:lstStyle/>
                    <a:p>
                      <a:pPr indent="0" marL="0">
                        <a:buNone/>
                      </a:pPr>
                      <a:r>
                        <a:rPr lang="en-US" sz="1350" b="1" dirty="0">
                          <a:solidFill>
                            <a:srgbClr val="3C434B"/>
                          </a:solidFill>
                          <a:latin typeface="Segoe UI" pitchFamily="34" charset="0"/>
                          <a:ea typeface="Segoe UI" pitchFamily="34" charset="-122"/>
                          <a:cs typeface="Segoe UI" pitchFamily="34" charset="-120"/>
                        </a:rPr>
                        <a:t>Hiệu chỉnh gây lỗi ngầm</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Chỉ mô tả khái quát, không suy đoán nút</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Tránh dẫn người dùng đến thao tác sai</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r h="777240">
                <a:tc>
                  <a:txBody>
                    <a:bodyPr/>
                    <a:lstStyle/>
                    <a:p>
                      <a:pPr indent="0" marL="0">
                        <a:buNone/>
                      </a:pPr>
                      <a:r>
                        <a:rPr lang="en-US" sz="1350" b="1" dirty="0">
                          <a:solidFill>
                            <a:srgbClr val="3C434B"/>
                          </a:solidFill>
                          <a:latin typeface="Segoe UI" pitchFamily="34" charset="0"/>
                          <a:ea typeface="Segoe UI" pitchFamily="34" charset="-122"/>
                          <a:cs typeface="Segoe UI" pitchFamily="34" charset="-120"/>
                        </a:rPr>
                        <a:t>Thứ tự nhiều màn</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So cặp và tổng hợp Copeland</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c>
                  <a:txBody>
                    <a:bodyPr/>
                    <a:lstStyle/>
                    <a:p>
                      <a:pPr indent="0" marL="0">
                        <a:buNone/>
                      </a:pPr>
                      <a:r>
                        <a:rPr lang="en-US" sz="1350" dirty="0">
                          <a:solidFill>
                            <a:srgbClr val="000000"/>
                          </a:solidFill>
                          <a:latin typeface="Segoe UI" pitchFamily="34" charset="0"/>
                          <a:ea typeface="Segoe UI" pitchFamily="34" charset="-122"/>
                          <a:cs typeface="Segoe UI" pitchFamily="34" charset="-120"/>
                        </a:rPr>
                        <a:t>Đơn giản, diễn giải được, tránh vòng lặp luận lý</a:t>
                      </a:r>
                      <a:endParaRPr lang="en-US" sz="1350" dirty="0">
                        <a:latin typeface="Segoe UI" charset="0"/>
                        <a:ea typeface="Segoe UI" charset="0"/>
                        <a:cs typeface="Segoe UI" charset="0"/>
                      </a:endParaRPr>
                    </a:p>
                  </a:txBody>
                  <a:tcPr marL="91440" marR="91440" marT="45720" marB="45720"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tcPr>
                </a:tc>
              </a:tr>
            </a:tbl>
          </a:graphicData>
        </a:graphic>
      </p:graphicFrame>
      <p:sp>
        <p:nvSpPr>
          <p:cNvPr id="6" name="Text 3"/>
          <p:cNvSpPr/>
          <p:nvPr/>
        </p:nvSpPr>
        <p:spPr>
          <a:xfrm>
            <a:off x="822960" y="6035040"/>
            <a:ext cx="10515600" cy="365760"/>
          </a:xfrm>
          <a:prstGeom prst="rect">
            <a:avLst/>
          </a:prstGeom>
          <a:noFill/>
          <a:ln/>
        </p:spPr>
        <p:txBody>
          <a:bodyPr wrap="square" lIns="0" tIns="0" rIns="0" bIns="0" rtlCol="0" anchor="ctr"/>
          <a:lstStyle/>
          <a:p>
            <a:pPr indent="0" marL="0">
              <a:buNone/>
            </a:pPr>
            <a:r>
              <a:rPr lang="en-US" sz="1250" i="1" dirty="0">
                <a:solidFill>
                  <a:srgbClr val="8A929B"/>
                </a:solidFill>
                <a:latin typeface="Segoe UI" pitchFamily="34" charset="0"/>
                <a:ea typeface="Segoe UI" pitchFamily="34" charset="-122"/>
                <a:cs typeface="Segoe UI" pitchFamily="34" charset="-120"/>
              </a:rPr>
              <a:t>Mỗi lựa chọn nhắm một thách thức xác định; không thành phần nào được thêm mà không có căn cứ.</a:t>
            </a:r>
            <a:endParaRPr lang="en-US" sz="1250" dirty="0"/>
          </a:p>
        </p:txBody>
      </p:sp>
      <p:sp>
        <p:nvSpPr>
          <p:cNvPr id="7" name="Text 4"/>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ĐÁNH GIÁ · MỘT MÀN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Ba thước đo và căn cứ</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1965960"/>
            <a:ext cx="6766560" cy="841248"/>
          </a:xfrm>
          <a:prstGeom prst="roundRect">
            <a:avLst>
              <a:gd name="adj" fmla="val 6522"/>
            </a:avLst>
          </a:prstGeom>
          <a:solidFill>
            <a:srgbClr val="FFFFFF"/>
          </a:solidFill>
          <a:ln w="12700">
            <a:solidFill>
              <a:srgbClr val="D7DCE1"/>
            </a:solidFill>
            <a:prstDash val="solid"/>
          </a:ln>
        </p:spPr>
      </p:sp>
      <p:sp>
        <p:nvSpPr>
          <p:cNvPr id="6" name="Shape 4"/>
          <p:cNvSpPr/>
          <p:nvPr/>
        </p:nvSpPr>
        <p:spPr>
          <a:xfrm>
            <a:off x="822960" y="1965960"/>
            <a:ext cx="54864" cy="841248"/>
          </a:xfrm>
          <a:prstGeom prst="rect">
            <a:avLst/>
          </a:prstGeom>
          <a:solidFill>
            <a:srgbClr val="5B6B7A"/>
          </a:solidFill>
          <a:ln/>
        </p:spPr>
      </p:sp>
      <p:sp>
        <p:nvSpPr>
          <p:cNvPr id="7" name="Text 5"/>
          <p:cNvSpPr/>
          <p:nvPr/>
        </p:nvSpPr>
        <p:spPr>
          <a:xfrm>
            <a:off x="1078992" y="2020824"/>
            <a:ext cx="1920240" cy="731520"/>
          </a:xfrm>
          <a:prstGeom prst="rect">
            <a:avLst/>
          </a:prstGeom>
          <a:noFill/>
          <a:ln/>
        </p:spPr>
        <p:txBody>
          <a:bodyPr wrap="square" lIns="0" tIns="0" rIns="0" bIns="0" rtlCol="0" anchor="ctr"/>
          <a:lstStyle/>
          <a:p>
            <a:pPr indent="0" marL="0">
              <a:buNone/>
            </a:pPr>
            <a:r>
              <a:rPr lang="en-US" sz="1500" b="1" dirty="0">
                <a:solidFill>
                  <a:srgbClr val="1C2530"/>
                </a:solidFill>
                <a:latin typeface="Cambria" pitchFamily="34" charset="0"/>
                <a:ea typeface="Cambria" pitchFamily="34" charset="-122"/>
                <a:cs typeface="Cambria" pitchFamily="34" charset="-120"/>
              </a:rPr>
              <a:t>Độ trung thực</a:t>
            </a:r>
            <a:endParaRPr lang="en-US" sz="1500" dirty="0"/>
          </a:p>
        </p:txBody>
      </p:sp>
      <p:sp>
        <p:nvSpPr>
          <p:cNvPr id="8" name="Text 6"/>
          <p:cNvSpPr/>
          <p:nvPr/>
        </p:nvSpPr>
        <p:spPr>
          <a:xfrm>
            <a:off x="2834640" y="2020824"/>
            <a:ext cx="2377440" cy="731520"/>
          </a:xfrm>
          <a:prstGeom prst="rect">
            <a:avLst/>
          </a:prstGeom>
          <a:noFill/>
          <a:ln/>
        </p:spPr>
        <p:txBody>
          <a:bodyPr wrap="square" lIns="0" tIns="0" rIns="0" bIns="0" rtlCol="0" anchor="ctr"/>
          <a:lstStyle/>
          <a:p>
            <a:pPr indent="0" marL="0">
              <a:buNone/>
            </a:pPr>
            <a:r>
              <a:rPr lang="en-US" sz="1200" dirty="0">
                <a:solidFill>
                  <a:srgbClr val="3C434B"/>
                </a:solidFill>
                <a:latin typeface="Segoe UI" pitchFamily="34" charset="0"/>
                <a:ea typeface="Segoe UI" pitchFamily="34" charset="-122"/>
                <a:cs typeface="Segoe UI" pitchFamily="34" charset="-120"/>
              </a:rPr>
              <a:t>Có tham chiếu nút không tồn tại?</a:t>
            </a:r>
            <a:endParaRPr lang="en-US" sz="1200" dirty="0"/>
          </a:p>
        </p:txBody>
      </p:sp>
      <p:sp>
        <p:nvSpPr>
          <p:cNvPr id="9" name="Text 7"/>
          <p:cNvSpPr/>
          <p:nvPr/>
        </p:nvSpPr>
        <p:spPr>
          <a:xfrm>
            <a:off x="5212080" y="2020824"/>
            <a:ext cx="2240280" cy="731520"/>
          </a:xfrm>
          <a:prstGeom prst="rect">
            <a:avLst/>
          </a:prstGeom>
          <a:noFill/>
          <a:ln/>
        </p:spPr>
        <p:txBody>
          <a:bodyPr wrap="square" lIns="0" tIns="0" rIns="0" bIns="0" rtlCol="0" anchor="ctr"/>
          <a:lstStyle/>
          <a:p>
            <a:pPr indent="0" marL="0">
              <a:lnSpc>
                <a:spcPct val="110000"/>
              </a:lnSpc>
              <a:buNone/>
            </a:pPr>
            <a:r>
              <a:rPr lang="en-US" sz="1050" b="1" dirty="0">
                <a:solidFill>
                  <a:srgbClr val="1C2530"/>
                </a:solidFill>
                <a:latin typeface="Segoe UI" pitchFamily="34" charset="0"/>
                <a:ea typeface="Segoe UI" pitchFamily="34" charset="-122"/>
                <a:cs typeface="Segoe UI" pitchFamily="34" charset="-120"/>
              </a:rPr>
              <a:t>1 − (bước ảo giác) / (bước có tham chiếu nút)
</a:t>
            </a:r>
            <a:pPr indent="0" marL="0">
              <a:lnSpc>
                <a:spcPct val="110000"/>
              </a:lnSpc>
              <a:buNone/>
            </a:pPr>
            <a:r>
              <a:rPr lang="en-US" sz="1050" i="1" dirty="0">
                <a:solidFill>
                  <a:srgbClr val="8A929B"/>
                </a:solidFill>
                <a:latin typeface="Segoe UI" pitchFamily="34" charset="0"/>
                <a:ea typeface="Segoe UI" pitchFamily="34" charset="-122"/>
                <a:cs typeface="Segoe UI" pitchFamily="34" charset="-120"/>
              </a:rPr>
              <a:t>ví dụ 1/3 ảo giác → 67%</a:t>
            </a:r>
            <a:endParaRPr lang="en-US" sz="1050" dirty="0"/>
          </a:p>
        </p:txBody>
      </p:sp>
      <p:sp>
        <p:nvSpPr>
          <p:cNvPr id="10" name="Shape 8"/>
          <p:cNvSpPr/>
          <p:nvPr/>
        </p:nvSpPr>
        <p:spPr>
          <a:xfrm>
            <a:off x="822960" y="2926080"/>
            <a:ext cx="6766560" cy="841248"/>
          </a:xfrm>
          <a:prstGeom prst="roundRect">
            <a:avLst>
              <a:gd name="adj" fmla="val 6522"/>
            </a:avLst>
          </a:prstGeom>
          <a:solidFill>
            <a:srgbClr val="FFFFFF"/>
          </a:solidFill>
          <a:ln w="12700">
            <a:solidFill>
              <a:srgbClr val="D7DCE1"/>
            </a:solidFill>
            <a:prstDash val="solid"/>
          </a:ln>
        </p:spPr>
      </p:sp>
      <p:sp>
        <p:nvSpPr>
          <p:cNvPr id="11" name="Shape 9"/>
          <p:cNvSpPr/>
          <p:nvPr/>
        </p:nvSpPr>
        <p:spPr>
          <a:xfrm>
            <a:off x="822960" y="2926080"/>
            <a:ext cx="54864" cy="841248"/>
          </a:xfrm>
          <a:prstGeom prst="rect">
            <a:avLst/>
          </a:prstGeom>
          <a:solidFill>
            <a:srgbClr val="5B6B7A"/>
          </a:solidFill>
          <a:ln/>
        </p:spPr>
      </p:sp>
      <p:sp>
        <p:nvSpPr>
          <p:cNvPr id="12" name="Text 10"/>
          <p:cNvSpPr/>
          <p:nvPr/>
        </p:nvSpPr>
        <p:spPr>
          <a:xfrm>
            <a:off x="1078992" y="2980944"/>
            <a:ext cx="1920240" cy="731520"/>
          </a:xfrm>
          <a:prstGeom prst="rect">
            <a:avLst/>
          </a:prstGeom>
          <a:noFill/>
          <a:ln/>
        </p:spPr>
        <p:txBody>
          <a:bodyPr wrap="square" lIns="0" tIns="0" rIns="0" bIns="0" rtlCol="0" anchor="ctr"/>
          <a:lstStyle/>
          <a:p>
            <a:pPr indent="0" marL="0">
              <a:buNone/>
            </a:pPr>
            <a:r>
              <a:rPr lang="en-US" sz="1500" b="1" dirty="0">
                <a:solidFill>
                  <a:srgbClr val="1C2530"/>
                </a:solidFill>
                <a:latin typeface="Cambria" pitchFamily="34" charset="0"/>
                <a:ea typeface="Cambria" pitchFamily="34" charset="-122"/>
                <a:cs typeface="Cambria" pitchFamily="34" charset="-120"/>
              </a:rPr>
              <a:t>Độ đúng nhãn</a:t>
            </a:r>
            <a:endParaRPr lang="en-US" sz="1500" dirty="0"/>
          </a:p>
        </p:txBody>
      </p:sp>
      <p:sp>
        <p:nvSpPr>
          <p:cNvPr id="13" name="Text 11"/>
          <p:cNvSpPr/>
          <p:nvPr/>
        </p:nvSpPr>
        <p:spPr>
          <a:xfrm>
            <a:off x="2834640" y="2980944"/>
            <a:ext cx="2377440" cy="731520"/>
          </a:xfrm>
          <a:prstGeom prst="rect">
            <a:avLst/>
          </a:prstGeom>
          <a:noFill/>
          <a:ln/>
        </p:spPr>
        <p:txBody>
          <a:bodyPr wrap="square" lIns="0" tIns="0" rIns="0" bIns="0" rtlCol="0" anchor="ctr"/>
          <a:lstStyle/>
          <a:p>
            <a:pPr indent="0" marL="0">
              <a:buNone/>
            </a:pPr>
            <a:r>
              <a:rPr lang="en-US" sz="1200" dirty="0">
                <a:solidFill>
                  <a:srgbClr val="3C434B"/>
                </a:solidFill>
                <a:latin typeface="Segoe UI" pitchFamily="34" charset="0"/>
                <a:ea typeface="Segoe UI" pitchFamily="34" charset="-122"/>
                <a:cs typeface="Segoe UI" pitchFamily="34" charset="-120"/>
              </a:rPr>
              <a:t>Gọi đúng tên hiển thị của nút?</a:t>
            </a:r>
            <a:endParaRPr lang="en-US" sz="1200" dirty="0"/>
          </a:p>
        </p:txBody>
      </p:sp>
      <p:sp>
        <p:nvSpPr>
          <p:cNvPr id="14" name="Text 12"/>
          <p:cNvSpPr/>
          <p:nvPr/>
        </p:nvSpPr>
        <p:spPr>
          <a:xfrm>
            <a:off x="5212080" y="2980944"/>
            <a:ext cx="2240280" cy="731520"/>
          </a:xfrm>
          <a:prstGeom prst="rect">
            <a:avLst/>
          </a:prstGeom>
          <a:noFill/>
          <a:ln/>
        </p:spPr>
        <p:txBody>
          <a:bodyPr wrap="square" lIns="0" tIns="0" rIns="0" bIns="0" rtlCol="0" anchor="ctr"/>
          <a:lstStyle/>
          <a:p>
            <a:pPr indent="0" marL="0">
              <a:lnSpc>
                <a:spcPct val="110000"/>
              </a:lnSpc>
              <a:buNone/>
            </a:pPr>
            <a:r>
              <a:rPr lang="en-US" sz="1050" b="1" dirty="0">
                <a:solidFill>
                  <a:srgbClr val="1C2530"/>
                </a:solidFill>
                <a:latin typeface="Segoe UI" pitchFamily="34" charset="0"/>
                <a:ea typeface="Segoe UI" pitchFamily="34" charset="-122"/>
                <a:cs typeface="Segoe UI" pitchFamily="34" charset="-120"/>
              </a:rPr>
              <a:t>(bước gọi đúng tên) / (bước tham chiếu nút hợp lệ)
</a:t>
            </a:r>
            <a:pPr indent="0" marL="0">
              <a:lnSpc>
                <a:spcPct val="110000"/>
              </a:lnSpc>
              <a:buNone/>
            </a:pPr>
            <a:r>
              <a:rPr lang="en-US" sz="1050" i="1" dirty="0">
                <a:solidFill>
                  <a:srgbClr val="8A929B"/>
                </a:solidFill>
                <a:latin typeface="Segoe UI" pitchFamily="34" charset="0"/>
                <a:ea typeface="Segoe UI" pitchFamily="34" charset="-122"/>
                <a:cs typeface="Segoe UI" pitchFamily="34" charset="-120"/>
              </a:rPr>
              <a:t>“Confirm” ≠ “OK” → sai nhãn</a:t>
            </a:r>
            <a:endParaRPr lang="en-US" sz="1050" dirty="0"/>
          </a:p>
        </p:txBody>
      </p:sp>
      <p:sp>
        <p:nvSpPr>
          <p:cNvPr id="15" name="Shape 13"/>
          <p:cNvSpPr/>
          <p:nvPr/>
        </p:nvSpPr>
        <p:spPr>
          <a:xfrm>
            <a:off x="822960" y="3886200"/>
            <a:ext cx="6766560" cy="841248"/>
          </a:xfrm>
          <a:prstGeom prst="roundRect">
            <a:avLst>
              <a:gd name="adj" fmla="val 6522"/>
            </a:avLst>
          </a:prstGeom>
          <a:solidFill>
            <a:srgbClr val="FFFFFF"/>
          </a:solidFill>
          <a:ln w="12700">
            <a:solidFill>
              <a:srgbClr val="D7DCE1"/>
            </a:solidFill>
            <a:prstDash val="solid"/>
          </a:ln>
        </p:spPr>
      </p:sp>
      <p:sp>
        <p:nvSpPr>
          <p:cNvPr id="16" name="Shape 14"/>
          <p:cNvSpPr/>
          <p:nvPr/>
        </p:nvSpPr>
        <p:spPr>
          <a:xfrm>
            <a:off x="822960" y="3886200"/>
            <a:ext cx="54864" cy="841248"/>
          </a:xfrm>
          <a:prstGeom prst="rect">
            <a:avLst/>
          </a:prstGeom>
          <a:solidFill>
            <a:srgbClr val="5B6B7A"/>
          </a:solidFill>
          <a:ln/>
        </p:spPr>
      </p:sp>
      <p:sp>
        <p:nvSpPr>
          <p:cNvPr id="17" name="Text 15"/>
          <p:cNvSpPr/>
          <p:nvPr/>
        </p:nvSpPr>
        <p:spPr>
          <a:xfrm>
            <a:off x="1078992" y="3941064"/>
            <a:ext cx="1920240" cy="731520"/>
          </a:xfrm>
          <a:prstGeom prst="rect">
            <a:avLst/>
          </a:prstGeom>
          <a:noFill/>
          <a:ln/>
        </p:spPr>
        <p:txBody>
          <a:bodyPr wrap="square" lIns="0" tIns="0" rIns="0" bIns="0" rtlCol="0" anchor="ctr"/>
          <a:lstStyle/>
          <a:p>
            <a:pPr indent="0" marL="0">
              <a:buNone/>
            </a:pPr>
            <a:r>
              <a:rPr lang="en-US" sz="1500" b="1" dirty="0">
                <a:solidFill>
                  <a:srgbClr val="1C2530"/>
                </a:solidFill>
                <a:latin typeface="Cambria" pitchFamily="34" charset="0"/>
                <a:ea typeface="Cambria" pitchFamily="34" charset="-122"/>
                <a:cs typeface="Cambria" pitchFamily="34" charset="-120"/>
              </a:rPr>
              <a:t>Độ đúng vị trí</a:t>
            </a:r>
            <a:endParaRPr lang="en-US" sz="1500" dirty="0"/>
          </a:p>
        </p:txBody>
      </p:sp>
      <p:sp>
        <p:nvSpPr>
          <p:cNvPr id="18" name="Text 16"/>
          <p:cNvSpPr/>
          <p:nvPr/>
        </p:nvSpPr>
        <p:spPr>
          <a:xfrm>
            <a:off x="2834640" y="3941064"/>
            <a:ext cx="2377440" cy="731520"/>
          </a:xfrm>
          <a:prstGeom prst="rect">
            <a:avLst/>
          </a:prstGeom>
          <a:noFill/>
          <a:ln/>
        </p:spPr>
        <p:txBody>
          <a:bodyPr wrap="square" lIns="0" tIns="0" rIns="0" bIns="0" rtlCol="0" anchor="ctr"/>
          <a:lstStyle/>
          <a:p>
            <a:pPr indent="0" marL="0">
              <a:buNone/>
            </a:pPr>
            <a:r>
              <a:rPr lang="en-US" sz="1200" dirty="0">
                <a:solidFill>
                  <a:srgbClr val="3C434B"/>
                </a:solidFill>
                <a:latin typeface="Segoe UI" pitchFamily="34" charset="0"/>
                <a:ea typeface="Segoe UI" pitchFamily="34" charset="-122"/>
                <a:cs typeface="Segoe UI" pitchFamily="34" charset="-120"/>
              </a:rPr>
              <a:t>Điểm bấm có trúng khung nút?</a:t>
            </a:r>
            <a:endParaRPr lang="en-US" sz="1200" dirty="0"/>
          </a:p>
        </p:txBody>
      </p:sp>
      <p:sp>
        <p:nvSpPr>
          <p:cNvPr id="19" name="Text 17"/>
          <p:cNvSpPr/>
          <p:nvPr/>
        </p:nvSpPr>
        <p:spPr>
          <a:xfrm>
            <a:off x="5212080" y="3941064"/>
            <a:ext cx="2240280" cy="731520"/>
          </a:xfrm>
          <a:prstGeom prst="rect">
            <a:avLst/>
          </a:prstGeom>
          <a:noFill/>
          <a:ln/>
        </p:spPr>
        <p:txBody>
          <a:bodyPr wrap="square" lIns="0" tIns="0" rIns="0" bIns="0" rtlCol="0" anchor="ctr"/>
          <a:lstStyle/>
          <a:p>
            <a:pPr indent="0" marL="0">
              <a:lnSpc>
                <a:spcPct val="110000"/>
              </a:lnSpc>
              <a:buNone/>
            </a:pPr>
            <a:r>
              <a:rPr lang="en-US" sz="1050" b="1" dirty="0">
                <a:solidFill>
                  <a:srgbClr val="1C2530"/>
                </a:solidFill>
                <a:latin typeface="Segoe UI" pitchFamily="34" charset="0"/>
                <a:ea typeface="Segoe UI" pitchFamily="34" charset="-122"/>
                <a:cs typeface="Segoe UI" pitchFamily="34" charset="-120"/>
              </a:rPr>
              <a:t>điểm (x, y) nằm trong khung [l, t, r, b]
</a:t>
            </a:r>
            <a:pPr indent="0" marL="0">
              <a:lnSpc>
                <a:spcPct val="110000"/>
              </a:lnSpc>
              <a:buNone/>
            </a:pPr>
            <a:r>
              <a:rPr lang="en-US" sz="1050" i="1" dirty="0">
                <a:solidFill>
                  <a:srgbClr val="8A929B"/>
                </a:solidFill>
                <a:latin typeface="Segoe UI" pitchFamily="34" charset="0"/>
                <a:ea typeface="Segoe UI" pitchFamily="34" charset="-122"/>
                <a:cs typeface="Segoe UI" pitchFamily="34" charset="-120"/>
              </a:rPr>
              <a:t>minh hoạ ở hình bên</a:t>
            </a:r>
            <a:endParaRPr lang="en-US" sz="1050" dirty="0"/>
          </a:p>
        </p:txBody>
      </p:sp>
      <p:sp>
        <p:nvSpPr>
          <p:cNvPr id="20" name="Shape 18"/>
          <p:cNvSpPr/>
          <p:nvPr/>
        </p:nvSpPr>
        <p:spPr>
          <a:xfrm>
            <a:off x="8156448" y="2075688"/>
            <a:ext cx="2980944" cy="3163824"/>
          </a:xfrm>
          <a:prstGeom prst="roundRect">
            <a:avLst>
              <a:gd name="adj" fmla="val 1840"/>
            </a:avLst>
          </a:prstGeom>
          <a:solidFill>
            <a:srgbClr val="FFFFFF"/>
          </a:solidFill>
          <a:ln w="12700">
            <a:solidFill>
              <a:srgbClr val="D7DCE1"/>
            </a:solidFill>
            <a:prstDash val="solid"/>
          </a:ln>
        </p:spPr>
      </p:sp>
      <p:pic>
        <p:nvPicPr>
          <p:cNvPr id="21" name="Image 0" descr="_img/real_ground_1.png">    </p:cNvPr>
          <p:cNvPicPr>
            <a:picLocks noChangeAspect="1"/>
          </p:cNvPicPr>
          <p:nvPr/>
        </p:nvPicPr>
        <p:blipFill>
          <a:blip r:embed="rId1"/>
          <a:srcRect l="0" r="0" t="0" b="0"/>
          <a:stretch/>
        </p:blipFill>
        <p:spPr>
          <a:xfrm>
            <a:off x="8229600" y="2148840"/>
            <a:ext cx="2834640" cy="3017520"/>
          </a:xfrm>
          <a:prstGeom prst="rect">
            <a:avLst/>
          </a:prstGeom>
        </p:spPr>
      </p:pic>
      <p:sp>
        <p:nvSpPr>
          <p:cNvPr id="22" name="Text 19"/>
          <p:cNvSpPr/>
          <p:nvPr/>
        </p:nvSpPr>
        <p:spPr>
          <a:xfrm>
            <a:off x="7955280" y="5257800"/>
            <a:ext cx="3383280" cy="640080"/>
          </a:xfrm>
          <a:prstGeom prst="rect">
            <a:avLst/>
          </a:prstGeom>
          <a:noFill/>
          <a:ln/>
        </p:spPr>
        <p:txBody>
          <a:bodyPr wrap="square" lIns="0" tIns="0" rIns="0" bIns="0" rtlCol="0" anchor="ctr"/>
          <a:lstStyle/>
          <a:p>
            <a:pPr algn="ctr" indent="0" marL="0">
              <a:lnSpc>
                <a:spcPct val="110000"/>
              </a:lnSpc>
              <a:buNone/>
            </a:pPr>
            <a:r>
              <a:rPr lang="en-US" sz="1200" i="1" dirty="0">
                <a:solidFill>
                  <a:srgbClr val="3C434B"/>
                </a:solidFill>
                <a:latin typeface="Segoe UI" pitchFamily="34" charset="0"/>
                <a:ea typeface="Segoe UI" pitchFamily="34" charset="-122"/>
                <a:cs typeface="Segoe UI" pitchFamily="34" charset="-120"/>
              </a:rPr>
              <a:t>Độ đúng vị trí: điểm bấm rơi trong khung nút lật ống kính → hợp lệ.</a:t>
            </a:r>
            <a:endParaRPr lang="en-US" sz="1200" dirty="0"/>
          </a:p>
        </p:txBody>
      </p:sp>
      <p:sp>
        <p:nvSpPr>
          <p:cNvPr id="23" name="Text 20"/>
          <p:cNvSpPr/>
          <p:nvPr/>
        </p:nvSpPr>
        <p:spPr>
          <a:xfrm>
            <a:off x="822960" y="5943600"/>
            <a:ext cx="10515600" cy="502920"/>
          </a:xfrm>
          <a:prstGeom prst="rect">
            <a:avLst/>
          </a:prstGeom>
          <a:noFill/>
          <a:ln/>
        </p:spPr>
        <p:txBody>
          <a:bodyPr wrap="square" lIns="0" tIns="0" rIns="0" bIns="0" rtlCol="0" anchor="ctr"/>
          <a:lstStyle/>
          <a:p>
            <a:pPr indent="0" marL="0">
              <a:lnSpc>
                <a:spcPct val="112000"/>
              </a:lnSpc>
              <a:buNone/>
            </a:pPr>
            <a:r>
              <a:rPr lang="en-US" sz="1100" i="1" dirty="0">
                <a:solidFill>
                  <a:srgbClr val="8A929B"/>
                </a:solidFill>
                <a:latin typeface="Segoe UI" pitchFamily="34" charset="0"/>
                <a:ea typeface="Segoe UI" pitchFamily="34" charset="-122"/>
                <a:cs typeface="Segoe UI" pitchFamily="34" charset="-120"/>
              </a:rPr>
              <a:t>Toạ độ (x, y) do bộ trỏ nút độc lập (kiểu ScreenSpot) dự đoán từ tên nút và ảnh, không lấy tâm khung nút đã khớp; độ chính xác đo riêng trên ScreenSpot-v2. Căn cứ: point-in-bbox (SeeClick, ACL 2024); so khớp ngữ nghĩa (ALOHa, NAACL 2024).</a:t>
            </a:r>
            <a:endParaRPr lang="en-US" sz="1100" dirty="0"/>
          </a:p>
        </p:txBody>
      </p:sp>
      <p:sp>
        <p:nvSpPr>
          <p:cNvPr id="24" name="Text 21"/>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ĐÁNH GIÁ · NHIỀU MÀN</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Hai thước đo và căn cứ</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1965960"/>
            <a:ext cx="5212080" cy="2011680"/>
          </a:xfrm>
          <a:prstGeom prst="roundRect">
            <a:avLst>
              <a:gd name="adj" fmla="val 2727"/>
            </a:avLst>
          </a:prstGeom>
          <a:solidFill>
            <a:srgbClr val="FFFFFF"/>
          </a:solidFill>
          <a:ln w="12700">
            <a:solidFill>
              <a:srgbClr val="D7DCE1"/>
            </a:solidFill>
            <a:prstDash val="solid"/>
          </a:ln>
        </p:spPr>
      </p:sp>
      <p:sp>
        <p:nvSpPr>
          <p:cNvPr id="6" name="Text 4"/>
          <p:cNvSpPr/>
          <p:nvPr/>
        </p:nvSpPr>
        <p:spPr>
          <a:xfrm>
            <a:off x="1097280" y="2103120"/>
            <a:ext cx="4663440" cy="365760"/>
          </a:xfrm>
          <a:prstGeom prst="rect">
            <a:avLst/>
          </a:prstGeom>
          <a:noFill/>
          <a:ln/>
        </p:spPr>
        <p:txBody>
          <a:bodyPr wrap="square" lIns="0" tIns="0" rIns="0" bIns="0" rtlCol="0" anchor="ctr"/>
          <a:lstStyle/>
          <a:p>
            <a:pPr indent="0" marL="0">
              <a:buNone/>
            </a:pPr>
            <a:r>
              <a:rPr lang="en-US" sz="1700" b="1" dirty="0">
                <a:solidFill>
                  <a:srgbClr val="1C2530"/>
                </a:solidFill>
                <a:latin typeface="Cambria" pitchFamily="34" charset="0"/>
                <a:ea typeface="Cambria" pitchFamily="34" charset="-122"/>
                <a:cs typeface="Cambria" pitchFamily="34" charset="-120"/>
              </a:rPr>
              <a:t>① Độ đúng thứ tự</a:t>
            </a:r>
            <a:endParaRPr lang="en-US" sz="1700" dirty="0"/>
          </a:p>
        </p:txBody>
      </p:sp>
      <p:sp>
        <p:nvSpPr>
          <p:cNvPr id="7" name="Text 5"/>
          <p:cNvSpPr/>
          <p:nvPr/>
        </p:nvSpPr>
        <p:spPr>
          <a:xfrm>
            <a:off x="1097280" y="2514600"/>
            <a:ext cx="4663440" cy="365760"/>
          </a:xfrm>
          <a:prstGeom prst="rect">
            <a:avLst/>
          </a:prstGeom>
          <a:noFill/>
          <a:ln/>
        </p:spPr>
        <p:txBody>
          <a:bodyPr wrap="square" lIns="0" tIns="0" rIns="0" bIns="0" rtlCol="0" anchor="ctr"/>
          <a:lstStyle/>
          <a:p>
            <a:pPr indent="0" marL="0">
              <a:buNone/>
            </a:pPr>
            <a:r>
              <a:rPr lang="en-US" sz="1250" b="1" dirty="0">
                <a:solidFill>
                  <a:srgbClr val="3C434B"/>
                </a:solidFill>
                <a:latin typeface="Segoe UI" pitchFamily="34" charset="0"/>
                <a:ea typeface="Segoe UI" pitchFamily="34" charset="-122"/>
                <a:cs typeface="Segoe UI" pitchFamily="34" charset="-120"/>
              </a:rPr>
              <a:t>τ = (cặp thuận − cặp nghịch) / (cặp bắt buộc)</a:t>
            </a:r>
            <a:endParaRPr lang="en-US" sz="1250" dirty="0"/>
          </a:p>
        </p:txBody>
      </p:sp>
      <p:sp>
        <p:nvSpPr>
          <p:cNvPr id="8" name="Text 6"/>
          <p:cNvSpPr/>
          <p:nvPr/>
        </p:nvSpPr>
        <p:spPr>
          <a:xfrm>
            <a:off x="1097280" y="2926080"/>
            <a:ext cx="4663440" cy="1005840"/>
          </a:xfrm>
          <a:prstGeom prst="rect">
            <a:avLst/>
          </a:prstGeom>
          <a:noFill/>
          <a:ln/>
        </p:spPr>
        <p:txBody>
          <a:bodyPr wrap="square" lIns="0" tIns="0" rIns="0" bIns="0" rtlCol="0" anchor="ctr"/>
          <a:lstStyle/>
          <a:p>
            <a:pPr indent="0" marL="0">
              <a:lnSpc>
                <a:spcPct val="120000"/>
              </a:lnSpc>
              <a:buNone/>
            </a:pPr>
            <a:r>
              <a:rPr lang="en-US" sz="1200" dirty="0">
                <a:solidFill>
                  <a:srgbClr val="3C434B"/>
                </a:solidFill>
                <a:latin typeface="Segoe UI" pitchFamily="34" charset="0"/>
                <a:ea typeface="Segoe UI" pitchFamily="34" charset="-122"/>
                <a:cs typeface="Segoe UI" pitchFamily="34" charset="-120"/>
              </a:rPr>
              <a:t>Quỹ đạo vàng A&lt;B&lt;C, mô hình xếp A, C, B → hai cặp thuận, một cặp nghịch → τ = +0,33. Chỉ tính phạt trên cặp bắt buộc; cặp không ràng buộc thứ tự (ví dụ điền email và số điện thoại) đảo vẫn hợp lệ.</a:t>
            </a:r>
            <a:endParaRPr lang="en-US" sz="1200" dirty="0"/>
          </a:p>
        </p:txBody>
      </p:sp>
      <p:sp>
        <p:nvSpPr>
          <p:cNvPr id="9" name="Shape 7"/>
          <p:cNvSpPr/>
          <p:nvPr/>
        </p:nvSpPr>
        <p:spPr>
          <a:xfrm>
            <a:off x="6309360" y="1965960"/>
            <a:ext cx="5029200" cy="2011680"/>
          </a:xfrm>
          <a:prstGeom prst="roundRect">
            <a:avLst>
              <a:gd name="adj" fmla="val 2727"/>
            </a:avLst>
          </a:prstGeom>
          <a:solidFill>
            <a:srgbClr val="F2E3E6"/>
          </a:solidFill>
          <a:ln w="12700">
            <a:solidFill>
              <a:srgbClr val="D7DCE1"/>
            </a:solidFill>
            <a:prstDash val="solid"/>
          </a:ln>
        </p:spPr>
      </p:sp>
      <p:sp>
        <p:nvSpPr>
          <p:cNvPr id="10" name="Text 8"/>
          <p:cNvSpPr/>
          <p:nvPr/>
        </p:nvSpPr>
        <p:spPr>
          <a:xfrm>
            <a:off x="6583680" y="2103120"/>
            <a:ext cx="4663440" cy="365760"/>
          </a:xfrm>
          <a:prstGeom prst="rect">
            <a:avLst/>
          </a:prstGeom>
          <a:noFill/>
          <a:ln/>
        </p:spPr>
        <p:txBody>
          <a:bodyPr wrap="square" lIns="0" tIns="0" rIns="0" bIns="0" rtlCol="0" anchor="ctr"/>
          <a:lstStyle/>
          <a:p>
            <a:pPr indent="0" marL="0">
              <a:buNone/>
            </a:pPr>
            <a:r>
              <a:rPr lang="en-US" sz="1450" b="1" dirty="0">
                <a:solidFill>
                  <a:srgbClr val="1C2530"/>
                </a:solidFill>
                <a:latin typeface="Cambria" pitchFamily="34" charset="0"/>
                <a:ea typeface="Cambria" pitchFamily="34" charset="-122"/>
                <a:cs typeface="Cambria" pitchFamily="34" charset="-120"/>
              </a:rPr>
              <a:t>② Độ hoàn thành tác vụ (Step-SR, teacher-forced)</a:t>
            </a:r>
            <a:endParaRPr lang="en-US" sz="1450" dirty="0"/>
          </a:p>
        </p:txBody>
      </p:sp>
      <p:sp>
        <p:nvSpPr>
          <p:cNvPr id="11" name="Text 9"/>
          <p:cNvSpPr/>
          <p:nvPr/>
        </p:nvSpPr>
        <p:spPr>
          <a:xfrm>
            <a:off x="6583680" y="2514600"/>
            <a:ext cx="4572000" cy="365760"/>
          </a:xfrm>
          <a:prstGeom prst="rect">
            <a:avLst/>
          </a:prstGeom>
          <a:noFill/>
          <a:ln/>
        </p:spPr>
        <p:txBody>
          <a:bodyPr wrap="square" lIns="0" tIns="0" rIns="0" bIns="0" rtlCol="0" anchor="ctr"/>
          <a:lstStyle/>
          <a:p>
            <a:pPr indent="0" marL="0">
              <a:buNone/>
            </a:pPr>
            <a:r>
              <a:rPr lang="en-US" sz="1250" b="1" dirty="0">
                <a:solidFill>
                  <a:srgbClr val="3C434B"/>
                </a:solidFill>
                <a:latin typeface="Segoe UI" pitchFamily="34" charset="0"/>
                <a:ea typeface="Segoe UI" pitchFamily="34" charset="-122"/>
                <a:cs typeface="Segoe UI" pitchFamily="34" charset="-120"/>
              </a:rPr>
              <a:t>(bước thực hiện đúng) / (bước của quỹ đạo vàng)</a:t>
            </a:r>
            <a:endParaRPr lang="en-US" sz="1250" dirty="0"/>
          </a:p>
        </p:txBody>
      </p:sp>
      <p:sp>
        <p:nvSpPr>
          <p:cNvPr id="12" name="Text 10"/>
          <p:cNvSpPr/>
          <p:nvPr/>
        </p:nvSpPr>
        <p:spPr>
          <a:xfrm>
            <a:off x="6583680" y="2926080"/>
            <a:ext cx="4572000" cy="1005840"/>
          </a:xfrm>
          <a:prstGeom prst="rect">
            <a:avLst/>
          </a:prstGeom>
          <a:noFill/>
          <a:ln/>
        </p:spPr>
        <p:txBody>
          <a:bodyPr wrap="square" lIns="0" tIns="0" rIns="0" bIns="0" rtlCol="0" anchor="ctr"/>
          <a:lstStyle/>
          <a:p>
            <a:pPr indent="0" marL="0">
              <a:lnSpc>
                <a:spcPct val="120000"/>
              </a:lnSpc>
              <a:buNone/>
            </a:pPr>
            <a:r>
              <a:rPr lang="en-US" sz="1200" dirty="0">
                <a:solidFill>
                  <a:srgbClr val="3C434B"/>
                </a:solidFill>
                <a:latin typeface="Segoe UI" pitchFamily="34" charset="0"/>
                <a:ea typeface="Segoe UI" pitchFamily="34" charset="-122"/>
                <a:cs typeface="Segoe UI" pitchFamily="34" charset="-120"/>
              </a:rPr>
              <a:t>Một bước đúng khi: đúng loại thao tác và điểm bấm sai lệch không quá 14% kích thước màn. Đây là bằng chứng định lượng cho mức độ đạt mục tiêu — điều nhánh một màn chưa đo được.</a:t>
            </a:r>
            <a:endParaRPr lang="en-US" sz="1200" dirty="0"/>
          </a:p>
        </p:txBody>
      </p:sp>
      <p:sp>
        <p:nvSpPr>
          <p:cNvPr id="13" name="Shape 11"/>
          <p:cNvSpPr/>
          <p:nvPr/>
        </p:nvSpPr>
        <p:spPr>
          <a:xfrm>
            <a:off x="822960" y="4160520"/>
            <a:ext cx="10543032" cy="1691640"/>
          </a:xfrm>
          <a:prstGeom prst="roundRect">
            <a:avLst>
              <a:gd name="adj" fmla="val 3243"/>
            </a:avLst>
          </a:prstGeom>
          <a:solidFill>
            <a:srgbClr val="F4F6F8"/>
          </a:solidFill>
          <a:ln/>
        </p:spPr>
      </p:sp>
      <p:sp>
        <p:nvSpPr>
          <p:cNvPr id="14" name="Text 12"/>
          <p:cNvSpPr/>
          <p:nvPr/>
        </p:nvSpPr>
        <p:spPr>
          <a:xfrm>
            <a:off x="1097280" y="4279392"/>
            <a:ext cx="10058400" cy="320040"/>
          </a:xfrm>
          <a:prstGeom prst="rect">
            <a:avLst/>
          </a:prstGeom>
          <a:noFill/>
          <a:ln/>
        </p:spPr>
        <p:txBody>
          <a:bodyPr wrap="square" lIns="0" tIns="0" rIns="0" bIns="0" rtlCol="0" anchor="ctr"/>
          <a:lstStyle/>
          <a:p>
            <a:pPr indent="0" marL="0">
              <a:buNone/>
            </a:pPr>
            <a:r>
              <a:rPr lang="en-US" sz="1550" b="1" dirty="0">
                <a:solidFill>
                  <a:srgbClr val="8A2433"/>
                </a:solidFill>
                <a:latin typeface="Cambria" pitchFamily="34" charset="0"/>
                <a:ea typeface="Cambria" pitchFamily="34" charset="-122"/>
                <a:cs typeface="Cambria" pitchFamily="34" charset="-120"/>
              </a:rPr>
              <a:t>Căn cứ</a:t>
            </a:r>
            <a:endParaRPr lang="en-US" sz="1550" dirty="0"/>
          </a:p>
        </p:txBody>
      </p:sp>
      <p:sp>
        <p:nvSpPr>
          <p:cNvPr id="15" name="Text 13"/>
          <p:cNvSpPr/>
          <p:nvPr/>
        </p:nvSpPr>
        <p:spPr>
          <a:xfrm>
            <a:off x="1097280" y="4645152"/>
            <a:ext cx="10332720" cy="1143000"/>
          </a:xfrm>
          <a:prstGeom prst="rect">
            <a:avLst/>
          </a:prstGeom>
          <a:noFill/>
          <a:ln/>
        </p:spPr>
        <p:txBody>
          <a:bodyPr wrap="square" lIns="0" tIns="0" rIns="0" bIns="0" rtlCol="0" anchor="ctr"/>
          <a:lstStyle/>
          <a:p>
            <a:pPr indent="0" marL="0">
              <a:lnSpc>
                <a:spcPct val="130000"/>
              </a:lnSpc>
              <a:buNone/>
            </a:pPr>
            <a:r>
              <a:rPr lang="en-US" sz="1250" dirty="0">
                <a:solidFill>
                  <a:srgbClr val="3C434B"/>
                </a:solidFill>
                <a:latin typeface="Segoe UI" pitchFamily="34" charset="0"/>
                <a:ea typeface="Segoe UI" pitchFamily="34" charset="-122"/>
                <a:cs typeface="Segoe UI" pitchFamily="34" charset="-120"/>
              </a:rPr>
              <a:t>•  Độ đúng thứ tự đo riêng năng lực sắp xếp; nhãn “cặp bắt buộc” suy từ quỹ đạo vàng theo quy tắc nhân quả, không lấy từ mô hình → độc lập với đối tượng được chấm.</a:t>
            </a:r>
            <a:endParaRPr lang="en-US" sz="1250" dirty="0"/>
          </a:p>
          <a:p>
            <a:pPr indent="0" marL="0">
              <a:lnSpc>
                <a:spcPct val="130000"/>
              </a:lnSpc>
              <a:buNone/>
            </a:pPr>
            <a:r>
              <a:rPr lang="en-US" sz="1250" dirty="0">
                <a:solidFill>
                  <a:srgbClr val="3C434B"/>
                </a:solidFill>
                <a:latin typeface="Segoe UI" pitchFamily="34" charset="0"/>
                <a:ea typeface="Segoe UI" pitchFamily="34" charset="-122"/>
                <a:cs typeface="Segoe UI" pitchFamily="34" charset="-120"/>
              </a:rPr>
              <a:t>•  Độ hoàn thành đo mức đạt mục tiêu. Căn cứ: ngưỡng dung sai 14% (AITW, NeurIPS 2023); độ tương quan thứ-tự-bộ-phận (Fagin et al., 2003).</a:t>
            </a:r>
            <a:endParaRPr lang="en-US" sz="1250" dirty="0"/>
          </a:p>
        </p:txBody>
      </p:sp>
      <p:sp>
        <p:nvSpPr>
          <p:cNvPr id="16" name="Text 14"/>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TÍNH HỢP LỆ CỦA ĐÁNH GIÁ</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Chống vòng lặp luận lý và kiểm định thước đo</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1965960"/>
            <a:ext cx="5120640" cy="2331720"/>
          </a:xfrm>
          <a:prstGeom prst="roundRect">
            <a:avLst>
              <a:gd name="adj" fmla="val 2353"/>
            </a:avLst>
          </a:prstGeom>
          <a:solidFill>
            <a:srgbClr val="FFFFFF"/>
          </a:solidFill>
          <a:ln w="12700">
            <a:solidFill>
              <a:srgbClr val="D7DCE1"/>
            </a:solidFill>
            <a:prstDash val="solid"/>
          </a:ln>
        </p:spPr>
      </p:sp>
      <p:sp>
        <p:nvSpPr>
          <p:cNvPr id="6" name="Text 4"/>
          <p:cNvSpPr/>
          <p:nvPr/>
        </p:nvSpPr>
        <p:spPr>
          <a:xfrm>
            <a:off x="1097280" y="2103120"/>
            <a:ext cx="4572000" cy="640080"/>
          </a:xfrm>
          <a:prstGeom prst="rect">
            <a:avLst/>
          </a:prstGeom>
          <a:noFill/>
          <a:ln/>
        </p:spPr>
        <p:txBody>
          <a:bodyPr wrap="square" lIns="0" tIns="0" rIns="0" bIns="0" rtlCol="0" anchor="ctr"/>
          <a:lstStyle/>
          <a:p>
            <a:pPr indent="0" marL="0">
              <a:buNone/>
            </a:pPr>
            <a:r>
              <a:rPr lang="en-US" sz="1500" b="1" dirty="0">
                <a:solidFill>
                  <a:srgbClr val="1C2530"/>
                </a:solidFill>
                <a:latin typeface="Cambria" pitchFamily="34" charset="0"/>
                <a:ea typeface="Cambria" pitchFamily="34" charset="-122"/>
                <a:cs typeface="Cambria" pitchFamily="34" charset="-120"/>
              </a:rPr>
              <a:t>Tách công cụ quyết định và chấm điểm</a:t>
            </a:r>
            <a:endParaRPr lang="en-US" sz="1500" dirty="0"/>
          </a:p>
        </p:txBody>
      </p:sp>
      <p:sp>
        <p:nvSpPr>
          <p:cNvPr id="7" name="Text 5"/>
          <p:cNvSpPr/>
          <p:nvPr/>
        </p:nvSpPr>
        <p:spPr>
          <a:xfrm>
            <a:off x="1097280" y="2743200"/>
            <a:ext cx="4572000" cy="1463040"/>
          </a:xfrm>
          <a:prstGeom prst="rect">
            <a:avLst/>
          </a:prstGeom>
          <a:noFill/>
          <a:ln/>
        </p:spPr>
        <p:txBody>
          <a:bodyPr wrap="square" lIns="0" tIns="0" rIns="0" bIns="0" rtlCol="0" anchor="ctr"/>
          <a:lstStyle/>
          <a:p>
            <a:pPr indent="0" marL="0">
              <a:lnSpc>
                <a:spcPct val="125000"/>
              </a:lnSpc>
              <a:buNone/>
            </a:pPr>
            <a:r>
              <a:rPr lang="en-US" sz="1250" dirty="0">
                <a:solidFill>
                  <a:srgbClr val="3C434B"/>
                </a:solidFill>
                <a:latin typeface="Segoe UI" pitchFamily="34" charset="0"/>
                <a:ea typeface="Segoe UI" pitchFamily="34" charset="-122"/>
                <a:cs typeface="Segoe UI" pitchFamily="34" charset="-120"/>
              </a:rPr>
              <a:t>Lá chắn chính: con số công bố là tỉ lệ ảo giác của bản sinh gốc, không phải con số gần 100% sau hiệu chỉnh. Bổ trợ: công cụ quyết định và công cụ chấm điểm khác nhau, kèm một bộ thẩm định khác họ.</a:t>
            </a:r>
            <a:endParaRPr lang="en-US" sz="1250" dirty="0"/>
          </a:p>
        </p:txBody>
      </p:sp>
      <p:sp>
        <p:nvSpPr>
          <p:cNvPr id="8" name="Shape 6"/>
          <p:cNvSpPr/>
          <p:nvPr/>
        </p:nvSpPr>
        <p:spPr>
          <a:xfrm>
            <a:off x="6309360" y="1965960"/>
            <a:ext cx="5029200" cy="2331720"/>
          </a:xfrm>
          <a:prstGeom prst="roundRect">
            <a:avLst>
              <a:gd name="adj" fmla="val 2353"/>
            </a:avLst>
          </a:prstGeom>
          <a:solidFill>
            <a:srgbClr val="F2E3E6"/>
          </a:solidFill>
          <a:ln w="12700">
            <a:solidFill>
              <a:srgbClr val="D7DCE1"/>
            </a:solidFill>
            <a:prstDash val="solid"/>
          </a:ln>
        </p:spPr>
      </p:sp>
      <p:sp>
        <p:nvSpPr>
          <p:cNvPr id="9" name="Text 7"/>
          <p:cNvSpPr/>
          <p:nvPr/>
        </p:nvSpPr>
        <p:spPr>
          <a:xfrm>
            <a:off x="6583680" y="2103120"/>
            <a:ext cx="4572000" cy="640080"/>
          </a:xfrm>
          <a:prstGeom prst="rect">
            <a:avLst/>
          </a:prstGeom>
          <a:noFill/>
          <a:ln/>
        </p:spPr>
        <p:txBody>
          <a:bodyPr wrap="square" lIns="0" tIns="0" rIns="0" bIns="0" rtlCol="0" anchor="ctr"/>
          <a:lstStyle/>
          <a:p>
            <a:pPr indent="0" marL="0">
              <a:buNone/>
            </a:pPr>
            <a:r>
              <a:rPr lang="en-US" sz="1500" b="1" dirty="0">
                <a:solidFill>
                  <a:srgbClr val="1C2530"/>
                </a:solidFill>
                <a:latin typeface="Cambria" pitchFamily="34" charset="0"/>
                <a:ea typeface="Cambria" pitchFamily="34" charset="-122"/>
                <a:cs typeface="Cambria" pitchFamily="34" charset="-120"/>
              </a:rPr>
              <a:t>Kiểm định độ nhạy bằng nhiễu loạn có kiểm soát</a:t>
            </a:r>
            <a:endParaRPr lang="en-US" sz="1500" dirty="0"/>
          </a:p>
        </p:txBody>
      </p:sp>
      <p:sp>
        <p:nvSpPr>
          <p:cNvPr id="10" name="Text 8"/>
          <p:cNvSpPr/>
          <p:nvPr/>
        </p:nvSpPr>
        <p:spPr>
          <a:xfrm>
            <a:off x="6583680" y="2743200"/>
            <a:ext cx="4572000" cy="1508760"/>
          </a:xfrm>
          <a:prstGeom prst="rect">
            <a:avLst/>
          </a:prstGeom>
          <a:noFill/>
          <a:ln/>
        </p:spPr>
        <p:txBody>
          <a:bodyPr wrap="square" lIns="0" tIns="0" rIns="0" bIns="0" rtlCol="0" anchor="ctr"/>
          <a:lstStyle/>
          <a:p>
            <a:pPr indent="0" marL="0">
              <a:lnSpc>
                <a:spcPct val="120000"/>
              </a:lnSpc>
              <a:buNone/>
            </a:pPr>
            <a:r>
              <a:rPr lang="en-US" sz="1150" dirty="0">
                <a:solidFill>
                  <a:srgbClr val="3C434B"/>
                </a:solidFill>
                <a:latin typeface="Segoe UI" pitchFamily="34" charset="0"/>
                <a:ea typeface="Segoe UI" pitchFamily="34" charset="-122"/>
                <a:cs typeface="Segoe UI" pitchFamily="34" charset="-120"/>
              </a:rPr>
              <a:t>Chèn lỗi đã biết vào hướng dẫn đúng rồi kiểm tra thước đo có phát hiện. Thêm nút không tồn tại thì độ trung thực phải giảm; thay tên đồng nghĩa thì độ trung thực giữ nguyên, độ đúng nhãn giảm. Đây là điều kiện cần (độ nhạy), chưa phải tương quan với đánh giá của con người. Tiền lệ: Sai et al., EMNLP 2021.</a:t>
            </a:r>
            <a:endParaRPr lang="en-US" sz="1150" dirty="0"/>
          </a:p>
        </p:txBody>
      </p:sp>
      <p:sp>
        <p:nvSpPr>
          <p:cNvPr id="11" name="Shape 9"/>
          <p:cNvSpPr/>
          <p:nvPr/>
        </p:nvSpPr>
        <p:spPr>
          <a:xfrm>
            <a:off x="822960" y="4480560"/>
            <a:ext cx="10543032" cy="1371600"/>
          </a:xfrm>
          <a:prstGeom prst="roundRect">
            <a:avLst>
              <a:gd name="adj" fmla="val 4000"/>
            </a:avLst>
          </a:prstGeom>
          <a:solidFill>
            <a:srgbClr val="F4F6F8"/>
          </a:solidFill>
          <a:ln/>
        </p:spPr>
      </p:sp>
      <p:sp>
        <p:nvSpPr>
          <p:cNvPr id="12" name="Text 10"/>
          <p:cNvSpPr/>
          <p:nvPr/>
        </p:nvSpPr>
        <p:spPr>
          <a:xfrm>
            <a:off x="1097280" y="4590288"/>
            <a:ext cx="10058400" cy="320040"/>
          </a:xfrm>
          <a:prstGeom prst="rect">
            <a:avLst/>
          </a:prstGeom>
          <a:noFill/>
          <a:ln/>
        </p:spPr>
        <p:txBody>
          <a:bodyPr wrap="square" lIns="0" tIns="0" rIns="0" bIns="0" rtlCol="0" anchor="ctr"/>
          <a:lstStyle/>
          <a:p>
            <a:pPr indent="0" marL="0">
              <a:buNone/>
            </a:pPr>
            <a:r>
              <a:rPr lang="en-US" sz="1350" b="1" dirty="0">
                <a:solidFill>
                  <a:srgbClr val="5B6B7A"/>
                </a:solidFill>
                <a:latin typeface="Segoe UI" pitchFamily="34" charset="0"/>
                <a:ea typeface="Segoe UI" pitchFamily="34" charset="-122"/>
                <a:cs typeface="Segoe UI" pitchFamily="34" charset="-120"/>
              </a:rPr>
              <a:t>Thiết kế thống kê</a:t>
            </a:r>
            <a:endParaRPr lang="en-US" sz="1350" dirty="0"/>
          </a:p>
        </p:txBody>
      </p:sp>
      <p:sp>
        <p:nvSpPr>
          <p:cNvPr id="13" name="Text 11"/>
          <p:cNvSpPr/>
          <p:nvPr/>
        </p:nvSpPr>
        <p:spPr>
          <a:xfrm>
            <a:off x="1097280" y="4937760"/>
            <a:ext cx="10332720" cy="914400"/>
          </a:xfrm>
          <a:prstGeom prst="rect">
            <a:avLst/>
          </a:prstGeom>
          <a:noFill/>
          <a:ln/>
        </p:spPr>
        <p:txBody>
          <a:bodyPr wrap="square" lIns="0" tIns="0" rIns="0" bIns="0" rtlCol="0" anchor="ctr"/>
          <a:lstStyle/>
          <a:p>
            <a:pPr indent="0" marL="0">
              <a:lnSpc>
                <a:spcPct val="125000"/>
              </a:lnSpc>
              <a:buNone/>
            </a:pPr>
            <a:r>
              <a:rPr lang="en-US" sz="1250" dirty="0">
                <a:solidFill>
                  <a:srgbClr val="3C434B"/>
                </a:solidFill>
                <a:latin typeface="Segoe UI" pitchFamily="34" charset="0"/>
                <a:ea typeface="Segoe UI" pitchFamily="34" charset="-122"/>
                <a:cs typeface="Segoe UI" pitchFamily="34" charset="-120"/>
              </a:rPr>
              <a:t>Tính khoảng tin cậy theo cụm ứng dụng (các màn cùng ứng dụng không độc lập) · khoảng tin cậy 95% · hiệu chỉnh đa kiểm định Holm · cố định hạt giống ngẫu nhiên · đăng ký giả thuyết và ngưỡng trước khi quan sát kết quả.</a:t>
            </a:r>
            <a:endParaRPr lang="en-US" sz="1250" dirty="0"/>
          </a:p>
        </p:txBody>
      </p:sp>
      <p:sp>
        <p:nvSpPr>
          <p:cNvPr id="14" name="Text 12"/>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KẾT QUẢ SƠ BỘ</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Số liệu ban đầu — nêu rõ phạm vi</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1965960"/>
            <a:ext cx="10543032" cy="1600200"/>
          </a:xfrm>
          <a:prstGeom prst="roundRect">
            <a:avLst>
              <a:gd name="adj" fmla="val 3429"/>
            </a:avLst>
          </a:prstGeom>
          <a:solidFill>
            <a:srgbClr val="F4F6F8"/>
          </a:solidFill>
          <a:ln/>
        </p:spPr>
      </p:sp>
      <p:sp>
        <p:nvSpPr>
          <p:cNvPr id="6" name="Text 4"/>
          <p:cNvSpPr/>
          <p:nvPr/>
        </p:nvSpPr>
        <p:spPr>
          <a:xfrm>
            <a:off x="1097280" y="2103120"/>
            <a:ext cx="10058400" cy="320040"/>
          </a:xfrm>
          <a:prstGeom prst="rect">
            <a:avLst/>
          </a:prstGeom>
          <a:noFill/>
          <a:ln/>
        </p:spPr>
        <p:txBody>
          <a:bodyPr wrap="square" lIns="0" tIns="0" rIns="0" bIns="0" rtlCol="0" anchor="ctr"/>
          <a:lstStyle/>
          <a:p>
            <a:pPr indent="0" marL="0">
              <a:buNone/>
            </a:pPr>
            <a:r>
              <a:rPr lang="en-US" sz="1550" b="1" dirty="0">
                <a:solidFill>
                  <a:srgbClr val="1C2530"/>
                </a:solidFill>
                <a:latin typeface="Cambria" pitchFamily="34" charset="0"/>
                <a:ea typeface="Cambria" pitchFamily="34" charset="-122"/>
                <a:cs typeface="Cambria" pitchFamily="34" charset="-120"/>
              </a:rPr>
              <a:t>Chạy thử trên mô hình gpt-4o-mini (nhánh một màn):</a:t>
            </a:r>
            <a:endParaRPr lang="en-US" sz="1550" dirty="0"/>
          </a:p>
        </p:txBody>
      </p:sp>
      <p:sp>
        <p:nvSpPr>
          <p:cNvPr id="7" name="Text 5"/>
          <p:cNvSpPr/>
          <p:nvPr/>
        </p:nvSpPr>
        <p:spPr>
          <a:xfrm>
            <a:off x="1097280" y="2487168"/>
            <a:ext cx="10332720" cy="1005840"/>
          </a:xfrm>
          <a:prstGeom prst="rect">
            <a:avLst/>
          </a:prstGeom>
          <a:noFill/>
          <a:ln/>
        </p:spPr>
        <p:txBody>
          <a:bodyPr wrap="square" lIns="0" tIns="0" rIns="0" bIns="0" rtlCol="0" anchor="ctr"/>
          <a:lstStyle/>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Tỉ lệ ảo giác của bản sinh gốc đáng kể — khoảng một phần tư số bước có tham chiếu nút.</a:t>
            </a:r>
            <a:endParaRPr lang="en-US" sz="1400" dirty="0"/>
          </a:p>
          <a:p>
            <a:pPr indent="0" marL="0">
              <a:lnSpc>
                <a:spcPct val="130000"/>
              </a:lnSpc>
              <a:buNone/>
            </a:pPr>
            <a:r>
              <a:rPr lang="en-US" sz="1400" dirty="0">
                <a:solidFill>
                  <a:srgbClr val="3C434B"/>
                </a:solidFill>
                <a:latin typeface="Segoe UI" pitchFamily="34" charset="0"/>
                <a:ea typeface="Segoe UI" pitchFamily="34" charset="-122"/>
                <a:cs typeface="Segoe UI" pitchFamily="34" charset="-120"/>
              </a:rPr>
              <a:t>•  Lớp đối chiếu nâng độ trung thực ở mọi ngưỡng; cái giá là khoảng 19% số bước chuyển sang mô tả khái quát.</a:t>
            </a:r>
            <a:endParaRPr lang="en-US" sz="1400" dirty="0"/>
          </a:p>
        </p:txBody>
      </p:sp>
      <p:sp>
        <p:nvSpPr>
          <p:cNvPr id="8" name="Shape 6"/>
          <p:cNvSpPr/>
          <p:nvPr/>
        </p:nvSpPr>
        <p:spPr>
          <a:xfrm>
            <a:off x="822960" y="3749040"/>
            <a:ext cx="10543032" cy="1097280"/>
          </a:xfrm>
          <a:prstGeom prst="roundRect">
            <a:avLst>
              <a:gd name="adj" fmla="val 5000"/>
            </a:avLst>
          </a:prstGeom>
          <a:solidFill>
            <a:srgbClr val="F2E3E6"/>
          </a:solidFill>
          <a:ln/>
        </p:spPr>
      </p:sp>
      <p:sp>
        <p:nvSpPr>
          <p:cNvPr id="9" name="Text 7"/>
          <p:cNvSpPr/>
          <p:nvPr/>
        </p:nvSpPr>
        <p:spPr>
          <a:xfrm>
            <a:off x="1097280" y="3858768"/>
            <a:ext cx="10058400" cy="320040"/>
          </a:xfrm>
          <a:prstGeom prst="rect">
            <a:avLst/>
          </a:prstGeom>
          <a:noFill/>
          <a:ln/>
        </p:spPr>
        <p:txBody>
          <a:bodyPr wrap="square" lIns="0" tIns="0" rIns="0" bIns="0" rtlCol="0" anchor="ctr"/>
          <a:lstStyle/>
          <a:p>
            <a:pPr indent="0" marL="0">
              <a:buNone/>
            </a:pPr>
            <a:r>
              <a:rPr lang="en-US" sz="1350" b="1" dirty="0">
                <a:solidFill>
                  <a:srgbClr val="8A2433"/>
                </a:solidFill>
                <a:latin typeface="Segoe UI" pitchFamily="34" charset="0"/>
                <a:ea typeface="Segoe UI" pitchFamily="34" charset="-122"/>
                <a:cs typeface="Segoe UI" pitchFamily="34" charset="-120"/>
              </a:rPr>
              <a:t>Phạm vi trung thực của con số</a:t>
            </a:r>
            <a:endParaRPr lang="en-US" sz="1350" dirty="0"/>
          </a:p>
        </p:txBody>
      </p:sp>
      <p:sp>
        <p:nvSpPr>
          <p:cNvPr id="10" name="Text 8"/>
          <p:cNvSpPr/>
          <p:nvPr/>
        </p:nvSpPr>
        <p:spPr>
          <a:xfrm>
            <a:off x="1097280" y="4187952"/>
            <a:ext cx="10332720" cy="594360"/>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Mẫu nhỏ · một mô hình · khoảng tin cậy còn chạm 0 → đang chạy bản chính trên hơn 80 màn của 17 ứng dụng, tính khoảng tin cậy theo cụm ứng dụng.</a:t>
            </a:r>
            <a:endParaRPr lang="en-US" sz="1350" dirty="0"/>
          </a:p>
        </p:txBody>
      </p:sp>
      <p:sp>
        <p:nvSpPr>
          <p:cNvPr id="11" name="Text 9"/>
          <p:cNvSpPr/>
          <p:nvPr/>
        </p:nvSpPr>
        <p:spPr>
          <a:xfrm>
            <a:off x="822960" y="5074920"/>
            <a:ext cx="10515600" cy="548640"/>
          </a:xfrm>
          <a:prstGeom prst="rect">
            <a:avLst/>
          </a:prstGeom>
          <a:noFill/>
          <a:ln/>
        </p:spPr>
        <p:txBody>
          <a:bodyPr wrap="square" lIns="0" tIns="0" rIns="0" bIns="0" rtlCol="0" anchor="ctr"/>
          <a:lstStyle/>
          <a:p>
            <a:pPr indent="0" marL="0">
              <a:lnSpc>
                <a:spcPct val="115000"/>
              </a:lnSpc>
              <a:buNone/>
            </a:pPr>
            <a:r>
              <a:rPr lang="en-US" sz="1300" i="1" dirty="0">
                <a:solidFill>
                  <a:srgbClr val="8A929B"/>
                </a:solidFill>
                <a:latin typeface="Segoe UI" pitchFamily="34" charset="0"/>
                <a:ea typeface="Segoe UI" pitchFamily="34" charset="-122"/>
                <a:cs typeface="Segoe UI" pitchFamily="34" charset="-120"/>
              </a:rPr>
              <a:t>Nhánh nhiều màn (độ đúng thứ tự và độ hoàn thành tác vụ) đang được triển khai. Buổi này trình thiết kế và kết quả sơ bộ; con số định lượng đầy đủ sẽ bổ sung.</a:t>
            </a:r>
            <a:endParaRPr lang="en-US" sz="1300" dirty="0"/>
          </a:p>
        </p:txBody>
      </p:sp>
      <p:sp>
        <p:nvSpPr>
          <p:cNvPr id="12" name="Text 10"/>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43032" cy="274320"/>
          </a:xfrm>
          <a:prstGeom prst="rect">
            <a:avLst/>
          </a:prstGeom>
          <a:noFill/>
          <a:ln/>
        </p:spPr>
        <p:txBody>
          <a:bodyPr wrap="square" lIns="0" tIns="0" rIns="0" bIns="0" rtlCol="0" anchor="ctr"/>
          <a:lstStyle/>
          <a:p>
            <a:pPr indent="0" marL="0">
              <a:buNone/>
            </a:pPr>
            <a:r>
              <a:rPr lang="en-US" sz="1200" b="1" spc="300" kern="0" dirty="0">
                <a:solidFill>
                  <a:srgbClr val="8A2433"/>
                </a:solidFill>
                <a:latin typeface="Segoe UI" pitchFamily="34" charset="0"/>
                <a:ea typeface="Segoe UI" pitchFamily="34" charset="-122"/>
                <a:cs typeface="Segoe UI" pitchFamily="34" charset="-120"/>
              </a:rPr>
              <a:t>TRUNG THỰC HỌC THUẬT</a:t>
            </a:r>
            <a:endParaRPr lang="en-US" sz="1200" dirty="0"/>
          </a:p>
        </p:txBody>
      </p:sp>
      <p:sp>
        <p:nvSpPr>
          <p:cNvPr id="3" name="Text 1"/>
          <p:cNvSpPr/>
          <p:nvPr/>
        </p:nvSpPr>
        <p:spPr>
          <a:xfrm>
            <a:off x="822960" y="822960"/>
            <a:ext cx="10543032" cy="822960"/>
          </a:xfrm>
          <a:prstGeom prst="rect">
            <a:avLst/>
          </a:prstGeom>
          <a:noFill/>
          <a:ln/>
        </p:spPr>
        <p:txBody>
          <a:bodyPr wrap="square" lIns="0" tIns="0" rIns="0" bIns="0" rtlCol="0" anchor="ctr"/>
          <a:lstStyle/>
          <a:p>
            <a:pPr indent="0" marL="0">
              <a:buNone/>
            </a:pPr>
            <a:r>
              <a:rPr lang="en-US" sz="2700" b="1" dirty="0">
                <a:solidFill>
                  <a:srgbClr val="1C2530"/>
                </a:solidFill>
                <a:latin typeface="Cambria" pitchFamily="34" charset="0"/>
                <a:ea typeface="Cambria" pitchFamily="34" charset="-122"/>
                <a:cs typeface="Cambria" pitchFamily="34" charset="-120"/>
              </a:rPr>
              <a:t>Giới hạn được nêu chủ động</a:t>
            </a:r>
            <a:endParaRPr lang="en-US" sz="2700" dirty="0"/>
          </a:p>
        </p:txBody>
      </p:sp>
      <p:sp>
        <p:nvSpPr>
          <p:cNvPr id="4" name="Shape 2"/>
          <p:cNvSpPr/>
          <p:nvPr/>
        </p:nvSpPr>
        <p:spPr>
          <a:xfrm>
            <a:off x="822960" y="1481328"/>
            <a:ext cx="640080" cy="45720"/>
          </a:xfrm>
          <a:prstGeom prst="rect">
            <a:avLst/>
          </a:prstGeom>
          <a:solidFill>
            <a:srgbClr val="8A2433"/>
          </a:solidFill>
          <a:ln/>
        </p:spPr>
      </p:sp>
      <p:sp>
        <p:nvSpPr>
          <p:cNvPr id="5" name="Shape 3"/>
          <p:cNvSpPr/>
          <p:nvPr/>
        </p:nvSpPr>
        <p:spPr>
          <a:xfrm>
            <a:off x="822960" y="2057400"/>
            <a:ext cx="54864" cy="621792"/>
          </a:xfrm>
          <a:prstGeom prst="rect">
            <a:avLst/>
          </a:prstGeom>
          <a:solidFill>
            <a:srgbClr val="5B6B7A"/>
          </a:solidFill>
          <a:ln/>
        </p:spPr>
      </p:sp>
      <p:sp>
        <p:nvSpPr>
          <p:cNvPr id="6" name="Text 4"/>
          <p:cNvSpPr/>
          <p:nvPr/>
        </p:nvSpPr>
        <p:spPr>
          <a:xfrm>
            <a:off x="1078992" y="2011680"/>
            <a:ext cx="10424160" cy="804672"/>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Nhánh một màn chỉ đo độ trung thực với giao diện, chưa đo mức đúng ý định; mức đúng ý định được đo ở nhánh nhiều màn qua độ hoàn thành tác vụ.</a:t>
            </a:r>
            <a:endParaRPr lang="en-US" sz="1350" dirty="0"/>
          </a:p>
        </p:txBody>
      </p:sp>
      <p:sp>
        <p:nvSpPr>
          <p:cNvPr id="7" name="Shape 5"/>
          <p:cNvSpPr/>
          <p:nvPr/>
        </p:nvSpPr>
        <p:spPr>
          <a:xfrm>
            <a:off x="822960" y="2898648"/>
            <a:ext cx="54864" cy="621792"/>
          </a:xfrm>
          <a:prstGeom prst="rect">
            <a:avLst/>
          </a:prstGeom>
          <a:solidFill>
            <a:srgbClr val="5B6B7A"/>
          </a:solidFill>
          <a:ln/>
        </p:spPr>
      </p:sp>
      <p:sp>
        <p:nvSpPr>
          <p:cNvPr id="8" name="Text 6"/>
          <p:cNvSpPr/>
          <p:nvPr/>
        </p:nvSpPr>
        <p:spPr>
          <a:xfrm>
            <a:off x="1078992" y="2852928"/>
            <a:ext cx="10424160" cy="804672"/>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Độ trung thực đạt gần 100% sau đối chiếu là trần do thiết kế; do đó báo cáo tỉ lệ ảo giác của bản sinh gốc và cái giá kèm theo (tỉ lệ bước phải chuyển sang mô tả khái quát).</a:t>
            </a:r>
            <a:endParaRPr lang="en-US" sz="1350" dirty="0"/>
          </a:p>
        </p:txBody>
      </p:sp>
      <p:sp>
        <p:nvSpPr>
          <p:cNvPr id="9" name="Shape 7"/>
          <p:cNvSpPr/>
          <p:nvPr/>
        </p:nvSpPr>
        <p:spPr>
          <a:xfrm>
            <a:off x="822960" y="3739896"/>
            <a:ext cx="54864" cy="621792"/>
          </a:xfrm>
          <a:prstGeom prst="rect">
            <a:avLst/>
          </a:prstGeom>
          <a:solidFill>
            <a:srgbClr val="5B6B7A"/>
          </a:solidFill>
          <a:ln/>
        </p:spPr>
      </p:sp>
      <p:sp>
        <p:nvSpPr>
          <p:cNvPr id="10" name="Text 8"/>
          <p:cNvSpPr/>
          <p:nvPr/>
        </p:nvSpPr>
        <p:spPr>
          <a:xfrm>
            <a:off x="1078992" y="3694176"/>
            <a:ext cx="10424160" cy="804672"/>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Danh sách nút thật có thể thiếu hoặc nhãn không đầy đủ (nút chỉ hiện sau khi cuộn, nhãn chung kiểu “Button”); các nút nhãn chung được loại khỏi mẫu số độ trung thực và độ phủ nhãn được đo, báo cáo để tránh phạt oan bước đúng.</a:t>
            </a:r>
            <a:endParaRPr lang="en-US" sz="1350" dirty="0"/>
          </a:p>
        </p:txBody>
      </p:sp>
      <p:sp>
        <p:nvSpPr>
          <p:cNvPr id="11" name="Shape 9"/>
          <p:cNvSpPr/>
          <p:nvPr/>
        </p:nvSpPr>
        <p:spPr>
          <a:xfrm>
            <a:off x="822960" y="4581144"/>
            <a:ext cx="54864" cy="621792"/>
          </a:xfrm>
          <a:prstGeom prst="rect">
            <a:avLst/>
          </a:prstGeom>
          <a:solidFill>
            <a:srgbClr val="5B6B7A"/>
          </a:solidFill>
          <a:ln/>
        </p:spPr>
      </p:sp>
      <p:sp>
        <p:nvSpPr>
          <p:cNvPr id="12" name="Text 10"/>
          <p:cNvSpPr/>
          <p:nvPr/>
        </p:nvSpPr>
        <p:spPr>
          <a:xfrm>
            <a:off x="1078992" y="4535424"/>
            <a:ext cx="10424160" cy="804672"/>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Triển khai từ ảnh đơn thuần cần bộ dò nút và chịu sai số; độ bao phủ được đo trước (điều kiện K1). Trên thiết bị, cây trợ năng do hệ điều hành cung cấp trực tiếp.</a:t>
            </a:r>
            <a:endParaRPr lang="en-US" sz="1350" dirty="0"/>
          </a:p>
        </p:txBody>
      </p:sp>
      <p:sp>
        <p:nvSpPr>
          <p:cNvPr id="13" name="Shape 11"/>
          <p:cNvSpPr/>
          <p:nvPr/>
        </p:nvSpPr>
        <p:spPr>
          <a:xfrm>
            <a:off x="822960" y="5422392"/>
            <a:ext cx="54864" cy="621792"/>
          </a:xfrm>
          <a:prstGeom prst="rect">
            <a:avLst/>
          </a:prstGeom>
          <a:solidFill>
            <a:srgbClr val="5B6B7A"/>
          </a:solidFill>
          <a:ln/>
        </p:spPr>
      </p:sp>
      <p:sp>
        <p:nvSpPr>
          <p:cNvPr id="14" name="Text 12"/>
          <p:cNvSpPr/>
          <p:nvPr/>
        </p:nvSpPr>
        <p:spPr>
          <a:xfrm>
            <a:off x="1078992" y="5376672"/>
            <a:ext cx="10424160" cy="804672"/>
          </a:xfrm>
          <a:prstGeom prst="rect">
            <a:avLst/>
          </a:prstGeom>
          <a:noFill/>
          <a:ln/>
        </p:spPr>
        <p:txBody>
          <a:bodyPr wrap="square" lIns="0" tIns="0" rIns="0" bIns="0" rtlCol="0" anchor="ctr"/>
          <a:lstStyle/>
          <a:p>
            <a:pPr indent="0" marL="0">
              <a:lnSpc>
                <a:spcPct val="115000"/>
              </a:lnSpc>
              <a:buNone/>
            </a:pPr>
            <a:r>
              <a:rPr lang="en-US" sz="1350" dirty="0">
                <a:solidFill>
                  <a:srgbClr val="3C434B"/>
                </a:solidFill>
                <a:latin typeface="Segoe UI" pitchFamily="34" charset="0"/>
                <a:ea typeface="Segoe UI" pitchFamily="34" charset="-122"/>
                <a:cs typeface="Segoe UI" pitchFamily="34" charset="-120"/>
              </a:rPr>
              <a:t>Chưa có bảng số định lượng tiếng Việt do thiếu dữ liệu chuẩn; phần định lượng chạy trên dữ liệu tiếng Anh, tiếng Việt dừng ở minh hoạ định tính.</a:t>
            </a:r>
            <a:endParaRPr lang="en-US" sz="1350" dirty="0"/>
          </a:p>
        </p:txBody>
      </p:sp>
      <p:sp>
        <p:nvSpPr>
          <p:cNvPr id="15" name="Text 13"/>
          <p:cNvSpPr/>
          <p:nvPr/>
        </p:nvSpPr>
        <p:spPr>
          <a:xfrm>
            <a:off x="11183112" y="6400800"/>
            <a:ext cx="640080" cy="274320"/>
          </a:xfrm>
          <a:prstGeom prst="rect">
            <a:avLst/>
          </a:prstGeom>
          <a:noFill/>
          <a:ln/>
        </p:spPr>
        <p:txBody>
          <a:bodyPr wrap="square" rtlCol="0" anchor="ctr"/>
          <a:lstStyle/>
          <a:p>
            <a:pPr algn="r" indent="0" marL="0">
              <a:buNone/>
            </a:pPr>
            <a:r>
              <a:rPr lang="en-US" sz="1000" dirty="0">
                <a:solidFill>
                  <a:srgbClr val="8A929B"/>
                </a:solidFill>
                <a:latin typeface="Segoe UI" pitchFamily="34" charset="0"/>
                <a:ea typeface="Segoe UI" pitchFamily="34" charset="-122"/>
                <a:cs typeface="Segoe U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822960" y="2103120"/>
            <a:ext cx="822960" cy="73152"/>
          </a:xfrm>
          <a:prstGeom prst="rect">
            <a:avLst/>
          </a:prstGeom>
          <a:solidFill>
            <a:srgbClr val="8A2433"/>
          </a:solidFill>
          <a:ln/>
        </p:spPr>
      </p:sp>
      <p:sp>
        <p:nvSpPr>
          <p:cNvPr id="3" name="Text 1"/>
          <p:cNvSpPr/>
          <p:nvPr/>
        </p:nvSpPr>
        <p:spPr>
          <a:xfrm>
            <a:off x="822960" y="2286000"/>
            <a:ext cx="10058400" cy="365760"/>
          </a:xfrm>
          <a:prstGeom prst="rect">
            <a:avLst/>
          </a:prstGeom>
          <a:noFill/>
          <a:ln/>
        </p:spPr>
        <p:txBody>
          <a:bodyPr wrap="square" rtlCol="0" anchor="ctr"/>
          <a:lstStyle/>
          <a:p>
            <a:pPr indent="0" marL="0">
              <a:buNone/>
            </a:pPr>
            <a:r>
              <a:rPr lang="en-US" sz="1300" b="1" spc="300" kern="0" dirty="0">
                <a:solidFill>
                  <a:srgbClr val="E7B6BF"/>
                </a:solidFill>
                <a:latin typeface="Segoe UI" pitchFamily="34" charset="0"/>
                <a:ea typeface="Segoe UI" pitchFamily="34" charset="-122"/>
                <a:cs typeface="Segoe UI" pitchFamily="34" charset="-120"/>
              </a:rPr>
              <a:t>KẾT LUẬN</a:t>
            </a:r>
            <a:endParaRPr lang="en-US" sz="1300" dirty="0"/>
          </a:p>
        </p:txBody>
      </p:sp>
      <p:sp>
        <p:nvSpPr>
          <p:cNvPr id="4" name="Text 2"/>
          <p:cNvSpPr/>
          <p:nvPr/>
        </p:nvSpPr>
        <p:spPr>
          <a:xfrm>
            <a:off x="822960" y="2697480"/>
            <a:ext cx="10515600" cy="1463040"/>
          </a:xfrm>
          <a:prstGeom prst="rect">
            <a:avLst/>
          </a:prstGeom>
          <a:noFill/>
          <a:ln/>
        </p:spPr>
        <p:txBody>
          <a:bodyPr wrap="square" rtlCol="0" anchor="ctr"/>
          <a:lstStyle/>
          <a:p>
            <a:pPr indent="0" marL="0">
              <a:lnSpc>
                <a:spcPct val="115000"/>
              </a:lnSpc>
              <a:buNone/>
            </a:pPr>
            <a:r>
              <a:rPr lang="en-US" sz="2200" b="1" dirty="0">
                <a:solidFill>
                  <a:srgbClr val="FFFFFF"/>
                </a:solidFill>
                <a:latin typeface="Cambria" pitchFamily="34" charset="0"/>
                <a:ea typeface="Cambria" pitchFamily="34" charset="-122"/>
                <a:cs typeface="Cambria" pitchFamily="34" charset="-120"/>
              </a:rPr>
              <a:t>Trong điều kiện không có bản hướng dẫn mẫu, luận văn neo vào danh sách nút thật do nền tảng cung cấp — chỉ dùng khi đánh giá, không cung cấp cho mô hình khi sinh.</a:t>
            </a:r>
            <a:endParaRPr lang="en-US" sz="2200" dirty="0"/>
          </a:p>
        </p:txBody>
      </p:sp>
      <p:sp>
        <p:nvSpPr>
          <p:cNvPr id="5" name="Text 3"/>
          <p:cNvSpPr/>
          <p:nvPr/>
        </p:nvSpPr>
        <p:spPr>
          <a:xfrm>
            <a:off x="822960" y="4434840"/>
            <a:ext cx="10515600" cy="1280160"/>
          </a:xfrm>
          <a:prstGeom prst="rect">
            <a:avLst/>
          </a:prstGeom>
          <a:noFill/>
          <a:ln/>
        </p:spPr>
        <p:txBody>
          <a:bodyPr wrap="square" rtlCol="0" anchor="ctr"/>
          <a:lstStyle/>
          <a:p>
            <a:pPr indent="0" marL="0">
              <a:lnSpc>
                <a:spcPct val="130000"/>
              </a:lnSpc>
              <a:buNone/>
            </a:pPr>
            <a:r>
              <a:rPr lang="en-US" sz="1600" dirty="0">
                <a:solidFill>
                  <a:srgbClr val="C9D0D7"/>
                </a:solidFill>
                <a:latin typeface="Segoe UI" pitchFamily="34" charset="0"/>
                <a:ea typeface="Segoe UI" pitchFamily="34" charset="-122"/>
                <a:cs typeface="Segoe UI" pitchFamily="34" charset="-120"/>
              </a:rPr>
              <a:t>Hai đóng góp song song: một hệ thống sinh hướng dẫn giảm ảo giác giao diện, và một phương pháp đánh giá độc lập với công cụ sinh, tự kiểm định độ nhạy và nêu rõ giới hạn.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tu dong huong dan su dung phan mem</dc:title>
  <dc:subject>PptxGenJS Presentation</dc:subject>
  <dc:creator>Luan van thac si</dc:creator>
  <cp:lastModifiedBy>Luan van thac si</cp:lastModifiedBy>
  <cp:revision>1</cp:revision>
  <dcterms:created xsi:type="dcterms:W3CDTF">2026-07-01T12:31:26Z</dcterms:created>
  <dcterms:modified xsi:type="dcterms:W3CDTF">2026-07-01T12:31:26Z</dcterms:modified>
</cp:coreProperties>
</file>