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Vào là một ảnh màn hình cộng một câu hỏi, ra là các bước để người tự làm theo.
Khác biệt cốt lõi so với mọi mô hình giao diện khác: chúng sinh thao tác để máy tự bấm (toạ độ, mã lệnh), ở đây sinh câu chữ cho con người đọc.
Cái khó nằm ở chỗ chấm: không có bộ hướng dẫn chuẩn do người soạn, mà thuê người chấm thì tốn kém và khó lặp lại. Đây là lý do luận văn có hai phần ngang nhau: mô hình, và cách chấm.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Chỗ này cho thấy cách làm việc. Sau góp ý của thầy là cần một mô hình tự huấn luyện chứ không chỉ prompting, hướng đầu tiên nghĩ tới là: mô hình lớn hay bịa tên nút, nên lọc bịa rồi dạy mô hình nhỏ, coi đó là đóng góp.
Nhưng kiểm trước bằng cách đọc tay 80 màn do gpt-4o-mini sinh: nó gần như không bịa, chỉ 0 tới 2%. Trong 40 ca tưởng là bịa thì 35 ca là nút có thật mà View Hierarchy bỏ sót nhãn, phần lớn là nút hình như dấu cộng, dấu tích.
Vì vậy bỏ hẳn khung lọc bịa, chuyển trục chính sang đo độ đúng. Sẵn sàng bỏ một khung đã dày công dựng khi số liệu nói nó sai, đó là tinh thần muốn giữ suốt luận văn.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luồng nối tiếp nhau. Một là dạy: mỗi bước trong AndroidControl cho một cặp gồm ảnh màn hình của bước đó cộng mục tiêu, đáp án là câu hướng dẫn người thật đã viết. Train Qwen2.5-VL-3B bằng QLoRA, tức fine-tune nhẹ chạy được trên một GPU thuê rẻ.
Hai là lúc chạy thật: người dùng chỉ đưa một ảnh cộng một câu hỏi. Không cần View Hierarchy, không cần đáp án, nên dùng được ngoài đời vì điện thoại nào cũng có ảnh màn hình.
Ba là chấm, phần có chất mới nhất, nói kỹ ở slide sau.
Nguyên tắc chống ăn gian: View Hierarchy và đáp án chỉ vào lúc dạy và lúc chấm. App test tách hẳn khỏi app train, nên làm đúng trên app lạ nghĩa là học được kỹ năng thật chứ không học thuộc.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Qwen2.5-VL-3B vì bốn ràng buộc: phải là mô hình mở để tự huấn luyện được và chạy offline; phải nhỏ để train nổi trên Colab thuê, bản 3B với QLoRA vừa một GPU 24GB; phải đọc được ảnh giao diện dày chữ, Qwen xử lý ảnh phân giải cao; và đã có tiền lệ ngay trên miền giao diện, như UI-R1 ở AAAI 2026 hay ZonUI ở WACV 2026 đều dựng trên Qwen 3B.
Nếu thầy hỏi 3B nhỏ vậy có gì mới: chọn 3B không phải điểm mới, mô hình giao diện nhỏ đã đông. Cái mới nằm ở tác vụ và ở cách đánh giá.
Hai phép so cần phân định rõ. Kết luận chính đặt ở phép so với bản huấn luyện thường, vì cùng gốc cùng dữ liệu chỉ khác một yếu tố nên sạch. Phép so với gpt-4o-mini chỉ để minh hoạ, vì mô hình mình train ngay trên AndroidControl nên thuộc cả cách chia bước của bộ đó, có lợi thế cấu trúc ngoài chất lượng.
Một bẫy tránh: không dạy bằng đầu ra của gpt-4o rồi lại lấy chính gpt-4o làm mốc để vượt, vì học từ ai thì cùng lắm bằng người đó. Nên tín hiệu dạy là câu người viết.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lõi của đóng góp mô hình, nên nói kỹ.
Vấn đề: câu người viết trong bộ dữ liệu trung vị chỉ 6 từ, gần nửa dưới 5 từ, có câu hỏng hẳn. Mô hình học bắt chước nên học đúng giọng cụt đó, tự chặn trần của chính nó. Số đo: câu cộc lốc trỏ trúng 35%, câu tả rõ phần tử trỏ trúng 69%.
Cách làm: đích huấn luyện có hai tầng. Mô hình phải sinh trước bộ mô tả có cấu trúc gồm vai trò, chữ hoặc hình, vị trí, dấu hiệu phân biệt, rồi mới sinh câu. Nhãn tầng mô tả dựng tự động từ hộp phần tử tại đúng điểm người thật chạm, cộng chữ đọc được trong hộp, nút hình thì mô tả bằng cách cắt ảnh. Không cần người gán, không cần mô hình đóng.
Cơ chế: mô hình sinh chữ theo thứ tự, mỗi chữ sinh ra thành ngữ cảnh cho chữ sau. Khi bắt nó nêu tên và vị trí trước, tới lúc viết câu thì thông tin định danh đã nằm trong ngữ cảnh do chính nó tạo ra, nên không viết được câu cụt nữa.
Vì sao là đóng góp mô hình chứ không phải dữ liệu: đây là thứ duy nhất trong các phương án làm mô hình lúc chạy hành xử khác. Các phương án khác chỉ đổi dữ liệu rồi huấn luyện như thường.
Rủi ro phải nói trước: tầng mô tả cần tên phần tử, mà cây trợ năng chỉ 12,6% có tên và bộ đọc chữ không đọc được nút hình thuần. Nên việc đầu tiên là đo chất lượng tầng giữa trên mẫu soi tay, trước khi tiêu tiền.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tự nói: phần KHÔNG mới trước, phần mới sau. Nói trước thì thành thẳng thắn, để hội đồng phát hiện thì thành nói quá.
Phần không mới: lập dàn ý rồi viết có từ lâu trong sinh văn bản; ý câu phải đủ để bên kia lần ra đúng chỗ đã bị dòng sinh biểu thức quy chiếu chiếm từ 2016, kể cả ở tầng huấn luyện; khoanh dấu rồi nhờ mô hình lớn viết mô tả đã có trong chính miền giao diện ở một hội nghị lớn 2025; mô hình 3 tỉ tham số cho giao diện thì đã đông.
Phần mới, ba chỗ. Một, đưa thông tin định danh vào mục tiêu huấn luyện chứ không chỉ vào đầu vào. Đây là chỗ có bằng chứng cứng nhất: bài Widget Captioning ở EMNLP 2020 đã nêu rõ vấn đề hai biểu tượng kính lúp giống nhau nên ngữ cảnh là thiết yếu, nhưng họ chỉ đưa ngữ cảnh vào đầu vào, hàm mất mát vẫn là cross entropy thuần, không có gì ép câu phải phân biệt được. Hai, nguồn giám sát tầng giữa rút tự động từ toạ độ người thật chạm, không cần người gán và không cần mô hình đóng. Ba, dùng câu hướng dẫn người viết làm đích sinh, trong khi mọi công trình dùng bộ dữ liệu này đều để nó ở đầu vào.
Nếu bị hỏi sao không đưa bộ trỏ vào vòng huấn luyện như một bài 2017 đã làm: vì bộ trỏ cũng chính là thước chấm, đưa vào thành tự chấm. Đây là lựa chọn có chủ đích.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trỏ là một mô hình chuyên: đưa nó một ảnh và một câu như "chạm nút tìm kiếm", nó chỉ ra điểm x y nên chạm. Dùng nó như một người dùng máy móc làm theo hướng dẫn.
Ví dụ trong ảnh: câu "invert the lens", bộ trỏ chấm một điểm rơi đúng vào nút lật camera. Sai lệch phải nằm trong dung sai 14% cạnh màn, đây là ngưỡng chuẩn của AITW ở NeurIPS 2023.
Tính chất quan trọng nhất: thước không chấm theo câu chữ, nên "funnel icon" hay "Filter button" viết khác nhau mà cùng trỏ trúng thì đều đúng. Quan trọng vì mô hình học trên gold hay nói giọng gold, nếu chấm theo chữ thì nó được thưởng oan.
Nhưng phải nói thật là bộ trỏ chưa miễn nhiễm với giọng văn: đo trên 76 câu thì câu ngắn trúng 35%, câu dài trúng 69%, tương quan 0.327. Nên phép so chính đặt ở hai mô hình cùng giọng, tức bản huấn luyện thường với bản có thành phần thêm.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bằng chứng cứng nhất tới giờ, và cũng là chỗ phải nói cho thật.
Cách chấm rộng tay là chấm theo đĩa dung sai 151 pixel: trần 51.3, sàn 6.6, chênh 44.7. Từng lo sàn cao làm hiệu số bị nén, đo ra thì ngược lại, sàn chỉ 6.6 vì một màn có khoảng 24 vùng chữ, đoán bừa mà trúng đúng cái nút cần thì hiếm.
Nhưng khi siết lại bằng cách chấm theo nút gần nhất, tức chỉ tính trúng khi nút đúng là nút gần điểm chấm nhất, thì chênh sụp còn 30.3 nếu lấy danh sách nút bằng OCR, và còn 13.2 nếu lấy bằng bộ dò phần tử OmniParser bắt được cả nút hình.
Nên 44.7 là cận trên lạc quan, không đem khoe. 13.2 là cận dưới bi quan, vì bộ trỏ đang dùng là loại rẻ và bộ dò đếm cả chữ không bấm được. Dải thật nằm giữa 13 và 45, tuỳ độ chính xác của bộ trỏ. Chính vì vậy Cổng A là điểm sống còn: bộ trỏ chuyên chính xác thì giữ được dải, bộ trỏ yếu thì sụp.
Hai con số dưới: 63% số bước có nút khác trong dung sai, đây là chuyện khác với sàn, nó nói cách chấm rộng tay còn dễ dãi. Và 0.34 là điểm của cách đo đầu tiên bằng so chữ, cần từ 0.80 nên đã tự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cả những chỗ còn hở, không giấu.
Một, thước không phân biệt được bật với tắt vì công tắc nằm cùng một toạ độ. Xử bằng cách kiểm thêm trạng thái đích, hoặc nói rõ giới hạn kèm tỉ lệ bước là công tắc.
Hai, chỉ khoảng 53% số bước là chạm, phần còn lại là gõ và cuộn, chấm bằng cách so nội dung chứ không có bộ trỏ bảo chứng, nên báo tách hai con số.
Ba, đây là chỗ đáng lo nhất: giả định bộ trỏ trúng thì người làm theo được vẫn chưa kiểm. Đúng kiểu sai lầm đã giết cách đo trước, tức tin mà chưa kiểm. Nên đưa hẳn khảo sát 91 cặp với người thật vào cổng, bộ chấm đã dựng sẵn trong harness, tự chấm được, miễn phí.
Bốn, bản AndroidControl công khai không kèm toạ độ từng nút, nên phải lấy bằng bộ dò phần tử rồi đo độ phủ trước khi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cổng go no go, chạy trước khi tiêu tiền huấn luyện, chỉ chạy mô hình nên rẻ. Notebook đã dựng sẵn.
Cổng A: bộ trỏ chuyên phải trúng khoảng 80% khi lần vị trí từ câu đúng, và ngưỡng đó phải tính theo cách chấm nút gần nhất chứ không phải đĩa dung sai. Chọn UGround chứ không phải OS-Atlas, vì OS-Atlas train thẳng trên AndroidControl nên nhiễm, còn UGround train trên ảnh web nên sang mobile là zero-shot.
Một việc mới nhận ra là quan trọng: nguyên tắc app chưa từng thấy chỉ bảo vệ mô hình học trò, không bảo vệ bộ trỏ. Bộ trỏ có thể đã thấy chính màn test. Nên trước khi chấm phải đối chiếu danh sách app của bộ trỏ với 631 episode test và loại app trùng.
Cổng B: đo mô hình nền yếu ở đâu để chọn thành phần cho đúng chỗ.
Nhẹ gánh cho Cổng A: cái luận văn cần là hiệu số giữa hai mô hình đo qua cùng một bộ trỏ, lỗi bộ trỏ phần lớn triệt tiêu trong hiệu số, nhưng chỉ đúng khi hai mô hình cùng giọng.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lại: một hướng đã kiểm được bằng số, còn năm điểm chỉ thầy quyết được.
Một, khung hai phần và phần nào là chính. Hai, chấm tự động thay chấm người. Ba, kịch bản hoà thì có đủ bảo vệ không. Bốn, định vị sau GuideMe. Lưu ý là bỏ hẳn chữ đầu tiên, vì cách đánh giá kiểu sinh câu rồi cho mô hình khác trỏ vùng đã có tiền lệ từ Mao ở CVPR 2016, phải phân định chứ không nhận là mới hoàn toàn. Năm, đã đủ tầm luận văn thạc sĩ chưa.
Đây là những chuyện không đo bằng số được, cần thầy định hướng trước khi lên Colab tiêu tiền.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1371600"/>
            <a:ext cx="10058400" cy="365760"/>
          </a:xfrm>
          <a:prstGeom prst="rect">
            <a:avLst/>
          </a:prstGeom>
          <a:noFill/>
          <a:ln/>
        </p:spPr>
        <p:txBody>
          <a:bodyPr wrap="square" lIns="0" tIns="0" rIns="0" bIns="0" rtlCol="0" anchor="t"/>
          <a:lstStyle/>
          <a:p>
            <a:pPr algn="l" indent="0" marL="0">
              <a:buNone/>
            </a:pPr>
            <a:r>
              <a:rPr lang="en-US" sz="1300" b="1" spc="250" kern="0" dirty="0">
                <a:solidFill>
                  <a:srgbClr val="E4A986"/>
                </a:solidFill>
                <a:latin typeface="Segoe UI" pitchFamily="34" charset="0"/>
                <a:ea typeface="Segoe UI" pitchFamily="34" charset="-122"/>
                <a:cs typeface="Segoe UI" pitchFamily="34" charset="-120"/>
              </a:rPr>
              <a:t>LUẬN VĂN THẠC SĨ · BÁO CÁO TIẾN ĐỘ</a:t>
            </a:r>
            <a:endParaRPr lang="en-US" sz="1300" dirty="0"/>
          </a:p>
        </p:txBody>
      </p:sp>
      <p:sp>
        <p:nvSpPr>
          <p:cNvPr id="3" name="Text 1"/>
          <p:cNvSpPr/>
          <p:nvPr/>
        </p:nvSpPr>
        <p:spPr>
          <a:xfrm>
            <a:off x="822960" y="1965960"/>
            <a:ext cx="8778240" cy="1737360"/>
          </a:xfrm>
          <a:prstGeom prst="rect">
            <a:avLst/>
          </a:prstGeom>
          <a:noFill/>
          <a:ln/>
        </p:spPr>
        <p:txBody>
          <a:bodyPr wrap="square" lIns="0" tIns="0" rIns="0" bIns="0" rtlCol="0" anchor="t"/>
          <a:lstStyle/>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Sinh hướng dẫn sử dụng</a:t>
            </a:r>
            <a:endParaRPr lang="en-US" sz="3400" dirty="0"/>
          </a:p>
          <a:p>
            <a:pPr algn="l" indent="0" marL="0">
              <a:lnSpc>
                <a:spcPct val="108000"/>
              </a:lnSpc>
              <a:buNone/>
            </a:pPr>
            <a:r>
              <a:rPr lang="en-US" sz="3400" b="1" dirty="0">
                <a:solidFill>
                  <a:srgbClr val="FFFFFF"/>
                </a:solidFill>
                <a:latin typeface="Cambria" pitchFamily="34" charset="0"/>
                <a:ea typeface="Cambria" pitchFamily="34" charset="-122"/>
                <a:cs typeface="Cambria" pitchFamily="34" charset="-120"/>
              </a:rPr>
              <a:t>phần mềm cho người đọc</a:t>
            </a:r>
            <a:endParaRPr lang="en-US" sz="3400" dirty="0"/>
          </a:p>
        </p:txBody>
      </p:sp>
      <p:sp>
        <p:nvSpPr>
          <p:cNvPr id="4" name="Text 2"/>
          <p:cNvSpPr/>
          <p:nvPr/>
        </p:nvSpPr>
        <p:spPr>
          <a:xfrm>
            <a:off x="841248" y="3931920"/>
            <a:ext cx="8595360" cy="548640"/>
          </a:xfrm>
          <a:prstGeom prst="rect">
            <a:avLst/>
          </a:prstGeom>
          <a:noFill/>
          <a:ln/>
        </p:spPr>
        <p:txBody>
          <a:bodyPr wrap="square" lIns="0" tIns="0" rIns="0" bIns="0" rtlCol="0" anchor="t"/>
          <a:lstStyle/>
          <a:p>
            <a:pPr algn="l" indent="0" marL="0">
              <a:buNone/>
            </a:pPr>
            <a:r>
              <a:rPr lang="en-US" sz="1600" i="1" dirty="0">
                <a:solidFill>
                  <a:srgbClr val="C9D2DC"/>
                </a:solidFill>
                <a:latin typeface="Cambria" pitchFamily="34" charset="0"/>
                <a:ea typeface="Cambria" pitchFamily="34" charset="-122"/>
                <a:cs typeface="Cambria" pitchFamily="34" charset="-120"/>
              </a:rPr>
              <a:t>Một ảnh màn hình, một câu hỏi, trả về các bước để người tự làm theo</a:t>
            </a:r>
            <a:endParaRPr lang="en-US" sz="1600" dirty="0"/>
          </a:p>
        </p:txBody>
      </p:sp>
      <p:sp>
        <p:nvSpPr>
          <p:cNvPr id="5" name="Text 3"/>
          <p:cNvSpPr/>
          <p:nvPr/>
        </p:nvSpPr>
        <p:spPr>
          <a:xfrm>
            <a:off x="841248" y="5989320"/>
            <a:ext cx="10058400" cy="365760"/>
          </a:xfrm>
          <a:prstGeom prst="rect">
            <a:avLst/>
          </a:prstGeom>
          <a:noFill/>
          <a:ln/>
        </p:spPr>
        <p:txBody>
          <a:bodyPr wrap="square" lIns="0" tIns="0" rIns="0" bIns="0" rtlCol="0" anchor="t"/>
          <a:lstStyle/>
          <a:p>
            <a:pPr algn="l" indent="0" marL="0">
              <a:buNone/>
            </a:pPr>
            <a:r>
              <a:rPr lang="en-US" sz="1300" dirty="0">
                <a:solidFill>
                  <a:srgbClr val="8FA0B2"/>
                </a:solidFill>
                <a:latin typeface="Segoe UI" pitchFamily="34" charset="0"/>
                <a:ea typeface="Segoe UI" pitchFamily="34" charset="-122"/>
                <a:cs typeface="Segoe UI" pitchFamily="34" charset="-120"/>
              </a:rPr>
              <a:t>Học viên · · · · ·        Giảng viên hướng dẫn · · · · ·        2026</a:t>
            </a:r>
            <a:endParaRPr lang="en-US" sz="1300" dirty="0"/>
          </a:p>
        </p:txBody>
      </p:sp>
      <p:sp>
        <p:nvSpPr>
          <p:cNvPr id="6" name="Shape 4"/>
          <p:cNvSpPr/>
          <p:nvPr/>
        </p:nvSpPr>
        <p:spPr>
          <a:xfrm>
            <a:off x="9537192" y="1719072"/>
            <a:ext cx="1865376" cy="3191256"/>
          </a:xfrm>
          <a:prstGeom prst="roundRect">
            <a:avLst>
              <a:gd name="adj" fmla="val 3431"/>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7" name="Image 0" descr="_img/real_mv_1.png">    </p:cNvPr>
          <p:cNvPicPr>
            <a:picLocks noChangeAspect="1"/>
          </p:cNvPicPr>
          <p:nvPr/>
        </p:nvPicPr>
        <p:blipFill>
          <a:blip r:embed="rId1"/>
          <a:srcRect l="0" r="0" t="0" b="0"/>
          <a:stretch/>
        </p:blipFill>
        <p:spPr>
          <a:xfrm>
            <a:off x="9601200" y="1783080"/>
            <a:ext cx="1737360" cy="3063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BÀI TOÁN</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Một màn hình, một câu hỏi, các bước cho người làm theo</a:t>
            </a:r>
            <a:endParaRPr lang="en-US" sz="2700" dirty="0"/>
          </a:p>
        </p:txBody>
      </p:sp>
      <p:sp>
        <p:nvSpPr>
          <p:cNvPr id="4" name="Shape 2"/>
          <p:cNvSpPr/>
          <p:nvPr/>
        </p:nvSpPr>
        <p:spPr>
          <a:xfrm>
            <a:off x="777240" y="2130552"/>
            <a:ext cx="2368296" cy="3968496"/>
          </a:xfrm>
          <a:prstGeom prst="roundRect">
            <a:avLst>
              <a:gd name="adj" fmla="val 2703"/>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mv_2.png">    </p:cNvPr>
          <p:cNvPicPr>
            <a:picLocks noChangeAspect="1"/>
          </p:cNvPicPr>
          <p:nvPr/>
        </p:nvPicPr>
        <p:blipFill>
          <a:blip r:embed="rId1"/>
          <a:srcRect l="0" r="0" t="0" b="0"/>
          <a:stretch/>
        </p:blipFill>
        <p:spPr>
          <a:xfrm>
            <a:off x="841248" y="2194560"/>
            <a:ext cx="2240280" cy="3840480"/>
          </a:xfrm>
          <a:prstGeom prst="rect">
            <a:avLst/>
          </a:prstGeom>
        </p:spPr>
      </p:pic>
      <p:sp>
        <p:nvSpPr>
          <p:cNvPr id="6" name="Shape 3"/>
          <p:cNvSpPr/>
          <p:nvPr/>
        </p:nvSpPr>
        <p:spPr>
          <a:xfrm>
            <a:off x="3566160" y="2240280"/>
            <a:ext cx="7772400" cy="1325880"/>
          </a:xfrm>
          <a:prstGeom prst="roundRect">
            <a:avLst>
              <a:gd name="adj" fmla="val 6897"/>
            </a:avLst>
          </a:prstGeom>
          <a:solidFill>
            <a:srgbClr val="F7EBE3"/>
          </a:solidFill>
          <a:ln/>
        </p:spPr>
      </p:sp>
      <p:sp>
        <p:nvSpPr>
          <p:cNvPr id="7" name="Text 4"/>
          <p:cNvSpPr/>
          <p:nvPr/>
        </p:nvSpPr>
        <p:spPr>
          <a:xfrm>
            <a:off x="3840480" y="2286000"/>
            <a:ext cx="7315200" cy="548640"/>
          </a:xfrm>
          <a:prstGeom prst="rect">
            <a:avLst/>
          </a:prstGeom>
          <a:noFill/>
          <a:ln/>
        </p:spPr>
        <p:txBody>
          <a:bodyPr wrap="square" lIns="0" tIns="0" rIns="0" bIns="0" rtlCol="0" anchor="ctr"/>
          <a:lstStyle/>
          <a:p>
            <a:pPr algn="l" indent="0" marL="0">
              <a:buNone/>
            </a:pPr>
            <a:r>
              <a:rPr lang="en-US" sz="1600" b="1" dirty="0">
                <a:solidFill>
                  <a:srgbClr val="BE5A2E"/>
                </a:solidFill>
                <a:latin typeface="Segoe UI" pitchFamily="34" charset="0"/>
                <a:ea typeface="Segoe UI" pitchFamily="34" charset="-122"/>
                <a:cs typeface="Segoe UI" pitchFamily="34" charset="-120"/>
              </a:rPr>
              <a:t>Hỏi:  </a:t>
            </a:r>
            <a:pPr algn="l" indent="0" marL="0">
              <a:buNone/>
            </a:pPr>
            <a:r>
              <a:rPr lang="en-US" sz="1600" i="1" dirty="0">
                <a:solidFill>
                  <a:srgbClr val="1D2733"/>
                </a:solidFill>
                <a:latin typeface="Segoe UI" pitchFamily="34" charset="0"/>
                <a:ea typeface="Segoe UI" pitchFamily="34" charset="-122"/>
                <a:cs typeface="Segoe UI" pitchFamily="34" charset="-120"/>
              </a:rPr>
              <a:t>“Làm sao thêm một việc mới rồi lưu lại?”</a:t>
            </a:r>
            <a:endParaRPr lang="en-US" sz="1600" dirty="0"/>
          </a:p>
        </p:txBody>
      </p:sp>
      <p:sp>
        <p:nvSpPr>
          <p:cNvPr id="8" name="Text 5"/>
          <p:cNvSpPr/>
          <p:nvPr/>
        </p:nvSpPr>
        <p:spPr>
          <a:xfrm>
            <a:off x="3840480" y="2834640"/>
            <a:ext cx="7315200" cy="640080"/>
          </a:xfrm>
          <a:prstGeom prst="rect">
            <a:avLst/>
          </a:prstGeom>
          <a:noFill/>
          <a:ln/>
        </p:spPr>
        <p:txBody>
          <a:bodyPr wrap="square" lIns="0" tIns="0" rIns="0" bIns="0" rtlCol="0" anchor="ctr"/>
          <a:lstStyle/>
          <a:p>
            <a:pPr algn="l" indent="0" marL="0">
              <a:buNone/>
            </a:pPr>
            <a:r>
              <a:rPr lang="en-US" sz="1400" b="1" dirty="0">
                <a:solidFill>
                  <a:srgbClr val="52657A"/>
                </a:solidFill>
                <a:latin typeface="Segoe UI" pitchFamily="34" charset="0"/>
                <a:ea typeface="Segoe UI" pitchFamily="34" charset="-122"/>
                <a:cs typeface="Segoe UI" pitchFamily="34" charset="-120"/>
              </a:rPr>
              <a:t>Đáp:  </a:t>
            </a:r>
            <a:pPr algn="l" indent="0" marL="0">
              <a:buNone/>
            </a:pPr>
            <a:r>
              <a:rPr lang="en-US" sz="1400" dirty="0">
                <a:solidFill>
                  <a:srgbClr val="454C55"/>
                </a:solidFill>
                <a:latin typeface="Segoe UI" pitchFamily="34" charset="0"/>
                <a:ea typeface="Segoe UI" pitchFamily="34" charset="-122"/>
                <a:cs typeface="Segoe UI" pitchFamily="34" charset="-120"/>
              </a:rPr>
              <a:t>1. Nhập tên việc   2. Điền số giờ   3. Chạm SAVE &amp; ADD ANOTHER</a:t>
            </a:r>
            <a:endParaRPr lang="en-US" sz="1400" dirty="0"/>
          </a:p>
        </p:txBody>
      </p:sp>
      <p:sp>
        <p:nvSpPr>
          <p:cNvPr id="9" name="Shape 6"/>
          <p:cNvSpPr/>
          <p:nvPr/>
        </p:nvSpPr>
        <p:spPr>
          <a:xfrm>
            <a:off x="3566160" y="3794760"/>
            <a:ext cx="7772400" cy="777240"/>
          </a:xfrm>
          <a:prstGeom prst="roundRect">
            <a:avLst>
              <a:gd name="adj" fmla="val 11765"/>
            </a:avLst>
          </a:prstGeom>
          <a:solidFill>
            <a:srgbClr val="F3F5F7"/>
          </a:solidFill>
          <a:ln/>
        </p:spPr>
      </p:sp>
      <p:sp>
        <p:nvSpPr>
          <p:cNvPr id="10" name="Text 7"/>
          <p:cNvSpPr/>
          <p:nvPr/>
        </p:nvSpPr>
        <p:spPr>
          <a:xfrm>
            <a:off x="3840480" y="3794760"/>
            <a:ext cx="7223760" cy="777240"/>
          </a:xfrm>
          <a:prstGeom prst="rect">
            <a:avLst/>
          </a:prstGeom>
          <a:noFill/>
          <a:ln/>
        </p:spPr>
        <p:txBody>
          <a:bodyPr wrap="square" lIns="0" tIns="0" rIns="0" bIns="0" rtlCol="0" anchor="ctr"/>
          <a:lstStyle/>
          <a:p>
            <a:pPr algn="l" indent="0" marL="0">
              <a:lnSpc>
                <a:spcPct val="125000"/>
              </a:lnSpc>
              <a:buNone/>
            </a:pPr>
            <a:r>
              <a:rPr lang="en-US" sz="1350" b="1" dirty="0">
                <a:solidFill>
                  <a:srgbClr val="1D2733"/>
                </a:solidFill>
                <a:latin typeface="Segoe UI" pitchFamily="34" charset="0"/>
                <a:ea typeface="Segoe UI" pitchFamily="34" charset="-122"/>
                <a:cs typeface="Segoe UI" pitchFamily="34" charset="-120"/>
              </a:rPr>
              <a:t>Chỗ khác với các mô hình giao diện đang có:  </a:t>
            </a:r>
            <a:pPr algn="l" indent="0" marL="0">
              <a:lnSpc>
                <a:spcPct val="125000"/>
              </a:lnSpc>
              <a:buNone/>
            </a:pPr>
            <a:r>
              <a:rPr lang="en-US" sz="1350" dirty="0">
                <a:solidFill>
                  <a:srgbClr val="454C55"/>
                </a:solidFill>
                <a:latin typeface="Segoe UI" pitchFamily="34" charset="0"/>
                <a:ea typeface="Segoe UI" pitchFamily="34" charset="-122"/>
                <a:cs typeface="Segoe UI" pitchFamily="34" charset="-120"/>
              </a:rPr>
              <a:t>chúng sinh thao tác để máy tự bấm, ở đây sinh câu cho người đọc.</a:t>
            </a:r>
            <a:endParaRPr lang="en-US" sz="1350" dirty="0"/>
          </a:p>
        </p:txBody>
      </p:sp>
      <p:sp>
        <p:nvSpPr>
          <p:cNvPr id="11" name="Text 8"/>
          <p:cNvSpPr/>
          <p:nvPr/>
        </p:nvSpPr>
        <p:spPr>
          <a:xfrm>
            <a:off x="3566160" y="4754880"/>
            <a:ext cx="7772400" cy="411480"/>
          </a:xfrm>
          <a:prstGeom prst="rect">
            <a:avLst/>
          </a:prstGeom>
          <a:noFill/>
          <a:ln/>
        </p:spPr>
        <p:txBody>
          <a:bodyPr wrap="square" lIns="0" tIns="0" rIns="0" bIns="0" rtlCol="0" anchor="t"/>
          <a:lstStyle/>
          <a:p>
            <a:pPr algn="l" indent="0" marL="0">
              <a:buNone/>
            </a:pPr>
            <a:r>
              <a:rPr lang="en-US" sz="1700" b="1" dirty="0">
                <a:solidFill>
                  <a:srgbClr val="1D2733"/>
                </a:solidFill>
                <a:latin typeface="Cambria" pitchFamily="34" charset="0"/>
                <a:ea typeface="Cambria" pitchFamily="34" charset="-122"/>
                <a:cs typeface="Cambria" pitchFamily="34" charset="-120"/>
              </a:rPr>
              <a:t>Khó không nằm ở chỗ sinh câu, mà ở chỗ CHẤM</a:t>
            </a:r>
            <a:endParaRPr lang="en-US" sz="1700" dirty="0"/>
          </a:p>
        </p:txBody>
      </p:sp>
      <p:sp>
        <p:nvSpPr>
          <p:cNvPr id="12" name="Shape 9"/>
          <p:cNvSpPr/>
          <p:nvPr/>
        </p:nvSpPr>
        <p:spPr>
          <a:xfrm>
            <a:off x="3566160" y="5230368"/>
            <a:ext cx="3794760" cy="822960"/>
          </a:xfrm>
          <a:prstGeom prst="roundRect">
            <a:avLst>
              <a:gd name="adj" fmla="val 10000"/>
            </a:avLst>
          </a:prstGeom>
          <a:solidFill>
            <a:srgbClr val="FFFFFF"/>
          </a:solidFill>
          <a:ln w="12700">
            <a:solidFill>
              <a:srgbClr val="DBE0E6"/>
            </a:solidFill>
            <a:prstDash val="solid"/>
          </a:ln>
        </p:spPr>
      </p:sp>
      <p:sp>
        <p:nvSpPr>
          <p:cNvPr id="13" name="Text 10"/>
          <p:cNvSpPr/>
          <p:nvPr/>
        </p:nvSpPr>
        <p:spPr>
          <a:xfrm>
            <a:off x="3794760" y="5230368"/>
            <a:ext cx="3383280" cy="822960"/>
          </a:xfrm>
          <a:prstGeom prst="rect">
            <a:avLst/>
          </a:prstGeom>
          <a:noFill/>
          <a:ln/>
        </p:spPr>
        <p:txBody>
          <a:bodyPr wrap="square" lIns="0" tIns="0" rIns="0" bIns="0" rtlCol="0" anchor="ctr"/>
          <a:lstStyle/>
          <a:p>
            <a:pPr algn="l" indent="0" marL="0">
              <a:lnSpc>
                <a:spcPct val="130000"/>
              </a:lnSpc>
              <a:buNone/>
            </a:pPr>
            <a:r>
              <a:rPr lang="en-US" sz="1300" dirty="0">
                <a:solidFill>
                  <a:srgbClr val="454C55"/>
                </a:solidFill>
                <a:latin typeface="Segoe UI" pitchFamily="34" charset="0"/>
                <a:ea typeface="Segoe UI" pitchFamily="34" charset="-122"/>
                <a:cs typeface="Segoe UI" pitchFamily="34" charset="-120"/>
              </a:rPr>
              <a:t>Không có bộ hướng dẫn mẫu</a:t>
            </a:r>
            <a:endParaRPr lang="en-US" sz="1300" dirty="0"/>
          </a:p>
          <a:p>
            <a:pPr algn="l" indent="0" marL="0">
              <a:lnSpc>
                <a:spcPct val="130000"/>
              </a:lnSpc>
              <a:buNone/>
            </a:pPr>
            <a:r>
              <a:rPr lang="en-US" sz="1300" dirty="0">
                <a:solidFill>
                  <a:srgbClr val="454C55"/>
                </a:solidFill>
                <a:latin typeface="Segoe UI" pitchFamily="34" charset="0"/>
                <a:ea typeface="Segoe UI" pitchFamily="34" charset="-122"/>
                <a:cs typeface="Segoe UI" pitchFamily="34" charset="-120"/>
              </a:rPr>
              <a:t>nào để đối chiếu.</a:t>
            </a:r>
            <a:endParaRPr lang="en-US" sz="1300" dirty="0"/>
          </a:p>
        </p:txBody>
      </p:sp>
      <p:sp>
        <p:nvSpPr>
          <p:cNvPr id="14" name="Shape 11"/>
          <p:cNvSpPr/>
          <p:nvPr/>
        </p:nvSpPr>
        <p:spPr>
          <a:xfrm>
            <a:off x="7543800" y="5230368"/>
            <a:ext cx="3794760" cy="822960"/>
          </a:xfrm>
          <a:prstGeom prst="roundRect">
            <a:avLst>
              <a:gd name="adj" fmla="val 10000"/>
            </a:avLst>
          </a:prstGeom>
          <a:solidFill>
            <a:srgbClr val="FFFFFF"/>
          </a:solidFill>
          <a:ln w="12700">
            <a:solidFill>
              <a:srgbClr val="DBE0E6"/>
            </a:solidFill>
            <a:prstDash val="solid"/>
          </a:ln>
        </p:spPr>
      </p:sp>
      <p:sp>
        <p:nvSpPr>
          <p:cNvPr id="15" name="Text 12"/>
          <p:cNvSpPr/>
          <p:nvPr/>
        </p:nvSpPr>
        <p:spPr>
          <a:xfrm>
            <a:off x="7772400" y="5230368"/>
            <a:ext cx="3383280" cy="822960"/>
          </a:xfrm>
          <a:prstGeom prst="rect">
            <a:avLst/>
          </a:prstGeom>
          <a:noFill/>
          <a:ln/>
        </p:spPr>
        <p:txBody>
          <a:bodyPr wrap="square" lIns="0" tIns="0" rIns="0" bIns="0" rtlCol="0" anchor="ctr"/>
          <a:lstStyle/>
          <a:p>
            <a:pPr algn="l" indent="0" marL="0">
              <a:lnSpc>
                <a:spcPct val="130000"/>
              </a:lnSpc>
              <a:buNone/>
            </a:pPr>
            <a:r>
              <a:rPr lang="en-US" sz="1300" dirty="0">
                <a:solidFill>
                  <a:srgbClr val="454C55"/>
                </a:solidFill>
                <a:latin typeface="Segoe UI" pitchFamily="34" charset="0"/>
                <a:ea typeface="Segoe UI" pitchFamily="34" charset="-122"/>
                <a:cs typeface="Segoe UI" pitchFamily="34" charset="-120"/>
              </a:rPr>
              <a:t>Thuê người ngồi chấm thì</a:t>
            </a:r>
            <a:endParaRPr lang="en-US" sz="1300" dirty="0"/>
          </a:p>
          <a:p>
            <a:pPr algn="l" indent="0" marL="0">
              <a:lnSpc>
                <a:spcPct val="130000"/>
              </a:lnSpc>
              <a:buNone/>
            </a:pPr>
            <a:r>
              <a:rPr lang="en-US" sz="1300" dirty="0">
                <a:solidFill>
                  <a:srgbClr val="454C55"/>
                </a:solidFill>
                <a:latin typeface="Segoe UI" pitchFamily="34" charset="0"/>
                <a:ea typeface="Segoe UI" pitchFamily="34" charset="-122"/>
                <a:cs typeface="Segoe UI" pitchFamily="34" charset="-120"/>
              </a:rPr>
              <a:t>tốn và khó lặp lại.</a:t>
            </a:r>
            <a:endParaRPr lang="en-US" sz="1300" dirty="0"/>
          </a:p>
        </p:txBody>
      </p:sp>
      <p:sp>
        <p:nvSpPr>
          <p:cNvPr id="17" name="Text 1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VÌ SAO TRỤC CHÍNH LÀ ĐO ĐỘ ĐÚNG</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Hướng đầu tiên bị chính số liệu bác bỏ</a:t>
            </a:r>
            <a:endParaRPr lang="en-US" sz="2700" dirty="0"/>
          </a:p>
        </p:txBody>
      </p:sp>
      <p:sp>
        <p:nvSpPr>
          <p:cNvPr id="4" name="Shape 2"/>
          <p:cNvSpPr/>
          <p:nvPr/>
        </p:nvSpPr>
        <p:spPr>
          <a:xfrm>
            <a:off x="841248" y="2240280"/>
            <a:ext cx="4846320" cy="2743200"/>
          </a:xfrm>
          <a:prstGeom prst="roundRect">
            <a:avLst>
              <a:gd name="adj" fmla="val 3333"/>
            </a:avLst>
          </a:prstGeom>
          <a:solidFill>
            <a:srgbClr val="F3F5F7"/>
          </a:solidFill>
          <a:ln/>
        </p:spPr>
      </p:sp>
      <p:sp>
        <p:nvSpPr>
          <p:cNvPr id="5" name="Text 3"/>
          <p:cNvSpPr/>
          <p:nvPr/>
        </p:nvSpPr>
        <p:spPr>
          <a:xfrm>
            <a:off x="1115568" y="2423160"/>
            <a:ext cx="4297680" cy="365760"/>
          </a:xfrm>
          <a:prstGeom prst="rect">
            <a:avLst/>
          </a:prstGeom>
          <a:noFill/>
          <a:ln/>
        </p:spPr>
        <p:txBody>
          <a:bodyPr wrap="square" lIns="0" tIns="0" rIns="0" bIns="0" rtlCol="0" anchor="t"/>
          <a:lstStyle/>
          <a:p>
            <a:pPr algn="l" indent="0" marL="0">
              <a:buNone/>
            </a:pPr>
            <a:r>
              <a:rPr lang="en-US" sz="1500" b="1" dirty="0">
                <a:solidFill>
                  <a:srgbClr val="8B929B"/>
                </a:solidFill>
                <a:latin typeface="Cambria" pitchFamily="34" charset="0"/>
                <a:ea typeface="Cambria" pitchFamily="34" charset="-122"/>
                <a:cs typeface="Cambria" pitchFamily="34" charset="-120"/>
              </a:rPr>
              <a:t>Nghĩ ban đầu</a:t>
            </a:r>
            <a:endParaRPr lang="en-US" sz="1500" dirty="0"/>
          </a:p>
        </p:txBody>
      </p:sp>
      <p:sp>
        <p:nvSpPr>
          <p:cNvPr id="6" name="Text 4"/>
          <p:cNvSpPr/>
          <p:nvPr/>
        </p:nvSpPr>
        <p:spPr>
          <a:xfrm>
            <a:off x="1115568" y="2834640"/>
            <a:ext cx="4297680" cy="1920240"/>
          </a:xfrm>
          <a:prstGeom prst="rect">
            <a:avLst/>
          </a:prstGeom>
          <a:noFill/>
          <a:ln/>
        </p:spPr>
        <p:txBody>
          <a:bodyPr wrap="square" lIns="0" tIns="0" rIns="0" bIns="0" rtlCol="0" anchor="t"/>
          <a:lstStyle/>
          <a:p>
            <a:pPr algn="l" indent="0" marL="0">
              <a:lnSpc>
                <a:spcPct val="140000"/>
              </a:lnSpc>
              <a:buNone/>
            </a:pPr>
            <a:r>
              <a:rPr lang="en-US" sz="1350" dirty="0">
                <a:solidFill>
                  <a:srgbClr val="454C55"/>
                </a:solidFill>
                <a:latin typeface="Segoe UI" pitchFamily="34" charset="0"/>
                <a:ea typeface="Segoe UI" pitchFamily="34" charset="-122"/>
                <a:cs typeface="Segoe UI" pitchFamily="34" charset="-120"/>
              </a:rPr>
              <a:t>Mô hình lớn hay bịa tên nút.</a:t>
            </a:r>
            <a:endParaRPr lang="en-US" sz="1350" dirty="0"/>
          </a:p>
          <a:p>
            <a:pPr algn="l" indent="0" marL="0">
              <a:lnSpc>
                <a:spcPct val="140000"/>
              </a:lnSpc>
              <a:buNone/>
            </a:pPr>
            <a:r>
              <a:rPr lang="en-US" sz="1350" dirty="0">
                <a:solidFill>
                  <a:srgbClr val="454C55"/>
                </a:solidFill>
                <a:latin typeface="Segoe UI" pitchFamily="34" charset="0"/>
                <a:ea typeface="Segoe UI" pitchFamily="34" charset="-122"/>
                <a:cs typeface="Segoe UI" pitchFamily="34" charset="-120"/>
              </a:rPr>
              <a:t>Lọc bỏ chỗ bịa rồi dạy mô hình</a:t>
            </a:r>
            <a:endParaRPr lang="en-US" sz="1350" dirty="0"/>
          </a:p>
          <a:p>
            <a:pPr algn="l" indent="0" marL="0">
              <a:lnSpc>
                <a:spcPct val="140000"/>
              </a:lnSpc>
              <a:buNone/>
            </a:pPr>
            <a:r>
              <a:rPr lang="en-US" sz="1350" dirty="0">
                <a:solidFill>
                  <a:srgbClr val="454C55"/>
                </a:solidFill>
                <a:latin typeface="Segoe UI" pitchFamily="34" charset="0"/>
                <a:ea typeface="Segoe UI" pitchFamily="34" charset="-122"/>
                <a:cs typeface="Segoe UI" pitchFamily="34" charset="-120"/>
              </a:rPr>
              <a:t>nhỏ, nó sẽ trung thực hơn.</a:t>
            </a:r>
            <a:endParaRPr lang="en-US" sz="1350" dirty="0"/>
          </a:p>
          <a:p>
            <a:pPr algn="l" indent="0" marL="0">
              <a:lnSpc>
                <a:spcPct val="140000"/>
              </a:lnSpc>
              <a:buNone/>
            </a:pPr>
            <a:endParaRPr lang="en-US" sz="1350" dirty="0"/>
          </a:p>
          <a:p>
            <a:pPr algn="l" indent="0" marL="0">
              <a:lnSpc>
                <a:spcPct val="140000"/>
              </a:lnSpc>
              <a:buNone/>
            </a:pPr>
            <a:r>
              <a:rPr lang="en-US" sz="1350" dirty="0">
                <a:solidFill>
                  <a:srgbClr val="454C55"/>
                </a:solidFill>
                <a:latin typeface="Segoe UI" pitchFamily="34" charset="0"/>
                <a:ea typeface="Segoe UI" pitchFamily="34" charset="-122"/>
                <a:cs typeface="Segoe UI" pitchFamily="34" charset="-120"/>
              </a:rPr>
              <a:t>Xem việc lọc đó là đóng góp.</a:t>
            </a:r>
            <a:endParaRPr lang="en-US" sz="1350" dirty="0"/>
          </a:p>
        </p:txBody>
      </p:sp>
      <p:sp>
        <p:nvSpPr>
          <p:cNvPr id="7" name="Shape 5"/>
          <p:cNvSpPr/>
          <p:nvPr/>
        </p:nvSpPr>
        <p:spPr>
          <a:xfrm>
            <a:off x="5897880" y="3611880"/>
            <a:ext cx="548640" cy="0"/>
          </a:xfrm>
          <a:prstGeom prst="line">
            <a:avLst/>
          </a:prstGeom>
          <a:noFill/>
          <a:ln w="31750">
            <a:solidFill>
              <a:srgbClr val="BE5A2E"/>
            </a:solidFill>
            <a:prstDash val="solid"/>
            <a:tailEnd type="triangle"/>
          </a:ln>
        </p:spPr>
      </p:sp>
      <p:sp>
        <p:nvSpPr>
          <p:cNvPr id="8" name="Shape 6"/>
          <p:cNvSpPr/>
          <p:nvPr/>
        </p:nvSpPr>
        <p:spPr>
          <a:xfrm>
            <a:off x="6629400" y="2240280"/>
            <a:ext cx="4709160" cy="2743200"/>
          </a:xfrm>
          <a:prstGeom prst="roundRect">
            <a:avLst>
              <a:gd name="adj" fmla="val 3333"/>
            </a:avLst>
          </a:prstGeom>
          <a:solidFill>
            <a:srgbClr val="F7EBE3"/>
          </a:solidFill>
          <a:ln/>
        </p:spPr>
      </p:sp>
      <p:sp>
        <p:nvSpPr>
          <p:cNvPr id="9" name="Text 7"/>
          <p:cNvSpPr/>
          <p:nvPr/>
        </p:nvSpPr>
        <p:spPr>
          <a:xfrm>
            <a:off x="6903720" y="2423160"/>
            <a:ext cx="4114800" cy="365760"/>
          </a:xfrm>
          <a:prstGeom prst="rect">
            <a:avLst/>
          </a:prstGeom>
          <a:noFill/>
          <a:ln/>
        </p:spPr>
        <p:txBody>
          <a:bodyPr wrap="square" lIns="0" tIns="0" rIns="0" bIns="0" rtlCol="0" anchor="t"/>
          <a:lstStyle/>
          <a:p>
            <a:pPr algn="l" indent="0" marL="0">
              <a:buNone/>
            </a:pPr>
            <a:r>
              <a:rPr lang="en-US" sz="1500" b="1" dirty="0">
                <a:solidFill>
                  <a:srgbClr val="BE5A2E"/>
                </a:solidFill>
                <a:latin typeface="Cambria" pitchFamily="34" charset="0"/>
                <a:ea typeface="Cambria" pitchFamily="34" charset="-122"/>
                <a:cs typeface="Cambria" pitchFamily="34" charset="-120"/>
              </a:rPr>
              <a:t>Đọc tay 80 màn để kiểm</a:t>
            </a:r>
            <a:endParaRPr lang="en-US" sz="1500" dirty="0"/>
          </a:p>
        </p:txBody>
      </p:sp>
      <p:sp>
        <p:nvSpPr>
          <p:cNvPr id="10" name="Text 8"/>
          <p:cNvSpPr/>
          <p:nvPr/>
        </p:nvSpPr>
        <p:spPr>
          <a:xfrm>
            <a:off x="6903720" y="2834640"/>
            <a:ext cx="4114800" cy="1920240"/>
          </a:xfrm>
          <a:prstGeom prst="rect">
            <a:avLst/>
          </a:prstGeom>
          <a:noFill/>
          <a:ln/>
        </p:spPr>
        <p:txBody>
          <a:bodyPr wrap="square" lIns="0" tIns="0" rIns="0" bIns="0" rtlCol="0" anchor="t"/>
          <a:lstStyle/>
          <a:p>
            <a:pPr algn="l" indent="0" marL="0">
              <a:lnSpc>
                <a:spcPct val="140000"/>
              </a:lnSpc>
              <a:buNone/>
            </a:pPr>
            <a:r>
              <a:rPr lang="en-US" sz="1350" dirty="0">
                <a:solidFill>
                  <a:srgbClr val="1D2733"/>
                </a:solidFill>
                <a:latin typeface="Segoe UI" pitchFamily="34" charset="0"/>
                <a:ea typeface="Segoe UI" pitchFamily="34" charset="-122"/>
                <a:cs typeface="Segoe UI" pitchFamily="34" charset="-120"/>
              </a:rPr>
              <a:t>Mô hình gần như không bịa,</a:t>
            </a:r>
            <a:endParaRPr lang="en-US" sz="1350" dirty="0"/>
          </a:p>
          <a:p>
            <a:pPr algn="l" indent="0" marL="0">
              <a:lnSpc>
                <a:spcPct val="140000"/>
              </a:lnSpc>
              <a:buNone/>
            </a:pPr>
            <a:r>
              <a:rPr lang="en-US" sz="1350" dirty="0">
                <a:solidFill>
                  <a:srgbClr val="1D2733"/>
                </a:solidFill>
                <a:latin typeface="Segoe UI" pitchFamily="34" charset="0"/>
                <a:ea typeface="Segoe UI" pitchFamily="34" charset="-122"/>
                <a:cs typeface="Segoe UI" pitchFamily="34" charset="-120"/>
              </a:rPr>
              <a:t>chỉ 0 tới 2%.</a:t>
            </a:r>
            <a:endParaRPr lang="en-US" sz="1350" dirty="0"/>
          </a:p>
          <a:p>
            <a:pPr algn="l" indent="0" marL="0">
              <a:lnSpc>
                <a:spcPct val="140000"/>
              </a:lnSpc>
              <a:buNone/>
            </a:pPr>
            <a:endParaRPr lang="en-US" sz="1350" dirty="0"/>
          </a:p>
          <a:p>
            <a:pPr algn="l" indent="0" marL="0">
              <a:lnSpc>
                <a:spcPct val="140000"/>
              </a:lnSpc>
              <a:buNone/>
            </a:pPr>
            <a:r>
              <a:rPr lang="en-US" sz="1350" dirty="0">
                <a:solidFill>
                  <a:srgbClr val="1D2733"/>
                </a:solidFill>
                <a:latin typeface="Segoe UI" pitchFamily="34" charset="0"/>
                <a:ea typeface="Segoe UI" pitchFamily="34" charset="-122"/>
                <a:cs typeface="Segoe UI" pitchFamily="34" charset="-120"/>
              </a:rPr>
              <a:t>Chỗ tưởng bịa hoá ra là nút có</a:t>
            </a:r>
            <a:endParaRPr lang="en-US" sz="1350" dirty="0"/>
          </a:p>
          <a:p>
            <a:pPr algn="l" indent="0" marL="0">
              <a:lnSpc>
                <a:spcPct val="140000"/>
              </a:lnSpc>
              <a:buNone/>
            </a:pPr>
            <a:r>
              <a:rPr lang="en-US" sz="1350" dirty="0">
                <a:solidFill>
                  <a:srgbClr val="1D2733"/>
                </a:solidFill>
                <a:latin typeface="Segoe UI" pitchFamily="34" charset="0"/>
                <a:ea typeface="Segoe UI" pitchFamily="34" charset="-122"/>
                <a:cs typeface="Segoe UI" pitchFamily="34" charset="-120"/>
              </a:rPr>
              <a:t>thật, chỉ do danh sách nút của</a:t>
            </a:r>
            <a:endParaRPr lang="en-US" sz="1350" dirty="0"/>
          </a:p>
          <a:p>
            <a:pPr algn="l" indent="0" marL="0">
              <a:lnSpc>
                <a:spcPct val="140000"/>
              </a:lnSpc>
              <a:buNone/>
            </a:pPr>
            <a:r>
              <a:rPr lang="en-US" sz="1350" dirty="0">
                <a:solidFill>
                  <a:srgbClr val="1D2733"/>
                </a:solidFill>
                <a:latin typeface="Segoe UI" pitchFamily="34" charset="0"/>
                <a:ea typeface="Segoe UI" pitchFamily="34" charset="-122"/>
                <a:cs typeface="Segoe UI" pitchFamily="34" charset="-120"/>
              </a:rPr>
              <a:t>Android bỏ sót nhãn.</a:t>
            </a:r>
            <a:endParaRPr lang="en-US" sz="1350" dirty="0"/>
          </a:p>
        </p:txBody>
      </p:sp>
      <p:sp>
        <p:nvSpPr>
          <p:cNvPr id="11" name="Shape 9"/>
          <p:cNvSpPr/>
          <p:nvPr/>
        </p:nvSpPr>
        <p:spPr>
          <a:xfrm>
            <a:off x="841248" y="5257800"/>
            <a:ext cx="10506456" cy="914400"/>
          </a:xfrm>
          <a:prstGeom prst="roundRect">
            <a:avLst>
              <a:gd name="adj" fmla="val 10000"/>
            </a:avLst>
          </a:prstGeom>
          <a:solidFill>
            <a:srgbClr val="17233B"/>
          </a:solidFill>
          <a:ln/>
        </p:spPr>
      </p:sp>
      <p:sp>
        <p:nvSpPr>
          <p:cNvPr id="12" name="Text 10"/>
          <p:cNvSpPr/>
          <p:nvPr/>
        </p:nvSpPr>
        <p:spPr>
          <a:xfrm>
            <a:off x="1115568" y="5257800"/>
            <a:ext cx="9957816" cy="914400"/>
          </a:xfrm>
          <a:prstGeom prst="rect">
            <a:avLst/>
          </a:prstGeom>
          <a:noFill/>
          <a:ln/>
        </p:spPr>
        <p:txBody>
          <a:bodyPr wrap="square" lIns="0" tIns="0" rIns="0" bIns="0" rtlCol="0" anchor="ctr"/>
          <a:lstStyle/>
          <a:p>
            <a:pPr algn="l" indent="0" marL="0">
              <a:lnSpc>
                <a:spcPct val="130000"/>
              </a:lnSpc>
              <a:buNone/>
            </a:pPr>
            <a:r>
              <a:rPr lang="en-US" sz="1400" b="1" dirty="0">
                <a:solidFill>
                  <a:srgbClr val="F0C9A8"/>
                </a:solidFill>
                <a:latin typeface="Segoe UI" pitchFamily="34" charset="0"/>
                <a:ea typeface="Segoe UI" pitchFamily="34" charset="-122"/>
                <a:cs typeface="Segoe UI" pitchFamily="34" charset="-120"/>
              </a:rPr>
              <a:t>Nên đổi:  </a:t>
            </a:r>
            <a:pPr algn="l" indent="0" marL="0">
              <a:lnSpc>
                <a:spcPct val="130000"/>
              </a:lnSpc>
              <a:buNone/>
            </a:pPr>
            <a:r>
              <a:rPr lang="en-US" sz="1400" dirty="0">
                <a:solidFill>
                  <a:srgbClr val="FFFFFF"/>
                </a:solidFill>
                <a:latin typeface="Segoe UI" pitchFamily="34" charset="0"/>
                <a:ea typeface="Segoe UI" pitchFamily="34" charset="-122"/>
                <a:cs typeface="Segoe UI" pitchFamily="34" charset="-120"/>
              </a:rPr>
              <a:t>không còn gì để lọc, nên bỏ hướng chống bịa. Mô hình tự huấn luyện vẫn là trung tâm, nhưng trục chính chuyển sang đo độ ĐÚNG: hướng dẫn có dẫn tới đúng nút cần bấm hay không.</a:t>
            </a:r>
            <a:endParaRPr lang="en-US" sz="1400" dirty="0"/>
          </a:p>
        </p:txBody>
      </p:sp>
      <p:sp>
        <p:nvSpPr>
          <p:cNvPr id="14" name="Text 1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HỆ THỐNG CHẠY THẾ NÀO</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Ba luồng: dạy, chạy thật, và chấm</a:t>
            </a:r>
            <a:endParaRPr lang="en-US" sz="2700" dirty="0"/>
          </a:p>
        </p:txBody>
      </p:sp>
      <p:sp>
        <p:nvSpPr>
          <p:cNvPr id="4" name="Shape 2"/>
          <p:cNvSpPr/>
          <p:nvPr/>
        </p:nvSpPr>
        <p:spPr>
          <a:xfrm>
            <a:off x="841248" y="2240280"/>
            <a:ext cx="3383280" cy="2606040"/>
          </a:xfrm>
          <a:prstGeom prst="roundRect">
            <a:avLst>
              <a:gd name="adj" fmla="val 3509"/>
            </a:avLst>
          </a:prstGeom>
          <a:solidFill>
            <a:srgbClr val="F3F5F7"/>
          </a:solidFill>
          <a:ln/>
        </p:spPr>
      </p:sp>
      <p:sp>
        <p:nvSpPr>
          <p:cNvPr id="5" name="Text 3"/>
          <p:cNvSpPr/>
          <p:nvPr/>
        </p:nvSpPr>
        <p:spPr>
          <a:xfrm>
            <a:off x="1069848" y="2423160"/>
            <a:ext cx="3017520" cy="365760"/>
          </a:xfrm>
          <a:prstGeom prst="rect">
            <a:avLst/>
          </a:prstGeom>
          <a:noFill/>
          <a:ln/>
        </p:spPr>
        <p:txBody>
          <a:bodyPr wrap="square" lIns="0" tIns="0" rIns="0" bIns="0" rtlCol="0" anchor="t"/>
          <a:lstStyle/>
          <a:p>
            <a:pPr algn="l" indent="0" marL="0">
              <a:buNone/>
            </a:pPr>
            <a:r>
              <a:rPr lang="en-US" sz="1550" b="1" dirty="0">
                <a:solidFill>
                  <a:srgbClr val="BE5A2E"/>
                </a:solidFill>
                <a:latin typeface="Cambria" pitchFamily="34" charset="0"/>
                <a:ea typeface="Cambria" pitchFamily="34" charset="-122"/>
                <a:cs typeface="Cambria" pitchFamily="34" charset="-120"/>
              </a:rPr>
              <a:t>① DẠY</a:t>
            </a:r>
            <a:endParaRPr lang="en-US" sz="1550" dirty="0"/>
          </a:p>
        </p:txBody>
      </p:sp>
      <p:sp>
        <p:nvSpPr>
          <p:cNvPr id="6" name="Shape 4"/>
          <p:cNvSpPr/>
          <p:nvPr/>
        </p:nvSpPr>
        <p:spPr>
          <a:xfrm>
            <a:off x="1069848" y="2852928"/>
            <a:ext cx="2926080" cy="804672"/>
          </a:xfrm>
          <a:prstGeom prst="roundRect">
            <a:avLst>
              <a:gd name="adj" fmla="val 7955"/>
            </a:avLst>
          </a:prstGeom>
          <a:solidFill>
            <a:srgbClr val="FFFFFF"/>
          </a:solidFill>
          <a:ln w="12700">
            <a:solidFill>
              <a:srgbClr val="DBE0E6"/>
            </a:solidFill>
            <a:prstDash val="solid"/>
          </a:ln>
        </p:spPr>
      </p:sp>
      <p:sp>
        <p:nvSpPr>
          <p:cNvPr id="7" name="Text 5"/>
          <p:cNvSpPr/>
          <p:nvPr/>
        </p:nvSpPr>
        <p:spPr>
          <a:xfrm>
            <a:off x="1207008" y="2852928"/>
            <a:ext cx="2697480" cy="804672"/>
          </a:xfrm>
          <a:prstGeom prst="rect">
            <a:avLst/>
          </a:prstGeom>
          <a:noFill/>
          <a:ln/>
        </p:spPr>
        <p:txBody>
          <a:bodyPr wrap="square" lIns="0" tIns="0" rIns="0" bIns="0" rtlCol="0" anchor="ctr"/>
          <a:lstStyle/>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ảnh một bước + mục tiêu</a:t>
            </a:r>
            <a:endParaRPr lang="en-US" sz="1200" dirty="0"/>
          </a:p>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 câu người viết</a:t>
            </a:r>
            <a:endParaRPr lang="en-US" sz="1200" dirty="0"/>
          </a:p>
        </p:txBody>
      </p:sp>
      <p:sp>
        <p:nvSpPr>
          <p:cNvPr id="8" name="Text 6"/>
          <p:cNvSpPr/>
          <p:nvPr/>
        </p:nvSpPr>
        <p:spPr>
          <a:xfrm>
            <a:off x="1069848" y="3767328"/>
            <a:ext cx="2971800" cy="914400"/>
          </a:xfrm>
          <a:prstGeom prst="rect">
            <a:avLst/>
          </a:prstGeom>
          <a:noFill/>
          <a:ln/>
        </p:spPr>
        <p:txBody>
          <a:bodyPr wrap="square" lIns="0" tIns="0" rIns="0" bIns="0" rtlCol="0" anchor="t"/>
          <a:lstStyle/>
          <a:p>
            <a:pPr algn="l" indent="0" marL="0">
              <a:lnSpc>
                <a:spcPct val="135000"/>
              </a:lnSpc>
              <a:buNone/>
            </a:pPr>
            <a:r>
              <a:rPr lang="en-US" sz="1250" dirty="0">
                <a:solidFill>
                  <a:srgbClr val="454C55"/>
                </a:solidFill>
                <a:latin typeface="Segoe UI" pitchFamily="34" charset="0"/>
                <a:ea typeface="Segoe UI" pitchFamily="34" charset="-122"/>
                <a:cs typeface="Segoe UI" pitchFamily="34" charset="-120"/>
              </a:rPr>
              <a:t>Qwen2.5-VL-3B học viết cho</a:t>
            </a:r>
            <a:endParaRPr lang="en-US" sz="1250" dirty="0"/>
          </a:p>
          <a:p>
            <a:pPr algn="l" indent="0" marL="0">
              <a:lnSpc>
                <a:spcPct val="135000"/>
              </a:lnSpc>
              <a:buNone/>
            </a:pPr>
            <a:r>
              <a:rPr lang="en-US" sz="1250" dirty="0">
                <a:solidFill>
                  <a:srgbClr val="454C55"/>
                </a:solidFill>
                <a:latin typeface="Segoe UI" pitchFamily="34" charset="0"/>
                <a:ea typeface="Segoe UI" pitchFamily="34" charset="-122"/>
                <a:cs typeface="Segoe UI" pitchFamily="34" charset="-120"/>
              </a:rPr>
              <a:t>giống người thật, bằng QLoRA.</a:t>
            </a:r>
            <a:endParaRPr lang="en-US" sz="1250" dirty="0"/>
          </a:p>
        </p:txBody>
      </p:sp>
      <p:sp>
        <p:nvSpPr>
          <p:cNvPr id="9" name="Shape 7"/>
          <p:cNvSpPr/>
          <p:nvPr/>
        </p:nvSpPr>
        <p:spPr>
          <a:xfrm>
            <a:off x="4297680" y="3520440"/>
            <a:ext cx="292608" cy="0"/>
          </a:xfrm>
          <a:prstGeom prst="line">
            <a:avLst/>
          </a:prstGeom>
          <a:noFill/>
          <a:ln w="31750">
            <a:solidFill>
              <a:srgbClr val="BE5A2E"/>
            </a:solidFill>
            <a:prstDash val="solid"/>
            <a:tailEnd type="triangle"/>
          </a:ln>
        </p:spPr>
      </p:sp>
      <p:sp>
        <p:nvSpPr>
          <p:cNvPr id="10" name="Shape 8"/>
          <p:cNvSpPr/>
          <p:nvPr/>
        </p:nvSpPr>
        <p:spPr>
          <a:xfrm>
            <a:off x="4590288" y="2240280"/>
            <a:ext cx="3383280" cy="2606040"/>
          </a:xfrm>
          <a:prstGeom prst="roundRect">
            <a:avLst>
              <a:gd name="adj" fmla="val 3509"/>
            </a:avLst>
          </a:prstGeom>
          <a:solidFill>
            <a:srgbClr val="F3F5F7"/>
          </a:solidFill>
          <a:ln/>
        </p:spPr>
      </p:sp>
      <p:sp>
        <p:nvSpPr>
          <p:cNvPr id="11" name="Text 9"/>
          <p:cNvSpPr/>
          <p:nvPr/>
        </p:nvSpPr>
        <p:spPr>
          <a:xfrm>
            <a:off x="4818888" y="2423160"/>
            <a:ext cx="3017520" cy="365760"/>
          </a:xfrm>
          <a:prstGeom prst="rect">
            <a:avLst/>
          </a:prstGeom>
          <a:noFill/>
          <a:ln/>
        </p:spPr>
        <p:txBody>
          <a:bodyPr wrap="square" lIns="0" tIns="0" rIns="0" bIns="0" rtlCol="0" anchor="t"/>
          <a:lstStyle/>
          <a:p>
            <a:pPr algn="l" indent="0" marL="0">
              <a:buNone/>
            </a:pPr>
            <a:r>
              <a:rPr lang="en-US" sz="1550" b="1" dirty="0">
                <a:solidFill>
                  <a:srgbClr val="52657A"/>
                </a:solidFill>
                <a:latin typeface="Cambria" pitchFamily="34" charset="0"/>
                <a:ea typeface="Cambria" pitchFamily="34" charset="-122"/>
                <a:cs typeface="Cambria" pitchFamily="34" charset="-120"/>
              </a:rPr>
              <a:t>② CHẠY THẬT</a:t>
            </a:r>
            <a:endParaRPr lang="en-US" sz="1550" dirty="0"/>
          </a:p>
        </p:txBody>
      </p:sp>
      <p:sp>
        <p:nvSpPr>
          <p:cNvPr id="12" name="Shape 10"/>
          <p:cNvSpPr/>
          <p:nvPr/>
        </p:nvSpPr>
        <p:spPr>
          <a:xfrm>
            <a:off x="4818888" y="2852928"/>
            <a:ext cx="2926080" cy="804672"/>
          </a:xfrm>
          <a:prstGeom prst="roundRect">
            <a:avLst>
              <a:gd name="adj" fmla="val 7955"/>
            </a:avLst>
          </a:prstGeom>
          <a:solidFill>
            <a:srgbClr val="FFFFFF"/>
          </a:solidFill>
          <a:ln w="12700">
            <a:solidFill>
              <a:srgbClr val="DBE0E6"/>
            </a:solidFill>
            <a:prstDash val="solid"/>
          </a:ln>
        </p:spPr>
      </p:sp>
      <p:sp>
        <p:nvSpPr>
          <p:cNvPr id="13" name="Text 11"/>
          <p:cNvSpPr/>
          <p:nvPr/>
        </p:nvSpPr>
        <p:spPr>
          <a:xfrm>
            <a:off x="4956048" y="2852928"/>
            <a:ext cx="2697480" cy="804672"/>
          </a:xfrm>
          <a:prstGeom prst="rect">
            <a:avLst/>
          </a:prstGeom>
          <a:noFill/>
          <a:ln/>
        </p:spPr>
        <p:txBody>
          <a:bodyPr wrap="square" lIns="0" tIns="0" rIns="0" bIns="0" rtlCol="0" anchor="ctr"/>
          <a:lstStyle/>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1 ảnh + 1 câu hỏi</a:t>
            </a:r>
            <a:endParaRPr lang="en-US" sz="1200" dirty="0"/>
          </a:p>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 hướng dẫn</a:t>
            </a:r>
            <a:endParaRPr lang="en-US" sz="1200" dirty="0"/>
          </a:p>
        </p:txBody>
      </p:sp>
      <p:sp>
        <p:nvSpPr>
          <p:cNvPr id="14" name="Text 12"/>
          <p:cNvSpPr/>
          <p:nvPr/>
        </p:nvSpPr>
        <p:spPr>
          <a:xfrm>
            <a:off x="4818888" y="3767328"/>
            <a:ext cx="2971800" cy="914400"/>
          </a:xfrm>
          <a:prstGeom prst="rect">
            <a:avLst/>
          </a:prstGeom>
          <a:noFill/>
          <a:ln/>
        </p:spPr>
        <p:txBody>
          <a:bodyPr wrap="square" lIns="0" tIns="0" rIns="0" bIns="0" rtlCol="0" anchor="t"/>
          <a:lstStyle/>
          <a:p>
            <a:pPr algn="l" indent="0" marL="0">
              <a:lnSpc>
                <a:spcPct val="135000"/>
              </a:lnSpc>
              <a:buNone/>
            </a:pPr>
            <a:r>
              <a:rPr lang="en-US" sz="1250" dirty="0">
                <a:solidFill>
                  <a:srgbClr val="454C55"/>
                </a:solidFill>
                <a:latin typeface="Segoe UI" pitchFamily="34" charset="0"/>
                <a:ea typeface="Segoe UI" pitchFamily="34" charset="-122"/>
                <a:cs typeface="Segoe UI" pitchFamily="34" charset="-120"/>
              </a:rPr>
              <a:t>Chỉ cần ảnh màn hình. Không</a:t>
            </a:r>
            <a:endParaRPr lang="en-US" sz="1250" dirty="0"/>
          </a:p>
          <a:p>
            <a:pPr algn="l" indent="0" marL="0">
              <a:lnSpc>
                <a:spcPct val="135000"/>
              </a:lnSpc>
              <a:buNone/>
            </a:pPr>
            <a:r>
              <a:rPr lang="en-US" sz="1250" dirty="0">
                <a:solidFill>
                  <a:srgbClr val="454C55"/>
                </a:solidFill>
                <a:latin typeface="Segoe UI" pitchFamily="34" charset="0"/>
                <a:ea typeface="Segoe UI" pitchFamily="34" charset="-122"/>
                <a:cs typeface="Segoe UI" pitchFamily="34" charset="-120"/>
              </a:rPr>
              <a:t>cần danh sách nút, không đáp án.</a:t>
            </a:r>
            <a:endParaRPr lang="en-US" sz="1250" dirty="0"/>
          </a:p>
        </p:txBody>
      </p:sp>
      <p:sp>
        <p:nvSpPr>
          <p:cNvPr id="15" name="Shape 13"/>
          <p:cNvSpPr/>
          <p:nvPr/>
        </p:nvSpPr>
        <p:spPr>
          <a:xfrm>
            <a:off x="8046720" y="3520440"/>
            <a:ext cx="292608" cy="0"/>
          </a:xfrm>
          <a:prstGeom prst="line">
            <a:avLst/>
          </a:prstGeom>
          <a:noFill/>
          <a:ln w="31750">
            <a:solidFill>
              <a:srgbClr val="BE5A2E"/>
            </a:solidFill>
            <a:prstDash val="solid"/>
            <a:tailEnd type="triangle"/>
          </a:ln>
        </p:spPr>
      </p:sp>
      <p:sp>
        <p:nvSpPr>
          <p:cNvPr id="16" name="Shape 14"/>
          <p:cNvSpPr/>
          <p:nvPr/>
        </p:nvSpPr>
        <p:spPr>
          <a:xfrm>
            <a:off x="8339328" y="2240280"/>
            <a:ext cx="3383280" cy="2606040"/>
          </a:xfrm>
          <a:prstGeom prst="roundRect">
            <a:avLst>
              <a:gd name="adj" fmla="val 3509"/>
            </a:avLst>
          </a:prstGeom>
          <a:solidFill>
            <a:srgbClr val="F7EBE3"/>
          </a:solidFill>
          <a:ln/>
        </p:spPr>
      </p:sp>
      <p:sp>
        <p:nvSpPr>
          <p:cNvPr id="17" name="Text 15"/>
          <p:cNvSpPr/>
          <p:nvPr/>
        </p:nvSpPr>
        <p:spPr>
          <a:xfrm>
            <a:off x="8567928" y="2423160"/>
            <a:ext cx="3017520" cy="365760"/>
          </a:xfrm>
          <a:prstGeom prst="rect">
            <a:avLst/>
          </a:prstGeom>
          <a:noFill/>
          <a:ln/>
        </p:spPr>
        <p:txBody>
          <a:bodyPr wrap="square" lIns="0" tIns="0" rIns="0" bIns="0" rtlCol="0" anchor="t"/>
          <a:lstStyle/>
          <a:p>
            <a:pPr algn="l" indent="0" marL="0">
              <a:buNone/>
            </a:pPr>
            <a:r>
              <a:rPr lang="en-US" sz="1550" b="1" dirty="0">
                <a:solidFill>
                  <a:srgbClr val="1E6B43"/>
                </a:solidFill>
                <a:latin typeface="Cambria" pitchFamily="34" charset="0"/>
                <a:ea typeface="Cambria" pitchFamily="34" charset="-122"/>
                <a:cs typeface="Cambria" pitchFamily="34" charset="-120"/>
              </a:rPr>
              <a:t>③ CHẤM</a:t>
            </a:r>
            <a:endParaRPr lang="en-US" sz="1550" dirty="0"/>
          </a:p>
        </p:txBody>
      </p:sp>
      <p:sp>
        <p:nvSpPr>
          <p:cNvPr id="18" name="Shape 16"/>
          <p:cNvSpPr/>
          <p:nvPr/>
        </p:nvSpPr>
        <p:spPr>
          <a:xfrm>
            <a:off x="8567928" y="2852928"/>
            <a:ext cx="2926080" cy="804672"/>
          </a:xfrm>
          <a:prstGeom prst="roundRect">
            <a:avLst>
              <a:gd name="adj" fmla="val 7955"/>
            </a:avLst>
          </a:prstGeom>
          <a:solidFill>
            <a:srgbClr val="FFFFFF"/>
          </a:solidFill>
          <a:ln w="12700">
            <a:solidFill>
              <a:srgbClr val="DBE0E6"/>
            </a:solidFill>
            <a:prstDash val="solid"/>
          </a:ln>
        </p:spPr>
      </p:sp>
      <p:sp>
        <p:nvSpPr>
          <p:cNvPr id="19" name="Text 17"/>
          <p:cNvSpPr/>
          <p:nvPr/>
        </p:nvSpPr>
        <p:spPr>
          <a:xfrm>
            <a:off x="8705088" y="2852928"/>
            <a:ext cx="2697480" cy="804672"/>
          </a:xfrm>
          <a:prstGeom prst="rect">
            <a:avLst/>
          </a:prstGeom>
          <a:noFill/>
          <a:ln/>
        </p:spPr>
        <p:txBody>
          <a:bodyPr wrap="square" lIns="0" tIns="0" rIns="0" bIns="0" rtlCol="0" anchor="ctr"/>
          <a:lstStyle/>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câu → bộ trỏ → (x, y)</a:t>
            </a:r>
            <a:endParaRPr lang="en-US" sz="1200" dirty="0"/>
          </a:p>
          <a:p>
            <a:pPr algn="l" indent="0" marL="0">
              <a:lnSpc>
                <a:spcPct val="130000"/>
              </a:lnSpc>
              <a:buNone/>
            </a:pPr>
            <a:r>
              <a:rPr lang="en-US" sz="1200" b="1" dirty="0">
                <a:solidFill>
                  <a:srgbClr val="1D2733"/>
                </a:solidFill>
                <a:latin typeface="Segoe UI" pitchFamily="34" charset="0"/>
                <a:ea typeface="Segoe UI" pitchFamily="34" charset="-122"/>
                <a:cs typeface="Segoe UI" pitchFamily="34" charset="-120"/>
              </a:rPr>
              <a:t>→ so với toạ độ đúng</a:t>
            </a:r>
            <a:endParaRPr lang="en-US" sz="1200" dirty="0"/>
          </a:p>
        </p:txBody>
      </p:sp>
      <p:sp>
        <p:nvSpPr>
          <p:cNvPr id="20" name="Text 18"/>
          <p:cNvSpPr/>
          <p:nvPr/>
        </p:nvSpPr>
        <p:spPr>
          <a:xfrm>
            <a:off x="8567928" y="3767328"/>
            <a:ext cx="2971800" cy="914400"/>
          </a:xfrm>
          <a:prstGeom prst="rect">
            <a:avLst/>
          </a:prstGeom>
          <a:noFill/>
          <a:ln/>
        </p:spPr>
        <p:txBody>
          <a:bodyPr wrap="square" lIns="0" tIns="0" rIns="0" bIns="0" rtlCol="0" anchor="t"/>
          <a:lstStyle/>
          <a:p>
            <a:pPr algn="l" indent="0" marL="0">
              <a:lnSpc>
                <a:spcPct val="135000"/>
              </a:lnSpc>
              <a:buNone/>
            </a:pPr>
            <a:r>
              <a:rPr lang="en-US" sz="1250" dirty="0">
                <a:solidFill>
                  <a:srgbClr val="454C55"/>
                </a:solidFill>
                <a:latin typeface="Segoe UI" pitchFamily="34" charset="0"/>
                <a:ea typeface="Segoe UI" pitchFamily="34" charset="-122"/>
                <a:cs typeface="Segoe UI" pitchFamily="34" charset="-120"/>
              </a:rPr>
              <a:t>Phần có chất mới nhất.</a:t>
            </a:r>
            <a:endParaRPr lang="en-US" sz="1250" dirty="0"/>
          </a:p>
          <a:p>
            <a:pPr algn="l" indent="0" marL="0">
              <a:lnSpc>
                <a:spcPct val="135000"/>
              </a:lnSpc>
              <a:buNone/>
            </a:pPr>
            <a:r>
              <a:rPr lang="en-US" sz="1250" dirty="0">
                <a:solidFill>
                  <a:srgbClr val="454C55"/>
                </a:solidFill>
                <a:latin typeface="Segoe UI" pitchFamily="34" charset="0"/>
                <a:ea typeface="Segoe UI" pitchFamily="34" charset="-122"/>
                <a:cs typeface="Segoe UI" pitchFamily="34" charset="-120"/>
              </a:rPr>
              <a:t>Chi tiết ở slide sau.</a:t>
            </a:r>
            <a:endParaRPr lang="en-US" sz="1250" dirty="0"/>
          </a:p>
        </p:txBody>
      </p:sp>
      <p:sp>
        <p:nvSpPr>
          <p:cNvPr id="21" name="Shape 19"/>
          <p:cNvSpPr/>
          <p:nvPr/>
        </p:nvSpPr>
        <p:spPr>
          <a:xfrm>
            <a:off x="841248" y="5029200"/>
            <a:ext cx="10506456" cy="621792"/>
          </a:xfrm>
          <a:prstGeom prst="roundRect">
            <a:avLst>
              <a:gd name="adj" fmla="val 13235"/>
            </a:avLst>
          </a:prstGeom>
          <a:solidFill>
            <a:srgbClr val="FFFFFF"/>
          </a:solidFill>
          <a:ln w="17780">
            <a:solidFill>
              <a:srgbClr val="BE5A2E"/>
            </a:solidFill>
            <a:prstDash val="solid"/>
          </a:ln>
        </p:spPr>
      </p:sp>
      <p:sp>
        <p:nvSpPr>
          <p:cNvPr id="22" name="Text 20"/>
          <p:cNvSpPr/>
          <p:nvPr/>
        </p:nvSpPr>
        <p:spPr>
          <a:xfrm>
            <a:off x="1115568" y="5029200"/>
            <a:ext cx="9957816" cy="621792"/>
          </a:xfrm>
          <a:prstGeom prst="rect">
            <a:avLst/>
          </a:prstGeom>
          <a:noFill/>
          <a:ln/>
        </p:spPr>
        <p:txBody>
          <a:bodyPr wrap="square" lIns="0" tIns="0" rIns="0" bIns="0" rtlCol="0" anchor="ctr"/>
          <a:lstStyle/>
          <a:p>
            <a:pPr algn="l" indent="0" marL="0">
              <a:lnSpc>
                <a:spcPct val="125000"/>
              </a:lnSpc>
              <a:buNone/>
            </a:pPr>
            <a:r>
              <a:rPr lang="en-US" sz="1300" b="1" dirty="0">
                <a:solidFill>
                  <a:srgbClr val="BE5A2E"/>
                </a:solidFill>
                <a:latin typeface="Segoe UI" pitchFamily="34" charset="0"/>
                <a:ea typeface="Segoe UI" pitchFamily="34" charset="-122"/>
                <a:cs typeface="Segoe UI" pitchFamily="34" charset="-120"/>
              </a:rPr>
              <a:t>Chống ăn gian:  </a:t>
            </a:r>
            <a:pPr algn="l" indent="0" marL="0">
              <a:lnSpc>
                <a:spcPct val="125000"/>
              </a:lnSpc>
              <a:buNone/>
            </a:pPr>
            <a:r>
              <a:rPr lang="en-US" sz="1300" dirty="0">
                <a:solidFill>
                  <a:srgbClr val="454C55"/>
                </a:solidFill>
                <a:latin typeface="Segoe UI" pitchFamily="34" charset="0"/>
                <a:ea typeface="Segoe UI" pitchFamily="34" charset="-122"/>
                <a:cs typeface="Segoe UI" pitchFamily="34" charset="-120"/>
              </a:rPr>
              <a:t>danh sách nút và đáp án chỉ dùng lúc dạy và lúc chấm, không bao giờ đưa lúc sinh. App đem chấm chưa từng xuất hiện lúc dạy.</a:t>
            </a:r>
            <a:endParaRPr lang="en-US" sz="1300" dirty="0"/>
          </a:p>
        </p:txBody>
      </p:sp>
      <p:sp>
        <p:nvSpPr>
          <p:cNvPr id="23" name="Shape 21"/>
          <p:cNvSpPr/>
          <p:nvPr/>
        </p:nvSpPr>
        <p:spPr>
          <a:xfrm>
            <a:off x="841248" y="5724144"/>
            <a:ext cx="10506456" cy="621792"/>
          </a:xfrm>
          <a:prstGeom prst="roundRect">
            <a:avLst>
              <a:gd name="adj" fmla="val 13235"/>
            </a:avLst>
          </a:prstGeom>
          <a:solidFill>
            <a:srgbClr val="17233B"/>
          </a:solidFill>
          <a:ln/>
        </p:spPr>
      </p:sp>
      <p:sp>
        <p:nvSpPr>
          <p:cNvPr id="24" name="Text 22"/>
          <p:cNvSpPr/>
          <p:nvPr/>
        </p:nvSpPr>
        <p:spPr>
          <a:xfrm>
            <a:off x="1115568" y="5724144"/>
            <a:ext cx="9957816" cy="621792"/>
          </a:xfrm>
          <a:prstGeom prst="rect">
            <a:avLst/>
          </a:prstGeom>
          <a:noFill/>
          <a:ln/>
        </p:spPr>
        <p:txBody>
          <a:bodyPr wrap="square" lIns="0" tIns="0" rIns="0" bIns="0" rtlCol="0" anchor="ctr"/>
          <a:lstStyle/>
          <a:p>
            <a:pPr algn="l" indent="0" marL="0">
              <a:lnSpc>
                <a:spcPct val="130000"/>
              </a:lnSpc>
              <a:buNone/>
            </a:pPr>
            <a:r>
              <a:rPr lang="en-US" sz="1250" b="1" dirty="0">
                <a:solidFill>
                  <a:srgbClr val="F0C9A8"/>
                </a:solidFill>
                <a:latin typeface="Segoe UI" pitchFamily="34" charset="0"/>
                <a:ea typeface="Segoe UI" pitchFamily="34" charset="-122"/>
                <a:cs typeface="Segoe UI" pitchFamily="34" charset="-120"/>
              </a:rPr>
              <a:t>Dữ liệu.  </a:t>
            </a:r>
            <a:pPr algn="l" indent="0" marL="0">
              <a:lnSpc>
                <a:spcPct val="130000"/>
              </a:lnSpc>
              <a:buNone/>
            </a:pPr>
            <a:r>
              <a:rPr lang="en-US" sz="1250" dirty="0">
                <a:solidFill>
                  <a:srgbClr val="FFFFFF"/>
                </a:solidFill>
                <a:latin typeface="Segoe UI" pitchFamily="34" charset="0"/>
                <a:ea typeface="Segoe UI" pitchFamily="34" charset="-122"/>
                <a:cs typeface="Segoe UI" pitchFamily="34" charset="-120"/>
              </a:rPr>
              <a:t>Dạy: chỉ AndroidControl, lấy câu người viết sẵn. Chấm: AndroidControl 631 episode app lạ cho độ đúng, MobileViews cho độ bịa, ScreenSpot cho bộ trỏ.</a:t>
            </a:r>
            <a:endParaRPr lang="en-US" sz="1250" dirty="0"/>
          </a:p>
        </p:txBody>
      </p:sp>
      <p:sp>
        <p:nvSpPr>
          <p:cNvPr id="26" name="Text 2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PHẦN THỨ NHẤT: MÔ HÌNH</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Qwen2.5-VL-3B, mở, chạy offline, huấn luyện bằng LoRA</a:t>
            </a:r>
            <a:endParaRPr lang="en-US" sz="2700" dirty="0"/>
          </a:p>
        </p:txBody>
      </p:sp>
      <p:sp>
        <p:nvSpPr>
          <p:cNvPr id="4" name="Shape 2"/>
          <p:cNvSpPr/>
          <p:nvPr/>
        </p:nvSpPr>
        <p:spPr>
          <a:xfrm>
            <a:off x="841248" y="2240280"/>
            <a:ext cx="6035040" cy="658368"/>
          </a:xfrm>
          <a:prstGeom prst="roundRect">
            <a:avLst>
              <a:gd name="adj" fmla="val 11111"/>
            </a:avLst>
          </a:prstGeom>
          <a:solidFill>
            <a:srgbClr val="F3F5F7"/>
          </a:solidFill>
          <a:ln/>
        </p:spPr>
      </p:sp>
      <p:sp>
        <p:nvSpPr>
          <p:cNvPr id="5" name="Text 3"/>
          <p:cNvSpPr/>
          <p:nvPr/>
        </p:nvSpPr>
        <p:spPr>
          <a:xfrm>
            <a:off x="1042416" y="2240280"/>
            <a:ext cx="3200400" cy="658368"/>
          </a:xfrm>
          <a:prstGeom prst="rect">
            <a:avLst/>
          </a:prstGeom>
          <a:noFill/>
          <a:ln/>
        </p:spPr>
        <p:txBody>
          <a:bodyPr wrap="square" lIns="0" tIns="0" rIns="0" bIns="0" rtlCol="0" anchor="ctr"/>
          <a:lstStyle/>
          <a:p>
            <a:pPr algn="l" indent="0" marL="0">
              <a:buNone/>
            </a:pPr>
            <a:r>
              <a:rPr lang="en-US" sz="1350" dirty="0">
                <a:solidFill>
                  <a:srgbClr val="1D2733"/>
                </a:solidFill>
                <a:latin typeface="Segoe UI" pitchFamily="34" charset="0"/>
                <a:ea typeface="Segoe UI" pitchFamily="34" charset="-122"/>
                <a:cs typeface="Segoe UI" pitchFamily="34" charset="-120"/>
              </a:rPr>
              <a:t>gpt-4o-mini</a:t>
            </a:r>
            <a:endParaRPr lang="en-US" sz="1350" dirty="0"/>
          </a:p>
        </p:txBody>
      </p:sp>
      <p:sp>
        <p:nvSpPr>
          <p:cNvPr id="6" name="Text 4"/>
          <p:cNvSpPr/>
          <p:nvPr/>
        </p:nvSpPr>
        <p:spPr>
          <a:xfrm>
            <a:off x="4270248" y="2240280"/>
            <a:ext cx="2468880" cy="658368"/>
          </a:xfrm>
          <a:prstGeom prst="rect">
            <a:avLst/>
          </a:prstGeom>
          <a:noFill/>
          <a:ln/>
        </p:spPr>
        <p:txBody>
          <a:bodyPr wrap="square" lIns="0" tIns="0" rIns="0" bIns="0" rtlCol="0" anchor="ctr"/>
          <a:lstStyle/>
          <a:p>
            <a:pPr algn="l" indent="0" marL="0">
              <a:lnSpc>
                <a:spcPct val="115000"/>
              </a:lnSpc>
              <a:buNone/>
            </a:pPr>
            <a:r>
              <a:rPr lang="en-US" sz="1150" dirty="0">
                <a:solidFill>
                  <a:srgbClr val="52657A"/>
                </a:solidFill>
                <a:latin typeface="Segoe UI" pitchFamily="34" charset="0"/>
                <a:ea typeface="Segoe UI" pitchFamily="34" charset="-122"/>
                <a:cs typeface="Segoe UI" pitchFamily="34" charset="-120"/>
              </a:rPr>
              <a:t>mốc ngoài, không huấn luyện</a:t>
            </a:r>
            <a:endParaRPr lang="en-US" sz="1150" dirty="0"/>
          </a:p>
        </p:txBody>
      </p:sp>
      <p:sp>
        <p:nvSpPr>
          <p:cNvPr id="7" name="Shape 5"/>
          <p:cNvSpPr/>
          <p:nvPr/>
        </p:nvSpPr>
        <p:spPr>
          <a:xfrm>
            <a:off x="841248" y="2990088"/>
            <a:ext cx="6035040" cy="658368"/>
          </a:xfrm>
          <a:prstGeom prst="roundRect">
            <a:avLst>
              <a:gd name="adj" fmla="val 11111"/>
            </a:avLst>
          </a:prstGeom>
          <a:solidFill>
            <a:srgbClr val="F3F5F7"/>
          </a:solidFill>
          <a:ln/>
        </p:spPr>
      </p:sp>
      <p:sp>
        <p:nvSpPr>
          <p:cNvPr id="8" name="Text 6"/>
          <p:cNvSpPr/>
          <p:nvPr/>
        </p:nvSpPr>
        <p:spPr>
          <a:xfrm>
            <a:off x="1042416" y="2990088"/>
            <a:ext cx="3200400" cy="658368"/>
          </a:xfrm>
          <a:prstGeom prst="rect">
            <a:avLst/>
          </a:prstGeom>
          <a:noFill/>
          <a:ln/>
        </p:spPr>
        <p:txBody>
          <a:bodyPr wrap="square" lIns="0" tIns="0" rIns="0" bIns="0" rtlCol="0" anchor="ctr"/>
          <a:lstStyle/>
          <a:p>
            <a:pPr algn="l" indent="0" marL="0">
              <a:buNone/>
            </a:pPr>
            <a:r>
              <a:rPr lang="en-US" sz="1350" dirty="0">
                <a:solidFill>
                  <a:srgbClr val="1D2733"/>
                </a:solidFill>
                <a:latin typeface="Segoe UI" pitchFamily="34" charset="0"/>
                <a:ea typeface="Segoe UI" pitchFamily="34" charset="-122"/>
                <a:cs typeface="Segoe UI" pitchFamily="34" charset="-120"/>
              </a:rPr>
              <a:t>Qwen-3B huấn luyện thường</a:t>
            </a:r>
            <a:endParaRPr lang="en-US" sz="1350" dirty="0"/>
          </a:p>
        </p:txBody>
      </p:sp>
      <p:sp>
        <p:nvSpPr>
          <p:cNvPr id="9" name="Text 7"/>
          <p:cNvSpPr/>
          <p:nvPr/>
        </p:nvSpPr>
        <p:spPr>
          <a:xfrm>
            <a:off x="4270248" y="2990088"/>
            <a:ext cx="2468880" cy="658368"/>
          </a:xfrm>
          <a:prstGeom prst="rect">
            <a:avLst/>
          </a:prstGeom>
          <a:noFill/>
          <a:ln/>
        </p:spPr>
        <p:txBody>
          <a:bodyPr wrap="square" lIns="0" tIns="0" rIns="0" bIns="0" rtlCol="0" anchor="ctr"/>
          <a:lstStyle/>
          <a:p>
            <a:pPr algn="l" indent="0" marL="0">
              <a:lnSpc>
                <a:spcPct val="115000"/>
              </a:lnSpc>
              <a:buNone/>
            </a:pPr>
            <a:r>
              <a:rPr lang="en-US" sz="1150" dirty="0">
                <a:solidFill>
                  <a:srgbClr val="52657A"/>
                </a:solidFill>
                <a:latin typeface="Segoe UI" pitchFamily="34" charset="0"/>
                <a:ea typeface="Segoe UI" pitchFamily="34" charset="-122"/>
                <a:cs typeface="Segoe UI" pitchFamily="34" charset="-120"/>
              </a:rPr>
              <a:t>mốc trong</a:t>
            </a:r>
            <a:endParaRPr lang="en-US" sz="1150" dirty="0"/>
          </a:p>
        </p:txBody>
      </p:sp>
      <p:sp>
        <p:nvSpPr>
          <p:cNvPr id="10" name="Shape 8"/>
          <p:cNvSpPr/>
          <p:nvPr/>
        </p:nvSpPr>
        <p:spPr>
          <a:xfrm>
            <a:off x="841248" y="3739896"/>
            <a:ext cx="6035040" cy="658368"/>
          </a:xfrm>
          <a:prstGeom prst="roundRect">
            <a:avLst>
              <a:gd name="adj" fmla="val 11111"/>
            </a:avLst>
          </a:prstGeom>
          <a:solidFill>
            <a:srgbClr val="F3F5F7"/>
          </a:solidFill>
          <a:ln/>
        </p:spPr>
      </p:sp>
      <p:sp>
        <p:nvSpPr>
          <p:cNvPr id="11" name="Text 9"/>
          <p:cNvSpPr/>
          <p:nvPr/>
        </p:nvSpPr>
        <p:spPr>
          <a:xfrm>
            <a:off x="1042416" y="3739896"/>
            <a:ext cx="3200400" cy="658368"/>
          </a:xfrm>
          <a:prstGeom prst="rect">
            <a:avLst/>
          </a:prstGeom>
          <a:noFill/>
          <a:ln/>
        </p:spPr>
        <p:txBody>
          <a:bodyPr wrap="square" lIns="0" tIns="0" rIns="0" bIns="0" rtlCol="0" anchor="ctr"/>
          <a:lstStyle/>
          <a:p>
            <a:pPr algn="l" indent="0" marL="0">
              <a:buNone/>
            </a:pPr>
            <a:r>
              <a:rPr lang="en-US" sz="1350" dirty="0">
                <a:solidFill>
                  <a:srgbClr val="1D2733"/>
                </a:solidFill>
                <a:latin typeface="Segoe UI" pitchFamily="34" charset="0"/>
                <a:ea typeface="Segoe UI" pitchFamily="34" charset="-122"/>
                <a:cs typeface="Segoe UI" pitchFamily="34" charset="-120"/>
              </a:rPr>
              <a:t>trên câu đích đã viết lại</a:t>
            </a:r>
            <a:endParaRPr lang="en-US" sz="1350" dirty="0"/>
          </a:p>
        </p:txBody>
      </p:sp>
      <p:sp>
        <p:nvSpPr>
          <p:cNvPr id="12" name="Text 10"/>
          <p:cNvSpPr/>
          <p:nvPr/>
        </p:nvSpPr>
        <p:spPr>
          <a:xfrm>
            <a:off x="4270248" y="3739896"/>
            <a:ext cx="2468880" cy="658368"/>
          </a:xfrm>
          <a:prstGeom prst="rect">
            <a:avLst/>
          </a:prstGeom>
          <a:noFill/>
          <a:ln/>
        </p:spPr>
        <p:txBody>
          <a:bodyPr wrap="square" lIns="0" tIns="0" rIns="0" bIns="0" rtlCol="0" anchor="ctr"/>
          <a:lstStyle/>
          <a:p>
            <a:pPr algn="l" indent="0" marL="0">
              <a:lnSpc>
                <a:spcPct val="115000"/>
              </a:lnSpc>
              <a:buNone/>
            </a:pPr>
            <a:r>
              <a:rPr lang="en-US" sz="1150" dirty="0">
                <a:solidFill>
                  <a:srgbClr val="52657A"/>
                </a:solidFill>
                <a:latin typeface="Segoe UI" pitchFamily="34" charset="0"/>
                <a:ea typeface="Segoe UI" pitchFamily="34" charset="-122"/>
                <a:cs typeface="Segoe UI" pitchFamily="34" charset="-120"/>
              </a:rPr>
              <a:t>tầng nền, là dữ liệu</a:t>
            </a:r>
            <a:endParaRPr lang="en-US" sz="1150" dirty="0"/>
          </a:p>
        </p:txBody>
      </p:sp>
      <p:sp>
        <p:nvSpPr>
          <p:cNvPr id="13" name="Shape 11"/>
          <p:cNvSpPr/>
          <p:nvPr/>
        </p:nvSpPr>
        <p:spPr>
          <a:xfrm>
            <a:off x="841248" y="4489704"/>
            <a:ext cx="6035040" cy="658368"/>
          </a:xfrm>
          <a:prstGeom prst="roundRect">
            <a:avLst>
              <a:gd name="adj" fmla="val 11111"/>
            </a:avLst>
          </a:prstGeom>
          <a:solidFill>
            <a:srgbClr val="F7EBE3"/>
          </a:solidFill>
          <a:ln/>
        </p:spPr>
      </p:sp>
      <p:sp>
        <p:nvSpPr>
          <p:cNvPr id="14" name="Text 12"/>
          <p:cNvSpPr/>
          <p:nvPr/>
        </p:nvSpPr>
        <p:spPr>
          <a:xfrm>
            <a:off x="1042416" y="4489704"/>
            <a:ext cx="3200400" cy="658368"/>
          </a:xfrm>
          <a:prstGeom prst="rect">
            <a:avLst/>
          </a:prstGeom>
          <a:noFill/>
          <a:ln/>
        </p:spPr>
        <p:txBody>
          <a:bodyPr wrap="square" lIns="0" tIns="0" rIns="0" bIns="0" rtlCol="0" anchor="ctr"/>
          <a:lstStyle/>
          <a:p>
            <a:pPr algn="l" indent="0" marL="0">
              <a:buNone/>
            </a:pPr>
            <a:r>
              <a:rPr lang="en-US" sz="1350" b="1" dirty="0">
                <a:solidFill>
                  <a:srgbClr val="BE5A2E"/>
                </a:solidFill>
                <a:latin typeface="Segoe UI" pitchFamily="34" charset="0"/>
                <a:ea typeface="Segoe UI" pitchFamily="34" charset="-122"/>
                <a:cs typeface="Segoe UI" pitchFamily="34" charset="-120"/>
              </a:rPr>
              <a:t>mô tả trước, phát ngôn sau</a:t>
            </a:r>
            <a:endParaRPr lang="en-US" sz="1350" dirty="0"/>
          </a:p>
        </p:txBody>
      </p:sp>
      <p:sp>
        <p:nvSpPr>
          <p:cNvPr id="15" name="Text 13"/>
          <p:cNvSpPr/>
          <p:nvPr/>
        </p:nvSpPr>
        <p:spPr>
          <a:xfrm>
            <a:off x="4270248" y="4489704"/>
            <a:ext cx="2468880" cy="658368"/>
          </a:xfrm>
          <a:prstGeom prst="rect">
            <a:avLst/>
          </a:prstGeom>
          <a:noFill/>
          <a:ln/>
        </p:spPr>
        <p:txBody>
          <a:bodyPr wrap="square" lIns="0" tIns="0" rIns="0" bIns="0" rtlCol="0" anchor="ctr"/>
          <a:lstStyle/>
          <a:p>
            <a:pPr algn="l" indent="0" marL="0">
              <a:lnSpc>
                <a:spcPct val="115000"/>
              </a:lnSpc>
              <a:buNone/>
            </a:pPr>
            <a:r>
              <a:rPr lang="en-US" sz="1150" dirty="0">
                <a:solidFill>
                  <a:srgbClr val="BE5A2E"/>
                </a:solidFill>
                <a:latin typeface="Segoe UI" pitchFamily="34" charset="0"/>
                <a:ea typeface="Segoe UI" pitchFamily="34" charset="-122"/>
                <a:cs typeface="Segoe UI" pitchFamily="34" charset="-120"/>
              </a:rPr>
              <a:t>TRỤ đóng góp mô hình</a:t>
            </a:r>
            <a:endParaRPr lang="en-US" sz="1150" dirty="0"/>
          </a:p>
        </p:txBody>
      </p:sp>
      <p:sp>
        <p:nvSpPr>
          <p:cNvPr id="16" name="Shape 14"/>
          <p:cNvSpPr/>
          <p:nvPr/>
        </p:nvSpPr>
        <p:spPr>
          <a:xfrm>
            <a:off x="7223760" y="2240280"/>
            <a:ext cx="4114800" cy="2724912"/>
          </a:xfrm>
          <a:prstGeom prst="roundRect">
            <a:avLst>
              <a:gd name="adj" fmla="val 3356"/>
            </a:avLst>
          </a:prstGeom>
          <a:solidFill>
            <a:srgbClr val="17233B"/>
          </a:solidFill>
          <a:ln/>
        </p:spPr>
      </p:sp>
      <p:sp>
        <p:nvSpPr>
          <p:cNvPr id="17" name="Text 15"/>
          <p:cNvSpPr/>
          <p:nvPr/>
        </p:nvSpPr>
        <p:spPr>
          <a:xfrm>
            <a:off x="7452360" y="2395728"/>
            <a:ext cx="3657600" cy="365760"/>
          </a:xfrm>
          <a:prstGeom prst="rect">
            <a:avLst/>
          </a:prstGeom>
          <a:noFill/>
          <a:ln/>
        </p:spPr>
        <p:txBody>
          <a:bodyPr wrap="square" lIns="0" tIns="0" rIns="0" bIns="0" rtlCol="0" anchor="t"/>
          <a:lstStyle/>
          <a:p>
            <a:pPr algn="l" indent="0" marL="0">
              <a:buNone/>
            </a:pPr>
            <a:r>
              <a:rPr lang="en-US" sz="1500" b="1" dirty="0">
                <a:solidFill>
                  <a:srgbClr val="F0C9A8"/>
                </a:solidFill>
                <a:latin typeface="Cambria" pitchFamily="34" charset="0"/>
                <a:ea typeface="Cambria" pitchFamily="34" charset="-122"/>
                <a:cs typeface="Cambria" pitchFamily="34" charset="-120"/>
              </a:rPr>
              <a:t>Hai phép so</a:t>
            </a:r>
            <a:endParaRPr lang="en-US" sz="1500" dirty="0"/>
          </a:p>
        </p:txBody>
      </p:sp>
      <p:sp>
        <p:nvSpPr>
          <p:cNvPr id="18" name="Text 16"/>
          <p:cNvSpPr/>
          <p:nvPr/>
        </p:nvSpPr>
        <p:spPr>
          <a:xfrm>
            <a:off x="7452360" y="2816352"/>
            <a:ext cx="3703320" cy="1280160"/>
          </a:xfrm>
          <a:prstGeom prst="rect">
            <a:avLst/>
          </a:prstGeom>
          <a:noFill/>
          <a:ln/>
        </p:spPr>
        <p:txBody>
          <a:bodyPr wrap="square" lIns="0" tIns="0" rIns="0" bIns="0" rtlCol="0" anchor="t"/>
          <a:lstStyle/>
          <a:p>
            <a:pPr algn="l" indent="0" marL="0">
              <a:lnSpc>
                <a:spcPct val="135000"/>
              </a:lnSpc>
              <a:buNone/>
            </a:pPr>
            <a:r>
              <a:rPr lang="en-US" sz="1250" dirty="0">
                <a:solidFill>
                  <a:srgbClr val="FFFFFF"/>
                </a:solidFill>
                <a:latin typeface="Segoe UI" pitchFamily="34" charset="0"/>
                <a:ea typeface="Segoe UI" pitchFamily="34" charset="-122"/>
                <a:cs typeface="Segoe UI" pitchFamily="34" charset="-120"/>
              </a:rPr>
              <a:t>Đóng góp mô hình đo ở đâu:</a:t>
            </a:r>
            <a:endParaRPr lang="en-US" sz="1250" dirty="0"/>
          </a:p>
          <a:p>
            <a:pPr algn="l" indent="0" marL="0">
              <a:lnSpc>
                <a:spcPct val="135000"/>
              </a:lnSpc>
              <a:buNone/>
            </a:pPr>
            <a:r>
              <a:rPr lang="en-US" sz="1250" dirty="0">
                <a:solidFill>
                  <a:srgbClr val="FFFFFF"/>
                </a:solidFill>
                <a:latin typeface="Segoe UI" pitchFamily="34" charset="0"/>
                <a:ea typeface="Segoe UI" pitchFamily="34" charset="-122"/>
                <a:cs typeface="Segoe UI" pitchFamily="34" charset="-120"/>
              </a:rPr>
              <a:t>hiệu số giữa hàng cuối và hàng</a:t>
            </a:r>
            <a:endParaRPr lang="en-US" sz="1250" dirty="0"/>
          </a:p>
          <a:p>
            <a:pPr algn="l" indent="0" marL="0">
              <a:lnSpc>
                <a:spcPct val="135000"/>
              </a:lnSpc>
              <a:buNone/>
            </a:pPr>
            <a:r>
              <a:rPr lang="en-US" sz="1250" dirty="0">
                <a:solidFill>
                  <a:srgbClr val="FFFFFF"/>
                </a:solidFill>
                <a:latin typeface="Segoe UI" pitchFamily="34" charset="0"/>
                <a:ea typeface="Segoe UI" pitchFamily="34" charset="-122"/>
                <a:cs typeface="Segoe UI" pitchFamily="34" charset="-120"/>
              </a:rPr>
              <a:t>trên nó. Cùng dữ liệu, cùng giọng,</a:t>
            </a:r>
            <a:endParaRPr lang="en-US" sz="1250" dirty="0"/>
          </a:p>
          <a:p>
            <a:pPr algn="l" indent="0" marL="0">
              <a:lnSpc>
                <a:spcPct val="135000"/>
              </a:lnSpc>
              <a:buNone/>
            </a:pPr>
            <a:r>
              <a:rPr lang="en-US" sz="1250" dirty="0">
                <a:solidFill>
                  <a:srgbClr val="FFFFFF"/>
                </a:solidFill>
                <a:latin typeface="Segoe UI" pitchFamily="34" charset="0"/>
                <a:ea typeface="Segoe UI" pitchFamily="34" charset="-122"/>
                <a:cs typeface="Segoe UI" pitchFamily="34" charset="-120"/>
              </a:rPr>
              <a:t>chỉ khác việc mô hình có phải</a:t>
            </a:r>
            <a:endParaRPr lang="en-US" sz="1250" dirty="0"/>
          </a:p>
          <a:p>
            <a:pPr algn="l" indent="0" marL="0">
              <a:lnSpc>
                <a:spcPct val="135000"/>
              </a:lnSpc>
              <a:buNone/>
            </a:pPr>
            <a:r>
              <a:rPr lang="en-US" sz="1250" dirty="0">
                <a:solidFill>
                  <a:srgbClr val="FFFFFF"/>
                </a:solidFill>
                <a:latin typeface="Segoe UI" pitchFamily="34" charset="0"/>
                <a:ea typeface="Segoe UI" pitchFamily="34" charset="-122"/>
                <a:cs typeface="Segoe UI" pitchFamily="34" charset="-120"/>
              </a:rPr>
              <a:t>phát ngôn qua tầng mô tả không.</a:t>
            </a:r>
            <a:endParaRPr lang="en-US" sz="1250" dirty="0"/>
          </a:p>
        </p:txBody>
      </p:sp>
      <p:sp>
        <p:nvSpPr>
          <p:cNvPr id="19" name="Text 17"/>
          <p:cNvSpPr/>
          <p:nvPr/>
        </p:nvSpPr>
        <p:spPr>
          <a:xfrm>
            <a:off x="7452360" y="4206240"/>
            <a:ext cx="3703320" cy="731520"/>
          </a:xfrm>
          <a:prstGeom prst="rect">
            <a:avLst/>
          </a:prstGeom>
          <a:noFill/>
          <a:ln/>
        </p:spPr>
        <p:txBody>
          <a:bodyPr wrap="square" lIns="0" tIns="0" rIns="0" bIns="0" rtlCol="0" anchor="t"/>
          <a:lstStyle/>
          <a:p>
            <a:pPr algn="l" indent="0" marL="0">
              <a:lnSpc>
                <a:spcPct val="135000"/>
              </a:lnSpc>
              <a:buNone/>
            </a:pPr>
            <a:r>
              <a:rPr lang="en-US" sz="1250" dirty="0">
                <a:solidFill>
                  <a:srgbClr val="C9D2DC"/>
                </a:solidFill>
                <a:latin typeface="Segoe UI" pitchFamily="34" charset="0"/>
                <a:ea typeface="Segoe UI" pitchFamily="34" charset="-122"/>
                <a:cs typeface="Segoe UI" pitchFamily="34" charset="-120"/>
              </a:rPr>
              <a:t>Nhờ vậy phần dữ liệu không lẫn</a:t>
            </a:r>
            <a:endParaRPr lang="en-US" sz="1250" dirty="0"/>
          </a:p>
          <a:p>
            <a:pPr algn="l" indent="0" marL="0">
              <a:lnSpc>
                <a:spcPct val="135000"/>
              </a:lnSpc>
              <a:buNone/>
            </a:pPr>
            <a:r>
              <a:rPr lang="en-US" sz="1250" dirty="0">
                <a:solidFill>
                  <a:srgbClr val="C9D2DC"/>
                </a:solidFill>
                <a:latin typeface="Segoe UI" pitchFamily="34" charset="0"/>
                <a:ea typeface="Segoe UI" pitchFamily="34" charset="-122"/>
                <a:cs typeface="Segoe UI" pitchFamily="34" charset="-120"/>
              </a:rPr>
              <a:t>vào phần mô hình.</a:t>
            </a:r>
            <a:endParaRPr lang="en-US" sz="1250" dirty="0"/>
          </a:p>
        </p:txBody>
      </p:sp>
      <p:sp>
        <p:nvSpPr>
          <p:cNvPr id="20" name="Shape 18"/>
          <p:cNvSpPr/>
          <p:nvPr/>
        </p:nvSpPr>
        <p:spPr>
          <a:xfrm>
            <a:off x="841248" y="5166360"/>
            <a:ext cx="10506456" cy="960120"/>
          </a:xfrm>
          <a:prstGeom prst="roundRect">
            <a:avLst>
              <a:gd name="adj" fmla="val 9524"/>
            </a:avLst>
          </a:prstGeom>
          <a:solidFill>
            <a:srgbClr val="F3F5F7"/>
          </a:solidFill>
          <a:ln/>
        </p:spPr>
      </p:sp>
      <p:sp>
        <p:nvSpPr>
          <p:cNvPr id="21" name="Text 19"/>
          <p:cNvSpPr/>
          <p:nvPr/>
        </p:nvSpPr>
        <p:spPr>
          <a:xfrm>
            <a:off x="1115568" y="5166360"/>
            <a:ext cx="9957816" cy="960120"/>
          </a:xfrm>
          <a:prstGeom prst="rect">
            <a:avLst/>
          </a:prstGeom>
          <a:noFill/>
          <a:ln/>
        </p:spPr>
        <p:txBody>
          <a:bodyPr wrap="square" lIns="0" tIns="0" rIns="0" bIns="0" rtlCol="0" anchor="ctr"/>
          <a:lstStyle/>
          <a:p>
            <a:pPr algn="l" indent="0" marL="0">
              <a:lnSpc>
                <a:spcPct val="130000"/>
              </a:lnSpc>
              <a:buNone/>
            </a:pPr>
            <a:r>
              <a:rPr lang="en-US" sz="1250" b="1" dirty="0">
                <a:solidFill>
                  <a:srgbClr val="1D2733"/>
                </a:solidFill>
                <a:latin typeface="Segoe UI" pitchFamily="34" charset="0"/>
                <a:ea typeface="Segoe UI" pitchFamily="34" charset="-122"/>
                <a:cs typeface="Segoe UI" pitchFamily="34" charset="-120"/>
              </a:rPr>
              <a:t>Cả bốn nhánh Qwen-3B đều huấn luyện thật, chỉnh trọng số bằng QLoRA.  </a:t>
            </a:r>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Mô hình lớn chỉ chạy một lần để viết lại câu đích rồi bỏ, không nằm trong hệ chạy thật. Trụ đóng góp nằm ngay trong đích huấn luyện, không phải cách ra lệnh cho một mô hình có sẵn.</a:t>
            </a:r>
            <a:endParaRPr lang="en-US" sz="1250" dirty="0"/>
          </a:p>
        </p:txBody>
      </p:sp>
      <p:sp>
        <p:nvSpPr>
          <p:cNvPr id="23" name="Text 20"/>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TRỤ ĐÓNG GÓP MÔ HÌNH</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Bắt mô hình nêu phần tử là cái gì, rồi mới cho viết câu</a:t>
            </a:r>
            <a:endParaRPr lang="en-US" sz="2700" dirty="0"/>
          </a:p>
        </p:txBody>
      </p:sp>
      <p:sp>
        <p:nvSpPr>
          <p:cNvPr id="4" name="Shape 2"/>
          <p:cNvSpPr/>
          <p:nvPr/>
        </p:nvSpPr>
        <p:spPr>
          <a:xfrm>
            <a:off x="841248" y="2148840"/>
            <a:ext cx="10506456" cy="548640"/>
          </a:xfrm>
          <a:prstGeom prst="roundRect">
            <a:avLst>
              <a:gd name="adj" fmla="val 13333"/>
            </a:avLst>
          </a:prstGeom>
          <a:solidFill>
            <a:srgbClr val="F3F5F7"/>
          </a:solidFill>
          <a:ln/>
        </p:spPr>
      </p:sp>
      <p:sp>
        <p:nvSpPr>
          <p:cNvPr id="5" name="Text 3"/>
          <p:cNvSpPr/>
          <p:nvPr/>
        </p:nvSpPr>
        <p:spPr>
          <a:xfrm>
            <a:off x="1097280" y="2148840"/>
            <a:ext cx="9994392" cy="548640"/>
          </a:xfrm>
          <a:prstGeom prst="rect">
            <a:avLst/>
          </a:prstGeom>
          <a:noFill/>
          <a:ln/>
        </p:spPr>
        <p:txBody>
          <a:bodyPr wrap="square" lIns="0" tIns="0" rIns="0" bIns="0" rtlCol="0" anchor="ctr"/>
          <a:lstStyle/>
          <a:p>
            <a:pPr algn="l" indent="0" marL="0">
              <a:buNone/>
            </a:pPr>
            <a:r>
              <a:rPr lang="en-US" sz="1250" b="1" dirty="0">
                <a:solidFill>
                  <a:srgbClr val="1D2733"/>
                </a:solidFill>
                <a:latin typeface="Segoe UI" pitchFamily="34" charset="0"/>
                <a:ea typeface="Segoe UI" pitchFamily="34" charset="-122"/>
                <a:cs typeface="Segoe UI" pitchFamily="34" charset="-120"/>
              </a:rPr>
              <a:t>Vì sao cần:  </a:t>
            </a:r>
            <a:pPr algn="l" indent="0" marL="0">
              <a:buNone/>
            </a:pPr>
            <a:r>
              <a:rPr lang="en-US" sz="1250" dirty="0">
                <a:solidFill>
                  <a:srgbClr val="454C55"/>
                </a:solidFill>
                <a:latin typeface="Segoe UI" pitchFamily="34" charset="0"/>
                <a:ea typeface="Segoe UI" pitchFamily="34" charset="-122"/>
                <a:cs typeface="Segoe UI" pitchFamily="34" charset="-120"/>
              </a:rPr>
              <a:t>câu người viết trung vị chỉ 6 từ, mô hình học đúng giọng cụt đó nên tự chặn trần của mình. Câu cộc lốc trỏ trúng 35%, câu tả rõ trỏ trúng 69%.</a:t>
            </a:r>
            <a:endParaRPr lang="en-US" sz="1250" dirty="0"/>
          </a:p>
        </p:txBody>
      </p:sp>
      <p:sp>
        <p:nvSpPr>
          <p:cNvPr id="6" name="Shape 4"/>
          <p:cNvSpPr/>
          <p:nvPr/>
        </p:nvSpPr>
        <p:spPr>
          <a:xfrm>
            <a:off x="841248" y="2852928"/>
            <a:ext cx="5029200" cy="2057400"/>
          </a:xfrm>
          <a:prstGeom prst="roundRect">
            <a:avLst>
              <a:gd name="adj" fmla="val 4444"/>
            </a:avLst>
          </a:prstGeom>
          <a:solidFill>
            <a:srgbClr val="F3F5F7"/>
          </a:solidFill>
          <a:ln/>
        </p:spPr>
      </p:sp>
      <p:sp>
        <p:nvSpPr>
          <p:cNvPr id="7" name="Text 5"/>
          <p:cNvSpPr/>
          <p:nvPr/>
        </p:nvSpPr>
        <p:spPr>
          <a:xfrm>
            <a:off x="1097280" y="2999232"/>
            <a:ext cx="4572000" cy="329184"/>
          </a:xfrm>
          <a:prstGeom prst="rect">
            <a:avLst/>
          </a:prstGeom>
          <a:noFill/>
          <a:ln/>
        </p:spPr>
        <p:txBody>
          <a:bodyPr wrap="square" lIns="0" tIns="0" rIns="0" bIns="0" rtlCol="0" anchor="t"/>
          <a:lstStyle/>
          <a:p>
            <a:pPr algn="l" indent="0" marL="0">
              <a:buNone/>
            </a:pPr>
            <a:r>
              <a:rPr lang="en-US" sz="1450" b="1" dirty="0">
                <a:solidFill>
                  <a:srgbClr val="8B929B"/>
                </a:solidFill>
                <a:latin typeface="Cambria" pitchFamily="34" charset="0"/>
                <a:ea typeface="Cambria" pitchFamily="34" charset="-122"/>
                <a:cs typeface="Cambria" pitchFamily="34" charset="-120"/>
              </a:rPr>
              <a:t>Bản thường học</a:t>
            </a:r>
            <a:endParaRPr lang="en-US" sz="1450" dirty="0"/>
          </a:p>
        </p:txBody>
      </p:sp>
      <p:sp>
        <p:nvSpPr>
          <p:cNvPr id="8" name="Shape 6"/>
          <p:cNvSpPr/>
          <p:nvPr/>
        </p:nvSpPr>
        <p:spPr>
          <a:xfrm>
            <a:off x="1097280" y="3383280"/>
            <a:ext cx="4526280" cy="658368"/>
          </a:xfrm>
          <a:prstGeom prst="roundRect">
            <a:avLst>
              <a:gd name="adj" fmla="val 9722"/>
            </a:avLst>
          </a:prstGeom>
          <a:solidFill>
            <a:srgbClr val="FFFFFF"/>
          </a:solidFill>
          <a:ln w="12700">
            <a:solidFill>
              <a:srgbClr val="DBE0E6"/>
            </a:solidFill>
            <a:prstDash val="solid"/>
          </a:ln>
        </p:spPr>
      </p:sp>
      <p:sp>
        <p:nvSpPr>
          <p:cNvPr id="9" name="Text 7"/>
          <p:cNvSpPr/>
          <p:nvPr/>
        </p:nvSpPr>
        <p:spPr>
          <a:xfrm>
            <a:off x="1225296" y="3383280"/>
            <a:ext cx="4297680" cy="658368"/>
          </a:xfrm>
          <a:prstGeom prst="rect">
            <a:avLst/>
          </a:prstGeom>
          <a:noFill/>
          <a:ln/>
        </p:spPr>
        <p:txBody>
          <a:bodyPr wrap="square" lIns="0" tIns="0" rIns="0" bIns="0" rtlCol="0" anchor="ctr"/>
          <a:lstStyle/>
          <a:p>
            <a:pPr algn="l" indent="0" marL="0">
              <a:buNone/>
            </a:pPr>
            <a:r>
              <a:rPr lang="en-US" sz="1150" dirty="0">
                <a:solidFill>
                  <a:srgbClr val="454C55"/>
                </a:solidFill>
                <a:latin typeface="Segoe UI" pitchFamily="34" charset="0"/>
                <a:ea typeface="Segoe UI" pitchFamily="34" charset="-122"/>
                <a:cs typeface="Segoe UI" pitchFamily="34" charset="-120"/>
              </a:rPr>
              <a:t>Click on the search bar at the top</a:t>
            </a:r>
            <a:endParaRPr lang="en-US" sz="1150" dirty="0"/>
          </a:p>
        </p:txBody>
      </p:sp>
      <p:sp>
        <p:nvSpPr>
          <p:cNvPr id="10" name="Text 8"/>
          <p:cNvSpPr/>
          <p:nvPr/>
        </p:nvSpPr>
        <p:spPr>
          <a:xfrm>
            <a:off x="1097280" y="4133088"/>
            <a:ext cx="4572000" cy="685800"/>
          </a:xfrm>
          <a:prstGeom prst="rect">
            <a:avLst/>
          </a:prstGeom>
          <a:noFill/>
          <a:ln/>
        </p:spPr>
        <p:txBody>
          <a:bodyPr wrap="square" lIns="0" tIns="0" rIns="0" bIns="0" rtlCol="0" anchor="t"/>
          <a:lstStyle/>
          <a:p>
            <a:pPr algn="l" indent="0" marL="0">
              <a:lnSpc>
                <a:spcPct val="132000"/>
              </a:lnSpc>
              <a:buNone/>
            </a:pPr>
            <a:r>
              <a:rPr lang="en-US" sz="1200" dirty="0">
                <a:solidFill>
                  <a:srgbClr val="454C55"/>
                </a:solidFill>
                <a:latin typeface="Segoe UI" pitchFamily="34" charset="0"/>
                <a:ea typeface="Segoe UI" pitchFamily="34" charset="-122"/>
                <a:cs typeface="Segoe UI" pitchFamily="34" charset="-120"/>
              </a:rPr>
              <a:t>Không có chỗ nào buộc nó nêu ra</a:t>
            </a:r>
            <a:endParaRPr lang="en-US" sz="1200" dirty="0"/>
          </a:p>
          <a:p>
            <a:pPr algn="l" indent="0" marL="0">
              <a:lnSpc>
                <a:spcPct val="132000"/>
              </a:lnSpc>
              <a:buNone/>
            </a:pPr>
            <a:r>
              <a:rPr lang="en-US" sz="1200" dirty="0">
                <a:solidFill>
                  <a:srgbClr val="454C55"/>
                </a:solidFill>
                <a:latin typeface="Segoe UI" pitchFamily="34" charset="0"/>
                <a:ea typeface="Segoe UI" pitchFamily="34" charset="-122"/>
                <a:cs typeface="Segoe UI" pitchFamily="34" charset="-120"/>
              </a:rPr>
              <a:t>phần tử là cái gì trước khi viết.</a:t>
            </a:r>
            <a:endParaRPr lang="en-US" sz="1200" dirty="0"/>
          </a:p>
        </p:txBody>
      </p:sp>
      <p:sp>
        <p:nvSpPr>
          <p:cNvPr id="11" name="Shape 9"/>
          <p:cNvSpPr/>
          <p:nvPr/>
        </p:nvSpPr>
        <p:spPr>
          <a:xfrm>
            <a:off x="6309360" y="2852928"/>
            <a:ext cx="5029200" cy="2057400"/>
          </a:xfrm>
          <a:prstGeom prst="roundRect">
            <a:avLst>
              <a:gd name="adj" fmla="val 4444"/>
            </a:avLst>
          </a:prstGeom>
          <a:solidFill>
            <a:srgbClr val="F7EBE3"/>
          </a:solidFill>
          <a:ln/>
        </p:spPr>
      </p:sp>
      <p:sp>
        <p:nvSpPr>
          <p:cNvPr id="12" name="Text 10"/>
          <p:cNvSpPr/>
          <p:nvPr/>
        </p:nvSpPr>
        <p:spPr>
          <a:xfrm>
            <a:off x="6565392" y="2999232"/>
            <a:ext cx="4572000" cy="329184"/>
          </a:xfrm>
          <a:prstGeom prst="rect">
            <a:avLst/>
          </a:prstGeom>
          <a:noFill/>
          <a:ln/>
        </p:spPr>
        <p:txBody>
          <a:bodyPr wrap="square" lIns="0" tIns="0" rIns="0" bIns="0" rtlCol="0" anchor="t"/>
          <a:lstStyle/>
          <a:p>
            <a:pPr algn="l" indent="0" marL="0">
              <a:buNone/>
            </a:pPr>
            <a:r>
              <a:rPr lang="en-US" sz="1450" b="1" dirty="0">
                <a:solidFill>
                  <a:srgbClr val="BE5A2E"/>
                </a:solidFill>
                <a:latin typeface="Cambria" pitchFamily="34" charset="0"/>
                <a:ea typeface="Cambria" pitchFamily="34" charset="-122"/>
                <a:cs typeface="Cambria" pitchFamily="34" charset="-120"/>
              </a:rPr>
              <a:t>Bản có trụ học</a:t>
            </a:r>
            <a:endParaRPr lang="en-US" sz="1450" dirty="0"/>
          </a:p>
        </p:txBody>
      </p:sp>
      <p:sp>
        <p:nvSpPr>
          <p:cNvPr id="13" name="Shape 11"/>
          <p:cNvSpPr/>
          <p:nvPr/>
        </p:nvSpPr>
        <p:spPr>
          <a:xfrm>
            <a:off x="6565392" y="3383280"/>
            <a:ext cx="4526280" cy="658368"/>
          </a:xfrm>
          <a:prstGeom prst="roundRect">
            <a:avLst>
              <a:gd name="adj" fmla="val 9722"/>
            </a:avLst>
          </a:prstGeom>
          <a:solidFill>
            <a:srgbClr val="FFFFFF"/>
          </a:solidFill>
          <a:ln w="15240">
            <a:solidFill>
              <a:srgbClr val="BE5A2E"/>
            </a:solidFill>
            <a:prstDash val="solid"/>
          </a:ln>
        </p:spPr>
      </p:sp>
      <p:sp>
        <p:nvSpPr>
          <p:cNvPr id="14" name="Text 12"/>
          <p:cNvSpPr/>
          <p:nvPr/>
        </p:nvSpPr>
        <p:spPr>
          <a:xfrm>
            <a:off x="6693408" y="3383280"/>
            <a:ext cx="4297680" cy="658368"/>
          </a:xfrm>
          <a:prstGeom prst="rect">
            <a:avLst/>
          </a:prstGeom>
          <a:noFill/>
          <a:ln/>
        </p:spPr>
        <p:txBody>
          <a:bodyPr wrap="square" lIns="0" tIns="0" rIns="0" bIns="0" rtlCol="0" anchor="ctr"/>
          <a:lstStyle/>
          <a:p>
            <a:pPr algn="l" indent="0" marL="0">
              <a:lnSpc>
                <a:spcPct val="125000"/>
              </a:lnSpc>
              <a:buNone/>
            </a:pPr>
            <a:r>
              <a:rPr lang="en-US" sz="1000" dirty="0">
                <a:solidFill>
                  <a:srgbClr val="1D2733"/>
                </a:solidFill>
                <a:latin typeface="Segoe UI" pitchFamily="34" charset="0"/>
                <a:ea typeface="Segoe UI" pitchFamily="34" charset="-122"/>
                <a:cs typeface="Segoe UI" pitchFamily="34" charset="-120"/>
              </a:rPr>
              <a:t>[ô nhập liệu | “Search Publications…” |</a:t>
            </a:r>
            <a:endParaRPr lang="en-US" sz="1000" dirty="0"/>
          </a:p>
          <a:p>
            <a:pPr algn="l" indent="0" marL="0">
              <a:lnSpc>
                <a:spcPct val="125000"/>
              </a:lnSpc>
              <a:buNone/>
            </a:pPr>
            <a:r>
              <a:rPr lang="en-US" sz="1000" dirty="0">
                <a:solidFill>
                  <a:srgbClr val="1D2733"/>
                </a:solidFill>
                <a:latin typeface="Segoe UI" pitchFamily="34" charset="0"/>
                <a:ea typeface="Segoe UI" pitchFamily="34" charset="-122"/>
                <a:cs typeface="Segoe UI" pitchFamily="34" charset="-120"/>
              </a:rPr>
              <a:t>trên đỉnh, giữa] → Tap the “Search</a:t>
            </a:r>
            <a:endParaRPr lang="en-US" sz="1000" dirty="0"/>
          </a:p>
          <a:p>
            <a:pPr algn="l" indent="0" marL="0">
              <a:lnSpc>
                <a:spcPct val="125000"/>
              </a:lnSpc>
              <a:buNone/>
            </a:pPr>
            <a:r>
              <a:rPr lang="en-US" sz="1000" dirty="0">
                <a:solidFill>
                  <a:srgbClr val="1D2733"/>
                </a:solidFill>
                <a:latin typeface="Segoe UI" pitchFamily="34" charset="0"/>
                <a:ea typeface="Segoe UI" pitchFamily="34" charset="-122"/>
                <a:cs typeface="Segoe UI" pitchFamily="34" charset="-120"/>
              </a:rPr>
              <a:t>Publications…” bar at the top</a:t>
            </a:r>
            <a:endParaRPr lang="en-US" sz="1000" dirty="0"/>
          </a:p>
        </p:txBody>
      </p:sp>
      <p:sp>
        <p:nvSpPr>
          <p:cNvPr id="15" name="Text 13"/>
          <p:cNvSpPr/>
          <p:nvPr/>
        </p:nvSpPr>
        <p:spPr>
          <a:xfrm>
            <a:off x="6565392" y="4133088"/>
            <a:ext cx="4572000" cy="685800"/>
          </a:xfrm>
          <a:prstGeom prst="rect">
            <a:avLst/>
          </a:prstGeom>
          <a:noFill/>
          <a:ln/>
        </p:spPr>
        <p:txBody>
          <a:bodyPr wrap="square" lIns="0" tIns="0" rIns="0" bIns="0" rtlCol="0" anchor="t"/>
          <a:lstStyle/>
          <a:p>
            <a:pPr algn="l" indent="0" marL="0">
              <a:lnSpc>
                <a:spcPct val="132000"/>
              </a:lnSpc>
              <a:buNone/>
            </a:pPr>
            <a:r>
              <a:rPr lang="en-US" sz="1200" dirty="0">
                <a:solidFill>
                  <a:srgbClr val="1D2733"/>
                </a:solidFill>
                <a:latin typeface="Segoe UI" pitchFamily="34" charset="0"/>
                <a:ea typeface="Segoe UI" pitchFamily="34" charset="-122"/>
                <a:cs typeface="Segoe UI" pitchFamily="34" charset="-120"/>
              </a:rPr>
              <a:t>Nhãn tầng mô tả dựng TỰ ĐỘNG từ hộp</a:t>
            </a:r>
            <a:endParaRPr lang="en-US" sz="1200" dirty="0"/>
          </a:p>
          <a:p>
            <a:pPr algn="l" indent="0" marL="0">
              <a:lnSpc>
                <a:spcPct val="132000"/>
              </a:lnSpc>
              <a:buNone/>
            </a:pPr>
            <a:r>
              <a:rPr lang="en-US" sz="1200" dirty="0">
                <a:solidFill>
                  <a:srgbClr val="1D2733"/>
                </a:solidFill>
                <a:latin typeface="Segoe UI" pitchFamily="34" charset="0"/>
                <a:ea typeface="Segoe UI" pitchFamily="34" charset="-122"/>
                <a:cs typeface="Segoe UI" pitchFamily="34" charset="-120"/>
              </a:rPr>
              <a:t>phần tử tại đúng chỗ người thật chạm,</a:t>
            </a:r>
            <a:endParaRPr lang="en-US" sz="1200" dirty="0"/>
          </a:p>
          <a:p>
            <a:pPr algn="l" indent="0" marL="0">
              <a:lnSpc>
                <a:spcPct val="132000"/>
              </a:lnSpc>
              <a:buNone/>
            </a:pPr>
            <a:r>
              <a:rPr lang="en-US" sz="1200" dirty="0">
                <a:solidFill>
                  <a:srgbClr val="1D2733"/>
                </a:solidFill>
                <a:latin typeface="Segoe UI" pitchFamily="34" charset="0"/>
                <a:ea typeface="Segoe UI" pitchFamily="34" charset="-122"/>
                <a:cs typeface="Segoe UI" pitchFamily="34" charset="-120"/>
              </a:rPr>
              <a:t>cộng chữ đọc được trong hộp đó.</a:t>
            </a:r>
            <a:endParaRPr lang="en-US" sz="1200" dirty="0"/>
          </a:p>
        </p:txBody>
      </p:sp>
      <p:sp>
        <p:nvSpPr>
          <p:cNvPr id="16" name="Shape 14"/>
          <p:cNvSpPr/>
          <p:nvPr/>
        </p:nvSpPr>
        <p:spPr>
          <a:xfrm>
            <a:off x="841248" y="5047488"/>
            <a:ext cx="10506456" cy="658368"/>
          </a:xfrm>
          <a:prstGeom prst="roundRect">
            <a:avLst>
              <a:gd name="adj" fmla="val 13889"/>
            </a:avLst>
          </a:prstGeom>
          <a:solidFill>
            <a:srgbClr val="17233B"/>
          </a:solidFill>
          <a:ln/>
        </p:spPr>
      </p:sp>
      <p:sp>
        <p:nvSpPr>
          <p:cNvPr id="17" name="Text 15"/>
          <p:cNvSpPr/>
          <p:nvPr/>
        </p:nvSpPr>
        <p:spPr>
          <a:xfrm>
            <a:off x="1115568" y="5047488"/>
            <a:ext cx="9957816" cy="658368"/>
          </a:xfrm>
          <a:prstGeom prst="rect">
            <a:avLst/>
          </a:prstGeom>
          <a:noFill/>
          <a:ln/>
        </p:spPr>
        <p:txBody>
          <a:bodyPr wrap="square" lIns="0" tIns="0" rIns="0" bIns="0" rtlCol="0" anchor="ctr"/>
          <a:lstStyle/>
          <a:p>
            <a:pPr algn="l" indent="0" marL="0">
              <a:lnSpc>
                <a:spcPct val="130000"/>
              </a:lnSpc>
              <a:buNone/>
            </a:pPr>
            <a:r>
              <a:rPr lang="en-US" sz="1250" b="1" dirty="0">
                <a:solidFill>
                  <a:srgbClr val="F0C9A8"/>
                </a:solidFill>
                <a:latin typeface="Segoe UI" pitchFamily="34" charset="0"/>
                <a:ea typeface="Segoe UI" pitchFamily="34" charset="-122"/>
                <a:cs typeface="Segoe UI" pitchFamily="34" charset="-120"/>
              </a:rPr>
              <a:t>Vì sao là đóng góp MÔ HÌNH:  </a:t>
            </a:r>
            <a:pPr algn="l" indent="0" marL="0">
              <a:lnSpc>
                <a:spcPct val="130000"/>
              </a:lnSpc>
              <a:buNone/>
            </a:pPr>
            <a:r>
              <a:rPr lang="en-US" sz="1250" dirty="0">
                <a:solidFill>
                  <a:srgbClr val="FFFFFF"/>
                </a:solidFill>
                <a:latin typeface="Segoe UI" pitchFamily="34" charset="0"/>
                <a:ea typeface="Segoe UI" pitchFamily="34" charset="-122"/>
                <a:cs typeface="Segoe UI" pitchFamily="34" charset="-120"/>
              </a:rPr>
              <a:t>đây là thứ duy nhất làm mô hình lúc chạy hành xử khác — nó buộc phải phát ngôn qua một tầng trung gian được giám sát. Lúc chấm, phần mô tả cắt bỏ, chỉ lấy câu.</a:t>
            </a:r>
            <a:endParaRPr lang="en-US" sz="1250" dirty="0"/>
          </a:p>
        </p:txBody>
      </p:sp>
      <p:sp>
        <p:nvSpPr>
          <p:cNvPr id="18" name="Shape 16"/>
          <p:cNvSpPr/>
          <p:nvPr/>
        </p:nvSpPr>
        <p:spPr>
          <a:xfrm>
            <a:off x="841248" y="5815584"/>
            <a:ext cx="10506456" cy="566928"/>
          </a:xfrm>
          <a:prstGeom prst="roundRect">
            <a:avLst>
              <a:gd name="adj" fmla="val 14516"/>
            </a:avLst>
          </a:prstGeom>
          <a:solidFill>
            <a:srgbClr val="FFFFFF"/>
          </a:solidFill>
          <a:ln w="15240">
            <a:solidFill>
              <a:srgbClr val="B23B3B"/>
            </a:solidFill>
            <a:prstDash val="solid"/>
          </a:ln>
        </p:spPr>
      </p:sp>
      <p:sp>
        <p:nvSpPr>
          <p:cNvPr id="19" name="Text 17"/>
          <p:cNvSpPr/>
          <p:nvPr/>
        </p:nvSpPr>
        <p:spPr>
          <a:xfrm>
            <a:off x="1115568" y="5815584"/>
            <a:ext cx="9957816" cy="566928"/>
          </a:xfrm>
          <a:prstGeom prst="rect">
            <a:avLst/>
          </a:prstGeom>
          <a:noFill/>
          <a:ln/>
        </p:spPr>
        <p:txBody>
          <a:bodyPr wrap="square" lIns="0" tIns="0" rIns="0" bIns="0" rtlCol="0" anchor="ctr"/>
          <a:lstStyle/>
          <a:p>
            <a:pPr algn="l" indent="0" marL="0">
              <a:buNone/>
            </a:pPr>
            <a:r>
              <a:rPr lang="en-US" sz="1200" b="1" dirty="0">
                <a:solidFill>
                  <a:srgbClr val="B23B3B"/>
                </a:solidFill>
                <a:latin typeface="Segoe UI" pitchFamily="34" charset="0"/>
                <a:ea typeface="Segoe UI" pitchFamily="34" charset="-122"/>
                <a:cs typeface="Segoe UI" pitchFamily="34" charset="-120"/>
              </a:rPr>
              <a:t>Rủi ro lớn nhất, phải đo trước:  </a:t>
            </a:r>
            <a:pPr algn="l" indent="0" marL="0">
              <a:buNone/>
            </a:pPr>
            <a:r>
              <a:rPr lang="en-US" sz="1200" dirty="0">
                <a:solidFill>
                  <a:srgbClr val="454C55"/>
                </a:solidFill>
                <a:latin typeface="Segoe UI" pitchFamily="34" charset="0"/>
                <a:ea typeface="Segoe UI" pitchFamily="34" charset="-122"/>
                <a:cs typeface="Segoe UI" pitchFamily="34" charset="-120"/>
              </a:rPr>
              <a:t>tầng mô tả cần TÊN phần tử, mà cây trợ năng chỉ 12,6% có tên. Tầng giữa mà rác thì hai tầng tệ hơn một tầng.</a:t>
            </a:r>
            <a:endParaRPr lang="en-US" sz="1200" dirty="0"/>
          </a:p>
        </p:txBody>
      </p:sp>
      <p:sp>
        <p:nvSpPr>
          <p:cNvPr id="21" name="Text 18"/>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TÍNH MỚI NẰM Ở ĐÂU</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Nói phần không mới trước, rồi mới nói phần mới</a:t>
            </a:r>
            <a:endParaRPr lang="en-US" sz="2700" dirty="0"/>
          </a:p>
        </p:txBody>
      </p:sp>
      <p:sp>
        <p:nvSpPr>
          <p:cNvPr id="4" name="Shape 2"/>
          <p:cNvSpPr/>
          <p:nvPr/>
        </p:nvSpPr>
        <p:spPr>
          <a:xfrm>
            <a:off x="841248" y="2194560"/>
            <a:ext cx="5029200" cy="2468880"/>
          </a:xfrm>
          <a:prstGeom prst="roundRect">
            <a:avLst>
              <a:gd name="adj" fmla="val 3704"/>
            </a:avLst>
          </a:prstGeom>
          <a:solidFill>
            <a:srgbClr val="F3F5F7"/>
          </a:solidFill>
          <a:ln/>
        </p:spPr>
      </p:sp>
      <p:sp>
        <p:nvSpPr>
          <p:cNvPr id="5" name="Text 3"/>
          <p:cNvSpPr/>
          <p:nvPr/>
        </p:nvSpPr>
        <p:spPr>
          <a:xfrm>
            <a:off x="1097280" y="2359152"/>
            <a:ext cx="4572000" cy="329184"/>
          </a:xfrm>
          <a:prstGeom prst="rect">
            <a:avLst/>
          </a:prstGeom>
          <a:noFill/>
          <a:ln/>
        </p:spPr>
        <p:txBody>
          <a:bodyPr wrap="square" lIns="0" tIns="0" rIns="0" bIns="0" rtlCol="0" anchor="t"/>
          <a:lstStyle/>
          <a:p>
            <a:pPr algn="l" indent="0" marL="0">
              <a:buNone/>
            </a:pPr>
            <a:r>
              <a:rPr lang="en-US" sz="1450" b="1" dirty="0">
                <a:solidFill>
                  <a:srgbClr val="8B929B"/>
                </a:solidFill>
                <a:latin typeface="Cambria" pitchFamily="34" charset="0"/>
                <a:ea typeface="Cambria" pitchFamily="34" charset="-122"/>
                <a:cs typeface="Cambria" pitchFamily="34" charset="-120"/>
              </a:rPr>
              <a:t>Không mới, và sẽ nói thẳng</a:t>
            </a:r>
            <a:endParaRPr lang="en-US" sz="1450" dirty="0"/>
          </a:p>
        </p:txBody>
      </p:sp>
      <p:sp>
        <p:nvSpPr>
          <p:cNvPr id="6" name="Text 4"/>
          <p:cNvSpPr/>
          <p:nvPr/>
        </p:nvSpPr>
        <p:spPr>
          <a:xfrm>
            <a:off x="1115568" y="2761488"/>
            <a:ext cx="182880" cy="365760"/>
          </a:xfrm>
          <a:prstGeom prst="rect">
            <a:avLst/>
          </a:prstGeom>
          <a:noFill/>
          <a:ln/>
        </p:spPr>
        <p:txBody>
          <a:bodyPr wrap="square" lIns="0" tIns="0" rIns="0" bIns="0" rtlCol="0" anchor="t"/>
          <a:lstStyle/>
          <a:p>
            <a:pPr algn="l" indent="0" marL="0">
              <a:buNone/>
            </a:pPr>
            <a:r>
              <a:rPr lang="en-US" sz="1400" b="1" dirty="0">
                <a:solidFill>
                  <a:srgbClr val="8B929B"/>
                </a:solidFill>
                <a:latin typeface="Segoe UI" pitchFamily="34" charset="0"/>
                <a:ea typeface="Segoe UI" pitchFamily="34" charset="-122"/>
                <a:cs typeface="Segoe UI" pitchFamily="34" charset="-120"/>
              </a:rPr>
              <a:t>·</a:t>
            </a:r>
            <a:endParaRPr lang="en-US" sz="1400" dirty="0"/>
          </a:p>
        </p:txBody>
      </p:sp>
      <p:sp>
        <p:nvSpPr>
          <p:cNvPr id="7" name="Text 5"/>
          <p:cNvSpPr/>
          <p:nvPr/>
        </p:nvSpPr>
        <p:spPr>
          <a:xfrm>
            <a:off x="1298448" y="2743200"/>
            <a:ext cx="4389120" cy="457200"/>
          </a:xfrm>
          <a:prstGeom prst="rect">
            <a:avLst/>
          </a:prstGeom>
          <a:noFill/>
          <a:ln/>
        </p:spPr>
        <p:txBody>
          <a:bodyPr wrap="square" lIns="0" tIns="0" rIns="0" bIns="0" rtlCol="0" anchor="t"/>
          <a:lstStyle/>
          <a:p>
            <a:pPr algn="l" indent="0" marL="0">
              <a:lnSpc>
                <a:spcPct val="120000"/>
              </a:lnSpc>
              <a:buNone/>
            </a:pPr>
            <a:r>
              <a:rPr lang="en-US" sz="1150" dirty="0">
                <a:solidFill>
                  <a:srgbClr val="454C55"/>
                </a:solidFill>
                <a:latin typeface="Segoe UI" pitchFamily="34" charset="0"/>
                <a:ea typeface="Segoe UI" pitchFamily="34" charset="-122"/>
                <a:cs typeface="Segoe UI" pitchFamily="34" charset="-120"/>
              </a:rPr>
              <a:t>Lập dàn ý rồi mới viết, có từ lâu</a:t>
            </a:r>
            <a:endParaRPr lang="en-US" sz="1150" dirty="0"/>
          </a:p>
        </p:txBody>
      </p:sp>
      <p:sp>
        <p:nvSpPr>
          <p:cNvPr id="8" name="Text 6"/>
          <p:cNvSpPr/>
          <p:nvPr/>
        </p:nvSpPr>
        <p:spPr>
          <a:xfrm>
            <a:off x="1115568" y="3218688"/>
            <a:ext cx="182880" cy="365760"/>
          </a:xfrm>
          <a:prstGeom prst="rect">
            <a:avLst/>
          </a:prstGeom>
          <a:noFill/>
          <a:ln/>
        </p:spPr>
        <p:txBody>
          <a:bodyPr wrap="square" lIns="0" tIns="0" rIns="0" bIns="0" rtlCol="0" anchor="t"/>
          <a:lstStyle/>
          <a:p>
            <a:pPr algn="l" indent="0" marL="0">
              <a:buNone/>
            </a:pPr>
            <a:r>
              <a:rPr lang="en-US" sz="1400" b="1" dirty="0">
                <a:solidFill>
                  <a:srgbClr val="8B929B"/>
                </a:solidFill>
                <a:latin typeface="Segoe UI" pitchFamily="34" charset="0"/>
                <a:ea typeface="Segoe UI" pitchFamily="34" charset="-122"/>
                <a:cs typeface="Segoe UI" pitchFamily="34" charset="-120"/>
              </a:rPr>
              <a:t>·</a:t>
            </a:r>
            <a:endParaRPr lang="en-US" sz="1400" dirty="0"/>
          </a:p>
        </p:txBody>
      </p:sp>
      <p:sp>
        <p:nvSpPr>
          <p:cNvPr id="9" name="Text 7"/>
          <p:cNvSpPr/>
          <p:nvPr/>
        </p:nvSpPr>
        <p:spPr>
          <a:xfrm>
            <a:off x="1298448" y="3200400"/>
            <a:ext cx="4389120" cy="457200"/>
          </a:xfrm>
          <a:prstGeom prst="rect">
            <a:avLst/>
          </a:prstGeom>
          <a:noFill/>
          <a:ln/>
        </p:spPr>
        <p:txBody>
          <a:bodyPr wrap="square" lIns="0" tIns="0" rIns="0" bIns="0" rtlCol="0" anchor="t"/>
          <a:lstStyle/>
          <a:p>
            <a:pPr algn="l" indent="0" marL="0">
              <a:lnSpc>
                <a:spcPct val="120000"/>
              </a:lnSpc>
              <a:buNone/>
            </a:pPr>
            <a:r>
              <a:rPr lang="en-US" sz="1150" dirty="0">
                <a:solidFill>
                  <a:srgbClr val="454C55"/>
                </a:solidFill>
                <a:latin typeface="Segoe UI" pitchFamily="34" charset="0"/>
                <a:ea typeface="Segoe UI" pitchFamily="34" charset="-122"/>
                <a:cs typeface="Segoe UI" pitchFamily="34" charset="-120"/>
              </a:rPr>
              <a:t>Ý “câu phải đủ để bên kia lần ra đúng chỗ”,</a:t>
            </a:r>
            <a:endParaRPr lang="en-US" sz="1150" dirty="0"/>
          </a:p>
          <a:p>
            <a:pPr algn="l" indent="0" marL="0">
              <a:lnSpc>
                <a:spcPct val="120000"/>
              </a:lnSpc>
              <a:buNone/>
            </a:pPr>
            <a:r>
              <a:rPr lang="en-US" sz="1150" dirty="0">
                <a:solidFill>
                  <a:srgbClr val="454C55"/>
                </a:solidFill>
                <a:latin typeface="Segoe UI" pitchFamily="34" charset="0"/>
                <a:ea typeface="Segoe UI" pitchFamily="34" charset="-122"/>
                <a:cs typeface="Segoe UI" pitchFamily="34" charset="-120"/>
              </a:rPr>
              <a:t>dòng nghiên cứu khác đã chiếm từ 2016</a:t>
            </a:r>
            <a:endParaRPr lang="en-US" sz="1150" dirty="0"/>
          </a:p>
        </p:txBody>
      </p:sp>
      <p:sp>
        <p:nvSpPr>
          <p:cNvPr id="10" name="Text 8"/>
          <p:cNvSpPr/>
          <p:nvPr/>
        </p:nvSpPr>
        <p:spPr>
          <a:xfrm>
            <a:off x="1115568" y="3675888"/>
            <a:ext cx="182880" cy="365760"/>
          </a:xfrm>
          <a:prstGeom prst="rect">
            <a:avLst/>
          </a:prstGeom>
          <a:noFill/>
          <a:ln/>
        </p:spPr>
        <p:txBody>
          <a:bodyPr wrap="square" lIns="0" tIns="0" rIns="0" bIns="0" rtlCol="0" anchor="t"/>
          <a:lstStyle/>
          <a:p>
            <a:pPr algn="l" indent="0" marL="0">
              <a:buNone/>
            </a:pPr>
            <a:r>
              <a:rPr lang="en-US" sz="1400" b="1" dirty="0">
                <a:solidFill>
                  <a:srgbClr val="8B929B"/>
                </a:solidFill>
                <a:latin typeface="Segoe UI" pitchFamily="34" charset="0"/>
                <a:ea typeface="Segoe UI" pitchFamily="34" charset="-122"/>
                <a:cs typeface="Segoe UI" pitchFamily="34" charset="-120"/>
              </a:rPr>
              <a:t>·</a:t>
            </a:r>
            <a:endParaRPr lang="en-US" sz="1400" dirty="0"/>
          </a:p>
        </p:txBody>
      </p:sp>
      <p:sp>
        <p:nvSpPr>
          <p:cNvPr id="11" name="Text 9"/>
          <p:cNvSpPr/>
          <p:nvPr/>
        </p:nvSpPr>
        <p:spPr>
          <a:xfrm>
            <a:off x="1298448" y="3657600"/>
            <a:ext cx="4389120" cy="457200"/>
          </a:xfrm>
          <a:prstGeom prst="rect">
            <a:avLst/>
          </a:prstGeom>
          <a:noFill/>
          <a:ln/>
        </p:spPr>
        <p:txBody>
          <a:bodyPr wrap="square" lIns="0" tIns="0" rIns="0" bIns="0" rtlCol="0" anchor="t"/>
          <a:lstStyle/>
          <a:p>
            <a:pPr algn="l" indent="0" marL="0">
              <a:lnSpc>
                <a:spcPct val="120000"/>
              </a:lnSpc>
              <a:buNone/>
            </a:pPr>
            <a:r>
              <a:rPr lang="en-US" sz="1150" dirty="0">
                <a:solidFill>
                  <a:srgbClr val="454C55"/>
                </a:solidFill>
                <a:latin typeface="Segoe UI" pitchFamily="34" charset="0"/>
                <a:ea typeface="Segoe UI" pitchFamily="34" charset="-122"/>
                <a:cs typeface="Segoe UI" pitchFamily="34" charset="-120"/>
              </a:rPr>
              <a:t>Khoanh dấu chỗ đúng rồi nhờ mô hình lớn</a:t>
            </a:r>
            <a:endParaRPr lang="en-US" sz="1150" dirty="0"/>
          </a:p>
          <a:p>
            <a:pPr algn="l" indent="0" marL="0">
              <a:lnSpc>
                <a:spcPct val="120000"/>
              </a:lnSpc>
              <a:buNone/>
            </a:pPr>
            <a:r>
              <a:rPr lang="en-US" sz="1150" dirty="0">
                <a:solidFill>
                  <a:srgbClr val="454C55"/>
                </a:solidFill>
                <a:latin typeface="Segoe UI" pitchFamily="34" charset="0"/>
                <a:ea typeface="Segoe UI" pitchFamily="34" charset="-122"/>
                <a:cs typeface="Segoe UI" pitchFamily="34" charset="-120"/>
              </a:rPr>
              <a:t>viết mô tả, đã có trong miền giao diện</a:t>
            </a:r>
            <a:endParaRPr lang="en-US" sz="1150" dirty="0"/>
          </a:p>
        </p:txBody>
      </p:sp>
      <p:sp>
        <p:nvSpPr>
          <p:cNvPr id="12" name="Text 10"/>
          <p:cNvSpPr/>
          <p:nvPr/>
        </p:nvSpPr>
        <p:spPr>
          <a:xfrm>
            <a:off x="1115568" y="4133088"/>
            <a:ext cx="182880" cy="365760"/>
          </a:xfrm>
          <a:prstGeom prst="rect">
            <a:avLst/>
          </a:prstGeom>
          <a:noFill/>
          <a:ln/>
        </p:spPr>
        <p:txBody>
          <a:bodyPr wrap="square" lIns="0" tIns="0" rIns="0" bIns="0" rtlCol="0" anchor="t"/>
          <a:lstStyle/>
          <a:p>
            <a:pPr algn="l" indent="0" marL="0">
              <a:buNone/>
            </a:pPr>
            <a:r>
              <a:rPr lang="en-US" sz="1400" b="1" dirty="0">
                <a:solidFill>
                  <a:srgbClr val="8B929B"/>
                </a:solidFill>
                <a:latin typeface="Segoe UI" pitchFamily="34" charset="0"/>
                <a:ea typeface="Segoe UI" pitchFamily="34" charset="-122"/>
                <a:cs typeface="Segoe UI" pitchFamily="34" charset="-120"/>
              </a:rPr>
              <a:t>·</a:t>
            </a:r>
            <a:endParaRPr lang="en-US" sz="1400" dirty="0"/>
          </a:p>
        </p:txBody>
      </p:sp>
      <p:sp>
        <p:nvSpPr>
          <p:cNvPr id="13" name="Text 11"/>
          <p:cNvSpPr/>
          <p:nvPr/>
        </p:nvSpPr>
        <p:spPr>
          <a:xfrm>
            <a:off x="1298448" y="4114800"/>
            <a:ext cx="4389120" cy="457200"/>
          </a:xfrm>
          <a:prstGeom prst="rect">
            <a:avLst/>
          </a:prstGeom>
          <a:noFill/>
          <a:ln/>
        </p:spPr>
        <p:txBody>
          <a:bodyPr wrap="square" lIns="0" tIns="0" rIns="0" bIns="0" rtlCol="0" anchor="t"/>
          <a:lstStyle/>
          <a:p>
            <a:pPr algn="l" indent="0" marL="0">
              <a:lnSpc>
                <a:spcPct val="120000"/>
              </a:lnSpc>
              <a:buNone/>
            </a:pPr>
            <a:r>
              <a:rPr lang="en-US" sz="1150" dirty="0">
                <a:solidFill>
                  <a:srgbClr val="454C55"/>
                </a:solidFill>
                <a:latin typeface="Segoe UI" pitchFamily="34" charset="0"/>
                <a:ea typeface="Segoe UI" pitchFamily="34" charset="-122"/>
                <a:cs typeface="Segoe UI" pitchFamily="34" charset="-120"/>
              </a:rPr>
              <a:t>Mô hình 3 tỉ tham số cho giao diện, đã đông</a:t>
            </a:r>
            <a:endParaRPr lang="en-US" sz="1150" dirty="0"/>
          </a:p>
        </p:txBody>
      </p:sp>
      <p:sp>
        <p:nvSpPr>
          <p:cNvPr id="14" name="Shape 12"/>
          <p:cNvSpPr/>
          <p:nvPr/>
        </p:nvSpPr>
        <p:spPr>
          <a:xfrm>
            <a:off x="6309360" y="2194560"/>
            <a:ext cx="5029200" cy="2468880"/>
          </a:xfrm>
          <a:prstGeom prst="roundRect">
            <a:avLst>
              <a:gd name="adj" fmla="val 3704"/>
            </a:avLst>
          </a:prstGeom>
          <a:solidFill>
            <a:srgbClr val="F7EBE3"/>
          </a:solidFill>
          <a:ln/>
        </p:spPr>
      </p:sp>
      <p:sp>
        <p:nvSpPr>
          <p:cNvPr id="15" name="Text 13"/>
          <p:cNvSpPr/>
          <p:nvPr/>
        </p:nvSpPr>
        <p:spPr>
          <a:xfrm>
            <a:off x="6565392" y="2359152"/>
            <a:ext cx="4572000" cy="329184"/>
          </a:xfrm>
          <a:prstGeom prst="rect">
            <a:avLst/>
          </a:prstGeom>
          <a:noFill/>
          <a:ln/>
        </p:spPr>
        <p:txBody>
          <a:bodyPr wrap="square" lIns="0" tIns="0" rIns="0" bIns="0" rtlCol="0" anchor="t"/>
          <a:lstStyle/>
          <a:p>
            <a:pPr algn="l" indent="0" marL="0">
              <a:buNone/>
            </a:pPr>
            <a:r>
              <a:rPr lang="en-US" sz="1450" b="1" dirty="0">
                <a:solidFill>
                  <a:srgbClr val="BE5A2E"/>
                </a:solidFill>
                <a:latin typeface="Cambria" pitchFamily="34" charset="0"/>
                <a:ea typeface="Cambria" pitchFamily="34" charset="-122"/>
                <a:cs typeface="Cambria" pitchFamily="34" charset="-120"/>
              </a:rPr>
              <a:t>Mới — ba chỗ cụ thể</a:t>
            </a:r>
            <a:endParaRPr lang="en-US" sz="1450" dirty="0"/>
          </a:p>
        </p:txBody>
      </p:sp>
      <p:sp>
        <p:nvSpPr>
          <p:cNvPr id="16" name="Text 14"/>
          <p:cNvSpPr/>
          <p:nvPr/>
        </p:nvSpPr>
        <p:spPr>
          <a:xfrm>
            <a:off x="6583680" y="2761488"/>
            <a:ext cx="228600" cy="365760"/>
          </a:xfrm>
          <a:prstGeom prst="rect">
            <a:avLst/>
          </a:prstGeom>
          <a:noFill/>
          <a:ln/>
        </p:spPr>
        <p:txBody>
          <a:bodyPr wrap="square" lIns="0" tIns="0" rIns="0" bIns="0" rtlCol="0" anchor="t"/>
          <a:lstStyle/>
          <a:p>
            <a:pPr algn="l" indent="0" marL="0">
              <a:buNone/>
            </a:pPr>
            <a:r>
              <a:rPr lang="en-US" sz="1300" b="1" dirty="0">
                <a:solidFill>
                  <a:srgbClr val="BE5A2E"/>
                </a:solidFill>
                <a:latin typeface="Cambria" pitchFamily="34" charset="0"/>
                <a:ea typeface="Cambria" pitchFamily="34" charset="-122"/>
                <a:cs typeface="Cambria" pitchFamily="34" charset="-120"/>
              </a:rPr>
              <a:t>1</a:t>
            </a:r>
            <a:endParaRPr lang="en-US" sz="1300" dirty="0"/>
          </a:p>
        </p:txBody>
      </p:sp>
      <p:sp>
        <p:nvSpPr>
          <p:cNvPr id="17" name="Text 15"/>
          <p:cNvSpPr/>
          <p:nvPr/>
        </p:nvSpPr>
        <p:spPr>
          <a:xfrm>
            <a:off x="6858000" y="2743200"/>
            <a:ext cx="4389120" cy="566928"/>
          </a:xfrm>
          <a:prstGeom prst="rect">
            <a:avLst/>
          </a:prstGeom>
          <a:noFill/>
          <a:ln/>
        </p:spPr>
        <p:txBody>
          <a:bodyPr wrap="square" lIns="0" tIns="0" rIns="0" bIns="0" rtlCol="0" anchor="t"/>
          <a:lstStyle/>
          <a:p>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Đưa thông tin định danh vào MỤC TIÊU</a:t>
            </a:r>
            <a:endParaRPr lang="en-US" sz="1150" dirty="0"/>
          </a:p>
          <a:p>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huấn luyện, không chỉ vào đầu vào</a:t>
            </a:r>
            <a:endParaRPr lang="en-US" sz="1150" dirty="0"/>
          </a:p>
        </p:txBody>
      </p:sp>
      <p:sp>
        <p:nvSpPr>
          <p:cNvPr id="18" name="Text 16"/>
          <p:cNvSpPr/>
          <p:nvPr/>
        </p:nvSpPr>
        <p:spPr>
          <a:xfrm>
            <a:off x="6583680" y="3328416"/>
            <a:ext cx="228600" cy="365760"/>
          </a:xfrm>
          <a:prstGeom prst="rect">
            <a:avLst/>
          </a:prstGeom>
          <a:noFill/>
          <a:ln/>
        </p:spPr>
        <p:txBody>
          <a:bodyPr wrap="square" lIns="0" tIns="0" rIns="0" bIns="0" rtlCol="0" anchor="t"/>
          <a:lstStyle/>
          <a:p>
            <a:pPr algn="l" indent="0" marL="0">
              <a:buNone/>
            </a:pPr>
            <a:r>
              <a:rPr lang="en-US" sz="1300" b="1" dirty="0">
                <a:solidFill>
                  <a:srgbClr val="BE5A2E"/>
                </a:solidFill>
                <a:latin typeface="Cambria" pitchFamily="34" charset="0"/>
                <a:ea typeface="Cambria" pitchFamily="34" charset="-122"/>
                <a:cs typeface="Cambria" pitchFamily="34" charset="-120"/>
              </a:rPr>
              <a:t>2</a:t>
            </a:r>
            <a:endParaRPr lang="en-US" sz="1300" dirty="0"/>
          </a:p>
        </p:txBody>
      </p:sp>
      <p:sp>
        <p:nvSpPr>
          <p:cNvPr id="19" name="Text 17"/>
          <p:cNvSpPr/>
          <p:nvPr/>
        </p:nvSpPr>
        <p:spPr>
          <a:xfrm>
            <a:off x="6858000" y="3310128"/>
            <a:ext cx="4389120" cy="566928"/>
          </a:xfrm>
          <a:prstGeom prst="rect">
            <a:avLst/>
          </a:prstGeom>
          <a:noFill/>
          <a:ln/>
        </p:spPr>
        <p:txBody>
          <a:bodyPr wrap="square" lIns="0" tIns="0" rIns="0" bIns="0" rtlCol="0" anchor="t"/>
          <a:lstStyle/>
          <a:p>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Nguồn giám sát tầng giữa rút TỰ ĐỘNG từ</a:t>
            </a:r>
            <a:endParaRPr lang="en-US" sz="1150" dirty="0"/>
          </a:p>
          <a:p>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thao tác của người thật, không cần ai gán</a:t>
            </a:r>
            <a:endParaRPr lang="en-US" sz="1150" dirty="0"/>
          </a:p>
        </p:txBody>
      </p:sp>
      <p:sp>
        <p:nvSpPr>
          <p:cNvPr id="20" name="Text 18"/>
          <p:cNvSpPr/>
          <p:nvPr/>
        </p:nvSpPr>
        <p:spPr>
          <a:xfrm>
            <a:off x="6583680" y="3895344"/>
            <a:ext cx="228600" cy="365760"/>
          </a:xfrm>
          <a:prstGeom prst="rect">
            <a:avLst/>
          </a:prstGeom>
          <a:noFill/>
          <a:ln/>
        </p:spPr>
        <p:txBody>
          <a:bodyPr wrap="square" lIns="0" tIns="0" rIns="0" bIns="0" rtlCol="0" anchor="t"/>
          <a:lstStyle/>
          <a:p>
            <a:pPr algn="l" indent="0" marL="0">
              <a:buNone/>
            </a:pPr>
            <a:r>
              <a:rPr lang="en-US" sz="1300" b="1" dirty="0">
                <a:solidFill>
                  <a:srgbClr val="BE5A2E"/>
                </a:solidFill>
                <a:latin typeface="Cambria" pitchFamily="34" charset="0"/>
                <a:ea typeface="Cambria" pitchFamily="34" charset="-122"/>
                <a:cs typeface="Cambria" pitchFamily="34" charset="-120"/>
              </a:rPr>
              <a:t>3</a:t>
            </a:r>
            <a:endParaRPr lang="en-US" sz="1300" dirty="0"/>
          </a:p>
        </p:txBody>
      </p:sp>
      <p:sp>
        <p:nvSpPr>
          <p:cNvPr id="21" name="Text 19"/>
          <p:cNvSpPr/>
          <p:nvPr/>
        </p:nvSpPr>
        <p:spPr>
          <a:xfrm>
            <a:off x="6858000" y="3877056"/>
            <a:ext cx="4389120" cy="566928"/>
          </a:xfrm>
          <a:prstGeom prst="rect">
            <a:avLst/>
          </a:prstGeom>
          <a:noFill/>
          <a:ln/>
        </p:spPr>
        <p:txBody>
          <a:bodyPr wrap="square" lIns="0" tIns="0" rIns="0" bIns="0" rtlCol="0" anchor="t"/>
          <a:lstStyle/>
          <a:p>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Dùng câu hướng dẫn người viết làm ĐÍCH SINH,</a:t>
            </a:r>
            <a:endParaRPr lang="en-US" sz="1150" dirty="0"/>
          </a:p>
          <a:p>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mọi bài khác để nó ở đầu vào</a:t>
            </a:r>
            <a:endParaRPr lang="en-US" sz="1150" dirty="0"/>
          </a:p>
        </p:txBody>
      </p:sp>
      <p:sp>
        <p:nvSpPr>
          <p:cNvPr id="22" name="Shape 20"/>
          <p:cNvSpPr/>
          <p:nvPr/>
        </p:nvSpPr>
        <p:spPr>
          <a:xfrm>
            <a:off x="841248" y="4846320"/>
            <a:ext cx="10506456" cy="868680"/>
          </a:xfrm>
          <a:prstGeom prst="roundRect">
            <a:avLst>
              <a:gd name="adj" fmla="val 10526"/>
            </a:avLst>
          </a:prstGeom>
          <a:solidFill>
            <a:srgbClr val="17233B"/>
          </a:solidFill>
          <a:ln/>
        </p:spPr>
      </p:sp>
      <p:sp>
        <p:nvSpPr>
          <p:cNvPr id="23" name="Text 21"/>
          <p:cNvSpPr/>
          <p:nvPr/>
        </p:nvSpPr>
        <p:spPr>
          <a:xfrm>
            <a:off x="1115568" y="4846320"/>
            <a:ext cx="9957816" cy="868680"/>
          </a:xfrm>
          <a:prstGeom prst="rect">
            <a:avLst/>
          </a:prstGeom>
          <a:noFill/>
          <a:ln/>
        </p:spPr>
        <p:txBody>
          <a:bodyPr wrap="square" lIns="0" tIns="0" rIns="0" bIns="0" rtlCol="0" anchor="ctr"/>
          <a:lstStyle/>
          <a:p>
            <a:pPr algn="l" indent="0" marL="0">
              <a:lnSpc>
                <a:spcPct val="130000"/>
              </a:lnSpc>
              <a:buNone/>
            </a:pPr>
            <a:r>
              <a:rPr lang="en-US" sz="1250" b="1" dirty="0">
                <a:solidFill>
                  <a:srgbClr val="F0C9A8"/>
                </a:solidFill>
                <a:latin typeface="Segoe UI" pitchFamily="34" charset="0"/>
                <a:ea typeface="Segoe UI" pitchFamily="34" charset="-122"/>
                <a:cs typeface="Segoe UI" pitchFamily="34" charset="-120"/>
              </a:rPr>
              <a:t>Bằng chứng cứng nhất cho chỗ số 1:  </a:t>
            </a:r>
            <a:pPr algn="l" indent="0" marL="0">
              <a:lnSpc>
                <a:spcPct val="130000"/>
              </a:lnSpc>
              <a:buNone/>
            </a:pPr>
            <a:r>
              <a:rPr lang="en-US" sz="1250" dirty="0">
                <a:solidFill>
                  <a:srgbClr val="FFFFFF"/>
                </a:solidFill>
                <a:latin typeface="Segoe UI" pitchFamily="34" charset="0"/>
                <a:ea typeface="Segoe UI" pitchFamily="34" charset="-122"/>
                <a:cs typeface="Segoe UI" pitchFamily="34" charset="-120"/>
              </a:rPr>
              <a:t>bài gần nhất trong miền này đã NÊU RÕ vấn đề — trên một màn có hai biểu tượng kính lúp gần giống hệt nhau — nhưng cách họ xử là đưa ngữ cảnh vào đầu vào, còn hàm mất mát vẫn là cross entropy thuần.</a:t>
            </a:r>
            <a:endParaRPr lang="en-US" sz="1250" dirty="0"/>
          </a:p>
        </p:txBody>
      </p:sp>
      <p:sp>
        <p:nvSpPr>
          <p:cNvPr id="24" name="Text 22"/>
          <p:cNvSpPr/>
          <p:nvPr/>
        </p:nvSpPr>
        <p:spPr>
          <a:xfrm>
            <a:off x="841248" y="5897880"/>
            <a:ext cx="9692640" cy="457200"/>
          </a:xfrm>
          <a:prstGeom prst="rect">
            <a:avLst/>
          </a:prstGeom>
          <a:noFill/>
          <a:ln/>
        </p:spPr>
        <p:txBody>
          <a:bodyPr wrap="square" lIns="0" tIns="0" rIns="0" bIns="0" rtlCol="0" anchor="t"/>
          <a:lstStyle/>
          <a:p>
            <a:pPr algn="l" indent="0" marL="0">
              <a:buNone/>
            </a:pPr>
            <a:r>
              <a:rPr lang="en-US" sz="1250" i="1" dirty="0">
                <a:solidFill>
                  <a:srgbClr val="52657A"/>
                </a:solidFill>
                <a:latin typeface="Cambria" pitchFamily="34" charset="0"/>
                <a:ea typeface="Cambria" pitchFamily="34" charset="-122"/>
                <a:cs typeface="Cambria" pitchFamily="34" charset="-120"/>
              </a:rPr>
              <a:t>Tính mới ở mức tổ hợp, nguồn giám sát và miền áp dụng. Không phải kiến trúc mới, và luận văn nói đúng mức đó.</a:t>
            </a:r>
            <a:endParaRPr lang="en-US" sz="1250" dirty="0"/>
          </a:p>
        </p:txBody>
      </p:sp>
      <p:sp>
        <p:nvSpPr>
          <p:cNvPr id="26" name="Text 23"/>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PHẦN THỨ HAI: CÁCH CHẤM ĐỘ ĐÚNG</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Câu có đủ rõ để lần ra đúng nút hay không</a:t>
            </a:r>
            <a:endParaRPr lang="en-US" sz="2700" dirty="0"/>
          </a:p>
        </p:txBody>
      </p:sp>
      <p:sp>
        <p:nvSpPr>
          <p:cNvPr id="4" name="Shape 2"/>
          <p:cNvSpPr/>
          <p:nvPr/>
        </p:nvSpPr>
        <p:spPr>
          <a:xfrm>
            <a:off x="777240" y="2221992"/>
            <a:ext cx="1609344" cy="3593592"/>
          </a:xfrm>
          <a:prstGeom prst="roundRect">
            <a:avLst>
              <a:gd name="adj" fmla="val 3977"/>
            </a:avLst>
          </a:prstGeom>
          <a:solidFill>
            <a:srgbClr val="FFFFFF"/>
          </a:solidFill>
          <a:ln w="12700">
            <a:solidFill>
              <a:srgbClr val="DBE0E6"/>
            </a:solidFill>
            <a:prstDash val="solid"/>
          </a:ln>
          <a:effectLst>
            <a:outerShdw sx="100000" sy="100000" kx="0" ky="0" algn="bl" rotWithShape="0" blurRad="88900" dist="38100" dir="5400000">
              <a:srgbClr val="9AA3AD">
                <a:alpha val="28000"/>
              </a:srgbClr>
            </a:outerShdw>
          </a:effectLst>
        </p:spPr>
      </p:sp>
      <p:pic>
        <p:nvPicPr>
          <p:cNvPr id="5" name="Image 0" descr="_img/real_ground_1.png">    </p:cNvPr>
          <p:cNvPicPr>
            <a:picLocks noChangeAspect="1"/>
          </p:cNvPicPr>
          <p:nvPr/>
        </p:nvPicPr>
        <p:blipFill>
          <a:blip r:embed="rId1"/>
          <a:srcRect l="0" r="0" t="0" b="0"/>
          <a:stretch/>
        </p:blipFill>
        <p:spPr>
          <a:xfrm>
            <a:off x="841248" y="2286000"/>
            <a:ext cx="1481328" cy="3154680"/>
          </a:xfrm>
          <a:prstGeom prst="rect">
            <a:avLst/>
          </a:prstGeom>
        </p:spPr>
      </p:pic>
      <p:sp>
        <p:nvSpPr>
          <p:cNvPr id="6" name="Text 3"/>
          <p:cNvSpPr/>
          <p:nvPr/>
        </p:nvSpPr>
        <p:spPr>
          <a:xfrm>
            <a:off x="777240" y="5468112"/>
            <a:ext cx="1609344" cy="310896"/>
          </a:xfrm>
          <a:prstGeom prst="rect">
            <a:avLst/>
          </a:prstGeom>
          <a:noFill/>
          <a:ln/>
        </p:spPr>
        <p:txBody>
          <a:bodyPr wrap="square" lIns="0" tIns="0" rIns="0" bIns="0" rtlCol="0" anchor="ctr"/>
          <a:lstStyle/>
          <a:p>
            <a:pPr algn="ctr" indent="0" marL="0">
              <a:buNone/>
            </a:pPr>
            <a:r>
              <a:rPr lang="en-US" sz="1200" b="1" dirty="0">
                <a:solidFill>
                  <a:srgbClr val="1D2733"/>
                </a:solidFill>
                <a:latin typeface="Segoe UI" pitchFamily="34" charset="0"/>
                <a:ea typeface="Segoe UI" pitchFamily="34" charset="-122"/>
                <a:cs typeface="Segoe UI" pitchFamily="34" charset="-120"/>
              </a:rPr>
              <a:t>“invert the lens” → trúng nút</a:t>
            </a:r>
            <a:endParaRPr lang="en-US" sz="1200" dirty="0"/>
          </a:p>
        </p:txBody>
      </p:sp>
      <p:sp>
        <p:nvSpPr>
          <p:cNvPr id="7" name="Shape 4"/>
          <p:cNvSpPr/>
          <p:nvPr/>
        </p:nvSpPr>
        <p:spPr>
          <a:xfrm>
            <a:off x="2697480" y="2286000"/>
            <a:ext cx="8650224" cy="1600200"/>
          </a:xfrm>
          <a:prstGeom prst="roundRect">
            <a:avLst>
              <a:gd name="adj" fmla="val 5714"/>
            </a:avLst>
          </a:prstGeom>
          <a:solidFill>
            <a:srgbClr val="F3F5F7"/>
          </a:solidFill>
          <a:ln/>
        </p:spPr>
      </p:sp>
      <p:sp>
        <p:nvSpPr>
          <p:cNvPr id="8" name="Text 5"/>
          <p:cNvSpPr/>
          <p:nvPr/>
        </p:nvSpPr>
        <p:spPr>
          <a:xfrm>
            <a:off x="2926080" y="2432304"/>
            <a:ext cx="7772400" cy="365760"/>
          </a:xfrm>
          <a:prstGeom prst="rect">
            <a:avLst/>
          </a:prstGeom>
          <a:noFill/>
          <a:ln/>
        </p:spPr>
        <p:txBody>
          <a:bodyPr wrap="square" lIns="0" tIns="0" rIns="0" bIns="0" rtlCol="0" anchor="t"/>
          <a:lstStyle/>
          <a:p>
            <a:pPr algn="l" indent="0" marL="0">
              <a:buNone/>
            </a:pPr>
            <a:r>
              <a:rPr lang="en-US" sz="1500" b="1" dirty="0">
                <a:solidFill>
                  <a:srgbClr val="BE5A2E"/>
                </a:solidFill>
                <a:latin typeface="Cambria" pitchFamily="34" charset="0"/>
                <a:ea typeface="Cambria" pitchFamily="34" charset="-122"/>
                <a:cs typeface="Cambria" pitchFamily="34" charset="-120"/>
              </a:rPr>
              <a:t>Ba bước</a:t>
            </a:r>
            <a:endParaRPr lang="en-US" sz="1500" dirty="0"/>
          </a:p>
        </p:txBody>
      </p:sp>
      <p:sp>
        <p:nvSpPr>
          <p:cNvPr id="9" name="Text 6"/>
          <p:cNvSpPr/>
          <p:nvPr/>
        </p:nvSpPr>
        <p:spPr>
          <a:xfrm>
            <a:off x="2926080" y="2834640"/>
            <a:ext cx="8375904" cy="1005840"/>
          </a:xfrm>
          <a:prstGeom prst="rect">
            <a:avLst/>
          </a:prstGeom>
          <a:noFill/>
          <a:ln/>
        </p:spPr>
        <p:txBody>
          <a:bodyPr wrap="square" lIns="0" tIns="0" rIns="0" bIns="0" rtlCol="0" anchor="t"/>
          <a:lstStyle/>
          <a:p>
            <a:pPr algn="l" indent="0" marL="0">
              <a:lnSpc>
                <a:spcPct val="145000"/>
              </a:lnSpc>
              <a:buNone/>
            </a:pPr>
            <a:r>
              <a:rPr lang="en-US" sz="1300" dirty="0">
                <a:solidFill>
                  <a:srgbClr val="1D2733"/>
                </a:solidFill>
                <a:latin typeface="Segoe UI" pitchFamily="34" charset="0"/>
                <a:ea typeface="Segoe UI" pitchFamily="34" charset="-122"/>
                <a:cs typeface="Segoe UI" pitchFamily="34" charset="-120"/>
              </a:rPr>
              <a:t>1.  Giấu mục tiêu đi, chỉ đưa cho bộ trỏ một ảnh và một câu.</a:t>
            </a:r>
            <a:endParaRPr lang="en-US" sz="1300" dirty="0"/>
          </a:p>
          <a:p>
            <a:pPr algn="l" indent="0" marL="0">
              <a:lnSpc>
                <a:spcPct val="145000"/>
              </a:lnSpc>
              <a:buNone/>
            </a:pPr>
            <a:r>
              <a:rPr lang="en-US" sz="1300" dirty="0">
                <a:solidFill>
                  <a:srgbClr val="1D2733"/>
                </a:solidFill>
                <a:latin typeface="Segoe UI" pitchFamily="34" charset="0"/>
                <a:ea typeface="Segoe UI" pitchFamily="34" charset="-122"/>
                <a:cs typeface="Segoe UI" pitchFamily="34" charset="-120"/>
              </a:rPr>
              <a:t>2.  Bộ trỏ chấm một điểm nên chạm, là chấm xanh trong ảnh bên.</a:t>
            </a:r>
            <a:endParaRPr lang="en-US" sz="1300" dirty="0"/>
          </a:p>
          <a:p>
            <a:pPr algn="l" indent="0" marL="0">
              <a:lnSpc>
                <a:spcPct val="145000"/>
              </a:lnSpc>
              <a:buNone/>
            </a:pPr>
            <a:r>
              <a:rPr lang="en-US" sz="1300" dirty="0">
                <a:solidFill>
                  <a:srgbClr val="1D2733"/>
                </a:solidFill>
                <a:latin typeface="Segoe UI" pitchFamily="34" charset="0"/>
                <a:ea typeface="Segoe UI" pitchFamily="34" charset="-122"/>
                <a:cs typeface="Segoe UI" pitchFamily="34" charset="-120"/>
              </a:rPr>
              <a:t>3.  Điểm rơi trúng vùng nút cần bấm, khung đỏ, thì câu đó đúng.</a:t>
            </a:r>
            <a:endParaRPr lang="en-US" sz="1300" dirty="0"/>
          </a:p>
        </p:txBody>
      </p:sp>
      <p:sp>
        <p:nvSpPr>
          <p:cNvPr id="10" name="Shape 7"/>
          <p:cNvSpPr/>
          <p:nvPr/>
        </p:nvSpPr>
        <p:spPr>
          <a:xfrm>
            <a:off x="2697480" y="4023360"/>
            <a:ext cx="4160520" cy="1234440"/>
          </a:xfrm>
          <a:prstGeom prst="roundRect">
            <a:avLst>
              <a:gd name="adj" fmla="val 7407"/>
            </a:avLst>
          </a:prstGeom>
          <a:solidFill>
            <a:srgbClr val="FFFFFF"/>
          </a:solidFill>
          <a:ln w="17780">
            <a:solidFill>
              <a:srgbClr val="1E6B43"/>
            </a:solidFill>
            <a:prstDash val="solid"/>
          </a:ln>
        </p:spPr>
      </p:sp>
      <p:sp>
        <p:nvSpPr>
          <p:cNvPr id="11" name="Text 8"/>
          <p:cNvSpPr/>
          <p:nvPr/>
        </p:nvSpPr>
        <p:spPr>
          <a:xfrm>
            <a:off x="2926080" y="4160520"/>
            <a:ext cx="3749040" cy="320040"/>
          </a:xfrm>
          <a:prstGeom prst="rect">
            <a:avLst/>
          </a:prstGeom>
          <a:noFill/>
          <a:ln/>
        </p:spPr>
        <p:txBody>
          <a:bodyPr wrap="square" lIns="0" tIns="0" rIns="0" bIns="0" rtlCol="0" anchor="t"/>
          <a:lstStyle/>
          <a:p>
            <a:pPr algn="l" indent="0" marL="0">
              <a:buNone/>
            </a:pPr>
            <a:r>
              <a:rPr lang="en-US" sz="1350" b="1" dirty="0">
                <a:solidFill>
                  <a:srgbClr val="1E6B43"/>
                </a:solidFill>
                <a:latin typeface="Segoe UI" pitchFamily="34" charset="0"/>
                <a:ea typeface="Segoe UI" pitchFamily="34" charset="-122"/>
                <a:cs typeface="Segoe UI" pitchFamily="34" charset="-120"/>
              </a:rPr>
              <a:t>Không chấm theo câu chữ</a:t>
            </a:r>
            <a:endParaRPr lang="en-US" sz="1350" dirty="0"/>
          </a:p>
        </p:txBody>
      </p:sp>
      <p:sp>
        <p:nvSpPr>
          <p:cNvPr id="12" name="Text 9"/>
          <p:cNvSpPr/>
          <p:nvPr/>
        </p:nvSpPr>
        <p:spPr>
          <a:xfrm>
            <a:off x="2926080" y="4498848"/>
            <a:ext cx="3749040" cy="685800"/>
          </a:xfrm>
          <a:prstGeom prst="rect">
            <a:avLst/>
          </a:prstGeom>
          <a:noFill/>
          <a:ln/>
        </p:spPr>
        <p:txBody>
          <a:bodyPr wrap="square" lIns="0" tIns="0" rIns="0" bIns="0" rtlCol="0" anchor="t"/>
          <a:lstStyle/>
          <a:p>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Gọi tên kiểu gì cũng được, miễn</a:t>
            </a:r>
            <a:endParaRPr lang="en-US" sz="1250" dirty="0"/>
          </a:p>
          <a:p>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bộ trỏ lần ra đúng nút.</a:t>
            </a:r>
            <a:endParaRPr lang="en-US" sz="1250" dirty="0"/>
          </a:p>
        </p:txBody>
      </p:sp>
      <p:sp>
        <p:nvSpPr>
          <p:cNvPr id="13" name="Shape 10"/>
          <p:cNvSpPr/>
          <p:nvPr/>
        </p:nvSpPr>
        <p:spPr>
          <a:xfrm>
            <a:off x="7178040" y="4023360"/>
            <a:ext cx="4160520" cy="1234440"/>
          </a:xfrm>
          <a:prstGeom prst="roundRect">
            <a:avLst>
              <a:gd name="adj" fmla="val 7407"/>
            </a:avLst>
          </a:prstGeom>
          <a:solidFill>
            <a:srgbClr val="FFFFFF"/>
          </a:solidFill>
          <a:ln w="17780">
            <a:solidFill>
              <a:srgbClr val="1E6B43"/>
            </a:solidFill>
            <a:prstDash val="solid"/>
          </a:ln>
        </p:spPr>
      </p:sp>
      <p:sp>
        <p:nvSpPr>
          <p:cNvPr id="14" name="Text 11"/>
          <p:cNvSpPr/>
          <p:nvPr/>
        </p:nvSpPr>
        <p:spPr>
          <a:xfrm>
            <a:off x="7406640" y="4160520"/>
            <a:ext cx="3749040" cy="320040"/>
          </a:xfrm>
          <a:prstGeom prst="rect">
            <a:avLst/>
          </a:prstGeom>
          <a:noFill/>
          <a:ln/>
        </p:spPr>
        <p:txBody>
          <a:bodyPr wrap="square" lIns="0" tIns="0" rIns="0" bIns="0" rtlCol="0" anchor="t"/>
          <a:lstStyle/>
          <a:p>
            <a:pPr algn="l" indent="0" marL="0">
              <a:buNone/>
            </a:pPr>
            <a:r>
              <a:rPr lang="en-US" sz="1350" b="1" dirty="0">
                <a:solidFill>
                  <a:srgbClr val="1E6B43"/>
                </a:solidFill>
                <a:latin typeface="Segoe UI" pitchFamily="34" charset="0"/>
                <a:ea typeface="Segoe UI" pitchFamily="34" charset="-122"/>
                <a:cs typeface="Segoe UI" pitchFamily="34" charset="-120"/>
              </a:rPr>
              <a:t>Chống màn quá dễ</a:t>
            </a:r>
            <a:endParaRPr lang="en-US" sz="1350" dirty="0"/>
          </a:p>
        </p:txBody>
      </p:sp>
      <p:sp>
        <p:nvSpPr>
          <p:cNvPr id="15" name="Text 12"/>
          <p:cNvSpPr/>
          <p:nvPr/>
        </p:nvSpPr>
        <p:spPr>
          <a:xfrm>
            <a:off x="7406640" y="4498848"/>
            <a:ext cx="3749040" cy="685800"/>
          </a:xfrm>
          <a:prstGeom prst="rect">
            <a:avLst/>
          </a:prstGeom>
          <a:noFill/>
          <a:ln/>
        </p:spPr>
        <p:txBody>
          <a:bodyPr wrap="square" lIns="0" tIns="0" rIns="0" bIns="0" rtlCol="0" anchor="t"/>
          <a:lstStyle/>
          <a:p>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Chạy thêm một lượt không đưa câu</a:t>
            </a:r>
            <a:endParaRPr lang="en-US" sz="1250" dirty="0"/>
          </a:p>
          <a:p>
            <a:pPr algn="l" indent="0" marL="0">
              <a:lnSpc>
                <a:spcPct val="130000"/>
              </a:lnSpc>
              <a:buNone/>
            </a:pPr>
            <a:r>
              <a:rPr lang="en-US" sz="1250" dirty="0">
                <a:solidFill>
                  <a:srgbClr val="454C55"/>
                </a:solidFill>
                <a:latin typeface="Segoe UI" pitchFamily="34" charset="0"/>
                <a:ea typeface="Segoe UI" pitchFamily="34" charset="-122"/>
                <a:cs typeface="Segoe UI" pitchFamily="34" charset="-120"/>
              </a:rPr>
              <a:t>làm sàn. Giá trị thật là phần chênh.</a:t>
            </a:r>
            <a:endParaRPr lang="en-US" sz="1250" dirty="0"/>
          </a:p>
        </p:txBody>
      </p:sp>
      <p:sp>
        <p:nvSpPr>
          <p:cNvPr id="16" name="Shape 13"/>
          <p:cNvSpPr/>
          <p:nvPr/>
        </p:nvSpPr>
        <p:spPr>
          <a:xfrm>
            <a:off x="2697480" y="5394960"/>
            <a:ext cx="8650224" cy="777240"/>
          </a:xfrm>
          <a:prstGeom prst="roundRect">
            <a:avLst>
              <a:gd name="adj" fmla="val 11765"/>
            </a:avLst>
          </a:prstGeom>
          <a:solidFill>
            <a:srgbClr val="F7EBE3"/>
          </a:solidFill>
          <a:ln/>
        </p:spPr>
      </p:sp>
      <p:sp>
        <p:nvSpPr>
          <p:cNvPr id="17" name="Text 14"/>
          <p:cNvSpPr/>
          <p:nvPr/>
        </p:nvSpPr>
        <p:spPr>
          <a:xfrm>
            <a:off x="2926080" y="5394960"/>
            <a:ext cx="8375904" cy="777240"/>
          </a:xfrm>
          <a:prstGeom prst="rect">
            <a:avLst/>
          </a:prstGeom>
          <a:noFill/>
          <a:ln/>
        </p:spPr>
        <p:txBody>
          <a:bodyPr wrap="square" lIns="0" tIns="0" rIns="0" bIns="0" rtlCol="0" anchor="ctr"/>
          <a:lstStyle/>
          <a:p>
            <a:pPr algn="l" indent="0" marL="0">
              <a:lnSpc>
                <a:spcPct val="130000"/>
              </a:lnSpc>
              <a:buNone/>
            </a:pPr>
            <a:r>
              <a:rPr lang="en-US" sz="1250" b="1" dirty="0">
                <a:solidFill>
                  <a:srgbClr val="BE5A2E"/>
                </a:solidFill>
                <a:latin typeface="Segoe UI" pitchFamily="34" charset="0"/>
                <a:ea typeface="Segoe UI" pitchFamily="34" charset="-122"/>
                <a:cs typeface="Segoe UI" pitchFamily="34" charset="-120"/>
              </a:rPr>
              <a:t>Một chỗ phải nói rõ:  </a:t>
            </a:r>
            <a:pPr algn="l" indent="0" marL="0">
              <a:lnSpc>
                <a:spcPct val="130000"/>
              </a:lnSpc>
              <a:buNone/>
            </a:pPr>
            <a:r>
              <a:rPr lang="en-US" sz="1250" dirty="0">
                <a:solidFill>
                  <a:srgbClr val="1D2733"/>
                </a:solidFill>
                <a:latin typeface="Segoe UI" pitchFamily="34" charset="0"/>
                <a:ea typeface="Segoe UI" pitchFamily="34" charset="-122"/>
                <a:cs typeface="Segoe UI" pitchFamily="34" charset="-120"/>
              </a:rPr>
              <a:t>bộ trỏ vẫn hơi thiên vị câu dài (câu ngắn trúng 35%, câu dài 69%). Nên phép so chính đặt ở hai mô hình cùng giọng, khi đó nhiễu này triệt tiêu.</a:t>
            </a:r>
            <a:endParaRPr lang="en-US" sz="1250" dirty="0"/>
          </a:p>
        </p:txBody>
      </p:sp>
      <p:sp>
        <p:nvSpPr>
          <p:cNvPr id="19" name="Text 15"/>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ĐO THỬ TRƯỚC KHI TIN</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Câu tốt hơn hẳn đoán bừa ở mọi cách chấm; danh sách nút càng đầy đủ thì thước càng chặt</a:t>
            </a:r>
            <a:endParaRPr lang="en-US" sz="2700" dirty="0"/>
          </a:p>
        </p:txBody>
      </p:sp>
      <p:sp>
        <p:nvSpPr>
          <p:cNvPr id="4" name="Text 2"/>
          <p:cNvSpPr/>
          <p:nvPr/>
        </p:nvSpPr>
        <p:spPr>
          <a:xfrm>
            <a:off x="704088" y="2852928"/>
            <a:ext cx="237744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Đưa câu đáp án chuẩn</a:t>
            </a:r>
            <a:endParaRPr lang="en-US" sz="1200" dirty="0"/>
          </a:p>
        </p:txBody>
      </p:sp>
      <p:sp>
        <p:nvSpPr>
          <p:cNvPr id="5" name="Text 3"/>
          <p:cNvSpPr/>
          <p:nvPr/>
        </p:nvSpPr>
        <p:spPr>
          <a:xfrm>
            <a:off x="704088" y="3310128"/>
            <a:ext cx="237744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Không đưa câu (sàn)</a:t>
            </a:r>
            <a:endParaRPr lang="en-US" sz="1200" dirty="0"/>
          </a:p>
        </p:txBody>
      </p:sp>
      <p:sp>
        <p:nvSpPr>
          <p:cNvPr id="6" name="Text 4"/>
          <p:cNvSpPr/>
          <p:nvPr/>
        </p:nvSpPr>
        <p:spPr>
          <a:xfrm>
            <a:off x="704088" y="3785616"/>
            <a:ext cx="2377440" cy="320040"/>
          </a:xfrm>
          <a:prstGeom prst="rect">
            <a:avLst/>
          </a:prstGeom>
          <a:noFill/>
          <a:ln/>
        </p:spPr>
        <p:txBody>
          <a:bodyPr wrap="square" lIns="0" tIns="0" rIns="0" bIns="0" rtlCol="0" anchor="t"/>
          <a:lstStyle/>
          <a:p>
            <a:pPr algn="l" indent="0" marL="0">
              <a:buNone/>
            </a:pPr>
            <a:r>
              <a:rPr lang="en-US" sz="1200" b="1" dirty="0">
                <a:solidFill>
                  <a:srgbClr val="1D2733"/>
                </a:solidFill>
                <a:latin typeface="Segoe UI" pitchFamily="34" charset="0"/>
                <a:ea typeface="Segoe UI" pitchFamily="34" charset="-122"/>
                <a:cs typeface="Segoe UI" pitchFamily="34" charset="-120"/>
              </a:rPr>
              <a:t>Chênh lệch</a:t>
            </a:r>
            <a:endParaRPr lang="en-US" sz="1200" dirty="0"/>
          </a:p>
        </p:txBody>
      </p:sp>
      <p:sp>
        <p:nvSpPr>
          <p:cNvPr id="7" name="Shape 5"/>
          <p:cNvSpPr/>
          <p:nvPr/>
        </p:nvSpPr>
        <p:spPr>
          <a:xfrm>
            <a:off x="3246120" y="2240280"/>
            <a:ext cx="1874520" cy="2011680"/>
          </a:xfrm>
          <a:prstGeom prst="roundRect">
            <a:avLst>
              <a:gd name="adj" fmla="val 4390"/>
            </a:avLst>
          </a:prstGeom>
          <a:solidFill>
            <a:srgbClr val="F3F5F7"/>
          </a:solidFill>
          <a:ln/>
        </p:spPr>
      </p:sp>
      <p:sp>
        <p:nvSpPr>
          <p:cNvPr id="8" name="Text 6"/>
          <p:cNvSpPr/>
          <p:nvPr/>
        </p:nvSpPr>
        <p:spPr>
          <a:xfrm>
            <a:off x="3319272" y="2331720"/>
            <a:ext cx="1728216" cy="502920"/>
          </a:xfrm>
          <a:prstGeom prst="rect">
            <a:avLst/>
          </a:prstGeom>
          <a:noFill/>
          <a:ln/>
        </p:spPr>
        <p:txBody>
          <a:bodyPr wrap="square" lIns="0" tIns="0" rIns="0" bIns="0" rtlCol="0" anchor="t"/>
          <a:lstStyle/>
          <a:p>
            <a:pPr algn="ctr" indent="0" marL="0">
              <a:lnSpc>
                <a:spcPct val="120000"/>
              </a:lnSpc>
              <a:buNone/>
            </a:pPr>
            <a:r>
              <a:rPr lang="en-US" sz="1050" b="1" dirty="0">
                <a:solidFill>
                  <a:srgbClr val="52657A"/>
                </a:solidFill>
                <a:latin typeface="Segoe UI" pitchFamily="34" charset="0"/>
                <a:ea typeface="Segoe UI" pitchFamily="34" charset="-122"/>
                <a:cs typeface="Segoe UI" pitchFamily="34" charset="-120"/>
              </a:rPr>
              <a:t>Chấm rộng</a:t>
            </a:r>
            <a:endParaRPr lang="en-US" sz="1050" dirty="0"/>
          </a:p>
          <a:p>
            <a:pPr algn="ctr" indent="0" marL="0">
              <a:lnSpc>
                <a:spcPct val="120000"/>
              </a:lnSpc>
              <a:buNone/>
            </a:pPr>
            <a:r>
              <a:rPr lang="en-US" sz="1050" b="1" dirty="0">
                <a:solidFill>
                  <a:srgbClr val="52657A"/>
                </a:solidFill>
                <a:latin typeface="Segoe UI" pitchFamily="34" charset="0"/>
                <a:ea typeface="Segoe UI" pitchFamily="34" charset="-122"/>
                <a:cs typeface="Segoe UI" pitchFamily="34" charset="-120"/>
              </a:rPr>
              <a:t>(đĩa dung sai)</a:t>
            </a:r>
            <a:endParaRPr lang="en-US" sz="1050" dirty="0"/>
          </a:p>
        </p:txBody>
      </p:sp>
      <p:sp>
        <p:nvSpPr>
          <p:cNvPr id="9" name="Text 7"/>
          <p:cNvSpPr/>
          <p:nvPr/>
        </p:nvSpPr>
        <p:spPr>
          <a:xfrm>
            <a:off x="3246120" y="28529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51.3%</a:t>
            </a:r>
            <a:endParaRPr lang="en-US" sz="1350" dirty="0"/>
          </a:p>
        </p:txBody>
      </p:sp>
      <p:sp>
        <p:nvSpPr>
          <p:cNvPr id="10" name="Text 8"/>
          <p:cNvSpPr/>
          <p:nvPr/>
        </p:nvSpPr>
        <p:spPr>
          <a:xfrm>
            <a:off x="3246120" y="33101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6.6%</a:t>
            </a:r>
            <a:endParaRPr lang="en-US" sz="1350" dirty="0"/>
          </a:p>
        </p:txBody>
      </p:sp>
      <p:sp>
        <p:nvSpPr>
          <p:cNvPr id="11" name="Text 9"/>
          <p:cNvSpPr/>
          <p:nvPr/>
        </p:nvSpPr>
        <p:spPr>
          <a:xfrm>
            <a:off x="3246120" y="3730752"/>
            <a:ext cx="1874520" cy="411480"/>
          </a:xfrm>
          <a:prstGeom prst="rect">
            <a:avLst/>
          </a:prstGeom>
          <a:noFill/>
          <a:ln/>
        </p:spPr>
        <p:txBody>
          <a:bodyPr wrap="square" lIns="0" tIns="0" rIns="0" bIns="0" rtlCol="0" anchor="t"/>
          <a:lstStyle/>
          <a:p>
            <a:pPr algn="ctr" indent="0" marL="0">
              <a:buNone/>
            </a:pPr>
            <a:r>
              <a:rPr lang="en-US" sz="1750" b="1" dirty="0">
                <a:solidFill>
                  <a:srgbClr val="8B929B"/>
                </a:solidFill>
                <a:latin typeface="Cambria" pitchFamily="34" charset="0"/>
                <a:ea typeface="Cambria" pitchFamily="34" charset="-122"/>
                <a:cs typeface="Cambria" pitchFamily="34" charset="-120"/>
              </a:rPr>
              <a:t>+44.7</a:t>
            </a:r>
            <a:endParaRPr lang="en-US" sz="1750" dirty="0"/>
          </a:p>
        </p:txBody>
      </p:sp>
      <p:sp>
        <p:nvSpPr>
          <p:cNvPr id="12" name="Shape 10"/>
          <p:cNvSpPr/>
          <p:nvPr/>
        </p:nvSpPr>
        <p:spPr>
          <a:xfrm>
            <a:off x="5212080" y="2240280"/>
            <a:ext cx="1874520" cy="2011680"/>
          </a:xfrm>
          <a:prstGeom prst="roundRect">
            <a:avLst>
              <a:gd name="adj" fmla="val 4390"/>
            </a:avLst>
          </a:prstGeom>
          <a:solidFill>
            <a:srgbClr val="F3F5F7"/>
          </a:solidFill>
          <a:ln/>
        </p:spPr>
      </p:sp>
      <p:sp>
        <p:nvSpPr>
          <p:cNvPr id="13" name="Text 11"/>
          <p:cNvSpPr/>
          <p:nvPr/>
        </p:nvSpPr>
        <p:spPr>
          <a:xfrm>
            <a:off x="5285232" y="2331720"/>
            <a:ext cx="1728216" cy="502920"/>
          </a:xfrm>
          <a:prstGeom prst="rect">
            <a:avLst/>
          </a:prstGeom>
          <a:noFill/>
          <a:ln/>
        </p:spPr>
        <p:txBody>
          <a:bodyPr wrap="square" lIns="0" tIns="0" rIns="0" bIns="0" rtlCol="0" anchor="t"/>
          <a:lstStyle/>
          <a:p>
            <a:pPr algn="ctr" indent="0" marL="0">
              <a:lnSpc>
                <a:spcPct val="120000"/>
              </a:lnSpc>
              <a:buNone/>
            </a:pPr>
            <a:r>
              <a:rPr lang="en-US" sz="1050" b="1" dirty="0">
                <a:solidFill>
                  <a:srgbClr val="52657A"/>
                </a:solidFill>
                <a:latin typeface="Segoe UI" pitchFamily="34" charset="0"/>
                <a:ea typeface="Segoe UI" pitchFamily="34" charset="-122"/>
                <a:cs typeface="Segoe UI" pitchFamily="34" charset="-120"/>
              </a:rPr>
              <a:t>Chặt, nút từ</a:t>
            </a:r>
            <a:endParaRPr lang="en-US" sz="1050" dirty="0"/>
          </a:p>
          <a:p>
            <a:pPr algn="ctr" indent="0" marL="0">
              <a:lnSpc>
                <a:spcPct val="120000"/>
              </a:lnSpc>
              <a:buNone/>
            </a:pPr>
            <a:r>
              <a:rPr lang="en-US" sz="1050" b="1" dirty="0">
                <a:solidFill>
                  <a:srgbClr val="52657A"/>
                </a:solidFill>
                <a:latin typeface="Segoe UI" pitchFamily="34" charset="0"/>
                <a:ea typeface="Segoe UI" pitchFamily="34" charset="-122"/>
                <a:cs typeface="Segoe UI" pitchFamily="34" charset="-120"/>
              </a:rPr>
              <a:t>bộ đọc chữ</a:t>
            </a:r>
            <a:endParaRPr lang="en-US" sz="1050" dirty="0"/>
          </a:p>
        </p:txBody>
      </p:sp>
      <p:sp>
        <p:nvSpPr>
          <p:cNvPr id="14" name="Text 12"/>
          <p:cNvSpPr/>
          <p:nvPr/>
        </p:nvSpPr>
        <p:spPr>
          <a:xfrm>
            <a:off x="5212080" y="28529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35.5%</a:t>
            </a:r>
            <a:endParaRPr lang="en-US" sz="1350" dirty="0"/>
          </a:p>
        </p:txBody>
      </p:sp>
      <p:sp>
        <p:nvSpPr>
          <p:cNvPr id="15" name="Text 13"/>
          <p:cNvSpPr/>
          <p:nvPr/>
        </p:nvSpPr>
        <p:spPr>
          <a:xfrm>
            <a:off x="5212080" y="33101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2.6%</a:t>
            </a:r>
            <a:endParaRPr lang="en-US" sz="1350" dirty="0"/>
          </a:p>
        </p:txBody>
      </p:sp>
      <p:sp>
        <p:nvSpPr>
          <p:cNvPr id="16" name="Text 14"/>
          <p:cNvSpPr/>
          <p:nvPr/>
        </p:nvSpPr>
        <p:spPr>
          <a:xfrm>
            <a:off x="5212080" y="3730752"/>
            <a:ext cx="1874520" cy="411480"/>
          </a:xfrm>
          <a:prstGeom prst="rect">
            <a:avLst/>
          </a:prstGeom>
          <a:noFill/>
          <a:ln/>
        </p:spPr>
        <p:txBody>
          <a:bodyPr wrap="square" lIns="0" tIns="0" rIns="0" bIns="0" rtlCol="0" anchor="t"/>
          <a:lstStyle/>
          <a:p>
            <a:pPr algn="ctr" indent="0" marL="0">
              <a:buNone/>
            </a:pPr>
            <a:r>
              <a:rPr lang="en-US" sz="1750" b="1" dirty="0">
                <a:solidFill>
                  <a:srgbClr val="52657A"/>
                </a:solidFill>
                <a:latin typeface="Cambria" pitchFamily="34" charset="0"/>
                <a:ea typeface="Cambria" pitchFamily="34" charset="-122"/>
                <a:cs typeface="Cambria" pitchFamily="34" charset="-120"/>
              </a:rPr>
              <a:t>+32.9</a:t>
            </a:r>
            <a:endParaRPr lang="en-US" sz="1750" dirty="0"/>
          </a:p>
        </p:txBody>
      </p:sp>
      <p:sp>
        <p:nvSpPr>
          <p:cNvPr id="17" name="Shape 15"/>
          <p:cNvSpPr/>
          <p:nvPr/>
        </p:nvSpPr>
        <p:spPr>
          <a:xfrm>
            <a:off x="7178040" y="2240280"/>
            <a:ext cx="1874520" cy="2011680"/>
          </a:xfrm>
          <a:prstGeom prst="roundRect">
            <a:avLst>
              <a:gd name="adj" fmla="val 4390"/>
            </a:avLst>
          </a:prstGeom>
          <a:solidFill>
            <a:srgbClr val="F3F5F7"/>
          </a:solidFill>
          <a:ln/>
        </p:spPr>
      </p:sp>
      <p:sp>
        <p:nvSpPr>
          <p:cNvPr id="18" name="Text 16"/>
          <p:cNvSpPr/>
          <p:nvPr/>
        </p:nvSpPr>
        <p:spPr>
          <a:xfrm>
            <a:off x="7251192" y="2331720"/>
            <a:ext cx="1728216" cy="502920"/>
          </a:xfrm>
          <a:prstGeom prst="rect">
            <a:avLst/>
          </a:prstGeom>
          <a:noFill/>
          <a:ln/>
        </p:spPr>
        <p:txBody>
          <a:bodyPr wrap="square" lIns="0" tIns="0" rIns="0" bIns="0" rtlCol="0" anchor="t"/>
          <a:lstStyle/>
          <a:p>
            <a:pPr algn="ctr" indent="0" marL="0">
              <a:lnSpc>
                <a:spcPct val="120000"/>
              </a:lnSpc>
              <a:buNone/>
            </a:pPr>
            <a:r>
              <a:rPr lang="en-US" sz="1050" b="1" dirty="0">
                <a:solidFill>
                  <a:srgbClr val="52657A"/>
                </a:solidFill>
                <a:latin typeface="Segoe UI" pitchFamily="34" charset="0"/>
                <a:ea typeface="Segoe UI" pitchFamily="34" charset="-122"/>
                <a:cs typeface="Segoe UI" pitchFamily="34" charset="-120"/>
              </a:rPr>
              <a:t>Chặt, nút từ</a:t>
            </a:r>
            <a:endParaRPr lang="en-US" sz="1050" dirty="0"/>
          </a:p>
          <a:p>
            <a:pPr algn="ctr" indent="0" marL="0">
              <a:lnSpc>
                <a:spcPct val="120000"/>
              </a:lnSpc>
              <a:buNone/>
            </a:pPr>
            <a:r>
              <a:rPr lang="en-US" sz="1050" b="1" dirty="0">
                <a:solidFill>
                  <a:srgbClr val="52657A"/>
                </a:solidFill>
                <a:latin typeface="Segoe UI" pitchFamily="34" charset="0"/>
                <a:ea typeface="Segoe UI" pitchFamily="34" charset="-122"/>
                <a:cs typeface="Segoe UI" pitchFamily="34" charset="-120"/>
              </a:rPr>
              <a:t>bộ dò hình</a:t>
            </a:r>
            <a:endParaRPr lang="en-US" sz="1050" dirty="0"/>
          </a:p>
        </p:txBody>
      </p:sp>
      <p:sp>
        <p:nvSpPr>
          <p:cNvPr id="19" name="Text 17"/>
          <p:cNvSpPr/>
          <p:nvPr/>
        </p:nvSpPr>
        <p:spPr>
          <a:xfrm>
            <a:off x="7178040" y="28529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19.7%</a:t>
            </a:r>
            <a:endParaRPr lang="en-US" sz="1350" dirty="0"/>
          </a:p>
        </p:txBody>
      </p:sp>
      <p:sp>
        <p:nvSpPr>
          <p:cNvPr id="20" name="Text 18"/>
          <p:cNvSpPr/>
          <p:nvPr/>
        </p:nvSpPr>
        <p:spPr>
          <a:xfrm>
            <a:off x="7178040" y="33101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0.0%</a:t>
            </a:r>
            <a:endParaRPr lang="en-US" sz="1350" dirty="0"/>
          </a:p>
        </p:txBody>
      </p:sp>
      <p:sp>
        <p:nvSpPr>
          <p:cNvPr id="21" name="Text 19"/>
          <p:cNvSpPr/>
          <p:nvPr/>
        </p:nvSpPr>
        <p:spPr>
          <a:xfrm>
            <a:off x="7178040" y="3730752"/>
            <a:ext cx="1874520" cy="411480"/>
          </a:xfrm>
          <a:prstGeom prst="rect">
            <a:avLst/>
          </a:prstGeom>
          <a:noFill/>
          <a:ln/>
        </p:spPr>
        <p:txBody>
          <a:bodyPr wrap="square" lIns="0" tIns="0" rIns="0" bIns="0" rtlCol="0" anchor="t"/>
          <a:lstStyle/>
          <a:p>
            <a:pPr algn="ctr" indent="0" marL="0">
              <a:buNone/>
            </a:pPr>
            <a:r>
              <a:rPr lang="en-US" sz="1750" b="1" dirty="0">
                <a:solidFill>
                  <a:srgbClr val="52657A"/>
                </a:solidFill>
                <a:latin typeface="Cambria" pitchFamily="34" charset="0"/>
                <a:ea typeface="Cambria" pitchFamily="34" charset="-122"/>
                <a:cs typeface="Cambria" pitchFamily="34" charset="-120"/>
              </a:rPr>
              <a:t>+19.7</a:t>
            </a:r>
            <a:endParaRPr lang="en-US" sz="1750" dirty="0"/>
          </a:p>
        </p:txBody>
      </p:sp>
      <p:sp>
        <p:nvSpPr>
          <p:cNvPr id="22" name="Shape 20"/>
          <p:cNvSpPr/>
          <p:nvPr/>
        </p:nvSpPr>
        <p:spPr>
          <a:xfrm>
            <a:off x="9144000" y="2240280"/>
            <a:ext cx="1874520" cy="2011680"/>
          </a:xfrm>
          <a:prstGeom prst="roundRect">
            <a:avLst>
              <a:gd name="adj" fmla="val 4390"/>
            </a:avLst>
          </a:prstGeom>
          <a:solidFill>
            <a:srgbClr val="F7EBE3"/>
          </a:solidFill>
          <a:ln/>
        </p:spPr>
      </p:sp>
      <p:sp>
        <p:nvSpPr>
          <p:cNvPr id="23" name="Text 21"/>
          <p:cNvSpPr/>
          <p:nvPr/>
        </p:nvSpPr>
        <p:spPr>
          <a:xfrm>
            <a:off x="9217152" y="2331720"/>
            <a:ext cx="1728216" cy="502920"/>
          </a:xfrm>
          <a:prstGeom prst="rect">
            <a:avLst/>
          </a:prstGeom>
          <a:noFill/>
          <a:ln/>
        </p:spPr>
        <p:txBody>
          <a:bodyPr wrap="square" lIns="0" tIns="0" rIns="0" bIns="0" rtlCol="0" anchor="t"/>
          <a:lstStyle/>
          <a:p>
            <a:pPr algn="ctr" indent="0" marL="0">
              <a:lnSpc>
                <a:spcPct val="120000"/>
              </a:lnSpc>
              <a:buNone/>
            </a:pPr>
            <a:r>
              <a:rPr lang="en-US" sz="1050" b="1" dirty="0">
                <a:solidFill>
                  <a:srgbClr val="BE5A2E"/>
                </a:solidFill>
                <a:latin typeface="Segoe UI" pitchFamily="34" charset="0"/>
                <a:ea typeface="Segoe UI" pitchFamily="34" charset="-122"/>
                <a:cs typeface="Segoe UI" pitchFamily="34" charset="-120"/>
              </a:rPr>
              <a:t>Chặt, nút THẬT</a:t>
            </a:r>
            <a:endParaRPr lang="en-US" sz="1050" dirty="0"/>
          </a:p>
          <a:p>
            <a:pPr algn="ctr" indent="0" marL="0">
              <a:lnSpc>
                <a:spcPct val="120000"/>
              </a:lnSpc>
              <a:buNone/>
            </a:pPr>
            <a:r>
              <a:rPr lang="en-US" sz="1050" b="1" dirty="0">
                <a:solidFill>
                  <a:srgbClr val="BE5A2E"/>
                </a:solidFill>
                <a:latin typeface="Segoe UI" pitchFamily="34" charset="0"/>
                <a:ea typeface="Segoe UI" pitchFamily="34" charset="-122"/>
                <a:cs typeface="Segoe UI" pitchFamily="34" charset="-120"/>
              </a:rPr>
              <a:t>từ hệ điều hành</a:t>
            </a:r>
            <a:endParaRPr lang="en-US" sz="1050" dirty="0"/>
          </a:p>
        </p:txBody>
      </p:sp>
      <p:sp>
        <p:nvSpPr>
          <p:cNvPr id="24" name="Text 22"/>
          <p:cNvSpPr/>
          <p:nvPr/>
        </p:nvSpPr>
        <p:spPr>
          <a:xfrm>
            <a:off x="9144000" y="28529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6.6%</a:t>
            </a:r>
            <a:endParaRPr lang="en-US" sz="1350" dirty="0"/>
          </a:p>
        </p:txBody>
      </p:sp>
      <p:sp>
        <p:nvSpPr>
          <p:cNvPr id="25" name="Text 23"/>
          <p:cNvSpPr/>
          <p:nvPr/>
        </p:nvSpPr>
        <p:spPr>
          <a:xfrm>
            <a:off x="9144000" y="3310128"/>
            <a:ext cx="1874520" cy="320040"/>
          </a:xfrm>
          <a:prstGeom prst="rect">
            <a:avLst/>
          </a:prstGeom>
          <a:noFill/>
          <a:ln/>
        </p:spPr>
        <p:txBody>
          <a:bodyPr wrap="square" lIns="0" tIns="0" rIns="0" bIns="0" rtlCol="0" anchor="t"/>
          <a:lstStyle/>
          <a:p>
            <a:pPr algn="ctr" indent="0" marL="0">
              <a:buNone/>
            </a:pPr>
            <a:r>
              <a:rPr lang="en-US" sz="1350" dirty="0">
                <a:solidFill>
                  <a:srgbClr val="454C55"/>
                </a:solidFill>
                <a:latin typeface="Segoe UI" pitchFamily="34" charset="0"/>
                <a:ea typeface="Segoe UI" pitchFamily="34" charset="-122"/>
                <a:cs typeface="Segoe UI" pitchFamily="34" charset="-120"/>
              </a:rPr>
              <a:t>0.0%</a:t>
            </a:r>
            <a:endParaRPr lang="en-US" sz="1350" dirty="0"/>
          </a:p>
        </p:txBody>
      </p:sp>
      <p:sp>
        <p:nvSpPr>
          <p:cNvPr id="26" name="Text 24"/>
          <p:cNvSpPr/>
          <p:nvPr/>
        </p:nvSpPr>
        <p:spPr>
          <a:xfrm>
            <a:off x="9144000" y="3730752"/>
            <a:ext cx="1874520" cy="411480"/>
          </a:xfrm>
          <a:prstGeom prst="rect">
            <a:avLst/>
          </a:prstGeom>
          <a:noFill/>
          <a:ln/>
        </p:spPr>
        <p:txBody>
          <a:bodyPr wrap="square" lIns="0" tIns="0" rIns="0" bIns="0" rtlCol="0" anchor="t"/>
          <a:lstStyle/>
          <a:p>
            <a:pPr algn="ctr" indent="0" marL="0">
              <a:buNone/>
            </a:pPr>
            <a:r>
              <a:rPr lang="en-US" sz="1750" b="1" dirty="0">
                <a:solidFill>
                  <a:srgbClr val="BE5A2E"/>
                </a:solidFill>
                <a:latin typeface="Cambria" pitchFamily="34" charset="0"/>
                <a:ea typeface="Cambria" pitchFamily="34" charset="-122"/>
                <a:cs typeface="Cambria" pitchFamily="34" charset="-120"/>
              </a:rPr>
              <a:t>+6.6</a:t>
            </a:r>
            <a:endParaRPr lang="en-US" sz="1750" dirty="0"/>
          </a:p>
        </p:txBody>
      </p:sp>
      <p:sp>
        <p:nvSpPr>
          <p:cNvPr id="27" name="Shape 25"/>
          <p:cNvSpPr/>
          <p:nvPr/>
        </p:nvSpPr>
        <p:spPr>
          <a:xfrm>
            <a:off x="841248" y="4434840"/>
            <a:ext cx="10506456" cy="868680"/>
          </a:xfrm>
          <a:prstGeom prst="roundRect">
            <a:avLst>
              <a:gd name="adj" fmla="val 10526"/>
            </a:avLst>
          </a:prstGeom>
          <a:solidFill>
            <a:srgbClr val="17233B"/>
          </a:solidFill>
          <a:ln/>
        </p:spPr>
      </p:sp>
      <p:sp>
        <p:nvSpPr>
          <p:cNvPr id="28" name="Text 26"/>
          <p:cNvSpPr/>
          <p:nvPr/>
        </p:nvSpPr>
        <p:spPr>
          <a:xfrm>
            <a:off x="1115568" y="4434840"/>
            <a:ext cx="9957816" cy="868680"/>
          </a:xfrm>
          <a:prstGeom prst="rect">
            <a:avLst/>
          </a:prstGeom>
          <a:noFill/>
          <a:ln/>
        </p:spPr>
        <p:txBody>
          <a:bodyPr wrap="square" lIns="0" tIns="0" rIns="0" bIns="0" rtlCol="0" anchor="ctr"/>
          <a:lstStyle/>
          <a:p>
            <a:pPr algn="l" indent="0" marL="0">
              <a:lnSpc>
                <a:spcPct val="130000"/>
              </a:lnSpc>
              <a:buNone/>
            </a:pPr>
            <a:r>
              <a:rPr lang="en-US" sz="1250" b="1" dirty="0">
                <a:solidFill>
                  <a:srgbClr val="F0C9A8"/>
                </a:solidFill>
                <a:latin typeface="Segoe UI" pitchFamily="34" charset="0"/>
                <a:ea typeface="Segoe UI" pitchFamily="34" charset="-122"/>
                <a:cs typeface="Segoe UI" pitchFamily="34" charset="-120"/>
              </a:rPr>
              <a:t>Vì sao cột cuối tụt mạnh.  </a:t>
            </a:r>
            <a:pPr algn="l" indent="0" marL="0">
              <a:lnSpc>
                <a:spcPct val="130000"/>
              </a:lnSpc>
              <a:buNone/>
            </a:pPr>
            <a:r>
              <a:rPr lang="en-US" sz="1250" dirty="0">
                <a:solidFill>
                  <a:srgbClr val="FFFFFF"/>
                </a:solidFill>
                <a:latin typeface="Segoe UI" pitchFamily="34" charset="0"/>
                <a:ea typeface="Segoe UI" pitchFamily="34" charset="-122"/>
                <a:cs typeface="Segoe UI" pitchFamily="34" charset="-120"/>
              </a:rPr>
              <a:t>Phần tử cần chạm rộng 189×126 pixel, phần tử KHÁC gần nhất chỉ cách 69 pixel, mà bộ trỏ giá rẻ lệch tới 256 pixel. Nó lệch xa hơn cả khoảng cách sang nút bên cạnh nên gần như luôn rơi vào ô nút khác. Con số thấp đó đo DỤNG CỤ, không đo câu hướng dẫn.</a:t>
            </a:r>
            <a:endParaRPr lang="en-US" sz="1250" dirty="0"/>
          </a:p>
        </p:txBody>
      </p:sp>
      <p:sp>
        <p:nvSpPr>
          <p:cNvPr id="29" name="Shape 27"/>
          <p:cNvSpPr/>
          <p:nvPr/>
        </p:nvSpPr>
        <p:spPr>
          <a:xfrm>
            <a:off x="841248" y="5440680"/>
            <a:ext cx="5074920" cy="777240"/>
          </a:xfrm>
          <a:prstGeom prst="roundRect">
            <a:avLst>
              <a:gd name="adj" fmla="val 10588"/>
            </a:avLst>
          </a:prstGeom>
          <a:solidFill>
            <a:srgbClr val="F3F5F7"/>
          </a:solidFill>
          <a:ln/>
        </p:spPr>
      </p:sp>
      <p:sp>
        <p:nvSpPr>
          <p:cNvPr id="30" name="Text 28"/>
          <p:cNvSpPr/>
          <p:nvPr/>
        </p:nvSpPr>
        <p:spPr>
          <a:xfrm>
            <a:off x="1069848" y="5440680"/>
            <a:ext cx="4617720" cy="777240"/>
          </a:xfrm>
          <a:prstGeom prst="rect">
            <a:avLst/>
          </a:prstGeom>
          <a:noFill/>
          <a:ln/>
        </p:spPr>
        <p:txBody>
          <a:bodyPr wrap="square" lIns="0" tIns="0" rIns="0" bIns="0" rtlCol="0" anchor="ctr"/>
          <a:lstStyle/>
          <a:p>
            <a:pPr algn="l" indent="0" marL="0">
              <a:lnSpc>
                <a:spcPct val="128000"/>
              </a:lnSpc>
              <a:buNone/>
            </a:pPr>
            <a:r>
              <a:rPr lang="en-US" sz="1200" b="1" dirty="0">
                <a:solidFill>
                  <a:srgbClr val="1E6B43"/>
                </a:solidFill>
                <a:latin typeface="Cambria" pitchFamily="34" charset="0"/>
                <a:ea typeface="Cambria" pitchFamily="34" charset="-122"/>
                <a:cs typeface="Cambria" pitchFamily="34" charset="-120"/>
              </a:rPr>
              <a:t>8/10  </a:t>
            </a:r>
            <a:pPr algn="l" indent="0" marL="0">
              <a:lnSpc>
                <a:spcPct val="128000"/>
              </a:lnSpc>
              <a:buNone/>
            </a:pPr>
            <a:r>
              <a:rPr lang="en-US" sz="1200" dirty="0">
                <a:solidFill>
                  <a:srgbClr val="454C55"/>
                </a:solidFill>
                <a:latin typeface="Segoe UI" pitchFamily="34" charset="0"/>
                <a:ea typeface="Segoe UI" pitchFamily="34" charset="-122"/>
                <a:cs typeface="Segoe UI" pitchFamily="34" charset="-120"/>
              </a:rPr>
              <a:t>ngưỡng đạt khi bơm lỗi, ngưỡng khoá trước khi chạy. Hai chỗ rớt giữ nguyên, không nới cho vừa.</a:t>
            </a:r>
            <a:endParaRPr lang="en-US" sz="1200" dirty="0"/>
          </a:p>
        </p:txBody>
      </p:sp>
      <p:sp>
        <p:nvSpPr>
          <p:cNvPr id="31" name="Shape 29"/>
          <p:cNvSpPr/>
          <p:nvPr/>
        </p:nvSpPr>
        <p:spPr>
          <a:xfrm>
            <a:off x="6263640" y="5440680"/>
            <a:ext cx="5074920" cy="777240"/>
          </a:xfrm>
          <a:prstGeom prst="roundRect">
            <a:avLst>
              <a:gd name="adj" fmla="val 10588"/>
            </a:avLst>
          </a:prstGeom>
          <a:solidFill>
            <a:srgbClr val="F3F5F7"/>
          </a:solidFill>
          <a:ln/>
        </p:spPr>
      </p:sp>
      <p:sp>
        <p:nvSpPr>
          <p:cNvPr id="32" name="Text 30"/>
          <p:cNvSpPr/>
          <p:nvPr/>
        </p:nvSpPr>
        <p:spPr>
          <a:xfrm>
            <a:off x="6492240" y="5440680"/>
            <a:ext cx="4617720" cy="777240"/>
          </a:xfrm>
          <a:prstGeom prst="rect">
            <a:avLst/>
          </a:prstGeom>
          <a:noFill/>
          <a:ln/>
        </p:spPr>
        <p:txBody>
          <a:bodyPr wrap="square" lIns="0" tIns="0" rIns="0" bIns="0" rtlCol="0" anchor="ctr"/>
          <a:lstStyle/>
          <a:p>
            <a:pPr algn="l" indent="0" marL="0">
              <a:lnSpc>
                <a:spcPct val="128000"/>
              </a:lnSpc>
              <a:buNone/>
            </a:pPr>
            <a:r>
              <a:rPr lang="en-US" sz="1200" b="1" dirty="0">
                <a:solidFill>
                  <a:srgbClr val="B23B3B"/>
                </a:solidFill>
                <a:latin typeface="Cambria" pitchFamily="34" charset="0"/>
                <a:ea typeface="Cambria" pitchFamily="34" charset="-122"/>
                <a:cs typeface="Cambria" pitchFamily="34" charset="-120"/>
              </a:rPr>
              <a:t>69 px  </a:t>
            </a:r>
            <a:pPr algn="l" indent="0" marL="0">
              <a:lnSpc>
                <a:spcPct val="128000"/>
              </a:lnSpc>
              <a:buNone/>
            </a:pPr>
            <a:r>
              <a:rPr lang="en-US" sz="1200" dirty="0">
                <a:solidFill>
                  <a:srgbClr val="454C55"/>
                </a:solidFill>
                <a:latin typeface="Segoe UI" pitchFamily="34" charset="0"/>
                <a:ea typeface="Segoe UI" pitchFamily="34" charset="-122"/>
                <a:cs typeface="Segoe UI" pitchFamily="34" charset="-120"/>
              </a:rPr>
              <a:t>là khoảng cách giữa hai nút cạnh nhau. Bộ trỏ phải lệch dưới mức đó thì cách chấm chặt mới dùng được.</a:t>
            </a:r>
            <a:endParaRPr lang="en-US" sz="1200" dirty="0"/>
          </a:p>
        </p:txBody>
      </p:sp>
      <p:sp>
        <p:nvSpPr>
          <p:cNvPr id="34" name="Text 31"/>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BỐN CHỖ HỞ, SAU ĐỢT ĐO LẠI</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Hai chỗ vá xong, hai chỗ hoá ra sâu hơn tưởng</a:t>
            </a:r>
            <a:endParaRPr lang="en-US" sz="2700" dirty="0"/>
          </a:p>
        </p:txBody>
      </p:sp>
      <p:sp>
        <p:nvSpPr>
          <p:cNvPr id="4" name="Shape 2"/>
          <p:cNvSpPr/>
          <p:nvPr/>
        </p:nvSpPr>
        <p:spPr>
          <a:xfrm>
            <a:off x="841248" y="2240280"/>
            <a:ext cx="10506456" cy="932688"/>
          </a:xfrm>
          <a:prstGeom prst="roundRect">
            <a:avLst>
              <a:gd name="adj" fmla="val 7843"/>
            </a:avLst>
          </a:prstGeom>
          <a:solidFill>
            <a:srgbClr val="F3F5F7"/>
          </a:solidFill>
          <a:ln/>
        </p:spPr>
      </p:sp>
      <p:sp>
        <p:nvSpPr>
          <p:cNvPr id="5" name="Shape 3"/>
          <p:cNvSpPr/>
          <p:nvPr/>
        </p:nvSpPr>
        <p:spPr>
          <a:xfrm>
            <a:off x="1042416" y="2514600"/>
            <a:ext cx="384048" cy="384048"/>
          </a:xfrm>
          <a:prstGeom prst="ellipse">
            <a:avLst/>
          </a:prstGeom>
          <a:solidFill>
            <a:srgbClr val="52657A"/>
          </a:solidFill>
          <a:ln/>
        </p:spPr>
      </p:sp>
      <p:sp>
        <p:nvSpPr>
          <p:cNvPr id="6" name="Text 4"/>
          <p:cNvSpPr/>
          <p:nvPr/>
        </p:nvSpPr>
        <p:spPr>
          <a:xfrm>
            <a:off x="1042416" y="2514600"/>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1</a:t>
            </a:r>
            <a:endParaRPr lang="en-US" sz="1428" dirty="0"/>
          </a:p>
        </p:txBody>
      </p:sp>
      <p:sp>
        <p:nvSpPr>
          <p:cNvPr id="7" name="Text 5"/>
          <p:cNvSpPr/>
          <p:nvPr/>
        </p:nvSpPr>
        <p:spPr>
          <a:xfrm>
            <a:off x="1591056" y="2240280"/>
            <a:ext cx="3566160" cy="932688"/>
          </a:xfrm>
          <a:prstGeom prst="rect">
            <a:avLst/>
          </a:prstGeom>
          <a:noFill/>
          <a:ln/>
        </p:spPr>
        <p:txBody>
          <a:bodyPr wrap="square" lIns="0" tIns="0" rIns="0" bIns="0" rtlCol="0" anchor="ctr"/>
          <a:lstStyle/>
          <a:p>
            <a:pPr algn="l" indent="0" marL="0">
              <a:lnSpc>
                <a:spcPct val="120000"/>
              </a:lnSpc>
              <a:buNone/>
            </a:pPr>
            <a:r>
              <a:rPr lang="en-US" sz="1300" b="1" dirty="0">
                <a:solidFill>
                  <a:srgbClr val="1D2733"/>
                </a:solidFill>
                <a:latin typeface="Segoe UI" pitchFamily="34" charset="0"/>
                <a:ea typeface="Segoe UI" pitchFamily="34" charset="-122"/>
                <a:cs typeface="Segoe UI" pitchFamily="34" charset="-120"/>
              </a:rPr>
              <a:t>Bật với tắt · đã vá</a:t>
            </a:r>
            <a:endParaRPr lang="en-US" sz="1300" dirty="0"/>
          </a:p>
        </p:txBody>
      </p:sp>
      <p:sp>
        <p:nvSpPr>
          <p:cNvPr id="8" name="Text 6"/>
          <p:cNvSpPr/>
          <p:nvPr/>
        </p:nvSpPr>
        <p:spPr>
          <a:xfrm>
            <a:off x="5276088" y="2240280"/>
            <a:ext cx="3337560" cy="932688"/>
          </a:xfrm>
          <a:prstGeom prst="rect">
            <a:avLst/>
          </a:prstGeom>
          <a:noFill/>
          <a:ln/>
        </p:spPr>
        <p:txBody>
          <a:bodyPr wrap="square" lIns="0" tIns="0" rIns="0" bIns="0" rtlCol="0" anchor="ctr"/>
          <a:lstStyle/>
          <a:p>
            <a:pPr algn="l" indent="0" marL="0">
              <a:lnSpc>
                <a:spcPct val="125000"/>
              </a:lnSpc>
              <a:buNone/>
            </a:pPr>
            <a:r>
              <a:rPr lang="en-US" sz="1150" dirty="0">
                <a:solidFill>
                  <a:srgbClr val="454C55"/>
                </a:solidFill>
                <a:latin typeface="Segoe UI" pitchFamily="34" charset="0"/>
                <a:ea typeface="Segoe UI" pitchFamily="34" charset="-122"/>
                <a:cs typeface="Segoe UI" pitchFamily="34" charset="-120"/>
              </a:rPr>
              <a:t>bắt hết cặp trong bảng, không kêu oan câu nào. Còn mù với cặp kiểu next / previous</a:t>
            </a:r>
            <a:endParaRPr lang="en-US" sz="1150" dirty="0"/>
          </a:p>
        </p:txBody>
      </p:sp>
      <p:sp>
        <p:nvSpPr>
          <p:cNvPr id="9" name="Text 7"/>
          <p:cNvSpPr/>
          <p:nvPr/>
        </p:nvSpPr>
        <p:spPr>
          <a:xfrm>
            <a:off x="8750808" y="2240280"/>
            <a:ext cx="2560320" cy="932688"/>
          </a:xfrm>
          <a:prstGeom prst="rect">
            <a:avLst/>
          </a:prstGeom>
          <a:noFill/>
          <a:ln/>
        </p:spPr>
        <p:txBody>
          <a:bodyPr wrap="square" lIns="0" tIns="0" rIns="0" bIns="0" rtlCol="0" anchor="ctr"/>
          <a:lstStyle/>
          <a:p>
            <a:pPr algn="l" indent="0" marL="0">
              <a:lnSpc>
                <a:spcPct val="125000"/>
              </a:lnSpc>
              <a:buNone/>
            </a:pPr>
            <a:r>
              <a:rPr lang="en-US" sz="1150" b="1" dirty="0">
                <a:solidFill>
                  <a:srgbClr val="1E6B43"/>
                </a:solidFill>
                <a:latin typeface="Segoe UI" pitchFamily="34" charset="0"/>
                <a:ea typeface="Segoe UI" pitchFamily="34" charset="-122"/>
                <a:cs typeface="Segoe UI" pitchFamily="34" charset="-120"/>
              </a:rPr>
              <a:t>→ </a:t>
            </a:r>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loại thật sự nguy hiểm chỉ chiếm 1% số bước</a:t>
            </a:r>
            <a:endParaRPr lang="en-US" sz="1150" dirty="0"/>
          </a:p>
        </p:txBody>
      </p:sp>
      <p:sp>
        <p:nvSpPr>
          <p:cNvPr id="10" name="Shape 8"/>
          <p:cNvSpPr/>
          <p:nvPr/>
        </p:nvSpPr>
        <p:spPr>
          <a:xfrm>
            <a:off x="841248" y="3246120"/>
            <a:ext cx="10506456" cy="932688"/>
          </a:xfrm>
          <a:prstGeom prst="roundRect">
            <a:avLst>
              <a:gd name="adj" fmla="val 7843"/>
            </a:avLst>
          </a:prstGeom>
          <a:solidFill>
            <a:srgbClr val="F3F5F7"/>
          </a:solidFill>
          <a:ln/>
        </p:spPr>
      </p:sp>
      <p:sp>
        <p:nvSpPr>
          <p:cNvPr id="11" name="Shape 9"/>
          <p:cNvSpPr/>
          <p:nvPr/>
        </p:nvSpPr>
        <p:spPr>
          <a:xfrm>
            <a:off x="1042416" y="3520440"/>
            <a:ext cx="384048" cy="384048"/>
          </a:xfrm>
          <a:prstGeom prst="ellipse">
            <a:avLst/>
          </a:prstGeom>
          <a:solidFill>
            <a:srgbClr val="52657A"/>
          </a:solidFill>
          <a:ln/>
        </p:spPr>
      </p:sp>
      <p:sp>
        <p:nvSpPr>
          <p:cNvPr id="12" name="Text 10"/>
          <p:cNvSpPr/>
          <p:nvPr/>
        </p:nvSpPr>
        <p:spPr>
          <a:xfrm>
            <a:off x="1042416" y="3520440"/>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2</a:t>
            </a:r>
            <a:endParaRPr lang="en-US" sz="1428" dirty="0"/>
          </a:p>
        </p:txBody>
      </p:sp>
      <p:sp>
        <p:nvSpPr>
          <p:cNvPr id="13" name="Text 11"/>
          <p:cNvSpPr/>
          <p:nvPr/>
        </p:nvSpPr>
        <p:spPr>
          <a:xfrm>
            <a:off x="1591056" y="3246120"/>
            <a:ext cx="3566160" cy="932688"/>
          </a:xfrm>
          <a:prstGeom prst="rect">
            <a:avLst/>
          </a:prstGeom>
          <a:noFill/>
          <a:ln/>
        </p:spPr>
        <p:txBody>
          <a:bodyPr wrap="square" lIns="0" tIns="0" rIns="0" bIns="0" rtlCol="0" anchor="ctr"/>
          <a:lstStyle/>
          <a:p>
            <a:pPr algn="l" indent="0" marL="0">
              <a:lnSpc>
                <a:spcPct val="120000"/>
              </a:lnSpc>
              <a:buNone/>
            </a:pPr>
            <a:r>
              <a:rPr lang="en-US" sz="1300" b="1" dirty="0">
                <a:solidFill>
                  <a:srgbClr val="1D2733"/>
                </a:solidFill>
                <a:latin typeface="Segoe UI" pitchFamily="34" charset="0"/>
                <a:ea typeface="Segoe UI" pitchFamily="34" charset="-122"/>
                <a:cs typeface="Segoe UI" pitchFamily="34" charset="-120"/>
              </a:rPr>
              <a:t>Bước gõ và cuộn · đã có cách chấm</a:t>
            </a:r>
            <a:endParaRPr lang="en-US" sz="1300" dirty="0"/>
          </a:p>
        </p:txBody>
      </p:sp>
      <p:sp>
        <p:nvSpPr>
          <p:cNvPr id="14" name="Text 12"/>
          <p:cNvSpPr/>
          <p:nvPr/>
        </p:nvSpPr>
        <p:spPr>
          <a:xfrm>
            <a:off x="5276088" y="3246120"/>
            <a:ext cx="3337560" cy="932688"/>
          </a:xfrm>
          <a:prstGeom prst="rect">
            <a:avLst/>
          </a:prstGeom>
          <a:noFill/>
          <a:ln/>
        </p:spPr>
        <p:txBody>
          <a:bodyPr wrap="square" lIns="0" tIns="0" rIns="0" bIns="0" rtlCol="0" anchor="ctr"/>
          <a:lstStyle/>
          <a:p>
            <a:pPr algn="l" indent="0" marL="0">
              <a:lnSpc>
                <a:spcPct val="125000"/>
              </a:lnSpc>
              <a:buNone/>
            </a:pPr>
            <a:r>
              <a:rPr lang="en-US" sz="1150" dirty="0">
                <a:solidFill>
                  <a:srgbClr val="454C55"/>
                </a:solidFill>
                <a:latin typeface="Segoe UI" pitchFamily="34" charset="0"/>
                <a:ea typeface="Segoe UI" pitchFamily="34" charset="-122"/>
                <a:cs typeface="Segoe UI" pitchFamily="34" charset="-120"/>
              </a:rPr>
              <a:t>trước chỉ là lời hứa. Nay bắt gõ sai nội dung 93%, cuộn sai hướng 100%</a:t>
            </a:r>
            <a:endParaRPr lang="en-US" sz="1150" dirty="0"/>
          </a:p>
        </p:txBody>
      </p:sp>
      <p:sp>
        <p:nvSpPr>
          <p:cNvPr id="15" name="Text 13"/>
          <p:cNvSpPr/>
          <p:nvPr/>
        </p:nvSpPr>
        <p:spPr>
          <a:xfrm>
            <a:off x="8750808" y="3246120"/>
            <a:ext cx="2560320" cy="932688"/>
          </a:xfrm>
          <a:prstGeom prst="rect">
            <a:avLst/>
          </a:prstGeom>
          <a:noFill/>
          <a:ln/>
        </p:spPr>
        <p:txBody>
          <a:bodyPr wrap="square" lIns="0" tIns="0" rIns="0" bIns="0" rtlCol="0" anchor="ctr"/>
          <a:lstStyle/>
          <a:p>
            <a:pPr algn="l" indent="0" marL="0">
              <a:lnSpc>
                <a:spcPct val="125000"/>
              </a:lnSpc>
              <a:buNone/>
            </a:pPr>
            <a:r>
              <a:rPr lang="en-US" sz="1150" b="1" dirty="0">
                <a:solidFill>
                  <a:srgbClr val="1E6B43"/>
                </a:solidFill>
                <a:latin typeface="Segoe UI" pitchFamily="34" charset="0"/>
                <a:ea typeface="Segoe UI" pitchFamily="34" charset="-122"/>
                <a:cs typeface="Segoe UI" pitchFamily="34" charset="-120"/>
              </a:rPr>
              <a:t>→ </a:t>
            </a:r>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vẫn báo tách hai con số, không gộp</a:t>
            </a:r>
            <a:endParaRPr lang="en-US" sz="1150" dirty="0"/>
          </a:p>
        </p:txBody>
      </p:sp>
      <p:sp>
        <p:nvSpPr>
          <p:cNvPr id="16" name="Shape 14"/>
          <p:cNvSpPr/>
          <p:nvPr/>
        </p:nvSpPr>
        <p:spPr>
          <a:xfrm>
            <a:off x="841248" y="4251960"/>
            <a:ext cx="10506456" cy="932688"/>
          </a:xfrm>
          <a:prstGeom prst="roundRect">
            <a:avLst>
              <a:gd name="adj" fmla="val 7843"/>
            </a:avLst>
          </a:prstGeom>
          <a:solidFill>
            <a:srgbClr val="F7EBE3"/>
          </a:solidFill>
          <a:ln/>
        </p:spPr>
      </p:sp>
      <p:sp>
        <p:nvSpPr>
          <p:cNvPr id="17" name="Shape 15"/>
          <p:cNvSpPr/>
          <p:nvPr/>
        </p:nvSpPr>
        <p:spPr>
          <a:xfrm>
            <a:off x="1042416" y="4526280"/>
            <a:ext cx="384048" cy="384048"/>
          </a:xfrm>
          <a:prstGeom prst="ellipse">
            <a:avLst/>
          </a:prstGeom>
          <a:solidFill>
            <a:srgbClr val="BE5A2E"/>
          </a:solidFill>
          <a:ln/>
        </p:spPr>
      </p:sp>
      <p:sp>
        <p:nvSpPr>
          <p:cNvPr id="18" name="Text 16"/>
          <p:cNvSpPr/>
          <p:nvPr/>
        </p:nvSpPr>
        <p:spPr>
          <a:xfrm>
            <a:off x="1042416" y="4526280"/>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3</a:t>
            </a:r>
            <a:endParaRPr lang="en-US" sz="1428" dirty="0"/>
          </a:p>
        </p:txBody>
      </p:sp>
      <p:sp>
        <p:nvSpPr>
          <p:cNvPr id="19" name="Text 17"/>
          <p:cNvSpPr/>
          <p:nvPr/>
        </p:nvSpPr>
        <p:spPr>
          <a:xfrm>
            <a:off x="1591056" y="4251960"/>
            <a:ext cx="3566160" cy="932688"/>
          </a:xfrm>
          <a:prstGeom prst="rect">
            <a:avLst/>
          </a:prstGeom>
          <a:noFill/>
          <a:ln/>
        </p:spPr>
        <p:txBody>
          <a:bodyPr wrap="square" lIns="0" tIns="0" rIns="0" bIns="0" rtlCol="0" anchor="ctr"/>
          <a:lstStyle/>
          <a:p>
            <a:pPr algn="l" indent="0" marL="0">
              <a:lnSpc>
                <a:spcPct val="120000"/>
              </a:lnSpc>
              <a:buNone/>
            </a:pPr>
            <a:r>
              <a:rPr lang="en-US" sz="1300" b="1" dirty="0">
                <a:solidFill>
                  <a:srgbClr val="1D2733"/>
                </a:solidFill>
                <a:latin typeface="Segoe UI" pitchFamily="34" charset="0"/>
                <a:ea typeface="Segoe UI" pitchFamily="34" charset="-122"/>
                <a:cs typeface="Segoe UI" pitchFamily="34" charset="-120"/>
              </a:rPr>
              <a:t>Bộ trỏ trúng thì người có làm được không</a:t>
            </a:r>
            <a:endParaRPr lang="en-US" sz="1300" dirty="0"/>
          </a:p>
        </p:txBody>
      </p:sp>
      <p:sp>
        <p:nvSpPr>
          <p:cNvPr id="20" name="Text 18"/>
          <p:cNvSpPr/>
          <p:nvPr/>
        </p:nvSpPr>
        <p:spPr>
          <a:xfrm>
            <a:off x="5276088" y="4251960"/>
            <a:ext cx="3337560" cy="932688"/>
          </a:xfrm>
          <a:prstGeom prst="rect">
            <a:avLst/>
          </a:prstGeom>
          <a:noFill/>
          <a:ln/>
        </p:spPr>
        <p:txBody>
          <a:bodyPr wrap="square" lIns="0" tIns="0" rIns="0" bIns="0" rtlCol="0" anchor="ctr"/>
          <a:lstStyle/>
          <a:p>
            <a:pPr algn="l" indent="0" marL="0">
              <a:lnSpc>
                <a:spcPct val="125000"/>
              </a:lnSpc>
              <a:buNone/>
            </a:pPr>
            <a:r>
              <a:rPr lang="en-US" sz="1150" dirty="0">
                <a:solidFill>
                  <a:srgbClr val="454C55"/>
                </a:solidFill>
                <a:latin typeface="Segoe UI" pitchFamily="34" charset="0"/>
                <a:ea typeface="Segoe UI" pitchFamily="34" charset="-122"/>
                <a:cs typeface="Segoe UI" pitchFamily="34" charset="-120"/>
              </a:rPr>
              <a:t>vẫn chưa kiểm. Đúng kiểu sai lầm đã làm hỏng cách đo trước</a:t>
            </a:r>
            <a:endParaRPr lang="en-US" sz="1150" dirty="0"/>
          </a:p>
        </p:txBody>
      </p:sp>
      <p:sp>
        <p:nvSpPr>
          <p:cNvPr id="21" name="Text 19"/>
          <p:cNvSpPr/>
          <p:nvPr/>
        </p:nvSpPr>
        <p:spPr>
          <a:xfrm>
            <a:off x="8750808" y="4251960"/>
            <a:ext cx="2560320" cy="932688"/>
          </a:xfrm>
          <a:prstGeom prst="rect">
            <a:avLst/>
          </a:prstGeom>
          <a:noFill/>
          <a:ln/>
        </p:spPr>
        <p:txBody>
          <a:bodyPr wrap="square" lIns="0" tIns="0" rIns="0" bIns="0" rtlCol="0" anchor="ctr"/>
          <a:lstStyle/>
          <a:p>
            <a:pPr algn="l" indent="0" marL="0">
              <a:lnSpc>
                <a:spcPct val="125000"/>
              </a:lnSpc>
              <a:buNone/>
            </a:pPr>
            <a:r>
              <a:rPr lang="en-US" sz="1150" b="1" dirty="0">
                <a:solidFill>
                  <a:srgbClr val="1E6B43"/>
                </a:solidFill>
                <a:latin typeface="Segoe UI" pitchFamily="34" charset="0"/>
                <a:ea typeface="Segoe UI" pitchFamily="34" charset="-122"/>
                <a:cs typeface="Segoe UI" pitchFamily="34" charset="-120"/>
              </a:rPr>
              <a:t>→ </a:t>
            </a:r>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khảo sát 91 cặp, hai người chấm, ngưỡng khoá trước</a:t>
            </a:r>
            <a:endParaRPr lang="en-US" sz="1150" dirty="0"/>
          </a:p>
        </p:txBody>
      </p:sp>
      <p:sp>
        <p:nvSpPr>
          <p:cNvPr id="22" name="Shape 20"/>
          <p:cNvSpPr/>
          <p:nvPr/>
        </p:nvSpPr>
        <p:spPr>
          <a:xfrm>
            <a:off x="841248" y="5257800"/>
            <a:ext cx="10506456" cy="932688"/>
          </a:xfrm>
          <a:prstGeom prst="roundRect">
            <a:avLst>
              <a:gd name="adj" fmla="val 7843"/>
            </a:avLst>
          </a:prstGeom>
          <a:solidFill>
            <a:srgbClr val="F3F5F7"/>
          </a:solidFill>
          <a:ln/>
        </p:spPr>
      </p:sp>
      <p:sp>
        <p:nvSpPr>
          <p:cNvPr id="23" name="Shape 21"/>
          <p:cNvSpPr/>
          <p:nvPr/>
        </p:nvSpPr>
        <p:spPr>
          <a:xfrm>
            <a:off x="1042416" y="5532120"/>
            <a:ext cx="384048" cy="384048"/>
          </a:xfrm>
          <a:prstGeom prst="ellipse">
            <a:avLst/>
          </a:prstGeom>
          <a:solidFill>
            <a:srgbClr val="52657A"/>
          </a:solidFill>
          <a:ln/>
        </p:spPr>
      </p:sp>
      <p:sp>
        <p:nvSpPr>
          <p:cNvPr id="24" name="Text 22"/>
          <p:cNvSpPr/>
          <p:nvPr/>
        </p:nvSpPr>
        <p:spPr>
          <a:xfrm>
            <a:off x="1042416" y="5532120"/>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4</a:t>
            </a:r>
            <a:endParaRPr lang="en-US" sz="1428" dirty="0"/>
          </a:p>
        </p:txBody>
      </p:sp>
      <p:sp>
        <p:nvSpPr>
          <p:cNvPr id="25" name="Text 23"/>
          <p:cNvSpPr/>
          <p:nvPr/>
        </p:nvSpPr>
        <p:spPr>
          <a:xfrm>
            <a:off x="1591056" y="5257800"/>
            <a:ext cx="3566160" cy="932688"/>
          </a:xfrm>
          <a:prstGeom prst="rect">
            <a:avLst/>
          </a:prstGeom>
          <a:noFill/>
          <a:ln/>
        </p:spPr>
        <p:txBody>
          <a:bodyPr wrap="square" lIns="0" tIns="0" rIns="0" bIns="0" rtlCol="0" anchor="ctr"/>
          <a:lstStyle/>
          <a:p>
            <a:pPr algn="l" indent="0" marL="0">
              <a:lnSpc>
                <a:spcPct val="120000"/>
              </a:lnSpc>
              <a:buNone/>
            </a:pPr>
            <a:r>
              <a:rPr lang="en-US" sz="1300" b="1" dirty="0">
                <a:solidFill>
                  <a:srgbClr val="1D2733"/>
                </a:solidFill>
                <a:latin typeface="Segoe UI" pitchFamily="34" charset="0"/>
                <a:ea typeface="Segoe UI" pitchFamily="34" charset="-122"/>
                <a:cs typeface="Segoe UI" pitchFamily="34" charset="-120"/>
              </a:rPr>
              <a:t>Chấm chặt · chạy được, chưa dùng được</a:t>
            </a:r>
            <a:endParaRPr lang="en-US" sz="1300" dirty="0"/>
          </a:p>
        </p:txBody>
      </p:sp>
      <p:sp>
        <p:nvSpPr>
          <p:cNvPr id="26" name="Text 24"/>
          <p:cNvSpPr/>
          <p:nvPr/>
        </p:nvSpPr>
        <p:spPr>
          <a:xfrm>
            <a:off x="5276088" y="5257800"/>
            <a:ext cx="3337560" cy="932688"/>
          </a:xfrm>
          <a:prstGeom prst="rect">
            <a:avLst/>
          </a:prstGeom>
          <a:noFill/>
          <a:ln/>
        </p:spPr>
        <p:txBody>
          <a:bodyPr wrap="square" lIns="0" tIns="0" rIns="0" bIns="0" rtlCol="0" anchor="ctr"/>
          <a:lstStyle/>
          <a:p>
            <a:pPr algn="l" indent="0" marL="0">
              <a:lnSpc>
                <a:spcPct val="125000"/>
              </a:lnSpc>
              <a:buNone/>
            </a:pPr>
            <a:r>
              <a:rPr lang="en-US" sz="1150" dirty="0">
                <a:solidFill>
                  <a:srgbClr val="454C55"/>
                </a:solidFill>
                <a:latin typeface="Segoe UI" pitchFamily="34" charset="0"/>
                <a:ea typeface="Segoe UI" pitchFamily="34" charset="-122"/>
                <a:cs typeface="Segoe UI" pitchFamily="34" charset="-120"/>
              </a:rPr>
              <a:t>với bộ trỏ hiện tại nó chấm oan 59% câu đúng, vì bộ trỏ lệch quá nhiều</a:t>
            </a:r>
            <a:endParaRPr lang="en-US" sz="1150" dirty="0"/>
          </a:p>
        </p:txBody>
      </p:sp>
      <p:sp>
        <p:nvSpPr>
          <p:cNvPr id="27" name="Text 25"/>
          <p:cNvSpPr/>
          <p:nvPr/>
        </p:nvSpPr>
        <p:spPr>
          <a:xfrm>
            <a:off x="8750808" y="5257800"/>
            <a:ext cx="2560320" cy="932688"/>
          </a:xfrm>
          <a:prstGeom prst="rect">
            <a:avLst/>
          </a:prstGeom>
          <a:noFill/>
          <a:ln/>
        </p:spPr>
        <p:txBody>
          <a:bodyPr wrap="square" lIns="0" tIns="0" rIns="0" bIns="0" rtlCol="0" anchor="ctr"/>
          <a:lstStyle/>
          <a:p>
            <a:pPr algn="l" indent="0" marL="0">
              <a:lnSpc>
                <a:spcPct val="125000"/>
              </a:lnSpc>
              <a:buNone/>
            </a:pPr>
            <a:r>
              <a:rPr lang="en-US" sz="1150" b="1" dirty="0">
                <a:solidFill>
                  <a:srgbClr val="1E6B43"/>
                </a:solidFill>
                <a:latin typeface="Segoe UI" pitchFamily="34" charset="0"/>
                <a:ea typeface="Segoe UI" pitchFamily="34" charset="-122"/>
                <a:cs typeface="Segoe UI" pitchFamily="34" charset="-120"/>
              </a:rPr>
              <a:t>→ </a:t>
            </a:r>
            <a:pPr algn="l" indent="0" marL="0">
              <a:lnSpc>
                <a:spcPct val="125000"/>
              </a:lnSpc>
              <a:buNone/>
            </a:pPr>
            <a:r>
              <a:rPr lang="en-US" sz="1150" dirty="0">
                <a:solidFill>
                  <a:srgbClr val="1D2733"/>
                </a:solidFill>
                <a:latin typeface="Segoe UI" pitchFamily="34" charset="0"/>
                <a:ea typeface="Segoe UI" pitchFamily="34" charset="-122"/>
                <a:cs typeface="Segoe UI" pitchFamily="34" charset="-120"/>
              </a:rPr>
              <a:t>chuyển thành điều kiện tiên quyết của Cổng A</a:t>
            </a:r>
            <a:endParaRPr lang="en-US" sz="1150" dirty="0"/>
          </a:p>
        </p:txBody>
      </p:sp>
      <p:sp>
        <p:nvSpPr>
          <p:cNvPr id="28" name="Text 26"/>
          <p:cNvSpPr/>
          <p:nvPr/>
        </p:nvSpPr>
        <p:spPr>
          <a:xfrm>
            <a:off x="841248" y="6291072"/>
            <a:ext cx="9509760" cy="365760"/>
          </a:xfrm>
          <a:prstGeom prst="rect">
            <a:avLst/>
          </a:prstGeom>
          <a:noFill/>
          <a:ln/>
        </p:spPr>
        <p:txBody>
          <a:bodyPr wrap="square" lIns="0" tIns="0" rIns="0" bIns="0" rtlCol="0" anchor="t"/>
          <a:lstStyle/>
          <a:p>
            <a:pPr algn="l" indent="0" marL="0">
              <a:buNone/>
            </a:pPr>
            <a:r>
              <a:rPr lang="en-US" sz="1300" i="1" dirty="0">
                <a:solidFill>
                  <a:srgbClr val="52657A"/>
                </a:solidFill>
                <a:latin typeface="Cambria" pitchFamily="34" charset="0"/>
                <a:ea typeface="Cambria" pitchFamily="34" charset="-122"/>
                <a:cs typeface="Cambria" pitchFamily="34" charset="-120"/>
              </a:rPr>
              <a:t>Cách làm xuyên suốt: kiểm cái thước trước khi tin nó. Chính phép kiểm đó vừa bắt được một lỗi nặng của mình.</a:t>
            </a:r>
            <a:endParaRPr lang="en-US" sz="1300" dirty="0"/>
          </a:p>
        </p:txBody>
      </p:sp>
      <p:sp>
        <p:nvSpPr>
          <p:cNvPr id="30" name="Text 27"/>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41248" y="585216"/>
            <a:ext cx="10506456" cy="274320"/>
          </a:xfrm>
          <a:prstGeom prst="rect">
            <a:avLst/>
          </a:prstGeom>
          <a:noFill/>
          <a:ln/>
        </p:spPr>
        <p:txBody>
          <a:bodyPr wrap="square" lIns="0" tIns="0" rIns="0" bIns="0" rtlCol="0" anchor="t"/>
          <a:lstStyle/>
          <a:p>
            <a:pPr algn="l" indent="0" marL="0">
              <a:buNone/>
            </a:pPr>
            <a:r>
              <a:rPr lang="en-US" sz="1250" b="1" spc="250" kern="0" dirty="0">
                <a:solidFill>
                  <a:srgbClr val="BE5A2E"/>
                </a:solidFill>
                <a:latin typeface="Segoe UI" pitchFamily="34" charset="0"/>
                <a:ea typeface="Segoe UI" pitchFamily="34" charset="-122"/>
                <a:cs typeface="Segoe UI" pitchFamily="34" charset="-120"/>
              </a:rPr>
              <a:t>HAI CỔNG CHẠY TRƯỚC KHI TIÊU TIỀN</a:t>
            </a:r>
            <a:endParaRPr lang="en-US" sz="1250" dirty="0"/>
          </a:p>
        </p:txBody>
      </p:sp>
      <p:sp>
        <p:nvSpPr>
          <p:cNvPr id="3" name="Text 1"/>
          <p:cNvSpPr/>
          <p:nvPr/>
        </p:nvSpPr>
        <p:spPr>
          <a:xfrm>
            <a:off x="841248" y="914400"/>
            <a:ext cx="10506456" cy="822960"/>
          </a:xfrm>
          <a:prstGeom prst="rect">
            <a:avLst/>
          </a:prstGeom>
          <a:noFill/>
          <a:ln/>
        </p:spPr>
        <p:txBody>
          <a:bodyPr wrap="square" lIns="0" tIns="0" rIns="0" bIns="0" rtlCol="0" anchor="t"/>
          <a:lstStyle/>
          <a:p>
            <a:pPr algn="l" indent="0" marL="0">
              <a:lnSpc>
                <a:spcPct val="105000"/>
              </a:lnSpc>
              <a:buNone/>
            </a:pPr>
            <a:r>
              <a:rPr lang="en-US" sz="2700" b="1" dirty="0">
                <a:solidFill>
                  <a:srgbClr val="1D2733"/>
                </a:solidFill>
                <a:latin typeface="Cambria" pitchFamily="34" charset="0"/>
                <a:ea typeface="Cambria" pitchFamily="34" charset="-122"/>
                <a:cs typeface="Cambria" pitchFamily="34" charset="-120"/>
              </a:rPr>
              <a:t>Chỉ chạy mô hình, chưa huấn luyện, nên rẻ và nhanh</a:t>
            </a:r>
            <a:endParaRPr lang="en-US" sz="2700" dirty="0"/>
          </a:p>
        </p:txBody>
      </p:sp>
      <p:sp>
        <p:nvSpPr>
          <p:cNvPr id="4" name="Shape 2"/>
          <p:cNvSpPr/>
          <p:nvPr/>
        </p:nvSpPr>
        <p:spPr>
          <a:xfrm>
            <a:off x="841248" y="2240280"/>
            <a:ext cx="5029200" cy="2148840"/>
          </a:xfrm>
          <a:prstGeom prst="roundRect">
            <a:avLst>
              <a:gd name="adj" fmla="val 4255"/>
            </a:avLst>
          </a:prstGeom>
          <a:solidFill>
            <a:srgbClr val="F7EBE3"/>
          </a:solidFill>
          <a:ln/>
        </p:spPr>
      </p:sp>
      <p:sp>
        <p:nvSpPr>
          <p:cNvPr id="5" name="Text 3"/>
          <p:cNvSpPr/>
          <p:nvPr/>
        </p:nvSpPr>
        <p:spPr>
          <a:xfrm>
            <a:off x="1097280" y="2404872"/>
            <a:ext cx="4572000" cy="365760"/>
          </a:xfrm>
          <a:prstGeom prst="rect">
            <a:avLst/>
          </a:prstGeom>
          <a:noFill/>
          <a:ln/>
        </p:spPr>
        <p:txBody>
          <a:bodyPr wrap="square" lIns="0" tIns="0" rIns="0" bIns="0" rtlCol="0" anchor="t"/>
          <a:lstStyle/>
          <a:p>
            <a:pPr algn="l" indent="0" marL="0">
              <a:buNone/>
            </a:pPr>
            <a:r>
              <a:rPr lang="en-US" sz="1450" b="1" dirty="0">
                <a:solidFill>
                  <a:srgbClr val="BE5A2E"/>
                </a:solidFill>
                <a:latin typeface="Cambria" pitchFamily="34" charset="0"/>
                <a:ea typeface="Cambria" pitchFamily="34" charset="-122"/>
                <a:cs typeface="Cambria" pitchFamily="34" charset="-120"/>
              </a:rPr>
              <a:t>Cổng A · bộ trỏ có đủ tốt và có sạch không</a:t>
            </a:r>
            <a:endParaRPr lang="en-US" sz="1450" dirty="0"/>
          </a:p>
        </p:txBody>
      </p:sp>
      <p:sp>
        <p:nvSpPr>
          <p:cNvPr id="6" name="Text 4"/>
          <p:cNvSpPr/>
          <p:nvPr/>
        </p:nvSpPr>
        <p:spPr>
          <a:xfrm>
            <a:off x="1097280" y="2816352"/>
            <a:ext cx="4617720" cy="1600200"/>
          </a:xfrm>
          <a:prstGeom prst="rect">
            <a:avLst/>
          </a:prstGeom>
          <a:noFill/>
          <a:ln/>
        </p:spPr>
        <p:txBody>
          <a:bodyPr wrap="square" lIns="0" tIns="0" rIns="0" bIns="0" rtlCol="0" anchor="t"/>
          <a:lstStyle/>
          <a:p>
            <a:pPr algn="l" indent="0" marL="0">
              <a:lnSpc>
                <a:spcPct val="134000"/>
              </a:lnSpc>
              <a:buNone/>
            </a:pPr>
            <a:r>
              <a:rPr lang="en-US" sz="1250" dirty="0">
                <a:solidFill>
                  <a:srgbClr val="1D2733"/>
                </a:solidFill>
                <a:latin typeface="Segoe UI" pitchFamily="34" charset="0"/>
                <a:ea typeface="Segoe UI" pitchFamily="34" charset="-122"/>
                <a:cs typeface="Segoe UI" pitchFamily="34" charset="-120"/>
              </a:rPr>
              <a:t>Điều kiện đầu tiên: bộ trỏ phải lệch dưới</a:t>
            </a:r>
            <a:endParaRPr lang="en-US" sz="1250" dirty="0"/>
          </a:p>
          <a:p>
            <a:pPr algn="l" indent="0" marL="0">
              <a:lnSpc>
                <a:spcPct val="134000"/>
              </a:lnSpc>
              <a:buNone/>
            </a:pPr>
            <a:r>
              <a:rPr lang="en-US" sz="1250" dirty="0">
                <a:solidFill>
                  <a:srgbClr val="1D2733"/>
                </a:solidFill>
                <a:latin typeface="Segoe UI" pitchFamily="34" charset="0"/>
                <a:ea typeface="Segoe UI" pitchFamily="34" charset="-122"/>
                <a:cs typeface="Segoe UI" pitchFamily="34" charset="-120"/>
              </a:rPr>
              <a:t>3% cạnh màn, tức khoảng 32 pixel. Căn cứ:</a:t>
            </a:r>
            <a:endParaRPr lang="en-US" sz="1250" dirty="0"/>
          </a:p>
          <a:p>
            <a:pPr algn="l" indent="0" marL="0">
              <a:lnSpc>
                <a:spcPct val="134000"/>
              </a:lnSpc>
              <a:buNone/>
            </a:pPr>
            <a:r>
              <a:rPr lang="en-US" sz="1250" dirty="0">
                <a:solidFill>
                  <a:srgbClr val="1D2733"/>
                </a:solidFill>
                <a:latin typeface="Segoe UI" pitchFamily="34" charset="0"/>
                <a:ea typeface="Segoe UI" pitchFamily="34" charset="-122"/>
                <a:cs typeface="Segoe UI" pitchFamily="34" charset="-120"/>
              </a:rPr>
              <a:t>hai nút cạnh nhau chỉ cách 69 pixel, còn</a:t>
            </a:r>
            <a:endParaRPr lang="en-US" sz="1250" dirty="0"/>
          </a:p>
          <a:p>
            <a:pPr algn="l" indent="0" marL="0">
              <a:lnSpc>
                <a:spcPct val="134000"/>
              </a:lnSpc>
              <a:buNone/>
            </a:pPr>
            <a:r>
              <a:rPr lang="en-US" sz="1250" dirty="0">
                <a:solidFill>
                  <a:srgbClr val="1D2733"/>
                </a:solidFill>
                <a:latin typeface="Segoe UI" pitchFamily="34" charset="0"/>
                <a:ea typeface="Segoe UI" pitchFamily="34" charset="-122"/>
                <a:cs typeface="Segoe UI" pitchFamily="34" charset="-120"/>
              </a:rPr>
              <a:t>bộ trỏ rẻ đang lệch 256 pixel.</a:t>
            </a:r>
            <a:endParaRPr lang="en-US" sz="1250" dirty="0"/>
          </a:p>
          <a:p>
            <a:pPr algn="l" indent="0" marL="0">
              <a:lnSpc>
                <a:spcPct val="134000"/>
              </a:lnSpc>
              <a:buNone/>
            </a:pPr>
            <a:endParaRPr lang="en-US" sz="1250" dirty="0"/>
          </a:p>
          <a:p>
            <a:pPr algn="l" indent="0" marL="0">
              <a:lnSpc>
                <a:spcPct val="134000"/>
              </a:lnSpc>
              <a:buNone/>
            </a:pPr>
            <a:r>
              <a:rPr lang="en-US" sz="1250" dirty="0">
                <a:solidFill>
                  <a:srgbClr val="1D2733"/>
                </a:solidFill>
                <a:latin typeface="Segoe UI" pitchFamily="34" charset="0"/>
                <a:ea typeface="Segoe UI" pitchFamily="34" charset="-122"/>
                <a:cs typeface="Segoe UI" pitchFamily="34" charset="-120"/>
              </a:rPr>
              <a:t>Dùng UGround chứ không dùng OS-Atlas,</a:t>
            </a:r>
            <a:endParaRPr lang="en-US" sz="1250" dirty="0"/>
          </a:p>
          <a:p>
            <a:pPr algn="l" indent="0" marL="0">
              <a:lnSpc>
                <a:spcPct val="134000"/>
              </a:lnSpc>
              <a:buNone/>
            </a:pPr>
            <a:r>
              <a:rPr lang="en-US" sz="1250" dirty="0">
                <a:solidFill>
                  <a:srgbClr val="1D2733"/>
                </a:solidFill>
                <a:latin typeface="Segoe UI" pitchFamily="34" charset="0"/>
                <a:ea typeface="Segoe UI" pitchFamily="34" charset="-122"/>
                <a:cs typeface="Segoe UI" pitchFamily="34" charset="-120"/>
              </a:rPr>
              <a:t>vì OS-Atlas đã học ngay trên AndroidControl.</a:t>
            </a:r>
            <a:endParaRPr lang="en-US" sz="1250" dirty="0"/>
          </a:p>
        </p:txBody>
      </p:sp>
      <p:sp>
        <p:nvSpPr>
          <p:cNvPr id="7" name="Shape 5"/>
          <p:cNvSpPr/>
          <p:nvPr/>
        </p:nvSpPr>
        <p:spPr>
          <a:xfrm>
            <a:off x="6309360" y="2240280"/>
            <a:ext cx="5029200" cy="2148840"/>
          </a:xfrm>
          <a:prstGeom prst="roundRect">
            <a:avLst>
              <a:gd name="adj" fmla="val 4255"/>
            </a:avLst>
          </a:prstGeom>
          <a:solidFill>
            <a:srgbClr val="F3F5F7"/>
          </a:solidFill>
          <a:ln/>
        </p:spPr>
      </p:sp>
      <p:sp>
        <p:nvSpPr>
          <p:cNvPr id="8" name="Text 6"/>
          <p:cNvSpPr/>
          <p:nvPr/>
        </p:nvSpPr>
        <p:spPr>
          <a:xfrm>
            <a:off x="6565392" y="2404872"/>
            <a:ext cx="4572000" cy="365760"/>
          </a:xfrm>
          <a:prstGeom prst="rect">
            <a:avLst/>
          </a:prstGeom>
          <a:noFill/>
          <a:ln/>
        </p:spPr>
        <p:txBody>
          <a:bodyPr wrap="square" lIns="0" tIns="0" rIns="0" bIns="0" rtlCol="0" anchor="t"/>
          <a:lstStyle/>
          <a:p>
            <a:pPr algn="l" indent="0" marL="0">
              <a:buNone/>
            </a:pPr>
            <a:r>
              <a:rPr lang="en-US" sz="1450" b="1" dirty="0">
                <a:solidFill>
                  <a:srgbClr val="52657A"/>
                </a:solidFill>
                <a:latin typeface="Cambria" pitchFamily="34" charset="0"/>
                <a:ea typeface="Cambria" pitchFamily="34" charset="-122"/>
                <a:cs typeface="Cambria" pitchFamily="34" charset="-120"/>
              </a:rPr>
              <a:t>Cổng B · gắn thành phần vào đâu</a:t>
            </a:r>
            <a:endParaRPr lang="en-US" sz="1450" dirty="0"/>
          </a:p>
        </p:txBody>
      </p:sp>
      <p:sp>
        <p:nvSpPr>
          <p:cNvPr id="9" name="Text 7"/>
          <p:cNvSpPr/>
          <p:nvPr/>
        </p:nvSpPr>
        <p:spPr>
          <a:xfrm>
            <a:off x="6565392" y="2816352"/>
            <a:ext cx="4572000" cy="1508760"/>
          </a:xfrm>
          <a:prstGeom prst="rect">
            <a:avLst/>
          </a:prstGeom>
          <a:noFill/>
          <a:ln/>
        </p:spPr>
        <p:txBody>
          <a:bodyPr wrap="square" lIns="0" tIns="0" rIns="0" bIns="0" rtlCol="0" anchor="t"/>
          <a:lstStyle/>
          <a:p>
            <a:pPr algn="l" indent="0" marL="0">
              <a:lnSpc>
                <a:spcPct val="138000"/>
              </a:lnSpc>
              <a:buNone/>
            </a:pPr>
            <a:r>
              <a:rPr lang="en-US" sz="1250" dirty="0">
                <a:solidFill>
                  <a:srgbClr val="454C55"/>
                </a:solidFill>
                <a:latin typeface="Segoe UI" pitchFamily="34" charset="0"/>
                <a:ea typeface="Segoe UI" pitchFamily="34" charset="-122"/>
                <a:cs typeface="Segoe UI" pitchFamily="34" charset="-120"/>
              </a:rPr>
              <a:t>Đo xem mô hình nền còn yếu ở đâu:</a:t>
            </a:r>
            <a:endParaRPr lang="en-US" sz="1250" dirty="0"/>
          </a:p>
          <a:p>
            <a:pPr algn="l" indent="0" marL="0">
              <a:lnSpc>
                <a:spcPct val="138000"/>
              </a:lnSpc>
              <a:buNone/>
            </a:pPr>
            <a:r>
              <a:rPr lang="en-US" sz="1250" dirty="0">
                <a:solidFill>
                  <a:srgbClr val="454C55"/>
                </a:solidFill>
                <a:latin typeface="Segoe UI" pitchFamily="34" charset="0"/>
                <a:ea typeface="Segoe UI" pitchFamily="34" charset="-122"/>
                <a:cs typeface="Segoe UI" pitchFamily="34" charset="-120"/>
              </a:rPr>
              <a:t>hay bịa nút, hay trỏ mơ hồ.</a:t>
            </a:r>
            <a:endParaRPr lang="en-US" sz="1250" dirty="0"/>
          </a:p>
          <a:p>
            <a:pPr algn="l" indent="0" marL="0">
              <a:lnSpc>
                <a:spcPct val="138000"/>
              </a:lnSpc>
              <a:buNone/>
            </a:pPr>
            <a:endParaRPr lang="en-US" sz="1250" dirty="0"/>
          </a:p>
          <a:p>
            <a:pPr algn="l" indent="0" marL="0">
              <a:lnSpc>
                <a:spcPct val="138000"/>
              </a:lnSpc>
              <a:buNone/>
            </a:pPr>
            <a:r>
              <a:rPr lang="en-US" sz="1250" dirty="0">
                <a:solidFill>
                  <a:srgbClr val="454C55"/>
                </a:solidFill>
                <a:latin typeface="Segoe UI" pitchFamily="34" charset="0"/>
                <a:ea typeface="Segoe UI" pitchFamily="34" charset="-122"/>
                <a:cs typeface="Segoe UI" pitchFamily="34" charset="-120"/>
              </a:rPr>
              <a:t>Yếu chỗ nào thì gắn thành phần vào</a:t>
            </a:r>
            <a:endParaRPr lang="en-US" sz="1250" dirty="0"/>
          </a:p>
          <a:p>
            <a:pPr algn="l" indent="0" marL="0">
              <a:lnSpc>
                <a:spcPct val="138000"/>
              </a:lnSpc>
              <a:buNone/>
            </a:pPr>
            <a:r>
              <a:rPr lang="en-US" sz="1250" dirty="0">
                <a:solidFill>
                  <a:srgbClr val="454C55"/>
                </a:solidFill>
                <a:latin typeface="Segoe UI" pitchFamily="34" charset="0"/>
                <a:ea typeface="Segoe UI" pitchFamily="34" charset="-122"/>
                <a:cs typeface="Segoe UI" pitchFamily="34" charset="-120"/>
              </a:rPr>
              <a:t>chỗ đó, không gắn theo cảm tính.</a:t>
            </a:r>
            <a:endParaRPr lang="en-US" sz="1250" dirty="0"/>
          </a:p>
        </p:txBody>
      </p:sp>
      <p:sp>
        <p:nvSpPr>
          <p:cNvPr id="10" name="Text 8"/>
          <p:cNvSpPr/>
          <p:nvPr/>
        </p:nvSpPr>
        <p:spPr>
          <a:xfrm>
            <a:off x="841248" y="4572000"/>
            <a:ext cx="7315200" cy="365760"/>
          </a:xfrm>
          <a:prstGeom prst="rect">
            <a:avLst/>
          </a:prstGeom>
          <a:noFill/>
          <a:ln/>
        </p:spPr>
        <p:txBody>
          <a:bodyPr wrap="square" lIns="0" tIns="0" rIns="0" bIns="0" rtlCol="0" anchor="t"/>
          <a:lstStyle/>
          <a:p>
            <a:pPr algn="l" indent="0" marL="0">
              <a:buNone/>
            </a:pPr>
            <a:r>
              <a:rPr lang="en-US" sz="1500" b="1" dirty="0">
                <a:solidFill>
                  <a:srgbClr val="1D2733"/>
                </a:solidFill>
                <a:latin typeface="Cambria" pitchFamily="34" charset="0"/>
                <a:ea typeface="Cambria" pitchFamily="34" charset="-122"/>
                <a:cs typeface="Cambria" pitchFamily="34" charset="-120"/>
              </a:rPr>
              <a:t>Không nhánh nào là ngõ cụt</a:t>
            </a:r>
            <a:endParaRPr lang="en-US" sz="1500" dirty="0"/>
          </a:p>
        </p:txBody>
      </p:sp>
      <p:sp>
        <p:nvSpPr>
          <p:cNvPr id="11" name="Shape 9"/>
          <p:cNvSpPr/>
          <p:nvPr/>
        </p:nvSpPr>
        <p:spPr>
          <a:xfrm>
            <a:off x="841248" y="4956048"/>
            <a:ext cx="10506456" cy="420624"/>
          </a:xfrm>
          <a:prstGeom prst="roundRect">
            <a:avLst>
              <a:gd name="adj" fmla="val 13043"/>
            </a:avLst>
          </a:prstGeom>
          <a:solidFill>
            <a:srgbClr val="FFFFFF"/>
          </a:solidFill>
          <a:ln w="12700">
            <a:solidFill>
              <a:srgbClr val="DBE0E6"/>
            </a:solidFill>
            <a:prstDash val="solid"/>
          </a:ln>
        </p:spPr>
      </p:sp>
      <p:sp>
        <p:nvSpPr>
          <p:cNvPr id="12" name="Text 10"/>
          <p:cNvSpPr/>
          <p:nvPr/>
        </p:nvSpPr>
        <p:spPr>
          <a:xfrm>
            <a:off x="1069848" y="4956048"/>
            <a:ext cx="10049256" cy="420624"/>
          </a:xfrm>
          <a:prstGeom prst="rect">
            <a:avLst/>
          </a:prstGeom>
          <a:noFill/>
          <a:ln/>
        </p:spPr>
        <p:txBody>
          <a:bodyPr wrap="square" lIns="0" tIns="0" rIns="0" bIns="0" rtlCol="0" anchor="ctr"/>
          <a:lstStyle/>
          <a:p>
            <a:pPr algn="l" indent="0" marL="0">
              <a:buNone/>
            </a:pPr>
            <a:r>
              <a:rPr lang="en-US" sz="1200" b="1" dirty="0">
                <a:solidFill>
                  <a:srgbClr val="B23B3B"/>
                </a:solidFill>
                <a:latin typeface="Segoe UI" pitchFamily="34" charset="0"/>
                <a:ea typeface="Segoe UI" pitchFamily="34" charset="-122"/>
                <a:cs typeface="Segoe UI" pitchFamily="34" charset="-120"/>
              </a:rPr>
              <a:t>Bộ trỏ không đạt 80%  </a:t>
            </a:r>
            <a:pPr algn="l" indent="0" marL="0">
              <a:buNone/>
            </a:pPr>
            <a:r>
              <a:rPr lang="en-US" sz="1200" dirty="0">
                <a:solidFill>
                  <a:srgbClr val="454C55"/>
                </a:solidFill>
                <a:latin typeface="Segoe UI" pitchFamily="34" charset="0"/>
                <a:ea typeface="Segoe UI" pitchFamily="34" charset="-122"/>
                <a:cs typeface="Segoe UI" pitchFamily="34" charset="-120"/>
              </a:rPr>
              <a:t>→ chấm riêng nhóm nút có chữ và nêu giới hạn, bản thân chuyện không thước nào trỏ nổi nút hình cũng là một phát hiện</a:t>
            </a:r>
            <a:endParaRPr lang="en-US" sz="1200" dirty="0"/>
          </a:p>
        </p:txBody>
      </p:sp>
      <p:sp>
        <p:nvSpPr>
          <p:cNvPr id="13" name="Shape 11"/>
          <p:cNvSpPr/>
          <p:nvPr/>
        </p:nvSpPr>
        <p:spPr>
          <a:xfrm>
            <a:off x="841248" y="5431536"/>
            <a:ext cx="10506456" cy="420624"/>
          </a:xfrm>
          <a:prstGeom prst="roundRect">
            <a:avLst>
              <a:gd name="adj" fmla="val 13043"/>
            </a:avLst>
          </a:prstGeom>
          <a:solidFill>
            <a:srgbClr val="FFFFFF"/>
          </a:solidFill>
          <a:ln w="12700">
            <a:solidFill>
              <a:srgbClr val="DBE0E6"/>
            </a:solidFill>
            <a:prstDash val="solid"/>
          </a:ln>
        </p:spPr>
      </p:sp>
      <p:sp>
        <p:nvSpPr>
          <p:cNvPr id="14" name="Text 12"/>
          <p:cNvSpPr/>
          <p:nvPr/>
        </p:nvSpPr>
        <p:spPr>
          <a:xfrm>
            <a:off x="1069848" y="5431536"/>
            <a:ext cx="10049256" cy="420624"/>
          </a:xfrm>
          <a:prstGeom prst="rect">
            <a:avLst/>
          </a:prstGeom>
          <a:noFill/>
          <a:ln/>
        </p:spPr>
        <p:txBody>
          <a:bodyPr wrap="square" lIns="0" tIns="0" rIns="0" bIns="0" rtlCol="0" anchor="ctr"/>
          <a:lstStyle/>
          <a:p>
            <a:pPr algn="l" indent="0" marL="0">
              <a:buNone/>
            </a:pPr>
            <a:r>
              <a:rPr lang="en-US" sz="1200" b="1" dirty="0">
                <a:solidFill>
                  <a:srgbClr val="B23B3B"/>
                </a:solidFill>
                <a:latin typeface="Segoe UI" pitchFamily="34" charset="0"/>
                <a:ea typeface="Segoe UI" pitchFamily="34" charset="-122"/>
                <a:cs typeface="Segoe UI" pitchFamily="34" charset="-120"/>
              </a:rPr>
              <a:t>Mô hình chỉ hoà mốc ngoài  </a:t>
            </a:r>
            <a:pPr algn="l" indent="0" marL="0">
              <a:buNone/>
            </a:pPr>
            <a:r>
              <a:rPr lang="en-US" sz="1200" dirty="0">
                <a:solidFill>
                  <a:srgbClr val="454C55"/>
                </a:solidFill>
                <a:latin typeface="Segoe UI" pitchFamily="34" charset="0"/>
                <a:ea typeface="Segoe UI" pitchFamily="34" charset="-122"/>
                <a:cs typeface="Segoe UI" pitchFamily="34" charset="-120"/>
              </a:rPr>
              <a:t>→ vẫn bảo vệ được bằng mô hình 3B chạy offline ngang một mô hình lớn gọi qua mạng</a:t>
            </a:r>
            <a:endParaRPr lang="en-US" sz="1200" dirty="0"/>
          </a:p>
        </p:txBody>
      </p:sp>
      <p:sp>
        <p:nvSpPr>
          <p:cNvPr id="15" name="Shape 13"/>
          <p:cNvSpPr/>
          <p:nvPr/>
        </p:nvSpPr>
        <p:spPr>
          <a:xfrm>
            <a:off x="841248" y="5907024"/>
            <a:ext cx="10506456" cy="420624"/>
          </a:xfrm>
          <a:prstGeom prst="roundRect">
            <a:avLst>
              <a:gd name="adj" fmla="val 13043"/>
            </a:avLst>
          </a:prstGeom>
          <a:solidFill>
            <a:srgbClr val="FFFFFF"/>
          </a:solidFill>
          <a:ln w="12700">
            <a:solidFill>
              <a:srgbClr val="DBE0E6"/>
            </a:solidFill>
            <a:prstDash val="solid"/>
          </a:ln>
        </p:spPr>
      </p:sp>
      <p:sp>
        <p:nvSpPr>
          <p:cNvPr id="16" name="Text 14"/>
          <p:cNvSpPr/>
          <p:nvPr/>
        </p:nvSpPr>
        <p:spPr>
          <a:xfrm>
            <a:off x="1069848" y="5907024"/>
            <a:ext cx="10049256" cy="420624"/>
          </a:xfrm>
          <a:prstGeom prst="rect">
            <a:avLst/>
          </a:prstGeom>
          <a:noFill/>
          <a:ln/>
        </p:spPr>
        <p:txBody>
          <a:bodyPr wrap="square" lIns="0" tIns="0" rIns="0" bIns="0" rtlCol="0" anchor="ctr"/>
          <a:lstStyle/>
          <a:p>
            <a:pPr algn="l" indent="0" marL="0">
              <a:buNone/>
            </a:pPr>
            <a:r>
              <a:rPr lang="en-US" sz="1200" b="1" dirty="0">
                <a:solidFill>
                  <a:srgbClr val="B23B3B"/>
                </a:solidFill>
                <a:latin typeface="Segoe UI" pitchFamily="34" charset="0"/>
                <a:ea typeface="Segoe UI" pitchFamily="34" charset="-122"/>
                <a:cs typeface="Segoe UI" pitchFamily="34" charset="-120"/>
              </a:rPr>
              <a:t>Lớp 2 tăng điểm vì lý do sai  </a:t>
            </a:r>
            <a:pPr algn="l" indent="0" marL="0">
              <a:buNone/>
            </a:pPr>
            <a:r>
              <a:rPr lang="en-US" sz="1200" dirty="0">
                <a:solidFill>
                  <a:srgbClr val="454C55"/>
                </a:solidFill>
                <a:latin typeface="Segoe UI" pitchFamily="34" charset="0"/>
                <a:ea typeface="Segoe UI" pitchFamily="34" charset="-122"/>
                <a:cs typeface="Segoe UI" pitchFamily="34" charset="-120"/>
              </a:rPr>
              <a:t>→ đã có sẵn nhánh giả dược đưa danh sách của màn khác, cộng phân tầng theo độ dài câu</a:t>
            </a:r>
            <a:endParaRPr lang="en-US" sz="1200" dirty="0"/>
          </a:p>
        </p:txBody>
      </p:sp>
      <p:sp>
        <p:nvSpPr>
          <p:cNvPr id="17" name="Text 15"/>
          <p:cNvSpPr/>
          <p:nvPr/>
        </p:nvSpPr>
        <p:spPr>
          <a:xfrm>
            <a:off x="841248" y="6382512"/>
            <a:ext cx="9509760" cy="320040"/>
          </a:xfrm>
          <a:prstGeom prst="rect">
            <a:avLst/>
          </a:prstGeom>
          <a:noFill/>
          <a:ln/>
        </p:spPr>
        <p:txBody>
          <a:bodyPr wrap="square" lIns="0" tIns="0" rIns="0" bIns="0" rtlCol="0" anchor="t"/>
          <a:lstStyle/>
          <a:p>
            <a:pPr algn="l" indent="0" marL="0">
              <a:buNone/>
            </a:pPr>
            <a:r>
              <a:rPr lang="en-US" sz="1200" i="1" dirty="0">
                <a:solidFill>
                  <a:srgbClr val="52657A"/>
                </a:solidFill>
                <a:latin typeface="Cambria" pitchFamily="34" charset="0"/>
                <a:ea typeface="Cambria" pitchFamily="34" charset="-122"/>
                <a:cs typeface="Cambria" pitchFamily="34" charset="-120"/>
              </a:rPr>
              <a:t>Chi phí: hai cổng khoảng 10 đô, cả pha huấn luyện khoảng 60 tới 70 đô trên Colab.</a:t>
            </a:r>
            <a:endParaRPr lang="en-US" sz="1200" dirty="0"/>
          </a:p>
        </p:txBody>
      </p:sp>
      <p:sp>
        <p:nvSpPr>
          <p:cNvPr id="19" name="Text 16"/>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233B"/>
        </a:solidFill>
      </p:bgPr>
    </p:bg>
    <p:spTree>
      <p:nvGrpSpPr>
        <p:cNvPr id="1" name=""/>
        <p:cNvGrpSpPr/>
        <p:nvPr/>
      </p:nvGrpSpPr>
      <p:grpSpPr>
        <a:xfrm>
          <a:off x="0" y="0"/>
          <a:ext cx="0" cy="0"/>
          <a:chOff x="0" y="0"/>
          <a:chExt cx="0" cy="0"/>
        </a:xfrm>
      </p:grpSpPr>
      <p:sp>
        <p:nvSpPr>
          <p:cNvPr id="2" name="Text 0"/>
          <p:cNvSpPr/>
          <p:nvPr/>
        </p:nvSpPr>
        <p:spPr>
          <a:xfrm>
            <a:off x="841248" y="1554480"/>
            <a:ext cx="10058400" cy="365760"/>
          </a:xfrm>
          <a:prstGeom prst="rect">
            <a:avLst/>
          </a:prstGeom>
          <a:noFill/>
          <a:ln/>
        </p:spPr>
        <p:txBody>
          <a:bodyPr wrap="square" lIns="0" tIns="0" rIns="0" bIns="0" rtlCol="0" anchor="t"/>
          <a:lstStyle/>
          <a:p>
            <a:pPr algn="l" indent="0" marL="0">
              <a:buNone/>
            </a:pPr>
            <a:r>
              <a:rPr lang="en-US" sz="1300" b="1" spc="250" kern="0" dirty="0">
                <a:solidFill>
                  <a:srgbClr val="E4A986"/>
                </a:solidFill>
                <a:latin typeface="Segoe UI" pitchFamily="34" charset="0"/>
                <a:ea typeface="Segoe UI" pitchFamily="34" charset="-122"/>
                <a:cs typeface="Segoe UI" pitchFamily="34" charset="-120"/>
              </a:rPr>
              <a:t>NHỮNG ĐIỂM XIN TRAO ĐỔI</a:t>
            </a:r>
            <a:endParaRPr lang="en-US" sz="1300" dirty="0"/>
          </a:p>
        </p:txBody>
      </p:sp>
      <p:sp>
        <p:nvSpPr>
          <p:cNvPr id="3" name="Text 1"/>
          <p:cNvSpPr/>
          <p:nvPr/>
        </p:nvSpPr>
        <p:spPr>
          <a:xfrm>
            <a:off x="841248" y="1965960"/>
            <a:ext cx="10424160" cy="1280160"/>
          </a:xfrm>
          <a:prstGeom prst="rect">
            <a:avLst/>
          </a:prstGeom>
          <a:noFill/>
          <a:ln/>
        </p:spPr>
        <p:txBody>
          <a:bodyPr wrap="square" lIns="0" tIns="0" rIns="0" bIns="0" rtlCol="0" anchor="t"/>
          <a:lstStyle/>
          <a:p>
            <a:pPr algn="l" indent="0" marL="0">
              <a:lnSpc>
                <a:spcPct val="112000"/>
              </a:lnSpc>
              <a:buNone/>
            </a:pPr>
            <a:r>
              <a:rPr lang="en-US" sz="2500" b="1" dirty="0">
                <a:solidFill>
                  <a:srgbClr val="FFFFFF"/>
                </a:solidFill>
                <a:latin typeface="Cambria" pitchFamily="34" charset="0"/>
                <a:ea typeface="Cambria" pitchFamily="34" charset="-122"/>
                <a:cs typeface="Cambria" pitchFamily="34" charset="-120"/>
              </a:rPr>
              <a:t>Một hướng đã kiểm được bằng số,</a:t>
            </a:r>
            <a:endParaRPr lang="en-US" sz="2500" dirty="0"/>
          </a:p>
          <a:p>
            <a:pPr algn="l" indent="0" marL="0">
              <a:lnSpc>
                <a:spcPct val="112000"/>
              </a:lnSpc>
              <a:buNone/>
            </a:pPr>
            <a:r>
              <a:rPr lang="en-US" sz="2500" b="1" dirty="0">
                <a:solidFill>
                  <a:srgbClr val="FFFFFF"/>
                </a:solidFill>
                <a:latin typeface="Cambria" pitchFamily="34" charset="0"/>
                <a:ea typeface="Cambria" pitchFamily="34" charset="-122"/>
                <a:cs typeface="Cambria" pitchFamily="34" charset="-120"/>
              </a:rPr>
              <a:t>bốn điểm còn cần thầy quyết</a:t>
            </a:r>
            <a:endParaRPr lang="en-US" sz="2500" dirty="0"/>
          </a:p>
        </p:txBody>
      </p:sp>
      <p:sp>
        <p:nvSpPr>
          <p:cNvPr id="4" name="Shape 2"/>
          <p:cNvSpPr/>
          <p:nvPr/>
        </p:nvSpPr>
        <p:spPr>
          <a:xfrm>
            <a:off x="841248" y="3520440"/>
            <a:ext cx="384048" cy="384048"/>
          </a:xfrm>
          <a:prstGeom prst="ellipse">
            <a:avLst/>
          </a:prstGeom>
          <a:solidFill>
            <a:srgbClr val="BE5A2E"/>
          </a:solidFill>
          <a:ln/>
        </p:spPr>
      </p:sp>
      <p:sp>
        <p:nvSpPr>
          <p:cNvPr id="5" name="Text 3"/>
          <p:cNvSpPr/>
          <p:nvPr/>
        </p:nvSpPr>
        <p:spPr>
          <a:xfrm>
            <a:off x="841248" y="3520440"/>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1</a:t>
            </a:r>
            <a:endParaRPr lang="en-US" sz="1428" dirty="0"/>
          </a:p>
        </p:txBody>
      </p:sp>
      <p:sp>
        <p:nvSpPr>
          <p:cNvPr id="6" name="Text 4"/>
          <p:cNvSpPr/>
          <p:nvPr/>
        </p:nvSpPr>
        <p:spPr>
          <a:xfrm>
            <a:off x="1408176" y="3465576"/>
            <a:ext cx="10241280" cy="502920"/>
          </a:xfrm>
          <a:prstGeom prst="rect">
            <a:avLst/>
          </a:prstGeom>
          <a:noFill/>
          <a:ln/>
        </p:spPr>
        <p:txBody>
          <a:bodyPr wrap="square" lIns="0" tIns="0" rIns="0" bIns="0" rtlCol="0" anchor="ctr"/>
          <a:lstStyle/>
          <a:p>
            <a:pPr algn="l" indent="0" marL="0">
              <a:lnSpc>
                <a:spcPct val="125000"/>
              </a:lnSpc>
              <a:buNone/>
            </a:pPr>
            <a:r>
              <a:rPr lang="en-US" sz="1400" dirty="0">
                <a:solidFill>
                  <a:srgbClr val="E6ECF2"/>
                </a:solidFill>
                <a:latin typeface="Segoe UI" pitchFamily="34" charset="0"/>
                <a:ea typeface="Segoe UI" pitchFamily="34" charset="-122"/>
                <a:cs typeface="Segoe UI" pitchFamily="34" charset="-120"/>
              </a:rPr>
              <a:t>Khung đóng góp: một mô hình fine-tune kèm một thành phần trong đích huấn luyện, cộng cách chấm khách quan. Thầy thấy đủ chưa, phần nào nên là chính?</a:t>
            </a:r>
            <a:endParaRPr lang="en-US" sz="1400" dirty="0"/>
          </a:p>
        </p:txBody>
      </p:sp>
      <p:sp>
        <p:nvSpPr>
          <p:cNvPr id="7" name="Shape 5"/>
          <p:cNvSpPr/>
          <p:nvPr/>
        </p:nvSpPr>
        <p:spPr>
          <a:xfrm>
            <a:off x="841248" y="4105656"/>
            <a:ext cx="384048" cy="384048"/>
          </a:xfrm>
          <a:prstGeom prst="ellipse">
            <a:avLst/>
          </a:prstGeom>
          <a:solidFill>
            <a:srgbClr val="BE5A2E"/>
          </a:solidFill>
          <a:ln/>
        </p:spPr>
      </p:sp>
      <p:sp>
        <p:nvSpPr>
          <p:cNvPr id="8" name="Text 6"/>
          <p:cNvSpPr/>
          <p:nvPr/>
        </p:nvSpPr>
        <p:spPr>
          <a:xfrm>
            <a:off x="841248" y="4105656"/>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2</a:t>
            </a:r>
            <a:endParaRPr lang="en-US" sz="1428" dirty="0"/>
          </a:p>
        </p:txBody>
      </p:sp>
      <p:sp>
        <p:nvSpPr>
          <p:cNvPr id="9" name="Text 7"/>
          <p:cNvSpPr/>
          <p:nvPr/>
        </p:nvSpPr>
        <p:spPr>
          <a:xfrm>
            <a:off x="1408176" y="4050792"/>
            <a:ext cx="10241280" cy="502920"/>
          </a:xfrm>
          <a:prstGeom prst="rect">
            <a:avLst/>
          </a:prstGeom>
          <a:noFill/>
          <a:ln/>
        </p:spPr>
        <p:txBody>
          <a:bodyPr wrap="square" lIns="0" tIns="0" rIns="0" bIns="0" rtlCol="0" anchor="ctr"/>
          <a:lstStyle/>
          <a:p>
            <a:pPr algn="l" indent="0" marL="0">
              <a:lnSpc>
                <a:spcPct val="125000"/>
              </a:lnSpc>
              <a:buNone/>
            </a:pPr>
            <a:r>
              <a:rPr lang="en-US" sz="1400" dirty="0">
                <a:solidFill>
                  <a:srgbClr val="E6ECF2"/>
                </a:solidFill>
                <a:latin typeface="Segoe UI" pitchFamily="34" charset="0"/>
                <a:ea typeface="Segoe UI" pitchFamily="34" charset="-122"/>
                <a:cs typeface="Segoe UI" pitchFamily="34" charset="-120"/>
              </a:rPr>
              <a:t>Mọi con số trong bảng kết quả đều do máy chấm. Chỉ có một bước hiệu chuẩn dụng cụ làm đúng một lần với người đọc. Thầy đồng ý giữ bước đó không?</a:t>
            </a:r>
            <a:endParaRPr lang="en-US" sz="1400" dirty="0"/>
          </a:p>
        </p:txBody>
      </p:sp>
      <p:sp>
        <p:nvSpPr>
          <p:cNvPr id="10" name="Shape 8"/>
          <p:cNvSpPr/>
          <p:nvPr/>
        </p:nvSpPr>
        <p:spPr>
          <a:xfrm>
            <a:off x="841248" y="4690872"/>
            <a:ext cx="384048" cy="384048"/>
          </a:xfrm>
          <a:prstGeom prst="ellipse">
            <a:avLst/>
          </a:prstGeom>
          <a:solidFill>
            <a:srgbClr val="BE5A2E"/>
          </a:solidFill>
          <a:ln/>
        </p:spPr>
      </p:sp>
      <p:sp>
        <p:nvSpPr>
          <p:cNvPr id="11" name="Text 9"/>
          <p:cNvSpPr/>
          <p:nvPr/>
        </p:nvSpPr>
        <p:spPr>
          <a:xfrm>
            <a:off x="841248" y="4690872"/>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3</a:t>
            </a:r>
            <a:endParaRPr lang="en-US" sz="1428" dirty="0"/>
          </a:p>
        </p:txBody>
      </p:sp>
      <p:sp>
        <p:nvSpPr>
          <p:cNvPr id="12" name="Text 10"/>
          <p:cNvSpPr/>
          <p:nvPr/>
        </p:nvSpPr>
        <p:spPr>
          <a:xfrm>
            <a:off x="1408176" y="4636008"/>
            <a:ext cx="10241280" cy="502920"/>
          </a:xfrm>
          <a:prstGeom prst="rect">
            <a:avLst/>
          </a:prstGeom>
          <a:noFill/>
          <a:ln/>
        </p:spPr>
        <p:txBody>
          <a:bodyPr wrap="square" lIns="0" tIns="0" rIns="0" bIns="0" rtlCol="0" anchor="ctr"/>
          <a:lstStyle/>
          <a:p>
            <a:pPr algn="l" indent="0" marL="0">
              <a:lnSpc>
                <a:spcPct val="125000"/>
              </a:lnSpc>
              <a:buNone/>
            </a:pPr>
            <a:r>
              <a:rPr lang="en-US" sz="1400" dirty="0">
                <a:solidFill>
                  <a:srgbClr val="E6ECF2"/>
                </a:solidFill>
                <a:latin typeface="Segoe UI" pitchFamily="34" charset="0"/>
                <a:ea typeface="Segoe UI" pitchFamily="34" charset="-122"/>
                <a:cs typeface="Segoe UI" pitchFamily="34" charset="-120"/>
              </a:rPr>
              <a:t>Nếu mô hình chỉ hoà mốc ngoài, thì mô hình 3 tỉ tham số chạy offline ngang mô hình lớn gọi qua mạng có đủ để bảo vệ không?</a:t>
            </a:r>
            <a:endParaRPr lang="en-US" sz="1400" dirty="0"/>
          </a:p>
        </p:txBody>
      </p:sp>
      <p:sp>
        <p:nvSpPr>
          <p:cNvPr id="13" name="Shape 11"/>
          <p:cNvSpPr/>
          <p:nvPr/>
        </p:nvSpPr>
        <p:spPr>
          <a:xfrm>
            <a:off x="841248" y="5276088"/>
            <a:ext cx="384048" cy="384048"/>
          </a:xfrm>
          <a:prstGeom prst="ellipse">
            <a:avLst/>
          </a:prstGeom>
          <a:solidFill>
            <a:srgbClr val="BE5A2E"/>
          </a:solidFill>
          <a:ln/>
        </p:spPr>
      </p:sp>
      <p:sp>
        <p:nvSpPr>
          <p:cNvPr id="14" name="Text 12"/>
          <p:cNvSpPr/>
          <p:nvPr/>
        </p:nvSpPr>
        <p:spPr>
          <a:xfrm>
            <a:off x="841248" y="5276088"/>
            <a:ext cx="384048" cy="384048"/>
          </a:xfrm>
          <a:prstGeom prst="rect">
            <a:avLst/>
          </a:prstGeom>
          <a:noFill/>
          <a:ln/>
        </p:spPr>
        <p:txBody>
          <a:bodyPr wrap="square" lIns="0" tIns="0" rIns="0" bIns="0" rtlCol="0" anchor="ctr"/>
          <a:lstStyle/>
          <a:p>
            <a:pPr algn="ctr" indent="0" marL="0">
              <a:buNone/>
            </a:pPr>
            <a:r>
              <a:rPr lang="en-US" sz="1428" b="1" dirty="0">
                <a:solidFill>
                  <a:srgbClr val="FFFFFF"/>
                </a:solidFill>
                <a:latin typeface="Cambria" pitchFamily="34" charset="0"/>
                <a:ea typeface="Cambria" pitchFamily="34" charset="-122"/>
                <a:cs typeface="Cambria" pitchFamily="34" charset="-120"/>
              </a:rPr>
              <a:t>4</a:t>
            </a:r>
            <a:endParaRPr lang="en-US" sz="1428" dirty="0"/>
          </a:p>
        </p:txBody>
      </p:sp>
      <p:sp>
        <p:nvSpPr>
          <p:cNvPr id="15" name="Text 13"/>
          <p:cNvSpPr/>
          <p:nvPr/>
        </p:nvSpPr>
        <p:spPr>
          <a:xfrm>
            <a:off x="1408176" y="5221224"/>
            <a:ext cx="10241280" cy="502920"/>
          </a:xfrm>
          <a:prstGeom prst="rect">
            <a:avLst/>
          </a:prstGeom>
          <a:noFill/>
          <a:ln/>
        </p:spPr>
        <p:txBody>
          <a:bodyPr wrap="square" lIns="0" tIns="0" rIns="0" bIns="0" rtlCol="0" anchor="ctr"/>
          <a:lstStyle/>
          <a:p>
            <a:pPr algn="l" indent="0" marL="0">
              <a:lnSpc>
                <a:spcPct val="125000"/>
              </a:lnSpc>
              <a:buNone/>
            </a:pPr>
            <a:r>
              <a:rPr lang="en-US" sz="1400" dirty="0">
                <a:solidFill>
                  <a:srgbClr val="E6ECF2"/>
                </a:solidFill>
                <a:latin typeface="Segoe UI" pitchFamily="34" charset="0"/>
                <a:ea typeface="Segoe UI" pitchFamily="34" charset="-122"/>
                <a:cs typeface="Segoe UI" pitchFamily="34" charset="-120"/>
              </a:rPr>
              <a:t>Thành phần này không phải kiến trúc mới, mà là đưa tính phân biệt phần tử vào mục tiêu huấn luyện. Thầy thấy mức đó đủ cho luận văn thạc sĩ chưa?</a:t>
            </a:r>
            <a:endParaRPr lang="en-US" sz="1400" dirty="0"/>
          </a:p>
        </p:txBody>
      </p:sp>
      <p:sp>
        <p:nvSpPr>
          <p:cNvPr id="17" name="Text 14"/>
          <p:cNvSpPr/>
          <p:nvPr/>
        </p:nvSpPr>
        <p:spPr>
          <a:xfrm>
            <a:off x="11228832" y="6400800"/>
            <a:ext cx="548640" cy="274320"/>
          </a:xfrm>
          <a:prstGeom prst="rect">
            <a:avLst/>
          </a:prstGeom>
          <a:noFill/>
          <a:ln/>
        </p:spPr>
        <p:txBody>
          <a:bodyPr wrap="square" lIns="0" tIns="0" rIns="0" bIns="0" rtlCol="0" anchor="t"/>
          <a:lstStyle/>
          <a:p>
            <a:pPr algn="r" indent="0" marL="0">
              <a:buNone/>
            </a:pPr>
            <a:r>
              <a:rPr lang="en-US" sz="1000" dirty="0">
                <a:solidFill>
                  <a:srgbClr val="8B929B"/>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huong dan su dung phan mem cho nguoi doc</dc:title>
  <dc:subject>PptxGenJS Presentation</dc:subject>
  <dc:creator>Luan van thac si</dc:creator>
  <cp:lastModifiedBy>Luan van thac si</cp:lastModifiedBy>
  <cp:revision>1</cp:revision>
  <dcterms:created xsi:type="dcterms:W3CDTF">2026-07-29T10:35:41Z</dcterms:created>
  <dcterms:modified xsi:type="dcterms:W3CDTF">2026-07-29T10:35:41Z</dcterms:modified>
</cp:coreProperties>
</file>