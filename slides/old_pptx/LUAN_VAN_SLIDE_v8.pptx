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bản đồ cả phần mô hình. Nguyên liệu là bộ AndroidControl: người thật thao tác trên điện thoại Pixel khoảng một năm, mỗi bước có ảnh màn hình, toạ độ chỗ họ chạm, và một câu hướng dẫn do người viết.
Bốn khâu đầu đều là chế biến dữ liệu, chưa động tới mô hình mình train: khâu 1 đọc chữ trên ảnh, khâu 2 viết lại câu cho tự đủ, khâu 3 dựng phần mô tả phần tử, khâu 4 ghép tất cả thành bộ dữ liệu huấn luyện. Bốn khâu này chạy một lần trên máy cá nhân, không tốn tiền, nên rủi ro kiểm được trước.
Khâu 5 mới là huấn luyện. Khâu 6 là lúc chạy thật trên máy người dùng.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Dùng RapidOCR trên nền ONNX. Không phải vì chính xác nhất, mà vì nó khớp câu chuyện triển khai: chạy trên CPU, chạy được ngay trên điện thoại, miễn phí. Đổi sang dịch vụ đọc chữ trên mạng thì sạch hơn nhưng hỏng luận điểm chạy offline, mà ảnh màn hình thường có thông tin riêng tư.
Kết quả trả về là từng dòng chữ kèm toạ độ tâm và vị trí theo lưới ba nhân ba, ví dụ trên đỉnh giữa. Ghi vị trí thô thay vì số pixel vì mô hình ngôn ngữ xử lý kiểu đó tự nhiên hơn và không phụ thuộc kích thước màn.
Số đo trên 1.069 bước chạm: trung vị 22 dòng chữ mỗi màn, 40% có chữ ngay tại nút, 57% có chữ gần nút, và 43% không có chữ nào gần. Con số 43% đó là nút hình: dấu cộng, mũi tên, biểu tượng chia sẻ. Nó ảnh hưởng thẳng tới khâu 3.
Danh sách nhiễu là cố ý giữ nguyên, vì mô hình được huấn luyện với chính danh sách đó nên phải học cả khi nào không nên 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hướng dẫn người viết trong bộ dữ liệu quá cụt để làm đáp án mẫu: trung vị 6 từ, gần nửa dưới 5 từ, nhiều câu mơ hồ kiểu Tap the app, có câu hỏng hẳn như Click on the top at the bottom right corner. Mô hình học bắt chước sẽ học đúng giọng cụt đó và tự chặn trần của mình — đo được là câu cộc lốc trỏ trúng 35%, câu tả rõ phần tử trỏ trúng 69%.
Cách làm: lấy toạ độ chỗ người thật chạm, khoanh dấu lên ảnh tại đúng chỗ đó, đưa ảnh có dấu cộng câu gốc cho một mô hình lớn, yêu cầu viết lại thành câu tự đủ và giữ nguyên nghĩa thao tác. Lúc huấn luyện thì dùng ảnh sạch, không có dấu.
Vì sao hợp lệ: mô hình viết lại được cầm đáp án, nó thấy dấu khoanh nên chỉ mô tả một chỗ đã được chỉ sẵn. Cái truyền lại là chất lượng câu chữ, không phải năng lực định vị.
Ba điều bắt buộc. Một, mô hình viết lại phải khác họ với mốc đem so, nếu không thì phản biện nói ngay học từ ai thì cùng lắm bằng người đó. Hai, phải có nhánh viết lại mù ảnh: cùng mô hình, cùng yêu cầu viết dài hơn, nhưng không cho xem ảnh và dấu — để tách thông tin khỏi độ dài. Ba, soi tay khoảng 100 câu đếm tỉ lệ bịa tên phần tử.
Và nói rõ ngay: khâu này là tiền xử lý dữ liệu, cách khoanh dấu rồi nhờ mô hình lớn viết mô tả đã có người làm trong miền giao diện, nên không kể vào tính mới.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Khâu này chế ra nửa đầu của đáp án mẫu, nên nói rõ nó dùng làm gì.
Cách dựng, ba bước, hoàn toàn tự động: lấy toạ độ chỗ người thật chạm, tra ra hộp phần tử nằm tại đúng chỗ đó trong cây trợ năng của hệ điều hành, rồi rút thành bốn trường.
Bốn trường là: vai trò lấy từ class_name của hộp, ví dụ EditText là ô nhập liệu; chữ hoặc hình lấy từ bộ đọc chữ nhưng chỉ tính chữ nằm trong hộp; vị trí quy về lưới ba nhân ba; dấu hiệu phân biệt là xem có phần tử nào khác cùng loại cùng chữ ở gần không, ví dụ có một kính lúp nữa bên phải.
Dùng làm gì: dòng bốn trường này ghép vào TRƯỚC câu hướng dẫn, thành nửa đầu của đáp án mẫu ở khâu 4. Nhờ vậy mô hình bị buộc phải nói ra phần tử là cái gì, ở đâu, rồi mới được viết câu. Lúc chấm thì cắt bỏ dòng đó đi, chỉ lấy câu.
Rủi ro lớn nhất của cả pipeline nằm ở đây: cây trợ năng chỉ 12,6% phần tử có tên, bộ đọc chữ chỉ phủ 57% bước chạm, cộng lại còn khoảng 43% bước không lấy được tên từ đâu cả. Nút hình thì xử bằng cách cắt ảnh vùng hộp ra nhờ mô hình mô tả ngắn. Nhưng nếu tầng giữa mà rỗng thì mô hình chẳng có gì để chép, hai tầng hoá ra tệ hơn một tầng. Nên việc đầu tiên, miễn phí, là dựng thử vài trăm bước rồi soi tay đếm bao nhiêu phần trăm dùng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quan trọng nhất, và cũng là chỗ dễ hiểu nhầm nhất, nên nói thật rõ.
Ở khâu 4 chưa có mô hình nào sinh ra cái gì cả. Đây thuần tuý là ghép nhãn. Bên trái là đề bài: ảnh sạch không có dấu khoanh, mục tiêu của tác vụ, các bước đã làm, và danh sách chữ nhìn thấy do khâu 1 đọc ra. Bên phải là đáp án mẫu, gồm hai nửa ghép lại: nửa trên là dòng bốn trường do khâu 3 dựng tự động, nửa dưới là câu do khâu 2 viết lại.
Một cặp đề bài và đáp án mẫu là một dòng dữ liệu. Hàng nghìn bước cho hàng nghìn dòng, gộp lại thành bộ dữ liệu huấn luyện, rồi mới đưa sang khâu 5.
Lúc huấn luyện, mô hình tập viết ra đúng chuỗi đáp án mẫu đó. Lúc chạy thật thì không ai đưa đáp án, mô hình tự viết cả hai phần — và đó chính là chỗ nó hành xử khác so với bản huấn luyện thường.
Ba chi tiết đáng nêu: ảnh trong đề bài là ảnh sạch, dấu khoanh chỉ tồn tại ở khâu 2. Dòng mô tả nằm ở đáp án chứ không nằm ở đề bài, nên mô hình phải tự sinh chứ không được mớm. Và toạ độ đúng không xuất hiện ở đâu trong dòng dữ liệu này, nó chỉ dùng để dựng nhãn rồi biến mất.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hình nền Qwen2.5-VL-3B, giấy phép Apache-2.0. Bốn lý do chọn: phải là mô hình mở vì đề tài buộc tự huấn luyện và triển khai là chạy offline, mô hình đóng thì không fine-tune được; phải nhỏ vì máy thuê một card 24GB, bản 3 tỉ với QLoRA vừa khít; phải đọc được ảnh giao diện dày chữ, đây là chỗ nhiều mô hình nhỏ khác đuối vì nén ảnh làm mất chữ nút; và đã có tiền lệ ngay trên miền giao diện cùng cỡ.
QLoRA nghĩa là chỉ chỉnh một lượng nhỏ tham số thêm vào, giữ nguyên phần lớn mô hình gốc ở dạng nén. Dự kiến đóng băng phần thị giác, chỉ chỉnh phần ngôn ngữ và lớp nối. Hàm mất mát là cross entropy trên từng chữ của phần đáp án, gồm cả dòng mô tả lẫn câu. Một lượt huấn luyện ước 6 tới 10 giờ card A100.
Chỗ chưa chốt là mức thu nhỏ ảnh: ảnh điện thoại 1080 nhân 2400 rất cao, giữ lớn thì đọc được chữ nút nhỏ nhưng chuỗi dài và tốn, thu nhỏ thì nhanh nhưng mất chữ nút, đúng thứ tác vụ này cần. Phải thử vài mức.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Lúc chạy thật rất gọn. Người dùng đưa một ảnh màn hình và một câu hỏi. Bộ đọc chữ chạy trên máy cho ra danh sách chữ kèm vị trí. Cả hai đi vào mô hình. Mô hình tự sinh dòng mô tả rồi tới câu. Cắt bỏ dòng mô tả, đưa câu cho người dùng.
Chỉ hai thứ nằm trên máy người dùng: bộ đọc chữ và mô hình. Không cần mạng, không phải gửi ảnh màn hình đi đâu, mà ảnh màn hình thường có thông tin riêng tư.
Không cần toạ độ đúng, cây trợ năng, mô hình lớn hay bộ trỏ — những thứ đó chỉ tồn tại lúc dựng dữ liệu và lúc chấm.
Câu hỏi phải chủ động nêu: nếu mô hình mô tả sai thì câu sai theo, nhìn nhầm sang nút bên cạnh rồi hướng dẫn bấm nút đó, gọi là lỗi lan truyền. Cách phát hiện là so phần mô tả mô hình sinh ra với nhãn đã dựng sẵn, đếm tỉ lệ nêu đúng phần tử. Nếu tỉ lệ đó thấp mà điểm câu vẫn cao thì phải giải thích được chứ không lờ 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lần huấn luyện ra bốn mô hình, dùng chung mô hình nền, chung cách huấn luyện, chung bộ ảnh. Chỉ khác đúng một thứ: đáp án mẫu gồm những gì.
Lần một, đáp án là câu người viết nguyên bản — đây là bản thường, làm mốc trong. Lần hai, đáp án là câu đã viết lại ở khâu 2 — đây là tầng nền. Lần ba, đáp án là câu viết lại nhưng mô hình lớn không được xem ảnh, tức câu dài tương đương mà không có thông tin đặc quyền — dùng làm đối chứng để tách thông tin khỏi độ dài. Lần bốn, đáp án có thêm dòng mô tả đứng trước câu — đây là phần đóng góp.
Kết luận đọc ở hiệu số giữa lần bốn và lần hai, vì hai lần đó cùng dữ liệu cùng giọng, chỉ khác đúng một yếu tố là mô hình có phải tả phần tử trước khi viết câu hay không. Bố trí như vậy để phần dữ liệu không lẫn vào phần mô hình, tránh đòn phản biện rằng đóng góp thực ra chỉ là đóng góp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33B"/>
        </a:solidFill>
      </p:bgPr>
    </p:bg>
    <p:spTree>
      <p:nvGrpSpPr>
        <p:cNvPr id="1" name=""/>
        <p:cNvGrpSpPr/>
        <p:nvPr/>
      </p:nvGrpSpPr>
      <p:grpSpPr>
        <a:xfrm>
          <a:off x="0" y="0"/>
          <a:ext cx="0" cy="0"/>
          <a:chOff x="0" y="0"/>
          <a:chExt cx="0" cy="0"/>
        </a:xfrm>
      </p:grpSpPr>
      <p:sp>
        <p:nvSpPr>
          <p:cNvPr id="2" name="Text 0"/>
          <p:cNvSpPr/>
          <p:nvPr/>
        </p:nvSpPr>
        <p:spPr>
          <a:xfrm>
            <a:off x="841248" y="1371600"/>
            <a:ext cx="10058400" cy="365760"/>
          </a:xfrm>
          <a:prstGeom prst="rect">
            <a:avLst/>
          </a:prstGeom>
          <a:noFill/>
          <a:ln/>
        </p:spPr>
        <p:txBody>
          <a:bodyPr wrap="square" lIns="0" tIns="0" rIns="0" bIns="0" rtlCol="0" anchor="t"/>
          <a:lstStyle/>
          <a:p>
            <a:pPr algn="l" indent="0" marL="0">
              <a:buNone/>
            </a:pPr>
            <a:r>
              <a:rPr lang="en-US" sz="1300" b="1" spc="250" kern="0" dirty="0">
                <a:solidFill>
                  <a:srgbClr val="E4A986"/>
                </a:solidFill>
                <a:latin typeface="Segoe UI" pitchFamily="34" charset="0"/>
                <a:ea typeface="Segoe UI" pitchFamily="34" charset="-122"/>
                <a:cs typeface="Segoe UI" pitchFamily="34" charset="-120"/>
              </a:rPr>
              <a:t>LUẬN VĂN THẠC SĨ · PHẦN MÔ HÌNH</a:t>
            </a:r>
            <a:endParaRPr lang="en-US" sz="1300" dirty="0"/>
          </a:p>
        </p:txBody>
      </p:sp>
      <p:sp>
        <p:nvSpPr>
          <p:cNvPr id="3" name="Text 1"/>
          <p:cNvSpPr/>
          <p:nvPr/>
        </p:nvSpPr>
        <p:spPr>
          <a:xfrm>
            <a:off x="822960" y="1965960"/>
            <a:ext cx="877824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Cambria" pitchFamily="34" charset="0"/>
                <a:ea typeface="Cambria" pitchFamily="34" charset="-122"/>
                <a:cs typeface="Cambria" pitchFamily="34" charset="-120"/>
              </a:rPr>
              <a:t>Mô hình được dựng ra</a:t>
            </a:r>
            <a:endParaRPr lang="en-US" sz="3400" dirty="0"/>
          </a:p>
          <a:p>
            <a:pPr algn="l" indent="0" marL="0">
              <a:lnSpc>
                <a:spcPct val="108000"/>
              </a:lnSpc>
              <a:buNone/>
            </a:pPr>
            <a:r>
              <a:rPr lang="en-US" sz="3400" b="1" dirty="0">
                <a:solidFill>
                  <a:srgbClr val="FFFFFF"/>
                </a:solidFill>
                <a:latin typeface="Cambria" pitchFamily="34" charset="0"/>
                <a:ea typeface="Cambria" pitchFamily="34" charset="-122"/>
                <a:cs typeface="Cambria" pitchFamily="34" charset="-120"/>
              </a:rPr>
              <a:t>như thế nào</a:t>
            </a:r>
            <a:endParaRPr lang="en-US" sz="3400" dirty="0"/>
          </a:p>
        </p:txBody>
      </p:sp>
      <p:sp>
        <p:nvSpPr>
          <p:cNvPr id="4" name="Text 2"/>
          <p:cNvSpPr/>
          <p:nvPr/>
        </p:nvSpPr>
        <p:spPr>
          <a:xfrm>
            <a:off x="841248" y="3977640"/>
            <a:ext cx="8595360" cy="548640"/>
          </a:xfrm>
          <a:prstGeom prst="rect">
            <a:avLst/>
          </a:prstGeom>
          <a:noFill/>
          <a:ln/>
        </p:spPr>
        <p:txBody>
          <a:bodyPr wrap="square" lIns="0" tIns="0" rIns="0" bIns="0" rtlCol="0" anchor="t"/>
          <a:lstStyle/>
          <a:p>
            <a:pPr algn="l" indent="0" marL="0">
              <a:buNone/>
            </a:pPr>
            <a:r>
              <a:rPr lang="en-US" sz="1600" i="1" dirty="0">
                <a:solidFill>
                  <a:srgbClr val="C9D2DC"/>
                </a:solidFill>
                <a:latin typeface="Cambria" pitchFamily="34" charset="0"/>
                <a:ea typeface="Cambria" pitchFamily="34" charset="-122"/>
                <a:cs typeface="Cambria" pitchFamily="34" charset="-120"/>
              </a:rPr>
              <a:t>Từ thao tác của người thật tới câu hướng dẫn chạy trên điện thoại</a:t>
            </a:r>
            <a:endParaRPr lang="en-US" sz="1600" dirty="0"/>
          </a:p>
        </p:txBody>
      </p:sp>
      <p:sp>
        <p:nvSpPr>
          <p:cNvPr id="5" name="Text 3"/>
          <p:cNvSpPr/>
          <p:nvPr/>
        </p:nvSpPr>
        <p:spPr>
          <a:xfrm>
            <a:off x="841248" y="5989320"/>
            <a:ext cx="10058400" cy="365760"/>
          </a:xfrm>
          <a:prstGeom prst="rect">
            <a:avLst/>
          </a:prstGeom>
          <a:noFill/>
          <a:ln/>
        </p:spPr>
        <p:txBody>
          <a:bodyPr wrap="square" lIns="0" tIns="0" rIns="0" bIns="0" rtlCol="0" anchor="t"/>
          <a:lstStyle/>
          <a:p>
            <a:pPr algn="l" indent="0" marL="0">
              <a:buNone/>
            </a:pPr>
            <a:r>
              <a:rPr lang="en-US" sz="1300" dirty="0">
                <a:solidFill>
                  <a:srgbClr val="8FA0B2"/>
                </a:solidFill>
                <a:latin typeface="Segoe UI" pitchFamily="34" charset="0"/>
                <a:ea typeface="Segoe UI" pitchFamily="34" charset="-122"/>
                <a:cs typeface="Segoe UI" pitchFamily="34" charset="-120"/>
              </a:rPr>
              <a:t>Học viên · · · · ·        Giảng viên hướng dẫn · · · · ·        2026</a:t>
            </a:r>
            <a:endParaRPr lang="en-US" sz="1300" dirty="0"/>
          </a:p>
        </p:txBody>
      </p:sp>
      <p:sp>
        <p:nvSpPr>
          <p:cNvPr id="6" name="Shape 4"/>
          <p:cNvSpPr/>
          <p:nvPr/>
        </p:nvSpPr>
        <p:spPr>
          <a:xfrm>
            <a:off x="9537192" y="1719072"/>
            <a:ext cx="1865376" cy="3191256"/>
          </a:xfrm>
          <a:prstGeom prst="roundRect">
            <a:avLst>
              <a:gd name="adj" fmla="val 3431"/>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pic>
        <p:nvPicPr>
          <p:cNvPr id="7" name="Image 0" descr="_img/real_mv_1.png">    </p:cNvPr>
          <p:cNvPicPr>
            <a:picLocks noChangeAspect="1"/>
          </p:cNvPicPr>
          <p:nvPr/>
        </p:nvPicPr>
        <p:blipFill>
          <a:blip r:embed="rId1"/>
          <a:srcRect l="0" r="0" t="0" b="0"/>
          <a:stretch/>
        </p:blipFill>
        <p:spPr>
          <a:xfrm>
            <a:off x="9601200" y="1783080"/>
            <a:ext cx="1737360" cy="30632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85216"/>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TOÀN CẢNH</a:t>
            </a:r>
            <a:endParaRPr lang="en-US" sz="1250" dirty="0"/>
          </a:p>
        </p:txBody>
      </p:sp>
      <p:sp>
        <p:nvSpPr>
          <p:cNvPr id="3" name="Text 1"/>
          <p:cNvSpPr/>
          <p:nvPr/>
        </p:nvSpPr>
        <p:spPr>
          <a:xfrm>
            <a:off x="841248" y="914400"/>
            <a:ext cx="10506456" cy="82296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Bốn khâu dựng dữ liệu, một khâu huấn luyện, rồi chạy thật</a:t>
            </a:r>
            <a:endParaRPr lang="en-US" sz="2700" dirty="0"/>
          </a:p>
        </p:txBody>
      </p:sp>
      <p:sp>
        <p:nvSpPr>
          <p:cNvPr id="4" name="Shape 2"/>
          <p:cNvSpPr/>
          <p:nvPr/>
        </p:nvSpPr>
        <p:spPr>
          <a:xfrm>
            <a:off x="841248" y="2148840"/>
            <a:ext cx="10506456" cy="566928"/>
          </a:xfrm>
          <a:prstGeom prst="roundRect">
            <a:avLst>
              <a:gd name="adj" fmla="val 14516"/>
            </a:avLst>
          </a:prstGeom>
          <a:solidFill>
            <a:srgbClr val="FFFFFF"/>
          </a:solidFill>
          <a:ln w="12700">
            <a:solidFill>
              <a:srgbClr val="DBE0E6"/>
            </a:solidFill>
            <a:prstDash val="solid"/>
          </a:ln>
        </p:spPr>
      </p:sp>
      <p:sp>
        <p:nvSpPr>
          <p:cNvPr id="5" name="Text 3"/>
          <p:cNvSpPr/>
          <p:nvPr/>
        </p:nvSpPr>
        <p:spPr>
          <a:xfrm>
            <a:off x="1115568" y="2148840"/>
            <a:ext cx="9957816" cy="566928"/>
          </a:xfrm>
          <a:prstGeom prst="rect">
            <a:avLst/>
          </a:prstGeom>
          <a:noFill/>
          <a:ln/>
        </p:spPr>
        <p:txBody>
          <a:bodyPr wrap="square" lIns="0" tIns="0" rIns="0" bIns="0" rtlCol="0" anchor="ctr"/>
          <a:lstStyle/>
          <a:p>
            <a:pPr algn="l" indent="0" marL="0">
              <a:buNone/>
            </a:pPr>
            <a:r>
              <a:rPr lang="en-US" sz="1250" b="1" dirty="0">
                <a:solidFill>
                  <a:srgbClr val="1D2733"/>
                </a:solidFill>
                <a:latin typeface="Segoe UI" pitchFamily="34" charset="0"/>
                <a:ea typeface="Segoe UI" pitchFamily="34" charset="-122"/>
                <a:cs typeface="Segoe UI" pitchFamily="34" charset="-120"/>
              </a:rPr>
              <a:t>Nguyên liệu — bộ AndroidControl:  </a:t>
            </a:r>
            <a:pPr algn="l" indent="0" marL="0">
              <a:buNone/>
            </a:pPr>
            <a:r>
              <a:rPr lang="en-US" sz="1250" dirty="0">
                <a:solidFill>
                  <a:srgbClr val="454C55"/>
                </a:solidFill>
                <a:latin typeface="Segoe UI" pitchFamily="34" charset="0"/>
                <a:ea typeface="Segoe UI" pitchFamily="34" charset="-122"/>
                <a:cs typeface="Segoe UI" pitchFamily="34" charset="-120"/>
              </a:rPr>
              <a:t>ảnh màn hình  ·  toạ độ người thật chạm  ·  câu hướng dẫn người viết</a:t>
            </a:r>
            <a:endParaRPr lang="en-US" sz="1250" dirty="0"/>
          </a:p>
        </p:txBody>
      </p:sp>
      <p:sp>
        <p:nvSpPr>
          <p:cNvPr id="6" name="Shape 4"/>
          <p:cNvSpPr/>
          <p:nvPr/>
        </p:nvSpPr>
        <p:spPr>
          <a:xfrm>
            <a:off x="841248" y="2971800"/>
            <a:ext cx="3346704" cy="914400"/>
          </a:xfrm>
          <a:prstGeom prst="roundRect">
            <a:avLst>
              <a:gd name="adj" fmla="val 10000"/>
            </a:avLst>
          </a:prstGeom>
          <a:solidFill>
            <a:srgbClr val="F3F5F7"/>
          </a:solidFill>
          <a:ln/>
        </p:spPr>
      </p:sp>
      <p:sp>
        <p:nvSpPr>
          <p:cNvPr id="7" name="Shape 5"/>
          <p:cNvSpPr/>
          <p:nvPr/>
        </p:nvSpPr>
        <p:spPr>
          <a:xfrm>
            <a:off x="1060704" y="3209544"/>
            <a:ext cx="457200" cy="457200"/>
          </a:xfrm>
          <a:prstGeom prst="ellipse">
            <a:avLst/>
          </a:prstGeom>
          <a:solidFill>
            <a:srgbClr val="52657A"/>
          </a:solidFill>
          <a:ln/>
        </p:spPr>
      </p:sp>
      <p:sp>
        <p:nvSpPr>
          <p:cNvPr id="8" name="Text 6"/>
          <p:cNvSpPr/>
          <p:nvPr/>
        </p:nvSpPr>
        <p:spPr>
          <a:xfrm>
            <a:off x="1060704" y="320954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9" name="Text 7"/>
          <p:cNvSpPr/>
          <p:nvPr/>
        </p:nvSpPr>
        <p:spPr>
          <a:xfrm>
            <a:off x="1645920" y="2971800"/>
            <a:ext cx="2377440" cy="914400"/>
          </a:xfrm>
          <a:prstGeom prst="rect">
            <a:avLst/>
          </a:prstGeom>
          <a:noFill/>
          <a:ln/>
        </p:spPr>
        <p:txBody>
          <a:bodyPr wrap="square" lIns="0" tIns="0" rIns="0" bIns="0" rtlCol="0" anchor="ctr"/>
          <a:lstStyle/>
          <a:p>
            <a:pPr algn="l" indent="0" marL="0">
              <a:lnSpc>
                <a:spcPct val="120000"/>
              </a:lnSpc>
              <a:buNone/>
            </a:pPr>
            <a:r>
              <a:rPr lang="en-US" sz="1400" b="1" dirty="0">
                <a:solidFill>
                  <a:srgbClr val="1D2733"/>
                </a:solidFill>
                <a:latin typeface="Segoe UI" pitchFamily="34" charset="0"/>
                <a:ea typeface="Segoe UI" pitchFamily="34" charset="-122"/>
                <a:cs typeface="Segoe UI" pitchFamily="34" charset="-120"/>
              </a:rPr>
              <a:t>Đọc chữ trên ảnh</a:t>
            </a:r>
            <a:endParaRPr lang="en-US" sz="1400" dirty="0"/>
          </a:p>
        </p:txBody>
      </p:sp>
      <p:sp>
        <p:nvSpPr>
          <p:cNvPr id="10" name="Shape 8"/>
          <p:cNvSpPr/>
          <p:nvPr/>
        </p:nvSpPr>
        <p:spPr>
          <a:xfrm>
            <a:off x="4242816" y="3429000"/>
            <a:ext cx="164592" cy="0"/>
          </a:xfrm>
          <a:prstGeom prst="line">
            <a:avLst/>
          </a:prstGeom>
          <a:noFill/>
          <a:ln w="31750">
            <a:solidFill>
              <a:srgbClr val="8B929B"/>
            </a:solidFill>
            <a:prstDash val="solid"/>
            <a:tailEnd type="triangle"/>
          </a:ln>
        </p:spPr>
      </p:sp>
      <p:sp>
        <p:nvSpPr>
          <p:cNvPr id="11" name="Shape 9"/>
          <p:cNvSpPr/>
          <p:nvPr/>
        </p:nvSpPr>
        <p:spPr>
          <a:xfrm>
            <a:off x="4453128" y="2971800"/>
            <a:ext cx="3346704" cy="914400"/>
          </a:xfrm>
          <a:prstGeom prst="roundRect">
            <a:avLst>
              <a:gd name="adj" fmla="val 10000"/>
            </a:avLst>
          </a:prstGeom>
          <a:solidFill>
            <a:srgbClr val="F3F5F7"/>
          </a:solidFill>
          <a:ln/>
        </p:spPr>
      </p:sp>
      <p:sp>
        <p:nvSpPr>
          <p:cNvPr id="12" name="Shape 10"/>
          <p:cNvSpPr/>
          <p:nvPr/>
        </p:nvSpPr>
        <p:spPr>
          <a:xfrm>
            <a:off x="4672584" y="3209544"/>
            <a:ext cx="457200" cy="457200"/>
          </a:xfrm>
          <a:prstGeom prst="ellipse">
            <a:avLst/>
          </a:prstGeom>
          <a:solidFill>
            <a:srgbClr val="52657A"/>
          </a:solidFill>
          <a:ln/>
        </p:spPr>
      </p:sp>
      <p:sp>
        <p:nvSpPr>
          <p:cNvPr id="13" name="Text 11"/>
          <p:cNvSpPr/>
          <p:nvPr/>
        </p:nvSpPr>
        <p:spPr>
          <a:xfrm>
            <a:off x="4672584" y="320954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4" name="Text 12"/>
          <p:cNvSpPr/>
          <p:nvPr/>
        </p:nvSpPr>
        <p:spPr>
          <a:xfrm>
            <a:off x="5257800" y="2971800"/>
            <a:ext cx="2377440" cy="914400"/>
          </a:xfrm>
          <a:prstGeom prst="rect">
            <a:avLst/>
          </a:prstGeom>
          <a:noFill/>
          <a:ln/>
        </p:spPr>
        <p:txBody>
          <a:bodyPr wrap="square" lIns="0" tIns="0" rIns="0" bIns="0" rtlCol="0" anchor="ctr"/>
          <a:lstStyle/>
          <a:p>
            <a:pPr algn="l" indent="0" marL="0">
              <a:lnSpc>
                <a:spcPct val="120000"/>
              </a:lnSpc>
              <a:buNone/>
            </a:pPr>
            <a:r>
              <a:rPr lang="en-US" sz="1400" b="1" dirty="0">
                <a:solidFill>
                  <a:srgbClr val="1D2733"/>
                </a:solidFill>
                <a:latin typeface="Segoe UI" pitchFamily="34" charset="0"/>
                <a:ea typeface="Segoe UI" pitchFamily="34" charset="-122"/>
                <a:cs typeface="Segoe UI" pitchFamily="34" charset="-120"/>
              </a:rPr>
              <a:t>Viết lại câu</a:t>
            </a:r>
            <a:endParaRPr lang="en-US" sz="1400" dirty="0"/>
          </a:p>
        </p:txBody>
      </p:sp>
      <p:sp>
        <p:nvSpPr>
          <p:cNvPr id="15" name="Shape 13"/>
          <p:cNvSpPr/>
          <p:nvPr/>
        </p:nvSpPr>
        <p:spPr>
          <a:xfrm>
            <a:off x="7854696" y="3429000"/>
            <a:ext cx="164592" cy="0"/>
          </a:xfrm>
          <a:prstGeom prst="line">
            <a:avLst/>
          </a:prstGeom>
          <a:noFill/>
          <a:ln w="31750">
            <a:solidFill>
              <a:srgbClr val="8B929B"/>
            </a:solidFill>
            <a:prstDash val="solid"/>
            <a:tailEnd type="triangle"/>
          </a:ln>
        </p:spPr>
      </p:sp>
      <p:sp>
        <p:nvSpPr>
          <p:cNvPr id="16" name="Shape 14"/>
          <p:cNvSpPr/>
          <p:nvPr/>
        </p:nvSpPr>
        <p:spPr>
          <a:xfrm>
            <a:off x="8065008" y="2971800"/>
            <a:ext cx="3346704" cy="914400"/>
          </a:xfrm>
          <a:prstGeom prst="roundRect">
            <a:avLst>
              <a:gd name="adj" fmla="val 10000"/>
            </a:avLst>
          </a:prstGeom>
          <a:solidFill>
            <a:srgbClr val="F3F5F7"/>
          </a:solidFill>
          <a:ln/>
        </p:spPr>
      </p:sp>
      <p:sp>
        <p:nvSpPr>
          <p:cNvPr id="17" name="Shape 15"/>
          <p:cNvSpPr/>
          <p:nvPr/>
        </p:nvSpPr>
        <p:spPr>
          <a:xfrm>
            <a:off x="8284464" y="3209544"/>
            <a:ext cx="457200" cy="457200"/>
          </a:xfrm>
          <a:prstGeom prst="ellipse">
            <a:avLst/>
          </a:prstGeom>
          <a:solidFill>
            <a:srgbClr val="52657A"/>
          </a:solidFill>
          <a:ln/>
        </p:spPr>
      </p:sp>
      <p:sp>
        <p:nvSpPr>
          <p:cNvPr id="18" name="Text 16"/>
          <p:cNvSpPr/>
          <p:nvPr/>
        </p:nvSpPr>
        <p:spPr>
          <a:xfrm>
            <a:off x="8284464" y="320954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9" name="Text 17"/>
          <p:cNvSpPr/>
          <p:nvPr/>
        </p:nvSpPr>
        <p:spPr>
          <a:xfrm>
            <a:off x="8869680" y="2971800"/>
            <a:ext cx="2377440" cy="914400"/>
          </a:xfrm>
          <a:prstGeom prst="rect">
            <a:avLst/>
          </a:prstGeom>
          <a:noFill/>
          <a:ln/>
        </p:spPr>
        <p:txBody>
          <a:bodyPr wrap="square" lIns="0" tIns="0" rIns="0" bIns="0" rtlCol="0" anchor="ctr"/>
          <a:lstStyle/>
          <a:p>
            <a:pPr algn="l" indent="0" marL="0">
              <a:lnSpc>
                <a:spcPct val="120000"/>
              </a:lnSpc>
              <a:buNone/>
            </a:pPr>
            <a:r>
              <a:rPr lang="en-US" sz="1400" b="1" dirty="0">
                <a:solidFill>
                  <a:srgbClr val="1D2733"/>
                </a:solidFill>
                <a:latin typeface="Segoe UI" pitchFamily="34" charset="0"/>
                <a:ea typeface="Segoe UI" pitchFamily="34" charset="-122"/>
                <a:cs typeface="Segoe UI" pitchFamily="34" charset="-120"/>
              </a:rPr>
              <a:t>Dựng phần mô tả</a:t>
            </a:r>
            <a:endParaRPr lang="en-US" sz="1400" dirty="0"/>
          </a:p>
        </p:txBody>
      </p:sp>
      <p:sp>
        <p:nvSpPr>
          <p:cNvPr id="20" name="Shape 18"/>
          <p:cNvSpPr/>
          <p:nvPr/>
        </p:nvSpPr>
        <p:spPr>
          <a:xfrm>
            <a:off x="841248" y="4160520"/>
            <a:ext cx="3346704" cy="914400"/>
          </a:xfrm>
          <a:prstGeom prst="roundRect">
            <a:avLst>
              <a:gd name="adj" fmla="val 10000"/>
            </a:avLst>
          </a:prstGeom>
          <a:solidFill>
            <a:srgbClr val="F3F5F7"/>
          </a:solidFill>
          <a:ln/>
        </p:spPr>
      </p:sp>
      <p:sp>
        <p:nvSpPr>
          <p:cNvPr id="21" name="Shape 19"/>
          <p:cNvSpPr/>
          <p:nvPr/>
        </p:nvSpPr>
        <p:spPr>
          <a:xfrm>
            <a:off x="1060704" y="4398264"/>
            <a:ext cx="457200" cy="457200"/>
          </a:xfrm>
          <a:prstGeom prst="ellipse">
            <a:avLst/>
          </a:prstGeom>
          <a:solidFill>
            <a:srgbClr val="52657A"/>
          </a:solidFill>
          <a:ln/>
        </p:spPr>
      </p:sp>
      <p:sp>
        <p:nvSpPr>
          <p:cNvPr id="22" name="Text 20"/>
          <p:cNvSpPr/>
          <p:nvPr/>
        </p:nvSpPr>
        <p:spPr>
          <a:xfrm>
            <a:off x="1060704" y="439826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3" name="Text 21"/>
          <p:cNvSpPr/>
          <p:nvPr/>
        </p:nvSpPr>
        <p:spPr>
          <a:xfrm>
            <a:off x="1645920" y="4160520"/>
            <a:ext cx="2377440" cy="914400"/>
          </a:xfrm>
          <a:prstGeom prst="rect">
            <a:avLst/>
          </a:prstGeom>
          <a:noFill/>
          <a:ln/>
        </p:spPr>
        <p:txBody>
          <a:bodyPr wrap="square" lIns="0" tIns="0" rIns="0" bIns="0" rtlCol="0" anchor="ctr"/>
          <a:lstStyle/>
          <a:p>
            <a:pPr algn="l" indent="0" marL="0">
              <a:lnSpc>
                <a:spcPct val="120000"/>
              </a:lnSpc>
              <a:buNone/>
            </a:pPr>
            <a:r>
              <a:rPr lang="en-US" sz="1400" b="1" dirty="0">
                <a:solidFill>
                  <a:srgbClr val="1D2733"/>
                </a:solidFill>
                <a:latin typeface="Segoe UI" pitchFamily="34" charset="0"/>
                <a:ea typeface="Segoe UI" pitchFamily="34" charset="-122"/>
                <a:cs typeface="Segoe UI" pitchFamily="34" charset="-120"/>
              </a:rPr>
              <a:t>Ghép thành bộ dữ liệu</a:t>
            </a:r>
            <a:endParaRPr lang="en-US" sz="1400" dirty="0"/>
          </a:p>
        </p:txBody>
      </p:sp>
      <p:sp>
        <p:nvSpPr>
          <p:cNvPr id="24" name="Shape 22"/>
          <p:cNvSpPr/>
          <p:nvPr/>
        </p:nvSpPr>
        <p:spPr>
          <a:xfrm>
            <a:off x="4242816" y="4617720"/>
            <a:ext cx="164592" cy="0"/>
          </a:xfrm>
          <a:prstGeom prst="line">
            <a:avLst/>
          </a:prstGeom>
          <a:noFill/>
          <a:ln w="31750">
            <a:solidFill>
              <a:srgbClr val="8B929B"/>
            </a:solidFill>
            <a:prstDash val="solid"/>
            <a:tailEnd type="triangle"/>
          </a:ln>
        </p:spPr>
      </p:sp>
      <p:sp>
        <p:nvSpPr>
          <p:cNvPr id="25" name="Shape 23"/>
          <p:cNvSpPr/>
          <p:nvPr/>
        </p:nvSpPr>
        <p:spPr>
          <a:xfrm>
            <a:off x="4453128" y="4160520"/>
            <a:ext cx="3346704" cy="914400"/>
          </a:xfrm>
          <a:prstGeom prst="roundRect">
            <a:avLst>
              <a:gd name="adj" fmla="val 10000"/>
            </a:avLst>
          </a:prstGeom>
          <a:solidFill>
            <a:srgbClr val="F3F5F7"/>
          </a:solidFill>
          <a:ln/>
        </p:spPr>
      </p:sp>
      <p:sp>
        <p:nvSpPr>
          <p:cNvPr id="26" name="Shape 24"/>
          <p:cNvSpPr/>
          <p:nvPr/>
        </p:nvSpPr>
        <p:spPr>
          <a:xfrm>
            <a:off x="4672584" y="4398264"/>
            <a:ext cx="457200" cy="457200"/>
          </a:xfrm>
          <a:prstGeom prst="ellipse">
            <a:avLst/>
          </a:prstGeom>
          <a:solidFill>
            <a:srgbClr val="52657A"/>
          </a:solidFill>
          <a:ln/>
        </p:spPr>
      </p:sp>
      <p:sp>
        <p:nvSpPr>
          <p:cNvPr id="27" name="Text 25"/>
          <p:cNvSpPr/>
          <p:nvPr/>
        </p:nvSpPr>
        <p:spPr>
          <a:xfrm>
            <a:off x="4672584" y="439826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28" name="Text 26"/>
          <p:cNvSpPr/>
          <p:nvPr/>
        </p:nvSpPr>
        <p:spPr>
          <a:xfrm>
            <a:off x="5257800" y="4160520"/>
            <a:ext cx="2377440" cy="914400"/>
          </a:xfrm>
          <a:prstGeom prst="rect">
            <a:avLst/>
          </a:prstGeom>
          <a:noFill/>
          <a:ln/>
        </p:spPr>
        <p:txBody>
          <a:bodyPr wrap="square" lIns="0" tIns="0" rIns="0" bIns="0" rtlCol="0" anchor="ctr"/>
          <a:lstStyle/>
          <a:p>
            <a:pPr algn="l" indent="0" marL="0">
              <a:lnSpc>
                <a:spcPct val="120000"/>
              </a:lnSpc>
              <a:buNone/>
            </a:pPr>
            <a:r>
              <a:rPr lang="en-US" sz="1400" b="1" dirty="0">
                <a:solidFill>
                  <a:srgbClr val="1D2733"/>
                </a:solidFill>
                <a:latin typeface="Segoe UI" pitchFamily="34" charset="0"/>
                <a:ea typeface="Segoe UI" pitchFamily="34" charset="-122"/>
                <a:cs typeface="Segoe UI" pitchFamily="34" charset="-120"/>
              </a:rPr>
              <a:t>Huấn luyện</a:t>
            </a:r>
            <a:endParaRPr lang="en-US" sz="1400" dirty="0"/>
          </a:p>
        </p:txBody>
      </p:sp>
      <p:sp>
        <p:nvSpPr>
          <p:cNvPr id="29" name="Shape 27"/>
          <p:cNvSpPr/>
          <p:nvPr/>
        </p:nvSpPr>
        <p:spPr>
          <a:xfrm>
            <a:off x="7854696" y="4617720"/>
            <a:ext cx="164592" cy="0"/>
          </a:xfrm>
          <a:prstGeom prst="line">
            <a:avLst/>
          </a:prstGeom>
          <a:noFill/>
          <a:ln w="31750">
            <a:solidFill>
              <a:srgbClr val="8B929B"/>
            </a:solidFill>
            <a:prstDash val="solid"/>
            <a:tailEnd type="triangle"/>
          </a:ln>
        </p:spPr>
      </p:sp>
      <p:sp>
        <p:nvSpPr>
          <p:cNvPr id="30" name="Shape 28"/>
          <p:cNvSpPr/>
          <p:nvPr/>
        </p:nvSpPr>
        <p:spPr>
          <a:xfrm>
            <a:off x="8065008" y="4160520"/>
            <a:ext cx="3346704" cy="914400"/>
          </a:xfrm>
          <a:prstGeom prst="roundRect">
            <a:avLst>
              <a:gd name="adj" fmla="val 10000"/>
            </a:avLst>
          </a:prstGeom>
          <a:solidFill>
            <a:srgbClr val="F7EBE3"/>
          </a:solidFill>
          <a:ln/>
        </p:spPr>
      </p:sp>
      <p:sp>
        <p:nvSpPr>
          <p:cNvPr id="31" name="Shape 29"/>
          <p:cNvSpPr/>
          <p:nvPr/>
        </p:nvSpPr>
        <p:spPr>
          <a:xfrm>
            <a:off x="8284464" y="4398264"/>
            <a:ext cx="457200" cy="457200"/>
          </a:xfrm>
          <a:prstGeom prst="ellipse">
            <a:avLst/>
          </a:prstGeom>
          <a:solidFill>
            <a:srgbClr val="BE5A2E"/>
          </a:solidFill>
          <a:ln/>
        </p:spPr>
      </p:sp>
      <p:sp>
        <p:nvSpPr>
          <p:cNvPr id="32" name="Text 30"/>
          <p:cNvSpPr/>
          <p:nvPr/>
        </p:nvSpPr>
        <p:spPr>
          <a:xfrm>
            <a:off x="8284464" y="439826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6</a:t>
            </a:r>
            <a:endParaRPr lang="en-US" sz="1700" dirty="0"/>
          </a:p>
        </p:txBody>
      </p:sp>
      <p:sp>
        <p:nvSpPr>
          <p:cNvPr id="33" name="Text 31"/>
          <p:cNvSpPr/>
          <p:nvPr/>
        </p:nvSpPr>
        <p:spPr>
          <a:xfrm>
            <a:off x="8869680" y="4160520"/>
            <a:ext cx="2377440" cy="914400"/>
          </a:xfrm>
          <a:prstGeom prst="rect">
            <a:avLst/>
          </a:prstGeom>
          <a:noFill/>
          <a:ln/>
        </p:spPr>
        <p:txBody>
          <a:bodyPr wrap="square" lIns="0" tIns="0" rIns="0" bIns="0" rtlCol="0" anchor="ctr"/>
          <a:lstStyle/>
          <a:p>
            <a:pPr algn="l" indent="0" marL="0">
              <a:buNone/>
            </a:pPr>
            <a:r>
              <a:rPr lang="en-US" sz="1400" b="1" dirty="0">
                <a:solidFill>
                  <a:srgbClr val="BE5A2E"/>
                </a:solidFill>
                <a:latin typeface="Segoe UI" pitchFamily="34" charset="0"/>
                <a:ea typeface="Segoe UI" pitchFamily="34" charset="-122"/>
                <a:cs typeface="Segoe UI" pitchFamily="34" charset="-120"/>
              </a:rPr>
              <a:t>Chạy thật</a:t>
            </a:r>
            <a:endParaRPr lang="en-US" sz="1400" dirty="0"/>
          </a:p>
        </p:txBody>
      </p:sp>
      <p:sp>
        <p:nvSpPr>
          <p:cNvPr id="34" name="Shape 32"/>
          <p:cNvSpPr/>
          <p:nvPr/>
        </p:nvSpPr>
        <p:spPr>
          <a:xfrm>
            <a:off x="841248" y="5349240"/>
            <a:ext cx="6766560" cy="566928"/>
          </a:xfrm>
          <a:prstGeom prst="roundRect">
            <a:avLst>
              <a:gd name="adj" fmla="val 14516"/>
            </a:avLst>
          </a:prstGeom>
          <a:solidFill>
            <a:srgbClr val="FFFFFF"/>
          </a:solidFill>
          <a:ln w="12700">
            <a:solidFill>
              <a:srgbClr val="DBE0E6"/>
            </a:solidFill>
            <a:prstDash val="solid"/>
          </a:ln>
        </p:spPr>
      </p:sp>
      <p:sp>
        <p:nvSpPr>
          <p:cNvPr id="35" name="Text 33"/>
          <p:cNvSpPr/>
          <p:nvPr/>
        </p:nvSpPr>
        <p:spPr>
          <a:xfrm>
            <a:off x="1115568" y="5349240"/>
            <a:ext cx="6217920" cy="566928"/>
          </a:xfrm>
          <a:prstGeom prst="rect">
            <a:avLst/>
          </a:prstGeom>
          <a:noFill/>
          <a:ln/>
        </p:spPr>
        <p:txBody>
          <a:bodyPr wrap="square" lIns="0" tIns="0" rIns="0" bIns="0" rtlCol="0" anchor="ctr"/>
          <a:lstStyle/>
          <a:p>
            <a:pPr algn="l" indent="0" marL="0">
              <a:buNone/>
            </a:pPr>
            <a:r>
              <a:rPr lang="en-US" sz="1250" dirty="0">
                <a:solidFill>
                  <a:srgbClr val="454C55"/>
                </a:solidFill>
                <a:latin typeface="Segoe UI" pitchFamily="34" charset="0"/>
                <a:ea typeface="Segoe UI" pitchFamily="34" charset="-122"/>
                <a:cs typeface="Segoe UI" pitchFamily="34" charset="-120"/>
              </a:rPr>
              <a:t>Khâu 1–4 chạy một lần trên máy cá nhân, miễn phí.</a:t>
            </a:r>
            <a:endParaRPr lang="en-US" sz="1250" dirty="0"/>
          </a:p>
        </p:txBody>
      </p:sp>
      <p:sp>
        <p:nvSpPr>
          <p:cNvPr id="36" name="Text 34"/>
          <p:cNvSpPr/>
          <p:nvPr/>
        </p:nvSpPr>
        <p:spPr>
          <a:xfrm>
            <a:off x="841248" y="6126480"/>
            <a:ext cx="10506456" cy="457200"/>
          </a:xfrm>
          <a:prstGeom prst="rect">
            <a:avLst/>
          </a:prstGeom>
          <a:noFill/>
          <a:ln/>
        </p:spPr>
        <p:txBody>
          <a:bodyPr wrap="square" lIns="0" tIns="0" rIns="0" bIns="0" rtlCol="0" anchor="t"/>
          <a:lstStyle/>
          <a:p>
            <a:pPr algn="l" indent="0" marL="0">
              <a:lnSpc>
                <a:spcPct val="120000"/>
              </a:lnSpc>
              <a:buNone/>
            </a:pPr>
            <a:r>
              <a:rPr lang="en-US" sz="1500" b="1" dirty="0">
                <a:solidFill>
                  <a:srgbClr val="1D2733"/>
                </a:solidFill>
                <a:latin typeface="Cambria" pitchFamily="34" charset="0"/>
                <a:ea typeface="Cambria" pitchFamily="34" charset="-122"/>
                <a:cs typeface="Cambria" pitchFamily="34" charset="-120"/>
              </a:rPr>
              <a:t>Bốn khâu đầu chỉ để chế ra bộ dữ liệu. Mô hình chỉ xuất hiện ở khâu 5.</a:t>
            </a:r>
            <a:endParaRPr lang="en-US" sz="1500" dirty="0"/>
          </a:p>
        </p:txBody>
      </p:sp>
      <p:sp>
        <p:nvSpPr>
          <p:cNvPr id="38" name="Text 35"/>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85216"/>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KHÂU 1 · ĐỌC CHỮ TRÊN ẢNH</a:t>
            </a:r>
            <a:endParaRPr lang="en-US" sz="1250" dirty="0"/>
          </a:p>
        </p:txBody>
      </p:sp>
      <p:sp>
        <p:nvSpPr>
          <p:cNvPr id="3" name="Text 1"/>
          <p:cNvSpPr/>
          <p:nvPr/>
        </p:nvSpPr>
        <p:spPr>
          <a:xfrm>
            <a:off x="841248" y="914400"/>
            <a:ext cx="10506456" cy="82296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Chọn bộ đọc chữ chạy được trên điện thoại — và biết nó yếu chỗ nào</a:t>
            </a:r>
            <a:endParaRPr lang="en-US" sz="2700" dirty="0"/>
          </a:p>
        </p:txBody>
      </p:sp>
      <p:sp>
        <p:nvSpPr>
          <p:cNvPr id="4" name="Shape 2"/>
          <p:cNvSpPr/>
          <p:nvPr/>
        </p:nvSpPr>
        <p:spPr>
          <a:xfrm>
            <a:off x="777240" y="2221992"/>
            <a:ext cx="2139696" cy="3419856"/>
          </a:xfrm>
          <a:prstGeom prst="roundRect">
            <a:avLst>
              <a:gd name="adj" fmla="val 2991"/>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pic>
        <p:nvPicPr>
          <p:cNvPr id="5" name="Image 0" descr="_img/real_mv_2.png">    </p:cNvPr>
          <p:cNvPicPr>
            <a:picLocks noChangeAspect="1"/>
          </p:cNvPicPr>
          <p:nvPr/>
        </p:nvPicPr>
        <p:blipFill>
          <a:blip r:embed="rId1"/>
          <a:srcRect l="0" r="0" t="0" b="0"/>
          <a:stretch/>
        </p:blipFill>
        <p:spPr>
          <a:xfrm>
            <a:off x="841248" y="2286000"/>
            <a:ext cx="2011680" cy="3291840"/>
          </a:xfrm>
          <a:prstGeom prst="rect">
            <a:avLst/>
          </a:prstGeom>
        </p:spPr>
      </p:pic>
      <p:sp>
        <p:nvSpPr>
          <p:cNvPr id="6" name="Shape 3"/>
          <p:cNvSpPr/>
          <p:nvPr/>
        </p:nvSpPr>
        <p:spPr>
          <a:xfrm>
            <a:off x="3200400" y="2286000"/>
            <a:ext cx="8138160" cy="731520"/>
          </a:xfrm>
          <a:prstGeom prst="roundRect">
            <a:avLst>
              <a:gd name="adj" fmla="val 12500"/>
            </a:avLst>
          </a:prstGeom>
          <a:solidFill>
            <a:srgbClr val="F3F5F7"/>
          </a:solidFill>
          <a:ln/>
        </p:spPr>
      </p:sp>
      <p:sp>
        <p:nvSpPr>
          <p:cNvPr id="7" name="Text 4"/>
          <p:cNvSpPr/>
          <p:nvPr/>
        </p:nvSpPr>
        <p:spPr>
          <a:xfrm>
            <a:off x="3474720" y="2286000"/>
            <a:ext cx="7635240" cy="731520"/>
          </a:xfrm>
          <a:prstGeom prst="rect">
            <a:avLst/>
          </a:prstGeom>
          <a:noFill/>
          <a:ln/>
        </p:spPr>
        <p:txBody>
          <a:bodyPr wrap="square" lIns="0" tIns="0" rIns="0" bIns="0" rtlCol="0" anchor="ctr"/>
          <a:lstStyle/>
          <a:p>
            <a:pPr algn="l" indent="0" marL="0">
              <a:buNone/>
            </a:pPr>
            <a:r>
              <a:rPr lang="en-US" sz="1300" b="1" dirty="0">
                <a:solidFill>
                  <a:srgbClr val="1D2733"/>
                </a:solidFill>
                <a:latin typeface="Segoe UI" pitchFamily="34" charset="0"/>
                <a:ea typeface="Segoe UI" pitchFamily="34" charset="-122"/>
                <a:cs typeface="Segoe UI" pitchFamily="34" charset="-120"/>
              </a:rPr>
              <a:t>Chạy trên CPU, ngay trên điện thoại, miễn phí.</a:t>
            </a:r>
            <a:endParaRPr lang="en-US" sz="1300" dirty="0"/>
          </a:p>
        </p:txBody>
      </p:sp>
      <p:sp>
        <p:nvSpPr>
          <p:cNvPr id="8" name="Shape 5"/>
          <p:cNvSpPr/>
          <p:nvPr/>
        </p:nvSpPr>
        <p:spPr>
          <a:xfrm>
            <a:off x="3200400" y="3246120"/>
            <a:ext cx="1947672" cy="960120"/>
          </a:xfrm>
          <a:prstGeom prst="roundRect">
            <a:avLst>
              <a:gd name="adj" fmla="val 8571"/>
            </a:avLst>
          </a:prstGeom>
          <a:solidFill>
            <a:srgbClr val="F3F5F7"/>
          </a:solidFill>
          <a:ln/>
        </p:spPr>
      </p:sp>
      <p:sp>
        <p:nvSpPr>
          <p:cNvPr id="9" name="Text 6"/>
          <p:cNvSpPr/>
          <p:nvPr/>
        </p:nvSpPr>
        <p:spPr>
          <a:xfrm>
            <a:off x="3200400" y="3337560"/>
            <a:ext cx="1947672" cy="457200"/>
          </a:xfrm>
          <a:prstGeom prst="rect">
            <a:avLst/>
          </a:prstGeom>
          <a:noFill/>
          <a:ln/>
        </p:spPr>
        <p:txBody>
          <a:bodyPr wrap="square" lIns="0" tIns="0" rIns="0" bIns="0" rtlCol="0" anchor="t"/>
          <a:lstStyle/>
          <a:p>
            <a:pPr algn="ctr" indent="0" marL="0">
              <a:buNone/>
            </a:pPr>
            <a:r>
              <a:rPr lang="en-US" sz="2500" b="1" dirty="0">
                <a:solidFill>
                  <a:srgbClr val="52657A"/>
                </a:solidFill>
                <a:latin typeface="Cambria" pitchFamily="34" charset="0"/>
                <a:ea typeface="Cambria" pitchFamily="34" charset="-122"/>
                <a:cs typeface="Cambria" pitchFamily="34" charset="-120"/>
              </a:rPr>
              <a:t>22</a:t>
            </a:r>
            <a:endParaRPr lang="en-US" sz="2500" dirty="0"/>
          </a:p>
        </p:txBody>
      </p:sp>
      <p:sp>
        <p:nvSpPr>
          <p:cNvPr id="10" name="Text 7"/>
          <p:cNvSpPr/>
          <p:nvPr/>
        </p:nvSpPr>
        <p:spPr>
          <a:xfrm>
            <a:off x="3291840" y="3822192"/>
            <a:ext cx="1764792" cy="320040"/>
          </a:xfrm>
          <a:prstGeom prst="rect">
            <a:avLst/>
          </a:prstGeom>
          <a:noFill/>
          <a:ln/>
        </p:spPr>
        <p:txBody>
          <a:bodyPr wrap="square" lIns="0" tIns="0" rIns="0" bIns="0" rtlCol="0" anchor="t"/>
          <a:lstStyle/>
          <a:p>
            <a:pPr algn="ctr" indent="0" marL="0">
              <a:lnSpc>
                <a:spcPct val="115000"/>
              </a:lnSpc>
              <a:buNone/>
            </a:pPr>
            <a:r>
              <a:rPr lang="en-US" sz="1100" dirty="0">
                <a:solidFill>
                  <a:srgbClr val="454C55"/>
                </a:solidFill>
                <a:latin typeface="Segoe UI" pitchFamily="34" charset="0"/>
                <a:ea typeface="Segoe UI" pitchFamily="34" charset="-122"/>
                <a:cs typeface="Segoe UI" pitchFamily="34" charset="-120"/>
              </a:rPr>
              <a:t>dòng chữ mỗi màn</a:t>
            </a:r>
            <a:endParaRPr lang="en-US" sz="1100" dirty="0"/>
          </a:p>
        </p:txBody>
      </p:sp>
      <p:sp>
        <p:nvSpPr>
          <p:cNvPr id="11" name="Shape 8"/>
          <p:cNvSpPr/>
          <p:nvPr/>
        </p:nvSpPr>
        <p:spPr>
          <a:xfrm>
            <a:off x="5266944" y="3246120"/>
            <a:ext cx="1947672" cy="960120"/>
          </a:xfrm>
          <a:prstGeom prst="roundRect">
            <a:avLst>
              <a:gd name="adj" fmla="val 8571"/>
            </a:avLst>
          </a:prstGeom>
          <a:solidFill>
            <a:srgbClr val="F3F5F7"/>
          </a:solidFill>
          <a:ln/>
        </p:spPr>
      </p:sp>
      <p:sp>
        <p:nvSpPr>
          <p:cNvPr id="12" name="Text 9"/>
          <p:cNvSpPr/>
          <p:nvPr/>
        </p:nvSpPr>
        <p:spPr>
          <a:xfrm>
            <a:off x="5266944" y="3337560"/>
            <a:ext cx="1947672" cy="457200"/>
          </a:xfrm>
          <a:prstGeom prst="rect">
            <a:avLst/>
          </a:prstGeom>
          <a:noFill/>
          <a:ln/>
        </p:spPr>
        <p:txBody>
          <a:bodyPr wrap="square" lIns="0" tIns="0" rIns="0" bIns="0" rtlCol="0" anchor="t"/>
          <a:lstStyle/>
          <a:p>
            <a:pPr algn="ctr" indent="0" marL="0">
              <a:buNone/>
            </a:pPr>
            <a:r>
              <a:rPr lang="en-US" sz="2500" b="1" dirty="0">
                <a:solidFill>
                  <a:srgbClr val="52657A"/>
                </a:solidFill>
                <a:latin typeface="Cambria" pitchFamily="34" charset="0"/>
                <a:ea typeface="Cambria" pitchFamily="34" charset="-122"/>
                <a:cs typeface="Cambria" pitchFamily="34" charset="-120"/>
              </a:rPr>
              <a:t>40%</a:t>
            </a:r>
            <a:endParaRPr lang="en-US" sz="2500" dirty="0"/>
          </a:p>
        </p:txBody>
      </p:sp>
      <p:sp>
        <p:nvSpPr>
          <p:cNvPr id="13" name="Text 10"/>
          <p:cNvSpPr/>
          <p:nvPr/>
        </p:nvSpPr>
        <p:spPr>
          <a:xfrm>
            <a:off x="5358384" y="3822192"/>
            <a:ext cx="1764792" cy="320040"/>
          </a:xfrm>
          <a:prstGeom prst="rect">
            <a:avLst/>
          </a:prstGeom>
          <a:noFill/>
          <a:ln/>
        </p:spPr>
        <p:txBody>
          <a:bodyPr wrap="square" lIns="0" tIns="0" rIns="0" bIns="0" rtlCol="0" anchor="t"/>
          <a:lstStyle/>
          <a:p>
            <a:pPr algn="ctr" indent="0" marL="0">
              <a:lnSpc>
                <a:spcPct val="115000"/>
              </a:lnSpc>
              <a:buNone/>
            </a:pPr>
            <a:r>
              <a:rPr lang="en-US" sz="1100" dirty="0">
                <a:solidFill>
                  <a:srgbClr val="454C55"/>
                </a:solidFill>
                <a:latin typeface="Segoe UI" pitchFamily="34" charset="0"/>
                <a:ea typeface="Segoe UI" pitchFamily="34" charset="-122"/>
                <a:cs typeface="Segoe UI" pitchFamily="34" charset="-120"/>
              </a:rPr>
              <a:t>có chữ ngay tại nút</a:t>
            </a:r>
            <a:endParaRPr lang="en-US" sz="1100" dirty="0"/>
          </a:p>
        </p:txBody>
      </p:sp>
      <p:sp>
        <p:nvSpPr>
          <p:cNvPr id="14" name="Shape 11"/>
          <p:cNvSpPr/>
          <p:nvPr/>
        </p:nvSpPr>
        <p:spPr>
          <a:xfrm>
            <a:off x="7333488" y="3246120"/>
            <a:ext cx="1947672" cy="960120"/>
          </a:xfrm>
          <a:prstGeom prst="roundRect">
            <a:avLst>
              <a:gd name="adj" fmla="val 8571"/>
            </a:avLst>
          </a:prstGeom>
          <a:solidFill>
            <a:srgbClr val="F3F5F7"/>
          </a:solidFill>
          <a:ln/>
        </p:spPr>
      </p:sp>
      <p:sp>
        <p:nvSpPr>
          <p:cNvPr id="15" name="Text 12"/>
          <p:cNvSpPr/>
          <p:nvPr/>
        </p:nvSpPr>
        <p:spPr>
          <a:xfrm>
            <a:off x="7333488" y="3337560"/>
            <a:ext cx="1947672" cy="457200"/>
          </a:xfrm>
          <a:prstGeom prst="rect">
            <a:avLst/>
          </a:prstGeom>
          <a:noFill/>
          <a:ln/>
        </p:spPr>
        <p:txBody>
          <a:bodyPr wrap="square" lIns="0" tIns="0" rIns="0" bIns="0" rtlCol="0" anchor="t"/>
          <a:lstStyle/>
          <a:p>
            <a:pPr algn="ctr" indent="0" marL="0">
              <a:buNone/>
            </a:pPr>
            <a:r>
              <a:rPr lang="en-US" sz="2500" b="1" dirty="0">
                <a:solidFill>
                  <a:srgbClr val="1E6B43"/>
                </a:solidFill>
                <a:latin typeface="Cambria" pitchFamily="34" charset="0"/>
                <a:ea typeface="Cambria" pitchFamily="34" charset="-122"/>
                <a:cs typeface="Cambria" pitchFamily="34" charset="-120"/>
              </a:rPr>
              <a:t>57%</a:t>
            </a:r>
            <a:endParaRPr lang="en-US" sz="2500" dirty="0"/>
          </a:p>
        </p:txBody>
      </p:sp>
      <p:sp>
        <p:nvSpPr>
          <p:cNvPr id="16" name="Text 13"/>
          <p:cNvSpPr/>
          <p:nvPr/>
        </p:nvSpPr>
        <p:spPr>
          <a:xfrm>
            <a:off x="7424928" y="3822192"/>
            <a:ext cx="1764792" cy="320040"/>
          </a:xfrm>
          <a:prstGeom prst="rect">
            <a:avLst/>
          </a:prstGeom>
          <a:noFill/>
          <a:ln/>
        </p:spPr>
        <p:txBody>
          <a:bodyPr wrap="square" lIns="0" tIns="0" rIns="0" bIns="0" rtlCol="0" anchor="t"/>
          <a:lstStyle/>
          <a:p>
            <a:pPr algn="ctr" indent="0" marL="0">
              <a:lnSpc>
                <a:spcPct val="115000"/>
              </a:lnSpc>
              <a:buNone/>
            </a:pPr>
            <a:r>
              <a:rPr lang="en-US" sz="1100" dirty="0">
                <a:solidFill>
                  <a:srgbClr val="454C55"/>
                </a:solidFill>
                <a:latin typeface="Segoe UI" pitchFamily="34" charset="0"/>
                <a:ea typeface="Segoe UI" pitchFamily="34" charset="-122"/>
                <a:cs typeface="Segoe UI" pitchFamily="34" charset="-120"/>
              </a:rPr>
              <a:t>có chữ gần nút</a:t>
            </a:r>
            <a:endParaRPr lang="en-US" sz="1100" dirty="0"/>
          </a:p>
        </p:txBody>
      </p:sp>
      <p:sp>
        <p:nvSpPr>
          <p:cNvPr id="17" name="Shape 14"/>
          <p:cNvSpPr/>
          <p:nvPr/>
        </p:nvSpPr>
        <p:spPr>
          <a:xfrm>
            <a:off x="9400032" y="3246120"/>
            <a:ext cx="1947672" cy="960120"/>
          </a:xfrm>
          <a:prstGeom prst="roundRect">
            <a:avLst>
              <a:gd name="adj" fmla="val 8571"/>
            </a:avLst>
          </a:prstGeom>
          <a:solidFill>
            <a:srgbClr val="F7EBE3"/>
          </a:solidFill>
          <a:ln/>
        </p:spPr>
      </p:sp>
      <p:sp>
        <p:nvSpPr>
          <p:cNvPr id="18" name="Text 15"/>
          <p:cNvSpPr/>
          <p:nvPr/>
        </p:nvSpPr>
        <p:spPr>
          <a:xfrm>
            <a:off x="9400032" y="3337560"/>
            <a:ext cx="1947672" cy="457200"/>
          </a:xfrm>
          <a:prstGeom prst="rect">
            <a:avLst/>
          </a:prstGeom>
          <a:noFill/>
          <a:ln/>
        </p:spPr>
        <p:txBody>
          <a:bodyPr wrap="square" lIns="0" tIns="0" rIns="0" bIns="0" rtlCol="0" anchor="t"/>
          <a:lstStyle/>
          <a:p>
            <a:pPr algn="ctr" indent="0" marL="0">
              <a:buNone/>
            </a:pPr>
            <a:r>
              <a:rPr lang="en-US" sz="2500" b="1" dirty="0">
                <a:solidFill>
                  <a:srgbClr val="B23B3B"/>
                </a:solidFill>
                <a:latin typeface="Cambria" pitchFamily="34" charset="0"/>
                <a:ea typeface="Cambria" pitchFamily="34" charset="-122"/>
                <a:cs typeface="Cambria" pitchFamily="34" charset="-120"/>
              </a:rPr>
              <a:t>43%</a:t>
            </a:r>
            <a:endParaRPr lang="en-US" sz="2500" dirty="0"/>
          </a:p>
        </p:txBody>
      </p:sp>
      <p:sp>
        <p:nvSpPr>
          <p:cNvPr id="19" name="Text 16"/>
          <p:cNvSpPr/>
          <p:nvPr/>
        </p:nvSpPr>
        <p:spPr>
          <a:xfrm>
            <a:off x="9491472" y="3822192"/>
            <a:ext cx="1764792" cy="320040"/>
          </a:xfrm>
          <a:prstGeom prst="rect">
            <a:avLst/>
          </a:prstGeom>
          <a:noFill/>
          <a:ln/>
        </p:spPr>
        <p:txBody>
          <a:bodyPr wrap="square" lIns="0" tIns="0" rIns="0" bIns="0" rtlCol="0" anchor="t"/>
          <a:lstStyle/>
          <a:p>
            <a:pPr algn="ctr" indent="0" marL="0">
              <a:lnSpc>
                <a:spcPct val="115000"/>
              </a:lnSpc>
              <a:buNone/>
            </a:pPr>
            <a:r>
              <a:rPr lang="en-US" sz="1100" dirty="0">
                <a:solidFill>
                  <a:srgbClr val="454C55"/>
                </a:solidFill>
                <a:latin typeface="Segoe UI" pitchFamily="34" charset="0"/>
                <a:ea typeface="Segoe UI" pitchFamily="34" charset="-122"/>
                <a:cs typeface="Segoe UI" pitchFamily="34" charset="-120"/>
              </a:rPr>
              <a:t>không có chữ nào gần</a:t>
            </a:r>
            <a:endParaRPr lang="en-US" sz="1100" dirty="0"/>
          </a:p>
        </p:txBody>
      </p:sp>
      <p:sp>
        <p:nvSpPr>
          <p:cNvPr id="20" name="Shape 17"/>
          <p:cNvSpPr/>
          <p:nvPr/>
        </p:nvSpPr>
        <p:spPr>
          <a:xfrm>
            <a:off x="3200400" y="4434840"/>
            <a:ext cx="8138160" cy="731520"/>
          </a:xfrm>
          <a:prstGeom prst="roundRect">
            <a:avLst>
              <a:gd name="adj" fmla="val 11250"/>
            </a:avLst>
          </a:prstGeom>
          <a:solidFill>
            <a:srgbClr val="FFFFFF"/>
          </a:solidFill>
          <a:ln w="12700">
            <a:solidFill>
              <a:srgbClr val="DBE0E6"/>
            </a:solidFill>
            <a:prstDash val="solid"/>
          </a:ln>
        </p:spPr>
      </p:sp>
      <p:sp>
        <p:nvSpPr>
          <p:cNvPr id="21" name="Text 18"/>
          <p:cNvSpPr/>
          <p:nvPr/>
        </p:nvSpPr>
        <p:spPr>
          <a:xfrm>
            <a:off x="3474720" y="4434840"/>
            <a:ext cx="7635240" cy="731520"/>
          </a:xfrm>
          <a:prstGeom prst="rect">
            <a:avLst/>
          </a:prstGeom>
          <a:noFill/>
          <a:ln/>
        </p:spPr>
        <p:txBody>
          <a:bodyPr wrap="square" lIns="0" tIns="0" rIns="0" bIns="0" rtlCol="0" anchor="ctr"/>
          <a:lstStyle/>
          <a:p>
            <a:pPr algn="l" indent="0" marL="0">
              <a:buNone/>
            </a:pPr>
            <a:r>
              <a:rPr lang="en-US" sz="1250" b="1" dirty="0">
                <a:solidFill>
                  <a:srgbClr val="1D2733"/>
                </a:solidFill>
                <a:latin typeface="Segoe UI" pitchFamily="34" charset="0"/>
                <a:ea typeface="Segoe UI" pitchFamily="34" charset="-122"/>
                <a:cs typeface="Segoe UI" pitchFamily="34" charset="-120"/>
              </a:rPr>
              <a:t>Chữ đọc ra không sạch:  </a:t>
            </a:r>
            <a:pPr algn="l" indent="0" marL="0">
              <a:buNone/>
            </a:pPr>
            <a:r>
              <a:rPr lang="en-US" sz="1250" dirty="0">
                <a:solidFill>
                  <a:srgbClr val="454C55"/>
                </a:solidFill>
                <a:latin typeface="Segoe UI" pitchFamily="34" charset="0"/>
                <a:ea typeface="Segoe UI" pitchFamily="34" charset="-122"/>
                <a:cs typeface="Segoe UI" pitchFamily="34" charset="-120"/>
              </a:rPr>
              <a:t>“Corn syrup .nd Jam”   ·   “11:35M”   ·   kính lúp thành “Q”</a:t>
            </a:r>
            <a:endParaRPr lang="en-US" sz="1250" dirty="0"/>
          </a:p>
        </p:txBody>
      </p:sp>
      <p:sp>
        <p:nvSpPr>
          <p:cNvPr id="22" name="Text 19"/>
          <p:cNvSpPr/>
          <p:nvPr/>
        </p:nvSpPr>
        <p:spPr>
          <a:xfrm>
            <a:off x="841248" y="5852160"/>
            <a:ext cx="10506456" cy="457200"/>
          </a:xfrm>
          <a:prstGeom prst="rect">
            <a:avLst/>
          </a:prstGeom>
          <a:noFill/>
          <a:ln/>
        </p:spPr>
        <p:txBody>
          <a:bodyPr wrap="square" lIns="0" tIns="0" rIns="0" bIns="0" rtlCol="0" anchor="t"/>
          <a:lstStyle/>
          <a:p>
            <a:pPr algn="l" indent="0" marL="0">
              <a:lnSpc>
                <a:spcPct val="120000"/>
              </a:lnSpc>
              <a:buNone/>
            </a:pPr>
            <a:r>
              <a:rPr lang="en-US" sz="1500" b="1" dirty="0">
                <a:solidFill>
                  <a:srgbClr val="1D2733"/>
                </a:solidFill>
                <a:latin typeface="Cambria" pitchFamily="34" charset="0"/>
                <a:ea typeface="Cambria" pitchFamily="34" charset="-122"/>
                <a:cs typeface="Cambria" pitchFamily="34" charset="-120"/>
              </a:rPr>
              <a:t>Nhiễu thì để nguyên nhiễu — mô hình học với chính danh sách này.</a:t>
            </a:r>
            <a:endParaRPr lang="en-US" sz="1500" dirty="0"/>
          </a:p>
        </p:txBody>
      </p:sp>
      <p:sp>
        <p:nvSpPr>
          <p:cNvPr id="24" name="Text 20"/>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85216"/>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KHÂU 2 · VIẾT LẠI CÂU</a:t>
            </a:r>
            <a:endParaRPr lang="en-US" sz="1250" dirty="0"/>
          </a:p>
        </p:txBody>
      </p:sp>
      <p:sp>
        <p:nvSpPr>
          <p:cNvPr id="3" name="Text 1"/>
          <p:cNvSpPr/>
          <p:nvPr/>
        </p:nvSpPr>
        <p:spPr>
          <a:xfrm>
            <a:off x="841248" y="914400"/>
            <a:ext cx="10506456" cy="82296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Câu người viết quá cụt để làm đáp án mẫu</a:t>
            </a:r>
            <a:endParaRPr lang="en-US" sz="2700" dirty="0"/>
          </a:p>
        </p:txBody>
      </p:sp>
      <p:sp>
        <p:nvSpPr>
          <p:cNvPr id="4" name="Shape 2"/>
          <p:cNvSpPr/>
          <p:nvPr/>
        </p:nvSpPr>
        <p:spPr>
          <a:xfrm>
            <a:off x="777240" y="2221992"/>
            <a:ext cx="1865376" cy="3529584"/>
          </a:xfrm>
          <a:prstGeom prst="roundRect">
            <a:avLst>
              <a:gd name="adj" fmla="val 3431"/>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pic>
        <p:nvPicPr>
          <p:cNvPr id="5" name="Image 0" descr="_img/ac_o1.png">    </p:cNvPr>
          <p:cNvPicPr>
            <a:picLocks noChangeAspect="1"/>
          </p:cNvPicPr>
          <p:nvPr/>
        </p:nvPicPr>
        <p:blipFill>
          <a:blip r:embed="rId1"/>
          <a:srcRect l="0" r="0" t="0" b="0"/>
          <a:stretch/>
        </p:blipFill>
        <p:spPr>
          <a:xfrm>
            <a:off x="841248" y="2286000"/>
            <a:ext cx="1737360" cy="3108960"/>
          </a:xfrm>
          <a:prstGeom prst="rect">
            <a:avLst/>
          </a:prstGeom>
        </p:spPr>
      </p:pic>
      <p:sp>
        <p:nvSpPr>
          <p:cNvPr id="6" name="Text 3"/>
          <p:cNvSpPr/>
          <p:nvPr/>
        </p:nvSpPr>
        <p:spPr>
          <a:xfrm>
            <a:off x="777240" y="5422392"/>
            <a:ext cx="1865376" cy="310896"/>
          </a:xfrm>
          <a:prstGeom prst="rect">
            <a:avLst/>
          </a:prstGeom>
          <a:noFill/>
          <a:ln/>
        </p:spPr>
        <p:txBody>
          <a:bodyPr wrap="square" lIns="0" tIns="0" rIns="0" bIns="0" rtlCol="0" anchor="ctr"/>
          <a:lstStyle/>
          <a:p>
            <a:pPr algn="ctr" indent="0" marL="0">
              <a:lnSpc>
                <a:spcPct val="115000"/>
              </a:lnSpc>
              <a:buNone/>
            </a:pPr>
            <a:r>
              <a:rPr lang="en-US" sz="1100" b="1" dirty="0">
                <a:solidFill>
                  <a:srgbClr val="1D2733"/>
                </a:solidFill>
                <a:latin typeface="Segoe UI" pitchFamily="34" charset="0"/>
                <a:ea typeface="Segoe UI" pitchFamily="34" charset="-122"/>
                <a:cs typeface="Segoe UI" pitchFamily="34" charset="-120"/>
              </a:rPr>
              <a:t>khoanh dấu tại chỗ</a:t>
            </a:r>
            <a:endParaRPr lang="en-US" sz="1100" dirty="0"/>
          </a:p>
          <a:p>
            <a:pPr algn="ctr" indent="0" marL="0">
              <a:lnSpc>
                <a:spcPct val="115000"/>
              </a:lnSpc>
              <a:buNone/>
            </a:pPr>
            <a:r>
              <a:rPr lang="en-US" sz="1100" b="1" dirty="0">
                <a:solidFill>
                  <a:srgbClr val="1D2733"/>
                </a:solidFill>
                <a:latin typeface="Segoe UI" pitchFamily="34" charset="0"/>
                <a:ea typeface="Segoe UI" pitchFamily="34" charset="-122"/>
                <a:cs typeface="Segoe UI" pitchFamily="34" charset="-120"/>
              </a:rPr>
              <a:t>người thật chạm</a:t>
            </a:r>
            <a:endParaRPr lang="en-US" sz="1100" dirty="0"/>
          </a:p>
        </p:txBody>
      </p:sp>
      <p:sp>
        <p:nvSpPr>
          <p:cNvPr id="7" name="Shape 4"/>
          <p:cNvSpPr/>
          <p:nvPr/>
        </p:nvSpPr>
        <p:spPr>
          <a:xfrm>
            <a:off x="2926080" y="2286000"/>
            <a:ext cx="3931920" cy="1234440"/>
          </a:xfrm>
          <a:prstGeom prst="roundRect">
            <a:avLst>
              <a:gd name="adj" fmla="val 7407"/>
            </a:avLst>
          </a:prstGeom>
          <a:solidFill>
            <a:srgbClr val="F3F5F7"/>
          </a:solidFill>
          <a:ln/>
        </p:spPr>
      </p:sp>
      <p:sp>
        <p:nvSpPr>
          <p:cNvPr id="8" name="Text 5"/>
          <p:cNvSpPr/>
          <p:nvPr/>
        </p:nvSpPr>
        <p:spPr>
          <a:xfrm>
            <a:off x="3154680" y="2395728"/>
            <a:ext cx="3520440" cy="274320"/>
          </a:xfrm>
          <a:prstGeom prst="rect">
            <a:avLst/>
          </a:prstGeom>
          <a:noFill/>
          <a:ln/>
        </p:spPr>
        <p:txBody>
          <a:bodyPr wrap="square" lIns="0" tIns="0" rIns="0" bIns="0" rtlCol="0" anchor="t"/>
          <a:lstStyle/>
          <a:p>
            <a:pPr algn="l" indent="0" marL="0">
              <a:buNone/>
            </a:pPr>
            <a:r>
              <a:rPr lang="en-US" sz="1150" b="1" dirty="0">
                <a:solidFill>
                  <a:srgbClr val="8B929B"/>
                </a:solidFill>
                <a:latin typeface="Segoe UI" pitchFamily="34" charset="0"/>
                <a:ea typeface="Segoe UI" pitchFamily="34" charset="-122"/>
                <a:cs typeface="Segoe UI" pitchFamily="34" charset="-120"/>
              </a:rPr>
              <a:t>Câu gốc  ·  trung vị 6 từ</a:t>
            </a:r>
            <a:endParaRPr lang="en-US" sz="1150" dirty="0"/>
          </a:p>
        </p:txBody>
      </p:sp>
      <p:sp>
        <p:nvSpPr>
          <p:cNvPr id="9" name="Text 6"/>
          <p:cNvSpPr/>
          <p:nvPr/>
        </p:nvSpPr>
        <p:spPr>
          <a:xfrm>
            <a:off x="3154680" y="2743200"/>
            <a:ext cx="3520440" cy="548640"/>
          </a:xfrm>
          <a:prstGeom prst="rect">
            <a:avLst/>
          </a:prstGeom>
          <a:noFill/>
          <a:ln/>
        </p:spPr>
        <p:txBody>
          <a:bodyPr wrap="square" lIns="0" tIns="0" rIns="0" bIns="0" rtlCol="0" anchor="t"/>
          <a:lstStyle/>
          <a:p>
            <a:pPr algn="l" indent="0" marL="0">
              <a:lnSpc>
                <a:spcPct val="125000"/>
              </a:lnSpc>
              <a:buNone/>
            </a:pPr>
            <a:r>
              <a:rPr lang="en-US" sz="1400" i="1" dirty="0">
                <a:solidFill>
                  <a:srgbClr val="454C55"/>
                </a:solidFill>
                <a:latin typeface="Cambria" pitchFamily="34" charset="0"/>
                <a:ea typeface="Cambria" pitchFamily="34" charset="-122"/>
                <a:cs typeface="Cambria" pitchFamily="34" charset="-120"/>
              </a:rPr>
              <a:t>“Click on the search bar”</a:t>
            </a:r>
            <a:endParaRPr lang="en-US" sz="1400" dirty="0"/>
          </a:p>
        </p:txBody>
      </p:sp>
      <p:sp>
        <p:nvSpPr>
          <p:cNvPr id="10" name="Shape 7"/>
          <p:cNvSpPr/>
          <p:nvPr/>
        </p:nvSpPr>
        <p:spPr>
          <a:xfrm>
            <a:off x="6949440" y="2907792"/>
            <a:ext cx="320040" cy="0"/>
          </a:xfrm>
          <a:prstGeom prst="line">
            <a:avLst/>
          </a:prstGeom>
          <a:noFill/>
          <a:ln w="31750">
            <a:solidFill>
              <a:srgbClr val="BE5A2E"/>
            </a:solidFill>
            <a:prstDash val="solid"/>
            <a:tailEnd type="triangle"/>
          </a:ln>
        </p:spPr>
      </p:sp>
      <p:sp>
        <p:nvSpPr>
          <p:cNvPr id="11" name="Shape 8"/>
          <p:cNvSpPr/>
          <p:nvPr/>
        </p:nvSpPr>
        <p:spPr>
          <a:xfrm>
            <a:off x="7406640" y="2286000"/>
            <a:ext cx="3931920" cy="1234440"/>
          </a:xfrm>
          <a:prstGeom prst="roundRect">
            <a:avLst>
              <a:gd name="adj" fmla="val 7407"/>
            </a:avLst>
          </a:prstGeom>
          <a:solidFill>
            <a:srgbClr val="F7EBE3"/>
          </a:solidFill>
          <a:ln/>
        </p:spPr>
      </p:sp>
      <p:sp>
        <p:nvSpPr>
          <p:cNvPr id="12" name="Text 9"/>
          <p:cNvSpPr/>
          <p:nvPr/>
        </p:nvSpPr>
        <p:spPr>
          <a:xfrm>
            <a:off x="7635240" y="2395728"/>
            <a:ext cx="3520440" cy="274320"/>
          </a:xfrm>
          <a:prstGeom prst="rect">
            <a:avLst/>
          </a:prstGeom>
          <a:noFill/>
          <a:ln/>
        </p:spPr>
        <p:txBody>
          <a:bodyPr wrap="square" lIns="0" tIns="0" rIns="0" bIns="0" rtlCol="0" anchor="t"/>
          <a:lstStyle/>
          <a:p>
            <a:pPr algn="l" indent="0" marL="0">
              <a:buNone/>
            </a:pPr>
            <a:r>
              <a:rPr lang="en-US" sz="1150" b="1" dirty="0">
                <a:solidFill>
                  <a:srgbClr val="BE5A2E"/>
                </a:solidFill>
                <a:latin typeface="Segoe UI" pitchFamily="34" charset="0"/>
                <a:ea typeface="Segoe UI" pitchFamily="34" charset="-122"/>
                <a:cs typeface="Segoe UI" pitchFamily="34" charset="-120"/>
              </a:rPr>
              <a:t>Sau khi viết lại</a:t>
            </a:r>
            <a:endParaRPr lang="en-US" sz="1150" dirty="0"/>
          </a:p>
        </p:txBody>
      </p:sp>
      <p:sp>
        <p:nvSpPr>
          <p:cNvPr id="13" name="Text 10"/>
          <p:cNvSpPr/>
          <p:nvPr/>
        </p:nvSpPr>
        <p:spPr>
          <a:xfrm>
            <a:off x="7635240" y="2743200"/>
            <a:ext cx="3520440" cy="640080"/>
          </a:xfrm>
          <a:prstGeom prst="rect">
            <a:avLst/>
          </a:prstGeom>
          <a:noFill/>
          <a:ln/>
        </p:spPr>
        <p:txBody>
          <a:bodyPr wrap="square" lIns="0" tIns="0" rIns="0" bIns="0" rtlCol="0" anchor="t"/>
          <a:lstStyle/>
          <a:p>
            <a:pPr algn="l" indent="0" marL="0">
              <a:lnSpc>
                <a:spcPct val="130000"/>
              </a:lnSpc>
              <a:buNone/>
            </a:pPr>
            <a:r>
              <a:rPr lang="en-US" sz="1250" i="1" dirty="0">
                <a:solidFill>
                  <a:srgbClr val="1D2733"/>
                </a:solidFill>
                <a:latin typeface="Cambria" pitchFamily="34" charset="0"/>
                <a:ea typeface="Cambria" pitchFamily="34" charset="-122"/>
                <a:cs typeface="Cambria" pitchFamily="34" charset="-120"/>
              </a:rPr>
              <a:t>“Tap the ‘Search Publications,</a:t>
            </a:r>
            <a:endParaRPr lang="en-US" sz="1250" dirty="0"/>
          </a:p>
          <a:p>
            <a:pPr algn="l" indent="0" marL="0">
              <a:lnSpc>
                <a:spcPct val="130000"/>
              </a:lnSpc>
              <a:buNone/>
            </a:pPr>
            <a:r>
              <a:rPr lang="en-US" sz="1250" i="1" dirty="0">
                <a:solidFill>
                  <a:srgbClr val="1D2733"/>
                </a:solidFill>
                <a:latin typeface="Cambria" pitchFamily="34" charset="0"/>
                <a:ea typeface="Cambria" pitchFamily="34" charset="-122"/>
                <a:cs typeface="Cambria" pitchFamily="34" charset="-120"/>
              </a:rPr>
              <a:t>Stories &amp; Interest’ bar at the top”</a:t>
            </a:r>
            <a:endParaRPr lang="en-US" sz="1250" dirty="0"/>
          </a:p>
        </p:txBody>
      </p:sp>
      <p:sp>
        <p:nvSpPr>
          <p:cNvPr id="14" name="Shape 11"/>
          <p:cNvSpPr/>
          <p:nvPr/>
        </p:nvSpPr>
        <p:spPr>
          <a:xfrm>
            <a:off x="2926080" y="3703320"/>
            <a:ext cx="8412480" cy="731520"/>
          </a:xfrm>
          <a:prstGeom prst="roundRect">
            <a:avLst>
              <a:gd name="adj" fmla="val 11250"/>
            </a:avLst>
          </a:prstGeom>
          <a:solidFill>
            <a:srgbClr val="FFFFFF"/>
          </a:solidFill>
          <a:ln w="12700">
            <a:solidFill>
              <a:srgbClr val="DBE0E6"/>
            </a:solidFill>
            <a:prstDash val="solid"/>
          </a:ln>
        </p:spPr>
      </p:sp>
      <p:sp>
        <p:nvSpPr>
          <p:cNvPr id="15" name="Text 12"/>
          <p:cNvSpPr/>
          <p:nvPr/>
        </p:nvSpPr>
        <p:spPr>
          <a:xfrm>
            <a:off x="3154680" y="3703320"/>
            <a:ext cx="7955280" cy="731520"/>
          </a:xfrm>
          <a:prstGeom prst="rect">
            <a:avLst/>
          </a:prstGeom>
          <a:noFill/>
          <a:ln/>
        </p:spPr>
        <p:txBody>
          <a:bodyPr wrap="square" lIns="0" tIns="0" rIns="0" bIns="0" rtlCol="0" anchor="ctr"/>
          <a:lstStyle/>
          <a:p>
            <a:pPr algn="l" indent="0" marL="0">
              <a:buNone/>
            </a:pPr>
            <a:r>
              <a:rPr lang="en-US" sz="1250" b="1" dirty="0">
                <a:solidFill>
                  <a:srgbClr val="1D2733"/>
                </a:solidFill>
                <a:latin typeface="Segoe UI" pitchFamily="34" charset="0"/>
                <a:ea typeface="Segoe UI" pitchFamily="34" charset="-122"/>
                <a:cs typeface="Segoe UI" pitchFamily="34" charset="-120"/>
              </a:rPr>
              <a:t>Ai viết lại:  </a:t>
            </a:r>
            <a:pPr algn="l" indent="0" marL="0">
              <a:buNone/>
            </a:pPr>
            <a:r>
              <a:rPr lang="en-US" sz="1250" dirty="0">
                <a:solidFill>
                  <a:srgbClr val="454C55"/>
                </a:solidFill>
                <a:latin typeface="Segoe UI" pitchFamily="34" charset="0"/>
                <a:ea typeface="Segoe UI" pitchFamily="34" charset="-122"/>
                <a:cs typeface="Segoe UI" pitchFamily="34" charset="-120"/>
              </a:rPr>
              <a:t>một mô hình lớn, xem ảnh đã khoanh dấu. Chạy một lần lúc dựng dữ liệu.</a:t>
            </a:r>
            <a:endParaRPr lang="en-US" sz="1250" dirty="0"/>
          </a:p>
        </p:txBody>
      </p:sp>
      <p:sp>
        <p:nvSpPr>
          <p:cNvPr id="16" name="Text 13"/>
          <p:cNvSpPr/>
          <p:nvPr/>
        </p:nvSpPr>
        <p:spPr>
          <a:xfrm>
            <a:off x="2926080" y="4572000"/>
            <a:ext cx="4572000" cy="292608"/>
          </a:xfrm>
          <a:prstGeom prst="rect">
            <a:avLst/>
          </a:prstGeom>
          <a:noFill/>
          <a:ln/>
        </p:spPr>
        <p:txBody>
          <a:bodyPr wrap="square" lIns="0" tIns="0" rIns="0" bIns="0" rtlCol="0" anchor="t"/>
          <a:lstStyle/>
          <a:p>
            <a:pPr algn="l" indent="0" marL="0">
              <a:buNone/>
            </a:pPr>
            <a:r>
              <a:rPr lang="en-US" sz="1350" b="1" dirty="0">
                <a:solidFill>
                  <a:srgbClr val="1D2733"/>
                </a:solidFill>
                <a:latin typeface="Cambria" pitchFamily="34" charset="0"/>
                <a:ea typeface="Cambria" pitchFamily="34" charset="-122"/>
                <a:cs typeface="Cambria" pitchFamily="34" charset="-120"/>
              </a:rPr>
              <a:t>Ba điều bắt buộc</a:t>
            </a:r>
            <a:endParaRPr lang="en-US" sz="1350" dirty="0"/>
          </a:p>
        </p:txBody>
      </p:sp>
      <p:sp>
        <p:nvSpPr>
          <p:cNvPr id="17" name="Shape 14"/>
          <p:cNvSpPr/>
          <p:nvPr/>
        </p:nvSpPr>
        <p:spPr>
          <a:xfrm>
            <a:off x="2926080" y="4919472"/>
            <a:ext cx="8412480" cy="384048"/>
          </a:xfrm>
          <a:prstGeom prst="roundRect">
            <a:avLst>
              <a:gd name="adj" fmla="val 14286"/>
            </a:avLst>
          </a:prstGeom>
          <a:solidFill>
            <a:srgbClr val="F3F5F7"/>
          </a:solidFill>
          <a:ln/>
        </p:spPr>
      </p:sp>
      <p:sp>
        <p:nvSpPr>
          <p:cNvPr id="18" name="Text 15"/>
          <p:cNvSpPr/>
          <p:nvPr/>
        </p:nvSpPr>
        <p:spPr>
          <a:xfrm>
            <a:off x="3154680" y="4919472"/>
            <a:ext cx="7955280" cy="384048"/>
          </a:xfrm>
          <a:prstGeom prst="rect">
            <a:avLst/>
          </a:prstGeom>
          <a:noFill/>
          <a:ln/>
        </p:spPr>
        <p:txBody>
          <a:bodyPr wrap="square" lIns="0" tIns="0" rIns="0" bIns="0" rtlCol="0" anchor="ctr"/>
          <a:lstStyle/>
          <a:p>
            <a:pPr algn="l" indent="0" marL="0">
              <a:buNone/>
            </a:pPr>
            <a:r>
              <a:rPr lang="en-US" sz="1200" dirty="0">
                <a:solidFill>
                  <a:srgbClr val="454C55"/>
                </a:solidFill>
                <a:latin typeface="Segoe UI" pitchFamily="34" charset="0"/>
                <a:ea typeface="Segoe UI" pitchFamily="34" charset="-122"/>
                <a:cs typeface="Segoe UI" pitchFamily="34" charset="-120"/>
              </a:rPr>
              <a:t>Mô hình viết lại phải khác họ với mốc đem so</a:t>
            </a:r>
            <a:endParaRPr lang="en-US" sz="1200" dirty="0"/>
          </a:p>
        </p:txBody>
      </p:sp>
      <p:sp>
        <p:nvSpPr>
          <p:cNvPr id="19" name="Shape 16"/>
          <p:cNvSpPr/>
          <p:nvPr/>
        </p:nvSpPr>
        <p:spPr>
          <a:xfrm>
            <a:off x="2926080" y="5358384"/>
            <a:ext cx="8412480" cy="384048"/>
          </a:xfrm>
          <a:prstGeom prst="roundRect">
            <a:avLst>
              <a:gd name="adj" fmla="val 14286"/>
            </a:avLst>
          </a:prstGeom>
          <a:solidFill>
            <a:srgbClr val="F7EBE3"/>
          </a:solidFill>
          <a:ln/>
        </p:spPr>
      </p:sp>
      <p:sp>
        <p:nvSpPr>
          <p:cNvPr id="20" name="Text 17"/>
          <p:cNvSpPr/>
          <p:nvPr/>
        </p:nvSpPr>
        <p:spPr>
          <a:xfrm>
            <a:off x="3154680" y="5358384"/>
            <a:ext cx="7955280" cy="384048"/>
          </a:xfrm>
          <a:prstGeom prst="rect">
            <a:avLst/>
          </a:prstGeom>
          <a:noFill/>
          <a:ln/>
        </p:spPr>
        <p:txBody>
          <a:bodyPr wrap="square" lIns="0" tIns="0" rIns="0" bIns="0" rtlCol="0" anchor="ctr"/>
          <a:lstStyle/>
          <a:p>
            <a:pPr algn="l" indent="0" marL="0">
              <a:buNone/>
            </a:pPr>
            <a:r>
              <a:rPr lang="en-US" sz="1200" b="1" dirty="0">
                <a:solidFill>
                  <a:srgbClr val="BE5A2E"/>
                </a:solidFill>
                <a:latin typeface="Segoe UI" pitchFamily="34" charset="0"/>
                <a:ea typeface="Segoe UI" pitchFamily="34" charset="-122"/>
                <a:cs typeface="Segoe UI" pitchFamily="34" charset="-120"/>
              </a:rPr>
              <a:t>Có nhánh viết lại mù ảnh — tách thông tin khỏi độ dài</a:t>
            </a:r>
            <a:endParaRPr lang="en-US" sz="1200" dirty="0"/>
          </a:p>
        </p:txBody>
      </p:sp>
      <p:sp>
        <p:nvSpPr>
          <p:cNvPr id="21" name="Shape 18"/>
          <p:cNvSpPr/>
          <p:nvPr/>
        </p:nvSpPr>
        <p:spPr>
          <a:xfrm>
            <a:off x="2926080" y="5797296"/>
            <a:ext cx="8412480" cy="384048"/>
          </a:xfrm>
          <a:prstGeom prst="roundRect">
            <a:avLst>
              <a:gd name="adj" fmla="val 14286"/>
            </a:avLst>
          </a:prstGeom>
          <a:solidFill>
            <a:srgbClr val="F3F5F7"/>
          </a:solidFill>
          <a:ln/>
        </p:spPr>
      </p:sp>
      <p:sp>
        <p:nvSpPr>
          <p:cNvPr id="22" name="Text 19"/>
          <p:cNvSpPr/>
          <p:nvPr/>
        </p:nvSpPr>
        <p:spPr>
          <a:xfrm>
            <a:off x="3154680" y="5797296"/>
            <a:ext cx="7955280" cy="384048"/>
          </a:xfrm>
          <a:prstGeom prst="rect">
            <a:avLst/>
          </a:prstGeom>
          <a:noFill/>
          <a:ln/>
        </p:spPr>
        <p:txBody>
          <a:bodyPr wrap="square" lIns="0" tIns="0" rIns="0" bIns="0" rtlCol="0" anchor="ctr"/>
          <a:lstStyle/>
          <a:p>
            <a:pPr algn="l" indent="0" marL="0">
              <a:buNone/>
            </a:pPr>
            <a:r>
              <a:rPr lang="en-US" sz="1200" dirty="0">
                <a:solidFill>
                  <a:srgbClr val="454C55"/>
                </a:solidFill>
                <a:latin typeface="Segoe UI" pitchFamily="34" charset="0"/>
                <a:ea typeface="Segoe UI" pitchFamily="34" charset="-122"/>
                <a:cs typeface="Segoe UI" pitchFamily="34" charset="-120"/>
              </a:rPr>
              <a:t>Soi tay 100 câu, đếm tỉ lệ bịa tên</a:t>
            </a:r>
            <a:endParaRPr lang="en-US" sz="1200" dirty="0"/>
          </a:p>
        </p:txBody>
      </p:sp>
      <p:sp>
        <p:nvSpPr>
          <p:cNvPr id="23" name="Text 20"/>
          <p:cNvSpPr/>
          <p:nvPr/>
        </p:nvSpPr>
        <p:spPr>
          <a:xfrm>
            <a:off x="841248" y="6355080"/>
            <a:ext cx="9601200" cy="292608"/>
          </a:xfrm>
          <a:prstGeom prst="rect">
            <a:avLst/>
          </a:prstGeom>
          <a:noFill/>
          <a:ln/>
        </p:spPr>
        <p:txBody>
          <a:bodyPr wrap="square" lIns="0" tIns="0" rIns="0" bIns="0" rtlCol="0" anchor="t"/>
          <a:lstStyle/>
          <a:p>
            <a:pPr algn="l" indent="0" marL="0">
              <a:buNone/>
            </a:pPr>
            <a:r>
              <a:rPr lang="en-US" sz="1200" i="1" dirty="0">
                <a:solidFill>
                  <a:srgbClr val="52657A"/>
                </a:solidFill>
                <a:latin typeface="Cambria" pitchFamily="34" charset="0"/>
                <a:ea typeface="Cambria" pitchFamily="34" charset="-122"/>
                <a:cs typeface="Cambria" pitchFamily="34" charset="-120"/>
              </a:rPr>
              <a:t>Khâu này là tiền xử lý dữ liệu, không kể vào tính mới.</a:t>
            </a:r>
            <a:endParaRPr lang="en-US" sz="1200" dirty="0"/>
          </a:p>
        </p:txBody>
      </p:sp>
      <p:sp>
        <p:nvSpPr>
          <p:cNvPr id="25" name="Text 21"/>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85216"/>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KHÂU 3 · DỰNG PHẦN MÔ TẢ</a:t>
            </a:r>
            <a:endParaRPr lang="en-US" sz="1250" dirty="0"/>
          </a:p>
        </p:txBody>
      </p:sp>
      <p:sp>
        <p:nvSpPr>
          <p:cNvPr id="3" name="Text 1"/>
          <p:cNvSpPr/>
          <p:nvPr/>
        </p:nvSpPr>
        <p:spPr>
          <a:xfrm>
            <a:off x="841248" y="914400"/>
            <a:ext cx="10506456" cy="82296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Chế thêm một dòng đứng TRƯỚC câu, tả phần tử cần chạm là cái gì</a:t>
            </a:r>
            <a:endParaRPr lang="en-US" sz="2700" dirty="0"/>
          </a:p>
        </p:txBody>
      </p:sp>
      <p:sp>
        <p:nvSpPr>
          <p:cNvPr id="4" name="Shape 2"/>
          <p:cNvSpPr/>
          <p:nvPr/>
        </p:nvSpPr>
        <p:spPr>
          <a:xfrm>
            <a:off x="841248" y="2240280"/>
            <a:ext cx="2743200" cy="777240"/>
          </a:xfrm>
          <a:prstGeom prst="roundRect">
            <a:avLst>
              <a:gd name="adj" fmla="val 10588"/>
            </a:avLst>
          </a:prstGeom>
          <a:solidFill>
            <a:srgbClr val="F3F5F7"/>
          </a:solidFill>
          <a:ln/>
        </p:spPr>
      </p:sp>
      <p:sp>
        <p:nvSpPr>
          <p:cNvPr id="5" name="Text 3"/>
          <p:cNvSpPr/>
          <p:nvPr/>
        </p:nvSpPr>
        <p:spPr>
          <a:xfrm>
            <a:off x="841248" y="2240280"/>
            <a:ext cx="2743200" cy="777240"/>
          </a:xfrm>
          <a:prstGeom prst="rect">
            <a:avLst/>
          </a:prstGeom>
          <a:noFill/>
          <a:ln/>
        </p:spPr>
        <p:txBody>
          <a:bodyPr wrap="square" lIns="0" tIns="0" rIns="0" bIns="0" rtlCol="0" anchor="ctr"/>
          <a:lstStyle/>
          <a:p>
            <a:pPr algn="ctr" indent="0" marL="0">
              <a:lnSpc>
                <a:spcPct val="125000"/>
              </a:lnSpc>
              <a:buNone/>
            </a:pPr>
            <a:r>
              <a:rPr lang="en-US" sz="1250" b="1" dirty="0">
                <a:solidFill>
                  <a:srgbClr val="1D2733"/>
                </a:solidFill>
                <a:latin typeface="Segoe UI" pitchFamily="34" charset="0"/>
                <a:ea typeface="Segoe UI" pitchFamily="34" charset="-122"/>
                <a:cs typeface="Segoe UI" pitchFamily="34" charset="-120"/>
              </a:rPr>
              <a:t>toạ độ chỗ người chạm</a:t>
            </a:r>
            <a:endParaRPr lang="en-US" sz="1250" dirty="0"/>
          </a:p>
        </p:txBody>
      </p:sp>
      <p:sp>
        <p:nvSpPr>
          <p:cNvPr id="6" name="Shape 4"/>
          <p:cNvSpPr/>
          <p:nvPr/>
        </p:nvSpPr>
        <p:spPr>
          <a:xfrm>
            <a:off x="3703320" y="2624328"/>
            <a:ext cx="365760" cy="0"/>
          </a:xfrm>
          <a:prstGeom prst="line">
            <a:avLst/>
          </a:prstGeom>
          <a:noFill/>
          <a:ln w="31750">
            <a:solidFill>
              <a:srgbClr val="BE5A2E"/>
            </a:solidFill>
            <a:prstDash val="solid"/>
            <a:tailEnd type="triangle"/>
          </a:ln>
        </p:spPr>
      </p:sp>
      <p:sp>
        <p:nvSpPr>
          <p:cNvPr id="7" name="Shape 5"/>
          <p:cNvSpPr/>
          <p:nvPr/>
        </p:nvSpPr>
        <p:spPr>
          <a:xfrm>
            <a:off x="4206240" y="2240280"/>
            <a:ext cx="2926080" cy="777240"/>
          </a:xfrm>
          <a:prstGeom prst="roundRect">
            <a:avLst>
              <a:gd name="adj" fmla="val 10588"/>
            </a:avLst>
          </a:prstGeom>
          <a:solidFill>
            <a:srgbClr val="F3F5F7"/>
          </a:solidFill>
          <a:ln/>
        </p:spPr>
      </p:sp>
      <p:sp>
        <p:nvSpPr>
          <p:cNvPr id="8" name="Text 6"/>
          <p:cNvSpPr/>
          <p:nvPr/>
        </p:nvSpPr>
        <p:spPr>
          <a:xfrm>
            <a:off x="4206240" y="2240280"/>
            <a:ext cx="2926080" cy="777240"/>
          </a:xfrm>
          <a:prstGeom prst="rect">
            <a:avLst/>
          </a:prstGeom>
          <a:noFill/>
          <a:ln/>
        </p:spPr>
        <p:txBody>
          <a:bodyPr wrap="square" lIns="0" tIns="0" rIns="0" bIns="0" rtlCol="0" anchor="ctr"/>
          <a:lstStyle/>
          <a:p>
            <a:pPr algn="ctr" indent="0" marL="0">
              <a:lnSpc>
                <a:spcPct val="125000"/>
              </a:lnSpc>
              <a:buNone/>
            </a:pPr>
            <a:r>
              <a:rPr lang="en-US" sz="1250" b="1" dirty="0">
                <a:solidFill>
                  <a:srgbClr val="1D2733"/>
                </a:solidFill>
                <a:latin typeface="Segoe UI" pitchFamily="34" charset="0"/>
                <a:ea typeface="Segoe UI" pitchFamily="34" charset="-122"/>
                <a:cs typeface="Segoe UI" pitchFamily="34" charset="-120"/>
              </a:rPr>
              <a:t>hộp phần tử tại đó</a:t>
            </a:r>
            <a:endParaRPr lang="en-US" sz="1250" dirty="0"/>
          </a:p>
          <a:p>
            <a:pPr algn="ctr" indent="0" marL="0">
              <a:lnSpc>
                <a:spcPct val="125000"/>
              </a:lnSpc>
              <a:buNone/>
            </a:pPr>
            <a:r>
              <a:rPr lang="en-US" sz="1250" b="1" dirty="0">
                <a:solidFill>
                  <a:srgbClr val="1D2733"/>
                </a:solidFill>
                <a:latin typeface="Segoe UI" pitchFamily="34" charset="0"/>
                <a:ea typeface="Segoe UI" pitchFamily="34" charset="-122"/>
                <a:cs typeface="Segoe UI" pitchFamily="34" charset="-120"/>
              </a:rPr>
              <a:t>(từ cây trợ năng)</a:t>
            </a:r>
            <a:endParaRPr lang="en-US" sz="1250" dirty="0"/>
          </a:p>
        </p:txBody>
      </p:sp>
      <p:sp>
        <p:nvSpPr>
          <p:cNvPr id="9" name="Shape 7"/>
          <p:cNvSpPr/>
          <p:nvPr/>
        </p:nvSpPr>
        <p:spPr>
          <a:xfrm>
            <a:off x="7223760" y="2624328"/>
            <a:ext cx="365760" cy="0"/>
          </a:xfrm>
          <a:prstGeom prst="line">
            <a:avLst/>
          </a:prstGeom>
          <a:noFill/>
          <a:ln w="31750">
            <a:solidFill>
              <a:srgbClr val="BE5A2E"/>
            </a:solidFill>
            <a:prstDash val="solid"/>
            <a:tailEnd type="triangle"/>
          </a:ln>
        </p:spPr>
      </p:sp>
      <p:sp>
        <p:nvSpPr>
          <p:cNvPr id="10" name="Shape 8"/>
          <p:cNvSpPr/>
          <p:nvPr/>
        </p:nvSpPr>
        <p:spPr>
          <a:xfrm>
            <a:off x="7726680" y="2240280"/>
            <a:ext cx="3611880" cy="777240"/>
          </a:xfrm>
          <a:prstGeom prst="roundRect">
            <a:avLst>
              <a:gd name="adj" fmla="val 10588"/>
            </a:avLst>
          </a:prstGeom>
          <a:solidFill>
            <a:srgbClr val="F7EBE3"/>
          </a:solidFill>
          <a:ln/>
        </p:spPr>
      </p:sp>
      <p:sp>
        <p:nvSpPr>
          <p:cNvPr id="11" name="Text 9"/>
          <p:cNvSpPr/>
          <p:nvPr/>
        </p:nvSpPr>
        <p:spPr>
          <a:xfrm>
            <a:off x="7726680" y="2240280"/>
            <a:ext cx="3611880" cy="777240"/>
          </a:xfrm>
          <a:prstGeom prst="rect">
            <a:avLst/>
          </a:prstGeom>
          <a:noFill/>
          <a:ln/>
        </p:spPr>
        <p:txBody>
          <a:bodyPr wrap="square" lIns="0" tIns="0" rIns="0" bIns="0" rtlCol="0" anchor="ctr"/>
          <a:lstStyle/>
          <a:p>
            <a:pPr algn="ctr" indent="0" marL="0">
              <a:buNone/>
            </a:pPr>
            <a:r>
              <a:rPr lang="en-US" sz="1250" b="1" dirty="0">
                <a:solidFill>
                  <a:srgbClr val="BE5A2E"/>
                </a:solidFill>
                <a:latin typeface="Segoe UI" pitchFamily="34" charset="0"/>
                <a:ea typeface="Segoe UI" pitchFamily="34" charset="-122"/>
                <a:cs typeface="Segoe UI" pitchFamily="34" charset="-120"/>
              </a:rPr>
              <a:t>bốn trường mô tả</a:t>
            </a:r>
            <a:endParaRPr lang="en-US" sz="1250" dirty="0"/>
          </a:p>
        </p:txBody>
      </p:sp>
      <p:sp>
        <p:nvSpPr>
          <p:cNvPr id="12" name="Shape 10"/>
          <p:cNvSpPr/>
          <p:nvPr/>
        </p:nvSpPr>
        <p:spPr>
          <a:xfrm>
            <a:off x="841248" y="3200400"/>
            <a:ext cx="10506456" cy="685800"/>
          </a:xfrm>
          <a:prstGeom prst="roundRect">
            <a:avLst>
              <a:gd name="adj" fmla="val 12000"/>
            </a:avLst>
          </a:prstGeom>
          <a:solidFill>
            <a:srgbClr val="FFFFFF"/>
          </a:solidFill>
          <a:ln w="16510">
            <a:solidFill>
              <a:srgbClr val="BE5A2E"/>
            </a:solidFill>
            <a:prstDash val="solid"/>
          </a:ln>
        </p:spPr>
      </p:sp>
      <p:sp>
        <p:nvSpPr>
          <p:cNvPr id="13" name="Text 11"/>
          <p:cNvSpPr/>
          <p:nvPr/>
        </p:nvSpPr>
        <p:spPr>
          <a:xfrm>
            <a:off x="841248" y="3200400"/>
            <a:ext cx="10506456" cy="685800"/>
          </a:xfrm>
          <a:prstGeom prst="rect">
            <a:avLst/>
          </a:prstGeom>
          <a:noFill/>
          <a:ln/>
        </p:spPr>
        <p:txBody>
          <a:bodyPr wrap="square" lIns="0" tIns="0" rIns="0" bIns="0" rtlCol="0" anchor="ctr"/>
          <a:lstStyle/>
          <a:p>
            <a:pPr algn="ctr" indent="0" marL="0">
              <a:buNone/>
            </a:pPr>
            <a:r>
              <a:rPr lang="en-US" sz="1600" b="1" dirty="0">
                <a:solidFill>
                  <a:srgbClr val="BE5A2E"/>
                </a:solidFill>
                <a:latin typeface="Cambria" pitchFamily="34" charset="0"/>
                <a:ea typeface="Cambria" pitchFamily="34" charset="-122"/>
                <a:cs typeface="Cambria" pitchFamily="34" charset="-120"/>
              </a:rPr>
              <a:t>[  vai trò   |   chữ hoặc hình   |   vị trí trên màn   |   dấu hiệu phân biệt  ]</a:t>
            </a:r>
            <a:endParaRPr lang="en-US" sz="1600" dirty="0"/>
          </a:p>
        </p:txBody>
      </p:sp>
      <p:sp>
        <p:nvSpPr>
          <p:cNvPr id="14" name="Shape 12"/>
          <p:cNvSpPr/>
          <p:nvPr/>
        </p:nvSpPr>
        <p:spPr>
          <a:xfrm>
            <a:off x="841248" y="4069080"/>
            <a:ext cx="5120640" cy="685800"/>
          </a:xfrm>
          <a:prstGeom prst="roundRect">
            <a:avLst>
              <a:gd name="adj" fmla="val 12000"/>
            </a:avLst>
          </a:prstGeom>
          <a:solidFill>
            <a:srgbClr val="FFFFFF"/>
          </a:solidFill>
          <a:ln w="16510">
            <a:solidFill>
              <a:srgbClr val="1E6B43"/>
            </a:solidFill>
            <a:prstDash val="solid"/>
          </a:ln>
        </p:spPr>
      </p:sp>
      <p:sp>
        <p:nvSpPr>
          <p:cNvPr id="15" name="Text 13"/>
          <p:cNvSpPr/>
          <p:nvPr/>
        </p:nvSpPr>
        <p:spPr>
          <a:xfrm>
            <a:off x="1069848" y="4069080"/>
            <a:ext cx="4663440" cy="685800"/>
          </a:xfrm>
          <a:prstGeom prst="rect">
            <a:avLst/>
          </a:prstGeom>
          <a:noFill/>
          <a:ln/>
        </p:spPr>
        <p:txBody>
          <a:bodyPr wrap="square" lIns="0" tIns="0" rIns="0" bIns="0" rtlCol="0" anchor="ctr"/>
          <a:lstStyle/>
          <a:p>
            <a:pPr algn="l" indent="0" marL="0">
              <a:lnSpc>
                <a:spcPct val="125000"/>
              </a:lnSpc>
              <a:buNone/>
            </a:pPr>
            <a:r>
              <a:rPr lang="en-US" sz="1150" b="1" dirty="0">
                <a:solidFill>
                  <a:srgbClr val="1E6B43"/>
                </a:solidFill>
                <a:latin typeface="Segoe UI" pitchFamily="34" charset="0"/>
                <a:ea typeface="Segoe UI" pitchFamily="34" charset="-122"/>
                <a:cs typeface="Segoe UI" pitchFamily="34" charset="-120"/>
              </a:rPr>
              <a:t>Ô tìm kiếm:  </a:t>
            </a:r>
            <a:pPr algn="l" indent="0" marL="0">
              <a:lnSpc>
                <a:spcPct val="125000"/>
              </a:lnSpc>
              <a:buNone/>
            </a:pPr>
            <a:r>
              <a:rPr lang="en-US" sz="1150" dirty="0">
                <a:solidFill>
                  <a:srgbClr val="454C55"/>
                </a:solidFill>
                <a:latin typeface="Segoe UI" pitchFamily="34" charset="0"/>
                <a:ea typeface="Segoe UI" pitchFamily="34" charset="-122"/>
                <a:cs typeface="Segoe UI" pitchFamily="34" charset="-120"/>
              </a:rPr>
              <a:t>[ô nhập liệu | “Search Publications…” | trên đỉnh, giữa]</a:t>
            </a:r>
            <a:endParaRPr lang="en-US" sz="1150" dirty="0"/>
          </a:p>
        </p:txBody>
      </p:sp>
      <p:sp>
        <p:nvSpPr>
          <p:cNvPr id="16" name="Shape 14"/>
          <p:cNvSpPr/>
          <p:nvPr/>
        </p:nvSpPr>
        <p:spPr>
          <a:xfrm>
            <a:off x="6217920" y="4069080"/>
            <a:ext cx="5120640" cy="685800"/>
          </a:xfrm>
          <a:prstGeom prst="roundRect">
            <a:avLst>
              <a:gd name="adj" fmla="val 12000"/>
            </a:avLst>
          </a:prstGeom>
          <a:solidFill>
            <a:srgbClr val="FFFFFF"/>
          </a:solidFill>
          <a:ln w="16510">
            <a:solidFill>
              <a:srgbClr val="B23B3B"/>
            </a:solidFill>
            <a:prstDash val="solid"/>
          </a:ln>
        </p:spPr>
      </p:sp>
      <p:sp>
        <p:nvSpPr>
          <p:cNvPr id="17" name="Text 15"/>
          <p:cNvSpPr/>
          <p:nvPr/>
        </p:nvSpPr>
        <p:spPr>
          <a:xfrm>
            <a:off x="6446520" y="4069080"/>
            <a:ext cx="4663440" cy="685800"/>
          </a:xfrm>
          <a:prstGeom prst="rect">
            <a:avLst/>
          </a:prstGeom>
          <a:noFill/>
          <a:ln/>
        </p:spPr>
        <p:txBody>
          <a:bodyPr wrap="square" lIns="0" tIns="0" rIns="0" bIns="0" rtlCol="0" anchor="ctr"/>
          <a:lstStyle/>
          <a:p>
            <a:pPr algn="l" indent="0" marL="0">
              <a:lnSpc>
                <a:spcPct val="125000"/>
              </a:lnSpc>
              <a:buNone/>
            </a:pPr>
            <a:r>
              <a:rPr lang="en-US" sz="1150" b="1" dirty="0">
                <a:solidFill>
                  <a:srgbClr val="B23B3B"/>
                </a:solidFill>
                <a:latin typeface="Segoe UI" pitchFamily="34" charset="0"/>
                <a:ea typeface="Segoe UI" pitchFamily="34" charset="-122"/>
                <a:cs typeface="Segoe UI" pitchFamily="34" charset="-120"/>
              </a:rPr>
              <a:t>Kính lúp:  </a:t>
            </a:r>
            <a:pPr algn="l" indent="0" marL="0">
              <a:lnSpc>
                <a:spcPct val="125000"/>
              </a:lnSpc>
              <a:buNone/>
            </a:pPr>
            <a:r>
              <a:rPr lang="en-US" sz="1150" dirty="0">
                <a:solidFill>
                  <a:srgbClr val="454C55"/>
                </a:solidFill>
                <a:latin typeface="Segoe UI" pitchFamily="34" charset="0"/>
                <a:ea typeface="Segoe UI" pitchFamily="34" charset="-122"/>
                <a:cs typeface="Segoe UI" pitchFamily="34" charset="-120"/>
              </a:rPr>
              <a:t>[nút | ? | trên đỉnh, bên phải]</a:t>
            </a:r>
            <a:endParaRPr lang="en-US" sz="1150" dirty="0"/>
          </a:p>
        </p:txBody>
      </p:sp>
      <p:sp>
        <p:nvSpPr>
          <p:cNvPr id="18" name="Shape 16"/>
          <p:cNvSpPr/>
          <p:nvPr/>
        </p:nvSpPr>
        <p:spPr>
          <a:xfrm>
            <a:off x="841248" y="4956048"/>
            <a:ext cx="6766560" cy="777240"/>
          </a:xfrm>
          <a:prstGeom prst="roundRect">
            <a:avLst>
              <a:gd name="adj" fmla="val 10588"/>
            </a:avLst>
          </a:prstGeom>
          <a:solidFill>
            <a:srgbClr val="17233B"/>
          </a:solidFill>
          <a:ln/>
        </p:spPr>
      </p:sp>
      <p:sp>
        <p:nvSpPr>
          <p:cNvPr id="19" name="Text 17"/>
          <p:cNvSpPr/>
          <p:nvPr/>
        </p:nvSpPr>
        <p:spPr>
          <a:xfrm>
            <a:off x="1115568" y="4956048"/>
            <a:ext cx="6217920" cy="777240"/>
          </a:xfrm>
          <a:prstGeom prst="rect">
            <a:avLst/>
          </a:prstGeom>
          <a:noFill/>
          <a:ln/>
        </p:spPr>
        <p:txBody>
          <a:bodyPr wrap="square" lIns="0" tIns="0" rIns="0" bIns="0" rtlCol="0" anchor="ctr"/>
          <a:lstStyle/>
          <a:p>
            <a:pPr algn="l" indent="0" marL="0">
              <a:lnSpc>
                <a:spcPct val="130000"/>
              </a:lnSpc>
              <a:buNone/>
            </a:pPr>
            <a:r>
              <a:rPr lang="en-US" sz="1200" b="1" dirty="0">
                <a:solidFill>
                  <a:srgbClr val="F0C9A8"/>
                </a:solidFill>
                <a:latin typeface="Segoe UI" pitchFamily="34" charset="0"/>
                <a:ea typeface="Segoe UI" pitchFamily="34" charset="-122"/>
                <a:cs typeface="Segoe UI" pitchFamily="34" charset="-120"/>
              </a:rPr>
              <a:t>Dùng làm gì:  </a:t>
            </a:r>
            <a:pPr algn="l" indent="0" marL="0">
              <a:lnSpc>
                <a:spcPct val="130000"/>
              </a:lnSpc>
              <a:buNone/>
            </a:pPr>
            <a:r>
              <a:rPr lang="en-US" sz="1200" dirty="0">
                <a:solidFill>
                  <a:srgbClr val="FFFFFF"/>
                </a:solidFill>
                <a:latin typeface="Segoe UI" pitchFamily="34" charset="0"/>
                <a:ea typeface="Segoe UI" pitchFamily="34" charset="-122"/>
                <a:cs typeface="Segoe UI" pitchFamily="34" charset="-120"/>
              </a:rPr>
              <a:t>ghép vào trước câu, thành nửa đầu của đáp án mẫu — mô hình phải tả phần tử rồi mới được viết câu.</a:t>
            </a:r>
            <a:endParaRPr lang="en-US" sz="1200" dirty="0"/>
          </a:p>
        </p:txBody>
      </p:sp>
      <p:sp>
        <p:nvSpPr>
          <p:cNvPr id="20" name="Shape 18"/>
          <p:cNvSpPr/>
          <p:nvPr/>
        </p:nvSpPr>
        <p:spPr>
          <a:xfrm>
            <a:off x="7863840" y="4956048"/>
            <a:ext cx="3474720" cy="960120"/>
          </a:xfrm>
          <a:prstGeom prst="roundRect">
            <a:avLst>
              <a:gd name="adj" fmla="val 8571"/>
            </a:avLst>
          </a:prstGeom>
          <a:solidFill>
            <a:srgbClr val="F7EBE3"/>
          </a:solidFill>
          <a:ln/>
        </p:spPr>
      </p:sp>
      <p:sp>
        <p:nvSpPr>
          <p:cNvPr id="21" name="Text 19"/>
          <p:cNvSpPr/>
          <p:nvPr/>
        </p:nvSpPr>
        <p:spPr>
          <a:xfrm>
            <a:off x="7863840" y="5047488"/>
            <a:ext cx="3474720" cy="457200"/>
          </a:xfrm>
          <a:prstGeom prst="rect">
            <a:avLst/>
          </a:prstGeom>
          <a:noFill/>
          <a:ln/>
        </p:spPr>
        <p:txBody>
          <a:bodyPr wrap="square" lIns="0" tIns="0" rIns="0" bIns="0" rtlCol="0" anchor="t"/>
          <a:lstStyle/>
          <a:p>
            <a:pPr algn="ctr" indent="0" marL="0">
              <a:buNone/>
            </a:pPr>
            <a:r>
              <a:rPr lang="en-US" sz="2500" b="1" dirty="0">
                <a:solidFill>
                  <a:srgbClr val="B23B3B"/>
                </a:solidFill>
                <a:latin typeface="Cambria" pitchFamily="34" charset="0"/>
                <a:ea typeface="Cambria" pitchFamily="34" charset="-122"/>
                <a:cs typeface="Cambria" pitchFamily="34" charset="-120"/>
              </a:rPr>
              <a:t>43%</a:t>
            </a:r>
            <a:endParaRPr lang="en-US" sz="2500" dirty="0"/>
          </a:p>
        </p:txBody>
      </p:sp>
      <p:sp>
        <p:nvSpPr>
          <p:cNvPr id="22" name="Text 20"/>
          <p:cNvSpPr/>
          <p:nvPr/>
        </p:nvSpPr>
        <p:spPr>
          <a:xfrm>
            <a:off x="7955280" y="5532120"/>
            <a:ext cx="3291840" cy="320040"/>
          </a:xfrm>
          <a:prstGeom prst="rect">
            <a:avLst/>
          </a:prstGeom>
          <a:noFill/>
          <a:ln/>
        </p:spPr>
        <p:txBody>
          <a:bodyPr wrap="square" lIns="0" tIns="0" rIns="0" bIns="0" rtlCol="0" anchor="t"/>
          <a:lstStyle/>
          <a:p>
            <a:pPr algn="ctr" indent="0" marL="0">
              <a:lnSpc>
                <a:spcPct val="115000"/>
              </a:lnSpc>
              <a:buNone/>
            </a:pPr>
            <a:r>
              <a:rPr lang="en-US" sz="1100" dirty="0">
                <a:solidFill>
                  <a:srgbClr val="454C55"/>
                </a:solidFill>
                <a:latin typeface="Segoe UI" pitchFamily="34" charset="0"/>
                <a:ea typeface="Segoe UI" pitchFamily="34" charset="-122"/>
                <a:cs typeface="Segoe UI" pitchFamily="34" charset="-120"/>
              </a:rPr>
              <a:t>bước không lấy được tên từ đâu cả</a:t>
            </a:r>
            <a:endParaRPr lang="en-US" sz="1100" dirty="0"/>
          </a:p>
        </p:txBody>
      </p:sp>
      <p:sp>
        <p:nvSpPr>
          <p:cNvPr id="23" name="Text 21"/>
          <p:cNvSpPr/>
          <p:nvPr/>
        </p:nvSpPr>
        <p:spPr>
          <a:xfrm>
            <a:off x="841248" y="6080760"/>
            <a:ext cx="10506456" cy="457200"/>
          </a:xfrm>
          <a:prstGeom prst="rect">
            <a:avLst/>
          </a:prstGeom>
          <a:noFill/>
          <a:ln/>
        </p:spPr>
        <p:txBody>
          <a:bodyPr wrap="square" lIns="0" tIns="0" rIns="0" bIns="0" rtlCol="0" anchor="t"/>
          <a:lstStyle/>
          <a:p>
            <a:pPr algn="l" indent="0" marL="0">
              <a:lnSpc>
                <a:spcPct val="120000"/>
              </a:lnSpc>
              <a:buNone/>
            </a:pPr>
            <a:r>
              <a:rPr lang="en-US" sz="1500" b="1" dirty="0">
                <a:solidFill>
                  <a:srgbClr val="1D2733"/>
                </a:solidFill>
                <a:latin typeface="Cambria" pitchFamily="34" charset="0"/>
                <a:ea typeface="Cambria" pitchFamily="34" charset="-122"/>
                <a:cs typeface="Cambria" pitchFamily="34" charset="-120"/>
              </a:rPr>
              <a:t>Rủi ro: tầng giữa mà rỗng thì hai tầng tệ hơn một tầng.</a:t>
            </a:r>
            <a:endParaRPr lang="en-US" sz="1500" dirty="0"/>
          </a:p>
        </p:txBody>
      </p:sp>
      <p:sp>
        <p:nvSpPr>
          <p:cNvPr id="25" name="Text 22"/>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85216"/>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KHÂU 4 · GHÉP THÀNH BỘ DỮ LIỆU</a:t>
            </a:r>
            <a:endParaRPr lang="en-US" sz="1250" dirty="0"/>
          </a:p>
        </p:txBody>
      </p:sp>
      <p:sp>
        <p:nvSpPr>
          <p:cNvPr id="3" name="Text 1"/>
          <p:cNvSpPr/>
          <p:nvPr/>
        </p:nvSpPr>
        <p:spPr>
          <a:xfrm>
            <a:off x="841248" y="914400"/>
            <a:ext cx="10506456" cy="82296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Chưa mô hình nào sinh gì ở đây — đây là nhãn ghép sẵn</a:t>
            </a:r>
            <a:endParaRPr lang="en-US" sz="2700" dirty="0"/>
          </a:p>
        </p:txBody>
      </p:sp>
      <p:sp>
        <p:nvSpPr>
          <p:cNvPr id="4" name="Shape 2"/>
          <p:cNvSpPr/>
          <p:nvPr/>
        </p:nvSpPr>
        <p:spPr>
          <a:xfrm>
            <a:off x="841248" y="2240280"/>
            <a:ext cx="5349240" cy="2331720"/>
          </a:xfrm>
          <a:prstGeom prst="roundRect">
            <a:avLst>
              <a:gd name="adj" fmla="val 3922"/>
            </a:avLst>
          </a:prstGeom>
          <a:solidFill>
            <a:srgbClr val="F3F5F7"/>
          </a:solidFill>
          <a:ln/>
        </p:spPr>
      </p:sp>
      <p:sp>
        <p:nvSpPr>
          <p:cNvPr id="5" name="Text 3"/>
          <p:cNvSpPr/>
          <p:nvPr/>
        </p:nvSpPr>
        <p:spPr>
          <a:xfrm>
            <a:off x="1097280" y="2340864"/>
            <a:ext cx="4846320" cy="274320"/>
          </a:xfrm>
          <a:prstGeom prst="rect">
            <a:avLst/>
          </a:prstGeom>
          <a:noFill/>
          <a:ln/>
        </p:spPr>
        <p:txBody>
          <a:bodyPr wrap="square" lIns="0" tIns="0" rIns="0" bIns="0" rtlCol="0" anchor="t"/>
          <a:lstStyle/>
          <a:p>
            <a:pPr algn="l" indent="0" marL="0">
              <a:buNone/>
            </a:pPr>
            <a:r>
              <a:rPr lang="en-US" sz="1150" b="1" spc="150" kern="0" dirty="0">
                <a:solidFill>
                  <a:srgbClr val="52657A"/>
                </a:solidFill>
                <a:latin typeface="Segoe UI" pitchFamily="34" charset="0"/>
                <a:ea typeface="Segoe UI" pitchFamily="34" charset="-122"/>
                <a:cs typeface="Segoe UI" pitchFamily="34" charset="-120"/>
              </a:rPr>
              <a:t>ĐỀ BÀI</a:t>
            </a:r>
            <a:endParaRPr lang="en-US" sz="1150" dirty="0"/>
          </a:p>
        </p:txBody>
      </p:sp>
      <p:sp>
        <p:nvSpPr>
          <p:cNvPr id="6" name="Shape 4"/>
          <p:cNvSpPr/>
          <p:nvPr/>
        </p:nvSpPr>
        <p:spPr>
          <a:xfrm>
            <a:off x="1097280" y="2670048"/>
            <a:ext cx="914400" cy="731520"/>
          </a:xfrm>
          <a:prstGeom prst="roundRect">
            <a:avLst>
              <a:gd name="adj" fmla="val 7500"/>
            </a:avLst>
          </a:prstGeom>
          <a:solidFill>
            <a:srgbClr val="FFFFFF"/>
          </a:solidFill>
          <a:ln w="12700">
            <a:solidFill>
              <a:srgbClr val="DBE0E6"/>
            </a:solidFill>
            <a:prstDash val="solid"/>
          </a:ln>
        </p:spPr>
      </p:sp>
      <p:sp>
        <p:nvSpPr>
          <p:cNvPr id="7" name="Text 5"/>
          <p:cNvSpPr/>
          <p:nvPr/>
        </p:nvSpPr>
        <p:spPr>
          <a:xfrm>
            <a:off x="1097280" y="2670048"/>
            <a:ext cx="914400" cy="731520"/>
          </a:xfrm>
          <a:prstGeom prst="rect">
            <a:avLst/>
          </a:prstGeom>
          <a:noFill/>
          <a:ln/>
        </p:spPr>
        <p:txBody>
          <a:bodyPr wrap="square" lIns="0" tIns="0" rIns="0" bIns="0" rtlCol="0" anchor="ctr"/>
          <a:lstStyle/>
          <a:p>
            <a:pPr algn="ctr" indent="0" marL="0">
              <a:lnSpc>
                <a:spcPct val="120000"/>
              </a:lnSpc>
              <a:buNone/>
            </a:pPr>
            <a:r>
              <a:rPr lang="en-US" sz="1050" b="1" dirty="0">
                <a:solidFill>
                  <a:srgbClr val="8B929B"/>
                </a:solidFill>
                <a:latin typeface="Segoe UI" pitchFamily="34" charset="0"/>
                <a:ea typeface="Segoe UI" pitchFamily="34" charset="-122"/>
                <a:cs typeface="Segoe UI" pitchFamily="34" charset="-120"/>
              </a:rPr>
              <a:t>ảnh</a:t>
            </a:r>
            <a:endParaRPr lang="en-US" sz="1050" dirty="0"/>
          </a:p>
          <a:p>
            <a:pPr algn="ctr" indent="0" marL="0">
              <a:lnSpc>
                <a:spcPct val="120000"/>
              </a:lnSpc>
              <a:buNone/>
            </a:pPr>
            <a:r>
              <a:rPr lang="en-US" sz="1050" b="1" dirty="0">
                <a:solidFill>
                  <a:srgbClr val="8B929B"/>
                </a:solidFill>
                <a:latin typeface="Segoe UI" pitchFamily="34" charset="0"/>
                <a:ea typeface="Segoe UI" pitchFamily="34" charset="-122"/>
                <a:cs typeface="Segoe UI" pitchFamily="34" charset="-120"/>
              </a:rPr>
              <a:t>SẠCH</a:t>
            </a:r>
            <a:endParaRPr lang="en-US" sz="1050" dirty="0"/>
          </a:p>
        </p:txBody>
      </p:sp>
      <p:sp>
        <p:nvSpPr>
          <p:cNvPr id="8" name="Text 6"/>
          <p:cNvSpPr/>
          <p:nvPr/>
        </p:nvSpPr>
        <p:spPr>
          <a:xfrm>
            <a:off x="2167128" y="2743200"/>
            <a:ext cx="3840480" cy="594360"/>
          </a:xfrm>
          <a:prstGeom prst="rect">
            <a:avLst/>
          </a:prstGeom>
          <a:noFill/>
          <a:ln/>
        </p:spPr>
        <p:txBody>
          <a:bodyPr wrap="square" lIns="0" tIns="0" rIns="0" bIns="0" rtlCol="0" anchor="t"/>
          <a:lstStyle/>
          <a:p>
            <a:pPr algn="l" indent="0" marL="0">
              <a:lnSpc>
                <a:spcPct val="130000"/>
              </a:lnSpc>
              <a:buNone/>
            </a:pPr>
            <a:r>
              <a:rPr lang="en-US" sz="1100" dirty="0">
                <a:solidFill>
                  <a:srgbClr val="1D2733"/>
                </a:solidFill>
                <a:latin typeface="Segoe UI" pitchFamily="34" charset="0"/>
                <a:ea typeface="Segoe UI" pitchFamily="34" charset="-122"/>
                <a:cs typeface="Segoe UI" pitchFamily="34" charset="-120"/>
              </a:rPr>
              <a:t>Mục tiêu:  tìm bài “Saudis to host</a:t>
            </a:r>
            <a:endParaRPr lang="en-US" sz="1100" dirty="0"/>
          </a:p>
          <a:p>
            <a:pPr algn="l" indent="0" marL="0">
              <a:lnSpc>
                <a:spcPct val="130000"/>
              </a:lnSpc>
              <a:buNone/>
            </a:pPr>
            <a:r>
              <a:rPr lang="en-US" sz="1100" dirty="0">
                <a:solidFill>
                  <a:srgbClr val="1D2733"/>
                </a:solidFill>
                <a:latin typeface="Segoe UI" pitchFamily="34" charset="0"/>
                <a:ea typeface="Segoe UI" pitchFamily="34" charset="-122"/>
                <a:cs typeface="Segoe UI" pitchFamily="34" charset="-120"/>
              </a:rPr>
              <a:t>Ukraine’s peace summit”</a:t>
            </a:r>
            <a:endParaRPr lang="en-US" sz="1100" dirty="0"/>
          </a:p>
        </p:txBody>
      </p:sp>
      <p:sp>
        <p:nvSpPr>
          <p:cNvPr id="9" name="Text 7"/>
          <p:cNvSpPr/>
          <p:nvPr/>
        </p:nvSpPr>
        <p:spPr>
          <a:xfrm>
            <a:off x="1097280" y="3566160"/>
            <a:ext cx="5029200" cy="640080"/>
          </a:xfrm>
          <a:prstGeom prst="rect">
            <a:avLst/>
          </a:prstGeom>
          <a:noFill/>
          <a:ln/>
        </p:spPr>
        <p:txBody>
          <a:bodyPr wrap="square" lIns="0" tIns="0" rIns="0" bIns="0" rtlCol="0" anchor="t"/>
          <a:lstStyle/>
          <a:p>
            <a:pPr algn="l" indent="0" marL="0">
              <a:lnSpc>
                <a:spcPct val="135000"/>
              </a:lnSpc>
              <a:buNone/>
            </a:pPr>
            <a:r>
              <a:rPr lang="en-US" sz="1050" dirty="0">
                <a:solidFill>
                  <a:srgbClr val="454C55"/>
                </a:solidFill>
                <a:latin typeface="Segoe UI" pitchFamily="34" charset="0"/>
                <a:ea typeface="Segoe UI" pitchFamily="34" charset="-122"/>
                <a:cs typeface="Segoe UI" pitchFamily="34" charset="-120"/>
              </a:rPr>
              <a:t>Chữ nhìn thấy:  “Search Publications, Stories &amp; Interest”</a:t>
            </a:r>
            <a:endParaRPr lang="en-US" sz="1050" dirty="0"/>
          </a:p>
          <a:p>
            <a:pPr algn="l" indent="0" marL="0">
              <a:lnSpc>
                <a:spcPct val="135000"/>
              </a:lnSpc>
              <a:buNone/>
            </a:pPr>
            <a:r>
              <a:rPr lang="en-US" sz="1050" dirty="0">
                <a:solidFill>
                  <a:srgbClr val="454C55"/>
                </a:solidFill>
                <a:latin typeface="Segoe UI" pitchFamily="34" charset="0"/>
                <a:ea typeface="Segoe UI" pitchFamily="34" charset="-122"/>
                <a:cs typeface="Segoe UI" pitchFamily="34" charset="-120"/>
              </a:rPr>
              <a:t>(trên đỉnh, giữa)  ·  “Recommended”  ·  …</a:t>
            </a:r>
            <a:endParaRPr lang="en-US" sz="1050" dirty="0"/>
          </a:p>
        </p:txBody>
      </p:sp>
      <p:sp>
        <p:nvSpPr>
          <p:cNvPr id="10" name="Text 8"/>
          <p:cNvSpPr/>
          <p:nvPr/>
        </p:nvSpPr>
        <p:spPr>
          <a:xfrm>
            <a:off x="5001768" y="4224528"/>
            <a:ext cx="1097280" cy="256032"/>
          </a:xfrm>
          <a:prstGeom prst="rect">
            <a:avLst/>
          </a:prstGeom>
          <a:noFill/>
          <a:ln/>
        </p:spPr>
        <p:txBody>
          <a:bodyPr wrap="square" lIns="0" tIns="0" rIns="0" bIns="0" rtlCol="0" anchor="t"/>
          <a:lstStyle/>
          <a:p>
            <a:pPr algn="l" indent="0" marL="0">
              <a:buNone/>
            </a:pPr>
            <a:r>
              <a:rPr lang="en-US" sz="1000" i="1" dirty="0">
                <a:solidFill>
                  <a:srgbClr val="8B929B"/>
                </a:solidFill>
                <a:latin typeface="Segoe UI" pitchFamily="34" charset="0"/>
                <a:ea typeface="Segoe UI" pitchFamily="34" charset="-122"/>
                <a:cs typeface="Segoe UI" pitchFamily="34" charset="-120"/>
              </a:rPr>
              <a:t>← khâu 1</a:t>
            </a:r>
            <a:endParaRPr lang="en-US" sz="1000" dirty="0"/>
          </a:p>
        </p:txBody>
      </p:sp>
      <p:sp>
        <p:nvSpPr>
          <p:cNvPr id="11" name="Shape 9"/>
          <p:cNvSpPr/>
          <p:nvPr/>
        </p:nvSpPr>
        <p:spPr>
          <a:xfrm>
            <a:off x="6355080" y="3383280"/>
            <a:ext cx="320040" cy="0"/>
          </a:xfrm>
          <a:prstGeom prst="line">
            <a:avLst/>
          </a:prstGeom>
          <a:noFill/>
          <a:ln w="31750">
            <a:solidFill>
              <a:srgbClr val="BE5A2E"/>
            </a:solidFill>
            <a:prstDash val="solid"/>
            <a:tailEnd type="triangle"/>
          </a:ln>
        </p:spPr>
      </p:sp>
      <p:sp>
        <p:nvSpPr>
          <p:cNvPr id="12" name="Shape 10"/>
          <p:cNvSpPr/>
          <p:nvPr/>
        </p:nvSpPr>
        <p:spPr>
          <a:xfrm>
            <a:off x="6858000" y="2240280"/>
            <a:ext cx="4480560" cy="2331720"/>
          </a:xfrm>
          <a:prstGeom prst="roundRect">
            <a:avLst>
              <a:gd name="adj" fmla="val 3922"/>
            </a:avLst>
          </a:prstGeom>
          <a:solidFill>
            <a:srgbClr val="F7EBE3"/>
          </a:solidFill>
          <a:ln/>
        </p:spPr>
      </p:sp>
      <p:sp>
        <p:nvSpPr>
          <p:cNvPr id="13" name="Text 11"/>
          <p:cNvSpPr/>
          <p:nvPr/>
        </p:nvSpPr>
        <p:spPr>
          <a:xfrm>
            <a:off x="7114032" y="2340864"/>
            <a:ext cx="4023360" cy="274320"/>
          </a:xfrm>
          <a:prstGeom prst="rect">
            <a:avLst/>
          </a:prstGeom>
          <a:noFill/>
          <a:ln/>
        </p:spPr>
        <p:txBody>
          <a:bodyPr wrap="square" lIns="0" tIns="0" rIns="0" bIns="0" rtlCol="0" anchor="t"/>
          <a:lstStyle/>
          <a:p>
            <a:pPr algn="l" indent="0" marL="0">
              <a:buNone/>
            </a:pPr>
            <a:r>
              <a:rPr lang="en-US" sz="1150" b="1" spc="150" kern="0" dirty="0">
                <a:solidFill>
                  <a:srgbClr val="BE5A2E"/>
                </a:solidFill>
                <a:latin typeface="Segoe UI" pitchFamily="34" charset="0"/>
                <a:ea typeface="Segoe UI" pitchFamily="34" charset="-122"/>
                <a:cs typeface="Segoe UI" pitchFamily="34" charset="-120"/>
              </a:rPr>
              <a:t>ĐÁP ÁN MẪU</a:t>
            </a:r>
            <a:endParaRPr lang="en-US" sz="1150" dirty="0"/>
          </a:p>
        </p:txBody>
      </p:sp>
      <p:sp>
        <p:nvSpPr>
          <p:cNvPr id="14" name="Shape 12"/>
          <p:cNvSpPr/>
          <p:nvPr/>
        </p:nvSpPr>
        <p:spPr>
          <a:xfrm>
            <a:off x="7114032" y="2670048"/>
            <a:ext cx="3977640" cy="868680"/>
          </a:xfrm>
          <a:prstGeom prst="roundRect">
            <a:avLst>
              <a:gd name="adj" fmla="val 7368"/>
            </a:avLst>
          </a:prstGeom>
          <a:solidFill>
            <a:srgbClr val="FFFFFF"/>
          </a:solidFill>
          <a:ln w="16510">
            <a:solidFill>
              <a:srgbClr val="BE5A2E"/>
            </a:solidFill>
            <a:prstDash val="solid"/>
          </a:ln>
        </p:spPr>
      </p:sp>
      <p:sp>
        <p:nvSpPr>
          <p:cNvPr id="15" name="Text 13"/>
          <p:cNvSpPr/>
          <p:nvPr/>
        </p:nvSpPr>
        <p:spPr>
          <a:xfrm>
            <a:off x="7223760" y="2670048"/>
            <a:ext cx="3749040" cy="868680"/>
          </a:xfrm>
          <a:prstGeom prst="rect">
            <a:avLst/>
          </a:prstGeom>
          <a:noFill/>
          <a:ln/>
        </p:spPr>
        <p:txBody>
          <a:bodyPr wrap="square" lIns="0" tIns="0" rIns="0" bIns="0" rtlCol="0" anchor="ctr"/>
          <a:lstStyle/>
          <a:p>
            <a:pPr algn="l" indent="0" marL="0">
              <a:lnSpc>
                <a:spcPct val="135000"/>
              </a:lnSpc>
              <a:buNone/>
            </a:pPr>
            <a:r>
              <a:rPr lang="en-US" sz="1050" dirty="0">
                <a:solidFill>
                  <a:srgbClr val="BE5A2E"/>
                </a:solidFill>
                <a:latin typeface="Segoe UI" pitchFamily="34" charset="0"/>
                <a:ea typeface="Segoe UI" pitchFamily="34" charset="-122"/>
                <a:cs typeface="Segoe UI" pitchFamily="34" charset="-120"/>
              </a:rPr>
              <a:t>[ô nhập liệu | “Search Publications…”</a:t>
            </a:r>
            <a:endParaRPr lang="en-US" sz="1050" dirty="0"/>
          </a:p>
          <a:p>
            <a:pPr algn="l" indent="0" marL="0">
              <a:lnSpc>
                <a:spcPct val="135000"/>
              </a:lnSpc>
              <a:buNone/>
            </a:pPr>
            <a:r>
              <a:rPr lang="en-US" sz="1050" dirty="0">
                <a:solidFill>
                  <a:srgbClr val="BE5A2E"/>
                </a:solidFill>
                <a:latin typeface="Segoe UI" pitchFamily="34" charset="0"/>
                <a:ea typeface="Segoe UI" pitchFamily="34" charset="-122"/>
                <a:cs typeface="Segoe UI" pitchFamily="34" charset="-120"/>
              </a:rPr>
              <a:t>| trên đỉnh, giữa]</a:t>
            </a:r>
            <a:endParaRPr lang="en-US" sz="1050" dirty="0"/>
          </a:p>
        </p:txBody>
      </p:sp>
      <p:sp>
        <p:nvSpPr>
          <p:cNvPr id="16" name="Text 14"/>
          <p:cNvSpPr/>
          <p:nvPr/>
        </p:nvSpPr>
        <p:spPr>
          <a:xfrm>
            <a:off x="7114032" y="3566160"/>
            <a:ext cx="2011680" cy="237744"/>
          </a:xfrm>
          <a:prstGeom prst="rect">
            <a:avLst/>
          </a:prstGeom>
          <a:noFill/>
          <a:ln/>
        </p:spPr>
        <p:txBody>
          <a:bodyPr wrap="square" lIns="0" tIns="0" rIns="0" bIns="0" rtlCol="0" anchor="t"/>
          <a:lstStyle/>
          <a:p>
            <a:pPr algn="l" indent="0" marL="0">
              <a:buNone/>
            </a:pPr>
            <a:r>
              <a:rPr lang="en-US" sz="1000" i="1" dirty="0">
                <a:solidFill>
                  <a:srgbClr val="8B929B"/>
                </a:solidFill>
                <a:latin typeface="Segoe UI" pitchFamily="34" charset="0"/>
                <a:ea typeface="Segoe UI" pitchFamily="34" charset="-122"/>
                <a:cs typeface="Segoe UI" pitchFamily="34" charset="-120"/>
              </a:rPr>
              <a:t>← khâu 3 dựng</a:t>
            </a:r>
            <a:endParaRPr lang="en-US" sz="1000" dirty="0"/>
          </a:p>
        </p:txBody>
      </p:sp>
      <p:sp>
        <p:nvSpPr>
          <p:cNvPr id="17" name="Shape 15"/>
          <p:cNvSpPr/>
          <p:nvPr/>
        </p:nvSpPr>
        <p:spPr>
          <a:xfrm>
            <a:off x="7114032" y="3803904"/>
            <a:ext cx="3977640" cy="685800"/>
          </a:xfrm>
          <a:prstGeom prst="roundRect">
            <a:avLst>
              <a:gd name="adj" fmla="val 9333"/>
            </a:avLst>
          </a:prstGeom>
          <a:solidFill>
            <a:srgbClr val="FFFFFF"/>
          </a:solidFill>
          <a:ln w="12700">
            <a:solidFill>
              <a:srgbClr val="DBE0E6"/>
            </a:solidFill>
            <a:prstDash val="solid"/>
          </a:ln>
        </p:spPr>
      </p:sp>
      <p:sp>
        <p:nvSpPr>
          <p:cNvPr id="18" name="Text 16"/>
          <p:cNvSpPr/>
          <p:nvPr/>
        </p:nvSpPr>
        <p:spPr>
          <a:xfrm>
            <a:off x="7223760" y="3803904"/>
            <a:ext cx="3749040" cy="685800"/>
          </a:xfrm>
          <a:prstGeom prst="rect">
            <a:avLst/>
          </a:prstGeom>
          <a:noFill/>
          <a:ln/>
        </p:spPr>
        <p:txBody>
          <a:bodyPr wrap="square" lIns="0" tIns="0" rIns="0" bIns="0" rtlCol="0" anchor="ctr"/>
          <a:lstStyle/>
          <a:p>
            <a:pPr algn="l" indent="0" marL="0">
              <a:lnSpc>
                <a:spcPct val="130000"/>
              </a:lnSpc>
              <a:buNone/>
            </a:pPr>
            <a:r>
              <a:rPr lang="en-US" sz="1050" dirty="0">
                <a:solidFill>
                  <a:srgbClr val="1D2733"/>
                </a:solidFill>
                <a:latin typeface="Segoe UI" pitchFamily="34" charset="0"/>
                <a:ea typeface="Segoe UI" pitchFamily="34" charset="-122"/>
                <a:cs typeface="Segoe UI" pitchFamily="34" charset="-120"/>
              </a:rPr>
              <a:t>Tap the “Search Publications…” bar</a:t>
            </a:r>
            <a:endParaRPr lang="en-US" sz="1050" dirty="0"/>
          </a:p>
          <a:p>
            <a:pPr algn="l" indent="0" marL="0">
              <a:lnSpc>
                <a:spcPct val="130000"/>
              </a:lnSpc>
              <a:buNone/>
            </a:pPr>
            <a:r>
              <a:rPr lang="en-US" sz="1050" dirty="0">
                <a:solidFill>
                  <a:srgbClr val="1D2733"/>
                </a:solidFill>
                <a:latin typeface="Segoe UI" pitchFamily="34" charset="0"/>
                <a:ea typeface="Segoe UI" pitchFamily="34" charset="-122"/>
                <a:cs typeface="Segoe UI" pitchFamily="34" charset="-120"/>
              </a:rPr>
              <a:t>at the top</a:t>
            </a:r>
            <a:endParaRPr lang="en-US" sz="1050" dirty="0"/>
          </a:p>
        </p:txBody>
      </p:sp>
      <p:sp>
        <p:nvSpPr>
          <p:cNvPr id="19" name="Text 17"/>
          <p:cNvSpPr/>
          <p:nvPr/>
        </p:nvSpPr>
        <p:spPr>
          <a:xfrm>
            <a:off x="7114032" y="4517136"/>
            <a:ext cx="2011680" cy="237744"/>
          </a:xfrm>
          <a:prstGeom prst="rect">
            <a:avLst/>
          </a:prstGeom>
          <a:noFill/>
          <a:ln/>
        </p:spPr>
        <p:txBody>
          <a:bodyPr wrap="square" lIns="0" tIns="0" rIns="0" bIns="0" rtlCol="0" anchor="t"/>
          <a:lstStyle/>
          <a:p>
            <a:pPr algn="l" indent="0" marL="0">
              <a:buNone/>
            </a:pPr>
            <a:r>
              <a:rPr lang="en-US" sz="1000" i="1" dirty="0">
                <a:solidFill>
                  <a:srgbClr val="8B929B"/>
                </a:solidFill>
                <a:latin typeface="Segoe UI" pitchFamily="34" charset="0"/>
                <a:ea typeface="Segoe UI" pitchFamily="34" charset="-122"/>
                <a:cs typeface="Segoe UI" pitchFamily="34" charset="-120"/>
              </a:rPr>
              <a:t>← khâu 2 viết</a:t>
            </a:r>
            <a:endParaRPr lang="en-US" sz="1000" dirty="0"/>
          </a:p>
        </p:txBody>
      </p:sp>
      <p:sp>
        <p:nvSpPr>
          <p:cNvPr id="20" name="Shape 18"/>
          <p:cNvSpPr/>
          <p:nvPr/>
        </p:nvSpPr>
        <p:spPr>
          <a:xfrm>
            <a:off x="6035040" y="4709160"/>
            <a:ext cx="0" cy="274320"/>
          </a:xfrm>
          <a:prstGeom prst="line">
            <a:avLst/>
          </a:prstGeom>
          <a:noFill/>
          <a:ln w="31750">
            <a:solidFill>
              <a:srgbClr val="BE5A2E"/>
            </a:solidFill>
            <a:prstDash val="solid"/>
            <a:tailEnd type="triangle"/>
          </a:ln>
        </p:spPr>
      </p:sp>
      <p:sp>
        <p:nvSpPr>
          <p:cNvPr id="21" name="Shape 19"/>
          <p:cNvSpPr/>
          <p:nvPr/>
        </p:nvSpPr>
        <p:spPr>
          <a:xfrm>
            <a:off x="841248" y="5029200"/>
            <a:ext cx="10506456" cy="658368"/>
          </a:xfrm>
          <a:prstGeom prst="roundRect">
            <a:avLst>
              <a:gd name="adj" fmla="val 12500"/>
            </a:avLst>
          </a:prstGeom>
          <a:solidFill>
            <a:srgbClr val="17233B"/>
          </a:solidFill>
          <a:ln/>
        </p:spPr>
      </p:sp>
      <p:sp>
        <p:nvSpPr>
          <p:cNvPr id="22" name="Text 20"/>
          <p:cNvSpPr/>
          <p:nvPr/>
        </p:nvSpPr>
        <p:spPr>
          <a:xfrm>
            <a:off x="841248" y="5029200"/>
            <a:ext cx="10506456"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một dòng dữ liệu   ×   hàng nghìn bước   =   bộ dữ liệu huấn luyện   →   khâu 5</a:t>
            </a:r>
            <a:endParaRPr lang="en-US" sz="1400" dirty="0"/>
          </a:p>
        </p:txBody>
      </p:sp>
      <p:sp>
        <p:nvSpPr>
          <p:cNvPr id="23" name="Text 21"/>
          <p:cNvSpPr/>
          <p:nvPr/>
        </p:nvSpPr>
        <p:spPr>
          <a:xfrm>
            <a:off x="841248" y="5852160"/>
            <a:ext cx="10506456" cy="457200"/>
          </a:xfrm>
          <a:prstGeom prst="rect">
            <a:avLst/>
          </a:prstGeom>
          <a:noFill/>
          <a:ln/>
        </p:spPr>
        <p:txBody>
          <a:bodyPr wrap="square" lIns="0" tIns="0" rIns="0" bIns="0" rtlCol="0" anchor="t"/>
          <a:lstStyle/>
          <a:p>
            <a:pPr algn="l" indent="0" marL="0">
              <a:lnSpc>
                <a:spcPct val="120000"/>
              </a:lnSpc>
              <a:buNone/>
            </a:pPr>
            <a:r>
              <a:rPr lang="en-US" sz="1500" b="1" dirty="0">
                <a:solidFill>
                  <a:srgbClr val="1D2733"/>
                </a:solidFill>
                <a:latin typeface="Cambria" pitchFamily="34" charset="0"/>
                <a:ea typeface="Cambria" pitchFamily="34" charset="-122"/>
                <a:cs typeface="Cambria" pitchFamily="34" charset="-120"/>
              </a:rPr>
              <a:t>Lúc huấn luyện, mô hình tập viết ra đúng đáp án mẫu này.</a:t>
            </a:r>
            <a:endParaRPr lang="en-US" sz="1500" dirty="0"/>
          </a:p>
          <a:p>
            <a:pPr algn="l" indent="0" marL="0">
              <a:lnSpc>
                <a:spcPct val="120000"/>
              </a:lnSpc>
              <a:buNone/>
            </a:pPr>
            <a:r>
              <a:rPr lang="en-US" sz="1500" b="1" dirty="0">
                <a:solidFill>
                  <a:srgbClr val="1D2733"/>
                </a:solidFill>
                <a:latin typeface="Cambria" pitchFamily="34" charset="0"/>
                <a:ea typeface="Cambria" pitchFamily="34" charset="-122"/>
                <a:cs typeface="Cambria" pitchFamily="34" charset="-120"/>
              </a:rPr>
              <a:t>Lúc chạy thật nó tự viết, không ai đưa gì.</a:t>
            </a:r>
            <a:endParaRPr lang="en-US" sz="1500" dirty="0"/>
          </a:p>
        </p:txBody>
      </p:sp>
      <p:sp>
        <p:nvSpPr>
          <p:cNvPr id="25" name="Text 22"/>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85216"/>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KHÂU 5 · HUẤN LUYỆN</a:t>
            </a:r>
            <a:endParaRPr lang="en-US" sz="1250" dirty="0"/>
          </a:p>
        </p:txBody>
      </p:sp>
      <p:sp>
        <p:nvSpPr>
          <p:cNvPr id="3" name="Text 1"/>
          <p:cNvSpPr/>
          <p:nvPr/>
        </p:nvSpPr>
        <p:spPr>
          <a:xfrm>
            <a:off x="841248" y="914400"/>
            <a:ext cx="10506456" cy="82296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Qwen2.5-VL-3B, chỉnh nhẹ bằng QLoRA trên một card thuê</a:t>
            </a:r>
            <a:endParaRPr lang="en-US" sz="2700" dirty="0"/>
          </a:p>
        </p:txBody>
      </p:sp>
      <p:sp>
        <p:nvSpPr>
          <p:cNvPr id="4" name="Shape 2"/>
          <p:cNvSpPr/>
          <p:nvPr/>
        </p:nvSpPr>
        <p:spPr>
          <a:xfrm>
            <a:off x="841248" y="2377440"/>
            <a:ext cx="10506456" cy="749808"/>
          </a:xfrm>
          <a:prstGeom prst="roundRect">
            <a:avLst>
              <a:gd name="adj" fmla="val 9756"/>
            </a:avLst>
          </a:prstGeom>
          <a:solidFill>
            <a:srgbClr val="F3F5F7"/>
          </a:solidFill>
          <a:ln/>
        </p:spPr>
      </p:sp>
      <p:sp>
        <p:nvSpPr>
          <p:cNvPr id="5" name="Text 3"/>
          <p:cNvSpPr/>
          <p:nvPr/>
        </p:nvSpPr>
        <p:spPr>
          <a:xfrm>
            <a:off x="1115568" y="2377440"/>
            <a:ext cx="3657600" cy="749808"/>
          </a:xfrm>
          <a:prstGeom prst="rect">
            <a:avLst/>
          </a:prstGeom>
          <a:noFill/>
          <a:ln/>
        </p:spPr>
        <p:txBody>
          <a:bodyPr wrap="square" lIns="0" tIns="0" rIns="0" bIns="0" rtlCol="0" anchor="ctr"/>
          <a:lstStyle/>
          <a:p>
            <a:pPr algn="l" indent="0" marL="0">
              <a:buNone/>
            </a:pPr>
            <a:r>
              <a:rPr lang="en-US" sz="1400" b="1" dirty="0">
                <a:solidFill>
                  <a:srgbClr val="1D2733"/>
                </a:solidFill>
                <a:latin typeface="Segoe UI" pitchFamily="34" charset="0"/>
                <a:ea typeface="Segoe UI" pitchFamily="34" charset="-122"/>
                <a:cs typeface="Segoe UI" pitchFamily="34" charset="-120"/>
              </a:rPr>
              <a:t>Mô hình mở</a:t>
            </a:r>
            <a:endParaRPr lang="en-US" sz="1400" dirty="0"/>
          </a:p>
        </p:txBody>
      </p:sp>
      <p:sp>
        <p:nvSpPr>
          <p:cNvPr id="6" name="Text 4"/>
          <p:cNvSpPr/>
          <p:nvPr/>
        </p:nvSpPr>
        <p:spPr>
          <a:xfrm>
            <a:off x="4864608" y="2377440"/>
            <a:ext cx="6217920" cy="749808"/>
          </a:xfrm>
          <a:prstGeom prst="rect">
            <a:avLst/>
          </a:prstGeom>
          <a:noFill/>
          <a:ln/>
        </p:spPr>
        <p:txBody>
          <a:bodyPr wrap="square" lIns="0" tIns="0" rIns="0" bIns="0" rtlCol="0" anchor="ctr"/>
          <a:lstStyle/>
          <a:p>
            <a:pPr algn="l" indent="0" marL="0">
              <a:lnSpc>
                <a:spcPct val="120000"/>
              </a:lnSpc>
              <a:buNone/>
            </a:pPr>
            <a:r>
              <a:rPr lang="en-US" sz="1250" dirty="0">
                <a:solidFill>
                  <a:srgbClr val="454C55"/>
                </a:solidFill>
                <a:latin typeface="Segoe UI" pitchFamily="34" charset="0"/>
                <a:ea typeface="Segoe UI" pitchFamily="34" charset="-122"/>
                <a:cs typeface="Segoe UI" pitchFamily="34" charset="-120"/>
              </a:rPr>
              <a:t>để tự huấn luyện được và chạy offline</a:t>
            </a:r>
            <a:endParaRPr lang="en-US" sz="1250" dirty="0"/>
          </a:p>
        </p:txBody>
      </p:sp>
      <p:sp>
        <p:nvSpPr>
          <p:cNvPr id="7" name="Shape 5"/>
          <p:cNvSpPr/>
          <p:nvPr/>
        </p:nvSpPr>
        <p:spPr>
          <a:xfrm>
            <a:off x="841248" y="3200400"/>
            <a:ext cx="10506456" cy="749808"/>
          </a:xfrm>
          <a:prstGeom prst="roundRect">
            <a:avLst>
              <a:gd name="adj" fmla="val 9756"/>
            </a:avLst>
          </a:prstGeom>
          <a:solidFill>
            <a:srgbClr val="F3F5F7"/>
          </a:solidFill>
          <a:ln/>
        </p:spPr>
      </p:sp>
      <p:sp>
        <p:nvSpPr>
          <p:cNvPr id="8" name="Text 6"/>
          <p:cNvSpPr/>
          <p:nvPr/>
        </p:nvSpPr>
        <p:spPr>
          <a:xfrm>
            <a:off x="1115568" y="3200400"/>
            <a:ext cx="3657600" cy="749808"/>
          </a:xfrm>
          <a:prstGeom prst="rect">
            <a:avLst/>
          </a:prstGeom>
          <a:noFill/>
          <a:ln/>
        </p:spPr>
        <p:txBody>
          <a:bodyPr wrap="square" lIns="0" tIns="0" rIns="0" bIns="0" rtlCol="0" anchor="ctr"/>
          <a:lstStyle/>
          <a:p>
            <a:pPr algn="l" indent="0" marL="0">
              <a:buNone/>
            </a:pPr>
            <a:r>
              <a:rPr lang="en-US" sz="1400" b="1" dirty="0">
                <a:solidFill>
                  <a:srgbClr val="1D2733"/>
                </a:solidFill>
                <a:latin typeface="Segoe UI" pitchFamily="34" charset="0"/>
                <a:ea typeface="Segoe UI" pitchFamily="34" charset="-122"/>
                <a:cs typeface="Segoe UI" pitchFamily="34" charset="-120"/>
              </a:rPr>
              <a:t>Nhỏ</a:t>
            </a:r>
            <a:endParaRPr lang="en-US" sz="1400" dirty="0"/>
          </a:p>
        </p:txBody>
      </p:sp>
      <p:sp>
        <p:nvSpPr>
          <p:cNvPr id="9" name="Text 7"/>
          <p:cNvSpPr/>
          <p:nvPr/>
        </p:nvSpPr>
        <p:spPr>
          <a:xfrm>
            <a:off x="4864608" y="3200400"/>
            <a:ext cx="6217920" cy="749808"/>
          </a:xfrm>
          <a:prstGeom prst="rect">
            <a:avLst/>
          </a:prstGeom>
          <a:noFill/>
          <a:ln/>
        </p:spPr>
        <p:txBody>
          <a:bodyPr wrap="square" lIns="0" tIns="0" rIns="0" bIns="0" rtlCol="0" anchor="ctr"/>
          <a:lstStyle/>
          <a:p>
            <a:pPr algn="l" indent="0" marL="0">
              <a:lnSpc>
                <a:spcPct val="120000"/>
              </a:lnSpc>
              <a:buNone/>
            </a:pPr>
            <a:r>
              <a:rPr lang="en-US" sz="1250" dirty="0">
                <a:solidFill>
                  <a:srgbClr val="454C55"/>
                </a:solidFill>
                <a:latin typeface="Segoe UI" pitchFamily="34" charset="0"/>
                <a:ea typeface="Segoe UI" pitchFamily="34" charset="-122"/>
                <a:cs typeface="Segoe UI" pitchFamily="34" charset="-120"/>
              </a:rPr>
              <a:t>3 tỉ tham số vừa một card 24GB</a:t>
            </a:r>
            <a:endParaRPr lang="en-US" sz="1250" dirty="0"/>
          </a:p>
        </p:txBody>
      </p:sp>
      <p:sp>
        <p:nvSpPr>
          <p:cNvPr id="10" name="Shape 8"/>
          <p:cNvSpPr/>
          <p:nvPr/>
        </p:nvSpPr>
        <p:spPr>
          <a:xfrm>
            <a:off x="841248" y="4023360"/>
            <a:ext cx="10506456" cy="749808"/>
          </a:xfrm>
          <a:prstGeom prst="roundRect">
            <a:avLst>
              <a:gd name="adj" fmla="val 9756"/>
            </a:avLst>
          </a:prstGeom>
          <a:solidFill>
            <a:srgbClr val="F3F5F7"/>
          </a:solidFill>
          <a:ln/>
        </p:spPr>
      </p:sp>
      <p:sp>
        <p:nvSpPr>
          <p:cNvPr id="11" name="Text 9"/>
          <p:cNvSpPr/>
          <p:nvPr/>
        </p:nvSpPr>
        <p:spPr>
          <a:xfrm>
            <a:off x="1115568" y="4023360"/>
            <a:ext cx="3657600" cy="749808"/>
          </a:xfrm>
          <a:prstGeom prst="rect">
            <a:avLst/>
          </a:prstGeom>
          <a:noFill/>
          <a:ln/>
        </p:spPr>
        <p:txBody>
          <a:bodyPr wrap="square" lIns="0" tIns="0" rIns="0" bIns="0" rtlCol="0" anchor="ctr"/>
          <a:lstStyle/>
          <a:p>
            <a:pPr algn="l" indent="0" marL="0">
              <a:buNone/>
            </a:pPr>
            <a:r>
              <a:rPr lang="en-US" sz="1400" b="1" dirty="0">
                <a:solidFill>
                  <a:srgbClr val="1D2733"/>
                </a:solidFill>
                <a:latin typeface="Segoe UI" pitchFamily="34" charset="0"/>
                <a:ea typeface="Segoe UI" pitchFamily="34" charset="-122"/>
                <a:cs typeface="Segoe UI" pitchFamily="34" charset="-120"/>
              </a:rPr>
              <a:t>Đọc được ảnh dày chữ</a:t>
            </a:r>
            <a:endParaRPr lang="en-US" sz="1400" dirty="0"/>
          </a:p>
        </p:txBody>
      </p:sp>
      <p:sp>
        <p:nvSpPr>
          <p:cNvPr id="12" name="Text 10"/>
          <p:cNvSpPr/>
          <p:nvPr/>
        </p:nvSpPr>
        <p:spPr>
          <a:xfrm>
            <a:off x="4864608" y="4023360"/>
            <a:ext cx="6217920" cy="749808"/>
          </a:xfrm>
          <a:prstGeom prst="rect">
            <a:avLst/>
          </a:prstGeom>
          <a:noFill/>
          <a:ln/>
        </p:spPr>
        <p:txBody>
          <a:bodyPr wrap="square" lIns="0" tIns="0" rIns="0" bIns="0" rtlCol="0" anchor="ctr"/>
          <a:lstStyle/>
          <a:p>
            <a:pPr algn="l" indent="0" marL="0">
              <a:lnSpc>
                <a:spcPct val="120000"/>
              </a:lnSpc>
              <a:buNone/>
            </a:pPr>
            <a:r>
              <a:rPr lang="en-US" sz="1250" dirty="0">
                <a:solidFill>
                  <a:srgbClr val="454C55"/>
                </a:solidFill>
                <a:latin typeface="Segoe UI" pitchFamily="34" charset="0"/>
                <a:ea typeface="Segoe UI" pitchFamily="34" charset="-122"/>
                <a:cs typeface="Segoe UI" pitchFamily="34" charset="-120"/>
              </a:rPr>
              <a:t>mô hình nhỏ khác nén ảnh, mất chữ nút</a:t>
            </a:r>
            <a:endParaRPr lang="en-US" sz="1250" dirty="0"/>
          </a:p>
        </p:txBody>
      </p:sp>
      <p:sp>
        <p:nvSpPr>
          <p:cNvPr id="13" name="Shape 11"/>
          <p:cNvSpPr/>
          <p:nvPr/>
        </p:nvSpPr>
        <p:spPr>
          <a:xfrm>
            <a:off x="841248" y="4846320"/>
            <a:ext cx="10506456" cy="749808"/>
          </a:xfrm>
          <a:prstGeom prst="roundRect">
            <a:avLst>
              <a:gd name="adj" fmla="val 9756"/>
            </a:avLst>
          </a:prstGeom>
          <a:solidFill>
            <a:srgbClr val="F3F5F7"/>
          </a:solidFill>
          <a:ln/>
        </p:spPr>
      </p:sp>
      <p:sp>
        <p:nvSpPr>
          <p:cNvPr id="14" name="Text 12"/>
          <p:cNvSpPr/>
          <p:nvPr/>
        </p:nvSpPr>
        <p:spPr>
          <a:xfrm>
            <a:off x="1115568" y="4846320"/>
            <a:ext cx="3657600" cy="749808"/>
          </a:xfrm>
          <a:prstGeom prst="rect">
            <a:avLst/>
          </a:prstGeom>
          <a:noFill/>
          <a:ln/>
        </p:spPr>
        <p:txBody>
          <a:bodyPr wrap="square" lIns="0" tIns="0" rIns="0" bIns="0" rtlCol="0" anchor="ctr"/>
          <a:lstStyle/>
          <a:p>
            <a:pPr algn="l" indent="0" marL="0">
              <a:buNone/>
            </a:pPr>
            <a:r>
              <a:rPr lang="en-US" sz="1400" b="1" dirty="0">
                <a:solidFill>
                  <a:srgbClr val="1D2733"/>
                </a:solidFill>
                <a:latin typeface="Segoe UI" pitchFamily="34" charset="0"/>
                <a:ea typeface="Segoe UI" pitchFamily="34" charset="-122"/>
                <a:cs typeface="Segoe UI" pitchFamily="34" charset="-120"/>
              </a:rPr>
              <a:t>Có tiền lệ cùng miền</a:t>
            </a:r>
            <a:endParaRPr lang="en-US" sz="1400" dirty="0"/>
          </a:p>
        </p:txBody>
      </p:sp>
      <p:sp>
        <p:nvSpPr>
          <p:cNvPr id="15" name="Text 13"/>
          <p:cNvSpPr/>
          <p:nvPr/>
        </p:nvSpPr>
        <p:spPr>
          <a:xfrm>
            <a:off x="4864608" y="4846320"/>
            <a:ext cx="6217920" cy="749808"/>
          </a:xfrm>
          <a:prstGeom prst="rect">
            <a:avLst/>
          </a:prstGeom>
          <a:noFill/>
          <a:ln/>
        </p:spPr>
        <p:txBody>
          <a:bodyPr wrap="square" lIns="0" tIns="0" rIns="0" bIns="0" rtlCol="0" anchor="ctr"/>
          <a:lstStyle/>
          <a:p>
            <a:pPr algn="l" indent="0" marL="0">
              <a:lnSpc>
                <a:spcPct val="120000"/>
              </a:lnSpc>
              <a:buNone/>
            </a:pPr>
            <a:r>
              <a:rPr lang="en-US" sz="1250" dirty="0">
                <a:solidFill>
                  <a:srgbClr val="454C55"/>
                </a:solidFill>
                <a:latin typeface="Segoe UI" pitchFamily="34" charset="0"/>
                <a:ea typeface="Segoe UI" pitchFamily="34" charset="-122"/>
                <a:cs typeface="Segoe UI" pitchFamily="34" charset="-120"/>
              </a:rPr>
              <a:t>nhiều mô hình giao diện dựng trên nền này</a:t>
            </a:r>
            <a:endParaRPr lang="en-US" sz="1250" dirty="0"/>
          </a:p>
        </p:txBody>
      </p:sp>
      <p:sp>
        <p:nvSpPr>
          <p:cNvPr id="16" name="Shape 14"/>
          <p:cNvSpPr/>
          <p:nvPr/>
        </p:nvSpPr>
        <p:spPr>
          <a:xfrm>
            <a:off x="841248" y="5760720"/>
            <a:ext cx="10506456" cy="658368"/>
          </a:xfrm>
          <a:prstGeom prst="roundRect">
            <a:avLst>
              <a:gd name="adj" fmla="val 12500"/>
            </a:avLst>
          </a:prstGeom>
          <a:solidFill>
            <a:srgbClr val="FFFFFF"/>
          </a:solidFill>
          <a:ln w="12700">
            <a:solidFill>
              <a:srgbClr val="DBE0E6"/>
            </a:solidFill>
            <a:prstDash val="solid"/>
          </a:ln>
        </p:spPr>
      </p:sp>
      <p:sp>
        <p:nvSpPr>
          <p:cNvPr id="17" name="Text 15"/>
          <p:cNvSpPr/>
          <p:nvPr/>
        </p:nvSpPr>
        <p:spPr>
          <a:xfrm>
            <a:off x="1115568" y="5760720"/>
            <a:ext cx="9957816" cy="658368"/>
          </a:xfrm>
          <a:prstGeom prst="rect">
            <a:avLst/>
          </a:prstGeom>
          <a:noFill/>
          <a:ln/>
        </p:spPr>
        <p:txBody>
          <a:bodyPr wrap="square" lIns="0" tIns="0" rIns="0" bIns="0" rtlCol="0" anchor="ctr"/>
          <a:lstStyle/>
          <a:p>
            <a:pPr algn="l" indent="0" marL="0">
              <a:lnSpc>
                <a:spcPct val="128000"/>
              </a:lnSpc>
              <a:buNone/>
            </a:pPr>
            <a:r>
              <a:rPr lang="en-US" sz="1250" b="1" dirty="0">
                <a:solidFill>
                  <a:srgbClr val="1D2733"/>
                </a:solidFill>
                <a:latin typeface="Segoe UI" pitchFamily="34" charset="0"/>
                <a:ea typeface="Segoe UI" pitchFamily="34" charset="-122"/>
                <a:cs typeface="Segoe UI" pitchFamily="34" charset="-120"/>
              </a:rPr>
              <a:t>QLoRA:  </a:t>
            </a:r>
            <a:pPr algn="l" indent="0" marL="0">
              <a:lnSpc>
                <a:spcPct val="128000"/>
              </a:lnSpc>
              <a:buNone/>
            </a:pPr>
            <a:r>
              <a:rPr lang="en-US" sz="1250" dirty="0">
                <a:solidFill>
                  <a:srgbClr val="454C55"/>
                </a:solidFill>
                <a:latin typeface="Segoe UI" pitchFamily="34" charset="0"/>
                <a:ea typeface="Segoe UI" pitchFamily="34" charset="-122"/>
                <a:cs typeface="Segoe UI" pitchFamily="34" charset="-120"/>
              </a:rPr>
              <a:t>chỉ chỉnh một lượng nhỏ tham số thêm vào, giữ nguyên phần lớn mô hình gốc. Nhờ vậy vừa một card thuê rẻ.</a:t>
            </a:r>
            <a:endParaRPr lang="en-US" sz="1250" dirty="0"/>
          </a:p>
        </p:txBody>
      </p:sp>
      <p:sp>
        <p:nvSpPr>
          <p:cNvPr id="19" name="Text 16"/>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85216"/>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KHÂU 6 · LÚC CHẠY THẬT</a:t>
            </a:r>
            <a:endParaRPr lang="en-US" sz="1250" dirty="0"/>
          </a:p>
        </p:txBody>
      </p:sp>
      <p:sp>
        <p:nvSpPr>
          <p:cNvPr id="3" name="Text 1"/>
          <p:cNvSpPr/>
          <p:nvPr/>
        </p:nvSpPr>
        <p:spPr>
          <a:xfrm>
            <a:off x="841248" y="914400"/>
            <a:ext cx="10506456" cy="82296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Chỉ hai thứ nằm trên máy người dùng</a:t>
            </a:r>
            <a:endParaRPr lang="en-US" sz="2700" dirty="0"/>
          </a:p>
        </p:txBody>
      </p:sp>
      <p:sp>
        <p:nvSpPr>
          <p:cNvPr id="4" name="Shape 2"/>
          <p:cNvSpPr/>
          <p:nvPr/>
        </p:nvSpPr>
        <p:spPr>
          <a:xfrm>
            <a:off x="841248" y="2377440"/>
            <a:ext cx="2331720" cy="868680"/>
          </a:xfrm>
          <a:prstGeom prst="roundRect">
            <a:avLst>
              <a:gd name="adj" fmla="val 9474"/>
            </a:avLst>
          </a:prstGeom>
          <a:solidFill>
            <a:srgbClr val="F3F5F7"/>
          </a:solidFill>
          <a:ln/>
        </p:spPr>
      </p:sp>
      <p:sp>
        <p:nvSpPr>
          <p:cNvPr id="5" name="Text 3"/>
          <p:cNvSpPr/>
          <p:nvPr/>
        </p:nvSpPr>
        <p:spPr>
          <a:xfrm>
            <a:off x="841248" y="2377440"/>
            <a:ext cx="2331720" cy="868680"/>
          </a:xfrm>
          <a:prstGeom prst="rect">
            <a:avLst/>
          </a:prstGeom>
          <a:noFill/>
          <a:ln/>
        </p:spPr>
        <p:txBody>
          <a:bodyPr wrap="square" lIns="0" tIns="0" rIns="0" bIns="0" rtlCol="0" anchor="ctr"/>
          <a:lstStyle/>
          <a:p>
            <a:pPr algn="ctr" indent="0" marL="0">
              <a:lnSpc>
                <a:spcPct val="130000"/>
              </a:lnSpc>
              <a:buNone/>
            </a:pPr>
            <a:r>
              <a:rPr lang="en-US" sz="1250" b="1" dirty="0">
                <a:solidFill>
                  <a:srgbClr val="1D2733"/>
                </a:solidFill>
                <a:latin typeface="Segoe UI" pitchFamily="34" charset="0"/>
                <a:ea typeface="Segoe UI" pitchFamily="34" charset="-122"/>
                <a:cs typeface="Segoe UI" pitchFamily="34" charset="-120"/>
              </a:rPr>
              <a:t>một ảnh</a:t>
            </a:r>
            <a:endParaRPr lang="en-US" sz="1250" dirty="0"/>
          </a:p>
          <a:p>
            <a:pPr algn="ctr" indent="0" marL="0">
              <a:lnSpc>
                <a:spcPct val="130000"/>
              </a:lnSpc>
              <a:buNone/>
            </a:pPr>
            <a:r>
              <a:rPr lang="en-US" sz="1250" b="1" dirty="0">
                <a:solidFill>
                  <a:srgbClr val="1D2733"/>
                </a:solidFill>
                <a:latin typeface="Segoe UI" pitchFamily="34" charset="0"/>
                <a:ea typeface="Segoe UI" pitchFamily="34" charset="-122"/>
                <a:cs typeface="Segoe UI" pitchFamily="34" charset="-120"/>
              </a:rPr>
              <a:t>+ một câu hỏi</a:t>
            </a:r>
            <a:endParaRPr lang="en-US" sz="1250" dirty="0"/>
          </a:p>
        </p:txBody>
      </p:sp>
      <p:sp>
        <p:nvSpPr>
          <p:cNvPr id="6" name="Shape 4"/>
          <p:cNvSpPr/>
          <p:nvPr/>
        </p:nvSpPr>
        <p:spPr>
          <a:xfrm>
            <a:off x="3291840" y="2807208"/>
            <a:ext cx="365760" cy="0"/>
          </a:xfrm>
          <a:prstGeom prst="line">
            <a:avLst/>
          </a:prstGeom>
          <a:noFill/>
          <a:ln w="31750">
            <a:solidFill>
              <a:srgbClr val="BE5A2E"/>
            </a:solidFill>
            <a:prstDash val="solid"/>
            <a:tailEnd type="triangle"/>
          </a:ln>
        </p:spPr>
      </p:sp>
      <p:sp>
        <p:nvSpPr>
          <p:cNvPr id="7" name="Shape 5"/>
          <p:cNvSpPr/>
          <p:nvPr/>
        </p:nvSpPr>
        <p:spPr>
          <a:xfrm>
            <a:off x="3840480" y="2377440"/>
            <a:ext cx="2194560" cy="868680"/>
          </a:xfrm>
          <a:prstGeom prst="roundRect">
            <a:avLst>
              <a:gd name="adj" fmla="val 9474"/>
            </a:avLst>
          </a:prstGeom>
          <a:solidFill>
            <a:srgbClr val="FFFFFF"/>
          </a:solidFill>
          <a:ln w="16510">
            <a:solidFill>
              <a:srgbClr val="52657A"/>
            </a:solidFill>
            <a:prstDash val="solid"/>
          </a:ln>
        </p:spPr>
      </p:sp>
      <p:sp>
        <p:nvSpPr>
          <p:cNvPr id="8" name="Text 6"/>
          <p:cNvSpPr/>
          <p:nvPr/>
        </p:nvSpPr>
        <p:spPr>
          <a:xfrm>
            <a:off x="3840480" y="2377440"/>
            <a:ext cx="2194560" cy="868680"/>
          </a:xfrm>
          <a:prstGeom prst="rect">
            <a:avLst/>
          </a:prstGeom>
          <a:noFill/>
          <a:ln/>
        </p:spPr>
        <p:txBody>
          <a:bodyPr wrap="square" lIns="0" tIns="0" rIns="0" bIns="0" rtlCol="0" anchor="ctr"/>
          <a:lstStyle/>
          <a:p>
            <a:pPr algn="ctr" indent="0" marL="0">
              <a:buNone/>
            </a:pPr>
            <a:r>
              <a:rPr lang="en-US" sz="1250" b="1" dirty="0">
                <a:solidFill>
                  <a:srgbClr val="52657A"/>
                </a:solidFill>
                <a:latin typeface="Segoe UI" pitchFamily="34" charset="0"/>
                <a:ea typeface="Segoe UI" pitchFamily="34" charset="-122"/>
                <a:cs typeface="Segoe UI" pitchFamily="34" charset="-120"/>
              </a:rPr>
              <a:t>bộ đọc chữ</a:t>
            </a:r>
            <a:endParaRPr lang="en-US" sz="1250" dirty="0"/>
          </a:p>
        </p:txBody>
      </p:sp>
      <p:sp>
        <p:nvSpPr>
          <p:cNvPr id="9" name="Shape 7"/>
          <p:cNvSpPr/>
          <p:nvPr/>
        </p:nvSpPr>
        <p:spPr>
          <a:xfrm>
            <a:off x="6108192" y="2807208"/>
            <a:ext cx="365760" cy="0"/>
          </a:xfrm>
          <a:prstGeom prst="line">
            <a:avLst/>
          </a:prstGeom>
          <a:noFill/>
          <a:ln w="31750">
            <a:solidFill>
              <a:srgbClr val="BE5A2E"/>
            </a:solidFill>
            <a:prstDash val="solid"/>
            <a:tailEnd type="triangle"/>
          </a:ln>
        </p:spPr>
      </p:sp>
      <p:sp>
        <p:nvSpPr>
          <p:cNvPr id="10" name="Shape 8"/>
          <p:cNvSpPr/>
          <p:nvPr/>
        </p:nvSpPr>
        <p:spPr>
          <a:xfrm>
            <a:off x="6656832" y="2377440"/>
            <a:ext cx="2514600" cy="868680"/>
          </a:xfrm>
          <a:prstGeom prst="roundRect">
            <a:avLst>
              <a:gd name="adj" fmla="val 9474"/>
            </a:avLst>
          </a:prstGeom>
          <a:solidFill>
            <a:srgbClr val="F7EBE3"/>
          </a:solidFill>
          <a:ln w="16510">
            <a:solidFill>
              <a:srgbClr val="BE5A2E"/>
            </a:solidFill>
            <a:prstDash val="solid"/>
          </a:ln>
        </p:spPr>
      </p:sp>
      <p:sp>
        <p:nvSpPr>
          <p:cNvPr id="11" name="Text 9"/>
          <p:cNvSpPr/>
          <p:nvPr/>
        </p:nvSpPr>
        <p:spPr>
          <a:xfrm>
            <a:off x="6656832" y="2377440"/>
            <a:ext cx="2514600" cy="868680"/>
          </a:xfrm>
          <a:prstGeom prst="rect">
            <a:avLst/>
          </a:prstGeom>
          <a:noFill/>
          <a:ln/>
        </p:spPr>
        <p:txBody>
          <a:bodyPr wrap="square" lIns="0" tIns="0" rIns="0" bIns="0" rtlCol="0" anchor="ctr"/>
          <a:lstStyle/>
          <a:p>
            <a:pPr algn="ctr" indent="0" marL="0">
              <a:lnSpc>
                <a:spcPct val="125000"/>
              </a:lnSpc>
              <a:buNone/>
            </a:pPr>
            <a:r>
              <a:rPr lang="en-US" sz="1250" b="1" dirty="0">
                <a:solidFill>
                  <a:srgbClr val="BE5A2E"/>
                </a:solidFill>
                <a:latin typeface="Segoe UI" pitchFamily="34" charset="0"/>
                <a:ea typeface="Segoe UI" pitchFamily="34" charset="-122"/>
                <a:cs typeface="Segoe UI" pitchFamily="34" charset="-120"/>
              </a:rPr>
              <a:t>Qwen-3B đã huấn luyện</a:t>
            </a:r>
            <a:endParaRPr lang="en-US" sz="1250" dirty="0"/>
          </a:p>
        </p:txBody>
      </p:sp>
      <p:sp>
        <p:nvSpPr>
          <p:cNvPr id="12" name="Shape 10"/>
          <p:cNvSpPr/>
          <p:nvPr/>
        </p:nvSpPr>
        <p:spPr>
          <a:xfrm>
            <a:off x="7909560" y="3310128"/>
            <a:ext cx="0" cy="320040"/>
          </a:xfrm>
          <a:prstGeom prst="line">
            <a:avLst/>
          </a:prstGeom>
          <a:noFill/>
          <a:ln w="31750">
            <a:solidFill>
              <a:srgbClr val="BE5A2E"/>
            </a:solidFill>
            <a:prstDash val="solid"/>
            <a:tailEnd type="triangle"/>
          </a:ln>
        </p:spPr>
      </p:sp>
      <p:sp>
        <p:nvSpPr>
          <p:cNvPr id="13" name="Shape 11"/>
          <p:cNvSpPr/>
          <p:nvPr/>
        </p:nvSpPr>
        <p:spPr>
          <a:xfrm>
            <a:off x="5394960" y="3730752"/>
            <a:ext cx="5120640" cy="822960"/>
          </a:xfrm>
          <a:prstGeom prst="roundRect">
            <a:avLst>
              <a:gd name="adj" fmla="val 8889"/>
            </a:avLst>
          </a:prstGeom>
          <a:solidFill>
            <a:srgbClr val="FFFFFF"/>
          </a:solidFill>
          <a:ln w="12700">
            <a:solidFill>
              <a:srgbClr val="DBE0E6"/>
            </a:solidFill>
            <a:prstDash val="solid"/>
          </a:ln>
        </p:spPr>
      </p:sp>
      <p:sp>
        <p:nvSpPr>
          <p:cNvPr id="14" name="Text 12"/>
          <p:cNvSpPr/>
          <p:nvPr/>
        </p:nvSpPr>
        <p:spPr>
          <a:xfrm>
            <a:off x="5532120" y="3730752"/>
            <a:ext cx="4846320" cy="822960"/>
          </a:xfrm>
          <a:prstGeom prst="rect">
            <a:avLst/>
          </a:prstGeom>
          <a:noFill/>
          <a:ln/>
        </p:spPr>
        <p:txBody>
          <a:bodyPr wrap="square" lIns="0" tIns="0" rIns="0" bIns="0" rtlCol="0" anchor="ctr"/>
          <a:lstStyle/>
          <a:p>
            <a:pPr algn="l" indent="0" marL="0">
              <a:lnSpc>
                <a:spcPct val="140000"/>
              </a:lnSpc>
              <a:buNone/>
            </a:pPr>
            <a:r>
              <a:rPr lang="en-US" sz="1100" dirty="0">
                <a:solidFill>
                  <a:srgbClr val="454C55"/>
                </a:solidFill>
                <a:latin typeface="Segoe UI" pitchFamily="34" charset="0"/>
                <a:ea typeface="Segoe UI" pitchFamily="34" charset="-122"/>
                <a:cs typeface="Segoe UI" pitchFamily="34" charset="-120"/>
              </a:rPr>
              <a:t>[ô nhập liệu | “Search Publications…” | trên đỉnh, giữa]</a:t>
            </a:r>
            <a:endParaRPr lang="en-US" sz="1100" dirty="0"/>
          </a:p>
          <a:p>
            <a:pPr algn="l" indent="0" marL="0">
              <a:lnSpc>
                <a:spcPct val="140000"/>
              </a:lnSpc>
              <a:buNone/>
            </a:pPr>
            <a:r>
              <a:rPr lang="en-US" sz="1100" dirty="0">
                <a:solidFill>
                  <a:srgbClr val="454C55"/>
                </a:solidFill>
                <a:latin typeface="Segoe UI" pitchFamily="34" charset="0"/>
                <a:ea typeface="Segoe UI" pitchFamily="34" charset="-122"/>
                <a:cs typeface="Segoe UI" pitchFamily="34" charset="-120"/>
              </a:rPr>
              <a:t>Tap the “Search Publications…” bar at the top</a:t>
            </a:r>
            <a:endParaRPr lang="en-US" sz="1100" dirty="0"/>
          </a:p>
        </p:txBody>
      </p:sp>
      <p:sp>
        <p:nvSpPr>
          <p:cNvPr id="15" name="Text 13"/>
          <p:cNvSpPr/>
          <p:nvPr/>
        </p:nvSpPr>
        <p:spPr>
          <a:xfrm>
            <a:off x="8138160" y="4626864"/>
            <a:ext cx="2194560" cy="274320"/>
          </a:xfrm>
          <a:prstGeom prst="rect">
            <a:avLst/>
          </a:prstGeom>
          <a:noFill/>
          <a:ln/>
        </p:spPr>
        <p:txBody>
          <a:bodyPr wrap="square" lIns="0" tIns="0" rIns="0" bIns="0" rtlCol="0" anchor="t"/>
          <a:lstStyle/>
          <a:p>
            <a:pPr algn="l" indent="0" marL="0">
              <a:buNone/>
            </a:pPr>
            <a:r>
              <a:rPr lang="en-US" sz="1050" i="1" dirty="0">
                <a:solidFill>
                  <a:srgbClr val="8B929B"/>
                </a:solidFill>
                <a:latin typeface="Segoe UI" pitchFamily="34" charset="0"/>
                <a:ea typeface="Segoe UI" pitchFamily="34" charset="-122"/>
                <a:cs typeface="Segoe UI" pitchFamily="34" charset="-120"/>
              </a:rPr>
              <a:t>cắt bỏ dòng mô tả</a:t>
            </a:r>
            <a:endParaRPr lang="en-US" sz="1050" dirty="0"/>
          </a:p>
        </p:txBody>
      </p:sp>
      <p:sp>
        <p:nvSpPr>
          <p:cNvPr id="16" name="Shape 14"/>
          <p:cNvSpPr/>
          <p:nvPr/>
        </p:nvSpPr>
        <p:spPr>
          <a:xfrm>
            <a:off x="7909560" y="4626864"/>
            <a:ext cx="0" cy="320040"/>
          </a:xfrm>
          <a:prstGeom prst="line">
            <a:avLst/>
          </a:prstGeom>
          <a:noFill/>
          <a:ln w="31750">
            <a:solidFill>
              <a:srgbClr val="BE5A2E"/>
            </a:solidFill>
            <a:prstDash val="solid"/>
            <a:tailEnd type="triangle"/>
          </a:ln>
        </p:spPr>
      </p:sp>
      <p:sp>
        <p:nvSpPr>
          <p:cNvPr id="17" name="Shape 15"/>
          <p:cNvSpPr/>
          <p:nvPr/>
        </p:nvSpPr>
        <p:spPr>
          <a:xfrm>
            <a:off x="5394960" y="5029200"/>
            <a:ext cx="5120640" cy="658368"/>
          </a:xfrm>
          <a:prstGeom prst="roundRect">
            <a:avLst>
              <a:gd name="adj" fmla="val 11111"/>
            </a:avLst>
          </a:prstGeom>
          <a:solidFill>
            <a:srgbClr val="17233B"/>
          </a:solidFill>
          <a:ln/>
        </p:spPr>
      </p:sp>
      <p:sp>
        <p:nvSpPr>
          <p:cNvPr id="18" name="Text 16"/>
          <p:cNvSpPr/>
          <p:nvPr/>
        </p:nvSpPr>
        <p:spPr>
          <a:xfrm>
            <a:off x="5394960" y="5029200"/>
            <a:ext cx="5120640"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người dùng nhận: câu hướng dẫn</a:t>
            </a:r>
            <a:endParaRPr lang="en-US" sz="1300" dirty="0"/>
          </a:p>
        </p:txBody>
      </p:sp>
      <p:sp>
        <p:nvSpPr>
          <p:cNvPr id="19" name="Shape 17"/>
          <p:cNvSpPr/>
          <p:nvPr/>
        </p:nvSpPr>
        <p:spPr>
          <a:xfrm>
            <a:off x="841248" y="3730752"/>
            <a:ext cx="4206240" cy="822960"/>
          </a:xfrm>
          <a:prstGeom prst="roundRect">
            <a:avLst>
              <a:gd name="adj" fmla="val 10000"/>
            </a:avLst>
          </a:prstGeom>
          <a:solidFill>
            <a:srgbClr val="FFFFFF"/>
          </a:solidFill>
          <a:ln w="16510">
            <a:solidFill>
              <a:srgbClr val="1E6B43"/>
            </a:solidFill>
            <a:prstDash val="solid"/>
          </a:ln>
        </p:spPr>
      </p:sp>
      <p:sp>
        <p:nvSpPr>
          <p:cNvPr id="20" name="Text 18"/>
          <p:cNvSpPr/>
          <p:nvPr/>
        </p:nvSpPr>
        <p:spPr>
          <a:xfrm>
            <a:off x="1069848" y="3730752"/>
            <a:ext cx="3749040" cy="822960"/>
          </a:xfrm>
          <a:prstGeom prst="rect">
            <a:avLst/>
          </a:prstGeom>
          <a:noFill/>
          <a:ln/>
        </p:spPr>
        <p:txBody>
          <a:bodyPr wrap="square" lIns="0" tIns="0" rIns="0" bIns="0" rtlCol="0" anchor="ctr"/>
          <a:lstStyle/>
          <a:p>
            <a:pPr algn="l" indent="0" marL="0">
              <a:lnSpc>
                <a:spcPct val="130000"/>
              </a:lnSpc>
              <a:buNone/>
            </a:pPr>
            <a:r>
              <a:rPr lang="en-US" sz="1200" b="1" dirty="0">
                <a:solidFill>
                  <a:srgbClr val="1E6B43"/>
                </a:solidFill>
                <a:latin typeface="Segoe UI" pitchFamily="34" charset="0"/>
                <a:ea typeface="Segoe UI" pitchFamily="34" charset="-122"/>
                <a:cs typeface="Segoe UI" pitchFamily="34" charset="-120"/>
              </a:rPr>
              <a:t>Cần:  </a:t>
            </a:r>
            <a:pPr algn="l" indent="0" marL="0">
              <a:lnSpc>
                <a:spcPct val="130000"/>
              </a:lnSpc>
              <a:buNone/>
            </a:pPr>
            <a:r>
              <a:rPr lang="en-US" sz="1200" dirty="0">
                <a:solidFill>
                  <a:srgbClr val="454C55"/>
                </a:solidFill>
                <a:latin typeface="Segoe UI" pitchFamily="34" charset="0"/>
                <a:ea typeface="Segoe UI" pitchFamily="34" charset="-122"/>
                <a:cs typeface="Segoe UI" pitchFamily="34" charset="-120"/>
              </a:rPr>
              <a:t>bộ đọc chữ và mô hình. Không cần mạng.</a:t>
            </a:r>
            <a:endParaRPr lang="en-US" sz="1200" dirty="0"/>
          </a:p>
        </p:txBody>
      </p:sp>
      <p:sp>
        <p:nvSpPr>
          <p:cNvPr id="21" name="Shape 19"/>
          <p:cNvSpPr/>
          <p:nvPr/>
        </p:nvSpPr>
        <p:spPr>
          <a:xfrm>
            <a:off x="841248" y="4709160"/>
            <a:ext cx="4206240" cy="978408"/>
          </a:xfrm>
          <a:prstGeom prst="roundRect">
            <a:avLst>
              <a:gd name="adj" fmla="val 8411"/>
            </a:avLst>
          </a:prstGeom>
          <a:solidFill>
            <a:srgbClr val="F3F5F7"/>
          </a:solidFill>
          <a:ln/>
        </p:spPr>
      </p:sp>
      <p:sp>
        <p:nvSpPr>
          <p:cNvPr id="22" name="Text 20"/>
          <p:cNvSpPr/>
          <p:nvPr/>
        </p:nvSpPr>
        <p:spPr>
          <a:xfrm>
            <a:off x="1069848" y="4709160"/>
            <a:ext cx="3749040" cy="978408"/>
          </a:xfrm>
          <a:prstGeom prst="rect">
            <a:avLst/>
          </a:prstGeom>
          <a:noFill/>
          <a:ln/>
        </p:spPr>
        <p:txBody>
          <a:bodyPr wrap="square" lIns="0" tIns="0" rIns="0" bIns="0" rtlCol="0" anchor="ctr"/>
          <a:lstStyle/>
          <a:p>
            <a:pPr algn="l" indent="0" marL="0">
              <a:lnSpc>
                <a:spcPct val="130000"/>
              </a:lnSpc>
              <a:buNone/>
            </a:pPr>
            <a:r>
              <a:rPr lang="en-US" sz="1200" b="1" dirty="0">
                <a:solidFill>
                  <a:srgbClr val="1D2733"/>
                </a:solidFill>
                <a:latin typeface="Segoe UI" pitchFamily="34" charset="0"/>
                <a:ea typeface="Segoe UI" pitchFamily="34" charset="-122"/>
                <a:cs typeface="Segoe UI" pitchFamily="34" charset="-120"/>
              </a:rPr>
              <a:t>Không cần:  </a:t>
            </a:r>
            <a:pPr algn="l" indent="0" marL="0">
              <a:lnSpc>
                <a:spcPct val="130000"/>
              </a:lnSpc>
              <a:buNone/>
            </a:pPr>
            <a:r>
              <a:rPr lang="en-US" sz="1200" dirty="0">
                <a:solidFill>
                  <a:srgbClr val="454C55"/>
                </a:solidFill>
                <a:latin typeface="Segoe UI" pitchFamily="34" charset="0"/>
                <a:ea typeface="Segoe UI" pitchFamily="34" charset="-122"/>
                <a:cs typeface="Segoe UI" pitchFamily="34" charset="-120"/>
              </a:rPr>
              <a:t>toạ độ đúng, cây trợ năng, mô hình lớn, bộ trỏ.</a:t>
            </a:r>
            <a:endParaRPr lang="en-US" sz="1200" dirty="0"/>
          </a:p>
        </p:txBody>
      </p:sp>
      <p:sp>
        <p:nvSpPr>
          <p:cNvPr id="23" name="Text 21"/>
          <p:cNvSpPr/>
          <p:nvPr/>
        </p:nvSpPr>
        <p:spPr>
          <a:xfrm>
            <a:off x="841248" y="5989320"/>
            <a:ext cx="10506456" cy="457200"/>
          </a:xfrm>
          <a:prstGeom prst="rect">
            <a:avLst/>
          </a:prstGeom>
          <a:noFill/>
          <a:ln/>
        </p:spPr>
        <p:txBody>
          <a:bodyPr wrap="square" lIns="0" tIns="0" rIns="0" bIns="0" rtlCol="0" anchor="t"/>
          <a:lstStyle/>
          <a:p>
            <a:pPr algn="l" indent="0" marL="0">
              <a:lnSpc>
                <a:spcPct val="120000"/>
              </a:lnSpc>
              <a:buNone/>
            </a:pPr>
            <a:r>
              <a:rPr lang="en-US" sz="1500" b="1" dirty="0">
                <a:solidFill>
                  <a:srgbClr val="1D2733"/>
                </a:solidFill>
                <a:latin typeface="Cambria" pitchFamily="34" charset="0"/>
                <a:ea typeface="Cambria" pitchFamily="34" charset="-122"/>
                <a:cs typeface="Cambria" pitchFamily="34" charset="-120"/>
              </a:rPr>
              <a:t>Mô tả sai thì câu sai theo. Cách phát hiện: so mô tả mô hình sinh ra với nhãn đã dựng.</a:t>
            </a:r>
            <a:endParaRPr lang="en-US" sz="1500" dirty="0"/>
          </a:p>
        </p:txBody>
      </p:sp>
      <p:sp>
        <p:nvSpPr>
          <p:cNvPr id="25" name="Text 22"/>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85216"/>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HUẤN LUYỆN BỐN LẦN</a:t>
            </a:r>
            <a:endParaRPr lang="en-US" sz="1250" dirty="0"/>
          </a:p>
        </p:txBody>
      </p:sp>
      <p:sp>
        <p:nvSpPr>
          <p:cNvPr id="3" name="Text 1"/>
          <p:cNvSpPr/>
          <p:nvPr/>
        </p:nvSpPr>
        <p:spPr>
          <a:xfrm>
            <a:off x="841248" y="914400"/>
            <a:ext cx="10506456" cy="82296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Bốn mô hình, cùng nền cùng dữ liệu — chỉ khác đáp án mẫu</a:t>
            </a:r>
            <a:endParaRPr lang="en-US" sz="2700" dirty="0"/>
          </a:p>
        </p:txBody>
      </p:sp>
      <p:sp>
        <p:nvSpPr>
          <p:cNvPr id="4" name="Text 2"/>
          <p:cNvSpPr/>
          <p:nvPr/>
        </p:nvSpPr>
        <p:spPr>
          <a:xfrm>
            <a:off x="5413248" y="2212848"/>
            <a:ext cx="2926080" cy="274320"/>
          </a:xfrm>
          <a:prstGeom prst="rect">
            <a:avLst/>
          </a:prstGeom>
          <a:noFill/>
          <a:ln/>
        </p:spPr>
        <p:txBody>
          <a:bodyPr wrap="square" lIns="0" tIns="0" rIns="0" bIns="0" rtlCol="0" anchor="t"/>
          <a:lstStyle/>
          <a:p>
            <a:pPr algn="l" indent="0" marL="0">
              <a:buNone/>
            </a:pPr>
            <a:r>
              <a:rPr lang="en-US" sz="1100" b="1" spc="100" kern="0" dirty="0">
                <a:solidFill>
                  <a:srgbClr val="8B929B"/>
                </a:solidFill>
                <a:latin typeface="Segoe UI" pitchFamily="34" charset="0"/>
                <a:ea typeface="Segoe UI" pitchFamily="34" charset="-122"/>
                <a:cs typeface="Segoe UI" pitchFamily="34" charset="-120"/>
              </a:rPr>
              <a:t>Đáp án mẫu gồm gì</a:t>
            </a:r>
            <a:endParaRPr lang="en-US" sz="1100" dirty="0"/>
          </a:p>
        </p:txBody>
      </p:sp>
      <p:sp>
        <p:nvSpPr>
          <p:cNvPr id="5" name="Text 3"/>
          <p:cNvSpPr/>
          <p:nvPr/>
        </p:nvSpPr>
        <p:spPr>
          <a:xfrm>
            <a:off x="8613648" y="2212848"/>
            <a:ext cx="2560320" cy="274320"/>
          </a:xfrm>
          <a:prstGeom prst="rect">
            <a:avLst/>
          </a:prstGeom>
          <a:noFill/>
          <a:ln/>
        </p:spPr>
        <p:txBody>
          <a:bodyPr wrap="square" lIns="0" tIns="0" rIns="0" bIns="0" rtlCol="0" anchor="t"/>
          <a:lstStyle/>
          <a:p>
            <a:pPr algn="l" indent="0" marL="0">
              <a:buNone/>
            </a:pPr>
            <a:r>
              <a:rPr lang="en-US" sz="1100" b="1" spc="100" kern="0" dirty="0">
                <a:solidFill>
                  <a:srgbClr val="8B929B"/>
                </a:solidFill>
                <a:latin typeface="Segoe UI" pitchFamily="34" charset="0"/>
                <a:ea typeface="Segoe UI" pitchFamily="34" charset="-122"/>
                <a:cs typeface="Segoe UI" pitchFamily="34" charset="-120"/>
              </a:rPr>
              <a:t>Để làm gì</a:t>
            </a:r>
            <a:endParaRPr lang="en-US" sz="1100" dirty="0"/>
          </a:p>
        </p:txBody>
      </p:sp>
      <p:sp>
        <p:nvSpPr>
          <p:cNvPr id="6" name="Shape 4"/>
          <p:cNvSpPr/>
          <p:nvPr/>
        </p:nvSpPr>
        <p:spPr>
          <a:xfrm>
            <a:off x="841248" y="2560320"/>
            <a:ext cx="10506456" cy="777240"/>
          </a:xfrm>
          <a:prstGeom prst="roundRect">
            <a:avLst>
              <a:gd name="adj" fmla="val 9412"/>
            </a:avLst>
          </a:prstGeom>
          <a:solidFill>
            <a:srgbClr val="F3F5F7"/>
          </a:solidFill>
          <a:ln/>
        </p:spPr>
      </p:sp>
      <p:sp>
        <p:nvSpPr>
          <p:cNvPr id="7" name="Text 5"/>
          <p:cNvSpPr/>
          <p:nvPr/>
        </p:nvSpPr>
        <p:spPr>
          <a:xfrm>
            <a:off x="1115568" y="2560320"/>
            <a:ext cx="4206240" cy="777240"/>
          </a:xfrm>
          <a:prstGeom prst="rect">
            <a:avLst/>
          </a:prstGeom>
          <a:noFill/>
          <a:ln/>
        </p:spPr>
        <p:txBody>
          <a:bodyPr wrap="square" lIns="0" tIns="0" rIns="0" bIns="0" rtlCol="0" anchor="ctr"/>
          <a:lstStyle/>
          <a:p>
            <a:pPr algn="l" indent="0" marL="0">
              <a:buNone/>
            </a:pPr>
            <a:r>
              <a:rPr lang="en-US" sz="1400" b="1" dirty="0">
                <a:solidFill>
                  <a:srgbClr val="1D2733"/>
                </a:solidFill>
                <a:latin typeface="Segoe UI" pitchFamily="34" charset="0"/>
                <a:ea typeface="Segoe UI" pitchFamily="34" charset="-122"/>
                <a:cs typeface="Segoe UI" pitchFamily="34" charset="-120"/>
              </a:rPr>
              <a:t>Bản thường</a:t>
            </a:r>
            <a:endParaRPr lang="en-US" sz="1400" dirty="0"/>
          </a:p>
        </p:txBody>
      </p:sp>
      <p:sp>
        <p:nvSpPr>
          <p:cNvPr id="8" name="Text 6"/>
          <p:cNvSpPr/>
          <p:nvPr/>
        </p:nvSpPr>
        <p:spPr>
          <a:xfrm>
            <a:off x="5413248" y="2560320"/>
            <a:ext cx="3017520" cy="777240"/>
          </a:xfrm>
          <a:prstGeom prst="rect">
            <a:avLst/>
          </a:prstGeom>
          <a:noFill/>
          <a:ln/>
        </p:spPr>
        <p:txBody>
          <a:bodyPr wrap="square" lIns="0" tIns="0" rIns="0" bIns="0" rtlCol="0" anchor="ctr"/>
          <a:lstStyle/>
          <a:p>
            <a:pPr algn="l" indent="0" marL="0">
              <a:buNone/>
            </a:pPr>
            <a:r>
              <a:rPr lang="en-US" sz="1300" dirty="0">
                <a:solidFill>
                  <a:srgbClr val="454C55"/>
                </a:solidFill>
                <a:latin typeface="Segoe UI" pitchFamily="34" charset="0"/>
                <a:ea typeface="Segoe UI" pitchFamily="34" charset="-122"/>
                <a:cs typeface="Segoe UI" pitchFamily="34" charset="-120"/>
              </a:rPr>
              <a:t>câu người viết</a:t>
            </a:r>
            <a:endParaRPr lang="en-US" sz="1300" dirty="0"/>
          </a:p>
        </p:txBody>
      </p:sp>
      <p:sp>
        <p:nvSpPr>
          <p:cNvPr id="9" name="Text 7"/>
          <p:cNvSpPr/>
          <p:nvPr/>
        </p:nvSpPr>
        <p:spPr>
          <a:xfrm>
            <a:off x="8613648" y="2560320"/>
            <a:ext cx="2560320" cy="777240"/>
          </a:xfrm>
          <a:prstGeom prst="rect">
            <a:avLst/>
          </a:prstGeom>
          <a:noFill/>
          <a:ln/>
        </p:spPr>
        <p:txBody>
          <a:bodyPr wrap="square" lIns="0" tIns="0" rIns="0" bIns="0" rtlCol="0" anchor="ctr"/>
          <a:lstStyle/>
          <a:p>
            <a:pPr algn="l" indent="0" marL="0">
              <a:buNone/>
            </a:pPr>
            <a:r>
              <a:rPr lang="en-US" sz="1250" dirty="0">
                <a:solidFill>
                  <a:srgbClr val="52657A"/>
                </a:solidFill>
                <a:latin typeface="Segoe UI" pitchFamily="34" charset="0"/>
                <a:ea typeface="Segoe UI" pitchFamily="34" charset="-122"/>
                <a:cs typeface="Segoe UI" pitchFamily="34" charset="-120"/>
              </a:rPr>
              <a:t>mốc trong</a:t>
            </a:r>
            <a:endParaRPr lang="en-US" sz="1250" dirty="0"/>
          </a:p>
        </p:txBody>
      </p:sp>
      <p:sp>
        <p:nvSpPr>
          <p:cNvPr id="10" name="Shape 8"/>
          <p:cNvSpPr/>
          <p:nvPr/>
        </p:nvSpPr>
        <p:spPr>
          <a:xfrm>
            <a:off x="841248" y="3410712"/>
            <a:ext cx="10506456" cy="777240"/>
          </a:xfrm>
          <a:prstGeom prst="roundRect">
            <a:avLst>
              <a:gd name="adj" fmla="val 9412"/>
            </a:avLst>
          </a:prstGeom>
          <a:solidFill>
            <a:srgbClr val="F3F5F7"/>
          </a:solidFill>
          <a:ln/>
        </p:spPr>
      </p:sp>
      <p:sp>
        <p:nvSpPr>
          <p:cNvPr id="11" name="Text 9"/>
          <p:cNvSpPr/>
          <p:nvPr/>
        </p:nvSpPr>
        <p:spPr>
          <a:xfrm>
            <a:off x="1115568" y="3410712"/>
            <a:ext cx="4206240" cy="777240"/>
          </a:xfrm>
          <a:prstGeom prst="rect">
            <a:avLst/>
          </a:prstGeom>
          <a:noFill/>
          <a:ln/>
        </p:spPr>
        <p:txBody>
          <a:bodyPr wrap="square" lIns="0" tIns="0" rIns="0" bIns="0" rtlCol="0" anchor="ctr"/>
          <a:lstStyle/>
          <a:p>
            <a:pPr algn="l" indent="0" marL="0">
              <a:buNone/>
            </a:pPr>
            <a:r>
              <a:rPr lang="en-US" sz="1400" b="1" dirty="0">
                <a:solidFill>
                  <a:srgbClr val="1D2733"/>
                </a:solidFill>
                <a:latin typeface="Segoe UI" pitchFamily="34" charset="0"/>
                <a:ea typeface="Segoe UI" pitchFamily="34" charset="-122"/>
                <a:cs typeface="Segoe UI" pitchFamily="34" charset="-120"/>
              </a:rPr>
              <a:t>Trên câu viết lại</a:t>
            </a:r>
            <a:endParaRPr lang="en-US" sz="1400" dirty="0"/>
          </a:p>
        </p:txBody>
      </p:sp>
      <p:sp>
        <p:nvSpPr>
          <p:cNvPr id="12" name="Text 10"/>
          <p:cNvSpPr/>
          <p:nvPr/>
        </p:nvSpPr>
        <p:spPr>
          <a:xfrm>
            <a:off x="5413248" y="3410712"/>
            <a:ext cx="3017520" cy="777240"/>
          </a:xfrm>
          <a:prstGeom prst="rect">
            <a:avLst/>
          </a:prstGeom>
          <a:noFill/>
          <a:ln/>
        </p:spPr>
        <p:txBody>
          <a:bodyPr wrap="square" lIns="0" tIns="0" rIns="0" bIns="0" rtlCol="0" anchor="ctr"/>
          <a:lstStyle/>
          <a:p>
            <a:pPr algn="l" indent="0" marL="0">
              <a:buNone/>
            </a:pPr>
            <a:r>
              <a:rPr lang="en-US" sz="1300" dirty="0">
                <a:solidFill>
                  <a:srgbClr val="454C55"/>
                </a:solidFill>
                <a:latin typeface="Segoe UI" pitchFamily="34" charset="0"/>
                <a:ea typeface="Segoe UI" pitchFamily="34" charset="-122"/>
                <a:cs typeface="Segoe UI" pitchFamily="34" charset="-120"/>
              </a:rPr>
              <a:t>câu viết lại</a:t>
            </a:r>
            <a:endParaRPr lang="en-US" sz="1300" dirty="0"/>
          </a:p>
        </p:txBody>
      </p:sp>
      <p:sp>
        <p:nvSpPr>
          <p:cNvPr id="13" name="Text 11"/>
          <p:cNvSpPr/>
          <p:nvPr/>
        </p:nvSpPr>
        <p:spPr>
          <a:xfrm>
            <a:off x="8613648" y="3410712"/>
            <a:ext cx="2560320" cy="777240"/>
          </a:xfrm>
          <a:prstGeom prst="rect">
            <a:avLst/>
          </a:prstGeom>
          <a:noFill/>
          <a:ln/>
        </p:spPr>
        <p:txBody>
          <a:bodyPr wrap="square" lIns="0" tIns="0" rIns="0" bIns="0" rtlCol="0" anchor="ctr"/>
          <a:lstStyle/>
          <a:p>
            <a:pPr algn="l" indent="0" marL="0">
              <a:buNone/>
            </a:pPr>
            <a:r>
              <a:rPr lang="en-US" sz="1250" dirty="0">
                <a:solidFill>
                  <a:srgbClr val="52657A"/>
                </a:solidFill>
                <a:latin typeface="Segoe UI" pitchFamily="34" charset="0"/>
                <a:ea typeface="Segoe UI" pitchFamily="34" charset="-122"/>
                <a:cs typeface="Segoe UI" pitchFamily="34" charset="-120"/>
              </a:rPr>
              <a:t>tầng nền để so</a:t>
            </a:r>
            <a:endParaRPr lang="en-US" sz="1250" dirty="0"/>
          </a:p>
        </p:txBody>
      </p:sp>
      <p:sp>
        <p:nvSpPr>
          <p:cNvPr id="14" name="Shape 12"/>
          <p:cNvSpPr/>
          <p:nvPr/>
        </p:nvSpPr>
        <p:spPr>
          <a:xfrm>
            <a:off x="841248" y="4261104"/>
            <a:ext cx="10506456" cy="777240"/>
          </a:xfrm>
          <a:prstGeom prst="roundRect">
            <a:avLst>
              <a:gd name="adj" fmla="val 9412"/>
            </a:avLst>
          </a:prstGeom>
          <a:solidFill>
            <a:srgbClr val="F3F5F7"/>
          </a:solidFill>
          <a:ln/>
        </p:spPr>
      </p:sp>
      <p:sp>
        <p:nvSpPr>
          <p:cNvPr id="15" name="Text 13"/>
          <p:cNvSpPr/>
          <p:nvPr/>
        </p:nvSpPr>
        <p:spPr>
          <a:xfrm>
            <a:off x="1115568" y="4261104"/>
            <a:ext cx="4206240" cy="777240"/>
          </a:xfrm>
          <a:prstGeom prst="rect">
            <a:avLst/>
          </a:prstGeom>
          <a:noFill/>
          <a:ln/>
        </p:spPr>
        <p:txBody>
          <a:bodyPr wrap="square" lIns="0" tIns="0" rIns="0" bIns="0" rtlCol="0" anchor="ctr"/>
          <a:lstStyle/>
          <a:p>
            <a:pPr algn="l" indent="0" marL="0">
              <a:buNone/>
            </a:pPr>
            <a:r>
              <a:rPr lang="en-US" sz="1400" b="1" dirty="0">
                <a:solidFill>
                  <a:srgbClr val="1D2733"/>
                </a:solidFill>
                <a:latin typeface="Segoe UI" pitchFamily="34" charset="0"/>
                <a:ea typeface="Segoe UI" pitchFamily="34" charset="-122"/>
                <a:cs typeface="Segoe UI" pitchFamily="34" charset="-120"/>
              </a:rPr>
              <a:t>Trên câu viết lại mù ảnh</a:t>
            </a:r>
            <a:endParaRPr lang="en-US" sz="1400" dirty="0"/>
          </a:p>
        </p:txBody>
      </p:sp>
      <p:sp>
        <p:nvSpPr>
          <p:cNvPr id="16" name="Text 14"/>
          <p:cNvSpPr/>
          <p:nvPr/>
        </p:nvSpPr>
        <p:spPr>
          <a:xfrm>
            <a:off x="5413248" y="4261104"/>
            <a:ext cx="3017520" cy="777240"/>
          </a:xfrm>
          <a:prstGeom prst="rect">
            <a:avLst/>
          </a:prstGeom>
          <a:noFill/>
          <a:ln/>
        </p:spPr>
        <p:txBody>
          <a:bodyPr wrap="square" lIns="0" tIns="0" rIns="0" bIns="0" rtlCol="0" anchor="ctr"/>
          <a:lstStyle/>
          <a:p>
            <a:pPr algn="l" indent="0" marL="0">
              <a:buNone/>
            </a:pPr>
            <a:r>
              <a:rPr lang="en-US" sz="1300" dirty="0">
                <a:solidFill>
                  <a:srgbClr val="454C55"/>
                </a:solidFill>
                <a:latin typeface="Segoe UI" pitchFamily="34" charset="0"/>
                <a:ea typeface="Segoe UI" pitchFamily="34" charset="-122"/>
                <a:cs typeface="Segoe UI" pitchFamily="34" charset="-120"/>
              </a:rPr>
              <a:t>câu viết lại mù</a:t>
            </a:r>
            <a:endParaRPr lang="en-US" sz="1300" dirty="0"/>
          </a:p>
        </p:txBody>
      </p:sp>
      <p:sp>
        <p:nvSpPr>
          <p:cNvPr id="17" name="Text 15"/>
          <p:cNvSpPr/>
          <p:nvPr/>
        </p:nvSpPr>
        <p:spPr>
          <a:xfrm>
            <a:off x="8613648" y="4261104"/>
            <a:ext cx="2560320" cy="777240"/>
          </a:xfrm>
          <a:prstGeom prst="rect">
            <a:avLst/>
          </a:prstGeom>
          <a:noFill/>
          <a:ln/>
        </p:spPr>
        <p:txBody>
          <a:bodyPr wrap="square" lIns="0" tIns="0" rIns="0" bIns="0" rtlCol="0" anchor="ctr"/>
          <a:lstStyle/>
          <a:p>
            <a:pPr algn="l" indent="0" marL="0">
              <a:buNone/>
            </a:pPr>
            <a:r>
              <a:rPr lang="en-US" sz="1250" dirty="0">
                <a:solidFill>
                  <a:srgbClr val="52657A"/>
                </a:solidFill>
                <a:latin typeface="Segoe UI" pitchFamily="34" charset="0"/>
                <a:ea typeface="Segoe UI" pitchFamily="34" charset="-122"/>
                <a:cs typeface="Segoe UI" pitchFamily="34" charset="-120"/>
              </a:rPr>
              <a:t>đối chứng độ dài</a:t>
            </a:r>
            <a:endParaRPr lang="en-US" sz="1250" dirty="0"/>
          </a:p>
        </p:txBody>
      </p:sp>
      <p:sp>
        <p:nvSpPr>
          <p:cNvPr id="18" name="Shape 16"/>
          <p:cNvSpPr/>
          <p:nvPr/>
        </p:nvSpPr>
        <p:spPr>
          <a:xfrm>
            <a:off x="841248" y="5111496"/>
            <a:ext cx="10506456" cy="777240"/>
          </a:xfrm>
          <a:prstGeom prst="roundRect">
            <a:avLst>
              <a:gd name="adj" fmla="val 9412"/>
            </a:avLst>
          </a:prstGeom>
          <a:solidFill>
            <a:srgbClr val="F7EBE3"/>
          </a:solidFill>
          <a:ln/>
        </p:spPr>
      </p:sp>
      <p:sp>
        <p:nvSpPr>
          <p:cNvPr id="19" name="Text 17"/>
          <p:cNvSpPr/>
          <p:nvPr/>
        </p:nvSpPr>
        <p:spPr>
          <a:xfrm>
            <a:off x="1115568" y="5111496"/>
            <a:ext cx="4206240" cy="777240"/>
          </a:xfrm>
          <a:prstGeom prst="rect">
            <a:avLst/>
          </a:prstGeom>
          <a:noFill/>
          <a:ln/>
        </p:spPr>
        <p:txBody>
          <a:bodyPr wrap="square" lIns="0" tIns="0" rIns="0" bIns="0" rtlCol="0" anchor="ctr"/>
          <a:lstStyle/>
          <a:p>
            <a:pPr algn="l" indent="0" marL="0">
              <a:buNone/>
            </a:pPr>
            <a:r>
              <a:rPr lang="en-US" sz="1400" b="1" dirty="0">
                <a:solidFill>
                  <a:srgbClr val="BE5A2E"/>
                </a:solidFill>
                <a:latin typeface="Segoe UI" pitchFamily="34" charset="0"/>
                <a:ea typeface="Segoe UI" pitchFamily="34" charset="-122"/>
                <a:cs typeface="Segoe UI" pitchFamily="34" charset="-120"/>
              </a:rPr>
              <a:t>Có thêm dòng mô tả</a:t>
            </a:r>
            <a:endParaRPr lang="en-US" sz="1400" dirty="0"/>
          </a:p>
        </p:txBody>
      </p:sp>
      <p:sp>
        <p:nvSpPr>
          <p:cNvPr id="20" name="Text 18"/>
          <p:cNvSpPr/>
          <p:nvPr/>
        </p:nvSpPr>
        <p:spPr>
          <a:xfrm>
            <a:off x="5413248" y="5111496"/>
            <a:ext cx="3017520" cy="777240"/>
          </a:xfrm>
          <a:prstGeom prst="rect">
            <a:avLst/>
          </a:prstGeom>
          <a:noFill/>
          <a:ln/>
        </p:spPr>
        <p:txBody>
          <a:bodyPr wrap="square" lIns="0" tIns="0" rIns="0" bIns="0" rtlCol="0" anchor="ctr"/>
          <a:lstStyle/>
          <a:p>
            <a:pPr algn="l" indent="0" marL="0">
              <a:buNone/>
            </a:pPr>
            <a:r>
              <a:rPr lang="en-US" sz="1300" b="1" dirty="0">
                <a:solidFill>
                  <a:srgbClr val="BE5A2E"/>
                </a:solidFill>
                <a:latin typeface="Segoe UI" pitchFamily="34" charset="0"/>
                <a:ea typeface="Segoe UI" pitchFamily="34" charset="-122"/>
                <a:cs typeface="Segoe UI" pitchFamily="34" charset="-120"/>
              </a:rPr>
              <a:t>mô tả + câu viết lại</a:t>
            </a:r>
            <a:endParaRPr lang="en-US" sz="1300" dirty="0"/>
          </a:p>
        </p:txBody>
      </p:sp>
      <p:sp>
        <p:nvSpPr>
          <p:cNvPr id="21" name="Text 19"/>
          <p:cNvSpPr/>
          <p:nvPr/>
        </p:nvSpPr>
        <p:spPr>
          <a:xfrm>
            <a:off x="8613648" y="5111496"/>
            <a:ext cx="2560320" cy="777240"/>
          </a:xfrm>
          <a:prstGeom prst="rect">
            <a:avLst/>
          </a:prstGeom>
          <a:noFill/>
          <a:ln/>
        </p:spPr>
        <p:txBody>
          <a:bodyPr wrap="square" lIns="0" tIns="0" rIns="0" bIns="0" rtlCol="0" anchor="ctr"/>
          <a:lstStyle/>
          <a:p>
            <a:pPr algn="l" indent="0" marL="0">
              <a:buNone/>
            </a:pPr>
            <a:r>
              <a:rPr lang="en-US" sz="1250" dirty="0">
                <a:solidFill>
                  <a:srgbClr val="BE5A2E"/>
                </a:solidFill>
                <a:latin typeface="Segoe UI" pitchFamily="34" charset="0"/>
                <a:ea typeface="Segoe UI" pitchFamily="34" charset="-122"/>
                <a:cs typeface="Segoe UI" pitchFamily="34" charset="-120"/>
              </a:rPr>
              <a:t>phần đóng góp</a:t>
            </a:r>
            <a:endParaRPr lang="en-US" sz="1250" dirty="0"/>
          </a:p>
        </p:txBody>
      </p:sp>
      <p:sp>
        <p:nvSpPr>
          <p:cNvPr id="22" name="Text 20"/>
          <p:cNvSpPr/>
          <p:nvPr/>
        </p:nvSpPr>
        <p:spPr>
          <a:xfrm>
            <a:off x="841248" y="5943600"/>
            <a:ext cx="10506456" cy="457200"/>
          </a:xfrm>
          <a:prstGeom prst="rect">
            <a:avLst/>
          </a:prstGeom>
          <a:noFill/>
          <a:ln/>
        </p:spPr>
        <p:txBody>
          <a:bodyPr wrap="square" lIns="0" tIns="0" rIns="0" bIns="0" rtlCol="0" anchor="t"/>
          <a:lstStyle/>
          <a:p>
            <a:pPr algn="l" indent="0" marL="0">
              <a:lnSpc>
                <a:spcPct val="120000"/>
              </a:lnSpc>
              <a:buNone/>
            </a:pPr>
            <a:r>
              <a:rPr lang="en-US" sz="1500" b="1" dirty="0">
                <a:solidFill>
                  <a:srgbClr val="1D2733"/>
                </a:solidFill>
                <a:latin typeface="Cambria" pitchFamily="34" charset="0"/>
                <a:ea typeface="Cambria" pitchFamily="34" charset="-122"/>
                <a:cs typeface="Cambria" pitchFamily="34" charset="-120"/>
              </a:rPr>
              <a:t>So hàng cuối với hàng thứ hai: cùng dữ liệu, cùng giọng,</a:t>
            </a:r>
            <a:endParaRPr lang="en-US" sz="1500" dirty="0"/>
          </a:p>
          <a:p>
            <a:pPr algn="l" indent="0" marL="0">
              <a:lnSpc>
                <a:spcPct val="120000"/>
              </a:lnSpc>
              <a:buNone/>
            </a:pPr>
            <a:r>
              <a:rPr lang="en-US" sz="1500" b="1" dirty="0">
                <a:solidFill>
                  <a:srgbClr val="1D2733"/>
                </a:solidFill>
                <a:latin typeface="Cambria" pitchFamily="34" charset="0"/>
                <a:ea typeface="Cambria" pitchFamily="34" charset="-122"/>
                <a:cs typeface="Cambria" pitchFamily="34" charset="-120"/>
              </a:rPr>
              <a:t>chỉ khác việc mô hình có phải tả phần tử trước khi viết câu hay không.</a:t>
            </a:r>
            <a:endParaRPr lang="en-US" sz="1500" dirty="0"/>
          </a:p>
        </p:txBody>
      </p:sp>
      <p:sp>
        <p:nvSpPr>
          <p:cNvPr id="24" name="Text 21"/>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Pipeline mo hinh - sinh huong dan su dung phan mem</dc:title>
  <dc:subject>PptxGenJS Presentation</dc:subject>
  <dc:creator>Luan van thac si</dc:creator>
  <cp:lastModifiedBy>Luan van thac si</cp:lastModifiedBy>
  <cp:revision>1</cp:revision>
  <dcterms:created xsi:type="dcterms:W3CDTF">2026-07-29T13:34:01Z</dcterms:created>
  <dcterms:modified xsi:type="dcterms:W3CDTF">2026-07-29T13:34:01Z</dcterms:modified>
</cp:coreProperties>
</file>