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Lst>
  <p:notesMasterIdLst>
    <p:notesMasterId r:id="rId32"/>
  </p:notesMasterIdLst>
  <p:sldSz cx="9144000" cy="6858000"/>
  <p:notesSz cx="68580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notesMaster" Target="notesMasters/notesMaster1.xml"/><Relationship Id="rId33" Type="http://schemas.openxmlformats.org/officeDocument/2006/relationships/presProps" Target="presProps.xml"/><Relationship Id="rId34" Type="http://schemas.openxmlformats.org/officeDocument/2006/relationships/viewProps" Target="viewProps.xml"/><Relationship Id="rId35" Type="http://schemas.openxmlformats.org/officeDocument/2006/relationships/theme" Target="theme/theme1.xml"/><Relationship Id="rId3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này đặt sớm là cố ý: thầy từng bác hướng chỉ ghép công cụ, nên phải cho thấy ngay là mô hình thật đang chạy, mỗi mắt xích có một con số. Cổng bộ trỏ là rủi ro số một của cả thiết kế, vì mọi thước chấm treo trên nó; nó đã đạt với biên rất rộng (0,7 so với ngưỡng 3). Rò rỉ dạy-kiểm là loại sai không chữa được sau khi train, nên đây là chốt chặn thật chứ không phải thủ tục. Nếu thầy hỏi vì sao giờ mới train: trình tự khoá từ đầu là kiểm cho chắc thước đo và dữ liệu trước, rồi mới huấn luyện - vì sai ở hai chỗ đó thì huấn luyện xong cũng bỏ.</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Mở đầu bằng tình huống thật. Nhấn chỗ khác biệt: cả dòng nghiên cứu đang làm agent bấm máy (đầu ra kiểu click(732,173)), còn đề tài này sinh câu chữ. Chạy offline nghĩa là ảnh màn hình - thứ hay chứa thông tin riêng tư - không phải gửi đi đâu; đó là lý do tồn tại của mô hình nhỏ.</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chặn trước câu hỏi về tính mới. Ba hàng là ba phía đã kiểm độc lập, tận trang gốc từng bài. GuideMe là bài sát nhất: họ prompting GPT-5 qua mạng, đánh giá bằng khảo sát 18 người dùng, không có thước nào chấm chất lượng câu - mình huấn luyện và có thước định lượng, đó là ranh giới. Các cơ chế bên trong đều có tiền lệ, sẽ khai rõ ở phần sau, không nhận chữ "mới" cho chúng.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Cấu trúc ba tầng để hội đồng thấy: một tầng không ra kết quả thì hai tầng kia vẫn đứng. Câu cuối là nhận xét của chính giám khảo trong vòng phản biện thử - dùng lại khi thầy hỏi "có mỏng quá không".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Toạ độ chạm là nhãn sạch tuyệt đối, phủ 100% bước chạm - cách huấn luyện thường bỏ phí nguồn này, còn đề tài dùng nó làm ô toạ độ trong dòng khai báo. Câu người viết cụt (gần nửa dưới 5 từ) là lý do có khâu viết lại: cho học bắt chước nguyên bản thì mô hình học đúng giọng cụt đó.</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Cặp số 32/69: đo trên câu chuẩn của chính bộ dữ liệu (chưa phải câu mô hình sinh), chia đôi theo trung vị 8 từ, bộ trỏ gpt-4o-mini, dung sai 14% cạnh màn. Bản cũ ghi 35% là nhớ lệch - đã tính lại, ghi rõ luật chia. n mỗi nhánh chỉ 38 câu nên số còn dao động.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Bản đồ cả phần thực nghiệm. Ý cần nhấn: bốn khâu đầu kiểm được trước khi huấn luyện, nên sai sót lộ ra sớm. Đến khâu 6, trên máy người dùng chỉ còn bộ đọc chữ và mô hình - mọi thứ đắt đỏ chỉ tồn tại lúc dựng dữ liệu và lúc chấm.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OCR chọn loại chạy CPU vì khớp câu chuyện chạy trên máy; trung vị 22 dòng chữ mỗi màn, nhiễu thì giữ nguyên nhiễu để mô hình học cả lúc không nên tin. Viết lại: mô hình lớn được cầm đáp án (ảnh khoanh dấu) nên thứ truyền lại là chất lượng câu chữ, không phải năng lực định vị; lúc huấn luyện dùng ảnh sạch. Có nhánh viết-lại-mù-ảnh làm đối chứng độ dài.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Đây là mức 1 của đóng góp. Dòng khai báo tồn tại chỉ để ép mô hình xác định rõ mục tiêu trước khi viết. Toạ độ chạm là nhãn sạch 100% mà cách dạy thường bỏ phí. Ràng buộc "có cấu trúc chặt, có toạ độ" là học từ các bài trước: để bước trung gian là văn tự do thì kết quả âm (slide bằng chứng).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NGUỒN SỐ - thủ sẵn nếu thầy hỏi "in ở đâu trong bài": Aguvis = Table 6, hiệu hai dòng 80,5 - 69,1 · Shikra = Table 1, ba số 88,07 / 80,68 / 93,97 · GCoT = Table 5, cột Average A-Acc 70,0 -&gt; 74,5 và 70,6 -&gt; 76,4 · CogCoM = Table 4, bài in thẳng "↑6.6". Ba trong bốn số là hiệu tự trừ từ bảng của họ, không phải số in sẵn - khai luôn nếu bị vặn. Ảnh bốn bảng gốc nằm ở report/105. Các bài dùng thước khác nhau nên số chỉ nói lên chiều và cỡ, không so thẳng. Nếu thầy hỏi GCoT: số âm hay được trích là ở chế độ prompting mô hình chưa huấn luyện; huấn luyện hẳn thì +4,5/+5,8. Và bảng của họ huấn luyện kèm dữ liệu quen đề nên không tách được nguyên nhân - phép so của mình cùng bộ dữ liệu, chỉ đổi đích sinh, tách được. Chỗ này mình chặt hơn họ.</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dễ hiểu nhầm nhất nên nói chậm. Ba chi tiết: ảnh trong đề bài là ảnh sạch (dấu khoanh chỉ có ở khâu 2); toạ độ đúng chỉ dùng để dựng nhãn rồi biến mất; nhãn dựng hoàn toàn tự động, đo trên 1.068 bước thì 77% có tên rõ (số làm việc 70-75%), ô toạ độ sạch 100%.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Bước thật, số thật, lấy từ episode 11495 của AndroidControl. Điểm chạm (499,545) nằm đúng trong hộp trợ năng - đã kiểm. Đây là ca thuận lợi: OCR moi được tên. Ca khó là nút hình, ví dụ biểu tượng chia sẻ của Wynk Music tại (766,211): OCR không đọc được gì nên ô tên để trống, ba ô còn lại vẫn dựng bình thường. Đo trên 1.068 bước: 77% có tên rõ, 20% để trống, ô toạ độ sạch 100%.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Mức khớp đo bằng chính xác suất mô hình gán cho câu đích khi được đưa từng khai báo - không cần ai phán, chạy tự động hàng nghìn lần mỗi lượt học. Nếu thầy hỏi giới hạn: lúc học mô hình được đưa sẵn khai báo, lúc chạy nó tự sinh - tín hiệu học lệch một nhịp so với lúc dùng. Cách vá đã ghi sẵn: đặt thêm khoản phạt ngay ở tầng sinh khai báo (phạt khi khai báo sinh ra đem áp vào nút hàng xóm cũng khớp).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Những thứ đắt - toạ độ đúng, cây trợ năng, mô hình lớn, bộ trỏ - chỉ tồn tại lúc dựng dữ liệu và lúc chấm. Câu hỏi phải chủ động nêu: khai báo sai thì câu sai theo (lỗi lan truyền); cách phát hiện là so khai báo mô hình sinh với nhãn đã dựng.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Đây là chỗ hay bị hỏi nhất. Phân biệt cho rõ: LLM-as-a-judge là hỏi mô hình "câu này mấy điểm" - cần rubric, và mô hình có thể ảo giác hoặc thiên vị. Cách của luận văn: không hỏi ý kiến mô hình nào, bắt bộ trỏ LÀM một việc rồi so kết quả với toạ độ gold. Nó ảo giác thì trỏ trượt, mà trỏ trượt thì thành kết oan câu đúng - đó chính là hai tiêu chí rớt ở slide sau, và là lý do có cổng sai số 3%. Ba tinh chỉnh trong mã: tính trúng theo nút gần nhất (dung sai vòng tròn quá dễ dãi, 63% bước có nút khác lọt vòng) · gom tap/click/open · luật riêng cho công tắc bật/tắt. Bộ trỏ khác họ với mô hình được chấm, và không đưa vào vòng huấn luyện vì nó là giám khảo.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Phương pháp bơm lỗi này lấy từ Sai và cộng sự, EMNLP 2021 - không phải mình tự nghĩ ra cách kiểm. Mười tiêu chí chia hai nhóm: ba tiêu chí "không được kết oan câu đúng" và bảy tiêu chí "phải bắt được lỗi" (trỏ nhầm nút gần, nút xa, nút rất xa, đảo nghĩa, sai loại thao tác, gõ sai nội dung, cuộn sai hướng). Ngưỡng đậu rớt khoá cứng trong mã trước khi chạy. Bài học từ vòng phản biện thử: bản cũ chỉ khoe 8/10 mà giấu 2 tiêu chí rớt, bị bắt ngay, nên giờ khai đủ. Nếu bộ trỏ không đạt cổng 3% thì có kế hoạch B ba bậc ghi sẵn, và báo thầy ngay tuần một.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này là lá chắn cho câu hỏi chắc chắn sẽ bị hỏi: "sao điểm thấp thế". Trần 70 đo bằng cách đưa câu gold - câu do chính người thao tác viết - cho bộ trỏ; nó trượt 30% số ca là do bộ trỏ, do câu gold cộc, và do màn có nút na ná nhau. Điểm mạnh về phương pháp: trần này đo XONG TRƯỚC khi có kết quả nào của mô hình, có ghi ngày, nên không ai nói được là bịa ra để chữa cháy. Và vì phép so chính là hiệu S2 trừ S1 trên cùng dụng cụ, phần thiệt chung triệt tiêu - đó là lý do headline là hiệu số chứ không phải điểm tuyệt đối.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Còn một phép thử rẻ chạy trước khi tiêu tiền huấn luyện S2: lấy S1 đã huấn luyện, nhét khai báo chuẩn vào đầu vào so với một đoạn đệm vô nghĩa cùng độ dài. Nếu đưa tận tay khai báo đúng mà điểm đứng yên thì S2 khó có cửa - biết sớm, bằng một phép thử rẻ, thay vì biết sau khi đã huấn luyện xong.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Số 4-7 là ước tính từ giả định, nên mới có trình tự "đo thật rồi mới khoá ngưỡng". Chênh giữa hai lần chạy S1 chính là cỡ nhiễu huấn luyện đo bằng số thật - mọi hiệu ứng công bố phải vượt cỡ đó. Gom theo ứng dụng vì các bước cùng một ứng dụng na ná nhau, không phải bằng chứng độc lập.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 chốt chặn là chỗ đáng nhấn về phương pháp: tiêu chí đậu rớt viết ra trước, không phải nhìn số rồi mới đặt. Nếu thầy hỏi về cấu hình huấn luyện: em chạy 16 lượt thăm dò ngắn để chọn, và đã kiểm rằng cấu hình chọn ra cho ra loss trùng tới chữ số thứ tư so với cấu hình gốc - tức là chỉ đổi tốc độ, không đổi phép tính. Đổi card cũng ra cùng loss, dùng được cho câu tái lập.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Rủi ro số một là cổng bộ trỏ - cả thước chấm treo trên nó nên đo ngay tuần đầu, trước mọi khoản chi lớn. Kế hoạch B: nới cách chấm và khai tỉ lệ oan; tệ nữa thì gộp nhiều bộ trỏ; vẫn không xong thì so thứ hạng tương đối giữa các bản và nâng chấm tay lên 200 câu.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này cố ý đặt trước phần tóm tắt. Lý do: ba chỗ này thầy hoặc hội đồng sẽ tìm ra, tự khai trước thì mất ít điểm hơn nhiều so với bị vặn. Chỗ thứ nhất là nặng nhất, và đừng nhận lỗi dài dòng - chỉ cần nói đây là tập giữ riêng theo tác vụ chứ không theo ứng dụng, em kiểm ra và khai luôn. Điều quan trọng phải nói kèm: phép so chính không hỏng vì hai bản dùng chung dữ liệu dạy, chung mô hình gốc, chung tập kiểm - chỉ khác đúng đích sinh.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Số 11,4 là hiệu hai dòng, bài không in sẵn - khai luôn nếu bị vặn. Đây là bài duy nhất trong bảng chạy trên chính AndroidControl. Họ đo độ đúng thao tác, không đo chất lượng câu, nên chỉ mượn để nói chiều.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Cặp số quyết định thiết kế. Điểm yếu phải tự khai, ghi ngay trong chú thích bảng: "three toy models of Shikra-7B (without using additional datasets) on the CLEVR dataset" - mô hình thí nghiệm nhỏ, chưa tiền huấn luyện, ảnh hình khối nhân tạo. Bằng chứng yếu nhất trong bảng.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Bài hay bị hiểu ngược. Huấn luyện hẳn theo thứ tự định-vị-trước thì tăng cả ba cột, không đánh đổi. Điểm yếu của họ, chủ động khai: họ thay bộ dữ liệu dạy bằng dữ liệu cùng phân bố với bộ đề rồi train lại từ đầu, nên +4,5/+5,8 trộn hai nguyên nhân mà bài không tách. Phép so của mình cùng một bộ dữ liệu, chỉ đổi đích sinh, nên tách được.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Số duy nhất trong bốn bài mà tác giả in thẳng mức tăng. Trích cả cụm để không mang tiếng chọn số đẹp.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1.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1.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1.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1.xml"/><Relationship Id="rId3" Type="http://schemas.openxmlformats.org/officeDocument/2006/relationships/notesSlide" Target="../notesSlides/notesSlide3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603504"/>
          </a:xfrm>
          <a:prstGeom prst="rect">
            <a:avLst/>
          </a:prstGeom>
          <a:solidFill>
            <a:srgbClr val="322164"/>
          </a:solidFill>
          <a:ln/>
        </p:spPr>
      </p:sp>
      <p:sp>
        <p:nvSpPr>
          <p:cNvPr id="3" name="Text 1"/>
          <p:cNvSpPr/>
          <p:nvPr/>
        </p:nvSpPr>
        <p:spPr>
          <a:xfrm>
            <a:off x="0" y="0"/>
            <a:ext cx="9144000" cy="603504"/>
          </a:xfrm>
          <a:prstGeom prst="rect">
            <a:avLst/>
          </a:prstGeom>
          <a:noFill/>
          <a:ln/>
        </p:spPr>
        <p:txBody>
          <a:bodyPr wrap="square" lIns="0" tIns="0" rIns="0" bIns="0" rtlCol="0" anchor="ctr"/>
          <a:lstStyle/>
          <a:p>
            <a:pPr algn="ctr" indent="0" marL="0">
              <a:buNone/>
            </a:pPr>
            <a:r>
              <a:rPr lang="en-US" sz="1700" b="1" dirty="0">
                <a:solidFill>
                  <a:srgbClr val="FFFFFF"/>
                </a:solidFill>
                <a:latin typeface="Cambria" pitchFamily="34" charset="0"/>
                <a:ea typeface="Cambria" pitchFamily="34" charset="-122"/>
                <a:cs typeface="Cambria" pitchFamily="34" charset="-120"/>
              </a:rPr>
              <a:t>LUẬN VĂN THẠC SĨ  -  CÔNG NGHỆ THÔNG TIN  -  2026</a:t>
            </a:r>
            <a:endParaRPr lang="en-US" sz="1700" dirty="0"/>
          </a:p>
        </p:txBody>
      </p:sp>
      <p:sp>
        <p:nvSpPr>
          <p:cNvPr id="4" name="Shape 2"/>
          <p:cNvSpPr/>
          <p:nvPr/>
        </p:nvSpPr>
        <p:spPr>
          <a:xfrm>
            <a:off x="731520" y="1143000"/>
            <a:ext cx="7680960" cy="2286000"/>
          </a:xfrm>
          <a:prstGeom prst="roundRect">
            <a:avLst>
              <a:gd name="adj" fmla="val 3600"/>
            </a:avLst>
          </a:prstGeom>
          <a:solidFill>
            <a:srgbClr val="322164"/>
          </a:solidFill>
          <a:ln/>
          <a:effectLst>
            <a:outerShdw sx="100000" sy="100000" kx="0" ky="0" algn="bl" rotWithShape="0" blurRad="63500" dist="31750" dir="2700000">
              <a:srgbClr val="8C8C99">
                <a:alpha val="45000"/>
              </a:srgbClr>
            </a:outerShdw>
          </a:effectLst>
        </p:spPr>
      </p:sp>
      <p:sp>
        <p:nvSpPr>
          <p:cNvPr id="5" name="Text 3"/>
          <p:cNvSpPr/>
          <p:nvPr/>
        </p:nvSpPr>
        <p:spPr>
          <a:xfrm>
            <a:off x="731520" y="1417320"/>
            <a:ext cx="7680960" cy="365760"/>
          </a:xfrm>
          <a:prstGeom prst="rect">
            <a:avLst/>
          </a:prstGeom>
          <a:noFill/>
          <a:ln/>
        </p:spPr>
        <p:txBody>
          <a:bodyPr wrap="square" lIns="0" tIns="0" rIns="0" bIns="0" rtlCol="0" anchor="t"/>
          <a:lstStyle/>
          <a:p>
            <a:pPr algn="ctr" indent="0" marL="0">
              <a:buNone/>
            </a:pPr>
            <a:r>
              <a:rPr lang="en-US" sz="1600" b="1" dirty="0">
                <a:solidFill>
                  <a:srgbClr val="FFFFFF"/>
                </a:solidFill>
                <a:latin typeface="Cambria" pitchFamily="34" charset="0"/>
                <a:ea typeface="Cambria" pitchFamily="34" charset="-122"/>
                <a:cs typeface="Cambria" pitchFamily="34" charset="-120"/>
              </a:rPr>
              <a:t>Đề tài</a:t>
            </a:r>
            <a:endParaRPr lang="en-US" sz="1600" dirty="0"/>
          </a:p>
        </p:txBody>
      </p:sp>
      <p:sp>
        <p:nvSpPr>
          <p:cNvPr id="6" name="Text 4"/>
          <p:cNvSpPr/>
          <p:nvPr/>
        </p:nvSpPr>
        <p:spPr>
          <a:xfrm>
            <a:off x="731520" y="1965960"/>
            <a:ext cx="7680960" cy="1188720"/>
          </a:xfrm>
          <a:prstGeom prst="rect">
            <a:avLst/>
          </a:prstGeom>
          <a:noFill/>
          <a:ln/>
        </p:spPr>
        <p:txBody>
          <a:bodyPr wrap="square" lIns="0" tIns="0" rIns="0" bIns="0" rtlCol="0" anchor="t"/>
          <a:lstStyle/>
          <a:p>
            <a:pPr algn="ctr" indent="0" marL="0">
              <a:lnSpc>
                <a:spcPct val="125000"/>
              </a:lnSpc>
              <a:buNone/>
            </a:pPr>
            <a:r>
              <a:rPr lang="en-US" sz="2600" b="1" dirty="0">
                <a:solidFill>
                  <a:srgbClr val="FFFFFF"/>
                </a:solidFill>
                <a:latin typeface="Cambria" pitchFamily="34" charset="0"/>
                <a:ea typeface="Cambria" pitchFamily="34" charset="-122"/>
                <a:cs typeface="Cambria" pitchFamily="34" charset="-120"/>
              </a:rPr>
              <a:t>SINH HƯỚNG DẪN SỬ DỤNG</a:t>
            </a:r>
            <a:endParaRPr lang="en-US" sz="2600" dirty="0"/>
          </a:p>
          <a:p>
            <a:pPr algn="ctr" indent="0" marL="0">
              <a:lnSpc>
                <a:spcPct val="125000"/>
              </a:lnSpc>
              <a:buNone/>
            </a:pPr>
            <a:r>
              <a:rPr lang="en-US" sz="2600" b="1" dirty="0">
                <a:solidFill>
                  <a:srgbClr val="FFFFFF"/>
                </a:solidFill>
                <a:latin typeface="Cambria" pitchFamily="34" charset="0"/>
                <a:ea typeface="Cambria" pitchFamily="34" charset="-122"/>
                <a:cs typeface="Cambria" pitchFamily="34" charset="-120"/>
              </a:rPr>
              <a:t>PHẦN MỀM TỪ ẢNH MÀN HÌNH</a:t>
            </a:r>
            <a:endParaRPr lang="en-US" sz="2600" dirty="0"/>
          </a:p>
        </p:txBody>
      </p:sp>
      <p:sp>
        <p:nvSpPr>
          <p:cNvPr id="7" name="Text 5"/>
          <p:cNvSpPr/>
          <p:nvPr/>
        </p:nvSpPr>
        <p:spPr>
          <a:xfrm>
            <a:off x="731520" y="4069080"/>
            <a:ext cx="7680960" cy="365760"/>
          </a:xfrm>
          <a:prstGeom prst="rect">
            <a:avLst/>
          </a:prstGeom>
          <a:noFill/>
          <a:ln/>
        </p:spPr>
        <p:txBody>
          <a:bodyPr wrap="square" lIns="0" tIns="0" rIns="0" bIns="0" rtlCol="0" anchor="t"/>
          <a:lstStyle/>
          <a:p>
            <a:pPr algn="ctr" indent="0" marL="0">
              <a:buNone/>
            </a:pPr>
            <a:r>
              <a:rPr lang="en-US" sz="1400" b="1" dirty="0">
                <a:solidFill>
                  <a:srgbClr val="1A1A1A"/>
                </a:solidFill>
                <a:latin typeface="Cambria" pitchFamily="34" charset="0"/>
                <a:ea typeface="Cambria" pitchFamily="34" charset="-122"/>
                <a:cs typeface="Cambria" pitchFamily="34" charset="-120"/>
              </a:rPr>
              <a:t>Học viên:  Lê Đoàn Phương Uyên          GVHD:  . . . . . . . . . . . . . . .</a:t>
            </a:r>
            <a:endParaRPr lang="en-US" sz="1400" dirty="0"/>
          </a:p>
        </p:txBody>
      </p:sp>
      <p:sp>
        <p:nvSpPr>
          <p:cNvPr id="8" name="Text 6"/>
          <p:cNvSpPr/>
          <p:nvPr/>
        </p:nvSpPr>
        <p:spPr>
          <a:xfrm>
            <a:off x="731520" y="4709160"/>
            <a:ext cx="7680960" cy="320040"/>
          </a:xfrm>
          <a:prstGeom prst="rect">
            <a:avLst/>
          </a:prstGeom>
          <a:noFill/>
          <a:ln/>
        </p:spPr>
        <p:txBody>
          <a:bodyPr wrap="square" lIns="0" tIns="0" rIns="0" bIns="0" rtlCol="0" anchor="t"/>
          <a:lstStyle/>
          <a:p>
            <a:pPr algn="ctr" indent="0" marL="0">
              <a:buNone/>
            </a:pPr>
            <a:r>
              <a:rPr lang="en-US" sz="1200" dirty="0">
                <a:solidFill>
                  <a:srgbClr val="1A1A1A"/>
                </a:solidFill>
                <a:latin typeface="Cambria" pitchFamily="34" charset="0"/>
                <a:ea typeface="Cambria" pitchFamily="34" charset="-122"/>
                <a:cs typeface="Cambria" pitchFamily="34" charset="-120"/>
              </a:rPr>
              <a:t>Trường Đại học . . . . . . . . . . . . . . . . . . . . . . . .</a:t>
            </a:r>
            <a:endParaRPr lang="en-US" sz="1200" dirty="0"/>
          </a:p>
        </p:txBody>
      </p:sp>
      <p:sp>
        <p:nvSpPr>
          <p:cNvPr id="9" name="Text 7"/>
          <p:cNvSpPr/>
          <p:nvPr/>
        </p:nvSpPr>
        <p:spPr>
          <a:xfrm>
            <a:off x="731520" y="5166360"/>
            <a:ext cx="7680960" cy="320040"/>
          </a:xfrm>
          <a:prstGeom prst="rect">
            <a:avLst/>
          </a:prstGeom>
          <a:noFill/>
          <a:ln/>
        </p:spPr>
        <p:txBody>
          <a:bodyPr wrap="square" lIns="0" tIns="0" rIns="0" bIns="0" rtlCol="0" anchor="t"/>
          <a:lstStyle/>
          <a:p>
            <a:pPr algn="ctr" indent="0" marL="0">
              <a:buNone/>
            </a:pPr>
            <a:r>
              <a:rPr lang="en-US" sz="1200" dirty="0">
                <a:solidFill>
                  <a:srgbClr val="1A1A1A"/>
                </a:solidFill>
                <a:latin typeface="Cambria" pitchFamily="34" charset="0"/>
                <a:ea typeface="Cambria" pitchFamily="34" charset="-122"/>
                <a:cs typeface="Cambria" pitchFamily="34" charset="-120"/>
              </a:rPr>
              <a:t>- - - -  Năm 2026  - - - -</a:t>
            </a:r>
            <a:endParaRPr lang="en-US" sz="1200" dirty="0"/>
          </a:p>
        </p:txBody>
      </p:sp>
      <p:sp>
        <p:nvSpPr>
          <p:cNvPr id="10" name="Shape 8"/>
          <p:cNvSpPr/>
          <p:nvPr/>
        </p:nvSpPr>
        <p:spPr>
          <a:xfrm>
            <a:off x="0" y="6620256"/>
            <a:ext cx="2743200" cy="237744"/>
          </a:xfrm>
          <a:prstGeom prst="rect">
            <a:avLst/>
          </a:prstGeom>
          <a:solidFill>
            <a:srgbClr val="191132"/>
          </a:solidFill>
          <a:ln/>
        </p:spPr>
      </p:sp>
      <p:sp>
        <p:nvSpPr>
          <p:cNvPr id="11" name="Shape 9"/>
          <p:cNvSpPr/>
          <p:nvPr/>
        </p:nvSpPr>
        <p:spPr>
          <a:xfrm>
            <a:off x="2743200" y="6620256"/>
            <a:ext cx="3383280" cy="237744"/>
          </a:xfrm>
          <a:prstGeom prst="rect">
            <a:avLst/>
          </a:prstGeom>
          <a:solidFill>
            <a:srgbClr val="25194B"/>
          </a:solidFill>
          <a:ln/>
        </p:spPr>
      </p:sp>
      <p:sp>
        <p:nvSpPr>
          <p:cNvPr id="12" name="Shape 10"/>
          <p:cNvSpPr/>
          <p:nvPr/>
        </p:nvSpPr>
        <p:spPr>
          <a:xfrm>
            <a:off x="6126480" y="6620256"/>
            <a:ext cx="1737360" cy="237744"/>
          </a:xfrm>
          <a:prstGeom prst="rect">
            <a:avLst/>
          </a:prstGeom>
          <a:solidFill>
            <a:srgbClr val="4F417A"/>
          </a:solidFill>
          <a:ln/>
        </p:spPr>
      </p:sp>
      <p:sp>
        <p:nvSpPr>
          <p:cNvPr id="13" name="Shape 11"/>
          <p:cNvSpPr/>
          <p:nvPr/>
        </p:nvSpPr>
        <p:spPr>
          <a:xfrm>
            <a:off x="7863840" y="6620256"/>
            <a:ext cx="1280160" cy="237744"/>
          </a:xfrm>
          <a:prstGeom prst="rect">
            <a:avLst/>
          </a:prstGeom>
          <a:solidFill>
            <a:srgbClr val="7A7099"/>
          </a:solidFill>
          <a:ln/>
        </p:spPr>
      </p:sp>
      <p:sp>
        <p:nvSpPr>
          <p:cNvPr id="14" name="Text 12"/>
          <p:cNvSpPr/>
          <p:nvPr/>
        </p:nvSpPr>
        <p:spPr>
          <a:xfrm>
            <a:off x="0" y="6620256"/>
            <a:ext cx="2743200" cy="237744"/>
          </a:xfrm>
          <a:prstGeom prst="rect">
            <a:avLst/>
          </a:prstGeom>
          <a:noFill/>
          <a:ln/>
        </p:spPr>
        <p:txBody>
          <a:bodyPr wrap="square" lIns="0" tIns="0" rIns="0" bIns="0" rtlCol="0" anchor="ctr"/>
          <a:lstStyle/>
          <a:p>
            <a:pPr algn="ctr" indent="0" marL="0">
              <a:buNone/>
            </a:pPr>
            <a:r>
              <a:rPr lang="en-US" sz="800" dirty="0">
                <a:solidFill>
                  <a:srgbClr val="FFFFFF"/>
                </a:solidFill>
                <a:latin typeface="Consolas" pitchFamily="34" charset="0"/>
                <a:ea typeface="Consolas" pitchFamily="34" charset="-122"/>
                <a:cs typeface="Consolas" pitchFamily="34" charset="-120"/>
              </a:rPr>
              <a:t>luận văn thạc sĩ</a:t>
            </a:r>
            <a:endParaRPr lang="en-US" sz="800" dirty="0"/>
          </a:p>
        </p:txBody>
      </p:sp>
      <p:sp>
        <p:nvSpPr>
          <p:cNvPr id="15" name="Text 13"/>
          <p:cNvSpPr/>
          <p:nvPr/>
        </p:nvSpPr>
        <p:spPr>
          <a:xfrm>
            <a:off x="2743200" y="6620256"/>
            <a:ext cx="3383280" cy="237744"/>
          </a:xfrm>
          <a:prstGeom prst="rect">
            <a:avLst/>
          </a:prstGeom>
          <a:noFill/>
          <a:ln/>
        </p:spPr>
        <p:txBody>
          <a:bodyPr wrap="square" lIns="0" tIns="0" rIns="0" bIns="0" rtlCol="0" anchor="ctr"/>
          <a:lstStyle/>
          <a:p>
            <a:pPr algn="ctr" indent="0" marL="0">
              <a:buNone/>
            </a:pPr>
            <a:r>
              <a:rPr lang="en-US" sz="800" dirty="0">
                <a:solidFill>
                  <a:srgbClr val="FFFFFF"/>
                </a:solidFill>
                <a:latin typeface="Cambria" pitchFamily="34" charset="0"/>
                <a:ea typeface="Cambria" pitchFamily="34" charset="-122"/>
                <a:cs typeface="Cambria" pitchFamily="34" charset="-120"/>
              </a:rPr>
              <a:t>Sinh hướng dẫn sử dụng phần mềm</a:t>
            </a:r>
            <a:endParaRPr lang="en-US" sz="800" dirty="0"/>
          </a:p>
        </p:txBody>
      </p:sp>
      <p:sp>
        <p:nvSpPr>
          <p:cNvPr id="16" name="Text 14"/>
          <p:cNvSpPr/>
          <p:nvPr/>
        </p:nvSpPr>
        <p:spPr>
          <a:xfrm>
            <a:off x="6126480" y="6620256"/>
            <a:ext cx="1737360" cy="237744"/>
          </a:xfrm>
          <a:prstGeom prst="rect">
            <a:avLst/>
          </a:prstGeom>
          <a:noFill/>
          <a:ln/>
        </p:spPr>
        <p:txBody>
          <a:bodyPr wrap="square" lIns="0" tIns="0" rIns="0" bIns="0" rtlCol="0" anchor="ctr"/>
          <a:lstStyle/>
          <a:p>
            <a:pPr algn="ctr" indent="0" marL="0">
              <a:buNone/>
            </a:pPr>
            <a:r>
              <a:rPr lang="en-US" sz="800" dirty="0">
                <a:solidFill>
                  <a:srgbClr val="FFFFFF"/>
                </a:solidFill>
                <a:latin typeface="Cambria" pitchFamily="34" charset="0"/>
                <a:ea typeface="Cambria" pitchFamily="34" charset="-122"/>
                <a:cs typeface="Cambria" pitchFamily="34" charset="-120"/>
              </a:rPr>
              <a:t>Lê Đoàn Phương Uyên</a:t>
            </a:r>
            <a:endParaRPr lang="en-US" sz="800" dirty="0"/>
          </a:p>
        </p:txBody>
      </p:sp>
      <p:sp>
        <p:nvSpPr>
          <p:cNvPr id="17" name="Text 15"/>
          <p:cNvSpPr/>
          <p:nvPr/>
        </p:nvSpPr>
        <p:spPr>
          <a:xfrm>
            <a:off x="7863840" y="6620256"/>
            <a:ext cx="1280160" cy="237744"/>
          </a:xfrm>
          <a:prstGeom prst="rect">
            <a:avLst/>
          </a:prstGeom>
          <a:noFill/>
          <a:ln/>
        </p:spPr>
        <p:txBody>
          <a:bodyPr wrap="square" lIns="0" tIns="0" rIns="0" bIns="0" rtlCol="0" anchor="ctr"/>
          <a:lstStyle/>
          <a:p>
            <a:pPr algn="ctr" indent="0" marL="0">
              <a:buNone/>
            </a:pPr>
            <a:r>
              <a:rPr lang="en-US" sz="800" dirty="0">
                <a:solidFill>
                  <a:srgbClr val="FFFFFF"/>
                </a:solidFill>
                <a:latin typeface="Cambria" pitchFamily="34" charset="0"/>
                <a:ea typeface="Cambria" pitchFamily="34" charset="-122"/>
                <a:cs typeface="Cambria" pitchFamily="34" charset="-120"/>
              </a:rPr>
              <a:t>1/26</a:t>
            </a:r>
            <a:endParaRPr lang="en-US" sz="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48640"/>
          </a:xfrm>
          <a:prstGeom prst="rect">
            <a:avLst/>
          </a:prstGeom>
          <a:solidFill>
            <a:srgbClr val="322164"/>
          </a:solidFill>
          <a:ln/>
        </p:spPr>
      </p:sp>
      <p:sp>
        <p:nvSpPr>
          <p:cNvPr id="3" name="Text 1"/>
          <p:cNvSpPr/>
          <p:nvPr/>
        </p:nvSpPr>
        <p:spPr>
          <a:xfrm>
            <a:off x="201168" y="0"/>
            <a:ext cx="8741664" cy="548640"/>
          </a:xfrm>
          <a:prstGeom prst="rect">
            <a:avLst/>
          </a:prstGeom>
          <a:noFill/>
          <a:ln/>
        </p:spPr>
        <p:txBody>
          <a:bodyPr wrap="square" lIns="0" tIns="0" rIns="0" bIns="0" rtlCol="0" anchor="ctr"/>
          <a:lstStyle/>
          <a:p>
            <a:pPr algn="l" indent="0" marL="0">
              <a:buNone/>
            </a:pPr>
            <a:r>
              <a:rPr lang="en-US" sz="1900" b="1" dirty="0">
                <a:solidFill>
                  <a:srgbClr val="FFFFFF"/>
                </a:solidFill>
                <a:latin typeface="Cambria" pitchFamily="34" charset="0"/>
                <a:ea typeface="Cambria" pitchFamily="34" charset="-122"/>
                <a:cs typeface="Cambria" pitchFamily="34" charset="-120"/>
              </a:rPr>
              <a:t>Nội dung</a:t>
            </a:r>
            <a:endParaRPr lang="en-US" sz="1900" dirty="0"/>
          </a:p>
        </p:txBody>
      </p:sp>
      <p:sp>
        <p:nvSpPr>
          <p:cNvPr id="4" name="Shape 2"/>
          <p:cNvSpPr/>
          <p:nvPr/>
        </p:nvSpPr>
        <p:spPr>
          <a:xfrm>
            <a:off x="502920" y="914400"/>
            <a:ext cx="8138160" cy="658368"/>
          </a:xfrm>
          <a:prstGeom prst="roundRect">
            <a:avLst>
              <a:gd name="adj" fmla="val 8333"/>
            </a:avLst>
          </a:prstGeom>
          <a:solidFill>
            <a:srgbClr val="E9E8EC"/>
          </a:solidFill>
          <a:ln/>
          <a:effectLst>
            <a:outerShdw sx="100000" sy="100000" kx="0" ky="0" algn="bl" rotWithShape="0" blurRad="63500" dist="31750" dir="2700000">
              <a:srgbClr val="8C8C99">
                <a:alpha val="45000"/>
              </a:srgbClr>
            </a:outerShdw>
          </a:effectLst>
        </p:spPr>
      </p:sp>
      <p:sp>
        <p:nvSpPr>
          <p:cNvPr id="5" name="Text 3"/>
          <p:cNvSpPr/>
          <p:nvPr/>
        </p:nvSpPr>
        <p:spPr>
          <a:xfrm>
            <a:off x="685800" y="914400"/>
            <a:ext cx="7772400" cy="658368"/>
          </a:xfrm>
          <a:prstGeom prst="rect">
            <a:avLst/>
          </a:prstGeom>
          <a:noFill/>
          <a:ln/>
        </p:spPr>
        <p:txBody>
          <a:bodyPr wrap="square" lIns="0" tIns="0" rIns="0" bIns="0" rtlCol="0" anchor="ctr"/>
          <a:lstStyle/>
          <a:p>
            <a:pPr algn="l" indent="0" marL="0">
              <a:buNone/>
            </a:pPr>
            <a:r>
              <a:rPr lang="en-US" sz="1400" b="1" dirty="0">
                <a:solidFill>
                  <a:srgbClr val="B22222"/>
                </a:solidFill>
                <a:latin typeface="Cambria" pitchFamily="34" charset="0"/>
                <a:ea typeface="Cambria" pitchFamily="34" charset="-122"/>
                <a:cs typeface="Cambria" pitchFamily="34" charset="-120"/>
              </a:rPr>
              <a:t>Đề tài.  </a:t>
            </a:r>
            <a:pPr algn="l" indent="0" marL="0">
              <a:buNone/>
            </a:pPr>
            <a:r>
              <a:rPr lang="en-US" sz="1400" b="1" dirty="0">
                <a:solidFill>
                  <a:srgbClr val="1414BE"/>
                </a:solidFill>
                <a:latin typeface="Cambria" pitchFamily="34" charset="0"/>
                <a:ea typeface="Cambria" pitchFamily="34" charset="-122"/>
                <a:cs typeface="Cambria" pitchFamily="34" charset="-120"/>
              </a:rPr>
              <a:t>NHÌN ẢNH MÀN HÌNH, VIẾT HƯỚNG DẪN CHO NGƯỜI ĐỌC</a:t>
            </a:r>
            <a:endParaRPr lang="en-US" sz="1400" dirty="0"/>
          </a:p>
        </p:txBody>
      </p:sp>
      <p:sp>
        <p:nvSpPr>
          <p:cNvPr id="6" name="Text 4"/>
          <p:cNvSpPr/>
          <p:nvPr/>
        </p:nvSpPr>
        <p:spPr>
          <a:xfrm>
            <a:off x="1371600" y="2011680"/>
            <a:ext cx="6400800" cy="457200"/>
          </a:xfrm>
          <a:prstGeom prst="rect">
            <a:avLst/>
          </a:prstGeom>
          <a:noFill/>
          <a:ln/>
        </p:spPr>
        <p:txBody>
          <a:bodyPr wrap="square" lIns="0" tIns="0" rIns="0" bIns="0" rtlCol="0" anchor="t"/>
          <a:lstStyle/>
          <a:p>
            <a:pPr algn="l" indent="0" marL="0">
              <a:buNone/>
            </a:pPr>
            <a:r>
              <a:rPr lang="en-US" sz="1700" b="1" dirty="0">
                <a:solidFill>
                  <a:srgbClr val="006666"/>
                </a:solidFill>
                <a:latin typeface="Cambria" pitchFamily="34" charset="0"/>
                <a:ea typeface="Cambria" pitchFamily="34" charset="-122"/>
                <a:cs typeface="Cambria" pitchFamily="34" charset="-120"/>
              </a:rPr>
              <a:t>1.</a:t>
            </a:r>
            <a:pPr algn="l" indent="0" marL="0">
              <a:buNone/>
            </a:pPr>
            <a:r>
              <a:rPr lang="en-US" sz="1700" b="1" dirty="0">
                <a:solidFill>
                  <a:srgbClr val="322164"/>
                </a:solidFill>
                <a:latin typeface="Cambria" pitchFamily="34" charset="0"/>
                <a:ea typeface="Cambria" pitchFamily="34" charset="-122"/>
                <a:cs typeface="Cambria" pitchFamily="34" charset="-120"/>
              </a:rPr>
              <a:t>   Bài toán</a:t>
            </a:r>
            <a:endParaRPr lang="en-US" sz="1700" dirty="0"/>
          </a:p>
        </p:txBody>
      </p:sp>
      <p:sp>
        <p:nvSpPr>
          <p:cNvPr id="7" name="Text 5"/>
          <p:cNvSpPr/>
          <p:nvPr/>
        </p:nvSpPr>
        <p:spPr>
          <a:xfrm>
            <a:off x="1371600" y="2670048"/>
            <a:ext cx="6400800" cy="457200"/>
          </a:xfrm>
          <a:prstGeom prst="rect">
            <a:avLst/>
          </a:prstGeom>
          <a:noFill/>
          <a:ln/>
        </p:spPr>
        <p:txBody>
          <a:bodyPr wrap="square" lIns="0" tIns="0" rIns="0" bIns="0" rtlCol="0" anchor="t"/>
          <a:lstStyle/>
          <a:p>
            <a:pPr algn="l" indent="0" marL="0">
              <a:buNone/>
            </a:pPr>
            <a:r>
              <a:rPr lang="en-US" sz="1700" b="1" dirty="0">
                <a:solidFill>
                  <a:srgbClr val="006666"/>
                </a:solidFill>
                <a:latin typeface="Cambria" pitchFamily="34" charset="0"/>
                <a:ea typeface="Cambria" pitchFamily="34" charset="-122"/>
                <a:cs typeface="Cambria" pitchFamily="34" charset="-120"/>
              </a:rPr>
              <a:t>2.</a:t>
            </a:r>
            <a:pPr algn="l" indent="0" marL="0">
              <a:buNone/>
            </a:pPr>
            <a:r>
              <a:rPr lang="en-US" sz="1700" b="1" dirty="0">
                <a:solidFill>
                  <a:srgbClr val="322164"/>
                </a:solidFill>
                <a:latin typeface="Cambria" pitchFamily="34" charset="0"/>
                <a:ea typeface="Cambria" pitchFamily="34" charset="-122"/>
                <a:cs typeface="Cambria" pitchFamily="34" charset="-120"/>
              </a:rPr>
              <a:t>   Dữ liệu</a:t>
            </a:r>
            <a:endParaRPr lang="en-US" sz="1700" dirty="0"/>
          </a:p>
        </p:txBody>
      </p:sp>
      <p:sp>
        <p:nvSpPr>
          <p:cNvPr id="8" name="Text 6"/>
          <p:cNvSpPr/>
          <p:nvPr/>
        </p:nvSpPr>
        <p:spPr>
          <a:xfrm>
            <a:off x="1371600" y="3328416"/>
            <a:ext cx="6400800" cy="457200"/>
          </a:xfrm>
          <a:prstGeom prst="rect">
            <a:avLst/>
          </a:prstGeom>
          <a:noFill/>
          <a:ln/>
        </p:spPr>
        <p:txBody>
          <a:bodyPr wrap="square" lIns="0" tIns="0" rIns="0" bIns="0" rtlCol="0" anchor="t"/>
          <a:lstStyle/>
          <a:p>
            <a:pPr algn="l" indent="0" marL="0">
              <a:buNone/>
            </a:pPr>
            <a:r>
              <a:rPr lang="en-US" sz="1700" b="1" dirty="0">
                <a:solidFill>
                  <a:srgbClr val="006666"/>
                </a:solidFill>
                <a:latin typeface="Cambria" pitchFamily="34" charset="0"/>
                <a:ea typeface="Cambria" pitchFamily="34" charset="-122"/>
                <a:cs typeface="Cambria" pitchFamily="34" charset="-120"/>
              </a:rPr>
              <a:t>3.</a:t>
            </a:r>
            <a:pPr algn="l" indent="0" marL="0">
              <a:buNone/>
            </a:pPr>
            <a:r>
              <a:rPr lang="en-US" sz="1700" b="1" dirty="0">
                <a:solidFill>
                  <a:srgbClr val="322164"/>
                </a:solidFill>
                <a:latin typeface="Cambria" pitchFamily="34" charset="0"/>
                <a:ea typeface="Cambria" pitchFamily="34" charset="-122"/>
                <a:cs typeface="Cambria" pitchFamily="34" charset="-120"/>
              </a:rPr>
              <a:t>   Pipeline dựng mô hình</a:t>
            </a:r>
            <a:endParaRPr lang="en-US" sz="1700" dirty="0"/>
          </a:p>
        </p:txBody>
      </p:sp>
      <p:sp>
        <p:nvSpPr>
          <p:cNvPr id="9" name="Text 7"/>
          <p:cNvSpPr/>
          <p:nvPr/>
        </p:nvSpPr>
        <p:spPr>
          <a:xfrm>
            <a:off x="1371600" y="3986784"/>
            <a:ext cx="6400800" cy="457200"/>
          </a:xfrm>
          <a:prstGeom prst="rect">
            <a:avLst/>
          </a:prstGeom>
          <a:noFill/>
          <a:ln/>
        </p:spPr>
        <p:txBody>
          <a:bodyPr wrap="square" lIns="0" tIns="0" rIns="0" bIns="0" rtlCol="0" anchor="t"/>
          <a:lstStyle/>
          <a:p>
            <a:pPr algn="l" indent="0" marL="0">
              <a:buNone/>
            </a:pPr>
            <a:r>
              <a:rPr lang="en-US" sz="1700" b="1" dirty="0">
                <a:solidFill>
                  <a:srgbClr val="006666"/>
                </a:solidFill>
                <a:latin typeface="Cambria" pitchFamily="34" charset="0"/>
                <a:ea typeface="Cambria" pitchFamily="34" charset="-122"/>
                <a:cs typeface="Cambria" pitchFamily="34" charset="-120"/>
              </a:rPr>
              <a:t>4.</a:t>
            </a:r>
            <a:pPr algn="l" indent="0" marL="0">
              <a:buNone/>
            </a:pPr>
            <a:r>
              <a:rPr lang="en-US" sz="1700" b="1" dirty="0">
                <a:solidFill>
                  <a:srgbClr val="322164"/>
                </a:solidFill>
                <a:latin typeface="Cambria" pitchFamily="34" charset="0"/>
                <a:ea typeface="Cambria" pitchFamily="34" charset="-122"/>
                <a:cs typeface="Cambria" pitchFamily="34" charset="-120"/>
              </a:rPr>
              <a:t>   Cách chấm điểm</a:t>
            </a:r>
            <a:endParaRPr lang="en-US" sz="1700" dirty="0"/>
          </a:p>
        </p:txBody>
      </p:sp>
      <p:sp>
        <p:nvSpPr>
          <p:cNvPr id="10" name="Text 8"/>
          <p:cNvSpPr/>
          <p:nvPr/>
        </p:nvSpPr>
        <p:spPr>
          <a:xfrm>
            <a:off x="1371600" y="4645152"/>
            <a:ext cx="6400800" cy="457200"/>
          </a:xfrm>
          <a:prstGeom prst="rect">
            <a:avLst/>
          </a:prstGeom>
          <a:noFill/>
          <a:ln/>
        </p:spPr>
        <p:txBody>
          <a:bodyPr wrap="square" lIns="0" tIns="0" rIns="0" bIns="0" rtlCol="0" anchor="t"/>
          <a:lstStyle/>
          <a:p>
            <a:pPr algn="l" indent="0" marL="0">
              <a:buNone/>
            </a:pPr>
            <a:r>
              <a:rPr lang="en-US" sz="1700" b="1" dirty="0">
                <a:solidFill>
                  <a:srgbClr val="006666"/>
                </a:solidFill>
                <a:latin typeface="Cambria" pitchFamily="34" charset="0"/>
                <a:ea typeface="Cambria" pitchFamily="34" charset="-122"/>
                <a:cs typeface="Cambria" pitchFamily="34" charset="-120"/>
              </a:rPr>
              <a:t>5.</a:t>
            </a:r>
            <a:pPr algn="l" indent="0" marL="0">
              <a:buNone/>
            </a:pPr>
            <a:r>
              <a:rPr lang="en-US" sz="1700" b="1" dirty="0">
                <a:solidFill>
                  <a:srgbClr val="322164"/>
                </a:solidFill>
                <a:latin typeface="Cambria" pitchFamily="34" charset="0"/>
                <a:ea typeface="Cambria" pitchFamily="34" charset="-122"/>
                <a:cs typeface="Cambria" pitchFamily="34" charset="-120"/>
              </a:rPr>
              <a:t>   Bộ thí nghiệm</a:t>
            </a:r>
            <a:endParaRPr lang="en-US" sz="1700" dirty="0"/>
          </a:p>
        </p:txBody>
      </p:sp>
      <p:sp>
        <p:nvSpPr>
          <p:cNvPr id="11" name="Text 9"/>
          <p:cNvSpPr/>
          <p:nvPr/>
        </p:nvSpPr>
        <p:spPr>
          <a:xfrm>
            <a:off x="1371600" y="5303520"/>
            <a:ext cx="6400800" cy="457200"/>
          </a:xfrm>
          <a:prstGeom prst="rect">
            <a:avLst/>
          </a:prstGeom>
          <a:noFill/>
          <a:ln/>
        </p:spPr>
        <p:txBody>
          <a:bodyPr wrap="square" lIns="0" tIns="0" rIns="0" bIns="0" rtlCol="0" anchor="t"/>
          <a:lstStyle/>
          <a:p>
            <a:pPr algn="l" indent="0" marL="0">
              <a:buNone/>
            </a:pPr>
            <a:r>
              <a:rPr lang="en-US" sz="1700" b="1" dirty="0">
                <a:solidFill>
                  <a:srgbClr val="006666"/>
                </a:solidFill>
                <a:latin typeface="Cambria" pitchFamily="34" charset="0"/>
                <a:ea typeface="Cambria" pitchFamily="34" charset="-122"/>
                <a:cs typeface="Cambria" pitchFamily="34" charset="-120"/>
              </a:rPr>
              <a:t>6.</a:t>
            </a:r>
            <a:pPr algn="l" indent="0" marL="0">
              <a:buNone/>
            </a:pPr>
            <a:r>
              <a:rPr lang="en-US" sz="1700" b="1" dirty="0">
                <a:solidFill>
                  <a:srgbClr val="322164"/>
                </a:solidFill>
                <a:latin typeface="Cambria" pitchFamily="34" charset="0"/>
                <a:ea typeface="Cambria" pitchFamily="34" charset="-122"/>
                <a:cs typeface="Cambria" pitchFamily="34" charset="-120"/>
              </a:rPr>
              <a:t>   Kế hoạch và rủi ro</a:t>
            </a:r>
            <a:endParaRPr lang="en-US" sz="1700" dirty="0"/>
          </a:p>
        </p:txBody>
      </p:sp>
      <p:sp>
        <p:nvSpPr>
          <p:cNvPr id="12" name="Shape 10"/>
          <p:cNvSpPr/>
          <p:nvPr/>
        </p:nvSpPr>
        <p:spPr>
          <a:xfrm>
            <a:off x="0" y="6620256"/>
            <a:ext cx="2743200" cy="237744"/>
          </a:xfrm>
          <a:prstGeom prst="rect">
            <a:avLst/>
          </a:prstGeom>
          <a:solidFill>
            <a:srgbClr val="191132"/>
          </a:solidFill>
          <a:ln/>
        </p:spPr>
      </p:sp>
      <p:sp>
        <p:nvSpPr>
          <p:cNvPr id="13" name="Shape 11"/>
          <p:cNvSpPr/>
          <p:nvPr/>
        </p:nvSpPr>
        <p:spPr>
          <a:xfrm>
            <a:off x="2743200" y="6620256"/>
            <a:ext cx="3383280" cy="237744"/>
          </a:xfrm>
          <a:prstGeom prst="rect">
            <a:avLst/>
          </a:prstGeom>
          <a:solidFill>
            <a:srgbClr val="25194B"/>
          </a:solidFill>
          <a:ln/>
        </p:spPr>
      </p:sp>
      <p:sp>
        <p:nvSpPr>
          <p:cNvPr id="14" name="Shape 12"/>
          <p:cNvSpPr/>
          <p:nvPr/>
        </p:nvSpPr>
        <p:spPr>
          <a:xfrm>
            <a:off x="6126480" y="6620256"/>
            <a:ext cx="1737360" cy="237744"/>
          </a:xfrm>
          <a:prstGeom prst="rect">
            <a:avLst/>
          </a:prstGeom>
          <a:solidFill>
            <a:srgbClr val="4F417A"/>
          </a:solidFill>
          <a:ln/>
        </p:spPr>
      </p:sp>
      <p:sp>
        <p:nvSpPr>
          <p:cNvPr id="15" name="Shape 13"/>
          <p:cNvSpPr/>
          <p:nvPr/>
        </p:nvSpPr>
        <p:spPr>
          <a:xfrm>
            <a:off x="7863840" y="6620256"/>
            <a:ext cx="1280160" cy="237744"/>
          </a:xfrm>
          <a:prstGeom prst="rect">
            <a:avLst/>
          </a:prstGeom>
          <a:solidFill>
            <a:srgbClr val="7A7099"/>
          </a:solidFill>
          <a:ln/>
        </p:spPr>
      </p:sp>
      <p:sp>
        <p:nvSpPr>
          <p:cNvPr id="16" name="Text 14"/>
          <p:cNvSpPr/>
          <p:nvPr/>
        </p:nvSpPr>
        <p:spPr>
          <a:xfrm>
            <a:off x="0" y="6620256"/>
            <a:ext cx="2743200" cy="237744"/>
          </a:xfrm>
          <a:prstGeom prst="rect">
            <a:avLst/>
          </a:prstGeom>
          <a:noFill/>
          <a:ln/>
        </p:spPr>
        <p:txBody>
          <a:bodyPr wrap="square" lIns="0" tIns="0" rIns="0" bIns="0" rtlCol="0" anchor="ctr"/>
          <a:lstStyle/>
          <a:p>
            <a:pPr algn="ctr" indent="0" marL="0">
              <a:buNone/>
            </a:pPr>
            <a:r>
              <a:rPr lang="en-US" sz="800" dirty="0">
                <a:solidFill>
                  <a:srgbClr val="FFFFFF"/>
                </a:solidFill>
                <a:latin typeface="Consolas" pitchFamily="34" charset="0"/>
                <a:ea typeface="Consolas" pitchFamily="34" charset="-122"/>
                <a:cs typeface="Consolas" pitchFamily="34" charset="-120"/>
              </a:rPr>
              <a:t>luận văn thạc sĩ</a:t>
            </a:r>
            <a:endParaRPr lang="en-US" sz="800" dirty="0"/>
          </a:p>
        </p:txBody>
      </p:sp>
      <p:sp>
        <p:nvSpPr>
          <p:cNvPr id="17" name="Text 15"/>
          <p:cNvSpPr/>
          <p:nvPr/>
        </p:nvSpPr>
        <p:spPr>
          <a:xfrm>
            <a:off x="2743200" y="6620256"/>
            <a:ext cx="3383280" cy="237744"/>
          </a:xfrm>
          <a:prstGeom prst="rect">
            <a:avLst/>
          </a:prstGeom>
          <a:noFill/>
          <a:ln/>
        </p:spPr>
        <p:txBody>
          <a:bodyPr wrap="square" lIns="0" tIns="0" rIns="0" bIns="0" rtlCol="0" anchor="ctr"/>
          <a:lstStyle/>
          <a:p>
            <a:pPr algn="ctr" indent="0" marL="0">
              <a:buNone/>
            </a:pPr>
            <a:r>
              <a:rPr lang="en-US" sz="800" dirty="0">
                <a:solidFill>
                  <a:srgbClr val="FFFFFF"/>
                </a:solidFill>
                <a:latin typeface="Cambria" pitchFamily="34" charset="0"/>
                <a:ea typeface="Cambria" pitchFamily="34" charset="-122"/>
                <a:cs typeface="Cambria" pitchFamily="34" charset="-120"/>
              </a:rPr>
              <a:t>Sinh hướng dẫn sử dụng phần mềm</a:t>
            </a:r>
            <a:endParaRPr lang="en-US" sz="800" dirty="0"/>
          </a:p>
        </p:txBody>
      </p:sp>
      <p:sp>
        <p:nvSpPr>
          <p:cNvPr id="18" name="Text 16"/>
          <p:cNvSpPr/>
          <p:nvPr/>
        </p:nvSpPr>
        <p:spPr>
          <a:xfrm>
            <a:off x="6126480" y="6620256"/>
            <a:ext cx="1737360" cy="237744"/>
          </a:xfrm>
          <a:prstGeom prst="rect">
            <a:avLst/>
          </a:prstGeom>
          <a:noFill/>
          <a:ln/>
        </p:spPr>
        <p:txBody>
          <a:bodyPr wrap="square" lIns="0" tIns="0" rIns="0" bIns="0" rtlCol="0" anchor="ctr"/>
          <a:lstStyle/>
          <a:p>
            <a:pPr algn="ctr" indent="0" marL="0">
              <a:buNone/>
            </a:pPr>
            <a:r>
              <a:rPr lang="en-US" sz="800" dirty="0">
                <a:solidFill>
                  <a:srgbClr val="FFFFFF"/>
                </a:solidFill>
                <a:latin typeface="Cambria" pitchFamily="34" charset="0"/>
                <a:ea typeface="Cambria" pitchFamily="34" charset="-122"/>
                <a:cs typeface="Cambria" pitchFamily="34" charset="-120"/>
              </a:rPr>
              <a:t>Lê Đoàn Phương Uyên</a:t>
            </a:r>
            <a:endParaRPr lang="en-US" sz="800" dirty="0"/>
          </a:p>
        </p:txBody>
      </p:sp>
      <p:sp>
        <p:nvSpPr>
          <p:cNvPr id="19" name="Text 17"/>
          <p:cNvSpPr/>
          <p:nvPr/>
        </p:nvSpPr>
        <p:spPr>
          <a:xfrm>
            <a:off x="7863840" y="6620256"/>
            <a:ext cx="1280160" cy="237744"/>
          </a:xfrm>
          <a:prstGeom prst="rect">
            <a:avLst/>
          </a:prstGeom>
          <a:noFill/>
          <a:ln/>
        </p:spPr>
        <p:txBody>
          <a:bodyPr wrap="square" lIns="0" tIns="0" rIns="0" bIns="0" rtlCol="0" anchor="ctr"/>
          <a:lstStyle/>
          <a:p>
            <a:pPr algn="ctr" indent="0" marL="0">
              <a:buNone/>
            </a:pPr>
            <a:r>
              <a:rPr lang="en-US" sz="800" dirty="0">
                <a:solidFill>
                  <a:srgbClr val="FFFFFF"/>
                </a:solidFill>
                <a:latin typeface="Cambria" pitchFamily="34" charset="0"/>
                <a:ea typeface="Cambria" pitchFamily="34" charset="-122"/>
                <a:cs typeface="Cambria" pitchFamily="34" charset="-120"/>
              </a:rPr>
              <a:t>2/26</a:t>
            </a:r>
            <a:endParaRPr lang="en-US" sz="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48640"/>
          </a:xfrm>
          <a:prstGeom prst="rect">
            <a:avLst/>
          </a:prstGeom>
          <a:solidFill>
            <a:srgbClr val="322164"/>
          </a:solidFill>
          <a:ln/>
        </p:spPr>
      </p:sp>
      <p:sp>
        <p:nvSpPr>
          <p:cNvPr id="3" name="Text 1"/>
          <p:cNvSpPr/>
          <p:nvPr/>
        </p:nvSpPr>
        <p:spPr>
          <a:xfrm>
            <a:off x="201168" y="0"/>
            <a:ext cx="8741664" cy="548640"/>
          </a:xfrm>
          <a:prstGeom prst="rect">
            <a:avLst/>
          </a:prstGeom>
          <a:noFill/>
          <a:ln/>
        </p:spPr>
        <p:txBody>
          <a:bodyPr wrap="square" lIns="0" tIns="0" rIns="0" bIns="0" rtlCol="0" anchor="ctr"/>
          <a:lstStyle/>
          <a:p>
            <a:pPr algn="l" indent="0" marL="0">
              <a:buNone/>
            </a:pPr>
            <a:r>
              <a:rPr lang="en-US" sz="1900" b="1" dirty="0">
                <a:solidFill>
                  <a:srgbClr val="FFFFFF"/>
                </a:solidFill>
                <a:latin typeface="Cambria" pitchFamily="34" charset="0"/>
                <a:ea typeface="Cambria" pitchFamily="34" charset="-122"/>
                <a:cs typeface="Cambria" pitchFamily="34" charset="-120"/>
              </a:rPr>
              <a:t>Tiến độ thực hiện</a:t>
            </a:r>
            <a:endParaRPr lang="en-US" sz="1900" dirty="0"/>
          </a:p>
        </p:txBody>
      </p:sp>
      <p:sp>
        <p:nvSpPr>
          <p:cNvPr id="4" name="Shape 2"/>
          <p:cNvSpPr/>
          <p:nvPr/>
        </p:nvSpPr>
        <p:spPr>
          <a:xfrm>
            <a:off x="502920" y="1143000"/>
            <a:ext cx="8138160" cy="896112"/>
          </a:xfrm>
          <a:prstGeom prst="roundRect">
            <a:avLst>
              <a:gd name="adj" fmla="val 6122"/>
            </a:avLst>
          </a:prstGeom>
          <a:solidFill>
            <a:srgbClr val="E9E8EC"/>
          </a:solidFill>
          <a:ln/>
          <a:effectLst>
            <a:outerShdw sx="100000" sy="100000" kx="0" ky="0" algn="bl" rotWithShape="0" blurRad="63500" dist="31750" dir="2700000">
              <a:srgbClr val="8C8C99">
                <a:alpha val="45000"/>
              </a:srgbClr>
            </a:outerShdw>
          </a:effectLst>
        </p:spPr>
      </p:sp>
      <p:sp>
        <p:nvSpPr>
          <p:cNvPr id="5" name="Text 3"/>
          <p:cNvSpPr/>
          <p:nvPr/>
        </p:nvSpPr>
        <p:spPr>
          <a:xfrm>
            <a:off x="704088" y="1143000"/>
            <a:ext cx="2148840" cy="896112"/>
          </a:xfrm>
          <a:prstGeom prst="rect">
            <a:avLst/>
          </a:prstGeom>
          <a:noFill/>
          <a:ln/>
        </p:spPr>
        <p:txBody>
          <a:bodyPr wrap="square" lIns="0" tIns="0" rIns="0" bIns="0" rtlCol="0" anchor="ctr"/>
          <a:lstStyle/>
          <a:p>
            <a:pPr algn="l" indent="0" marL="0">
              <a:buNone/>
            </a:pPr>
            <a:r>
              <a:rPr lang="en-US" sz="1350" b="1" dirty="0">
                <a:solidFill>
                  <a:srgbClr val="322164"/>
                </a:solidFill>
                <a:latin typeface="Cambria" pitchFamily="34" charset="0"/>
                <a:ea typeface="Cambria" pitchFamily="34" charset="-122"/>
                <a:cs typeface="Cambria" pitchFamily="34" charset="-120"/>
              </a:rPr>
              <a:t>Cổng bộ trỏ</a:t>
            </a:r>
            <a:endParaRPr lang="en-US" sz="1350" dirty="0"/>
          </a:p>
        </p:txBody>
      </p:sp>
      <p:sp>
        <p:nvSpPr>
          <p:cNvPr id="6" name="Text 4"/>
          <p:cNvSpPr/>
          <p:nvPr/>
        </p:nvSpPr>
        <p:spPr>
          <a:xfrm>
            <a:off x="2880360" y="1143000"/>
            <a:ext cx="1234440" cy="896112"/>
          </a:xfrm>
          <a:prstGeom prst="rect">
            <a:avLst/>
          </a:prstGeom>
          <a:noFill/>
          <a:ln/>
        </p:spPr>
        <p:txBody>
          <a:bodyPr wrap="square" lIns="0" tIns="0" rIns="0" bIns="0" rtlCol="0" anchor="ctr"/>
          <a:lstStyle/>
          <a:p>
            <a:pPr algn="l" indent="0" marL="0">
              <a:buNone/>
            </a:pPr>
            <a:r>
              <a:rPr lang="en-US" sz="1400" b="1" dirty="0">
                <a:solidFill>
                  <a:srgbClr val="B22222"/>
                </a:solidFill>
                <a:latin typeface="Cambria" pitchFamily="34" charset="0"/>
                <a:ea typeface="Cambria" pitchFamily="34" charset="-122"/>
                <a:cs typeface="Cambria" pitchFamily="34" charset="-120"/>
              </a:rPr>
              <a:t>ĐẠT</a:t>
            </a:r>
            <a:endParaRPr lang="en-US" sz="1400" dirty="0"/>
          </a:p>
        </p:txBody>
      </p:sp>
      <p:sp>
        <p:nvSpPr>
          <p:cNvPr id="7" name="Text 5"/>
          <p:cNvSpPr/>
          <p:nvPr/>
        </p:nvSpPr>
        <p:spPr>
          <a:xfrm>
            <a:off x="4206240" y="1143000"/>
            <a:ext cx="4206240" cy="896112"/>
          </a:xfrm>
          <a:prstGeom prst="rect">
            <a:avLst/>
          </a:prstGeom>
          <a:noFill/>
          <a:ln/>
        </p:spPr>
        <p:txBody>
          <a:bodyPr wrap="square" lIns="0" tIns="0" rIns="0" bIns="0" rtlCol="0" anchor="ctr"/>
          <a:lstStyle/>
          <a:p>
            <a:pPr algn="l" indent="0" marL="0">
              <a:lnSpc>
                <a:spcPct val="130000"/>
              </a:lnSpc>
              <a:buNone/>
            </a:pPr>
            <a:r>
              <a:rPr lang="en-US" sz="1250" dirty="0">
                <a:solidFill>
                  <a:srgbClr val="1A1A1A"/>
                </a:solidFill>
                <a:latin typeface="Cambria" pitchFamily="34" charset="0"/>
                <a:ea typeface="Cambria" pitchFamily="34" charset="-122"/>
                <a:cs typeface="Cambria" pitchFamily="34" charset="-120"/>
              </a:rPr>
              <a:t>sai số trung vị 0,7% bề ngang màn - ngưỡng đặt trước là 3%</a:t>
            </a:r>
            <a:endParaRPr lang="en-US" sz="1250" dirty="0"/>
          </a:p>
        </p:txBody>
      </p:sp>
      <p:sp>
        <p:nvSpPr>
          <p:cNvPr id="8" name="Shape 6"/>
          <p:cNvSpPr/>
          <p:nvPr/>
        </p:nvSpPr>
        <p:spPr>
          <a:xfrm>
            <a:off x="502920" y="2258568"/>
            <a:ext cx="8138160" cy="896112"/>
          </a:xfrm>
          <a:prstGeom prst="roundRect">
            <a:avLst>
              <a:gd name="adj" fmla="val 6122"/>
            </a:avLst>
          </a:prstGeom>
          <a:solidFill>
            <a:srgbClr val="E9E8EC"/>
          </a:solidFill>
          <a:ln/>
          <a:effectLst>
            <a:outerShdw sx="100000" sy="100000" kx="0" ky="0" algn="bl" rotWithShape="0" blurRad="63500" dist="31750" dir="2700000">
              <a:srgbClr val="8C8C99">
                <a:alpha val="45000"/>
              </a:srgbClr>
            </a:outerShdw>
          </a:effectLst>
        </p:spPr>
      </p:sp>
      <p:sp>
        <p:nvSpPr>
          <p:cNvPr id="9" name="Text 7"/>
          <p:cNvSpPr/>
          <p:nvPr/>
        </p:nvSpPr>
        <p:spPr>
          <a:xfrm>
            <a:off x="704088" y="2258568"/>
            <a:ext cx="2148840" cy="896112"/>
          </a:xfrm>
          <a:prstGeom prst="rect">
            <a:avLst/>
          </a:prstGeom>
          <a:noFill/>
          <a:ln/>
        </p:spPr>
        <p:txBody>
          <a:bodyPr wrap="square" lIns="0" tIns="0" rIns="0" bIns="0" rtlCol="0" anchor="ctr"/>
          <a:lstStyle/>
          <a:p>
            <a:pPr algn="l" indent="0" marL="0">
              <a:buNone/>
            </a:pPr>
            <a:r>
              <a:rPr lang="en-US" sz="1350" b="1" dirty="0">
                <a:solidFill>
                  <a:srgbClr val="322164"/>
                </a:solidFill>
                <a:latin typeface="Cambria" pitchFamily="34" charset="0"/>
                <a:ea typeface="Cambria" pitchFamily="34" charset="-122"/>
                <a:cs typeface="Cambria" pitchFamily="34" charset="-120"/>
              </a:rPr>
              <a:t>Dữ liệu dạy</a:t>
            </a:r>
            <a:endParaRPr lang="en-US" sz="1350" dirty="0"/>
          </a:p>
        </p:txBody>
      </p:sp>
      <p:sp>
        <p:nvSpPr>
          <p:cNvPr id="10" name="Text 8"/>
          <p:cNvSpPr/>
          <p:nvPr/>
        </p:nvSpPr>
        <p:spPr>
          <a:xfrm>
            <a:off x="2880360" y="2258568"/>
            <a:ext cx="1234440" cy="896112"/>
          </a:xfrm>
          <a:prstGeom prst="rect">
            <a:avLst/>
          </a:prstGeom>
          <a:noFill/>
          <a:ln/>
        </p:spPr>
        <p:txBody>
          <a:bodyPr wrap="square" lIns="0" tIns="0" rIns="0" bIns="0" rtlCol="0" anchor="ctr"/>
          <a:lstStyle/>
          <a:p>
            <a:pPr algn="l" indent="0" marL="0">
              <a:buNone/>
            </a:pPr>
            <a:r>
              <a:rPr lang="en-US" sz="1400" b="1" dirty="0">
                <a:solidFill>
                  <a:srgbClr val="006666"/>
                </a:solidFill>
                <a:latin typeface="Cambria" pitchFamily="34" charset="0"/>
                <a:ea typeface="Cambria" pitchFamily="34" charset="-122"/>
                <a:cs typeface="Cambria" pitchFamily="34" charset="-120"/>
              </a:rPr>
              <a:t>XONG</a:t>
            </a:r>
            <a:endParaRPr lang="en-US" sz="1400" dirty="0"/>
          </a:p>
        </p:txBody>
      </p:sp>
      <p:sp>
        <p:nvSpPr>
          <p:cNvPr id="11" name="Text 9"/>
          <p:cNvSpPr/>
          <p:nvPr/>
        </p:nvSpPr>
        <p:spPr>
          <a:xfrm>
            <a:off x="4206240" y="2258568"/>
            <a:ext cx="4206240" cy="896112"/>
          </a:xfrm>
          <a:prstGeom prst="rect">
            <a:avLst/>
          </a:prstGeom>
          <a:noFill/>
          <a:ln/>
        </p:spPr>
        <p:txBody>
          <a:bodyPr wrap="square" lIns="0" tIns="0" rIns="0" bIns="0" rtlCol="0" anchor="ctr"/>
          <a:lstStyle/>
          <a:p>
            <a:pPr algn="l" indent="0" marL="0">
              <a:lnSpc>
                <a:spcPct val="130000"/>
              </a:lnSpc>
              <a:buNone/>
            </a:pPr>
            <a:r>
              <a:rPr lang="en-US" sz="1250" dirty="0">
                <a:solidFill>
                  <a:srgbClr val="1A1A1A"/>
                </a:solidFill>
                <a:latin typeface="Cambria" pitchFamily="34" charset="0"/>
                <a:ea typeface="Cambria" pitchFamily="34" charset="-122"/>
                <a:cs typeface="Cambria" pitchFamily="34" charset="-120"/>
              </a:rPr>
              <a:t>64.567 bước · 12.895 tác vụ · đọc chữ phủ 100% · 9/9 bất biến</a:t>
            </a:r>
            <a:endParaRPr lang="en-US" sz="1250" dirty="0"/>
          </a:p>
        </p:txBody>
      </p:sp>
      <p:sp>
        <p:nvSpPr>
          <p:cNvPr id="12" name="Shape 10"/>
          <p:cNvSpPr/>
          <p:nvPr/>
        </p:nvSpPr>
        <p:spPr>
          <a:xfrm>
            <a:off x="502920" y="3374136"/>
            <a:ext cx="8138160" cy="896112"/>
          </a:xfrm>
          <a:prstGeom prst="roundRect">
            <a:avLst>
              <a:gd name="adj" fmla="val 6122"/>
            </a:avLst>
          </a:prstGeom>
          <a:solidFill>
            <a:srgbClr val="E9E8EC"/>
          </a:solidFill>
          <a:ln/>
          <a:effectLst>
            <a:outerShdw sx="100000" sy="100000" kx="0" ky="0" algn="bl" rotWithShape="0" blurRad="63500" dist="31750" dir="2700000">
              <a:srgbClr val="8C8C99">
                <a:alpha val="45000"/>
              </a:srgbClr>
            </a:outerShdw>
          </a:effectLst>
        </p:spPr>
      </p:sp>
      <p:sp>
        <p:nvSpPr>
          <p:cNvPr id="13" name="Text 11"/>
          <p:cNvSpPr/>
          <p:nvPr/>
        </p:nvSpPr>
        <p:spPr>
          <a:xfrm>
            <a:off x="704088" y="3374136"/>
            <a:ext cx="2148840" cy="896112"/>
          </a:xfrm>
          <a:prstGeom prst="rect">
            <a:avLst/>
          </a:prstGeom>
          <a:noFill/>
          <a:ln/>
        </p:spPr>
        <p:txBody>
          <a:bodyPr wrap="square" lIns="0" tIns="0" rIns="0" bIns="0" rtlCol="0" anchor="ctr"/>
          <a:lstStyle/>
          <a:p>
            <a:pPr algn="l" indent="0" marL="0">
              <a:buNone/>
            </a:pPr>
            <a:r>
              <a:rPr lang="en-US" sz="1350" b="1" dirty="0">
                <a:solidFill>
                  <a:srgbClr val="322164"/>
                </a:solidFill>
                <a:latin typeface="Cambria" pitchFamily="34" charset="0"/>
                <a:ea typeface="Cambria" pitchFamily="34" charset="-122"/>
                <a:cs typeface="Cambria" pitchFamily="34" charset="-120"/>
              </a:rPr>
              <a:t>Rò rỉ dạy-kiểm</a:t>
            </a:r>
            <a:endParaRPr lang="en-US" sz="1350" dirty="0"/>
          </a:p>
        </p:txBody>
      </p:sp>
      <p:sp>
        <p:nvSpPr>
          <p:cNvPr id="14" name="Text 12"/>
          <p:cNvSpPr/>
          <p:nvPr/>
        </p:nvSpPr>
        <p:spPr>
          <a:xfrm>
            <a:off x="2880360" y="3374136"/>
            <a:ext cx="1234440" cy="896112"/>
          </a:xfrm>
          <a:prstGeom prst="rect">
            <a:avLst/>
          </a:prstGeom>
          <a:noFill/>
          <a:ln/>
        </p:spPr>
        <p:txBody>
          <a:bodyPr wrap="square" lIns="0" tIns="0" rIns="0" bIns="0" rtlCol="0" anchor="ctr"/>
          <a:lstStyle/>
          <a:p>
            <a:pPr algn="l" indent="0" marL="0">
              <a:buNone/>
            </a:pPr>
            <a:r>
              <a:rPr lang="en-US" sz="1400" b="1" dirty="0">
                <a:solidFill>
                  <a:srgbClr val="006666"/>
                </a:solidFill>
                <a:latin typeface="Cambria" pitchFamily="34" charset="0"/>
                <a:ea typeface="Cambria" pitchFamily="34" charset="-122"/>
                <a:cs typeface="Cambria" pitchFamily="34" charset="-120"/>
              </a:rPr>
              <a:t>= 0</a:t>
            </a:r>
            <a:endParaRPr lang="en-US" sz="1400" dirty="0"/>
          </a:p>
        </p:txBody>
      </p:sp>
      <p:sp>
        <p:nvSpPr>
          <p:cNvPr id="15" name="Text 13"/>
          <p:cNvSpPr/>
          <p:nvPr/>
        </p:nvSpPr>
        <p:spPr>
          <a:xfrm>
            <a:off x="4206240" y="3374136"/>
            <a:ext cx="4206240" cy="896112"/>
          </a:xfrm>
          <a:prstGeom prst="rect">
            <a:avLst/>
          </a:prstGeom>
          <a:noFill/>
          <a:ln/>
        </p:spPr>
        <p:txBody>
          <a:bodyPr wrap="square" lIns="0" tIns="0" rIns="0" bIns="0" rtlCol="0" anchor="ctr"/>
          <a:lstStyle/>
          <a:p>
            <a:pPr algn="l" indent="0" marL="0">
              <a:lnSpc>
                <a:spcPct val="130000"/>
              </a:lnSpc>
              <a:buNone/>
            </a:pPr>
            <a:r>
              <a:rPr lang="en-US" sz="1250" dirty="0">
                <a:solidFill>
                  <a:srgbClr val="1A1A1A"/>
                </a:solidFill>
                <a:latin typeface="Cambria" pitchFamily="34" charset="0"/>
                <a:ea typeface="Cambria" pitchFamily="34" charset="-122"/>
                <a:cs typeface="Cambria" pitchFamily="34" charset="-120"/>
              </a:rPr>
              <a:t>lần đầu kiểm ở quy mô đủ: 0 tác vụ trùng giữa 12.895 và 1.432</a:t>
            </a:r>
            <a:endParaRPr lang="en-US" sz="1250" dirty="0"/>
          </a:p>
        </p:txBody>
      </p:sp>
      <p:sp>
        <p:nvSpPr>
          <p:cNvPr id="16" name="Shape 14"/>
          <p:cNvSpPr/>
          <p:nvPr/>
        </p:nvSpPr>
        <p:spPr>
          <a:xfrm>
            <a:off x="502920" y="4489704"/>
            <a:ext cx="8138160" cy="896112"/>
          </a:xfrm>
          <a:prstGeom prst="roundRect">
            <a:avLst>
              <a:gd name="adj" fmla="val 6122"/>
            </a:avLst>
          </a:prstGeom>
          <a:solidFill>
            <a:srgbClr val="E9E8EC"/>
          </a:solidFill>
          <a:ln/>
          <a:effectLst>
            <a:outerShdw sx="100000" sy="100000" kx="0" ky="0" algn="bl" rotWithShape="0" blurRad="63500" dist="31750" dir="2700000">
              <a:srgbClr val="8C8C99">
                <a:alpha val="45000"/>
              </a:srgbClr>
            </a:outerShdw>
          </a:effectLst>
        </p:spPr>
      </p:sp>
      <p:sp>
        <p:nvSpPr>
          <p:cNvPr id="17" name="Text 15"/>
          <p:cNvSpPr/>
          <p:nvPr/>
        </p:nvSpPr>
        <p:spPr>
          <a:xfrm>
            <a:off x="704088" y="4489704"/>
            <a:ext cx="2148840" cy="896112"/>
          </a:xfrm>
          <a:prstGeom prst="rect">
            <a:avLst/>
          </a:prstGeom>
          <a:noFill/>
          <a:ln/>
        </p:spPr>
        <p:txBody>
          <a:bodyPr wrap="square" lIns="0" tIns="0" rIns="0" bIns="0" rtlCol="0" anchor="ctr"/>
          <a:lstStyle/>
          <a:p>
            <a:pPr algn="l" indent="0" marL="0">
              <a:buNone/>
            </a:pPr>
            <a:r>
              <a:rPr lang="en-US" sz="1350" b="1" dirty="0">
                <a:solidFill>
                  <a:srgbClr val="322164"/>
                </a:solidFill>
                <a:latin typeface="Cambria" pitchFamily="34" charset="0"/>
                <a:ea typeface="Cambria" pitchFamily="34" charset="-122"/>
                <a:cs typeface="Cambria" pitchFamily="34" charset="-120"/>
              </a:rPr>
              <a:t>Huấn luyện</a:t>
            </a:r>
            <a:endParaRPr lang="en-US" sz="1350" dirty="0"/>
          </a:p>
        </p:txBody>
      </p:sp>
      <p:sp>
        <p:nvSpPr>
          <p:cNvPr id="18" name="Text 16"/>
          <p:cNvSpPr/>
          <p:nvPr/>
        </p:nvSpPr>
        <p:spPr>
          <a:xfrm>
            <a:off x="2880360" y="4489704"/>
            <a:ext cx="1234440" cy="896112"/>
          </a:xfrm>
          <a:prstGeom prst="rect">
            <a:avLst/>
          </a:prstGeom>
          <a:noFill/>
          <a:ln/>
        </p:spPr>
        <p:txBody>
          <a:bodyPr wrap="square" lIns="0" tIns="0" rIns="0" bIns="0" rtlCol="0" anchor="ctr"/>
          <a:lstStyle/>
          <a:p>
            <a:pPr algn="l" indent="0" marL="0">
              <a:buNone/>
            </a:pPr>
            <a:r>
              <a:rPr lang="en-US" sz="1400" b="1" dirty="0">
                <a:solidFill>
                  <a:srgbClr val="B22222"/>
                </a:solidFill>
                <a:latin typeface="Cambria" pitchFamily="34" charset="0"/>
                <a:ea typeface="Cambria" pitchFamily="34" charset="-122"/>
                <a:cs typeface="Cambria" pitchFamily="34" charset="-120"/>
              </a:rPr>
              <a:t>ĐANG CHẠY</a:t>
            </a:r>
            <a:endParaRPr lang="en-US" sz="1400" dirty="0"/>
          </a:p>
        </p:txBody>
      </p:sp>
      <p:sp>
        <p:nvSpPr>
          <p:cNvPr id="19" name="Text 17"/>
          <p:cNvSpPr/>
          <p:nvPr/>
        </p:nvSpPr>
        <p:spPr>
          <a:xfrm>
            <a:off x="4206240" y="4489704"/>
            <a:ext cx="4206240" cy="896112"/>
          </a:xfrm>
          <a:prstGeom prst="rect">
            <a:avLst/>
          </a:prstGeom>
          <a:noFill/>
          <a:ln/>
        </p:spPr>
        <p:txBody>
          <a:bodyPr wrap="square" lIns="0" tIns="0" rIns="0" bIns="0" rtlCol="0" anchor="ctr"/>
          <a:lstStyle/>
          <a:p>
            <a:pPr algn="l" indent="0" marL="0">
              <a:lnSpc>
                <a:spcPct val="130000"/>
              </a:lnSpc>
              <a:buNone/>
            </a:pPr>
            <a:r>
              <a:rPr lang="en-US" sz="1250" dirty="0">
                <a:solidFill>
                  <a:srgbClr val="1A1A1A"/>
                </a:solidFill>
                <a:latin typeface="Cambria" pitchFamily="34" charset="0"/>
                <a:ea typeface="Cambria" pitchFamily="34" charset="-122"/>
                <a:cs typeface="Cambria" pitchFamily="34" charset="-120"/>
              </a:rPr>
              <a:t>bản thường, hạt giống 101, trên A100 - xong sáng mai</a:t>
            </a:r>
            <a:endParaRPr lang="en-US" sz="1250" dirty="0"/>
          </a:p>
        </p:txBody>
      </p:sp>
      <p:sp>
        <p:nvSpPr>
          <p:cNvPr id="21" name="Shape 18"/>
          <p:cNvSpPr/>
          <p:nvPr/>
        </p:nvSpPr>
        <p:spPr>
          <a:xfrm>
            <a:off x="0" y="6620256"/>
            <a:ext cx="2743200" cy="237744"/>
          </a:xfrm>
          <a:prstGeom prst="rect">
            <a:avLst/>
          </a:prstGeom>
          <a:solidFill>
            <a:srgbClr val="191132"/>
          </a:solidFill>
          <a:ln/>
        </p:spPr>
      </p:sp>
      <p:sp>
        <p:nvSpPr>
          <p:cNvPr id="22" name="Shape 19"/>
          <p:cNvSpPr/>
          <p:nvPr/>
        </p:nvSpPr>
        <p:spPr>
          <a:xfrm>
            <a:off x="2743200" y="6620256"/>
            <a:ext cx="3383280" cy="237744"/>
          </a:xfrm>
          <a:prstGeom prst="rect">
            <a:avLst/>
          </a:prstGeom>
          <a:solidFill>
            <a:srgbClr val="25194B"/>
          </a:solidFill>
          <a:ln/>
        </p:spPr>
      </p:sp>
      <p:sp>
        <p:nvSpPr>
          <p:cNvPr id="23" name="Shape 20"/>
          <p:cNvSpPr/>
          <p:nvPr/>
        </p:nvSpPr>
        <p:spPr>
          <a:xfrm>
            <a:off x="6126480" y="6620256"/>
            <a:ext cx="1737360" cy="237744"/>
          </a:xfrm>
          <a:prstGeom prst="rect">
            <a:avLst/>
          </a:prstGeom>
          <a:solidFill>
            <a:srgbClr val="4F417A"/>
          </a:solidFill>
          <a:ln/>
        </p:spPr>
      </p:sp>
      <p:sp>
        <p:nvSpPr>
          <p:cNvPr id="24" name="Shape 21"/>
          <p:cNvSpPr/>
          <p:nvPr/>
        </p:nvSpPr>
        <p:spPr>
          <a:xfrm>
            <a:off x="7863840" y="6620256"/>
            <a:ext cx="1280160" cy="237744"/>
          </a:xfrm>
          <a:prstGeom prst="rect">
            <a:avLst/>
          </a:prstGeom>
          <a:solidFill>
            <a:srgbClr val="7A7099"/>
          </a:solidFill>
          <a:ln/>
        </p:spPr>
      </p:sp>
      <p:sp>
        <p:nvSpPr>
          <p:cNvPr id="25" name="Text 22"/>
          <p:cNvSpPr/>
          <p:nvPr/>
        </p:nvSpPr>
        <p:spPr>
          <a:xfrm>
            <a:off x="0" y="6620256"/>
            <a:ext cx="2743200" cy="237744"/>
          </a:xfrm>
          <a:prstGeom prst="rect">
            <a:avLst/>
          </a:prstGeom>
          <a:noFill/>
          <a:ln/>
        </p:spPr>
        <p:txBody>
          <a:bodyPr wrap="square" lIns="0" tIns="0" rIns="0" bIns="0" rtlCol="0" anchor="ctr"/>
          <a:lstStyle/>
          <a:p>
            <a:pPr algn="ctr" indent="0" marL="0">
              <a:buNone/>
            </a:pPr>
            <a:r>
              <a:rPr lang="en-US" sz="800" dirty="0">
                <a:solidFill>
                  <a:srgbClr val="FFFFFF"/>
                </a:solidFill>
                <a:latin typeface="Consolas" pitchFamily="34" charset="0"/>
                <a:ea typeface="Consolas" pitchFamily="34" charset="-122"/>
                <a:cs typeface="Consolas" pitchFamily="34" charset="-120"/>
              </a:rPr>
              <a:t>luận văn thạc sĩ</a:t>
            </a:r>
            <a:endParaRPr lang="en-US" sz="800" dirty="0"/>
          </a:p>
        </p:txBody>
      </p:sp>
      <p:sp>
        <p:nvSpPr>
          <p:cNvPr id="26" name="Text 23"/>
          <p:cNvSpPr/>
          <p:nvPr/>
        </p:nvSpPr>
        <p:spPr>
          <a:xfrm>
            <a:off x="2743200" y="6620256"/>
            <a:ext cx="3383280" cy="237744"/>
          </a:xfrm>
          <a:prstGeom prst="rect">
            <a:avLst/>
          </a:prstGeom>
          <a:noFill/>
          <a:ln/>
        </p:spPr>
        <p:txBody>
          <a:bodyPr wrap="square" lIns="0" tIns="0" rIns="0" bIns="0" rtlCol="0" anchor="ctr"/>
          <a:lstStyle/>
          <a:p>
            <a:pPr algn="ctr" indent="0" marL="0">
              <a:buNone/>
            </a:pPr>
            <a:r>
              <a:rPr lang="en-US" sz="800" dirty="0">
                <a:solidFill>
                  <a:srgbClr val="FFFFFF"/>
                </a:solidFill>
                <a:latin typeface="Cambria" pitchFamily="34" charset="0"/>
                <a:ea typeface="Cambria" pitchFamily="34" charset="-122"/>
                <a:cs typeface="Cambria" pitchFamily="34" charset="-120"/>
              </a:rPr>
              <a:t>Sinh hướng dẫn sử dụng phần mềm</a:t>
            </a:r>
            <a:endParaRPr lang="en-US" sz="800" dirty="0"/>
          </a:p>
        </p:txBody>
      </p:sp>
      <p:sp>
        <p:nvSpPr>
          <p:cNvPr id="27" name="Text 24"/>
          <p:cNvSpPr/>
          <p:nvPr/>
        </p:nvSpPr>
        <p:spPr>
          <a:xfrm>
            <a:off x="6126480" y="6620256"/>
            <a:ext cx="1737360" cy="237744"/>
          </a:xfrm>
          <a:prstGeom prst="rect">
            <a:avLst/>
          </a:prstGeom>
          <a:noFill/>
          <a:ln/>
        </p:spPr>
        <p:txBody>
          <a:bodyPr wrap="square" lIns="0" tIns="0" rIns="0" bIns="0" rtlCol="0" anchor="ctr"/>
          <a:lstStyle/>
          <a:p>
            <a:pPr algn="ctr" indent="0" marL="0">
              <a:buNone/>
            </a:pPr>
            <a:r>
              <a:rPr lang="en-US" sz="800" dirty="0">
                <a:solidFill>
                  <a:srgbClr val="FFFFFF"/>
                </a:solidFill>
                <a:latin typeface="Cambria" pitchFamily="34" charset="0"/>
                <a:ea typeface="Cambria" pitchFamily="34" charset="-122"/>
                <a:cs typeface="Cambria" pitchFamily="34" charset="-120"/>
              </a:rPr>
              <a:t>Lê Đoàn Phương Uyên</a:t>
            </a:r>
            <a:endParaRPr lang="en-US" sz="800" dirty="0"/>
          </a:p>
        </p:txBody>
      </p:sp>
      <p:sp>
        <p:nvSpPr>
          <p:cNvPr id="28" name="Text 25"/>
          <p:cNvSpPr/>
          <p:nvPr/>
        </p:nvSpPr>
        <p:spPr>
          <a:xfrm>
            <a:off x="7863840" y="6620256"/>
            <a:ext cx="1280160" cy="237744"/>
          </a:xfrm>
          <a:prstGeom prst="rect">
            <a:avLst/>
          </a:prstGeom>
          <a:noFill/>
          <a:ln/>
        </p:spPr>
        <p:txBody>
          <a:bodyPr wrap="square" lIns="0" tIns="0" rIns="0" bIns="0" rtlCol="0" anchor="ctr"/>
          <a:lstStyle/>
          <a:p>
            <a:pPr algn="ctr" indent="0" marL="0">
              <a:buNone/>
            </a:pPr>
            <a:r>
              <a:rPr lang="en-US" sz="800" dirty="0">
                <a:solidFill>
                  <a:srgbClr val="FFFFFF"/>
                </a:solidFill>
                <a:latin typeface="Cambria" pitchFamily="34" charset="0"/>
                <a:ea typeface="Cambria" pitchFamily="34" charset="-122"/>
                <a:cs typeface="Cambria" pitchFamily="34" charset="-120"/>
              </a:rPr>
              <a:t>3/26</a:t>
            </a:r>
            <a:endParaRPr lang="en-US" sz="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48640"/>
          </a:xfrm>
          <a:prstGeom prst="rect">
            <a:avLst/>
          </a:prstGeom>
          <a:solidFill>
            <a:srgbClr val="322164"/>
          </a:solidFill>
          <a:ln/>
        </p:spPr>
      </p:sp>
      <p:sp>
        <p:nvSpPr>
          <p:cNvPr id="3" name="Text 1"/>
          <p:cNvSpPr/>
          <p:nvPr/>
        </p:nvSpPr>
        <p:spPr>
          <a:xfrm>
            <a:off x="201168" y="0"/>
            <a:ext cx="8741664" cy="548640"/>
          </a:xfrm>
          <a:prstGeom prst="rect">
            <a:avLst/>
          </a:prstGeom>
          <a:noFill/>
          <a:ln/>
        </p:spPr>
        <p:txBody>
          <a:bodyPr wrap="square" lIns="0" tIns="0" rIns="0" bIns="0" rtlCol="0" anchor="ctr"/>
          <a:lstStyle/>
          <a:p>
            <a:pPr algn="l" indent="0" marL="0">
              <a:buNone/>
            </a:pPr>
            <a:r>
              <a:rPr lang="en-US" sz="1900" b="1" dirty="0">
                <a:solidFill>
                  <a:srgbClr val="FFFFFF"/>
                </a:solidFill>
                <a:latin typeface="Cambria" pitchFamily="34" charset="0"/>
                <a:ea typeface="Cambria" pitchFamily="34" charset="-122"/>
                <a:cs typeface="Cambria" pitchFamily="34" charset="-120"/>
              </a:rPr>
              <a:t>1.1.  Bài toán</a:t>
            </a:r>
            <a:endParaRPr lang="en-US" sz="1900" dirty="0"/>
          </a:p>
        </p:txBody>
      </p:sp>
      <p:sp>
        <p:nvSpPr>
          <p:cNvPr id="4" name="Shape 2"/>
          <p:cNvSpPr/>
          <p:nvPr/>
        </p:nvSpPr>
        <p:spPr>
          <a:xfrm>
            <a:off x="502920" y="1005840"/>
            <a:ext cx="8138160" cy="914400"/>
          </a:xfrm>
          <a:prstGeom prst="roundRect">
            <a:avLst>
              <a:gd name="adj" fmla="val 6000"/>
            </a:avLst>
          </a:prstGeom>
          <a:solidFill>
            <a:srgbClr val="E9E8EC"/>
          </a:solidFill>
          <a:ln/>
          <a:effectLst>
            <a:outerShdw sx="100000" sy="100000" kx="0" ky="0" algn="bl" rotWithShape="0" blurRad="63500" dist="31750" dir="2700000">
              <a:srgbClr val="8C8C99">
                <a:alpha val="45000"/>
              </a:srgbClr>
            </a:outerShdw>
          </a:effectLst>
        </p:spPr>
      </p:sp>
      <p:sp>
        <p:nvSpPr>
          <p:cNvPr id="5" name="Text 3"/>
          <p:cNvSpPr/>
          <p:nvPr/>
        </p:nvSpPr>
        <p:spPr>
          <a:xfrm>
            <a:off x="704088" y="1005840"/>
            <a:ext cx="7735824" cy="914400"/>
          </a:xfrm>
          <a:prstGeom prst="rect">
            <a:avLst/>
          </a:prstGeom>
          <a:noFill/>
          <a:ln/>
        </p:spPr>
        <p:txBody>
          <a:bodyPr wrap="square" lIns="0" tIns="0" rIns="0" bIns="0" rtlCol="0" anchor="ctr"/>
          <a:lstStyle/>
          <a:p>
            <a:pPr algn="l" indent="0" marL="0">
              <a:lnSpc>
                <a:spcPct val="135000"/>
              </a:lnSpc>
              <a:buNone/>
            </a:pPr>
            <a:r>
              <a:rPr lang="en-US" sz="1450" dirty="0">
                <a:solidFill>
                  <a:srgbClr val="1A1A1A"/>
                </a:solidFill>
                <a:latin typeface="Cambria" pitchFamily="34" charset="0"/>
                <a:ea typeface="Cambria" pitchFamily="34" charset="-122"/>
                <a:cs typeface="Cambria" pitchFamily="34" charset="-120"/>
              </a:rPr>
              <a:t>Người dùng bí trong một ứng dụng: chụp màn hình, đặt câu hỏi</a:t>
            </a:r>
            <a:endParaRPr lang="en-US" sz="1450" dirty="0"/>
          </a:p>
        </p:txBody>
      </p:sp>
      <p:sp>
        <p:nvSpPr>
          <p:cNvPr id="6" name="Shape 4"/>
          <p:cNvSpPr/>
          <p:nvPr/>
        </p:nvSpPr>
        <p:spPr>
          <a:xfrm>
            <a:off x="502920" y="2240280"/>
            <a:ext cx="8138160" cy="1371600"/>
          </a:xfrm>
          <a:prstGeom prst="roundRect">
            <a:avLst>
              <a:gd name="adj" fmla="val 4000"/>
            </a:avLst>
          </a:prstGeom>
          <a:solidFill>
            <a:srgbClr val="E9E8EC"/>
          </a:solidFill>
          <a:ln/>
          <a:effectLst>
            <a:outerShdw sx="100000" sy="100000" kx="0" ky="0" algn="bl" rotWithShape="0" blurRad="63500" dist="31750" dir="2700000">
              <a:srgbClr val="8C8C99">
                <a:alpha val="45000"/>
              </a:srgbClr>
            </a:outerShdw>
          </a:effectLst>
        </p:spPr>
      </p:sp>
      <p:sp>
        <p:nvSpPr>
          <p:cNvPr id="7" name="Text 5"/>
          <p:cNvSpPr/>
          <p:nvPr/>
        </p:nvSpPr>
        <p:spPr>
          <a:xfrm>
            <a:off x="704088" y="2423160"/>
            <a:ext cx="7735824" cy="457200"/>
          </a:xfrm>
          <a:prstGeom prst="rect">
            <a:avLst/>
          </a:prstGeom>
          <a:noFill/>
          <a:ln/>
        </p:spPr>
        <p:txBody>
          <a:bodyPr wrap="square" lIns="0" tIns="0" rIns="0" bIns="0" rtlCol="0" anchor="t"/>
          <a:lstStyle/>
          <a:p>
            <a:pPr algn="l" indent="0" marL="0">
              <a:buNone/>
            </a:pPr>
            <a:r>
              <a:rPr lang="en-US" sz="1450" b="1" dirty="0">
                <a:solidFill>
                  <a:srgbClr val="1414BE"/>
                </a:solidFill>
                <a:latin typeface="Cambria" pitchFamily="34" charset="0"/>
                <a:ea typeface="Cambria" pitchFamily="34" charset="-122"/>
                <a:cs typeface="Cambria" pitchFamily="34" charset="-120"/>
              </a:rPr>
              <a:t>Ví dụ.  </a:t>
            </a:r>
            <a:pPr algn="l" indent="0" marL="0">
              <a:buNone/>
            </a:pPr>
            <a:r>
              <a:rPr lang="en-US" sz="1450" i="1" dirty="0">
                <a:solidFill>
                  <a:srgbClr val="1A1A1A"/>
                </a:solidFill>
                <a:latin typeface="Cambria" pitchFamily="34" charset="0"/>
                <a:ea typeface="Cambria" pitchFamily="34" charset="-122"/>
                <a:cs typeface="Cambria" pitchFamily="34" charset="-120"/>
              </a:rPr>
              <a:t>“Làm sao chia sẻ playlist này cho bạn tôi?”</a:t>
            </a:r>
            <a:endParaRPr lang="en-US" sz="1450" dirty="0"/>
          </a:p>
        </p:txBody>
      </p:sp>
      <p:sp>
        <p:nvSpPr>
          <p:cNvPr id="8" name="Text 6"/>
          <p:cNvSpPr/>
          <p:nvPr/>
        </p:nvSpPr>
        <p:spPr>
          <a:xfrm>
            <a:off x="1362456" y="2971800"/>
            <a:ext cx="7040880" cy="502920"/>
          </a:xfrm>
          <a:prstGeom prst="rect">
            <a:avLst/>
          </a:prstGeom>
          <a:noFill/>
          <a:ln/>
        </p:spPr>
        <p:txBody>
          <a:bodyPr wrap="square" lIns="0" tIns="0" rIns="0" bIns="0" rtlCol="0" anchor="t"/>
          <a:lstStyle/>
          <a:p>
            <a:pPr algn="l" indent="0" marL="0">
              <a:buNone/>
            </a:pPr>
            <a:r>
              <a:rPr lang="en-US" sz="1450" i="1" dirty="0">
                <a:solidFill>
                  <a:srgbClr val="1A1A1A"/>
                </a:solidFill>
                <a:latin typeface="Cambria" pitchFamily="34" charset="0"/>
                <a:ea typeface="Cambria" pitchFamily="34" charset="-122"/>
                <a:cs typeface="Cambria" pitchFamily="34" charset="-120"/>
              </a:rPr>
              <a:t>→  “Chạm vào biểu tượng chia sẻ ở góc trên bên phải màn hình.”</a:t>
            </a:r>
            <a:endParaRPr lang="en-US" sz="1450" dirty="0"/>
          </a:p>
        </p:txBody>
      </p:sp>
      <p:sp>
        <p:nvSpPr>
          <p:cNvPr id="9" name="Text 7"/>
          <p:cNvSpPr/>
          <p:nvPr/>
        </p:nvSpPr>
        <p:spPr>
          <a:xfrm>
            <a:off x="502920" y="4023360"/>
            <a:ext cx="8138160" cy="914400"/>
          </a:xfrm>
          <a:prstGeom prst="rect">
            <a:avLst/>
          </a:prstGeom>
          <a:noFill/>
          <a:ln/>
        </p:spPr>
        <p:txBody>
          <a:bodyPr wrap="square" lIns="0" tIns="0" rIns="0" bIns="0" rtlCol="0" anchor="t"/>
          <a:lstStyle/>
          <a:p>
            <a:pPr algn="l" indent="0" marL="0">
              <a:lnSpc>
                <a:spcPct val="140000"/>
              </a:lnSpc>
              <a:buNone/>
            </a:pPr>
            <a:r>
              <a:rPr lang="en-US" sz="1450" b="1" dirty="0">
                <a:solidFill>
                  <a:srgbClr val="006666"/>
                </a:solidFill>
                <a:latin typeface="Cambria" pitchFamily="34" charset="0"/>
                <a:ea typeface="Cambria" pitchFamily="34" charset="-122"/>
                <a:cs typeface="Cambria" pitchFamily="34" charset="-120"/>
              </a:rPr>
              <a:t>Mô hình giao diện hiện nay:  </a:t>
            </a:r>
            <a:pPr algn="l" indent="0" marL="0">
              <a:lnSpc>
                <a:spcPct val="140000"/>
              </a:lnSpc>
              <a:buNone/>
            </a:pPr>
            <a:r>
              <a:rPr lang="en-US" sz="1450" dirty="0">
                <a:solidFill>
                  <a:srgbClr val="1A1A1A"/>
                </a:solidFill>
                <a:latin typeface="Cambria" pitchFamily="34" charset="0"/>
                <a:ea typeface="Cambria" pitchFamily="34" charset="-122"/>
                <a:cs typeface="Cambria" pitchFamily="34" charset="-120"/>
              </a:rPr>
              <a:t>tự bấm thay người, đầu ra là toạ độ nút cần bấm, dạng  click(732, 173)</a:t>
            </a:r>
            <a:endParaRPr lang="en-US" sz="1450" dirty="0"/>
          </a:p>
          <a:p>
            <a:pPr algn="l" indent="0" marL="0">
              <a:lnSpc>
                <a:spcPct val="140000"/>
              </a:lnSpc>
              <a:buNone/>
            </a:pPr>
            <a:r>
              <a:rPr lang="en-US" sz="1450" dirty="0">
                <a:solidFill>
                  <a:srgbClr val="1A1A1A"/>
                </a:solidFill>
                <a:latin typeface="Cambria" pitchFamily="34" charset="0"/>
                <a:ea typeface="Cambria" pitchFamily="34" charset="-122"/>
                <a:cs typeface="Cambria" pitchFamily="34" charset="-120"/>
              </a:rPr>
              <a:t>Luận văn: đầu ra là câu chữ cho người đọc</a:t>
            </a:r>
            <a:endParaRPr lang="en-US" sz="1450" dirty="0"/>
          </a:p>
        </p:txBody>
      </p:sp>
      <p:sp>
        <p:nvSpPr>
          <p:cNvPr id="10" name="Text 8"/>
          <p:cNvSpPr/>
          <p:nvPr/>
        </p:nvSpPr>
        <p:spPr>
          <a:xfrm>
            <a:off x="502920" y="5257800"/>
            <a:ext cx="8138160" cy="457200"/>
          </a:xfrm>
          <a:prstGeom prst="rect">
            <a:avLst/>
          </a:prstGeom>
          <a:noFill/>
          <a:ln/>
        </p:spPr>
        <p:txBody>
          <a:bodyPr wrap="square" lIns="0" tIns="0" rIns="0" bIns="0" rtlCol="0" anchor="t"/>
          <a:lstStyle/>
          <a:p>
            <a:pPr algn="l" indent="0" marL="0">
              <a:buNone/>
            </a:pPr>
            <a:r>
              <a:rPr lang="en-US" sz="1400" i="1" dirty="0">
                <a:solidFill>
                  <a:srgbClr val="990000"/>
                </a:solidFill>
                <a:latin typeface="Cambria" pitchFamily="34" charset="0"/>
                <a:ea typeface="Cambria" pitchFamily="34" charset="-122"/>
                <a:cs typeface="Cambria" pitchFamily="34" charset="-120"/>
              </a:rPr>
              <a:t>Chạy ngay trên điện thoại, không cần mạng</a:t>
            </a:r>
            <a:endParaRPr lang="en-US" sz="1400" dirty="0"/>
          </a:p>
        </p:txBody>
      </p:sp>
      <p:sp>
        <p:nvSpPr>
          <p:cNvPr id="12" name="Shape 9"/>
          <p:cNvSpPr/>
          <p:nvPr/>
        </p:nvSpPr>
        <p:spPr>
          <a:xfrm>
            <a:off x="0" y="6620256"/>
            <a:ext cx="2743200" cy="237744"/>
          </a:xfrm>
          <a:prstGeom prst="rect">
            <a:avLst/>
          </a:prstGeom>
          <a:solidFill>
            <a:srgbClr val="191132"/>
          </a:solidFill>
          <a:ln/>
        </p:spPr>
      </p:sp>
      <p:sp>
        <p:nvSpPr>
          <p:cNvPr id="13" name="Shape 10"/>
          <p:cNvSpPr/>
          <p:nvPr/>
        </p:nvSpPr>
        <p:spPr>
          <a:xfrm>
            <a:off x="2743200" y="6620256"/>
            <a:ext cx="3383280" cy="237744"/>
          </a:xfrm>
          <a:prstGeom prst="rect">
            <a:avLst/>
          </a:prstGeom>
          <a:solidFill>
            <a:srgbClr val="25194B"/>
          </a:solidFill>
          <a:ln/>
        </p:spPr>
      </p:sp>
      <p:sp>
        <p:nvSpPr>
          <p:cNvPr id="14" name="Shape 11"/>
          <p:cNvSpPr/>
          <p:nvPr/>
        </p:nvSpPr>
        <p:spPr>
          <a:xfrm>
            <a:off x="6126480" y="6620256"/>
            <a:ext cx="1737360" cy="237744"/>
          </a:xfrm>
          <a:prstGeom prst="rect">
            <a:avLst/>
          </a:prstGeom>
          <a:solidFill>
            <a:srgbClr val="4F417A"/>
          </a:solidFill>
          <a:ln/>
        </p:spPr>
      </p:sp>
      <p:sp>
        <p:nvSpPr>
          <p:cNvPr id="15" name="Shape 12"/>
          <p:cNvSpPr/>
          <p:nvPr/>
        </p:nvSpPr>
        <p:spPr>
          <a:xfrm>
            <a:off x="7863840" y="6620256"/>
            <a:ext cx="1280160" cy="237744"/>
          </a:xfrm>
          <a:prstGeom prst="rect">
            <a:avLst/>
          </a:prstGeom>
          <a:solidFill>
            <a:srgbClr val="7A7099"/>
          </a:solidFill>
          <a:ln/>
        </p:spPr>
      </p:sp>
      <p:sp>
        <p:nvSpPr>
          <p:cNvPr id="16" name="Text 13"/>
          <p:cNvSpPr/>
          <p:nvPr/>
        </p:nvSpPr>
        <p:spPr>
          <a:xfrm>
            <a:off x="0" y="6620256"/>
            <a:ext cx="2743200" cy="237744"/>
          </a:xfrm>
          <a:prstGeom prst="rect">
            <a:avLst/>
          </a:prstGeom>
          <a:noFill/>
          <a:ln/>
        </p:spPr>
        <p:txBody>
          <a:bodyPr wrap="square" lIns="0" tIns="0" rIns="0" bIns="0" rtlCol="0" anchor="ctr"/>
          <a:lstStyle/>
          <a:p>
            <a:pPr algn="ctr" indent="0" marL="0">
              <a:buNone/>
            </a:pPr>
            <a:r>
              <a:rPr lang="en-US" sz="800" dirty="0">
                <a:solidFill>
                  <a:srgbClr val="FFFFFF"/>
                </a:solidFill>
                <a:latin typeface="Consolas" pitchFamily="34" charset="0"/>
                <a:ea typeface="Consolas" pitchFamily="34" charset="-122"/>
                <a:cs typeface="Consolas" pitchFamily="34" charset="-120"/>
              </a:rPr>
              <a:t>luận văn thạc sĩ</a:t>
            </a:r>
            <a:endParaRPr lang="en-US" sz="800" dirty="0"/>
          </a:p>
        </p:txBody>
      </p:sp>
      <p:sp>
        <p:nvSpPr>
          <p:cNvPr id="17" name="Text 14"/>
          <p:cNvSpPr/>
          <p:nvPr/>
        </p:nvSpPr>
        <p:spPr>
          <a:xfrm>
            <a:off x="2743200" y="6620256"/>
            <a:ext cx="3383280" cy="237744"/>
          </a:xfrm>
          <a:prstGeom prst="rect">
            <a:avLst/>
          </a:prstGeom>
          <a:noFill/>
          <a:ln/>
        </p:spPr>
        <p:txBody>
          <a:bodyPr wrap="square" lIns="0" tIns="0" rIns="0" bIns="0" rtlCol="0" anchor="ctr"/>
          <a:lstStyle/>
          <a:p>
            <a:pPr algn="ctr" indent="0" marL="0">
              <a:buNone/>
            </a:pPr>
            <a:r>
              <a:rPr lang="en-US" sz="800" dirty="0">
                <a:solidFill>
                  <a:srgbClr val="FFFFFF"/>
                </a:solidFill>
                <a:latin typeface="Cambria" pitchFamily="34" charset="0"/>
                <a:ea typeface="Cambria" pitchFamily="34" charset="-122"/>
                <a:cs typeface="Cambria" pitchFamily="34" charset="-120"/>
              </a:rPr>
              <a:t>Sinh hướng dẫn sử dụng phần mềm</a:t>
            </a:r>
            <a:endParaRPr lang="en-US" sz="800" dirty="0"/>
          </a:p>
        </p:txBody>
      </p:sp>
      <p:sp>
        <p:nvSpPr>
          <p:cNvPr id="18" name="Text 15"/>
          <p:cNvSpPr/>
          <p:nvPr/>
        </p:nvSpPr>
        <p:spPr>
          <a:xfrm>
            <a:off x="6126480" y="6620256"/>
            <a:ext cx="1737360" cy="237744"/>
          </a:xfrm>
          <a:prstGeom prst="rect">
            <a:avLst/>
          </a:prstGeom>
          <a:noFill/>
          <a:ln/>
        </p:spPr>
        <p:txBody>
          <a:bodyPr wrap="square" lIns="0" tIns="0" rIns="0" bIns="0" rtlCol="0" anchor="ctr"/>
          <a:lstStyle/>
          <a:p>
            <a:pPr algn="ctr" indent="0" marL="0">
              <a:buNone/>
            </a:pPr>
            <a:r>
              <a:rPr lang="en-US" sz="800" dirty="0">
                <a:solidFill>
                  <a:srgbClr val="FFFFFF"/>
                </a:solidFill>
                <a:latin typeface="Cambria" pitchFamily="34" charset="0"/>
                <a:ea typeface="Cambria" pitchFamily="34" charset="-122"/>
                <a:cs typeface="Cambria" pitchFamily="34" charset="-120"/>
              </a:rPr>
              <a:t>Lê Đoàn Phương Uyên</a:t>
            </a:r>
            <a:endParaRPr lang="en-US" sz="800" dirty="0"/>
          </a:p>
        </p:txBody>
      </p:sp>
      <p:sp>
        <p:nvSpPr>
          <p:cNvPr id="19" name="Text 16"/>
          <p:cNvSpPr/>
          <p:nvPr/>
        </p:nvSpPr>
        <p:spPr>
          <a:xfrm>
            <a:off x="7863840" y="6620256"/>
            <a:ext cx="1280160" cy="237744"/>
          </a:xfrm>
          <a:prstGeom prst="rect">
            <a:avLst/>
          </a:prstGeom>
          <a:noFill/>
          <a:ln/>
        </p:spPr>
        <p:txBody>
          <a:bodyPr wrap="square" lIns="0" tIns="0" rIns="0" bIns="0" rtlCol="0" anchor="ctr"/>
          <a:lstStyle/>
          <a:p>
            <a:pPr algn="ctr" indent="0" marL="0">
              <a:buNone/>
            </a:pPr>
            <a:r>
              <a:rPr lang="en-US" sz="800" dirty="0">
                <a:solidFill>
                  <a:srgbClr val="FFFFFF"/>
                </a:solidFill>
                <a:latin typeface="Cambria" pitchFamily="34" charset="0"/>
                <a:ea typeface="Cambria" pitchFamily="34" charset="-122"/>
                <a:cs typeface="Cambria" pitchFamily="34" charset="-120"/>
              </a:rPr>
              <a:t>4/26</a:t>
            </a:r>
            <a:endParaRPr lang="en-US" sz="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48640"/>
          </a:xfrm>
          <a:prstGeom prst="rect">
            <a:avLst/>
          </a:prstGeom>
          <a:solidFill>
            <a:srgbClr val="322164"/>
          </a:solidFill>
          <a:ln/>
        </p:spPr>
      </p:sp>
      <p:sp>
        <p:nvSpPr>
          <p:cNvPr id="3" name="Text 1"/>
          <p:cNvSpPr/>
          <p:nvPr/>
        </p:nvSpPr>
        <p:spPr>
          <a:xfrm>
            <a:off x="201168" y="0"/>
            <a:ext cx="8741664" cy="548640"/>
          </a:xfrm>
          <a:prstGeom prst="rect">
            <a:avLst/>
          </a:prstGeom>
          <a:noFill/>
          <a:ln/>
        </p:spPr>
        <p:txBody>
          <a:bodyPr wrap="square" lIns="0" tIns="0" rIns="0" bIns="0" rtlCol="0" anchor="ctr"/>
          <a:lstStyle/>
          <a:p>
            <a:pPr algn="l" indent="0" marL="0">
              <a:buNone/>
            </a:pPr>
            <a:r>
              <a:rPr lang="en-US" sz="1900" b="1" dirty="0">
                <a:solidFill>
                  <a:srgbClr val="FFFFFF"/>
                </a:solidFill>
                <a:latin typeface="Cambria" pitchFamily="34" charset="0"/>
                <a:ea typeface="Cambria" pitchFamily="34" charset="-122"/>
                <a:cs typeface="Cambria" pitchFamily="34" charset="-120"/>
              </a:rPr>
              <a:t>1.2.  Đã có ai làm chưa?</a:t>
            </a:r>
            <a:endParaRPr lang="en-US" sz="1900" dirty="0"/>
          </a:p>
        </p:txBody>
      </p:sp>
      <p:sp>
        <p:nvSpPr>
          <p:cNvPr id="4" name="Text 2"/>
          <p:cNvSpPr/>
          <p:nvPr/>
        </p:nvSpPr>
        <p:spPr>
          <a:xfrm>
            <a:off x="502920" y="868680"/>
            <a:ext cx="3977640" cy="365760"/>
          </a:xfrm>
          <a:prstGeom prst="rect">
            <a:avLst/>
          </a:prstGeom>
          <a:noFill/>
          <a:ln/>
        </p:spPr>
        <p:txBody>
          <a:bodyPr wrap="square" lIns="0" tIns="0" rIns="0" bIns="0" rtlCol="0" anchor="t"/>
          <a:lstStyle/>
          <a:p>
            <a:pPr algn="ctr" indent="0" marL="0">
              <a:buNone/>
            </a:pPr>
            <a:r>
              <a:rPr lang="en-US" sz="1500" b="1" dirty="0">
                <a:solidFill>
                  <a:srgbClr val="322164"/>
                </a:solidFill>
                <a:latin typeface="Cambria" pitchFamily="34" charset="0"/>
                <a:ea typeface="Cambria" pitchFamily="34" charset="-122"/>
                <a:cs typeface="Cambria" pitchFamily="34" charset="-120"/>
              </a:rPr>
              <a:t>Các nghiên cứu trước</a:t>
            </a:r>
            <a:endParaRPr lang="en-US" sz="1500" dirty="0"/>
          </a:p>
        </p:txBody>
      </p:sp>
      <p:sp>
        <p:nvSpPr>
          <p:cNvPr id="5" name="Text 3"/>
          <p:cNvSpPr/>
          <p:nvPr/>
        </p:nvSpPr>
        <p:spPr>
          <a:xfrm>
            <a:off x="4663440" y="868680"/>
            <a:ext cx="3977640" cy="365760"/>
          </a:xfrm>
          <a:prstGeom prst="rect">
            <a:avLst/>
          </a:prstGeom>
          <a:noFill/>
          <a:ln/>
        </p:spPr>
        <p:txBody>
          <a:bodyPr wrap="square" lIns="0" tIns="0" rIns="0" bIns="0" rtlCol="0" anchor="t"/>
          <a:lstStyle/>
          <a:p>
            <a:pPr algn="ctr" indent="0" marL="0">
              <a:buNone/>
            </a:pPr>
            <a:r>
              <a:rPr lang="en-US" sz="1500" b="1" dirty="0">
                <a:solidFill>
                  <a:srgbClr val="B22222"/>
                </a:solidFill>
                <a:latin typeface="Cambria" pitchFamily="34" charset="0"/>
                <a:ea typeface="Cambria" pitchFamily="34" charset="-122"/>
                <a:cs typeface="Cambria" pitchFamily="34" charset="-120"/>
              </a:rPr>
              <a:t>Luận văn này</a:t>
            </a:r>
            <a:endParaRPr lang="en-US" sz="1500" dirty="0"/>
          </a:p>
        </p:txBody>
      </p:sp>
      <p:sp>
        <p:nvSpPr>
          <p:cNvPr id="6" name="Shape 4"/>
          <p:cNvSpPr/>
          <p:nvPr/>
        </p:nvSpPr>
        <p:spPr>
          <a:xfrm>
            <a:off x="502920" y="1298448"/>
            <a:ext cx="3977640" cy="2514600"/>
          </a:xfrm>
          <a:prstGeom prst="roundRect">
            <a:avLst>
              <a:gd name="adj" fmla="val 2182"/>
            </a:avLst>
          </a:prstGeom>
          <a:solidFill>
            <a:srgbClr val="E9E8EC"/>
          </a:solidFill>
          <a:ln/>
          <a:effectLst>
            <a:outerShdw sx="100000" sy="100000" kx="0" ky="0" algn="bl" rotWithShape="0" blurRad="63500" dist="31750" dir="2700000">
              <a:srgbClr val="8C8C99">
                <a:alpha val="45000"/>
              </a:srgbClr>
            </a:outerShdw>
          </a:effectLst>
        </p:spPr>
      </p:sp>
      <p:sp>
        <p:nvSpPr>
          <p:cNvPr id="7" name="Shape 5"/>
          <p:cNvSpPr/>
          <p:nvPr/>
        </p:nvSpPr>
        <p:spPr>
          <a:xfrm>
            <a:off x="4663440" y="1298448"/>
            <a:ext cx="3977640" cy="2514600"/>
          </a:xfrm>
          <a:prstGeom prst="roundRect">
            <a:avLst>
              <a:gd name="adj" fmla="val 2182"/>
            </a:avLst>
          </a:prstGeom>
          <a:solidFill>
            <a:srgbClr val="E9E8EC"/>
          </a:solidFill>
          <a:ln/>
          <a:effectLst>
            <a:outerShdw sx="100000" sy="100000" kx="0" ky="0" algn="bl" rotWithShape="0" blurRad="63500" dist="31750" dir="2700000">
              <a:srgbClr val="8C8C99">
                <a:alpha val="45000"/>
              </a:srgbClr>
            </a:outerShdw>
          </a:effectLst>
        </p:spPr>
      </p:sp>
      <p:sp>
        <p:nvSpPr>
          <p:cNvPr id="8" name="Text 6"/>
          <p:cNvSpPr/>
          <p:nvPr/>
        </p:nvSpPr>
        <p:spPr>
          <a:xfrm>
            <a:off x="731520" y="1463040"/>
            <a:ext cx="3566160" cy="731520"/>
          </a:xfrm>
          <a:prstGeom prst="rect">
            <a:avLst/>
          </a:prstGeom>
          <a:noFill/>
          <a:ln/>
        </p:spPr>
        <p:txBody>
          <a:bodyPr wrap="square" lIns="0" tIns="0" rIns="0" bIns="0" rtlCol="0" anchor="t"/>
          <a:lstStyle/>
          <a:p>
            <a:pPr algn="l" indent="0" marL="0">
              <a:lnSpc>
                <a:spcPct val="135000"/>
              </a:lnSpc>
              <a:buNone/>
            </a:pPr>
            <a:r>
              <a:rPr lang="en-US" sz="1250" dirty="0">
                <a:solidFill>
                  <a:srgbClr val="1A1A1A"/>
                </a:solidFill>
                <a:latin typeface="Cambria" pitchFamily="34" charset="0"/>
                <a:ea typeface="Cambria" pitchFamily="34" charset="-122"/>
                <a:cs typeface="Cambria" pitchFamily="34" charset="-120"/>
              </a:rPr>
              <a:t>UI-Ins, Aguvis:  sinh toạ độ để máy bấm,</a:t>
            </a:r>
            <a:endParaRPr lang="en-US" sz="1250" dirty="0"/>
          </a:p>
          <a:p>
            <a:pPr algn="l" indent="0" marL="0">
              <a:lnSpc>
                <a:spcPct val="135000"/>
              </a:lnSpc>
              <a:buNone/>
            </a:pPr>
            <a:r>
              <a:rPr lang="en-US" sz="1250" dirty="0">
                <a:solidFill>
                  <a:srgbClr val="1A1A1A"/>
                </a:solidFill>
                <a:latin typeface="Cambria" pitchFamily="34" charset="0"/>
                <a:ea typeface="Cambria" pitchFamily="34" charset="-122"/>
                <a:cs typeface="Cambria" pitchFamily="34" charset="-120"/>
              </a:rPr>
              <a:t>chất lượng câu không được đánh giá</a:t>
            </a:r>
            <a:endParaRPr lang="en-US" sz="1250" dirty="0"/>
          </a:p>
        </p:txBody>
      </p:sp>
      <p:sp>
        <p:nvSpPr>
          <p:cNvPr id="9" name="Text 7"/>
          <p:cNvSpPr/>
          <p:nvPr/>
        </p:nvSpPr>
        <p:spPr>
          <a:xfrm>
            <a:off x="731520" y="2258568"/>
            <a:ext cx="3566160" cy="731520"/>
          </a:xfrm>
          <a:prstGeom prst="rect">
            <a:avLst/>
          </a:prstGeom>
          <a:noFill/>
          <a:ln/>
        </p:spPr>
        <p:txBody>
          <a:bodyPr wrap="square" lIns="0" tIns="0" rIns="0" bIns="0" rtlCol="0" anchor="t"/>
          <a:lstStyle/>
          <a:p>
            <a:pPr algn="l" indent="0" marL="0">
              <a:lnSpc>
                <a:spcPct val="135000"/>
              </a:lnSpc>
              <a:buNone/>
            </a:pPr>
            <a:r>
              <a:rPr lang="en-US" sz="1250" dirty="0">
                <a:solidFill>
                  <a:srgbClr val="1A1A1A"/>
                </a:solidFill>
                <a:latin typeface="Cambria" pitchFamily="34" charset="0"/>
                <a:ea typeface="Cambria" pitchFamily="34" charset="-122"/>
                <a:cs typeface="Cambria" pitchFamily="34" charset="-120"/>
              </a:rPr>
              <a:t>AndroidControl (NeurIPS 24):</a:t>
            </a:r>
            <a:endParaRPr lang="en-US" sz="1250" dirty="0"/>
          </a:p>
          <a:p>
            <a:pPr algn="l" indent="0" marL="0">
              <a:lnSpc>
                <a:spcPct val="135000"/>
              </a:lnSpc>
              <a:buNone/>
            </a:pPr>
            <a:r>
              <a:rPr lang="en-US" sz="1250" dirty="0">
                <a:solidFill>
                  <a:srgbClr val="1A1A1A"/>
                </a:solidFill>
                <a:latin typeface="Cambria" pitchFamily="34" charset="0"/>
                <a:ea typeface="Cambria" pitchFamily="34" charset="-122"/>
                <a:cs typeface="Cambria" pitchFamily="34" charset="-120"/>
              </a:rPr>
              <a:t>câu người viết dùng làm đầu vào</a:t>
            </a:r>
            <a:endParaRPr lang="en-US" sz="1250" dirty="0"/>
          </a:p>
        </p:txBody>
      </p:sp>
      <p:sp>
        <p:nvSpPr>
          <p:cNvPr id="10" name="Text 8"/>
          <p:cNvSpPr/>
          <p:nvPr/>
        </p:nvSpPr>
        <p:spPr>
          <a:xfrm>
            <a:off x="731520" y="3054096"/>
            <a:ext cx="3566160" cy="731520"/>
          </a:xfrm>
          <a:prstGeom prst="rect">
            <a:avLst/>
          </a:prstGeom>
          <a:noFill/>
          <a:ln/>
        </p:spPr>
        <p:txBody>
          <a:bodyPr wrap="square" lIns="0" tIns="0" rIns="0" bIns="0" rtlCol="0" anchor="t"/>
          <a:lstStyle/>
          <a:p>
            <a:pPr algn="l" indent="0" marL="0">
              <a:lnSpc>
                <a:spcPct val="135000"/>
              </a:lnSpc>
              <a:buNone/>
            </a:pPr>
            <a:r>
              <a:rPr lang="en-US" sz="1250" dirty="0">
                <a:solidFill>
                  <a:srgbClr val="1A1A1A"/>
                </a:solidFill>
                <a:latin typeface="Cambria" pitchFamily="34" charset="0"/>
                <a:ea typeface="Cambria" pitchFamily="34" charset="-122"/>
                <a:cs typeface="Cambria" pitchFamily="34" charset="-120"/>
              </a:rPr>
              <a:t>GuideMe (CHI 2026):  gọi</a:t>
            </a:r>
            <a:endParaRPr lang="en-US" sz="1250" dirty="0"/>
          </a:p>
          <a:p>
            <a:pPr algn="l" indent="0" marL="0">
              <a:lnSpc>
                <a:spcPct val="135000"/>
              </a:lnSpc>
              <a:buNone/>
            </a:pPr>
            <a:r>
              <a:rPr lang="en-US" sz="1250" dirty="0">
                <a:solidFill>
                  <a:srgbClr val="1A1A1A"/>
                </a:solidFill>
                <a:latin typeface="Cambria" pitchFamily="34" charset="0"/>
                <a:ea typeface="Cambria" pitchFamily="34" charset="-122"/>
                <a:cs typeface="Cambria" pitchFamily="34" charset="-120"/>
              </a:rPr>
              <a:t>GPT-5, không huấn luyện gì</a:t>
            </a:r>
            <a:endParaRPr lang="en-US" sz="1250" dirty="0"/>
          </a:p>
        </p:txBody>
      </p:sp>
      <p:sp>
        <p:nvSpPr>
          <p:cNvPr id="11" name="Text 9"/>
          <p:cNvSpPr/>
          <p:nvPr/>
        </p:nvSpPr>
        <p:spPr>
          <a:xfrm>
            <a:off x="4892040" y="1463040"/>
            <a:ext cx="3566160" cy="731520"/>
          </a:xfrm>
          <a:prstGeom prst="rect">
            <a:avLst/>
          </a:prstGeom>
          <a:noFill/>
          <a:ln/>
        </p:spPr>
        <p:txBody>
          <a:bodyPr wrap="square" lIns="0" tIns="0" rIns="0" bIns="0" rtlCol="0" anchor="t"/>
          <a:lstStyle/>
          <a:p>
            <a:pPr algn="l" indent="0" marL="0">
              <a:lnSpc>
                <a:spcPct val="135000"/>
              </a:lnSpc>
              <a:buNone/>
            </a:pPr>
            <a:r>
              <a:rPr lang="en-US" sz="1250" dirty="0">
                <a:solidFill>
                  <a:srgbClr val="1A1A1A"/>
                </a:solidFill>
                <a:latin typeface="Cambria" pitchFamily="34" charset="0"/>
                <a:ea typeface="Cambria" pitchFamily="34" charset="-122"/>
                <a:cs typeface="Cambria" pitchFamily="34" charset="-120"/>
              </a:rPr>
              <a:t>Sinh câu cho người đọc,</a:t>
            </a:r>
            <a:endParaRPr lang="en-US" sz="1250" dirty="0"/>
          </a:p>
          <a:p>
            <a:pPr algn="l" indent="0" marL="0">
              <a:lnSpc>
                <a:spcPct val="135000"/>
              </a:lnSpc>
              <a:buNone/>
            </a:pPr>
            <a:r>
              <a:rPr lang="en-US" sz="1250" dirty="0">
                <a:solidFill>
                  <a:srgbClr val="1A1A1A"/>
                </a:solidFill>
                <a:latin typeface="Cambria" pitchFamily="34" charset="0"/>
                <a:ea typeface="Cambria" pitchFamily="34" charset="-122"/>
                <a:cs typeface="Cambria" pitchFamily="34" charset="-120"/>
              </a:rPr>
              <a:t>câu là thứ duy nhất đem chấm</a:t>
            </a:r>
            <a:endParaRPr lang="en-US" sz="1250" dirty="0"/>
          </a:p>
        </p:txBody>
      </p:sp>
      <p:sp>
        <p:nvSpPr>
          <p:cNvPr id="12" name="Text 10"/>
          <p:cNvSpPr/>
          <p:nvPr/>
        </p:nvSpPr>
        <p:spPr>
          <a:xfrm>
            <a:off x="4892040" y="2258568"/>
            <a:ext cx="3566160" cy="731520"/>
          </a:xfrm>
          <a:prstGeom prst="rect">
            <a:avLst/>
          </a:prstGeom>
          <a:noFill/>
          <a:ln/>
        </p:spPr>
        <p:txBody>
          <a:bodyPr wrap="square" lIns="0" tIns="0" rIns="0" bIns="0" rtlCol="0" anchor="t"/>
          <a:lstStyle/>
          <a:p>
            <a:pPr algn="l" indent="0" marL="0">
              <a:lnSpc>
                <a:spcPct val="135000"/>
              </a:lnSpc>
              <a:buNone/>
            </a:pPr>
            <a:r>
              <a:rPr lang="en-US" sz="1250" dirty="0">
                <a:solidFill>
                  <a:srgbClr val="1A1A1A"/>
                </a:solidFill>
                <a:latin typeface="Cambria" pitchFamily="34" charset="0"/>
                <a:ea typeface="Cambria" pitchFamily="34" charset="-122"/>
                <a:cs typeface="Cambria" pitchFamily="34" charset="-120"/>
              </a:rPr>
              <a:t>Dùng chính câu đó</a:t>
            </a:r>
            <a:endParaRPr lang="en-US" sz="1250" dirty="0"/>
          </a:p>
          <a:p>
            <a:pPr algn="l" indent="0" marL="0">
              <a:lnSpc>
                <a:spcPct val="135000"/>
              </a:lnSpc>
              <a:buNone/>
            </a:pPr>
            <a:r>
              <a:rPr lang="en-US" sz="1250" dirty="0">
                <a:solidFill>
                  <a:srgbClr val="1A1A1A"/>
                </a:solidFill>
                <a:latin typeface="Cambria" pitchFamily="34" charset="0"/>
                <a:ea typeface="Cambria" pitchFamily="34" charset="-122"/>
                <a:cs typeface="Cambria" pitchFamily="34" charset="-120"/>
              </a:rPr>
              <a:t>làm đích để sinh</a:t>
            </a:r>
            <a:endParaRPr lang="en-US" sz="1250" dirty="0"/>
          </a:p>
        </p:txBody>
      </p:sp>
      <p:sp>
        <p:nvSpPr>
          <p:cNvPr id="13" name="Text 11"/>
          <p:cNvSpPr/>
          <p:nvPr/>
        </p:nvSpPr>
        <p:spPr>
          <a:xfrm>
            <a:off x="4892040" y="3054096"/>
            <a:ext cx="3566160" cy="731520"/>
          </a:xfrm>
          <a:prstGeom prst="rect">
            <a:avLst/>
          </a:prstGeom>
          <a:noFill/>
          <a:ln/>
        </p:spPr>
        <p:txBody>
          <a:bodyPr wrap="square" lIns="0" tIns="0" rIns="0" bIns="0" rtlCol="0" anchor="t"/>
          <a:lstStyle/>
          <a:p>
            <a:pPr algn="l" indent="0" marL="0">
              <a:lnSpc>
                <a:spcPct val="135000"/>
              </a:lnSpc>
              <a:buNone/>
            </a:pPr>
            <a:r>
              <a:rPr lang="en-US" sz="1250" dirty="0">
                <a:solidFill>
                  <a:srgbClr val="1A1A1A"/>
                </a:solidFill>
                <a:latin typeface="Cambria" pitchFamily="34" charset="0"/>
                <a:ea typeface="Cambria" pitchFamily="34" charset="-122"/>
                <a:cs typeface="Cambria" pitchFamily="34" charset="-120"/>
              </a:rPr>
              <a:t>Huấn luyện mô hình riêng,</a:t>
            </a:r>
            <a:endParaRPr lang="en-US" sz="1250" dirty="0"/>
          </a:p>
          <a:p>
            <a:pPr algn="l" indent="0" marL="0">
              <a:lnSpc>
                <a:spcPct val="135000"/>
              </a:lnSpc>
              <a:buNone/>
            </a:pPr>
            <a:r>
              <a:rPr lang="en-US" sz="1250" dirty="0">
                <a:solidFill>
                  <a:srgbClr val="1A1A1A"/>
                </a:solidFill>
                <a:latin typeface="Cambria" pitchFamily="34" charset="0"/>
                <a:ea typeface="Cambria" pitchFamily="34" charset="-122"/>
                <a:cs typeface="Cambria" pitchFamily="34" charset="-120"/>
              </a:rPr>
              <a:t>có thước chấm định lượng</a:t>
            </a:r>
            <a:endParaRPr lang="en-US" sz="1250" dirty="0"/>
          </a:p>
        </p:txBody>
      </p:sp>
      <p:sp>
        <p:nvSpPr>
          <p:cNvPr id="14" name="Shape 12"/>
          <p:cNvSpPr/>
          <p:nvPr/>
        </p:nvSpPr>
        <p:spPr>
          <a:xfrm>
            <a:off x="502920" y="4114800"/>
            <a:ext cx="8138160" cy="1097280"/>
          </a:xfrm>
          <a:prstGeom prst="roundRect">
            <a:avLst>
              <a:gd name="adj" fmla="val 5000"/>
            </a:avLst>
          </a:prstGeom>
          <a:solidFill>
            <a:srgbClr val="E9E8EC"/>
          </a:solidFill>
          <a:ln/>
          <a:effectLst>
            <a:outerShdw sx="100000" sy="100000" kx="0" ky="0" algn="bl" rotWithShape="0" blurRad="63500" dist="31750" dir="2700000">
              <a:srgbClr val="8C8C99">
                <a:alpha val="45000"/>
              </a:srgbClr>
            </a:outerShdw>
          </a:effectLst>
        </p:spPr>
      </p:sp>
      <p:sp>
        <p:nvSpPr>
          <p:cNvPr id="15" name="Text 13"/>
          <p:cNvSpPr/>
          <p:nvPr/>
        </p:nvSpPr>
        <p:spPr>
          <a:xfrm>
            <a:off x="704088" y="4114800"/>
            <a:ext cx="7735824" cy="1097280"/>
          </a:xfrm>
          <a:prstGeom prst="rect">
            <a:avLst/>
          </a:prstGeom>
          <a:noFill/>
          <a:ln/>
        </p:spPr>
        <p:txBody>
          <a:bodyPr wrap="square" lIns="0" tIns="0" rIns="0" bIns="0" rtlCol="0" anchor="ctr"/>
          <a:lstStyle/>
          <a:p>
            <a:pPr algn="l" indent="0" marL="0">
              <a:lnSpc>
                <a:spcPct val="135000"/>
              </a:lnSpc>
              <a:buNone/>
            </a:pPr>
            <a:r>
              <a:rPr lang="en-US" sz="1450" b="1" dirty="0">
                <a:solidFill>
                  <a:srgbClr val="1414BE"/>
                </a:solidFill>
                <a:latin typeface="Cambria" pitchFamily="34" charset="0"/>
                <a:ea typeface="Cambria" pitchFamily="34" charset="-122"/>
                <a:cs typeface="Cambria" pitchFamily="34" charset="-120"/>
              </a:rPr>
              <a:t>Vị trí:  </a:t>
            </a:r>
            <a:pPr algn="l" indent="0" marL="0">
              <a:lnSpc>
                <a:spcPct val="135000"/>
              </a:lnSpc>
              <a:buNone/>
            </a:pPr>
            <a:r>
              <a:rPr lang="en-US" sz="1450" b="1" dirty="0">
                <a:solidFill>
                  <a:srgbClr val="1A1A1A"/>
                </a:solidFill>
                <a:latin typeface="Cambria" pitchFamily="34" charset="0"/>
                <a:ea typeface="Cambria" pitchFamily="34" charset="-122"/>
                <a:cs typeface="Cambria" pitchFamily="34" charset="-120"/>
              </a:rPr>
              <a:t>mô hình mở đầu tiên được huấn luyện cho tác vụ này.</a:t>
            </a:r>
            <a:endParaRPr lang="en-US" sz="1450" dirty="0"/>
          </a:p>
        </p:txBody>
      </p:sp>
      <p:sp>
        <p:nvSpPr>
          <p:cNvPr id="17" name="Shape 14"/>
          <p:cNvSpPr/>
          <p:nvPr/>
        </p:nvSpPr>
        <p:spPr>
          <a:xfrm>
            <a:off x="0" y="6620256"/>
            <a:ext cx="2743200" cy="237744"/>
          </a:xfrm>
          <a:prstGeom prst="rect">
            <a:avLst/>
          </a:prstGeom>
          <a:solidFill>
            <a:srgbClr val="191132"/>
          </a:solidFill>
          <a:ln/>
        </p:spPr>
      </p:sp>
      <p:sp>
        <p:nvSpPr>
          <p:cNvPr id="18" name="Shape 15"/>
          <p:cNvSpPr/>
          <p:nvPr/>
        </p:nvSpPr>
        <p:spPr>
          <a:xfrm>
            <a:off x="2743200" y="6620256"/>
            <a:ext cx="3383280" cy="237744"/>
          </a:xfrm>
          <a:prstGeom prst="rect">
            <a:avLst/>
          </a:prstGeom>
          <a:solidFill>
            <a:srgbClr val="25194B"/>
          </a:solidFill>
          <a:ln/>
        </p:spPr>
      </p:sp>
      <p:sp>
        <p:nvSpPr>
          <p:cNvPr id="19" name="Shape 16"/>
          <p:cNvSpPr/>
          <p:nvPr/>
        </p:nvSpPr>
        <p:spPr>
          <a:xfrm>
            <a:off x="6126480" y="6620256"/>
            <a:ext cx="1737360" cy="237744"/>
          </a:xfrm>
          <a:prstGeom prst="rect">
            <a:avLst/>
          </a:prstGeom>
          <a:solidFill>
            <a:srgbClr val="4F417A"/>
          </a:solidFill>
          <a:ln/>
        </p:spPr>
      </p:sp>
      <p:sp>
        <p:nvSpPr>
          <p:cNvPr id="20" name="Shape 17"/>
          <p:cNvSpPr/>
          <p:nvPr/>
        </p:nvSpPr>
        <p:spPr>
          <a:xfrm>
            <a:off x="7863840" y="6620256"/>
            <a:ext cx="1280160" cy="237744"/>
          </a:xfrm>
          <a:prstGeom prst="rect">
            <a:avLst/>
          </a:prstGeom>
          <a:solidFill>
            <a:srgbClr val="7A7099"/>
          </a:solidFill>
          <a:ln/>
        </p:spPr>
      </p:sp>
      <p:sp>
        <p:nvSpPr>
          <p:cNvPr id="21" name="Text 18"/>
          <p:cNvSpPr/>
          <p:nvPr/>
        </p:nvSpPr>
        <p:spPr>
          <a:xfrm>
            <a:off x="0" y="6620256"/>
            <a:ext cx="2743200" cy="237744"/>
          </a:xfrm>
          <a:prstGeom prst="rect">
            <a:avLst/>
          </a:prstGeom>
          <a:noFill/>
          <a:ln/>
        </p:spPr>
        <p:txBody>
          <a:bodyPr wrap="square" lIns="0" tIns="0" rIns="0" bIns="0" rtlCol="0" anchor="ctr"/>
          <a:lstStyle/>
          <a:p>
            <a:pPr algn="ctr" indent="0" marL="0">
              <a:buNone/>
            </a:pPr>
            <a:r>
              <a:rPr lang="en-US" sz="800" dirty="0">
                <a:solidFill>
                  <a:srgbClr val="FFFFFF"/>
                </a:solidFill>
                <a:latin typeface="Consolas" pitchFamily="34" charset="0"/>
                <a:ea typeface="Consolas" pitchFamily="34" charset="-122"/>
                <a:cs typeface="Consolas" pitchFamily="34" charset="-120"/>
              </a:rPr>
              <a:t>luận văn thạc sĩ</a:t>
            </a:r>
            <a:endParaRPr lang="en-US" sz="800" dirty="0"/>
          </a:p>
        </p:txBody>
      </p:sp>
      <p:sp>
        <p:nvSpPr>
          <p:cNvPr id="22" name="Text 19"/>
          <p:cNvSpPr/>
          <p:nvPr/>
        </p:nvSpPr>
        <p:spPr>
          <a:xfrm>
            <a:off x="2743200" y="6620256"/>
            <a:ext cx="3383280" cy="237744"/>
          </a:xfrm>
          <a:prstGeom prst="rect">
            <a:avLst/>
          </a:prstGeom>
          <a:noFill/>
          <a:ln/>
        </p:spPr>
        <p:txBody>
          <a:bodyPr wrap="square" lIns="0" tIns="0" rIns="0" bIns="0" rtlCol="0" anchor="ctr"/>
          <a:lstStyle/>
          <a:p>
            <a:pPr algn="ctr" indent="0" marL="0">
              <a:buNone/>
            </a:pPr>
            <a:r>
              <a:rPr lang="en-US" sz="800" dirty="0">
                <a:solidFill>
                  <a:srgbClr val="FFFFFF"/>
                </a:solidFill>
                <a:latin typeface="Cambria" pitchFamily="34" charset="0"/>
                <a:ea typeface="Cambria" pitchFamily="34" charset="-122"/>
                <a:cs typeface="Cambria" pitchFamily="34" charset="-120"/>
              </a:rPr>
              <a:t>Sinh hướng dẫn sử dụng phần mềm</a:t>
            </a:r>
            <a:endParaRPr lang="en-US" sz="800" dirty="0"/>
          </a:p>
        </p:txBody>
      </p:sp>
      <p:sp>
        <p:nvSpPr>
          <p:cNvPr id="23" name="Text 20"/>
          <p:cNvSpPr/>
          <p:nvPr/>
        </p:nvSpPr>
        <p:spPr>
          <a:xfrm>
            <a:off x="6126480" y="6620256"/>
            <a:ext cx="1737360" cy="237744"/>
          </a:xfrm>
          <a:prstGeom prst="rect">
            <a:avLst/>
          </a:prstGeom>
          <a:noFill/>
          <a:ln/>
        </p:spPr>
        <p:txBody>
          <a:bodyPr wrap="square" lIns="0" tIns="0" rIns="0" bIns="0" rtlCol="0" anchor="ctr"/>
          <a:lstStyle/>
          <a:p>
            <a:pPr algn="ctr" indent="0" marL="0">
              <a:buNone/>
            </a:pPr>
            <a:r>
              <a:rPr lang="en-US" sz="800" dirty="0">
                <a:solidFill>
                  <a:srgbClr val="FFFFFF"/>
                </a:solidFill>
                <a:latin typeface="Cambria" pitchFamily="34" charset="0"/>
                <a:ea typeface="Cambria" pitchFamily="34" charset="-122"/>
                <a:cs typeface="Cambria" pitchFamily="34" charset="-120"/>
              </a:rPr>
              <a:t>Lê Đoàn Phương Uyên</a:t>
            </a:r>
            <a:endParaRPr lang="en-US" sz="800" dirty="0"/>
          </a:p>
        </p:txBody>
      </p:sp>
      <p:sp>
        <p:nvSpPr>
          <p:cNvPr id="24" name="Text 21"/>
          <p:cNvSpPr/>
          <p:nvPr/>
        </p:nvSpPr>
        <p:spPr>
          <a:xfrm>
            <a:off x="7863840" y="6620256"/>
            <a:ext cx="1280160" cy="237744"/>
          </a:xfrm>
          <a:prstGeom prst="rect">
            <a:avLst/>
          </a:prstGeom>
          <a:noFill/>
          <a:ln/>
        </p:spPr>
        <p:txBody>
          <a:bodyPr wrap="square" lIns="0" tIns="0" rIns="0" bIns="0" rtlCol="0" anchor="ctr"/>
          <a:lstStyle/>
          <a:p>
            <a:pPr algn="ctr" indent="0" marL="0">
              <a:buNone/>
            </a:pPr>
            <a:r>
              <a:rPr lang="en-US" sz="800" dirty="0">
                <a:solidFill>
                  <a:srgbClr val="FFFFFF"/>
                </a:solidFill>
                <a:latin typeface="Cambria" pitchFamily="34" charset="0"/>
                <a:ea typeface="Cambria" pitchFamily="34" charset="-122"/>
                <a:cs typeface="Cambria" pitchFamily="34" charset="-120"/>
              </a:rPr>
              <a:t>5/26</a:t>
            </a:r>
            <a:endParaRPr lang="en-US" sz="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48640"/>
          </a:xfrm>
          <a:prstGeom prst="rect">
            <a:avLst/>
          </a:prstGeom>
          <a:solidFill>
            <a:srgbClr val="322164"/>
          </a:solidFill>
          <a:ln/>
        </p:spPr>
      </p:sp>
      <p:sp>
        <p:nvSpPr>
          <p:cNvPr id="3" name="Text 1"/>
          <p:cNvSpPr/>
          <p:nvPr/>
        </p:nvSpPr>
        <p:spPr>
          <a:xfrm>
            <a:off x="201168" y="0"/>
            <a:ext cx="8741664" cy="548640"/>
          </a:xfrm>
          <a:prstGeom prst="rect">
            <a:avLst/>
          </a:prstGeom>
          <a:noFill/>
          <a:ln/>
        </p:spPr>
        <p:txBody>
          <a:bodyPr wrap="square" lIns="0" tIns="0" rIns="0" bIns="0" rtlCol="0" anchor="ctr"/>
          <a:lstStyle/>
          <a:p>
            <a:pPr algn="l" indent="0" marL="0">
              <a:buNone/>
            </a:pPr>
            <a:r>
              <a:rPr lang="en-US" sz="1900" b="1" dirty="0">
                <a:solidFill>
                  <a:srgbClr val="FFFFFF"/>
                </a:solidFill>
                <a:latin typeface="Cambria" pitchFamily="34" charset="0"/>
                <a:ea typeface="Cambria" pitchFamily="34" charset="-122"/>
                <a:cs typeface="Cambria" pitchFamily="34" charset="-120"/>
              </a:rPr>
              <a:t>1.3.  Đóng góp gồm ba tầng</a:t>
            </a:r>
            <a:endParaRPr lang="en-US" sz="1900" dirty="0"/>
          </a:p>
        </p:txBody>
      </p:sp>
      <p:sp>
        <p:nvSpPr>
          <p:cNvPr id="4" name="Shape 2"/>
          <p:cNvSpPr/>
          <p:nvPr/>
        </p:nvSpPr>
        <p:spPr>
          <a:xfrm>
            <a:off x="502920" y="1051560"/>
            <a:ext cx="8138160" cy="1143000"/>
          </a:xfrm>
          <a:prstGeom prst="roundRect">
            <a:avLst>
              <a:gd name="adj" fmla="val 4800"/>
            </a:avLst>
          </a:prstGeom>
          <a:solidFill>
            <a:srgbClr val="E9E8EC"/>
          </a:solidFill>
          <a:ln/>
          <a:effectLst>
            <a:outerShdw sx="100000" sy="100000" kx="0" ky="0" algn="bl" rotWithShape="0" blurRad="63500" dist="31750" dir="2700000">
              <a:srgbClr val="8C8C99">
                <a:alpha val="45000"/>
              </a:srgbClr>
            </a:outerShdw>
          </a:effectLst>
        </p:spPr>
      </p:sp>
      <p:sp>
        <p:nvSpPr>
          <p:cNvPr id="5" name="Text 3"/>
          <p:cNvSpPr/>
          <p:nvPr/>
        </p:nvSpPr>
        <p:spPr>
          <a:xfrm>
            <a:off x="704088" y="1170432"/>
            <a:ext cx="2468880" cy="914400"/>
          </a:xfrm>
          <a:prstGeom prst="rect">
            <a:avLst/>
          </a:prstGeom>
          <a:noFill/>
          <a:ln/>
        </p:spPr>
        <p:txBody>
          <a:bodyPr wrap="square" lIns="0" tIns="0" rIns="0" bIns="0" rtlCol="0" anchor="t"/>
          <a:lstStyle/>
          <a:p>
            <a:pPr algn="l" indent="0" marL="0">
              <a:lnSpc>
                <a:spcPct val="125000"/>
              </a:lnSpc>
              <a:buNone/>
            </a:pPr>
            <a:r>
              <a:rPr lang="en-US" sz="1500" b="1" dirty="0">
                <a:solidFill>
                  <a:srgbClr val="322164"/>
                </a:solidFill>
                <a:latin typeface="Cambria" pitchFamily="34" charset="0"/>
                <a:ea typeface="Cambria" pitchFamily="34" charset="-122"/>
                <a:cs typeface="Cambria" pitchFamily="34" charset="-120"/>
              </a:rPr>
              <a:t>Mô hình</a:t>
            </a:r>
            <a:endParaRPr lang="en-US" sz="1500" dirty="0"/>
          </a:p>
        </p:txBody>
      </p:sp>
      <p:sp>
        <p:nvSpPr>
          <p:cNvPr id="6" name="Text 4"/>
          <p:cNvSpPr/>
          <p:nvPr/>
        </p:nvSpPr>
        <p:spPr>
          <a:xfrm>
            <a:off x="3246120" y="1051560"/>
            <a:ext cx="5120640" cy="1143000"/>
          </a:xfrm>
          <a:prstGeom prst="rect">
            <a:avLst/>
          </a:prstGeom>
          <a:noFill/>
          <a:ln/>
        </p:spPr>
        <p:txBody>
          <a:bodyPr wrap="square" lIns="0" tIns="0" rIns="0" bIns="0" rtlCol="0" anchor="ctr"/>
          <a:lstStyle/>
          <a:p>
            <a:pPr algn="l" indent="0" marL="0">
              <a:lnSpc>
                <a:spcPct val="135000"/>
              </a:lnSpc>
              <a:buNone/>
            </a:pPr>
            <a:r>
              <a:rPr lang="en-US" sz="1400" dirty="0">
                <a:solidFill>
                  <a:srgbClr val="1A1A1A"/>
                </a:solidFill>
                <a:latin typeface="Cambria" pitchFamily="34" charset="0"/>
                <a:ea typeface="Cambria" pitchFamily="34" charset="-122"/>
                <a:cs typeface="Cambria" pitchFamily="34" charset="-120"/>
              </a:rPr>
              <a:t>Qwen2.5-VL-3B, huấn luyện cho tác vụ chưa mô hình nào được dạy</a:t>
            </a:r>
            <a:endParaRPr lang="en-US" sz="1400" dirty="0"/>
          </a:p>
        </p:txBody>
      </p:sp>
      <p:sp>
        <p:nvSpPr>
          <p:cNvPr id="7" name="Shape 5"/>
          <p:cNvSpPr/>
          <p:nvPr/>
        </p:nvSpPr>
        <p:spPr>
          <a:xfrm>
            <a:off x="502920" y="2423160"/>
            <a:ext cx="8138160" cy="1143000"/>
          </a:xfrm>
          <a:prstGeom prst="roundRect">
            <a:avLst>
              <a:gd name="adj" fmla="val 4800"/>
            </a:avLst>
          </a:prstGeom>
          <a:solidFill>
            <a:srgbClr val="E9E8EC"/>
          </a:solidFill>
          <a:ln/>
          <a:effectLst>
            <a:outerShdw sx="100000" sy="100000" kx="0" ky="0" algn="bl" rotWithShape="0" blurRad="63500" dist="31750" dir="2700000">
              <a:srgbClr val="8C8C99">
                <a:alpha val="45000"/>
              </a:srgbClr>
            </a:outerShdw>
          </a:effectLst>
        </p:spPr>
      </p:sp>
      <p:sp>
        <p:nvSpPr>
          <p:cNvPr id="8" name="Text 6"/>
          <p:cNvSpPr/>
          <p:nvPr/>
        </p:nvSpPr>
        <p:spPr>
          <a:xfrm>
            <a:off x="704088" y="2542032"/>
            <a:ext cx="2468880" cy="914400"/>
          </a:xfrm>
          <a:prstGeom prst="rect">
            <a:avLst/>
          </a:prstGeom>
          <a:noFill/>
          <a:ln/>
        </p:spPr>
        <p:txBody>
          <a:bodyPr wrap="square" lIns="0" tIns="0" rIns="0" bIns="0" rtlCol="0" anchor="t"/>
          <a:lstStyle/>
          <a:p>
            <a:pPr algn="l" indent="0" marL="0">
              <a:lnSpc>
                <a:spcPct val="125000"/>
              </a:lnSpc>
              <a:buNone/>
            </a:pPr>
            <a:r>
              <a:rPr lang="en-US" sz="1500" b="1" dirty="0">
                <a:solidFill>
                  <a:srgbClr val="322164"/>
                </a:solidFill>
                <a:latin typeface="Cambria" pitchFamily="34" charset="0"/>
                <a:ea typeface="Cambria" pitchFamily="34" charset="-122"/>
                <a:cs typeface="Cambria" pitchFamily="34" charset="-120"/>
              </a:rPr>
              <a:t>Thành phần huấn luyện</a:t>
            </a:r>
            <a:endParaRPr lang="en-US" sz="1500" dirty="0"/>
          </a:p>
        </p:txBody>
      </p:sp>
      <p:sp>
        <p:nvSpPr>
          <p:cNvPr id="9" name="Text 7"/>
          <p:cNvSpPr/>
          <p:nvPr/>
        </p:nvSpPr>
        <p:spPr>
          <a:xfrm>
            <a:off x="3246120" y="2423160"/>
            <a:ext cx="5120640" cy="1143000"/>
          </a:xfrm>
          <a:prstGeom prst="rect">
            <a:avLst/>
          </a:prstGeom>
          <a:noFill/>
          <a:ln/>
        </p:spPr>
        <p:txBody>
          <a:bodyPr wrap="square" lIns="0" tIns="0" rIns="0" bIns="0" rtlCol="0" anchor="ctr"/>
          <a:lstStyle/>
          <a:p>
            <a:pPr algn="l" indent="0" marL="0">
              <a:lnSpc>
                <a:spcPct val="135000"/>
              </a:lnSpc>
              <a:buNone/>
            </a:pPr>
            <a:r>
              <a:rPr lang="en-US" sz="1400" dirty="0">
                <a:solidFill>
                  <a:srgbClr val="1A1A1A"/>
                </a:solidFill>
                <a:latin typeface="Cambria" pitchFamily="34" charset="0"/>
                <a:ea typeface="Cambria" pitchFamily="34" charset="-122"/>
                <a:cs typeface="Cambria" pitchFamily="34" charset="-120"/>
              </a:rPr>
              <a:t>Nói rõ nhắm vào nút nào, rồi mới viết câu - làm ở hai mức</a:t>
            </a:r>
            <a:endParaRPr lang="en-US" sz="1400" dirty="0"/>
          </a:p>
        </p:txBody>
      </p:sp>
      <p:sp>
        <p:nvSpPr>
          <p:cNvPr id="10" name="Shape 8"/>
          <p:cNvSpPr/>
          <p:nvPr/>
        </p:nvSpPr>
        <p:spPr>
          <a:xfrm>
            <a:off x="502920" y="3794760"/>
            <a:ext cx="8138160" cy="1143000"/>
          </a:xfrm>
          <a:prstGeom prst="roundRect">
            <a:avLst>
              <a:gd name="adj" fmla="val 4800"/>
            </a:avLst>
          </a:prstGeom>
          <a:solidFill>
            <a:srgbClr val="E9E8EC"/>
          </a:solidFill>
          <a:ln/>
          <a:effectLst>
            <a:outerShdw sx="100000" sy="100000" kx="0" ky="0" algn="bl" rotWithShape="0" blurRad="63500" dist="31750" dir="2700000">
              <a:srgbClr val="8C8C99">
                <a:alpha val="45000"/>
              </a:srgbClr>
            </a:outerShdw>
          </a:effectLst>
        </p:spPr>
      </p:sp>
      <p:sp>
        <p:nvSpPr>
          <p:cNvPr id="11" name="Text 9"/>
          <p:cNvSpPr/>
          <p:nvPr/>
        </p:nvSpPr>
        <p:spPr>
          <a:xfrm>
            <a:off x="704088" y="3913632"/>
            <a:ext cx="2468880" cy="914400"/>
          </a:xfrm>
          <a:prstGeom prst="rect">
            <a:avLst/>
          </a:prstGeom>
          <a:noFill/>
          <a:ln/>
        </p:spPr>
        <p:txBody>
          <a:bodyPr wrap="square" lIns="0" tIns="0" rIns="0" bIns="0" rtlCol="0" anchor="t"/>
          <a:lstStyle/>
          <a:p>
            <a:pPr algn="l" indent="0" marL="0">
              <a:lnSpc>
                <a:spcPct val="125000"/>
              </a:lnSpc>
              <a:buNone/>
            </a:pPr>
            <a:r>
              <a:rPr lang="en-US" sz="1500" b="1" dirty="0">
                <a:solidFill>
                  <a:srgbClr val="322164"/>
                </a:solidFill>
                <a:latin typeface="Cambria" pitchFamily="34" charset="0"/>
                <a:ea typeface="Cambria" pitchFamily="34" charset="-122"/>
                <a:cs typeface="Cambria" pitchFamily="34" charset="-120"/>
              </a:rPr>
              <a:t>Chương đo lường</a:t>
            </a:r>
            <a:endParaRPr lang="en-US" sz="1500" dirty="0"/>
          </a:p>
        </p:txBody>
      </p:sp>
      <p:sp>
        <p:nvSpPr>
          <p:cNvPr id="12" name="Text 10"/>
          <p:cNvSpPr/>
          <p:nvPr/>
        </p:nvSpPr>
        <p:spPr>
          <a:xfrm>
            <a:off x="3246120" y="3794760"/>
            <a:ext cx="5120640" cy="1143000"/>
          </a:xfrm>
          <a:prstGeom prst="rect">
            <a:avLst/>
          </a:prstGeom>
          <a:noFill/>
          <a:ln/>
        </p:spPr>
        <p:txBody>
          <a:bodyPr wrap="square" lIns="0" tIns="0" rIns="0" bIns="0" rtlCol="0" anchor="ctr"/>
          <a:lstStyle/>
          <a:p>
            <a:pPr algn="l" indent="0" marL="0">
              <a:lnSpc>
                <a:spcPct val="135000"/>
              </a:lnSpc>
              <a:buNone/>
            </a:pPr>
            <a:r>
              <a:rPr lang="en-US" sz="1400" dirty="0">
                <a:solidFill>
                  <a:srgbClr val="1A1A1A"/>
                </a:solidFill>
                <a:latin typeface="Cambria" pitchFamily="34" charset="0"/>
                <a:ea typeface="Cambria" pitchFamily="34" charset="-122"/>
                <a:cs typeface="Cambria" pitchFamily="34" charset="-120"/>
              </a:rPr>
              <a:t>Thước chấm tự dựng, tự kiểm bằng bơm lỗi</a:t>
            </a:r>
            <a:endParaRPr lang="en-US" sz="1400" dirty="0"/>
          </a:p>
        </p:txBody>
      </p:sp>
      <p:sp>
        <p:nvSpPr>
          <p:cNvPr id="13" name="Text 11"/>
          <p:cNvSpPr/>
          <p:nvPr/>
        </p:nvSpPr>
        <p:spPr>
          <a:xfrm>
            <a:off x="502920" y="5349240"/>
            <a:ext cx="8138160" cy="548640"/>
          </a:xfrm>
          <a:prstGeom prst="rect">
            <a:avLst/>
          </a:prstGeom>
          <a:noFill/>
          <a:ln/>
        </p:spPr>
        <p:txBody>
          <a:bodyPr wrap="square" lIns="0" tIns="0" rIns="0" bIns="0" rtlCol="0" anchor="t"/>
          <a:lstStyle/>
          <a:p>
            <a:pPr algn="l" indent="0" marL="0">
              <a:lnSpc>
                <a:spcPct val="130000"/>
              </a:lnSpc>
              <a:buNone/>
            </a:pPr>
            <a:r>
              <a:rPr lang="en-US" sz="1300" i="1" dirty="0">
                <a:solidFill>
                  <a:srgbClr val="990000"/>
                </a:solidFill>
                <a:latin typeface="Cambria" pitchFamily="34" charset="0"/>
                <a:ea typeface="Cambria" pitchFamily="34" charset="-122"/>
                <a:cs typeface="Cambria" pitchFamily="34" charset="-120"/>
              </a:rPr>
              <a:t>Ba tầng độc lập - một tầng không ra kết quả, hai tầng kia vẫn đứng</a:t>
            </a:r>
            <a:endParaRPr lang="en-US" sz="1300" dirty="0"/>
          </a:p>
        </p:txBody>
      </p:sp>
      <p:sp>
        <p:nvSpPr>
          <p:cNvPr id="15" name="Shape 12"/>
          <p:cNvSpPr/>
          <p:nvPr/>
        </p:nvSpPr>
        <p:spPr>
          <a:xfrm>
            <a:off x="0" y="6620256"/>
            <a:ext cx="2743200" cy="237744"/>
          </a:xfrm>
          <a:prstGeom prst="rect">
            <a:avLst/>
          </a:prstGeom>
          <a:solidFill>
            <a:srgbClr val="191132"/>
          </a:solidFill>
          <a:ln/>
        </p:spPr>
      </p:sp>
      <p:sp>
        <p:nvSpPr>
          <p:cNvPr id="16" name="Shape 13"/>
          <p:cNvSpPr/>
          <p:nvPr/>
        </p:nvSpPr>
        <p:spPr>
          <a:xfrm>
            <a:off x="2743200" y="6620256"/>
            <a:ext cx="3383280" cy="237744"/>
          </a:xfrm>
          <a:prstGeom prst="rect">
            <a:avLst/>
          </a:prstGeom>
          <a:solidFill>
            <a:srgbClr val="25194B"/>
          </a:solidFill>
          <a:ln/>
        </p:spPr>
      </p:sp>
      <p:sp>
        <p:nvSpPr>
          <p:cNvPr id="17" name="Shape 14"/>
          <p:cNvSpPr/>
          <p:nvPr/>
        </p:nvSpPr>
        <p:spPr>
          <a:xfrm>
            <a:off x="6126480" y="6620256"/>
            <a:ext cx="1737360" cy="237744"/>
          </a:xfrm>
          <a:prstGeom prst="rect">
            <a:avLst/>
          </a:prstGeom>
          <a:solidFill>
            <a:srgbClr val="4F417A"/>
          </a:solidFill>
          <a:ln/>
        </p:spPr>
      </p:sp>
      <p:sp>
        <p:nvSpPr>
          <p:cNvPr id="18" name="Shape 15"/>
          <p:cNvSpPr/>
          <p:nvPr/>
        </p:nvSpPr>
        <p:spPr>
          <a:xfrm>
            <a:off x="7863840" y="6620256"/>
            <a:ext cx="1280160" cy="237744"/>
          </a:xfrm>
          <a:prstGeom prst="rect">
            <a:avLst/>
          </a:prstGeom>
          <a:solidFill>
            <a:srgbClr val="7A7099"/>
          </a:solidFill>
          <a:ln/>
        </p:spPr>
      </p:sp>
      <p:sp>
        <p:nvSpPr>
          <p:cNvPr id="19" name="Text 16"/>
          <p:cNvSpPr/>
          <p:nvPr/>
        </p:nvSpPr>
        <p:spPr>
          <a:xfrm>
            <a:off x="0" y="6620256"/>
            <a:ext cx="2743200" cy="237744"/>
          </a:xfrm>
          <a:prstGeom prst="rect">
            <a:avLst/>
          </a:prstGeom>
          <a:noFill/>
          <a:ln/>
        </p:spPr>
        <p:txBody>
          <a:bodyPr wrap="square" lIns="0" tIns="0" rIns="0" bIns="0" rtlCol="0" anchor="ctr"/>
          <a:lstStyle/>
          <a:p>
            <a:pPr algn="ctr" indent="0" marL="0">
              <a:buNone/>
            </a:pPr>
            <a:r>
              <a:rPr lang="en-US" sz="800" dirty="0">
                <a:solidFill>
                  <a:srgbClr val="FFFFFF"/>
                </a:solidFill>
                <a:latin typeface="Consolas" pitchFamily="34" charset="0"/>
                <a:ea typeface="Consolas" pitchFamily="34" charset="-122"/>
                <a:cs typeface="Consolas" pitchFamily="34" charset="-120"/>
              </a:rPr>
              <a:t>luận văn thạc sĩ</a:t>
            </a:r>
            <a:endParaRPr lang="en-US" sz="800" dirty="0"/>
          </a:p>
        </p:txBody>
      </p:sp>
      <p:sp>
        <p:nvSpPr>
          <p:cNvPr id="20" name="Text 17"/>
          <p:cNvSpPr/>
          <p:nvPr/>
        </p:nvSpPr>
        <p:spPr>
          <a:xfrm>
            <a:off x="2743200" y="6620256"/>
            <a:ext cx="3383280" cy="237744"/>
          </a:xfrm>
          <a:prstGeom prst="rect">
            <a:avLst/>
          </a:prstGeom>
          <a:noFill/>
          <a:ln/>
        </p:spPr>
        <p:txBody>
          <a:bodyPr wrap="square" lIns="0" tIns="0" rIns="0" bIns="0" rtlCol="0" anchor="ctr"/>
          <a:lstStyle/>
          <a:p>
            <a:pPr algn="ctr" indent="0" marL="0">
              <a:buNone/>
            </a:pPr>
            <a:r>
              <a:rPr lang="en-US" sz="800" dirty="0">
                <a:solidFill>
                  <a:srgbClr val="FFFFFF"/>
                </a:solidFill>
                <a:latin typeface="Cambria" pitchFamily="34" charset="0"/>
                <a:ea typeface="Cambria" pitchFamily="34" charset="-122"/>
                <a:cs typeface="Cambria" pitchFamily="34" charset="-120"/>
              </a:rPr>
              <a:t>Sinh hướng dẫn sử dụng phần mềm</a:t>
            </a:r>
            <a:endParaRPr lang="en-US" sz="800" dirty="0"/>
          </a:p>
        </p:txBody>
      </p:sp>
      <p:sp>
        <p:nvSpPr>
          <p:cNvPr id="21" name="Text 18"/>
          <p:cNvSpPr/>
          <p:nvPr/>
        </p:nvSpPr>
        <p:spPr>
          <a:xfrm>
            <a:off x="6126480" y="6620256"/>
            <a:ext cx="1737360" cy="237744"/>
          </a:xfrm>
          <a:prstGeom prst="rect">
            <a:avLst/>
          </a:prstGeom>
          <a:noFill/>
          <a:ln/>
        </p:spPr>
        <p:txBody>
          <a:bodyPr wrap="square" lIns="0" tIns="0" rIns="0" bIns="0" rtlCol="0" anchor="ctr"/>
          <a:lstStyle/>
          <a:p>
            <a:pPr algn="ctr" indent="0" marL="0">
              <a:buNone/>
            </a:pPr>
            <a:r>
              <a:rPr lang="en-US" sz="800" dirty="0">
                <a:solidFill>
                  <a:srgbClr val="FFFFFF"/>
                </a:solidFill>
                <a:latin typeface="Cambria" pitchFamily="34" charset="0"/>
                <a:ea typeface="Cambria" pitchFamily="34" charset="-122"/>
                <a:cs typeface="Cambria" pitchFamily="34" charset="-120"/>
              </a:rPr>
              <a:t>Lê Đoàn Phương Uyên</a:t>
            </a:r>
            <a:endParaRPr lang="en-US" sz="800" dirty="0"/>
          </a:p>
        </p:txBody>
      </p:sp>
      <p:sp>
        <p:nvSpPr>
          <p:cNvPr id="22" name="Text 19"/>
          <p:cNvSpPr/>
          <p:nvPr/>
        </p:nvSpPr>
        <p:spPr>
          <a:xfrm>
            <a:off x="7863840" y="6620256"/>
            <a:ext cx="1280160" cy="237744"/>
          </a:xfrm>
          <a:prstGeom prst="rect">
            <a:avLst/>
          </a:prstGeom>
          <a:noFill/>
          <a:ln/>
        </p:spPr>
        <p:txBody>
          <a:bodyPr wrap="square" lIns="0" tIns="0" rIns="0" bIns="0" rtlCol="0" anchor="ctr"/>
          <a:lstStyle/>
          <a:p>
            <a:pPr algn="ctr" indent="0" marL="0">
              <a:buNone/>
            </a:pPr>
            <a:r>
              <a:rPr lang="en-US" sz="800" dirty="0">
                <a:solidFill>
                  <a:srgbClr val="FFFFFF"/>
                </a:solidFill>
                <a:latin typeface="Cambria" pitchFamily="34" charset="0"/>
                <a:ea typeface="Cambria" pitchFamily="34" charset="-122"/>
                <a:cs typeface="Cambria" pitchFamily="34" charset="-120"/>
              </a:rPr>
              <a:t>6/26</a:t>
            </a:r>
            <a:endParaRPr lang="en-US" sz="8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48640"/>
          </a:xfrm>
          <a:prstGeom prst="rect">
            <a:avLst/>
          </a:prstGeom>
          <a:solidFill>
            <a:srgbClr val="322164"/>
          </a:solidFill>
          <a:ln/>
        </p:spPr>
      </p:sp>
      <p:sp>
        <p:nvSpPr>
          <p:cNvPr id="3" name="Text 1"/>
          <p:cNvSpPr/>
          <p:nvPr/>
        </p:nvSpPr>
        <p:spPr>
          <a:xfrm>
            <a:off x="201168" y="0"/>
            <a:ext cx="8741664" cy="548640"/>
          </a:xfrm>
          <a:prstGeom prst="rect">
            <a:avLst/>
          </a:prstGeom>
          <a:noFill/>
          <a:ln/>
        </p:spPr>
        <p:txBody>
          <a:bodyPr wrap="square" lIns="0" tIns="0" rIns="0" bIns="0" rtlCol="0" anchor="ctr"/>
          <a:lstStyle/>
          <a:p>
            <a:pPr algn="l" indent="0" marL="0">
              <a:buNone/>
            </a:pPr>
            <a:r>
              <a:rPr lang="en-US" sz="1900" b="1" dirty="0">
                <a:solidFill>
                  <a:srgbClr val="FFFFFF"/>
                </a:solidFill>
                <a:latin typeface="Cambria" pitchFamily="34" charset="0"/>
                <a:ea typeface="Cambria" pitchFamily="34" charset="-122"/>
                <a:cs typeface="Cambria" pitchFamily="34" charset="-120"/>
              </a:rPr>
              <a:t>2.1.  Bộ dữ liệu AndroidControl</a:t>
            </a:r>
            <a:endParaRPr lang="en-US" sz="1900" dirty="0"/>
          </a:p>
        </p:txBody>
      </p:sp>
      <p:sp>
        <p:nvSpPr>
          <p:cNvPr id="4" name="Shape 2"/>
          <p:cNvSpPr/>
          <p:nvPr/>
        </p:nvSpPr>
        <p:spPr>
          <a:xfrm>
            <a:off x="502920" y="1005840"/>
            <a:ext cx="8138160" cy="1965960"/>
          </a:xfrm>
          <a:prstGeom prst="roundRect">
            <a:avLst>
              <a:gd name="adj" fmla="val 2791"/>
            </a:avLst>
          </a:prstGeom>
          <a:solidFill>
            <a:srgbClr val="E9E8EC"/>
          </a:solidFill>
          <a:ln/>
          <a:effectLst>
            <a:outerShdw sx="100000" sy="100000" kx="0" ky="0" algn="bl" rotWithShape="0" blurRad="63500" dist="31750" dir="2700000">
              <a:srgbClr val="8C8C99">
                <a:alpha val="45000"/>
              </a:srgbClr>
            </a:outerShdw>
          </a:effectLst>
        </p:spPr>
      </p:sp>
      <p:sp>
        <p:nvSpPr>
          <p:cNvPr id="5" name="Text 3"/>
          <p:cNvSpPr/>
          <p:nvPr/>
        </p:nvSpPr>
        <p:spPr>
          <a:xfrm>
            <a:off x="704088" y="1133856"/>
            <a:ext cx="7735824" cy="502920"/>
          </a:xfrm>
          <a:prstGeom prst="rect">
            <a:avLst/>
          </a:prstGeom>
          <a:noFill/>
          <a:ln/>
        </p:spPr>
        <p:txBody>
          <a:bodyPr wrap="square" lIns="0" tIns="0" rIns="0" bIns="0" rtlCol="0" anchor="t"/>
          <a:lstStyle/>
          <a:p>
            <a:pPr algn="l" indent="0" marL="0">
              <a:lnSpc>
                <a:spcPct val="130000"/>
              </a:lnSpc>
              <a:buNone/>
            </a:pPr>
            <a:r>
              <a:rPr lang="en-US" sz="1400" dirty="0">
                <a:solidFill>
                  <a:srgbClr val="1A1A1A"/>
                </a:solidFill>
                <a:latin typeface="Cambria" pitchFamily="34" charset="0"/>
                <a:ea typeface="Cambria" pitchFamily="34" charset="-122"/>
                <a:cs typeface="Cambria" pitchFamily="34" charset="-120"/>
              </a:rPr>
              <a:t>15.283 tác vụ do người thật thao tác trên Android (NeurIPS 2024). Mỗi bước có:</a:t>
            </a:r>
            <a:endParaRPr lang="en-US" sz="1400" dirty="0"/>
          </a:p>
        </p:txBody>
      </p:sp>
      <p:sp>
        <p:nvSpPr>
          <p:cNvPr id="6" name="Text 4"/>
          <p:cNvSpPr/>
          <p:nvPr/>
        </p:nvSpPr>
        <p:spPr>
          <a:xfrm>
            <a:off x="960120" y="1719072"/>
            <a:ext cx="7223760" cy="365760"/>
          </a:xfrm>
          <a:prstGeom prst="rect">
            <a:avLst/>
          </a:prstGeom>
          <a:noFill/>
          <a:ln/>
        </p:spPr>
        <p:txBody>
          <a:bodyPr wrap="square" lIns="0" tIns="0" rIns="0" bIns="0" rtlCol="0" anchor="t"/>
          <a:lstStyle/>
          <a:p>
            <a:pPr algn="l" indent="0" marL="0">
              <a:buNone/>
            </a:pPr>
            <a:r>
              <a:rPr lang="en-US" sz="1350" dirty="0">
                <a:solidFill>
                  <a:srgbClr val="1A1A1A"/>
                </a:solidFill>
                <a:latin typeface="Cambria" pitchFamily="34" charset="0"/>
                <a:ea typeface="Cambria" pitchFamily="34" charset="-122"/>
                <a:cs typeface="Cambria" pitchFamily="34" charset="-120"/>
              </a:rPr>
              <a:t>-  ảnh màn hình</a:t>
            </a:r>
            <a:endParaRPr lang="en-US" sz="1350" dirty="0"/>
          </a:p>
        </p:txBody>
      </p:sp>
      <p:sp>
        <p:nvSpPr>
          <p:cNvPr id="7" name="Text 5"/>
          <p:cNvSpPr/>
          <p:nvPr/>
        </p:nvSpPr>
        <p:spPr>
          <a:xfrm>
            <a:off x="960120" y="2103120"/>
            <a:ext cx="7223760" cy="365760"/>
          </a:xfrm>
          <a:prstGeom prst="rect">
            <a:avLst/>
          </a:prstGeom>
          <a:noFill/>
          <a:ln/>
        </p:spPr>
        <p:txBody>
          <a:bodyPr wrap="square" lIns="0" tIns="0" rIns="0" bIns="0" rtlCol="0" anchor="t"/>
          <a:lstStyle/>
          <a:p>
            <a:pPr algn="l" indent="0" marL="0">
              <a:buNone/>
            </a:pPr>
            <a:r>
              <a:rPr lang="en-US" sz="1350" dirty="0">
                <a:solidFill>
                  <a:srgbClr val="1A1A1A"/>
                </a:solidFill>
                <a:latin typeface="Cambria" pitchFamily="34" charset="0"/>
                <a:ea typeface="Cambria" pitchFamily="34" charset="-122"/>
                <a:cs typeface="Cambria" pitchFamily="34" charset="-120"/>
              </a:rPr>
              <a:t>-  toạ độ chỗ người đó chạm</a:t>
            </a:r>
            <a:endParaRPr lang="en-US" sz="1350" dirty="0"/>
          </a:p>
        </p:txBody>
      </p:sp>
      <p:sp>
        <p:nvSpPr>
          <p:cNvPr id="8" name="Text 6"/>
          <p:cNvSpPr/>
          <p:nvPr/>
        </p:nvSpPr>
        <p:spPr>
          <a:xfrm>
            <a:off x="960120" y="2487168"/>
            <a:ext cx="7223760" cy="365760"/>
          </a:xfrm>
          <a:prstGeom prst="rect">
            <a:avLst/>
          </a:prstGeom>
          <a:noFill/>
          <a:ln/>
        </p:spPr>
        <p:txBody>
          <a:bodyPr wrap="square" lIns="0" tIns="0" rIns="0" bIns="0" rtlCol="0" anchor="t"/>
          <a:lstStyle/>
          <a:p>
            <a:pPr algn="l" indent="0" marL="0">
              <a:buNone/>
            </a:pPr>
            <a:r>
              <a:rPr lang="en-US" sz="1350" dirty="0">
                <a:solidFill>
                  <a:srgbClr val="1A1A1A"/>
                </a:solidFill>
                <a:latin typeface="Cambria" pitchFamily="34" charset="0"/>
                <a:ea typeface="Cambria" pitchFamily="34" charset="-122"/>
                <a:cs typeface="Cambria" pitchFamily="34" charset="-120"/>
              </a:rPr>
              <a:t>-  câu mô tả do chính người đó viết</a:t>
            </a:r>
            <a:endParaRPr lang="en-US" sz="1350" dirty="0"/>
          </a:p>
        </p:txBody>
      </p:sp>
      <p:sp>
        <p:nvSpPr>
          <p:cNvPr id="9" name="Shape 7"/>
          <p:cNvSpPr/>
          <p:nvPr/>
        </p:nvSpPr>
        <p:spPr>
          <a:xfrm>
            <a:off x="502920" y="3246120"/>
            <a:ext cx="8138160" cy="1600200"/>
          </a:xfrm>
          <a:prstGeom prst="roundRect">
            <a:avLst>
              <a:gd name="adj" fmla="val 3429"/>
            </a:avLst>
          </a:prstGeom>
          <a:solidFill>
            <a:srgbClr val="E9E8EC"/>
          </a:solidFill>
          <a:ln/>
          <a:effectLst>
            <a:outerShdw sx="100000" sy="100000" kx="0" ky="0" algn="bl" rotWithShape="0" blurRad="63500" dist="31750" dir="2700000">
              <a:srgbClr val="8C8C99">
                <a:alpha val="45000"/>
              </a:srgbClr>
            </a:outerShdw>
          </a:effectLst>
        </p:spPr>
      </p:sp>
      <p:sp>
        <p:nvSpPr>
          <p:cNvPr id="10" name="Text 8"/>
          <p:cNvSpPr/>
          <p:nvPr/>
        </p:nvSpPr>
        <p:spPr>
          <a:xfrm>
            <a:off x="704088" y="3383280"/>
            <a:ext cx="7735824" cy="457200"/>
          </a:xfrm>
          <a:prstGeom prst="rect">
            <a:avLst/>
          </a:prstGeom>
          <a:noFill/>
          <a:ln/>
        </p:spPr>
        <p:txBody>
          <a:bodyPr wrap="square" lIns="0" tIns="0" rIns="0" bIns="0" rtlCol="0" anchor="t"/>
          <a:lstStyle/>
          <a:p>
            <a:pPr algn="l" indent="0" marL="0">
              <a:buNone/>
            </a:pPr>
            <a:r>
              <a:rPr lang="en-US" sz="1400" b="1" dirty="0">
                <a:solidFill>
                  <a:srgbClr val="B22222"/>
                </a:solidFill>
                <a:latin typeface="Cambria" pitchFamily="34" charset="0"/>
                <a:ea typeface="Cambria" pitchFamily="34" charset="-122"/>
                <a:cs typeface="Cambria" pitchFamily="34" charset="-120"/>
              </a:rPr>
              <a:t>Nhưng câu người viết rất cụt</a:t>
            </a:r>
            <a:pPr algn="l" indent="0" marL="0">
              <a:buNone/>
            </a:pPr>
            <a:r>
              <a:rPr lang="en-US" sz="1400" dirty="0">
                <a:solidFill>
                  <a:srgbClr val="1A1A1A"/>
                </a:solidFill>
                <a:latin typeface="Cambria" pitchFamily="34" charset="0"/>
                <a:ea typeface="Cambria" pitchFamily="34" charset="-122"/>
                <a:cs typeface="Cambria" pitchFamily="34" charset="-120"/>
              </a:rPr>
              <a:t> - trung vị chỉ 6 từ:</a:t>
            </a:r>
            <a:endParaRPr lang="en-US" sz="1400" dirty="0"/>
          </a:p>
        </p:txBody>
      </p:sp>
      <p:sp>
        <p:nvSpPr>
          <p:cNvPr id="11" name="Text 9"/>
          <p:cNvSpPr/>
          <p:nvPr/>
        </p:nvSpPr>
        <p:spPr>
          <a:xfrm>
            <a:off x="502920" y="3931920"/>
            <a:ext cx="8138160" cy="457200"/>
          </a:xfrm>
          <a:prstGeom prst="rect">
            <a:avLst/>
          </a:prstGeom>
          <a:noFill/>
          <a:ln/>
        </p:spPr>
        <p:txBody>
          <a:bodyPr wrap="square" lIns="0" tIns="0" rIns="0" bIns="0" rtlCol="0" anchor="t"/>
          <a:lstStyle/>
          <a:p>
            <a:pPr algn="ctr" indent="0" marL="0">
              <a:buNone/>
            </a:pPr>
            <a:r>
              <a:rPr lang="en-US" sz="1500" i="1" dirty="0">
                <a:solidFill>
                  <a:srgbClr val="1A1A1A"/>
                </a:solidFill>
                <a:latin typeface="Cambria" pitchFamily="34" charset="0"/>
                <a:ea typeface="Cambria" pitchFamily="34" charset="-122"/>
                <a:cs typeface="Cambria" pitchFamily="34" charset="-120"/>
              </a:rPr>
              <a:t>“Click on alerts”          “Tap the app”</a:t>
            </a:r>
            <a:endParaRPr lang="en-US" sz="1500" dirty="0"/>
          </a:p>
        </p:txBody>
      </p:sp>
      <p:sp>
        <p:nvSpPr>
          <p:cNvPr id="13" name="Shape 10"/>
          <p:cNvSpPr/>
          <p:nvPr/>
        </p:nvSpPr>
        <p:spPr>
          <a:xfrm>
            <a:off x="0" y="6620256"/>
            <a:ext cx="2743200" cy="237744"/>
          </a:xfrm>
          <a:prstGeom prst="rect">
            <a:avLst/>
          </a:prstGeom>
          <a:solidFill>
            <a:srgbClr val="191132"/>
          </a:solidFill>
          <a:ln/>
        </p:spPr>
      </p:sp>
      <p:sp>
        <p:nvSpPr>
          <p:cNvPr id="14" name="Shape 11"/>
          <p:cNvSpPr/>
          <p:nvPr/>
        </p:nvSpPr>
        <p:spPr>
          <a:xfrm>
            <a:off x="2743200" y="6620256"/>
            <a:ext cx="3383280" cy="237744"/>
          </a:xfrm>
          <a:prstGeom prst="rect">
            <a:avLst/>
          </a:prstGeom>
          <a:solidFill>
            <a:srgbClr val="25194B"/>
          </a:solidFill>
          <a:ln/>
        </p:spPr>
      </p:sp>
      <p:sp>
        <p:nvSpPr>
          <p:cNvPr id="15" name="Shape 12"/>
          <p:cNvSpPr/>
          <p:nvPr/>
        </p:nvSpPr>
        <p:spPr>
          <a:xfrm>
            <a:off x="6126480" y="6620256"/>
            <a:ext cx="1737360" cy="237744"/>
          </a:xfrm>
          <a:prstGeom prst="rect">
            <a:avLst/>
          </a:prstGeom>
          <a:solidFill>
            <a:srgbClr val="4F417A"/>
          </a:solidFill>
          <a:ln/>
        </p:spPr>
      </p:sp>
      <p:sp>
        <p:nvSpPr>
          <p:cNvPr id="16" name="Shape 13"/>
          <p:cNvSpPr/>
          <p:nvPr/>
        </p:nvSpPr>
        <p:spPr>
          <a:xfrm>
            <a:off x="7863840" y="6620256"/>
            <a:ext cx="1280160" cy="237744"/>
          </a:xfrm>
          <a:prstGeom prst="rect">
            <a:avLst/>
          </a:prstGeom>
          <a:solidFill>
            <a:srgbClr val="7A7099"/>
          </a:solidFill>
          <a:ln/>
        </p:spPr>
      </p:sp>
      <p:sp>
        <p:nvSpPr>
          <p:cNvPr id="17" name="Text 14"/>
          <p:cNvSpPr/>
          <p:nvPr/>
        </p:nvSpPr>
        <p:spPr>
          <a:xfrm>
            <a:off x="0" y="6620256"/>
            <a:ext cx="2743200" cy="237744"/>
          </a:xfrm>
          <a:prstGeom prst="rect">
            <a:avLst/>
          </a:prstGeom>
          <a:noFill/>
          <a:ln/>
        </p:spPr>
        <p:txBody>
          <a:bodyPr wrap="square" lIns="0" tIns="0" rIns="0" bIns="0" rtlCol="0" anchor="ctr"/>
          <a:lstStyle/>
          <a:p>
            <a:pPr algn="ctr" indent="0" marL="0">
              <a:buNone/>
            </a:pPr>
            <a:r>
              <a:rPr lang="en-US" sz="800" dirty="0">
                <a:solidFill>
                  <a:srgbClr val="FFFFFF"/>
                </a:solidFill>
                <a:latin typeface="Consolas" pitchFamily="34" charset="0"/>
                <a:ea typeface="Consolas" pitchFamily="34" charset="-122"/>
                <a:cs typeface="Consolas" pitchFamily="34" charset="-120"/>
              </a:rPr>
              <a:t>luận văn thạc sĩ</a:t>
            </a:r>
            <a:endParaRPr lang="en-US" sz="800" dirty="0"/>
          </a:p>
        </p:txBody>
      </p:sp>
      <p:sp>
        <p:nvSpPr>
          <p:cNvPr id="18" name="Text 15"/>
          <p:cNvSpPr/>
          <p:nvPr/>
        </p:nvSpPr>
        <p:spPr>
          <a:xfrm>
            <a:off x="2743200" y="6620256"/>
            <a:ext cx="3383280" cy="237744"/>
          </a:xfrm>
          <a:prstGeom prst="rect">
            <a:avLst/>
          </a:prstGeom>
          <a:noFill/>
          <a:ln/>
        </p:spPr>
        <p:txBody>
          <a:bodyPr wrap="square" lIns="0" tIns="0" rIns="0" bIns="0" rtlCol="0" anchor="ctr"/>
          <a:lstStyle/>
          <a:p>
            <a:pPr algn="ctr" indent="0" marL="0">
              <a:buNone/>
            </a:pPr>
            <a:r>
              <a:rPr lang="en-US" sz="800" dirty="0">
                <a:solidFill>
                  <a:srgbClr val="FFFFFF"/>
                </a:solidFill>
                <a:latin typeface="Cambria" pitchFamily="34" charset="0"/>
                <a:ea typeface="Cambria" pitchFamily="34" charset="-122"/>
                <a:cs typeface="Cambria" pitchFamily="34" charset="-120"/>
              </a:rPr>
              <a:t>Sinh hướng dẫn sử dụng phần mềm</a:t>
            </a:r>
            <a:endParaRPr lang="en-US" sz="800" dirty="0"/>
          </a:p>
        </p:txBody>
      </p:sp>
      <p:sp>
        <p:nvSpPr>
          <p:cNvPr id="19" name="Text 16"/>
          <p:cNvSpPr/>
          <p:nvPr/>
        </p:nvSpPr>
        <p:spPr>
          <a:xfrm>
            <a:off x="6126480" y="6620256"/>
            <a:ext cx="1737360" cy="237744"/>
          </a:xfrm>
          <a:prstGeom prst="rect">
            <a:avLst/>
          </a:prstGeom>
          <a:noFill/>
          <a:ln/>
        </p:spPr>
        <p:txBody>
          <a:bodyPr wrap="square" lIns="0" tIns="0" rIns="0" bIns="0" rtlCol="0" anchor="ctr"/>
          <a:lstStyle/>
          <a:p>
            <a:pPr algn="ctr" indent="0" marL="0">
              <a:buNone/>
            </a:pPr>
            <a:r>
              <a:rPr lang="en-US" sz="800" dirty="0">
                <a:solidFill>
                  <a:srgbClr val="FFFFFF"/>
                </a:solidFill>
                <a:latin typeface="Cambria" pitchFamily="34" charset="0"/>
                <a:ea typeface="Cambria" pitchFamily="34" charset="-122"/>
                <a:cs typeface="Cambria" pitchFamily="34" charset="-120"/>
              </a:rPr>
              <a:t>Lê Đoàn Phương Uyên</a:t>
            </a:r>
            <a:endParaRPr lang="en-US" sz="800" dirty="0"/>
          </a:p>
        </p:txBody>
      </p:sp>
      <p:sp>
        <p:nvSpPr>
          <p:cNvPr id="20" name="Text 17"/>
          <p:cNvSpPr/>
          <p:nvPr/>
        </p:nvSpPr>
        <p:spPr>
          <a:xfrm>
            <a:off x="7863840" y="6620256"/>
            <a:ext cx="1280160" cy="237744"/>
          </a:xfrm>
          <a:prstGeom prst="rect">
            <a:avLst/>
          </a:prstGeom>
          <a:noFill/>
          <a:ln/>
        </p:spPr>
        <p:txBody>
          <a:bodyPr wrap="square" lIns="0" tIns="0" rIns="0" bIns="0" rtlCol="0" anchor="ctr"/>
          <a:lstStyle/>
          <a:p>
            <a:pPr algn="ctr" indent="0" marL="0">
              <a:buNone/>
            </a:pPr>
            <a:r>
              <a:rPr lang="en-US" sz="800" dirty="0">
                <a:solidFill>
                  <a:srgbClr val="FFFFFF"/>
                </a:solidFill>
                <a:latin typeface="Cambria" pitchFamily="34" charset="0"/>
                <a:ea typeface="Cambria" pitchFamily="34" charset="-122"/>
                <a:cs typeface="Cambria" pitchFamily="34" charset="-120"/>
              </a:rPr>
              <a:t>7/26</a:t>
            </a:r>
            <a:endParaRPr lang="en-US" sz="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48640"/>
          </a:xfrm>
          <a:prstGeom prst="rect">
            <a:avLst/>
          </a:prstGeom>
          <a:solidFill>
            <a:srgbClr val="322164"/>
          </a:solidFill>
          <a:ln/>
        </p:spPr>
      </p:sp>
      <p:sp>
        <p:nvSpPr>
          <p:cNvPr id="3" name="Text 1"/>
          <p:cNvSpPr/>
          <p:nvPr/>
        </p:nvSpPr>
        <p:spPr>
          <a:xfrm>
            <a:off x="201168" y="0"/>
            <a:ext cx="8741664" cy="548640"/>
          </a:xfrm>
          <a:prstGeom prst="rect">
            <a:avLst/>
          </a:prstGeom>
          <a:noFill/>
          <a:ln/>
        </p:spPr>
        <p:txBody>
          <a:bodyPr wrap="square" lIns="0" tIns="0" rIns="0" bIns="0" rtlCol="0" anchor="ctr"/>
          <a:lstStyle/>
          <a:p>
            <a:pPr algn="l" indent="0" marL="0">
              <a:buNone/>
            </a:pPr>
            <a:r>
              <a:rPr lang="en-US" sz="1900" b="1" dirty="0">
                <a:solidFill>
                  <a:srgbClr val="FFFFFF"/>
                </a:solidFill>
                <a:latin typeface="Cambria" pitchFamily="34" charset="0"/>
                <a:ea typeface="Cambria" pitchFamily="34" charset="-122"/>
                <a:cs typeface="Cambria" pitchFamily="34" charset="-120"/>
              </a:rPr>
              <a:t>2.2.  Đo xem mô hình thường sai kiểu gì</a:t>
            </a:r>
            <a:endParaRPr lang="en-US" sz="1900" dirty="0"/>
          </a:p>
        </p:txBody>
      </p:sp>
      <p:sp>
        <p:nvSpPr>
          <p:cNvPr id="4" name="Shape 2"/>
          <p:cNvSpPr/>
          <p:nvPr/>
        </p:nvSpPr>
        <p:spPr>
          <a:xfrm>
            <a:off x="502920" y="1005840"/>
            <a:ext cx="8138160" cy="1325880"/>
          </a:xfrm>
          <a:prstGeom prst="roundRect">
            <a:avLst>
              <a:gd name="adj" fmla="val 4138"/>
            </a:avLst>
          </a:prstGeom>
          <a:solidFill>
            <a:srgbClr val="E9E8EC"/>
          </a:solidFill>
          <a:ln/>
          <a:effectLst>
            <a:outerShdw sx="100000" sy="100000" kx="0" ky="0" algn="bl" rotWithShape="0" blurRad="63500" dist="31750" dir="2700000">
              <a:srgbClr val="8C8C99">
                <a:alpha val="45000"/>
              </a:srgbClr>
            </a:outerShdw>
          </a:effectLst>
        </p:spPr>
      </p:sp>
      <p:sp>
        <p:nvSpPr>
          <p:cNvPr id="5" name="Text 3"/>
          <p:cNvSpPr/>
          <p:nvPr/>
        </p:nvSpPr>
        <p:spPr>
          <a:xfrm>
            <a:off x="704088" y="1005840"/>
            <a:ext cx="7735824" cy="1325880"/>
          </a:xfrm>
          <a:prstGeom prst="rect">
            <a:avLst/>
          </a:prstGeom>
          <a:noFill/>
          <a:ln/>
        </p:spPr>
        <p:txBody>
          <a:bodyPr wrap="square" lIns="0" tIns="0" rIns="0" bIns="0" rtlCol="0" anchor="ctr"/>
          <a:lstStyle/>
          <a:p>
            <a:pPr algn="l" indent="0" marL="0">
              <a:lnSpc>
                <a:spcPct val="140000"/>
              </a:lnSpc>
              <a:buNone/>
            </a:pPr>
            <a:r>
              <a:rPr lang="en-US" sz="1400" dirty="0">
                <a:solidFill>
                  <a:srgbClr val="1A1A1A"/>
                </a:solidFill>
                <a:latin typeface="Cambria" pitchFamily="34" charset="0"/>
                <a:ea typeface="Cambria" pitchFamily="34" charset="-122"/>
                <a:cs typeface="Cambria" pitchFamily="34" charset="-120"/>
              </a:rPr>
              <a:t>Soi tay 40 ca sai: bịa nút không có thật chỉ 0-2%</a:t>
            </a:r>
            <a:endParaRPr lang="en-US" sz="1400" dirty="0"/>
          </a:p>
          <a:p>
            <a:pPr algn="l" indent="0" marL="0">
              <a:lnSpc>
                <a:spcPct val="140000"/>
              </a:lnSpc>
              <a:buNone/>
            </a:pPr>
            <a:r>
              <a:rPr lang="en-US" sz="1400" dirty="0">
                <a:solidFill>
                  <a:srgbClr val="1A1A1A"/>
                </a:solidFill>
                <a:latin typeface="Cambria" pitchFamily="34" charset="0"/>
                <a:ea typeface="Cambria" pitchFamily="34" charset="-122"/>
                <a:cs typeface="Cambria" pitchFamily="34" charset="-120"/>
              </a:rPr>
              <a:t>Lỗi số một là câu mơ hồ - “biểu tượng tìm kiếm” khi màn có hai biểu tượng tìm kiếm</a:t>
            </a:r>
            <a:endParaRPr lang="en-US" sz="1400" dirty="0"/>
          </a:p>
        </p:txBody>
      </p:sp>
      <p:sp>
        <p:nvSpPr>
          <p:cNvPr id="6" name="Shape 4"/>
          <p:cNvSpPr/>
          <p:nvPr/>
        </p:nvSpPr>
        <p:spPr>
          <a:xfrm>
            <a:off x="502920" y="2651760"/>
            <a:ext cx="8138160" cy="1737360"/>
          </a:xfrm>
          <a:prstGeom prst="roundRect">
            <a:avLst>
              <a:gd name="adj" fmla="val 3158"/>
            </a:avLst>
          </a:prstGeom>
          <a:solidFill>
            <a:srgbClr val="E9E8EC"/>
          </a:solidFill>
          <a:ln/>
          <a:effectLst>
            <a:outerShdw sx="100000" sy="100000" kx="0" ky="0" algn="bl" rotWithShape="0" blurRad="63500" dist="31750" dir="2700000">
              <a:srgbClr val="8C8C99">
                <a:alpha val="45000"/>
              </a:srgbClr>
            </a:outerShdw>
          </a:effectLst>
        </p:spPr>
      </p:sp>
      <p:sp>
        <p:nvSpPr>
          <p:cNvPr id="7" name="Text 5"/>
          <p:cNvSpPr/>
          <p:nvPr/>
        </p:nvSpPr>
        <p:spPr>
          <a:xfrm>
            <a:off x="704088" y="2788920"/>
            <a:ext cx="7735824" cy="457200"/>
          </a:xfrm>
          <a:prstGeom prst="rect">
            <a:avLst/>
          </a:prstGeom>
          <a:noFill/>
          <a:ln/>
        </p:spPr>
        <p:txBody>
          <a:bodyPr wrap="square" lIns="0" tIns="0" rIns="0" bIns="0" rtlCol="0" anchor="t"/>
          <a:lstStyle/>
          <a:p>
            <a:pPr algn="l" indent="0" marL="0">
              <a:buNone/>
            </a:pPr>
            <a:r>
              <a:rPr lang="en-US" sz="1350" dirty="0">
                <a:solidFill>
                  <a:srgbClr val="1A1A1A"/>
                </a:solidFill>
                <a:latin typeface="Cambria" pitchFamily="34" charset="0"/>
                <a:ea typeface="Cambria" pitchFamily="34" charset="-122"/>
                <a:cs typeface="Cambria" pitchFamily="34" charset="-120"/>
              </a:rPr>
              <a:t>76 câu mẫu chuẩn, đưa bộ trỏ đọc rồi chỉ lên ảnh:</a:t>
            </a:r>
            <a:endParaRPr lang="en-US" sz="1350" dirty="0"/>
          </a:p>
        </p:txBody>
      </p:sp>
      <p:sp>
        <p:nvSpPr>
          <p:cNvPr id="8" name="Text 6"/>
          <p:cNvSpPr/>
          <p:nvPr/>
        </p:nvSpPr>
        <p:spPr>
          <a:xfrm>
            <a:off x="502920" y="3291840"/>
            <a:ext cx="8138160" cy="640080"/>
          </a:xfrm>
          <a:prstGeom prst="rect">
            <a:avLst/>
          </a:prstGeom>
          <a:noFill/>
          <a:ln/>
        </p:spPr>
        <p:txBody>
          <a:bodyPr wrap="square" lIns="0" tIns="0" rIns="0" bIns="0" rtlCol="0" anchor="ctr"/>
          <a:lstStyle/>
          <a:p>
            <a:pPr algn="ctr" indent="0" marL="0">
              <a:buNone/>
            </a:pPr>
            <a:r>
              <a:rPr lang="en-US" sz="1500" dirty="0">
                <a:solidFill>
                  <a:srgbClr val="1A1A1A"/>
                </a:solidFill>
                <a:latin typeface="Cambria" pitchFamily="34" charset="0"/>
                <a:ea typeface="Cambria" pitchFamily="34" charset="-122"/>
                <a:cs typeface="Cambria" pitchFamily="34" charset="-120"/>
              </a:rPr>
              <a:t>câu cộc lốc trúng  </a:t>
            </a:r>
            <a:pPr algn="ctr" indent="0" marL="0">
              <a:buNone/>
            </a:pPr>
            <a:r>
              <a:rPr lang="en-US" sz="2400" b="1" dirty="0">
                <a:solidFill>
                  <a:srgbClr val="990000"/>
                </a:solidFill>
                <a:latin typeface="Cambria" pitchFamily="34" charset="0"/>
                <a:ea typeface="Cambria" pitchFamily="34" charset="-122"/>
                <a:cs typeface="Cambria" pitchFamily="34" charset="-120"/>
              </a:rPr>
              <a:t>32%</a:t>
            </a:r>
            <a:pPr algn="ctr" indent="0" marL="0">
              <a:buNone/>
            </a:pPr>
            <a:r>
              <a:rPr lang="en-US" sz="1500" dirty="0">
                <a:solidFill>
                  <a:srgbClr val="1A1A1A"/>
                </a:solidFill>
                <a:latin typeface="Cambria" pitchFamily="34" charset="0"/>
                <a:ea typeface="Cambria" pitchFamily="34" charset="-122"/>
                <a:cs typeface="Cambria" pitchFamily="34" charset="-120"/>
              </a:rPr>
              <a:t>        câu tả rõ trúng  </a:t>
            </a:r>
            <a:pPr algn="ctr" indent="0" marL="0">
              <a:buNone/>
            </a:pPr>
            <a:r>
              <a:rPr lang="en-US" sz="2400" b="1" dirty="0">
                <a:solidFill>
                  <a:srgbClr val="322164"/>
                </a:solidFill>
                <a:latin typeface="Cambria" pitchFamily="34" charset="0"/>
                <a:ea typeface="Cambria" pitchFamily="34" charset="-122"/>
                <a:cs typeface="Cambria" pitchFamily="34" charset="-120"/>
              </a:rPr>
              <a:t>69%</a:t>
            </a:r>
            <a:endParaRPr lang="en-US" sz="1500" dirty="0"/>
          </a:p>
        </p:txBody>
      </p:sp>
      <p:sp>
        <p:nvSpPr>
          <p:cNvPr id="9" name="Text 7"/>
          <p:cNvSpPr/>
          <p:nvPr/>
        </p:nvSpPr>
        <p:spPr>
          <a:xfrm>
            <a:off x="502920" y="4709160"/>
            <a:ext cx="8138160" cy="457200"/>
          </a:xfrm>
          <a:prstGeom prst="rect">
            <a:avLst/>
          </a:prstGeom>
          <a:noFill/>
          <a:ln/>
        </p:spPr>
        <p:txBody>
          <a:bodyPr wrap="square" lIns="0" tIns="0" rIns="0" bIns="0" rtlCol="0" anchor="t"/>
          <a:lstStyle/>
          <a:p>
            <a:pPr algn="l" indent="0" marL="0">
              <a:buNone/>
            </a:pPr>
            <a:r>
              <a:rPr lang="en-US" sz="1400" b="1" dirty="0">
                <a:solidFill>
                  <a:srgbClr val="322164"/>
                </a:solidFill>
                <a:latin typeface="Cambria" pitchFamily="34" charset="0"/>
                <a:ea typeface="Cambria" pitchFamily="34" charset="-122"/>
                <a:cs typeface="Cambria" pitchFamily="34" charset="-120"/>
              </a:rPr>
              <a:t>Cả hai mức đóng góp đều nhắm vào lỗi mơ hồ này</a:t>
            </a:r>
            <a:endParaRPr lang="en-US" sz="1400" dirty="0"/>
          </a:p>
        </p:txBody>
      </p:sp>
      <p:sp>
        <p:nvSpPr>
          <p:cNvPr id="11" name="Shape 8"/>
          <p:cNvSpPr/>
          <p:nvPr/>
        </p:nvSpPr>
        <p:spPr>
          <a:xfrm>
            <a:off x="0" y="6620256"/>
            <a:ext cx="2743200" cy="237744"/>
          </a:xfrm>
          <a:prstGeom prst="rect">
            <a:avLst/>
          </a:prstGeom>
          <a:solidFill>
            <a:srgbClr val="191132"/>
          </a:solidFill>
          <a:ln/>
        </p:spPr>
      </p:sp>
      <p:sp>
        <p:nvSpPr>
          <p:cNvPr id="12" name="Shape 9"/>
          <p:cNvSpPr/>
          <p:nvPr/>
        </p:nvSpPr>
        <p:spPr>
          <a:xfrm>
            <a:off x="2743200" y="6620256"/>
            <a:ext cx="3383280" cy="237744"/>
          </a:xfrm>
          <a:prstGeom prst="rect">
            <a:avLst/>
          </a:prstGeom>
          <a:solidFill>
            <a:srgbClr val="25194B"/>
          </a:solidFill>
          <a:ln/>
        </p:spPr>
      </p:sp>
      <p:sp>
        <p:nvSpPr>
          <p:cNvPr id="13" name="Shape 10"/>
          <p:cNvSpPr/>
          <p:nvPr/>
        </p:nvSpPr>
        <p:spPr>
          <a:xfrm>
            <a:off x="6126480" y="6620256"/>
            <a:ext cx="1737360" cy="237744"/>
          </a:xfrm>
          <a:prstGeom prst="rect">
            <a:avLst/>
          </a:prstGeom>
          <a:solidFill>
            <a:srgbClr val="4F417A"/>
          </a:solidFill>
          <a:ln/>
        </p:spPr>
      </p:sp>
      <p:sp>
        <p:nvSpPr>
          <p:cNvPr id="14" name="Shape 11"/>
          <p:cNvSpPr/>
          <p:nvPr/>
        </p:nvSpPr>
        <p:spPr>
          <a:xfrm>
            <a:off x="7863840" y="6620256"/>
            <a:ext cx="1280160" cy="237744"/>
          </a:xfrm>
          <a:prstGeom prst="rect">
            <a:avLst/>
          </a:prstGeom>
          <a:solidFill>
            <a:srgbClr val="7A7099"/>
          </a:solidFill>
          <a:ln/>
        </p:spPr>
      </p:sp>
      <p:sp>
        <p:nvSpPr>
          <p:cNvPr id="15" name="Text 12"/>
          <p:cNvSpPr/>
          <p:nvPr/>
        </p:nvSpPr>
        <p:spPr>
          <a:xfrm>
            <a:off x="0" y="6620256"/>
            <a:ext cx="2743200" cy="237744"/>
          </a:xfrm>
          <a:prstGeom prst="rect">
            <a:avLst/>
          </a:prstGeom>
          <a:noFill/>
          <a:ln/>
        </p:spPr>
        <p:txBody>
          <a:bodyPr wrap="square" lIns="0" tIns="0" rIns="0" bIns="0" rtlCol="0" anchor="ctr"/>
          <a:lstStyle/>
          <a:p>
            <a:pPr algn="ctr" indent="0" marL="0">
              <a:buNone/>
            </a:pPr>
            <a:r>
              <a:rPr lang="en-US" sz="800" dirty="0">
                <a:solidFill>
                  <a:srgbClr val="FFFFFF"/>
                </a:solidFill>
                <a:latin typeface="Consolas" pitchFamily="34" charset="0"/>
                <a:ea typeface="Consolas" pitchFamily="34" charset="-122"/>
                <a:cs typeface="Consolas" pitchFamily="34" charset="-120"/>
              </a:rPr>
              <a:t>luận văn thạc sĩ</a:t>
            </a:r>
            <a:endParaRPr lang="en-US" sz="800" dirty="0"/>
          </a:p>
        </p:txBody>
      </p:sp>
      <p:sp>
        <p:nvSpPr>
          <p:cNvPr id="16" name="Text 13"/>
          <p:cNvSpPr/>
          <p:nvPr/>
        </p:nvSpPr>
        <p:spPr>
          <a:xfrm>
            <a:off x="2743200" y="6620256"/>
            <a:ext cx="3383280" cy="237744"/>
          </a:xfrm>
          <a:prstGeom prst="rect">
            <a:avLst/>
          </a:prstGeom>
          <a:noFill/>
          <a:ln/>
        </p:spPr>
        <p:txBody>
          <a:bodyPr wrap="square" lIns="0" tIns="0" rIns="0" bIns="0" rtlCol="0" anchor="ctr"/>
          <a:lstStyle/>
          <a:p>
            <a:pPr algn="ctr" indent="0" marL="0">
              <a:buNone/>
            </a:pPr>
            <a:r>
              <a:rPr lang="en-US" sz="800" dirty="0">
                <a:solidFill>
                  <a:srgbClr val="FFFFFF"/>
                </a:solidFill>
                <a:latin typeface="Cambria" pitchFamily="34" charset="0"/>
                <a:ea typeface="Cambria" pitchFamily="34" charset="-122"/>
                <a:cs typeface="Cambria" pitchFamily="34" charset="-120"/>
              </a:rPr>
              <a:t>Sinh hướng dẫn sử dụng phần mềm</a:t>
            </a:r>
            <a:endParaRPr lang="en-US" sz="800" dirty="0"/>
          </a:p>
        </p:txBody>
      </p:sp>
      <p:sp>
        <p:nvSpPr>
          <p:cNvPr id="17" name="Text 14"/>
          <p:cNvSpPr/>
          <p:nvPr/>
        </p:nvSpPr>
        <p:spPr>
          <a:xfrm>
            <a:off x="6126480" y="6620256"/>
            <a:ext cx="1737360" cy="237744"/>
          </a:xfrm>
          <a:prstGeom prst="rect">
            <a:avLst/>
          </a:prstGeom>
          <a:noFill/>
          <a:ln/>
        </p:spPr>
        <p:txBody>
          <a:bodyPr wrap="square" lIns="0" tIns="0" rIns="0" bIns="0" rtlCol="0" anchor="ctr"/>
          <a:lstStyle/>
          <a:p>
            <a:pPr algn="ctr" indent="0" marL="0">
              <a:buNone/>
            </a:pPr>
            <a:r>
              <a:rPr lang="en-US" sz="800" dirty="0">
                <a:solidFill>
                  <a:srgbClr val="FFFFFF"/>
                </a:solidFill>
                <a:latin typeface="Cambria" pitchFamily="34" charset="0"/>
                <a:ea typeface="Cambria" pitchFamily="34" charset="-122"/>
                <a:cs typeface="Cambria" pitchFamily="34" charset="-120"/>
              </a:rPr>
              <a:t>Lê Đoàn Phương Uyên</a:t>
            </a:r>
            <a:endParaRPr lang="en-US" sz="800" dirty="0"/>
          </a:p>
        </p:txBody>
      </p:sp>
      <p:sp>
        <p:nvSpPr>
          <p:cNvPr id="18" name="Text 15"/>
          <p:cNvSpPr/>
          <p:nvPr/>
        </p:nvSpPr>
        <p:spPr>
          <a:xfrm>
            <a:off x="7863840" y="6620256"/>
            <a:ext cx="1280160" cy="237744"/>
          </a:xfrm>
          <a:prstGeom prst="rect">
            <a:avLst/>
          </a:prstGeom>
          <a:noFill/>
          <a:ln/>
        </p:spPr>
        <p:txBody>
          <a:bodyPr wrap="square" lIns="0" tIns="0" rIns="0" bIns="0" rtlCol="0" anchor="ctr"/>
          <a:lstStyle/>
          <a:p>
            <a:pPr algn="ctr" indent="0" marL="0">
              <a:buNone/>
            </a:pPr>
            <a:r>
              <a:rPr lang="en-US" sz="800" dirty="0">
                <a:solidFill>
                  <a:srgbClr val="FFFFFF"/>
                </a:solidFill>
                <a:latin typeface="Cambria" pitchFamily="34" charset="0"/>
                <a:ea typeface="Cambria" pitchFamily="34" charset="-122"/>
                <a:cs typeface="Cambria" pitchFamily="34" charset="-120"/>
              </a:rPr>
              <a:t>8/26</a:t>
            </a:r>
            <a:endParaRPr lang="en-US" sz="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48640"/>
          </a:xfrm>
          <a:prstGeom prst="rect">
            <a:avLst/>
          </a:prstGeom>
          <a:solidFill>
            <a:srgbClr val="322164"/>
          </a:solidFill>
          <a:ln/>
        </p:spPr>
      </p:sp>
      <p:sp>
        <p:nvSpPr>
          <p:cNvPr id="3" name="Text 1"/>
          <p:cNvSpPr/>
          <p:nvPr/>
        </p:nvSpPr>
        <p:spPr>
          <a:xfrm>
            <a:off x="201168" y="0"/>
            <a:ext cx="8741664" cy="548640"/>
          </a:xfrm>
          <a:prstGeom prst="rect">
            <a:avLst/>
          </a:prstGeom>
          <a:noFill/>
          <a:ln/>
        </p:spPr>
        <p:txBody>
          <a:bodyPr wrap="square" lIns="0" tIns="0" rIns="0" bIns="0" rtlCol="0" anchor="ctr"/>
          <a:lstStyle/>
          <a:p>
            <a:pPr algn="l" indent="0" marL="0">
              <a:buNone/>
            </a:pPr>
            <a:r>
              <a:rPr lang="en-US" sz="1900" b="1" dirty="0">
                <a:solidFill>
                  <a:srgbClr val="FFFFFF"/>
                </a:solidFill>
                <a:latin typeface="Cambria" pitchFamily="34" charset="0"/>
                <a:ea typeface="Cambria" pitchFamily="34" charset="-122"/>
                <a:cs typeface="Cambria" pitchFamily="34" charset="-120"/>
              </a:rPr>
              <a:t>3.1.  Toàn cảnh pipeline</a:t>
            </a:r>
            <a:endParaRPr lang="en-US" sz="1900" dirty="0"/>
          </a:p>
        </p:txBody>
      </p:sp>
      <p:sp>
        <p:nvSpPr>
          <p:cNvPr id="4" name="Shape 2"/>
          <p:cNvSpPr/>
          <p:nvPr/>
        </p:nvSpPr>
        <p:spPr>
          <a:xfrm>
            <a:off x="777240" y="1234440"/>
            <a:ext cx="2240280" cy="868680"/>
          </a:xfrm>
          <a:prstGeom prst="roundRect">
            <a:avLst>
              <a:gd name="adj" fmla="val 6316"/>
            </a:avLst>
          </a:prstGeom>
          <a:solidFill>
            <a:srgbClr val="E9E8EC"/>
          </a:solidFill>
          <a:ln/>
          <a:effectLst>
            <a:outerShdw sx="100000" sy="100000" kx="0" ky="0" algn="bl" rotWithShape="0" blurRad="63500" dist="31750" dir="2700000">
              <a:srgbClr val="8C8C99">
                <a:alpha val="45000"/>
              </a:srgbClr>
            </a:outerShdw>
          </a:effectLst>
        </p:spPr>
      </p:sp>
      <p:sp>
        <p:nvSpPr>
          <p:cNvPr id="5" name="Text 3"/>
          <p:cNvSpPr/>
          <p:nvPr/>
        </p:nvSpPr>
        <p:spPr>
          <a:xfrm>
            <a:off x="777240" y="1234440"/>
            <a:ext cx="2240280" cy="868680"/>
          </a:xfrm>
          <a:prstGeom prst="rect">
            <a:avLst/>
          </a:prstGeom>
          <a:noFill/>
          <a:ln/>
        </p:spPr>
        <p:txBody>
          <a:bodyPr wrap="square" lIns="0" tIns="0" rIns="0" bIns="0" rtlCol="0" anchor="ctr"/>
          <a:lstStyle/>
          <a:p>
            <a:pPr algn="ctr" indent="0" marL="0">
              <a:lnSpc>
                <a:spcPct val="125000"/>
              </a:lnSpc>
              <a:buNone/>
            </a:pPr>
            <a:r>
              <a:rPr lang="en-US" sz="1350" b="1" dirty="0">
                <a:solidFill>
                  <a:srgbClr val="322164"/>
                </a:solidFill>
                <a:latin typeface="Cambria" pitchFamily="34" charset="0"/>
                <a:ea typeface="Cambria" pitchFamily="34" charset="-122"/>
                <a:cs typeface="Cambria" pitchFamily="34" charset="-120"/>
              </a:rPr>
              <a:t>1. Đọc chữ</a:t>
            </a:r>
            <a:endParaRPr lang="en-US" sz="1350" dirty="0"/>
          </a:p>
          <a:p>
            <a:pPr algn="ctr" indent="0" marL="0">
              <a:lnSpc>
                <a:spcPct val="125000"/>
              </a:lnSpc>
              <a:buNone/>
            </a:pPr>
            <a:r>
              <a:rPr lang="en-US" sz="1350" b="1" dirty="0">
                <a:solidFill>
                  <a:srgbClr val="322164"/>
                </a:solidFill>
                <a:latin typeface="Cambria" pitchFamily="34" charset="0"/>
                <a:ea typeface="Cambria" pitchFamily="34" charset="-122"/>
                <a:cs typeface="Cambria" pitchFamily="34" charset="-120"/>
              </a:rPr>
              <a:t>trên ảnh</a:t>
            </a:r>
            <a:endParaRPr lang="en-US" sz="1350" dirty="0"/>
          </a:p>
        </p:txBody>
      </p:sp>
      <p:sp>
        <p:nvSpPr>
          <p:cNvPr id="6" name="Shape 4"/>
          <p:cNvSpPr/>
          <p:nvPr/>
        </p:nvSpPr>
        <p:spPr>
          <a:xfrm>
            <a:off x="3063240" y="1664208"/>
            <a:ext cx="365760" cy="0"/>
          </a:xfrm>
          <a:prstGeom prst="line">
            <a:avLst/>
          </a:prstGeom>
          <a:noFill/>
          <a:ln w="25400">
            <a:solidFill>
              <a:srgbClr val="4F417A"/>
            </a:solidFill>
            <a:prstDash val="solid"/>
            <a:tailEnd type="triangle"/>
          </a:ln>
        </p:spPr>
      </p:sp>
      <p:sp>
        <p:nvSpPr>
          <p:cNvPr id="7" name="Shape 5"/>
          <p:cNvSpPr/>
          <p:nvPr/>
        </p:nvSpPr>
        <p:spPr>
          <a:xfrm>
            <a:off x="3474720" y="1234440"/>
            <a:ext cx="2240280" cy="868680"/>
          </a:xfrm>
          <a:prstGeom prst="roundRect">
            <a:avLst>
              <a:gd name="adj" fmla="val 6316"/>
            </a:avLst>
          </a:prstGeom>
          <a:solidFill>
            <a:srgbClr val="E9E8EC"/>
          </a:solidFill>
          <a:ln/>
          <a:effectLst>
            <a:outerShdw sx="100000" sy="100000" kx="0" ky="0" algn="bl" rotWithShape="0" blurRad="63500" dist="31750" dir="2700000">
              <a:srgbClr val="8C8C99">
                <a:alpha val="45000"/>
              </a:srgbClr>
            </a:outerShdw>
          </a:effectLst>
        </p:spPr>
      </p:sp>
      <p:sp>
        <p:nvSpPr>
          <p:cNvPr id="8" name="Text 6"/>
          <p:cNvSpPr/>
          <p:nvPr/>
        </p:nvSpPr>
        <p:spPr>
          <a:xfrm>
            <a:off x="3474720" y="1234440"/>
            <a:ext cx="2240280" cy="868680"/>
          </a:xfrm>
          <a:prstGeom prst="rect">
            <a:avLst/>
          </a:prstGeom>
          <a:noFill/>
          <a:ln/>
        </p:spPr>
        <p:txBody>
          <a:bodyPr wrap="square" lIns="0" tIns="0" rIns="0" bIns="0" rtlCol="0" anchor="ctr"/>
          <a:lstStyle/>
          <a:p>
            <a:pPr algn="ctr" indent="0" marL="0">
              <a:lnSpc>
                <a:spcPct val="125000"/>
              </a:lnSpc>
              <a:buNone/>
            </a:pPr>
            <a:r>
              <a:rPr lang="en-US" sz="1350" b="1" dirty="0">
                <a:solidFill>
                  <a:srgbClr val="322164"/>
                </a:solidFill>
                <a:latin typeface="Cambria" pitchFamily="34" charset="0"/>
                <a:ea typeface="Cambria" pitchFamily="34" charset="-122"/>
                <a:cs typeface="Cambria" pitchFamily="34" charset="-120"/>
              </a:rPr>
              <a:t>2. Viết lại</a:t>
            </a:r>
            <a:endParaRPr lang="en-US" sz="1350" dirty="0"/>
          </a:p>
          <a:p>
            <a:pPr algn="ctr" indent="0" marL="0">
              <a:lnSpc>
                <a:spcPct val="125000"/>
              </a:lnSpc>
              <a:buNone/>
            </a:pPr>
            <a:r>
              <a:rPr lang="en-US" sz="1350" b="1" dirty="0">
                <a:solidFill>
                  <a:srgbClr val="322164"/>
                </a:solidFill>
                <a:latin typeface="Cambria" pitchFamily="34" charset="0"/>
                <a:ea typeface="Cambria" pitchFamily="34" charset="-122"/>
                <a:cs typeface="Cambria" pitchFamily="34" charset="-120"/>
              </a:rPr>
              <a:t>câu</a:t>
            </a:r>
            <a:endParaRPr lang="en-US" sz="1350" dirty="0"/>
          </a:p>
        </p:txBody>
      </p:sp>
      <p:sp>
        <p:nvSpPr>
          <p:cNvPr id="9" name="Shape 7"/>
          <p:cNvSpPr/>
          <p:nvPr/>
        </p:nvSpPr>
        <p:spPr>
          <a:xfrm>
            <a:off x="5760720" y="1664208"/>
            <a:ext cx="365760" cy="0"/>
          </a:xfrm>
          <a:prstGeom prst="line">
            <a:avLst/>
          </a:prstGeom>
          <a:noFill/>
          <a:ln w="25400">
            <a:solidFill>
              <a:srgbClr val="4F417A"/>
            </a:solidFill>
            <a:prstDash val="solid"/>
            <a:tailEnd type="triangle"/>
          </a:ln>
        </p:spPr>
      </p:sp>
      <p:sp>
        <p:nvSpPr>
          <p:cNvPr id="10" name="Shape 8"/>
          <p:cNvSpPr/>
          <p:nvPr/>
        </p:nvSpPr>
        <p:spPr>
          <a:xfrm>
            <a:off x="6172200" y="1234440"/>
            <a:ext cx="2240280" cy="868680"/>
          </a:xfrm>
          <a:prstGeom prst="roundRect">
            <a:avLst>
              <a:gd name="adj" fmla="val 6316"/>
            </a:avLst>
          </a:prstGeom>
          <a:solidFill>
            <a:srgbClr val="E9E8EC"/>
          </a:solidFill>
          <a:ln/>
          <a:effectLst>
            <a:outerShdw sx="100000" sy="100000" kx="0" ky="0" algn="bl" rotWithShape="0" blurRad="63500" dist="31750" dir="2700000">
              <a:srgbClr val="8C8C99">
                <a:alpha val="45000"/>
              </a:srgbClr>
            </a:outerShdw>
          </a:effectLst>
        </p:spPr>
      </p:sp>
      <p:sp>
        <p:nvSpPr>
          <p:cNvPr id="11" name="Text 9"/>
          <p:cNvSpPr/>
          <p:nvPr/>
        </p:nvSpPr>
        <p:spPr>
          <a:xfrm>
            <a:off x="6172200" y="1234440"/>
            <a:ext cx="2240280" cy="868680"/>
          </a:xfrm>
          <a:prstGeom prst="rect">
            <a:avLst/>
          </a:prstGeom>
          <a:noFill/>
          <a:ln/>
        </p:spPr>
        <p:txBody>
          <a:bodyPr wrap="square" lIns="0" tIns="0" rIns="0" bIns="0" rtlCol="0" anchor="ctr"/>
          <a:lstStyle/>
          <a:p>
            <a:pPr algn="ctr" indent="0" marL="0">
              <a:lnSpc>
                <a:spcPct val="125000"/>
              </a:lnSpc>
              <a:buNone/>
            </a:pPr>
            <a:r>
              <a:rPr lang="en-US" sz="1350" b="1" dirty="0">
                <a:solidFill>
                  <a:srgbClr val="322164"/>
                </a:solidFill>
                <a:latin typeface="Cambria" pitchFamily="34" charset="0"/>
                <a:ea typeface="Cambria" pitchFamily="34" charset="-122"/>
                <a:cs typeface="Cambria" pitchFamily="34" charset="-120"/>
              </a:rPr>
              <a:t>3. Dựng dòng</a:t>
            </a:r>
            <a:endParaRPr lang="en-US" sz="1350" dirty="0"/>
          </a:p>
          <a:p>
            <a:pPr algn="ctr" indent="0" marL="0">
              <a:lnSpc>
                <a:spcPct val="125000"/>
              </a:lnSpc>
              <a:buNone/>
            </a:pPr>
            <a:r>
              <a:rPr lang="en-US" sz="1350" b="1" dirty="0">
                <a:solidFill>
                  <a:srgbClr val="322164"/>
                </a:solidFill>
                <a:latin typeface="Cambria" pitchFamily="34" charset="0"/>
                <a:ea typeface="Cambria" pitchFamily="34" charset="-122"/>
                <a:cs typeface="Cambria" pitchFamily="34" charset="-120"/>
              </a:rPr>
              <a:t>khai báo</a:t>
            </a:r>
            <a:endParaRPr lang="en-US" sz="1350" dirty="0"/>
          </a:p>
        </p:txBody>
      </p:sp>
      <p:sp>
        <p:nvSpPr>
          <p:cNvPr id="12" name="Shape 10"/>
          <p:cNvSpPr/>
          <p:nvPr/>
        </p:nvSpPr>
        <p:spPr>
          <a:xfrm>
            <a:off x="777240" y="2606040"/>
            <a:ext cx="2240280" cy="868680"/>
          </a:xfrm>
          <a:prstGeom prst="roundRect">
            <a:avLst>
              <a:gd name="adj" fmla="val 6316"/>
            </a:avLst>
          </a:prstGeom>
          <a:solidFill>
            <a:srgbClr val="E9E8EC"/>
          </a:solidFill>
          <a:ln/>
          <a:effectLst>
            <a:outerShdw sx="100000" sy="100000" kx="0" ky="0" algn="bl" rotWithShape="0" blurRad="63500" dist="31750" dir="2700000">
              <a:srgbClr val="8C8C99">
                <a:alpha val="45000"/>
              </a:srgbClr>
            </a:outerShdw>
          </a:effectLst>
        </p:spPr>
      </p:sp>
      <p:sp>
        <p:nvSpPr>
          <p:cNvPr id="13" name="Text 11"/>
          <p:cNvSpPr/>
          <p:nvPr/>
        </p:nvSpPr>
        <p:spPr>
          <a:xfrm>
            <a:off x="777240" y="2606040"/>
            <a:ext cx="2240280" cy="868680"/>
          </a:xfrm>
          <a:prstGeom prst="rect">
            <a:avLst/>
          </a:prstGeom>
          <a:noFill/>
          <a:ln/>
        </p:spPr>
        <p:txBody>
          <a:bodyPr wrap="square" lIns="0" tIns="0" rIns="0" bIns="0" rtlCol="0" anchor="ctr"/>
          <a:lstStyle/>
          <a:p>
            <a:pPr algn="ctr" indent="0" marL="0">
              <a:lnSpc>
                <a:spcPct val="125000"/>
              </a:lnSpc>
              <a:buNone/>
            </a:pPr>
            <a:r>
              <a:rPr lang="en-US" sz="1350" b="1" dirty="0">
                <a:solidFill>
                  <a:srgbClr val="B22222"/>
                </a:solidFill>
                <a:latin typeface="Cambria" pitchFamily="34" charset="0"/>
                <a:ea typeface="Cambria" pitchFamily="34" charset="-122"/>
                <a:cs typeface="Cambria" pitchFamily="34" charset="-120"/>
              </a:rPr>
              <a:t>6. Chạy thật</a:t>
            </a:r>
            <a:endParaRPr lang="en-US" sz="1350" dirty="0"/>
          </a:p>
        </p:txBody>
      </p:sp>
      <p:sp>
        <p:nvSpPr>
          <p:cNvPr id="14" name="Shape 12"/>
          <p:cNvSpPr/>
          <p:nvPr/>
        </p:nvSpPr>
        <p:spPr>
          <a:xfrm>
            <a:off x="3474720" y="2606040"/>
            <a:ext cx="2240280" cy="868680"/>
          </a:xfrm>
          <a:prstGeom prst="roundRect">
            <a:avLst>
              <a:gd name="adj" fmla="val 6316"/>
            </a:avLst>
          </a:prstGeom>
          <a:solidFill>
            <a:srgbClr val="322164"/>
          </a:solidFill>
          <a:ln/>
          <a:effectLst>
            <a:outerShdw sx="100000" sy="100000" kx="0" ky="0" algn="bl" rotWithShape="0" blurRad="63500" dist="31750" dir="2700000">
              <a:srgbClr val="8C8C99">
                <a:alpha val="45000"/>
              </a:srgbClr>
            </a:outerShdw>
          </a:effectLst>
        </p:spPr>
      </p:sp>
      <p:sp>
        <p:nvSpPr>
          <p:cNvPr id="15" name="Text 13"/>
          <p:cNvSpPr/>
          <p:nvPr/>
        </p:nvSpPr>
        <p:spPr>
          <a:xfrm>
            <a:off x="3474720" y="2606040"/>
            <a:ext cx="2240280" cy="868680"/>
          </a:xfrm>
          <a:prstGeom prst="rect">
            <a:avLst/>
          </a:prstGeom>
          <a:noFill/>
          <a:ln/>
        </p:spPr>
        <p:txBody>
          <a:bodyPr wrap="square" lIns="0" tIns="0" rIns="0" bIns="0" rtlCol="0" anchor="ctr"/>
          <a:lstStyle/>
          <a:p>
            <a:pPr algn="ctr" indent="0" marL="0">
              <a:lnSpc>
                <a:spcPct val="125000"/>
              </a:lnSpc>
              <a:buNone/>
            </a:pPr>
            <a:r>
              <a:rPr lang="en-US" sz="1350" b="1" dirty="0">
                <a:solidFill>
                  <a:srgbClr val="FFFFFF"/>
                </a:solidFill>
                <a:latin typeface="Cambria" pitchFamily="34" charset="0"/>
                <a:ea typeface="Cambria" pitchFamily="34" charset="-122"/>
                <a:cs typeface="Cambria" pitchFamily="34" charset="-120"/>
              </a:rPr>
              <a:t>5. Huấn luyện</a:t>
            </a:r>
            <a:endParaRPr lang="en-US" sz="1350" dirty="0"/>
          </a:p>
          <a:p>
            <a:pPr algn="ctr" indent="0" marL="0">
              <a:lnSpc>
                <a:spcPct val="125000"/>
              </a:lnSpc>
              <a:buNone/>
            </a:pPr>
            <a:r>
              <a:rPr lang="en-US" sz="1350" b="1" dirty="0">
                <a:solidFill>
                  <a:srgbClr val="FFFFFF"/>
                </a:solidFill>
                <a:latin typeface="Cambria" pitchFamily="34" charset="0"/>
                <a:ea typeface="Cambria" pitchFamily="34" charset="-122"/>
                <a:cs typeface="Cambria" pitchFamily="34" charset="-120"/>
              </a:rPr>
              <a:t>Bản A  vs  Bản B</a:t>
            </a:r>
            <a:endParaRPr lang="en-US" sz="1350" dirty="0"/>
          </a:p>
        </p:txBody>
      </p:sp>
      <p:sp>
        <p:nvSpPr>
          <p:cNvPr id="16" name="Shape 14"/>
          <p:cNvSpPr/>
          <p:nvPr/>
        </p:nvSpPr>
        <p:spPr>
          <a:xfrm>
            <a:off x="6172200" y="2606040"/>
            <a:ext cx="2240280" cy="868680"/>
          </a:xfrm>
          <a:prstGeom prst="roundRect">
            <a:avLst>
              <a:gd name="adj" fmla="val 6316"/>
            </a:avLst>
          </a:prstGeom>
          <a:solidFill>
            <a:srgbClr val="E9E8EC"/>
          </a:solidFill>
          <a:ln/>
          <a:effectLst>
            <a:outerShdw sx="100000" sy="100000" kx="0" ky="0" algn="bl" rotWithShape="0" blurRad="63500" dist="31750" dir="2700000">
              <a:srgbClr val="8C8C99">
                <a:alpha val="45000"/>
              </a:srgbClr>
            </a:outerShdw>
          </a:effectLst>
        </p:spPr>
      </p:sp>
      <p:sp>
        <p:nvSpPr>
          <p:cNvPr id="17" name="Text 15"/>
          <p:cNvSpPr/>
          <p:nvPr/>
        </p:nvSpPr>
        <p:spPr>
          <a:xfrm>
            <a:off x="6172200" y="2606040"/>
            <a:ext cx="2240280" cy="868680"/>
          </a:xfrm>
          <a:prstGeom prst="rect">
            <a:avLst/>
          </a:prstGeom>
          <a:noFill/>
          <a:ln/>
        </p:spPr>
        <p:txBody>
          <a:bodyPr wrap="square" lIns="0" tIns="0" rIns="0" bIns="0" rtlCol="0" anchor="ctr"/>
          <a:lstStyle/>
          <a:p>
            <a:pPr algn="ctr" indent="0" marL="0">
              <a:lnSpc>
                <a:spcPct val="125000"/>
              </a:lnSpc>
              <a:buNone/>
            </a:pPr>
            <a:r>
              <a:rPr lang="en-US" sz="1350" b="1" dirty="0">
                <a:solidFill>
                  <a:srgbClr val="322164"/>
                </a:solidFill>
                <a:latin typeface="Cambria" pitchFamily="34" charset="0"/>
                <a:ea typeface="Cambria" pitchFamily="34" charset="-122"/>
                <a:cs typeface="Cambria" pitchFamily="34" charset="-120"/>
              </a:rPr>
              <a:t>4. Ghép thành</a:t>
            </a:r>
            <a:endParaRPr lang="en-US" sz="1350" dirty="0"/>
          </a:p>
          <a:p>
            <a:pPr algn="ctr" indent="0" marL="0">
              <a:lnSpc>
                <a:spcPct val="125000"/>
              </a:lnSpc>
              <a:buNone/>
            </a:pPr>
            <a:r>
              <a:rPr lang="en-US" sz="1350" b="1" dirty="0">
                <a:solidFill>
                  <a:srgbClr val="322164"/>
                </a:solidFill>
                <a:latin typeface="Cambria" pitchFamily="34" charset="0"/>
                <a:ea typeface="Cambria" pitchFamily="34" charset="-122"/>
                <a:cs typeface="Cambria" pitchFamily="34" charset="-120"/>
              </a:rPr>
              <a:t>bộ dữ liệu</a:t>
            </a:r>
            <a:endParaRPr lang="en-US" sz="1350" dirty="0"/>
          </a:p>
        </p:txBody>
      </p:sp>
      <p:sp>
        <p:nvSpPr>
          <p:cNvPr id="18" name="Shape 16"/>
          <p:cNvSpPr/>
          <p:nvPr/>
        </p:nvSpPr>
        <p:spPr>
          <a:xfrm>
            <a:off x="5806440" y="3035808"/>
            <a:ext cx="365760" cy="0"/>
          </a:xfrm>
          <a:prstGeom prst="line">
            <a:avLst/>
          </a:prstGeom>
          <a:noFill/>
          <a:ln w="25400">
            <a:solidFill>
              <a:srgbClr val="4F417A"/>
            </a:solidFill>
            <a:prstDash val="solid"/>
            <a:headEnd type="triangle"/>
          </a:ln>
        </p:spPr>
      </p:sp>
      <p:sp>
        <p:nvSpPr>
          <p:cNvPr id="19" name="Shape 17"/>
          <p:cNvSpPr/>
          <p:nvPr/>
        </p:nvSpPr>
        <p:spPr>
          <a:xfrm>
            <a:off x="3108960" y="3035808"/>
            <a:ext cx="365760" cy="0"/>
          </a:xfrm>
          <a:prstGeom prst="line">
            <a:avLst/>
          </a:prstGeom>
          <a:noFill/>
          <a:ln w="25400">
            <a:solidFill>
              <a:srgbClr val="4F417A"/>
            </a:solidFill>
            <a:prstDash val="solid"/>
            <a:headEnd type="triangle"/>
          </a:ln>
        </p:spPr>
      </p:sp>
      <p:sp>
        <p:nvSpPr>
          <p:cNvPr id="20" name="Shape 18"/>
          <p:cNvSpPr/>
          <p:nvPr/>
        </p:nvSpPr>
        <p:spPr>
          <a:xfrm>
            <a:off x="7790688" y="2103120"/>
            <a:ext cx="0" cy="502920"/>
          </a:xfrm>
          <a:prstGeom prst="line">
            <a:avLst/>
          </a:prstGeom>
          <a:noFill/>
          <a:ln w="25400">
            <a:solidFill>
              <a:srgbClr val="4F417A"/>
            </a:solidFill>
            <a:prstDash val="solid"/>
            <a:tailEnd type="triangle"/>
          </a:ln>
        </p:spPr>
      </p:sp>
      <p:sp>
        <p:nvSpPr>
          <p:cNvPr id="21" name="Shape 19"/>
          <p:cNvSpPr/>
          <p:nvPr/>
        </p:nvSpPr>
        <p:spPr>
          <a:xfrm>
            <a:off x="502920" y="4114800"/>
            <a:ext cx="8138160" cy="1143000"/>
          </a:xfrm>
          <a:prstGeom prst="roundRect">
            <a:avLst>
              <a:gd name="adj" fmla="val 4800"/>
            </a:avLst>
          </a:prstGeom>
          <a:solidFill>
            <a:srgbClr val="E9E8EC"/>
          </a:solidFill>
          <a:ln/>
          <a:effectLst>
            <a:outerShdw sx="100000" sy="100000" kx="0" ky="0" algn="bl" rotWithShape="0" blurRad="63500" dist="31750" dir="2700000">
              <a:srgbClr val="8C8C99">
                <a:alpha val="45000"/>
              </a:srgbClr>
            </a:outerShdw>
          </a:effectLst>
        </p:spPr>
      </p:sp>
      <p:sp>
        <p:nvSpPr>
          <p:cNvPr id="22" name="Text 20"/>
          <p:cNvSpPr/>
          <p:nvPr/>
        </p:nvSpPr>
        <p:spPr>
          <a:xfrm>
            <a:off x="704088" y="4114800"/>
            <a:ext cx="7735824" cy="1143000"/>
          </a:xfrm>
          <a:prstGeom prst="rect">
            <a:avLst/>
          </a:prstGeom>
          <a:noFill/>
          <a:ln/>
        </p:spPr>
        <p:txBody>
          <a:bodyPr wrap="square" lIns="0" tIns="0" rIns="0" bIns="0" rtlCol="0" anchor="ctr"/>
          <a:lstStyle/>
          <a:p>
            <a:pPr algn="l" indent="0" marL="0">
              <a:lnSpc>
                <a:spcPct val="145000"/>
              </a:lnSpc>
              <a:buNone/>
            </a:pPr>
            <a:r>
              <a:rPr lang="en-US" sz="1400" dirty="0">
                <a:solidFill>
                  <a:srgbClr val="1A1A1A"/>
                </a:solidFill>
                <a:latin typeface="Cambria" pitchFamily="34" charset="0"/>
                <a:ea typeface="Cambria" pitchFamily="34" charset="-122"/>
                <a:cs typeface="Cambria" pitchFamily="34" charset="-120"/>
              </a:rPr>
              <a:t>Khâu 1-4: chuẩn bị dữ liệu, tự động hoàn toàn, không dán nhãn tay</a:t>
            </a:r>
            <a:endParaRPr lang="en-US" sz="1400" dirty="0"/>
          </a:p>
          <a:p>
            <a:pPr algn="l" indent="0" marL="0">
              <a:lnSpc>
                <a:spcPct val="145000"/>
              </a:lnSpc>
              <a:buNone/>
            </a:pPr>
            <a:r>
              <a:rPr lang="en-US" sz="1400" dirty="0">
                <a:solidFill>
                  <a:srgbClr val="1A1A1A"/>
                </a:solidFill>
                <a:latin typeface="Cambria" pitchFamily="34" charset="0"/>
                <a:ea typeface="Cambria" pitchFamily="34" charset="-122"/>
                <a:cs typeface="Cambria" pitchFamily="34" charset="-120"/>
              </a:rPr>
              <a:t>Khâu 5: nơi Bản A và Bản B khác nhau đúng một chỗ</a:t>
            </a:r>
            <a:endParaRPr lang="en-US" sz="1400" dirty="0"/>
          </a:p>
        </p:txBody>
      </p:sp>
      <p:sp>
        <p:nvSpPr>
          <p:cNvPr id="24" name="Shape 21"/>
          <p:cNvSpPr/>
          <p:nvPr/>
        </p:nvSpPr>
        <p:spPr>
          <a:xfrm>
            <a:off x="0" y="6620256"/>
            <a:ext cx="2743200" cy="237744"/>
          </a:xfrm>
          <a:prstGeom prst="rect">
            <a:avLst/>
          </a:prstGeom>
          <a:solidFill>
            <a:srgbClr val="191132"/>
          </a:solidFill>
          <a:ln/>
        </p:spPr>
      </p:sp>
      <p:sp>
        <p:nvSpPr>
          <p:cNvPr id="25" name="Shape 22"/>
          <p:cNvSpPr/>
          <p:nvPr/>
        </p:nvSpPr>
        <p:spPr>
          <a:xfrm>
            <a:off x="2743200" y="6620256"/>
            <a:ext cx="3383280" cy="237744"/>
          </a:xfrm>
          <a:prstGeom prst="rect">
            <a:avLst/>
          </a:prstGeom>
          <a:solidFill>
            <a:srgbClr val="25194B"/>
          </a:solidFill>
          <a:ln/>
        </p:spPr>
      </p:sp>
      <p:sp>
        <p:nvSpPr>
          <p:cNvPr id="26" name="Shape 23"/>
          <p:cNvSpPr/>
          <p:nvPr/>
        </p:nvSpPr>
        <p:spPr>
          <a:xfrm>
            <a:off x="6126480" y="6620256"/>
            <a:ext cx="1737360" cy="237744"/>
          </a:xfrm>
          <a:prstGeom prst="rect">
            <a:avLst/>
          </a:prstGeom>
          <a:solidFill>
            <a:srgbClr val="4F417A"/>
          </a:solidFill>
          <a:ln/>
        </p:spPr>
      </p:sp>
      <p:sp>
        <p:nvSpPr>
          <p:cNvPr id="27" name="Shape 24"/>
          <p:cNvSpPr/>
          <p:nvPr/>
        </p:nvSpPr>
        <p:spPr>
          <a:xfrm>
            <a:off x="7863840" y="6620256"/>
            <a:ext cx="1280160" cy="237744"/>
          </a:xfrm>
          <a:prstGeom prst="rect">
            <a:avLst/>
          </a:prstGeom>
          <a:solidFill>
            <a:srgbClr val="7A7099"/>
          </a:solidFill>
          <a:ln/>
        </p:spPr>
      </p:sp>
      <p:sp>
        <p:nvSpPr>
          <p:cNvPr id="28" name="Text 25"/>
          <p:cNvSpPr/>
          <p:nvPr/>
        </p:nvSpPr>
        <p:spPr>
          <a:xfrm>
            <a:off x="0" y="6620256"/>
            <a:ext cx="2743200" cy="237744"/>
          </a:xfrm>
          <a:prstGeom prst="rect">
            <a:avLst/>
          </a:prstGeom>
          <a:noFill/>
          <a:ln/>
        </p:spPr>
        <p:txBody>
          <a:bodyPr wrap="square" lIns="0" tIns="0" rIns="0" bIns="0" rtlCol="0" anchor="ctr"/>
          <a:lstStyle/>
          <a:p>
            <a:pPr algn="ctr" indent="0" marL="0">
              <a:buNone/>
            </a:pPr>
            <a:r>
              <a:rPr lang="en-US" sz="800" dirty="0">
                <a:solidFill>
                  <a:srgbClr val="FFFFFF"/>
                </a:solidFill>
                <a:latin typeface="Consolas" pitchFamily="34" charset="0"/>
                <a:ea typeface="Consolas" pitchFamily="34" charset="-122"/>
                <a:cs typeface="Consolas" pitchFamily="34" charset="-120"/>
              </a:rPr>
              <a:t>luận văn thạc sĩ</a:t>
            </a:r>
            <a:endParaRPr lang="en-US" sz="800" dirty="0"/>
          </a:p>
        </p:txBody>
      </p:sp>
      <p:sp>
        <p:nvSpPr>
          <p:cNvPr id="29" name="Text 26"/>
          <p:cNvSpPr/>
          <p:nvPr/>
        </p:nvSpPr>
        <p:spPr>
          <a:xfrm>
            <a:off x="2743200" y="6620256"/>
            <a:ext cx="3383280" cy="237744"/>
          </a:xfrm>
          <a:prstGeom prst="rect">
            <a:avLst/>
          </a:prstGeom>
          <a:noFill/>
          <a:ln/>
        </p:spPr>
        <p:txBody>
          <a:bodyPr wrap="square" lIns="0" tIns="0" rIns="0" bIns="0" rtlCol="0" anchor="ctr"/>
          <a:lstStyle/>
          <a:p>
            <a:pPr algn="ctr" indent="0" marL="0">
              <a:buNone/>
            </a:pPr>
            <a:r>
              <a:rPr lang="en-US" sz="800" dirty="0">
                <a:solidFill>
                  <a:srgbClr val="FFFFFF"/>
                </a:solidFill>
                <a:latin typeface="Cambria" pitchFamily="34" charset="0"/>
                <a:ea typeface="Cambria" pitchFamily="34" charset="-122"/>
                <a:cs typeface="Cambria" pitchFamily="34" charset="-120"/>
              </a:rPr>
              <a:t>Sinh hướng dẫn sử dụng phần mềm</a:t>
            </a:r>
            <a:endParaRPr lang="en-US" sz="800" dirty="0"/>
          </a:p>
        </p:txBody>
      </p:sp>
      <p:sp>
        <p:nvSpPr>
          <p:cNvPr id="30" name="Text 27"/>
          <p:cNvSpPr/>
          <p:nvPr/>
        </p:nvSpPr>
        <p:spPr>
          <a:xfrm>
            <a:off x="6126480" y="6620256"/>
            <a:ext cx="1737360" cy="237744"/>
          </a:xfrm>
          <a:prstGeom prst="rect">
            <a:avLst/>
          </a:prstGeom>
          <a:noFill/>
          <a:ln/>
        </p:spPr>
        <p:txBody>
          <a:bodyPr wrap="square" lIns="0" tIns="0" rIns="0" bIns="0" rtlCol="0" anchor="ctr"/>
          <a:lstStyle/>
          <a:p>
            <a:pPr algn="ctr" indent="0" marL="0">
              <a:buNone/>
            </a:pPr>
            <a:r>
              <a:rPr lang="en-US" sz="800" dirty="0">
                <a:solidFill>
                  <a:srgbClr val="FFFFFF"/>
                </a:solidFill>
                <a:latin typeface="Cambria" pitchFamily="34" charset="0"/>
                <a:ea typeface="Cambria" pitchFamily="34" charset="-122"/>
                <a:cs typeface="Cambria" pitchFamily="34" charset="-120"/>
              </a:rPr>
              <a:t>Lê Đoàn Phương Uyên</a:t>
            </a:r>
            <a:endParaRPr lang="en-US" sz="800" dirty="0"/>
          </a:p>
        </p:txBody>
      </p:sp>
      <p:sp>
        <p:nvSpPr>
          <p:cNvPr id="31" name="Text 28"/>
          <p:cNvSpPr/>
          <p:nvPr/>
        </p:nvSpPr>
        <p:spPr>
          <a:xfrm>
            <a:off x="7863840" y="6620256"/>
            <a:ext cx="1280160" cy="237744"/>
          </a:xfrm>
          <a:prstGeom prst="rect">
            <a:avLst/>
          </a:prstGeom>
          <a:noFill/>
          <a:ln/>
        </p:spPr>
        <p:txBody>
          <a:bodyPr wrap="square" lIns="0" tIns="0" rIns="0" bIns="0" rtlCol="0" anchor="ctr"/>
          <a:lstStyle/>
          <a:p>
            <a:pPr algn="ctr" indent="0" marL="0">
              <a:buNone/>
            </a:pPr>
            <a:r>
              <a:rPr lang="en-US" sz="800" dirty="0">
                <a:solidFill>
                  <a:srgbClr val="FFFFFF"/>
                </a:solidFill>
                <a:latin typeface="Cambria" pitchFamily="34" charset="0"/>
                <a:ea typeface="Cambria" pitchFamily="34" charset="-122"/>
                <a:cs typeface="Cambria" pitchFamily="34" charset="-120"/>
              </a:rPr>
              <a:t>9/26</a:t>
            </a:r>
            <a:endParaRPr lang="en-US" sz="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48640"/>
          </a:xfrm>
          <a:prstGeom prst="rect">
            <a:avLst/>
          </a:prstGeom>
          <a:solidFill>
            <a:srgbClr val="322164"/>
          </a:solidFill>
          <a:ln/>
        </p:spPr>
      </p:sp>
      <p:sp>
        <p:nvSpPr>
          <p:cNvPr id="3" name="Text 1"/>
          <p:cNvSpPr/>
          <p:nvPr/>
        </p:nvSpPr>
        <p:spPr>
          <a:xfrm>
            <a:off x="201168" y="0"/>
            <a:ext cx="8741664" cy="548640"/>
          </a:xfrm>
          <a:prstGeom prst="rect">
            <a:avLst/>
          </a:prstGeom>
          <a:noFill/>
          <a:ln/>
        </p:spPr>
        <p:txBody>
          <a:bodyPr wrap="square" lIns="0" tIns="0" rIns="0" bIns="0" rtlCol="0" anchor="ctr"/>
          <a:lstStyle/>
          <a:p>
            <a:pPr algn="l" indent="0" marL="0">
              <a:buNone/>
            </a:pPr>
            <a:r>
              <a:rPr lang="en-US" sz="1900" b="1" dirty="0">
                <a:solidFill>
                  <a:srgbClr val="FFFFFF"/>
                </a:solidFill>
                <a:latin typeface="Cambria" pitchFamily="34" charset="0"/>
                <a:ea typeface="Cambria" pitchFamily="34" charset="-122"/>
                <a:cs typeface="Cambria" pitchFamily="34" charset="-120"/>
              </a:rPr>
              <a:t>3.2.  Khâu 1 và 2:  đọc chữ, rồi viết lại câu</a:t>
            </a:r>
            <a:endParaRPr lang="en-US" sz="1900" dirty="0"/>
          </a:p>
        </p:txBody>
      </p:sp>
      <p:sp>
        <p:nvSpPr>
          <p:cNvPr id="4" name="Shape 2"/>
          <p:cNvSpPr/>
          <p:nvPr/>
        </p:nvSpPr>
        <p:spPr>
          <a:xfrm>
            <a:off x="502920" y="1005840"/>
            <a:ext cx="8138160" cy="1417320"/>
          </a:xfrm>
          <a:prstGeom prst="roundRect">
            <a:avLst>
              <a:gd name="adj" fmla="val 3871"/>
            </a:avLst>
          </a:prstGeom>
          <a:solidFill>
            <a:srgbClr val="E9E8EC"/>
          </a:solidFill>
          <a:ln/>
          <a:effectLst>
            <a:outerShdw sx="100000" sy="100000" kx="0" ky="0" algn="bl" rotWithShape="0" blurRad="63500" dist="31750" dir="2700000">
              <a:srgbClr val="8C8C99">
                <a:alpha val="45000"/>
              </a:srgbClr>
            </a:outerShdw>
          </a:effectLst>
        </p:spPr>
      </p:sp>
      <p:sp>
        <p:nvSpPr>
          <p:cNvPr id="5" name="Text 3"/>
          <p:cNvSpPr/>
          <p:nvPr/>
        </p:nvSpPr>
        <p:spPr>
          <a:xfrm>
            <a:off x="704088" y="1005840"/>
            <a:ext cx="7735824" cy="1417320"/>
          </a:xfrm>
          <a:prstGeom prst="rect">
            <a:avLst/>
          </a:prstGeom>
          <a:noFill/>
          <a:ln/>
        </p:spPr>
        <p:txBody>
          <a:bodyPr wrap="square" lIns="0" tIns="0" rIns="0" bIns="0" rtlCol="0" anchor="ctr"/>
          <a:lstStyle/>
          <a:p>
            <a:pPr algn="l" indent="0" marL="0">
              <a:lnSpc>
                <a:spcPct val="140000"/>
              </a:lnSpc>
              <a:buNone/>
            </a:pPr>
            <a:r>
              <a:rPr lang="en-US" sz="1400" b="1" dirty="0">
                <a:solidFill>
                  <a:srgbClr val="006666"/>
                </a:solidFill>
                <a:latin typeface="Cambria" pitchFamily="34" charset="0"/>
                <a:ea typeface="Cambria" pitchFamily="34" charset="-122"/>
                <a:cs typeface="Cambria" pitchFamily="34" charset="-120"/>
              </a:rPr>
              <a:t>Khâu 1 - đọc chữ (OCR).  </a:t>
            </a:r>
            <a:pPr algn="l" indent="0" marL="0">
              <a:lnSpc>
                <a:spcPct val="140000"/>
              </a:lnSpc>
              <a:buNone/>
            </a:pPr>
            <a:r>
              <a:rPr lang="en-US" sz="1400" dirty="0">
                <a:solidFill>
                  <a:srgbClr val="1A1A1A"/>
                </a:solidFill>
                <a:latin typeface="Cambria" pitchFamily="34" charset="0"/>
                <a:ea typeface="Cambria" pitchFamily="34" charset="-122"/>
                <a:cs typeface="Cambria" pitchFamily="34" charset="-120"/>
              </a:rPr>
              <a:t>Chạy ngay trên điện thoại. Nút hình - dấu cộng, mũi tên - thì OCR chịu.</a:t>
            </a:r>
            <a:endParaRPr lang="en-US" sz="1400" dirty="0"/>
          </a:p>
        </p:txBody>
      </p:sp>
      <p:sp>
        <p:nvSpPr>
          <p:cNvPr id="6" name="Shape 4"/>
          <p:cNvSpPr/>
          <p:nvPr/>
        </p:nvSpPr>
        <p:spPr>
          <a:xfrm>
            <a:off x="502920" y="2743200"/>
            <a:ext cx="8138160" cy="1783080"/>
          </a:xfrm>
          <a:prstGeom prst="roundRect">
            <a:avLst>
              <a:gd name="adj" fmla="val 3077"/>
            </a:avLst>
          </a:prstGeom>
          <a:solidFill>
            <a:srgbClr val="E9E8EC"/>
          </a:solidFill>
          <a:ln/>
          <a:effectLst>
            <a:outerShdw sx="100000" sy="100000" kx="0" ky="0" algn="bl" rotWithShape="0" blurRad="63500" dist="31750" dir="2700000">
              <a:srgbClr val="8C8C99">
                <a:alpha val="45000"/>
              </a:srgbClr>
            </a:outerShdw>
          </a:effectLst>
        </p:spPr>
      </p:sp>
      <p:sp>
        <p:nvSpPr>
          <p:cNvPr id="7" name="Text 5"/>
          <p:cNvSpPr/>
          <p:nvPr/>
        </p:nvSpPr>
        <p:spPr>
          <a:xfrm>
            <a:off x="704088" y="2871216"/>
            <a:ext cx="7735824" cy="685800"/>
          </a:xfrm>
          <a:prstGeom prst="rect">
            <a:avLst/>
          </a:prstGeom>
          <a:noFill/>
          <a:ln/>
        </p:spPr>
        <p:txBody>
          <a:bodyPr wrap="square" lIns="0" tIns="0" rIns="0" bIns="0" rtlCol="0" anchor="t"/>
          <a:lstStyle/>
          <a:p>
            <a:pPr algn="l" indent="0" marL="0">
              <a:lnSpc>
                <a:spcPct val="135000"/>
              </a:lnSpc>
              <a:buNone/>
            </a:pPr>
            <a:r>
              <a:rPr lang="en-US" sz="1400" b="1" dirty="0">
                <a:solidFill>
                  <a:srgbClr val="006666"/>
                </a:solidFill>
                <a:latin typeface="Cambria" pitchFamily="34" charset="0"/>
                <a:ea typeface="Cambria" pitchFamily="34" charset="-122"/>
                <a:cs typeface="Cambria" pitchFamily="34" charset="-120"/>
              </a:rPr>
              <a:t>Khâu 2 - viết lại câu.  </a:t>
            </a:r>
            <a:pPr algn="l" indent="0" marL="0">
              <a:lnSpc>
                <a:spcPct val="135000"/>
              </a:lnSpc>
              <a:buNone/>
            </a:pPr>
            <a:r>
              <a:rPr lang="en-US" sz="1400" dirty="0">
                <a:solidFill>
                  <a:srgbClr val="1A1A1A"/>
                </a:solidFill>
                <a:latin typeface="Cambria" pitchFamily="34" charset="0"/>
                <a:ea typeface="Cambria" pitchFamily="34" charset="-122"/>
                <a:cs typeface="Cambria" pitchFamily="34" charset="-120"/>
              </a:rPr>
              <a:t>Mô hình lớn xem ảnh đã khoanh dấu, viết câu cụt thành câu đầy đủ:</a:t>
            </a:r>
            <a:endParaRPr lang="en-US" sz="1400" dirty="0"/>
          </a:p>
        </p:txBody>
      </p:sp>
      <p:sp>
        <p:nvSpPr>
          <p:cNvPr id="8" name="Text 6"/>
          <p:cNvSpPr/>
          <p:nvPr/>
        </p:nvSpPr>
        <p:spPr>
          <a:xfrm>
            <a:off x="502920" y="3611880"/>
            <a:ext cx="8138160" cy="777240"/>
          </a:xfrm>
          <a:prstGeom prst="rect">
            <a:avLst/>
          </a:prstGeom>
          <a:noFill/>
          <a:ln/>
        </p:spPr>
        <p:txBody>
          <a:bodyPr wrap="square" lIns="0" tIns="0" rIns="0" bIns="0" rtlCol="0" anchor="t"/>
          <a:lstStyle/>
          <a:p>
            <a:pPr algn="ctr" indent="0" marL="0">
              <a:lnSpc>
                <a:spcPct val="140000"/>
              </a:lnSpc>
              <a:buNone/>
            </a:pPr>
            <a:r>
              <a:rPr lang="en-US" sz="1400" i="1" dirty="0">
                <a:solidFill>
                  <a:srgbClr val="1A1A1A"/>
                </a:solidFill>
                <a:latin typeface="Cambria" pitchFamily="34" charset="0"/>
                <a:ea typeface="Cambria" pitchFamily="34" charset="-122"/>
                <a:cs typeface="Cambria" pitchFamily="34" charset="-120"/>
              </a:rPr>
              <a:t>“Click on the search bar”</a:t>
            </a:r>
            <a:endParaRPr lang="en-US" sz="1400" dirty="0"/>
          </a:p>
          <a:p>
            <a:pPr algn="ctr" indent="0" marL="0">
              <a:lnSpc>
                <a:spcPct val="140000"/>
              </a:lnSpc>
              <a:buNone/>
            </a:pPr>
            <a:r>
              <a:rPr lang="en-US" sz="1400" i="1" dirty="0">
                <a:solidFill>
                  <a:srgbClr val="1A1A1A"/>
                </a:solidFill>
                <a:latin typeface="Cambria" pitchFamily="34" charset="0"/>
                <a:ea typeface="Cambria" pitchFamily="34" charset="-122"/>
                <a:cs typeface="Cambria" pitchFamily="34" charset="-120"/>
              </a:rPr>
              <a:t>→  “Tap the ‘Search Publications’ bar at the top”</a:t>
            </a:r>
            <a:endParaRPr lang="en-US" sz="1400" dirty="0"/>
          </a:p>
        </p:txBody>
      </p:sp>
      <p:sp>
        <p:nvSpPr>
          <p:cNvPr id="9" name="Text 7"/>
          <p:cNvSpPr/>
          <p:nvPr/>
        </p:nvSpPr>
        <p:spPr>
          <a:xfrm>
            <a:off x="502920" y="4800600"/>
            <a:ext cx="8138160" cy="411480"/>
          </a:xfrm>
          <a:prstGeom prst="rect">
            <a:avLst/>
          </a:prstGeom>
          <a:noFill/>
          <a:ln/>
        </p:spPr>
        <p:txBody>
          <a:bodyPr wrap="square" lIns="0" tIns="0" rIns="0" bIns="0" rtlCol="0" anchor="t"/>
          <a:lstStyle/>
          <a:p>
            <a:pPr algn="l" indent="0" marL="0">
              <a:buNone/>
            </a:pPr>
            <a:r>
              <a:rPr lang="en-US" sz="1250" i="1" dirty="0">
                <a:solidFill>
                  <a:srgbClr val="1A1A1A"/>
                </a:solidFill>
                <a:latin typeface="Cambria" pitchFamily="34" charset="0"/>
                <a:ea typeface="Cambria" pitchFamily="34" charset="-122"/>
                <a:cs typeface="Cambria" pitchFamily="34" charset="-120"/>
              </a:rPr>
              <a:t>Tiền xử lý - không thuộc phần đóng góp</a:t>
            </a:r>
            <a:endParaRPr lang="en-US" sz="1250" dirty="0"/>
          </a:p>
        </p:txBody>
      </p:sp>
      <p:sp>
        <p:nvSpPr>
          <p:cNvPr id="11" name="Shape 8"/>
          <p:cNvSpPr/>
          <p:nvPr/>
        </p:nvSpPr>
        <p:spPr>
          <a:xfrm>
            <a:off x="0" y="6620256"/>
            <a:ext cx="2743200" cy="237744"/>
          </a:xfrm>
          <a:prstGeom prst="rect">
            <a:avLst/>
          </a:prstGeom>
          <a:solidFill>
            <a:srgbClr val="191132"/>
          </a:solidFill>
          <a:ln/>
        </p:spPr>
      </p:sp>
      <p:sp>
        <p:nvSpPr>
          <p:cNvPr id="12" name="Shape 9"/>
          <p:cNvSpPr/>
          <p:nvPr/>
        </p:nvSpPr>
        <p:spPr>
          <a:xfrm>
            <a:off x="2743200" y="6620256"/>
            <a:ext cx="3383280" cy="237744"/>
          </a:xfrm>
          <a:prstGeom prst="rect">
            <a:avLst/>
          </a:prstGeom>
          <a:solidFill>
            <a:srgbClr val="25194B"/>
          </a:solidFill>
          <a:ln/>
        </p:spPr>
      </p:sp>
      <p:sp>
        <p:nvSpPr>
          <p:cNvPr id="13" name="Shape 10"/>
          <p:cNvSpPr/>
          <p:nvPr/>
        </p:nvSpPr>
        <p:spPr>
          <a:xfrm>
            <a:off x="6126480" y="6620256"/>
            <a:ext cx="1737360" cy="237744"/>
          </a:xfrm>
          <a:prstGeom prst="rect">
            <a:avLst/>
          </a:prstGeom>
          <a:solidFill>
            <a:srgbClr val="4F417A"/>
          </a:solidFill>
          <a:ln/>
        </p:spPr>
      </p:sp>
      <p:sp>
        <p:nvSpPr>
          <p:cNvPr id="14" name="Shape 11"/>
          <p:cNvSpPr/>
          <p:nvPr/>
        </p:nvSpPr>
        <p:spPr>
          <a:xfrm>
            <a:off x="7863840" y="6620256"/>
            <a:ext cx="1280160" cy="237744"/>
          </a:xfrm>
          <a:prstGeom prst="rect">
            <a:avLst/>
          </a:prstGeom>
          <a:solidFill>
            <a:srgbClr val="7A7099"/>
          </a:solidFill>
          <a:ln/>
        </p:spPr>
      </p:sp>
      <p:sp>
        <p:nvSpPr>
          <p:cNvPr id="15" name="Text 12"/>
          <p:cNvSpPr/>
          <p:nvPr/>
        </p:nvSpPr>
        <p:spPr>
          <a:xfrm>
            <a:off x="0" y="6620256"/>
            <a:ext cx="2743200" cy="237744"/>
          </a:xfrm>
          <a:prstGeom prst="rect">
            <a:avLst/>
          </a:prstGeom>
          <a:noFill/>
          <a:ln/>
        </p:spPr>
        <p:txBody>
          <a:bodyPr wrap="square" lIns="0" tIns="0" rIns="0" bIns="0" rtlCol="0" anchor="ctr"/>
          <a:lstStyle/>
          <a:p>
            <a:pPr algn="ctr" indent="0" marL="0">
              <a:buNone/>
            </a:pPr>
            <a:r>
              <a:rPr lang="en-US" sz="800" dirty="0">
                <a:solidFill>
                  <a:srgbClr val="FFFFFF"/>
                </a:solidFill>
                <a:latin typeface="Consolas" pitchFamily="34" charset="0"/>
                <a:ea typeface="Consolas" pitchFamily="34" charset="-122"/>
                <a:cs typeface="Consolas" pitchFamily="34" charset="-120"/>
              </a:rPr>
              <a:t>luận văn thạc sĩ</a:t>
            </a:r>
            <a:endParaRPr lang="en-US" sz="800" dirty="0"/>
          </a:p>
        </p:txBody>
      </p:sp>
      <p:sp>
        <p:nvSpPr>
          <p:cNvPr id="16" name="Text 13"/>
          <p:cNvSpPr/>
          <p:nvPr/>
        </p:nvSpPr>
        <p:spPr>
          <a:xfrm>
            <a:off x="2743200" y="6620256"/>
            <a:ext cx="3383280" cy="237744"/>
          </a:xfrm>
          <a:prstGeom prst="rect">
            <a:avLst/>
          </a:prstGeom>
          <a:noFill/>
          <a:ln/>
        </p:spPr>
        <p:txBody>
          <a:bodyPr wrap="square" lIns="0" tIns="0" rIns="0" bIns="0" rtlCol="0" anchor="ctr"/>
          <a:lstStyle/>
          <a:p>
            <a:pPr algn="ctr" indent="0" marL="0">
              <a:buNone/>
            </a:pPr>
            <a:r>
              <a:rPr lang="en-US" sz="800" dirty="0">
                <a:solidFill>
                  <a:srgbClr val="FFFFFF"/>
                </a:solidFill>
                <a:latin typeface="Cambria" pitchFamily="34" charset="0"/>
                <a:ea typeface="Cambria" pitchFamily="34" charset="-122"/>
                <a:cs typeface="Cambria" pitchFamily="34" charset="-120"/>
              </a:rPr>
              <a:t>Sinh hướng dẫn sử dụng phần mềm</a:t>
            </a:r>
            <a:endParaRPr lang="en-US" sz="800" dirty="0"/>
          </a:p>
        </p:txBody>
      </p:sp>
      <p:sp>
        <p:nvSpPr>
          <p:cNvPr id="17" name="Text 14"/>
          <p:cNvSpPr/>
          <p:nvPr/>
        </p:nvSpPr>
        <p:spPr>
          <a:xfrm>
            <a:off x="6126480" y="6620256"/>
            <a:ext cx="1737360" cy="237744"/>
          </a:xfrm>
          <a:prstGeom prst="rect">
            <a:avLst/>
          </a:prstGeom>
          <a:noFill/>
          <a:ln/>
        </p:spPr>
        <p:txBody>
          <a:bodyPr wrap="square" lIns="0" tIns="0" rIns="0" bIns="0" rtlCol="0" anchor="ctr"/>
          <a:lstStyle/>
          <a:p>
            <a:pPr algn="ctr" indent="0" marL="0">
              <a:buNone/>
            </a:pPr>
            <a:r>
              <a:rPr lang="en-US" sz="800" dirty="0">
                <a:solidFill>
                  <a:srgbClr val="FFFFFF"/>
                </a:solidFill>
                <a:latin typeface="Cambria" pitchFamily="34" charset="0"/>
                <a:ea typeface="Cambria" pitchFamily="34" charset="-122"/>
                <a:cs typeface="Cambria" pitchFamily="34" charset="-120"/>
              </a:rPr>
              <a:t>Lê Đoàn Phương Uyên</a:t>
            </a:r>
            <a:endParaRPr lang="en-US" sz="800" dirty="0"/>
          </a:p>
        </p:txBody>
      </p:sp>
      <p:sp>
        <p:nvSpPr>
          <p:cNvPr id="18" name="Text 15"/>
          <p:cNvSpPr/>
          <p:nvPr/>
        </p:nvSpPr>
        <p:spPr>
          <a:xfrm>
            <a:off x="7863840" y="6620256"/>
            <a:ext cx="1280160" cy="237744"/>
          </a:xfrm>
          <a:prstGeom prst="rect">
            <a:avLst/>
          </a:prstGeom>
          <a:noFill/>
          <a:ln/>
        </p:spPr>
        <p:txBody>
          <a:bodyPr wrap="square" lIns="0" tIns="0" rIns="0" bIns="0" rtlCol="0" anchor="ctr"/>
          <a:lstStyle/>
          <a:p>
            <a:pPr algn="ctr" indent="0" marL="0">
              <a:buNone/>
            </a:pPr>
            <a:r>
              <a:rPr lang="en-US" sz="800" dirty="0">
                <a:solidFill>
                  <a:srgbClr val="FFFFFF"/>
                </a:solidFill>
                <a:latin typeface="Cambria" pitchFamily="34" charset="0"/>
                <a:ea typeface="Cambria" pitchFamily="34" charset="-122"/>
                <a:cs typeface="Cambria" pitchFamily="34" charset="-120"/>
              </a:rPr>
              <a:t>10/26</a:t>
            </a:r>
            <a:endParaRPr lang="en-US" sz="8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48640"/>
          </a:xfrm>
          <a:prstGeom prst="rect">
            <a:avLst/>
          </a:prstGeom>
          <a:solidFill>
            <a:srgbClr val="322164"/>
          </a:solidFill>
          <a:ln/>
        </p:spPr>
      </p:sp>
      <p:sp>
        <p:nvSpPr>
          <p:cNvPr id="3" name="Text 1"/>
          <p:cNvSpPr/>
          <p:nvPr/>
        </p:nvSpPr>
        <p:spPr>
          <a:xfrm>
            <a:off x="201168" y="0"/>
            <a:ext cx="8741664" cy="548640"/>
          </a:xfrm>
          <a:prstGeom prst="rect">
            <a:avLst/>
          </a:prstGeom>
          <a:noFill/>
          <a:ln/>
        </p:spPr>
        <p:txBody>
          <a:bodyPr wrap="square" lIns="0" tIns="0" rIns="0" bIns="0" rtlCol="0" anchor="ctr"/>
          <a:lstStyle/>
          <a:p>
            <a:pPr algn="l" indent="0" marL="0">
              <a:buNone/>
            </a:pPr>
            <a:r>
              <a:rPr lang="en-US" sz="1900" b="1" dirty="0">
                <a:solidFill>
                  <a:srgbClr val="FFFFFF"/>
                </a:solidFill>
                <a:latin typeface="Cambria" pitchFamily="34" charset="0"/>
                <a:ea typeface="Cambria" pitchFamily="34" charset="-122"/>
                <a:cs typeface="Cambria" pitchFamily="34" charset="-120"/>
              </a:rPr>
              <a:t>3.3.  Khâu 3:  dòng khai báo - trọng tâm của đóng góp</a:t>
            </a:r>
            <a:endParaRPr lang="en-US" sz="1900" dirty="0"/>
          </a:p>
        </p:txBody>
      </p:sp>
      <p:sp>
        <p:nvSpPr>
          <p:cNvPr id="4" name="Shape 2"/>
          <p:cNvSpPr/>
          <p:nvPr/>
        </p:nvSpPr>
        <p:spPr>
          <a:xfrm>
            <a:off x="502920" y="960120"/>
            <a:ext cx="8138160" cy="731520"/>
          </a:xfrm>
          <a:prstGeom prst="roundRect">
            <a:avLst>
              <a:gd name="adj" fmla="val 7500"/>
            </a:avLst>
          </a:prstGeom>
          <a:solidFill>
            <a:srgbClr val="E9E8EC"/>
          </a:solidFill>
          <a:ln/>
          <a:effectLst>
            <a:outerShdw sx="100000" sy="100000" kx="0" ky="0" algn="bl" rotWithShape="0" blurRad="63500" dist="31750" dir="2700000">
              <a:srgbClr val="8C8C99">
                <a:alpha val="45000"/>
              </a:srgbClr>
            </a:outerShdw>
          </a:effectLst>
        </p:spPr>
      </p:sp>
      <p:sp>
        <p:nvSpPr>
          <p:cNvPr id="5" name="Text 3"/>
          <p:cNvSpPr/>
          <p:nvPr/>
        </p:nvSpPr>
        <p:spPr>
          <a:xfrm>
            <a:off x="704088" y="960120"/>
            <a:ext cx="7735824" cy="731520"/>
          </a:xfrm>
          <a:prstGeom prst="rect">
            <a:avLst/>
          </a:prstGeom>
          <a:noFill/>
          <a:ln/>
        </p:spPr>
        <p:txBody>
          <a:bodyPr wrap="square" lIns="0" tIns="0" rIns="0" bIns="0" rtlCol="0" anchor="ctr"/>
          <a:lstStyle/>
          <a:p>
            <a:pPr algn="l" indent="0" marL="0">
              <a:buNone/>
            </a:pPr>
            <a:r>
              <a:rPr lang="en-US" sz="1400" dirty="0">
                <a:solidFill>
                  <a:srgbClr val="1A1A1A"/>
                </a:solidFill>
                <a:latin typeface="Cambria" pitchFamily="34" charset="0"/>
                <a:ea typeface="Cambria" pitchFamily="34" charset="-122"/>
                <a:cs typeface="Cambria" pitchFamily="34" charset="-120"/>
              </a:rPr>
              <a:t>Mô hình phải viết một dòng khai báo bốn ô, rồi mới tới câu:</a:t>
            </a:r>
            <a:endParaRPr lang="en-US" sz="1400" dirty="0"/>
          </a:p>
        </p:txBody>
      </p:sp>
      <p:sp>
        <p:nvSpPr>
          <p:cNvPr id="6" name="Text 4"/>
          <p:cNvSpPr/>
          <p:nvPr/>
        </p:nvSpPr>
        <p:spPr>
          <a:xfrm>
            <a:off x="502920" y="1856232"/>
            <a:ext cx="8138160" cy="411480"/>
          </a:xfrm>
          <a:prstGeom prst="rect">
            <a:avLst/>
          </a:prstGeom>
          <a:noFill/>
          <a:ln/>
        </p:spPr>
        <p:txBody>
          <a:bodyPr wrap="square" lIns="0" tIns="0" rIns="0" bIns="0" rtlCol="0" anchor="t"/>
          <a:lstStyle/>
          <a:p>
            <a:pPr algn="ctr" indent="0" marL="0">
              <a:buNone/>
            </a:pPr>
            <a:r>
              <a:rPr lang="en-US" sz="1600" b="1" dirty="0">
                <a:solidFill>
                  <a:srgbClr val="B22222"/>
                </a:solidFill>
                <a:latin typeface="Cambria" pitchFamily="34" charset="0"/>
                <a:ea typeface="Cambria" pitchFamily="34" charset="-122"/>
                <a:cs typeface="Cambria" pitchFamily="34" charset="-120"/>
              </a:rPr>
              <a:t>[  vai trò  |  tên  |  toạ độ  |  dấu hiệu phân biệt  ]</a:t>
            </a:r>
            <a:endParaRPr lang="en-US" sz="1600" dirty="0"/>
          </a:p>
        </p:txBody>
      </p:sp>
      <p:sp>
        <p:nvSpPr>
          <p:cNvPr id="7" name="Shape 5"/>
          <p:cNvSpPr/>
          <p:nvPr/>
        </p:nvSpPr>
        <p:spPr>
          <a:xfrm>
            <a:off x="502920" y="2450592"/>
            <a:ext cx="8138160" cy="1828800"/>
          </a:xfrm>
          <a:prstGeom prst="roundRect">
            <a:avLst>
              <a:gd name="adj" fmla="val 3000"/>
            </a:avLst>
          </a:prstGeom>
          <a:solidFill>
            <a:srgbClr val="E9E8EC"/>
          </a:solidFill>
          <a:ln/>
          <a:effectLst>
            <a:outerShdw sx="100000" sy="100000" kx="0" ky="0" algn="bl" rotWithShape="0" blurRad="63500" dist="31750" dir="2700000">
              <a:srgbClr val="8C8C99">
                <a:alpha val="45000"/>
              </a:srgbClr>
            </a:outerShdw>
          </a:effectLst>
        </p:spPr>
      </p:sp>
      <p:sp>
        <p:nvSpPr>
          <p:cNvPr id="8" name="Text 6"/>
          <p:cNvSpPr/>
          <p:nvPr/>
        </p:nvSpPr>
        <p:spPr>
          <a:xfrm>
            <a:off x="704088" y="2615184"/>
            <a:ext cx="1463040" cy="365760"/>
          </a:xfrm>
          <a:prstGeom prst="rect">
            <a:avLst/>
          </a:prstGeom>
          <a:noFill/>
          <a:ln/>
        </p:spPr>
        <p:txBody>
          <a:bodyPr wrap="square" lIns="0" tIns="0" rIns="0" bIns="0" rtlCol="0" anchor="t"/>
          <a:lstStyle/>
          <a:p>
            <a:pPr algn="l" indent="0" marL="0">
              <a:buNone/>
            </a:pPr>
            <a:r>
              <a:rPr lang="en-US" sz="1300" b="1" dirty="0">
                <a:solidFill>
                  <a:srgbClr val="006666"/>
                </a:solidFill>
                <a:latin typeface="Cambria" pitchFamily="34" charset="0"/>
                <a:ea typeface="Cambria" pitchFamily="34" charset="-122"/>
                <a:cs typeface="Cambria" pitchFamily="34" charset="-120"/>
              </a:rPr>
              <a:t>Dạy thường</a:t>
            </a:r>
            <a:endParaRPr lang="en-US" sz="1300" dirty="0"/>
          </a:p>
        </p:txBody>
      </p:sp>
      <p:sp>
        <p:nvSpPr>
          <p:cNvPr id="9" name="Text 7"/>
          <p:cNvSpPr/>
          <p:nvPr/>
        </p:nvSpPr>
        <p:spPr>
          <a:xfrm>
            <a:off x="2286000" y="2615184"/>
            <a:ext cx="6126480" cy="365760"/>
          </a:xfrm>
          <a:prstGeom prst="rect">
            <a:avLst/>
          </a:prstGeom>
          <a:noFill/>
          <a:ln/>
        </p:spPr>
        <p:txBody>
          <a:bodyPr wrap="square" lIns="0" tIns="0" rIns="0" bIns="0" rtlCol="0" anchor="t"/>
          <a:lstStyle/>
          <a:p>
            <a:pPr algn="l" indent="0" marL="0">
              <a:buNone/>
            </a:pPr>
            <a:r>
              <a:rPr lang="en-US" sz="1150" dirty="0">
                <a:solidFill>
                  <a:srgbClr val="1A1A1A"/>
                </a:solidFill>
                <a:latin typeface="Consolas" pitchFamily="34" charset="0"/>
                <a:ea typeface="Consolas" pitchFamily="34" charset="-122"/>
                <a:cs typeface="Consolas" pitchFamily="34" charset="-120"/>
              </a:rPr>
              <a:t>Tap the Search Publications bar at the top</a:t>
            </a:r>
            <a:endParaRPr lang="en-US" sz="1150" dirty="0"/>
          </a:p>
        </p:txBody>
      </p:sp>
      <p:sp>
        <p:nvSpPr>
          <p:cNvPr id="10" name="Text 8"/>
          <p:cNvSpPr/>
          <p:nvPr/>
        </p:nvSpPr>
        <p:spPr>
          <a:xfrm>
            <a:off x="704088" y="3127248"/>
            <a:ext cx="1463040" cy="365760"/>
          </a:xfrm>
          <a:prstGeom prst="rect">
            <a:avLst/>
          </a:prstGeom>
          <a:noFill/>
          <a:ln/>
        </p:spPr>
        <p:txBody>
          <a:bodyPr wrap="square" lIns="0" tIns="0" rIns="0" bIns="0" rtlCol="0" anchor="t"/>
          <a:lstStyle/>
          <a:p>
            <a:pPr algn="l" indent="0" marL="0">
              <a:buNone/>
            </a:pPr>
            <a:r>
              <a:rPr lang="en-US" sz="1300" b="1" dirty="0">
                <a:solidFill>
                  <a:srgbClr val="B22222"/>
                </a:solidFill>
                <a:latin typeface="Cambria" pitchFamily="34" charset="0"/>
                <a:ea typeface="Cambria" pitchFamily="34" charset="-122"/>
                <a:cs typeface="Cambria" pitchFamily="34" charset="-120"/>
              </a:rPr>
              <a:t>Dạy kiểu mới</a:t>
            </a:r>
            <a:endParaRPr lang="en-US" sz="1300" dirty="0"/>
          </a:p>
        </p:txBody>
      </p:sp>
      <p:sp>
        <p:nvSpPr>
          <p:cNvPr id="11" name="Text 9"/>
          <p:cNvSpPr/>
          <p:nvPr/>
        </p:nvSpPr>
        <p:spPr>
          <a:xfrm>
            <a:off x="2286000" y="3072384"/>
            <a:ext cx="6126480" cy="1097280"/>
          </a:xfrm>
          <a:prstGeom prst="rect">
            <a:avLst/>
          </a:prstGeom>
          <a:noFill/>
          <a:ln/>
        </p:spPr>
        <p:txBody>
          <a:bodyPr wrap="square" lIns="0" tIns="0" rIns="0" bIns="0" rtlCol="0" anchor="t"/>
          <a:lstStyle/>
          <a:p>
            <a:pPr algn="l" indent="0" marL="0">
              <a:lnSpc>
                <a:spcPct val="140000"/>
              </a:lnSpc>
              <a:buNone/>
            </a:pPr>
            <a:r>
              <a:rPr lang="en-US" sz="1150" dirty="0">
                <a:solidFill>
                  <a:srgbClr val="1A1A1A"/>
                </a:solidFill>
                <a:latin typeface="Consolas" pitchFamily="34" charset="0"/>
                <a:ea typeface="Consolas" pitchFamily="34" charset="-122"/>
                <a:cs typeface="Consolas" pitchFamily="34" charset="-120"/>
              </a:rPr>
              <a:t>&lt;desc&gt;ô nhập liệu | "Search Publications..." | &lt;point&gt;500,80&lt;/point&gt;</a:t>
            </a:r>
            <a:endParaRPr lang="en-US" sz="1150" dirty="0"/>
          </a:p>
          <a:p>
            <a:pPr algn="l" indent="0" marL="0">
              <a:lnSpc>
                <a:spcPct val="140000"/>
              </a:lnSpc>
              <a:buNone/>
            </a:pPr>
            <a:r>
              <a:rPr lang="en-US" sz="1150" dirty="0">
                <a:solidFill>
                  <a:srgbClr val="1A1A1A"/>
                </a:solidFill>
                <a:latin typeface="Consolas" pitchFamily="34" charset="0"/>
                <a:ea typeface="Consolas" pitchFamily="34" charset="-122"/>
                <a:cs typeface="Consolas" pitchFamily="34" charset="-120"/>
              </a:rPr>
              <a:t>      | ô nhập liệu duy nhất trên màn&lt;/desc&gt;</a:t>
            </a:r>
            <a:endParaRPr lang="en-US" sz="1150" dirty="0"/>
          </a:p>
          <a:p>
            <a:pPr algn="l" indent="0" marL="0">
              <a:lnSpc>
                <a:spcPct val="140000"/>
              </a:lnSpc>
              <a:buNone/>
            </a:pPr>
            <a:r>
              <a:rPr lang="en-US" sz="1150" dirty="0">
                <a:solidFill>
                  <a:srgbClr val="1A1A1A"/>
                </a:solidFill>
                <a:latin typeface="Consolas" pitchFamily="34" charset="0"/>
                <a:ea typeface="Consolas" pitchFamily="34" charset="-122"/>
                <a:cs typeface="Consolas" pitchFamily="34" charset="-120"/>
              </a:rPr>
              <a:t>Tap the Search Publications bar at the top</a:t>
            </a:r>
            <a:endParaRPr lang="en-US" sz="1150" dirty="0"/>
          </a:p>
        </p:txBody>
      </p:sp>
      <p:sp>
        <p:nvSpPr>
          <p:cNvPr id="12" name="Text 10"/>
          <p:cNvSpPr/>
          <p:nvPr/>
        </p:nvSpPr>
        <p:spPr>
          <a:xfrm>
            <a:off x="502920" y="4480560"/>
            <a:ext cx="8138160" cy="822960"/>
          </a:xfrm>
          <a:prstGeom prst="rect">
            <a:avLst/>
          </a:prstGeom>
          <a:noFill/>
          <a:ln/>
        </p:spPr>
        <p:txBody>
          <a:bodyPr wrap="square" lIns="0" tIns="0" rIns="0" bIns="0" rtlCol="0" anchor="t"/>
          <a:lstStyle/>
          <a:p>
            <a:pPr algn="l" indent="0" marL="0">
              <a:lnSpc>
                <a:spcPct val="140000"/>
              </a:lnSpc>
              <a:buNone/>
            </a:pPr>
            <a:r>
              <a:rPr lang="en-US" sz="1400" b="1" dirty="0">
                <a:solidFill>
                  <a:srgbClr val="322164"/>
                </a:solidFill>
                <a:latin typeface="Cambria" pitchFamily="34" charset="0"/>
                <a:ea typeface="Cambria" pitchFamily="34" charset="-122"/>
                <a:cs typeface="Cambria" pitchFamily="34" charset="-120"/>
              </a:rPr>
              <a:t>Toạ độ lấy từ chỗ người thật đã chạm.  </a:t>
            </a:r>
            <a:pPr algn="l" indent="0" marL="0">
              <a:lnSpc>
                <a:spcPct val="140000"/>
              </a:lnSpc>
              <a:buNone/>
            </a:pPr>
            <a:r>
              <a:rPr lang="en-US" sz="1400" dirty="0">
                <a:solidFill>
                  <a:srgbClr val="1A1A1A"/>
                </a:solidFill>
                <a:latin typeface="Cambria" pitchFamily="34" charset="0"/>
                <a:ea typeface="Cambria" pitchFamily="34" charset="-122"/>
                <a:cs typeface="Cambria" pitchFamily="34" charset="-120"/>
              </a:rPr>
              <a:t>Khi chạy thật, dòng khai báo bị cắt - người dùng chỉ nhận câu.</a:t>
            </a:r>
            <a:endParaRPr lang="en-US" sz="1400" dirty="0"/>
          </a:p>
        </p:txBody>
      </p:sp>
      <p:sp>
        <p:nvSpPr>
          <p:cNvPr id="14" name="Shape 11"/>
          <p:cNvSpPr/>
          <p:nvPr/>
        </p:nvSpPr>
        <p:spPr>
          <a:xfrm>
            <a:off x="0" y="6620256"/>
            <a:ext cx="2743200" cy="237744"/>
          </a:xfrm>
          <a:prstGeom prst="rect">
            <a:avLst/>
          </a:prstGeom>
          <a:solidFill>
            <a:srgbClr val="191132"/>
          </a:solidFill>
          <a:ln/>
        </p:spPr>
      </p:sp>
      <p:sp>
        <p:nvSpPr>
          <p:cNvPr id="15" name="Shape 12"/>
          <p:cNvSpPr/>
          <p:nvPr/>
        </p:nvSpPr>
        <p:spPr>
          <a:xfrm>
            <a:off x="2743200" y="6620256"/>
            <a:ext cx="3383280" cy="237744"/>
          </a:xfrm>
          <a:prstGeom prst="rect">
            <a:avLst/>
          </a:prstGeom>
          <a:solidFill>
            <a:srgbClr val="25194B"/>
          </a:solidFill>
          <a:ln/>
        </p:spPr>
      </p:sp>
      <p:sp>
        <p:nvSpPr>
          <p:cNvPr id="16" name="Shape 13"/>
          <p:cNvSpPr/>
          <p:nvPr/>
        </p:nvSpPr>
        <p:spPr>
          <a:xfrm>
            <a:off x="6126480" y="6620256"/>
            <a:ext cx="1737360" cy="237744"/>
          </a:xfrm>
          <a:prstGeom prst="rect">
            <a:avLst/>
          </a:prstGeom>
          <a:solidFill>
            <a:srgbClr val="4F417A"/>
          </a:solidFill>
          <a:ln/>
        </p:spPr>
      </p:sp>
      <p:sp>
        <p:nvSpPr>
          <p:cNvPr id="17" name="Shape 14"/>
          <p:cNvSpPr/>
          <p:nvPr/>
        </p:nvSpPr>
        <p:spPr>
          <a:xfrm>
            <a:off x="7863840" y="6620256"/>
            <a:ext cx="1280160" cy="237744"/>
          </a:xfrm>
          <a:prstGeom prst="rect">
            <a:avLst/>
          </a:prstGeom>
          <a:solidFill>
            <a:srgbClr val="7A7099"/>
          </a:solidFill>
          <a:ln/>
        </p:spPr>
      </p:sp>
      <p:sp>
        <p:nvSpPr>
          <p:cNvPr id="18" name="Text 15"/>
          <p:cNvSpPr/>
          <p:nvPr/>
        </p:nvSpPr>
        <p:spPr>
          <a:xfrm>
            <a:off x="0" y="6620256"/>
            <a:ext cx="2743200" cy="237744"/>
          </a:xfrm>
          <a:prstGeom prst="rect">
            <a:avLst/>
          </a:prstGeom>
          <a:noFill/>
          <a:ln/>
        </p:spPr>
        <p:txBody>
          <a:bodyPr wrap="square" lIns="0" tIns="0" rIns="0" bIns="0" rtlCol="0" anchor="ctr"/>
          <a:lstStyle/>
          <a:p>
            <a:pPr algn="ctr" indent="0" marL="0">
              <a:buNone/>
            </a:pPr>
            <a:r>
              <a:rPr lang="en-US" sz="800" dirty="0">
                <a:solidFill>
                  <a:srgbClr val="FFFFFF"/>
                </a:solidFill>
                <a:latin typeface="Consolas" pitchFamily="34" charset="0"/>
                <a:ea typeface="Consolas" pitchFamily="34" charset="-122"/>
                <a:cs typeface="Consolas" pitchFamily="34" charset="-120"/>
              </a:rPr>
              <a:t>luận văn thạc sĩ</a:t>
            </a:r>
            <a:endParaRPr lang="en-US" sz="800" dirty="0"/>
          </a:p>
        </p:txBody>
      </p:sp>
      <p:sp>
        <p:nvSpPr>
          <p:cNvPr id="19" name="Text 16"/>
          <p:cNvSpPr/>
          <p:nvPr/>
        </p:nvSpPr>
        <p:spPr>
          <a:xfrm>
            <a:off x="2743200" y="6620256"/>
            <a:ext cx="3383280" cy="237744"/>
          </a:xfrm>
          <a:prstGeom prst="rect">
            <a:avLst/>
          </a:prstGeom>
          <a:noFill/>
          <a:ln/>
        </p:spPr>
        <p:txBody>
          <a:bodyPr wrap="square" lIns="0" tIns="0" rIns="0" bIns="0" rtlCol="0" anchor="ctr"/>
          <a:lstStyle/>
          <a:p>
            <a:pPr algn="ctr" indent="0" marL="0">
              <a:buNone/>
            </a:pPr>
            <a:r>
              <a:rPr lang="en-US" sz="800" dirty="0">
                <a:solidFill>
                  <a:srgbClr val="FFFFFF"/>
                </a:solidFill>
                <a:latin typeface="Cambria" pitchFamily="34" charset="0"/>
                <a:ea typeface="Cambria" pitchFamily="34" charset="-122"/>
                <a:cs typeface="Cambria" pitchFamily="34" charset="-120"/>
              </a:rPr>
              <a:t>Sinh hướng dẫn sử dụng phần mềm</a:t>
            </a:r>
            <a:endParaRPr lang="en-US" sz="800" dirty="0"/>
          </a:p>
        </p:txBody>
      </p:sp>
      <p:sp>
        <p:nvSpPr>
          <p:cNvPr id="20" name="Text 17"/>
          <p:cNvSpPr/>
          <p:nvPr/>
        </p:nvSpPr>
        <p:spPr>
          <a:xfrm>
            <a:off x="6126480" y="6620256"/>
            <a:ext cx="1737360" cy="237744"/>
          </a:xfrm>
          <a:prstGeom prst="rect">
            <a:avLst/>
          </a:prstGeom>
          <a:noFill/>
          <a:ln/>
        </p:spPr>
        <p:txBody>
          <a:bodyPr wrap="square" lIns="0" tIns="0" rIns="0" bIns="0" rtlCol="0" anchor="ctr"/>
          <a:lstStyle/>
          <a:p>
            <a:pPr algn="ctr" indent="0" marL="0">
              <a:buNone/>
            </a:pPr>
            <a:r>
              <a:rPr lang="en-US" sz="800" dirty="0">
                <a:solidFill>
                  <a:srgbClr val="FFFFFF"/>
                </a:solidFill>
                <a:latin typeface="Cambria" pitchFamily="34" charset="0"/>
                <a:ea typeface="Cambria" pitchFamily="34" charset="-122"/>
                <a:cs typeface="Cambria" pitchFamily="34" charset="-120"/>
              </a:rPr>
              <a:t>Lê Đoàn Phương Uyên</a:t>
            </a:r>
            <a:endParaRPr lang="en-US" sz="800" dirty="0"/>
          </a:p>
        </p:txBody>
      </p:sp>
      <p:sp>
        <p:nvSpPr>
          <p:cNvPr id="21" name="Text 18"/>
          <p:cNvSpPr/>
          <p:nvPr/>
        </p:nvSpPr>
        <p:spPr>
          <a:xfrm>
            <a:off x="7863840" y="6620256"/>
            <a:ext cx="1280160" cy="237744"/>
          </a:xfrm>
          <a:prstGeom prst="rect">
            <a:avLst/>
          </a:prstGeom>
          <a:noFill/>
          <a:ln/>
        </p:spPr>
        <p:txBody>
          <a:bodyPr wrap="square" lIns="0" tIns="0" rIns="0" bIns="0" rtlCol="0" anchor="ctr"/>
          <a:lstStyle/>
          <a:p>
            <a:pPr algn="ctr" indent="0" marL="0">
              <a:buNone/>
            </a:pPr>
            <a:r>
              <a:rPr lang="en-US" sz="800" dirty="0">
                <a:solidFill>
                  <a:srgbClr val="FFFFFF"/>
                </a:solidFill>
                <a:latin typeface="Cambria" pitchFamily="34" charset="0"/>
                <a:ea typeface="Cambria" pitchFamily="34" charset="-122"/>
                <a:cs typeface="Cambria" pitchFamily="34" charset="-120"/>
              </a:rPr>
              <a:t>11/26</a:t>
            </a:r>
            <a:endParaRPr lang="en-US" sz="8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48640"/>
          </a:xfrm>
          <a:prstGeom prst="rect">
            <a:avLst/>
          </a:prstGeom>
          <a:solidFill>
            <a:srgbClr val="322164"/>
          </a:solidFill>
          <a:ln/>
        </p:spPr>
      </p:sp>
      <p:sp>
        <p:nvSpPr>
          <p:cNvPr id="3" name="Text 1"/>
          <p:cNvSpPr/>
          <p:nvPr/>
        </p:nvSpPr>
        <p:spPr>
          <a:xfrm>
            <a:off x="201168" y="0"/>
            <a:ext cx="8741664" cy="548640"/>
          </a:xfrm>
          <a:prstGeom prst="rect">
            <a:avLst/>
          </a:prstGeom>
          <a:noFill/>
          <a:ln/>
        </p:spPr>
        <p:txBody>
          <a:bodyPr wrap="square" lIns="0" tIns="0" rIns="0" bIns="0" rtlCol="0" anchor="ctr"/>
          <a:lstStyle/>
          <a:p>
            <a:pPr algn="l" indent="0" marL="0">
              <a:buNone/>
            </a:pPr>
            <a:r>
              <a:rPr lang="en-US" sz="1900" b="1" dirty="0">
                <a:solidFill>
                  <a:srgbClr val="FFFFFF"/>
                </a:solidFill>
                <a:latin typeface="Cambria" pitchFamily="34" charset="0"/>
                <a:ea typeface="Cambria" pitchFamily="34" charset="-122"/>
                <a:cs typeface="Cambria" pitchFamily="34" charset="-120"/>
              </a:rPr>
              <a:t>3.4.  Vì sao thiết kế đúng kiểu này?</a:t>
            </a:r>
            <a:endParaRPr lang="en-US" sz="1900" dirty="0"/>
          </a:p>
        </p:txBody>
      </p:sp>
      <p:sp>
        <p:nvSpPr>
          <p:cNvPr id="4" name="Shape 2"/>
          <p:cNvSpPr/>
          <p:nvPr/>
        </p:nvSpPr>
        <p:spPr>
          <a:xfrm>
            <a:off x="502920" y="960120"/>
            <a:ext cx="8138160" cy="2148840"/>
          </a:xfrm>
          <a:prstGeom prst="roundRect">
            <a:avLst>
              <a:gd name="adj" fmla="val 2553"/>
            </a:avLst>
          </a:prstGeom>
          <a:solidFill>
            <a:srgbClr val="E9E8EC"/>
          </a:solidFill>
          <a:ln/>
          <a:effectLst>
            <a:outerShdw sx="100000" sy="100000" kx="0" ky="0" algn="bl" rotWithShape="0" blurRad="63500" dist="31750" dir="2700000">
              <a:srgbClr val="8C8C99">
                <a:alpha val="45000"/>
              </a:srgbClr>
            </a:outerShdw>
          </a:effectLst>
        </p:spPr>
      </p:sp>
      <p:sp>
        <p:nvSpPr>
          <p:cNvPr id="5" name="Text 3"/>
          <p:cNvSpPr/>
          <p:nvPr/>
        </p:nvSpPr>
        <p:spPr>
          <a:xfrm>
            <a:off x="704088" y="1097280"/>
            <a:ext cx="7735824" cy="411480"/>
          </a:xfrm>
          <a:prstGeom prst="rect">
            <a:avLst/>
          </a:prstGeom>
          <a:noFill/>
          <a:ln/>
        </p:spPr>
        <p:txBody>
          <a:bodyPr wrap="square" lIns="0" tIns="0" rIns="0" bIns="0" rtlCol="0" anchor="t"/>
          <a:lstStyle/>
          <a:p>
            <a:pPr algn="l" indent="0" marL="0">
              <a:buNone/>
            </a:pPr>
            <a:r>
              <a:rPr lang="en-US" sz="1350" dirty="0">
                <a:solidFill>
                  <a:srgbClr val="1A1A1A"/>
                </a:solidFill>
                <a:latin typeface="Cambria" pitchFamily="34" charset="0"/>
                <a:ea typeface="Cambria" pitchFamily="34" charset="-122"/>
                <a:cs typeface="Cambria" pitchFamily="34" charset="-120"/>
              </a:rPr>
              <a:t>Kiểu “sinh bước trung gian trước đáp án” đã có nhiều bài thử:</a:t>
            </a:r>
            <a:endParaRPr lang="en-US" sz="1350" dirty="0"/>
          </a:p>
        </p:txBody>
      </p:sp>
      <p:sp>
        <p:nvSpPr>
          <p:cNvPr id="6" name="Text 4"/>
          <p:cNvSpPr/>
          <p:nvPr/>
        </p:nvSpPr>
        <p:spPr>
          <a:xfrm>
            <a:off x="777240" y="1554480"/>
            <a:ext cx="2377440" cy="292608"/>
          </a:xfrm>
          <a:prstGeom prst="rect">
            <a:avLst/>
          </a:prstGeom>
          <a:noFill/>
          <a:ln/>
        </p:spPr>
        <p:txBody>
          <a:bodyPr wrap="square" lIns="0" tIns="0" rIns="0" bIns="0" rtlCol="0" anchor="t"/>
          <a:lstStyle/>
          <a:p>
            <a:pPr algn="l" indent="0" marL="0">
              <a:buNone/>
            </a:pPr>
            <a:r>
              <a:rPr lang="en-US" sz="1200" b="1" dirty="0">
                <a:solidFill>
                  <a:srgbClr val="322164"/>
                </a:solidFill>
                <a:latin typeface="Cambria" pitchFamily="34" charset="0"/>
                <a:ea typeface="Cambria" pitchFamily="34" charset="-122"/>
                <a:cs typeface="Cambria" pitchFamily="34" charset="-120"/>
              </a:rPr>
              <a:t>Aguvis (ICML 2025)</a:t>
            </a:r>
            <a:endParaRPr lang="en-US" sz="1200" dirty="0"/>
          </a:p>
        </p:txBody>
      </p:sp>
      <p:sp>
        <p:nvSpPr>
          <p:cNvPr id="7" name="Text 5"/>
          <p:cNvSpPr/>
          <p:nvPr/>
        </p:nvSpPr>
        <p:spPr>
          <a:xfrm>
            <a:off x="3246120" y="1554480"/>
            <a:ext cx="4114800" cy="292608"/>
          </a:xfrm>
          <a:prstGeom prst="rect">
            <a:avLst/>
          </a:prstGeom>
          <a:noFill/>
          <a:ln/>
        </p:spPr>
        <p:txBody>
          <a:bodyPr wrap="square" lIns="0" tIns="0" rIns="0" bIns="0" rtlCol="0" anchor="t"/>
          <a:lstStyle/>
          <a:p>
            <a:pPr algn="l" indent="0" marL="0">
              <a:buNone/>
            </a:pPr>
            <a:r>
              <a:rPr lang="en-US" sz="1200" dirty="0">
                <a:solidFill>
                  <a:srgbClr val="1A1A1A"/>
                </a:solidFill>
                <a:latin typeface="Cambria" pitchFamily="34" charset="0"/>
                <a:ea typeface="Cambria" pitchFamily="34" charset="-122"/>
                <a:cs typeface="Cambria" pitchFamily="34" charset="-120"/>
              </a:rPr>
              <a:t>bỏ tầng trung gian, trên chính AndroidControl</a:t>
            </a:r>
            <a:endParaRPr lang="en-US" sz="1200" dirty="0"/>
          </a:p>
        </p:txBody>
      </p:sp>
      <p:sp>
        <p:nvSpPr>
          <p:cNvPr id="8" name="Text 6"/>
          <p:cNvSpPr/>
          <p:nvPr/>
        </p:nvSpPr>
        <p:spPr>
          <a:xfrm>
            <a:off x="7406640" y="1554480"/>
            <a:ext cx="1097280" cy="292608"/>
          </a:xfrm>
          <a:prstGeom prst="rect">
            <a:avLst/>
          </a:prstGeom>
          <a:noFill/>
          <a:ln/>
        </p:spPr>
        <p:txBody>
          <a:bodyPr wrap="square" lIns="0" tIns="0" rIns="0" bIns="0" rtlCol="0" anchor="t"/>
          <a:lstStyle/>
          <a:p>
            <a:pPr algn="r" indent="0" marL="0">
              <a:buNone/>
            </a:pPr>
            <a:r>
              <a:rPr lang="en-US" sz="1200" b="1" dirty="0">
                <a:solidFill>
                  <a:srgbClr val="990000"/>
                </a:solidFill>
                <a:latin typeface="Cambria" pitchFamily="34" charset="0"/>
                <a:ea typeface="Cambria" pitchFamily="34" charset="-122"/>
                <a:cs typeface="Cambria" pitchFamily="34" charset="-120"/>
              </a:rPr>
              <a:t>tụt 11,4</a:t>
            </a:r>
            <a:endParaRPr lang="en-US" sz="1200" dirty="0"/>
          </a:p>
        </p:txBody>
      </p:sp>
      <p:sp>
        <p:nvSpPr>
          <p:cNvPr id="9" name="Text 7"/>
          <p:cNvSpPr/>
          <p:nvPr/>
        </p:nvSpPr>
        <p:spPr>
          <a:xfrm>
            <a:off x="777240" y="1865376"/>
            <a:ext cx="2377440" cy="292608"/>
          </a:xfrm>
          <a:prstGeom prst="rect">
            <a:avLst/>
          </a:prstGeom>
          <a:noFill/>
          <a:ln/>
        </p:spPr>
        <p:txBody>
          <a:bodyPr wrap="square" lIns="0" tIns="0" rIns="0" bIns="0" rtlCol="0" anchor="t"/>
          <a:lstStyle/>
          <a:p>
            <a:pPr algn="l" indent="0" marL="0">
              <a:buNone/>
            </a:pPr>
            <a:r>
              <a:rPr lang="en-US" sz="1200" b="1" dirty="0">
                <a:solidFill>
                  <a:srgbClr val="322164"/>
                </a:solidFill>
                <a:latin typeface="Cambria" pitchFamily="34" charset="0"/>
                <a:ea typeface="Cambria" pitchFamily="34" charset="-122"/>
                <a:cs typeface="Cambria" pitchFamily="34" charset="-120"/>
              </a:rPr>
              <a:t>GCoT (bản thảo)</a:t>
            </a:r>
            <a:endParaRPr lang="en-US" sz="1200" dirty="0"/>
          </a:p>
        </p:txBody>
      </p:sp>
      <p:sp>
        <p:nvSpPr>
          <p:cNvPr id="10" name="Text 8"/>
          <p:cNvSpPr/>
          <p:nvPr/>
        </p:nvSpPr>
        <p:spPr>
          <a:xfrm>
            <a:off x="3246120" y="1865376"/>
            <a:ext cx="4114800" cy="292608"/>
          </a:xfrm>
          <a:prstGeom prst="rect">
            <a:avLst/>
          </a:prstGeom>
          <a:noFill/>
          <a:ln/>
        </p:spPr>
        <p:txBody>
          <a:bodyPr wrap="square" lIns="0" tIns="0" rIns="0" bIns="0" rtlCol="0" anchor="t"/>
          <a:lstStyle/>
          <a:p>
            <a:pPr algn="l" indent="0" marL="0">
              <a:buNone/>
            </a:pPr>
            <a:r>
              <a:rPr lang="en-US" sz="1200" dirty="0">
                <a:solidFill>
                  <a:srgbClr val="1A1A1A"/>
                </a:solidFill>
                <a:latin typeface="Cambria" pitchFamily="34" charset="0"/>
                <a:ea typeface="Cambria" pitchFamily="34" charset="-122"/>
                <a:cs typeface="Cambria" pitchFamily="34" charset="-120"/>
              </a:rPr>
              <a:t>huấn luyện sinh định vị trước</a:t>
            </a:r>
            <a:endParaRPr lang="en-US" sz="1200" dirty="0"/>
          </a:p>
        </p:txBody>
      </p:sp>
      <p:sp>
        <p:nvSpPr>
          <p:cNvPr id="11" name="Text 9"/>
          <p:cNvSpPr/>
          <p:nvPr/>
        </p:nvSpPr>
        <p:spPr>
          <a:xfrm>
            <a:off x="7406640" y="1865376"/>
            <a:ext cx="1097280" cy="292608"/>
          </a:xfrm>
          <a:prstGeom prst="rect">
            <a:avLst/>
          </a:prstGeom>
          <a:noFill/>
          <a:ln/>
        </p:spPr>
        <p:txBody>
          <a:bodyPr wrap="square" lIns="0" tIns="0" rIns="0" bIns="0" rtlCol="0" anchor="t"/>
          <a:lstStyle/>
          <a:p>
            <a:pPr algn="r" indent="0" marL="0">
              <a:buNone/>
            </a:pPr>
            <a:r>
              <a:rPr lang="en-US" sz="1200" b="1" dirty="0">
                <a:solidFill>
                  <a:srgbClr val="1A1A1A"/>
                </a:solidFill>
                <a:latin typeface="Cambria" pitchFamily="34" charset="0"/>
                <a:ea typeface="Cambria" pitchFamily="34" charset="-122"/>
                <a:cs typeface="Cambria" pitchFamily="34" charset="-120"/>
              </a:rPr>
              <a:t>+4,5 / +5,8</a:t>
            </a:r>
            <a:endParaRPr lang="en-US" sz="1200" dirty="0"/>
          </a:p>
        </p:txBody>
      </p:sp>
      <p:sp>
        <p:nvSpPr>
          <p:cNvPr id="12" name="Text 10"/>
          <p:cNvSpPr/>
          <p:nvPr/>
        </p:nvSpPr>
        <p:spPr>
          <a:xfrm>
            <a:off x="777240" y="2176272"/>
            <a:ext cx="2377440" cy="292608"/>
          </a:xfrm>
          <a:prstGeom prst="rect">
            <a:avLst/>
          </a:prstGeom>
          <a:noFill/>
          <a:ln/>
        </p:spPr>
        <p:txBody>
          <a:bodyPr wrap="square" lIns="0" tIns="0" rIns="0" bIns="0" rtlCol="0" anchor="t"/>
          <a:lstStyle/>
          <a:p>
            <a:pPr algn="l" indent="0" marL="0">
              <a:buNone/>
            </a:pPr>
            <a:r>
              <a:rPr lang="en-US" sz="1200" b="1" dirty="0">
                <a:solidFill>
                  <a:srgbClr val="322164"/>
                </a:solidFill>
                <a:latin typeface="Cambria" pitchFamily="34" charset="0"/>
                <a:ea typeface="Cambria" pitchFamily="34" charset="-122"/>
                <a:cs typeface="Cambria" pitchFamily="34" charset="-120"/>
              </a:rPr>
              <a:t>CogCoM (ICLR 2025)</a:t>
            </a:r>
            <a:endParaRPr lang="en-US" sz="1200" dirty="0"/>
          </a:p>
        </p:txBody>
      </p:sp>
      <p:sp>
        <p:nvSpPr>
          <p:cNvPr id="13" name="Text 11"/>
          <p:cNvSpPr/>
          <p:nvPr/>
        </p:nvSpPr>
        <p:spPr>
          <a:xfrm>
            <a:off x="3246120" y="2176272"/>
            <a:ext cx="4114800" cy="292608"/>
          </a:xfrm>
          <a:prstGeom prst="rect">
            <a:avLst/>
          </a:prstGeom>
          <a:noFill/>
          <a:ln/>
        </p:spPr>
        <p:txBody>
          <a:bodyPr wrap="square" lIns="0" tIns="0" rIns="0" bIns="0" rtlCol="0" anchor="t"/>
          <a:lstStyle/>
          <a:p>
            <a:pPr algn="l" indent="0" marL="0">
              <a:buNone/>
            </a:pPr>
            <a:r>
              <a:rPr lang="en-US" sz="1200" dirty="0">
                <a:solidFill>
                  <a:srgbClr val="1A1A1A"/>
                </a:solidFill>
                <a:latin typeface="Cambria" pitchFamily="34" charset="0"/>
                <a:ea typeface="Cambria" pitchFamily="34" charset="-122"/>
                <a:cs typeface="Cambria" pitchFamily="34" charset="-120"/>
              </a:rPr>
              <a:t>chuỗi thao tác trung gian</a:t>
            </a:r>
            <a:endParaRPr lang="en-US" sz="1200" dirty="0"/>
          </a:p>
        </p:txBody>
      </p:sp>
      <p:sp>
        <p:nvSpPr>
          <p:cNvPr id="14" name="Text 12"/>
          <p:cNvSpPr/>
          <p:nvPr/>
        </p:nvSpPr>
        <p:spPr>
          <a:xfrm>
            <a:off x="7406640" y="2176272"/>
            <a:ext cx="1097280" cy="292608"/>
          </a:xfrm>
          <a:prstGeom prst="rect">
            <a:avLst/>
          </a:prstGeom>
          <a:noFill/>
          <a:ln/>
        </p:spPr>
        <p:txBody>
          <a:bodyPr wrap="square" lIns="0" tIns="0" rIns="0" bIns="0" rtlCol="0" anchor="t"/>
          <a:lstStyle/>
          <a:p>
            <a:pPr algn="r" indent="0" marL="0">
              <a:buNone/>
            </a:pPr>
            <a:r>
              <a:rPr lang="en-US" sz="1200" b="1" dirty="0">
                <a:solidFill>
                  <a:srgbClr val="1A1A1A"/>
                </a:solidFill>
                <a:latin typeface="Cambria" pitchFamily="34" charset="0"/>
                <a:ea typeface="Cambria" pitchFamily="34" charset="-122"/>
                <a:cs typeface="Cambria" pitchFamily="34" charset="-120"/>
              </a:rPr>
              <a:t>+6,6</a:t>
            </a:r>
            <a:endParaRPr lang="en-US" sz="1200" dirty="0"/>
          </a:p>
        </p:txBody>
      </p:sp>
      <p:sp>
        <p:nvSpPr>
          <p:cNvPr id="15" name="Text 13"/>
          <p:cNvSpPr/>
          <p:nvPr/>
        </p:nvSpPr>
        <p:spPr>
          <a:xfrm>
            <a:off x="777240" y="2487168"/>
            <a:ext cx="2377440" cy="292608"/>
          </a:xfrm>
          <a:prstGeom prst="rect">
            <a:avLst/>
          </a:prstGeom>
          <a:noFill/>
          <a:ln/>
        </p:spPr>
        <p:txBody>
          <a:bodyPr wrap="square" lIns="0" tIns="0" rIns="0" bIns="0" rtlCol="0" anchor="t"/>
          <a:lstStyle/>
          <a:p>
            <a:pPr algn="l" indent="0" marL="0">
              <a:buNone/>
            </a:pPr>
            <a:r>
              <a:rPr lang="en-US" sz="1200" b="1" dirty="0">
                <a:solidFill>
                  <a:srgbClr val="322164"/>
                </a:solidFill>
                <a:latin typeface="Cambria" pitchFamily="34" charset="0"/>
                <a:ea typeface="Cambria" pitchFamily="34" charset="-122"/>
                <a:cs typeface="Cambria" pitchFamily="34" charset="-120"/>
              </a:rPr>
              <a:t>Shikra - văn tự do</a:t>
            </a:r>
            <a:endParaRPr lang="en-US" sz="1200" dirty="0"/>
          </a:p>
        </p:txBody>
      </p:sp>
      <p:sp>
        <p:nvSpPr>
          <p:cNvPr id="16" name="Text 14"/>
          <p:cNvSpPr/>
          <p:nvPr/>
        </p:nvSpPr>
        <p:spPr>
          <a:xfrm>
            <a:off x="3246120" y="2487168"/>
            <a:ext cx="4114800" cy="292608"/>
          </a:xfrm>
          <a:prstGeom prst="rect">
            <a:avLst/>
          </a:prstGeom>
          <a:noFill/>
          <a:ln/>
        </p:spPr>
        <p:txBody>
          <a:bodyPr wrap="square" lIns="0" tIns="0" rIns="0" bIns="0" rtlCol="0" anchor="t"/>
          <a:lstStyle/>
          <a:p>
            <a:pPr algn="l" indent="0" marL="0">
              <a:buNone/>
            </a:pPr>
            <a:r>
              <a:rPr lang="en-US" sz="1200" dirty="0">
                <a:solidFill>
                  <a:srgbClr val="1A1A1A"/>
                </a:solidFill>
                <a:latin typeface="Cambria" pitchFamily="34" charset="0"/>
                <a:ea typeface="Cambria" pitchFamily="34" charset="-122"/>
                <a:cs typeface="Cambria" pitchFamily="34" charset="-120"/>
              </a:rPr>
              <a:t>bước trung gian viết bằng văn xuôi</a:t>
            </a:r>
            <a:endParaRPr lang="en-US" sz="1200" dirty="0"/>
          </a:p>
        </p:txBody>
      </p:sp>
      <p:sp>
        <p:nvSpPr>
          <p:cNvPr id="17" name="Text 15"/>
          <p:cNvSpPr/>
          <p:nvPr/>
        </p:nvSpPr>
        <p:spPr>
          <a:xfrm>
            <a:off x="7406640" y="2487168"/>
            <a:ext cx="1097280" cy="292608"/>
          </a:xfrm>
          <a:prstGeom prst="rect">
            <a:avLst/>
          </a:prstGeom>
          <a:noFill/>
          <a:ln/>
        </p:spPr>
        <p:txBody>
          <a:bodyPr wrap="square" lIns="0" tIns="0" rIns="0" bIns="0" rtlCol="0" anchor="t"/>
          <a:lstStyle/>
          <a:p>
            <a:pPr algn="r" indent="0" marL="0">
              <a:buNone/>
            </a:pPr>
            <a:r>
              <a:rPr lang="en-US" sz="1200" b="1" dirty="0">
                <a:solidFill>
                  <a:srgbClr val="990000"/>
                </a:solidFill>
                <a:latin typeface="Cambria" pitchFamily="34" charset="0"/>
                <a:ea typeface="Cambria" pitchFamily="34" charset="-122"/>
                <a:cs typeface="Cambria" pitchFamily="34" charset="-120"/>
              </a:rPr>
              <a:t>tụt 7,4</a:t>
            </a:r>
            <a:endParaRPr lang="en-US" sz="1200" dirty="0"/>
          </a:p>
        </p:txBody>
      </p:sp>
      <p:sp>
        <p:nvSpPr>
          <p:cNvPr id="18" name="Text 16"/>
          <p:cNvSpPr/>
          <p:nvPr/>
        </p:nvSpPr>
        <p:spPr>
          <a:xfrm>
            <a:off x="777240" y="2798064"/>
            <a:ext cx="2377440" cy="292608"/>
          </a:xfrm>
          <a:prstGeom prst="rect">
            <a:avLst/>
          </a:prstGeom>
          <a:noFill/>
          <a:ln/>
        </p:spPr>
        <p:txBody>
          <a:bodyPr wrap="square" lIns="0" tIns="0" rIns="0" bIns="0" rtlCol="0" anchor="t"/>
          <a:lstStyle/>
          <a:p>
            <a:pPr algn="l" indent="0" marL="0">
              <a:buNone/>
            </a:pPr>
            <a:r>
              <a:rPr lang="en-US" sz="1200" b="1" dirty="0">
                <a:solidFill>
                  <a:srgbClr val="322164"/>
                </a:solidFill>
                <a:latin typeface="Cambria" pitchFamily="34" charset="0"/>
                <a:ea typeface="Cambria" pitchFamily="34" charset="-122"/>
                <a:cs typeface="Cambria" pitchFamily="34" charset="-120"/>
              </a:rPr>
              <a:t>Shikra - có toạ độ</a:t>
            </a:r>
            <a:endParaRPr lang="en-US" sz="1200" dirty="0"/>
          </a:p>
        </p:txBody>
      </p:sp>
      <p:sp>
        <p:nvSpPr>
          <p:cNvPr id="19" name="Text 17"/>
          <p:cNvSpPr/>
          <p:nvPr/>
        </p:nvSpPr>
        <p:spPr>
          <a:xfrm>
            <a:off x="3246120" y="2798064"/>
            <a:ext cx="4114800" cy="292608"/>
          </a:xfrm>
          <a:prstGeom prst="rect">
            <a:avLst/>
          </a:prstGeom>
          <a:noFill/>
          <a:ln/>
        </p:spPr>
        <p:txBody>
          <a:bodyPr wrap="square" lIns="0" tIns="0" rIns="0" bIns="0" rtlCol="0" anchor="t"/>
          <a:lstStyle/>
          <a:p>
            <a:pPr algn="l" indent="0" marL="0">
              <a:buNone/>
            </a:pPr>
            <a:r>
              <a:rPr lang="en-US" sz="1200" dirty="0">
                <a:solidFill>
                  <a:srgbClr val="1A1A1A"/>
                </a:solidFill>
                <a:latin typeface="Cambria" pitchFamily="34" charset="0"/>
                <a:ea typeface="Cambria" pitchFamily="34" charset="-122"/>
                <a:cs typeface="Cambria" pitchFamily="34" charset="-120"/>
              </a:rPr>
              <a:t>cùng mô hình, chỉ đổi dạng trung gian</a:t>
            </a:r>
            <a:endParaRPr lang="en-US" sz="1200" dirty="0"/>
          </a:p>
        </p:txBody>
      </p:sp>
      <p:sp>
        <p:nvSpPr>
          <p:cNvPr id="20" name="Text 18"/>
          <p:cNvSpPr/>
          <p:nvPr/>
        </p:nvSpPr>
        <p:spPr>
          <a:xfrm>
            <a:off x="7406640" y="2798064"/>
            <a:ext cx="1097280" cy="292608"/>
          </a:xfrm>
          <a:prstGeom prst="rect">
            <a:avLst/>
          </a:prstGeom>
          <a:noFill/>
          <a:ln/>
        </p:spPr>
        <p:txBody>
          <a:bodyPr wrap="square" lIns="0" tIns="0" rIns="0" bIns="0" rtlCol="0" anchor="t"/>
          <a:lstStyle/>
          <a:p>
            <a:pPr algn="r" indent="0" marL="0">
              <a:buNone/>
            </a:pPr>
            <a:r>
              <a:rPr lang="en-US" sz="1200" b="1" dirty="0">
                <a:solidFill>
                  <a:srgbClr val="006666"/>
                </a:solidFill>
                <a:latin typeface="Cambria" pitchFamily="34" charset="0"/>
                <a:ea typeface="Cambria" pitchFamily="34" charset="-122"/>
                <a:cs typeface="Cambria" pitchFamily="34" charset="-120"/>
              </a:rPr>
              <a:t>+5,9</a:t>
            </a:r>
            <a:endParaRPr lang="en-US" sz="1200" dirty="0"/>
          </a:p>
        </p:txBody>
      </p:sp>
      <p:sp>
        <p:nvSpPr>
          <p:cNvPr id="21" name="Shape 19"/>
          <p:cNvSpPr/>
          <p:nvPr/>
        </p:nvSpPr>
        <p:spPr>
          <a:xfrm>
            <a:off x="502920" y="3337560"/>
            <a:ext cx="8138160" cy="1417320"/>
          </a:xfrm>
          <a:prstGeom prst="roundRect">
            <a:avLst>
              <a:gd name="adj" fmla="val 3871"/>
            </a:avLst>
          </a:prstGeom>
          <a:solidFill>
            <a:srgbClr val="E9E8EC"/>
          </a:solidFill>
          <a:ln/>
          <a:effectLst>
            <a:outerShdw sx="100000" sy="100000" kx="0" ky="0" algn="bl" rotWithShape="0" blurRad="63500" dist="31750" dir="2700000">
              <a:srgbClr val="8C8C99">
                <a:alpha val="45000"/>
              </a:srgbClr>
            </a:outerShdw>
          </a:effectLst>
        </p:spPr>
      </p:sp>
      <p:sp>
        <p:nvSpPr>
          <p:cNvPr id="22" name="Text 20"/>
          <p:cNvSpPr/>
          <p:nvPr/>
        </p:nvSpPr>
        <p:spPr>
          <a:xfrm>
            <a:off x="704088" y="3337560"/>
            <a:ext cx="7735824" cy="1417320"/>
          </a:xfrm>
          <a:prstGeom prst="rect">
            <a:avLst/>
          </a:prstGeom>
          <a:noFill/>
          <a:ln/>
        </p:spPr>
        <p:txBody>
          <a:bodyPr wrap="square" lIns="0" tIns="0" rIns="0" bIns="0" rtlCol="0" anchor="ctr"/>
          <a:lstStyle/>
          <a:p>
            <a:pPr algn="l" indent="0" marL="0">
              <a:lnSpc>
                <a:spcPct val="145000"/>
              </a:lnSpc>
              <a:buNone/>
            </a:pPr>
            <a:r>
              <a:rPr lang="en-US" sz="1350" dirty="0">
                <a:solidFill>
                  <a:srgbClr val="1A1A1A"/>
                </a:solidFill>
                <a:latin typeface="Cambria" pitchFamily="34" charset="0"/>
                <a:ea typeface="Cambria" pitchFamily="34" charset="-122"/>
                <a:cs typeface="Cambria" pitchFamily="34" charset="-120"/>
              </a:rPr>
              <a:t>Bước trung gian phải có cấu trúc và có toạ độ - để là văn xuôi thì kết quả âm</a:t>
            </a:r>
            <a:endParaRPr lang="en-US" sz="1350" dirty="0"/>
          </a:p>
          <a:p>
            <a:pPr algn="l" indent="0" marL="0">
              <a:lnSpc>
                <a:spcPct val="145000"/>
              </a:lnSpc>
              <a:buNone/>
            </a:pPr>
            <a:r>
              <a:rPr lang="en-US" sz="1350" dirty="0">
                <a:solidFill>
                  <a:srgbClr val="1A1A1A"/>
                </a:solidFill>
                <a:latin typeface="Cambria" pitchFamily="34" charset="0"/>
                <a:ea typeface="Cambria" pitchFamily="34" charset="-122"/>
                <a:cs typeface="Cambria" pitchFamily="34" charset="-120"/>
              </a:rPr>
              <a:t>Đó là lý do dòng khai báo bắt buộc có ô toạ độ</a:t>
            </a:r>
            <a:endParaRPr lang="en-US" sz="1350" dirty="0"/>
          </a:p>
        </p:txBody>
      </p:sp>
      <p:sp>
        <p:nvSpPr>
          <p:cNvPr id="23" name="Text 21"/>
          <p:cNvSpPr/>
          <p:nvPr/>
        </p:nvSpPr>
        <p:spPr>
          <a:xfrm>
            <a:off x="502920" y="4892040"/>
            <a:ext cx="8138160" cy="457200"/>
          </a:xfrm>
          <a:prstGeom prst="rect">
            <a:avLst/>
          </a:prstGeom>
          <a:noFill/>
          <a:ln/>
        </p:spPr>
        <p:txBody>
          <a:bodyPr wrap="square" lIns="0" tIns="0" rIns="0" bIns="0" rtlCol="0" anchor="t"/>
          <a:lstStyle/>
          <a:p>
            <a:pPr algn="l" indent="0" marL="0">
              <a:buNone/>
            </a:pPr>
            <a:r>
              <a:rPr lang="en-US" sz="1300" i="1" dirty="0">
                <a:solidFill>
                  <a:srgbClr val="990000"/>
                </a:solidFill>
                <a:latin typeface="Cambria" pitchFamily="34" charset="0"/>
                <a:ea typeface="Cambria" pitchFamily="34" charset="-122"/>
                <a:cs typeface="Cambria" pitchFamily="34" charset="-120"/>
              </a:rPr>
              <a:t>Các bài trên: sinh trung gian để ra toạ độ - luận văn: để ra câu chữ cho người đọc</a:t>
            </a:r>
            <a:endParaRPr lang="en-US" sz="1300" dirty="0"/>
          </a:p>
        </p:txBody>
      </p:sp>
      <p:sp>
        <p:nvSpPr>
          <p:cNvPr id="25" name="Shape 22"/>
          <p:cNvSpPr/>
          <p:nvPr/>
        </p:nvSpPr>
        <p:spPr>
          <a:xfrm>
            <a:off x="0" y="6620256"/>
            <a:ext cx="2743200" cy="237744"/>
          </a:xfrm>
          <a:prstGeom prst="rect">
            <a:avLst/>
          </a:prstGeom>
          <a:solidFill>
            <a:srgbClr val="191132"/>
          </a:solidFill>
          <a:ln/>
        </p:spPr>
      </p:sp>
      <p:sp>
        <p:nvSpPr>
          <p:cNvPr id="26" name="Shape 23"/>
          <p:cNvSpPr/>
          <p:nvPr/>
        </p:nvSpPr>
        <p:spPr>
          <a:xfrm>
            <a:off x="2743200" y="6620256"/>
            <a:ext cx="3383280" cy="237744"/>
          </a:xfrm>
          <a:prstGeom prst="rect">
            <a:avLst/>
          </a:prstGeom>
          <a:solidFill>
            <a:srgbClr val="25194B"/>
          </a:solidFill>
          <a:ln/>
        </p:spPr>
      </p:sp>
      <p:sp>
        <p:nvSpPr>
          <p:cNvPr id="27" name="Shape 24"/>
          <p:cNvSpPr/>
          <p:nvPr/>
        </p:nvSpPr>
        <p:spPr>
          <a:xfrm>
            <a:off x="6126480" y="6620256"/>
            <a:ext cx="1737360" cy="237744"/>
          </a:xfrm>
          <a:prstGeom prst="rect">
            <a:avLst/>
          </a:prstGeom>
          <a:solidFill>
            <a:srgbClr val="4F417A"/>
          </a:solidFill>
          <a:ln/>
        </p:spPr>
      </p:sp>
      <p:sp>
        <p:nvSpPr>
          <p:cNvPr id="28" name="Shape 25"/>
          <p:cNvSpPr/>
          <p:nvPr/>
        </p:nvSpPr>
        <p:spPr>
          <a:xfrm>
            <a:off x="7863840" y="6620256"/>
            <a:ext cx="1280160" cy="237744"/>
          </a:xfrm>
          <a:prstGeom prst="rect">
            <a:avLst/>
          </a:prstGeom>
          <a:solidFill>
            <a:srgbClr val="7A7099"/>
          </a:solidFill>
          <a:ln/>
        </p:spPr>
      </p:sp>
      <p:sp>
        <p:nvSpPr>
          <p:cNvPr id="29" name="Text 26"/>
          <p:cNvSpPr/>
          <p:nvPr/>
        </p:nvSpPr>
        <p:spPr>
          <a:xfrm>
            <a:off x="0" y="6620256"/>
            <a:ext cx="2743200" cy="237744"/>
          </a:xfrm>
          <a:prstGeom prst="rect">
            <a:avLst/>
          </a:prstGeom>
          <a:noFill/>
          <a:ln/>
        </p:spPr>
        <p:txBody>
          <a:bodyPr wrap="square" lIns="0" tIns="0" rIns="0" bIns="0" rtlCol="0" anchor="ctr"/>
          <a:lstStyle/>
          <a:p>
            <a:pPr algn="ctr" indent="0" marL="0">
              <a:buNone/>
            </a:pPr>
            <a:r>
              <a:rPr lang="en-US" sz="800" dirty="0">
                <a:solidFill>
                  <a:srgbClr val="FFFFFF"/>
                </a:solidFill>
                <a:latin typeface="Consolas" pitchFamily="34" charset="0"/>
                <a:ea typeface="Consolas" pitchFamily="34" charset="-122"/>
                <a:cs typeface="Consolas" pitchFamily="34" charset="-120"/>
              </a:rPr>
              <a:t>luận văn thạc sĩ</a:t>
            </a:r>
            <a:endParaRPr lang="en-US" sz="800" dirty="0"/>
          </a:p>
        </p:txBody>
      </p:sp>
      <p:sp>
        <p:nvSpPr>
          <p:cNvPr id="30" name="Text 27"/>
          <p:cNvSpPr/>
          <p:nvPr/>
        </p:nvSpPr>
        <p:spPr>
          <a:xfrm>
            <a:off x="2743200" y="6620256"/>
            <a:ext cx="3383280" cy="237744"/>
          </a:xfrm>
          <a:prstGeom prst="rect">
            <a:avLst/>
          </a:prstGeom>
          <a:noFill/>
          <a:ln/>
        </p:spPr>
        <p:txBody>
          <a:bodyPr wrap="square" lIns="0" tIns="0" rIns="0" bIns="0" rtlCol="0" anchor="ctr"/>
          <a:lstStyle/>
          <a:p>
            <a:pPr algn="ctr" indent="0" marL="0">
              <a:buNone/>
            </a:pPr>
            <a:r>
              <a:rPr lang="en-US" sz="800" dirty="0">
                <a:solidFill>
                  <a:srgbClr val="FFFFFF"/>
                </a:solidFill>
                <a:latin typeface="Cambria" pitchFamily="34" charset="0"/>
                <a:ea typeface="Cambria" pitchFamily="34" charset="-122"/>
                <a:cs typeface="Cambria" pitchFamily="34" charset="-120"/>
              </a:rPr>
              <a:t>Sinh hướng dẫn sử dụng phần mềm</a:t>
            </a:r>
            <a:endParaRPr lang="en-US" sz="800" dirty="0"/>
          </a:p>
        </p:txBody>
      </p:sp>
      <p:sp>
        <p:nvSpPr>
          <p:cNvPr id="31" name="Text 28"/>
          <p:cNvSpPr/>
          <p:nvPr/>
        </p:nvSpPr>
        <p:spPr>
          <a:xfrm>
            <a:off x="6126480" y="6620256"/>
            <a:ext cx="1737360" cy="237744"/>
          </a:xfrm>
          <a:prstGeom prst="rect">
            <a:avLst/>
          </a:prstGeom>
          <a:noFill/>
          <a:ln/>
        </p:spPr>
        <p:txBody>
          <a:bodyPr wrap="square" lIns="0" tIns="0" rIns="0" bIns="0" rtlCol="0" anchor="ctr"/>
          <a:lstStyle/>
          <a:p>
            <a:pPr algn="ctr" indent="0" marL="0">
              <a:buNone/>
            </a:pPr>
            <a:r>
              <a:rPr lang="en-US" sz="800" dirty="0">
                <a:solidFill>
                  <a:srgbClr val="FFFFFF"/>
                </a:solidFill>
                <a:latin typeface="Cambria" pitchFamily="34" charset="0"/>
                <a:ea typeface="Cambria" pitchFamily="34" charset="-122"/>
                <a:cs typeface="Cambria" pitchFamily="34" charset="-120"/>
              </a:rPr>
              <a:t>Lê Đoàn Phương Uyên</a:t>
            </a:r>
            <a:endParaRPr lang="en-US" sz="800" dirty="0"/>
          </a:p>
        </p:txBody>
      </p:sp>
      <p:sp>
        <p:nvSpPr>
          <p:cNvPr id="32" name="Text 29"/>
          <p:cNvSpPr/>
          <p:nvPr/>
        </p:nvSpPr>
        <p:spPr>
          <a:xfrm>
            <a:off x="7863840" y="6620256"/>
            <a:ext cx="1280160" cy="237744"/>
          </a:xfrm>
          <a:prstGeom prst="rect">
            <a:avLst/>
          </a:prstGeom>
          <a:noFill/>
          <a:ln/>
        </p:spPr>
        <p:txBody>
          <a:bodyPr wrap="square" lIns="0" tIns="0" rIns="0" bIns="0" rtlCol="0" anchor="ctr"/>
          <a:lstStyle/>
          <a:p>
            <a:pPr algn="ctr" indent="0" marL="0">
              <a:buNone/>
            </a:pPr>
            <a:r>
              <a:rPr lang="en-US" sz="800" dirty="0">
                <a:solidFill>
                  <a:srgbClr val="FFFFFF"/>
                </a:solidFill>
                <a:latin typeface="Cambria" pitchFamily="34" charset="0"/>
                <a:ea typeface="Cambria" pitchFamily="34" charset="-122"/>
                <a:cs typeface="Cambria" pitchFamily="34" charset="-120"/>
              </a:rPr>
              <a:t>12/26</a:t>
            </a:r>
            <a:endParaRPr lang="en-US" sz="8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48640"/>
          </a:xfrm>
          <a:prstGeom prst="rect">
            <a:avLst/>
          </a:prstGeom>
          <a:solidFill>
            <a:srgbClr val="322164"/>
          </a:solidFill>
          <a:ln/>
        </p:spPr>
      </p:sp>
      <p:sp>
        <p:nvSpPr>
          <p:cNvPr id="3" name="Text 1"/>
          <p:cNvSpPr/>
          <p:nvPr/>
        </p:nvSpPr>
        <p:spPr>
          <a:xfrm>
            <a:off x="201168" y="0"/>
            <a:ext cx="8741664" cy="548640"/>
          </a:xfrm>
          <a:prstGeom prst="rect">
            <a:avLst/>
          </a:prstGeom>
          <a:noFill/>
          <a:ln/>
        </p:spPr>
        <p:txBody>
          <a:bodyPr wrap="square" lIns="0" tIns="0" rIns="0" bIns="0" rtlCol="0" anchor="ctr"/>
          <a:lstStyle/>
          <a:p>
            <a:pPr algn="l" indent="0" marL="0">
              <a:buNone/>
            </a:pPr>
            <a:r>
              <a:rPr lang="en-US" sz="1900" b="1" dirty="0">
                <a:solidFill>
                  <a:srgbClr val="FFFFFF"/>
                </a:solidFill>
                <a:latin typeface="Cambria" pitchFamily="34" charset="0"/>
                <a:ea typeface="Cambria" pitchFamily="34" charset="-122"/>
                <a:cs typeface="Cambria" pitchFamily="34" charset="-120"/>
              </a:rPr>
              <a:t>3.5.  Khâu 4:  ghép thành bộ dữ liệu</a:t>
            </a:r>
            <a:endParaRPr lang="en-US" sz="1900" dirty="0"/>
          </a:p>
        </p:txBody>
      </p:sp>
      <p:sp>
        <p:nvSpPr>
          <p:cNvPr id="4" name="Shape 2"/>
          <p:cNvSpPr/>
          <p:nvPr/>
        </p:nvSpPr>
        <p:spPr>
          <a:xfrm>
            <a:off x="502920" y="1005840"/>
            <a:ext cx="3977640" cy="2011680"/>
          </a:xfrm>
          <a:prstGeom prst="roundRect">
            <a:avLst>
              <a:gd name="adj" fmla="val 2727"/>
            </a:avLst>
          </a:prstGeom>
          <a:solidFill>
            <a:srgbClr val="E9E8EC"/>
          </a:solidFill>
          <a:ln/>
          <a:effectLst>
            <a:outerShdw sx="100000" sy="100000" kx="0" ky="0" algn="bl" rotWithShape="0" blurRad="63500" dist="31750" dir="2700000">
              <a:srgbClr val="8C8C99">
                <a:alpha val="45000"/>
              </a:srgbClr>
            </a:outerShdw>
          </a:effectLst>
        </p:spPr>
      </p:sp>
      <p:sp>
        <p:nvSpPr>
          <p:cNvPr id="5" name="Text 3"/>
          <p:cNvSpPr/>
          <p:nvPr/>
        </p:nvSpPr>
        <p:spPr>
          <a:xfrm>
            <a:off x="685800" y="1133856"/>
            <a:ext cx="3657600" cy="320040"/>
          </a:xfrm>
          <a:prstGeom prst="rect">
            <a:avLst/>
          </a:prstGeom>
          <a:noFill/>
          <a:ln/>
        </p:spPr>
        <p:txBody>
          <a:bodyPr wrap="square" lIns="0" tIns="0" rIns="0" bIns="0" rtlCol="0" anchor="t"/>
          <a:lstStyle/>
          <a:p>
            <a:pPr algn="l" indent="0" marL="0">
              <a:buNone/>
            </a:pPr>
            <a:r>
              <a:rPr lang="en-US" sz="1250" b="1" dirty="0">
                <a:solidFill>
                  <a:srgbClr val="006666"/>
                </a:solidFill>
                <a:latin typeface="Cambria" pitchFamily="34" charset="0"/>
                <a:ea typeface="Cambria" pitchFamily="34" charset="-122"/>
                <a:cs typeface="Cambria" pitchFamily="34" charset="-120"/>
              </a:rPr>
              <a:t>ĐỀ BÀI  (đầu vào)</a:t>
            </a:r>
            <a:endParaRPr lang="en-US" sz="1250" dirty="0"/>
          </a:p>
        </p:txBody>
      </p:sp>
      <p:sp>
        <p:nvSpPr>
          <p:cNvPr id="6" name="Text 4"/>
          <p:cNvSpPr/>
          <p:nvPr/>
        </p:nvSpPr>
        <p:spPr>
          <a:xfrm>
            <a:off x="685800" y="1517904"/>
            <a:ext cx="3657600" cy="1371600"/>
          </a:xfrm>
          <a:prstGeom prst="rect">
            <a:avLst/>
          </a:prstGeom>
          <a:noFill/>
          <a:ln/>
        </p:spPr>
        <p:txBody>
          <a:bodyPr wrap="square" lIns="0" tIns="0" rIns="0" bIns="0" rtlCol="0" anchor="t"/>
          <a:lstStyle/>
          <a:p>
            <a:pPr algn="l" indent="0" marL="0">
              <a:lnSpc>
                <a:spcPct val="155000"/>
              </a:lnSpc>
              <a:buNone/>
            </a:pPr>
            <a:r>
              <a:rPr lang="en-US" sz="1300" dirty="0">
                <a:solidFill>
                  <a:srgbClr val="1A1A1A"/>
                </a:solidFill>
                <a:latin typeface="Cambria" pitchFamily="34" charset="0"/>
                <a:ea typeface="Cambria" pitchFamily="34" charset="-122"/>
                <a:cs typeface="Cambria" pitchFamily="34" charset="-120"/>
              </a:rPr>
              <a:t>ảnh sạch, không khoanh dấu</a:t>
            </a:r>
            <a:endParaRPr lang="en-US" sz="1300" dirty="0"/>
          </a:p>
          <a:p>
            <a:pPr algn="l" indent="0" marL="0">
              <a:lnSpc>
                <a:spcPct val="155000"/>
              </a:lnSpc>
              <a:buNone/>
            </a:pPr>
            <a:r>
              <a:rPr lang="en-US" sz="1300" dirty="0">
                <a:solidFill>
                  <a:srgbClr val="1A1A1A"/>
                </a:solidFill>
                <a:latin typeface="Cambria" pitchFamily="34" charset="0"/>
                <a:ea typeface="Cambria" pitchFamily="34" charset="-122"/>
                <a:cs typeface="Cambria" pitchFamily="34" charset="-120"/>
              </a:rPr>
              <a:t>mục tiêu của tác vụ</a:t>
            </a:r>
            <a:endParaRPr lang="en-US" sz="1300" dirty="0"/>
          </a:p>
          <a:p>
            <a:pPr algn="l" indent="0" marL="0">
              <a:lnSpc>
                <a:spcPct val="155000"/>
              </a:lnSpc>
              <a:buNone/>
            </a:pPr>
            <a:r>
              <a:rPr lang="en-US" sz="1300" dirty="0">
                <a:solidFill>
                  <a:srgbClr val="1A1A1A"/>
                </a:solidFill>
                <a:latin typeface="Cambria" pitchFamily="34" charset="0"/>
                <a:ea typeface="Cambria" pitchFamily="34" charset="-122"/>
                <a:cs typeface="Cambria" pitchFamily="34" charset="-120"/>
              </a:rPr>
              <a:t>danh sách chữ khâu 1 đọc ra</a:t>
            </a:r>
            <a:endParaRPr lang="en-US" sz="1300" dirty="0"/>
          </a:p>
        </p:txBody>
      </p:sp>
      <p:sp>
        <p:nvSpPr>
          <p:cNvPr id="7" name="Shape 5"/>
          <p:cNvSpPr/>
          <p:nvPr/>
        </p:nvSpPr>
        <p:spPr>
          <a:xfrm>
            <a:off x="4572000" y="2011680"/>
            <a:ext cx="365760" cy="0"/>
          </a:xfrm>
          <a:prstGeom prst="line">
            <a:avLst/>
          </a:prstGeom>
          <a:noFill/>
          <a:ln w="25400">
            <a:solidFill>
              <a:srgbClr val="4F417A"/>
            </a:solidFill>
            <a:prstDash val="solid"/>
            <a:tailEnd type="triangle"/>
          </a:ln>
        </p:spPr>
      </p:sp>
      <p:sp>
        <p:nvSpPr>
          <p:cNvPr id="8" name="Shape 6"/>
          <p:cNvSpPr/>
          <p:nvPr/>
        </p:nvSpPr>
        <p:spPr>
          <a:xfrm>
            <a:off x="5074920" y="1005840"/>
            <a:ext cx="3566160" cy="2011680"/>
          </a:xfrm>
          <a:prstGeom prst="roundRect">
            <a:avLst>
              <a:gd name="adj" fmla="val 2727"/>
            </a:avLst>
          </a:prstGeom>
          <a:solidFill>
            <a:srgbClr val="E9E8EC"/>
          </a:solidFill>
          <a:ln/>
          <a:effectLst>
            <a:outerShdw sx="100000" sy="100000" kx="0" ky="0" algn="bl" rotWithShape="0" blurRad="63500" dist="31750" dir="2700000">
              <a:srgbClr val="8C8C99">
                <a:alpha val="45000"/>
              </a:srgbClr>
            </a:outerShdw>
          </a:effectLst>
        </p:spPr>
      </p:sp>
      <p:sp>
        <p:nvSpPr>
          <p:cNvPr id="9" name="Text 7"/>
          <p:cNvSpPr/>
          <p:nvPr/>
        </p:nvSpPr>
        <p:spPr>
          <a:xfrm>
            <a:off x="5257800" y="1133856"/>
            <a:ext cx="3291840" cy="320040"/>
          </a:xfrm>
          <a:prstGeom prst="rect">
            <a:avLst/>
          </a:prstGeom>
          <a:noFill/>
          <a:ln/>
        </p:spPr>
        <p:txBody>
          <a:bodyPr wrap="square" lIns="0" tIns="0" rIns="0" bIns="0" rtlCol="0" anchor="t"/>
          <a:lstStyle/>
          <a:p>
            <a:pPr algn="l" indent="0" marL="0">
              <a:buNone/>
            </a:pPr>
            <a:r>
              <a:rPr lang="en-US" sz="1250" b="1" dirty="0">
                <a:solidFill>
                  <a:srgbClr val="B22222"/>
                </a:solidFill>
                <a:latin typeface="Cambria" pitchFamily="34" charset="0"/>
                <a:ea typeface="Cambria" pitchFamily="34" charset="-122"/>
                <a:cs typeface="Cambria" pitchFamily="34" charset="-120"/>
              </a:rPr>
              <a:t>ĐÁP ÁN MẪU  (phải học viết ra)</a:t>
            </a:r>
            <a:endParaRPr lang="en-US" sz="1250" dirty="0"/>
          </a:p>
        </p:txBody>
      </p:sp>
      <p:sp>
        <p:nvSpPr>
          <p:cNvPr id="10" name="Text 8"/>
          <p:cNvSpPr/>
          <p:nvPr/>
        </p:nvSpPr>
        <p:spPr>
          <a:xfrm>
            <a:off x="5257800" y="1517904"/>
            <a:ext cx="3291840" cy="914400"/>
          </a:xfrm>
          <a:prstGeom prst="rect">
            <a:avLst/>
          </a:prstGeom>
          <a:noFill/>
          <a:ln/>
        </p:spPr>
        <p:txBody>
          <a:bodyPr wrap="square" lIns="0" tIns="0" rIns="0" bIns="0" rtlCol="0" anchor="t"/>
          <a:lstStyle/>
          <a:p>
            <a:pPr algn="l" indent="0" marL="0">
              <a:lnSpc>
                <a:spcPct val="155000"/>
              </a:lnSpc>
              <a:buNone/>
            </a:pPr>
            <a:r>
              <a:rPr lang="en-US" sz="1300" dirty="0">
                <a:solidFill>
                  <a:srgbClr val="1A1A1A"/>
                </a:solidFill>
                <a:latin typeface="Cambria" pitchFamily="34" charset="0"/>
                <a:ea typeface="Cambria" pitchFamily="34" charset="-122"/>
                <a:cs typeface="Cambria" pitchFamily="34" charset="-120"/>
              </a:rPr>
              <a:t>dòng khai báo  (khâu 3)</a:t>
            </a:r>
            <a:endParaRPr lang="en-US" sz="1300" dirty="0"/>
          </a:p>
          <a:p>
            <a:pPr algn="l" indent="0" marL="0">
              <a:lnSpc>
                <a:spcPct val="155000"/>
              </a:lnSpc>
              <a:buNone/>
            </a:pPr>
            <a:r>
              <a:rPr lang="en-US" sz="1300" dirty="0">
                <a:solidFill>
                  <a:srgbClr val="1A1A1A"/>
                </a:solidFill>
                <a:latin typeface="Cambria" pitchFamily="34" charset="0"/>
                <a:ea typeface="Cambria" pitchFamily="34" charset="-122"/>
                <a:cs typeface="Cambria" pitchFamily="34" charset="-120"/>
              </a:rPr>
              <a:t>+  câu viết lại  (khâu 2)</a:t>
            </a:r>
            <a:endParaRPr lang="en-US" sz="1300" dirty="0"/>
          </a:p>
        </p:txBody>
      </p:sp>
      <p:sp>
        <p:nvSpPr>
          <p:cNvPr id="11" name="Shape 9"/>
          <p:cNvSpPr/>
          <p:nvPr/>
        </p:nvSpPr>
        <p:spPr>
          <a:xfrm>
            <a:off x="502920" y="3429000"/>
            <a:ext cx="8138160" cy="1371600"/>
          </a:xfrm>
          <a:prstGeom prst="roundRect">
            <a:avLst>
              <a:gd name="adj" fmla="val 4000"/>
            </a:avLst>
          </a:prstGeom>
          <a:solidFill>
            <a:srgbClr val="E9E8EC"/>
          </a:solidFill>
          <a:ln/>
          <a:effectLst>
            <a:outerShdw sx="100000" sy="100000" kx="0" ky="0" algn="bl" rotWithShape="0" blurRad="63500" dist="31750" dir="2700000">
              <a:srgbClr val="8C8C99">
                <a:alpha val="45000"/>
              </a:srgbClr>
            </a:outerShdw>
          </a:effectLst>
        </p:spPr>
      </p:sp>
      <p:sp>
        <p:nvSpPr>
          <p:cNvPr id="12" name="Text 10"/>
          <p:cNvSpPr/>
          <p:nvPr/>
        </p:nvSpPr>
        <p:spPr>
          <a:xfrm>
            <a:off x="704088" y="3429000"/>
            <a:ext cx="7735824" cy="1371600"/>
          </a:xfrm>
          <a:prstGeom prst="rect">
            <a:avLst/>
          </a:prstGeom>
          <a:noFill/>
          <a:ln/>
        </p:spPr>
        <p:txBody>
          <a:bodyPr wrap="square" lIns="0" tIns="0" rIns="0" bIns="0" rtlCol="0" anchor="ctr"/>
          <a:lstStyle/>
          <a:p>
            <a:pPr algn="l" indent="0" marL="0">
              <a:lnSpc>
                <a:spcPct val="140000"/>
              </a:lnSpc>
              <a:buNone/>
            </a:pPr>
            <a:r>
              <a:rPr lang="en-US" sz="1450" dirty="0">
                <a:solidFill>
                  <a:srgbClr val="1A1A1A"/>
                </a:solidFill>
                <a:latin typeface="Cambria" pitchFamily="34" charset="0"/>
                <a:ea typeface="Cambria" pitchFamily="34" charset="-122"/>
                <a:cs typeface="Cambria" pitchFamily="34" charset="-120"/>
              </a:rPr>
              <a:t>Chỉ ghép nhãn, chưa mô hình nào sinh gì</a:t>
            </a:r>
            <a:endParaRPr lang="en-US" sz="1450" dirty="0"/>
          </a:p>
          <a:p>
            <a:pPr algn="l" indent="0" marL="0">
              <a:lnSpc>
                <a:spcPct val="140000"/>
              </a:lnSpc>
              <a:buNone/>
            </a:pPr>
            <a:r>
              <a:rPr lang="en-US" sz="1450" dirty="0">
                <a:solidFill>
                  <a:srgbClr val="1A1A1A"/>
                </a:solidFill>
                <a:latin typeface="Cambria" pitchFamily="34" charset="0"/>
                <a:ea typeface="Cambria" pitchFamily="34" charset="-122"/>
                <a:cs typeface="Cambria" pitchFamily="34" charset="-120"/>
              </a:rPr>
              <a:t>Dòng khai báo nằm bên đáp án - lúc chạy, mô hình phải tự viết ra</a:t>
            </a:r>
            <a:endParaRPr lang="en-US" sz="1450" dirty="0"/>
          </a:p>
        </p:txBody>
      </p:sp>
      <p:sp>
        <p:nvSpPr>
          <p:cNvPr id="14" name="Shape 11"/>
          <p:cNvSpPr/>
          <p:nvPr/>
        </p:nvSpPr>
        <p:spPr>
          <a:xfrm>
            <a:off x="0" y="6620256"/>
            <a:ext cx="2743200" cy="237744"/>
          </a:xfrm>
          <a:prstGeom prst="rect">
            <a:avLst/>
          </a:prstGeom>
          <a:solidFill>
            <a:srgbClr val="191132"/>
          </a:solidFill>
          <a:ln/>
        </p:spPr>
      </p:sp>
      <p:sp>
        <p:nvSpPr>
          <p:cNvPr id="15" name="Shape 12"/>
          <p:cNvSpPr/>
          <p:nvPr/>
        </p:nvSpPr>
        <p:spPr>
          <a:xfrm>
            <a:off x="2743200" y="6620256"/>
            <a:ext cx="3383280" cy="237744"/>
          </a:xfrm>
          <a:prstGeom prst="rect">
            <a:avLst/>
          </a:prstGeom>
          <a:solidFill>
            <a:srgbClr val="25194B"/>
          </a:solidFill>
          <a:ln/>
        </p:spPr>
      </p:sp>
      <p:sp>
        <p:nvSpPr>
          <p:cNvPr id="16" name="Shape 13"/>
          <p:cNvSpPr/>
          <p:nvPr/>
        </p:nvSpPr>
        <p:spPr>
          <a:xfrm>
            <a:off x="6126480" y="6620256"/>
            <a:ext cx="1737360" cy="237744"/>
          </a:xfrm>
          <a:prstGeom prst="rect">
            <a:avLst/>
          </a:prstGeom>
          <a:solidFill>
            <a:srgbClr val="4F417A"/>
          </a:solidFill>
          <a:ln/>
        </p:spPr>
      </p:sp>
      <p:sp>
        <p:nvSpPr>
          <p:cNvPr id="17" name="Shape 14"/>
          <p:cNvSpPr/>
          <p:nvPr/>
        </p:nvSpPr>
        <p:spPr>
          <a:xfrm>
            <a:off x="7863840" y="6620256"/>
            <a:ext cx="1280160" cy="237744"/>
          </a:xfrm>
          <a:prstGeom prst="rect">
            <a:avLst/>
          </a:prstGeom>
          <a:solidFill>
            <a:srgbClr val="7A7099"/>
          </a:solidFill>
          <a:ln/>
        </p:spPr>
      </p:sp>
      <p:sp>
        <p:nvSpPr>
          <p:cNvPr id="18" name="Text 15"/>
          <p:cNvSpPr/>
          <p:nvPr/>
        </p:nvSpPr>
        <p:spPr>
          <a:xfrm>
            <a:off x="0" y="6620256"/>
            <a:ext cx="2743200" cy="237744"/>
          </a:xfrm>
          <a:prstGeom prst="rect">
            <a:avLst/>
          </a:prstGeom>
          <a:noFill/>
          <a:ln/>
        </p:spPr>
        <p:txBody>
          <a:bodyPr wrap="square" lIns="0" tIns="0" rIns="0" bIns="0" rtlCol="0" anchor="ctr"/>
          <a:lstStyle/>
          <a:p>
            <a:pPr algn="ctr" indent="0" marL="0">
              <a:buNone/>
            </a:pPr>
            <a:r>
              <a:rPr lang="en-US" sz="800" dirty="0">
                <a:solidFill>
                  <a:srgbClr val="FFFFFF"/>
                </a:solidFill>
                <a:latin typeface="Consolas" pitchFamily="34" charset="0"/>
                <a:ea typeface="Consolas" pitchFamily="34" charset="-122"/>
                <a:cs typeface="Consolas" pitchFamily="34" charset="-120"/>
              </a:rPr>
              <a:t>luận văn thạc sĩ</a:t>
            </a:r>
            <a:endParaRPr lang="en-US" sz="800" dirty="0"/>
          </a:p>
        </p:txBody>
      </p:sp>
      <p:sp>
        <p:nvSpPr>
          <p:cNvPr id="19" name="Text 16"/>
          <p:cNvSpPr/>
          <p:nvPr/>
        </p:nvSpPr>
        <p:spPr>
          <a:xfrm>
            <a:off x="2743200" y="6620256"/>
            <a:ext cx="3383280" cy="237744"/>
          </a:xfrm>
          <a:prstGeom prst="rect">
            <a:avLst/>
          </a:prstGeom>
          <a:noFill/>
          <a:ln/>
        </p:spPr>
        <p:txBody>
          <a:bodyPr wrap="square" lIns="0" tIns="0" rIns="0" bIns="0" rtlCol="0" anchor="ctr"/>
          <a:lstStyle/>
          <a:p>
            <a:pPr algn="ctr" indent="0" marL="0">
              <a:buNone/>
            </a:pPr>
            <a:r>
              <a:rPr lang="en-US" sz="800" dirty="0">
                <a:solidFill>
                  <a:srgbClr val="FFFFFF"/>
                </a:solidFill>
                <a:latin typeface="Cambria" pitchFamily="34" charset="0"/>
                <a:ea typeface="Cambria" pitchFamily="34" charset="-122"/>
                <a:cs typeface="Cambria" pitchFamily="34" charset="-120"/>
              </a:rPr>
              <a:t>Sinh hướng dẫn sử dụng phần mềm</a:t>
            </a:r>
            <a:endParaRPr lang="en-US" sz="800" dirty="0"/>
          </a:p>
        </p:txBody>
      </p:sp>
      <p:sp>
        <p:nvSpPr>
          <p:cNvPr id="20" name="Text 17"/>
          <p:cNvSpPr/>
          <p:nvPr/>
        </p:nvSpPr>
        <p:spPr>
          <a:xfrm>
            <a:off x="6126480" y="6620256"/>
            <a:ext cx="1737360" cy="237744"/>
          </a:xfrm>
          <a:prstGeom prst="rect">
            <a:avLst/>
          </a:prstGeom>
          <a:noFill/>
          <a:ln/>
        </p:spPr>
        <p:txBody>
          <a:bodyPr wrap="square" lIns="0" tIns="0" rIns="0" bIns="0" rtlCol="0" anchor="ctr"/>
          <a:lstStyle/>
          <a:p>
            <a:pPr algn="ctr" indent="0" marL="0">
              <a:buNone/>
            </a:pPr>
            <a:r>
              <a:rPr lang="en-US" sz="800" dirty="0">
                <a:solidFill>
                  <a:srgbClr val="FFFFFF"/>
                </a:solidFill>
                <a:latin typeface="Cambria" pitchFamily="34" charset="0"/>
                <a:ea typeface="Cambria" pitchFamily="34" charset="-122"/>
                <a:cs typeface="Cambria" pitchFamily="34" charset="-120"/>
              </a:rPr>
              <a:t>Lê Đoàn Phương Uyên</a:t>
            </a:r>
            <a:endParaRPr lang="en-US" sz="800" dirty="0"/>
          </a:p>
        </p:txBody>
      </p:sp>
      <p:sp>
        <p:nvSpPr>
          <p:cNvPr id="21" name="Text 18"/>
          <p:cNvSpPr/>
          <p:nvPr/>
        </p:nvSpPr>
        <p:spPr>
          <a:xfrm>
            <a:off x="7863840" y="6620256"/>
            <a:ext cx="1280160" cy="237744"/>
          </a:xfrm>
          <a:prstGeom prst="rect">
            <a:avLst/>
          </a:prstGeom>
          <a:noFill/>
          <a:ln/>
        </p:spPr>
        <p:txBody>
          <a:bodyPr wrap="square" lIns="0" tIns="0" rIns="0" bIns="0" rtlCol="0" anchor="ctr"/>
          <a:lstStyle/>
          <a:p>
            <a:pPr algn="ctr" indent="0" marL="0">
              <a:buNone/>
            </a:pPr>
            <a:r>
              <a:rPr lang="en-US" sz="800" dirty="0">
                <a:solidFill>
                  <a:srgbClr val="FFFFFF"/>
                </a:solidFill>
                <a:latin typeface="Cambria" pitchFamily="34" charset="0"/>
                <a:ea typeface="Cambria" pitchFamily="34" charset="-122"/>
                <a:cs typeface="Cambria" pitchFamily="34" charset="-120"/>
              </a:rPr>
              <a:t>13/26</a:t>
            </a:r>
            <a:endParaRPr lang="en-US" sz="8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48640"/>
          </a:xfrm>
          <a:prstGeom prst="rect">
            <a:avLst/>
          </a:prstGeom>
          <a:solidFill>
            <a:srgbClr val="322164"/>
          </a:solidFill>
          <a:ln/>
        </p:spPr>
      </p:sp>
      <p:sp>
        <p:nvSpPr>
          <p:cNvPr id="3" name="Text 1"/>
          <p:cNvSpPr/>
          <p:nvPr/>
        </p:nvSpPr>
        <p:spPr>
          <a:xfrm>
            <a:off x="201168" y="0"/>
            <a:ext cx="8741664" cy="548640"/>
          </a:xfrm>
          <a:prstGeom prst="rect">
            <a:avLst/>
          </a:prstGeom>
          <a:noFill/>
          <a:ln/>
        </p:spPr>
        <p:txBody>
          <a:bodyPr wrap="square" lIns="0" tIns="0" rIns="0" bIns="0" rtlCol="0" anchor="ctr"/>
          <a:lstStyle/>
          <a:p>
            <a:pPr algn="l" indent="0" marL="0">
              <a:buNone/>
            </a:pPr>
            <a:r>
              <a:rPr lang="en-US" sz="1900" b="1" dirty="0">
                <a:solidFill>
                  <a:srgbClr val="FFFFFF"/>
                </a:solidFill>
                <a:latin typeface="Cambria" pitchFamily="34" charset="0"/>
                <a:ea typeface="Cambria" pitchFamily="34" charset="-122"/>
                <a:cs typeface="Cambria" pitchFamily="34" charset="-120"/>
              </a:rPr>
              <a:t>3.6.  Một bước thật trong bộ dữ liệu, đi hết pipeline</a:t>
            </a:r>
            <a:endParaRPr lang="en-US" sz="1900" dirty="0"/>
          </a:p>
        </p:txBody>
      </p:sp>
      <p:sp>
        <p:nvSpPr>
          <p:cNvPr id="4" name="Shape 2"/>
          <p:cNvSpPr/>
          <p:nvPr/>
        </p:nvSpPr>
        <p:spPr>
          <a:xfrm>
            <a:off x="502920" y="914400"/>
            <a:ext cx="8138160" cy="1298448"/>
          </a:xfrm>
          <a:prstGeom prst="roundRect">
            <a:avLst>
              <a:gd name="adj" fmla="val 4225"/>
            </a:avLst>
          </a:prstGeom>
          <a:solidFill>
            <a:srgbClr val="E9E8EC"/>
          </a:solidFill>
          <a:ln/>
          <a:effectLst>
            <a:outerShdw sx="100000" sy="100000" kx="0" ky="0" algn="bl" rotWithShape="0" blurRad="63500" dist="31750" dir="2700000">
              <a:srgbClr val="8C8C99">
                <a:alpha val="45000"/>
              </a:srgbClr>
            </a:outerShdw>
          </a:effectLst>
        </p:spPr>
      </p:sp>
      <p:sp>
        <p:nvSpPr>
          <p:cNvPr id="5" name="Text 3"/>
          <p:cNvSpPr/>
          <p:nvPr/>
        </p:nvSpPr>
        <p:spPr>
          <a:xfrm>
            <a:off x="704088" y="914400"/>
            <a:ext cx="7735824" cy="1298448"/>
          </a:xfrm>
          <a:prstGeom prst="rect">
            <a:avLst/>
          </a:prstGeom>
          <a:noFill/>
          <a:ln/>
        </p:spPr>
        <p:txBody>
          <a:bodyPr wrap="square" lIns="0" tIns="0" rIns="0" bIns="0" rtlCol="0" anchor="ctr"/>
          <a:lstStyle/>
          <a:p>
            <a:pPr algn="l" indent="0" marL="0">
              <a:lnSpc>
                <a:spcPct val="140000"/>
              </a:lnSpc>
              <a:buNone/>
            </a:pPr>
            <a:r>
              <a:rPr lang="en-US" sz="1350" b="1" dirty="0">
                <a:solidFill>
                  <a:srgbClr val="006666"/>
                </a:solidFill>
                <a:latin typeface="Cambria" pitchFamily="34" charset="0"/>
                <a:ea typeface="Cambria" pitchFamily="34" charset="-122"/>
                <a:cs typeface="Cambria" pitchFamily="34" charset="-120"/>
              </a:rPr>
              <a:t>Có sẵn trong dữ liệu
</a:t>
            </a:r>
            <a:pPr algn="l" indent="0" marL="0">
              <a:lnSpc>
                <a:spcPct val="140000"/>
              </a:lnSpc>
              <a:buNone/>
            </a:pPr>
            <a:r>
              <a:rPr lang="en-US" sz="1350" dirty="0">
                <a:solidFill>
                  <a:srgbClr val="1A1A1A"/>
                </a:solidFill>
                <a:latin typeface="Cambria" pitchFamily="34" charset="0"/>
                <a:ea typeface="Cambria" pitchFamily="34" charset="-122"/>
                <a:cs typeface="Cambria" pitchFamily="34" charset="-120"/>
              </a:rPr>
              <a:t>Tác vụ: tìm áo thun đen trong app Zalando</a:t>
            </a:r>
            <a:endParaRPr lang="en-US" sz="1350" dirty="0"/>
          </a:p>
          <a:p>
            <a:pPr algn="l" indent="0" marL="0">
              <a:lnSpc>
                <a:spcPct val="140000"/>
              </a:lnSpc>
              <a:buNone/>
            </a:pPr>
            <a:r>
              <a:rPr lang="en-US" sz="1350" dirty="0">
                <a:solidFill>
                  <a:srgbClr val="1A1A1A"/>
                </a:solidFill>
                <a:latin typeface="Cambria" pitchFamily="34" charset="0"/>
                <a:ea typeface="Cambria" pitchFamily="34" charset="-122"/>
                <a:cs typeface="Cambria" pitchFamily="34" charset="-120"/>
              </a:rPr>
              <a:t>Người dùng chạm điểm (499, 545) trên ảnh 1080 × 2400</a:t>
            </a:r>
            <a:endParaRPr lang="en-US" sz="1350" dirty="0"/>
          </a:p>
          <a:p>
            <a:pPr algn="l" indent="0" marL="0">
              <a:lnSpc>
                <a:spcPct val="140000"/>
              </a:lnSpc>
              <a:buNone/>
            </a:pPr>
            <a:r>
              <a:rPr lang="en-US" sz="1350" dirty="0">
                <a:solidFill>
                  <a:srgbClr val="1A1A1A"/>
                </a:solidFill>
                <a:latin typeface="Cambria" pitchFamily="34" charset="0"/>
                <a:ea typeface="Cambria" pitchFamily="34" charset="-122"/>
                <a:cs typeface="Cambria" pitchFamily="34" charset="-120"/>
              </a:rPr>
              <a:t>Câu người đó viết:  “Tap on the colour filter”</a:t>
            </a:r>
            <a:endParaRPr lang="en-US" sz="1350" dirty="0"/>
          </a:p>
        </p:txBody>
      </p:sp>
      <p:sp>
        <p:nvSpPr>
          <p:cNvPr id="6" name="Shape 4"/>
          <p:cNvSpPr/>
          <p:nvPr/>
        </p:nvSpPr>
        <p:spPr>
          <a:xfrm>
            <a:off x="502920" y="2350008"/>
            <a:ext cx="8138160" cy="1298448"/>
          </a:xfrm>
          <a:prstGeom prst="roundRect">
            <a:avLst>
              <a:gd name="adj" fmla="val 4225"/>
            </a:avLst>
          </a:prstGeom>
          <a:solidFill>
            <a:srgbClr val="E9E8EC"/>
          </a:solidFill>
          <a:ln/>
          <a:effectLst>
            <a:outerShdw sx="100000" sy="100000" kx="0" ky="0" algn="bl" rotWithShape="0" blurRad="63500" dist="31750" dir="2700000">
              <a:srgbClr val="8C8C99">
                <a:alpha val="45000"/>
              </a:srgbClr>
            </a:outerShdw>
          </a:effectLst>
        </p:spPr>
      </p:sp>
      <p:sp>
        <p:nvSpPr>
          <p:cNvPr id="7" name="Text 5"/>
          <p:cNvSpPr/>
          <p:nvPr/>
        </p:nvSpPr>
        <p:spPr>
          <a:xfrm>
            <a:off x="704088" y="2350008"/>
            <a:ext cx="7735824" cy="1298448"/>
          </a:xfrm>
          <a:prstGeom prst="rect">
            <a:avLst/>
          </a:prstGeom>
          <a:noFill/>
          <a:ln/>
        </p:spPr>
        <p:txBody>
          <a:bodyPr wrap="square" lIns="0" tIns="0" rIns="0" bIns="0" rtlCol="0" anchor="ctr"/>
          <a:lstStyle/>
          <a:p>
            <a:pPr algn="l" indent="0" marL="0">
              <a:lnSpc>
                <a:spcPct val="140000"/>
              </a:lnSpc>
              <a:buNone/>
            </a:pPr>
            <a:r>
              <a:rPr lang="en-US" sz="1350" b="1" dirty="0">
                <a:solidFill>
                  <a:srgbClr val="006666"/>
                </a:solidFill>
                <a:latin typeface="Cambria" pitchFamily="34" charset="0"/>
                <a:ea typeface="Cambria" pitchFamily="34" charset="-122"/>
                <a:cs typeface="Cambria" pitchFamily="34" charset="-120"/>
              </a:rPr>
              <a:t>Khâu 1-3 dựng thêm
</a:t>
            </a:r>
            <a:pPr algn="l" indent="0" marL="0">
              <a:lnSpc>
                <a:spcPct val="140000"/>
              </a:lnSpc>
              <a:buNone/>
            </a:pPr>
            <a:r>
              <a:rPr lang="en-US" sz="1350" dirty="0">
                <a:solidFill>
                  <a:srgbClr val="1A1A1A"/>
                </a:solidFill>
                <a:latin typeface="Cambria" pitchFamily="34" charset="0"/>
                <a:ea typeface="Cambria" pitchFamily="34" charset="-122"/>
                <a:cs typeface="Cambria" pitchFamily="34" charset="-120"/>
              </a:rPr>
              <a:t>Cây trợ năng: hộp nhỏ nhất chứa điểm chạm = [435,514] - [565,577]</a:t>
            </a:r>
            <a:endParaRPr lang="en-US" sz="1350" dirty="0"/>
          </a:p>
          <a:p>
            <a:pPr algn="l" indent="0" marL="0">
              <a:lnSpc>
                <a:spcPct val="140000"/>
              </a:lnSpc>
              <a:buNone/>
            </a:pPr>
            <a:r>
              <a:rPr lang="en-US" sz="1350" dirty="0">
                <a:solidFill>
                  <a:srgbClr val="1A1A1A"/>
                </a:solidFill>
                <a:latin typeface="Cambria" pitchFamily="34" charset="0"/>
                <a:ea typeface="Cambria" pitchFamily="34" charset="-122"/>
                <a:cs typeface="Cambria" pitchFamily="34" charset="-120"/>
              </a:rPr>
              <a:t>loại “chữ bấm được”, trên màn có 19 phần tử cùng loại</a:t>
            </a:r>
            <a:endParaRPr lang="en-US" sz="1350" dirty="0"/>
          </a:p>
          <a:p>
            <a:pPr algn="l" indent="0" marL="0">
              <a:lnSpc>
                <a:spcPct val="140000"/>
              </a:lnSpc>
              <a:buNone/>
            </a:pPr>
            <a:r>
              <a:rPr lang="en-US" sz="1350" dirty="0">
                <a:solidFill>
                  <a:srgbClr val="1A1A1A"/>
                </a:solidFill>
                <a:latin typeface="Cambria" pitchFamily="34" charset="0"/>
                <a:ea typeface="Cambria" pitchFamily="34" charset="-122"/>
                <a:cs typeface="Cambria" pitchFamily="34" charset="-120"/>
              </a:rPr>
              <a:t>OCR đọc chữ trong hộp:  “Colour”   (cây trợ năng không ghi tên)</a:t>
            </a:r>
            <a:endParaRPr lang="en-US" sz="1350" dirty="0"/>
          </a:p>
        </p:txBody>
      </p:sp>
      <p:sp>
        <p:nvSpPr>
          <p:cNvPr id="8" name="Shape 6"/>
          <p:cNvSpPr/>
          <p:nvPr/>
        </p:nvSpPr>
        <p:spPr>
          <a:xfrm>
            <a:off x="502920" y="3785616"/>
            <a:ext cx="8138160" cy="1371600"/>
          </a:xfrm>
          <a:prstGeom prst="roundRect">
            <a:avLst>
              <a:gd name="adj" fmla="val 4000"/>
            </a:avLst>
          </a:prstGeom>
          <a:solidFill>
            <a:srgbClr val="E9E8EC"/>
          </a:solidFill>
          <a:ln/>
          <a:effectLst>
            <a:outerShdw sx="100000" sy="100000" kx="0" ky="0" algn="bl" rotWithShape="0" blurRad="63500" dist="31750" dir="2700000">
              <a:srgbClr val="8C8C99">
                <a:alpha val="45000"/>
              </a:srgbClr>
            </a:outerShdw>
          </a:effectLst>
        </p:spPr>
      </p:sp>
      <p:sp>
        <p:nvSpPr>
          <p:cNvPr id="9" name="Text 7"/>
          <p:cNvSpPr/>
          <p:nvPr/>
        </p:nvSpPr>
        <p:spPr>
          <a:xfrm>
            <a:off x="704088" y="3877056"/>
            <a:ext cx="2743200" cy="320040"/>
          </a:xfrm>
          <a:prstGeom prst="rect">
            <a:avLst/>
          </a:prstGeom>
          <a:noFill/>
          <a:ln/>
        </p:spPr>
        <p:txBody>
          <a:bodyPr wrap="square" lIns="0" tIns="0" rIns="0" bIns="0" rtlCol="0" anchor="t"/>
          <a:lstStyle/>
          <a:p>
            <a:pPr algn="l" indent="0" marL="0">
              <a:buNone/>
            </a:pPr>
            <a:r>
              <a:rPr lang="en-US" sz="1300" b="1" dirty="0">
                <a:solidFill>
                  <a:srgbClr val="B22222"/>
                </a:solidFill>
                <a:latin typeface="Cambria" pitchFamily="34" charset="0"/>
                <a:ea typeface="Cambria" pitchFamily="34" charset="-122"/>
                <a:cs typeface="Cambria" pitchFamily="34" charset="-120"/>
              </a:rPr>
              <a:t>Nhãn dạy dựng ra</a:t>
            </a:r>
            <a:endParaRPr lang="en-US" sz="1300" dirty="0"/>
          </a:p>
        </p:txBody>
      </p:sp>
      <p:sp>
        <p:nvSpPr>
          <p:cNvPr id="10" name="Text 8"/>
          <p:cNvSpPr/>
          <p:nvPr/>
        </p:nvSpPr>
        <p:spPr>
          <a:xfrm>
            <a:off x="777240" y="4224528"/>
            <a:ext cx="7589520" cy="868680"/>
          </a:xfrm>
          <a:prstGeom prst="rect">
            <a:avLst/>
          </a:prstGeom>
          <a:noFill/>
          <a:ln/>
        </p:spPr>
        <p:txBody>
          <a:bodyPr wrap="square" lIns="0" tIns="0" rIns="0" bIns="0" rtlCol="0" anchor="t"/>
          <a:lstStyle/>
          <a:p>
            <a:pPr algn="l" indent="0" marL="0">
              <a:lnSpc>
                <a:spcPct val="140000"/>
              </a:lnSpc>
              <a:buNone/>
            </a:pPr>
            <a:r>
              <a:rPr lang="en-US" sz="1150" dirty="0">
                <a:solidFill>
                  <a:srgbClr val="1A1A1A"/>
                </a:solidFill>
                <a:latin typeface="Consolas" pitchFamily="34" charset="0"/>
                <a:ea typeface="Consolas" pitchFamily="34" charset="-122"/>
                <a:cs typeface="Consolas" pitchFamily="34" charset="-120"/>
              </a:rPr>
              <a:t>&lt;desc&gt;chữ bấm được | "Colour" | &lt;point&gt;499,545&lt;/point&gt;</a:t>
            </a:r>
            <a:endParaRPr lang="en-US" sz="1150" dirty="0"/>
          </a:p>
          <a:p>
            <a:pPr algn="l" indent="0" marL="0">
              <a:lnSpc>
                <a:spcPct val="140000"/>
              </a:lnSpc>
              <a:buNone/>
            </a:pPr>
            <a:r>
              <a:rPr lang="en-US" sz="1150" dirty="0">
                <a:solidFill>
                  <a:srgbClr val="1A1A1A"/>
                </a:solidFill>
                <a:latin typeface="Consolas" pitchFamily="34" charset="0"/>
                <a:ea typeface="Consolas" pitchFamily="34" charset="-122"/>
                <a:cs typeface="Consolas" pitchFamily="34" charset="-120"/>
              </a:rPr>
              <a:t>      | 1 trong 19 phần tử cùng loại&lt;/desc&gt;</a:t>
            </a:r>
            <a:endParaRPr lang="en-US" sz="1150" dirty="0"/>
          </a:p>
          <a:p>
            <a:pPr algn="l" indent="0" marL="0">
              <a:lnSpc>
                <a:spcPct val="140000"/>
              </a:lnSpc>
              <a:buNone/>
            </a:pPr>
            <a:r>
              <a:rPr lang="en-US" sz="1150" dirty="0">
                <a:solidFill>
                  <a:srgbClr val="1A1A1A"/>
                </a:solidFill>
                <a:latin typeface="Consolas" pitchFamily="34" charset="0"/>
                <a:ea typeface="Consolas" pitchFamily="34" charset="-122"/>
                <a:cs typeface="Consolas" pitchFamily="34" charset="-120"/>
              </a:rPr>
              <a:t>Tap on the colour filter</a:t>
            </a:r>
            <a:endParaRPr lang="en-US" sz="1150" dirty="0"/>
          </a:p>
        </p:txBody>
      </p:sp>
      <p:sp>
        <p:nvSpPr>
          <p:cNvPr id="11" name="Text 9"/>
          <p:cNvSpPr/>
          <p:nvPr/>
        </p:nvSpPr>
        <p:spPr>
          <a:xfrm>
            <a:off x="502920" y="5349240"/>
            <a:ext cx="8138160" cy="457200"/>
          </a:xfrm>
          <a:prstGeom prst="rect">
            <a:avLst/>
          </a:prstGeom>
          <a:noFill/>
          <a:ln/>
        </p:spPr>
        <p:txBody>
          <a:bodyPr wrap="square" lIns="0" tIns="0" rIns="0" bIns="0" rtlCol="0" anchor="t"/>
          <a:lstStyle/>
          <a:p>
            <a:pPr algn="l" indent="0" marL="0">
              <a:buNone/>
            </a:pPr>
            <a:r>
              <a:rPr lang="en-US" sz="1300" i="1" dirty="0">
                <a:solidFill>
                  <a:srgbClr val="990000"/>
                </a:solidFill>
                <a:latin typeface="Cambria" pitchFamily="34" charset="0"/>
                <a:ea typeface="Cambria" pitchFamily="34" charset="-122"/>
                <a:cs typeface="Cambria" pitchFamily="34" charset="-120"/>
              </a:rPr>
              <a:t>Toàn bộ dựng tự động - không dán nhãn tay</a:t>
            </a:r>
            <a:endParaRPr lang="en-US" sz="1300" dirty="0"/>
          </a:p>
        </p:txBody>
      </p:sp>
      <p:sp>
        <p:nvSpPr>
          <p:cNvPr id="13" name="Shape 10"/>
          <p:cNvSpPr/>
          <p:nvPr/>
        </p:nvSpPr>
        <p:spPr>
          <a:xfrm>
            <a:off x="0" y="6620256"/>
            <a:ext cx="2743200" cy="237744"/>
          </a:xfrm>
          <a:prstGeom prst="rect">
            <a:avLst/>
          </a:prstGeom>
          <a:solidFill>
            <a:srgbClr val="191132"/>
          </a:solidFill>
          <a:ln/>
        </p:spPr>
      </p:sp>
      <p:sp>
        <p:nvSpPr>
          <p:cNvPr id="14" name="Shape 11"/>
          <p:cNvSpPr/>
          <p:nvPr/>
        </p:nvSpPr>
        <p:spPr>
          <a:xfrm>
            <a:off x="2743200" y="6620256"/>
            <a:ext cx="3383280" cy="237744"/>
          </a:xfrm>
          <a:prstGeom prst="rect">
            <a:avLst/>
          </a:prstGeom>
          <a:solidFill>
            <a:srgbClr val="25194B"/>
          </a:solidFill>
          <a:ln/>
        </p:spPr>
      </p:sp>
      <p:sp>
        <p:nvSpPr>
          <p:cNvPr id="15" name="Shape 12"/>
          <p:cNvSpPr/>
          <p:nvPr/>
        </p:nvSpPr>
        <p:spPr>
          <a:xfrm>
            <a:off x="6126480" y="6620256"/>
            <a:ext cx="1737360" cy="237744"/>
          </a:xfrm>
          <a:prstGeom prst="rect">
            <a:avLst/>
          </a:prstGeom>
          <a:solidFill>
            <a:srgbClr val="4F417A"/>
          </a:solidFill>
          <a:ln/>
        </p:spPr>
      </p:sp>
      <p:sp>
        <p:nvSpPr>
          <p:cNvPr id="16" name="Shape 13"/>
          <p:cNvSpPr/>
          <p:nvPr/>
        </p:nvSpPr>
        <p:spPr>
          <a:xfrm>
            <a:off x="7863840" y="6620256"/>
            <a:ext cx="1280160" cy="237744"/>
          </a:xfrm>
          <a:prstGeom prst="rect">
            <a:avLst/>
          </a:prstGeom>
          <a:solidFill>
            <a:srgbClr val="7A7099"/>
          </a:solidFill>
          <a:ln/>
        </p:spPr>
      </p:sp>
      <p:sp>
        <p:nvSpPr>
          <p:cNvPr id="17" name="Text 14"/>
          <p:cNvSpPr/>
          <p:nvPr/>
        </p:nvSpPr>
        <p:spPr>
          <a:xfrm>
            <a:off x="0" y="6620256"/>
            <a:ext cx="2743200" cy="237744"/>
          </a:xfrm>
          <a:prstGeom prst="rect">
            <a:avLst/>
          </a:prstGeom>
          <a:noFill/>
          <a:ln/>
        </p:spPr>
        <p:txBody>
          <a:bodyPr wrap="square" lIns="0" tIns="0" rIns="0" bIns="0" rtlCol="0" anchor="ctr"/>
          <a:lstStyle/>
          <a:p>
            <a:pPr algn="ctr" indent="0" marL="0">
              <a:buNone/>
            </a:pPr>
            <a:r>
              <a:rPr lang="en-US" sz="800" dirty="0">
                <a:solidFill>
                  <a:srgbClr val="FFFFFF"/>
                </a:solidFill>
                <a:latin typeface="Consolas" pitchFamily="34" charset="0"/>
                <a:ea typeface="Consolas" pitchFamily="34" charset="-122"/>
                <a:cs typeface="Consolas" pitchFamily="34" charset="-120"/>
              </a:rPr>
              <a:t>luận văn thạc sĩ</a:t>
            </a:r>
            <a:endParaRPr lang="en-US" sz="800" dirty="0"/>
          </a:p>
        </p:txBody>
      </p:sp>
      <p:sp>
        <p:nvSpPr>
          <p:cNvPr id="18" name="Text 15"/>
          <p:cNvSpPr/>
          <p:nvPr/>
        </p:nvSpPr>
        <p:spPr>
          <a:xfrm>
            <a:off x="2743200" y="6620256"/>
            <a:ext cx="3383280" cy="237744"/>
          </a:xfrm>
          <a:prstGeom prst="rect">
            <a:avLst/>
          </a:prstGeom>
          <a:noFill/>
          <a:ln/>
        </p:spPr>
        <p:txBody>
          <a:bodyPr wrap="square" lIns="0" tIns="0" rIns="0" bIns="0" rtlCol="0" anchor="ctr"/>
          <a:lstStyle/>
          <a:p>
            <a:pPr algn="ctr" indent="0" marL="0">
              <a:buNone/>
            </a:pPr>
            <a:r>
              <a:rPr lang="en-US" sz="800" dirty="0">
                <a:solidFill>
                  <a:srgbClr val="FFFFFF"/>
                </a:solidFill>
                <a:latin typeface="Cambria" pitchFamily="34" charset="0"/>
                <a:ea typeface="Cambria" pitchFamily="34" charset="-122"/>
                <a:cs typeface="Cambria" pitchFamily="34" charset="-120"/>
              </a:rPr>
              <a:t>Sinh hướng dẫn sử dụng phần mềm</a:t>
            </a:r>
            <a:endParaRPr lang="en-US" sz="800" dirty="0"/>
          </a:p>
        </p:txBody>
      </p:sp>
      <p:sp>
        <p:nvSpPr>
          <p:cNvPr id="19" name="Text 16"/>
          <p:cNvSpPr/>
          <p:nvPr/>
        </p:nvSpPr>
        <p:spPr>
          <a:xfrm>
            <a:off x="6126480" y="6620256"/>
            <a:ext cx="1737360" cy="237744"/>
          </a:xfrm>
          <a:prstGeom prst="rect">
            <a:avLst/>
          </a:prstGeom>
          <a:noFill/>
          <a:ln/>
        </p:spPr>
        <p:txBody>
          <a:bodyPr wrap="square" lIns="0" tIns="0" rIns="0" bIns="0" rtlCol="0" anchor="ctr"/>
          <a:lstStyle/>
          <a:p>
            <a:pPr algn="ctr" indent="0" marL="0">
              <a:buNone/>
            </a:pPr>
            <a:r>
              <a:rPr lang="en-US" sz="800" dirty="0">
                <a:solidFill>
                  <a:srgbClr val="FFFFFF"/>
                </a:solidFill>
                <a:latin typeface="Cambria" pitchFamily="34" charset="0"/>
                <a:ea typeface="Cambria" pitchFamily="34" charset="-122"/>
                <a:cs typeface="Cambria" pitchFamily="34" charset="-120"/>
              </a:rPr>
              <a:t>Lê Đoàn Phương Uyên</a:t>
            </a:r>
            <a:endParaRPr lang="en-US" sz="800" dirty="0"/>
          </a:p>
        </p:txBody>
      </p:sp>
      <p:sp>
        <p:nvSpPr>
          <p:cNvPr id="20" name="Text 17"/>
          <p:cNvSpPr/>
          <p:nvPr/>
        </p:nvSpPr>
        <p:spPr>
          <a:xfrm>
            <a:off x="7863840" y="6620256"/>
            <a:ext cx="1280160" cy="237744"/>
          </a:xfrm>
          <a:prstGeom prst="rect">
            <a:avLst/>
          </a:prstGeom>
          <a:noFill/>
          <a:ln/>
        </p:spPr>
        <p:txBody>
          <a:bodyPr wrap="square" lIns="0" tIns="0" rIns="0" bIns="0" rtlCol="0" anchor="ctr"/>
          <a:lstStyle/>
          <a:p>
            <a:pPr algn="ctr" indent="0" marL="0">
              <a:buNone/>
            </a:pPr>
            <a:r>
              <a:rPr lang="en-US" sz="800" dirty="0">
                <a:solidFill>
                  <a:srgbClr val="FFFFFF"/>
                </a:solidFill>
                <a:latin typeface="Cambria" pitchFamily="34" charset="0"/>
                <a:ea typeface="Cambria" pitchFamily="34" charset="-122"/>
                <a:cs typeface="Cambria" pitchFamily="34" charset="-120"/>
              </a:rPr>
              <a:t>14/26</a:t>
            </a:r>
            <a:endParaRPr lang="en-US" sz="8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48640"/>
          </a:xfrm>
          <a:prstGeom prst="rect">
            <a:avLst/>
          </a:prstGeom>
          <a:solidFill>
            <a:srgbClr val="322164"/>
          </a:solidFill>
          <a:ln/>
        </p:spPr>
      </p:sp>
      <p:sp>
        <p:nvSpPr>
          <p:cNvPr id="3" name="Text 1"/>
          <p:cNvSpPr/>
          <p:nvPr/>
        </p:nvSpPr>
        <p:spPr>
          <a:xfrm>
            <a:off x="201168" y="0"/>
            <a:ext cx="8741664" cy="548640"/>
          </a:xfrm>
          <a:prstGeom prst="rect">
            <a:avLst/>
          </a:prstGeom>
          <a:noFill/>
          <a:ln/>
        </p:spPr>
        <p:txBody>
          <a:bodyPr wrap="square" lIns="0" tIns="0" rIns="0" bIns="0" rtlCol="0" anchor="ctr"/>
          <a:lstStyle/>
          <a:p>
            <a:pPr algn="l" indent="0" marL="0">
              <a:buNone/>
            </a:pPr>
            <a:r>
              <a:rPr lang="en-US" sz="1900" b="1" dirty="0">
                <a:solidFill>
                  <a:srgbClr val="FFFFFF"/>
                </a:solidFill>
                <a:latin typeface="Cambria" pitchFamily="34" charset="0"/>
                <a:ea typeface="Cambria" pitchFamily="34" charset="-122"/>
                <a:cs typeface="Cambria" pitchFamily="34" charset="-120"/>
              </a:rPr>
              <a:t>3.7.  Mức 2:  phạt thẳng vào công thức học khi câu mơ hồ</a:t>
            </a:r>
            <a:endParaRPr lang="en-US" sz="1900" dirty="0"/>
          </a:p>
        </p:txBody>
      </p:sp>
      <p:sp>
        <p:nvSpPr>
          <p:cNvPr id="4" name="Shape 2"/>
          <p:cNvSpPr/>
          <p:nvPr/>
        </p:nvSpPr>
        <p:spPr>
          <a:xfrm>
            <a:off x="502920" y="1005840"/>
            <a:ext cx="8138160" cy="1920240"/>
          </a:xfrm>
          <a:prstGeom prst="roundRect">
            <a:avLst>
              <a:gd name="adj" fmla="val 2857"/>
            </a:avLst>
          </a:prstGeom>
          <a:solidFill>
            <a:srgbClr val="E9E8EC"/>
          </a:solidFill>
          <a:ln/>
          <a:effectLst>
            <a:outerShdw sx="100000" sy="100000" kx="0" ky="0" algn="bl" rotWithShape="0" blurRad="63500" dist="31750" dir="2700000">
              <a:srgbClr val="8C8C99">
                <a:alpha val="45000"/>
              </a:srgbClr>
            </a:outerShdw>
          </a:effectLst>
        </p:spPr>
      </p:sp>
      <p:sp>
        <p:nvSpPr>
          <p:cNvPr id="5" name="Text 3"/>
          <p:cNvSpPr/>
          <p:nvPr/>
        </p:nvSpPr>
        <p:spPr>
          <a:xfrm>
            <a:off x="704088" y="1115568"/>
            <a:ext cx="7735824" cy="457200"/>
          </a:xfrm>
          <a:prstGeom prst="rect">
            <a:avLst/>
          </a:prstGeom>
          <a:noFill/>
          <a:ln/>
        </p:spPr>
        <p:txBody>
          <a:bodyPr wrap="square" lIns="0" tIns="0" rIns="0" bIns="0" rtlCol="0" anchor="t"/>
          <a:lstStyle/>
          <a:p>
            <a:pPr algn="l" indent="0" marL="0">
              <a:buNone/>
            </a:pPr>
            <a:r>
              <a:rPr lang="en-US" sz="1400" dirty="0">
                <a:solidFill>
                  <a:srgbClr val="1A1A1A"/>
                </a:solidFill>
                <a:latin typeface="Cambria" pitchFamily="34" charset="0"/>
                <a:ea typeface="Cambria" pitchFamily="34" charset="-122"/>
                <a:cs typeface="Cambria" pitchFamily="34" charset="-120"/>
              </a:rPr>
              <a:t>Màn có hai kính lúp giống hệt nhau - cần hướng dẫn bấm cái bên trái.</a:t>
            </a:r>
            <a:endParaRPr lang="en-US" sz="1400" dirty="0"/>
          </a:p>
        </p:txBody>
      </p:sp>
      <p:sp>
        <p:nvSpPr>
          <p:cNvPr id="6" name="Text 4"/>
          <p:cNvSpPr/>
          <p:nvPr/>
        </p:nvSpPr>
        <p:spPr>
          <a:xfrm>
            <a:off x="822960" y="1645920"/>
            <a:ext cx="3566160" cy="384048"/>
          </a:xfrm>
          <a:prstGeom prst="rect">
            <a:avLst/>
          </a:prstGeom>
          <a:noFill/>
          <a:ln/>
        </p:spPr>
        <p:txBody>
          <a:bodyPr wrap="square" lIns="0" tIns="0" rIns="0" bIns="0" rtlCol="0" anchor="t"/>
          <a:lstStyle/>
          <a:p>
            <a:pPr algn="l" indent="0" marL="0">
              <a:buNone/>
            </a:pPr>
            <a:endParaRPr lang="en-US" sz="1300" dirty="0"/>
          </a:p>
        </p:txBody>
      </p:sp>
      <p:sp>
        <p:nvSpPr>
          <p:cNvPr id="7" name="Text 5"/>
          <p:cNvSpPr/>
          <p:nvPr/>
        </p:nvSpPr>
        <p:spPr>
          <a:xfrm>
            <a:off x="4480560" y="1645920"/>
            <a:ext cx="1371600" cy="384048"/>
          </a:xfrm>
          <a:prstGeom prst="rect">
            <a:avLst/>
          </a:prstGeom>
          <a:noFill/>
          <a:ln/>
        </p:spPr>
        <p:txBody>
          <a:bodyPr wrap="square" lIns="0" tIns="0" rIns="0" bIns="0" rtlCol="0" anchor="t"/>
          <a:lstStyle/>
          <a:p>
            <a:pPr algn="ctr" indent="0" marL="0">
              <a:buNone/>
            </a:pPr>
            <a:r>
              <a:rPr lang="en-US" sz="1300" b="1" dirty="0">
                <a:solidFill>
                  <a:srgbClr val="322164"/>
                </a:solidFill>
                <a:latin typeface="Cambria" pitchFamily="34" charset="0"/>
                <a:ea typeface="Cambria" pitchFamily="34" charset="-122"/>
                <a:cs typeface="Cambria" pitchFamily="34" charset="-120"/>
              </a:rPr>
              <a:t>lúp trái</a:t>
            </a:r>
            <a:endParaRPr lang="en-US" sz="1300" dirty="0"/>
          </a:p>
        </p:txBody>
      </p:sp>
      <p:sp>
        <p:nvSpPr>
          <p:cNvPr id="8" name="Text 6"/>
          <p:cNvSpPr/>
          <p:nvPr/>
        </p:nvSpPr>
        <p:spPr>
          <a:xfrm>
            <a:off x="5943600" y="1645920"/>
            <a:ext cx="2651760" cy="384048"/>
          </a:xfrm>
          <a:prstGeom prst="rect">
            <a:avLst/>
          </a:prstGeom>
          <a:noFill/>
          <a:ln/>
        </p:spPr>
        <p:txBody>
          <a:bodyPr wrap="square" lIns="0" tIns="0" rIns="0" bIns="0" rtlCol="0" anchor="t"/>
          <a:lstStyle/>
          <a:p>
            <a:pPr algn="ctr" indent="0" marL="0">
              <a:buNone/>
            </a:pPr>
            <a:r>
              <a:rPr lang="en-US" sz="1300" b="1" dirty="0">
                <a:solidFill>
                  <a:srgbClr val="322164"/>
                </a:solidFill>
                <a:latin typeface="Cambria" pitchFamily="34" charset="0"/>
                <a:ea typeface="Cambria" pitchFamily="34" charset="-122"/>
                <a:cs typeface="Cambria" pitchFamily="34" charset="-120"/>
              </a:rPr>
              <a:t>lúp phải</a:t>
            </a:r>
            <a:endParaRPr lang="en-US" sz="1300" dirty="0"/>
          </a:p>
        </p:txBody>
      </p:sp>
      <p:sp>
        <p:nvSpPr>
          <p:cNvPr id="9" name="Text 7"/>
          <p:cNvSpPr/>
          <p:nvPr/>
        </p:nvSpPr>
        <p:spPr>
          <a:xfrm>
            <a:off x="822960" y="2048256"/>
            <a:ext cx="3566160" cy="384048"/>
          </a:xfrm>
          <a:prstGeom prst="rect">
            <a:avLst/>
          </a:prstGeom>
          <a:noFill/>
          <a:ln/>
        </p:spPr>
        <p:txBody>
          <a:bodyPr wrap="square" lIns="0" tIns="0" rIns="0" bIns="0" rtlCol="0" anchor="t"/>
          <a:lstStyle/>
          <a:p>
            <a:pPr algn="l" indent="0" marL="0">
              <a:buNone/>
            </a:pPr>
            <a:r>
              <a:rPr lang="en-US" sz="1300" i="1" dirty="0">
                <a:solidFill>
                  <a:srgbClr val="1A1A1A"/>
                </a:solidFill>
                <a:latin typeface="Cambria" pitchFamily="34" charset="0"/>
                <a:ea typeface="Cambria" pitchFamily="34" charset="-122"/>
                <a:cs typeface="Cambria" pitchFamily="34" charset="-120"/>
              </a:rPr>
              <a:t>“Tap the search icon”</a:t>
            </a:r>
            <a:endParaRPr lang="en-US" sz="1300" dirty="0"/>
          </a:p>
        </p:txBody>
      </p:sp>
      <p:sp>
        <p:nvSpPr>
          <p:cNvPr id="10" name="Text 8"/>
          <p:cNvSpPr/>
          <p:nvPr/>
        </p:nvSpPr>
        <p:spPr>
          <a:xfrm>
            <a:off x="4480560" y="2048256"/>
            <a:ext cx="1371600" cy="384048"/>
          </a:xfrm>
          <a:prstGeom prst="rect">
            <a:avLst/>
          </a:prstGeom>
          <a:noFill/>
          <a:ln/>
        </p:spPr>
        <p:txBody>
          <a:bodyPr wrap="square" lIns="0" tIns="0" rIns="0" bIns="0" rtlCol="0" anchor="t"/>
          <a:lstStyle/>
          <a:p>
            <a:pPr algn="ctr" indent="0" marL="0">
              <a:buNone/>
            </a:pPr>
            <a:r>
              <a:rPr lang="en-US" sz="1300" dirty="0">
                <a:solidFill>
                  <a:srgbClr val="1A1A1A"/>
                </a:solidFill>
                <a:latin typeface="Cambria" pitchFamily="34" charset="0"/>
                <a:ea typeface="Cambria" pitchFamily="34" charset="-122"/>
                <a:cs typeface="Cambria" pitchFamily="34" charset="-120"/>
              </a:rPr>
              <a:t>khớp</a:t>
            </a:r>
            <a:endParaRPr lang="en-US" sz="1300" dirty="0"/>
          </a:p>
        </p:txBody>
      </p:sp>
      <p:sp>
        <p:nvSpPr>
          <p:cNvPr id="11" name="Text 9"/>
          <p:cNvSpPr/>
          <p:nvPr/>
        </p:nvSpPr>
        <p:spPr>
          <a:xfrm>
            <a:off x="5943600" y="2048256"/>
            <a:ext cx="2651760" cy="384048"/>
          </a:xfrm>
          <a:prstGeom prst="rect">
            <a:avLst/>
          </a:prstGeom>
          <a:noFill/>
          <a:ln/>
        </p:spPr>
        <p:txBody>
          <a:bodyPr wrap="square" lIns="0" tIns="0" rIns="0" bIns="0" rtlCol="0" anchor="t"/>
          <a:lstStyle/>
          <a:p>
            <a:pPr algn="ctr" indent="0" marL="0">
              <a:buNone/>
            </a:pPr>
            <a:r>
              <a:rPr lang="en-US" sz="1300" dirty="0">
                <a:solidFill>
                  <a:srgbClr val="990000"/>
                </a:solidFill>
                <a:latin typeface="Cambria" pitchFamily="34" charset="0"/>
                <a:ea typeface="Cambria" pitchFamily="34" charset="-122"/>
                <a:cs typeface="Cambria" pitchFamily="34" charset="-120"/>
              </a:rPr>
              <a:t>cũng khớp  →  bị phạt</a:t>
            </a:r>
            <a:endParaRPr lang="en-US" sz="1300" dirty="0"/>
          </a:p>
        </p:txBody>
      </p:sp>
      <p:sp>
        <p:nvSpPr>
          <p:cNvPr id="12" name="Text 10"/>
          <p:cNvSpPr/>
          <p:nvPr/>
        </p:nvSpPr>
        <p:spPr>
          <a:xfrm>
            <a:off x="822960" y="2450592"/>
            <a:ext cx="3566160" cy="384048"/>
          </a:xfrm>
          <a:prstGeom prst="rect">
            <a:avLst/>
          </a:prstGeom>
          <a:noFill/>
          <a:ln/>
        </p:spPr>
        <p:txBody>
          <a:bodyPr wrap="square" lIns="0" tIns="0" rIns="0" bIns="0" rtlCol="0" anchor="t"/>
          <a:lstStyle/>
          <a:p>
            <a:pPr algn="l" indent="0" marL="0">
              <a:buNone/>
            </a:pPr>
            <a:r>
              <a:rPr lang="en-US" sz="1300" i="1" dirty="0">
                <a:solidFill>
                  <a:srgbClr val="1A1A1A"/>
                </a:solidFill>
                <a:latin typeface="Cambria" pitchFamily="34" charset="0"/>
                <a:ea typeface="Cambria" pitchFamily="34" charset="-122"/>
                <a:cs typeface="Cambria" pitchFamily="34" charset="-120"/>
              </a:rPr>
              <a:t>“... on the left, next to Contacts”</a:t>
            </a:r>
            <a:endParaRPr lang="en-US" sz="1300" dirty="0"/>
          </a:p>
        </p:txBody>
      </p:sp>
      <p:sp>
        <p:nvSpPr>
          <p:cNvPr id="13" name="Text 11"/>
          <p:cNvSpPr/>
          <p:nvPr/>
        </p:nvSpPr>
        <p:spPr>
          <a:xfrm>
            <a:off x="4480560" y="2450592"/>
            <a:ext cx="1371600" cy="384048"/>
          </a:xfrm>
          <a:prstGeom prst="rect">
            <a:avLst/>
          </a:prstGeom>
          <a:noFill/>
          <a:ln/>
        </p:spPr>
        <p:txBody>
          <a:bodyPr wrap="square" lIns="0" tIns="0" rIns="0" bIns="0" rtlCol="0" anchor="t"/>
          <a:lstStyle/>
          <a:p>
            <a:pPr algn="ctr" indent="0" marL="0">
              <a:buNone/>
            </a:pPr>
            <a:r>
              <a:rPr lang="en-US" sz="1300" dirty="0">
                <a:solidFill>
                  <a:srgbClr val="1A1A1A"/>
                </a:solidFill>
                <a:latin typeface="Cambria" pitchFamily="34" charset="0"/>
                <a:ea typeface="Cambria" pitchFamily="34" charset="-122"/>
                <a:cs typeface="Cambria" pitchFamily="34" charset="-120"/>
              </a:rPr>
              <a:t>khớp</a:t>
            </a:r>
            <a:endParaRPr lang="en-US" sz="1300" dirty="0"/>
          </a:p>
        </p:txBody>
      </p:sp>
      <p:sp>
        <p:nvSpPr>
          <p:cNvPr id="14" name="Text 12"/>
          <p:cNvSpPr/>
          <p:nvPr/>
        </p:nvSpPr>
        <p:spPr>
          <a:xfrm>
            <a:off x="5943600" y="2450592"/>
            <a:ext cx="2651760" cy="384048"/>
          </a:xfrm>
          <a:prstGeom prst="rect">
            <a:avLst/>
          </a:prstGeom>
          <a:noFill/>
          <a:ln/>
        </p:spPr>
        <p:txBody>
          <a:bodyPr wrap="square" lIns="0" tIns="0" rIns="0" bIns="0" rtlCol="0" anchor="t"/>
          <a:lstStyle/>
          <a:p>
            <a:pPr algn="ctr" indent="0" marL="0">
              <a:buNone/>
            </a:pPr>
            <a:r>
              <a:rPr lang="en-US" sz="1300" dirty="0">
                <a:solidFill>
                  <a:srgbClr val="1A1A1A"/>
                </a:solidFill>
                <a:latin typeface="Cambria" pitchFamily="34" charset="0"/>
                <a:ea typeface="Cambria" pitchFamily="34" charset="-122"/>
                <a:cs typeface="Cambria" pitchFamily="34" charset="-120"/>
              </a:rPr>
              <a:t>không khớp</a:t>
            </a:r>
            <a:endParaRPr lang="en-US" sz="1300" dirty="0"/>
          </a:p>
        </p:txBody>
      </p:sp>
      <p:sp>
        <p:nvSpPr>
          <p:cNvPr id="15" name="Shape 13"/>
          <p:cNvSpPr/>
          <p:nvPr/>
        </p:nvSpPr>
        <p:spPr>
          <a:xfrm>
            <a:off x="502920" y="3246120"/>
            <a:ext cx="8138160" cy="1325880"/>
          </a:xfrm>
          <a:prstGeom prst="roundRect">
            <a:avLst>
              <a:gd name="adj" fmla="val 4138"/>
            </a:avLst>
          </a:prstGeom>
          <a:solidFill>
            <a:srgbClr val="E9E8EC"/>
          </a:solidFill>
          <a:ln/>
          <a:effectLst>
            <a:outerShdw sx="100000" sy="100000" kx="0" ky="0" algn="bl" rotWithShape="0" blurRad="63500" dist="31750" dir="2700000">
              <a:srgbClr val="8C8C99">
                <a:alpha val="45000"/>
              </a:srgbClr>
            </a:outerShdw>
          </a:effectLst>
        </p:spPr>
      </p:sp>
      <p:sp>
        <p:nvSpPr>
          <p:cNvPr id="16" name="Text 14"/>
          <p:cNvSpPr/>
          <p:nvPr/>
        </p:nvSpPr>
        <p:spPr>
          <a:xfrm>
            <a:off x="704088" y="3246120"/>
            <a:ext cx="7735824" cy="1325880"/>
          </a:xfrm>
          <a:prstGeom prst="rect">
            <a:avLst/>
          </a:prstGeom>
          <a:noFill/>
          <a:ln/>
        </p:spPr>
        <p:txBody>
          <a:bodyPr wrap="square" lIns="0" tIns="0" rIns="0" bIns="0" rtlCol="0" anchor="ctr"/>
          <a:lstStyle/>
          <a:p>
            <a:pPr algn="l" indent="0" marL="0">
              <a:lnSpc>
                <a:spcPct val="145000"/>
              </a:lnSpc>
              <a:buNone/>
            </a:pPr>
            <a:r>
              <a:rPr lang="en-US" sz="1400" dirty="0">
                <a:solidFill>
                  <a:srgbClr val="1A1A1A"/>
                </a:solidFill>
                <a:latin typeface="Cambria" pitchFamily="34" charset="0"/>
                <a:ea typeface="Cambria" pitchFamily="34" charset="-122"/>
                <a:cs typeface="Cambria" pitchFamily="34" charset="-120"/>
              </a:rPr>
              <a:t>Dựng khai báo giả từ nút hàng xóm - câu phải khớp bên thật rõ hơn bên giả</a:t>
            </a:r>
            <a:endParaRPr lang="en-US" sz="1400" dirty="0"/>
          </a:p>
          <a:p>
            <a:pPr algn="l" indent="0" marL="0">
              <a:lnSpc>
                <a:spcPct val="145000"/>
              </a:lnSpc>
              <a:buNone/>
            </a:pPr>
            <a:r>
              <a:rPr lang="en-US" sz="1400" dirty="0">
                <a:solidFill>
                  <a:srgbClr val="1A1A1A"/>
                </a:solidFill>
                <a:latin typeface="Cambria" pitchFamily="34" charset="0"/>
                <a:ea typeface="Cambria" pitchFamily="34" charset="-122"/>
                <a:cs typeface="Cambria" pitchFamily="34" charset="-120"/>
              </a:rPr>
              <a:t>Khớp cả hai như nhau là mơ hồ, bị phạt.</a:t>
            </a:r>
            <a:endParaRPr lang="en-US" sz="1400" dirty="0"/>
          </a:p>
        </p:txBody>
      </p:sp>
      <p:sp>
        <p:nvSpPr>
          <p:cNvPr id="17" name="Text 15"/>
          <p:cNvSpPr/>
          <p:nvPr/>
        </p:nvSpPr>
        <p:spPr>
          <a:xfrm>
            <a:off x="502920" y="4800600"/>
            <a:ext cx="8138160" cy="548640"/>
          </a:xfrm>
          <a:prstGeom prst="rect">
            <a:avLst/>
          </a:prstGeom>
          <a:noFill/>
          <a:ln/>
        </p:spPr>
        <p:txBody>
          <a:bodyPr wrap="square" lIns="0" tIns="0" rIns="0" bIns="0" rtlCol="0" anchor="t"/>
          <a:lstStyle/>
          <a:p>
            <a:pPr algn="l" indent="0" marL="0">
              <a:lnSpc>
                <a:spcPct val="130000"/>
              </a:lnSpc>
              <a:buNone/>
            </a:pPr>
            <a:r>
              <a:rPr lang="en-US" sz="1250" i="1" dirty="0">
                <a:solidFill>
                  <a:srgbClr val="1A1A1A"/>
                </a:solidFill>
                <a:latin typeface="Cambria" pitchFamily="34" charset="0"/>
                <a:ea typeface="Cambria" pitchFamily="34" charset="-122"/>
                <a:cs typeface="Cambria" pitchFamily="34" charset="-120"/>
              </a:rPr>
              <a:t>Tiền lệ từ 2016 bên ảnh tự nhiên - miền giao diện chưa ai làm</a:t>
            </a:r>
            <a:endParaRPr lang="en-US" sz="1250" dirty="0"/>
          </a:p>
        </p:txBody>
      </p:sp>
      <p:sp>
        <p:nvSpPr>
          <p:cNvPr id="19" name="Shape 16"/>
          <p:cNvSpPr/>
          <p:nvPr/>
        </p:nvSpPr>
        <p:spPr>
          <a:xfrm>
            <a:off x="0" y="6620256"/>
            <a:ext cx="2743200" cy="237744"/>
          </a:xfrm>
          <a:prstGeom prst="rect">
            <a:avLst/>
          </a:prstGeom>
          <a:solidFill>
            <a:srgbClr val="191132"/>
          </a:solidFill>
          <a:ln/>
        </p:spPr>
      </p:sp>
      <p:sp>
        <p:nvSpPr>
          <p:cNvPr id="20" name="Shape 17"/>
          <p:cNvSpPr/>
          <p:nvPr/>
        </p:nvSpPr>
        <p:spPr>
          <a:xfrm>
            <a:off x="2743200" y="6620256"/>
            <a:ext cx="3383280" cy="237744"/>
          </a:xfrm>
          <a:prstGeom prst="rect">
            <a:avLst/>
          </a:prstGeom>
          <a:solidFill>
            <a:srgbClr val="25194B"/>
          </a:solidFill>
          <a:ln/>
        </p:spPr>
      </p:sp>
      <p:sp>
        <p:nvSpPr>
          <p:cNvPr id="21" name="Shape 18"/>
          <p:cNvSpPr/>
          <p:nvPr/>
        </p:nvSpPr>
        <p:spPr>
          <a:xfrm>
            <a:off x="6126480" y="6620256"/>
            <a:ext cx="1737360" cy="237744"/>
          </a:xfrm>
          <a:prstGeom prst="rect">
            <a:avLst/>
          </a:prstGeom>
          <a:solidFill>
            <a:srgbClr val="4F417A"/>
          </a:solidFill>
          <a:ln/>
        </p:spPr>
      </p:sp>
      <p:sp>
        <p:nvSpPr>
          <p:cNvPr id="22" name="Shape 19"/>
          <p:cNvSpPr/>
          <p:nvPr/>
        </p:nvSpPr>
        <p:spPr>
          <a:xfrm>
            <a:off x="7863840" y="6620256"/>
            <a:ext cx="1280160" cy="237744"/>
          </a:xfrm>
          <a:prstGeom prst="rect">
            <a:avLst/>
          </a:prstGeom>
          <a:solidFill>
            <a:srgbClr val="7A7099"/>
          </a:solidFill>
          <a:ln/>
        </p:spPr>
      </p:sp>
      <p:sp>
        <p:nvSpPr>
          <p:cNvPr id="23" name="Text 20"/>
          <p:cNvSpPr/>
          <p:nvPr/>
        </p:nvSpPr>
        <p:spPr>
          <a:xfrm>
            <a:off x="0" y="6620256"/>
            <a:ext cx="2743200" cy="237744"/>
          </a:xfrm>
          <a:prstGeom prst="rect">
            <a:avLst/>
          </a:prstGeom>
          <a:noFill/>
          <a:ln/>
        </p:spPr>
        <p:txBody>
          <a:bodyPr wrap="square" lIns="0" tIns="0" rIns="0" bIns="0" rtlCol="0" anchor="ctr"/>
          <a:lstStyle/>
          <a:p>
            <a:pPr algn="ctr" indent="0" marL="0">
              <a:buNone/>
            </a:pPr>
            <a:r>
              <a:rPr lang="en-US" sz="800" dirty="0">
                <a:solidFill>
                  <a:srgbClr val="FFFFFF"/>
                </a:solidFill>
                <a:latin typeface="Consolas" pitchFamily="34" charset="0"/>
                <a:ea typeface="Consolas" pitchFamily="34" charset="-122"/>
                <a:cs typeface="Consolas" pitchFamily="34" charset="-120"/>
              </a:rPr>
              <a:t>luận văn thạc sĩ</a:t>
            </a:r>
            <a:endParaRPr lang="en-US" sz="800" dirty="0"/>
          </a:p>
        </p:txBody>
      </p:sp>
      <p:sp>
        <p:nvSpPr>
          <p:cNvPr id="24" name="Text 21"/>
          <p:cNvSpPr/>
          <p:nvPr/>
        </p:nvSpPr>
        <p:spPr>
          <a:xfrm>
            <a:off x="2743200" y="6620256"/>
            <a:ext cx="3383280" cy="237744"/>
          </a:xfrm>
          <a:prstGeom prst="rect">
            <a:avLst/>
          </a:prstGeom>
          <a:noFill/>
          <a:ln/>
        </p:spPr>
        <p:txBody>
          <a:bodyPr wrap="square" lIns="0" tIns="0" rIns="0" bIns="0" rtlCol="0" anchor="ctr"/>
          <a:lstStyle/>
          <a:p>
            <a:pPr algn="ctr" indent="0" marL="0">
              <a:buNone/>
            </a:pPr>
            <a:r>
              <a:rPr lang="en-US" sz="800" dirty="0">
                <a:solidFill>
                  <a:srgbClr val="FFFFFF"/>
                </a:solidFill>
                <a:latin typeface="Cambria" pitchFamily="34" charset="0"/>
                <a:ea typeface="Cambria" pitchFamily="34" charset="-122"/>
                <a:cs typeface="Cambria" pitchFamily="34" charset="-120"/>
              </a:rPr>
              <a:t>Sinh hướng dẫn sử dụng phần mềm</a:t>
            </a:r>
            <a:endParaRPr lang="en-US" sz="800" dirty="0"/>
          </a:p>
        </p:txBody>
      </p:sp>
      <p:sp>
        <p:nvSpPr>
          <p:cNvPr id="25" name="Text 22"/>
          <p:cNvSpPr/>
          <p:nvPr/>
        </p:nvSpPr>
        <p:spPr>
          <a:xfrm>
            <a:off x="6126480" y="6620256"/>
            <a:ext cx="1737360" cy="237744"/>
          </a:xfrm>
          <a:prstGeom prst="rect">
            <a:avLst/>
          </a:prstGeom>
          <a:noFill/>
          <a:ln/>
        </p:spPr>
        <p:txBody>
          <a:bodyPr wrap="square" lIns="0" tIns="0" rIns="0" bIns="0" rtlCol="0" anchor="ctr"/>
          <a:lstStyle/>
          <a:p>
            <a:pPr algn="ctr" indent="0" marL="0">
              <a:buNone/>
            </a:pPr>
            <a:r>
              <a:rPr lang="en-US" sz="800" dirty="0">
                <a:solidFill>
                  <a:srgbClr val="FFFFFF"/>
                </a:solidFill>
                <a:latin typeface="Cambria" pitchFamily="34" charset="0"/>
                <a:ea typeface="Cambria" pitchFamily="34" charset="-122"/>
                <a:cs typeface="Cambria" pitchFamily="34" charset="-120"/>
              </a:rPr>
              <a:t>Lê Đoàn Phương Uyên</a:t>
            </a:r>
            <a:endParaRPr lang="en-US" sz="800" dirty="0"/>
          </a:p>
        </p:txBody>
      </p:sp>
      <p:sp>
        <p:nvSpPr>
          <p:cNvPr id="26" name="Text 23"/>
          <p:cNvSpPr/>
          <p:nvPr/>
        </p:nvSpPr>
        <p:spPr>
          <a:xfrm>
            <a:off x="7863840" y="6620256"/>
            <a:ext cx="1280160" cy="237744"/>
          </a:xfrm>
          <a:prstGeom prst="rect">
            <a:avLst/>
          </a:prstGeom>
          <a:noFill/>
          <a:ln/>
        </p:spPr>
        <p:txBody>
          <a:bodyPr wrap="square" lIns="0" tIns="0" rIns="0" bIns="0" rtlCol="0" anchor="ctr"/>
          <a:lstStyle/>
          <a:p>
            <a:pPr algn="ctr" indent="0" marL="0">
              <a:buNone/>
            </a:pPr>
            <a:r>
              <a:rPr lang="en-US" sz="800" dirty="0">
                <a:solidFill>
                  <a:srgbClr val="FFFFFF"/>
                </a:solidFill>
                <a:latin typeface="Cambria" pitchFamily="34" charset="0"/>
                <a:ea typeface="Cambria" pitchFamily="34" charset="-122"/>
                <a:cs typeface="Cambria" pitchFamily="34" charset="-120"/>
              </a:rPr>
              <a:t>15/26</a:t>
            </a:r>
            <a:endParaRPr lang="en-US" sz="8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48640"/>
          </a:xfrm>
          <a:prstGeom prst="rect">
            <a:avLst/>
          </a:prstGeom>
          <a:solidFill>
            <a:srgbClr val="322164"/>
          </a:solidFill>
          <a:ln/>
        </p:spPr>
      </p:sp>
      <p:sp>
        <p:nvSpPr>
          <p:cNvPr id="3" name="Text 1"/>
          <p:cNvSpPr/>
          <p:nvPr/>
        </p:nvSpPr>
        <p:spPr>
          <a:xfrm>
            <a:off x="201168" y="0"/>
            <a:ext cx="8741664" cy="548640"/>
          </a:xfrm>
          <a:prstGeom prst="rect">
            <a:avLst/>
          </a:prstGeom>
          <a:noFill/>
          <a:ln/>
        </p:spPr>
        <p:txBody>
          <a:bodyPr wrap="square" lIns="0" tIns="0" rIns="0" bIns="0" rtlCol="0" anchor="ctr"/>
          <a:lstStyle/>
          <a:p>
            <a:pPr algn="l" indent="0" marL="0">
              <a:buNone/>
            </a:pPr>
            <a:r>
              <a:rPr lang="en-US" sz="1900" b="1" dirty="0">
                <a:solidFill>
                  <a:srgbClr val="FFFFFF"/>
                </a:solidFill>
                <a:latin typeface="Cambria" pitchFamily="34" charset="0"/>
                <a:ea typeface="Cambria" pitchFamily="34" charset="-122"/>
                <a:cs typeface="Cambria" pitchFamily="34" charset="-120"/>
              </a:rPr>
              <a:t>3.8.  Khâu 5 và 6:  huấn luyện, rồi chạy thật</a:t>
            </a:r>
            <a:endParaRPr lang="en-US" sz="1900" dirty="0"/>
          </a:p>
        </p:txBody>
      </p:sp>
      <p:sp>
        <p:nvSpPr>
          <p:cNvPr id="4" name="Shape 2"/>
          <p:cNvSpPr/>
          <p:nvPr/>
        </p:nvSpPr>
        <p:spPr>
          <a:xfrm>
            <a:off x="502920" y="1005840"/>
            <a:ext cx="8138160" cy="1234440"/>
          </a:xfrm>
          <a:prstGeom prst="roundRect">
            <a:avLst>
              <a:gd name="adj" fmla="val 4444"/>
            </a:avLst>
          </a:prstGeom>
          <a:solidFill>
            <a:srgbClr val="E9E8EC"/>
          </a:solidFill>
          <a:ln/>
          <a:effectLst>
            <a:outerShdw sx="100000" sy="100000" kx="0" ky="0" algn="bl" rotWithShape="0" blurRad="63500" dist="31750" dir="2700000">
              <a:srgbClr val="8C8C99">
                <a:alpha val="45000"/>
              </a:srgbClr>
            </a:outerShdw>
          </a:effectLst>
        </p:spPr>
      </p:sp>
      <p:sp>
        <p:nvSpPr>
          <p:cNvPr id="5" name="Text 3"/>
          <p:cNvSpPr/>
          <p:nvPr/>
        </p:nvSpPr>
        <p:spPr>
          <a:xfrm>
            <a:off x="704088" y="1005840"/>
            <a:ext cx="7735824" cy="1234440"/>
          </a:xfrm>
          <a:prstGeom prst="rect">
            <a:avLst/>
          </a:prstGeom>
          <a:noFill/>
          <a:ln/>
        </p:spPr>
        <p:txBody>
          <a:bodyPr wrap="square" lIns="0" tIns="0" rIns="0" bIns="0" rtlCol="0" anchor="ctr"/>
          <a:lstStyle/>
          <a:p>
            <a:pPr algn="l" indent="0" marL="0">
              <a:lnSpc>
                <a:spcPct val="140000"/>
              </a:lnSpc>
              <a:buNone/>
            </a:pPr>
            <a:r>
              <a:rPr lang="en-US" sz="1450" b="1" dirty="0">
                <a:solidFill>
                  <a:srgbClr val="006666"/>
                </a:solidFill>
                <a:latin typeface="Cambria" pitchFamily="34" charset="0"/>
                <a:ea typeface="Cambria" pitchFamily="34" charset="-122"/>
                <a:cs typeface="Cambria" pitchFamily="34" charset="-120"/>
              </a:rPr>
              <a:t>Huấn luyện.  </a:t>
            </a:r>
            <a:pPr algn="l" indent="0" marL="0">
              <a:lnSpc>
                <a:spcPct val="140000"/>
              </a:lnSpc>
              <a:buNone/>
            </a:pPr>
            <a:r>
              <a:rPr lang="en-US" sz="1450" dirty="0">
                <a:solidFill>
                  <a:srgbClr val="1A1A1A"/>
                </a:solidFill>
                <a:latin typeface="Cambria" pitchFamily="34" charset="0"/>
                <a:ea typeface="Cambria" pitchFamily="34" charset="-122"/>
                <a:cs typeface="Cambria" pitchFamily="34" charset="-120"/>
              </a:rPr>
              <a:t>Qwen2.5-VL-3B, mô hình mở 3 tỉ tham số, tinh chỉnh bằng QLoRA.</a:t>
            </a:r>
            <a:endParaRPr lang="en-US" sz="1450" dirty="0"/>
          </a:p>
        </p:txBody>
      </p:sp>
      <p:sp>
        <p:nvSpPr>
          <p:cNvPr id="6" name="Shape 4"/>
          <p:cNvSpPr/>
          <p:nvPr/>
        </p:nvSpPr>
        <p:spPr>
          <a:xfrm>
            <a:off x="502920" y="2606040"/>
            <a:ext cx="8138160" cy="1188720"/>
          </a:xfrm>
          <a:prstGeom prst="roundRect">
            <a:avLst>
              <a:gd name="adj" fmla="val 4615"/>
            </a:avLst>
          </a:prstGeom>
          <a:solidFill>
            <a:srgbClr val="E9E8EC"/>
          </a:solidFill>
          <a:ln/>
          <a:effectLst>
            <a:outerShdw sx="100000" sy="100000" kx="0" ky="0" algn="bl" rotWithShape="0" blurRad="63500" dist="31750" dir="2700000">
              <a:srgbClr val="8C8C99">
                <a:alpha val="45000"/>
              </a:srgbClr>
            </a:outerShdw>
          </a:effectLst>
        </p:spPr>
      </p:sp>
      <p:sp>
        <p:nvSpPr>
          <p:cNvPr id="7" name="Text 5"/>
          <p:cNvSpPr/>
          <p:nvPr/>
        </p:nvSpPr>
        <p:spPr>
          <a:xfrm>
            <a:off x="685800" y="2606040"/>
            <a:ext cx="7772400" cy="1188720"/>
          </a:xfrm>
          <a:prstGeom prst="rect">
            <a:avLst/>
          </a:prstGeom>
          <a:noFill/>
          <a:ln/>
        </p:spPr>
        <p:txBody>
          <a:bodyPr wrap="square" lIns="0" tIns="0" rIns="0" bIns="0" rtlCol="0" anchor="ctr"/>
          <a:lstStyle/>
          <a:p>
            <a:pPr algn="ctr" indent="0" marL="0">
              <a:lnSpc>
                <a:spcPct val="140000"/>
              </a:lnSpc>
              <a:buNone/>
            </a:pPr>
            <a:r>
              <a:rPr lang="en-US" sz="1350" b="1" dirty="0">
                <a:solidFill>
                  <a:srgbClr val="322164"/>
                </a:solidFill>
                <a:latin typeface="Cambria" pitchFamily="34" charset="0"/>
                <a:ea typeface="Cambria" pitchFamily="34" charset="-122"/>
                <a:cs typeface="Cambria" pitchFamily="34" charset="-120"/>
              </a:rPr>
              <a:t>ảnh + câu hỏi  →  bộ đọc chữ  →  mô hình  →  [khai báo] + câu  →  cắt khai báo  →  người dùng</a:t>
            </a:r>
            <a:endParaRPr lang="en-US" sz="1350" dirty="0"/>
          </a:p>
        </p:txBody>
      </p:sp>
      <p:sp>
        <p:nvSpPr>
          <p:cNvPr id="8" name="Text 6"/>
          <p:cNvSpPr/>
          <p:nvPr/>
        </p:nvSpPr>
        <p:spPr>
          <a:xfrm>
            <a:off x="502920" y="4114800"/>
            <a:ext cx="8138160" cy="822960"/>
          </a:xfrm>
          <a:prstGeom prst="rect">
            <a:avLst/>
          </a:prstGeom>
          <a:noFill/>
          <a:ln/>
        </p:spPr>
        <p:txBody>
          <a:bodyPr wrap="square" lIns="0" tIns="0" rIns="0" bIns="0" rtlCol="0" anchor="t"/>
          <a:lstStyle/>
          <a:p>
            <a:pPr algn="l" indent="0" marL="0">
              <a:lnSpc>
                <a:spcPct val="140000"/>
              </a:lnSpc>
              <a:buNone/>
            </a:pPr>
            <a:r>
              <a:rPr lang="en-US" sz="1450" b="1" dirty="0">
                <a:solidFill>
                  <a:srgbClr val="1A1A1A"/>
                </a:solidFill>
                <a:latin typeface="Cambria" pitchFamily="34" charset="0"/>
                <a:ea typeface="Cambria" pitchFamily="34" charset="-122"/>
                <a:cs typeface="Cambria" pitchFamily="34" charset="-120"/>
              </a:rPr>
              <a:t>Trên máy người dùng chỉ có bộ đọc chữ và mô hình.  </a:t>
            </a:r>
            <a:pPr algn="l" indent="0" marL="0">
              <a:lnSpc>
                <a:spcPct val="140000"/>
              </a:lnSpc>
              <a:buNone/>
            </a:pPr>
            <a:r>
              <a:rPr lang="en-US" sz="1450" dirty="0">
                <a:solidFill>
                  <a:srgbClr val="1A1A1A"/>
                </a:solidFill>
                <a:latin typeface="Cambria" pitchFamily="34" charset="0"/>
                <a:ea typeface="Cambria" pitchFamily="34" charset="-122"/>
                <a:cs typeface="Cambria" pitchFamily="34" charset="-120"/>
              </a:rPr>
              <a:t>Không cần mạng, không cần cây trợ năng.</a:t>
            </a:r>
            <a:endParaRPr lang="en-US" sz="1450" dirty="0"/>
          </a:p>
        </p:txBody>
      </p:sp>
      <p:sp>
        <p:nvSpPr>
          <p:cNvPr id="10" name="Shape 7"/>
          <p:cNvSpPr/>
          <p:nvPr/>
        </p:nvSpPr>
        <p:spPr>
          <a:xfrm>
            <a:off x="0" y="6620256"/>
            <a:ext cx="2743200" cy="237744"/>
          </a:xfrm>
          <a:prstGeom prst="rect">
            <a:avLst/>
          </a:prstGeom>
          <a:solidFill>
            <a:srgbClr val="191132"/>
          </a:solidFill>
          <a:ln/>
        </p:spPr>
      </p:sp>
      <p:sp>
        <p:nvSpPr>
          <p:cNvPr id="11" name="Shape 8"/>
          <p:cNvSpPr/>
          <p:nvPr/>
        </p:nvSpPr>
        <p:spPr>
          <a:xfrm>
            <a:off x="2743200" y="6620256"/>
            <a:ext cx="3383280" cy="237744"/>
          </a:xfrm>
          <a:prstGeom prst="rect">
            <a:avLst/>
          </a:prstGeom>
          <a:solidFill>
            <a:srgbClr val="25194B"/>
          </a:solidFill>
          <a:ln/>
        </p:spPr>
      </p:sp>
      <p:sp>
        <p:nvSpPr>
          <p:cNvPr id="12" name="Shape 9"/>
          <p:cNvSpPr/>
          <p:nvPr/>
        </p:nvSpPr>
        <p:spPr>
          <a:xfrm>
            <a:off x="6126480" y="6620256"/>
            <a:ext cx="1737360" cy="237744"/>
          </a:xfrm>
          <a:prstGeom prst="rect">
            <a:avLst/>
          </a:prstGeom>
          <a:solidFill>
            <a:srgbClr val="4F417A"/>
          </a:solidFill>
          <a:ln/>
        </p:spPr>
      </p:sp>
      <p:sp>
        <p:nvSpPr>
          <p:cNvPr id="13" name="Shape 10"/>
          <p:cNvSpPr/>
          <p:nvPr/>
        </p:nvSpPr>
        <p:spPr>
          <a:xfrm>
            <a:off x="7863840" y="6620256"/>
            <a:ext cx="1280160" cy="237744"/>
          </a:xfrm>
          <a:prstGeom prst="rect">
            <a:avLst/>
          </a:prstGeom>
          <a:solidFill>
            <a:srgbClr val="7A7099"/>
          </a:solidFill>
          <a:ln/>
        </p:spPr>
      </p:sp>
      <p:sp>
        <p:nvSpPr>
          <p:cNvPr id="14" name="Text 11"/>
          <p:cNvSpPr/>
          <p:nvPr/>
        </p:nvSpPr>
        <p:spPr>
          <a:xfrm>
            <a:off x="0" y="6620256"/>
            <a:ext cx="2743200" cy="237744"/>
          </a:xfrm>
          <a:prstGeom prst="rect">
            <a:avLst/>
          </a:prstGeom>
          <a:noFill/>
          <a:ln/>
        </p:spPr>
        <p:txBody>
          <a:bodyPr wrap="square" lIns="0" tIns="0" rIns="0" bIns="0" rtlCol="0" anchor="ctr"/>
          <a:lstStyle/>
          <a:p>
            <a:pPr algn="ctr" indent="0" marL="0">
              <a:buNone/>
            </a:pPr>
            <a:r>
              <a:rPr lang="en-US" sz="800" dirty="0">
                <a:solidFill>
                  <a:srgbClr val="FFFFFF"/>
                </a:solidFill>
                <a:latin typeface="Consolas" pitchFamily="34" charset="0"/>
                <a:ea typeface="Consolas" pitchFamily="34" charset="-122"/>
                <a:cs typeface="Consolas" pitchFamily="34" charset="-120"/>
              </a:rPr>
              <a:t>luận văn thạc sĩ</a:t>
            </a:r>
            <a:endParaRPr lang="en-US" sz="800" dirty="0"/>
          </a:p>
        </p:txBody>
      </p:sp>
      <p:sp>
        <p:nvSpPr>
          <p:cNvPr id="15" name="Text 12"/>
          <p:cNvSpPr/>
          <p:nvPr/>
        </p:nvSpPr>
        <p:spPr>
          <a:xfrm>
            <a:off x="2743200" y="6620256"/>
            <a:ext cx="3383280" cy="237744"/>
          </a:xfrm>
          <a:prstGeom prst="rect">
            <a:avLst/>
          </a:prstGeom>
          <a:noFill/>
          <a:ln/>
        </p:spPr>
        <p:txBody>
          <a:bodyPr wrap="square" lIns="0" tIns="0" rIns="0" bIns="0" rtlCol="0" anchor="ctr"/>
          <a:lstStyle/>
          <a:p>
            <a:pPr algn="ctr" indent="0" marL="0">
              <a:buNone/>
            </a:pPr>
            <a:r>
              <a:rPr lang="en-US" sz="800" dirty="0">
                <a:solidFill>
                  <a:srgbClr val="FFFFFF"/>
                </a:solidFill>
                <a:latin typeface="Cambria" pitchFamily="34" charset="0"/>
                <a:ea typeface="Cambria" pitchFamily="34" charset="-122"/>
                <a:cs typeface="Cambria" pitchFamily="34" charset="-120"/>
              </a:rPr>
              <a:t>Sinh hướng dẫn sử dụng phần mềm</a:t>
            </a:r>
            <a:endParaRPr lang="en-US" sz="800" dirty="0"/>
          </a:p>
        </p:txBody>
      </p:sp>
      <p:sp>
        <p:nvSpPr>
          <p:cNvPr id="16" name="Text 13"/>
          <p:cNvSpPr/>
          <p:nvPr/>
        </p:nvSpPr>
        <p:spPr>
          <a:xfrm>
            <a:off x="6126480" y="6620256"/>
            <a:ext cx="1737360" cy="237744"/>
          </a:xfrm>
          <a:prstGeom prst="rect">
            <a:avLst/>
          </a:prstGeom>
          <a:noFill/>
          <a:ln/>
        </p:spPr>
        <p:txBody>
          <a:bodyPr wrap="square" lIns="0" tIns="0" rIns="0" bIns="0" rtlCol="0" anchor="ctr"/>
          <a:lstStyle/>
          <a:p>
            <a:pPr algn="ctr" indent="0" marL="0">
              <a:buNone/>
            </a:pPr>
            <a:r>
              <a:rPr lang="en-US" sz="800" dirty="0">
                <a:solidFill>
                  <a:srgbClr val="FFFFFF"/>
                </a:solidFill>
                <a:latin typeface="Cambria" pitchFamily="34" charset="0"/>
                <a:ea typeface="Cambria" pitchFamily="34" charset="-122"/>
                <a:cs typeface="Cambria" pitchFamily="34" charset="-120"/>
              </a:rPr>
              <a:t>Lê Đoàn Phương Uyên</a:t>
            </a:r>
            <a:endParaRPr lang="en-US" sz="800" dirty="0"/>
          </a:p>
        </p:txBody>
      </p:sp>
      <p:sp>
        <p:nvSpPr>
          <p:cNvPr id="17" name="Text 14"/>
          <p:cNvSpPr/>
          <p:nvPr/>
        </p:nvSpPr>
        <p:spPr>
          <a:xfrm>
            <a:off x="7863840" y="6620256"/>
            <a:ext cx="1280160" cy="237744"/>
          </a:xfrm>
          <a:prstGeom prst="rect">
            <a:avLst/>
          </a:prstGeom>
          <a:noFill/>
          <a:ln/>
        </p:spPr>
        <p:txBody>
          <a:bodyPr wrap="square" lIns="0" tIns="0" rIns="0" bIns="0" rtlCol="0" anchor="ctr"/>
          <a:lstStyle/>
          <a:p>
            <a:pPr algn="ctr" indent="0" marL="0">
              <a:buNone/>
            </a:pPr>
            <a:r>
              <a:rPr lang="en-US" sz="800" dirty="0">
                <a:solidFill>
                  <a:srgbClr val="FFFFFF"/>
                </a:solidFill>
                <a:latin typeface="Cambria" pitchFamily="34" charset="0"/>
                <a:ea typeface="Cambria" pitchFamily="34" charset="-122"/>
                <a:cs typeface="Cambria" pitchFamily="34" charset="-120"/>
              </a:rPr>
              <a:t>16/26</a:t>
            </a:r>
            <a:endParaRPr lang="en-US" sz="8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48640"/>
          </a:xfrm>
          <a:prstGeom prst="rect">
            <a:avLst/>
          </a:prstGeom>
          <a:solidFill>
            <a:srgbClr val="322164"/>
          </a:solidFill>
          <a:ln/>
        </p:spPr>
      </p:sp>
      <p:sp>
        <p:nvSpPr>
          <p:cNvPr id="3" name="Text 1"/>
          <p:cNvSpPr/>
          <p:nvPr/>
        </p:nvSpPr>
        <p:spPr>
          <a:xfrm>
            <a:off x="201168" y="0"/>
            <a:ext cx="8741664" cy="548640"/>
          </a:xfrm>
          <a:prstGeom prst="rect">
            <a:avLst/>
          </a:prstGeom>
          <a:noFill/>
          <a:ln/>
        </p:spPr>
        <p:txBody>
          <a:bodyPr wrap="square" lIns="0" tIns="0" rIns="0" bIns="0" rtlCol="0" anchor="ctr"/>
          <a:lstStyle/>
          <a:p>
            <a:pPr algn="l" indent="0" marL="0">
              <a:buNone/>
            </a:pPr>
            <a:r>
              <a:rPr lang="en-US" sz="1900" b="1" dirty="0">
                <a:solidFill>
                  <a:srgbClr val="FFFFFF"/>
                </a:solidFill>
                <a:latin typeface="Cambria" pitchFamily="34" charset="0"/>
                <a:ea typeface="Cambria" pitchFamily="34" charset="-122"/>
                <a:cs typeface="Cambria" pitchFamily="34" charset="-120"/>
              </a:rPr>
              <a:t>4.1.  Cách chấm:  câu có đủ rõ để lần ra đúng nút không?</a:t>
            </a:r>
            <a:endParaRPr lang="en-US" sz="1900" dirty="0"/>
          </a:p>
        </p:txBody>
      </p:sp>
      <p:sp>
        <p:nvSpPr>
          <p:cNvPr id="4" name="Shape 2"/>
          <p:cNvSpPr/>
          <p:nvPr/>
        </p:nvSpPr>
        <p:spPr>
          <a:xfrm>
            <a:off x="502920" y="960120"/>
            <a:ext cx="8138160" cy="1325880"/>
          </a:xfrm>
          <a:prstGeom prst="roundRect">
            <a:avLst>
              <a:gd name="adj" fmla="val 4138"/>
            </a:avLst>
          </a:prstGeom>
          <a:solidFill>
            <a:srgbClr val="E9E8EC"/>
          </a:solidFill>
          <a:ln/>
          <a:effectLst>
            <a:outerShdw sx="100000" sy="100000" kx="0" ky="0" algn="bl" rotWithShape="0" blurRad="63500" dist="31750" dir="2700000">
              <a:srgbClr val="8C8C99">
                <a:alpha val="45000"/>
              </a:srgbClr>
            </a:outerShdw>
          </a:effectLst>
        </p:spPr>
      </p:sp>
      <p:sp>
        <p:nvSpPr>
          <p:cNvPr id="5" name="Text 3"/>
          <p:cNvSpPr/>
          <p:nvPr/>
        </p:nvSpPr>
        <p:spPr>
          <a:xfrm>
            <a:off x="704088" y="960120"/>
            <a:ext cx="7735824" cy="1325880"/>
          </a:xfrm>
          <a:prstGeom prst="rect">
            <a:avLst/>
          </a:prstGeom>
          <a:noFill/>
          <a:ln/>
        </p:spPr>
        <p:txBody>
          <a:bodyPr wrap="square" lIns="0" tIns="0" rIns="0" bIns="0" rtlCol="0" anchor="ctr"/>
          <a:lstStyle/>
          <a:p>
            <a:pPr algn="l" indent="0" marL="0">
              <a:lnSpc>
                <a:spcPct val="145000"/>
              </a:lnSpc>
              <a:buNone/>
            </a:pPr>
            <a:r>
              <a:rPr lang="en-US" sz="1450" dirty="0">
                <a:solidFill>
                  <a:srgbClr val="1A1A1A"/>
                </a:solidFill>
                <a:latin typeface="Cambria" pitchFamily="34" charset="0"/>
                <a:ea typeface="Cambria" pitchFamily="34" charset="-122"/>
                <a:cs typeface="Cambria" pitchFamily="34" charset="-120"/>
              </a:rPr>
              <a:t>Đưa câu mô hình viết cho một bộ trỏ độc lập đọc rồi chỉ lên ảnh</a:t>
            </a:r>
            <a:endParaRPr lang="en-US" sz="1450" dirty="0"/>
          </a:p>
          <a:p>
            <a:pPr algn="l" indent="0" marL="0">
              <a:lnSpc>
                <a:spcPct val="145000"/>
              </a:lnSpc>
              <a:buNone/>
            </a:pPr>
            <a:r>
              <a:rPr lang="en-US" sz="1450" dirty="0">
                <a:solidFill>
                  <a:srgbClr val="1A1A1A"/>
                </a:solidFill>
                <a:latin typeface="Cambria" pitchFamily="34" charset="0"/>
                <a:ea typeface="Cambria" pitchFamily="34" charset="-122"/>
                <a:cs typeface="Cambria" pitchFamily="34" charset="-120"/>
              </a:rPr>
              <a:t>Trỏ đúng nút người thật đã chạm thì câu tính đúng</a:t>
            </a:r>
            <a:endParaRPr lang="en-US" sz="1450" dirty="0"/>
          </a:p>
        </p:txBody>
      </p:sp>
      <p:sp>
        <p:nvSpPr>
          <p:cNvPr id="6" name="Shape 4"/>
          <p:cNvSpPr/>
          <p:nvPr/>
        </p:nvSpPr>
        <p:spPr>
          <a:xfrm>
            <a:off x="502920" y="2606040"/>
            <a:ext cx="8138160" cy="1005840"/>
          </a:xfrm>
          <a:prstGeom prst="roundRect">
            <a:avLst>
              <a:gd name="adj" fmla="val 5455"/>
            </a:avLst>
          </a:prstGeom>
          <a:solidFill>
            <a:srgbClr val="E9E8EC"/>
          </a:solidFill>
          <a:ln/>
          <a:effectLst>
            <a:outerShdw sx="100000" sy="100000" kx="0" ky="0" algn="bl" rotWithShape="0" blurRad="63500" dist="31750" dir="2700000">
              <a:srgbClr val="8C8C99">
                <a:alpha val="45000"/>
              </a:srgbClr>
            </a:outerShdw>
          </a:effectLst>
        </p:spPr>
      </p:sp>
      <p:sp>
        <p:nvSpPr>
          <p:cNvPr id="7" name="Text 5"/>
          <p:cNvSpPr/>
          <p:nvPr/>
        </p:nvSpPr>
        <p:spPr>
          <a:xfrm>
            <a:off x="704088" y="2606040"/>
            <a:ext cx="7735824" cy="1005840"/>
          </a:xfrm>
          <a:prstGeom prst="rect">
            <a:avLst/>
          </a:prstGeom>
          <a:noFill/>
          <a:ln/>
        </p:spPr>
        <p:txBody>
          <a:bodyPr wrap="square" lIns="0" tIns="0" rIns="0" bIns="0" rtlCol="0" anchor="ctr"/>
          <a:lstStyle/>
          <a:p>
            <a:pPr algn="l" indent="0" marL="0">
              <a:buNone/>
            </a:pPr>
            <a:r>
              <a:rPr lang="en-US" sz="1500" b="1" dirty="0">
                <a:solidFill>
                  <a:srgbClr val="B22222"/>
                </a:solidFill>
                <a:latin typeface="Cambria" pitchFamily="34" charset="0"/>
                <a:ea typeface="Cambria" pitchFamily="34" charset="-122"/>
                <a:cs typeface="Cambria" pitchFamily="34" charset="-120"/>
              </a:rPr>
              <a:t>Barem:  </a:t>
            </a:r>
            <a:pPr algn="l" indent="0" marL="0">
              <a:buNone/>
            </a:pPr>
            <a:r>
              <a:rPr lang="en-US" sz="1500" dirty="0">
                <a:solidFill>
                  <a:srgbClr val="1A1A1A"/>
                </a:solidFill>
                <a:latin typeface="Cambria" pitchFamily="34" charset="0"/>
                <a:ea typeface="Cambria" pitchFamily="34" charset="-122"/>
                <a:cs typeface="Cambria" pitchFamily="34" charset="-120"/>
              </a:rPr>
              <a:t>toạ độ thật người dùng đã chạm, không phải mô hình tự cho điểm</a:t>
            </a:r>
            <a:endParaRPr lang="en-US" sz="1500" dirty="0"/>
          </a:p>
        </p:txBody>
      </p:sp>
      <p:sp>
        <p:nvSpPr>
          <p:cNvPr id="8" name="Text 6"/>
          <p:cNvSpPr/>
          <p:nvPr/>
        </p:nvSpPr>
        <p:spPr>
          <a:xfrm>
            <a:off x="502920" y="3977640"/>
            <a:ext cx="8138160" cy="731520"/>
          </a:xfrm>
          <a:prstGeom prst="rect">
            <a:avLst/>
          </a:prstGeom>
          <a:noFill/>
          <a:ln/>
        </p:spPr>
        <p:txBody>
          <a:bodyPr wrap="square" lIns="0" tIns="0" rIns="0" bIns="0" rtlCol="0" anchor="t"/>
          <a:lstStyle/>
          <a:p>
            <a:pPr algn="l" indent="0" marL="0">
              <a:lnSpc>
                <a:spcPct val="140000"/>
              </a:lnSpc>
              <a:buNone/>
            </a:pPr>
            <a:r>
              <a:rPr lang="en-US" sz="1300" i="1" dirty="0">
                <a:solidFill>
                  <a:srgbClr val="1A1A1A"/>
                </a:solidFill>
                <a:latin typeface="Cambria" pitchFamily="34" charset="0"/>
                <a:ea typeface="Cambria" pitchFamily="34" charset="-122"/>
                <a:cs typeface="Cambria" pitchFamily="34" charset="-120"/>
              </a:rPr>
              <a:t>Câu tốt = câu mà người chưa biết đáp án vẫn lần ra đúng nút</a:t>
            </a:r>
            <a:endParaRPr lang="en-US" sz="1300" dirty="0"/>
          </a:p>
          <a:p>
            <a:pPr algn="l" indent="0" marL="0">
              <a:lnSpc>
                <a:spcPct val="140000"/>
              </a:lnSpc>
              <a:buNone/>
            </a:pPr>
            <a:r>
              <a:rPr lang="en-US" sz="1300" i="1" dirty="0">
                <a:solidFill>
                  <a:srgbClr val="1A1A1A"/>
                </a:solidFill>
                <a:latin typeface="Cambria" pitchFamily="34" charset="0"/>
                <a:ea typeface="Cambria" pitchFamily="34" charset="-122"/>
                <a:cs typeface="Cambria" pitchFamily="34" charset="-120"/>
              </a:rPr>
              <a:t>Cách chấm của dòng referring expression, có từ 2016</a:t>
            </a:r>
            <a:endParaRPr lang="en-US" sz="1300" dirty="0"/>
          </a:p>
        </p:txBody>
      </p:sp>
      <p:sp>
        <p:nvSpPr>
          <p:cNvPr id="10" name="Shape 7"/>
          <p:cNvSpPr/>
          <p:nvPr/>
        </p:nvSpPr>
        <p:spPr>
          <a:xfrm>
            <a:off x="0" y="6620256"/>
            <a:ext cx="2743200" cy="237744"/>
          </a:xfrm>
          <a:prstGeom prst="rect">
            <a:avLst/>
          </a:prstGeom>
          <a:solidFill>
            <a:srgbClr val="191132"/>
          </a:solidFill>
          <a:ln/>
        </p:spPr>
      </p:sp>
      <p:sp>
        <p:nvSpPr>
          <p:cNvPr id="11" name="Shape 8"/>
          <p:cNvSpPr/>
          <p:nvPr/>
        </p:nvSpPr>
        <p:spPr>
          <a:xfrm>
            <a:off x="2743200" y="6620256"/>
            <a:ext cx="3383280" cy="237744"/>
          </a:xfrm>
          <a:prstGeom prst="rect">
            <a:avLst/>
          </a:prstGeom>
          <a:solidFill>
            <a:srgbClr val="25194B"/>
          </a:solidFill>
          <a:ln/>
        </p:spPr>
      </p:sp>
      <p:sp>
        <p:nvSpPr>
          <p:cNvPr id="12" name="Shape 9"/>
          <p:cNvSpPr/>
          <p:nvPr/>
        </p:nvSpPr>
        <p:spPr>
          <a:xfrm>
            <a:off x="6126480" y="6620256"/>
            <a:ext cx="1737360" cy="237744"/>
          </a:xfrm>
          <a:prstGeom prst="rect">
            <a:avLst/>
          </a:prstGeom>
          <a:solidFill>
            <a:srgbClr val="4F417A"/>
          </a:solidFill>
          <a:ln/>
        </p:spPr>
      </p:sp>
      <p:sp>
        <p:nvSpPr>
          <p:cNvPr id="13" name="Shape 10"/>
          <p:cNvSpPr/>
          <p:nvPr/>
        </p:nvSpPr>
        <p:spPr>
          <a:xfrm>
            <a:off x="7863840" y="6620256"/>
            <a:ext cx="1280160" cy="237744"/>
          </a:xfrm>
          <a:prstGeom prst="rect">
            <a:avLst/>
          </a:prstGeom>
          <a:solidFill>
            <a:srgbClr val="7A7099"/>
          </a:solidFill>
          <a:ln/>
        </p:spPr>
      </p:sp>
      <p:sp>
        <p:nvSpPr>
          <p:cNvPr id="14" name="Text 11"/>
          <p:cNvSpPr/>
          <p:nvPr/>
        </p:nvSpPr>
        <p:spPr>
          <a:xfrm>
            <a:off x="0" y="6620256"/>
            <a:ext cx="2743200" cy="237744"/>
          </a:xfrm>
          <a:prstGeom prst="rect">
            <a:avLst/>
          </a:prstGeom>
          <a:noFill/>
          <a:ln/>
        </p:spPr>
        <p:txBody>
          <a:bodyPr wrap="square" lIns="0" tIns="0" rIns="0" bIns="0" rtlCol="0" anchor="ctr"/>
          <a:lstStyle/>
          <a:p>
            <a:pPr algn="ctr" indent="0" marL="0">
              <a:buNone/>
            </a:pPr>
            <a:r>
              <a:rPr lang="en-US" sz="800" dirty="0">
                <a:solidFill>
                  <a:srgbClr val="FFFFFF"/>
                </a:solidFill>
                <a:latin typeface="Consolas" pitchFamily="34" charset="0"/>
                <a:ea typeface="Consolas" pitchFamily="34" charset="-122"/>
                <a:cs typeface="Consolas" pitchFamily="34" charset="-120"/>
              </a:rPr>
              <a:t>luận văn thạc sĩ</a:t>
            </a:r>
            <a:endParaRPr lang="en-US" sz="800" dirty="0"/>
          </a:p>
        </p:txBody>
      </p:sp>
      <p:sp>
        <p:nvSpPr>
          <p:cNvPr id="15" name="Text 12"/>
          <p:cNvSpPr/>
          <p:nvPr/>
        </p:nvSpPr>
        <p:spPr>
          <a:xfrm>
            <a:off x="2743200" y="6620256"/>
            <a:ext cx="3383280" cy="237744"/>
          </a:xfrm>
          <a:prstGeom prst="rect">
            <a:avLst/>
          </a:prstGeom>
          <a:noFill/>
          <a:ln/>
        </p:spPr>
        <p:txBody>
          <a:bodyPr wrap="square" lIns="0" tIns="0" rIns="0" bIns="0" rtlCol="0" anchor="ctr"/>
          <a:lstStyle/>
          <a:p>
            <a:pPr algn="ctr" indent="0" marL="0">
              <a:buNone/>
            </a:pPr>
            <a:r>
              <a:rPr lang="en-US" sz="800" dirty="0">
                <a:solidFill>
                  <a:srgbClr val="FFFFFF"/>
                </a:solidFill>
                <a:latin typeface="Cambria" pitchFamily="34" charset="0"/>
                <a:ea typeface="Cambria" pitchFamily="34" charset="-122"/>
                <a:cs typeface="Cambria" pitchFamily="34" charset="-120"/>
              </a:rPr>
              <a:t>Sinh hướng dẫn sử dụng phần mềm</a:t>
            </a:r>
            <a:endParaRPr lang="en-US" sz="800" dirty="0"/>
          </a:p>
        </p:txBody>
      </p:sp>
      <p:sp>
        <p:nvSpPr>
          <p:cNvPr id="16" name="Text 13"/>
          <p:cNvSpPr/>
          <p:nvPr/>
        </p:nvSpPr>
        <p:spPr>
          <a:xfrm>
            <a:off x="6126480" y="6620256"/>
            <a:ext cx="1737360" cy="237744"/>
          </a:xfrm>
          <a:prstGeom prst="rect">
            <a:avLst/>
          </a:prstGeom>
          <a:noFill/>
          <a:ln/>
        </p:spPr>
        <p:txBody>
          <a:bodyPr wrap="square" lIns="0" tIns="0" rIns="0" bIns="0" rtlCol="0" anchor="ctr"/>
          <a:lstStyle/>
          <a:p>
            <a:pPr algn="ctr" indent="0" marL="0">
              <a:buNone/>
            </a:pPr>
            <a:r>
              <a:rPr lang="en-US" sz="800" dirty="0">
                <a:solidFill>
                  <a:srgbClr val="FFFFFF"/>
                </a:solidFill>
                <a:latin typeface="Cambria" pitchFamily="34" charset="0"/>
                <a:ea typeface="Cambria" pitchFamily="34" charset="-122"/>
                <a:cs typeface="Cambria" pitchFamily="34" charset="-120"/>
              </a:rPr>
              <a:t>Lê Đoàn Phương Uyên</a:t>
            </a:r>
            <a:endParaRPr lang="en-US" sz="800" dirty="0"/>
          </a:p>
        </p:txBody>
      </p:sp>
      <p:sp>
        <p:nvSpPr>
          <p:cNvPr id="17" name="Text 14"/>
          <p:cNvSpPr/>
          <p:nvPr/>
        </p:nvSpPr>
        <p:spPr>
          <a:xfrm>
            <a:off x="7863840" y="6620256"/>
            <a:ext cx="1280160" cy="237744"/>
          </a:xfrm>
          <a:prstGeom prst="rect">
            <a:avLst/>
          </a:prstGeom>
          <a:noFill/>
          <a:ln/>
        </p:spPr>
        <p:txBody>
          <a:bodyPr wrap="square" lIns="0" tIns="0" rIns="0" bIns="0" rtlCol="0" anchor="ctr"/>
          <a:lstStyle/>
          <a:p>
            <a:pPr algn="ctr" indent="0" marL="0">
              <a:buNone/>
            </a:pPr>
            <a:r>
              <a:rPr lang="en-US" sz="800" dirty="0">
                <a:solidFill>
                  <a:srgbClr val="FFFFFF"/>
                </a:solidFill>
                <a:latin typeface="Cambria" pitchFamily="34" charset="0"/>
                <a:ea typeface="Cambria" pitchFamily="34" charset="-122"/>
                <a:cs typeface="Cambria" pitchFamily="34" charset="-120"/>
              </a:rPr>
              <a:t>17/26</a:t>
            </a:r>
            <a:endParaRPr lang="en-US" sz="8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48640"/>
          </a:xfrm>
          <a:prstGeom prst="rect">
            <a:avLst/>
          </a:prstGeom>
          <a:solidFill>
            <a:srgbClr val="322164"/>
          </a:solidFill>
          <a:ln/>
        </p:spPr>
      </p:sp>
      <p:sp>
        <p:nvSpPr>
          <p:cNvPr id="3" name="Text 1"/>
          <p:cNvSpPr/>
          <p:nvPr/>
        </p:nvSpPr>
        <p:spPr>
          <a:xfrm>
            <a:off x="201168" y="0"/>
            <a:ext cx="8741664" cy="548640"/>
          </a:xfrm>
          <a:prstGeom prst="rect">
            <a:avLst/>
          </a:prstGeom>
          <a:noFill/>
          <a:ln/>
        </p:spPr>
        <p:txBody>
          <a:bodyPr wrap="square" lIns="0" tIns="0" rIns="0" bIns="0" rtlCol="0" anchor="ctr"/>
          <a:lstStyle/>
          <a:p>
            <a:pPr algn="l" indent="0" marL="0">
              <a:buNone/>
            </a:pPr>
            <a:r>
              <a:rPr lang="en-US" sz="1900" b="1" dirty="0">
                <a:solidFill>
                  <a:srgbClr val="FFFFFF"/>
                </a:solidFill>
                <a:latin typeface="Cambria" pitchFamily="34" charset="0"/>
                <a:ea typeface="Cambria" pitchFamily="34" charset="-122"/>
                <a:cs typeface="Cambria" pitchFamily="34" charset="-120"/>
              </a:rPr>
              <a:t>4.2.  Thước có đáng tin không?</a:t>
            </a:r>
            <a:endParaRPr lang="en-US" sz="1900" dirty="0"/>
          </a:p>
        </p:txBody>
      </p:sp>
      <p:sp>
        <p:nvSpPr>
          <p:cNvPr id="4" name="Shape 2"/>
          <p:cNvSpPr/>
          <p:nvPr/>
        </p:nvSpPr>
        <p:spPr>
          <a:xfrm>
            <a:off x="502920" y="1005840"/>
            <a:ext cx="8138160" cy="2148840"/>
          </a:xfrm>
          <a:prstGeom prst="roundRect">
            <a:avLst>
              <a:gd name="adj" fmla="val 2553"/>
            </a:avLst>
          </a:prstGeom>
          <a:solidFill>
            <a:srgbClr val="E9E8EC"/>
          </a:solidFill>
          <a:ln/>
          <a:effectLst>
            <a:outerShdw sx="100000" sy="100000" kx="0" ky="0" algn="bl" rotWithShape="0" blurRad="63500" dist="31750" dir="2700000">
              <a:srgbClr val="8C8C99">
                <a:alpha val="45000"/>
              </a:srgbClr>
            </a:outerShdw>
          </a:effectLst>
        </p:spPr>
      </p:sp>
      <p:sp>
        <p:nvSpPr>
          <p:cNvPr id="5" name="Text 3"/>
          <p:cNvSpPr/>
          <p:nvPr/>
        </p:nvSpPr>
        <p:spPr>
          <a:xfrm>
            <a:off x="704088" y="1115568"/>
            <a:ext cx="7735824" cy="731520"/>
          </a:xfrm>
          <a:prstGeom prst="rect">
            <a:avLst/>
          </a:prstGeom>
          <a:noFill/>
          <a:ln/>
        </p:spPr>
        <p:txBody>
          <a:bodyPr wrap="square" lIns="0" tIns="0" rIns="0" bIns="0" rtlCol="0" anchor="t"/>
          <a:lstStyle/>
          <a:p>
            <a:pPr algn="l" indent="0" marL="0">
              <a:lnSpc>
                <a:spcPct val="140000"/>
              </a:lnSpc>
              <a:buNone/>
            </a:pPr>
            <a:r>
              <a:rPr lang="en-US" sz="1400" dirty="0">
                <a:solidFill>
                  <a:srgbClr val="1A1A1A"/>
                </a:solidFill>
                <a:latin typeface="Cambria" pitchFamily="34" charset="0"/>
                <a:ea typeface="Cambria" pitchFamily="34" charset="-122"/>
                <a:cs typeface="Cambria" pitchFamily="34" charset="-120"/>
              </a:rPr>
              <a:t>Cấy lỗi biết trước vào câu, xem thước có bắt được không: đạt 8/10.</a:t>
            </a:r>
            <a:endParaRPr lang="en-US" sz="1400" dirty="0"/>
          </a:p>
          <a:p>
            <a:pPr algn="l" indent="0" marL="0">
              <a:lnSpc>
                <a:spcPct val="140000"/>
              </a:lnSpc>
              <a:buNone/>
            </a:pPr>
            <a:r>
              <a:rPr lang="en-US" sz="1400" dirty="0">
                <a:solidFill>
                  <a:srgbClr val="1A1A1A"/>
                </a:solidFill>
                <a:latin typeface="Cambria" pitchFamily="34" charset="0"/>
                <a:ea typeface="Cambria" pitchFamily="34" charset="-122"/>
                <a:cs typeface="Cambria" pitchFamily="34" charset="-120"/>
              </a:rPr>
              <a:t>Hai tiêu chí chưa đạt:</a:t>
            </a:r>
            <a:endParaRPr lang="en-US" sz="1400" dirty="0"/>
          </a:p>
        </p:txBody>
      </p:sp>
      <p:sp>
        <p:nvSpPr>
          <p:cNvPr id="6" name="Text 4"/>
          <p:cNvSpPr/>
          <p:nvPr/>
        </p:nvSpPr>
        <p:spPr>
          <a:xfrm>
            <a:off x="822960" y="1920240"/>
            <a:ext cx="7498080" cy="822960"/>
          </a:xfrm>
          <a:prstGeom prst="rect">
            <a:avLst/>
          </a:prstGeom>
          <a:noFill/>
          <a:ln/>
        </p:spPr>
        <p:txBody>
          <a:bodyPr wrap="square" lIns="0" tIns="0" rIns="0" bIns="0" rtlCol="0" anchor="t"/>
          <a:lstStyle/>
          <a:p>
            <a:pPr algn="l" indent="0" marL="0">
              <a:lnSpc>
                <a:spcPct val="145000"/>
              </a:lnSpc>
              <a:buNone/>
            </a:pPr>
            <a:r>
              <a:rPr lang="en-US" sz="1350" dirty="0">
                <a:solidFill>
                  <a:srgbClr val="1A1A1A"/>
                </a:solidFill>
                <a:latin typeface="Cambria" pitchFamily="34" charset="0"/>
                <a:ea typeface="Cambria" pitchFamily="34" charset="-122"/>
                <a:cs typeface="Cambria" pitchFamily="34" charset="-120"/>
              </a:rPr>
              <a:t>-  Bộ trỏ lệch 3% thì kết oan 2,6% số câu đúng; lệch 8% thì oan tới 42%</a:t>
            </a:r>
            <a:endParaRPr lang="en-US" sz="1350" dirty="0"/>
          </a:p>
          <a:p>
            <a:pPr algn="l" indent="0" marL="0">
              <a:lnSpc>
                <a:spcPct val="145000"/>
              </a:lnSpc>
              <a:buNone/>
            </a:pPr>
            <a:r>
              <a:rPr lang="en-US" sz="1350" dirty="0">
                <a:solidFill>
                  <a:srgbClr val="1A1A1A"/>
                </a:solidFill>
                <a:latin typeface="Cambria" pitchFamily="34" charset="0"/>
                <a:ea typeface="Cambria" pitchFamily="34" charset="-122"/>
                <a:cs typeface="Cambria" pitchFamily="34" charset="-120"/>
              </a:rPr>
              <a:t>    → đặt thành CỔNG bắt buộc, phải qua mới được chạy tiếp</a:t>
            </a:r>
            <a:endParaRPr lang="en-US" sz="1350" dirty="0"/>
          </a:p>
        </p:txBody>
      </p:sp>
      <p:sp>
        <p:nvSpPr>
          <p:cNvPr id="7" name="Text 5"/>
          <p:cNvSpPr/>
          <p:nvPr/>
        </p:nvSpPr>
        <p:spPr>
          <a:xfrm>
            <a:off x="822960" y="2743200"/>
            <a:ext cx="7498080" cy="411480"/>
          </a:xfrm>
          <a:prstGeom prst="rect">
            <a:avLst/>
          </a:prstGeom>
          <a:noFill/>
          <a:ln/>
        </p:spPr>
        <p:txBody>
          <a:bodyPr wrap="square" lIns="0" tIns="0" rIns="0" bIns="0" rtlCol="0" anchor="t"/>
          <a:lstStyle/>
          <a:p>
            <a:pPr algn="l" indent="0" marL="0">
              <a:buNone/>
            </a:pPr>
            <a:r>
              <a:rPr lang="en-US" sz="1350" dirty="0">
                <a:solidFill>
                  <a:srgbClr val="1A1A1A"/>
                </a:solidFill>
                <a:latin typeface="Cambria" pitchFamily="34" charset="0"/>
                <a:ea typeface="Cambria" pitchFamily="34" charset="-122"/>
                <a:cs typeface="Cambria" pitchFamily="34" charset="-120"/>
              </a:rPr>
              <a:t>-  Luật bắt từ ngược nghĩa chỉ bắt được cặp có sẵn trong bảng</a:t>
            </a:r>
            <a:endParaRPr lang="en-US" sz="1350" dirty="0"/>
          </a:p>
        </p:txBody>
      </p:sp>
      <p:sp>
        <p:nvSpPr>
          <p:cNvPr id="8" name="Shape 6"/>
          <p:cNvSpPr/>
          <p:nvPr/>
        </p:nvSpPr>
        <p:spPr>
          <a:xfrm>
            <a:off x="502920" y="3474720"/>
            <a:ext cx="8138160" cy="1234440"/>
          </a:xfrm>
          <a:prstGeom prst="roundRect">
            <a:avLst>
              <a:gd name="adj" fmla="val 4444"/>
            </a:avLst>
          </a:prstGeom>
          <a:solidFill>
            <a:srgbClr val="E9E8EC"/>
          </a:solidFill>
          <a:ln/>
          <a:effectLst>
            <a:outerShdw sx="100000" sy="100000" kx="0" ky="0" algn="bl" rotWithShape="0" blurRad="63500" dist="31750" dir="2700000">
              <a:srgbClr val="8C8C99">
                <a:alpha val="45000"/>
              </a:srgbClr>
            </a:outerShdw>
          </a:effectLst>
        </p:spPr>
      </p:sp>
      <p:sp>
        <p:nvSpPr>
          <p:cNvPr id="9" name="Text 7"/>
          <p:cNvSpPr/>
          <p:nvPr/>
        </p:nvSpPr>
        <p:spPr>
          <a:xfrm>
            <a:off x="704088" y="3474720"/>
            <a:ext cx="7735824" cy="1234440"/>
          </a:xfrm>
          <a:prstGeom prst="rect">
            <a:avLst/>
          </a:prstGeom>
          <a:noFill/>
          <a:ln/>
        </p:spPr>
        <p:txBody>
          <a:bodyPr wrap="square" lIns="0" tIns="0" rIns="0" bIns="0" rtlCol="0" anchor="ctr"/>
          <a:lstStyle/>
          <a:p>
            <a:pPr algn="l" indent="0" marL="0">
              <a:lnSpc>
                <a:spcPct val="140000"/>
              </a:lnSpc>
              <a:buNone/>
            </a:pPr>
            <a:r>
              <a:rPr lang="en-US" sz="1350" b="1" dirty="0">
                <a:solidFill>
                  <a:srgbClr val="B22222"/>
                </a:solidFill>
                <a:latin typeface="Cambria" pitchFamily="34" charset="0"/>
                <a:ea typeface="Cambria" pitchFamily="34" charset="-122"/>
                <a:cs typeface="Cambria" pitchFamily="34" charset="-120"/>
              </a:rPr>
              <a:t>Cổng đã kiểm ngày 9/8:  ĐẠT.  </a:t>
            </a:r>
            <a:pPr algn="l" indent="0" marL="0">
              <a:lnSpc>
                <a:spcPct val="140000"/>
              </a:lnSpc>
              <a:buNone/>
            </a:pPr>
            <a:r>
              <a:rPr lang="en-US" sz="1350" dirty="0">
                <a:solidFill>
                  <a:srgbClr val="1A1A1A"/>
                </a:solidFill>
                <a:latin typeface="Cambria" pitchFamily="34" charset="0"/>
                <a:ea typeface="Cambria" pitchFamily="34" charset="-122"/>
                <a:cs typeface="Cambria" pitchFamily="34" charset="-120"/>
              </a:rPr>
              <a:t>Sai số trung vị 0,7% - ngưỡng 3%.</a:t>
            </a:r>
            <a:endParaRPr lang="en-US" sz="1350" dirty="0"/>
          </a:p>
          <a:p>
            <a:pPr algn="l" indent="0" marL="0">
              <a:lnSpc>
                <a:spcPct val="140000"/>
              </a:lnSpc>
              <a:buNone/>
            </a:pPr>
            <a:r>
              <a:rPr lang="en-US" sz="1350" dirty="0">
                <a:solidFill>
                  <a:srgbClr val="1A1A1A"/>
                </a:solidFill>
                <a:latin typeface="Cambria" pitchFamily="34" charset="0"/>
                <a:ea typeface="Cambria" pitchFamily="34" charset="-122"/>
                <a:cs typeface="Cambria" pitchFamily="34" charset="-120"/>
              </a:rPr>
              <a:t>Xác nhận thêm bằng dụng cụ thật: dưới 3% thì 100% số ca chấm đúng (n = 188).</a:t>
            </a:r>
            <a:endParaRPr lang="en-US" sz="1350" dirty="0"/>
          </a:p>
        </p:txBody>
      </p:sp>
      <p:sp>
        <p:nvSpPr>
          <p:cNvPr id="10" name="Text 8"/>
          <p:cNvSpPr/>
          <p:nvPr/>
        </p:nvSpPr>
        <p:spPr>
          <a:xfrm>
            <a:off x="502920" y="4892040"/>
            <a:ext cx="8138160" cy="457200"/>
          </a:xfrm>
          <a:prstGeom prst="rect">
            <a:avLst/>
          </a:prstGeom>
          <a:noFill/>
          <a:ln/>
        </p:spPr>
        <p:txBody>
          <a:bodyPr wrap="square" lIns="0" tIns="0" rIns="0" bIns="0" rtlCol="0" anchor="t"/>
          <a:lstStyle/>
          <a:p>
            <a:pPr algn="l" indent="0" marL="0">
              <a:buNone/>
            </a:pPr>
            <a:r>
              <a:rPr lang="en-US" sz="1300" dirty="0">
                <a:solidFill>
                  <a:srgbClr val="1A1A1A"/>
                </a:solidFill>
                <a:latin typeface="Cambria" pitchFamily="34" charset="0"/>
                <a:ea typeface="Cambria" pitchFamily="34" charset="-122"/>
                <a:cs typeface="Cambria" pitchFamily="34" charset="-120"/>
              </a:rPr>
              <a:t>Kiểm chéo vẫn giữ: chấm tay 100 câu (hai người) · cắt theo độ dài câu · báo hai cách chấm</a:t>
            </a:r>
            <a:endParaRPr lang="en-US" sz="1300" dirty="0"/>
          </a:p>
        </p:txBody>
      </p:sp>
      <p:sp>
        <p:nvSpPr>
          <p:cNvPr id="12" name="Shape 9"/>
          <p:cNvSpPr/>
          <p:nvPr/>
        </p:nvSpPr>
        <p:spPr>
          <a:xfrm>
            <a:off x="0" y="6620256"/>
            <a:ext cx="2743200" cy="237744"/>
          </a:xfrm>
          <a:prstGeom prst="rect">
            <a:avLst/>
          </a:prstGeom>
          <a:solidFill>
            <a:srgbClr val="191132"/>
          </a:solidFill>
          <a:ln/>
        </p:spPr>
      </p:sp>
      <p:sp>
        <p:nvSpPr>
          <p:cNvPr id="13" name="Shape 10"/>
          <p:cNvSpPr/>
          <p:nvPr/>
        </p:nvSpPr>
        <p:spPr>
          <a:xfrm>
            <a:off x="2743200" y="6620256"/>
            <a:ext cx="3383280" cy="237744"/>
          </a:xfrm>
          <a:prstGeom prst="rect">
            <a:avLst/>
          </a:prstGeom>
          <a:solidFill>
            <a:srgbClr val="25194B"/>
          </a:solidFill>
          <a:ln/>
        </p:spPr>
      </p:sp>
      <p:sp>
        <p:nvSpPr>
          <p:cNvPr id="14" name="Shape 11"/>
          <p:cNvSpPr/>
          <p:nvPr/>
        </p:nvSpPr>
        <p:spPr>
          <a:xfrm>
            <a:off x="6126480" y="6620256"/>
            <a:ext cx="1737360" cy="237744"/>
          </a:xfrm>
          <a:prstGeom prst="rect">
            <a:avLst/>
          </a:prstGeom>
          <a:solidFill>
            <a:srgbClr val="4F417A"/>
          </a:solidFill>
          <a:ln/>
        </p:spPr>
      </p:sp>
      <p:sp>
        <p:nvSpPr>
          <p:cNvPr id="15" name="Shape 12"/>
          <p:cNvSpPr/>
          <p:nvPr/>
        </p:nvSpPr>
        <p:spPr>
          <a:xfrm>
            <a:off x="7863840" y="6620256"/>
            <a:ext cx="1280160" cy="237744"/>
          </a:xfrm>
          <a:prstGeom prst="rect">
            <a:avLst/>
          </a:prstGeom>
          <a:solidFill>
            <a:srgbClr val="7A7099"/>
          </a:solidFill>
          <a:ln/>
        </p:spPr>
      </p:sp>
      <p:sp>
        <p:nvSpPr>
          <p:cNvPr id="16" name="Text 13"/>
          <p:cNvSpPr/>
          <p:nvPr/>
        </p:nvSpPr>
        <p:spPr>
          <a:xfrm>
            <a:off x="0" y="6620256"/>
            <a:ext cx="2743200" cy="237744"/>
          </a:xfrm>
          <a:prstGeom prst="rect">
            <a:avLst/>
          </a:prstGeom>
          <a:noFill/>
          <a:ln/>
        </p:spPr>
        <p:txBody>
          <a:bodyPr wrap="square" lIns="0" tIns="0" rIns="0" bIns="0" rtlCol="0" anchor="ctr"/>
          <a:lstStyle/>
          <a:p>
            <a:pPr algn="ctr" indent="0" marL="0">
              <a:buNone/>
            </a:pPr>
            <a:r>
              <a:rPr lang="en-US" sz="800" dirty="0">
                <a:solidFill>
                  <a:srgbClr val="FFFFFF"/>
                </a:solidFill>
                <a:latin typeface="Consolas" pitchFamily="34" charset="0"/>
                <a:ea typeface="Consolas" pitchFamily="34" charset="-122"/>
                <a:cs typeface="Consolas" pitchFamily="34" charset="-120"/>
              </a:rPr>
              <a:t>luận văn thạc sĩ</a:t>
            </a:r>
            <a:endParaRPr lang="en-US" sz="800" dirty="0"/>
          </a:p>
        </p:txBody>
      </p:sp>
      <p:sp>
        <p:nvSpPr>
          <p:cNvPr id="17" name="Text 14"/>
          <p:cNvSpPr/>
          <p:nvPr/>
        </p:nvSpPr>
        <p:spPr>
          <a:xfrm>
            <a:off x="2743200" y="6620256"/>
            <a:ext cx="3383280" cy="237744"/>
          </a:xfrm>
          <a:prstGeom prst="rect">
            <a:avLst/>
          </a:prstGeom>
          <a:noFill/>
          <a:ln/>
        </p:spPr>
        <p:txBody>
          <a:bodyPr wrap="square" lIns="0" tIns="0" rIns="0" bIns="0" rtlCol="0" anchor="ctr"/>
          <a:lstStyle/>
          <a:p>
            <a:pPr algn="ctr" indent="0" marL="0">
              <a:buNone/>
            </a:pPr>
            <a:r>
              <a:rPr lang="en-US" sz="800" dirty="0">
                <a:solidFill>
                  <a:srgbClr val="FFFFFF"/>
                </a:solidFill>
                <a:latin typeface="Cambria" pitchFamily="34" charset="0"/>
                <a:ea typeface="Cambria" pitchFamily="34" charset="-122"/>
                <a:cs typeface="Cambria" pitchFamily="34" charset="-120"/>
              </a:rPr>
              <a:t>Sinh hướng dẫn sử dụng phần mềm</a:t>
            </a:r>
            <a:endParaRPr lang="en-US" sz="800" dirty="0"/>
          </a:p>
        </p:txBody>
      </p:sp>
      <p:sp>
        <p:nvSpPr>
          <p:cNvPr id="18" name="Text 15"/>
          <p:cNvSpPr/>
          <p:nvPr/>
        </p:nvSpPr>
        <p:spPr>
          <a:xfrm>
            <a:off x="6126480" y="6620256"/>
            <a:ext cx="1737360" cy="237744"/>
          </a:xfrm>
          <a:prstGeom prst="rect">
            <a:avLst/>
          </a:prstGeom>
          <a:noFill/>
          <a:ln/>
        </p:spPr>
        <p:txBody>
          <a:bodyPr wrap="square" lIns="0" tIns="0" rIns="0" bIns="0" rtlCol="0" anchor="ctr"/>
          <a:lstStyle/>
          <a:p>
            <a:pPr algn="ctr" indent="0" marL="0">
              <a:buNone/>
            </a:pPr>
            <a:r>
              <a:rPr lang="en-US" sz="800" dirty="0">
                <a:solidFill>
                  <a:srgbClr val="FFFFFF"/>
                </a:solidFill>
                <a:latin typeface="Cambria" pitchFamily="34" charset="0"/>
                <a:ea typeface="Cambria" pitchFamily="34" charset="-122"/>
                <a:cs typeface="Cambria" pitchFamily="34" charset="-120"/>
              </a:rPr>
              <a:t>Lê Đoàn Phương Uyên</a:t>
            </a:r>
            <a:endParaRPr lang="en-US" sz="800" dirty="0"/>
          </a:p>
        </p:txBody>
      </p:sp>
      <p:sp>
        <p:nvSpPr>
          <p:cNvPr id="19" name="Text 16"/>
          <p:cNvSpPr/>
          <p:nvPr/>
        </p:nvSpPr>
        <p:spPr>
          <a:xfrm>
            <a:off x="7863840" y="6620256"/>
            <a:ext cx="1280160" cy="237744"/>
          </a:xfrm>
          <a:prstGeom prst="rect">
            <a:avLst/>
          </a:prstGeom>
          <a:noFill/>
          <a:ln/>
        </p:spPr>
        <p:txBody>
          <a:bodyPr wrap="square" lIns="0" tIns="0" rIns="0" bIns="0" rtlCol="0" anchor="ctr"/>
          <a:lstStyle/>
          <a:p>
            <a:pPr algn="ctr" indent="0" marL="0">
              <a:buNone/>
            </a:pPr>
            <a:r>
              <a:rPr lang="en-US" sz="800" dirty="0">
                <a:solidFill>
                  <a:srgbClr val="FFFFFF"/>
                </a:solidFill>
                <a:latin typeface="Cambria" pitchFamily="34" charset="0"/>
                <a:ea typeface="Cambria" pitchFamily="34" charset="-122"/>
                <a:cs typeface="Cambria" pitchFamily="34" charset="-120"/>
              </a:rPr>
              <a:t>18/26</a:t>
            </a:r>
            <a:endParaRPr lang="en-US" sz="8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48640"/>
          </a:xfrm>
          <a:prstGeom prst="rect">
            <a:avLst/>
          </a:prstGeom>
          <a:solidFill>
            <a:srgbClr val="322164"/>
          </a:solidFill>
          <a:ln/>
        </p:spPr>
      </p:sp>
      <p:sp>
        <p:nvSpPr>
          <p:cNvPr id="3" name="Text 1"/>
          <p:cNvSpPr/>
          <p:nvPr/>
        </p:nvSpPr>
        <p:spPr>
          <a:xfrm>
            <a:off x="201168" y="0"/>
            <a:ext cx="8741664" cy="548640"/>
          </a:xfrm>
          <a:prstGeom prst="rect">
            <a:avLst/>
          </a:prstGeom>
          <a:noFill/>
          <a:ln/>
        </p:spPr>
        <p:txBody>
          <a:bodyPr wrap="square" lIns="0" tIns="0" rIns="0" bIns="0" rtlCol="0" anchor="ctr"/>
          <a:lstStyle/>
          <a:p>
            <a:pPr algn="l" indent="0" marL="0">
              <a:buNone/>
            </a:pPr>
            <a:r>
              <a:rPr lang="en-US" sz="1900" b="1" dirty="0">
                <a:solidFill>
                  <a:srgbClr val="FFFFFF"/>
                </a:solidFill>
                <a:latin typeface="Cambria" pitchFamily="34" charset="0"/>
                <a:ea typeface="Cambria" pitchFamily="34" charset="-122"/>
                <a:cs typeface="Cambria" pitchFamily="34" charset="-120"/>
              </a:rPr>
              <a:t>4.3.  Trần của thước đo:  cao nhất chỉ tới 70%</a:t>
            </a:r>
            <a:endParaRPr lang="en-US" sz="1900" dirty="0"/>
          </a:p>
        </p:txBody>
      </p:sp>
      <p:sp>
        <p:nvSpPr>
          <p:cNvPr id="4" name="Shape 2"/>
          <p:cNvSpPr/>
          <p:nvPr/>
        </p:nvSpPr>
        <p:spPr>
          <a:xfrm>
            <a:off x="502920" y="960120"/>
            <a:ext cx="8138160" cy="1371600"/>
          </a:xfrm>
          <a:prstGeom prst="roundRect">
            <a:avLst>
              <a:gd name="adj" fmla="val 4000"/>
            </a:avLst>
          </a:prstGeom>
          <a:solidFill>
            <a:srgbClr val="E9E8EC"/>
          </a:solidFill>
          <a:ln/>
          <a:effectLst>
            <a:outerShdw sx="100000" sy="100000" kx="0" ky="0" algn="bl" rotWithShape="0" blurRad="63500" dist="31750" dir="2700000">
              <a:srgbClr val="8C8C99">
                <a:alpha val="45000"/>
              </a:srgbClr>
            </a:outerShdw>
          </a:effectLst>
        </p:spPr>
      </p:sp>
      <p:sp>
        <p:nvSpPr>
          <p:cNvPr id="5" name="Text 3"/>
          <p:cNvSpPr/>
          <p:nvPr/>
        </p:nvSpPr>
        <p:spPr>
          <a:xfrm>
            <a:off x="704088" y="960120"/>
            <a:ext cx="7735824" cy="1371600"/>
          </a:xfrm>
          <a:prstGeom prst="rect">
            <a:avLst/>
          </a:prstGeom>
          <a:noFill/>
          <a:ln/>
        </p:spPr>
        <p:txBody>
          <a:bodyPr wrap="square" lIns="0" tIns="0" rIns="0" bIns="0" rtlCol="0" anchor="ctr"/>
          <a:lstStyle/>
          <a:p>
            <a:pPr algn="l" indent="0" marL="0">
              <a:lnSpc>
                <a:spcPct val="150000"/>
              </a:lnSpc>
              <a:buNone/>
            </a:pPr>
            <a:r>
              <a:rPr lang="en-US" sz="1400" dirty="0">
                <a:solidFill>
                  <a:srgbClr val="1A1A1A"/>
                </a:solidFill>
                <a:latin typeface="Cambria" pitchFamily="34" charset="0"/>
                <a:ea typeface="Cambria" pitchFamily="34" charset="-122"/>
                <a:cs typeface="Cambria" pitchFamily="34" charset="-120"/>
              </a:rPr>
              <a:t>Câu chuẩn do người viết, đem chấm bằng chính bộ trỏ:  đúng 70,0%   [64,5 - 75,3]</a:t>
            </a:r>
            <a:endParaRPr lang="en-US" sz="1400" dirty="0"/>
          </a:p>
          <a:p>
            <a:pPr algn="l" indent="0" marL="0">
              <a:lnSpc>
                <a:spcPct val="150000"/>
              </a:lnSpc>
              <a:buNone/>
            </a:pPr>
            <a:r>
              <a:rPr lang="en-US" sz="1400" dirty="0">
                <a:solidFill>
                  <a:srgbClr val="1A1A1A"/>
                </a:solidFill>
                <a:latin typeface="Cambria" pitchFamily="34" charset="0"/>
                <a:ea typeface="Cambria" pitchFamily="34" charset="-122"/>
                <a:cs typeface="Cambria" pitchFamily="34" charset="-120"/>
              </a:rPr>
              <a:t>Không câu nào do mô hình sinh mà vượt được câu chuẩn.</a:t>
            </a:r>
            <a:endParaRPr lang="en-US" sz="1400" dirty="0"/>
          </a:p>
        </p:txBody>
      </p:sp>
      <p:sp>
        <p:nvSpPr>
          <p:cNvPr id="6" name="Shape 4"/>
          <p:cNvSpPr/>
          <p:nvPr/>
        </p:nvSpPr>
        <p:spPr>
          <a:xfrm>
            <a:off x="502920" y="2560320"/>
            <a:ext cx="8138160" cy="1417320"/>
          </a:xfrm>
          <a:prstGeom prst="roundRect">
            <a:avLst>
              <a:gd name="adj" fmla="val 3871"/>
            </a:avLst>
          </a:prstGeom>
          <a:solidFill>
            <a:srgbClr val="E9E8EC"/>
          </a:solidFill>
          <a:ln/>
          <a:effectLst>
            <a:outerShdw sx="100000" sy="100000" kx="0" ky="0" algn="bl" rotWithShape="0" blurRad="63500" dist="31750" dir="2700000">
              <a:srgbClr val="8C8C99">
                <a:alpha val="45000"/>
              </a:srgbClr>
            </a:outerShdw>
          </a:effectLst>
        </p:spPr>
      </p:sp>
      <p:sp>
        <p:nvSpPr>
          <p:cNvPr id="7" name="Text 5"/>
          <p:cNvSpPr/>
          <p:nvPr/>
        </p:nvSpPr>
        <p:spPr>
          <a:xfrm>
            <a:off x="822960" y="2743200"/>
            <a:ext cx="7498080" cy="1097280"/>
          </a:xfrm>
          <a:prstGeom prst="rect">
            <a:avLst/>
          </a:prstGeom>
          <a:noFill/>
          <a:ln/>
        </p:spPr>
        <p:txBody>
          <a:bodyPr wrap="square" lIns="0" tIns="0" rIns="0" bIns="0" rtlCol="0" anchor="t"/>
          <a:lstStyle/>
          <a:p>
            <a:pPr algn="l" indent="0" marL="0">
              <a:lnSpc>
                <a:spcPct val="160000"/>
              </a:lnSpc>
              <a:buNone/>
            </a:pPr>
            <a:r>
              <a:rPr lang="en-US" sz="1350" dirty="0">
                <a:solidFill>
                  <a:srgbClr val="1A1A1A"/>
                </a:solidFill>
                <a:latin typeface="Cambria" pitchFamily="34" charset="0"/>
                <a:ea typeface="Cambria" pitchFamily="34" charset="-122"/>
                <a:cs typeface="Cambria" pitchFamily="34" charset="-120"/>
              </a:rPr>
              <a:t>-  Ví dụ 55% điểm  =  79% của trần</a:t>
            </a:r>
            <a:endParaRPr lang="en-US" sz="1350" dirty="0"/>
          </a:p>
          <a:p>
            <a:pPr algn="l" indent="0" marL="0">
              <a:lnSpc>
                <a:spcPct val="160000"/>
              </a:lnSpc>
              <a:buNone/>
            </a:pPr>
            <a:r>
              <a:rPr lang="en-US" sz="1350" dirty="0">
                <a:solidFill>
                  <a:srgbClr val="1A1A1A"/>
                </a:solidFill>
                <a:latin typeface="Cambria" pitchFamily="34" charset="0"/>
                <a:ea typeface="Cambria" pitchFamily="34" charset="-122"/>
                <a:cs typeface="Cambria" pitchFamily="34" charset="-120"/>
              </a:rPr>
              <a:t>-  30% còn lại: giới hạn của dụng cụ chấm, không phải của mô hình</a:t>
            </a:r>
            <a:endParaRPr lang="en-US" sz="1350" dirty="0"/>
          </a:p>
          <a:p>
            <a:pPr algn="l" indent="0" marL="0">
              <a:lnSpc>
                <a:spcPct val="160000"/>
              </a:lnSpc>
              <a:buNone/>
            </a:pPr>
            <a:r>
              <a:rPr lang="en-US" sz="1350" dirty="0">
                <a:solidFill>
                  <a:srgbClr val="1A1A1A"/>
                </a:solidFill>
                <a:latin typeface="Cambria" pitchFamily="34" charset="0"/>
                <a:ea typeface="Cambria" pitchFamily="34" charset="-122"/>
                <a:cs typeface="Cambria" pitchFamily="34" charset="-120"/>
              </a:rPr>
              <a:t>-  Đo trước khi có kết quả, ghi ngày trong bản đăng ký</a:t>
            </a:r>
            <a:endParaRPr lang="en-US" sz="1350" dirty="0"/>
          </a:p>
        </p:txBody>
      </p:sp>
      <p:sp>
        <p:nvSpPr>
          <p:cNvPr id="8" name="Shape 6"/>
          <p:cNvSpPr/>
          <p:nvPr/>
        </p:nvSpPr>
        <p:spPr>
          <a:xfrm>
            <a:off x="502920" y="4206240"/>
            <a:ext cx="8138160" cy="1234440"/>
          </a:xfrm>
          <a:prstGeom prst="roundRect">
            <a:avLst>
              <a:gd name="adj" fmla="val 4444"/>
            </a:avLst>
          </a:prstGeom>
          <a:solidFill>
            <a:srgbClr val="E9E8EC"/>
          </a:solidFill>
          <a:ln/>
          <a:effectLst>
            <a:outerShdw sx="100000" sy="100000" kx="0" ky="0" algn="bl" rotWithShape="0" blurRad="63500" dist="31750" dir="2700000">
              <a:srgbClr val="8C8C99">
                <a:alpha val="45000"/>
              </a:srgbClr>
            </a:outerShdw>
          </a:effectLst>
        </p:spPr>
      </p:sp>
      <p:sp>
        <p:nvSpPr>
          <p:cNvPr id="9" name="Text 7"/>
          <p:cNvSpPr/>
          <p:nvPr/>
        </p:nvSpPr>
        <p:spPr>
          <a:xfrm>
            <a:off x="704088" y="4206240"/>
            <a:ext cx="7735824" cy="1234440"/>
          </a:xfrm>
          <a:prstGeom prst="rect">
            <a:avLst/>
          </a:prstGeom>
          <a:noFill/>
          <a:ln/>
        </p:spPr>
        <p:txBody>
          <a:bodyPr wrap="square" lIns="0" tIns="0" rIns="0" bIns="0" rtlCol="0" anchor="ctr"/>
          <a:lstStyle/>
          <a:p>
            <a:pPr algn="l" indent="0" marL="0">
              <a:lnSpc>
                <a:spcPct val="140000"/>
              </a:lnSpc>
              <a:buNone/>
            </a:pPr>
            <a:r>
              <a:rPr lang="en-US" sz="1350" b="1" dirty="0">
                <a:solidFill>
                  <a:srgbClr val="006666"/>
                </a:solidFill>
                <a:latin typeface="Cambria" pitchFamily="34" charset="0"/>
                <a:ea typeface="Cambria" pitchFamily="34" charset="-122"/>
                <a:cs typeface="Cambria" pitchFamily="34" charset="-120"/>
              </a:rPr>
              <a:t>Con số công bố là HIỆU SỐ giữa hai bản, không phải điểm tuyệt đối.
</a:t>
            </a:r>
            <a:pPr algn="l" indent="0" marL="0">
              <a:lnSpc>
                <a:spcPct val="140000"/>
              </a:lnSpc>
              <a:buNone/>
            </a:pPr>
            <a:r>
              <a:rPr lang="en-US" sz="1350" dirty="0">
                <a:solidFill>
                  <a:srgbClr val="1A1A1A"/>
                </a:solidFill>
                <a:latin typeface="Cambria" pitchFamily="34" charset="0"/>
                <a:ea typeface="Cambria" pitchFamily="34" charset="-122"/>
                <a:cs typeface="Cambria" pitchFamily="34" charset="-120"/>
              </a:rPr>
              <a:t>Hai bản chấm bằng cùng một dụng cụ, nên phần thiệt triệt tiêu trong hiệu.</a:t>
            </a:r>
            <a:endParaRPr lang="en-US" sz="1350" dirty="0"/>
          </a:p>
        </p:txBody>
      </p:sp>
      <p:sp>
        <p:nvSpPr>
          <p:cNvPr id="11" name="Shape 8"/>
          <p:cNvSpPr/>
          <p:nvPr/>
        </p:nvSpPr>
        <p:spPr>
          <a:xfrm>
            <a:off x="0" y="6620256"/>
            <a:ext cx="2743200" cy="237744"/>
          </a:xfrm>
          <a:prstGeom prst="rect">
            <a:avLst/>
          </a:prstGeom>
          <a:solidFill>
            <a:srgbClr val="191132"/>
          </a:solidFill>
          <a:ln/>
        </p:spPr>
      </p:sp>
      <p:sp>
        <p:nvSpPr>
          <p:cNvPr id="12" name="Shape 9"/>
          <p:cNvSpPr/>
          <p:nvPr/>
        </p:nvSpPr>
        <p:spPr>
          <a:xfrm>
            <a:off x="2743200" y="6620256"/>
            <a:ext cx="3383280" cy="237744"/>
          </a:xfrm>
          <a:prstGeom prst="rect">
            <a:avLst/>
          </a:prstGeom>
          <a:solidFill>
            <a:srgbClr val="25194B"/>
          </a:solidFill>
          <a:ln/>
        </p:spPr>
      </p:sp>
      <p:sp>
        <p:nvSpPr>
          <p:cNvPr id="13" name="Shape 10"/>
          <p:cNvSpPr/>
          <p:nvPr/>
        </p:nvSpPr>
        <p:spPr>
          <a:xfrm>
            <a:off x="6126480" y="6620256"/>
            <a:ext cx="1737360" cy="237744"/>
          </a:xfrm>
          <a:prstGeom prst="rect">
            <a:avLst/>
          </a:prstGeom>
          <a:solidFill>
            <a:srgbClr val="4F417A"/>
          </a:solidFill>
          <a:ln/>
        </p:spPr>
      </p:sp>
      <p:sp>
        <p:nvSpPr>
          <p:cNvPr id="14" name="Shape 11"/>
          <p:cNvSpPr/>
          <p:nvPr/>
        </p:nvSpPr>
        <p:spPr>
          <a:xfrm>
            <a:off x="7863840" y="6620256"/>
            <a:ext cx="1280160" cy="237744"/>
          </a:xfrm>
          <a:prstGeom prst="rect">
            <a:avLst/>
          </a:prstGeom>
          <a:solidFill>
            <a:srgbClr val="7A7099"/>
          </a:solidFill>
          <a:ln/>
        </p:spPr>
      </p:sp>
      <p:sp>
        <p:nvSpPr>
          <p:cNvPr id="15" name="Text 12"/>
          <p:cNvSpPr/>
          <p:nvPr/>
        </p:nvSpPr>
        <p:spPr>
          <a:xfrm>
            <a:off x="0" y="6620256"/>
            <a:ext cx="2743200" cy="237744"/>
          </a:xfrm>
          <a:prstGeom prst="rect">
            <a:avLst/>
          </a:prstGeom>
          <a:noFill/>
          <a:ln/>
        </p:spPr>
        <p:txBody>
          <a:bodyPr wrap="square" lIns="0" tIns="0" rIns="0" bIns="0" rtlCol="0" anchor="ctr"/>
          <a:lstStyle/>
          <a:p>
            <a:pPr algn="ctr" indent="0" marL="0">
              <a:buNone/>
            </a:pPr>
            <a:r>
              <a:rPr lang="en-US" sz="800" dirty="0">
                <a:solidFill>
                  <a:srgbClr val="FFFFFF"/>
                </a:solidFill>
                <a:latin typeface="Consolas" pitchFamily="34" charset="0"/>
                <a:ea typeface="Consolas" pitchFamily="34" charset="-122"/>
                <a:cs typeface="Consolas" pitchFamily="34" charset="-120"/>
              </a:rPr>
              <a:t>luận văn thạc sĩ</a:t>
            </a:r>
            <a:endParaRPr lang="en-US" sz="800" dirty="0"/>
          </a:p>
        </p:txBody>
      </p:sp>
      <p:sp>
        <p:nvSpPr>
          <p:cNvPr id="16" name="Text 13"/>
          <p:cNvSpPr/>
          <p:nvPr/>
        </p:nvSpPr>
        <p:spPr>
          <a:xfrm>
            <a:off x="2743200" y="6620256"/>
            <a:ext cx="3383280" cy="237744"/>
          </a:xfrm>
          <a:prstGeom prst="rect">
            <a:avLst/>
          </a:prstGeom>
          <a:noFill/>
          <a:ln/>
        </p:spPr>
        <p:txBody>
          <a:bodyPr wrap="square" lIns="0" tIns="0" rIns="0" bIns="0" rtlCol="0" anchor="ctr"/>
          <a:lstStyle/>
          <a:p>
            <a:pPr algn="ctr" indent="0" marL="0">
              <a:buNone/>
            </a:pPr>
            <a:r>
              <a:rPr lang="en-US" sz="800" dirty="0">
                <a:solidFill>
                  <a:srgbClr val="FFFFFF"/>
                </a:solidFill>
                <a:latin typeface="Cambria" pitchFamily="34" charset="0"/>
                <a:ea typeface="Cambria" pitchFamily="34" charset="-122"/>
                <a:cs typeface="Cambria" pitchFamily="34" charset="-120"/>
              </a:rPr>
              <a:t>Sinh hướng dẫn sử dụng phần mềm</a:t>
            </a:r>
            <a:endParaRPr lang="en-US" sz="800" dirty="0"/>
          </a:p>
        </p:txBody>
      </p:sp>
      <p:sp>
        <p:nvSpPr>
          <p:cNvPr id="17" name="Text 14"/>
          <p:cNvSpPr/>
          <p:nvPr/>
        </p:nvSpPr>
        <p:spPr>
          <a:xfrm>
            <a:off x="6126480" y="6620256"/>
            <a:ext cx="1737360" cy="237744"/>
          </a:xfrm>
          <a:prstGeom prst="rect">
            <a:avLst/>
          </a:prstGeom>
          <a:noFill/>
          <a:ln/>
        </p:spPr>
        <p:txBody>
          <a:bodyPr wrap="square" lIns="0" tIns="0" rIns="0" bIns="0" rtlCol="0" anchor="ctr"/>
          <a:lstStyle/>
          <a:p>
            <a:pPr algn="ctr" indent="0" marL="0">
              <a:buNone/>
            </a:pPr>
            <a:r>
              <a:rPr lang="en-US" sz="800" dirty="0">
                <a:solidFill>
                  <a:srgbClr val="FFFFFF"/>
                </a:solidFill>
                <a:latin typeface="Cambria" pitchFamily="34" charset="0"/>
                <a:ea typeface="Cambria" pitchFamily="34" charset="-122"/>
                <a:cs typeface="Cambria" pitchFamily="34" charset="-120"/>
              </a:rPr>
              <a:t>Lê Đoàn Phương Uyên</a:t>
            </a:r>
            <a:endParaRPr lang="en-US" sz="800" dirty="0"/>
          </a:p>
        </p:txBody>
      </p:sp>
      <p:sp>
        <p:nvSpPr>
          <p:cNvPr id="18" name="Text 15"/>
          <p:cNvSpPr/>
          <p:nvPr/>
        </p:nvSpPr>
        <p:spPr>
          <a:xfrm>
            <a:off x="7863840" y="6620256"/>
            <a:ext cx="1280160" cy="237744"/>
          </a:xfrm>
          <a:prstGeom prst="rect">
            <a:avLst/>
          </a:prstGeom>
          <a:noFill/>
          <a:ln/>
        </p:spPr>
        <p:txBody>
          <a:bodyPr wrap="square" lIns="0" tIns="0" rIns="0" bIns="0" rtlCol="0" anchor="ctr"/>
          <a:lstStyle/>
          <a:p>
            <a:pPr algn="ctr" indent="0" marL="0">
              <a:buNone/>
            </a:pPr>
            <a:r>
              <a:rPr lang="en-US" sz="800" dirty="0">
                <a:solidFill>
                  <a:srgbClr val="FFFFFF"/>
                </a:solidFill>
                <a:latin typeface="Cambria" pitchFamily="34" charset="0"/>
                <a:ea typeface="Cambria" pitchFamily="34" charset="-122"/>
                <a:cs typeface="Cambria" pitchFamily="34" charset="-120"/>
              </a:rPr>
              <a:t>19/26</a:t>
            </a:r>
            <a:endParaRPr lang="en-US" sz="8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48640"/>
          </a:xfrm>
          <a:prstGeom prst="rect">
            <a:avLst/>
          </a:prstGeom>
          <a:solidFill>
            <a:srgbClr val="322164"/>
          </a:solidFill>
          <a:ln/>
        </p:spPr>
      </p:sp>
      <p:sp>
        <p:nvSpPr>
          <p:cNvPr id="3" name="Text 1"/>
          <p:cNvSpPr/>
          <p:nvPr/>
        </p:nvSpPr>
        <p:spPr>
          <a:xfrm>
            <a:off x="201168" y="0"/>
            <a:ext cx="8741664" cy="548640"/>
          </a:xfrm>
          <a:prstGeom prst="rect">
            <a:avLst/>
          </a:prstGeom>
          <a:noFill/>
          <a:ln/>
        </p:spPr>
        <p:txBody>
          <a:bodyPr wrap="square" lIns="0" tIns="0" rIns="0" bIns="0" rtlCol="0" anchor="ctr"/>
          <a:lstStyle/>
          <a:p>
            <a:pPr algn="l" indent="0" marL="0">
              <a:buNone/>
            </a:pPr>
            <a:r>
              <a:rPr lang="en-US" sz="1900" b="1" dirty="0">
                <a:solidFill>
                  <a:srgbClr val="FFFFFF"/>
                </a:solidFill>
                <a:latin typeface="Cambria" pitchFamily="34" charset="0"/>
                <a:ea typeface="Cambria" pitchFamily="34" charset="-122"/>
                <a:cs typeface="Cambria" pitchFamily="34" charset="-120"/>
              </a:rPr>
              <a:t>5.1.  Các phiên bản đem so với nhau</a:t>
            </a:r>
            <a:endParaRPr lang="en-US" sz="1900" dirty="0"/>
          </a:p>
        </p:txBody>
      </p:sp>
      <p:sp>
        <p:nvSpPr>
          <p:cNvPr id="4" name="Shape 2"/>
          <p:cNvSpPr/>
          <p:nvPr/>
        </p:nvSpPr>
        <p:spPr>
          <a:xfrm>
            <a:off x="502920" y="1005840"/>
            <a:ext cx="8138160" cy="3246120"/>
          </a:xfrm>
          <a:prstGeom prst="roundRect">
            <a:avLst>
              <a:gd name="adj" fmla="val 1690"/>
            </a:avLst>
          </a:prstGeom>
          <a:solidFill>
            <a:srgbClr val="E9E8EC"/>
          </a:solidFill>
          <a:ln/>
          <a:effectLst>
            <a:outerShdw sx="100000" sy="100000" kx="0" ky="0" algn="bl" rotWithShape="0" blurRad="63500" dist="31750" dir="2700000">
              <a:srgbClr val="8C8C99">
                <a:alpha val="45000"/>
              </a:srgbClr>
            </a:outerShdw>
          </a:effectLst>
        </p:spPr>
      </p:sp>
      <p:sp>
        <p:nvSpPr>
          <p:cNvPr id="5" name="Text 3"/>
          <p:cNvSpPr/>
          <p:nvPr/>
        </p:nvSpPr>
        <p:spPr>
          <a:xfrm>
            <a:off x="704088" y="1115568"/>
            <a:ext cx="7735824" cy="502920"/>
          </a:xfrm>
          <a:prstGeom prst="rect">
            <a:avLst/>
          </a:prstGeom>
          <a:noFill/>
          <a:ln/>
        </p:spPr>
        <p:txBody>
          <a:bodyPr wrap="square" lIns="0" tIns="0" rIns="0" bIns="0" rtlCol="0" anchor="t"/>
          <a:lstStyle/>
          <a:p>
            <a:pPr algn="l" indent="0" marL="0">
              <a:lnSpc>
                <a:spcPct val="130000"/>
              </a:lnSpc>
              <a:buNone/>
            </a:pPr>
            <a:r>
              <a:rPr lang="en-US" sz="1350" dirty="0">
                <a:solidFill>
                  <a:srgbClr val="1A1A1A"/>
                </a:solidFill>
                <a:latin typeface="Cambria" pitchFamily="34" charset="0"/>
                <a:ea typeface="Cambria" pitchFamily="34" charset="-122"/>
                <a:cs typeface="Cambria" pitchFamily="34" charset="-120"/>
              </a:rPr>
              <a:t>Cùng dữ liệu, cùng mô hình gốc, chỉ khác một chỗ - khoá danh sách trước khi nhìn kết quả</a:t>
            </a:r>
            <a:endParaRPr lang="en-US" sz="1350" dirty="0"/>
          </a:p>
        </p:txBody>
      </p:sp>
      <p:sp>
        <p:nvSpPr>
          <p:cNvPr id="6" name="Text 4"/>
          <p:cNvSpPr/>
          <p:nvPr/>
        </p:nvSpPr>
        <p:spPr>
          <a:xfrm>
            <a:off x="777240" y="1700784"/>
            <a:ext cx="2240280" cy="402336"/>
          </a:xfrm>
          <a:prstGeom prst="rect">
            <a:avLst/>
          </a:prstGeom>
          <a:noFill/>
          <a:ln/>
        </p:spPr>
        <p:txBody>
          <a:bodyPr wrap="square" lIns="0" tIns="0" rIns="0" bIns="0" rtlCol="0" anchor="t"/>
          <a:lstStyle/>
          <a:p>
            <a:pPr algn="l" indent="0" marL="0">
              <a:buNone/>
            </a:pPr>
            <a:r>
              <a:rPr lang="en-US" sz="1250" b="1" dirty="0">
                <a:solidFill>
                  <a:srgbClr val="322164"/>
                </a:solidFill>
                <a:latin typeface="Cambria" pitchFamily="34" charset="0"/>
                <a:ea typeface="Cambria" pitchFamily="34" charset="-122"/>
                <a:cs typeface="Cambria" pitchFamily="34" charset="-120"/>
              </a:rPr>
              <a:t>Bản thường (S1)</a:t>
            </a:r>
            <a:endParaRPr lang="en-US" sz="1250" dirty="0"/>
          </a:p>
        </p:txBody>
      </p:sp>
      <p:sp>
        <p:nvSpPr>
          <p:cNvPr id="7" name="Text 5"/>
          <p:cNvSpPr/>
          <p:nvPr/>
        </p:nvSpPr>
        <p:spPr>
          <a:xfrm>
            <a:off x="3108960" y="1700784"/>
            <a:ext cx="5212080" cy="402336"/>
          </a:xfrm>
          <a:prstGeom prst="rect">
            <a:avLst/>
          </a:prstGeom>
          <a:noFill/>
          <a:ln/>
        </p:spPr>
        <p:txBody>
          <a:bodyPr wrap="square" lIns="0" tIns="0" rIns="0" bIns="0" rtlCol="0" anchor="t"/>
          <a:lstStyle/>
          <a:p>
            <a:pPr algn="l" indent="0" marL="0">
              <a:buNone/>
            </a:pPr>
            <a:r>
              <a:rPr lang="en-US" sz="1250" dirty="0">
                <a:solidFill>
                  <a:srgbClr val="1A1A1A"/>
                </a:solidFill>
                <a:latin typeface="Cambria" pitchFamily="34" charset="0"/>
                <a:ea typeface="Cambria" pitchFamily="34" charset="-122"/>
                <a:cs typeface="Cambria" pitchFamily="34" charset="-120"/>
              </a:rPr>
              <a:t>học viết thẳng ra câu - mốc so sánh</a:t>
            </a:r>
            <a:endParaRPr lang="en-US" sz="1250" dirty="0"/>
          </a:p>
        </p:txBody>
      </p:sp>
      <p:sp>
        <p:nvSpPr>
          <p:cNvPr id="8" name="Text 6"/>
          <p:cNvSpPr/>
          <p:nvPr/>
        </p:nvSpPr>
        <p:spPr>
          <a:xfrm>
            <a:off x="777240" y="2121408"/>
            <a:ext cx="2240280" cy="402336"/>
          </a:xfrm>
          <a:prstGeom prst="rect">
            <a:avLst/>
          </a:prstGeom>
          <a:noFill/>
          <a:ln/>
        </p:spPr>
        <p:txBody>
          <a:bodyPr wrap="square" lIns="0" tIns="0" rIns="0" bIns="0" rtlCol="0" anchor="t"/>
          <a:lstStyle/>
          <a:p>
            <a:pPr algn="l" indent="0" marL="0">
              <a:buNone/>
            </a:pPr>
            <a:r>
              <a:rPr lang="en-US" sz="1250" b="1" dirty="0">
                <a:solidFill>
                  <a:srgbClr val="B22222"/>
                </a:solidFill>
                <a:latin typeface="Cambria" pitchFamily="34" charset="0"/>
                <a:ea typeface="Cambria" pitchFamily="34" charset="-122"/>
                <a:cs typeface="Cambria" pitchFamily="34" charset="-120"/>
              </a:rPr>
              <a:t>Bản khai báo (S2)</a:t>
            </a:r>
            <a:endParaRPr lang="en-US" sz="1250" dirty="0"/>
          </a:p>
        </p:txBody>
      </p:sp>
      <p:sp>
        <p:nvSpPr>
          <p:cNvPr id="9" name="Text 7"/>
          <p:cNvSpPr/>
          <p:nvPr/>
        </p:nvSpPr>
        <p:spPr>
          <a:xfrm>
            <a:off x="3108960" y="2121408"/>
            <a:ext cx="5212080" cy="402336"/>
          </a:xfrm>
          <a:prstGeom prst="rect">
            <a:avLst/>
          </a:prstGeom>
          <a:noFill/>
          <a:ln/>
        </p:spPr>
        <p:txBody>
          <a:bodyPr wrap="square" lIns="0" tIns="0" rIns="0" bIns="0" rtlCol="0" anchor="t"/>
          <a:lstStyle/>
          <a:p>
            <a:pPr algn="l" indent="0" marL="0">
              <a:buNone/>
            </a:pPr>
            <a:r>
              <a:rPr lang="en-US" sz="1250" b="1" dirty="0">
                <a:solidFill>
                  <a:srgbClr val="1A1A1A"/>
                </a:solidFill>
                <a:latin typeface="Cambria" pitchFamily="34" charset="0"/>
                <a:ea typeface="Cambria" pitchFamily="34" charset="-122"/>
                <a:cs typeface="Cambria" pitchFamily="34" charset="-120"/>
              </a:rPr>
              <a:t>viết khai báo trước, rồi tới câu - câu hỏi chính</a:t>
            </a:r>
            <a:endParaRPr lang="en-US" sz="1250" dirty="0"/>
          </a:p>
        </p:txBody>
      </p:sp>
      <p:sp>
        <p:nvSpPr>
          <p:cNvPr id="10" name="Text 8"/>
          <p:cNvSpPr/>
          <p:nvPr/>
        </p:nvSpPr>
        <p:spPr>
          <a:xfrm>
            <a:off x="777240" y="2542032"/>
            <a:ext cx="2240280" cy="402336"/>
          </a:xfrm>
          <a:prstGeom prst="rect">
            <a:avLst/>
          </a:prstGeom>
          <a:noFill/>
          <a:ln/>
        </p:spPr>
        <p:txBody>
          <a:bodyPr wrap="square" lIns="0" tIns="0" rIns="0" bIns="0" rtlCol="0" anchor="t"/>
          <a:lstStyle/>
          <a:p>
            <a:pPr algn="l" indent="0" marL="0">
              <a:buNone/>
            </a:pPr>
            <a:r>
              <a:rPr lang="en-US" sz="1250" b="1" dirty="0">
                <a:solidFill>
                  <a:srgbClr val="322164"/>
                </a:solidFill>
                <a:latin typeface="Cambria" pitchFamily="34" charset="0"/>
                <a:ea typeface="Cambria" pitchFamily="34" charset="-122"/>
                <a:cs typeface="Cambria" pitchFamily="34" charset="-120"/>
              </a:rPr>
              <a:t>Khai báo giả (S2r)</a:t>
            </a:r>
            <a:endParaRPr lang="en-US" sz="1250" dirty="0"/>
          </a:p>
        </p:txBody>
      </p:sp>
      <p:sp>
        <p:nvSpPr>
          <p:cNvPr id="11" name="Text 9"/>
          <p:cNvSpPr/>
          <p:nvPr/>
        </p:nvSpPr>
        <p:spPr>
          <a:xfrm>
            <a:off x="3108960" y="2542032"/>
            <a:ext cx="5212080" cy="402336"/>
          </a:xfrm>
          <a:prstGeom prst="rect">
            <a:avLst/>
          </a:prstGeom>
          <a:noFill/>
          <a:ln/>
        </p:spPr>
        <p:txBody>
          <a:bodyPr wrap="square" lIns="0" tIns="0" rIns="0" bIns="0" rtlCol="0" anchor="t"/>
          <a:lstStyle/>
          <a:p>
            <a:pPr algn="l" indent="0" marL="0">
              <a:buNone/>
            </a:pPr>
            <a:r>
              <a:rPr lang="en-US" sz="1250" dirty="0">
                <a:solidFill>
                  <a:srgbClr val="1A1A1A"/>
                </a:solidFill>
                <a:latin typeface="Cambria" pitchFamily="34" charset="0"/>
                <a:ea typeface="Cambria" pitchFamily="34" charset="-122"/>
                <a:cs typeface="Cambria" pitchFamily="34" charset="-120"/>
              </a:rPr>
              <a:t>nội dung lấy từ màn khác, cùng độ dài - thắng nhờ dài thêm?</a:t>
            </a:r>
            <a:endParaRPr lang="en-US" sz="1250" dirty="0"/>
          </a:p>
        </p:txBody>
      </p:sp>
      <p:sp>
        <p:nvSpPr>
          <p:cNvPr id="12" name="Text 10"/>
          <p:cNvSpPr/>
          <p:nvPr/>
        </p:nvSpPr>
        <p:spPr>
          <a:xfrm>
            <a:off x="777240" y="2962656"/>
            <a:ext cx="2240280" cy="402336"/>
          </a:xfrm>
          <a:prstGeom prst="rect">
            <a:avLst/>
          </a:prstGeom>
          <a:noFill/>
          <a:ln/>
        </p:spPr>
        <p:txBody>
          <a:bodyPr wrap="square" lIns="0" tIns="0" rIns="0" bIns="0" rtlCol="0" anchor="t"/>
          <a:lstStyle/>
          <a:p>
            <a:pPr algn="l" indent="0" marL="0">
              <a:buNone/>
            </a:pPr>
            <a:r>
              <a:rPr lang="en-US" sz="1250" b="1" dirty="0">
                <a:solidFill>
                  <a:srgbClr val="322164"/>
                </a:solidFill>
                <a:latin typeface="Cambria" pitchFamily="34" charset="0"/>
                <a:ea typeface="Cambria" pitchFamily="34" charset="-122"/>
                <a:cs typeface="Cambria" pitchFamily="34" charset="-120"/>
              </a:rPr>
              <a:t>Bỏ toạ độ (S2-nopoint)</a:t>
            </a:r>
            <a:endParaRPr lang="en-US" sz="1250" dirty="0"/>
          </a:p>
        </p:txBody>
      </p:sp>
      <p:sp>
        <p:nvSpPr>
          <p:cNvPr id="13" name="Text 11"/>
          <p:cNvSpPr/>
          <p:nvPr/>
        </p:nvSpPr>
        <p:spPr>
          <a:xfrm>
            <a:off x="3108960" y="2962656"/>
            <a:ext cx="5212080" cy="402336"/>
          </a:xfrm>
          <a:prstGeom prst="rect">
            <a:avLst/>
          </a:prstGeom>
          <a:noFill/>
          <a:ln/>
        </p:spPr>
        <p:txBody>
          <a:bodyPr wrap="square" lIns="0" tIns="0" rIns="0" bIns="0" rtlCol="0" anchor="t"/>
          <a:lstStyle/>
          <a:p>
            <a:pPr algn="l" indent="0" marL="0">
              <a:buNone/>
            </a:pPr>
            <a:r>
              <a:rPr lang="en-US" sz="1250" dirty="0">
                <a:solidFill>
                  <a:srgbClr val="1A1A1A"/>
                </a:solidFill>
                <a:latin typeface="Cambria" pitchFamily="34" charset="0"/>
                <a:ea typeface="Cambria" pitchFamily="34" charset="-122"/>
                <a:cs typeface="Cambria" pitchFamily="34" charset="-120"/>
              </a:rPr>
              <a:t>khai báo thiếu ô toạ độ - tách phần công của toạ độ</a:t>
            </a:r>
            <a:endParaRPr lang="en-US" sz="1250" dirty="0"/>
          </a:p>
        </p:txBody>
      </p:sp>
      <p:sp>
        <p:nvSpPr>
          <p:cNvPr id="14" name="Text 12"/>
          <p:cNvSpPr/>
          <p:nvPr/>
        </p:nvSpPr>
        <p:spPr>
          <a:xfrm>
            <a:off x="777240" y="3383280"/>
            <a:ext cx="2240280" cy="402336"/>
          </a:xfrm>
          <a:prstGeom prst="rect">
            <a:avLst/>
          </a:prstGeom>
          <a:noFill/>
          <a:ln/>
        </p:spPr>
        <p:txBody>
          <a:bodyPr wrap="square" lIns="0" tIns="0" rIns="0" bIns="0" rtlCol="0" anchor="t"/>
          <a:lstStyle/>
          <a:p>
            <a:pPr algn="l" indent="0" marL="0">
              <a:buNone/>
            </a:pPr>
            <a:r>
              <a:rPr lang="en-US" sz="1250" b="1" dirty="0">
                <a:solidFill>
                  <a:srgbClr val="322164"/>
                </a:solidFill>
                <a:latin typeface="Cambria" pitchFamily="34" charset="0"/>
                <a:ea typeface="Cambria" pitchFamily="34" charset="-122"/>
                <a:cs typeface="Cambria" pitchFamily="34" charset="-120"/>
              </a:rPr>
              <a:t>Đưa sẵn lúc chạy (B-infer)</a:t>
            </a:r>
            <a:endParaRPr lang="en-US" sz="1250" dirty="0"/>
          </a:p>
        </p:txBody>
      </p:sp>
      <p:sp>
        <p:nvSpPr>
          <p:cNvPr id="15" name="Text 13"/>
          <p:cNvSpPr/>
          <p:nvPr/>
        </p:nvSpPr>
        <p:spPr>
          <a:xfrm>
            <a:off x="3108960" y="3383280"/>
            <a:ext cx="5212080" cy="402336"/>
          </a:xfrm>
          <a:prstGeom prst="rect">
            <a:avLst/>
          </a:prstGeom>
          <a:noFill/>
          <a:ln/>
        </p:spPr>
        <p:txBody>
          <a:bodyPr wrap="square" lIns="0" tIns="0" rIns="0" bIns="0" rtlCol="0" anchor="t"/>
          <a:lstStyle/>
          <a:p>
            <a:pPr algn="l" indent="0" marL="0">
              <a:buNone/>
            </a:pPr>
            <a:r>
              <a:rPr lang="en-US" sz="1250" dirty="0">
                <a:solidFill>
                  <a:srgbClr val="1A1A1A"/>
                </a:solidFill>
                <a:latin typeface="Cambria" pitchFamily="34" charset="0"/>
                <a:ea typeface="Cambria" pitchFamily="34" charset="-122"/>
                <a:cs typeface="Cambria" pitchFamily="34" charset="-120"/>
              </a:rPr>
              <a:t>không huấn luyện, chỉ đưa mô tả vào đầu vào lúc chạy</a:t>
            </a:r>
            <a:endParaRPr lang="en-US" sz="1250" dirty="0"/>
          </a:p>
        </p:txBody>
      </p:sp>
      <p:sp>
        <p:nvSpPr>
          <p:cNvPr id="16" name="Text 14"/>
          <p:cNvSpPr/>
          <p:nvPr/>
        </p:nvSpPr>
        <p:spPr>
          <a:xfrm>
            <a:off x="777240" y="3803904"/>
            <a:ext cx="2240280" cy="402336"/>
          </a:xfrm>
          <a:prstGeom prst="rect">
            <a:avLst/>
          </a:prstGeom>
          <a:noFill/>
          <a:ln/>
        </p:spPr>
        <p:txBody>
          <a:bodyPr wrap="square" lIns="0" tIns="0" rIns="0" bIns="0" rtlCol="0" anchor="t"/>
          <a:lstStyle/>
          <a:p>
            <a:pPr algn="l" indent="0" marL="0">
              <a:buNone/>
            </a:pPr>
            <a:r>
              <a:rPr lang="en-US" sz="1250" b="1" dirty="0">
                <a:solidFill>
                  <a:srgbClr val="322164"/>
                </a:solidFill>
                <a:latin typeface="Cambria" pitchFamily="34" charset="0"/>
                <a:ea typeface="Cambria" pitchFamily="34" charset="-122"/>
                <a:cs typeface="Cambria" pitchFamily="34" charset="-120"/>
              </a:rPr>
              <a:t>Thử mức 2 (S3-pilot)</a:t>
            </a:r>
            <a:endParaRPr lang="en-US" sz="1250" dirty="0"/>
          </a:p>
        </p:txBody>
      </p:sp>
      <p:sp>
        <p:nvSpPr>
          <p:cNvPr id="17" name="Text 15"/>
          <p:cNvSpPr/>
          <p:nvPr/>
        </p:nvSpPr>
        <p:spPr>
          <a:xfrm>
            <a:off x="3108960" y="3803904"/>
            <a:ext cx="5212080" cy="402336"/>
          </a:xfrm>
          <a:prstGeom prst="rect">
            <a:avLst/>
          </a:prstGeom>
          <a:noFill/>
          <a:ln/>
        </p:spPr>
        <p:txBody>
          <a:bodyPr wrap="square" lIns="0" tIns="0" rIns="0" bIns="0" rtlCol="0" anchor="t"/>
          <a:lstStyle/>
          <a:p>
            <a:pPr algn="l" indent="0" marL="0">
              <a:buNone/>
            </a:pPr>
            <a:r>
              <a:rPr lang="en-US" sz="1250" dirty="0">
                <a:solidFill>
                  <a:srgbClr val="1A1A1A"/>
                </a:solidFill>
                <a:latin typeface="Cambria" pitchFamily="34" charset="0"/>
                <a:ea typeface="Cambria" pitchFamily="34" charset="-122"/>
                <a:cs typeface="Cambria" pitchFamily="34" charset="-120"/>
              </a:rPr>
              <a:t>thử khoản phạt câu mơ hồ trên lát dữ liệu nhỏ</a:t>
            </a:r>
            <a:endParaRPr lang="en-US" sz="1250" dirty="0"/>
          </a:p>
        </p:txBody>
      </p:sp>
      <p:sp>
        <p:nvSpPr>
          <p:cNvPr id="18" name="Text 16"/>
          <p:cNvSpPr/>
          <p:nvPr/>
        </p:nvSpPr>
        <p:spPr>
          <a:xfrm>
            <a:off x="502920" y="4434840"/>
            <a:ext cx="8138160" cy="457200"/>
          </a:xfrm>
          <a:prstGeom prst="rect">
            <a:avLst/>
          </a:prstGeom>
          <a:noFill/>
          <a:ln/>
        </p:spPr>
        <p:txBody>
          <a:bodyPr wrap="square" lIns="0" tIns="0" rIns="0" bIns="0" rtlCol="0" anchor="t"/>
          <a:lstStyle/>
          <a:p>
            <a:pPr algn="l" indent="0" marL="0">
              <a:buNone/>
            </a:pPr>
            <a:r>
              <a:rPr lang="en-US" sz="1300" dirty="0">
                <a:solidFill>
                  <a:srgbClr val="1A1A1A"/>
                </a:solidFill>
                <a:latin typeface="Cambria" pitchFamily="34" charset="0"/>
                <a:ea typeface="Cambria" pitchFamily="34" charset="-122"/>
                <a:cs typeface="Cambria" pitchFamily="34" charset="-120"/>
              </a:rPr>
              <a:t>Kèm ba lớp phân tích: cắt theo độ dài câu · theo độ dễ nhầm của màn · chấm tay 100 câu</a:t>
            </a:r>
            <a:endParaRPr lang="en-US" sz="1300" dirty="0"/>
          </a:p>
        </p:txBody>
      </p:sp>
      <p:sp>
        <p:nvSpPr>
          <p:cNvPr id="20" name="Shape 17"/>
          <p:cNvSpPr/>
          <p:nvPr/>
        </p:nvSpPr>
        <p:spPr>
          <a:xfrm>
            <a:off x="0" y="6620256"/>
            <a:ext cx="2743200" cy="237744"/>
          </a:xfrm>
          <a:prstGeom prst="rect">
            <a:avLst/>
          </a:prstGeom>
          <a:solidFill>
            <a:srgbClr val="191132"/>
          </a:solidFill>
          <a:ln/>
        </p:spPr>
      </p:sp>
      <p:sp>
        <p:nvSpPr>
          <p:cNvPr id="21" name="Shape 18"/>
          <p:cNvSpPr/>
          <p:nvPr/>
        </p:nvSpPr>
        <p:spPr>
          <a:xfrm>
            <a:off x="2743200" y="6620256"/>
            <a:ext cx="3383280" cy="237744"/>
          </a:xfrm>
          <a:prstGeom prst="rect">
            <a:avLst/>
          </a:prstGeom>
          <a:solidFill>
            <a:srgbClr val="25194B"/>
          </a:solidFill>
          <a:ln/>
        </p:spPr>
      </p:sp>
      <p:sp>
        <p:nvSpPr>
          <p:cNvPr id="22" name="Shape 19"/>
          <p:cNvSpPr/>
          <p:nvPr/>
        </p:nvSpPr>
        <p:spPr>
          <a:xfrm>
            <a:off x="6126480" y="6620256"/>
            <a:ext cx="1737360" cy="237744"/>
          </a:xfrm>
          <a:prstGeom prst="rect">
            <a:avLst/>
          </a:prstGeom>
          <a:solidFill>
            <a:srgbClr val="4F417A"/>
          </a:solidFill>
          <a:ln/>
        </p:spPr>
      </p:sp>
      <p:sp>
        <p:nvSpPr>
          <p:cNvPr id="23" name="Shape 20"/>
          <p:cNvSpPr/>
          <p:nvPr/>
        </p:nvSpPr>
        <p:spPr>
          <a:xfrm>
            <a:off x="7863840" y="6620256"/>
            <a:ext cx="1280160" cy="237744"/>
          </a:xfrm>
          <a:prstGeom prst="rect">
            <a:avLst/>
          </a:prstGeom>
          <a:solidFill>
            <a:srgbClr val="7A7099"/>
          </a:solidFill>
          <a:ln/>
        </p:spPr>
      </p:sp>
      <p:sp>
        <p:nvSpPr>
          <p:cNvPr id="24" name="Text 21"/>
          <p:cNvSpPr/>
          <p:nvPr/>
        </p:nvSpPr>
        <p:spPr>
          <a:xfrm>
            <a:off x="0" y="6620256"/>
            <a:ext cx="2743200" cy="237744"/>
          </a:xfrm>
          <a:prstGeom prst="rect">
            <a:avLst/>
          </a:prstGeom>
          <a:noFill/>
          <a:ln/>
        </p:spPr>
        <p:txBody>
          <a:bodyPr wrap="square" lIns="0" tIns="0" rIns="0" bIns="0" rtlCol="0" anchor="ctr"/>
          <a:lstStyle/>
          <a:p>
            <a:pPr algn="ctr" indent="0" marL="0">
              <a:buNone/>
            </a:pPr>
            <a:r>
              <a:rPr lang="en-US" sz="800" dirty="0">
                <a:solidFill>
                  <a:srgbClr val="FFFFFF"/>
                </a:solidFill>
                <a:latin typeface="Consolas" pitchFamily="34" charset="0"/>
                <a:ea typeface="Consolas" pitchFamily="34" charset="-122"/>
                <a:cs typeface="Consolas" pitchFamily="34" charset="-120"/>
              </a:rPr>
              <a:t>luận văn thạc sĩ</a:t>
            </a:r>
            <a:endParaRPr lang="en-US" sz="800" dirty="0"/>
          </a:p>
        </p:txBody>
      </p:sp>
      <p:sp>
        <p:nvSpPr>
          <p:cNvPr id="25" name="Text 22"/>
          <p:cNvSpPr/>
          <p:nvPr/>
        </p:nvSpPr>
        <p:spPr>
          <a:xfrm>
            <a:off x="2743200" y="6620256"/>
            <a:ext cx="3383280" cy="237744"/>
          </a:xfrm>
          <a:prstGeom prst="rect">
            <a:avLst/>
          </a:prstGeom>
          <a:noFill/>
          <a:ln/>
        </p:spPr>
        <p:txBody>
          <a:bodyPr wrap="square" lIns="0" tIns="0" rIns="0" bIns="0" rtlCol="0" anchor="ctr"/>
          <a:lstStyle/>
          <a:p>
            <a:pPr algn="ctr" indent="0" marL="0">
              <a:buNone/>
            </a:pPr>
            <a:r>
              <a:rPr lang="en-US" sz="800" dirty="0">
                <a:solidFill>
                  <a:srgbClr val="FFFFFF"/>
                </a:solidFill>
                <a:latin typeface="Cambria" pitchFamily="34" charset="0"/>
                <a:ea typeface="Cambria" pitchFamily="34" charset="-122"/>
                <a:cs typeface="Cambria" pitchFamily="34" charset="-120"/>
              </a:rPr>
              <a:t>Sinh hướng dẫn sử dụng phần mềm</a:t>
            </a:r>
            <a:endParaRPr lang="en-US" sz="800" dirty="0"/>
          </a:p>
        </p:txBody>
      </p:sp>
      <p:sp>
        <p:nvSpPr>
          <p:cNvPr id="26" name="Text 23"/>
          <p:cNvSpPr/>
          <p:nvPr/>
        </p:nvSpPr>
        <p:spPr>
          <a:xfrm>
            <a:off x="6126480" y="6620256"/>
            <a:ext cx="1737360" cy="237744"/>
          </a:xfrm>
          <a:prstGeom prst="rect">
            <a:avLst/>
          </a:prstGeom>
          <a:noFill/>
          <a:ln/>
        </p:spPr>
        <p:txBody>
          <a:bodyPr wrap="square" lIns="0" tIns="0" rIns="0" bIns="0" rtlCol="0" anchor="ctr"/>
          <a:lstStyle/>
          <a:p>
            <a:pPr algn="ctr" indent="0" marL="0">
              <a:buNone/>
            </a:pPr>
            <a:r>
              <a:rPr lang="en-US" sz="800" dirty="0">
                <a:solidFill>
                  <a:srgbClr val="FFFFFF"/>
                </a:solidFill>
                <a:latin typeface="Cambria" pitchFamily="34" charset="0"/>
                <a:ea typeface="Cambria" pitchFamily="34" charset="-122"/>
                <a:cs typeface="Cambria" pitchFamily="34" charset="-120"/>
              </a:rPr>
              <a:t>Lê Đoàn Phương Uyên</a:t>
            </a:r>
            <a:endParaRPr lang="en-US" sz="800" dirty="0"/>
          </a:p>
        </p:txBody>
      </p:sp>
      <p:sp>
        <p:nvSpPr>
          <p:cNvPr id="27" name="Text 24"/>
          <p:cNvSpPr/>
          <p:nvPr/>
        </p:nvSpPr>
        <p:spPr>
          <a:xfrm>
            <a:off x="7863840" y="6620256"/>
            <a:ext cx="1280160" cy="237744"/>
          </a:xfrm>
          <a:prstGeom prst="rect">
            <a:avLst/>
          </a:prstGeom>
          <a:noFill/>
          <a:ln/>
        </p:spPr>
        <p:txBody>
          <a:bodyPr wrap="square" lIns="0" tIns="0" rIns="0" bIns="0" rtlCol="0" anchor="ctr"/>
          <a:lstStyle/>
          <a:p>
            <a:pPr algn="ctr" indent="0" marL="0">
              <a:buNone/>
            </a:pPr>
            <a:r>
              <a:rPr lang="en-US" sz="800" dirty="0">
                <a:solidFill>
                  <a:srgbClr val="FFFFFF"/>
                </a:solidFill>
                <a:latin typeface="Cambria" pitchFamily="34" charset="0"/>
                <a:ea typeface="Cambria" pitchFamily="34" charset="-122"/>
                <a:cs typeface="Cambria" pitchFamily="34" charset="-120"/>
              </a:rPr>
              <a:t>20/26</a:t>
            </a:r>
            <a:endParaRPr lang="en-US" sz="8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48640"/>
          </a:xfrm>
          <a:prstGeom prst="rect">
            <a:avLst/>
          </a:prstGeom>
          <a:solidFill>
            <a:srgbClr val="322164"/>
          </a:solidFill>
          <a:ln/>
        </p:spPr>
      </p:sp>
      <p:sp>
        <p:nvSpPr>
          <p:cNvPr id="3" name="Text 1"/>
          <p:cNvSpPr/>
          <p:nvPr/>
        </p:nvSpPr>
        <p:spPr>
          <a:xfrm>
            <a:off x="201168" y="0"/>
            <a:ext cx="8741664" cy="548640"/>
          </a:xfrm>
          <a:prstGeom prst="rect">
            <a:avLst/>
          </a:prstGeom>
          <a:noFill/>
          <a:ln/>
        </p:spPr>
        <p:txBody>
          <a:bodyPr wrap="square" lIns="0" tIns="0" rIns="0" bIns="0" rtlCol="0" anchor="ctr"/>
          <a:lstStyle/>
          <a:p>
            <a:pPr algn="l" indent="0" marL="0">
              <a:buNone/>
            </a:pPr>
            <a:r>
              <a:rPr lang="en-US" sz="1900" b="1" dirty="0">
                <a:solidFill>
                  <a:srgbClr val="FFFFFF"/>
                </a:solidFill>
                <a:latin typeface="Cambria" pitchFamily="34" charset="0"/>
                <a:ea typeface="Cambria" pitchFamily="34" charset="-122"/>
                <a:cs typeface="Cambria" pitchFamily="34" charset="-120"/>
              </a:rPr>
              <a:t>5.2.  Vì sao kết quả sẽ đọc được</a:t>
            </a:r>
            <a:endParaRPr lang="en-US" sz="1900" dirty="0"/>
          </a:p>
        </p:txBody>
      </p:sp>
      <p:sp>
        <p:nvSpPr>
          <p:cNvPr id="4" name="Shape 2"/>
          <p:cNvSpPr/>
          <p:nvPr/>
        </p:nvSpPr>
        <p:spPr>
          <a:xfrm>
            <a:off x="502920" y="1005840"/>
            <a:ext cx="8138160" cy="1417320"/>
          </a:xfrm>
          <a:prstGeom prst="roundRect">
            <a:avLst>
              <a:gd name="adj" fmla="val 3871"/>
            </a:avLst>
          </a:prstGeom>
          <a:solidFill>
            <a:srgbClr val="E9E8EC"/>
          </a:solidFill>
          <a:ln/>
          <a:effectLst>
            <a:outerShdw sx="100000" sy="100000" kx="0" ky="0" algn="bl" rotWithShape="0" blurRad="63500" dist="31750" dir="2700000">
              <a:srgbClr val="8C8C99">
                <a:alpha val="45000"/>
              </a:srgbClr>
            </a:outerShdw>
          </a:effectLst>
        </p:spPr>
      </p:sp>
      <p:sp>
        <p:nvSpPr>
          <p:cNvPr id="5" name="Text 3"/>
          <p:cNvSpPr/>
          <p:nvPr/>
        </p:nvSpPr>
        <p:spPr>
          <a:xfrm>
            <a:off x="704088" y="1005840"/>
            <a:ext cx="7735824" cy="1417320"/>
          </a:xfrm>
          <a:prstGeom prst="rect">
            <a:avLst/>
          </a:prstGeom>
          <a:noFill/>
          <a:ln/>
        </p:spPr>
        <p:txBody>
          <a:bodyPr wrap="square" lIns="0" tIns="0" rIns="0" bIns="0" rtlCol="0" anchor="ctr"/>
          <a:lstStyle/>
          <a:p>
            <a:pPr algn="l" indent="0" marL="0">
              <a:lnSpc>
                <a:spcPct val="145000"/>
              </a:lnSpc>
              <a:buNone/>
            </a:pPr>
            <a:r>
              <a:rPr lang="en-US" sz="1400" dirty="0">
                <a:solidFill>
                  <a:srgbClr val="1A1A1A"/>
                </a:solidFill>
                <a:latin typeface="Cambria" pitchFamily="34" charset="0"/>
                <a:ea typeface="Cambria" pitchFamily="34" charset="-122"/>
                <a:cs typeface="Cambria" pitchFamily="34" charset="-120"/>
              </a:rPr>
              <a:t>Lo nhất là can thiệp có tác dụng thật mà phép đo không thấy.</a:t>
            </a:r>
            <a:endParaRPr lang="en-US" sz="1400" dirty="0"/>
          </a:p>
          <a:p>
            <a:pPr algn="l" indent="0" marL="0">
              <a:lnSpc>
                <a:spcPct val="145000"/>
              </a:lnSpc>
              <a:buNone/>
            </a:pPr>
            <a:r>
              <a:rPr lang="en-US" sz="1400" dirty="0">
                <a:solidFill>
                  <a:srgbClr val="1A1A1A"/>
                </a:solidFill>
                <a:latin typeface="Cambria" pitchFamily="34" charset="0"/>
                <a:ea typeface="Cambria" pitchFamily="34" charset="-122"/>
                <a:cs typeface="Cambria" pitchFamily="34" charset="-120"/>
              </a:rPr>
              <a:t>MDE = mức chênh nhỏ nhất còn phân biệt được với may rủi.</a:t>
            </a:r>
            <a:endParaRPr lang="en-US" sz="1400" dirty="0"/>
          </a:p>
          <a:p>
            <a:pPr algn="l" indent="0" marL="0">
              <a:lnSpc>
                <a:spcPct val="145000"/>
              </a:lnSpc>
              <a:buNone/>
            </a:pPr>
            <a:r>
              <a:rPr lang="en-US" sz="1400" dirty="0">
                <a:solidFill>
                  <a:srgbClr val="1A1A1A"/>
                </a:solidFill>
                <a:latin typeface="Cambria" pitchFamily="34" charset="0"/>
                <a:ea typeface="Cambria" pitchFamily="34" charset="-122"/>
                <a:cs typeface="Cambria" pitchFamily="34" charset="-120"/>
              </a:rPr>
              <a:t>Chấm đủ 4.463 bước chạm của tập kiểm, không lấy mẫu.</a:t>
            </a:r>
            <a:endParaRPr lang="en-US" sz="1400" dirty="0"/>
          </a:p>
        </p:txBody>
      </p:sp>
      <p:sp>
        <p:nvSpPr>
          <p:cNvPr id="6" name="Text 4"/>
          <p:cNvSpPr/>
          <p:nvPr/>
        </p:nvSpPr>
        <p:spPr>
          <a:xfrm>
            <a:off x="704088" y="2377440"/>
            <a:ext cx="7735824" cy="365760"/>
          </a:xfrm>
          <a:prstGeom prst="rect">
            <a:avLst/>
          </a:prstGeom>
          <a:noFill/>
          <a:ln/>
        </p:spPr>
        <p:txBody>
          <a:bodyPr wrap="square" lIns="0" tIns="0" rIns="0" bIns="0" rtlCol="0" anchor="t"/>
          <a:lstStyle/>
          <a:p>
            <a:pPr algn="l" indent="0" marL="0">
              <a:buNone/>
            </a:pPr>
            <a:r>
              <a:rPr lang="en-US" sz="1300" b="1" dirty="0">
                <a:solidFill>
                  <a:srgbClr val="006666"/>
                </a:solidFill>
                <a:latin typeface="Cambria" pitchFamily="34" charset="0"/>
                <a:ea typeface="Cambria" pitchFamily="34" charset="-122"/>
                <a:cs typeface="Cambria" pitchFamily="34" charset="-120"/>
              </a:rPr>
              <a:t>Đã đo: 1.091 cụm, hiệu dụng 454 - MDE ước 3,9 đến 6,6 điểm, tác dụng kỳ vọng 3-8.</a:t>
            </a:r>
            <a:endParaRPr lang="en-US" sz="1300" dirty="0"/>
          </a:p>
        </p:txBody>
      </p:sp>
      <p:sp>
        <p:nvSpPr>
          <p:cNvPr id="7" name="Shape 5"/>
          <p:cNvSpPr/>
          <p:nvPr/>
        </p:nvSpPr>
        <p:spPr>
          <a:xfrm>
            <a:off x="502920" y="2743200"/>
            <a:ext cx="8138160" cy="1005840"/>
          </a:xfrm>
          <a:prstGeom prst="roundRect">
            <a:avLst>
              <a:gd name="adj" fmla="val 5455"/>
            </a:avLst>
          </a:prstGeom>
          <a:solidFill>
            <a:srgbClr val="E9E8EC"/>
          </a:solidFill>
          <a:ln/>
          <a:effectLst>
            <a:outerShdw sx="100000" sy="100000" kx="0" ky="0" algn="bl" rotWithShape="0" blurRad="63500" dist="31750" dir="2700000">
              <a:srgbClr val="8C8C99">
                <a:alpha val="45000"/>
              </a:srgbClr>
            </a:outerShdw>
          </a:effectLst>
        </p:spPr>
      </p:sp>
      <p:sp>
        <p:nvSpPr>
          <p:cNvPr id="8" name="Text 6"/>
          <p:cNvSpPr/>
          <p:nvPr/>
        </p:nvSpPr>
        <p:spPr>
          <a:xfrm>
            <a:off x="704088" y="2743200"/>
            <a:ext cx="7735824" cy="1005840"/>
          </a:xfrm>
          <a:prstGeom prst="rect">
            <a:avLst/>
          </a:prstGeom>
          <a:noFill/>
          <a:ln/>
        </p:spPr>
        <p:txBody>
          <a:bodyPr wrap="square" lIns="0" tIns="0" rIns="0" bIns="0" rtlCol="0" anchor="ctr"/>
          <a:lstStyle/>
          <a:p>
            <a:pPr algn="l" indent="0" marL="0">
              <a:lnSpc>
                <a:spcPct val="140000"/>
              </a:lnSpc>
              <a:buNone/>
            </a:pPr>
            <a:r>
              <a:rPr lang="en-US" sz="1350" b="1" dirty="0">
                <a:solidFill>
                  <a:srgbClr val="322164"/>
                </a:solidFill>
                <a:latin typeface="Cambria" pitchFamily="34" charset="0"/>
                <a:ea typeface="Cambria" pitchFamily="34" charset="-122"/>
                <a:cs typeface="Cambria" pitchFamily="34" charset="-120"/>
              </a:rPr>
              <a:t>Trình tự cứng:  huấn luyện Bản thường (S1) trước → chấm đủ → đo MDE thật → khoá ngưỡng → mới huấn luyện Bản khai báo (S2).</a:t>
            </a:r>
            <a:endParaRPr lang="en-US" sz="1350" dirty="0"/>
          </a:p>
        </p:txBody>
      </p:sp>
      <p:sp>
        <p:nvSpPr>
          <p:cNvPr id="9" name="Text 7"/>
          <p:cNvSpPr/>
          <p:nvPr/>
        </p:nvSpPr>
        <p:spPr>
          <a:xfrm>
            <a:off x="502920" y="4023360"/>
            <a:ext cx="8138160" cy="822960"/>
          </a:xfrm>
          <a:prstGeom prst="rect">
            <a:avLst/>
          </a:prstGeom>
          <a:noFill/>
          <a:ln/>
        </p:spPr>
        <p:txBody>
          <a:bodyPr wrap="square" lIns="0" tIns="0" rIns="0" bIns="0" rtlCol="0" anchor="t"/>
          <a:lstStyle/>
          <a:p>
            <a:pPr algn="l" indent="0" marL="0">
              <a:lnSpc>
                <a:spcPct val="140000"/>
              </a:lnSpc>
              <a:buNone/>
            </a:pPr>
            <a:r>
              <a:rPr lang="en-US" sz="1350" dirty="0">
                <a:solidFill>
                  <a:srgbClr val="1A1A1A"/>
                </a:solidFill>
                <a:latin typeface="Cambria" pitchFamily="34" charset="0"/>
                <a:ea typeface="Cambria" pitchFamily="34" charset="-122"/>
                <a:cs typeface="Cambria" pitchFamily="34" charset="-120"/>
              </a:rPr>
              <a:t>Hai lớp chống nhiễu: mỗi bản huấn luyện 2-3 lần với hạt giống khác nhau</a:t>
            </a:r>
            <a:endParaRPr lang="en-US" sz="1350" dirty="0"/>
          </a:p>
          <a:p>
            <a:pPr algn="l" indent="0" marL="0">
              <a:lnSpc>
                <a:spcPct val="140000"/>
              </a:lnSpc>
              <a:buNone/>
            </a:pPr>
            <a:r>
              <a:rPr lang="en-US" sz="1350" dirty="0">
                <a:solidFill>
                  <a:srgbClr val="1A1A1A"/>
                </a:solidFill>
                <a:latin typeface="Cambria" pitchFamily="34" charset="0"/>
                <a:ea typeface="Cambria" pitchFamily="34" charset="-122"/>
                <a:cs typeface="Cambria" pitchFamily="34" charset="-120"/>
              </a:rPr>
              <a:t>Gom bước theo ứng dụng khi tính khoảng tin cậy</a:t>
            </a:r>
            <a:endParaRPr lang="en-US" sz="1350" dirty="0"/>
          </a:p>
        </p:txBody>
      </p:sp>
      <p:sp>
        <p:nvSpPr>
          <p:cNvPr id="11" name="Shape 8"/>
          <p:cNvSpPr/>
          <p:nvPr/>
        </p:nvSpPr>
        <p:spPr>
          <a:xfrm>
            <a:off x="0" y="6620256"/>
            <a:ext cx="2743200" cy="237744"/>
          </a:xfrm>
          <a:prstGeom prst="rect">
            <a:avLst/>
          </a:prstGeom>
          <a:solidFill>
            <a:srgbClr val="191132"/>
          </a:solidFill>
          <a:ln/>
        </p:spPr>
      </p:sp>
      <p:sp>
        <p:nvSpPr>
          <p:cNvPr id="12" name="Shape 9"/>
          <p:cNvSpPr/>
          <p:nvPr/>
        </p:nvSpPr>
        <p:spPr>
          <a:xfrm>
            <a:off x="2743200" y="6620256"/>
            <a:ext cx="3383280" cy="237744"/>
          </a:xfrm>
          <a:prstGeom prst="rect">
            <a:avLst/>
          </a:prstGeom>
          <a:solidFill>
            <a:srgbClr val="25194B"/>
          </a:solidFill>
          <a:ln/>
        </p:spPr>
      </p:sp>
      <p:sp>
        <p:nvSpPr>
          <p:cNvPr id="13" name="Shape 10"/>
          <p:cNvSpPr/>
          <p:nvPr/>
        </p:nvSpPr>
        <p:spPr>
          <a:xfrm>
            <a:off x="6126480" y="6620256"/>
            <a:ext cx="1737360" cy="237744"/>
          </a:xfrm>
          <a:prstGeom prst="rect">
            <a:avLst/>
          </a:prstGeom>
          <a:solidFill>
            <a:srgbClr val="4F417A"/>
          </a:solidFill>
          <a:ln/>
        </p:spPr>
      </p:sp>
      <p:sp>
        <p:nvSpPr>
          <p:cNvPr id="14" name="Shape 11"/>
          <p:cNvSpPr/>
          <p:nvPr/>
        </p:nvSpPr>
        <p:spPr>
          <a:xfrm>
            <a:off x="7863840" y="6620256"/>
            <a:ext cx="1280160" cy="237744"/>
          </a:xfrm>
          <a:prstGeom prst="rect">
            <a:avLst/>
          </a:prstGeom>
          <a:solidFill>
            <a:srgbClr val="7A7099"/>
          </a:solidFill>
          <a:ln/>
        </p:spPr>
      </p:sp>
      <p:sp>
        <p:nvSpPr>
          <p:cNvPr id="15" name="Text 12"/>
          <p:cNvSpPr/>
          <p:nvPr/>
        </p:nvSpPr>
        <p:spPr>
          <a:xfrm>
            <a:off x="0" y="6620256"/>
            <a:ext cx="2743200" cy="237744"/>
          </a:xfrm>
          <a:prstGeom prst="rect">
            <a:avLst/>
          </a:prstGeom>
          <a:noFill/>
          <a:ln/>
        </p:spPr>
        <p:txBody>
          <a:bodyPr wrap="square" lIns="0" tIns="0" rIns="0" bIns="0" rtlCol="0" anchor="ctr"/>
          <a:lstStyle/>
          <a:p>
            <a:pPr algn="ctr" indent="0" marL="0">
              <a:buNone/>
            </a:pPr>
            <a:r>
              <a:rPr lang="en-US" sz="800" dirty="0">
                <a:solidFill>
                  <a:srgbClr val="FFFFFF"/>
                </a:solidFill>
                <a:latin typeface="Consolas" pitchFamily="34" charset="0"/>
                <a:ea typeface="Consolas" pitchFamily="34" charset="-122"/>
                <a:cs typeface="Consolas" pitchFamily="34" charset="-120"/>
              </a:rPr>
              <a:t>luận văn thạc sĩ</a:t>
            </a:r>
            <a:endParaRPr lang="en-US" sz="800" dirty="0"/>
          </a:p>
        </p:txBody>
      </p:sp>
      <p:sp>
        <p:nvSpPr>
          <p:cNvPr id="16" name="Text 13"/>
          <p:cNvSpPr/>
          <p:nvPr/>
        </p:nvSpPr>
        <p:spPr>
          <a:xfrm>
            <a:off x="2743200" y="6620256"/>
            <a:ext cx="3383280" cy="237744"/>
          </a:xfrm>
          <a:prstGeom prst="rect">
            <a:avLst/>
          </a:prstGeom>
          <a:noFill/>
          <a:ln/>
        </p:spPr>
        <p:txBody>
          <a:bodyPr wrap="square" lIns="0" tIns="0" rIns="0" bIns="0" rtlCol="0" anchor="ctr"/>
          <a:lstStyle/>
          <a:p>
            <a:pPr algn="ctr" indent="0" marL="0">
              <a:buNone/>
            </a:pPr>
            <a:r>
              <a:rPr lang="en-US" sz="800" dirty="0">
                <a:solidFill>
                  <a:srgbClr val="FFFFFF"/>
                </a:solidFill>
                <a:latin typeface="Cambria" pitchFamily="34" charset="0"/>
                <a:ea typeface="Cambria" pitchFamily="34" charset="-122"/>
                <a:cs typeface="Cambria" pitchFamily="34" charset="-120"/>
              </a:rPr>
              <a:t>Sinh hướng dẫn sử dụng phần mềm</a:t>
            </a:r>
            <a:endParaRPr lang="en-US" sz="800" dirty="0"/>
          </a:p>
        </p:txBody>
      </p:sp>
      <p:sp>
        <p:nvSpPr>
          <p:cNvPr id="17" name="Text 14"/>
          <p:cNvSpPr/>
          <p:nvPr/>
        </p:nvSpPr>
        <p:spPr>
          <a:xfrm>
            <a:off x="6126480" y="6620256"/>
            <a:ext cx="1737360" cy="237744"/>
          </a:xfrm>
          <a:prstGeom prst="rect">
            <a:avLst/>
          </a:prstGeom>
          <a:noFill/>
          <a:ln/>
        </p:spPr>
        <p:txBody>
          <a:bodyPr wrap="square" lIns="0" tIns="0" rIns="0" bIns="0" rtlCol="0" anchor="ctr"/>
          <a:lstStyle/>
          <a:p>
            <a:pPr algn="ctr" indent="0" marL="0">
              <a:buNone/>
            </a:pPr>
            <a:r>
              <a:rPr lang="en-US" sz="800" dirty="0">
                <a:solidFill>
                  <a:srgbClr val="FFFFFF"/>
                </a:solidFill>
                <a:latin typeface="Cambria" pitchFamily="34" charset="0"/>
                <a:ea typeface="Cambria" pitchFamily="34" charset="-122"/>
                <a:cs typeface="Cambria" pitchFamily="34" charset="-120"/>
              </a:rPr>
              <a:t>Lê Đoàn Phương Uyên</a:t>
            </a:r>
            <a:endParaRPr lang="en-US" sz="800" dirty="0"/>
          </a:p>
        </p:txBody>
      </p:sp>
      <p:sp>
        <p:nvSpPr>
          <p:cNvPr id="18" name="Text 15"/>
          <p:cNvSpPr/>
          <p:nvPr/>
        </p:nvSpPr>
        <p:spPr>
          <a:xfrm>
            <a:off x="7863840" y="6620256"/>
            <a:ext cx="1280160" cy="237744"/>
          </a:xfrm>
          <a:prstGeom prst="rect">
            <a:avLst/>
          </a:prstGeom>
          <a:noFill/>
          <a:ln/>
        </p:spPr>
        <p:txBody>
          <a:bodyPr wrap="square" lIns="0" tIns="0" rIns="0" bIns="0" rtlCol="0" anchor="ctr"/>
          <a:lstStyle/>
          <a:p>
            <a:pPr algn="ctr" indent="0" marL="0">
              <a:buNone/>
            </a:pPr>
            <a:r>
              <a:rPr lang="en-US" sz="800" dirty="0">
                <a:solidFill>
                  <a:srgbClr val="FFFFFF"/>
                </a:solidFill>
                <a:latin typeface="Cambria" pitchFamily="34" charset="0"/>
                <a:ea typeface="Cambria" pitchFamily="34" charset="-122"/>
                <a:cs typeface="Cambria" pitchFamily="34" charset="-120"/>
              </a:rPr>
              <a:t>21/26</a:t>
            </a:r>
            <a:endParaRPr lang="en-US" sz="8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48640"/>
          </a:xfrm>
          <a:prstGeom prst="rect">
            <a:avLst/>
          </a:prstGeom>
          <a:solidFill>
            <a:srgbClr val="322164"/>
          </a:solidFill>
          <a:ln/>
        </p:spPr>
      </p:sp>
      <p:sp>
        <p:nvSpPr>
          <p:cNvPr id="3" name="Text 1"/>
          <p:cNvSpPr/>
          <p:nvPr/>
        </p:nvSpPr>
        <p:spPr>
          <a:xfrm>
            <a:off x="201168" y="0"/>
            <a:ext cx="8741664" cy="548640"/>
          </a:xfrm>
          <a:prstGeom prst="rect">
            <a:avLst/>
          </a:prstGeom>
          <a:noFill/>
          <a:ln/>
        </p:spPr>
        <p:txBody>
          <a:bodyPr wrap="square" lIns="0" tIns="0" rIns="0" bIns="0" rtlCol="0" anchor="ctr"/>
          <a:lstStyle/>
          <a:p>
            <a:pPr algn="l" indent="0" marL="0">
              <a:buNone/>
            </a:pPr>
            <a:r>
              <a:rPr lang="en-US" sz="1900" b="1" dirty="0">
                <a:solidFill>
                  <a:srgbClr val="FFFFFF"/>
                </a:solidFill>
                <a:latin typeface="Cambria" pitchFamily="34" charset="0"/>
                <a:ea typeface="Cambria" pitchFamily="34" charset="-122"/>
                <a:cs typeface="Cambria" pitchFamily="34" charset="-120"/>
              </a:rPr>
              <a:t>6.1.  Trình tự chạy thí nghiệm</a:t>
            </a:r>
            <a:endParaRPr lang="en-US" sz="1900" dirty="0"/>
          </a:p>
        </p:txBody>
      </p:sp>
      <p:sp>
        <p:nvSpPr>
          <p:cNvPr id="4" name="Shape 2"/>
          <p:cNvSpPr/>
          <p:nvPr/>
        </p:nvSpPr>
        <p:spPr>
          <a:xfrm>
            <a:off x="502920" y="1005840"/>
            <a:ext cx="8138160" cy="1600200"/>
          </a:xfrm>
          <a:prstGeom prst="roundRect">
            <a:avLst>
              <a:gd name="adj" fmla="val 3429"/>
            </a:avLst>
          </a:prstGeom>
          <a:solidFill>
            <a:srgbClr val="E9E8EC"/>
          </a:solidFill>
          <a:ln/>
          <a:effectLst>
            <a:outerShdw sx="100000" sy="100000" kx="0" ky="0" algn="bl" rotWithShape="0" blurRad="63500" dist="31750" dir="2700000">
              <a:srgbClr val="8C8C99">
                <a:alpha val="45000"/>
              </a:srgbClr>
            </a:outerShdw>
          </a:effectLst>
        </p:spPr>
      </p:sp>
      <p:sp>
        <p:nvSpPr>
          <p:cNvPr id="5" name="Text 3"/>
          <p:cNvSpPr/>
          <p:nvPr/>
        </p:nvSpPr>
        <p:spPr>
          <a:xfrm>
            <a:off x="704088" y="1005840"/>
            <a:ext cx="7735824" cy="1600200"/>
          </a:xfrm>
          <a:prstGeom prst="rect">
            <a:avLst/>
          </a:prstGeom>
          <a:noFill/>
          <a:ln/>
        </p:spPr>
        <p:txBody>
          <a:bodyPr wrap="square" lIns="0" tIns="0" rIns="0" bIns="0" rtlCol="0" anchor="ctr"/>
          <a:lstStyle/>
          <a:p>
            <a:pPr algn="l" indent="0" marL="0">
              <a:lnSpc>
                <a:spcPct val="160000"/>
              </a:lnSpc>
              <a:buNone/>
            </a:pPr>
            <a:r>
              <a:rPr lang="en-US" sz="1400" dirty="0">
                <a:solidFill>
                  <a:srgbClr val="1A1A1A"/>
                </a:solidFill>
                <a:latin typeface="Cambria" pitchFamily="34" charset="0"/>
                <a:ea typeface="Cambria" pitchFamily="34" charset="-122"/>
                <a:cs typeface="Cambria" pitchFamily="34" charset="-120"/>
              </a:rPr>
              <a:t>Đăng ký trước  →  kiểm bộ trỏ  →  Bản thường, 2 hạt giống + đo MDE thật</a:t>
            </a:r>
            <a:endParaRPr lang="en-US" sz="1400" dirty="0"/>
          </a:p>
          <a:p>
            <a:pPr algn="l" indent="0" marL="0">
              <a:lnSpc>
                <a:spcPct val="160000"/>
              </a:lnSpc>
              <a:buNone/>
            </a:pPr>
            <a:r>
              <a:rPr lang="en-US" sz="1400" dirty="0">
                <a:solidFill>
                  <a:srgbClr val="1A1A1A"/>
                </a:solidFill>
                <a:latin typeface="Cambria" pitchFamily="34" charset="0"/>
                <a:ea typeface="Cambria" pitchFamily="34" charset="-122"/>
                <a:cs typeface="Cambria" pitchFamily="34" charset="-120"/>
              </a:rPr>
              <a:t>→  khoá ngưỡng  →  Bản khai báo  →  các nhánh đối chứng</a:t>
            </a:r>
            <a:endParaRPr lang="en-US" sz="1400" dirty="0"/>
          </a:p>
          <a:p>
            <a:pPr algn="l" indent="0" marL="0">
              <a:lnSpc>
                <a:spcPct val="160000"/>
              </a:lnSpc>
              <a:buNone/>
            </a:pPr>
            <a:r>
              <a:rPr lang="en-US" sz="1400" dirty="0">
                <a:solidFill>
                  <a:srgbClr val="1A1A1A"/>
                </a:solidFill>
                <a:latin typeface="Cambria" pitchFamily="34" charset="0"/>
                <a:ea typeface="Cambria" pitchFamily="34" charset="-122"/>
                <a:cs typeface="Cambria" pitchFamily="34" charset="-120"/>
              </a:rPr>
              <a:t>→  thử mức 2  →  chấm tay + demo tiếng Việt</a:t>
            </a:r>
            <a:endParaRPr lang="en-US" sz="1400" dirty="0"/>
          </a:p>
        </p:txBody>
      </p:sp>
      <p:sp>
        <p:nvSpPr>
          <p:cNvPr id="6" name="Shape 4"/>
          <p:cNvSpPr/>
          <p:nvPr/>
        </p:nvSpPr>
        <p:spPr>
          <a:xfrm>
            <a:off x="502920" y="2926080"/>
            <a:ext cx="8138160" cy="1051560"/>
          </a:xfrm>
          <a:prstGeom prst="roundRect">
            <a:avLst>
              <a:gd name="adj" fmla="val 5217"/>
            </a:avLst>
          </a:prstGeom>
          <a:solidFill>
            <a:srgbClr val="E9E8EC"/>
          </a:solidFill>
          <a:ln/>
          <a:effectLst>
            <a:outerShdw sx="100000" sy="100000" kx="0" ky="0" algn="bl" rotWithShape="0" blurRad="63500" dist="31750" dir="2700000">
              <a:srgbClr val="8C8C99">
                <a:alpha val="45000"/>
              </a:srgbClr>
            </a:outerShdw>
          </a:effectLst>
        </p:spPr>
      </p:sp>
      <p:sp>
        <p:nvSpPr>
          <p:cNvPr id="7" name="Text 5"/>
          <p:cNvSpPr/>
          <p:nvPr/>
        </p:nvSpPr>
        <p:spPr>
          <a:xfrm>
            <a:off x="704088" y="2926080"/>
            <a:ext cx="7735824" cy="1051560"/>
          </a:xfrm>
          <a:prstGeom prst="rect">
            <a:avLst/>
          </a:prstGeom>
          <a:noFill/>
          <a:ln/>
        </p:spPr>
        <p:txBody>
          <a:bodyPr wrap="square" lIns="0" tIns="0" rIns="0" bIns="0" rtlCol="0" anchor="ctr"/>
          <a:lstStyle/>
          <a:p>
            <a:pPr algn="l" indent="0" marL="0">
              <a:lnSpc>
                <a:spcPct val="140000"/>
              </a:lnSpc>
              <a:buNone/>
            </a:pPr>
            <a:r>
              <a:rPr lang="en-US" sz="1350" b="1" dirty="0">
                <a:solidFill>
                  <a:srgbClr val="B22222"/>
                </a:solidFill>
                <a:latin typeface="Cambria" pitchFamily="34" charset="0"/>
                <a:ea typeface="Cambria" pitchFamily="34" charset="-122"/>
                <a:cs typeface="Cambria" pitchFamily="34" charset="-120"/>
              </a:rPr>
              <a:t>Đang ở bước 3.  </a:t>
            </a:r>
            <a:pPr algn="l" indent="0" marL="0">
              <a:lnSpc>
                <a:spcPct val="140000"/>
              </a:lnSpc>
              <a:buNone/>
            </a:pPr>
            <a:r>
              <a:rPr lang="en-US" sz="1350" dirty="0">
                <a:solidFill>
                  <a:srgbClr val="1A1A1A"/>
                </a:solidFill>
                <a:latin typeface="Cambria" pitchFamily="34" charset="0"/>
                <a:ea typeface="Cambria" pitchFamily="34" charset="-122"/>
                <a:cs typeface="Cambria" pitchFamily="34" charset="-120"/>
              </a:rPr>
              <a:t>Bản thường, hạt giống thứ nhất, đang huấn luyện - xong sáng mai.</a:t>
            </a:r>
            <a:endParaRPr lang="en-US" sz="1350" dirty="0"/>
          </a:p>
          <a:p>
            <a:pPr algn="l" indent="0" marL="0">
              <a:lnSpc>
                <a:spcPct val="140000"/>
              </a:lnSpc>
              <a:buNone/>
            </a:pPr>
            <a:r>
              <a:rPr lang="en-US" sz="1350" dirty="0">
                <a:solidFill>
                  <a:srgbClr val="1A1A1A"/>
                </a:solidFill>
                <a:latin typeface="Cambria" pitchFamily="34" charset="0"/>
                <a:ea typeface="Cambria" pitchFamily="34" charset="-122"/>
                <a:cs typeface="Cambria" pitchFamily="34" charset="-120"/>
              </a:rPr>
              <a:t>Mỗi lượt 8.072 bước, hai lượt duyệt qua toàn bộ 64.567 mẫu.</a:t>
            </a:r>
            <a:endParaRPr lang="en-US" sz="1350" dirty="0"/>
          </a:p>
        </p:txBody>
      </p:sp>
      <p:sp>
        <p:nvSpPr>
          <p:cNvPr id="8" name="Text 6"/>
          <p:cNvSpPr/>
          <p:nvPr/>
        </p:nvSpPr>
        <p:spPr>
          <a:xfrm>
            <a:off x="502920" y="4160520"/>
            <a:ext cx="8138160" cy="914400"/>
          </a:xfrm>
          <a:prstGeom prst="rect">
            <a:avLst/>
          </a:prstGeom>
          <a:noFill/>
          <a:ln/>
        </p:spPr>
        <p:txBody>
          <a:bodyPr wrap="square" lIns="0" tIns="0" rIns="0" bIns="0" rtlCol="0" anchor="t"/>
          <a:lstStyle/>
          <a:p>
            <a:pPr algn="l" indent="0" marL="0">
              <a:lnSpc>
                <a:spcPct val="150000"/>
              </a:lnSpc>
              <a:buNone/>
            </a:pPr>
            <a:r>
              <a:rPr lang="en-US" sz="1350" dirty="0">
                <a:solidFill>
                  <a:srgbClr val="1A1A1A"/>
                </a:solidFill>
                <a:latin typeface="Cambria" pitchFamily="34" charset="0"/>
                <a:ea typeface="Cambria" pitchFamily="34" charset="-122"/>
                <a:cs typeface="Cambria" pitchFamily="34" charset="-120"/>
              </a:rPr>
              <a:t>Ba chốt chặn, tiêu chí ghi sẵn từ trước:</a:t>
            </a:r>
            <a:endParaRPr lang="en-US" sz="1350" dirty="0"/>
          </a:p>
          <a:p>
            <a:pPr algn="l" indent="0" marL="0">
              <a:lnSpc>
                <a:spcPct val="150000"/>
              </a:lnSpc>
              <a:buNone/>
            </a:pPr>
            <a:r>
              <a:rPr lang="en-US" sz="1350" dirty="0">
                <a:solidFill>
                  <a:srgbClr val="1A1A1A"/>
                </a:solidFill>
                <a:latin typeface="Cambria" pitchFamily="34" charset="0"/>
                <a:ea typeface="Cambria" pitchFamily="34" charset="-122"/>
                <a:cs typeface="Cambria" pitchFamily="34" charset="-120"/>
              </a:rPr>
              <a:t>sau Bản thường - còn chỗ chứng minh không</a:t>
            </a:r>
            <a:endParaRPr lang="en-US" sz="1350" dirty="0"/>
          </a:p>
          <a:p>
            <a:pPr algn="l" indent="0" marL="0">
              <a:lnSpc>
                <a:spcPct val="150000"/>
              </a:lnSpc>
              <a:buNone/>
            </a:pPr>
            <a:r>
              <a:rPr lang="en-US" sz="1350" dirty="0">
                <a:solidFill>
                  <a:srgbClr val="1A1A1A"/>
                </a:solidFill>
                <a:latin typeface="Cambria" pitchFamily="34" charset="0"/>
                <a:ea typeface="Cambria" pitchFamily="34" charset="-122"/>
                <a:cs typeface="Cambria" pitchFamily="34" charset="-120"/>
              </a:rPr>
              <a:t>sau đối chứng - chênh rõ mới chạy tiếp</a:t>
            </a:r>
            <a:endParaRPr lang="en-US" sz="1350" dirty="0"/>
          </a:p>
          <a:p>
            <a:pPr algn="l" indent="0" marL="0">
              <a:lnSpc>
                <a:spcPct val="150000"/>
              </a:lnSpc>
              <a:buNone/>
            </a:pPr>
            <a:r>
              <a:rPr lang="en-US" sz="1350" dirty="0">
                <a:solidFill>
                  <a:srgbClr val="1A1A1A"/>
                </a:solidFill>
                <a:latin typeface="Cambria" pitchFamily="34" charset="0"/>
                <a:ea typeface="Cambria" pitchFamily="34" charset="-122"/>
                <a:cs typeface="Cambria" pitchFamily="34" charset="-120"/>
              </a:rPr>
              <a:t>trước chương kết quả - đóng băng mọi con số</a:t>
            </a:r>
            <a:endParaRPr lang="en-US" sz="1350" dirty="0"/>
          </a:p>
        </p:txBody>
      </p:sp>
      <p:sp>
        <p:nvSpPr>
          <p:cNvPr id="10" name="Shape 7"/>
          <p:cNvSpPr/>
          <p:nvPr/>
        </p:nvSpPr>
        <p:spPr>
          <a:xfrm>
            <a:off x="0" y="6620256"/>
            <a:ext cx="2743200" cy="237744"/>
          </a:xfrm>
          <a:prstGeom prst="rect">
            <a:avLst/>
          </a:prstGeom>
          <a:solidFill>
            <a:srgbClr val="191132"/>
          </a:solidFill>
          <a:ln/>
        </p:spPr>
      </p:sp>
      <p:sp>
        <p:nvSpPr>
          <p:cNvPr id="11" name="Shape 8"/>
          <p:cNvSpPr/>
          <p:nvPr/>
        </p:nvSpPr>
        <p:spPr>
          <a:xfrm>
            <a:off x="2743200" y="6620256"/>
            <a:ext cx="3383280" cy="237744"/>
          </a:xfrm>
          <a:prstGeom prst="rect">
            <a:avLst/>
          </a:prstGeom>
          <a:solidFill>
            <a:srgbClr val="25194B"/>
          </a:solidFill>
          <a:ln/>
        </p:spPr>
      </p:sp>
      <p:sp>
        <p:nvSpPr>
          <p:cNvPr id="12" name="Shape 9"/>
          <p:cNvSpPr/>
          <p:nvPr/>
        </p:nvSpPr>
        <p:spPr>
          <a:xfrm>
            <a:off x="6126480" y="6620256"/>
            <a:ext cx="1737360" cy="237744"/>
          </a:xfrm>
          <a:prstGeom prst="rect">
            <a:avLst/>
          </a:prstGeom>
          <a:solidFill>
            <a:srgbClr val="4F417A"/>
          </a:solidFill>
          <a:ln/>
        </p:spPr>
      </p:sp>
      <p:sp>
        <p:nvSpPr>
          <p:cNvPr id="13" name="Shape 10"/>
          <p:cNvSpPr/>
          <p:nvPr/>
        </p:nvSpPr>
        <p:spPr>
          <a:xfrm>
            <a:off x="7863840" y="6620256"/>
            <a:ext cx="1280160" cy="237744"/>
          </a:xfrm>
          <a:prstGeom prst="rect">
            <a:avLst/>
          </a:prstGeom>
          <a:solidFill>
            <a:srgbClr val="7A7099"/>
          </a:solidFill>
          <a:ln/>
        </p:spPr>
      </p:sp>
      <p:sp>
        <p:nvSpPr>
          <p:cNvPr id="14" name="Text 11"/>
          <p:cNvSpPr/>
          <p:nvPr/>
        </p:nvSpPr>
        <p:spPr>
          <a:xfrm>
            <a:off x="0" y="6620256"/>
            <a:ext cx="2743200" cy="237744"/>
          </a:xfrm>
          <a:prstGeom prst="rect">
            <a:avLst/>
          </a:prstGeom>
          <a:noFill/>
          <a:ln/>
        </p:spPr>
        <p:txBody>
          <a:bodyPr wrap="square" lIns="0" tIns="0" rIns="0" bIns="0" rtlCol="0" anchor="ctr"/>
          <a:lstStyle/>
          <a:p>
            <a:pPr algn="ctr" indent="0" marL="0">
              <a:buNone/>
            </a:pPr>
            <a:r>
              <a:rPr lang="en-US" sz="800" dirty="0">
                <a:solidFill>
                  <a:srgbClr val="FFFFFF"/>
                </a:solidFill>
                <a:latin typeface="Consolas" pitchFamily="34" charset="0"/>
                <a:ea typeface="Consolas" pitchFamily="34" charset="-122"/>
                <a:cs typeface="Consolas" pitchFamily="34" charset="-120"/>
              </a:rPr>
              <a:t>luận văn thạc sĩ</a:t>
            </a:r>
            <a:endParaRPr lang="en-US" sz="800" dirty="0"/>
          </a:p>
        </p:txBody>
      </p:sp>
      <p:sp>
        <p:nvSpPr>
          <p:cNvPr id="15" name="Text 12"/>
          <p:cNvSpPr/>
          <p:nvPr/>
        </p:nvSpPr>
        <p:spPr>
          <a:xfrm>
            <a:off x="2743200" y="6620256"/>
            <a:ext cx="3383280" cy="237744"/>
          </a:xfrm>
          <a:prstGeom prst="rect">
            <a:avLst/>
          </a:prstGeom>
          <a:noFill/>
          <a:ln/>
        </p:spPr>
        <p:txBody>
          <a:bodyPr wrap="square" lIns="0" tIns="0" rIns="0" bIns="0" rtlCol="0" anchor="ctr"/>
          <a:lstStyle/>
          <a:p>
            <a:pPr algn="ctr" indent="0" marL="0">
              <a:buNone/>
            </a:pPr>
            <a:r>
              <a:rPr lang="en-US" sz="800" dirty="0">
                <a:solidFill>
                  <a:srgbClr val="FFFFFF"/>
                </a:solidFill>
                <a:latin typeface="Cambria" pitchFamily="34" charset="0"/>
                <a:ea typeface="Cambria" pitchFamily="34" charset="-122"/>
                <a:cs typeface="Cambria" pitchFamily="34" charset="-120"/>
              </a:rPr>
              <a:t>Sinh hướng dẫn sử dụng phần mềm</a:t>
            </a:r>
            <a:endParaRPr lang="en-US" sz="800" dirty="0"/>
          </a:p>
        </p:txBody>
      </p:sp>
      <p:sp>
        <p:nvSpPr>
          <p:cNvPr id="16" name="Text 13"/>
          <p:cNvSpPr/>
          <p:nvPr/>
        </p:nvSpPr>
        <p:spPr>
          <a:xfrm>
            <a:off x="6126480" y="6620256"/>
            <a:ext cx="1737360" cy="237744"/>
          </a:xfrm>
          <a:prstGeom prst="rect">
            <a:avLst/>
          </a:prstGeom>
          <a:noFill/>
          <a:ln/>
        </p:spPr>
        <p:txBody>
          <a:bodyPr wrap="square" lIns="0" tIns="0" rIns="0" bIns="0" rtlCol="0" anchor="ctr"/>
          <a:lstStyle/>
          <a:p>
            <a:pPr algn="ctr" indent="0" marL="0">
              <a:buNone/>
            </a:pPr>
            <a:r>
              <a:rPr lang="en-US" sz="800" dirty="0">
                <a:solidFill>
                  <a:srgbClr val="FFFFFF"/>
                </a:solidFill>
                <a:latin typeface="Cambria" pitchFamily="34" charset="0"/>
                <a:ea typeface="Cambria" pitchFamily="34" charset="-122"/>
                <a:cs typeface="Cambria" pitchFamily="34" charset="-120"/>
              </a:rPr>
              <a:t>Lê Đoàn Phương Uyên</a:t>
            </a:r>
            <a:endParaRPr lang="en-US" sz="800" dirty="0"/>
          </a:p>
        </p:txBody>
      </p:sp>
      <p:sp>
        <p:nvSpPr>
          <p:cNvPr id="17" name="Text 14"/>
          <p:cNvSpPr/>
          <p:nvPr/>
        </p:nvSpPr>
        <p:spPr>
          <a:xfrm>
            <a:off x="7863840" y="6620256"/>
            <a:ext cx="1280160" cy="237744"/>
          </a:xfrm>
          <a:prstGeom prst="rect">
            <a:avLst/>
          </a:prstGeom>
          <a:noFill/>
          <a:ln/>
        </p:spPr>
        <p:txBody>
          <a:bodyPr wrap="square" lIns="0" tIns="0" rIns="0" bIns="0" rtlCol="0" anchor="ctr"/>
          <a:lstStyle/>
          <a:p>
            <a:pPr algn="ctr" indent="0" marL="0">
              <a:buNone/>
            </a:pPr>
            <a:r>
              <a:rPr lang="en-US" sz="800" dirty="0">
                <a:solidFill>
                  <a:srgbClr val="FFFFFF"/>
                </a:solidFill>
                <a:latin typeface="Cambria" pitchFamily="34" charset="0"/>
                <a:ea typeface="Cambria" pitchFamily="34" charset="-122"/>
                <a:cs typeface="Cambria" pitchFamily="34" charset="-120"/>
              </a:rPr>
              <a:t>22/26</a:t>
            </a:r>
            <a:endParaRPr lang="en-US" sz="8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48640"/>
          </a:xfrm>
          <a:prstGeom prst="rect">
            <a:avLst/>
          </a:prstGeom>
          <a:solidFill>
            <a:srgbClr val="322164"/>
          </a:solidFill>
          <a:ln/>
        </p:spPr>
      </p:sp>
      <p:sp>
        <p:nvSpPr>
          <p:cNvPr id="3" name="Text 1"/>
          <p:cNvSpPr/>
          <p:nvPr/>
        </p:nvSpPr>
        <p:spPr>
          <a:xfrm>
            <a:off x="201168" y="0"/>
            <a:ext cx="8741664" cy="548640"/>
          </a:xfrm>
          <a:prstGeom prst="rect">
            <a:avLst/>
          </a:prstGeom>
          <a:noFill/>
          <a:ln/>
        </p:spPr>
        <p:txBody>
          <a:bodyPr wrap="square" lIns="0" tIns="0" rIns="0" bIns="0" rtlCol="0" anchor="ctr"/>
          <a:lstStyle/>
          <a:p>
            <a:pPr algn="l" indent="0" marL="0">
              <a:buNone/>
            </a:pPr>
            <a:r>
              <a:rPr lang="en-US" sz="1900" b="1" dirty="0">
                <a:solidFill>
                  <a:srgbClr val="FFFFFF"/>
                </a:solidFill>
                <a:latin typeface="Cambria" pitchFamily="34" charset="0"/>
                <a:ea typeface="Cambria" pitchFamily="34" charset="-122"/>
                <a:cs typeface="Cambria" pitchFamily="34" charset="-120"/>
              </a:rPr>
              <a:t>6.2.  Rủi ro chính</a:t>
            </a:r>
            <a:endParaRPr lang="en-US" sz="1900" dirty="0"/>
          </a:p>
        </p:txBody>
      </p:sp>
      <p:sp>
        <p:nvSpPr>
          <p:cNvPr id="4" name="Shape 2"/>
          <p:cNvSpPr/>
          <p:nvPr/>
        </p:nvSpPr>
        <p:spPr>
          <a:xfrm>
            <a:off x="502920" y="1005840"/>
            <a:ext cx="8138160" cy="914400"/>
          </a:xfrm>
          <a:prstGeom prst="roundRect">
            <a:avLst>
              <a:gd name="adj" fmla="val 6000"/>
            </a:avLst>
          </a:prstGeom>
          <a:solidFill>
            <a:srgbClr val="E9E8EC"/>
          </a:solidFill>
          <a:ln/>
          <a:effectLst>
            <a:outerShdw sx="100000" sy="100000" kx="0" ky="0" algn="bl" rotWithShape="0" blurRad="63500" dist="31750" dir="2700000">
              <a:srgbClr val="8C8C99">
                <a:alpha val="45000"/>
              </a:srgbClr>
            </a:outerShdw>
          </a:effectLst>
        </p:spPr>
      </p:sp>
      <p:sp>
        <p:nvSpPr>
          <p:cNvPr id="5" name="Text 3"/>
          <p:cNvSpPr/>
          <p:nvPr/>
        </p:nvSpPr>
        <p:spPr>
          <a:xfrm>
            <a:off x="704088" y="1005840"/>
            <a:ext cx="3291840" cy="914400"/>
          </a:xfrm>
          <a:prstGeom prst="rect">
            <a:avLst/>
          </a:prstGeom>
          <a:noFill/>
          <a:ln/>
        </p:spPr>
        <p:txBody>
          <a:bodyPr wrap="square" lIns="0" tIns="0" rIns="0" bIns="0" rtlCol="0" anchor="ctr"/>
          <a:lstStyle/>
          <a:p>
            <a:pPr algn="l" indent="0" marL="0">
              <a:lnSpc>
                <a:spcPct val="130000"/>
              </a:lnSpc>
              <a:buNone/>
            </a:pPr>
            <a:r>
              <a:rPr lang="en-US" sz="1300" b="1" dirty="0">
                <a:solidFill>
                  <a:srgbClr val="322164"/>
                </a:solidFill>
                <a:latin typeface="Cambria" pitchFamily="34" charset="0"/>
                <a:ea typeface="Cambria" pitchFamily="34" charset="-122"/>
                <a:cs typeface="Cambria" pitchFamily="34" charset="-120"/>
              </a:rPr>
              <a:t>Bộ trỏ không đủ chính xác để chấm</a:t>
            </a:r>
            <a:endParaRPr lang="en-US" sz="1300" dirty="0"/>
          </a:p>
        </p:txBody>
      </p:sp>
      <p:sp>
        <p:nvSpPr>
          <p:cNvPr id="6" name="Text 4"/>
          <p:cNvSpPr/>
          <p:nvPr/>
        </p:nvSpPr>
        <p:spPr>
          <a:xfrm>
            <a:off x="4114800" y="1005840"/>
            <a:ext cx="4251960" cy="914400"/>
          </a:xfrm>
          <a:prstGeom prst="rect">
            <a:avLst/>
          </a:prstGeom>
          <a:noFill/>
          <a:ln/>
        </p:spPr>
        <p:txBody>
          <a:bodyPr wrap="square" lIns="0" tIns="0" rIns="0" bIns="0" rtlCol="0" anchor="ctr"/>
          <a:lstStyle/>
          <a:p>
            <a:pPr algn="l" indent="0" marL="0">
              <a:lnSpc>
                <a:spcPct val="130000"/>
              </a:lnSpc>
              <a:buNone/>
            </a:pPr>
            <a:r>
              <a:rPr lang="en-US" sz="1300" dirty="0">
                <a:solidFill>
                  <a:srgbClr val="1A1A1A"/>
                </a:solidFill>
                <a:latin typeface="Cambria" pitchFamily="34" charset="0"/>
                <a:ea typeface="Cambria" pitchFamily="34" charset="-122"/>
                <a:cs typeface="Cambria" pitchFamily="34" charset="-120"/>
              </a:rPr>
              <a:t>đã kiểm: 0,7% so với ngưỡng 3% - rủi ro số một, nay loại được</a:t>
            </a:r>
            <a:endParaRPr lang="en-US" sz="1300" dirty="0"/>
          </a:p>
        </p:txBody>
      </p:sp>
      <p:sp>
        <p:nvSpPr>
          <p:cNvPr id="7" name="Shape 5"/>
          <p:cNvSpPr/>
          <p:nvPr/>
        </p:nvSpPr>
        <p:spPr>
          <a:xfrm>
            <a:off x="502920" y="2057400"/>
            <a:ext cx="8138160" cy="914400"/>
          </a:xfrm>
          <a:prstGeom prst="roundRect">
            <a:avLst>
              <a:gd name="adj" fmla="val 6000"/>
            </a:avLst>
          </a:prstGeom>
          <a:solidFill>
            <a:srgbClr val="E9E8EC"/>
          </a:solidFill>
          <a:ln/>
          <a:effectLst>
            <a:outerShdw sx="100000" sy="100000" kx="0" ky="0" algn="bl" rotWithShape="0" blurRad="63500" dist="31750" dir="2700000">
              <a:srgbClr val="8C8C99">
                <a:alpha val="45000"/>
              </a:srgbClr>
            </a:outerShdw>
          </a:effectLst>
        </p:spPr>
      </p:sp>
      <p:sp>
        <p:nvSpPr>
          <p:cNvPr id="8" name="Text 6"/>
          <p:cNvSpPr/>
          <p:nvPr/>
        </p:nvSpPr>
        <p:spPr>
          <a:xfrm>
            <a:off x="704088" y="2057400"/>
            <a:ext cx="3291840" cy="914400"/>
          </a:xfrm>
          <a:prstGeom prst="rect">
            <a:avLst/>
          </a:prstGeom>
          <a:noFill/>
          <a:ln/>
        </p:spPr>
        <p:txBody>
          <a:bodyPr wrap="square" lIns="0" tIns="0" rIns="0" bIns="0" rtlCol="0" anchor="ctr"/>
          <a:lstStyle/>
          <a:p>
            <a:pPr algn="l" indent="0" marL="0">
              <a:lnSpc>
                <a:spcPct val="130000"/>
              </a:lnSpc>
              <a:buNone/>
            </a:pPr>
            <a:r>
              <a:rPr lang="en-US" sz="1300" b="1" dirty="0">
                <a:solidFill>
                  <a:srgbClr val="322164"/>
                </a:solidFill>
                <a:latin typeface="Cambria" pitchFamily="34" charset="0"/>
                <a:ea typeface="Cambria" pitchFamily="34" charset="-122"/>
                <a:cs typeface="Cambria" pitchFamily="34" charset="-120"/>
              </a:rPr>
              <a:t>Tác dụng thật quá nhỏ để đo thấy</a:t>
            </a:r>
            <a:endParaRPr lang="en-US" sz="1300" dirty="0"/>
          </a:p>
        </p:txBody>
      </p:sp>
      <p:sp>
        <p:nvSpPr>
          <p:cNvPr id="9" name="Text 7"/>
          <p:cNvSpPr/>
          <p:nvPr/>
        </p:nvSpPr>
        <p:spPr>
          <a:xfrm>
            <a:off x="4114800" y="2057400"/>
            <a:ext cx="4251960" cy="914400"/>
          </a:xfrm>
          <a:prstGeom prst="rect">
            <a:avLst/>
          </a:prstGeom>
          <a:noFill/>
          <a:ln/>
        </p:spPr>
        <p:txBody>
          <a:bodyPr wrap="square" lIns="0" tIns="0" rIns="0" bIns="0" rtlCol="0" anchor="ctr"/>
          <a:lstStyle/>
          <a:p>
            <a:pPr algn="l" indent="0" marL="0">
              <a:lnSpc>
                <a:spcPct val="130000"/>
              </a:lnSpc>
              <a:buNone/>
            </a:pPr>
            <a:r>
              <a:rPr lang="en-US" sz="1300" dirty="0">
                <a:solidFill>
                  <a:srgbClr val="1A1A1A"/>
                </a:solidFill>
                <a:latin typeface="Cambria" pitchFamily="34" charset="0"/>
                <a:ea typeface="Cambria" pitchFamily="34" charset="-122"/>
                <a:cs typeface="Cambria" pitchFamily="34" charset="-120"/>
              </a:rPr>
              <a:t>chấm đủ tập kiểm để ép MDE xuống hết mức; không thấy chênh thì vẫn là kết quả đọc được</a:t>
            </a:r>
            <a:endParaRPr lang="en-US" sz="1300" dirty="0"/>
          </a:p>
        </p:txBody>
      </p:sp>
      <p:sp>
        <p:nvSpPr>
          <p:cNvPr id="10" name="Shape 8"/>
          <p:cNvSpPr/>
          <p:nvPr/>
        </p:nvSpPr>
        <p:spPr>
          <a:xfrm>
            <a:off x="502920" y="3108960"/>
            <a:ext cx="8138160" cy="914400"/>
          </a:xfrm>
          <a:prstGeom prst="roundRect">
            <a:avLst>
              <a:gd name="adj" fmla="val 6000"/>
            </a:avLst>
          </a:prstGeom>
          <a:solidFill>
            <a:srgbClr val="E9E8EC"/>
          </a:solidFill>
          <a:ln/>
          <a:effectLst>
            <a:outerShdw sx="100000" sy="100000" kx="0" ky="0" algn="bl" rotWithShape="0" blurRad="63500" dist="31750" dir="2700000">
              <a:srgbClr val="8C8C99">
                <a:alpha val="45000"/>
              </a:srgbClr>
            </a:outerShdw>
          </a:effectLst>
        </p:spPr>
      </p:sp>
      <p:sp>
        <p:nvSpPr>
          <p:cNvPr id="11" name="Text 9"/>
          <p:cNvSpPr/>
          <p:nvPr/>
        </p:nvSpPr>
        <p:spPr>
          <a:xfrm>
            <a:off x="704088" y="3108960"/>
            <a:ext cx="3291840" cy="914400"/>
          </a:xfrm>
          <a:prstGeom prst="rect">
            <a:avLst/>
          </a:prstGeom>
          <a:noFill/>
          <a:ln/>
        </p:spPr>
        <p:txBody>
          <a:bodyPr wrap="square" lIns="0" tIns="0" rIns="0" bIns="0" rtlCol="0" anchor="ctr"/>
          <a:lstStyle/>
          <a:p>
            <a:pPr algn="l" indent="0" marL="0">
              <a:lnSpc>
                <a:spcPct val="130000"/>
              </a:lnSpc>
              <a:buNone/>
            </a:pPr>
            <a:r>
              <a:rPr lang="en-US" sz="1300" b="1" dirty="0">
                <a:solidFill>
                  <a:srgbClr val="322164"/>
                </a:solidFill>
                <a:latin typeface="Cambria" pitchFamily="34" charset="0"/>
                <a:ea typeface="Cambria" pitchFamily="34" charset="-122"/>
                <a:cs typeface="Cambria" pitchFamily="34" charset="-120"/>
              </a:rPr>
              <a:t>Nhãn khai báo nhiễu, kéo Bản khai báo xuống</a:t>
            </a:r>
            <a:endParaRPr lang="en-US" sz="1300" dirty="0"/>
          </a:p>
        </p:txBody>
      </p:sp>
      <p:sp>
        <p:nvSpPr>
          <p:cNvPr id="12" name="Text 10"/>
          <p:cNvSpPr/>
          <p:nvPr/>
        </p:nvSpPr>
        <p:spPr>
          <a:xfrm>
            <a:off x="4114800" y="3108960"/>
            <a:ext cx="4251960" cy="914400"/>
          </a:xfrm>
          <a:prstGeom prst="rect">
            <a:avLst/>
          </a:prstGeom>
          <a:noFill/>
          <a:ln/>
        </p:spPr>
        <p:txBody>
          <a:bodyPr wrap="square" lIns="0" tIns="0" rIns="0" bIns="0" rtlCol="0" anchor="ctr"/>
          <a:lstStyle/>
          <a:p>
            <a:pPr algn="l" indent="0" marL="0">
              <a:lnSpc>
                <a:spcPct val="130000"/>
              </a:lnSpc>
              <a:buNone/>
            </a:pPr>
            <a:r>
              <a:rPr lang="en-US" sz="1300" dirty="0">
                <a:solidFill>
                  <a:srgbClr val="1A1A1A"/>
                </a:solidFill>
                <a:latin typeface="Cambria" pitchFamily="34" charset="0"/>
                <a:ea typeface="Cambria" pitchFamily="34" charset="-122"/>
                <a:cs typeface="Cambria" pitchFamily="34" charset="-120"/>
              </a:rPr>
              <a:t>thiếu tên thì để trống chứ không đoán; tách phân tích theo nguồn tên</a:t>
            </a:r>
            <a:endParaRPr lang="en-US" sz="1300" dirty="0"/>
          </a:p>
        </p:txBody>
      </p:sp>
      <p:sp>
        <p:nvSpPr>
          <p:cNvPr id="13" name="Shape 11"/>
          <p:cNvSpPr/>
          <p:nvPr/>
        </p:nvSpPr>
        <p:spPr>
          <a:xfrm>
            <a:off x="502920" y="4160520"/>
            <a:ext cx="8138160" cy="914400"/>
          </a:xfrm>
          <a:prstGeom prst="roundRect">
            <a:avLst>
              <a:gd name="adj" fmla="val 6000"/>
            </a:avLst>
          </a:prstGeom>
          <a:solidFill>
            <a:srgbClr val="E9E8EC"/>
          </a:solidFill>
          <a:ln/>
          <a:effectLst>
            <a:outerShdw sx="100000" sy="100000" kx="0" ky="0" algn="bl" rotWithShape="0" blurRad="63500" dist="31750" dir="2700000">
              <a:srgbClr val="8C8C99">
                <a:alpha val="45000"/>
              </a:srgbClr>
            </a:outerShdw>
          </a:effectLst>
        </p:spPr>
      </p:sp>
      <p:sp>
        <p:nvSpPr>
          <p:cNvPr id="14" name="Text 12"/>
          <p:cNvSpPr/>
          <p:nvPr/>
        </p:nvSpPr>
        <p:spPr>
          <a:xfrm>
            <a:off x="704088" y="4160520"/>
            <a:ext cx="3291840" cy="914400"/>
          </a:xfrm>
          <a:prstGeom prst="rect">
            <a:avLst/>
          </a:prstGeom>
          <a:noFill/>
          <a:ln/>
        </p:spPr>
        <p:txBody>
          <a:bodyPr wrap="square" lIns="0" tIns="0" rIns="0" bIns="0" rtlCol="0" anchor="ctr"/>
          <a:lstStyle/>
          <a:p>
            <a:pPr algn="l" indent="0" marL="0">
              <a:lnSpc>
                <a:spcPct val="130000"/>
              </a:lnSpc>
              <a:buNone/>
            </a:pPr>
            <a:r>
              <a:rPr lang="en-US" sz="1300" b="1" dirty="0">
                <a:solidFill>
                  <a:srgbClr val="322164"/>
                </a:solidFill>
                <a:latin typeface="Cambria" pitchFamily="34" charset="0"/>
                <a:ea typeface="Cambria" pitchFamily="34" charset="-122"/>
                <a:cs typeface="Cambria" pitchFamily="34" charset="-120"/>
              </a:rPr>
              <a:t>Mô hình học vẹt cú pháp khai báo</a:t>
            </a:r>
            <a:endParaRPr lang="en-US" sz="1300" dirty="0"/>
          </a:p>
        </p:txBody>
      </p:sp>
      <p:sp>
        <p:nvSpPr>
          <p:cNvPr id="15" name="Text 13"/>
          <p:cNvSpPr/>
          <p:nvPr/>
        </p:nvSpPr>
        <p:spPr>
          <a:xfrm>
            <a:off x="4114800" y="4160520"/>
            <a:ext cx="4251960" cy="914400"/>
          </a:xfrm>
          <a:prstGeom prst="rect">
            <a:avLst/>
          </a:prstGeom>
          <a:noFill/>
          <a:ln/>
        </p:spPr>
        <p:txBody>
          <a:bodyPr wrap="square" lIns="0" tIns="0" rIns="0" bIns="0" rtlCol="0" anchor="ctr"/>
          <a:lstStyle/>
          <a:p>
            <a:pPr algn="l" indent="0" marL="0">
              <a:lnSpc>
                <a:spcPct val="130000"/>
              </a:lnSpc>
              <a:buNone/>
            </a:pPr>
            <a:r>
              <a:rPr lang="en-US" sz="1300" dirty="0">
                <a:solidFill>
                  <a:srgbClr val="1A1A1A"/>
                </a:solidFill>
                <a:latin typeface="Cambria" pitchFamily="34" charset="0"/>
                <a:ea typeface="Cambria" pitchFamily="34" charset="-122"/>
                <a:cs typeface="Cambria" pitchFamily="34" charset="-120"/>
              </a:rPr>
              <a:t>nhánh Khai báo giả sinh ra để bắt đúng chuyện này</a:t>
            </a:r>
            <a:endParaRPr lang="en-US" sz="1300" dirty="0"/>
          </a:p>
        </p:txBody>
      </p:sp>
      <p:sp>
        <p:nvSpPr>
          <p:cNvPr id="16" name="Text 14"/>
          <p:cNvSpPr/>
          <p:nvPr/>
        </p:nvSpPr>
        <p:spPr>
          <a:xfrm>
            <a:off x="502920" y="5349240"/>
            <a:ext cx="8138160" cy="457200"/>
          </a:xfrm>
          <a:prstGeom prst="rect">
            <a:avLst/>
          </a:prstGeom>
          <a:noFill/>
          <a:ln/>
        </p:spPr>
        <p:txBody>
          <a:bodyPr wrap="square" lIns="0" tIns="0" rIns="0" bIns="0" rtlCol="0" anchor="t"/>
          <a:lstStyle/>
          <a:p>
            <a:pPr algn="l" indent="0" marL="0">
              <a:buNone/>
            </a:pPr>
            <a:r>
              <a:rPr lang="en-US" sz="1350" i="1" dirty="0">
                <a:solidFill>
                  <a:srgbClr val="990000"/>
                </a:solidFill>
                <a:latin typeface="Cambria" pitchFamily="34" charset="0"/>
                <a:ea typeface="Cambria" pitchFamily="34" charset="-122"/>
                <a:cs typeface="Cambria" pitchFamily="34" charset="-120"/>
              </a:rPr>
              <a:t>Mỗi rủi ro đều có cách phát hiện sớm và đường xử lý ghi sẵn</a:t>
            </a:r>
            <a:endParaRPr lang="en-US" sz="1350" dirty="0"/>
          </a:p>
        </p:txBody>
      </p:sp>
      <p:sp>
        <p:nvSpPr>
          <p:cNvPr id="18" name="Shape 15"/>
          <p:cNvSpPr/>
          <p:nvPr/>
        </p:nvSpPr>
        <p:spPr>
          <a:xfrm>
            <a:off x="0" y="6620256"/>
            <a:ext cx="2743200" cy="237744"/>
          </a:xfrm>
          <a:prstGeom prst="rect">
            <a:avLst/>
          </a:prstGeom>
          <a:solidFill>
            <a:srgbClr val="191132"/>
          </a:solidFill>
          <a:ln/>
        </p:spPr>
      </p:sp>
      <p:sp>
        <p:nvSpPr>
          <p:cNvPr id="19" name="Shape 16"/>
          <p:cNvSpPr/>
          <p:nvPr/>
        </p:nvSpPr>
        <p:spPr>
          <a:xfrm>
            <a:off x="2743200" y="6620256"/>
            <a:ext cx="3383280" cy="237744"/>
          </a:xfrm>
          <a:prstGeom prst="rect">
            <a:avLst/>
          </a:prstGeom>
          <a:solidFill>
            <a:srgbClr val="25194B"/>
          </a:solidFill>
          <a:ln/>
        </p:spPr>
      </p:sp>
      <p:sp>
        <p:nvSpPr>
          <p:cNvPr id="20" name="Shape 17"/>
          <p:cNvSpPr/>
          <p:nvPr/>
        </p:nvSpPr>
        <p:spPr>
          <a:xfrm>
            <a:off x="6126480" y="6620256"/>
            <a:ext cx="1737360" cy="237744"/>
          </a:xfrm>
          <a:prstGeom prst="rect">
            <a:avLst/>
          </a:prstGeom>
          <a:solidFill>
            <a:srgbClr val="4F417A"/>
          </a:solidFill>
          <a:ln/>
        </p:spPr>
      </p:sp>
      <p:sp>
        <p:nvSpPr>
          <p:cNvPr id="21" name="Shape 18"/>
          <p:cNvSpPr/>
          <p:nvPr/>
        </p:nvSpPr>
        <p:spPr>
          <a:xfrm>
            <a:off x="7863840" y="6620256"/>
            <a:ext cx="1280160" cy="237744"/>
          </a:xfrm>
          <a:prstGeom prst="rect">
            <a:avLst/>
          </a:prstGeom>
          <a:solidFill>
            <a:srgbClr val="7A7099"/>
          </a:solidFill>
          <a:ln/>
        </p:spPr>
      </p:sp>
      <p:sp>
        <p:nvSpPr>
          <p:cNvPr id="22" name="Text 19"/>
          <p:cNvSpPr/>
          <p:nvPr/>
        </p:nvSpPr>
        <p:spPr>
          <a:xfrm>
            <a:off x="0" y="6620256"/>
            <a:ext cx="2743200" cy="237744"/>
          </a:xfrm>
          <a:prstGeom prst="rect">
            <a:avLst/>
          </a:prstGeom>
          <a:noFill/>
          <a:ln/>
        </p:spPr>
        <p:txBody>
          <a:bodyPr wrap="square" lIns="0" tIns="0" rIns="0" bIns="0" rtlCol="0" anchor="ctr"/>
          <a:lstStyle/>
          <a:p>
            <a:pPr algn="ctr" indent="0" marL="0">
              <a:buNone/>
            </a:pPr>
            <a:r>
              <a:rPr lang="en-US" sz="800" dirty="0">
                <a:solidFill>
                  <a:srgbClr val="FFFFFF"/>
                </a:solidFill>
                <a:latin typeface="Consolas" pitchFamily="34" charset="0"/>
                <a:ea typeface="Consolas" pitchFamily="34" charset="-122"/>
                <a:cs typeface="Consolas" pitchFamily="34" charset="-120"/>
              </a:rPr>
              <a:t>luận văn thạc sĩ</a:t>
            </a:r>
            <a:endParaRPr lang="en-US" sz="800" dirty="0"/>
          </a:p>
        </p:txBody>
      </p:sp>
      <p:sp>
        <p:nvSpPr>
          <p:cNvPr id="23" name="Text 20"/>
          <p:cNvSpPr/>
          <p:nvPr/>
        </p:nvSpPr>
        <p:spPr>
          <a:xfrm>
            <a:off x="2743200" y="6620256"/>
            <a:ext cx="3383280" cy="237744"/>
          </a:xfrm>
          <a:prstGeom prst="rect">
            <a:avLst/>
          </a:prstGeom>
          <a:noFill/>
          <a:ln/>
        </p:spPr>
        <p:txBody>
          <a:bodyPr wrap="square" lIns="0" tIns="0" rIns="0" bIns="0" rtlCol="0" anchor="ctr"/>
          <a:lstStyle/>
          <a:p>
            <a:pPr algn="ctr" indent="0" marL="0">
              <a:buNone/>
            </a:pPr>
            <a:r>
              <a:rPr lang="en-US" sz="800" dirty="0">
                <a:solidFill>
                  <a:srgbClr val="FFFFFF"/>
                </a:solidFill>
                <a:latin typeface="Cambria" pitchFamily="34" charset="0"/>
                <a:ea typeface="Cambria" pitchFamily="34" charset="-122"/>
                <a:cs typeface="Cambria" pitchFamily="34" charset="-120"/>
              </a:rPr>
              <a:t>Sinh hướng dẫn sử dụng phần mềm</a:t>
            </a:r>
            <a:endParaRPr lang="en-US" sz="800" dirty="0"/>
          </a:p>
        </p:txBody>
      </p:sp>
      <p:sp>
        <p:nvSpPr>
          <p:cNvPr id="24" name="Text 21"/>
          <p:cNvSpPr/>
          <p:nvPr/>
        </p:nvSpPr>
        <p:spPr>
          <a:xfrm>
            <a:off x="6126480" y="6620256"/>
            <a:ext cx="1737360" cy="237744"/>
          </a:xfrm>
          <a:prstGeom prst="rect">
            <a:avLst/>
          </a:prstGeom>
          <a:noFill/>
          <a:ln/>
        </p:spPr>
        <p:txBody>
          <a:bodyPr wrap="square" lIns="0" tIns="0" rIns="0" bIns="0" rtlCol="0" anchor="ctr"/>
          <a:lstStyle/>
          <a:p>
            <a:pPr algn="ctr" indent="0" marL="0">
              <a:buNone/>
            </a:pPr>
            <a:r>
              <a:rPr lang="en-US" sz="800" dirty="0">
                <a:solidFill>
                  <a:srgbClr val="FFFFFF"/>
                </a:solidFill>
                <a:latin typeface="Cambria" pitchFamily="34" charset="0"/>
                <a:ea typeface="Cambria" pitchFamily="34" charset="-122"/>
                <a:cs typeface="Cambria" pitchFamily="34" charset="-120"/>
              </a:rPr>
              <a:t>Lê Đoàn Phương Uyên</a:t>
            </a:r>
            <a:endParaRPr lang="en-US" sz="800" dirty="0"/>
          </a:p>
        </p:txBody>
      </p:sp>
      <p:sp>
        <p:nvSpPr>
          <p:cNvPr id="25" name="Text 22"/>
          <p:cNvSpPr/>
          <p:nvPr/>
        </p:nvSpPr>
        <p:spPr>
          <a:xfrm>
            <a:off x="7863840" y="6620256"/>
            <a:ext cx="1280160" cy="237744"/>
          </a:xfrm>
          <a:prstGeom prst="rect">
            <a:avLst/>
          </a:prstGeom>
          <a:noFill/>
          <a:ln/>
        </p:spPr>
        <p:txBody>
          <a:bodyPr wrap="square" lIns="0" tIns="0" rIns="0" bIns="0" rtlCol="0" anchor="ctr"/>
          <a:lstStyle/>
          <a:p>
            <a:pPr algn="ctr" indent="0" marL="0">
              <a:buNone/>
            </a:pPr>
            <a:r>
              <a:rPr lang="en-US" sz="800" dirty="0">
                <a:solidFill>
                  <a:srgbClr val="FFFFFF"/>
                </a:solidFill>
                <a:latin typeface="Cambria" pitchFamily="34" charset="0"/>
                <a:ea typeface="Cambria" pitchFamily="34" charset="-122"/>
                <a:cs typeface="Cambria" pitchFamily="34" charset="-120"/>
              </a:rPr>
              <a:t>23/26</a:t>
            </a:r>
            <a:endParaRPr lang="en-US" sz="8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48640"/>
          </a:xfrm>
          <a:prstGeom prst="rect">
            <a:avLst/>
          </a:prstGeom>
          <a:solidFill>
            <a:srgbClr val="322164"/>
          </a:solidFill>
          <a:ln/>
        </p:spPr>
      </p:sp>
      <p:sp>
        <p:nvSpPr>
          <p:cNvPr id="3" name="Text 1"/>
          <p:cNvSpPr/>
          <p:nvPr/>
        </p:nvSpPr>
        <p:spPr>
          <a:xfrm>
            <a:off x="201168" y="0"/>
            <a:ext cx="8741664" cy="548640"/>
          </a:xfrm>
          <a:prstGeom prst="rect">
            <a:avLst/>
          </a:prstGeom>
          <a:noFill/>
          <a:ln/>
        </p:spPr>
        <p:txBody>
          <a:bodyPr wrap="square" lIns="0" tIns="0" rIns="0" bIns="0" rtlCol="0" anchor="ctr"/>
          <a:lstStyle/>
          <a:p>
            <a:pPr algn="l" indent="0" marL="0">
              <a:buNone/>
            </a:pPr>
            <a:r>
              <a:rPr lang="en-US" sz="1900" b="1" dirty="0">
                <a:solidFill>
                  <a:srgbClr val="FFFFFF"/>
                </a:solidFill>
                <a:latin typeface="Cambria" pitchFamily="34" charset="0"/>
                <a:ea typeface="Cambria" pitchFamily="34" charset="-122"/>
                <a:cs typeface="Cambria" pitchFamily="34" charset="-120"/>
              </a:rPr>
              <a:t>6.3.  Giới hạn của thiết kế</a:t>
            </a:r>
            <a:endParaRPr lang="en-US" sz="1900" dirty="0"/>
          </a:p>
        </p:txBody>
      </p:sp>
      <p:sp>
        <p:nvSpPr>
          <p:cNvPr id="4" name="Shape 2"/>
          <p:cNvSpPr/>
          <p:nvPr/>
        </p:nvSpPr>
        <p:spPr>
          <a:xfrm>
            <a:off x="502920" y="960120"/>
            <a:ext cx="8138160" cy="1417320"/>
          </a:xfrm>
          <a:prstGeom prst="roundRect">
            <a:avLst>
              <a:gd name="adj" fmla="val 3871"/>
            </a:avLst>
          </a:prstGeom>
          <a:solidFill>
            <a:srgbClr val="E9E8EC"/>
          </a:solidFill>
          <a:ln/>
          <a:effectLst>
            <a:outerShdw sx="100000" sy="100000" kx="0" ky="0" algn="bl" rotWithShape="0" blurRad="63500" dist="31750" dir="2700000">
              <a:srgbClr val="8C8C99">
                <a:alpha val="45000"/>
              </a:srgbClr>
            </a:outerShdw>
          </a:effectLst>
        </p:spPr>
      </p:sp>
      <p:sp>
        <p:nvSpPr>
          <p:cNvPr id="5" name="Text 3"/>
          <p:cNvSpPr/>
          <p:nvPr/>
        </p:nvSpPr>
        <p:spPr>
          <a:xfrm>
            <a:off x="704088" y="960120"/>
            <a:ext cx="2286000" cy="1417320"/>
          </a:xfrm>
          <a:prstGeom prst="rect">
            <a:avLst/>
          </a:prstGeom>
          <a:noFill/>
          <a:ln/>
        </p:spPr>
        <p:txBody>
          <a:bodyPr wrap="square" lIns="0" tIns="0" rIns="0" bIns="0" rtlCol="0" anchor="ctr"/>
          <a:lstStyle/>
          <a:p>
            <a:pPr algn="l" indent="0" marL="0">
              <a:lnSpc>
                <a:spcPct val="130000"/>
              </a:lnSpc>
              <a:buNone/>
            </a:pPr>
            <a:r>
              <a:rPr lang="en-US" sz="1250" b="1" dirty="0">
                <a:solidFill>
                  <a:srgbClr val="322164"/>
                </a:solidFill>
                <a:latin typeface="Cambria" pitchFamily="34" charset="0"/>
                <a:ea typeface="Cambria" pitchFamily="34" charset="-122"/>
                <a:cs typeface="Cambria" pitchFamily="34" charset="-120"/>
              </a:rPr>
              <a:t>Tập kiểm không phải</a:t>
            </a:r>
            <a:endParaRPr lang="en-US" sz="1250" dirty="0"/>
          </a:p>
          <a:p>
            <a:pPr algn="l" indent="0" marL="0">
              <a:lnSpc>
                <a:spcPct val="130000"/>
              </a:lnSpc>
              <a:buNone/>
            </a:pPr>
            <a:r>
              <a:rPr lang="en-US" sz="1250" b="1" dirty="0">
                <a:solidFill>
                  <a:srgbClr val="322164"/>
                </a:solidFill>
                <a:latin typeface="Cambria" pitchFamily="34" charset="0"/>
                <a:ea typeface="Cambria" pitchFamily="34" charset="-122"/>
                <a:cs typeface="Cambria" pitchFamily="34" charset="-120"/>
              </a:rPr>
              <a:t>"ứng dụng chưa từng thấy"</a:t>
            </a:r>
            <a:endParaRPr lang="en-US" sz="1250" dirty="0"/>
          </a:p>
        </p:txBody>
      </p:sp>
      <p:sp>
        <p:nvSpPr>
          <p:cNvPr id="6" name="Text 4"/>
          <p:cNvSpPr/>
          <p:nvPr/>
        </p:nvSpPr>
        <p:spPr>
          <a:xfrm>
            <a:off x="3108960" y="960120"/>
            <a:ext cx="5257800" cy="1417320"/>
          </a:xfrm>
          <a:prstGeom prst="rect">
            <a:avLst/>
          </a:prstGeom>
          <a:noFill/>
          <a:ln/>
        </p:spPr>
        <p:txBody>
          <a:bodyPr wrap="square" lIns="0" tIns="0" rIns="0" bIns="0" rtlCol="0" anchor="ctr"/>
          <a:lstStyle/>
          <a:p>
            <a:pPr algn="l" indent="0" marL="0">
              <a:lnSpc>
                <a:spcPct val="135000"/>
              </a:lnSpc>
              <a:buNone/>
            </a:pPr>
            <a:r>
              <a:rPr lang="en-US" sz="1150" dirty="0">
                <a:solidFill>
                  <a:srgbClr val="1A1A1A"/>
                </a:solidFill>
                <a:latin typeface="Cambria" pitchFamily="34" charset="0"/>
                <a:ea typeface="Cambria" pitchFamily="34" charset="-122"/>
                <a:cs typeface="Cambria" pitchFamily="34" charset="-120"/>
              </a:rPr>
              <a:t>92% ứng dụng trong tập kiểm cũng có ở tập dạy - giữ riêng theo TÁC VỤ,</a:t>
            </a:r>
            <a:endParaRPr lang="en-US" sz="1150" dirty="0"/>
          </a:p>
          <a:p>
            <a:pPr algn="l" indent="0" marL="0">
              <a:lnSpc>
                <a:spcPct val="135000"/>
              </a:lnSpc>
              <a:buNone/>
            </a:pPr>
            <a:r>
              <a:rPr lang="en-US" sz="1150" dirty="0">
                <a:solidFill>
                  <a:srgbClr val="1A1A1A"/>
                </a:solidFill>
                <a:latin typeface="Cambria" pitchFamily="34" charset="0"/>
                <a:ea typeface="Cambria" pitchFamily="34" charset="-122"/>
                <a:cs typeface="Cambria" pitchFamily="34" charset="-120"/>
              </a:rPr>
              <a:t>không phải theo ứng dụng.</a:t>
            </a:r>
            <a:endParaRPr lang="en-US" sz="1150" dirty="0"/>
          </a:p>
          <a:p>
            <a:pPr algn="l" indent="0" marL="0">
              <a:lnSpc>
                <a:spcPct val="135000"/>
              </a:lnSpc>
              <a:buNone/>
            </a:pPr>
            <a:r>
              <a:rPr lang="en-US" sz="1150" dirty="0">
                <a:solidFill>
                  <a:srgbClr val="1A1A1A"/>
                </a:solidFill>
                <a:latin typeface="Cambria" pitchFamily="34" charset="0"/>
                <a:ea typeface="Cambria" pitchFamily="34" charset="-122"/>
                <a:cs typeface="Cambria" pitchFamily="34" charset="-120"/>
              </a:rPr>
              <a:t>Phép so chính S1 vs S2:  vẫn đúng, hai bản đối xứng, 0 tác vụ trùng.</a:t>
            </a:r>
            <a:endParaRPr lang="en-US" sz="1150" dirty="0"/>
          </a:p>
          <a:p>
            <a:pPr algn="l" indent="0" marL="0">
              <a:lnSpc>
                <a:spcPct val="135000"/>
              </a:lnSpc>
              <a:buNone/>
            </a:pPr>
            <a:r>
              <a:rPr lang="en-US" sz="1150" dirty="0">
                <a:solidFill>
                  <a:srgbClr val="1A1A1A"/>
                </a:solidFill>
                <a:latin typeface="Cambria" pitchFamily="34" charset="0"/>
                <a:ea typeface="Cambria" pitchFamily="34" charset="-122"/>
                <a:cs typeface="Cambria" pitchFamily="34" charset="-120"/>
              </a:rPr>
              <a:t>Mốc gpt-4o-mini:  hạ xuống tham khảo - lợi thế sân nhà.</a:t>
            </a:r>
            <a:endParaRPr lang="en-US" sz="1150" dirty="0"/>
          </a:p>
        </p:txBody>
      </p:sp>
      <p:sp>
        <p:nvSpPr>
          <p:cNvPr id="7" name="Shape 5"/>
          <p:cNvSpPr/>
          <p:nvPr/>
        </p:nvSpPr>
        <p:spPr>
          <a:xfrm>
            <a:off x="502920" y="2532888"/>
            <a:ext cx="8138160" cy="1417320"/>
          </a:xfrm>
          <a:prstGeom prst="roundRect">
            <a:avLst>
              <a:gd name="adj" fmla="val 3871"/>
            </a:avLst>
          </a:prstGeom>
          <a:solidFill>
            <a:srgbClr val="E9E8EC"/>
          </a:solidFill>
          <a:ln/>
          <a:effectLst>
            <a:outerShdw sx="100000" sy="100000" kx="0" ky="0" algn="bl" rotWithShape="0" blurRad="63500" dist="31750" dir="2700000">
              <a:srgbClr val="8C8C99">
                <a:alpha val="45000"/>
              </a:srgbClr>
            </a:outerShdw>
          </a:effectLst>
        </p:spPr>
      </p:sp>
      <p:sp>
        <p:nvSpPr>
          <p:cNvPr id="8" name="Text 6"/>
          <p:cNvSpPr/>
          <p:nvPr/>
        </p:nvSpPr>
        <p:spPr>
          <a:xfrm>
            <a:off x="704088" y="2532888"/>
            <a:ext cx="2286000" cy="1417320"/>
          </a:xfrm>
          <a:prstGeom prst="rect">
            <a:avLst/>
          </a:prstGeom>
          <a:noFill/>
          <a:ln/>
        </p:spPr>
        <p:txBody>
          <a:bodyPr wrap="square" lIns="0" tIns="0" rIns="0" bIns="0" rtlCol="0" anchor="ctr"/>
          <a:lstStyle/>
          <a:p>
            <a:pPr algn="l" indent="0" marL="0">
              <a:lnSpc>
                <a:spcPct val="130000"/>
              </a:lnSpc>
              <a:buNone/>
            </a:pPr>
            <a:r>
              <a:rPr lang="en-US" sz="1250" b="1" dirty="0">
                <a:solidFill>
                  <a:srgbClr val="322164"/>
                </a:solidFill>
                <a:latin typeface="Cambria" pitchFamily="34" charset="0"/>
                <a:ea typeface="Cambria" pitchFamily="34" charset="-122"/>
                <a:cs typeface="Cambria" pitchFamily="34" charset="-120"/>
              </a:rPr>
              <a:t>Bộ trỏ chấm còn một</a:t>
            </a:r>
            <a:endParaRPr lang="en-US" sz="1250" dirty="0"/>
          </a:p>
          <a:p>
            <a:pPr algn="l" indent="0" marL="0">
              <a:lnSpc>
                <a:spcPct val="130000"/>
              </a:lnSpc>
              <a:buNone/>
            </a:pPr>
            <a:r>
              <a:rPr lang="en-US" sz="1250" b="1" dirty="0">
                <a:solidFill>
                  <a:srgbClr val="322164"/>
                </a:solidFill>
                <a:latin typeface="Cambria" pitchFamily="34" charset="0"/>
                <a:ea typeface="Cambria" pitchFamily="34" charset="-122"/>
                <a:cs typeface="Cambria" pitchFamily="34" charset="-120"/>
              </a:rPr>
              <a:t>kiểu hỏng riêng</a:t>
            </a:r>
            <a:endParaRPr lang="en-US" sz="1250" dirty="0"/>
          </a:p>
        </p:txBody>
      </p:sp>
      <p:sp>
        <p:nvSpPr>
          <p:cNvPr id="9" name="Text 7"/>
          <p:cNvSpPr/>
          <p:nvPr/>
        </p:nvSpPr>
        <p:spPr>
          <a:xfrm>
            <a:off x="3108960" y="2532888"/>
            <a:ext cx="5257800" cy="1417320"/>
          </a:xfrm>
          <a:prstGeom prst="rect">
            <a:avLst/>
          </a:prstGeom>
          <a:noFill/>
          <a:ln/>
        </p:spPr>
        <p:txBody>
          <a:bodyPr wrap="square" lIns="0" tIns="0" rIns="0" bIns="0" rtlCol="0" anchor="ctr"/>
          <a:lstStyle/>
          <a:p>
            <a:pPr algn="l" indent="0" marL="0">
              <a:lnSpc>
                <a:spcPct val="135000"/>
              </a:lnSpc>
              <a:buNone/>
            </a:pPr>
            <a:r>
              <a:rPr lang="en-US" sz="1150" dirty="0">
                <a:solidFill>
                  <a:srgbClr val="1A1A1A"/>
                </a:solidFill>
                <a:latin typeface="Cambria" pitchFamily="34" charset="0"/>
                <a:ea typeface="Cambria" pitchFamily="34" charset="-122"/>
                <a:cs typeface="Cambria" pitchFamily="34" charset="-120"/>
              </a:rPr>
              <a:t>15,3% số lần nó bỏ cuộc theo chiều ngang:  trả về giữa màn rồi đoán chiều dọc.</a:t>
            </a:r>
            <a:endParaRPr lang="en-US" sz="1150" dirty="0"/>
          </a:p>
          <a:p>
            <a:pPr algn="l" indent="0" marL="0">
              <a:lnSpc>
                <a:spcPct val="135000"/>
              </a:lnSpc>
              <a:buNone/>
            </a:pPr>
            <a:r>
              <a:rPr lang="en-US" sz="1150" dirty="0">
                <a:solidFill>
                  <a:srgbClr val="1A1A1A"/>
                </a:solidFill>
                <a:latin typeface="Cambria" pitchFamily="34" charset="0"/>
                <a:ea typeface="Cambria" pitchFamily="34" charset="-122"/>
                <a:cs typeface="Cambria" pitchFamily="34" charset="-120"/>
              </a:rPr>
              <a:t>Có sẵn bốn dấu hiệu để dò, in cạnh con số chính.</a:t>
            </a:r>
            <a:endParaRPr lang="en-US" sz="1150" dirty="0"/>
          </a:p>
        </p:txBody>
      </p:sp>
      <p:sp>
        <p:nvSpPr>
          <p:cNvPr id="10" name="Shape 8"/>
          <p:cNvSpPr/>
          <p:nvPr/>
        </p:nvSpPr>
        <p:spPr>
          <a:xfrm>
            <a:off x="502920" y="4105656"/>
            <a:ext cx="8138160" cy="1417320"/>
          </a:xfrm>
          <a:prstGeom prst="roundRect">
            <a:avLst>
              <a:gd name="adj" fmla="val 3871"/>
            </a:avLst>
          </a:prstGeom>
          <a:solidFill>
            <a:srgbClr val="E9E8EC"/>
          </a:solidFill>
          <a:ln/>
          <a:effectLst>
            <a:outerShdw sx="100000" sy="100000" kx="0" ky="0" algn="bl" rotWithShape="0" blurRad="63500" dist="31750" dir="2700000">
              <a:srgbClr val="8C8C99">
                <a:alpha val="45000"/>
              </a:srgbClr>
            </a:outerShdw>
          </a:effectLst>
        </p:spPr>
      </p:sp>
      <p:sp>
        <p:nvSpPr>
          <p:cNvPr id="11" name="Text 9"/>
          <p:cNvSpPr/>
          <p:nvPr/>
        </p:nvSpPr>
        <p:spPr>
          <a:xfrm>
            <a:off x="704088" y="4105656"/>
            <a:ext cx="2286000" cy="1417320"/>
          </a:xfrm>
          <a:prstGeom prst="rect">
            <a:avLst/>
          </a:prstGeom>
          <a:noFill/>
          <a:ln/>
        </p:spPr>
        <p:txBody>
          <a:bodyPr wrap="square" lIns="0" tIns="0" rIns="0" bIns="0" rtlCol="0" anchor="ctr"/>
          <a:lstStyle/>
          <a:p>
            <a:pPr algn="l" indent="0" marL="0">
              <a:lnSpc>
                <a:spcPct val="130000"/>
              </a:lnSpc>
              <a:buNone/>
            </a:pPr>
            <a:r>
              <a:rPr lang="en-US" sz="1250" b="1" dirty="0">
                <a:solidFill>
                  <a:srgbClr val="322164"/>
                </a:solidFill>
                <a:latin typeface="Cambria" pitchFamily="34" charset="0"/>
                <a:ea typeface="Cambria" pitchFamily="34" charset="-122"/>
                <a:cs typeface="Cambria" pitchFamily="34" charset="-120"/>
              </a:rPr>
              <a:t>Nhánh đưa sẵn lúc chạy</a:t>
            </a:r>
            <a:endParaRPr lang="en-US" sz="1250" dirty="0"/>
          </a:p>
          <a:p>
            <a:pPr algn="l" indent="0" marL="0">
              <a:lnSpc>
                <a:spcPct val="130000"/>
              </a:lnSpc>
              <a:buNone/>
            </a:pPr>
            <a:r>
              <a:rPr lang="en-US" sz="1250" b="1" dirty="0">
                <a:solidFill>
                  <a:srgbClr val="322164"/>
                </a:solidFill>
                <a:latin typeface="Cambria" pitchFamily="34" charset="0"/>
                <a:ea typeface="Cambria" pitchFamily="34" charset="-122"/>
                <a:cs typeface="Cambria" pitchFamily="34" charset="-120"/>
              </a:rPr>
              <a:t>bị thiệt ba mặt</a:t>
            </a:r>
            <a:endParaRPr lang="en-US" sz="1250" dirty="0"/>
          </a:p>
        </p:txBody>
      </p:sp>
      <p:sp>
        <p:nvSpPr>
          <p:cNvPr id="12" name="Text 10"/>
          <p:cNvSpPr/>
          <p:nvPr/>
        </p:nvSpPr>
        <p:spPr>
          <a:xfrm>
            <a:off x="3108960" y="4105656"/>
            <a:ext cx="5257800" cy="1417320"/>
          </a:xfrm>
          <a:prstGeom prst="rect">
            <a:avLst/>
          </a:prstGeom>
          <a:noFill/>
          <a:ln/>
        </p:spPr>
        <p:txBody>
          <a:bodyPr wrap="square" lIns="0" tIns="0" rIns="0" bIns="0" rtlCol="0" anchor="ctr"/>
          <a:lstStyle/>
          <a:p>
            <a:pPr algn="l" indent="0" marL="0">
              <a:lnSpc>
                <a:spcPct val="135000"/>
              </a:lnSpc>
              <a:buNone/>
            </a:pPr>
            <a:r>
              <a:rPr lang="en-US" sz="1150" dirty="0">
                <a:solidFill>
                  <a:srgbClr val="1A1A1A"/>
                </a:solidFill>
                <a:latin typeface="Cambria" pitchFamily="34" charset="0"/>
                <a:ea typeface="Cambria" pitchFamily="34" charset="-122"/>
                <a:cs typeface="Cambria" pitchFamily="34" charset="-120"/>
              </a:rPr>
              <a:t>Câu nhắc dài gấp 2,4 lần vùng đã học · cắt còn 40/72 phần tử · 14,1% có tên.</a:t>
            </a:r>
            <a:endParaRPr lang="en-US" sz="1150" dirty="0"/>
          </a:p>
          <a:p>
            <a:pPr algn="l" indent="0" marL="0">
              <a:lnSpc>
                <a:spcPct val="135000"/>
              </a:lnSpc>
              <a:buNone/>
            </a:pPr>
            <a:r>
              <a:rPr lang="en-US" sz="1150" dirty="0">
                <a:solidFill>
                  <a:srgbClr val="1A1A1A"/>
                </a:solidFill>
                <a:latin typeface="Cambria" pitchFamily="34" charset="0"/>
                <a:ea typeface="Cambria" pitchFamily="34" charset="-122"/>
                <a:cs typeface="Cambria" pitchFamily="34" charset="-120"/>
              </a:rPr>
              <a:t>Nhánh này thua thì không kết luận được gì.</a:t>
            </a:r>
            <a:endParaRPr lang="en-US" sz="1150" dirty="0"/>
          </a:p>
        </p:txBody>
      </p:sp>
      <p:sp>
        <p:nvSpPr>
          <p:cNvPr id="13" name="Text 11"/>
          <p:cNvSpPr/>
          <p:nvPr/>
        </p:nvSpPr>
        <p:spPr>
          <a:xfrm>
            <a:off x="502920" y="5760720"/>
            <a:ext cx="8138160" cy="411480"/>
          </a:xfrm>
          <a:prstGeom prst="rect">
            <a:avLst/>
          </a:prstGeom>
          <a:noFill/>
          <a:ln/>
        </p:spPr>
        <p:txBody>
          <a:bodyPr wrap="square" lIns="0" tIns="0" rIns="0" bIns="0" rtlCol="0" anchor="t"/>
          <a:lstStyle/>
          <a:p>
            <a:pPr algn="l" indent="0" marL="0">
              <a:buNone/>
            </a:pPr>
            <a:r>
              <a:rPr lang="en-US" sz="1300" i="1" dirty="0">
                <a:solidFill>
                  <a:srgbClr val="990000"/>
                </a:solidFill>
                <a:latin typeface="Cambria" pitchFamily="34" charset="0"/>
                <a:ea typeface="Cambria" pitchFamily="34" charset="-122"/>
                <a:cs typeface="Cambria" pitchFamily="34" charset="-120"/>
              </a:rPr>
              <a:t>Cả ba ghi trong bản đăng ký, trước khi có kết quả.</a:t>
            </a:r>
            <a:endParaRPr lang="en-US" sz="1300" dirty="0"/>
          </a:p>
        </p:txBody>
      </p:sp>
      <p:sp>
        <p:nvSpPr>
          <p:cNvPr id="15" name="Shape 12"/>
          <p:cNvSpPr/>
          <p:nvPr/>
        </p:nvSpPr>
        <p:spPr>
          <a:xfrm>
            <a:off x="0" y="6620256"/>
            <a:ext cx="2743200" cy="237744"/>
          </a:xfrm>
          <a:prstGeom prst="rect">
            <a:avLst/>
          </a:prstGeom>
          <a:solidFill>
            <a:srgbClr val="191132"/>
          </a:solidFill>
          <a:ln/>
        </p:spPr>
      </p:sp>
      <p:sp>
        <p:nvSpPr>
          <p:cNvPr id="16" name="Shape 13"/>
          <p:cNvSpPr/>
          <p:nvPr/>
        </p:nvSpPr>
        <p:spPr>
          <a:xfrm>
            <a:off x="2743200" y="6620256"/>
            <a:ext cx="3383280" cy="237744"/>
          </a:xfrm>
          <a:prstGeom prst="rect">
            <a:avLst/>
          </a:prstGeom>
          <a:solidFill>
            <a:srgbClr val="25194B"/>
          </a:solidFill>
          <a:ln/>
        </p:spPr>
      </p:sp>
      <p:sp>
        <p:nvSpPr>
          <p:cNvPr id="17" name="Shape 14"/>
          <p:cNvSpPr/>
          <p:nvPr/>
        </p:nvSpPr>
        <p:spPr>
          <a:xfrm>
            <a:off x="6126480" y="6620256"/>
            <a:ext cx="1737360" cy="237744"/>
          </a:xfrm>
          <a:prstGeom prst="rect">
            <a:avLst/>
          </a:prstGeom>
          <a:solidFill>
            <a:srgbClr val="4F417A"/>
          </a:solidFill>
          <a:ln/>
        </p:spPr>
      </p:sp>
      <p:sp>
        <p:nvSpPr>
          <p:cNvPr id="18" name="Shape 15"/>
          <p:cNvSpPr/>
          <p:nvPr/>
        </p:nvSpPr>
        <p:spPr>
          <a:xfrm>
            <a:off x="7863840" y="6620256"/>
            <a:ext cx="1280160" cy="237744"/>
          </a:xfrm>
          <a:prstGeom prst="rect">
            <a:avLst/>
          </a:prstGeom>
          <a:solidFill>
            <a:srgbClr val="7A7099"/>
          </a:solidFill>
          <a:ln/>
        </p:spPr>
      </p:sp>
      <p:sp>
        <p:nvSpPr>
          <p:cNvPr id="19" name="Text 16"/>
          <p:cNvSpPr/>
          <p:nvPr/>
        </p:nvSpPr>
        <p:spPr>
          <a:xfrm>
            <a:off x="0" y="6620256"/>
            <a:ext cx="2743200" cy="237744"/>
          </a:xfrm>
          <a:prstGeom prst="rect">
            <a:avLst/>
          </a:prstGeom>
          <a:noFill/>
          <a:ln/>
        </p:spPr>
        <p:txBody>
          <a:bodyPr wrap="square" lIns="0" tIns="0" rIns="0" bIns="0" rtlCol="0" anchor="ctr"/>
          <a:lstStyle/>
          <a:p>
            <a:pPr algn="ctr" indent="0" marL="0">
              <a:buNone/>
            </a:pPr>
            <a:r>
              <a:rPr lang="en-US" sz="800" dirty="0">
                <a:solidFill>
                  <a:srgbClr val="FFFFFF"/>
                </a:solidFill>
                <a:latin typeface="Consolas" pitchFamily="34" charset="0"/>
                <a:ea typeface="Consolas" pitchFamily="34" charset="-122"/>
                <a:cs typeface="Consolas" pitchFamily="34" charset="-120"/>
              </a:rPr>
              <a:t>luận văn thạc sĩ</a:t>
            </a:r>
            <a:endParaRPr lang="en-US" sz="800" dirty="0"/>
          </a:p>
        </p:txBody>
      </p:sp>
      <p:sp>
        <p:nvSpPr>
          <p:cNvPr id="20" name="Text 17"/>
          <p:cNvSpPr/>
          <p:nvPr/>
        </p:nvSpPr>
        <p:spPr>
          <a:xfrm>
            <a:off x="2743200" y="6620256"/>
            <a:ext cx="3383280" cy="237744"/>
          </a:xfrm>
          <a:prstGeom prst="rect">
            <a:avLst/>
          </a:prstGeom>
          <a:noFill/>
          <a:ln/>
        </p:spPr>
        <p:txBody>
          <a:bodyPr wrap="square" lIns="0" tIns="0" rIns="0" bIns="0" rtlCol="0" anchor="ctr"/>
          <a:lstStyle/>
          <a:p>
            <a:pPr algn="ctr" indent="0" marL="0">
              <a:buNone/>
            </a:pPr>
            <a:r>
              <a:rPr lang="en-US" sz="800" dirty="0">
                <a:solidFill>
                  <a:srgbClr val="FFFFFF"/>
                </a:solidFill>
                <a:latin typeface="Cambria" pitchFamily="34" charset="0"/>
                <a:ea typeface="Cambria" pitchFamily="34" charset="-122"/>
                <a:cs typeface="Cambria" pitchFamily="34" charset="-120"/>
              </a:rPr>
              <a:t>Sinh hướng dẫn sử dụng phần mềm</a:t>
            </a:r>
            <a:endParaRPr lang="en-US" sz="800" dirty="0"/>
          </a:p>
        </p:txBody>
      </p:sp>
      <p:sp>
        <p:nvSpPr>
          <p:cNvPr id="21" name="Text 18"/>
          <p:cNvSpPr/>
          <p:nvPr/>
        </p:nvSpPr>
        <p:spPr>
          <a:xfrm>
            <a:off x="6126480" y="6620256"/>
            <a:ext cx="1737360" cy="237744"/>
          </a:xfrm>
          <a:prstGeom prst="rect">
            <a:avLst/>
          </a:prstGeom>
          <a:noFill/>
          <a:ln/>
        </p:spPr>
        <p:txBody>
          <a:bodyPr wrap="square" lIns="0" tIns="0" rIns="0" bIns="0" rtlCol="0" anchor="ctr"/>
          <a:lstStyle/>
          <a:p>
            <a:pPr algn="ctr" indent="0" marL="0">
              <a:buNone/>
            </a:pPr>
            <a:r>
              <a:rPr lang="en-US" sz="800" dirty="0">
                <a:solidFill>
                  <a:srgbClr val="FFFFFF"/>
                </a:solidFill>
                <a:latin typeface="Cambria" pitchFamily="34" charset="0"/>
                <a:ea typeface="Cambria" pitchFamily="34" charset="-122"/>
                <a:cs typeface="Cambria" pitchFamily="34" charset="-120"/>
              </a:rPr>
              <a:t>Lê Đoàn Phương Uyên</a:t>
            </a:r>
            <a:endParaRPr lang="en-US" sz="800" dirty="0"/>
          </a:p>
        </p:txBody>
      </p:sp>
      <p:sp>
        <p:nvSpPr>
          <p:cNvPr id="22" name="Text 19"/>
          <p:cNvSpPr/>
          <p:nvPr/>
        </p:nvSpPr>
        <p:spPr>
          <a:xfrm>
            <a:off x="7863840" y="6620256"/>
            <a:ext cx="1280160" cy="237744"/>
          </a:xfrm>
          <a:prstGeom prst="rect">
            <a:avLst/>
          </a:prstGeom>
          <a:noFill/>
          <a:ln/>
        </p:spPr>
        <p:txBody>
          <a:bodyPr wrap="square" lIns="0" tIns="0" rIns="0" bIns="0" rtlCol="0" anchor="ctr"/>
          <a:lstStyle/>
          <a:p>
            <a:pPr algn="ctr" indent="0" marL="0">
              <a:buNone/>
            </a:pPr>
            <a:r>
              <a:rPr lang="en-US" sz="800" dirty="0">
                <a:solidFill>
                  <a:srgbClr val="FFFFFF"/>
                </a:solidFill>
                <a:latin typeface="Cambria" pitchFamily="34" charset="0"/>
                <a:ea typeface="Cambria" pitchFamily="34" charset="-122"/>
                <a:cs typeface="Cambria" pitchFamily="34" charset="-120"/>
              </a:rPr>
              <a:t>24/26</a:t>
            </a:r>
            <a:endParaRPr lang="en-US" sz="8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48640"/>
          </a:xfrm>
          <a:prstGeom prst="rect">
            <a:avLst/>
          </a:prstGeom>
          <a:solidFill>
            <a:srgbClr val="322164"/>
          </a:solidFill>
          <a:ln/>
        </p:spPr>
      </p:sp>
      <p:sp>
        <p:nvSpPr>
          <p:cNvPr id="3" name="Text 1"/>
          <p:cNvSpPr/>
          <p:nvPr/>
        </p:nvSpPr>
        <p:spPr>
          <a:xfrm>
            <a:off x="201168" y="0"/>
            <a:ext cx="8741664" cy="548640"/>
          </a:xfrm>
          <a:prstGeom prst="rect">
            <a:avLst/>
          </a:prstGeom>
          <a:noFill/>
          <a:ln/>
        </p:spPr>
        <p:txBody>
          <a:bodyPr wrap="square" lIns="0" tIns="0" rIns="0" bIns="0" rtlCol="0" anchor="ctr"/>
          <a:lstStyle/>
          <a:p>
            <a:pPr algn="l" indent="0" marL="0">
              <a:buNone/>
            </a:pPr>
            <a:r>
              <a:rPr lang="en-US" sz="1900" b="1" dirty="0">
                <a:solidFill>
                  <a:srgbClr val="FFFFFF"/>
                </a:solidFill>
                <a:latin typeface="Cambria" pitchFamily="34" charset="0"/>
                <a:ea typeface="Cambria" pitchFamily="34" charset="-122"/>
                <a:cs typeface="Cambria" pitchFamily="34" charset="-120"/>
              </a:rPr>
              <a:t>Tóm tắt</a:t>
            </a:r>
            <a:endParaRPr lang="en-US" sz="1900" dirty="0"/>
          </a:p>
        </p:txBody>
      </p:sp>
      <p:sp>
        <p:nvSpPr>
          <p:cNvPr id="4" name="Shape 2"/>
          <p:cNvSpPr/>
          <p:nvPr/>
        </p:nvSpPr>
        <p:spPr>
          <a:xfrm>
            <a:off x="502920" y="1005840"/>
            <a:ext cx="8138160" cy="1051560"/>
          </a:xfrm>
          <a:prstGeom prst="roundRect">
            <a:avLst>
              <a:gd name="adj" fmla="val 5217"/>
            </a:avLst>
          </a:prstGeom>
          <a:solidFill>
            <a:srgbClr val="E9E8EC"/>
          </a:solidFill>
          <a:ln/>
          <a:effectLst>
            <a:outerShdw sx="100000" sy="100000" kx="0" ky="0" algn="bl" rotWithShape="0" blurRad="63500" dist="31750" dir="2700000">
              <a:srgbClr val="8C8C99">
                <a:alpha val="45000"/>
              </a:srgbClr>
            </a:outerShdw>
          </a:effectLst>
        </p:spPr>
      </p:sp>
      <p:sp>
        <p:nvSpPr>
          <p:cNvPr id="5" name="Text 3"/>
          <p:cNvSpPr/>
          <p:nvPr/>
        </p:nvSpPr>
        <p:spPr>
          <a:xfrm>
            <a:off x="704088" y="1005840"/>
            <a:ext cx="2103120" cy="1051560"/>
          </a:xfrm>
          <a:prstGeom prst="rect">
            <a:avLst/>
          </a:prstGeom>
          <a:noFill/>
          <a:ln/>
        </p:spPr>
        <p:txBody>
          <a:bodyPr wrap="square" lIns="0" tIns="0" rIns="0" bIns="0" rtlCol="0" anchor="ctr"/>
          <a:lstStyle/>
          <a:p>
            <a:pPr algn="l" indent="0" marL="0">
              <a:buNone/>
            </a:pPr>
            <a:r>
              <a:rPr lang="en-US" sz="1400" b="1" dirty="0">
                <a:solidFill>
                  <a:srgbClr val="322164"/>
                </a:solidFill>
                <a:latin typeface="Cambria" pitchFamily="34" charset="0"/>
                <a:ea typeface="Cambria" pitchFamily="34" charset="-122"/>
                <a:cs typeface="Cambria" pitchFamily="34" charset="-120"/>
              </a:rPr>
              <a:t>Sản phẩm</a:t>
            </a:r>
            <a:endParaRPr lang="en-US" sz="1400" dirty="0"/>
          </a:p>
        </p:txBody>
      </p:sp>
      <p:sp>
        <p:nvSpPr>
          <p:cNvPr id="6" name="Text 4"/>
          <p:cNvSpPr/>
          <p:nvPr/>
        </p:nvSpPr>
        <p:spPr>
          <a:xfrm>
            <a:off x="2880360" y="1005840"/>
            <a:ext cx="5486400" cy="1051560"/>
          </a:xfrm>
          <a:prstGeom prst="rect">
            <a:avLst/>
          </a:prstGeom>
          <a:noFill/>
          <a:ln/>
        </p:spPr>
        <p:txBody>
          <a:bodyPr wrap="square" lIns="0" tIns="0" rIns="0" bIns="0" rtlCol="0" anchor="ctr"/>
          <a:lstStyle/>
          <a:p>
            <a:pPr algn="l" indent="0" marL="0">
              <a:lnSpc>
                <a:spcPct val="135000"/>
              </a:lnSpc>
              <a:buNone/>
            </a:pPr>
            <a:r>
              <a:rPr lang="en-US" sz="1250" dirty="0">
                <a:solidFill>
                  <a:srgbClr val="1A1A1A"/>
                </a:solidFill>
                <a:latin typeface="Cambria" pitchFamily="34" charset="0"/>
                <a:ea typeface="Cambria" pitchFamily="34" charset="-122"/>
                <a:cs typeface="Cambria" pitchFamily="34" charset="-120"/>
              </a:rPr>
              <a:t>Mô hình 3 tỉ tham số chạy trên máy: nhìn ảnh và câu hỏi, viết hướng dẫn cho người đọc</a:t>
            </a:r>
            <a:endParaRPr lang="en-US" sz="1250" dirty="0"/>
          </a:p>
        </p:txBody>
      </p:sp>
      <p:sp>
        <p:nvSpPr>
          <p:cNvPr id="7" name="Shape 5"/>
          <p:cNvSpPr/>
          <p:nvPr/>
        </p:nvSpPr>
        <p:spPr>
          <a:xfrm>
            <a:off x="502920" y="2212848"/>
            <a:ext cx="8138160" cy="1051560"/>
          </a:xfrm>
          <a:prstGeom prst="roundRect">
            <a:avLst>
              <a:gd name="adj" fmla="val 5217"/>
            </a:avLst>
          </a:prstGeom>
          <a:solidFill>
            <a:srgbClr val="E9E8EC"/>
          </a:solidFill>
          <a:ln/>
          <a:effectLst>
            <a:outerShdw sx="100000" sy="100000" kx="0" ky="0" algn="bl" rotWithShape="0" blurRad="63500" dist="31750" dir="2700000">
              <a:srgbClr val="8C8C99">
                <a:alpha val="45000"/>
              </a:srgbClr>
            </a:outerShdw>
          </a:effectLst>
        </p:spPr>
      </p:sp>
      <p:sp>
        <p:nvSpPr>
          <p:cNvPr id="8" name="Text 6"/>
          <p:cNvSpPr/>
          <p:nvPr/>
        </p:nvSpPr>
        <p:spPr>
          <a:xfrm>
            <a:off x="704088" y="2212848"/>
            <a:ext cx="2103120" cy="1051560"/>
          </a:xfrm>
          <a:prstGeom prst="rect">
            <a:avLst/>
          </a:prstGeom>
          <a:noFill/>
          <a:ln/>
        </p:spPr>
        <p:txBody>
          <a:bodyPr wrap="square" lIns="0" tIns="0" rIns="0" bIns="0" rtlCol="0" anchor="ctr"/>
          <a:lstStyle/>
          <a:p>
            <a:pPr algn="l" indent="0" marL="0">
              <a:buNone/>
            </a:pPr>
            <a:r>
              <a:rPr lang="en-US" sz="1400" b="1" dirty="0">
                <a:solidFill>
                  <a:srgbClr val="322164"/>
                </a:solidFill>
                <a:latin typeface="Cambria" pitchFamily="34" charset="0"/>
                <a:ea typeface="Cambria" pitchFamily="34" charset="-122"/>
                <a:cs typeface="Cambria" pitchFamily="34" charset="-120"/>
              </a:rPr>
              <a:t>Đóng góp</a:t>
            </a:r>
            <a:endParaRPr lang="en-US" sz="1400" dirty="0"/>
          </a:p>
        </p:txBody>
      </p:sp>
      <p:sp>
        <p:nvSpPr>
          <p:cNvPr id="9" name="Text 7"/>
          <p:cNvSpPr/>
          <p:nvPr/>
        </p:nvSpPr>
        <p:spPr>
          <a:xfrm>
            <a:off x="2880360" y="2212848"/>
            <a:ext cx="5486400" cy="1051560"/>
          </a:xfrm>
          <a:prstGeom prst="rect">
            <a:avLst/>
          </a:prstGeom>
          <a:noFill/>
          <a:ln/>
        </p:spPr>
        <p:txBody>
          <a:bodyPr wrap="square" lIns="0" tIns="0" rIns="0" bIns="0" rtlCol="0" anchor="ctr"/>
          <a:lstStyle/>
          <a:p>
            <a:pPr algn="l" indent="0" marL="0">
              <a:lnSpc>
                <a:spcPct val="135000"/>
              </a:lnSpc>
              <a:buNone/>
            </a:pPr>
            <a:r>
              <a:rPr lang="en-US" sz="1250" dirty="0">
                <a:solidFill>
                  <a:srgbClr val="1A1A1A"/>
                </a:solidFill>
                <a:latin typeface="Cambria" pitchFamily="34" charset="0"/>
                <a:ea typeface="Cambria" pitchFamily="34" charset="-122"/>
                <a:cs typeface="Cambria" pitchFamily="34" charset="-120"/>
              </a:rPr>
              <a:t>Bắt mô hình xác định rõ mục tiêu trước khi viết: dòng khai báo trước câu, và khoản phạt câu mơ hồ</a:t>
            </a:r>
            <a:endParaRPr lang="en-US" sz="1250" dirty="0"/>
          </a:p>
        </p:txBody>
      </p:sp>
      <p:sp>
        <p:nvSpPr>
          <p:cNvPr id="10" name="Shape 8"/>
          <p:cNvSpPr/>
          <p:nvPr/>
        </p:nvSpPr>
        <p:spPr>
          <a:xfrm>
            <a:off x="502920" y="3419856"/>
            <a:ext cx="8138160" cy="1051560"/>
          </a:xfrm>
          <a:prstGeom prst="roundRect">
            <a:avLst>
              <a:gd name="adj" fmla="val 5217"/>
            </a:avLst>
          </a:prstGeom>
          <a:solidFill>
            <a:srgbClr val="E9E8EC"/>
          </a:solidFill>
          <a:ln/>
          <a:effectLst>
            <a:outerShdw sx="100000" sy="100000" kx="0" ky="0" algn="bl" rotWithShape="0" blurRad="63500" dist="31750" dir="2700000">
              <a:srgbClr val="8C8C99">
                <a:alpha val="45000"/>
              </a:srgbClr>
            </a:outerShdw>
          </a:effectLst>
        </p:spPr>
      </p:sp>
      <p:sp>
        <p:nvSpPr>
          <p:cNvPr id="11" name="Text 9"/>
          <p:cNvSpPr/>
          <p:nvPr/>
        </p:nvSpPr>
        <p:spPr>
          <a:xfrm>
            <a:off x="704088" y="3419856"/>
            <a:ext cx="2103120" cy="1051560"/>
          </a:xfrm>
          <a:prstGeom prst="rect">
            <a:avLst/>
          </a:prstGeom>
          <a:noFill/>
          <a:ln/>
        </p:spPr>
        <p:txBody>
          <a:bodyPr wrap="square" lIns="0" tIns="0" rIns="0" bIns="0" rtlCol="0" anchor="ctr"/>
          <a:lstStyle/>
          <a:p>
            <a:pPr algn="l" indent="0" marL="0">
              <a:buNone/>
            </a:pPr>
            <a:r>
              <a:rPr lang="en-US" sz="1400" b="1" dirty="0">
                <a:solidFill>
                  <a:srgbClr val="B22222"/>
                </a:solidFill>
                <a:latin typeface="Cambria" pitchFamily="34" charset="0"/>
                <a:ea typeface="Cambria" pitchFamily="34" charset="-122"/>
                <a:cs typeface="Cambria" pitchFamily="34" charset="-120"/>
              </a:rPr>
              <a:t>Đang ở đâu</a:t>
            </a:r>
            <a:endParaRPr lang="en-US" sz="1400" dirty="0"/>
          </a:p>
        </p:txBody>
      </p:sp>
      <p:sp>
        <p:nvSpPr>
          <p:cNvPr id="12" name="Text 10"/>
          <p:cNvSpPr/>
          <p:nvPr/>
        </p:nvSpPr>
        <p:spPr>
          <a:xfrm>
            <a:off x="2880360" y="3419856"/>
            <a:ext cx="5486400" cy="1051560"/>
          </a:xfrm>
          <a:prstGeom prst="rect">
            <a:avLst/>
          </a:prstGeom>
          <a:noFill/>
          <a:ln/>
        </p:spPr>
        <p:txBody>
          <a:bodyPr wrap="square" lIns="0" tIns="0" rIns="0" bIns="0" rtlCol="0" anchor="ctr"/>
          <a:lstStyle/>
          <a:p>
            <a:pPr algn="l" indent="0" marL="0">
              <a:lnSpc>
                <a:spcPct val="135000"/>
              </a:lnSpc>
              <a:buNone/>
            </a:pPr>
            <a:r>
              <a:rPr lang="en-US" sz="1250" dirty="0">
                <a:solidFill>
                  <a:srgbClr val="1A1A1A"/>
                </a:solidFill>
                <a:latin typeface="Cambria" pitchFamily="34" charset="0"/>
                <a:ea typeface="Cambria" pitchFamily="34" charset="-122"/>
                <a:cs typeface="Cambria" pitchFamily="34" charset="-120"/>
              </a:rPr>
              <a:t>Thiết kế đã khoá, có mốc thời gian · thước đã kiểm và qua cổng · dữ liệu đã dựng đủ · bản thường đang huấn luyện, sáng mai có điểm đầu tiên</a:t>
            </a:r>
            <a:endParaRPr lang="en-US" sz="1250" dirty="0"/>
          </a:p>
        </p:txBody>
      </p:sp>
      <p:sp>
        <p:nvSpPr>
          <p:cNvPr id="13" name="Shape 11"/>
          <p:cNvSpPr/>
          <p:nvPr/>
        </p:nvSpPr>
        <p:spPr>
          <a:xfrm>
            <a:off x="502920" y="4626864"/>
            <a:ext cx="8138160" cy="1051560"/>
          </a:xfrm>
          <a:prstGeom prst="roundRect">
            <a:avLst>
              <a:gd name="adj" fmla="val 5217"/>
            </a:avLst>
          </a:prstGeom>
          <a:solidFill>
            <a:srgbClr val="E9E8EC"/>
          </a:solidFill>
          <a:ln/>
          <a:effectLst>
            <a:outerShdw sx="100000" sy="100000" kx="0" ky="0" algn="bl" rotWithShape="0" blurRad="63500" dist="31750" dir="2700000">
              <a:srgbClr val="8C8C99">
                <a:alpha val="45000"/>
              </a:srgbClr>
            </a:outerShdw>
          </a:effectLst>
        </p:spPr>
      </p:sp>
      <p:sp>
        <p:nvSpPr>
          <p:cNvPr id="14" name="Text 12"/>
          <p:cNvSpPr/>
          <p:nvPr/>
        </p:nvSpPr>
        <p:spPr>
          <a:xfrm>
            <a:off x="704088" y="4626864"/>
            <a:ext cx="2103120" cy="1051560"/>
          </a:xfrm>
          <a:prstGeom prst="rect">
            <a:avLst/>
          </a:prstGeom>
          <a:noFill/>
          <a:ln/>
        </p:spPr>
        <p:txBody>
          <a:bodyPr wrap="square" lIns="0" tIns="0" rIns="0" bIns="0" rtlCol="0" anchor="ctr"/>
          <a:lstStyle/>
          <a:p>
            <a:pPr algn="l" indent="0" marL="0">
              <a:buNone/>
            </a:pPr>
            <a:r>
              <a:rPr lang="en-US" sz="1400" b="1" dirty="0">
                <a:solidFill>
                  <a:srgbClr val="B22222"/>
                </a:solidFill>
                <a:latin typeface="Cambria" pitchFamily="34" charset="0"/>
                <a:ea typeface="Cambria" pitchFamily="34" charset="-122"/>
                <a:cs typeface="Cambria" pitchFamily="34" charset="-120"/>
              </a:rPr>
              <a:t>Xin thầy cho ý kiến</a:t>
            </a:r>
            <a:endParaRPr lang="en-US" sz="1400" dirty="0"/>
          </a:p>
        </p:txBody>
      </p:sp>
      <p:sp>
        <p:nvSpPr>
          <p:cNvPr id="15" name="Text 13"/>
          <p:cNvSpPr/>
          <p:nvPr/>
        </p:nvSpPr>
        <p:spPr>
          <a:xfrm>
            <a:off x="2880360" y="4626864"/>
            <a:ext cx="5486400" cy="1051560"/>
          </a:xfrm>
          <a:prstGeom prst="rect">
            <a:avLst/>
          </a:prstGeom>
          <a:noFill/>
          <a:ln/>
        </p:spPr>
        <p:txBody>
          <a:bodyPr wrap="square" lIns="0" tIns="0" rIns="0" bIns="0" rtlCol="0" anchor="ctr"/>
          <a:lstStyle/>
          <a:p>
            <a:pPr algn="l" indent="0" marL="0">
              <a:lnSpc>
                <a:spcPct val="135000"/>
              </a:lnSpc>
              <a:buNone/>
            </a:pPr>
            <a:r>
              <a:rPr lang="en-US" sz="1250" dirty="0">
                <a:solidFill>
                  <a:srgbClr val="1A1A1A"/>
                </a:solidFill>
                <a:latin typeface="Cambria" pitchFamily="34" charset="0"/>
                <a:ea typeface="Cambria" pitchFamily="34" charset="-122"/>
                <a:cs typeface="Cambria" pitchFamily="34" charset="-120"/>
              </a:rPr>
              <a:t>Cách đọc kết quả cho cả ba kịch bản, chốt trước khi số về</a:t>
            </a:r>
            <a:endParaRPr lang="en-US" sz="1250" dirty="0"/>
          </a:p>
        </p:txBody>
      </p:sp>
      <p:sp>
        <p:nvSpPr>
          <p:cNvPr id="16" name="Shape 14"/>
          <p:cNvSpPr/>
          <p:nvPr/>
        </p:nvSpPr>
        <p:spPr>
          <a:xfrm>
            <a:off x="0" y="6620256"/>
            <a:ext cx="2743200" cy="237744"/>
          </a:xfrm>
          <a:prstGeom prst="rect">
            <a:avLst/>
          </a:prstGeom>
          <a:solidFill>
            <a:srgbClr val="191132"/>
          </a:solidFill>
          <a:ln/>
        </p:spPr>
      </p:sp>
      <p:sp>
        <p:nvSpPr>
          <p:cNvPr id="17" name="Shape 15"/>
          <p:cNvSpPr/>
          <p:nvPr/>
        </p:nvSpPr>
        <p:spPr>
          <a:xfrm>
            <a:off x="2743200" y="6620256"/>
            <a:ext cx="3383280" cy="237744"/>
          </a:xfrm>
          <a:prstGeom prst="rect">
            <a:avLst/>
          </a:prstGeom>
          <a:solidFill>
            <a:srgbClr val="25194B"/>
          </a:solidFill>
          <a:ln/>
        </p:spPr>
      </p:sp>
      <p:sp>
        <p:nvSpPr>
          <p:cNvPr id="18" name="Shape 16"/>
          <p:cNvSpPr/>
          <p:nvPr/>
        </p:nvSpPr>
        <p:spPr>
          <a:xfrm>
            <a:off x="6126480" y="6620256"/>
            <a:ext cx="1737360" cy="237744"/>
          </a:xfrm>
          <a:prstGeom prst="rect">
            <a:avLst/>
          </a:prstGeom>
          <a:solidFill>
            <a:srgbClr val="4F417A"/>
          </a:solidFill>
          <a:ln/>
        </p:spPr>
      </p:sp>
      <p:sp>
        <p:nvSpPr>
          <p:cNvPr id="19" name="Shape 17"/>
          <p:cNvSpPr/>
          <p:nvPr/>
        </p:nvSpPr>
        <p:spPr>
          <a:xfrm>
            <a:off x="7863840" y="6620256"/>
            <a:ext cx="1280160" cy="237744"/>
          </a:xfrm>
          <a:prstGeom prst="rect">
            <a:avLst/>
          </a:prstGeom>
          <a:solidFill>
            <a:srgbClr val="7A7099"/>
          </a:solidFill>
          <a:ln/>
        </p:spPr>
      </p:sp>
      <p:sp>
        <p:nvSpPr>
          <p:cNvPr id="20" name="Text 18"/>
          <p:cNvSpPr/>
          <p:nvPr/>
        </p:nvSpPr>
        <p:spPr>
          <a:xfrm>
            <a:off x="0" y="6620256"/>
            <a:ext cx="2743200" cy="237744"/>
          </a:xfrm>
          <a:prstGeom prst="rect">
            <a:avLst/>
          </a:prstGeom>
          <a:noFill/>
          <a:ln/>
        </p:spPr>
        <p:txBody>
          <a:bodyPr wrap="square" lIns="0" tIns="0" rIns="0" bIns="0" rtlCol="0" anchor="ctr"/>
          <a:lstStyle/>
          <a:p>
            <a:pPr algn="ctr" indent="0" marL="0">
              <a:buNone/>
            </a:pPr>
            <a:r>
              <a:rPr lang="en-US" sz="800" dirty="0">
                <a:solidFill>
                  <a:srgbClr val="FFFFFF"/>
                </a:solidFill>
                <a:latin typeface="Consolas" pitchFamily="34" charset="0"/>
                <a:ea typeface="Consolas" pitchFamily="34" charset="-122"/>
                <a:cs typeface="Consolas" pitchFamily="34" charset="-120"/>
              </a:rPr>
              <a:t>luận văn thạc sĩ</a:t>
            </a:r>
            <a:endParaRPr lang="en-US" sz="800" dirty="0"/>
          </a:p>
        </p:txBody>
      </p:sp>
      <p:sp>
        <p:nvSpPr>
          <p:cNvPr id="21" name="Text 19"/>
          <p:cNvSpPr/>
          <p:nvPr/>
        </p:nvSpPr>
        <p:spPr>
          <a:xfrm>
            <a:off x="2743200" y="6620256"/>
            <a:ext cx="3383280" cy="237744"/>
          </a:xfrm>
          <a:prstGeom prst="rect">
            <a:avLst/>
          </a:prstGeom>
          <a:noFill/>
          <a:ln/>
        </p:spPr>
        <p:txBody>
          <a:bodyPr wrap="square" lIns="0" tIns="0" rIns="0" bIns="0" rtlCol="0" anchor="ctr"/>
          <a:lstStyle/>
          <a:p>
            <a:pPr algn="ctr" indent="0" marL="0">
              <a:buNone/>
            </a:pPr>
            <a:r>
              <a:rPr lang="en-US" sz="800" dirty="0">
                <a:solidFill>
                  <a:srgbClr val="FFFFFF"/>
                </a:solidFill>
                <a:latin typeface="Cambria" pitchFamily="34" charset="0"/>
                <a:ea typeface="Cambria" pitchFamily="34" charset="-122"/>
                <a:cs typeface="Cambria" pitchFamily="34" charset="-120"/>
              </a:rPr>
              <a:t>Sinh hướng dẫn sử dụng phần mềm</a:t>
            </a:r>
            <a:endParaRPr lang="en-US" sz="800" dirty="0"/>
          </a:p>
        </p:txBody>
      </p:sp>
      <p:sp>
        <p:nvSpPr>
          <p:cNvPr id="22" name="Text 20"/>
          <p:cNvSpPr/>
          <p:nvPr/>
        </p:nvSpPr>
        <p:spPr>
          <a:xfrm>
            <a:off x="6126480" y="6620256"/>
            <a:ext cx="1737360" cy="237744"/>
          </a:xfrm>
          <a:prstGeom prst="rect">
            <a:avLst/>
          </a:prstGeom>
          <a:noFill/>
          <a:ln/>
        </p:spPr>
        <p:txBody>
          <a:bodyPr wrap="square" lIns="0" tIns="0" rIns="0" bIns="0" rtlCol="0" anchor="ctr"/>
          <a:lstStyle/>
          <a:p>
            <a:pPr algn="ctr" indent="0" marL="0">
              <a:buNone/>
            </a:pPr>
            <a:r>
              <a:rPr lang="en-US" sz="800" dirty="0">
                <a:solidFill>
                  <a:srgbClr val="FFFFFF"/>
                </a:solidFill>
                <a:latin typeface="Cambria" pitchFamily="34" charset="0"/>
                <a:ea typeface="Cambria" pitchFamily="34" charset="-122"/>
                <a:cs typeface="Cambria" pitchFamily="34" charset="-120"/>
              </a:rPr>
              <a:t>Lê Đoàn Phương Uyên</a:t>
            </a:r>
            <a:endParaRPr lang="en-US" sz="800" dirty="0"/>
          </a:p>
        </p:txBody>
      </p:sp>
      <p:sp>
        <p:nvSpPr>
          <p:cNvPr id="23" name="Text 21"/>
          <p:cNvSpPr/>
          <p:nvPr/>
        </p:nvSpPr>
        <p:spPr>
          <a:xfrm>
            <a:off x="7863840" y="6620256"/>
            <a:ext cx="1280160" cy="237744"/>
          </a:xfrm>
          <a:prstGeom prst="rect">
            <a:avLst/>
          </a:prstGeom>
          <a:noFill/>
          <a:ln/>
        </p:spPr>
        <p:txBody>
          <a:bodyPr wrap="square" lIns="0" tIns="0" rIns="0" bIns="0" rtlCol="0" anchor="ctr"/>
          <a:lstStyle/>
          <a:p>
            <a:pPr algn="ctr" indent="0" marL="0">
              <a:buNone/>
            </a:pPr>
            <a:r>
              <a:rPr lang="en-US" sz="800" dirty="0">
                <a:solidFill>
                  <a:srgbClr val="FFFFFF"/>
                </a:solidFill>
                <a:latin typeface="Cambria" pitchFamily="34" charset="0"/>
                <a:ea typeface="Cambria" pitchFamily="34" charset="-122"/>
                <a:cs typeface="Cambria" pitchFamily="34" charset="-120"/>
              </a:rPr>
              <a:t>25/26</a:t>
            </a:r>
            <a:endParaRPr lang="en-US" sz="8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603504"/>
          </a:xfrm>
          <a:prstGeom prst="rect">
            <a:avLst/>
          </a:prstGeom>
          <a:solidFill>
            <a:srgbClr val="322164"/>
          </a:solidFill>
          <a:ln/>
        </p:spPr>
      </p:sp>
      <p:sp>
        <p:nvSpPr>
          <p:cNvPr id="3" name="Shape 1"/>
          <p:cNvSpPr/>
          <p:nvPr/>
        </p:nvSpPr>
        <p:spPr>
          <a:xfrm>
            <a:off x="731520" y="2103120"/>
            <a:ext cx="7680960" cy="2011680"/>
          </a:xfrm>
          <a:prstGeom prst="roundRect">
            <a:avLst>
              <a:gd name="adj" fmla="val 4091"/>
            </a:avLst>
          </a:prstGeom>
          <a:solidFill>
            <a:srgbClr val="322164"/>
          </a:solidFill>
          <a:ln/>
          <a:effectLst>
            <a:outerShdw sx="100000" sy="100000" kx="0" ky="0" algn="bl" rotWithShape="0" blurRad="63500" dist="31750" dir="2700000">
              <a:srgbClr val="8C8C99">
                <a:alpha val="45000"/>
              </a:srgbClr>
            </a:outerShdw>
          </a:effectLst>
        </p:spPr>
      </p:sp>
      <p:sp>
        <p:nvSpPr>
          <p:cNvPr id="4" name="Text 2"/>
          <p:cNvSpPr/>
          <p:nvPr/>
        </p:nvSpPr>
        <p:spPr>
          <a:xfrm>
            <a:off x="731520" y="2103120"/>
            <a:ext cx="7680960" cy="2011680"/>
          </a:xfrm>
          <a:prstGeom prst="rect">
            <a:avLst/>
          </a:prstGeom>
          <a:noFill/>
          <a:ln/>
        </p:spPr>
        <p:txBody>
          <a:bodyPr wrap="square" lIns="0" tIns="0" rIns="0" bIns="0" rtlCol="0" anchor="ctr"/>
          <a:lstStyle/>
          <a:p>
            <a:pPr algn="ctr" indent="0" marL="0">
              <a:lnSpc>
                <a:spcPct val="135000"/>
              </a:lnSpc>
              <a:buNone/>
            </a:pPr>
            <a:r>
              <a:rPr lang="en-US" sz="2800" b="1" dirty="0">
                <a:solidFill>
                  <a:srgbClr val="FFFFFF"/>
                </a:solidFill>
                <a:latin typeface="Cambria" pitchFamily="34" charset="0"/>
                <a:ea typeface="Cambria" pitchFamily="34" charset="-122"/>
                <a:cs typeface="Cambria" pitchFamily="34" charset="-120"/>
              </a:rPr>
              <a:t>XIN CẢM ƠN</a:t>
            </a:r>
            <a:endParaRPr lang="en-US" sz="2800" dirty="0"/>
          </a:p>
          <a:p>
            <a:pPr algn="ctr" indent="0" marL="0">
              <a:lnSpc>
                <a:spcPct val="135000"/>
              </a:lnSpc>
              <a:buNone/>
            </a:pPr>
            <a:r>
              <a:rPr lang="en-US" sz="2800" b="1" dirty="0">
                <a:solidFill>
                  <a:srgbClr val="FFFFFF"/>
                </a:solidFill>
                <a:latin typeface="Cambria" pitchFamily="34" charset="0"/>
                <a:ea typeface="Cambria" pitchFamily="34" charset="-122"/>
                <a:cs typeface="Cambria" pitchFamily="34" charset="-120"/>
              </a:rPr>
              <a:t>THẦY CÔ VÀ HỘI ĐỒNG!</a:t>
            </a:r>
            <a:endParaRPr lang="en-US" sz="2800" dirty="0"/>
          </a:p>
        </p:txBody>
      </p:sp>
      <p:sp>
        <p:nvSpPr>
          <p:cNvPr id="5" name="Text 3"/>
          <p:cNvSpPr/>
          <p:nvPr/>
        </p:nvSpPr>
        <p:spPr>
          <a:xfrm>
            <a:off x="731520" y="4572000"/>
            <a:ext cx="7680960" cy="457200"/>
          </a:xfrm>
          <a:prstGeom prst="rect">
            <a:avLst/>
          </a:prstGeom>
          <a:noFill/>
          <a:ln/>
        </p:spPr>
        <p:txBody>
          <a:bodyPr wrap="square" lIns="0" tIns="0" rIns="0" bIns="0" rtlCol="0" anchor="t"/>
          <a:lstStyle/>
          <a:p>
            <a:pPr algn="ctr" indent="0" marL="0">
              <a:buNone/>
            </a:pPr>
            <a:r>
              <a:rPr lang="en-US" sz="1400" i="1" dirty="0">
                <a:solidFill>
                  <a:srgbClr val="1A1A1A"/>
                </a:solidFill>
                <a:latin typeface="Cambria" pitchFamily="34" charset="0"/>
                <a:ea typeface="Cambria" pitchFamily="34" charset="-122"/>
                <a:cs typeface="Cambria" pitchFamily="34" charset="-120"/>
              </a:rPr>
              <a:t>Rất mong nhận được góp ý của thầy cô</a:t>
            </a:r>
            <a:endParaRPr lang="en-US" sz="1400" dirty="0"/>
          </a:p>
        </p:txBody>
      </p:sp>
      <p:sp>
        <p:nvSpPr>
          <p:cNvPr id="6" name="Shape 4"/>
          <p:cNvSpPr/>
          <p:nvPr/>
        </p:nvSpPr>
        <p:spPr>
          <a:xfrm>
            <a:off x="0" y="6620256"/>
            <a:ext cx="2743200" cy="237744"/>
          </a:xfrm>
          <a:prstGeom prst="rect">
            <a:avLst/>
          </a:prstGeom>
          <a:solidFill>
            <a:srgbClr val="191132"/>
          </a:solidFill>
          <a:ln/>
        </p:spPr>
      </p:sp>
      <p:sp>
        <p:nvSpPr>
          <p:cNvPr id="7" name="Shape 5"/>
          <p:cNvSpPr/>
          <p:nvPr/>
        </p:nvSpPr>
        <p:spPr>
          <a:xfrm>
            <a:off x="2743200" y="6620256"/>
            <a:ext cx="3383280" cy="237744"/>
          </a:xfrm>
          <a:prstGeom prst="rect">
            <a:avLst/>
          </a:prstGeom>
          <a:solidFill>
            <a:srgbClr val="25194B"/>
          </a:solidFill>
          <a:ln/>
        </p:spPr>
      </p:sp>
      <p:sp>
        <p:nvSpPr>
          <p:cNvPr id="8" name="Shape 6"/>
          <p:cNvSpPr/>
          <p:nvPr/>
        </p:nvSpPr>
        <p:spPr>
          <a:xfrm>
            <a:off x="6126480" y="6620256"/>
            <a:ext cx="1737360" cy="237744"/>
          </a:xfrm>
          <a:prstGeom prst="rect">
            <a:avLst/>
          </a:prstGeom>
          <a:solidFill>
            <a:srgbClr val="4F417A"/>
          </a:solidFill>
          <a:ln/>
        </p:spPr>
      </p:sp>
      <p:sp>
        <p:nvSpPr>
          <p:cNvPr id="9" name="Shape 7"/>
          <p:cNvSpPr/>
          <p:nvPr/>
        </p:nvSpPr>
        <p:spPr>
          <a:xfrm>
            <a:off x="7863840" y="6620256"/>
            <a:ext cx="1280160" cy="237744"/>
          </a:xfrm>
          <a:prstGeom prst="rect">
            <a:avLst/>
          </a:prstGeom>
          <a:solidFill>
            <a:srgbClr val="7A7099"/>
          </a:solidFill>
          <a:ln/>
        </p:spPr>
      </p:sp>
      <p:sp>
        <p:nvSpPr>
          <p:cNvPr id="10" name="Text 8"/>
          <p:cNvSpPr/>
          <p:nvPr/>
        </p:nvSpPr>
        <p:spPr>
          <a:xfrm>
            <a:off x="0" y="6620256"/>
            <a:ext cx="2743200" cy="237744"/>
          </a:xfrm>
          <a:prstGeom prst="rect">
            <a:avLst/>
          </a:prstGeom>
          <a:noFill/>
          <a:ln/>
        </p:spPr>
        <p:txBody>
          <a:bodyPr wrap="square" lIns="0" tIns="0" rIns="0" bIns="0" rtlCol="0" anchor="ctr"/>
          <a:lstStyle/>
          <a:p>
            <a:pPr algn="ctr" indent="0" marL="0">
              <a:buNone/>
            </a:pPr>
            <a:r>
              <a:rPr lang="en-US" sz="800" dirty="0">
                <a:solidFill>
                  <a:srgbClr val="FFFFFF"/>
                </a:solidFill>
                <a:latin typeface="Consolas" pitchFamily="34" charset="0"/>
                <a:ea typeface="Consolas" pitchFamily="34" charset="-122"/>
                <a:cs typeface="Consolas" pitchFamily="34" charset="-120"/>
              </a:rPr>
              <a:t>luận văn thạc sĩ</a:t>
            </a:r>
            <a:endParaRPr lang="en-US" sz="800" dirty="0"/>
          </a:p>
        </p:txBody>
      </p:sp>
      <p:sp>
        <p:nvSpPr>
          <p:cNvPr id="11" name="Text 9"/>
          <p:cNvSpPr/>
          <p:nvPr/>
        </p:nvSpPr>
        <p:spPr>
          <a:xfrm>
            <a:off x="2743200" y="6620256"/>
            <a:ext cx="3383280" cy="237744"/>
          </a:xfrm>
          <a:prstGeom prst="rect">
            <a:avLst/>
          </a:prstGeom>
          <a:noFill/>
          <a:ln/>
        </p:spPr>
        <p:txBody>
          <a:bodyPr wrap="square" lIns="0" tIns="0" rIns="0" bIns="0" rtlCol="0" anchor="ctr"/>
          <a:lstStyle/>
          <a:p>
            <a:pPr algn="ctr" indent="0" marL="0">
              <a:buNone/>
            </a:pPr>
            <a:r>
              <a:rPr lang="en-US" sz="800" dirty="0">
                <a:solidFill>
                  <a:srgbClr val="FFFFFF"/>
                </a:solidFill>
                <a:latin typeface="Cambria" pitchFamily="34" charset="0"/>
                <a:ea typeface="Cambria" pitchFamily="34" charset="-122"/>
                <a:cs typeface="Cambria" pitchFamily="34" charset="-120"/>
              </a:rPr>
              <a:t>Sinh hướng dẫn sử dụng phần mềm</a:t>
            </a:r>
            <a:endParaRPr lang="en-US" sz="800" dirty="0"/>
          </a:p>
        </p:txBody>
      </p:sp>
      <p:sp>
        <p:nvSpPr>
          <p:cNvPr id="12" name="Text 10"/>
          <p:cNvSpPr/>
          <p:nvPr/>
        </p:nvSpPr>
        <p:spPr>
          <a:xfrm>
            <a:off x="6126480" y="6620256"/>
            <a:ext cx="1737360" cy="237744"/>
          </a:xfrm>
          <a:prstGeom prst="rect">
            <a:avLst/>
          </a:prstGeom>
          <a:noFill/>
          <a:ln/>
        </p:spPr>
        <p:txBody>
          <a:bodyPr wrap="square" lIns="0" tIns="0" rIns="0" bIns="0" rtlCol="0" anchor="ctr"/>
          <a:lstStyle/>
          <a:p>
            <a:pPr algn="ctr" indent="0" marL="0">
              <a:buNone/>
            </a:pPr>
            <a:r>
              <a:rPr lang="en-US" sz="800" dirty="0">
                <a:solidFill>
                  <a:srgbClr val="FFFFFF"/>
                </a:solidFill>
                <a:latin typeface="Cambria" pitchFamily="34" charset="0"/>
                <a:ea typeface="Cambria" pitchFamily="34" charset="-122"/>
                <a:cs typeface="Cambria" pitchFamily="34" charset="-120"/>
              </a:rPr>
              <a:t>Lê Đoàn Phương Uyên</a:t>
            </a:r>
            <a:endParaRPr lang="en-US" sz="800" dirty="0"/>
          </a:p>
        </p:txBody>
      </p:sp>
      <p:sp>
        <p:nvSpPr>
          <p:cNvPr id="13" name="Text 11"/>
          <p:cNvSpPr/>
          <p:nvPr/>
        </p:nvSpPr>
        <p:spPr>
          <a:xfrm>
            <a:off x="7863840" y="6620256"/>
            <a:ext cx="1280160" cy="237744"/>
          </a:xfrm>
          <a:prstGeom prst="rect">
            <a:avLst/>
          </a:prstGeom>
          <a:noFill/>
          <a:ln/>
        </p:spPr>
        <p:txBody>
          <a:bodyPr wrap="square" lIns="0" tIns="0" rIns="0" bIns="0" rtlCol="0" anchor="ctr"/>
          <a:lstStyle/>
          <a:p>
            <a:pPr algn="ctr" indent="0" marL="0">
              <a:buNone/>
            </a:pPr>
            <a:r>
              <a:rPr lang="en-US" sz="800" dirty="0">
                <a:solidFill>
                  <a:srgbClr val="FFFFFF"/>
                </a:solidFill>
                <a:latin typeface="Cambria" pitchFamily="34" charset="0"/>
                <a:ea typeface="Cambria" pitchFamily="34" charset="-122"/>
                <a:cs typeface="Cambria" pitchFamily="34" charset="-120"/>
              </a:rPr>
              <a:t>26/26</a:t>
            </a:r>
            <a:endParaRPr lang="en-US" sz="8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show="0">
  <p:cSld name="Slide 2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48640"/>
          </a:xfrm>
          <a:prstGeom prst="rect">
            <a:avLst/>
          </a:prstGeom>
          <a:solidFill>
            <a:srgbClr val="322164"/>
          </a:solidFill>
          <a:ln/>
        </p:spPr>
      </p:sp>
      <p:sp>
        <p:nvSpPr>
          <p:cNvPr id="3" name="Text 1"/>
          <p:cNvSpPr/>
          <p:nvPr/>
        </p:nvSpPr>
        <p:spPr>
          <a:xfrm>
            <a:off x="201168" y="0"/>
            <a:ext cx="8741664" cy="548640"/>
          </a:xfrm>
          <a:prstGeom prst="rect">
            <a:avLst/>
          </a:prstGeom>
          <a:noFill/>
          <a:ln/>
        </p:spPr>
        <p:txBody>
          <a:bodyPr wrap="square" lIns="0" tIns="0" rIns="0" bIns="0" rtlCol="0" anchor="ctr"/>
          <a:lstStyle/>
          <a:p>
            <a:pPr algn="l" indent="0" marL="0">
              <a:buNone/>
            </a:pPr>
            <a:r>
              <a:rPr lang="en-US" sz="1900" b="1" dirty="0">
                <a:solidFill>
                  <a:srgbClr val="FFFFFF"/>
                </a:solidFill>
                <a:latin typeface="Cambria" pitchFamily="34" charset="0"/>
                <a:ea typeface="Cambria" pitchFamily="34" charset="-122"/>
                <a:cs typeface="Cambria" pitchFamily="34" charset="-120"/>
              </a:rPr>
              <a:t>Nguồn số:  Aguvis (ICML 2025), Table 6</a:t>
            </a:r>
            <a:endParaRPr lang="en-US" sz="1900" dirty="0"/>
          </a:p>
        </p:txBody>
      </p:sp>
      <p:pic>
        <p:nvPicPr>
          <p:cNvPr id="4" name="Image 0" descr="../report/_papers/aguvis_table6.png">    </p:cNvPr>
          <p:cNvPicPr>
            <a:picLocks noChangeAspect="1"/>
          </p:cNvPicPr>
          <p:nvPr/>
        </p:nvPicPr>
        <p:blipFill>
          <a:blip r:embed="rId1"/>
          <a:srcRect l="0" r="0" t="0" b="0"/>
          <a:stretch/>
        </p:blipFill>
        <p:spPr>
          <a:xfrm>
            <a:off x="457200" y="960120"/>
            <a:ext cx="8229600" cy="3931920"/>
          </a:xfrm>
          <a:prstGeom prst="rect">
            <a:avLst/>
          </a:prstGeom>
        </p:spPr>
      </p:pic>
      <p:sp>
        <p:nvSpPr>
          <p:cNvPr id="5" name="Text 2"/>
          <p:cNvSpPr/>
          <p:nvPr/>
        </p:nvSpPr>
        <p:spPr>
          <a:xfrm>
            <a:off x="502920" y="5029200"/>
            <a:ext cx="8138160" cy="1005840"/>
          </a:xfrm>
          <a:prstGeom prst="rect">
            <a:avLst/>
          </a:prstGeom>
          <a:noFill/>
          <a:ln/>
        </p:spPr>
        <p:txBody>
          <a:bodyPr wrap="square" lIns="0" tIns="0" rIns="0" bIns="0" rtlCol="0" anchor="t"/>
          <a:lstStyle/>
          <a:p>
            <a:pPr algn="l" indent="0" marL="0">
              <a:lnSpc>
                <a:spcPct val="140000"/>
              </a:lnSpc>
              <a:buNone/>
            </a:pPr>
            <a:r>
              <a:rPr lang="en-US" sz="1300" dirty="0">
                <a:solidFill>
                  <a:srgbClr val="1A1A1A"/>
                </a:solidFill>
                <a:latin typeface="Cambria" pitchFamily="34" charset="0"/>
                <a:ea typeface="Cambria" pitchFamily="34" charset="-122"/>
                <a:cs typeface="Cambria" pitchFamily="34" charset="-120"/>
              </a:rPr>
              <a:t>Cột AndroidControl Low-Level:  80,5 → 69,1 khi bỏ tầng trung gian, tức tụt 11,4</a:t>
            </a:r>
            <a:endParaRPr lang="en-US" sz="1300" dirty="0"/>
          </a:p>
          <a:p>
            <a:pPr algn="l" indent="0" marL="0">
              <a:lnSpc>
                <a:spcPct val="140000"/>
              </a:lnSpc>
              <a:buNone/>
            </a:pPr>
            <a:r>
              <a:rPr lang="en-US" sz="1300" dirty="0">
                <a:solidFill>
                  <a:srgbClr val="1A1A1A"/>
                </a:solidFill>
                <a:latin typeface="Cambria" pitchFamily="34" charset="0"/>
                <a:ea typeface="Cambria" pitchFamily="34" charset="-122"/>
                <a:cs typeface="Cambria" pitchFamily="34" charset="-120"/>
              </a:rPr>
              <a:t>Hai cột kia cho thấy hiệu ứng dồn đúng chỗ:  High-Level chỉ tụt 1,2 · ScreenSpot tụt 5,1</a:t>
            </a:r>
            <a:endParaRPr lang="en-US" sz="1300" dirty="0"/>
          </a:p>
        </p:txBody>
      </p:sp>
      <p:sp>
        <p:nvSpPr>
          <p:cNvPr id="6" name="Shape 3"/>
          <p:cNvSpPr/>
          <p:nvPr/>
        </p:nvSpPr>
        <p:spPr>
          <a:xfrm>
            <a:off x="0" y="6620256"/>
            <a:ext cx="9144000" cy="237744"/>
          </a:xfrm>
          <a:prstGeom prst="rect">
            <a:avLst/>
          </a:prstGeom>
          <a:solidFill>
            <a:srgbClr val="4F417A"/>
          </a:solidFill>
          <a:ln/>
        </p:spPr>
      </p:sp>
      <p:sp>
        <p:nvSpPr>
          <p:cNvPr id="7" name="Text 4"/>
          <p:cNvSpPr/>
          <p:nvPr/>
        </p:nvSpPr>
        <p:spPr>
          <a:xfrm>
            <a:off x="0" y="6620256"/>
            <a:ext cx="9144000" cy="237744"/>
          </a:xfrm>
          <a:prstGeom prst="rect">
            <a:avLst/>
          </a:prstGeom>
          <a:noFill/>
          <a:ln/>
        </p:spPr>
        <p:txBody>
          <a:bodyPr wrap="square" lIns="0" tIns="0" rIns="0" bIns="0" rtlCol="0" anchor="ctr"/>
          <a:lstStyle/>
          <a:p>
            <a:pPr algn="ctr" indent="0" marL="0">
              <a:buNone/>
            </a:pPr>
            <a:r>
              <a:rPr lang="en-US" sz="800" dirty="0">
                <a:solidFill>
                  <a:srgbClr val="FFFFFF"/>
                </a:solidFill>
                <a:latin typeface="Cambria" pitchFamily="34" charset="0"/>
                <a:ea typeface="Cambria" pitchFamily="34" charset="-122"/>
                <a:cs typeface="Cambria" pitchFamily="34" charset="-120"/>
              </a:rPr>
              <a:t>slide dự phòng - chỉ mở khi được hỏi</a:t>
            </a:r>
            <a:endParaRPr lang="en-US" sz="8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show="0">
  <p:cSld name="Slide 2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48640"/>
          </a:xfrm>
          <a:prstGeom prst="rect">
            <a:avLst/>
          </a:prstGeom>
          <a:solidFill>
            <a:srgbClr val="322164"/>
          </a:solidFill>
          <a:ln/>
        </p:spPr>
      </p:sp>
      <p:sp>
        <p:nvSpPr>
          <p:cNvPr id="3" name="Text 1"/>
          <p:cNvSpPr/>
          <p:nvPr/>
        </p:nvSpPr>
        <p:spPr>
          <a:xfrm>
            <a:off x="201168" y="0"/>
            <a:ext cx="8741664" cy="548640"/>
          </a:xfrm>
          <a:prstGeom prst="rect">
            <a:avLst/>
          </a:prstGeom>
          <a:noFill/>
          <a:ln/>
        </p:spPr>
        <p:txBody>
          <a:bodyPr wrap="square" lIns="0" tIns="0" rIns="0" bIns="0" rtlCol="0" anchor="ctr"/>
          <a:lstStyle/>
          <a:p>
            <a:pPr algn="l" indent="0" marL="0">
              <a:buNone/>
            </a:pPr>
            <a:r>
              <a:rPr lang="en-US" sz="1900" b="1" dirty="0">
                <a:solidFill>
                  <a:srgbClr val="FFFFFF"/>
                </a:solidFill>
                <a:latin typeface="Cambria" pitchFamily="34" charset="0"/>
                <a:ea typeface="Cambria" pitchFamily="34" charset="-122"/>
                <a:cs typeface="Cambria" pitchFamily="34" charset="-120"/>
              </a:rPr>
              <a:t>Nguồn số:  Shikra, Table 1</a:t>
            </a:r>
            <a:endParaRPr lang="en-US" sz="1900" dirty="0"/>
          </a:p>
        </p:txBody>
      </p:sp>
      <p:pic>
        <p:nvPicPr>
          <p:cNvPr id="4" name="Image 0" descr="../report/_papers/shikra_table1.png">    </p:cNvPr>
          <p:cNvPicPr>
            <a:picLocks noChangeAspect="1"/>
          </p:cNvPicPr>
          <p:nvPr/>
        </p:nvPicPr>
        <p:blipFill>
          <a:blip r:embed="rId1"/>
          <a:srcRect l="0" r="0" t="0" b="0"/>
          <a:stretch/>
        </p:blipFill>
        <p:spPr>
          <a:xfrm>
            <a:off x="1645920" y="960120"/>
            <a:ext cx="5852160" cy="3931920"/>
          </a:xfrm>
          <a:prstGeom prst="rect">
            <a:avLst/>
          </a:prstGeom>
        </p:spPr>
      </p:pic>
      <p:sp>
        <p:nvSpPr>
          <p:cNvPr id="5" name="Text 2"/>
          <p:cNvSpPr/>
          <p:nvPr/>
        </p:nvSpPr>
        <p:spPr>
          <a:xfrm>
            <a:off x="502920" y="5029200"/>
            <a:ext cx="8138160" cy="1005840"/>
          </a:xfrm>
          <a:prstGeom prst="rect">
            <a:avLst/>
          </a:prstGeom>
          <a:noFill/>
          <a:ln/>
        </p:spPr>
        <p:txBody>
          <a:bodyPr wrap="square" lIns="0" tIns="0" rIns="0" bIns="0" rtlCol="0" anchor="t"/>
          <a:lstStyle/>
          <a:p>
            <a:pPr algn="l" indent="0" marL="0">
              <a:lnSpc>
                <a:spcPct val="140000"/>
              </a:lnSpc>
              <a:buNone/>
            </a:pPr>
            <a:r>
              <a:rPr lang="en-US" sz="1300" dirty="0">
                <a:solidFill>
                  <a:srgbClr val="1A1A1A"/>
                </a:solidFill>
                <a:latin typeface="Cambria" pitchFamily="34" charset="0"/>
                <a:ea typeface="Cambria" pitchFamily="34" charset="-122"/>
                <a:cs typeface="Cambria" pitchFamily="34" charset="-120"/>
              </a:rPr>
              <a:t>Cùng mô hình, cùng bài kiểm, chỉ đổi dạng bước trung gian:</a:t>
            </a:r>
            <a:endParaRPr lang="en-US" sz="1300" dirty="0"/>
          </a:p>
          <a:p>
            <a:pPr algn="l" indent="0" marL="0">
              <a:lnSpc>
                <a:spcPct val="140000"/>
              </a:lnSpc>
              <a:buNone/>
            </a:pPr>
            <a:r>
              <a:rPr lang="en-US" sz="1300" dirty="0">
                <a:solidFill>
                  <a:srgbClr val="1A1A1A"/>
                </a:solidFill>
                <a:latin typeface="Cambria" pitchFamily="34" charset="0"/>
                <a:ea typeface="Cambria" pitchFamily="34" charset="-122"/>
                <a:cs typeface="Cambria" pitchFamily="34" charset="-120"/>
              </a:rPr>
              <a:t>không có bước trung gian 88,07  ·  văn xuôi 80,68 (−7,4)  ·  có toạ độ 93,97 (+5,9)</a:t>
            </a:r>
            <a:endParaRPr lang="en-US" sz="1300" dirty="0"/>
          </a:p>
        </p:txBody>
      </p:sp>
      <p:sp>
        <p:nvSpPr>
          <p:cNvPr id="6" name="Shape 3"/>
          <p:cNvSpPr/>
          <p:nvPr/>
        </p:nvSpPr>
        <p:spPr>
          <a:xfrm>
            <a:off x="0" y="6620256"/>
            <a:ext cx="9144000" cy="237744"/>
          </a:xfrm>
          <a:prstGeom prst="rect">
            <a:avLst/>
          </a:prstGeom>
          <a:solidFill>
            <a:srgbClr val="4F417A"/>
          </a:solidFill>
          <a:ln/>
        </p:spPr>
      </p:sp>
      <p:sp>
        <p:nvSpPr>
          <p:cNvPr id="7" name="Text 4"/>
          <p:cNvSpPr/>
          <p:nvPr/>
        </p:nvSpPr>
        <p:spPr>
          <a:xfrm>
            <a:off x="0" y="6620256"/>
            <a:ext cx="9144000" cy="237744"/>
          </a:xfrm>
          <a:prstGeom prst="rect">
            <a:avLst/>
          </a:prstGeom>
          <a:noFill/>
          <a:ln/>
        </p:spPr>
        <p:txBody>
          <a:bodyPr wrap="square" lIns="0" tIns="0" rIns="0" bIns="0" rtlCol="0" anchor="ctr"/>
          <a:lstStyle/>
          <a:p>
            <a:pPr algn="ctr" indent="0" marL="0">
              <a:buNone/>
            </a:pPr>
            <a:r>
              <a:rPr lang="en-US" sz="800" dirty="0">
                <a:solidFill>
                  <a:srgbClr val="FFFFFF"/>
                </a:solidFill>
                <a:latin typeface="Cambria" pitchFamily="34" charset="0"/>
                <a:ea typeface="Cambria" pitchFamily="34" charset="-122"/>
                <a:cs typeface="Cambria" pitchFamily="34" charset="-120"/>
              </a:rPr>
              <a:t>slide dự phòng - chỉ mở khi được hỏi</a:t>
            </a:r>
            <a:endParaRPr lang="en-US" sz="8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show="0">
  <p:cSld name="Slide 2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48640"/>
          </a:xfrm>
          <a:prstGeom prst="rect">
            <a:avLst/>
          </a:prstGeom>
          <a:solidFill>
            <a:srgbClr val="322164"/>
          </a:solidFill>
          <a:ln/>
        </p:spPr>
      </p:sp>
      <p:sp>
        <p:nvSpPr>
          <p:cNvPr id="3" name="Text 1"/>
          <p:cNvSpPr/>
          <p:nvPr/>
        </p:nvSpPr>
        <p:spPr>
          <a:xfrm>
            <a:off x="201168" y="0"/>
            <a:ext cx="8741664" cy="548640"/>
          </a:xfrm>
          <a:prstGeom prst="rect">
            <a:avLst/>
          </a:prstGeom>
          <a:noFill/>
          <a:ln/>
        </p:spPr>
        <p:txBody>
          <a:bodyPr wrap="square" lIns="0" tIns="0" rIns="0" bIns="0" rtlCol="0" anchor="ctr"/>
          <a:lstStyle/>
          <a:p>
            <a:pPr algn="l" indent="0" marL="0">
              <a:buNone/>
            </a:pPr>
            <a:r>
              <a:rPr lang="en-US" sz="1900" b="1" dirty="0">
                <a:solidFill>
                  <a:srgbClr val="FFFFFF"/>
                </a:solidFill>
                <a:latin typeface="Cambria" pitchFamily="34" charset="0"/>
                <a:ea typeface="Cambria" pitchFamily="34" charset="-122"/>
                <a:cs typeface="Cambria" pitchFamily="34" charset="-120"/>
              </a:rPr>
              <a:t>Nguồn số:  GCoT, Table 5</a:t>
            </a:r>
            <a:endParaRPr lang="en-US" sz="1900" dirty="0"/>
          </a:p>
        </p:txBody>
      </p:sp>
      <p:pic>
        <p:nvPicPr>
          <p:cNvPr id="4" name="Image 0" descr="../report/_papers/gcot_table5.png">    </p:cNvPr>
          <p:cNvPicPr>
            <a:picLocks noChangeAspect="1"/>
          </p:cNvPicPr>
          <p:nvPr/>
        </p:nvPicPr>
        <p:blipFill>
          <a:blip r:embed="rId1"/>
          <a:srcRect l="0" r="0" t="0" b="0"/>
          <a:stretch/>
        </p:blipFill>
        <p:spPr>
          <a:xfrm>
            <a:off x="731520" y="960120"/>
            <a:ext cx="7680960" cy="3931920"/>
          </a:xfrm>
          <a:prstGeom prst="rect">
            <a:avLst/>
          </a:prstGeom>
        </p:spPr>
      </p:pic>
      <p:sp>
        <p:nvSpPr>
          <p:cNvPr id="5" name="Text 2"/>
          <p:cNvSpPr/>
          <p:nvPr/>
        </p:nvSpPr>
        <p:spPr>
          <a:xfrm>
            <a:off x="502920" y="5029200"/>
            <a:ext cx="8138160" cy="1005840"/>
          </a:xfrm>
          <a:prstGeom prst="rect">
            <a:avLst/>
          </a:prstGeom>
          <a:noFill/>
          <a:ln/>
        </p:spPr>
        <p:txBody>
          <a:bodyPr wrap="square" lIns="0" tIns="0" rIns="0" bIns="0" rtlCol="0" anchor="t"/>
          <a:lstStyle/>
          <a:p>
            <a:pPr algn="l" indent="0" marL="0">
              <a:lnSpc>
                <a:spcPct val="140000"/>
              </a:lnSpc>
              <a:buNone/>
            </a:pPr>
            <a:r>
              <a:rPr lang="en-US" sz="1300" dirty="0">
                <a:solidFill>
                  <a:srgbClr val="1A1A1A"/>
                </a:solidFill>
                <a:latin typeface="Cambria" pitchFamily="34" charset="0"/>
                <a:ea typeface="Cambria" pitchFamily="34" charset="-122"/>
                <a:cs typeface="Cambria" pitchFamily="34" charset="-120"/>
              </a:rPr>
              <a:t>Cột Average → A-Acc:  LLaVA-7B 70,0 → 74,5 (+4,5)  ·  LLaVA-13B 70,6 → 76,4 (+5,8)</a:t>
            </a:r>
            <a:endParaRPr lang="en-US" sz="1300" dirty="0"/>
          </a:p>
          <a:p>
            <a:pPr algn="l" indent="0" marL="0">
              <a:lnSpc>
                <a:spcPct val="140000"/>
              </a:lnSpc>
              <a:buNone/>
            </a:pPr>
            <a:r>
              <a:rPr lang="en-US" sz="1300" dirty="0">
                <a:solidFill>
                  <a:srgbClr val="1A1A1A"/>
                </a:solidFill>
                <a:latin typeface="Cambria" pitchFamily="34" charset="0"/>
                <a:ea typeface="Cambria" pitchFamily="34" charset="-122"/>
                <a:cs typeface="Cambria" pitchFamily="34" charset="-120"/>
              </a:rPr>
              <a:t>Số âm hay được trích nằm ở Table 3 và 4 - đó là chế độ ra lệnh cho mô hình chưa huấn luyện</a:t>
            </a:r>
            <a:endParaRPr lang="en-US" sz="1300" dirty="0"/>
          </a:p>
        </p:txBody>
      </p:sp>
      <p:sp>
        <p:nvSpPr>
          <p:cNvPr id="6" name="Shape 3"/>
          <p:cNvSpPr/>
          <p:nvPr/>
        </p:nvSpPr>
        <p:spPr>
          <a:xfrm>
            <a:off x="0" y="6620256"/>
            <a:ext cx="9144000" cy="237744"/>
          </a:xfrm>
          <a:prstGeom prst="rect">
            <a:avLst/>
          </a:prstGeom>
          <a:solidFill>
            <a:srgbClr val="4F417A"/>
          </a:solidFill>
          <a:ln/>
        </p:spPr>
      </p:sp>
      <p:sp>
        <p:nvSpPr>
          <p:cNvPr id="7" name="Text 4"/>
          <p:cNvSpPr/>
          <p:nvPr/>
        </p:nvSpPr>
        <p:spPr>
          <a:xfrm>
            <a:off x="0" y="6620256"/>
            <a:ext cx="9144000" cy="237744"/>
          </a:xfrm>
          <a:prstGeom prst="rect">
            <a:avLst/>
          </a:prstGeom>
          <a:noFill/>
          <a:ln/>
        </p:spPr>
        <p:txBody>
          <a:bodyPr wrap="square" lIns="0" tIns="0" rIns="0" bIns="0" rtlCol="0" anchor="ctr"/>
          <a:lstStyle/>
          <a:p>
            <a:pPr algn="ctr" indent="0" marL="0">
              <a:buNone/>
            </a:pPr>
            <a:r>
              <a:rPr lang="en-US" sz="800" dirty="0">
                <a:solidFill>
                  <a:srgbClr val="FFFFFF"/>
                </a:solidFill>
                <a:latin typeface="Cambria" pitchFamily="34" charset="0"/>
                <a:ea typeface="Cambria" pitchFamily="34" charset="-122"/>
                <a:cs typeface="Cambria" pitchFamily="34" charset="-120"/>
              </a:rPr>
              <a:t>slide dự phòng - chỉ mở khi được hỏi</a:t>
            </a:r>
            <a:endParaRPr lang="en-US" sz="8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show="0">
  <p:cSld name="Slide 3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48640"/>
          </a:xfrm>
          <a:prstGeom prst="rect">
            <a:avLst/>
          </a:prstGeom>
          <a:solidFill>
            <a:srgbClr val="322164"/>
          </a:solidFill>
          <a:ln/>
        </p:spPr>
      </p:sp>
      <p:sp>
        <p:nvSpPr>
          <p:cNvPr id="3" name="Text 1"/>
          <p:cNvSpPr/>
          <p:nvPr/>
        </p:nvSpPr>
        <p:spPr>
          <a:xfrm>
            <a:off x="201168" y="0"/>
            <a:ext cx="8741664" cy="548640"/>
          </a:xfrm>
          <a:prstGeom prst="rect">
            <a:avLst/>
          </a:prstGeom>
          <a:noFill/>
          <a:ln/>
        </p:spPr>
        <p:txBody>
          <a:bodyPr wrap="square" lIns="0" tIns="0" rIns="0" bIns="0" rtlCol="0" anchor="ctr"/>
          <a:lstStyle/>
          <a:p>
            <a:pPr algn="l" indent="0" marL="0">
              <a:buNone/>
            </a:pPr>
            <a:r>
              <a:rPr lang="en-US" sz="1900" b="1" dirty="0">
                <a:solidFill>
                  <a:srgbClr val="FFFFFF"/>
                </a:solidFill>
                <a:latin typeface="Cambria" pitchFamily="34" charset="0"/>
                <a:ea typeface="Cambria" pitchFamily="34" charset="-122"/>
                <a:cs typeface="Cambria" pitchFamily="34" charset="-120"/>
              </a:rPr>
              <a:t>Nguồn số:  CogCoM (ICLR 2025), Table 4</a:t>
            </a:r>
            <a:endParaRPr lang="en-US" sz="1900" dirty="0"/>
          </a:p>
        </p:txBody>
      </p:sp>
      <p:pic>
        <p:nvPicPr>
          <p:cNvPr id="4" name="Image 0" descr="../report/_papers/cogcom_table4.png">    </p:cNvPr>
          <p:cNvPicPr>
            <a:picLocks noChangeAspect="1"/>
          </p:cNvPicPr>
          <p:nvPr/>
        </p:nvPicPr>
        <p:blipFill>
          <a:blip r:embed="rId1"/>
          <a:srcRect l="0" r="0" t="0" b="0"/>
          <a:stretch/>
        </p:blipFill>
        <p:spPr>
          <a:xfrm>
            <a:off x="640080" y="960120"/>
            <a:ext cx="7863840" cy="3931920"/>
          </a:xfrm>
          <a:prstGeom prst="rect">
            <a:avLst/>
          </a:prstGeom>
        </p:spPr>
      </p:pic>
      <p:sp>
        <p:nvSpPr>
          <p:cNvPr id="5" name="Text 2"/>
          <p:cNvSpPr/>
          <p:nvPr/>
        </p:nvSpPr>
        <p:spPr>
          <a:xfrm>
            <a:off x="502920" y="5029200"/>
            <a:ext cx="8138160" cy="1005840"/>
          </a:xfrm>
          <a:prstGeom prst="rect">
            <a:avLst/>
          </a:prstGeom>
          <a:noFill/>
          <a:ln/>
        </p:spPr>
        <p:txBody>
          <a:bodyPr wrap="square" lIns="0" tIns="0" rIns="0" bIns="0" rtlCol="0" anchor="t"/>
          <a:lstStyle/>
          <a:p>
            <a:pPr algn="l" indent="0" marL="0">
              <a:lnSpc>
                <a:spcPct val="140000"/>
              </a:lnSpc>
              <a:buNone/>
            </a:pPr>
            <a:r>
              <a:rPr lang="en-US" sz="1300" dirty="0">
                <a:solidFill>
                  <a:srgbClr val="1A1A1A"/>
                </a:solidFill>
                <a:latin typeface="Cambria" pitchFamily="34" charset="0"/>
                <a:ea typeface="Cambria" pitchFamily="34" charset="-122"/>
                <a:cs typeface="Cambria" pitchFamily="34" charset="-120"/>
              </a:rPr>
              <a:t>Bỏ 70K dữ liệu chuỗi trung gian ra khỏi huấn luyện:</a:t>
            </a:r>
            <a:endParaRPr lang="en-US" sz="1300" dirty="0"/>
          </a:p>
          <a:p>
            <a:pPr algn="l" indent="0" marL="0">
              <a:lnSpc>
                <a:spcPct val="140000"/>
              </a:lnSpc>
              <a:buNone/>
            </a:pPr>
            <a:r>
              <a:rPr lang="en-US" sz="1300" dirty="0">
                <a:solidFill>
                  <a:srgbClr val="1A1A1A"/>
                </a:solidFill>
                <a:latin typeface="Cambria" pitchFamily="34" charset="0"/>
                <a:ea typeface="Cambria" pitchFamily="34" charset="-122"/>
                <a:cs typeface="Cambria" pitchFamily="34" charset="-120"/>
              </a:rPr>
              <a:t>TextVQA ↑6,6  ·  MMVet ↑0,2  ·  MathVista ↑0,9 - phải trích cả cụm ba số</a:t>
            </a:r>
            <a:endParaRPr lang="en-US" sz="1300" dirty="0"/>
          </a:p>
          <a:p>
            <a:pPr algn="l" indent="0" marL="0">
              <a:lnSpc>
                <a:spcPct val="140000"/>
              </a:lnSpc>
              <a:buNone/>
            </a:pPr>
            <a:r>
              <a:rPr lang="en-US" sz="1300" dirty="0">
                <a:solidFill>
                  <a:srgbClr val="1A1A1A"/>
                </a:solidFill>
                <a:latin typeface="Cambria" pitchFamily="34" charset="0"/>
                <a:ea typeface="Cambria" pitchFamily="34" charset="-122"/>
                <a:cs typeface="Cambria" pitchFamily="34" charset="-120"/>
              </a:rPr>
              <a:t>Hiệu ứng chỉ nổi ở bài đòi đọc chữ trong ảnh</a:t>
            </a:r>
            <a:endParaRPr lang="en-US" sz="1300" dirty="0"/>
          </a:p>
        </p:txBody>
      </p:sp>
      <p:sp>
        <p:nvSpPr>
          <p:cNvPr id="6" name="Shape 3"/>
          <p:cNvSpPr/>
          <p:nvPr/>
        </p:nvSpPr>
        <p:spPr>
          <a:xfrm>
            <a:off x="0" y="6620256"/>
            <a:ext cx="9144000" cy="237744"/>
          </a:xfrm>
          <a:prstGeom prst="rect">
            <a:avLst/>
          </a:prstGeom>
          <a:solidFill>
            <a:srgbClr val="4F417A"/>
          </a:solidFill>
          <a:ln/>
        </p:spPr>
      </p:sp>
      <p:sp>
        <p:nvSpPr>
          <p:cNvPr id="7" name="Text 4"/>
          <p:cNvSpPr/>
          <p:nvPr/>
        </p:nvSpPr>
        <p:spPr>
          <a:xfrm>
            <a:off x="0" y="6620256"/>
            <a:ext cx="9144000" cy="237744"/>
          </a:xfrm>
          <a:prstGeom prst="rect">
            <a:avLst/>
          </a:prstGeom>
          <a:noFill/>
          <a:ln/>
        </p:spPr>
        <p:txBody>
          <a:bodyPr wrap="square" lIns="0" tIns="0" rIns="0" bIns="0" rtlCol="0" anchor="ctr"/>
          <a:lstStyle/>
          <a:p>
            <a:pPr algn="ctr" indent="0" marL="0">
              <a:buNone/>
            </a:pPr>
            <a:r>
              <a:rPr lang="en-US" sz="800" dirty="0">
                <a:solidFill>
                  <a:srgbClr val="FFFFFF"/>
                </a:solidFill>
                <a:latin typeface="Cambria" pitchFamily="34" charset="0"/>
                <a:ea typeface="Cambria" pitchFamily="34" charset="-122"/>
                <a:cs typeface="Cambria" pitchFamily="34" charset="-120"/>
              </a:rPr>
              <a:t>slide dự phòng - chỉ mở khi được hỏi</a:t>
            </a:r>
            <a:endParaRPr lang="en-US" sz="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30</Slides>
  <Notes>30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30</vt:i4>
      </vt:variant>
    </vt:vector>
  </HeadingPairs>
  <TitlesOfParts>
    <vt:vector size="3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Sinh huong dan su dung phan mem tu anh man hinh</dc:title>
  <dc:subject>PptxGenJS Presentation</dc:subject>
  <dc:creator>Luan van thac si</dc:creator>
  <cp:lastModifiedBy>Luan van thac si</cp:lastModifiedBy>
  <cp:revision>1</cp:revision>
  <dcterms:created xsi:type="dcterms:W3CDTF">2026-08-12T10:57:40Z</dcterms:created>
  <dcterms:modified xsi:type="dcterms:W3CDTF">2026-08-12T10:57:40Z</dcterms:modified>
</cp:coreProperties>
</file>