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tình huống thật. Nhấn chỗ khác biệt: cả dòng nghiên cứu đang làm agent bấm máy (đầu ra kiểu click(732,173)), còn đề tài này sinh câu chữ. Chạy offline nghĩa là ảnh màn hình - thứ hay chứa thông tin riêng tư - không phải gửi đi đâu; đó là lý do tồn tại của mô hình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chặn trước câu hỏi về tính mới. Ba hàng là ba phía đã kiểm độc lập, tận trang gốc từng bài. GuideMe là bài sát nhất: họ prompting GPT-5 qua mạng, đánh giá bằng khảo sát 18 người dùng, không có thước nào chấm chất lượng câu - mình huấn luyện và có thước định lượng, đó là ranh giới. Các cơ chế bên trong đều có tiền lệ, sẽ khai rõ ở phần sau, không nhận chữ "mới" cho chúng.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trúc ba tầng để hội đồng thấy: một tầng không ra kết quả thì hai tầng kia vẫn đứng. Câu cuối là nhận xét của chính giám khảo trong vòng phản biện thử - dùng lại khi thầy hỏi "có mỏng quá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Toạ độ chạm là nhãn sạch tuyệt đối, phủ 100% bước chạm - cách huấn luyện thường bỏ phí nguồn này, còn đề tài dùng nó làm ô toạ độ trong dòng khai báo. Câu người viết cụt (gần nửa dưới 5 từ) là lý do có khâu viết lại: cho học bắt chước nguyên bản thì mô hình học đúng giọng cụt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Cặp số 32/69: đo trên câu chuẩn của chính bộ dữ liệu (chưa phải câu mô hình sinh), chia đôi theo trung vị 8 từ, bộ trỏ gpt-4o-mini, dung sai 14% cạnh màn. Bản cũ ghi 35% là nhớ lệch - đã tính lại, ghi rõ luật chia. n mỗi nhánh chỉ 38 câu nên số còn dao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cả phần thực nghiệm. Rủi ro dồn về khâu rẻ: dựng dữ liệu kiểm được trước, miễn phí; tiền chỉ tiêu ở khâu 5. Đến khâu 6, trên máy người dùng chỉ còn bộ đọc chữ và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chọn loại chạy CPU vì khớp câu chuyện chạy trên máy; trung vị 22 dòng chữ mỗi màn, nhiễu thì giữ nguyên nhiễu để mô hình học cả lúc không nên tin. Viết lại: mô hình lớn được cầm đáp án (ảnh khoanh dấu) nên thứ truyền lại là chất lượng câu chữ, không phải năng lực định vị; lúc huấn luyện dùng ảnh sạch. Có nhánh viết-lại-mù-ảnh làm đối chứng độ dài.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mức 1 của đóng góp. Dòng khai báo tồn tại chỉ để ép mô hình xác định rõ mục tiêu trước khi viết. Toạ độ chạm là nhãn sạch 100% mà cách dạy thường bỏ phí. Ràng buộc "có cấu trúc chặt, có toạ độ" là học từ các bài trước: để bước trung gian là văn tự do thì kết quả âm (slide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SỐ - thủ sẵn nếu thầy hỏi "in ở đâu trong bài": Aguvis = Table 6, hiệu hai dòng 80,5 - 69,1 · Shikra = Table 1, ba số 88,07 / 80,68 / 93,97 · GCoT = Table 5, cột Average A-Acc 70,0 -&gt; 74,5 và 70,6 -&gt; 76,4 · CogCoM = Table 4, bài in thẳng "↑6.6". Ba trong bốn số là hiệu tự trừ từ bảng của họ, không phải số in sẵn - khai luôn nếu bị vặn. Ảnh bốn bảng gốc nằm ở report/105. Các bài dùng thước khác nhau nên số chỉ nói lên chiều và cỡ, không so thẳng. Nếu thầy hỏi GCoT: số âm hay được trích là ở chế độ prompting mô hình chưa huấn luyện; huấn luyện hẳn thì +4,5/+5,8. Và bảng của họ huấn luyện kèm dữ liệu quen đề nên không tách được nguyên nhân - phép so của mình cùng bộ dữ liệu, chỉ đổi đích sinh, tách được. Chỗ này mình chặt hơn họ.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dễ hiểu nhầm nhất nên nói chậm. Ba chi tiết: ảnh trong đề bài là ảnh sạch (dấu khoanh chỉ có ở khâu 2); toạ độ đúng chỉ dùng để dựng nhãn rồi biến mất; nhãn dựng hoàn toàn tự động, đo trên 1.068 bước thì 77% có tên rõ (số làm việc 70-75%), ô toạ độ sạch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thật, số thật, lấy từ episode 11495 của AndroidControl. Điểm chạm (499,545) nằm đúng trong hộp trợ năng - đã kiểm. Đây là ca thuận lợi: OCR moi được tên. Ca khó là nút hình, ví dụ biểu tượng chia sẻ của Wynk Music tại (766,211): OCR không đọc được gì nên ô tên để trống, ba ô còn lại vẫn dựng bình thường. Đo trên 1.068 bước: 77% có tên rõ, 20% để trống, ô toạ độ sạch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khớp đo bằng chính xác suất mô hình gán cho câu đích khi được đưa từng khai báo - không cần ai phán, chạy tự động hàng nghìn lần mỗi lượt học. Nếu thầy hỏi giới hạn: lúc học mô hình được đưa sẵn khai báo, lúc chạy nó tự sinh - tín hiệu học lệch một nhịp so với lúc dùng. Cách vá đã ghi sẵn: đặt thêm khoản phạt ngay ở tầng sinh khai báo (phạt khi khai báo sinh ra đem áp vào nút hàng xóm cũng khớp).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Những thứ đắt - toạ độ đúng, cây trợ năng, mô hình lớn, bộ trỏ - chỉ tồn tại lúc dựng dữ liệu và lúc chấm. Câu hỏi phải chủ động nêu: khai báo sai thì câu sai theo (lỗi lan truyền); cách phát hiện là so khai báo mô hình sinh với nhãn đã dựng.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chỗ hay bị hỏi nhất. Phân biệt cho rõ: LLM-as-a-judge là hỏi mô hình "câu này mấy điểm" - cần rubric, và mô hình có thể ảo giác hoặc thiên vị. Cách của luận văn: không hỏi ý kiến mô hình nào, bắt bộ trỏ LÀM một việc rồi so kết quả với toạ độ gold. Nó ảo giác thì trỏ trượt, mà trỏ trượt thì thành kết oan câu đúng - đó chính là hai tiêu chí rớt ở slide sau, và là lý do có cổng sai số 3%. Ba tinh chỉnh trong mã: tính trúng theo nút gần nhất (dung sai vòng tròn quá dễ dãi, 63% bước có nút khác lọt vòng) · gom tap/click/open · luật riêng cho công tắc bật/tắt. Bộ trỏ khác họ với mô hình được chấm, và không đưa vào vòng huấn luyện vì nó là giám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Phương pháp bơm lỗi này lấy từ Sai và cộng sự, EMNLP 2021 - không phải mình tự nghĩ ra cách kiểm. Mười tiêu chí chia hai nhóm: ba tiêu chí "không được kết oan câu đúng" và bảy tiêu chí "phải bắt được lỗi" (trỏ nhầm nút gần, nút xa, nút rất xa, đảo nghĩa, sai loại thao tác, gõ sai nội dung, cuộn sai hướng). Ngưỡng đậu rớt khoá cứng trong mã trước khi chạy. Bài học từ vòng phản biện thử: bản cũ chỉ khoe 8/10 mà giấu 2 tiêu chí rớt, bị bắt ngay, nên giờ khai đủ. Nếu bộ trỏ không đạt cổng 3% thì có kế hoạch B ba bậc ghi sẵn, và báo thầy ngay tuần một.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Còn một phép thử rẻ chạy trước khi tiêu tiền huấn luyện S2: lấy S1 đã huấn luyện, nhét khai báo chuẩn vào đầu vào so với một đoạn đệm vô nghĩa cùng độ dài. Nếu đưa tận tay khai báo đúng mà điểm đứng yên thì S2 khó có cửa - biết ở tuần hai với 2 đô thay vì tuần bốn với 30 đô.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4-7 là ước tính từ giả định, nên mới có trình tự "đo thật rồi mới khoá ngưỡng". Chênh giữa hai lần chạy S1 chính là cỡ nhiễu huấn luyện đo bằng số thật - mọi hiệu ứng công bố phải vượt cỡ đó. Gom theo ứng dụng vì các bước cùng một ứng dụng na ná nhau, không phải bằng chứng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thầy hỏi sao rẻ: QLoRA trên card A100 thuê 0,72 đô/giờ, mỗi lượt trọn dữ liệu 13-16 đô. Chỗ tốn nhất là nhân hạt giống - và ưu tiên nó hơn thêm nhánh mới, vì nó hạ rủi ro cho kết luận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Rủi ro số một là cổng bộ trỏ - cả thước chấm treo trên nó nên đo ngay tuần đầu, trước mọi khoản chi lớn. Kế hoạch B: nới cách chấm và khai tỉ lệ oan; tệ nữa thì gộp nhiều bộ trỏ; vẫn không xong thì so thứ hạng tương đối giữa các bản và nâng chấm tay lên 200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11,4 là hiệu hai dòng, bài không in sẵn - khai luôn nếu bị vặn. Đây là bài duy nhất trong bảng chạy trên chính AndroidControl. Họ đo độ đúng thao tác, không đo chất lượng câu, nên chỉ mượn để nói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Cặp số quyết định thiết kế. Điểm yếu phải tự khai, ghi ngay trong chú thích bảng: "three toy models of Shikra-7B (without using additional datasets) on the CLEVR dataset" - mô hình thí nghiệm nhỏ, chưa tiền huấn luyện, ảnh hình khối nhân tạo. Bằng chứng yếu nhất trong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hay bị hiểu ngược. Huấn luyện hẳn theo thứ tự định-vị-trước thì tăng cả ba cột, không đánh đổi. Điểm yếu của họ, chủ động khai: họ thay bộ dữ liệu dạy bằng dữ liệu cùng phân bố với bộ đề rồi train lại từ đầu, nên +4,5/+5,8 trộn hai nguyên nhân mà bài không tách. Phép so của mình cùng một bộ dữ liệu, chỉ đổi đích sinh, nên tách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duy nhất trong bốn bài mà tác giả in thẳng mức tăng. Trích cả cụm để không mang tiếng chọn số đẹp.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LUẬN VĂN THẠC SĨ  -  CÔNG NGHỆ THÔNG TIN  -  2026</a:t>
            </a:r>
            <a:endParaRPr lang="en-US" sz="1700" dirty="0"/>
          </a:p>
        </p:txBody>
      </p:sp>
      <p:sp>
        <p:nvSpPr>
          <p:cNvPr id="4" name="Shape 2"/>
          <p:cNvSpPr/>
          <p:nvPr/>
        </p:nvSpPr>
        <p:spPr>
          <a:xfrm>
            <a:off x="731520" y="1143000"/>
            <a:ext cx="7680960" cy="2286000"/>
          </a:xfrm>
          <a:prstGeom prst="roundRect">
            <a:avLst>
              <a:gd name="adj" fmla="val 3600"/>
            </a:avLst>
          </a:prstGeom>
          <a:solidFill>
            <a:srgbClr val="322164"/>
          </a:solidFill>
          <a:ln/>
          <a:effectLst>
            <a:outerShdw sx="100000" sy="100000" kx="0" ky="0" algn="bl" rotWithShape="0" blurRad="63500" dist="31750" dir="2700000">
              <a:srgbClr val="8C8C99">
                <a:alpha val="45000"/>
              </a:srgbClr>
            </a:outerShdw>
          </a:effectLst>
        </p:spPr>
      </p:sp>
      <p:sp>
        <p:nvSpPr>
          <p:cNvPr id="5" name="Text 3"/>
          <p:cNvSpPr/>
          <p:nvPr/>
        </p:nvSpPr>
        <p:spPr>
          <a:xfrm>
            <a:off x="731520" y="1417320"/>
            <a:ext cx="768096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Đề tài</a:t>
            </a:r>
            <a:endParaRPr lang="en-US" sz="1600" dirty="0"/>
          </a:p>
        </p:txBody>
      </p:sp>
      <p:sp>
        <p:nvSpPr>
          <p:cNvPr id="6" name="Text 4"/>
          <p:cNvSpPr/>
          <p:nvPr/>
        </p:nvSpPr>
        <p:spPr>
          <a:xfrm>
            <a:off x="731520" y="1965960"/>
            <a:ext cx="7680960" cy="1188720"/>
          </a:xfrm>
          <a:prstGeom prst="rect">
            <a:avLst/>
          </a:prstGeom>
          <a:noFill/>
          <a:ln/>
        </p:spPr>
        <p:txBody>
          <a:bodyPr wrap="square" lIns="0" tIns="0" rIns="0" bIns="0" rtlCol="0" anchor="t"/>
          <a:lstStyle/>
          <a:p>
            <a:pPr algn="ctr" indent="0" marL="0">
              <a:lnSpc>
                <a:spcPct val="125000"/>
              </a:lnSpc>
              <a:buNone/>
            </a:pPr>
            <a:r>
              <a:rPr lang="en-US" sz="2600" b="1" dirty="0">
                <a:solidFill>
                  <a:srgbClr val="FFFFFF"/>
                </a:solidFill>
                <a:latin typeface="Cambria" pitchFamily="34" charset="0"/>
                <a:ea typeface="Cambria" pitchFamily="34" charset="-122"/>
                <a:cs typeface="Cambria" pitchFamily="34" charset="-120"/>
              </a:rPr>
              <a:t>SINH HƯỚNG DẪN SỬ DỤNG</a:t>
            </a:r>
            <a:endParaRPr lang="en-US" sz="2600" dirty="0"/>
          </a:p>
          <a:p>
            <a:pPr algn="ctr" indent="0" marL="0">
              <a:lnSpc>
                <a:spcPct val="125000"/>
              </a:lnSpc>
              <a:buNone/>
            </a:pPr>
            <a:r>
              <a:rPr lang="en-US" sz="2600" b="1" dirty="0">
                <a:solidFill>
                  <a:srgbClr val="FFFFFF"/>
                </a:solidFill>
                <a:latin typeface="Cambria" pitchFamily="34" charset="0"/>
                <a:ea typeface="Cambria" pitchFamily="34" charset="-122"/>
                <a:cs typeface="Cambria" pitchFamily="34" charset="-120"/>
              </a:rPr>
              <a:t>PHẦN MỀM TỪ ẢNH MÀN HÌNH</a:t>
            </a:r>
            <a:endParaRPr lang="en-US" sz="2600" dirty="0"/>
          </a:p>
        </p:txBody>
      </p:sp>
      <p:sp>
        <p:nvSpPr>
          <p:cNvPr id="7" name="Text 5"/>
          <p:cNvSpPr/>
          <p:nvPr/>
        </p:nvSpPr>
        <p:spPr>
          <a:xfrm>
            <a:off x="731520" y="4069080"/>
            <a:ext cx="7680960" cy="365760"/>
          </a:xfrm>
          <a:prstGeom prst="rect">
            <a:avLst/>
          </a:prstGeom>
          <a:noFill/>
          <a:ln/>
        </p:spPr>
        <p:txBody>
          <a:bodyPr wrap="square" lIns="0" tIns="0" rIns="0" bIns="0" rtlCol="0" anchor="t"/>
          <a:lstStyle/>
          <a:p>
            <a:pPr algn="ctr" indent="0" marL="0">
              <a:buNone/>
            </a:pPr>
            <a:r>
              <a:rPr lang="en-US" sz="1400" b="1" dirty="0">
                <a:solidFill>
                  <a:srgbClr val="1A1A1A"/>
                </a:solidFill>
                <a:latin typeface="Cambria" pitchFamily="34" charset="0"/>
                <a:ea typeface="Cambria" pitchFamily="34" charset="-122"/>
                <a:cs typeface="Cambria" pitchFamily="34" charset="-120"/>
              </a:rPr>
              <a:t>Học viên:  Lê Đoàn Phương Uyên          GVHD:  . . . . . . . . . . . . . . .</a:t>
            </a:r>
            <a:endParaRPr lang="en-US" sz="1400" dirty="0"/>
          </a:p>
        </p:txBody>
      </p:sp>
      <p:sp>
        <p:nvSpPr>
          <p:cNvPr id="8" name="Text 6"/>
          <p:cNvSpPr/>
          <p:nvPr/>
        </p:nvSpPr>
        <p:spPr>
          <a:xfrm>
            <a:off x="731520" y="470916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Trường Đại học . . . . . . . . . . . . . . . . . . . . . . . .</a:t>
            </a:r>
            <a:endParaRPr lang="en-US" sz="1200" dirty="0"/>
          </a:p>
        </p:txBody>
      </p:sp>
      <p:sp>
        <p:nvSpPr>
          <p:cNvPr id="9" name="Text 7"/>
          <p:cNvSpPr/>
          <p:nvPr/>
        </p:nvSpPr>
        <p:spPr>
          <a:xfrm>
            <a:off x="731520" y="516636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 - - -  Năm 2026  - - - -</a:t>
            </a:r>
            <a:endParaRPr lang="en-US" sz="1200" dirty="0"/>
          </a:p>
        </p:txBody>
      </p:sp>
      <p:sp>
        <p:nvSpPr>
          <p:cNvPr id="10" name="Shape 8"/>
          <p:cNvSpPr/>
          <p:nvPr/>
        </p:nvSpPr>
        <p:spPr>
          <a:xfrm>
            <a:off x="0" y="6620256"/>
            <a:ext cx="2743200" cy="237744"/>
          </a:xfrm>
          <a:prstGeom prst="rect">
            <a:avLst/>
          </a:prstGeom>
          <a:solidFill>
            <a:srgbClr val="191132"/>
          </a:solidFill>
          <a:ln/>
        </p:spPr>
      </p:sp>
      <p:sp>
        <p:nvSpPr>
          <p:cNvPr id="11" name="Shape 9"/>
          <p:cNvSpPr/>
          <p:nvPr/>
        </p:nvSpPr>
        <p:spPr>
          <a:xfrm>
            <a:off x="2743200" y="6620256"/>
            <a:ext cx="3383280" cy="237744"/>
          </a:xfrm>
          <a:prstGeom prst="rect">
            <a:avLst/>
          </a:prstGeom>
          <a:solidFill>
            <a:srgbClr val="25194B"/>
          </a:solidFill>
          <a:ln/>
        </p:spPr>
      </p:sp>
      <p:sp>
        <p:nvSpPr>
          <p:cNvPr id="12" name="Shape 10"/>
          <p:cNvSpPr/>
          <p:nvPr/>
        </p:nvSpPr>
        <p:spPr>
          <a:xfrm>
            <a:off x="6126480" y="6620256"/>
            <a:ext cx="1737360" cy="237744"/>
          </a:xfrm>
          <a:prstGeom prst="rect">
            <a:avLst/>
          </a:prstGeom>
          <a:solidFill>
            <a:srgbClr val="4F417A"/>
          </a:solidFill>
          <a:ln/>
        </p:spPr>
      </p:sp>
      <p:sp>
        <p:nvSpPr>
          <p:cNvPr id="13" name="Shape 11"/>
          <p:cNvSpPr/>
          <p:nvPr/>
        </p:nvSpPr>
        <p:spPr>
          <a:xfrm>
            <a:off x="7863840" y="6620256"/>
            <a:ext cx="1280160" cy="237744"/>
          </a:xfrm>
          <a:prstGeom prst="rect">
            <a:avLst/>
          </a:prstGeom>
          <a:solidFill>
            <a:srgbClr val="7A7099"/>
          </a:solidFill>
          <a:ln/>
        </p:spPr>
      </p:sp>
      <p:sp>
        <p:nvSpPr>
          <p:cNvPr id="14"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Nội dung</a:t>
            </a:r>
            <a:endParaRPr lang="en-US" sz="1900" dirty="0"/>
          </a:p>
        </p:txBody>
      </p:sp>
      <p:sp>
        <p:nvSpPr>
          <p:cNvPr id="4" name="Shape 2"/>
          <p:cNvSpPr/>
          <p:nvPr/>
        </p:nvSpPr>
        <p:spPr>
          <a:xfrm>
            <a:off x="502920" y="914400"/>
            <a:ext cx="8138160" cy="658368"/>
          </a:xfrm>
          <a:prstGeom prst="roundRect">
            <a:avLst>
              <a:gd name="adj" fmla="val 8333"/>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85800" y="914400"/>
            <a:ext cx="7772400" cy="658368"/>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Đề tài.  </a:t>
            </a:r>
            <a:pPr algn="l" indent="0" marL="0">
              <a:buNone/>
            </a:pPr>
            <a:r>
              <a:rPr lang="en-US" sz="1400" b="1" dirty="0">
                <a:solidFill>
                  <a:srgbClr val="1414BE"/>
                </a:solidFill>
                <a:latin typeface="Cambria" pitchFamily="34" charset="0"/>
                <a:ea typeface="Cambria" pitchFamily="34" charset="-122"/>
                <a:cs typeface="Cambria" pitchFamily="34" charset="-120"/>
              </a:rPr>
              <a:t>NHÌN ẢNH MÀN HÌNH, VIẾT HƯỚNG DẪN CHO NGƯỜI ĐỌC</a:t>
            </a:r>
            <a:endParaRPr lang="en-US" sz="1400" dirty="0"/>
          </a:p>
        </p:txBody>
      </p:sp>
      <p:sp>
        <p:nvSpPr>
          <p:cNvPr id="6" name="Text 4"/>
          <p:cNvSpPr/>
          <p:nvPr/>
        </p:nvSpPr>
        <p:spPr>
          <a:xfrm>
            <a:off x="1371600" y="2011680"/>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1.</a:t>
            </a:r>
            <a:pPr algn="l" indent="0" marL="0">
              <a:buNone/>
            </a:pPr>
            <a:r>
              <a:rPr lang="en-US" sz="1700" b="1" dirty="0">
                <a:solidFill>
                  <a:srgbClr val="322164"/>
                </a:solidFill>
                <a:latin typeface="Cambria" pitchFamily="34" charset="0"/>
                <a:ea typeface="Cambria" pitchFamily="34" charset="-122"/>
                <a:cs typeface="Cambria" pitchFamily="34" charset="-120"/>
              </a:rPr>
              <a:t>   Bài toán</a:t>
            </a:r>
            <a:endParaRPr lang="en-US" sz="1700" dirty="0"/>
          </a:p>
        </p:txBody>
      </p:sp>
      <p:sp>
        <p:nvSpPr>
          <p:cNvPr id="7" name="Text 5"/>
          <p:cNvSpPr/>
          <p:nvPr/>
        </p:nvSpPr>
        <p:spPr>
          <a:xfrm>
            <a:off x="1371600" y="2670048"/>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2.</a:t>
            </a:r>
            <a:pPr algn="l" indent="0" marL="0">
              <a:buNone/>
            </a:pPr>
            <a:r>
              <a:rPr lang="en-US" sz="1700" b="1" dirty="0">
                <a:solidFill>
                  <a:srgbClr val="322164"/>
                </a:solidFill>
                <a:latin typeface="Cambria" pitchFamily="34" charset="0"/>
                <a:ea typeface="Cambria" pitchFamily="34" charset="-122"/>
                <a:cs typeface="Cambria" pitchFamily="34" charset="-120"/>
              </a:rPr>
              <a:t>   Dữ liệu</a:t>
            </a:r>
            <a:endParaRPr lang="en-US" sz="1700" dirty="0"/>
          </a:p>
        </p:txBody>
      </p:sp>
      <p:sp>
        <p:nvSpPr>
          <p:cNvPr id="8" name="Text 6"/>
          <p:cNvSpPr/>
          <p:nvPr/>
        </p:nvSpPr>
        <p:spPr>
          <a:xfrm>
            <a:off x="1371600" y="3328416"/>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3.</a:t>
            </a:r>
            <a:pPr algn="l" indent="0" marL="0">
              <a:buNone/>
            </a:pPr>
            <a:r>
              <a:rPr lang="en-US" sz="1700" b="1" dirty="0">
                <a:solidFill>
                  <a:srgbClr val="322164"/>
                </a:solidFill>
                <a:latin typeface="Cambria" pitchFamily="34" charset="0"/>
                <a:ea typeface="Cambria" pitchFamily="34" charset="-122"/>
                <a:cs typeface="Cambria" pitchFamily="34" charset="-120"/>
              </a:rPr>
              <a:t>   Pipeline dựng mô hình</a:t>
            </a:r>
            <a:endParaRPr lang="en-US" sz="1700" dirty="0"/>
          </a:p>
        </p:txBody>
      </p:sp>
      <p:sp>
        <p:nvSpPr>
          <p:cNvPr id="9" name="Text 7"/>
          <p:cNvSpPr/>
          <p:nvPr/>
        </p:nvSpPr>
        <p:spPr>
          <a:xfrm>
            <a:off x="1371600" y="3986784"/>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4.</a:t>
            </a:r>
            <a:pPr algn="l" indent="0" marL="0">
              <a:buNone/>
            </a:pPr>
            <a:r>
              <a:rPr lang="en-US" sz="1700" b="1" dirty="0">
                <a:solidFill>
                  <a:srgbClr val="322164"/>
                </a:solidFill>
                <a:latin typeface="Cambria" pitchFamily="34" charset="0"/>
                <a:ea typeface="Cambria" pitchFamily="34" charset="-122"/>
                <a:cs typeface="Cambria" pitchFamily="34" charset="-120"/>
              </a:rPr>
              <a:t>   Cách chấm điểm</a:t>
            </a:r>
            <a:endParaRPr lang="en-US" sz="1700" dirty="0"/>
          </a:p>
        </p:txBody>
      </p:sp>
      <p:sp>
        <p:nvSpPr>
          <p:cNvPr id="10" name="Text 8"/>
          <p:cNvSpPr/>
          <p:nvPr/>
        </p:nvSpPr>
        <p:spPr>
          <a:xfrm>
            <a:off x="1371600" y="4645152"/>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5.</a:t>
            </a:r>
            <a:pPr algn="l" indent="0" marL="0">
              <a:buNone/>
            </a:pPr>
            <a:r>
              <a:rPr lang="en-US" sz="1700" b="1" dirty="0">
                <a:solidFill>
                  <a:srgbClr val="322164"/>
                </a:solidFill>
                <a:latin typeface="Cambria" pitchFamily="34" charset="0"/>
                <a:ea typeface="Cambria" pitchFamily="34" charset="-122"/>
                <a:cs typeface="Cambria" pitchFamily="34" charset="-120"/>
              </a:rPr>
              <a:t>   Bộ thí nghiệm</a:t>
            </a:r>
            <a:endParaRPr lang="en-US" sz="1700" dirty="0"/>
          </a:p>
        </p:txBody>
      </p:sp>
      <p:sp>
        <p:nvSpPr>
          <p:cNvPr id="11" name="Text 9"/>
          <p:cNvSpPr/>
          <p:nvPr/>
        </p:nvSpPr>
        <p:spPr>
          <a:xfrm>
            <a:off x="1371600" y="5303520"/>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6.</a:t>
            </a:r>
            <a:pPr algn="l" indent="0" marL="0">
              <a:buNone/>
            </a:pPr>
            <a:r>
              <a:rPr lang="en-US" sz="1700" b="1" dirty="0">
                <a:solidFill>
                  <a:srgbClr val="322164"/>
                </a:solidFill>
                <a:latin typeface="Cambria" pitchFamily="34" charset="0"/>
                <a:ea typeface="Cambria" pitchFamily="34" charset="-122"/>
                <a:cs typeface="Cambria" pitchFamily="34" charset="-120"/>
              </a:rPr>
              <a:t>   Kế hoạch và rủi ro</a:t>
            </a:r>
            <a:endParaRPr lang="en-US" sz="1700" dirty="0"/>
          </a:p>
        </p:txBody>
      </p:sp>
      <p:sp>
        <p:nvSpPr>
          <p:cNvPr id="12" name="Shape 10"/>
          <p:cNvSpPr/>
          <p:nvPr/>
        </p:nvSpPr>
        <p:spPr>
          <a:xfrm>
            <a:off x="0" y="6620256"/>
            <a:ext cx="2743200" cy="237744"/>
          </a:xfrm>
          <a:prstGeom prst="rect">
            <a:avLst/>
          </a:prstGeom>
          <a:solidFill>
            <a:srgbClr val="191132"/>
          </a:solidFill>
          <a:ln/>
        </p:spPr>
      </p:sp>
      <p:sp>
        <p:nvSpPr>
          <p:cNvPr id="13" name="Shape 11"/>
          <p:cNvSpPr/>
          <p:nvPr/>
        </p:nvSpPr>
        <p:spPr>
          <a:xfrm>
            <a:off x="2743200" y="6620256"/>
            <a:ext cx="3383280" cy="237744"/>
          </a:xfrm>
          <a:prstGeom prst="rect">
            <a:avLst/>
          </a:prstGeom>
          <a:solidFill>
            <a:srgbClr val="25194B"/>
          </a:solidFill>
          <a:ln/>
        </p:spPr>
      </p:sp>
      <p:sp>
        <p:nvSpPr>
          <p:cNvPr id="14" name="Shape 12"/>
          <p:cNvSpPr/>
          <p:nvPr/>
        </p:nvSpPr>
        <p:spPr>
          <a:xfrm>
            <a:off x="6126480" y="6620256"/>
            <a:ext cx="1737360" cy="237744"/>
          </a:xfrm>
          <a:prstGeom prst="rect">
            <a:avLst/>
          </a:prstGeom>
          <a:solidFill>
            <a:srgbClr val="4F417A"/>
          </a:solidFill>
          <a:ln/>
        </p:spPr>
      </p:sp>
      <p:sp>
        <p:nvSpPr>
          <p:cNvPr id="15" name="Shape 13"/>
          <p:cNvSpPr/>
          <p:nvPr/>
        </p:nvSpPr>
        <p:spPr>
          <a:xfrm>
            <a:off x="7863840" y="6620256"/>
            <a:ext cx="1280160" cy="237744"/>
          </a:xfrm>
          <a:prstGeom prst="rect">
            <a:avLst/>
          </a:prstGeom>
          <a:solidFill>
            <a:srgbClr val="7A7099"/>
          </a:solidFill>
          <a:ln/>
        </p:spPr>
      </p:sp>
      <p:sp>
        <p:nvSpPr>
          <p:cNvPr id="16"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7"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8"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9"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1.1.  Bài toán</a:t>
            </a:r>
            <a:endParaRPr lang="en-US" sz="1900" dirty="0"/>
          </a:p>
        </p:txBody>
      </p:sp>
      <p:sp>
        <p:nvSpPr>
          <p:cNvPr id="4" name="Shape 2"/>
          <p:cNvSpPr/>
          <p:nvPr/>
        </p:nvSpPr>
        <p:spPr>
          <a:xfrm>
            <a:off x="502920" y="100584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914400"/>
          </a:xfrm>
          <a:prstGeom prst="rect">
            <a:avLst/>
          </a:prstGeom>
          <a:noFill/>
          <a:ln/>
        </p:spPr>
        <p:txBody>
          <a:bodyPr wrap="square" lIns="0" tIns="0" rIns="0" bIns="0" rtlCol="0" anchor="ctr"/>
          <a:lstStyle/>
          <a:p>
            <a:pPr algn="l" indent="0" marL="0">
              <a:lnSpc>
                <a:spcPct val="135000"/>
              </a:lnSpc>
              <a:buNone/>
            </a:pPr>
            <a:r>
              <a:rPr lang="en-US" sz="1450" dirty="0">
                <a:solidFill>
                  <a:srgbClr val="1A1A1A"/>
                </a:solidFill>
                <a:latin typeface="Cambria" pitchFamily="34" charset="0"/>
                <a:ea typeface="Cambria" pitchFamily="34" charset="-122"/>
                <a:cs typeface="Cambria" pitchFamily="34" charset="-120"/>
              </a:rPr>
              <a:t>Người dùng bí trong một ứng dụng: chụp màn hình, đặt câu hỏi</a:t>
            </a:r>
            <a:endParaRPr lang="en-US" sz="1450" dirty="0"/>
          </a:p>
        </p:txBody>
      </p:sp>
      <p:sp>
        <p:nvSpPr>
          <p:cNvPr id="6" name="Shape 4"/>
          <p:cNvSpPr/>
          <p:nvPr/>
        </p:nvSpPr>
        <p:spPr>
          <a:xfrm>
            <a:off x="502920" y="2240280"/>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423160"/>
            <a:ext cx="7735824" cy="457200"/>
          </a:xfrm>
          <a:prstGeom prst="rect">
            <a:avLst/>
          </a:prstGeom>
          <a:noFill/>
          <a:ln/>
        </p:spPr>
        <p:txBody>
          <a:bodyPr wrap="square" lIns="0" tIns="0" rIns="0" bIns="0" rtlCol="0" anchor="t"/>
          <a:lstStyle/>
          <a:p>
            <a:pPr algn="l" indent="0" marL="0">
              <a:buNone/>
            </a:pPr>
            <a:r>
              <a:rPr lang="en-US" sz="1450" b="1" dirty="0">
                <a:solidFill>
                  <a:srgbClr val="1414BE"/>
                </a:solidFill>
                <a:latin typeface="Cambria" pitchFamily="34" charset="0"/>
                <a:ea typeface="Cambria" pitchFamily="34" charset="-122"/>
                <a:cs typeface="Cambria" pitchFamily="34" charset="-120"/>
              </a:rPr>
              <a:t>Ví dụ.  </a:t>
            </a:r>
            <a:pPr algn="l" indent="0" marL="0">
              <a:buNone/>
            </a:pPr>
            <a:r>
              <a:rPr lang="en-US" sz="1450" i="1" dirty="0">
                <a:solidFill>
                  <a:srgbClr val="1A1A1A"/>
                </a:solidFill>
                <a:latin typeface="Cambria" pitchFamily="34" charset="0"/>
                <a:ea typeface="Cambria" pitchFamily="34" charset="-122"/>
                <a:cs typeface="Cambria" pitchFamily="34" charset="-120"/>
              </a:rPr>
              <a:t>“Làm sao chia sẻ playlist này cho bạn tôi?”</a:t>
            </a:r>
            <a:endParaRPr lang="en-US" sz="1450" dirty="0"/>
          </a:p>
        </p:txBody>
      </p:sp>
      <p:sp>
        <p:nvSpPr>
          <p:cNvPr id="8" name="Text 6"/>
          <p:cNvSpPr/>
          <p:nvPr/>
        </p:nvSpPr>
        <p:spPr>
          <a:xfrm>
            <a:off x="1362456" y="2971800"/>
            <a:ext cx="7040880" cy="502920"/>
          </a:xfrm>
          <a:prstGeom prst="rect">
            <a:avLst/>
          </a:prstGeom>
          <a:noFill/>
          <a:ln/>
        </p:spPr>
        <p:txBody>
          <a:bodyPr wrap="square" lIns="0" tIns="0" rIns="0" bIns="0" rtlCol="0" anchor="t"/>
          <a:lstStyle/>
          <a:p>
            <a:pPr algn="l" indent="0" marL="0">
              <a:buNone/>
            </a:pPr>
            <a:r>
              <a:rPr lang="en-US" sz="1450" i="1" dirty="0">
                <a:solidFill>
                  <a:srgbClr val="1A1A1A"/>
                </a:solidFill>
                <a:latin typeface="Cambria" pitchFamily="34" charset="0"/>
                <a:ea typeface="Cambria" pitchFamily="34" charset="-122"/>
                <a:cs typeface="Cambria" pitchFamily="34" charset="-120"/>
              </a:rPr>
              <a:t>→  “Chạm vào biểu tượng chia sẻ ở góc trên bên phải màn hình.”</a:t>
            </a:r>
            <a:endParaRPr lang="en-US" sz="1450" dirty="0"/>
          </a:p>
        </p:txBody>
      </p:sp>
      <p:sp>
        <p:nvSpPr>
          <p:cNvPr id="9" name="Text 7"/>
          <p:cNvSpPr/>
          <p:nvPr/>
        </p:nvSpPr>
        <p:spPr>
          <a:xfrm>
            <a:off x="502920" y="4023360"/>
            <a:ext cx="8138160" cy="914400"/>
          </a:xfrm>
          <a:prstGeom prst="rect">
            <a:avLst/>
          </a:prstGeom>
          <a:noFill/>
          <a:ln/>
        </p:spPr>
        <p:txBody>
          <a:bodyPr wrap="square" lIns="0" tIns="0" rIns="0" bIns="0" rtlCol="0" anchor="t"/>
          <a:lstStyle/>
          <a:p>
            <a:pPr algn="l" indent="0" marL="0">
              <a:lnSpc>
                <a:spcPct val="140000"/>
              </a:lnSpc>
              <a:buNone/>
            </a:pPr>
            <a:r>
              <a:rPr lang="en-US" sz="1450" b="1" dirty="0">
                <a:solidFill>
                  <a:srgbClr val="006666"/>
                </a:solidFill>
                <a:latin typeface="Cambria" pitchFamily="34" charset="0"/>
                <a:ea typeface="Cambria" pitchFamily="34" charset="-122"/>
                <a:cs typeface="Cambria" pitchFamily="34" charset="-120"/>
              </a:rPr>
              <a:t>Mô hình giao diện hiện nay:  </a:t>
            </a:r>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tự bấm thay người, đầu ra là toạ độ nút cần bấm, dạng  click(732, 173)</a:t>
            </a:r>
            <a:endParaRPr lang="en-US" sz="1450" dirty="0"/>
          </a:p>
          <a:p>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Luận văn: đầu ra là câu chữ cho người đọc</a:t>
            </a:r>
            <a:endParaRPr lang="en-US" sz="1450" dirty="0"/>
          </a:p>
        </p:txBody>
      </p:sp>
      <p:sp>
        <p:nvSpPr>
          <p:cNvPr id="10" name="Text 8"/>
          <p:cNvSpPr/>
          <p:nvPr/>
        </p:nvSpPr>
        <p:spPr>
          <a:xfrm>
            <a:off x="502920" y="5257800"/>
            <a:ext cx="8138160" cy="457200"/>
          </a:xfrm>
          <a:prstGeom prst="rect">
            <a:avLst/>
          </a:prstGeom>
          <a:noFill/>
          <a:ln/>
        </p:spPr>
        <p:txBody>
          <a:bodyPr wrap="square" lIns="0" tIns="0" rIns="0" bIns="0" rtlCol="0" anchor="t"/>
          <a:lstStyle/>
          <a:p>
            <a:pPr algn="l" indent="0" marL="0">
              <a:buNone/>
            </a:pPr>
            <a:r>
              <a:rPr lang="en-US" sz="1400" i="1" dirty="0">
                <a:solidFill>
                  <a:srgbClr val="990000"/>
                </a:solidFill>
                <a:latin typeface="Cambria" pitchFamily="34" charset="0"/>
                <a:ea typeface="Cambria" pitchFamily="34" charset="-122"/>
                <a:cs typeface="Cambria" pitchFamily="34" charset="-120"/>
              </a:rPr>
              <a:t>Chạy ngay trên điện thoại, không cần mạng</a:t>
            </a:r>
            <a:endParaRPr lang="en-US" sz="1400" dirty="0"/>
          </a:p>
        </p:txBody>
      </p:sp>
      <p:sp>
        <p:nvSpPr>
          <p:cNvPr id="12" name="Shape 9"/>
          <p:cNvSpPr/>
          <p:nvPr/>
        </p:nvSpPr>
        <p:spPr>
          <a:xfrm>
            <a:off x="0" y="6620256"/>
            <a:ext cx="2743200" cy="237744"/>
          </a:xfrm>
          <a:prstGeom prst="rect">
            <a:avLst/>
          </a:prstGeom>
          <a:solidFill>
            <a:srgbClr val="191132"/>
          </a:solidFill>
          <a:ln/>
        </p:spPr>
      </p:sp>
      <p:sp>
        <p:nvSpPr>
          <p:cNvPr id="13" name="Shape 10"/>
          <p:cNvSpPr/>
          <p:nvPr/>
        </p:nvSpPr>
        <p:spPr>
          <a:xfrm>
            <a:off x="2743200" y="6620256"/>
            <a:ext cx="3383280" cy="237744"/>
          </a:xfrm>
          <a:prstGeom prst="rect">
            <a:avLst/>
          </a:prstGeom>
          <a:solidFill>
            <a:srgbClr val="25194B"/>
          </a:solidFill>
          <a:ln/>
        </p:spPr>
      </p:sp>
      <p:sp>
        <p:nvSpPr>
          <p:cNvPr id="14" name="Shape 11"/>
          <p:cNvSpPr/>
          <p:nvPr/>
        </p:nvSpPr>
        <p:spPr>
          <a:xfrm>
            <a:off x="6126480" y="6620256"/>
            <a:ext cx="1737360" cy="237744"/>
          </a:xfrm>
          <a:prstGeom prst="rect">
            <a:avLst/>
          </a:prstGeom>
          <a:solidFill>
            <a:srgbClr val="4F417A"/>
          </a:solidFill>
          <a:ln/>
        </p:spPr>
      </p:sp>
      <p:sp>
        <p:nvSpPr>
          <p:cNvPr id="15" name="Shape 12"/>
          <p:cNvSpPr/>
          <p:nvPr/>
        </p:nvSpPr>
        <p:spPr>
          <a:xfrm>
            <a:off x="7863840" y="6620256"/>
            <a:ext cx="1280160" cy="237744"/>
          </a:xfrm>
          <a:prstGeom prst="rect">
            <a:avLst/>
          </a:prstGeom>
          <a:solidFill>
            <a:srgbClr val="7A7099"/>
          </a:solidFill>
          <a:ln/>
        </p:spPr>
      </p:sp>
      <p:sp>
        <p:nvSpPr>
          <p:cNvPr id="16" name="Text 1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7" name="Text 1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8" name="Text 1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9" name="Text 1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3/23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1.2.  Đã có ai làm chưa?</a:t>
            </a:r>
            <a:endParaRPr lang="en-US" sz="1900" dirty="0"/>
          </a:p>
        </p:txBody>
      </p:sp>
      <p:sp>
        <p:nvSpPr>
          <p:cNvPr id="4" name="Text 2"/>
          <p:cNvSpPr/>
          <p:nvPr/>
        </p:nvSpPr>
        <p:spPr>
          <a:xfrm>
            <a:off x="502920" y="868680"/>
            <a:ext cx="3977640" cy="365760"/>
          </a:xfrm>
          <a:prstGeom prst="rect">
            <a:avLst/>
          </a:prstGeom>
          <a:noFill/>
          <a:ln/>
        </p:spPr>
        <p:txBody>
          <a:bodyPr wrap="square" lIns="0" tIns="0" rIns="0" bIns="0" rtlCol="0" anchor="t"/>
          <a:lstStyle/>
          <a:p>
            <a:pPr algn="ctr" indent="0" marL="0">
              <a:buNone/>
            </a:pPr>
            <a:r>
              <a:rPr lang="en-US" sz="1500" b="1" dirty="0">
                <a:solidFill>
                  <a:srgbClr val="322164"/>
                </a:solidFill>
                <a:latin typeface="Cambria" pitchFamily="34" charset="0"/>
                <a:ea typeface="Cambria" pitchFamily="34" charset="-122"/>
                <a:cs typeface="Cambria" pitchFamily="34" charset="-120"/>
              </a:rPr>
              <a:t>Các nghiên cứu trước</a:t>
            </a:r>
            <a:endParaRPr lang="en-US" sz="1500" dirty="0"/>
          </a:p>
        </p:txBody>
      </p:sp>
      <p:sp>
        <p:nvSpPr>
          <p:cNvPr id="5" name="Text 3"/>
          <p:cNvSpPr/>
          <p:nvPr/>
        </p:nvSpPr>
        <p:spPr>
          <a:xfrm>
            <a:off x="4663440" y="868680"/>
            <a:ext cx="3977640" cy="365760"/>
          </a:xfrm>
          <a:prstGeom prst="rect">
            <a:avLst/>
          </a:prstGeom>
          <a:noFill/>
          <a:ln/>
        </p:spPr>
        <p:txBody>
          <a:bodyPr wrap="square" lIns="0" tIns="0" rIns="0" bIns="0" rtlCol="0" anchor="t"/>
          <a:lstStyle/>
          <a:p>
            <a:pPr algn="ctr" indent="0" marL="0">
              <a:buNone/>
            </a:pPr>
            <a:r>
              <a:rPr lang="en-US" sz="1500" b="1" dirty="0">
                <a:solidFill>
                  <a:srgbClr val="B22222"/>
                </a:solidFill>
                <a:latin typeface="Cambria" pitchFamily="34" charset="0"/>
                <a:ea typeface="Cambria" pitchFamily="34" charset="-122"/>
                <a:cs typeface="Cambria" pitchFamily="34" charset="-120"/>
              </a:rPr>
              <a:t>Luận văn này</a:t>
            </a:r>
            <a:endParaRPr lang="en-US" sz="1500" dirty="0"/>
          </a:p>
        </p:txBody>
      </p:sp>
      <p:sp>
        <p:nvSpPr>
          <p:cNvPr id="6" name="Shape 4"/>
          <p:cNvSpPr/>
          <p:nvPr/>
        </p:nvSpPr>
        <p:spPr>
          <a:xfrm>
            <a:off x="502920" y="1298448"/>
            <a:ext cx="3977640" cy="2514600"/>
          </a:xfrm>
          <a:prstGeom prst="roundRect">
            <a:avLst>
              <a:gd name="adj" fmla="val 2182"/>
            </a:avLst>
          </a:prstGeom>
          <a:solidFill>
            <a:srgbClr val="E9E8EC"/>
          </a:solidFill>
          <a:ln/>
          <a:effectLst>
            <a:outerShdw sx="100000" sy="100000" kx="0" ky="0" algn="bl" rotWithShape="0" blurRad="63500" dist="31750" dir="2700000">
              <a:srgbClr val="8C8C99">
                <a:alpha val="45000"/>
              </a:srgbClr>
            </a:outerShdw>
          </a:effectLst>
        </p:spPr>
      </p:sp>
      <p:sp>
        <p:nvSpPr>
          <p:cNvPr id="7" name="Shape 5"/>
          <p:cNvSpPr/>
          <p:nvPr/>
        </p:nvSpPr>
        <p:spPr>
          <a:xfrm>
            <a:off x="4663440" y="1298448"/>
            <a:ext cx="3977640" cy="2514600"/>
          </a:xfrm>
          <a:prstGeom prst="roundRect">
            <a:avLst>
              <a:gd name="adj" fmla="val 2182"/>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31520" y="1463040"/>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UI-Ins, Aguvis:  sinh toạ độ để máy bấm,</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chất lượng câu không được đánh giá</a:t>
            </a:r>
            <a:endParaRPr lang="en-US" sz="1250" dirty="0"/>
          </a:p>
        </p:txBody>
      </p:sp>
      <p:sp>
        <p:nvSpPr>
          <p:cNvPr id="9" name="Text 7"/>
          <p:cNvSpPr/>
          <p:nvPr/>
        </p:nvSpPr>
        <p:spPr>
          <a:xfrm>
            <a:off x="731520" y="2258568"/>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AndroidControl (NeurIPS 24):</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câu người viết dùng làm đầu vào</a:t>
            </a:r>
            <a:endParaRPr lang="en-US" sz="1250" dirty="0"/>
          </a:p>
        </p:txBody>
      </p:sp>
      <p:sp>
        <p:nvSpPr>
          <p:cNvPr id="10" name="Text 8"/>
          <p:cNvSpPr/>
          <p:nvPr/>
        </p:nvSpPr>
        <p:spPr>
          <a:xfrm>
            <a:off x="731520" y="3054096"/>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GuideMe (CHI 2026):  gọi</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GPT-5, không huấn luyện gì</a:t>
            </a:r>
            <a:endParaRPr lang="en-US" sz="1250" dirty="0"/>
          </a:p>
        </p:txBody>
      </p:sp>
      <p:sp>
        <p:nvSpPr>
          <p:cNvPr id="11" name="Text 9"/>
          <p:cNvSpPr/>
          <p:nvPr/>
        </p:nvSpPr>
        <p:spPr>
          <a:xfrm>
            <a:off x="4892040" y="1463040"/>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Sinh câu cho người đọc,</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câu là thứ duy nhất đem chấm</a:t>
            </a:r>
            <a:endParaRPr lang="en-US" sz="1250" dirty="0"/>
          </a:p>
        </p:txBody>
      </p:sp>
      <p:sp>
        <p:nvSpPr>
          <p:cNvPr id="12" name="Text 10"/>
          <p:cNvSpPr/>
          <p:nvPr/>
        </p:nvSpPr>
        <p:spPr>
          <a:xfrm>
            <a:off x="4892040" y="2258568"/>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Dùng chính câu đó</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làm đích để sinh</a:t>
            </a:r>
            <a:endParaRPr lang="en-US" sz="1250" dirty="0"/>
          </a:p>
        </p:txBody>
      </p:sp>
      <p:sp>
        <p:nvSpPr>
          <p:cNvPr id="13" name="Text 11"/>
          <p:cNvSpPr/>
          <p:nvPr/>
        </p:nvSpPr>
        <p:spPr>
          <a:xfrm>
            <a:off x="4892040" y="3054096"/>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Huấn luyện mô hình riêng,</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có thước chấm định lượng</a:t>
            </a:r>
            <a:endParaRPr lang="en-US" sz="1250" dirty="0"/>
          </a:p>
        </p:txBody>
      </p:sp>
      <p:sp>
        <p:nvSpPr>
          <p:cNvPr id="14" name="Shape 12"/>
          <p:cNvSpPr/>
          <p:nvPr/>
        </p:nvSpPr>
        <p:spPr>
          <a:xfrm>
            <a:off x="502920" y="411480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15" name="Text 13"/>
          <p:cNvSpPr/>
          <p:nvPr/>
        </p:nvSpPr>
        <p:spPr>
          <a:xfrm>
            <a:off x="704088" y="4114800"/>
            <a:ext cx="7735824" cy="1097280"/>
          </a:xfrm>
          <a:prstGeom prst="rect">
            <a:avLst/>
          </a:prstGeom>
          <a:noFill/>
          <a:ln/>
        </p:spPr>
        <p:txBody>
          <a:bodyPr wrap="square" lIns="0" tIns="0" rIns="0" bIns="0" rtlCol="0" anchor="ctr"/>
          <a:lstStyle/>
          <a:p>
            <a:pPr algn="l" indent="0" marL="0">
              <a:lnSpc>
                <a:spcPct val="135000"/>
              </a:lnSpc>
              <a:buNone/>
            </a:pPr>
            <a:r>
              <a:rPr lang="en-US" sz="1450" b="1" dirty="0">
                <a:solidFill>
                  <a:srgbClr val="1414BE"/>
                </a:solidFill>
                <a:latin typeface="Cambria" pitchFamily="34" charset="0"/>
                <a:ea typeface="Cambria" pitchFamily="34" charset="-122"/>
                <a:cs typeface="Cambria" pitchFamily="34" charset="-120"/>
              </a:rPr>
              <a:t>Vị trí:  </a:t>
            </a:r>
            <a:pPr algn="l" indent="0" marL="0">
              <a:lnSpc>
                <a:spcPct val="135000"/>
              </a:lnSpc>
              <a:buNone/>
            </a:pPr>
            <a:r>
              <a:rPr lang="en-US" sz="1450" b="1" dirty="0">
                <a:solidFill>
                  <a:srgbClr val="1A1A1A"/>
                </a:solidFill>
                <a:latin typeface="Cambria" pitchFamily="34" charset="0"/>
                <a:ea typeface="Cambria" pitchFamily="34" charset="-122"/>
                <a:cs typeface="Cambria" pitchFamily="34" charset="-120"/>
              </a:rPr>
              <a:t>mô hình mở đầu tiên được huấn luyện cho tác vụ này.</a:t>
            </a:r>
            <a:endParaRPr lang="en-US" sz="1450" dirty="0"/>
          </a:p>
        </p:txBody>
      </p:sp>
      <p:sp>
        <p:nvSpPr>
          <p:cNvPr id="17" name="Shape 14"/>
          <p:cNvSpPr/>
          <p:nvPr/>
        </p:nvSpPr>
        <p:spPr>
          <a:xfrm>
            <a:off x="0" y="6620256"/>
            <a:ext cx="2743200" cy="237744"/>
          </a:xfrm>
          <a:prstGeom prst="rect">
            <a:avLst/>
          </a:prstGeom>
          <a:solidFill>
            <a:srgbClr val="191132"/>
          </a:solidFill>
          <a:ln/>
        </p:spPr>
      </p:sp>
      <p:sp>
        <p:nvSpPr>
          <p:cNvPr id="18" name="Shape 15"/>
          <p:cNvSpPr/>
          <p:nvPr/>
        </p:nvSpPr>
        <p:spPr>
          <a:xfrm>
            <a:off x="2743200" y="6620256"/>
            <a:ext cx="3383280" cy="237744"/>
          </a:xfrm>
          <a:prstGeom prst="rect">
            <a:avLst/>
          </a:prstGeom>
          <a:solidFill>
            <a:srgbClr val="25194B"/>
          </a:solidFill>
          <a:ln/>
        </p:spPr>
      </p:sp>
      <p:sp>
        <p:nvSpPr>
          <p:cNvPr id="19" name="Shape 16"/>
          <p:cNvSpPr/>
          <p:nvPr/>
        </p:nvSpPr>
        <p:spPr>
          <a:xfrm>
            <a:off x="6126480" y="6620256"/>
            <a:ext cx="1737360" cy="237744"/>
          </a:xfrm>
          <a:prstGeom prst="rect">
            <a:avLst/>
          </a:prstGeom>
          <a:solidFill>
            <a:srgbClr val="4F417A"/>
          </a:solidFill>
          <a:ln/>
        </p:spPr>
      </p:sp>
      <p:sp>
        <p:nvSpPr>
          <p:cNvPr id="20" name="Shape 17"/>
          <p:cNvSpPr/>
          <p:nvPr/>
        </p:nvSpPr>
        <p:spPr>
          <a:xfrm>
            <a:off x="7863840" y="6620256"/>
            <a:ext cx="1280160" cy="237744"/>
          </a:xfrm>
          <a:prstGeom prst="rect">
            <a:avLst/>
          </a:prstGeom>
          <a:solidFill>
            <a:srgbClr val="7A7099"/>
          </a:solidFill>
          <a:ln/>
        </p:spPr>
      </p:sp>
      <p:sp>
        <p:nvSpPr>
          <p:cNvPr id="21" name="Text 1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1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3" name="Text 2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4/23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1.3.  Đóng góp gồm ba tầng</a:t>
            </a:r>
            <a:endParaRPr lang="en-US" sz="1900" dirty="0"/>
          </a:p>
        </p:txBody>
      </p:sp>
      <p:sp>
        <p:nvSpPr>
          <p:cNvPr id="4" name="Shape 2"/>
          <p:cNvSpPr/>
          <p:nvPr/>
        </p:nvSpPr>
        <p:spPr>
          <a:xfrm>
            <a:off x="502920" y="105156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70432"/>
            <a:ext cx="2468880" cy="914400"/>
          </a:xfrm>
          <a:prstGeom prst="rect">
            <a:avLst/>
          </a:prstGeom>
          <a:noFill/>
          <a:ln/>
        </p:spPr>
        <p:txBody>
          <a:bodyPr wrap="square" lIns="0" tIns="0" rIns="0" bIns="0" rtlCol="0" anchor="t"/>
          <a:lstStyle/>
          <a:p>
            <a:pPr algn="l" indent="0" marL="0">
              <a:lnSpc>
                <a:spcPct val="125000"/>
              </a:lnSpc>
              <a:buNone/>
            </a:pPr>
            <a:r>
              <a:rPr lang="en-US" sz="1500" b="1" dirty="0">
                <a:solidFill>
                  <a:srgbClr val="322164"/>
                </a:solidFill>
                <a:latin typeface="Cambria" pitchFamily="34" charset="0"/>
                <a:ea typeface="Cambria" pitchFamily="34" charset="-122"/>
                <a:cs typeface="Cambria" pitchFamily="34" charset="-120"/>
              </a:rPr>
              <a:t>Mô hình</a:t>
            </a:r>
            <a:endParaRPr lang="en-US" sz="1500" dirty="0"/>
          </a:p>
        </p:txBody>
      </p:sp>
      <p:sp>
        <p:nvSpPr>
          <p:cNvPr id="6" name="Text 4"/>
          <p:cNvSpPr/>
          <p:nvPr/>
        </p:nvSpPr>
        <p:spPr>
          <a:xfrm>
            <a:off x="3246120" y="1051560"/>
            <a:ext cx="5120640" cy="1143000"/>
          </a:xfrm>
          <a:prstGeom prst="rect">
            <a:avLst/>
          </a:prstGeom>
          <a:noFill/>
          <a:ln/>
        </p:spPr>
        <p:txBody>
          <a:bodyPr wrap="square" lIns="0" tIns="0" rIns="0" bIns="0" rtlCol="0" anchor="ctr"/>
          <a:lstStyle/>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Qwen2.5-VL-3B, huấn luyện cho tác vụ chưa mô hình nào được dạy</a:t>
            </a:r>
            <a:endParaRPr lang="en-US" sz="1400" dirty="0"/>
          </a:p>
        </p:txBody>
      </p:sp>
      <p:sp>
        <p:nvSpPr>
          <p:cNvPr id="7" name="Shape 5"/>
          <p:cNvSpPr/>
          <p:nvPr/>
        </p:nvSpPr>
        <p:spPr>
          <a:xfrm>
            <a:off x="502920" y="242316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542032"/>
            <a:ext cx="2468880" cy="914400"/>
          </a:xfrm>
          <a:prstGeom prst="rect">
            <a:avLst/>
          </a:prstGeom>
          <a:noFill/>
          <a:ln/>
        </p:spPr>
        <p:txBody>
          <a:bodyPr wrap="square" lIns="0" tIns="0" rIns="0" bIns="0" rtlCol="0" anchor="t"/>
          <a:lstStyle/>
          <a:p>
            <a:pPr algn="l" indent="0" marL="0">
              <a:lnSpc>
                <a:spcPct val="125000"/>
              </a:lnSpc>
              <a:buNone/>
            </a:pPr>
            <a:r>
              <a:rPr lang="en-US" sz="1500" b="1" dirty="0">
                <a:solidFill>
                  <a:srgbClr val="322164"/>
                </a:solidFill>
                <a:latin typeface="Cambria" pitchFamily="34" charset="0"/>
                <a:ea typeface="Cambria" pitchFamily="34" charset="-122"/>
                <a:cs typeface="Cambria" pitchFamily="34" charset="-120"/>
              </a:rPr>
              <a:t>Thành phần huấn luyện</a:t>
            </a:r>
            <a:endParaRPr lang="en-US" sz="1500" dirty="0"/>
          </a:p>
        </p:txBody>
      </p:sp>
      <p:sp>
        <p:nvSpPr>
          <p:cNvPr id="9" name="Text 7"/>
          <p:cNvSpPr/>
          <p:nvPr/>
        </p:nvSpPr>
        <p:spPr>
          <a:xfrm>
            <a:off x="3246120" y="2423160"/>
            <a:ext cx="5120640" cy="1143000"/>
          </a:xfrm>
          <a:prstGeom prst="rect">
            <a:avLst/>
          </a:prstGeom>
          <a:noFill/>
          <a:ln/>
        </p:spPr>
        <p:txBody>
          <a:bodyPr wrap="square" lIns="0" tIns="0" rIns="0" bIns="0" rtlCol="0" anchor="ctr"/>
          <a:lstStyle/>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Nói rõ nhắm vào nút nào, rồi mới viết câu - làm ở hai mức</a:t>
            </a:r>
            <a:endParaRPr lang="en-US" sz="1400" dirty="0"/>
          </a:p>
        </p:txBody>
      </p:sp>
      <p:sp>
        <p:nvSpPr>
          <p:cNvPr id="10" name="Shape 8"/>
          <p:cNvSpPr/>
          <p:nvPr/>
        </p:nvSpPr>
        <p:spPr>
          <a:xfrm>
            <a:off x="502920" y="379476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04088" y="3913632"/>
            <a:ext cx="2468880" cy="914400"/>
          </a:xfrm>
          <a:prstGeom prst="rect">
            <a:avLst/>
          </a:prstGeom>
          <a:noFill/>
          <a:ln/>
        </p:spPr>
        <p:txBody>
          <a:bodyPr wrap="square" lIns="0" tIns="0" rIns="0" bIns="0" rtlCol="0" anchor="t"/>
          <a:lstStyle/>
          <a:p>
            <a:pPr algn="l" indent="0" marL="0">
              <a:lnSpc>
                <a:spcPct val="125000"/>
              </a:lnSpc>
              <a:buNone/>
            </a:pPr>
            <a:r>
              <a:rPr lang="en-US" sz="1500" b="1" dirty="0">
                <a:solidFill>
                  <a:srgbClr val="322164"/>
                </a:solidFill>
                <a:latin typeface="Cambria" pitchFamily="34" charset="0"/>
                <a:ea typeface="Cambria" pitchFamily="34" charset="-122"/>
                <a:cs typeface="Cambria" pitchFamily="34" charset="-120"/>
              </a:rPr>
              <a:t>Chương đo lường</a:t>
            </a:r>
            <a:endParaRPr lang="en-US" sz="1500" dirty="0"/>
          </a:p>
        </p:txBody>
      </p:sp>
      <p:sp>
        <p:nvSpPr>
          <p:cNvPr id="12" name="Text 10"/>
          <p:cNvSpPr/>
          <p:nvPr/>
        </p:nvSpPr>
        <p:spPr>
          <a:xfrm>
            <a:off x="3246120" y="3794760"/>
            <a:ext cx="5120640" cy="1143000"/>
          </a:xfrm>
          <a:prstGeom prst="rect">
            <a:avLst/>
          </a:prstGeom>
          <a:noFill/>
          <a:ln/>
        </p:spPr>
        <p:txBody>
          <a:bodyPr wrap="square" lIns="0" tIns="0" rIns="0" bIns="0" rtlCol="0" anchor="ctr"/>
          <a:lstStyle/>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Thước chấm tự dựng, tự kiểm bằng bơm lỗi</a:t>
            </a:r>
            <a:endParaRPr lang="en-US" sz="1400" dirty="0"/>
          </a:p>
        </p:txBody>
      </p:sp>
      <p:sp>
        <p:nvSpPr>
          <p:cNvPr id="13" name="Text 11"/>
          <p:cNvSpPr/>
          <p:nvPr/>
        </p:nvSpPr>
        <p:spPr>
          <a:xfrm>
            <a:off x="502920" y="5349240"/>
            <a:ext cx="8138160" cy="548640"/>
          </a:xfrm>
          <a:prstGeom prst="rect">
            <a:avLst/>
          </a:prstGeom>
          <a:noFill/>
          <a:ln/>
        </p:spPr>
        <p:txBody>
          <a:bodyPr wrap="square" lIns="0" tIns="0" rIns="0" bIns="0" rtlCol="0" anchor="t"/>
          <a:lstStyle/>
          <a:p>
            <a:pPr algn="l" indent="0" marL="0">
              <a:lnSpc>
                <a:spcPct val="130000"/>
              </a:lnSpc>
              <a:buNone/>
            </a:pPr>
            <a:r>
              <a:rPr lang="en-US" sz="1300" i="1" dirty="0">
                <a:solidFill>
                  <a:srgbClr val="990000"/>
                </a:solidFill>
                <a:latin typeface="Cambria" pitchFamily="34" charset="0"/>
                <a:ea typeface="Cambria" pitchFamily="34" charset="-122"/>
                <a:cs typeface="Cambria" pitchFamily="34" charset="-120"/>
              </a:rPr>
              <a:t>Ba tầng độc lập - một tầng không ra kết quả, hai tầng kia vẫn đứng</a:t>
            </a:r>
            <a:endParaRPr lang="en-US" sz="1300" dirty="0"/>
          </a:p>
        </p:txBody>
      </p:sp>
      <p:sp>
        <p:nvSpPr>
          <p:cNvPr id="15" name="Shape 12"/>
          <p:cNvSpPr/>
          <p:nvPr/>
        </p:nvSpPr>
        <p:spPr>
          <a:xfrm>
            <a:off x="0" y="6620256"/>
            <a:ext cx="2743200" cy="237744"/>
          </a:xfrm>
          <a:prstGeom prst="rect">
            <a:avLst/>
          </a:prstGeom>
          <a:solidFill>
            <a:srgbClr val="191132"/>
          </a:solidFill>
          <a:ln/>
        </p:spPr>
      </p:sp>
      <p:sp>
        <p:nvSpPr>
          <p:cNvPr id="16" name="Shape 13"/>
          <p:cNvSpPr/>
          <p:nvPr/>
        </p:nvSpPr>
        <p:spPr>
          <a:xfrm>
            <a:off x="2743200" y="6620256"/>
            <a:ext cx="338328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0"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5/23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2.1.  Bộ dữ liệu AndroidControl</a:t>
            </a:r>
            <a:endParaRPr lang="en-US" sz="1900" dirty="0"/>
          </a:p>
        </p:txBody>
      </p:sp>
      <p:sp>
        <p:nvSpPr>
          <p:cNvPr id="4" name="Shape 2"/>
          <p:cNvSpPr/>
          <p:nvPr/>
        </p:nvSpPr>
        <p:spPr>
          <a:xfrm>
            <a:off x="502920" y="1005840"/>
            <a:ext cx="8138160" cy="1965960"/>
          </a:xfrm>
          <a:prstGeom prst="roundRect">
            <a:avLst>
              <a:gd name="adj" fmla="val 279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33856"/>
            <a:ext cx="7735824" cy="502920"/>
          </a:xfrm>
          <a:prstGeom prst="rect">
            <a:avLst/>
          </a:prstGeom>
          <a:noFill/>
          <a:ln/>
        </p:spPr>
        <p:txBody>
          <a:bodyPr wrap="square" lIns="0" tIns="0" rIns="0" bIns="0" rtlCol="0" anchor="t"/>
          <a:lstStyle/>
          <a:p>
            <a:pPr algn="l" indent="0" marL="0">
              <a:lnSpc>
                <a:spcPct val="130000"/>
              </a:lnSpc>
              <a:buNone/>
            </a:pPr>
            <a:r>
              <a:rPr lang="en-US" sz="1400" dirty="0">
                <a:solidFill>
                  <a:srgbClr val="1A1A1A"/>
                </a:solidFill>
                <a:latin typeface="Cambria" pitchFamily="34" charset="0"/>
                <a:ea typeface="Cambria" pitchFamily="34" charset="-122"/>
                <a:cs typeface="Cambria" pitchFamily="34" charset="-120"/>
              </a:rPr>
              <a:t>15.283 tác vụ do người thật thao tác trên Android (NeurIPS 2024). Mỗi bước có:</a:t>
            </a:r>
            <a:endParaRPr lang="en-US" sz="1400" dirty="0"/>
          </a:p>
        </p:txBody>
      </p:sp>
      <p:sp>
        <p:nvSpPr>
          <p:cNvPr id="6" name="Text 4"/>
          <p:cNvSpPr/>
          <p:nvPr/>
        </p:nvSpPr>
        <p:spPr>
          <a:xfrm>
            <a:off x="960120" y="1719072"/>
            <a:ext cx="72237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ảnh màn hình</a:t>
            </a:r>
            <a:endParaRPr lang="en-US" sz="1350" dirty="0"/>
          </a:p>
        </p:txBody>
      </p:sp>
      <p:sp>
        <p:nvSpPr>
          <p:cNvPr id="7" name="Text 5"/>
          <p:cNvSpPr/>
          <p:nvPr/>
        </p:nvSpPr>
        <p:spPr>
          <a:xfrm>
            <a:off x="960120" y="2103120"/>
            <a:ext cx="72237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toạ độ chỗ người đó chạm</a:t>
            </a:r>
            <a:endParaRPr lang="en-US" sz="1350" dirty="0"/>
          </a:p>
        </p:txBody>
      </p:sp>
      <p:sp>
        <p:nvSpPr>
          <p:cNvPr id="8" name="Text 6"/>
          <p:cNvSpPr/>
          <p:nvPr/>
        </p:nvSpPr>
        <p:spPr>
          <a:xfrm>
            <a:off x="960120" y="2487168"/>
            <a:ext cx="72237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câu mô tả do chính người đó viết</a:t>
            </a:r>
            <a:endParaRPr lang="en-US" sz="1350" dirty="0"/>
          </a:p>
        </p:txBody>
      </p:sp>
      <p:sp>
        <p:nvSpPr>
          <p:cNvPr id="9" name="Shape 7"/>
          <p:cNvSpPr/>
          <p:nvPr/>
        </p:nvSpPr>
        <p:spPr>
          <a:xfrm>
            <a:off x="502920" y="3246120"/>
            <a:ext cx="8138160" cy="1600200"/>
          </a:xfrm>
          <a:prstGeom prst="roundRect">
            <a:avLst>
              <a:gd name="adj" fmla="val 3429"/>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704088" y="3383280"/>
            <a:ext cx="7735824" cy="457200"/>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Nhưng câu người viết rất cụt</a:t>
            </a:r>
            <a:pPr algn="l" indent="0" marL="0">
              <a:buNone/>
            </a:pPr>
            <a:r>
              <a:rPr lang="en-US" sz="1400" dirty="0">
                <a:solidFill>
                  <a:srgbClr val="1A1A1A"/>
                </a:solidFill>
                <a:latin typeface="Cambria" pitchFamily="34" charset="0"/>
                <a:ea typeface="Cambria" pitchFamily="34" charset="-122"/>
                <a:cs typeface="Cambria" pitchFamily="34" charset="-120"/>
              </a:rPr>
              <a:t> - trung vị chỉ 6 từ:</a:t>
            </a:r>
            <a:endParaRPr lang="en-US" sz="1400" dirty="0"/>
          </a:p>
        </p:txBody>
      </p:sp>
      <p:sp>
        <p:nvSpPr>
          <p:cNvPr id="11" name="Text 9"/>
          <p:cNvSpPr/>
          <p:nvPr/>
        </p:nvSpPr>
        <p:spPr>
          <a:xfrm>
            <a:off x="502920" y="3931920"/>
            <a:ext cx="8138160" cy="457200"/>
          </a:xfrm>
          <a:prstGeom prst="rect">
            <a:avLst/>
          </a:prstGeom>
          <a:noFill/>
          <a:ln/>
        </p:spPr>
        <p:txBody>
          <a:bodyPr wrap="square" lIns="0" tIns="0" rIns="0" bIns="0" rtlCol="0" anchor="t"/>
          <a:lstStyle/>
          <a:p>
            <a:pPr algn="ctr" indent="0" marL="0">
              <a:buNone/>
            </a:pPr>
            <a:r>
              <a:rPr lang="en-US" sz="1500" i="1" dirty="0">
                <a:solidFill>
                  <a:srgbClr val="1A1A1A"/>
                </a:solidFill>
                <a:latin typeface="Cambria" pitchFamily="34" charset="0"/>
                <a:ea typeface="Cambria" pitchFamily="34" charset="-122"/>
                <a:cs typeface="Cambria" pitchFamily="34" charset="-120"/>
              </a:rPr>
              <a:t>“Click on alerts”          “Tap the app”</a:t>
            </a:r>
            <a:endParaRPr lang="en-US" sz="15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6/23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2.2.  Đo xem mô hình thường sai kiểu gì</a:t>
            </a:r>
            <a:endParaRPr lang="en-US" sz="1900" dirty="0"/>
          </a:p>
        </p:txBody>
      </p:sp>
      <p:sp>
        <p:nvSpPr>
          <p:cNvPr id="4" name="Shape 2"/>
          <p:cNvSpPr/>
          <p:nvPr/>
        </p:nvSpPr>
        <p:spPr>
          <a:xfrm>
            <a:off x="502920" y="100584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325880"/>
          </a:xfrm>
          <a:prstGeom prst="rect">
            <a:avLst/>
          </a:prstGeom>
          <a:noFill/>
          <a:ln/>
        </p:spPr>
        <p:txBody>
          <a:bodyPr wrap="square" lIns="0" tIns="0" rIns="0" bIns="0" rtlCol="0" anchor="ctr"/>
          <a:lstStyle/>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Soi tay 40 ca sai: bịa nút không có thật chỉ 0-2%</a:t>
            </a: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Lỗi số một là câu mơ hồ - “biểu tượng tìm kiếm” khi màn có hai biểu tượng tìm kiếm</a:t>
            </a:r>
            <a:endParaRPr lang="en-US" sz="1400" dirty="0"/>
          </a:p>
        </p:txBody>
      </p:sp>
      <p:sp>
        <p:nvSpPr>
          <p:cNvPr id="6" name="Shape 4"/>
          <p:cNvSpPr/>
          <p:nvPr/>
        </p:nvSpPr>
        <p:spPr>
          <a:xfrm>
            <a:off x="502920" y="2651760"/>
            <a:ext cx="8138160" cy="1737360"/>
          </a:xfrm>
          <a:prstGeom prst="roundRect">
            <a:avLst>
              <a:gd name="adj" fmla="val 3158"/>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788920"/>
            <a:ext cx="7735824" cy="45720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76 câu mẫu chuẩn, đưa bộ trỏ đọc rồi chỉ lên ảnh:</a:t>
            </a:r>
            <a:endParaRPr lang="en-US" sz="1350" dirty="0"/>
          </a:p>
        </p:txBody>
      </p:sp>
      <p:sp>
        <p:nvSpPr>
          <p:cNvPr id="8" name="Text 6"/>
          <p:cNvSpPr/>
          <p:nvPr/>
        </p:nvSpPr>
        <p:spPr>
          <a:xfrm>
            <a:off x="502920" y="3291840"/>
            <a:ext cx="8138160" cy="640080"/>
          </a:xfrm>
          <a:prstGeom prst="rect">
            <a:avLst/>
          </a:prstGeom>
          <a:noFill/>
          <a:ln/>
        </p:spPr>
        <p:txBody>
          <a:bodyPr wrap="square" lIns="0" tIns="0" rIns="0" bIns="0" rtlCol="0" anchor="ctr"/>
          <a:lstStyle/>
          <a:p>
            <a:pPr algn="ctr" indent="0" marL="0">
              <a:buNone/>
            </a:pPr>
            <a:r>
              <a:rPr lang="en-US" sz="1500" dirty="0">
                <a:solidFill>
                  <a:srgbClr val="1A1A1A"/>
                </a:solidFill>
                <a:latin typeface="Cambria" pitchFamily="34" charset="0"/>
                <a:ea typeface="Cambria" pitchFamily="34" charset="-122"/>
                <a:cs typeface="Cambria" pitchFamily="34" charset="-120"/>
              </a:rPr>
              <a:t>câu cộc lốc trúng  </a:t>
            </a:r>
            <a:pPr algn="ctr" indent="0" marL="0">
              <a:buNone/>
            </a:pPr>
            <a:r>
              <a:rPr lang="en-US" sz="2400" b="1" dirty="0">
                <a:solidFill>
                  <a:srgbClr val="990000"/>
                </a:solidFill>
                <a:latin typeface="Cambria" pitchFamily="34" charset="0"/>
                <a:ea typeface="Cambria" pitchFamily="34" charset="-122"/>
                <a:cs typeface="Cambria" pitchFamily="34" charset="-120"/>
              </a:rPr>
              <a:t>32%</a:t>
            </a:r>
            <a:pPr algn="ctr" indent="0" marL="0">
              <a:buNone/>
            </a:pPr>
            <a:r>
              <a:rPr lang="en-US" sz="1500" dirty="0">
                <a:solidFill>
                  <a:srgbClr val="1A1A1A"/>
                </a:solidFill>
                <a:latin typeface="Cambria" pitchFamily="34" charset="0"/>
                <a:ea typeface="Cambria" pitchFamily="34" charset="-122"/>
                <a:cs typeface="Cambria" pitchFamily="34" charset="-120"/>
              </a:rPr>
              <a:t>        câu tả rõ trúng  </a:t>
            </a:r>
            <a:pPr algn="ctr" indent="0" marL="0">
              <a:buNone/>
            </a:pPr>
            <a:r>
              <a:rPr lang="en-US" sz="2400" b="1" dirty="0">
                <a:solidFill>
                  <a:srgbClr val="322164"/>
                </a:solidFill>
                <a:latin typeface="Cambria" pitchFamily="34" charset="0"/>
                <a:ea typeface="Cambria" pitchFamily="34" charset="-122"/>
                <a:cs typeface="Cambria" pitchFamily="34" charset="-120"/>
              </a:rPr>
              <a:t>69%</a:t>
            </a:r>
            <a:endParaRPr lang="en-US" sz="1500" dirty="0"/>
          </a:p>
        </p:txBody>
      </p:sp>
      <p:sp>
        <p:nvSpPr>
          <p:cNvPr id="9" name="Text 7"/>
          <p:cNvSpPr/>
          <p:nvPr/>
        </p:nvSpPr>
        <p:spPr>
          <a:xfrm>
            <a:off x="502920" y="4709160"/>
            <a:ext cx="8138160" cy="45720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Cả hai mức đóng góp đều nhắm vào lỗi mơ hồ này</a:t>
            </a:r>
            <a:endParaRPr lang="en-US" sz="140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7/23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3.1.  Toàn cảnh pipeline</a:t>
            </a:r>
            <a:endParaRPr lang="en-US" sz="1900" dirty="0"/>
          </a:p>
        </p:txBody>
      </p:sp>
      <p:sp>
        <p:nvSpPr>
          <p:cNvPr id="4" name="Shape 2"/>
          <p:cNvSpPr/>
          <p:nvPr/>
        </p:nvSpPr>
        <p:spPr>
          <a:xfrm>
            <a:off x="777240" y="12344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77240" y="12344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1. Đọc chữ</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trên ảnh</a:t>
            </a:r>
            <a:endParaRPr lang="en-US" sz="1350" dirty="0"/>
          </a:p>
        </p:txBody>
      </p:sp>
      <p:sp>
        <p:nvSpPr>
          <p:cNvPr id="6" name="Shape 4"/>
          <p:cNvSpPr/>
          <p:nvPr/>
        </p:nvSpPr>
        <p:spPr>
          <a:xfrm>
            <a:off x="3063240" y="1664208"/>
            <a:ext cx="365760" cy="0"/>
          </a:xfrm>
          <a:prstGeom prst="line">
            <a:avLst/>
          </a:prstGeom>
          <a:noFill/>
          <a:ln w="25400">
            <a:solidFill>
              <a:srgbClr val="4F417A"/>
            </a:solidFill>
            <a:prstDash val="solid"/>
            <a:tailEnd type="triangle"/>
          </a:ln>
        </p:spPr>
      </p:sp>
      <p:sp>
        <p:nvSpPr>
          <p:cNvPr id="7" name="Shape 5"/>
          <p:cNvSpPr/>
          <p:nvPr/>
        </p:nvSpPr>
        <p:spPr>
          <a:xfrm>
            <a:off x="3474720" y="12344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3474720" y="12344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2. Viết lại</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câu</a:t>
            </a:r>
            <a:endParaRPr lang="en-US" sz="1350" dirty="0"/>
          </a:p>
        </p:txBody>
      </p:sp>
      <p:sp>
        <p:nvSpPr>
          <p:cNvPr id="9" name="Shape 7"/>
          <p:cNvSpPr/>
          <p:nvPr/>
        </p:nvSpPr>
        <p:spPr>
          <a:xfrm>
            <a:off x="5760720" y="1664208"/>
            <a:ext cx="365760" cy="0"/>
          </a:xfrm>
          <a:prstGeom prst="line">
            <a:avLst/>
          </a:prstGeom>
          <a:noFill/>
          <a:ln w="25400">
            <a:solidFill>
              <a:srgbClr val="4F417A"/>
            </a:solidFill>
            <a:prstDash val="solid"/>
            <a:tailEnd type="triangle"/>
          </a:ln>
        </p:spPr>
      </p:sp>
      <p:sp>
        <p:nvSpPr>
          <p:cNvPr id="10" name="Shape 8"/>
          <p:cNvSpPr/>
          <p:nvPr/>
        </p:nvSpPr>
        <p:spPr>
          <a:xfrm>
            <a:off x="6172200" y="12344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6172200" y="12344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3. Dựng dòng</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khai báo</a:t>
            </a:r>
            <a:endParaRPr lang="en-US" sz="1350" dirty="0"/>
          </a:p>
        </p:txBody>
      </p:sp>
      <p:sp>
        <p:nvSpPr>
          <p:cNvPr id="12" name="Shape 10"/>
          <p:cNvSpPr/>
          <p:nvPr/>
        </p:nvSpPr>
        <p:spPr>
          <a:xfrm>
            <a:off x="777240" y="26060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777240" y="26060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B22222"/>
                </a:solidFill>
                <a:latin typeface="Cambria" pitchFamily="34" charset="0"/>
                <a:ea typeface="Cambria" pitchFamily="34" charset="-122"/>
                <a:cs typeface="Cambria" pitchFamily="34" charset="-120"/>
              </a:rPr>
              <a:t>6. Chạy thật</a:t>
            </a:r>
            <a:endParaRPr lang="en-US" sz="1350" dirty="0"/>
          </a:p>
        </p:txBody>
      </p:sp>
      <p:sp>
        <p:nvSpPr>
          <p:cNvPr id="14" name="Shape 12"/>
          <p:cNvSpPr/>
          <p:nvPr/>
        </p:nvSpPr>
        <p:spPr>
          <a:xfrm>
            <a:off x="3474720" y="2606040"/>
            <a:ext cx="2240280" cy="868680"/>
          </a:xfrm>
          <a:prstGeom prst="roundRect">
            <a:avLst>
              <a:gd name="adj" fmla="val 6316"/>
            </a:avLst>
          </a:prstGeom>
          <a:solidFill>
            <a:srgbClr val="322164"/>
          </a:solidFill>
          <a:ln/>
          <a:effectLst>
            <a:outerShdw sx="100000" sy="100000" kx="0" ky="0" algn="bl" rotWithShape="0" blurRad="63500" dist="31750" dir="2700000">
              <a:srgbClr val="8C8C99">
                <a:alpha val="45000"/>
              </a:srgbClr>
            </a:outerShdw>
          </a:effectLst>
        </p:spPr>
      </p:sp>
      <p:sp>
        <p:nvSpPr>
          <p:cNvPr id="15" name="Text 13"/>
          <p:cNvSpPr/>
          <p:nvPr/>
        </p:nvSpPr>
        <p:spPr>
          <a:xfrm>
            <a:off x="3474720" y="26060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FFFFFF"/>
                </a:solidFill>
                <a:latin typeface="Cambria" pitchFamily="34" charset="0"/>
                <a:ea typeface="Cambria" pitchFamily="34" charset="-122"/>
                <a:cs typeface="Cambria" pitchFamily="34" charset="-120"/>
              </a:rPr>
              <a:t>5. Huấn luyện</a:t>
            </a:r>
            <a:endParaRPr lang="en-US" sz="1350" dirty="0"/>
          </a:p>
          <a:p>
            <a:pPr algn="ctr" indent="0" marL="0">
              <a:lnSpc>
                <a:spcPct val="125000"/>
              </a:lnSpc>
              <a:buNone/>
            </a:pPr>
            <a:r>
              <a:rPr lang="en-US" sz="1350" b="1" dirty="0">
                <a:solidFill>
                  <a:srgbClr val="FFFFFF"/>
                </a:solidFill>
                <a:latin typeface="Cambria" pitchFamily="34" charset="0"/>
                <a:ea typeface="Cambria" pitchFamily="34" charset="-122"/>
                <a:cs typeface="Cambria" pitchFamily="34" charset="-120"/>
              </a:rPr>
              <a:t>Bản A  vs  Bản B</a:t>
            </a:r>
            <a:endParaRPr lang="en-US" sz="1350" dirty="0"/>
          </a:p>
        </p:txBody>
      </p:sp>
      <p:sp>
        <p:nvSpPr>
          <p:cNvPr id="16" name="Shape 14"/>
          <p:cNvSpPr/>
          <p:nvPr/>
        </p:nvSpPr>
        <p:spPr>
          <a:xfrm>
            <a:off x="6172200" y="26060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7" name="Text 15"/>
          <p:cNvSpPr/>
          <p:nvPr/>
        </p:nvSpPr>
        <p:spPr>
          <a:xfrm>
            <a:off x="6172200" y="26060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4. Ghép thành</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bộ dữ liệu</a:t>
            </a:r>
            <a:endParaRPr lang="en-US" sz="1350" dirty="0"/>
          </a:p>
        </p:txBody>
      </p:sp>
      <p:sp>
        <p:nvSpPr>
          <p:cNvPr id="18" name="Shape 16"/>
          <p:cNvSpPr/>
          <p:nvPr/>
        </p:nvSpPr>
        <p:spPr>
          <a:xfrm>
            <a:off x="5806440" y="3035808"/>
            <a:ext cx="365760" cy="0"/>
          </a:xfrm>
          <a:prstGeom prst="line">
            <a:avLst/>
          </a:prstGeom>
          <a:noFill/>
          <a:ln w="25400">
            <a:solidFill>
              <a:srgbClr val="4F417A"/>
            </a:solidFill>
            <a:prstDash val="solid"/>
            <a:headEnd type="triangle"/>
          </a:ln>
        </p:spPr>
      </p:sp>
      <p:sp>
        <p:nvSpPr>
          <p:cNvPr id="19" name="Shape 17"/>
          <p:cNvSpPr/>
          <p:nvPr/>
        </p:nvSpPr>
        <p:spPr>
          <a:xfrm>
            <a:off x="3108960" y="3035808"/>
            <a:ext cx="365760" cy="0"/>
          </a:xfrm>
          <a:prstGeom prst="line">
            <a:avLst/>
          </a:prstGeom>
          <a:noFill/>
          <a:ln w="25400">
            <a:solidFill>
              <a:srgbClr val="4F417A"/>
            </a:solidFill>
            <a:prstDash val="solid"/>
            <a:headEnd type="triangle"/>
          </a:ln>
        </p:spPr>
      </p:sp>
      <p:sp>
        <p:nvSpPr>
          <p:cNvPr id="20" name="Shape 18"/>
          <p:cNvSpPr/>
          <p:nvPr/>
        </p:nvSpPr>
        <p:spPr>
          <a:xfrm>
            <a:off x="7790688" y="2103120"/>
            <a:ext cx="0" cy="502920"/>
          </a:xfrm>
          <a:prstGeom prst="line">
            <a:avLst/>
          </a:prstGeom>
          <a:noFill/>
          <a:ln w="25400">
            <a:solidFill>
              <a:srgbClr val="4F417A"/>
            </a:solidFill>
            <a:prstDash val="solid"/>
            <a:tailEnd type="triangle"/>
          </a:ln>
        </p:spPr>
      </p:sp>
      <p:sp>
        <p:nvSpPr>
          <p:cNvPr id="21" name="Shape 19"/>
          <p:cNvSpPr/>
          <p:nvPr/>
        </p:nvSpPr>
        <p:spPr>
          <a:xfrm>
            <a:off x="502920" y="411480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22" name="Text 20"/>
          <p:cNvSpPr/>
          <p:nvPr/>
        </p:nvSpPr>
        <p:spPr>
          <a:xfrm>
            <a:off x="704088" y="4114800"/>
            <a:ext cx="7735824" cy="1143000"/>
          </a:xfrm>
          <a:prstGeom prst="rect">
            <a:avLst/>
          </a:prstGeom>
          <a:noFill/>
          <a:ln/>
        </p:spPr>
        <p:txBody>
          <a:bodyPr wrap="square" lIns="0" tIns="0" rIns="0" bIns="0" rtlCol="0" anchor="ctr"/>
          <a:lstStyle/>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Khâu 1-4: chuẩn bị dữ liệu, chạy trên máy cá nhân, miễn phí</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Khâu 5: nơi Bản A và Bản B khác nhau đúng một chỗ</a:t>
            </a:r>
            <a:endParaRPr lang="en-US" sz="1400" dirty="0"/>
          </a:p>
        </p:txBody>
      </p:sp>
      <p:sp>
        <p:nvSpPr>
          <p:cNvPr id="24" name="Shape 21"/>
          <p:cNvSpPr/>
          <p:nvPr/>
        </p:nvSpPr>
        <p:spPr>
          <a:xfrm>
            <a:off x="0" y="6620256"/>
            <a:ext cx="2743200" cy="237744"/>
          </a:xfrm>
          <a:prstGeom prst="rect">
            <a:avLst/>
          </a:prstGeom>
          <a:solidFill>
            <a:srgbClr val="191132"/>
          </a:solidFill>
          <a:ln/>
        </p:spPr>
      </p:sp>
      <p:sp>
        <p:nvSpPr>
          <p:cNvPr id="25" name="Shape 22"/>
          <p:cNvSpPr/>
          <p:nvPr/>
        </p:nvSpPr>
        <p:spPr>
          <a:xfrm>
            <a:off x="2743200" y="6620256"/>
            <a:ext cx="3383280" cy="237744"/>
          </a:xfrm>
          <a:prstGeom prst="rect">
            <a:avLst/>
          </a:prstGeom>
          <a:solidFill>
            <a:srgbClr val="25194B"/>
          </a:solidFill>
          <a:ln/>
        </p:spPr>
      </p:sp>
      <p:sp>
        <p:nvSpPr>
          <p:cNvPr id="26" name="Shape 23"/>
          <p:cNvSpPr/>
          <p:nvPr/>
        </p:nvSpPr>
        <p:spPr>
          <a:xfrm>
            <a:off x="6126480" y="6620256"/>
            <a:ext cx="1737360" cy="237744"/>
          </a:xfrm>
          <a:prstGeom prst="rect">
            <a:avLst/>
          </a:prstGeom>
          <a:solidFill>
            <a:srgbClr val="4F417A"/>
          </a:solidFill>
          <a:ln/>
        </p:spPr>
      </p:sp>
      <p:sp>
        <p:nvSpPr>
          <p:cNvPr id="27" name="Shape 24"/>
          <p:cNvSpPr/>
          <p:nvPr/>
        </p:nvSpPr>
        <p:spPr>
          <a:xfrm>
            <a:off x="7863840" y="6620256"/>
            <a:ext cx="1280160" cy="237744"/>
          </a:xfrm>
          <a:prstGeom prst="rect">
            <a:avLst/>
          </a:prstGeom>
          <a:solidFill>
            <a:srgbClr val="7A7099"/>
          </a:solidFill>
          <a:ln/>
        </p:spPr>
      </p:sp>
      <p:sp>
        <p:nvSpPr>
          <p:cNvPr id="28"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9"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30"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1"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8/23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3.2.  Khâu 1 và 2:  đọc chữ, rồi viết lại câu</a:t>
            </a:r>
            <a:endParaRPr lang="en-US" sz="1900" dirty="0"/>
          </a:p>
        </p:txBody>
      </p:sp>
      <p:sp>
        <p:nvSpPr>
          <p:cNvPr id="4" name="Shape 2"/>
          <p:cNvSpPr/>
          <p:nvPr/>
        </p:nvSpPr>
        <p:spPr>
          <a:xfrm>
            <a:off x="502920" y="100584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417320"/>
          </a:xfrm>
          <a:prstGeom prst="rect">
            <a:avLst/>
          </a:prstGeom>
          <a:noFill/>
          <a:ln/>
        </p:spPr>
        <p:txBody>
          <a:bodyPr wrap="square" lIns="0" tIns="0" rIns="0" bIns="0" rtlCol="0" anchor="ctr"/>
          <a:lstStyle/>
          <a:p>
            <a:pPr algn="l" indent="0" marL="0">
              <a:lnSpc>
                <a:spcPct val="140000"/>
              </a:lnSpc>
              <a:buNone/>
            </a:pPr>
            <a:r>
              <a:rPr lang="en-US" sz="1400" b="1" dirty="0">
                <a:solidFill>
                  <a:srgbClr val="006666"/>
                </a:solidFill>
                <a:latin typeface="Cambria" pitchFamily="34" charset="0"/>
                <a:ea typeface="Cambria" pitchFamily="34" charset="-122"/>
                <a:cs typeface="Cambria" pitchFamily="34" charset="-120"/>
              </a:rPr>
              <a:t>Khâu 1 - đọc chữ (OCR).  </a:t>
            </a:r>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Chạy ngay trên điện thoại. Nút hình - dấu cộng, mũi tên - thì OCR chịu.</a:t>
            </a:r>
            <a:endParaRPr lang="en-US" sz="1400" dirty="0"/>
          </a:p>
        </p:txBody>
      </p:sp>
      <p:sp>
        <p:nvSpPr>
          <p:cNvPr id="6" name="Shape 4"/>
          <p:cNvSpPr/>
          <p:nvPr/>
        </p:nvSpPr>
        <p:spPr>
          <a:xfrm>
            <a:off x="502920" y="2743200"/>
            <a:ext cx="8138160" cy="1783080"/>
          </a:xfrm>
          <a:prstGeom prst="roundRect">
            <a:avLst>
              <a:gd name="adj" fmla="val 3077"/>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871216"/>
            <a:ext cx="7735824" cy="685800"/>
          </a:xfrm>
          <a:prstGeom prst="rect">
            <a:avLst/>
          </a:prstGeom>
          <a:noFill/>
          <a:ln/>
        </p:spPr>
        <p:txBody>
          <a:bodyPr wrap="square" lIns="0" tIns="0" rIns="0" bIns="0" rtlCol="0" anchor="t"/>
          <a:lstStyle/>
          <a:p>
            <a:pPr algn="l" indent="0" marL="0">
              <a:lnSpc>
                <a:spcPct val="135000"/>
              </a:lnSpc>
              <a:buNone/>
            </a:pPr>
            <a:r>
              <a:rPr lang="en-US" sz="1400" b="1" dirty="0">
                <a:solidFill>
                  <a:srgbClr val="006666"/>
                </a:solidFill>
                <a:latin typeface="Cambria" pitchFamily="34" charset="0"/>
                <a:ea typeface="Cambria" pitchFamily="34" charset="-122"/>
                <a:cs typeface="Cambria" pitchFamily="34" charset="-120"/>
              </a:rPr>
              <a:t>Khâu 2 - viết lại câu.  </a:t>
            </a:r>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Mô hình lớn xem ảnh đã khoanh dấu, viết câu cụt thành câu đầy đủ:</a:t>
            </a:r>
            <a:endParaRPr lang="en-US" sz="1400" dirty="0"/>
          </a:p>
        </p:txBody>
      </p:sp>
      <p:sp>
        <p:nvSpPr>
          <p:cNvPr id="8" name="Text 6"/>
          <p:cNvSpPr/>
          <p:nvPr/>
        </p:nvSpPr>
        <p:spPr>
          <a:xfrm>
            <a:off x="502920" y="3611880"/>
            <a:ext cx="8138160" cy="777240"/>
          </a:xfrm>
          <a:prstGeom prst="rect">
            <a:avLst/>
          </a:prstGeom>
          <a:noFill/>
          <a:ln/>
        </p:spPr>
        <p:txBody>
          <a:bodyPr wrap="square" lIns="0" tIns="0" rIns="0" bIns="0" rtlCol="0" anchor="t"/>
          <a:lstStyle/>
          <a:p>
            <a:pPr algn="ctr" indent="0" marL="0">
              <a:lnSpc>
                <a:spcPct val="140000"/>
              </a:lnSpc>
              <a:buNone/>
            </a:pPr>
            <a:r>
              <a:rPr lang="en-US" sz="1400" i="1" dirty="0">
                <a:solidFill>
                  <a:srgbClr val="1A1A1A"/>
                </a:solidFill>
                <a:latin typeface="Cambria" pitchFamily="34" charset="0"/>
                <a:ea typeface="Cambria" pitchFamily="34" charset="-122"/>
                <a:cs typeface="Cambria" pitchFamily="34" charset="-120"/>
              </a:rPr>
              <a:t>“Click on the search bar”</a:t>
            </a:r>
            <a:endParaRPr lang="en-US" sz="1400" dirty="0"/>
          </a:p>
          <a:p>
            <a:pPr algn="ctr" indent="0" marL="0">
              <a:lnSpc>
                <a:spcPct val="140000"/>
              </a:lnSpc>
              <a:buNone/>
            </a:pPr>
            <a:r>
              <a:rPr lang="en-US" sz="1400" i="1" dirty="0">
                <a:solidFill>
                  <a:srgbClr val="1A1A1A"/>
                </a:solidFill>
                <a:latin typeface="Cambria" pitchFamily="34" charset="0"/>
                <a:ea typeface="Cambria" pitchFamily="34" charset="-122"/>
                <a:cs typeface="Cambria" pitchFamily="34" charset="-120"/>
              </a:rPr>
              <a:t>→  “Tap the ‘Search Publications’ bar at the top”</a:t>
            </a:r>
            <a:endParaRPr lang="en-US" sz="1400" dirty="0"/>
          </a:p>
        </p:txBody>
      </p:sp>
      <p:sp>
        <p:nvSpPr>
          <p:cNvPr id="9" name="Text 7"/>
          <p:cNvSpPr/>
          <p:nvPr/>
        </p:nvSpPr>
        <p:spPr>
          <a:xfrm>
            <a:off x="502920" y="4800600"/>
            <a:ext cx="8138160" cy="411480"/>
          </a:xfrm>
          <a:prstGeom prst="rect">
            <a:avLst/>
          </a:prstGeom>
          <a:noFill/>
          <a:ln/>
        </p:spPr>
        <p:txBody>
          <a:bodyPr wrap="square" lIns="0" tIns="0" rIns="0" bIns="0" rtlCol="0" anchor="t"/>
          <a:lstStyle/>
          <a:p>
            <a:pPr algn="l" indent="0" marL="0">
              <a:buNone/>
            </a:pPr>
            <a:r>
              <a:rPr lang="en-US" sz="1250" i="1" dirty="0">
                <a:solidFill>
                  <a:srgbClr val="1A1A1A"/>
                </a:solidFill>
                <a:latin typeface="Cambria" pitchFamily="34" charset="0"/>
                <a:ea typeface="Cambria" pitchFamily="34" charset="-122"/>
                <a:cs typeface="Cambria" pitchFamily="34" charset="-120"/>
              </a:rPr>
              <a:t>Tiền xử lý - không thuộc phần đóng góp</a:t>
            </a:r>
            <a:endParaRPr lang="en-US" sz="125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9/23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3.3.  Khâu 3:  dòng khai báo - trọng tâm của đóng góp</a:t>
            </a:r>
            <a:endParaRPr lang="en-US" sz="1900" dirty="0"/>
          </a:p>
        </p:txBody>
      </p:sp>
      <p:sp>
        <p:nvSpPr>
          <p:cNvPr id="4" name="Shape 2"/>
          <p:cNvSpPr/>
          <p:nvPr/>
        </p:nvSpPr>
        <p:spPr>
          <a:xfrm>
            <a:off x="502920" y="960120"/>
            <a:ext cx="8138160" cy="731520"/>
          </a:xfrm>
          <a:prstGeom prst="roundRect">
            <a:avLst>
              <a:gd name="adj" fmla="val 75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60120"/>
            <a:ext cx="7735824" cy="731520"/>
          </a:xfrm>
          <a:prstGeom prst="rect">
            <a:avLst/>
          </a:prstGeom>
          <a:noFill/>
          <a:ln/>
        </p:spPr>
        <p:txBody>
          <a:bodyPr wrap="square" lIns="0" tIns="0" rIns="0" bIns="0" rtlCol="0" anchor="ctr"/>
          <a:lstStyle/>
          <a:p>
            <a:pPr algn="l" indent="0" marL="0">
              <a:buNone/>
            </a:pPr>
            <a:r>
              <a:rPr lang="en-US" sz="1400" dirty="0">
                <a:solidFill>
                  <a:srgbClr val="1A1A1A"/>
                </a:solidFill>
                <a:latin typeface="Cambria" pitchFamily="34" charset="0"/>
                <a:ea typeface="Cambria" pitchFamily="34" charset="-122"/>
                <a:cs typeface="Cambria" pitchFamily="34" charset="-120"/>
              </a:rPr>
              <a:t>Mô hình phải viết một dòng khai báo bốn ô, rồi mới tới câu:</a:t>
            </a:r>
            <a:endParaRPr lang="en-US" sz="1400" dirty="0"/>
          </a:p>
        </p:txBody>
      </p:sp>
      <p:sp>
        <p:nvSpPr>
          <p:cNvPr id="6" name="Text 4"/>
          <p:cNvSpPr/>
          <p:nvPr/>
        </p:nvSpPr>
        <p:spPr>
          <a:xfrm>
            <a:off x="502920" y="1856232"/>
            <a:ext cx="8138160" cy="411480"/>
          </a:xfrm>
          <a:prstGeom prst="rect">
            <a:avLst/>
          </a:prstGeom>
          <a:noFill/>
          <a:ln/>
        </p:spPr>
        <p:txBody>
          <a:bodyPr wrap="square" lIns="0" tIns="0" rIns="0" bIns="0" rtlCol="0" anchor="t"/>
          <a:lstStyle/>
          <a:p>
            <a:pPr algn="ctr" indent="0" marL="0">
              <a:buNone/>
            </a:pPr>
            <a:r>
              <a:rPr lang="en-US" sz="1600" b="1" dirty="0">
                <a:solidFill>
                  <a:srgbClr val="B22222"/>
                </a:solidFill>
                <a:latin typeface="Cambria" pitchFamily="34" charset="0"/>
                <a:ea typeface="Cambria" pitchFamily="34" charset="-122"/>
                <a:cs typeface="Cambria" pitchFamily="34" charset="-120"/>
              </a:rPr>
              <a:t>[  vai trò  |  tên  |  toạ độ  |  dấu hiệu phân biệt  ]</a:t>
            </a:r>
            <a:endParaRPr lang="en-US" sz="1600" dirty="0"/>
          </a:p>
        </p:txBody>
      </p:sp>
      <p:sp>
        <p:nvSpPr>
          <p:cNvPr id="7" name="Shape 5"/>
          <p:cNvSpPr/>
          <p:nvPr/>
        </p:nvSpPr>
        <p:spPr>
          <a:xfrm>
            <a:off x="502920" y="2450592"/>
            <a:ext cx="8138160" cy="1828800"/>
          </a:xfrm>
          <a:prstGeom prst="roundRect">
            <a:avLst>
              <a:gd name="adj" fmla="val 300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615184"/>
            <a:ext cx="1463040" cy="36576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Dạy thường</a:t>
            </a:r>
            <a:endParaRPr lang="en-US" sz="1300" dirty="0"/>
          </a:p>
        </p:txBody>
      </p:sp>
      <p:sp>
        <p:nvSpPr>
          <p:cNvPr id="9" name="Text 7"/>
          <p:cNvSpPr/>
          <p:nvPr/>
        </p:nvSpPr>
        <p:spPr>
          <a:xfrm>
            <a:off x="2286000" y="2615184"/>
            <a:ext cx="6126480" cy="365760"/>
          </a:xfrm>
          <a:prstGeom prst="rect">
            <a:avLst/>
          </a:prstGeom>
          <a:noFill/>
          <a:ln/>
        </p:spPr>
        <p:txBody>
          <a:bodyPr wrap="square" lIns="0" tIns="0" rIns="0" bIns="0" rtlCol="0" anchor="t"/>
          <a:lstStyle/>
          <a:p>
            <a:pPr algn="l" indent="0" marL="0">
              <a:buNone/>
            </a:pPr>
            <a:r>
              <a:rPr lang="en-US" sz="1150" dirty="0">
                <a:solidFill>
                  <a:srgbClr val="1A1A1A"/>
                </a:solidFill>
                <a:latin typeface="Consolas" pitchFamily="34" charset="0"/>
                <a:ea typeface="Consolas" pitchFamily="34" charset="-122"/>
                <a:cs typeface="Consolas" pitchFamily="34" charset="-120"/>
              </a:rPr>
              <a:t>Tap the Search Publications bar at the top</a:t>
            </a:r>
            <a:endParaRPr lang="en-US" sz="1150" dirty="0"/>
          </a:p>
        </p:txBody>
      </p:sp>
      <p:sp>
        <p:nvSpPr>
          <p:cNvPr id="10" name="Text 8"/>
          <p:cNvSpPr/>
          <p:nvPr/>
        </p:nvSpPr>
        <p:spPr>
          <a:xfrm>
            <a:off x="704088" y="3127248"/>
            <a:ext cx="1463040" cy="365760"/>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Dạy kiểu mới</a:t>
            </a:r>
            <a:endParaRPr lang="en-US" sz="1300" dirty="0"/>
          </a:p>
        </p:txBody>
      </p:sp>
      <p:sp>
        <p:nvSpPr>
          <p:cNvPr id="11" name="Text 9"/>
          <p:cNvSpPr/>
          <p:nvPr/>
        </p:nvSpPr>
        <p:spPr>
          <a:xfrm>
            <a:off x="2286000" y="3072384"/>
            <a:ext cx="6126480" cy="1097280"/>
          </a:xfrm>
          <a:prstGeom prst="rect">
            <a:avLst/>
          </a:prstGeom>
          <a:noFill/>
          <a:ln/>
        </p:spPr>
        <p:txBody>
          <a:bodyPr wrap="square" lIns="0" tIns="0" rIns="0" bIns="0" rtlCol="0" anchor="t"/>
          <a:lstStyle/>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&lt;desc&gt;ô nhập liệu | "Search Publications..." | &lt;point&gt;500,80&lt;/point&gt;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      | ô nhập liệu duy nhất trên màn&lt;/desc&gt;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Tap the Search Publications bar at the top</a:t>
            </a:r>
            <a:endParaRPr lang="en-US" sz="1150" dirty="0"/>
          </a:p>
        </p:txBody>
      </p:sp>
      <p:sp>
        <p:nvSpPr>
          <p:cNvPr id="12" name="Text 10"/>
          <p:cNvSpPr/>
          <p:nvPr/>
        </p:nvSpPr>
        <p:spPr>
          <a:xfrm>
            <a:off x="502920" y="4480560"/>
            <a:ext cx="8138160" cy="822960"/>
          </a:xfrm>
          <a:prstGeom prst="rect">
            <a:avLst/>
          </a:prstGeom>
          <a:noFill/>
          <a:ln/>
        </p:spPr>
        <p:txBody>
          <a:bodyPr wrap="square" lIns="0" tIns="0" rIns="0" bIns="0" rtlCol="0" anchor="t"/>
          <a:lstStyle/>
          <a:p>
            <a:pPr algn="l" indent="0" marL="0">
              <a:lnSpc>
                <a:spcPct val="140000"/>
              </a:lnSpc>
              <a:buNone/>
            </a:pPr>
            <a:r>
              <a:rPr lang="en-US" sz="1400" b="1" dirty="0">
                <a:solidFill>
                  <a:srgbClr val="322164"/>
                </a:solidFill>
                <a:latin typeface="Cambria" pitchFamily="34" charset="0"/>
                <a:ea typeface="Cambria" pitchFamily="34" charset="-122"/>
                <a:cs typeface="Cambria" pitchFamily="34" charset="-120"/>
              </a:rPr>
              <a:t>Toạ độ lấy từ chỗ người thật đã chạm.  </a:t>
            </a:r>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Khi chạy thật, dòng khai báo bị cắt - người dùng chỉ nhận câu.</a:t>
            </a:r>
            <a:endParaRPr lang="en-US" sz="1400" dirty="0"/>
          </a:p>
        </p:txBody>
      </p:sp>
      <p:sp>
        <p:nvSpPr>
          <p:cNvPr id="14" name="Shape 11"/>
          <p:cNvSpPr/>
          <p:nvPr/>
        </p:nvSpPr>
        <p:spPr>
          <a:xfrm>
            <a:off x="0" y="6620256"/>
            <a:ext cx="2743200" cy="237744"/>
          </a:xfrm>
          <a:prstGeom prst="rect">
            <a:avLst/>
          </a:prstGeom>
          <a:solidFill>
            <a:srgbClr val="191132"/>
          </a:solidFill>
          <a:ln/>
        </p:spPr>
      </p:sp>
      <p:sp>
        <p:nvSpPr>
          <p:cNvPr id="15" name="Shape 12"/>
          <p:cNvSpPr/>
          <p:nvPr/>
        </p:nvSpPr>
        <p:spPr>
          <a:xfrm>
            <a:off x="2743200" y="6620256"/>
            <a:ext cx="3383280" cy="237744"/>
          </a:xfrm>
          <a:prstGeom prst="rect">
            <a:avLst/>
          </a:prstGeom>
          <a:solidFill>
            <a:srgbClr val="25194B"/>
          </a:solidFill>
          <a:ln/>
        </p:spPr>
      </p:sp>
      <p:sp>
        <p:nvSpPr>
          <p:cNvPr id="16" name="Shape 13"/>
          <p:cNvSpPr/>
          <p:nvPr/>
        </p:nvSpPr>
        <p:spPr>
          <a:xfrm>
            <a:off x="6126480" y="6620256"/>
            <a:ext cx="1737360" cy="237744"/>
          </a:xfrm>
          <a:prstGeom prst="rect">
            <a:avLst/>
          </a:prstGeom>
          <a:solidFill>
            <a:srgbClr val="4F417A"/>
          </a:solidFill>
          <a:ln/>
        </p:spPr>
      </p:sp>
      <p:sp>
        <p:nvSpPr>
          <p:cNvPr id="17" name="Shape 14"/>
          <p:cNvSpPr/>
          <p:nvPr/>
        </p:nvSpPr>
        <p:spPr>
          <a:xfrm>
            <a:off x="7863840" y="6620256"/>
            <a:ext cx="1280160" cy="237744"/>
          </a:xfrm>
          <a:prstGeom prst="rect">
            <a:avLst/>
          </a:prstGeom>
          <a:solidFill>
            <a:srgbClr val="7A7099"/>
          </a:solidFill>
          <a:ln/>
        </p:spPr>
      </p:sp>
      <p:sp>
        <p:nvSpPr>
          <p:cNvPr id="18"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9"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0"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10/23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3.4.  Vì sao thiết kế đúng kiểu này?</a:t>
            </a:r>
            <a:endParaRPr lang="en-US" sz="1900" dirty="0"/>
          </a:p>
        </p:txBody>
      </p:sp>
      <p:sp>
        <p:nvSpPr>
          <p:cNvPr id="4" name="Shape 2"/>
          <p:cNvSpPr/>
          <p:nvPr/>
        </p:nvSpPr>
        <p:spPr>
          <a:xfrm>
            <a:off x="502920" y="960120"/>
            <a:ext cx="8138160" cy="2148840"/>
          </a:xfrm>
          <a:prstGeom prst="roundRect">
            <a:avLst>
              <a:gd name="adj" fmla="val 2553"/>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97280"/>
            <a:ext cx="7735824" cy="41148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Kiểu “sinh bước trung gian trước đáp án” đã có nhiều bài thử:</a:t>
            </a:r>
            <a:endParaRPr lang="en-US" sz="1350" dirty="0"/>
          </a:p>
        </p:txBody>
      </p:sp>
      <p:sp>
        <p:nvSpPr>
          <p:cNvPr id="6" name="Text 4"/>
          <p:cNvSpPr/>
          <p:nvPr/>
        </p:nvSpPr>
        <p:spPr>
          <a:xfrm>
            <a:off x="777240" y="1554480"/>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Aguvis (ICML 2025)</a:t>
            </a:r>
            <a:endParaRPr lang="en-US" sz="1200" dirty="0"/>
          </a:p>
        </p:txBody>
      </p:sp>
      <p:sp>
        <p:nvSpPr>
          <p:cNvPr id="7" name="Text 5"/>
          <p:cNvSpPr/>
          <p:nvPr/>
        </p:nvSpPr>
        <p:spPr>
          <a:xfrm>
            <a:off x="3246120" y="1554480"/>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bỏ tầng trung gian, trên chính AndroidControl</a:t>
            </a:r>
            <a:endParaRPr lang="en-US" sz="1200" dirty="0"/>
          </a:p>
        </p:txBody>
      </p:sp>
      <p:sp>
        <p:nvSpPr>
          <p:cNvPr id="8" name="Text 6"/>
          <p:cNvSpPr/>
          <p:nvPr/>
        </p:nvSpPr>
        <p:spPr>
          <a:xfrm>
            <a:off x="7406640" y="1554480"/>
            <a:ext cx="1097280" cy="292608"/>
          </a:xfrm>
          <a:prstGeom prst="rect">
            <a:avLst/>
          </a:prstGeom>
          <a:noFill/>
          <a:ln/>
        </p:spPr>
        <p:txBody>
          <a:bodyPr wrap="square" lIns="0" tIns="0" rIns="0" bIns="0" rtlCol="0" anchor="t"/>
          <a:lstStyle/>
          <a:p>
            <a:pPr algn="r" indent="0" marL="0">
              <a:buNone/>
            </a:pPr>
            <a:r>
              <a:rPr lang="en-US" sz="1200" b="1" dirty="0">
                <a:solidFill>
                  <a:srgbClr val="990000"/>
                </a:solidFill>
                <a:latin typeface="Cambria" pitchFamily="34" charset="0"/>
                <a:ea typeface="Cambria" pitchFamily="34" charset="-122"/>
                <a:cs typeface="Cambria" pitchFamily="34" charset="-120"/>
              </a:rPr>
              <a:t>tụt 11,4</a:t>
            </a:r>
            <a:endParaRPr lang="en-US" sz="1200" dirty="0"/>
          </a:p>
        </p:txBody>
      </p:sp>
      <p:sp>
        <p:nvSpPr>
          <p:cNvPr id="9" name="Text 7"/>
          <p:cNvSpPr/>
          <p:nvPr/>
        </p:nvSpPr>
        <p:spPr>
          <a:xfrm>
            <a:off x="777240" y="1865376"/>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GCoT (bản thảo)</a:t>
            </a:r>
            <a:endParaRPr lang="en-US" sz="1200" dirty="0"/>
          </a:p>
        </p:txBody>
      </p:sp>
      <p:sp>
        <p:nvSpPr>
          <p:cNvPr id="10" name="Text 8"/>
          <p:cNvSpPr/>
          <p:nvPr/>
        </p:nvSpPr>
        <p:spPr>
          <a:xfrm>
            <a:off x="3246120" y="1865376"/>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huấn luyện sinh định vị trước</a:t>
            </a:r>
            <a:endParaRPr lang="en-US" sz="1200" dirty="0"/>
          </a:p>
        </p:txBody>
      </p:sp>
      <p:sp>
        <p:nvSpPr>
          <p:cNvPr id="11" name="Text 9"/>
          <p:cNvSpPr/>
          <p:nvPr/>
        </p:nvSpPr>
        <p:spPr>
          <a:xfrm>
            <a:off x="7406640" y="1865376"/>
            <a:ext cx="1097280" cy="292608"/>
          </a:xfrm>
          <a:prstGeom prst="rect">
            <a:avLst/>
          </a:prstGeom>
          <a:noFill/>
          <a:ln/>
        </p:spPr>
        <p:txBody>
          <a:bodyPr wrap="square" lIns="0" tIns="0" rIns="0" bIns="0" rtlCol="0" anchor="t"/>
          <a:lstStyle/>
          <a:p>
            <a:pPr algn="r" indent="0" marL="0">
              <a:buNone/>
            </a:pPr>
            <a:r>
              <a:rPr lang="en-US" sz="1200" b="1" dirty="0">
                <a:solidFill>
                  <a:srgbClr val="1A1A1A"/>
                </a:solidFill>
                <a:latin typeface="Cambria" pitchFamily="34" charset="0"/>
                <a:ea typeface="Cambria" pitchFamily="34" charset="-122"/>
                <a:cs typeface="Cambria" pitchFamily="34" charset="-120"/>
              </a:rPr>
              <a:t>+4,5 / +5,8</a:t>
            </a:r>
            <a:endParaRPr lang="en-US" sz="1200" dirty="0"/>
          </a:p>
        </p:txBody>
      </p:sp>
      <p:sp>
        <p:nvSpPr>
          <p:cNvPr id="12" name="Text 10"/>
          <p:cNvSpPr/>
          <p:nvPr/>
        </p:nvSpPr>
        <p:spPr>
          <a:xfrm>
            <a:off x="777240" y="2176272"/>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CogCoM (ICLR 2025)</a:t>
            </a:r>
            <a:endParaRPr lang="en-US" sz="1200" dirty="0"/>
          </a:p>
        </p:txBody>
      </p:sp>
      <p:sp>
        <p:nvSpPr>
          <p:cNvPr id="13" name="Text 11"/>
          <p:cNvSpPr/>
          <p:nvPr/>
        </p:nvSpPr>
        <p:spPr>
          <a:xfrm>
            <a:off x="3246120" y="2176272"/>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chuỗi thao tác trung gian</a:t>
            </a:r>
            <a:endParaRPr lang="en-US" sz="1200" dirty="0"/>
          </a:p>
        </p:txBody>
      </p:sp>
      <p:sp>
        <p:nvSpPr>
          <p:cNvPr id="14" name="Text 12"/>
          <p:cNvSpPr/>
          <p:nvPr/>
        </p:nvSpPr>
        <p:spPr>
          <a:xfrm>
            <a:off x="7406640" y="2176272"/>
            <a:ext cx="1097280" cy="292608"/>
          </a:xfrm>
          <a:prstGeom prst="rect">
            <a:avLst/>
          </a:prstGeom>
          <a:noFill/>
          <a:ln/>
        </p:spPr>
        <p:txBody>
          <a:bodyPr wrap="square" lIns="0" tIns="0" rIns="0" bIns="0" rtlCol="0" anchor="t"/>
          <a:lstStyle/>
          <a:p>
            <a:pPr algn="r" indent="0" marL="0">
              <a:buNone/>
            </a:pPr>
            <a:r>
              <a:rPr lang="en-US" sz="1200" b="1" dirty="0">
                <a:solidFill>
                  <a:srgbClr val="1A1A1A"/>
                </a:solidFill>
                <a:latin typeface="Cambria" pitchFamily="34" charset="0"/>
                <a:ea typeface="Cambria" pitchFamily="34" charset="-122"/>
                <a:cs typeface="Cambria" pitchFamily="34" charset="-120"/>
              </a:rPr>
              <a:t>+6,6</a:t>
            </a:r>
            <a:endParaRPr lang="en-US" sz="1200" dirty="0"/>
          </a:p>
        </p:txBody>
      </p:sp>
      <p:sp>
        <p:nvSpPr>
          <p:cNvPr id="15" name="Text 13"/>
          <p:cNvSpPr/>
          <p:nvPr/>
        </p:nvSpPr>
        <p:spPr>
          <a:xfrm>
            <a:off x="777240" y="2487168"/>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Shikra - văn tự do</a:t>
            </a:r>
            <a:endParaRPr lang="en-US" sz="1200" dirty="0"/>
          </a:p>
        </p:txBody>
      </p:sp>
      <p:sp>
        <p:nvSpPr>
          <p:cNvPr id="16" name="Text 14"/>
          <p:cNvSpPr/>
          <p:nvPr/>
        </p:nvSpPr>
        <p:spPr>
          <a:xfrm>
            <a:off x="3246120" y="2487168"/>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bước trung gian viết bằng văn xuôi</a:t>
            </a:r>
            <a:endParaRPr lang="en-US" sz="1200" dirty="0"/>
          </a:p>
        </p:txBody>
      </p:sp>
      <p:sp>
        <p:nvSpPr>
          <p:cNvPr id="17" name="Text 15"/>
          <p:cNvSpPr/>
          <p:nvPr/>
        </p:nvSpPr>
        <p:spPr>
          <a:xfrm>
            <a:off x="7406640" y="2487168"/>
            <a:ext cx="1097280" cy="292608"/>
          </a:xfrm>
          <a:prstGeom prst="rect">
            <a:avLst/>
          </a:prstGeom>
          <a:noFill/>
          <a:ln/>
        </p:spPr>
        <p:txBody>
          <a:bodyPr wrap="square" lIns="0" tIns="0" rIns="0" bIns="0" rtlCol="0" anchor="t"/>
          <a:lstStyle/>
          <a:p>
            <a:pPr algn="r" indent="0" marL="0">
              <a:buNone/>
            </a:pPr>
            <a:r>
              <a:rPr lang="en-US" sz="1200" b="1" dirty="0">
                <a:solidFill>
                  <a:srgbClr val="990000"/>
                </a:solidFill>
                <a:latin typeface="Cambria" pitchFamily="34" charset="0"/>
                <a:ea typeface="Cambria" pitchFamily="34" charset="-122"/>
                <a:cs typeface="Cambria" pitchFamily="34" charset="-120"/>
              </a:rPr>
              <a:t>tụt 7,4</a:t>
            </a:r>
            <a:endParaRPr lang="en-US" sz="1200" dirty="0"/>
          </a:p>
        </p:txBody>
      </p:sp>
      <p:sp>
        <p:nvSpPr>
          <p:cNvPr id="18" name="Text 16"/>
          <p:cNvSpPr/>
          <p:nvPr/>
        </p:nvSpPr>
        <p:spPr>
          <a:xfrm>
            <a:off x="777240" y="2798064"/>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Shikra - có toạ độ</a:t>
            </a:r>
            <a:endParaRPr lang="en-US" sz="1200" dirty="0"/>
          </a:p>
        </p:txBody>
      </p:sp>
      <p:sp>
        <p:nvSpPr>
          <p:cNvPr id="19" name="Text 17"/>
          <p:cNvSpPr/>
          <p:nvPr/>
        </p:nvSpPr>
        <p:spPr>
          <a:xfrm>
            <a:off x="3246120" y="2798064"/>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cùng mô hình, chỉ đổi dạng trung gian</a:t>
            </a:r>
            <a:endParaRPr lang="en-US" sz="1200" dirty="0"/>
          </a:p>
        </p:txBody>
      </p:sp>
      <p:sp>
        <p:nvSpPr>
          <p:cNvPr id="20" name="Text 18"/>
          <p:cNvSpPr/>
          <p:nvPr/>
        </p:nvSpPr>
        <p:spPr>
          <a:xfrm>
            <a:off x="7406640" y="2798064"/>
            <a:ext cx="1097280" cy="292608"/>
          </a:xfrm>
          <a:prstGeom prst="rect">
            <a:avLst/>
          </a:prstGeom>
          <a:noFill/>
          <a:ln/>
        </p:spPr>
        <p:txBody>
          <a:bodyPr wrap="square" lIns="0" tIns="0" rIns="0" bIns="0" rtlCol="0" anchor="t"/>
          <a:lstStyle/>
          <a:p>
            <a:pPr algn="r" indent="0" marL="0">
              <a:buNone/>
            </a:pPr>
            <a:r>
              <a:rPr lang="en-US" sz="1200" b="1" dirty="0">
                <a:solidFill>
                  <a:srgbClr val="006666"/>
                </a:solidFill>
                <a:latin typeface="Cambria" pitchFamily="34" charset="0"/>
                <a:ea typeface="Cambria" pitchFamily="34" charset="-122"/>
                <a:cs typeface="Cambria" pitchFamily="34" charset="-120"/>
              </a:rPr>
              <a:t>+5,9</a:t>
            </a:r>
            <a:endParaRPr lang="en-US" sz="1200" dirty="0"/>
          </a:p>
        </p:txBody>
      </p:sp>
      <p:sp>
        <p:nvSpPr>
          <p:cNvPr id="21" name="Shape 19"/>
          <p:cNvSpPr/>
          <p:nvPr/>
        </p:nvSpPr>
        <p:spPr>
          <a:xfrm>
            <a:off x="502920" y="333756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22" name="Text 20"/>
          <p:cNvSpPr/>
          <p:nvPr/>
        </p:nvSpPr>
        <p:spPr>
          <a:xfrm>
            <a:off x="704088" y="3337560"/>
            <a:ext cx="7735824" cy="1417320"/>
          </a:xfrm>
          <a:prstGeom prst="rect">
            <a:avLst/>
          </a:prstGeom>
          <a:noFill/>
          <a:ln/>
        </p:spPr>
        <p:txBody>
          <a:bodyPr wrap="square" lIns="0" tIns="0" rIns="0" bIns="0" rtlCol="0" anchor="ctr"/>
          <a:lstStyle/>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Bước trung gian phải có cấu trúc và có toạ độ - để là văn xuôi thì kết quả âm</a:t>
            </a:r>
            <a:endParaRPr lang="en-US" sz="1350" dirty="0"/>
          </a:p>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Đó là lý do dòng khai báo bắt buộc có ô toạ độ</a:t>
            </a:r>
            <a:endParaRPr lang="en-US" sz="1350" dirty="0"/>
          </a:p>
        </p:txBody>
      </p:sp>
      <p:sp>
        <p:nvSpPr>
          <p:cNvPr id="23" name="Text 21"/>
          <p:cNvSpPr/>
          <p:nvPr/>
        </p:nvSpPr>
        <p:spPr>
          <a:xfrm>
            <a:off x="502920" y="4892040"/>
            <a:ext cx="8138160" cy="457200"/>
          </a:xfrm>
          <a:prstGeom prst="rect">
            <a:avLst/>
          </a:prstGeom>
          <a:noFill/>
          <a:ln/>
        </p:spPr>
        <p:txBody>
          <a:bodyPr wrap="square" lIns="0" tIns="0" rIns="0" bIns="0" rtlCol="0" anchor="t"/>
          <a:lstStyle/>
          <a:p>
            <a:pPr algn="l" indent="0" marL="0">
              <a:buNone/>
            </a:pPr>
            <a:r>
              <a:rPr lang="en-US" sz="1300" i="1" dirty="0">
                <a:solidFill>
                  <a:srgbClr val="990000"/>
                </a:solidFill>
                <a:latin typeface="Cambria" pitchFamily="34" charset="0"/>
                <a:ea typeface="Cambria" pitchFamily="34" charset="-122"/>
                <a:cs typeface="Cambria" pitchFamily="34" charset="-120"/>
              </a:rPr>
              <a:t>Các bài trên: sinh trung gian để ra toạ độ - luận văn: để ra câu chữ cho người đọc</a:t>
            </a:r>
            <a:endParaRPr lang="en-US" sz="1300" dirty="0"/>
          </a:p>
        </p:txBody>
      </p:sp>
      <p:sp>
        <p:nvSpPr>
          <p:cNvPr id="25" name="Shape 22"/>
          <p:cNvSpPr/>
          <p:nvPr/>
        </p:nvSpPr>
        <p:spPr>
          <a:xfrm>
            <a:off x="0" y="6620256"/>
            <a:ext cx="2743200" cy="237744"/>
          </a:xfrm>
          <a:prstGeom prst="rect">
            <a:avLst/>
          </a:prstGeom>
          <a:solidFill>
            <a:srgbClr val="191132"/>
          </a:solidFill>
          <a:ln/>
        </p:spPr>
      </p:sp>
      <p:sp>
        <p:nvSpPr>
          <p:cNvPr id="26" name="Shape 23"/>
          <p:cNvSpPr/>
          <p:nvPr/>
        </p:nvSpPr>
        <p:spPr>
          <a:xfrm>
            <a:off x="2743200" y="6620256"/>
            <a:ext cx="338328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11/23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3.5.  Khâu 4:  ghép thành bộ dữ liệu</a:t>
            </a:r>
            <a:endParaRPr lang="en-US" sz="1900" dirty="0"/>
          </a:p>
        </p:txBody>
      </p:sp>
      <p:sp>
        <p:nvSpPr>
          <p:cNvPr id="4" name="Shape 2"/>
          <p:cNvSpPr/>
          <p:nvPr/>
        </p:nvSpPr>
        <p:spPr>
          <a:xfrm>
            <a:off x="502920" y="1005840"/>
            <a:ext cx="3977640" cy="2011680"/>
          </a:xfrm>
          <a:prstGeom prst="roundRect">
            <a:avLst>
              <a:gd name="adj" fmla="val 2727"/>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85800" y="1133856"/>
            <a:ext cx="3657600" cy="3200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ĐỀ BÀI  (đầu vào)</a:t>
            </a:r>
            <a:endParaRPr lang="en-US" sz="1250" dirty="0"/>
          </a:p>
        </p:txBody>
      </p:sp>
      <p:sp>
        <p:nvSpPr>
          <p:cNvPr id="6" name="Text 4"/>
          <p:cNvSpPr/>
          <p:nvPr/>
        </p:nvSpPr>
        <p:spPr>
          <a:xfrm>
            <a:off x="685800" y="1517904"/>
            <a:ext cx="3657600" cy="1371600"/>
          </a:xfrm>
          <a:prstGeom prst="rect">
            <a:avLst/>
          </a:prstGeom>
          <a:noFill/>
          <a:ln/>
        </p:spPr>
        <p:txBody>
          <a:bodyPr wrap="square" lIns="0" tIns="0" rIns="0" bIns="0" rtlCol="0" anchor="t"/>
          <a:lstStyle/>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ảnh sạch, không khoanh dấu</a:t>
            </a:r>
            <a:endParaRPr lang="en-US" sz="1300" dirty="0"/>
          </a:p>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mục tiêu của tác vụ</a:t>
            </a:r>
            <a:endParaRPr lang="en-US" sz="1300" dirty="0"/>
          </a:p>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danh sách chữ khâu 1 đọc ra</a:t>
            </a:r>
            <a:endParaRPr lang="en-US" sz="1300" dirty="0"/>
          </a:p>
        </p:txBody>
      </p:sp>
      <p:sp>
        <p:nvSpPr>
          <p:cNvPr id="7" name="Shape 5"/>
          <p:cNvSpPr/>
          <p:nvPr/>
        </p:nvSpPr>
        <p:spPr>
          <a:xfrm>
            <a:off x="4572000" y="2011680"/>
            <a:ext cx="365760" cy="0"/>
          </a:xfrm>
          <a:prstGeom prst="line">
            <a:avLst/>
          </a:prstGeom>
          <a:noFill/>
          <a:ln w="25400">
            <a:solidFill>
              <a:srgbClr val="4F417A"/>
            </a:solidFill>
            <a:prstDash val="solid"/>
            <a:tailEnd type="triangle"/>
          </a:ln>
        </p:spPr>
      </p:sp>
      <p:sp>
        <p:nvSpPr>
          <p:cNvPr id="8" name="Shape 6"/>
          <p:cNvSpPr/>
          <p:nvPr/>
        </p:nvSpPr>
        <p:spPr>
          <a:xfrm>
            <a:off x="5074920" y="1005840"/>
            <a:ext cx="3566160" cy="2011680"/>
          </a:xfrm>
          <a:prstGeom prst="roundRect">
            <a:avLst>
              <a:gd name="adj" fmla="val 2727"/>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5257800" y="1133856"/>
            <a:ext cx="3291840" cy="320040"/>
          </a:xfrm>
          <a:prstGeom prst="rect">
            <a:avLst/>
          </a:prstGeom>
          <a:noFill/>
          <a:ln/>
        </p:spPr>
        <p:txBody>
          <a:bodyPr wrap="square" lIns="0" tIns="0" rIns="0" bIns="0" rtlCol="0" anchor="t"/>
          <a:lstStyle/>
          <a:p>
            <a:pPr algn="l" indent="0" marL="0">
              <a:buNone/>
            </a:pPr>
            <a:r>
              <a:rPr lang="en-US" sz="1250" b="1" dirty="0">
                <a:solidFill>
                  <a:srgbClr val="B22222"/>
                </a:solidFill>
                <a:latin typeface="Cambria" pitchFamily="34" charset="0"/>
                <a:ea typeface="Cambria" pitchFamily="34" charset="-122"/>
                <a:cs typeface="Cambria" pitchFamily="34" charset="-120"/>
              </a:rPr>
              <a:t>ĐÁP ÁN MẪU  (phải học viết ra)</a:t>
            </a:r>
            <a:endParaRPr lang="en-US" sz="1250" dirty="0"/>
          </a:p>
        </p:txBody>
      </p:sp>
      <p:sp>
        <p:nvSpPr>
          <p:cNvPr id="10" name="Text 8"/>
          <p:cNvSpPr/>
          <p:nvPr/>
        </p:nvSpPr>
        <p:spPr>
          <a:xfrm>
            <a:off x="5257800" y="1517904"/>
            <a:ext cx="3291840" cy="914400"/>
          </a:xfrm>
          <a:prstGeom prst="rect">
            <a:avLst/>
          </a:prstGeom>
          <a:noFill/>
          <a:ln/>
        </p:spPr>
        <p:txBody>
          <a:bodyPr wrap="square" lIns="0" tIns="0" rIns="0" bIns="0" rtlCol="0" anchor="t"/>
          <a:lstStyle/>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dòng khai báo  (khâu 3)</a:t>
            </a:r>
            <a:endParaRPr lang="en-US" sz="1300" dirty="0"/>
          </a:p>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  câu viết lại  (khâu 2)</a:t>
            </a:r>
            <a:endParaRPr lang="en-US" sz="1300" dirty="0"/>
          </a:p>
        </p:txBody>
      </p:sp>
      <p:sp>
        <p:nvSpPr>
          <p:cNvPr id="11" name="Shape 9"/>
          <p:cNvSpPr/>
          <p:nvPr/>
        </p:nvSpPr>
        <p:spPr>
          <a:xfrm>
            <a:off x="502920" y="3429000"/>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12" name="Text 10"/>
          <p:cNvSpPr/>
          <p:nvPr/>
        </p:nvSpPr>
        <p:spPr>
          <a:xfrm>
            <a:off x="704088" y="3429000"/>
            <a:ext cx="7735824" cy="1371600"/>
          </a:xfrm>
          <a:prstGeom prst="rect">
            <a:avLst/>
          </a:prstGeom>
          <a:noFill/>
          <a:ln/>
        </p:spPr>
        <p:txBody>
          <a:bodyPr wrap="square" lIns="0" tIns="0" rIns="0" bIns="0" rtlCol="0" anchor="ctr"/>
          <a:lstStyle/>
          <a:p>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Chỉ ghép nhãn, chưa mô hình nào sinh gì</a:t>
            </a:r>
            <a:endParaRPr lang="en-US" sz="1450" dirty="0"/>
          </a:p>
          <a:p>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Dòng khai báo nằm bên đáp án - lúc chạy, mô hình phải tự viết ra</a:t>
            </a:r>
            <a:endParaRPr lang="en-US" sz="1450" dirty="0"/>
          </a:p>
        </p:txBody>
      </p:sp>
      <p:sp>
        <p:nvSpPr>
          <p:cNvPr id="14" name="Shape 11"/>
          <p:cNvSpPr/>
          <p:nvPr/>
        </p:nvSpPr>
        <p:spPr>
          <a:xfrm>
            <a:off x="0" y="6620256"/>
            <a:ext cx="2743200" cy="237744"/>
          </a:xfrm>
          <a:prstGeom prst="rect">
            <a:avLst/>
          </a:prstGeom>
          <a:solidFill>
            <a:srgbClr val="191132"/>
          </a:solidFill>
          <a:ln/>
        </p:spPr>
      </p:sp>
      <p:sp>
        <p:nvSpPr>
          <p:cNvPr id="15" name="Shape 12"/>
          <p:cNvSpPr/>
          <p:nvPr/>
        </p:nvSpPr>
        <p:spPr>
          <a:xfrm>
            <a:off x="2743200" y="6620256"/>
            <a:ext cx="3383280" cy="237744"/>
          </a:xfrm>
          <a:prstGeom prst="rect">
            <a:avLst/>
          </a:prstGeom>
          <a:solidFill>
            <a:srgbClr val="25194B"/>
          </a:solidFill>
          <a:ln/>
        </p:spPr>
      </p:sp>
      <p:sp>
        <p:nvSpPr>
          <p:cNvPr id="16" name="Shape 13"/>
          <p:cNvSpPr/>
          <p:nvPr/>
        </p:nvSpPr>
        <p:spPr>
          <a:xfrm>
            <a:off x="6126480" y="6620256"/>
            <a:ext cx="1737360" cy="237744"/>
          </a:xfrm>
          <a:prstGeom prst="rect">
            <a:avLst/>
          </a:prstGeom>
          <a:solidFill>
            <a:srgbClr val="4F417A"/>
          </a:solidFill>
          <a:ln/>
        </p:spPr>
      </p:sp>
      <p:sp>
        <p:nvSpPr>
          <p:cNvPr id="17" name="Shape 14"/>
          <p:cNvSpPr/>
          <p:nvPr/>
        </p:nvSpPr>
        <p:spPr>
          <a:xfrm>
            <a:off x="7863840" y="6620256"/>
            <a:ext cx="1280160" cy="237744"/>
          </a:xfrm>
          <a:prstGeom prst="rect">
            <a:avLst/>
          </a:prstGeom>
          <a:solidFill>
            <a:srgbClr val="7A7099"/>
          </a:solidFill>
          <a:ln/>
        </p:spPr>
      </p:sp>
      <p:sp>
        <p:nvSpPr>
          <p:cNvPr id="18"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9"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0"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12/23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3.6.  Một bước thật trong bộ dữ liệu, đi hết pipeline</a:t>
            </a:r>
            <a:endParaRPr lang="en-US" sz="1900" dirty="0"/>
          </a:p>
        </p:txBody>
      </p:sp>
      <p:sp>
        <p:nvSpPr>
          <p:cNvPr id="4" name="Shape 2"/>
          <p:cNvSpPr/>
          <p:nvPr/>
        </p:nvSpPr>
        <p:spPr>
          <a:xfrm>
            <a:off x="502920" y="914400"/>
            <a:ext cx="8138160" cy="1298448"/>
          </a:xfrm>
          <a:prstGeom prst="roundRect">
            <a:avLst>
              <a:gd name="adj" fmla="val 4225"/>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14400"/>
            <a:ext cx="7735824" cy="1298448"/>
          </a:xfrm>
          <a:prstGeom prst="rect">
            <a:avLst/>
          </a:prstGeom>
          <a:noFill/>
          <a:ln/>
        </p:spPr>
        <p:txBody>
          <a:bodyPr wrap="square" lIns="0" tIns="0" rIns="0" bIns="0" rtlCol="0" anchor="ctr"/>
          <a:lstStyle/>
          <a:p>
            <a:pPr algn="l" indent="0" marL="0">
              <a:lnSpc>
                <a:spcPct val="140000"/>
              </a:lnSpc>
              <a:buNone/>
            </a:pPr>
            <a:r>
              <a:rPr lang="en-US" sz="1350" b="1" dirty="0">
                <a:solidFill>
                  <a:srgbClr val="006666"/>
                </a:solidFill>
                <a:latin typeface="Cambria" pitchFamily="34" charset="0"/>
                <a:ea typeface="Cambria" pitchFamily="34" charset="-122"/>
                <a:cs typeface="Cambria" pitchFamily="34" charset="-120"/>
              </a:rPr>
              <a:t>Có sẵn trong dữ liệu
</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Tác vụ: tìm áo thun đen trong app Zalando</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Người dùng chạm điểm (499, 545) trên ảnh 1080 × 2400</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Câu người đó viết:  “Tap on the colour filter”</a:t>
            </a:r>
            <a:endParaRPr lang="en-US" sz="1350" dirty="0"/>
          </a:p>
        </p:txBody>
      </p:sp>
      <p:sp>
        <p:nvSpPr>
          <p:cNvPr id="6" name="Shape 4"/>
          <p:cNvSpPr/>
          <p:nvPr/>
        </p:nvSpPr>
        <p:spPr>
          <a:xfrm>
            <a:off x="502920" y="2350008"/>
            <a:ext cx="8138160" cy="1298448"/>
          </a:xfrm>
          <a:prstGeom prst="roundRect">
            <a:avLst>
              <a:gd name="adj" fmla="val 4225"/>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350008"/>
            <a:ext cx="7735824" cy="1298448"/>
          </a:xfrm>
          <a:prstGeom prst="rect">
            <a:avLst/>
          </a:prstGeom>
          <a:noFill/>
          <a:ln/>
        </p:spPr>
        <p:txBody>
          <a:bodyPr wrap="square" lIns="0" tIns="0" rIns="0" bIns="0" rtlCol="0" anchor="ctr"/>
          <a:lstStyle/>
          <a:p>
            <a:pPr algn="l" indent="0" marL="0">
              <a:lnSpc>
                <a:spcPct val="140000"/>
              </a:lnSpc>
              <a:buNone/>
            </a:pPr>
            <a:r>
              <a:rPr lang="en-US" sz="1350" b="1" dirty="0">
                <a:solidFill>
                  <a:srgbClr val="006666"/>
                </a:solidFill>
                <a:latin typeface="Cambria" pitchFamily="34" charset="0"/>
                <a:ea typeface="Cambria" pitchFamily="34" charset="-122"/>
                <a:cs typeface="Cambria" pitchFamily="34" charset="-120"/>
              </a:rPr>
              <a:t>Khâu 1-3 dựng thêm
</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Cây trợ năng: hộp nhỏ nhất chứa điểm chạm = [435,514] - [565,577]</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loại “chữ bấm được”, trên màn có 19 phần tử cùng loại</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OCR đọc chữ trong hộp:  “Colour”   (cây trợ năng không ghi tên)</a:t>
            </a:r>
            <a:endParaRPr lang="en-US" sz="1350" dirty="0"/>
          </a:p>
        </p:txBody>
      </p:sp>
      <p:sp>
        <p:nvSpPr>
          <p:cNvPr id="8" name="Shape 6"/>
          <p:cNvSpPr/>
          <p:nvPr/>
        </p:nvSpPr>
        <p:spPr>
          <a:xfrm>
            <a:off x="502920" y="3785616"/>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704088" y="3877056"/>
            <a:ext cx="2743200" cy="320040"/>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Nhãn dạy dựng ra</a:t>
            </a:r>
            <a:endParaRPr lang="en-US" sz="1300" dirty="0"/>
          </a:p>
        </p:txBody>
      </p:sp>
      <p:sp>
        <p:nvSpPr>
          <p:cNvPr id="10" name="Text 8"/>
          <p:cNvSpPr/>
          <p:nvPr/>
        </p:nvSpPr>
        <p:spPr>
          <a:xfrm>
            <a:off x="777240" y="4224528"/>
            <a:ext cx="7589520" cy="868680"/>
          </a:xfrm>
          <a:prstGeom prst="rect">
            <a:avLst/>
          </a:prstGeom>
          <a:noFill/>
          <a:ln/>
        </p:spPr>
        <p:txBody>
          <a:bodyPr wrap="square" lIns="0" tIns="0" rIns="0" bIns="0" rtlCol="0" anchor="t"/>
          <a:lstStyle/>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&lt;desc&gt;chữ bấm được | "Colour" | &lt;point&gt;499,545&lt;/point&gt;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      | 1 trong 19 phần tử cùng loại&lt;/desc&gt;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Tap on the colour filter</a:t>
            </a:r>
            <a:endParaRPr lang="en-US" sz="1150" dirty="0"/>
          </a:p>
        </p:txBody>
      </p:sp>
      <p:sp>
        <p:nvSpPr>
          <p:cNvPr id="11" name="Text 9"/>
          <p:cNvSpPr/>
          <p:nvPr/>
        </p:nvSpPr>
        <p:spPr>
          <a:xfrm>
            <a:off x="502920" y="5349240"/>
            <a:ext cx="8138160" cy="457200"/>
          </a:xfrm>
          <a:prstGeom prst="rect">
            <a:avLst/>
          </a:prstGeom>
          <a:noFill/>
          <a:ln/>
        </p:spPr>
        <p:txBody>
          <a:bodyPr wrap="square" lIns="0" tIns="0" rIns="0" bIns="0" rtlCol="0" anchor="t"/>
          <a:lstStyle/>
          <a:p>
            <a:pPr algn="l" indent="0" marL="0">
              <a:buNone/>
            </a:pPr>
            <a:r>
              <a:rPr lang="en-US" sz="1300" i="1" dirty="0">
                <a:solidFill>
                  <a:srgbClr val="990000"/>
                </a:solidFill>
                <a:latin typeface="Cambria" pitchFamily="34" charset="0"/>
                <a:ea typeface="Cambria" pitchFamily="34" charset="-122"/>
                <a:cs typeface="Cambria" pitchFamily="34" charset="-120"/>
              </a:rPr>
              <a:t>Toàn bộ dựng tự động - không dán nhãn tay</a:t>
            </a:r>
            <a:endParaRPr lang="en-US" sz="13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13/23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3.7.  Mức 2:  phạt thẳng vào công thức học khi câu mơ hồ</a:t>
            </a:r>
            <a:endParaRPr lang="en-US" sz="1900" dirty="0"/>
          </a:p>
        </p:txBody>
      </p:sp>
      <p:sp>
        <p:nvSpPr>
          <p:cNvPr id="4" name="Shape 2"/>
          <p:cNvSpPr/>
          <p:nvPr/>
        </p:nvSpPr>
        <p:spPr>
          <a:xfrm>
            <a:off x="502920" y="1005840"/>
            <a:ext cx="8138160" cy="1920240"/>
          </a:xfrm>
          <a:prstGeom prst="roundRect">
            <a:avLst>
              <a:gd name="adj" fmla="val 2857"/>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15568"/>
            <a:ext cx="7735824" cy="457200"/>
          </a:xfrm>
          <a:prstGeom prst="rect">
            <a:avLst/>
          </a:prstGeom>
          <a:noFill/>
          <a:ln/>
        </p:spPr>
        <p:txBody>
          <a:bodyPr wrap="square" lIns="0" tIns="0" rIns="0" bIns="0" rtlCol="0" anchor="t"/>
          <a:lstStyle/>
          <a:p>
            <a:pPr algn="l" indent="0" marL="0">
              <a:buNone/>
            </a:pPr>
            <a:r>
              <a:rPr lang="en-US" sz="1400" dirty="0">
                <a:solidFill>
                  <a:srgbClr val="1A1A1A"/>
                </a:solidFill>
                <a:latin typeface="Cambria" pitchFamily="34" charset="0"/>
                <a:ea typeface="Cambria" pitchFamily="34" charset="-122"/>
                <a:cs typeface="Cambria" pitchFamily="34" charset="-120"/>
              </a:rPr>
              <a:t>Màn có hai kính lúp giống hệt nhau - cần hướng dẫn bấm cái bên trái.</a:t>
            </a:r>
            <a:endParaRPr lang="en-US" sz="1400" dirty="0"/>
          </a:p>
        </p:txBody>
      </p:sp>
      <p:sp>
        <p:nvSpPr>
          <p:cNvPr id="6" name="Text 4"/>
          <p:cNvSpPr/>
          <p:nvPr/>
        </p:nvSpPr>
        <p:spPr>
          <a:xfrm>
            <a:off x="822960" y="1645920"/>
            <a:ext cx="3566160" cy="384048"/>
          </a:xfrm>
          <a:prstGeom prst="rect">
            <a:avLst/>
          </a:prstGeom>
          <a:noFill/>
          <a:ln/>
        </p:spPr>
        <p:txBody>
          <a:bodyPr wrap="square" lIns="0" tIns="0" rIns="0" bIns="0" rtlCol="0" anchor="t"/>
          <a:lstStyle/>
          <a:p>
            <a:pPr algn="l" indent="0" marL="0">
              <a:buNone/>
            </a:pPr>
            <a:endParaRPr lang="en-US" sz="1300" dirty="0"/>
          </a:p>
        </p:txBody>
      </p:sp>
      <p:sp>
        <p:nvSpPr>
          <p:cNvPr id="7" name="Text 5"/>
          <p:cNvSpPr/>
          <p:nvPr/>
        </p:nvSpPr>
        <p:spPr>
          <a:xfrm>
            <a:off x="4480560" y="1645920"/>
            <a:ext cx="1371600" cy="384048"/>
          </a:xfrm>
          <a:prstGeom prst="rect">
            <a:avLst/>
          </a:prstGeom>
          <a:noFill/>
          <a:ln/>
        </p:spPr>
        <p:txBody>
          <a:bodyPr wrap="square" lIns="0" tIns="0" rIns="0" bIns="0" rtlCol="0" anchor="t"/>
          <a:lstStyle/>
          <a:p>
            <a:pPr algn="ctr" indent="0" marL="0">
              <a:buNone/>
            </a:pPr>
            <a:r>
              <a:rPr lang="en-US" sz="1300" b="1" dirty="0">
                <a:solidFill>
                  <a:srgbClr val="322164"/>
                </a:solidFill>
                <a:latin typeface="Cambria" pitchFamily="34" charset="0"/>
                <a:ea typeface="Cambria" pitchFamily="34" charset="-122"/>
                <a:cs typeface="Cambria" pitchFamily="34" charset="-120"/>
              </a:rPr>
              <a:t>lúp trái</a:t>
            </a:r>
            <a:endParaRPr lang="en-US" sz="1300" dirty="0"/>
          </a:p>
        </p:txBody>
      </p:sp>
      <p:sp>
        <p:nvSpPr>
          <p:cNvPr id="8" name="Text 6"/>
          <p:cNvSpPr/>
          <p:nvPr/>
        </p:nvSpPr>
        <p:spPr>
          <a:xfrm>
            <a:off x="5943600" y="1645920"/>
            <a:ext cx="2651760" cy="384048"/>
          </a:xfrm>
          <a:prstGeom prst="rect">
            <a:avLst/>
          </a:prstGeom>
          <a:noFill/>
          <a:ln/>
        </p:spPr>
        <p:txBody>
          <a:bodyPr wrap="square" lIns="0" tIns="0" rIns="0" bIns="0" rtlCol="0" anchor="t"/>
          <a:lstStyle/>
          <a:p>
            <a:pPr algn="ctr" indent="0" marL="0">
              <a:buNone/>
            </a:pPr>
            <a:r>
              <a:rPr lang="en-US" sz="1300" b="1" dirty="0">
                <a:solidFill>
                  <a:srgbClr val="322164"/>
                </a:solidFill>
                <a:latin typeface="Cambria" pitchFamily="34" charset="0"/>
                <a:ea typeface="Cambria" pitchFamily="34" charset="-122"/>
                <a:cs typeface="Cambria" pitchFamily="34" charset="-120"/>
              </a:rPr>
              <a:t>lúp phải</a:t>
            </a:r>
            <a:endParaRPr lang="en-US" sz="1300" dirty="0"/>
          </a:p>
        </p:txBody>
      </p:sp>
      <p:sp>
        <p:nvSpPr>
          <p:cNvPr id="9" name="Text 7"/>
          <p:cNvSpPr/>
          <p:nvPr/>
        </p:nvSpPr>
        <p:spPr>
          <a:xfrm>
            <a:off x="822960" y="2048256"/>
            <a:ext cx="3566160" cy="384048"/>
          </a:xfrm>
          <a:prstGeom prst="rect">
            <a:avLst/>
          </a:prstGeom>
          <a:noFill/>
          <a:ln/>
        </p:spPr>
        <p:txBody>
          <a:bodyPr wrap="square" lIns="0" tIns="0" rIns="0" bIns="0" rtlCol="0" anchor="t"/>
          <a:lstStyle/>
          <a:p>
            <a:pPr algn="l" indent="0" marL="0">
              <a:buNone/>
            </a:pPr>
            <a:r>
              <a:rPr lang="en-US" sz="1300" i="1" dirty="0">
                <a:solidFill>
                  <a:srgbClr val="1A1A1A"/>
                </a:solidFill>
                <a:latin typeface="Cambria" pitchFamily="34" charset="0"/>
                <a:ea typeface="Cambria" pitchFamily="34" charset="-122"/>
                <a:cs typeface="Cambria" pitchFamily="34" charset="-120"/>
              </a:rPr>
              <a:t>“Tap the search icon”</a:t>
            </a:r>
            <a:endParaRPr lang="en-US" sz="1300" dirty="0"/>
          </a:p>
        </p:txBody>
      </p:sp>
      <p:sp>
        <p:nvSpPr>
          <p:cNvPr id="10" name="Text 8"/>
          <p:cNvSpPr/>
          <p:nvPr/>
        </p:nvSpPr>
        <p:spPr>
          <a:xfrm>
            <a:off x="4480560" y="2048256"/>
            <a:ext cx="1371600" cy="384048"/>
          </a:xfrm>
          <a:prstGeom prst="rect">
            <a:avLst/>
          </a:prstGeom>
          <a:noFill/>
          <a:ln/>
        </p:spPr>
        <p:txBody>
          <a:bodyPr wrap="square" lIns="0" tIns="0" rIns="0" bIns="0" rtlCol="0" anchor="t"/>
          <a:lstStyle/>
          <a:p>
            <a:pPr algn="ctr" indent="0" marL="0">
              <a:buNone/>
            </a:pPr>
            <a:r>
              <a:rPr lang="en-US" sz="1300" dirty="0">
                <a:solidFill>
                  <a:srgbClr val="1A1A1A"/>
                </a:solidFill>
                <a:latin typeface="Cambria" pitchFamily="34" charset="0"/>
                <a:ea typeface="Cambria" pitchFamily="34" charset="-122"/>
                <a:cs typeface="Cambria" pitchFamily="34" charset="-120"/>
              </a:rPr>
              <a:t>khớp</a:t>
            </a:r>
            <a:endParaRPr lang="en-US" sz="1300" dirty="0"/>
          </a:p>
        </p:txBody>
      </p:sp>
      <p:sp>
        <p:nvSpPr>
          <p:cNvPr id="11" name="Text 9"/>
          <p:cNvSpPr/>
          <p:nvPr/>
        </p:nvSpPr>
        <p:spPr>
          <a:xfrm>
            <a:off x="5943600" y="2048256"/>
            <a:ext cx="2651760" cy="384048"/>
          </a:xfrm>
          <a:prstGeom prst="rect">
            <a:avLst/>
          </a:prstGeom>
          <a:noFill/>
          <a:ln/>
        </p:spPr>
        <p:txBody>
          <a:bodyPr wrap="square" lIns="0" tIns="0" rIns="0" bIns="0" rtlCol="0" anchor="t"/>
          <a:lstStyle/>
          <a:p>
            <a:pPr algn="ctr" indent="0" marL="0">
              <a:buNone/>
            </a:pPr>
            <a:r>
              <a:rPr lang="en-US" sz="1300" dirty="0">
                <a:solidFill>
                  <a:srgbClr val="990000"/>
                </a:solidFill>
                <a:latin typeface="Cambria" pitchFamily="34" charset="0"/>
                <a:ea typeface="Cambria" pitchFamily="34" charset="-122"/>
                <a:cs typeface="Cambria" pitchFamily="34" charset="-120"/>
              </a:rPr>
              <a:t>cũng khớp  →  bị phạt</a:t>
            </a:r>
            <a:endParaRPr lang="en-US" sz="1300" dirty="0"/>
          </a:p>
        </p:txBody>
      </p:sp>
      <p:sp>
        <p:nvSpPr>
          <p:cNvPr id="12" name="Text 10"/>
          <p:cNvSpPr/>
          <p:nvPr/>
        </p:nvSpPr>
        <p:spPr>
          <a:xfrm>
            <a:off x="822960" y="2450592"/>
            <a:ext cx="3566160" cy="384048"/>
          </a:xfrm>
          <a:prstGeom prst="rect">
            <a:avLst/>
          </a:prstGeom>
          <a:noFill/>
          <a:ln/>
        </p:spPr>
        <p:txBody>
          <a:bodyPr wrap="square" lIns="0" tIns="0" rIns="0" bIns="0" rtlCol="0" anchor="t"/>
          <a:lstStyle/>
          <a:p>
            <a:pPr algn="l" indent="0" marL="0">
              <a:buNone/>
            </a:pPr>
            <a:r>
              <a:rPr lang="en-US" sz="1300" i="1" dirty="0">
                <a:solidFill>
                  <a:srgbClr val="1A1A1A"/>
                </a:solidFill>
                <a:latin typeface="Cambria" pitchFamily="34" charset="0"/>
                <a:ea typeface="Cambria" pitchFamily="34" charset="-122"/>
                <a:cs typeface="Cambria" pitchFamily="34" charset="-120"/>
              </a:rPr>
              <a:t>“... on the left, next to Contacts”</a:t>
            </a:r>
            <a:endParaRPr lang="en-US" sz="1300" dirty="0"/>
          </a:p>
        </p:txBody>
      </p:sp>
      <p:sp>
        <p:nvSpPr>
          <p:cNvPr id="13" name="Text 11"/>
          <p:cNvSpPr/>
          <p:nvPr/>
        </p:nvSpPr>
        <p:spPr>
          <a:xfrm>
            <a:off x="4480560" y="2450592"/>
            <a:ext cx="1371600" cy="384048"/>
          </a:xfrm>
          <a:prstGeom prst="rect">
            <a:avLst/>
          </a:prstGeom>
          <a:noFill/>
          <a:ln/>
        </p:spPr>
        <p:txBody>
          <a:bodyPr wrap="square" lIns="0" tIns="0" rIns="0" bIns="0" rtlCol="0" anchor="t"/>
          <a:lstStyle/>
          <a:p>
            <a:pPr algn="ctr" indent="0" marL="0">
              <a:buNone/>
            </a:pPr>
            <a:r>
              <a:rPr lang="en-US" sz="1300" dirty="0">
                <a:solidFill>
                  <a:srgbClr val="1A1A1A"/>
                </a:solidFill>
                <a:latin typeface="Cambria" pitchFamily="34" charset="0"/>
                <a:ea typeface="Cambria" pitchFamily="34" charset="-122"/>
                <a:cs typeface="Cambria" pitchFamily="34" charset="-120"/>
              </a:rPr>
              <a:t>khớp</a:t>
            </a:r>
            <a:endParaRPr lang="en-US" sz="1300" dirty="0"/>
          </a:p>
        </p:txBody>
      </p:sp>
      <p:sp>
        <p:nvSpPr>
          <p:cNvPr id="14" name="Text 12"/>
          <p:cNvSpPr/>
          <p:nvPr/>
        </p:nvSpPr>
        <p:spPr>
          <a:xfrm>
            <a:off x="5943600" y="2450592"/>
            <a:ext cx="2651760" cy="384048"/>
          </a:xfrm>
          <a:prstGeom prst="rect">
            <a:avLst/>
          </a:prstGeom>
          <a:noFill/>
          <a:ln/>
        </p:spPr>
        <p:txBody>
          <a:bodyPr wrap="square" lIns="0" tIns="0" rIns="0" bIns="0" rtlCol="0" anchor="t"/>
          <a:lstStyle/>
          <a:p>
            <a:pPr algn="ctr" indent="0" marL="0">
              <a:buNone/>
            </a:pPr>
            <a:r>
              <a:rPr lang="en-US" sz="1300" dirty="0">
                <a:solidFill>
                  <a:srgbClr val="1A1A1A"/>
                </a:solidFill>
                <a:latin typeface="Cambria" pitchFamily="34" charset="0"/>
                <a:ea typeface="Cambria" pitchFamily="34" charset="-122"/>
                <a:cs typeface="Cambria" pitchFamily="34" charset="-120"/>
              </a:rPr>
              <a:t>không khớp</a:t>
            </a:r>
            <a:endParaRPr lang="en-US" sz="1300" dirty="0"/>
          </a:p>
        </p:txBody>
      </p:sp>
      <p:sp>
        <p:nvSpPr>
          <p:cNvPr id="15" name="Shape 13"/>
          <p:cNvSpPr/>
          <p:nvPr/>
        </p:nvSpPr>
        <p:spPr>
          <a:xfrm>
            <a:off x="502920" y="324612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16" name="Text 14"/>
          <p:cNvSpPr/>
          <p:nvPr/>
        </p:nvSpPr>
        <p:spPr>
          <a:xfrm>
            <a:off x="704088" y="3246120"/>
            <a:ext cx="7735824" cy="1325880"/>
          </a:xfrm>
          <a:prstGeom prst="rect">
            <a:avLst/>
          </a:prstGeom>
          <a:noFill/>
          <a:ln/>
        </p:spPr>
        <p:txBody>
          <a:bodyPr wrap="square" lIns="0" tIns="0" rIns="0" bIns="0" rtlCol="0" anchor="ctr"/>
          <a:lstStyle/>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Dựng khai báo giả từ nút hàng xóm - câu phải khớp bên thật rõ hơn bên giả</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Khớp cả hai như nhau là mơ hồ, bị phạt.</a:t>
            </a:r>
            <a:endParaRPr lang="en-US" sz="1400" dirty="0"/>
          </a:p>
        </p:txBody>
      </p:sp>
      <p:sp>
        <p:nvSpPr>
          <p:cNvPr id="17" name="Text 15"/>
          <p:cNvSpPr/>
          <p:nvPr/>
        </p:nvSpPr>
        <p:spPr>
          <a:xfrm>
            <a:off x="502920" y="4800600"/>
            <a:ext cx="8138160" cy="548640"/>
          </a:xfrm>
          <a:prstGeom prst="rect">
            <a:avLst/>
          </a:prstGeom>
          <a:noFill/>
          <a:ln/>
        </p:spPr>
        <p:txBody>
          <a:bodyPr wrap="square" lIns="0" tIns="0" rIns="0" bIns="0" rtlCol="0" anchor="t"/>
          <a:lstStyle/>
          <a:p>
            <a:pPr algn="l" indent="0" marL="0">
              <a:lnSpc>
                <a:spcPct val="130000"/>
              </a:lnSpc>
              <a:buNone/>
            </a:pPr>
            <a:r>
              <a:rPr lang="en-US" sz="1250" i="1" dirty="0">
                <a:solidFill>
                  <a:srgbClr val="1A1A1A"/>
                </a:solidFill>
                <a:latin typeface="Cambria" pitchFamily="34" charset="0"/>
                <a:ea typeface="Cambria" pitchFamily="34" charset="-122"/>
                <a:cs typeface="Cambria" pitchFamily="34" charset="-120"/>
              </a:rPr>
              <a:t>Tiền lệ từ 2016 bên ảnh tự nhiên - miền giao diện chưa ai làm</a:t>
            </a:r>
            <a:endParaRPr lang="en-US" sz="1250" dirty="0"/>
          </a:p>
        </p:txBody>
      </p:sp>
      <p:sp>
        <p:nvSpPr>
          <p:cNvPr id="19" name="Shape 16"/>
          <p:cNvSpPr/>
          <p:nvPr/>
        </p:nvSpPr>
        <p:spPr>
          <a:xfrm>
            <a:off x="0" y="6620256"/>
            <a:ext cx="2743200" cy="237744"/>
          </a:xfrm>
          <a:prstGeom prst="rect">
            <a:avLst/>
          </a:prstGeom>
          <a:solidFill>
            <a:srgbClr val="191132"/>
          </a:solidFill>
          <a:ln/>
        </p:spPr>
      </p:sp>
      <p:sp>
        <p:nvSpPr>
          <p:cNvPr id="20" name="Shape 17"/>
          <p:cNvSpPr/>
          <p:nvPr/>
        </p:nvSpPr>
        <p:spPr>
          <a:xfrm>
            <a:off x="2743200" y="6620256"/>
            <a:ext cx="3383280" cy="237744"/>
          </a:xfrm>
          <a:prstGeom prst="rect">
            <a:avLst/>
          </a:prstGeom>
          <a:solidFill>
            <a:srgbClr val="25194B"/>
          </a:solidFill>
          <a:ln/>
        </p:spPr>
      </p:sp>
      <p:sp>
        <p:nvSpPr>
          <p:cNvPr id="21" name="Shape 18"/>
          <p:cNvSpPr/>
          <p:nvPr/>
        </p:nvSpPr>
        <p:spPr>
          <a:xfrm>
            <a:off x="6126480" y="6620256"/>
            <a:ext cx="1737360" cy="237744"/>
          </a:xfrm>
          <a:prstGeom prst="rect">
            <a:avLst/>
          </a:prstGeom>
          <a:solidFill>
            <a:srgbClr val="4F417A"/>
          </a:solidFill>
          <a:ln/>
        </p:spPr>
      </p:sp>
      <p:sp>
        <p:nvSpPr>
          <p:cNvPr id="22" name="Shape 19"/>
          <p:cNvSpPr/>
          <p:nvPr/>
        </p:nvSpPr>
        <p:spPr>
          <a:xfrm>
            <a:off x="7863840" y="6620256"/>
            <a:ext cx="1280160" cy="237744"/>
          </a:xfrm>
          <a:prstGeom prst="rect">
            <a:avLst/>
          </a:prstGeom>
          <a:solidFill>
            <a:srgbClr val="7A7099"/>
          </a:solidFill>
          <a:ln/>
        </p:spPr>
      </p:sp>
      <p:sp>
        <p:nvSpPr>
          <p:cNvPr id="23"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4"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5"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14/23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3.8.  Khâu 5 và 6:  huấn luyện, rồi chạy thật</a:t>
            </a:r>
            <a:endParaRPr lang="en-US" sz="1900" dirty="0"/>
          </a:p>
        </p:txBody>
      </p:sp>
      <p:sp>
        <p:nvSpPr>
          <p:cNvPr id="4" name="Shape 2"/>
          <p:cNvSpPr/>
          <p:nvPr/>
        </p:nvSpPr>
        <p:spPr>
          <a:xfrm>
            <a:off x="502920" y="100584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234440"/>
          </a:xfrm>
          <a:prstGeom prst="rect">
            <a:avLst/>
          </a:prstGeom>
          <a:noFill/>
          <a:ln/>
        </p:spPr>
        <p:txBody>
          <a:bodyPr wrap="square" lIns="0" tIns="0" rIns="0" bIns="0" rtlCol="0" anchor="ctr"/>
          <a:lstStyle/>
          <a:p>
            <a:pPr algn="l" indent="0" marL="0">
              <a:lnSpc>
                <a:spcPct val="140000"/>
              </a:lnSpc>
              <a:buNone/>
            </a:pPr>
            <a:r>
              <a:rPr lang="en-US" sz="1450" b="1" dirty="0">
                <a:solidFill>
                  <a:srgbClr val="006666"/>
                </a:solidFill>
                <a:latin typeface="Cambria" pitchFamily="34" charset="0"/>
                <a:ea typeface="Cambria" pitchFamily="34" charset="-122"/>
                <a:cs typeface="Cambria" pitchFamily="34" charset="-120"/>
              </a:rPr>
              <a:t>Huấn luyện.  </a:t>
            </a:r>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Qwen2.5-VL-3B (mô hình mở, 3 tỉ tham số) + QLoRA trên card thuê - mỗi lượt 13-16 đô.</a:t>
            </a:r>
            <a:endParaRPr lang="en-US" sz="1450" dirty="0"/>
          </a:p>
        </p:txBody>
      </p:sp>
      <p:sp>
        <p:nvSpPr>
          <p:cNvPr id="6" name="Shape 4"/>
          <p:cNvSpPr/>
          <p:nvPr/>
        </p:nvSpPr>
        <p:spPr>
          <a:xfrm>
            <a:off x="502920" y="2606040"/>
            <a:ext cx="8138160" cy="1188720"/>
          </a:xfrm>
          <a:prstGeom prst="roundRect">
            <a:avLst>
              <a:gd name="adj" fmla="val 4615"/>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685800" y="2606040"/>
            <a:ext cx="7772400" cy="1188720"/>
          </a:xfrm>
          <a:prstGeom prst="rect">
            <a:avLst/>
          </a:prstGeom>
          <a:noFill/>
          <a:ln/>
        </p:spPr>
        <p:txBody>
          <a:bodyPr wrap="square" lIns="0" tIns="0" rIns="0" bIns="0" rtlCol="0" anchor="ctr"/>
          <a:lstStyle/>
          <a:p>
            <a:pPr algn="ctr" indent="0" marL="0">
              <a:lnSpc>
                <a:spcPct val="140000"/>
              </a:lnSpc>
              <a:buNone/>
            </a:pPr>
            <a:r>
              <a:rPr lang="en-US" sz="1350" b="1" dirty="0">
                <a:solidFill>
                  <a:srgbClr val="322164"/>
                </a:solidFill>
                <a:latin typeface="Cambria" pitchFamily="34" charset="0"/>
                <a:ea typeface="Cambria" pitchFamily="34" charset="-122"/>
                <a:cs typeface="Cambria" pitchFamily="34" charset="-120"/>
              </a:rPr>
              <a:t>ảnh + câu hỏi  →  bộ đọc chữ  →  mô hình  →  [khai báo] + câu  →  cắt khai báo  →  người dùng</a:t>
            </a:r>
            <a:endParaRPr lang="en-US" sz="1350" dirty="0"/>
          </a:p>
        </p:txBody>
      </p:sp>
      <p:sp>
        <p:nvSpPr>
          <p:cNvPr id="8" name="Text 6"/>
          <p:cNvSpPr/>
          <p:nvPr/>
        </p:nvSpPr>
        <p:spPr>
          <a:xfrm>
            <a:off x="502920" y="4114800"/>
            <a:ext cx="8138160" cy="822960"/>
          </a:xfrm>
          <a:prstGeom prst="rect">
            <a:avLst/>
          </a:prstGeom>
          <a:noFill/>
          <a:ln/>
        </p:spPr>
        <p:txBody>
          <a:bodyPr wrap="square" lIns="0" tIns="0" rIns="0" bIns="0" rtlCol="0" anchor="t"/>
          <a:lstStyle/>
          <a:p>
            <a:pPr algn="l" indent="0" marL="0">
              <a:lnSpc>
                <a:spcPct val="140000"/>
              </a:lnSpc>
              <a:buNone/>
            </a:pPr>
            <a:r>
              <a:rPr lang="en-US" sz="1450" b="1" dirty="0">
                <a:solidFill>
                  <a:srgbClr val="1A1A1A"/>
                </a:solidFill>
                <a:latin typeface="Cambria" pitchFamily="34" charset="0"/>
                <a:ea typeface="Cambria" pitchFamily="34" charset="-122"/>
                <a:cs typeface="Cambria" pitchFamily="34" charset="-120"/>
              </a:rPr>
              <a:t>Trên máy người dùng chỉ có bộ đọc chữ và mô hình.  </a:t>
            </a:r>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Không cần mạng, không cần cây trợ năng.</a:t>
            </a:r>
            <a:endParaRPr lang="en-US" sz="1450" dirty="0"/>
          </a:p>
        </p:txBody>
      </p:sp>
      <p:sp>
        <p:nvSpPr>
          <p:cNvPr id="10" name="Shape 7"/>
          <p:cNvSpPr/>
          <p:nvPr/>
        </p:nvSpPr>
        <p:spPr>
          <a:xfrm>
            <a:off x="0" y="6620256"/>
            <a:ext cx="2743200" cy="237744"/>
          </a:xfrm>
          <a:prstGeom prst="rect">
            <a:avLst/>
          </a:prstGeom>
          <a:solidFill>
            <a:srgbClr val="191132"/>
          </a:solidFill>
          <a:ln/>
        </p:spPr>
      </p:sp>
      <p:sp>
        <p:nvSpPr>
          <p:cNvPr id="11" name="Shape 8"/>
          <p:cNvSpPr/>
          <p:nvPr/>
        </p:nvSpPr>
        <p:spPr>
          <a:xfrm>
            <a:off x="2743200" y="6620256"/>
            <a:ext cx="3383280" cy="237744"/>
          </a:xfrm>
          <a:prstGeom prst="rect">
            <a:avLst/>
          </a:prstGeom>
          <a:solidFill>
            <a:srgbClr val="25194B"/>
          </a:solidFill>
          <a:ln/>
        </p:spPr>
      </p:sp>
      <p:sp>
        <p:nvSpPr>
          <p:cNvPr id="12" name="Shape 9"/>
          <p:cNvSpPr/>
          <p:nvPr/>
        </p:nvSpPr>
        <p:spPr>
          <a:xfrm>
            <a:off x="6126480" y="6620256"/>
            <a:ext cx="1737360" cy="237744"/>
          </a:xfrm>
          <a:prstGeom prst="rect">
            <a:avLst/>
          </a:prstGeom>
          <a:solidFill>
            <a:srgbClr val="4F417A"/>
          </a:solidFill>
          <a:ln/>
        </p:spPr>
      </p:sp>
      <p:sp>
        <p:nvSpPr>
          <p:cNvPr id="13" name="Shape 10"/>
          <p:cNvSpPr/>
          <p:nvPr/>
        </p:nvSpPr>
        <p:spPr>
          <a:xfrm>
            <a:off x="7863840" y="6620256"/>
            <a:ext cx="1280160" cy="237744"/>
          </a:xfrm>
          <a:prstGeom prst="rect">
            <a:avLst/>
          </a:prstGeom>
          <a:solidFill>
            <a:srgbClr val="7A7099"/>
          </a:solidFill>
          <a:ln/>
        </p:spPr>
      </p:sp>
      <p:sp>
        <p:nvSpPr>
          <p:cNvPr id="14"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15/23</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4.1.  Cách chấm:  câu có đủ rõ để lần ra đúng nút không?</a:t>
            </a:r>
            <a:endParaRPr lang="en-US" sz="1900" dirty="0"/>
          </a:p>
        </p:txBody>
      </p:sp>
      <p:sp>
        <p:nvSpPr>
          <p:cNvPr id="4" name="Shape 2"/>
          <p:cNvSpPr/>
          <p:nvPr/>
        </p:nvSpPr>
        <p:spPr>
          <a:xfrm>
            <a:off x="502920" y="96012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60120"/>
            <a:ext cx="7735824" cy="1325880"/>
          </a:xfrm>
          <a:prstGeom prst="rect">
            <a:avLst/>
          </a:prstGeom>
          <a:noFill/>
          <a:ln/>
        </p:spPr>
        <p:txBody>
          <a:bodyPr wrap="square" lIns="0" tIns="0" rIns="0" bIns="0" rtlCol="0" anchor="ctr"/>
          <a:lstStyle/>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Đưa câu mô hình viết cho một bộ trỏ độc lập đọc rồi chỉ lên ảnh</a:t>
            </a:r>
            <a:endParaRPr lang="en-US" sz="1450" dirty="0"/>
          </a:p>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Trỏ đúng nút người thật đã chạm thì câu tính đúng</a:t>
            </a:r>
            <a:endParaRPr lang="en-US" sz="1450" dirty="0"/>
          </a:p>
        </p:txBody>
      </p:sp>
      <p:sp>
        <p:nvSpPr>
          <p:cNvPr id="6" name="Shape 4"/>
          <p:cNvSpPr/>
          <p:nvPr/>
        </p:nvSpPr>
        <p:spPr>
          <a:xfrm>
            <a:off x="502920" y="2606040"/>
            <a:ext cx="8138160" cy="1005840"/>
          </a:xfrm>
          <a:prstGeom prst="roundRect">
            <a:avLst>
              <a:gd name="adj" fmla="val 5455"/>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606040"/>
            <a:ext cx="7735824" cy="1005840"/>
          </a:xfrm>
          <a:prstGeom prst="rect">
            <a:avLst/>
          </a:prstGeom>
          <a:noFill/>
          <a:ln/>
        </p:spPr>
        <p:txBody>
          <a:bodyPr wrap="square" lIns="0" tIns="0" rIns="0" bIns="0" rtlCol="0" anchor="ctr"/>
          <a:lstStyle/>
          <a:p>
            <a:pPr algn="l" indent="0" marL="0">
              <a:buNone/>
            </a:pPr>
            <a:r>
              <a:rPr lang="en-US" sz="1500" b="1" dirty="0">
                <a:solidFill>
                  <a:srgbClr val="B22222"/>
                </a:solidFill>
                <a:latin typeface="Cambria" pitchFamily="34" charset="0"/>
                <a:ea typeface="Cambria" pitchFamily="34" charset="-122"/>
                <a:cs typeface="Cambria" pitchFamily="34" charset="-120"/>
              </a:rPr>
              <a:t>Barem:  </a:t>
            </a:r>
            <a:pPr algn="l" indent="0" marL="0">
              <a:buNone/>
            </a:pPr>
            <a:r>
              <a:rPr lang="en-US" sz="1500" dirty="0">
                <a:solidFill>
                  <a:srgbClr val="1A1A1A"/>
                </a:solidFill>
                <a:latin typeface="Cambria" pitchFamily="34" charset="0"/>
                <a:ea typeface="Cambria" pitchFamily="34" charset="-122"/>
                <a:cs typeface="Cambria" pitchFamily="34" charset="-120"/>
              </a:rPr>
              <a:t>toạ độ thật người dùng đã chạm, không phải mô hình tự cho điểm</a:t>
            </a:r>
            <a:endParaRPr lang="en-US" sz="1500" dirty="0"/>
          </a:p>
        </p:txBody>
      </p:sp>
      <p:sp>
        <p:nvSpPr>
          <p:cNvPr id="8" name="Text 6"/>
          <p:cNvSpPr/>
          <p:nvPr/>
        </p:nvSpPr>
        <p:spPr>
          <a:xfrm>
            <a:off x="502920" y="3977640"/>
            <a:ext cx="8138160" cy="731520"/>
          </a:xfrm>
          <a:prstGeom prst="rect">
            <a:avLst/>
          </a:prstGeom>
          <a:noFill/>
          <a:ln/>
        </p:spPr>
        <p:txBody>
          <a:bodyPr wrap="square" lIns="0" tIns="0" rIns="0" bIns="0" rtlCol="0" anchor="t"/>
          <a:lstStyle/>
          <a:p>
            <a:pPr algn="l" indent="0" marL="0">
              <a:lnSpc>
                <a:spcPct val="140000"/>
              </a:lnSpc>
              <a:buNone/>
            </a:pPr>
            <a:r>
              <a:rPr lang="en-US" sz="1300" i="1" dirty="0">
                <a:solidFill>
                  <a:srgbClr val="1A1A1A"/>
                </a:solidFill>
                <a:latin typeface="Cambria" pitchFamily="34" charset="0"/>
                <a:ea typeface="Cambria" pitchFamily="34" charset="-122"/>
                <a:cs typeface="Cambria" pitchFamily="34" charset="-120"/>
              </a:rPr>
              <a:t>Câu tốt = câu mà người chưa biết đáp án vẫn lần ra đúng nút</a:t>
            </a:r>
            <a:endParaRPr lang="en-US" sz="1300" dirty="0"/>
          </a:p>
          <a:p>
            <a:pPr algn="l" indent="0" marL="0">
              <a:lnSpc>
                <a:spcPct val="140000"/>
              </a:lnSpc>
              <a:buNone/>
            </a:pPr>
            <a:r>
              <a:rPr lang="en-US" sz="1300" i="1" dirty="0">
                <a:solidFill>
                  <a:srgbClr val="1A1A1A"/>
                </a:solidFill>
                <a:latin typeface="Cambria" pitchFamily="34" charset="0"/>
                <a:ea typeface="Cambria" pitchFamily="34" charset="-122"/>
                <a:cs typeface="Cambria" pitchFamily="34" charset="-120"/>
              </a:rPr>
              <a:t>Cách chấm của dòng referring expression, có từ 2016</a:t>
            </a:r>
            <a:endParaRPr lang="en-US" sz="1300" dirty="0"/>
          </a:p>
        </p:txBody>
      </p:sp>
      <p:sp>
        <p:nvSpPr>
          <p:cNvPr id="10" name="Shape 7"/>
          <p:cNvSpPr/>
          <p:nvPr/>
        </p:nvSpPr>
        <p:spPr>
          <a:xfrm>
            <a:off x="0" y="6620256"/>
            <a:ext cx="2743200" cy="237744"/>
          </a:xfrm>
          <a:prstGeom prst="rect">
            <a:avLst/>
          </a:prstGeom>
          <a:solidFill>
            <a:srgbClr val="191132"/>
          </a:solidFill>
          <a:ln/>
        </p:spPr>
      </p:sp>
      <p:sp>
        <p:nvSpPr>
          <p:cNvPr id="11" name="Shape 8"/>
          <p:cNvSpPr/>
          <p:nvPr/>
        </p:nvSpPr>
        <p:spPr>
          <a:xfrm>
            <a:off x="2743200" y="6620256"/>
            <a:ext cx="3383280" cy="237744"/>
          </a:xfrm>
          <a:prstGeom prst="rect">
            <a:avLst/>
          </a:prstGeom>
          <a:solidFill>
            <a:srgbClr val="25194B"/>
          </a:solidFill>
          <a:ln/>
        </p:spPr>
      </p:sp>
      <p:sp>
        <p:nvSpPr>
          <p:cNvPr id="12" name="Shape 9"/>
          <p:cNvSpPr/>
          <p:nvPr/>
        </p:nvSpPr>
        <p:spPr>
          <a:xfrm>
            <a:off x="6126480" y="6620256"/>
            <a:ext cx="1737360" cy="237744"/>
          </a:xfrm>
          <a:prstGeom prst="rect">
            <a:avLst/>
          </a:prstGeom>
          <a:solidFill>
            <a:srgbClr val="4F417A"/>
          </a:solidFill>
          <a:ln/>
        </p:spPr>
      </p:sp>
      <p:sp>
        <p:nvSpPr>
          <p:cNvPr id="13" name="Shape 10"/>
          <p:cNvSpPr/>
          <p:nvPr/>
        </p:nvSpPr>
        <p:spPr>
          <a:xfrm>
            <a:off x="7863840" y="6620256"/>
            <a:ext cx="1280160" cy="237744"/>
          </a:xfrm>
          <a:prstGeom prst="rect">
            <a:avLst/>
          </a:prstGeom>
          <a:solidFill>
            <a:srgbClr val="7A7099"/>
          </a:solidFill>
          <a:ln/>
        </p:spPr>
      </p:sp>
      <p:sp>
        <p:nvSpPr>
          <p:cNvPr id="14"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16/23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4.2.  Thước có đáng tin không?</a:t>
            </a:r>
            <a:endParaRPr lang="en-US" sz="1900" dirty="0"/>
          </a:p>
        </p:txBody>
      </p:sp>
      <p:sp>
        <p:nvSpPr>
          <p:cNvPr id="4" name="Shape 2"/>
          <p:cNvSpPr/>
          <p:nvPr/>
        </p:nvSpPr>
        <p:spPr>
          <a:xfrm>
            <a:off x="502920" y="1005840"/>
            <a:ext cx="8138160" cy="2148840"/>
          </a:xfrm>
          <a:prstGeom prst="roundRect">
            <a:avLst>
              <a:gd name="adj" fmla="val 2553"/>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15568"/>
            <a:ext cx="7735824" cy="731520"/>
          </a:xfrm>
          <a:prstGeom prst="rect">
            <a:avLst/>
          </a:prstGeom>
          <a:noFill/>
          <a:ln/>
        </p:spPr>
        <p:txBody>
          <a:bodyPr wrap="square" lIns="0" tIns="0" rIns="0" bIns="0" rtlCol="0" anchor="t"/>
          <a:lstStyle/>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Cấy lỗi biết trước vào câu, xem thước có bắt được không: đạt 8/10.</a:t>
            </a: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Hai tiêu chí chưa đạt:</a:t>
            </a:r>
            <a:endParaRPr lang="en-US" sz="1400" dirty="0"/>
          </a:p>
        </p:txBody>
      </p:sp>
      <p:sp>
        <p:nvSpPr>
          <p:cNvPr id="6" name="Text 4"/>
          <p:cNvSpPr/>
          <p:nvPr/>
        </p:nvSpPr>
        <p:spPr>
          <a:xfrm>
            <a:off x="822960" y="1920240"/>
            <a:ext cx="7498080" cy="822960"/>
          </a:xfrm>
          <a:prstGeom prst="rect">
            <a:avLst/>
          </a:prstGeom>
          <a:noFill/>
          <a:ln/>
        </p:spPr>
        <p:txBody>
          <a:bodyPr wrap="square" lIns="0" tIns="0" rIns="0" bIns="0" rtlCol="0" anchor="t"/>
          <a:lstStyle/>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  Bộ trỏ lệch 3% thì kết oan 2,6% số câu đúng; lệch 8% thì oan tới 42%</a:t>
            </a:r>
            <a:endParaRPr lang="en-US" sz="1350" dirty="0"/>
          </a:p>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    Nên tuần đầu phải kiểm: bộ trỏ đạt sai số quanh 3% mới dùng</a:t>
            </a:r>
            <a:endParaRPr lang="en-US" sz="1350" dirty="0"/>
          </a:p>
        </p:txBody>
      </p:sp>
      <p:sp>
        <p:nvSpPr>
          <p:cNvPr id="7" name="Text 5"/>
          <p:cNvSpPr/>
          <p:nvPr/>
        </p:nvSpPr>
        <p:spPr>
          <a:xfrm>
            <a:off x="822960" y="2743200"/>
            <a:ext cx="7498080" cy="41148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Luật bắt từ ngược nghĩa chỉ bắt được cặp có sẵn trong bảng</a:t>
            </a:r>
            <a:endParaRPr lang="en-US" sz="1350" dirty="0"/>
          </a:p>
        </p:txBody>
      </p:sp>
      <p:sp>
        <p:nvSpPr>
          <p:cNvPr id="8" name="Shape 6"/>
          <p:cNvSpPr/>
          <p:nvPr/>
        </p:nvSpPr>
        <p:spPr>
          <a:xfrm>
            <a:off x="502920" y="347472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704088" y="3474720"/>
            <a:ext cx="7735824" cy="1234440"/>
          </a:xfrm>
          <a:prstGeom prst="rect">
            <a:avLst/>
          </a:prstGeom>
          <a:noFill/>
          <a:ln/>
        </p:spPr>
        <p:txBody>
          <a:bodyPr wrap="square" lIns="0" tIns="0" rIns="0" bIns="0" rtlCol="0" anchor="ctr"/>
          <a:lstStyle/>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Kiểm chéo: chấm tay 100 câu (hai người) · cắt theo độ dài câu · báo hai cách chấm</a:t>
            </a:r>
            <a:endParaRPr lang="en-US" sz="140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17/23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5.1.  Các phiên bản đem so với nhau</a:t>
            </a:r>
            <a:endParaRPr lang="en-US" sz="1900" dirty="0"/>
          </a:p>
        </p:txBody>
      </p:sp>
      <p:sp>
        <p:nvSpPr>
          <p:cNvPr id="4" name="Shape 2"/>
          <p:cNvSpPr/>
          <p:nvPr/>
        </p:nvSpPr>
        <p:spPr>
          <a:xfrm>
            <a:off x="502920" y="1005840"/>
            <a:ext cx="8138160" cy="3246120"/>
          </a:xfrm>
          <a:prstGeom prst="roundRect">
            <a:avLst>
              <a:gd name="adj" fmla="val 169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15568"/>
            <a:ext cx="7735824" cy="502920"/>
          </a:xfrm>
          <a:prstGeom prst="rect">
            <a:avLst/>
          </a:prstGeom>
          <a:noFill/>
          <a:ln/>
        </p:spPr>
        <p:txBody>
          <a:bodyPr wrap="square" lIns="0" tIns="0" rIns="0" bIns="0" rtlCol="0" anchor="t"/>
          <a:lstStyle/>
          <a:p>
            <a:pPr algn="l" indent="0" marL="0">
              <a:lnSpc>
                <a:spcPct val="130000"/>
              </a:lnSpc>
              <a:buNone/>
            </a:pPr>
            <a:r>
              <a:rPr lang="en-US" sz="1350" dirty="0">
                <a:solidFill>
                  <a:srgbClr val="1A1A1A"/>
                </a:solidFill>
                <a:latin typeface="Cambria" pitchFamily="34" charset="0"/>
                <a:ea typeface="Cambria" pitchFamily="34" charset="-122"/>
                <a:cs typeface="Cambria" pitchFamily="34" charset="-120"/>
              </a:rPr>
              <a:t>Cùng dữ liệu, cùng mô hình gốc, chỉ khác một chỗ - khoá danh sách trước khi nhìn kết quả</a:t>
            </a:r>
            <a:endParaRPr lang="en-US" sz="1350" dirty="0"/>
          </a:p>
        </p:txBody>
      </p:sp>
      <p:sp>
        <p:nvSpPr>
          <p:cNvPr id="6" name="Text 4"/>
          <p:cNvSpPr/>
          <p:nvPr/>
        </p:nvSpPr>
        <p:spPr>
          <a:xfrm>
            <a:off x="777240" y="1700784"/>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Bản thường (S1)</a:t>
            </a:r>
            <a:endParaRPr lang="en-US" sz="1250" dirty="0"/>
          </a:p>
        </p:txBody>
      </p:sp>
      <p:sp>
        <p:nvSpPr>
          <p:cNvPr id="7" name="Text 5"/>
          <p:cNvSpPr/>
          <p:nvPr/>
        </p:nvSpPr>
        <p:spPr>
          <a:xfrm>
            <a:off x="3108960" y="1700784"/>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học viết thẳng ra câu - mốc so sánh</a:t>
            </a:r>
            <a:endParaRPr lang="en-US" sz="1250" dirty="0"/>
          </a:p>
        </p:txBody>
      </p:sp>
      <p:sp>
        <p:nvSpPr>
          <p:cNvPr id="8" name="Text 6"/>
          <p:cNvSpPr/>
          <p:nvPr/>
        </p:nvSpPr>
        <p:spPr>
          <a:xfrm>
            <a:off x="777240" y="2121408"/>
            <a:ext cx="2240280" cy="402336"/>
          </a:xfrm>
          <a:prstGeom prst="rect">
            <a:avLst/>
          </a:prstGeom>
          <a:noFill/>
          <a:ln/>
        </p:spPr>
        <p:txBody>
          <a:bodyPr wrap="square" lIns="0" tIns="0" rIns="0" bIns="0" rtlCol="0" anchor="t"/>
          <a:lstStyle/>
          <a:p>
            <a:pPr algn="l" indent="0" marL="0">
              <a:buNone/>
            </a:pPr>
            <a:r>
              <a:rPr lang="en-US" sz="1250" b="1" dirty="0">
                <a:solidFill>
                  <a:srgbClr val="B22222"/>
                </a:solidFill>
                <a:latin typeface="Cambria" pitchFamily="34" charset="0"/>
                <a:ea typeface="Cambria" pitchFamily="34" charset="-122"/>
                <a:cs typeface="Cambria" pitchFamily="34" charset="-120"/>
              </a:rPr>
              <a:t>Bản khai báo (S2)</a:t>
            </a:r>
            <a:endParaRPr lang="en-US" sz="1250" dirty="0"/>
          </a:p>
        </p:txBody>
      </p:sp>
      <p:sp>
        <p:nvSpPr>
          <p:cNvPr id="9" name="Text 7"/>
          <p:cNvSpPr/>
          <p:nvPr/>
        </p:nvSpPr>
        <p:spPr>
          <a:xfrm>
            <a:off x="3108960" y="2121408"/>
            <a:ext cx="5212080" cy="402336"/>
          </a:xfrm>
          <a:prstGeom prst="rect">
            <a:avLst/>
          </a:prstGeom>
          <a:noFill/>
          <a:ln/>
        </p:spPr>
        <p:txBody>
          <a:bodyPr wrap="square" lIns="0" tIns="0" rIns="0" bIns="0" rtlCol="0" anchor="t"/>
          <a:lstStyle/>
          <a:p>
            <a:pPr algn="l" indent="0" marL="0">
              <a:buNone/>
            </a:pPr>
            <a:r>
              <a:rPr lang="en-US" sz="1250" b="1" dirty="0">
                <a:solidFill>
                  <a:srgbClr val="1A1A1A"/>
                </a:solidFill>
                <a:latin typeface="Cambria" pitchFamily="34" charset="0"/>
                <a:ea typeface="Cambria" pitchFamily="34" charset="-122"/>
                <a:cs typeface="Cambria" pitchFamily="34" charset="-120"/>
              </a:rPr>
              <a:t>viết khai báo trước, rồi tới câu - câu hỏi chính</a:t>
            </a:r>
            <a:endParaRPr lang="en-US" sz="1250" dirty="0"/>
          </a:p>
        </p:txBody>
      </p:sp>
      <p:sp>
        <p:nvSpPr>
          <p:cNvPr id="10" name="Text 8"/>
          <p:cNvSpPr/>
          <p:nvPr/>
        </p:nvSpPr>
        <p:spPr>
          <a:xfrm>
            <a:off x="777240" y="2542032"/>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Khai báo giả (S2r)</a:t>
            </a:r>
            <a:endParaRPr lang="en-US" sz="1250" dirty="0"/>
          </a:p>
        </p:txBody>
      </p:sp>
      <p:sp>
        <p:nvSpPr>
          <p:cNvPr id="11" name="Text 9"/>
          <p:cNvSpPr/>
          <p:nvPr/>
        </p:nvSpPr>
        <p:spPr>
          <a:xfrm>
            <a:off x="3108960" y="2542032"/>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nội dung lấy từ màn khác, cùng độ dài - thắng nhờ dài thêm?</a:t>
            </a:r>
            <a:endParaRPr lang="en-US" sz="1250" dirty="0"/>
          </a:p>
        </p:txBody>
      </p:sp>
      <p:sp>
        <p:nvSpPr>
          <p:cNvPr id="12" name="Text 10"/>
          <p:cNvSpPr/>
          <p:nvPr/>
        </p:nvSpPr>
        <p:spPr>
          <a:xfrm>
            <a:off x="777240" y="2962656"/>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Bỏ toạ độ (S2-nopoint)</a:t>
            </a:r>
            <a:endParaRPr lang="en-US" sz="1250" dirty="0"/>
          </a:p>
        </p:txBody>
      </p:sp>
      <p:sp>
        <p:nvSpPr>
          <p:cNvPr id="13" name="Text 11"/>
          <p:cNvSpPr/>
          <p:nvPr/>
        </p:nvSpPr>
        <p:spPr>
          <a:xfrm>
            <a:off x="3108960" y="2962656"/>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khai báo thiếu ô toạ độ - tách phần công của toạ độ</a:t>
            </a:r>
            <a:endParaRPr lang="en-US" sz="1250" dirty="0"/>
          </a:p>
        </p:txBody>
      </p:sp>
      <p:sp>
        <p:nvSpPr>
          <p:cNvPr id="14" name="Text 12"/>
          <p:cNvSpPr/>
          <p:nvPr/>
        </p:nvSpPr>
        <p:spPr>
          <a:xfrm>
            <a:off x="777240" y="3383280"/>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Đưa sẵn lúc chạy (B-infer)</a:t>
            </a:r>
            <a:endParaRPr lang="en-US" sz="1250" dirty="0"/>
          </a:p>
        </p:txBody>
      </p:sp>
      <p:sp>
        <p:nvSpPr>
          <p:cNvPr id="15" name="Text 13"/>
          <p:cNvSpPr/>
          <p:nvPr/>
        </p:nvSpPr>
        <p:spPr>
          <a:xfrm>
            <a:off x="3108960" y="3383280"/>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không huấn luyện, chỉ đưa mô tả vào đầu vào lúc chạy</a:t>
            </a:r>
            <a:endParaRPr lang="en-US" sz="1250" dirty="0"/>
          </a:p>
        </p:txBody>
      </p:sp>
      <p:sp>
        <p:nvSpPr>
          <p:cNvPr id="16" name="Text 14"/>
          <p:cNvSpPr/>
          <p:nvPr/>
        </p:nvSpPr>
        <p:spPr>
          <a:xfrm>
            <a:off x="777240" y="3803904"/>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Thử mức 2 (S3-pilot)</a:t>
            </a:r>
            <a:endParaRPr lang="en-US" sz="1250" dirty="0"/>
          </a:p>
        </p:txBody>
      </p:sp>
      <p:sp>
        <p:nvSpPr>
          <p:cNvPr id="17" name="Text 15"/>
          <p:cNvSpPr/>
          <p:nvPr/>
        </p:nvSpPr>
        <p:spPr>
          <a:xfrm>
            <a:off x="3108960" y="3803904"/>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thử khoản phạt câu mơ hồ trên lát dữ liệu nhỏ</a:t>
            </a:r>
            <a:endParaRPr lang="en-US" sz="1250" dirty="0"/>
          </a:p>
        </p:txBody>
      </p:sp>
      <p:sp>
        <p:nvSpPr>
          <p:cNvPr id="18" name="Text 16"/>
          <p:cNvSpPr/>
          <p:nvPr/>
        </p:nvSpPr>
        <p:spPr>
          <a:xfrm>
            <a:off x="502920" y="4434840"/>
            <a:ext cx="8138160" cy="457200"/>
          </a:xfrm>
          <a:prstGeom prst="rect">
            <a:avLst/>
          </a:prstGeom>
          <a:noFill/>
          <a:ln/>
        </p:spPr>
        <p:txBody>
          <a:bodyPr wrap="square" lIns="0" tIns="0" rIns="0" bIns="0" rtlCol="0" anchor="t"/>
          <a:lstStyle/>
          <a:p>
            <a:pPr algn="l" indent="0" marL="0">
              <a:buNone/>
            </a:pPr>
            <a:r>
              <a:rPr lang="en-US" sz="1300" dirty="0">
                <a:solidFill>
                  <a:srgbClr val="1A1A1A"/>
                </a:solidFill>
                <a:latin typeface="Cambria" pitchFamily="34" charset="0"/>
                <a:ea typeface="Cambria" pitchFamily="34" charset="-122"/>
                <a:cs typeface="Cambria" pitchFamily="34" charset="-120"/>
              </a:rPr>
              <a:t>Kèm ba lớp phân tích: cắt theo độ dài câu · theo độ dễ nhầm của màn · chấm tay 100 câu</a:t>
            </a:r>
            <a:endParaRPr lang="en-US" sz="1300" dirty="0"/>
          </a:p>
        </p:txBody>
      </p:sp>
      <p:sp>
        <p:nvSpPr>
          <p:cNvPr id="20" name="Shape 17"/>
          <p:cNvSpPr/>
          <p:nvPr/>
        </p:nvSpPr>
        <p:spPr>
          <a:xfrm>
            <a:off x="0" y="6620256"/>
            <a:ext cx="2743200" cy="237744"/>
          </a:xfrm>
          <a:prstGeom prst="rect">
            <a:avLst/>
          </a:prstGeom>
          <a:solidFill>
            <a:srgbClr val="191132"/>
          </a:solidFill>
          <a:ln/>
        </p:spPr>
      </p:sp>
      <p:sp>
        <p:nvSpPr>
          <p:cNvPr id="21" name="Shape 18"/>
          <p:cNvSpPr/>
          <p:nvPr/>
        </p:nvSpPr>
        <p:spPr>
          <a:xfrm>
            <a:off x="2743200" y="6620256"/>
            <a:ext cx="3383280" cy="237744"/>
          </a:xfrm>
          <a:prstGeom prst="rect">
            <a:avLst/>
          </a:prstGeom>
          <a:solidFill>
            <a:srgbClr val="25194B"/>
          </a:solidFill>
          <a:ln/>
        </p:spPr>
      </p:sp>
      <p:sp>
        <p:nvSpPr>
          <p:cNvPr id="22" name="Shape 19"/>
          <p:cNvSpPr/>
          <p:nvPr/>
        </p:nvSpPr>
        <p:spPr>
          <a:xfrm>
            <a:off x="6126480" y="6620256"/>
            <a:ext cx="1737360" cy="237744"/>
          </a:xfrm>
          <a:prstGeom prst="rect">
            <a:avLst/>
          </a:prstGeom>
          <a:solidFill>
            <a:srgbClr val="4F417A"/>
          </a:solidFill>
          <a:ln/>
        </p:spPr>
      </p:sp>
      <p:sp>
        <p:nvSpPr>
          <p:cNvPr id="23" name="Shape 20"/>
          <p:cNvSpPr/>
          <p:nvPr/>
        </p:nvSpPr>
        <p:spPr>
          <a:xfrm>
            <a:off x="7863840" y="6620256"/>
            <a:ext cx="1280160" cy="237744"/>
          </a:xfrm>
          <a:prstGeom prst="rect">
            <a:avLst/>
          </a:prstGeom>
          <a:solidFill>
            <a:srgbClr val="7A7099"/>
          </a:solidFill>
          <a:ln/>
        </p:spPr>
      </p:sp>
      <p:sp>
        <p:nvSpPr>
          <p:cNvPr id="24"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5"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6"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7"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18/23</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5.2.  Vì sao kết quả sẽ đọc được</a:t>
            </a:r>
            <a:endParaRPr lang="en-US" sz="1900" dirty="0"/>
          </a:p>
        </p:txBody>
      </p:sp>
      <p:sp>
        <p:nvSpPr>
          <p:cNvPr id="4" name="Shape 2"/>
          <p:cNvSpPr/>
          <p:nvPr/>
        </p:nvSpPr>
        <p:spPr>
          <a:xfrm>
            <a:off x="502920" y="100584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417320"/>
          </a:xfrm>
          <a:prstGeom prst="rect">
            <a:avLst/>
          </a:prstGeom>
          <a:noFill/>
          <a:ln/>
        </p:spPr>
        <p:txBody>
          <a:bodyPr wrap="square" lIns="0" tIns="0" rIns="0" bIns="0" rtlCol="0" anchor="ctr"/>
          <a:lstStyle/>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Rủi ro: can thiệp có tác dụng thật mà phép đo không thấy</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MDE = mức chênh nhỏ nhất còn phân biệt được với may rủi</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Tác dụng kỳ vọng 3-8 điểm, nên chấm đủ 2.000 bước để MDE về 4-7</a:t>
            </a:r>
            <a:endParaRPr lang="en-US" sz="1400" dirty="0"/>
          </a:p>
        </p:txBody>
      </p:sp>
      <p:sp>
        <p:nvSpPr>
          <p:cNvPr id="6" name="Shape 4"/>
          <p:cNvSpPr/>
          <p:nvPr/>
        </p:nvSpPr>
        <p:spPr>
          <a:xfrm>
            <a:off x="502920" y="2743200"/>
            <a:ext cx="8138160" cy="1005840"/>
          </a:xfrm>
          <a:prstGeom prst="roundRect">
            <a:avLst>
              <a:gd name="adj" fmla="val 5455"/>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743200"/>
            <a:ext cx="7735824" cy="1005840"/>
          </a:xfrm>
          <a:prstGeom prst="rect">
            <a:avLst/>
          </a:prstGeom>
          <a:noFill/>
          <a:ln/>
        </p:spPr>
        <p:txBody>
          <a:bodyPr wrap="square" lIns="0" tIns="0" rIns="0" bIns="0" rtlCol="0" anchor="ctr"/>
          <a:lstStyle/>
          <a:p>
            <a:pPr algn="l" indent="0" marL="0">
              <a:lnSpc>
                <a:spcPct val="140000"/>
              </a:lnSpc>
              <a:buNone/>
            </a:pPr>
            <a:r>
              <a:rPr lang="en-US" sz="1350" b="1" dirty="0">
                <a:solidFill>
                  <a:srgbClr val="322164"/>
                </a:solidFill>
                <a:latin typeface="Cambria" pitchFamily="34" charset="0"/>
                <a:ea typeface="Cambria" pitchFamily="34" charset="-122"/>
                <a:cs typeface="Cambria" pitchFamily="34" charset="-120"/>
              </a:rPr>
              <a:t>Trình tự cứng:  huấn luyện Bản thường (S1) trước → chấm đủ → đo MDE thật → khoá ngưỡng → mới huấn luyện Bản khai báo (S2).</a:t>
            </a:r>
            <a:endParaRPr lang="en-US" sz="1350" dirty="0"/>
          </a:p>
        </p:txBody>
      </p:sp>
      <p:sp>
        <p:nvSpPr>
          <p:cNvPr id="8" name="Text 6"/>
          <p:cNvSpPr/>
          <p:nvPr/>
        </p:nvSpPr>
        <p:spPr>
          <a:xfrm>
            <a:off x="502920" y="4023360"/>
            <a:ext cx="8138160" cy="822960"/>
          </a:xfrm>
          <a:prstGeom prst="rect">
            <a:avLst/>
          </a:prstGeom>
          <a:noFill/>
          <a:ln/>
        </p:spPr>
        <p:txBody>
          <a:bodyPr wrap="square" lIns="0" tIns="0" rIns="0" bIns="0" rtlCol="0" anchor="t"/>
          <a:lstStyle/>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Hai lớp chống nhiễu: mỗi bản huấn luyện 2-3 lần với hạt giống khác nhau</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Gom bước theo ứng dụng khi tính khoảng tin cậy</a:t>
            </a:r>
            <a:endParaRPr lang="en-US" sz="1350" dirty="0"/>
          </a:p>
        </p:txBody>
      </p:sp>
      <p:sp>
        <p:nvSpPr>
          <p:cNvPr id="10" name="Shape 7"/>
          <p:cNvSpPr/>
          <p:nvPr/>
        </p:nvSpPr>
        <p:spPr>
          <a:xfrm>
            <a:off x="0" y="6620256"/>
            <a:ext cx="2743200" cy="237744"/>
          </a:xfrm>
          <a:prstGeom prst="rect">
            <a:avLst/>
          </a:prstGeom>
          <a:solidFill>
            <a:srgbClr val="191132"/>
          </a:solidFill>
          <a:ln/>
        </p:spPr>
      </p:sp>
      <p:sp>
        <p:nvSpPr>
          <p:cNvPr id="11" name="Shape 8"/>
          <p:cNvSpPr/>
          <p:nvPr/>
        </p:nvSpPr>
        <p:spPr>
          <a:xfrm>
            <a:off x="2743200" y="6620256"/>
            <a:ext cx="3383280" cy="237744"/>
          </a:xfrm>
          <a:prstGeom prst="rect">
            <a:avLst/>
          </a:prstGeom>
          <a:solidFill>
            <a:srgbClr val="25194B"/>
          </a:solidFill>
          <a:ln/>
        </p:spPr>
      </p:sp>
      <p:sp>
        <p:nvSpPr>
          <p:cNvPr id="12" name="Shape 9"/>
          <p:cNvSpPr/>
          <p:nvPr/>
        </p:nvSpPr>
        <p:spPr>
          <a:xfrm>
            <a:off x="6126480" y="6620256"/>
            <a:ext cx="1737360" cy="237744"/>
          </a:xfrm>
          <a:prstGeom prst="rect">
            <a:avLst/>
          </a:prstGeom>
          <a:solidFill>
            <a:srgbClr val="4F417A"/>
          </a:solidFill>
          <a:ln/>
        </p:spPr>
      </p:sp>
      <p:sp>
        <p:nvSpPr>
          <p:cNvPr id="13" name="Shape 10"/>
          <p:cNvSpPr/>
          <p:nvPr/>
        </p:nvSpPr>
        <p:spPr>
          <a:xfrm>
            <a:off x="7863840" y="6620256"/>
            <a:ext cx="1280160" cy="237744"/>
          </a:xfrm>
          <a:prstGeom prst="rect">
            <a:avLst/>
          </a:prstGeom>
          <a:solidFill>
            <a:srgbClr val="7A7099"/>
          </a:solidFill>
          <a:ln/>
        </p:spPr>
      </p:sp>
      <p:sp>
        <p:nvSpPr>
          <p:cNvPr id="14"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19/23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6.1.  Kế hoạch và chi phí</a:t>
            </a:r>
            <a:endParaRPr lang="en-US" sz="1900" dirty="0"/>
          </a:p>
        </p:txBody>
      </p:sp>
      <p:sp>
        <p:nvSpPr>
          <p:cNvPr id="4" name="Shape 2"/>
          <p:cNvSpPr/>
          <p:nvPr/>
        </p:nvSpPr>
        <p:spPr>
          <a:xfrm>
            <a:off x="502920" y="1005840"/>
            <a:ext cx="8138160" cy="1600200"/>
          </a:xfrm>
          <a:prstGeom prst="roundRect">
            <a:avLst>
              <a:gd name="adj" fmla="val 3429"/>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600200"/>
          </a:xfrm>
          <a:prstGeom prst="rect">
            <a:avLst/>
          </a:prstGeom>
          <a:noFill/>
          <a:ln/>
        </p:spPr>
        <p:txBody>
          <a:bodyPr wrap="square" lIns="0" tIns="0" rIns="0" bIns="0" rtlCol="0" anchor="ctr"/>
          <a:lstStyle/>
          <a:p>
            <a:pPr algn="l" indent="0" marL="0">
              <a:lnSpc>
                <a:spcPct val="160000"/>
              </a:lnSpc>
              <a:buNone/>
            </a:pPr>
            <a:r>
              <a:rPr lang="en-US" sz="1400" dirty="0">
                <a:solidFill>
                  <a:srgbClr val="1A1A1A"/>
                </a:solidFill>
                <a:latin typeface="Cambria" pitchFamily="34" charset="0"/>
                <a:ea typeface="Cambria" pitchFamily="34" charset="-122"/>
                <a:cs typeface="Cambria" pitchFamily="34" charset="-120"/>
              </a:rPr>
              <a:t>Đăng ký trước  →  kiểm bộ trỏ  →  Bản thường, 2 hạt giống + đo MDE thật</a:t>
            </a:r>
            <a:endParaRPr lang="en-US" sz="1400" dirty="0"/>
          </a:p>
          <a:p>
            <a:pPr algn="l" indent="0" marL="0">
              <a:lnSpc>
                <a:spcPct val="160000"/>
              </a:lnSpc>
              <a:buNone/>
            </a:pPr>
            <a:r>
              <a:rPr lang="en-US" sz="1400" dirty="0">
                <a:solidFill>
                  <a:srgbClr val="1A1A1A"/>
                </a:solidFill>
                <a:latin typeface="Cambria" pitchFamily="34" charset="0"/>
                <a:ea typeface="Cambria" pitchFamily="34" charset="-122"/>
                <a:cs typeface="Cambria" pitchFamily="34" charset="-120"/>
              </a:rPr>
              <a:t>→  khoá ngưỡng  →  Bản khai báo  →  các nhánh đối chứng</a:t>
            </a:r>
            <a:endParaRPr lang="en-US" sz="1400" dirty="0"/>
          </a:p>
          <a:p>
            <a:pPr algn="l" indent="0" marL="0">
              <a:lnSpc>
                <a:spcPct val="160000"/>
              </a:lnSpc>
              <a:buNone/>
            </a:pPr>
            <a:r>
              <a:rPr lang="en-US" sz="1400" dirty="0">
                <a:solidFill>
                  <a:srgbClr val="1A1A1A"/>
                </a:solidFill>
                <a:latin typeface="Cambria" pitchFamily="34" charset="0"/>
                <a:ea typeface="Cambria" pitchFamily="34" charset="-122"/>
                <a:cs typeface="Cambria" pitchFamily="34" charset="-120"/>
              </a:rPr>
              <a:t>→  thử mức 2  →  chấm tay + demo tiếng Việt</a:t>
            </a:r>
            <a:endParaRPr lang="en-US" sz="1400" dirty="0"/>
          </a:p>
        </p:txBody>
      </p:sp>
      <p:sp>
        <p:nvSpPr>
          <p:cNvPr id="6" name="Shape 4"/>
          <p:cNvSpPr/>
          <p:nvPr/>
        </p:nvSpPr>
        <p:spPr>
          <a:xfrm>
            <a:off x="502920" y="2926080"/>
            <a:ext cx="813816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926080"/>
            <a:ext cx="7735824" cy="868680"/>
          </a:xfrm>
          <a:prstGeom prst="rect">
            <a:avLst/>
          </a:prstGeom>
          <a:noFill/>
          <a:ln/>
        </p:spPr>
        <p:txBody>
          <a:bodyPr wrap="square" lIns="0" tIns="0" rIns="0" bIns="0" rtlCol="0" anchor="ctr"/>
          <a:lstStyle/>
          <a:p>
            <a:pPr algn="l" indent="0" marL="0">
              <a:buNone/>
            </a:pPr>
            <a:r>
              <a:rPr lang="en-US" sz="1400" b="1" dirty="0">
                <a:solidFill>
                  <a:srgbClr val="006666"/>
                </a:solidFill>
                <a:latin typeface="Cambria" pitchFamily="34" charset="0"/>
                <a:ea typeface="Cambria" pitchFamily="34" charset="-122"/>
                <a:cs typeface="Cambria" pitchFamily="34" charset="-120"/>
              </a:rPr>
              <a:t>Chi phí:  </a:t>
            </a:r>
            <a:pPr algn="l" indent="0" marL="0">
              <a:buNone/>
            </a:pPr>
            <a:r>
              <a:rPr lang="en-US" sz="1400" dirty="0">
                <a:solidFill>
                  <a:srgbClr val="1A1A1A"/>
                </a:solidFill>
                <a:latin typeface="Cambria" pitchFamily="34" charset="0"/>
                <a:ea typeface="Cambria" pitchFamily="34" charset="-122"/>
                <a:cs typeface="Cambria" pitchFamily="34" charset="-120"/>
              </a:rPr>
              <a:t>85-112 đô phần chắc chắn, tối đa 123-162 đô - dưới ngân sách 200.</a:t>
            </a:r>
            <a:endParaRPr lang="en-US" sz="1400" dirty="0"/>
          </a:p>
        </p:txBody>
      </p:sp>
      <p:sp>
        <p:nvSpPr>
          <p:cNvPr id="8" name="Text 6"/>
          <p:cNvSpPr/>
          <p:nvPr/>
        </p:nvSpPr>
        <p:spPr>
          <a:xfrm>
            <a:off x="502920" y="4023360"/>
            <a:ext cx="8138160" cy="914400"/>
          </a:xfrm>
          <a:prstGeom prst="rect">
            <a:avLst/>
          </a:prstGeom>
          <a:noFill/>
          <a:ln/>
        </p:spPr>
        <p:txBody>
          <a:bodyPr wrap="square" lIns="0" tIns="0" rIns="0" bIns="0" rtlCol="0" anchor="t"/>
          <a:lstStyle/>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Ba chốt chặn ghi sẵn tiêu chí:</a:t>
            </a:r>
            <a:endParaRPr lang="en-US" sz="1350" dirty="0"/>
          </a:p>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sau Bản thường - còn chỗ chứng minh không</a:t>
            </a:r>
            <a:endParaRPr lang="en-US" sz="1350" dirty="0"/>
          </a:p>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sau đối chứng - chênh rõ mới chạy tiếp</a:t>
            </a:r>
            <a:endParaRPr lang="en-US" sz="1350" dirty="0"/>
          </a:p>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trước chương kết quả - đóng băng mọi con số</a:t>
            </a:r>
            <a:endParaRPr lang="en-US" sz="1350" dirty="0"/>
          </a:p>
        </p:txBody>
      </p:sp>
      <p:sp>
        <p:nvSpPr>
          <p:cNvPr id="10" name="Shape 7"/>
          <p:cNvSpPr/>
          <p:nvPr/>
        </p:nvSpPr>
        <p:spPr>
          <a:xfrm>
            <a:off x="0" y="6620256"/>
            <a:ext cx="2743200" cy="237744"/>
          </a:xfrm>
          <a:prstGeom prst="rect">
            <a:avLst/>
          </a:prstGeom>
          <a:solidFill>
            <a:srgbClr val="191132"/>
          </a:solidFill>
          <a:ln/>
        </p:spPr>
      </p:sp>
      <p:sp>
        <p:nvSpPr>
          <p:cNvPr id="11" name="Shape 8"/>
          <p:cNvSpPr/>
          <p:nvPr/>
        </p:nvSpPr>
        <p:spPr>
          <a:xfrm>
            <a:off x="2743200" y="6620256"/>
            <a:ext cx="3383280" cy="237744"/>
          </a:xfrm>
          <a:prstGeom prst="rect">
            <a:avLst/>
          </a:prstGeom>
          <a:solidFill>
            <a:srgbClr val="25194B"/>
          </a:solidFill>
          <a:ln/>
        </p:spPr>
      </p:sp>
      <p:sp>
        <p:nvSpPr>
          <p:cNvPr id="12" name="Shape 9"/>
          <p:cNvSpPr/>
          <p:nvPr/>
        </p:nvSpPr>
        <p:spPr>
          <a:xfrm>
            <a:off x="6126480" y="6620256"/>
            <a:ext cx="1737360" cy="237744"/>
          </a:xfrm>
          <a:prstGeom prst="rect">
            <a:avLst/>
          </a:prstGeom>
          <a:solidFill>
            <a:srgbClr val="4F417A"/>
          </a:solidFill>
          <a:ln/>
        </p:spPr>
      </p:sp>
      <p:sp>
        <p:nvSpPr>
          <p:cNvPr id="13" name="Shape 10"/>
          <p:cNvSpPr/>
          <p:nvPr/>
        </p:nvSpPr>
        <p:spPr>
          <a:xfrm>
            <a:off x="7863840" y="6620256"/>
            <a:ext cx="1280160" cy="237744"/>
          </a:xfrm>
          <a:prstGeom prst="rect">
            <a:avLst/>
          </a:prstGeom>
          <a:solidFill>
            <a:srgbClr val="7A7099"/>
          </a:solidFill>
          <a:ln/>
        </p:spPr>
      </p:sp>
      <p:sp>
        <p:nvSpPr>
          <p:cNvPr id="14"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20/23</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6.2.  Rủi ro chính</a:t>
            </a:r>
            <a:endParaRPr lang="en-US" sz="1900" dirty="0"/>
          </a:p>
        </p:txBody>
      </p:sp>
      <p:sp>
        <p:nvSpPr>
          <p:cNvPr id="4" name="Shape 2"/>
          <p:cNvSpPr/>
          <p:nvPr/>
        </p:nvSpPr>
        <p:spPr>
          <a:xfrm>
            <a:off x="502920" y="100584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Bộ trỏ không đạt cổng sai số 3%</a:t>
            </a:r>
            <a:endParaRPr lang="en-US" sz="1300" dirty="0"/>
          </a:p>
        </p:txBody>
      </p:sp>
      <p:sp>
        <p:nvSpPr>
          <p:cNvPr id="6" name="Text 4"/>
          <p:cNvSpPr/>
          <p:nvPr/>
        </p:nvSpPr>
        <p:spPr>
          <a:xfrm>
            <a:off x="4114800" y="100584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đo ngay tuần một; có kế hoạch B ba bậc ghi sẵn</a:t>
            </a:r>
            <a:endParaRPr lang="en-US" sz="1300" dirty="0"/>
          </a:p>
        </p:txBody>
      </p:sp>
      <p:sp>
        <p:nvSpPr>
          <p:cNvPr id="7" name="Shape 5"/>
          <p:cNvSpPr/>
          <p:nvPr/>
        </p:nvSpPr>
        <p:spPr>
          <a:xfrm>
            <a:off x="502920" y="205740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05740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Tác dụng thật quá nhỏ để đo thấy</a:t>
            </a:r>
            <a:endParaRPr lang="en-US" sz="1300" dirty="0"/>
          </a:p>
        </p:txBody>
      </p:sp>
      <p:sp>
        <p:nvSpPr>
          <p:cNvPr id="9" name="Text 7"/>
          <p:cNvSpPr/>
          <p:nvPr/>
        </p:nvSpPr>
        <p:spPr>
          <a:xfrm>
            <a:off x="4114800" y="205740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MDE ép hết cỡ; không thấy chênh thì phân tích sâu - vẫn là kết quả đọc được</a:t>
            </a:r>
            <a:endParaRPr lang="en-US" sz="1300" dirty="0"/>
          </a:p>
        </p:txBody>
      </p:sp>
      <p:sp>
        <p:nvSpPr>
          <p:cNvPr id="10" name="Shape 8"/>
          <p:cNvSpPr/>
          <p:nvPr/>
        </p:nvSpPr>
        <p:spPr>
          <a:xfrm>
            <a:off x="502920" y="310896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04088" y="310896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Nhãn khai báo nhiễu, kéo Bản khai báo xuống</a:t>
            </a:r>
            <a:endParaRPr lang="en-US" sz="1300" dirty="0"/>
          </a:p>
        </p:txBody>
      </p:sp>
      <p:sp>
        <p:nvSpPr>
          <p:cNvPr id="12" name="Text 10"/>
          <p:cNvSpPr/>
          <p:nvPr/>
        </p:nvSpPr>
        <p:spPr>
          <a:xfrm>
            <a:off x="4114800" y="310896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thiếu tên thì để trống chứ không đoán; tách phân tích theo nguồn tên</a:t>
            </a:r>
            <a:endParaRPr lang="en-US" sz="1300" dirty="0"/>
          </a:p>
        </p:txBody>
      </p:sp>
      <p:sp>
        <p:nvSpPr>
          <p:cNvPr id="13" name="Shape 11"/>
          <p:cNvSpPr/>
          <p:nvPr/>
        </p:nvSpPr>
        <p:spPr>
          <a:xfrm>
            <a:off x="502920" y="416052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704088" y="416052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Mô hình học vẹt cú pháp khai báo</a:t>
            </a:r>
            <a:endParaRPr lang="en-US" sz="1300" dirty="0"/>
          </a:p>
        </p:txBody>
      </p:sp>
      <p:sp>
        <p:nvSpPr>
          <p:cNvPr id="15" name="Text 13"/>
          <p:cNvSpPr/>
          <p:nvPr/>
        </p:nvSpPr>
        <p:spPr>
          <a:xfrm>
            <a:off x="4114800" y="416052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nhánh Khai báo giả sinh ra để bắt đúng chuyện này</a:t>
            </a:r>
            <a:endParaRPr lang="en-US" sz="1300" dirty="0"/>
          </a:p>
        </p:txBody>
      </p:sp>
      <p:sp>
        <p:nvSpPr>
          <p:cNvPr id="16" name="Text 14"/>
          <p:cNvSpPr/>
          <p:nvPr/>
        </p:nvSpPr>
        <p:spPr>
          <a:xfrm>
            <a:off x="502920" y="5349240"/>
            <a:ext cx="8138160" cy="457200"/>
          </a:xfrm>
          <a:prstGeom prst="rect">
            <a:avLst/>
          </a:prstGeom>
          <a:noFill/>
          <a:ln/>
        </p:spPr>
        <p:txBody>
          <a:bodyPr wrap="square" lIns="0" tIns="0" rIns="0" bIns="0" rtlCol="0" anchor="t"/>
          <a:lstStyle/>
          <a:p>
            <a:pPr algn="l" indent="0" marL="0">
              <a:buNone/>
            </a:pPr>
            <a:r>
              <a:rPr lang="en-US" sz="1350" i="1" dirty="0">
                <a:solidFill>
                  <a:srgbClr val="990000"/>
                </a:solidFill>
                <a:latin typeface="Cambria" pitchFamily="34" charset="0"/>
                <a:ea typeface="Cambria" pitchFamily="34" charset="-122"/>
                <a:cs typeface="Cambria" pitchFamily="34" charset="-120"/>
              </a:rPr>
              <a:t>Mỗi rủi ro đều có cách phát hiện sớm và đường xử lý ghi sẵn</a:t>
            </a:r>
            <a:endParaRPr lang="en-US" sz="1350" dirty="0"/>
          </a:p>
        </p:txBody>
      </p:sp>
      <p:sp>
        <p:nvSpPr>
          <p:cNvPr id="18" name="Shape 15"/>
          <p:cNvSpPr/>
          <p:nvPr/>
        </p:nvSpPr>
        <p:spPr>
          <a:xfrm>
            <a:off x="0" y="6620256"/>
            <a:ext cx="2743200" cy="237744"/>
          </a:xfrm>
          <a:prstGeom prst="rect">
            <a:avLst/>
          </a:prstGeom>
          <a:solidFill>
            <a:srgbClr val="191132"/>
          </a:solidFill>
          <a:ln/>
        </p:spPr>
      </p:sp>
      <p:sp>
        <p:nvSpPr>
          <p:cNvPr id="19" name="Shape 16"/>
          <p:cNvSpPr/>
          <p:nvPr/>
        </p:nvSpPr>
        <p:spPr>
          <a:xfrm>
            <a:off x="2743200" y="6620256"/>
            <a:ext cx="3383280" cy="237744"/>
          </a:xfrm>
          <a:prstGeom prst="rect">
            <a:avLst/>
          </a:prstGeom>
          <a:solidFill>
            <a:srgbClr val="25194B"/>
          </a:solidFill>
          <a:ln/>
        </p:spPr>
      </p:sp>
      <p:sp>
        <p:nvSpPr>
          <p:cNvPr id="20" name="Shape 17"/>
          <p:cNvSpPr/>
          <p:nvPr/>
        </p:nvSpPr>
        <p:spPr>
          <a:xfrm>
            <a:off x="6126480" y="6620256"/>
            <a:ext cx="1737360" cy="237744"/>
          </a:xfrm>
          <a:prstGeom prst="rect">
            <a:avLst/>
          </a:prstGeom>
          <a:solidFill>
            <a:srgbClr val="4F417A"/>
          </a:solidFill>
          <a:ln/>
        </p:spPr>
      </p:sp>
      <p:sp>
        <p:nvSpPr>
          <p:cNvPr id="21" name="Shape 18"/>
          <p:cNvSpPr/>
          <p:nvPr/>
        </p:nvSpPr>
        <p:spPr>
          <a:xfrm>
            <a:off x="7863840" y="6620256"/>
            <a:ext cx="1280160" cy="237744"/>
          </a:xfrm>
          <a:prstGeom prst="rect">
            <a:avLst/>
          </a:prstGeom>
          <a:solidFill>
            <a:srgbClr val="7A7099"/>
          </a:solidFill>
          <a:ln/>
        </p:spPr>
      </p:sp>
      <p:sp>
        <p:nvSpPr>
          <p:cNvPr id="22"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3"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4"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5"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21/23</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Tóm tắt</a:t>
            </a:r>
            <a:endParaRPr lang="en-US" sz="1900" dirty="0"/>
          </a:p>
        </p:txBody>
      </p:sp>
      <p:sp>
        <p:nvSpPr>
          <p:cNvPr id="4" name="Shape 2"/>
          <p:cNvSpPr/>
          <p:nvPr/>
        </p:nvSpPr>
        <p:spPr>
          <a:xfrm>
            <a:off x="502920" y="105156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70432"/>
            <a:ext cx="2011680" cy="914400"/>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Sản phẩm</a:t>
            </a:r>
            <a:endParaRPr lang="en-US" sz="1450" dirty="0"/>
          </a:p>
        </p:txBody>
      </p:sp>
      <p:sp>
        <p:nvSpPr>
          <p:cNvPr id="6" name="Text 4"/>
          <p:cNvSpPr/>
          <p:nvPr/>
        </p:nvSpPr>
        <p:spPr>
          <a:xfrm>
            <a:off x="2788920" y="1051560"/>
            <a:ext cx="5577840" cy="1234440"/>
          </a:xfrm>
          <a:prstGeom prst="rect">
            <a:avLst/>
          </a:prstGeom>
          <a:noFill/>
          <a:ln/>
        </p:spPr>
        <p:txBody>
          <a:bodyPr wrap="square" lIns="0" tIns="0" rIns="0" bIns="0" rtlCol="0" anchor="ctr"/>
          <a:lstStyle/>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Mô hình 3 tỉ tham số chạy trên máy: nhìn ảnh và câu hỏi, viết hướng dẫn cho người đọc</a:t>
            </a:r>
            <a:endParaRPr lang="en-US" sz="1350" dirty="0"/>
          </a:p>
        </p:txBody>
      </p:sp>
      <p:sp>
        <p:nvSpPr>
          <p:cNvPr id="7" name="Shape 5"/>
          <p:cNvSpPr/>
          <p:nvPr/>
        </p:nvSpPr>
        <p:spPr>
          <a:xfrm>
            <a:off x="502920" y="246888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587752"/>
            <a:ext cx="2011680" cy="914400"/>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Đóng góp</a:t>
            </a:r>
            <a:endParaRPr lang="en-US" sz="1450" dirty="0"/>
          </a:p>
        </p:txBody>
      </p:sp>
      <p:sp>
        <p:nvSpPr>
          <p:cNvPr id="9" name="Text 7"/>
          <p:cNvSpPr/>
          <p:nvPr/>
        </p:nvSpPr>
        <p:spPr>
          <a:xfrm>
            <a:off x="2788920" y="2468880"/>
            <a:ext cx="5577840" cy="1234440"/>
          </a:xfrm>
          <a:prstGeom prst="rect">
            <a:avLst/>
          </a:prstGeom>
          <a:noFill/>
          <a:ln/>
        </p:spPr>
        <p:txBody>
          <a:bodyPr wrap="square" lIns="0" tIns="0" rIns="0" bIns="0" rtlCol="0" anchor="ctr"/>
          <a:lstStyle/>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Bắt mô hình xác định rõ mục tiêu trước khi viết: dòng khai báo trước câu, và khoản phạt câu mơ hồ</a:t>
            </a:r>
            <a:endParaRPr lang="en-US" sz="1350" dirty="0"/>
          </a:p>
        </p:txBody>
      </p:sp>
      <p:sp>
        <p:nvSpPr>
          <p:cNvPr id="10" name="Shape 8"/>
          <p:cNvSpPr/>
          <p:nvPr/>
        </p:nvSpPr>
        <p:spPr>
          <a:xfrm>
            <a:off x="502920" y="388620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04088" y="4005072"/>
            <a:ext cx="2011680" cy="914400"/>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Vì sao tin</a:t>
            </a:r>
            <a:endParaRPr lang="en-US" sz="1450" dirty="0"/>
          </a:p>
        </p:txBody>
      </p:sp>
      <p:sp>
        <p:nvSpPr>
          <p:cNvPr id="12" name="Text 10"/>
          <p:cNvSpPr/>
          <p:nvPr/>
        </p:nvSpPr>
        <p:spPr>
          <a:xfrm>
            <a:off x="2788920" y="3886200"/>
            <a:ext cx="5577840" cy="1234440"/>
          </a:xfrm>
          <a:prstGeom prst="rect">
            <a:avLst/>
          </a:prstGeom>
          <a:noFill/>
          <a:ln/>
        </p:spPr>
        <p:txBody>
          <a:bodyPr wrap="square" lIns="0" tIns="0" rIns="0" bIns="0" rtlCol="0" anchor="ctr"/>
          <a:lstStyle/>
          <a:p>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Nhắm đúng lỗi đã đo được · có bằng chứng trên chính bộ dữ liệu · đối chứng khoá trước · thước tự kiểm</a:t>
            </a:r>
            <a:endParaRPr lang="en-US" sz="1350" dirty="0"/>
          </a:p>
        </p:txBody>
      </p:sp>
      <p:sp>
        <p:nvSpPr>
          <p:cNvPr id="13" name="Shape 11"/>
          <p:cNvSpPr/>
          <p:nvPr/>
        </p:nvSpPr>
        <p:spPr>
          <a:xfrm>
            <a:off x="0" y="6620256"/>
            <a:ext cx="2743200" cy="237744"/>
          </a:xfrm>
          <a:prstGeom prst="rect">
            <a:avLst/>
          </a:prstGeom>
          <a:solidFill>
            <a:srgbClr val="191132"/>
          </a:solidFill>
          <a:ln/>
        </p:spPr>
      </p:sp>
      <p:sp>
        <p:nvSpPr>
          <p:cNvPr id="14" name="Shape 12"/>
          <p:cNvSpPr/>
          <p:nvPr/>
        </p:nvSpPr>
        <p:spPr>
          <a:xfrm>
            <a:off x="2743200" y="6620256"/>
            <a:ext cx="3383280" cy="237744"/>
          </a:xfrm>
          <a:prstGeom prst="rect">
            <a:avLst/>
          </a:prstGeom>
          <a:solidFill>
            <a:srgbClr val="25194B"/>
          </a:solidFill>
          <a:ln/>
        </p:spPr>
      </p:sp>
      <p:sp>
        <p:nvSpPr>
          <p:cNvPr id="15" name="Shape 13"/>
          <p:cNvSpPr/>
          <p:nvPr/>
        </p:nvSpPr>
        <p:spPr>
          <a:xfrm>
            <a:off x="6126480" y="6620256"/>
            <a:ext cx="1737360" cy="237744"/>
          </a:xfrm>
          <a:prstGeom prst="rect">
            <a:avLst/>
          </a:prstGeom>
          <a:solidFill>
            <a:srgbClr val="4F417A"/>
          </a:solidFill>
          <a:ln/>
        </p:spPr>
      </p:sp>
      <p:sp>
        <p:nvSpPr>
          <p:cNvPr id="16" name="Shape 14"/>
          <p:cNvSpPr/>
          <p:nvPr/>
        </p:nvSpPr>
        <p:spPr>
          <a:xfrm>
            <a:off x="7863840" y="6620256"/>
            <a:ext cx="1280160" cy="237744"/>
          </a:xfrm>
          <a:prstGeom prst="rect">
            <a:avLst/>
          </a:prstGeom>
          <a:solidFill>
            <a:srgbClr val="7A7099"/>
          </a:solidFill>
          <a:ln/>
        </p:spPr>
      </p:sp>
      <p:sp>
        <p:nvSpPr>
          <p:cNvPr id="17"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9"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22/23</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Shape 1"/>
          <p:cNvSpPr/>
          <p:nvPr/>
        </p:nvSpPr>
        <p:spPr>
          <a:xfrm>
            <a:off x="731520" y="2103120"/>
            <a:ext cx="7680960" cy="2011680"/>
          </a:xfrm>
          <a:prstGeom prst="roundRect">
            <a:avLst>
              <a:gd name="adj" fmla="val 4091"/>
            </a:avLst>
          </a:prstGeom>
          <a:solidFill>
            <a:srgbClr val="322164"/>
          </a:solidFill>
          <a:ln/>
          <a:effectLst>
            <a:outerShdw sx="100000" sy="100000" kx="0" ky="0" algn="bl" rotWithShape="0" blurRad="63500" dist="31750" dir="2700000">
              <a:srgbClr val="8C8C99">
                <a:alpha val="45000"/>
              </a:srgbClr>
            </a:outerShdw>
          </a:effectLst>
        </p:spPr>
      </p:sp>
      <p:sp>
        <p:nvSpPr>
          <p:cNvPr id="4" name="Text 2"/>
          <p:cNvSpPr/>
          <p:nvPr/>
        </p:nvSpPr>
        <p:spPr>
          <a:xfrm>
            <a:off x="731520" y="2103120"/>
            <a:ext cx="7680960" cy="2011680"/>
          </a:xfrm>
          <a:prstGeom prst="rect">
            <a:avLst/>
          </a:prstGeom>
          <a:noFill/>
          <a:ln/>
        </p:spPr>
        <p:txBody>
          <a:bodyPr wrap="square" lIns="0" tIns="0" rIns="0" bIns="0" rtlCol="0" anchor="ctr"/>
          <a:lstStyle/>
          <a:p>
            <a:pPr algn="ctr" indent="0" marL="0">
              <a:lnSpc>
                <a:spcPct val="135000"/>
              </a:lnSpc>
              <a:buNone/>
            </a:pPr>
            <a:r>
              <a:rPr lang="en-US" sz="2800" b="1" dirty="0">
                <a:solidFill>
                  <a:srgbClr val="FFFFFF"/>
                </a:solidFill>
                <a:latin typeface="Cambria" pitchFamily="34" charset="0"/>
                <a:ea typeface="Cambria" pitchFamily="34" charset="-122"/>
                <a:cs typeface="Cambria" pitchFamily="34" charset="-120"/>
              </a:rPr>
              <a:t>XIN CẢM ƠN</a:t>
            </a:r>
            <a:endParaRPr lang="en-US" sz="2800" dirty="0"/>
          </a:p>
          <a:p>
            <a:pPr algn="ctr" indent="0" marL="0">
              <a:lnSpc>
                <a:spcPct val="135000"/>
              </a:lnSpc>
              <a:buNone/>
            </a:pPr>
            <a:r>
              <a:rPr lang="en-US" sz="2800" b="1" dirty="0">
                <a:solidFill>
                  <a:srgbClr val="FFFFFF"/>
                </a:solidFill>
                <a:latin typeface="Cambria" pitchFamily="34" charset="0"/>
                <a:ea typeface="Cambria" pitchFamily="34" charset="-122"/>
                <a:cs typeface="Cambria" pitchFamily="34" charset="-120"/>
              </a:rPr>
              <a:t>THẦY CÔ VÀ HỘI ĐỒNG!</a:t>
            </a:r>
            <a:endParaRPr lang="en-US" sz="2800" dirty="0"/>
          </a:p>
        </p:txBody>
      </p:sp>
      <p:sp>
        <p:nvSpPr>
          <p:cNvPr id="5" name="Text 3"/>
          <p:cNvSpPr/>
          <p:nvPr/>
        </p:nvSpPr>
        <p:spPr>
          <a:xfrm>
            <a:off x="731520" y="4572000"/>
            <a:ext cx="7680960" cy="457200"/>
          </a:xfrm>
          <a:prstGeom prst="rect">
            <a:avLst/>
          </a:prstGeom>
          <a:noFill/>
          <a:ln/>
        </p:spPr>
        <p:txBody>
          <a:bodyPr wrap="square" lIns="0" tIns="0" rIns="0" bIns="0" rtlCol="0" anchor="t"/>
          <a:lstStyle/>
          <a:p>
            <a:pPr algn="ctr" indent="0" marL="0">
              <a:buNone/>
            </a:pPr>
            <a:r>
              <a:rPr lang="en-US" sz="1400" i="1" dirty="0">
                <a:solidFill>
                  <a:srgbClr val="1A1A1A"/>
                </a:solidFill>
                <a:latin typeface="Cambria" pitchFamily="34" charset="0"/>
                <a:ea typeface="Cambria" pitchFamily="34" charset="-122"/>
                <a:cs typeface="Cambria" pitchFamily="34" charset="-120"/>
              </a:rPr>
              <a:t>Rất mong nhận được góp ý của thầy cô</a:t>
            </a:r>
            <a:endParaRPr lang="en-US" sz="1400" dirty="0"/>
          </a:p>
        </p:txBody>
      </p:sp>
      <p:sp>
        <p:nvSpPr>
          <p:cNvPr id="6" name="Shape 4"/>
          <p:cNvSpPr/>
          <p:nvPr/>
        </p:nvSpPr>
        <p:spPr>
          <a:xfrm>
            <a:off x="0" y="6620256"/>
            <a:ext cx="2743200" cy="237744"/>
          </a:xfrm>
          <a:prstGeom prst="rect">
            <a:avLst/>
          </a:prstGeom>
          <a:solidFill>
            <a:srgbClr val="191132"/>
          </a:solidFill>
          <a:ln/>
        </p:spPr>
      </p:sp>
      <p:sp>
        <p:nvSpPr>
          <p:cNvPr id="7" name="Shape 5"/>
          <p:cNvSpPr/>
          <p:nvPr/>
        </p:nvSpPr>
        <p:spPr>
          <a:xfrm>
            <a:off x="2743200" y="6620256"/>
            <a:ext cx="3383280" cy="237744"/>
          </a:xfrm>
          <a:prstGeom prst="rect">
            <a:avLst/>
          </a:prstGeom>
          <a:solidFill>
            <a:srgbClr val="25194B"/>
          </a:solidFill>
          <a:ln/>
        </p:spPr>
      </p:sp>
      <p:sp>
        <p:nvSpPr>
          <p:cNvPr id="8" name="Shape 6"/>
          <p:cNvSpPr/>
          <p:nvPr/>
        </p:nvSpPr>
        <p:spPr>
          <a:xfrm>
            <a:off x="6126480" y="6620256"/>
            <a:ext cx="1737360" cy="237744"/>
          </a:xfrm>
          <a:prstGeom prst="rect">
            <a:avLst/>
          </a:prstGeom>
          <a:solidFill>
            <a:srgbClr val="4F417A"/>
          </a:solidFill>
          <a:ln/>
        </p:spPr>
      </p:sp>
      <p:sp>
        <p:nvSpPr>
          <p:cNvPr id="9" name="Shape 7"/>
          <p:cNvSpPr/>
          <p:nvPr/>
        </p:nvSpPr>
        <p:spPr>
          <a:xfrm>
            <a:off x="7863840" y="6620256"/>
            <a:ext cx="1280160" cy="237744"/>
          </a:xfrm>
          <a:prstGeom prst="rect">
            <a:avLst/>
          </a:prstGeom>
          <a:solidFill>
            <a:srgbClr val="7A7099"/>
          </a:solidFill>
          <a:ln/>
        </p:spPr>
      </p:sp>
      <p:sp>
        <p:nvSpPr>
          <p:cNvPr id="10" name="Text 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1" name="Text 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2" name="Text 1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3" name="Text 1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23/23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Aguvis (ICML 2025), Table 6</a:t>
            </a:r>
            <a:endParaRPr lang="en-US" sz="1900" dirty="0"/>
          </a:p>
        </p:txBody>
      </p:sp>
      <p:pic>
        <p:nvPicPr>
          <p:cNvPr id="4" name="Image 0" descr="../report/_papers/aguvis_table6.png">    </p:cNvPr>
          <p:cNvPicPr>
            <a:picLocks noChangeAspect="1"/>
          </p:cNvPicPr>
          <p:nvPr/>
        </p:nvPicPr>
        <p:blipFill>
          <a:blip r:embed="rId1"/>
          <a:srcRect l="0" r="0" t="0" b="0"/>
          <a:stretch/>
        </p:blipFill>
        <p:spPr>
          <a:xfrm>
            <a:off x="457200" y="960120"/>
            <a:ext cx="822960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Cột AndroidControl Low-Level:  80,5 → 69,1 khi bỏ tầng trung gian, tức tụt 11,4</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Hai cột kia cho thấy hiệu ứng dồn đúng chỗ:  High-Level chỉ tụt 1,2 · ScreenSpot tụt 5,1</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Shikra, Table 1</a:t>
            </a:r>
            <a:endParaRPr lang="en-US" sz="1900" dirty="0"/>
          </a:p>
        </p:txBody>
      </p:sp>
      <p:pic>
        <p:nvPicPr>
          <p:cNvPr id="4" name="Image 0" descr="../report/_papers/shikra_table1.png">    </p:cNvPr>
          <p:cNvPicPr>
            <a:picLocks noChangeAspect="1"/>
          </p:cNvPicPr>
          <p:nvPr/>
        </p:nvPicPr>
        <p:blipFill>
          <a:blip r:embed="rId1"/>
          <a:srcRect l="0" r="0" t="0" b="0"/>
          <a:stretch/>
        </p:blipFill>
        <p:spPr>
          <a:xfrm>
            <a:off x="1645920" y="960120"/>
            <a:ext cx="585216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Cùng mô hình, cùng bài kiểm, chỉ đổi dạng bước trung gian:</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không có bước trung gian 88,07  ·  văn xuôi 80,68 (−7,4)  ·  có toạ độ 93,97 (+5,9)</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GCoT, Table 5</a:t>
            </a:r>
            <a:endParaRPr lang="en-US" sz="1900" dirty="0"/>
          </a:p>
        </p:txBody>
      </p:sp>
      <p:pic>
        <p:nvPicPr>
          <p:cNvPr id="4" name="Image 0" descr="../report/_papers/gcot_table5.png">    </p:cNvPr>
          <p:cNvPicPr>
            <a:picLocks noChangeAspect="1"/>
          </p:cNvPicPr>
          <p:nvPr/>
        </p:nvPicPr>
        <p:blipFill>
          <a:blip r:embed="rId1"/>
          <a:srcRect l="0" r="0" t="0" b="0"/>
          <a:stretch/>
        </p:blipFill>
        <p:spPr>
          <a:xfrm>
            <a:off x="731520" y="960120"/>
            <a:ext cx="768096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Cột Average → A-Acc:  LLaVA-7B 70,0 → 74,5 (+4,5)  ·  LLaVA-13B 70,6 → 76,4 (+5,8)</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Số âm hay được trích nằm ở Table 3 và 4 - đó là chế độ ra lệnh cho mô hình chưa huấn luyện</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CogCoM (ICLR 2025), Table 4</a:t>
            </a:r>
            <a:endParaRPr lang="en-US" sz="1900" dirty="0"/>
          </a:p>
        </p:txBody>
      </p:sp>
      <p:pic>
        <p:nvPicPr>
          <p:cNvPr id="4" name="Image 0" descr="../report/_papers/cogcom_table4.png">    </p:cNvPr>
          <p:cNvPicPr>
            <a:picLocks noChangeAspect="1"/>
          </p:cNvPicPr>
          <p:nvPr/>
        </p:nvPicPr>
        <p:blipFill>
          <a:blip r:embed="rId1"/>
          <a:srcRect l="0" r="0" t="0" b="0"/>
          <a:stretch/>
        </p:blipFill>
        <p:spPr>
          <a:xfrm>
            <a:off x="640080" y="960120"/>
            <a:ext cx="786384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Bỏ 70K dữ liệu chuỗi trung gian ra khỏi huấn luyện:</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TextVQA ↑6,6  ·  MMVet ↑0,2  ·  MathVista ↑0,9 - phải trích cả cụm ba số</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Hiệu ứng chỉ nổi ở bài đòi đọc chữ trong ảnh</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huong dan su dung phan mem tu anh man hinh</dc:title>
  <dc:subject>PptxGenJS Presentation</dc:subject>
  <dc:creator>Luan van thac si</dc:creator>
  <cp:lastModifiedBy>Luan van thac si</cp:lastModifiedBy>
  <cp:revision>1</cp:revision>
  <dcterms:created xsi:type="dcterms:W3CDTF">2026-08-05T14:26:05Z</dcterms:created>
  <dcterms:modified xsi:type="dcterms:W3CDTF">2026-08-05T14:26:05Z</dcterms:modified>
</cp:coreProperties>
</file>