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trình bày luận văn theo mạch: bài toán, cách đo, phương pháp, bằng chứng thực nghiệm và giới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khác biệt của đề tài là đầu ra cuối cùng chính là câu hướng dẫn. Khi đó hai câu khác chữ vẫn có thể cùng đúng nếu cùng dẫn tới đúng phần tử.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lý do thesis không lấy BLEU/ROUGE làm số chính. Chúng vẫn được báo kèm, nhưng quyết định mô hình tốt hơn dựa trên executability.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322164"/>
          </a:solidFill>
          <a:ln/>
        </p:spPr>
      </p:sp>
      <p:sp>
        <p:nvSpPr>
          <p:cNvPr id="3" name="Text 1"/>
          <p:cNvSpPr/>
          <p:nvPr/>
        </p:nvSpPr>
        <p:spPr>
          <a:xfrm>
            <a:off x="0" y="0"/>
            <a:ext cx="914400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ĐẠI HỌC QUỐC GIA TP. HỒ CHÍ MINH  -  TRƯỜNG ĐẠI HỌC KHOA HỌC TỰ NHIÊN</a:t>
            </a:r>
            <a:endParaRPr lang="en-US" sz="1400" dirty="0"/>
          </a:p>
        </p:txBody>
      </p:sp>
      <p:sp>
        <p:nvSpPr>
          <p:cNvPr id="4" name="Shape 2"/>
          <p:cNvSpPr/>
          <p:nvPr/>
        </p:nvSpPr>
        <p:spPr>
          <a:xfrm>
            <a:off x="731520" y="1078992"/>
            <a:ext cx="7680960" cy="2286000"/>
          </a:xfrm>
          <a:prstGeom prst="roundRect">
            <a:avLst/>
          </a:prstGeom>
          <a:solidFill>
            <a:srgbClr val="322164"/>
          </a:solidFill>
          <a:ln/>
          <a:effectLst>
            <a:outerShdw sx="100000" sy="100000" kx="0" ky="0" algn="bl" rotWithShape="0" blurRad="63500" dist="31750" dir="2700000">
              <a:srgbClr val="8C8C99">
                <a:alpha val="35000"/>
              </a:srgbClr>
            </a:outerShdw>
          </a:effectLst>
        </p:spPr>
      </p:sp>
      <p:sp>
        <p:nvSpPr>
          <p:cNvPr id="5" name="Text 3"/>
          <p:cNvSpPr/>
          <p:nvPr/>
        </p:nvSpPr>
        <p:spPr>
          <a:xfrm>
            <a:off x="731520" y="1335024"/>
            <a:ext cx="768096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LUẬN VĂN THẠC SĨ  ·  NGÀNH TRÍ TUỆ NHÂN TẠO</a:t>
            </a:r>
            <a:endParaRPr lang="en-US" sz="1400" dirty="0"/>
          </a:p>
        </p:txBody>
      </p:sp>
      <p:sp>
        <p:nvSpPr>
          <p:cNvPr id="6" name="Text 4"/>
          <p:cNvSpPr/>
          <p:nvPr/>
        </p:nvSpPr>
        <p:spPr>
          <a:xfrm>
            <a:off x="822960" y="1783080"/>
            <a:ext cx="7498080" cy="1325880"/>
          </a:xfrm>
          <a:prstGeom prst="rect">
            <a:avLst/>
          </a:prstGeom>
          <a:noFill/>
          <a:ln/>
        </p:spPr>
        <p:txBody>
          <a:bodyPr wrap="square" lIns="0" tIns="0" rIns="0" bIns="0" rtlCol="0" anchor="t"/>
          <a:lstStyle/>
          <a:p>
            <a:pPr algn="ctr" indent="0" marL="0">
              <a:lnSpc>
                <a:spcPct val="120000"/>
              </a:lnSpc>
              <a:buNone/>
            </a:pPr>
            <a:r>
              <a:rPr lang="en-US" sz="2100" b="1" dirty="0">
                <a:solidFill>
                  <a:srgbClr val="FFFFFF"/>
                </a:solidFill>
                <a:latin typeface="Cambria" pitchFamily="34" charset="0"/>
                <a:ea typeface="Cambria" pitchFamily="34" charset="-122"/>
                <a:cs typeface="Cambria" pitchFamily="34" charset="-120"/>
              </a:rPr>
              <a:t>PHÁT SINH TỰ ĐỘNG HƯỚNG DẪN SỬ DỤNG PHẦN MỀM</a:t>
            </a:r>
            <a:endParaRPr lang="en-US" sz="2100" dirty="0"/>
          </a:p>
          <a:p>
            <a:pPr algn="ctr" indent="0" marL="0">
              <a:lnSpc>
                <a:spcPct val="120000"/>
              </a:lnSpc>
              <a:buNone/>
            </a:pPr>
            <a:r>
              <a:rPr lang="en-US" sz="2100" b="1" dirty="0">
                <a:solidFill>
                  <a:srgbClr val="FFFFFF"/>
                </a:solidFill>
                <a:latin typeface="Cambria" pitchFamily="34" charset="0"/>
                <a:ea typeface="Cambria" pitchFamily="34" charset="-122"/>
                <a:cs typeface="Cambria" pitchFamily="34" charset="-120"/>
              </a:rPr>
              <a:t>DỰA TRÊN LLM TỪ CÁC TRƯỜNG HỢP SỬ DỤNG</a:t>
            </a:r>
            <a:endParaRPr lang="en-US" sz="2100" dirty="0"/>
          </a:p>
          <a:p>
            <a:pPr algn="ctr" indent="0" marL="0">
              <a:lnSpc>
                <a:spcPct val="120000"/>
              </a:lnSpc>
              <a:buNone/>
            </a:pPr>
            <a:r>
              <a:rPr lang="en-US" sz="2100" b="1" dirty="0">
                <a:solidFill>
                  <a:srgbClr val="FFFFFF"/>
                </a:solidFill>
                <a:latin typeface="Cambria" pitchFamily="34" charset="0"/>
                <a:ea typeface="Cambria" pitchFamily="34" charset="-122"/>
                <a:cs typeface="Cambria" pitchFamily="34" charset="-120"/>
              </a:rPr>
              <a:t>VÀ GIAO DIỆN NGƯỜI DÙNG</a:t>
            </a:r>
            <a:endParaRPr lang="en-US" sz="2100" dirty="0"/>
          </a:p>
        </p:txBody>
      </p:sp>
      <p:sp>
        <p:nvSpPr>
          <p:cNvPr id="7" name="Text 5"/>
          <p:cNvSpPr/>
          <p:nvPr/>
        </p:nvSpPr>
        <p:spPr>
          <a:xfrm>
            <a:off x="731520" y="3493008"/>
            <a:ext cx="7680960" cy="365760"/>
          </a:xfrm>
          <a:prstGeom prst="rect">
            <a:avLst/>
          </a:prstGeom>
          <a:noFill/>
          <a:ln/>
        </p:spPr>
        <p:txBody>
          <a:bodyPr wrap="square" lIns="0" tIns="0" rIns="0" bIns="0" rtlCol="0" anchor="t"/>
          <a:lstStyle/>
          <a:p>
            <a:pPr algn="ctr" indent="0" marL="0">
              <a:buNone/>
            </a:pPr>
            <a:r>
              <a:rPr lang="en-US" sz="1150" i="1" dirty="0">
                <a:solidFill>
                  <a:srgbClr val="5A5A66"/>
                </a:solidFill>
                <a:latin typeface="Cambria" pitchFamily="34" charset="0"/>
                <a:ea typeface="Cambria" pitchFamily="34" charset="-122"/>
                <a:cs typeface="Cambria" pitchFamily="34" charset="-120"/>
              </a:rPr>
              <a:t>LLM-Based Automatic Generation of Software User Guides from Use Cases and Front-End Structures</a:t>
            </a:r>
            <a:endParaRPr lang="en-US" sz="1150" dirty="0"/>
          </a:p>
        </p:txBody>
      </p:sp>
      <p:sp>
        <p:nvSpPr>
          <p:cNvPr id="8" name="Text 6"/>
          <p:cNvSpPr/>
          <p:nvPr/>
        </p:nvSpPr>
        <p:spPr>
          <a:xfrm>
            <a:off x="731520" y="4160520"/>
            <a:ext cx="7680960" cy="365760"/>
          </a:xfrm>
          <a:prstGeom prst="rect">
            <a:avLst/>
          </a:prstGeom>
          <a:noFill/>
          <a:ln/>
        </p:spPr>
        <p:txBody>
          <a:bodyPr wrap="square" lIns="0" tIns="0" rIns="0" bIns="0" rtlCol="0" anchor="t"/>
          <a:lstStyle/>
          <a:p>
            <a:pPr algn="ctr" indent="0" marL="0">
              <a:buNone/>
            </a:pPr>
            <a:r>
              <a:rPr lang="en-US" sz="1500" b="1" dirty="0">
                <a:solidFill>
                  <a:srgbClr val="1A1A1A"/>
                </a:solidFill>
                <a:latin typeface="Cambria" pitchFamily="34" charset="0"/>
                <a:ea typeface="Cambria" pitchFamily="34" charset="-122"/>
                <a:cs typeface="Cambria" pitchFamily="34" charset="-120"/>
              </a:rPr>
              <a:t>Học viên:  Lê Đoàn Phương Uyên</a:t>
            </a:r>
            <a:endParaRPr lang="en-US" sz="1500" dirty="0"/>
          </a:p>
        </p:txBody>
      </p:sp>
      <p:sp>
        <p:nvSpPr>
          <p:cNvPr id="9" name="Text 7"/>
          <p:cNvSpPr/>
          <p:nvPr/>
        </p:nvSpPr>
        <p:spPr>
          <a:xfrm>
            <a:off x="731520" y="4572000"/>
            <a:ext cx="7680960" cy="365760"/>
          </a:xfrm>
          <a:prstGeom prst="rect">
            <a:avLst/>
          </a:prstGeom>
          <a:noFill/>
          <a:ln/>
        </p:spPr>
        <p:txBody>
          <a:bodyPr wrap="square" lIns="0" tIns="0" rIns="0" bIns="0" rtlCol="0" anchor="t"/>
          <a:lstStyle/>
          <a:p>
            <a:pPr algn="ctr" indent="0" marL="0">
              <a:buNone/>
            </a:pPr>
            <a:r>
              <a:rPr lang="en-US" sz="1500" b="1" dirty="0">
                <a:solidFill>
                  <a:srgbClr val="1A1A1A"/>
                </a:solidFill>
                <a:latin typeface="Cambria" pitchFamily="34" charset="0"/>
                <a:ea typeface="Cambria" pitchFamily="34" charset="-122"/>
                <a:cs typeface="Cambria" pitchFamily="34" charset="-120"/>
              </a:rPr>
              <a:t>GVHD:  TS. Nguyễn Hồng Bửu Long</a:t>
            </a:r>
            <a:endParaRPr lang="en-US" sz="1500" dirty="0"/>
          </a:p>
        </p:txBody>
      </p:sp>
      <p:sp>
        <p:nvSpPr>
          <p:cNvPr id="10" name="Text 8"/>
          <p:cNvSpPr/>
          <p:nvPr/>
        </p:nvSpPr>
        <p:spPr>
          <a:xfrm>
            <a:off x="731520" y="5257800"/>
            <a:ext cx="7680960" cy="320040"/>
          </a:xfrm>
          <a:prstGeom prst="rect">
            <a:avLst/>
          </a:prstGeom>
          <a:noFill/>
          <a:ln/>
        </p:spPr>
        <p:txBody>
          <a:bodyPr wrap="square" lIns="0" tIns="0" rIns="0" bIns="0" rtlCol="0" anchor="t"/>
          <a:lstStyle/>
          <a:p>
            <a:pPr algn="ctr" indent="0" marL="0">
              <a:buNone/>
            </a:pPr>
            <a:r>
              <a:rPr lang="en-US" sz="1200" dirty="0">
                <a:solidFill>
                  <a:srgbClr val="1A1A1A"/>
                </a:solidFill>
                <a:latin typeface="Cambria" pitchFamily="34" charset="0"/>
                <a:ea typeface="Cambria" pitchFamily="34" charset="-122"/>
                <a:cs typeface="Cambria" pitchFamily="34" charset="-120"/>
              </a:rPr>
              <a:t>TP. Hồ Chí Minh  ·  2026</a:t>
            </a:r>
            <a:endParaRPr lang="en-US" sz="1200" dirty="0"/>
          </a:p>
        </p:txBody>
      </p:sp>
      <p:sp>
        <p:nvSpPr>
          <p:cNvPr id="12" name="Shape 9"/>
          <p:cNvSpPr/>
          <p:nvPr/>
        </p:nvSpPr>
        <p:spPr>
          <a:xfrm>
            <a:off x="0" y="6620256"/>
            <a:ext cx="2743200" cy="237744"/>
          </a:xfrm>
          <a:prstGeom prst="rect">
            <a:avLst/>
          </a:prstGeom>
          <a:solidFill>
            <a:srgbClr val="191132"/>
          </a:solidFill>
          <a:ln/>
        </p:spPr>
      </p:sp>
      <p:sp>
        <p:nvSpPr>
          <p:cNvPr id="13" name="Shape 10"/>
          <p:cNvSpPr/>
          <p:nvPr/>
        </p:nvSpPr>
        <p:spPr>
          <a:xfrm>
            <a:off x="2743200" y="6620256"/>
            <a:ext cx="3383280" cy="237744"/>
          </a:xfrm>
          <a:prstGeom prst="rect">
            <a:avLst/>
          </a:prstGeom>
          <a:solidFill>
            <a:srgbClr val="25194B"/>
          </a:solidFill>
          <a:ln/>
        </p:spPr>
      </p:sp>
      <p:sp>
        <p:nvSpPr>
          <p:cNvPr id="14" name="Shape 11"/>
          <p:cNvSpPr/>
          <p:nvPr/>
        </p:nvSpPr>
        <p:spPr>
          <a:xfrm>
            <a:off x="6126480" y="6620256"/>
            <a:ext cx="1737360" cy="237744"/>
          </a:xfrm>
          <a:prstGeom prst="rect">
            <a:avLst/>
          </a:prstGeom>
          <a:solidFill>
            <a:srgbClr val="4F417A"/>
          </a:solidFill>
          <a:ln/>
        </p:spPr>
      </p:sp>
      <p:sp>
        <p:nvSpPr>
          <p:cNvPr id="15" name="Shape 12"/>
          <p:cNvSpPr/>
          <p:nvPr/>
        </p:nvSpPr>
        <p:spPr>
          <a:xfrm>
            <a:off x="7863840" y="6620256"/>
            <a:ext cx="1280160" cy="237744"/>
          </a:xfrm>
          <a:prstGeom prst="rect">
            <a:avLst/>
          </a:prstGeom>
          <a:solidFill>
            <a:srgbClr val="7A7099"/>
          </a:solidFill>
          <a:ln/>
        </p:spPr>
      </p:sp>
      <p:sp>
        <p:nvSpPr>
          <p:cNvPr id="16" name="Text 1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7" name="Text 1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8" name="Text 1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9" name="Text 1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Bài toán: đầu ra là câu hướng dẫn cho người dùng</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PROBLEM</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Cùng một màn hình, GUI agent và luận văn giải hai đầu ra khác nhau.</a:t>
            </a:r>
            <a:endParaRPr lang="en-US" sz="2200" dirty="0"/>
          </a:p>
        </p:txBody>
      </p:sp>
      <p:sp>
        <p:nvSpPr>
          <p:cNvPr id="6" name="Text 4"/>
          <p:cNvSpPr/>
          <p:nvPr/>
        </p:nvSpPr>
        <p:spPr>
          <a:xfrm>
            <a:off x="457200" y="1499616"/>
            <a:ext cx="8229600" cy="411480"/>
          </a:xfrm>
          <a:prstGeom prst="rect">
            <a:avLst/>
          </a:prstGeom>
          <a:noFill/>
          <a:ln/>
        </p:spPr>
        <p:txBody>
          <a:bodyPr wrap="square" lIns="0" tIns="0" rIns="0" bIns="0" rtlCol="0" anchor="t"/>
          <a:lstStyle/>
          <a:p>
            <a:pPr algn="l" indent="0" marL="0">
              <a:lnSpc>
                <a:spcPct val="120000"/>
              </a:lnSpc>
              <a:buNone/>
            </a:pPr>
            <a:r>
              <a:rPr lang="en-US" sz="1250" dirty="0">
                <a:solidFill>
                  <a:srgbClr val="5A5A66"/>
                </a:solidFill>
                <a:latin typeface="Cambria" pitchFamily="34" charset="0"/>
                <a:ea typeface="Cambria" pitchFamily="34" charset="-122"/>
                <a:cs typeface="Cambria" pitchFamily="34" charset="-120"/>
              </a:rPr>
              <a:t>Đề tài đánh giá chất lượng của câu hướng dẫn, không đánh giá tọa độ do chính mô hình sinh ra.</a:t>
            </a:r>
            <a:endParaRPr lang="en-US" sz="1250" dirty="0"/>
          </a:p>
        </p:txBody>
      </p:sp>
      <p:sp>
        <p:nvSpPr>
          <p:cNvPr id="7" name="Shape 5"/>
          <p:cNvSpPr/>
          <p:nvPr/>
        </p:nvSpPr>
        <p:spPr>
          <a:xfrm>
            <a:off x="457200" y="2084832"/>
            <a:ext cx="3822192" cy="1097280"/>
          </a:xfrm>
          <a:prstGeom prst="roundRect">
            <a:avLst/>
          </a:prstGeom>
          <a:solidFill>
            <a:srgbClr val="F5F4F7"/>
          </a:solidFill>
          <a:ln w="15240">
            <a:solidFill>
              <a:srgbClr val="4F417A"/>
            </a:solidFill>
            <a:prstDash val="solid"/>
          </a:ln>
        </p:spPr>
      </p:sp>
      <p:sp>
        <p:nvSpPr>
          <p:cNvPr id="8" name="Text 6"/>
          <p:cNvSpPr/>
          <p:nvPr/>
        </p:nvSpPr>
        <p:spPr>
          <a:xfrm>
            <a:off x="457200" y="2084832"/>
            <a:ext cx="3822192" cy="1097280"/>
          </a:xfrm>
          <a:prstGeom prst="rect">
            <a:avLst/>
          </a:prstGeom>
          <a:noFill/>
          <a:ln/>
        </p:spPr>
        <p:txBody>
          <a:bodyPr wrap="square" lIns="38100" tIns="38100" rIns="38100" bIns="38100" rtlCol="0" anchor="ctr"/>
          <a:lstStyle/>
          <a:p>
            <a:pPr algn="ctr" indent="0" marL="0">
              <a:lnSpc>
                <a:spcPct val="115000"/>
              </a:lnSpc>
              <a:buNone/>
            </a:pPr>
            <a:r>
              <a:rPr lang="en-US" sz="1700" b="1" dirty="0">
                <a:solidFill>
                  <a:srgbClr val="1A1A1A"/>
                </a:solidFill>
                <a:latin typeface="Cambria" pitchFamily="34" charset="0"/>
                <a:ea typeface="Cambria" pitchFamily="34" charset="-122"/>
                <a:cs typeface="Cambria" pitchFamily="34" charset="-120"/>
              </a:rPr>
              <a:t>GUI agent</a:t>
            </a:r>
            <a:endParaRPr lang="en-US" sz="1700" dirty="0"/>
          </a:p>
          <a:p>
            <a:pPr algn="ctr" indent="0" marL="0">
              <a:lnSpc>
                <a:spcPct val="115000"/>
              </a:lnSpc>
              <a:buNone/>
            </a:pPr>
            <a:r>
              <a:rPr lang="en-US" sz="1700" b="1" dirty="0">
                <a:solidFill>
                  <a:srgbClr val="1A1A1A"/>
                </a:solidFill>
                <a:latin typeface="Cambria" pitchFamily="34" charset="0"/>
                <a:ea typeface="Cambria" pitchFamily="34" charset="-122"/>
                <a:cs typeface="Cambria" pitchFamily="34" charset="-120"/>
              </a:rPr>
              <a:t>→ click(872, 141)</a:t>
            </a:r>
            <a:endParaRPr lang="en-US" sz="1700" dirty="0"/>
          </a:p>
        </p:txBody>
      </p:sp>
      <p:sp>
        <p:nvSpPr>
          <p:cNvPr id="9" name="Shape 7"/>
          <p:cNvSpPr/>
          <p:nvPr/>
        </p:nvSpPr>
        <p:spPr>
          <a:xfrm>
            <a:off x="4864608" y="2084832"/>
            <a:ext cx="3822192" cy="1097280"/>
          </a:xfrm>
          <a:prstGeom prst="roundRect">
            <a:avLst/>
          </a:prstGeom>
          <a:solidFill>
            <a:srgbClr val="EEEAF6"/>
          </a:solidFill>
          <a:ln w="21590">
            <a:solidFill>
              <a:srgbClr val="322164"/>
            </a:solidFill>
            <a:prstDash val="solid"/>
          </a:ln>
        </p:spPr>
      </p:sp>
      <p:sp>
        <p:nvSpPr>
          <p:cNvPr id="10" name="Text 8"/>
          <p:cNvSpPr/>
          <p:nvPr/>
        </p:nvSpPr>
        <p:spPr>
          <a:xfrm>
            <a:off x="4864608" y="2084832"/>
            <a:ext cx="3822192" cy="1097280"/>
          </a:xfrm>
          <a:prstGeom prst="rect">
            <a:avLst/>
          </a:prstGeom>
          <a:noFill/>
          <a:ln/>
        </p:spPr>
        <p:txBody>
          <a:bodyPr wrap="square" lIns="38100" tIns="38100" rIns="38100" bIns="38100" rtlCol="0" anchor="ctr"/>
          <a:lstStyle/>
          <a:p>
            <a:pPr algn="ctr" indent="0" marL="0">
              <a:lnSpc>
                <a:spcPct val="115000"/>
              </a:lnSpc>
              <a:buNone/>
            </a:pPr>
            <a:r>
              <a:rPr lang="en-US" sz="1400" b="1" dirty="0">
                <a:solidFill>
                  <a:srgbClr val="1A1A1A"/>
                </a:solidFill>
                <a:latin typeface="Cambria" pitchFamily="34" charset="0"/>
                <a:ea typeface="Cambria" pitchFamily="34" charset="-122"/>
                <a:cs typeface="Cambria" pitchFamily="34" charset="-120"/>
              </a:rPr>
              <a:t>Luận văn</a:t>
            </a:r>
            <a:endParaRPr lang="en-US" sz="1400" dirty="0"/>
          </a:p>
          <a:p>
            <a:pPr algn="ctr" indent="0" marL="0">
              <a:lnSpc>
                <a:spcPct val="115000"/>
              </a:lnSpc>
              <a:buNone/>
            </a:pPr>
            <a:r>
              <a:rPr lang="en-US" sz="1400" b="1" dirty="0">
                <a:solidFill>
                  <a:srgbClr val="1A1A1A"/>
                </a:solidFill>
                <a:latin typeface="Cambria" pitchFamily="34" charset="0"/>
                <a:ea typeface="Cambria" pitchFamily="34" charset="-122"/>
                <a:cs typeface="Cambria" pitchFamily="34" charset="-120"/>
              </a:rPr>
              <a:t>→ “Tap the share icon at the top right.”</a:t>
            </a:r>
            <a:endParaRPr lang="en-US" sz="1400" dirty="0"/>
          </a:p>
        </p:txBody>
      </p:sp>
      <p:sp>
        <p:nvSpPr>
          <p:cNvPr id="11" name="Text 9"/>
          <p:cNvSpPr/>
          <p:nvPr/>
        </p:nvSpPr>
        <p:spPr>
          <a:xfrm>
            <a:off x="457200" y="3310128"/>
            <a:ext cx="3822192" cy="320040"/>
          </a:xfrm>
          <a:prstGeom prst="rect">
            <a:avLst/>
          </a:prstGeom>
          <a:noFill/>
          <a:ln/>
        </p:spPr>
        <p:txBody>
          <a:bodyPr wrap="square" lIns="0" tIns="0" rIns="0" bIns="0" rtlCol="0" anchor="t"/>
          <a:lstStyle/>
          <a:p>
            <a:pPr algn="ctr" indent="0" marL="0">
              <a:buNone/>
            </a:pPr>
            <a:r>
              <a:rPr lang="en-US" sz="1250" b="1" dirty="0">
                <a:solidFill>
                  <a:srgbClr val="5A5A66"/>
                </a:solidFill>
                <a:latin typeface="Cambria" pitchFamily="34" charset="0"/>
                <a:ea typeface="Cambria" pitchFamily="34" charset="-122"/>
                <a:cs typeface="Cambria" pitchFamily="34" charset="-120"/>
              </a:rPr>
              <a:t>Máy tự thao tác</a:t>
            </a:r>
            <a:endParaRPr lang="en-US" sz="1250" dirty="0"/>
          </a:p>
        </p:txBody>
      </p:sp>
      <p:sp>
        <p:nvSpPr>
          <p:cNvPr id="12" name="Text 10"/>
          <p:cNvSpPr/>
          <p:nvPr/>
        </p:nvSpPr>
        <p:spPr>
          <a:xfrm>
            <a:off x="4864608" y="3310128"/>
            <a:ext cx="3822192" cy="320040"/>
          </a:xfrm>
          <a:prstGeom prst="rect">
            <a:avLst/>
          </a:prstGeom>
          <a:noFill/>
          <a:ln/>
        </p:spPr>
        <p:txBody>
          <a:bodyPr wrap="square" lIns="0" tIns="0" rIns="0" bIns="0" rtlCol="0" anchor="t"/>
          <a:lstStyle/>
          <a:p>
            <a:pPr algn="ctr" indent="0" marL="0">
              <a:buNone/>
            </a:pPr>
            <a:r>
              <a:rPr lang="en-US" sz="1250" b="1" dirty="0">
                <a:solidFill>
                  <a:srgbClr val="006666"/>
                </a:solidFill>
                <a:latin typeface="Cambria" pitchFamily="34" charset="0"/>
                <a:ea typeface="Cambria" pitchFamily="34" charset="-122"/>
                <a:cs typeface="Cambria" pitchFamily="34" charset="-120"/>
              </a:rPr>
              <a:t>Con người đọc và thao tác</a:t>
            </a:r>
            <a:endParaRPr lang="en-US" sz="1250" dirty="0"/>
          </a:p>
        </p:txBody>
      </p:sp>
      <p:sp>
        <p:nvSpPr>
          <p:cNvPr id="13" name="Shape 11"/>
          <p:cNvSpPr/>
          <p:nvPr/>
        </p:nvSpPr>
        <p:spPr>
          <a:xfrm>
            <a:off x="457200" y="3886200"/>
            <a:ext cx="8229600" cy="13258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4" name="Text 12"/>
          <p:cNvSpPr/>
          <p:nvPr/>
        </p:nvSpPr>
        <p:spPr>
          <a:xfrm>
            <a:off x="640080" y="4023360"/>
            <a:ext cx="182880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Thách thức khoa học</a:t>
            </a:r>
            <a:endParaRPr lang="en-US" sz="1350" dirty="0"/>
          </a:p>
        </p:txBody>
      </p:sp>
      <p:sp>
        <p:nvSpPr>
          <p:cNvPr id="15" name="Text 13"/>
          <p:cNvSpPr/>
          <p:nvPr/>
        </p:nvSpPr>
        <p:spPr>
          <a:xfrm>
            <a:off x="2423160" y="3968496"/>
            <a:ext cx="201168" cy="53035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2651760" y="3968496"/>
            <a:ext cx="5852160" cy="530352"/>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Một nút có nhiều cách gọi đều đúng → không thể chấm bằng một câu chuẩn duy nhất.</a:t>
            </a:r>
            <a:endParaRPr lang="en-US" sz="1250" dirty="0"/>
          </a:p>
        </p:txBody>
      </p:sp>
      <p:sp>
        <p:nvSpPr>
          <p:cNvPr id="17" name="Text 15"/>
          <p:cNvSpPr/>
          <p:nvPr/>
        </p:nvSpPr>
        <p:spPr>
          <a:xfrm>
            <a:off x="2423160" y="4535424"/>
            <a:ext cx="201168" cy="53035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8" name="Text 16"/>
          <p:cNvSpPr/>
          <p:nvPr/>
        </p:nvSpPr>
        <p:spPr>
          <a:xfrm>
            <a:off x="2651760" y="4535424"/>
            <a:ext cx="5852160" cy="530352"/>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Lỗi chính không phải “bịa nút”, mà là câu mơ hồ giữa các phần tử giống nhau.</a:t>
            </a:r>
            <a:endParaRPr lang="en-US" sz="1250" dirty="0"/>
          </a:p>
        </p:txBody>
      </p:sp>
      <p:sp>
        <p:nvSpPr>
          <p:cNvPr id="19" name="Text 17"/>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SeeClick; OS-Atlas; Aguvis · Luận văn Ch.1</a:t>
            </a:r>
            <a:endParaRPr lang="en-US" sz="820" dirty="0"/>
          </a:p>
        </p:txBody>
      </p:sp>
      <p:sp>
        <p:nvSpPr>
          <p:cNvPr id="21" name="Shape 18"/>
          <p:cNvSpPr/>
          <p:nvPr/>
        </p:nvSpPr>
        <p:spPr>
          <a:xfrm>
            <a:off x="0" y="6620256"/>
            <a:ext cx="2743200" cy="237744"/>
          </a:xfrm>
          <a:prstGeom prst="rect">
            <a:avLst/>
          </a:prstGeom>
          <a:solidFill>
            <a:srgbClr val="191132"/>
          </a:solidFill>
          <a:ln/>
        </p:spPr>
      </p:sp>
      <p:sp>
        <p:nvSpPr>
          <p:cNvPr id="22" name="Shape 19"/>
          <p:cNvSpPr/>
          <p:nvPr/>
        </p:nvSpPr>
        <p:spPr>
          <a:xfrm>
            <a:off x="2743200" y="6620256"/>
            <a:ext cx="3383280" cy="237744"/>
          </a:xfrm>
          <a:prstGeom prst="rect">
            <a:avLst/>
          </a:prstGeom>
          <a:solidFill>
            <a:srgbClr val="25194B"/>
          </a:solidFill>
          <a:ln/>
        </p:spPr>
      </p:sp>
      <p:sp>
        <p:nvSpPr>
          <p:cNvPr id="23" name="Shape 20"/>
          <p:cNvSpPr/>
          <p:nvPr/>
        </p:nvSpPr>
        <p:spPr>
          <a:xfrm>
            <a:off x="6126480" y="6620256"/>
            <a:ext cx="1737360" cy="237744"/>
          </a:xfrm>
          <a:prstGeom prst="rect">
            <a:avLst/>
          </a:prstGeom>
          <a:solidFill>
            <a:srgbClr val="4F417A"/>
          </a:solidFill>
          <a:ln/>
        </p:spPr>
      </p:sp>
      <p:sp>
        <p:nvSpPr>
          <p:cNvPr id="24" name="Shape 21"/>
          <p:cNvSpPr/>
          <p:nvPr/>
        </p:nvSpPr>
        <p:spPr>
          <a:xfrm>
            <a:off x="7863840" y="6620256"/>
            <a:ext cx="1280160" cy="237744"/>
          </a:xfrm>
          <a:prstGeom prst="rect">
            <a:avLst/>
          </a:prstGeom>
          <a:solidFill>
            <a:srgbClr val="7A7099"/>
          </a:solidFill>
          <a:ln/>
        </p:spPr>
      </p:sp>
      <p:sp>
        <p:nvSpPr>
          <p:cNvPr id="25" name="Text 2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6" name="Text 2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7" name="Text 2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8" name="Text 2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2/21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Không thể chỉ dùng độ giống câu để chấm hướng dẫn</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PROBLEM</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“Đúng nghĩa chung” không đồng nghĩa với “chỉ đúng phần tử”.</a:t>
            </a:r>
            <a:endParaRPr lang="en-US" sz="2200" dirty="0"/>
          </a:p>
        </p:txBody>
      </p:sp>
      <p:sp>
        <p:nvSpPr>
          <p:cNvPr id="6" name="Text 4"/>
          <p:cNvSpPr/>
          <p:nvPr/>
        </p:nvSpPr>
        <p:spPr>
          <a:xfrm>
            <a:off x="457200" y="1499616"/>
            <a:ext cx="8229600" cy="411480"/>
          </a:xfrm>
          <a:prstGeom prst="rect">
            <a:avLst/>
          </a:prstGeom>
          <a:noFill/>
          <a:ln/>
        </p:spPr>
        <p:txBody>
          <a:bodyPr wrap="square" lIns="0" tIns="0" rIns="0" bIns="0" rtlCol="0" anchor="t"/>
          <a:lstStyle/>
          <a:p>
            <a:pPr algn="l" indent="0" marL="0">
              <a:lnSpc>
                <a:spcPct val="120000"/>
              </a:lnSpc>
              <a:buNone/>
            </a:pPr>
            <a:r>
              <a:rPr lang="en-US" sz="1250" dirty="0">
                <a:solidFill>
                  <a:srgbClr val="5A5A66"/>
                </a:solidFill>
                <a:latin typeface="Cambria" pitchFamily="34" charset="0"/>
                <a:ea typeface="Cambria" pitchFamily="34" charset="-122"/>
                <a:cs typeface="Cambria" pitchFamily="34" charset="-120"/>
              </a:rPr>
              <a:t>Các thước dựa trên chuỗi hoặc embedding dễ thưởng/phạt sai điều quan trọng nhất: phần tử mà câu đang nói tới.</a:t>
            </a:r>
            <a:endParaRPr lang="en-US" sz="1250" dirty="0"/>
          </a:p>
        </p:txBody>
      </p:sp>
      <p:sp>
        <p:nvSpPr>
          <p:cNvPr id="7" name="Shape 5"/>
          <p:cNvSpPr/>
          <p:nvPr/>
        </p:nvSpPr>
        <p:spPr>
          <a:xfrm>
            <a:off x="457200" y="2057400"/>
            <a:ext cx="2514600" cy="141732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8" name="Text 6"/>
          <p:cNvSpPr/>
          <p:nvPr/>
        </p:nvSpPr>
        <p:spPr>
          <a:xfrm>
            <a:off x="585216" y="2130552"/>
            <a:ext cx="2258568" cy="457200"/>
          </a:xfrm>
          <a:prstGeom prst="rect">
            <a:avLst/>
          </a:prstGeom>
          <a:noFill/>
          <a:ln/>
        </p:spPr>
        <p:txBody>
          <a:bodyPr wrap="square" lIns="0" tIns="0" rIns="0" bIns="0" rtlCol="0" anchor="t"/>
          <a:lstStyle/>
          <a:p>
            <a:pPr algn="l" indent="0" marL="0">
              <a:buNone/>
            </a:pPr>
            <a:r>
              <a:rPr lang="en-US" sz="2200" b="1" dirty="0">
                <a:solidFill>
                  <a:srgbClr val="B22222"/>
                </a:solidFill>
                <a:latin typeface="Cambria" pitchFamily="34" charset="0"/>
                <a:ea typeface="Cambria" pitchFamily="34" charset="-122"/>
                <a:cs typeface="Cambria" pitchFamily="34" charset="-120"/>
              </a:rPr>
              <a:t>97,5%</a:t>
            </a:r>
            <a:endParaRPr lang="en-US" sz="2200" dirty="0"/>
          </a:p>
        </p:txBody>
      </p:sp>
      <p:sp>
        <p:nvSpPr>
          <p:cNvPr id="9" name="Text 7"/>
          <p:cNvSpPr/>
          <p:nvPr/>
        </p:nvSpPr>
        <p:spPr>
          <a:xfrm>
            <a:off x="585216" y="2606040"/>
            <a:ext cx="2258568" cy="795528"/>
          </a:xfrm>
          <a:prstGeom prst="rect">
            <a:avLst/>
          </a:prstGeom>
          <a:noFill/>
          <a:ln/>
        </p:spPr>
        <p:txBody>
          <a:bodyPr wrap="square" lIns="0" tIns="0" rIns="0" bIns="0" rtlCol="0" anchor="t"/>
          <a:lstStyle/>
          <a:p>
            <a:pPr algn="l" indent="0" marL="0">
              <a:lnSpc>
                <a:spcPct val="118000"/>
              </a:lnSpc>
              <a:buNone/>
            </a:pPr>
            <a:r>
              <a:rPr lang="en-US" sz="1150" dirty="0">
                <a:solidFill>
                  <a:srgbClr val="1A1A1A"/>
                </a:solidFill>
                <a:latin typeface="Cambria" pitchFamily="34" charset="0"/>
                <a:ea typeface="Cambria" pitchFamily="34" charset="-122"/>
                <a:cs typeface="Cambria" pitchFamily="34" charset="-120"/>
              </a:rPr>
              <a:t>câu diễn đạt khác nhưng cùng chỉ đúng phần tử bị phép so chuỗi loại nhầm</a:t>
            </a:r>
            <a:endParaRPr lang="en-US" sz="1150" dirty="0"/>
          </a:p>
        </p:txBody>
      </p:sp>
      <p:sp>
        <p:nvSpPr>
          <p:cNvPr id="10" name="Shape 8"/>
          <p:cNvSpPr/>
          <p:nvPr/>
        </p:nvSpPr>
        <p:spPr>
          <a:xfrm>
            <a:off x="3319272" y="2057400"/>
            <a:ext cx="2514600" cy="141732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1" name="Text 9"/>
          <p:cNvSpPr/>
          <p:nvPr/>
        </p:nvSpPr>
        <p:spPr>
          <a:xfrm>
            <a:off x="3447288" y="2130552"/>
            <a:ext cx="2258568" cy="457200"/>
          </a:xfrm>
          <a:prstGeom prst="rect">
            <a:avLst/>
          </a:prstGeom>
          <a:noFill/>
          <a:ln/>
        </p:spPr>
        <p:txBody>
          <a:bodyPr wrap="square" lIns="0" tIns="0" rIns="0" bIns="0" rtlCol="0" anchor="t"/>
          <a:lstStyle/>
          <a:p>
            <a:pPr algn="l" indent="0" marL="0">
              <a:buNone/>
            </a:pPr>
            <a:r>
              <a:rPr lang="en-US" sz="2200" b="1" dirty="0">
                <a:solidFill>
                  <a:srgbClr val="B22222"/>
                </a:solidFill>
                <a:latin typeface="Cambria" pitchFamily="34" charset="0"/>
                <a:ea typeface="Cambria" pitchFamily="34" charset="-122"/>
                <a:cs typeface="Cambria" pitchFamily="34" charset="-120"/>
              </a:rPr>
              <a:t>AUC 0,336</a:t>
            </a:r>
            <a:endParaRPr lang="en-US" sz="2200" dirty="0"/>
          </a:p>
        </p:txBody>
      </p:sp>
      <p:sp>
        <p:nvSpPr>
          <p:cNvPr id="12" name="Text 10"/>
          <p:cNvSpPr/>
          <p:nvPr/>
        </p:nvSpPr>
        <p:spPr>
          <a:xfrm>
            <a:off x="3447288" y="2606040"/>
            <a:ext cx="2258568" cy="795528"/>
          </a:xfrm>
          <a:prstGeom prst="rect">
            <a:avLst/>
          </a:prstGeom>
          <a:noFill/>
          <a:ln/>
        </p:spPr>
        <p:txBody>
          <a:bodyPr wrap="square" lIns="0" tIns="0" rIns="0" bIns="0" rtlCol="0" anchor="t"/>
          <a:lstStyle/>
          <a:p>
            <a:pPr algn="l" indent="0" marL="0">
              <a:lnSpc>
                <a:spcPct val="118000"/>
              </a:lnSpc>
              <a:buNone/>
            </a:pPr>
            <a:r>
              <a:rPr lang="en-US" sz="1150" dirty="0">
                <a:solidFill>
                  <a:srgbClr val="1A1A1A"/>
                </a:solidFill>
                <a:latin typeface="Cambria" pitchFamily="34" charset="0"/>
                <a:ea typeface="Cambria" pitchFamily="34" charset="-122"/>
                <a:cs typeface="Cambria" pitchFamily="34" charset="-120"/>
              </a:rPr>
              <a:t>so vector ngữ nghĩa trên 51 trường hợp viết tay — thấp hơn ngẫu nhiên</a:t>
            </a:r>
            <a:endParaRPr lang="en-US" sz="1150" dirty="0"/>
          </a:p>
        </p:txBody>
      </p:sp>
      <p:sp>
        <p:nvSpPr>
          <p:cNvPr id="13" name="Shape 11"/>
          <p:cNvSpPr/>
          <p:nvPr/>
        </p:nvSpPr>
        <p:spPr>
          <a:xfrm>
            <a:off x="6181344" y="2057400"/>
            <a:ext cx="2505456" cy="141732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4" name="Text 12"/>
          <p:cNvSpPr/>
          <p:nvPr/>
        </p:nvSpPr>
        <p:spPr>
          <a:xfrm>
            <a:off x="6309360" y="2130552"/>
            <a:ext cx="2249424" cy="457200"/>
          </a:xfrm>
          <a:prstGeom prst="rect">
            <a:avLst/>
          </a:prstGeom>
          <a:noFill/>
          <a:ln/>
        </p:spPr>
        <p:txBody>
          <a:bodyPr wrap="square" lIns="0" tIns="0" rIns="0" bIns="0" rtlCol="0" anchor="t"/>
          <a:lstStyle/>
          <a:p>
            <a:pPr algn="l" indent="0" marL="0">
              <a:buNone/>
            </a:pPr>
            <a:r>
              <a:rPr lang="en-US" sz="2000" b="1" dirty="0">
                <a:solidFill>
                  <a:srgbClr val="990000"/>
                </a:solidFill>
                <a:latin typeface="Cambria" pitchFamily="34" charset="0"/>
                <a:ea typeface="Cambria" pitchFamily="34" charset="-122"/>
                <a:cs typeface="Cambria" pitchFamily="34" charset="-120"/>
              </a:rPr>
              <a:t>0,76 &gt; 0,55</a:t>
            </a:r>
            <a:endParaRPr lang="en-US" sz="2000" dirty="0"/>
          </a:p>
        </p:txBody>
      </p:sp>
      <p:sp>
        <p:nvSpPr>
          <p:cNvPr id="15" name="Text 13"/>
          <p:cNvSpPr/>
          <p:nvPr/>
        </p:nvSpPr>
        <p:spPr>
          <a:xfrm>
            <a:off x="6309360" y="2606040"/>
            <a:ext cx="2249424" cy="795528"/>
          </a:xfrm>
          <a:prstGeom prst="rect">
            <a:avLst/>
          </a:prstGeom>
          <a:noFill/>
          <a:ln/>
        </p:spPr>
        <p:txBody>
          <a:bodyPr wrap="square" lIns="0" tIns="0" rIns="0" bIns="0" rtlCol="0" anchor="t"/>
          <a:lstStyle/>
          <a:p>
            <a:pPr algn="l" indent="0" marL="0">
              <a:lnSpc>
                <a:spcPct val="118000"/>
              </a:lnSpc>
              <a:buNone/>
            </a:pPr>
            <a:r>
              <a:rPr lang="en-US" sz="1150" dirty="0">
                <a:solidFill>
                  <a:srgbClr val="1A1A1A"/>
                </a:solidFill>
                <a:latin typeface="Cambria" pitchFamily="34" charset="0"/>
                <a:ea typeface="Cambria" pitchFamily="34" charset="-122"/>
                <a:cs typeface="Cambria" pitchFamily="34" charset="-120"/>
              </a:rPr>
              <a:t>inbox/outbox gần embedding hơn search/magnifying glass dù chỉ cặp sau cùng một nút</a:t>
            </a:r>
            <a:endParaRPr lang="en-US" sz="1150" dirty="0"/>
          </a:p>
        </p:txBody>
      </p:sp>
      <p:sp>
        <p:nvSpPr>
          <p:cNvPr id="16" name="Shape 14"/>
          <p:cNvSpPr/>
          <p:nvPr/>
        </p:nvSpPr>
        <p:spPr>
          <a:xfrm>
            <a:off x="457200" y="3794760"/>
            <a:ext cx="8229600" cy="1234440"/>
          </a:xfrm>
          <a:prstGeom prst="roundRect">
            <a:avLst/>
          </a:prstGeom>
          <a:solidFill>
            <a:srgbClr val="EEEAF6"/>
          </a:solidFill>
          <a:ln/>
          <a:effectLst>
            <a:outerShdw sx="100000" sy="100000" kx="0" ky="0" algn="bl" rotWithShape="0" blurRad="63500" dist="31750" dir="2700000">
              <a:srgbClr val="8C8C99">
                <a:alpha val="35000"/>
              </a:srgbClr>
            </a:outerShdw>
          </a:effectLst>
        </p:spPr>
      </p:sp>
      <p:sp>
        <p:nvSpPr>
          <p:cNvPr id="17" name="Text 15"/>
          <p:cNvSpPr/>
          <p:nvPr/>
        </p:nvSpPr>
        <p:spPr>
          <a:xfrm>
            <a:off x="640080" y="3950208"/>
            <a:ext cx="1371600" cy="27432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Research gap</a:t>
            </a:r>
            <a:endParaRPr lang="en-US" sz="1350" dirty="0"/>
          </a:p>
        </p:txBody>
      </p:sp>
      <p:sp>
        <p:nvSpPr>
          <p:cNvPr id="18" name="Text 16"/>
          <p:cNvSpPr/>
          <p:nvPr/>
        </p:nvSpPr>
        <p:spPr>
          <a:xfrm>
            <a:off x="1965960" y="3886200"/>
            <a:ext cx="6537960" cy="594360"/>
          </a:xfrm>
          <a:prstGeom prst="rect">
            <a:avLst/>
          </a:prstGeom>
          <a:noFill/>
          <a:ln/>
        </p:spPr>
        <p:txBody>
          <a:bodyPr wrap="square" lIns="0" tIns="0" rIns="0" bIns="0" rtlCol="0" anchor="t"/>
          <a:lstStyle/>
          <a:p>
            <a:pPr algn="l" indent="0" marL="0">
              <a:lnSpc>
                <a:spcPct val="125000"/>
              </a:lnSpc>
              <a:buNone/>
            </a:pPr>
            <a:r>
              <a:rPr lang="en-US" sz="1500" b="1" dirty="0">
                <a:solidFill>
                  <a:srgbClr val="322164"/>
                </a:solidFill>
                <a:latin typeface="Cambria" pitchFamily="34" charset="0"/>
                <a:ea typeface="Cambria" pitchFamily="34" charset="-122"/>
                <a:cs typeface="Cambria" pitchFamily="34" charset="-120"/>
              </a:rPr>
              <a:t>Cần một thước đo hỏi trực tiếp: “Câu này có khiến một người nghe độc lập tìm đúng phần tử cần chạm không?”</a:t>
            </a:r>
            <a:endParaRPr lang="en-US" sz="1500" dirty="0"/>
          </a:p>
        </p:txBody>
      </p:sp>
      <p:sp>
        <p:nvSpPr>
          <p:cNvPr id="19" name="Text 17"/>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Luận văn Ch.1–2 · Zhao et al., EACL 2021</a:t>
            </a:r>
            <a:endParaRPr lang="en-US" sz="820" dirty="0"/>
          </a:p>
        </p:txBody>
      </p:sp>
      <p:sp>
        <p:nvSpPr>
          <p:cNvPr id="21" name="Shape 18"/>
          <p:cNvSpPr/>
          <p:nvPr/>
        </p:nvSpPr>
        <p:spPr>
          <a:xfrm>
            <a:off x="0" y="6620256"/>
            <a:ext cx="2743200" cy="237744"/>
          </a:xfrm>
          <a:prstGeom prst="rect">
            <a:avLst/>
          </a:prstGeom>
          <a:solidFill>
            <a:srgbClr val="191132"/>
          </a:solidFill>
          <a:ln/>
        </p:spPr>
      </p:sp>
      <p:sp>
        <p:nvSpPr>
          <p:cNvPr id="22" name="Shape 19"/>
          <p:cNvSpPr/>
          <p:nvPr/>
        </p:nvSpPr>
        <p:spPr>
          <a:xfrm>
            <a:off x="2743200" y="6620256"/>
            <a:ext cx="3383280" cy="237744"/>
          </a:xfrm>
          <a:prstGeom prst="rect">
            <a:avLst/>
          </a:prstGeom>
          <a:solidFill>
            <a:srgbClr val="25194B"/>
          </a:solidFill>
          <a:ln/>
        </p:spPr>
      </p:sp>
      <p:sp>
        <p:nvSpPr>
          <p:cNvPr id="23" name="Shape 20"/>
          <p:cNvSpPr/>
          <p:nvPr/>
        </p:nvSpPr>
        <p:spPr>
          <a:xfrm>
            <a:off x="6126480" y="6620256"/>
            <a:ext cx="1737360" cy="237744"/>
          </a:xfrm>
          <a:prstGeom prst="rect">
            <a:avLst/>
          </a:prstGeom>
          <a:solidFill>
            <a:srgbClr val="4F417A"/>
          </a:solidFill>
          <a:ln/>
        </p:spPr>
      </p:sp>
      <p:sp>
        <p:nvSpPr>
          <p:cNvPr id="24" name="Shape 21"/>
          <p:cNvSpPr/>
          <p:nvPr/>
        </p:nvSpPr>
        <p:spPr>
          <a:xfrm>
            <a:off x="7863840" y="6620256"/>
            <a:ext cx="1280160" cy="237744"/>
          </a:xfrm>
          <a:prstGeom prst="rect">
            <a:avLst/>
          </a:prstGeom>
          <a:solidFill>
            <a:srgbClr val="7A7099"/>
          </a:solidFill>
          <a:ln/>
        </p:spPr>
      </p:sp>
      <p:sp>
        <p:nvSpPr>
          <p:cNvPr id="25" name="Text 2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6" name="Text 2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7" name="Text 2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8" name="Text 2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3/21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Ba đóng góp xoay quanh một câu hỏi trung tâm</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RESEARCH QUESTIONS</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Làm sao viết câu ngắn nhưng đủ phân biệt để người nghe tìm đúng phần tử?</a:t>
            </a:r>
            <a:endParaRPr lang="en-US" sz="2200" dirty="0"/>
          </a:p>
        </p:txBody>
      </p:sp>
      <p:sp>
        <p:nvSpPr>
          <p:cNvPr id="6" name="Shape 4"/>
          <p:cNvSpPr/>
          <p:nvPr/>
        </p:nvSpPr>
        <p:spPr>
          <a:xfrm>
            <a:off x="457200" y="2240280"/>
            <a:ext cx="2560320" cy="2240280"/>
          </a:xfrm>
          <a:prstGeom prst="roundRect">
            <a:avLst/>
          </a:prstGeom>
          <a:solidFill>
            <a:srgbClr val="EEEAF6"/>
          </a:solidFill>
          <a:ln/>
          <a:effectLst>
            <a:outerShdw sx="100000" sy="100000" kx="0" ky="0" algn="bl" rotWithShape="0" blurRad="63500" dist="31750" dir="2700000">
              <a:srgbClr val="8C8C99">
                <a:alpha val="35000"/>
              </a:srgbClr>
            </a:outerShdw>
          </a:effectLst>
        </p:spPr>
      </p:sp>
      <p:sp>
        <p:nvSpPr>
          <p:cNvPr id="7" name="Text 5"/>
          <p:cNvSpPr/>
          <p:nvPr/>
        </p:nvSpPr>
        <p:spPr>
          <a:xfrm>
            <a:off x="566928" y="2359152"/>
            <a:ext cx="438912" cy="438912"/>
          </a:xfrm>
          <a:prstGeom prst="rect">
            <a:avLst/>
          </a:prstGeom>
          <a:noFill/>
          <a:ln/>
        </p:spPr>
        <p:txBody>
          <a:bodyPr wrap="square" lIns="0" tIns="0" rIns="0" bIns="0" rtlCol="0" anchor="t"/>
          <a:lstStyle/>
          <a:p>
            <a:pPr algn="ctr" indent="0" marL="0">
              <a:buNone/>
            </a:pPr>
            <a:r>
              <a:rPr lang="en-US" sz="2400" b="1" dirty="0">
                <a:solidFill>
                  <a:srgbClr val="322164"/>
                </a:solidFill>
                <a:latin typeface="Cambria" pitchFamily="34" charset="0"/>
                <a:ea typeface="Cambria" pitchFamily="34" charset="-122"/>
                <a:cs typeface="Cambria" pitchFamily="34" charset="-120"/>
              </a:rPr>
              <a:t>1</a:t>
            </a:r>
            <a:endParaRPr lang="en-US" sz="2400" dirty="0"/>
          </a:p>
        </p:txBody>
      </p:sp>
      <p:sp>
        <p:nvSpPr>
          <p:cNvPr id="8" name="Text 6"/>
          <p:cNvSpPr/>
          <p:nvPr/>
        </p:nvSpPr>
        <p:spPr>
          <a:xfrm>
            <a:off x="1051560" y="2395728"/>
            <a:ext cx="1783080" cy="320040"/>
          </a:xfrm>
          <a:prstGeom prst="rect">
            <a:avLst/>
          </a:prstGeom>
          <a:noFill/>
          <a:ln/>
        </p:spPr>
        <p:txBody>
          <a:bodyPr wrap="square" lIns="0" tIns="0" rIns="0" bIns="0" rtlCol="0" anchor="t"/>
          <a:lstStyle/>
          <a:p>
            <a:pPr algn="l" indent="0" marL="0">
              <a:buNone/>
            </a:pPr>
            <a:r>
              <a:rPr lang="en-US" sz="1450" b="1" dirty="0">
                <a:solidFill>
                  <a:srgbClr val="322164"/>
                </a:solidFill>
                <a:latin typeface="Cambria" pitchFamily="34" charset="0"/>
                <a:ea typeface="Cambria" pitchFamily="34" charset="-122"/>
                <a:cs typeface="Cambria" pitchFamily="34" charset="-120"/>
              </a:rPr>
              <a:t>Phương pháp</a:t>
            </a:r>
            <a:endParaRPr lang="en-US" sz="1450" dirty="0"/>
          </a:p>
        </p:txBody>
      </p:sp>
      <p:sp>
        <p:nvSpPr>
          <p:cNvPr id="9" name="Text 7"/>
          <p:cNvSpPr/>
          <p:nvPr/>
        </p:nvSpPr>
        <p:spPr>
          <a:xfrm>
            <a:off x="640080" y="2971800"/>
            <a:ext cx="2194560" cy="109728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GRPO thưởng SPICE + ACE tác động trực tiếp vào câu cuối.</a:t>
            </a:r>
            <a:endParaRPr lang="en-US" sz="1250" dirty="0"/>
          </a:p>
        </p:txBody>
      </p:sp>
      <p:sp>
        <p:nvSpPr>
          <p:cNvPr id="10" name="Shape 8"/>
          <p:cNvSpPr/>
          <p:nvPr/>
        </p:nvSpPr>
        <p:spPr>
          <a:xfrm>
            <a:off x="3200400" y="2240280"/>
            <a:ext cx="2560320" cy="22402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1" name="Text 9"/>
          <p:cNvSpPr/>
          <p:nvPr/>
        </p:nvSpPr>
        <p:spPr>
          <a:xfrm>
            <a:off x="3310128" y="2359152"/>
            <a:ext cx="438912" cy="438912"/>
          </a:xfrm>
          <a:prstGeom prst="rect">
            <a:avLst/>
          </a:prstGeom>
          <a:noFill/>
          <a:ln/>
        </p:spPr>
        <p:txBody>
          <a:bodyPr wrap="square" lIns="0" tIns="0" rIns="0" bIns="0" rtlCol="0" anchor="t"/>
          <a:lstStyle/>
          <a:p>
            <a:pPr algn="ctr" indent="0" marL="0">
              <a:buNone/>
            </a:pPr>
            <a:r>
              <a:rPr lang="en-US" sz="2400" b="1" dirty="0">
                <a:solidFill>
                  <a:srgbClr val="006666"/>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3794760" y="2395728"/>
            <a:ext cx="1783080" cy="320040"/>
          </a:xfrm>
          <a:prstGeom prst="rect">
            <a:avLst/>
          </a:prstGeom>
          <a:noFill/>
          <a:ln/>
        </p:spPr>
        <p:txBody>
          <a:bodyPr wrap="square" lIns="0" tIns="0" rIns="0" bIns="0" rtlCol="0" anchor="t"/>
          <a:lstStyle/>
          <a:p>
            <a:pPr algn="l" indent="0" marL="0">
              <a:buNone/>
            </a:pPr>
            <a:r>
              <a:rPr lang="en-US" sz="1450" b="1" dirty="0">
                <a:solidFill>
                  <a:srgbClr val="322164"/>
                </a:solidFill>
                <a:latin typeface="Cambria" pitchFamily="34" charset="0"/>
                <a:ea typeface="Cambria" pitchFamily="34" charset="-122"/>
                <a:cs typeface="Cambria" pitchFamily="34" charset="-120"/>
              </a:rPr>
              <a:t>Độ đo</a:t>
            </a:r>
            <a:endParaRPr lang="en-US" sz="1450" dirty="0"/>
          </a:p>
        </p:txBody>
      </p:sp>
      <p:sp>
        <p:nvSpPr>
          <p:cNvPr id="13" name="Text 11"/>
          <p:cNvSpPr/>
          <p:nvPr/>
        </p:nvSpPr>
        <p:spPr>
          <a:xfrm>
            <a:off x="3383280" y="2971800"/>
            <a:ext cx="2194560" cy="109728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Executability: listener độc lập → tọa độ → đúng/sai.</a:t>
            </a:r>
            <a:endParaRPr lang="en-US" sz="1250" dirty="0"/>
          </a:p>
        </p:txBody>
      </p:sp>
      <p:sp>
        <p:nvSpPr>
          <p:cNvPr id="14" name="Shape 12"/>
          <p:cNvSpPr/>
          <p:nvPr/>
        </p:nvSpPr>
        <p:spPr>
          <a:xfrm>
            <a:off x="5943600" y="2240280"/>
            <a:ext cx="2560320" cy="22402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5" name="Text 13"/>
          <p:cNvSpPr/>
          <p:nvPr/>
        </p:nvSpPr>
        <p:spPr>
          <a:xfrm>
            <a:off x="6053328" y="2359152"/>
            <a:ext cx="438912" cy="438912"/>
          </a:xfrm>
          <a:prstGeom prst="rect">
            <a:avLst/>
          </a:prstGeom>
          <a:noFill/>
          <a:ln/>
        </p:spPr>
        <p:txBody>
          <a:bodyPr wrap="square" lIns="0" tIns="0" rIns="0" bIns="0" rtlCol="0" anchor="t"/>
          <a:lstStyle/>
          <a:p>
            <a:pPr algn="ctr" indent="0" marL="0">
              <a:buNone/>
            </a:pPr>
            <a:r>
              <a:rPr lang="en-US" sz="2400" b="1" dirty="0">
                <a:solidFill>
                  <a:srgbClr val="006666"/>
                </a:solidFill>
                <a:latin typeface="Cambria" pitchFamily="34" charset="0"/>
                <a:ea typeface="Cambria" pitchFamily="34" charset="-122"/>
                <a:cs typeface="Cambria" pitchFamily="34" charset="-120"/>
              </a:rPr>
              <a:t>3</a:t>
            </a:r>
            <a:endParaRPr lang="en-US" sz="2400" dirty="0"/>
          </a:p>
        </p:txBody>
      </p:sp>
      <p:sp>
        <p:nvSpPr>
          <p:cNvPr id="16" name="Text 14"/>
          <p:cNvSpPr/>
          <p:nvPr/>
        </p:nvSpPr>
        <p:spPr>
          <a:xfrm>
            <a:off x="6537960" y="2395728"/>
            <a:ext cx="1783080" cy="320040"/>
          </a:xfrm>
          <a:prstGeom prst="rect">
            <a:avLst/>
          </a:prstGeom>
          <a:noFill/>
          <a:ln/>
        </p:spPr>
        <p:txBody>
          <a:bodyPr wrap="square" lIns="0" tIns="0" rIns="0" bIns="0" rtlCol="0" anchor="t"/>
          <a:lstStyle/>
          <a:p>
            <a:pPr algn="l" indent="0" marL="0">
              <a:buNone/>
            </a:pPr>
            <a:r>
              <a:rPr lang="en-US" sz="1450" b="1" dirty="0">
                <a:solidFill>
                  <a:srgbClr val="322164"/>
                </a:solidFill>
                <a:latin typeface="Cambria" pitchFamily="34" charset="0"/>
                <a:ea typeface="Cambria" pitchFamily="34" charset="-122"/>
                <a:cs typeface="Cambria" pitchFamily="34" charset="-120"/>
              </a:rPr>
              <a:t>Phân tích</a:t>
            </a:r>
            <a:endParaRPr lang="en-US" sz="1450" dirty="0"/>
          </a:p>
        </p:txBody>
      </p:sp>
      <p:sp>
        <p:nvSpPr>
          <p:cNvPr id="17" name="Text 15"/>
          <p:cNvSpPr/>
          <p:nvPr/>
        </p:nvSpPr>
        <p:spPr>
          <a:xfrm>
            <a:off x="6126480" y="2971800"/>
            <a:ext cx="2194560" cy="109728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Các hướng thất bại cho biết nút thắt nằm ở đâu và vì sao phải đổi hướng.</a:t>
            </a:r>
            <a:endParaRPr lang="en-US" sz="1250" dirty="0"/>
          </a:p>
        </p:txBody>
      </p:sp>
      <p:sp>
        <p:nvSpPr>
          <p:cNvPr id="18" name="Shape 16"/>
          <p:cNvSpPr/>
          <p:nvPr/>
        </p:nvSpPr>
        <p:spPr>
          <a:xfrm>
            <a:off x="457200" y="4800600"/>
            <a:ext cx="8229600" cy="82296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9" name="Text 17"/>
          <p:cNvSpPr/>
          <p:nvPr/>
        </p:nvSpPr>
        <p:spPr>
          <a:xfrm>
            <a:off x="640080" y="4919472"/>
            <a:ext cx="1280160" cy="27432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Scientific story</a:t>
            </a:r>
            <a:endParaRPr lang="en-US" sz="1250" dirty="0"/>
          </a:p>
        </p:txBody>
      </p:sp>
      <p:sp>
        <p:nvSpPr>
          <p:cNvPr id="20" name="Text 18"/>
          <p:cNvSpPr/>
          <p:nvPr/>
        </p:nvSpPr>
        <p:spPr>
          <a:xfrm>
            <a:off x="1874520" y="4864608"/>
            <a:ext cx="6629400" cy="38404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Đo đúng → cải thiện trực tiếp câu → kiểm bằng nhiều listener/rule → công khai giới hạn. </a:t>
            </a:r>
            <a:endParaRPr lang="en-US" sz="1350" dirty="0"/>
          </a:p>
        </p:txBody>
      </p:sp>
      <p:sp>
        <p:nvSpPr>
          <p:cNvPr id="21" name="Text 19"/>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Luận văn §1.6</a:t>
            </a:r>
            <a:endParaRPr lang="en-US" sz="820" dirty="0"/>
          </a:p>
        </p:txBody>
      </p:sp>
      <p:sp>
        <p:nvSpPr>
          <p:cNvPr id="22" name="Shape 20"/>
          <p:cNvSpPr/>
          <p:nvPr/>
        </p:nvSpPr>
        <p:spPr>
          <a:xfrm>
            <a:off x="0" y="6620256"/>
            <a:ext cx="2743200" cy="237744"/>
          </a:xfrm>
          <a:prstGeom prst="rect">
            <a:avLst/>
          </a:prstGeom>
          <a:solidFill>
            <a:srgbClr val="191132"/>
          </a:solidFill>
          <a:ln/>
        </p:spPr>
      </p:sp>
      <p:sp>
        <p:nvSpPr>
          <p:cNvPr id="23" name="Shape 21"/>
          <p:cNvSpPr/>
          <p:nvPr/>
        </p:nvSpPr>
        <p:spPr>
          <a:xfrm>
            <a:off x="2743200" y="6620256"/>
            <a:ext cx="3383280" cy="237744"/>
          </a:xfrm>
          <a:prstGeom prst="rect">
            <a:avLst/>
          </a:prstGeom>
          <a:solidFill>
            <a:srgbClr val="25194B"/>
          </a:solidFill>
          <a:ln/>
        </p:spPr>
      </p:sp>
      <p:sp>
        <p:nvSpPr>
          <p:cNvPr id="24" name="Shape 22"/>
          <p:cNvSpPr/>
          <p:nvPr/>
        </p:nvSpPr>
        <p:spPr>
          <a:xfrm>
            <a:off x="6126480" y="6620256"/>
            <a:ext cx="1737360" cy="237744"/>
          </a:xfrm>
          <a:prstGeom prst="rect">
            <a:avLst/>
          </a:prstGeom>
          <a:solidFill>
            <a:srgbClr val="4F417A"/>
          </a:solidFill>
          <a:ln/>
        </p:spPr>
      </p:sp>
      <p:sp>
        <p:nvSpPr>
          <p:cNvPr id="25" name="Shape 23"/>
          <p:cNvSpPr/>
          <p:nvPr/>
        </p:nvSpPr>
        <p:spPr>
          <a:xfrm>
            <a:off x="7863840" y="6620256"/>
            <a:ext cx="1280160" cy="237744"/>
          </a:xfrm>
          <a:prstGeom prst="rect">
            <a:avLst/>
          </a:prstGeom>
          <a:solidFill>
            <a:srgbClr val="7A7099"/>
          </a:solidFill>
          <a:ln/>
        </p:spPr>
      </p:sp>
      <p:sp>
        <p:nvSpPr>
          <p:cNvPr id="26" name="Text 2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7" name="Text 2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8" name="Text 2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9" name="Text 2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4/21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Dữ liệu được dựng tự động, không bổ sung nhãn thủ công</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DATA</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64.567 bước huấn luyện được tạo từ nhãn có sẵn của AndroidControl.</a:t>
            </a:r>
            <a:endParaRPr lang="en-US" sz="2200" dirty="0"/>
          </a:p>
        </p:txBody>
      </p:sp>
      <p:sp>
        <p:nvSpPr>
          <p:cNvPr id="6" name="Text 4"/>
          <p:cNvSpPr/>
          <p:nvPr/>
        </p:nvSpPr>
        <p:spPr>
          <a:xfrm>
            <a:off x="457200" y="1499616"/>
            <a:ext cx="8229600" cy="411480"/>
          </a:xfrm>
          <a:prstGeom prst="rect">
            <a:avLst/>
          </a:prstGeom>
          <a:noFill/>
          <a:ln/>
        </p:spPr>
        <p:txBody>
          <a:bodyPr wrap="square" lIns="0" tIns="0" rIns="0" bIns="0" rtlCol="0" anchor="t"/>
          <a:lstStyle/>
          <a:p>
            <a:pPr algn="l" indent="0" marL="0">
              <a:lnSpc>
                <a:spcPct val="120000"/>
              </a:lnSpc>
              <a:buNone/>
            </a:pPr>
            <a:r>
              <a:rPr lang="en-US" sz="1250" dirty="0">
                <a:solidFill>
                  <a:srgbClr val="5A5A66"/>
                </a:solidFill>
                <a:latin typeface="Cambria" pitchFamily="34" charset="0"/>
                <a:ea typeface="Cambria" pitchFamily="34" charset="-122"/>
                <a:cs typeface="Cambria" pitchFamily="34" charset="-120"/>
              </a:rPr>
              <a:t>Tập kiểm tra giữ riêng theo tác vụ; mọi mô hình được chấm trên cùng một tập.</a:t>
            </a:r>
            <a:endParaRPr lang="en-US" sz="1250" dirty="0"/>
          </a:p>
        </p:txBody>
      </p:sp>
      <p:sp>
        <p:nvSpPr>
          <p:cNvPr id="7" name="Shape 5"/>
          <p:cNvSpPr/>
          <p:nvPr/>
        </p:nvSpPr>
        <p:spPr>
          <a:xfrm>
            <a:off x="457200" y="2084832"/>
            <a:ext cx="1828800" cy="123444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8" name="Text 6"/>
          <p:cNvSpPr/>
          <p:nvPr/>
        </p:nvSpPr>
        <p:spPr>
          <a:xfrm>
            <a:off x="585216" y="2157984"/>
            <a:ext cx="1572768" cy="457200"/>
          </a:xfrm>
          <a:prstGeom prst="rect">
            <a:avLst/>
          </a:prstGeom>
          <a:noFill/>
          <a:ln/>
        </p:spPr>
        <p:txBody>
          <a:bodyPr wrap="square" lIns="0" tIns="0" rIns="0" bIns="0" rtlCol="0" anchor="t"/>
          <a:lstStyle/>
          <a:p>
            <a:pPr algn="l" indent="0" marL="0">
              <a:buNone/>
            </a:pPr>
            <a:r>
              <a:rPr lang="en-US" sz="1900" b="1" dirty="0">
                <a:solidFill>
                  <a:srgbClr val="322164"/>
                </a:solidFill>
                <a:latin typeface="Cambria" pitchFamily="34" charset="0"/>
                <a:ea typeface="Cambria" pitchFamily="34" charset="-122"/>
                <a:cs typeface="Cambria" pitchFamily="34" charset="-120"/>
              </a:rPr>
              <a:t>64.567</a:t>
            </a:r>
            <a:endParaRPr lang="en-US" sz="1900" dirty="0"/>
          </a:p>
        </p:txBody>
      </p:sp>
      <p:sp>
        <p:nvSpPr>
          <p:cNvPr id="9" name="Text 7"/>
          <p:cNvSpPr/>
          <p:nvPr/>
        </p:nvSpPr>
        <p:spPr>
          <a:xfrm>
            <a:off x="585216" y="2633472"/>
            <a:ext cx="1572768" cy="612648"/>
          </a:xfrm>
          <a:prstGeom prst="rect">
            <a:avLst/>
          </a:prstGeom>
          <a:noFill/>
          <a:ln/>
        </p:spPr>
        <p:txBody>
          <a:bodyPr wrap="square" lIns="0" tIns="0" rIns="0" bIns="0" rtlCol="0" anchor="t"/>
          <a:lstStyle/>
          <a:p>
            <a:pPr algn="l" indent="0" marL="0">
              <a:lnSpc>
                <a:spcPct val="118000"/>
              </a:lnSpc>
              <a:buNone/>
            </a:pPr>
            <a:r>
              <a:rPr lang="en-US" sz="1150" dirty="0">
                <a:solidFill>
                  <a:srgbClr val="1A1A1A"/>
                </a:solidFill>
                <a:latin typeface="Cambria" pitchFamily="34" charset="0"/>
                <a:ea typeface="Cambria" pitchFamily="34" charset="-122"/>
                <a:cs typeface="Cambria" pitchFamily="34" charset="-120"/>
              </a:rPr>
              <a:t>bước huấn luyện</a:t>
            </a:r>
            <a:endParaRPr lang="en-US" sz="1150" dirty="0"/>
          </a:p>
        </p:txBody>
      </p:sp>
      <p:sp>
        <p:nvSpPr>
          <p:cNvPr id="10" name="Shape 8"/>
          <p:cNvSpPr/>
          <p:nvPr/>
        </p:nvSpPr>
        <p:spPr>
          <a:xfrm>
            <a:off x="2432304" y="2084832"/>
            <a:ext cx="1828800" cy="123444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1" name="Text 9"/>
          <p:cNvSpPr/>
          <p:nvPr/>
        </p:nvSpPr>
        <p:spPr>
          <a:xfrm>
            <a:off x="2560320" y="2157984"/>
            <a:ext cx="1572768" cy="457200"/>
          </a:xfrm>
          <a:prstGeom prst="rect">
            <a:avLst/>
          </a:prstGeom>
          <a:noFill/>
          <a:ln/>
        </p:spPr>
        <p:txBody>
          <a:bodyPr wrap="square" lIns="0" tIns="0" rIns="0" bIns="0" rtlCol="0" anchor="t"/>
          <a:lstStyle/>
          <a:p>
            <a:pPr algn="l" indent="0" marL="0">
              <a:buNone/>
            </a:pPr>
            <a:r>
              <a:rPr lang="en-US" sz="1900" b="1" dirty="0">
                <a:solidFill>
                  <a:srgbClr val="322164"/>
                </a:solidFill>
                <a:latin typeface="Cambria" pitchFamily="34" charset="0"/>
                <a:ea typeface="Cambria" pitchFamily="34" charset="-122"/>
                <a:cs typeface="Cambria" pitchFamily="34" charset="-120"/>
              </a:rPr>
              <a:t>6.958</a:t>
            </a:r>
            <a:endParaRPr lang="en-US" sz="1900" dirty="0"/>
          </a:p>
        </p:txBody>
      </p:sp>
      <p:sp>
        <p:nvSpPr>
          <p:cNvPr id="12" name="Text 10"/>
          <p:cNvSpPr/>
          <p:nvPr/>
        </p:nvSpPr>
        <p:spPr>
          <a:xfrm>
            <a:off x="2560320" y="2633472"/>
            <a:ext cx="1572768" cy="612648"/>
          </a:xfrm>
          <a:prstGeom prst="rect">
            <a:avLst/>
          </a:prstGeom>
          <a:noFill/>
          <a:ln/>
        </p:spPr>
        <p:txBody>
          <a:bodyPr wrap="square" lIns="0" tIns="0" rIns="0" bIns="0" rtlCol="0" anchor="t"/>
          <a:lstStyle/>
          <a:p>
            <a:pPr algn="l" indent="0" marL="0">
              <a:lnSpc>
                <a:spcPct val="118000"/>
              </a:lnSpc>
              <a:buNone/>
            </a:pPr>
            <a:r>
              <a:rPr lang="en-US" sz="1150" dirty="0">
                <a:solidFill>
                  <a:srgbClr val="1A1A1A"/>
                </a:solidFill>
                <a:latin typeface="Cambria" pitchFamily="34" charset="0"/>
                <a:ea typeface="Cambria" pitchFamily="34" charset="-122"/>
                <a:cs typeface="Cambria" pitchFamily="34" charset="-120"/>
              </a:rPr>
              <a:t>bước kiểm tra</a:t>
            </a:r>
            <a:endParaRPr lang="en-US" sz="1150" dirty="0"/>
          </a:p>
        </p:txBody>
      </p:sp>
      <p:sp>
        <p:nvSpPr>
          <p:cNvPr id="13" name="Shape 11"/>
          <p:cNvSpPr/>
          <p:nvPr/>
        </p:nvSpPr>
        <p:spPr>
          <a:xfrm>
            <a:off x="4407408" y="2084832"/>
            <a:ext cx="1828800" cy="123444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4" name="Text 12"/>
          <p:cNvSpPr/>
          <p:nvPr/>
        </p:nvSpPr>
        <p:spPr>
          <a:xfrm>
            <a:off x="4535424" y="2157984"/>
            <a:ext cx="1572768" cy="457200"/>
          </a:xfrm>
          <a:prstGeom prst="rect">
            <a:avLst/>
          </a:prstGeom>
          <a:noFill/>
          <a:ln/>
        </p:spPr>
        <p:txBody>
          <a:bodyPr wrap="square" lIns="0" tIns="0" rIns="0" bIns="0" rtlCol="0" anchor="t"/>
          <a:lstStyle/>
          <a:p>
            <a:pPr algn="l" indent="0" marL="0">
              <a:buNone/>
            </a:pPr>
            <a:r>
              <a:rPr lang="en-US" sz="1900" b="1" dirty="0">
                <a:solidFill>
                  <a:srgbClr val="006666"/>
                </a:solidFill>
                <a:latin typeface="Cambria" pitchFamily="34" charset="0"/>
                <a:ea typeface="Cambria" pitchFamily="34" charset="-122"/>
                <a:cs typeface="Cambria" pitchFamily="34" charset="-120"/>
              </a:rPr>
              <a:t>4.463</a:t>
            </a:r>
            <a:endParaRPr lang="en-US" sz="1900" dirty="0"/>
          </a:p>
        </p:txBody>
      </p:sp>
      <p:sp>
        <p:nvSpPr>
          <p:cNvPr id="15" name="Text 13"/>
          <p:cNvSpPr/>
          <p:nvPr/>
        </p:nvSpPr>
        <p:spPr>
          <a:xfrm>
            <a:off x="4535424" y="2633472"/>
            <a:ext cx="1572768" cy="612648"/>
          </a:xfrm>
          <a:prstGeom prst="rect">
            <a:avLst/>
          </a:prstGeom>
          <a:noFill/>
          <a:ln/>
        </p:spPr>
        <p:txBody>
          <a:bodyPr wrap="square" lIns="0" tIns="0" rIns="0" bIns="0" rtlCol="0" anchor="t"/>
          <a:lstStyle/>
          <a:p>
            <a:pPr algn="l" indent="0" marL="0">
              <a:lnSpc>
                <a:spcPct val="118000"/>
              </a:lnSpc>
              <a:buNone/>
            </a:pPr>
            <a:r>
              <a:rPr lang="en-US" sz="1150" dirty="0">
                <a:solidFill>
                  <a:srgbClr val="1A1A1A"/>
                </a:solidFill>
                <a:latin typeface="Cambria" pitchFamily="34" charset="0"/>
                <a:ea typeface="Cambria" pitchFamily="34" charset="-122"/>
                <a:cs typeface="Cambria" pitchFamily="34" charset="-120"/>
              </a:rPr>
              <a:t>bước chạm dùng cho executability</a:t>
            </a:r>
            <a:endParaRPr lang="en-US" sz="1150" dirty="0"/>
          </a:p>
        </p:txBody>
      </p:sp>
      <p:sp>
        <p:nvSpPr>
          <p:cNvPr id="16" name="Shape 14"/>
          <p:cNvSpPr/>
          <p:nvPr/>
        </p:nvSpPr>
        <p:spPr>
          <a:xfrm>
            <a:off x="6382512" y="2084832"/>
            <a:ext cx="1828800" cy="123444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7" name="Text 15"/>
          <p:cNvSpPr/>
          <p:nvPr/>
        </p:nvSpPr>
        <p:spPr>
          <a:xfrm>
            <a:off x="6510528" y="2157984"/>
            <a:ext cx="1572768" cy="457200"/>
          </a:xfrm>
          <a:prstGeom prst="rect">
            <a:avLst/>
          </a:prstGeom>
          <a:noFill/>
          <a:ln/>
        </p:spPr>
        <p:txBody>
          <a:bodyPr wrap="square" lIns="0" tIns="0" rIns="0" bIns="0" rtlCol="0" anchor="t"/>
          <a:lstStyle/>
          <a:p>
            <a:pPr algn="l" indent="0" marL="0">
              <a:buNone/>
            </a:pPr>
            <a:r>
              <a:rPr lang="en-US" sz="1900" b="1" dirty="0">
                <a:solidFill>
                  <a:srgbClr val="006666"/>
                </a:solidFill>
                <a:latin typeface="Cambria" pitchFamily="34" charset="0"/>
                <a:ea typeface="Cambria" pitchFamily="34" charset="-122"/>
                <a:cs typeface="Cambria" pitchFamily="34" charset="-120"/>
              </a:rPr>
              <a:t>1.432</a:t>
            </a:r>
            <a:endParaRPr lang="en-US" sz="1900" dirty="0"/>
          </a:p>
        </p:txBody>
      </p:sp>
      <p:sp>
        <p:nvSpPr>
          <p:cNvPr id="18" name="Text 16"/>
          <p:cNvSpPr/>
          <p:nvPr/>
        </p:nvSpPr>
        <p:spPr>
          <a:xfrm>
            <a:off x="6510528" y="2633472"/>
            <a:ext cx="1572768" cy="612648"/>
          </a:xfrm>
          <a:prstGeom prst="rect">
            <a:avLst/>
          </a:prstGeom>
          <a:noFill/>
          <a:ln/>
        </p:spPr>
        <p:txBody>
          <a:bodyPr wrap="square" lIns="0" tIns="0" rIns="0" bIns="0" rtlCol="0" anchor="t"/>
          <a:lstStyle/>
          <a:p>
            <a:pPr algn="l" indent="0" marL="0">
              <a:lnSpc>
                <a:spcPct val="118000"/>
              </a:lnSpc>
              <a:buNone/>
            </a:pPr>
            <a:r>
              <a:rPr lang="en-US" sz="1150" dirty="0">
                <a:solidFill>
                  <a:srgbClr val="1A1A1A"/>
                </a:solidFill>
                <a:latin typeface="Cambria" pitchFamily="34" charset="0"/>
                <a:ea typeface="Cambria" pitchFamily="34" charset="-122"/>
                <a:cs typeface="Cambria" pitchFamily="34" charset="-120"/>
              </a:rPr>
              <a:t>tác vụ kiểm tra</a:t>
            </a:r>
            <a:endParaRPr lang="en-US" sz="1150" dirty="0"/>
          </a:p>
        </p:txBody>
      </p:sp>
      <p:sp>
        <p:nvSpPr>
          <p:cNvPr id="19" name="Shape 17"/>
          <p:cNvSpPr/>
          <p:nvPr/>
        </p:nvSpPr>
        <p:spPr>
          <a:xfrm>
            <a:off x="457200" y="3749040"/>
            <a:ext cx="1828800" cy="749808"/>
          </a:xfrm>
          <a:prstGeom prst="roundRect">
            <a:avLst/>
          </a:prstGeom>
          <a:solidFill>
            <a:srgbClr val="FFFFFF"/>
          </a:solidFill>
          <a:ln w="15240">
            <a:solidFill>
              <a:srgbClr val="6E6890"/>
            </a:solidFill>
            <a:prstDash val="solid"/>
          </a:ln>
        </p:spPr>
      </p:sp>
      <p:sp>
        <p:nvSpPr>
          <p:cNvPr id="20" name="Text 18"/>
          <p:cNvSpPr/>
          <p:nvPr/>
        </p:nvSpPr>
        <p:spPr>
          <a:xfrm>
            <a:off x="457200" y="3749040"/>
            <a:ext cx="1828800" cy="749808"/>
          </a:xfrm>
          <a:prstGeom prst="rect">
            <a:avLst/>
          </a:prstGeom>
          <a:noFill/>
          <a:ln/>
        </p:spPr>
        <p:txBody>
          <a:bodyPr wrap="square" lIns="38100" tIns="38100" rIns="38100" bIns="38100" rtlCol="0" anchor="ctr"/>
          <a:lstStyle/>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AndroidControl</a:t>
            </a:r>
            <a:endParaRPr lang="en-US" sz="1150" dirty="0"/>
          </a:p>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labels</a:t>
            </a:r>
            <a:endParaRPr lang="en-US" sz="1150" dirty="0"/>
          </a:p>
        </p:txBody>
      </p:sp>
      <p:sp>
        <p:nvSpPr>
          <p:cNvPr id="21" name="Shape 19"/>
          <p:cNvSpPr/>
          <p:nvPr/>
        </p:nvSpPr>
        <p:spPr>
          <a:xfrm>
            <a:off x="2331720" y="4114800"/>
            <a:ext cx="502920" cy="0"/>
          </a:xfrm>
          <a:prstGeom prst="line">
            <a:avLst/>
          </a:prstGeom>
          <a:noFill/>
          <a:ln w="25400">
            <a:solidFill>
              <a:srgbClr val="4F417A"/>
            </a:solidFill>
            <a:prstDash val="solid"/>
            <a:tailEnd type="triangle"/>
          </a:ln>
        </p:spPr>
      </p:sp>
      <p:sp>
        <p:nvSpPr>
          <p:cNvPr id="22" name="Shape 20"/>
          <p:cNvSpPr/>
          <p:nvPr/>
        </p:nvSpPr>
        <p:spPr>
          <a:xfrm>
            <a:off x="2880360" y="3749040"/>
            <a:ext cx="1828800" cy="749808"/>
          </a:xfrm>
          <a:prstGeom prst="roundRect">
            <a:avLst/>
          </a:prstGeom>
          <a:solidFill>
            <a:srgbClr val="F5F4F7"/>
          </a:solidFill>
          <a:ln w="15240">
            <a:solidFill>
              <a:srgbClr val="6E6890"/>
            </a:solidFill>
            <a:prstDash val="solid"/>
          </a:ln>
        </p:spPr>
      </p:sp>
      <p:sp>
        <p:nvSpPr>
          <p:cNvPr id="23" name="Text 21"/>
          <p:cNvSpPr/>
          <p:nvPr/>
        </p:nvSpPr>
        <p:spPr>
          <a:xfrm>
            <a:off x="2880360" y="3749040"/>
            <a:ext cx="1828800" cy="749808"/>
          </a:xfrm>
          <a:prstGeom prst="rect">
            <a:avLst/>
          </a:prstGeom>
          <a:noFill/>
          <a:ln/>
        </p:spPr>
        <p:txBody>
          <a:bodyPr wrap="square" lIns="38100" tIns="38100" rIns="38100" bIns="38100" rtlCol="0" anchor="ctr"/>
          <a:lstStyle/>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ghép ảnh + OCR</a:t>
            </a:r>
            <a:endParaRPr lang="en-US" sz="1150" dirty="0"/>
          </a:p>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 cây trợ năng</a:t>
            </a:r>
            <a:endParaRPr lang="en-US" sz="1150" dirty="0"/>
          </a:p>
        </p:txBody>
      </p:sp>
      <p:sp>
        <p:nvSpPr>
          <p:cNvPr id="24" name="Shape 22"/>
          <p:cNvSpPr/>
          <p:nvPr/>
        </p:nvSpPr>
        <p:spPr>
          <a:xfrm>
            <a:off x="4754880" y="4114800"/>
            <a:ext cx="502920" cy="0"/>
          </a:xfrm>
          <a:prstGeom prst="line">
            <a:avLst/>
          </a:prstGeom>
          <a:noFill/>
          <a:ln w="25400">
            <a:solidFill>
              <a:srgbClr val="4F417A"/>
            </a:solidFill>
            <a:prstDash val="solid"/>
            <a:tailEnd type="triangle"/>
          </a:ln>
        </p:spPr>
      </p:sp>
      <p:sp>
        <p:nvSpPr>
          <p:cNvPr id="25" name="Shape 23"/>
          <p:cNvSpPr/>
          <p:nvPr/>
        </p:nvSpPr>
        <p:spPr>
          <a:xfrm>
            <a:off x="5303520" y="3749040"/>
            <a:ext cx="1508760" cy="749808"/>
          </a:xfrm>
          <a:prstGeom prst="roundRect">
            <a:avLst/>
          </a:prstGeom>
          <a:solidFill>
            <a:srgbClr val="FFFFFF"/>
          </a:solidFill>
          <a:ln w="15240">
            <a:solidFill>
              <a:srgbClr val="6E6890"/>
            </a:solidFill>
            <a:prstDash val="solid"/>
          </a:ln>
        </p:spPr>
      </p:sp>
      <p:sp>
        <p:nvSpPr>
          <p:cNvPr id="26" name="Text 24"/>
          <p:cNvSpPr/>
          <p:nvPr/>
        </p:nvSpPr>
        <p:spPr>
          <a:xfrm>
            <a:off x="5303520" y="3749040"/>
            <a:ext cx="1508760" cy="749808"/>
          </a:xfrm>
          <a:prstGeom prst="rect">
            <a:avLst/>
          </a:prstGeom>
          <a:noFill/>
          <a:ln/>
        </p:spPr>
        <p:txBody>
          <a:bodyPr wrap="square" lIns="38100" tIns="38100" rIns="38100" bIns="38100" rtlCol="0" anchor="ctr"/>
          <a:lstStyle/>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kiểm cấu trúc</a:t>
            </a:r>
            <a:endParaRPr lang="en-US" sz="1150" dirty="0"/>
          </a:p>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 rò rỉ</a:t>
            </a:r>
            <a:endParaRPr lang="en-US" sz="1150" dirty="0"/>
          </a:p>
        </p:txBody>
      </p:sp>
      <p:sp>
        <p:nvSpPr>
          <p:cNvPr id="27" name="Shape 25"/>
          <p:cNvSpPr/>
          <p:nvPr/>
        </p:nvSpPr>
        <p:spPr>
          <a:xfrm>
            <a:off x="6858000" y="4114800"/>
            <a:ext cx="502920" cy="0"/>
          </a:xfrm>
          <a:prstGeom prst="line">
            <a:avLst/>
          </a:prstGeom>
          <a:noFill/>
          <a:ln w="25400">
            <a:solidFill>
              <a:srgbClr val="4F417A"/>
            </a:solidFill>
            <a:prstDash val="solid"/>
            <a:tailEnd type="triangle"/>
          </a:ln>
        </p:spPr>
      </p:sp>
      <p:sp>
        <p:nvSpPr>
          <p:cNvPr id="28" name="Shape 26"/>
          <p:cNvSpPr/>
          <p:nvPr/>
        </p:nvSpPr>
        <p:spPr>
          <a:xfrm>
            <a:off x="7406640" y="3749040"/>
            <a:ext cx="1280160" cy="749808"/>
          </a:xfrm>
          <a:prstGeom prst="roundRect">
            <a:avLst/>
          </a:prstGeom>
          <a:solidFill>
            <a:srgbClr val="FFFFFF"/>
          </a:solidFill>
          <a:ln w="15240">
            <a:solidFill>
              <a:srgbClr val="322164"/>
            </a:solidFill>
            <a:prstDash val="solid"/>
          </a:ln>
        </p:spPr>
      </p:sp>
      <p:sp>
        <p:nvSpPr>
          <p:cNvPr id="29" name="Text 27"/>
          <p:cNvSpPr/>
          <p:nvPr/>
        </p:nvSpPr>
        <p:spPr>
          <a:xfrm>
            <a:off x="7406640" y="3749040"/>
            <a:ext cx="1280160" cy="749808"/>
          </a:xfrm>
          <a:prstGeom prst="rect">
            <a:avLst/>
          </a:prstGeom>
          <a:noFill/>
          <a:ln/>
        </p:spPr>
        <p:txBody>
          <a:bodyPr wrap="square" lIns="38100" tIns="38100" rIns="38100" bIns="38100" rtlCol="0" anchor="ctr"/>
          <a:lstStyle/>
          <a:p>
            <a:pPr algn="ctr" indent="0" marL="0">
              <a:lnSpc>
                <a:spcPct val="115000"/>
              </a:lnSpc>
              <a:buNone/>
            </a:pPr>
            <a:r>
              <a:rPr lang="en-US" sz="1150" b="1" dirty="0">
                <a:solidFill>
                  <a:srgbClr val="1A1A1A"/>
                </a:solidFill>
                <a:latin typeface="Cambria" pitchFamily="34" charset="0"/>
                <a:ea typeface="Cambria" pitchFamily="34" charset="-122"/>
                <a:cs typeface="Cambria" pitchFamily="34" charset="-120"/>
              </a:rPr>
              <a:t>train / test</a:t>
            </a:r>
            <a:endParaRPr lang="en-US" sz="1150" dirty="0"/>
          </a:p>
        </p:txBody>
      </p:sp>
      <p:sp>
        <p:nvSpPr>
          <p:cNvPr id="30" name="Text 28"/>
          <p:cNvSpPr/>
          <p:nvPr/>
        </p:nvSpPr>
        <p:spPr>
          <a:xfrm>
            <a:off x="457200" y="4892040"/>
            <a:ext cx="8229600" cy="411480"/>
          </a:xfrm>
          <a:prstGeom prst="rect">
            <a:avLst/>
          </a:prstGeom>
          <a:noFill/>
          <a:ln/>
        </p:spPr>
        <p:txBody>
          <a:bodyPr wrap="square" lIns="0" tIns="0" rIns="0" bIns="0" rtlCol="0" anchor="t"/>
          <a:lstStyle/>
          <a:p>
            <a:pPr algn="ctr" indent="0" marL="0">
              <a:buNone/>
            </a:pPr>
            <a:r>
              <a:rPr lang="en-US" sz="1400" b="1" dirty="0">
                <a:solidFill>
                  <a:srgbClr val="006666"/>
                </a:solidFill>
                <a:latin typeface="Cambria" pitchFamily="34" charset="0"/>
                <a:ea typeface="Cambria" pitchFamily="34" charset="-122"/>
                <a:cs typeface="Cambria" pitchFamily="34" charset="-120"/>
              </a:rPr>
              <a:t>Không tác vụ nào trùng giữa train và test.</a:t>
            </a:r>
            <a:endParaRPr lang="en-US" sz="1400" dirty="0"/>
          </a:p>
        </p:txBody>
      </p:sp>
      <p:sp>
        <p:nvSpPr>
          <p:cNvPr id="31" name="Text 29"/>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AndroidControl · Luận văn Ch.3</a:t>
            </a:r>
            <a:endParaRPr lang="en-US" sz="820" dirty="0"/>
          </a:p>
        </p:txBody>
      </p:sp>
      <p:sp>
        <p:nvSpPr>
          <p:cNvPr id="32" name="Shape 30"/>
          <p:cNvSpPr/>
          <p:nvPr/>
        </p:nvSpPr>
        <p:spPr>
          <a:xfrm>
            <a:off x="0" y="6620256"/>
            <a:ext cx="2743200" cy="237744"/>
          </a:xfrm>
          <a:prstGeom prst="rect">
            <a:avLst/>
          </a:prstGeom>
          <a:solidFill>
            <a:srgbClr val="191132"/>
          </a:solidFill>
          <a:ln/>
        </p:spPr>
      </p:sp>
      <p:sp>
        <p:nvSpPr>
          <p:cNvPr id="33" name="Shape 31"/>
          <p:cNvSpPr/>
          <p:nvPr/>
        </p:nvSpPr>
        <p:spPr>
          <a:xfrm>
            <a:off x="2743200" y="6620256"/>
            <a:ext cx="3383280" cy="237744"/>
          </a:xfrm>
          <a:prstGeom prst="rect">
            <a:avLst/>
          </a:prstGeom>
          <a:solidFill>
            <a:srgbClr val="25194B"/>
          </a:solidFill>
          <a:ln/>
        </p:spPr>
      </p:sp>
      <p:sp>
        <p:nvSpPr>
          <p:cNvPr id="34" name="Shape 32"/>
          <p:cNvSpPr/>
          <p:nvPr/>
        </p:nvSpPr>
        <p:spPr>
          <a:xfrm>
            <a:off x="6126480" y="6620256"/>
            <a:ext cx="1737360" cy="237744"/>
          </a:xfrm>
          <a:prstGeom prst="rect">
            <a:avLst/>
          </a:prstGeom>
          <a:solidFill>
            <a:srgbClr val="4F417A"/>
          </a:solidFill>
          <a:ln/>
        </p:spPr>
      </p:sp>
      <p:sp>
        <p:nvSpPr>
          <p:cNvPr id="35" name="Shape 33"/>
          <p:cNvSpPr/>
          <p:nvPr/>
        </p:nvSpPr>
        <p:spPr>
          <a:xfrm>
            <a:off x="7863840" y="6620256"/>
            <a:ext cx="1280160" cy="237744"/>
          </a:xfrm>
          <a:prstGeom prst="rect">
            <a:avLst/>
          </a:prstGeom>
          <a:solidFill>
            <a:srgbClr val="7A7099"/>
          </a:solidFill>
          <a:ln/>
        </p:spPr>
      </p:sp>
      <p:sp>
        <p:nvSpPr>
          <p:cNvPr id="36" name="Text 3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7" name="Text 3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8" name="Text 3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9" name="Text 3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5/21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Tinh chỉnh có giám sát tạo mốc mạnh nhưng vẫn còn khoảng cách lớn</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BASELINE</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S1 tăng +11,5 pp so với mô hình gốc, nhưng còn cách câu chuẩn 16,6 pp.</a:t>
            </a:r>
            <a:endParaRPr lang="en-US" sz="2200" dirty="0"/>
          </a:p>
        </p:txBody>
      </p:sp>
      <p:sp>
        <p:nvSpPr>
          <p:cNvPr id="6" name="Text 4"/>
          <p:cNvSpPr/>
          <p:nvPr/>
        </p:nvSpPr>
        <p:spPr>
          <a:xfrm>
            <a:off x="457200" y="1499616"/>
            <a:ext cx="8229600" cy="411480"/>
          </a:xfrm>
          <a:prstGeom prst="rect">
            <a:avLst/>
          </a:prstGeom>
          <a:noFill/>
          <a:ln/>
        </p:spPr>
        <p:txBody>
          <a:bodyPr wrap="square" lIns="0" tIns="0" rIns="0" bIns="0" rtlCol="0" anchor="t"/>
          <a:lstStyle/>
          <a:p>
            <a:pPr algn="l" indent="0" marL="0">
              <a:lnSpc>
                <a:spcPct val="120000"/>
              </a:lnSpc>
              <a:buNone/>
            </a:pPr>
            <a:r>
              <a:rPr lang="en-US" sz="1250" dirty="0">
                <a:solidFill>
                  <a:srgbClr val="5A5A66"/>
                </a:solidFill>
                <a:latin typeface="Cambria" pitchFamily="34" charset="0"/>
                <a:ea typeface="Cambria" pitchFamily="34" charset="-122"/>
                <a:cs typeface="Cambria" pitchFamily="34" charset="-120"/>
              </a:rPr>
              <a:t>Qwen2.5-VL-3B + QLoRA, hai hạt giống 101/202; mọi so sánh sau đều ghép cặp trên cùng 4.463 bước.</a:t>
            </a:r>
            <a:endParaRPr lang="en-US" sz="1250" dirty="0"/>
          </a:p>
        </p:txBody>
      </p:sp>
      <p:sp>
        <p:nvSpPr>
          <p:cNvPr id="7" name="Text 5"/>
          <p:cNvSpPr/>
          <p:nvPr/>
        </p:nvSpPr>
        <p:spPr>
          <a:xfrm>
            <a:off x="457200" y="2221992"/>
            <a:ext cx="2514600" cy="292608"/>
          </a:xfrm>
          <a:prstGeom prst="rect">
            <a:avLst/>
          </a:prstGeom>
          <a:noFill/>
          <a:ln/>
        </p:spPr>
        <p:txBody>
          <a:bodyPr wrap="square" lIns="0" tIns="0" rIns="0" bIns="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Base</a:t>
            </a:r>
            <a:endParaRPr lang="en-US" sz="1170" dirty="0"/>
          </a:p>
        </p:txBody>
      </p:sp>
      <p:sp>
        <p:nvSpPr>
          <p:cNvPr id="8" name="Shape 6"/>
          <p:cNvSpPr/>
          <p:nvPr/>
        </p:nvSpPr>
        <p:spPr>
          <a:xfrm>
            <a:off x="3063240" y="2240280"/>
            <a:ext cx="4160520" cy="246888"/>
          </a:xfrm>
          <a:prstGeom prst="rect">
            <a:avLst/>
          </a:prstGeom>
          <a:solidFill>
            <a:srgbClr val="DDDBE4"/>
          </a:solidFill>
          <a:ln/>
        </p:spPr>
      </p:sp>
      <p:sp>
        <p:nvSpPr>
          <p:cNvPr id="9" name="Shape 7"/>
          <p:cNvSpPr/>
          <p:nvPr/>
        </p:nvSpPr>
        <p:spPr>
          <a:xfrm>
            <a:off x="3063240" y="2240280"/>
            <a:ext cx="2475509" cy="246888"/>
          </a:xfrm>
          <a:prstGeom prst="rect">
            <a:avLst/>
          </a:prstGeom>
          <a:solidFill>
            <a:srgbClr val="4F417A"/>
          </a:solidFill>
          <a:ln/>
        </p:spPr>
      </p:sp>
      <p:sp>
        <p:nvSpPr>
          <p:cNvPr id="10" name="Text 8"/>
          <p:cNvSpPr/>
          <p:nvPr/>
        </p:nvSpPr>
        <p:spPr>
          <a:xfrm>
            <a:off x="7333488" y="2203704"/>
            <a:ext cx="731520" cy="310896"/>
          </a:xfrm>
          <a:prstGeom prst="rect">
            <a:avLst/>
          </a:prstGeom>
          <a:noFill/>
          <a:ln/>
        </p:spPr>
        <p:txBody>
          <a:bodyPr wrap="square" lIns="0" tIns="0" rIns="0" bIns="0" rtlCol="0" anchor="ctr"/>
          <a:lstStyle/>
          <a:p>
            <a:pPr algn="l" indent="0" marL="0">
              <a:buNone/>
            </a:pPr>
            <a:r>
              <a:rPr lang="en-US" sz="1250" b="1" dirty="0">
                <a:solidFill>
                  <a:srgbClr val="4F417A"/>
                </a:solidFill>
                <a:latin typeface="Cambria" pitchFamily="34" charset="0"/>
                <a:ea typeface="Cambria" pitchFamily="34" charset="-122"/>
                <a:cs typeface="Cambria" pitchFamily="34" charset="-120"/>
              </a:rPr>
              <a:t>47,6%</a:t>
            </a:r>
            <a:endParaRPr lang="en-US" sz="1250" dirty="0"/>
          </a:p>
        </p:txBody>
      </p:sp>
      <p:sp>
        <p:nvSpPr>
          <p:cNvPr id="11" name="Text 9"/>
          <p:cNvSpPr/>
          <p:nvPr/>
        </p:nvSpPr>
        <p:spPr>
          <a:xfrm>
            <a:off x="457200" y="2862072"/>
            <a:ext cx="2514600" cy="292608"/>
          </a:xfrm>
          <a:prstGeom prst="rect">
            <a:avLst/>
          </a:prstGeom>
          <a:noFill/>
          <a:ln/>
        </p:spPr>
        <p:txBody>
          <a:bodyPr wrap="square" lIns="0" tIns="0" rIns="0" bIns="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S1 / seed 101</a:t>
            </a:r>
            <a:endParaRPr lang="en-US" sz="1170" dirty="0"/>
          </a:p>
        </p:txBody>
      </p:sp>
      <p:sp>
        <p:nvSpPr>
          <p:cNvPr id="12" name="Shape 10"/>
          <p:cNvSpPr/>
          <p:nvPr/>
        </p:nvSpPr>
        <p:spPr>
          <a:xfrm>
            <a:off x="3063240" y="2880360"/>
            <a:ext cx="4160520" cy="246888"/>
          </a:xfrm>
          <a:prstGeom prst="rect">
            <a:avLst/>
          </a:prstGeom>
          <a:solidFill>
            <a:srgbClr val="DDDBE4"/>
          </a:solidFill>
          <a:ln/>
        </p:spPr>
      </p:sp>
      <p:sp>
        <p:nvSpPr>
          <p:cNvPr id="13" name="Shape 11"/>
          <p:cNvSpPr/>
          <p:nvPr/>
        </p:nvSpPr>
        <p:spPr>
          <a:xfrm>
            <a:off x="3063240" y="2880360"/>
            <a:ext cx="3073584" cy="246888"/>
          </a:xfrm>
          <a:prstGeom prst="rect">
            <a:avLst/>
          </a:prstGeom>
          <a:solidFill>
            <a:srgbClr val="322164"/>
          </a:solidFill>
          <a:ln/>
        </p:spPr>
      </p:sp>
      <p:sp>
        <p:nvSpPr>
          <p:cNvPr id="14" name="Text 12"/>
          <p:cNvSpPr/>
          <p:nvPr/>
        </p:nvSpPr>
        <p:spPr>
          <a:xfrm>
            <a:off x="7333488" y="2843784"/>
            <a:ext cx="731520" cy="310896"/>
          </a:xfrm>
          <a:prstGeom prst="rect">
            <a:avLst/>
          </a:prstGeom>
          <a:noFill/>
          <a:ln/>
        </p:spPr>
        <p:txBody>
          <a:bodyPr wrap="square" lIns="0" tIns="0" rIns="0" bIns="0" rtlCol="0" anchor="ctr"/>
          <a:lstStyle/>
          <a:p>
            <a:pPr algn="l" indent="0" marL="0">
              <a:buNone/>
            </a:pPr>
            <a:r>
              <a:rPr lang="en-US" sz="1250" b="1" dirty="0">
                <a:solidFill>
                  <a:srgbClr val="322164"/>
                </a:solidFill>
                <a:latin typeface="Cambria" pitchFamily="34" charset="0"/>
                <a:ea typeface="Cambria" pitchFamily="34" charset="-122"/>
                <a:cs typeface="Cambria" pitchFamily="34" charset="-120"/>
              </a:rPr>
              <a:t>59,1%</a:t>
            </a:r>
            <a:endParaRPr lang="en-US" sz="1250" dirty="0"/>
          </a:p>
        </p:txBody>
      </p:sp>
      <p:sp>
        <p:nvSpPr>
          <p:cNvPr id="15" name="Text 13"/>
          <p:cNvSpPr/>
          <p:nvPr/>
        </p:nvSpPr>
        <p:spPr>
          <a:xfrm>
            <a:off x="457200" y="3502152"/>
            <a:ext cx="2514600" cy="292608"/>
          </a:xfrm>
          <a:prstGeom prst="rect">
            <a:avLst/>
          </a:prstGeom>
          <a:noFill/>
          <a:ln/>
        </p:spPr>
        <p:txBody>
          <a:bodyPr wrap="square" lIns="0" tIns="0" rIns="0" bIns="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S1 / seed 202</a:t>
            </a:r>
            <a:endParaRPr lang="en-US" sz="1170" dirty="0"/>
          </a:p>
        </p:txBody>
      </p:sp>
      <p:sp>
        <p:nvSpPr>
          <p:cNvPr id="16" name="Shape 14"/>
          <p:cNvSpPr/>
          <p:nvPr/>
        </p:nvSpPr>
        <p:spPr>
          <a:xfrm>
            <a:off x="3063240" y="3520440"/>
            <a:ext cx="4160520" cy="246888"/>
          </a:xfrm>
          <a:prstGeom prst="rect">
            <a:avLst/>
          </a:prstGeom>
          <a:solidFill>
            <a:srgbClr val="DDDBE4"/>
          </a:solidFill>
          <a:ln/>
        </p:spPr>
      </p:sp>
      <p:sp>
        <p:nvSpPr>
          <p:cNvPr id="17" name="Shape 15"/>
          <p:cNvSpPr/>
          <p:nvPr/>
        </p:nvSpPr>
        <p:spPr>
          <a:xfrm>
            <a:off x="3063240" y="3520440"/>
            <a:ext cx="3099587" cy="246888"/>
          </a:xfrm>
          <a:prstGeom prst="rect">
            <a:avLst/>
          </a:prstGeom>
          <a:solidFill>
            <a:srgbClr val="006666"/>
          </a:solidFill>
          <a:ln/>
        </p:spPr>
      </p:sp>
      <p:sp>
        <p:nvSpPr>
          <p:cNvPr id="18" name="Text 16"/>
          <p:cNvSpPr/>
          <p:nvPr/>
        </p:nvSpPr>
        <p:spPr>
          <a:xfrm>
            <a:off x="7333488" y="3483864"/>
            <a:ext cx="731520" cy="310896"/>
          </a:xfrm>
          <a:prstGeom prst="rect">
            <a:avLst/>
          </a:prstGeom>
          <a:noFill/>
          <a:ln/>
        </p:spPr>
        <p:txBody>
          <a:bodyPr wrap="square" lIns="0" tIns="0" rIns="0" bIns="0" rtlCol="0" anchor="ctr"/>
          <a:lstStyle/>
          <a:p>
            <a:pPr algn="l" indent="0" marL="0">
              <a:buNone/>
            </a:pPr>
            <a:r>
              <a:rPr lang="en-US" sz="1250" b="1" dirty="0">
                <a:solidFill>
                  <a:srgbClr val="006666"/>
                </a:solidFill>
                <a:latin typeface="Cambria" pitchFamily="34" charset="0"/>
                <a:ea typeface="Cambria" pitchFamily="34" charset="-122"/>
                <a:cs typeface="Cambria" pitchFamily="34" charset="-120"/>
              </a:rPr>
              <a:t>59,6%</a:t>
            </a:r>
            <a:endParaRPr lang="en-US" sz="1250" dirty="0"/>
          </a:p>
        </p:txBody>
      </p:sp>
      <p:sp>
        <p:nvSpPr>
          <p:cNvPr id="19" name="Text 17"/>
          <p:cNvSpPr/>
          <p:nvPr/>
        </p:nvSpPr>
        <p:spPr>
          <a:xfrm>
            <a:off x="457200" y="4142232"/>
            <a:ext cx="2514600" cy="292608"/>
          </a:xfrm>
          <a:prstGeom prst="rect">
            <a:avLst/>
          </a:prstGeom>
          <a:noFill/>
          <a:ln/>
        </p:spPr>
        <p:txBody>
          <a:bodyPr wrap="square" lIns="0" tIns="0" rIns="0" bIns="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Câu chuẩn (ceiling)</a:t>
            </a:r>
            <a:endParaRPr lang="en-US" sz="1170" dirty="0"/>
          </a:p>
        </p:txBody>
      </p:sp>
      <p:sp>
        <p:nvSpPr>
          <p:cNvPr id="20" name="Shape 18"/>
          <p:cNvSpPr/>
          <p:nvPr/>
        </p:nvSpPr>
        <p:spPr>
          <a:xfrm>
            <a:off x="3063240" y="4160520"/>
            <a:ext cx="4160520" cy="246888"/>
          </a:xfrm>
          <a:prstGeom prst="rect">
            <a:avLst/>
          </a:prstGeom>
          <a:solidFill>
            <a:srgbClr val="DDDBE4"/>
          </a:solidFill>
          <a:ln/>
        </p:spPr>
      </p:sp>
      <p:sp>
        <p:nvSpPr>
          <p:cNvPr id="21" name="Shape 19"/>
          <p:cNvSpPr/>
          <p:nvPr/>
        </p:nvSpPr>
        <p:spPr>
          <a:xfrm>
            <a:off x="3063240" y="4160520"/>
            <a:ext cx="3936892" cy="246888"/>
          </a:xfrm>
          <a:prstGeom prst="rect">
            <a:avLst/>
          </a:prstGeom>
          <a:solidFill>
            <a:srgbClr val="1B7F5B"/>
          </a:solidFill>
          <a:ln/>
        </p:spPr>
      </p:sp>
      <p:sp>
        <p:nvSpPr>
          <p:cNvPr id="22" name="Text 20"/>
          <p:cNvSpPr/>
          <p:nvPr/>
        </p:nvSpPr>
        <p:spPr>
          <a:xfrm>
            <a:off x="7333488" y="4123944"/>
            <a:ext cx="731520" cy="310896"/>
          </a:xfrm>
          <a:prstGeom prst="rect">
            <a:avLst/>
          </a:prstGeom>
          <a:noFill/>
          <a:ln/>
        </p:spPr>
        <p:txBody>
          <a:bodyPr wrap="square" lIns="0" tIns="0" rIns="0" bIns="0" rtlCol="0" anchor="ctr"/>
          <a:lstStyle/>
          <a:p>
            <a:pPr algn="l" indent="0" marL="0">
              <a:buNone/>
            </a:pPr>
            <a:r>
              <a:rPr lang="en-US" sz="1250" b="1" dirty="0">
                <a:solidFill>
                  <a:srgbClr val="1B7F5B"/>
                </a:solidFill>
                <a:latin typeface="Cambria" pitchFamily="34" charset="0"/>
                <a:ea typeface="Cambria" pitchFamily="34" charset="-122"/>
                <a:cs typeface="Cambria" pitchFamily="34" charset="-120"/>
              </a:rPr>
              <a:t>75,7%</a:t>
            </a:r>
            <a:endParaRPr lang="en-US" sz="1250" dirty="0"/>
          </a:p>
        </p:txBody>
      </p:sp>
      <p:sp>
        <p:nvSpPr>
          <p:cNvPr id="23" name="Shape 21"/>
          <p:cNvSpPr/>
          <p:nvPr/>
        </p:nvSpPr>
        <p:spPr>
          <a:xfrm>
            <a:off x="457200" y="4937760"/>
            <a:ext cx="8229600" cy="658368"/>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24" name="Text 22"/>
          <p:cNvSpPr/>
          <p:nvPr/>
        </p:nvSpPr>
        <p:spPr>
          <a:xfrm>
            <a:off x="621792" y="4937760"/>
            <a:ext cx="7900416" cy="658368"/>
          </a:xfrm>
          <a:prstGeom prst="rect">
            <a:avLst/>
          </a:prstGeom>
          <a:noFill/>
          <a:ln/>
        </p:spPr>
        <p:txBody>
          <a:bodyPr wrap="square" lIns="0" tIns="0" rIns="0" bIns="0" rtlCol="0" anchor="ctr"/>
          <a:lstStyle/>
          <a:p>
            <a:pPr algn="ctr" indent="0" marL="0">
              <a:buNone/>
            </a:pPr>
            <a:r>
              <a:rPr lang="en-US" sz="1250" b="1" dirty="0">
                <a:solidFill>
                  <a:srgbClr val="322164"/>
                </a:solidFill>
                <a:latin typeface="Cambria" pitchFamily="34" charset="0"/>
                <a:ea typeface="Cambria" pitchFamily="34" charset="-122"/>
                <a:cs typeface="Cambria" pitchFamily="34" charset="-120"/>
              </a:rPr>
              <a:t>Seed variance: +0,52 pp  [−0,22; +1,26]  ·  S1 − Base: +11,5 pp  [ +10,0; +13,1 ]</a:t>
            </a:r>
            <a:endParaRPr lang="en-US" sz="1250" dirty="0"/>
          </a:p>
        </p:txBody>
      </p:sp>
      <p:sp>
        <p:nvSpPr>
          <p:cNvPr id="25" name="Text 23"/>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Qwen2.5-VL-3B · QLoRA · Luận văn §4.3, §6.7</a:t>
            </a:r>
            <a:endParaRPr lang="en-US" sz="820" dirty="0"/>
          </a:p>
        </p:txBody>
      </p:sp>
      <p:sp>
        <p:nvSpPr>
          <p:cNvPr id="26" name="Shape 24"/>
          <p:cNvSpPr/>
          <p:nvPr/>
        </p:nvSpPr>
        <p:spPr>
          <a:xfrm>
            <a:off x="0" y="6620256"/>
            <a:ext cx="2743200" cy="237744"/>
          </a:xfrm>
          <a:prstGeom prst="rect">
            <a:avLst/>
          </a:prstGeom>
          <a:solidFill>
            <a:srgbClr val="191132"/>
          </a:solidFill>
          <a:ln/>
        </p:spPr>
      </p:sp>
      <p:sp>
        <p:nvSpPr>
          <p:cNvPr id="27" name="Shape 25"/>
          <p:cNvSpPr/>
          <p:nvPr/>
        </p:nvSpPr>
        <p:spPr>
          <a:xfrm>
            <a:off x="2743200" y="6620256"/>
            <a:ext cx="3383280" cy="237744"/>
          </a:xfrm>
          <a:prstGeom prst="rect">
            <a:avLst/>
          </a:prstGeom>
          <a:solidFill>
            <a:srgbClr val="25194B"/>
          </a:solidFill>
          <a:ln/>
        </p:spPr>
      </p:sp>
      <p:sp>
        <p:nvSpPr>
          <p:cNvPr id="28" name="Shape 26"/>
          <p:cNvSpPr/>
          <p:nvPr/>
        </p:nvSpPr>
        <p:spPr>
          <a:xfrm>
            <a:off x="6126480" y="6620256"/>
            <a:ext cx="1737360" cy="237744"/>
          </a:xfrm>
          <a:prstGeom prst="rect">
            <a:avLst/>
          </a:prstGeom>
          <a:solidFill>
            <a:srgbClr val="4F417A"/>
          </a:solidFill>
          <a:ln/>
        </p:spPr>
      </p:sp>
      <p:sp>
        <p:nvSpPr>
          <p:cNvPr id="29" name="Shape 27"/>
          <p:cNvSpPr/>
          <p:nvPr/>
        </p:nvSpPr>
        <p:spPr>
          <a:xfrm>
            <a:off x="7863840" y="6620256"/>
            <a:ext cx="1280160" cy="237744"/>
          </a:xfrm>
          <a:prstGeom prst="rect">
            <a:avLst/>
          </a:prstGeom>
          <a:solidFill>
            <a:srgbClr val="7A7099"/>
          </a:solidFill>
          <a:ln/>
        </p:spPr>
      </p:sp>
      <p:sp>
        <p:nvSpPr>
          <p:cNvPr id="30" name="Text 2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1" name="Text 2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2" name="Text 3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3" name="Text 3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6/21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Executability hỏi trực tiếp câu có dẫn tới đúng phần tử hay không</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METRIC</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Sentence → independent listener → point → correctness.</a:t>
            </a:r>
            <a:endParaRPr lang="en-US" sz="2200" dirty="0"/>
          </a:p>
        </p:txBody>
      </p:sp>
      <p:sp>
        <p:nvSpPr>
          <p:cNvPr id="6" name="Shape 4"/>
          <p:cNvSpPr/>
          <p:nvPr/>
        </p:nvSpPr>
        <p:spPr>
          <a:xfrm>
            <a:off x="457200" y="1828800"/>
            <a:ext cx="1554480" cy="822960"/>
          </a:xfrm>
          <a:prstGeom prst="roundRect">
            <a:avLst/>
          </a:prstGeom>
          <a:solidFill>
            <a:srgbClr val="FFFFFF"/>
          </a:solidFill>
          <a:ln w="15240">
            <a:solidFill>
              <a:srgbClr val="6E6890"/>
            </a:solidFill>
            <a:prstDash val="solid"/>
          </a:ln>
        </p:spPr>
      </p:sp>
      <p:sp>
        <p:nvSpPr>
          <p:cNvPr id="7" name="Text 5"/>
          <p:cNvSpPr/>
          <p:nvPr/>
        </p:nvSpPr>
        <p:spPr>
          <a:xfrm>
            <a:off x="457200" y="1828800"/>
            <a:ext cx="1554480" cy="822960"/>
          </a:xfrm>
          <a:prstGeom prst="rect">
            <a:avLst/>
          </a:prstGeom>
          <a:noFill/>
          <a:ln/>
        </p:spPr>
        <p:txBody>
          <a:bodyPr wrap="square" lIns="38100" tIns="38100" rIns="38100" bIns="38100" rtlCol="0" anchor="ctr"/>
          <a:lstStyle/>
          <a:p>
            <a:pPr algn="ctr" indent="0" marL="0">
              <a:lnSpc>
                <a:spcPct val="115000"/>
              </a:lnSpc>
              <a:buNone/>
            </a:pPr>
            <a:r>
              <a:rPr lang="en-US" sz="1300" b="1" dirty="0">
                <a:solidFill>
                  <a:srgbClr val="1A1A1A"/>
                </a:solidFill>
                <a:latin typeface="Cambria" pitchFamily="34" charset="0"/>
                <a:ea typeface="Cambria" pitchFamily="34" charset="-122"/>
                <a:cs typeface="Cambria" pitchFamily="34" charset="-120"/>
              </a:rPr>
              <a:t>câu sinh ra</a:t>
            </a:r>
            <a:endParaRPr lang="en-US" sz="1300" dirty="0"/>
          </a:p>
        </p:txBody>
      </p:sp>
      <p:sp>
        <p:nvSpPr>
          <p:cNvPr id="8" name="Shape 6"/>
          <p:cNvSpPr/>
          <p:nvPr/>
        </p:nvSpPr>
        <p:spPr>
          <a:xfrm>
            <a:off x="2057400" y="2240280"/>
            <a:ext cx="411480" cy="0"/>
          </a:xfrm>
          <a:prstGeom prst="line">
            <a:avLst/>
          </a:prstGeom>
          <a:noFill/>
          <a:ln w="25400">
            <a:solidFill>
              <a:srgbClr val="4F417A"/>
            </a:solidFill>
            <a:prstDash val="solid"/>
            <a:tailEnd type="triangle"/>
          </a:ln>
        </p:spPr>
      </p:sp>
      <p:sp>
        <p:nvSpPr>
          <p:cNvPr id="9" name="Shape 7"/>
          <p:cNvSpPr/>
          <p:nvPr/>
        </p:nvSpPr>
        <p:spPr>
          <a:xfrm>
            <a:off x="2514600" y="1828800"/>
            <a:ext cx="1874520" cy="822960"/>
          </a:xfrm>
          <a:prstGeom prst="roundRect">
            <a:avLst/>
          </a:prstGeom>
          <a:solidFill>
            <a:srgbClr val="EEEAF6"/>
          </a:solidFill>
          <a:ln w="19050">
            <a:solidFill>
              <a:srgbClr val="322164"/>
            </a:solidFill>
            <a:prstDash val="solid"/>
          </a:ln>
        </p:spPr>
      </p:sp>
      <p:sp>
        <p:nvSpPr>
          <p:cNvPr id="10" name="Text 8"/>
          <p:cNvSpPr/>
          <p:nvPr/>
        </p:nvSpPr>
        <p:spPr>
          <a:xfrm>
            <a:off x="2514600" y="1828800"/>
            <a:ext cx="1874520" cy="822960"/>
          </a:xfrm>
          <a:prstGeom prst="rect">
            <a:avLst/>
          </a:prstGeom>
          <a:noFill/>
          <a:ln/>
        </p:spPr>
        <p:txBody>
          <a:bodyPr wrap="square" lIns="38100" tIns="38100" rIns="38100" bIns="38100" rtlCol="0" anchor="ctr"/>
          <a:lstStyle/>
          <a:p>
            <a:pPr algn="ctr" indent="0" marL="0">
              <a:lnSpc>
                <a:spcPct val="115000"/>
              </a:lnSpc>
              <a:buNone/>
            </a:pPr>
            <a:r>
              <a:rPr lang="en-US" sz="1150" b="1" dirty="0">
                <a:solidFill>
                  <a:srgbClr val="1A1A1A"/>
                </a:solidFill>
                <a:latin typeface="Cambria" pitchFamily="34" charset="0"/>
                <a:ea typeface="Cambria" pitchFamily="34" charset="-122"/>
                <a:cs typeface="Cambria" pitchFamily="34" charset="-120"/>
              </a:rPr>
              <a:t>UGround-V1-2B</a:t>
            </a:r>
            <a:endParaRPr lang="en-US" sz="1150" dirty="0"/>
          </a:p>
          <a:p>
            <a:pPr algn="ctr" indent="0" marL="0">
              <a:lnSpc>
                <a:spcPct val="115000"/>
              </a:lnSpc>
              <a:buNone/>
            </a:pPr>
            <a:r>
              <a:rPr lang="en-US" sz="1150" b="1" dirty="0">
                <a:solidFill>
                  <a:srgbClr val="1A1A1A"/>
                </a:solidFill>
                <a:latin typeface="Cambria" pitchFamily="34" charset="0"/>
                <a:ea typeface="Cambria" pitchFamily="34" charset="-122"/>
                <a:cs typeface="Cambria" pitchFamily="34" charset="-120"/>
              </a:rPr>
              <a:t>(listener độc lập)</a:t>
            </a:r>
            <a:endParaRPr lang="en-US" sz="1150" dirty="0"/>
          </a:p>
        </p:txBody>
      </p:sp>
      <p:sp>
        <p:nvSpPr>
          <p:cNvPr id="11" name="Shape 9"/>
          <p:cNvSpPr/>
          <p:nvPr/>
        </p:nvSpPr>
        <p:spPr>
          <a:xfrm>
            <a:off x="4434840" y="2240280"/>
            <a:ext cx="411480" cy="0"/>
          </a:xfrm>
          <a:prstGeom prst="line">
            <a:avLst/>
          </a:prstGeom>
          <a:noFill/>
          <a:ln w="25400">
            <a:solidFill>
              <a:srgbClr val="4F417A"/>
            </a:solidFill>
            <a:prstDash val="solid"/>
            <a:tailEnd type="triangle"/>
          </a:ln>
        </p:spPr>
      </p:sp>
      <p:sp>
        <p:nvSpPr>
          <p:cNvPr id="12" name="Shape 10"/>
          <p:cNvSpPr/>
          <p:nvPr/>
        </p:nvSpPr>
        <p:spPr>
          <a:xfrm>
            <a:off x="4892040" y="1828800"/>
            <a:ext cx="1325880" cy="822960"/>
          </a:xfrm>
          <a:prstGeom prst="roundRect">
            <a:avLst/>
          </a:prstGeom>
          <a:solidFill>
            <a:srgbClr val="FFFFFF"/>
          </a:solidFill>
          <a:ln w="15240">
            <a:solidFill>
              <a:srgbClr val="6E6890"/>
            </a:solidFill>
            <a:prstDash val="solid"/>
          </a:ln>
        </p:spPr>
      </p:sp>
      <p:sp>
        <p:nvSpPr>
          <p:cNvPr id="13" name="Text 11"/>
          <p:cNvSpPr/>
          <p:nvPr/>
        </p:nvSpPr>
        <p:spPr>
          <a:xfrm>
            <a:off x="4892040" y="1828800"/>
            <a:ext cx="1325880" cy="822960"/>
          </a:xfrm>
          <a:prstGeom prst="rect">
            <a:avLst/>
          </a:prstGeom>
          <a:noFill/>
          <a:ln/>
        </p:spPr>
        <p:txBody>
          <a:bodyPr wrap="square" lIns="38100" tIns="38100" rIns="38100" bIns="38100" rtlCol="0" anchor="ctr"/>
          <a:lstStyle/>
          <a:p>
            <a:pPr algn="ctr" indent="0" marL="0">
              <a:lnSpc>
                <a:spcPct val="115000"/>
              </a:lnSpc>
              <a:buNone/>
            </a:pPr>
            <a:r>
              <a:rPr lang="en-US" sz="1300" b="1" dirty="0">
                <a:solidFill>
                  <a:srgbClr val="1A1A1A"/>
                </a:solidFill>
                <a:latin typeface="Cambria" pitchFamily="34" charset="0"/>
                <a:ea typeface="Cambria" pitchFamily="34" charset="-122"/>
                <a:cs typeface="Cambria" pitchFamily="34" charset="-120"/>
              </a:rPr>
              <a:t>điểm (x,y)</a:t>
            </a:r>
            <a:endParaRPr lang="en-US" sz="1300" dirty="0"/>
          </a:p>
        </p:txBody>
      </p:sp>
      <p:sp>
        <p:nvSpPr>
          <p:cNvPr id="14" name="Shape 12"/>
          <p:cNvSpPr/>
          <p:nvPr/>
        </p:nvSpPr>
        <p:spPr>
          <a:xfrm>
            <a:off x="6263640" y="2240280"/>
            <a:ext cx="411480" cy="0"/>
          </a:xfrm>
          <a:prstGeom prst="line">
            <a:avLst/>
          </a:prstGeom>
          <a:noFill/>
          <a:ln w="25400">
            <a:solidFill>
              <a:srgbClr val="4F417A"/>
            </a:solidFill>
            <a:prstDash val="solid"/>
            <a:tailEnd type="triangle"/>
          </a:ln>
        </p:spPr>
      </p:sp>
      <p:sp>
        <p:nvSpPr>
          <p:cNvPr id="15" name="Shape 13"/>
          <p:cNvSpPr/>
          <p:nvPr/>
        </p:nvSpPr>
        <p:spPr>
          <a:xfrm>
            <a:off x="6720840" y="1828800"/>
            <a:ext cx="1965960" cy="822960"/>
          </a:xfrm>
          <a:prstGeom prst="roundRect">
            <a:avLst/>
          </a:prstGeom>
          <a:solidFill>
            <a:srgbClr val="F5F4F7"/>
          </a:solidFill>
          <a:ln w="15240">
            <a:solidFill>
              <a:srgbClr val="6E6890"/>
            </a:solidFill>
            <a:prstDash val="solid"/>
          </a:ln>
        </p:spPr>
      </p:sp>
      <p:sp>
        <p:nvSpPr>
          <p:cNvPr id="16" name="Text 14"/>
          <p:cNvSpPr/>
          <p:nvPr/>
        </p:nvSpPr>
        <p:spPr>
          <a:xfrm>
            <a:off x="6720840" y="1828800"/>
            <a:ext cx="1965960" cy="822960"/>
          </a:xfrm>
          <a:prstGeom prst="rect">
            <a:avLst/>
          </a:prstGeom>
          <a:noFill/>
          <a:ln/>
        </p:spPr>
        <p:txBody>
          <a:bodyPr wrap="square" lIns="38100" tIns="38100" rIns="38100" bIns="38100" rtlCol="0" anchor="ctr"/>
          <a:lstStyle/>
          <a:p>
            <a:pPr algn="ctr" indent="0" marL="0">
              <a:lnSpc>
                <a:spcPct val="115000"/>
              </a:lnSpc>
              <a:buNone/>
            </a:pPr>
            <a:r>
              <a:rPr lang="en-US" sz="1100" b="1" dirty="0">
                <a:solidFill>
                  <a:srgbClr val="1A1A1A"/>
                </a:solidFill>
                <a:latin typeface="Cambria" pitchFamily="34" charset="0"/>
                <a:ea typeface="Cambria" pitchFamily="34" charset="-122"/>
                <a:cs typeface="Cambria" pitchFamily="34" charset="-120"/>
              </a:rPr>
              <a:t>đúng phần tử?</a:t>
            </a:r>
            <a:endParaRPr lang="en-US" sz="1100" dirty="0"/>
          </a:p>
          <a:p>
            <a:pPr algn="ctr" indent="0" marL="0">
              <a:lnSpc>
                <a:spcPct val="115000"/>
              </a:lnSpc>
              <a:buNone/>
            </a:pPr>
            <a:r>
              <a:rPr lang="en-US" sz="1100" b="1" dirty="0">
                <a:solidFill>
                  <a:srgbClr val="1A1A1A"/>
                </a:solidFill>
                <a:latin typeface="Cambria" pitchFamily="34" charset="0"/>
                <a:ea typeface="Cambria" pitchFamily="34" charset="-122"/>
                <a:cs typeface="Cambria" pitchFamily="34" charset="-120"/>
              </a:rPr>
              <a:t>đúng thao tác?</a:t>
            </a:r>
            <a:endParaRPr lang="en-US" sz="1100" dirty="0"/>
          </a:p>
          <a:p>
            <a:pPr algn="ctr" indent="0" marL="0">
              <a:lnSpc>
                <a:spcPct val="115000"/>
              </a:lnSpc>
              <a:buNone/>
            </a:pPr>
            <a:r>
              <a:rPr lang="en-US" sz="1100" b="1" dirty="0">
                <a:solidFill>
                  <a:srgbClr val="1A1A1A"/>
                </a:solidFill>
                <a:latin typeface="Cambria" pitchFamily="34" charset="0"/>
                <a:ea typeface="Cambria" pitchFamily="34" charset="-122"/>
                <a:cs typeface="Cambria" pitchFamily="34" charset="-120"/>
              </a:rPr>
              <a:t>không đảo nghĩa?</a:t>
            </a:r>
            <a:endParaRPr lang="en-US" sz="1100" dirty="0"/>
          </a:p>
        </p:txBody>
      </p:sp>
      <p:sp>
        <p:nvSpPr>
          <p:cNvPr id="17" name="Shape 15"/>
          <p:cNvSpPr/>
          <p:nvPr/>
        </p:nvSpPr>
        <p:spPr>
          <a:xfrm>
            <a:off x="457200" y="3154680"/>
            <a:ext cx="8229600" cy="160020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8" name="Text 16"/>
          <p:cNvSpPr/>
          <p:nvPr/>
        </p:nvSpPr>
        <p:spPr>
          <a:xfrm>
            <a:off x="640080" y="3310128"/>
            <a:ext cx="2286000" cy="27432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Một bước = đúng khi đồng thời</a:t>
            </a:r>
            <a:endParaRPr lang="en-US" sz="1350" dirty="0"/>
          </a:p>
        </p:txBody>
      </p:sp>
      <p:sp>
        <p:nvSpPr>
          <p:cNvPr id="19" name="Text 17"/>
          <p:cNvSpPr/>
          <p:nvPr/>
        </p:nvSpPr>
        <p:spPr>
          <a:xfrm>
            <a:off x="2788920" y="3246120"/>
            <a:ext cx="201168" cy="4114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0" name="Text 18"/>
          <p:cNvSpPr/>
          <p:nvPr/>
        </p:nvSpPr>
        <p:spPr>
          <a:xfrm>
            <a:off x="3017520" y="3246120"/>
            <a:ext cx="5486400" cy="411480"/>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đúng loại thao tác (tap / type / scroll / back / …)</a:t>
            </a:r>
            <a:endParaRPr lang="en-US" sz="1250" dirty="0"/>
          </a:p>
        </p:txBody>
      </p:sp>
      <p:sp>
        <p:nvSpPr>
          <p:cNvPr id="21" name="Text 19"/>
          <p:cNvSpPr/>
          <p:nvPr/>
        </p:nvSpPr>
        <p:spPr>
          <a:xfrm>
            <a:off x="2788920" y="3685032"/>
            <a:ext cx="201168" cy="4114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3017520" y="3685032"/>
            <a:ext cx="5486400" cy="411480"/>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không đảo nghĩa (on/off, show/hide, …)</a:t>
            </a:r>
            <a:endParaRPr lang="en-US" sz="1250" dirty="0"/>
          </a:p>
        </p:txBody>
      </p:sp>
      <p:sp>
        <p:nvSpPr>
          <p:cNvPr id="23" name="Text 21"/>
          <p:cNvSpPr/>
          <p:nvPr/>
        </p:nvSpPr>
        <p:spPr>
          <a:xfrm>
            <a:off x="2788920" y="4123944"/>
            <a:ext cx="201168" cy="4114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4" name="Text 22"/>
          <p:cNvSpPr/>
          <p:nvPr/>
        </p:nvSpPr>
        <p:spPr>
          <a:xfrm>
            <a:off x="3017520" y="4123944"/>
            <a:ext cx="5486400" cy="411480"/>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điểm nằm trong dung sai 14% và trong ô Voronoi của phần tử cần chạm</a:t>
            </a:r>
            <a:endParaRPr lang="en-US" sz="1250" dirty="0"/>
          </a:p>
        </p:txBody>
      </p:sp>
      <p:sp>
        <p:nvSpPr>
          <p:cNvPr id="25" name="Text 23"/>
          <p:cNvSpPr/>
          <p:nvPr/>
        </p:nvSpPr>
        <p:spPr>
          <a:xfrm>
            <a:off x="457200" y="5074920"/>
            <a:ext cx="8229600" cy="384048"/>
          </a:xfrm>
          <a:prstGeom prst="rect">
            <a:avLst/>
          </a:prstGeom>
          <a:noFill/>
          <a:ln/>
        </p:spPr>
        <p:txBody>
          <a:bodyPr wrap="square" lIns="0" tIns="0" rIns="0" bIns="0" rtlCol="0" anchor="t"/>
          <a:lstStyle/>
          <a:p>
            <a:pPr algn="ctr" indent="0" marL="0">
              <a:buNone/>
            </a:pPr>
            <a:r>
              <a:rPr lang="en-US" sz="1350" b="1" dirty="0">
                <a:solidFill>
                  <a:srgbClr val="006666"/>
                </a:solidFill>
                <a:latin typeface="Cambria" pitchFamily="34" charset="0"/>
                <a:ea typeface="Cambria" pitchFamily="34" charset="-122"/>
                <a:cs typeface="Cambria" pitchFamily="34" charset="-120"/>
              </a:rPr>
              <a:t>Listener không biết tọa độ đáp án và không tham gia huấn luyện phương pháp.</a:t>
            </a:r>
            <a:endParaRPr lang="en-US" sz="1350" dirty="0"/>
          </a:p>
        </p:txBody>
      </p:sp>
      <p:sp>
        <p:nvSpPr>
          <p:cNvPr id="26" name="Text 24"/>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Mao et al. 2016; UGround · Luận văn Ch.5</a:t>
            </a:r>
            <a:endParaRPr lang="en-US" sz="820" dirty="0"/>
          </a:p>
        </p:txBody>
      </p:sp>
      <p:sp>
        <p:nvSpPr>
          <p:cNvPr id="27" name="Shape 25"/>
          <p:cNvSpPr/>
          <p:nvPr/>
        </p:nvSpPr>
        <p:spPr>
          <a:xfrm>
            <a:off x="0" y="6620256"/>
            <a:ext cx="2743200" cy="237744"/>
          </a:xfrm>
          <a:prstGeom prst="rect">
            <a:avLst/>
          </a:prstGeom>
          <a:solidFill>
            <a:srgbClr val="191132"/>
          </a:solidFill>
          <a:ln/>
        </p:spPr>
      </p:sp>
      <p:sp>
        <p:nvSpPr>
          <p:cNvPr id="28" name="Shape 26"/>
          <p:cNvSpPr/>
          <p:nvPr/>
        </p:nvSpPr>
        <p:spPr>
          <a:xfrm>
            <a:off x="2743200" y="6620256"/>
            <a:ext cx="3383280" cy="237744"/>
          </a:xfrm>
          <a:prstGeom prst="rect">
            <a:avLst/>
          </a:prstGeom>
          <a:solidFill>
            <a:srgbClr val="25194B"/>
          </a:solidFill>
          <a:ln/>
        </p:spPr>
      </p:sp>
      <p:sp>
        <p:nvSpPr>
          <p:cNvPr id="29" name="Shape 27"/>
          <p:cNvSpPr/>
          <p:nvPr/>
        </p:nvSpPr>
        <p:spPr>
          <a:xfrm>
            <a:off x="6126480" y="6620256"/>
            <a:ext cx="1737360" cy="237744"/>
          </a:xfrm>
          <a:prstGeom prst="rect">
            <a:avLst/>
          </a:prstGeom>
          <a:solidFill>
            <a:srgbClr val="4F417A"/>
          </a:solidFill>
          <a:ln/>
        </p:spPr>
      </p:sp>
      <p:sp>
        <p:nvSpPr>
          <p:cNvPr id="30" name="Shape 28"/>
          <p:cNvSpPr/>
          <p:nvPr/>
        </p:nvSpPr>
        <p:spPr>
          <a:xfrm>
            <a:off x="7863840" y="6620256"/>
            <a:ext cx="1280160" cy="237744"/>
          </a:xfrm>
          <a:prstGeom prst="rect">
            <a:avLst/>
          </a:prstGeom>
          <a:solidFill>
            <a:srgbClr val="7A7099"/>
          </a:solidFill>
          <a:ln/>
        </p:spPr>
      </p:sp>
      <p:sp>
        <p:nvSpPr>
          <p:cNvPr id="31" name="Text 2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2" name="Text 3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3" name="Text 3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4" name="Text 3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7/21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Luật Voronoi loại được lỗi “chỉ sang nút bên cạnh”</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METRIC DESIGN</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Dung sai ±14% quá rộng: 84,3% câu chỉ sai nút vẫn có thể được tính đúng.</a:t>
            </a:r>
            <a:endParaRPr lang="en-US" sz="2200" dirty="0"/>
          </a:p>
        </p:txBody>
      </p:sp>
      <p:pic>
        <p:nvPicPr>
          <p:cNvPr id="6" name="Image 0" descr="/mnt/d/Master/Thesis/thesis/figures/fig_voronoi.png">    </p:cNvPr>
          <p:cNvPicPr>
            <a:picLocks noChangeAspect="1"/>
          </p:cNvPicPr>
          <p:nvPr/>
        </p:nvPicPr>
        <p:blipFill>
          <a:blip r:embed="rId1"/>
          <a:stretch>
            <a:fillRect/>
          </a:stretch>
        </p:blipFill>
        <p:spPr>
          <a:xfrm>
            <a:off x="457200" y="1877060"/>
            <a:ext cx="4663440" cy="3195320"/>
          </a:xfrm>
          <a:prstGeom prst="rect">
            <a:avLst/>
          </a:prstGeom>
        </p:spPr>
      </p:pic>
      <p:sp>
        <p:nvSpPr>
          <p:cNvPr id="7" name="Shape 4"/>
          <p:cNvSpPr/>
          <p:nvPr/>
        </p:nvSpPr>
        <p:spPr>
          <a:xfrm>
            <a:off x="5440680" y="1874520"/>
            <a:ext cx="3246120" cy="320040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8" name="Text 5"/>
          <p:cNvSpPr/>
          <p:nvPr/>
        </p:nvSpPr>
        <p:spPr>
          <a:xfrm>
            <a:off x="5650992" y="2084832"/>
            <a:ext cx="2834640" cy="320040"/>
          </a:xfrm>
          <a:prstGeom prst="rect">
            <a:avLst/>
          </a:prstGeom>
          <a:noFill/>
          <a:ln/>
        </p:spPr>
        <p:txBody>
          <a:bodyPr wrap="square" lIns="0" tIns="0" rIns="0" bIns="0" rtlCol="0" anchor="t"/>
          <a:lstStyle/>
          <a:p>
            <a:pPr algn="l" indent="0" marL="0">
              <a:buNone/>
            </a:pPr>
            <a:r>
              <a:rPr lang="en-US" sz="1400" b="1" dirty="0">
                <a:solidFill>
                  <a:srgbClr val="B22222"/>
                </a:solidFill>
                <a:latin typeface="Cambria" pitchFamily="34" charset="0"/>
                <a:ea typeface="Cambria" pitchFamily="34" charset="-122"/>
                <a:cs typeface="Cambria" pitchFamily="34" charset="-120"/>
              </a:rPr>
              <a:t>Sai nút gần nhất</a:t>
            </a:r>
            <a:endParaRPr lang="en-US" sz="1400" dirty="0"/>
          </a:p>
        </p:txBody>
      </p:sp>
      <p:sp>
        <p:nvSpPr>
          <p:cNvPr id="9" name="Shape 6"/>
          <p:cNvSpPr/>
          <p:nvPr/>
        </p:nvSpPr>
        <p:spPr>
          <a:xfrm>
            <a:off x="5650992" y="2578608"/>
            <a:ext cx="1234440" cy="96012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0" name="Text 7"/>
          <p:cNvSpPr/>
          <p:nvPr/>
        </p:nvSpPr>
        <p:spPr>
          <a:xfrm>
            <a:off x="5779008" y="2651760"/>
            <a:ext cx="978408" cy="457200"/>
          </a:xfrm>
          <a:prstGeom prst="rect">
            <a:avLst/>
          </a:prstGeom>
          <a:noFill/>
          <a:ln/>
        </p:spPr>
        <p:txBody>
          <a:bodyPr wrap="square" lIns="0" tIns="0" rIns="0" bIns="0" rtlCol="0" anchor="t"/>
          <a:lstStyle/>
          <a:p>
            <a:pPr algn="l" indent="0" marL="0">
              <a:buNone/>
            </a:pPr>
            <a:r>
              <a:rPr lang="en-US" sz="1900" b="1" dirty="0">
                <a:solidFill>
                  <a:srgbClr val="B22222"/>
                </a:solidFill>
                <a:latin typeface="Cambria" pitchFamily="34" charset="0"/>
                <a:ea typeface="Cambria" pitchFamily="34" charset="-122"/>
                <a:cs typeface="Cambria" pitchFamily="34" charset="-120"/>
              </a:rPr>
              <a:t>84,3%</a:t>
            </a:r>
            <a:endParaRPr lang="en-US" sz="1900" dirty="0"/>
          </a:p>
        </p:txBody>
      </p:sp>
      <p:sp>
        <p:nvSpPr>
          <p:cNvPr id="11" name="Text 8"/>
          <p:cNvSpPr/>
          <p:nvPr/>
        </p:nvSpPr>
        <p:spPr>
          <a:xfrm>
            <a:off x="5779008" y="3127248"/>
            <a:ext cx="978408" cy="338328"/>
          </a:xfrm>
          <a:prstGeom prst="rect">
            <a:avLst/>
          </a:prstGeom>
          <a:noFill/>
          <a:ln/>
        </p:spPr>
        <p:txBody>
          <a:bodyPr wrap="square" lIns="0" tIns="0" rIns="0" bIns="0" rtlCol="0" anchor="t"/>
          <a:lstStyle/>
          <a:p>
            <a:pPr algn="l" indent="0" marL="0">
              <a:lnSpc>
                <a:spcPct val="118000"/>
              </a:lnSpc>
              <a:buNone/>
            </a:pPr>
            <a:r>
              <a:rPr lang="en-US" sz="1050" dirty="0">
                <a:solidFill>
                  <a:srgbClr val="1A1A1A"/>
                </a:solidFill>
                <a:latin typeface="Cambria" pitchFamily="34" charset="0"/>
                <a:ea typeface="Cambria" pitchFamily="34" charset="-122"/>
                <a:cs typeface="Cambria" pitchFamily="34" charset="-120"/>
              </a:rPr>
              <a:t>±14% vẫn chấp nhận</a:t>
            </a:r>
            <a:endParaRPr lang="en-US" sz="1050" dirty="0"/>
          </a:p>
        </p:txBody>
      </p:sp>
      <p:sp>
        <p:nvSpPr>
          <p:cNvPr id="12" name="Shape 9"/>
          <p:cNvSpPr/>
          <p:nvPr/>
        </p:nvSpPr>
        <p:spPr>
          <a:xfrm>
            <a:off x="7114032" y="2578608"/>
            <a:ext cx="1234440" cy="96012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3" name="Text 10"/>
          <p:cNvSpPr/>
          <p:nvPr/>
        </p:nvSpPr>
        <p:spPr>
          <a:xfrm>
            <a:off x="7242048" y="2651760"/>
            <a:ext cx="978408" cy="457200"/>
          </a:xfrm>
          <a:prstGeom prst="rect">
            <a:avLst/>
          </a:prstGeom>
          <a:noFill/>
          <a:ln/>
        </p:spPr>
        <p:txBody>
          <a:bodyPr wrap="square" lIns="0" tIns="0" rIns="0" bIns="0" rtlCol="0" anchor="t"/>
          <a:lstStyle/>
          <a:p>
            <a:pPr algn="l" indent="0" marL="0">
              <a:buNone/>
            </a:pPr>
            <a:r>
              <a:rPr lang="en-US" sz="1900" b="1" dirty="0">
                <a:solidFill>
                  <a:srgbClr val="006666"/>
                </a:solidFill>
                <a:latin typeface="Cambria" pitchFamily="34" charset="0"/>
                <a:ea typeface="Cambria" pitchFamily="34" charset="-122"/>
                <a:cs typeface="Cambria" pitchFamily="34" charset="-120"/>
              </a:rPr>
              <a:t>2,8%</a:t>
            </a:r>
            <a:endParaRPr lang="en-US" sz="1900" dirty="0"/>
          </a:p>
        </p:txBody>
      </p:sp>
      <p:sp>
        <p:nvSpPr>
          <p:cNvPr id="14" name="Text 11"/>
          <p:cNvSpPr/>
          <p:nvPr/>
        </p:nvSpPr>
        <p:spPr>
          <a:xfrm>
            <a:off x="7242048" y="3127248"/>
            <a:ext cx="978408" cy="338328"/>
          </a:xfrm>
          <a:prstGeom prst="rect">
            <a:avLst/>
          </a:prstGeom>
          <a:noFill/>
          <a:ln/>
        </p:spPr>
        <p:txBody>
          <a:bodyPr wrap="square" lIns="0" tIns="0" rIns="0" bIns="0" rtlCol="0" anchor="t"/>
          <a:lstStyle/>
          <a:p>
            <a:pPr algn="l" indent="0" marL="0">
              <a:lnSpc>
                <a:spcPct val="118000"/>
              </a:lnSpc>
              <a:buNone/>
            </a:pPr>
            <a:r>
              <a:rPr lang="en-US" sz="1050" dirty="0">
                <a:solidFill>
                  <a:srgbClr val="1A1A1A"/>
                </a:solidFill>
                <a:latin typeface="Cambria" pitchFamily="34" charset="0"/>
                <a:ea typeface="Cambria" pitchFamily="34" charset="-122"/>
                <a:cs typeface="Cambria" pitchFamily="34" charset="-120"/>
              </a:rPr>
              <a:t>Voronoi chấp nhận</a:t>
            </a:r>
            <a:endParaRPr lang="en-US" sz="1050" dirty="0"/>
          </a:p>
        </p:txBody>
      </p:sp>
      <p:sp>
        <p:nvSpPr>
          <p:cNvPr id="15" name="Text 12"/>
          <p:cNvSpPr/>
          <p:nvPr/>
        </p:nvSpPr>
        <p:spPr>
          <a:xfrm>
            <a:off x="5650992" y="3867912"/>
            <a:ext cx="2834640" cy="594360"/>
          </a:xfrm>
          <a:prstGeom prst="rect">
            <a:avLst/>
          </a:prstGeom>
          <a:noFill/>
          <a:ln/>
        </p:spPr>
        <p:txBody>
          <a:bodyPr wrap="square" lIns="0" tIns="0" rIns="0" bIns="0" rtlCol="0" anchor="t"/>
          <a:lstStyle/>
          <a:p>
            <a:pPr algn="l" indent="0" marL="0">
              <a:lnSpc>
                <a:spcPct val="125000"/>
              </a:lnSpc>
              <a:buNone/>
            </a:pPr>
            <a:r>
              <a:rPr lang="en-US" sz="1250" b="1" dirty="0">
                <a:solidFill>
                  <a:srgbClr val="322164"/>
                </a:solidFill>
                <a:latin typeface="Cambria" pitchFamily="34" charset="0"/>
                <a:ea typeface="Cambria" pitchFamily="34" charset="-122"/>
                <a:cs typeface="Cambria" pitchFamily="34" charset="-120"/>
              </a:rPr>
              <a:t>Ngưỡng tối đa của Voronoi khi điểm chỉ lệch 3% vẫn đạt 99,7%.</a:t>
            </a:r>
            <a:endParaRPr lang="en-US" sz="1250" dirty="0"/>
          </a:p>
        </p:txBody>
      </p:sp>
      <p:sp>
        <p:nvSpPr>
          <p:cNvPr id="16" name="Text 13"/>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Luận văn §5.2 · AndroidInTheWild tolerance rule</a:t>
            </a:r>
            <a:endParaRPr lang="en-US" sz="820" dirty="0"/>
          </a:p>
        </p:txBody>
      </p:sp>
      <p:sp>
        <p:nvSpPr>
          <p:cNvPr id="17" name="Shape 14"/>
          <p:cNvSpPr/>
          <p:nvPr/>
        </p:nvSpPr>
        <p:spPr>
          <a:xfrm>
            <a:off x="0" y="6620256"/>
            <a:ext cx="2743200" cy="237744"/>
          </a:xfrm>
          <a:prstGeom prst="rect">
            <a:avLst/>
          </a:prstGeom>
          <a:solidFill>
            <a:srgbClr val="191132"/>
          </a:solidFill>
          <a:ln/>
        </p:spPr>
      </p:sp>
      <p:sp>
        <p:nvSpPr>
          <p:cNvPr id="18" name="Shape 15"/>
          <p:cNvSpPr/>
          <p:nvPr/>
        </p:nvSpPr>
        <p:spPr>
          <a:xfrm>
            <a:off x="2743200" y="6620256"/>
            <a:ext cx="3383280" cy="237744"/>
          </a:xfrm>
          <a:prstGeom prst="rect">
            <a:avLst/>
          </a:prstGeom>
          <a:solidFill>
            <a:srgbClr val="25194B"/>
          </a:solidFill>
          <a:ln/>
        </p:spPr>
      </p:sp>
      <p:sp>
        <p:nvSpPr>
          <p:cNvPr id="19" name="Shape 16"/>
          <p:cNvSpPr/>
          <p:nvPr/>
        </p:nvSpPr>
        <p:spPr>
          <a:xfrm>
            <a:off x="6126480" y="6620256"/>
            <a:ext cx="1737360" cy="237744"/>
          </a:xfrm>
          <a:prstGeom prst="rect">
            <a:avLst/>
          </a:prstGeom>
          <a:solidFill>
            <a:srgbClr val="4F417A"/>
          </a:solidFill>
          <a:ln/>
        </p:spPr>
      </p:sp>
      <p:sp>
        <p:nvSpPr>
          <p:cNvPr id="20" name="Shape 17"/>
          <p:cNvSpPr/>
          <p:nvPr/>
        </p:nvSpPr>
        <p:spPr>
          <a:xfrm>
            <a:off x="7863840" y="6620256"/>
            <a:ext cx="1280160" cy="237744"/>
          </a:xfrm>
          <a:prstGeom prst="rect">
            <a:avLst/>
          </a:prstGeom>
          <a:solidFill>
            <a:srgbClr val="7A7099"/>
          </a:solidFill>
          <a:ln/>
        </p:spPr>
      </p:sp>
      <p:sp>
        <p:nvSpPr>
          <p:cNvPr id="21" name="Text 1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2" name="Text 1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3" name="Text 2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4" name="Text 2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8/21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Trước khi dùng executability, luận văn kiểm chính dụng cụ đo</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METRIC VALIDATION</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Ceiling cao, floor thấp, và thứ tự mô hình bền qua listener/rule khác.</a:t>
            </a:r>
            <a:endParaRPr lang="en-US" sz="2200" dirty="0"/>
          </a:p>
        </p:txBody>
      </p:sp>
      <p:sp>
        <p:nvSpPr>
          <p:cNvPr id="6" name="Shape 4"/>
          <p:cNvSpPr/>
          <p:nvPr/>
        </p:nvSpPr>
        <p:spPr>
          <a:xfrm>
            <a:off x="457200" y="2011680"/>
            <a:ext cx="1874520" cy="118872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7" name="Text 5"/>
          <p:cNvSpPr/>
          <p:nvPr/>
        </p:nvSpPr>
        <p:spPr>
          <a:xfrm>
            <a:off x="585216" y="2084832"/>
            <a:ext cx="1618488" cy="457200"/>
          </a:xfrm>
          <a:prstGeom prst="rect">
            <a:avLst/>
          </a:prstGeom>
          <a:noFill/>
          <a:ln/>
        </p:spPr>
        <p:txBody>
          <a:bodyPr wrap="square" lIns="0" tIns="0" rIns="0" bIns="0" rtlCol="0" anchor="t"/>
          <a:lstStyle/>
          <a:p>
            <a:pPr algn="ctr" indent="0" marL="0">
              <a:buNone/>
            </a:pPr>
            <a:r>
              <a:rPr lang="en-US" sz="2000" b="1" dirty="0">
                <a:solidFill>
                  <a:srgbClr val="1B7F5B"/>
                </a:solidFill>
                <a:latin typeface="Cambria" pitchFamily="34" charset="0"/>
                <a:ea typeface="Cambria" pitchFamily="34" charset="-122"/>
                <a:cs typeface="Cambria" pitchFamily="34" charset="-120"/>
              </a:rPr>
              <a:t>75,7%</a:t>
            </a:r>
            <a:endParaRPr lang="en-US" sz="2000" dirty="0"/>
          </a:p>
        </p:txBody>
      </p:sp>
      <p:sp>
        <p:nvSpPr>
          <p:cNvPr id="8" name="Text 6"/>
          <p:cNvSpPr/>
          <p:nvPr/>
        </p:nvSpPr>
        <p:spPr>
          <a:xfrm>
            <a:off x="585216" y="2560320"/>
            <a:ext cx="1618488" cy="566928"/>
          </a:xfrm>
          <a:prstGeom prst="rect">
            <a:avLst/>
          </a:prstGeom>
          <a:noFill/>
          <a:ln/>
        </p:spPr>
        <p:txBody>
          <a:bodyPr wrap="square" lIns="0" tIns="0" rIns="0" bIns="0" rtlCol="0" anchor="t"/>
          <a:lstStyle/>
          <a:p>
            <a:pPr algn="ctr" indent="0" marL="0">
              <a:lnSpc>
                <a:spcPct val="118000"/>
              </a:lnSpc>
              <a:buNone/>
            </a:pPr>
            <a:r>
              <a:rPr lang="en-US" sz="1080" dirty="0">
                <a:solidFill>
                  <a:srgbClr val="1A1A1A"/>
                </a:solidFill>
                <a:latin typeface="Cambria" pitchFamily="34" charset="0"/>
                <a:ea typeface="Cambria" pitchFamily="34" charset="-122"/>
                <a:cs typeface="Cambria" pitchFamily="34" charset="-120"/>
              </a:rPr>
              <a:t>câu chuẩn</a:t>
            </a:r>
            <a:endParaRPr lang="en-US" sz="1080" dirty="0"/>
          </a:p>
        </p:txBody>
      </p:sp>
      <p:sp>
        <p:nvSpPr>
          <p:cNvPr id="9" name="Shape 7"/>
          <p:cNvSpPr/>
          <p:nvPr/>
        </p:nvSpPr>
        <p:spPr>
          <a:xfrm>
            <a:off x="2514600" y="2011680"/>
            <a:ext cx="1874520" cy="118872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0" name="Text 8"/>
          <p:cNvSpPr/>
          <p:nvPr/>
        </p:nvSpPr>
        <p:spPr>
          <a:xfrm>
            <a:off x="2642616" y="2084832"/>
            <a:ext cx="1618488" cy="457200"/>
          </a:xfrm>
          <a:prstGeom prst="rect">
            <a:avLst/>
          </a:prstGeom>
          <a:noFill/>
          <a:ln/>
        </p:spPr>
        <p:txBody>
          <a:bodyPr wrap="square" lIns="0" tIns="0" rIns="0" bIns="0" rtlCol="0" anchor="t"/>
          <a:lstStyle/>
          <a:p>
            <a:pPr algn="ctr" indent="0" marL="0">
              <a:buNone/>
            </a:pPr>
            <a:r>
              <a:rPr lang="en-US" sz="2000" b="1" dirty="0">
                <a:solidFill>
                  <a:srgbClr val="B22222"/>
                </a:solidFill>
                <a:latin typeface="Cambria" pitchFamily="34" charset="0"/>
                <a:ea typeface="Cambria" pitchFamily="34" charset="-122"/>
                <a:cs typeface="Cambria" pitchFamily="34" charset="-120"/>
              </a:rPr>
              <a:t>12,0%</a:t>
            </a:r>
            <a:endParaRPr lang="en-US" sz="2000" dirty="0"/>
          </a:p>
        </p:txBody>
      </p:sp>
      <p:sp>
        <p:nvSpPr>
          <p:cNvPr id="11" name="Text 9"/>
          <p:cNvSpPr/>
          <p:nvPr/>
        </p:nvSpPr>
        <p:spPr>
          <a:xfrm>
            <a:off x="2642616" y="2560320"/>
            <a:ext cx="1618488" cy="566928"/>
          </a:xfrm>
          <a:prstGeom prst="rect">
            <a:avLst/>
          </a:prstGeom>
          <a:noFill/>
          <a:ln/>
        </p:spPr>
        <p:txBody>
          <a:bodyPr wrap="square" lIns="0" tIns="0" rIns="0" bIns="0" rtlCol="0" anchor="t"/>
          <a:lstStyle/>
          <a:p>
            <a:pPr algn="ctr" indent="0" marL="0">
              <a:lnSpc>
                <a:spcPct val="118000"/>
              </a:lnSpc>
              <a:buNone/>
            </a:pPr>
            <a:r>
              <a:rPr lang="en-US" sz="1080" dirty="0">
                <a:solidFill>
                  <a:srgbClr val="1A1A1A"/>
                </a:solidFill>
                <a:latin typeface="Cambria" pitchFamily="34" charset="0"/>
                <a:ea typeface="Cambria" pitchFamily="34" charset="-122"/>
                <a:cs typeface="Cambria" pitchFamily="34" charset="-120"/>
              </a:rPr>
              <a:t>“Tap the button.”</a:t>
            </a:r>
            <a:endParaRPr lang="en-US" sz="1080" dirty="0"/>
          </a:p>
        </p:txBody>
      </p:sp>
      <p:sp>
        <p:nvSpPr>
          <p:cNvPr id="12" name="Shape 10"/>
          <p:cNvSpPr/>
          <p:nvPr/>
        </p:nvSpPr>
        <p:spPr>
          <a:xfrm>
            <a:off x="4572000" y="2011680"/>
            <a:ext cx="1874520" cy="118872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3" name="Text 11"/>
          <p:cNvSpPr/>
          <p:nvPr/>
        </p:nvSpPr>
        <p:spPr>
          <a:xfrm>
            <a:off x="4700016" y="2084832"/>
            <a:ext cx="1618488" cy="457200"/>
          </a:xfrm>
          <a:prstGeom prst="rect">
            <a:avLst/>
          </a:prstGeom>
          <a:noFill/>
          <a:ln/>
        </p:spPr>
        <p:txBody>
          <a:bodyPr wrap="square" lIns="0" tIns="0" rIns="0" bIns="0" rtlCol="0" anchor="t"/>
          <a:lstStyle/>
          <a:p>
            <a:pPr algn="ctr" indent="0" marL="0">
              <a:buNone/>
            </a:pPr>
            <a:r>
              <a:rPr lang="en-US" sz="2000" b="1" dirty="0">
                <a:solidFill>
                  <a:srgbClr val="B22222"/>
                </a:solidFill>
                <a:latin typeface="Cambria" pitchFamily="34" charset="0"/>
                <a:ea typeface="Cambria" pitchFamily="34" charset="-122"/>
                <a:cs typeface="Cambria" pitchFamily="34" charset="-120"/>
              </a:rPr>
              <a:t>6,1%</a:t>
            </a:r>
            <a:endParaRPr lang="en-US" sz="2000" dirty="0"/>
          </a:p>
        </p:txBody>
      </p:sp>
      <p:sp>
        <p:nvSpPr>
          <p:cNvPr id="14" name="Text 12"/>
          <p:cNvSpPr/>
          <p:nvPr/>
        </p:nvSpPr>
        <p:spPr>
          <a:xfrm>
            <a:off x="4700016" y="2560320"/>
            <a:ext cx="1618488" cy="566928"/>
          </a:xfrm>
          <a:prstGeom prst="rect">
            <a:avLst/>
          </a:prstGeom>
          <a:noFill/>
          <a:ln/>
        </p:spPr>
        <p:txBody>
          <a:bodyPr wrap="square" lIns="0" tIns="0" rIns="0" bIns="0" rtlCol="0" anchor="t"/>
          <a:lstStyle/>
          <a:p>
            <a:pPr algn="ctr" indent="0" marL="0">
              <a:lnSpc>
                <a:spcPct val="118000"/>
              </a:lnSpc>
              <a:buNone/>
            </a:pPr>
            <a:r>
              <a:rPr lang="en-US" sz="1080" dirty="0">
                <a:solidFill>
                  <a:srgbClr val="1A1A1A"/>
                </a:solidFill>
                <a:latin typeface="Cambria" pitchFamily="34" charset="0"/>
                <a:ea typeface="Cambria" pitchFamily="34" charset="-122"/>
                <a:cs typeface="Cambria" pitchFamily="34" charset="-120"/>
              </a:rPr>
              <a:t>câu đúng văn phong nhưng sai màn</a:t>
            </a:r>
            <a:endParaRPr lang="en-US" sz="1080" dirty="0"/>
          </a:p>
        </p:txBody>
      </p:sp>
      <p:sp>
        <p:nvSpPr>
          <p:cNvPr id="15" name="Shape 13"/>
          <p:cNvSpPr/>
          <p:nvPr/>
        </p:nvSpPr>
        <p:spPr>
          <a:xfrm>
            <a:off x="6629400" y="2011680"/>
            <a:ext cx="1874520" cy="118872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6" name="Text 14"/>
          <p:cNvSpPr/>
          <p:nvPr/>
        </p:nvSpPr>
        <p:spPr>
          <a:xfrm>
            <a:off x="6757416" y="2084832"/>
            <a:ext cx="1618488" cy="457200"/>
          </a:xfrm>
          <a:prstGeom prst="rect">
            <a:avLst/>
          </a:prstGeom>
          <a:noFill/>
          <a:ln/>
        </p:spPr>
        <p:txBody>
          <a:bodyPr wrap="square" lIns="0" tIns="0" rIns="0" bIns="0" rtlCol="0" anchor="t"/>
          <a:lstStyle/>
          <a:p>
            <a:pPr algn="ctr" indent="0" marL="0">
              <a:buNone/>
            </a:pPr>
            <a:r>
              <a:rPr lang="en-US" sz="2000" b="1" dirty="0">
                <a:solidFill>
                  <a:srgbClr val="006666"/>
                </a:solidFill>
                <a:latin typeface="Cambria" pitchFamily="34" charset="0"/>
                <a:ea typeface="Cambria" pitchFamily="34" charset="-122"/>
                <a:cs typeface="Cambria" pitchFamily="34" charset="-120"/>
              </a:rPr>
              <a:t>94%</a:t>
            </a:r>
            <a:endParaRPr lang="en-US" sz="2000" dirty="0"/>
          </a:p>
        </p:txBody>
      </p:sp>
      <p:sp>
        <p:nvSpPr>
          <p:cNvPr id="17" name="Text 15"/>
          <p:cNvSpPr/>
          <p:nvPr/>
        </p:nvSpPr>
        <p:spPr>
          <a:xfrm>
            <a:off x="6757416" y="2560320"/>
            <a:ext cx="1618488" cy="566928"/>
          </a:xfrm>
          <a:prstGeom prst="rect">
            <a:avLst/>
          </a:prstGeom>
          <a:noFill/>
          <a:ln/>
        </p:spPr>
        <p:txBody>
          <a:bodyPr wrap="square" lIns="0" tIns="0" rIns="0" bIns="0" rtlCol="0" anchor="t"/>
          <a:lstStyle/>
          <a:p>
            <a:pPr algn="ctr" indent="0" marL="0">
              <a:lnSpc>
                <a:spcPct val="118000"/>
              </a:lnSpc>
              <a:buNone/>
            </a:pPr>
            <a:r>
              <a:rPr lang="en-US" sz="1080" dirty="0">
                <a:solidFill>
                  <a:srgbClr val="1A1A1A"/>
                </a:solidFill>
                <a:latin typeface="Cambria" pitchFamily="34" charset="0"/>
                <a:ea typeface="Cambria" pitchFamily="34" charset="-122"/>
                <a:cs typeface="Cambria" pitchFamily="34" charset="-120"/>
              </a:rPr>
              <a:t>độ lớn S1−Base còn giữ khi đổi sang UI-Venus</a:t>
            </a:r>
            <a:endParaRPr lang="en-US" sz="1080" dirty="0"/>
          </a:p>
        </p:txBody>
      </p:sp>
      <p:sp>
        <p:nvSpPr>
          <p:cNvPr id="18" name="Shape 16"/>
          <p:cNvSpPr/>
          <p:nvPr/>
        </p:nvSpPr>
        <p:spPr>
          <a:xfrm>
            <a:off x="457200" y="3520440"/>
            <a:ext cx="8229600" cy="15544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9" name="Text 17"/>
          <p:cNvSpPr/>
          <p:nvPr/>
        </p:nvSpPr>
        <p:spPr>
          <a:xfrm>
            <a:off x="685800" y="3657600"/>
            <a:ext cx="201168" cy="420624"/>
          </a:xfrm>
          <a:prstGeom prst="rect">
            <a:avLst/>
          </a:prstGeom>
          <a:noFill/>
          <a:ln/>
        </p:spPr>
        <p:txBody>
          <a:bodyPr wrap="square" lIns="0" tIns="0" rIns="0" bIns="0" rtlCol="0" anchor="t"/>
          <a:lstStyle/>
          <a:p>
            <a:pPr algn="l" indent="0" marL="0">
              <a:buNone/>
            </a:pPr>
            <a:r>
              <a:rPr lang="en-US" sz="1270" b="1" dirty="0">
                <a:solidFill>
                  <a:srgbClr val="006666"/>
                </a:solidFill>
                <a:latin typeface="Cambria" pitchFamily="34" charset="0"/>
                <a:ea typeface="Cambria" pitchFamily="34" charset="-122"/>
                <a:cs typeface="Cambria" pitchFamily="34" charset="-120"/>
              </a:rPr>
              <a:t>•</a:t>
            </a:r>
            <a:endParaRPr lang="en-US" sz="1270" dirty="0"/>
          </a:p>
        </p:txBody>
      </p:sp>
      <p:sp>
        <p:nvSpPr>
          <p:cNvPr id="20" name="Text 18"/>
          <p:cNvSpPr/>
          <p:nvPr/>
        </p:nvSpPr>
        <p:spPr>
          <a:xfrm>
            <a:off x="914400" y="3657600"/>
            <a:ext cx="7543800" cy="420624"/>
          </a:xfrm>
          <a:prstGeom prst="rect">
            <a:avLst/>
          </a:prstGeom>
          <a:noFill/>
          <a:ln/>
        </p:spPr>
        <p:txBody>
          <a:bodyPr wrap="square" lIns="0" tIns="0" rIns="0" bIns="0" rtlCol="0" anchor="t"/>
          <a:lstStyle/>
          <a:p>
            <a:pPr algn="l" indent="0" marL="0">
              <a:lnSpc>
                <a:spcPct val="120000"/>
              </a:lnSpc>
              <a:buNone/>
            </a:pPr>
            <a:r>
              <a:rPr lang="en-US" sz="1270" dirty="0">
                <a:solidFill>
                  <a:srgbClr val="1A1A1A"/>
                </a:solidFill>
                <a:latin typeface="Cambria" pitchFamily="34" charset="0"/>
                <a:ea typeface="Cambria" pitchFamily="34" charset="-122"/>
                <a:cs typeface="Cambria" pitchFamily="34" charset="-120"/>
              </a:rPr>
              <a:t>10 kiểu lỗi chèn có kiểm soát: metric giảm đúng chiều.</a:t>
            </a:r>
            <a:endParaRPr lang="en-US" sz="1270" dirty="0"/>
          </a:p>
        </p:txBody>
      </p:sp>
      <p:sp>
        <p:nvSpPr>
          <p:cNvPr id="21" name="Text 19"/>
          <p:cNvSpPr/>
          <p:nvPr/>
        </p:nvSpPr>
        <p:spPr>
          <a:xfrm>
            <a:off x="685800" y="4096512"/>
            <a:ext cx="201168" cy="420624"/>
          </a:xfrm>
          <a:prstGeom prst="rect">
            <a:avLst/>
          </a:prstGeom>
          <a:noFill/>
          <a:ln/>
        </p:spPr>
        <p:txBody>
          <a:bodyPr wrap="square" lIns="0" tIns="0" rIns="0" bIns="0" rtlCol="0" anchor="t"/>
          <a:lstStyle/>
          <a:p>
            <a:pPr algn="l" indent="0" marL="0">
              <a:buNone/>
            </a:pPr>
            <a:r>
              <a:rPr lang="en-US" sz="1270" b="1" dirty="0">
                <a:solidFill>
                  <a:srgbClr val="006666"/>
                </a:solidFill>
                <a:latin typeface="Cambria" pitchFamily="34" charset="0"/>
                <a:ea typeface="Cambria" pitchFamily="34" charset="-122"/>
                <a:cs typeface="Cambria" pitchFamily="34" charset="-120"/>
              </a:rPr>
              <a:t>•</a:t>
            </a:r>
            <a:endParaRPr lang="en-US" sz="1270" dirty="0"/>
          </a:p>
        </p:txBody>
      </p:sp>
      <p:sp>
        <p:nvSpPr>
          <p:cNvPr id="22" name="Text 20"/>
          <p:cNvSpPr/>
          <p:nvPr/>
        </p:nvSpPr>
        <p:spPr>
          <a:xfrm>
            <a:off x="914400" y="4096512"/>
            <a:ext cx="7543800" cy="420624"/>
          </a:xfrm>
          <a:prstGeom prst="rect">
            <a:avLst/>
          </a:prstGeom>
          <a:noFill/>
          <a:ln/>
        </p:spPr>
        <p:txBody>
          <a:bodyPr wrap="square" lIns="0" tIns="0" rIns="0" bIns="0" rtlCol="0" anchor="t"/>
          <a:lstStyle/>
          <a:p>
            <a:pPr algn="l" indent="0" marL="0">
              <a:lnSpc>
                <a:spcPct val="120000"/>
              </a:lnSpc>
              <a:buNone/>
            </a:pPr>
            <a:r>
              <a:rPr lang="en-US" sz="1270" dirty="0">
                <a:solidFill>
                  <a:srgbClr val="1A1A1A"/>
                </a:solidFill>
                <a:latin typeface="Cambria" pitchFamily="34" charset="0"/>
                <a:ea typeface="Cambria" pitchFamily="34" charset="-122"/>
                <a:cs typeface="Cambria" pitchFamily="34" charset="-120"/>
              </a:rPr>
              <a:t>1.139 câu viết lại giữ nghĩa: Δ = +0,35 pp, KTC [−0,59; +1,29].</a:t>
            </a:r>
            <a:endParaRPr lang="en-US" sz="1270" dirty="0"/>
          </a:p>
        </p:txBody>
      </p:sp>
      <p:sp>
        <p:nvSpPr>
          <p:cNvPr id="23" name="Text 21"/>
          <p:cNvSpPr/>
          <p:nvPr/>
        </p:nvSpPr>
        <p:spPr>
          <a:xfrm>
            <a:off x="685800" y="4535424"/>
            <a:ext cx="201168" cy="420624"/>
          </a:xfrm>
          <a:prstGeom prst="rect">
            <a:avLst/>
          </a:prstGeom>
          <a:noFill/>
          <a:ln/>
        </p:spPr>
        <p:txBody>
          <a:bodyPr wrap="square" lIns="0" tIns="0" rIns="0" bIns="0" rtlCol="0" anchor="t"/>
          <a:lstStyle/>
          <a:p>
            <a:pPr algn="l" indent="0" marL="0">
              <a:buNone/>
            </a:pPr>
            <a:r>
              <a:rPr lang="en-US" sz="1270" b="1" dirty="0">
                <a:solidFill>
                  <a:srgbClr val="006666"/>
                </a:solidFill>
                <a:latin typeface="Cambria" pitchFamily="34" charset="0"/>
                <a:ea typeface="Cambria" pitchFamily="34" charset="-122"/>
                <a:cs typeface="Cambria" pitchFamily="34" charset="-120"/>
              </a:rPr>
              <a:t>•</a:t>
            </a:r>
            <a:endParaRPr lang="en-US" sz="1270" dirty="0"/>
          </a:p>
        </p:txBody>
      </p:sp>
      <p:sp>
        <p:nvSpPr>
          <p:cNvPr id="24" name="Text 22"/>
          <p:cNvSpPr/>
          <p:nvPr/>
        </p:nvSpPr>
        <p:spPr>
          <a:xfrm>
            <a:off x="914400" y="4535424"/>
            <a:ext cx="7543800" cy="420624"/>
          </a:xfrm>
          <a:prstGeom prst="rect">
            <a:avLst/>
          </a:prstGeom>
          <a:noFill/>
          <a:ln/>
        </p:spPr>
        <p:txBody>
          <a:bodyPr wrap="square" lIns="0" tIns="0" rIns="0" bIns="0" rtlCol="0" anchor="t"/>
          <a:lstStyle/>
          <a:p>
            <a:pPr algn="l" indent="0" marL="0">
              <a:lnSpc>
                <a:spcPct val="120000"/>
              </a:lnSpc>
              <a:buNone/>
            </a:pPr>
            <a:r>
              <a:rPr lang="en-US" sz="1270" dirty="0">
                <a:solidFill>
                  <a:srgbClr val="1A1A1A"/>
                </a:solidFill>
                <a:latin typeface="Cambria" pitchFamily="34" charset="0"/>
                <a:ea typeface="Cambria" pitchFamily="34" charset="-122"/>
                <a:cs typeface="Cambria" pitchFamily="34" charset="-120"/>
              </a:rPr>
              <a:t>Phi-4 listener ngoài họ Qwen vẫn giữ thứ tự giữa các mô hình.</a:t>
            </a:r>
            <a:endParaRPr lang="en-US" sz="1270" dirty="0"/>
          </a:p>
        </p:txBody>
      </p:sp>
      <p:sp>
        <p:nvSpPr>
          <p:cNvPr id="25" name="Text 23"/>
          <p:cNvSpPr/>
          <p:nvPr/>
        </p:nvSpPr>
        <p:spPr>
          <a:xfrm>
            <a:off x="457200" y="5394960"/>
            <a:ext cx="8229600" cy="347472"/>
          </a:xfrm>
          <a:prstGeom prst="rect">
            <a:avLst/>
          </a:prstGeom>
          <a:noFill/>
          <a:ln/>
        </p:spPr>
        <p:txBody>
          <a:bodyPr wrap="square" lIns="0" tIns="0" rIns="0" bIns="0" rtlCol="0" anchor="t"/>
          <a:lstStyle/>
          <a:p>
            <a:pPr algn="ctr" indent="0" marL="0">
              <a:buNone/>
            </a:pPr>
            <a:r>
              <a:rPr lang="en-US" sz="1350" b="1" dirty="0">
                <a:solidFill>
                  <a:srgbClr val="322164"/>
                </a:solidFill>
                <a:latin typeface="Cambria" pitchFamily="34" charset="0"/>
                <a:ea typeface="Cambria" pitchFamily="34" charset="-122"/>
                <a:cs typeface="Cambria" pitchFamily="34" charset="-120"/>
              </a:rPr>
              <a:t>Kết luận sử dụng: đọc điểm mô hình so với ceiling 75,7%, không so với 100%.</a:t>
            </a:r>
            <a:endParaRPr lang="en-US" sz="1350" dirty="0"/>
          </a:p>
        </p:txBody>
      </p:sp>
      <p:sp>
        <p:nvSpPr>
          <p:cNvPr id="26" name="Text 24"/>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Luận văn §5.5–§5.10</a:t>
            </a:r>
            <a:endParaRPr lang="en-US" sz="820" dirty="0"/>
          </a:p>
        </p:txBody>
      </p:sp>
      <p:sp>
        <p:nvSpPr>
          <p:cNvPr id="27" name="Shape 25"/>
          <p:cNvSpPr/>
          <p:nvPr/>
        </p:nvSpPr>
        <p:spPr>
          <a:xfrm>
            <a:off x="0" y="6620256"/>
            <a:ext cx="2743200" cy="237744"/>
          </a:xfrm>
          <a:prstGeom prst="rect">
            <a:avLst/>
          </a:prstGeom>
          <a:solidFill>
            <a:srgbClr val="191132"/>
          </a:solidFill>
          <a:ln/>
        </p:spPr>
      </p:sp>
      <p:sp>
        <p:nvSpPr>
          <p:cNvPr id="28" name="Shape 26"/>
          <p:cNvSpPr/>
          <p:nvPr/>
        </p:nvSpPr>
        <p:spPr>
          <a:xfrm>
            <a:off x="2743200" y="6620256"/>
            <a:ext cx="3383280" cy="237744"/>
          </a:xfrm>
          <a:prstGeom prst="rect">
            <a:avLst/>
          </a:prstGeom>
          <a:solidFill>
            <a:srgbClr val="25194B"/>
          </a:solidFill>
          <a:ln/>
        </p:spPr>
      </p:sp>
      <p:sp>
        <p:nvSpPr>
          <p:cNvPr id="29" name="Shape 27"/>
          <p:cNvSpPr/>
          <p:nvPr/>
        </p:nvSpPr>
        <p:spPr>
          <a:xfrm>
            <a:off x="6126480" y="6620256"/>
            <a:ext cx="1737360" cy="237744"/>
          </a:xfrm>
          <a:prstGeom prst="rect">
            <a:avLst/>
          </a:prstGeom>
          <a:solidFill>
            <a:srgbClr val="4F417A"/>
          </a:solidFill>
          <a:ln/>
        </p:spPr>
      </p:sp>
      <p:sp>
        <p:nvSpPr>
          <p:cNvPr id="30" name="Shape 28"/>
          <p:cNvSpPr/>
          <p:nvPr/>
        </p:nvSpPr>
        <p:spPr>
          <a:xfrm>
            <a:off x="7863840" y="6620256"/>
            <a:ext cx="1280160" cy="237744"/>
          </a:xfrm>
          <a:prstGeom prst="rect">
            <a:avLst/>
          </a:prstGeom>
          <a:solidFill>
            <a:srgbClr val="7A7099"/>
          </a:solidFill>
          <a:ln/>
        </p:spPr>
      </p:sp>
      <p:sp>
        <p:nvSpPr>
          <p:cNvPr id="31" name="Text 2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2" name="Text 3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3" name="Text 3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4" name="Text 3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9/21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Phương pháp đề xuất: cải thiện trực tiếp câu ở đầu ra</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METHOD</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Hai thành phần nối tiếp: GRPO + SPICE tạo câu nháp, ACE chỉ chép exemplar khi đủ an toàn.</a:t>
            </a:r>
            <a:endParaRPr lang="en-US" sz="2200" dirty="0"/>
          </a:p>
        </p:txBody>
      </p:sp>
      <p:sp>
        <p:nvSpPr>
          <p:cNvPr id="6" name="Shape 4"/>
          <p:cNvSpPr/>
          <p:nvPr/>
        </p:nvSpPr>
        <p:spPr>
          <a:xfrm>
            <a:off x="457200" y="1828800"/>
            <a:ext cx="1508760" cy="868680"/>
          </a:xfrm>
          <a:prstGeom prst="roundRect">
            <a:avLst/>
          </a:prstGeom>
          <a:solidFill>
            <a:srgbClr val="FFFFFF"/>
          </a:solidFill>
          <a:ln w="15240">
            <a:solidFill>
              <a:srgbClr val="6E6890"/>
            </a:solidFill>
            <a:prstDash val="solid"/>
          </a:ln>
        </p:spPr>
      </p:sp>
      <p:sp>
        <p:nvSpPr>
          <p:cNvPr id="7" name="Text 5"/>
          <p:cNvSpPr/>
          <p:nvPr/>
        </p:nvSpPr>
        <p:spPr>
          <a:xfrm>
            <a:off x="457200" y="1828800"/>
            <a:ext cx="1508760" cy="868680"/>
          </a:xfrm>
          <a:prstGeom prst="rect">
            <a:avLst/>
          </a:prstGeom>
          <a:noFill/>
          <a:ln/>
        </p:spPr>
        <p:txBody>
          <a:bodyPr wrap="square" lIns="38100" tIns="38100" rIns="38100" bIns="38100" rtlCol="0" anchor="ctr"/>
          <a:lstStyle/>
          <a:p>
            <a:pPr algn="ctr" indent="0" marL="0">
              <a:lnSpc>
                <a:spcPct val="115000"/>
              </a:lnSpc>
              <a:buNone/>
            </a:pPr>
            <a:r>
              <a:rPr lang="en-US" sz="1400" b="1" dirty="0">
                <a:solidFill>
                  <a:srgbClr val="1A1A1A"/>
                </a:solidFill>
                <a:latin typeface="Cambria" pitchFamily="34" charset="0"/>
                <a:ea typeface="Cambria" pitchFamily="34" charset="-122"/>
                <a:cs typeface="Cambria" pitchFamily="34" charset="-120"/>
              </a:rPr>
              <a:t>S1</a:t>
            </a:r>
            <a:endParaRPr lang="en-US" sz="1400" dirty="0"/>
          </a:p>
          <a:p>
            <a:pPr algn="ctr" indent="0" marL="0">
              <a:lnSpc>
                <a:spcPct val="115000"/>
              </a:lnSpc>
              <a:buNone/>
            </a:pPr>
            <a:r>
              <a:rPr lang="en-US" sz="1400" b="1" dirty="0">
                <a:solidFill>
                  <a:srgbClr val="1A1A1A"/>
                </a:solidFill>
                <a:latin typeface="Cambria" pitchFamily="34" charset="0"/>
                <a:ea typeface="Cambria" pitchFamily="34" charset="-122"/>
                <a:cs typeface="Cambria" pitchFamily="34" charset="-120"/>
              </a:rPr>
              <a:t>59,1%</a:t>
            </a:r>
            <a:endParaRPr lang="en-US" sz="1400" dirty="0"/>
          </a:p>
        </p:txBody>
      </p:sp>
      <p:sp>
        <p:nvSpPr>
          <p:cNvPr id="8" name="Shape 6"/>
          <p:cNvSpPr/>
          <p:nvPr/>
        </p:nvSpPr>
        <p:spPr>
          <a:xfrm>
            <a:off x="2011680" y="2267712"/>
            <a:ext cx="411480" cy="0"/>
          </a:xfrm>
          <a:prstGeom prst="line">
            <a:avLst/>
          </a:prstGeom>
          <a:noFill/>
          <a:ln w="25400">
            <a:solidFill>
              <a:srgbClr val="4F417A"/>
            </a:solidFill>
            <a:prstDash val="solid"/>
            <a:tailEnd type="triangle"/>
          </a:ln>
        </p:spPr>
      </p:sp>
      <p:sp>
        <p:nvSpPr>
          <p:cNvPr id="9" name="Shape 7"/>
          <p:cNvSpPr/>
          <p:nvPr/>
        </p:nvSpPr>
        <p:spPr>
          <a:xfrm>
            <a:off x="2487168" y="1645920"/>
            <a:ext cx="2011680" cy="1234440"/>
          </a:xfrm>
          <a:prstGeom prst="roundRect">
            <a:avLst/>
          </a:prstGeom>
          <a:solidFill>
            <a:srgbClr val="EEEAF6"/>
          </a:solidFill>
          <a:ln w="21590">
            <a:solidFill>
              <a:srgbClr val="322164"/>
            </a:solidFill>
            <a:prstDash val="solid"/>
          </a:ln>
        </p:spPr>
      </p:sp>
      <p:sp>
        <p:nvSpPr>
          <p:cNvPr id="10" name="Text 8"/>
          <p:cNvSpPr/>
          <p:nvPr/>
        </p:nvSpPr>
        <p:spPr>
          <a:xfrm>
            <a:off x="2487168" y="1645920"/>
            <a:ext cx="2011680" cy="1234440"/>
          </a:xfrm>
          <a:prstGeom prst="rect">
            <a:avLst/>
          </a:prstGeom>
          <a:noFill/>
          <a:ln/>
        </p:spPr>
        <p:txBody>
          <a:bodyPr wrap="square" lIns="38100" tIns="38100" rIns="38100" bIns="38100" rtlCol="0" anchor="ctr"/>
          <a:lstStyle/>
          <a:p>
            <a:pPr algn="ctr" indent="0" marL="0">
              <a:lnSpc>
                <a:spcPct val="115000"/>
              </a:lnSpc>
              <a:buNone/>
            </a:pPr>
            <a:r>
              <a:rPr lang="en-US" sz="1250" b="1" dirty="0">
                <a:solidFill>
                  <a:srgbClr val="1A1A1A"/>
                </a:solidFill>
                <a:latin typeface="Cambria" pitchFamily="34" charset="0"/>
                <a:ea typeface="Cambria" pitchFamily="34" charset="-122"/>
                <a:cs typeface="Cambria" pitchFamily="34" charset="-120"/>
              </a:rPr>
              <a:t>1 · GRPO</a:t>
            </a:r>
            <a:endParaRPr lang="en-US" sz="1250" dirty="0"/>
          </a:p>
          <a:p>
            <a:pPr algn="ctr" indent="0" marL="0">
              <a:lnSpc>
                <a:spcPct val="115000"/>
              </a:lnSpc>
              <a:buNone/>
            </a:pPr>
            <a:r>
              <a:rPr lang="en-US" sz="1250" b="1" dirty="0">
                <a:solidFill>
                  <a:srgbClr val="1A1A1A"/>
                </a:solidFill>
                <a:latin typeface="Cambria" pitchFamily="34" charset="0"/>
                <a:ea typeface="Cambria" pitchFamily="34" charset="-122"/>
                <a:cs typeface="Cambria" pitchFamily="34" charset="-120"/>
              </a:rPr>
              <a:t>reward = SPICE</a:t>
            </a:r>
            <a:endParaRPr lang="en-US" sz="1250" dirty="0"/>
          </a:p>
          <a:p>
            <a:pPr algn="ctr" indent="0" marL="0">
              <a:lnSpc>
                <a:spcPct val="115000"/>
              </a:lnSpc>
              <a:buNone/>
            </a:pPr>
            <a:r>
              <a:rPr lang="en-US" sz="1250" b="1" dirty="0">
                <a:solidFill>
                  <a:srgbClr val="1A1A1A"/>
                </a:solidFill>
                <a:latin typeface="Cambria" pitchFamily="34" charset="0"/>
                <a:ea typeface="Cambria" pitchFamily="34" charset="-122"/>
                <a:cs typeface="Cambria" pitchFamily="34" charset="-120"/>
              </a:rPr>
              <a:t>→ draft sentence</a:t>
            </a:r>
            <a:endParaRPr lang="en-US" sz="1250" dirty="0"/>
          </a:p>
        </p:txBody>
      </p:sp>
      <p:sp>
        <p:nvSpPr>
          <p:cNvPr id="11" name="Shape 9"/>
          <p:cNvSpPr/>
          <p:nvPr/>
        </p:nvSpPr>
        <p:spPr>
          <a:xfrm>
            <a:off x="4553712" y="2267712"/>
            <a:ext cx="411480" cy="0"/>
          </a:xfrm>
          <a:prstGeom prst="line">
            <a:avLst/>
          </a:prstGeom>
          <a:noFill/>
          <a:ln w="25400">
            <a:solidFill>
              <a:srgbClr val="4F417A"/>
            </a:solidFill>
            <a:prstDash val="solid"/>
            <a:tailEnd type="triangle"/>
          </a:ln>
        </p:spPr>
      </p:sp>
      <p:sp>
        <p:nvSpPr>
          <p:cNvPr id="12" name="Shape 10"/>
          <p:cNvSpPr/>
          <p:nvPr/>
        </p:nvSpPr>
        <p:spPr>
          <a:xfrm>
            <a:off x="5029200" y="1645920"/>
            <a:ext cx="2011680" cy="1234440"/>
          </a:xfrm>
          <a:prstGeom prst="roundRect">
            <a:avLst/>
          </a:prstGeom>
          <a:solidFill>
            <a:srgbClr val="E5F1EC"/>
          </a:solidFill>
          <a:ln w="21590">
            <a:solidFill>
              <a:srgbClr val="006666"/>
            </a:solidFill>
            <a:prstDash val="solid"/>
          </a:ln>
        </p:spPr>
      </p:sp>
      <p:sp>
        <p:nvSpPr>
          <p:cNvPr id="13" name="Text 11"/>
          <p:cNvSpPr/>
          <p:nvPr/>
        </p:nvSpPr>
        <p:spPr>
          <a:xfrm>
            <a:off x="5029200" y="1645920"/>
            <a:ext cx="2011680" cy="1234440"/>
          </a:xfrm>
          <a:prstGeom prst="rect">
            <a:avLst/>
          </a:prstGeom>
          <a:noFill/>
          <a:ln/>
        </p:spPr>
        <p:txBody>
          <a:bodyPr wrap="square" lIns="38100" tIns="38100" rIns="38100" bIns="38100" rtlCol="0" anchor="ctr"/>
          <a:lstStyle/>
          <a:p>
            <a:pPr algn="ctr" indent="0" marL="0">
              <a:lnSpc>
                <a:spcPct val="115000"/>
              </a:lnSpc>
              <a:buNone/>
            </a:pPr>
            <a:r>
              <a:rPr lang="en-US" sz="1220" b="1" dirty="0">
                <a:solidFill>
                  <a:srgbClr val="1A1A1A"/>
                </a:solidFill>
                <a:latin typeface="Cambria" pitchFamily="34" charset="0"/>
                <a:ea typeface="Cambria" pitchFamily="34" charset="-122"/>
                <a:cs typeface="Cambria" pitchFamily="34" charset="-120"/>
              </a:rPr>
              <a:t>2 · ACE</a:t>
            </a:r>
            <a:endParaRPr lang="en-US" sz="1220" dirty="0"/>
          </a:p>
          <a:p>
            <a:pPr algn="ctr" indent="0" marL="0">
              <a:lnSpc>
                <a:spcPct val="115000"/>
              </a:lnSpc>
              <a:buNone/>
            </a:pPr>
            <a:r>
              <a:rPr lang="en-US" sz="1220" b="1" dirty="0">
                <a:solidFill>
                  <a:srgbClr val="1A1A1A"/>
                </a:solidFill>
                <a:latin typeface="Cambria" pitchFamily="34" charset="0"/>
                <a:ea typeface="Cambria" pitchFamily="34" charset="-122"/>
                <a:cs typeface="Cambria" pitchFamily="34" charset="-120"/>
              </a:rPr>
              <a:t>retrieve 4 exemplars</a:t>
            </a:r>
            <a:endParaRPr lang="en-US" sz="1220" dirty="0"/>
          </a:p>
          <a:p>
            <a:pPr algn="ctr" indent="0" marL="0">
              <a:lnSpc>
                <a:spcPct val="115000"/>
              </a:lnSpc>
              <a:buNone/>
            </a:pPr>
            <a:r>
              <a:rPr lang="en-US" sz="1220" b="1" dirty="0">
                <a:solidFill>
                  <a:srgbClr val="1A1A1A"/>
                </a:solidFill>
                <a:latin typeface="Cambria" pitchFamily="34" charset="0"/>
                <a:ea typeface="Cambria" pitchFamily="34" charset="-122"/>
                <a:cs typeface="Cambria" pitchFamily="34" charset="-120"/>
              </a:rPr>
              <a:t>+ consensus rule</a:t>
            </a:r>
            <a:endParaRPr lang="en-US" sz="1220" dirty="0"/>
          </a:p>
        </p:txBody>
      </p:sp>
      <p:sp>
        <p:nvSpPr>
          <p:cNvPr id="14" name="Shape 12"/>
          <p:cNvSpPr/>
          <p:nvPr/>
        </p:nvSpPr>
        <p:spPr>
          <a:xfrm>
            <a:off x="7104888" y="2267712"/>
            <a:ext cx="411480" cy="0"/>
          </a:xfrm>
          <a:prstGeom prst="line">
            <a:avLst/>
          </a:prstGeom>
          <a:noFill/>
          <a:ln w="25400">
            <a:solidFill>
              <a:srgbClr val="4F417A"/>
            </a:solidFill>
            <a:prstDash val="solid"/>
            <a:tailEnd type="triangle"/>
          </a:ln>
        </p:spPr>
      </p:sp>
      <p:sp>
        <p:nvSpPr>
          <p:cNvPr id="15" name="Shape 13"/>
          <p:cNvSpPr/>
          <p:nvPr/>
        </p:nvSpPr>
        <p:spPr>
          <a:xfrm>
            <a:off x="7571232" y="1828800"/>
            <a:ext cx="1115568" cy="868680"/>
          </a:xfrm>
          <a:prstGeom prst="roundRect">
            <a:avLst/>
          </a:prstGeom>
          <a:solidFill>
            <a:srgbClr val="FFFFFF"/>
          </a:solidFill>
          <a:ln w="19050">
            <a:solidFill>
              <a:srgbClr val="322164"/>
            </a:solidFill>
            <a:prstDash val="solid"/>
          </a:ln>
        </p:spPr>
      </p:sp>
      <p:sp>
        <p:nvSpPr>
          <p:cNvPr id="16" name="Text 14"/>
          <p:cNvSpPr/>
          <p:nvPr/>
        </p:nvSpPr>
        <p:spPr>
          <a:xfrm>
            <a:off x="7571232" y="1828800"/>
            <a:ext cx="1115568" cy="868680"/>
          </a:xfrm>
          <a:prstGeom prst="rect">
            <a:avLst/>
          </a:prstGeom>
          <a:noFill/>
          <a:ln/>
        </p:spPr>
        <p:txBody>
          <a:bodyPr wrap="square" lIns="38100" tIns="38100" rIns="38100" bIns="38100" rtlCol="0" anchor="ctr"/>
          <a:lstStyle/>
          <a:p>
            <a:pPr algn="ctr" indent="0" marL="0">
              <a:lnSpc>
                <a:spcPct val="115000"/>
              </a:lnSpc>
              <a:buNone/>
            </a:pPr>
            <a:r>
              <a:rPr lang="en-US" sz="1250" b="1" dirty="0">
                <a:solidFill>
                  <a:srgbClr val="1A1A1A"/>
                </a:solidFill>
                <a:latin typeface="Cambria" pitchFamily="34" charset="0"/>
                <a:ea typeface="Cambria" pitchFamily="34" charset="-122"/>
                <a:cs typeface="Cambria" pitchFamily="34" charset="-120"/>
              </a:rPr>
              <a:t>final</a:t>
            </a:r>
            <a:endParaRPr lang="en-US" sz="1250" dirty="0"/>
          </a:p>
          <a:p>
            <a:pPr algn="ctr" indent="0" marL="0">
              <a:lnSpc>
                <a:spcPct val="115000"/>
              </a:lnSpc>
              <a:buNone/>
            </a:pPr>
            <a:r>
              <a:rPr lang="en-US" sz="1250" b="1" dirty="0">
                <a:solidFill>
                  <a:srgbClr val="1A1A1A"/>
                </a:solidFill>
                <a:latin typeface="Cambria" pitchFamily="34" charset="0"/>
                <a:ea typeface="Cambria" pitchFamily="34" charset="-122"/>
                <a:cs typeface="Cambria" pitchFamily="34" charset="-120"/>
              </a:rPr>
              <a:t>sentence</a:t>
            </a:r>
            <a:endParaRPr lang="en-US" sz="1250" dirty="0"/>
          </a:p>
        </p:txBody>
      </p:sp>
      <p:sp>
        <p:nvSpPr>
          <p:cNvPr id="17" name="Shape 15"/>
          <p:cNvSpPr/>
          <p:nvPr/>
        </p:nvSpPr>
        <p:spPr>
          <a:xfrm>
            <a:off x="457200" y="3383280"/>
            <a:ext cx="8229600" cy="164592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8" name="Text 16"/>
          <p:cNvSpPr/>
          <p:nvPr/>
        </p:nvSpPr>
        <p:spPr>
          <a:xfrm>
            <a:off x="640080" y="3547872"/>
            <a:ext cx="1920240" cy="27432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Thiết kế độc lập với metric</a:t>
            </a:r>
            <a:endParaRPr lang="en-US" sz="1350" dirty="0"/>
          </a:p>
        </p:txBody>
      </p:sp>
      <p:sp>
        <p:nvSpPr>
          <p:cNvPr id="19" name="Text 17"/>
          <p:cNvSpPr/>
          <p:nvPr/>
        </p:nvSpPr>
        <p:spPr>
          <a:xfrm>
            <a:off x="2286000" y="3493008"/>
            <a:ext cx="201168" cy="420624"/>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0" name="Text 18"/>
          <p:cNvSpPr/>
          <p:nvPr/>
        </p:nvSpPr>
        <p:spPr>
          <a:xfrm>
            <a:off x="2514600" y="3493008"/>
            <a:ext cx="5989320" cy="420624"/>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Phần thưởng chỉ dùng SPICE + phạt độ dài; UGround không xuất hiện trong reward.</a:t>
            </a:r>
            <a:endParaRPr lang="en-US" sz="1250" dirty="0"/>
          </a:p>
        </p:txBody>
      </p:sp>
      <p:sp>
        <p:nvSpPr>
          <p:cNvPr id="21" name="Text 19"/>
          <p:cNvSpPr/>
          <p:nvPr/>
        </p:nvSpPr>
        <p:spPr>
          <a:xfrm>
            <a:off x="2286000" y="3950208"/>
            <a:ext cx="201168" cy="420624"/>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2514600" y="3950208"/>
            <a:ext cx="5989320" cy="420624"/>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ACE không thấy câu chuẩn của bước test; chỉ truy hồi câu chuẩn từ train.</a:t>
            </a:r>
            <a:endParaRPr lang="en-US" sz="1250" dirty="0"/>
          </a:p>
        </p:txBody>
      </p:sp>
      <p:sp>
        <p:nvSpPr>
          <p:cNvPr id="23" name="Text 21"/>
          <p:cNvSpPr/>
          <p:nvPr/>
        </p:nvSpPr>
        <p:spPr>
          <a:xfrm>
            <a:off x="2286000" y="4407408"/>
            <a:ext cx="201168" cy="420624"/>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4" name="Text 22"/>
          <p:cNvSpPr/>
          <p:nvPr/>
        </p:nvSpPr>
        <p:spPr>
          <a:xfrm>
            <a:off x="2514600" y="4407408"/>
            <a:ext cx="5989320" cy="420624"/>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Nếu consensus không đạt, giữ nguyên câu nháp.</a:t>
            </a:r>
            <a:endParaRPr lang="en-US" sz="1250" dirty="0"/>
          </a:p>
        </p:txBody>
      </p:sp>
      <p:sp>
        <p:nvSpPr>
          <p:cNvPr id="25" name="Text 23"/>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GRPO: Shao et al. 2024 · SPICE: Anderson et al. 2016 · Luận văn Ch.4</a:t>
            </a:r>
            <a:endParaRPr lang="en-US" sz="820" dirty="0"/>
          </a:p>
        </p:txBody>
      </p:sp>
      <p:sp>
        <p:nvSpPr>
          <p:cNvPr id="26" name="Shape 24"/>
          <p:cNvSpPr/>
          <p:nvPr/>
        </p:nvSpPr>
        <p:spPr>
          <a:xfrm>
            <a:off x="0" y="6620256"/>
            <a:ext cx="2743200" cy="237744"/>
          </a:xfrm>
          <a:prstGeom prst="rect">
            <a:avLst/>
          </a:prstGeom>
          <a:solidFill>
            <a:srgbClr val="191132"/>
          </a:solidFill>
          <a:ln/>
        </p:spPr>
      </p:sp>
      <p:sp>
        <p:nvSpPr>
          <p:cNvPr id="27" name="Shape 25"/>
          <p:cNvSpPr/>
          <p:nvPr/>
        </p:nvSpPr>
        <p:spPr>
          <a:xfrm>
            <a:off x="2743200" y="6620256"/>
            <a:ext cx="3383280" cy="237744"/>
          </a:xfrm>
          <a:prstGeom prst="rect">
            <a:avLst/>
          </a:prstGeom>
          <a:solidFill>
            <a:srgbClr val="25194B"/>
          </a:solidFill>
          <a:ln/>
        </p:spPr>
      </p:sp>
      <p:sp>
        <p:nvSpPr>
          <p:cNvPr id="28" name="Shape 26"/>
          <p:cNvSpPr/>
          <p:nvPr/>
        </p:nvSpPr>
        <p:spPr>
          <a:xfrm>
            <a:off x="6126480" y="6620256"/>
            <a:ext cx="1737360" cy="237744"/>
          </a:xfrm>
          <a:prstGeom prst="rect">
            <a:avLst/>
          </a:prstGeom>
          <a:solidFill>
            <a:srgbClr val="4F417A"/>
          </a:solidFill>
          <a:ln/>
        </p:spPr>
      </p:sp>
      <p:sp>
        <p:nvSpPr>
          <p:cNvPr id="29" name="Shape 27"/>
          <p:cNvSpPr/>
          <p:nvPr/>
        </p:nvSpPr>
        <p:spPr>
          <a:xfrm>
            <a:off x="7863840" y="6620256"/>
            <a:ext cx="1280160" cy="237744"/>
          </a:xfrm>
          <a:prstGeom prst="rect">
            <a:avLst/>
          </a:prstGeom>
          <a:solidFill>
            <a:srgbClr val="7A7099"/>
          </a:solidFill>
          <a:ln/>
        </p:spPr>
      </p:sp>
      <p:sp>
        <p:nvSpPr>
          <p:cNvPr id="30" name="Text 2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1" name="Text 2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2" name="Text 3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3" name="Text 3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10/21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Thành phần 1: GRPO thưởng câu nào “nói đúng nội dung hơn”</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METHOD · COMPONENT 1</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Mỗi prompt sinh 8 câu; câu có SPICE cao hơn trung bình nhóm được tăng xác suất.</a:t>
            </a:r>
            <a:endParaRPr lang="en-US" sz="2200" dirty="0"/>
          </a:p>
        </p:txBody>
      </p:sp>
      <p:sp>
        <p:nvSpPr>
          <p:cNvPr id="6" name="Shape 4"/>
          <p:cNvSpPr/>
          <p:nvPr/>
        </p:nvSpPr>
        <p:spPr>
          <a:xfrm>
            <a:off x="457200" y="1874520"/>
            <a:ext cx="411480" cy="256032"/>
          </a:xfrm>
          <a:prstGeom prst="roundRect">
            <a:avLst/>
          </a:prstGeom>
          <a:solidFill>
            <a:srgbClr val="322164"/>
          </a:solidFill>
          <a:ln/>
        </p:spPr>
      </p:sp>
      <p:sp>
        <p:nvSpPr>
          <p:cNvPr id="7" name="Text 5"/>
          <p:cNvSpPr/>
          <p:nvPr/>
        </p:nvSpPr>
        <p:spPr>
          <a:xfrm>
            <a:off x="457200" y="1874520"/>
            <a:ext cx="4114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1</a:t>
            </a:r>
            <a:endParaRPr lang="en-US" sz="900" dirty="0"/>
          </a:p>
        </p:txBody>
      </p:sp>
      <p:sp>
        <p:nvSpPr>
          <p:cNvPr id="8" name="Text 6"/>
          <p:cNvSpPr/>
          <p:nvPr/>
        </p:nvSpPr>
        <p:spPr>
          <a:xfrm>
            <a:off x="1024128" y="1865376"/>
            <a:ext cx="1097280" cy="274320"/>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Sample</a:t>
            </a:r>
            <a:endParaRPr lang="en-US" sz="1300" dirty="0"/>
          </a:p>
        </p:txBody>
      </p:sp>
      <p:sp>
        <p:nvSpPr>
          <p:cNvPr id="9" name="Text 7"/>
          <p:cNvSpPr/>
          <p:nvPr/>
        </p:nvSpPr>
        <p:spPr>
          <a:xfrm>
            <a:off x="2029968" y="1865376"/>
            <a:ext cx="3840480" cy="384048"/>
          </a:xfrm>
          <a:prstGeom prst="rect">
            <a:avLst/>
          </a:prstGeom>
          <a:noFill/>
          <a:ln/>
        </p:spPr>
        <p:txBody>
          <a:bodyPr wrap="square" lIns="0" tIns="0" rIns="0" bIns="0" rtlCol="0" anchor="t"/>
          <a:lstStyle/>
          <a:p>
            <a:pPr algn="l" indent="0" marL="0">
              <a:buNone/>
            </a:pPr>
            <a:r>
              <a:rPr lang="en-US" sz="1240" dirty="0">
                <a:solidFill>
                  <a:srgbClr val="1A1A1A"/>
                </a:solidFill>
                <a:latin typeface="Cambria" pitchFamily="34" charset="0"/>
                <a:ea typeface="Cambria" pitchFamily="34" charset="-122"/>
                <a:cs typeface="Cambria" pitchFamily="34" charset="-120"/>
              </a:rPr>
              <a:t>8 câu / prompt, temperature = 1.0</a:t>
            </a:r>
            <a:endParaRPr lang="en-US" sz="1240" dirty="0"/>
          </a:p>
        </p:txBody>
      </p:sp>
      <p:sp>
        <p:nvSpPr>
          <p:cNvPr id="10" name="Shape 8"/>
          <p:cNvSpPr/>
          <p:nvPr/>
        </p:nvSpPr>
        <p:spPr>
          <a:xfrm>
            <a:off x="658368" y="2157984"/>
            <a:ext cx="0" cy="438912"/>
          </a:xfrm>
          <a:prstGeom prst="line">
            <a:avLst/>
          </a:prstGeom>
          <a:noFill/>
          <a:ln w="19050">
            <a:solidFill>
              <a:srgbClr val="4F417A"/>
            </a:solidFill>
            <a:prstDash val="dash"/>
            <a:tailEnd type="none"/>
          </a:ln>
        </p:spPr>
      </p:sp>
      <p:sp>
        <p:nvSpPr>
          <p:cNvPr id="11" name="Shape 9"/>
          <p:cNvSpPr/>
          <p:nvPr/>
        </p:nvSpPr>
        <p:spPr>
          <a:xfrm>
            <a:off x="457200" y="2624328"/>
            <a:ext cx="411480" cy="256032"/>
          </a:xfrm>
          <a:prstGeom prst="roundRect">
            <a:avLst/>
          </a:prstGeom>
          <a:solidFill>
            <a:srgbClr val="006666"/>
          </a:solidFill>
          <a:ln/>
        </p:spPr>
      </p:sp>
      <p:sp>
        <p:nvSpPr>
          <p:cNvPr id="12" name="Text 10"/>
          <p:cNvSpPr/>
          <p:nvPr/>
        </p:nvSpPr>
        <p:spPr>
          <a:xfrm>
            <a:off x="457200" y="2624328"/>
            <a:ext cx="4114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2</a:t>
            </a:r>
            <a:endParaRPr lang="en-US" sz="900" dirty="0"/>
          </a:p>
        </p:txBody>
      </p:sp>
      <p:sp>
        <p:nvSpPr>
          <p:cNvPr id="13" name="Text 11"/>
          <p:cNvSpPr/>
          <p:nvPr/>
        </p:nvSpPr>
        <p:spPr>
          <a:xfrm>
            <a:off x="1024128" y="2615184"/>
            <a:ext cx="1097280" cy="274320"/>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Reward</a:t>
            </a:r>
            <a:endParaRPr lang="en-US" sz="1300" dirty="0"/>
          </a:p>
        </p:txBody>
      </p:sp>
      <p:sp>
        <p:nvSpPr>
          <p:cNvPr id="14" name="Text 12"/>
          <p:cNvSpPr/>
          <p:nvPr/>
        </p:nvSpPr>
        <p:spPr>
          <a:xfrm>
            <a:off x="2029968" y="2615184"/>
            <a:ext cx="3840480" cy="384048"/>
          </a:xfrm>
          <a:prstGeom prst="rect">
            <a:avLst/>
          </a:prstGeom>
          <a:noFill/>
          <a:ln/>
        </p:spPr>
        <p:txBody>
          <a:bodyPr wrap="square" lIns="0" tIns="0" rIns="0" bIns="0" rtlCol="0" anchor="t"/>
          <a:lstStyle/>
          <a:p>
            <a:pPr algn="l" indent="0" marL="0">
              <a:buNone/>
            </a:pPr>
            <a:r>
              <a:rPr lang="en-US" sz="1240" dirty="0">
                <a:solidFill>
                  <a:srgbClr val="1A1A1A"/>
                </a:solidFill>
                <a:latin typeface="Cambria" pitchFamily="34" charset="0"/>
                <a:ea typeface="Cambria" pitchFamily="34" charset="-122"/>
                <a:cs typeface="Cambria" pitchFamily="34" charset="-120"/>
              </a:rPr>
              <a:t>SPICE(sentence, reference) − length penalty</a:t>
            </a:r>
            <a:endParaRPr lang="en-US" sz="1240" dirty="0"/>
          </a:p>
        </p:txBody>
      </p:sp>
      <p:sp>
        <p:nvSpPr>
          <p:cNvPr id="15" name="Shape 13"/>
          <p:cNvSpPr/>
          <p:nvPr/>
        </p:nvSpPr>
        <p:spPr>
          <a:xfrm>
            <a:off x="658368" y="2907792"/>
            <a:ext cx="0" cy="438912"/>
          </a:xfrm>
          <a:prstGeom prst="line">
            <a:avLst/>
          </a:prstGeom>
          <a:noFill/>
          <a:ln w="19050">
            <a:solidFill>
              <a:srgbClr val="4F417A"/>
            </a:solidFill>
            <a:prstDash val="dash"/>
            <a:tailEnd type="none"/>
          </a:ln>
        </p:spPr>
      </p:sp>
      <p:sp>
        <p:nvSpPr>
          <p:cNvPr id="16" name="Shape 14"/>
          <p:cNvSpPr/>
          <p:nvPr/>
        </p:nvSpPr>
        <p:spPr>
          <a:xfrm>
            <a:off x="457200" y="3374136"/>
            <a:ext cx="411480" cy="256032"/>
          </a:xfrm>
          <a:prstGeom prst="roundRect">
            <a:avLst/>
          </a:prstGeom>
          <a:solidFill>
            <a:srgbClr val="322164"/>
          </a:solidFill>
          <a:ln/>
        </p:spPr>
      </p:sp>
      <p:sp>
        <p:nvSpPr>
          <p:cNvPr id="17" name="Text 15"/>
          <p:cNvSpPr/>
          <p:nvPr/>
        </p:nvSpPr>
        <p:spPr>
          <a:xfrm>
            <a:off x="457200" y="3374136"/>
            <a:ext cx="4114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3</a:t>
            </a:r>
            <a:endParaRPr lang="en-US" sz="900" dirty="0"/>
          </a:p>
        </p:txBody>
      </p:sp>
      <p:sp>
        <p:nvSpPr>
          <p:cNvPr id="18" name="Text 16"/>
          <p:cNvSpPr/>
          <p:nvPr/>
        </p:nvSpPr>
        <p:spPr>
          <a:xfrm>
            <a:off x="1024128" y="3364992"/>
            <a:ext cx="1097280" cy="274320"/>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Advantage</a:t>
            </a:r>
            <a:endParaRPr lang="en-US" sz="1300" dirty="0"/>
          </a:p>
        </p:txBody>
      </p:sp>
      <p:sp>
        <p:nvSpPr>
          <p:cNvPr id="19" name="Text 17"/>
          <p:cNvSpPr/>
          <p:nvPr/>
        </p:nvSpPr>
        <p:spPr>
          <a:xfrm>
            <a:off x="2029968" y="3364992"/>
            <a:ext cx="3840480" cy="384048"/>
          </a:xfrm>
          <a:prstGeom prst="rect">
            <a:avLst/>
          </a:prstGeom>
          <a:noFill/>
          <a:ln/>
        </p:spPr>
        <p:txBody>
          <a:bodyPr wrap="square" lIns="0" tIns="0" rIns="0" bIns="0" rtlCol="0" anchor="t"/>
          <a:lstStyle/>
          <a:p>
            <a:pPr algn="l" indent="0" marL="0">
              <a:buNone/>
            </a:pPr>
            <a:r>
              <a:rPr lang="en-US" sz="1240" dirty="0">
                <a:solidFill>
                  <a:srgbClr val="1A1A1A"/>
                </a:solidFill>
                <a:latin typeface="Cambria" pitchFamily="34" charset="0"/>
                <a:ea typeface="Cambria" pitchFamily="34" charset="-122"/>
                <a:cs typeface="Cambria" pitchFamily="34" charset="-120"/>
              </a:rPr>
              <a:t>so với trung bình 8 câu cùng prompt</a:t>
            </a:r>
            <a:endParaRPr lang="en-US" sz="1240" dirty="0"/>
          </a:p>
        </p:txBody>
      </p:sp>
      <p:sp>
        <p:nvSpPr>
          <p:cNvPr id="20" name="Shape 18"/>
          <p:cNvSpPr/>
          <p:nvPr/>
        </p:nvSpPr>
        <p:spPr>
          <a:xfrm>
            <a:off x="658368" y="3657600"/>
            <a:ext cx="0" cy="438912"/>
          </a:xfrm>
          <a:prstGeom prst="line">
            <a:avLst/>
          </a:prstGeom>
          <a:noFill/>
          <a:ln w="19050">
            <a:solidFill>
              <a:srgbClr val="4F417A"/>
            </a:solidFill>
            <a:prstDash val="dash"/>
            <a:tailEnd type="none"/>
          </a:ln>
        </p:spPr>
      </p:sp>
      <p:sp>
        <p:nvSpPr>
          <p:cNvPr id="21" name="Shape 19"/>
          <p:cNvSpPr/>
          <p:nvPr/>
        </p:nvSpPr>
        <p:spPr>
          <a:xfrm>
            <a:off x="457200" y="4123944"/>
            <a:ext cx="411480" cy="256032"/>
          </a:xfrm>
          <a:prstGeom prst="roundRect">
            <a:avLst/>
          </a:prstGeom>
          <a:solidFill>
            <a:srgbClr val="322164"/>
          </a:solidFill>
          <a:ln/>
        </p:spPr>
      </p:sp>
      <p:sp>
        <p:nvSpPr>
          <p:cNvPr id="22" name="Text 20"/>
          <p:cNvSpPr/>
          <p:nvPr/>
        </p:nvSpPr>
        <p:spPr>
          <a:xfrm>
            <a:off x="457200" y="4123944"/>
            <a:ext cx="4114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4</a:t>
            </a:r>
            <a:endParaRPr lang="en-US" sz="900" dirty="0"/>
          </a:p>
        </p:txBody>
      </p:sp>
      <p:sp>
        <p:nvSpPr>
          <p:cNvPr id="23" name="Text 21"/>
          <p:cNvSpPr/>
          <p:nvPr/>
        </p:nvSpPr>
        <p:spPr>
          <a:xfrm>
            <a:off x="1024128" y="4114800"/>
            <a:ext cx="1097280" cy="274320"/>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Update</a:t>
            </a:r>
            <a:endParaRPr lang="en-US" sz="1300" dirty="0"/>
          </a:p>
        </p:txBody>
      </p:sp>
      <p:sp>
        <p:nvSpPr>
          <p:cNvPr id="24" name="Text 22"/>
          <p:cNvSpPr/>
          <p:nvPr/>
        </p:nvSpPr>
        <p:spPr>
          <a:xfrm>
            <a:off x="2029968" y="4114800"/>
            <a:ext cx="3840480" cy="384048"/>
          </a:xfrm>
          <a:prstGeom prst="rect">
            <a:avLst/>
          </a:prstGeom>
          <a:noFill/>
          <a:ln/>
        </p:spPr>
        <p:txBody>
          <a:bodyPr wrap="square" lIns="0" tIns="0" rIns="0" bIns="0" rtlCol="0" anchor="t"/>
          <a:lstStyle/>
          <a:p>
            <a:pPr algn="l" indent="0" marL="0">
              <a:buNone/>
            </a:pPr>
            <a:r>
              <a:rPr lang="en-US" sz="1240" dirty="0">
                <a:solidFill>
                  <a:srgbClr val="1A1A1A"/>
                </a:solidFill>
                <a:latin typeface="Cambria" pitchFamily="34" charset="0"/>
                <a:ea typeface="Cambria" pitchFamily="34" charset="-122"/>
                <a:cs typeface="Cambria" pitchFamily="34" charset="-120"/>
              </a:rPr>
              <a:t>GRPO + KL β = 0,04 để không lệch xa S1</a:t>
            </a:r>
            <a:endParaRPr lang="en-US" sz="1240" dirty="0"/>
          </a:p>
        </p:txBody>
      </p:sp>
      <p:sp>
        <p:nvSpPr>
          <p:cNvPr id="25" name="Shape 23"/>
          <p:cNvSpPr/>
          <p:nvPr/>
        </p:nvSpPr>
        <p:spPr>
          <a:xfrm>
            <a:off x="5989320" y="1874520"/>
            <a:ext cx="2697480" cy="3063240"/>
          </a:xfrm>
          <a:prstGeom prst="roundRect">
            <a:avLst/>
          </a:prstGeom>
          <a:solidFill>
            <a:srgbClr val="EEEAF6"/>
          </a:solidFill>
          <a:ln/>
          <a:effectLst>
            <a:outerShdw sx="100000" sy="100000" kx="0" ky="0" algn="bl" rotWithShape="0" blurRad="63500" dist="31750" dir="2700000">
              <a:srgbClr val="8C8C99">
                <a:alpha val="35000"/>
              </a:srgbClr>
            </a:outerShdw>
          </a:effectLst>
        </p:spPr>
      </p:sp>
      <p:sp>
        <p:nvSpPr>
          <p:cNvPr id="26" name="Text 24"/>
          <p:cNvSpPr/>
          <p:nvPr/>
        </p:nvSpPr>
        <p:spPr>
          <a:xfrm>
            <a:off x="6217920" y="2057400"/>
            <a:ext cx="2240280" cy="292608"/>
          </a:xfrm>
          <a:prstGeom prst="rect">
            <a:avLst/>
          </a:prstGeom>
          <a:noFill/>
          <a:ln/>
        </p:spPr>
        <p:txBody>
          <a:bodyPr wrap="square" lIns="0" tIns="0" rIns="0" bIns="0" rtlCol="0" anchor="t"/>
          <a:lstStyle/>
          <a:p>
            <a:pPr algn="ctr" indent="0" marL="0">
              <a:buNone/>
            </a:pPr>
            <a:r>
              <a:rPr lang="en-US" sz="1400" b="1" dirty="0">
                <a:solidFill>
                  <a:srgbClr val="322164"/>
                </a:solidFill>
                <a:latin typeface="Cambria" pitchFamily="34" charset="0"/>
                <a:ea typeface="Cambria" pitchFamily="34" charset="-122"/>
                <a:cs typeface="Cambria" pitchFamily="34" charset="-120"/>
              </a:rPr>
              <a:t>Reward</a:t>
            </a:r>
            <a:endParaRPr lang="en-US" sz="1400" dirty="0"/>
          </a:p>
        </p:txBody>
      </p:sp>
      <p:sp>
        <p:nvSpPr>
          <p:cNvPr id="27" name="Text 25"/>
          <p:cNvSpPr/>
          <p:nvPr/>
        </p:nvSpPr>
        <p:spPr>
          <a:xfrm>
            <a:off x="6172200" y="2651760"/>
            <a:ext cx="2331720" cy="914400"/>
          </a:xfrm>
          <a:prstGeom prst="rect">
            <a:avLst/>
          </a:prstGeom>
          <a:noFill/>
          <a:ln/>
        </p:spPr>
        <p:txBody>
          <a:bodyPr wrap="square" lIns="0" tIns="0" rIns="0" bIns="0" rtlCol="0" anchor="ctr"/>
          <a:lstStyle/>
          <a:p>
            <a:pPr algn="ctr" indent="0" marL="0">
              <a:buNone/>
            </a:pPr>
            <a:r>
              <a:rPr lang="en-US" sz="1500" b="1" dirty="0">
                <a:solidFill>
                  <a:srgbClr val="1414BE"/>
                </a:solidFill>
                <a:latin typeface="Consolas" pitchFamily="34" charset="0"/>
                <a:ea typeface="Consolas" pitchFamily="34" charset="-122"/>
                <a:cs typeface="Consolas" pitchFamily="34" charset="-120"/>
              </a:rPr>
              <a:t>r(s) = SPICE(s,g)</a:t>
            </a:r>
            <a:endParaRPr lang="en-US" sz="1500" dirty="0"/>
          </a:p>
          <a:p>
            <a:pPr algn="ctr" indent="0" marL="0">
              <a:buNone/>
            </a:pPr>
            <a:r>
              <a:rPr lang="en-US" sz="1500" b="1" dirty="0">
                <a:solidFill>
                  <a:srgbClr val="1414BE"/>
                </a:solidFill>
                <a:latin typeface="Consolas" pitchFamily="34" charset="0"/>
                <a:ea typeface="Consolas" pitchFamily="34" charset="-122"/>
                <a:cs typeface="Consolas" pitchFamily="34" charset="-120"/>
              </a:rPr>
              <a:t>− 0,02 · max(0, |s|−|g|−3)</a:t>
            </a:r>
            <a:endParaRPr lang="en-US" sz="1500" dirty="0"/>
          </a:p>
        </p:txBody>
      </p:sp>
      <p:sp>
        <p:nvSpPr>
          <p:cNvPr id="28" name="Text 26"/>
          <p:cNvSpPr/>
          <p:nvPr/>
        </p:nvSpPr>
        <p:spPr>
          <a:xfrm>
            <a:off x="6217920" y="3977640"/>
            <a:ext cx="2240280" cy="658368"/>
          </a:xfrm>
          <a:prstGeom prst="rect">
            <a:avLst/>
          </a:prstGeom>
          <a:noFill/>
          <a:ln/>
        </p:spPr>
        <p:txBody>
          <a:bodyPr wrap="square" lIns="0" tIns="0" rIns="0" bIns="0" rtlCol="0" anchor="t"/>
          <a:lstStyle/>
          <a:p>
            <a:pPr algn="ctr" indent="0" marL="0">
              <a:lnSpc>
                <a:spcPct val="130000"/>
              </a:lnSpc>
              <a:buNone/>
            </a:pPr>
            <a:r>
              <a:rPr lang="en-US" sz="1150" dirty="0">
                <a:solidFill>
                  <a:srgbClr val="1A1A1A"/>
                </a:solidFill>
                <a:latin typeface="Cambria" pitchFamily="34" charset="0"/>
                <a:ea typeface="Cambria" pitchFamily="34" charset="-122"/>
                <a:cs typeface="Cambria" pitchFamily="34" charset="-120"/>
              </a:rPr>
              <a:t>500 updates · 1.000 prompts</a:t>
            </a:r>
            <a:endParaRPr lang="en-US" sz="1150" dirty="0"/>
          </a:p>
          <a:p>
            <a:pPr algn="ctr" indent="0" marL="0">
              <a:lnSpc>
                <a:spcPct val="130000"/>
              </a:lnSpc>
              <a:buNone/>
            </a:pPr>
            <a:r>
              <a:rPr lang="en-US" sz="1150" dirty="0">
                <a:solidFill>
                  <a:srgbClr val="1A1A1A"/>
                </a:solidFill>
                <a:latin typeface="Cambria" pitchFamily="34" charset="0"/>
                <a:ea typeface="Cambria" pitchFamily="34" charset="-122"/>
                <a:cs typeface="Cambria" pitchFamily="34" charset="-120"/>
              </a:rPr>
              <a:t>LR = 1e−5 · starting from S1/101</a:t>
            </a:r>
            <a:endParaRPr lang="en-US" sz="1150" dirty="0"/>
          </a:p>
        </p:txBody>
      </p:sp>
      <p:sp>
        <p:nvSpPr>
          <p:cNvPr id="29" name="Text 27"/>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Luận văn §4.5</a:t>
            </a:r>
            <a:endParaRPr lang="en-US" sz="820" dirty="0"/>
          </a:p>
        </p:txBody>
      </p:sp>
      <p:sp>
        <p:nvSpPr>
          <p:cNvPr id="30" name="Shape 28"/>
          <p:cNvSpPr/>
          <p:nvPr/>
        </p:nvSpPr>
        <p:spPr>
          <a:xfrm>
            <a:off x="0" y="6620256"/>
            <a:ext cx="2743200" cy="237744"/>
          </a:xfrm>
          <a:prstGeom prst="rect">
            <a:avLst/>
          </a:prstGeom>
          <a:solidFill>
            <a:srgbClr val="191132"/>
          </a:solidFill>
          <a:ln/>
        </p:spPr>
      </p:sp>
      <p:sp>
        <p:nvSpPr>
          <p:cNvPr id="31" name="Shape 29"/>
          <p:cNvSpPr/>
          <p:nvPr/>
        </p:nvSpPr>
        <p:spPr>
          <a:xfrm>
            <a:off x="2743200" y="6620256"/>
            <a:ext cx="3383280" cy="237744"/>
          </a:xfrm>
          <a:prstGeom prst="rect">
            <a:avLst/>
          </a:prstGeom>
          <a:solidFill>
            <a:srgbClr val="25194B"/>
          </a:solidFill>
          <a:ln/>
        </p:spPr>
      </p:sp>
      <p:sp>
        <p:nvSpPr>
          <p:cNvPr id="32" name="Shape 30"/>
          <p:cNvSpPr/>
          <p:nvPr/>
        </p:nvSpPr>
        <p:spPr>
          <a:xfrm>
            <a:off x="6126480" y="6620256"/>
            <a:ext cx="1737360" cy="237744"/>
          </a:xfrm>
          <a:prstGeom prst="rect">
            <a:avLst/>
          </a:prstGeom>
          <a:solidFill>
            <a:srgbClr val="4F417A"/>
          </a:solidFill>
          <a:ln/>
        </p:spPr>
      </p:sp>
      <p:sp>
        <p:nvSpPr>
          <p:cNvPr id="33" name="Shape 31"/>
          <p:cNvSpPr/>
          <p:nvPr/>
        </p:nvSpPr>
        <p:spPr>
          <a:xfrm>
            <a:off x="7863840" y="6620256"/>
            <a:ext cx="1280160" cy="237744"/>
          </a:xfrm>
          <a:prstGeom prst="rect">
            <a:avLst/>
          </a:prstGeom>
          <a:solidFill>
            <a:srgbClr val="7A7099"/>
          </a:solidFill>
          <a:ln/>
        </p:spPr>
      </p:sp>
      <p:sp>
        <p:nvSpPr>
          <p:cNvPr id="34" name="Text 3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5" name="Text 3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6" name="Text 3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7" name="Text 3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11/21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Một thay đổi nhỏ trong câu có thể sửa đúng phần tử</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EVIDENCE · COMPONENT 1</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GRPO thưởng SPICE sửa cả lỗi loại thao tác lẫn lỗi gọi sai phần tử.</a:t>
            </a:r>
            <a:endParaRPr lang="en-US" sz="2200" dirty="0"/>
          </a:p>
        </p:txBody>
      </p:sp>
      <p:pic>
        <p:nvPicPr>
          <p:cNvPr id="6" name="Image 0" descr="/mnt/d/Master/Thesis/thesis/figures/fig_vidu_spice.png">    </p:cNvPr>
          <p:cNvPicPr>
            <a:picLocks noChangeAspect="1"/>
          </p:cNvPicPr>
          <p:nvPr/>
        </p:nvPicPr>
        <p:blipFill>
          <a:blip r:embed="rId1"/>
          <a:stretch>
            <a:fillRect/>
          </a:stretch>
        </p:blipFill>
        <p:spPr>
          <a:xfrm>
            <a:off x="457200" y="1768450"/>
            <a:ext cx="3703320" cy="4098341"/>
          </a:xfrm>
          <a:prstGeom prst="rect">
            <a:avLst/>
          </a:prstGeom>
        </p:spPr>
      </p:pic>
      <p:sp>
        <p:nvSpPr>
          <p:cNvPr id="7" name="Shape 4"/>
          <p:cNvSpPr/>
          <p:nvPr/>
        </p:nvSpPr>
        <p:spPr>
          <a:xfrm>
            <a:off x="4434840" y="1737360"/>
            <a:ext cx="4251960" cy="416052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8" name="Text 5"/>
          <p:cNvSpPr/>
          <p:nvPr/>
        </p:nvSpPr>
        <p:spPr>
          <a:xfrm>
            <a:off x="4663440" y="1938528"/>
            <a:ext cx="1005840" cy="274320"/>
          </a:xfrm>
          <a:prstGeom prst="rect">
            <a:avLst/>
          </a:prstGeom>
          <a:noFill/>
          <a:ln/>
        </p:spPr>
        <p:txBody>
          <a:bodyPr wrap="square" lIns="0" tIns="0" rIns="0" bIns="0" rtlCol="0" anchor="t"/>
          <a:lstStyle/>
          <a:p>
            <a:pPr algn="l" indent="0" marL="0">
              <a:buNone/>
            </a:pPr>
            <a:r>
              <a:rPr lang="en-US" sz="1200" b="1" dirty="0">
                <a:solidFill>
                  <a:srgbClr val="5A5A66"/>
                </a:solidFill>
                <a:latin typeface="Cambria" pitchFamily="34" charset="0"/>
                <a:ea typeface="Cambria" pitchFamily="34" charset="-122"/>
                <a:cs typeface="Cambria" pitchFamily="34" charset="-120"/>
              </a:rPr>
              <a:t>Cần chạm</a:t>
            </a:r>
            <a:endParaRPr lang="en-US" sz="1200" dirty="0"/>
          </a:p>
        </p:txBody>
      </p:sp>
      <p:sp>
        <p:nvSpPr>
          <p:cNvPr id="9" name="Text 6"/>
          <p:cNvSpPr/>
          <p:nvPr/>
        </p:nvSpPr>
        <p:spPr>
          <a:xfrm>
            <a:off x="5687568" y="1938528"/>
            <a:ext cx="2377440" cy="274320"/>
          </a:xfrm>
          <a:prstGeom prst="rect">
            <a:avLst/>
          </a:prstGeom>
          <a:noFill/>
          <a:ln/>
        </p:spPr>
        <p:txBody>
          <a:bodyPr wrap="square" lIns="0" tIns="0" rIns="0" bIns="0" rtlCol="0" anchor="t"/>
          <a:lstStyle/>
          <a:p>
            <a:pPr algn="l" indent="0" marL="0">
              <a:buNone/>
            </a:pPr>
            <a:r>
              <a:rPr lang="en-US" sz="1400" b="1" dirty="0">
                <a:solidFill>
                  <a:srgbClr val="006666"/>
                </a:solidFill>
                <a:latin typeface="Cambria" pitchFamily="34" charset="0"/>
                <a:ea typeface="Cambria" pitchFamily="34" charset="-122"/>
                <a:cs typeface="Cambria" pitchFamily="34" charset="-120"/>
              </a:rPr>
              <a:t>Not now</a:t>
            </a:r>
            <a:endParaRPr lang="en-US" sz="1400" dirty="0"/>
          </a:p>
        </p:txBody>
      </p:sp>
      <p:sp>
        <p:nvSpPr>
          <p:cNvPr id="10" name="Text 7"/>
          <p:cNvSpPr/>
          <p:nvPr/>
        </p:nvSpPr>
        <p:spPr>
          <a:xfrm>
            <a:off x="4663440" y="2606040"/>
            <a:ext cx="685800" cy="292608"/>
          </a:xfrm>
          <a:prstGeom prst="rect">
            <a:avLst/>
          </a:prstGeom>
          <a:noFill/>
          <a:ln/>
        </p:spPr>
        <p:txBody>
          <a:bodyPr wrap="square" lIns="0" tIns="0" rIns="0" bIns="0" rtlCol="0" anchor="t"/>
          <a:lstStyle/>
          <a:p>
            <a:pPr algn="l" indent="0" marL="0">
              <a:buNone/>
            </a:pPr>
            <a:r>
              <a:rPr lang="en-US" sz="1300" b="1" dirty="0">
                <a:solidFill>
                  <a:srgbClr val="B22222"/>
                </a:solidFill>
                <a:latin typeface="Cambria" pitchFamily="34" charset="0"/>
                <a:ea typeface="Cambria" pitchFamily="34" charset="-122"/>
                <a:cs typeface="Cambria" pitchFamily="34" charset="-120"/>
              </a:rPr>
              <a:t>S1</a:t>
            </a:r>
            <a:endParaRPr lang="en-US" sz="1300" dirty="0"/>
          </a:p>
        </p:txBody>
      </p:sp>
      <p:sp>
        <p:nvSpPr>
          <p:cNvPr id="11" name="Text 8"/>
          <p:cNvSpPr/>
          <p:nvPr/>
        </p:nvSpPr>
        <p:spPr>
          <a:xfrm>
            <a:off x="5394960" y="2542032"/>
            <a:ext cx="2834640" cy="502920"/>
          </a:xfrm>
          <a:prstGeom prst="rect">
            <a:avLst/>
          </a:prstGeom>
          <a:noFill/>
          <a:ln/>
        </p:spPr>
        <p:txBody>
          <a:bodyPr wrap="square" lIns="0" tIns="0" rIns="0" bIns="0" rtlCol="0" anchor="t"/>
          <a:lstStyle/>
          <a:p>
            <a:pPr algn="l" indent="0" marL="0">
              <a:buNone/>
            </a:pPr>
            <a:r>
              <a:rPr lang="en-US" sz="1300" i="1" dirty="0">
                <a:solidFill>
                  <a:srgbClr val="B22222"/>
                </a:solidFill>
                <a:latin typeface="Cambria" pitchFamily="34" charset="0"/>
                <a:ea typeface="Cambria" pitchFamily="34" charset="-122"/>
                <a:cs typeface="Cambria" pitchFamily="34" charset="-120"/>
              </a:rPr>
              <a:t>“Click on the Allow button …”</a:t>
            </a:r>
            <a:endParaRPr lang="en-US" sz="1300" dirty="0"/>
          </a:p>
        </p:txBody>
      </p:sp>
      <p:sp>
        <p:nvSpPr>
          <p:cNvPr id="12" name="Shape 9"/>
          <p:cNvSpPr/>
          <p:nvPr/>
        </p:nvSpPr>
        <p:spPr>
          <a:xfrm>
            <a:off x="4663440" y="3154680"/>
            <a:ext cx="3611880" cy="0"/>
          </a:xfrm>
          <a:prstGeom prst="line">
            <a:avLst/>
          </a:prstGeom>
          <a:noFill/>
          <a:ln w="12700">
            <a:solidFill>
              <a:srgbClr val="B7B3C1"/>
            </a:solidFill>
            <a:prstDash val="solid"/>
            <a:tailEnd type="none"/>
          </a:ln>
        </p:spPr>
      </p:sp>
      <p:sp>
        <p:nvSpPr>
          <p:cNvPr id="13" name="Text 10"/>
          <p:cNvSpPr/>
          <p:nvPr/>
        </p:nvSpPr>
        <p:spPr>
          <a:xfrm>
            <a:off x="4663440" y="3401568"/>
            <a:ext cx="1325880" cy="29260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GRPO + SPICE</a:t>
            </a:r>
            <a:endParaRPr lang="en-US" sz="1300" dirty="0"/>
          </a:p>
        </p:txBody>
      </p:sp>
      <p:sp>
        <p:nvSpPr>
          <p:cNvPr id="14" name="Text 11"/>
          <p:cNvSpPr/>
          <p:nvPr/>
        </p:nvSpPr>
        <p:spPr>
          <a:xfrm>
            <a:off x="5989320" y="3337560"/>
            <a:ext cx="2468880" cy="594360"/>
          </a:xfrm>
          <a:prstGeom prst="rect">
            <a:avLst/>
          </a:prstGeom>
          <a:noFill/>
          <a:ln/>
        </p:spPr>
        <p:txBody>
          <a:bodyPr wrap="square" lIns="0" tIns="0" rIns="0" bIns="0" rtlCol="0" anchor="t"/>
          <a:lstStyle/>
          <a:p>
            <a:pPr algn="l" indent="0" marL="0">
              <a:buNone/>
            </a:pPr>
            <a:r>
              <a:rPr lang="en-US" sz="1300" i="1" dirty="0">
                <a:solidFill>
                  <a:srgbClr val="006666"/>
                </a:solidFill>
                <a:latin typeface="Cambria" pitchFamily="34" charset="0"/>
                <a:ea typeface="Cambria" pitchFamily="34" charset="-122"/>
                <a:cs typeface="Cambria" pitchFamily="34" charset="-120"/>
              </a:rPr>
              <a:t>“Click on Not now at the bottom …”</a:t>
            </a:r>
            <a:endParaRPr lang="en-US" sz="1300" dirty="0"/>
          </a:p>
        </p:txBody>
      </p:sp>
      <p:sp>
        <p:nvSpPr>
          <p:cNvPr id="15" name="Shape 12"/>
          <p:cNvSpPr/>
          <p:nvPr/>
        </p:nvSpPr>
        <p:spPr>
          <a:xfrm>
            <a:off x="4663440" y="4297680"/>
            <a:ext cx="3611880" cy="960120"/>
          </a:xfrm>
          <a:prstGeom prst="roundRect">
            <a:avLst/>
          </a:prstGeom>
          <a:solidFill>
            <a:srgbClr val="E5F1EC"/>
          </a:solidFill>
          <a:ln/>
          <a:effectLst>
            <a:outerShdw sx="100000" sy="100000" kx="0" ky="0" algn="bl" rotWithShape="0" blurRad="63500" dist="31750" dir="2700000">
              <a:srgbClr val="8C8C99">
                <a:alpha val="35000"/>
              </a:srgbClr>
            </a:outerShdw>
          </a:effectLst>
        </p:spPr>
      </p:sp>
      <p:sp>
        <p:nvSpPr>
          <p:cNvPr id="16" name="Text 13"/>
          <p:cNvSpPr/>
          <p:nvPr/>
        </p:nvSpPr>
        <p:spPr>
          <a:xfrm>
            <a:off x="4846320" y="4425696"/>
            <a:ext cx="3246120" cy="274320"/>
          </a:xfrm>
          <a:prstGeom prst="rect">
            <a:avLst/>
          </a:prstGeom>
          <a:noFill/>
          <a:ln/>
        </p:spPr>
        <p:txBody>
          <a:bodyPr wrap="square" lIns="0" tIns="0" rIns="0" bIns="0" rtlCol="0" anchor="t"/>
          <a:lstStyle/>
          <a:p>
            <a:pPr algn="ctr" indent="0" marL="0">
              <a:buNone/>
            </a:pPr>
            <a:r>
              <a:rPr lang="en-US" sz="1250" b="1" dirty="0">
                <a:solidFill>
                  <a:srgbClr val="322164"/>
                </a:solidFill>
                <a:latin typeface="Cambria" pitchFamily="34" charset="0"/>
                <a:ea typeface="Cambria" pitchFamily="34" charset="-122"/>
                <a:cs typeface="Cambria" pitchFamily="34" charset="-120"/>
              </a:rPr>
              <a:t>Net effect on test set</a:t>
            </a:r>
            <a:endParaRPr lang="en-US" sz="1250" dirty="0"/>
          </a:p>
        </p:txBody>
      </p:sp>
      <p:sp>
        <p:nvSpPr>
          <p:cNvPr id="17" name="Text 14"/>
          <p:cNvSpPr/>
          <p:nvPr/>
        </p:nvSpPr>
        <p:spPr>
          <a:xfrm>
            <a:off x="4846320" y="4828032"/>
            <a:ext cx="3246120" cy="274320"/>
          </a:xfrm>
          <a:prstGeom prst="rect">
            <a:avLst/>
          </a:prstGeom>
          <a:noFill/>
          <a:ln/>
        </p:spPr>
        <p:txBody>
          <a:bodyPr wrap="square" lIns="0" tIns="0" rIns="0" bIns="0" rtlCol="0" anchor="t"/>
          <a:lstStyle/>
          <a:p>
            <a:pPr algn="ctr" indent="0" marL="0">
              <a:buNone/>
            </a:pPr>
            <a:r>
              <a:rPr lang="en-US" sz="1300" b="1" dirty="0">
                <a:solidFill>
                  <a:srgbClr val="006666"/>
                </a:solidFill>
                <a:latin typeface="Cambria" pitchFamily="34" charset="0"/>
                <a:ea typeface="Cambria" pitchFamily="34" charset="-122"/>
                <a:cs typeface="Cambria" pitchFamily="34" charset="-120"/>
              </a:rPr>
              <a:t>159 rescued  ·  90 broken  →  +69 steps</a:t>
            </a:r>
            <a:endParaRPr lang="en-US" sz="1300" dirty="0"/>
          </a:p>
        </p:txBody>
      </p:sp>
      <p:sp>
        <p:nvSpPr>
          <p:cNvPr id="18" name="Text 15"/>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Luận văn §6.3 · Fig. 6.1</a:t>
            </a:r>
            <a:endParaRPr lang="en-US" sz="820" dirty="0"/>
          </a:p>
        </p:txBody>
      </p:sp>
      <p:sp>
        <p:nvSpPr>
          <p:cNvPr id="19" name="Shape 16"/>
          <p:cNvSpPr/>
          <p:nvPr/>
        </p:nvSpPr>
        <p:spPr>
          <a:xfrm>
            <a:off x="0" y="6620256"/>
            <a:ext cx="2743200" cy="237744"/>
          </a:xfrm>
          <a:prstGeom prst="rect">
            <a:avLst/>
          </a:prstGeom>
          <a:solidFill>
            <a:srgbClr val="191132"/>
          </a:solidFill>
          <a:ln/>
        </p:spPr>
      </p:sp>
      <p:sp>
        <p:nvSpPr>
          <p:cNvPr id="20" name="Shape 17"/>
          <p:cNvSpPr/>
          <p:nvPr/>
        </p:nvSpPr>
        <p:spPr>
          <a:xfrm>
            <a:off x="2743200" y="6620256"/>
            <a:ext cx="3383280" cy="237744"/>
          </a:xfrm>
          <a:prstGeom prst="rect">
            <a:avLst/>
          </a:prstGeom>
          <a:solidFill>
            <a:srgbClr val="25194B"/>
          </a:solidFill>
          <a:ln/>
        </p:spPr>
      </p:sp>
      <p:sp>
        <p:nvSpPr>
          <p:cNvPr id="21" name="Shape 18"/>
          <p:cNvSpPr/>
          <p:nvPr/>
        </p:nvSpPr>
        <p:spPr>
          <a:xfrm>
            <a:off x="6126480" y="6620256"/>
            <a:ext cx="1737360" cy="237744"/>
          </a:xfrm>
          <a:prstGeom prst="rect">
            <a:avLst/>
          </a:prstGeom>
          <a:solidFill>
            <a:srgbClr val="4F417A"/>
          </a:solidFill>
          <a:ln/>
        </p:spPr>
      </p:sp>
      <p:sp>
        <p:nvSpPr>
          <p:cNvPr id="22" name="Shape 19"/>
          <p:cNvSpPr/>
          <p:nvPr/>
        </p:nvSpPr>
        <p:spPr>
          <a:xfrm>
            <a:off x="7863840" y="6620256"/>
            <a:ext cx="1280160" cy="237744"/>
          </a:xfrm>
          <a:prstGeom prst="rect">
            <a:avLst/>
          </a:prstGeom>
          <a:solidFill>
            <a:srgbClr val="7A7099"/>
          </a:solidFill>
          <a:ln/>
        </p:spPr>
      </p:sp>
      <p:sp>
        <p:nvSpPr>
          <p:cNvPr id="23" name="Text 2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4" name="Text 2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5" name="Text 2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6" name="Text 2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12/21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Thành phần 2: ACE chỉ chép exemplar khi hai tín hiệu đồng thuận</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METHOD · COMPONENT 2</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Retrieval hữu ích, nhưng “luôn dùng generator” làm executability giảm.</a:t>
            </a:r>
            <a:endParaRPr lang="en-US" sz="2200" dirty="0"/>
          </a:p>
        </p:txBody>
      </p:sp>
      <p:sp>
        <p:nvSpPr>
          <p:cNvPr id="6" name="Shape 4"/>
          <p:cNvSpPr/>
          <p:nvPr/>
        </p:nvSpPr>
        <p:spPr>
          <a:xfrm>
            <a:off x="457200" y="1828800"/>
            <a:ext cx="1417320" cy="777240"/>
          </a:xfrm>
          <a:prstGeom prst="roundRect">
            <a:avLst/>
          </a:prstGeom>
          <a:solidFill>
            <a:srgbClr val="FFFFFF"/>
          </a:solidFill>
          <a:ln w="15240">
            <a:solidFill>
              <a:srgbClr val="6E6890"/>
            </a:solidFill>
            <a:prstDash val="solid"/>
          </a:ln>
        </p:spPr>
      </p:sp>
      <p:sp>
        <p:nvSpPr>
          <p:cNvPr id="7" name="Text 5"/>
          <p:cNvSpPr/>
          <p:nvPr/>
        </p:nvSpPr>
        <p:spPr>
          <a:xfrm>
            <a:off x="457200" y="1828800"/>
            <a:ext cx="1417320" cy="777240"/>
          </a:xfrm>
          <a:prstGeom prst="rect">
            <a:avLst/>
          </a:prstGeom>
          <a:noFill/>
          <a:ln/>
        </p:spPr>
        <p:txBody>
          <a:bodyPr wrap="square" lIns="38100" tIns="38100" rIns="38100" bIns="38100" rtlCol="0" anchor="ctr"/>
          <a:lstStyle/>
          <a:p>
            <a:pPr algn="ctr" indent="0" marL="0">
              <a:lnSpc>
                <a:spcPct val="115000"/>
              </a:lnSpc>
              <a:buNone/>
            </a:pPr>
            <a:r>
              <a:rPr lang="en-US" sz="1250" b="1" dirty="0">
                <a:solidFill>
                  <a:srgbClr val="1A1A1A"/>
                </a:solidFill>
                <a:latin typeface="Cambria" pitchFamily="34" charset="0"/>
                <a:ea typeface="Cambria" pitchFamily="34" charset="-122"/>
                <a:cs typeface="Cambria" pitchFamily="34" charset="-120"/>
              </a:rPr>
              <a:t>current step</a:t>
            </a:r>
            <a:endParaRPr lang="en-US" sz="1250" dirty="0"/>
          </a:p>
        </p:txBody>
      </p:sp>
      <p:sp>
        <p:nvSpPr>
          <p:cNvPr id="8" name="Shape 6"/>
          <p:cNvSpPr/>
          <p:nvPr/>
        </p:nvSpPr>
        <p:spPr>
          <a:xfrm>
            <a:off x="1920240" y="2221992"/>
            <a:ext cx="365760" cy="0"/>
          </a:xfrm>
          <a:prstGeom prst="line">
            <a:avLst/>
          </a:prstGeom>
          <a:noFill/>
          <a:ln w="25400">
            <a:solidFill>
              <a:srgbClr val="4F417A"/>
            </a:solidFill>
            <a:prstDash val="solid"/>
            <a:tailEnd type="triangle"/>
          </a:ln>
        </p:spPr>
      </p:sp>
      <p:sp>
        <p:nvSpPr>
          <p:cNvPr id="9" name="Shape 7"/>
          <p:cNvSpPr/>
          <p:nvPr/>
        </p:nvSpPr>
        <p:spPr>
          <a:xfrm>
            <a:off x="2331720" y="1673352"/>
            <a:ext cx="1783080" cy="1097280"/>
          </a:xfrm>
          <a:prstGeom prst="roundRect">
            <a:avLst/>
          </a:prstGeom>
          <a:solidFill>
            <a:srgbClr val="F5F4F7"/>
          </a:solidFill>
          <a:ln w="15240">
            <a:solidFill>
              <a:srgbClr val="6E6890"/>
            </a:solidFill>
            <a:prstDash val="solid"/>
          </a:ln>
        </p:spPr>
      </p:sp>
      <p:sp>
        <p:nvSpPr>
          <p:cNvPr id="10" name="Text 8"/>
          <p:cNvSpPr/>
          <p:nvPr/>
        </p:nvSpPr>
        <p:spPr>
          <a:xfrm>
            <a:off x="2331720" y="1673352"/>
            <a:ext cx="1783080" cy="1097280"/>
          </a:xfrm>
          <a:prstGeom prst="rect">
            <a:avLst/>
          </a:prstGeom>
          <a:noFill/>
          <a:ln/>
        </p:spPr>
        <p:txBody>
          <a:bodyPr wrap="square" lIns="38100" tIns="38100" rIns="38100" bIns="38100" rtlCol="0" anchor="ctr"/>
          <a:lstStyle/>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retrieve 4 similar</a:t>
            </a:r>
            <a:endParaRPr lang="en-US" sz="1150" dirty="0"/>
          </a:p>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training steps</a:t>
            </a:r>
            <a:endParaRPr lang="en-US" sz="1150" dirty="0"/>
          </a:p>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(TF-IDF)</a:t>
            </a:r>
            <a:endParaRPr lang="en-US" sz="1150" dirty="0"/>
          </a:p>
        </p:txBody>
      </p:sp>
      <p:sp>
        <p:nvSpPr>
          <p:cNvPr id="11" name="Shape 9"/>
          <p:cNvSpPr/>
          <p:nvPr/>
        </p:nvSpPr>
        <p:spPr>
          <a:xfrm>
            <a:off x="4160520" y="2221992"/>
            <a:ext cx="320040" cy="0"/>
          </a:xfrm>
          <a:prstGeom prst="line">
            <a:avLst/>
          </a:prstGeom>
          <a:noFill/>
          <a:ln w="25400">
            <a:solidFill>
              <a:srgbClr val="4F417A"/>
            </a:solidFill>
            <a:prstDash val="solid"/>
            <a:tailEnd type="triangle"/>
          </a:ln>
        </p:spPr>
      </p:sp>
      <p:sp>
        <p:nvSpPr>
          <p:cNvPr id="12" name="Shape 10"/>
          <p:cNvSpPr/>
          <p:nvPr/>
        </p:nvSpPr>
        <p:spPr>
          <a:xfrm>
            <a:off x="4526280" y="1673352"/>
            <a:ext cx="1691640" cy="1097280"/>
          </a:xfrm>
          <a:prstGeom prst="roundRect">
            <a:avLst/>
          </a:prstGeom>
          <a:solidFill>
            <a:srgbClr val="EEEAF6"/>
          </a:solidFill>
          <a:ln w="15240">
            <a:solidFill>
              <a:srgbClr val="322164"/>
            </a:solidFill>
            <a:prstDash val="solid"/>
          </a:ln>
        </p:spPr>
      </p:sp>
      <p:sp>
        <p:nvSpPr>
          <p:cNvPr id="13" name="Text 11"/>
          <p:cNvSpPr/>
          <p:nvPr/>
        </p:nvSpPr>
        <p:spPr>
          <a:xfrm>
            <a:off x="4526280" y="1673352"/>
            <a:ext cx="1691640" cy="1097280"/>
          </a:xfrm>
          <a:prstGeom prst="rect">
            <a:avLst/>
          </a:prstGeom>
          <a:noFill/>
          <a:ln/>
        </p:spPr>
        <p:txBody>
          <a:bodyPr wrap="square" lIns="38100" tIns="38100" rIns="38100" bIns="38100" rtlCol="0" anchor="ctr"/>
          <a:lstStyle/>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generator sees</a:t>
            </a:r>
            <a:endParaRPr lang="en-US" sz="1150" dirty="0"/>
          </a:p>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4 reference</a:t>
            </a:r>
            <a:endParaRPr lang="en-US" sz="1150" dirty="0"/>
          </a:p>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sentences</a:t>
            </a:r>
            <a:endParaRPr lang="en-US" sz="1150" dirty="0"/>
          </a:p>
        </p:txBody>
      </p:sp>
      <p:sp>
        <p:nvSpPr>
          <p:cNvPr id="14" name="Shape 12"/>
          <p:cNvSpPr/>
          <p:nvPr/>
        </p:nvSpPr>
        <p:spPr>
          <a:xfrm>
            <a:off x="6263640" y="2221992"/>
            <a:ext cx="320040" cy="0"/>
          </a:xfrm>
          <a:prstGeom prst="line">
            <a:avLst/>
          </a:prstGeom>
          <a:noFill/>
          <a:ln w="25400">
            <a:solidFill>
              <a:srgbClr val="4F417A"/>
            </a:solidFill>
            <a:prstDash val="solid"/>
            <a:tailEnd type="triangle"/>
          </a:ln>
        </p:spPr>
      </p:sp>
      <p:sp>
        <p:nvSpPr>
          <p:cNvPr id="15" name="Shape 13"/>
          <p:cNvSpPr/>
          <p:nvPr/>
        </p:nvSpPr>
        <p:spPr>
          <a:xfrm>
            <a:off x="6629400" y="1673352"/>
            <a:ext cx="2057400" cy="1097280"/>
          </a:xfrm>
          <a:prstGeom prst="roundRect">
            <a:avLst/>
          </a:prstGeom>
          <a:solidFill>
            <a:srgbClr val="E5F1EC"/>
          </a:solidFill>
          <a:ln w="15240">
            <a:solidFill>
              <a:srgbClr val="006666"/>
            </a:solidFill>
            <a:prstDash val="solid"/>
          </a:ln>
        </p:spPr>
      </p:sp>
      <p:sp>
        <p:nvSpPr>
          <p:cNvPr id="16" name="Text 14"/>
          <p:cNvSpPr/>
          <p:nvPr/>
        </p:nvSpPr>
        <p:spPr>
          <a:xfrm>
            <a:off x="6629400" y="1673352"/>
            <a:ext cx="2057400" cy="1097280"/>
          </a:xfrm>
          <a:prstGeom prst="rect">
            <a:avLst/>
          </a:prstGeom>
          <a:noFill/>
          <a:ln/>
        </p:spPr>
        <p:txBody>
          <a:bodyPr wrap="square" lIns="38100" tIns="38100" rIns="38100" bIns="38100" rtlCol="0" anchor="ctr"/>
          <a:lstStyle/>
          <a:p>
            <a:pPr algn="ctr" indent="0" marL="0">
              <a:lnSpc>
                <a:spcPct val="115000"/>
              </a:lnSpc>
              <a:buNone/>
            </a:pPr>
            <a:r>
              <a:rPr lang="en-US" sz="1120" b="1" dirty="0">
                <a:solidFill>
                  <a:srgbClr val="1A1A1A"/>
                </a:solidFill>
                <a:latin typeface="Cambria" pitchFamily="34" charset="0"/>
                <a:ea typeface="Cambria" pitchFamily="34" charset="-122"/>
                <a:cs typeface="Cambria" pitchFamily="34" charset="-120"/>
              </a:rPr>
              <a:t>accept only if</a:t>
            </a:r>
            <a:endParaRPr lang="en-US" sz="1120" dirty="0"/>
          </a:p>
          <a:p>
            <a:pPr algn="ctr" indent="0" marL="0">
              <a:lnSpc>
                <a:spcPct val="115000"/>
              </a:lnSpc>
              <a:buNone/>
            </a:pPr>
            <a:r>
              <a:rPr lang="en-US" sz="1120" b="1" dirty="0">
                <a:solidFill>
                  <a:srgbClr val="1A1A1A"/>
                </a:solidFill>
                <a:latin typeface="Cambria" pitchFamily="34" charset="0"/>
                <a:ea typeface="Cambria" pitchFamily="34" charset="-122"/>
                <a:cs typeface="Cambria" pitchFamily="34" charset="-120"/>
              </a:rPr>
              <a:t>① exact exemplar copy</a:t>
            </a:r>
            <a:endParaRPr lang="en-US" sz="1120" dirty="0"/>
          </a:p>
          <a:p>
            <a:pPr algn="ctr" indent="0" marL="0">
              <a:lnSpc>
                <a:spcPct val="115000"/>
              </a:lnSpc>
              <a:buNone/>
            </a:pPr>
            <a:r>
              <a:rPr lang="en-US" sz="1120" b="1" dirty="0">
                <a:solidFill>
                  <a:srgbClr val="1A1A1A"/>
                </a:solidFill>
                <a:latin typeface="Cambria" pitchFamily="34" charset="0"/>
                <a:ea typeface="Cambria" pitchFamily="34" charset="-122"/>
                <a:cs typeface="Cambria" pitchFamily="34" charset="-120"/>
              </a:rPr>
              <a:t>② same action type</a:t>
            </a:r>
            <a:endParaRPr lang="en-US" sz="1120" dirty="0"/>
          </a:p>
        </p:txBody>
      </p:sp>
      <p:sp>
        <p:nvSpPr>
          <p:cNvPr id="17" name="Shape 15"/>
          <p:cNvSpPr/>
          <p:nvPr/>
        </p:nvSpPr>
        <p:spPr>
          <a:xfrm>
            <a:off x="457200" y="3246120"/>
            <a:ext cx="3886200" cy="1965960"/>
          </a:xfrm>
          <a:prstGeom prst="roundRect">
            <a:avLst/>
          </a:prstGeom>
          <a:solidFill>
            <a:srgbClr val="E5F1EC"/>
          </a:solidFill>
          <a:ln/>
          <a:effectLst>
            <a:outerShdw sx="100000" sy="100000" kx="0" ky="0" algn="bl" rotWithShape="0" blurRad="63500" dist="31750" dir="2700000">
              <a:srgbClr val="8C8C99">
                <a:alpha val="35000"/>
              </a:srgbClr>
            </a:outerShdw>
          </a:effectLst>
        </p:spPr>
      </p:sp>
      <p:sp>
        <p:nvSpPr>
          <p:cNvPr id="18" name="Text 16"/>
          <p:cNvSpPr/>
          <p:nvPr/>
        </p:nvSpPr>
        <p:spPr>
          <a:xfrm>
            <a:off x="640080" y="3401568"/>
            <a:ext cx="1097280" cy="274320"/>
          </a:xfrm>
          <a:prstGeom prst="rect">
            <a:avLst/>
          </a:prstGeom>
          <a:noFill/>
          <a:ln/>
        </p:spPr>
        <p:txBody>
          <a:bodyPr wrap="square" lIns="0" tIns="0" rIns="0" bIns="0" rtlCol="0" anchor="t"/>
          <a:lstStyle/>
          <a:p>
            <a:pPr algn="l" indent="0" marL="0">
              <a:buNone/>
            </a:pPr>
            <a:r>
              <a:rPr lang="en-US" sz="1300" b="1" dirty="0">
                <a:solidFill>
                  <a:srgbClr val="1B7F5B"/>
                </a:solidFill>
                <a:latin typeface="Cambria" pitchFamily="34" charset="0"/>
                <a:ea typeface="Cambria" pitchFamily="34" charset="-122"/>
                <a:cs typeface="Cambria" pitchFamily="34" charset="-120"/>
              </a:rPr>
              <a:t>ACE accepts</a:t>
            </a:r>
            <a:endParaRPr lang="en-US" sz="1300" dirty="0"/>
          </a:p>
        </p:txBody>
      </p:sp>
      <p:sp>
        <p:nvSpPr>
          <p:cNvPr id="19" name="Text 17"/>
          <p:cNvSpPr/>
          <p:nvPr/>
        </p:nvSpPr>
        <p:spPr>
          <a:xfrm>
            <a:off x="640080" y="3767328"/>
            <a:ext cx="3520440" cy="1097280"/>
          </a:xfrm>
          <a:prstGeom prst="rect">
            <a:avLst/>
          </a:prstGeom>
          <a:noFill/>
          <a:ln/>
        </p:spPr>
        <p:txBody>
          <a:bodyPr wrap="square" lIns="0" tIns="0" rIns="0" bIns="0" rtlCol="0" anchor="t"/>
          <a:lstStyle/>
          <a:p>
            <a:pPr algn="l" indent="0" marL="0">
              <a:lnSpc>
                <a:spcPct val="125000"/>
              </a:lnSpc>
              <a:buNone/>
            </a:pPr>
            <a:r>
              <a:rPr lang="en-US" sz="1180" dirty="0">
                <a:solidFill>
                  <a:srgbClr val="1A1A1A"/>
                </a:solidFill>
                <a:latin typeface="Cambria" pitchFamily="34" charset="0"/>
                <a:ea typeface="Cambria" pitchFamily="34" charset="-122"/>
                <a:cs typeface="Cambria" pitchFamily="34" charset="-120"/>
              </a:rPr>
              <a:t>Draft: “Click on the first image.”</a:t>
            </a:r>
            <a:endParaRPr lang="en-US" sz="1180" dirty="0"/>
          </a:p>
          <a:p>
            <a:pPr algn="l" indent="0" marL="0">
              <a:lnSpc>
                <a:spcPct val="125000"/>
              </a:lnSpc>
              <a:buNone/>
            </a:pPr>
            <a:r>
              <a:rPr lang="en-US" sz="1180" dirty="0">
                <a:solidFill>
                  <a:srgbClr val="1A1A1A"/>
                </a:solidFill>
                <a:latin typeface="Cambria" pitchFamily="34" charset="0"/>
                <a:ea typeface="Cambria" pitchFamily="34" charset="-122"/>
                <a:cs typeface="Cambria" pitchFamily="34" charset="-120"/>
              </a:rPr>
              <a:t>Copied exemplar: “Select the second photo.”</a:t>
            </a:r>
            <a:endParaRPr lang="en-US" sz="1180" dirty="0"/>
          </a:p>
          <a:p>
            <a:pPr algn="l" indent="0" marL="0">
              <a:lnSpc>
                <a:spcPct val="125000"/>
              </a:lnSpc>
              <a:buNone/>
            </a:pPr>
            <a:r>
              <a:rPr lang="en-US" sz="1180" dirty="0">
                <a:solidFill>
                  <a:srgbClr val="1A1A1A"/>
                </a:solidFill>
                <a:latin typeface="Cambria" pitchFamily="34" charset="0"/>
                <a:ea typeface="Cambria" pitchFamily="34" charset="-122"/>
                <a:cs typeface="Cambria" pitchFamily="34" charset="-120"/>
              </a:rPr>
              <a:t>→ both are TAP → replace draft</a:t>
            </a:r>
            <a:endParaRPr lang="en-US" sz="1180" dirty="0"/>
          </a:p>
        </p:txBody>
      </p:sp>
      <p:sp>
        <p:nvSpPr>
          <p:cNvPr id="20" name="Shape 18"/>
          <p:cNvSpPr/>
          <p:nvPr/>
        </p:nvSpPr>
        <p:spPr>
          <a:xfrm>
            <a:off x="4800600" y="3246120"/>
            <a:ext cx="3886200" cy="1965960"/>
          </a:xfrm>
          <a:prstGeom prst="roundRect">
            <a:avLst/>
          </a:prstGeom>
          <a:solidFill>
            <a:srgbClr val="F6E7E7"/>
          </a:solidFill>
          <a:ln/>
          <a:effectLst>
            <a:outerShdw sx="100000" sy="100000" kx="0" ky="0" algn="bl" rotWithShape="0" blurRad="63500" dist="31750" dir="2700000">
              <a:srgbClr val="8C8C99">
                <a:alpha val="35000"/>
              </a:srgbClr>
            </a:outerShdw>
          </a:effectLst>
        </p:spPr>
      </p:sp>
      <p:sp>
        <p:nvSpPr>
          <p:cNvPr id="21" name="Text 19"/>
          <p:cNvSpPr/>
          <p:nvPr/>
        </p:nvSpPr>
        <p:spPr>
          <a:xfrm>
            <a:off x="4983480" y="3401568"/>
            <a:ext cx="1097280" cy="274320"/>
          </a:xfrm>
          <a:prstGeom prst="rect">
            <a:avLst/>
          </a:prstGeom>
          <a:noFill/>
          <a:ln/>
        </p:spPr>
        <p:txBody>
          <a:bodyPr wrap="square" lIns="0" tIns="0" rIns="0" bIns="0" rtlCol="0" anchor="t"/>
          <a:lstStyle/>
          <a:p>
            <a:pPr algn="l" indent="0" marL="0">
              <a:buNone/>
            </a:pPr>
            <a:r>
              <a:rPr lang="en-US" sz="1300" b="1" dirty="0">
                <a:solidFill>
                  <a:srgbClr val="B22222"/>
                </a:solidFill>
                <a:latin typeface="Cambria" pitchFamily="34" charset="0"/>
                <a:ea typeface="Cambria" pitchFamily="34" charset="-122"/>
                <a:cs typeface="Cambria" pitchFamily="34" charset="-120"/>
              </a:rPr>
              <a:t>ACE rejects</a:t>
            </a:r>
            <a:endParaRPr lang="en-US" sz="1300" dirty="0"/>
          </a:p>
        </p:txBody>
      </p:sp>
      <p:sp>
        <p:nvSpPr>
          <p:cNvPr id="22" name="Text 20"/>
          <p:cNvSpPr/>
          <p:nvPr/>
        </p:nvSpPr>
        <p:spPr>
          <a:xfrm>
            <a:off x="4983480" y="3767328"/>
            <a:ext cx="3520440" cy="1097280"/>
          </a:xfrm>
          <a:prstGeom prst="rect">
            <a:avLst/>
          </a:prstGeom>
          <a:noFill/>
          <a:ln/>
        </p:spPr>
        <p:txBody>
          <a:bodyPr wrap="square" lIns="0" tIns="0" rIns="0" bIns="0" rtlCol="0" anchor="t"/>
          <a:lstStyle/>
          <a:p>
            <a:pPr algn="l" indent="0" marL="0">
              <a:lnSpc>
                <a:spcPct val="125000"/>
              </a:lnSpc>
              <a:buNone/>
            </a:pPr>
            <a:r>
              <a:rPr lang="en-US" sz="1180" dirty="0">
                <a:solidFill>
                  <a:srgbClr val="1A1A1A"/>
                </a:solidFill>
                <a:latin typeface="Cambria" pitchFamily="34" charset="0"/>
                <a:ea typeface="Cambria" pitchFamily="34" charset="-122"/>
                <a:cs typeface="Cambria" pitchFamily="34" charset="-120"/>
              </a:rPr>
              <a:t>Draft: “Click on the close icon.”</a:t>
            </a:r>
            <a:endParaRPr lang="en-US" sz="1180" dirty="0"/>
          </a:p>
          <a:p>
            <a:pPr algn="l" indent="0" marL="0">
              <a:lnSpc>
                <a:spcPct val="125000"/>
              </a:lnSpc>
              <a:buNone/>
            </a:pPr>
            <a:r>
              <a:rPr lang="en-US" sz="1180" dirty="0">
                <a:solidFill>
                  <a:srgbClr val="1A1A1A"/>
                </a:solidFill>
                <a:latin typeface="Cambria" pitchFamily="34" charset="0"/>
                <a:ea typeface="Cambria" pitchFamily="34" charset="-122"/>
                <a:cs typeface="Cambria" pitchFamily="34" charset="-120"/>
              </a:rPr>
              <a:t>Copied exemplar: “Swipe up.”</a:t>
            </a:r>
            <a:endParaRPr lang="en-US" sz="1180" dirty="0"/>
          </a:p>
          <a:p>
            <a:pPr algn="l" indent="0" marL="0">
              <a:lnSpc>
                <a:spcPct val="125000"/>
              </a:lnSpc>
              <a:buNone/>
            </a:pPr>
            <a:r>
              <a:rPr lang="en-US" sz="1180" dirty="0">
                <a:solidFill>
                  <a:srgbClr val="1A1A1A"/>
                </a:solidFill>
                <a:latin typeface="Cambria" pitchFamily="34" charset="0"/>
                <a:ea typeface="Cambria" pitchFamily="34" charset="-122"/>
                <a:cs typeface="Cambria" pitchFamily="34" charset="-120"/>
              </a:rPr>
              <a:t>→ TAP ≠ SCROLL → keep draft</a:t>
            </a:r>
            <a:endParaRPr lang="en-US" sz="1180" dirty="0"/>
          </a:p>
        </p:txBody>
      </p:sp>
      <p:sp>
        <p:nvSpPr>
          <p:cNvPr id="23" name="Text 21"/>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Luận văn §4.6</a:t>
            </a:r>
            <a:endParaRPr lang="en-US" sz="820" dirty="0"/>
          </a:p>
        </p:txBody>
      </p:sp>
      <p:sp>
        <p:nvSpPr>
          <p:cNvPr id="24" name="Shape 22"/>
          <p:cNvSpPr/>
          <p:nvPr/>
        </p:nvSpPr>
        <p:spPr>
          <a:xfrm>
            <a:off x="0" y="6620256"/>
            <a:ext cx="2743200" cy="237744"/>
          </a:xfrm>
          <a:prstGeom prst="rect">
            <a:avLst/>
          </a:prstGeom>
          <a:solidFill>
            <a:srgbClr val="191132"/>
          </a:solidFill>
          <a:ln/>
        </p:spPr>
      </p:sp>
      <p:sp>
        <p:nvSpPr>
          <p:cNvPr id="25" name="Shape 23"/>
          <p:cNvSpPr/>
          <p:nvPr/>
        </p:nvSpPr>
        <p:spPr>
          <a:xfrm>
            <a:off x="2743200" y="6620256"/>
            <a:ext cx="3383280" cy="237744"/>
          </a:xfrm>
          <a:prstGeom prst="rect">
            <a:avLst/>
          </a:prstGeom>
          <a:solidFill>
            <a:srgbClr val="25194B"/>
          </a:solidFill>
          <a:ln/>
        </p:spPr>
      </p:sp>
      <p:sp>
        <p:nvSpPr>
          <p:cNvPr id="26" name="Shape 24"/>
          <p:cNvSpPr/>
          <p:nvPr/>
        </p:nvSpPr>
        <p:spPr>
          <a:xfrm>
            <a:off x="6126480" y="6620256"/>
            <a:ext cx="1737360" cy="237744"/>
          </a:xfrm>
          <a:prstGeom prst="rect">
            <a:avLst/>
          </a:prstGeom>
          <a:solidFill>
            <a:srgbClr val="4F417A"/>
          </a:solidFill>
          <a:ln/>
        </p:spPr>
      </p:sp>
      <p:sp>
        <p:nvSpPr>
          <p:cNvPr id="27" name="Shape 25"/>
          <p:cNvSpPr/>
          <p:nvPr/>
        </p:nvSpPr>
        <p:spPr>
          <a:xfrm>
            <a:off x="7863840" y="6620256"/>
            <a:ext cx="1280160" cy="237744"/>
          </a:xfrm>
          <a:prstGeom prst="rect">
            <a:avLst/>
          </a:prstGeom>
          <a:solidFill>
            <a:srgbClr val="7A7099"/>
          </a:solidFill>
          <a:ln/>
        </p:spPr>
      </p:sp>
      <p:sp>
        <p:nvSpPr>
          <p:cNvPr id="28" name="Text 2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9" name="Text 2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0" name="Text 2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1" name="Text 2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13/21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Phương pháp đề xuất đạt 60,7% executability</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MAIN RESULT</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+1,57 pp so với S1, khoảng tin cậy 95% [+0,86; +2,31], p &lt; 0,001.</a:t>
            </a:r>
            <a:endParaRPr lang="en-US" sz="2200" dirty="0"/>
          </a:p>
        </p:txBody>
      </p:sp>
      <p:sp>
        <p:nvSpPr>
          <p:cNvPr id="6" name="Text 4"/>
          <p:cNvSpPr/>
          <p:nvPr/>
        </p:nvSpPr>
        <p:spPr>
          <a:xfrm>
            <a:off x="457200" y="2221992"/>
            <a:ext cx="2514600" cy="292608"/>
          </a:xfrm>
          <a:prstGeom prst="rect">
            <a:avLst/>
          </a:prstGeom>
          <a:noFill/>
          <a:ln/>
        </p:spPr>
        <p:txBody>
          <a:bodyPr wrap="square" lIns="0" tIns="0" rIns="0" bIns="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Base</a:t>
            </a:r>
            <a:endParaRPr lang="en-US" sz="1170" dirty="0"/>
          </a:p>
        </p:txBody>
      </p:sp>
      <p:sp>
        <p:nvSpPr>
          <p:cNvPr id="7" name="Shape 5"/>
          <p:cNvSpPr/>
          <p:nvPr/>
        </p:nvSpPr>
        <p:spPr>
          <a:xfrm>
            <a:off x="3063240" y="2240280"/>
            <a:ext cx="4160520" cy="246888"/>
          </a:xfrm>
          <a:prstGeom prst="rect">
            <a:avLst/>
          </a:prstGeom>
          <a:solidFill>
            <a:srgbClr val="DDDBE4"/>
          </a:solidFill>
          <a:ln/>
        </p:spPr>
      </p:sp>
      <p:sp>
        <p:nvSpPr>
          <p:cNvPr id="8" name="Shape 6"/>
          <p:cNvSpPr/>
          <p:nvPr/>
        </p:nvSpPr>
        <p:spPr>
          <a:xfrm>
            <a:off x="3063240" y="2240280"/>
            <a:ext cx="2475509" cy="246888"/>
          </a:xfrm>
          <a:prstGeom prst="rect">
            <a:avLst/>
          </a:prstGeom>
          <a:solidFill>
            <a:srgbClr val="4F417A"/>
          </a:solidFill>
          <a:ln/>
        </p:spPr>
      </p:sp>
      <p:sp>
        <p:nvSpPr>
          <p:cNvPr id="9" name="Text 7"/>
          <p:cNvSpPr/>
          <p:nvPr/>
        </p:nvSpPr>
        <p:spPr>
          <a:xfrm>
            <a:off x="7333488" y="2203704"/>
            <a:ext cx="731520" cy="310896"/>
          </a:xfrm>
          <a:prstGeom prst="rect">
            <a:avLst/>
          </a:prstGeom>
          <a:noFill/>
          <a:ln/>
        </p:spPr>
        <p:txBody>
          <a:bodyPr wrap="square" lIns="0" tIns="0" rIns="0" bIns="0" rtlCol="0" anchor="ctr"/>
          <a:lstStyle/>
          <a:p>
            <a:pPr algn="l" indent="0" marL="0">
              <a:buNone/>
            </a:pPr>
            <a:r>
              <a:rPr lang="en-US" sz="1250" b="1" dirty="0">
                <a:solidFill>
                  <a:srgbClr val="4F417A"/>
                </a:solidFill>
                <a:latin typeface="Cambria" pitchFamily="34" charset="0"/>
                <a:ea typeface="Cambria" pitchFamily="34" charset="-122"/>
                <a:cs typeface="Cambria" pitchFamily="34" charset="-120"/>
              </a:rPr>
              <a:t>47,6%</a:t>
            </a:r>
            <a:endParaRPr lang="en-US" sz="1250" dirty="0"/>
          </a:p>
        </p:txBody>
      </p:sp>
      <p:sp>
        <p:nvSpPr>
          <p:cNvPr id="10" name="Text 8"/>
          <p:cNvSpPr/>
          <p:nvPr/>
        </p:nvSpPr>
        <p:spPr>
          <a:xfrm>
            <a:off x="457200" y="2834640"/>
            <a:ext cx="2514600" cy="292608"/>
          </a:xfrm>
          <a:prstGeom prst="rect">
            <a:avLst/>
          </a:prstGeom>
          <a:noFill/>
          <a:ln/>
        </p:spPr>
        <p:txBody>
          <a:bodyPr wrap="square" lIns="0" tIns="0" rIns="0" bIns="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S1</a:t>
            </a:r>
            <a:endParaRPr lang="en-US" sz="1170" dirty="0"/>
          </a:p>
        </p:txBody>
      </p:sp>
      <p:sp>
        <p:nvSpPr>
          <p:cNvPr id="11" name="Shape 9"/>
          <p:cNvSpPr/>
          <p:nvPr/>
        </p:nvSpPr>
        <p:spPr>
          <a:xfrm>
            <a:off x="3063240" y="2852928"/>
            <a:ext cx="4160520" cy="246888"/>
          </a:xfrm>
          <a:prstGeom prst="rect">
            <a:avLst/>
          </a:prstGeom>
          <a:solidFill>
            <a:srgbClr val="DDDBE4"/>
          </a:solidFill>
          <a:ln/>
        </p:spPr>
      </p:sp>
      <p:sp>
        <p:nvSpPr>
          <p:cNvPr id="12" name="Shape 10"/>
          <p:cNvSpPr/>
          <p:nvPr/>
        </p:nvSpPr>
        <p:spPr>
          <a:xfrm>
            <a:off x="3063240" y="2852928"/>
            <a:ext cx="3073584" cy="246888"/>
          </a:xfrm>
          <a:prstGeom prst="rect">
            <a:avLst/>
          </a:prstGeom>
          <a:solidFill>
            <a:srgbClr val="322164"/>
          </a:solidFill>
          <a:ln/>
        </p:spPr>
      </p:sp>
      <p:sp>
        <p:nvSpPr>
          <p:cNvPr id="13" name="Text 11"/>
          <p:cNvSpPr/>
          <p:nvPr/>
        </p:nvSpPr>
        <p:spPr>
          <a:xfrm>
            <a:off x="7333488" y="2816352"/>
            <a:ext cx="731520" cy="310896"/>
          </a:xfrm>
          <a:prstGeom prst="rect">
            <a:avLst/>
          </a:prstGeom>
          <a:noFill/>
          <a:ln/>
        </p:spPr>
        <p:txBody>
          <a:bodyPr wrap="square" lIns="0" tIns="0" rIns="0" bIns="0" rtlCol="0" anchor="ctr"/>
          <a:lstStyle/>
          <a:p>
            <a:pPr algn="l" indent="0" marL="0">
              <a:buNone/>
            </a:pPr>
            <a:r>
              <a:rPr lang="en-US" sz="1250" b="1" dirty="0">
                <a:solidFill>
                  <a:srgbClr val="322164"/>
                </a:solidFill>
                <a:latin typeface="Cambria" pitchFamily="34" charset="0"/>
                <a:ea typeface="Cambria" pitchFamily="34" charset="-122"/>
                <a:cs typeface="Cambria" pitchFamily="34" charset="-120"/>
              </a:rPr>
              <a:t>59,1%</a:t>
            </a:r>
            <a:endParaRPr lang="en-US" sz="1250" dirty="0"/>
          </a:p>
        </p:txBody>
      </p:sp>
      <p:sp>
        <p:nvSpPr>
          <p:cNvPr id="14" name="Text 12"/>
          <p:cNvSpPr/>
          <p:nvPr/>
        </p:nvSpPr>
        <p:spPr>
          <a:xfrm>
            <a:off x="457200" y="3447288"/>
            <a:ext cx="2514600" cy="292608"/>
          </a:xfrm>
          <a:prstGeom prst="rect">
            <a:avLst/>
          </a:prstGeom>
          <a:noFill/>
          <a:ln/>
        </p:spPr>
        <p:txBody>
          <a:bodyPr wrap="square" lIns="0" tIns="0" rIns="0" bIns="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GRPO + SPICE</a:t>
            </a:r>
            <a:endParaRPr lang="en-US" sz="1170" dirty="0"/>
          </a:p>
        </p:txBody>
      </p:sp>
      <p:sp>
        <p:nvSpPr>
          <p:cNvPr id="15" name="Shape 13"/>
          <p:cNvSpPr/>
          <p:nvPr/>
        </p:nvSpPr>
        <p:spPr>
          <a:xfrm>
            <a:off x="3063240" y="3465576"/>
            <a:ext cx="4160520" cy="246888"/>
          </a:xfrm>
          <a:prstGeom prst="rect">
            <a:avLst/>
          </a:prstGeom>
          <a:solidFill>
            <a:srgbClr val="DDDBE4"/>
          </a:solidFill>
          <a:ln/>
        </p:spPr>
      </p:sp>
      <p:sp>
        <p:nvSpPr>
          <p:cNvPr id="16" name="Shape 14"/>
          <p:cNvSpPr/>
          <p:nvPr/>
        </p:nvSpPr>
        <p:spPr>
          <a:xfrm>
            <a:off x="3063240" y="3465576"/>
            <a:ext cx="3154194" cy="246888"/>
          </a:xfrm>
          <a:prstGeom prst="rect">
            <a:avLst/>
          </a:prstGeom>
          <a:solidFill>
            <a:srgbClr val="006666"/>
          </a:solidFill>
          <a:ln/>
        </p:spPr>
      </p:sp>
      <p:sp>
        <p:nvSpPr>
          <p:cNvPr id="17" name="Text 15"/>
          <p:cNvSpPr/>
          <p:nvPr/>
        </p:nvSpPr>
        <p:spPr>
          <a:xfrm>
            <a:off x="7333488" y="3429000"/>
            <a:ext cx="731520" cy="310896"/>
          </a:xfrm>
          <a:prstGeom prst="rect">
            <a:avLst/>
          </a:prstGeom>
          <a:noFill/>
          <a:ln/>
        </p:spPr>
        <p:txBody>
          <a:bodyPr wrap="square" lIns="0" tIns="0" rIns="0" bIns="0" rtlCol="0" anchor="ctr"/>
          <a:lstStyle/>
          <a:p>
            <a:pPr algn="l" indent="0" marL="0">
              <a:buNone/>
            </a:pPr>
            <a:r>
              <a:rPr lang="en-US" sz="1250" b="1" dirty="0">
                <a:solidFill>
                  <a:srgbClr val="006666"/>
                </a:solidFill>
                <a:latin typeface="Cambria" pitchFamily="34" charset="0"/>
                <a:ea typeface="Cambria" pitchFamily="34" charset="-122"/>
                <a:cs typeface="Cambria" pitchFamily="34" charset="-120"/>
              </a:rPr>
              <a:t>60,6%</a:t>
            </a:r>
            <a:endParaRPr lang="en-US" sz="1250" dirty="0"/>
          </a:p>
        </p:txBody>
      </p:sp>
      <p:sp>
        <p:nvSpPr>
          <p:cNvPr id="18" name="Text 16"/>
          <p:cNvSpPr/>
          <p:nvPr/>
        </p:nvSpPr>
        <p:spPr>
          <a:xfrm>
            <a:off x="457200" y="4059936"/>
            <a:ext cx="2514600" cy="292608"/>
          </a:xfrm>
          <a:prstGeom prst="rect">
            <a:avLst/>
          </a:prstGeom>
          <a:noFill/>
          <a:ln/>
        </p:spPr>
        <p:txBody>
          <a:bodyPr wrap="square" lIns="0" tIns="0" rIns="0" bIns="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Proposed = SPICE + ACE</a:t>
            </a:r>
            <a:endParaRPr lang="en-US" sz="1170" dirty="0"/>
          </a:p>
        </p:txBody>
      </p:sp>
      <p:sp>
        <p:nvSpPr>
          <p:cNvPr id="19" name="Shape 17"/>
          <p:cNvSpPr/>
          <p:nvPr/>
        </p:nvSpPr>
        <p:spPr>
          <a:xfrm>
            <a:off x="3063240" y="4078224"/>
            <a:ext cx="4160520" cy="246888"/>
          </a:xfrm>
          <a:prstGeom prst="rect">
            <a:avLst/>
          </a:prstGeom>
          <a:solidFill>
            <a:srgbClr val="DDDBE4"/>
          </a:solidFill>
          <a:ln/>
        </p:spPr>
      </p:sp>
      <p:sp>
        <p:nvSpPr>
          <p:cNvPr id="20" name="Shape 18"/>
          <p:cNvSpPr/>
          <p:nvPr/>
        </p:nvSpPr>
        <p:spPr>
          <a:xfrm>
            <a:off x="3063240" y="4078224"/>
            <a:ext cx="3155754" cy="246888"/>
          </a:xfrm>
          <a:prstGeom prst="rect">
            <a:avLst/>
          </a:prstGeom>
          <a:solidFill>
            <a:srgbClr val="1B7F5B"/>
          </a:solidFill>
          <a:ln/>
        </p:spPr>
      </p:sp>
      <p:sp>
        <p:nvSpPr>
          <p:cNvPr id="21" name="Text 19"/>
          <p:cNvSpPr/>
          <p:nvPr/>
        </p:nvSpPr>
        <p:spPr>
          <a:xfrm>
            <a:off x="7333488" y="4041648"/>
            <a:ext cx="731520" cy="310896"/>
          </a:xfrm>
          <a:prstGeom prst="rect">
            <a:avLst/>
          </a:prstGeom>
          <a:noFill/>
          <a:ln/>
        </p:spPr>
        <p:txBody>
          <a:bodyPr wrap="square" lIns="0" tIns="0" rIns="0" bIns="0" rtlCol="0" anchor="ctr"/>
          <a:lstStyle/>
          <a:p>
            <a:pPr algn="l" indent="0" marL="0">
              <a:buNone/>
            </a:pPr>
            <a:r>
              <a:rPr lang="en-US" sz="1250" b="1" dirty="0">
                <a:solidFill>
                  <a:srgbClr val="1B7F5B"/>
                </a:solidFill>
                <a:latin typeface="Cambria" pitchFamily="34" charset="0"/>
                <a:ea typeface="Cambria" pitchFamily="34" charset="-122"/>
                <a:cs typeface="Cambria" pitchFamily="34" charset="-120"/>
              </a:rPr>
              <a:t>60,7%</a:t>
            </a:r>
            <a:endParaRPr lang="en-US" sz="1250" dirty="0"/>
          </a:p>
        </p:txBody>
      </p:sp>
      <p:sp>
        <p:nvSpPr>
          <p:cNvPr id="22" name="Text 20"/>
          <p:cNvSpPr/>
          <p:nvPr/>
        </p:nvSpPr>
        <p:spPr>
          <a:xfrm>
            <a:off x="457200" y="4672584"/>
            <a:ext cx="2514600" cy="292608"/>
          </a:xfrm>
          <a:prstGeom prst="rect">
            <a:avLst/>
          </a:prstGeom>
          <a:noFill/>
          <a:ln/>
        </p:spPr>
        <p:txBody>
          <a:bodyPr wrap="square" lIns="0" tIns="0" rIns="0" bIns="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Reference ceiling</a:t>
            </a:r>
            <a:endParaRPr lang="en-US" sz="1170" dirty="0"/>
          </a:p>
        </p:txBody>
      </p:sp>
      <p:sp>
        <p:nvSpPr>
          <p:cNvPr id="23" name="Shape 21"/>
          <p:cNvSpPr/>
          <p:nvPr/>
        </p:nvSpPr>
        <p:spPr>
          <a:xfrm>
            <a:off x="3063240" y="4690872"/>
            <a:ext cx="4160520" cy="246888"/>
          </a:xfrm>
          <a:prstGeom prst="rect">
            <a:avLst/>
          </a:prstGeom>
          <a:solidFill>
            <a:srgbClr val="DDDBE4"/>
          </a:solidFill>
          <a:ln/>
        </p:spPr>
      </p:sp>
      <p:sp>
        <p:nvSpPr>
          <p:cNvPr id="24" name="Shape 22"/>
          <p:cNvSpPr/>
          <p:nvPr/>
        </p:nvSpPr>
        <p:spPr>
          <a:xfrm>
            <a:off x="3063240" y="4690872"/>
            <a:ext cx="3936892" cy="246888"/>
          </a:xfrm>
          <a:prstGeom prst="rect">
            <a:avLst/>
          </a:prstGeom>
          <a:solidFill>
            <a:srgbClr val="990000"/>
          </a:solidFill>
          <a:ln/>
        </p:spPr>
      </p:sp>
      <p:sp>
        <p:nvSpPr>
          <p:cNvPr id="25" name="Text 23"/>
          <p:cNvSpPr/>
          <p:nvPr/>
        </p:nvSpPr>
        <p:spPr>
          <a:xfrm>
            <a:off x="7333488" y="4654296"/>
            <a:ext cx="731520" cy="310896"/>
          </a:xfrm>
          <a:prstGeom prst="rect">
            <a:avLst/>
          </a:prstGeom>
          <a:noFill/>
          <a:ln/>
        </p:spPr>
        <p:txBody>
          <a:bodyPr wrap="square" lIns="0" tIns="0" rIns="0" bIns="0" rtlCol="0" anchor="ctr"/>
          <a:lstStyle/>
          <a:p>
            <a:pPr algn="l" indent="0" marL="0">
              <a:buNone/>
            </a:pPr>
            <a:r>
              <a:rPr lang="en-US" sz="1250" b="1" dirty="0">
                <a:solidFill>
                  <a:srgbClr val="990000"/>
                </a:solidFill>
                <a:latin typeface="Cambria" pitchFamily="34" charset="0"/>
                <a:ea typeface="Cambria" pitchFamily="34" charset="-122"/>
                <a:cs typeface="Cambria" pitchFamily="34" charset="-120"/>
              </a:rPr>
              <a:t>75,7%</a:t>
            </a:r>
            <a:endParaRPr lang="en-US" sz="1250" dirty="0"/>
          </a:p>
        </p:txBody>
      </p:sp>
      <p:sp>
        <p:nvSpPr>
          <p:cNvPr id="26" name="Shape 24"/>
          <p:cNvSpPr/>
          <p:nvPr/>
        </p:nvSpPr>
        <p:spPr>
          <a:xfrm>
            <a:off x="6995160" y="3410712"/>
            <a:ext cx="1325880" cy="256032"/>
          </a:xfrm>
          <a:prstGeom prst="roundRect">
            <a:avLst/>
          </a:prstGeom>
          <a:solidFill>
            <a:srgbClr val="006666"/>
          </a:solidFill>
          <a:ln/>
        </p:spPr>
      </p:sp>
      <p:sp>
        <p:nvSpPr>
          <p:cNvPr id="27" name="Text 25"/>
          <p:cNvSpPr/>
          <p:nvPr/>
        </p:nvSpPr>
        <p:spPr>
          <a:xfrm>
            <a:off x="6995160" y="3410712"/>
            <a:ext cx="13258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+1,55 pp</a:t>
            </a:r>
            <a:endParaRPr lang="en-US" sz="900" dirty="0"/>
          </a:p>
        </p:txBody>
      </p:sp>
      <p:sp>
        <p:nvSpPr>
          <p:cNvPr id="28" name="Shape 26"/>
          <p:cNvSpPr/>
          <p:nvPr/>
        </p:nvSpPr>
        <p:spPr>
          <a:xfrm>
            <a:off x="6995160" y="4023360"/>
            <a:ext cx="1325880" cy="256032"/>
          </a:xfrm>
          <a:prstGeom prst="roundRect">
            <a:avLst/>
          </a:prstGeom>
          <a:solidFill>
            <a:srgbClr val="1B7F5B"/>
          </a:solidFill>
          <a:ln/>
        </p:spPr>
      </p:sp>
      <p:sp>
        <p:nvSpPr>
          <p:cNvPr id="29" name="Text 27"/>
          <p:cNvSpPr/>
          <p:nvPr/>
        </p:nvSpPr>
        <p:spPr>
          <a:xfrm>
            <a:off x="6995160" y="4023360"/>
            <a:ext cx="13258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+1,57 pp</a:t>
            </a:r>
            <a:endParaRPr lang="en-US" sz="900" dirty="0"/>
          </a:p>
        </p:txBody>
      </p:sp>
      <p:sp>
        <p:nvSpPr>
          <p:cNvPr id="30" name="Text 28"/>
          <p:cNvSpPr/>
          <p:nvPr/>
        </p:nvSpPr>
        <p:spPr>
          <a:xfrm>
            <a:off x="457200" y="5440680"/>
            <a:ext cx="8229600" cy="384048"/>
          </a:xfrm>
          <a:prstGeom prst="rect">
            <a:avLst/>
          </a:prstGeom>
          <a:noFill/>
          <a:ln/>
        </p:spPr>
        <p:txBody>
          <a:bodyPr wrap="square" lIns="0" tIns="0" rIns="0" bIns="0" rtlCol="0" anchor="t"/>
          <a:lstStyle/>
          <a:p>
            <a:pPr algn="ctr" indent="0" marL="0">
              <a:buNone/>
            </a:pPr>
            <a:r>
              <a:rPr lang="en-US" sz="1350" b="1" dirty="0">
                <a:solidFill>
                  <a:srgbClr val="322164"/>
                </a:solidFill>
                <a:latin typeface="Cambria" pitchFamily="34" charset="0"/>
                <a:ea typeface="Cambria" pitchFamily="34" charset="-122"/>
                <a:cs typeface="Cambria" pitchFamily="34" charset="-120"/>
              </a:rPr>
              <a:t>ACE giữ gần nguyên phần tăng về vị trí; phần lớn cải thiện đến từ GRPO + SPICE.</a:t>
            </a:r>
            <a:endParaRPr lang="en-US" sz="1350" dirty="0"/>
          </a:p>
        </p:txBody>
      </p:sp>
      <p:sp>
        <p:nvSpPr>
          <p:cNvPr id="31" name="Text 29"/>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4.463 touch steps · Luận văn §6.2, §6.6</a:t>
            </a:r>
            <a:endParaRPr lang="en-US" sz="820" dirty="0"/>
          </a:p>
        </p:txBody>
      </p:sp>
      <p:sp>
        <p:nvSpPr>
          <p:cNvPr id="32" name="Shape 30"/>
          <p:cNvSpPr/>
          <p:nvPr/>
        </p:nvSpPr>
        <p:spPr>
          <a:xfrm>
            <a:off x="0" y="6620256"/>
            <a:ext cx="2743200" cy="237744"/>
          </a:xfrm>
          <a:prstGeom prst="rect">
            <a:avLst/>
          </a:prstGeom>
          <a:solidFill>
            <a:srgbClr val="191132"/>
          </a:solidFill>
          <a:ln/>
        </p:spPr>
      </p:sp>
      <p:sp>
        <p:nvSpPr>
          <p:cNvPr id="33" name="Shape 31"/>
          <p:cNvSpPr/>
          <p:nvPr/>
        </p:nvSpPr>
        <p:spPr>
          <a:xfrm>
            <a:off x="2743200" y="6620256"/>
            <a:ext cx="3383280" cy="237744"/>
          </a:xfrm>
          <a:prstGeom prst="rect">
            <a:avLst/>
          </a:prstGeom>
          <a:solidFill>
            <a:srgbClr val="25194B"/>
          </a:solidFill>
          <a:ln/>
        </p:spPr>
      </p:sp>
      <p:sp>
        <p:nvSpPr>
          <p:cNvPr id="34" name="Shape 32"/>
          <p:cNvSpPr/>
          <p:nvPr/>
        </p:nvSpPr>
        <p:spPr>
          <a:xfrm>
            <a:off x="6126480" y="6620256"/>
            <a:ext cx="1737360" cy="237744"/>
          </a:xfrm>
          <a:prstGeom prst="rect">
            <a:avLst/>
          </a:prstGeom>
          <a:solidFill>
            <a:srgbClr val="4F417A"/>
          </a:solidFill>
          <a:ln/>
        </p:spPr>
      </p:sp>
      <p:sp>
        <p:nvSpPr>
          <p:cNvPr id="35" name="Shape 33"/>
          <p:cNvSpPr/>
          <p:nvPr/>
        </p:nvSpPr>
        <p:spPr>
          <a:xfrm>
            <a:off x="7863840" y="6620256"/>
            <a:ext cx="1280160" cy="237744"/>
          </a:xfrm>
          <a:prstGeom prst="rect">
            <a:avLst/>
          </a:prstGeom>
          <a:solidFill>
            <a:srgbClr val="7A7099"/>
          </a:solidFill>
          <a:ln/>
        </p:spPr>
      </p:sp>
      <p:sp>
        <p:nvSpPr>
          <p:cNvPr id="36" name="Text 3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7" name="Text 3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8" name="Text 3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9" name="Text 3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14/21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Mức tăng vượt seed noise và khoảng tin cậy không chạm 0</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EVIDENCE</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Bằng chứng chính là phép so ghép cặp theo từng bước, không phải chênh điểm độc lập.</a:t>
            </a:r>
            <a:endParaRPr lang="en-US" sz="2200" dirty="0"/>
          </a:p>
        </p:txBody>
      </p:sp>
      <p:sp>
        <p:nvSpPr>
          <p:cNvPr id="6" name="Text 4"/>
          <p:cNvSpPr/>
          <p:nvPr/>
        </p:nvSpPr>
        <p:spPr>
          <a:xfrm>
            <a:off x="3657600" y="1737360"/>
            <a:ext cx="3200400" cy="274320"/>
          </a:xfrm>
          <a:prstGeom prst="rect">
            <a:avLst/>
          </a:prstGeom>
          <a:noFill/>
          <a:ln/>
        </p:spPr>
        <p:txBody>
          <a:bodyPr wrap="square" lIns="0" tIns="0" rIns="0" bIns="0" rtlCol="0" anchor="t"/>
          <a:lstStyle/>
          <a:p>
            <a:pPr algn="ctr" indent="0" marL="0">
              <a:buNone/>
            </a:pPr>
            <a:r>
              <a:rPr lang="en-US" sz="1150" b="1" dirty="0">
                <a:solidFill>
                  <a:srgbClr val="5A5A66"/>
                </a:solidFill>
                <a:latin typeface="Cambria" pitchFamily="34" charset="0"/>
                <a:ea typeface="Cambria" pitchFamily="34" charset="-122"/>
                <a:cs typeface="Cambria" pitchFamily="34" charset="-120"/>
              </a:rPr>
              <a:t>Δ executability (percentage points)</a:t>
            </a:r>
            <a:endParaRPr lang="en-US" sz="1150" dirty="0"/>
          </a:p>
        </p:txBody>
      </p:sp>
      <p:sp>
        <p:nvSpPr>
          <p:cNvPr id="7" name="Shape 5"/>
          <p:cNvSpPr/>
          <p:nvPr/>
        </p:nvSpPr>
        <p:spPr>
          <a:xfrm>
            <a:off x="3886200" y="2176272"/>
            <a:ext cx="3657600" cy="0"/>
          </a:xfrm>
          <a:prstGeom prst="line">
            <a:avLst/>
          </a:prstGeom>
          <a:noFill/>
          <a:ln w="12700">
            <a:solidFill>
              <a:srgbClr val="A7A3B2"/>
            </a:solidFill>
            <a:prstDash val="solid"/>
            <a:tailEnd type="none"/>
          </a:ln>
        </p:spPr>
      </p:sp>
      <p:sp>
        <p:nvSpPr>
          <p:cNvPr id="8" name="Shape 6"/>
          <p:cNvSpPr/>
          <p:nvPr/>
        </p:nvSpPr>
        <p:spPr>
          <a:xfrm>
            <a:off x="3886200" y="2121408"/>
            <a:ext cx="0" cy="109728"/>
          </a:xfrm>
          <a:prstGeom prst="line">
            <a:avLst/>
          </a:prstGeom>
          <a:noFill/>
          <a:ln w="12700">
            <a:solidFill>
              <a:srgbClr val="A7A3B2"/>
            </a:solidFill>
            <a:prstDash val="solid"/>
            <a:tailEnd type="none"/>
          </a:ln>
        </p:spPr>
      </p:sp>
      <p:sp>
        <p:nvSpPr>
          <p:cNvPr id="9" name="Text 7"/>
          <p:cNvSpPr/>
          <p:nvPr/>
        </p:nvSpPr>
        <p:spPr>
          <a:xfrm>
            <a:off x="3776472" y="2267712"/>
            <a:ext cx="219456" cy="182880"/>
          </a:xfrm>
          <a:prstGeom prst="rect">
            <a:avLst/>
          </a:prstGeom>
          <a:noFill/>
          <a:ln/>
        </p:spPr>
        <p:txBody>
          <a:bodyPr wrap="square" lIns="0" tIns="0" rIns="0" bIns="0" rtlCol="0" anchor="t"/>
          <a:lstStyle/>
          <a:p>
            <a:pPr algn="ctr" indent="0" marL="0">
              <a:buNone/>
            </a:pPr>
            <a:r>
              <a:rPr lang="en-US" sz="900" dirty="0">
                <a:solidFill>
                  <a:srgbClr val="5A5A66"/>
                </a:solidFill>
                <a:latin typeface="Cambria" pitchFamily="34" charset="0"/>
                <a:ea typeface="Cambria" pitchFamily="34" charset="-122"/>
                <a:cs typeface="Cambria" pitchFamily="34" charset="-120"/>
              </a:rPr>
              <a:t>-1</a:t>
            </a:r>
            <a:endParaRPr lang="en-US" sz="900" dirty="0"/>
          </a:p>
        </p:txBody>
      </p:sp>
      <p:sp>
        <p:nvSpPr>
          <p:cNvPr id="10" name="Shape 8"/>
          <p:cNvSpPr/>
          <p:nvPr/>
        </p:nvSpPr>
        <p:spPr>
          <a:xfrm>
            <a:off x="4800600" y="2121408"/>
            <a:ext cx="0" cy="109728"/>
          </a:xfrm>
          <a:prstGeom prst="line">
            <a:avLst/>
          </a:prstGeom>
          <a:noFill/>
          <a:ln w="12700">
            <a:solidFill>
              <a:srgbClr val="A7A3B2"/>
            </a:solidFill>
            <a:prstDash val="solid"/>
            <a:tailEnd type="none"/>
          </a:ln>
        </p:spPr>
      </p:sp>
      <p:sp>
        <p:nvSpPr>
          <p:cNvPr id="11" name="Text 9"/>
          <p:cNvSpPr/>
          <p:nvPr/>
        </p:nvSpPr>
        <p:spPr>
          <a:xfrm>
            <a:off x="4690872" y="2267712"/>
            <a:ext cx="219456" cy="182880"/>
          </a:xfrm>
          <a:prstGeom prst="rect">
            <a:avLst/>
          </a:prstGeom>
          <a:noFill/>
          <a:ln/>
        </p:spPr>
        <p:txBody>
          <a:bodyPr wrap="square" lIns="0" tIns="0" rIns="0" bIns="0" rtlCol="0" anchor="t"/>
          <a:lstStyle/>
          <a:p>
            <a:pPr algn="ctr" indent="0" marL="0">
              <a:buNone/>
            </a:pPr>
            <a:r>
              <a:rPr lang="en-US" sz="900" dirty="0">
                <a:solidFill>
                  <a:srgbClr val="5A5A66"/>
                </a:solidFill>
                <a:latin typeface="Cambria" pitchFamily="34" charset="0"/>
                <a:ea typeface="Cambria" pitchFamily="34" charset="-122"/>
                <a:cs typeface="Cambria" pitchFamily="34" charset="-120"/>
              </a:rPr>
              <a:t>0</a:t>
            </a:r>
            <a:endParaRPr lang="en-US" sz="900" dirty="0"/>
          </a:p>
        </p:txBody>
      </p:sp>
      <p:sp>
        <p:nvSpPr>
          <p:cNvPr id="12" name="Shape 10"/>
          <p:cNvSpPr/>
          <p:nvPr/>
        </p:nvSpPr>
        <p:spPr>
          <a:xfrm>
            <a:off x="5715000" y="2121408"/>
            <a:ext cx="0" cy="109728"/>
          </a:xfrm>
          <a:prstGeom prst="line">
            <a:avLst/>
          </a:prstGeom>
          <a:noFill/>
          <a:ln w="12700">
            <a:solidFill>
              <a:srgbClr val="A7A3B2"/>
            </a:solidFill>
            <a:prstDash val="solid"/>
            <a:tailEnd type="none"/>
          </a:ln>
        </p:spPr>
      </p:sp>
      <p:sp>
        <p:nvSpPr>
          <p:cNvPr id="13" name="Text 11"/>
          <p:cNvSpPr/>
          <p:nvPr/>
        </p:nvSpPr>
        <p:spPr>
          <a:xfrm>
            <a:off x="5605272" y="2267712"/>
            <a:ext cx="219456" cy="182880"/>
          </a:xfrm>
          <a:prstGeom prst="rect">
            <a:avLst/>
          </a:prstGeom>
          <a:noFill/>
          <a:ln/>
        </p:spPr>
        <p:txBody>
          <a:bodyPr wrap="square" lIns="0" tIns="0" rIns="0" bIns="0" rtlCol="0" anchor="t"/>
          <a:lstStyle/>
          <a:p>
            <a:pPr algn="ctr" indent="0" marL="0">
              <a:buNone/>
            </a:pPr>
            <a:r>
              <a:rPr lang="en-US" sz="900" dirty="0">
                <a:solidFill>
                  <a:srgbClr val="5A5A66"/>
                </a:solidFill>
                <a:latin typeface="Cambria" pitchFamily="34" charset="0"/>
                <a:ea typeface="Cambria" pitchFamily="34" charset="-122"/>
                <a:cs typeface="Cambria" pitchFamily="34" charset="-120"/>
              </a:rPr>
              <a:t>1</a:t>
            </a:r>
            <a:endParaRPr lang="en-US" sz="900" dirty="0"/>
          </a:p>
        </p:txBody>
      </p:sp>
      <p:sp>
        <p:nvSpPr>
          <p:cNvPr id="14" name="Shape 12"/>
          <p:cNvSpPr/>
          <p:nvPr/>
        </p:nvSpPr>
        <p:spPr>
          <a:xfrm>
            <a:off x="6629400" y="2121408"/>
            <a:ext cx="0" cy="109728"/>
          </a:xfrm>
          <a:prstGeom prst="line">
            <a:avLst/>
          </a:prstGeom>
          <a:noFill/>
          <a:ln w="12700">
            <a:solidFill>
              <a:srgbClr val="A7A3B2"/>
            </a:solidFill>
            <a:prstDash val="solid"/>
            <a:tailEnd type="none"/>
          </a:ln>
        </p:spPr>
      </p:sp>
      <p:sp>
        <p:nvSpPr>
          <p:cNvPr id="15" name="Text 13"/>
          <p:cNvSpPr/>
          <p:nvPr/>
        </p:nvSpPr>
        <p:spPr>
          <a:xfrm>
            <a:off x="6519672" y="2267712"/>
            <a:ext cx="219456" cy="182880"/>
          </a:xfrm>
          <a:prstGeom prst="rect">
            <a:avLst/>
          </a:prstGeom>
          <a:noFill/>
          <a:ln/>
        </p:spPr>
        <p:txBody>
          <a:bodyPr wrap="square" lIns="0" tIns="0" rIns="0" bIns="0" rtlCol="0" anchor="t"/>
          <a:lstStyle/>
          <a:p>
            <a:pPr algn="ctr" indent="0" marL="0">
              <a:buNone/>
            </a:pPr>
            <a:r>
              <a:rPr lang="en-US" sz="900" dirty="0">
                <a:solidFill>
                  <a:srgbClr val="5A5A66"/>
                </a:solidFill>
                <a:latin typeface="Cambria" pitchFamily="34" charset="0"/>
                <a:ea typeface="Cambria" pitchFamily="34" charset="-122"/>
                <a:cs typeface="Cambria" pitchFamily="34" charset="-120"/>
              </a:rPr>
              <a:t>2</a:t>
            </a:r>
            <a:endParaRPr lang="en-US" sz="900" dirty="0"/>
          </a:p>
        </p:txBody>
      </p:sp>
      <p:sp>
        <p:nvSpPr>
          <p:cNvPr id="16" name="Shape 14"/>
          <p:cNvSpPr/>
          <p:nvPr/>
        </p:nvSpPr>
        <p:spPr>
          <a:xfrm>
            <a:off x="7543800" y="2121408"/>
            <a:ext cx="0" cy="109728"/>
          </a:xfrm>
          <a:prstGeom prst="line">
            <a:avLst/>
          </a:prstGeom>
          <a:noFill/>
          <a:ln w="12700">
            <a:solidFill>
              <a:srgbClr val="A7A3B2"/>
            </a:solidFill>
            <a:prstDash val="solid"/>
            <a:tailEnd type="none"/>
          </a:ln>
        </p:spPr>
      </p:sp>
      <p:sp>
        <p:nvSpPr>
          <p:cNvPr id="17" name="Text 15"/>
          <p:cNvSpPr/>
          <p:nvPr/>
        </p:nvSpPr>
        <p:spPr>
          <a:xfrm>
            <a:off x="7434072" y="2267712"/>
            <a:ext cx="219456" cy="182880"/>
          </a:xfrm>
          <a:prstGeom prst="rect">
            <a:avLst/>
          </a:prstGeom>
          <a:noFill/>
          <a:ln/>
        </p:spPr>
        <p:txBody>
          <a:bodyPr wrap="square" lIns="0" tIns="0" rIns="0" bIns="0" rtlCol="0" anchor="t"/>
          <a:lstStyle/>
          <a:p>
            <a:pPr algn="ctr" indent="0" marL="0">
              <a:buNone/>
            </a:pPr>
            <a:r>
              <a:rPr lang="en-US" sz="900" dirty="0">
                <a:solidFill>
                  <a:srgbClr val="5A5A66"/>
                </a:solidFill>
                <a:latin typeface="Cambria" pitchFamily="34" charset="0"/>
                <a:ea typeface="Cambria" pitchFamily="34" charset="-122"/>
                <a:cs typeface="Cambria" pitchFamily="34" charset="-120"/>
              </a:rPr>
              <a:t>3</a:t>
            </a:r>
            <a:endParaRPr lang="en-US" sz="900" dirty="0"/>
          </a:p>
        </p:txBody>
      </p:sp>
      <p:sp>
        <p:nvSpPr>
          <p:cNvPr id="18" name="Shape 16"/>
          <p:cNvSpPr/>
          <p:nvPr/>
        </p:nvSpPr>
        <p:spPr>
          <a:xfrm>
            <a:off x="4800600" y="1965960"/>
            <a:ext cx="0" cy="2606040"/>
          </a:xfrm>
          <a:prstGeom prst="line">
            <a:avLst/>
          </a:prstGeom>
          <a:noFill/>
          <a:ln w="15240">
            <a:solidFill>
              <a:srgbClr val="9A94AE"/>
            </a:solidFill>
            <a:prstDash val="dash"/>
            <a:tailEnd type="none"/>
          </a:ln>
        </p:spPr>
      </p:sp>
      <p:sp>
        <p:nvSpPr>
          <p:cNvPr id="19" name="Text 17"/>
          <p:cNvSpPr/>
          <p:nvPr/>
        </p:nvSpPr>
        <p:spPr>
          <a:xfrm>
            <a:off x="457200" y="2660904"/>
            <a:ext cx="2971800" cy="274320"/>
          </a:xfrm>
          <a:prstGeom prst="rect">
            <a:avLst/>
          </a:prstGeom>
          <a:noFill/>
          <a:ln/>
        </p:spPr>
        <p:txBody>
          <a:bodyPr wrap="square" lIns="0" tIns="0" rIns="0" bIns="0" rtlCol="0" anchor="t"/>
          <a:lstStyle/>
          <a:p>
            <a:pPr algn="l" indent="0" marL="0">
              <a:buNone/>
            </a:pPr>
            <a:r>
              <a:rPr lang="en-US" sz="1180" dirty="0">
                <a:solidFill>
                  <a:srgbClr val="1A1A1A"/>
                </a:solidFill>
                <a:latin typeface="Cambria" pitchFamily="34" charset="0"/>
                <a:ea typeface="Cambria" pitchFamily="34" charset="-122"/>
                <a:cs typeface="Cambria" pitchFamily="34" charset="-120"/>
              </a:rPr>
              <a:t>Proposed − S1</a:t>
            </a:r>
            <a:endParaRPr lang="en-US" sz="1180" dirty="0"/>
          </a:p>
        </p:txBody>
      </p:sp>
      <p:sp>
        <p:nvSpPr>
          <p:cNvPr id="20" name="Shape 18"/>
          <p:cNvSpPr/>
          <p:nvPr/>
        </p:nvSpPr>
        <p:spPr>
          <a:xfrm>
            <a:off x="5586984" y="2743200"/>
            <a:ext cx="1325880" cy="0"/>
          </a:xfrm>
          <a:prstGeom prst="line">
            <a:avLst/>
          </a:prstGeom>
          <a:noFill/>
          <a:ln w="38100">
            <a:solidFill>
              <a:srgbClr val="1B7F5B"/>
            </a:solidFill>
            <a:prstDash val="solid"/>
            <a:tailEnd type="none"/>
          </a:ln>
        </p:spPr>
      </p:sp>
      <p:sp>
        <p:nvSpPr>
          <p:cNvPr id="21" name="Shape 19"/>
          <p:cNvSpPr/>
          <p:nvPr/>
        </p:nvSpPr>
        <p:spPr>
          <a:xfrm>
            <a:off x="6190488" y="2697480"/>
            <a:ext cx="91440" cy="91440"/>
          </a:xfrm>
          <a:prstGeom prst="roundRect">
            <a:avLst/>
          </a:prstGeom>
          <a:solidFill>
            <a:srgbClr val="1B7F5B"/>
          </a:solidFill>
          <a:ln/>
        </p:spPr>
      </p:sp>
      <p:sp>
        <p:nvSpPr>
          <p:cNvPr id="22" name="Text 20"/>
          <p:cNvSpPr/>
          <p:nvPr/>
        </p:nvSpPr>
        <p:spPr>
          <a:xfrm>
            <a:off x="457200" y="3346704"/>
            <a:ext cx="2971800" cy="274320"/>
          </a:xfrm>
          <a:prstGeom prst="rect">
            <a:avLst/>
          </a:prstGeom>
          <a:noFill/>
          <a:ln/>
        </p:spPr>
        <p:txBody>
          <a:bodyPr wrap="square" lIns="0" tIns="0" rIns="0" bIns="0" rtlCol="0" anchor="t"/>
          <a:lstStyle/>
          <a:p>
            <a:pPr algn="l" indent="0" marL="0">
              <a:buNone/>
            </a:pPr>
            <a:r>
              <a:rPr lang="en-US" sz="1180" dirty="0">
                <a:solidFill>
                  <a:srgbClr val="1A1A1A"/>
                </a:solidFill>
                <a:latin typeface="Cambria" pitchFamily="34" charset="0"/>
                <a:ea typeface="Cambria" pitchFamily="34" charset="-122"/>
                <a:cs typeface="Cambria" pitchFamily="34" charset="-120"/>
              </a:rPr>
              <a:t>GRPO+SPICE − S1</a:t>
            </a:r>
            <a:endParaRPr lang="en-US" sz="1180" dirty="0"/>
          </a:p>
        </p:txBody>
      </p:sp>
      <p:sp>
        <p:nvSpPr>
          <p:cNvPr id="23" name="Shape 21"/>
          <p:cNvSpPr/>
          <p:nvPr/>
        </p:nvSpPr>
        <p:spPr>
          <a:xfrm>
            <a:off x="5532120" y="3429000"/>
            <a:ext cx="1399032" cy="0"/>
          </a:xfrm>
          <a:prstGeom prst="line">
            <a:avLst/>
          </a:prstGeom>
          <a:noFill/>
          <a:ln w="38100">
            <a:solidFill>
              <a:srgbClr val="006666"/>
            </a:solidFill>
            <a:prstDash val="solid"/>
            <a:tailEnd type="none"/>
          </a:ln>
        </p:spPr>
      </p:sp>
      <p:sp>
        <p:nvSpPr>
          <p:cNvPr id="24" name="Shape 22"/>
          <p:cNvSpPr/>
          <p:nvPr/>
        </p:nvSpPr>
        <p:spPr>
          <a:xfrm>
            <a:off x="6172200" y="3383280"/>
            <a:ext cx="91440" cy="91440"/>
          </a:xfrm>
          <a:prstGeom prst="roundRect">
            <a:avLst/>
          </a:prstGeom>
          <a:solidFill>
            <a:srgbClr val="006666"/>
          </a:solidFill>
          <a:ln/>
        </p:spPr>
      </p:sp>
      <p:sp>
        <p:nvSpPr>
          <p:cNvPr id="25" name="Text 23"/>
          <p:cNvSpPr/>
          <p:nvPr/>
        </p:nvSpPr>
        <p:spPr>
          <a:xfrm>
            <a:off x="457200" y="4032504"/>
            <a:ext cx="2971800" cy="274320"/>
          </a:xfrm>
          <a:prstGeom prst="rect">
            <a:avLst/>
          </a:prstGeom>
          <a:noFill/>
          <a:ln/>
        </p:spPr>
        <p:txBody>
          <a:bodyPr wrap="square" lIns="0" tIns="0" rIns="0" bIns="0" rtlCol="0" anchor="t"/>
          <a:lstStyle/>
          <a:p>
            <a:pPr algn="l" indent="0" marL="0">
              <a:buNone/>
            </a:pPr>
            <a:r>
              <a:rPr lang="en-US" sz="1180" dirty="0">
                <a:solidFill>
                  <a:srgbClr val="1A1A1A"/>
                </a:solidFill>
                <a:latin typeface="Cambria" pitchFamily="34" charset="0"/>
                <a:ea typeface="Cambria" pitchFamily="34" charset="-122"/>
                <a:cs typeface="Cambria" pitchFamily="34" charset="-120"/>
              </a:rPr>
              <a:t>S1 seed 202 − seed 101</a:t>
            </a:r>
            <a:endParaRPr lang="en-US" sz="1180" dirty="0"/>
          </a:p>
        </p:txBody>
      </p:sp>
      <p:sp>
        <p:nvSpPr>
          <p:cNvPr id="26" name="Shape 24"/>
          <p:cNvSpPr/>
          <p:nvPr/>
        </p:nvSpPr>
        <p:spPr>
          <a:xfrm>
            <a:off x="4599432" y="4114800"/>
            <a:ext cx="1353312" cy="0"/>
          </a:xfrm>
          <a:prstGeom prst="line">
            <a:avLst/>
          </a:prstGeom>
          <a:noFill/>
          <a:ln w="38100">
            <a:solidFill>
              <a:srgbClr val="4F417A"/>
            </a:solidFill>
            <a:prstDash val="solid"/>
            <a:tailEnd type="none"/>
          </a:ln>
        </p:spPr>
      </p:sp>
      <p:sp>
        <p:nvSpPr>
          <p:cNvPr id="27" name="Shape 25"/>
          <p:cNvSpPr/>
          <p:nvPr/>
        </p:nvSpPr>
        <p:spPr>
          <a:xfrm>
            <a:off x="5230368" y="4069080"/>
            <a:ext cx="91440" cy="91440"/>
          </a:xfrm>
          <a:prstGeom prst="roundRect">
            <a:avLst/>
          </a:prstGeom>
          <a:solidFill>
            <a:srgbClr val="4F417A"/>
          </a:solidFill>
          <a:ln/>
        </p:spPr>
      </p:sp>
      <p:sp>
        <p:nvSpPr>
          <p:cNvPr id="28" name="Shape 26"/>
          <p:cNvSpPr/>
          <p:nvPr/>
        </p:nvSpPr>
        <p:spPr>
          <a:xfrm>
            <a:off x="457200" y="4892040"/>
            <a:ext cx="8229600" cy="749808"/>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29" name="Text 27"/>
          <p:cNvSpPr/>
          <p:nvPr/>
        </p:nvSpPr>
        <p:spPr>
          <a:xfrm>
            <a:off x="621792" y="4892040"/>
            <a:ext cx="7900416" cy="749808"/>
          </a:xfrm>
          <a:prstGeom prst="rect">
            <a:avLst/>
          </a:prstGeom>
          <a:noFill/>
          <a:ln/>
        </p:spPr>
        <p:txBody>
          <a:bodyPr wrap="square" lIns="0" tIns="0" rIns="0" bIns="0" rtlCol="0" anchor="ctr"/>
          <a:lstStyle/>
          <a:p>
            <a:pPr algn="ctr" indent="0" marL="0">
              <a:buNone/>
            </a:pPr>
            <a:r>
              <a:rPr lang="en-US" sz="1280" b="1" dirty="0">
                <a:solidFill>
                  <a:srgbClr val="322164"/>
                </a:solidFill>
                <a:latin typeface="Cambria" pitchFamily="34" charset="0"/>
                <a:ea typeface="Cambria" pitchFamily="34" charset="-122"/>
                <a:cs typeface="Cambria" pitchFamily="34" charset="-120"/>
              </a:rPr>
              <a:t>Interpretation: proposed gain ≈ 3× seed difference, and CI excludes 0; seed difference itself is not significant.</a:t>
            </a:r>
            <a:endParaRPr lang="en-US" sz="1280" dirty="0"/>
          </a:p>
        </p:txBody>
      </p:sp>
      <p:sp>
        <p:nvSpPr>
          <p:cNvPr id="30" name="Text 28"/>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Bootstrap clustered by application · McNemar paired test · Luận văn §5.13, §6.6</a:t>
            </a:r>
            <a:endParaRPr lang="en-US" sz="820" dirty="0"/>
          </a:p>
        </p:txBody>
      </p:sp>
      <p:sp>
        <p:nvSpPr>
          <p:cNvPr id="31" name="Shape 29"/>
          <p:cNvSpPr/>
          <p:nvPr/>
        </p:nvSpPr>
        <p:spPr>
          <a:xfrm>
            <a:off x="0" y="6620256"/>
            <a:ext cx="2743200" cy="237744"/>
          </a:xfrm>
          <a:prstGeom prst="rect">
            <a:avLst/>
          </a:prstGeom>
          <a:solidFill>
            <a:srgbClr val="191132"/>
          </a:solidFill>
          <a:ln/>
        </p:spPr>
      </p:sp>
      <p:sp>
        <p:nvSpPr>
          <p:cNvPr id="32" name="Shape 30"/>
          <p:cNvSpPr/>
          <p:nvPr/>
        </p:nvSpPr>
        <p:spPr>
          <a:xfrm>
            <a:off x="2743200" y="6620256"/>
            <a:ext cx="3383280" cy="237744"/>
          </a:xfrm>
          <a:prstGeom prst="rect">
            <a:avLst/>
          </a:prstGeom>
          <a:solidFill>
            <a:srgbClr val="25194B"/>
          </a:solidFill>
          <a:ln/>
        </p:spPr>
      </p:sp>
      <p:sp>
        <p:nvSpPr>
          <p:cNvPr id="33" name="Shape 31"/>
          <p:cNvSpPr/>
          <p:nvPr/>
        </p:nvSpPr>
        <p:spPr>
          <a:xfrm>
            <a:off x="6126480" y="6620256"/>
            <a:ext cx="1737360" cy="237744"/>
          </a:xfrm>
          <a:prstGeom prst="rect">
            <a:avLst/>
          </a:prstGeom>
          <a:solidFill>
            <a:srgbClr val="4F417A"/>
          </a:solidFill>
          <a:ln/>
        </p:spPr>
      </p:sp>
      <p:sp>
        <p:nvSpPr>
          <p:cNvPr id="34" name="Shape 32"/>
          <p:cNvSpPr/>
          <p:nvPr/>
        </p:nvSpPr>
        <p:spPr>
          <a:xfrm>
            <a:off x="7863840" y="6620256"/>
            <a:ext cx="1280160" cy="237744"/>
          </a:xfrm>
          <a:prstGeom prst="rect">
            <a:avLst/>
          </a:prstGeom>
          <a:solidFill>
            <a:srgbClr val="7A7099"/>
          </a:solidFill>
          <a:ln/>
        </p:spPr>
      </p:sp>
      <p:sp>
        <p:nvSpPr>
          <p:cNvPr id="35" name="Text 3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6" name="Text 3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7" name="Text 3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8" name="Text 3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15/21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ACE cải thiện câu chữ mà không hy sinh khả năng định vị</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EVIDENCE · ACE</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ACE thay 402/4.463 câu (9,0%): 15 bước được cứu, 14 bước bị phá.</a:t>
            </a:r>
            <a:endParaRPr lang="en-US" sz="2200" dirty="0"/>
          </a:p>
        </p:txBody>
      </p:sp>
      <p:sp>
        <p:nvSpPr>
          <p:cNvPr id="6" name="Shape 4"/>
          <p:cNvSpPr/>
          <p:nvPr/>
        </p:nvSpPr>
        <p:spPr>
          <a:xfrm>
            <a:off x="457200" y="2057400"/>
            <a:ext cx="2011680" cy="13258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7" name="Text 5"/>
          <p:cNvSpPr/>
          <p:nvPr/>
        </p:nvSpPr>
        <p:spPr>
          <a:xfrm>
            <a:off x="585216" y="2130552"/>
            <a:ext cx="1755648" cy="457200"/>
          </a:xfrm>
          <a:prstGeom prst="rect">
            <a:avLst/>
          </a:prstGeom>
          <a:noFill/>
          <a:ln/>
        </p:spPr>
        <p:txBody>
          <a:bodyPr wrap="square" lIns="0" tIns="0" rIns="0" bIns="0" rtlCol="0" anchor="t"/>
          <a:lstStyle/>
          <a:p>
            <a:pPr algn="ctr" indent="0" marL="0">
              <a:buNone/>
            </a:pPr>
            <a:r>
              <a:rPr lang="en-US" sz="2000" b="1" dirty="0">
                <a:solidFill>
                  <a:srgbClr val="006666"/>
                </a:solidFill>
                <a:latin typeface="Cambria" pitchFamily="34" charset="0"/>
                <a:ea typeface="Cambria" pitchFamily="34" charset="-122"/>
                <a:cs typeface="Cambria" pitchFamily="34" charset="-120"/>
              </a:rPr>
              <a:t>+0,02 pp</a:t>
            </a:r>
            <a:endParaRPr lang="en-US" sz="2000" dirty="0"/>
          </a:p>
        </p:txBody>
      </p:sp>
      <p:sp>
        <p:nvSpPr>
          <p:cNvPr id="8" name="Text 6"/>
          <p:cNvSpPr/>
          <p:nvPr/>
        </p:nvSpPr>
        <p:spPr>
          <a:xfrm>
            <a:off x="585216" y="2606040"/>
            <a:ext cx="1755648" cy="704088"/>
          </a:xfrm>
          <a:prstGeom prst="rect">
            <a:avLst/>
          </a:prstGeom>
          <a:noFill/>
          <a:ln/>
        </p:spPr>
        <p:txBody>
          <a:bodyPr wrap="square" lIns="0" tIns="0" rIns="0" bIns="0" rtlCol="0" anchor="t"/>
          <a:lstStyle/>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Executability vs draft</a:t>
            </a:r>
            <a:endParaRPr lang="en-US" sz="1150" dirty="0"/>
          </a:p>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CI [−0,21; +0,26]</a:t>
            </a:r>
            <a:endParaRPr lang="en-US" sz="1150" dirty="0"/>
          </a:p>
        </p:txBody>
      </p:sp>
      <p:sp>
        <p:nvSpPr>
          <p:cNvPr id="9" name="Shape 7"/>
          <p:cNvSpPr/>
          <p:nvPr/>
        </p:nvSpPr>
        <p:spPr>
          <a:xfrm>
            <a:off x="2670048" y="2057400"/>
            <a:ext cx="2011680" cy="13258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0" name="Text 8"/>
          <p:cNvSpPr/>
          <p:nvPr/>
        </p:nvSpPr>
        <p:spPr>
          <a:xfrm>
            <a:off x="2798064" y="2130552"/>
            <a:ext cx="1755648" cy="457200"/>
          </a:xfrm>
          <a:prstGeom prst="rect">
            <a:avLst/>
          </a:prstGeom>
          <a:noFill/>
          <a:ln/>
        </p:spPr>
        <p:txBody>
          <a:bodyPr wrap="square" lIns="0" tIns="0" rIns="0" bIns="0" rtlCol="0" anchor="t"/>
          <a:lstStyle/>
          <a:p>
            <a:pPr algn="ctr" indent="0" marL="0">
              <a:buNone/>
            </a:pPr>
            <a:r>
              <a:rPr lang="en-US" sz="2000" b="1" dirty="0">
                <a:solidFill>
                  <a:srgbClr val="1B7F5B"/>
                </a:solidFill>
                <a:latin typeface="Cambria" pitchFamily="34" charset="0"/>
                <a:ea typeface="Cambria" pitchFamily="34" charset="-122"/>
                <a:cs typeface="Cambria" pitchFamily="34" charset="-120"/>
              </a:rPr>
              <a:t>+11,98</a:t>
            </a:r>
            <a:endParaRPr lang="en-US" sz="2000" dirty="0"/>
          </a:p>
        </p:txBody>
      </p:sp>
      <p:sp>
        <p:nvSpPr>
          <p:cNvPr id="11" name="Text 9"/>
          <p:cNvSpPr/>
          <p:nvPr/>
        </p:nvSpPr>
        <p:spPr>
          <a:xfrm>
            <a:off x="2798064" y="2606040"/>
            <a:ext cx="1755648" cy="704088"/>
          </a:xfrm>
          <a:prstGeom prst="rect">
            <a:avLst/>
          </a:prstGeom>
          <a:noFill/>
          <a:ln/>
        </p:spPr>
        <p:txBody>
          <a:bodyPr wrap="square" lIns="0" tIns="0" rIns="0" bIns="0" rtlCol="0" anchor="t"/>
          <a:lstStyle/>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CIDEr-D</a:t>
            </a:r>
            <a:endParaRPr lang="en-US" sz="1150" dirty="0"/>
          </a:p>
        </p:txBody>
      </p:sp>
      <p:sp>
        <p:nvSpPr>
          <p:cNvPr id="12" name="Shape 10"/>
          <p:cNvSpPr/>
          <p:nvPr/>
        </p:nvSpPr>
        <p:spPr>
          <a:xfrm>
            <a:off x="4882896" y="2057400"/>
            <a:ext cx="2011680" cy="13258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3" name="Text 11"/>
          <p:cNvSpPr/>
          <p:nvPr/>
        </p:nvSpPr>
        <p:spPr>
          <a:xfrm>
            <a:off x="5010912" y="2130552"/>
            <a:ext cx="1755648" cy="457200"/>
          </a:xfrm>
          <a:prstGeom prst="rect">
            <a:avLst/>
          </a:prstGeom>
          <a:noFill/>
          <a:ln/>
        </p:spPr>
        <p:txBody>
          <a:bodyPr wrap="square" lIns="0" tIns="0" rIns="0" bIns="0" rtlCol="0" anchor="t"/>
          <a:lstStyle/>
          <a:p>
            <a:pPr algn="ctr" indent="0" marL="0">
              <a:buNone/>
            </a:pPr>
            <a:r>
              <a:rPr lang="en-US" sz="2000" b="1" dirty="0">
                <a:solidFill>
                  <a:srgbClr val="1B7F5B"/>
                </a:solidFill>
                <a:latin typeface="Cambria" pitchFamily="34" charset="0"/>
                <a:ea typeface="Cambria" pitchFamily="34" charset="-122"/>
                <a:cs typeface="Cambria" pitchFamily="34" charset="-120"/>
              </a:rPr>
              <a:t>+1,34</a:t>
            </a:r>
            <a:endParaRPr lang="en-US" sz="2000" dirty="0"/>
          </a:p>
        </p:txBody>
      </p:sp>
      <p:sp>
        <p:nvSpPr>
          <p:cNvPr id="14" name="Text 12"/>
          <p:cNvSpPr/>
          <p:nvPr/>
        </p:nvSpPr>
        <p:spPr>
          <a:xfrm>
            <a:off x="5010912" y="2606040"/>
            <a:ext cx="1755648" cy="704088"/>
          </a:xfrm>
          <a:prstGeom prst="rect">
            <a:avLst/>
          </a:prstGeom>
          <a:noFill/>
          <a:ln/>
        </p:spPr>
        <p:txBody>
          <a:bodyPr wrap="square" lIns="0" tIns="0" rIns="0" bIns="0" rtlCol="0" anchor="t"/>
          <a:lstStyle/>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SPICE</a:t>
            </a:r>
            <a:endParaRPr lang="en-US" sz="1150" dirty="0"/>
          </a:p>
        </p:txBody>
      </p:sp>
      <p:sp>
        <p:nvSpPr>
          <p:cNvPr id="15" name="Shape 13"/>
          <p:cNvSpPr/>
          <p:nvPr/>
        </p:nvSpPr>
        <p:spPr>
          <a:xfrm>
            <a:off x="7095744" y="2057400"/>
            <a:ext cx="1591056" cy="13258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6" name="Text 14"/>
          <p:cNvSpPr/>
          <p:nvPr/>
        </p:nvSpPr>
        <p:spPr>
          <a:xfrm>
            <a:off x="7223760" y="2130552"/>
            <a:ext cx="1335024" cy="457200"/>
          </a:xfrm>
          <a:prstGeom prst="rect">
            <a:avLst/>
          </a:prstGeom>
          <a:noFill/>
          <a:ln/>
        </p:spPr>
        <p:txBody>
          <a:bodyPr wrap="square" lIns="0" tIns="0" rIns="0" bIns="0" rtlCol="0" anchor="t"/>
          <a:lstStyle/>
          <a:p>
            <a:pPr algn="ctr" indent="0" marL="0">
              <a:buNone/>
            </a:pPr>
            <a:r>
              <a:rPr lang="en-US" sz="2000" b="1" dirty="0">
                <a:solidFill>
                  <a:srgbClr val="1B7F5B"/>
                </a:solidFill>
                <a:latin typeface="Cambria" pitchFamily="34" charset="0"/>
                <a:ea typeface="Cambria" pitchFamily="34" charset="-122"/>
                <a:cs typeface="Cambria" pitchFamily="34" charset="-120"/>
              </a:rPr>
              <a:t>7/7</a:t>
            </a:r>
            <a:endParaRPr lang="en-US" sz="2000" dirty="0"/>
          </a:p>
        </p:txBody>
      </p:sp>
      <p:sp>
        <p:nvSpPr>
          <p:cNvPr id="17" name="Text 15"/>
          <p:cNvSpPr/>
          <p:nvPr/>
        </p:nvSpPr>
        <p:spPr>
          <a:xfrm>
            <a:off x="7223760" y="2606040"/>
            <a:ext cx="1335024" cy="704088"/>
          </a:xfrm>
          <a:prstGeom prst="rect">
            <a:avLst/>
          </a:prstGeom>
          <a:noFill/>
          <a:ln/>
        </p:spPr>
        <p:txBody>
          <a:bodyPr wrap="square" lIns="0" tIns="0" rIns="0" bIns="0" rtlCol="0" anchor="t"/>
          <a:lstStyle/>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text metrics increase</a:t>
            </a:r>
            <a:endParaRPr lang="en-US" sz="1150" dirty="0"/>
          </a:p>
        </p:txBody>
      </p:sp>
      <p:sp>
        <p:nvSpPr>
          <p:cNvPr id="18" name="Shape 16"/>
          <p:cNvSpPr/>
          <p:nvPr/>
        </p:nvSpPr>
        <p:spPr>
          <a:xfrm>
            <a:off x="457200" y="3794760"/>
            <a:ext cx="8229600" cy="128016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9" name="Text 17"/>
          <p:cNvSpPr/>
          <p:nvPr/>
        </p:nvSpPr>
        <p:spPr>
          <a:xfrm>
            <a:off x="640080" y="3950208"/>
            <a:ext cx="1737360" cy="27432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Why consensus matters</a:t>
            </a:r>
            <a:endParaRPr lang="en-US" sz="1350" dirty="0"/>
          </a:p>
        </p:txBody>
      </p:sp>
      <p:sp>
        <p:nvSpPr>
          <p:cNvPr id="20" name="Text 18"/>
          <p:cNvSpPr/>
          <p:nvPr/>
        </p:nvSpPr>
        <p:spPr>
          <a:xfrm>
            <a:off x="2286000" y="3840480"/>
            <a:ext cx="6217920" cy="749808"/>
          </a:xfrm>
          <a:prstGeom prst="rect">
            <a:avLst/>
          </a:prstGeom>
          <a:noFill/>
          <a:ln/>
        </p:spPr>
        <p:txBody>
          <a:bodyPr wrap="square" lIns="0" tIns="0" rIns="0" bIns="0" rtlCol="0" anchor="t"/>
          <a:lstStyle/>
          <a:p>
            <a:pPr algn="l" indent="0" marL="0">
              <a:lnSpc>
                <a:spcPct val="130000"/>
              </a:lnSpc>
              <a:buNone/>
            </a:pPr>
            <a:r>
              <a:rPr lang="en-US" sz="1280" dirty="0">
                <a:solidFill>
                  <a:srgbClr val="1A1A1A"/>
                </a:solidFill>
                <a:latin typeface="Cambria" pitchFamily="34" charset="0"/>
                <a:ea typeface="Cambria" pitchFamily="34" charset="-122"/>
                <a:cs typeface="Cambria" pitchFamily="34" charset="-120"/>
              </a:rPr>
              <a:t>Dùng generator ở mọi bước làm executability giảm 1,25 pp (p = 0,002). ACE giữ phần chép exemplar hữu ích và loại phần generator tự viết kém hơn draft.</a:t>
            </a:r>
            <a:endParaRPr lang="en-US" sz="1280" dirty="0"/>
          </a:p>
        </p:txBody>
      </p:sp>
      <p:sp>
        <p:nvSpPr>
          <p:cNvPr id="21" name="Text 19"/>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Luận văn §6.4</a:t>
            </a:r>
            <a:endParaRPr lang="en-US" sz="820" dirty="0"/>
          </a:p>
        </p:txBody>
      </p:sp>
      <p:sp>
        <p:nvSpPr>
          <p:cNvPr id="22" name="Shape 20"/>
          <p:cNvSpPr/>
          <p:nvPr/>
        </p:nvSpPr>
        <p:spPr>
          <a:xfrm>
            <a:off x="0" y="6620256"/>
            <a:ext cx="2743200" cy="237744"/>
          </a:xfrm>
          <a:prstGeom prst="rect">
            <a:avLst/>
          </a:prstGeom>
          <a:solidFill>
            <a:srgbClr val="191132"/>
          </a:solidFill>
          <a:ln/>
        </p:spPr>
      </p:sp>
      <p:sp>
        <p:nvSpPr>
          <p:cNvPr id="23" name="Shape 21"/>
          <p:cNvSpPr/>
          <p:nvPr/>
        </p:nvSpPr>
        <p:spPr>
          <a:xfrm>
            <a:off x="2743200" y="6620256"/>
            <a:ext cx="3383280" cy="237744"/>
          </a:xfrm>
          <a:prstGeom prst="rect">
            <a:avLst/>
          </a:prstGeom>
          <a:solidFill>
            <a:srgbClr val="25194B"/>
          </a:solidFill>
          <a:ln/>
        </p:spPr>
      </p:sp>
      <p:sp>
        <p:nvSpPr>
          <p:cNvPr id="24" name="Shape 22"/>
          <p:cNvSpPr/>
          <p:nvPr/>
        </p:nvSpPr>
        <p:spPr>
          <a:xfrm>
            <a:off x="6126480" y="6620256"/>
            <a:ext cx="1737360" cy="237744"/>
          </a:xfrm>
          <a:prstGeom prst="rect">
            <a:avLst/>
          </a:prstGeom>
          <a:solidFill>
            <a:srgbClr val="4F417A"/>
          </a:solidFill>
          <a:ln/>
        </p:spPr>
      </p:sp>
      <p:sp>
        <p:nvSpPr>
          <p:cNvPr id="25" name="Shape 23"/>
          <p:cNvSpPr/>
          <p:nvPr/>
        </p:nvSpPr>
        <p:spPr>
          <a:xfrm>
            <a:off x="7863840" y="6620256"/>
            <a:ext cx="1280160" cy="237744"/>
          </a:xfrm>
          <a:prstGeom prst="rect">
            <a:avLst/>
          </a:prstGeom>
          <a:solidFill>
            <a:srgbClr val="7A7099"/>
          </a:solidFill>
          <a:ln/>
        </p:spPr>
      </p:sp>
      <p:sp>
        <p:nvSpPr>
          <p:cNvPr id="26" name="Text 2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7" name="Text 2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8" name="Text 2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9" name="Text 2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16/21</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Kết luận không phụ thuộc vào một listener hay một rule duy nhất</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ROBUSTNESS</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Đổi công cụ đo làm đổi điểm tuyệt đối, nhưng không đổi thứ tự hệ thống.</a:t>
            </a:r>
            <a:endParaRPr lang="en-US" sz="2200" dirty="0"/>
          </a:p>
        </p:txBody>
      </p:sp>
      <p:sp>
        <p:nvSpPr>
          <p:cNvPr id="6" name="Shape 4"/>
          <p:cNvSpPr/>
          <p:nvPr/>
        </p:nvSpPr>
        <p:spPr>
          <a:xfrm>
            <a:off x="457200" y="2011680"/>
            <a:ext cx="2377440" cy="13258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7" name="Text 5"/>
          <p:cNvSpPr/>
          <p:nvPr/>
        </p:nvSpPr>
        <p:spPr>
          <a:xfrm>
            <a:off x="585216" y="2084832"/>
            <a:ext cx="2121408" cy="457200"/>
          </a:xfrm>
          <a:prstGeom prst="rect">
            <a:avLst/>
          </a:prstGeom>
          <a:noFill/>
          <a:ln/>
        </p:spPr>
        <p:txBody>
          <a:bodyPr wrap="square" lIns="0" tIns="0" rIns="0" bIns="0" rtlCol="0" anchor="t"/>
          <a:lstStyle/>
          <a:p>
            <a:pPr algn="ctr" indent="0" marL="0">
              <a:buNone/>
            </a:pPr>
            <a:r>
              <a:rPr lang="en-US" sz="2000" b="1" dirty="0">
                <a:solidFill>
                  <a:srgbClr val="322164"/>
                </a:solidFill>
                <a:latin typeface="Cambria" pitchFamily="34" charset="0"/>
                <a:ea typeface="Cambria" pitchFamily="34" charset="-122"/>
                <a:cs typeface="Cambria" pitchFamily="34" charset="-120"/>
              </a:rPr>
              <a:t>+10,35 pp</a:t>
            </a:r>
            <a:endParaRPr lang="en-US" sz="2000" dirty="0"/>
          </a:p>
        </p:txBody>
      </p:sp>
      <p:sp>
        <p:nvSpPr>
          <p:cNvPr id="8" name="Text 6"/>
          <p:cNvSpPr/>
          <p:nvPr/>
        </p:nvSpPr>
        <p:spPr>
          <a:xfrm>
            <a:off x="585216" y="2560320"/>
            <a:ext cx="2121408" cy="704088"/>
          </a:xfrm>
          <a:prstGeom prst="rect">
            <a:avLst/>
          </a:prstGeom>
          <a:noFill/>
          <a:ln/>
        </p:spPr>
        <p:txBody>
          <a:bodyPr wrap="square" lIns="0" tIns="0" rIns="0" bIns="0" rtlCol="0" anchor="t"/>
          <a:lstStyle/>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S1 − Base dưới UGround</a:t>
            </a:r>
            <a:endParaRPr lang="en-US" sz="1150" dirty="0"/>
          </a:p>
        </p:txBody>
      </p:sp>
      <p:sp>
        <p:nvSpPr>
          <p:cNvPr id="9" name="Shape 7"/>
          <p:cNvSpPr/>
          <p:nvPr/>
        </p:nvSpPr>
        <p:spPr>
          <a:xfrm>
            <a:off x="3054096" y="2011680"/>
            <a:ext cx="2377440" cy="13258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0" name="Text 8"/>
          <p:cNvSpPr/>
          <p:nvPr/>
        </p:nvSpPr>
        <p:spPr>
          <a:xfrm>
            <a:off x="3182112" y="2084832"/>
            <a:ext cx="2121408" cy="457200"/>
          </a:xfrm>
          <a:prstGeom prst="rect">
            <a:avLst/>
          </a:prstGeom>
          <a:noFill/>
          <a:ln/>
        </p:spPr>
        <p:txBody>
          <a:bodyPr wrap="square" lIns="0" tIns="0" rIns="0" bIns="0" rtlCol="0" anchor="t"/>
          <a:lstStyle/>
          <a:p>
            <a:pPr algn="ctr" indent="0" marL="0">
              <a:buNone/>
            </a:pPr>
            <a:r>
              <a:rPr lang="en-US" sz="2000" b="1" dirty="0">
                <a:solidFill>
                  <a:srgbClr val="006666"/>
                </a:solidFill>
                <a:latin typeface="Cambria" pitchFamily="34" charset="0"/>
                <a:ea typeface="Cambria" pitchFamily="34" charset="-122"/>
                <a:cs typeface="Cambria" pitchFamily="34" charset="-120"/>
              </a:rPr>
              <a:t>+9,68 pp</a:t>
            </a:r>
            <a:endParaRPr lang="en-US" sz="2000" dirty="0"/>
          </a:p>
        </p:txBody>
      </p:sp>
      <p:sp>
        <p:nvSpPr>
          <p:cNvPr id="11" name="Text 9"/>
          <p:cNvSpPr/>
          <p:nvPr/>
        </p:nvSpPr>
        <p:spPr>
          <a:xfrm>
            <a:off x="3182112" y="2560320"/>
            <a:ext cx="2121408" cy="704088"/>
          </a:xfrm>
          <a:prstGeom prst="rect">
            <a:avLst/>
          </a:prstGeom>
          <a:noFill/>
          <a:ln/>
        </p:spPr>
        <p:txBody>
          <a:bodyPr wrap="square" lIns="0" tIns="0" rIns="0" bIns="0" rtlCol="0" anchor="t"/>
          <a:lstStyle/>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S1 − Base dưới UI-Venus</a:t>
            </a:r>
            <a:endParaRPr lang="en-US" sz="1150" dirty="0"/>
          </a:p>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 94% độ lớn</a:t>
            </a:r>
            <a:endParaRPr lang="en-US" sz="1150" dirty="0"/>
          </a:p>
        </p:txBody>
      </p:sp>
      <p:sp>
        <p:nvSpPr>
          <p:cNvPr id="12" name="Shape 10"/>
          <p:cNvSpPr/>
          <p:nvPr/>
        </p:nvSpPr>
        <p:spPr>
          <a:xfrm>
            <a:off x="5650992" y="2011680"/>
            <a:ext cx="3035808" cy="13258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3" name="Text 11"/>
          <p:cNvSpPr/>
          <p:nvPr/>
        </p:nvSpPr>
        <p:spPr>
          <a:xfrm>
            <a:off x="5779008" y="2084832"/>
            <a:ext cx="2779776" cy="457200"/>
          </a:xfrm>
          <a:prstGeom prst="rect">
            <a:avLst/>
          </a:prstGeom>
          <a:noFill/>
          <a:ln/>
        </p:spPr>
        <p:txBody>
          <a:bodyPr wrap="square" lIns="0" tIns="0" rIns="0" bIns="0" rtlCol="0" anchor="t"/>
          <a:lstStyle/>
          <a:p>
            <a:pPr algn="ctr" indent="0" marL="0">
              <a:buNone/>
            </a:pPr>
            <a:r>
              <a:rPr lang="en-US" sz="1900" b="1" dirty="0">
                <a:solidFill>
                  <a:srgbClr val="1B7F5B"/>
                </a:solidFill>
                <a:latin typeface="Cambria" pitchFamily="34" charset="0"/>
                <a:ea typeface="Cambria" pitchFamily="34" charset="-122"/>
                <a:cs typeface="Cambria" pitchFamily="34" charset="-120"/>
              </a:rPr>
              <a:t>same ranking</a:t>
            </a:r>
            <a:endParaRPr lang="en-US" sz="1900" dirty="0"/>
          </a:p>
        </p:txBody>
      </p:sp>
      <p:sp>
        <p:nvSpPr>
          <p:cNvPr id="14" name="Text 12"/>
          <p:cNvSpPr/>
          <p:nvPr/>
        </p:nvSpPr>
        <p:spPr>
          <a:xfrm>
            <a:off x="5779008" y="2560320"/>
            <a:ext cx="2779776" cy="704088"/>
          </a:xfrm>
          <a:prstGeom prst="rect">
            <a:avLst/>
          </a:prstGeom>
          <a:noFill/>
          <a:ln/>
        </p:spPr>
        <p:txBody>
          <a:bodyPr wrap="square" lIns="0" tIns="0" rIns="0" bIns="0" rtlCol="0" anchor="t"/>
          <a:lstStyle/>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Phi-4 listener ngoài họ Qwen</a:t>
            </a:r>
            <a:endParaRPr lang="en-US" sz="1150" dirty="0"/>
          </a:p>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Reference &gt; S1 &gt; Base &gt; generic</a:t>
            </a:r>
            <a:endParaRPr lang="en-US" sz="1150" dirty="0"/>
          </a:p>
        </p:txBody>
      </p:sp>
      <p:sp>
        <p:nvSpPr>
          <p:cNvPr id="15" name="Shape 13"/>
          <p:cNvSpPr/>
          <p:nvPr/>
        </p:nvSpPr>
        <p:spPr>
          <a:xfrm>
            <a:off x="457200" y="3749040"/>
            <a:ext cx="8229600" cy="123444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6" name="Text 14"/>
          <p:cNvSpPr/>
          <p:nvPr/>
        </p:nvSpPr>
        <p:spPr>
          <a:xfrm>
            <a:off x="640080" y="3913632"/>
            <a:ext cx="1828800" cy="27432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Năm luật điểm khác nhau</a:t>
            </a:r>
            <a:endParaRPr lang="en-US" sz="1350" dirty="0"/>
          </a:p>
        </p:txBody>
      </p:sp>
      <p:sp>
        <p:nvSpPr>
          <p:cNvPr id="17" name="Text 15"/>
          <p:cNvSpPr/>
          <p:nvPr/>
        </p:nvSpPr>
        <p:spPr>
          <a:xfrm>
            <a:off x="2377440" y="3794760"/>
            <a:ext cx="6126480" cy="731520"/>
          </a:xfrm>
          <a:prstGeom prst="rect">
            <a:avLst/>
          </a:prstGeom>
          <a:noFill/>
          <a:ln/>
        </p:spPr>
        <p:txBody>
          <a:bodyPr wrap="square" lIns="0" tIns="0" rIns="0" bIns="0" rtlCol="0" anchor="t"/>
          <a:lstStyle/>
          <a:p>
            <a:pPr algn="l" indent="0" marL="0">
              <a:lnSpc>
                <a:spcPct val="130000"/>
              </a:lnSpc>
              <a:buNone/>
            </a:pPr>
            <a:r>
              <a:rPr lang="en-US" sz="1280" dirty="0">
                <a:solidFill>
                  <a:srgbClr val="1A1A1A"/>
                </a:solidFill>
                <a:latin typeface="Cambria" pitchFamily="34" charset="0"/>
                <a:ea typeface="Cambria" pitchFamily="34" charset="-122"/>
                <a:cs typeface="Cambria" pitchFamily="34" charset="-120"/>
              </a:rPr>
              <a:t>Ceiling thay đổi 56,6 → 82,2%, nhưng S1 luôn hơn Base 9,5 → 13,0 pp. Điều này giúp tách “conclusion stability” khỏi “absolute score”.</a:t>
            </a:r>
            <a:endParaRPr lang="en-US" sz="1280" dirty="0"/>
          </a:p>
        </p:txBody>
      </p:sp>
      <p:sp>
        <p:nvSpPr>
          <p:cNvPr id="18" name="Text 16"/>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UI-Venus-Ground-7B; Phi-4 multimodal · Luận văn §5.9–§5.12</a:t>
            </a:r>
            <a:endParaRPr lang="en-US" sz="820" dirty="0"/>
          </a:p>
        </p:txBody>
      </p:sp>
      <p:sp>
        <p:nvSpPr>
          <p:cNvPr id="19" name="Shape 17"/>
          <p:cNvSpPr/>
          <p:nvPr/>
        </p:nvSpPr>
        <p:spPr>
          <a:xfrm>
            <a:off x="0" y="6620256"/>
            <a:ext cx="2743200" cy="237744"/>
          </a:xfrm>
          <a:prstGeom prst="rect">
            <a:avLst/>
          </a:prstGeom>
          <a:solidFill>
            <a:srgbClr val="191132"/>
          </a:solidFill>
          <a:ln/>
        </p:spPr>
      </p:sp>
      <p:sp>
        <p:nvSpPr>
          <p:cNvPr id="20" name="Shape 18"/>
          <p:cNvSpPr/>
          <p:nvPr/>
        </p:nvSpPr>
        <p:spPr>
          <a:xfrm>
            <a:off x="2743200" y="6620256"/>
            <a:ext cx="3383280" cy="237744"/>
          </a:xfrm>
          <a:prstGeom prst="rect">
            <a:avLst/>
          </a:prstGeom>
          <a:solidFill>
            <a:srgbClr val="25194B"/>
          </a:solidFill>
          <a:ln/>
        </p:spPr>
      </p:sp>
      <p:sp>
        <p:nvSpPr>
          <p:cNvPr id="21" name="Shape 19"/>
          <p:cNvSpPr/>
          <p:nvPr/>
        </p:nvSpPr>
        <p:spPr>
          <a:xfrm>
            <a:off x="6126480" y="6620256"/>
            <a:ext cx="1737360" cy="237744"/>
          </a:xfrm>
          <a:prstGeom prst="rect">
            <a:avLst/>
          </a:prstGeom>
          <a:solidFill>
            <a:srgbClr val="4F417A"/>
          </a:solidFill>
          <a:ln/>
        </p:spPr>
      </p:sp>
      <p:sp>
        <p:nvSpPr>
          <p:cNvPr id="22" name="Shape 20"/>
          <p:cNvSpPr/>
          <p:nvPr/>
        </p:nvSpPr>
        <p:spPr>
          <a:xfrm>
            <a:off x="7863840" y="6620256"/>
            <a:ext cx="1280160" cy="237744"/>
          </a:xfrm>
          <a:prstGeom prst="rect">
            <a:avLst/>
          </a:prstGeom>
          <a:solidFill>
            <a:srgbClr val="7A7099"/>
          </a:solidFill>
          <a:ln/>
        </p:spPr>
      </p:sp>
      <p:sp>
        <p:nvSpPr>
          <p:cNvPr id="23" name="Text 2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4" name="Text 2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5" name="Text 2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6" name="Text 2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17/21</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Các hướng thất bại giải thích vì sao phương pháp cuối tác động thẳng vào câu</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NEGATIVE RESULTS</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Sửa bước trung gian chưa đủ: tín hiệu tốt thường không truyền thành câu tốt.</a:t>
            </a:r>
            <a:endParaRPr lang="en-US" sz="2200" dirty="0"/>
          </a:p>
        </p:txBody>
      </p:sp>
      <p:sp>
        <p:nvSpPr>
          <p:cNvPr id="6" name="Shape 4"/>
          <p:cNvSpPr/>
          <p:nvPr/>
        </p:nvSpPr>
        <p:spPr>
          <a:xfrm>
            <a:off x="457200" y="1965960"/>
            <a:ext cx="7772400" cy="384048"/>
          </a:xfrm>
          <a:prstGeom prst="rect">
            <a:avLst/>
          </a:prstGeom>
          <a:solidFill>
            <a:srgbClr val="322164"/>
          </a:solidFill>
          <a:ln/>
        </p:spPr>
      </p:sp>
      <p:sp>
        <p:nvSpPr>
          <p:cNvPr id="7" name="Text 5"/>
          <p:cNvSpPr/>
          <p:nvPr/>
        </p:nvSpPr>
        <p:spPr>
          <a:xfrm>
            <a:off x="457200" y="1965960"/>
            <a:ext cx="292608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Hướng</a:t>
            </a:r>
            <a:endParaRPr lang="en-US" sz="1200" dirty="0"/>
          </a:p>
        </p:txBody>
      </p:sp>
      <p:sp>
        <p:nvSpPr>
          <p:cNvPr id="8" name="Text 6"/>
          <p:cNvSpPr/>
          <p:nvPr/>
        </p:nvSpPr>
        <p:spPr>
          <a:xfrm>
            <a:off x="3383280" y="1965960"/>
            <a:ext cx="114300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Exec.</a:t>
            </a:r>
            <a:endParaRPr lang="en-US" sz="1200" dirty="0"/>
          </a:p>
        </p:txBody>
      </p:sp>
      <p:sp>
        <p:nvSpPr>
          <p:cNvPr id="9" name="Text 7"/>
          <p:cNvSpPr/>
          <p:nvPr/>
        </p:nvSpPr>
        <p:spPr>
          <a:xfrm>
            <a:off x="4526280" y="1965960"/>
            <a:ext cx="370332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Điều rút ra</a:t>
            </a:r>
            <a:endParaRPr lang="en-US" sz="1200" dirty="0"/>
          </a:p>
        </p:txBody>
      </p:sp>
      <p:sp>
        <p:nvSpPr>
          <p:cNvPr id="10" name="Text 8"/>
          <p:cNvSpPr/>
          <p:nvPr/>
        </p:nvSpPr>
        <p:spPr>
          <a:xfrm>
            <a:off x="457200" y="2350008"/>
            <a:ext cx="2926080" cy="512064"/>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S2: mô tả phần tử trước câu</a:t>
            </a:r>
            <a:endParaRPr lang="en-US" sz="1170" dirty="0"/>
          </a:p>
        </p:txBody>
      </p:sp>
      <p:sp>
        <p:nvSpPr>
          <p:cNvPr id="11" name="Text 9"/>
          <p:cNvSpPr/>
          <p:nvPr/>
        </p:nvSpPr>
        <p:spPr>
          <a:xfrm>
            <a:off x="3383280" y="2350008"/>
            <a:ext cx="1143000" cy="512064"/>
          </a:xfrm>
          <a:prstGeom prst="rect">
            <a:avLst/>
          </a:prstGeom>
          <a:noFill/>
          <a:ln/>
        </p:spPr>
        <p:txBody>
          <a:bodyPr wrap="square" lIns="38100" tIns="38100" rIns="38100" bIns="38100" rtlCol="0" anchor="ctr"/>
          <a:lstStyle/>
          <a:p>
            <a:pPr algn="ctr" indent="0" marL="0">
              <a:buNone/>
            </a:pPr>
            <a:r>
              <a:rPr lang="en-US" sz="1170" b="1" dirty="0">
                <a:solidFill>
                  <a:srgbClr val="1A1A1A"/>
                </a:solidFill>
                <a:latin typeface="Cambria" pitchFamily="34" charset="0"/>
                <a:ea typeface="Cambria" pitchFamily="34" charset="-122"/>
                <a:cs typeface="Cambria" pitchFamily="34" charset="-120"/>
              </a:rPr>
              <a:t>57,2%</a:t>
            </a:r>
            <a:endParaRPr lang="en-US" sz="1170" dirty="0"/>
          </a:p>
        </p:txBody>
      </p:sp>
      <p:sp>
        <p:nvSpPr>
          <p:cNvPr id="12" name="Text 10"/>
          <p:cNvSpPr/>
          <p:nvPr/>
        </p:nvSpPr>
        <p:spPr>
          <a:xfrm>
            <a:off x="4526280" y="2350008"/>
            <a:ext cx="3703320" cy="512064"/>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trỏ đúng → câu tốt; trỏ sai → câu tệ</a:t>
            </a:r>
            <a:endParaRPr lang="en-US" sz="1170" dirty="0"/>
          </a:p>
        </p:txBody>
      </p:sp>
      <p:sp>
        <p:nvSpPr>
          <p:cNvPr id="13" name="Shape 11"/>
          <p:cNvSpPr/>
          <p:nvPr/>
        </p:nvSpPr>
        <p:spPr>
          <a:xfrm>
            <a:off x="457200" y="2862072"/>
            <a:ext cx="7772400" cy="0"/>
          </a:xfrm>
          <a:prstGeom prst="line">
            <a:avLst/>
          </a:prstGeom>
          <a:noFill/>
          <a:ln w="12700">
            <a:solidFill>
              <a:srgbClr val="9A94AE"/>
            </a:solidFill>
            <a:prstDash val="solid"/>
            <a:tailEnd type="none"/>
          </a:ln>
        </p:spPr>
      </p:sp>
      <p:sp>
        <p:nvSpPr>
          <p:cNvPr id="14" name="Text 12"/>
          <p:cNvSpPr/>
          <p:nvPr/>
        </p:nvSpPr>
        <p:spPr>
          <a:xfrm>
            <a:off x="457200" y="2862072"/>
            <a:ext cx="2926080" cy="512064"/>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MIN-DESC</a:t>
            </a:r>
            <a:endParaRPr lang="en-US" sz="1170" dirty="0"/>
          </a:p>
        </p:txBody>
      </p:sp>
      <p:sp>
        <p:nvSpPr>
          <p:cNvPr id="15" name="Text 13"/>
          <p:cNvSpPr/>
          <p:nvPr/>
        </p:nvSpPr>
        <p:spPr>
          <a:xfrm>
            <a:off x="3383280" y="2862072"/>
            <a:ext cx="1143000" cy="512064"/>
          </a:xfrm>
          <a:prstGeom prst="rect">
            <a:avLst/>
          </a:prstGeom>
          <a:noFill/>
          <a:ln/>
        </p:spPr>
        <p:txBody>
          <a:bodyPr wrap="square" lIns="38100" tIns="38100" rIns="38100" bIns="38100" rtlCol="0" anchor="ctr"/>
          <a:lstStyle/>
          <a:p>
            <a:pPr algn="ctr" indent="0" marL="0">
              <a:buNone/>
            </a:pPr>
            <a:r>
              <a:rPr lang="en-US" sz="1170" b="1" dirty="0">
                <a:solidFill>
                  <a:srgbClr val="1A1A1A"/>
                </a:solidFill>
                <a:latin typeface="Cambria" pitchFamily="34" charset="0"/>
                <a:ea typeface="Cambria" pitchFamily="34" charset="-122"/>
                <a:cs typeface="Cambria" pitchFamily="34" charset="-120"/>
              </a:rPr>
              <a:t>60,0%</a:t>
            </a:r>
            <a:endParaRPr lang="en-US" sz="1170" dirty="0"/>
          </a:p>
        </p:txBody>
      </p:sp>
      <p:sp>
        <p:nvSpPr>
          <p:cNvPr id="16" name="Text 14"/>
          <p:cNvSpPr/>
          <p:nvPr/>
        </p:nvSpPr>
        <p:spPr>
          <a:xfrm>
            <a:off x="4526280" y="2862072"/>
            <a:ext cx="3703320" cy="512064"/>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78% mức tăng đến từ học thêm giám sát</a:t>
            </a:r>
            <a:endParaRPr lang="en-US" sz="1170" dirty="0"/>
          </a:p>
        </p:txBody>
      </p:sp>
      <p:sp>
        <p:nvSpPr>
          <p:cNvPr id="17" name="Shape 15"/>
          <p:cNvSpPr/>
          <p:nvPr/>
        </p:nvSpPr>
        <p:spPr>
          <a:xfrm>
            <a:off x="457200" y="3374136"/>
            <a:ext cx="7772400" cy="0"/>
          </a:xfrm>
          <a:prstGeom prst="line">
            <a:avLst/>
          </a:prstGeom>
          <a:noFill/>
          <a:ln w="12700">
            <a:solidFill>
              <a:srgbClr val="9A94AE"/>
            </a:solidFill>
            <a:prstDash val="solid"/>
            <a:tailEnd type="none"/>
          </a:ln>
        </p:spPr>
      </p:sp>
      <p:sp>
        <p:nvSpPr>
          <p:cNvPr id="18" name="Text 16"/>
          <p:cNvSpPr/>
          <p:nvPr/>
        </p:nvSpPr>
        <p:spPr>
          <a:xfrm>
            <a:off x="457200" y="3374136"/>
            <a:ext cx="2926080" cy="512064"/>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Reward tọa độ</a:t>
            </a:r>
            <a:endParaRPr lang="en-US" sz="1170" dirty="0"/>
          </a:p>
        </p:txBody>
      </p:sp>
      <p:sp>
        <p:nvSpPr>
          <p:cNvPr id="19" name="Text 17"/>
          <p:cNvSpPr/>
          <p:nvPr/>
        </p:nvSpPr>
        <p:spPr>
          <a:xfrm>
            <a:off x="3383280" y="3374136"/>
            <a:ext cx="1143000" cy="512064"/>
          </a:xfrm>
          <a:prstGeom prst="rect">
            <a:avLst/>
          </a:prstGeom>
          <a:noFill/>
          <a:ln/>
        </p:spPr>
        <p:txBody>
          <a:bodyPr wrap="square" lIns="38100" tIns="38100" rIns="38100" bIns="38100" rtlCol="0" anchor="ctr"/>
          <a:lstStyle/>
          <a:p>
            <a:pPr algn="ctr" indent="0" marL="0">
              <a:buNone/>
            </a:pPr>
            <a:r>
              <a:rPr lang="en-US" sz="1170" b="1" dirty="0">
                <a:solidFill>
                  <a:srgbClr val="006666"/>
                </a:solidFill>
                <a:latin typeface="Cambria" pitchFamily="34" charset="0"/>
                <a:ea typeface="Cambria" pitchFamily="34" charset="-122"/>
                <a:cs typeface="Cambria" pitchFamily="34" charset="-120"/>
              </a:rPr>
              <a:t>60,1%</a:t>
            </a:r>
            <a:endParaRPr lang="en-US" sz="1170" dirty="0"/>
          </a:p>
        </p:txBody>
      </p:sp>
      <p:sp>
        <p:nvSpPr>
          <p:cNvPr id="20" name="Text 18"/>
          <p:cNvSpPr/>
          <p:nvPr/>
        </p:nvSpPr>
        <p:spPr>
          <a:xfrm>
            <a:off x="4526280" y="3374136"/>
            <a:ext cx="3703320" cy="512064"/>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tọa độ tốt hơn, câu gần như không đổi</a:t>
            </a:r>
            <a:endParaRPr lang="en-US" sz="1170" dirty="0"/>
          </a:p>
        </p:txBody>
      </p:sp>
      <p:sp>
        <p:nvSpPr>
          <p:cNvPr id="21" name="Shape 19"/>
          <p:cNvSpPr/>
          <p:nvPr/>
        </p:nvSpPr>
        <p:spPr>
          <a:xfrm>
            <a:off x="457200" y="3886200"/>
            <a:ext cx="7772400" cy="0"/>
          </a:xfrm>
          <a:prstGeom prst="line">
            <a:avLst/>
          </a:prstGeom>
          <a:noFill/>
          <a:ln w="12700">
            <a:solidFill>
              <a:srgbClr val="9A94AE"/>
            </a:solidFill>
            <a:prstDash val="solid"/>
            <a:tailEnd type="none"/>
          </a:ln>
        </p:spPr>
      </p:sp>
      <p:sp>
        <p:nvSpPr>
          <p:cNvPr id="22" name="Text 20"/>
          <p:cNvSpPr/>
          <p:nvPr/>
        </p:nvSpPr>
        <p:spPr>
          <a:xfrm>
            <a:off x="457200" y="3886200"/>
            <a:ext cx="2926080" cy="512064"/>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Candidate selection</a:t>
            </a:r>
            <a:endParaRPr lang="en-US" sz="1170" dirty="0"/>
          </a:p>
        </p:txBody>
      </p:sp>
      <p:sp>
        <p:nvSpPr>
          <p:cNvPr id="23" name="Text 21"/>
          <p:cNvSpPr/>
          <p:nvPr/>
        </p:nvSpPr>
        <p:spPr>
          <a:xfrm>
            <a:off x="3383280" y="3886200"/>
            <a:ext cx="1143000" cy="512064"/>
          </a:xfrm>
          <a:prstGeom prst="rect">
            <a:avLst/>
          </a:prstGeom>
          <a:noFill/>
          <a:ln/>
        </p:spPr>
        <p:txBody>
          <a:bodyPr wrap="square" lIns="38100" tIns="38100" rIns="38100" bIns="38100" rtlCol="0" anchor="ctr"/>
          <a:lstStyle/>
          <a:p>
            <a:pPr algn="ctr" indent="0" marL="0">
              <a:buNone/>
            </a:pPr>
            <a:r>
              <a:rPr lang="en-US" sz="1170" b="1" dirty="0">
                <a:solidFill>
                  <a:srgbClr val="1A1A1A"/>
                </a:solidFill>
                <a:latin typeface="Cambria" pitchFamily="34" charset="0"/>
                <a:ea typeface="Cambria" pitchFamily="34" charset="-122"/>
                <a:cs typeface="Cambria" pitchFamily="34" charset="-120"/>
              </a:rPr>
              <a:t>56,1%</a:t>
            </a:r>
            <a:endParaRPr lang="en-US" sz="1170" dirty="0"/>
          </a:p>
        </p:txBody>
      </p:sp>
      <p:sp>
        <p:nvSpPr>
          <p:cNvPr id="24" name="Text 22"/>
          <p:cNvSpPr/>
          <p:nvPr/>
        </p:nvSpPr>
        <p:spPr>
          <a:xfrm>
            <a:off x="4526280" y="3886200"/>
            <a:ext cx="3703320" cy="512064"/>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khi chọn thì tốt, nhưng từ chối quá nhiều</a:t>
            </a:r>
            <a:endParaRPr lang="en-US" sz="1170" dirty="0"/>
          </a:p>
        </p:txBody>
      </p:sp>
      <p:sp>
        <p:nvSpPr>
          <p:cNvPr id="25" name="Shape 23"/>
          <p:cNvSpPr/>
          <p:nvPr/>
        </p:nvSpPr>
        <p:spPr>
          <a:xfrm>
            <a:off x="457200" y="4398264"/>
            <a:ext cx="7772400" cy="0"/>
          </a:xfrm>
          <a:prstGeom prst="line">
            <a:avLst/>
          </a:prstGeom>
          <a:noFill/>
          <a:ln w="12700">
            <a:solidFill>
              <a:srgbClr val="9A94AE"/>
            </a:solidFill>
            <a:prstDash val="solid"/>
            <a:tailEnd type="none"/>
          </a:ln>
        </p:spPr>
      </p:sp>
      <p:sp>
        <p:nvSpPr>
          <p:cNvPr id="26" name="Text 24"/>
          <p:cNvSpPr/>
          <p:nvPr/>
        </p:nvSpPr>
        <p:spPr>
          <a:xfrm>
            <a:off x="457200" y="4398264"/>
            <a:ext cx="2926080" cy="512064"/>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TAGE crop editor</a:t>
            </a:r>
            <a:endParaRPr lang="en-US" sz="1170" dirty="0"/>
          </a:p>
        </p:txBody>
      </p:sp>
      <p:sp>
        <p:nvSpPr>
          <p:cNvPr id="27" name="Text 25"/>
          <p:cNvSpPr/>
          <p:nvPr/>
        </p:nvSpPr>
        <p:spPr>
          <a:xfrm>
            <a:off x="3383280" y="4398264"/>
            <a:ext cx="1143000" cy="512064"/>
          </a:xfrm>
          <a:prstGeom prst="rect">
            <a:avLst/>
          </a:prstGeom>
          <a:noFill/>
          <a:ln/>
        </p:spPr>
        <p:txBody>
          <a:bodyPr wrap="square" lIns="38100" tIns="38100" rIns="38100" bIns="38100" rtlCol="0" anchor="ctr"/>
          <a:lstStyle/>
          <a:p>
            <a:pPr algn="ctr" indent="0" marL="0">
              <a:buNone/>
            </a:pPr>
            <a:r>
              <a:rPr lang="en-US" sz="1170" b="1" dirty="0">
                <a:solidFill>
                  <a:srgbClr val="1A1A1A"/>
                </a:solidFill>
                <a:latin typeface="Cambria" pitchFamily="34" charset="0"/>
                <a:ea typeface="Cambria" pitchFamily="34" charset="-122"/>
                <a:cs typeface="Cambria" pitchFamily="34" charset="-120"/>
              </a:rPr>
              <a:t>60,2%</a:t>
            </a:r>
            <a:endParaRPr lang="en-US" sz="1170" dirty="0"/>
          </a:p>
        </p:txBody>
      </p:sp>
      <p:sp>
        <p:nvSpPr>
          <p:cNvPr id="28" name="Text 26"/>
          <p:cNvSpPr/>
          <p:nvPr/>
        </p:nvSpPr>
        <p:spPr>
          <a:xfrm>
            <a:off x="4526280" y="4398264"/>
            <a:ext cx="3703320" cy="512064"/>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thấp hơn draft 0,43 pp</a:t>
            </a:r>
            <a:endParaRPr lang="en-US" sz="1170" dirty="0"/>
          </a:p>
        </p:txBody>
      </p:sp>
      <p:sp>
        <p:nvSpPr>
          <p:cNvPr id="29" name="Shape 27"/>
          <p:cNvSpPr/>
          <p:nvPr/>
        </p:nvSpPr>
        <p:spPr>
          <a:xfrm>
            <a:off x="457200" y="5074920"/>
            <a:ext cx="8229600" cy="685800"/>
          </a:xfrm>
          <a:prstGeom prst="roundRect">
            <a:avLst/>
          </a:prstGeom>
          <a:solidFill>
            <a:srgbClr val="EEEAF6"/>
          </a:solidFill>
          <a:ln/>
          <a:effectLst>
            <a:outerShdw sx="100000" sy="100000" kx="0" ky="0" algn="bl" rotWithShape="0" blurRad="63500" dist="31750" dir="2700000">
              <a:srgbClr val="8C8C99">
                <a:alpha val="35000"/>
              </a:srgbClr>
            </a:outerShdw>
          </a:effectLst>
        </p:spPr>
      </p:sp>
      <p:sp>
        <p:nvSpPr>
          <p:cNvPr id="30" name="Text 28"/>
          <p:cNvSpPr/>
          <p:nvPr/>
        </p:nvSpPr>
        <p:spPr>
          <a:xfrm>
            <a:off x="640080" y="5074920"/>
            <a:ext cx="7863840" cy="685800"/>
          </a:xfrm>
          <a:prstGeom prst="rect">
            <a:avLst/>
          </a:prstGeom>
          <a:noFill/>
          <a:ln/>
        </p:spPr>
        <p:txBody>
          <a:bodyPr wrap="square" lIns="0" tIns="0" rIns="0" bIns="0" rtlCol="0" anchor="ctr"/>
          <a:lstStyle/>
          <a:p>
            <a:pPr algn="ctr" indent="0" marL="0">
              <a:buNone/>
            </a:pPr>
            <a:r>
              <a:rPr lang="en-US" sz="1350" b="1" dirty="0">
                <a:solidFill>
                  <a:srgbClr val="322164"/>
                </a:solidFill>
                <a:latin typeface="Cambria" pitchFamily="34" charset="0"/>
                <a:ea typeface="Cambria" pitchFamily="34" charset="-122"/>
                <a:cs typeface="Cambria" pitchFamily="34" charset="-120"/>
              </a:rPr>
              <a:t>Design pivot: đặt reward trực tiếp lên câu + chỉ tái sử dụng exemplar khi consensus an toàn.</a:t>
            </a:r>
            <a:endParaRPr lang="en-US" sz="1350" dirty="0"/>
          </a:p>
        </p:txBody>
      </p:sp>
      <p:sp>
        <p:nvSpPr>
          <p:cNvPr id="31" name="Text 29"/>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Luận văn §6.10 + Appendix A</a:t>
            </a:r>
            <a:endParaRPr lang="en-US" sz="820" dirty="0"/>
          </a:p>
        </p:txBody>
      </p:sp>
      <p:sp>
        <p:nvSpPr>
          <p:cNvPr id="32" name="Shape 30"/>
          <p:cNvSpPr/>
          <p:nvPr/>
        </p:nvSpPr>
        <p:spPr>
          <a:xfrm>
            <a:off x="0" y="6620256"/>
            <a:ext cx="2743200" cy="237744"/>
          </a:xfrm>
          <a:prstGeom prst="rect">
            <a:avLst/>
          </a:prstGeom>
          <a:solidFill>
            <a:srgbClr val="191132"/>
          </a:solidFill>
          <a:ln/>
        </p:spPr>
      </p:sp>
      <p:sp>
        <p:nvSpPr>
          <p:cNvPr id="33" name="Shape 31"/>
          <p:cNvSpPr/>
          <p:nvPr/>
        </p:nvSpPr>
        <p:spPr>
          <a:xfrm>
            <a:off x="2743200" y="6620256"/>
            <a:ext cx="3383280" cy="237744"/>
          </a:xfrm>
          <a:prstGeom prst="rect">
            <a:avLst/>
          </a:prstGeom>
          <a:solidFill>
            <a:srgbClr val="25194B"/>
          </a:solidFill>
          <a:ln/>
        </p:spPr>
      </p:sp>
      <p:sp>
        <p:nvSpPr>
          <p:cNvPr id="34" name="Shape 32"/>
          <p:cNvSpPr/>
          <p:nvPr/>
        </p:nvSpPr>
        <p:spPr>
          <a:xfrm>
            <a:off x="6126480" y="6620256"/>
            <a:ext cx="1737360" cy="237744"/>
          </a:xfrm>
          <a:prstGeom prst="rect">
            <a:avLst/>
          </a:prstGeom>
          <a:solidFill>
            <a:srgbClr val="4F417A"/>
          </a:solidFill>
          <a:ln/>
        </p:spPr>
      </p:sp>
      <p:sp>
        <p:nvSpPr>
          <p:cNvPr id="35" name="Shape 33"/>
          <p:cNvSpPr/>
          <p:nvPr/>
        </p:nvSpPr>
        <p:spPr>
          <a:xfrm>
            <a:off x="7863840" y="6620256"/>
            <a:ext cx="1280160" cy="237744"/>
          </a:xfrm>
          <a:prstGeom prst="rect">
            <a:avLst/>
          </a:prstGeom>
          <a:solidFill>
            <a:srgbClr val="7A7099"/>
          </a:solidFill>
          <a:ln/>
        </p:spPr>
      </p:sp>
      <p:sp>
        <p:nvSpPr>
          <p:cNvPr id="36" name="Text 3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7" name="Text 3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8" name="Text 3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9" name="Text 3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18/21</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Kết quả có ý nghĩa, nhưng còn bốn giới hạn cần giữ nguyên khi kết luận</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LIMITATIONS</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Deck bảo vệ nên nói rõ giới hạn trước khi hội đồng phải hỏi.</a:t>
            </a:r>
            <a:endParaRPr lang="en-US" sz="2200" dirty="0"/>
          </a:p>
        </p:txBody>
      </p:sp>
      <p:sp>
        <p:nvSpPr>
          <p:cNvPr id="6" name="Shape 4"/>
          <p:cNvSpPr/>
          <p:nvPr/>
        </p:nvSpPr>
        <p:spPr>
          <a:xfrm>
            <a:off x="457200" y="1920240"/>
            <a:ext cx="4069080" cy="1298448"/>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7" name="Shape 5"/>
          <p:cNvSpPr/>
          <p:nvPr/>
        </p:nvSpPr>
        <p:spPr>
          <a:xfrm>
            <a:off x="603504" y="2066544"/>
            <a:ext cx="384048" cy="256032"/>
          </a:xfrm>
          <a:prstGeom prst="roundRect">
            <a:avLst/>
          </a:prstGeom>
          <a:solidFill>
            <a:srgbClr val="006666"/>
          </a:solidFill>
          <a:ln/>
        </p:spPr>
      </p:sp>
      <p:sp>
        <p:nvSpPr>
          <p:cNvPr id="8" name="Text 6"/>
          <p:cNvSpPr/>
          <p:nvPr/>
        </p:nvSpPr>
        <p:spPr>
          <a:xfrm>
            <a:off x="603504" y="2066544"/>
            <a:ext cx="3840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1</a:t>
            </a:r>
            <a:endParaRPr lang="en-US" sz="900" dirty="0"/>
          </a:p>
        </p:txBody>
      </p:sp>
      <p:sp>
        <p:nvSpPr>
          <p:cNvPr id="9" name="Text 7"/>
          <p:cNvSpPr/>
          <p:nvPr/>
        </p:nvSpPr>
        <p:spPr>
          <a:xfrm>
            <a:off x="1097280" y="2048256"/>
            <a:ext cx="3154680" cy="274320"/>
          </a:xfrm>
          <a:prstGeom prst="rect">
            <a:avLst/>
          </a:prstGeom>
          <a:noFill/>
          <a:ln/>
        </p:spPr>
        <p:txBody>
          <a:bodyPr wrap="square" lIns="0" tIns="0" rIns="0" bIns="0" rtlCol="0" anchor="t"/>
          <a:lstStyle/>
          <a:p>
            <a:pPr algn="l" indent="0" marL="0">
              <a:buNone/>
            </a:pPr>
            <a:r>
              <a:rPr lang="en-US" sz="1320" b="1" dirty="0">
                <a:solidFill>
                  <a:srgbClr val="322164"/>
                </a:solidFill>
                <a:latin typeface="Cambria" pitchFamily="34" charset="0"/>
                <a:ea typeface="Cambria" pitchFamily="34" charset="-122"/>
                <a:cs typeface="Cambria" pitchFamily="34" charset="-120"/>
              </a:rPr>
              <a:t>RL control</a:t>
            </a:r>
            <a:endParaRPr lang="en-US" sz="1320" dirty="0"/>
          </a:p>
        </p:txBody>
      </p:sp>
      <p:sp>
        <p:nvSpPr>
          <p:cNvPr id="10" name="Text 8"/>
          <p:cNvSpPr/>
          <p:nvPr/>
        </p:nvSpPr>
        <p:spPr>
          <a:xfrm>
            <a:off x="621792" y="2450592"/>
            <a:ext cx="3703320" cy="658368"/>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Chưa có đối chứng “học giám sát thêm cùng số bước” để tách reward khỏi việc học thêm.</a:t>
            </a:r>
            <a:endParaRPr lang="en-US" sz="1150" dirty="0"/>
          </a:p>
        </p:txBody>
      </p:sp>
      <p:sp>
        <p:nvSpPr>
          <p:cNvPr id="11" name="Shape 9"/>
          <p:cNvSpPr/>
          <p:nvPr/>
        </p:nvSpPr>
        <p:spPr>
          <a:xfrm>
            <a:off x="4617720" y="1920240"/>
            <a:ext cx="4069080" cy="1298448"/>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2" name="Shape 10"/>
          <p:cNvSpPr/>
          <p:nvPr/>
        </p:nvSpPr>
        <p:spPr>
          <a:xfrm>
            <a:off x="4764024" y="2066544"/>
            <a:ext cx="384048" cy="256032"/>
          </a:xfrm>
          <a:prstGeom prst="roundRect">
            <a:avLst/>
          </a:prstGeom>
          <a:solidFill>
            <a:srgbClr val="006666"/>
          </a:solidFill>
          <a:ln/>
        </p:spPr>
      </p:sp>
      <p:sp>
        <p:nvSpPr>
          <p:cNvPr id="13" name="Text 11"/>
          <p:cNvSpPr/>
          <p:nvPr/>
        </p:nvSpPr>
        <p:spPr>
          <a:xfrm>
            <a:off x="4764024" y="2066544"/>
            <a:ext cx="3840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2</a:t>
            </a:r>
            <a:endParaRPr lang="en-US" sz="900" dirty="0"/>
          </a:p>
        </p:txBody>
      </p:sp>
      <p:sp>
        <p:nvSpPr>
          <p:cNvPr id="14" name="Text 12"/>
          <p:cNvSpPr/>
          <p:nvPr/>
        </p:nvSpPr>
        <p:spPr>
          <a:xfrm>
            <a:off x="5257800" y="2048256"/>
            <a:ext cx="3154680" cy="274320"/>
          </a:xfrm>
          <a:prstGeom prst="rect">
            <a:avLst/>
          </a:prstGeom>
          <a:noFill/>
          <a:ln/>
        </p:spPr>
        <p:txBody>
          <a:bodyPr wrap="square" lIns="0" tIns="0" rIns="0" bIns="0" rtlCol="0" anchor="t"/>
          <a:lstStyle/>
          <a:p>
            <a:pPr algn="l" indent="0" marL="0">
              <a:buNone/>
            </a:pPr>
            <a:r>
              <a:rPr lang="en-US" sz="1320" b="1" dirty="0">
                <a:solidFill>
                  <a:srgbClr val="322164"/>
                </a:solidFill>
                <a:latin typeface="Cambria" pitchFamily="34" charset="0"/>
                <a:ea typeface="Cambria" pitchFamily="34" charset="-122"/>
                <a:cs typeface="Cambria" pitchFamily="34" charset="-120"/>
              </a:rPr>
              <a:t>ACE attribution</a:t>
            </a:r>
            <a:endParaRPr lang="en-US" sz="1320" dirty="0"/>
          </a:p>
        </p:txBody>
      </p:sp>
      <p:sp>
        <p:nvSpPr>
          <p:cNvPr id="15" name="Text 13"/>
          <p:cNvSpPr/>
          <p:nvPr/>
        </p:nvSpPr>
        <p:spPr>
          <a:xfrm>
            <a:off x="4782312" y="2450592"/>
            <a:ext cx="3703320" cy="658368"/>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Chưa tách riêng lợi ích của retrieval; text-metric deltas nhỏ chưa có CI.</a:t>
            </a:r>
            <a:endParaRPr lang="en-US" sz="1150" dirty="0"/>
          </a:p>
        </p:txBody>
      </p:sp>
      <p:sp>
        <p:nvSpPr>
          <p:cNvPr id="16" name="Shape 14"/>
          <p:cNvSpPr/>
          <p:nvPr/>
        </p:nvSpPr>
        <p:spPr>
          <a:xfrm>
            <a:off x="457200" y="3429000"/>
            <a:ext cx="4069080" cy="1298448"/>
          </a:xfrm>
          <a:prstGeom prst="roundRect">
            <a:avLst/>
          </a:prstGeom>
          <a:solidFill>
            <a:srgbClr val="F6E7E7"/>
          </a:solidFill>
          <a:ln/>
          <a:effectLst>
            <a:outerShdw sx="100000" sy="100000" kx="0" ky="0" algn="bl" rotWithShape="0" blurRad="63500" dist="31750" dir="2700000">
              <a:srgbClr val="8C8C99">
                <a:alpha val="35000"/>
              </a:srgbClr>
            </a:outerShdw>
          </a:effectLst>
        </p:spPr>
      </p:sp>
      <p:sp>
        <p:nvSpPr>
          <p:cNvPr id="17" name="Shape 15"/>
          <p:cNvSpPr/>
          <p:nvPr/>
        </p:nvSpPr>
        <p:spPr>
          <a:xfrm>
            <a:off x="603504" y="3575304"/>
            <a:ext cx="384048" cy="256032"/>
          </a:xfrm>
          <a:prstGeom prst="roundRect">
            <a:avLst/>
          </a:prstGeom>
          <a:solidFill>
            <a:srgbClr val="B22222"/>
          </a:solidFill>
          <a:ln/>
        </p:spPr>
      </p:sp>
      <p:sp>
        <p:nvSpPr>
          <p:cNvPr id="18" name="Text 16"/>
          <p:cNvSpPr/>
          <p:nvPr/>
        </p:nvSpPr>
        <p:spPr>
          <a:xfrm>
            <a:off x="603504" y="3575304"/>
            <a:ext cx="3840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3</a:t>
            </a:r>
            <a:endParaRPr lang="en-US" sz="900" dirty="0"/>
          </a:p>
        </p:txBody>
      </p:sp>
      <p:sp>
        <p:nvSpPr>
          <p:cNvPr id="19" name="Text 17"/>
          <p:cNvSpPr/>
          <p:nvPr/>
        </p:nvSpPr>
        <p:spPr>
          <a:xfrm>
            <a:off x="1097280" y="3557016"/>
            <a:ext cx="3154680" cy="274320"/>
          </a:xfrm>
          <a:prstGeom prst="rect">
            <a:avLst/>
          </a:prstGeom>
          <a:noFill/>
          <a:ln/>
        </p:spPr>
        <p:txBody>
          <a:bodyPr wrap="square" lIns="0" tIns="0" rIns="0" bIns="0" rtlCol="0" anchor="t"/>
          <a:lstStyle/>
          <a:p>
            <a:pPr algn="l" indent="0" marL="0">
              <a:buNone/>
            </a:pPr>
            <a:r>
              <a:rPr lang="en-US" sz="1320" b="1" dirty="0">
                <a:solidFill>
                  <a:srgbClr val="322164"/>
                </a:solidFill>
                <a:latin typeface="Cambria" pitchFamily="34" charset="0"/>
                <a:ea typeface="Cambria" pitchFamily="34" charset="-122"/>
                <a:cs typeface="Cambria" pitchFamily="34" charset="-120"/>
              </a:rPr>
              <a:t>Metric ≠ human</a:t>
            </a:r>
            <a:endParaRPr lang="en-US" sz="1320" dirty="0"/>
          </a:p>
        </p:txBody>
      </p:sp>
      <p:sp>
        <p:nvSpPr>
          <p:cNvPr id="20" name="Text 18"/>
          <p:cNvSpPr/>
          <p:nvPr/>
        </p:nvSpPr>
        <p:spPr>
          <a:xfrm>
            <a:off x="621792" y="3959352"/>
            <a:ext cx="3703320" cy="658368"/>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Executability đo listener model; chưa có đánh giá tay 100 câu để nối metric với người thật.</a:t>
            </a:r>
            <a:endParaRPr lang="en-US" sz="1150" dirty="0"/>
          </a:p>
        </p:txBody>
      </p:sp>
      <p:sp>
        <p:nvSpPr>
          <p:cNvPr id="21" name="Shape 19"/>
          <p:cNvSpPr/>
          <p:nvPr/>
        </p:nvSpPr>
        <p:spPr>
          <a:xfrm>
            <a:off x="4617720" y="3429000"/>
            <a:ext cx="4069080" cy="1298448"/>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22" name="Shape 20"/>
          <p:cNvSpPr/>
          <p:nvPr/>
        </p:nvSpPr>
        <p:spPr>
          <a:xfrm>
            <a:off x="4764024" y="3575304"/>
            <a:ext cx="384048" cy="256032"/>
          </a:xfrm>
          <a:prstGeom prst="roundRect">
            <a:avLst/>
          </a:prstGeom>
          <a:solidFill>
            <a:srgbClr val="006666"/>
          </a:solidFill>
          <a:ln/>
        </p:spPr>
      </p:sp>
      <p:sp>
        <p:nvSpPr>
          <p:cNvPr id="23" name="Text 21"/>
          <p:cNvSpPr/>
          <p:nvPr/>
        </p:nvSpPr>
        <p:spPr>
          <a:xfrm>
            <a:off x="4764024" y="3575304"/>
            <a:ext cx="3840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4</a:t>
            </a:r>
            <a:endParaRPr lang="en-US" sz="900" dirty="0"/>
          </a:p>
        </p:txBody>
      </p:sp>
      <p:sp>
        <p:nvSpPr>
          <p:cNvPr id="24" name="Text 22"/>
          <p:cNvSpPr/>
          <p:nvPr/>
        </p:nvSpPr>
        <p:spPr>
          <a:xfrm>
            <a:off x="5257800" y="3557016"/>
            <a:ext cx="3154680" cy="274320"/>
          </a:xfrm>
          <a:prstGeom prst="rect">
            <a:avLst/>
          </a:prstGeom>
          <a:noFill/>
          <a:ln/>
        </p:spPr>
        <p:txBody>
          <a:bodyPr wrap="square" lIns="0" tIns="0" rIns="0" bIns="0" rtlCol="0" anchor="t"/>
          <a:lstStyle/>
          <a:p>
            <a:pPr algn="l" indent="0" marL="0">
              <a:buNone/>
            </a:pPr>
            <a:r>
              <a:rPr lang="en-US" sz="1320" b="1" dirty="0">
                <a:solidFill>
                  <a:srgbClr val="322164"/>
                </a:solidFill>
                <a:latin typeface="Cambria" pitchFamily="34" charset="0"/>
                <a:ea typeface="Cambria" pitchFamily="34" charset="-122"/>
                <a:cs typeface="Cambria" pitchFamily="34" charset="-120"/>
              </a:rPr>
              <a:t>Scope</a:t>
            </a:r>
            <a:endParaRPr lang="en-US" sz="1320" dirty="0"/>
          </a:p>
        </p:txBody>
      </p:sp>
      <p:sp>
        <p:nvSpPr>
          <p:cNvPr id="25" name="Text 23"/>
          <p:cNvSpPr/>
          <p:nvPr/>
        </p:nvSpPr>
        <p:spPr>
          <a:xfrm>
            <a:off x="4782312" y="3959352"/>
            <a:ext cx="3703320" cy="658368"/>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Một dataset, UI tiếng Anh, một backbone 3B, single-screen; test không phải app-unseen.</a:t>
            </a:r>
            <a:endParaRPr lang="en-US" sz="1150" dirty="0"/>
          </a:p>
        </p:txBody>
      </p:sp>
      <p:sp>
        <p:nvSpPr>
          <p:cNvPr id="26" name="Text 24"/>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Luận văn §6.3.2, §6.4, §7.2</a:t>
            </a:r>
            <a:endParaRPr lang="en-US" sz="820" dirty="0"/>
          </a:p>
        </p:txBody>
      </p:sp>
      <p:sp>
        <p:nvSpPr>
          <p:cNvPr id="27" name="Shape 25"/>
          <p:cNvSpPr/>
          <p:nvPr/>
        </p:nvSpPr>
        <p:spPr>
          <a:xfrm>
            <a:off x="0" y="6620256"/>
            <a:ext cx="2743200" cy="237744"/>
          </a:xfrm>
          <a:prstGeom prst="rect">
            <a:avLst/>
          </a:prstGeom>
          <a:solidFill>
            <a:srgbClr val="191132"/>
          </a:solidFill>
          <a:ln/>
        </p:spPr>
      </p:sp>
      <p:sp>
        <p:nvSpPr>
          <p:cNvPr id="28" name="Shape 26"/>
          <p:cNvSpPr/>
          <p:nvPr/>
        </p:nvSpPr>
        <p:spPr>
          <a:xfrm>
            <a:off x="2743200" y="6620256"/>
            <a:ext cx="3383280" cy="237744"/>
          </a:xfrm>
          <a:prstGeom prst="rect">
            <a:avLst/>
          </a:prstGeom>
          <a:solidFill>
            <a:srgbClr val="25194B"/>
          </a:solidFill>
          <a:ln/>
        </p:spPr>
      </p:sp>
      <p:sp>
        <p:nvSpPr>
          <p:cNvPr id="29" name="Shape 27"/>
          <p:cNvSpPr/>
          <p:nvPr/>
        </p:nvSpPr>
        <p:spPr>
          <a:xfrm>
            <a:off x="6126480" y="6620256"/>
            <a:ext cx="1737360" cy="237744"/>
          </a:xfrm>
          <a:prstGeom prst="rect">
            <a:avLst/>
          </a:prstGeom>
          <a:solidFill>
            <a:srgbClr val="4F417A"/>
          </a:solidFill>
          <a:ln/>
        </p:spPr>
      </p:sp>
      <p:sp>
        <p:nvSpPr>
          <p:cNvPr id="30" name="Shape 28"/>
          <p:cNvSpPr/>
          <p:nvPr/>
        </p:nvSpPr>
        <p:spPr>
          <a:xfrm>
            <a:off x="7863840" y="6620256"/>
            <a:ext cx="1280160" cy="237744"/>
          </a:xfrm>
          <a:prstGeom prst="rect">
            <a:avLst/>
          </a:prstGeom>
          <a:solidFill>
            <a:srgbClr val="7A7099"/>
          </a:solidFill>
          <a:ln/>
        </p:spPr>
      </p:sp>
      <p:sp>
        <p:nvSpPr>
          <p:cNvPr id="31" name="Text 2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2" name="Text 3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3" name="Text 3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4" name="Text 3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19/21</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Kết luận: một cải thiện nhỏ nhưng có bằng chứng chặt và diễn giải rõ</a:t>
            </a:r>
            <a:endParaRPr lang="en-US" sz="1900" dirty="0"/>
          </a:p>
        </p:txBody>
      </p:sp>
      <p:sp>
        <p:nvSpPr>
          <p:cNvPr id="4" name="Text 2"/>
          <p:cNvSpPr/>
          <p:nvPr/>
        </p:nvSpPr>
        <p:spPr>
          <a:xfrm>
            <a:off x="457200" y="658368"/>
            <a:ext cx="2011680" cy="219456"/>
          </a:xfrm>
          <a:prstGeom prst="rect">
            <a:avLst/>
          </a:prstGeom>
          <a:noFill/>
          <a:ln/>
        </p:spPr>
        <p:txBody>
          <a:bodyPr wrap="square" lIns="0" tIns="0" rIns="0" bIns="0" rtlCol="0" anchor="t"/>
          <a:lstStyle/>
          <a:p>
            <a:pPr algn="l" indent="0" marL="0">
              <a:buNone/>
            </a:pPr>
            <a:r>
              <a:rPr lang="en-US" sz="950" b="1" dirty="0">
                <a:solidFill>
                  <a:srgbClr val="006666"/>
                </a:solidFill>
                <a:latin typeface="Cambria" pitchFamily="34" charset="0"/>
                <a:ea typeface="Cambria" pitchFamily="34" charset="-122"/>
                <a:cs typeface="Cambria" pitchFamily="34" charset="-120"/>
              </a:rPr>
              <a:t>CONCLUSION</a:t>
            </a:r>
            <a:endParaRPr lang="en-US" sz="950" dirty="0"/>
          </a:p>
        </p:txBody>
      </p:sp>
      <p:sp>
        <p:nvSpPr>
          <p:cNvPr id="5" name="Text 3"/>
          <p:cNvSpPr/>
          <p:nvPr/>
        </p:nvSpPr>
        <p:spPr>
          <a:xfrm>
            <a:off x="457200" y="841248"/>
            <a:ext cx="8229600" cy="658368"/>
          </a:xfrm>
          <a:prstGeom prst="rect">
            <a:avLst/>
          </a:prstGeom>
          <a:noFill/>
          <a:ln/>
        </p:spPr>
        <p:txBody>
          <a:bodyPr wrap="square" lIns="0" tIns="0" rIns="0" bIns="0" rtlCol="0" anchor="t"/>
          <a:lstStyle/>
          <a:p>
            <a:pPr algn="l" indent="0" marL="0">
              <a:lnSpc>
                <a:spcPct val="110000"/>
              </a:lnSpc>
              <a:buNone/>
            </a:pPr>
            <a:r>
              <a:rPr lang="en-US" sz="2200" b="1" dirty="0">
                <a:solidFill>
                  <a:srgbClr val="322164"/>
                </a:solidFill>
                <a:latin typeface="Cambria" pitchFamily="34" charset="0"/>
                <a:ea typeface="Cambria" pitchFamily="34" charset="-122"/>
                <a:cs typeface="Cambria" pitchFamily="34" charset="-120"/>
              </a:rPr>
              <a:t>Phương pháp cuối cải thiện S1 có ý nghĩa theo thước chặt nhất, và metric được kiểm độc lập trước khi dùng.</a:t>
            </a:r>
            <a:endParaRPr lang="en-US" sz="2200" dirty="0"/>
          </a:p>
        </p:txBody>
      </p:sp>
      <p:sp>
        <p:nvSpPr>
          <p:cNvPr id="6" name="Shape 4"/>
          <p:cNvSpPr/>
          <p:nvPr/>
        </p:nvSpPr>
        <p:spPr>
          <a:xfrm>
            <a:off x="457200" y="1965960"/>
            <a:ext cx="2514600" cy="13258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7" name="Text 5"/>
          <p:cNvSpPr/>
          <p:nvPr/>
        </p:nvSpPr>
        <p:spPr>
          <a:xfrm>
            <a:off x="585216" y="2039112"/>
            <a:ext cx="2258568" cy="457200"/>
          </a:xfrm>
          <a:prstGeom prst="rect">
            <a:avLst/>
          </a:prstGeom>
          <a:noFill/>
          <a:ln/>
        </p:spPr>
        <p:txBody>
          <a:bodyPr wrap="square" lIns="0" tIns="0" rIns="0" bIns="0" rtlCol="0" anchor="t"/>
          <a:lstStyle/>
          <a:p>
            <a:pPr algn="ctr" indent="0" marL="0">
              <a:buNone/>
            </a:pPr>
            <a:r>
              <a:rPr lang="en-US" sz="2300" b="1" dirty="0">
                <a:solidFill>
                  <a:srgbClr val="1B7F5B"/>
                </a:solidFill>
                <a:latin typeface="Cambria" pitchFamily="34" charset="0"/>
                <a:ea typeface="Cambria" pitchFamily="34" charset="-122"/>
                <a:cs typeface="Cambria" pitchFamily="34" charset="-120"/>
              </a:rPr>
              <a:t>60,7%</a:t>
            </a:r>
            <a:endParaRPr lang="en-US" sz="2300" dirty="0"/>
          </a:p>
        </p:txBody>
      </p:sp>
      <p:sp>
        <p:nvSpPr>
          <p:cNvPr id="8" name="Text 6"/>
          <p:cNvSpPr/>
          <p:nvPr/>
        </p:nvSpPr>
        <p:spPr>
          <a:xfrm>
            <a:off x="585216" y="2514600"/>
            <a:ext cx="2258568" cy="704088"/>
          </a:xfrm>
          <a:prstGeom prst="rect">
            <a:avLst/>
          </a:prstGeom>
          <a:noFill/>
          <a:ln/>
        </p:spPr>
        <p:txBody>
          <a:bodyPr wrap="square" lIns="0" tIns="0" rIns="0" bIns="0" rtlCol="0" anchor="t"/>
          <a:lstStyle/>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proposed executability</a:t>
            </a:r>
            <a:endParaRPr lang="en-US" sz="1150" dirty="0"/>
          </a:p>
        </p:txBody>
      </p:sp>
      <p:sp>
        <p:nvSpPr>
          <p:cNvPr id="9" name="Shape 7"/>
          <p:cNvSpPr/>
          <p:nvPr/>
        </p:nvSpPr>
        <p:spPr>
          <a:xfrm>
            <a:off x="3319272" y="1965960"/>
            <a:ext cx="2514600" cy="13258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0" name="Text 8"/>
          <p:cNvSpPr/>
          <p:nvPr/>
        </p:nvSpPr>
        <p:spPr>
          <a:xfrm>
            <a:off x="3447288" y="2039112"/>
            <a:ext cx="2258568" cy="457200"/>
          </a:xfrm>
          <a:prstGeom prst="rect">
            <a:avLst/>
          </a:prstGeom>
          <a:noFill/>
          <a:ln/>
        </p:spPr>
        <p:txBody>
          <a:bodyPr wrap="square" lIns="0" tIns="0" rIns="0" bIns="0" rtlCol="0" anchor="t"/>
          <a:lstStyle/>
          <a:p>
            <a:pPr algn="ctr" indent="0" marL="0">
              <a:buNone/>
            </a:pPr>
            <a:r>
              <a:rPr lang="en-US" sz="2300" b="1" dirty="0">
                <a:solidFill>
                  <a:srgbClr val="1B7F5B"/>
                </a:solidFill>
                <a:latin typeface="Cambria" pitchFamily="34" charset="0"/>
                <a:ea typeface="Cambria" pitchFamily="34" charset="-122"/>
                <a:cs typeface="Cambria" pitchFamily="34" charset="-120"/>
              </a:rPr>
              <a:t>+1,57 pp</a:t>
            </a:r>
            <a:endParaRPr lang="en-US" sz="2300" dirty="0"/>
          </a:p>
        </p:txBody>
      </p:sp>
      <p:sp>
        <p:nvSpPr>
          <p:cNvPr id="11" name="Text 9"/>
          <p:cNvSpPr/>
          <p:nvPr/>
        </p:nvSpPr>
        <p:spPr>
          <a:xfrm>
            <a:off x="3447288" y="2514600"/>
            <a:ext cx="2258568" cy="704088"/>
          </a:xfrm>
          <a:prstGeom prst="rect">
            <a:avLst/>
          </a:prstGeom>
          <a:noFill/>
          <a:ln/>
        </p:spPr>
        <p:txBody>
          <a:bodyPr wrap="square" lIns="0" tIns="0" rIns="0" bIns="0" rtlCol="0" anchor="t"/>
          <a:lstStyle/>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vs S1 · CI [+0,86; +2,31]</a:t>
            </a:r>
            <a:endParaRPr lang="en-US" sz="1150" dirty="0"/>
          </a:p>
        </p:txBody>
      </p:sp>
      <p:sp>
        <p:nvSpPr>
          <p:cNvPr id="12" name="Shape 10"/>
          <p:cNvSpPr/>
          <p:nvPr/>
        </p:nvSpPr>
        <p:spPr>
          <a:xfrm>
            <a:off x="6181344" y="1965960"/>
            <a:ext cx="2505456" cy="132588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3" name="Text 11"/>
          <p:cNvSpPr/>
          <p:nvPr/>
        </p:nvSpPr>
        <p:spPr>
          <a:xfrm>
            <a:off x="6309360" y="2039112"/>
            <a:ext cx="2249424" cy="457200"/>
          </a:xfrm>
          <a:prstGeom prst="rect">
            <a:avLst/>
          </a:prstGeom>
          <a:noFill/>
          <a:ln/>
        </p:spPr>
        <p:txBody>
          <a:bodyPr wrap="square" lIns="0" tIns="0" rIns="0" bIns="0" rtlCol="0" anchor="t"/>
          <a:lstStyle/>
          <a:p>
            <a:pPr algn="ctr" indent="0" marL="0">
              <a:buNone/>
            </a:pPr>
            <a:r>
              <a:rPr lang="en-US" sz="2200" b="1" dirty="0">
                <a:solidFill>
                  <a:srgbClr val="006666"/>
                </a:solidFill>
                <a:latin typeface="Cambria" pitchFamily="34" charset="0"/>
                <a:ea typeface="Cambria" pitchFamily="34" charset="-122"/>
                <a:cs typeface="Cambria" pitchFamily="34" charset="-120"/>
              </a:rPr>
              <a:t>13/13</a:t>
            </a:r>
            <a:endParaRPr lang="en-US" sz="2200" dirty="0"/>
          </a:p>
        </p:txBody>
      </p:sp>
      <p:sp>
        <p:nvSpPr>
          <p:cNvPr id="14" name="Text 12"/>
          <p:cNvSpPr/>
          <p:nvPr/>
        </p:nvSpPr>
        <p:spPr>
          <a:xfrm>
            <a:off x="6309360" y="2514600"/>
            <a:ext cx="2249424" cy="704088"/>
          </a:xfrm>
          <a:prstGeom prst="rect">
            <a:avLst/>
          </a:prstGeom>
          <a:noFill/>
          <a:ln/>
        </p:spPr>
        <p:txBody>
          <a:bodyPr wrap="square" lIns="0" tIns="0" rIns="0" bIns="0" rtlCol="0" anchor="t"/>
          <a:lstStyle/>
          <a:p>
            <a:pPr algn="ctr" indent="0" marL="0">
              <a:lnSpc>
                <a:spcPct val="118000"/>
              </a:lnSpc>
              <a:buNone/>
            </a:pPr>
            <a:r>
              <a:rPr lang="en-US" sz="1150" dirty="0">
                <a:solidFill>
                  <a:srgbClr val="1A1A1A"/>
                </a:solidFill>
                <a:latin typeface="Cambria" pitchFamily="34" charset="0"/>
                <a:ea typeface="Cambria" pitchFamily="34" charset="-122"/>
                <a:cs typeface="Cambria" pitchFamily="34" charset="-120"/>
              </a:rPr>
              <a:t>metrics improved by GRPO+SPICE</a:t>
            </a:r>
            <a:endParaRPr lang="en-US" sz="1150" dirty="0"/>
          </a:p>
        </p:txBody>
      </p:sp>
      <p:sp>
        <p:nvSpPr>
          <p:cNvPr id="15" name="Shape 13"/>
          <p:cNvSpPr/>
          <p:nvPr/>
        </p:nvSpPr>
        <p:spPr>
          <a:xfrm>
            <a:off x="457200" y="3703320"/>
            <a:ext cx="8229600" cy="160020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16" name="Text 14"/>
          <p:cNvSpPr/>
          <p:nvPr/>
        </p:nvSpPr>
        <p:spPr>
          <a:xfrm>
            <a:off x="685800" y="3840480"/>
            <a:ext cx="201168" cy="420624"/>
          </a:xfrm>
          <a:prstGeom prst="rect">
            <a:avLst/>
          </a:prstGeom>
          <a:noFill/>
          <a:ln/>
        </p:spPr>
        <p:txBody>
          <a:bodyPr wrap="square" lIns="0" tIns="0" rIns="0" bIns="0" rtlCol="0" anchor="t"/>
          <a:lstStyle/>
          <a:p>
            <a:pPr algn="l" indent="0" marL="0">
              <a:buNone/>
            </a:pPr>
            <a:r>
              <a:rPr lang="en-US" sz="1280" b="1" dirty="0">
                <a:solidFill>
                  <a:srgbClr val="006666"/>
                </a:solidFill>
                <a:latin typeface="Cambria" pitchFamily="34" charset="0"/>
                <a:ea typeface="Cambria" pitchFamily="34" charset="-122"/>
                <a:cs typeface="Cambria" pitchFamily="34" charset="-120"/>
              </a:rPr>
              <a:t>•</a:t>
            </a:r>
            <a:endParaRPr lang="en-US" sz="1280" dirty="0"/>
          </a:p>
        </p:txBody>
      </p:sp>
      <p:sp>
        <p:nvSpPr>
          <p:cNvPr id="17" name="Text 15"/>
          <p:cNvSpPr/>
          <p:nvPr/>
        </p:nvSpPr>
        <p:spPr>
          <a:xfrm>
            <a:off x="914400" y="3840480"/>
            <a:ext cx="7543800" cy="420624"/>
          </a:xfrm>
          <a:prstGeom prst="rect">
            <a:avLst/>
          </a:prstGeom>
          <a:noFill/>
          <a:ln/>
        </p:spPr>
        <p:txBody>
          <a:bodyPr wrap="square" lIns="0" tIns="0" rIns="0" bIns="0" rtlCol="0" anchor="t"/>
          <a:lstStyle/>
          <a:p>
            <a:pPr algn="l" indent="0" marL="0">
              <a:lnSpc>
                <a:spcPct val="120000"/>
              </a:lnSpc>
              <a:buNone/>
            </a:pPr>
            <a:r>
              <a:rPr lang="en-US" sz="1280" dirty="0">
                <a:solidFill>
                  <a:srgbClr val="1A1A1A"/>
                </a:solidFill>
                <a:latin typeface="Cambria" pitchFamily="34" charset="0"/>
                <a:ea typeface="Cambria" pitchFamily="34" charset="-122"/>
                <a:cs typeface="Cambria" pitchFamily="34" charset="-120"/>
              </a:rPr>
              <a:t>Đóng góp chính: GRPO thưởng SPICE + ACE, tác động trực tiếp vào câu cuối.</a:t>
            </a:r>
            <a:endParaRPr lang="en-US" sz="1280" dirty="0"/>
          </a:p>
        </p:txBody>
      </p:sp>
      <p:sp>
        <p:nvSpPr>
          <p:cNvPr id="18" name="Text 16"/>
          <p:cNvSpPr/>
          <p:nvPr/>
        </p:nvSpPr>
        <p:spPr>
          <a:xfrm>
            <a:off x="685800" y="4279392"/>
            <a:ext cx="201168" cy="420624"/>
          </a:xfrm>
          <a:prstGeom prst="rect">
            <a:avLst/>
          </a:prstGeom>
          <a:noFill/>
          <a:ln/>
        </p:spPr>
        <p:txBody>
          <a:bodyPr wrap="square" lIns="0" tIns="0" rIns="0" bIns="0" rtlCol="0" anchor="t"/>
          <a:lstStyle/>
          <a:p>
            <a:pPr algn="l" indent="0" marL="0">
              <a:buNone/>
            </a:pPr>
            <a:r>
              <a:rPr lang="en-US" sz="1280" b="1" dirty="0">
                <a:solidFill>
                  <a:srgbClr val="006666"/>
                </a:solidFill>
                <a:latin typeface="Cambria" pitchFamily="34" charset="0"/>
                <a:ea typeface="Cambria" pitchFamily="34" charset="-122"/>
                <a:cs typeface="Cambria" pitchFamily="34" charset="-120"/>
              </a:rPr>
              <a:t>•</a:t>
            </a:r>
            <a:endParaRPr lang="en-US" sz="1280" dirty="0"/>
          </a:p>
        </p:txBody>
      </p:sp>
      <p:sp>
        <p:nvSpPr>
          <p:cNvPr id="19" name="Text 17"/>
          <p:cNvSpPr/>
          <p:nvPr/>
        </p:nvSpPr>
        <p:spPr>
          <a:xfrm>
            <a:off x="914400" y="4279392"/>
            <a:ext cx="7543800" cy="420624"/>
          </a:xfrm>
          <a:prstGeom prst="rect">
            <a:avLst/>
          </a:prstGeom>
          <a:noFill/>
          <a:ln/>
        </p:spPr>
        <p:txBody>
          <a:bodyPr wrap="square" lIns="0" tIns="0" rIns="0" bIns="0" rtlCol="0" anchor="t"/>
          <a:lstStyle/>
          <a:p>
            <a:pPr algn="l" indent="0" marL="0">
              <a:lnSpc>
                <a:spcPct val="120000"/>
              </a:lnSpc>
              <a:buNone/>
            </a:pPr>
            <a:r>
              <a:rPr lang="en-US" sz="1280" dirty="0">
                <a:solidFill>
                  <a:srgbClr val="1A1A1A"/>
                </a:solidFill>
                <a:latin typeface="Cambria" pitchFamily="34" charset="0"/>
                <a:ea typeface="Cambria" pitchFamily="34" charset="-122"/>
                <a:cs typeface="Cambria" pitchFamily="34" charset="-120"/>
              </a:rPr>
              <a:t>Đóng góp đo lường: executability có ceiling/floor, stress tests và cross-listener validation.</a:t>
            </a:r>
            <a:endParaRPr lang="en-US" sz="1280" dirty="0"/>
          </a:p>
        </p:txBody>
      </p:sp>
      <p:sp>
        <p:nvSpPr>
          <p:cNvPr id="20" name="Text 18"/>
          <p:cNvSpPr/>
          <p:nvPr/>
        </p:nvSpPr>
        <p:spPr>
          <a:xfrm>
            <a:off x="685800" y="4718304"/>
            <a:ext cx="201168" cy="420624"/>
          </a:xfrm>
          <a:prstGeom prst="rect">
            <a:avLst/>
          </a:prstGeom>
          <a:noFill/>
          <a:ln/>
        </p:spPr>
        <p:txBody>
          <a:bodyPr wrap="square" lIns="0" tIns="0" rIns="0" bIns="0" rtlCol="0" anchor="t"/>
          <a:lstStyle/>
          <a:p>
            <a:pPr algn="l" indent="0" marL="0">
              <a:buNone/>
            </a:pPr>
            <a:r>
              <a:rPr lang="en-US" sz="1280" b="1" dirty="0">
                <a:solidFill>
                  <a:srgbClr val="006666"/>
                </a:solidFill>
                <a:latin typeface="Cambria" pitchFamily="34" charset="0"/>
                <a:ea typeface="Cambria" pitchFamily="34" charset="-122"/>
                <a:cs typeface="Cambria" pitchFamily="34" charset="-120"/>
              </a:rPr>
              <a:t>•</a:t>
            </a:r>
            <a:endParaRPr lang="en-US" sz="1280" dirty="0"/>
          </a:p>
        </p:txBody>
      </p:sp>
      <p:sp>
        <p:nvSpPr>
          <p:cNvPr id="21" name="Text 19"/>
          <p:cNvSpPr/>
          <p:nvPr/>
        </p:nvSpPr>
        <p:spPr>
          <a:xfrm>
            <a:off x="914400" y="4718304"/>
            <a:ext cx="7543800" cy="420624"/>
          </a:xfrm>
          <a:prstGeom prst="rect">
            <a:avLst/>
          </a:prstGeom>
          <a:noFill/>
          <a:ln/>
        </p:spPr>
        <p:txBody>
          <a:bodyPr wrap="square" lIns="0" tIns="0" rIns="0" bIns="0" rtlCol="0" anchor="t"/>
          <a:lstStyle/>
          <a:p>
            <a:pPr algn="l" indent="0" marL="0">
              <a:lnSpc>
                <a:spcPct val="120000"/>
              </a:lnSpc>
              <a:buNone/>
            </a:pPr>
            <a:r>
              <a:rPr lang="en-US" sz="1280" dirty="0">
                <a:solidFill>
                  <a:srgbClr val="1A1A1A"/>
                </a:solidFill>
                <a:latin typeface="Cambria" pitchFamily="34" charset="0"/>
                <a:ea typeface="Cambria" pitchFamily="34" charset="-122"/>
                <a:cs typeface="Cambria" pitchFamily="34" charset="-120"/>
              </a:rPr>
              <a:t>Đóng góp phân tích: negative results chỉ ra vì sao các bước trung gian không truyền đủ tín hiệu sang câu.</a:t>
            </a:r>
            <a:endParaRPr lang="en-US" sz="1280" dirty="0"/>
          </a:p>
        </p:txBody>
      </p:sp>
      <p:sp>
        <p:nvSpPr>
          <p:cNvPr id="22" name="Text 20"/>
          <p:cNvSpPr/>
          <p:nvPr/>
        </p:nvSpPr>
        <p:spPr>
          <a:xfrm>
            <a:off x="457200" y="6309360"/>
            <a:ext cx="8229600" cy="164592"/>
          </a:xfrm>
          <a:prstGeom prst="rect">
            <a:avLst/>
          </a:prstGeom>
          <a:noFill/>
          <a:ln/>
        </p:spPr>
        <p:txBody>
          <a:bodyPr wrap="square" lIns="0" tIns="0" rIns="0" bIns="0" rtlCol="0" anchor="t"/>
          <a:lstStyle/>
          <a:p>
            <a:pPr algn="r" indent="0" marL="0">
              <a:buNone/>
            </a:pPr>
            <a:r>
              <a:rPr lang="en-US" sz="820" i="1" dirty="0">
                <a:solidFill>
                  <a:srgbClr val="5A5A66"/>
                </a:solidFill>
                <a:latin typeface="Cambria" pitchFamily="34" charset="0"/>
                <a:ea typeface="Cambria" pitchFamily="34" charset="-122"/>
                <a:cs typeface="Cambria" pitchFamily="34" charset="-120"/>
              </a:rPr>
              <a:t>Luận văn Ch.7</a:t>
            </a:r>
            <a:endParaRPr lang="en-US" sz="820" dirty="0"/>
          </a:p>
        </p:txBody>
      </p:sp>
      <p:sp>
        <p:nvSpPr>
          <p:cNvPr id="23" name="Shape 21"/>
          <p:cNvSpPr/>
          <p:nvPr/>
        </p:nvSpPr>
        <p:spPr>
          <a:xfrm>
            <a:off x="0" y="6620256"/>
            <a:ext cx="2743200" cy="237744"/>
          </a:xfrm>
          <a:prstGeom prst="rect">
            <a:avLst/>
          </a:prstGeom>
          <a:solidFill>
            <a:srgbClr val="191132"/>
          </a:solidFill>
          <a:ln/>
        </p:spPr>
      </p:sp>
      <p:sp>
        <p:nvSpPr>
          <p:cNvPr id="24" name="Shape 22"/>
          <p:cNvSpPr/>
          <p:nvPr/>
        </p:nvSpPr>
        <p:spPr>
          <a:xfrm>
            <a:off x="2743200" y="6620256"/>
            <a:ext cx="3383280" cy="237744"/>
          </a:xfrm>
          <a:prstGeom prst="rect">
            <a:avLst/>
          </a:prstGeom>
          <a:solidFill>
            <a:srgbClr val="25194B"/>
          </a:solidFill>
          <a:ln/>
        </p:spPr>
      </p:sp>
      <p:sp>
        <p:nvSpPr>
          <p:cNvPr id="25" name="Shape 23"/>
          <p:cNvSpPr/>
          <p:nvPr/>
        </p:nvSpPr>
        <p:spPr>
          <a:xfrm>
            <a:off x="6126480" y="6620256"/>
            <a:ext cx="1737360" cy="237744"/>
          </a:xfrm>
          <a:prstGeom prst="rect">
            <a:avLst/>
          </a:prstGeom>
          <a:solidFill>
            <a:srgbClr val="4F417A"/>
          </a:solidFill>
          <a:ln/>
        </p:spPr>
      </p:sp>
      <p:sp>
        <p:nvSpPr>
          <p:cNvPr id="26" name="Shape 24"/>
          <p:cNvSpPr/>
          <p:nvPr/>
        </p:nvSpPr>
        <p:spPr>
          <a:xfrm>
            <a:off x="7863840" y="6620256"/>
            <a:ext cx="1280160" cy="237744"/>
          </a:xfrm>
          <a:prstGeom prst="rect">
            <a:avLst/>
          </a:prstGeom>
          <a:solidFill>
            <a:srgbClr val="7A7099"/>
          </a:solidFill>
          <a:ln/>
        </p:spPr>
      </p:sp>
      <p:sp>
        <p:nvSpPr>
          <p:cNvPr id="27" name="Text 2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8" name="Text 2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9" name="Text 2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0" name="Text 2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20/21</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22164"/>
        </a:solidFill>
      </p:bgPr>
    </p:bg>
    <p:spTree>
      <p:nvGrpSpPr>
        <p:cNvPr id="1" name=""/>
        <p:cNvGrpSpPr/>
        <p:nvPr/>
      </p:nvGrpSpPr>
      <p:grpSpPr>
        <a:xfrm>
          <a:off x="0" y="0"/>
          <a:ext cx="0" cy="0"/>
          <a:chOff x="0" y="0"/>
          <a:chExt cx="0" cy="0"/>
        </a:xfrm>
      </p:grpSpPr>
      <p:sp>
        <p:nvSpPr>
          <p:cNvPr id="2" name="Text 0"/>
          <p:cNvSpPr/>
          <p:nvPr/>
        </p:nvSpPr>
        <p:spPr>
          <a:xfrm>
            <a:off x="731520" y="2148840"/>
            <a:ext cx="7680960" cy="594360"/>
          </a:xfrm>
          <a:prstGeom prst="rect">
            <a:avLst/>
          </a:prstGeom>
          <a:noFill/>
          <a:ln/>
        </p:spPr>
        <p:txBody>
          <a:bodyPr wrap="square" lIns="0" tIns="0" rIns="0" bIns="0" rtlCol="0" anchor="t"/>
          <a:lstStyle/>
          <a:p>
            <a:pPr algn="ctr" indent="0" marL="0">
              <a:buNone/>
            </a:pPr>
            <a:r>
              <a:rPr lang="en-US" sz="2700" b="1" dirty="0">
                <a:solidFill>
                  <a:srgbClr val="FFFFFF"/>
                </a:solidFill>
                <a:latin typeface="Cambria" pitchFamily="34" charset="0"/>
                <a:ea typeface="Cambria" pitchFamily="34" charset="-122"/>
                <a:cs typeface="Cambria" pitchFamily="34" charset="-120"/>
              </a:rPr>
              <a:t>Trân trọng cảm ơn</a:t>
            </a:r>
            <a:endParaRPr lang="en-US" sz="2700" dirty="0"/>
          </a:p>
        </p:txBody>
      </p:sp>
      <p:sp>
        <p:nvSpPr>
          <p:cNvPr id="3" name="Text 1"/>
          <p:cNvSpPr/>
          <p:nvPr/>
        </p:nvSpPr>
        <p:spPr>
          <a:xfrm>
            <a:off x="731520" y="2971800"/>
            <a:ext cx="7680960" cy="457200"/>
          </a:xfrm>
          <a:prstGeom prst="rect">
            <a:avLst/>
          </a:prstGeom>
          <a:noFill/>
          <a:ln/>
        </p:spPr>
        <p:txBody>
          <a:bodyPr wrap="square" lIns="0" tIns="0" rIns="0" bIns="0" rtlCol="0" anchor="t"/>
          <a:lstStyle/>
          <a:p>
            <a:pPr algn="ctr" indent="0" marL="0">
              <a:buNone/>
            </a:pPr>
            <a:r>
              <a:rPr lang="en-US" sz="1700" dirty="0">
                <a:solidFill>
                  <a:srgbClr val="D8D4E6"/>
                </a:solidFill>
                <a:latin typeface="Cambria" pitchFamily="34" charset="0"/>
                <a:ea typeface="Cambria" pitchFamily="34" charset="-122"/>
                <a:cs typeface="Cambria" pitchFamily="34" charset="-120"/>
              </a:rPr>
              <a:t>Hỏi đáp và thảo luận</a:t>
            </a:r>
            <a:endParaRPr lang="en-US" sz="1700" dirty="0"/>
          </a:p>
        </p:txBody>
      </p:sp>
      <p:sp>
        <p:nvSpPr>
          <p:cNvPr id="4" name="Shape 2"/>
          <p:cNvSpPr/>
          <p:nvPr/>
        </p:nvSpPr>
        <p:spPr>
          <a:xfrm>
            <a:off x="3246120" y="3657600"/>
            <a:ext cx="2651760" cy="0"/>
          </a:xfrm>
          <a:prstGeom prst="line">
            <a:avLst/>
          </a:prstGeom>
          <a:noFill/>
          <a:ln w="19050">
            <a:solidFill>
              <a:srgbClr val="7A7099"/>
            </a:solidFill>
            <a:prstDash val="solid"/>
            <a:tailEnd type="none"/>
          </a:ln>
        </p:spPr>
      </p:sp>
      <p:sp>
        <p:nvSpPr>
          <p:cNvPr id="5" name="Text 3"/>
          <p:cNvSpPr/>
          <p:nvPr/>
        </p:nvSpPr>
        <p:spPr>
          <a:xfrm>
            <a:off x="731520" y="3977640"/>
            <a:ext cx="7680960" cy="822960"/>
          </a:xfrm>
          <a:prstGeom prst="rect">
            <a:avLst/>
          </a:prstGeom>
          <a:noFill/>
          <a:ln/>
        </p:spPr>
        <p:txBody>
          <a:bodyPr wrap="square" lIns="0" tIns="0" rIns="0" bIns="0" rtlCol="0" anchor="t"/>
          <a:lstStyle/>
          <a:p>
            <a:pPr algn="ctr" indent="0" marL="0">
              <a:lnSpc>
                <a:spcPct val="140000"/>
              </a:lnSpc>
              <a:buNone/>
            </a:pPr>
            <a:r>
              <a:rPr lang="en-US" sz="1300" dirty="0">
                <a:solidFill>
                  <a:srgbClr val="D8D4E6"/>
                </a:solidFill>
                <a:latin typeface="Cambria" pitchFamily="34" charset="0"/>
                <a:ea typeface="Cambria" pitchFamily="34" charset="-122"/>
                <a:cs typeface="Cambria" pitchFamily="34" charset="-120"/>
              </a:rPr>
              <a:t>Lê Đoàn Phương Uyên   ·   TS. Nguyễn Hồng Bửu Long</a:t>
            </a:r>
            <a:endParaRPr lang="en-US" sz="1300" dirty="0"/>
          </a:p>
          <a:p>
            <a:pPr algn="ctr" indent="0" marL="0">
              <a:lnSpc>
                <a:spcPct val="140000"/>
              </a:lnSpc>
              <a:buNone/>
            </a:pPr>
            <a:r>
              <a:rPr lang="en-US" sz="1300" dirty="0">
                <a:solidFill>
                  <a:srgbClr val="D8D4E6"/>
                </a:solidFill>
                <a:latin typeface="Cambria" pitchFamily="34" charset="0"/>
                <a:ea typeface="Cambria" pitchFamily="34" charset="-122"/>
                <a:cs typeface="Cambria" pitchFamily="34" charset="-120"/>
              </a:rPr>
              <a:t>Trường Đại học Khoa học Tự nhiên, ĐHQG-HCM</a:t>
            </a:r>
            <a:endParaRPr lang="en-US" sz="1300" dirty="0"/>
          </a:p>
        </p:txBody>
      </p:sp>
      <p:sp>
        <p:nvSpPr>
          <p:cNvPr id="6" name="Shape 4"/>
          <p:cNvSpPr/>
          <p:nvPr/>
        </p:nvSpPr>
        <p:spPr>
          <a:xfrm>
            <a:off x="0" y="6620256"/>
            <a:ext cx="2743200" cy="237744"/>
          </a:xfrm>
          <a:prstGeom prst="rect">
            <a:avLst/>
          </a:prstGeom>
          <a:solidFill>
            <a:srgbClr val="191132"/>
          </a:solidFill>
          <a:ln/>
        </p:spPr>
      </p:sp>
      <p:sp>
        <p:nvSpPr>
          <p:cNvPr id="7" name="Shape 5"/>
          <p:cNvSpPr/>
          <p:nvPr/>
        </p:nvSpPr>
        <p:spPr>
          <a:xfrm>
            <a:off x="2743200" y="6620256"/>
            <a:ext cx="3383280" cy="237744"/>
          </a:xfrm>
          <a:prstGeom prst="rect">
            <a:avLst/>
          </a:prstGeom>
          <a:solidFill>
            <a:srgbClr val="25194B"/>
          </a:solidFill>
          <a:ln/>
        </p:spPr>
      </p:sp>
      <p:sp>
        <p:nvSpPr>
          <p:cNvPr id="8" name="Shape 6"/>
          <p:cNvSpPr/>
          <p:nvPr/>
        </p:nvSpPr>
        <p:spPr>
          <a:xfrm>
            <a:off x="6126480" y="6620256"/>
            <a:ext cx="1737360" cy="237744"/>
          </a:xfrm>
          <a:prstGeom prst="rect">
            <a:avLst/>
          </a:prstGeom>
          <a:solidFill>
            <a:srgbClr val="4F417A"/>
          </a:solidFill>
          <a:ln/>
        </p:spPr>
      </p:sp>
      <p:sp>
        <p:nvSpPr>
          <p:cNvPr id="9" name="Shape 7"/>
          <p:cNvSpPr/>
          <p:nvPr/>
        </p:nvSpPr>
        <p:spPr>
          <a:xfrm>
            <a:off x="7863840" y="6620256"/>
            <a:ext cx="1280160" cy="237744"/>
          </a:xfrm>
          <a:prstGeom prst="rect">
            <a:avLst/>
          </a:prstGeom>
          <a:solidFill>
            <a:srgbClr val="7A7099"/>
          </a:solidFill>
          <a:ln/>
        </p:spPr>
      </p:sp>
      <p:sp>
        <p:nvSpPr>
          <p:cNvPr id="10" name="Text 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1" name="Text 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2" name="Text 1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3" name="Text 1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21/21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Định nghĩa executability chính xác</a:t>
            </a:r>
            <a:endParaRPr lang="en-US" sz="1900" dirty="0"/>
          </a:p>
        </p:txBody>
      </p:sp>
      <p:sp>
        <p:nvSpPr>
          <p:cNvPr id="4" name="Text 2"/>
          <p:cNvSpPr/>
          <p:nvPr/>
        </p:nvSpPr>
        <p:spPr>
          <a:xfrm>
            <a:off x="457200" y="960120"/>
            <a:ext cx="8229600" cy="438912"/>
          </a:xfrm>
          <a:prstGeom prst="rect">
            <a:avLst/>
          </a:prstGeom>
          <a:noFill/>
          <a:ln/>
        </p:spPr>
        <p:txBody>
          <a:bodyPr wrap="square" lIns="0" tIns="0" rIns="0" bIns="0" rtlCol="0" anchor="t"/>
          <a:lstStyle/>
          <a:p>
            <a:pPr algn="ctr" indent="0" marL="0">
              <a:buNone/>
            </a:pPr>
            <a:r>
              <a:rPr lang="en-US" sz="1900" b="1" dirty="0">
                <a:solidFill>
                  <a:srgbClr val="322164"/>
                </a:solidFill>
                <a:latin typeface="Consolas" pitchFamily="34" charset="0"/>
                <a:ea typeface="Consolas" pitchFamily="34" charset="-122"/>
                <a:cs typeface="Consolas" pitchFamily="34" charset="-120"/>
              </a:rPr>
              <a:t>Executable(s) = ActionMatch ∧ NotOpposite ∧ Grounded</a:t>
            </a:r>
            <a:endParaRPr lang="en-US" sz="1900" dirty="0"/>
          </a:p>
        </p:txBody>
      </p:sp>
      <p:sp>
        <p:nvSpPr>
          <p:cNvPr id="5" name="Shape 3"/>
          <p:cNvSpPr/>
          <p:nvPr/>
        </p:nvSpPr>
        <p:spPr>
          <a:xfrm>
            <a:off x="457200" y="1691640"/>
            <a:ext cx="8229600" cy="182880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6" name="Text 4"/>
          <p:cNvSpPr/>
          <p:nvPr/>
        </p:nvSpPr>
        <p:spPr>
          <a:xfrm>
            <a:off x="731520" y="1874520"/>
            <a:ext cx="201168" cy="420624"/>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7" name="Text 5"/>
          <p:cNvSpPr/>
          <p:nvPr/>
        </p:nvSpPr>
        <p:spPr>
          <a:xfrm>
            <a:off x="960120" y="1874520"/>
            <a:ext cx="7452360" cy="420624"/>
          </a:xfrm>
          <a:prstGeom prst="rect">
            <a:avLst/>
          </a:prstGeom>
          <a:noFill/>
          <a:ln/>
        </p:spPr>
        <p:txBody>
          <a:bodyPr wrap="square" lIns="0" tIns="0" rIns="0" bIns="0" rtlCol="0" anchor="t"/>
          <a:lstStyle/>
          <a:p>
            <a:pPr algn="l" indent="0" marL="0">
              <a:lnSpc>
                <a:spcPct val="120000"/>
              </a:lnSpc>
              <a:buNone/>
            </a:pPr>
            <a:r>
              <a:rPr lang="en-US" sz="1300" dirty="0">
                <a:solidFill>
                  <a:srgbClr val="1A1A1A"/>
                </a:solidFill>
                <a:latin typeface="Cambria" pitchFamily="34" charset="0"/>
                <a:ea typeface="Cambria" pitchFamily="34" charset="-122"/>
                <a:cs typeface="Cambria" pitchFamily="34" charset="-120"/>
              </a:rPr>
              <a:t>Grounded: |px−gx| ≤ 0,14W và |py−gy| ≤ 0,14H.</a:t>
            </a:r>
            <a:endParaRPr lang="en-US" sz="1300" dirty="0"/>
          </a:p>
        </p:txBody>
      </p:sp>
      <p:sp>
        <p:nvSpPr>
          <p:cNvPr id="8" name="Text 6"/>
          <p:cNvSpPr/>
          <p:nvPr/>
        </p:nvSpPr>
        <p:spPr>
          <a:xfrm>
            <a:off x="731520" y="2331720"/>
            <a:ext cx="201168" cy="420624"/>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9" name="Text 7"/>
          <p:cNvSpPr/>
          <p:nvPr/>
        </p:nvSpPr>
        <p:spPr>
          <a:xfrm>
            <a:off x="960120" y="2331720"/>
            <a:ext cx="7452360" cy="420624"/>
          </a:xfrm>
          <a:prstGeom prst="rect">
            <a:avLst/>
          </a:prstGeom>
          <a:noFill/>
          <a:ln/>
        </p:spPr>
        <p:txBody>
          <a:bodyPr wrap="square" lIns="0" tIns="0" rIns="0" bIns="0" rtlCol="0" anchor="t"/>
          <a:lstStyle/>
          <a:p>
            <a:pPr algn="l" indent="0" marL="0">
              <a:lnSpc>
                <a:spcPct val="120000"/>
              </a:lnSpc>
              <a:buNone/>
            </a:pPr>
            <a:r>
              <a:rPr lang="en-US" sz="1300" dirty="0">
                <a:solidFill>
                  <a:srgbClr val="1A1A1A"/>
                </a:solidFill>
                <a:latin typeface="Cambria" pitchFamily="34" charset="0"/>
                <a:ea typeface="Cambria" pitchFamily="34" charset="-122"/>
                <a:cs typeface="Cambria" pitchFamily="34" charset="-120"/>
              </a:rPr>
              <a:t>Voronoi: ||p−g|| &lt; ||p−c(e)|| với mọi phần tử e khác trên màn.</a:t>
            </a:r>
            <a:endParaRPr lang="en-US" sz="1300" dirty="0"/>
          </a:p>
        </p:txBody>
      </p:sp>
      <p:sp>
        <p:nvSpPr>
          <p:cNvPr id="10" name="Text 8"/>
          <p:cNvSpPr/>
          <p:nvPr/>
        </p:nvSpPr>
        <p:spPr>
          <a:xfrm>
            <a:off x="731520" y="2788920"/>
            <a:ext cx="201168" cy="420624"/>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1" name="Text 9"/>
          <p:cNvSpPr/>
          <p:nvPr/>
        </p:nvSpPr>
        <p:spPr>
          <a:xfrm>
            <a:off x="960120" y="2788920"/>
            <a:ext cx="7452360" cy="420624"/>
          </a:xfrm>
          <a:prstGeom prst="rect">
            <a:avLst/>
          </a:prstGeom>
          <a:noFill/>
          <a:ln/>
        </p:spPr>
        <p:txBody>
          <a:bodyPr wrap="square" lIns="0" tIns="0" rIns="0" bIns="0" rtlCol="0" anchor="t"/>
          <a:lstStyle/>
          <a:p>
            <a:pPr algn="l" indent="0" marL="0">
              <a:lnSpc>
                <a:spcPct val="120000"/>
              </a:lnSpc>
              <a:buNone/>
            </a:pPr>
            <a:r>
              <a:rPr lang="en-US" sz="1300" dirty="0">
                <a:solidFill>
                  <a:srgbClr val="1A1A1A"/>
                </a:solidFill>
                <a:latin typeface="Cambria" pitchFamily="34" charset="0"/>
                <a:ea typeface="Cambria" pitchFamily="34" charset="-122"/>
                <a:cs typeface="Cambria" pitchFamily="34" charset="-120"/>
              </a:rPr>
              <a:t>Điểm hệ thống = tỷ lệ bước chạm thỏa cả ba điều kiện.</a:t>
            </a:r>
            <a:endParaRPr lang="en-US" sz="1300" dirty="0"/>
          </a:p>
        </p:txBody>
      </p:sp>
      <p:sp>
        <p:nvSpPr>
          <p:cNvPr id="12" name="Text 10"/>
          <p:cNvSpPr/>
          <p:nvPr/>
        </p:nvSpPr>
        <p:spPr>
          <a:xfrm>
            <a:off x="457200" y="3977640"/>
            <a:ext cx="8229600" cy="475488"/>
          </a:xfrm>
          <a:prstGeom prst="rect">
            <a:avLst/>
          </a:prstGeom>
          <a:noFill/>
          <a:ln/>
        </p:spPr>
        <p:txBody>
          <a:bodyPr wrap="square" lIns="0" tIns="0" rIns="0" bIns="0" rtlCol="0" anchor="t"/>
          <a:lstStyle/>
          <a:p>
            <a:pPr algn="ctr" indent="0" marL="0">
              <a:buNone/>
            </a:pPr>
            <a:r>
              <a:rPr lang="en-US" sz="1350" b="1" dirty="0">
                <a:solidFill>
                  <a:srgbClr val="B22222"/>
                </a:solidFill>
                <a:latin typeface="Cambria" pitchFamily="34" charset="0"/>
                <a:ea typeface="Cambria" pitchFamily="34" charset="-122"/>
                <a:cs typeface="Cambria" pitchFamily="34" charset="-120"/>
              </a:rPr>
              <a:t>Điểm chính chỉ đo khả năng xác định phần tử; không đo độ trôi chảy hay “helpfulness” đầy đủ.</a:t>
            </a:r>
            <a:endParaRPr lang="en-US" sz="1350" dirty="0"/>
          </a:p>
        </p:txBody>
      </p:sp>
      <p:sp>
        <p:nvSpPr>
          <p:cNvPr id="13" name="Shape 11"/>
          <p:cNvSpPr/>
          <p:nvPr/>
        </p:nvSpPr>
        <p:spPr>
          <a:xfrm>
            <a:off x="0" y="6620256"/>
            <a:ext cx="2743200" cy="237744"/>
          </a:xfrm>
          <a:prstGeom prst="rect">
            <a:avLst/>
          </a:prstGeom>
          <a:solidFill>
            <a:srgbClr val="191132"/>
          </a:solidFill>
          <a:ln/>
        </p:spPr>
      </p:sp>
      <p:sp>
        <p:nvSpPr>
          <p:cNvPr id="14" name="Shape 12"/>
          <p:cNvSpPr/>
          <p:nvPr/>
        </p:nvSpPr>
        <p:spPr>
          <a:xfrm>
            <a:off x="2743200" y="6620256"/>
            <a:ext cx="3383280" cy="237744"/>
          </a:xfrm>
          <a:prstGeom prst="rect">
            <a:avLst/>
          </a:prstGeom>
          <a:solidFill>
            <a:srgbClr val="25194B"/>
          </a:solidFill>
          <a:ln/>
        </p:spPr>
      </p:sp>
      <p:sp>
        <p:nvSpPr>
          <p:cNvPr id="15" name="Shape 13"/>
          <p:cNvSpPr/>
          <p:nvPr/>
        </p:nvSpPr>
        <p:spPr>
          <a:xfrm>
            <a:off x="6126480" y="6620256"/>
            <a:ext cx="1737360" cy="237744"/>
          </a:xfrm>
          <a:prstGeom prst="rect">
            <a:avLst/>
          </a:prstGeom>
          <a:solidFill>
            <a:srgbClr val="4F417A"/>
          </a:solidFill>
          <a:ln/>
        </p:spPr>
      </p:sp>
      <p:sp>
        <p:nvSpPr>
          <p:cNvPr id="16" name="Shape 14"/>
          <p:cNvSpPr/>
          <p:nvPr/>
        </p:nvSpPr>
        <p:spPr>
          <a:xfrm>
            <a:off x="7863840" y="6620256"/>
            <a:ext cx="1280160" cy="237744"/>
          </a:xfrm>
          <a:prstGeom prst="rect">
            <a:avLst/>
          </a:prstGeom>
          <a:solidFill>
            <a:srgbClr val="7A7099"/>
          </a:solidFill>
          <a:ln/>
        </p:spPr>
      </p:sp>
      <p:sp>
        <p:nvSpPr>
          <p:cNvPr id="17" name="Text 1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8" name="Text 1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9" name="Text 1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0" name="Text 1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Bảng nhiều thước của phương pháp đề xuất</a:t>
            </a:r>
            <a:endParaRPr lang="en-US" sz="1900" dirty="0"/>
          </a:p>
        </p:txBody>
      </p:sp>
      <p:sp>
        <p:nvSpPr>
          <p:cNvPr id="4" name="Shape 2"/>
          <p:cNvSpPr/>
          <p:nvPr/>
        </p:nvSpPr>
        <p:spPr>
          <a:xfrm>
            <a:off x="457200" y="914400"/>
            <a:ext cx="7589520" cy="384048"/>
          </a:xfrm>
          <a:prstGeom prst="rect">
            <a:avLst/>
          </a:prstGeom>
          <a:solidFill>
            <a:srgbClr val="322164"/>
          </a:solidFill>
          <a:ln/>
        </p:spPr>
      </p:sp>
      <p:sp>
        <p:nvSpPr>
          <p:cNvPr id="5" name="Text 3"/>
          <p:cNvSpPr/>
          <p:nvPr/>
        </p:nvSpPr>
        <p:spPr>
          <a:xfrm>
            <a:off x="457200" y="914400"/>
            <a:ext cx="2194560" cy="384048"/>
          </a:xfrm>
          <a:prstGeom prst="rect">
            <a:avLst/>
          </a:prstGeom>
          <a:noFill/>
          <a:ln/>
        </p:spPr>
        <p:txBody>
          <a:bodyPr wrap="square" lIns="38100" tIns="38100" rIns="38100" bIns="38100" rtlCol="0" anchor="ctr"/>
          <a:lstStyle/>
          <a:p>
            <a:pPr algn="l" indent="0" marL="0">
              <a:buNone/>
            </a:pPr>
            <a:r>
              <a:rPr lang="en-US" sz="1180" b="1" dirty="0">
                <a:solidFill>
                  <a:srgbClr val="FFFFFF"/>
                </a:solidFill>
                <a:latin typeface="Cambria" pitchFamily="34" charset="0"/>
                <a:ea typeface="Cambria" pitchFamily="34" charset="-122"/>
                <a:cs typeface="Cambria" pitchFamily="34" charset="-120"/>
              </a:rPr>
              <a:t>Metric</a:t>
            </a:r>
            <a:endParaRPr lang="en-US" sz="1180" dirty="0"/>
          </a:p>
        </p:txBody>
      </p:sp>
      <p:sp>
        <p:nvSpPr>
          <p:cNvPr id="6" name="Text 4"/>
          <p:cNvSpPr/>
          <p:nvPr/>
        </p:nvSpPr>
        <p:spPr>
          <a:xfrm>
            <a:off x="2651760" y="914400"/>
            <a:ext cx="1280160" cy="384048"/>
          </a:xfrm>
          <a:prstGeom prst="rect">
            <a:avLst/>
          </a:prstGeom>
          <a:noFill/>
          <a:ln/>
        </p:spPr>
        <p:txBody>
          <a:bodyPr wrap="square" lIns="38100" tIns="38100" rIns="38100" bIns="38100" rtlCol="0" anchor="ctr"/>
          <a:lstStyle/>
          <a:p>
            <a:pPr algn="ctr" indent="0" marL="0">
              <a:buNone/>
            </a:pPr>
            <a:r>
              <a:rPr lang="en-US" sz="1180" b="1" dirty="0">
                <a:solidFill>
                  <a:srgbClr val="FFFFFF"/>
                </a:solidFill>
                <a:latin typeface="Cambria" pitchFamily="34" charset="0"/>
                <a:ea typeface="Cambria" pitchFamily="34" charset="-122"/>
                <a:cs typeface="Cambria" pitchFamily="34" charset="-120"/>
              </a:rPr>
              <a:t>Base</a:t>
            </a:r>
            <a:endParaRPr lang="en-US" sz="1180" dirty="0"/>
          </a:p>
        </p:txBody>
      </p:sp>
      <p:sp>
        <p:nvSpPr>
          <p:cNvPr id="7" name="Text 5"/>
          <p:cNvSpPr/>
          <p:nvPr/>
        </p:nvSpPr>
        <p:spPr>
          <a:xfrm>
            <a:off x="3931920" y="914400"/>
            <a:ext cx="1280160" cy="384048"/>
          </a:xfrm>
          <a:prstGeom prst="rect">
            <a:avLst/>
          </a:prstGeom>
          <a:noFill/>
          <a:ln/>
        </p:spPr>
        <p:txBody>
          <a:bodyPr wrap="square" lIns="38100" tIns="38100" rIns="38100" bIns="38100" rtlCol="0" anchor="ctr"/>
          <a:lstStyle/>
          <a:p>
            <a:pPr algn="ctr" indent="0" marL="0">
              <a:buNone/>
            </a:pPr>
            <a:r>
              <a:rPr lang="en-US" sz="1180" b="1" dirty="0">
                <a:solidFill>
                  <a:srgbClr val="FFFFFF"/>
                </a:solidFill>
                <a:latin typeface="Cambria" pitchFamily="34" charset="0"/>
                <a:ea typeface="Cambria" pitchFamily="34" charset="-122"/>
                <a:cs typeface="Cambria" pitchFamily="34" charset="-120"/>
              </a:rPr>
              <a:t>S1</a:t>
            </a:r>
            <a:endParaRPr lang="en-US" sz="1180" dirty="0"/>
          </a:p>
        </p:txBody>
      </p:sp>
      <p:sp>
        <p:nvSpPr>
          <p:cNvPr id="8" name="Text 6"/>
          <p:cNvSpPr/>
          <p:nvPr/>
        </p:nvSpPr>
        <p:spPr>
          <a:xfrm>
            <a:off x="5212080" y="914400"/>
            <a:ext cx="1417320" cy="384048"/>
          </a:xfrm>
          <a:prstGeom prst="rect">
            <a:avLst/>
          </a:prstGeom>
          <a:noFill/>
          <a:ln/>
        </p:spPr>
        <p:txBody>
          <a:bodyPr wrap="square" lIns="38100" tIns="38100" rIns="38100" bIns="38100" rtlCol="0" anchor="ctr"/>
          <a:lstStyle/>
          <a:p>
            <a:pPr algn="ctr" indent="0" marL="0">
              <a:buNone/>
            </a:pPr>
            <a:r>
              <a:rPr lang="en-US" sz="1180" b="1" dirty="0">
                <a:solidFill>
                  <a:srgbClr val="FFFFFF"/>
                </a:solidFill>
                <a:latin typeface="Cambria" pitchFamily="34" charset="0"/>
                <a:ea typeface="Cambria" pitchFamily="34" charset="-122"/>
                <a:cs typeface="Cambria" pitchFamily="34" charset="-120"/>
              </a:rPr>
              <a:t>GRPO+SPICE</a:t>
            </a:r>
            <a:endParaRPr lang="en-US" sz="1180" dirty="0"/>
          </a:p>
        </p:txBody>
      </p:sp>
      <p:sp>
        <p:nvSpPr>
          <p:cNvPr id="9" name="Text 7"/>
          <p:cNvSpPr/>
          <p:nvPr/>
        </p:nvSpPr>
        <p:spPr>
          <a:xfrm>
            <a:off x="6629400" y="914400"/>
            <a:ext cx="1417320" cy="384048"/>
          </a:xfrm>
          <a:prstGeom prst="rect">
            <a:avLst/>
          </a:prstGeom>
          <a:noFill/>
          <a:ln/>
        </p:spPr>
        <p:txBody>
          <a:bodyPr wrap="square" lIns="38100" tIns="38100" rIns="38100" bIns="38100" rtlCol="0" anchor="ctr"/>
          <a:lstStyle/>
          <a:p>
            <a:pPr algn="ctr" indent="0" marL="0">
              <a:buNone/>
            </a:pPr>
            <a:r>
              <a:rPr lang="en-US" sz="1180" b="1" dirty="0">
                <a:solidFill>
                  <a:srgbClr val="FFFFFF"/>
                </a:solidFill>
                <a:latin typeface="Cambria" pitchFamily="34" charset="0"/>
                <a:ea typeface="Cambria" pitchFamily="34" charset="-122"/>
                <a:cs typeface="Cambria" pitchFamily="34" charset="-120"/>
              </a:rPr>
              <a:t>Proposed</a:t>
            </a:r>
            <a:endParaRPr lang="en-US" sz="1180" dirty="0"/>
          </a:p>
        </p:txBody>
      </p:sp>
      <p:sp>
        <p:nvSpPr>
          <p:cNvPr id="10" name="Text 8"/>
          <p:cNvSpPr/>
          <p:nvPr/>
        </p:nvSpPr>
        <p:spPr>
          <a:xfrm>
            <a:off x="457200" y="1298448"/>
            <a:ext cx="219456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Executability</a:t>
            </a:r>
            <a:endParaRPr lang="en-US" sz="1150" dirty="0"/>
          </a:p>
        </p:txBody>
      </p:sp>
      <p:sp>
        <p:nvSpPr>
          <p:cNvPr id="11" name="Text 9"/>
          <p:cNvSpPr/>
          <p:nvPr/>
        </p:nvSpPr>
        <p:spPr>
          <a:xfrm>
            <a:off x="2651760" y="129844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47,6</a:t>
            </a:r>
            <a:endParaRPr lang="en-US" sz="1150" dirty="0"/>
          </a:p>
        </p:txBody>
      </p:sp>
      <p:sp>
        <p:nvSpPr>
          <p:cNvPr id="12" name="Text 10"/>
          <p:cNvSpPr/>
          <p:nvPr/>
        </p:nvSpPr>
        <p:spPr>
          <a:xfrm>
            <a:off x="3931920" y="129844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59,11</a:t>
            </a:r>
            <a:endParaRPr lang="en-US" sz="1150" dirty="0"/>
          </a:p>
        </p:txBody>
      </p:sp>
      <p:sp>
        <p:nvSpPr>
          <p:cNvPr id="13" name="Text 11"/>
          <p:cNvSpPr/>
          <p:nvPr/>
        </p:nvSpPr>
        <p:spPr>
          <a:xfrm>
            <a:off x="5212080" y="1298448"/>
            <a:ext cx="14173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60,65</a:t>
            </a:r>
            <a:endParaRPr lang="en-US" sz="1150" dirty="0"/>
          </a:p>
        </p:txBody>
      </p:sp>
      <p:sp>
        <p:nvSpPr>
          <p:cNvPr id="14" name="Text 12"/>
          <p:cNvSpPr/>
          <p:nvPr/>
        </p:nvSpPr>
        <p:spPr>
          <a:xfrm>
            <a:off x="6629400" y="1298448"/>
            <a:ext cx="1417320" cy="365760"/>
          </a:xfrm>
          <a:prstGeom prst="rect">
            <a:avLst/>
          </a:prstGeom>
          <a:noFill/>
          <a:ln/>
        </p:spPr>
        <p:txBody>
          <a:bodyPr wrap="square" lIns="38100" tIns="38100" rIns="38100" bIns="38100" rtlCol="0" anchor="ctr"/>
          <a:lstStyle/>
          <a:p>
            <a:pPr algn="ctr" indent="0" marL="0">
              <a:buNone/>
            </a:pPr>
            <a:r>
              <a:rPr lang="en-US" sz="1150" b="1" dirty="0">
                <a:solidFill>
                  <a:srgbClr val="006666"/>
                </a:solidFill>
                <a:latin typeface="Cambria" pitchFamily="34" charset="0"/>
                <a:ea typeface="Cambria" pitchFamily="34" charset="-122"/>
                <a:cs typeface="Cambria" pitchFamily="34" charset="-120"/>
              </a:rPr>
              <a:t>60,68</a:t>
            </a:r>
            <a:endParaRPr lang="en-US" sz="1150" dirty="0"/>
          </a:p>
        </p:txBody>
      </p:sp>
      <p:sp>
        <p:nvSpPr>
          <p:cNvPr id="15" name="Shape 13"/>
          <p:cNvSpPr/>
          <p:nvPr/>
        </p:nvSpPr>
        <p:spPr>
          <a:xfrm>
            <a:off x="457200" y="1664208"/>
            <a:ext cx="7589520" cy="0"/>
          </a:xfrm>
          <a:prstGeom prst="line">
            <a:avLst/>
          </a:prstGeom>
          <a:noFill/>
          <a:ln w="12700">
            <a:solidFill>
              <a:srgbClr val="9A94AE"/>
            </a:solidFill>
            <a:prstDash val="solid"/>
            <a:tailEnd type="none"/>
          </a:ln>
        </p:spPr>
      </p:sp>
      <p:sp>
        <p:nvSpPr>
          <p:cNvPr id="16" name="Text 14"/>
          <p:cNvSpPr/>
          <p:nvPr/>
        </p:nvSpPr>
        <p:spPr>
          <a:xfrm>
            <a:off x="457200" y="1664208"/>
            <a:ext cx="219456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AndroidControl box</a:t>
            </a:r>
            <a:endParaRPr lang="en-US" sz="1150" dirty="0"/>
          </a:p>
        </p:txBody>
      </p:sp>
      <p:sp>
        <p:nvSpPr>
          <p:cNvPr id="17" name="Text 15"/>
          <p:cNvSpPr/>
          <p:nvPr/>
        </p:nvSpPr>
        <p:spPr>
          <a:xfrm>
            <a:off x="2651760" y="166420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53,6</a:t>
            </a:r>
            <a:endParaRPr lang="en-US" sz="1150" dirty="0"/>
          </a:p>
        </p:txBody>
      </p:sp>
      <p:sp>
        <p:nvSpPr>
          <p:cNvPr id="18" name="Text 16"/>
          <p:cNvSpPr/>
          <p:nvPr/>
        </p:nvSpPr>
        <p:spPr>
          <a:xfrm>
            <a:off x="3931920" y="166420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65,49</a:t>
            </a:r>
            <a:endParaRPr lang="en-US" sz="1150" dirty="0"/>
          </a:p>
        </p:txBody>
      </p:sp>
      <p:sp>
        <p:nvSpPr>
          <p:cNvPr id="19" name="Text 17"/>
          <p:cNvSpPr/>
          <p:nvPr/>
        </p:nvSpPr>
        <p:spPr>
          <a:xfrm>
            <a:off x="5212080" y="1664208"/>
            <a:ext cx="14173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67,02</a:t>
            </a:r>
            <a:endParaRPr lang="en-US" sz="1150" dirty="0"/>
          </a:p>
        </p:txBody>
      </p:sp>
      <p:sp>
        <p:nvSpPr>
          <p:cNvPr id="20" name="Text 18"/>
          <p:cNvSpPr/>
          <p:nvPr/>
        </p:nvSpPr>
        <p:spPr>
          <a:xfrm>
            <a:off x="6629400" y="1664208"/>
            <a:ext cx="1417320" cy="365760"/>
          </a:xfrm>
          <a:prstGeom prst="rect">
            <a:avLst/>
          </a:prstGeom>
          <a:noFill/>
          <a:ln/>
        </p:spPr>
        <p:txBody>
          <a:bodyPr wrap="square" lIns="38100" tIns="38100" rIns="38100" bIns="38100" rtlCol="0" anchor="ctr"/>
          <a:lstStyle/>
          <a:p>
            <a:pPr algn="ctr" indent="0" marL="0">
              <a:buNone/>
            </a:pPr>
            <a:r>
              <a:rPr lang="en-US" sz="1150" b="1" dirty="0">
                <a:solidFill>
                  <a:srgbClr val="1A1A1A"/>
                </a:solidFill>
                <a:latin typeface="Cambria" pitchFamily="34" charset="0"/>
                <a:ea typeface="Cambria" pitchFamily="34" charset="-122"/>
                <a:cs typeface="Cambria" pitchFamily="34" charset="-120"/>
              </a:rPr>
              <a:t>67,11</a:t>
            </a:r>
            <a:endParaRPr lang="en-US" sz="1150" dirty="0"/>
          </a:p>
        </p:txBody>
      </p:sp>
      <p:sp>
        <p:nvSpPr>
          <p:cNvPr id="21" name="Shape 19"/>
          <p:cNvSpPr/>
          <p:nvPr/>
        </p:nvSpPr>
        <p:spPr>
          <a:xfrm>
            <a:off x="457200" y="2029968"/>
            <a:ext cx="7589520" cy="0"/>
          </a:xfrm>
          <a:prstGeom prst="line">
            <a:avLst/>
          </a:prstGeom>
          <a:noFill/>
          <a:ln w="12700">
            <a:solidFill>
              <a:srgbClr val="9A94AE"/>
            </a:solidFill>
            <a:prstDash val="solid"/>
            <a:tailEnd type="none"/>
          </a:ln>
        </p:spPr>
      </p:sp>
      <p:sp>
        <p:nvSpPr>
          <p:cNvPr id="22" name="Text 20"/>
          <p:cNvSpPr/>
          <p:nvPr/>
        </p:nvSpPr>
        <p:spPr>
          <a:xfrm>
            <a:off x="457200" y="2029968"/>
            <a:ext cx="219456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AitW Euclid</a:t>
            </a:r>
            <a:endParaRPr lang="en-US" sz="1150" dirty="0"/>
          </a:p>
        </p:txBody>
      </p:sp>
      <p:sp>
        <p:nvSpPr>
          <p:cNvPr id="23" name="Text 21"/>
          <p:cNvSpPr/>
          <p:nvPr/>
        </p:nvSpPr>
        <p:spPr>
          <a:xfrm>
            <a:off x="2651760" y="202996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63,4</a:t>
            </a:r>
            <a:endParaRPr lang="en-US" sz="1150" dirty="0"/>
          </a:p>
        </p:txBody>
      </p:sp>
      <p:sp>
        <p:nvSpPr>
          <p:cNvPr id="24" name="Text 22"/>
          <p:cNvSpPr/>
          <p:nvPr/>
        </p:nvSpPr>
        <p:spPr>
          <a:xfrm>
            <a:off x="3931920" y="202996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74,37</a:t>
            </a:r>
            <a:endParaRPr lang="en-US" sz="1150" dirty="0"/>
          </a:p>
        </p:txBody>
      </p:sp>
      <p:sp>
        <p:nvSpPr>
          <p:cNvPr id="25" name="Text 23"/>
          <p:cNvSpPr/>
          <p:nvPr/>
        </p:nvSpPr>
        <p:spPr>
          <a:xfrm>
            <a:off x="5212080" y="2029968"/>
            <a:ext cx="14173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76,25</a:t>
            </a:r>
            <a:endParaRPr lang="en-US" sz="1150" dirty="0"/>
          </a:p>
        </p:txBody>
      </p:sp>
      <p:sp>
        <p:nvSpPr>
          <p:cNvPr id="26" name="Text 24"/>
          <p:cNvSpPr/>
          <p:nvPr/>
        </p:nvSpPr>
        <p:spPr>
          <a:xfrm>
            <a:off x="6629400" y="2029968"/>
            <a:ext cx="1417320" cy="365760"/>
          </a:xfrm>
          <a:prstGeom prst="rect">
            <a:avLst/>
          </a:prstGeom>
          <a:noFill/>
          <a:ln/>
        </p:spPr>
        <p:txBody>
          <a:bodyPr wrap="square" lIns="38100" tIns="38100" rIns="38100" bIns="38100" rtlCol="0" anchor="ctr"/>
          <a:lstStyle/>
          <a:p>
            <a:pPr algn="ctr" indent="0" marL="0">
              <a:buNone/>
            </a:pPr>
            <a:r>
              <a:rPr lang="en-US" sz="1150" b="1" dirty="0">
                <a:solidFill>
                  <a:srgbClr val="1A1A1A"/>
                </a:solidFill>
                <a:latin typeface="Cambria" pitchFamily="34" charset="0"/>
                <a:ea typeface="Cambria" pitchFamily="34" charset="-122"/>
                <a:cs typeface="Cambria" pitchFamily="34" charset="-120"/>
              </a:rPr>
              <a:t>76,32</a:t>
            </a:r>
            <a:endParaRPr lang="en-US" sz="1150" dirty="0"/>
          </a:p>
        </p:txBody>
      </p:sp>
      <p:sp>
        <p:nvSpPr>
          <p:cNvPr id="27" name="Shape 25"/>
          <p:cNvSpPr/>
          <p:nvPr/>
        </p:nvSpPr>
        <p:spPr>
          <a:xfrm>
            <a:off x="457200" y="2395728"/>
            <a:ext cx="7589520" cy="0"/>
          </a:xfrm>
          <a:prstGeom prst="line">
            <a:avLst/>
          </a:prstGeom>
          <a:noFill/>
          <a:ln w="12700">
            <a:solidFill>
              <a:srgbClr val="9A94AE"/>
            </a:solidFill>
            <a:prstDash val="solid"/>
            <a:tailEnd type="none"/>
          </a:ln>
        </p:spPr>
      </p:sp>
      <p:sp>
        <p:nvSpPr>
          <p:cNvPr id="28" name="Text 26"/>
          <p:cNvSpPr/>
          <p:nvPr/>
        </p:nvSpPr>
        <p:spPr>
          <a:xfrm>
            <a:off x="457200" y="2395728"/>
            <a:ext cx="219456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BLEU-4</a:t>
            </a:r>
            <a:endParaRPr lang="en-US" sz="1150" dirty="0"/>
          </a:p>
        </p:txBody>
      </p:sp>
      <p:sp>
        <p:nvSpPr>
          <p:cNvPr id="29" name="Text 27"/>
          <p:cNvSpPr/>
          <p:nvPr/>
        </p:nvSpPr>
        <p:spPr>
          <a:xfrm>
            <a:off x="2651760" y="239572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15,3</a:t>
            </a:r>
            <a:endParaRPr lang="en-US" sz="1150" dirty="0"/>
          </a:p>
        </p:txBody>
      </p:sp>
      <p:sp>
        <p:nvSpPr>
          <p:cNvPr id="30" name="Text 28"/>
          <p:cNvSpPr/>
          <p:nvPr/>
        </p:nvSpPr>
        <p:spPr>
          <a:xfrm>
            <a:off x="3931920" y="239572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51,56</a:t>
            </a:r>
            <a:endParaRPr lang="en-US" sz="1150" dirty="0"/>
          </a:p>
        </p:txBody>
      </p:sp>
      <p:sp>
        <p:nvSpPr>
          <p:cNvPr id="31" name="Text 29"/>
          <p:cNvSpPr/>
          <p:nvPr/>
        </p:nvSpPr>
        <p:spPr>
          <a:xfrm>
            <a:off x="5212080" y="2395728"/>
            <a:ext cx="14173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52,36</a:t>
            </a:r>
            <a:endParaRPr lang="en-US" sz="1150" dirty="0"/>
          </a:p>
        </p:txBody>
      </p:sp>
      <p:sp>
        <p:nvSpPr>
          <p:cNvPr id="32" name="Text 30"/>
          <p:cNvSpPr/>
          <p:nvPr/>
        </p:nvSpPr>
        <p:spPr>
          <a:xfrm>
            <a:off x="6629400" y="2395728"/>
            <a:ext cx="1417320" cy="365760"/>
          </a:xfrm>
          <a:prstGeom prst="rect">
            <a:avLst/>
          </a:prstGeom>
          <a:noFill/>
          <a:ln/>
        </p:spPr>
        <p:txBody>
          <a:bodyPr wrap="square" lIns="38100" tIns="38100" rIns="38100" bIns="38100" rtlCol="0" anchor="ctr"/>
          <a:lstStyle/>
          <a:p>
            <a:pPr algn="ctr" indent="0" marL="0">
              <a:buNone/>
            </a:pPr>
            <a:r>
              <a:rPr lang="en-US" sz="1150" b="1" dirty="0">
                <a:solidFill>
                  <a:srgbClr val="1A1A1A"/>
                </a:solidFill>
                <a:latin typeface="Cambria" pitchFamily="34" charset="0"/>
                <a:ea typeface="Cambria" pitchFamily="34" charset="-122"/>
                <a:cs typeface="Cambria" pitchFamily="34" charset="-120"/>
              </a:rPr>
              <a:t>53,47</a:t>
            </a:r>
            <a:endParaRPr lang="en-US" sz="1150" dirty="0"/>
          </a:p>
        </p:txBody>
      </p:sp>
      <p:sp>
        <p:nvSpPr>
          <p:cNvPr id="33" name="Shape 31"/>
          <p:cNvSpPr/>
          <p:nvPr/>
        </p:nvSpPr>
        <p:spPr>
          <a:xfrm>
            <a:off x="457200" y="2761488"/>
            <a:ext cx="7589520" cy="0"/>
          </a:xfrm>
          <a:prstGeom prst="line">
            <a:avLst/>
          </a:prstGeom>
          <a:noFill/>
          <a:ln w="12700">
            <a:solidFill>
              <a:srgbClr val="9A94AE"/>
            </a:solidFill>
            <a:prstDash val="solid"/>
            <a:tailEnd type="none"/>
          </a:ln>
        </p:spPr>
      </p:sp>
      <p:sp>
        <p:nvSpPr>
          <p:cNvPr id="34" name="Text 32"/>
          <p:cNvSpPr/>
          <p:nvPr/>
        </p:nvSpPr>
        <p:spPr>
          <a:xfrm>
            <a:off x="457200" y="2761488"/>
            <a:ext cx="219456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METEOR</a:t>
            </a:r>
            <a:endParaRPr lang="en-US" sz="1150" dirty="0"/>
          </a:p>
        </p:txBody>
      </p:sp>
      <p:sp>
        <p:nvSpPr>
          <p:cNvPr id="35" name="Text 33"/>
          <p:cNvSpPr/>
          <p:nvPr/>
        </p:nvSpPr>
        <p:spPr>
          <a:xfrm>
            <a:off x="2651760" y="276148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24,6</a:t>
            </a:r>
            <a:endParaRPr lang="en-US" sz="1150" dirty="0"/>
          </a:p>
        </p:txBody>
      </p:sp>
      <p:sp>
        <p:nvSpPr>
          <p:cNvPr id="36" name="Text 34"/>
          <p:cNvSpPr/>
          <p:nvPr/>
        </p:nvSpPr>
        <p:spPr>
          <a:xfrm>
            <a:off x="3931920" y="276148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36,79</a:t>
            </a:r>
            <a:endParaRPr lang="en-US" sz="1150" dirty="0"/>
          </a:p>
        </p:txBody>
      </p:sp>
      <p:sp>
        <p:nvSpPr>
          <p:cNvPr id="37" name="Text 35"/>
          <p:cNvSpPr/>
          <p:nvPr/>
        </p:nvSpPr>
        <p:spPr>
          <a:xfrm>
            <a:off x="5212080" y="2761488"/>
            <a:ext cx="14173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37,92</a:t>
            </a:r>
            <a:endParaRPr lang="en-US" sz="1150" dirty="0"/>
          </a:p>
        </p:txBody>
      </p:sp>
      <p:sp>
        <p:nvSpPr>
          <p:cNvPr id="38" name="Text 36"/>
          <p:cNvSpPr/>
          <p:nvPr/>
        </p:nvSpPr>
        <p:spPr>
          <a:xfrm>
            <a:off x="6629400" y="2761488"/>
            <a:ext cx="1417320" cy="365760"/>
          </a:xfrm>
          <a:prstGeom prst="rect">
            <a:avLst/>
          </a:prstGeom>
          <a:noFill/>
          <a:ln/>
        </p:spPr>
        <p:txBody>
          <a:bodyPr wrap="square" lIns="38100" tIns="38100" rIns="38100" bIns="38100" rtlCol="0" anchor="ctr"/>
          <a:lstStyle/>
          <a:p>
            <a:pPr algn="ctr" indent="0" marL="0">
              <a:buNone/>
            </a:pPr>
            <a:r>
              <a:rPr lang="en-US" sz="1150" b="1" dirty="0">
                <a:solidFill>
                  <a:srgbClr val="1A1A1A"/>
                </a:solidFill>
                <a:latin typeface="Cambria" pitchFamily="34" charset="0"/>
                <a:ea typeface="Cambria" pitchFamily="34" charset="-122"/>
                <a:cs typeface="Cambria" pitchFamily="34" charset="-120"/>
              </a:rPr>
              <a:t>38,37</a:t>
            </a:r>
            <a:endParaRPr lang="en-US" sz="1150" dirty="0"/>
          </a:p>
        </p:txBody>
      </p:sp>
      <p:sp>
        <p:nvSpPr>
          <p:cNvPr id="39" name="Shape 37"/>
          <p:cNvSpPr/>
          <p:nvPr/>
        </p:nvSpPr>
        <p:spPr>
          <a:xfrm>
            <a:off x="457200" y="3127248"/>
            <a:ext cx="7589520" cy="0"/>
          </a:xfrm>
          <a:prstGeom prst="line">
            <a:avLst/>
          </a:prstGeom>
          <a:noFill/>
          <a:ln w="12700">
            <a:solidFill>
              <a:srgbClr val="9A94AE"/>
            </a:solidFill>
            <a:prstDash val="solid"/>
            <a:tailEnd type="none"/>
          </a:ln>
        </p:spPr>
      </p:sp>
      <p:sp>
        <p:nvSpPr>
          <p:cNvPr id="40" name="Text 38"/>
          <p:cNvSpPr/>
          <p:nvPr/>
        </p:nvSpPr>
        <p:spPr>
          <a:xfrm>
            <a:off x="457200" y="3127248"/>
            <a:ext cx="219456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ROUGE-L</a:t>
            </a:r>
            <a:endParaRPr lang="en-US" sz="1150" dirty="0"/>
          </a:p>
        </p:txBody>
      </p:sp>
      <p:sp>
        <p:nvSpPr>
          <p:cNvPr id="41" name="Text 39"/>
          <p:cNvSpPr/>
          <p:nvPr/>
        </p:nvSpPr>
        <p:spPr>
          <a:xfrm>
            <a:off x="2651760" y="312724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42,3</a:t>
            </a:r>
            <a:endParaRPr lang="en-US" sz="1150" dirty="0"/>
          </a:p>
        </p:txBody>
      </p:sp>
      <p:sp>
        <p:nvSpPr>
          <p:cNvPr id="42" name="Text 40"/>
          <p:cNvSpPr/>
          <p:nvPr/>
        </p:nvSpPr>
        <p:spPr>
          <a:xfrm>
            <a:off x="3931920" y="312724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67,35</a:t>
            </a:r>
            <a:endParaRPr lang="en-US" sz="1150" dirty="0"/>
          </a:p>
        </p:txBody>
      </p:sp>
      <p:sp>
        <p:nvSpPr>
          <p:cNvPr id="43" name="Text 41"/>
          <p:cNvSpPr/>
          <p:nvPr/>
        </p:nvSpPr>
        <p:spPr>
          <a:xfrm>
            <a:off x="5212080" y="3127248"/>
            <a:ext cx="14173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68,36</a:t>
            </a:r>
            <a:endParaRPr lang="en-US" sz="1150" dirty="0"/>
          </a:p>
        </p:txBody>
      </p:sp>
      <p:sp>
        <p:nvSpPr>
          <p:cNvPr id="44" name="Text 42"/>
          <p:cNvSpPr/>
          <p:nvPr/>
        </p:nvSpPr>
        <p:spPr>
          <a:xfrm>
            <a:off x="6629400" y="3127248"/>
            <a:ext cx="1417320" cy="365760"/>
          </a:xfrm>
          <a:prstGeom prst="rect">
            <a:avLst/>
          </a:prstGeom>
          <a:noFill/>
          <a:ln/>
        </p:spPr>
        <p:txBody>
          <a:bodyPr wrap="square" lIns="38100" tIns="38100" rIns="38100" bIns="38100" rtlCol="0" anchor="ctr"/>
          <a:lstStyle/>
          <a:p>
            <a:pPr algn="ctr" indent="0" marL="0">
              <a:buNone/>
            </a:pPr>
            <a:r>
              <a:rPr lang="en-US" sz="1150" b="1" dirty="0">
                <a:solidFill>
                  <a:srgbClr val="1A1A1A"/>
                </a:solidFill>
                <a:latin typeface="Cambria" pitchFamily="34" charset="0"/>
                <a:ea typeface="Cambria" pitchFamily="34" charset="-122"/>
                <a:cs typeface="Cambria" pitchFamily="34" charset="-120"/>
              </a:rPr>
              <a:t>69,08</a:t>
            </a:r>
            <a:endParaRPr lang="en-US" sz="1150" dirty="0"/>
          </a:p>
        </p:txBody>
      </p:sp>
      <p:sp>
        <p:nvSpPr>
          <p:cNvPr id="45" name="Shape 43"/>
          <p:cNvSpPr/>
          <p:nvPr/>
        </p:nvSpPr>
        <p:spPr>
          <a:xfrm>
            <a:off x="457200" y="3493008"/>
            <a:ext cx="7589520" cy="0"/>
          </a:xfrm>
          <a:prstGeom prst="line">
            <a:avLst/>
          </a:prstGeom>
          <a:noFill/>
          <a:ln w="12700">
            <a:solidFill>
              <a:srgbClr val="9A94AE"/>
            </a:solidFill>
            <a:prstDash val="solid"/>
            <a:tailEnd type="none"/>
          </a:ln>
        </p:spPr>
      </p:sp>
      <p:sp>
        <p:nvSpPr>
          <p:cNvPr id="46" name="Text 44"/>
          <p:cNvSpPr/>
          <p:nvPr/>
        </p:nvSpPr>
        <p:spPr>
          <a:xfrm>
            <a:off x="457200" y="3493008"/>
            <a:ext cx="219456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CIDEr-D</a:t>
            </a:r>
            <a:endParaRPr lang="en-US" sz="1150" dirty="0"/>
          </a:p>
        </p:txBody>
      </p:sp>
      <p:sp>
        <p:nvSpPr>
          <p:cNvPr id="47" name="Text 45"/>
          <p:cNvSpPr/>
          <p:nvPr/>
        </p:nvSpPr>
        <p:spPr>
          <a:xfrm>
            <a:off x="2651760" y="349300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88,0</a:t>
            </a:r>
            <a:endParaRPr lang="en-US" sz="1150" dirty="0"/>
          </a:p>
        </p:txBody>
      </p:sp>
      <p:sp>
        <p:nvSpPr>
          <p:cNvPr id="48" name="Text 46"/>
          <p:cNvSpPr/>
          <p:nvPr/>
        </p:nvSpPr>
        <p:spPr>
          <a:xfrm>
            <a:off x="3931920" y="349300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416,1</a:t>
            </a:r>
            <a:endParaRPr lang="en-US" sz="1150" dirty="0"/>
          </a:p>
        </p:txBody>
      </p:sp>
      <p:sp>
        <p:nvSpPr>
          <p:cNvPr id="49" name="Text 47"/>
          <p:cNvSpPr/>
          <p:nvPr/>
        </p:nvSpPr>
        <p:spPr>
          <a:xfrm>
            <a:off x="5212080" y="3493008"/>
            <a:ext cx="14173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430,0</a:t>
            </a:r>
            <a:endParaRPr lang="en-US" sz="1150" dirty="0"/>
          </a:p>
        </p:txBody>
      </p:sp>
      <p:sp>
        <p:nvSpPr>
          <p:cNvPr id="50" name="Text 48"/>
          <p:cNvSpPr/>
          <p:nvPr/>
        </p:nvSpPr>
        <p:spPr>
          <a:xfrm>
            <a:off x="6629400" y="3493008"/>
            <a:ext cx="1417320" cy="365760"/>
          </a:xfrm>
          <a:prstGeom prst="rect">
            <a:avLst/>
          </a:prstGeom>
          <a:noFill/>
          <a:ln/>
        </p:spPr>
        <p:txBody>
          <a:bodyPr wrap="square" lIns="38100" tIns="38100" rIns="38100" bIns="38100" rtlCol="0" anchor="ctr"/>
          <a:lstStyle/>
          <a:p>
            <a:pPr algn="ctr" indent="0" marL="0">
              <a:buNone/>
            </a:pPr>
            <a:r>
              <a:rPr lang="en-US" sz="1150" b="1" dirty="0">
                <a:solidFill>
                  <a:srgbClr val="1A1A1A"/>
                </a:solidFill>
                <a:latin typeface="Cambria" pitchFamily="34" charset="0"/>
                <a:ea typeface="Cambria" pitchFamily="34" charset="-122"/>
                <a:cs typeface="Cambria" pitchFamily="34" charset="-120"/>
              </a:rPr>
              <a:t>442,0</a:t>
            </a:r>
            <a:endParaRPr lang="en-US" sz="1150" dirty="0"/>
          </a:p>
        </p:txBody>
      </p:sp>
      <p:sp>
        <p:nvSpPr>
          <p:cNvPr id="51" name="Shape 49"/>
          <p:cNvSpPr/>
          <p:nvPr/>
        </p:nvSpPr>
        <p:spPr>
          <a:xfrm>
            <a:off x="457200" y="3858768"/>
            <a:ext cx="7589520" cy="0"/>
          </a:xfrm>
          <a:prstGeom prst="line">
            <a:avLst/>
          </a:prstGeom>
          <a:noFill/>
          <a:ln w="12700">
            <a:solidFill>
              <a:srgbClr val="9A94AE"/>
            </a:solidFill>
            <a:prstDash val="solid"/>
            <a:tailEnd type="none"/>
          </a:ln>
        </p:spPr>
      </p:sp>
      <p:sp>
        <p:nvSpPr>
          <p:cNvPr id="52" name="Text 50"/>
          <p:cNvSpPr/>
          <p:nvPr/>
        </p:nvSpPr>
        <p:spPr>
          <a:xfrm>
            <a:off x="457200" y="3858768"/>
            <a:ext cx="219456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SPICE</a:t>
            </a:r>
            <a:endParaRPr lang="en-US" sz="1150" dirty="0"/>
          </a:p>
        </p:txBody>
      </p:sp>
      <p:sp>
        <p:nvSpPr>
          <p:cNvPr id="53" name="Text 51"/>
          <p:cNvSpPr/>
          <p:nvPr/>
        </p:nvSpPr>
        <p:spPr>
          <a:xfrm>
            <a:off x="2651760" y="385876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18,5</a:t>
            </a:r>
            <a:endParaRPr lang="en-US" sz="1150" dirty="0"/>
          </a:p>
        </p:txBody>
      </p:sp>
      <p:sp>
        <p:nvSpPr>
          <p:cNvPr id="54" name="Text 52"/>
          <p:cNvSpPr/>
          <p:nvPr/>
        </p:nvSpPr>
        <p:spPr>
          <a:xfrm>
            <a:off x="3931920" y="385876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44,37</a:t>
            </a:r>
            <a:endParaRPr lang="en-US" sz="1150" dirty="0"/>
          </a:p>
        </p:txBody>
      </p:sp>
      <p:sp>
        <p:nvSpPr>
          <p:cNvPr id="55" name="Text 53"/>
          <p:cNvSpPr/>
          <p:nvPr/>
        </p:nvSpPr>
        <p:spPr>
          <a:xfrm>
            <a:off x="5212080" y="3858768"/>
            <a:ext cx="14173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45,79</a:t>
            </a:r>
            <a:endParaRPr lang="en-US" sz="1150" dirty="0"/>
          </a:p>
        </p:txBody>
      </p:sp>
      <p:sp>
        <p:nvSpPr>
          <p:cNvPr id="56" name="Text 54"/>
          <p:cNvSpPr/>
          <p:nvPr/>
        </p:nvSpPr>
        <p:spPr>
          <a:xfrm>
            <a:off x="6629400" y="3858768"/>
            <a:ext cx="1417320" cy="365760"/>
          </a:xfrm>
          <a:prstGeom prst="rect">
            <a:avLst/>
          </a:prstGeom>
          <a:noFill/>
          <a:ln/>
        </p:spPr>
        <p:txBody>
          <a:bodyPr wrap="square" lIns="38100" tIns="38100" rIns="38100" bIns="38100" rtlCol="0" anchor="ctr"/>
          <a:lstStyle/>
          <a:p>
            <a:pPr algn="ctr" indent="0" marL="0">
              <a:buNone/>
            </a:pPr>
            <a:r>
              <a:rPr lang="en-US" sz="1150" b="1" dirty="0">
                <a:solidFill>
                  <a:srgbClr val="1A1A1A"/>
                </a:solidFill>
                <a:latin typeface="Cambria" pitchFamily="34" charset="0"/>
                <a:ea typeface="Cambria" pitchFamily="34" charset="-122"/>
                <a:cs typeface="Cambria" pitchFamily="34" charset="-120"/>
              </a:rPr>
              <a:t>47,13</a:t>
            </a:r>
            <a:endParaRPr lang="en-US" sz="1150" dirty="0"/>
          </a:p>
        </p:txBody>
      </p:sp>
      <p:sp>
        <p:nvSpPr>
          <p:cNvPr id="57" name="Shape 55"/>
          <p:cNvSpPr/>
          <p:nvPr/>
        </p:nvSpPr>
        <p:spPr>
          <a:xfrm>
            <a:off x="457200" y="4224528"/>
            <a:ext cx="7589520" cy="0"/>
          </a:xfrm>
          <a:prstGeom prst="line">
            <a:avLst/>
          </a:prstGeom>
          <a:noFill/>
          <a:ln w="12700">
            <a:solidFill>
              <a:srgbClr val="9A94AE"/>
            </a:solidFill>
            <a:prstDash val="solid"/>
            <a:tailEnd type="none"/>
          </a:ln>
        </p:spPr>
      </p:sp>
      <p:sp>
        <p:nvSpPr>
          <p:cNvPr id="58" name="Text 56"/>
          <p:cNvSpPr/>
          <p:nvPr/>
        </p:nvSpPr>
        <p:spPr>
          <a:xfrm>
            <a:off x="457200" y="4224528"/>
            <a:ext cx="219456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chrF</a:t>
            </a:r>
            <a:endParaRPr lang="en-US" sz="1150" dirty="0"/>
          </a:p>
        </p:txBody>
      </p:sp>
      <p:sp>
        <p:nvSpPr>
          <p:cNvPr id="59" name="Text 57"/>
          <p:cNvSpPr/>
          <p:nvPr/>
        </p:nvSpPr>
        <p:spPr>
          <a:xfrm>
            <a:off x="2651760" y="422452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40,2</a:t>
            </a:r>
            <a:endParaRPr lang="en-US" sz="1150" dirty="0"/>
          </a:p>
        </p:txBody>
      </p:sp>
      <p:sp>
        <p:nvSpPr>
          <p:cNvPr id="60" name="Text 58"/>
          <p:cNvSpPr/>
          <p:nvPr/>
        </p:nvSpPr>
        <p:spPr>
          <a:xfrm>
            <a:off x="3931920" y="422452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61,26</a:t>
            </a:r>
            <a:endParaRPr lang="en-US" sz="1150" dirty="0"/>
          </a:p>
        </p:txBody>
      </p:sp>
      <p:sp>
        <p:nvSpPr>
          <p:cNvPr id="61" name="Text 59"/>
          <p:cNvSpPr/>
          <p:nvPr/>
        </p:nvSpPr>
        <p:spPr>
          <a:xfrm>
            <a:off x="5212080" y="4224528"/>
            <a:ext cx="14173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62,87</a:t>
            </a:r>
            <a:endParaRPr lang="en-US" sz="1150" dirty="0"/>
          </a:p>
        </p:txBody>
      </p:sp>
      <p:sp>
        <p:nvSpPr>
          <p:cNvPr id="62" name="Text 60"/>
          <p:cNvSpPr/>
          <p:nvPr/>
        </p:nvSpPr>
        <p:spPr>
          <a:xfrm>
            <a:off x="6629400" y="4224528"/>
            <a:ext cx="1417320" cy="365760"/>
          </a:xfrm>
          <a:prstGeom prst="rect">
            <a:avLst/>
          </a:prstGeom>
          <a:noFill/>
          <a:ln/>
        </p:spPr>
        <p:txBody>
          <a:bodyPr wrap="square" lIns="38100" tIns="38100" rIns="38100" bIns="38100" rtlCol="0" anchor="ctr"/>
          <a:lstStyle/>
          <a:p>
            <a:pPr algn="ctr" indent="0" marL="0">
              <a:buNone/>
            </a:pPr>
            <a:r>
              <a:rPr lang="en-US" sz="1150" b="1" dirty="0">
                <a:solidFill>
                  <a:srgbClr val="1A1A1A"/>
                </a:solidFill>
                <a:latin typeface="Cambria" pitchFamily="34" charset="0"/>
                <a:ea typeface="Cambria" pitchFamily="34" charset="-122"/>
                <a:cs typeface="Cambria" pitchFamily="34" charset="-120"/>
              </a:rPr>
              <a:t>63,44</a:t>
            </a:r>
            <a:endParaRPr lang="en-US" sz="1150" dirty="0"/>
          </a:p>
        </p:txBody>
      </p:sp>
      <p:sp>
        <p:nvSpPr>
          <p:cNvPr id="63" name="Shape 61"/>
          <p:cNvSpPr/>
          <p:nvPr/>
        </p:nvSpPr>
        <p:spPr>
          <a:xfrm>
            <a:off x="457200" y="4590288"/>
            <a:ext cx="7589520" cy="0"/>
          </a:xfrm>
          <a:prstGeom prst="line">
            <a:avLst/>
          </a:prstGeom>
          <a:noFill/>
          <a:ln w="12700">
            <a:solidFill>
              <a:srgbClr val="9A94AE"/>
            </a:solidFill>
            <a:prstDash val="solid"/>
            <a:tailEnd type="none"/>
          </a:ln>
        </p:spPr>
      </p:sp>
      <p:sp>
        <p:nvSpPr>
          <p:cNvPr id="64" name="Text 62"/>
          <p:cNvSpPr/>
          <p:nvPr/>
        </p:nvSpPr>
        <p:spPr>
          <a:xfrm>
            <a:off x="457200" y="4590288"/>
            <a:ext cx="219456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BERTScore</a:t>
            </a:r>
            <a:endParaRPr lang="en-US" sz="1150" dirty="0"/>
          </a:p>
        </p:txBody>
      </p:sp>
      <p:sp>
        <p:nvSpPr>
          <p:cNvPr id="65" name="Text 63"/>
          <p:cNvSpPr/>
          <p:nvPr/>
        </p:nvSpPr>
        <p:spPr>
          <a:xfrm>
            <a:off x="2651760" y="459028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40,1</a:t>
            </a:r>
            <a:endParaRPr lang="en-US" sz="1150" dirty="0"/>
          </a:p>
        </p:txBody>
      </p:sp>
      <p:sp>
        <p:nvSpPr>
          <p:cNvPr id="66" name="Text 64"/>
          <p:cNvSpPr/>
          <p:nvPr/>
        </p:nvSpPr>
        <p:spPr>
          <a:xfrm>
            <a:off x="3931920" y="4590288"/>
            <a:ext cx="12801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66,33</a:t>
            </a:r>
            <a:endParaRPr lang="en-US" sz="1150" dirty="0"/>
          </a:p>
        </p:txBody>
      </p:sp>
      <p:sp>
        <p:nvSpPr>
          <p:cNvPr id="67" name="Text 65"/>
          <p:cNvSpPr/>
          <p:nvPr/>
        </p:nvSpPr>
        <p:spPr>
          <a:xfrm>
            <a:off x="5212080" y="4590288"/>
            <a:ext cx="14173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67,07</a:t>
            </a:r>
            <a:endParaRPr lang="en-US" sz="1150" dirty="0"/>
          </a:p>
        </p:txBody>
      </p:sp>
      <p:sp>
        <p:nvSpPr>
          <p:cNvPr id="68" name="Text 66"/>
          <p:cNvSpPr/>
          <p:nvPr/>
        </p:nvSpPr>
        <p:spPr>
          <a:xfrm>
            <a:off x="6629400" y="4590288"/>
            <a:ext cx="1417320" cy="365760"/>
          </a:xfrm>
          <a:prstGeom prst="rect">
            <a:avLst/>
          </a:prstGeom>
          <a:noFill/>
          <a:ln/>
        </p:spPr>
        <p:txBody>
          <a:bodyPr wrap="square" lIns="38100" tIns="38100" rIns="38100" bIns="38100" rtlCol="0" anchor="ctr"/>
          <a:lstStyle/>
          <a:p>
            <a:pPr algn="ctr" indent="0" marL="0">
              <a:buNone/>
            </a:pPr>
            <a:r>
              <a:rPr lang="en-US" sz="1150" b="1" dirty="0">
                <a:solidFill>
                  <a:srgbClr val="1A1A1A"/>
                </a:solidFill>
                <a:latin typeface="Cambria" pitchFamily="34" charset="0"/>
                <a:ea typeface="Cambria" pitchFamily="34" charset="-122"/>
                <a:cs typeface="Cambria" pitchFamily="34" charset="-120"/>
              </a:rPr>
              <a:t>67,73</a:t>
            </a:r>
            <a:endParaRPr lang="en-US" sz="1150" dirty="0"/>
          </a:p>
        </p:txBody>
      </p:sp>
      <p:sp>
        <p:nvSpPr>
          <p:cNvPr id="69" name="Text 67"/>
          <p:cNvSpPr/>
          <p:nvPr/>
        </p:nvSpPr>
        <p:spPr>
          <a:xfrm>
            <a:off x="457200" y="5230368"/>
            <a:ext cx="8229600" cy="502920"/>
          </a:xfrm>
          <a:prstGeom prst="rect">
            <a:avLst/>
          </a:prstGeom>
          <a:noFill/>
          <a:ln/>
        </p:spPr>
        <p:txBody>
          <a:bodyPr wrap="square" lIns="0" tIns="0" rIns="0" bIns="0" rtlCol="0" anchor="t"/>
          <a:lstStyle/>
          <a:p>
            <a:pPr algn="ctr" indent="0" marL="0">
              <a:buNone/>
            </a:pPr>
            <a:r>
              <a:rPr lang="en-US" sz="1150" i="1" dirty="0">
                <a:solidFill>
                  <a:srgbClr val="5A5A66"/>
                </a:solidFill>
                <a:latin typeface="Cambria" pitchFamily="34" charset="0"/>
                <a:ea typeface="Cambria" pitchFamily="34" charset="-122"/>
                <a:cs typeface="Cambria" pitchFamily="34" charset="-120"/>
              </a:rPr>
              <a:t>Với các mô hình chênh &lt;2 pp executability, text metrics có thể xếp hạng khác; kết luận chính vẫn đọc trên executability.</a:t>
            </a:r>
            <a:endParaRPr lang="en-US" sz="1150" dirty="0"/>
          </a:p>
        </p:txBody>
      </p:sp>
      <p:sp>
        <p:nvSpPr>
          <p:cNvPr id="70" name="Shape 68"/>
          <p:cNvSpPr/>
          <p:nvPr/>
        </p:nvSpPr>
        <p:spPr>
          <a:xfrm>
            <a:off x="0" y="6620256"/>
            <a:ext cx="2743200" cy="237744"/>
          </a:xfrm>
          <a:prstGeom prst="rect">
            <a:avLst/>
          </a:prstGeom>
          <a:solidFill>
            <a:srgbClr val="191132"/>
          </a:solidFill>
          <a:ln/>
        </p:spPr>
      </p:sp>
      <p:sp>
        <p:nvSpPr>
          <p:cNvPr id="71" name="Shape 69"/>
          <p:cNvSpPr/>
          <p:nvPr/>
        </p:nvSpPr>
        <p:spPr>
          <a:xfrm>
            <a:off x="2743200" y="6620256"/>
            <a:ext cx="3383280" cy="237744"/>
          </a:xfrm>
          <a:prstGeom prst="rect">
            <a:avLst/>
          </a:prstGeom>
          <a:solidFill>
            <a:srgbClr val="25194B"/>
          </a:solidFill>
          <a:ln/>
        </p:spPr>
      </p:sp>
      <p:sp>
        <p:nvSpPr>
          <p:cNvPr id="72" name="Shape 70"/>
          <p:cNvSpPr/>
          <p:nvPr/>
        </p:nvSpPr>
        <p:spPr>
          <a:xfrm>
            <a:off x="6126480" y="6620256"/>
            <a:ext cx="1737360" cy="237744"/>
          </a:xfrm>
          <a:prstGeom prst="rect">
            <a:avLst/>
          </a:prstGeom>
          <a:solidFill>
            <a:srgbClr val="4F417A"/>
          </a:solidFill>
          <a:ln/>
        </p:spPr>
      </p:sp>
      <p:sp>
        <p:nvSpPr>
          <p:cNvPr id="73" name="Shape 71"/>
          <p:cNvSpPr/>
          <p:nvPr/>
        </p:nvSpPr>
        <p:spPr>
          <a:xfrm>
            <a:off x="7863840" y="6620256"/>
            <a:ext cx="1280160" cy="237744"/>
          </a:xfrm>
          <a:prstGeom prst="rect">
            <a:avLst/>
          </a:prstGeom>
          <a:solidFill>
            <a:srgbClr val="7A7099"/>
          </a:solidFill>
          <a:ln/>
        </p:spPr>
      </p:sp>
      <p:sp>
        <p:nvSpPr>
          <p:cNvPr id="74" name="Text 7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75" name="Text 7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76" name="Text 7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77" name="Text 7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2</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Cross-listener validation</a:t>
            </a:r>
            <a:endParaRPr lang="en-US" sz="1900" dirty="0"/>
          </a:p>
        </p:txBody>
      </p:sp>
      <p:sp>
        <p:nvSpPr>
          <p:cNvPr id="4" name="Shape 2"/>
          <p:cNvSpPr/>
          <p:nvPr/>
        </p:nvSpPr>
        <p:spPr>
          <a:xfrm>
            <a:off x="457200" y="1051560"/>
            <a:ext cx="7772400" cy="402336"/>
          </a:xfrm>
          <a:prstGeom prst="rect">
            <a:avLst/>
          </a:prstGeom>
          <a:solidFill>
            <a:srgbClr val="322164"/>
          </a:solidFill>
          <a:ln/>
        </p:spPr>
      </p:sp>
      <p:sp>
        <p:nvSpPr>
          <p:cNvPr id="5" name="Text 3"/>
          <p:cNvSpPr/>
          <p:nvPr/>
        </p:nvSpPr>
        <p:spPr>
          <a:xfrm>
            <a:off x="457200" y="1051560"/>
            <a:ext cx="3108960" cy="402336"/>
          </a:xfrm>
          <a:prstGeom prst="rect">
            <a:avLst/>
          </a:prstGeom>
          <a:noFill/>
          <a:ln/>
        </p:spPr>
        <p:txBody>
          <a:bodyPr wrap="square" lIns="38100" tIns="38100" rIns="38100" bIns="38100" rtlCol="0" anchor="ctr"/>
          <a:lstStyle/>
          <a:p>
            <a:pPr algn="l" indent="0" marL="0">
              <a:buNone/>
            </a:pPr>
            <a:r>
              <a:rPr lang="en-US" sz="1230" b="1" dirty="0">
                <a:solidFill>
                  <a:srgbClr val="FFFFFF"/>
                </a:solidFill>
                <a:latin typeface="Cambria" pitchFamily="34" charset="0"/>
                <a:ea typeface="Cambria" pitchFamily="34" charset="-122"/>
                <a:cs typeface="Cambria" pitchFamily="34" charset="-120"/>
              </a:rPr>
              <a:t>Comparison</a:t>
            </a:r>
            <a:endParaRPr lang="en-US" sz="1230" dirty="0"/>
          </a:p>
        </p:txBody>
      </p:sp>
      <p:sp>
        <p:nvSpPr>
          <p:cNvPr id="6" name="Text 4"/>
          <p:cNvSpPr/>
          <p:nvPr/>
        </p:nvSpPr>
        <p:spPr>
          <a:xfrm>
            <a:off x="3566160" y="1051560"/>
            <a:ext cx="2331720" cy="402336"/>
          </a:xfrm>
          <a:prstGeom prst="rect">
            <a:avLst/>
          </a:prstGeom>
          <a:noFill/>
          <a:ln/>
        </p:spPr>
        <p:txBody>
          <a:bodyPr wrap="square" lIns="38100" tIns="38100" rIns="38100" bIns="38100" rtlCol="0" anchor="ctr"/>
          <a:lstStyle/>
          <a:p>
            <a:pPr algn="ctr" indent="0" marL="0">
              <a:buNone/>
            </a:pPr>
            <a:r>
              <a:rPr lang="en-US" sz="1230" b="1" dirty="0">
                <a:solidFill>
                  <a:srgbClr val="FFFFFF"/>
                </a:solidFill>
                <a:latin typeface="Cambria" pitchFamily="34" charset="0"/>
                <a:ea typeface="Cambria" pitchFamily="34" charset="-122"/>
                <a:cs typeface="Cambria" pitchFamily="34" charset="-120"/>
              </a:rPr>
              <a:t>UGround</a:t>
            </a:r>
            <a:endParaRPr lang="en-US" sz="1230" dirty="0"/>
          </a:p>
        </p:txBody>
      </p:sp>
      <p:sp>
        <p:nvSpPr>
          <p:cNvPr id="7" name="Text 5"/>
          <p:cNvSpPr/>
          <p:nvPr/>
        </p:nvSpPr>
        <p:spPr>
          <a:xfrm>
            <a:off x="5897880" y="1051560"/>
            <a:ext cx="2331720" cy="402336"/>
          </a:xfrm>
          <a:prstGeom prst="rect">
            <a:avLst/>
          </a:prstGeom>
          <a:noFill/>
          <a:ln/>
        </p:spPr>
        <p:txBody>
          <a:bodyPr wrap="square" lIns="38100" tIns="38100" rIns="38100" bIns="38100" rtlCol="0" anchor="ctr"/>
          <a:lstStyle/>
          <a:p>
            <a:pPr algn="ctr" indent="0" marL="0">
              <a:buNone/>
            </a:pPr>
            <a:r>
              <a:rPr lang="en-US" sz="1230" b="1" dirty="0">
                <a:solidFill>
                  <a:srgbClr val="FFFFFF"/>
                </a:solidFill>
                <a:latin typeface="Cambria" pitchFamily="34" charset="0"/>
                <a:ea typeface="Cambria" pitchFamily="34" charset="-122"/>
                <a:cs typeface="Cambria" pitchFamily="34" charset="-120"/>
              </a:rPr>
              <a:t>UI-Venus</a:t>
            </a:r>
            <a:endParaRPr lang="en-US" sz="1230" dirty="0"/>
          </a:p>
        </p:txBody>
      </p:sp>
      <p:sp>
        <p:nvSpPr>
          <p:cNvPr id="8" name="Text 6"/>
          <p:cNvSpPr/>
          <p:nvPr/>
        </p:nvSpPr>
        <p:spPr>
          <a:xfrm>
            <a:off x="457200" y="1453896"/>
            <a:ext cx="3108960" cy="50292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S1 − Base</a:t>
            </a:r>
            <a:endParaRPr lang="en-US" sz="1150" dirty="0"/>
          </a:p>
        </p:txBody>
      </p:sp>
      <p:sp>
        <p:nvSpPr>
          <p:cNvPr id="9" name="Text 7"/>
          <p:cNvSpPr/>
          <p:nvPr/>
        </p:nvSpPr>
        <p:spPr>
          <a:xfrm>
            <a:off x="3566160" y="1453896"/>
            <a:ext cx="2331720" cy="502920"/>
          </a:xfrm>
          <a:prstGeom prst="rect">
            <a:avLst/>
          </a:prstGeom>
          <a:noFill/>
          <a:ln/>
        </p:spPr>
        <p:txBody>
          <a:bodyPr wrap="square" lIns="38100" tIns="38100" rIns="38100" bIns="38100" rtlCol="0" anchor="ctr"/>
          <a:lstStyle/>
          <a:p>
            <a:pPr algn="ctr" indent="0" marL="0">
              <a:buNone/>
            </a:pPr>
            <a:r>
              <a:rPr lang="en-US" sz="1150" b="1" dirty="0">
                <a:solidFill>
                  <a:srgbClr val="006666"/>
                </a:solidFill>
                <a:latin typeface="Cambria" pitchFamily="34" charset="0"/>
                <a:ea typeface="Cambria" pitchFamily="34" charset="-122"/>
                <a:cs typeface="Cambria" pitchFamily="34" charset="-120"/>
              </a:rPr>
              <a:t>+10,35</a:t>
            </a:r>
            <a:endParaRPr lang="en-US" sz="1150" dirty="0"/>
          </a:p>
        </p:txBody>
      </p:sp>
      <p:sp>
        <p:nvSpPr>
          <p:cNvPr id="10" name="Text 8"/>
          <p:cNvSpPr/>
          <p:nvPr/>
        </p:nvSpPr>
        <p:spPr>
          <a:xfrm>
            <a:off x="5897880" y="1453896"/>
            <a:ext cx="2331720" cy="502920"/>
          </a:xfrm>
          <a:prstGeom prst="rect">
            <a:avLst/>
          </a:prstGeom>
          <a:noFill/>
          <a:ln/>
        </p:spPr>
        <p:txBody>
          <a:bodyPr wrap="square" lIns="38100" tIns="38100" rIns="38100" bIns="38100" rtlCol="0" anchor="ctr"/>
          <a:lstStyle/>
          <a:p>
            <a:pPr algn="ctr" indent="0" marL="0">
              <a:buNone/>
            </a:pPr>
            <a:r>
              <a:rPr lang="en-US" sz="1150" b="1" dirty="0">
                <a:solidFill>
                  <a:srgbClr val="006666"/>
                </a:solidFill>
                <a:latin typeface="Cambria" pitchFamily="34" charset="0"/>
                <a:ea typeface="Cambria" pitchFamily="34" charset="-122"/>
                <a:cs typeface="Cambria" pitchFamily="34" charset="-120"/>
              </a:rPr>
              <a:t>+9,68</a:t>
            </a:r>
            <a:endParaRPr lang="en-US" sz="1150" dirty="0"/>
          </a:p>
        </p:txBody>
      </p:sp>
      <p:sp>
        <p:nvSpPr>
          <p:cNvPr id="11" name="Shape 9"/>
          <p:cNvSpPr/>
          <p:nvPr/>
        </p:nvSpPr>
        <p:spPr>
          <a:xfrm>
            <a:off x="457200" y="1956816"/>
            <a:ext cx="7772400" cy="0"/>
          </a:xfrm>
          <a:prstGeom prst="line">
            <a:avLst/>
          </a:prstGeom>
          <a:noFill/>
          <a:ln w="12700">
            <a:solidFill>
              <a:srgbClr val="9A94AE"/>
            </a:solidFill>
            <a:prstDash val="solid"/>
            <a:tailEnd type="none"/>
          </a:ln>
        </p:spPr>
      </p:sp>
      <p:sp>
        <p:nvSpPr>
          <p:cNvPr id="12" name="Text 10"/>
          <p:cNvSpPr/>
          <p:nvPr/>
        </p:nvSpPr>
        <p:spPr>
          <a:xfrm>
            <a:off x="457200" y="1956816"/>
            <a:ext cx="3108960" cy="50292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S2 − S1</a:t>
            </a:r>
            <a:endParaRPr lang="en-US" sz="1150" dirty="0"/>
          </a:p>
        </p:txBody>
      </p:sp>
      <p:sp>
        <p:nvSpPr>
          <p:cNvPr id="13" name="Text 11"/>
          <p:cNvSpPr/>
          <p:nvPr/>
        </p:nvSpPr>
        <p:spPr>
          <a:xfrm>
            <a:off x="3566160" y="1956816"/>
            <a:ext cx="2331720" cy="502920"/>
          </a:xfrm>
          <a:prstGeom prst="rect">
            <a:avLst/>
          </a:prstGeom>
          <a:noFill/>
          <a:ln/>
        </p:spPr>
        <p:txBody>
          <a:bodyPr wrap="square" lIns="38100" tIns="38100" rIns="38100" bIns="38100" rtlCol="0" anchor="ctr"/>
          <a:lstStyle/>
          <a:p>
            <a:pPr algn="ctr" indent="0" marL="0">
              <a:buNone/>
            </a:pPr>
            <a:r>
              <a:rPr lang="en-US" sz="1150" dirty="0">
                <a:solidFill>
                  <a:srgbClr val="B22222"/>
                </a:solidFill>
                <a:latin typeface="Cambria" pitchFamily="34" charset="0"/>
                <a:ea typeface="Cambria" pitchFamily="34" charset="-122"/>
                <a:cs typeface="Cambria" pitchFamily="34" charset="-120"/>
              </a:rPr>
              <a:t>−1,93</a:t>
            </a:r>
            <a:endParaRPr lang="en-US" sz="1150" dirty="0"/>
          </a:p>
        </p:txBody>
      </p:sp>
      <p:sp>
        <p:nvSpPr>
          <p:cNvPr id="14" name="Text 12"/>
          <p:cNvSpPr/>
          <p:nvPr/>
        </p:nvSpPr>
        <p:spPr>
          <a:xfrm>
            <a:off x="5897880" y="1956816"/>
            <a:ext cx="2331720" cy="502920"/>
          </a:xfrm>
          <a:prstGeom prst="rect">
            <a:avLst/>
          </a:prstGeom>
          <a:noFill/>
          <a:ln/>
        </p:spPr>
        <p:txBody>
          <a:bodyPr wrap="square" lIns="38100" tIns="38100" rIns="38100" bIns="38100" rtlCol="0" anchor="ctr"/>
          <a:lstStyle/>
          <a:p>
            <a:pPr algn="ctr" indent="0" marL="0">
              <a:buNone/>
            </a:pPr>
            <a:r>
              <a:rPr lang="en-US" sz="1150" dirty="0">
                <a:solidFill>
                  <a:srgbClr val="B22222"/>
                </a:solidFill>
                <a:latin typeface="Cambria" pitchFamily="34" charset="0"/>
                <a:ea typeface="Cambria" pitchFamily="34" charset="-122"/>
                <a:cs typeface="Cambria" pitchFamily="34" charset="-120"/>
              </a:rPr>
              <a:t>−1,21</a:t>
            </a:r>
            <a:endParaRPr lang="en-US" sz="1150" dirty="0"/>
          </a:p>
        </p:txBody>
      </p:sp>
      <p:sp>
        <p:nvSpPr>
          <p:cNvPr id="15" name="Shape 13"/>
          <p:cNvSpPr/>
          <p:nvPr/>
        </p:nvSpPr>
        <p:spPr>
          <a:xfrm>
            <a:off x="457200" y="2459736"/>
            <a:ext cx="7772400" cy="0"/>
          </a:xfrm>
          <a:prstGeom prst="line">
            <a:avLst/>
          </a:prstGeom>
          <a:noFill/>
          <a:ln w="12700">
            <a:solidFill>
              <a:srgbClr val="9A94AE"/>
            </a:solidFill>
            <a:prstDash val="solid"/>
            <a:tailEnd type="none"/>
          </a:ln>
        </p:spPr>
      </p:sp>
      <p:sp>
        <p:nvSpPr>
          <p:cNvPr id="16" name="Text 14"/>
          <p:cNvSpPr/>
          <p:nvPr/>
        </p:nvSpPr>
        <p:spPr>
          <a:xfrm>
            <a:off x="457200" y="2459736"/>
            <a:ext cx="3108960" cy="45720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Reference ceiling</a:t>
            </a:r>
            <a:endParaRPr lang="en-US" sz="1150" dirty="0"/>
          </a:p>
        </p:txBody>
      </p:sp>
      <p:sp>
        <p:nvSpPr>
          <p:cNvPr id="17" name="Text 15"/>
          <p:cNvSpPr/>
          <p:nvPr/>
        </p:nvSpPr>
        <p:spPr>
          <a:xfrm>
            <a:off x="3566160" y="2459736"/>
            <a:ext cx="2331720" cy="45720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70,0</a:t>
            </a:r>
            <a:endParaRPr lang="en-US" sz="1150" dirty="0"/>
          </a:p>
        </p:txBody>
      </p:sp>
      <p:sp>
        <p:nvSpPr>
          <p:cNvPr id="18" name="Text 16"/>
          <p:cNvSpPr/>
          <p:nvPr/>
        </p:nvSpPr>
        <p:spPr>
          <a:xfrm>
            <a:off x="5897880" y="2459736"/>
            <a:ext cx="2331720" cy="45720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69,3</a:t>
            </a:r>
            <a:endParaRPr lang="en-US" sz="1150" dirty="0"/>
          </a:p>
        </p:txBody>
      </p:sp>
      <p:sp>
        <p:nvSpPr>
          <p:cNvPr id="19" name="Shape 17"/>
          <p:cNvSpPr/>
          <p:nvPr/>
        </p:nvSpPr>
        <p:spPr>
          <a:xfrm>
            <a:off x="457200" y="3337560"/>
            <a:ext cx="8229600" cy="1417320"/>
          </a:xfrm>
          <a:prstGeom prst="roundRect">
            <a:avLst/>
          </a:prstGeom>
          <a:solidFill>
            <a:srgbClr val="E9E8EC"/>
          </a:solidFill>
          <a:ln/>
          <a:effectLst>
            <a:outerShdw sx="100000" sy="100000" kx="0" ky="0" algn="bl" rotWithShape="0" blurRad="63500" dist="31750" dir="2700000">
              <a:srgbClr val="8C8C99">
                <a:alpha val="35000"/>
              </a:srgbClr>
            </a:outerShdw>
          </a:effectLst>
        </p:spPr>
      </p:sp>
      <p:sp>
        <p:nvSpPr>
          <p:cNvPr id="20" name="Text 18"/>
          <p:cNvSpPr/>
          <p:nvPr/>
        </p:nvSpPr>
        <p:spPr>
          <a:xfrm>
            <a:off x="640080" y="3493008"/>
            <a:ext cx="2057400" cy="27432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Phi-4 listener ngoài họ Qwen</a:t>
            </a:r>
            <a:endParaRPr lang="en-US" sz="1350" dirty="0"/>
          </a:p>
        </p:txBody>
      </p:sp>
      <p:sp>
        <p:nvSpPr>
          <p:cNvPr id="21" name="Text 19"/>
          <p:cNvSpPr/>
          <p:nvPr/>
        </p:nvSpPr>
        <p:spPr>
          <a:xfrm>
            <a:off x="2606040" y="3474720"/>
            <a:ext cx="5897880" cy="329184"/>
          </a:xfrm>
          <a:prstGeom prst="rect">
            <a:avLst/>
          </a:prstGeom>
          <a:noFill/>
          <a:ln/>
        </p:spPr>
        <p:txBody>
          <a:bodyPr wrap="square" lIns="0" tIns="0" rIns="0" bIns="0" rtlCol="0" anchor="t"/>
          <a:lstStyle/>
          <a:p>
            <a:pPr algn="l" indent="0" marL="0">
              <a:buNone/>
            </a:pPr>
            <a:r>
              <a:rPr lang="en-US" sz="1400" b="1" dirty="0">
                <a:solidFill>
                  <a:srgbClr val="006666"/>
                </a:solidFill>
                <a:latin typeface="Cambria" pitchFamily="34" charset="0"/>
                <a:ea typeface="Cambria" pitchFamily="34" charset="-122"/>
                <a:cs typeface="Cambria" pitchFamily="34" charset="-120"/>
              </a:rPr>
              <a:t>Reference 54,9  &gt;  S1 44,6  &gt;  Base 38,6  &gt;  generic 15,9</a:t>
            </a:r>
            <a:endParaRPr lang="en-US" sz="1400" dirty="0"/>
          </a:p>
        </p:txBody>
      </p:sp>
      <p:sp>
        <p:nvSpPr>
          <p:cNvPr id="22" name="Text 20"/>
          <p:cNvSpPr/>
          <p:nvPr/>
        </p:nvSpPr>
        <p:spPr>
          <a:xfrm>
            <a:off x="2606040" y="3950208"/>
            <a:ext cx="5897880" cy="347472"/>
          </a:xfrm>
          <a:prstGeom prst="rect">
            <a:avLst/>
          </a:prstGeom>
          <a:noFill/>
          <a:ln/>
        </p:spPr>
        <p:txBody>
          <a:bodyPr wrap="square" lIns="0" tIns="0" rIns="0" bIns="0"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Các listener sai ở nhiều bước khác nhau nhưng vẫn giữ thứ tự hệ thống.</a:t>
            </a:r>
            <a:endParaRPr lang="en-US" sz="1200" dirty="0"/>
          </a:p>
        </p:txBody>
      </p:sp>
      <p:sp>
        <p:nvSpPr>
          <p:cNvPr id="23" name="Shape 21"/>
          <p:cNvSpPr/>
          <p:nvPr/>
        </p:nvSpPr>
        <p:spPr>
          <a:xfrm>
            <a:off x="0" y="6620256"/>
            <a:ext cx="2743200" cy="237744"/>
          </a:xfrm>
          <a:prstGeom prst="rect">
            <a:avLst/>
          </a:prstGeom>
          <a:solidFill>
            <a:srgbClr val="191132"/>
          </a:solidFill>
          <a:ln/>
        </p:spPr>
      </p:sp>
      <p:sp>
        <p:nvSpPr>
          <p:cNvPr id="24" name="Shape 22"/>
          <p:cNvSpPr/>
          <p:nvPr/>
        </p:nvSpPr>
        <p:spPr>
          <a:xfrm>
            <a:off x="2743200" y="6620256"/>
            <a:ext cx="3383280" cy="237744"/>
          </a:xfrm>
          <a:prstGeom prst="rect">
            <a:avLst/>
          </a:prstGeom>
          <a:solidFill>
            <a:srgbClr val="25194B"/>
          </a:solidFill>
          <a:ln/>
        </p:spPr>
      </p:sp>
      <p:sp>
        <p:nvSpPr>
          <p:cNvPr id="25" name="Shape 23"/>
          <p:cNvSpPr/>
          <p:nvPr/>
        </p:nvSpPr>
        <p:spPr>
          <a:xfrm>
            <a:off x="6126480" y="6620256"/>
            <a:ext cx="1737360" cy="237744"/>
          </a:xfrm>
          <a:prstGeom prst="rect">
            <a:avLst/>
          </a:prstGeom>
          <a:solidFill>
            <a:srgbClr val="4F417A"/>
          </a:solidFill>
          <a:ln/>
        </p:spPr>
      </p:sp>
      <p:sp>
        <p:nvSpPr>
          <p:cNvPr id="26" name="Shape 24"/>
          <p:cNvSpPr/>
          <p:nvPr/>
        </p:nvSpPr>
        <p:spPr>
          <a:xfrm>
            <a:off x="7863840" y="6620256"/>
            <a:ext cx="1280160" cy="237744"/>
          </a:xfrm>
          <a:prstGeom prst="rect">
            <a:avLst/>
          </a:prstGeom>
          <a:solidFill>
            <a:srgbClr val="7A7099"/>
          </a:solidFill>
          <a:ln/>
        </p:spPr>
      </p:sp>
      <p:sp>
        <p:nvSpPr>
          <p:cNvPr id="27" name="Text 2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8" name="Text 2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9" name="Text 2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0" name="Text 2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3</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Các hướng đã thử trước phương pháp cuối</a:t>
            </a:r>
            <a:endParaRPr lang="en-US" sz="1900" dirty="0"/>
          </a:p>
        </p:txBody>
      </p:sp>
      <p:sp>
        <p:nvSpPr>
          <p:cNvPr id="4" name="Shape 2"/>
          <p:cNvSpPr/>
          <p:nvPr/>
        </p:nvSpPr>
        <p:spPr>
          <a:xfrm>
            <a:off x="457200" y="868680"/>
            <a:ext cx="7955280" cy="384048"/>
          </a:xfrm>
          <a:prstGeom prst="rect">
            <a:avLst/>
          </a:prstGeom>
          <a:solidFill>
            <a:srgbClr val="322164"/>
          </a:solidFill>
          <a:ln/>
        </p:spPr>
      </p:sp>
      <p:sp>
        <p:nvSpPr>
          <p:cNvPr id="5" name="Text 3"/>
          <p:cNvSpPr/>
          <p:nvPr/>
        </p:nvSpPr>
        <p:spPr>
          <a:xfrm>
            <a:off x="457200" y="868680"/>
            <a:ext cx="2377440" cy="384048"/>
          </a:xfrm>
          <a:prstGeom prst="rect">
            <a:avLst/>
          </a:prstGeom>
          <a:noFill/>
          <a:ln/>
        </p:spPr>
        <p:txBody>
          <a:bodyPr wrap="square" lIns="38100" tIns="38100" rIns="38100" bIns="38100" rtlCol="0" anchor="ctr"/>
          <a:lstStyle/>
          <a:p>
            <a:pPr algn="l" indent="0" marL="0">
              <a:buNone/>
            </a:pPr>
            <a:r>
              <a:rPr lang="en-US" sz="1180" b="1" dirty="0">
                <a:solidFill>
                  <a:srgbClr val="FFFFFF"/>
                </a:solidFill>
                <a:latin typeface="Cambria" pitchFamily="34" charset="0"/>
                <a:ea typeface="Cambria" pitchFamily="34" charset="-122"/>
                <a:cs typeface="Cambria" pitchFamily="34" charset="-120"/>
              </a:rPr>
              <a:t>Hướng</a:t>
            </a:r>
            <a:endParaRPr lang="en-US" sz="1180" dirty="0"/>
          </a:p>
        </p:txBody>
      </p:sp>
      <p:sp>
        <p:nvSpPr>
          <p:cNvPr id="6" name="Text 4"/>
          <p:cNvSpPr/>
          <p:nvPr/>
        </p:nvSpPr>
        <p:spPr>
          <a:xfrm>
            <a:off x="2834640" y="868680"/>
            <a:ext cx="1005840" cy="384048"/>
          </a:xfrm>
          <a:prstGeom prst="rect">
            <a:avLst/>
          </a:prstGeom>
          <a:noFill/>
          <a:ln/>
        </p:spPr>
        <p:txBody>
          <a:bodyPr wrap="square" lIns="38100" tIns="38100" rIns="38100" bIns="38100" rtlCol="0" anchor="ctr"/>
          <a:lstStyle/>
          <a:p>
            <a:pPr algn="ctr" indent="0" marL="0">
              <a:buNone/>
            </a:pPr>
            <a:r>
              <a:rPr lang="en-US" sz="1180" b="1" dirty="0">
                <a:solidFill>
                  <a:srgbClr val="FFFFFF"/>
                </a:solidFill>
                <a:latin typeface="Cambria" pitchFamily="34" charset="0"/>
                <a:ea typeface="Cambria" pitchFamily="34" charset="-122"/>
                <a:cs typeface="Cambria" pitchFamily="34" charset="-120"/>
              </a:rPr>
              <a:t>Exec.</a:t>
            </a:r>
            <a:endParaRPr lang="en-US" sz="1180" dirty="0"/>
          </a:p>
        </p:txBody>
      </p:sp>
      <p:sp>
        <p:nvSpPr>
          <p:cNvPr id="7" name="Text 5"/>
          <p:cNvSpPr/>
          <p:nvPr/>
        </p:nvSpPr>
        <p:spPr>
          <a:xfrm>
            <a:off x="3840480" y="868680"/>
            <a:ext cx="4572000" cy="384048"/>
          </a:xfrm>
          <a:prstGeom prst="rect">
            <a:avLst/>
          </a:prstGeom>
          <a:noFill/>
          <a:ln/>
        </p:spPr>
        <p:txBody>
          <a:bodyPr wrap="square" lIns="38100" tIns="38100" rIns="38100" bIns="38100" rtlCol="0" anchor="ctr"/>
          <a:lstStyle/>
          <a:p>
            <a:pPr algn="l" indent="0" marL="0">
              <a:buNone/>
            </a:pPr>
            <a:r>
              <a:rPr lang="en-US" sz="1180" b="1" dirty="0">
                <a:solidFill>
                  <a:srgbClr val="FFFFFF"/>
                </a:solidFill>
                <a:latin typeface="Cambria" pitchFamily="34" charset="0"/>
                <a:ea typeface="Cambria" pitchFamily="34" charset="-122"/>
                <a:cs typeface="Cambria" pitchFamily="34" charset="-120"/>
              </a:rPr>
              <a:t>Điều rút ra</a:t>
            </a:r>
            <a:endParaRPr lang="en-US" sz="1180" dirty="0"/>
          </a:p>
        </p:txBody>
      </p:sp>
      <p:sp>
        <p:nvSpPr>
          <p:cNvPr id="8" name="Text 6"/>
          <p:cNvSpPr/>
          <p:nvPr/>
        </p:nvSpPr>
        <p:spPr>
          <a:xfrm>
            <a:off x="457200" y="1252728"/>
            <a:ext cx="2377440" cy="457200"/>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S2 descriptor</a:t>
            </a:r>
            <a:endParaRPr lang="en-US" sz="1170" dirty="0"/>
          </a:p>
        </p:txBody>
      </p:sp>
      <p:sp>
        <p:nvSpPr>
          <p:cNvPr id="9" name="Text 7"/>
          <p:cNvSpPr/>
          <p:nvPr/>
        </p:nvSpPr>
        <p:spPr>
          <a:xfrm>
            <a:off x="2834640" y="1252728"/>
            <a:ext cx="1005840" cy="457200"/>
          </a:xfrm>
          <a:prstGeom prst="rect">
            <a:avLst/>
          </a:prstGeom>
          <a:noFill/>
          <a:ln/>
        </p:spPr>
        <p:txBody>
          <a:bodyPr wrap="square" lIns="38100" tIns="38100" rIns="38100" bIns="38100" rtlCol="0" anchor="ctr"/>
          <a:lstStyle/>
          <a:p>
            <a:pPr algn="ctr" indent="0" marL="0">
              <a:buNone/>
            </a:pPr>
            <a:r>
              <a:rPr lang="en-US" sz="1170" dirty="0">
                <a:solidFill>
                  <a:srgbClr val="1A1A1A"/>
                </a:solidFill>
                <a:latin typeface="Cambria" pitchFamily="34" charset="0"/>
                <a:ea typeface="Cambria" pitchFamily="34" charset="-122"/>
                <a:cs typeface="Cambria" pitchFamily="34" charset="-120"/>
              </a:rPr>
              <a:t>57,2</a:t>
            </a:r>
            <a:endParaRPr lang="en-US" sz="1170" dirty="0"/>
          </a:p>
        </p:txBody>
      </p:sp>
      <p:sp>
        <p:nvSpPr>
          <p:cNvPr id="10" name="Text 8"/>
          <p:cNvSpPr/>
          <p:nvPr/>
        </p:nvSpPr>
        <p:spPr>
          <a:xfrm>
            <a:off x="3840480" y="1252728"/>
            <a:ext cx="4572000" cy="457200"/>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Bước trung gian đúng thì giúp, sai thì gây hại mạnh.</a:t>
            </a:r>
            <a:endParaRPr lang="en-US" sz="1170" dirty="0"/>
          </a:p>
        </p:txBody>
      </p:sp>
      <p:sp>
        <p:nvSpPr>
          <p:cNvPr id="11" name="Shape 9"/>
          <p:cNvSpPr/>
          <p:nvPr/>
        </p:nvSpPr>
        <p:spPr>
          <a:xfrm>
            <a:off x="457200" y="1709928"/>
            <a:ext cx="7955280" cy="0"/>
          </a:xfrm>
          <a:prstGeom prst="line">
            <a:avLst/>
          </a:prstGeom>
          <a:noFill/>
          <a:ln w="12700">
            <a:solidFill>
              <a:srgbClr val="9A94AE"/>
            </a:solidFill>
            <a:prstDash val="solid"/>
            <a:tailEnd type="none"/>
          </a:ln>
        </p:spPr>
      </p:sp>
      <p:sp>
        <p:nvSpPr>
          <p:cNvPr id="12" name="Text 10"/>
          <p:cNvSpPr/>
          <p:nvPr/>
        </p:nvSpPr>
        <p:spPr>
          <a:xfrm>
            <a:off x="457200" y="1709928"/>
            <a:ext cx="2377440" cy="457200"/>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CE2-S2</a:t>
            </a:r>
            <a:endParaRPr lang="en-US" sz="1170" dirty="0"/>
          </a:p>
        </p:txBody>
      </p:sp>
      <p:sp>
        <p:nvSpPr>
          <p:cNvPr id="13" name="Text 11"/>
          <p:cNvSpPr/>
          <p:nvPr/>
        </p:nvSpPr>
        <p:spPr>
          <a:xfrm>
            <a:off x="2834640" y="1709928"/>
            <a:ext cx="1005840" cy="457200"/>
          </a:xfrm>
          <a:prstGeom prst="rect">
            <a:avLst/>
          </a:prstGeom>
          <a:noFill/>
          <a:ln/>
        </p:spPr>
        <p:txBody>
          <a:bodyPr wrap="square" lIns="38100" tIns="38100" rIns="38100" bIns="38100" rtlCol="0" anchor="ctr"/>
          <a:lstStyle/>
          <a:p>
            <a:pPr algn="ctr" indent="0" marL="0">
              <a:buNone/>
            </a:pPr>
            <a:r>
              <a:rPr lang="en-US" sz="1170" dirty="0">
                <a:solidFill>
                  <a:srgbClr val="1A1A1A"/>
                </a:solidFill>
                <a:latin typeface="Cambria" pitchFamily="34" charset="0"/>
                <a:ea typeface="Cambria" pitchFamily="34" charset="-122"/>
                <a:cs typeface="Cambria" pitchFamily="34" charset="-120"/>
              </a:rPr>
              <a:t>59,4</a:t>
            </a:r>
            <a:endParaRPr lang="en-US" sz="1170" dirty="0"/>
          </a:p>
        </p:txBody>
      </p:sp>
      <p:sp>
        <p:nvSpPr>
          <p:cNvPr id="14" name="Text 12"/>
          <p:cNvSpPr/>
          <p:nvPr/>
        </p:nvSpPr>
        <p:spPr>
          <a:xfrm>
            <a:off x="3840480" y="1709928"/>
            <a:ext cx="4572000" cy="457200"/>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Học thêm giám sát giải thích phần lớn mức tăng.</a:t>
            </a:r>
            <a:endParaRPr lang="en-US" sz="1170" dirty="0"/>
          </a:p>
        </p:txBody>
      </p:sp>
      <p:sp>
        <p:nvSpPr>
          <p:cNvPr id="15" name="Shape 13"/>
          <p:cNvSpPr/>
          <p:nvPr/>
        </p:nvSpPr>
        <p:spPr>
          <a:xfrm>
            <a:off x="457200" y="2167128"/>
            <a:ext cx="7955280" cy="0"/>
          </a:xfrm>
          <a:prstGeom prst="line">
            <a:avLst/>
          </a:prstGeom>
          <a:noFill/>
          <a:ln w="12700">
            <a:solidFill>
              <a:srgbClr val="9A94AE"/>
            </a:solidFill>
            <a:prstDash val="solid"/>
            <a:tailEnd type="none"/>
          </a:ln>
        </p:spPr>
      </p:sp>
      <p:sp>
        <p:nvSpPr>
          <p:cNvPr id="16" name="Text 14"/>
          <p:cNvSpPr/>
          <p:nvPr/>
        </p:nvSpPr>
        <p:spPr>
          <a:xfrm>
            <a:off x="457200" y="2167128"/>
            <a:ext cx="2377440" cy="457200"/>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MIN-DESC</a:t>
            </a:r>
            <a:endParaRPr lang="en-US" sz="1170" dirty="0"/>
          </a:p>
        </p:txBody>
      </p:sp>
      <p:sp>
        <p:nvSpPr>
          <p:cNvPr id="17" name="Text 15"/>
          <p:cNvSpPr/>
          <p:nvPr/>
        </p:nvSpPr>
        <p:spPr>
          <a:xfrm>
            <a:off x="2834640" y="2167128"/>
            <a:ext cx="1005840" cy="457200"/>
          </a:xfrm>
          <a:prstGeom prst="rect">
            <a:avLst/>
          </a:prstGeom>
          <a:noFill/>
          <a:ln/>
        </p:spPr>
        <p:txBody>
          <a:bodyPr wrap="square" lIns="38100" tIns="38100" rIns="38100" bIns="38100" rtlCol="0" anchor="ctr"/>
          <a:lstStyle/>
          <a:p>
            <a:pPr algn="ctr" indent="0" marL="0">
              <a:buNone/>
            </a:pPr>
            <a:r>
              <a:rPr lang="en-US" sz="1170" dirty="0">
                <a:solidFill>
                  <a:srgbClr val="1A1A1A"/>
                </a:solidFill>
                <a:latin typeface="Cambria" pitchFamily="34" charset="0"/>
                <a:ea typeface="Cambria" pitchFamily="34" charset="-122"/>
                <a:cs typeface="Cambria" pitchFamily="34" charset="-120"/>
              </a:rPr>
              <a:t>60,0</a:t>
            </a:r>
            <a:endParaRPr lang="en-US" sz="1170" dirty="0"/>
          </a:p>
        </p:txBody>
      </p:sp>
      <p:sp>
        <p:nvSpPr>
          <p:cNvPr id="18" name="Text 16"/>
          <p:cNvSpPr/>
          <p:nvPr/>
        </p:nvSpPr>
        <p:spPr>
          <a:xfrm>
            <a:off x="3840480" y="2167128"/>
            <a:ext cx="4572000" cy="457200"/>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Ưu tiên descriptor chỉ thêm +0,63 pp so CE2-S2.</a:t>
            </a:r>
            <a:endParaRPr lang="en-US" sz="1170" dirty="0"/>
          </a:p>
        </p:txBody>
      </p:sp>
      <p:sp>
        <p:nvSpPr>
          <p:cNvPr id="19" name="Shape 17"/>
          <p:cNvSpPr/>
          <p:nvPr/>
        </p:nvSpPr>
        <p:spPr>
          <a:xfrm>
            <a:off x="457200" y="2624328"/>
            <a:ext cx="7955280" cy="0"/>
          </a:xfrm>
          <a:prstGeom prst="line">
            <a:avLst/>
          </a:prstGeom>
          <a:noFill/>
          <a:ln w="12700">
            <a:solidFill>
              <a:srgbClr val="9A94AE"/>
            </a:solidFill>
            <a:prstDash val="solid"/>
            <a:tailEnd type="none"/>
          </a:ln>
        </p:spPr>
      </p:sp>
      <p:sp>
        <p:nvSpPr>
          <p:cNvPr id="20" name="Text 18"/>
          <p:cNvSpPr/>
          <p:nvPr/>
        </p:nvSpPr>
        <p:spPr>
          <a:xfrm>
            <a:off x="457200" y="2624328"/>
            <a:ext cx="2377440" cy="457200"/>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Reward tọa độ</a:t>
            </a:r>
            <a:endParaRPr lang="en-US" sz="1170" dirty="0"/>
          </a:p>
        </p:txBody>
      </p:sp>
      <p:sp>
        <p:nvSpPr>
          <p:cNvPr id="21" name="Text 19"/>
          <p:cNvSpPr/>
          <p:nvPr/>
        </p:nvSpPr>
        <p:spPr>
          <a:xfrm>
            <a:off x="2834640" y="2624328"/>
            <a:ext cx="1005840" cy="457200"/>
          </a:xfrm>
          <a:prstGeom prst="rect">
            <a:avLst/>
          </a:prstGeom>
          <a:noFill/>
          <a:ln/>
        </p:spPr>
        <p:txBody>
          <a:bodyPr wrap="square" lIns="38100" tIns="38100" rIns="38100" bIns="38100" rtlCol="0" anchor="ctr"/>
          <a:lstStyle/>
          <a:p>
            <a:pPr algn="ctr" indent="0" marL="0">
              <a:buNone/>
            </a:pPr>
            <a:r>
              <a:rPr lang="en-US" sz="1170" dirty="0">
                <a:solidFill>
                  <a:srgbClr val="1A1A1A"/>
                </a:solidFill>
                <a:latin typeface="Cambria" pitchFamily="34" charset="0"/>
                <a:ea typeface="Cambria" pitchFamily="34" charset="-122"/>
                <a:cs typeface="Cambria" pitchFamily="34" charset="-120"/>
              </a:rPr>
              <a:t>60,1</a:t>
            </a:r>
            <a:endParaRPr lang="en-US" sz="1170" dirty="0"/>
          </a:p>
        </p:txBody>
      </p:sp>
      <p:sp>
        <p:nvSpPr>
          <p:cNvPr id="22" name="Text 20"/>
          <p:cNvSpPr/>
          <p:nvPr/>
        </p:nvSpPr>
        <p:spPr>
          <a:xfrm>
            <a:off x="3840480" y="2624328"/>
            <a:ext cx="4572000" cy="457200"/>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Tọa độ descriptor tăng, câu gần như đứng yên.</a:t>
            </a:r>
            <a:endParaRPr lang="en-US" sz="1170" dirty="0"/>
          </a:p>
        </p:txBody>
      </p:sp>
      <p:sp>
        <p:nvSpPr>
          <p:cNvPr id="23" name="Shape 21"/>
          <p:cNvSpPr/>
          <p:nvPr/>
        </p:nvSpPr>
        <p:spPr>
          <a:xfrm>
            <a:off x="457200" y="3081528"/>
            <a:ext cx="7955280" cy="0"/>
          </a:xfrm>
          <a:prstGeom prst="line">
            <a:avLst/>
          </a:prstGeom>
          <a:noFill/>
          <a:ln w="12700">
            <a:solidFill>
              <a:srgbClr val="9A94AE"/>
            </a:solidFill>
            <a:prstDash val="solid"/>
            <a:tailEnd type="none"/>
          </a:ln>
        </p:spPr>
      </p:sp>
      <p:sp>
        <p:nvSpPr>
          <p:cNvPr id="24" name="Text 22"/>
          <p:cNvSpPr/>
          <p:nvPr/>
        </p:nvSpPr>
        <p:spPr>
          <a:xfrm>
            <a:off x="457200" y="3081528"/>
            <a:ext cx="2377440" cy="457200"/>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Candidate</a:t>
            </a:r>
            <a:endParaRPr lang="en-US" sz="1170" dirty="0"/>
          </a:p>
        </p:txBody>
      </p:sp>
      <p:sp>
        <p:nvSpPr>
          <p:cNvPr id="25" name="Text 23"/>
          <p:cNvSpPr/>
          <p:nvPr/>
        </p:nvSpPr>
        <p:spPr>
          <a:xfrm>
            <a:off x="2834640" y="3081528"/>
            <a:ext cx="1005840" cy="457200"/>
          </a:xfrm>
          <a:prstGeom prst="rect">
            <a:avLst/>
          </a:prstGeom>
          <a:noFill/>
          <a:ln/>
        </p:spPr>
        <p:txBody>
          <a:bodyPr wrap="square" lIns="38100" tIns="38100" rIns="38100" bIns="38100" rtlCol="0" anchor="ctr"/>
          <a:lstStyle/>
          <a:p>
            <a:pPr algn="ctr" indent="0" marL="0">
              <a:buNone/>
            </a:pPr>
            <a:r>
              <a:rPr lang="en-US" sz="1170" dirty="0">
                <a:solidFill>
                  <a:srgbClr val="1A1A1A"/>
                </a:solidFill>
                <a:latin typeface="Cambria" pitchFamily="34" charset="0"/>
                <a:ea typeface="Cambria" pitchFamily="34" charset="-122"/>
                <a:cs typeface="Cambria" pitchFamily="34" charset="-120"/>
              </a:rPr>
              <a:t>56,1</a:t>
            </a:r>
            <a:endParaRPr lang="en-US" sz="1170" dirty="0"/>
          </a:p>
        </p:txBody>
      </p:sp>
      <p:sp>
        <p:nvSpPr>
          <p:cNvPr id="26" name="Text 24"/>
          <p:cNvSpPr/>
          <p:nvPr/>
        </p:nvSpPr>
        <p:spPr>
          <a:xfrm>
            <a:off x="3840480" y="3081528"/>
            <a:ext cx="4572000" cy="457200"/>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Mô hình từ chối chọn quá nhiều.</a:t>
            </a:r>
            <a:endParaRPr lang="en-US" sz="1170" dirty="0"/>
          </a:p>
        </p:txBody>
      </p:sp>
      <p:sp>
        <p:nvSpPr>
          <p:cNvPr id="27" name="Shape 25"/>
          <p:cNvSpPr/>
          <p:nvPr/>
        </p:nvSpPr>
        <p:spPr>
          <a:xfrm>
            <a:off x="457200" y="3538728"/>
            <a:ext cx="7955280" cy="0"/>
          </a:xfrm>
          <a:prstGeom prst="line">
            <a:avLst/>
          </a:prstGeom>
          <a:noFill/>
          <a:ln w="12700">
            <a:solidFill>
              <a:srgbClr val="9A94AE"/>
            </a:solidFill>
            <a:prstDash val="solid"/>
            <a:tailEnd type="none"/>
          </a:ln>
        </p:spPr>
      </p:sp>
      <p:sp>
        <p:nvSpPr>
          <p:cNvPr id="28" name="Text 26"/>
          <p:cNvSpPr/>
          <p:nvPr/>
        </p:nvSpPr>
        <p:spPr>
          <a:xfrm>
            <a:off x="457200" y="3538728"/>
            <a:ext cx="2377440" cy="457200"/>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TAGE</a:t>
            </a:r>
            <a:endParaRPr lang="en-US" sz="1170" dirty="0"/>
          </a:p>
        </p:txBody>
      </p:sp>
      <p:sp>
        <p:nvSpPr>
          <p:cNvPr id="29" name="Text 27"/>
          <p:cNvSpPr/>
          <p:nvPr/>
        </p:nvSpPr>
        <p:spPr>
          <a:xfrm>
            <a:off x="2834640" y="3538728"/>
            <a:ext cx="1005840" cy="457200"/>
          </a:xfrm>
          <a:prstGeom prst="rect">
            <a:avLst/>
          </a:prstGeom>
          <a:noFill/>
          <a:ln/>
        </p:spPr>
        <p:txBody>
          <a:bodyPr wrap="square" lIns="38100" tIns="38100" rIns="38100" bIns="38100" rtlCol="0" anchor="ctr"/>
          <a:lstStyle/>
          <a:p>
            <a:pPr algn="ctr" indent="0" marL="0">
              <a:buNone/>
            </a:pPr>
            <a:r>
              <a:rPr lang="en-US" sz="1170" dirty="0">
                <a:solidFill>
                  <a:srgbClr val="1A1A1A"/>
                </a:solidFill>
                <a:latin typeface="Cambria" pitchFamily="34" charset="0"/>
                <a:ea typeface="Cambria" pitchFamily="34" charset="-122"/>
                <a:cs typeface="Cambria" pitchFamily="34" charset="-120"/>
              </a:rPr>
              <a:t>60,2</a:t>
            </a:r>
            <a:endParaRPr lang="en-US" sz="1170" dirty="0"/>
          </a:p>
        </p:txBody>
      </p:sp>
      <p:sp>
        <p:nvSpPr>
          <p:cNvPr id="30" name="Text 28"/>
          <p:cNvSpPr/>
          <p:nvPr/>
        </p:nvSpPr>
        <p:spPr>
          <a:xfrm>
            <a:off x="3840480" y="3538728"/>
            <a:ext cx="4572000" cy="457200"/>
          </a:xfrm>
          <a:prstGeom prst="rect">
            <a:avLst/>
          </a:prstGeom>
          <a:noFill/>
          <a:ln/>
        </p:spPr>
        <p:txBody>
          <a:bodyPr wrap="square" lIns="38100" tIns="38100" rIns="38100" bIns="38100" rtlCol="0" anchor="ctr"/>
          <a:lstStyle/>
          <a:p>
            <a:pPr algn="l" indent="0" marL="0">
              <a:buNone/>
            </a:pPr>
            <a:r>
              <a:rPr lang="en-US" sz="1170" dirty="0">
                <a:solidFill>
                  <a:srgbClr val="1A1A1A"/>
                </a:solidFill>
                <a:latin typeface="Cambria" pitchFamily="34" charset="0"/>
                <a:ea typeface="Cambria" pitchFamily="34" charset="-122"/>
                <a:cs typeface="Cambria" pitchFamily="34" charset="-120"/>
              </a:rPr>
              <a:t>Crop editor thấp hơn draft; selector nhận cả crop sai.</a:t>
            </a:r>
            <a:endParaRPr lang="en-US" sz="1170" dirty="0"/>
          </a:p>
        </p:txBody>
      </p:sp>
      <p:sp>
        <p:nvSpPr>
          <p:cNvPr id="31" name="Shape 29"/>
          <p:cNvSpPr/>
          <p:nvPr/>
        </p:nvSpPr>
        <p:spPr>
          <a:xfrm>
            <a:off x="457200" y="4343400"/>
            <a:ext cx="8229600" cy="1143000"/>
          </a:xfrm>
          <a:prstGeom prst="roundRect">
            <a:avLst/>
          </a:prstGeom>
          <a:solidFill>
            <a:srgbClr val="EEEAF6"/>
          </a:solidFill>
          <a:ln/>
          <a:effectLst>
            <a:outerShdw sx="100000" sy="100000" kx="0" ky="0" algn="bl" rotWithShape="0" blurRad="63500" dist="31750" dir="2700000">
              <a:srgbClr val="8C8C99">
                <a:alpha val="35000"/>
              </a:srgbClr>
            </a:outerShdw>
          </a:effectLst>
        </p:spPr>
      </p:sp>
      <p:sp>
        <p:nvSpPr>
          <p:cNvPr id="32" name="Text 30"/>
          <p:cNvSpPr/>
          <p:nvPr/>
        </p:nvSpPr>
        <p:spPr>
          <a:xfrm>
            <a:off x="685800" y="4343400"/>
            <a:ext cx="7772400" cy="1143000"/>
          </a:xfrm>
          <a:prstGeom prst="rect">
            <a:avLst/>
          </a:prstGeom>
          <a:noFill/>
          <a:ln/>
        </p:spPr>
        <p:txBody>
          <a:bodyPr wrap="square" lIns="0" tIns="0" rIns="0" bIns="0" rtlCol="0" anchor="ctr"/>
          <a:lstStyle/>
          <a:p>
            <a:pPr algn="ctr" indent="0" marL="0">
              <a:lnSpc>
                <a:spcPct val="130000"/>
              </a:lnSpc>
              <a:buNone/>
            </a:pPr>
            <a:r>
              <a:rPr lang="en-US" sz="1300" b="1" dirty="0">
                <a:solidFill>
                  <a:srgbClr val="322164"/>
                </a:solidFill>
                <a:latin typeface="Cambria" pitchFamily="34" charset="0"/>
                <a:ea typeface="Cambria" pitchFamily="34" charset="-122"/>
                <a:cs typeface="Cambria" pitchFamily="34" charset="-120"/>
              </a:rPr>
              <a:t>Takeaway: can thiệp ở biểu diễn trung gian có thể tốt cục bộ nhưng không truyền ổn định tới câu cuối → chuyển sang tối ưu trực tiếp câu.</a:t>
            </a:r>
            <a:endParaRPr lang="en-US" sz="1300" dirty="0"/>
          </a:p>
        </p:txBody>
      </p:sp>
      <p:sp>
        <p:nvSpPr>
          <p:cNvPr id="33" name="Shape 31"/>
          <p:cNvSpPr/>
          <p:nvPr/>
        </p:nvSpPr>
        <p:spPr>
          <a:xfrm>
            <a:off x="0" y="6620256"/>
            <a:ext cx="2743200" cy="237744"/>
          </a:xfrm>
          <a:prstGeom prst="rect">
            <a:avLst/>
          </a:prstGeom>
          <a:solidFill>
            <a:srgbClr val="191132"/>
          </a:solidFill>
          <a:ln/>
        </p:spPr>
      </p:sp>
      <p:sp>
        <p:nvSpPr>
          <p:cNvPr id="34" name="Shape 32"/>
          <p:cNvSpPr/>
          <p:nvPr/>
        </p:nvSpPr>
        <p:spPr>
          <a:xfrm>
            <a:off x="2743200" y="6620256"/>
            <a:ext cx="3383280" cy="237744"/>
          </a:xfrm>
          <a:prstGeom prst="rect">
            <a:avLst/>
          </a:prstGeom>
          <a:solidFill>
            <a:srgbClr val="25194B"/>
          </a:solidFill>
          <a:ln/>
        </p:spPr>
      </p:sp>
      <p:sp>
        <p:nvSpPr>
          <p:cNvPr id="35" name="Shape 33"/>
          <p:cNvSpPr/>
          <p:nvPr/>
        </p:nvSpPr>
        <p:spPr>
          <a:xfrm>
            <a:off x="6126480" y="6620256"/>
            <a:ext cx="1737360" cy="237744"/>
          </a:xfrm>
          <a:prstGeom prst="rect">
            <a:avLst/>
          </a:prstGeom>
          <a:solidFill>
            <a:srgbClr val="4F417A"/>
          </a:solidFill>
          <a:ln/>
        </p:spPr>
      </p:sp>
      <p:sp>
        <p:nvSpPr>
          <p:cNvPr id="36" name="Shape 34"/>
          <p:cNvSpPr/>
          <p:nvPr/>
        </p:nvSpPr>
        <p:spPr>
          <a:xfrm>
            <a:off x="7863840" y="6620256"/>
            <a:ext cx="1280160" cy="237744"/>
          </a:xfrm>
          <a:prstGeom prst="rect">
            <a:avLst/>
          </a:prstGeom>
          <a:solidFill>
            <a:srgbClr val="7A7099"/>
          </a:solidFill>
          <a:ln/>
        </p:spPr>
      </p:sp>
      <p:sp>
        <p:nvSpPr>
          <p:cNvPr id="37" name="Text 3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8" name="Text 3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9" name="Text 3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40" name="Text 3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4</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Cấu hình huấn luyện</a:t>
            </a:r>
            <a:endParaRPr lang="en-US" sz="1900" dirty="0"/>
          </a:p>
        </p:txBody>
      </p:sp>
      <p:sp>
        <p:nvSpPr>
          <p:cNvPr id="4" name="Shape 2"/>
          <p:cNvSpPr/>
          <p:nvPr/>
        </p:nvSpPr>
        <p:spPr>
          <a:xfrm>
            <a:off x="457200" y="914400"/>
            <a:ext cx="8001000" cy="384048"/>
          </a:xfrm>
          <a:prstGeom prst="rect">
            <a:avLst/>
          </a:prstGeom>
          <a:solidFill>
            <a:srgbClr val="322164"/>
          </a:solidFill>
          <a:ln/>
        </p:spPr>
      </p:sp>
      <p:sp>
        <p:nvSpPr>
          <p:cNvPr id="5" name="Text 3"/>
          <p:cNvSpPr/>
          <p:nvPr/>
        </p:nvSpPr>
        <p:spPr>
          <a:xfrm>
            <a:off x="457200" y="914400"/>
            <a:ext cx="292608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Item</a:t>
            </a:r>
            <a:endParaRPr lang="en-US" sz="1200" dirty="0"/>
          </a:p>
        </p:txBody>
      </p:sp>
      <p:sp>
        <p:nvSpPr>
          <p:cNvPr id="6" name="Text 4"/>
          <p:cNvSpPr/>
          <p:nvPr/>
        </p:nvSpPr>
        <p:spPr>
          <a:xfrm>
            <a:off x="3383280" y="914400"/>
            <a:ext cx="507492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Configuration</a:t>
            </a:r>
            <a:endParaRPr lang="en-US" sz="1200" dirty="0"/>
          </a:p>
        </p:txBody>
      </p:sp>
      <p:sp>
        <p:nvSpPr>
          <p:cNvPr id="7" name="Text 5"/>
          <p:cNvSpPr/>
          <p:nvPr/>
        </p:nvSpPr>
        <p:spPr>
          <a:xfrm>
            <a:off x="457200" y="1298448"/>
            <a:ext cx="292608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Backbone</a:t>
            </a:r>
            <a:endParaRPr lang="en-US" sz="1180" dirty="0"/>
          </a:p>
        </p:txBody>
      </p:sp>
      <p:sp>
        <p:nvSpPr>
          <p:cNvPr id="8" name="Text 6"/>
          <p:cNvSpPr/>
          <p:nvPr/>
        </p:nvSpPr>
        <p:spPr>
          <a:xfrm>
            <a:off x="3383280" y="1298448"/>
            <a:ext cx="507492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Qwen2.5-VL-3B-Instruct</a:t>
            </a:r>
            <a:endParaRPr lang="en-US" sz="1180" dirty="0"/>
          </a:p>
        </p:txBody>
      </p:sp>
      <p:sp>
        <p:nvSpPr>
          <p:cNvPr id="9" name="Shape 7"/>
          <p:cNvSpPr/>
          <p:nvPr/>
        </p:nvSpPr>
        <p:spPr>
          <a:xfrm>
            <a:off x="457200" y="1682496"/>
            <a:ext cx="8001000" cy="0"/>
          </a:xfrm>
          <a:prstGeom prst="line">
            <a:avLst/>
          </a:prstGeom>
          <a:noFill/>
          <a:ln w="12700">
            <a:solidFill>
              <a:srgbClr val="9A94AE"/>
            </a:solidFill>
            <a:prstDash val="solid"/>
            <a:tailEnd type="none"/>
          </a:ln>
        </p:spPr>
      </p:sp>
      <p:sp>
        <p:nvSpPr>
          <p:cNvPr id="10" name="Text 8"/>
          <p:cNvSpPr/>
          <p:nvPr/>
        </p:nvSpPr>
        <p:spPr>
          <a:xfrm>
            <a:off x="457200" y="1682496"/>
            <a:ext cx="292608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Fine-tuning</a:t>
            </a:r>
            <a:endParaRPr lang="en-US" sz="1180" dirty="0"/>
          </a:p>
        </p:txBody>
      </p:sp>
      <p:sp>
        <p:nvSpPr>
          <p:cNvPr id="11" name="Text 9"/>
          <p:cNvSpPr/>
          <p:nvPr/>
        </p:nvSpPr>
        <p:spPr>
          <a:xfrm>
            <a:off x="3383280" y="1682496"/>
            <a:ext cx="507492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QLoRA NF4 4-bit; rank 8; α 16; dropout 0,05</a:t>
            </a:r>
            <a:endParaRPr lang="en-US" sz="1180" dirty="0"/>
          </a:p>
        </p:txBody>
      </p:sp>
      <p:sp>
        <p:nvSpPr>
          <p:cNvPr id="12" name="Shape 10"/>
          <p:cNvSpPr/>
          <p:nvPr/>
        </p:nvSpPr>
        <p:spPr>
          <a:xfrm>
            <a:off x="457200" y="2066544"/>
            <a:ext cx="8001000" cy="0"/>
          </a:xfrm>
          <a:prstGeom prst="line">
            <a:avLst/>
          </a:prstGeom>
          <a:noFill/>
          <a:ln w="12700">
            <a:solidFill>
              <a:srgbClr val="9A94AE"/>
            </a:solidFill>
            <a:prstDash val="solid"/>
            <a:tailEnd type="none"/>
          </a:ln>
        </p:spPr>
      </p:sp>
      <p:sp>
        <p:nvSpPr>
          <p:cNvPr id="13" name="Text 11"/>
          <p:cNvSpPr/>
          <p:nvPr/>
        </p:nvSpPr>
        <p:spPr>
          <a:xfrm>
            <a:off x="457200" y="2066544"/>
            <a:ext cx="292608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Trainable params</a:t>
            </a:r>
            <a:endParaRPr lang="en-US" sz="1180" dirty="0"/>
          </a:p>
        </p:txBody>
      </p:sp>
      <p:sp>
        <p:nvSpPr>
          <p:cNvPr id="14" name="Text 12"/>
          <p:cNvSpPr/>
          <p:nvPr/>
        </p:nvSpPr>
        <p:spPr>
          <a:xfrm>
            <a:off x="3383280" y="2066544"/>
            <a:ext cx="507492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14.966.784 (~0,48% language side)</a:t>
            </a:r>
            <a:endParaRPr lang="en-US" sz="1180" dirty="0"/>
          </a:p>
        </p:txBody>
      </p:sp>
      <p:sp>
        <p:nvSpPr>
          <p:cNvPr id="15" name="Shape 13"/>
          <p:cNvSpPr/>
          <p:nvPr/>
        </p:nvSpPr>
        <p:spPr>
          <a:xfrm>
            <a:off x="457200" y="2450592"/>
            <a:ext cx="8001000" cy="0"/>
          </a:xfrm>
          <a:prstGeom prst="line">
            <a:avLst/>
          </a:prstGeom>
          <a:noFill/>
          <a:ln w="12700">
            <a:solidFill>
              <a:srgbClr val="9A94AE"/>
            </a:solidFill>
            <a:prstDash val="solid"/>
            <a:tailEnd type="none"/>
          </a:ln>
        </p:spPr>
      </p:sp>
      <p:sp>
        <p:nvSpPr>
          <p:cNvPr id="16" name="Text 14"/>
          <p:cNvSpPr/>
          <p:nvPr/>
        </p:nvSpPr>
        <p:spPr>
          <a:xfrm>
            <a:off x="457200" y="2450592"/>
            <a:ext cx="292608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Context / effective batch</a:t>
            </a:r>
            <a:endParaRPr lang="en-US" sz="1180" dirty="0"/>
          </a:p>
        </p:txBody>
      </p:sp>
      <p:sp>
        <p:nvSpPr>
          <p:cNvPr id="17" name="Text 15"/>
          <p:cNvSpPr/>
          <p:nvPr/>
        </p:nvSpPr>
        <p:spPr>
          <a:xfrm>
            <a:off x="3383280" y="2450592"/>
            <a:ext cx="507492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2.560 tokens / 16</a:t>
            </a:r>
            <a:endParaRPr lang="en-US" sz="1180" dirty="0"/>
          </a:p>
        </p:txBody>
      </p:sp>
      <p:sp>
        <p:nvSpPr>
          <p:cNvPr id="18" name="Shape 16"/>
          <p:cNvSpPr/>
          <p:nvPr/>
        </p:nvSpPr>
        <p:spPr>
          <a:xfrm>
            <a:off x="457200" y="2834640"/>
            <a:ext cx="8001000" cy="0"/>
          </a:xfrm>
          <a:prstGeom prst="line">
            <a:avLst/>
          </a:prstGeom>
          <a:noFill/>
          <a:ln w="12700">
            <a:solidFill>
              <a:srgbClr val="9A94AE"/>
            </a:solidFill>
            <a:prstDash val="solid"/>
            <a:tailEnd type="none"/>
          </a:ln>
        </p:spPr>
      </p:sp>
      <p:sp>
        <p:nvSpPr>
          <p:cNvPr id="19" name="Text 17"/>
          <p:cNvSpPr/>
          <p:nvPr/>
        </p:nvSpPr>
        <p:spPr>
          <a:xfrm>
            <a:off x="457200" y="2834640"/>
            <a:ext cx="292608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SFT</a:t>
            </a:r>
            <a:endParaRPr lang="en-US" sz="1180" dirty="0"/>
          </a:p>
        </p:txBody>
      </p:sp>
      <p:sp>
        <p:nvSpPr>
          <p:cNvPr id="20" name="Text 18"/>
          <p:cNvSpPr/>
          <p:nvPr/>
        </p:nvSpPr>
        <p:spPr>
          <a:xfrm>
            <a:off x="3383280" y="2834640"/>
            <a:ext cx="507492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2 epochs = 8.072 steps; LR 1e−4; seed 101 &amp; 202</a:t>
            </a:r>
            <a:endParaRPr lang="en-US" sz="1180" dirty="0"/>
          </a:p>
        </p:txBody>
      </p:sp>
      <p:sp>
        <p:nvSpPr>
          <p:cNvPr id="21" name="Shape 19"/>
          <p:cNvSpPr/>
          <p:nvPr/>
        </p:nvSpPr>
        <p:spPr>
          <a:xfrm>
            <a:off x="457200" y="3218688"/>
            <a:ext cx="8001000" cy="0"/>
          </a:xfrm>
          <a:prstGeom prst="line">
            <a:avLst/>
          </a:prstGeom>
          <a:noFill/>
          <a:ln w="12700">
            <a:solidFill>
              <a:srgbClr val="9A94AE"/>
            </a:solidFill>
            <a:prstDash val="solid"/>
            <a:tailEnd type="none"/>
          </a:ln>
        </p:spPr>
      </p:sp>
      <p:sp>
        <p:nvSpPr>
          <p:cNvPr id="22" name="Text 20"/>
          <p:cNvSpPr/>
          <p:nvPr/>
        </p:nvSpPr>
        <p:spPr>
          <a:xfrm>
            <a:off x="457200" y="3218688"/>
            <a:ext cx="292608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GRPO</a:t>
            </a:r>
            <a:endParaRPr lang="en-US" sz="1180" dirty="0"/>
          </a:p>
        </p:txBody>
      </p:sp>
      <p:sp>
        <p:nvSpPr>
          <p:cNvPr id="23" name="Text 21"/>
          <p:cNvSpPr/>
          <p:nvPr/>
        </p:nvSpPr>
        <p:spPr>
          <a:xfrm>
            <a:off x="3383280" y="3218688"/>
            <a:ext cx="507492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G=8; 500 updates; 1.000 prompts; LR 1e−5; βKL=0,04</a:t>
            </a:r>
            <a:endParaRPr lang="en-US" sz="1180" dirty="0"/>
          </a:p>
        </p:txBody>
      </p:sp>
      <p:sp>
        <p:nvSpPr>
          <p:cNvPr id="24" name="Shape 22"/>
          <p:cNvSpPr/>
          <p:nvPr/>
        </p:nvSpPr>
        <p:spPr>
          <a:xfrm>
            <a:off x="457200" y="3602736"/>
            <a:ext cx="8001000" cy="0"/>
          </a:xfrm>
          <a:prstGeom prst="line">
            <a:avLst/>
          </a:prstGeom>
          <a:noFill/>
          <a:ln w="12700">
            <a:solidFill>
              <a:srgbClr val="9A94AE"/>
            </a:solidFill>
            <a:prstDash val="solid"/>
            <a:tailEnd type="none"/>
          </a:ln>
        </p:spPr>
      </p:sp>
      <p:sp>
        <p:nvSpPr>
          <p:cNvPr id="25" name="Text 23"/>
          <p:cNvSpPr/>
          <p:nvPr/>
        </p:nvSpPr>
        <p:spPr>
          <a:xfrm>
            <a:off x="457200" y="3602736"/>
            <a:ext cx="292608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Hardware</a:t>
            </a:r>
            <a:endParaRPr lang="en-US" sz="1180" dirty="0"/>
          </a:p>
        </p:txBody>
      </p:sp>
      <p:sp>
        <p:nvSpPr>
          <p:cNvPr id="26" name="Text 24"/>
          <p:cNvSpPr/>
          <p:nvPr/>
        </p:nvSpPr>
        <p:spPr>
          <a:xfrm>
            <a:off x="3383280" y="3602736"/>
            <a:ext cx="5074920" cy="384048"/>
          </a:xfrm>
          <a:prstGeom prst="rect">
            <a:avLst/>
          </a:prstGeom>
          <a:noFill/>
          <a:ln/>
        </p:spPr>
        <p:txBody>
          <a:bodyPr wrap="square" lIns="38100" tIns="38100" rIns="38100" bIns="38100" rtlCol="0" anchor="ctr"/>
          <a:lstStyle/>
          <a:p>
            <a:pPr algn="l" indent="0" marL="0">
              <a:buNone/>
            </a:pPr>
            <a:r>
              <a:rPr lang="en-US" sz="1180" dirty="0">
                <a:solidFill>
                  <a:srgbClr val="1A1A1A"/>
                </a:solidFill>
                <a:latin typeface="Cambria" pitchFamily="34" charset="0"/>
                <a:ea typeface="Cambria" pitchFamily="34" charset="-122"/>
                <a:cs typeface="Cambria" pitchFamily="34" charset="-120"/>
              </a:rPr>
              <a:t>1 × A100; vision tower frozen</a:t>
            </a:r>
            <a:endParaRPr lang="en-US" sz="1180" dirty="0"/>
          </a:p>
        </p:txBody>
      </p:sp>
      <p:sp>
        <p:nvSpPr>
          <p:cNvPr id="27" name="Shape 25"/>
          <p:cNvSpPr/>
          <p:nvPr/>
        </p:nvSpPr>
        <p:spPr>
          <a:xfrm>
            <a:off x="0" y="6620256"/>
            <a:ext cx="2743200" cy="237744"/>
          </a:xfrm>
          <a:prstGeom prst="rect">
            <a:avLst/>
          </a:prstGeom>
          <a:solidFill>
            <a:srgbClr val="191132"/>
          </a:solidFill>
          <a:ln/>
        </p:spPr>
      </p:sp>
      <p:sp>
        <p:nvSpPr>
          <p:cNvPr id="28" name="Shape 26"/>
          <p:cNvSpPr/>
          <p:nvPr/>
        </p:nvSpPr>
        <p:spPr>
          <a:xfrm>
            <a:off x="2743200" y="6620256"/>
            <a:ext cx="3383280" cy="237744"/>
          </a:xfrm>
          <a:prstGeom prst="rect">
            <a:avLst/>
          </a:prstGeom>
          <a:solidFill>
            <a:srgbClr val="25194B"/>
          </a:solidFill>
          <a:ln/>
        </p:spPr>
      </p:sp>
      <p:sp>
        <p:nvSpPr>
          <p:cNvPr id="29" name="Shape 27"/>
          <p:cNvSpPr/>
          <p:nvPr/>
        </p:nvSpPr>
        <p:spPr>
          <a:xfrm>
            <a:off x="6126480" y="6620256"/>
            <a:ext cx="1737360" cy="237744"/>
          </a:xfrm>
          <a:prstGeom prst="rect">
            <a:avLst/>
          </a:prstGeom>
          <a:solidFill>
            <a:srgbClr val="4F417A"/>
          </a:solidFill>
          <a:ln/>
        </p:spPr>
      </p:sp>
      <p:sp>
        <p:nvSpPr>
          <p:cNvPr id="30" name="Shape 28"/>
          <p:cNvSpPr/>
          <p:nvPr/>
        </p:nvSpPr>
        <p:spPr>
          <a:xfrm>
            <a:off x="7863840" y="6620256"/>
            <a:ext cx="1280160" cy="237744"/>
          </a:xfrm>
          <a:prstGeom prst="rect">
            <a:avLst/>
          </a:prstGeom>
          <a:solidFill>
            <a:srgbClr val="7A7099"/>
          </a:solidFill>
          <a:ln/>
        </p:spPr>
      </p:sp>
      <p:sp>
        <p:nvSpPr>
          <p:cNvPr id="31" name="Text 2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2" name="Text 3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3" name="Text 3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4" name="Text 3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Hướng phát triển ưu tiên</a:t>
            </a:r>
            <a:endParaRPr lang="en-US" sz="1900" dirty="0"/>
          </a:p>
        </p:txBody>
      </p:sp>
      <p:sp>
        <p:nvSpPr>
          <p:cNvPr id="4" name="Shape 2"/>
          <p:cNvSpPr/>
          <p:nvPr/>
        </p:nvSpPr>
        <p:spPr>
          <a:xfrm>
            <a:off x="457200" y="932688"/>
            <a:ext cx="384048" cy="256032"/>
          </a:xfrm>
          <a:prstGeom prst="roundRect">
            <a:avLst/>
          </a:prstGeom>
          <a:solidFill>
            <a:srgbClr val="B22222"/>
          </a:solidFill>
          <a:ln/>
        </p:spPr>
      </p:sp>
      <p:sp>
        <p:nvSpPr>
          <p:cNvPr id="5" name="Text 3"/>
          <p:cNvSpPr/>
          <p:nvPr/>
        </p:nvSpPr>
        <p:spPr>
          <a:xfrm>
            <a:off x="457200" y="932688"/>
            <a:ext cx="3840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1</a:t>
            </a:r>
            <a:endParaRPr lang="en-US" sz="900" dirty="0"/>
          </a:p>
        </p:txBody>
      </p:sp>
      <p:sp>
        <p:nvSpPr>
          <p:cNvPr id="6" name="Text 4"/>
          <p:cNvSpPr/>
          <p:nvPr/>
        </p:nvSpPr>
        <p:spPr>
          <a:xfrm>
            <a:off x="1051560" y="868680"/>
            <a:ext cx="2011680" cy="292608"/>
          </a:xfrm>
          <a:prstGeom prst="rect">
            <a:avLst/>
          </a:prstGeom>
          <a:noFill/>
          <a:ln/>
        </p:spPr>
        <p:txBody>
          <a:bodyPr wrap="square" lIns="0" tIns="0" rIns="0" bIns="0" rtlCol="0" anchor="t"/>
          <a:lstStyle/>
          <a:p>
            <a:pPr algn="l" indent="0" marL="0">
              <a:buNone/>
            </a:pPr>
            <a:r>
              <a:rPr lang="en-US" sz="1320" b="1" dirty="0">
                <a:solidFill>
                  <a:srgbClr val="322164"/>
                </a:solidFill>
                <a:latin typeface="Cambria" pitchFamily="34" charset="0"/>
                <a:ea typeface="Cambria" pitchFamily="34" charset="-122"/>
                <a:cs typeface="Cambria" pitchFamily="34" charset="-120"/>
              </a:rPr>
              <a:t>Human validation</a:t>
            </a:r>
            <a:endParaRPr lang="en-US" sz="1320" dirty="0"/>
          </a:p>
        </p:txBody>
      </p:sp>
      <p:sp>
        <p:nvSpPr>
          <p:cNvPr id="7" name="Text 5"/>
          <p:cNvSpPr/>
          <p:nvPr/>
        </p:nvSpPr>
        <p:spPr>
          <a:xfrm>
            <a:off x="3017520" y="868680"/>
            <a:ext cx="5577840" cy="475488"/>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Hai người chấm 100 câu; đo agreement với executability.</a:t>
            </a:r>
            <a:endParaRPr lang="en-US" sz="1200" dirty="0"/>
          </a:p>
        </p:txBody>
      </p:sp>
      <p:sp>
        <p:nvSpPr>
          <p:cNvPr id="8" name="Shape 6"/>
          <p:cNvSpPr/>
          <p:nvPr/>
        </p:nvSpPr>
        <p:spPr>
          <a:xfrm>
            <a:off x="1051560" y="1527048"/>
            <a:ext cx="7635240" cy="0"/>
          </a:xfrm>
          <a:prstGeom prst="line">
            <a:avLst/>
          </a:prstGeom>
          <a:noFill/>
          <a:ln w="12700">
            <a:solidFill>
              <a:srgbClr val="D0CDD7"/>
            </a:solidFill>
            <a:prstDash val="solid"/>
            <a:tailEnd type="none"/>
          </a:ln>
        </p:spPr>
      </p:sp>
      <p:sp>
        <p:nvSpPr>
          <p:cNvPr id="9" name="Shape 7"/>
          <p:cNvSpPr/>
          <p:nvPr/>
        </p:nvSpPr>
        <p:spPr>
          <a:xfrm>
            <a:off x="457200" y="1892808"/>
            <a:ext cx="384048" cy="256032"/>
          </a:xfrm>
          <a:prstGeom prst="roundRect">
            <a:avLst/>
          </a:prstGeom>
          <a:solidFill>
            <a:srgbClr val="B22222"/>
          </a:solidFill>
          <a:ln/>
        </p:spPr>
      </p:sp>
      <p:sp>
        <p:nvSpPr>
          <p:cNvPr id="10" name="Text 8"/>
          <p:cNvSpPr/>
          <p:nvPr/>
        </p:nvSpPr>
        <p:spPr>
          <a:xfrm>
            <a:off x="457200" y="1892808"/>
            <a:ext cx="3840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2</a:t>
            </a:r>
            <a:endParaRPr lang="en-US" sz="900" dirty="0"/>
          </a:p>
        </p:txBody>
      </p:sp>
      <p:sp>
        <p:nvSpPr>
          <p:cNvPr id="11" name="Text 9"/>
          <p:cNvSpPr/>
          <p:nvPr/>
        </p:nvSpPr>
        <p:spPr>
          <a:xfrm>
            <a:off x="1051560" y="1828800"/>
            <a:ext cx="2011680" cy="292608"/>
          </a:xfrm>
          <a:prstGeom prst="rect">
            <a:avLst/>
          </a:prstGeom>
          <a:noFill/>
          <a:ln/>
        </p:spPr>
        <p:txBody>
          <a:bodyPr wrap="square" lIns="0" tIns="0" rIns="0" bIns="0" rtlCol="0" anchor="t"/>
          <a:lstStyle/>
          <a:p>
            <a:pPr algn="l" indent="0" marL="0">
              <a:buNone/>
            </a:pPr>
            <a:r>
              <a:rPr lang="en-US" sz="1320" b="1" dirty="0">
                <a:solidFill>
                  <a:srgbClr val="322164"/>
                </a:solidFill>
                <a:latin typeface="Cambria" pitchFamily="34" charset="0"/>
                <a:ea typeface="Cambria" pitchFamily="34" charset="-122"/>
                <a:cs typeface="Cambria" pitchFamily="34" charset="-120"/>
              </a:rPr>
              <a:t>Fair RL control</a:t>
            </a:r>
            <a:endParaRPr lang="en-US" sz="1320" dirty="0"/>
          </a:p>
        </p:txBody>
      </p:sp>
      <p:sp>
        <p:nvSpPr>
          <p:cNvPr id="12" name="Text 10"/>
          <p:cNvSpPr/>
          <p:nvPr/>
        </p:nvSpPr>
        <p:spPr>
          <a:xfrm>
            <a:off x="3017520" y="1828800"/>
            <a:ext cx="5577840" cy="475488"/>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SFT thêm cùng số bước + cùng generation pipeline với S1.</a:t>
            </a:r>
            <a:endParaRPr lang="en-US" sz="1200" dirty="0"/>
          </a:p>
        </p:txBody>
      </p:sp>
      <p:sp>
        <p:nvSpPr>
          <p:cNvPr id="13" name="Shape 11"/>
          <p:cNvSpPr/>
          <p:nvPr/>
        </p:nvSpPr>
        <p:spPr>
          <a:xfrm>
            <a:off x="1051560" y="2487168"/>
            <a:ext cx="7635240" cy="0"/>
          </a:xfrm>
          <a:prstGeom prst="line">
            <a:avLst/>
          </a:prstGeom>
          <a:noFill/>
          <a:ln w="12700">
            <a:solidFill>
              <a:srgbClr val="D0CDD7"/>
            </a:solidFill>
            <a:prstDash val="solid"/>
            <a:tailEnd type="none"/>
          </a:ln>
        </p:spPr>
      </p:sp>
      <p:sp>
        <p:nvSpPr>
          <p:cNvPr id="14" name="Shape 12"/>
          <p:cNvSpPr/>
          <p:nvPr/>
        </p:nvSpPr>
        <p:spPr>
          <a:xfrm>
            <a:off x="457200" y="2852928"/>
            <a:ext cx="384048" cy="256032"/>
          </a:xfrm>
          <a:prstGeom prst="roundRect">
            <a:avLst/>
          </a:prstGeom>
          <a:solidFill>
            <a:srgbClr val="006666"/>
          </a:solidFill>
          <a:ln/>
        </p:spPr>
      </p:sp>
      <p:sp>
        <p:nvSpPr>
          <p:cNvPr id="15" name="Text 13"/>
          <p:cNvSpPr/>
          <p:nvPr/>
        </p:nvSpPr>
        <p:spPr>
          <a:xfrm>
            <a:off x="457200" y="2852928"/>
            <a:ext cx="3840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3</a:t>
            </a:r>
            <a:endParaRPr lang="en-US" sz="900" dirty="0"/>
          </a:p>
        </p:txBody>
      </p:sp>
      <p:sp>
        <p:nvSpPr>
          <p:cNvPr id="16" name="Text 14"/>
          <p:cNvSpPr/>
          <p:nvPr/>
        </p:nvSpPr>
        <p:spPr>
          <a:xfrm>
            <a:off x="1051560" y="2788920"/>
            <a:ext cx="2011680" cy="292608"/>
          </a:xfrm>
          <a:prstGeom prst="rect">
            <a:avLst/>
          </a:prstGeom>
          <a:noFill/>
          <a:ln/>
        </p:spPr>
        <p:txBody>
          <a:bodyPr wrap="square" lIns="0" tIns="0" rIns="0" bIns="0" rtlCol="0" anchor="t"/>
          <a:lstStyle/>
          <a:p>
            <a:pPr algn="l" indent="0" marL="0">
              <a:buNone/>
            </a:pPr>
            <a:r>
              <a:rPr lang="en-US" sz="1320" b="1" dirty="0">
                <a:solidFill>
                  <a:srgbClr val="322164"/>
                </a:solidFill>
                <a:latin typeface="Cambria" pitchFamily="34" charset="0"/>
                <a:ea typeface="Cambria" pitchFamily="34" charset="-122"/>
                <a:cs typeface="Cambria" pitchFamily="34" charset="-120"/>
              </a:rPr>
              <a:t>ACE confidence</a:t>
            </a:r>
            <a:endParaRPr lang="en-US" sz="1320" dirty="0"/>
          </a:p>
        </p:txBody>
      </p:sp>
      <p:sp>
        <p:nvSpPr>
          <p:cNvPr id="17" name="Text 15"/>
          <p:cNvSpPr/>
          <p:nvPr/>
        </p:nvSpPr>
        <p:spPr>
          <a:xfrm>
            <a:off x="3017520" y="2788920"/>
            <a:ext cx="5577840" cy="475488"/>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Bootstrap CI cho text metrics và ablation retrieval/no-retrieval.</a:t>
            </a:r>
            <a:endParaRPr lang="en-US" sz="1200" dirty="0"/>
          </a:p>
        </p:txBody>
      </p:sp>
      <p:sp>
        <p:nvSpPr>
          <p:cNvPr id="18" name="Shape 16"/>
          <p:cNvSpPr/>
          <p:nvPr/>
        </p:nvSpPr>
        <p:spPr>
          <a:xfrm>
            <a:off x="1051560" y="3447288"/>
            <a:ext cx="7635240" cy="0"/>
          </a:xfrm>
          <a:prstGeom prst="line">
            <a:avLst/>
          </a:prstGeom>
          <a:noFill/>
          <a:ln w="12700">
            <a:solidFill>
              <a:srgbClr val="D0CDD7"/>
            </a:solidFill>
            <a:prstDash val="solid"/>
            <a:tailEnd type="none"/>
          </a:ln>
        </p:spPr>
      </p:sp>
      <p:sp>
        <p:nvSpPr>
          <p:cNvPr id="19" name="Shape 17"/>
          <p:cNvSpPr/>
          <p:nvPr/>
        </p:nvSpPr>
        <p:spPr>
          <a:xfrm>
            <a:off x="457200" y="3813048"/>
            <a:ext cx="384048" cy="256032"/>
          </a:xfrm>
          <a:prstGeom prst="roundRect">
            <a:avLst/>
          </a:prstGeom>
          <a:solidFill>
            <a:srgbClr val="006666"/>
          </a:solidFill>
          <a:ln/>
        </p:spPr>
      </p:sp>
      <p:sp>
        <p:nvSpPr>
          <p:cNvPr id="20" name="Text 18"/>
          <p:cNvSpPr/>
          <p:nvPr/>
        </p:nvSpPr>
        <p:spPr>
          <a:xfrm>
            <a:off x="457200" y="3813048"/>
            <a:ext cx="3840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4</a:t>
            </a:r>
            <a:endParaRPr lang="en-US" sz="900" dirty="0"/>
          </a:p>
        </p:txBody>
      </p:sp>
      <p:sp>
        <p:nvSpPr>
          <p:cNvPr id="21" name="Text 19"/>
          <p:cNvSpPr/>
          <p:nvPr/>
        </p:nvSpPr>
        <p:spPr>
          <a:xfrm>
            <a:off x="1051560" y="3749040"/>
            <a:ext cx="2011680" cy="292608"/>
          </a:xfrm>
          <a:prstGeom prst="rect">
            <a:avLst/>
          </a:prstGeom>
          <a:noFill/>
          <a:ln/>
        </p:spPr>
        <p:txBody>
          <a:bodyPr wrap="square" lIns="0" tIns="0" rIns="0" bIns="0" rtlCol="0" anchor="t"/>
          <a:lstStyle/>
          <a:p>
            <a:pPr algn="l" indent="0" marL="0">
              <a:buNone/>
            </a:pPr>
            <a:r>
              <a:rPr lang="en-US" sz="1320" b="1" dirty="0">
                <a:solidFill>
                  <a:srgbClr val="322164"/>
                </a:solidFill>
                <a:latin typeface="Cambria" pitchFamily="34" charset="0"/>
                <a:ea typeface="Cambria" pitchFamily="34" charset="-122"/>
                <a:cs typeface="Cambria" pitchFamily="34" charset="-120"/>
              </a:rPr>
              <a:t>Stronger paraphrase</a:t>
            </a:r>
            <a:endParaRPr lang="en-US" sz="1320" dirty="0"/>
          </a:p>
        </p:txBody>
      </p:sp>
      <p:sp>
        <p:nvSpPr>
          <p:cNvPr id="22" name="Text 20"/>
          <p:cNvSpPr/>
          <p:nvPr/>
        </p:nvSpPr>
        <p:spPr>
          <a:xfrm>
            <a:off x="3017520" y="3749040"/>
            <a:ext cx="5577840" cy="475488"/>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Viết lại cả tên và cách mô tả phần tử, không chỉ động từ/trật tự.</a:t>
            </a:r>
            <a:endParaRPr lang="en-US" sz="1200" dirty="0"/>
          </a:p>
        </p:txBody>
      </p:sp>
      <p:sp>
        <p:nvSpPr>
          <p:cNvPr id="23" name="Shape 21"/>
          <p:cNvSpPr/>
          <p:nvPr/>
        </p:nvSpPr>
        <p:spPr>
          <a:xfrm>
            <a:off x="1051560" y="4407408"/>
            <a:ext cx="7635240" cy="0"/>
          </a:xfrm>
          <a:prstGeom prst="line">
            <a:avLst/>
          </a:prstGeom>
          <a:noFill/>
          <a:ln w="12700">
            <a:solidFill>
              <a:srgbClr val="D0CDD7"/>
            </a:solidFill>
            <a:prstDash val="solid"/>
            <a:tailEnd type="none"/>
          </a:ln>
        </p:spPr>
      </p:sp>
      <p:sp>
        <p:nvSpPr>
          <p:cNvPr id="24" name="Shape 22"/>
          <p:cNvSpPr/>
          <p:nvPr/>
        </p:nvSpPr>
        <p:spPr>
          <a:xfrm>
            <a:off x="457200" y="4773168"/>
            <a:ext cx="384048" cy="256032"/>
          </a:xfrm>
          <a:prstGeom prst="roundRect">
            <a:avLst/>
          </a:prstGeom>
          <a:solidFill>
            <a:srgbClr val="006666"/>
          </a:solidFill>
          <a:ln/>
        </p:spPr>
      </p:sp>
      <p:sp>
        <p:nvSpPr>
          <p:cNvPr id="25" name="Text 23"/>
          <p:cNvSpPr/>
          <p:nvPr/>
        </p:nvSpPr>
        <p:spPr>
          <a:xfrm>
            <a:off x="457200" y="4773168"/>
            <a:ext cx="3840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5</a:t>
            </a:r>
            <a:endParaRPr lang="en-US" sz="900" dirty="0"/>
          </a:p>
        </p:txBody>
      </p:sp>
      <p:sp>
        <p:nvSpPr>
          <p:cNvPr id="26" name="Text 24"/>
          <p:cNvSpPr/>
          <p:nvPr/>
        </p:nvSpPr>
        <p:spPr>
          <a:xfrm>
            <a:off x="1051560" y="4709160"/>
            <a:ext cx="2011680" cy="292608"/>
          </a:xfrm>
          <a:prstGeom prst="rect">
            <a:avLst/>
          </a:prstGeom>
          <a:noFill/>
          <a:ln/>
        </p:spPr>
        <p:txBody>
          <a:bodyPr wrap="square" lIns="0" tIns="0" rIns="0" bIns="0" rtlCol="0" anchor="t"/>
          <a:lstStyle/>
          <a:p>
            <a:pPr algn="l" indent="0" marL="0">
              <a:buNone/>
            </a:pPr>
            <a:r>
              <a:rPr lang="en-US" sz="1320" b="1" dirty="0">
                <a:solidFill>
                  <a:srgbClr val="322164"/>
                </a:solidFill>
                <a:latin typeface="Cambria" pitchFamily="34" charset="0"/>
                <a:ea typeface="Cambria" pitchFamily="34" charset="-122"/>
                <a:cs typeface="Cambria" pitchFamily="34" charset="-120"/>
              </a:rPr>
              <a:t>Broader scope</a:t>
            </a:r>
            <a:endParaRPr lang="en-US" sz="1320" dirty="0"/>
          </a:p>
        </p:txBody>
      </p:sp>
      <p:sp>
        <p:nvSpPr>
          <p:cNvPr id="27" name="Text 25"/>
          <p:cNvSpPr/>
          <p:nvPr/>
        </p:nvSpPr>
        <p:spPr>
          <a:xfrm>
            <a:off x="3017520" y="4709160"/>
            <a:ext cx="5577840" cy="475488"/>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Official AndroidControl test, multi-screen, Vietnamese UI, second dataset.</a:t>
            </a:r>
            <a:endParaRPr lang="en-US" sz="1200" dirty="0"/>
          </a:p>
        </p:txBody>
      </p:sp>
      <p:sp>
        <p:nvSpPr>
          <p:cNvPr id="28" name="Shape 26"/>
          <p:cNvSpPr/>
          <p:nvPr/>
        </p:nvSpPr>
        <p:spPr>
          <a:xfrm>
            <a:off x="0" y="6620256"/>
            <a:ext cx="2743200" cy="237744"/>
          </a:xfrm>
          <a:prstGeom prst="rect">
            <a:avLst/>
          </a:prstGeom>
          <a:solidFill>
            <a:srgbClr val="191132"/>
          </a:solidFill>
          <a:ln/>
        </p:spPr>
      </p:sp>
      <p:sp>
        <p:nvSpPr>
          <p:cNvPr id="29" name="Shape 27"/>
          <p:cNvSpPr/>
          <p:nvPr/>
        </p:nvSpPr>
        <p:spPr>
          <a:xfrm>
            <a:off x="2743200" y="6620256"/>
            <a:ext cx="3383280" cy="237744"/>
          </a:xfrm>
          <a:prstGeom prst="rect">
            <a:avLst/>
          </a:prstGeom>
          <a:solidFill>
            <a:srgbClr val="25194B"/>
          </a:solidFill>
          <a:ln/>
        </p:spPr>
      </p:sp>
      <p:sp>
        <p:nvSpPr>
          <p:cNvPr id="30" name="Shape 28"/>
          <p:cNvSpPr/>
          <p:nvPr/>
        </p:nvSpPr>
        <p:spPr>
          <a:xfrm>
            <a:off x="6126480" y="6620256"/>
            <a:ext cx="1737360" cy="237744"/>
          </a:xfrm>
          <a:prstGeom prst="rect">
            <a:avLst/>
          </a:prstGeom>
          <a:solidFill>
            <a:srgbClr val="4F417A"/>
          </a:solidFill>
          <a:ln/>
        </p:spPr>
      </p:sp>
      <p:sp>
        <p:nvSpPr>
          <p:cNvPr id="31" name="Shape 29"/>
          <p:cNvSpPr/>
          <p:nvPr/>
        </p:nvSpPr>
        <p:spPr>
          <a:xfrm>
            <a:off x="7863840" y="6620256"/>
            <a:ext cx="1280160" cy="237744"/>
          </a:xfrm>
          <a:prstGeom prst="rect">
            <a:avLst/>
          </a:prstGeom>
          <a:solidFill>
            <a:srgbClr val="7A7099"/>
          </a:solidFill>
          <a:ln/>
        </p:spPr>
      </p:sp>
      <p:sp>
        <p:nvSpPr>
          <p:cNvPr id="32" name="Text 3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3" name="Text 3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4" name="Text 3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5" name="Text 3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VNU-HCM University of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Phat sinh tu dong huong dan su dung phan mem dua tren LLM - scientific defense</dc:title>
  <dc:subject>Master thesis defense</dc:subject>
  <dc:creator>Le Doan Phuong Uyen</dc:creator>
  <cp:lastModifiedBy>Le Doan Phuong Uyen</cp:lastModifiedBy>
  <cp:revision>1</cp:revision>
  <dcterms:created xsi:type="dcterms:W3CDTF">2026-10-16T14:29:58Z</dcterms:created>
  <dcterms:modified xsi:type="dcterms:W3CDTF">2026-10-16T14:29:58Z</dcterms:modified>
</cp:coreProperties>
</file>