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9144000" cy="6858000"/>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chào thầy, mục đích buổi gặp: báo cáo luận văn đã hoàn chỉnh tới đâu
- phần nói thêm và lời đề nghị nằm ở kịch bản riêng, không lên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dòng tác tử: ảnh -&gt; toạ độ cho máy; đề tài giữ đầu vào, đổi đầu ra thành câu cho người
- ánh xạ tên đề tài: trường hợp sử dụng = mục tiêu + các bước đã làm; giao diện = ảnh + chữ trên màn
- điểm khác bài gốc AndroidControl: câu từng bước là đích sinh, không phải đầu vào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một nút có nhiều tên đúng; mỗi bước chỉ có một câu chuẩn
- thước so chữ phạt cách gọi khác và tha cho câu gọi nhầm nút cạnh bên
- vì thế phần lớn công sức của đề tài dành cho thước đo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câu -&gt; mô hình định vị không biết đáp án -&gt; điểm
- ba điều kiện: đúng loại thao tác, trong dung sai 0,14, trong ô Voronoi
- vì sao thêm Voronoi: luật dung sai đơn thuần cho điểm câu sai nút ở 84,3% số ca, Voronoi còn 2,8% (dự phòng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mọi điểm đọc trên nền trần 75,7, không phải 100; dải dùng được từ sàn 12 tới trần
- câu của màn khác thấp hơn cả câu chung chung: thước chấm nội dung, không chấm văn phong
- thêm: người nghe trắc nghiệm Phi-4 (ngoài họ Qwen) giữ nguyên thứ tự các nhánh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không có bộ dữ liệu sẵn cho bài toán này, nên dựng từ AndroidControl
- ba phép kiểm: ghép, bất biến, rò rỉ
- phần dữ liệu đã viết thành bài VCL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S1 là nền của mọi nhánh sau và là mốc so của phương pháp đề xuất
- khoảng tin cậy của Base, S1, trần rời nhau: thước tách được ba mức
- sáu cách giải thích thay thế ở ch6, trong đó có đổi bộ trỏ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các hướng đều tác động vào một tầng trung gian giữa ảnh và câu
- điểm chung: tầng trung gian thay đổi được, nhưng câu ở đầu ra thay đổi rất ít
- đây là căn cứ cho phương pháp đề xuất ở slide 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khai báo đúng thì tốt hơn cả S1, khai báo sai thì kém hẳn
- 91% khoảng cách nằm ở nhóm nhìn sai phần tử
- mức truyền 0,028: dự báo dùng tương quan giữa các nhánh từng sai 26 lần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xuất phát thẳng từ S1 để phép so chỉ còn một biến là học tăng cường
- LoRA mới với B = 0: bước đầu mô hình trùng S1, tham chiếu KL cũng là S1
- phần đóng góp mới hẹp: áp và đo cho bài toán này, không nhận mới ở thuật toán hay ở việc chọn SPICE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ba luật: AitW (lỏng nhất), hộp phần tử của AndroidControl, executability (chặt nhất)
- mọi số đọc cạnh mức câu chuẩn ở cột cuối
- bảng đủ mọi nhánh, gồm BLEU/ROUGE: dự phòng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AitW: luật trong mã chấm gốc của AndroidInTheWild; cận trên: xét mọi khung bấm được (sàn cao hơn, 41,6)
- D.3: luật gốc của AndroidControl; ±14% theo trục: dung sai đơn thuần
- cột đúng thao tác chỉ tính bước chạm, phải đọc cùng bước không chạm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phương pháp đề xuất cao nhất ở 6/7 cột, ROUGE-L kém CE2-S2 0,2
- nhóm thước này xếp S1 trên MIN-DESC và chặng ba, ngược chiều executability; phép so vẫn đọc trên executability
- SPICE: thước Zhao (EACL 2021) khuyên dùng để xếp hạng hệ thống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khớp thao tác của mọi nhánh đã ở 94 đến 99 trên bước chạm
- vì thế executability gần như bằng cột Voronoi; điểm nghẽn là định vị phần tử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hai dụng cụ độc lập với UGround, đều giữ thứ tự các nhánh
- UI-Venus chấm thấp hơn ở mọi nhánh, nên không phải chọn dụng cụ để có số đẹp
- phương pháp đề xuất chưa được chấm bằng hai dụng cụ này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sáu thước vị trí và bảy thước câu chữ, đều cao hơn S1
- sáu thước vị trí có KTC nằm hẳn trên 0; mô hình định vị không có trong phần thưởng
- phần thưởng là SPICE nhưng mức tăng không dừng ở SPICE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mô hình đầu tiên của đề tài hơn S1 có ý nghĩa thống kê ngay dưới executability
- hơn một nửa mức tăng là định vị thật, khác chặng ba
- ví dụ bên phải: S1 gọi nút Allow, phương pháp đề xuất gọi đúng Not Now ở cuối màn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đây là cái giá của phương pháp, báo cạnh mọi số trên bước chạm
- cùng một cơ chế cho cả phần được (sửa swipe thành click ở bước chạm) và phần mất
- tính trên toàn 6.958 bước: được 72 bước ở bước chạm, mất 42 bước ở bước không chạm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TAGE trình bày là phần mở rộng, không phải đóng góp chính
- kết quả âm nhỏ nhưng có lý do đo được: bộ chọn chọn ngược
- giá trị chọn trên 11 câu của tập kiểm định không chuyển sang tập kiểm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ba đóng góp độc lập về lập luận
- thước đo là phần đầu tư nhiều nhất
- phương pháp: điểm mới hẹp, ở chỗ áp và đo cho bài toán sinh câu hướng dẫn giao diện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mọi hạn chế đều đã viết trong ch7 kèm số đo
- hạt giống thứ hai bị cắt vì ngân sách máy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xếp theo mức cần thiết với độ tin cậy của kết luận
- hai hướng đầu nối tiếp phương pháp đề xuất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luận văn đã đủ chương, số trên slide khớp bản PDF
- các lượt đang chạy chỉ bổ sung; nếu không vượt thì mô hình chính giữ nguyên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603504"/>
          </a:xfrm>
          <a:prstGeom prst="rect">
            <a:avLst/>
          </a:prstGeom>
          <a:solidFill>
            <a:srgbClr val="322164"/>
          </a:solidFill>
          <a:ln/>
        </p:spPr>
      </p:sp>
      <p:sp>
        <p:nvSpPr>
          <p:cNvPr id="3" name="Text 1"/>
          <p:cNvSpPr/>
          <p:nvPr/>
        </p:nvSpPr>
        <p:spPr>
          <a:xfrm>
            <a:off x="0" y="0"/>
            <a:ext cx="9144000" cy="603504"/>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ĐẠI HỌC QUỐC GIA TP. HỒ CHÍ MINH  -  TRƯỜNG ĐẠI HỌC KHOA HỌC TỰ NHIÊN</a:t>
            </a:r>
            <a:endParaRPr lang="en-US" sz="1400" dirty="0"/>
          </a:p>
        </p:txBody>
      </p:sp>
      <p:sp>
        <p:nvSpPr>
          <p:cNvPr id="4" name="Shape 2"/>
          <p:cNvSpPr/>
          <p:nvPr/>
        </p:nvSpPr>
        <p:spPr>
          <a:xfrm>
            <a:off x="731520" y="1097280"/>
            <a:ext cx="7680960" cy="2240280"/>
          </a:xfrm>
          <a:prstGeom prst="roundRect">
            <a:avLst>
              <a:gd name="adj" fmla="val 3673"/>
            </a:avLst>
          </a:prstGeom>
          <a:solidFill>
            <a:srgbClr val="322164"/>
          </a:solidFill>
          <a:ln/>
          <a:effectLst>
            <a:outerShdw sx="100000" sy="100000" kx="0" ky="0" algn="bl" rotWithShape="0" blurRad="63500" dist="31750" dir="2700000">
              <a:srgbClr val="8C8C99">
                <a:alpha val="45000"/>
              </a:srgbClr>
            </a:outerShdw>
          </a:effectLst>
        </p:spPr>
      </p:sp>
      <p:sp>
        <p:nvSpPr>
          <p:cNvPr id="5" name="Text 3"/>
          <p:cNvSpPr/>
          <p:nvPr/>
        </p:nvSpPr>
        <p:spPr>
          <a:xfrm>
            <a:off x="731520" y="1371600"/>
            <a:ext cx="7680960" cy="365760"/>
          </a:xfrm>
          <a:prstGeom prst="rect">
            <a:avLst/>
          </a:prstGeom>
          <a:noFill/>
          <a:ln/>
        </p:spPr>
        <p:txBody>
          <a:bodyPr wrap="square" lIns="0" tIns="0" rIns="0" bIns="0" rtlCol="0" anchor="t"/>
          <a:lstStyle/>
          <a:p>
            <a:pPr algn="ctr" indent="0" marL="0">
              <a:buNone/>
            </a:pPr>
            <a:r>
              <a:rPr lang="en-US" sz="1500" b="1" dirty="0">
                <a:solidFill>
                  <a:srgbClr val="FFFFFF"/>
                </a:solidFill>
                <a:latin typeface="Cambria" pitchFamily="34" charset="0"/>
                <a:ea typeface="Cambria" pitchFamily="34" charset="-122"/>
                <a:cs typeface="Cambria" pitchFamily="34" charset="-120"/>
              </a:rPr>
              <a:t>Luận văn thạc sĩ  -  Ngành Trí tuệ nhân tạo</a:t>
            </a:r>
            <a:endParaRPr lang="en-US" sz="1500" dirty="0"/>
          </a:p>
        </p:txBody>
      </p:sp>
      <p:sp>
        <p:nvSpPr>
          <p:cNvPr id="6" name="Text 4"/>
          <p:cNvSpPr/>
          <p:nvPr/>
        </p:nvSpPr>
        <p:spPr>
          <a:xfrm>
            <a:off x="731520" y="1783080"/>
            <a:ext cx="7680960" cy="1463040"/>
          </a:xfrm>
          <a:prstGeom prst="rect">
            <a:avLst/>
          </a:prstGeom>
          <a:noFill/>
          <a:ln/>
        </p:spPr>
        <p:txBody>
          <a:bodyPr wrap="square" lIns="0" tIns="0" rIns="0" bIns="0" rtlCol="0" anchor="t"/>
          <a:lstStyle/>
          <a:p>
            <a:pPr algn="ctr" indent="0" marL="0">
              <a:lnSpc>
                <a:spcPct val="125000"/>
              </a:lnSpc>
              <a:buNone/>
            </a:pPr>
            <a:r>
              <a:rPr lang="en-US" sz="2100" b="1" dirty="0">
                <a:solidFill>
                  <a:srgbClr val="FFFFFF"/>
                </a:solidFill>
                <a:latin typeface="Cambria" pitchFamily="34" charset="0"/>
                <a:ea typeface="Cambria" pitchFamily="34" charset="-122"/>
                <a:cs typeface="Cambria" pitchFamily="34" charset="-120"/>
              </a:rPr>
              <a:t>PHÁT SINH TỰ ĐỘNG HƯỚNG DẪN SỬ DỤNG PHẦN MỀM</a:t>
            </a:r>
            <a:endParaRPr lang="en-US" sz="2100" dirty="0"/>
          </a:p>
          <a:p>
            <a:pPr algn="ctr" indent="0" marL="0">
              <a:lnSpc>
                <a:spcPct val="125000"/>
              </a:lnSpc>
              <a:buNone/>
            </a:pPr>
            <a:r>
              <a:rPr lang="en-US" sz="2100" b="1" dirty="0">
                <a:solidFill>
                  <a:srgbClr val="FFFFFF"/>
                </a:solidFill>
                <a:latin typeface="Cambria" pitchFamily="34" charset="0"/>
                <a:ea typeface="Cambria" pitchFamily="34" charset="-122"/>
                <a:cs typeface="Cambria" pitchFamily="34" charset="-120"/>
              </a:rPr>
              <a:t>DỰA TRÊN LLM TỪ CÁC TRƯỜNG HỢP SỬ DỤNG</a:t>
            </a:r>
            <a:endParaRPr lang="en-US" sz="2100" dirty="0"/>
          </a:p>
          <a:p>
            <a:pPr algn="ctr" indent="0" marL="0">
              <a:lnSpc>
                <a:spcPct val="125000"/>
              </a:lnSpc>
              <a:buNone/>
            </a:pPr>
            <a:r>
              <a:rPr lang="en-US" sz="2100" b="1" dirty="0">
                <a:solidFill>
                  <a:srgbClr val="FFFFFF"/>
                </a:solidFill>
                <a:latin typeface="Cambria" pitchFamily="34" charset="0"/>
                <a:ea typeface="Cambria" pitchFamily="34" charset="-122"/>
                <a:cs typeface="Cambria" pitchFamily="34" charset="-120"/>
              </a:rPr>
              <a:t>VÀ GIAO DIỆN NGƯỜI DÙNG</a:t>
            </a:r>
            <a:endParaRPr lang="en-US" sz="2100" dirty="0"/>
          </a:p>
        </p:txBody>
      </p:sp>
      <p:sp>
        <p:nvSpPr>
          <p:cNvPr id="7" name="Text 5"/>
          <p:cNvSpPr/>
          <p:nvPr/>
        </p:nvSpPr>
        <p:spPr>
          <a:xfrm>
            <a:off x="731520" y="3429000"/>
            <a:ext cx="7680960" cy="320040"/>
          </a:xfrm>
          <a:prstGeom prst="rect">
            <a:avLst/>
          </a:prstGeom>
          <a:noFill/>
          <a:ln/>
        </p:spPr>
        <p:txBody>
          <a:bodyPr wrap="square" lIns="0" tIns="0" rIns="0" bIns="0" rtlCol="0" anchor="t"/>
          <a:lstStyle/>
          <a:p>
            <a:pPr algn="ctr" indent="0" marL="0">
              <a:buNone/>
            </a:pPr>
            <a:r>
              <a:rPr lang="en-US" sz="1200" i="1" dirty="0">
                <a:solidFill>
                  <a:srgbClr val="5A5A66"/>
                </a:solidFill>
                <a:latin typeface="Cambria" pitchFamily="34" charset="0"/>
                <a:ea typeface="Cambria" pitchFamily="34" charset="-122"/>
                <a:cs typeface="Cambria" pitchFamily="34" charset="-120"/>
              </a:rPr>
              <a:t>LLM-Based Automatic Generation of Software User Guides from Use Cases and Front-End Structures</a:t>
            </a:r>
            <a:endParaRPr lang="en-US" sz="1200" dirty="0"/>
          </a:p>
        </p:txBody>
      </p:sp>
      <p:sp>
        <p:nvSpPr>
          <p:cNvPr id="8" name="Text 6"/>
          <p:cNvSpPr/>
          <p:nvPr/>
        </p:nvSpPr>
        <p:spPr>
          <a:xfrm>
            <a:off x="731520" y="3931920"/>
            <a:ext cx="7680960" cy="365760"/>
          </a:xfrm>
          <a:prstGeom prst="rect">
            <a:avLst/>
          </a:prstGeom>
          <a:noFill/>
          <a:ln/>
        </p:spPr>
        <p:txBody>
          <a:bodyPr wrap="square" lIns="0" tIns="0" rIns="0" bIns="0" rtlCol="0" anchor="t"/>
          <a:lstStyle/>
          <a:p>
            <a:pPr algn="ctr" indent="0" marL="0">
              <a:buNone/>
            </a:pPr>
            <a:r>
              <a:rPr lang="en-US" sz="1600" b="1" dirty="0">
                <a:solidFill>
                  <a:srgbClr val="006666"/>
                </a:solidFill>
                <a:latin typeface="Cambria" pitchFamily="34" charset="0"/>
                <a:ea typeface="Cambria" pitchFamily="34" charset="-122"/>
                <a:cs typeface="Cambria" pitchFamily="34" charset="-120"/>
              </a:rPr>
              <a:t>Báo cáo tiến độ luận văn</a:t>
            </a:r>
            <a:endParaRPr lang="en-US" sz="1600" dirty="0"/>
          </a:p>
        </p:txBody>
      </p:sp>
      <p:sp>
        <p:nvSpPr>
          <p:cNvPr id="9" name="Text 7"/>
          <p:cNvSpPr/>
          <p:nvPr/>
        </p:nvSpPr>
        <p:spPr>
          <a:xfrm>
            <a:off x="731520" y="4434840"/>
            <a:ext cx="7680960" cy="365760"/>
          </a:xfrm>
          <a:prstGeom prst="rect">
            <a:avLst/>
          </a:prstGeom>
          <a:noFill/>
          <a:ln/>
        </p:spPr>
        <p:txBody>
          <a:bodyPr wrap="square" lIns="0" tIns="0" rIns="0" bIns="0" rtlCol="0" anchor="t"/>
          <a:lstStyle/>
          <a:p>
            <a:pPr algn="ctr" indent="0" marL="0">
              <a:buNone/>
            </a:pPr>
            <a:r>
              <a:rPr lang="en-US" sz="1500" b="1" dirty="0">
                <a:solidFill>
                  <a:srgbClr val="1A1A1A"/>
                </a:solidFill>
                <a:latin typeface="Cambria" pitchFamily="34" charset="0"/>
                <a:ea typeface="Cambria" pitchFamily="34" charset="-122"/>
                <a:cs typeface="Cambria" pitchFamily="34" charset="-120"/>
              </a:rPr>
              <a:t>Học viên thực hiện:   Lê Đoàn Phương Uyên</a:t>
            </a:r>
            <a:endParaRPr lang="en-US" sz="1500" dirty="0"/>
          </a:p>
        </p:txBody>
      </p:sp>
      <p:sp>
        <p:nvSpPr>
          <p:cNvPr id="10" name="Text 8"/>
          <p:cNvSpPr/>
          <p:nvPr/>
        </p:nvSpPr>
        <p:spPr>
          <a:xfrm>
            <a:off x="731520" y="4846320"/>
            <a:ext cx="7680960" cy="365760"/>
          </a:xfrm>
          <a:prstGeom prst="rect">
            <a:avLst/>
          </a:prstGeom>
          <a:noFill/>
          <a:ln/>
        </p:spPr>
        <p:txBody>
          <a:bodyPr wrap="square" lIns="0" tIns="0" rIns="0" bIns="0" rtlCol="0" anchor="t"/>
          <a:lstStyle/>
          <a:p>
            <a:pPr algn="ctr" indent="0" marL="0">
              <a:buNone/>
            </a:pPr>
            <a:r>
              <a:rPr lang="en-US" sz="1500" b="1" dirty="0">
                <a:solidFill>
                  <a:srgbClr val="1A1A1A"/>
                </a:solidFill>
                <a:latin typeface="Cambria" pitchFamily="34" charset="0"/>
                <a:ea typeface="Cambria" pitchFamily="34" charset="-122"/>
                <a:cs typeface="Cambria" pitchFamily="34" charset="-120"/>
              </a:rPr>
              <a:t>Giáo viên hướng dẫn:   TS. Nguyễn Hồng Bửu Long</a:t>
            </a:r>
            <a:endParaRPr lang="en-US" sz="1500" dirty="0"/>
          </a:p>
        </p:txBody>
      </p:sp>
      <p:sp>
        <p:nvSpPr>
          <p:cNvPr id="11" name="Text 9"/>
          <p:cNvSpPr/>
          <p:nvPr/>
        </p:nvSpPr>
        <p:spPr>
          <a:xfrm>
            <a:off x="731520" y="5532120"/>
            <a:ext cx="7680960" cy="320040"/>
          </a:xfrm>
          <a:prstGeom prst="rect">
            <a:avLst/>
          </a:prstGeom>
          <a:noFill/>
          <a:ln/>
        </p:spPr>
        <p:txBody>
          <a:bodyPr wrap="square" lIns="0" tIns="0" rIns="0" bIns="0" rtlCol="0" anchor="t"/>
          <a:lstStyle/>
          <a:p>
            <a:pPr algn="ctr" indent="0" marL="0">
              <a:buNone/>
            </a:pPr>
            <a:r>
              <a:rPr lang="en-US" sz="1200" dirty="0">
                <a:solidFill>
                  <a:srgbClr val="1A1A1A"/>
                </a:solidFill>
                <a:latin typeface="Cambria" pitchFamily="34" charset="0"/>
                <a:ea typeface="Cambria" pitchFamily="34" charset="-122"/>
                <a:cs typeface="Cambria" pitchFamily="34" charset="-120"/>
              </a:rPr>
              <a:t>TP. Hồ Chí Minh  -  Tháng 10 năm 2026</a:t>
            </a:r>
            <a:endParaRPr lang="en-US" sz="1200" dirty="0"/>
          </a:p>
        </p:txBody>
      </p:sp>
      <p:sp>
        <p:nvSpPr>
          <p:cNvPr id="13" name="Shape 10"/>
          <p:cNvSpPr/>
          <p:nvPr/>
        </p:nvSpPr>
        <p:spPr>
          <a:xfrm>
            <a:off x="0" y="6620256"/>
            <a:ext cx="2743200" cy="237744"/>
          </a:xfrm>
          <a:prstGeom prst="rect">
            <a:avLst/>
          </a:prstGeom>
          <a:solidFill>
            <a:srgbClr val="191132"/>
          </a:solidFill>
          <a:ln/>
        </p:spPr>
      </p:sp>
      <p:sp>
        <p:nvSpPr>
          <p:cNvPr id="14" name="Shape 11"/>
          <p:cNvSpPr/>
          <p:nvPr/>
        </p:nvSpPr>
        <p:spPr>
          <a:xfrm>
            <a:off x="2743200" y="6620256"/>
            <a:ext cx="3383280" cy="237744"/>
          </a:xfrm>
          <a:prstGeom prst="rect">
            <a:avLst/>
          </a:prstGeom>
          <a:solidFill>
            <a:srgbClr val="25194B"/>
          </a:solidFill>
          <a:ln/>
        </p:spPr>
      </p:sp>
      <p:sp>
        <p:nvSpPr>
          <p:cNvPr id="15" name="Shape 12"/>
          <p:cNvSpPr/>
          <p:nvPr/>
        </p:nvSpPr>
        <p:spPr>
          <a:xfrm>
            <a:off x="6126480" y="6620256"/>
            <a:ext cx="1737360" cy="237744"/>
          </a:xfrm>
          <a:prstGeom prst="rect">
            <a:avLst/>
          </a:prstGeom>
          <a:solidFill>
            <a:srgbClr val="4F417A"/>
          </a:solidFill>
          <a:ln/>
        </p:spPr>
      </p:sp>
      <p:sp>
        <p:nvSpPr>
          <p:cNvPr id="16" name="Shape 13"/>
          <p:cNvSpPr/>
          <p:nvPr/>
        </p:nvSpPr>
        <p:spPr>
          <a:xfrm>
            <a:off x="7863840" y="6620256"/>
            <a:ext cx="1280160" cy="237744"/>
          </a:xfrm>
          <a:prstGeom prst="rect">
            <a:avLst/>
          </a:prstGeom>
          <a:solidFill>
            <a:srgbClr val="7A7099"/>
          </a:solidFill>
          <a:ln/>
        </p:spPr>
      </p:sp>
      <p:sp>
        <p:nvSpPr>
          <p:cNvPr id="17" name="Text 14"/>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Luận văn thạc sĩ</a:t>
            </a:r>
            <a:endParaRPr lang="en-US" sz="800" dirty="0"/>
          </a:p>
        </p:txBody>
      </p:sp>
      <p:sp>
        <p:nvSpPr>
          <p:cNvPr id="18" name="Text 15"/>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Phát sinh tự động hướng dẫn sử dụng phần mềm dựa trên LLM</a:t>
            </a:r>
            <a:endParaRPr lang="en-US" sz="800" dirty="0"/>
          </a:p>
        </p:txBody>
      </p:sp>
      <p:sp>
        <p:nvSpPr>
          <p:cNvPr id="19" name="Text 16"/>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20" name="Text 17"/>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1/24</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Nội dung</a:t>
            </a:r>
            <a:endParaRPr lang="en-US" sz="1900" dirty="0"/>
          </a:p>
        </p:txBody>
      </p:sp>
      <p:sp>
        <p:nvSpPr>
          <p:cNvPr id="4" name="Shape 2"/>
          <p:cNvSpPr/>
          <p:nvPr/>
        </p:nvSpPr>
        <p:spPr>
          <a:xfrm>
            <a:off x="1188720" y="914400"/>
            <a:ext cx="548640" cy="548640"/>
          </a:xfrm>
          <a:prstGeom prst="roundRect">
            <a:avLst>
              <a:gd name="adj" fmla="val 13333"/>
            </a:avLst>
          </a:prstGeom>
          <a:solidFill>
            <a:srgbClr val="322164"/>
          </a:solidFill>
          <a:ln/>
        </p:spPr>
      </p:sp>
      <p:sp>
        <p:nvSpPr>
          <p:cNvPr id="5" name="Text 3"/>
          <p:cNvSpPr/>
          <p:nvPr/>
        </p:nvSpPr>
        <p:spPr>
          <a:xfrm>
            <a:off x="1188720" y="91440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6" name="Text 4"/>
          <p:cNvSpPr/>
          <p:nvPr/>
        </p:nvSpPr>
        <p:spPr>
          <a:xfrm>
            <a:off x="1965960" y="914400"/>
            <a:ext cx="6035040" cy="548640"/>
          </a:xfrm>
          <a:prstGeom prst="rect">
            <a:avLst/>
          </a:prstGeom>
          <a:noFill/>
          <a:ln/>
        </p:spPr>
        <p:txBody>
          <a:bodyPr wrap="square" lIns="0" tIns="0" rIns="0" bIns="0" rtlCol="0" anchor="ctr"/>
          <a:lstStyle/>
          <a:p>
            <a:pPr algn="l" indent="0" marL="0">
              <a:buNone/>
            </a:pPr>
            <a:r>
              <a:rPr lang="en-US" sz="1700" dirty="0">
                <a:solidFill>
                  <a:srgbClr val="1A1A1A"/>
                </a:solidFill>
                <a:latin typeface="Cambria" pitchFamily="34" charset="0"/>
                <a:ea typeface="Cambria" pitchFamily="34" charset="-122"/>
                <a:cs typeface="Cambria" pitchFamily="34" charset="-120"/>
              </a:rPr>
              <a:t>Bài toán và khó khăn khi chấm câu</a:t>
            </a:r>
            <a:endParaRPr lang="en-US" sz="1700" dirty="0"/>
          </a:p>
        </p:txBody>
      </p:sp>
      <p:sp>
        <p:nvSpPr>
          <p:cNvPr id="7" name="Shape 5"/>
          <p:cNvSpPr/>
          <p:nvPr/>
        </p:nvSpPr>
        <p:spPr>
          <a:xfrm>
            <a:off x="1188720" y="1645920"/>
            <a:ext cx="548640" cy="548640"/>
          </a:xfrm>
          <a:prstGeom prst="roundRect">
            <a:avLst>
              <a:gd name="adj" fmla="val 13333"/>
            </a:avLst>
          </a:prstGeom>
          <a:solidFill>
            <a:srgbClr val="322164"/>
          </a:solidFill>
          <a:ln/>
        </p:spPr>
      </p:sp>
      <p:sp>
        <p:nvSpPr>
          <p:cNvPr id="8" name="Text 6"/>
          <p:cNvSpPr/>
          <p:nvPr/>
        </p:nvSpPr>
        <p:spPr>
          <a:xfrm>
            <a:off x="1188720" y="16459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9" name="Text 7"/>
          <p:cNvSpPr/>
          <p:nvPr/>
        </p:nvSpPr>
        <p:spPr>
          <a:xfrm>
            <a:off x="1965960" y="1645920"/>
            <a:ext cx="6035040" cy="548640"/>
          </a:xfrm>
          <a:prstGeom prst="rect">
            <a:avLst/>
          </a:prstGeom>
          <a:noFill/>
          <a:ln/>
        </p:spPr>
        <p:txBody>
          <a:bodyPr wrap="square" lIns="0" tIns="0" rIns="0" bIns="0" rtlCol="0" anchor="ctr"/>
          <a:lstStyle/>
          <a:p>
            <a:pPr algn="l" indent="0" marL="0">
              <a:buNone/>
            </a:pPr>
            <a:r>
              <a:rPr lang="en-US" sz="1700" dirty="0">
                <a:solidFill>
                  <a:srgbClr val="1A1A1A"/>
                </a:solidFill>
                <a:latin typeface="Cambria" pitchFamily="34" charset="0"/>
                <a:ea typeface="Cambria" pitchFamily="34" charset="-122"/>
                <a:cs typeface="Cambria" pitchFamily="34" charset="-120"/>
              </a:rPr>
              <a:t>Thước đo executability và kiểm chứng thước</a:t>
            </a:r>
            <a:endParaRPr lang="en-US" sz="1700" dirty="0"/>
          </a:p>
        </p:txBody>
      </p:sp>
      <p:sp>
        <p:nvSpPr>
          <p:cNvPr id="10" name="Shape 8"/>
          <p:cNvSpPr/>
          <p:nvPr/>
        </p:nvSpPr>
        <p:spPr>
          <a:xfrm>
            <a:off x="1188720" y="2377440"/>
            <a:ext cx="548640" cy="548640"/>
          </a:xfrm>
          <a:prstGeom prst="roundRect">
            <a:avLst>
              <a:gd name="adj" fmla="val 13333"/>
            </a:avLst>
          </a:prstGeom>
          <a:solidFill>
            <a:srgbClr val="322164"/>
          </a:solidFill>
          <a:ln/>
        </p:spPr>
      </p:sp>
      <p:sp>
        <p:nvSpPr>
          <p:cNvPr id="11" name="Text 9"/>
          <p:cNvSpPr/>
          <p:nvPr/>
        </p:nvSpPr>
        <p:spPr>
          <a:xfrm>
            <a:off x="1188720" y="237744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2" name="Text 10"/>
          <p:cNvSpPr/>
          <p:nvPr/>
        </p:nvSpPr>
        <p:spPr>
          <a:xfrm>
            <a:off x="1965960" y="2377440"/>
            <a:ext cx="6035040" cy="548640"/>
          </a:xfrm>
          <a:prstGeom prst="rect">
            <a:avLst/>
          </a:prstGeom>
          <a:noFill/>
          <a:ln/>
        </p:spPr>
        <p:txBody>
          <a:bodyPr wrap="square" lIns="0" tIns="0" rIns="0" bIns="0" rtlCol="0" anchor="ctr"/>
          <a:lstStyle/>
          <a:p>
            <a:pPr algn="l" indent="0" marL="0">
              <a:buNone/>
            </a:pPr>
            <a:r>
              <a:rPr lang="en-US" sz="1700" dirty="0">
                <a:solidFill>
                  <a:srgbClr val="1A1A1A"/>
                </a:solidFill>
                <a:latin typeface="Cambria" pitchFamily="34" charset="0"/>
                <a:ea typeface="Cambria" pitchFamily="34" charset="-122"/>
                <a:cs typeface="Cambria" pitchFamily="34" charset="-120"/>
              </a:rPr>
              <a:t>Dữ liệu và mô hình nền</a:t>
            </a:r>
            <a:endParaRPr lang="en-US" sz="1700" dirty="0"/>
          </a:p>
        </p:txBody>
      </p:sp>
      <p:sp>
        <p:nvSpPr>
          <p:cNvPr id="13" name="Shape 11"/>
          <p:cNvSpPr/>
          <p:nvPr/>
        </p:nvSpPr>
        <p:spPr>
          <a:xfrm>
            <a:off x="1188720" y="3108960"/>
            <a:ext cx="548640" cy="548640"/>
          </a:xfrm>
          <a:prstGeom prst="roundRect">
            <a:avLst>
              <a:gd name="adj" fmla="val 13333"/>
            </a:avLst>
          </a:prstGeom>
          <a:solidFill>
            <a:srgbClr val="322164"/>
          </a:solidFill>
          <a:ln/>
        </p:spPr>
      </p:sp>
      <p:sp>
        <p:nvSpPr>
          <p:cNvPr id="14" name="Text 12"/>
          <p:cNvSpPr/>
          <p:nvPr/>
        </p:nvSpPr>
        <p:spPr>
          <a:xfrm>
            <a:off x="1188720" y="310896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15" name="Text 13"/>
          <p:cNvSpPr/>
          <p:nvPr/>
        </p:nvSpPr>
        <p:spPr>
          <a:xfrm>
            <a:off x="1965960" y="3108960"/>
            <a:ext cx="6035040" cy="548640"/>
          </a:xfrm>
          <a:prstGeom prst="rect">
            <a:avLst/>
          </a:prstGeom>
          <a:noFill/>
          <a:ln/>
        </p:spPr>
        <p:txBody>
          <a:bodyPr wrap="square" lIns="0" tIns="0" rIns="0" bIns="0" rtlCol="0" anchor="ctr"/>
          <a:lstStyle/>
          <a:p>
            <a:pPr algn="l" indent="0" marL="0">
              <a:buNone/>
            </a:pPr>
            <a:r>
              <a:rPr lang="en-US" sz="1700" dirty="0">
                <a:solidFill>
                  <a:srgbClr val="1A1A1A"/>
                </a:solidFill>
                <a:latin typeface="Cambria" pitchFamily="34" charset="0"/>
                <a:ea typeface="Cambria" pitchFamily="34" charset="-122"/>
                <a:cs typeface="Cambria" pitchFamily="34" charset="-120"/>
              </a:rPr>
              <a:t>Các hướng đã thử và phân tích lỗi</a:t>
            </a:r>
            <a:endParaRPr lang="en-US" sz="1700" dirty="0"/>
          </a:p>
        </p:txBody>
      </p:sp>
      <p:sp>
        <p:nvSpPr>
          <p:cNvPr id="16" name="Shape 14"/>
          <p:cNvSpPr/>
          <p:nvPr/>
        </p:nvSpPr>
        <p:spPr>
          <a:xfrm>
            <a:off x="1188720" y="3840480"/>
            <a:ext cx="548640" cy="548640"/>
          </a:xfrm>
          <a:prstGeom prst="roundRect">
            <a:avLst>
              <a:gd name="adj" fmla="val 13333"/>
            </a:avLst>
          </a:prstGeom>
          <a:solidFill>
            <a:srgbClr val="322164"/>
          </a:solidFill>
          <a:ln/>
        </p:spPr>
      </p:sp>
      <p:sp>
        <p:nvSpPr>
          <p:cNvPr id="17" name="Text 15"/>
          <p:cNvSpPr/>
          <p:nvPr/>
        </p:nvSpPr>
        <p:spPr>
          <a:xfrm>
            <a:off x="1188720" y="384048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5</a:t>
            </a:r>
            <a:endParaRPr lang="en-US" sz="1800" dirty="0"/>
          </a:p>
        </p:txBody>
      </p:sp>
      <p:sp>
        <p:nvSpPr>
          <p:cNvPr id="18" name="Text 16"/>
          <p:cNvSpPr/>
          <p:nvPr/>
        </p:nvSpPr>
        <p:spPr>
          <a:xfrm>
            <a:off x="1965960" y="3840480"/>
            <a:ext cx="6035040" cy="548640"/>
          </a:xfrm>
          <a:prstGeom prst="rect">
            <a:avLst/>
          </a:prstGeom>
          <a:noFill/>
          <a:ln/>
        </p:spPr>
        <p:txBody>
          <a:bodyPr wrap="square" lIns="0" tIns="0" rIns="0" bIns="0" rtlCol="0" anchor="ctr"/>
          <a:lstStyle/>
          <a:p>
            <a:pPr algn="l" indent="0" marL="0">
              <a:buNone/>
            </a:pPr>
            <a:r>
              <a:rPr lang="en-US" sz="1700" dirty="0">
                <a:solidFill>
                  <a:srgbClr val="1A1A1A"/>
                </a:solidFill>
                <a:latin typeface="Cambria" pitchFamily="34" charset="0"/>
                <a:ea typeface="Cambria" pitchFamily="34" charset="-122"/>
                <a:cs typeface="Cambria" pitchFamily="34" charset="-120"/>
              </a:rPr>
              <a:t>Phương pháp đề xuất: học tăng cường thưởng SPICE</a:t>
            </a:r>
            <a:endParaRPr lang="en-US" sz="1700" dirty="0"/>
          </a:p>
        </p:txBody>
      </p:sp>
      <p:sp>
        <p:nvSpPr>
          <p:cNvPr id="19" name="Shape 17"/>
          <p:cNvSpPr/>
          <p:nvPr/>
        </p:nvSpPr>
        <p:spPr>
          <a:xfrm>
            <a:off x="1188720" y="4572000"/>
            <a:ext cx="548640" cy="548640"/>
          </a:xfrm>
          <a:prstGeom prst="roundRect">
            <a:avLst>
              <a:gd name="adj" fmla="val 13333"/>
            </a:avLst>
          </a:prstGeom>
          <a:solidFill>
            <a:srgbClr val="322164"/>
          </a:solidFill>
          <a:ln/>
        </p:spPr>
      </p:sp>
      <p:sp>
        <p:nvSpPr>
          <p:cNvPr id="20" name="Text 18"/>
          <p:cNvSpPr/>
          <p:nvPr/>
        </p:nvSpPr>
        <p:spPr>
          <a:xfrm>
            <a:off x="1188720" y="457200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6</a:t>
            </a:r>
            <a:endParaRPr lang="en-US" sz="1800" dirty="0"/>
          </a:p>
        </p:txBody>
      </p:sp>
      <p:sp>
        <p:nvSpPr>
          <p:cNvPr id="21" name="Text 19"/>
          <p:cNvSpPr/>
          <p:nvPr/>
        </p:nvSpPr>
        <p:spPr>
          <a:xfrm>
            <a:off x="1965960" y="4572000"/>
            <a:ext cx="6035040" cy="548640"/>
          </a:xfrm>
          <a:prstGeom prst="rect">
            <a:avLst/>
          </a:prstGeom>
          <a:noFill/>
          <a:ln/>
        </p:spPr>
        <p:txBody>
          <a:bodyPr wrap="square" lIns="0" tIns="0" rIns="0" bIns="0" rtlCol="0" anchor="ctr"/>
          <a:lstStyle/>
          <a:p>
            <a:pPr algn="l" indent="0" marL="0">
              <a:buNone/>
            </a:pPr>
            <a:r>
              <a:rPr lang="en-US" sz="1700" dirty="0">
                <a:solidFill>
                  <a:srgbClr val="1A1A1A"/>
                </a:solidFill>
                <a:latin typeface="Cambria" pitchFamily="34" charset="0"/>
                <a:ea typeface="Cambria" pitchFamily="34" charset="-122"/>
                <a:cs typeface="Cambria" pitchFamily="34" charset="-120"/>
              </a:rPr>
              <a:t>Đóng góp, hạn chế và hướng phát triển</a:t>
            </a:r>
            <a:endParaRPr lang="en-US" sz="1700" dirty="0"/>
          </a:p>
        </p:txBody>
      </p:sp>
      <p:sp>
        <p:nvSpPr>
          <p:cNvPr id="22" name="Shape 20"/>
          <p:cNvSpPr/>
          <p:nvPr/>
        </p:nvSpPr>
        <p:spPr>
          <a:xfrm>
            <a:off x="1188720" y="5303520"/>
            <a:ext cx="548640" cy="548640"/>
          </a:xfrm>
          <a:prstGeom prst="roundRect">
            <a:avLst>
              <a:gd name="adj" fmla="val 13333"/>
            </a:avLst>
          </a:prstGeom>
          <a:solidFill>
            <a:srgbClr val="322164"/>
          </a:solidFill>
          <a:ln/>
        </p:spPr>
      </p:sp>
      <p:sp>
        <p:nvSpPr>
          <p:cNvPr id="23" name="Text 21"/>
          <p:cNvSpPr/>
          <p:nvPr/>
        </p:nvSpPr>
        <p:spPr>
          <a:xfrm>
            <a:off x="1188720" y="5303520"/>
            <a:ext cx="548640" cy="54864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7</a:t>
            </a:r>
            <a:endParaRPr lang="en-US" sz="1800" dirty="0"/>
          </a:p>
        </p:txBody>
      </p:sp>
      <p:sp>
        <p:nvSpPr>
          <p:cNvPr id="24" name="Text 22"/>
          <p:cNvSpPr/>
          <p:nvPr/>
        </p:nvSpPr>
        <p:spPr>
          <a:xfrm>
            <a:off x="1965960" y="5303520"/>
            <a:ext cx="6035040" cy="548640"/>
          </a:xfrm>
          <a:prstGeom prst="rect">
            <a:avLst/>
          </a:prstGeom>
          <a:noFill/>
          <a:ln/>
        </p:spPr>
        <p:txBody>
          <a:bodyPr wrap="square" lIns="0" tIns="0" rIns="0" bIns="0" rtlCol="0" anchor="ctr"/>
          <a:lstStyle/>
          <a:p>
            <a:pPr algn="l" indent="0" marL="0">
              <a:buNone/>
            </a:pPr>
            <a:r>
              <a:rPr lang="en-US" sz="1700" dirty="0">
                <a:solidFill>
                  <a:srgbClr val="1A1A1A"/>
                </a:solidFill>
                <a:latin typeface="Cambria" pitchFamily="34" charset="0"/>
                <a:ea typeface="Cambria" pitchFamily="34" charset="-122"/>
                <a:cs typeface="Cambria" pitchFamily="34" charset="-120"/>
              </a:rPr>
              <a:t>Tình trạng luận văn và các bài báo</a:t>
            </a:r>
            <a:endParaRPr lang="en-US" sz="1700" dirty="0"/>
          </a:p>
        </p:txBody>
      </p:sp>
      <p:sp>
        <p:nvSpPr>
          <p:cNvPr id="25" name="Shape 23"/>
          <p:cNvSpPr/>
          <p:nvPr/>
        </p:nvSpPr>
        <p:spPr>
          <a:xfrm>
            <a:off x="0" y="6620256"/>
            <a:ext cx="2743200" cy="237744"/>
          </a:xfrm>
          <a:prstGeom prst="rect">
            <a:avLst/>
          </a:prstGeom>
          <a:solidFill>
            <a:srgbClr val="191132"/>
          </a:solidFill>
          <a:ln/>
        </p:spPr>
      </p:sp>
      <p:sp>
        <p:nvSpPr>
          <p:cNvPr id="26" name="Shape 24"/>
          <p:cNvSpPr/>
          <p:nvPr/>
        </p:nvSpPr>
        <p:spPr>
          <a:xfrm>
            <a:off x="2743200" y="6620256"/>
            <a:ext cx="3383280" cy="237744"/>
          </a:xfrm>
          <a:prstGeom prst="rect">
            <a:avLst/>
          </a:prstGeom>
          <a:solidFill>
            <a:srgbClr val="25194B"/>
          </a:solidFill>
          <a:ln/>
        </p:spPr>
      </p:sp>
      <p:sp>
        <p:nvSpPr>
          <p:cNvPr id="27" name="Shape 25"/>
          <p:cNvSpPr/>
          <p:nvPr/>
        </p:nvSpPr>
        <p:spPr>
          <a:xfrm>
            <a:off x="6126480" y="6620256"/>
            <a:ext cx="1737360" cy="237744"/>
          </a:xfrm>
          <a:prstGeom prst="rect">
            <a:avLst/>
          </a:prstGeom>
          <a:solidFill>
            <a:srgbClr val="4F417A"/>
          </a:solidFill>
          <a:ln/>
        </p:spPr>
      </p:sp>
      <p:sp>
        <p:nvSpPr>
          <p:cNvPr id="28" name="Shape 26"/>
          <p:cNvSpPr/>
          <p:nvPr/>
        </p:nvSpPr>
        <p:spPr>
          <a:xfrm>
            <a:off x="7863840" y="6620256"/>
            <a:ext cx="1280160" cy="237744"/>
          </a:xfrm>
          <a:prstGeom prst="rect">
            <a:avLst/>
          </a:prstGeom>
          <a:solidFill>
            <a:srgbClr val="7A7099"/>
          </a:solidFill>
          <a:ln/>
        </p:spPr>
      </p:sp>
      <p:sp>
        <p:nvSpPr>
          <p:cNvPr id="29" name="Text 27"/>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Luận văn thạc sĩ</a:t>
            </a:r>
            <a:endParaRPr lang="en-US" sz="800" dirty="0"/>
          </a:p>
        </p:txBody>
      </p:sp>
      <p:sp>
        <p:nvSpPr>
          <p:cNvPr id="30" name="Text 28"/>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Phát sinh tự động hướng dẫn sử dụng phần mềm dựa trên LLM</a:t>
            </a:r>
            <a:endParaRPr lang="en-US" sz="800" dirty="0"/>
          </a:p>
        </p:txBody>
      </p:sp>
      <p:sp>
        <p:nvSpPr>
          <p:cNvPr id="31" name="Text 29"/>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32" name="Text 30"/>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2/24</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Bài toán: cùng đầu vào, đổi người nhận đầu ra</a:t>
            </a:r>
            <a:endParaRPr lang="en-US" sz="1900" dirty="0"/>
          </a:p>
        </p:txBody>
      </p:sp>
      <p:sp>
        <p:nvSpPr>
          <p:cNvPr id="4" name="Text 2"/>
          <p:cNvSpPr/>
          <p:nvPr/>
        </p:nvSpPr>
        <p:spPr>
          <a:xfrm>
            <a:off x="457200" y="731520"/>
            <a:ext cx="5486400" cy="292608"/>
          </a:xfrm>
          <a:prstGeom prst="rect">
            <a:avLst/>
          </a:prstGeom>
          <a:noFill/>
          <a:ln/>
        </p:spPr>
        <p:txBody>
          <a:bodyPr wrap="square" lIns="0" tIns="0" rIns="0" bIns="0" rtlCol="0" anchor="t"/>
          <a:lstStyle/>
          <a:p>
            <a:pPr algn="l" indent="0" marL="0">
              <a:buNone/>
            </a:pPr>
            <a:r>
              <a:rPr lang="en-US" sz="1300" b="1" dirty="0">
                <a:solidFill>
                  <a:srgbClr val="5A5A66"/>
                </a:solidFill>
                <a:latin typeface="Cambria" pitchFamily="34" charset="0"/>
                <a:ea typeface="Cambria" pitchFamily="34" charset="-122"/>
                <a:cs typeface="Cambria" pitchFamily="34" charset="-120"/>
              </a:rPr>
              <a:t>Tác tử giao diện (dòng nghiên cứu hiện có)</a:t>
            </a:r>
            <a:endParaRPr lang="en-US" sz="1300" dirty="0"/>
          </a:p>
        </p:txBody>
      </p:sp>
      <p:sp>
        <p:nvSpPr>
          <p:cNvPr id="5" name="Shape 3"/>
          <p:cNvSpPr/>
          <p:nvPr/>
        </p:nvSpPr>
        <p:spPr>
          <a:xfrm>
            <a:off x="457200" y="1051560"/>
            <a:ext cx="2377440" cy="777240"/>
          </a:xfrm>
          <a:prstGeom prst="roundRect">
            <a:avLst>
              <a:gd name="adj" fmla="val 7059"/>
            </a:avLst>
          </a:prstGeom>
          <a:solidFill>
            <a:srgbClr val="FFFFFF"/>
          </a:solidFill>
          <a:ln w="15240">
            <a:solidFill>
              <a:srgbClr val="6E6890"/>
            </a:solidFill>
            <a:prstDash val="solid"/>
          </a:ln>
        </p:spPr>
      </p:sp>
      <p:sp>
        <p:nvSpPr>
          <p:cNvPr id="6" name="Text 4"/>
          <p:cNvSpPr/>
          <p:nvPr/>
        </p:nvSpPr>
        <p:spPr>
          <a:xfrm>
            <a:off x="457200" y="1051560"/>
            <a:ext cx="2377440" cy="777240"/>
          </a:xfrm>
          <a:prstGeom prst="rect">
            <a:avLst/>
          </a:prstGeom>
          <a:noFill/>
          <a:ln/>
        </p:spPr>
        <p:txBody>
          <a:bodyPr wrap="square" lIns="38100" tIns="38100" rIns="38100" bIns="38100" rtlCol="0" anchor="ctr"/>
          <a:lstStyle/>
          <a:p>
            <a:pPr algn="ctr" indent="0" marL="0">
              <a:lnSpc>
                <a:spcPct val="115000"/>
              </a:lnSpc>
              <a:buNone/>
            </a:pPr>
            <a:r>
              <a:rPr lang="en-US" sz="1200" dirty="0">
                <a:solidFill>
                  <a:srgbClr val="1A1A1A"/>
                </a:solidFill>
                <a:latin typeface="Cambria" pitchFamily="34" charset="0"/>
                <a:ea typeface="Cambria" pitchFamily="34" charset="-122"/>
                <a:cs typeface="Cambria" pitchFamily="34" charset="-120"/>
              </a:rPr>
              <a:t>ảnh màn hình</a:t>
            </a:r>
            <a:endParaRPr lang="en-US" sz="1200" dirty="0"/>
          </a:p>
          <a:p>
            <a:pPr algn="ctr" indent="0" marL="0">
              <a:lnSpc>
                <a:spcPct val="115000"/>
              </a:lnSpc>
              <a:buNone/>
            </a:pPr>
            <a:r>
              <a:rPr lang="en-US" sz="1200" dirty="0">
                <a:solidFill>
                  <a:srgbClr val="1A1A1A"/>
                </a:solidFill>
                <a:latin typeface="Cambria" pitchFamily="34" charset="0"/>
                <a:ea typeface="Cambria" pitchFamily="34" charset="-122"/>
                <a:cs typeface="Cambria" pitchFamily="34" charset="-120"/>
              </a:rPr>
              <a:t>+ mục tiêu</a:t>
            </a:r>
            <a:endParaRPr lang="en-US" sz="1200" dirty="0"/>
          </a:p>
        </p:txBody>
      </p:sp>
      <p:sp>
        <p:nvSpPr>
          <p:cNvPr id="7" name="Shape 5"/>
          <p:cNvSpPr/>
          <p:nvPr/>
        </p:nvSpPr>
        <p:spPr>
          <a:xfrm>
            <a:off x="2880360" y="1440180"/>
            <a:ext cx="502920" cy="0"/>
          </a:xfrm>
          <a:prstGeom prst="line">
            <a:avLst/>
          </a:prstGeom>
          <a:noFill/>
          <a:ln w="25400">
            <a:solidFill>
              <a:srgbClr val="4F417A"/>
            </a:solidFill>
            <a:prstDash val="solid"/>
            <a:tailEnd type="triangle"/>
          </a:ln>
        </p:spPr>
      </p:sp>
      <p:sp>
        <p:nvSpPr>
          <p:cNvPr id="8" name="Shape 6"/>
          <p:cNvSpPr/>
          <p:nvPr/>
        </p:nvSpPr>
        <p:spPr>
          <a:xfrm>
            <a:off x="3429000" y="1051560"/>
            <a:ext cx="1920240" cy="777240"/>
          </a:xfrm>
          <a:prstGeom prst="roundRect">
            <a:avLst>
              <a:gd name="adj" fmla="val 7059"/>
            </a:avLst>
          </a:prstGeom>
          <a:solidFill>
            <a:srgbClr val="FFFFFF"/>
          </a:solidFill>
          <a:ln w="15240">
            <a:solidFill>
              <a:srgbClr val="6E6890"/>
            </a:solidFill>
            <a:prstDash val="solid"/>
          </a:ln>
        </p:spPr>
      </p:sp>
      <p:sp>
        <p:nvSpPr>
          <p:cNvPr id="9" name="Text 7"/>
          <p:cNvSpPr/>
          <p:nvPr/>
        </p:nvSpPr>
        <p:spPr>
          <a:xfrm>
            <a:off x="3429000" y="1051560"/>
            <a:ext cx="1920240" cy="777240"/>
          </a:xfrm>
          <a:prstGeom prst="rect">
            <a:avLst/>
          </a:prstGeom>
          <a:noFill/>
          <a:ln/>
        </p:spPr>
        <p:txBody>
          <a:bodyPr wrap="square" lIns="38100" tIns="38100" rIns="38100" bIns="38100" rtlCol="0" anchor="ctr"/>
          <a:lstStyle/>
          <a:p>
            <a:pPr algn="ctr" indent="0" marL="0">
              <a:lnSpc>
                <a:spcPct val="115000"/>
              </a:lnSpc>
              <a:buNone/>
            </a:pPr>
            <a:r>
              <a:rPr lang="en-US" sz="1200" dirty="0">
                <a:solidFill>
                  <a:srgbClr val="1A1A1A"/>
                </a:solidFill>
                <a:latin typeface="Cambria" pitchFamily="34" charset="0"/>
                <a:ea typeface="Cambria" pitchFamily="34" charset="-122"/>
                <a:cs typeface="Cambria" pitchFamily="34" charset="-120"/>
              </a:rPr>
              <a:t>mô hình</a:t>
            </a:r>
            <a:endParaRPr lang="en-US" sz="1200" dirty="0"/>
          </a:p>
        </p:txBody>
      </p:sp>
      <p:sp>
        <p:nvSpPr>
          <p:cNvPr id="10" name="Shape 8"/>
          <p:cNvSpPr/>
          <p:nvPr/>
        </p:nvSpPr>
        <p:spPr>
          <a:xfrm>
            <a:off x="5394960" y="1440180"/>
            <a:ext cx="502920" cy="0"/>
          </a:xfrm>
          <a:prstGeom prst="line">
            <a:avLst/>
          </a:prstGeom>
          <a:noFill/>
          <a:ln w="25400">
            <a:solidFill>
              <a:srgbClr val="4F417A"/>
            </a:solidFill>
            <a:prstDash val="solid"/>
            <a:tailEnd type="triangle"/>
          </a:ln>
        </p:spPr>
      </p:sp>
      <p:sp>
        <p:nvSpPr>
          <p:cNvPr id="11" name="Shape 9"/>
          <p:cNvSpPr/>
          <p:nvPr/>
        </p:nvSpPr>
        <p:spPr>
          <a:xfrm>
            <a:off x="5943600" y="1051560"/>
            <a:ext cx="2743200" cy="777240"/>
          </a:xfrm>
          <a:prstGeom prst="roundRect">
            <a:avLst>
              <a:gd name="adj" fmla="val 7059"/>
            </a:avLst>
          </a:prstGeom>
          <a:solidFill>
            <a:srgbClr val="FFFFFF"/>
          </a:solidFill>
          <a:ln w="15240">
            <a:solidFill>
              <a:srgbClr val="6E6890"/>
            </a:solidFill>
            <a:prstDash val="solid"/>
          </a:ln>
        </p:spPr>
      </p:sp>
      <p:sp>
        <p:nvSpPr>
          <p:cNvPr id="12" name="Text 10"/>
          <p:cNvSpPr/>
          <p:nvPr/>
        </p:nvSpPr>
        <p:spPr>
          <a:xfrm>
            <a:off x="5943600" y="1051560"/>
            <a:ext cx="2743200" cy="777240"/>
          </a:xfrm>
          <a:prstGeom prst="rect">
            <a:avLst/>
          </a:prstGeom>
          <a:noFill/>
          <a:ln/>
        </p:spPr>
        <p:txBody>
          <a:bodyPr wrap="square" lIns="38100" tIns="38100" rIns="38100" bIns="38100" rtlCol="0" anchor="ctr"/>
          <a:lstStyle/>
          <a:p>
            <a:pPr algn="ctr" indent="0" marL="0">
              <a:lnSpc>
                <a:spcPct val="115000"/>
              </a:lnSpc>
              <a:buNone/>
            </a:pPr>
            <a:r>
              <a:rPr lang="en-US" sz="1200" dirty="0">
                <a:solidFill>
                  <a:srgbClr val="5A5A66"/>
                </a:solidFill>
                <a:latin typeface="Cambria" pitchFamily="34" charset="0"/>
                <a:ea typeface="Cambria" pitchFamily="34" charset="-122"/>
                <a:cs typeface="Cambria" pitchFamily="34" charset="-120"/>
              </a:rPr>
              <a:t>toạ độ (x, y)</a:t>
            </a:r>
            <a:endParaRPr lang="en-US" sz="1200" dirty="0"/>
          </a:p>
          <a:p>
            <a:pPr algn="ctr" indent="0" marL="0">
              <a:lnSpc>
                <a:spcPct val="115000"/>
              </a:lnSpc>
              <a:buNone/>
            </a:pPr>
            <a:r>
              <a:rPr lang="en-US" sz="1200" dirty="0">
                <a:solidFill>
                  <a:srgbClr val="5A5A66"/>
                </a:solidFill>
                <a:latin typeface="Cambria" pitchFamily="34" charset="0"/>
                <a:ea typeface="Cambria" pitchFamily="34" charset="-122"/>
                <a:cs typeface="Cambria" pitchFamily="34" charset="-120"/>
              </a:rPr>
              <a:t>để phần mềm tự bấm</a:t>
            </a:r>
            <a:endParaRPr lang="en-US" sz="1200" dirty="0"/>
          </a:p>
        </p:txBody>
      </p:sp>
      <p:sp>
        <p:nvSpPr>
          <p:cNvPr id="13" name="Text 11"/>
          <p:cNvSpPr/>
          <p:nvPr/>
        </p:nvSpPr>
        <p:spPr>
          <a:xfrm>
            <a:off x="457200" y="2103120"/>
            <a:ext cx="5486400" cy="292608"/>
          </a:xfrm>
          <a:prstGeom prst="rect">
            <a:avLst/>
          </a:prstGeom>
          <a:noFill/>
          <a:ln/>
        </p:spPr>
        <p:txBody>
          <a:bodyPr wrap="square" lIns="0" tIns="0" rIns="0" bIns="0" rtlCol="0" anchor="t"/>
          <a:lstStyle/>
          <a:p>
            <a:pPr algn="l" indent="0" marL="0">
              <a:buNone/>
            </a:pPr>
            <a:r>
              <a:rPr lang="en-US" sz="1300" b="1" dirty="0">
                <a:solidFill>
                  <a:srgbClr val="322164"/>
                </a:solidFill>
                <a:latin typeface="Cambria" pitchFamily="34" charset="0"/>
                <a:ea typeface="Cambria" pitchFamily="34" charset="-122"/>
                <a:cs typeface="Cambria" pitchFamily="34" charset="-120"/>
              </a:rPr>
              <a:t>Đề tài này</a:t>
            </a:r>
            <a:endParaRPr lang="en-US" sz="1300" dirty="0"/>
          </a:p>
        </p:txBody>
      </p:sp>
      <p:sp>
        <p:nvSpPr>
          <p:cNvPr id="14" name="Shape 12"/>
          <p:cNvSpPr/>
          <p:nvPr/>
        </p:nvSpPr>
        <p:spPr>
          <a:xfrm>
            <a:off x="457200" y="2423160"/>
            <a:ext cx="2377440" cy="1143000"/>
          </a:xfrm>
          <a:prstGeom prst="roundRect">
            <a:avLst>
              <a:gd name="adj" fmla="val 4800"/>
            </a:avLst>
          </a:prstGeom>
          <a:solidFill>
            <a:srgbClr val="FFFFFF"/>
          </a:solidFill>
          <a:ln w="20320">
            <a:solidFill>
              <a:srgbClr val="322164"/>
            </a:solidFill>
            <a:prstDash val="solid"/>
          </a:ln>
        </p:spPr>
      </p:sp>
      <p:sp>
        <p:nvSpPr>
          <p:cNvPr id="15" name="Text 13"/>
          <p:cNvSpPr/>
          <p:nvPr/>
        </p:nvSpPr>
        <p:spPr>
          <a:xfrm>
            <a:off x="457200" y="2423160"/>
            <a:ext cx="2377440" cy="1143000"/>
          </a:xfrm>
          <a:prstGeom prst="rect">
            <a:avLst/>
          </a:prstGeom>
          <a:noFill/>
          <a:ln/>
        </p:spPr>
        <p:txBody>
          <a:bodyPr wrap="square" lIns="38100" tIns="38100" rIns="38100" bIns="38100" rtlCol="0" anchor="ctr"/>
          <a:lstStyle/>
          <a:p>
            <a:pPr algn="ctr" indent="0" marL="0">
              <a:lnSpc>
                <a:spcPct val="115000"/>
              </a:lnSpc>
              <a:buNone/>
            </a:pPr>
            <a:r>
              <a:rPr lang="en-US" sz="1050" dirty="0">
                <a:solidFill>
                  <a:srgbClr val="1A1A1A"/>
                </a:solidFill>
                <a:latin typeface="Cambria" pitchFamily="34" charset="0"/>
                <a:ea typeface="Cambria" pitchFamily="34" charset="-122"/>
                <a:cs typeface="Cambria" pitchFamily="34" charset="-120"/>
              </a:rPr>
              <a:t>mục tiêu + các bước đã làm</a:t>
            </a:r>
            <a:endParaRPr lang="en-US" sz="1050" dirty="0"/>
          </a:p>
          <a:p>
            <a:pPr algn="ctr" indent="0" marL="0">
              <a:lnSpc>
                <a:spcPct val="115000"/>
              </a:lnSpc>
              <a:buNone/>
            </a:pPr>
            <a:r>
              <a:rPr lang="en-US" sz="1050" dirty="0">
                <a:solidFill>
                  <a:srgbClr val="1A1A1A"/>
                </a:solidFill>
                <a:latin typeface="Cambria" pitchFamily="34" charset="0"/>
                <a:ea typeface="Cambria" pitchFamily="34" charset="-122"/>
                <a:cs typeface="Cambria" pitchFamily="34" charset="-120"/>
              </a:rPr>
              <a:t>(trường hợp sử dụng)</a:t>
            </a:r>
            <a:endParaRPr lang="en-US" sz="1050" dirty="0"/>
          </a:p>
          <a:p>
            <a:pPr algn="ctr" indent="0" marL="0">
              <a:lnSpc>
                <a:spcPct val="115000"/>
              </a:lnSpc>
              <a:buNone/>
            </a:pPr>
            <a:endParaRPr lang="en-US" sz="1050" dirty="0"/>
          </a:p>
          <a:p>
            <a:pPr algn="ctr" indent="0" marL="0">
              <a:lnSpc>
                <a:spcPct val="115000"/>
              </a:lnSpc>
              <a:buNone/>
            </a:pPr>
            <a:r>
              <a:rPr lang="en-US" sz="1050" dirty="0">
                <a:solidFill>
                  <a:srgbClr val="1A1A1A"/>
                </a:solidFill>
                <a:latin typeface="Cambria" pitchFamily="34" charset="0"/>
                <a:ea typeface="Cambria" pitchFamily="34" charset="-122"/>
                <a:cs typeface="Cambria" pitchFamily="34" charset="-120"/>
              </a:rPr>
              <a:t>ảnh màn hình + chữ trên màn</a:t>
            </a:r>
            <a:endParaRPr lang="en-US" sz="1050" dirty="0"/>
          </a:p>
          <a:p>
            <a:pPr algn="ctr" indent="0" marL="0">
              <a:lnSpc>
                <a:spcPct val="115000"/>
              </a:lnSpc>
              <a:buNone/>
            </a:pPr>
            <a:r>
              <a:rPr lang="en-US" sz="1050" dirty="0">
                <a:solidFill>
                  <a:srgbClr val="1A1A1A"/>
                </a:solidFill>
                <a:latin typeface="Cambria" pitchFamily="34" charset="0"/>
                <a:ea typeface="Cambria" pitchFamily="34" charset="-122"/>
                <a:cs typeface="Cambria" pitchFamily="34" charset="-120"/>
              </a:rPr>
              <a:t>(giao diện người dùng)</a:t>
            </a:r>
            <a:endParaRPr lang="en-US" sz="1050" dirty="0"/>
          </a:p>
        </p:txBody>
      </p:sp>
      <p:sp>
        <p:nvSpPr>
          <p:cNvPr id="16" name="Shape 14"/>
          <p:cNvSpPr/>
          <p:nvPr/>
        </p:nvSpPr>
        <p:spPr>
          <a:xfrm>
            <a:off x="2880360" y="2994660"/>
            <a:ext cx="502920" cy="0"/>
          </a:xfrm>
          <a:prstGeom prst="line">
            <a:avLst/>
          </a:prstGeom>
          <a:noFill/>
          <a:ln w="25400">
            <a:solidFill>
              <a:srgbClr val="322164"/>
            </a:solidFill>
            <a:prstDash val="solid"/>
            <a:tailEnd type="triangle"/>
          </a:ln>
        </p:spPr>
      </p:sp>
      <p:sp>
        <p:nvSpPr>
          <p:cNvPr id="17" name="Shape 15"/>
          <p:cNvSpPr/>
          <p:nvPr/>
        </p:nvSpPr>
        <p:spPr>
          <a:xfrm>
            <a:off x="3429000" y="2423160"/>
            <a:ext cx="1920240" cy="1143000"/>
          </a:xfrm>
          <a:prstGeom prst="roundRect">
            <a:avLst>
              <a:gd name="adj" fmla="val 4800"/>
            </a:avLst>
          </a:prstGeom>
          <a:solidFill>
            <a:srgbClr val="EEEAF6"/>
          </a:solidFill>
          <a:ln w="20320">
            <a:solidFill>
              <a:srgbClr val="322164"/>
            </a:solidFill>
            <a:prstDash val="solid"/>
          </a:ln>
        </p:spPr>
      </p:sp>
      <p:sp>
        <p:nvSpPr>
          <p:cNvPr id="18" name="Text 16"/>
          <p:cNvSpPr/>
          <p:nvPr/>
        </p:nvSpPr>
        <p:spPr>
          <a:xfrm>
            <a:off x="3429000" y="2423160"/>
            <a:ext cx="1920240" cy="1143000"/>
          </a:xfrm>
          <a:prstGeom prst="rect">
            <a:avLst/>
          </a:prstGeom>
          <a:noFill/>
          <a:ln/>
        </p:spPr>
        <p:txBody>
          <a:bodyPr wrap="square" lIns="38100" tIns="38100" rIns="38100" bIns="38100" rtlCol="0" anchor="ctr"/>
          <a:lstStyle/>
          <a:p>
            <a:pPr algn="ctr" indent="0" marL="0">
              <a:lnSpc>
                <a:spcPct val="115000"/>
              </a:lnSpc>
              <a:buNone/>
            </a:pPr>
            <a:r>
              <a:rPr lang="en-US" sz="1200" b="1" dirty="0">
                <a:solidFill>
                  <a:srgbClr val="1A1A1A"/>
                </a:solidFill>
                <a:latin typeface="Cambria" pitchFamily="34" charset="0"/>
                <a:ea typeface="Cambria" pitchFamily="34" charset="-122"/>
                <a:cs typeface="Cambria" pitchFamily="34" charset="-120"/>
              </a:rPr>
              <a:t>Qwen2.5-VL-3B</a:t>
            </a:r>
            <a:endParaRPr lang="en-US" sz="1200" dirty="0"/>
          </a:p>
          <a:p>
            <a:pPr algn="ctr" indent="0" marL="0">
              <a:lnSpc>
                <a:spcPct val="115000"/>
              </a:lnSpc>
              <a:buNone/>
            </a:pPr>
            <a:r>
              <a:rPr lang="en-US" sz="1200" b="1" dirty="0">
                <a:solidFill>
                  <a:srgbClr val="1A1A1A"/>
                </a:solidFill>
                <a:latin typeface="Cambria" pitchFamily="34" charset="0"/>
                <a:ea typeface="Cambria" pitchFamily="34" charset="-122"/>
                <a:cs typeface="Cambria" pitchFamily="34" charset="-120"/>
              </a:rPr>
              <a:t>tinh chỉnh</a:t>
            </a:r>
            <a:endParaRPr lang="en-US" sz="1200" dirty="0"/>
          </a:p>
        </p:txBody>
      </p:sp>
      <p:sp>
        <p:nvSpPr>
          <p:cNvPr id="19" name="Shape 17"/>
          <p:cNvSpPr/>
          <p:nvPr/>
        </p:nvSpPr>
        <p:spPr>
          <a:xfrm>
            <a:off x="5394960" y="2994660"/>
            <a:ext cx="502920" cy="0"/>
          </a:xfrm>
          <a:prstGeom prst="line">
            <a:avLst/>
          </a:prstGeom>
          <a:noFill/>
          <a:ln w="25400">
            <a:solidFill>
              <a:srgbClr val="322164"/>
            </a:solidFill>
            <a:prstDash val="solid"/>
            <a:tailEnd type="triangle"/>
          </a:ln>
        </p:spPr>
      </p:sp>
      <p:sp>
        <p:nvSpPr>
          <p:cNvPr id="20" name="Shape 18"/>
          <p:cNvSpPr/>
          <p:nvPr/>
        </p:nvSpPr>
        <p:spPr>
          <a:xfrm>
            <a:off x="5943600" y="2423160"/>
            <a:ext cx="2743200" cy="1143000"/>
          </a:xfrm>
          <a:prstGeom prst="roundRect">
            <a:avLst>
              <a:gd name="adj" fmla="val 4800"/>
            </a:avLst>
          </a:prstGeom>
          <a:solidFill>
            <a:srgbClr val="FFFFFF"/>
          </a:solidFill>
          <a:ln w="20320">
            <a:solidFill>
              <a:srgbClr val="322164"/>
            </a:solidFill>
            <a:prstDash val="solid"/>
          </a:ln>
        </p:spPr>
      </p:sp>
      <p:sp>
        <p:nvSpPr>
          <p:cNvPr id="21" name="Text 19"/>
          <p:cNvSpPr/>
          <p:nvPr/>
        </p:nvSpPr>
        <p:spPr>
          <a:xfrm>
            <a:off x="5943600" y="2423160"/>
            <a:ext cx="2743200" cy="1143000"/>
          </a:xfrm>
          <a:prstGeom prst="rect">
            <a:avLst/>
          </a:prstGeom>
          <a:noFill/>
          <a:ln/>
        </p:spPr>
        <p:txBody>
          <a:bodyPr wrap="square" lIns="38100" tIns="38100" rIns="38100" bIns="38100" rtlCol="0" anchor="ctr"/>
          <a:lstStyle/>
          <a:p>
            <a:pPr algn="ctr" indent="0" marL="0">
              <a:lnSpc>
                <a:spcPct val="115000"/>
              </a:lnSpc>
              <a:buNone/>
            </a:pPr>
            <a:r>
              <a:rPr lang="en-US" sz="1050" dirty="0">
                <a:solidFill>
                  <a:srgbClr val="1A1A1A"/>
                </a:solidFill>
                <a:latin typeface="Cambria" pitchFamily="34" charset="0"/>
                <a:ea typeface="Cambria" pitchFamily="34" charset="-122"/>
                <a:cs typeface="Cambria" pitchFamily="34" charset="-120"/>
              </a:rPr>
              <a:t>một câu tiếng Anh cho người đọc</a:t>
            </a:r>
            <a:endParaRPr lang="en-US" sz="1050" dirty="0"/>
          </a:p>
          <a:p>
            <a:pPr algn="ctr" indent="0" marL="0">
              <a:lnSpc>
                <a:spcPct val="115000"/>
              </a:lnSpc>
              <a:buNone/>
            </a:pPr>
            <a:endParaRPr lang="en-US" sz="1050" dirty="0"/>
          </a:p>
          <a:p>
            <a:pPr algn="ctr" indent="0" marL="0">
              <a:lnSpc>
                <a:spcPct val="115000"/>
              </a:lnSpc>
              <a:buNone/>
            </a:pPr>
            <a:r>
              <a:rPr lang="en-US" sz="1050" dirty="0">
                <a:solidFill>
                  <a:srgbClr val="1A1A1A"/>
                </a:solidFill>
                <a:latin typeface="Cambria" pitchFamily="34" charset="0"/>
                <a:ea typeface="Cambria" pitchFamily="34" charset="-122"/>
                <a:cs typeface="Cambria" pitchFamily="34" charset="-120"/>
              </a:rPr>
              <a:t>“Click on the Not Now button</a:t>
            </a:r>
            <a:endParaRPr lang="en-US" sz="1050" dirty="0"/>
          </a:p>
          <a:p>
            <a:pPr algn="ctr" indent="0" marL="0">
              <a:lnSpc>
                <a:spcPct val="115000"/>
              </a:lnSpc>
              <a:buNone/>
            </a:pPr>
            <a:r>
              <a:rPr lang="en-US" sz="1050" dirty="0">
                <a:solidFill>
                  <a:srgbClr val="1A1A1A"/>
                </a:solidFill>
                <a:latin typeface="Cambria" pitchFamily="34" charset="0"/>
                <a:ea typeface="Cambria" pitchFamily="34" charset="-122"/>
                <a:cs typeface="Cambria" pitchFamily="34" charset="-120"/>
              </a:rPr>
              <a:t>at the bottom of the screen”</a:t>
            </a:r>
            <a:endParaRPr lang="en-US" sz="1050" dirty="0"/>
          </a:p>
        </p:txBody>
      </p:sp>
      <p:sp>
        <p:nvSpPr>
          <p:cNvPr id="22" name="Shape 20"/>
          <p:cNvSpPr/>
          <p:nvPr/>
        </p:nvSpPr>
        <p:spPr>
          <a:xfrm>
            <a:off x="457200" y="3931920"/>
            <a:ext cx="8229600" cy="2423160"/>
          </a:xfrm>
          <a:prstGeom prst="roundRect">
            <a:avLst>
              <a:gd name="adj" fmla="val 2264"/>
            </a:avLst>
          </a:prstGeom>
          <a:solidFill>
            <a:srgbClr val="E9E8EC"/>
          </a:solidFill>
          <a:ln/>
          <a:effectLst>
            <a:outerShdw sx="100000" sy="100000" kx="0" ky="0" algn="bl" rotWithShape="0" blurRad="63500" dist="31750" dir="2700000">
              <a:srgbClr val="8C8C99">
                <a:alpha val="45000"/>
              </a:srgbClr>
            </a:outerShdw>
          </a:effectLst>
        </p:spPr>
      </p:sp>
      <p:sp>
        <p:nvSpPr>
          <p:cNvPr id="23" name="Text 21"/>
          <p:cNvSpPr/>
          <p:nvPr/>
        </p:nvSpPr>
        <p:spPr>
          <a:xfrm>
            <a:off x="685800" y="4041648"/>
            <a:ext cx="1188720" cy="292608"/>
          </a:xfrm>
          <a:prstGeom prst="rect">
            <a:avLst/>
          </a:prstGeom>
          <a:noFill/>
          <a:ln/>
        </p:spPr>
        <p:txBody>
          <a:bodyPr wrap="square" lIns="0" tIns="0" rIns="0" bIns="0" rtlCol="0" anchor="t"/>
          <a:lstStyle/>
          <a:p>
            <a:pPr algn="l" indent="0" marL="0">
              <a:buNone/>
            </a:pPr>
            <a:r>
              <a:rPr lang="en-US" sz="1350" b="1" dirty="0">
                <a:solidFill>
                  <a:srgbClr val="322164"/>
                </a:solidFill>
                <a:latin typeface="Cambria" pitchFamily="34" charset="0"/>
                <a:ea typeface="Cambria" pitchFamily="34" charset="-122"/>
                <a:cs typeface="Cambria" pitchFamily="34" charset="-120"/>
              </a:rPr>
              <a:t>Đầu vào.</a:t>
            </a:r>
            <a:endParaRPr lang="en-US" sz="1350" dirty="0"/>
          </a:p>
        </p:txBody>
      </p:sp>
      <p:sp>
        <p:nvSpPr>
          <p:cNvPr id="24" name="Text 22"/>
          <p:cNvSpPr/>
          <p:nvPr/>
        </p:nvSpPr>
        <p:spPr>
          <a:xfrm>
            <a:off x="1783080" y="4041648"/>
            <a:ext cx="6675120" cy="548640"/>
          </a:xfrm>
          <a:prstGeom prst="rect">
            <a:avLst/>
          </a:prstGeom>
          <a:noFill/>
          <a:ln/>
        </p:spPr>
        <p:txBody>
          <a:bodyPr wrap="square" lIns="0" tIns="0" rIns="0" bIns="0" rtlCol="0" anchor="t"/>
          <a:lstStyle/>
          <a:p>
            <a:pPr algn="l" indent="0" marL="0">
              <a:lnSpc>
                <a:spcPct val="120000"/>
              </a:lnSpc>
              <a:buNone/>
            </a:pPr>
            <a:r>
              <a:rPr lang="en-US" sz="1300" dirty="0">
                <a:solidFill>
                  <a:srgbClr val="1A1A1A"/>
                </a:solidFill>
                <a:latin typeface="Cambria" pitchFamily="34" charset="0"/>
                <a:ea typeface="Cambria" pitchFamily="34" charset="-122"/>
                <a:cs typeface="Cambria" pitchFamily="34" charset="-120"/>
              </a:rPr>
              <a:t>Mục tiêu người dùng đang thực hiện, các câu hướng dẫn của những bước đã làm, ảnh màn hình đang mở và chữ đọc được trên ảnh.</a:t>
            </a:r>
            <a:endParaRPr lang="en-US" sz="1300" dirty="0"/>
          </a:p>
        </p:txBody>
      </p:sp>
      <p:sp>
        <p:nvSpPr>
          <p:cNvPr id="25" name="Text 23"/>
          <p:cNvSpPr/>
          <p:nvPr/>
        </p:nvSpPr>
        <p:spPr>
          <a:xfrm>
            <a:off x="685800" y="4681728"/>
            <a:ext cx="1188720" cy="292608"/>
          </a:xfrm>
          <a:prstGeom prst="rect">
            <a:avLst/>
          </a:prstGeom>
          <a:noFill/>
          <a:ln/>
        </p:spPr>
        <p:txBody>
          <a:bodyPr wrap="square" lIns="0" tIns="0" rIns="0" bIns="0" rtlCol="0" anchor="t"/>
          <a:lstStyle/>
          <a:p>
            <a:pPr algn="l" indent="0" marL="0">
              <a:buNone/>
            </a:pPr>
            <a:r>
              <a:rPr lang="en-US" sz="1350" b="1" dirty="0">
                <a:solidFill>
                  <a:srgbClr val="322164"/>
                </a:solidFill>
                <a:latin typeface="Cambria" pitchFamily="34" charset="0"/>
                <a:ea typeface="Cambria" pitchFamily="34" charset="-122"/>
                <a:cs typeface="Cambria" pitchFamily="34" charset="-120"/>
              </a:rPr>
              <a:t>Kết quả.</a:t>
            </a:r>
            <a:endParaRPr lang="en-US" sz="1350" dirty="0"/>
          </a:p>
        </p:txBody>
      </p:sp>
      <p:sp>
        <p:nvSpPr>
          <p:cNvPr id="26" name="Text 24"/>
          <p:cNvSpPr/>
          <p:nvPr/>
        </p:nvSpPr>
        <p:spPr>
          <a:xfrm>
            <a:off x="1783080" y="4681728"/>
            <a:ext cx="6675120" cy="548640"/>
          </a:xfrm>
          <a:prstGeom prst="rect">
            <a:avLst/>
          </a:prstGeom>
          <a:noFill/>
          <a:ln/>
        </p:spPr>
        <p:txBody>
          <a:bodyPr wrap="square" lIns="0" tIns="0" rIns="0" bIns="0" rtlCol="0" anchor="t"/>
          <a:lstStyle/>
          <a:p>
            <a:pPr algn="l" indent="0" marL="0">
              <a:lnSpc>
                <a:spcPct val="120000"/>
              </a:lnSpc>
              <a:buNone/>
            </a:pPr>
            <a:r>
              <a:rPr lang="en-US" sz="1300" dirty="0">
                <a:solidFill>
                  <a:srgbClr val="1A1A1A"/>
                </a:solidFill>
                <a:latin typeface="Cambria" pitchFamily="34" charset="0"/>
                <a:ea typeface="Cambria" pitchFamily="34" charset="-122"/>
                <a:cs typeface="Cambria" pitchFamily="34" charset="-120"/>
              </a:rPr>
              <a:t>Một câu nói rõ cần làm thao tác gì và chạm vào phần tử nào trên màn hình hiện tại.</a:t>
            </a:r>
            <a:endParaRPr lang="en-US" sz="1300" dirty="0"/>
          </a:p>
        </p:txBody>
      </p:sp>
      <p:sp>
        <p:nvSpPr>
          <p:cNvPr id="27" name="Text 25"/>
          <p:cNvSpPr/>
          <p:nvPr/>
        </p:nvSpPr>
        <p:spPr>
          <a:xfrm>
            <a:off x="685800" y="5321808"/>
            <a:ext cx="1097280" cy="292608"/>
          </a:xfrm>
          <a:prstGeom prst="rect">
            <a:avLst/>
          </a:prstGeom>
          <a:noFill/>
          <a:ln/>
        </p:spPr>
        <p:txBody>
          <a:bodyPr wrap="square" lIns="0" tIns="0" rIns="0" bIns="0" rtlCol="0" anchor="t"/>
          <a:lstStyle/>
          <a:p>
            <a:pPr algn="l" indent="0" marL="0">
              <a:buNone/>
            </a:pPr>
            <a:r>
              <a:rPr lang="en-US" sz="1350" b="1" dirty="0">
                <a:solidFill>
                  <a:srgbClr val="322164"/>
                </a:solidFill>
                <a:latin typeface="Cambria" pitchFamily="34" charset="0"/>
                <a:ea typeface="Cambria" pitchFamily="34" charset="-122"/>
                <a:cs typeface="Cambria" pitchFamily="34" charset="-120"/>
              </a:rPr>
              <a:t>Khác bài gốc.</a:t>
            </a:r>
            <a:endParaRPr lang="en-US" sz="1350" dirty="0"/>
          </a:p>
        </p:txBody>
      </p:sp>
      <p:sp>
        <p:nvSpPr>
          <p:cNvPr id="28" name="Text 26"/>
          <p:cNvSpPr/>
          <p:nvPr/>
        </p:nvSpPr>
        <p:spPr>
          <a:xfrm>
            <a:off x="1783080" y="5321808"/>
            <a:ext cx="6675120" cy="868680"/>
          </a:xfrm>
          <a:prstGeom prst="rect">
            <a:avLst/>
          </a:prstGeom>
          <a:noFill/>
          <a:ln/>
        </p:spPr>
        <p:txBody>
          <a:bodyPr wrap="square" lIns="0" tIns="0" rIns="0" bIns="0" rtlCol="0" anchor="t"/>
          <a:lstStyle/>
          <a:p>
            <a:pPr algn="l" indent="0" marL="0">
              <a:lnSpc>
                <a:spcPct val="120000"/>
              </a:lnSpc>
              <a:buNone/>
            </a:pPr>
            <a:r>
              <a:rPr lang="en-US" sz="1300" dirty="0">
                <a:solidFill>
                  <a:srgbClr val="1A1A1A"/>
                </a:solidFill>
                <a:latin typeface="Cambria" pitchFamily="34" charset="0"/>
                <a:ea typeface="Cambria" pitchFamily="34" charset="-122"/>
                <a:cs typeface="Cambria" pitchFamily="34" charset="-120"/>
              </a:rPr>
              <a:t>Trong AndroidControl (NeurIPS 2024) câu hướng dẫn từng bước là đầu vào của tác tử. Ở đây câu đó là đích mô hình phải sinh ra, và là đầu ra duy nhất được đem chấm.</a:t>
            </a:r>
            <a:endParaRPr lang="en-US" sz="1300" dirty="0"/>
          </a:p>
        </p:txBody>
      </p:sp>
      <p:sp>
        <p:nvSpPr>
          <p:cNvPr id="30" name="Shape 27"/>
          <p:cNvSpPr/>
          <p:nvPr/>
        </p:nvSpPr>
        <p:spPr>
          <a:xfrm>
            <a:off x="0" y="6620256"/>
            <a:ext cx="2743200" cy="237744"/>
          </a:xfrm>
          <a:prstGeom prst="rect">
            <a:avLst/>
          </a:prstGeom>
          <a:solidFill>
            <a:srgbClr val="191132"/>
          </a:solidFill>
          <a:ln/>
        </p:spPr>
      </p:sp>
      <p:sp>
        <p:nvSpPr>
          <p:cNvPr id="31" name="Shape 28"/>
          <p:cNvSpPr/>
          <p:nvPr/>
        </p:nvSpPr>
        <p:spPr>
          <a:xfrm>
            <a:off x="2743200" y="6620256"/>
            <a:ext cx="3383280" cy="237744"/>
          </a:xfrm>
          <a:prstGeom prst="rect">
            <a:avLst/>
          </a:prstGeom>
          <a:solidFill>
            <a:srgbClr val="25194B"/>
          </a:solidFill>
          <a:ln/>
        </p:spPr>
      </p:sp>
      <p:sp>
        <p:nvSpPr>
          <p:cNvPr id="32" name="Shape 29"/>
          <p:cNvSpPr/>
          <p:nvPr/>
        </p:nvSpPr>
        <p:spPr>
          <a:xfrm>
            <a:off x="6126480" y="6620256"/>
            <a:ext cx="1737360" cy="237744"/>
          </a:xfrm>
          <a:prstGeom prst="rect">
            <a:avLst/>
          </a:prstGeom>
          <a:solidFill>
            <a:srgbClr val="4F417A"/>
          </a:solidFill>
          <a:ln/>
        </p:spPr>
      </p:sp>
      <p:sp>
        <p:nvSpPr>
          <p:cNvPr id="33" name="Shape 30"/>
          <p:cNvSpPr/>
          <p:nvPr/>
        </p:nvSpPr>
        <p:spPr>
          <a:xfrm>
            <a:off x="7863840" y="6620256"/>
            <a:ext cx="1280160" cy="237744"/>
          </a:xfrm>
          <a:prstGeom prst="rect">
            <a:avLst/>
          </a:prstGeom>
          <a:solidFill>
            <a:srgbClr val="7A7099"/>
          </a:solidFill>
          <a:ln/>
        </p:spPr>
      </p:sp>
      <p:sp>
        <p:nvSpPr>
          <p:cNvPr id="34" name="Text 31"/>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Luận văn thạc sĩ</a:t>
            </a:r>
            <a:endParaRPr lang="en-US" sz="800" dirty="0"/>
          </a:p>
        </p:txBody>
      </p:sp>
      <p:sp>
        <p:nvSpPr>
          <p:cNvPr id="35" name="Text 32"/>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Phát sinh tự động hướng dẫn sử dụng phần mềm dựa trên LLM</a:t>
            </a:r>
            <a:endParaRPr lang="en-US" sz="800" dirty="0"/>
          </a:p>
        </p:txBody>
      </p:sp>
      <p:sp>
        <p:nvSpPr>
          <p:cNvPr id="36" name="Text 33"/>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37" name="Text 34"/>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3/24</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Khó khăn chính nằm ở việc chấm câu</a:t>
            </a:r>
            <a:endParaRPr lang="en-US" sz="1900" dirty="0"/>
          </a:p>
        </p:txBody>
      </p:sp>
      <p:sp>
        <p:nvSpPr>
          <p:cNvPr id="4" name="Shape 2"/>
          <p:cNvSpPr/>
          <p:nvPr/>
        </p:nvSpPr>
        <p:spPr>
          <a:xfrm>
            <a:off x="457200" y="777240"/>
            <a:ext cx="3977640" cy="2743200"/>
          </a:xfrm>
          <a:prstGeom prst="roundRect">
            <a:avLst>
              <a:gd name="adj" fmla="val 2000"/>
            </a:avLst>
          </a:prstGeom>
          <a:solidFill>
            <a:srgbClr val="E9E8EC"/>
          </a:solidFill>
          <a:ln/>
          <a:effectLst>
            <a:outerShdw sx="100000" sy="100000" kx="0" ky="0" algn="bl" rotWithShape="0" blurRad="63500" dist="31750" dir="2700000">
              <a:srgbClr val="8C8C99">
                <a:alpha val="45000"/>
              </a:srgbClr>
            </a:outerShdw>
          </a:effectLst>
        </p:spPr>
      </p:sp>
      <p:sp>
        <p:nvSpPr>
          <p:cNvPr id="5" name="Text 3"/>
          <p:cNvSpPr/>
          <p:nvPr/>
        </p:nvSpPr>
        <p:spPr>
          <a:xfrm>
            <a:off x="640080" y="868680"/>
            <a:ext cx="3657600" cy="320040"/>
          </a:xfrm>
          <a:prstGeom prst="rect">
            <a:avLst/>
          </a:prstGeom>
          <a:noFill/>
          <a:ln/>
        </p:spPr>
        <p:txBody>
          <a:bodyPr wrap="square" lIns="0" tIns="0" rIns="0" bIns="0" rtlCol="0" anchor="t"/>
          <a:lstStyle/>
          <a:p>
            <a:pPr algn="l" indent="0" marL="0">
              <a:buNone/>
            </a:pPr>
            <a:r>
              <a:rPr lang="en-US" sz="1350" b="1" dirty="0">
                <a:solidFill>
                  <a:srgbClr val="322164"/>
                </a:solidFill>
                <a:latin typeface="Cambria" pitchFamily="34" charset="0"/>
                <a:ea typeface="Cambria" pitchFamily="34" charset="-122"/>
                <a:cs typeface="Cambria" pitchFamily="34" charset="-120"/>
              </a:rPr>
              <a:t>Một phần tử, nhiều cách gọi</a:t>
            </a:r>
            <a:endParaRPr lang="en-US" sz="1350" dirty="0"/>
          </a:p>
        </p:txBody>
      </p:sp>
      <p:sp>
        <p:nvSpPr>
          <p:cNvPr id="6" name="Text 4"/>
          <p:cNvSpPr/>
          <p:nvPr/>
        </p:nvSpPr>
        <p:spPr>
          <a:xfrm>
            <a:off x="777240" y="1325880"/>
            <a:ext cx="3566160" cy="365760"/>
          </a:xfrm>
          <a:prstGeom prst="rect">
            <a:avLst/>
          </a:prstGeom>
          <a:noFill/>
          <a:ln/>
        </p:spPr>
        <p:txBody>
          <a:bodyPr wrap="square" lIns="0" tIns="0" rIns="0" bIns="0" rtlCol="0" anchor="t"/>
          <a:lstStyle/>
          <a:p>
            <a:pPr algn="l" indent="0" marL="0">
              <a:buNone/>
            </a:pPr>
            <a:r>
              <a:rPr lang="en-US" sz="1250" dirty="0">
                <a:solidFill>
                  <a:srgbClr val="1414BE"/>
                </a:solidFill>
                <a:latin typeface="Consolas" pitchFamily="34" charset="0"/>
                <a:ea typeface="Consolas" pitchFamily="34" charset="-122"/>
                <a:cs typeface="Consolas" pitchFamily="34" charset="-120"/>
              </a:rPr>
              <a:t>“Tap the search bar”</a:t>
            </a:r>
            <a:endParaRPr lang="en-US" sz="1250" dirty="0"/>
          </a:p>
        </p:txBody>
      </p:sp>
      <p:sp>
        <p:nvSpPr>
          <p:cNvPr id="7" name="Text 5"/>
          <p:cNvSpPr/>
          <p:nvPr/>
        </p:nvSpPr>
        <p:spPr>
          <a:xfrm>
            <a:off x="777240" y="1783080"/>
            <a:ext cx="3566160" cy="365760"/>
          </a:xfrm>
          <a:prstGeom prst="rect">
            <a:avLst/>
          </a:prstGeom>
          <a:noFill/>
          <a:ln/>
        </p:spPr>
        <p:txBody>
          <a:bodyPr wrap="square" lIns="0" tIns="0" rIns="0" bIns="0" rtlCol="0" anchor="t"/>
          <a:lstStyle/>
          <a:p>
            <a:pPr algn="l" indent="0" marL="0">
              <a:buNone/>
            </a:pPr>
            <a:r>
              <a:rPr lang="en-US" sz="1250" dirty="0">
                <a:solidFill>
                  <a:srgbClr val="1414BE"/>
                </a:solidFill>
                <a:latin typeface="Consolas" pitchFamily="34" charset="0"/>
                <a:ea typeface="Consolas" pitchFamily="34" charset="-122"/>
                <a:cs typeface="Consolas" pitchFamily="34" charset="-120"/>
              </a:rPr>
              <a:t>“Tap the magnifier icon at the top”</a:t>
            </a:r>
            <a:endParaRPr lang="en-US" sz="1250" dirty="0"/>
          </a:p>
        </p:txBody>
      </p:sp>
      <p:sp>
        <p:nvSpPr>
          <p:cNvPr id="8" name="Text 6"/>
          <p:cNvSpPr/>
          <p:nvPr/>
        </p:nvSpPr>
        <p:spPr>
          <a:xfrm>
            <a:off x="777240" y="2240280"/>
            <a:ext cx="3566160" cy="365760"/>
          </a:xfrm>
          <a:prstGeom prst="rect">
            <a:avLst/>
          </a:prstGeom>
          <a:noFill/>
          <a:ln/>
        </p:spPr>
        <p:txBody>
          <a:bodyPr wrap="square" lIns="0" tIns="0" rIns="0" bIns="0" rtlCol="0" anchor="t"/>
          <a:lstStyle/>
          <a:p>
            <a:pPr algn="l" indent="0" marL="0">
              <a:buNone/>
            </a:pPr>
            <a:r>
              <a:rPr lang="en-US" sz="1250" dirty="0">
                <a:solidFill>
                  <a:srgbClr val="1414BE"/>
                </a:solidFill>
                <a:latin typeface="Consolas" pitchFamily="34" charset="0"/>
                <a:ea typeface="Consolas" pitchFamily="34" charset="-122"/>
                <a:cs typeface="Consolas" pitchFamily="34" charset="-120"/>
              </a:rPr>
              <a:t>“Click on the search field”</a:t>
            </a:r>
            <a:endParaRPr lang="en-US" sz="1250" dirty="0"/>
          </a:p>
        </p:txBody>
      </p:sp>
      <p:sp>
        <p:nvSpPr>
          <p:cNvPr id="9" name="Text 7"/>
          <p:cNvSpPr/>
          <p:nvPr/>
        </p:nvSpPr>
        <p:spPr>
          <a:xfrm>
            <a:off x="640080" y="2743200"/>
            <a:ext cx="3657600" cy="548640"/>
          </a:xfrm>
          <a:prstGeom prst="rect">
            <a:avLst/>
          </a:prstGeom>
          <a:noFill/>
          <a:ln/>
        </p:spPr>
        <p:txBody>
          <a:bodyPr wrap="square" lIns="0" tIns="0" rIns="0" bIns="0" rtlCol="0" anchor="t"/>
          <a:lstStyle/>
          <a:p>
            <a:pPr algn="l" indent="0" marL="0">
              <a:lnSpc>
                <a:spcPct val="120000"/>
              </a:lnSpc>
              <a:buNone/>
            </a:pPr>
            <a:r>
              <a:rPr lang="en-US" sz="1250" i="1" dirty="0">
                <a:solidFill>
                  <a:srgbClr val="5A5A66"/>
                </a:solidFill>
                <a:latin typeface="Cambria" pitchFamily="34" charset="0"/>
                <a:ea typeface="Cambria" pitchFamily="34" charset="-122"/>
                <a:cs typeface="Cambria" pitchFamily="34" charset="-120"/>
              </a:rPr>
              <a:t>Bộ dữ liệu chỉ có một câu chuẩn cho mỗi bước.</a:t>
            </a:r>
            <a:endParaRPr lang="en-US" sz="1250" dirty="0"/>
          </a:p>
        </p:txBody>
      </p:sp>
      <p:sp>
        <p:nvSpPr>
          <p:cNvPr id="10" name="Shape 8"/>
          <p:cNvSpPr/>
          <p:nvPr/>
        </p:nvSpPr>
        <p:spPr>
          <a:xfrm>
            <a:off x="4709160" y="777240"/>
            <a:ext cx="3977640" cy="2743200"/>
          </a:xfrm>
          <a:prstGeom prst="roundRect">
            <a:avLst>
              <a:gd name="adj" fmla="val 2000"/>
            </a:avLst>
          </a:prstGeom>
          <a:solidFill>
            <a:srgbClr val="E9E8EC"/>
          </a:solidFill>
          <a:ln/>
          <a:effectLst>
            <a:outerShdw sx="100000" sy="100000" kx="0" ky="0" algn="bl" rotWithShape="0" blurRad="63500" dist="31750" dir="2700000">
              <a:srgbClr val="8C8C99">
                <a:alpha val="45000"/>
              </a:srgbClr>
            </a:outerShdw>
          </a:effectLst>
        </p:spPr>
      </p:sp>
      <p:sp>
        <p:nvSpPr>
          <p:cNvPr id="11" name="Text 9"/>
          <p:cNvSpPr/>
          <p:nvPr/>
        </p:nvSpPr>
        <p:spPr>
          <a:xfrm>
            <a:off x="4892040" y="868680"/>
            <a:ext cx="3657600" cy="320040"/>
          </a:xfrm>
          <a:prstGeom prst="rect">
            <a:avLst/>
          </a:prstGeom>
          <a:noFill/>
          <a:ln/>
        </p:spPr>
        <p:txBody>
          <a:bodyPr wrap="square" lIns="0" tIns="0" rIns="0" bIns="0" rtlCol="0" anchor="t"/>
          <a:lstStyle/>
          <a:p>
            <a:pPr algn="l" indent="0" marL="0">
              <a:buNone/>
            </a:pPr>
            <a:r>
              <a:rPr lang="en-US" sz="1350" b="1" dirty="0">
                <a:solidFill>
                  <a:srgbClr val="322164"/>
                </a:solidFill>
                <a:latin typeface="Cambria" pitchFamily="34" charset="0"/>
                <a:ea typeface="Cambria" pitchFamily="34" charset="-122"/>
                <a:cs typeface="Cambria" pitchFamily="34" charset="-120"/>
              </a:rPr>
              <a:t>Thước so chữ với câu chuẩn</a:t>
            </a:r>
            <a:endParaRPr lang="en-US" sz="1350" dirty="0"/>
          </a:p>
        </p:txBody>
      </p:sp>
      <p:sp>
        <p:nvSpPr>
          <p:cNvPr id="12" name="Text 10"/>
          <p:cNvSpPr/>
          <p:nvPr/>
        </p:nvSpPr>
        <p:spPr>
          <a:xfrm>
            <a:off x="4892040" y="1280160"/>
            <a:ext cx="3611880" cy="1371600"/>
          </a:xfrm>
          <a:prstGeom prst="rect">
            <a:avLst/>
          </a:prstGeom>
          <a:noFill/>
          <a:ln/>
        </p:spPr>
        <p:txBody>
          <a:bodyPr wrap="square" lIns="0" tIns="0" rIns="0" bIns="0" rtlCol="0" anchor="t"/>
          <a:lstStyle/>
          <a:p>
            <a:pPr algn="l" indent="0" marL="0">
              <a:lnSpc>
                <a:spcPct val="125000"/>
              </a:lnSpc>
              <a:buNone/>
            </a:pPr>
            <a:r>
              <a:rPr lang="en-US" sz="1250" dirty="0">
                <a:solidFill>
                  <a:srgbClr val="1A1A1A"/>
                </a:solidFill>
                <a:latin typeface="Cambria" pitchFamily="34" charset="0"/>
                <a:ea typeface="Cambria" pitchFamily="34" charset="-122"/>
                <a:cs typeface="Cambria" pitchFamily="34" charset="-120"/>
              </a:rPr>
              <a:t>BLEU, ROUGE, METEOR, CIDEr, SPICE chấm độ trùng từ với câu chuẩn, nên phạt cách gọi khác dù vẫn đúng phần tử, và cho điểm câu trùng nhiều từ dù gọi nhầm nút bên cạnh.</a:t>
            </a:r>
            <a:endParaRPr lang="en-US" sz="1250" dirty="0"/>
          </a:p>
        </p:txBody>
      </p:sp>
      <p:sp>
        <p:nvSpPr>
          <p:cNvPr id="13" name="Text 11"/>
          <p:cNvSpPr/>
          <p:nvPr/>
        </p:nvSpPr>
        <p:spPr>
          <a:xfrm>
            <a:off x="4892040" y="2606040"/>
            <a:ext cx="3611880" cy="822960"/>
          </a:xfrm>
          <a:prstGeom prst="rect">
            <a:avLst/>
          </a:prstGeom>
          <a:noFill/>
          <a:ln/>
        </p:spPr>
        <p:txBody>
          <a:bodyPr wrap="square" lIns="0" tIns="0" rIns="0" bIns="0" rtlCol="0" anchor="t"/>
          <a:lstStyle/>
          <a:p>
            <a:pPr algn="l" indent="0" marL="0">
              <a:lnSpc>
                <a:spcPct val="120000"/>
              </a:lnSpc>
              <a:buNone/>
            </a:pPr>
            <a:r>
              <a:rPr lang="en-US" sz="1150" i="1" dirty="0">
                <a:solidFill>
                  <a:srgbClr val="5A5A66"/>
                </a:solidFill>
                <a:latin typeface="Cambria" pitchFamily="34" charset="0"/>
                <a:ea typeface="Cambria" pitchFamily="34" charset="-122"/>
                <a:cs typeface="Cambria" pitchFamily="34" charset="-120"/>
              </a:rPr>
              <a:t>Zhao và cộng sự (EACL 2021): các thước này không hiệu quả khi chấm câu chỉ đường có gắn với môi trường.</a:t>
            </a:r>
            <a:endParaRPr lang="en-US" sz="1150" dirty="0"/>
          </a:p>
        </p:txBody>
      </p:sp>
      <p:sp>
        <p:nvSpPr>
          <p:cNvPr id="14" name="Shape 12"/>
          <p:cNvSpPr/>
          <p:nvPr/>
        </p:nvSpPr>
        <p:spPr>
          <a:xfrm>
            <a:off x="457200" y="3840480"/>
            <a:ext cx="8229600" cy="1234440"/>
          </a:xfrm>
          <a:prstGeom prst="roundRect">
            <a:avLst>
              <a:gd name="adj" fmla="val 4444"/>
            </a:avLst>
          </a:prstGeom>
          <a:solidFill>
            <a:srgbClr val="EEEAF6"/>
          </a:solidFill>
          <a:ln w="19050">
            <a:solidFill>
              <a:srgbClr val="322164"/>
            </a:solidFill>
            <a:prstDash val="solid"/>
          </a:ln>
        </p:spPr>
      </p:sp>
      <p:sp>
        <p:nvSpPr>
          <p:cNvPr id="15" name="Text 13"/>
          <p:cNvSpPr/>
          <p:nvPr/>
        </p:nvSpPr>
        <p:spPr>
          <a:xfrm>
            <a:off x="685800" y="3931920"/>
            <a:ext cx="3657600" cy="320040"/>
          </a:xfrm>
          <a:prstGeom prst="rect">
            <a:avLst/>
          </a:prstGeom>
          <a:noFill/>
          <a:ln/>
        </p:spPr>
        <p:txBody>
          <a:bodyPr wrap="square" lIns="0" tIns="0" rIns="0" bIns="0" rtlCol="0" anchor="t"/>
          <a:lstStyle/>
          <a:p>
            <a:pPr algn="l" indent="0" marL="0">
              <a:buNone/>
            </a:pPr>
            <a:r>
              <a:rPr lang="en-US" sz="1400" b="1" dirty="0">
                <a:solidFill>
                  <a:srgbClr val="322164"/>
                </a:solidFill>
                <a:latin typeface="Cambria" pitchFamily="34" charset="0"/>
                <a:ea typeface="Cambria" pitchFamily="34" charset="-122"/>
                <a:cs typeface="Cambria" pitchFamily="34" charset="-120"/>
              </a:rPr>
              <a:t>Hướng của đề tài</a:t>
            </a:r>
            <a:endParaRPr lang="en-US" sz="1400" dirty="0"/>
          </a:p>
        </p:txBody>
      </p:sp>
      <p:sp>
        <p:nvSpPr>
          <p:cNvPr id="16" name="Text 14"/>
          <p:cNvSpPr/>
          <p:nvPr/>
        </p:nvSpPr>
        <p:spPr>
          <a:xfrm>
            <a:off x="685800" y="4279392"/>
            <a:ext cx="7772400" cy="731520"/>
          </a:xfrm>
          <a:prstGeom prst="rect">
            <a:avLst/>
          </a:prstGeom>
          <a:noFill/>
          <a:ln/>
        </p:spPr>
        <p:txBody>
          <a:bodyPr wrap="square" lIns="0" tIns="0" rIns="0" bIns="0" rtlCol="0" anchor="t"/>
          <a:lstStyle/>
          <a:p>
            <a:pPr algn="l" indent="0" marL="0">
              <a:lnSpc>
                <a:spcPct val="122000"/>
              </a:lnSpc>
              <a:buNone/>
            </a:pPr>
            <a:r>
              <a:rPr lang="en-US" sz="1350" dirty="0">
                <a:solidFill>
                  <a:srgbClr val="1A1A1A"/>
                </a:solidFill>
                <a:latin typeface="Cambria" pitchFamily="34" charset="0"/>
                <a:ea typeface="Cambria" pitchFamily="34" charset="-122"/>
                <a:cs typeface="Cambria" pitchFamily="34" charset="-120"/>
              </a:rPr>
              <a:t>Không hỏi câu sinh ra giống câu chuẩn tới đâu, mà kiểm xem câu ấy có dẫn được một người nghe độc lập tới đúng phần tử người dùng đã chạm hay không.</a:t>
            </a:r>
            <a:endParaRPr lang="en-US" sz="1350" dirty="0"/>
          </a:p>
        </p:txBody>
      </p:sp>
      <p:sp>
        <p:nvSpPr>
          <p:cNvPr id="17" name="Text 15"/>
          <p:cNvSpPr/>
          <p:nvPr/>
        </p:nvSpPr>
        <p:spPr>
          <a:xfrm>
            <a:off x="457200" y="5303520"/>
            <a:ext cx="8229600" cy="822960"/>
          </a:xfrm>
          <a:prstGeom prst="rect">
            <a:avLst/>
          </a:prstGeom>
          <a:noFill/>
          <a:ln/>
        </p:spPr>
        <p:txBody>
          <a:bodyPr wrap="square" lIns="0" tIns="0" rIns="0" bIns="0" rtlCol="0" anchor="t"/>
          <a:lstStyle/>
          <a:p>
            <a:pPr algn="l" indent="0" marL="0">
              <a:lnSpc>
                <a:spcPct val="120000"/>
              </a:lnSpc>
              <a:buNone/>
            </a:pPr>
            <a:r>
              <a:rPr lang="en-US" sz="1200" dirty="0">
                <a:solidFill>
                  <a:srgbClr val="5A5A66"/>
                </a:solidFill>
                <a:latin typeface="Cambria" pitchFamily="34" charset="0"/>
                <a:ea typeface="Cambria" pitchFamily="34" charset="-122"/>
                <a:cs typeface="Cambria" pitchFamily="34" charset="-120"/>
              </a:rPr>
              <a:t>Ý tưởng người nghe có gốc từ dòng sinh biểu thức quy chiếu (Mao CVPR 2016, Luo CVPR 2017, Yu CVPR 2017). Phần việc của đề tài là đo và hiệu chuẩn thước này cho miền giao diện di động.</a:t>
            </a:r>
            <a:endParaRPr lang="en-US" sz="1200" dirty="0"/>
          </a:p>
        </p:txBody>
      </p:sp>
      <p:sp>
        <p:nvSpPr>
          <p:cNvPr id="19" name="Shape 16"/>
          <p:cNvSpPr/>
          <p:nvPr/>
        </p:nvSpPr>
        <p:spPr>
          <a:xfrm>
            <a:off x="0" y="6620256"/>
            <a:ext cx="2743200" cy="237744"/>
          </a:xfrm>
          <a:prstGeom prst="rect">
            <a:avLst/>
          </a:prstGeom>
          <a:solidFill>
            <a:srgbClr val="191132"/>
          </a:solidFill>
          <a:ln/>
        </p:spPr>
      </p:sp>
      <p:sp>
        <p:nvSpPr>
          <p:cNvPr id="20" name="Shape 17"/>
          <p:cNvSpPr/>
          <p:nvPr/>
        </p:nvSpPr>
        <p:spPr>
          <a:xfrm>
            <a:off x="2743200" y="6620256"/>
            <a:ext cx="3383280" cy="237744"/>
          </a:xfrm>
          <a:prstGeom prst="rect">
            <a:avLst/>
          </a:prstGeom>
          <a:solidFill>
            <a:srgbClr val="25194B"/>
          </a:solidFill>
          <a:ln/>
        </p:spPr>
      </p:sp>
      <p:sp>
        <p:nvSpPr>
          <p:cNvPr id="21" name="Shape 18"/>
          <p:cNvSpPr/>
          <p:nvPr/>
        </p:nvSpPr>
        <p:spPr>
          <a:xfrm>
            <a:off x="6126480" y="6620256"/>
            <a:ext cx="1737360" cy="237744"/>
          </a:xfrm>
          <a:prstGeom prst="rect">
            <a:avLst/>
          </a:prstGeom>
          <a:solidFill>
            <a:srgbClr val="4F417A"/>
          </a:solidFill>
          <a:ln/>
        </p:spPr>
      </p:sp>
      <p:sp>
        <p:nvSpPr>
          <p:cNvPr id="22" name="Shape 19"/>
          <p:cNvSpPr/>
          <p:nvPr/>
        </p:nvSpPr>
        <p:spPr>
          <a:xfrm>
            <a:off x="7863840" y="6620256"/>
            <a:ext cx="1280160" cy="237744"/>
          </a:xfrm>
          <a:prstGeom prst="rect">
            <a:avLst/>
          </a:prstGeom>
          <a:solidFill>
            <a:srgbClr val="7A7099"/>
          </a:solidFill>
          <a:ln/>
        </p:spPr>
      </p:sp>
      <p:sp>
        <p:nvSpPr>
          <p:cNvPr id="23" name="Text 20"/>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Luận văn thạc sĩ</a:t>
            </a:r>
            <a:endParaRPr lang="en-US" sz="800" dirty="0"/>
          </a:p>
        </p:txBody>
      </p:sp>
      <p:sp>
        <p:nvSpPr>
          <p:cNvPr id="24" name="Text 21"/>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Phát sinh tự động hướng dẫn sử dụng phần mềm dựa trên LLM</a:t>
            </a:r>
            <a:endParaRPr lang="en-US" sz="800" dirty="0"/>
          </a:p>
        </p:txBody>
      </p:sp>
      <p:sp>
        <p:nvSpPr>
          <p:cNvPr id="25" name="Text 22"/>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26" name="Text 23"/>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4/24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Thước đo executability</a:t>
            </a:r>
            <a:endParaRPr lang="en-US" sz="1900" dirty="0"/>
          </a:p>
        </p:txBody>
      </p:sp>
      <p:sp>
        <p:nvSpPr>
          <p:cNvPr id="4" name="Shape 2"/>
          <p:cNvSpPr/>
          <p:nvPr/>
        </p:nvSpPr>
        <p:spPr>
          <a:xfrm>
            <a:off x="457200" y="822960"/>
            <a:ext cx="1600200" cy="868680"/>
          </a:xfrm>
          <a:prstGeom prst="roundRect">
            <a:avLst>
              <a:gd name="adj" fmla="val 6316"/>
            </a:avLst>
          </a:prstGeom>
          <a:solidFill>
            <a:srgbClr val="FFFFFF"/>
          </a:solidFill>
          <a:ln w="15240">
            <a:solidFill>
              <a:srgbClr val="6E6890"/>
            </a:solidFill>
            <a:prstDash val="solid"/>
          </a:ln>
        </p:spPr>
      </p:sp>
      <p:sp>
        <p:nvSpPr>
          <p:cNvPr id="5" name="Text 3"/>
          <p:cNvSpPr/>
          <p:nvPr/>
        </p:nvSpPr>
        <p:spPr>
          <a:xfrm>
            <a:off x="457200" y="822960"/>
            <a:ext cx="1600200" cy="868680"/>
          </a:xfrm>
          <a:prstGeom prst="rect">
            <a:avLst/>
          </a:prstGeom>
          <a:noFill/>
          <a:ln/>
        </p:spPr>
        <p:txBody>
          <a:bodyPr wrap="square" lIns="38100" tIns="38100" rIns="38100" bIns="38100" rtlCol="0" anchor="ctr"/>
          <a:lstStyle/>
          <a:p>
            <a:pPr algn="ctr" indent="0" marL="0">
              <a:lnSpc>
                <a:spcPct val="115000"/>
              </a:lnSpc>
              <a:buNone/>
            </a:pPr>
            <a:r>
              <a:rPr lang="en-US" sz="1150" dirty="0">
                <a:solidFill>
                  <a:srgbClr val="1A1A1A"/>
                </a:solidFill>
                <a:latin typeface="Cambria" pitchFamily="34" charset="0"/>
                <a:ea typeface="Cambria" pitchFamily="34" charset="-122"/>
                <a:cs typeface="Cambria" pitchFamily="34" charset="-120"/>
              </a:rPr>
              <a:t>câu do mô hình</a:t>
            </a:r>
            <a:endParaRPr lang="en-US" sz="1150" dirty="0"/>
          </a:p>
          <a:p>
            <a:pPr algn="ctr" indent="0" marL="0">
              <a:lnSpc>
                <a:spcPct val="115000"/>
              </a:lnSpc>
              <a:buNone/>
            </a:pPr>
            <a:r>
              <a:rPr lang="en-US" sz="1150" dirty="0">
                <a:solidFill>
                  <a:srgbClr val="1A1A1A"/>
                </a:solidFill>
                <a:latin typeface="Cambria" pitchFamily="34" charset="0"/>
                <a:ea typeface="Cambria" pitchFamily="34" charset="-122"/>
                <a:cs typeface="Cambria" pitchFamily="34" charset="-120"/>
              </a:rPr>
              <a:t>sinh ra</a:t>
            </a:r>
            <a:endParaRPr lang="en-US" sz="1150" dirty="0"/>
          </a:p>
        </p:txBody>
      </p:sp>
      <p:sp>
        <p:nvSpPr>
          <p:cNvPr id="6" name="Shape 4"/>
          <p:cNvSpPr/>
          <p:nvPr/>
        </p:nvSpPr>
        <p:spPr>
          <a:xfrm>
            <a:off x="2103120" y="1257300"/>
            <a:ext cx="320040" cy="0"/>
          </a:xfrm>
          <a:prstGeom prst="line">
            <a:avLst/>
          </a:prstGeom>
          <a:noFill/>
          <a:ln w="25400">
            <a:solidFill>
              <a:srgbClr val="4F417A"/>
            </a:solidFill>
            <a:prstDash val="solid"/>
            <a:tailEnd type="triangle"/>
          </a:ln>
        </p:spPr>
      </p:sp>
      <p:sp>
        <p:nvSpPr>
          <p:cNvPr id="7" name="Shape 5"/>
          <p:cNvSpPr/>
          <p:nvPr/>
        </p:nvSpPr>
        <p:spPr>
          <a:xfrm>
            <a:off x="2468880" y="822960"/>
            <a:ext cx="1737360" cy="868680"/>
          </a:xfrm>
          <a:prstGeom prst="roundRect">
            <a:avLst>
              <a:gd name="adj" fmla="val 6316"/>
            </a:avLst>
          </a:prstGeom>
          <a:solidFill>
            <a:srgbClr val="EEEAF6"/>
          </a:solidFill>
          <a:ln w="15240">
            <a:solidFill>
              <a:srgbClr val="322164"/>
            </a:solidFill>
            <a:prstDash val="solid"/>
          </a:ln>
        </p:spPr>
      </p:sp>
      <p:sp>
        <p:nvSpPr>
          <p:cNvPr id="8" name="Text 6"/>
          <p:cNvSpPr/>
          <p:nvPr/>
        </p:nvSpPr>
        <p:spPr>
          <a:xfrm>
            <a:off x="2468880" y="822960"/>
            <a:ext cx="1737360" cy="868680"/>
          </a:xfrm>
          <a:prstGeom prst="rect">
            <a:avLst/>
          </a:prstGeom>
          <a:noFill/>
          <a:ln/>
        </p:spPr>
        <p:txBody>
          <a:bodyPr wrap="square" lIns="38100" tIns="38100" rIns="38100" bIns="38100" rtlCol="0" anchor="ctr"/>
          <a:lstStyle/>
          <a:p>
            <a:pPr algn="ctr" indent="0" marL="0">
              <a:lnSpc>
                <a:spcPct val="115000"/>
              </a:lnSpc>
              <a:buNone/>
            </a:pPr>
            <a:r>
              <a:rPr lang="en-US" sz="1050" dirty="0">
                <a:solidFill>
                  <a:srgbClr val="1A1A1A"/>
                </a:solidFill>
                <a:latin typeface="Cambria" pitchFamily="34" charset="0"/>
                <a:ea typeface="Cambria" pitchFamily="34" charset="-122"/>
                <a:cs typeface="Cambria" pitchFamily="34" charset="-120"/>
              </a:rPr>
              <a:t>mô hình định vị</a:t>
            </a:r>
            <a:endParaRPr lang="en-US" sz="1050" dirty="0"/>
          </a:p>
          <a:p>
            <a:pPr algn="ctr" indent="0" marL="0">
              <a:lnSpc>
                <a:spcPct val="115000"/>
              </a:lnSpc>
              <a:buNone/>
            </a:pPr>
            <a:r>
              <a:rPr lang="en-US" sz="1050" dirty="0">
                <a:solidFill>
                  <a:srgbClr val="1A1A1A"/>
                </a:solidFill>
                <a:latin typeface="Cambria" pitchFamily="34" charset="0"/>
                <a:ea typeface="Cambria" pitchFamily="34" charset="-122"/>
                <a:cs typeface="Cambria" pitchFamily="34" charset="-120"/>
              </a:rPr>
              <a:t>UGround-V1-2B</a:t>
            </a:r>
            <a:endParaRPr lang="en-US" sz="1050" dirty="0"/>
          </a:p>
          <a:p>
            <a:pPr algn="ctr" indent="0" marL="0">
              <a:lnSpc>
                <a:spcPct val="115000"/>
              </a:lnSpc>
              <a:buNone/>
            </a:pPr>
            <a:r>
              <a:rPr lang="en-US" sz="1050" dirty="0">
                <a:solidFill>
                  <a:srgbClr val="1A1A1A"/>
                </a:solidFill>
                <a:latin typeface="Cambria" pitchFamily="34" charset="0"/>
                <a:ea typeface="Cambria" pitchFamily="34" charset="-122"/>
                <a:cs typeface="Cambria" pitchFamily="34" charset="-120"/>
              </a:rPr>
              <a:t>(không biết đáp án)</a:t>
            </a:r>
            <a:endParaRPr lang="en-US" sz="1050" dirty="0"/>
          </a:p>
        </p:txBody>
      </p:sp>
      <p:sp>
        <p:nvSpPr>
          <p:cNvPr id="9" name="Shape 7"/>
          <p:cNvSpPr/>
          <p:nvPr/>
        </p:nvSpPr>
        <p:spPr>
          <a:xfrm>
            <a:off x="4251960" y="1257300"/>
            <a:ext cx="320040" cy="0"/>
          </a:xfrm>
          <a:prstGeom prst="line">
            <a:avLst/>
          </a:prstGeom>
          <a:noFill/>
          <a:ln w="25400">
            <a:solidFill>
              <a:srgbClr val="4F417A"/>
            </a:solidFill>
            <a:prstDash val="solid"/>
            <a:tailEnd type="triangle"/>
          </a:ln>
        </p:spPr>
      </p:sp>
      <p:sp>
        <p:nvSpPr>
          <p:cNvPr id="10" name="Shape 8"/>
          <p:cNvSpPr/>
          <p:nvPr/>
        </p:nvSpPr>
        <p:spPr>
          <a:xfrm>
            <a:off x="4617720" y="822960"/>
            <a:ext cx="1143000" cy="868680"/>
          </a:xfrm>
          <a:prstGeom prst="roundRect">
            <a:avLst>
              <a:gd name="adj" fmla="val 6316"/>
            </a:avLst>
          </a:prstGeom>
          <a:solidFill>
            <a:srgbClr val="FFFFFF"/>
          </a:solidFill>
          <a:ln w="15240">
            <a:solidFill>
              <a:srgbClr val="6E6890"/>
            </a:solidFill>
            <a:prstDash val="solid"/>
          </a:ln>
        </p:spPr>
      </p:sp>
      <p:sp>
        <p:nvSpPr>
          <p:cNvPr id="11" name="Text 9"/>
          <p:cNvSpPr/>
          <p:nvPr/>
        </p:nvSpPr>
        <p:spPr>
          <a:xfrm>
            <a:off x="4617720" y="822960"/>
            <a:ext cx="1143000" cy="868680"/>
          </a:xfrm>
          <a:prstGeom prst="rect">
            <a:avLst/>
          </a:prstGeom>
          <a:noFill/>
          <a:ln/>
        </p:spPr>
        <p:txBody>
          <a:bodyPr wrap="square" lIns="38100" tIns="38100" rIns="38100" bIns="38100" rtlCol="0" anchor="ctr"/>
          <a:lstStyle/>
          <a:p>
            <a:pPr algn="ctr" indent="0" marL="0">
              <a:lnSpc>
                <a:spcPct val="115000"/>
              </a:lnSpc>
              <a:buNone/>
            </a:pPr>
            <a:r>
              <a:rPr lang="en-US" sz="1150" dirty="0">
                <a:solidFill>
                  <a:srgbClr val="1A1A1A"/>
                </a:solidFill>
                <a:latin typeface="Cambria" pitchFamily="34" charset="0"/>
                <a:ea typeface="Cambria" pitchFamily="34" charset="-122"/>
                <a:cs typeface="Cambria" pitchFamily="34" charset="-120"/>
              </a:rPr>
              <a:t>một điểm</a:t>
            </a:r>
            <a:endParaRPr lang="en-US" sz="1150" dirty="0"/>
          </a:p>
          <a:p>
            <a:pPr algn="ctr" indent="0" marL="0">
              <a:lnSpc>
                <a:spcPct val="115000"/>
              </a:lnSpc>
              <a:buNone/>
            </a:pPr>
            <a:r>
              <a:rPr lang="en-US" sz="1150" dirty="0">
                <a:solidFill>
                  <a:srgbClr val="1A1A1A"/>
                </a:solidFill>
                <a:latin typeface="Cambria" pitchFamily="34" charset="0"/>
                <a:ea typeface="Cambria" pitchFamily="34" charset="-122"/>
                <a:cs typeface="Cambria" pitchFamily="34" charset="-120"/>
              </a:rPr>
              <a:t>(x, y)</a:t>
            </a:r>
            <a:endParaRPr lang="en-US" sz="1150" dirty="0"/>
          </a:p>
        </p:txBody>
      </p:sp>
      <p:sp>
        <p:nvSpPr>
          <p:cNvPr id="12" name="Shape 10"/>
          <p:cNvSpPr/>
          <p:nvPr/>
        </p:nvSpPr>
        <p:spPr>
          <a:xfrm>
            <a:off x="457200" y="1965960"/>
            <a:ext cx="4846320" cy="2514600"/>
          </a:xfrm>
          <a:prstGeom prst="roundRect">
            <a:avLst>
              <a:gd name="adj" fmla="val 2182"/>
            </a:avLst>
          </a:prstGeom>
          <a:solidFill>
            <a:srgbClr val="E9E8EC"/>
          </a:solidFill>
          <a:ln/>
          <a:effectLst>
            <a:outerShdw sx="100000" sy="100000" kx="0" ky="0" algn="bl" rotWithShape="0" blurRad="63500" dist="31750" dir="2700000">
              <a:srgbClr val="8C8C99">
                <a:alpha val="45000"/>
              </a:srgbClr>
            </a:outerShdw>
          </a:effectLst>
        </p:spPr>
      </p:sp>
      <p:sp>
        <p:nvSpPr>
          <p:cNvPr id="13" name="Text 11"/>
          <p:cNvSpPr/>
          <p:nvPr/>
        </p:nvSpPr>
        <p:spPr>
          <a:xfrm>
            <a:off x="640080" y="2057400"/>
            <a:ext cx="4572000" cy="320040"/>
          </a:xfrm>
          <a:prstGeom prst="rect">
            <a:avLst/>
          </a:prstGeom>
          <a:noFill/>
          <a:ln/>
        </p:spPr>
        <p:txBody>
          <a:bodyPr wrap="square" lIns="0" tIns="0" rIns="0" bIns="0" rtlCol="0" anchor="t"/>
          <a:lstStyle/>
          <a:p>
            <a:pPr algn="l" indent="0" marL="0">
              <a:buNone/>
            </a:pPr>
            <a:r>
              <a:rPr lang="en-US" sz="1350" b="1" dirty="0">
                <a:solidFill>
                  <a:srgbClr val="322164"/>
                </a:solidFill>
                <a:latin typeface="Cambria" pitchFamily="34" charset="0"/>
                <a:ea typeface="Cambria" pitchFamily="34" charset="-122"/>
                <a:cs typeface="Cambria" pitchFamily="34" charset="-120"/>
              </a:rPr>
              <a:t>Một bước được tính là đúng khi đồng thời</a:t>
            </a:r>
            <a:endParaRPr lang="en-US" sz="1350" dirty="0"/>
          </a:p>
        </p:txBody>
      </p:sp>
      <p:sp>
        <p:nvSpPr>
          <p:cNvPr id="14" name="Text 12"/>
          <p:cNvSpPr/>
          <p:nvPr/>
        </p:nvSpPr>
        <p:spPr>
          <a:xfrm>
            <a:off x="640080" y="2468880"/>
            <a:ext cx="201168" cy="621792"/>
          </a:xfrm>
          <a:prstGeom prst="rect">
            <a:avLst/>
          </a:prstGeom>
          <a:noFill/>
          <a:ln/>
        </p:spPr>
        <p:txBody>
          <a:bodyPr wrap="square" lIns="0" tIns="0" rIns="0" bIns="0" rtlCol="0" anchor="t"/>
          <a:lstStyle/>
          <a:p>
            <a:pPr algn="l" indent="0" marL="0">
              <a:buNone/>
            </a:pPr>
            <a:r>
              <a:rPr lang="en-US" sz="1250" b="1" dirty="0">
                <a:solidFill>
                  <a:srgbClr val="006666"/>
                </a:solidFill>
                <a:latin typeface="Cambria" pitchFamily="34" charset="0"/>
                <a:ea typeface="Cambria" pitchFamily="34" charset="-122"/>
                <a:cs typeface="Cambria" pitchFamily="34" charset="-120"/>
              </a:rPr>
              <a:t>•</a:t>
            </a:r>
            <a:endParaRPr lang="en-US" sz="1250" dirty="0"/>
          </a:p>
        </p:txBody>
      </p:sp>
      <p:sp>
        <p:nvSpPr>
          <p:cNvPr id="15" name="Text 13"/>
          <p:cNvSpPr/>
          <p:nvPr/>
        </p:nvSpPr>
        <p:spPr>
          <a:xfrm>
            <a:off x="868680" y="2468880"/>
            <a:ext cx="4297680" cy="603504"/>
          </a:xfrm>
          <a:prstGeom prst="rect">
            <a:avLst/>
          </a:prstGeom>
          <a:noFill/>
          <a:ln/>
        </p:spPr>
        <p:txBody>
          <a:bodyPr wrap="square" lIns="0" tIns="0" rIns="0" bIns="0" rtlCol="0" anchor="t"/>
          <a:lstStyle/>
          <a:p>
            <a:pPr algn="l" indent="0" marL="0">
              <a:lnSpc>
                <a:spcPct val="125000"/>
              </a:lnSpc>
              <a:buNone/>
            </a:pPr>
            <a:r>
              <a:rPr lang="en-US" sz="1250" dirty="0">
                <a:solidFill>
                  <a:srgbClr val="1A1A1A"/>
                </a:solidFill>
                <a:latin typeface="Cambria" pitchFamily="34" charset="0"/>
                <a:ea typeface="Cambria" pitchFamily="34" charset="-122"/>
                <a:cs typeface="Cambria" pitchFamily="34" charset="-120"/>
              </a:rPr>
              <a:t>câu gọi đúng loại thao tác (chạm, cuộn, gõ chữ, quay lại...);</a:t>
            </a:r>
            <a:endParaRPr lang="en-US" sz="1250" dirty="0"/>
          </a:p>
        </p:txBody>
      </p:sp>
      <p:sp>
        <p:nvSpPr>
          <p:cNvPr id="16" name="Text 14"/>
          <p:cNvSpPr/>
          <p:nvPr/>
        </p:nvSpPr>
        <p:spPr>
          <a:xfrm>
            <a:off x="640080" y="3090672"/>
            <a:ext cx="201168" cy="621792"/>
          </a:xfrm>
          <a:prstGeom prst="rect">
            <a:avLst/>
          </a:prstGeom>
          <a:noFill/>
          <a:ln/>
        </p:spPr>
        <p:txBody>
          <a:bodyPr wrap="square" lIns="0" tIns="0" rIns="0" bIns="0" rtlCol="0" anchor="t"/>
          <a:lstStyle/>
          <a:p>
            <a:pPr algn="l" indent="0" marL="0">
              <a:buNone/>
            </a:pPr>
            <a:r>
              <a:rPr lang="en-US" sz="1250" b="1" dirty="0">
                <a:solidFill>
                  <a:srgbClr val="006666"/>
                </a:solidFill>
                <a:latin typeface="Cambria" pitchFamily="34" charset="0"/>
                <a:ea typeface="Cambria" pitchFamily="34" charset="-122"/>
                <a:cs typeface="Cambria" pitchFamily="34" charset="-120"/>
              </a:rPr>
              <a:t>•</a:t>
            </a:r>
            <a:endParaRPr lang="en-US" sz="1250" dirty="0"/>
          </a:p>
        </p:txBody>
      </p:sp>
      <p:sp>
        <p:nvSpPr>
          <p:cNvPr id="17" name="Text 15"/>
          <p:cNvSpPr/>
          <p:nvPr/>
        </p:nvSpPr>
        <p:spPr>
          <a:xfrm>
            <a:off x="868680" y="3090672"/>
            <a:ext cx="4297680" cy="603504"/>
          </a:xfrm>
          <a:prstGeom prst="rect">
            <a:avLst/>
          </a:prstGeom>
          <a:noFill/>
          <a:ln/>
        </p:spPr>
        <p:txBody>
          <a:bodyPr wrap="square" lIns="0" tIns="0" rIns="0" bIns="0" rtlCol="0" anchor="t"/>
          <a:lstStyle/>
          <a:p>
            <a:pPr algn="l" indent="0" marL="0">
              <a:lnSpc>
                <a:spcPct val="125000"/>
              </a:lnSpc>
              <a:buNone/>
            </a:pPr>
            <a:r>
              <a:rPr lang="en-US" sz="1250" dirty="0">
                <a:solidFill>
                  <a:srgbClr val="1A1A1A"/>
                </a:solidFill>
                <a:latin typeface="Cambria" pitchFamily="34" charset="0"/>
                <a:ea typeface="Cambria" pitchFamily="34" charset="-122"/>
                <a:cs typeface="Cambria" pitchFamily="34" charset="-120"/>
              </a:rPr>
              <a:t>điểm nằm trong dung sai 0,14 bề rộng và bề cao màn quanh điểm người dùng đã chạm;</a:t>
            </a:r>
            <a:endParaRPr lang="en-US" sz="1250" dirty="0"/>
          </a:p>
        </p:txBody>
      </p:sp>
      <p:sp>
        <p:nvSpPr>
          <p:cNvPr id="18" name="Text 16"/>
          <p:cNvSpPr/>
          <p:nvPr/>
        </p:nvSpPr>
        <p:spPr>
          <a:xfrm>
            <a:off x="640080" y="3712464"/>
            <a:ext cx="201168" cy="621792"/>
          </a:xfrm>
          <a:prstGeom prst="rect">
            <a:avLst/>
          </a:prstGeom>
          <a:noFill/>
          <a:ln/>
        </p:spPr>
        <p:txBody>
          <a:bodyPr wrap="square" lIns="0" tIns="0" rIns="0" bIns="0" rtlCol="0" anchor="t"/>
          <a:lstStyle/>
          <a:p>
            <a:pPr algn="l" indent="0" marL="0">
              <a:buNone/>
            </a:pPr>
            <a:r>
              <a:rPr lang="en-US" sz="1250" b="1" dirty="0">
                <a:solidFill>
                  <a:srgbClr val="006666"/>
                </a:solidFill>
                <a:latin typeface="Cambria" pitchFamily="34" charset="0"/>
                <a:ea typeface="Cambria" pitchFamily="34" charset="-122"/>
                <a:cs typeface="Cambria" pitchFamily="34" charset="-120"/>
              </a:rPr>
              <a:t>•</a:t>
            </a:r>
            <a:endParaRPr lang="en-US" sz="1250" dirty="0"/>
          </a:p>
        </p:txBody>
      </p:sp>
      <p:sp>
        <p:nvSpPr>
          <p:cNvPr id="19" name="Text 17"/>
          <p:cNvSpPr/>
          <p:nvPr/>
        </p:nvSpPr>
        <p:spPr>
          <a:xfrm>
            <a:off x="868680" y="3712464"/>
            <a:ext cx="4297680" cy="603504"/>
          </a:xfrm>
          <a:prstGeom prst="rect">
            <a:avLst/>
          </a:prstGeom>
          <a:noFill/>
          <a:ln/>
        </p:spPr>
        <p:txBody>
          <a:bodyPr wrap="square" lIns="0" tIns="0" rIns="0" bIns="0" rtlCol="0" anchor="t"/>
          <a:lstStyle/>
          <a:p>
            <a:pPr algn="l" indent="0" marL="0">
              <a:lnSpc>
                <a:spcPct val="125000"/>
              </a:lnSpc>
              <a:buNone/>
            </a:pPr>
            <a:r>
              <a:rPr lang="en-US" sz="1250" dirty="0">
                <a:solidFill>
                  <a:srgbClr val="1A1A1A"/>
                </a:solidFill>
                <a:latin typeface="Cambria" pitchFamily="34" charset="0"/>
                <a:ea typeface="Cambria" pitchFamily="34" charset="-122"/>
                <a:cs typeface="Cambria" pitchFamily="34" charset="-120"/>
              </a:rPr>
              <a:t>điểm rơi vào ô Voronoi của điểm chạm, tức gần điểm chạm hơn mọi phần tử bấm được khác trên màn.</a:t>
            </a:r>
            <a:endParaRPr lang="en-US" sz="1250" dirty="0"/>
          </a:p>
        </p:txBody>
      </p:sp>
      <p:sp>
        <p:nvSpPr>
          <p:cNvPr id="20" name="Text 18"/>
          <p:cNvSpPr/>
          <p:nvPr/>
        </p:nvSpPr>
        <p:spPr>
          <a:xfrm>
            <a:off x="457200" y="4663440"/>
            <a:ext cx="4846320" cy="548640"/>
          </a:xfrm>
          <a:prstGeom prst="rect">
            <a:avLst/>
          </a:prstGeom>
          <a:noFill/>
          <a:ln/>
        </p:spPr>
        <p:txBody>
          <a:bodyPr wrap="square" lIns="0" tIns="0" rIns="0" bIns="0" rtlCol="0" anchor="t"/>
          <a:lstStyle/>
          <a:p>
            <a:pPr algn="l" indent="0" marL="0">
              <a:lnSpc>
                <a:spcPct val="120000"/>
              </a:lnSpc>
              <a:buNone/>
            </a:pPr>
            <a:r>
              <a:rPr lang="en-US" sz="1250" dirty="0">
                <a:solidFill>
                  <a:srgbClr val="1A1A1A"/>
                </a:solidFill>
                <a:latin typeface="Cambria" pitchFamily="34" charset="0"/>
                <a:ea typeface="Cambria" pitchFamily="34" charset="-122"/>
                <a:cs typeface="Cambria" pitchFamily="34" charset="-120"/>
              </a:rPr>
              <a:t>Điểm của một hệ thống là tỉ lệ bước đúng trên 4.463 bước chạm của tập kiểm.</a:t>
            </a:r>
            <a:endParaRPr lang="en-US" sz="1250" dirty="0"/>
          </a:p>
        </p:txBody>
      </p:sp>
      <p:sp>
        <p:nvSpPr>
          <p:cNvPr id="21" name="Text 19"/>
          <p:cNvSpPr/>
          <p:nvPr/>
        </p:nvSpPr>
        <p:spPr>
          <a:xfrm>
            <a:off x="457200" y="5257800"/>
            <a:ext cx="4846320" cy="548640"/>
          </a:xfrm>
          <a:prstGeom prst="rect">
            <a:avLst/>
          </a:prstGeom>
          <a:noFill/>
          <a:ln/>
        </p:spPr>
        <p:txBody>
          <a:bodyPr wrap="square" lIns="0" tIns="0" rIns="0" bIns="0" rtlCol="0" anchor="t"/>
          <a:lstStyle/>
          <a:p>
            <a:pPr algn="l" indent="0" marL="0">
              <a:lnSpc>
                <a:spcPct val="120000"/>
              </a:lnSpc>
              <a:buNone/>
            </a:pPr>
            <a:r>
              <a:rPr lang="en-US" sz="1250" i="1" dirty="0">
                <a:solidFill>
                  <a:srgbClr val="5A5A66"/>
                </a:solidFill>
                <a:latin typeface="Cambria" pitchFamily="34" charset="0"/>
                <a:ea typeface="Cambria" pitchFamily="34" charset="-122"/>
                <a:cs typeface="Cambria" pitchFamily="34" charset="-120"/>
              </a:rPr>
              <a:t>Mô hình định vị không nằm trong vòng huấn luyện của bất kỳ nhánh nào.</a:t>
            </a:r>
            <a:endParaRPr lang="en-US" sz="1250" dirty="0"/>
          </a:p>
        </p:txBody>
      </p:sp>
      <p:pic>
        <p:nvPicPr>
          <p:cNvPr id="22" name="Image 0" descr="/mnt/d/Master/Thesis/thesis/figures/fig_voronoi.png">    </p:cNvPr>
          <p:cNvPicPr>
            <a:picLocks noChangeAspect="1"/>
          </p:cNvPicPr>
          <p:nvPr/>
        </p:nvPicPr>
        <p:blipFill>
          <a:blip r:embed="rId1"/>
          <a:stretch>
            <a:fillRect/>
          </a:stretch>
        </p:blipFill>
        <p:spPr>
          <a:xfrm>
            <a:off x="5486400" y="2058247"/>
            <a:ext cx="3200400" cy="2192867"/>
          </a:xfrm>
          <a:prstGeom prst="rect">
            <a:avLst/>
          </a:prstGeom>
        </p:spPr>
      </p:pic>
      <p:sp>
        <p:nvSpPr>
          <p:cNvPr id="23" name="Text 20"/>
          <p:cNvSpPr/>
          <p:nvPr/>
        </p:nvSpPr>
        <p:spPr>
          <a:xfrm>
            <a:off x="5486400" y="4480560"/>
            <a:ext cx="3246120" cy="1097280"/>
          </a:xfrm>
          <a:prstGeom prst="rect">
            <a:avLst/>
          </a:prstGeom>
          <a:noFill/>
          <a:ln/>
        </p:spPr>
        <p:txBody>
          <a:bodyPr wrap="square" lIns="0" tIns="0" rIns="0" bIns="0" rtlCol="0" anchor="t"/>
          <a:lstStyle/>
          <a:p>
            <a:pPr algn="l" indent="0" marL="0">
              <a:lnSpc>
                <a:spcPct val="120000"/>
              </a:lnSpc>
              <a:buNone/>
            </a:pPr>
            <a:r>
              <a:rPr lang="en-US" sz="1050" i="1" dirty="0">
                <a:solidFill>
                  <a:srgbClr val="5A5A66"/>
                </a:solidFill>
                <a:latin typeface="Cambria" pitchFamily="34" charset="0"/>
                <a:ea typeface="Cambria" pitchFamily="34" charset="-122"/>
                <a:cs typeface="Cambria" pitchFamily="34" charset="-120"/>
              </a:rPr>
              <a:t>Màn hình thật trong tập kiểm. Câu của S1 dẫn tới đúng ô Birthday, câu của mô hình gốc dẫn sang ô Gender ngay phía trên.</a:t>
            </a:r>
            <a:endParaRPr lang="en-US" sz="1050" dirty="0"/>
          </a:p>
        </p:txBody>
      </p:sp>
      <p:sp>
        <p:nvSpPr>
          <p:cNvPr id="25" name="Shape 21"/>
          <p:cNvSpPr/>
          <p:nvPr/>
        </p:nvSpPr>
        <p:spPr>
          <a:xfrm>
            <a:off x="0" y="6620256"/>
            <a:ext cx="2743200" cy="237744"/>
          </a:xfrm>
          <a:prstGeom prst="rect">
            <a:avLst/>
          </a:prstGeom>
          <a:solidFill>
            <a:srgbClr val="191132"/>
          </a:solidFill>
          <a:ln/>
        </p:spPr>
      </p:sp>
      <p:sp>
        <p:nvSpPr>
          <p:cNvPr id="26" name="Shape 22"/>
          <p:cNvSpPr/>
          <p:nvPr/>
        </p:nvSpPr>
        <p:spPr>
          <a:xfrm>
            <a:off x="2743200" y="6620256"/>
            <a:ext cx="3383280" cy="237744"/>
          </a:xfrm>
          <a:prstGeom prst="rect">
            <a:avLst/>
          </a:prstGeom>
          <a:solidFill>
            <a:srgbClr val="25194B"/>
          </a:solidFill>
          <a:ln/>
        </p:spPr>
      </p:sp>
      <p:sp>
        <p:nvSpPr>
          <p:cNvPr id="27" name="Shape 23"/>
          <p:cNvSpPr/>
          <p:nvPr/>
        </p:nvSpPr>
        <p:spPr>
          <a:xfrm>
            <a:off x="6126480" y="6620256"/>
            <a:ext cx="1737360" cy="237744"/>
          </a:xfrm>
          <a:prstGeom prst="rect">
            <a:avLst/>
          </a:prstGeom>
          <a:solidFill>
            <a:srgbClr val="4F417A"/>
          </a:solidFill>
          <a:ln/>
        </p:spPr>
      </p:sp>
      <p:sp>
        <p:nvSpPr>
          <p:cNvPr id="28" name="Shape 24"/>
          <p:cNvSpPr/>
          <p:nvPr/>
        </p:nvSpPr>
        <p:spPr>
          <a:xfrm>
            <a:off x="7863840" y="6620256"/>
            <a:ext cx="1280160" cy="237744"/>
          </a:xfrm>
          <a:prstGeom prst="rect">
            <a:avLst/>
          </a:prstGeom>
          <a:solidFill>
            <a:srgbClr val="7A7099"/>
          </a:solidFill>
          <a:ln/>
        </p:spPr>
      </p:sp>
      <p:sp>
        <p:nvSpPr>
          <p:cNvPr id="29" name="Text 25"/>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Luận văn thạc sĩ</a:t>
            </a:r>
            <a:endParaRPr lang="en-US" sz="800" dirty="0"/>
          </a:p>
        </p:txBody>
      </p:sp>
      <p:sp>
        <p:nvSpPr>
          <p:cNvPr id="30" name="Text 26"/>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Phát sinh tự động hướng dẫn sử dụng phần mềm dựa trên LLM</a:t>
            </a:r>
            <a:endParaRPr lang="en-US" sz="800" dirty="0"/>
          </a:p>
        </p:txBody>
      </p:sp>
      <p:sp>
        <p:nvSpPr>
          <p:cNvPr id="31" name="Text 27"/>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32" name="Text 28"/>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5/24</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Kiểm chứng thước trước khi dùng để kết luận</a:t>
            </a:r>
            <a:endParaRPr lang="en-US" sz="1900" dirty="0"/>
          </a:p>
        </p:txBody>
      </p:sp>
      <p:sp>
        <p:nvSpPr>
          <p:cNvPr id="4" name="Text 2"/>
          <p:cNvSpPr/>
          <p:nvPr/>
        </p:nvSpPr>
        <p:spPr>
          <a:xfrm>
            <a:off x="457200" y="713232"/>
            <a:ext cx="6400800" cy="292608"/>
          </a:xfrm>
          <a:prstGeom prst="rect">
            <a:avLst/>
          </a:prstGeom>
          <a:noFill/>
          <a:ln/>
        </p:spPr>
        <p:txBody>
          <a:bodyPr wrap="square" lIns="0" tIns="0" rIns="0" bIns="0" rtlCol="0" anchor="t"/>
          <a:lstStyle/>
          <a:p>
            <a:pPr algn="l" indent="0" marL="0">
              <a:buNone/>
            </a:pPr>
            <a:r>
              <a:rPr lang="en-US" sz="1300" b="1" dirty="0">
                <a:solidFill>
                  <a:srgbClr val="322164"/>
                </a:solidFill>
                <a:latin typeface="Cambria" pitchFamily="34" charset="0"/>
                <a:ea typeface="Cambria" pitchFamily="34" charset="-122"/>
                <a:cs typeface="Cambria" pitchFamily="34" charset="-120"/>
              </a:rPr>
              <a:t>Vị trí các mốc trên thang executability (%)</a:t>
            </a:r>
            <a:endParaRPr lang="en-US" sz="1300" dirty="0"/>
          </a:p>
        </p:txBody>
      </p:sp>
      <p:sp>
        <p:nvSpPr>
          <p:cNvPr id="5" name="Shape 3"/>
          <p:cNvSpPr/>
          <p:nvPr/>
        </p:nvSpPr>
        <p:spPr>
          <a:xfrm>
            <a:off x="1722730" y="1764792"/>
            <a:ext cx="4776277" cy="219456"/>
          </a:xfrm>
          <a:prstGeom prst="rect">
            <a:avLst/>
          </a:prstGeom>
          <a:solidFill>
            <a:srgbClr val="DCD6EA"/>
          </a:solidFill>
          <a:ln/>
        </p:spPr>
      </p:sp>
      <p:sp>
        <p:nvSpPr>
          <p:cNvPr id="6" name="Shape 4"/>
          <p:cNvSpPr/>
          <p:nvPr/>
        </p:nvSpPr>
        <p:spPr>
          <a:xfrm>
            <a:off x="822960" y="1874520"/>
            <a:ext cx="7498080" cy="0"/>
          </a:xfrm>
          <a:prstGeom prst="line">
            <a:avLst/>
          </a:prstGeom>
          <a:noFill/>
          <a:ln w="25400">
            <a:solidFill>
              <a:srgbClr val="6E6890"/>
            </a:solidFill>
            <a:prstDash val="solid"/>
          </a:ln>
        </p:spPr>
      </p:sp>
      <p:sp>
        <p:nvSpPr>
          <p:cNvPr id="7" name="Shape 5"/>
          <p:cNvSpPr/>
          <p:nvPr/>
        </p:nvSpPr>
        <p:spPr>
          <a:xfrm>
            <a:off x="822960" y="1801368"/>
            <a:ext cx="0" cy="146304"/>
          </a:xfrm>
          <a:prstGeom prst="line">
            <a:avLst/>
          </a:prstGeom>
          <a:noFill/>
          <a:ln w="15240">
            <a:solidFill>
              <a:srgbClr val="6E6890"/>
            </a:solidFill>
            <a:prstDash val="solid"/>
          </a:ln>
        </p:spPr>
      </p:sp>
      <p:sp>
        <p:nvSpPr>
          <p:cNvPr id="8" name="Text 6"/>
          <p:cNvSpPr/>
          <p:nvPr/>
        </p:nvSpPr>
        <p:spPr>
          <a:xfrm>
            <a:off x="548640" y="1965960"/>
            <a:ext cx="548640" cy="228600"/>
          </a:xfrm>
          <a:prstGeom prst="rect">
            <a:avLst/>
          </a:prstGeom>
          <a:noFill/>
          <a:ln/>
        </p:spPr>
        <p:txBody>
          <a:bodyPr wrap="square" lIns="0" tIns="0" rIns="0" bIns="0" rtlCol="0" anchor="t"/>
          <a:lstStyle/>
          <a:p>
            <a:pPr algn="ctr" indent="0" marL="0">
              <a:buNone/>
            </a:pPr>
            <a:r>
              <a:rPr lang="en-US" sz="950" dirty="0">
                <a:solidFill>
                  <a:srgbClr val="5A5A66"/>
                </a:solidFill>
                <a:latin typeface="Cambria" pitchFamily="34" charset="0"/>
                <a:ea typeface="Cambria" pitchFamily="34" charset="-122"/>
                <a:cs typeface="Cambria" pitchFamily="34" charset="-120"/>
              </a:rPr>
              <a:t>0</a:t>
            </a:r>
            <a:endParaRPr lang="en-US" sz="950" dirty="0"/>
          </a:p>
        </p:txBody>
      </p:sp>
      <p:sp>
        <p:nvSpPr>
          <p:cNvPr id="9" name="Shape 7"/>
          <p:cNvSpPr/>
          <p:nvPr/>
        </p:nvSpPr>
        <p:spPr>
          <a:xfrm>
            <a:off x="2697480" y="1801368"/>
            <a:ext cx="0" cy="146304"/>
          </a:xfrm>
          <a:prstGeom prst="line">
            <a:avLst/>
          </a:prstGeom>
          <a:noFill/>
          <a:ln w="15240">
            <a:solidFill>
              <a:srgbClr val="6E6890"/>
            </a:solidFill>
            <a:prstDash val="solid"/>
          </a:ln>
        </p:spPr>
      </p:sp>
      <p:sp>
        <p:nvSpPr>
          <p:cNvPr id="10" name="Text 8"/>
          <p:cNvSpPr/>
          <p:nvPr/>
        </p:nvSpPr>
        <p:spPr>
          <a:xfrm>
            <a:off x="2423160" y="1965960"/>
            <a:ext cx="548640" cy="228600"/>
          </a:xfrm>
          <a:prstGeom prst="rect">
            <a:avLst/>
          </a:prstGeom>
          <a:noFill/>
          <a:ln/>
        </p:spPr>
        <p:txBody>
          <a:bodyPr wrap="square" lIns="0" tIns="0" rIns="0" bIns="0" rtlCol="0" anchor="t"/>
          <a:lstStyle/>
          <a:p>
            <a:pPr algn="ctr" indent="0" marL="0">
              <a:buNone/>
            </a:pPr>
            <a:r>
              <a:rPr lang="en-US" sz="950" dirty="0">
                <a:solidFill>
                  <a:srgbClr val="5A5A66"/>
                </a:solidFill>
                <a:latin typeface="Cambria" pitchFamily="34" charset="0"/>
                <a:ea typeface="Cambria" pitchFamily="34" charset="-122"/>
                <a:cs typeface="Cambria" pitchFamily="34" charset="-120"/>
              </a:rPr>
              <a:t>25</a:t>
            </a:r>
            <a:endParaRPr lang="en-US" sz="950" dirty="0"/>
          </a:p>
        </p:txBody>
      </p:sp>
      <p:sp>
        <p:nvSpPr>
          <p:cNvPr id="11" name="Shape 9"/>
          <p:cNvSpPr/>
          <p:nvPr/>
        </p:nvSpPr>
        <p:spPr>
          <a:xfrm>
            <a:off x="4572000" y="1801368"/>
            <a:ext cx="0" cy="146304"/>
          </a:xfrm>
          <a:prstGeom prst="line">
            <a:avLst/>
          </a:prstGeom>
          <a:noFill/>
          <a:ln w="15240">
            <a:solidFill>
              <a:srgbClr val="6E6890"/>
            </a:solidFill>
            <a:prstDash val="solid"/>
          </a:ln>
        </p:spPr>
      </p:sp>
      <p:sp>
        <p:nvSpPr>
          <p:cNvPr id="12" name="Text 10"/>
          <p:cNvSpPr/>
          <p:nvPr/>
        </p:nvSpPr>
        <p:spPr>
          <a:xfrm>
            <a:off x="4297680" y="1965960"/>
            <a:ext cx="548640" cy="228600"/>
          </a:xfrm>
          <a:prstGeom prst="rect">
            <a:avLst/>
          </a:prstGeom>
          <a:noFill/>
          <a:ln/>
        </p:spPr>
        <p:txBody>
          <a:bodyPr wrap="square" lIns="0" tIns="0" rIns="0" bIns="0" rtlCol="0" anchor="t"/>
          <a:lstStyle/>
          <a:p>
            <a:pPr algn="ctr" indent="0" marL="0">
              <a:buNone/>
            </a:pPr>
            <a:r>
              <a:rPr lang="en-US" sz="950" dirty="0">
                <a:solidFill>
                  <a:srgbClr val="5A5A66"/>
                </a:solidFill>
                <a:latin typeface="Cambria" pitchFamily="34" charset="0"/>
                <a:ea typeface="Cambria" pitchFamily="34" charset="-122"/>
                <a:cs typeface="Cambria" pitchFamily="34" charset="-120"/>
              </a:rPr>
              <a:t>50</a:t>
            </a:r>
            <a:endParaRPr lang="en-US" sz="950" dirty="0"/>
          </a:p>
        </p:txBody>
      </p:sp>
      <p:sp>
        <p:nvSpPr>
          <p:cNvPr id="13" name="Shape 11"/>
          <p:cNvSpPr/>
          <p:nvPr/>
        </p:nvSpPr>
        <p:spPr>
          <a:xfrm>
            <a:off x="6446520" y="1801368"/>
            <a:ext cx="0" cy="146304"/>
          </a:xfrm>
          <a:prstGeom prst="line">
            <a:avLst/>
          </a:prstGeom>
          <a:noFill/>
          <a:ln w="15240">
            <a:solidFill>
              <a:srgbClr val="6E6890"/>
            </a:solidFill>
            <a:prstDash val="solid"/>
          </a:ln>
        </p:spPr>
      </p:sp>
      <p:sp>
        <p:nvSpPr>
          <p:cNvPr id="14" name="Text 12"/>
          <p:cNvSpPr/>
          <p:nvPr/>
        </p:nvSpPr>
        <p:spPr>
          <a:xfrm>
            <a:off x="6172200" y="1965960"/>
            <a:ext cx="548640" cy="228600"/>
          </a:xfrm>
          <a:prstGeom prst="rect">
            <a:avLst/>
          </a:prstGeom>
          <a:noFill/>
          <a:ln/>
        </p:spPr>
        <p:txBody>
          <a:bodyPr wrap="square" lIns="0" tIns="0" rIns="0" bIns="0" rtlCol="0" anchor="t"/>
          <a:lstStyle/>
          <a:p>
            <a:pPr algn="ctr" indent="0" marL="0">
              <a:buNone/>
            </a:pPr>
            <a:r>
              <a:rPr lang="en-US" sz="950" dirty="0">
                <a:solidFill>
                  <a:srgbClr val="5A5A66"/>
                </a:solidFill>
                <a:latin typeface="Cambria" pitchFamily="34" charset="0"/>
                <a:ea typeface="Cambria" pitchFamily="34" charset="-122"/>
                <a:cs typeface="Cambria" pitchFamily="34" charset="-120"/>
              </a:rPr>
              <a:t>75</a:t>
            </a:r>
            <a:endParaRPr lang="en-US" sz="950" dirty="0"/>
          </a:p>
        </p:txBody>
      </p:sp>
      <p:sp>
        <p:nvSpPr>
          <p:cNvPr id="15" name="Shape 13"/>
          <p:cNvSpPr/>
          <p:nvPr/>
        </p:nvSpPr>
        <p:spPr>
          <a:xfrm>
            <a:off x="8321040" y="1801368"/>
            <a:ext cx="0" cy="146304"/>
          </a:xfrm>
          <a:prstGeom prst="line">
            <a:avLst/>
          </a:prstGeom>
          <a:noFill/>
          <a:ln w="15240">
            <a:solidFill>
              <a:srgbClr val="6E6890"/>
            </a:solidFill>
            <a:prstDash val="solid"/>
          </a:ln>
        </p:spPr>
      </p:sp>
      <p:sp>
        <p:nvSpPr>
          <p:cNvPr id="16" name="Text 14"/>
          <p:cNvSpPr/>
          <p:nvPr/>
        </p:nvSpPr>
        <p:spPr>
          <a:xfrm>
            <a:off x="8046720" y="1965960"/>
            <a:ext cx="548640" cy="228600"/>
          </a:xfrm>
          <a:prstGeom prst="rect">
            <a:avLst/>
          </a:prstGeom>
          <a:noFill/>
          <a:ln/>
        </p:spPr>
        <p:txBody>
          <a:bodyPr wrap="square" lIns="0" tIns="0" rIns="0" bIns="0" rtlCol="0" anchor="t"/>
          <a:lstStyle/>
          <a:p>
            <a:pPr algn="ctr" indent="0" marL="0">
              <a:buNone/>
            </a:pPr>
            <a:r>
              <a:rPr lang="en-US" sz="950" dirty="0">
                <a:solidFill>
                  <a:srgbClr val="5A5A66"/>
                </a:solidFill>
                <a:latin typeface="Cambria" pitchFamily="34" charset="0"/>
                <a:ea typeface="Cambria" pitchFamily="34" charset="-122"/>
                <a:cs typeface="Cambria" pitchFamily="34" charset="-120"/>
              </a:rPr>
              <a:t>100</a:t>
            </a:r>
            <a:endParaRPr lang="en-US" sz="950" dirty="0"/>
          </a:p>
        </p:txBody>
      </p:sp>
      <p:sp>
        <p:nvSpPr>
          <p:cNvPr id="17" name="Shape 15"/>
          <p:cNvSpPr/>
          <p:nvPr/>
        </p:nvSpPr>
        <p:spPr>
          <a:xfrm>
            <a:off x="1225479" y="1819656"/>
            <a:ext cx="109728" cy="109728"/>
          </a:xfrm>
          <a:prstGeom prst="rect">
            <a:avLst/>
          </a:prstGeom>
          <a:solidFill>
            <a:srgbClr val="B22222"/>
          </a:solidFill>
          <a:ln/>
        </p:spPr>
      </p:sp>
      <p:sp>
        <p:nvSpPr>
          <p:cNvPr id="18" name="Shape 16"/>
          <p:cNvSpPr/>
          <p:nvPr/>
        </p:nvSpPr>
        <p:spPr>
          <a:xfrm>
            <a:off x="1280343" y="1399032"/>
            <a:ext cx="0" cy="420624"/>
          </a:xfrm>
          <a:prstGeom prst="line">
            <a:avLst/>
          </a:prstGeom>
          <a:noFill/>
          <a:ln w="12700">
            <a:solidFill>
              <a:srgbClr val="B22222"/>
            </a:solidFill>
            <a:prstDash val="solid"/>
          </a:ln>
        </p:spPr>
      </p:sp>
      <p:sp>
        <p:nvSpPr>
          <p:cNvPr id="19" name="Text 17"/>
          <p:cNvSpPr/>
          <p:nvPr/>
        </p:nvSpPr>
        <p:spPr>
          <a:xfrm>
            <a:off x="594543" y="960120"/>
            <a:ext cx="1371600" cy="438912"/>
          </a:xfrm>
          <a:prstGeom prst="rect">
            <a:avLst/>
          </a:prstGeom>
          <a:noFill/>
          <a:ln/>
        </p:spPr>
        <p:txBody>
          <a:bodyPr wrap="square" lIns="0" tIns="0" rIns="0" bIns="0" rtlCol="0" anchor="b"/>
          <a:lstStyle/>
          <a:p>
            <a:pPr algn="ctr" indent="0" marL="0">
              <a:lnSpc>
                <a:spcPct val="105000"/>
              </a:lnSpc>
              <a:buNone/>
            </a:pPr>
            <a:r>
              <a:rPr lang="en-US" sz="950" b="1" dirty="0">
                <a:solidFill>
                  <a:srgbClr val="B22222"/>
                </a:solidFill>
                <a:latin typeface="Cambria" pitchFamily="34" charset="0"/>
                <a:ea typeface="Cambria" pitchFamily="34" charset="-122"/>
                <a:cs typeface="Cambria" pitchFamily="34" charset="-120"/>
              </a:rPr>
              <a:t>câu của</a:t>
            </a:r>
            <a:endParaRPr lang="en-US" sz="950" dirty="0"/>
          </a:p>
          <a:p>
            <a:pPr algn="ctr" indent="0" marL="0">
              <a:lnSpc>
                <a:spcPct val="105000"/>
              </a:lnSpc>
              <a:buNone/>
            </a:pPr>
            <a:r>
              <a:rPr lang="en-US" sz="950" b="1" dirty="0">
                <a:solidFill>
                  <a:srgbClr val="B22222"/>
                </a:solidFill>
                <a:latin typeface="Cambria" pitchFamily="34" charset="0"/>
                <a:ea typeface="Cambria" pitchFamily="34" charset="-122"/>
                <a:cs typeface="Cambria" pitchFamily="34" charset="-120"/>
              </a:rPr>
              <a:t>màn khác 6,1</a:t>
            </a:r>
            <a:endParaRPr lang="en-US" sz="950" dirty="0"/>
          </a:p>
        </p:txBody>
      </p:sp>
      <p:sp>
        <p:nvSpPr>
          <p:cNvPr id="20" name="Shape 18"/>
          <p:cNvSpPr/>
          <p:nvPr/>
        </p:nvSpPr>
        <p:spPr>
          <a:xfrm>
            <a:off x="1667866" y="1819656"/>
            <a:ext cx="109728" cy="109728"/>
          </a:xfrm>
          <a:prstGeom prst="rect">
            <a:avLst/>
          </a:prstGeom>
          <a:solidFill>
            <a:srgbClr val="B22222"/>
          </a:solidFill>
          <a:ln/>
        </p:spPr>
      </p:sp>
      <p:sp>
        <p:nvSpPr>
          <p:cNvPr id="21" name="Shape 19"/>
          <p:cNvSpPr/>
          <p:nvPr/>
        </p:nvSpPr>
        <p:spPr>
          <a:xfrm>
            <a:off x="1722730" y="2203704"/>
            <a:ext cx="0" cy="274320"/>
          </a:xfrm>
          <a:prstGeom prst="line">
            <a:avLst/>
          </a:prstGeom>
          <a:noFill/>
          <a:ln w="12700">
            <a:solidFill>
              <a:srgbClr val="B22222"/>
            </a:solidFill>
            <a:prstDash val="solid"/>
          </a:ln>
        </p:spPr>
      </p:sp>
      <p:sp>
        <p:nvSpPr>
          <p:cNvPr id="22" name="Text 20"/>
          <p:cNvSpPr/>
          <p:nvPr/>
        </p:nvSpPr>
        <p:spPr>
          <a:xfrm>
            <a:off x="1036930" y="2478024"/>
            <a:ext cx="1371600" cy="438912"/>
          </a:xfrm>
          <a:prstGeom prst="rect">
            <a:avLst/>
          </a:prstGeom>
          <a:noFill/>
          <a:ln/>
        </p:spPr>
        <p:txBody>
          <a:bodyPr wrap="square" lIns="0" tIns="0" rIns="0" bIns="0" rtlCol="0" anchor="t"/>
          <a:lstStyle/>
          <a:p>
            <a:pPr algn="ctr" indent="0" marL="0">
              <a:lnSpc>
                <a:spcPct val="105000"/>
              </a:lnSpc>
              <a:buNone/>
            </a:pPr>
            <a:r>
              <a:rPr lang="en-US" sz="950" b="1" dirty="0">
                <a:solidFill>
                  <a:srgbClr val="B22222"/>
                </a:solidFill>
                <a:latin typeface="Cambria" pitchFamily="34" charset="0"/>
                <a:ea typeface="Cambria" pitchFamily="34" charset="-122"/>
                <a:cs typeface="Cambria" pitchFamily="34" charset="-120"/>
              </a:rPr>
              <a:t>câu chung</a:t>
            </a:r>
            <a:endParaRPr lang="en-US" sz="950" dirty="0"/>
          </a:p>
          <a:p>
            <a:pPr algn="ctr" indent="0" marL="0">
              <a:lnSpc>
                <a:spcPct val="105000"/>
              </a:lnSpc>
              <a:buNone/>
            </a:pPr>
            <a:r>
              <a:rPr lang="en-US" sz="950" b="1" dirty="0">
                <a:solidFill>
                  <a:srgbClr val="B22222"/>
                </a:solidFill>
                <a:latin typeface="Cambria" pitchFamily="34" charset="0"/>
                <a:ea typeface="Cambria" pitchFamily="34" charset="-122"/>
                <a:cs typeface="Cambria" pitchFamily="34" charset="-120"/>
              </a:rPr>
              <a:t>chung 12,0</a:t>
            </a:r>
            <a:endParaRPr lang="en-US" sz="950" dirty="0"/>
          </a:p>
        </p:txBody>
      </p:sp>
      <p:sp>
        <p:nvSpPr>
          <p:cNvPr id="23" name="Shape 21"/>
          <p:cNvSpPr/>
          <p:nvPr/>
        </p:nvSpPr>
        <p:spPr>
          <a:xfrm>
            <a:off x="4337182" y="1819656"/>
            <a:ext cx="109728" cy="109728"/>
          </a:xfrm>
          <a:prstGeom prst="rect">
            <a:avLst/>
          </a:prstGeom>
          <a:solidFill>
            <a:srgbClr val="5A5A66"/>
          </a:solidFill>
          <a:ln/>
        </p:spPr>
      </p:sp>
      <p:sp>
        <p:nvSpPr>
          <p:cNvPr id="24" name="Shape 22"/>
          <p:cNvSpPr/>
          <p:nvPr/>
        </p:nvSpPr>
        <p:spPr>
          <a:xfrm>
            <a:off x="4392046" y="1399032"/>
            <a:ext cx="0" cy="420624"/>
          </a:xfrm>
          <a:prstGeom prst="line">
            <a:avLst/>
          </a:prstGeom>
          <a:noFill/>
          <a:ln w="12700">
            <a:solidFill>
              <a:srgbClr val="5A5A66"/>
            </a:solidFill>
            <a:prstDash val="solid"/>
          </a:ln>
        </p:spPr>
      </p:sp>
      <p:sp>
        <p:nvSpPr>
          <p:cNvPr id="25" name="Text 23"/>
          <p:cNvSpPr/>
          <p:nvPr/>
        </p:nvSpPr>
        <p:spPr>
          <a:xfrm>
            <a:off x="3706246" y="960120"/>
            <a:ext cx="1371600" cy="438912"/>
          </a:xfrm>
          <a:prstGeom prst="rect">
            <a:avLst/>
          </a:prstGeom>
          <a:noFill/>
          <a:ln/>
        </p:spPr>
        <p:txBody>
          <a:bodyPr wrap="square" lIns="0" tIns="0" rIns="0" bIns="0" rtlCol="0" anchor="b"/>
          <a:lstStyle/>
          <a:p>
            <a:pPr algn="ctr" indent="0" marL="0">
              <a:lnSpc>
                <a:spcPct val="105000"/>
              </a:lnSpc>
              <a:buNone/>
            </a:pPr>
            <a:r>
              <a:rPr lang="en-US" sz="950" b="1" dirty="0">
                <a:solidFill>
                  <a:srgbClr val="5A5A66"/>
                </a:solidFill>
                <a:latin typeface="Cambria" pitchFamily="34" charset="0"/>
                <a:ea typeface="Cambria" pitchFamily="34" charset="-122"/>
                <a:cs typeface="Cambria" pitchFamily="34" charset="-120"/>
              </a:rPr>
              <a:t>Base 47,6</a:t>
            </a:r>
            <a:endParaRPr lang="en-US" sz="950" dirty="0"/>
          </a:p>
        </p:txBody>
      </p:sp>
      <p:sp>
        <p:nvSpPr>
          <p:cNvPr id="26" name="Shape 24"/>
          <p:cNvSpPr/>
          <p:nvPr/>
        </p:nvSpPr>
        <p:spPr>
          <a:xfrm>
            <a:off x="5199461" y="1819656"/>
            <a:ext cx="109728" cy="109728"/>
          </a:xfrm>
          <a:prstGeom prst="rect">
            <a:avLst/>
          </a:prstGeom>
          <a:solidFill>
            <a:srgbClr val="006666"/>
          </a:solidFill>
          <a:ln/>
        </p:spPr>
      </p:sp>
      <p:sp>
        <p:nvSpPr>
          <p:cNvPr id="27" name="Shape 25"/>
          <p:cNvSpPr/>
          <p:nvPr/>
        </p:nvSpPr>
        <p:spPr>
          <a:xfrm>
            <a:off x="5254325" y="2203704"/>
            <a:ext cx="0" cy="274320"/>
          </a:xfrm>
          <a:prstGeom prst="line">
            <a:avLst/>
          </a:prstGeom>
          <a:noFill/>
          <a:ln w="12700">
            <a:solidFill>
              <a:srgbClr val="006666"/>
            </a:solidFill>
            <a:prstDash val="solid"/>
          </a:ln>
        </p:spPr>
      </p:sp>
      <p:sp>
        <p:nvSpPr>
          <p:cNvPr id="28" name="Text 26"/>
          <p:cNvSpPr/>
          <p:nvPr/>
        </p:nvSpPr>
        <p:spPr>
          <a:xfrm>
            <a:off x="4568525" y="2478024"/>
            <a:ext cx="1371600" cy="438912"/>
          </a:xfrm>
          <a:prstGeom prst="rect">
            <a:avLst/>
          </a:prstGeom>
          <a:noFill/>
          <a:ln/>
        </p:spPr>
        <p:txBody>
          <a:bodyPr wrap="square" lIns="0" tIns="0" rIns="0" bIns="0" rtlCol="0" anchor="t"/>
          <a:lstStyle/>
          <a:p>
            <a:pPr algn="ctr" indent="0" marL="0">
              <a:lnSpc>
                <a:spcPct val="105000"/>
              </a:lnSpc>
              <a:buNone/>
            </a:pPr>
            <a:r>
              <a:rPr lang="en-US" sz="950" b="1" dirty="0">
                <a:solidFill>
                  <a:srgbClr val="006666"/>
                </a:solidFill>
                <a:latin typeface="Cambria" pitchFamily="34" charset="0"/>
                <a:ea typeface="Cambria" pitchFamily="34" charset="-122"/>
                <a:cs typeface="Cambria" pitchFamily="34" charset="-120"/>
              </a:rPr>
              <a:t>S1 59,1</a:t>
            </a:r>
            <a:endParaRPr lang="en-US" sz="950" dirty="0"/>
          </a:p>
        </p:txBody>
      </p:sp>
      <p:sp>
        <p:nvSpPr>
          <p:cNvPr id="29" name="Shape 27"/>
          <p:cNvSpPr/>
          <p:nvPr/>
        </p:nvSpPr>
        <p:spPr>
          <a:xfrm>
            <a:off x="5311932" y="1819656"/>
            <a:ext cx="109728" cy="109728"/>
          </a:xfrm>
          <a:prstGeom prst="rect">
            <a:avLst/>
          </a:prstGeom>
          <a:solidFill>
            <a:srgbClr val="322164"/>
          </a:solidFill>
          <a:ln/>
        </p:spPr>
      </p:sp>
      <p:sp>
        <p:nvSpPr>
          <p:cNvPr id="30" name="Shape 28"/>
          <p:cNvSpPr/>
          <p:nvPr/>
        </p:nvSpPr>
        <p:spPr>
          <a:xfrm>
            <a:off x="5366796" y="1399032"/>
            <a:ext cx="0" cy="420624"/>
          </a:xfrm>
          <a:prstGeom prst="line">
            <a:avLst/>
          </a:prstGeom>
          <a:noFill/>
          <a:ln w="12700">
            <a:solidFill>
              <a:srgbClr val="322164"/>
            </a:solidFill>
            <a:prstDash val="solid"/>
          </a:ln>
        </p:spPr>
      </p:sp>
      <p:sp>
        <p:nvSpPr>
          <p:cNvPr id="31" name="Text 29"/>
          <p:cNvSpPr/>
          <p:nvPr/>
        </p:nvSpPr>
        <p:spPr>
          <a:xfrm>
            <a:off x="4680996" y="960120"/>
            <a:ext cx="1371600" cy="438912"/>
          </a:xfrm>
          <a:prstGeom prst="rect">
            <a:avLst/>
          </a:prstGeom>
          <a:noFill/>
          <a:ln/>
        </p:spPr>
        <p:txBody>
          <a:bodyPr wrap="square" lIns="0" tIns="0" rIns="0" bIns="0" rtlCol="0" anchor="b"/>
          <a:lstStyle/>
          <a:p>
            <a:pPr algn="ctr" indent="0" marL="0">
              <a:lnSpc>
                <a:spcPct val="105000"/>
              </a:lnSpc>
              <a:buNone/>
            </a:pPr>
            <a:r>
              <a:rPr lang="en-US" sz="950" b="1" dirty="0">
                <a:solidFill>
                  <a:srgbClr val="322164"/>
                </a:solidFill>
                <a:latin typeface="Cambria" pitchFamily="34" charset="0"/>
                <a:ea typeface="Cambria" pitchFamily="34" charset="-122"/>
                <a:cs typeface="Cambria" pitchFamily="34" charset="-120"/>
              </a:rPr>
              <a:t>đề xuất 60,6</a:t>
            </a:r>
            <a:endParaRPr lang="en-US" sz="950" dirty="0"/>
          </a:p>
        </p:txBody>
      </p:sp>
      <p:sp>
        <p:nvSpPr>
          <p:cNvPr id="32" name="Shape 30"/>
          <p:cNvSpPr/>
          <p:nvPr/>
        </p:nvSpPr>
        <p:spPr>
          <a:xfrm>
            <a:off x="6444143" y="1819656"/>
            <a:ext cx="109728" cy="109728"/>
          </a:xfrm>
          <a:prstGeom prst="rect">
            <a:avLst/>
          </a:prstGeom>
          <a:solidFill>
            <a:srgbClr val="1B8A5A"/>
          </a:solidFill>
          <a:ln/>
        </p:spPr>
      </p:sp>
      <p:sp>
        <p:nvSpPr>
          <p:cNvPr id="33" name="Shape 31"/>
          <p:cNvSpPr/>
          <p:nvPr/>
        </p:nvSpPr>
        <p:spPr>
          <a:xfrm>
            <a:off x="6499007" y="2203704"/>
            <a:ext cx="0" cy="274320"/>
          </a:xfrm>
          <a:prstGeom prst="line">
            <a:avLst/>
          </a:prstGeom>
          <a:noFill/>
          <a:ln w="12700">
            <a:solidFill>
              <a:srgbClr val="1B8A5A"/>
            </a:solidFill>
            <a:prstDash val="solid"/>
          </a:ln>
        </p:spPr>
      </p:sp>
      <p:sp>
        <p:nvSpPr>
          <p:cNvPr id="34" name="Text 32"/>
          <p:cNvSpPr/>
          <p:nvPr/>
        </p:nvSpPr>
        <p:spPr>
          <a:xfrm>
            <a:off x="5813207" y="2478024"/>
            <a:ext cx="1371600" cy="438912"/>
          </a:xfrm>
          <a:prstGeom prst="rect">
            <a:avLst/>
          </a:prstGeom>
          <a:noFill/>
          <a:ln/>
        </p:spPr>
        <p:txBody>
          <a:bodyPr wrap="square" lIns="0" tIns="0" rIns="0" bIns="0" rtlCol="0" anchor="t"/>
          <a:lstStyle/>
          <a:p>
            <a:pPr algn="ctr" indent="0" marL="0">
              <a:lnSpc>
                <a:spcPct val="105000"/>
              </a:lnSpc>
              <a:buNone/>
            </a:pPr>
            <a:r>
              <a:rPr lang="en-US" sz="950" b="1" dirty="0">
                <a:solidFill>
                  <a:srgbClr val="1B8A5A"/>
                </a:solidFill>
                <a:latin typeface="Cambria" pitchFamily="34" charset="0"/>
                <a:ea typeface="Cambria" pitchFamily="34" charset="-122"/>
                <a:cs typeface="Cambria" pitchFamily="34" charset="-120"/>
              </a:rPr>
              <a:t>câu chuẩn</a:t>
            </a:r>
            <a:endParaRPr lang="en-US" sz="950" dirty="0"/>
          </a:p>
          <a:p>
            <a:pPr algn="ctr" indent="0" marL="0">
              <a:lnSpc>
                <a:spcPct val="105000"/>
              </a:lnSpc>
              <a:buNone/>
            </a:pPr>
            <a:r>
              <a:rPr lang="en-US" sz="950" b="1" dirty="0">
                <a:solidFill>
                  <a:srgbClr val="1B8A5A"/>
                </a:solidFill>
                <a:latin typeface="Cambria" pitchFamily="34" charset="0"/>
                <a:ea typeface="Cambria" pitchFamily="34" charset="-122"/>
                <a:cs typeface="Cambria" pitchFamily="34" charset="-120"/>
              </a:rPr>
              <a:t>(trần) 75,7</a:t>
            </a:r>
            <a:endParaRPr lang="en-US" sz="950" dirty="0"/>
          </a:p>
        </p:txBody>
      </p:sp>
      <p:sp>
        <p:nvSpPr>
          <p:cNvPr id="35" name="Shape 33"/>
          <p:cNvSpPr/>
          <p:nvPr/>
        </p:nvSpPr>
        <p:spPr>
          <a:xfrm>
            <a:off x="457200" y="3063240"/>
            <a:ext cx="4069080" cy="1078992"/>
          </a:xfrm>
          <a:prstGeom prst="roundRect">
            <a:avLst>
              <a:gd name="adj" fmla="val 5085"/>
            </a:avLst>
          </a:prstGeom>
          <a:solidFill>
            <a:srgbClr val="E9E8EC"/>
          </a:solidFill>
          <a:ln/>
          <a:effectLst>
            <a:outerShdw sx="100000" sy="100000" kx="0" ky="0" algn="bl" rotWithShape="0" blurRad="63500" dist="31750" dir="2700000">
              <a:srgbClr val="8C8C99">
                <a:alpha val="45000"/>
              </a:srgbClr>
            </a:outerShdw>
          </a:effectLst>
        </p:spPr>
      </p:sp>
      <p:sp>
        <p:nvSpPr>
          <p:cNvPr id="36" name="Text 34"/>
          <p:cNvSpPr/>
          <p:nvPr/>
        </p:nvSpPr>
        <p:spPr>
          <a:xfrm>
            <a:off x="594360" y="3136392"/>
            <a:ext cx="3794760" cy="365760"/>
          </a:xfrm>
          <a:prstGeom prst="rect">
            <a:avLst/>
          </a:prstGeom>
          <a:noFill/>
          <a:ln/>
        </p:spPr>
        <p:txBody>
          <a:bodyPr wrap="square" lIns="0" tIns="0" rIns="0" bIns="0" rtlCol="0" anchor="t"/>
          <a:lstStyle/>
          <a:p>
            <a:pPr algn="l" indent="0" marL="0">
              <a:buNone/>
            </a:pPr>
            <a:r>
              <a:rPr lang="en-US" sz="1700" b="1" dirty="0">
                <a:solidFill>
                  <a:srgbClr val="322164"/>
                </a:solidFill>
                <a:latin typeface="Cambria" pitchFamily="34" charset="0"/>
                <a:ea typeface="Cambria" pitchFamily="34" charset="-122"/>
                <a:cs typeface="Cambria" pitchFamily="34" charset="-120"/>
              </a:rPr>
              <a:t>0,7%</a:t>
            </a:r>
            <a:endParaRPr lang="en-US" sz="1700" dirty="0"/>
          </a:p>
        </p:txBody>
      </p:sp>
      <p:sp>
        <p:nvSpPr>
          <p:cNvPr id="37" name="Text 35"/>
          <p:cNvSpPr/>
          <p:nvPr/>
        </p:nvSpPr>
        <p:spPr>
          <a:xfrm>
            <a:off x="594360" y="3502152"/>
            <a:ext cx="3840480" cy="621792"/>
          </a:xfrm>
          <a:prstGeom prst="rect">
            <a:avLst/>
          </a:prstGeom>
          <a:noFill/>
          <a:ln/>
        </p:spPr>
        <p:txBody>
          <a:bodyPr wrap="square" lIns="0" tIns="0" rIns="0" bIns="0" rtlCol="0" anchor="t"/>
          <a:lstStyle/>
          <a:p>
            <a:pPr algn="l" indent="0" marL="0">
              <a:lnSpc>
                <a:spcPct val="115000"/>
              </a:lnSpc>
              <a:buNone/>
            </a:pPr>
            <a:r>
              <a:rPr lang="en-US" sz="1100" dirty="0">
                <a:solidFill>
                  <a:srgbClr val="1A1A1A"/>
                </a:solidFill>
                <a:latin typeface="Cambria" pitchFamily="34" charset="0"/>
                <a:ea typeface="Cambria" pitchFamily="34" charset="-122"/>
                <a:cs typeface="Cambria" pitchFamily="34" charset="-120"/>
              </a:rPr>
              <a:t>sai số trung vị của mô hình định vị, trong khi phần tử gần nhất thường cách xa hơn 3% bề ngang</a:t>
            </a:r>
            <a:endParaRPr lang="en-US" sz="1100" dirty="0"/>
          </a:p>
        </p:txBody>
      </p:sp>
      <p:sp>
        <p:nvSpPr>
          <p:cNvPr id="38" name="Shape 36"/>
          <p:cNvSpPr/>
          <p:nvPr/>
        </p:nvSpPr>
        <p:spPr>
          <a:xfrm>
            <a:off x="4617720" y="3063240"/>
            <a:ext cx="4069080" cy="1078992"/>
          </a:xfrm>
          <a:prstGeom prst="roundRect">
            <a:avLst>
              <a:gd name="adj" fmla="val 5085"/>
            </a:avLst>
          </a:prstGeom>
          <a:solidFill>
            <a:srgbClr val="E9E8EC"/>
          </a:solidFill>
          <a:ln/>
          <a:effectLst>
            <a:outerShdw sx="100000" sy="100000" kx="0" ky="0" algn="bl" rotWithShape="0" blurRad="63500" dist="31750" dir="2700000">
              <a:srgbClr val="8C8C99">
                <a:alpha val="45000"/>
              </a:srgbClr>
            </a:outerShdw>
          </a:effectLst>
        </p:spPr>
      </p:sp>
      <p:sp>
        <p:nvSpPr>
          <p:cNvPr id="39" name="Text 37"/>
          <p:cNvSpPr/>
          <p:nvPr/>
        </p:nvSpPr>
        <p:spPr>
          <a:xfrm>
            <a:off x="4754880" y="3136392"/>
            <a:ext cx="3794760" cy="365760"/>
          </a:xfrm>
          <a:prstGeom prst="rect">
            <a:avLst/>
          </a:prstGeom>
          <a:noFill/>
          <a:ln/>
        </p:spPr>
        <p:txBody>
          <a:bodyPr wrap="square" lIns="0" tIns="0" rIns="0" bIns="0" rtlCol="0" anchor="t"/>
          <a:lstStyle/>
          <a:p>
            <a:pPr algn="l" indent="0" marL="0">
              <a:buNone/>
            </a:pPr>
            <a:r>
              <a:rPr lang="en-US" sz="1700" b="1" dirty="0">
                <a:solidFill>
                  <a:srgbClr val="322164"/>
                </a:solidFill>
                <a:latin typeface="Cambria" pitchFamily="34" charset="0"/>
                <a:ea typeface="Cambria" pitchFamily="34" charset="-122"/>
                <a:cs typeface="Cambria" pitchFamily="34" charset="-120"/>
              </a:rPr>
              <a:t>75,7%</a:t>
            </a:r>
            <a:endParaRPr lang="en-US" sz="1700" dirty="0"/>
          </a:p>
        </p:txBody>
      </p:sp>
      <p:sp>
        <p:nvSpPr>
          <p:cNvPr id="40" name="Text 38"/>
          <p:cNvSpPr/>
          <p:nvPr/>
        </p:nvSpPr>
        <p:spPr>
          <a:xfrm>
            <a:off x="4754880" y="3502152"/>
            <a:ext cx="3840480" cy="621792"/>
          </a:xfrm>
          <a:prstGeom prst="rect">
            <a:avLst/>
          </a:prstGeom>
          <a:noFill/>
          <a:ln/>
        </p:spPr>
        <p:txBody>
          <a:bodyPr wrap="square" lIns="0" tIns="0" rIns="0" bIns="0" rtlCol="0" anchor="t"/>
          <a:lstStyle/>
          <a:p>
            <a:pPr algn="l" indent="0" marL="0">
              <a:lnSpc>
                <a:spcPct val="115000"/>
              </a:lnSpc>
              <a:buNone/>
            </a:pPr>
            <a:r>
              <a:rPr lang="en-US" sz="1100" dirty="0">
                <a:solidFill>
                  <a:srgbClr val="1A1A1A"/>
                </a:solidFill>
                <a:latin typeface="Cambria" pitchFamily="34" charset="0"/>
                <a:ea typeface="Cambria" pitchFamily="34" charset="-122"/>
                <a:cs typeface="Cambria" pitchFamily="34" charset="-120"/>
              </a:rPr>
              <a:t>trần: chấm chính câu chuẩn trên đủ 4.463 bước, KTC [74,1; 77,3]</a:t>
            </a:r>
            <a:endParaRPr lang="en-US" sz="1100" dirty="0"/>
          </a:p>
        </p:txBody>
      </p:sp>
      <p:sp>
        <p:nvSpPr>
          <p:cNvPr id="41" name="Shape 39"/>
          <p:cNvSpPr/>
          <p:nvPr/>
        </p:nvSpPr>
        <p:spPr>
          <a:xfrm>
            <a:off x="457200" y="4224528"/>
            <a:ext cx="4069080" cy="1078992"/>
          </a:xfrm>
          <a:prstGeom prst="roundRect">
            <a:avLst>
              <a:gd name="adj" fmla="val 5085"/>
            </a:avLst>
          </a:prstGeom>
          <a:solidFill>
            <a:srgbClr val="E9E8EC"/>
          </a:solidFill>
          <a:ln/>
          <a:effectLst>
            <a:outerShdw sx="100000" sy="100000" kx="0" ky="0" algn="bl" rotWithShape="0" blurRad="63500" dist="31750" dir="2700000">
              <a:srgbClr val="8C8C99">
                <a:alpha val="45000"/>
              </a:srgbClr>
            </a:outerShdw>
          </a:effectLst>
        </p:spPr>
      </p:sp>
      <p:sp>
        <p:nvSpPr>
          <p:cNvPr id="42" name="Text 40"/>
          <p:cNvSpPr/>
          <p:nvPr/>
        </p:nvSpPr>
        <p:spPr>
          <a:xfrm>
            <a:off x="594360" y="4297680"/>
            <a:ext cx="3794760" cy="365760"/>
          </a:xfrm>
          <a:prstGeom prst="rect">
            <a:avLst/>
          </a:prstGeom>
          <a:noFill/>
          <a:ln/>
        </p:spPr>
        <p:txBody>
          <a:bodyPr wrap="square" lIns="0" tIns="0" rIns="0" bIns="0" rtlCol="0" anchor="t"/>
          <a:lstStyle/>
          <a:p>
            <a:pPr algn="l" indent="0" marL="0">
              <a:buNone/>
            </a:pPr>
            <a:r>
              <a:rPr lang="en-US" sz="1700" b="1" dirty="0">
                <a:solidFill>
                  <a:srgbClr val="322164"/>
                </a:solidFill>
                <a:latin typeface="Cambria" pitchFamily="34" charset="0"/>
                <a:ea typeface="Cambria" pitchFamily="34" charset="-122"/>
                <a:cs typeface="Cambria" pitchFamily="34" charset="-120"/>
              </a:rPr>
              <a:t>12,0%  ·  6,1%</a:t>
            </a:r>
            <a:endParaRPr lang="en-US" sz="1700" dirty="0"/>
          </a:p>
        </p:txBody>
      </p:sp>
      <p:sp>
        <p:nvSpPr>
          <p:cNvPr id="43" name="Text 41"/>
          <p:cNvSpPr/>
          <p:nvPr/>
        </p:nvSpPr>
        <p:spPr>
          <a:xfrm>
            <a:off x="594360" y="4663440"/>
            <a:ext cx="3840480" cy="621792"/>
          </a:xfrm>
          <a:prstGeom prst="rect">
            <a:avLst/>
          </a:prstGeom>
          <a:noFill/>
          <a:ln/>
        </p:spPr>
        <p:txBody>
          <a:bodyPr wrap="square" lIns="0" tIns="0" rIns="0" bIns="0" rtlCol="0" anchor="t"/>
          <a:lstStyle/>
          <a:p>
            <a:pPr algn="l" indent="0" marL="0">
              <a:lnSpc>
                <a:spcPct val="115000"/>
              </a:lnSpc>
              <a:buNone/>
            </a:pPr>
            <a:r>
              <a:rPr lang="en-US" sz="1100" dirty="0">
                <a:solidFill>
                  <a:srgbClr val="1A1A1A"/>
                </a:solidFill>
                <a:latin typeface="Cambria" pitchFamily="34" charset="0"/>
                <a:ea typeface="Cambria" pitchFamily="34" charset="-122"/>
                <a:cs typeface="Cambria" pitchFamily="34" charset="-120"/>
              </a:rPr>
              <a:t>sàn: câu chung chung và câu thật của màn khác; văn phong đúng mà nội dung sai không được điểm</a:t>
            </a:r>
            <a:endParaRPr lang="en-US" sz="1100" dirty="0"/>
          </a:p>
        </p:txBody>
      </p:sp>
      <p:sp>
        <p:nvSpPr>
          <p:cNvPr id="44" name="Shape 42"/>
          <p:cNvSpPr/>
          <p:nvPr/>
        </p:nvSpPr>
        <p:spPr>
          <a:xfrm>
            <a:off x="4617720" y="4224528"/>
            <a:ext cx="4069080" cy="1078992"/>
          </a:xfrm>
          <a:prstGeom prst="roundRect">
            <a:avLst>
              <a:gd name="adj" fmla="val 5085"/>
            </a:avLst>
          </a:prstGeom>
          <a:solidFill>
            <a:srgbClr val="E9E8EC"/>
          </a:solidFill>
          <a:ln/>
          <a:effectLst>
            <a:outerShdw sx="100000" sy="100000" kx="0" ky="0" algn="bl" rotWithShape="0" blurRad="63500" dist="31750" dir="2700000">
              <a:srgbClr val="8C8C99">
                <a:alpha val="45000"/>
              </a:srgbClr>
            </a:outerShdw>
          </a:effectLst>
        </p:spPr>
      </p:sp>
      <p:sp>
        <p:nvSpPr>
          <p:cNvPr id="45" name="Text 43"/>
          <p:cNvSpPr/>
          <p:nvPr/>
        </p:nvSpPr>
        <p:spPr>
          <a:xfrm>
            <a:off x="4754880" y="4297680"/>
            <a:ext cx="3794760" cy="365760"/>
          </a:xfrm>
          <a:prstGeom prst="rect">
            <a:avLst/>
          </a:prstGeom>
          <a:noFill/>
          <a:ln/>
        </p:spPr>
        <p:txBody>
          <a:bodyPr wrap="square" lIns="0" tIns="0" rIns="0" bIns="0" rtlCol="0" anchor="t"/>
          <a:lstStyle/>
          <a:p>
            <a:pPr algn="l" indent="0" marL="0">
              <a:buNone/>
            </a:pPr>
            <a:r>
              <a:rPr lang="en-US" sz="1700" b="1" dirty="0">
                <a:solidFill>
                  <a:srgbClr val="322164"/>
                </a:solidFill>
                <a:latin typeface="Cambria" pitchFamily="34" charset="0"/>
                <a:ea typeface="Cambria" pitchFamily="34" charset="-122"/>
                <a:cs typeface="Cambria" pitchFamily="34" charset="-120"/>
              </a:rPr>
              <a:t>5 luật</a:t>
            </a:r>
            <a:endParaRPr lang="en-US" sz="1700" dirty="0"/>
          </a:p>
        </p:txBody>
      </p:sp>
      <p:sp>
        <p:nvSpPr>
          <p:cNvPr id="46" name="Text 44"/>
          <p:cNvSpPr/>
          <p:nvPr/>
        </p:nvSpPr>
        <p:spPr>
          <a:xfrm>
            <a:off x="4754880" y="4663440"/>
            <a:ext cx="3840480" cy="621792"/>
          </a:xfrm>
          <a:prstGeom prst="rect">
            <a:avLst/>
          </a:prstGeom>
          <a:noFill/>
          <a:ln/>
        </p:spPr>
        <p:txBody>
          <a:bodyPr wrap="square" lIns="0" tIns="0" rIns="0" bIns="0" rtlCol="0" anchor="t"/>
          <a:lstStyle/>
          <a:p>
            <a:pPr algn="l" indent="0" marL="0">
              <a:lnSpc>
                <a:spcPct val="115000"/>
              </a:lnSpc>
              <a:buNone/>
            </a:pPr>
            <a:r>
              <a:rPr lang="en-US" sz="1100" dirty="0">
                <a:solidFill>
                  <a:srgbClr val="1A1A1A"/>
                </a:solidFill>
                <a:latin typeface="Cambria" pitchFamily="34" charset="0"/>
                <a:ea typeface="Cambria" pitchFamily="34" charset="-122"/>
                <a:cs typeface="Cambria" pitchFamily="34" charset="-120"/>
              </a:rPr>
              <a:t>chấm lại dưới năm luật trúng khác nhau, thứ tự các hệ thống không đổi</a:t>
            </a:r>
            <a:endParaRPr lang="en-US" sz="1100" dirty="0"/>
          </a:p>
        </p:txBody>
      </p:sp>
      <p:sp>
        <p:nvSpPr>
          <p:cNvPr id="47" name="Shape 45"/>
          <p:cNvSpPr/>
          <p:nvPr/>
        </p:nvSpPr>
        <p:spPr>
          <a:xfrm>
            <a:off x="457200" y="5385816"/>
            <a:ext cx="4069080" cy="1078992"/>
          </a:xfrm>
          <a:prstGeom prst="roundRect">
            <a:avLst>
              <a:gd name="adj" fmla="val 5085"/>
            </a:avLst>
          </a:prstGeom>
          <a:solidFill>
            <a:srgbClr val="E9E8EC"/>
          </a:solidFill>
          <a:ln/>
          <a:effectLst>
            <a:outerShdw sx="100000" sy="100000" kx="0" ky="0" algn="bl" rotWithShape="0" blurRad="63500" dist="31750" dir="2700000">
              <a:srgbClr val="8C8C99">
                <a:alpha val="45000"/>
              </a:srgbClr>
            </a:outerShdw>
          </a:effectLst>
        </p:spPr>
      </p:sp>
      <p:sp>
        <p:nvSpPr>
          <p:cNvPr id="48" name="Text 46"/>
          <p:cNvSpPr/>
          <p:nvPr/>
        </p:nvSpPr>
        <p:spPr>
          <a:xfrm>
            <a:off x="594360" y="5458968"/>
            <a:ext cx="3794760" cy="365760"/>
          </a:xfrm>
          <a:prstGeom prst="rect">
            <a:avLst/>
          </a:prstGeom>
          <a:noFill/>
          <a:ln/>
        </p:spPr>
        <p:txBody>
          <a:bodyPr wrap="square" lIns="0" tIns="0" rIns="0" bIns="0" rtlCol="0" anchor="t"/>
          <a:lstStyle/>
          <a:p>
            <a:pPr algn="l" indent="0" marL="0">
              <a:buNone/>
            </a:pPr>
            <a:r>
              <a:rPr lang="en-US" sz="1700" b="1" dirty="0">
                <a:solidFill>
                  <a:srgbClr val="322164"/>
                </a:solidFill>
                <a:latin typeface="Cambria" pitchFamily="34" charset="0"/>
                <a:ea typeface="Cambria" pitchFamily="34" charset="-122"/>
                <a:cs typeface="Cambria" pitchFamily="34" charset="-120"/>
              </a:rPr>
              <a:t>94%</a:t>
            </a:r>
            <a:endParaRPr lang="en-US" sz="1700" dirty="0"/>
          </a:p>
        </p:txBody>
      </p:sp>
      <p:sp>
        <p:nvSpPr>
          <p:cNvPr id="49" name="Text 47"/>
          <p:cNvSpPr/>
          <p:nvPr/>
        </p:nvSpPr>
        <p:spPr>
          <a:xfrm>
            <a:off x="594360" y="5824728"/>
            <a:ext cx="3840480" cy="621792"/>
          </a:xfrm>
          <a:prstGeom prst="rect">
            <a:avLst/>
          </a:prstGeom>
          <a:noFill/>
          <a:ln/>
        </p:spPr>
        <p:txBody>
          <a:bodyPr wrap="square" lIns="0" tIns="0" rIns="0" bIns="0" rtlCol="0" anchor="t"/>
          <a:lstStyle/>
          <a:p>
            <a:pPr algn="l" indent="0" marL="0">
              <a:lnSpc>
                <a:spcPct val="115000"/>
              </a:lnSpc>
              <a:buNone/>
            </a:pPr>
            <a:r>
              <a:rPr lang="en-US" sz="1100" dirty="0">
                <a:solidFill>
                  <a:srgbClr val="1A1A1A"/>
                </a:solidFill>
                <a:latin typeface="Cambria" pitchFamily="34" charset="0"/>
                <a:ea typeface="Cambria" pitchFamily="34" charset="-122"/>
                <a:cs typeface="Cambria" pitchFamily="34" charset="-120"/>
              </a:rPr>
              <a:t>chấm lại bằng UI-Venus-Ground-7B (không học AndroidControl): giữ 94% chênh lệch S1 so với Base</a:t>
            </a:r>
            <a:endParaRPr lang="en-US" sz="1100" dirty="0"/>
          </a:p>
        </p:txBody>
      </p:sp>
      <p:sp>
        <p:nvSpPr>
          <p:cNvPr id="50" name="Shape 48"/>
          <p:cNvSpPr/>
          <p:nvPr/>
        </p:nvSpPr>
        <p:spPr>
          <a:xfrm>
            <a:off x="4617720" y="5385816"/>
            <a:ext cx="4069080" cy="1078992"/>
          </a:xfrm>
          <a:prstGeom prst="roundRect">
            <a:avLst>
              <a:gd name="adj" fmla="val 5085"/>
            </a:avLst>
          </a:prstGeom>
          <a:solidFill>
            <a:srgbClr val="E9E8EC"/>
          </a:solidFill>
          <a:ln/>
          <a:effectLst>
            <a:outerShdw sx="100000" sy="100000" kx="0" ky="0" algn="bl" rotWithShape="0" blurRad="63500" dist="31750" dir="2700000">
              <a:srgbClr val="8C8C99">
                <a:alpha val="45000"/>
              </a:srgbClr>
            </a:outerShdw>
          </a:effectLst>
        </p:spPr>
      </p:sp>
      <p:sp>
        <p:nvSpPr>
          <p:cNvPr id="51" name="Text 49"/>
          <p:cNvSpPr/>
          <p:nvPr/>
        </p:nvSpPr>
        <p:spPr>
          <a:xfrm>
            <a:off x="4754880" y="5458968"/>
            <a:ext cx="3794760" cy="365760"/>
          </a:xfrm>
          <a:prstGeom prst="rect">
            <a:avLst/>
          </a:prstGeom>
          <a:noFill/>
          <a:ln/>
        </p:spPr>
        <p:txBody>
          <a:bodyPr wrap="square" lIns="0" tIns="0" rIns="0" bIns="0" rtlCol="0" anchor="t"/>
          <a:lstStyle/>
          <a:p>
            <a:pPr algn="l" indent="0" marL="0">
              <a:buNone/>
            </a:pPr>
            <a:r>
              <a:rPr lang="en-US" sz="1700" b="1" dirty="0">
                <a:solidFill>
                  <a:srgbClr val="322164"/>
                </a:solidFill>
                <a:latin typeface="Cambria" pitchFamily="34" charset="0"/>
                <a:ea typeface="Cambria" pitchFamily="34" charset="-122"/>
                <a:cs typeface="Cambria" pitchFamily="34" charset="-120"/>
              </a:rPr>
              <a:t>+0,35</a:t>
            </a:r>
            <a:endParaRPr lang="en-US" sz="1700" dirty="0"/>
          </a:p>
        </p:txBody>
      </p:sp>
      <p:sp>
        <p:nvSpPr>
          <p:cNvPr id="52" name="Text 50"/>
          <p:cNvSpPr/>
          <p:nvPr/>
        </p:nvSpPr>
        <p:spPr>
          <a:xfrm>
            <a:off x="4754880" y="5824728"/>
            <a:ext cx="3840480" cy="621792"/>
          </a:xfrm>
          <a:prstGeom prst="rect">
            <a:avLst/>
          </a:prstGeom>
          <a:noFill/>
          <a:ln/>
        </p:spPr>
        <p:txBody>
          <a:bodyPr wrap="square" lIns="0" tIns="0" rIns="0" bIns="0" rtlCol="0" anchor="t"/>
          <a:lstStyle/>
          <a:p>
            <a:pPr algn="l" indent="0" marL="0">
              <a:lnSpc>
                <a:spcPct val="115000"/>
              </a:lnSpc>
              <a:buNone/>
            </a:pPr>
            <a:r>
              <a:rPr lang="en-US" sz="1100" dirty="0">
                <a:solidFill>
                  <a:srgbClr val="1A1A1A"/>
                </a:solidFill>
                <a:latin typeface="Cambria" pitchFamily="34" charset="0"/>
                <a:ea typeface="Cambria" pitchFamily="34" charset="-122"/>
                <a:cs typeface="Cambria" pitchFamily="34" charset="-120"/>
              </a:rPr>
              <a:t>viết lại 1.139 câu chuẩn theo ba cách giữ nghĩa, điểm gần như không đổi, KTC [−0,59; +1,29]</a:t>
            </a:r>
            <a:endParaRPr lang="en-US" sz="1100" dirty="0"/>
          </a:p>
        </p:txBody>
      </p:sp>
      <p:sp>
        <p:nvSpPr>
          <p:cNvPr id="54" name="Shape 51"/>
          <p:cNvSpPr/>
          <p:nvPr/>
        </p:nvSpPr>
        <p:spPr>
          <a:xfrm>
            <a:off x="0" y="6620256"/>
            <a:ext cx="2743200" cy="237744"/>
          </a:xfrm>
          <a:prstGeom prst="rect">
            <a:avLst/>
          </a:prstGeom>
          <a:solidFill>
            <a:srgbClr val="191132"/>
          </a:solidFill>
          <a:ln/>
        </p:spPr>
      </p:sp>
      <p:sp>
        <p:nvSpPr>
          <p:cNvPr id="55" name="Shape 52"/>
          <p:cNvSpPr/>
          <p:nvPr/>
        </p:nvSpPr>
        <p:spPr>
          <a:xfrm>
            <a:off x="2743200" y="6620256"/>
            <a:ext cx="3383280" cy="237744"/>
          </a:xfrm>
          <a:prstGeom prst="rect">
            <a:avLst/>
          </a:prstGeom>
          <a:solidFill>
            <a:srgbClr val="25194B"/>
          </a:solidFill>
          <a:ln/>
        </p:spPr>
      </p:sp>
      <p:sp>
        <p:nvSpPr>
          <p:cNvPr id="56" name="Shape 53"/>
          <p:cNvSpPr/>
          <p:nvPr/>
        </p:nvSpPr>
        <p:spPr>
          <a:xfrm>
            <a:off x="6126480" y="6620256"/>
            <a:ext cx="1737360" cy="237744"/>
          </a:xfrm>
          <a:prstGeom prst="rect">
            <a:avLst/>
          </a:prstGeom>
          <a:solidFill>
            <a:srgbClr val="4F417A"/>
          </a:solidFill>
          <a:ln/>
        </p:spPr>
      </p:sp>
      <p:sp>
        <p:nvSpPr>
          <p:cNvPr id="57" name="Shape 54"/>
          <p:cNvSpPr/>
          <p:nvPr/>
        </p:nvSpPr>
        <p:spPr>
          <a:xfrm>
            <a:off x="7863840" y="6620256"/>
            <a:ext cx="1280160" cy="237744"/>
          </a:xfrm>
          <a:prstGeom prst="rect">
            <a:avLst/>
          </a:prstGeom>
          <a:solidFill>
            <a:srgbClr val="7A7099"/>
          </a:solidFill>
          <a:ln/>
        </p:spPr>
      </p:sp>
      <p:sp>
        <p:nvSpPr>
          <p:cNvPr id="58" name="Text 55"/>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Luận văn thạc sĩ</a:t>
            </a:r>
            <a:endParaRPr lang="en-US" sz="800" dirty="0"/>
          </a:p>
        </p:txBody>
      </p:sp>
      <p:sp>
        <p:nvSpPr>
          <p:cNvPr id="59" name="Text 56"/>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Phát sinh tự động hướng dẫn sử dụng phần mềm dựa trên LLM</a:t>
            </a:r>
            <a:endParaRPr lang="en-US" sz="800" dirty="0"/>
          </a:p>
        </p:txBody>
      </p:sp>
      <p:sp>
        <p:nvSpPr>
          <p:cNvPr id="60" name="Text 57"/>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61" name="Text 58"/>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6/24</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Dữ liệu: dựng tự động từ AndroidControl</a:t>
            </a:r>
            <a:endParaRPr lang="en-US" sz="1900" dirty="0"/>
          </a:p>
        </p:txBody>
      </p:sp>
      <p:sp>
        <p:nvSpPr>
          <p:cNvPr id="4" name="Shape 2"/>
          <p:cNvSpPr/>
          <p:nvPr/>
        </p:nvSpPr>
        <p:spPr>
          <a:xfrm>
            <a:off x="457200" y="868680"/>
            <a:ext cx="2377440" cy="777240"/>
          </a:xfrm>
          <a:prstGeom prst="roundRect">
            <a:avLst>
              <a:gd name="adj" fmla="val 7059"/>
            </a:avLst>
          </a:prstGeom>
          <a:solidFill>
            <a:srgbClr val="FFFFFF"/>
          </a:solidFill>
          <a:ln w="15240">
            <a:solidFill>
              <a:srgbClr val="6E6890"/>
            </a:solidFill>
            <a:prstDash val="solid"/>
          </a:ln>
        </p:spPr>
      </p:sp>
      <p:sp>
        <p:nvSpPr>
          <p:cNvPr id="5" name="Text 3"/>
          <p:cNvSpPr/>
          <p:nvPr/>
        </p:nvSpPr>
        <p:spPr>
          <a:xfrm>
            <a:off x="457200" y="868680"/>
            <a:ext cx="2377440" cy="777240"/>
          </a:xfrm>
          <a:prstGeom prst="rect">
            <a:avLst/>
          </a:prstGeom>
          <a:noFill/>
          <a:ln/>
        </p:spPr>
        <p:txBody>
          <a:bodyPr wrap="square" lIns="38100" tIns="38100" rIns="38100" bIns="38100" rtlCol="0" anchor="ctr"/>
          <a:lstStyle/>
          <a:p>
            <a:pPr algn="ctr" indent="0" marL="0">
              <a:lnSpc>
                <a:spcPct val="115000"/>
              </a:lnSpc>
              <a:buNone/>
            </a:pPr>
            <a:r>
              <a:rPr lang="en-US" sz="1000" dirty="0">
                <a:solidFill>
                  <a:srgbClr val="1A1A1A"/>
                </a:solidFill>
                <a:latin typeface="Cambria" pitchFamily="34" charset="0"/>
                <a:ea typeface="Cambria" pitchFamily="34" charset="-122"/>
                <a:cs typeface="Cambria" pitchFamily="34" charset="-120"/>
              </a:rPr>
              <a:t>HuggingFace</a:t>
            </a:r>
            <a:endParaRPr lang="en-US" sz="1000" dirty="0"/>
          </a:p>
          <a:p>
            <a:pPr algn="ctr" indent="0" marL="0">
              <a:lnSpc>
                <a:spcPct val="115000"/>
              </a:lnSpc>
              <a:buNone/>
            </a:pPr>
            <a:r>
              <a:rPr lang="en-US" sz="1000" dirty="0">
                <a:solidFill>
                  <a:srgbClr val="1A1A1A"/>
                </a:solidFill>
                <a:latin typeface="Cambria" pitchFamily="34" charset="0"/>
                <a:ea typeface="Cambria" pitchFamily="34" charset="-122"/>
                <a:cs typeface="Cambria" pitchFamily="34" charset="-120"/>
              </a:rPr>
              <a:t>parsed_AndroidControl</a:t>
            </a:r>
            <a:endParaRPr lang="en-US" sz="1000" dirty="0"/>
          </a:p>
          <a:p>
            <a:pPr algn="ctr" indent="0" marL="0">
              <a:lnSpc>
                <a:spcPct val="115000"/>
              </a:lnSpc>
              <a:buNone/>
            </a:pPr>
            <a:r>
              <a:rPr lang="en-US" sz="1000" dirty="0">
                <a:solidFill>
                  <a:srgbClr val="1A1A1A"/>
                </a:solidFill>
                <a:latin typeface="Cambria" pitchFamily="34" charset="0"/>
                <a:ea typeface="Cambria" pitchFamily="34" charset="-122"/>
                <a:cs typeface="Cambria" pitchFamily="34" charset="-120"/>
              </a:rPr>
              <a:t>câu chuẩn từng bước</a:t>
            </a:r>
            <a:endParaRPr lang="en-US" sz="1000" dirty="0"/>
          </a:p>
          <a:p>
            <a:pPr algn="ctr" indent="0" marL="0">
              <a:lnSpc>
                <a:spcPct val="115000"/>
              </a:lnSpc>
              <a:buNone/>
            </a:pPr>
            <a:r>
              <a:rPr lang="en-US" sz="1000" dirty="0">
                <a:solidFill>
                  <a:srgbClr val="1A1A1A"/>
                </a:solidFill>
                <a:latin typeface="Cambria" pitchFamily="34" charset="0"/>
                <a:ea typeface="Cambria" pitchFamily="34" charset="-122"/>
                <a:cs typeface="Cambria" pitchFamily="34" charset="-120"/>
              </a:rPr>
              <a:t>+ cây trợ năng</a:t>
            </a:r>
            <a:endParaRPr lang="en-US" sz="1000" dirty="0"/>
          </a:p>
        </p:txBody>
      </p:sp>
      <p:sp>
        <p:nvSpPr>
          <p:cNvPr id="6" name="Shape 4"/>
          <p:cNvSpPr/>
          <p:nvPr/>
        </p:nvSpPr>
        <p:spPr>
          <a:xfrm>
            <a:off x="457200" y="1828800"/>
            <a:ext cx="2377440" cy="777240"/>
          </a:xfrm>
          <a:prstGeom prst="roundRect">
            <a:avLst>
              <a:gd name="adj" fmla="val 7059"/>
            </a:avLst>
          </a:prstGeom>
          <a:solidFill>
            <a:srgbClr val="FFFFFF"/>
          </a:solidFill>
          <a:ln w="15240">
            <a:solidFill>
              <a:srgbClr val="6E6890"/>
            </a:solidFill>
            <a:prstDash val="solid"/>
          </a:ln>
        </p:spPr>
      </p:sp>
      <p:sp>
        <p:nvSpPr>
          <p:cNvPr id="7" name="Text 5"/>
          <p:cNvSpPr/>
          <p:nvPr/>
        </p:nvSpPr>
        <p:spPr>
          <a:xfrm>
            <a:off x="457200" y="1828800"/>
            <a:ext cx="2377440" cy="777240"/>
          </a:xfrm>
          <a:prstGeom prst="rect">
            <a:avLst/>
          </a:prstGeom>
          <a:noFill/>
          <a:ln/>
        </p:spPr>
        <p:txBody>
          <a:bodyPr wrap="square" lIns="38100" tIns="38100" rIns="38100" bIns="38100" rtlCol="0" anchor="ctr"/>
          <a:lstStyle/>
          <a:p>
            <a:pPr algn="ctr" indent="0" marL="0">
              <a:lnSpc>
                <a:spcPct val="115000"/>
              </a:lnSpc>
              <a:buNone/>
            </a:pPr>
            <a:r>
              <a:rPr lang="en-US" sz="1000" dirty="0">
                <a:solidFill>
                  <a:srgbClr val="1A1A1A"/>
                </a:solidFill>
                <a:latin typeface="Cambria" pitchFamily="34" charset="0"/>
                <a:ea typeface="Cambria" pitchFamily="34" charset="-122"/>
                <a:cs typeface="Cambria" pitchFamily="34" charset="-120"/>
              </a:rPr>
              <a:t>HuggingFace</a:t>
            </a:r>
            <a:endParaRPr lang="en-US" sz="1000" dirty="0"/>
          </a:p>
          <a:p>
            <a:pPr algn="ctr" indent="0" marL="0">
              <a:lnSpc>
                <a:spcPct val="115000"/>
              </a:lnSpc>
              <a:buNone/>
            </a:pPr>
            <a:r>
              <a:rPr lang="en-US" sz="1000" dirty="0">
                <a:solidFill>
                  <a:srgbClr val="1A1A1A"/>
                </a:solidFill>
                <a:latin typeface="Cambria" pitchFamily="34" charset="0"/>
                <a:ea typeface="Cambria" pitchFamily="34" charset="-122"/>
                <a:cs typeface="Cambria" pitchFamily="34" charset="-120"/>
              </a:rPr>
              <a:t>AndroidControl…20k</a:t>
            </a:r>
            <a:endParaRPr lang="en-US" sz="1000" dirty="0"/>
          </a:p>
          <a:p>
            <a:pPr algn="ctr" indent="0" marL="0">
              <a:lnSpc>
                <a:spcPct val="115000"/>
              </a:lnSpc>
              <a:buNone/>
            </a:pPr>
            <a:r>
              <a:rPr lang="en-US" sz="1000" dirty="0">
                <a:solidFill>
                  <a:srgbClr val="1A1A1A"/>
                </a:solidFill>
                <a:latin typeface="Cambria" pitchFamily="34" charset="0"/>
                <a:ea typeface="Cambria" pitchFamily="34" charset="-122"/>
                <a:cs typeface="Cambria" pitchFamily="34" charset="-120"/>
              </a:rPr>
              <a:t>ảnh màn hình</a:t>
            </a:r>
            <a:endParaRPr lang="en-US" sz="1000" dirty="0"/>
          </a:p>
        </p:txBody>
      </p:sp>
      <p:sp>
        <p:nvSpPr>
          <p:cNvPr id="8" name="Shape 6"/>
          <p:cNvSpPr/>
          <p:nvPr/>
        </p:nvSpPr>
        <p:spPr>
          <a:xfrm>
            <a:off x="2880360" y="1737360"/>
            <a:ext cx="411480" cy="0"/>
          </a:xfrm>
          <a:prstGeom prst="line">
            <a:avLst/>
          </a:prstGeom>
          <a:noFill/>
          <a:ln w="25400">
            <a:solidFill>
              <a:srgbClr val="4F417A"/>
            </a:solidFill>
            <a:prstDash val="solid"/>
            <a:tailEnd type="triangle"/>
          </a:ln>
        </p:spPr>
      </p:sp>
      <p:sp>
        <p:nvSpPr>
          <p:cNvPr id="9" name="Shape 7"/>
          <p:cNvSpPr/>
          <p:nvPr/>
        </p:nvSpPr>
        <p:spPr>
          <a:xfrm>
            <a:off x="3337560" y="1143000"/>
            <a:ext cx="2194560" cy="1188720"/>
          </a:xfrm>
          <a:prstGeom prst="roundRect">
            <a:avLst>
              <a:gd name="adj" fmla="val 4615"/>
            </a:avLst>
          </a:prstGeom>
          <a:solidFill>
            <a:srgbClr val="EEEAF6"/>
          </a:solidFill>
          <a:ln w="15240">
            <a:solidFill>
              <a:srgbClr val="322164"/>
            </a:solidFill>
            <a:prstDash val="solid"/>
          </a:ln>
        </p:spPr>
      </p:sp>
      <p:sp>
        <p:nvSpPr>
          <p:cNvPr id="10" name="Text 8"/>
          <p:cNvSpPr/>
          <p:nvPr/>
        </p:nvSpPr>
        <p:spPr>
          <a:xfrm>
            <a:off x="3337560" y="1143000"/>
            <a:ext cx="2194560" cy="1188720"/>
          </a:xfrm>
          <a:prstGeom prst="rect">
            <a:avLst/>
          </a:prstGeom>
          <a:noFill/>
          <a:ln/>
        </p:spPr>
        <p:txBody>
          <a:bodyPr wrap="square" lIns="38100" tIns="38100" rIns="38100" bIns="38100" rtlCol="0" anchor="ctr"/>
          <a:lstStyle/>
          <a:p>
            <a:pPr algn="ctr" indent="0" marL="0">
              <a:lnSpc>
                <a:spcPct val="115000"/>
              </a:lnSpc>
              <a:buNone/>
            </a:pPr>
            <a:r>
              <a:rPr lang="en-US" sz="1050" dirty="0">
                <a:solidFill>
                  <a:srgbClr val="1A1A1A"/>
                </a:solidFill>
                <a:latin typeface="Cambria" pitchFamily="34" charset="0"/>
                <a:ea typeface="Cambria" pitchFamily="34" charset="-122"/>
                <a:cs typeface="Cambria" pitchFamily="34" charset="-120"/>
              </a:rPr>
              <a:t>ghép theo</a:t>
            </a:r>
            <a:endParaRPr lang="en-US" sz="1050" dirty="0"/>
          </a:p>
          <a:p>
            <a:pPr algn="ctr" indent="0" marL="0">
              <a:lnSpc>
                <a:spcPct val="115000"/>
              </a:lnSpc>
              <a:buNone/>
            </a:pPr>
            <a:r>
              <a:rPr lang="en-US" sz="1050" dirty="0">
                <a:solidFill>
                  <a:srgbClr val="1A1A1A"/>
                </a:solidFill>
                <a:latin typeface="Cambria" pitchFamily="34" charset="0"/>
                <a:ea typeface="Cambria" pitchFamily="34" charset="-122"/>
                <a:cs typeface="Cambria" pitchFamily="34" charset="-120"/>
              </a:rPr>
              <a:t>(episode_id, step_id)</a:t>
            </a:r>
            <a:endParaRPr lang="en-US" sz="1050" dirty="0"/>
          </a:p>
          <a:p>
            <a:pPr algn="ctr" indent="0" marL="0">
              <a:lnSpc>
                <a:spcPct val="115000"/>
              </a:lnSpc>
              <a:buNone/>
            </a:pPr>
            <a:r>
              <a:rPr lang="en-US" sz="1050" dirty="0">
                <a:solidFill>
                  <a:srgbClr val="1A1A1A"/>
                </a:solidFill>
                <a:latin typeface="Cambria" pitchFamily="34" charset="0"/>
                <a:ea typeface="Cambria" pitchFamily="34" charset="-122"/>
                <a:cs typeface="Cambria" pitchFamily="34" charset="-120"/>
              </a:rPr>
              <a:t>+ OCR trên ảnh</a:t>
            </a:r>
            <a:endParaRPr lang="en-US" sz="1050" dirty="0"/>
          </a:p>
          <a:p>
            <a:pPr algn="ctr" indent="0" marL="0">
              <a:lnSpc>
                <a:spcPct val="115000"/>
              </a:lnSpc>
              <a:buNone/>
            </a:pPr>
            <a:r>
              <a:rPr lang="en-US" sz="1050" dirty="0">
                <a:solidFill>
                  <a:srgbClr val="1A1A1A"/>
                </a:solidFill>
                <a:latin typeface="Cambria" pitchFamily="34" charset="0"/>
                <a:ea typeface="Cambria" pitchFamily="34" charset="-122"/>
                <a:cs typeface="Cambria" pitchFamily="34" charset="-120"/>
              </a:rPr>
              <a:t>+ nhãn mô tả phần tử</a:t>
            </a:r>
            <a:endParaRPr lang="en-US" sz="1050" dirty="0"/>
          </a:p>
        </p:txBody>
      </p:sp>
      <p:sp>
        <p:nvSpPr>
          <p:cNvPr id="11" name="Shape 9"/>
          <p:cNvSpPr/>
          <p:nvPr/>
        </p:nvSpPr>
        <p:spPr>
          <a:xfrm>
            <a:off x="5577840" y="1737360"/>
            <a:ext cx="411480" cy="0"/>
          </a:xfrm>
          <a:prstGeom prst="line">
            <a:avLst/>
          </a:prstGeom>
          <a:noFill/>
          <a:ln w="25400">
            <a:solidFill>
              <a:srgbClr val="4F417A"/>
            </a:solidFill>
            <a:prstDash val="solid"/>
            <a:tailEnd type="triangle"/>
          </a:ln>
        </p:spPr>
      </p:sp>
      <p:sp>
        <p:nvSpPr>
          <p:cNvPr id="12" name="Shape 10"/>
          <p:cNvSpPr/>
          <p:nvPr/>
        </p:nvSpPr>
        <p:spPr>
          <a:xfrm>
            <a:off x="6035040" y="1143000"/>
            <a:ext cx="2651760" cy="1188720"/>
          </a:xfrm>
          <a:prstGeom prst="roundRect">
            <a:avLst>
              <a:gd name="adj" fmla="val 4615"/>
            </a:avLst>
          </a:prstGeom>
          <a:solidFill>
            <a:srgbClr val="FFFFFF"/>
          </a:solidFill>
          <a:ln w="20320">
            <a:solidFill>
              <a:srgbClr val="322164"/>
            </a:solidFill>
            <a:prstDash val="solid"/>
          </a:ln>
        </p:spPr>
      </p:sp>
      <p:sp>
        <p:nvSpPr>
          <p:cNvPr id="13" name="Text 11"/>
          <p:cNvSpPr/>
          <p:nvPr/>
        </p:nvSpPr>
        <p:spPr>
          <a:xfrm>
            <a:off x="6035040" y="1143000"/>
            <a:ext cx="2651760" cy="1188720"/>
          </a:xfrm>
          <a:prstGeom prst="rect">
            <a:avLst/>
          </a:prstGeom>
          <a:noFill/>
          <a:ln/>
        </p:spPr>
        <p:txBody>
          <a:bodyPr wrap="square" lIns="38100" tIns="38100" rIns="38100" bIns="38100" rtlCol="0" anchor="ctr"/>
          <a:lstStyle/>
          <a:p>
            <a:pPr algn="ctr" indent="0" marL="0">
              <a:lnSpc>
                <a:spcPct val="115000"/>
              </a:lnSpc>
              <a:buNone/>
            </a:pPr>
            <a:r>
              <a:rPr lang="en-US" sz="1150" b="1" dirty="0">
                <a:solidFill>
                  <a:srgbClr val="1A1A1A"/>
                </a:solidFill>
                <a:latin typeface="Cambria" pitchFamily="34" charset="0"/>
                <a:ea typeface="Cambria" pitchFamily="34" charset="-122"/>
                <a:cs typeface="Cambria" pitchFamily="34" charset="-120"/>
              </a:rPr>
              <a:t>64.567 bước huấn luyện</a:t>
            </a:r>
            <a:endParaRPr lang="en-US" sz="1150" dirty="0"/>
          </a:p>
          <a:p>
            <a:pPr algn="ctr" indent="0" marL="0">
              <a:lnSpc>
                <a:spcPct val="115000"/>
              </a:lnSpc>
              <a:buNone/>
            </a:pPr>
            <a:r>
              <a:rPr lang="en-US" sz="1150" b="1" dirty="0">
                <a:solidFill>
                  <a:srgbClr val="1A1A1A"/>
                </a:solidFill>
                <a:latin typeface="Cambria" pitchFamily="34" charset="0"/>
                <a:ea typeface="Cambria" pitchFamily="34" charset="-122"/>
                <a:cs typeface="Cambria" pitchFamily="34" charset="-120"/>
              </a:rPr>
              <a:t>12.895 tác vụ</a:t>
            </a:r>
            <a:endParaRPr lang="en-US" sz="1150" dirty="0"/>
          </a:p>
          <a:p>
            <a:pPr algn="ctr" indent="0" marL="0">
              <a:lnSpc>
                <a:spcPct val="115000"/>
              </a:lnSpc>
              <a:buNone/>
            </a:pPr>
            <a:r>
              <a:rPr lang="en-US" sz="1150" b="1" dirty="0">
                <a:solidFill>
                  <a:srgbClr val="1A1A1A"/>
                </a:solidFill>
                <a:latin typeface="Cambria" pitchFamily="34" charset="0"/>
                <a:ea typeface="Cambria" pitchFamily="34" charset="-122"/>
                <a:cs typeface="Cambria" pitchFamily="34" charset="-120"/>
              </a:rPr>
              <a:t>không thuê người gán nhãn</a:t>
            </a:r>
            <a:endParaRPr lang="en-US" sz="1150" dirty="0"/>
          </a:p>
        </p:txBody>
      </p:sp>
      <p:sp>
        <p:nvSpPr>
          <p:cNvPr id="14" name="Shape 12"/>
          <p:cNvSpPr/>
          <p:nvPr/>
        </p:nvSpPr>
        <p:spPr>
          <a:xfrm>
            <a:off x="457200" y="3017520"/>
            <a:ext cx="8229600" cy="365760"/>
          </a:xfrm>
          <a:prstGeom prst="rect">
            <a:avLst/>
          </a:prstGeom>
          <a:solidFill>
            <a:srgbClr val="322164"/>
          </a:solidFill>
          <a:ln/>
        </p:spPr>
      </p:sp>
      <p:sp>
        <p:nvSpPr>
          <p:cNvPr id="15" name="Text 13"/>
          <p:cNvSpPr/>
          <p:nvPr/>
        </p:nvSpPr>
        <p:spPr>
          <a:xfrm>
            <a:off x="457200" y="3017520"/>
            <a:ext cx="3931920" cy="365760"/>
          </a:xfrm>
          <a:prstGeom prst="rect">
            <a:avLst/>
          </a:prstGeom>
          <a:noFill/>
          <a:ln/>
        </p:spPr>
        <p:txBody>
          <a:bodyPr wrap="square" lIns="38100" tIns="38100" rIns="38100" bIns="38100" rtlCol="0" anchor="ctr"/>
          <a:lstStyle/>
          <a:p>
            <a:pPr algn="l" indent="0" marL="0">
              <a:buNone/>
            </a:pPr>
            <a:r>
              <a:rPr lang="en-US" sz="1250" b="1" dirty="0">
                <a:solidFill>
                  <a:srgbClr val="FFFFFF"/>
                </a:solidFill>
                <a:latin typeface="Cambria" pitchFamily="34" charset="0"/>
                <a:ea typeface="Cambria" pitchFamily="34" charset="-122"/>
                <a:cs typeface="Cambria" pitchFamily="34" charset="-120"/>
              </a:rPr>
              <a:t>Phép kiểm</a:t>
            </a:r>
            <a:endParaRPr lang="en-US" sz="1250" dirty="0"/>
          </a:p>
        </p:txBody>
      </p:sp>
      <p:sp>
        <p:nvSpPr>
          <p:cNvPr id="16" name="Text 14"/>
          <p:cNvSpPr/>
          <p:nvPr/>
        </p:nvSpPr>
        <p:spPr>
          <a:xfrm>
            <a:off x="4389120" y="3017520"/>
            <a:ext cx="4297680" cy="365760"/>
          </a:xfrm>
          <a:prstGeom prst="rect">
            <a:avLst/>
          </a:prstGeom>
          <a:noFill/>
          <a:ln/>
        </p:spPr>
        <p:txBody>
          <a:bodyPr wrap="square" lIns="38100" tIns="38100" rIns="38100" bIns="38100" rtlCol="0" anchor="ctr"/>
          <a:lstStyle/>
          <a:p>
            <a:pPr algn="l" indent="0" marL="0">
              <a:buNone/>
            </a:pPr>
            <a:r>
              <a:rPr lang="en-US" sz="1250" b="1" dirty="0">
                <a:solidFill>
                  <a:srgbClr val="FFFFFF"/>
                </a:solidFill>
                <a:latin typeface="Cambria" pitchFamily="34" charset="0"/>
                <a:ea typeface="Cambria" pitchFamily="34" charset="-122"/>
                <a:cs typeface="Cambria" pitchFamily="34" charset="-120"/>
              </a:rPr>
              <a:t>Kết quả</a:t>
            </a:r>
            <a:endParaRPr lang="en-US" sz="1250" dirty="0"/>
          </a:p>
        </p:txBody>
      </p:sp>
      <p:sp>
        <p:nvSpPr>
          <p:cNvPr id="17" name="Text 15"/>
          <p:cNvSpPr/>
          <p:nvPr/>
        </p:nvSpPr>
        <p:spPr>
          <a:xfrm>
            <a:off x="457200" y="3383280"/>
            <a:ext cx="3931920" cy="457200"/>
          </a:xfrm>
          <a:prstGeom prst="rect">
            <a:avLst/>
          </a:prstGeom>
          <a:noFill/>
          <a:ln/>
        </p:spPr>
        <p:txBody>
          <a:bodyPr wrap="square" lIns="38100" tIns="38100" rIns="38100" bIns="38100" rtlCol="0" anchor="ctr"/>
          <a:lstStyle/>
          <a:p>
            <a:pPr algn="l" indent="0" marL="0">
              <a:buNone/>
            </a:pPr>
            <a:r>
              <a:rPr lang="en-US" sz="1200" dirty="0">
                <a:solidFill>
                  <a:srgbClr val="1A1A1A"/>
                </a:solidFill>
                <a:latin typeface="Cambria" pitchFamily="34" charset="0"/>
                <a:ea typeface="Cambria" pitchFamily="34" charset="-122"/>
                <a:cs typeface="Cambria" pitchFamily="34" charset="-120"/>
              </a:rPr>
              <a:t>Ghép đúng hai kho</a:t>
            </a:r>
            <a:endParaRPr lang="en-US" sz="1200" dirty="0"/>
          </a:p>
        </p:txBody>
      </p:sp>
      <p:sp>
        <p:nvSpPr>
          <p:cNvPr id="18" name="Text 16"/>
          <p:cNvSpPr/>
          <p:nvPr/>
        </p:nvSpPr>
        <p:spPr>
          <a:xfrm>
            <a:off x="4389120" y="3383280"/>
            <a:ext cx="4297680" cy="457200"/>
          </a:xfrm>
          <a:prstGeom prst="rect">
            <a:avLst/>
          </a:prstGeom>
          <a:noFill/>
          <a:ln/>
        </p:spPr>
        <p:txBody>
          <a:bodyPr wrap="square" lIns="38100" tIns="38100" rIns="38100" bIns="38100" rtlCol="0" anchor="ctr"/>
          <a:lstStyle/>
          <a:p>
            <a:pPr algn="l" indent="0" marL="0">
              <a:buNone/>
            </a:pPr>
            <a:r>
              <a:rPr lang="en-US" sz="1200" dirty="0">
                <a:solidFill>
                  <a:srgbClr val="1A1A1A"/>
                </a:solidFill>
                <a:latin typeface="Cambria" pitchFamily="34" charset="0"/>
                <a:ea typeface="Cambria" pitchFamily="34" charset="-122"/>
                <a:cs typeface="Cambria" pitchFamily="34" charset="-120"/>
              </a:rPr>
              <a:t>48% khớp, so với 20% của phép ghép cố ý lệch một bước</a:t>
            </a:r>
            <a:endParaRPr lang="en-US" sz="1200" dirty="0"/>
          </a:p>
        </p:txBody>
      </p:sp>
      <p:sp>
        <p:nvSpPr>
          <p:cNvPr id="19" name="Shape 17"/>
          <p:cNvSpPr/>
          <p:nvPr/>
        </p:nvSpPr>
        <p:spPr>
          <a:xfrm>
            <a:off x="457200" y="3840480"/>
            <a:ext cx="8229600" cy="0"/>
          </a:xfrm>
          <a:prstGeom prst="line">
            <a:avLst/>
          </a:prstGeom>
          <a:noFill/>
          <a:ln w="12700">
            <a:solidFill>
              <a:srgbClr val="9A94AE"/>
            </a:solidFill>
            <a:prstDash val="solid"/>
          </a:ln>
        </p:spPr>
      </p:sp>
      <p:sp>
        <p:nvSpPr>
          <p:cNvPr id="20" name="Text 18"/>
          <p:cNvSpPr/>
          <p:nvPr/>
        </p:nvSpPr>
        <p:spPr>
          <a:xfrm>
            <a:off x="457200" y="3840480"/>
            <a:ext cx="3931920" cy="384048"/>
          </a:xfrm>
          <a:prstGeom prst="rect">
            <a:avLst/>
          </a:prstGeom>
          <a:noFill/>
          <a:ln/>
        </p:spPr>
        <p:txBody>
          <a:bodyPr wrap="square" lIns="38100" tIns="38100" rIns="38100" bIns="38100" rtlCol="0" anchor="ctr"/>
          <a:lstStyle/>
          <a:p>
            <a:pPr algn="l" indent="0" marL="0">
              <a:buNone/>
            </a:pPr>
            <a:r>
              <a:rPr lang="en-US" sz="1200" dirty="0">
                <a:solidFill>
                  <a:srgbClr val="1A1A1A"/>
                </a:solidFill>
                <a:latin typeface="Cambria" pitchFamily="34" charset="0"/>
                <a:ea typeface="Cambria" pitchFamily="34" charset="-122"/>
                <a:cs typeface="Cambria" pitchFamily="34" charset="-120"/>
              </a:rPr>
              <a:t>Bất biến cấu trúc</a:t>
            </a:r>
            <a:endParaRPr lang="en-US" sz="1200" dirty="0"/>
          </a:p>
        </p:txBody>
      </p:sp>
      <p:sp>
        <p:nvSpPr>
          <p:cNvPr id="21" name="Text 19"/>
          <p:cNvSpPr/>
          <p:nvPr/>
        </p:nvSpPr>
        <p:spPr>
          <a:xfrm>
            <a:off x="4389120" y="3840480"/>
            <a:ext cx="4297680" cy="384048"/>
          </a:xfrm>
          <a:prstGeom prst="rect">
            <a:avLst/>
          </a:prstGeom>
          <a:noFill/>
          <a:ln/>
        </p:spPr>
        <p:txBody>
          <a:bodyPr wrap="square" lIns="38100" tIns="38100" rIns="38100" bIns="38100" rtlCol="0" anchor="ctr"/>
          <a:lstStyle/>
          <a:p>
            <a:pPr algn="l" indent="0" marL="0">
              <a:buNone/>
            </a:pPr>
            <a:r>
              <a:rPr lang="en-US" sz="1200" dirty="0">
                <a:solidFill>
                  <a:srgbClr val="1A1A1A"/>
                </a:solidFill>
                <a:latin typeface="Cambria" pitchFamily="34" charset="0"/>
                <a:ea typeface="Cambria" pitchFamily="34" charset="-122"/>
                <a:cs typeface="Cambria" pitchFamily="34" charset="-120"/>
              </a:rPr>
              <a:t>9/9 bất biến đạt ở quy mô đầy đủ</a:t>
            </a:r>
            <a:endParaRPr lang="en-US" sz="1200" dirty="0"/>
          </a:p>
        </p:txBody>
      </p:sp>
      <p:sp>
        <p:nvSpPr>
          <p:cNvPr id="22" name="Shape 20"/>
          <p:cNvSpPr/>
          <p:nvPr/>
        </p:nvSpPr>
        <p:spPr>
          <a:xfrm>
            <a:off x="457200" y="4224528"/>
            <a:ext cx="8229600" cy="0"/>
          </a:xfrm>
          <a:prstGeom prst="line">
            <a:avLst/>
          </a:prstGeom>
          <a:noFill/>
          <a:ln w="12700">
            <a:solidFill>
              <a:srgbClr val="9A94AE"/>
            </a:solidFill>
            <a:prstDash val="solid"/>
          </a:ln>
        </p:spPr>
      </p:sp>
      <p:sp>
        <p:nvSpPr>
          <p:cNvPr id="23" name="Text 21"/>
          <p:cNvSpPr/>
          <p:nvPr/>
        </p:nvSpPr>
        <p:spPr>
          <a:xfrm>
            <a:off x="457200" y="4224528"/>
            <a:ext cx="3931920" cy="384048"/>
          </a:xfrm>
          <a:prstGeom prst="rect">
            <a:avLst/>
          </a:prstGeom>
          <a:noFill/>
          <a:ln/>
        </p:spPr>
        <p:txBody>
          <a:bodyPr wrap="square" lIns="38100" tIns="38100" rIns="38100" bIns="38100" rtlCol="0" anchor="ctr"/>
          <a:lstStyle/>
          <a:p>
            <a:pPr algn="l" indent="0" marL="0">
              <a:buNone/>
            </a:pPr>
            <a:r>
              <a:rPr lang="en-US" sz="1200" dirty="0">
                <a:solidFill>
                  <a:srgbClr val="1A1A1A"/>
                </a:solidFill>
                <a:latin typeface="Cambria" pitchFamily="34" charset="0"/>
                <a:ea typeface="Cambria" pitchFamily="34" charset="-122"/>
                <a:cs typeface="Cambria" pitchFamily="34" charset="-120"/>
              </a:rPr>
              <a:t>Rò rỉ giữa tập dạy và tập kiểm</a:t>
            </a:r>
            <a:endParaRPr lang="en-US" sz="1200" dirty="0"/>
          </a:p>
        </p:txBody>
      </p:sp>
      <p:sp>
        <p:nvSpPr>
          <p:cNvPr id="24" name="Text 22"/>
          <p:cNvSpPr/>
          <p:nvPr/>
        </p:nvSpPr>
        <p:spPr>
          <a:xfrm>
            <a:off x="4389120" y="4224528"/>
            <a:ext cx="4297680" cy="384048"/>
          </a:xfrm>
          <a:prstGeom prst="rect">
            <a:avLst/>
          </a:prstGeom>
          <a:noFill/>
          <a:ln/>
        </p:spPr>
        <p:txBody>
          <a:bodyPr wrap="square" lIns="38100" tIns="38100" rIns="38100" bIns="38100" rtlCol="0" anchor="ctr"/>
          <a:lstStyle/>
          <a:p>
            <a:pPr algn="l" indent="0" marL="0">
              <a:buNone/>
            </a:pPr>
            <a:r>
              <a:rPr lang="en-US" sz="1200" dirty="0">
                <a:solidFill>
                  <a:srgbClr val="1A1A1A"/>
                </a:solidFill>
                <a:latin typeface="Cambria" pitchFamily="34" charset="0"/>
                <a:ea typeface="Cambria" pitchFamily="34" charset="-122"/>
                <a:cs typeface="Cambria" pitchFamily="34" charset="-120"/>
              </a:rPr>
              <a:t>0 tác vụ trùng nhau</a:t>
            </a:r>
            <a:endParaRPr lang="en-US" sz="1200" dirty="0"/>
          </a:p>
        </p:txBody>
      </p:sp>
      <p:sp>
        <p:nvSpPr>
          <p:cNvPr id="25" name="Shape 23"/>
          <p:cNvSpPr/>
          <p:nvPr/>
        </p:nvSpPr>
        <p:spPr>
          <a:xfrm>
            <a:off x="457200" y="4608576"/>
            <a:ext cx="8229600" cy="0"/>
          </a:xfrm>
          <a:prstGeom prst="line">
            <a:avLst/>
          </a:prstGeom>
          <a:noFill/>
          <a:ln w="12700">
            <a:solidFill>
              <a:srgbClr val="9A94AE"/>
            </a:solidFill>
            <a:prstDash val="solid"/>
          </a:ln>
        </p:spPr>
      </p:sp>
      <p:sp>
        <p:nvSpPr>
          <p:cNvPr id="26" name="Text 24"/>
          <p:cNvSpPr/>
          <p:nvPr/>
        </p:nvSpPr>
        <p:spPr>
          <a:xfrm>
            <a:off x="457200" y="4608576"/>
            <a:ext cx="3931920" cy="384048"/>
          </a:xfrm>
          <a:prstGeom prst="rect">
            <a:avLst/>
          </a:prstGeom>
          <a:noFill/>
          <a:ln/>
        </p:spPr>
        <p:txBody>
          <a:bodyPr wrap="square" lIns="38100" tIns="38100" rIns="38100" bIns="38100" rtlCol="0" anchor="ctr"/>
          <a:lstStyle/>
          <a:p>
            <a:pPr algn="l" indent="0" marL="0">
              <a:buNone/>
            </a:pPr>
            <a:r>
              <a:rPr lang="en-US" sz="1200" dirty="0">
                <a:solidFill>
                  <a:srgbClr val="1A1A1A"/>
                </a:solidFill>
                <a:latin typeface="Cambria" pitchFamily="34" charset="0"/>
                <a:ea typeface="Cambria" pitchFamily="34" charset="-122"/>
                <a:cs typeface="Cambria" pitchFamily="34" charset="-120"/>
              </a:rPr>
              <a:t>Tập kiểm</a:t>
            </a:r>
            <a:endParaRPr lang="en-US" sz="1200" dirty="0"/>
          </a:p>
        </p:txBody>
      </p:sp>
      <p:sp>
        <p:nvSpPr>
          <p:cNvPr id="27" name="Text 25"/>
          <p:cNvSpPr/>
          <p:nvPr/>
        </p:nvSpPr>
        <p:spPr>
          <a:xfrm>
            <a:off x="4389120" y="4608576"/>
            <a:ext cx="4297680" cy="384048"/>
          </a:xfrm>
          <a:prstGeom prst="rect">
            <a:avLst/>
          </a:prstGeom>
          <a:noFill/>
          <a:ln/>
        </p:spPr>
        <p:txBody>
          <a:bodyPr wrap="square" lIns="38100" tIns="38100" rIns="38100" bIns="38100" rtlCol="0" anchor="ctr"/>
          <a:lstStyle/>
          <a:p>
            <a:pPr algn="l" indent="0" marL="0">
              <a:buNone/>
            </a:pPr>
            <a:r>
              <a:rPr lang="en-US" sz="1200" dirty="0">
                <a:solidFill>
                  <a:srgbClr val="1A1A1A"/>
                </a:solidFill>
                <a:latin typeface="Cambria" pitchFamily="34" charset="0"/>
                <a:ea typeface="Cambria" pitchFamily="34" charset="-122"/>
                <a:cs typeface="Cambria" pitchFamily="34" charset="-120"/>
              </a:rPr>
              <a:t>6.958 bước, trong đó 4.463 bước chạm, 1.432 tác vụ</a:t>
            </a:r>
            <a:endParaRPr lang="en-US" sz="1200" dirty="0"/>
          </a:p>
        </p:txBody>
      </p:sp>
      <p:sp>
        <p:nvSpPr>
          <p:cNvPr id="28" name="Text 26"/>
          <p:cNvSpPr/>
          <p:nvPr/>
        </p:nvSpPr>
        <p:spPr>
          <a:xfrm>
            <a:off x="457200" y="5257800"/>
            <a:ext cx="8229600" cy="731520"/>
          </a:xfrm>
          <a:prstGeom prst="rect">
            <a:avLst/>
          </a:prstGeom>
          <a:noFill/>
          <a:ln/>
        </p:spPr>
        <p:txBody>
          <a:bodyPr wrap="square" lIns="0" tIns="0" rIns="0" bIns="0" rtlCol="0" anchor="t"/>
          <a:lstStyle/>
          <a:p>
            <a:pPr algn="l" indent="0" marL="0">
              <a:lnSpc>
                <a:spcPct val="120000"/>
              </a:lnSpc>
              <a:buNone/>
            </a:pPr>
            <a:r>
              <a:rPr lang="en-US" sz="1200" i="1" dirty="0">
                <a:solidFill>
                  <a:srgbClr val="5A5A66"/>
                </a:solidFill>
                <a:latin typeface="Cambria" pitchFamily="34" charset="0"/>
                <a:ea typeface="Cambria" pitchFamily="34" charset="-122"/>
                <a:cs typeface="Cambria" pitchFamily="34" charset="-120"/>
              </a:rPr>
              <a:t>Cây trợ năng có trung vị 86 phần tử mỗi màn nhưng phần lớn không có tên, nên tên phần tử lấy thêm từ chữ đọc được trên ảnh. Chi tiết ở Chương 3.</a:t>
            </a:r>
            <a:endParaRPr lang="en-US" sz="1200" dirty="0"/>
          </a:p>
        </p:txBody>
      </p:sp>
      <p:sp>
        <p:nvSpPr>
          <p:cNvPr id="30" name="Shape 27"/>
          <p:cNvSpPr/>
          <p:nvPr/>
        </p:nvSpPr>
        <p:spPr>
          <a:xfrm>
            <a:off x="0" y="6620256"/>
            <a:ext cx="2743200" cy="237744"/>
          </a:xfrm>
          <a:prstGeom prst="rect">
            <a:avLst/>
          </a:prstGeom>
          <a:solidFill>
            <a:srgbClr val="191132"/>
          </a:solidFill>
          <a:ln/>
        </p:spPr>
      </p:sp>
      <p:sp>
        <p:nvSpPr>
          <p:cNvPr id="31" name="Shape 28"/>
          <p:cNvSpPr/>
          <p:nvPr/>
        </p:nvSpPr>
        <p:spPr>
          <a:xfrm>
            <a:off x="2743200" y="6620256"/>
            <a:ext cx="3383280" cy="237744"/>
          </a:xfrm>
          <a:prstGeom prst="rect">
            <a:avLst/>
          </a:prstGeom>
          <a:solidFill>
            <a:srgbClr val="25194B"/>
          </a:solidFill>
          <a:ln/>
        </p:spPr>
      </p:sp>
      <p:sp>
        <p:nvSpPr>
          <p:cNvPr id="32" name="Shape 29"/>
          <p:cNvSpPr/>
          <p:nvPr/>
        </p:nvSpPr>
        <p:spPr>
          <a:xfrm>
            <a:off x="6126480" y="6620256"/>
            <a:ext cx="1737360" cy="237744"/>
          </a:xfrm>
          <a:prstGeom prst="rect">
            <a:avLst/>
          </a:prstGeom>
          <a:solidFill>
            <a:srgbClr val="4F417A"/>
          </a:solidFill>
          <a:ln/>
        </p:spPr>
      </p:sp>
      <p:sp>
        <p:nvSpPr>
          <p:cNvPr id="33" name="Shape 30"/>
          <p:cNvSpPr/>
          <p:nvPr/>
        </p:nvSpPr>
        <p:spPr>
          <a:xfrm>
            <a:off x="7863840" y="6620256"/>
            <a:ext cx="1280160" cy="237744"/>
          </a:xfrm>
          <a:prstGeom prst="rect">
            <a:avLst/>
          </a:prstGeom>
          <a:solidFill>
            <a:srgbClr val="7A7099"/>
          </a:solidFill>
          <a:ln/>
        </p:spPr>
      </p:sp>
      <p:sp>
        <p:nvSpPr>
          <p:cNvPr id="34" name="Text 31"/>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Luận văn thạc sĩ</a:t>
            </a:r>
            <a:endParaRPr lang="en-US" sz="800" dirty="0"/>
          </a:p>
        </p:txBody>
      </p:sp>
      <p:sp>
        <p:nvSpPr>
          <p:cNvPr id="35" name="Text 32"/>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Phát sinh tự động hướng dẫn sử dụng phần mềm dựa trên LLM</a:t>
            </a:r>
            <a:endParaRPr lang="en-US" sz="800" dirty="0"/>
          </a:p>
        </p:txBody>
      </p:sp>
      <p:sp>
        <p:nvSpPr>
          <p:cNvPr id="36" name="Text 33"/>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37" name="Text 34"/>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7/24</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Mô hình nền: tinh chỉnh có giám sát (S1)</a:t>
            </a:r>
            <a:endParaRPr lang="en-US" sz="1900" dirty="0"/>
          </a:p>
        </p:txBody>
      </p:sp>
      <p:sp>
        <p:nvSpPr>
          <p:cNvPr id="4" name="Shape 2"/>
          <p:cNvSpPr/>
          <p:nvPr/>
        </p:nvSpPr>
        <p:spPr>
          <a:xfrm>
            <a:off x="457200" y="777240"/>
            <a:ext cx="3749040" cy="3200400"/>
          </a:xfrm>
          <a:prstGeom prst="roundRect">
            <a:avLst>
              <a:gd name="adj" fmla="val 1714"/>
            </a:avLst>
          </a:prstGeom>
          <a:solidFill>
            <a:srgbClr val="E9E8EC"/>
          </a:solidFill>
          <a:ln/>
          <a:effectLst>
            <a:outerShdw sx="100000" sy="100000" kx="0" ky="0" algn="bl" rotWithShape="0" blurRad="63500" dist="31750" dir="2700000">
              <a:srgbClr val="8C8C99">
                <a:alpha val="45000"/>
              </a:srgbClr>
            </a:outerShdw>
          </a:effectLst>
        </p:spPr>
      </p:sp>
      <p:sp>
        <p:nvSpPr>
          <p:cNvPr id="5" name="Text 3"/>
          <p:cNvSpPr/>
          <p:nvPr/>
        </p:nvSpPr>
        <p:spPr>
          <a:xfrm>
            <a:off x="640080" y="868680"/>
            <a:ext cx="3383280" cy="320040"/>
          </a:xfrm>
          <a:prstGeom prst="rect">
            <a:avLst/>
          </a:prstGeom>
          <a:noFill/>
          <a:ln/>
        </p:spPr>
        <p:txBody>
          <a:bodyPr wrap="square" lIns="0" tIns="0" rIns="0" bIns="0" rtlCol="0" anchor="t"/>
          <a:lstStyle/>
          <a:p>
            <a:pPr algn="l" indent="0" marL="0">
              <a:buNone/>
            </a:pPr>
            <a:r>
              <a:rPr lang="en-US" sz="1350" b="1" dirty="0">
                <a:solidFill>
                  <a:srgbClr val="322164"/>
                </a:solidFill>
                <a:latin typeface="Cambria" pitchFamily="34" charset="0"/>
                <a:ea typeface="Cambria" pitchFamily="34" charset="-122"/>
                <a:cs typeface="Cambria" pitchFamily="34" charset="-120"/>
              </a:rPr>
              <a:t>Cấu hình</a:t>
            </a:r>
            <a:endParaRPr lang="en-US" sz="1350" dirty="0"/>
          </a:p>
        </p:txBody>
      </p:sp>
      <p:sp>
        <p:nvSpPr>
          <p:cNvPr id="6" name="Text 4"/>
          <p:cNvSpPr/>
          <p:nvPr/>
        </p:nvSpPr>
        <p:spPr>
          <a:xfrm>
            <a:off x="640080" y="1261872"/>
            <a:ext cx="201168" cy="658368"/>
          </a:xfrm>
          <a:prstGeom prst="rect">
            <a:avLst/>
          </a:prstGeom>
          <a:noFill/>
          <a:ln/>
        </p:spPr>
        <p:txBody>
          <a:bodyPr wrap="square" lIns="0" tIns="0" rIns="0" bIns="0" rtlCol="0" anchor="t"/>
          <a:lstStyle/>
          <a:p>
            <a:pPr algn="l" indent="0" marL="0">
              <a:buNone/>
            </a:pPr>
            <a:r>
              <a:rPr lang="en-US" sz="1250" b="1" dirty="0">
                <a:solidFill>
                  <a:srgbClr val="006666"/>
                </a:solidFill>
                <a:latin typeface="Cambria" pitchFamily="34" charset="0"/>
                <a:ea typeface="Cambria" pitchFamily="34" charset="-122"/>
                <a:cs typeface="Cambria" pitchFamily="34" charset="-120"/>
              </a:rPr>
              <a:t>•</a:t>
            </a:r>
            <a:endParaRPr lang="en-US" sz="1250" dirty="0"/>
          </a:p>
        </p:txBody>
      </p:sp>
      <p:sp>
        <p:nvSpPr>
          <p:cNvPr id="7" name="Text 5"/>
          <p:cNvSpPr/>
          <p:nvPr/>
        </p:nvSpPr>
        <p:spPr>
          <a:xfrm>
            <a:off x="868680" y="1261872"/>
            <a:ext cx="3200400" cy="640080"/>
          </a:xfrm>
          <a:prstGeom prst="rect">
            <a:avLst/>
          </a:prstGeom>
          <a:noFill/>
          <a:ln/>
        </p:spPr>
        <p:txBody>
          <a:bodyPr wrap="square" lIns="0" tIns="0" rIns="0" bIns="0" rtlCol="0" anchor="t"/>
          <a:lstStyle/>
          <a:p>
            <a:pPr algn="l" indent="0" marL="0">
              <a:lnSpc>
                <a:spcPct val="125000"/>
              </a:lnSpc>
              <a:buNone/>
            </a:pPr>
            <a:r>
              <a:rPr lang="en-US" sz="1250" dirty="0">
                <a:solidFill>
                  <a:srgbClr val="1A1A1A"/>
                </a:solidFill>
                <a:latin typeface="Cambria" pitchFamily="34" charset="0"/>
                <a:ea typeface="Cambria" pitchFamily="34" charset="-122"/>
                <a:cs typeface="Cambria" pitchFamily="34" charset="-120"/>
              </a:rPr>
              <a:t>Qwen2.5-VL-3B-Instruct</a:t>
            </a:r>
            <a:endParaRPr lang="en-US" sz="1250" dirty="0"/>
          </a:p>
        </p:txBody>
      </p:sp>
      <p:sp>
        <p:nvSpPr>
          <p:cNvPr id="8" name="Text 6"/>
          <p:cNvSpPr/>
          <p:nvPr/>
        </p:nvSpPr>
        <p:spPr>
          <a:xfrm>
            <a:off x="640080" y="1920240"/>
            <a:ext cx="201168" cy="658368"/>
          </a:xfrm>
          <a:prstGeom prst="rect">
            <a:avLst/>
          </a:prstGeom>
          <a:noFill/>
          <a:ln/>
        </p:spPr>
        <p:txBody>
          <a:bodyPr wrap="square" lIns="0" tIns="0" rIns="0" bIns="0" rtlCol="0" anchor="t"/>
          <a:lstStyle/>
          <a:p>
            <a:pPr algn="l" indent="0" marL="0">
              <a:buNone/>
            </a:pPr>
            <a:r>
              <a:rPr lang="en-US" sz="1250" b="1" dirty="0">
                <a:solidFill>
                  <a:srgbClr val="006666"/>
                </a:solidFill>
                <a:latin typeface="Cambria" pitchFamily="34" charset="0"/>
                <a:ea typeface="Cambria" pitchFamily="34" charset="-122"/>
                <a:cs typeface="Cambria" pitchFamily="34" charset="-120"/>
              </a:rPr>
              <a:t>•</a:t>
            </a:r>
            <a:endParaRPr lang="en-US" sz="1250" dirty="0"/>
          </a:p>
        </p:txBody>
      </p:sp>
      <p:sp>
        <p:nvSpPr>
          <p:cNvPr id="9" name="Text 7"/>
          <p:cNvSpPr/>
          <p:nvPr/>
        </p:nvSpPr>
        <p:spPr>
          <a:xfrm>
            <a:off x="868680" y="1920240"/>
            <a:ext cx="3200400" cy="640080"/>
          </a:xfrm>
          <a:prstGeom prst="rect">
            <a:avLst/>
          </a:prstGeom>
          <a:noFill/>
          <a:ln/>
        </p:spPr>
        <p:txBody>
          <a:bodyPr wrap="square" lIns="0" tIns="0" rIns="0" bIns="0" rtlCol="0" anchor="t"/>
          <a:lstStyle/>
          <a:p>
            <a:pPr algn="l" indent="0" marL="0">
              <a:lnSpc>
                <a:spcPct val="125000"/>
              </a:lnSpc>
              <a:buNone/>
            </a:pPr>
            <a:r>
              <a:rPr lang="en-US" sz="1250" dirty="0">
                <a:solidFill>
                  <a:srgbClr val="1A1A1A"/>
                </a:solidFill>
                <a:latin typeface="Cambria" pitchFamily="34" charset="0"/>
                <a:ea typeface="Cambria" pitchFamily="34" charset="-122"/>
                <a:cs typeface="Cambria" pitchFamily="34" charset="-120"/>
              </a:rPr>
              <a:t>QLoRA 4-bit trên phần ngôn ngữ, phần thị giác đóng băng</a:t>
            </a:r>
            <a:endParaRPr lang="en-US" sz="1250" dirty="0"/>
          </a:p>
        </p:txBody>
      </p:sp>
      <p:sp>
        <p:nvSpPr>
          <p:cNvPr id="10" name="Text 8"/>
          <p:cNvSpPr/>
          <p:nvPr/>
        </p:nvSpPr>
        <p:spPr>
          <a:xfrm>
            <a:off x="640080" y="2578608"/>
            <a:ext cx="201168" cy="658368"/>
          </a:xfrm>
          <a:prstGeom prst="rect">
            <a:avLst/>
          </a:prstGeom>
          <a:noFill/>
          <a:ln/>
        </p:spPr>
        <p:txBody>
          <a:bodyPr wrap="square" lIns="0" tIns="0" rIns="0" bIns="0" rtlCol="0" anchor="t"/>
          <a:lstStyle/>
          <a:p>
            <a:pPr algn="l" indent="0" marL="0">
              <a:buNone/>
            </a:pPr>
            <a:r>
              <a:rPr lang="en-US" sz="1250" b="1" dirty="0">
                <a:solidFill>
                  <a:srgbClr val="006666"/>
                </a:solidFill>
                <a:latin typeface="Cambria" pitchFamily="34" charset="0"/>
                <a:ea typeface="Cambria" pitchFamily="34" charset="-122"/>
                <a:cs typeface="Cambria" pitchFamily="34" charset="-120"/>
              </a:rPr>
              <a:t>•</a:t>
            </a:r>
            <a:endParaRPr lang="en-US" sz="1250" dirty="0"/>
          </a:p>
        </p:txBody>
      </p:sp>
      <p:sp>
        <p:nvSpPr>
          <p:cNvPr id="11" name="Text 9"/>
          <p:cNvSpPr/>
          <p:nvPr/>
        </p:nvSpPr>
        <p:spPr>
          <a:xfrm>
            <a:off x="868680" y="2578608"/>
            <a:ext cx="3200400" cy="640080"/>
          </a:xfrm>
          <a:prstGeom prst="rect">
            <a:avLst/>
          </a:prstGeom>
          <a:noFill/>
          <a:ln/>
        </p:spPr>
        <p:txBody>
          <a:bodyPr wrap="square" lIns="0" tIns="0" rIns="0" bIns="0" rtlCol="0" anchor="t"/>
          <a:lstStyle/>
          <a:p>
            <a:pPr algn="l" indent="0" marL="0">
              <a:lnSpc>
                <a:spcPct val="125000"/>
              </a:lnSpc>
              <a:buNone/>
            </a:pPr>
            <a:r>
              <a:rPr lang="en-US" sz="1250" dirty="0">
                <a:solidFill>
                  <a:srgbClr val="1A1A1A"/>
                </a:solidFill>
                <a:latin typeface="Cambria" pitchFamily="34" charset="0"/>
                <a:ea typeface="Cambria" pitchFamily="34" charset="-122"/>
                <a:cs typeface="Cambria" pitchFamily="34" charset="-120"/>
              </a:rPr>
              <a:t>hai lượt duyệt, 8.072 bước, GPU A100</a:t>
            </a:r>
            <a:endParaRPr lang="en-US" sz="1250" dirty="0"/>
          </a:p>
        </p:txBody>
      </p:sp>
      <p:sp>
        <p:nvSpPr>
          <p:cNvPr id="12" name="Text 10"/>
          <p:cNvSpPr/>
          <p:nvPr/>
        </p:nvSpPr>
        <p:spPr>
          <a:xfrm>
            <a:off x="640080" y="3236976"/>
            <a:ext cx="201168" cy="658368"/>
          </a:xfrm>
          <a:prstGeom prst="rect">
            <a:avLst/>
          </a:prstGeom>
          <a:noFill/>
          <a:ln/>
        </p:spPr>
        <p:txBody>
          <a:bodyPr wrap="square" lIns="0" tIns="0" rIns="0" bIns="0" rtlCol="0" anchor="t"/>
          <a:lstStyle/>
          <a:p>
            <a:pPr algn="l" indent="0" marL="0">
              <a:buNone/>
            </a:pPr>
            <a:r>
              <a:rPr lang="en-US" sz="1250" b="1" dirty="0">
                <a:solidFill>
                  <a:srgbClr val="006666"/>
                </a:solidFill>
                <a:latin typeface="Cambria" pitchFamily="34" charset="0"/>
                <a:ea typeface="Cambria" pitchFamily="34" charset="-122"/>
                <a:cs typeface="Cambria" pitchFamily="34" charset="-120"/>
              </a:rPr>
              <a:t>•</a:t>
            </a:r>
            <a:endParaRPr lang="en-US" sz="1250" dirty="0"/>
          </a:p>
        </p:txBody>
      </p:sp>
      <p:sp>
        <p:nvSpPr>
          <p:cNvPr id="13" name="Text 11"/>
          <p:cNvSpPr/>
          <p:nvPr/>
        </p:nvSpPr>
        <p:spPr>
          <a:xfrm>
            <a:off x="868680" y="3236976"/>
            <a:ext cx="3200400" cy="640080"/>
          </a:xfrm>
          <a:prstGeom prst="rect">
            <a:avLst/>
          </a:prstGeom>
          <a:noFill/>
          <a:ln/>
        </p:spPr>
        <p:txBody>
          <a:bodyPr wrap="square" lIns="0" tIns="0" rIns="0" bIns="0" rtlCol="0" anchor="t"/>
          <a:lstStyle/>
          <a:p>
            <a:pPr algn="l" indent="0" marL="0">
              <a:lnSpc>
                <a:spcPct val="125000"/>
              </a:lnSpc>
              <a:buNone/>
            </a:pPr>
            <a:r>
              <a:rPr lang="en-US" sz="1250" dirty="0">
                <a:solidFill>
                  <a:srgbClr val="1A1A1A"/>
                </a:solidFill>
                <a:latin typeface="Cambria" pitchFamily="34" charset="0"/>
                <a:ea typeface="Cambria" pitchFamily="34" charset="-122"/>
                <a:cs typeface="Cambria" pitchFamily="34" charset="-120"/>
              </a:rPr>
              <a:t>hai hạt giống: 101 và 202</a:t>
            </a:r>
            <a:endParaRPr lang="en-US" sz="1250" dirty="0"/>
          </a:p>
        </p:txBody>
      </p:sp>
      <p:sp>
        <p:nvSpPr>
          <p:cNvPr id="14" name="Shape 12"/>
          <p:cNvSpPr/>
          <p:nvPr/>
        </p:nvSpPr>
        <p:spPr>
          <a:xfrm>
            <a:off x="4663440" y="3657600"/>
            <a:ext cx="3977640" cy="0"/>
          </a:xfrm>
          <a:prstGeom prst="line">
            <a:avLst/>
          </a:prstGeom>
          <a:noFill/>
          <a:ln w="15240">
            <a:solidFill>
              <a:srgbClr val="6E6890"/>
            </a:solidFill>
            <a:prstDash val="solid"/>
          </a:ln>
        </p:spPr>
      </p:sp>
      <p:sp>
        <p:nvSpPr>
          <p:cNvPr id="15" name="Shape 13"/>
          <p:cNvSpPr/>
          <p:nvPr/>
        </p:nvSpPr>
        <p:spPr>
          <a:xfrm>
            <a:off x="4754880" y="2025396"/>
            <a:ext cx="685800" cy="1632204"/>
          </a:xfrm>
          <a:prstGeom prst="rect">
            <a:avLst/>
          </a:prstGeom>
          <a:solidFill>
            <a:srgbClr val="8A8798"/>
          </a:solidFill>
          <a:ln/>
        </p:spPr>
      </p:sp>
      <p:sp>
        <p:nvSpPr>
          <p:cNvPr id="16" name="Text 14"/>
          <p:cNvSpPr/>
          <p:nvPr/>
        </p:nvSpPr>
        <p:spPr>
          <a:xfrm>
            <a:off x="4572000" y="1732788"/>
            <a:ext cx="1051560" cy="274320"/>
          </a:xfrm>
          <a:prstGeom prst="rect">
            <a:avLst/>
          </a:prstGeom>
          <a:noFill/>
          <a:ln/>
        </p:spPr>
        <p:txBody>
          <a:bodyPr wrap="square" lIns="0" tIns="0" rIns="0" bIns="0" rtlCol="0" anchor="t"/>
          <a:lstStyle/>
          <a:p>
            <a:pPr algn="ctr" indent="0" marL="0">
              <a:buNone/>
            </a:pPr>
            <a:r>
              <a:rPr lang="en-US" sz="1200" b="1" dirty="0">
                <a:solidFill>
                  <a:srgbClr val="8A8798"/>
                </a:solidFill>
                <a:latin typeface="Cambria" pitchFamily="34" charset="0"/>
                <a:ea typeface="Cambria" pitchFamily="34" charset="-122"/>
                <a:cs typeface="Cambria" pitchFamily="34" charset="-120"/>
              </a:rPr>
              <a:t>47,6</a:t>
            </a:r>
            <a:endParaRPr lang="en-US" sz="1200" dirty="0"/>
          </a:p>
        </p:txBody>
      </p:sp>
      <p:sp>
        <p:nvSpPr>
          <p:cNvPr id="17" name="Text 15"/>
          <p:cNvSpPr/>
          <p:nvPr/>
        </p:nvSpPr>
        <p:spPr>
          <a:xfrm>
            <a:off x="4526280" y="3703320"/>
            <a:ext cx="1143000" cy="411480"/>
          </a:xfrm>
          <a:prstGeom prst="rect">
            <a:avLst/>
          </a:prstGeom>
          <a:noFill/>
          <a:ln/>
        </p:spPr>
        <p:txBody>
          <a:bodyPr wrap="square" lIns="0" tIns="0" rIns="0" bIns="0" rtlCol="0" anchor="t"/>
          <a:lstStyle/>
          <a:p>
            <a:pPr algn="ctr" indent="0" marL="0">
              <a:lnSpc>
                <a:spcPct val="105000"/>
              </a:lnSpc>
              <a:buNone/>
            </a:pPr>
            <a:r>
              <a:rPr lang="en-US" sz="1050" dirty="0">
                <a:solidFill>
                  <a:srgbClr val="1A1A1A"/>
                </a:solidFill>
                <a:latin typeface="Cambria" pitchFamily="34" charset="0"/>
                <a:ea typeface="Cambria" pitchFamily="34" charset="-122"/>
                <a:cs typeface="Cambria" pitchFamily="34" charset="-120"/>
              </a:rPr>
              <a:t>Base</a:t>
            </a:r>
            <a:endParaRPr lang="en-US" sz="1050" dirty="0"/>
          </a:p>
        </p:txBody>
      </p:sp>
      <p:sp>
        <p:nvSpPr>
          <p:cNvPr id="18" name="Shape 16"/>
          <p:cNvSpPr/>
          <p:nvPr/>
        </p:nvSpPr>
        <p:spPr>
          <a:xfrm>
            <a:off x="5715000" y="1631061"/>
            <a:ext cx="685800" cy="2026539"/>
          </a:xfrm>
          <a:prstGeom prst="rect">
            <a:avLst/>
          </a:prstGeom>
          <a:solidFill>
            <a:srgbClr val="006666"/>
          </a:solidFill>
          <a:ln/>
        </p:spPr>
      </p:sp>
      <p:sp>
        <p:nvSpPr>
          <p:cNvPr id="19" name="Text 17"/>
          <p:cNvSpPr/>
          <p:nvPr/>
        </p:nvSpPr>
        <p:spPr>
          <a:xfrm>
            <a:off x="5532120" y="1338453"/>
            <a:ext cx="1051560" cy="274320"/>
          </a:xfrm>
          <a:prstGeom prst="rect">
            <a:avLst/>
          </a:prstGeom>
          <a:noFill/>
          <a:ln/>
        </p:spPr>
        <p:txBody>
          <a:bodyPr wrap="square" lIns="0" tIns="0" rIns="0" bIns="0" rtlCol="0" anchor="t"/>
          <a:lstStyle/>
          <a:p>
            <a:pPr algn="ctr" indent="0" marL="0">
              <a:buNone/>
            </a:pPr>
            <a:r>
              <a:rPr lang="en-US" sz="1200" b="1" dirty="0">
                <a:solidFill>
                  <a:srgbClr val="006666"/>
                </a:solidFill>
                <a:latin typeface="Cambria" pitchFamily="34" charset="0"/>
                <a:ea typeface="Cambria" pitchFamily="34" charset="-122"/>
                <a:cs typeface="Cambria" pitchFamily="34" charset="-120"/>
              </a:rPr>
              <a:t>59,1</a:t>
            </a:r>
            <a:endParaRPr lang="en-US" sz="1200" dirty="0"/>
          </a:p>
        </p:txBody>
      </p:sp>
      <p:sp>
        <p:nvSpPr>
          <p:cNvPr id="20" name="Text 18"/>
          <p:cNvSpPr/>
          <p:nvPr/>
        </p:nvSpPr>
        <p:spPr>
          <a:xfrm>
            <a:off x="5486400" y="3703320"/>
            <a:ext cx="1143000" cy="411480"/>
          </a:xfrm>
          <a:prstGeom prst="rect">
            <a:avLst/>
          </a:prstGeom>
          <a:noFill/>
          <a:ln/>
        </p:spPr>
        <p:txBody>
          <a:bodyPr wrap="square" lIns="0" tIns="0" rIns="0" bIns="0" rtlCol="0" anchor="t"/>
          <a:lstStyle/>
          <a:p>
            <a:pPr algn="ctr" indent="0" marL="0">
              <a:lnSpc>
                <a:spcPct val="105000"/>
              </a:lnSpc>
              <a:buNone/>
            </a:pPr>
            <a:r>
              <a:rPr lang="en-US" sz="1050" dirty="0">
                <a:solidFill>
                  <a:srgbClr val="1A1A1A"/>
                </a:solidFill>
                <a:latin typeface="Cambria" pitchFamily="34" charset="0"/>
                <a:ea typeface="Cambria" pitchFamily="34" charset="-122"/>
                <a:cs typeface="Cambria" pitchFamily="34" charset="-120"/>
              </a:rPr>
              <a:t>S1</a:t>
            </a:r>
            <a:endParaRPr lang="en-US" sz="1050" dirty="0"/>
          </a:p>
          <a:p>
            <a:pPr algn="ctr" indent="0" marL="0">
              <a:lnSpc>
                <a:spcPct val="105000"/>
              </a:lnSpc>
              <a:buNone/>
            </a:pPr>
            <a:r>
              <a:rPr lang="en-US" sz="1050" dirty="0">
                <a:solidFill>
                  <a:srgbClr val="1A1A1A"/>
                </a:solidFill>
                <a:latin typeface="Cambria" pitchFamily="34" charset="0"/>
                <a:ea typeface="Cambria" pitchFamily="34" charset="-122"/>
                <a:cs typeface="Cambria" pitchFamily="34" charset="-120"/>
              </a:rPr>
              <a:t>hạt 101</a:t>
            </a:r>
            <a:endParaRPr lang="en-US" sz="1050" dirty="0"/>
          </a:p>
        </p:txBody>
      </p:sp>
      <p:sp>
        <p:nvSpPr>
          <p:cNvPr id="21" name="Shape 19"/>
          <p:cNvSpPr/>
          <p:nvPr/>
        </p:nvSpPr>
        <p:spPr>
          <a:xfrm>
            <a:off x="6675120" y="1613916"/>
            <a:ext cx="685800" cy="2043684"/>
          </a:xfrm>
          <a:prstGeom prst="rect">
            <a:avLst/>
          </a:prstGeom>
          <a:solidFill>
            <a:srgbClr val="006666"/>
          </a:solidFill>
          <a:ln/>
        </p:spPr>
      </p:sp>
      <p:sp>
        <p:nvSpPr>
          <p:cNvPr id="22" name="Text 20"/>
          <p:cNvSpPr/>
          <p:nvPr/>
        </p:nvSpPr>
        <p:spPr>
          <a:xfrm>
            <a:off x="6492240" y="1321308"/>
            <a:ext cx="1051560" cy="274320"/>
          </a:xfrm>
          <a:prstGeom prst="rect">
            <a:avLst/>
          </a:prstGeom>
          <a:noFill/>
          <a:ln/>
        </p:spPr>
        <p:txBody>
          <a:bodyPr wrap="square" lIns="0" tIns="0" rIns="0" bIns="0" rtlCol="0" anchor="t"/>
          <a:lstStyle/>
          <a:p>
            <a:pPr algn="ctr" indent="0" marL="0">
              <a:buNone/>
            </a:pPr>
            <a:r>
              <a:rPr lang="en-US" sz="1200" b="1" dirty="0">
                <a:solidFill>
                  <a:srgbClr val="006666"/>
                </a:solidFill>
                <a:latin typeface="Cambria" pitchFamily="34" charset="0"/>
                <a:ea typeface="Cambria" pitchFamily="34" charset="-122"/>
                <a:cs typeface="Cambria" pitchFamily="34" charset="-120"/>
              </a:rPr>
              <a:t>59,6</a:t>
            </a:r>
            <a:endParaRPr lang="en-US" sz="1200" dirty="0"/>
          </a:p>
        </p:txBody>
      </p:sp>
      <p:sp>
        <p:nvSpPr>
          <p:cNvPr id="23" name="Text 21"/>
          <p:cNvSpPr/>
          <p:nvPr/>
        </p:nvSpPr>
        <p:spPr>
          <a:xfrm>
            <a:off x="6446520" y="3703320"/>
            <a:ext cx="1143000" cy="411480"/>
          </a:xfrm>
          <a:prstGeom prst="rect">
            <a:avLst/>
          </a:prstGeom>
          <a:noFill/>
          <a:ln/>
        </p:spPr>
        <p:txBody>
          <a:bodyPr wrap="square" lIns="0" tIns="0" rIns="0" bIns="0" rtlCol="0" anchor="t"/>
          <a:lstStyle/>
          <a:p>
            <a:pPr algn="ctr" indent="0" marL="0">
              <a:lnSpc>
                <a:spcPct val="105000"/>
              </a:lnSpc>
              <a:buNone/>
            </a:pPr>
            <a:r>
              <a:rPr lang="en-US" sz="1050" dirty="0">
                <a:solidFill>
                  <a:srgbClr val="1A1A1A"/>
                </a:solidFill>
                <a:latin typeface="Cambria" pitchFamily="34" charset="0"/>
                <a:ea typeface="Cambria" pitchFamily="34" charset="-122"/>
                <a:cs typeface="Cambria" pitchFamily="34" charset="-120"/>
              </a:rPr>
              <a:t>S1</a:t>
            </a:r>
            <a:endParaRPr lang="en-US" sz="1050" dirty="0"/>
          </a:p>
          <a:p>
            <a:pPr algn="ctr" indent="0" marL="0">
              <a:lnSpc>
                <a:spcPct val="105000"/>
              </a:lnSpc>
              <a:buNone/>
            </a:pPr>
            <a:r>
              <a:rPr lang="en-US" sz="1050" dirty="0">
                <a:solidFill>
                  <a:srgbClr val="1A1A1A"/>
                </a:solidFill>
                <a:latin typeface="Cambria" pitchFamily="34" charset="0"/>
                <a:ea typeface="Cambria" pitchFamily="34" charset="-122"/>
                <a:cs typeface="Cambria" pitchFamily="34" charset="-120"/>
              </a:rPr>
              <a:t>hạt 202</a:t>
            </a:r>
            <a:endParaRPr lang="en-US" sz="1050" dirty="0"/>
          </a:p>
        </p:txBody>
      </p:sp>
      <p:sp>
        <p:nvSpPr>
          <p:cNvPr id="24" name="Shape 22"/>
          <p:cNvSpPr/>
          <p:nvPr/>
        </p:nvSpPr>
        <p:spPr>
          <a:xfrm>
            <a:off x="7635240" y="1061847"/>
            <a:ext cx="685800" cy="2595753"/>
          </a:xfrm>
          <a:prstGeom prst="rect">
            <a:avLst/>
          </a:prstGeom>
          <a:solidFill>
            <a:srgbClr val="1B8A5A"/>
          </a:solidFill>
          <a:ln/>
        </p:spPr>
      </p:sp>
      <p:sp>
        <p:nvSpPr>
          <p:cNvPr id="25" name="Text 23"/>
          <p:cNvSpPr/>
          <p:nvPr/>
        </p:nvSpPr>
        <p:spPr>
          <a:xfrm>
            <a:off x="7452360" y="769239"/>
            <a:ext cx="1051560" cy="274320"/>
          </a:xfrm>
          <a:prstGeom prst="rect">
            <a:avLst/>
          </a:prstGeom>
          <a:noFill/>
          <a:ln/>
        </p:spPr>
        <p:txBody>
          <a:bodyPr wrap="square" lIns="0" tIns="0" rIns="0" bIns="0" rtlCol="0" anchor="t"/>
          <a:lstStyle/>
          <a:p>
            <a:pPr algn="ctr" indent="0" marL="0">
              <a:buNone/>
            </a:pPr>
            <a:r>
              <a:rPr lang="en-US" sz="1200" b="1" dirty="0">
                <a:solidFill>
                  <a:srgbClr val="1B8A5A"/>
                </a:solidFill>
                <a:latin typeface="Cambria" pitchFamily="34" charset="0"/>
                <a:ea typeface="Cambria" pitchFamily="34" charset="-122"/>
                <a:cs typeface="Cambria" pitchFamily="34" charset="-120"/>
              </a:rPr>
              <a:t>75,7</a:t>
            </a:r>
            <a:endParaRPr lang="en-US" sz="1200" dirty="0"/>
          </a:p>
        </p:txBody>
      </p:sp>
      <p:sp>
        <p:nvSpPr>
          <p:cNvPr id="26" name="Text 24"/>
          <p:cNvSpPr/>
          <p:nvPr/>
        </p:nvSpPr>
        <p:spPr>
          <a:xfrm>
            <a:off x="7406640" y="3703320"/>
            <a:ext cx="1143000" cy="411480"/>
          </a:xfrm>
          <a:prstGeom prst="rect">
            <a:avLst/>
          </a:prstGeom>
          <a:noFill/>
          <a:ln/>
        </p:spPr>
        <p:txBody>
          <a:bodyPr wrap="square" lIns="0" tIns="0" rIns="0" bIns="0" rtlCol="0" anchor="t"/>
          <a:lstStyle/>
          <a:p>
            <a:pPr algn="ctr" indent="0" marL="0">
              <a:lnSpc>
                <a:spcPct val="105000"/>
              </a:lnSpc>
              <a:buNone/>
            </a:pPr>
            <a:r>
              <a:rPr lang="en-US" sz="1050" dirty="0">
                <a:solidFill>
                  <a:srgbClr val="1A1A1A"/>
                </a:solidFill>
                <a:latin typeface="Cambria" pitchFamily="34" charset="0"/>
                <a:ea typeface="Cambria" pitchFamily="34" charset="-122"/>
                <a:cs typeface="Cambria" pitchFamily="34" charset="-120"/>
              </a:rPr>
              <a:t>câu</a:t>
            </a:r>
            <a:endParaRPr lang="en-US" sz="1050" dirty="0"/>
          </a:p>
          <a:p>
            <a:pPr algn="ctr" indent="0" marL="0">
              <a:lnSpc>
                <a:spcPct val="105000"/>
              </a:lnSpc>
              <a:buNone/>
            </a:pPr>
            <a:r>
              <a:rPr lang="en-US" sz="1050" dirty="0">
                <a:solidFill>
                  <a:srgbClr val="1A1A1A"/>
                </a:solidFill>
                <a:latin typeface="Cambria" pitchFamily="34" charset="0"/>
                <a:ea typeface="Cambria" pitchFamily="34" charset="-122"/>
                <a:cs typeface="Cambria" pitchFamily="34" charset="-120"/>
              </a:rPr>
              <a:t>chuẩn</a:t>
            </a:r>
            <a:endParaRPr lang="en-US" sz="1050" dirty="0"/>
          </a:p>
        </p:txBody>
      </p:sp>
      <p:sp>
        <p:nvSpPr>
          <p:cNvPr id="27" name="Text 25"/>
          <p:cNvSpPr/>
          <p:nvPr/>
        </p:nvSpPr>
        <p:spPr>
          <a:xfrm>
            <a:off x="4754880" y="777240"/>
            <a:ext cx="3657600" cy="274320"/>
          </a:xfrm>
          <a:prstGeom prst="rect">
            <a:avLst/>
          </a:prstGeom>
          <a:noFill/>
          <a:ln/>
        </p:spPr>
        <p:txBody>
          <a:bodyPr wrap="square" lIns="0" tIns="0" rIns="0" bIns="0" rtlCol="0" anchor="t"/>
          <a:lstStyle/>
          <a:p>
            <a:pPr algn="l" indent="0" marL="0">
              <a:buNone/>
            </a:pPr>
            <a:r>
              <a:rPr lang="en-US" sz="1100" i="1" dirty="0">
                <a:solidFill>
                  <a:srgbClr val="5A5A66"/>
                </a:solidFill>
                <a:latin typeface="Cambria" pitchFamily="34" charset="0"/>
                <a:ea typeface="Cambria" pitchFamily="34" charset="-122"/>
                <a:cs typeface="Cambria" pitchFamily="34" charset="-120"/>
              </a:rPr>
              <a:t>executability (%)</a:t>
            </a:r>
            <a:endParaRPr lang="en-US" sz="1100" dirty="0"/>
          </a:p>
        </p:txBody>
      </p:sp>
      <p:sp>
        <p:nvSpPr>
          <p:cNvPr id="28" name="Shape 26"/>
          <p:cNvSpPr/>
          <p:nvPr/>
        </p:nvSpPr>
        <p:spPr>
          <a:xfrm>
            <a:off x="457200" y="4206240"/>
            <a:ext cx="8229600" cy="2057400"/>
          </a:xfrm>
          <a:prstGeom prst="roundRect">
            <a:avLst>
              <a:gd name="adj" fmla="val 2667"/>
            </a:avLst>
          </a:prstGeom>
          <a:solidFill>
            <a:srgbClr val="E9E8EC"/>
          </a:solidFill>
          <a:ln/>
          <a:effectLst>
            <a:outerShdw sx="100000" sy="100000" kx="0" ky="0" algn="bl" rotWithShape="0" blurRad="63500" dist="31750" dir="2700000">
              <a:srgbClr val="8C8C99">
                <a:alpha val="45000"/>
              </a:srgbClr>
            </a:outerShdw>
          </a:effectLst>
        </p:spPr>
      </p:sp>
      <p:sp>
        <p:nvSpPr>
          <p:cNvPr id="29" name="Text 27"/>
          <p:cNvSpPr/>
          <p:nvPr/>
        </p:nvSpPr>
        <p:spPr>
          <a:xfrm>
            <a:off x="640080" y="4315968"/>
            <a:ext cx="201168" cy="640080"/>
          </a:xfrm>
          <a:prstGeom prst="rect">
            <a:avLst/>
          </a:prstGeom>
          <a:noFill/>
          <a:ln/>
        </p:spPr>
        <p:txBody>
          <a:bodyPr wrap="square" lIns="0" tIns="0" rIns="0" bIns="0" rtlCol="0" anchor="t"/>
          <a:lstStyle/>
          <a:p>
            <a:pPr algn="l" indent="0" marL="0">
              <a:buNone/>
            </a:pPr>
            <a:r>
              <a:rPr lang="en-US" sz="1250" b="1" dirty="0">
                <a:solidFill>
                  <a:srgbClr val="006666"/>
                </a:solidFill>
                <a:latin typeface="Cambria" pitchFamily="34" charset="0"/>
                <a:ea typeface="Cambria" pitchFamily="34" charset="-122"/>
                <a:cs typeface="Cambria" pitchFamily="34" charset="-120"/>
              </a:rPr>
              <a:t>•</a:t>
            </a:r>
            <a:endParaRPr lang="en-US" sz="1250" dirty="0"/>
          </a:p>
        </p:txBody>
      </p:sp>
      <p:sp>
        <p:nvSpPr>
          <p:cNvPr id="30" name="Text 28"/>
          <p:cNvSpPr/>
          <p:nvPr/>
        </p:nvSpPr>
        <p:spPr>
          <a:xfrm>
            <a:off x="868680" y="4315968"/>
            <a:ext cx="7635240" cy="621792"/>
          </a:xfrm>
          <a:prstGeom prst="rect">
            <a:avLst/>
          </a:prstGeom>
          <a:noFill/>
          <a:ln/>
        </p:spPr>
        <p:txBody>
          <a:bodyPr wrap="square" lIns="0" tIns="0" rIns="0" bIns="0" rtlCol="0" anchor="t"/>
          <a:lstStyle/>
          <a:p>
            <a:pPr algn="l" indent="0" marL="0">
              <a:lnSpc>
                <a:spcPct val="125000"/>
              </a:lnSpc>
              <a:buNone/>
            </a:pPr>
            <a:r>
              <a:rPr lang="en-US" sz="1250" dirty="0">
                <a:solidFill>
                  <a:srgbClr val="1A1A1A"/>
                </a:solidFill>
                <a:latin typeface="Cambria" pitchFamily="34" charset="0"/>
                <a:ea typeface="Cambria" pitchFamily="34" charset="-122"/>
                <a:cs typeface="Cambria" pitchFamily="34" charset="-120"/>
              </a:rPr>
              <a:t>S1 hơn Base </a:t>
            </a:r>
            <a:pPr algn="l" indent="0" marL="0">
              <a:lnSpc>
                <a:spcPct val="125000"/>
              </a:lnSpc>
              <a:buNone/>
            </a:pPr>
            <a:r>
              <a:rPr lang="en-US" sz="1250" b="1" dirty="0">
                <a:solidFill>
                  <a:srgbClr val="1A1A1A"/>
                </a:solidFill>
                <a:latin typeface="Cambria" pitchFamily="34" charset="0"/>
                <a:ea typeface="Cambria" pitchFamily="34" charset="-122"/>
                <a:cs typeface="Cambria" pitchFamily="34" charset="-120"/>
              </a:rPr>
              <a:t>11,5 điểm</a:t>
            </a:r>
            <a:pPr algn="l" indent="0" marL="0">
              <a:lnSpc>
                <a:spcPct val="125000"/>
              </a:lnSpc>
              <a:buNone/>
            </a:pPr>
            <a:r>
              <a:rPr lang="en-US" sz="1250" dirty="0">
                <a:solidFill>
                  <a:srgbClr val="1A1A1A"/>
                </a:solidFill>
                <a:latin typeface="Cambria" pitchFamily="34" charset="0"/>
                <a:ea typeface="Cambria" pitchFamily="34" charset="-122"/>
                <a:cs typeface="Cambria" pitchFamily="34" charset="-120"/>
              </a:rPr>
              <a:t> (ghép cặp, p &lt; 0,001); hai hạt giống cho 11,5 và 12,0, nhiễu giữa hai hạt 0,46 điểm.</a:t>
            </a:r>
            <a:endParaRPr lang="en-US" sz="1250" dirty="0"/>
          </a:p>
        </p:txBody>
      </p:sp>
      <p:sp>
        <p:nvSpPr>
          <p:cNvPr id="31" name="Text 29"/>
          <p:cNvSpPr/>
          <p:nvPr/>
        </p:nvSpPr>
        <p:spPr>
          <a:xfrm>
            <a:off x="640080" y="4956048"/>
            <a:ext cx="201168" cy="640080"/>
          </a:xfrm>
          <a:prstGeom prst="rect">
            <a:avLst/>
          </a:prstGeom>
          <a:noFill/>
          <a:ln/>
        </p:spPr>
        <p:txBody>
          <a:bodyPr wrap="square" lIns="0" tIns="0" rIns="0" bIns="0" rtlCol="0" anchor="t"/>
          <a:lstStyle/>
          <a:p>
            <a:pPr algn="l" indent="0" marL="0">
              <a:buNone/>
            </a:pPr>
            <a:r>
              <a:rPr lang="en-US" sz="1250" b="1" dirty="0">
                <a:solidFill>
                  <a:srgbClr val="006666"/>
                </a:solidFill>
                <a:latin typeface="Cambria" pitchFamily="34" charset="0"/>
                <a:ea typeface="Cambria" pitchFamily="34" charset="-122"/>
                <a:cs typeface="Cambria" pitchFamily="34" charset="-120"/>
              </a:rPr>
              <a:t>•</a:t>
            </a:r>
            <a:endParaRPr lang="en-US" sz="1250" dirty="0"/>
          </a:p>
        </p:txBody>
      </p:sp>
      <p:sp>
        <p:nvSpPr>
          <p:cNvPr id="32" name="Text 30"/>
          <p:cNvSpPr/>
          <p:nvPr/>
        </p:nvSpPr>
        <p:spPr>
          <a:xfrm>
            <a:off x="868680" y="4956048"/>
            <a:ext cx="7635240" cy="621792"/>
          </a:xfrm>
          <a:prstGeom prst="rect">
            <a:avLst/>
          </a:prstGeom>
          <a:noFill/>
          <a:ln/>
        </p:spPr>
        <p:txBody>
          <a:bodyPr wrap="square" lIns="0" tIns="0" rIns="0" bIns="0" rtlCol="0" anchor="t"/>
          <a:lstStyle/>
          <a:p>
            <a:pPr algn="l" indent="0" marL="0">
              <a:lnSpc>
                <a:spcPct val="125000"/>
              </a:lnSpc>
              <a:buNone/>
            </a:pPr>
            <a:r>
              <a:rPr lang="en-US" sz="1250" dirty="0">
                <a:solidFill>
                  <a:srgbClr val="1A1A1A"/>
                </a:solidFill>
                <a:latin typeface="Cambria" pitchFamily="34" charset="0"/>
                <a:ea typeface="Cambria" pitchFamily="34" charset="-122"/>
                <a:cs typeface="Cambria" pitchFamily="34" charset="-120"/>
              </a:rPr>
              <a:t>Chênh lệch giữ nguyên sau khi kiểm sáu cách giải thích thay thế; bỏ hẳn những câu chép nguyên văn câu chuẩn vẫn còn 8,4 điểm.</a:t>
            </a:r>
            <a:endParaRPr lang="en-US" sz="1250" dirty="0"/>
          </a:p>
        </p:txBody>
      </p:sp>
      <p:sp>
        <p:nvSpPr>
          <p:cNvPr id="33" name="Text 31"/>
          <p:cNvSpPr/>
          <p:nvPr/>
        </p:nvSpPr>
        <p:spPr>
          <a:xfrm>
            <a:off x="640080" y="5596128"/>
            <a:ext cx="201168" cy="640080"/>
          </a:xfrm>
          <a:prstGeom prst="rect">
            <a:avLst/>
          </a:prstGeom>
          <a:noFill/>
          <a:ln/>
        </p:spPr>
        <p:txBody>
          <a:bodyPr wrap="square" lIns="0" tIns="0" rIns="0" bIns="0" rtlCol="0" anchor="t"/>
          <a:lstStyle/>
          <a:p>
            <a:pPr algn="l" indent="0" marL="0">
              <a:buNone/>
            </a:pPr>
            <a:r>
              <a:rPr lang="en-US" sz="1250" b="1" dirty="0">
                <a:solidFill>
                  <a:srgbClr val="006666"/>
                </a:solidFill>
                <a:latin typeface="Cambria" pitchFamily="34" charset="0"/>
                <a:ea typeface="Cambria" pitchFamily="34" charset="-122"/>
                <a:cs typeface="Cambria" pitchFamily="34" charset="-120"/>
              </a:rPr>
              <a:t>•</a:t>
            </a:r>
            <a:endParaRPr lang="en-US" sz="1250" dirty="0"/>
          </a:p>
        </p:txBody>
      </p:sp>
      <p:sp>
        <p:nvSpPr>
          <p:cNvPr id="34" name="Text 32"/>
          <p:cNvSpPr/>
          <p:nvPr/>
        </p:nvSpPr>
        <p:spPr>
          <a:xfrm>
            <a:off x="868680" y="5596128"/>
            <a:ext cx="7635240" cy="621792"/>
          </a:xfrm>
          <a:prstGeom prst="rect">
            <a:avLst/>
          </a:prstGeom>
          <a:noFill/>
          <a:ln/>
        </p:spPr>
        <p:txBody>
          <a:bodyPr wrap="square" lIns="0" tIns="0" rIns="0" bIns="0" rtlCol="0" anchor="t"/>
          <a:lstStyle/>
          <a:p>
            <a:pPr algn="l" indent="0" marL="0">
              <a:lnSpc>
                <a:spcPct val="125000"/>
              </a:lnSpc>
              <a:buNone/>
            </a:pPr>
            <a:r>
              <a:rPr lang="en-US" sz="1250" dirty="0">
                <a:solidFill>
                  <a:srgbClr val="1A1A1A"/>
                </a:solidFill>
                <a:latin typeface="Cambria" pitchFamily="34" charset="0"/>
                <a:ea typeface="Cambria" pitchFamily="34" charset="-122"/>
                <a:cs typeface="Cambria" pitchFamily="34" charset="-120"/>
              </a:rPr>
              <a:t>Theo luật hộp phần tử của chính AndroidControl: Base 53,6, S1 65,5, câu chuẩn 83,8.</a:t>
            </a:r>
            <a:endParaRPr lang="en-US" sz="1250" dirty="0"/>
          </a:p>
        </p:txBody>
      </p:sp>
      <p:sp>
        <p:nvSpPr>
          <p:cNvPr id="36" name="Shape 33"/>
          <p:cNvSpPr/>
          <p:nvPr/>
        </p:nvSpPr>
        <p:spPr>
          <a:xfrm>
            <a:off x="0" y="6620256"/>
            <a:ext cx="2743200" cy="237744"/>
          </a:xfrm>
          <a:prstGeom prst="rect">
            <a:avLst/>
          </a:prstGeom>
          <a:solidFill>
            <a:srgbClr val="191132"/>
          </a:solidFill>
          <a:ln/>
        </p:spPr>
      </p:sp>
      <p:sp>
        <p:nvSpPr>
          <p:cNvPr id="37" name="Shape 34"/>
          <p:cNvSpPr/>
          <p:nvPr/>
        </p:nvSpPr>
        <p:spPr>
          <a:xfrm>
            <a:off x="2743200" y="6620256"/>
            <a:ext cx="3383280" cy="237744"/>
          </a:xfrm>
          <a:prstGeom prst="rect">
            <a:avLst/>
          </a:prstGeom>
          <a:solidFill>
            <a:srgbClr val="25194B"/>
          </a:solidFill>
          <a:ln/>
        </p:spPr>
      </p:sp>
      <p:sp>
        <p:nvSpPr>
          <p:cNvPr id="38" name="Shape 35"/>
          <p:cNvSpPr/>
          <p:nvPr/>
        </p:nvSpPr>
        <p:spPr>
          <a:xfrm>
            <a:off x="6126480" y="6620256"/>
            <a:ext cx="1737360" cy="237744"/>
          </a:xfrm>
          <a:prstGeom prst="rect">
            <a:avLst/>
          </a:prstGeom>
          <a:solidFill>
            <a:srgbClr val="4F417A"/>
          </a:solidFill>
          <a:ln/>
        </p:spPr>
      </p:sp>
      <p:sp>
        <p:nvSpPr>
          <p:cNvPr id="39" name="Shape 36"/>
          <p:cNvSpPr/>
          <p:nvPr/>
        </p:nvSpPr>
        <p:spPr>
          <a:xfrm>
            <a:off x="7863840" y="6620256"/>
            <a:ext cx="1280160" cy="237744"/>
          </a:xfrm>
          <a:prstGeom prst="rect">
            <a:avLst/>
          </a:prstGeom>
          <a:solidFill>
            <a:srgbClr val="7A7099"/>
          </a:solidFill>
          <a:ln/>
        </p:spPr>
      </p:sp>
      <p:sp>
        <p:nvSpPr>
          <p:cNvPr id="40" name="Text 37"/>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Luận văn thạc sĩ</a:t>
            </a:r>
            <a:endParaRPr lang="en-US" sz="800" dirty="0"/>
          </a:p>
        </p:txBody>
      </p:sp>
      <p:sp>
        <p:nvSpPr>
          <p:cNvPr id="41" name="Text 38"/>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Phát sinh tự động hướng dẫn sử dụng phần mềm dựa trên LLM</a:t>
            </a:r>
            <a:endParaRPr lang="en-US" sz="800" dirty="0"/>
          </a:p>
        </p:txBody>
      </p:sp>
      <p:sp>
        <p:nvSpPr>
          <p:cNvPr id="42" name="Text 39"/>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43" name="Text 40"/>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8/24</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Các hướng đã thử trước phương pháp đề xuất</a:t>
            </a:r>
            <a:endParaRPr lang="en-US" sz="1900" dirty="0"/>
          </a:p>
        </p:txBody>
      </p:sp>
      <p:sp>
        <p:nvSpPr>
          <p:cNvPr id="4" name="Shape 2"/>
          <p:cNvSpPr/>
          <p:nvPr/>
        </p:nvSpPr>
        <p:spPr>
          <a:xfrm>
            <a:off x="457200" y="731520"/>
            <a:ext cx="8229600" cy="365760"/>
          </a:xfrm>
          <a:prstGeom prst="rect">
            <a:avLst/>
          </a:prstGeom>
          <a:solidFill>
            <a:srgbClr val="322164"/>
          </a:solidFill>
          <a:ln/>
        </p:spPr>
      </p:sp>
      <p:sp>
        <p:nvSpPr>
          <p:cNvPr id="5" name="Text 3"/>
          <p:cNvSpPr/>
          <p:nvPr/>
        </p:nvSpPr>
        <p:spPr>
          <a:xfrm>
            <a:off x="457200" y="731520"/>
            <a:ext cx="2148840" cy="365760"/>
          </a:xfrm>
          <a:prstGeom prst="rect">
            <a:avLst/>
          </a:prstGeom>
          <a:noFill/>
          <a:ln/>
        </p:spPr>
        <p:txBody>
          <a:bodyPr wrap="square" lIns="38100" tIns="38100" rIns="38100" bIns="38100" rtlCol="0" anchor="ctr"/>
          <a:lstStyle/>
          <a:p>
            <a:pPr algn="l" indent="0" marL="0">
              <a:buNone/>
            </a:pPr>
            <a:r>
              <a:rPr lang="en-US" sz="1200" b="1" dirty="0">
                <a:solidFill>
                  <a:srgbClr val="FFFFFF"/>
                </a:solidFill>
                <a:latin typeface="Cambria" pitchFamily="34" charset="0"/>
                <a:ea typeface="Cambria" pitchFamily="34" charset="-122"/>
                <a:cs typeface="Cambria" pitchFamily="34" charset="-120"/>
              </a:rPr>
              <a:t>Hướng</a:t>
            </a:r>
            <a:endParaRPr lang="en-US" sz="1200" dirty="0"/>
          </a:p>
        </p:txBody>
      </p:sp>
      <p:sp>
        <p:nvSpPr>
          <p:cNvPr id="6" name="Text 4"/>
          <p:cNvSpPr/>
          <p:nvPr/>
        </p:nvSpPr>
        <p:spPr>
          <a:xfrm>
            <a:off x="2606040" y="731520"/>
            <a:ext cx="3520440" cy="365760"/>
          </a:xfrm>
          <a:prstGeom prst="rect">
            <a:avLst/>
          </a:prstGeom>
          <a:noFill/>
          <a:ln/>
        </p:spPr>
        <p:txBody>
          <a:bodyPr wrap="square" lIns="38100" tIns="38100" rIns="38100" bIns="38100" rtlCol="0" anchor="ctr"/>
          <a:lstStyle/>
          <a:p>
            <a:pPr algn="l" indent="0" marL="0">
              <a:buNone/>
            </a:pPr>
            <a:r>
              <a:rPr lang="en-US" sz="1200" b="1" dirty="0">
                <a:solidFill>
                  <a:srgbClr val="FFFFFF"/>
                </a:solidFill>
                <a:latin typeface="Cambria" pitchFamily="34" charset="0"/>
                <a:ea typeface="Cambria" pitchFamily="34" charset="-122"/>
                <a:cs typeface="Cambria" pitchFamily="34" charset="-120"/>
              </a:rPr>
              <a:t>Ý tưởng</a:t>
            </a:r>
            <a:endParaRPr lang="en-US" sz="1200" dirty="0"/>
          </a:p>
        </p:txBody>
      </p:sp>
      <p:sp>
        <p:nvSpPr>
          <p:cNvPr id="7" name="Text 5"/>
          <p:cNvSpPr/>
          <p:nvPr/>
        </p:nvSpPr>
        <p:spPr>
          <a:xfrm>
            <a:off x="6126480" y="731520"/>
            <a:ext cx="2560320" cy="365760"/>
          </a:xfrm>
          <a:prstGeom prst="rect">
            <a:avLst/>
          </a:prstGeom>
          <a:noFill/>
          <a:ln/>
        </p:spPr>
        <p:txBody>
          <a:bodyPr wrap="square" lIns="38100" tIns="38100" rIns="38100" bIns="38100" rtlCol="0" anchor="ctr"/>
          <a:lstStyle/>
          <a:p>
            <a:pPr algn="l" indent="0" marL="0">
              <a:buNone/>
            </a:pPr>
            <a:r>
              <a:rPr lang="en-US" sz="1200" b="1" dirty="0">
                <a:solidFill>
                  <a:srgbClr val="FFFFFF"/>
                </a:solidFill>
                <a:latin typeface="Cambria" pitchFamily="34" charset="0"/>
                <a:ea typeface="Cambria" pitchFamily="34" charset="-122"/>
                <a:cs typeface="Cambria" pitchFamily="34" charset="-120"/>
              </a:rPr>
              <a:t>Kết quả trên tập kiểm</a:t>
            </a:r>
            <a:endParaRPr lang="en-US" sz="1200" dirty="0"/>
          </a:p>
        </p:txBody>
      </p:sp>
      <p:sp>
        <p:nvSpPr>
          <p:cNvPr id="8" name="Text 6"/>
          <p:cNvSpPr/>
          <p:nvPr/>
        </p:nvSpPr>
        <p:spPr>
          <a:xfrm>
            <a:off x="457200" y="1097280"/>
            <a:ext cx="2148840" cy="603504"/>
          </a:xfrm>
          <a:prstGeom prst="rect">
            <a:avLst/>
          </a:prstGeom>
          <a:noFill/>
          <a:ln/>
        </p:spPr>
        <p:txBody>
          <a:bodyPr wrap="square" lIns="38100" tIns="38100" rIns="38100" bIns="38100" rtlCol="0" anchor="ctr"/>
          <a:lstStyle/>
          <a:p>
            <a:pPr algn="l" indent="0" marL="0">
              <a:buNone/>
            </a:pPr>
            <a:r>
              <a:rPr lang="en-US" sz="1100" b="1" dirty="0">
                <a:solidFill>
                  <a:srgbClr val="1A1A1A"/>
                </a:solidFill>
                <a:latin typeface="Cambria" pitchFamily="34" charset="0"/>
                <a:ea typeface="Cambria" pitchFamily="34" charset="-122"/>
                <a:cs typeface="Cambria" pitchFamily="34" charset="-120"/>
              </a:rPr>
              <a:t>Đích khai báo (S2)</a:t>
            </a:r>
            <a:endParaRPr lang="en-US" sz="1100" dirty="0"/>
          </a:p>
        </p:txBody>
      </p:sp>
      <p:sp>
        <p:nvSpPr>
          <p:cNvPr id="9" name="Text 7"/>
          <p:cNvSpPr/>
          <p:nvPr/>
        </p:nvSpPr>
        <p:spPr>
          <a:xfrm>
            <a:off x="2606040" y="1097280"/>
            <a:ext cx="3520440" cy="603504"/>
          </a:xfrm>
          <a:prstGeom prst="rect">
            <a:avLst/>
          </a:prstGeom>
          <a:noFill/>
          <a:ln/>
        </p:spPr>
        <p:txBody>
          <a:bodyPr wrap="square" lIns="38100" tIns="38100" rIns="38100" bIns="38100" rtlCol="0" anchor="ctr"/>
          <a:lstStyle/>
          <a:p>
            <a:pPr algn="l" indent="0" marL="0">
              <a:buNone/>
            </a:pPr>
            <a:r>
              <a:rPr lang="en-US" sz="1100" dirty="0">
                <a:solidFill>
                  <a:srgbClr val="1A1A1A"/>
                </a:solidFill>
                <a:latin typeface="Cambria" pitchFamily="34" charset="0"/>
                <a:ea typeface="Cambria" pitchFamily="34" charset="-122"/>
                <a:cs typeface="Cambria" pitchFamily="34" charset="-120"/>
              </a:rPr>
              <a:t>viết dòng khai báo vai trò, tên, toạ độ, dấu hiệu phân biệt rồi mới viết câu</a:t>
            </a:r>
            <a:endParaRPr lang="en-US" sz="1100" dirty="0"/>
          </a:p>
        </p:txBody>
      </p:sp>
      <p:sp>
        <p:nvSpPr>
          <p:cNvPr id="10" name="Text 8"/>
          <p:cNvSpPr/>
          <p:nvPr/>
        </p:nvSpPr>
        <p:spPr>
          <a:xfrm>
            <a:off x="6126480" y="1097280"/>
            <a:ext cx="2560320" cy="603504"/>
          </a:xfrm>
          <a:prstGeom prst="rect">
            <a:avLst/>
          </a:prstGeom>
          <a:noFill/>
          <a:ln/>
        </p:spPr>
        <p:txBody>
          <a:bodyPr wrap="square" lIns="38100" tIns="38100" rIns="38100" bIns="38100" rtlCol="0" anchor="ctr"/>
          <a:lstStyle/>
          <a:p>
            <a:pPr algn="l" indent="0" marL="0">
              <a:buNone/>
            </a:pPr>
            <a:r>
              <a:rPr lang="en-US" sz="1100" dirty="0">
                <a:solidFill>
                  <a:srgbClr val="1A1A1A"/>
                </a:solidFill>
                <a:latin typeface="Cambria" pitchFamily="34" charset="0"/>
                <a:ea typeface="Cambria" pitchFamily="34" charset="-122"/>
                <a:cs typeface="Cambria" pitchFamily="34" charset="-120"/>
              </a:rPr>
              <a:t>57,2 · thấp hơn S1 1,93 điểm</a:t>
            </a:r>
            <a:endParaRPr lang="en-US" sz="1100" dirty="0"/>
          </a:p>
        </p:txBody>
      </p:sp>
      <p:sp>
        <p:nvSpPr>
          <p:cNvPr id="11" name="Shape 9"/>
          <p:cNvSpPr/>
          <p:nvPr/>
        </p:nvSpPr>
        <p:spPr>
          <a:xfrm>
            <a:off x="457200" y="1700784"/>
            <a:ext cx="8229600" cy="0"/>
          </a:xfrm>
          <a:prstGeom prst="line">
            <a:avLst/>
          </a:prstGeom>
          <a:noFill/>
          <a:ln w="12700">
            <a:solidFill>
              <a:srgbClr val="9A94AE"/>
            </a:solidFill>
            <a:prstDash val="solid"/>
          </a:ln>
        </p:spPr>
      </p:sp>
      <p:sp>
        <p:nvSpPr>
          <p:cNvPr id="12" name="Text 10"/>
          <p:cNvSpPr/>
          <p:nvPr/>
        </p:nvSpPr>
        <p:spPr>
          <a:xfrm>
            <a:off x="457200" y="1700784"/>
            <a:ext cx="2148840" cy="603504"/>
          </a:xfrm>
          <a:prstGeom prst="rect">
            <a:avLst/>
          </a:prstGeom>
          <a:noFill/>
          <a:ln/>
        </p:spPr>
        <p:txBody>
          <a:bodyPr wrap="square" lIns="38100" tIns="38100" rIns="38100" bIns="38100" rtlCol="0" anchor="ctr"/>
          <a:lstStyle/>
          <a:p>
            <a:pPr algn="l" indent="0" marL="0">
              <a:buNone/>
            </a:pPr>
            <a:r>
              <a:rPr lang="en-US" sz="1100" b="1" dirty="0">
                <a:solidFill>
                  <a:srgbClr val="1A1A1A"/>
                </a:solidFill>
                <a:latin typeface="Cambria" pitchFamily="34" charset="0"/>
                <a:ea typeface="Cambria" pitchFamily="34" charset="-122"/>
                <a:cs typeface="Cambria" pitchFamily="34" charset="-120"/>
              </a:rPr>
              <a:t>Mục tiêu ưu tiên (MIN-DESC)</a:t>
            </a:r>
            <a:endParaRPr lang="en-US" sz="1100" dirty="0"/>
          </a:p>
        </p:txBody>
      </p:sp>
      <p:sp>
        <p:nvSpPr>
          <p:cNvPr id="13" name="Text 11"/>
          <p:cNvSpPr/>
          <p:nvPr/>
        </p:nvSpPr>
        <p:spPr>
          <a:xfrm>
            <a:off x="2606040" y="1700784"/>
            <a:ext cx="3520440" cy="603504"/>
          </a:xfrm>
          <a:prstGeom prst="rect">
            <a:avLst/>
          </a:prstGeom>
          <a:noFill/>
          <a:ln/>
        </p:spPr>
        <p:txBody>
          <a:bodyPr wrap="square" lIns="38100" tIns="38100" rIns="38100" bIns="38100" rtlCol="0" anchor="ctr"/>
          <a:lstStyle/>
          <a:p>
            <a:pPr algn="l" indent="0" marL="0">
              <a:buNone/>
            </a:pPr>
            <a:r>
              <a:rPr lang="en-US" sz="1100" dirty="0">
                <a:solidFill>
                  <a:srgbClr val="1A1A1A"/>
                </a:solidFill>
                <a:latin typeface="Cambria" pitchFamily="34" charset="0"/>
                <a:ea typeface="Cambria" pitchFamily="34" charset="-122"/>
                <a:cs typeface="Cambria" pitchFamily="34" charset="-120"/>
              </a:rPr>
              <a:t>học tiếp bằng ORPO trên cặp chỉ khác ô khai báo</a:t>
            </a:r>
            <a:endParaRPr lang="en-US" sz="1100" dirty="0"/>
          </a:p>
        </p:txBody>
      </p:sp>
      <p:sp>
        <p:nvSpPr>
          <p:cNvPr id="14" name="Text 12"/>
          <p:cNvSpPr/>
          <p:nvPr/>
        </p:nvSpPr>
        <p:spPr>
          <a:xfrm>
            <a:off x="6126480" y="1700784"/>
            <a:ext cx="2560320" cy="603504"/>
          </a:xfrm>
          <a:prstGeom prst="rect">
            <a:avLst/>
          </a:prstGeom>
          <a:noFill/>
          <a:ln/>
        </p:spPr>
        <p:txBody>
          <a:bodyPr wrap="square" lIns="38100" tIns="38100" rIns="38100" bIns="38100" rtlCol="0" anchor="ctr"/>
          <a:lstStyle/>
          <a:p>
            <a:pPr algn="l" indent="0" marL="0">
              <a:buNone/>
            </a:pPr>
            <a:r>
              <a:rPr lang="en-US" sz="1100" dirty="0">
                <a:solidFill>
                  <a:srgbClr val="1A1A1A"/>
                </a:solidFill>
                <a:latin typeface="Cambria" pitchFamily="34" charset="0"/>
                <a:ea typeface="Cambria" pitchFamily="34" charset="-122"/>
                <a:cs typeface="Cambria" pitchFamily="34" charset="-120"/>
              </a:rPr>
              <a:t>60,0 · 78% mức tăng thuộc nhánh so sánh học có giám sát</a:t>
            </a:r>
            <a:endParaRPr lang="en-US" sz="1100" dirty="0"/>
          </a:p>
        </p:txBody>
      </p:sp>
      <p:sp>
        <p:nvSpPr>
          <p:cNvPr id="15" name="Shape 13"/>
          <p:cNvSpPr/>
          <p:nvPr/>
        </p:nvSpPr>
        <p:spPr>
          <a:xfrm>
            <a:off x="457200" y="2304288"/>
            <a:ext cx="8229600" cy="0"/>
          </a:xfrm>
          <a:prstGeom prst="line">
            <a:avLst/>
          </a:prstGeom>
          <a:noFill/>
          <a:ln w="12700">
            <a:solidFill>
              <a:srgbClr val="9A94AE"/>
            </a:solidFill>
            <a:prstDash val="solid"/>
          </a:ln>
        </p:spPr>
      </p:sp>
      <p:sp>
        <p:nvSpPr>
          <p:cNvPr id="16" name="Text 14"/>
          <p:cNvSpPr/>
          <p:nvPr/>
        </p:nvSpPr>
        <p:spPr>
          <a:xfrm>
            <a:off x="457200" y="2304288"/>
            <a:ext cx="2148840" cy="713232"/>
          </a:xfrm>
          <a:prstGeom prst="rect">
            <a:avLst/>
          </a:prstGeom>
          <a:noFill/>
          <a:ln/>
        </p:spPr>
        <p:txBody>
          <a:bodyPr wrap="square" lIns="38100" tIns="38100" rIns="38100" bIns="38100" rtlCol="0" anchor="ctr"/>
          <a:lstStyle/>
          <a:p>
            <a:pPr algn="l" indent="0" marL="0">
              <a:buNone/>
            </a:pPr>
            <a:r>
              <a:rPr lang="en-US" sz="1100" b="1" dirty="0">
                <a:solidFill>
                  <a:srgbClr val="1A1A1A"/>
                </a:solidFill>
                <a:latin typeface="Cambria" pitchFamily="34" charset="0"/>
                <a:ea typeface="Cambria" pitchFamily="34" charset="-122"/>
                <a:cs typeface="Cambria" pitchFamily="34" charset="-120"/>
              </a:rPr>
              <a:t>Thưởng ô toạ độ (chặng ba)</a:t>
            </a:r>
            <a:endParaRPr lang="en-US" sz="1100" dirty="0"/>
          </a:p>
        </p:txBody>
      </p:sp>
      <p:sp>
        <p:nvSpPr>
          <p:cNvPr id="17" name="Text 15"/>
          <p:cNvSpPr/>
          <p:nvPr/>
        </p:nvSpPr>
        <p:spPr>
          <a:xfrm>
            <a:off x="2606040" y="2304288"/>
            <a:ext cx="3520440" cy="713232"/>
          </a:xfrm>
          <a:prstGeom prst="rect">
            <a:avLst/>
          </a:prstGeom>
          <a:noFill/>
          <a:ln/>
        </p:spPr>
        <p:txBody>
          <a:bodyPr wrap="square" lIns="38100" tIns="38100" rIns="38100" bIns="38100" rtlCol="0" anchor="ctr"/>
          <a:lstStyle/>
          <a:p>
            <a:pPr algn="l" indent="0" marL="0">
              <a:buNone/>
            </a:pPr>
            <a:r>
              <a:rPr lang="en-US" sz="1100" dirty="0">
                <a:solidFill>
                  <a:srgbClr val="1A1A1A"/>
                </a:solidFill>
                <a:latin typeface="Cambria" pitchFamily="34" charset="0"/>
                <a:ea typeface="Cambria" pitchFamily="34" charset="-122"/>
                <a:cs typeface="Cambria" pitchFamily="34" charset="-120"/>
              </a:rPr>
              <a:t>học tăng cường, thưởng khi toạ độ khai báo trúng phần tử</a:t>
            </a:r>
            <a:endParaRPr lang="en-US" sz="1100" dirty="0"/>
          </a:p>
        </p:txBody>
      </p:sp>
      <p:sp>
        <p:nvSpPr>
          <p:cNvPr id="18" name="Text 16"/>
          <p:cNvSpPr/>
          <p:nvPr/>
        </p:nvSpPr>
        <p:spPr>
          <a:xfrm>
            <a:off x="6126480" y="2304288"/>
            <a:ext cx="2560320" cy="713232"/>
          </a:xfrm>
          <a:prstGeom prst="rect">
            <a:avLst/>
          </a:prstGeom>
          <a:noFill/>
          <a:ln/>
        </p:spPr>
        <p:txBody>
          <a:bodyPr wrap="square" lIns="38100" tIns="38100" rIns="38100" bIns="38100" rtlCol="0" anchor="ctr"/>
          <a:lstStyle/>
          <a:p>
            <a:pPr algn="l" indent="0" marL="0">
              <a:buNone/>
            </a:pPr>
            <a:r>
              <a:rPr lang="en-US" sz="1100" dirty="0">
                <a:solidFill>
                  <a:srgbClr val="1A1A1A"/>
                </a:solidFill>
                <a:latin typeface="Cambria" pitchFamily="34" charset="0"/>
                <a:ea typeface="Cambria" pitchFamily="34" charset="-122"/>
                <a:cs typeface="Cambria" pitchFamily="34" charset="-120"/>
              </a:rPr>
              <a:t>60,1 · AitW 77,3 · D.3 67,0; mức hơn S1 đến từ bước S1 gọi sai loại thao tác</a:t>
            </a:r>
            <a:endParaRPr lang="en-US" sz="1100" dirty="0"/>
          </a:p>
        </p:txBody>
      </p:sp>
      <p:sp>
        <p:nvSpPr>
          <p:cNvPr id="19" name="Shape 17"/>
          <p:cNvSpPr/>
          <p:nvPr/>
        </p:nvSpPr>
        <p:spPr>
          <a:xfrm>
            <a:off x="457200" y="3017520"/>
            <a:ext cx="8229600" cy="0"/>
          </a:xfrm>
          <a:prstGeom prst="line">
            <a:avLst/>
          </a:prstGeom>
          <a:noFill/>
          <a:ln w="12700">
            <a:solidFill>
              <a:srgbClr val="9A94AE"/>
            </a:solidFill>
            <a:prstDash val="solid"/>
          </a:ln>
        </p:spPr>
      </p:sp>
      <p:sp>
        <p:nvSpPr>
          <p:cNvPr id="20" name="Text 18"/>
          <p:cNvSpPr/>
          <p:nvPr/>
        </p:nvSpPr>
        <p:spPr>
          <a:xfrm>
            <a:off x="457200" y="3017520"/>
            <a:ext cx="2148840" cy="713232"/>
          </a:xfrm>
          <a:prstGeom prst="rect">
            <a:avLst/>
          </a:prstGeom>
          <a:noFill/>
          <a:ln/>
        </p:spPr>
        <p:txBody>
          <a:bodyPr wrap="square" lIns="38100" tIns="38100" rIns="38100" bIns="38100" rtlCol="0" anchor="ctr"/>
          <a:lstStyle/>
          <a:p>
            <a:pPr algn="l" indent="0" marL="0">
              <a:buNone/>
            </a:pPr>
            <a:r>
              <a:rPr lang="en-US" sz="1100" b="1" dirty="0">
                <a:solidFill>
                  <a:srgbClr val="1A1A1A"/>
                </a:solidFill>
                <a:latin typeface="Cambria" pitchFamily="34" charset="0"/>
                <a:ea typeface="Cambria" pitchFamily="34" charset="-122"/>
                <a:cs typeface="Cambria" pitchFamily="34" charset="-120"/>
              </a:rPr>
              <a:t>Chọn trong danh sách ứng viên</a:t>
            </a:r>
            <a:endParaRPr lang="en-US" sz="1100" dirty="0"/>
          </a:p>
        </p:txBody>
      </p:sp>
      <p:sp>
        <p:nvSpPr>
          <p:cNvPr id="21" name="Text 19"/>
          <p:cNvSpPr/>
          <p:nvPr/>
        </p:nvSpPr>
        <p:spPr>
          <a:xfrm>
            <a:off x="2606040" y="3017520"/>
            <a:ext cx="3520440" cy="713232"/>
          </a:xfrm>
          <a:prstGeom prst="rect">
            <a:avLst/>
          </a:prstGeom>
          <a:noFill/>
          <a:ln/>
        </p:spPr>
        <p:txBody>
          <a:bodyPr wrap="square" lIns="38100" tIns="38100" rIns="38100" bIns="38100" rtlCol="0" anchor="ctr"/>
          <a:lstStyle/>
          <a:p>
            <a:pPr algn="l" indent="0" marL="0">
              <a:buNone/>
            </a:pPr>
            <a:r>
              <a:rPr lang="en-US" sz="1100" dirty="0">
                <a:solidFill>
                  <a:srgbClr val="1A1A1A"/>
                </a:solidFill>
                <a:latin typeface="Cambria" pitchFamily="34" charset="0"/>
                <a:ea typeface="Cambria" pitchFamily="34" charset="-122"/>
                <a:cs typeface="Cambria" pitchFamily="34" charset="-120"/>
              </a:rPr>
              <a:t>chọn phần tử trong danh sách lấy từ chính màn hình</a:t>
            </a:r>
            <a:endParaRPr lang="en-US" sz="1100" dirty="0"/>
          </a:p>
        </p:txBody>
      </p:sp>
      <p:sp>
        <p:nvSpPr>
          <p:cNvPr id="22" name="Text 20"/>
          <p:cNvSpPr/>
          <p:nvPr/>
        </p:nvSpPr>
        <p:spPr>
          <a:xfrm>
            <a:off x="6126480" y="3017520"/>
            <a:ext cx="2560320" cy="713232"/>
          </a:xfrm>
          <a:prstGeom prst="rect">
            <a:avLst/>
          </a:prstGeom>
          <a:noFill/>
          <a:ln/>
        </p:spPr>
        <p:txBody>
          <a:bodyPr wrap="square" lIns="38100" tIns="38100" rIns="38100" bIns="38100" rtlCol="0" anchor="ctr"/>
          <a:lstStyle/>
          <a:p>
            <a:pPr algn="l" indent="0" marL="0">
              <a:buNone/>
            </a:pPr>
            <a:r>
              <a:rPr lang="en-US" sz="1100" dirty="0">
                <a:solidFill>
                  <a:srgbClr val="1A1A1A"/>
                </a:solidFill>
                <a:latin typeface="Cambria" pitchFamily="34" charset="0"/>
                <a:ea typeface="Cambria" pitchFamily="34" charset="-122"/>
                <a:cs typeface="Cambria" pitchFamily="34" charset="-120"/>
              </a:rPr>
              <a:t>56,1 · chọn đúng 71,4% khi đưa ra lựa chọn, nhưng bỏ cuộc quá mức</a:t>
            </a:r>
            <a:endParaRPr lang="en-US" sz="1100" dirty="0"/>
          </a:p>
        </p:txBody>
      </p:sp>
      <p:sp>
        <p:nvSpPr>
          <p:cNvPr id="23" name="Shape 21"/>
          <p:cNvSpPr/>
          <p:nvPr/>
        </p:nvSpPr>
        <p:spPr>
          <a:xfrm>
            <a:off x="457200" y="3730752"/>
            <a:ext cx="8229600" cy="0"/>
          </a:xfrm>
          <a:prstGeom prst="line">
            <a:avLst/>
          </a:prstGeom>
          <a:noFill/>
          <a:ln w="12700">
            <a:solidFill>
              <a:srgbClr val="9A94AE"/>
            </a:solidFill>
            <a:prstDash val="solid"/>
          </a:ln>
        </p:spPr>
      </p:sp>
      <p:sp>
        <p:nvSpPr>
          <p:cNvPr id="24" name="Text 22"/>
          <p:cNvSpPr/>
          <p:nvPr/>
        </p:nvSpPr>
        <p:spPr>
          <a:xfrm>
            <a:off x="457200" y="3730752"/>
            <a:ext cx="2148840" cy="713232"/>
          </a:xfrm>
          <a:prstGeom prst="rect">
            <a:avLst/>
          </a:prstGeom>
          <a:noFill/>
          <a:ln/>
        </p:spPr>
        <p:txBody>
          <a:bodyPr wrap="square" lIns="38100" tIns="38100" rIns="38100" bIns="38100" rtlCol="0" anchor="ctr"/>
          <a:lstStyle/>
          <a:p>
            <a:pPr algn="l" indent="0" marL="0">
              <a:buNone/>
            </a:pPr>
            <a:r>
              <a:rPr lang="en-US" sz="1100" b="1" dirty="0">
                <a:solidFill>
                  <a:srgbClr val="1A1A1A"/>
                </a:solidFill>
                <a:latin typeface="Cambria" pitchFamily="34" charset="0"/>
                <a:ea typeface="Cambria" pitchFamily="34" charset="-122"/>
                <a:cs typeface="Cambria" pitchFamily="34" charset="-120"/>
              </a:rPr>
              <a:t>Đưa thông tin vị trí vào bộ sinh câu</a:t>
            </a:r>
            <a:endParaRPr lang="en-US" sz="1100" dirty="0"/>
          </a:p>
        </p:txBody>
      </p:sp>
      <p:sp>
        <p:nvSpPr>
          <p:cNvPr id="25" name="Text 23"/>
          <p:cNvSpPr/>
          <p:nvPr/>
        </p:nvSpPr>
        <p:spPr>
          <a:xfrm>
            <a:off x="2606040" y="3730752"/>
            <a:ext cx="3520440" cy="713232"/>
          </a:xfrm>
          <a:prstGeom prst="rect">
            <a:avLst/>
          </a:prstGeom>
          <a:noFill/>
          <a:ln/>
        </p:spPr>
        <p:txBody>
          <a:bodyPr wrap="square" lIns="38100" tIns="38100" rIns="38100" bIns="38100" rtlCol="0" anchor="ctr"/>
          <a:lstStyle/>
          <a:p>
            <a:pPr algn="l" indent="0" marL="0">
              <a:buNone/>
            </a:pPr>
            <a:r>
              <a:rPr lang="en-US" sz="1100" dirty="0">
                <a:solidFill>
                  <a:srgbClr val="1A1A1A"/>
                </a:solidFill>
                <a:latin typeface="Cambria" pitchFamily="34" charset="0"/>
                <a:ea typeface="Cambria" pitchFamily="34" charset="-122"/>
                <a:cs typeface="Cambria" pitchFamily="34" charset="-120"/>
              </a:rPr>
              <a:t>bốn cách: mô-đun định vị và cầu nối, vùng cắt làm ảnh thứ hai, tiêm vai trò và vùng, làm nét ảnh quanh đích</a:t>
            </a:r>
            <a:endParaRPr lang="en-US" sz="1100" dirty="0"/>
          </a:p>
        </p:txBody>
      </p:sp>
      <p:sp>
        <p:nvSpPr>
          <p:cNvPr id="26" name="Text 24"/>
          <p:cNvSpPr/>
          <p:nvPr/>
        </p:nvSpPr>
        <p:spPr>
          <a:xfrm>
            <a:off x="6126480" y="3730752"/>
            <a:ext cx="2560320" cy="713232"/>
          </a:xfrm>
          <a:prstGeom prst="rect">
            <a:avLst/>
          </a:prstGeom>
          <a:noFill/>
          <a:ln/>
        </p:spPr>
        <p:txBody>
          <a:bodyPr wrap="square" lIns="38100" tIns="38100" rIns="38100" bIns="38100" rtlCol="0" anchor="ctr"/>
          <a:lstStyle/>
          <a:p>
            <a:pPr algn="l" indent="0" marL="0">
              <a:buNone/>
            </a:pPr>
            <a:r>
              <a:rPr lang="en-US" sz="1100" dirty="0">
                <a:solidFill>
                  <a:srgbClr val="1A1A1A"/>
                </a:solidFill>
                <a:latin typeface="Cambria" pitchFamily="34" charset="0"/>
                <a:ea typeface="Cambria" pitchFamily="34" charset="-122"/>
                <a:cs typeface="Cambria" pitchFamily="34" charset="-120"/>
              </a:rPr>
              <a:t>dừng ở tập kiểm định nội bộ: vị trí học được nhưng phần sinh câu bỏ qua</a:t>
            </a:r>
            <a:endParaRPr lang="en-US" sz="1100" dirty="0"/>
          </a:p>
        </p:txBody>
      </p:sp>
      <p:sp>
        <p:nvSpPr>
          <p:cNvPr id="27" name="Shape 25"/>
          <p:cNvSpPr/>
          <p:nvPr/>
        </p:nvSpPr>
        <p:spPr>
          <a:xfrm>
            <a:off x="457200" y="4443984"/>
            <a:ext cx="8229600" cy="0"/>
          </a:xfrm>
          <a:prstGeom prst="line">
            <a:avLst/>
          </a:prstGeom>
          <a:noFill/>
          <a:ln w="12700">
            <a:solidFill>
              <a:srgbClr val="9A94AE"/>
            </a:solidFill>
            <a:prstDash val="solid"/>
          </a:ln>
        </p:spPr>
      </p:sp>
      <p:sp>
        <p:nvSpPr>
          <p:cNvPr id="28" name="Text 26"/>
          <p:cNvSpPr/>
          <p:nvPr/>
        </p:nvSpPr>
        <p:spPr>
          <a:xfrm>
            <a:off x="457200" y="4443984"/>
            <a:ext cx="2148840" cy="603504"/>
          </a:xfrm>
          <a:prstGeom prst="rect">
            <a:avLst/>
          </a:prstGeom>
          <a:noFill/>
          <a:ln/>
        </p:spPr>
        <p:txBody>
          <a:bodyPr wrap="square" lIns="38100" tIns="38100" rIns="38100" bIns="38100" rtlCol="0" anchor="ctr"/>
          <a:lstStyle/>
          <a:p>
            <a:pPr algn="l" indent="0" marL="0">
              <a:buNone/>
            </a:pPr>
            <a:r>
              <a:rPr lang="en-US" sz="1100" b="1" dirty="0">
                <a:solidFill>
                  <a:srgbClr val="1A1A1A"/>
                </a:solidFill>
                <a:latin typeface="Cambria" pitchFamily="34" charset="0"/>
                <a:ea typeface="Cambria" pitchFamily="34" charset="-122"/>
                <a:cs typeface="Cambria" pitchFamily="34" charset="-120"/>
              </a:rPr>
              <a:t>Mở phần thị giác</a:t>
            </a:r>
            <a:endParaRPr lang="en-US" sz="1100" dirty="0"/>
          </a:p>
        </p:txBody>
      </p:sp>
      <p:sp>
        <p:nvSpPr>
          <p:cNvPr id="29" name="Text 27"/>
          <p:cNvSpPr/>
          <p:nvPr/>
        </p:nvSpPr>
        <p:spPr>
          <a:xfrm>
            <a:off x="2606040" y="4443984"/>
            <a:ext cx="3520440" cy="603504"/>
          </a:xfrm>
          <a:prstGeom prst="rect">
            <a:avLst/>
          </a:prstGeom>
          <a:noFill/>
          <a:ln/>
        </p:spPr>
        <p:txBody>
          <a:bodyPr wrap="square" lIns="38100" tIns="38100" rIns="38100" bIns="38100" rtlCol="0" anchor="ctr"/>
          <a:lstStyle/>
          <a:p>
            <a:pPr algn="l" indent="0" marL="0">
              <a:buNone/>
            </a:pPr>
            <a:r>
              <a:rPr lang="en-US" sz="1100" dirty="0">
                <a:solidFill>
                  <a:srgbClr val="1A1A1A"/>
                </a:solidFill>
                <a:latin typeface="Cambria" pitchFamily="34" charset="0"/>
                <a:ea typeface="Cambria" pitchFamily="34" charset="-122"/>
                <a:cs typeface="Cambria" pitchFamily="34" charset="-120"/>
              </a:rPr>
              <a:t>huấn luyện cả các tầng thị giác, mọi thứ khác như S1</a:t>
            </a:r>
            <a:endParaRPr lang="en-US" sz="1100" dirty="0"/>
          </a:p>
        </p:txBody>
      </p:sp>
      <p:sp>
        <p:nvSpPr>
          <p:cNvPr id="30" name="Text 28"/>
          <p:cNvSpPr/>
          <p:nvPr/>
        </p:nvSpPr>
        <p:spPr>
          <a:xfrm>
            <a:off x="6126480" y="4443984"/>
            <a:ext cx="2560320" cy="603504"/>
          </a:xfrm>
          <a:prstGeom prst="rect">
            <a:avLst/>
          </a:prstGeom>
          <a:noFill/>
          <a:ln/>
        </p:spPr>
        <p:txBody>
          <a:bodyPr wrap="square" lIns="38100" tIns="38100" rIns="38100" bIns="38100" rtlCol="0" anchor="ctr"/>
          <a:lstStyle/>
          <a:p>
            <a:pPr algn="l" indent="0" marL="0">
              <a:buNone/>
            </a:pPr>
            <a:r>
              <a:rPr lang="en-US" sz="1100" dirty="0">
                <a:solidFill>
                  <a:srgbClr val="1A1A1A"/>
                </a:solidFill>
                <a:latin typeface="Cambria" pitchFamily="34" charset="0"/>
                <a:ea typeface="Cambria" pitchFamily="34" charset="-122"/>
                <a:cs typeface="Cambria" pitchFamily="34" charset="-120"/>
              </a:rPr>
              <a:t>dừng ở 41% số bước, thấp hơn rõ trên tập kiểm định</a:t>
            </a:r>
            <a:endParaRPr lang="en-US" sz="1100" dirty="0"/>
          </a:p>
        </p:txBody>
      </p:sp>
      <p:sp>
        <p:nvSpPr>
          <p:cNvPr id="31" name="Text 29"/>
          <p:cNvSpPr/>
          <p:nvPr/>
        </p:nvSpPr>
        <p:spPr>
          <a:xfrm>
            <a:off x="457200" y="5349240"/>
            <a:ext cx="8229600" cy="640080"/>
          </a:xfrm>
          <a:prstGeom prst="rect">
            <a:avLst/>
          </a:prstGeom>
          <a:noFill/>
          <a:ln/>
        </p:spPr>
        <p:txBody>
          <a:bodyPr wrap="square" lIns="0" tIns="0" rIns="0" bIns="0" rtlCol="0" anchor="t"/>
          <a:lstStyle/>
          <a:p>
            <a:pPr algn="l" indent="0" marL="0">
              <a:lnSpc>
                <a:spcPct val="120000"/>
              </a:lnSpc>
              <a:buNone/>
            </a:pPr>
            <a:r>
              <a:rPr lang="en-US" sz="1200" i="1" dirty="0">
                <a:solidFill>
                  <a:srgbClr val="5A5A66"/>
                </a:solidFill>
                <a:latin typeface="Cambria" pitchFamily="34" charset="0"/>
                <a:ea typeface="Cambria" pitchFamily="34" charset="-122"/>
                <a:cs typeface="Cambria" pitchFamily="34" charset="-120"/>
              </a:rPr>
              <a:t>Mọi nhánh huấn luyện thêm chỉ có một hạt giống. Các hướng này được trình bày đầy đủ ở Chương 4 và Chương 6, kể cả những hướng không cải thiện.</a:t>
            </a:r>
            <a:endParaRPr lang="en-US" sz="1200" dirty="0"/>
          </a:p>
        </p:txBody>
      </p:sp>
      <p:sp>
        <p:nvSpPr>
          <p:cNvPr id="33" name="Shape 30"/>
          <p:cNvSpPr/>
          <p:nvPr/>
        </p:nvSpPr>
        <p:spPr>
          <a:xfrm>
            <a:off x="0" y="6620256"/>
            <a:ext cx="2743200" cy="237744"/>
          </a:xfrm>
          <a:prstGeom prst="rect">
            <a:avLst/>
          </a:prstGeom>
          <a:solidFill>
            <a:srgbClr val="191132"/>
          </a:solidFill>
          <a:ln/>
        </p:spPr>
      </p:sp>
      <p:sp>
        <p:nvSpPr>
          <p:cNvPr id="34" name="Shape 31"/>
          <p:cNvSpPr/>
          <p:nvPr/>
        </p:nvSpPr>
        <p:spPr>
          <a:xfrm>
            <a:off x="2743200" y="6620256"/>
            <a:ext cx="3383280" cy="237744"/>
          </a:xfrm>
          <a:prstGeom prst="rect">
            <a:avLst/>
          </a:prstGeom>
          <a:solidFill>
            <a:srgbClr val="25194B"/>
          </a:solidFill>
          <a:ln/>
        </p:spPr>
      </p:sp>
      <p:sp>
        <p:nvSpPr>
          <p:cNvPr id="35" name="Shape 32"/>
          <p:cNvSpPr/>
          <p:nvPr/>
        </p:nvSpPr>
        <p:spPr>
          <a:xfrm>
            <a:off x="6126480" y="6620256"/>
            <a:ext cx="1737360" cy="237744"/>
          </a:xfrm>
          <a:prstGeom prst="rect">
            <a:avLst/>
          </a:prstGeom>
          <a:solidFill>
            <a:srgbClr val="4F417A"/>
          </a:solidFill>
          <a:ln/>
        </p:spPr>
      </p:sp>
      <p:sp>
        <p:nvSpPr>
          <p:cNvPr id="36" name="Shape 33"/>
          <p:cNvSpPr/>
          <p:nvPr/>
        </p:nvSpPr>
        <p:spPr>
          <a:xfrm>
            <a:off x="7863840" y="6620256"/>
            <a:ext cx="1280160" cy="237744"/>
          </a:xfrm>
          <a:prstGeom prst="rect">
            <a:avLst/>
          </a:prstGeom>
          <a:solidFill>
            <a:srgbClr val="7A7099"/>
          </a:solidFill>
          <a:ln/>
        </p:spPr>
      </p:sp>
      <p:sp>
        <p:nvSpPr>
          <p:cNvPr id="37" name="Text 34"/>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Luận văn thạc sĩ</a:t>
            </a:r>
            <a:endParaRPr lang="en-US" sz="800" dirty="0"/>
          </a:p>
        </p:txBody>
      </p:sp>
      <p:sp>
        <p:nvSpPr>
          <p:cNvPr id="38" name="Text 35"/>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Phát sinh tự động hướng dẫn sử dụng phần mềm dựa trên LLM</a:t>
            </a:r>
            <a:endParaRPr lang="en-US" sz="800" dirty="0"/>
          </a:p>
        </p:txBody>
      </p:sp>
      <p:sp>
        <p:nvSpPr>
          <p:cNvPr id="39" name="Text 36"/>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40" name="Text 37"/>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9/24</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Phân tích lỗi: điểm nghẽn nằm ở tầng tri giác</a:t>
            </a:r>
            <a:endParaRPr lang="en-US" sz="1900" dirty="0"/>
          </a:p>
        </p:txBody>
      </p:sp>
      <p:sp>
        <p:nvSpPr>
          <p:cNvPr id="4" name="Shape 2"/>
          <p:cNvSpPr/>
          <p:nvPr/>
        </p:nvSpPr>
        <p:spPr>
          <a:xfrm>
            <a:off x="457200" y="777240"/>
            <a:ext cx="4023360" cy="3063240"/>
          </a:xfrm>
          <a:prstGeom prst="roundRect">
            <a:avLst>
              <a:gd name="adj" fmla="val 1791"/>
            </a:avLst>
          </a:prstGeom>
          <a:solidFill>
            <a:srgbClr val="E9E8EC"/>
          </a:solidFill>
          <a:ln/>
          <a:effectLst>
            <a:outerShdw sx="100000" sy="100000" kx="0" ky="0" algn="bl" rotWithShape="0" blurRad="63500" dist="31750" dir="2700000">
              <a:srgbClr val="8C8C99">
                <a:alpha val="45000"/>
              </a:srgbClr>
            </a:outerShdw>
          </a:effectLst>
        </p:spPr>
      </p:sp>
      <p:sp>
        <p:nvSpPr>
          <p:cNvPr id="5" name="Text 3"/>
          <p:cNvSpPr/>
          <p:nvPr/>
        </p:nvSpPr>
        <p:spPr>
          <a:xfrm>
            <a:off x="640080" y="868680"/>
            <a:ext cx="3749040" cy="502920"/>
          </a:xfrm>
          <a:prstGeom prst="rect">
            <a:avLst/>
          </a:prstGeom>
          <a:noFill/>
          <a:ln/>
        </p:spPr>
        <p:txBody>
          <a:bodyPr wrap="square" lIns="0" tIns="0" rIns="0" bIns="0" rtlCol="0" anchor="t"/>
          <a:lstStyle/>
          <a:p>
            <a:pPr algn="l" indent="0" marL="0">
              <a:lnSpc>
                <a:spcPct val="115000"/>
              </a:lnSpc>
              <a:buNone/>
            </a:pPr>
            <a:r>
              <a:rPr lang="en-US" sz="1250" b="1" dirty="0">
                <a:solidFill>
                  <a:srgbClr val="322164"/>
                </a:solidFill>
                <a:latin typeface="Cambria" pitchFamily="34" charset="0"/>
                <a:ea typeface="Cambria" pitchFamily="34" charset="-122"/>
                <a:cs typeface="Cambria" pitchFamily="34" charset="-120"/>
              </a:rPr>
              <a:t>Đích khai báo so với S1, chia theo dòng khai báo</a:t>
            </a:r>
            <a:endParaRPr lang="en-US" sz="1250" dirty="0"/>
          </a:p>
        </p:txBody>
      </p:sp>
      <p:sp>
        <p:nvSpPr>
          <p:cNvPr id="6" name="Shape 4"/>
          <p:cNvSpPr/>
          <p:nvPr/>
        </p:nvSpPr>
        <p:spPr>
          <a:xfrm>
            <a:off x="822960" y="2514600"/>
            <a:ext cx="3291840" cy="0"/>
          </a:xfrm>
          <a:prstGeom prst="line">
            <a:avLst/>
          </a:prstGeom>
          <a:noFill/>
          <a:ln w="15240">
            <a:solidFill>
              <a:srgbClr val="6E6890"/>
            </a:solidFill>
            <a:prstDash val="solid"/>
          </a:ln>
        </p:spPr>
      </p:sp>
      <p:sp>
        <p:nvSpPr>
          <p:cNvPr id="7" name="Shape 5"/>
          <p:cNvSpPr/>
          <p:nvPr/>
        </p:nvSpPr>
        <p:spPr>
          <a:xfrm>
            <a:off x="1188720" y="1707185"/>
            <a:ext cx="1005840" cy="807415"/>
          </a:xfrm>
          <a:prstGeom prst="rect">
            <a:avLst/>
          </a:prstGeom>
          <a:solidFill>
            <a:srgbClr val="1B8A5A"/>
          </a:solidFill>
          <a:ln/>
        </p:spPr>
      </p:sp>
      <p:sp>
        <p:nvSpPr>
          <p:cNvPr id="8" name="Text 6"/>
          <p:cNvSpPr/>
          <p:nvPr/>
        </p:nvSpPr>
        <p:spPr>
          <a:xfrm>
            <a:off x="1097280" y="1414577"/>
            <a:ext cx="1188720" cy="274320"/>
          </a:xfrm>
          <a:prstGeom prst="rect">
            <a:avLst/>
          </a:prstGeom>
          <a:noFill/>
          <a:ln/>
        </p:spPr>
        <p:txBody>
          <a:bodyPr wrap="square" lIns="0" tIns="0" rIns="0" bIns="0" rtlCol="0" anchor="t"/>
          <a:lstStyle/>
          <a:p>
            <a:pPr algn="ctr" indent="0" marL="0">
              <a:buNone/>
            </a:pPr>
            <a:r>
              <a:rPr lang="en-US" sz="1300" b="1" dirty="0">
                <a:solidFill>
                  <a:srgbClr val="1B8A5A"/>
                </a:solidFill>
                <a:latin typeface="Cambria" pitchFamily="34" charset="0"/>
                <a:ea typeface="Cambria" pitchFamily="34" charset="-122"/>
                <a:cs typeface="Cambria" pitchFamily="34" charset="-120"/>
              </a:rPr>
              <a:t>+8,83</a:t>
            </a:r>
            <a:endParaRPr lang="en-US" sz="1300" dirty="0"/>
          </a:p>
        </p:txBody>
      </p:sp>
      <p:sp>
        <p:nvSpPr>
          <p:cNvPr id="9" name="Text 7"/>
          <p:cNvSpPr/>
          <p:nvPr/>
        </p:nvSpPr>
        <p:spPr>
          <a:xfrm>
            <a:off x="914400" y="2587752"/>
            <a:ext cx="1554480" cy="457200"/>
          </a:xfrm>
          <a:prstGeom prst="rect">
            <a:avLst/>
          </a:prstGeom>
          <a:noFill/>
          <a:ln/>
        </p:spPr>
        <p:txBody>
          <a:bodyPr wrap="square" lIns="0" tIns="0" rIns="0" bIns="0" rtlCol="0" anchor="t"/>
          <a:lstStyle/>
          <a:p>
            <a:pPr algn="ctr" indent="0" marL="0">
              <a:lnSpc>
                <a:spcPct val="105000"/>
              </a:lnSpc>
              <a:buNone/>
            </a:pPr>
            <a:r>
              <a:rPr lang="en-US" sz="1050" dirty="0">
                <a:solidFill>
                  <a:srgbClr val="1A1A1A"/>
                </a:solidFill>
                <a:latin typeface="Cambria" pitchFamily="34" charset="0"/>
                <a:ea typeface="Cambria" pitchFamily="34" charset="-122"/>
                <a:cs typeface="Cambria" pitchFamily="34" charset="-120"/>
              </a:rPr>
              <a:t>khai báo đúng</a:t>
            </a:r>
            <a:endParaRPr lang="en-US" sz="1050" dirty="0"/>
          </a:p>
          <a:p>
            <a:pPr algn="ctr" indent="0" marL="0">
              <a:lnSpc>
                <a:spcPct val="105000"/>
              </a:lnSpc>
              <a:buNone/>
            </a:pPr>
            <a:r>
              <a:rPr lang="en-US" sz="1050" dirty="0">
                <a:solidFill>
                  <a:srgbClr val="1A1A1A"/>
                </a:solidFill>
                <a:latin typeface="Cambria" pitchFamily="34" charset="0"/>
                <a:ea typeface="Cambria" pitchFamily="34" charset="-122"/>
                <a:cs typeface="Cambria" pitchFamily="34" charset="-120"/>
              </a:rPr>
              <a:t>(60,6% số bước)</a:t>
            </a:r>
            <a:endParaRPr lang="en-US" sz="1050" dirty="0"/>
          </a:p>
        </p:txBody>
      </p:sp>
      <p:sp>
        <p:nvSpPr>
          <p:cNvPr id="10" name="Shape 8"/>
          <p:cNvSpPr/>
          <p:nvPr/>
        </p:nvSpPr>
        <p:spPr>
          <a:xfrm>
            <a:off x="2743200" y="2514600"/>
            <a:ext cx="1005840" cy="1016813"/>
          </a:xfrm>
          <a:prstGeom prst="rect">
            <a:avLst/>
          </a:prstGeom>
          <a:solidFill>
            <a:srgbClr val="B22222"/>
          </a:solidFill>
          <a:ln/>
        </p:spPr>
      </p:sp>
      <p:sp>
        <p:nvSpPr>
          <p:cNvPr id="11" name="Text 9"/>
          <p:cNvSpPr/>
          <p:nvPr/>
        </p:nvSpPr>
        <p:spPr>
          <a:xfrm>
            <a:off x="2651760" y="3549701"/>
            <a:ext cx="1188720" cy="274320"/>
          </a:xfrm>
          <a:prstGeom prst="rect">
            <a:avLst/>
          </a:prstGeom>
          <a:noFill/>
          <a:ln/>
        </p:spPr>
        <p:txBody>
          <a:bodyPr wrap="square" lIns="0" tIns="0" rIns="0" bIns="0" rtlCol="0" anchor="t"/>
          <a:lstStyle/>
          <a:p>
            <a:pPr algn="ctr" indent="0" marL="0">
              <a:buNone/>
            </a:pPr>
            <a:r>
              <a:rPr lang="en-US" sz="1300" b="1" dirty="0">
                <a:solidFill>
                  <a:srgbClr val="B22222"/>
                </a:solidFill>
                <a:latin typeface="Cambria" pitchFamily="34" charset="0"/>
                <a:ea typeface="Cambria" pitchFamily="34" charset="-122"/>
                <a:cs typeface="Cambria" pitchFamily="34" charset="-120"/>
              </a:rPr>
              <a:t>−11,12</a:t>
            </a:r>
            <a:endParaRPr lang="en-US" sz="1300" dirty="0"/>
          </a:p>
        </p:txBody>
      </p:sp>
      <p:sp>
        <p:nvSpPr>
          <p:cNvPr id="12" name="Text 10"/>
          <p:cNvSpPr/>
          <p:nvPr/>
        </p:nvSpPr>
        <p:spPr>
          <a:xfrm>
            <a:off x="2468880" y="2148840"/>
            <a:ext cx="1554480" cy="274320"/>
          </a:xfrm>
          <a:prstGeom prst="rect">
            <a:avLst/>
          </a:prstGeom>
          <a:noFill/>
          <a:ln/>
        </p:spPr>
        <p:txBody>
          <a:bodyPr wrap="square" lIns="0" tIns="0" rIns="0" bIns="0" rtlCol="0" anchor="t"/>
          <a:lstStyle/>
          <a:p>
            <a:pPr algn="ctr" indent="0" marL="0">
              <a:buNone/>
            </a:pPr>
            <a:r>
              <a:rPr lang="en-US" sz="1050" dirty="0">
                <a:solidFill>
                  <a:srgbClr val="1A1A1A"/>
                </a:solidFill>
                <a:latin typeface="Cambria" pitchFamily="34" charset="0"/>
                <a:ea typeface="Cambria" pitchFamily="34" charset="-122"/>
                <a:cs typeface="Cambria" pitchFamily="34" charset="-120"/>
              </a:rPr>
              <a:t>khai báo sai</a:t>
            </a:r>
            <a:endParaRPr lang="en-US" sz="1050" dirty="0"/>
          </a:p>
        </p:txBody>
      </p:sp>
      <p:sp>
        <p:nvSpPr>
          <p:cNvPr id="13" name="Shape 11"/>
          <p:cNvSpPr/>
          <p:nvPr/>
        </p:nvSpPr>
        <p:spPr>
          <a:xfrm>
            <a:off x="4663440" y="777240"/>
            <a:ext cx="4023360" cy="3063240"/>
          </a:xfrm>
          <a:prstGeom prst="roundRect">
            <a:avLst>
              <a:gd name="adj" fmla="val 1791"/>
            </a:avLst>
          </a:prstGeom>
          <a:solidFill>
            <a:srgbClr val="E9E8EC"/>
          </a:solidFill>
          <a:ln/>
          <a:effectLst>
            <a:outerShdw sx="100000" sy="100000" kx="0" ky="0" algn="bl" rotWithShape="0" blurRad="63500" dist="31750" dir="2700000">
              <a:srgbClr val="8C8C99">
                <a:alpha val="45000"/>
              </a:srgbClr>
            </a:outerShdw>
          </a:effectLst>
        </p:spPr>
      </p:sp>
      <p:sp>
        <p:nvSpPr>
          <p:cNvPr id="14" name="Text 12"/>
          <p:cNvSpPr/>
          <p:nvPr/>
        </p:nvSpPr>
        <p:spPr>
          <a:xfrm>
            <a:off x="4846320" y="868680"/>
            <a:ext cx="3657600" cy="320040"/>
          </a:xfrm>
          <a:prstGeom prst="rect">
            <a:avLst/>
          </a:prstGeom>
          <a:noFill/>
          <a:ln/>
        </p:spPr>
        <p:txBody>
          <a:bodyPr wrap="square" lIns="0" tIns="0" rIns="0" bIns="0" rtlCol="0" anchor="t"/>
          <a:lstStyle/>
          <a:p>
            <a:pPr algn="l" indent="0" marL="0">
              <a:buNone/>
            </a:pPr>
            <a:r>
              <a:rPr lang="en-US" sz="1250" b="1" dirty="0">
                <a:solidFill>
                  <a:srgbClr val="322164"/>
                </a:solidFill>
                <a:latin typeface="Cambria" pitchFamily="34" charset="0"/>
                <a:ea typeface="Cambria" pitchFamily="34" charset="-122"/>
                <a:cs typeface="Cambria" pitchFamily="34" charset="-120"/>
              </a:rPr>
              <a:t>Tách hai kênh</a:t>
            </a:r>
            <a:endParaRPr lang="en-US" sz="1250" dirty="0"/>
          </a:p>
        </p:txBody>
      </p:sp>
      <p:sp>
        <p:nvSpPr>
          <p:cNvPr id="15" name="Text 13"/>
          <p:cNvSpPr/>
          <p:nvPr/>
        </p:nvSpPr>
        <p:spPr>
          <a:xfrm>
            <a:off x="4846320" y="1280160"/>
            <a:ext cx="201168" cy="822960"/>
          </a:xfrm>
          <a:prstGeom prst="rect">
            <a:avLst/>
          </a:prstGeom>
          <a:noFill/>
          <a:ln/>
        </p:spPr>
        <p:txBody>
          <a:bodyPr wrap="square" lIns="0" tIns="0" rIns="0" bIns="0" rtlCol="0" anchor="t"/>
          <a:lstStyle/>
          <a:p>
            <a:pPr algn="l" indent="0" marL="0">
              <a:buNone/>
            </a:pPr>
            <a:r>
              <a:rPr lang="en-US" sz="1200" b="1" dirty="0">
                <a:solidFill>
                  <a:srgbClr val="006666"/>
                </a:solidFill>
                <a:latin typeface="Cambria" pitchFamily="34" charset="0"/>
                <a:ea typeface="Cambria" pitchFamily="34" charset="-122"/>
                <a:cs typeface="Cambria" pitchFamily="34" charset="-120"/>
              </a:rPr>
              <a:t>•</a:t>
            </a:r>
            <a:endParaRPr lang="en-US" sz="1200" dirty="0"/>
          </a:p>
        </p:txBody>
      </p:sp>
      <p:sp>
        <p:nvSpPr>
          <p:cNvPr id="16" name="Text 14"/>
          <p:cNvSpPr/>
          <p:nvPr/>
        </p:nvSpPr>
        <p:spPr>
          <a:xfrm>
            <a:off x="5074920" y="1280160"/>
            <a:ext cx="3429000" cy="804672"/>
          </a:xfrm>
          <a:prstGeom prst="rect">
            <a:avLst/>
          </a:prstGeom>
          <a:noFill/>
          <a:ln/>
        </p:spPr>
        <p:txBody>
          <a:bodyPr wrap="square" lIns="0" tIns="0" rIns="0" bIns="0" rtlCol="0" anchor="t"/>
          <a:lstStyle/>
          <a:p>
            <a:pPr algn="l" indent="0" marL="0">
              <a:lnSpc>
                <a:spcPct val="125000"/>
              </a:lnSpc>
              <a:buNone/>
            </a:pPr>
            <a:r>
              <a:rPr lang="en-US" sz="1200" b="1" dirty="0">
                <a:solidFill>
                  <a:srgbClr val="1A1A1A"/>
                </a:solidFill>
                <a:latin typeface="Cambria" pitchFamily="34" charset="0"/>
                <a:ea typeface="Cambria" pitchFamily="34" charset="-122"/>
                <a:cs typeface="Cambria" pitchFamily="34" charset="-120"/>
              </a:rPr>
              <a:t>91%</a:t>
            </a:r>
            <a:pPr algn="l" indent="0" marL="0">
              <a:lnSpc>
                <a:spcPct val="125000"/>
              </a:lnSpc>
              <a:buNone/>
            </a:pPr>
            <a:r>
              <a:rPr lang="en-US" sz="1200" dirty="0">
                <a:solidFill>
                  <a:srgbClr val="1A1A1A"/>
                </a:solidFill>
                <a:latin typeface="Cambria" pitchFamily="34" charset="0"/>
                <a:ea typeface="Cambria" pitchFamily="34" charset="-122"/>
                <a:cs typeface="Cambria" pitchFamily="34" charset="-120"/>
              </a:rPr>
              <a:t> khoảng cách tới câu chuẩn dồn vào </a:t>
            </a:r>
            <a:pPr algn="l" indent="0" marL="0">
              <a:lnSpc>
                <a:spcPct val="125000"/>
              </a:lnSpc>
              <a:buNone/>
            </a:pPr>
            <a:r>
              <a:rPr lang="en-US" sz="1200" b="1" dirty="0">
                <a:solidFill>
                  <a:srgbClr val="1A1A1A"/>
                </a:solidFill>
                <a:latin typeface="Cambria" pitchFamily="34" charset="0"/>
                <a:ea typeface="Cambria" pitchFamily="34" charset="-122"/>
                <a:cs typeface="Cambria" pitchFamily="34" charset="-120"/>
              </a:rPr>
              <a:t>29,9%</a:t>
            </a:r>
            <a:pPr algn="l" indent="0" marL="0">
              <a:lnSpc>
                <a:spcPct val="125000"/>
              </a:lnSpc>
              <a:buNone/>
            </a:pPr>
            <a:r>
              <a:rPr lang="en-US" sz="1200" dirty="0">
                <a:solidFill>
                  <a:srgbClr val="1A1A1A"/>
                </a:solidFill>
                <a:latin typeface="Cambria" pitchFamily="34" charset="0"/>
                <a:ea typeface="Cambria" pitchFamily="34" charset="-122"/>
                <a:cs typeface="Cambria" pitchFamily="34" charset="-120"/>
              </a:rPr>
              <a:t> số bước mô hình nhìn sai phần tử ngay từ đầu</a:t>
            </a:r>
            <a:endParaRPr lang="en-US" sz="1200" dirty="0"/>
          </a:p>
        </p:txBody>
      </p:sp>
      <p:sp>
        <p:nvSpPr>
          <p:cNvPr id="17" name="Text 15"/>
          <p:cNvSpPr/>
          <p:nvPr/>
        </p:nvSpPr>
        <p:spPr>
          <a:xfrm>
            <a:off x="4846320" y="2103120"/>
            <a:ext cx="201168" cy="822960"/>
          </a:xfrm>
          <a:prstGeom prst="rect">
            <a:avLst/>
          </a:prstGeom>
          <a:noFill/>
          <a:ln/>
        </p:spPr>
        <p:txBody>
          <a:bodyPr wrap="square" lIns="0" tIns="0" rIns="0" bIns="0" rtlCol="0" anchor="t"/>
          <a:lstStyle/>
          <a:p>
            <a:pPr algn="l" indent="0" marL="0">
              <a:buNone/>
            </a:pPr>
            <a:r>
              <a:rPr lang="en-US" sz="1200" b="1" dirty="0">
                <a:solidFill>
                  <a:srgbClr val="006666"/>
                </a:solidFill>
                <a:latin typeface="Cambria" pitchFamily="34" charset="0"/>
                <a:ea typeface="Cambria" pitchFamily="34" charset="-122"/>
                <a:cs typeface="Cambria" pitchFamily="34" charset="-120"/>
              </a:rPr>
              <a:t>•</a:t>
            </a:r>
            <a:endParaRPr lang="en-US" sz="1200" dirty="0"/>
          </a:p>
        </p:txBody>
      </p:sp>
      <p:sp>
        <p:nvSpPr>
          <p:cNvPr id="18" name="Text 16"/>
          <p:cNvSpPr/>
          <p:nvPr/>
        </p:nvSpPr>
        <p:spPr>
          <a:xfrm>
            <a:off x="5074920" y="2103120"/>
            <a:ext cx="3429000" cy="804672"/>
          </a:xfrm>
          <a:prstGeom prst="rect">
            <a:avLst/>
          </a:prstGeom>
          <a:noFill/>
          <a:ln/>
        </p:spPr>
        <p:txBody>
          <a:bodyPr wrap="square" lIns="0" tIns="0" rIns="0" bIns="0" rtlCol="0" anchor="t"/>
          <a:lstStyle/>
          <a:p>
            <a:pPr algn="l" indent="0" marL="0">
              <a:lnSpc>
                <a:spcPct val="125000"/>
              </a:lnSpc>
              <a:buNone/>
            </a:pPr>
            <a:r>
              <a:rPr lang="en-US" sz="1200" dirty="0">
                <a:solidFill>
                  <a:srgbClr val="1A1A1A"/>
                </a:solidFill>
                <a:latin typeface="Cambria" pitchFamily="34" charset="0"/>
                <a:ea typeface="Cambria" pitchFamily="34" charset="-122"/>
                <a:cs typeface="Cambria" pitchFamily="34" charset="-120"/>
              </a:rPr>
              <a:t>trên nhóm ấy, phần thiếu hụt riêng của mô hình là </a:t>
            </a:r>
            <a:pPr algn="l" indent="0" marL="0">
              <a:lnSpc>
                <a:spcPct val="125000"/>
              </a:lnSpc>
              <a:buNone/>
            </a:pPr>
            <a:r>
              <a:rPr lang="en-US" sz="1200" b="1" dirty="0">
                <a:solidFill>
                  <a:srgbClr val="1A1A1A"/>
                </a:solidFill>
                <a:latin typeface="Cambria" pitchFamily="34" charset="0"/>
                <a:ea typeface="Cambria" pitchFamily="34" charset="-122"/>
                <a:cs typeface="Cambria" pitchFamily="34" charset="-120"/>
              </a:rPr>
              <a:t>45,30</a:t>
            </a:r>
            <a:pPr algn="l" indent="0" marL="0">
              <a:lnSpc>
                <a:spcPct val="125000"/>
              </a:lnSpc>
              <a:buNone/>
            </a:pPr>
            <a:r>
              <a:rPr lang="en-US" sz="1200" dirty="0">
                <a:solidFill>
                  <a:srgbClr val="1A1A1A"/>
                </a:solidFill>
                <a:latin typeface="Cambria" pitchFamily="34" charset="0"/>
                <a:ea typeface="Cambria" pitchFamily="34" charset="-122"/>
                <a:cs typeface="Cambria" pitchFamily="34" charset="-120"/>
              </a:rPr>
              <a:t> điểm</a:t>
            </a:r>
            <a:endParaRPr lang="en-US" sz="1200" dirty="0"/>
          </a:p>
        </p:txBody>
      </p:sp>
      <p:sp>
        <p:nvSpPr>
          <p:cNvPr id="19" name="Text 17"/>
          <p:cNvSpPr/>
          <p:nvPr/>
        </p:nvSpPr>
        <p:spPr>
          <a:xfrm>
            <a:off x="4846320" y="2926080"/>
            <a:ext cx="201168" cy="822960"/>
          </a:xfrm>
          <a:prstGeom prst="rect">
            <a:avLst/>
          </a:prstGeom>
          <a:noFill/>
          <a:ln/>
        </p:spPr>
        <p:txBody>
          <a:bodyPr wrap="square" lIns="0" tIns="0" rIns="0" bIns="0" rtlCol="0" anchor="t"/>
          <a:lstStyle/>
          <a:p>
            <a:pPr algn="l" indent="0" marL="0">
              <a:buNone/>
            </a:pPr>
            <a:r>
              <a:rPr lang="en-US" sz="1200" b="1" dirty="0">
                <a:solidFill>
                  <a:srgbClr val="006666"/>
                </a:solidFill>
                <a:latin typeface="Cambria" pitchFamily="34" charset="0"/>
                <a:ea typeface="Cambria" pitchFamily="34" charset="-122"/>
                <a:cs typeface="Cambria" pitchFamily="34" charset="-120"/>
              </a:rPr>
              <a:t>•</a:t>
            </a:r>
            <a:endParaRPr lang="en-US" sz="1200" dirty="0"/>
          </a:p>
        </p:txBody>
      </p:sp>
      <p:sp>
        <p:nvSpPr>
          <p:cNvPr id="20" name="Text 18"/>
          <p:cNvSpPr/>
          <p:nvPr/>
        </p:nvSpPr>
        <p:spPr>
          <a:xfrm>
            <a:off x="5074920" y="2926080"/>
            <a:ext cx="3429000" cy="804672"/>
          </a:xfrm>
          <a:prstGeom prst="rect">
            <a:avLst/>
          </a:prstGeom>
          <a:noFill/>
          <a:ln/>
        </p:spPr>
        <p:txBody>
          <a:bodyPr wrap="square" lIns="0" tIns="0" rIns="0" bIns="0" rtlCol="0" anchor="t"/>
          <a:lstStyle/>
          <a:p>
            <a:pPr algn="l" indent="0" marL="0">
              <a:lnSpc>
                <a:spcPct val="125000"/>
              </a:lnSpc>
              <a:buNone/>
            </a:pPr>
            <a:r>
              <a:rPr lang="en-US" sz="1200" dirty="0">
                <a:solidFill>
                  <a:srgbClr val="1A1A1A"/>
                </a:solidFill>
                <a:latin typeface="Cambria" pitchFamily="34" charset="0"/>
                <a:ea typeface="Cambria" pitchFamily="34" charset="-122"/>
                <a:cs typeface="Cambria" pitchFamily="34" charset="-120"/>
              </a:rPr>
              <a:t>mức truyền từ tầng tri giác sang điểm câu, đo bằng một can thiệp đã chạy, chỉ </a:t>
            </a:r>
            <a:pPr algn="l" indent="0" marL="0">
              <a:lnSpc>
                <a:spcPct val="125000"/>
              </a:lnSpc>
              <a:buNone/>
            </a:pPr>
            <a:r>
              <a:rPr lang="en-US" sz="1200" b="1" dirty="0">
                <a:solidFill>
                  <a:srgbClr val="1A1A1A"/>
                </a:solidFill>
                <a:latin typeface="Cambria" pitchFamily="34" charset="0"/>
                <a:ea typeface="Cambria" pitchFamily="34" charset="-122"/>
                <a:cs typeface="Cambria" pitchFamily="34" charset="-120"/>
              </a:rPr>
              <a:t>0,028</a:t>
            </a:r>
            <a:endParaRPr lang="en-US" sz="1200" dirty="0"/>
          </a:p>
        </p:txBody>
      </p:sp>
      <p:sp>
        <p:nvSpPr>
          <p:cNvPr id="21" name="Shape 19"/>
          <p:cNvSpPr/>
          <p:nvPr/>
        </p:nvSpPr>
        <p:spPr>
          <a:xfrm>
            <a:off x="457200" y="4114800"/>
            <a:ext cx="8229600" cy="1463040"/>
          </a:xfrm>
          <a:prstGeom prst="roundRect">
            <a:avLst>
              <a:gd name="adj" fmla="val 3750"/>
            </a:avLst>
          </a:prstGeom>
          <a:solidFill>
            <a:srgbClr val="EEEAF6"/>
          </a:solidFill>
          <a:ln w="19050">
            <a:solidFill>
              <a:srgbClr val="322164"/>
            </a:solidFill>
            <a:prstDash val="solid"/>
          </a:ln>
        </p:spPr>
      </p:sp>
      <p:sp>
        <p:nvSpPr>
          <p:cNvPr id="22" name="Text 20"/>
          <p:cNvSpPr/>
          <p:nvPr/>
        </p:nvSpPr>
        <p:spPr>
          <a:xfrm>
            <a:off x="685800" y="4206240"/>
            <a:ext cx="3657600" cy="320040"/>
          </a:xfrm>
          <a:prstGeom prst="rect">
            <a:avLst/>
          </a:prstGeom>
          <a:noFill/>
          <a:ln/>
        </p:spPr>
        <p:txBody>
          <a:bodyPr wrap="square" lIns="0" tIns="0" rIns="0" bIns="0" rtlCol="0" anchor="t"/>
          <a:lstStyle/>
          <a:p>
            <a:pPr algn="l" indent="0" marL="0">
              <a:buNone/>
            </a:pPr>
            <a:r>
              <a:rPr lang="en-US" sz="1400" b="1" dirty="0">
                <a:solidFill>
                  <a:srgbClr val="322164"/>
                </a:solidFill>
                <a:latin typeface="Cambria" pitchFamily="34" charset="0"/>
                <a:ea typeface="Cambria" pitchFamily="34" charset="-122"/>
                <a:cs typeface="Cambria" pitchFamily="34" charset="-120"/>
              </a:rPr>
              <a:t>Hệ quả cho thiết kế</a:t>
            </a:r>
            <a:endParaRPr lang="en-US" sz="1400" dirty="0"/>
          </a:p>
        </p:txBody>
      </p:sp>
      <p:sp>
        <p:nvSpPr>
          <p:cNvPr id="23" name="Text 21"/>
          <p:cNvSpPr/>
          <p:nvPr/>
        </p:nvSpPr>
        <p:spPr>
          <a:xfrm>
            <a:off x="685800" y="4553712"/>
            <a:ext cx="7772400" cy="960120"/>
          </a:xfrm>
          <a:prstGeom prst="rect">
            <a:avLst/>
          </a:prstGeom>
          <a:noFill/>
          <a:ln/>
        </p:spPr>
        <p:txBody>
          <a:bodyPr wrap="square" lIns="0" tIns="0" rIns="0" bIns="0" rtlCol="0" anchor="t"/>
          <a:lstStyle/>
          <a:p>
            <a:pPr algn="l" indent="0" marL="0">
              <a:lnSpc>
                <a:spcPct val="122000"/>
              </a:lnSpc>
              <a:buNone/>
            </a:pPr>
            <a:r>
              <a:rPr lang="en-US" sz="1300" dirty="0">
                <a:solidFill>
                  <a:srgbClr val="1A1A1A"/>
                </a:solidFill>
                <a:latin typeface="Cambria" pitchFamily="34" charset="0"/>
                <a:ea typeface="Cambria" pitchFamily="34" charset="-122"/>
                <a:cs typeface="Cambria" pitchFamily="34" charset="-120"/>
              </a:rPr>
              <a:t>Cơ chế của đích khai báo hoạt động, nhưng bị chặn bởi độ chính xác của chính dòng khai báo. Mọi thay đổi ở tầng trung gian truyền sang câu rất yếu, nên phương pháp đề xuất đặt phần thưởng thẳng lên câu ở đầu ra.</a:t>
            </a:r>
            <a:endParaRPr lang="en-US" sz="1300" dirty="0"/>
          </a:p>
        </p:txBody>
      </p:sp>
      <p:sp>
        <p:nvSpPr>
          <p:cNvPr id="25" name="Shape 22"/>
          <p:cNvSpPr/>
          <p:nvPr/>
        </p:nvSpPr>
        <p:spPr>
          <a:xfrm>
            <a:off x="0" y="6620256"/>
            <a:ext cx="2743200" cy="237744"/>
          </a:xfrm>
          <a:prstGeom prst="rect">
            <a:avLst/>
          </a:prstGeom>
          <a:solidFill>
            <a:srgbClr val="191132"/>
          </a:solidFill>
          <a:ln/>
        </p:spPr>
      </p:sp>
      <p:sp>
        <p:nvSpPr>
          <p:cNvPr id="26" name="Shape 23"/>
          <p:cNvSpPr/>
          <p:nvPr/>
        </p:nvSpPr>
        <p:spPr>
          <a:xfrm>
            <a:off x="2743200" y="6620256"/>
            <a:ext cx="3383280" cy="237744"/>
          </a:xfrm>
          <a:prstGeom prst="rect">
            <a:avLst/>
          </a:prstGeom>
          <a:solidFill>
            <a:srgbClr val="25194B"/>
          </a:solidFill>
          <a:ln/>
        </p:spPr>
      </p:sp>
      <p:sp>
        <p:nvSpPr>
          <p:cNvPr id="27" name="Shape 24"/>
          <p:cNvSpPr/>
          <p:nvPr/>
        </p:nvSpPr>
        <p:spPr>
          <a:xfrm>
            <a:off x="6126480" y="6620256"/>
            <a:ext cx="1737360" cy="237744"/>
          </a:xfrm>
          <a:prstGeom prst="rect">
            <a:avLst/>
          </a:prstGeom>
          <a:solidFill>
            <a:srgbClr val="4F417A"/>
          </a:solidFill>
          <a:ln/>
        </p:spPr>
      </p:sp>
      <p:sp>
        <p:nvSpPr>
          <p:cNvPr id="28" name="Shape 25"/>
          <p:cNvSpPr/>
          <p:nvPr/>
        </p:nvSpPr>
        <p:spPr>
          <a:xfrm>
            <a:off x="7863840" y="6620256"/>
            <a:ext cx="1280160" cy="237744"/>
          </a:xfrm>
          <a:prstGeom prst="rect">
            <a:avLst/>
          </a:prstGeom>
          <a:solidFill>
            <a:srgbClr val="7A7099"/>
          </a:solidFill>
          <a:ln/>
        </p:spPr>
      </p:sp>
      <p:sp>
        <p:nvSpPr>
          <p:cNvPr id="29" name="Text 26"/>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Luận văn thạc sĩ</a:t>
            </a:r>
            <a:endParaRPr lang="en-US" sz="800" dirty="0"/>
          </a:p>
        </p:txBody>
      </p:sp>
      <p:sp>
        <p:nvSpPr>
          <p:cNvPr id="30" name="Text 27"/>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Phát sinh tự động hướng dẫn sử dụng phần mềm dựa trên LLM</a:t>
            </a:r>
            <a:endParaRPr lang="en-US" sz="800" dirty="0"/>
          </a:p>
        </p:txBody>
      </p:sp>
      <p:sp>
        <p:nvSpPr>
          <p:cNvPr id="31" name="Text 28"/>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32" name="Text 29"/>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10/24</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Phương pháp đề xuất: học tăng cường thưởng SPICE</a:t>
            </a:r>
            <a:endParaRPr lang="en-US" sz="1900" dirty="0"/>
          </a:p>
        </p:txBody>
      </p:sp>
      <p:sp>
        <p:nvSpPr>
          <p:cNvPr id="4" name="Shape 2"/>
          <p:cNvSpPr/>
          <p:nvPr/>
        </p:nvSpPr>
        <p:spPr>
          <a:xfrm>
            <a:off x="457200" y="868680"/>
            <a:ext cx="2103120" cy="822960"/>
          </a:xfrm>
          <a:prstGeom prst="roundRect">
            <a:avLst>
              <a:gd name="adj" fmla="val 6667"/>
            </a:avLst>
          </a:prstGeom>
          <a:solidFill>
            <a:srgbClr val="FFFFFF"/>
          </a:solidFill>
          <a:ln w="15240">
            <a:solidFill>
              <a:srgbClr val="6E6890"/>
            </a:solidFill>
            <a:prstDash val="solid"/>
          </a:ln>
        </p:spPr>
      </p:sp>
      <p:sp>
        <p:nvSpPr>
          <p:cNvPr id="5" name="Text 3"/>
          <p:cNvSpPr/>
          <p:nvPr/>
        </p:nvSpPr>
        <p:spPr>
          <a:xfrm>
            <a:off x="457200" y="868680"/>
            <a:ext cx="2103120" cy="822960"/>
          </a:xfrm>
          <a:prstGeom prst="rect">
            <a:avLst/>
          </a:prstGeom>
          <a:noFill/>
          <a:ln/>
        </p:spPr>
        <p:txBody>
          <a:bodyPr wrap="square" lIns="38100" tIns="38100" rIns="38100" bIns="38100" rtlCol="0" anchor="ctr"/>
          <a:lstStyle/>
          <a:p>
            <a:pPr algn="ctr" indent="0" marL="0">
              <a:lnSpc>
                <a:spcPct val="115000"/>
              </a:lnSpc>
              <a:buNone/>
            </a:pPr>
            <a:r>
              <a:rPr lang="en-US" sz="1050" dirty="0">
                <a:solidFill>
                  <a:srgbClr val="1A1A1A"/>
                </a:solidFill>
                <a:latin typeface="Cambria" pitchFamily="34" charset="0"/>
                <a:ea typeface="Cambria" pitchFamily="34" charset="-122"/>
                <a:cs typeface="Cambria" pitchFamily="34" charset="-120"/>
              </a:rPr>
              <a:t>ảnh + mục tiêu</a:t>
            </a:r>
            <a:endParaRPr lang="en-US" sz="1050" dirty="0"/>
          </a:p>
          <a:p>
            <a:pPr algn="ctr" indent="0" marL="0">
              <a:lnSpc>
                <a:spcPct val="115000"/>
              </a:lnSpc>
              <a:buNone/>
            </a:pPr>
            <a:r>
              <a:rPr lang="en-US" sz="1050" dirty="0">
                <a:solidFill>
                  <a:srgbClr val="1A1A1A"/>
                </a:solidFill>
                <a:latin typeface="Cambria" pitchFamily="34" charset="0"/>
                <a:ea typeface="Cambria" pitchFamily="34" charset="-122"/>
                <a:cs typeface="Cambria" pitchFamily="34" charset="-120"/>
              </a:rPr>
              <a:t>+ các bước đã làm + OCR</a:t>
            </a:r>
            <a:endParaRPr lang="en-US" sz="1050" dirty="0"/>
          </a:p>
        </p:txBody>
      </p:sp>
      <p:sp>
        <p:nvSpPr>
          <p:cNvPr id="6" name="Shape 4"/>
          <p:cNvSpPr/>
          <p:nvPr/>
        </p:nvSpPr>
        <p:spPr>
          <a:xfrm>
            <a:off x="2606040" y="1280160"/>
            <a:ext cx="365760" cy="0"/>
          </a:xfrm>
          <a:prstGeom prst="line">
            <a:avLst/>
          </a:prstGeom>
          <a:noFill/>
          <a:ln w="25400">
            <a:solidFill>
              <a:srgbClr val="4F417A"/>
            </a:solidFill>
            <a:prstDash val="solid"/>
            <a:tailEnd type="triangle"/>
          </a:ln>
        </p:spPr>
      </p:sp>
      <p:sp>
        <p:nvSpPr>
          <p:cNvPr id="7" name="Shape 5"/>
          <p:cNvSpPr/>
          <p:nvPr/>
        </p:nvSpPr>
        <p:spPr>
          <a:xfrm>
            <a:off x="3017520" y="777240"/>
            <a:ext cx="2377440" cy="1005840"/>
          </a:xfrm>
          <a:prstGeom prst="roundRect">
            <a:avLst>
              <a:gd name="adj" fmla="val 5455"/>
            </a:avLst>
          </a:prstGeom>
          <a:solidFill>
            <a:srgbClr val="EEEAF6"/>
          </a:solidFill>
          <a:ln w="20320">
            <a:solidFill>
              <a:srgbClr val="322164"/>
            </a:solidFill>
            <a:prstDash val="solid"/>
          </a:ln>
        </p:spPr>
      </p:sp>
      <p:sp>
        <p:nvSpPr>
          <p:cNvPr id="8" name="Text 6"/>
          <p:cNvSpPr/>
          <p:nvPr/>
        </p:nvSpPr>
        <p:spPr>
          <a:xfrm>
            <a:off x="3017520" y="777240"/>
            <a:ext cx="2377440" cy="1005840"/>
          </a:xfrm>
          <a:prstGeom prst="rect">
            <a:avLst/>
          </a:prstGeom>
          <a:noFill/>
          <a:ln/>
        </p:spPr>
        <p:txBody>
          <a:bodyPr wrap="square" lIns="38100" tIns="38100" rIns="38100" bIns="38100" rtlCol="0" anchor="ctr"/>
          <a:lstStyle/>
          <a:p>
            <a:pPr algn="ctr" indent="0" marL="0">
              <a:lnSpc>
                <a:spcPct val="115000"/>
              </a:lnSpc>
              <a:buNone/>
            </a:pPr>
            <a:r>
              <a:rPr lang="en-US" sz="1050" b="1" dirty="0">
                <a:solidFill>
                  <a:srgbClr val="1A1A1A"/>
                </a:solidFill>
                <a:latin typeface="Cambria" pitchFamily="34" charset="0"/>
                <a:ea typeface="Cambria" pitchFamily="34" charset="-122"/>
                <a:cs typeface="Cambria" pitchFamily="34" charset="-120"/>
              </a:rPr>
              <a:t>S1 đã hoà</a:t>
            </a:r>
            <a:endParaRPr lang="en-US" sz="1050" dirty="0"/>
          </a:p>
          <a:p>
            <a:pPr algn="ctr" indent="0" marL="0">
              <a:lnSpc>
                <a:spcPct val="115000"/>
              </a:lnSpc>
              <a:buNone/>
            </a:pPr>
            <a:r>
              <a:rPr lang="en-US" sz="1050" b="1" dirty="0">
                <a:solidFill>
                  <a:srgbClr val="1A1A1A"/>
                </a:solidFill>
                <a:latin typeface="Cambria" pitchFamily="34" charset="0"/>
                <a:ea typeface="Cambria" pitchFamily="34" charset="-122"/>
                <a:cs typeface="Cambria" pitchFamily="34" charset="-120"/>
              </a:rPr>
              <a:t>+ LoRA mới (B = 0)</a:t>
            </a:r>
            <a:endParaRPr lang="en-US" sz="1050" dirty="0"/>
          </a:p>
          <a:p>
            <a:pPr algn="ctr" indent="0" marL="0">
              <a:lnSpc>
                <a:spcPct val="115000"/>
              </a:lnSpc>
              <a:buNone/>
            </a:pPr>
            <a:r>
              <a:rPr lang="en-US" sz="1050" b="1" dirty="0">
                <a:solidFill>
                  <a:srgbClr val="1A1A1A"/>
                </a:solidFill>
                <a:latin typeface="Cambria" pitchFamily="34" charset="0"/>
                <a:ea typeface="Cambria" pitchFamily="34" charset="-122"/>
                <a:cs typeface="Cambria" pitchFamily="34" charset="-120"/>
              </a:rPr>
              <a:t>phần duy nhất được cập nhật</a:t>
            </a:r>
            <a:endParaRPr lang="en-US" sz="1050" dirty="0"/>
          </a:p>
        </p:txBody>
      </p:sp>
      <p:sp>
        <p:nvSpPr>
          <p:cNvPr id="9" name="Shape 7"/>
          <p:cNvSpPr/>
          <p:nvPr/>
        </p:nvSpPr>
        <p:spPr>
          <a:xfrm>
            <a:off x="5440680" y="1280160"/>
            <a:ext cx="365760" cy="0"/>
          </a:xfrm>
          <a:prstGeom prst="line">
            <a:avLst/>
          </a:prstGeom>
          <a:noFill/>
          <a:ln w="25400">
            <a:solidFill>
              <a:srgbClr val="4F417A"/>
            </a:solidFill>
            <a:prstDash val="solid"/>
            <a:tailEnd type="triangle"/>
          </a:ln>
        </p:spPr>
      </p:sp>
      <p:sp>
        <p:nvSpPr>
          <p:cNvPr id="10" name="Shape 8"/>
          <p:cNvSpPr/>
          <p:nvPr/>
        </p:nvSpPr>
        <p:spPr>
          <a:xfrm>
            <a:off x="5852160" y="868680"/>
            <a:ext cx="2834640" cy="822960"/>
          </a:xfrm>
          <a:prstGeom prst="roundRect">
            <a:avLst>
              <a:gd name="adj" fmla="val 6667"/>
            </a:avLst>
          </a:prstGeom>
          <a:solidFill>
            <a:srgbClr val="FFFFFF"/>
          </a:solidFill>
          <a:ln w="15240">
            <a:solidFill>
              <a:srgbClr val="6E6890"/>
            </a:solidFill>
            <a:prstDash val="solid"/>
          </a:ln>
        </p:spPr>
      </p:sp>
      <p:sp>
        <p:nvSpPr>
          <p:cNvPr id="11" name="Text 9"/>
          <p:cNvSpPr/>
          <p:nvPr/>
        </p:nvSpPr>
        <p:spPr>
          <a:xfrm>
            <a:off x="5852160" y="868680"/>
            <a:ext cx="2834640" cy="822960"/>
          </a:xfrm>
          <a:prstGeom prst="rect">
            <a:avLst/>
          </a:prstGeom>
          <a:noFill/>
          <a:ln/>
        </p:spPr>
        <p:txBody>
          <a:bodyPr wrap="square" lIns="38100" tIns="38100" rIns="38100" bIns="38100" rtlCol="0" anchor="ctr"/>
          <a:lstStyle/>
          <a:p>
            <a:pPr algn="ctr" indent="0" marL="0">
              <a:lnSpc>
                <a:spcPct val="115000"/>
              </a:lnSpc>
              <a:buNone/>
            </a:pPr>
            <a:r>
              <a:rPr lang="en-US" sz="1050" dirty="0">
                <a:solidFill>
                  <a:srgbClr val="1A1A1A"/>
                </a:solidFill>
                <a:latin typeface="Cambria" pitchFamily="34" charset="0"/>
                <a:ea typeface="Cambria" pitchFamily="34" charset="-122"/>
                <a:cs typeface="Cambria" pitchFamily="34" charset="-120"/>
              </a:rPr>
              <a:t>8 câu mẫu cho mỗi câu nhắc</a:t>
            </a:r>
            <a:endParaRPr lang="en-US" sz="1050" dirty="0"/>
          </a:p>
          <a:p>
            <a:pPr algn="ctr" indent="0" marL="0">
              <a:lnSpc>
                <a:spcPct val="115000"/>
              </a:lnSpc>
              <a:buNone/>
            </a:pPr>
            <a:r>
              <a:rPr lang="en-US" sz="1050" dirty="0">
                <a:solidFill>
                  <a:srgbClr val="1A1A1A"/>
                </a:solidFill>
                <a:latin typeface="Cambria" pitchFamily="34" charset="0"/>
                <a:ea typeface="Cambria" pitchFamily="34" charset="-122"/>
                <a:cs typeface="Cambria" pitchFamily="34" charset="-120"/>
              </a:rPr>
              <a:t>y1, …, y8</a:t>
            </a:r>
            <a:endParaRPr lang="en-US" sz="1050" dirty="0"/>
          </a:p>
        </p:txBody>
      </p:sp>
      <p:sp>
        <p:nvSpPr>
          <p:cNvPr id="12" name="Shape 10"/>
          <p:cNvSpPr/>
          <p:nvPr/>
        </p:nvSpPr>
        <p:spPr>
          <a:xfrm>
            <a:off x="7269480" y="1737360"/>
            <a:ext cx="0" cy="457200"/>
          </a:xfrm>
          <a:prstGeom prst="line">
            <a:avLst/>
          </a:prstGeom>
          <a:noFill/>
          <a:ln w="25400">
            <a:solidFill>
              <a:srgbClr val="4F417A"/>
            </a:solidFill>
            <a:prstDash val="solid"/>
            <a:tailEnd type="triangle"/>
          </a:ln>
        </p:spPr>
      </p:sp>
      <p:sp>
        <p:nvSpPr>
          <p:cNvPr id="13" name="Shape 11"/>
          <p:cNvSpPr/>
          <p:nvPr/>
        </p:nvSpPr>
        <p:spPr>
          <a:xfrm>
            <a:off x="5852160" y="2240280"/>
            <a:ext cx="2834640" cy="822960"/>
          </a:xfrm>
          <a:prstGeom prst="roundRect">
            <a:avLst>
              <a:gd name="adj" fmla="val 6667"/>
            </a:avLst>
          </a:prstGeom>
          <a:solidFill>
            <a:srgbClr val="FFFFFF"/>
          </a:solidFill>
          <a:ln w="15240">
            <a:solidFill>
              <a:srgbClr val="6E6890"/>
            </a:solidFill>
            <a:prstDash val="solid"/>
          </a:ln>
        </p:spPr>
      </p:sp>
      <p:sp>
        <p:nvSpPr>
          <p:cNvPr id="14" name="Text 12"/>
          <p:cNvSpPr/>
          <p:nvPr/>
        </p:nvSpPr>
        <p:spPr>
          <a:xfrm>
            <a:off x="5852160" y="2240280"/>
            <a:ext cx="2834640" cy="822960"/>
          </a:xfrm>
          <a:prstGeom prst="rect">
            <a:avLst/>
          </a:prstGeom>
          <a:noFill/>
          <a:ln/>
        </p:spPr>
        <p:txBody>
          <a:bodyPr wrap="square" lIns="38100" tIns="38100" rIns="38100" bIns="38100" rtlCol="0" anchor="ctr"/>
          <a:lstStyle/>
          <a:p>
            <a:pPr algn="ctr" indent="0" marL="0">
              <a:lnSpc>
                <a:spcPct val="115000"/>
              </a:lnSpc>
              <a:buNone/>
            </a:pPr>
            <a:r>
              <a:rPr lang="en-US" sz="1050" dirty="0">
                <a:solidFill>
                  <a:srgbClr val="1A1A1A"/>
                </a:solidFill>
                <a:latin typeface="Cambria" pitchFamily="34" charset="0"/>
                <a:ea typeface="Cambria" pitchFamily="34" charset="-122"/>
                <a:cs typeface="Cambria" pitchFamily="34" charset="-120"/>
              </a:rPr>
              <a:t>phần thưởng r(yi)</a:t>
            </a:r>
            <a:endParaRPr lang="en-US" sz="1050" dirty="0"/>
          </a:p>
          <a:p>
            <a:pPr algn="ctr" indent="0" marL="0">
              <a:lnSpc>
                <a:spcPct val="115000"/>
              </a:lnSpc>
              <a:buNone/>
            </a:pPr>
            <a:r>
              <a:rPr lang="en-US" sz="1050" dirty="0">
                <a:solidFill>
                  <a:srgbClr val="1A1A1A"/>
                </a:solidFill>
                <a:latin typeface="Cambria" pitchFamily="34" charset="0"/>
                <a:ea typeface="Cambria" pitchFamily="34" charset="-122"/>
                <a:cs typeface="Cambria" pitchFamily="34" charset="-120"/>
              </a:rPr>
              <a:t>so với câu chuẩn g</a:t>
            </a:r>
            <a:endParaRPr lang="en-US" sz="1050" dirty="0"/>
          </a:p>
        </p:txBody>
      </p:sp>
      <p:sp>
        <p:nvSpPr>
          <p:cNvPr id="15" name="Shape 13"/>
          <p:cNvSpPr/>
          <p:nvPr/>
        </p:nvSpPr>
        <p:spPr>
          <a:xfrm>
            <a:off x="5852160" y="2651760"/>
            <a:ext cx="-365760" cy="0"/>
          </a:xfrm>
          <a:prstGeom prst="line">
            <a:avLst/>
          </a:prstGeom>
          <a:noFill/>
          <a:ln w="25400">
            <a:solidFill>
              <a:srgbClr val="4F417A"/>
            </a:solidFill>
            <a:prstDash val="solid"/>
            <a:tailEnd type="triangle"/>
          </a:ln>
        </p:spPr>
      </p:sp>
      <p:sp>
        <p:nvSpPr>
          <p:cNvPr id="16" name="Shape 14"/>
          <p:cNvSpPr/>
          <p:nvPr/>
        </p:nvSpPr>
        <p:spPr>
          <a:xfrm>
            <a:off x="3017520" y="2240280"/>
            <a:ext cx="2377440" cy="822960"/>
          </a:xfrm>
          <a:prstGeom prst="roundRect">
            <a:avLst>
              <a:gd name="adj" fmla="val 6667"/>
            </a:avLst>
          </a:prstGeom>
          <a:solidFill>
            <a:srgbClr val="FFFFFF"/>
          </a:solidFill>
          <a:ln w="15240">
            <a:solidFill>
              <a:srgbClr val="6E6890"/>
            </a:solidFill>
            <a:prstDash val="solid"/>
          </a:ln>
        </p:spPr>
      </p:sp>
      <p:sp>
        <p:nvSpPr>
          <p:cNvPr id="17" name="Text 15"/>
          <p:cNvSpPr/>
          <p:nvPr/>
        </p:nvSpPr>
        <p:spPr>
          <a:xfrm>
            <a:off x="3017520" y="2240280"/>
            <a:ext cx="2377440" cy="822960"/>
          </a:xfrm>
          <a:prstGeom prst="rect">
            <a:avLst/>
          </a:prstGeom>
          <a:noFill/>
          <a:ln/>
        </p:spPr>
        <p:txBody>
          <a:bodyPr wrap="square" lIns="38100" tIns="38100" rIns="38100" bIns="38100" rtlCol="0" anchor="ctr"/>
          <a:lstStyle/>
          <a:p>
            <a:pPr algn="ctr" indent="0" marL="0">
              <a:lnSpc>
                <a:spcPct val="115000"/>
              </a:lnSpc>
              <a:buNone/>
            </a:pPr>
            <a:r>
              <a:rPr lang="en-US" sz="1050" dirty="0">
                <a:solidFill>
                  <a:srgbClr val="1A1A1A"/>
                </a:solidFill>
                <a:latin typeface="Cambria" pitchFamily="34" charset="0"/>
                <a:ea typeface="Cambria" pitchFamily="34" charset="-122"/>
                <a:cs typeface="Cambria" pitchFamily="34" charset="-120"/>
              </a:rPr>
              <a:t>lợi thế chuẩn hoá</a:t>
            </a:r>
            <a:endParaRPr lang="en-US" sz="1050" dirty="0"/>
          </a:p>
          <a:p>
            <a:pPr algn="ctr" indent="0" marL="0">
              <a:lnSpc>
                <a:spcPct val="115000"/>
              </a:lnSpc>
              <a:buNone/>
            </a:pPr>
            <a:r>
              <a:rPr lang="en-US" sz="1050" dirty="0">
                <a:solidFill>
                  <a:srgbClr val="1A1A1A"/>
                </a:solidFill>
                <a:latin typeface="Cambria" pitchFamily="34" charset="0"/>
                <a:ea typeface="Cambria" pitchFamily="34" charset="-122"/>
                <a:cs typeface="Cambria" pitchFamily="34" charset="-120"/>
              </a:rPr>
              <a:t>trong nhóm 8 câu</a:t>
            </a:r>
            <a:endParaRPr lang="en-US" sz="1050" dirty="0"/>
          </a:p>
        </p:txBody>
      </p:sp>
      <p:sp>
        <p:nvSpPr>
          <p:cNvPr id="18" name="Shape 16"/>
          <p:cNvSpPr/>
          <p:nvPr/>
        </p:nvSpPr>
        <p:spPr>
          <a:xfrm>
            <a:off x="4206240" y="1783080"/>
            <a:ext cx="0" cy="438912"/>
          </a:xfrm>
          <a:prstGeom prst="line">
            <a:avLst/>
          </a:prstGeom>
          <a:noFill/>
          <a:ln w="25400">
            <a:solidFill>
              <a:srgbClr val="322164"/>
            </a:solidFill>
            <a:prstDash val="solid"/>
            <a:headEnd type="triangle"/>
          </a:ln>
        </p:spPr>
      </p:sp>
      <p:sp>
        <p:nvSpPr>
          <p:cNvPr id="19" name="Text 17"/>
          <p:cNvSpPr/>
          <p:nvPr/>
        </p:nvSpPr>
        <p:spPr>
          <a:xfrm>
            <a:off x="4251960" y="1828800"/>
            <a:ext cx="914400" cy="274320"/>
          </a:xfrm>
          <a:prstGeom prst="rect">
            <a:avLst/>
          </a:prstGeom>
          <a:noFill/>
          <a:ln/>
        </p:spPr>
        <p:txBody>
          <a:bodyPr wrap="square" lIns="0" tIns="0" rIns="0" bIns="0" rtlCol="0" anchor="t"/>
          <a:lstStyle/>
          <a:p>
            <a:pPr algn="l" indent="0" marL="0">
              <a:buNone/>
            </a:pPr>
            <a:r>
              <a:rPr lang="en-US" sz="950" i="1" dirty="0">
                <a:solidFill>
                  <a:srgbClr val="322164"/>
                </a:solidFill>
                <a:latin typeface="Cambria" pitchFamily="34" charset="0"/>
                <a:ea typeface="Cambria" pitchFamily="34" charset="-122"/>
                <a:cs typeface="Cambria" pitchFamily="34" charset="-120"/>
              </a:rPr>
              <a:t>cập nhật</a:t>
            </a:r>
            <a:endParaRPr lang="en-US" sz="950" dirty="0"/>
          </a:p>
        </p:txBody>
      </p:sp>
      <p:sp>
        <p:nvSpPr>
          <p:cNvPr id="20" name="Shape 18"/>
          <p:cNvSpPr/>
          <p:nvPr/>
        </p:nvSpPr>
        <p:spPr>
          <a:xfrm>
            <a:off x="457200" y="2240280"/>
            <a:ext cx="2103120" cy="822960"/>
          </a:xfrm>
          <a:prstGeom prst="roundRect">
            <a:avLst>
              <a:gd name="adj" fmla="val 6667"/>
            </a:avLst>
          </a:prstGeom>
          <a:solidFill>
            <a:srgbClr val="FFFFFF"/>
          </a:solidFill>
          <a:ln w="15240">
            <a:solidFill>
              <a:srgbClr val="9A94AE"/>
            </a:solidFill>
            <a:prstDash val="solid"/>
          </a:ln>
        </p:spPr>
      </p:sp>
      <p:sp>
        <p:nvSpPr>
          <p:cNvPr id="21" name="Text 19"/>
          <p:cNvSpPr/>
          <p:nvPr/>
        </p:nvSpPr>
        <p:spPr>
          <a:xfrm>
            <a:off x="457200" y="2240280"/>
            <a:ext cx="2103120" cy="822960"/>
          </a:xfrm>
          <a:prstGeom prst="rect">
            <a:avLst/>
          </a:prstGeom>
          <a:noFill/>
          <a:ln/>
        </p:spPr>
        <p:txBody>
          <a:bodyPr wrap="square" lIns="38100" tIns="38100" rIns="38100" bIns="38100" rtlCol="0" anchor="ctr"/>
          <a:lstStyle/>
          <a:p>
            <a:pPr algn="ctr" indent="0" marL="0">
              <a:lnSpc>
                <a:spcPct val="115000"/>
              </a:lnSpc>
              <a:buNone/>
            </a:pPr>
            <a:r>
              <a:rPr lang="en-US" sz="1050" dirty="0">
                <a:solidFill>
                  <a:srgbClr val="1A1A1A"/>
                </a:solidFill>
                <a:latin typeface="Cambria" pitchFamily="34" charset="0"/>
                <a:ea typeface="Cambria" pitchFamily="34" charset="-122"/>
                <a:cs typeface="Cambria" pitchFamily="34" charset="-120"/>
              </a:rPr>
              <a:t>S1 đóng băng</a:t>
            </a:r>
            <a:endParaRPr lang="en-US" sz="1050" dirty="0"/>
          </a:p>
          <a:p>
            <a:pPr algn="ctr" indent="0" marL="0">
              <a:lnSpc>
                <a:spcPct val="115000"/>
              </a:lnSpc>
              <a:buNone/>
            </a:pPr>
            <a:r>
              <a:rPr lang="en-US" sz="1050" dirty="0">
                <a:solidFill>
                  <a:srgbClr val="1A1A1A"/>
                </a:solidFill>
                <a:latin typeface="Cambria" pitchFamily="34" charset="0"/>
                <a:ea typeface="Cambria" pitchFamily="34" charset="-122"/>
                <a:cs typeface="Cambria" pitchFamily="34" charset="-120"/>
              </a:rPr>
              <a:t>(tham chiếu KL, β = 0,04)</a:t>
            </a:r>
            <a:endParaRPr lang="en-US" sz="1050" dirty="0"/>
          </a:p>
        </p:txBody>
      </p:sp>
      <p:sp>
        <p:nvSpPr>
          <p:cNvPr id="22" name="Shape 20"/>
          <p:cNvSpPr/>
          <p:nvPr/>
        </p:nvSpPr>
        <p:spPr>
          <a:xfrm>
            <a:off x="2606040" y="2651760"/>
            <a:ext cx="365760" cy="0"/>
          </a:xfrm>
          <a:prstGeom prst="line">
            <a:avLst/>
          </a:prstGeom>
          <a:noFill/>
          <a:ln w="25400">
            <a:solidFill>
              <a:srgbClr val="9A94AE"/>
            </a:solidFill>
            <a:prstDash val="solid"/>
            <a:tailEnd type="triangle"/>
          </a:ln>
        </p:spPr>
      </p:sp>
      <p:sp>
        <p:nvSpPr>
          <p:cNvPr id="23" name="Shape 21"/>
          <p:cNvSpPr/>
          <p:nvPr/>
        </p:nvSpPr>
        <p:spPr>
          <a:xfrm>
            <a:off x="457200" y="3246120"/>
            <a:ext cx="8229600" cy="685800"/>
          </a:xfrm>
          <a:prstGeom prst="roundRect">
            <a:avLst>
              <a:gd name="adj" fmla="val 8000"/>
            </a:avLst>
          </a:prstGeom>
          <a:solidFill>
            <a:srgbClr val="F6F5F8"/>
          </a:solidFill>
          <a:ln w="12700">
            <a:solidFill>
              <a:srgbClr val="9A94AE"/>
            </a:solidFill>
            <a:prstDash val="solid"/>
          </a:ln>
        </p:spPr>
      </p:sp>
      <p:sp>
        <p:nvSpPr>
          <p:cNvPr id="24" name="Text 22"/>
          <p:cNvSpPr/>
          <p:nvPr/>
        </p:nvSpPr>
        <p:spPr>
          <a:xfrm>
            <a:off x="457200" y="3246120"/>
            <a:ext cx="8229600" cy="411480"/>
          </a:xfrm>
          <a:prstGeom prst="rect">
            <a:avLst/>
          </a:prstGeom>
          <a:noFill/>
          <a:ln/>
        </p:spPr>
        <p:txBody>
          <a:bodyPr wrap="square" lIns="0" tIns="0" rIns="0" bIns="0" rtlCol="0" anchor="ctr"/>
          <a:lstStyle/>
          <a:p>
            <a:pPr algn="ctr" indent="0" marL="0">
              <a:buNone/>
            </a:pPr>
            <a:r>
              <a:rPr lang="en-US" sz="1500" dirty="0">
                <a:solidFill>
                  <a:srgbClr val="1414BE"/>
                </a:solidFill>
                <a:latin typeface="Consolas" pitchFamily="34" charset="0"/>
                <a:ea typeface="Consolas" pitchFamily="34" charset="-122"/>
                <a:cs typeface="Consolas" pitchFamily="34" charset="-120"/>
              </a:rPr>
              <a:t>r(s) = SPICE(s, g) − 0,02 · max(0, |s| − |g| − 3)</a:t>
            </a:r>
            <a:endParaRPr lang="en-US" sz="1500" dirty="0"/>
          </a:p>
        </p:txBody>
      </p:sp>
      <p:sp>
        <p:nvSpPr>
          <p:cNvPr id="25" name="Text 23"/>
          <p:cNvSpPr/>
          <p:nvPr/>
        </p:nvSpPr>
        <p:spPr>
          <a:xfrm>
            <a:off x="457200" y="3611880"/>
            <a:ext cx="8229600" cy="274320"/>
          </a:xfrm>
          <a:prstGeom prst="rect">
            <a:avLst/>
          </a:prstGeom>
          <a:noFill/>
          <a:ln/>
        </p:spPr>
        <p:txBody>
          <a:bodyPr wrap="square" lIns="0" tIns="0" rIns="0" bIns="0" rtlCol="0" anchor="t"/>
          <a:lstStyle/>
          <a:p>
            <a:pPr algn="ctr" indent="0" marL="0">
              <a:buNone/>
            </a:pPr>
            <a:r>
              <a:rPr lang="en-US" sz="1050" i="1" dirty="0">
                <a:solidFill>
                  <a:srgbClr val="5A5A66"/>
                </a:solidFill>
                <a:latin typeface="Cambria" pitchFamily="34" charset="0"/>
                <a:ea typeface="Cambria" pitchFamily="34" charset="-122"/>
                <a:cs typeface="Cambria" pitchFamily="34" charset="-120"/>
              </a:rPr>
              <a:t>|·| là số từ; chỉ phạt câu dài hơn câu chuẩn quá ba từ; câu rỗng nhận 0</a:t>
            </a:r>
            <a:endParaRPr lang="en-US" sz="1050" dirty="0"/>
          </a:p>
        </p:txBody>
      </p:sp>
      <p:sp>
        <p:nvSpPr>
          <p:cNvPr id="26" name="Shape 24"/>
          <p:cNvSpPr/>
          <p:nvPr/>
        </p:nvSpPr>
        <p:spPr>
          <a:xfrm>
            <a:off x="457200" y="4069080"/>
            <a:ext cx="4023360" cy="2331720"/>
          </a:xfrm>
          <a:prstGeom prst="roundRect">
            <a:avLst>
              <a:gd name="adj" fmla="val 2353"/>
            </a:avLst>
          </a:prstGeom>
          <a:solidFill>
            <a:srgbClr val="E9E8EC"/>
          </a:solidFill>
          <a:ln/>
          <a:effectLst>
            <a:outerShdw sx="100000" sy="100000" kx="0" ky="0" algn="bl" rotWithShape="0" blurRad="63500" dist="31750" dir="2700000">
              <a:srgbClr val="8C8C99">
                <a:alpha val="45000"/>
              </a:srgbClr>
            </a:outerShdw>
          </a:effectLst>
        </p:spPr>
      </p:sp>
      <p:sp>
        <p:nvSpPr>
          <p:cNvPr id="27" name="Text 25"/>
          <p:cNvSpPr/>
          <p:nvPr/>
        </p:nvSpPr>
        <p:spPr>
          <a:xfrm>
            <a:off x="640080" y="4142232"/>
            <a:ext cx="3657600" cy="292608"/>
          </a:xfrm>
          <a:prstGeom prst="rect">
            <a:avLst/>
          </a:prstGeom>
          <a:noFill/>
          <a:ln/>
        </p:spPr>
        <p:txBody>
          <a:bodyPr wrap="square" lIns="0" tIns="0" rIns="0" bIns="0" rtlCol="0" anchor="t"/>
          <a:lstStyle/>
          <a:p>
            <a:pPr algn="l" indent="0" marL="0">
              <a:buNone/>
            </a:pPr>
            <a:r>
              <a:rPr lang="en-US" sz="1300" b="1" dirty="0">
                <a:solidFill>
                  <a:srgbClr val="322164"/>
                </a:solidFill>
                <a:latin typeface="Cambria" pitchFamily="34" charset="0"/>
                <a:ea typeface="Cambria" pitchFamily="34" charset="-122"/>
                <a:cs typeface="Cambria" pitchFamily="34" charset="-120"/>
              </a:rPr>
              <a:t>Thiết lập</a:t>
            </a:r>
            <a:endParaRPr lang="en-US" sz="1300" dirty="0"/>
          </a:p>
        </p:txBody>
      </p:sp>
      <p:sp>
        <p:nvSpPr>
          <p:cNvPr id="28" name="Text 26"/>
          <p:cNvSpPr/>
          <p:nvPr/>
        </p:nvSpPr>
        <p:spPr>
          <a:xfrm>
            <a:off x="640080" y="4480560"/>
            <a:ext cx="201168" cy="640080"/>
          </a:xfrm>
          <a:prstGeom prst="rect">
            <a:avLst/>
          </a:prstGeom>
          <a:noFill/>
          <a:ln/>
        </p:spPr>
        <p:txBody>
          <a:bodyPr wrap="square" lIns="0" tIns="0" rIns="0" bIns="0" rtlCol="0" anchor="t"/>
          <a:lstStyle/>
          <a:p>
            <a:pPr algn="l" indent="0" marL="0">
              <a:buNone/>
            </a:pPr>
            <a:r>
              <a:rPr lang="en-US" sz="1150" b="1" dirty="0">
                <a:solidFill>
                  <a:srgbClr val="006666"/>
                </a:solidFill>
                <a:latin typeface="Cambria" pitchFamily="34" charset="0"/>
                <a:ea typeface="Cambria" pitchFamily="34" charset="-122"/>
                <a:cs typeface="Cambria" pitchFamily="34" charset="-120"/>
              </a:rPr>
              <a:t>•</a:t>
            </a:r>
            <a:endParaRPr lang="en-US" sz="1150" dirty="0"/>
          </a:p>
        </p:txBody>
      </p:sp>
      <p:sp>
        <p:nvSpPr>
          <p:cNvPr id="29" name="Text 27"/>
          <p:cNvSpPr/>
          <p:nvPr/>
        </p:nvSpPr>
        <p:spPr>
          <a:xfrm>
            <a:off x="868680" y="4480560"/>
            <a:ext cx="3474720" cy="621792"/>
          </a:xfrm>
          <a:prstGeom prst="rect">
            <a:avLst/>
          </a:prstGeom>
          <a:noFill/>
          <a:ln/>
        </p:spPr>
        <p:txBody>
          <a:bodyPr wrap="square" lIns="0" tIns="0" rIns="0" bIns="0" rtlCol="0" anchor="t"/>
          <a:lstStyle/>
          <a:p>
            <a:pPr algn="l" indent="0" marL="0">
              <a:lnSpc>
                <a:spcPct val="125000"/>
              </a:lnSpc>
              <a:buNone/>
            </a:pPr>
            <a:r>
              <a:rPr lang="en-US" sz="1150" dirty="0">
                <a:solidFill>
                  <a:srgbClr val="1A1A1A"/>
                </a:solidFill>
                <a:latin typeface="Cambria" pitchFamily="34" charset="0"/>
                <a:ea typeface="Cambria" pitchFamily="34" charset="-122"/>
                <a:cs typeface="Cambria" pitchFamily="34" charset="-120"/>
              </a:rPr>
              <a:t>GRPO, 500 bước, 2 câu nhắc mỗi bước, tức 1.000 câu nhắc gồm mọi loại thao tác</a:t>
            </a:r>
            <a:endParaRPr lang="en-US" sz="1150" dirty="0"/>
          </a:p>
        </p:txBody>
      </p:sp>
      <p:sp>
        <p:nvSpPr>
          <p:cNvPr id="30" name="Text 28"/>
          <p:cNvSpPr/>
          <p:nvPr/>
        </p:nvSpPr>
        <p:spPr>
          <a:xfrm>
            <a:off x="640080" y="5120640"/>
            <a:ext cx="201168" cy="640080"/>
          </a:xfrm>
          <a:prstGeom prst="rect">
            <a:avLst/>
          </a:prstGeom>
          <a:noFill/>
          <a:ln/>
        </p:spPr>
        <p:txBody>
          <a:bodyPr wrap="square" lIns="0" tIns="0" rIns="0" bIns="0" rtlCol="0" anchor="t"/>
          <a:lstStyle/>
          <a:p>
            <a:pPr algn="l" indent="0" marL="0">
              <a:buNone/>
            </a:pPr>
            <a:r>
              <a:rPr lang="en-US" sz="1150" b="1" dirty="0">
                <a:solidFill>
                  <a:srgbClr val="006666"/>
                </a:solidFill>
                <a:latin typeface="Cambria" pitchFamily="34" charset="0"/>
                <a:ea typeface="Cambria" pitchFamily="34" charset="-122"/>
                <a:cs typeface="Cambria" pitchFamily="34" charset="-120"/>
              </a:rPr>
              <a:t>•</a:t>
            </a:r>
            <a:endParaRPr lang="en-US" sz="1150" dirty="0"/>
          </a:p>
        </p:txBody>
      </p:sp>
      <p:sp>
        <p:nvSpPr>
          <p:cNvPr id="31" name="Text 29"/>
          <p:cNvSpPr/>
          <p:nvPr/>
        </p:nvSpPr>
        <p:spPr>
          <a:xfrm>
            <a:off x="868680" y="5120640"/>
            <a:ext cx="3474720" cy="621792"/>
          </a:xfrm>
          <a:prstGeom prst="rect">
            <a:avLst/>
          </a:prstGeom>
          <a:noFill/>
          <a:ln/>
        </p:spPr>
        <p:txBody>
          <a:bodyPr wrap="square" lIns="0" tIns="0" rIns="0" bIns="0" rtlCol="0" anchor="t"/>
          <a:lstStyle/>
          <a:p>
            <a:pPr algn="l" indent="0" marL="0">
              <a:lnSpc>
                <a:spcPct val="125000"/>
              </a:lnSpc>
              <a:buNone/>
            </a:pPr>
            <a:r>
              <a:rPr lang="en-US" sz="1150" dirty="0">
                <a:solidFill>
                  <a:srgbClr val="1A1A1A"/>
                </a:solidFill>
                <a:latin typeface="Cambria" pitchFamily="34" charset="0"/>
                <a:ea typeface="Cambria" pitchFamily="34" charset="-122"/>
                <a:cs typeface="Cambria" pitchFamily="34" charset="-120"/>
              </a:rPr>
              <a:t>nhiệt độ 1,0, tốc độ học 1e-5, GPU T4 không thu phí</a:t>
            </a:r>
            <a:endParaRPr lang="en-US" sz="1150" dirty="0"/>
          </a:p>
        </p:txBody>
      </p:sp>
      <p:sp>
        <p:nvSpPr>
          <p:cNvPr id="32" name="Text 30"/>
          <p:cNvSpPr/>
          <p:nvPr/>
        </p:nvSpPr>
        <p:spPr>
          <a:xfrm>
            <a:off x="640080" y="5760720"/>
            <a:ext cx="201168" cy="640080"/>
          </a:xfrm>
          <a:prstGeom prst="rect">
            <a:avLst/>
          </a:prstGeom>
          <a:noFill/>
          <a:ln/>
        </p:spPr>
        <p:txBody>
          <a:bodyPr wrap="square" lIns="0" tIns="0" rIns="0" bIns="0" rtlCol="0" anchor="t"/>
          <a:lstStyle/>
          <a:p>
            <a:pPr algn="l" indent="0" marL="0">
              <a:buNone/>
            </a:pPr>
            <a:r>
              <a:rPr lang="en-US" sz="1150" b="1" dirty="0">
                <a:solidFill>
                  <a:srgbClr val="006666"/>
                </a:solidFill>
                <a:latin typeface="Cambria" pitchFamily="34" charset="0"/>
                <a:ea typeface="Cambria" pitchFamily="34" charset="-122"/>
                <a:cs typeface="Cambria" pitchFamily="34" charset="-120"/>
              </a:rPr>
              <a:t>•</a:t>
            </a:r>
            <a:endParaRPr lang="en-US" sz="1150" dirty="0"/>
          </a:p>
        </p:txBody>
      </p:sp>
      <p:sp>
        <p:nvSpPr>
          <p:cNvPr id="33" name="Text 31"/>
          <p:cNvSpPr/>
          <p:nvPr/>
        </p:nvSpPr>
        <p:spPr>
          <a:xfrm>
            <a:off x="868680" y="5760720"/>
            <a:ext cx="3474720" cy="621792"/>
          </a:xfrm>
          <a:prstGeom prst="rect">
            <a:avLst/>
          </a:prstGeom>
          <a:noFill/>
          <a:ln/>
        </p:spPr>
        <p:txBody>
          <a:bodyPr wrap="square" lIns="0" tIns="0" rIns="0" bIns="0" rtlCol="0" anchor="t"/>
          <a:lstStyle/>
          <a:p>
            <a:pPr algn="l" indent="0" marL="0">
              <a:lnSpc>
                <a:spcPct val="125000"/>
              </a:lnSpc>
              <a:buNone/>
            </a:pPr>
            <a:r>
              <a:rPr lang="en-US" sz="1150" dirty="0">
                <a:solidFill>
                  <a:srgbClr val="1A1A1A"/>
                </a:solidFill>
                <a:latin typeface="Cambria" pitchFamily="34" charset="0"/>
                <a:ea typeface="Cambria" pitchFamily="34" charset="-122"/>
                <a:cs typeface="Cambria" pitchFamily="34" charset="-120"/>
              </a:rPr>
              <a:t>điểm lưu 500 được chấm trên tập kiểm đúng một lần</a:t>
            </a:r>
            <a:endParaRPr lang="en-US" sz="1150" dirty="0"/>
          </a:p>
        </p:txBody>
      </p:sp>
      <p:sp>
        <p:nvSpPr>
          <p:cNvPr id="34" name="Shape 32"/>
          <p:cNvSpPr/>
          <p:nvPr/>
        </p:nvSpPr>
        <p:spPr>
          <a:xfrm>
            <a:off x="4663440" y="4069080"/>
            <a:ext cx="4023360" cy="2331720"/>
          </a:xfrm>
          <a:prstGeom prst="roundRect">
            <a:avLst>
              <a:gd name="adj" fmla="val 2353"/>
            </a:avLst>
          </a:prstGeom>
          <a:solidFill>
            <a:srgbClr val="E9E8EC"/>
          </a:solidFill>
          <a:ln/>
          <a:effectLst>
            <a:outerShdw sx="100000" sy="100000" kx="0" ky="0" algn="bl" rotWithShape="0" blurRad="63500" dist="31750" dir="2700000">
              <a:srgbClr val="8C8C99">
                <a:alpha val="45000"/>
              </a:srgbClr>
            </a:outerShdw>
          </a:effectLst>
        </p:spPr>
      </p:sp>
      <p:sp>
        <p:nvSpPr>
          <p:cNvPr id="35" name="Text 33"/>
          <p:cNvSpPr/>
          <p:nvPr/>
        </p:nvSpPr>
        <p:spPr>
          <a:xfrm>
            <a:off x="4846320" y="4142232"/>
            <a:ext cx="3657600" cy="292608"/>
          </a:xfrm>
          <a:prstGeom prst="rect">
            <a:avLst/>
          </a:prstGeom>
          <a:noFill/>
          <a:ln/>
        </p:spPr>
        <p:txBody>
          <a:bodyPr wrap="square" lIns="0" tIns="0" rIns="0" bIns="0" rtlCol="0" anchor="t"/>
          <a:lstStyle/>
          <a:p>
            <a:pPr algn="l" indent="0" marL="0">
              <a:buNone/>
            </a:pPr>
            <a:r>
              <a:rPr lang="en-US" sz="1300" b="1" dirty="0">
                <a:solidFill>
                  <a:srgbClr val="322164"/>
                </a:solidFill>
                <a:latin typeface="Cambria" pitchFamily="34" charset="0"/>
                <a:ea typeface="Cambria" pitchFamily="34" charset="-122"/>
                <a:cs typeface="Cambria" pitchFamily="34" charset="-120"/>
              </a:rPr>
              <a:t>Căn cứ</a:t>
            </a:r>
            <a:endParaRPr lang="en-US" sz="1300" dirty="0"/>
          </a:p>
        </p:txBody>
      </p:sp>
      <p:sp>
        <p:nvSpPr>
          <p:cNvPr id="36" name="Text 34"/>
          <p:cNvSpPr/>
          <p:nvPr/>
        </p:nvSpPr>
        <p:spPr>
          <a:xfrm>
            <a:off x="4846320" y="4480560"/>
            <a:ext cx="201168" cy="640080"/>
          </a:xfrm>
          <a:prstGeom prst="rect">
            <a:avLst/>
          </a:prstGeom>
          <a:noFill/>
          <a:ln/>
        </p:spPr>
        <p:txBody>
          <a:bodyPr wrap="square" lIns="0" tIns="0" rIns="0" bIns="0" rtlCol="0" anchor="t"/>
          <a:lstStyle/>
          <a:p>
            <a:pPr algn="l" indent="0" marL="0">
              <a:buNone/>
            </a:pPr>
            <a:r>
              <a:rPr lang="en-US" sz="1150" b="1" dirty="0">
                <a:solidFill>
                  <a:srgbClr val="006666"/>
                </a:solidFill>
                <a:latin typeface="Cambria" pitchFamily="34" charset="0"/>
                <a:ea typeface="Cambria" pitchFamily="34" charset="-122"/>
                <a:cs typeface="Cambria" pitchFamily="34" charset="-120"/>
              </a:rPr>
              <a:t>•</a:t>
            </a:r>
            <a:endParaRPr lang="en-US" sz="1150" dirty="0"/>
          </a:p>
        </p:txBody>
      </p:sp>
      <p:sp>
        <p:nvSpPr>
          <p:cNvPr id="37" name="Text 35"/>
          <p:cNvSpPr/>
          <p:nvPr/>
        </p:nvSpPr>
        <p:spPr>
          <a:xfrm>
            <a:off x="5074920" y="4480560"/>
            <a:ext cx="3474720" cy="621792"/>
          </a:xfrm>
          <a:prstGeom prst="rect">
            <a:avLst/>
          </a:prstGeom>
          <a:noFill/>
          <a:ln/>
        </p:spPr>
        <p:txBody>
          <a:bodyPr wrap="square" lIns="0" tIns="0" rIns="0" bIns="0" rtlCol="0" anchor="t"/>
          <a:lstStyle/>
          <a:p>
            <a:pPr algn="l" indent="0" marL="0">
              <a:lnSpc>
                <a:spcPct val="125000"/>
              </a:lnSpc>
              <a:buNone/>
            </a:pPr>
            <a:r>
              <a:rPr lang="en-US" sz="1150" dirty="0">
                <a:solidFill>
                  <a:srgbClr val="1A1A1A"/>
                </a:solidFill>
                <a:latin typeface="Cambria" pitchFamily="34" charset="0"/>
                <a:ea typeface="Cambria" pitchFamily="34" charset="-122"/>
                <a:cs typeface="Cambria" pitchFamily="34" charset="-120"/>
              </a:rPr>
              <a:t>tiền lệ thưởng theo câu trong chú thích ảnh: SCST (CVPR 2017), SPIDEr (ICCV 2017)</a:t>
            </a:r>
            <a:endParaRPr lang="en-US" sz="1150" dirty="0"/>
          </a:p>
        </p:txBody>
      </p:sp>
      <p:sp>
        <p:nvSpPr>
          <p:cNvPr id="38" name="Text 36"/>
          <p:cNvSpPr/>
          <p:nvPr/>
        </p:nvSpPr>
        <p:spPr>
          <a:xfrm>
            <a:off x="4846320" y="5120640"/>
            <a:ext cx="201168" cy="640080"/>
          </a:xfrm>
          <a:prstGeom prst="rect">
            <a:avLst/>
          </a:prstGeom>
          <a:noFill/>
          <a:ln/>
        </p:spPr>
        <p:txBody>
          <a:bodyPr wrap="square" lIns="0" tIns="0" rIns="0" bIns="0" rtlCol="0" anchor="t"/>
          <a:lstStyle/>
          <a:p>
            <a:pPr algn="l" indent="0" marL="0">
              <a:buNone/>
            </a:pPr>
            <a:r>
              <a:rPr lang="en-US" sz="1150" b="1" dirty="0">
                <a:solidFill>
                  <a:srgbClr val="006666"/>
                </a:solidFill>
                <a:latin typeface="Cambria" pitchFamily="34" charset="0"/>
                <a:ea typeface="Cambria" pitchFamily="34" charset="-122"/>
                <a:cs typeface="Cambria" pitchFamily="34" charset="-120"/>
              </a:rPr>
              <a:t>•</a:t>
            </a:r>
            <a:endParaRPr lang="en-US" sz="1150" dirty="0"/>
          </a:p>
        </p:txBody>
      </p:sp>
      <p:sp>
        <p:nvSpPr>
          <p:cNvPr id="39" name="Text 37"/>
          <p:cNvSpPr/>
          <p:nvPr/>
        </p:nvSpPr>
        <p:spPr>
          <a:xfrm>
            <a:off x="5074920" y="5120640"/>
            <a:ext cx="3474720" cy="621792"/>
          </a:xfrm>
          <a:prstGeom prst="rect">
            <a:avLst/>
          </a:prstGeom>
          <a:noFill/>
          <a:ln/>
        </p:spPr>
        <p:txBody>
          <a:bodyPr wrap="square" lIns="0" tIns="0" rIns="0" bIns="0" rtlCol="0" anchor="t"/>
          <a:lstStyle/>
          <a:p>
            <a:pPr algn="l" indent="0" marL="0">
              <a:lnSpc>
                <a:spcPct val="125000"/>
              </a:lnSpc>
              <a:buNone/>
            </a:pPr>
            <a:r>
              <a:rPr lang="en-US" sz="1150" dirty="0">
                <a:solidFill>
                  <a:srgbClr val="1A1A1A"/>
                </a:solidFill>
                <a:latin typeface="Cambria" pitchFamily="34" charset="0"/>
                <a:ea typeface="Cambria" pitchFamily="34" charset="-122"/>
                <a:cs typeface="Cambria" pitchFamily="34" charset="-120"/>
              </a:rPr>
              <a:t>trên tập kiểm định, chọn câu SPICE cao nhất trong 9 câu của S1 nâng rõ executability</a:t>
            </a:r>
            <a:endParaRPr lang="en-US" sz="1150" dirty="0"/>
          </a:p>
        </p:txBody>
      </p:sp>
      <p:sp>
        <p:nvSpPr>
          <p:cNvPr id="40" name="Text 38"/>
          <p:cNvSpPr/>
          <p:nvPr/>
        </p:nvSpPr>
        <p:spPr>
          <a:xfrm>
            <a:off x="4846320" y="5760720"/>
            <a:ext cx="201168" cy="640080"/>
          </a:xfrm>
          <a:prstGeom prst="rect">
            <a:avLst/>
          </a:prstGeom>
          <a:noFill/>
          <a:ln/>
        </p:spPr>
        <p:txBody>
          <a:bodyPr wrap="square" lIns="0" tIns="0" rIns="0" bIns="0" rtlCol="0" anchor="t"/>
          <a:lstStyle/>
          <a:p>
            <a:pPr algn="l" indent="0" marL="0">
              <a:buNone/>
            </a:pPr>
            <a:r>
              <a:rPr lang="en-US" sz="1150" b="1" dirty="0">
                <a:solidFill>
                  <a:srgbClr val="006666"/>
                </a:solidFill>
                <a:latin typeface="Cambria" pitchFamily="34" charset="0"/>
                <a:ea typeface="Cambria" pitchFamily="34" charset="-122"/>
                <a:cs typeface="Cambria" pitchFamily="34" charset="-120"/>
              </a:rPr>
              <a:t>•</a:t>
            </a:r>
            <a:endParaRPr lang="en-US" sz="1150" dirty="0"/>
          </a:p>
        </p:txBody>
      </p:sp>
      <p:sp>
        <p:nvSpPr>
          <p:cNvPr id="41" name="Text 39"/>
          <p:cNvSpPr/>
          <p:nvPr/>
        </p:nvSpPr>
        <p:spPr>
          <a:xfrm>
            <a:off x="5074920" y="5760720"/>
            <a:ext cx="3474720" cy="621792"/>
          </a:xfrm>
          <a:prstGeom prst="rect">
            <a:avLst/>
          </a:prstGeom>
          <a:noFill/>
          <a:ln/>
        </p:spPr>
        <p:txBody>
          <a:bodyPr wrap="square" lIns="0" tIns="0" rIns="0" bIns="0" rtlCol="0" anchor="t"/>
          <a:lstStyle/>
          <a:p>
            <a:pPr algn="l" indent="0" marL="0">
              <a:lnSpc>
                <a:spcPct val="125000"/>
              </a:lnSpc>
              <a:buNone/>
            </a:pPr>
            <a:r>
              <a:rPr lang="en-US" sz="1150" dirty="0">
                <a:solidFill>
                  <a:srgbClr val="1A1A1A"/>
                </a:solidFill>
                <a:latin typeface="Cambria" pitchFamily="34" charset="0"/>
                <a:ea typeface="Cambria" pitchFamily="34" charset="-122"/>
                <a:cs typeface="Cambria" pitchFamily="34" charset="-120"/>
              </a:rPr>
              <a:t>mô hình định vị không nằm trong phần thưởng, nên thước chấm vẫn độc lập</a:t>
            </a:r>
            <a:endParaRPr lang="en-US" sz="1150" dirty="0"/>
          </a:p>
        </p:txBody>
      </p:sp>
      <p:sp>
        <p:nvSpPr>
          <p:cNvPr id="43" name="Shape 40"/>
          <p:cNvSpPr/>
          <p:nvPr/>
        </p:nvSpPr>
        <p:spPr>
          <a:xfrm>
            <a:off x="0" y="6620256"/>
            <a:ext cx="2743200" cy="237744"/>
          </a:xfrm>
          <a:prstGeom prst="rect">
            <a:avLst/>
          </a:prstGeom>
          <a:solidFill>
            <a:srgbClr val="191132"/>
          </a:solidFill>
          <a:ln/>
        </p:spPr>
      </p:sp>
      <p:sp>
        <p:nvSpPr>
          <p:cNvPr id="44" name="Shape 41"/>
          <p:cNvSpPr/>
          <p:nvPr/>
        </p:nvSpPr>
        <p:spPr>
          <a:xfrm>
            <a:off x="2743200" y="6620256"/>
            <a:ext cx="3383280" cy="237744"/>
          </a:xfrm>
          <a:prstGeom prst="rect">
            <a:avLst/>
          </a:prstGeom>
          <a:solidFill>
            <a:srgbClr val="25194B"/>
          </a:solidFill>
          <a:ln/>
        </p:spPr>
      </p:sp>
      <p:sp>
        <p:nvSpPr>
          <p:cNvPr id="45" name="Shape 42"/>
          <p:cNvSpPr/>
          <p:nvPr/>
        </p:nvSpPr>
        <p:spPr>
          <a:xfrm>
            <a:off x="6126480" y="6620256"/>
            <a:ext cx="1737360" cy="237744"/>
          </a:xfrm>
          <a:prstGeom prst="rect">
            <a:avLst/>
          </a:prstGeom>
          <a:solidFill>
            <a:srgbClr val="4F417A"/>
          </a:solidFill>
          <a:ln/>
        </p:spPr>
      </p:sp>
      <p:sp>
        <p:nvSpPr>
          <p:cNvPr id="46" name="Shape 43"/>
          <p:cNvSpPr/>
          <p:nvPr/>
        </p:nvSpPr>
        <p:spPr>
          <a:xfrm>
            <a:off x="7863840" y="6620256"/>
            <a:ext cx="1280160" cy="237744"/>
          </a:xfrm>
          <a:prstGeom prst="rect">
            <a:avLst/>
          </a:prstGeom>
          <a:solidFill>
            <a:srgbClr val="7A7099"/>
          </a:solidFill>
          <a:ln/>
        </p:spPr>
      </p:sp>
      <p:sp>
        <p:nvSpPr>
          <p:cNvPr id="47" name="Text 44"/>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Luận văn thạc sĩ</a:t>
            </a:r>
            <a:endParaRPr lang="en-US" sz="800" dirty="0"/>
          </a:p>
        </p:txBody>
      </p:sp>
      <p:sp>
        <p:nvSpPr>
          <p:cNvPr id="48" name="Text 45"/>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Phát sinh tự động hướng dẫn sử dụng phần mềm dựa trên LLM</a:t>
            </a:r>
            <a:endParaRPr lang="en-US" sz="800" dirty="0"/>
          </a:p>
        </p:txBody>
      </p:sp>
      <p:sp>
        <p:nvSpPr>
          <p:cNvPr id="49" name="Text 46"/>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50" name="Text 47"/>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11/24</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Kết quả chính trên 4.463 bước chạm của tập kiểm</a:t>
            </a:r>
            <a:endParaRPr lang="en-US" sz="1900" dirty="0"/>
          </a:p>
        </p:txBody>
      </p:sp>
      <p:pic>
        <p:nvPicPr>
          <p:cNvPr id="4" name="Image 0" descr="/mnt/d/Master/Thesis/thesis/figures/fig_ba_luat.png">    </p:cNvPr>
          <p:cNvPicPr>
            <a:picLocks noChangeAspect="1"/>
          </p:cNvPicPr>
          <p:nvPr/>
        </p:nvPicPr>
        <p:blipFill>
          <a:blip r:embed="rId1"/>
          <a:stretch>
            <a:fillRect/>
          </a:stretch>
        </p:blipFill>
        <p:spPr>
          <a:xfrm>
            <a:off x="457200" y="695685"/>
            <a:ext cx="8229600" cy="4003589"/>
          </a:xfrm>
          <a:prstGeom prst="rect">
            <a:avLst/>
          </a:prstGeom>
        </p:spPr>
      </p:pic>
      <p:sp>
        <p:nvSpPr>
          <p:cNvPr id="5" name="Shape 2"/>
          <p:cNvSpPr/>
          <p:nvPr/>
        </p:nvSpPr>
        <p:spPr>
          <a:xfrm>
            <a:off x="457200" y="4846320"/>
            <a:ext cx="8229600" cy="1463040"/>
          </a:xfrm>
          <a:prstGeom prst="roundRect">
            <a:avLst>
              <a:gd name="adj" fmla="val 3750"/>
            </a:avLst>
          </a:prstGeom>
          <a:solidFill>
            <a:srgbClr val="E9E8EC"/>
          </a:solidFill>
          <a:ln/>
          <a:effectLst>
            <a:outerShdw sx="100000" sy="100000" kx="0" ky="0" algn="bl" rotWithShape="0" blurRad="63500" dist="31750" dir="2700000">
              <a:srgbClr val="8C8C99">
                <a:alpha val="45000"/>
              </a:srgbClr>
            </a:outerShdw>
          </a:effectLst>
        </p:spPr>
      </p:sp>
      <p:sp>
        <p:nvSpPr>
          <p:cNvPr id="6" name="Text 3"/>
          <p:cNvSpPr/>
          <p:nvPr/>
        </p:nvSpPr>
        <p:spPr>
          <a:xfrm>
            <a:off x="640080" y="4956048"/>
            <a:ext cx="201168" cy="640080"/>
          </a:xfrm>
          <a:prstGeom prst="rect">
            <a:avLst/>
          </a:prstGeom>
          <a:noFill/>
          <a:ln/>
        </p:spPr>
        <p:txBody>
          <a:bodyPr wrap="square" lIns="0" tIns="0" rIns="0" bIns="0" rtlCol="0" anchor="t"/>
          <a:lstStyle/>
          <a:p>
            <a:pPr algn="l" indent="0" marL="0">
              <a:buNone/>
            </a:pPr>
            <a:r>
              <a:rPr lang="en-US" sz="1250" b="1" dirty="0">
                <a:solidFill>
                  <a:srgbClr val="006666"/>
                </a:solidFill>
                <a:latin typeface="Cambria" pitchFamily="34" charset="0"/>
                <a:ea typeface="Cambria" pitchFamily="34" charset="-122"/>
                <a:cs typeface="Cambria" pitchFamily="34" charset="-120"/>
              </a:rPr>
              <a:t>•</a:t>
            </a:r>
            <a:endParaRPr lang="en-US" sz="1250" dirty="0"/>
          </a:p>
        </p:txBody>
      </p:sp>
      <p:sp>
        <p:nvSpPr>
          <p:cNvPr id="7" name="Text 4"/>
          <p:cNvSpPr/>
          <p:nvPr/>
        </p:nvSpPr>
        <p:spPr>
          <a:xfrm>
            <a:off x="868680" y="4956048"/>
            <a:ext cx="7635240" cy="621792"/>
          </a:xfrm>
          <a:prstGeom prst="rect">
            <a:avLst/>
          </a:prstGeom>
          <a:noFill/>
          <a:ln/>
        </p:spPr>
        <p:txBody>
          <a:bodyPr wrap="square" lIns="0" tIns="0" rIns="0" bIns="0" rtlCol="0" anchor="t"/>
          <a:lstStyle/>
          <a:p>
            <a:pPr algn="l" indent="0" marL="0">
              <a:lnSpc>
                <a:spcPct val="125000"/>
              </a:lnSpc>
              <a:buNone/>
            </a:pPr>
            <a:r>
              <a:rPr lang="en-US" sz="1250" dirty="0">
                <a:solidFill>
                  <a:srgbClr val="1A1A1A"/>
                </a:solidFill>
                <a:latin typeface="Cambria" pitchFamily="34" charset="0"/>
                <a:ea typeface="Cambria" pitchFamily="34" charset="-122"/>
                <a:cs typeface="Cambria" pitchFamily="34" charset="-120"/>
              </a:rPr>
              <a:t>Phương pháp đề xuất đạt executability </a:t>
            </a:r>
            <a:pPr algn="l" indent="0" marL="0">
              <a:lnSpc>
                <a:spcPct val="125000"/>
              </a:lnSpc>
              <a:buNone/>
            </a:pPr>
            <a:r>
              <a:rPr lang="en-US" sz="1250" b="1" dirty="0">
                <a:solidFill>
                  <a:srgbClr val="1A1A1A"/>
                </a:solidFill>
                <a:latin typeface="Cambria" pitchFamily="34" charset="0"/>
                <a:ea typeface="Cambria" pitchFamily="34" charset="-122"/>
                <a:cs typeface="Cambria" pitchFamily="34" charset="-120"/>
              </a:rPr>
              <a:t>60,6</a:t>
            </a:r>
            <a:pPr algn="l" indent="0" marL="0">
              <a:lnSpc>
                <a:spcPct val="125000"/>
              </a:lnSpc>
              <a:buNone/>
            </a:pPr>
            <a:r>
              <a:rPr lang="en-US" sz="1250" dirty="0">
                <a:solidFill>
                  <a:srgbClr val="1A1A1A"/>
                </a:solidFill>
                <a:latin typeface="Cambria" pitchFamily="34" charset="0"/>
                <a:ea typeface="Cambria" pitchFamily="34" charset="-122"/>
                <a:cs typeface="Cambria" pitchFamily="34" charset="-120"/>
              </a:rPr>
              <a:t>, cao nhất trong mọi mô hình đã đo, và bằng chặng ba dưới luật hộp phần tử (67,0).</a:t>
            </a:r>
            <a:endParaRPr lang="en-US" sz="1250" dirty="0"/>
          </a:p>
        </p:txBody>
      </p:sp>
      <p:sp>
        <p:nvSpPr>
          <p:cNvPr id="8" name="Text 5"/>
          <p:cNvSpPr/>
          <p:nvPr/>
        </p:nvSpPr>
        <p:spPr>
          <a:xfrm>
            <a:off x="640080" y="5596128"/>
            <a:ext cx="201168" cy="640080"/>
          </a:xfrm>
          <a:prstGeom prst="rect">
            <a:avLst/>
          </a:prstGeom>
          <a:noFill/>
          <a:ln/>
        </p:spPr>
        <p:txBody>
          <a:bodyPr wrap="square" lIns="0" tIns="0" rIns="0" bIns="0" rtlCol="0" anchor="t"/>
          <a:lstStyle/>
          <a:p>
            <a:pPr algn="l" indent="0" marL="0">
              <a:buNone/>
            </a:pPr>
            <a:r>
              <a:rPr lang="en-US" sz="1250" b="1" dirty="0">
                <a:solidFill>
                  <a:srgbClr val="006666"/>
                </a:solidFill>
                <a:latin typeface="Cambria" pitchFamily="34" charset="0"/>
                <a:ea typeface="Cambria" pitchFamily="34" charset="-122"/>
                <a:cs typeface="Cambria" pitchFamily="34" charset="-120"/>
              </a:rPr>
              <a:t>•</a:t>
            </a:r>
            <a:endParaRPr lang="en-US" sz="1250" dirty="0"/>
          </a:p>
        </p:txBody>
      </p:sp>
      <p:sp>
        <p:nvSpPr>
          <p:cNvPr id="9" name="Text 6"/>
          <p:cNvSpPr/>
          <p:nvPr/>
        </p:nvSpPr>
        <p:spPr>
          <a:xfrm>
            <a:off x="868680" y="5596128"/>
            <a:ext cx="7635240" cy="621792"/>
          </a:xfrm>
          <a:prstGeom prst="rect">
            <a:avLst/>
          </a:prstGeom>
          <a:noFill/>
          <a:ln/>
        </p:spPr>
        <p:txBody>
          <a:bodyPr wrap="square" lIns="0" tIns="0" rIns="0" bIns="0" rtlCol="0" anchor="t"/>
          <a:lstStyle/>
          <a:p>
            <a:pPr algn="l" indent="0" marL="0">
              <a:lnSpc>
                <a:spcPct val="125000"/>
              </a:lnSpc>
              <a:buNone/>
            </a:pPr>
            <a:r>
              <a:rPr lang="en-US" sz="1250" dirty="0">
                <a:solidFill>
                  <a:srgbClr val="1A1A1A"/>
                </a:solidFill>
                <a:latin typeface="Cambria" pitchFamily="34" charset="0"/>
                <a:ea typeface="Cambria" pitchFamily="34" charset="-122"/>
                <a:cs typeface="Cambria" pitchFamily="34" charset="-120"/>
              </a:rPr>
              <a:t>Chặng ba cao nhất dưới luật khớp chạm của AitW (77,3). Câu chuẩn: 92,1 · 83,8 · 75,7.</a:t>
            </a:r>
            <a:endParaRPr lang="en-US" sz="1250" dirty="0"/>
          </a:p>
        </p:txBody>
      </p:sp>
      <p:sp>
        <p:nvSpPr>
          <p:cNvPr id="11" name="Shape 7"/>
          <p:cNvSpPr/>
          <p:nvPr/>
        </p:nvSpPr>
        <p:spPr>
          <a:xfrm>
            <a:off x="0" y="6620256"/>
            <a:ext cx="2743200" cy="237744"/>
          </a:xfrm>
          <a:prstGeom prst="rect">
            <a:avLst/>
          </a:prstGeom>
          <a:solidFill>
            <a:srgbClr val="191132"/>
          </a:solidFill>
          <a:ln/>
        </p:spPr>
      </p:sp>
      <p:sp>
        <p:nvSpPr>
          <p:cNvPr id="12" name="Shape 8"/>
          <p:cNvSpPr/>
          <p:nvPr/>
        </p:nvSpPr>
        <p:spPr>
          <a:xfrm>
            <a:off x="2743200" y="6620256"/>
            <a:ext cx="3383280" cy="237744"/>
          </a:xfrm>
          <a:prstGeom prst="rect">
            <a:avLst/>
          </a:prstGeom>
          <a:solidFill>
            <a:srgbClr val="25194B"/>
          </a:solidFill>
          <a:ln/>
        </p:spPr>
      </p:sp>
      <p:sp>
        <p:nvSpPr>
          <p:cNvPr id="13" name="Shape 9"/>
          <p:cNvSpPr/>
          <p:nvPr/>
        </p:nvSpPr>
        <p:spPr>
          <a:xfrm>
            <a:off x="6126480" y="6620256"/>
            <a:ext cx="1737360" cy="237744"/>
          </a:xfrm>
          <a:prstGeom prst="rect">
            <a:avLst/>
          </a:prstGeom>
          <a:solidFill>
            <a:srgbClr val="4F417A"/>
          </a:solidFill>
          <a:ln/>
        </p:spPr>
      </p:sp>
      <p:sp>
        <p:nvSpPr>
          <p:cNvPr id="14" name="Shape 10"/>
          <p:cNvSpPr/>
          <p:nvPr/>
        </p:nvSpPr>
        <p:spPr>
          <a:xfrm>
            <a:off x="7863840" y="6620256"/>
            <a:ext cx="1280160" cy="237744"/>
          </a:xfrm>
          <a:prstGeom prst="rect">
            <a:avLst/>
          </a:prstGeom>
          <a:solidFill>
            <a:srgbClr val="7A7099"/>
          </a:solidFill>
          <a:ln/>
        </p:spPr>
      </p:sp>
      <p:sp>
        <p:nvSpPr>
          <p:cNvPr id="15" name="Text 11"/>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Luận văn thạc sĩ</a:t>
            </a:r>
            <a:endParaRPr lang="en-US" sz="800" dirty="0"/>
          </a:p>
        </p:txBody>
      </p:sp>
      <p:sp>
        <p:nvSpPr>
          <p:cNvPr id="16" name="Text 12"/>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Phát sinh tự động hướng dẫn sử dụng phần mềm dựa trên LLM</a:t>
            </a:r>
            <a:endParaRPr lang="en-US" sz="800" dirty="0"/>
          </a:p>
        </p:txBody>
      </p:sp>
      <p:sp>
        <p:nvSpPr>
          <p:cNvPr id="17" name="Text 13"/>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18" name="Text 14"/>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12/24</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Nhóm thước theo vị trí, đủ các nhánh</a:t>
            </a:r>
            <a:endParaRPr lang="en-US" sz="1900" dirty="0"/>
          </a:p>
        </p:txBody>
      </p:sp>
      <p:sp>
        <p:nvSpPr>
          <p:cNvPr id="4" name="Shape 2"/>
          <p:cNvSpPr/>
          <p:nvPr/>
        </p:nvSpPr>
        <p:spPr>
          <a:xfrm>
            <a:off x="457200" y="731520"/>
            <a:ext cx="8229600" cy="457200"/>
          </a:xfrm>
          <a:prstGeom prst="rect">
            <a:avLst/>
          </a:prstGeom>
          <a:solidFill>
            <a:srgbClr val="322164"/>
          </a:solidFill>
          <a:ln/>
        </p:spPr>
      </p:sp>
      <p:sp>
        <p:nvSpPr>
          <p:cNvPr id="5" name="Text 3"/>
          <p:cNvSpPr/>
          <p:nvPr/>
        </p:nvSpPr>
        <p:spPr>
          <a:xfrm>
            <a:off x="457200" y="731520"/>
            <a:ext cx="2331720" cy="457200"/>
          </a:xfrm>
          <a:prstGeom prst="rect">
            <a:avLst/>
          </a:prstGeom>
          <a:noFill/>
          <a:ln/>
        </p:spPr>
        <p:txBody>
          <a:bodyPr wrap="square" lIns="38100" tIns="38100" rIns="38100" bIns="38100" rtlCol="0" anchor="ctr"/>
          <a:lstStyle/>
          <a:p>
            <a:pPr algn="l" indent="0" marL="0">
              <a:buNone/>
            </a:pPr>
            <a:r>
              <a:rPr lang="en-US" sz="1100" b="1" dirty="0">
                <a:solidFill>
                  <a:srgbClr val="FFFFFF"/>
                </a:solidFill>
                <a:latin typeface="Cambria" pitchFamily="34" charset="0"/>
                <a:ea typeface="Cambria" pitchFamily="34" charset="-122"/>
                <a:cs typeface="Cambria" pitchFamily="34" charset="-120"/>
              </a:rPr>
              <a:t>Nhánh</a:t>
            </a:r>
            <a:endParaRPr lang="en-US" sz="1100" dirty="0"/>
          </a:p>
        </p:txBody>
      </p:sp>
      <p:sp>
        <p:nvSpPr>
          <p:cNvPr id="6" name="Text 4"/>
          <p:cNvSpPr/>
          <p:nvPr/>
        </p:nvSpPr>
        <p:spPr>
          <a:xfrm>
            <a:off x="2788920" y="731520"/>
            <a:ext cx="868680" cy="457200"/>
          </a:xfrm>
          <a:prstGeom prst="rect">
            <a:avLst/>
          </a:prstGeom>
          <a:noFill/>
          <a:ln/>
        </p:spPr>
        <p:txBody>
          <a:bodyPr wrap="square" lIns="38100" tIns="38100" rIns="38100" bIns="3810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AitW</a:t>
            </a:r>
            <a:endParaRPr lang="en-US" sz="1100" dirty="0"/>
          </a:p>
        </p:txBody>
      </p:sp>
      <p:sp>
        <p:nvSpPr>
          <p:cNvPr id="7" name="Text 5"/>
          <p:cNvSpPr/>
          <p:nvPr/>
        </p:nvSpPr>
        <p:spPr>
          <a:xfrm>
            <a:off x="3657600" y="731520"/>
            <a:ext cx="960120" cy="457200"/>
          </a:xfrm>
          <a:prstGeom prst="rect">
            <a:avLst/>
          </a:prstGeom>
          <a:noFill/>
          <a:ln/>
        </p:spPr>
        <p:txBody>
          <a:bodyPr wrap="square" lIns="38100" tIns="38100" rIns="38100" bIns="3810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Hộp (D.3)</a:t>
            </a:r>
            <a:endParaRPr lang="en-US" sz="1100" dirty="0"/>
          </a:p>
        </p:txBody>
      </p:sp>
      <p:sp>
        <p:nvSpPr>
          <p:cNvPr id="8" name="Text 6"/>
          <p:cNvSpPr/>
          <p:nvPr/>
        </p:nvSpPr>
        <p:spPr>
          <a:xfrm>
            <a:off x="4617720" y="731520"/>
            <a:ext cx="822960" cy="457200"/>
          </a:xfrm>
          <a:prstGeom prst="rect">
            <a:avLst/>
          </a:prstGeom>
          <a:noFill/>
          <a:ln/>
        </p:spPr>
        <p:txBody>
          <a:bodyPr wrap="square" lIns="38100" tIns="38100" rIns="38100" bIns="3810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Exec.</a:t>
            </a:r>
            <a:endParaRPr lang="en-US" sz="1100" dirty="0"/>
          </a:p>
        </p:txBody>
      </p:sp>
      <p:sp>
        <p:nvSpPr>
          <p:cNvPr id="9" name="Text 7"/>
          <p:cNvSpPr/>
          <p:nvPr/>
        </p:nvSpPr>
        <p:spPr>
          <a:xfrm>
            <a:off x="5440680" y="731520"/>
            <a:ext cx="1005840" cy="457200"/>
          </a:xfrm>
          <a:prstGeom prst="rect">
            <a:avLst/>
          </a:prstGeom>
          <a:noFill/>
          <a:ln/>
        </p:spPr>
        <p:txBody>
          <a:bodyPr wrap="square" lIns="38100" tIns="38100" rIns="38100" bIns="3810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±14% trục</a:t>
            </a:r>
            <a:endParaRPr lang="en-US" sz="1100" dirty="0"/>
          </a:p>
        </p:txBody>
      </p:sp>
      <p:sp>
        <p:nvSpPr>
          <p:cNvPr id="10" name="Text 8"/>
          <p:cNvSpPr/>
          <p:nvPr/>
        </p:nvSpPr>
        <p:spPr>
          <a:xfrm>
            <a:off x="6446520" y="731520"/>
            <a:ext cx="1188720" cy="457200"/>
          </a:xfrm>
          <a:prstGeom prst="rect">
            <a:avLst/>
          </a:prstGeom>
          <a:noFill/>
          <a:ln/>
        </p:spPr>
        <p:txBody>
          <a:bodyPr wrap="square" lIns="38100" tIns="38100" rIns="38100" bIns="3810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AitW cận trên</a:t>
            </a:r>
            <a:endParaRPr lang="en-US" sz="1100" dirty="0"/>
          </a:p>
        </p:txBody>
      </p:sp>
      <p:sp>
        <p:nvSpPr>
          <p:cNvPr id="11" name="Text 9"/>
          <p:cNvSpPr/>
          <p:nvPr/>
        </p:nvSpPr>
        <p:spPr>
          <a:xfrm>
            <a:off x="7635240" y="731520"/>
            <a:ext cx="1051560" cy="457200"/>
          </a:xfrm>
          <a:prstGeom prst="rect">
            <a:avLst/>
          </a:prstGeom>
          <a:noFill/>
          <a:ln/>
        </p:spPr>
        <p:txBody>
          <a:bodyPr wrap="square" lIns="38100" tIns="38100" rIns="38100" bIns="3810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Đúng thao tác</a:t>
            </a:r>
            <a:endParaRPr lang="en-US" sz="1100" dirty="0"/>
          </a:p>
        </p:txBody>
      </p:sp>
      <p:sp>
        <p:nvSpPr>
          <p:cNvPr id="12" name="Text 10"/>
          <p:cNvSpPr/>
          <p:nvPr/>
        </p:nvSpPr>
        <p:spPr>
          <a:xfrm>
            <a:off x="457200" y="1188720"/>
            <a:ext cx="2331720" cy="365760"/>
          </a:xfrm>
          <a:prstGeom prst="rect">
            <a:avLst/>
          </a:prstGeom>
          <a:noFill/>
          <a:ln/>
        </p:spPr>
        <p:txBody>
          <a:bodyPr wrap="square" lIns="38100" tIns="38100" rIns="38100" bIns="38100" rtlCol="0" anchor="ctr"/>
          <a:lstStyle/>
          <a:p>
            <a:pPr algn="l" indent="0" marL="0">
              <a:buNone/>
            </a:pPr>
            <a:r>
              <a:rPr lang="en-US" sz="1150" dirty="0">
                <a:solidFill>
                  <a:srgbClr val="1A1A1A"/>
                </a:solidFill>
                <a:latin typeface="Cambria" pitchFamily="34" charset="0"/>
                <a:ea typeface="Cambria" pitchFamily="34" charset="-122"/>
                <a:cs typeface="Cambria" pitchFamily="34" charset="-120"/>
              </a:rPr>
              <a:t>Base</a:t>
            </a:r>
            <a:endParaRPr lang="en-US" sz="1150" dirty="0"/>
          </a:p>
        </p:txBody>
      </p:sp>
      <p:sp>
        <p:nvSpPr>
          <p:cNvPr id="13" name="Text 11"/>
          <p:cNvSpPr/>
          <p:nvPr/>
        </p:nvSpPr>
        <p:spPr>
          <a:xfrm>
            <a:off x="2788920" y="1188720"/>
            <a:ext cx="868680" cy="365760"/>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63,4</a:t>
            </a:r>
            <a:endParaRPr lang="en-US" sz="1150" dirty="0"/>
          </a:p>
        </p:txBody>
      </p:sp>
      <p:sp>
        <p:nvSpPr>
          <p:cNvPr id="14" name="Text 12"/>
          <p:cNvSpPr/>
          <p:nvPr/>
        </p:nvSpPr>
        <p:spPr>
          <a:xfrm>
            <a:off x="3657600" y="1188720"/>
            <a:ext cx="960120" cy="365760"/>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53,6</a:t>
            </a:r>
            <a:endParaRPr lang="en-US" sz="1150" dirty="0"/>
          </a:p>
        </p:txBody>
      </p:sp>
      <p:sp>
        <p:nvSpPr>
          <p:cNvPr id="15" name="Text 13"/>
          <p:cNvSpPr/>
          <p:nvPr/>
        </p:nvSpPr>
        <p:spPr>
          <a:xfrm>
            <a:off x="4617720" y="1188720"/>
            <a:ext cx="822960" cy="365760"/>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47,6</a:t>
            </a:r>
            <a:endParaRPr lang="en-US" sz="1150" dirty="0"/>
          </a:p>
        </p:txBody>
      </p:sp>
      <p:sp>
        <p:nvSpPr>
          <p:cNvPr id="16" name="Text 14"/>
          <p:cNvSpPr/>
          <p:nvPr/>
        </p:nvSpPr>
        <p:spPr>
          <a:xfrm>
            <a:off x="5440680" y="1188720"/>
            <a:ext cx="1005840" cy="365760"/>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55,9</a:t>
            </a:r>
            <a:endParaRPr lang="en-US" sz="1150" dirty="0"/>
          </a:p>
        </p:txBody>
      </p:sp>
      <p:sp>
        <p:nvSpPr>
          <p:cNvPr id="17" name="Text 15"/>
          <p:cNvSpPr/>
          <p:nvPr/>
        </p:nvSpPr>
        <p:spPr>
          <a:xfrm>
            <a:off x="6446520" y="1188720"/>
            <a:ext cx="1188720" cy="365760"/>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73,4</a:t>
            </a:r>
            <a:endParaRPr lang="en-US" sz="1150" dirty="0"/>
          </a:p>
        </p:txBody>
      </p:sp>
      <p:sp>
        <p:nvSpPr>
          <p:cNvPr id="18" name="Text 16"/>
          <p:cNvSpPr/>
          <p:nvPr/>
        </p:nvSpPr>
        <p:spPr>
          <a:xfrm>
            <a:off x="7635240" y="1188720"/>
            <a:ext cx="1051560" cy="365760"/>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96,5</a:t>
            </a:r>
            <a:endParaRPr lang="en-US" sz="1150" dirty="0"/>
          </a:p>
        </p:txBody>
      </p:sp>
      <p:sp>
        <p:nvSpPr>
          <p:cNvPr id="19" name="Shape 17"/>
          <p:cNvSpPr/>
          <p:nvPr/>
        </p:nvSpPr>
        <p:spPr>
          <a:xfrm>
            <a:off x="457200" y="1554480"/>
            <a:ext cx="8229600" cy="0"/>
          </a:xfrm>
          <a:prstGeom prst="line">
            <a:avLst/>
          </a:prstGeom>
          <a:noFill/>
          <a:ln w="12700">
            <a:solidFill>
              <a:srgbClr val="9A94AE"/>
            </a:solidFill>
            <a:prstDash val="solid"/>
          </a:ln>
        </p:spPr>
      </p:sp>
      <p:sp>
        <p:nvSpPr>
          <p:cNvPr id="20" name="Text 18"/>
          <p:cNvSpPr/>
          <p:nvPr/>
        </p:nvSpPr>
        <p:spPr>
          <a:xfrm>
            <a:off x="457200" y="1554480"/>
            <a:ext cx="2331720" cy="365760"/>
          </a:xfrm>
          <a:prstGeom prst="rect">
            <a:avLst/>
          </a:prstGeom>
          <a:noFill/>
          <a:ln/>
        </p:spPr>
        <p:txBody>
          <a:bodyPr wrap="square" lIns="38100" tIns="38100" rIns="38100" bIns="38100" rtlCol="0" anchor="ctr"/>
          <a:lstStyle/>
          <a:p>
            <a:pPr algn="l" indent="0" marL="0">
              <a:buNone/>
            </a:pPr>
            <a:r>
              <a:rPr lang="en-US" sz="1150" dirty="0">
                <a:solidFill>
                  <a:srgbClr val="1A1A1A"/>
                </a:solidFill>
                <a:latin typeface="Cambria" pitchFamily="34" charset="0"/>
                <a:ea typeface="Cambria" pitchFamily="34" charset="-122"/>
                <a:cs typeface="Cambria" pitchFamily="34" charset="-120"/>
              </a:rPr>
              <a:t>S1 (hạt 101)</a:t>
            </a:r>
            <a:endParaRPr lang="en-US" sz="1150" dirty="0"/>
          </a:p>
        </p:txBody>
      </p:sp>
      <p:sp>
        <p:nvSpPr>
          <p:cNvPr id="21" name="Text 19"/>
          <p:cNvSpPr/>
          <p:nvPr/>
        </p:nvSpPr>
        <p:spPr>
          <a:xfrm>
            <a:off x="2788920" y="1554480"/>
            <a:ext cx="868680" cy="365760"/>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74,4</a:t>
            </a:r>
            <a:endParaRPr lang="en-US" sz="1150" dirty="0"/>
          </a:p>
        </p:txBody>
      </p:sp>
      <p:sp>
        <p:nvSpPr>
          <p:cNvPr id="22" name="Text 20"/>
          <p:cNvSpPr/>
          <p:nvPr/>
        </p:nvSpPr>
        <p:spPr>
          <a:xfrm>
            <a:off x="3657600" y="1554480"/>
            <a:ext cx="960120" cy="365760"/>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65,5</a:t>
            </a:r>
            <a:endParaRPr lang="en-US" sz="1150" dirty="0"/>
          </a:p>
        </p:txBody>
      </p:sp>
      <p:sp>
        <p:nvSpPr>
          <p:cNvPr id="23" name="Text 21"/>
          <p:cNvSpPr/>
          <p:nvPr/>
        </p:nvSpPr>
        <p:spPr>
          <a:xfrm>
            <a:off x="4617720" y="1554480"/>
            <a:ext cx="822960" cy="365760"/>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59,1</a:t>
            </a:r>
            <a:endParaRPr lang="en-US" sz="1150" dirty="0"/>
          </a:p>
        </p:txBody>
      </p:sp>
      <p:sp>
        <p:nvSpPr>
          <p:cNvPr id="24" name="Text 22"/>
          <p:cNvSpPr/>
          <p:nvPr/>
        </p:nvSpPr>
        <p:spPr>
          <a:xfrm>
            <a:off x="5440680" y="1554480"/>
            <a:ext cx="1005840" cy="365760"/>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67,2</a:t>
            </a:r>
            <a:endParaRPr lang="en-US" sz="1150" dirty="0"/>
          </a:p>
        </p:txBody>
      </p:sp>
      <p:sp>
        <p:nvSpPr>
          <p:cNvPr id="25" name="Text 23"/>
          <p:cNvSpPr/>
          <p:nvPr/>
        </p:nvSpPr>
        <p:spPr>
          <a:xfrm>
            <a:off x="6446520" y="1554480"/>
            <a:ext cx="1188720" cy="365760"/>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81,0</a:t>
            </a:r>
            <a:endParaRPr lang="en-US" sz="1150" dirty="0"/>
          </a:p>
        </p:txBody>
      </p:sp>
      <p:sp>
        <p:nvSpPr>
          <p:cNvPr id="26" name="Text 24"/>
          <p:cNvSpPr/>
          <p:nvPr/>
        </p:nvSpPr>
        <p:spPr>
          <a:xfrm>
            <a:off x="7635240" y="1554480"/>
            <a:ext cx="1051560" cy="365760"/>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94,3</a:t>
            </a:r>
            <a:endParaRPr lang="en-US" sz="1150" dirty="0"/>
          </a:p>
        </p:txBody>
      </p:sp>
      <p:sp>
        <p:nvSpPr>
          <p:cNvPr id="27" name="Shape 25"/>
          <p:cNvSpPr/>
          <p:nvPr/>
        </p:nvSpPr>
        <p:spPr>
          <a:xfrm>
            <a:off x="457200" y="1920240"/>
            <a:ext cx="8229600" cy="0"/>
          </a:xfrm>
          <a:prstGeom prst="line">
            <a:avLst/>
          </a:prstGeom>
          <a:noFill/>
          <a:ln w="12700">
            <a:solidFill>
              <a:srgbClr val="9A94AE"/>
            </a:solidFill>
            <a:prstDash val="solid"/>
          </a:ln>
        </p:spPr>
      </p:sp>
      <p:sp>
        <p:nvSpPr>
          <p:cNvPr id="28" name="Text 26"/>
          <p:cNvSpPr/>
          <p:nvPr/>
        </p:nvSpPr>
        <p:spPr>
          <a:xfrm>
            <a:off x="457200" y="1920240"/>
            <a:ext cx="2331720" cy="365760"/>
          </a:xfrm>
          <a:prstGeom prst="rect">
            <a:avLst/>
          </a:prstGeom>
          <a:noFill/>
          <a:ln/>
        </p:spPr>
        <p:txBody>
          <a:bodyPr wrap="square" lIns="38100" tIns="38100" rIns="38100" bIns="38100" rtlCol="0" anchor="ctr"/>
          <a:lstStyle/>
          <a:p>
            <a:pPr algn="l" indent="0" marL="0">
              <a:buNone/>
            </a:pPr>
            <a:r>
              <a:rPr lang="en-US" sz="1150" dirty="0">
                <a:solidFill>
                  <a:srgbClr val="1A1A1A"/>
                </a:solidFill>
                <a:latin typeface="Cambria" pitchFamily="34" charset="0"/>
                <a:ea typeface="Cambria" pitchFamily="34" charset="-122"/>
                <a:cs typeface="Cambria" pitchFamily="34" charset="-120"/>
              </a:rPr>
              <a:t>S1 (hạt 202)</a:t>
            </a:r>
            <a:endParaRPr lang="en-US" sz="1150" dirty="0"/>
          </a:p>
        </p:txBody>
      </p:sp>
      <p:sp>
        <p:nvSpPr>
          <p:cNvPr id="29" name="Text 27"/>
          <p:cNvSpPr/>
          <p:nvPr/>
        </p:nvSpPr>
        <p:spPr>
          <a:xfrm>
            <a:off x="2788920" y="1920240"/>
            <a:ext cx="868680" cy="365760"/>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75,3</a:t>
            </a:r>
            <a:endParaRPr lang="en-US" sz="1150" dirty="0"/>
          </a:p>
        </p:txBody>
      </p:sp>
      <p:sp>
        <p:nvSpPr>
          <p:cNvPr id="30" name="Text 28"/>
          <p:cNvSpPr/>
          <p:nvPr/>
        </p:nvSpPr>
        <p:spPr>
          <a:xfrm>
            <a:off x="3657600" y="1920240"/>
            <a:ext cx="960120" cy="365760"/>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66,1</a:t>
            </a:r>
            <a:endParaRPr lang="en-US" sz="1150" dirty="0"/>
          </a:p>
        </p:txBody>
      </p:sp>
      <p:sp>
        <p:nvSpPr>
          <p:cNvPr id="31" name="Text 29"/>
          <p:cNvSpPr/>
          <p:nvPr/>
        </p:nvSpPr>
        <p:spPr>
          <a:xfrm>
            <a:off x="4617720" y="1920240"/>
            <a:ext cx="822960" cy="365760"/>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59,6</a:t>
            </a:r>
            <a:endParaRPr lang="en-US" sz="1150" dirty="0"/>
          </a:p>
        </p:txBody>
      </p:sp>
      <p:sp>
        <p:nvSpPr>
          <p:cNvPr id="32" name="Text 30"/>
          <p:cNvSpPr/>
          <p:nvPr/>
        </p:nvSpPr>
        <p:spPr>
          <a:xfrm>
            <a:off x="5440680" y="1920240"/>
            <a:ext cx="1005840" cy="365760"/>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67,9</a:t>
            </a:r>
            <a:endParaRPr lang="en-US" sz="1150" dirty="0"/>
          </a:p>
        </p:txBody>
      </p:sp>
      <p:sp>
        <p:nvSpPr>
          <p:cNvPr id="33" name="Text 31"/>
          <p:cNvSpPr/>
          <p:nvPr/>
        </p:nvSpPr>
        <p:spPr>
          <a:xfrm>
            <a:off x="6446520" y="1920240"/>
            <a:ext cx="1188720" cy="365760"/>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81,9</a:t>
            </a:r>
            <a:endParaRPr lang="en-US" sz="1150" dirty="0"/>
          </a:p>
        </p:txBody>
      </p:sp>
      <p:sp>
        <p:nvSpPr>
          <p:cNvPr id="34" name="Text 32"/>
          <p:cNvSpPr/>
          <p:nvPr/>
        </p:nvSpPr>
        <p:spPr>
          <a:xfrm>
            <a:off x="7635240" y="1920240"/>
            <a:ext cx="1051560" cy="365760"/>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94,6</a:t>
            </a:r>
            <a:endParaRPr lang="en-US" sz="1150" dirty="0"/>
          </a:p>
        </p:txBody>
      </p:sp>
      <p:sp>
        <p:nvSpPr>
          <p:cNvPr id="35" name="Shape 33"/>
          <p:cNvSpPr/>
          <p:nvPr/>
        </p:nvSpPr>
        <p:spPr>
          <a:xfrm>
            <a:off x="457200" y="2286000"/>
            <a:ext cx="8229600" cy="0"/>
          </a:xfrm>
          <a:prstGeom prst="line">
            <a:avLst/>
          </a:prstGeom>
          <a:noFill/>
          <a:ln w="19050">
            <a:solidFill>
              <a:srgbClr val="322164"/>
            </a:solidFill>
            <a:prstDash val="solid"/>
          </a:ln>
        </p:spPr>
      </p:sp>
      <p:sp>
        <p:nvSpPr>
          <p:cNvPr id="36" name="Text 34"/>
          <p:cNvSpPr/>
          <p:nvPr/>
        </p:nvSpPr>
        <p:spPr>
          <a:xfrm>
            <a:off x="457200" y="2286000"/>
            <a:ext cx="2331720" cy="365760"/>
          </a:xfrm>
          <a:prstGeom prst="rect">
            <a:avLst/>
          </a:prstGeom>
          <a:noFill/>
          <a:ln/>
        </p:spPr>
        <p:txBody>
          <a:bodyPr wrap="square" lIns="38100" tIns="38100" rIns="38100" bIns="38100" rtlCol="0" anchor="ctr"/>
          <a:lstStyle/>
          <a:p>
            <a:pPr algn="l" indent="0" marL="0">
              <a:buNone/>
            </a:pPr>
            <a:r>
              <a:rPr lang="en-US" sz="1150" dirty="0">
                <a:solidFill>
                  <a:srgbClr val="1A1A1A"/>
                </a:solidFill>
                <a:latin typeface="Cambria" pitchFamily="34" charset="0"/>
                <a:ea typeface="Cambria" pitchFamily="34" charset="-122"/>
                <a:cs typeface="Cambria" pitchFamily="34" charset="-120"/>
              </a:rPr>
              <a:t>S2 (đích khai báo)</a:t>
            </a:r>
            <a:endParaRPr lang="en-US" sz="1150" dirty="0"/>
          </a:p>
        </p:txBody>
      </p:sp>
      <p:sp>
        <p:nvSpPr>
          <p:cNvPr id="37" name="Text 35"/>
          <p:cNvSpPr/>
          <p:nvPr/>
        </p:nvSpPr>
        <p:spPr>
          <a:xfrm>
            <a:off x="2788920" y="2286000"/>
            <a:ext cx="868680" cy="365760"/>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73,4</a:t>
            </a:r>
            <a:endParaRPr lang="en-US" sz="1150" dirty="0"/>
          </a:p>
        </p:txBody>
      </p:sp>
      <p:sp>
        <p:nvSpPr>
          <p:cNvPr id="38" name="Text 36"/>
          <p:cNvSpPr/>
          <p:nvPr/>
        </p:nvSpPr>
        <p:spPr>
          <a:xfrm>
            <a:off x="3657600" y="2286000"/>
            <a:ext cx="960120" cy="365760"/>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63,6</a:t>
            </a:r>
            <a:endParaRPr lang="en-US" sz="1150" dirty="0"/>
          </a:p>
        </p:txBody>
      </p:sp>
      <p:sp>
        <p:nvSpPr>
          <p:cNvPr id="39" name="Text 37"/>
          <p:cNvSpPr/>
          <p:nvPr/>
        </p:nvSpPr>
        <p:spPr>
          <a:xfrm>
            <a:off x="4617720" y="2286000"/>
            <a:ext cx="822960" cy="365760"/>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57,2</a:t>
            </a:r>
            <a:endParaRPr lang="en-US" sz="1150" dirty="0"/>
          </a:p>
        </p:txBody>
      </p:sp>
      <p:sp>
        <p:nvSpPr>
          <p:cNvPr id="40" name="Text 38"/>
          <p:cNvSpPr/>
          <p:nvPr/>
        </p:nvSpPr>
        <p:spPr>
          <a:xfrm>
            <a:off x="5440680" y="2286000"/>
            <a:ext cx="1005840" cy="365760"/>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65,7</a:t>
            </a:r>
            <a:endParaRPr lang="en-US" sz="1150" dirty="0"/>
          </a:p>
        </p:txBody>
      </p:sp>
      <p:sp>
        <p:nvSpPr>
          <p:cNvPr id="41" name="Text 39"/>
          <p:cNvSpPr/>
          <p:nvPr/>
        </p:nvSpPr>
        <p:spPr>
          <a:xfrm>
            <a:off x="6446520" y="2286000"/>
            <a:ext cx="1188720" cy="365760"/>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80,8</a:t>
            </a:r>
            <a:endParaRPr lang="en-US" sz="1150" dirty="0"/>
          </a:p>
        </p:txBody>
      </p:sp>
      <p:sp>
        <p:nvSpPr>
          <p:cNvPr id="42" name="Text 40"/>
          <p:cNvSpPr/>
          <p:nvPr/>
        </p:nvSpPr>
        <p:spPr>
          <a:xfrm>
            <a:off x="7635240" y="2286000"/>
            <a:ext cx="1051560" cy="365760"/>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94,8</a:t>
            </a:r>
            <a:endParaRPr lang="en-US" sz="1150" dirty="0"/>
          </a:p>
        </p:txBody>
      </p:sp>
      <p:sp>
        <p:nvSpPr>
          <p:cNvPr id="43" name="Shape 41"/>
          <p:cNvSpPr/>
          <p:nvPr/>
        </p:nvSpPr>
        <p:spPr>
          <a:xfrm>
            <a:off x="457200" y="2651760"/>
            <a:ext cx="8229600" cy="0"/>
          </a:xfrm>
          <a:prstGeom prst="line">
            <a:avLst/>
          </a:prstGeom>
          <a:noFill/>
          <a:ln w="12700">
            <a:solidFill>
              <a:srgbClr val="9A94AE"/>
            </a:solidFill>
            <a:prstDash val="solid"/>
          </a:ln>
        </p:spPr>
      </p:sp>
      <p:sp>
        <p:nvSpPr>
          <p:cNvPr id="44" name="Text 42"/>
          <p:cNvSpPr/>
          <p:nvPr/>
        </p:nvSpPr>
        <p:spPr>
          <a:xfrm>
            <a:off x="457200" y="2651760"/>
            <a:ext cx="2331720" cy="365760"/>
          </a:xfrm>
          <a:prstGeom prst="rect">
            <a:avLst/>
          </a:prstGeom>
          <a:noFill/>
          <a:ln/>
        </p:spPr>
        <p:txBody>
          <a:bodyPr wrap="square" lIns="38100" tIns="38100" rIns="38100" bIns="38100" rtlCol="0" anchor="ctr"/>
          <a:lstStyle/>
          <a:p>
            <a:pPr algn="l" indent="0" marL="0">
              <a:buNone/>
            </a:pPr>
            <a:r>
              <a:rPr lang="en-US" sz="1150" dirty="0">
                <a:solidFill>
                  <a:srgbClr val="1A1A1A"/>
                </a:solidFill>
                <a:latin typeface="Cambria" pitchFamily="34" charset="0"/>
                <a:ea typeface="Cambria" pitchFamily="34" charset="-122"/>
                <a:cs typeface="Cambria" pitchFamily="34" charset="-120"/>
              </a:rPr>
              <a:t>CE2-S2</a:t>
            </a:r>
            <a:endParaRPr lang="en-US" sz="1150" dirty="0"/>
          </a:p>
        </p:txBody>
      </p:sp>
      <p:sp>
        <p:nvSpPr>
          <p:cNvPr id="45" name="Text 43"/>
          <p:cNvSpPr/>
          <p:nvPr/>
        </p:nvSpPr>
        <p:spPr>
          <a:xfrm>
            <a:off x="2788920" y="2651760"/>
            <a:ext cx="868680" cy="365760"/>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76,1</a:t>
            </a:r>
            <a:endParaRPr lang="en-US" sz="1150" dirty="0"/>
          </a:p>
        </p:txBody>
      </p:sp>
      <p:sp>
        <p:nvSpPr>
          <p:cNvPr id="46" name="Text 44"/>
          <p:cNvSpPr/>
          <p:nvPr/>
        </p:nvSpPr>
        <p:spPr>
          <a:xfrm>
            <a:off x="3657600" y="2651760"/>
            <a:ext cx="960120" cy="365760"/>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66,0</a:t>
            </a:r>
            <a:endParaRPr lang="en-US" sz="1150" dirty="0"/>
          </a:p>
        </p:txBody>
      </p:sp>
      <p:sp>
        <p:nvSpPr>
          <p:cNvPr id="47" name="Text 45"/>
          <p:cNvSpPr/>
          <p:nvPr/>
        </p:nvSpPr>
        <p:spPr>
          <a:xfrm>
            <a:off x="4617720" y="2651760"/>
            <a:ext cx="822960" cy="365760"/>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59,4</a:t>
            </a:r>
            <a:endParaRPr lang="en-US" sz="1150" dirty="0"/>
          </a:p>
        </p:txBody>
      </p:sp>
      <p:sp>
        <p:nvSpPr>
          <p:cNvPr id="48" name="Text 46"/>
          <p:cNvSpPr/>
          <p:nvPr/>
        </p:nvSpPr>
        <p:spPr>
          <a:xfrm>
            <a:off x="5440680" y="2651760"/>
            <a:ext cx="1005840" cy="365760"/>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68,5</a:t>
            </a:r>
            <a:endParaRPr lang="en-US" sz="1150" dirty="0"/>
          </a:p>
        </p:txBody>
      </p:sp>
      <p:sp>
        <p:nvSpPr>
          <p:cNvPr id="49" name="Text 47"/>
          <p:cNvSpPr/>
          <p:nvPr/>
        </p:nvSpPr>
        <p:spPr>
          <a:xfrm>
            <a:off x="6446520" y="2651760"/>
            <a:ext cx="1188720" cy="365760"/>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83,9</a:t>
            </a:r>
            <a:endParaRPr lang="en-US" sz="1150" dirty="0"/>
          </a:p>
        </p:txBody>
      </p:sp>
      <p:sp>
        <p:nvSpPr>
          <p:cNvPr id="50" name="Text 48"/>
          <p:cNvSpPr/>
          <p:nvPr/>
        </p:nvSpPr>
        <p:spPr>
          <a:xfrm>
            <a:off x="7635240" y="2651760"/>
            <a:ext cx="1051560" cy="365760"/>
          </a:xfrm>
          <a:prstGeom prst="rect">
            <a:avLst/>
          </a:prstGeom>
          <a:noFill/>
          <a:ln/>
        </p:spPr>
        <p:txBody>
          <a:bodyPr wrap="square" lIns="38100" tIns="38100" rIns="38100" bIns="38100" rtlCol="0" anchor="ctr"/>
          <a:lstStyle/>
          <a:p>
            <a:pPr algn="ctr" indent="0" marL="0">
              <a:buNone/>
            </a:pPr>
            <a:r>
              <a:rPr lang="en-US" sz="1150" b="1" dirty="0">
                <a:solidFill>
                  <a:srgbClr val="322164"/>
                </a:solidFill>
                <a:latin typeface="Cambria" pitchFamily="34" charset="0"/>
                <a:ea typeface="Cambria" pitchFamily="34" charset="-122"/>
                <a:cs typeface="Cambria" pitchFamily="34" charset="-120"/>
              </a:rPr>
              <a:t>98,9</a:t>
            </a:r>
            <a:endParaRPr lang="en-US" sz="1150" dirty="0"/>
          </a:p>
        </p:txBody>
      </p:sp>
      <p:sp>
        <p:nvSpPr>
          <p:cNvPr id="51" name="Shape 49"/>
          <p:cNvSpPr/>
          <p:nvPr/>
        </p:nvSpPr>
        <p:spPr>
          <a:xfrm>
            <a:off x="457200" y="3017520"/>
            <a:ext cx="8229600" cy="0"/>
          </a:xfrm>
          <a:prstGeom prst="line">
            <a:avLst/>
          </a:prstGeom>
          <a:noFill/>
          <a:ln w="12700">
            <a:solidFill>
              <a:srgbClr val="9A94AE"/>
            </a:solidFill>
            <a:prstDash val="solid"/>
          </a:ln>
        </p:spPr>
      </p:sp>
      <p:sp>
        <p:nvSpPr>
          <p:cNvPr id="52" name="Text 50"/>
          <p:cNvSpPr/>
          <p:nvPr/>
        </p:nvSpPr>
        <p:spPr>
          <a:xfrm>
            <a:off x="457200" y="3017520"/>
            <a:ext cx="2331720" cy="365760"/>
          </a:xfrm>
          <a:prstGeom prst="rect">
            <a:avLst/>
          </a:prstGeom>
          <a:noFill/>
          <a:ln/>
        </p:spPr>
        <p:txBody>
          <a:bodyPr wrap="square" lIns="38100" tIns="38100" rIns="38100" bIns="38100" rtlCol="0" anchor="ctr"/>
          <a:lstStyle/>
          <a:p>
            <a:pPr algn="l" indent="0" marL="0">
              <a:buNone/>
            </a:pPr>
            <a:r>
              <a:rPr lang="en-US" sz="1150" dirty="0">
                <a:solidFill>
                  <a:srgbClr val="1A1A1A"/>
                </a:solidFill>
                <a:latin typeface="Cambria" pitchFamily="34" charset="0"/>
                <a:ea typeface="Cambria" pitchFamily="34" charset="-122"/>
                <a:cs typeface="Cambria" pitchFamily="34" charset="-120"/>
              </a:rPr>
              <a:t>MIN-DESC</a:t>
            </a:r>
            <a:endParaRPr lang="en-US" sz="1150" dirty="0"/>
          </a:p>
        </p:txBody>
      </p:sp>
      <p:sp>
        <p:nvSpPr>
          <p:cNvPr id="53" name="Text 51"/>
          <p:cNvSpPr/>
          <p:nvPr/>
        </p:nvSpPr>
        <p:spPr>
          <a:xfrm>
            <a:off x="2788920" y="3017520"/>
            <a:ext cx="868680" cy="365760"/>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76,4</a:t>
            </a:r>
            <a:endParaRPr lang="en-US" sz="1150" dirty="0"/>
          </a:p>
        </p:txBody>
      </p:sp>
      <p:sp>
        <p:nvSpPr>
          <p:cNvPr id="54" name="Text 52"/>
          <p:cNvSpPr/>
          <p:nvPr/>
        </p:nvSpPr>
        <p:spPr>
          <a:xfrm>
            <a:off x="3657600" y="3017520"/>
            <a:ext cx="960120" cy="365760"/>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66,5</a:t>
            </a:r>
            <a:endParaRPr lang="en-US" sz="1150" dirty="0"/>
          </a:p>
        </p:txBody>
      </p:sp>
      <p:sp>
        <p:nvSpPr>
          <p:cNvPr id="55" name="Text 53"/>
          <p:cNvSpPr/>
          <p:nvPr/>
        </p:nvSpPr>
        <p:spPr>
          <a:xfrm>
            <a:off x="4617720" y="3017520"/>
            <a:ext cx="822960" cy="365760"/>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60,0</a:t>
            </a:r>
            <a:endParaRPr lang="en-US" sz="1150" dirty="0"/>
          </a:p>
        </p:txBody>
      </p:sp>
      <p:sp>
        <p:nvSpPr>
          <p:cNvPr id="56" name="Text 54"/>
          <p:cNvSpPr/>
          <p:nvPr/>
        </p:nvSpPr>
        <p:spPr>
          <a:xfrm>
            <a:off x="5440680" y="3017520"/>
            <a:ext cx="1005840" cy="365760"/>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68,7</a:t>
            </a:r>
            <a:endParaRPr lang="en-US" sz="1150" dirty="0"/>
          </a:p>
        </p:txBody>
      </p:sp>
      <p:sp>
        <p:nvSpPr>
          <p:cNvPr id="57" name="Text 55"/>
          <p:cNvSpPr/>
          <p:nvPr/>
        </p:nvSpPr>
        <p:spPr>
          <a:xfrm>
            <a:off x="6446520" y="3017520"/>
            <a:ext cx="1188720" cy="365760"/>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84,4</a:t>
            </a:r>
            <a:endParaRPr lang="en-US" sz="1150" dirty="0"/>
          </a:p>
        </p:txBody>
      </p:sp>
      <p:sp>
        <p:nvSpPr>
          <p:cNvPr id="58" name="Text 56"/>
          <p:cNvSpPr/>
          <p:nvPr/>
        </p:nvSpPr>
        <p:spPr>
          <a:xfrm>
            <a:off x="7635240" y="3017520"/>
            <a:ext cx="1051560" cy="365760"/>
          </a:xfrm>
          <a:prstGeom prst="rect">
            <a:avLst/>
          </a:prstGeom>
          <a:noFill/>
          <a:ln/>
        </p:spPr>
        <p:txBody>
          <a:bodyPr wrap="square" lIns="38100" tIns="38100" rIns="38100" bIns="38100" rtlCol="0" anchor="ctr"/>
          <a:lstStyle/>
          <a:p>
            <a:pPr algn="ctr" indent="0" marL="0">
              <a:buNone/>
            </a:pPr>
            <a:r>
              <a:rPr lang="en-US" sz="1150" b="1" dirty="0">
                <a:solidFill>
                  <a:srgbClr val="322164"/>
                </a:solidFill>
                <a:latin typeface="Cambria" pitchFamily="34" charset="0"/>
                <a:ea typeface="Cambria" pitchFamily="34" charset="-122"/>
                <a:cs typeface="Cambria" pitchFamily="34" charset="-120"/>
              </a:rPr>
              <a:t>98,9</a:t>
            </a:r>
            <a:endParaRPr lang="en-US" sz="1150" dirty="0"/>
          </a:p>
        </p:txBody>
      </p:sp>
      <p:sp>
        <p:nvSpPr>
          <p:cNvPr id="59" name="Shape 57"/>
          <p:cNvSpPr/>
          <p:nvPr/>
        </p:nvSpPr>
        <p:spPr>
          <a:xfrm>
            <a:off x="457200" y="3383280"/>
            <a:ext cx="8229600" cy="0"/>
          </a:xfrm>
          <a:prstGeom prst="line">
            <a:avLst/>
          </a:prstGeom>
          <a:noFill/>
          <a:ln w="12700">
            <a:solidFill>
              <a:srgbClr val="9A94AE"/>
            </a:solidFill>
            <a:prstDash val="solid"/>
          </a:ln>
        </p:spPr>
      </p:sp>
      <p:sp>
        <p:nvSpPr>
          <p:cNvPr id="60" name="Text 58"/>
          <p:cNvSpPr/>
          <p:nvPr/>
        </p:nvSpPr>
        <p:spPr>
          <a:xfrm>
            <a:off x="457200" y="3383280"/>
            <a:ext cx="2331720" cy="365760"/>
          </a:xfrm>
          <a:prstGeom prst="rect">
            <a:avLst/>
          </a:prstGeom>
          <a:noFill/>
          <a:ln/>
        </p:spPr>
        <p:txBody>
          <a:bodyPr wrap="square" lIns="38100" tIns="38100" rIns="38100" bIns="38100" rtlCol="0" anchor="ctr"/>
          <a:lstStyle/>
          <a:p>
            <a:pPr algn="l" indent="0" marL="0">
              <a:buNone/>
            </a:pPr>
            <a:r>
              <a:rPr lang="en-US" sz="1150" dirty="0">
                <a:solidFill>
                  <a:srgbClr val="1A1A1A"/>
                </a:solidFill>
                <a:latin typeface="Cambria" pitchFamily="34" charset="0"/>
                <a:ea typeface="Cambria" pitchFamily="34" charset="-122"/>
                <a:cs typeface="Cambria" pitchFamily="34" charset="-120"/>
              </a:rPr>
              <a:t>Chặng ba</a:t>
            </a:r>
            <a:endParaRPr lang="en-US" sz="1150" dirty="0"/>
          </a:p>
        </p:txBody>
      </p:sp>
      <p:sp>
        <p:nvSpPr>
          <p:cNvPr id="61" name="Text 59"/>
          <p:cNvSpPr/>
          <p:nvPr/>
        </p:nvSpPr>
        <p:spPr>
          <a:xfrm>
            <a:off x="2788920" y="3383280"/>
            <a:ext cx="868680" cy="365760"/>
          </a:xfrm>
          <a:prstGeom prst="rect">
            <a:avLst/>
          </a:prstGeom>
          <a:noFill/>
          <a:ln/>
        </p:spPr>
        <p:txBody>
          <a:bodyPr wrap="square" lIns="38100" tIns="38100" rIns="38100" bIns="38100" rtlCol="0" anchor="ctr"/>
          <a:lstStyle/>
          <a:p>
            <a:pPr algn="ctr" indent="0" marL="0">
              <a:buNone/>
            </a:pPr>
            <a:r>
              <a:rPr lang="en-US" sz="1150" b="1" dirty="0">
                <a:solidFill>
                  <a:srgbClr val="322164"/>
                </a:solidFill>
                <a:latin typeface="Cambria" pitchFamily="34" charset="0"/>
                <a:ea typeface="Cambria" pitchFamily="34" charset="-122"/>
                <a:cs typeface="Cambria" pitchFamily="34" charset="-120"/>
              </a:rPr>
              <a:t>77,3</a:t>
            </a:r>
            <a:endParaRPr lang="en-US" sz="1150" dirty="0"/>
          </a:p>
        </p:txBody>
      </p:sp>
      <p:sp>
        <p:nvSpPr>
          <p:cNvPr id="62" name="Text 60"/>
          <p:cNvSpPr/>
          <p:nvPr/>
        </p:nvSpPr>
        <p:spPr>
          <a:xfrm>
            <a:off x="3657600" y="3383280"/>
            <a:ext cx="960120" cy="365760"/>
          </a:xfrm>
          <a:prstGeom prst="rect">
            <a:avLst/>
          </a:prstGeom>
          <a:noFill/>
          <a:ln/>
        </p:spPr>
        <p:txBody>
          <a:bodyPr wrap="square" lIns="38100" tIns="38100" rIns="38100" bIns="38100" rtlCol="0" anchor="ctr"/>
          <a:lstStyle/>
          <a:p>
            <a:pPr algn="ctr" indent="0" marL="0">
              <a:buNone/>
            </a:pPr>
            <a:r>
              <a:rPr lang="en-US" sz="1150" b="1" dirty="0">
                <a:solidFill>
                  <a:srgbClr val="322164"/>
                </a:solidFill>
                <a:latin typeface="Cambria" pitchFamily="34" charset="0"/>
                <a:ea typeface="Cambria" pitchFamily="34" charset="-122"/>
                <a:cs typeface="Cambria" pitchFamily="34" charset="-120"/>
              </a:rPr>
              <a:t>67,0</a:t>
            </a:r>
            <a:endParaRPr lang="en-US" sz="1150" dirty="0"/>
          </a:p>
        </p:txBody>
      </p:sp>
      <p:sp>
        <p:nvSpPr>
          <p:cNvPr id="63" name="Text 61"/>
          <p:cNvSpPr/>
          <p:nvPr/>
        </p:nvSpPr>
        <p:spPr>
          <a:xfrm>
            <a:off x="4617720" y="3383280"/>
            <a:ext cx="822960" cy="365760"/>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60,1</a:t>
            </a:r>
            <a:endParaRPr lang="en-US" sz="1150" dirty="0"/>
          </a:p>
        </p:txBody>
      </p:sp>
      <p:sp>
        <p:nvSpPr>
          <p:cNvPr id="64" name="Text 62"/>
          <p:cNvSpPr/>
          <p:nvPr/>
        </p:nvSpPr>
        <p:spPr>
          <a:xfrm>
            <a:off x="5440680" y="3383280"/>
            <a:ext cx="1005840" cy="365760"/>
          </a:xfrm>
          <a:prstGeom prst="rect">
            <a:avLst/>
          </a:prstGeom>
          <a:noFill/>
          <a:ln/>
        </p:spPr>
        <p:txBody>
          <a:bodyPr wrap="square" lIns="38100" tIns="38100" rIns="38100" bIns="38100" rtlCol="0" anchor="ctr"/>
          <a:lstStyle/>
          <a:p>
            <a:pPr algn="ctr" indent="0" marL="0">
              <a:buNone/>
            </a:pPr>
            <a:r>
              <a:rPr lang="en-US" sz="1150" b="1" dirty="0">
                <a:solidFill>
                  <a:srgbClr val="322164"/>
                </a:solidFill>
                <a:latin typeface="Cambria" pitchFamily="34" charset="0"/>
                <a:ea typeface="Cambria" pitchFamily="34" charset="-122"/>
                <a:cs typeface="Cambria" pitchFamily="34" charset="-120"/>
              </a:rPr>
              <a:t>69,4</a:t>
            </a:r>
            <a:endParaRPr lang="en-US" sz="1150" dirty="0"/>
          </a:p>
        </p:txBody>
      </p:sp>
      <p:sp>
        <p:nvSpPr>
          <p:cNvPr id="65" name="Text 63"/>
          <p:cNvSpPr/>
          <p:nvPr/>
        </p:nvSpPr>
        <p:spPr>
          <a:xfrm>
            <a:off x="6446520" y="3383280"/>
            <a:ext cx="1188720" cy="365760"/>
          </a:xfrm>
          <a:prstGeom prst="rect">
            <a:avLst/>
          </a:prstGeom>
          <a:noFill/>
          <a:ln/>
        </p:spPr>
        <p:txBody>
          <a:bodyPr wrap="square" lIns="38100" tIns="38100" rIns="38100" bIns="38100" rtlCol="0" anchor="ctr"/>
          <a:lstStyle/>
          <a:p>
            <a:pPr algn="ctr" indent="0" marL="0">
              <a:buNone/>
            </a:pPr>
            <a:r>
              <a:rPr lang="en-US" sz="1150" b="1" dirty="0">
                <a:solidFill>
                  <a:srgbClr val="322164"/>
                </a:solidFill>
                <a:latin typeface="Cambria" pitchFamily="34" charset="0"/>
                <a:ea typeface="Cambria" pitchFamily="34" charset="-122"/>
                <a:cs typeface="Cambria" pitchFamily="34" charset="-120"/>
              </a:rPr>
              <a:t>85,0</a:t>
            </a:r>
            <a:endParaRPr lang="en-US" sz="1150" dirty="0"/>
          </a:p>
        </p:txBody>
      </p:sp>
      <p:sp>
        <p:nvSpPr>
          <p:cNvPr id="66" name="Text 64"/>
          <p:cNvSpPr/>
          <p:nvPr/>
        </p:nvSpPr>
        <p:spPr>
          <a:xfrm>
            <a:off x="7635240" y="3383280"/>
            <a:ext cx="1051560" cy="365760"/>
          </a:xfrm>
          <a:prstGeom prst="rect">
            <a:avLst/>
          </a:prstGeom>
          <a:noFill/>
          <a:ln/>
        </p:spPr>
        <p:txBody>
          <a:bodyPr wrap="square" lIns="38100" tIns="38100" rIns="38100" bIns="38100" rtlCol="0" anchor="ctr"/>
          <a:lstStyle/>
          <a:p>
            <a:pPr algn="ctr" indent="0" marL="0">
              <a:buNone/>
            </a:pPr>
            <a:r>
              <a:rPr lang="en-US" sz="1150" b="1" dirty="0">
                <a:solidFill>
                  <a:srgbClr val="322164"/>
                </a:solidFill>
                <a:latin typeface="Cambria" pitchFamily="34" charset="0"/>
                <a:ea typeface="Cambria" pitchFamily="34" charset="-122"/>
                <a:cs typeface="Cambria" pitchFamily="34" charset="-120"/>
              </a:rPr>
              <a:t>98,9</a:t>
            </a:r>
            <a:endParaRPr lang="en-US" sz="1150" dirty="0"/>
          </a:p>
        </p:txBody>
      </p:sp>
      <p:sp>
        <p:nvSpPr>
          <p:cNvPr id="67" name="Shape 65"/>
          <p:cNvSpPr/>
          <p:nvPr/>
        </p:nvSpPr>
        <p:spPr>
          <a:xfrm>
            <a:off x="457200" y="3749040"/>
            <a:ext cx="8229600" cy="0"/>
          </a:xfrm>
          <a:prstGeom prst="line">
            <a:avLst/>
          </a:prstGeom>
          <a:noFill/>
          <a:ln w="12700">
            <a:solidFill>
              <a:srgbClr val="9A94AE"/>
            </a:solidFill>
            <a:prstDash val="solid"/>
          </a:ln>
        </p:spPr>
      </p:sp>
      <p:sp>
        <p:nvSpPr>
          <p:cNvPr id="68" name="Text 66"/>
          <p:cNvSpPr/>
          <p:nvPr/>
        </p:nvSpPr>
        <p:spPr>
          <a:xfrm>
            <a:off x="457200" y="3749040"/>
            <a:ext cx="2331720" cy="365760"/>
          </a:xfrm>
          <a:prstGeom prst="rect">
            <a:avLst/>
          </a:prstGeom>
          <a:noFill/>
          <a:ln/>
        </p:spPr>
        <p:txBody>
          <a:bodyPr wrap="square" lIns="38100" tIns="38100" rIns="38100" bIns="38100" rtlCol="0" anchor="ctr"/>
          <a:lstStyle/>
          <a:p>
            <a:pPr algn="l" indent="0" marL="0">
              <a:buNone/>
            </a:pPr>
            <a:r>
              <a:rPr lang="en-US" sz="1150" dirty="0">
                <a:solidFill>
                  <a:srgbClr val="1A1A1A"/>
                </a:solidFill>
                <a:latin typeface="Cambria" pitchFamily="34" charset="0"/>
                <a:ea typeface="Cambria" pitchFamily="34" charset="-122"/>
                <a:cs typeface="Cambria" pitchFamily="34" charset="-120"/>
              </a:rPr>
              <a:t>Nhánh ứng viên</a:t>
            </a:r>
            <a:endParaRPr lang="en-US" sz="1150" dirty="0"/>
          </a:p>
        </p:txBody>
      </p:sp>
      <p:sp>
        <p:nvSpPr>
          <p:cNvPr id="69" name="Text 67"/>
          <p:cNvSpPr/>
          <p:nvPr/>
        </p:nvSpPr>
        <p:spPr>
          <a:xfrm>
            <a:off x="2788920" y="3749040"/>
            <a:ext cx="868680" cy="365760"/>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71,2</a:t>
            </a:r>
            <a:endParaRPr lang="en-US" sz="1150" dirty="0"/>
          </a:p>
        </p:txBody>
      </p:sp>
      <p:sp>
        <p:nvSpPr>
          <p:cNvPr id="70" name="Text 68"/>
          <p:cNvSpPr/>
          <p:nvPr/>
        </p:nvSpPr>
        <p:spPr>
          <a:xfrm>
            <a:off x="3657600" y="3749040"/>
            <a:ext cx="960120" cy="365760"/>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62,4</a:t>
            </a:r>
            <a:endParaRPr lang="en-US" sz="1150" dirty="0"/>
          </a:p>
        </p:txBody>
      </p:sp>
      <p:sp>
        <p:nvSpPr>
          <p:cNvPr id="71" name="Text 69"/>
          <p:cNvSpPr/>
          <p:nvPr/>
        </p:nvSpPr>
        <p:spPr>
          <a:xfrm>
            <a:off x="4617720" y="3749040"/>
            <a:ext cx="822960" cy="365760"/>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56,1</a:t>
            </a:r>
            <a:endParaRPr lang="en-US" sz="1150" dirty="0"/>
          </a:p>
        </p:txBody>
      </p:sp>
      <p:sp>
        <p:nvSpPr>
          <p:cNvPr id="72" name="Text 70"/>
          <p:cNvSpPr/>
          <p:nvPr/>
        </p:nvSpPr>
        <p:spPr>
          <a:xfrm>
            <a:off x="5440680" y="3749040"/>
            <a:ext cx="1005840" cy="365760"/>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63,9</a:t>
            </a:r>
            <a:endParaRPr lang="en-US" sz="1150" dirty="0"/>
          </a:p>
        </p:txBody>
      </p:sp>
      <p:sp>
        <p:nvSpPr>
          <p:cNvPr id="73" name="Text 71"/>
          <p:cNvSpPr/>
          <p:nvPr/>
        </p:nvSpPr>
        <p:spPr>
          <a:xfrm>
            <a:off x="6446520" y="3749040"/>
            <a:ext cx="1188720" cy="365760"/>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77,9</a:t>
            </a:r>
            <a:endParaRPr lang="en-US" sz="1150" dirty="0"/>
          </a:p>
        </p:txBody>
      </p:sp>
      <p:sp>
        <p:nvSpPr>
          <p:cNvPr id="74" name="Text 72"/>
          <p:cNvSpPr/>
          <p:nvPr/>
        </p:nvSpPr>
        <p:spPr>
          <a:xfrm>
            <a:off x="7635240" y="3749040"/>
            <a:ext cx="1051560" cy="365760"/>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90,9</a:t>
            </a:r>
            <a:endParaRPr lang="en-US" sz="1150" dirty="0"/>
          </a:p>
        </p:txBody>
      </p:sp>
      <p:sp>
        <p:nvSpPr>
          <p:cNvPr id="75" name="Shape 73"/>
          <p:cNvSpPr/>
          <p:nvPr/>
        </p:nvSpPr>
        <p:spPr>
          <a:xfrm>
            <a:off x="457200" y="4114800"/>
            <a:ext cx="8229600" cy="0"/>
          </a:xfrm>
          <a:prstGeom prst="line">
            <a:avLst/>
          </a:prstGeom>
          <a:noFill/>
          <a:ln w="19050">
            <a:solidFill>
              <a:srgbClr val="322164"/>
            </a:solidFill>
            <a:prstDash val="solid"/>
          </a:ln>
        </p:spPr>
      </p:sp>
      <p:sp>
        <p:nvSpPr>
          <p:cNvPr id="76" name="Text 74"/>
          <p:cNvSpPr/>
          <p:nvPr/>
        </p:nvSpPr>
        <p:spPr>
          <a:xfrm>
            <a:off x="457200" y="4114800"/>
            <a:ext cx="2331720" cy="365760"/>
          </a:xfrm>
          <a:prstGeom prst="rect">
            <a:avLst/>
          </a:prstGeom>
          <a:noFill/>
          <a:ln/>
        </p:spPr>
        <p:txBody>
          <a:bodyPr wrap="square" lIns="38100" tIns="38100" rIns="38100" bIns="38100" rtlCol="0" anchor="ctr"/>
          <a:lstStyle/>
          <a:p>
            <a:pPr algn="l" indent="0" marL="0">
              <a:buNone/>
            </a:pPr>
            <a:r>
              <a:rPr lang="en-US" sz="1150" b="1" dirty="0">
                <a:solidFill>
                  <a:srgbClr val="1A1A1A"/>
                </a:solidFill>
                <a:latin typeface="Cambria" pitchFamily="34" charset="0"/>
                <a:ea typeface="Cambria" pitchFamily="34" charset="-122"/>
                <a:cs typeface="Cambria" pitchFamily="34" charset="-120"/>
              </a:rPr>
              <a:t>Thưởng SPICE (đề xuất)</a:t>
            </a:r>
            <a:endParaRPr lang="en-US" sz="1150" dirty="0"/>
          </a:p>
        </p:txBody>
      </p:sp>
      <p:sp>
        <p:nvSpPr>
          <p:cNvPr id="77" name="Text 75"/>
          <p:cNvSpPr/>
          <p:nvPr/>
        </p:nvSpPr>
        <p:spPr>
          <a:xfrm>
            <a:off x="2788920" y="4114800"/>
            <a:ext cx="868680" cy="365760"/>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76,2</a:t>
            </a:r>
            <a:endParaRPr lang="en-US" sz="1150" dirty="0"/>
          </a:p>
        </p:txBody>
      </p:sp>
      <p:sp>
        <p:nvSpPr>
          <p:cNvPr id="78" name="Text 76"/>
          <p:cNvSpPr/>
          <p:nvPr/>
        </p:nvSpPr>
        <p:spPr>
          <a:xfrm>
            <a:off x="3657600" y="4114800"/>
            <a:ext cx="960120" cy="365760"/>
          </a:xfrm>
          <a:prstGeom prst="rect">
            <a:avLst/>
          </a:prstGeom>
          <a:noFill/>
          <a:ln/>
        </p:spPr>
        <p:txBody>
          <a:bodyPr wrap="square" lIns="38100" tIns="38100" rIns="38100" bIns="38100" rtlCol="0" anchor="ctr"/>
          <a:lstStyle/>
          <a:p>
            <a:pPr algn="ctr" indent="0" marL="0">
              <a:buNone/>
            </a:pPr>
            <a:r>
              <a:rPr lang="en-US" sz="1150" b="1" dirty="0">
                <a:solidFill>
                  <a:srgbClr val="322164"/>
                </a:solidFill>
                <a:latin typeface="Cambria" pitchFamily="34" charset="0"/>
                <a:ea typeface="Cambria" pitchFamily="34" charset="-122"/>
                <a:cs typeface="Cambria" pitchFamily="34" charset="-120"/>
              </a:rPr>
              <a:t>67,0</a:t>
            </a:r>
            <a:endParaRPr lang="en-US" sz="1150" dirty="0"/>
          </a:p>
        </p:txBody>
      </p:sp>
      <p:sp>
        <p:nvSpPr>
          <p:cNvPr id="79" name="Text 77"/>
          <p:cNvSpPr/>
          <p:nvPr/>
        </p:nvSpPr>
        <p:spPr>
          <a:xfrm>
            <a:off x="4617720" y="4114800"/>
            <a:ext cx="822960" cy="365760"/>
          </a:xfrm>
          <a:prstGeom prst="rect">
            <a:avLst/>
          </a:prstGeom>
          <a:noFill/>
          <a:ln/>
        </p:spPr>
        <p:txBody>
          <a:bodyPr wrap="square" lIns="38100" tIns="38100" rIns="38100" bIns="38100" rtlCol="0" anchor="ctr"/>
          <a:lstStyle/>
          <a:p>
            <a:pPr algn="ctr" indent="0" marL="0">
              <a:buNone/>
            </a:pPr>
            <a:r>
              <a:rPr lang="en-US" sz="1150" b="1" dirty="0">
                <a:solidFill>
                  <a:srgbClr val="322164"/>
                </a:solidFill>
                <a:latin typeface="Cambria" pitchFamily="34" charset="0"/>
                <a:ea typeface="Cambria" pitchFamily="34" charset="-122"/>
                <a:cs typeface="Cambria" pitchFamily="34" charset="-120"/>
              </a:rPr>
              <a:t>60,6</a:t>
            </a:r>
            <a:endParaRPr lang="en-US" sz="1150" dirty="0"/>
          </a:p>
        </p:txBody>
      </p:sp>
      <p:sp>
        <p:nvSpPr>
          <p:cNvPr id="80" name="Text 78"/>
          <p:cNvSpPr/>
          <p:nvPr/>
        </p:nvSpPr>
        <p:spPr>
          <a:xfrm>
            <a:off x="5440680" y="4114800"/>
            <a:ext cx="1005840" cy="365760"/>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68,9</a:t>
            </a:r>
            <a:endParaRPr lang="en-US" sz="1150" dirty="0"/>
          </a:p>
        </p:txBody>
      </p:sp>
      <p:sp>
        <p:nvSpPr>
          <p:cNvPr id="81" name="Text 79"/>
          <p:cNvSpPr/>
          <p:nvPr/>
        </p:nvSpPr>
        <p:spPr>
          <a:xfrm>
            <a:off x="6446520" y="4114800"/>
            <a:ext cx="1188720" cy="365760"/>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82,9</a:t>
            </a:r>
            <a:endParaRPr lang="en-US" sz="1150" dirty="0"/>
          </a:p>
        </p:txBody>
      </p:sp>
      <p:sp>
        <p:nvSpPr>
          <p:cNvPr id="82" name="Text 80"/>
          <p:cNvSpPr/>
          <p:nvPr/>
        </p:nvSpPr>
        <p:spPr>
          <a:xfrm>
            <a:off x="7635240" y="4114800"/>
            <a:ext cx="1051560" cy="365760"/>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96,0</a:t>
            </a:r>
            <a:endParaRPr lang="en-US" sz="1150" dirty="0"/>
          </a:p>
        </p:txBody>
      </p:sp>
      <p:sp>
        <p:nvSpPr>
          <p:cNvPr id="83" name="Shape 81"/>
          <p:cNvSpPr/>
          <p:nvPr/>
        </p:nvSpPr>
        <p:spPr>
          <a:xfrm>
            <a:off x="457200" y="4480560"/>
            <a:ext cx="8229600" cy="0"/>
          </a:xfrm>
          <a:prstGeom prst="line">
            <a:avLst/>
          </a:prstGeom>
          <a:noFill/>
          <a:ln w="12700">
            <a:solidFill>
              <a:srgbClr val="9A94AE"/>
            </a:solidFill>
            <a:prstDash val="solid"/>
          </a:ln>
        </p:spPr>
      </p:sp>
      <p:sp>
        <p:nvSpPr>
          <p:cNvPr id="84" name="Text 82"/>
          <p:cNvSpPr/>
          <p:nvPr/>
        </p:nvSpPr>
        <p:spPr>
          <a:xfrm>
            <a:off x="457200" y="4480560"/>
            <a:ext cx="2331720" cy="365760"/>
          </a:xfrm>
          <a:prstGeom prst="rect">
            <a:avLst/>
          </a:prstGeom>
          <a:noFill/>
          <a:ln/>
        </p:spPr>
        <p:txBody>
          <a:bodyPr wrap="square" lIns="38100" tIns="38100" rIns="38100" bIns="38100" rtlCol="0" anchor="ctr"/>
          <a:lstStyle/>
          <a:p>
            <a:pPr algn="l" indent="0" marL="0">
              <a:buNone/>
            </a:pPr>
            <a:r>
              <a:rPr lang="en-US" sz="1150" dirty="0">
                <a:solidFill>
                  <a:srgbClr val="1A1A1A"/>
                </a:solidFill>
                <a:latin typeface="Cambria" pitchFamily="34" charset="0"/>
                <a:ea typeface="Cambria" pitchFamily="34" charset="-122"/>
                <a:cs typeface="Cambria" pitchFamily="34" charset="-120"/>
              </a:rPr>
              <a:t>  + TAGE</a:t>
            </a:r>
            <a:endParaRPr lang="en-US" sz="1150" dirty="0"/>
          </a:p>
        </p:txBody>
      </p:sp>
      <p:sp>
        <p:nvSpPr>
          <p:cNvPr id="85" name="Text 83"/>
          <p:cNvSpPr/>
          <p:nvPr/>
        </p:nvSpPr>
        <p:spPr>
          <a:xfrm>
            <a:off x="2788920" y="4480560"/>
            <a:ext cx="868680" cy="365760"/>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76,1</a:t>
            </a:r>
            <a:endParaRPr lang="en-US" sz="1150" dirty="0"/>
          </a:p>
        </p:txBody>
      </p:sp>
      <p:sp>
        <p:nvSpPr>
          <p:cNvPr id="86" name="Text 84"/>
          <p:cNvSpPr/>
          <p:nvPr/>
        </p:nvSpPr>
        <p:spPr>
          <a:xfrm>
            <a:off x="3657600" y="4480560"/>
            <a:ext cx="960120" cy="365760"/>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66,4</a:t>
            </a:r>
            <a:endParaRPr lang="en-US" sz="1150" dirty="0"/>
          </a:p>
        </p:txBody>
      </p:sp>
      <p:sp>
        <p:nvSpPr>
          <p:cNvPr id="87" name="Text 85"/>
          <p:cNvSpPr/>
          <p:nvPr/>
        </p:nvSpPr>
        <p:spPr>
          <a:xfrm>
            <a:off x="4617720" y="4480560"/>
            <a:ext cx="822960" cy="365760"/>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60,2</a:t>
            </a:r>
            <a:endParaRPr lang="en-US" sz="1150" dirty="0"/>
          </a:p>
        </p:txBody>
      </p:sp>
      <p:sp>
        <p:nvSpPr>
          <p:cNvPr id="88" name="Text 86"/>
          <p:cNvSpPr/>
          <p:nvPr/>
        </p:nvSpPr>
        <p:spPr>
          <a:xfrm>
            <a:off x="5440680" y="4480560"/>
            <a:ext cx="1005840" cy="365760"/>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68,7</a:t>
            </a:r>
            <a:endParaRPr lang="en-US" sz="1150" dirty="0"/>
          </a:p>
        </p:txBody>
      </p:sp>
      <p:sp>
        <p:nvSpPr>
          <p:cNvPr id="89" name="Text 87"/>
          <p:cNvSpPr/>
          <p:nvPr/>
        </p:nvSpPr>
        <p:spPr>
          <a:xfrm>
            <a:off x="6446520" y="4480560"/>
            <a:ext cx="1188720" cy="365760"/>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82,7</a:t>
            </a:r>
            <a:endParaRPr lang="en-US" sz="1150" dirty="0"/>
          </a:p>
        </p:txBody>
      </p:sp>
      <p:sp>
        <p:nvSpPr>
          <p:cNvPr id="90" name="Text 88"/>
          <p:cNvSpPr/>
          <p:nvPr/>
        </p:nvSpPr>
        <p:spPr>
          <a:xfrm>
            <a:off x="7635240" y="4480560"/>
            <a:ext cx="1051560" cy="365760"/>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96,6</a:t>
            </a:r>
            <a:endParaRPr lang="en-US" sz="1150" dirty="0"/>
          </a:p>
        </p:txBody>
      </p:sp>
      <p:sp>
        <p:nvSpPr>
          <p:cNvPr id="91" name="Shape 89"/>
          <p:cNvSpPr/>
          <p:nvPr/>
        </p:nvSpPr>
        <p:spPr>
          <a:xfrm>
            <a:off x="457200" y="4846320"/>
            <a:ext cx="8229600" cy="0"/>
          </a:xfrm>
          <a:prstGeom prst="line">
            <a:avLst/>
          </a:prstGeom>
          <a:noFill/>
          <a:ln w="19050">
            <a:solidFill>
              <a:srgbClr val="322164"/>
            </a:solidFill>
            <a:prstDash val="solid"/>
          </a:ln>
        </p:spPr>
      </p:sp>
      <p:sp>
        <p:nvSpPr>
          <p:cNvPr id="92" name="Text 90"/>
          <p:cNvSpPr/>
          <p:nvPr/>
        </p:nvSpPr>
        <p:spPr>
          <a:xfrm>
            <a:off x="457200" y="4846320"/>
            <a:ext cx="2331720" cy="365760"/>
          </a:xfrm>
          <a:prstGeom prst="rect">
            <a:avLst/>
          </a:prstGeom>
          <a:noFill/>
          <a:ln/>
        </p:spPr>
        <p:txBody>
          <a:bodyPr wrap="square" lIns="38100" tIns="38100" rIns="38100" bIns="38100" rtlCol="0" anchor="ctr"/>
          <a:lstStyle/>
          <a:p>
            <a:pPr algn="l" indent="0" marL="0">
              <a:buNone/>
            </a:pPr>
            <a:r>
              <a:rPr lang="en-US" sz="1150" i="1" dirty="0">
                <a:solidFill>
                  <a:srgbClr val="1A1A1A"/>
                </a:solidFill>
                <a:latin typeface="Cambria" pitchFamily="34" charset="0"/>
                <a:ea typeface="Cambria" pitchFamily="34" charset="-122"/>
                <a:cs typeface="Cambria" pitchFamily="34" charset="-120"/>
              </a:rPr>
              <a:t>Câu chuẩn (trần)</a:t>
            </a:r>
            <a:endParaRPr lang="en-US" sz="1150" dirty="0"/>
          </a:p>
        </p:txBody>
      </p:sp>
      <p:sp>
        <p:nvSpPr>
          <p:cNvPr id="93" name="Text 91"/>
          <p:cNvSpPr/>
          <p:nvPr/>
        </p:nvSpPr>
        <p:spPr>
          <a:xfrm>
            <a:off x="2788920" y="4846320"/>
            <a:ext cx="868680" cy="365760"/>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92,1</a:t>
            </a:r>
            <a:endParaRPr lang="en-US" sz="1150" dirty="0"/>
          </a:p>
        </p:txBody>
      </p:sp>
      <p:sp>
        <p:nvSpPr>
          <p:cNvPr id="94" name="Text 92"/>
          <p:cNvSpPr/>
          <p:nvPr/>
        </p:nvSpPr>
        <p:spPr>
          <a:xfrm>
            <a:off x="3657600" y="4846320"/>
            <a:ext cx="960120" cy="365760"/>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83,8</a:t>
            </a:r>
            <a:endParaRPr lang="en-US" sz="1150" dirty="0"/>
          </a:p>
        </p:txBody>
      </p:sp>
      <p:sp>
        <p:nvSpPr>
          <p:cNvPr id="95" name="Text 93"/>
          <p:cNvSpPr/>
          <p:nvPr/>
        </p:nvSpPr>
        <p:spPr>
          <a:xfrm>
            <a:off x="4617720" y="4846320"/>
            <a:ext cx="822960" cy="365760"/>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75,7</a:t>
            </a:r>
            <a:endParaRPr lang="en-US" sz="1150" dirty="0"/>
          </a:p>
        </p:txBody>
      </p:sp>
      <p:sp>
        <p:nvSpPr>
          <p:cNvPr id="96" name="Text 94"/>
          <p:cNvSpPr/>
          <p:nvPr/>
        </p:nvSpPr>
        <p:spPr>
          <a:xfrm>
            <a:off x="5440680" y="4846320"/>
            <a:ext cx="1005840" cy="365760"/>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84,2</a:t>
            </a:r>
            <a:endParaRPr lang="en-US" sz="1150" dirty="0"/>
          </a:p>
        </p:txBody>
      </p:sp>
      <p:sp>
        <p:nvSpPr>
          <p:cNvPr id="97" name="Text 95"/>
          <p:cNvSpPr/>
          <p:nvPr/>
        </p:nvSpPr>
        <p:spPr>
          <a:xfrm>
            <a:off x="6446520" y="4846320"/>
            <a:ext cx="1188720" cy="365760"/>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96,2</a:t>
            </a:r>
            <a:endParaRPr lang="en-US" sz="1150" dirty="0"/>
          </a:p>
        </p:txBody>
      </p:sp>
      <p:sp>
        <p:nvSpPr>
          <p:cNvPr id="98" name="Text 96"/>
          <p:cNvSpPr/>
          <p:nvPr/>
        </p:nvSpPr>
        <p:spPr>
          <a:xfrm>
            <a:off x="7635240" y="4846320"/>
            <a:ext cx="1051560" cy="365760"/>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100,0</a:t>
            </a:r>
            <a:endParaRPr lang="en-US" sz="1150" dirty="0"/>
          </a:p>
        </p:txBody>
      </p:sp>
      <p:sp>
        <p:nvSpPr>
          <p:cNvPr id="99" name="Text 97"/>
          <p:cNvSpPr/>
          <p:nvPr/>
        </p:nvSpPr>
        <p:spPr>
          <a:xfrm>
            <a:off x="457200" y="5486400"/>
            <a:ext cx="8229600" cy="868680"/>
          </a:xfrm>
          <a:prstGeom prst="rect">
            <a:avLst/>
          </a:prstGeom>
          <a:noFill/>
          <a:ln/>
        </p:spPr>
        <p:txBody>
          <a:bodyPr wrap="square" lIns="0" tIns="0" rIns="0" bIns="0" rtlCol="0" anchor="t"/>
          <a:lstStyle/>
          <a:p>
            <a:pPr algn="l" indent="0" marL="0">
              <a:lnSpc>
                <a:spcPct val="118000"/>
              </a:lnSpc>
              <a:buNone/>
            </a:pPr>
            <a:r>
              <a:rPr lang="en-US" sz="1100" i="1" dirty="0">
                <a:solidFill>
                  <a:srgbClr val="5A5A66"/>
                </a:solidFill>
                <a:latin typeface="Cambria" pitchFamily="34" charset="0"/>
                <a:ea typeface="Cambria" pitchFamily="34" charset="-122"/>
                <a:cs typeface="Cambria" pitchFamily="34" charset="-120"/>
              </a:rPr>
              <a:t>4.463 bước chạm, tính lại từ bản ghi từng bước, không gọi lại mô hình định vị. Số đậm là cao nhất trong các nhánh mô hình ở cột đó. Ở năm cột vị trí, Base thấp nhất, câu chuẩn cao nhất và S1 hơn Base 11 đến 12 điểm; chặng ba và phương pháp đề xuất đổi chỗ tuỳ luật.</a:t>
            </a:r>
            <a:endParaRPr lang="en-US" sz="1100" dirty="0"/>
          </a:p>
        </p:txBody>
      </p:sp>
      <p:sp>
        <p:nvSpPr>
          <p:cNvPr id="101" name="Shape 98"/>
          <p:cNvSpPr/>
          <p:nvPr/>
        </p:nvSpPr>
        <p:spPr>
          <a:xfrm>
            <a:off x="0" y="6620256"/>
            <a:ext cx="2743200" cy="237744"/>
          </a:xfrm>
          <a:prstGeom prst="rect">
            <a:avLst/>
          </a:prstGeom>
          <a:solidFill>
            <a:srgbClr val="191132"/>
          </a:solidFill>
          <a:ln/>
        </p:spPr>
      </p:sp>
      <p:sp>
        <p:nvSpPr>
          <p:cNvPr id="102" name="Shape 99"/>
          <p:cNvSpPr/>
          <p:nvPr/>
        </p:nvSpPr>
        <p:spPr>
          <a:xfrm>
            <a:off x="2743200" y="6620256"/>
            <a:ext cx="3383280" cy="237744"/>
          </a:xfrm>
          <a:prstGeom prst="rect">
            <a:avLst/>
          </a:prstGeom>
          <a:solidFill>
            <a:srgbClr val="25194B"/>
          </a:solidFill>
          <a:ln/>
        </p:spPr>
      </p:sp>
      <p:sp>
        <p:nvSpPr>
          <p:cNvPr id="103" name="Shape 100"/>
          <p:cNvSpPr/>
          <p:nvPr/>
        </p:nvSpPr>
        <p:spPr>
          <a:xfrm>
            <a:off x="6126480" y="6620256"/>
            <a:ext cx="1737360" cy="237744"/>
          </a:xfrm>
          <a:prstGeom prst="rect">
            <a:avLst/>
          </a:prstGeom>
          <a:solidFill>
            <a:srgbClr val="4F417A"/>
          </a:solidFill>
          <a:ln/>
        </p:spPr>
      </p:sp>
      <p:sp>
        <p:nvSpPr>
          <p:cNvPr id="104" name="Shape 101"/>
          <p:cNvSpPr/>
          <p:nvPr/>
        </p:nvSpPr>
        <p:spPr>
          <a:xfrm>
            <a:off x="7863840" y="6620256"/>
            <a:ext cx="1280160" cy="237744"/>
          </a:xfrm>
          <a:prstGeom prst="rect">
            <a:avLst/>
          </a:prstGeom>
          <a:solidFill>
            <a:srgbClr val="7A7099"/>
          </a:solidFill>
          <a:ln/>
        </p:spPr>
      </p:sp>
      <p:sp>
        <p:nvSpPr>
          <p:cNvPr id="105" name="Text 102"/>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Luận văn thạc sĩ</a:t>
            </a:r>
            <a:endParaRPr lang="en-US" sz="800" dirty="0"/>
          </a:p>
        </p:txBody>
      </p:sp>
      <p:sp>
        <p:nvSpPr>
          <p:cNvPr id="106" name="Text 103"/>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Phát sinh tự động hướng dẫn sử dụng phần mềm dựa trên LLM</a:t>
            </a:r>
            <a:endParaRPr lang="en-US" sz="800" dirty="0"/>
          </a:p>
        </p:txBody>
      </p:sp>
      <p:sp>
        <p:nvSpPr>
          <p:cNvPr id="107" name="Text 104"/>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108" name="Text 105"/>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13/24</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Nhóm thước so với câu chuẩn, đủ các nhánh</a:t>
            </a:r>
            <a:endParaRPr lang="en-US" sz="1900" dirty="0"/>
          </a:p>
        </p:txBody>
      </p:sp>
      <p:sp>
        <p:nvSpPr>
          <p:cNvPr id="4" name="Shape 2"/>
          <p:cNvSpPr/>
          <p:nvPr/>
        </p:nvSpPr>
        <p:spPr>
          <a:xfrm>
            <a:off x="457200" y="731520"/>
            <a:ext cx="8229600" cy="411480"/>
          </a:xfrm>
          <a:prstGeom prst="rect">
            <a:avLst/>
          </a:prstGeom>
          <a:solidFill>
            <a:srgbClr val="322164"/>
          </a:solidFill>
          <a:ln/>
        </p:spPr>
      </p:sp>
      <p:sp>
        <p:nvSpPr>
          <p:cNvPr id="5" name="Text 3"/>
          <p:cNvSpPr/>
          <p:nvPr/>
        </p:nvSpPr>
        <p:spPr>
          <a:xfrm>
            <a:off x="457200" y="731520"/>
            <a:ext cx="2331720" cy="411480"/>
          </a:xfrm>
          <a:prstGeom prst="rect">
            <a:avLst/>
          </a:prstGeom>
          <a:noFill/>
          <a:ln/>
        </p:spPr>
        <p:txBody>
          <a:bodyPr wrap="square" lIns="38100" tIns="38100" rIns="38100" bIns="38100" rtlCol="0" anchor="ctr"/>
          <a:lstStyle/>
          <a:p>
            <a:pPr algn="l" indent="0" marL="0">
              <a:buNone/>
            </a:pPr>
            <a:r>
              <a:rPr lang="en-US" sz="1100" b="1" dirty="0">
                <a:solidFill>
                  <a:srgbClr val="FFFFFF"/>
                </a:solidFill>
                <a:latin typeface="Cambria" pitchFamily="34" charset="0"/>
                <a:ea typeface="Cambria" pitchFamily="34" charset="-122"/>
                <a:cs typeface="Cambria" pitchFamily="34" charset="-120"/>
              </a:rPr>
              <a:t>Nhánh</a:t>
            </a:r>
            <a:endParaRPr lang="en-US" sz="1100" dirty="0"/>
          </a:p>
        </p:txBody>
      </p:sp>
      <p:sp>
        <p:nvSpPr>
          <p:cNvPr id="6" name="Text 4"/>
          <p:cNvSpPr/>
          <p:nvPr/>
        </p:nvSpPr>
        <p:spPr>
          <a:xfrm>
            <a:off x="2788920" y="731520"/>
            <a:ext cx="822960" cy="411480"/>
          </a:xfrm>
          <a:prstGeom prst="rect">
            <a:avLst/>
          </a:prstGeom>
          <a:noFill/>
          <a:ln/>
        </p:spPr>
        <p:txBody>
          <a:bodyPr wrap="square" lIns="38100" tIns="38100" rIns="38100" bIns="3810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BLEU-4</a:t>
            </a:r>
            <a:endParaRPr lang="en-US" sz="1100" dirty="0"/>
          </a:p>
        </p:txBody>
      </p:sp>
      <p:sp>
        <p:nvSpPr>
          <p:cNvPr id="7" name="Text 5"/>
          <p:cNvSpPr/>
          <p:nvPr/>
        </p:nvSpPr>
        <p:spPr>
          <a:xfrm>
            <a:off x="3611880" y="731520"/>
            <a:ext cx="868680" cy="411480"/>
          </a:xfrm>
          <a:prstGeom prst="rect">
            <a:avLst/>
          </a:prstGeom>
          <a:noFill/>
          <a:ln/>
        </p:spPr>
        <p:txBody>
          <a:bodyPr wrap="square" lIns="38100" tIns="38100" rIns="38100" bIns="3810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METEOR</a:t>
            </a:r>
            <a:endParaRPr lang="en-US" sz="1100" dirty="0"/>
          </a:p>
        </p:txBody>
      </p:sp>
      <p:sp>
        <p:nvSpPr>
          <p:cNvPr id="8" name="Text 6"/>
          <p:cNvSpPr/>
          <p:nvPr/>
        </p:nvSpPr>
        <p:spPr>
          <a:xfrm>
            <a:off x="4480560" y="731520"/>
            <a:ext cx="868680" cy="411480"/>
          </a:xfrm>
          <a:prstGeom prst="rect">
            <a:avLst/>
          </a:prstGeom>
          <a:noFill/>
          <a:ln/>
        </p:spPr>
        <p:txBody>
          <a:bodyPr wrap="square" lIns="38100" tIns="38100" rIns="38100" bIns="3810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ROUGE-L</a:t>
            </a:r>
            <a:endParaRPr lang="en-US" sz="1100" dirty="0"/>
          </a:p>
        </p:txBody>
      </p:sp>
      <p:sp>
        <p:nvSpPr>
          <p:cNvPr id="9" name="Text 7"/>
          <p:cNvSpPr/>
          <p:nvPr/>
        </p:nvSpPr>
        <p:spPr>
          <a:xfrm>
            <a:off x="5349240" y="731520"/>
            <a:ext cx="868680" cy="411480"/>
          </a:xfrm>
          <a:prstGeom prst="rect">
            <a:avLst/>
          </a:prstGeom>
          <a:noFill/>
          <a:ln/>
        </p:spPr>
        <p:txBody>
          <a:bodyPr wrap="square" lIns="38100" tIns="38100" rIns="38100" bIns="3810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CIDEr-D</a:t>
            </a:r>
            <a:endParaRPr lang="en-US" sz="1100" dirty="0"/>
          </a:p>
        </p:txBody>
      </p:sp>
      <p:sp>
        <p:nvSpPr>
          <p:cNvPr id="10" name="Text 8"/>
          <p:cNvSpPr/>
          <p:nvPr/>
        </p:nvSpPr>
        <p:spPr>
          <a:xfrm>
            <a:off x="6217920" y="731520"/>
            <a:ext cx="777240" cy="411480"/>
          </a:xfrm>
          <a:prstGeom prst="rect">
            <a:avLst/>
          </a:prstGeom>
          <a:noFill/>
          <a:ln/>
        </p:spPr>
        <p:txBody>
          <a:bodyPr wrap="square" lIns="38100" tIns="38100" rIns="38100" bIns="3810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SPICE</a:t>
            </a:r>
            <a:endParaRPr lang="en-US" sz="1100" dirty="0"/>
          </a:p>
        </p:txBody>
      </p:sp>
      <p:sp>
        <p:nvSpPr>
          <p:cNvPr id="11" name="Text 9"/>
          <p:cNvSpPr/>
          <p:nvPr/>
        </p:nvSpPr>
        <p:spPr>
          <a:xfrm>
            <a:off x="6995160" y="731520"/>
            <a:ext cx="731520" cy="411480"/>
          </a:xfrm>
          <a:prstGeom prst="rect">
            <a:avLst/>
          </a:prstGeom>
          <a:noFill/>
          <a:ln/>
        </p:spPr>
        <p:txBody>
          <a:bodyPr wrap="square" lIns="38100" tIns="38100" rIns="38100" bIns="3810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chrF</a:t>
            </a:r>
            <a:endParaRPr lang="en-US" sz="1100" dirty="0"/>
          </a:p>
        </p:txBody>
      </p:sp>
      <p:sp>
        <p:nvSpPr>
          <p:cNvPr id="12" name="Text 10"/>
          <p:cNvSpPr/>
          <p:nvPr/>
        </p:nvSpPr>
        <p:spPr>
          <a:xfrm>
            <a:off x="7726680" y="731520"/>
            <a:ext cx="960120" cy="411480"/>
          </a:xfrm>
          <a:prstGeom prst="rect">
            <a:avLst/>
          </a:prstGeom>
          <a:noFill/>
          <a:ln/>
        </p:spPr>
        <p:txBody>
          <a:bodyPr wrap="square" lIns="38100" tIns="38100" rIns="38100" bIns="3810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BERTScore</a:t>
            </a:r>
            <a:endParaRPr lang="en-US" sz="1100" dirty="0"/>
          </a:p>
        </p:txBody>
      </p:sp>
      <p:sp>
        <p:nvSpPr>
          <p:cNvPr id="13" name="Text 11"/>
          <p:cNvSpPr/>
          <p:nvPr/>
        </p:nvSpPr>
        <p:spPr>
          <a:xfrm>
            <a:off x="457200" y="1143000"/>
            <a:ext cx="2331720" cy="365760"/>
          </a:xfrm>
          <a:prstGeom prst="rect">
            <a:avLst/>
          </a:prstGeom>
          <a:noFill/>
          <a:ln/>
        </p:spPr>
        <p:txBody>
          <a:bodyPr wrap="square" lIns="38100" tIns="38100" rIns="38100" bIns="38100" rtlCol="0" anchor="ctr"/>
          <a:lstStyle/>
          <a:p>
            <a:pPr algn="l" indent="0" marL="0">
              <a:buNone/>
            </a:pPr>
            <a:r>
              <a:rPr lang="en-US" sz="1150" dirty="0">
                <a:solidFill>
                  <a:srgbClr val="1A1A1A"/>
                </a:solidFill>
                <a:latin typeface="Cambria" pitchFamily="34" charset="0"/>
                <a:ea typeface="Cambria" pitchFamily="34" charset="-122"/>
                <a:cs typeface="Cambria" pitchFamily="34" charset="-120"/>
              </a:rPr>
              <a:t>Base</a:t>
            </a:r>
            <a:endParaRPr lang="en-US" sz="1150" dirty="0"/>
          </a:p>
        </p:txBody>
      </p:sp>
      <p:sp>
        <p:nvSpPr>
          <p:cNvPr id="14" name="Text 12"/>
          <p:cNvSpPr/>
          <p:nvPr/>
        </p:nvSpPr>
        <p:spPr>
          <a:xfrm>
            <a:off x="2788920" y="1143000"/>
            <a:ext cx="822960" cy="365760"/>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15,3</a:t>
            </a:r>
            <a:endParaRPr lang="en-US" sz="1150" dirty="0"/>
          </a:p>
        </p:txBody>
      </p:sp>
      <p:sp>
        <p:nvSpPr>
          <p:cNvPr id="15" name="Text 13"/>
          <p:cNvSpPr/>
          <p:nvPr/>
        </p:nvSpPr>
        <p:spPr>
          <a:xfrm>
            <a:off x="3611880" y="1143000"/>
            <a:ext cx="868680" cy="365760"/>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24,6</a:t>
            </a:r>
            <a:endParaRPr lang="en-US" sz="1150" dirty="0"/>
          </a:p>
        </p:txBody>
      </p:sp>
      <p:sp>
        <p:nvSpPr>
          <p:cNvPr id="16" name="Text 14"/>
          <p:cNvSpPr/>
          <p:nvPr/>
        </p:nvSpPr>
        <p:spPr>
          <a:xfrm>
            <a:off x="4480560" y="1143000"/>
            <a:ext cx="868680" cy="365760"/>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42,3</a:t>
            </a:r>
            <a:endParaRPr lang="en-US" sz="1150" dirty="0"/>
          </a:p>
        </p:txBody>
      </p:sp>
      <p:sp>
        <p:nvSpPr>
          <p:cNvPr id="17" name="Text 15"/>
          <p:cNvSpPr/>
          <p:nvPr/>
        </p:nvSpPr>
        <p:spPr>
          <a:xfrm>
            <a:off x="5349240" y="1143000"/>
            <a:ext cx="868680" cy="365760"/>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88,0</a:t>
            </a:r>
            <a:endParaRPr lang="en-US" sz="1150" dirty="0"/>
          </a:p>
        </p:txBody>
      </p:sp>
      <p:sp>
        <p:nvSpPr>
          <p:cNvPr id="18" name="Text 16"/>
          <p:cNvSpPr/>
          <p:nvPr/>
        </p:nvSpPr>
        <p:spPr>
          <a:xfrm>
            <a:off x="6217920" y="1143000"/>
            <a:ext cx="777240" cy="365760"/>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18,5</a:t>
            </a:r>
            <a:endParaRPr lang="en-US" sz="1150" dirty="0"/>
          </a:p>
        </p:txBody>
      </p:sp>
      <p:sp>
        <p:nvSpPr>
          <p:cNvPr id="19" name="Text 17"/>
          <p:cNvSpPr/>
          <p:nvPr/>
        </p:nvSpPr>
        <p:spPr>
          <a:xfrm>
            <a:off x="6995160" y="1143000"/>
            <a:ext cx="731520" cy="365760"/>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40,2</a:t>
            </a:r>
            <a:endParaRPr lang="en-US" sz="1150" dirty="0"/>
          </a:p>
        </p:txBody>
      </p:sp>
      <p:sp>
        <p:nvSpPr>
          <p:cNvPr id="20" name="Text 18"/>
          <p:cNvSpPr/>
          <p:nvPr/>
        </p:nvSpPr>
        <p:spPr>
          <a:xfrm>
            <a:off x="7726680" y="1143000"/>
            <a:ext cx="960120" cy="365760"/>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40,1</a:t>
            </a:r>
            <a:endParaRPr lang="en-US" sz="1150" dirty="0"/>
          </a:p>
        </p:txBody>
      </p:sp>
      <p:sp>
        <p:nvSpPr>
          <p:cNvPr id="21" name="Shape 19"/>
          <p:cNvSpPr/>
          <p:nvPr/>
        </p:nvSpPr>
        <p:spPr>
          <a:xfrm>
            <a:off x="457200" y="1508760"/>
            <a:ext cx="8229600" cy="0"/>
          </a:xfrm>
          <a:prstGeom prst="line">
            <a:avLst/>
          </a:prstGeom>
          <a:noFill/>
          <a:ln w="12700">
            <a:solidFill>
              <a:srgbClr val="9A94AE"/>
            </a:solidFill>
            <a:prstDash val="solid"/>
          </a:ln>
        </p:spPr>
      </p:sp>
      <p:sp>
        <p:nvSpPr>
          <p:cNvPr id="22" name="Text 20"/>
          <p:cNvSpPr/>
          <p:nvPr/>
        </p:nvSpPr>
        <p:spPr>
          <a:xfrm>
            <a:off x="457200" y="1508760"/>
            <a:ext cx="2331720" cy="365760"/>
          </a:xfrm>
          <a:prstGeom prst="rect">
            <a:avLst/>
          </a:prstGeom>
          <a:noFill/>
          <a:ln/>
        </p:spPr>
        <p:txBody>
          <a:bodyPr wrap="square" lIns="38100" tIns="38100" rIns="38100" bIns="38100" rtlCol="0" anchor="ctr"/>
          <a:lstStyle/>
          <a:p>
            <a:pPr algn="l" indent="0" marL="0">
              <a:buNone/>
            </a:pPr>
            <a:r>
              <a:rPr lang="en-US" sz="1150" dirty="0">
                <a:solidFill>
                  <a:srgbClr val="1A1A1A"/>
                </a:solidFill>
                <a:latin typeface="Cambria" pitchFamily="34" charset="0"/>
                <a:ea typeface="Cambria" pitchFamily="34" charset="-122"/>
                <a:cs typeface="Cambria" pitchFamily="34" charset="-120"/>
              </a:rPr>
              <a:t>S1 (hạt 101)</a:t>
            </a:r>
            <a:endParaRPr lang="en-US" sz="1150" dirty="0"/>
          </a:p>
        </p:txBody>
      </p:sp>
      <p:sp>
        <p:nvSpPr>
          <p:cNvPr id="23" name="Text 21"/>
          <p:cNvSpPr/>
          <p:nvPr/>
        </p:nvSpPr>
        <p:spPr>
          <a:xfrm>
            <a:off x="2788920" y="1508760"/>
            <a:ext cx="822960" cy="365760"/>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51,6</a:t>
            </a:r>
            <a:endParaRPr lang="en-US" sz="1150" dirty="0"/>
          </a:p>
        </p:txBody>
      </p:sp>
      <p:sp>
        <p:nvSpPr>
          <p:cNvPr id="24" name="Text 22"/>
          <p:cNvSpPr/>
          <p:nvPr/>
        </p:nvSpPr>
        <p:spPr>
          <a:xfrm>
            <a:off x="3611880" y="1508760"/>
            <a:ext cx="868680" cy="365760"/>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36,8</a:t>
            </a:r>
            <a:endParaRPr lang="en-US" sz="1150" dirty="0"/>
          </a:p>
        </p:txBody>
      </p:sp>
      <p:sp>
        <p:nvSpPr>
          <p:cNvPr id="25" name="Text 23"/>
          <p:cNvSpPr/>
          <p:nvPr/>
        </p:nvSpPr>
        <p:spPr>
          <a:xfrm>
            <a:off x="4480560" y="1508760"/>
            <a:ext cx="868680" cy="365760"/>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67,3</a:t>
            </a:r>
            <a:endParaRPr lang="en-US" sz="1150" dirty="0"/>
          </a:p>
        </p:txBody>
      </p:sp>
      <p:sp>
        <p:nvSpPr>
          <p:cNvPr id="26" name="Text 24"/>
          <p:cNvSpPr/>
          <p:nvPr/>
        </p:nvSpPr>
        <p:spPr>
          <a:xfrm>
            <a:off x="5349240" y="1508760"/>
            <a:ext cx="868680" cy="365760"/>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416,1</a:t>
            </a:r>
            <a:endParaRPr lang="en-US" sz="1150" dirty="0"/>
          </a:p>
        </p:txBody>
      </p:sp>
      <p:sp>
        <p:nvSpPr>
          <p:cNvPr id="27" name="Text 25"/>
          <p:cNvSpPr/>
          <p:nvPr/>
        </p:nvSpPr>
        <p:spPr>
          <a:xfrm>
            <a:off x="6217920" y="1508760"/>
            <a:ext cx="777240" cy="365760"/>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44,4</a:t>
            </a:r>
            <a:endParaRPr lang="en-US" sz="1150" dirty="0"/>
          </a:p>
        </p:txBody>
      </p:sp>
      <p:sp>
        <p:nvSpPr>
          <p:cNvPr id="28" name="Text 26"/>
          <p:cNvSpPr/>
          <p:nvPr/>
        </p:nvSpPr>
        <p:spPr>
          <a:xfrm>
            <a:off x="6995160" y="1508760"/>
            <a:ext cx="731520" cy="365760"/>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61,3</a:t>
            </a:r>
            <a:endParaRPr lang="en-US" sz="1150" dirty="0"/>
          </a:p>
        </p:txBody>
      </p:sp>
      <p:sp>
        <p:nvSpPr>
          <p:cNvPr id="29" name="Text 27"/>
          <p:cNvSpPr/>
          <p:nvPr/>
        </p:nvSpPr>
        <p:spPr>
          <a:xfrm>
            <a:off x="7726680" y="1508760"/>
            <a:ext cx="960120" cy="365760"/>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66,3</a:t>
            </a:r>
            <a:endParaRPr lang="en-US" sz="1150" dirty="0"/>
          </a:p>
        </p:txBody>
      </p:sp>
      <p:sp>
        <p:nvSpPr>
          <p:cNvPr id="30" name="Shape 28"/>
          <p:cNvSpPr/>
          <p:nvPr/>
        </p:nvSpPr>
        <p:spPr>
          <a:xfrm>
            <a:off x="457200" y="1874520"/>
            <a:ext cx="8229600" cy="0"/>
          </a:xfrm>
          <a:prstGeom prst="line">
            <a:avLst/>
          </a:prstGeom>
          <a:noFill/>
          <a:ln w="12700">
            <a:solidFill>
              <a:srgbClr val="9A94AE"/>
            </a:solidFill>
            <a:prstDash val="solid"/>
          </a:ln>
        </p:spPr>
      </p:sp>
      <p:sp>
        <p:nvSpPr>
          <p:cNvPr id="31" name="Text 29"/>
          <p:cNvSpPr/>
          <p:nvPr/>
        </p:nvSpPr>
        <p:spPr>
          <a:xfrm>
            <a:off x="457200" y="1874520"/>
            <a:ext cx="2331720" cy="365760"/>
          </a:xfrm>
          <a:prstGeom prst="rect">
            <a:avLst/>
          </a:prstGeom>
          <a:noFill/>
          <a:ln/>
        </p:spPr>
        <p:txBody>
          <a:bodyPr wrap="square" lIns="38100" tIns="38100" rIns="38100" bIns="38100" rtlCol="0" anchor="ctr"/>
          <a:lstStyle/>
          <a:p>
            <a:pPr algn="l" indent="0" marL="0">
              <a:buNone/>
            </a:pPr>
            <a:r>
              <a:rPr lang="en-US" sz="1150" dirty="0">
                <a:solidFill>
                  <a:srgbClr val="1A1A1A"/>
                </a:solidFill>
                <a:latin typeface="Cambria" pitchFamily="34" charset="0"/>
                <a:ea typeface="Cambria" pitchFamily="34" charset="-122"/>
                <a:cs typeface="Cambria" pitchFamily="34" charset="-120"/>
              </a:rPr>
              <a:t>S1 (hạt 202)</a:t>
            </a:r>
            <a:endParaRPr lang="en-US" sz="1150" dirty="0"/>
          </a:p>
        </p:txBody>
      </p:sp>
      <p:sp>
        <p:nvSpPr>
          <p:cNvPr id="32" name="Text 30"/>
          <p:cNvSpPr/>
          <p:nvPr/>
        </p:nvSpPr>
        <p:spPr>
          <a:xfrm>
            <a:off x="2788920" y="1874520"/>
            <a:ext cx="822960" cy="365760"/>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51,7</a:t>
            </a:r>
            <a:endParaRPr lang="en-US" sz="1150" dirty="0"/>
          </a:p>
        </p:txBody>
      </p:sp>
      <p:sp>
        <p:nvSpPr>
          <p:cNvPr id="33" name="Text 31"/>
          <p:cNvSpPr/>
          <p:nvPr/>
        </p:nvSpPr>
        <p:spPr>
          <a:xfrm>
            <a:off x="3611880" y="1874520"/>
            <a:ext cx="868680" cy="365760"/>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37,2</a:t>
            </a:r>
            <a:endParaRPr lang="en-US" sz="1150" dirty="0"/>
          </a:p>
        </p:txBody>
      </p:sp>
      <p:sp>
        <p:nvSpPr>
          <p:cNvPr id="34" name="Text 32"/>
          <p:cNvSpPr/>
          <p:nvPr/>
        </p:nvSpPr>
        <p:spPr>
          <a:xfrm>
            <a:off x="4480560" y="1874520"/>
            <a:ext cx="868680" cy="365760"/>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67,7</a:t>
            </a:r>
            <a:endParaRPr lang="en-US" sz="1150" dirty="0"/>
          </a:p>
        </p:txBody>
      </p:sp>
      <p:sp>
        <p:nvSpPr>
          <p:cNvPr id="35" name="Text 33"/>
          <p:cNvSpPr/>
          <p:nvPr/>
        </p:nvSpPr>
        <p:spPr>
          <a:xfrm>
            <a:off x="5349240" y="1874520"/>
            <a:ext cx="868680" cy="365760"/>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419,2</a:t>
            </a:r>
            <a:endParaRPr lang="en-US" sz="1150" dirty="0"/>
          </a:p>
        </p:txBody>
      </p:sp>
      <p:sp>
        <p:nvSpPr>
          <p:cNvPr id="36" name="Text 34"/>
          <p:cNvSpPr/>
          <p:nvPr/>
        </p:nvSpPr>
        <p:spPr>
          <a:xfrm>
            <a:off x="6217920" y="1874520"/>
            <a:ext cx="777240" cy="365760"/>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44,2</a:t>
            </a:r>
            <a:endParaRPr lang="en-US" sz="1150" dirty="0"/>
          </a:p>
        </p:txBody>
      </p:sp>
      <p:sp>
        <p:nvSpPr>
          <p:cNvPr id="37" name="Text 35"/>
          <p:cNvSpPr/>
          <p:nvPr/>
        </p:nvSpPr>
        <p:spPr>
          <a:xfrm>
            <a:off x="6995160" y="1874520"/>
            <a:ext cx="731520" cy="365760"/>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61,9</a:t>
            </a:r>
            <a:endParaRPr lang="en-US" sz="1150" dirty="0"/>
          </a:p>
        </p:txBody>
      </p:sp>
      <p:sp>
        <p:nvSpPr>
          <p:cNvPr id="38" name="Text 36"/>
          <p:cNvSpPr/>
          <p:nvPr/>
        </p:nvSpPr>
        <p:spPr>
          <a:xfrm>
            <a:off x="7726680" y="1874520"/>
            <a:ext cx="960120" cy="365760"/>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66,8</a:t>
            </a:r>
            <a:endParaRPr lang="en-US" sz="1150" dirty="0"/>
          </a:p>
        </p:txBody>
      </p:sp>
      <p:sp>
        <p:nvSpPr>
          <p:cNvPr id="39" name="Shape 37"/>
          <p:cNvSpPr/>
          <p:nvPr/>
        </p:nvSpPr>
        <p:spPr>
          <a:xfrm>
            <a:off x="457200" y="2240280"/>
            <a:ext cx="8229600" cy="0"/>
          </a:xfrm>
          <a:prstGeom prst="line">
            <a:avLst/>
          </a:prstGeom>
          <a:noFill/>
          <a:ln w="19050">
            <a:solidFill>
              <a:srgbClr val="322164"/>
            </a:solidFill>
            <a:prstDash val="solid"/>
          </a:ln>
        </p:spPr>
      </p:sp>
      <p:sp>
        <p:nvSpPr>
          <p:cNvPr id="40" name="Text 38"/>
          <p:cNvSpPr/>
          <p:nvPr/>
        </p:nvSpPr>
        <p:spPr>
          <a:xfrm>
            <a:off x="457200" y="2240280"/>
            <a:ext cx="2331720" cy="365760"/>
          </a:xfrm>
          <a:prstGeom prst="rect">
            <a:avLst/>
          </a:prstGeom>
          <a:noFill/>
          <a:ln/>
        </p:spPr>
        <p:txBody>
          <a:bodyPr wrap="square" lIns="38100" tIns="38100" rIns="38100" bIns="38100" rtlCol="0" anchor="ctr"/>
          <a:lstStyle/>
          <a:p>
            <a:pPr algn="l" indent="0" marL="0">
              <a:buNone/>
            </a:pPr>
            <a:r>
              <a:rPr lang="en-US" sz="1150" dirty="0">
                <a:solidFill>
                  <a:srgbClr val="1A1A1A"/>
                </a:solidFill>
                <a:latin typeface="Cambria" pitchFamily="34" charset="0"/>
                <a:ea typeface="Cambria" pitchFamily="34" charset="-122"/>
                <a:cs typeface="Cambria" pitchFamily="34" charset="-120"/>
              </a:rPr>
              <a:t>S2 (đích khai báo)</a:t>
            </a:r>
            <a:endParaRPr lang="en-US" sz="1150" dirty="0"/>
          </a:p>
        </p:txBody>
      </p:sp>
      <p:sp>
        <p:nvSpPr>
          <p:cNvPr id="41" name="Text 39"/>
          <p:cNvSpPr/>
          <p:nvPr/>
        </p:nvSpPr>
        <p:spPr>
          <a:xfrm>
            <a:off x="2788920" y="2240280"/>
            <a:ext cx="822960" cy="365760"/>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48,7</a:t>
            </a:r>
            <a:endParaRPr lang="en-US" sz="1150" dirty="0"/>
          </a:p>
        </p:txBody>
      </p:sp>
      <p:sp>
        <p:nvSpPr>
          <p:cNvPr id="42" name="Text 40"/>
          <p:cNvSpPr/>
          <p:nvPr/>
        </p:nvSpPr>
        <p:spPr>
          <a:xfrm>
            <a:off x="3611880" y="2240280"/>
            <a:ext cx="868680" cy="365760"/>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35,8</a:t>
            </a:r>
            <a:endParaRPr lang="en-US" sz="1150" dirty="0"/>
          </a:p>
        </p:txBody>
      </p:sp>
      <p:sp>
        <p:nvSpPr>
          <p:cNvPr id="43" name="Text 41"/>
          <p:cNvSpPr/>
          <p:nvPr/>
        </p:nvSpPr>
        <p:spPr>
          <a:xfrm>
            <a:off x="4480560" y="2240280"/>
            <a:ext cx="868680" cy="365760"/>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66,0</a:t>
            </a:r>
            <a:endParaRPr lang="en-US" sz="1150" dirty="0"/>
          </a:p>
        </p:txBody>
      </p:sp>
      <p:sp>
        <p:nvSpPr>
          <p:cNvPr id="44" name="Text 42"/>
          <p:cNvSpPr/>
          <p:nvPr/>
        </p:nvSpPr>
        <p:spPr>
          <a:xfrm>
            <a:off x="5349240" y="2240280"/>
            <a:ext cx="868680" cy="365760"/>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387,7</a:t>
            </a:r>
            <a:endParaRPr lang="en-US" sz="1150" dirty="0"/>
          </a:p>
        </p:txBody>
      </p:sp>
      <p:sp>
        <p:nvSpPr>
          <p:cNvPr id="45" name="Text 43"/>
          <p:cNvSpPr/>
          <p:nvPr/>
        </p:nvSpPr>
        <p:spPr>
          <a:xfrm>
            <a:off x="6217920" y="2240280"/>
            <a:ext cx="777240" cy="365760"/>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41,3</a:t>
            </a:r>
            <a:endParaRPr lang="en-US" sz="1150" dirty="0"/>
          </a:p>
        </p:txBody>
      </p:sp>
      <p:sp>
        <p:nvSpPr>
          <p:cNvPr id="46" name="Text 44"/>
          <p:cNvSpPr/>
          <p:nvPr/>
        </p:nvSpPr>
        <p:spPr>
          <a:xfrm>
            <a:off x="6995160" y="2240280"/>
            <a:ext cx="731520" cy="365760"/>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59,9</a:t>
            </a:r>
            <a:endParaRPr lang="en-US" sz="1150" dirty="0"/>
          </a:p>
        </p:txBody>
      </p:sp>
      <p:sp>
        <p:nvSpPr>
          <p:cNvPr id="47" name="Text 45"/>
          <p:cNvSpPr/>
          <p:nvPr/>
        </p:nvSpPr>
        <p:spPr>
          <a:xfrm>
            <a:off x="7726680" y="2240280"/>
            <a:ext cx="960120" cy="365760"/>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65,1</a:t>
            </a:r>
            <a:endParaRPr lang="en-US" sz="1150" dirty="0"/>
          </a:p>
        </p:txBody>
      </p:sp>
      <p:sp>
        <p:nvSpPr>
          <p:cNvPr id="48" name="Shape 46"/>
          <p:cNvSpPr/>
          <p:nvPr/>
        </p:nvSpPr>
        <p:spPr>
          <a:xfrm>
            <a:off x="457200" y="2606040"/>
            <a:ext cx="8229600" cy="0"/>
          </a:xfrm>
          <a:prstGeom prst="line">
            <a:avLst/>
          </a:prstGeom>
          <a:noFill/>
          <a:ln w="12700">
            <a:solidFill>
              <a:srgbClr val="9A94AE"/>
            </a:solidFill>
            <a:prstDash val="solid"/>
          </a:ln>
        </p:spPr>
      </p:sp>
      <p:sp>
        <p:nvSpPr>
          <p:cNvPr id="49" name="Text 47"/>
          <p:cNvSpPr/>
          <p:nvPr/>
        </p:nvSpPr>
        <p:spPr>
          <a:xfrm>
            <a:off x="457200" y="2606040"/>
            <a:ext cx="2331720" cy="365760"/>
          </a:xfrm>
          <a:prstGeom prst="rect">
            <a:avLst/>
          </a:prstGeom>
          <a:noFill/>
          <a:ln/>
        </p:spPr>
        <p:txBody>
          <a:bodyPr wrap="square" lIns="38100" tIns="38100" rIns="38100" bIns="38100" rtlCol="0" anchor="ctr"/>
          <a:lstStyle/>
          <a:p>
            <a:pPr algn="l" indent="0" marL="0">
              <a:buNone/>
            </a:pPr>
            <a:r>
              <a:rPr lang="en-US" sz="1150" dirty="0">
                <a:solidFill>
                  <a:srgbClr val="1A1A1A"/>
                </a:solidFill>
                <a:latin typeface="Cambria" pitchFamily="34" charset="0"/>
                <a:ea typeface="Cambria" pitchFamily="34" charset="-122"/>
                <a:cs typeface="Cambria" pitchFamily="34" charset="-120"/>
              </a:rPr>
              <a:t>CE2-S2</a:t>
            </a:r>
            <a:endParaRPr lang="en-US" sz="1150" dirty="0"/>
          </a:p>
        </p:txBody>
      </p:sp>
      <p:sp>
        <p:nvSpPr>
          <p:cNvPr id="50" name="Text 48"/>
          <p:cNvSpPr/>
          <p:nvPr/>
        </p:nvSpPr>
        <p:spPr>
          <a:xfrm>
            <a:off x="2788920" y="2606040"/>
            <a:ext cx="822960" cy="365760"/>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50,1</a:t>
            </a:r>
            <a:endParaRPr lang="en-US" sz="1150" dirty="0"/>
          </a:p>
        </p:txBody>
      </p:sp>
      <p:sp>
        <p:nvSpPr>
          <p:cNvPr id="51" name="Text 49"/>
          <p:cNvSpPr/>
          <p:nvPr/>
        </p:nvSpPr>
        <p:spPr>
          <a:xfrm>
            <a:off x="3611880" y="2606040"/>
            <a:ext cx="868680" cy="365760"/>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37,3</a:t>
            </a:r>
            <a:endParaRPr lang="en-US" sz="1150" dirty="0"/>
          </a:p>
        </p:txBody>
      </p:sp>
      <p:sp>
        <p:nvSpPr>
          <p:cNvPr id="52" name="Text 50"/>
          <p:cNvSpPr/>
          <p:nvPr/>
        </p:nvSpPr>
        <p:spPr>
          <a:xfrm>
            <a:off x="4480560" y="2606040"/>
            <a:ext cx="868680" cy="365760"/>
          </a:xfrm>
          <a:prstGeom prst="rect">
            <a:avLst/>
          </a:prstGeom>
          <a:noFill/>
          <a:ln/>
        </p:spPr>
        <p:txBody>
          <a:bodyPr wrap="square" lIns="38100" tIns="38100" rIns="38100" bIns="38100" rtlCol="0" anchor="ctr"/>
          <a:lstStyle/>
          <a:p>
            <a:pPr algn="ctr" indent="0" marL="0">
              <a:buNone/>
            </a:pPr>
            <a:r>
              <a:rPr lang="en-US" sz="1150" b="1" dirty="0">
                <a:solidFill>
                  <a:srgbClr val="322164"/>
                </a:solidFill>
                <a:latin typeface="Cambria" pitchFamily="34" charset="0"/>
                <a:ea typeface="Cambria" pitchFamily="34" charset="-122"/>
                <a:cs typeface="Cambria" pitchFamily="34" charset="-120"/>
              </a:rPr>
              <a:t>68,6</a:t>
            </a:r>
            <a:endParaRPr lang="en-US" sz="1150" dirty="0"/>
          </a:p>
        </p:txBody>
      </p:sp>
      <p:sp>
        <p:nvSpPr>
          <p:cNvPr id="53" name="Text 51"/>
          <p:cNvSpPr/>
          <p:nvPr/>
        </p:nvSpPr>
        <p:spPr>
          <a:xfrm>
            <a:off x="5349240" y="2606040"/>
            <a:ext cx="868680" cy="365760"/>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402,2</a:t>
            </a:r>
            <a:endParaRPr lang="en-US" sz="1150" dirty="0"/>
          </a:p>
        </p:txBody>
      </p:sp>
      <p:sp>
        <p:nvSpPr>
          <p:cNvPr id="54" name="Text 52"/>
          <p:cNvSpPr/>
          <p:nvPr/>
        </p:nvSpPr>
        <p:spPr>
          <a:xfrm>
            <a:off x="6217920" y="2606040"/>
            <a:ext cx="777240" cy="365760"/>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42,3</a:t>
            </a:r>
            <a:endParaRPr lang="en-US" sz="1150" dirty="0"/>
          </a:p>
        </p:txBody>
      </p:sp>
      <p:sp>
        <p:nvSpPr>
          <p:cNvPr id="55" name="Text 53"/>
          <p:cNvSpPr/>
          <p:nvPr/>
        </p:nvSpPr>
        <p:spPr>
          <a:xfrm>
            <a:off x="6995160" y="2606040"/>
            <a:ext cx="731520" cy="365760"/>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61,9</a:t>
            </a:r>
            <a:endParaRPr lang="en-US" sz="1150" dirty="0"/>
          </a:p>
        </p:txBody>
      </p:sp>
      <p:sp>
        <p:nvSpPr>
          <p:cNvPr id="56" name="Text 54"/>
          <p:cNvSpPr/>
          <p:nvPr/>
        </p:nvSpPr>
        <p:spPr>
          <a:xfrm>
            <a:off x="7726680" y="2606040"/>
            <a:ext cx="960120" cy="365760"/>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66,8</a:t>
            </a:r>
            <a:endParaRPr lang="en-US" sz="1150" dirty="0"/>
          </a:p>
        </p:txBody>
      </p:sp>
      <p:sp>
        <p:nvSpPr>
          <p:cNvPr id="57" name="Shape 55"/>
          <p:cNvSpPr/>
          <p:nvPr/>
        </p:nvSpPr>
        <p:spPr>
          <a:xfrm>
            <a:off x="457200" y="2971800"/>
            <a:ext cx="8229600" cy="0"/>
          </a:xfrm>
          <a:prstGeom prst="line">
            <a:avLst/>
          </a:prstGeom>
          <a:noFill/>
          <a:ln w="12700">
            <a:solidFill>
              <a:srgbClr val="9A94AE"/>
            </a:solidFill>
            <a:prstDash val="solid"/>
          </a:ln>
        </p:spPr>
      </p:sp>
      <p:sp>
        <p:nvSpPr>
          <p:cNvPr id="58" name="Text 56"/>
          <p:cNvSpPr/>
          <p:nvPr/>
        </p:nvSpPr>
        <p:spPr>
          <a:xfrm>
            <a:off x="457200" y="2971800"/>
            <a:ext cx="2331720" cy="365760"/>
          </a:xfrm>
          <a:prstGeom prst="rect">
            <a:avLst/>
          </a:prstGeom>
          <a:noFill/>
          <a:ln/>
        </p:spPr>
        <p:txBody>
          <a:bodyPr wrap="square" lIns="38100" tIns="38100" rIns="38100" bIns="38100" rtlCol="0" anchor="ctr"/>
          <a:lstStyle/>
          <a:p>
            <a:pPr algn="l" indent="0" marL="0">
              <a:buNone/>
            </a:pPr>
            <a:r>
              <a:rPr lang="en-US" sz="1150" dirty="0">
                <a:solidFill>
                  <a:srgbClr val="1A1A1A"/>
                </a:solidFill>
                <a:latin typeface="Cambria" pitchFamily="34" charset="0"/>
                <a:ea typeface="Cambria" pitchFamily="34" charset="-122"/>
                <a:cs typeface="Cambria" pitchFamily="34" charset="-120"/>
              </a:rPr>
              <a:t>MIN-DESC</a:t>
            </a:r>
            <a:endParaRPr lang="en-US" sz="1150" dirty="0"/>
          </a:p>
        </p:txBody>
      </p:sp>
      <p:sp>
        <p:nvSpPr>
          <p:cNvPr id="59" name="Text 57"/>
          <p:cNvSpPr/>
          <p:nvPr/>
        </p:nvSpPr>
        <p:spPr>
          <a:xfrm>
            <a:off x="2788920" y="2971800"/>
            <a:ext cx="822960" cy="365760"/>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49,9</a:t>
            </a:r>
            <a:endParaRPr lang="en-US" sz="1150" dirty="0"/>
          </a:p>
        </p:txBody>
      </p:sp>
      <p:sp>
        <p:nvSpPr>
          <p:cNvPr id="60" name="Text 58"/>
          <p:cNvSpPr/>
          <p:nvPr/>
        </p:nvSpPr>
        <p:spPr>
          <a:xfrm>
            <a:off x="3611880" y="2971800"/>
            <a:ext cx="868680" cy="365760"/>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37,3</a:t>
            </a:r>
            <a:endParaRPr lang="en-US" sz="1150" dirty="0"/>
          </a:p>
        </p:txBody>
      </p:sp>
      <p:sp>
        <p:nvSpPr>
          <p:cNvPr id="61" name="Text 59"/>
          <p:cNvSpPr/>
          <p:nvPr/>
        </p:nvSpPr>
        <p:spPr>
          <a:xfrm>
            <a:off x="4480560" y="2971800"/>
            <a:ext cx="868680" cy="365760"/>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68,5</a:t>
            </a:r>
            <a:endParaRPr lang="en-US" sz="1150" dirty="0"/>
          </a:p>
        </p:txBody>
      </p:sp>
      <p:sp>
        <p:nvSpPr>
          <p:cNvPr id="62" name="Text 60"/>
          <p:cNvSpPr/>
          <p:nvPr/>
        </p:nvSpPr>
        <p:spPr>
          <a:xfrm>
            <a:off x="5349240" y="2971800"/>
            <a:ext cx="868680" cy="365760"/>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401,0</a:t>
            </a:r>
            <a:endParaRPr lang="en-US" sz="1150" dirty="0"/>
          </a:p>
        </p:txBody>
      </p:sp>
      <p:sp>
        <p:nvSpPr>
          <p:cNvPr id="63" name="Text 61"/>
          <p:cNvSpPr/>
          <p:nvPr/>
        </p:nvSpPr>
        <p:spPr>
          <a:xfrm>
            <a:off x="6217920" y="2971800"/>
            <a:ext cx="777240" cy="365760"/>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42,2</a:t>
            </a:r>
            <a:endParaRPr lang="en-US" sz="1150" dirty="0"/>
          </a:p>
        </p:txBody>
      </p:sp>
      <p:sp>
        <p:nvSpPr>
          <p:cNvPr id="64" name="Text 62"/>
          <p:cNvSpPr/>
          <p:nvPr/>
        </p:nvSpPr>
        <p:spPr>
          <a:xfrm>
            <a:off x="6995160" y="2971800"/>
            <a:ext cx="731520" cy="365760"/>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61,8</a:t>
            </a:r>
            <a:endParaRPr lang="en-US" sz="1150" dirty="0"/>
          </a:p>
        </p:txBody>
      </p:sp>
      <p:sp>
        <p:nvSpPr>
          <p:cNvPr id="65" name="Text 63"/>
          <p:cNvSpPr/>
          <p:nvPr/>
        </p:nvSpPr>
        <p:spPr>
          <a:xfrm>
            <a:off x="7726680" y="2971800"/>
            <a:ext cx="960120" cy="365760"/>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66,7</a:t>
            </a:r>
            <a:endParaRPr lang="en-US" sz="1150" dirty="0"/>
          </a:p>
        </p:txBody>
      </p:sp>
      <p:sp>
        <p:nvSpPr>
          <p:cNvPr id="66" name="Shape 64"/>
          <p:cNvSpPr/>
          <p:nvPr/>
        </p:nvSpPr>
        <p:spPr>
          <a:xfrm>
            <a:off x="457200" y="3337560"/>
            <a:ext cx="8229600" cy="0"/>
          </a:xfrm>
          <a:prstGeom prst="line">
            <a:avLst/>
          </a:prstGeom>
          <a:noFill/>
          <a:ln w="12700">
            <a:solidFill>
              <a:srgbClr val="9A94AE"/>
            </a:solidFill>
            <a:prstDash val="solid"/>
          </a:ln>
        </p:spPr>
      </p:sp>
      <p:sp>
        <p:nvSpPr>
          <p:cNvPr id="67" name="Text 65"/>
          <p:cNvSpPr/>
          <p:nvPr/>
        </p:nvSpPr>
        <p:spPr>
          <a:xfrm>
            <a:off x="457200" y="3337560"/>
            <a:ext cx="2331720" cy="365760"/>
          </a:xfrm>
          <a:prstGeom prst="rect">
            <a:avLst/>
          </a:prstGeom>
          <a:noFill/>
          <a:ln/>
        </p:spPr>
        <p:txBody>
          <a:bodyPr wrap="square" lIns="38100" tIns="38100" rIns="38100" bIns="38100" rtlCol="0" anchor="ctr"/>
          <a:lstStyle/>
          <a:p>
            <a:pPr algn="l" indent="0" marL="0">
              <a:buNone/>
            </a:pPr>
            <a:r>
              <a:rPr lang="en-US" sz="1150" dirty="0">
                <a:solidFill>
                  <a:srgbClr val="1A1A1A"/>
                </a:solidFill>
                <a:latin typeface="Cambria" pitchFamily="34" charset="0"/>
                <a:ea typeface="Cambria" pitchFamily="34" charset="-122"/>
                <a:cs typeface="Cambria" pitchFamily="34" charset="-120"/>
              </a:rPr>
              <a:t>Chặng ba</a:t>
            </a:r>
            <a:endParaRPr lang="en-US" sz="1150" dirty="0"/>
          </a:p>
        </p:txBody>
      </p:sp>
      <p:sp>
        <p:nvSpPr>
          <p:cNvPr id="68" name="Text 66"/>
          <p:cNvSpPr/>
          <p:nvPr/>
        </p:nvSpPr>
        <p:spPr>
          <a:xfrm>
            <a:off x="2788920" y="3337560"/>
            <a:ext cx="822960" cy="365760"/>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49,9</a:t>
            </a:r>
            <a:endParaRPr lang="en-US" sz="1150" dirty="0"/>
          </a:p>
        </p:txBody>
      </p:sp>
      <p:sp>
        <p:nvSpPr>
          <p:cNvPr id="69" name="Text 67"/>
          <p:cNvSpPr/>
          <p:nvPr/>
        </p:nvSpPr>
        <p:spPr>
          <a:xfrm>
            <a:off x="3611880" y="3337560"/>
            <a:ext cx="868680" cy="365760"/>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37,3</a:t>
            </a:r>
            <a:endParaRPr lang="en-US" sz="1150" dirty="0"/>
          </a:p>
        </p:txBody>
      </p:sp>
      <p:sp>
        <p:nvSpPr>
          <p:cNvPr id="70" name="Text 68"/>
          <p:cNvSpPr/>
          <p:nvPr/>
        </p:nvSpPr>
        <p:spPr>
          <a:xfrm>
            <a:off x="4480560" y="3337560"/>
            <a:ext cx="868680" cy="365760"/>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68,5</a:t>
            </a:r>
            <a:endParaRPr lang="en-US" sz="1150" dirty="0"/>
          </a:p>
        </p:txBody>
      </p:sp>
      <p:sp>
        <p:nvSpPr>
          <p:cNvPr id="71" name="Text 69"/>
          <p:cNvSpPr/>
          <p:nvPr/>
        </p:nvSpPr>
        <p:spPr>
          <a:xfrm>
            <a:off x="5349240" y="3337560"/>
            <a:ext cx="868680" cy="365760"/>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402,9</a:t>
            </a:r>
            <a:endParaRPr lang="en-US" sz="1150" dirty="0"/>
          </a:p>
        </p:txBody>
      </p:sp>
      <p:sp>
        <p:nvSpPr>
          <p:cNvPr id="72" name="Text 70"/>
          <p:cNvSpPr/>
          <p:nvPr/>
        </p:nvSpPr>
        <p:spPr>
          <a:xfrm>
            <a:off x="6217920" y="3337560"/>
            <a:ext cx="777240" cy="365760"/>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42,5</a:t>
            </a:r>
            <a:endParaRPr lang="en-US" sz="1150" dirty="0"/>
          </a:p>
        </p:txBody>
      </p:sp>
      <p:sp>
        <p:nvSpPr>
          <p:cNvPr id="73" name="Text 71"/>
          <p:cNvSpPr/>
          <p:nvPr/>
        </p:nvSpPr>
        <p:spPr>
          <a:xfrm>
            <a:off x="6995160" y="3337560"/>
            <a:ext cx="731520" cy="365760"/>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61,9</a:t>
            </a:r>
            <a:endParaRPr lang="en-US" sz="1150" dirty="0"/>
          </a:p>
        </p:txBody>
      </p:sp>
      <p:sp>
        <p:nvSpPr>
          <p:cNvPr id="74" name="Text 72"/>
          <p:cNvSpPr/>
          <p:nvPr/>
        </p:nvSpPr>
        <p:spPr>
          <a:xfrm>
            <a:off x="7726680" y="3337560"/>
            <a:ext cx="960120" cy="365760"/>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66,8</a:t>
            </a:r>
            <a:endParaRPr lang="en-US" sz="1150" dirty="0"/>
          </a:p>
        </p:txBody>
      </p:sp>
      <p:sp>
        <p:nvSpPr>
          <p:cNvPr id="75" name="Shape 73"/>
          <p:cNvSpPr/>
          <p:nvPr/>
        </p:nvSpPr>
        <p:spPr>
          <a:xfrm>
            <a:off x="457200" y="3703320"/>
            <a:ext cx="8229600" cy="0"/>
          </a:xfrm>
          <a:prstGeom prst="line">
            <a:avLst/>
          </a:prstGeom>
          <a:noFill/>
          <a:ln w="12700">
            <a:solidFill>
              <a:srgbClr val="9A94AE"/>
            </a:solidFill>
            <a:prstDash val="solid"/>
          </a:ln>
        </p:spPr>
      </p:sp>
      <p:sp>
        <p:nvSpPr>
          <p:cNvPr id="76" name="Text 74"/>
          <p:cNvSpPr/>
          <p:nvPr/>
        </p:nvSpPr>
        <p:spPr>
          <a:xfrm>
            <a:off x="457200" y="3703320"/>
            <a:ext cx="2331720" cy="365760"/>
          </a:xfrm>
          <a:prstGeom prst="rect">
            <a:avLst/>
          </a:prstGeom>
          <a:noFill/>
          <a:ln/>
        </p:spPr>
        <p:txBody>
          <a:bodyPr wrap="square" lIns="38100" tIns="38100" rIns="38100" bIns="38100" rtlCol="0" anchor="ctr"/>
          <a:lstStyle/>
          <a:p>
            <a:pPr algn="l" indent="0" marL="0">
              <a:buNone/>
            </a:pPr>
            <a:r>
              <a:rPr lang="en-US" sz="1150" dirty="0">
                <a:solidFill>
                  <a:srgbClr val="1A1A1A"/>
                </a:solidFill>
                <a:latin typeface="Cambria" pitchFamily="34" charset="0"/>
                <a:ea typeface="Cambria" pitchFamily="34" charset="-122"/>
                <a:cs typeface="Cambria" pitchFamily="34" charset="-120"/>
              </a:rPr>
              <a:t>Nhánh ứng viên</a:t>
            </a:r>
            <a:endParaRPr lang="en-US" sz="1150" dirty="0"/>
          </a:p>
        </p:txBody>
      </p:sp>
      <p:sp>
        <p:nvSpPr>
          <p:cNvPr id="77" name="Text 75"/>
          <p:cNvSpPr/>
          <p:nvPr/>
        </p:nvSpPr>
        <p:spPr>
          <a:xfrm>
            <a:off x="2788920" y="3703320"/>
            <a:ext cx="822960" cy="365760"/>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46,9</a:t>
            </a:r>
            <a:endParaRPr lang="en-US" sz="1150" dirty="0"/>
          </a:p>
        </p:txBody>
      </p:sp>
      <p:sp>
        <p:nvSpPr>
          <p:cNvPr id="78" name="Text 76"/>
          <p:cNvSpPr/>
          <p:nvPr/>
        </p:nvSpPr>
        <p:spPr>
          <a:xfrm>
            <a:off x="3611880" y="3703320"/>
            <a:ext cx="868680" cy="365760"/>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34,2</a:t>
            </a:r>
            <a:endParaRPr lang="en-US" sz="1150" dirty="0"/>
          </a:p>
        </p:txBody>
      </p:sp>
      <p:sp>
        <p:nvSpPr>
          <p:cNvPr id="79" name="Text 77"/>
          <p:cNvSpPr/>
          <p:nvPr/>
        </p:nvSpPr>
        <p:spPr>
          <a:xfrm>
            <a:off x="4480560" y="3703320"/>
            <a:ext cx="868680" cy="365760"/>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63,3</a:t>
            </a:r>
            <a:endParaRPr lang="en-US" sz="1150" dirty="0"/>
          </a:p>
        </p:txBody>
      </p:sp>
      <p:sp>
        <p:nvSpPr>
          <p:cNvPr id="80" name="Text 78"/>
          <p:cNvSpPr/>
          <p:nvPr/>
        </p:nvSpPr>
        <p:spPr>
          <a:xfrm>
            <a:off x="5349240" y="3703320"/>
            <a:ext cx="868680" cy="365760"/>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370,6</a:t>
            </a:r>
            <a:endParaRPr lang="en-US" sz="1150" dirty="0"/>
          </a:p>
        </p:txBody>
      </p:sp>
      <p:sp>
        <p:nvSpPr>
          <p:cNvPr id="81" name="Text 79"/>
          <p:cNvSpPr/>
          <p:nvPr/>
        </p:nvSpPr>
        <p:spPr>
          <a:xfrm>
            <a:off x="6217920" y="3703320"/>
            <a:ext cx="777240" cy="365760"/>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39,3</a:t>
            </a:r>
            <a:endParaRPr lang="en-US" sz="1150" dirty="0"/>
          </a:p>
        </p:txBody>
      </p:sp>
      <p:sp>
        <p:nvSpPr>
          <p:cNvPr id="82" name="Text 80"/>
          <p:cNvSpPr/>
          <p:nvPr/>
        </p:nvSpPr>
        <p:spPr>
          <a:xfrm>
            <a:off x="6995160" y="3703320"/>
            <a:ext cx="731520" cy="365760"/>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57,7</a:t>
            </a:r>
            <a:endParaRPr lang="en-US" sz="1150" dirty="0"/>
          </a:p>
        </p:txBody>
      </p:sp>
      <p:sp>
        <p:nvSpPr>
          <p:cNvPr id="83" name="Text 81"/>
          <p:cNvSpPr/>
          <p:nvPr/>
        </p:nvSpPr>
        <p:spPr>
          <a:xfrm>
            <a:off x="7726680" y="3703320"/>
            <a:ext cx="960120" cy="365760"/>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62,8</a:t>
            </a:r>
            <a:endParaRPr lang="en-US" sz="1150" dirty="0"/>
          </a:p>
        </p:txBody>
      </p:sp>
      <p:sp>
        <p:nvSpPr>
          <p:cNvPr id="84" name="Shape 82"/>
          <p:cNvSpPr/>
          <p:nvPr/>
        </p:nvSpPr>
        <p:spPr>
          <a:xfrm>
            <a:off x="457200" y="4069080"/>
            <a:ext cx="8229600" cy="0"/>
          </a:xfrm>
          <a:prstGeom prst="line">
            <a:avLst/>
          </a:prstGeom>
          <a:noFill/>
          <a:ln w="19050">
            <a:solidFill>
              <a:srgbClr val="322164"/>
            </a:solidFill>
            <a:prstDash val="solid"/>
          </a:ln>
        </p:spPr>
      </p:sp>
      <p:sp>
        <p:nvSpPr>
          <p:cNvPr id="85" name="Text 83"/>
          <p:cNvSpPr/>
          <p:nvPr/>
        </p:nvSpPr>
        <p:spPr>
          <a:xfrm>
            <a:off x="457200" y="4069080"/>
            <a:ext cx="2331720" cy="365760"/>
          </a:xfrm>
          <a:prstGeom prst="rect">
            <a:avLst/>
          </a:prstGeom>
          <a:noFill/>
          <a:ln/>
        </p:spPr>
        <p:txBody>
          <a:bodyPr wrap="square" lIns="38100" tIns="38100" rIns="38100" bIns="38100" rtlCol="0" anchor="ctr"/>
          <a:lstStyle/>
          <a:p>
            <a:pPr algn="l" indent="0" marL="0">
              <a:buNone/>
            </a:pPr>
            <a:r>
              <a:rPr lang="en-US" sz="1150" b="1" dirty="0">
                <a:solidFill>
                  <a:srgbClr val="1A1A1A"/>
                </a:solidFill>
                <a:latin typeface="Cambria" pitchFamily="34" charset="0"/>
                <a:ea typeface="Cambria" pitchFamily="34" charset="-122"/>
                <a:cs typeface="Cambria" pitchFamily="34" charset="-120"/>
              </a:rPr>
              <a:t>Thưởng SPICE (đề xuất)</a:t>
            </a:r>
            <a:endParaRPr lang="en-US" sz="1150" dirty="0"/>
          </a:p>
        </p:txBody>
      </p:sp>
      <p:sp>
        <p:nvSpPr>
          <p:cNvPr id="86" name="Text 84"/>
          <p:cNvSpPr/>
          <p:nvPr/>
        </p:nvSpPr>
        <p:spPr>
          <a:xfrm>
            <a:off x="2788920" y="4069080"/>
            <a:ext cx="822960" cy="365760"/>
          </a:xfrm>
          <a:prstGeom prst="rect">
            <a:avLst/>
          </a:prstGeom>
          <a:noFill/>
          <a:ln/>
        </p:spPr>
        <p:txBody>
          <a:bodyPr wrap="square" lIns="38100" tIns="38100" rIns="38100" bIns="38100" rtlCol="0" anchor="ctr"/>
          <a:lstStyle/>
          <a:p>
            <a:pPr algn="ctr" indent="0" marL="0">
              <a:buNone/>
            </a:pPr>
            <a:r>
              <a:rPr lang="en-US" sz="1150" b="1" dirty="0">
                <a:solidFill>
                  <a:srgbClr val="322164"/>
                </a:solidFill>
                <a:latin typeface="Cambria" pitchFamily="34" charset="0"/>
                <a:ea typeface="Cambria" pitchFamily="34" charset="-122"/>
                <a:cs typeface="Cambria" pitchFamily="34" charset="-120"/>
              </a:rPr>
              <a:t>52,4</a:t>
            </a:r>
            <a:endParaRPr lang="en-US" sz="1150" dirty="0"/>
          </a:p>
        </p:txBody>
      </p:sp>
      <p:sp>
        <p:nvSpPr>
          <p:cNvPr id="87" name="Text 85"/>
          <p:cNvSpPr/>
          <p:nvPr/>
        </p:nvSpPr>
        <p:spPr>
          <a:xfrm>
            <a:off x="3611880" y="4069080"/>
            <a:ext cx="868680" cy="365760"/>
          </a:xfrm>
          <a:prstGeom prst="rect">
            <a:avLst/>
          </a:prstGeom>
          <a:noFill/>
          <a:ln/>
        </p:spPr>
        <p:txBody>
          <a:bodyPr wrap="square" lIns="38100" tIns="38100" rIns="38100" bIns="38100" rtlCol="0" anchor="ctr"/>
          <a:lstStyle/>
          <a:p>
            <a:pPr algn="ctr" indent="0" marL="0">
              <a:buNone/>
            </a:pPr>
            <a:r>
              <a:rPr lang="en-US" sz="1150" b="1" dirty="0">
                <a:solidFill>
                  <a:srgbClr val="322164"/>
                </a:solidFill>
                <a:latin typeface="Cambria" pitchFamily="34" charset="0"/>
                <a:ea typeface="Cambria" pitchFamily="34" charset="-122"/>
                <a:cs typeface="Cambria" pitchFamily="34" charset="-120"/>
              </a:rPr>
              <a:t>37,9</a:t>
            </a:r>
            <a:endParaRPr lang="en-US" sz="1150" dirty="0"/>
          </a:p>
        </p:txBody>
      </p:sp>
      <p:sp>
        <p:nvSpPr>
          <p:cNvPr id="88" name="Text 86"/>
          <p:cNvSpPr/>
          <p:nvPr/>
        </p:nvSpPr>
        <p:spPr>
          <a:xfrm>
            <a:off x="4480560" y="4069080"/>
            <a:ext cx="868680" cy="365760"/>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68,4</a:t>
            </a:r>
            <a:endParaRPr lang="en-US" sz="1150" dirty="0"/>
          </a:p>
        </p:txBody>
      </p:sp>
      <p:sp>
        <p:nvSpPr>
          <p:cNvPr id="89" name="Text 87"/>
          <p:cNvSpPr/>
          <p:nvPr/>
        </p:nvSpPr>
        <p:spPr>
          <a:xfrm>
            <a:off x="5349240" y="4069080"/>
            <a:ext cx="868680" cy="365760"/>
          </a:xfrm>
          <a:prstGeom prst="rect">
            <a:avLst/>
          </a:prstGeom>
          <a:noFill/>
          <a:ln/>
        </p:spPr>
        <p:txBody>
          <a:bodyPr wrap="square" lIns="38100" tIns="38100" rIns="38100" bIns="38100" rtlCol="0" anchor="ctr"/>
          <a:lstStyle/>
          <a:p>
            <a:pPr algn="ctr" indent="0" marL="0">
              <a:buNone/>
            </a:pPr>
            <a:r>
              <a:rPr lang="en-US" sz="1150" b="1" dirty="0">
                <a:solidFill>
                  <a:srgbClr val="322164"/>
                </a:solidFill>
                <a:latin typeface="Cambria" pitchFamily="34" charset="0"/>
                <a:ea typeface="Cambria" pitchFamily="34" charset="-122"/>
                <a:cs typeface="Cambria" pitchFamily="34" charset="-120"/>
              </a:rPr>
              <a:t>430,1</a:t>
            </a:r>
            <a:endParaRPr lang="en-US" sz="1150" dirty="0"/>
          </a:p>
        </p:txBody>
      </p:sp>
      <p:sp>
        <p:nvSpPr>
          <p:cNvPr id="90" name="Text 88"/>
          <p:cNvSpPr/>
          <p:nvPr/>
        </p:nvSpPr>
        <p:spPr>
          <a:xfrm>
            <a:off x="6217920" y="4069080"/>
            <a:ext cx="777240" cy="365760"/>
          </a:xfrm>
          <a:prstGeom prst="rect">
            <a:avLst/>
          </a:prstGeom>
          <a:noFill/>
          <a:ln/>
        </p:spPr>
        <p:txBody>
          <a:bodyPr wrap="square" lIns="38100" tIns="38100" rIns="38100" bIns="38100" rtlCol="0" anchor="ctr"/>
          <a:lstStyle/>
          <a:p>
            <a:pPr algn="ctr" indent="0" marL="0">
              <a:buNone/>
            </a:pPr>
            <a:r>
              <a:rPr lang="en-US" sz="1150" b="1" dirty="0">
                <a:solidFill>
                  <a:srgbClr val="322164"/>
                </a:solidFill>
                <a:latin typeface="Cambria" pitchFamily="34" charset="0"/>
                <a:ea typeface="Cambria" pitchFamily="34" charset="-122"/>
                <a:cs typeface="Cambria" pitchFamily="34" charset="-120"/>
              </a:rPr>
              <a:t>45,8</a:t>
            </a:r>
            <a:endParaRPr lang="en-US" sz="1150" dirty="0"/>
          </a:p>
        </p:txBody>
      </p:sp>
      <p:sp>
        <p:nvSpPr>
          <p:cNvPr id="91" name="Text 89"/>
          <p:cNvSpPr/>
          <p:nvPr/>
        </p:nvSpPr>
        <p:spPr>
          <a:xfrm>
            <a:off x="6995160" y="4069080"/>
            <a:ext cx="731520" cy="365760"/>
          </a:xfrm>
          <a:prstGeom prst="rect">
            <a:avLst/>
          </a:prstGeom>
          <a:noFill/>
          <a:ln/>
        </p:spPr>
        <p:txBody>
          <a:bodyPr wrap="square" lIns="38100" tIns="38100" rIns="38100" bIns="38100" rtlCol="0" anchor="ctr"/>
          <a:lstStyle/>
          <a:p>
            <a:pPr algn="ctr" indent="0" marL="0">
              <a:buNone/>
            </a:pPr>
            <a:r>
              <a:rPr lang="en-US" sz="1150" b="1" dirty="0">
                <a:solidFill>
                  <a:srgbClr val="322164"/>
                </a:solidFill>
                <a:latin typeface="Cambria" pitchFamily="34" charset="0"/>
                <a:ea typeface="Cambria" pitchFamily="34" charset="-122"/>
                <a:cs typeface="Cambria" pitchFamily="34" charset="-120"/>
              </a:rPr>
              <a:t>62,9</a:t>
            </a:r>
            <a:endParaRPr lang="en-US" sz="1150" dirty="0"/>
          </a:p>
        </p:txBody>
      </p:sp>
      <p:sp>
        <p:nvSpPr>
          <p:cNvPr id="92" name="Text 90"/>
          <p:cNvSpPr/>
          <p:nvPr/>
        </p:nvSpPr>
        <p:spPr>
          <a:xfrm>
            <a:off x="7726680" y="4069080"/>
            <a:ext cx="960120" cy="365760"/>
          </a:xfrm>
          <a:prstGeom prst="rect">
            <a:avLst/>
          </a:prstGeom>
          <a:noFill/>
          <a:ln/>
        </p:spPr>
        <p:txBody>
          <a:bodyPr wrap="square" lIns="38100" tIns="38100" rIns="38100" bIns="38100" rtlCol="0" anchor="ctr"/>
          <a:lstStyle/>
          <a:p>
            <a:pPr algn="ctr" indent="0" marL="0">
              <a:buNone/>
            </a:pPr>
            <a:r>
              <a:rPr lang="en-US" sz="1150" b="1" dirty="0">
                <a:solidFill>
                  <a:srgbClr val="322164"/>
                </a:solidFill>
                <a:latin typeface="Cambria" pitchFamily="34" charset="0"/>
                <a:ea typeface="Cambria" pitchFamily="34" charset="-122"/>
                <a:cs typeface="Cambria" pitchFamily="34" charset="-120"/>
              </a:rPr>
              <a:t>67,1</a:t>
            </a:r>
            <a:endParaRPr lang="en-US" sz="1150" dirty="0"/>
          </a:p>
        </p:txBody>
      </p:sp>
      <p:sp>
        <p:nvSpPr>
          <p:cNvPr id="93" name="Shape 91"/>
          <p:cNvSpPr/>
          <p:nvPr/>
        </p:nvSpPr>
        <p:spPr>
          <a:xfrm>
            <a:off x="457200" y="4434840"/>
            <a:ext cx="8229600" cy="0"/>
          </a:xfrm>
          <a:prstGeom prst="line">
            <a:avLst/>
          </a:prstGeom>
          <a:noFill/>
          <a:ln w="12700">
            <a:solidFill>
              <a:srgbClr val="9A94AE"/>
            </a:solidFill>
            <a:prstDash val="solid"/>
          </a:ln>
        </p:spPr>
      </p:sp>
      <p:sp>
        <p:nvSpPr>
          <p:cNvPr id="94" name="Text 92"/>
          <p:cNvSpPr/>
          <p:nvPr/>
        </p:nvSpPr>
        <p:spPr>
          <a:xfrm>
            <a:off x="457200" y="4434840"/>
            <a:ext cx="2331720" cy="365760"/>
          </a:xfrm>
          <a:prstGeom prst="rect">
            <a:avLst/>
          </a:prstGeom>
          <a:noFill/>
          <a:ln/>
        </p:spPr>
        <p:txBody>
          <a:bodyPr wrap="square" lIns="38100" tIns="38100" rIns="38100" bIns="38100" rtlCol="0" anchor="ctr"/>
          <a:lstStyle/>
          <a:p>
            <a:pPr algn="l" indent="0" marL="0">
              <a:buNone/>
            </a:pPr>
            <a:r>
              <a:rPr lang="en-US" sz="1150" dirty="0">
                <a:solidFill>
                  <a:srgbClr val="1A1A1A"/>
                </a:solidFill>
                <a:latin typeface="Cambria" pitchFamily="34" charset="0"/>
                <a:ea typeface="Cambria" pitchFamily="34" charset="-122"/>
                <a:cs typeface="Cambria" pitchFamily="34" charset="-120"/>
              </a:rPr>
              <a:t>  + TAGE</a:t>
            </a:r>
            <a:endParaRPr lang="en-US" sz="1150" dirty="0"/>
          </a:p>
        </p:txBody>
      </p:sp>
      <p:sp>
        <p:nvSpPr>
          <p:cNvPr id="95" name="Text 93"/>
          <p:cNvSpPr/>
          <p:nvPr/>
        </p:nvSpPr>
        <p:spPr>
          <a:xfrm>
            <a:off x="2788920" y="4434840"/>
            <a:ext cx="822960" cy="365760"/>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a:t>
            </a:r>
            <a:endParaRPr lang="en-US" sz="1150" dirty="0"/>
          </a:p>
        </p:txBody>
      </p:sp>
      <p:sp>
        <p:nvSpPr>
          <p:cNvPr id="96" name="Text 94"/>
          <p:cNvSpPr/>
          <p:nvPr/>
        </p:nvSpPr>
        <p:spPr>
          <a:xfrm>
            <a:off x="3611880" y="4434840"/>
            <a:ext cx="868680" cy="365760"/>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a:t>
            </a:r>
            <a:endParaRPr lang="en-US" sz="1150" dirty="0"/>
          </a:p>
        </p:txBody>
      </p:sp>
      <p:sp>
        <p:nvSpPr>
          <p:cNvPr id="97" name="Text 95"/>
          <p:cNvSpPr/>
          <p:nvPr/>
        </p:nvSpPr>
        <p:spPr>
          <a:xfrm>
            <a:off x="4480560" y="4434840"/>
            <a:ext cx="868680" cy="365760"/>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a:t>
            </a:r>
            <a:endParaRPr lang="en-US" sz="1150" dirty="0"/>
          </a:p>
        </p:txBody>
      </p:sp>
      <p:sp>
        <p:nvSpPr>
          <p:cNvPr id="98" name="Text 96"/>
          <p:cNvSpPr/>
          <p:nvPr/>
        </p:nvSpPr>
        <p:spPr>
          <a:xfrm>
            <a:off x="5349240" y="4434840"/>
            <a:ext cx="868680" cy="365760"/>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a:t>
            </a:r>
            <a:endParaRPr lang="en-US" sz="1150" dirty="0"/>
          </a:p>
        </p:txBody>
      </p:sp>
      <p:sp>
        <p:nvSpPr>
          <p:cNvPr id="99" name="Text 97"/>
          <p:cNvSpPr/>
          <p:nvPr/>
        </p:nvSpPr>
        <p:spPr>
          <a:xfrm>
            <a:off x="6217920" y="4434840"/>
            <a:ext cx="777240" cy="365760"/>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45,7</a:t>
            </a:r>
            <a:endParaRPr lang="en-US" sz="1150" dirty="0"/>
          </a:p>
        </p:txBody>
      </p:sp>
      <p:sp>
        <p:nvSpPr>
          <p:cNvPr id="100" name="Text 98"/>
          <p:cNvSpPr/>
          <p:nvPr/>
        </p:nvSpPr>
        <p:spPr>
          <a:xfrm>
            <a:off x="6995160" y="4434840"/>
            <a:ext cx="731520" cy="365760"/>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a:t>
            </a:r>
            <a:endParaRPr lang="en-US" sz="1150" dirty="0"/>
          </a:p>
        </p:txBody>
      </p:sp>
      <p:sp>
        <p:nvSpPr>
          <p:cNvPr id="101" name="Text 99"/>
          <p:cNvSpPr/>
          <p:nvPr/>
        </p:nvSpPr>
        <p:spPr>
          <a:xfrm>
            <a:off x="7726680" y="4434840"/>
            <a:ext cx="960120" cy="365760"/>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a:t>
            </a:r>
            <a:endParaRPr lang="en-US" sz="1150" dirty="0"/>
          </a:p>
        </p:txBody>
      </p:sp>
      <p:sp>
        <p:nvSpPr>
          <p:cNvPr id="102" name="Shape 100"/>
          <p:cNvSpPr/>
          <p:nvPr/>
        </p:nvSpPr>
        <p:spPr>
          <a:xfrm>
            <a:off x="457200" y="4800600"/>
            <a:ext cx="8229600" cy="0"/>
          </a:xfrm>
          <a:prstGeom prst="line">
            <a:avLst/>
          </a:prstGeom>
          <a:noFill/>
          <a:ln w="19050">
            <a:solidFill>
              <a:srgbClr val="322164"/>
            </a:solidFill>
            <a:prstDash val="solid"/>
          </a:ln>
        </p:spPr>
      </p:sp>
      <p:sp>
        <p:nvSpPr>
          <p:cNvPr id="103" name="Text 101"/>
          <p:cNvSpPr/>
          <p:nvPr/>
        </p:nvSpPr>
        <p:spPr>
          <a:xfrm>
            <a:off x="457200" y="4800600"/>
            <a:ext cx="2331720" cy="365760"/>
          </a:xfrm>
          <a:prstGeom prst="rect">
            <a:avLst/>
          </a:prstGeom>
          <a:noFill/>
          <a:ln/>
        </p:spPr>
        <p:txBody>
          <a:bodyPr wrap="square" lIns="38100" tIns="38100" rIns="38100" bIns="38100" rtlCol="0" anchor="ctr"/>
          <a:lstStyle/>
          <a:p>
            <a:pPr algn="l" indent="0" marL="0">
              <a:buNone/>
            </a:pPr>
            <a:r>
              <a:rPr lang="en-US" sz="1150" i="1" dirty="0">
                <a:solidFill>
                  <a:srgbClr val="1A1A1A"/>
                </a:solidFill>
                <a:latin typeface="Cambria" pitchFamily="34" charset="0"/>
                <a:ea typeface="Cambria" pitchFamily="34" charset="-122"/>
                <a:cs typeface="Cambria" pitchFamily="34" charset="-120"/>
              </a:rPr>
              <a:t>Câu chuẩn</a:t>
            </a:r>
            <a:endParaRPr lang="en-US" sz="1150" dirty="0"/>
          </a:p>
        </p:txBody>
      </p:sp>
      <p:sp>
        <p:nvSpPr>
          <p:cNvPr id="104" name="Text 102"/>
          <p:cNvSpPr/>
          <p:nvPr/>
        </p:nvSpPr>
        <p:spPr>
          <a:xfrm>
            <a:off x="2788920" y="4800600"/>
            <a:ext cx="822960" cy="365760"/>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100,0</a:t>
            </a:r>
            <a:endParaRPr lang="en-US" sz="1150" dirty="0"/>
          </a:p>
        </p:txBody>
      </p:sp>
      <p:sp>
        <p:nvSpPr>
          <p:cNvPr id="105" name="Text 103"/>
          <p:cNvSpPr/>
          <p:nvPr/>
        </p:nvSpPr>
        <p:spPr>
          <a:xfrm>
            <a:off x="3611880" y="4800600"/>
            <a:ext cx="868680" cy="365760"/>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100,0</a:t>
            </a:r>
            <a:endParaRPr lang="en-US" sz="1150" dirty="0"/>
          </a:p>
        </p:txBody>
      </p:sp>
      <p:sp>
        <p:nvSpPr>
          <p:cNvPr id="106" name="Text 104"/>
          <p:cNvSpPr/>
          <p:nvPr/>
        </p:nvSpPr>
        <p:spPr>
          <a:xfrm>
            <a:off x="4480560" y="4800600"/>
            <a:ext cx="868680" cy="365760"/>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100,0</a:t>
            </a:r>
            <a:endParaRPr lang="en-US" sz="1150" dirty="0"/>
          </a:p>
        </p:txBody>
      </p:sp>
      <p:sp>
        <p:nvSpPr>
          <p:cNvPr id="107" name="Text 105"/>
          <p:cNvSpPr/>
          <p:nvPr/>
        </p:nvSpPr>
        <p:spPr>
          <a:xfrm>
            <a:off x="5349240" y="4800600"/>
            <a:ext cx="868680" cy="365760"/>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988,7</a:t>
            </a:r>
            <a:endParaRPr lang="en-US" sz="1150" dirty="0"/>
          </a:p>
        </p:txBody>
      </p:sp>
      <p:sp>
        <p:nvSpPr>
          <p:cNvPr id="108" name="Text 106"/>
          <p:cNvSpPr/>
          <p:nvPr/>
        </p:nvSpPr>
        <p:spPr>
          <a:xfrm>
            <a:off x="6217920" y="4800600"/>
            <a:ext cx="777240" cy="365760"/>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98,6</a:t>
            </a:r>
            <a:endParaRPr lang="en-US" sz="1150" dirty="0"/>
          </a:p>
        </p:txBody>
      </p:sp>
      <p:sp>
        <p:nvSpPr>
          <p:cNvPr id="109" name="Text 107"/>
          <p:cNvSpPr/>
          <p:nvPr/>
        </p:nvSpPr>
        <p:spPr>
          <a:xfrm>
            <a:off x="6995160" y="4800600"/>
            <a:ext cx="731520" cy="365760"/>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100,0</a:t>
            </a:r>
            <a:endParaRPr lang="en-US" sz="1150" dirty="0"/>
          </a:p>
        </p:txBody>
      </p:sp>
      <p:sp>
        <p:nvSpPr>
          <p:cNvPr id="110" name="Text 108"/>
          <p:cNvSpPr/>
          <p:nvPr/>
        </p:nvSpPr>
        <p:spPr>
          <a:xfrm>
            <a:off x="7726680" y="4800600"/>
            <a:ext cx="960120" cy="365760"/>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100,0</a:t>
            </a:r>
            <a:endParaRPr lang="en-US" sz="1150" dirty="0"/>
          </a:p>
        </p:txBody>
      </p:sp>
      <p:sp>
        <p:nvSpPr>
          <p:cNvPr id="111" name="Text 109"/>
          <p:cNvSpPr/>
          <p:nvPr/>
        </p:nvSpPr>
        <p:spPr>
          <a:xfrm>
            <a:off x="457200" y="5440680"/>
            <a:ext cx="8229600" cy="914400"/>
          </a:xfrm>
          <a:prstGeom prst="rect">
            <a:avLst/>
          </a:prstGeom>
          <a:noFill/>
          <a:ln/>
        </p:spPr>
        <p:txBody>
          <a:bodyPr wrap="square" lIns="0" tIns="0" rIns="0" bIns="0" rtlCol="0" anchor="t"/>
          <a:lstStyle/>
          <a:p>
            <a:pPr algn="l" indent="0" marL="0">
              <a:lnSpc>
                <a:spcPct val="118000"/>
              </a:lnSpc>
              <a:buNone/>
            </a:pPr>
            <a:r>
              <a:rPr lang="en-US" sz="1100" i="1" dirty="0">
                <a:solidFill>
                  <a:srgbClr val="5A5A66"/>
                </a:solidFill>
                <a:latin typeface="Cambria" pitchFamily="34" charset="0"/>
                <a:ea typeface="Cambria" pitchFamily="34" charset="-122"/>
                <a:cs typeface="Cambria" pitchFamily="34" charset="-120"/>
              </a:rPr>
              <a:t>BLEU-4, METEOR, ROUGE-L, CIDEr-D, SPICE: bộ chấm COCO Captions, mức kho. chrF: sacreBLEU. BERTScore: F1 roberta-large, đã hiệu chỉnh. Một câu chuẩn mỗi bước nên CIDEr-D vượt 100 và chỉ so được giữa các hàng. Đây là các thước mà Widget Captioning và Screen2Words báo.</a:t>
            </a:r>
            <a:endParaRPr lang="en-US" sz="1100" dirty="0"/>
          </a:p>
        </p:txBody>
      </p:sp>
      <p:sp>
        <p:nvSpPr>
          <p:cNvPr id="113" name="Shape 110"/>
          <p:cNvSpPr/>
          <p:nvPr/>
        </p:nvSpPr>
        <p:spPr>
          <a:xfrm>
            <a:off x="0" y="6620256"/>
            <a:ext cx="2743200" cy="237744"/>
          </a:xfrm>
          <a:prstGeom prst="rect">
            <a:avLst/>
          </a:prstGeom>
          <a:solidFill>
            <a:srgbClr val="191132"/>
          </a:solidFill>
          <a:ln/>
        </p:spPr>
      </p:sp>
      <p:sp>
        <p:nvSpPr>
          <p:cNvPr id="114" name="Shape 111"/>
          <p:cNvSpPr/>
          <p:nvPr/>
        </p:nvSpPr>
        <p:spPr>
          <a:xfrm>
            <a:off x="2743200" y="6620256"/>
            <a:ext cx="3383280" cy="237744"/>
          </a:xfrm>
          <a:prstGeom prst="rect">
            <a:avLst/>
          </a:prstGeom>
          <a:solidFill>
            <a:srgbClr val="25194B"/>
          </a:solidFill>
          <a:ln/>
        </p:spPr>
      </p:sp>
      <p:sp>
        <p:nvSpPr>
          <p:cNvPr id="115" name="Shape 112"/>
          <p:cNvSpPr/>
          <p:nvPr/>
        </p:nvSpPr>
        <p:spPr>
          <a:xfrm>
            <a:off x="6126480" y="6620256"/>
            <a:ext cx="1737360" cy="237744"/>
          </a:xfrm>
          <a:prstGeom prst="rect">
            <a:avLst/>
          </a:prstGeom>
          <a:solidFill>
            <a:srgbClr val="4F417A"/>
          </a:solidFill>
          <a:ln/>
        </p:spPr>
      </p:sp>
      <p:sp>
        <p:nvSpPr>
          <p:cNvPr id="116" name="Shape 113"/>
          <p:cNvSpPr/>
          <p:nvPr/>
        </p:nvSpPr>
        <p:spPr>
          <a:xfrm>
            <a:off x="7863840" y="6620256"/>
            <a:ext cx="1280160" cy="237744"/>
          </a:xfrm>
          <a:prstGeom prst="rect">
            <a:avLst/>
          </a:prstGeom>
          <a:solidFill>
            <a:srgbClr val="7A7099"/>
          </a:solidFill>
          <a:ln/>
        </p:spPr>
      </p:sp>
      <p:sp>
        <p:nvSpPr>
          <p:cNvPr id="117" name="Text 114"/>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Luận văn thạc sĩ</a:t>
            </a:r>
            <a:endParaRPr lang="en-US" sz="800" dirty="0"/>
          </a:p>
        </p:txBody>
      </p:sp>
      <p:sp>
        <p:nvSpPr>
          <p:cNvPr id="118" name="Text 115"/>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Phát sinh tự động hướng dẫn sử dụng phần mềm dựa trên LLM</a:t>
            </a:r>
            <a:endParaRPr lang="en-US" sz="800" dirty="0"/>
          </a:p>
        </p:txBody>
      </p:sp>
      <p:sp>
        <p:nvSpPr>
          <p:cNvPr id="119" name="Text 116"/>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120" name="Text 117"/>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14/24</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Phân rã executability theo từng điều kiện</a:t>
            </a:r>
            <a:endParaRPr lang="en-US" sz="1900" dirty="0"/>
          </a:p>
        </p:txBody>
      </p:sp>
      <p:sp>
        <p:nvSpPr>
          <p:cNvPr id="4" name="Shape 2"/>
          <p:cNvSpPr/>
          <p:nvPr/>
        </p:nvSpPr>
        <p:spPr>
          <a:xfrm>
            <a:off x="457200" y="731520"/>
            <a:ext cx="8229600" cy="411480"/>
          </a:xfrm>
          <a:prstGeom prst="rect">
            <a:avLst/>
          </a:prstGeom>
          <a:solidFill>
            <a:srgbClr val="322164"/>
          </a:solidFill>
          <a:ln/>
        </p:spPr>
      </p:sp>
      <p:sp>
        <p:nvSpPr>
          <p:cNvPr id="5" name="Text 3"/>
          <p:cNvSpPr/>
          <p:nvPr/>
        </p:nvSpPr>
        <p:spPr>
          <a:xfrm>
            <a:off x="457200" y="731520"/>
            <a:ext cx="2743200" cy="411480"/>
          </a:xfrm>
          <a:prstGeom prst="rect">
            <a:avLst/>
          </a:prstGeom>
          <a:noFill/>
          <a:ln/>
        </p:spPr>
        <p:txBody>
          <a:bodyPr wrap="square" lIns="38100" tIns="38100" rIns="38100" bIns="38100" rtlCol="0" anchor="ctr"/>
          <a:lstStyle/>
          <a:p>
            <a:pPr algn="l" indent="0" marL="0">
              <a:buNone/>
            </a:pPr>
            <a:r>
              <a:rPr lang="en-US" sz="1150" b="1" dirty="0">
                <a:solidFill>
                  <a:srgbClr val="FFFFFF"/>
                </a:solidFill>
                <a:latin typeface="Cambria" pitchFamily="34" charset="0"/>
                <a:ea typeface="Cambria" pitchFamily="34" charset="-122"/>
                <a:cs typeface="Cambria" pitchFamily="34" charset="-120"/>
              </a:rPr>
              <a:t>Nhánh</a:t>
            </a:r>
            <a:endParaRPr lang="en-US" sz="1150" dirty="0"/>
          </a:p>
        </p:txBody>
      </p:sp>
      <p:sp>
        <p:nvSpPr>
          <p:cNvPr id="6" name="Text 4"/>
          <p:cNvSpPr/>
          <p:nvPr/>
        </p:nvSpPr>
        <p:spPr>
          <a:xfrm>
            <a:off x="3200400" y="731520"/>
            <a:ext cx="1325880" cy="411480"/>
          </a:xfrm>
          <a:prstGeom prst="rect">
            <a:avLst/>
          </a:prstGeom>
          <a:noFill/>
          <a:ln/>
        </p:spPr>
        <p:txBody>
          <a:bodyPr wrap="square" lIns="38100" tIns="38100" rIns="38100" bIns="38100" rtlCol="0" anchor="ctr"/>
          <a:lstStyle/>
          <a:p>
            <a:pPr algn="ctr" indent="0" marL="0">
              <a:buNone/>
            </a:pPr>
            <a:r>
              <a:rPr lang="en-US" sz="1150" b="1" dirty="0">
                <a:solidFill>
                  <a:srgbClr val="FFFFFF"/>
                </a:solidFill>
                <a:latin typeface="Cambria" pitchFamily="34" charset="0"/>
                <a:ea typeface="Cambria" pitchFamily="34" charset="-122"/>
                <a:cs typeface="Cambria" pitchFamily="34" charset="-120"/>
              </a:rPr>
              <a:t>Executable</a:t>
            </a:r>
            <a:endParaRPr lang="en-US" sz="1150" dirty="0"/>
          </a:p>
        </p:txBody>
      </p:sp>
      <p:sp>
        <p:nvSpPr>
          <p:cNvPr id="7" name="Text 5"/>
          <p:cNvSpPr/>
          <p:nvPr/>
        </p:nvSpPr>
        <p:spPr>
          <a:xfrm>
            <a:off x="4526280" y="731520"/>
            <a:ext cx="1417320" cy="411480"/>
          </a:xfrm>
          <a:prstGeom prst="rect">
            <a:avLst/>
          </a:prstGeom>
          <a:noFill/>
          <a:ln/>
        </p:spPr>
        <p:txBody>
          <a:bodyPr wrap="square" lIns="38100" tIns="38100" rIns="38100" bIns="38100" rtlCol="0" anchor="ctr"/>
          <a:lstStyle/>
          <a:p>
            <a:pPr algn="ctr" indent="0" marL="0">
              <a:buNone/>
            </a:pPr>
            <a:r>
              <a:rPr lang="en-US" sz="1150" b="1" dirty="0">
                <a:solidFill>
                  <a:srgbClr val="FFFFFF"/>
                </a:solidFill>
                <a:latin typeface="Cambria" pitchFamily="34" charset="0"/>
                <a:ea typeface="Cambria" pitchFamily="34" charset="-122"/>
                <a:cs typeface="Cambria" pitchFamily="34" charset="-120"/>
              </a:rPr>
              <a:t>Chỉ ô Voronoi</a:t>
            </a:r>
            <a:endParaRPr lang="en-US" sz="1150" dirty="0"/>
          </a:p>
        </p:txBody>
      </p:sp>
      <p:sp>
        <p:nvSpPr>
          <p:cNvPr id="8" name="Text 6"/>
          <p:cNvSpPr/>
          <p:nvPr/>
        </p:nvSpPr>
        <p:spPr>
          <a:xfrm>
            <a:off x="5943600" y="731520"/>
            <a:ext cx="1371600" cy="411480"/>
          </a:xfrm>
          <a:prstGeom prst="rect">
            <a:avLst/>
          </a:prstGeom>
          <a:noFill/>
          <a:ln/>
        </p:spPr>
        <p:txBody>
          <a:bodyPr wrap="square" lIns="38100" tIns="38100" rIns="38100" bIns="38100" rtlCol="0" anchor="ctr"/>
          <a:lstStyle/>
          <a:p>
            <a:pPr algn="ctr" indent="0" marL="0">
              <a:buNone/>
            </a:pPr>
            <a:r>
              <a:rPr lang="en-US" sz="1150" b="1" dirty="0">
                <a:solidFill>
                  <a:srgbClr val="FFFFFF"/>
                </a:solidFill>
                <a:latin typeface="Cambria" pitchFamily="34" charset="0"/>
                <a:ea typeface="Cambria" pitchFamily="34" charset="-122"/>
                <a:cs typeface="Cambria" pitchFamily="34" charset="-120"/>
              </a:rPr>
              <a:t>Khớp thao tác</a:t>
            </a:r>
            <a:endParaRPr lang="en-US" sz="1150" dirty="0"/>
          </a:p>
        </p:txBody>
      </p:sp>
      <p:sp>
        <p:nvSpPr>
          <p:cNvPr id="9" name="Text 7"/>
          <p:cNvSpPr/>
          <p:nvPr/>
        </p:nvSpPr>
        <p:spPr>
          <a:xfrm>
            <a:off x="7315200" y="731520"/>
            <a:ext cx="1371600" cy="411480"/>
          </a:xfrm>
          <a:prstGeom prst="rect">
            <a:avLst/>
          </a:prstGeom>
          <a:noFill/>
          <a:ln/>
        </p:spPr>
        <p:txBody>
          <a:bodyPr wrap="square" lIns="38100" tIns="38100" rIns="38100" bIns="38100" rtlCol="0" anchor="ctr"/>
          <a:lstStyle/>
          <a:p>
            <a:pPr algn="ctr" indent="0" marL="0">
              <a:buNone/>
            </a:pPr>
            <a:r>
              <a:rPr lang="en-US" sz="1150" b="1" dirty="0">
                <a:solidFill>
                  <a:srgbClr val="FFFFFF"/>
                </a:solidFill>
                <a:latin typeface="Cambria" pitchFamily="34" charset="0"/>
                <a:ea typeface="Cambria" pitchFamily="34" charset="-122"/>
                <a:cs typeface="Cambria" pitchFamily="34" charset="-120"/>
              </a:rPr>
              <a:t>Cửa sổ dung sai</a:t>
            </a:r>
            <a:endParaRPr lang="en-US" sz="1150" dirty="0"/>
          </a:p>
        </p:txBody>
      </p:sp>
      <p:sp>
        <p:nvSpPr>
          <p:cNvPr id="10" name="Text 8"/>
          <p:cNvSpPr/>
          <p:nvPr/>
        </p:nvSpPr>
        <p:spPr>
          <a:xfrm>
            <a:off x="457200" y="1143000"/>
            <a:ext cx="2743200" cy="365760"/>
          </a:xfrm>
          <a:prstGeom prst="rect">
            <a:avLst/>
          </a:prstGeom>
          <a:noFill/>
          <a:ln/>
        </p:spPr>
        <p:txBody>
          <a:bodyPr wrap="square" lIns="38100" tIns="38100" rIns="38100" bIns="38100" rtlCol="0" anchor="ctr"/>
          <a:lstStyle/>
          <a:p>
            <a:pPr algn="l" indent="0" marL="0">
              <a:buNone/>
            </a:pPr>
            <a:r>
              <a:rPr lang="en-US" sz="1200" i="1" dirty="0">
                <a:solidFill>
                  <a:srgbClr val="1A1A1A"/>
                </a:solidFill>
                <a:latin typeface="Cambria" pitchFamily="34" charset="0"/>
                <a:ea typeface="Cambria" pitchFamily="34" charset="-122"/>
                <a:cs typeface="Cambria" pitchFamily="34" charset="-120"/>
              </a:rPr>
              <a:t>Câu chuẩn (trần)</a:t>
            </a:r>
            <a:endParaRPr lang="en-US" sz="1200" dirty="0"/>
          </a:p>
        </p:txBody>
      </p:sp>
      <p:sp>
        <p:nvSpPr>
          <p:cNvPr id="11" name="Text 9"/>
          <p:cNvSpPr/>
          <p:nvPr/>
        </p:nvSpPr>
        <p:spPr>
          <a:xfrm>
            <a:off x="3200400" y="1143000"/>
            <a:ext cx="1325880" cy="365760"/>
          </a:xfrm>
          <a:prstGeom prst="rect">
            <a:avLst/>
          </a:prstGeom>
          <a:noFill/>
          <a:ln/>
        </p:spPr>
        <p:txBody>
          <a:bodyPr wrap="square" lIns="38100" tIns="38100" rIns="38100" bIns="38100" rtlCol="0" anchor="ctr"/>
          <a:lstStyle/>
          <a:p>
            <a:pPr algn="ctr" indent="0" marL="0">
              <a:buNone/>
            </a:pPr>
            <a:r>
              <a:rPr lang="en-US" sz="1200" dirty="0">
                <a:solidFill>
                  <a:srgbClr val="1A1A1A"/>
                </a:solidFill>
                <a:latin typeface="Cambria" pitchFamily="34" charset="0"/>
                <a:ea typeface="Cambria" pitchFamily="34" charset="-122"/>
                <a:cs typeface="Cambria" pitchFamily="34" charset="-120"/>
              </a:rPr>
              <a:t>75,7</a:t>
            </a:r>
            <a:endParaRPr lang="en-US" sz="1200" dirty="0"/>
          </a:p>
        </p:txBody>
      </p:sp>
      <p:sp>
        <p:nvSpPr>
          <p:cNvPr id="12" name="Text 10"/>
          <p:cNvSpPr/>
          <p:nvPr/>
        </p:nvSpPr>
        <p:spPr>
          <a:xfrm>
            <a:off x="4526280" y="1143000"/>
            <a:ext cx="1417320" cy="365760"/>
          </a:xfrm>
          <a:prstGeom prst="rect">
            <a:avLst/>
          </a:prstGeom>
          <a:noFill/>
          <a:ln/>
        </p:spPr>
        <p:txBody>
          <a:bodyPr wrap="square" lIns="38100" tIns="38100" rIns="38100" bIns="38100" rtlCol="0" anchor="ctr"/>
          <a:lstStyle/>
          <a:p>
            <a:pPr algn="ctr" indent="0" marL="0">
              <a:buNone/>
            </a:pPr>
            <a:r>
              <a:rPr lang="en-US" sz="1200" dirty="0">
                <a:solidFill>
                  <a:srgbClr val="1A1A1A"/>
                </a:solidFill>
                <a:latin typeface="Cambria" pitchFamily="34" charset="0"/>
                <a:ea typeface="Cambria" pitchFamily="34" charset="-122"/>
                <a:cs typeface="Cambria" pitchFamily="34" charset="-120"/>
              </a:rPr>
              <a:t>75,8</a:t>
            </a:r>
            <a:endParaRPr lang="en-US" sz="1200" dirty="0"/>
          </a:p>
        </p:txBody>
      </p:sp>
      <p:sp>
        <p:nvSpPr>
          <p:cNvPr id="13" name="Text 11"/>
          <p:cNvSpPr/>
          <p:nvPr/>
        </p:nvSpPr>
        <p:spPr>
          <a:xfrm>
            <a:off x="5943600" y="1143000"/>
            <a:ext cx="1371600" cy="365760"/>
          </a:xfrm>
          <a:prstGeom prst="rect">
            <a:avLst/>
          </a:prstGeom>
          <a:noFill/>
          <a:ln/>
        </p:spPr>
        <p:txBody>
          <a:bodyPr wrap="square" lIns="38100" tIns="38100" rIns="38100" bIns="38100" rtlCol="0" anchor="ctr"/>
          <a:lstStyle/>
          <a:p>
            <a:pPr algn="ctr" indent="0" marL="0">
              <a:buNone/>
            </a:pPr>
            <a:r>
              <a:rPr lang="en-US" sz="1200" dirty="0">
                <a:solidFill>
                  <a:srgbClr val="1A1A1A"/>
                </a:solidFill>
                <a:latin typeface="Cambria" pitchFamily="34" charset="0"/>
                <a:ea typeface="Cambria" pitchFamily="34" charset="-122"/>
                <a:cs typeface="Cambria" pitchFamily="34" charset="-120"/>
              </a:rPr>
              <a:t>100,0</a:t>
            </a:r>
            <a:endParaRPr lang="en-US" sz="1200" dirty="0"/>
          </a:p>
        </p:txBody>
      </p:sp>
      <p:sp>
        <p:nvSpPr>
          <p:cNvPr id="14" name="Text 12"/>
          <p:cNvSpPr/>
          <p:nvPr/>
        </p:nvSpPr>
        <p:spPr>
          <a:xfrm>
            <a:off x="7315200" y="1143000"/>
            <a:ext cx="1371600" cy="365760"/>
          </a:xfrm>
          <a:prstGeom prst="rect">
            <a:avLst/>
          </a:prstGeom>
          <a:noFill/>
          <a:ln/>
        </p:spPr>
        <p:txBody>
          <a:bodyPr wrap="square" lIns="38100" tIns="38100" rIns="38100" bIns="38100" rtlCol="0" anchor="ctr"/>
          <a:lstStyle/>
          <a:p>
            <a:pPr algn="ctr" indent="0" marL="0">
              <a:buNone/>
            </a:pPr>
            <a:r>
              <a:rPr lang="en-US" sz="1200" dirty="0">
                <a:solidFill>
                  <a:srgbClr val="1A1A1A"/>
                </a:solidFill>
                <a:latin typeface="Cambria" pitchFamily="34" charset="0"/>
                <a:ea typeface="Cambria" pitchFamily="34" charset="-122"/>
                <a:cs typeface="Cambria" pitchFamily="34" charset="-120"/>
              </a:rPr>
              <a:t>84,3</a:t>
            </a:r>
            <a:endParaRPr lang="en-US" sz="1200" dirty="0"/>
          </a:p>
        </p:txBody>
      </p:sp>
      <p:sp>
        <p:nvSpPr>
          <p:cNvPr id="15" name="Shape 13"/>
          <p:cNvSpPr/>
          <p:nvPr/>
        </p:nvSpPr>
        <p:spPr>
          <a:xfrm>
            <a:off x="457200" y="1508760"/>
            <a:ext cx="8229600" cy="0"/>
          </a:xfrm>
          <a:prstGeom prst="line">
            <a:avLst/>
          </a:prstGeom>
          <a:noFill/>
          <a:ln w="19050">
            <a:solidFill>
              <a:srgbClr val="322164"/>
            </a:solidFill>
            <a:prstDash val="solid"/>
          </a:ln>
        </p:spPr>
      </p:sp>
      <p:sp>
        <p:nvSpPr>
          <p:cNvPr id="16" name="Text 14"/>
          <p:cNvSpPr/>
          <p:nvPr/>
        </p:nvSpPr>
        <p:spPr>
          <a:xfrm>
            <a:off x="457200" y="1508760"/>
            <a:ext cx="2743200" cy="365760"/>
          </a:xfrm>
          <a:prstGeom prst="rect">
            <a:avLst/>
          </a:prstGeom>
          <a:noFill/>
          <a:ln/>
        </p:spPr>
        <p:txBody>
          <a:bodyPr wrap="square" lIns="38100" tIns="38100" rIns="38100" bIns="38100" rtlCol="0" anchor="ctr"/>
          <a:lstStyle/>
          <a:p>
            <a:pPr algn="l" indent="0" marL="0">
              <a:buNone/>
            </a:pPr>
            <a:r>
              <a:rPr lang="en-US" sz="1200" b="1" dirty="0">
                <a:solidFill>
                  <a:srgbClr val="1A1A1A"/>
                </a:solidFill>
                <a:latin typeface="Cambria" pitchFamily="34" charset="0"/>
                <a:ea typeface="Cambria" pitchFamily="34" charset="-122"/>
                <a:cs typeface="Cambria" pitchFamily="34" charset="-120"/>
              </a:rPr>
              <a:t>Thưởng SPICE (đề xuất)</a:t>
            </a:r>
            <a:endParaRPr lang="en-US" sz="1200" dirty="0"/>
          </a:p>
        </p:txBody>
      </p:sp>
      <p:sp>
        <p:nvSpPr>
          <p:cNvPr id="17" name="Text 15"/>
          <p:cNvSpPr/>
          <p:nvPr/>
        </p:nvSpPr>
        <p:spPr>
          <a:xfrm>
            <a:off x="3200400" y="1508760"/>
            <a:ext cx="1325880" cy="365760"/>
          </a:xfrm>
          <a:prstGeom prst="rect">
            <a:avLst/>
          </a:prstGeom>
          <a:noFill/>
          <a:ln/>
        </p:spPr>
        <p:txBody>
          <a:bodyPr wrap="square" lIns="38100" tIns="38100" rIns="38100" bIns="38100" rtlCol="0" anchor="ctr"/>
          <a:lstStyle/>
          <a:p>
            <a:pPr algn="ctr" indent="0" marL="0">
              <a:buNone/>
            </a:pPr>
            <a:r>
              <a:rPr lang="en-US" sz="1200" b="1" dirty="0">
                <a:solidFill>
                  <a:srgbClr val="1A1A1A"/>
                </a:solidFill>
                <a:latin typeface="Cambria" pitchFamily="34" charset="0"/>
                <a:ea typeface="Cambria" pitchFamily="34" charset="-122"/>
                <a:cs typeface="Cambria" pitchFamily="34" charset="-120"/>
              </a:rPr>
              <a:t>60,6</a:t>
            </a:r>
            <a:endParaRPr lang="en-US" sz="1200" dirty="0"/>
          </a:p>
        </p:txBody>
      </p:sp>
      <p:sp>
        <p:nvSpPr>
          <p:cNvPr id="18" name="Text 16"/>
          <p:cNvSpPr/>
          <p:nvPr/>
        </p:nvSpPr>
        <p:spPr>
          <a:xfrm>
            <a:off x="4526280" y="1508760"/>
            <a:ext cx="1417320" cy="365760"/>
          </a:xfrm>
          <a:prstGeom prst="rect">
            <a:avLst/>
          </a:prstGeom>
          <a:noFill/>
          <a:ln/>
        </p:spPr>
        <p:txBody>
          <a:bodyPr wrap="square" lIns="38100" tIns="38100" rIns="38100" bIns="38100" rtlCol="0" anchor="ctr"/>
          <a:lstStyle/>
          <a:p>
            <a:pPr algn="ctr" indent="0" marL="0">
              <a:buNone/>
            </a:pPr>
            <a:r>
              <a:rPr lang="en-US" sz="1200" dirty="0">
                <a:solidFill>
                  <a:srgbClr val="1A1A1A"/>
                </a:solidFill>
                <a:latin typeface="Cambria" pitchFamily="34" charset="0"/>
                <a:ea typeface="Cambria" pitchFamily="34" charset="-122"/>
                <a:cs typeface="Cambria" pitchFamily="34" charset="-120"/>
              </a:rPr>
              <a:t>61,4</a:t>
            </a:r>
            <a:endParaRPr lang="en-US" sz="1200" dirty="0"/>
          </a:p>
        </p:txBody>
      </p:sp>
      <p:sp>
        <p:nvSpPr>
          <p:cNvPr id="19" name="Text 17"/>
          <p:cNvSpPr/>
          <p:nvPr/>
        </p:nvSpPr>
        <p:spPr>
          <a:xfrm>
            <a:off x="5943600" y="1508760"/>
            <a:ext cx="1371600" cy="365760"/>
          </a:xfrm>
          <a:prstGeom prst="rect">
            <a:avLst/>
          </a:prstGeom>
          <a:noFill/>
          <a:ln/>
        </p:spPr>
        <p:txBody>
          <a:bodyPr wrap="square" lIns="38100" tIns="38100" rIns="38100" bIns="38100" rtlCol="0" anchor="ctr"/>
          <a:lstStyle/>
          <a:p>
            <a:pPr algn="ctr" indent="0" marL="0">
              <a:buNone/>
            </a:pPr>
            <a:r>
              <a:rPr lang="en-US" sz="1200" dirty="0">
                <a:solidFill>
                  <a:srgbClr val="1A1A1A"/>
                </a:solidFill>
                <a:latin typeface="Cambria" pitchFamily="34" charset="0"/>
                <a:ea typeface="Cambria" pitchFamily="34" charset="-122"/>
                <a:cs typeface="Cambria" pitchFamily="34" charset="-120"/>
              </a:rPr>
              <a:t>96,0</a:t>
            </a:r>
            <a:endParaRPr lang="en-US" sz="1200" dirty="0"/>
          </a:p>
        </p:txBody>
      </p:sp>
      <p:sp>
        <p:nvSpPr>
          <p:cNvPr id="20" name="Text 18"/>
          <p:cNvSpPr/>
          <p:nvPr/>
        </p:nvSpPr>
        <p:spPr>
          <a:xfrm>
            <a:off x="7315200" y="1508760"/>
            <a:ext cx="1371600" cy="365760"/>
          </a:xfrm>
          <a:prstGeom prst="rect">
            <a:avLst/>
          </a:prstGeom>
          <a:noFill/>
          <a:ln/>
        </p:spPr>
        <p:txBody>
          <a:bodyPr wrap="square" lIns="38100" tIns="38100" rIns="38100" bIns="38100" rtlCol="0" anchor="ctr"/>
          <a:lstStyle/>
          <a:p>
            <a:pPr algn="ctr" indent="0" marL="0">
              <a:buNone/>
            </a:pPr>
            <a:r>
              <a:rPr lang="en-US" sz="1200" dirty="0">
                <a:solidFill>
                  <a:srgbClr val="1A1A1A"/>
                </a:solidFill>
                <a:latin typeface="Cambria" pitchFamily="34" charset="0"/>
                <a:ea typeface="Cambria" pitchFamily="34" charset="-122"/>
                <a:cs typeface="Cambria" pitchFamily="34" charset="-120"/>
              </a:rPr>
              <a:t>70,3</a:t>
            </a:r>
            <a:endParaRPr lang="en-US" sz="1200" dirty="0"/>
          </a:p>
        </p:txBody>
      </p:sp>
      <p:sp>
        <p:nvSpPr>
          <p:cNvPr id="21" name="Shape 19"/>
          <p:cNvSpPr/>
          <p:nvPr/>
        </p:nvSpPr>
        <p:spPr>
          <a:xfrm>
            <a:off x="457200" y="1874520"/>
            <a:ext cx="8229600" cy="0"/>
          </a:xfrm>
          <a:prstGeom prst="line">
            <a:avLst/>
          </a:prstGeom>
          <a:noFill/>
          <a:ln w="12700">
            <a:solidFill>
              <a:srgbClr val="9A94AE"/>
            </a:solidFill>
            <a:prstDash val="solid"/>
          </a:ln>
        </p:spPr>
      </p:sp>
      <p:sp>
        <p:nvSpPr>
          <p:cNvPr id="22" name="Text 20"/>
          <p:cNvSpPr/>
          <p:nvPr/>
        </p:nvSpPr>
        <p:spPr>
          <a:xfrm>
            <a:off x="457200" y="1874520"/>
            <a:ext cx="2743200" cy="365760"/>
          </a:xfrm>
          <a:prstGeom prst="rect">
            <a:avLst/>
          </a:prstGeom>
          <a:noFill/>
          <a:ln/>
        </p:spPr>
        <p:txBody>
          <a:bodyPr wrap="square" lIns="38100" tIns="38100" rIns="38100" bIns="38100" rtlCol="0" anchor="ctr"/>
          <a:lstStyle/>
          <a:p>
            <a:pPr algn="l" indent="0" marL="0">
              <a:buNone/>
            </a:pPr>
            <a:r>
              <a:rPr lang="en-US" sz="1200" dirty="0">
                <a:solidFill>
                  <a:srgbClr val="1A1A1A"/>
                </a:solidFill>
                <a:latin typeface="Cambria" pitchFamily="34" charset="0"/>
                <a:ea typeface="Cambria" pitchFamily="34" charset="-122"/>
                <a:cs typeface="Cambria" pitchFamily="34" charset="-120"/>
              </a:rPr>
              <a:t>  + TAGE</a:t>
            </a:r>
            <a:endParaRPr lang="en-US" sz="1200" dirty="0"/>
          </a:p>
        </p:txBody>
      </p:sp>
      <p:sp>
        <p:nvSpPr>
          <p:cNvPr id="23" name="Text 21"/>
          <p:cNvSpPr/>
          <p:nvPr/>
        </p:nvSpPr>
        <p:spPr>
          <a:xfrm>
            <a:off x="3200400" y="1874520"/>
            <a:ext cx="1325880" cy="365760"/>
          </a:xfrm>
          <a:prstGeom prst="rect">
            <a:avLst/>
          </a:prstGeom>
          <a:noFill/>
          <a:ln/>
        </p:spPr>
        <p:txBody>
          <a:bodyPr wrap="square" lIns="38100" tIns="38100" rIns="38100" bIns="38100" rtlCol="0" anchor="ctr"/>
          <a:lstStyle/>
          <a:p>
            <a:pPr algn="ctr" indent="0" marL="0">
              <a:buNone/>
            </a:pPr>
            <a:r>
              <a:rPr lang="en-US" sz="1200" dirty="0">
                <a:solidFill>
                  <a:srgbClr val="1A1A1A"/>
                </a:solidFill>
                <a:latin typeface="Cambria" pitchFamily="34" charset="0"/>
                <a:ea typeface="Cambria" pitchFamily="34" charset="-122"/>
                <a:cs typeface="Cambria" pitchFamily="34" charset="-120"/>
              </a:rPr>
              <a:t>60,2</a:t>
            </a:r>
            <a:endParaRPr lang="en-US" sz="1200" dirty="0"/>
          </a:p>
        </p:txBody>
      </p:sp>
      <p:sp>
        <p:nvSpPr>
          <p:cNvPr id="24" name="Text 22"/>
          <p:cNvSpPr/>
          <p:nvPr/>
        </p:nvSpPr>
        <p:spPr>
          <a:xfrm>
            <a:off x="4526280" y="1874520"/>
            <a:ext cx="1417320" cy="365760"/>
          </a:xfrm>
          <a:prstGeom prst="rect">
            <a:avLst/>
          </a:prstGeom>
          <a:noFill/>
          <a:ln/>
        </p:spPr>
        <p:txBody>
          <a:bodyPr wrap="square" lIns="38100" tIns="38100" rIns="38100" bIns="38100" rtlCol="0" anchor="ctr"/>
          <a:lstStyle/>
          <a:p>
            <a:pPr algn="ctr" indent="0" marL="0">
              <a:buNone/>
            </a:pPr>
            <a:r>
              <a:rPr lang="en-US" sz="1200" dirty="0">
                <a:solidFill>
                  <a:srgbClr val="1A1A1A"/>
                </a:solidFill>
                <a:latin typeface="Cambria" pitchFamily="34" charset="0"/>
                <a:ea typeface="Cambria" pitchFamily="34" charset="-122"/>
                <a:cs typeface="Cambria" pitchFamily="34" charset="-120"/>
              </a:rPr>
              <a:t>61,0</a:t>
            </a:r>
            <a:endParaRPr lang="en-US" sz="1200" dirty="0"/>
          </a:p>
        </p:txBody>
      </p:sp>
      <p:sp>
        <p:nvSpPr>
          <p:cNvPr id="25" name="Text 23"/>
          <p:cNvSpPr/>
          <p:nvPr/>
        </p:nvSpPr>
        <p:spPr>
          <a:xfrm>
            <a:off x="5943600" y="1874520"/>
            <a:ext cx="1371600" cy="365760"/>
          </a:xfrm>
          <a:prstGeom prst="rect">
            <a:avLst/>
          </a:prstGeom>
          <a:noFill/>
          <a:ln/>
        </p:spPr>
        <p:txBody>
          <a:bodyPr wrap="square" lIns="38100" tIns="38100" rIns="38100" bIns="38100" rtlCol="0" anchor="ctr"/>
          <a:lstStyle/>
          <a:p>
            <a:pPr algn="ctr" indent="0" marL="0">
              <a:buNone/>
            </a:pPr>
            <a:r>
              <a:rPr lang="en-US" sz="1200" dirty="0">
                <a:solidFill>
                  <a:srgbClr val="1A1A1A"/>
                </a:solidFill>
                <a:latin typeface="Cambria" pitchFamily="34" charset="0"/>
                <a:ea typeface="Cambria" pitchFamily="34" charset="-122"/>
                <a:cs typeface="Cambria" pitchFamily="34" charset="-120"/>
              </a:rPr>
              <a:t>96,6</a:t>
            </a:r>
            <a:endParaRPr lang="en-US" sz="1200" dirty="0"/>
          </a:p>
        </p:txBody>
      </p:sp>
      <p:sp>
        <p:nvSpPr>
          <p:cNvPr id="26" name="Text 24"/>
          <p:cNvSpPr/>
          <p:nvPr/>
        </p:nvSpPr>
        <p:spPr>
          <a:xfrm>
            <a:off x="7315200" y="1874520"/>
            <a:ext cx="1371600" cy="365760"/>
          </a:xfrm>
          <a:prstGeom prst="rect">
            <a:avLst/>
          </a:prstGeom>
          <a:noFill/>
          <a:ln/>
        </p:spPr>
        <p:txBody>
          <a:bodyPr wrap="square" lIns="38100" tIns="38100" rIns="38100" bIns="38100" rtlCol="0" anchor="ctr"/>
          <a:lstStyle/>
          <a:p>
            <a:pPr algn="ctr" indent="0" marL="0">
              <a:buNone/>
            </a:pPr>
            <a:r>
              <a:rPr lang="en-US" sz="1200" dirty="0">
                <a:solidFill>
                  <a:srgbClr val="1A1A1A"/>
                </a:solidFill>
                <a:latin typeface="Cambria" pitchFamily="34" charset="0"/>
                <a:ea typeface="Cambria" pitchFamily="34" charset="-122"/>
                <a:cs typeface="Cambria" pitchFamily="34" charset="-120"/>
              </a:rPr>
              <a:t>70,1</a:t>
            </a:r>
            <a:endParaRPr lang="en-US" sz="1200" dirty="0"/>
          </a:p>
        </p:txBody>
      </p:sp>
      <p:sp>
        <p:nvSpPr>
          <p:cNvPr id="27" name="Shape 25"/>
          <p:cNvSpPr/>
          <p:nvPr/>
        </p:nvSpPr>
        <p:spPr>
          <a:xfrm>
            <a:off x="457200" y="2240280"/>
            <a:ext cx="8229600" cy="0"/>
          </a:xfrm>
          <a:prstGeom prst="line">
            <a:avLst/>
          </a:prstGeom>
          <a:noFill/>
          <a:ln w="12700">
            <a:solidFill>
              <a:srgbClr val="9A94AE"/>
            </a:solidFill>
            <a:prstDash val="solid"/>
          </a:ln>
        </p:spPr>
      </p:sp>
      <p:sp>
        <p:nvSpPr>
          <p:cNvPr id="28" name="Text 26"/>
          <p:cNvSpPr/>
          <p:nvPr/>
        </p:nvSpPr>
        <p:spPr>
          <a:xfrm>
            <a:off x="457200" y="2240280"/>
            <a:ext cx="2743200" cy="365760"/>
          </a:xfrm>
          <a:prstGeom prst="rect">
            <a:avLst/>
          </a:prstGeom>
          <a:noFill/>
          <a:ln/>
        </p:spPr>
        <p:txBody>
          <a:bodyPr wrap="square" lIns="38100" tIns="38100" rIns="38100" bIns="38100" rtlCol="0" anchor="ctr"/>
          <a:lstStyle/>
          <a:p>
            <a:pPr algn="l" indent="0" marL="0">
              <a:buNone/>
            </a:pPr>
            <a:r>
              <a:rPr lang="en-US" sz="1200" dirty="0">
                <a:solidFill>
                  <a:srgbClr val="1A1A1A"/>
                </a:solidFill>
                <a:latin typeface="Cambria" pitchFamily="34" charset="0"/>
                <a:ea typeface="Cambria" pitchFamily="34" charset="-122"/>
                <a:cs typeface="Cambria" pitchFamily="34" charset="-120"/>
              </a:rPr>
              <a:t>Chặng ba</a:t>
            </a:r>
            <a:endParaRPr lang="en-US" sz="1200" dirty="0"/>
          </a:p>
        </p:txBody>
      </p:sp>
      <p:sp>
        <p:nvSpPr>
          <p:cNvPr id="29" name="Text 27"/>
          <p:cNvSpPr/>
          <p:nvPr/>
        </p:nvSpPr>
        <p:spPr>
          <a:xfrm>
            <a:off x="3200400" y="2240280"/>
            <a:ext cx="1325880" cy="365760"/>
          </a:xfrm>
          <a:prstGeom prst="rect">
            <a:avLst/>
          </a:prstGeom>
          <a:noFill/>
          <a:ln/>
        </p:spPr>
        <p:txBody>
          <a:bodyPr wrap="square" lIns="38100" tIns="38100" rIns="38100" bIns="38100" rtlCol="0" anchor="ctr"/>
          <a:lstStyle/>
          <a:p>
            <a:pPr algn="ctr" indent="0" marL="0">
              <a:buNone/>
            </a:pPr>
            <a:r>
              <a:rPr lang="en-US" sz="1200" dirty="0">
                <a:solidFill>
                  <a:srgbClr val="1A1A1A"/>
                </a:solidFill>
                <a:latin typeface="Cambria" pitchFamily="34" charset="0"/>
                <a:ea typeface="Cambria" pitchFamily="34" charset="-122"/>
                <a:cs typeface="Cambria" pitchFamily="34" charset="-120"/>
              </a:rPr>
              <a:t>60,1</a:t>
            </a:r>
            <a:endParaRPr lang="en-US" sz="1200" dirty="0"/>
          </a:p>
        </p:txBody>
      </p:sp>
      <p:sp>
        <p:nvSpPr>
          <p:cNvPr id="30" name="Text 28"/>
          <p:cNvSpPr/>
          <p:nvPr/>
        </p:nvSpPr>
        <p:spPr>
          <a:xfrm>
            <a:off x="4526280" y="2240280"/>
            <a:ext cx="1417320" cy="365760"/>
          </a:xfrm>
          <a:prstGeom prst="rect">
            <a:avLst/>
          </a:prstGeom>
          <a:noFill/>
          <a:ln/>
        </p:spPr>
        <p:txBody>
          <a:bodyPr wrap="square" lIns="38100" tIns="38100" rIns="38100" bIns="38100" rtlCol="0" anchor="ctr"/>
          <a:lstStyle/>
          <a:p>
            <a:pPr algn="ctr" indent="0" marL="0">
              <a:buNone/>
            </a:pPr>
            <a:r>
              <a:rPr lang="en-US" sz="1200" dirty="0">
                <a:solidFill>
                  <a:srgbClr val="1A1A1A"/>
                </a:solidFill>
                <a:latin typeface="Cambria" pitchFamily="34" charset="0"/>
                <a:ea typeface="Cambria" pitchFamily="34" charset="-122"/>
                <a:cs typeface="Cambria" pitchFamily="34" charset="-120"/>
              </a:rPr>
              <a:t>60,5</a:t>
            </a:r>
            <a:endParaRPr lang="en-US" sz="1200" dirty="0"/>
          </a:p>
        </p:txBody>
      </p:sp>
      <p:sp>
        <p:nvSpPr>
          <p:cNvPr id="31" name="Text 29"/>
          <p:cNvSpPr/>
          <p:nvPr/>
        </p:nvSpPr>
        <p:spPr>
          <a:xfrm>
            <a:off x="5943600" y="2240280"/>
            <a:ext cx="1371600" cy="365760"/>
          </a:xfrm>
          <a:prstGeom prst="rect">
            <a:avLst/>
          </a:prstGeom>
          <a:noFill/>
          <a:ln/>
        </p:spPr>
        <p:txBody>
          <a:bodyPr wrap="square" lIns="38100" tIns="38100" rIns="38100" bIns="38100" rtlCol="0" anchor="ctr"/>
          <a:lstStyle/>
          <a:p>
            <a:pPr algn="ctr" indent="0" marL="0">
              <a:buNone/>
            </a:pPr>
            <a:r>
              <a:rPr lang="en-US" sz="1200" dirty="0">
                <a:solidFill>
                  <a:srgbClr val="1A1A1A"/>
                </a:solidFill>
                <a:latin typeface="Cambria" pitchFamily="34" charset="0"/>
                <a:ea typeface="Cambria" pitchFamily="34" charset="-122"/>
                <a:cs typeface="Cambria" pitchFamily="34" charset="-120"/>
              </a:rPr>
              <a:t>98,9</a:t>
            </a:r>
            <a:endParaRPr lang="en-US" sz="1200" dirty="0"/>
          </a:p>
        </p:txBody>
      </p:sp>
      <p:sp>
        <p:nvSpPr>
          <p:cNvPr id="32" name="Text 30"/>
          <p:cNvSpPr/>
          <p:nvPr/>
        </p:nvSpPr>
        <p:spPr>
          <a:xfrm>
            <a:off x="7315200" y="2240280"/>
            <a:ext cx="1371600" cy="365760"/>
          </a:xfrm>
          <a:prstGeom prst="rect">
            <a:avLst/>
          </a:prstGeom>
          <a:noFill/>
          <a:ln/>
        </p:spPr>
        <p:txBody>
          <a:bodyPr wrap="square" lIns="38100" tIns="38100" rIns="38100" bIns="38100" rtlCol="0" anchor="ctr"/>
          <a:lstStyle/>
          <a:p>
            <a:pPr algn="ctr" indent="0" marL="0">
              <a:buNone/>
            </a:pPr>
            <a:r>
              <a:rPr lang="en-US" sz="1200" dirty="0">
                <a:solidFill>
                  <a:srgbClr val="1A1A1A"/>
                </a:solidFill>
                <a:latin typeface="Cambria" pitchFamily="34" charset="0"/>
                <a:ea typeface="Cambria" pitchFamily="34" charset="-122"/>
                <a:cs typeface="Cambria" pitchFamily="34" charset="-120"/>
              </a:rPr>
              <a:t>69,9</a:t>
            </a:r>
            <a:endParaRPr lang="en-US" sz="1200" dirty="0"/>
          </a:p>
        </p:txBody>
      </p:sp>
      <p:sp>
        <p:nvSpPr>
          <p:cNvPr id="33" name="Shape 31"/>
          <p:cNvSpPr/>
          <p:nvPr/>
        </p:nvSpPr>
        <p:spPr>
          <a:xfrm>
            <a:off x="457200" y="2606040"/>
            <a:ext cx="8229600" cy="0"/>
          </a:xfrm>
          <a:prstGeom prst="line">
            <a:avLst/>
          </a:prstGeom>
          <a:noFill/>
          <a:ln w="12700">
            <a:solidFill>
              <a:srgbClr val="9A94AE"/>
            </a:solidFill>
            <a:prstDash val="solid"/>
          </a:ln>
        </p:spPr>
      </p:sp>
      <p:sp>
        <p:nvSpPr>
          <p:cNvPr id="34" name="Text 32"/>
          <p:cNvSpPr/>
          <p:nvPr/>
        </p:nvSpPr>
        <p:spPr>
          <a:xfrm>
            <a:off x="457200" y="2606040"/>
            <a:ext cx="2743200" cy="365760"/>
          </a:xfrm>
          <a:prstGeom prst="rect">
            <a:avLst/>
          </a:prstGeom>
          <a:noFill/>
          <a:ln/>
        </p:spPr>
        <p:txBody>
          <a:bodyPr wrap="square" lIns="38100" tIns="38100" rIns="38100" bIns="38100" rtlCol="0" anchor="ctr"/>
          <a:lstStyle/>
          <a:p>
            <a:pPr algn="l" indent="0" marL="0">
              <a:buNone/>
            </a:pPr>
            <a:r>
              <a:rPr lang="en-US" sz="1200" dirty="0">
                <a:solidFill>
                  <a:srgbClr val="1A1A1A"/>
                </a:solidFill>
                <a:latin typeface="Cambria" pitchFamily="34" charset="0"/>
                <a:ea typeface="Cambria" pitchFamily="34" charset="-122"/>
                <a:cs typeface="Cambria" pitchFamily="34" charset="-120"/>
              </a:rPr>
              <a:t>MIN-DESC</a:t>
            </a:r>
            <a:endParaRPr lang="en-US" sz="1200" dirty="0"/>
          </a:p>
        </p:txBody>
      </p:sp>
      <p:sp>
        <p:nvSpPr>
          <p:cNvPr id="35" name="Text 33"/>
          <p:cNvSpPr/>
          <p:nvPr/>
        </p:nvSpPr>
        <p:spPr>
          <a:xfrm>
            <a:off x="3200400" y="2606040"/>
            <a:ext cx="1325880" cy="365760"/>
          </a:xfrm>
          <a:prstGeom prst="rect">
            <a:avLst/>
          </a:prstGeom>
          <a:noFill/>
          <a:ln/>
        </p:spPr>
        <p:txBody>
          <a:bodyPr wrap="square" lIns="38100" tIns="38100" rIns="38100" bIns="38100" rtlCol="0" anchor="ctr"/>
          <a:lstStyle/>
          <a:p>
            <a:pPr algn="ctr" indent="0" marL="0">
              <a:buNone/>
            </a:pPr>
            <a:r>
              <a:rPr lang="en-US" sz="1200" dirty="0">
                <a:solidFill>
                  <a:srgbClr val="1A1A1A"/>
                </a:solidFill>
                <a:latin typeface="Cambria" pitchFamily="34" charset="0"/>
                <a:ea typeface="Cambria" pitchFamily="34" charset="-122"/>
                <a:cs typeface="Cambria" pitchFamily="34" charset="-120"/>
              </a:rPr>
              <a:t>60,0</a:t>
            </a:r>
            <a:endParaRPr lang="en-US" sz="1200" dirty="0"/>
          </a:p>
        </p:txBody>
      </p:sp>
      <p:sp>
        <p:nvSpPr>
          <p:cNvPr id="36" name="Text 34"/>
          <p:cNvSpPr/>
          <p:nvPr/>
        </p:nvSpPr>
        <p:spPr>
          <a:xfrm>
            <a:off x="4526280" y="2606040"/>
            <a:ext cx="1417320" cy="365760"/>
          </a:xfrm>
          <a:prstGeom prst="rect">
            <a:avLst/>
          </a:prstGeom>
          <a:noFill/>
          <a:ln/>
        </p:spPr>
        <p:txBody>
          <a:bodyPr wrap="square" lIns="38100" tIns="38100" rIns="38100" bIns="38100" rtlCol="0" anchor="ctr"/>
          <a:lstStyle/>
          <a:p>
            <a:pPr algn="ctr" indent="0" marL="0">
              <a:buNone/>
            </a:pPr>
            <a:r>
              <a:rPr lang="en-US" sz="1200" dirty="0">
                <a:solidFill>
                  <a:srgbClr val="1A1A1A"/>
                </a:solidFill>
                <a:latin typeface="Cambria" pitchFamily="34" charset="0"/>
                <a:ea typeface="Cambria" pitchFamily="34" charset="-122"/>
                <a:cs typeface="Cambria" pitchFamily="34" charset="-120"/>
              </a:rPr>
              <a:t>60,4</a:t>
            </a:r>
            <a:endParaRPr lang="en-US" sz="1200" dirty="0"/>
          </a:p>
        </p:txBody>
      </p:sp>
      <p:sp>
        <p:nvSpPr>
          <p:cNvPr id="37" name="Text 35"/>
          <p:cNvSpPr/>
          <p:nvPr/>
        </p:nvSpPr>
        <p:spPr>
          <a:xfrm>
            <a:off x="5943600" y="2606040"/>
            <a:ext cx="1371600" cy="365760"/>
          </a:xfrm>
          <a:prstGeom prst="rect">
            <a:avLst/>
          </a:prstGeom>
          <a:noFill/>
          <a:ln/>
        </p:spPr>
        <p:txBody>
          <a:bodyPr wrap="square" lIns="38100" tIns="38100" rIns="38100" bIns="38100" rtlCol="0" anchor="ctr"/>
          <a:lstStyle/>
          <a:p>
            <a:pPr algn="ctr" indent="0" marL="0">
              <a:buNone/>
            </a:pPr>
            <a:r>
              <a:rPr lang="en-US" sz="1200" dirty="0">
                <a:solidFill>
                  <a:srgbClr val="1A1A1A"/>
                </a:solidFill>
                <a:latin typeface="Cambria" pitchFamily="34" charset="0"/>
                <a:ea typeface="Cambria" pitchFamily="34" charset="-122"/>
                <a:cs typeface="Cambria" pitchFamily="34" charset="-120"/>
              </a:rPr>
              <a:t>98,9</a:t>
            </a:r>
            <a:endParaRPr lang="en-US" sz="1200" dirty="0"/>
          </a:p>
        </p:txBody>
      </p:sp>
      <p:sp>
        <p:nvSpPr>
          <p:cNvPr id="38" name="Text 36"/>
          <p:cNvSpPr/>
          <p:nvPr/>
        </p:nvSpPr>
        <p:spPr>
          <a:xfrm>
            <a:off x="7315200" y="2606040"/>
            <a:ext cx="1371600" cy="365760"/>
          </a:xfrm>
          <a:prstGeom prst="rect">
            <a:avLst/>
          </a:prstGeom>
          <a:noFill/>
          <a:ln/>
        </p:spPr>
        <p:txBody>
          <a:bodyPr wrap="square" lIns="38100" tIns="38100" rIns="38100" bIns="38100" rtlCol="0" anchor="ctr"/>
          <a:lstStyle/>
          <a:p>
            <a:pPr algn="ctr" indent="0" marL="0">
              <a:buNone/>
            </a:pPr>
            <a:r>
              <a:rPr lang="en-US" sz="1200" dirty="0">
                <a:solidFill>
                  <a:srgbClr val="1A1A1A"/>
                </a:solidFill>
                <a:latin typeface="Cambria" pitchFamily="34" charset="0"/>
                <a:ea typeface="Cambria" pitchFamily="34" charset="-122"/>
                <a:cs typeface="Cambria" pitchFamily="34" charset="-120"/>
              </a:rPr>
              <a:t>69,2</a:t>
            </a:r>
            <a:endParaRPr lang="en-US" sz="1200" dirty="0"/>
          </a:p>
        </p:txBody>
      </p:sp>
      <p:sp>
        <p:nvSpPr>
          <p:cNvPr id="39" name="Shape 37"/>
          <p:cNvSpPr/>
          <p:nvPr/>
        </p:nvSpPr>
        <p:spPr>
          <a:xfrm>
            <a:off x="457200" y="2971800"/>
            <a:ext cx="8229600" cy="0"/>
          </a:xfrm>
          <a:prstGeom prst="line">
            <a:avLst/>
          </a:prstGeom>
          <a:noFill/>
          <a:ln w="12700">
            <a:solidFill>
              <a:srgbClr val="9A94AE"/>
            </a:solidFill>
            <a:prstDash val="solid"/>
          </a:ln>
        </p:spPr>
      </p:sp>
      <p:sp>
        <p:nvSpPr>
          <p:cNvPr id="40" name="Text 38"/>
          <p:cNvSpPr/>
          <p:nvPr/>
        </p:nvSpPr>
        <p:spPr>
          <a:xfrm>
            <a:off x="457200" y="2971800"/>
            <a:ext cx="2743200" cy="365760"/>
          </a:xfrm>
          <a:prstGeom prst="rect">
            <a:avLst/>
          </a:prstGeom>
          <a:noFill/>
          <a:ln/>
        </p:spPr>
        <p:txBody>
          <a:bodyPr wrap="square" lIns="38100" tIns="38100" rIns="38100" bIns="38100" rtlCol="0" anchor="ctr"/>
          <a:lstStyle/>
          <a:p>
            <a:pPr algn="l" indent="0" marL="0">
              <a:buNone/>
            </a:pPr>
            <a:r>
              <a:rPr lang="en-US" sz="1200" dirty="0">
                <a:solidFill>
                  <a:srgbClr val="1A1A1A"/>
                </a:solidFill>
                <a:latin typeface="Cambria" pitchFamily="34" charset="0"/>
                <a:ea typeface="Cambria" pitchFamily="34" charset="-122"/>
                <a:cs typeface="Cambria" pitchFamily="34" charset="-120"/>
              </a:rPr>
              <a:t>S1 (hạt 202)</a:t>
            </a:r>
            <a:endParaRPr lang="en-US" sz="1200" dirty="0"/>
          </a:p>
        </p:txBody>
      </p:sp>
      <p:sp>
        <p:nvSpPr>
          <p:cNvPr id="41" name="Text 39"/>
          <p:cNvSpPr/>
          <p:nvPr/>
        </p:nvSpPr>
        <p:spPr>
          <a:xfrm>
            <a:off x="3200400" y="2971800"/>
            <a:ext cx="1325880" cy="365760"/>
          </a:xfrm>
          <a:prstGeom prst="rect">
            <a:avLst/>
          </a:prstGeom>
          <a:noFill/>
          <a:ln/>
        </p:spPr>
        <p:txBody>
          <a:bodyPr wrap="square" lIns="38100" tIns="38100" rIns="38100" bIns="38100" rtlCol="0" anchor="ctr"/>
          <a:lstStyle/>
          <a:p>
            <a:pPr algn="ctr" indent="0" marL="0">
              <a:buNone/>
            </a:pPr>
            <a:r>
              <a:rPr lang="en-US" sz="1200" dirty="0">
                <a:solidFill>
                  <a:srgbClr val="1A1A1A"/>
                </a:solidFill>
                <a:latin typeface="Cambria" pitchFamily="34" charset="0"/>
                <a:ea typeface="Cambria" pitchFamily="34" charset="-122"/>
                <a:cs typeface="Cambria" pitchFamily="34" charset="-120"/>
              </a:rPr>
              <a:t>59,6</a:t>
            </a:r>
            <a:endParaRPr lang="en-US" sz="1200" dirty="0"/>
          </a:p>
        </p:txBody>
      </p:sp>
      <p:sp>
        <p:nvSpPr>
          <p:cNvPr id="42" name="Text 40"/>
          <p:cNvSpPr/>
          <p:nvPr/>
        </p:nvSpPr>
        <p:spPr>
          <a:xfrm>
            <a:off x="4526280" y="2971800"/>
            <a:ext cx="1417320" cy="365760"/>
          </a:xfrm>
          <a:prstGeom prst="rect">
            <a:avLst/>
          </a:prstGeom>
          <a:noFill/>
          <a:ln/>
        </p:spPr>
        <p:txBody>
          <a:bodyPr wrap="square" lIns="38100" tIns="38100" rIns="38100" bIns="38100" rtlCol="0" anchor="ctr"/>
          <a:lstStyle/>
          <a:p>
            <a:pPr algn="ctr" indent="0" marL="0">
              <a:buNone/>
            </a:pPr>
            <a:r>
              <a:rPr lang="en-US" sz="1200" dirty="0">
                <a:solidFill>
                  <a:srgbClr val="1A1A1A"/>
                </a:solidFill>
                <a:latin typeface="Cambria" pitchFamily="34" charset="0"/>
                <a:ea typeface="Cambria" pitchFamily="34" charset="-122"/>
                <a:cs typeface="Cambria" pitchFamily="34" charset="-120"/>
              </a:rPr>
              <a:t>60,7</a:t>
            </a:r>
            <a:endParaRPr lang="en-US" sz="1200" dirty="0"/>
          </a:p>
        </p:txBody>
      </p:sp>
      <p:sp>
        <p:nvSpPr>
          <p:cNvPr id="43" name="Text 41"/>
          <p:cNvSpPr/>
          <p:nvPr/>
        </p:nvSpPr>
        <p:spPr>
          <a:xfrm>
            <a:off x="5943600" y="2971800"/>
            <a:ext cx="1371600" cy="365760"/>
          </a:xfrm>
          <a:prstGeom prst="rect">
            <a:avLst/>
          </a:prstGeom>
          <a:noFill/>
          <a:ln/>
        </p:spPr>
        <p:txBody>
          <a:bodyPr wrap="square" lIns="38100" tIns="38100" rIns="38100" bIns="38100" rtlCol="0" anchor="ctr"/>
          <a:lstStyle/>
          <a:p>
            <a:pPr algn="ctr" indent="0" marL="0">
              <a:buNone/>
            </a:pPr>
            <a:r>
              <a:rPr lang="en-US" sz="1200" dirty="0">
                <a:solidFill>
                  <a:srgbClr val="1A1A1A"/>
                </a:solidFill>
                <a:latin typeface="Cambria" pitchFamily="34" charset="0"/>
                <a:ea typeface="Cambria" pitchFamily="34" charset="-122"/>
                <a:cs typeface="Cambria" pitchFamily="34" charset="-120"/>
              </a:rPr>
              <a:t>94,6</a:t>
            </a:r>
            <a:endParaRPr lang="en-US" sz="1200" dirty="0"/>
          </a:p>
        </p:txBody>
      </p:sp>
      <p:sp>
        <p:nvSpPr>
          <p:cNvPr id="44" name="Text 42"/>
          <p:cNvSpPr/>
          <p:nvPr/>
        </p:nvSpPr>
        <p:spPr>
          <a:xfrm>
            <a:off x="7315200" y="2971800"/>
            <a:ext cx="1371600" cy="365760"/>
          </a:xfrm>
          <a:prstGeom prst="rect">
            <a:avLst/>
          </a:prstGeom>
          <a:noFill/>
          <a:ln/>
        </p:spPr>
        <p:txBody>
          <a:bodyPr wrap="square" lIns="38100" tIns="38100" rIns="38100" bIns="38100" rtlCol="0" anchor="ctr"/>
          <a:lstStyle/>
          <a:p>
            <a:pPr algn="ctr" indent="0" marL="0">
              <a:buNone/>
            </a:pPr>
            <a:r>
              <a:rPr lang="en-US" sz="1200" dirty="0">
                <a:solidFill>
                  <a:srgbClr val="1A1A1A"/>
                </a:solidFill>
                <a:latin typeface="Cambria" pitchFamily="34" charset="0"/>
                <a:ea typeface="Cambria" pitchFamily="34" charset="-122"/>
                <a:cs typeface="Cambria" pitchFamily="34" charset="-120"/>
              </a:rPr>
              <a:t>69,8</a:t>
            </a:r>
            <a:endParaRPr lang="en-US" sz="1200" dirty="0"/>
          </a:p>
        </p:txBody>
      </p:sp>
      <p:sp>
        <p:nvSpPr>
          <p:cNvPr id="45" name="Shape 43"/>
          <p:cNvSpPr/>
          <p:nvPr/>
        </p:nvSpPr>
        <p:spPr>
          <a:xfrm>
            <a:off x="457200" y="3337560"/>
            <a:ext cx="8229600" cy="0"/>
          </a:xfrm>
          <a:prstGeom prst="line">
            <a:avLst/>
          </a:prstGeom>
          <a:noFill/>
          <a:ln w="12700">
            <a:solidFill>
              <a:srgbClr val="9A94AE"/>
            </a:solidFill>
            <a:prstDash val="solid"/>
          </a:ln>
        </p:spPr>
      </p:sp>
      <p:sp>
        <p:nvSpPr>
          <p:cNvPr id="46" name="Text 44"/>
          <p:cNvSpPr/>
          <p:nvPr/>
        </p:nvSpPr>
        <p:spPr>
          <a:xfrm>
            <a:off x="457200" y="3337560"/>
            <a:ext cx="2743200" cy="365760"/>
          </a:xfrm>
          <a:prstGeom prst="rect">
            <a:avLst/>
          </a:prstGeom>
          <a:noFill/>
          <a:ln/>
        </p:spPr>
        <p:txBody>
          <a:bodyPr wrap="square" lIns="38100" tIns="38100" rIns="38100" bIns="38100" rtlCol="0" anchor="ctr"/>
          <a:lstStyle/>
          <a:p>
            <a:pPr algn="l" indent="0" marL="0">
              <a:buNone/>
            </a:pPr>
            <a:r>
              <a:rPr lang="en-US" sz="1200" dirty="0">
                <a:solidFill>
                  <a:srgbClr val="1A1A1A"/>
                </a:solidFill>
                <a:latin typeface="Cambria" pitchFamily="34" charset="0"/>
                <a:ea typeface="Cambria" pitchFamily="34" charset="-122"/>
                <a:cs typeface="Cambria" pitchFamily="34" charset="-120"/>
              </a:rPr>
              <a:t>CE2-S2</a:t>
            </a:r>
            <a:endParaRPr lang="en-US" sz="1200" dirty="0"/>
          </a:p>
        </p:txBody>
      </p:sp>
      <p:sp>
        <p:nvSpPr>
          <p:cNvPr id="47" name="Text 45"/>
          <p:cNvSpPr/>
          <p:nvPr/>
        </p:nvSpPr>
        <p:spPr>
          <a:xfrm>
            <a:off x="3200400" y="3337560"/>
            <a:ext cx="1325880" cy="365760"/>
          </a:xfrm>
          <a:prstGeom prst="rect">
            <a:avLst/>
          </a:prstGeom>
          <a:noFill/>
          <a:ln/>
        </p:spPr>
        <p:txBody>
          <a:bodyPr wrap="square" lIns="38100" tIns="38100" rIns="38100" bIns="38100" rtlCol="0" anchor="ctr"/>
          <a:lstStyle/>
          <a:p>
            <a:pPr algn="ctr" indent="0" marL="0">
              <a:buNone/>
            </a:pPr>
            <a:r>
              <a:rPr lang="en-US" sz="1200" dirty="0">
                <a:solidFill>
                  <a:srgbClr val="1A1A1A"/>
                </a:solidFill>
                <a:latin typeface="Cambria" pitchFamily="34" charset="0"/>
                <a:ea typeface="Cambria" pitchFamily="34" charset="-122"/>
                <a:cs typeface="Cambria" pitchFamily="34" charset="-120"/>
              </a:rPr>
              <a:t>59,4</a:t>
            </a:r>
            <a:endParaRPr lang="en-US" sz="1200" dirty="0"/>
          </a:p>
        </p:txBody>
      </p:sp>
      <p:sp>
        <p:nvSpPr>
          <p:cNvPr id="48" name="Text 46"/>
          <p:cNvSpPr/>
          <p:nvPr/>
        </p:nvSpPr>
        <p:spPr>
          <a:xfrm>
            <a:off x="4526280" y="3337560"/>
            <a:ext cx="1417320" cy="365760"/>
          </a:xfrm>
          <a:prstGeom prst="rect">
            <a:avLst/>
          </a:prstGeom>
          <a:noFill/>
          <a:ln/>
        </p:spPr>
        <p:txBody>
          <a:bodyPr wrap="square" lIns="38100" tIns="38100" rIns="38100" bIns="38100" rtlCol="0" anchor="ctr"/>
          <a:lstStyle/>
          <a:p>
            <a:pPr algn="ctr" indent="0" marL="0">
              <a:buNone/>
            </a:pPr>
            <a:r>
              <a:rPr lang="en-US" sz="1200" dirty="0">
                <a:solidFill>
                  <a:srgbClr val="1A1A1A"/>
                </a:solidFill>
                <a:latin typeface="Cambria" pitchFamily="34" charset="0"/>
                <a:ea typeface="Cambria" pitchFamily="34" charset="-122"/>
                <a:cs typeface="Cambria" pitchFamily="34" charset="-120"/>
              </a:rPr>
              <a:t>59,8</a:t>
            </a:r>
            <a:endParaRPr lang="en-US" sz="1200" dirty="0"/>
          </a:p>
        </p:txBody>
      </p:sp>
      <p:sp>
        <p:nvSpPr>
          <p:cNvPr id="49" name="Text 47"/>
          <p:cNvSpPr/>
          <p:nvPr/>
        </p:nvSpPr>
        <p:spPr>
          <a:xfrm>
            <a:off x="5943600" y="3337560"/>
            <a:ext cx="1371600" cy="365760"/>
          </a:xfrm>
          <a:prstGeom prst="rect">
            <a:avLst/>
          </a:prstGeom>
          <a:noFill/>
          <a:ln/>
        </p:spPr>
        <p:txBody>
          <a:bodyPr wrap="square" lIns="38100" tIns="38100" rIns="38100" bIns="38100" rtlCol="0" anchor="ctr"/>
          <a:lstStyle/>
          <a:p>
            <a:pPr algn="ctr" indent="0" marL="0">
              <a:buNone/>
            </a:pPr>
            <a:r>
              <a:rPr lang="en-US" sz="1200" dirty="0">
                <a:solidFill>
                  <a:srgbClr val="1A1A1A"/>
                </a:solidFill>
                <a:latin typeface="Cambria" pitchFamily="34" charset="0"/>
                <a:ea typeface="Cambria" pitchFamily="34" charset="-122"/>
                <a:cs typeface="Cambria" pitchFamily="34" charset="-120"/>
              </a:rPr>
              <a:t>98,9</a:t>
            </a:r>
            <a:endParaRPr lang="en-US" sz="1200" dirty="0"/>
          </a:p>
        </p:txBody>
      </p:sp>
      <p:sp>
        <p:nvSpPr>
          <p:cNvPr id="50" name="Text 48"/>
          <p:cNvSpPr/>
          <p:nvPr/>
        </p:nvSpPr>
        <p:spPr>
          <a:xfrm>
            <a:off x="7315200" y="3337560"/>
            <a:ext cx="1371600" cy="365760"/>
          </a:xfrm>
          <a:prstGeom prst="rect">
            <a:avLst/>
          </a:prstGeom>
          <a:noFill/>
          <a:ln/>
        </p:spPr>
        <p:txBody>
          <a:bodyPr wrap="square" lIns="38100" tIns="38100" rIns="38100" bIns="38100" rtlCol="0" anchor="ctr"/>
          <a:lstStyle/>
          <a:p>
            <a:pPr algn="ctr" indent="0" marL="0">
              <a:buNone/>
            </a:pPr>
            <a:r>
              <a:rPr lang="en-US" sz="1200" dirty="0">
                <a:solidFill>
                  <a:srgbClr val="1A1A1A"/>
                </a:solidFill>
                <a:latin typeface="Cambria" pitchFamily="34" charset="0"/>
                <a:ea typeface="Cambria" pitchFamily="34" charset="-122"/>
                <a:cs typeface="Cambria" pitchFamily="34" charset="-120"/>
              </a:rPr>
              <a:t>68,9</a:t>
            </a:r>
            <a:endParaRPr lang="en-US" sz="1200" dirty="0"/>
          </a:p>
        </p:txBody>
      </p:sp>
      <p:sp>
        <p:nvSpPr>
          <p:cNvPr id="51" name="Shape 49"/>
          <p:cNvSpPr/>
          <p:nvPr/>
        </p:nvSpPr>
        <p:spPr>
          <a:xfrm>
            <a:off x="457200" y="3703320"/>
            <a:ext cx="8229600" cy="0"/>
          </a:xfrm>
          <a:prstGeom prst="line">
            <a:avLst/>
          </a:prstGeom>
          <a:noFill/>
          <a:ln w="12700">
            <a:solidFill>
              <a:srgbClr val="9A94AE"/>
            </a:solidFill>
            <a:prstDash val="solid"/>
          </a:ln>
        </p:spPr>
      </p:sp>
      <p:sp>
        <p:nvSpPr>
          <p:cNvPr id="52" name="Text 50"/>
          <p:cNvSpPr/>
          <p:nvPr/>
        </p:nvSpPr>
        <p:spPr>
          <a:xfrm>
            <a:off x="457200" y="3703320"/>
            <a:ext cx="2743200" cy="365760"/>
          </a:xfrm>
          <a:prstGeom prst="rect">
            <a:avLst/>
          </a:prstGeom>
          <a:noFill/>
          <a:ln/>
        </p:spPr>
        <p:txBody>
          <a:bodyPr wrap="square" lIns="38100" tIns="38100" rIns="38100" bIns="38100" rtlCol="0" anchor="ctr"/>
          <a:lstStyle/>
          <a:p>
            <a:pPr algn="l" indent="0" marL="0">
              <a:buNone/>
            </a:pPr>
            <a:r>
              <a:rPr lang="en-US" sz="1200" dirty="0">
                <a:solidFill>
                  <a:srgbClr val="1A1A1A"/>
                </a:solidFill>
                <a:latin typeface="Cambria" pitchFamily="34" charset="0"/>
                <a:ea typeface="Cambria" pitchFamily="34" charset="-122"/>
                <a:cs typeface="Cambria" pitchFamily="34" charset="-120"/>
              </a:rPr>
              <a:t>S1 (hạt 101)</a:t>
            </a:r>
            <a:endParaRPr lang="en-US" sz="1200" dirty="0"/>
          </a:p>
        </p:txBody>
      </p:sp>
      <p:sp>
        <p:nvSpPr>
          <p:cNvPr id="53" name="Text 51"/>
          <p:cNvSpPr/>
          <p:nvPr/>
        </p:nvSpPr>
        <p:spPr>
          <a:xfrm>
            <a:off x="3200400" y="3703320"/>
            <a:ext cx="1325880" cy="365760"/>
          </a:xfrm>
          <a:prstGeom prst="rect">
            <a:avLst/>
          </a:prstGeom>
          <a:noFill/>
          <a:ln/>
        </p:spPr>
        <p:txBody>
          <a:bodyPr wrap="square" lIns="38100" tIns="38100" rIns="38100" bIns="38100" rtlCol="0" anchor="ctr"/>
          <a:lstStyle/>
          <a:p>
            <a:pPr algn="ctr" indent="0" marL="0">
              <a:buNone/>
            </a:pPr>
            <a:r>
              <a:rPr lang="en-US" sz="1200" dirty="0">
                <a:solidFill>
                  <a:srgbClr val="1A1A1A"/>
                </a:solidFill>
                <a:latin typeface="Cambria" pitchFamily="34" charset="0"/>
                <a:ea typeface="Cambria" pitchFamily="34" charset="-122"/>
                <a:cs typeface="Cambria" pitchFamily="34" charset="-120"/>
              </a:rPr>
              <a:t>59,1</a:t>
            </a:r>
            <a:endParaRPr lang="en-US" sz="1200" dirty="0"/>
          </a:p>
        </p:txBody>
      </p:sp>
      <p:sp>
        <p:nvSpPr>
          <p:cNvPr id="54" name="Text 52"/>
          <p:cNvSpPr/>
          <p:nvPr/>
        </p:nvSpPr>
        <p:spPr>
          <a:xfrm>
            <a:off x="4526280" y="3703320"/>
            <a:ext cx="1417320" cy="365760"/>
          </a:xfrm>
          <a:prstGeom prst="rect">
            <a:avLst/>
          </a:prstGeom>
          <a:noFill/>
          <a:ln/>
        </p:spPr>
        <p:txBody>
          <a:bodyPr wrap="square" lIns="38100" tIns="38100" rIns="38100" bIns="38100" rtlCol="0" anchor="ctr"/>
          <a:lstStyle/>
          <a:p>
            <a:pPr algn="ctr" indent="0" marL="0">
              <a:buNone/>
            </a:pPr>
            <a:r>
              <a:rPr lang="en-US" sz="1200" dirty="0">
                <a:solidFill>
                  <a:srgbClr val="1A1A1A"/>
                </a:solidFill>
                <a:latin typeface="Cambria" pitchFamily="34" charset="0"/>
                <a:ea typeface="Cambria" pitchFamily="34" charset="-122"/>
                <a:cs typeface="Cambria" pitchFamily="34" charset="-120"/>
              </a:rPr>
              <a:t>60,2</a:t>
            </a:r>
            <a:endParaRPr lang="en-US" sz="1200" dirty="0"/>
          </a:p>
        </p:txBody>
      </p:sp>
      <p:sp>
        <p:nvSpPr>
          <p:cNvPr id="55" name="Text 53"/>
          <p:cNvSpPr/>
          <p:nvPr/>
        </p:nvSpPr>
        <p:spPr>
          <a:xfrm>
            <a:off x="5943600" y="3703320"/>
            <a:ext cx="1371600" cy="365760"/>
          </a:xfrm>
          <a:prstGeom prst="rect">
            <a:avLst/>
          </a:prstGeom>
          <a:noFill/>
          <a:ln/>
        </p:spPr>
        <p:txBody>
          <a:bodyPr wrap="square" lIns="38100" tIns="38100" rIns="38100" bIns="38100" rtlCol="0" anchor="ctr"/>
          <a:lstStyle/>
          <a:p>
            <a:pPr algn="ctr" indent="0" marL="0">
              <a:buNone/>
            </a:pPr>
            <a:r>
              <a:rPr lang="en-US" sz="1200" dirty="0">
                <a:solidFill>
                  <a:srgbClr val="1A1A1A"/>
                </a:solidFill>
                <a:latin typeface="Cambria" pitchFamily="34" charset="0"/>
                <a:ea typeface="Cambria" pitchFamily="34" charset="-122"/>
                <a:cs typeface="Cambria" pitchFamily="34" charset="-120"/>
              </a:rPr>
              <a:t>94,4</a:t>
            </a:r>
            <a:endParaRPr lang="en-US" sz="1200" dirty="0"/>
          </a:p>
        </p:txBody>
      </p:sp>
      <p:sp>
        <p:nvSpPr>
          <p:cNvPr id="56" name="Text 54"/>
          <p:cNvSpPr/>
          <p:nvPr/>
        </p:nvSpPr>
        <p:spPr>
          <a:xfrm>
            <a:off x="7315200" y="3703320"/>
            <a:ext cx="1371600" cy="365760"/>
          </a:xfrm>
          <a:prstGeom prst="rect">
            <a:avLst/>
          </a:prstGeom>
          <a:noFill/>
          <a:ln/>
        </p:spPr>
        <p:txBody>
          <a:bodyPr wrap="square" lIns="38100" tIns="38100" rIns="38100" bIns="38100" rtlCol="0" anchor="ctr"/>
          <a:lstStyle/>
          <a:p>
            <a:pPr algn="ctr" indent="0" marL="0">
              <a:buNone/>
            </a:pPr>
            <a:r>
              <a:rPr lang="en-US" sz="1200" dirty="0">
                <a:solidFill>
                  <a:srgbClr val="1A1A1A"/>
                </a:solidFill>
                <a:latin typeface="Cambria" pitchFamily="34" charset="0"/>
                <a:ea typeface="Cambria" pitchFamily="34" charset="-122"/>
                <a:cs typeface="Cambria" pitchFamily="34" charset="-120"/>
              </a:rPr>
              <a:t>69,2</a:t>
            </a:r>
            <a:endParaRPr lang="en-US" sz="1200" dirty="0"/>
          </a:p>
        </p:txBody>
      </p:sp>
      <p:sp>
        <p:nvSpPr>
          <p:cNvPr id="57" name="Shape 55"/>
          <p:cNvSpPr/>
          <p:nvPr/>
        </p:nvSpPr>
        <p:spPr>
          <a:xfrm>
            <a:off x="457200" y="4069080"/>
            <a:ext cx="8229600" cy="0"/>
          </a:xfrm>
          <a:prstGeom prst="line">
            <a:avLst/>
          </a:prstGeom>
          <a:noFill/>
          <a:ln w="12700">
            <a:solidFill>
              <a:srgbClr val="9A94AE"/>
            </a:solidFill>
            <a:prstDash val="solid"/>
          </a:ln>
        </p:spPr>
      </p:sp>
      <p:sp>
        <p:nvSpPr>
          <p:cNvPr id="58" name="Text 56"/>
          <p:cNvSpPr/>
          <p:nvPr/>
        </p:nvSpPr>
        <p:spPr>
          <a:xfrm>
            <a:off x="457200" y="4069080"/>
            <a:ext cx="2743200" cy="365760"/>
          </a:xfrm>
          <a:prstGeom prst="rect">
            <a:avLst/>
          </a:prstGeom>
          <a:noFill/>
          <a:ln/>
        </p:spPr>
        <p:txBody>
          <a:bodyPr wrap="square" lIns="38100" tIns="38100" rIns="38100" bIns="38100" rtlCol="0" anchor="ctr"/>
          <a:lstStyle/>
          <a:p>
            <a:pPr algn="l" indent="0" marL="0">
              <a:buNone/>
            </a:pPr>
            <a:r>
              <a:rPr lang="en-US" sz="1200" dirty="0">
                <a:solidFill>
                  <a:srgbClr val="1A1A1A"/>
                </a:solidFill>
                <a:latin typeface="Cambria" pitchFamily="34" charset="0"/>
                <a:ea typeface="Cambria" pitchFamily="34" charset="-122"/>
                <a:cs typeface="Cambria" pitchFamily="34" charset="-120"/>
              </a:rPr>
              <a:t>S2 (hạt 101)</a:t>
            </a:r>
            <a:endParaRPr lang="en-US" sz="1200" dirty="0"/>
          </a:p>
        </p:txBody>
      </p:sp>
      <p:sp>
        <p:nvSpPr>
          <p:cNvPr id="59" name="Text 57"/>
          <p:cNvSpPr/>
          <p:nvPr/>
        </p:nvSpPr>
        <p:spPr>
          <a:xfrm>
            <a:off x="3200400" y="4069080"/>
            <a:ext cx="1325880" cy="365760"/>
          </a:xfrm>
          <a:prstGeom prst="rect">
            <a:avLst/>
          </a:prstGeom>
          <a:noFill/>
          <a:ln/>
        </p:spPr>
        <p:txBody>
          <a:bodyPr wrap="square" lIns="38100" tIns="38100" rIns="38100" bIns="38100" rtlCol="0" anchor="ctr"/>
          <a:lstStyle/>
          <a:p>
            <a:pPr algn="ctr" indent="0" marL="0">
              <a:buNone/>
            </a:pPr>
            <a:r>
              <a:rPr lang="en-US" sz="1200" dirty="0">
                <a:solidFill>
                  <a:srgbClr val="1A1A1A"/>
                </a:solidFill>
                <a:latin typeface="Cambria" pitchFamily="34" charset="0"/>
                <a:ea typeface="Cambria" pitchFamily="34" charset="-122"/>
                <a:cs typeface="Cambria" pitchFamily="34" charset="-120"/>
              </a:rPr>
              <a:t>57,2</a:t>
            </a:r>
            <a:endParaRPr lang="en-US" sz="1200" dirty="0"/>
          </a:p>
        </p:txBody>
      </p:sp>
      <p:sp>
        <p:nvSpPr>
          <p:cNvPr id="60" name="Text 58"/>
          <p:cNvSpPr/>
          <p:nvPr/>
        </p:nvSpPr>
        <p:spPr>
          <a:xfrm>
            <a:off x="4526280" y="4069080"/>
            <a:ext cx="1417320" cy="365760"/>
          </a:xfrm>
          <a:prstGeom prst="rect">
            <a:avLst/>
          </a:prstGeom>
          <a:noFill/>
          <a:ln/>
        </p:spPr>
        <p:txBody>
          <a:bodyPr wrap="square" lIns="38100" tIns="38100" rIns="38100" bIns="38100" rtlCol="0" anchor="ctr"/>
          <a:lstStyle/>
          <a:p>
            <a:pPr algn="ctr" indent="0" marL="0">
              <a:buNone/>
            </a:pPr>
            <a:r>
              <a:rPr lang="en-US" sz="1200" dirty="0">
                <a:solidFill>
                  <a:srgbClr val="1A1A1A"/>
                </a:solidFill>
                <a:latin typeface="Cambria" pitchFamily="34" charset="0"/>
                <a:ea typeface="Cambria" pitchFamily="34" charset="-122"/>
                <a:cs typeface="Cambria" pitchFamily="34" charset="-120"/>
              </a:rPr>
              <a:t>58,1</a:t>
            </a:r>
            <a:endParaRPr lang="en-US" sz="1200" dirty="0"/>
          </a:p>
        </p:txBody>
      </p:sp>
      <p:sp>
        <p:nvSpPr>
          <p:cNvPr id="61" name="Text 59"/>
          <p:cNvSpPr/>
          <p:nvPr/>
        </p:nvSpPr>
        <p:spPr>
          <a:xfrm>
            <a:off x="5943600" y="4069080"/>
            <a:ext cx="1371600" cy="365760"/>
          </a:xfrm>
          <a:prstGeom prst="rect">
            <a:avLst/>
          </a:prstGeom>
          <a:noFill/>
          <a:ln/>
        </p:spPr>
        <p:txBody>
          <a:bodyPr wrap="square" lIns="38100" tIns="38100" rIns="38100" bIns="38100" rtlCol="0" anchor="ctr"/>
          <a:lstStyle/>
          <a:p>
            <a:pPr algn="ctr" indent="0" marL="0">
              <a:buNone/>
            </a:pPr>
            <a:r>
              <a:rPr lang="en-US" sz="1200" dirty="0">
                <a:solidFill>
                  <a:srgbClr val="1A1A1A"/>
                </a:solidFill>
                <a:latin typeface="Cambria" pitchFamily="34" charset="0"/>
                <a:ea typeface="Cambria" pitchFamily="34" charset="-122"/>
                <a:cs typeface="Cambria" pitchFamily="34" charset="-120"/>
              </a:rPr>
              <a:t>94,8</a:t>
            </a:r>
            <a:endParaRPr lang="en-US" sz="1200" dirty="0"/>
          </a:p>
        </p:txBody>
      </p:sp>
      <p:sp>
        <p:nvSpPr>
          <p:cNvPr id="62" name="Text 60"/>
          <p:cNvSpPr/>
          <p:nvPr/>
        </p:nvSpPr>
        <p:spPr>
          <a:xfrm>
            <a:off x="7315200" y="4069080"/>
            <a:ext cx="1371600" cy="365760"/>
          </a:xfrm>
          <a:prstGeom prst="rect">
            <a:avLst/>
          </a:prstGeom>
          <a:noFill/>
          <a:ln/>
        </p:spPr>
        <p:txBody>
          <a:bodyPr wrap="square" lIns="38100" tIns="38100" rIns="38100" bIns="38100" rtlCol="0" anchor="ctr"/>
          <a:lstStyle/>
          <a:p>
            <a:pPr algn="ctr" indent="0" marL="0">
              <a:buNone/>
            </a:pPr>
            <a:r>
              <a:rPr lang="en-US" sz="1200" dirty="0">
                <a:solidFill>
                  <a:srgbClr val="1A1A1A"/>
                </a:solidFill>
                <a:latin typeface="Cambria" pitchFamily="34" charset="0"/>
                <a:ea typeface="Cambria" pitchFamily="34" charset="-122"/>
                <a:cs typeface="Cambria" pitchFamily="34" charset="-120"/>
              </a:rPr>
              <a:t>67,4</a:t>
            </a:r>
            <a:endParaRPr lang="en-US" sz="1200" dirty="0"/>
          </a:p>
        </p:txBody>
      </p:sp>
      <p:sp>
        <p:nvSpPr>
          <p:cNvPr id="63" name="Shape 61"/>
          <p:cNvSpPr/>
          <p:nvPr/>
        </p:nvSpPr>
        <p:spPr>
          <a:xfrm>
            <a:off x="457200" y="4434840"/>
            <a:ext cx="8229600" cy="0"/>
          </a:xfrm>
          <a:prstGeom prst="line">
            <a:avLst/>
          </a:prstGeom>
          <a:noFill/>
          <a:ln w="12700">
            <a:solidFill>
              <a:srgbClr val="9A94AE"/>
            </a:solidFill>
            <a:prstDash val="solid"/>
          </a:ln>
        </p:spPr>
      </p:sp>
      <p:sp>
        <p:nvSpPr>
          <p:cNvPr id="64" name="Text 62"/>
          <p:cNvSpPr/>
          <p:nvPr/>
        </p:nvSpPr>
        <p:spPr>
          <a:xfrm>
            <a:off x="457200" y="4434840"/>
            <a:ext cx="2743200" cy="365760"/>
          </a:xfrm>
          <a:prstGeom prst="rect">
            <a:avLst/>
          </a:prstGeom>
          <a:noFill/>
          <a:ln/>
        </p:spPr>
        <p:txBody>
          <a:bodyPr wrap="square" lIns="38100" tIns="38100" rIns="38100" bIns="38100" rtlCol="0" anchor="ctr"/>
          <a:lstStyle/>
          <a:p>
            <a:pPr algn="l" indent="0" marL="0">
              <a:buNone/>
            </a:pPr>
            <a:r>
              <a:rPr lang="en-US" sz="1200" dirty="0">
                <a:solidFill>
                  <a:srgbClr val="1A1A1A"/>
                </a:solidFill>
                <a:latin typeface="Cambria" pitchFamily="34" charset="0"/>
                <a:ea typeface="Cambria" pitchFamily="34" charset="-122"/>
                <a:cs typeface="Cambria" pitchFamily="34" charset="-120"/>
              </a:rPr>
              <a:t>Nhánh ứng viên</a:t>
            </a:r>
            <a:endParaRPr lang="en-US" sz="1200" dirty="0"/>
          </a:p>
        </p:txBody>
      </p:sp>
      <p:sp>
        <p:nvSpPr>
          <p:cNvPr id="65" name="Text 63"/>
          <p:cNvSpPr/>
          <p:nvPr/>
        </p:nvSpPr>
        <p:spPr>
          <a:xfrm>
            <a:off x="3200400" y="4434840"/>
            <a:ext cx="1325880" cy="365760"/>
          </a:xfrm>
          <a:prstGeom prst="rect">
            <a:avLst/>
          </a:prstGeom>
          <a:noFill/>
          <a:ln/>
        </p:spPr>
        <p:txBody>
          <a:bodyPr wrap="square" lIns="38100" tIns="38100" rIns="38100" bIns="38100" rtlCol="0" anchor="ctr"/>
          <a:lstStyle/>
          <a:p>
            <a:pPr algn="ctr" indent="0" marL="0">
              <a:buNone/>
            </a:pPr>
            <a:r>
              <a:rPr lang="en-US" sz="1200" dirty="0">
                <a:solidFill>
                  <a:srgbClr val="1A1A1A"/>
                </a:solidFill>
                <a:latin typeface="Cambria" pitchFamily="34" charset="0"/>
                <a:ea typeface="Cambria" pitchFamily="34" charset="-122"/>
                <a:cs typeface="Cambria" pitchFamily="34" charset="-120"/>
              </a:rPr>
              <a:t>56,1</a:t>
            </a:r>
            <a:endParaRPr lang="en-US" sz="1200" dirty="0"/>
          </a:p>
        </p:txBody>
      </p:sp>
      <p:sp>
        <p:nvSpPr>
          <p:cNvPr id="66" name="Text 64"/>
          <p:cNvSpPr/>
          <p:nvPr/>
        </p:nvSpPr>
        <p:spPr>
          <a:xfrm>
            <a:off x="4526280" y="4434840"/>
            <a:ext cx="1417320" cy="365760"/>
          </a:xfrm>
          <a:prstGeom prst="rect">
            <a:avLst/>
          </a:prstGeom>
          <a:noFill/>
          <a:ln/>
        </p:spPr>
        <p:txBody>
          <a:bodyPr wrap="square" lIns="38100" tIns="38100" rIns="38100" bIns="38100" rtlCol="0" anchor="ctr"/>
          <a:lstStyle/>
          <a:p>
            <a:pPr algn="ctr" indent="0" marL="0">
              <a:buNone/>
            </a:pPr>
            <a:r>
              <a:rPr lang="en-US" sz="1200" dirty="0">
                <a:solidFill>
                  <a:srgbClr val="1A1A1A"/>
                </a:solidFill>
                <a:latin typeface="Cambria" pitchFamily="34" charset="0"/>
                <a:ea typeface="Cambria" pitchFamily="34" charset="-122"/>
                <a:cs typeface="Cambria" pitchFamily="34" charset="-120"/>
              </a:rPr>
              <a:t>57,4</a:t>
            </a:r>
            <a:endParaRPr lang="en-US" sz="1200" dirty="0"/>
          </a:p>
        </p:txBody>
      </p:sp>
      <p:sp>
        <p:nvSpPr>
          <p:cNvPr id="67" name="Text 65"/>
          <p:cNvSpPr/>
          <p:nvPr/>
        </p:nvSpPr>
        <p:spPr>
          <a:xfrm>
            <a:off x="5943600" y="4434840"/>
            <a:ext cx="1371600" cy="365760"/>
          </a:xfrm>
          <a:prstGeom prst="rect">
            <a:avLst/>
          </a:prstGeom>
          <a:noFill/>
          <a:ln/>
        </p:spPr>
        <p:txBody>
          <a:bodyPr wrap="square" lIns="38100" tIns="38100" rIns="38100" bIns="38100" rtlCol="0" anchor="ctr"/>
          <a:lstStyle/>
          <a:p>
            <a:pPr algn="ctr" indent="0" marL="0">
              <a:buNone/>
            </a:pPr>
            <a:r>
              <a:rPr lang="en-US" sz="1200" dirty="0">
                <a:solidFill>
                  <a:srgbClr val="1A1A1A"/>
                </a:solidFill>
                <a:latin typeface="Cambria" pitchFamily="34" charset="0"/>
                <a:ea typeface="Cambria" pitchFamily="34" charset="-122"/>
                <a:cs typeface="Cambria" pitchFamily="34" charset="-120"/>
              </a:rPr>
              <a:t>90,9</a:t>
            </a:r>
            <a:endParaRPr lang="en-US" sz="1200" dirty="0"/>
          </a:p>
        </p:txBody>
      </p:sp>
      <p:sp>
        <p:nvSpPr>
          <p:cNvPr id="68" name="Text 66"/>
          <p:cNvSpPr/>
          <p:nvPr/>
        </p:nvSpPr>
        <p:spPr>
          <a:xfrm>
            <a:off x="7315200" y="4434840"/>
            <a:ext cx="1371600" cy="365760"/>
          </a:xfrm>
          <a:prstGeom prst="rect">
            <a:avLst/>
          </a:prstGeom>
          <a:noFill/>
          <a:ln/>
        </p:spPr>
        <p:txBody>
          <a:bodyPr wrap="square" lIns="38100" tIns="38100" rIns="38100" bIns="38100" rtlCol="0" anchor="ctr"/>
          <a:lstStyle/>
          <a:p>
            <a:pPr algn="ctr" indent="0" marL="0">
              <a:buNone/>
            </a:pPr>
            <a:r>
              <a:rPr lang="en-US" sz="1200" dirty="0">
                <a:solidFill>
                  <a:srgbClr val="1A1A1A"/>
                </a:solidFill>
                <a:latin typeface="Cambria" pitchFamily="34" charset="0"/>
                <a:ea typeface="Cambria" pitchFamily="34" charset="-122"/>
                <a:cs typeface="Cambria" pitchFamily="34" charset="-120"/>
              </a:rPr>
              <a:t>66,3</a:t>
            </a:r>
            <a:endParaRPr lang="en-US" sz="1200" dirty="0"/>
          </a:p>
        </p:txBody>
      </p:sp>
      <p:sp>
        <p:nvSpPr>
          <p:cNvPr id="69" name="Shape 67"/>
          <p:cNvSpPr/>
          <p:nvPr/>
        </p:nvSpPr>
        <p:spPr>
          <a:xfrm>
            <a:off x="457200" y="4800600"/>
            <a:ext cx="8229600" cy="0"/>
          </a:xfrm>
          <a:prstGeom prst="line">
            <a:avLst/>
          </a:prstGeom>
          <a:noFill/>
          <a:ln w="12700">
            <a:solidFill>
              <a:srgbClr val="9A94AE"/>
            </a:solidFill>
            <a:prstDash val="solid"/>
          </a:ln>
        </p:spPr>
      </p:sp>
      <p:sp>
        <p:nvSpPr>
          <p:cNvPr id="70" name="Text 68"/>
          <p:cNvSpPr/>
          <p:nvPr/>
        </p:nvSpPr>
        <p:spPr>
          <a:xfrm>
            <a:off x="457200" y="4800600"/>
            <a:ext cx="2743200" cy="365760"/>
          </a:xfrm>
          <a:prstGeom prst="rect">
            <a:avLst/>
          </a:prstGeom>
          <a:noFill/>
          <a:ln/>
        </p:spPr>
        <p:txBody>
          <a:bodyPr wrap="square" lIns="38100" tIns="38100" rIns="38100" bIns="38100" rtlCol="0" anchor="ctr"/>
          <a:lstStyle/>
          <a:p>
            <a:pPr algn="l" indent="0" marL="0">
              <a:buNone/>
            </a:pPr>
            <a:r>
              <a:rPr lang="en-US" sz="1200" dirty="0">
                <a:solidFill>
                  <a:srgbClr val="1A1A1A"/>
                </a:solidFill>
                <a:latin typeface="Cambria" pitchFamily="34" charset="0"/>
                <a:ea typeface="Cambria" pitchFamily="34" charset="-122"/>
                <a:cs typeface="Cambria" pitchFamily="34" charset="-120"/>
              </a:rPr>
              <a:t>Base</a:t>
            </a:r>
            <a:endParaRPr lang="en-US" sz="1200" dirty="0"/>
          </a:p>
        </p:txBody>
      </p:sp>
      <p:sp>
        <p:nvSpPr>
          <p:cNvPr id="71" name="Text 69"/>
          <p:cNvSpPr/>
          <p:nvPr/>
        </p:nvSpPr>
        <p:spPr>
          <a:xfrm>
            <a:off x="3200400" y="4800600"/>
            <a:ext cx="1325880" cy="365760"/>
          </a:xfrm>
          <a:prstGeom prst="rect">
            <a:avLst/>
          </a:prstGeom>
          <a:noFill/>
          <a:ln/>
        </p:spPr>
        <p:txBody>
          <a:bodyPr wrap="square" lIns="38100" tIns="38100" rIns="38100" bIns="38100" rtlCol="0" anchor="ctr"/>
          <a:lstStyle/>
          <a:p>
            <a:pPr algn="ctr" indent="0" marL="0">
              <a:buNone/>
            </a:pPr>
            <a:r>
              <a:rPr lang="en-US" sz="1200" dirty="0">
                <a:solidFill>
                  <a:srgbClr val="1A1A1A"/>
                </a:solidFill>
                <a:latin typeface="Cambria" pitchFamily="34" charset="0"/>
                <a:ea typeface="Cambria" pitchFamily="34" charset="-122"/>
                <a:cs typeface="Cambria" pitchFamily="34" charset="-120"/>
              </a:rPr>
              <a:t>47,6</a:t>
            </a:r>
            <a:endParaRPr lang="en-US" sz="1200" dirty="0"/>
          </a:p>
        </p:txBody>
      </p:sp>
      <p:sp>
        <p:nvSpPr>
          <p:cNvPr id="72" name="Text 70"/>
          <p:cNvSpPr/>
          <p:nvPr/>
        </p:nvSpPr>
        <p:spPr>
          <a:xfrm>
            <a:off x="4526280" y="4800600"/>
            <a:ext cx="1417320" cy="365760"/>
          </a:xfrm>
          <a:prstGeom prst="rect">
            <a:avLst/>
          </a:prstGeom>
          <a:noFill/>
          <a:ln/>
        </p:spPr>
        <p:txBody>
          <a:bodyPr wrap="square" lIns="38100" tIns="38100" rIns="38100" bIns="38100" rtlCol="0" anchor="ctr"/>
          <a:lstStyle/>
          <a:p>
            <a:pPr algn="ctr" indent="0" marL="0">
              <a:buNone/>
            </a:pPr>
            <a:r>
              <a:rPr lang="en-US" sz="1200" dirty="0">
                <a:solidFill>
                  <a:srgbClr val="1A1A1A"/>
                </a:solidFill>
                <a:latin typeface="Cambria" pitchFamily="34" charset="0"/>
                <a:ea typeface="Cambria" pitchFamily="34" charset="-122"/>
                <a:cs typeface="Cambria" pitchFamily="34" charset="-120"/>
              </a:rPr>
              <a:t>48,9</a:t>
            </a:r>
            <a:endParaRPr lang="en-US" sz="1200" dirty="0"/>
          </a:p>
        </p:txBody>
      </p:sp>
      <p:sp>
        <p:nvSpPr>
          <p:cNvPr id="73" name="Text 71"/>
          <p:cNvSpPr/>
          <p:nvPr/>
        </p:nvSpPr>
        <p:spPr>
          <a:xfrm>
            <a:off x="5943600" y="4800600"/>
            <a:ext cx="1371600" cy="365760"/>
          </a:xfrm>
          <a:prstGeom prst="rect">
            <a:avLst/>
          </a:prstGeom>
          <a:noFill/>
          <a:ln/>
        </p:spPr>
        <p:txBody>
          <a:bodyPr wrap="square" lIns="38100" tIns="38100" rIns="38100" bIns="38100" rtlCol="0" anchor="ctr"/>
          <a:lstStyle/>
          <a:p>
            <a:pPr algn="ctr" indent="0" marL="0">
              <a:buNone/>
            </a:pPr>
            <a:r>
              <a:rPr lang="en-US" sz="1200" dirty="0">
                <a:solidFill>
                  <a:srgbClr val="1A1A1A"/>
                </a:solidFill>
                <a:latin typeface="Cambria" pitchFamily="34" charset="0"/>
                <a:ea typeface="Cambria" pitchFamily="34" charset="-122"/>
                <a:cs typeface="Cambria" pitchFamily="34" charset="-120"/>
              </a:rPr>
              <a:t>96,5</a:t>
            </a:r>
            <a:endParaRPr lang="en-US" sz="1200" dirty="0"/>
          </a:p>
        </p:txBody>
      </p:sp>
      <p:sp>
        <p:nvSpPr>
          <p:cNvPr id="74" name="Text 72"/>
          <p:cNvSpPr/>
          <p:nvPr/>
        </p:nvSpPr>
        <p:spPr>
          <a:xfrm>
            <a:off x="7315200" y="4800600"/>
            <a:ext cx="1371600" cy="365760"/>
          </a:xfrm>
          <a:prstGeom prst="rect">
            <a:avLst/>
          </a:prstGeom>
          <a:noFill/>
          <a:ln/>
        </p:spPr>
        <p:txBody>
          <a:bodyPr wrap="square" lIns="38100" tIns="38100" rIns="38100" bIns="38100" rtlCol="0" anchor="ctr"/>
          <a:lstStyle/>
          <a:p>
            <a:pPr algn="ctr" indent="0" marL="0">
              <a:buNone/>
            </a:pPr>
            <a:r>
              <a:rPr lang="en-US" sz="1200" dirty="0">
                <a:solidFill>
                  <a:srgbClr val="1A1A1A"/>
                </a:solidFill>
                <a:latin typeface="Cambria" pitchFamily="34" charset="0"/>
                <a:ea typeface="Cambria" pitchFamily="34" charset="-122"/>
                <a:cs typeface="Cambria" pitchFamily="34" charset="-120"/>
              </a:rPr>
              <a:t>57,6</a:t>
            </a:r>
            <a:endParaRPr lang="en-US" sz="1200" dirty="0"/>
          </a:p>
        </p:txBody>
      </p:sp>
      <p:sp>
        <p:nvSpPr>
          <p:cNvPr id="75" name="Text 73"/>
          <p:cNvSpPr/>
          <p:nvPr/>
        </p:nvSpPr>
        <p:spPr>
          <a:xfrm>
            <a:off x="457200" y="5257800"/>
            <a:ext cx="8229600" cy="1005840"/>
          </a:xfrm>
          <a:prstGeom prst="rect">
            <a:avLst/>
          </a:prstGeom>
          <a:noFill/>
          <a:ln/>
        </p:spPr>
        <p:txBody>
          <a:bodyPr wrap="square" lIns="0" tIns="0" rIns="0" bIns="0" rtlCol="0" anchor="t"/>
          <a:lstStyle/>
          <a:p>
            <a:pPr algn="l" indent="0" marL="0">
              <a:lnSpc>
                <a:spcPct val="118000"/>
              </a:lnSpc>
              <a:buNone/>
            </a:pPr>
            <a:r>
              <a:rPr lang="en-US" sz="1150" i="1" dirty="0">
                <a:solidFill>
                  <a:srgbClr val="5A5A66"/>
                </a:solidFill>
                <a:latin typeface="Cambria" pitchFamily="34" charset="0"/>
                <a:ea typeface="Cambria" pitchFamily="34" charset="-122"/>
                <a:cs typeface="Cambria" pitchFamily="34" charset="-120"/>
              </a:rPr>
              <a:t>Executable đòi cả ba điều kiện. Chỉ ô Voronoi bỏ điều kiện loại thao tác. Cửa sổ dung sai là luật ±14% theo trục khi chưa xét loại thao tác. Khoảng cách tới trần nằm chủ yếu ở cột Voronoi, tức ở việc trỏ đúng phần tử.</a:t>
            </a:r>
            <a:endParaRPr lang="en-US" sz="1150" dirty="0"/>
          </a:p>
        </p:txBody>
      </p:sp>
      <p:sp>
        <p:nvSpPr>
          <p:cNvPr id="77" name="Shape 74"/>
          <p:cNvSpPr/>
          <p:nvPr/>
        </p:nvSpPr>
        <p:spPr>
          <a:xfrm>
            <a:off x="0" y="6620256"/>
            <a:ext cx="2743200" cy="237744"/>
          </a:xfrm>
          <a:prstGeom prst="rect">
            <a:avLst/>
          </a:prstGeom>
          <a:solidFill>
            <a:srgbClr val="191132"/>
          </a:solidFill>
          <a:ln/>
        </p:spPr>
      </p:sp>
      <p:sp>
        <p:nvSpPr>
          <p:cNvPr id="78" name="Shape 75"/>
          <p:cNvSpPr/>
          <p:nvPr/>
        </p:nvSpPr>
        <p:spPr>
          <a:xfrm>
            <a:off x="2743200" y="6620256"/>
            <a:ext cx="3383280" cy="237744"/>
          </a:xfrm>
          <a:prstGeom prst="rect">
            <a:avLst/>
          </a:prstGeom>
          <a:solidFill>
            <a:srgbClr val="25194B"/>
          </a:solidFill>
          <a:ln/>
        </p:spPr>
      </p:sp>
      <p:sp>
        <p:nvSpPr>
          <p:cNvPr id="79" name="Shape 76"/>
          <p:cNvSpPr/>
          <p:nvPr/>
        </p:nvSpPr>
        <p:spPr>
          <a:xfrm>
            <a:off x="6126480" y="6620256"/>
            <a:ext cx="1737360" cy="237744"/>
          </a:xfrm>
          <a:prstGeom prst="rect">
            <a:avLst/>
          </a:prstGeom>
          <a:solidFill>
            <a:srgbClr val="4F417A"/>
          </a:solidFill>
          <a:ln/>
        </p:spPr>
      </p:sp>
      <p:sp>
        <p:nvSpPr>
          <p:cNvPr id="80" name="Shape 77"/>
          <p:cNvSpPr/>
          <p:nvPr/>
        </p:nvSpPr>
        <p:spPr>
          <a:xfrm>
            <a:off x="7863840" y="6620256"/>
            <a:ext cx="1280160" cy="237744"/>
          </a:xfrm>
          <a:prstGeom prst="rect">
            <a:avLst/>
          </a:prstGeom>
          <a:solidFill>
            <a:srgbClr val="7A7099"/>
          </a:solidFill>
          <a:ln/>
        </p:spPr>
      </p:sp>
      <p:sp>
        <p:nvSpPr>
          <p:cNvPr id="81" name="Text 78"/>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Luận văn thạc sĩ</a:t>
            </a:r>
            <a:endParaRPr lang="en-US" sz="800" dirty="0"/>
          </a:p>
        </p:txBody>
      </p:sp>
      <p:sp>
        <p:nvSpPr>
          <p:cNvPr id="82" name="Text 79"/>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Phát sinh tự động hướng dẫn sử dụng phần mềm dựa trên LLM</a:t>
            </a:r>
            <a:endParaRPr lang="en-US" sz="800" dirty="0"/>
          </a:p>
        </p:txBody>
      </p:sp>
      <p:sp>
        <p:nvSpPr>
          <p:cNvPr id="83" name="Text 80"/>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84" name="Text 81"/>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15/24</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Thước kiểm chéo bằng dụng cụ khác</a:t>
            </a:r>
            <a:endParaRPr lang="en-US" sz="1900" dirty="0"/>
          </a:p>
        </p:txBody>
      </p:sp>
      <p:sp>
        <p:nvSpPr>
          <p:cNvPr id="4" name="Shape 2"/>
          <p:cNvSpPr/>
          <p:nvPr/>
        </p:nvSpPr>
        <p:spPr>
          <a:xfrm>
            <a:off x="457200" y="731520"/>
            <a:ext cx="4023360" cy="4846320"/>
          </a:xfrm>
          <a:prstGeom prst="roundRect">
            <a:avLst>
              <a:gd name="adj" fmla="val 1364"/>
            </a:avLst>
          </a:prstGeom>
          <a:solidFill>
            <a:srgbClr val="E9E8EC"/>
          </a:solidFill>
          <a:ln/>
          <a:effectLst>
            <a:outerShdw sx="100000" sy="100000" kx="0" ky="0" algn="bl" rotWithShape="0" blurRad="63500" dist="31750" dir="2700000">
              <a:srgbClr val="8C8C99">
                <a:alpha val="45000"/>
              </a:srgbClr>
            </a:outerShdw>
          </a:effectLst>
        </p:spPr>
      </p:sp>
      <p:sp>
        <p:nvSpPr>
          <p:cNvPr id="5" name="Text 3"/>
          <p:cNvSpPr/>
          <p:nvPr/>
        </p:nvSpPr>
        <p:spPr>
          <a:xfrm>
            <a:off x="594360" y="804672"/>
            <a:ext cx="3749040" cy="502920"/>
          </a:xfrm>
          <a:prstGeom prst="rect">
            <a:avLst/>
          </a:prstGeom>
          <a:noFill/>
          <a:ln/>
        </p:spPr>
        <p:txBody>
          <a:bodyPr wrap="square" lIns="0" tIns="0" rIns="0" bIns="0" rtlCol="0" anchor="t"/>
          <a:lstStyle/>
          <a:p>
            <a:pPr algn="l" indent="0" marL="0">
              <a:lnSpc>
                <a:spcPct val="110000"/>
              </a:lnSpc>
              <a:buNone/>
            </a:pPr>
            <a:r>
              <a:rPr lang="en-US" sz="1250" b="1" dirty="0">
                <a:solidFill>
                  <a:srgbClr val="322164"/>
                </a:solidFill>
                <a:latin typeface="Cambria" pitchFamily="34" charset="0"/>
                <a:ea typeface="Cambria" pitchFamily="34" charset="-122"/>
                <a:cs typeface="Cambria" pitchFamily="34" charset="-120"/>
              </a:rPr>
              <a:t>Người nghe trắc nghiệm Phi-4 (ngoài họ Qwen)</a:t>
            </a:r>
            <a:endParaRPr lang="en-US" sz="1250" dirty="0"/>
          </a:p>
        </p:txBody>
      </p:sp>
      <p:sp>
        <p:nvSpPr>
          <p:cNvPr id="6" name="Text 4"/>
          <p:cNvSpPr/>
          <p:nvPr/>
        </p:nvSpPr>
        <p:spPr>
          <a:xfrm>
            <a:off x="594360" y="1325880"/>
            <a:ext cx="3749040" cy="594360"/>
          </a:xfrm>
          <a:prstGeom prst="rect">
            <a:avLst/>
          </a:prstGeom>
          <a:noFill/>
          <a:ln/>
        </p:spPr>
        <p:txBody>
          <a:bodyPr wrap="square" lIns="0" tIns="0" rIns="0" bIns="0" rtlCol="0" anchor="t"/>
          <a:lstStyle/>
          <a:p>
            <a:pPr algn="l" indent="0" marL="0">
              <a:lnSpc>
                <a:spcPct val="115000"/>
              </a:lnSpc>
              <a:buNone/>
            </a:pPr>
            <a:r>
              <a:rPr lang="en-US" sz="1050" dirty="0">
                <a:solidFill>
                  <a:srgbClr val="5A5A66"/>
                </a:solidFill>
                <a:latin typeface="Cambria" pitchFamily="34" charset="0"/>
                <a:ea typeface="Cambria" pitchFamily="34" charset="-122"/>
                <a:cs typeface="Cambria" pitchFamily="34" charset="-120"/>
              </a:rPr>
              <a:t>Mọi phần tử bấm được được đánh số lên ảnh; người nghe chỉ nhận một câu, chọn số ô cần chạm.</a:t>
            </a:r>
            <a:endParaRPr lang="en-US" sz="1050" dirty="0"/>
          </a:p>
        </p:txBody>
      </p:sp>
      <p:sp>
        <p:nvSpPr>
          <p:cNvPr id="7" name="Shape 5"/>
          <p:cNvSpPr/>
          <p:nvPr/>
        </p:nvSpPr>
        <p:spPr>
          <a:xfrm>
            <a:off x="548640" y="1965960"/>
            <a:ext cx="3840480" cy="329184"/>
          </a:xfrm>
          <a:prstGeom prst="rect">
            <a:avLst/>
          </a:prstGeom>
          <a:solidFill>
            <a:srgbClr val="322164"/>
          </a:solidFill>
          <a:ln/>
        </p:spPr>
      </p:sp>
      <p:sp>
        <p:nvSpPr>
          <p:cNvPr id="8" name="Text 6"/>
          <p:cNvSpPr/>
          <p:nvPr/>
        </p:nvSpPr>
        <p:spPr>
          <a:xfrm>
            <a:off x="548640" y="1965960"/>
            <a:ext cx="2148840" cy="329184"/>
          </a:xfrm>
          <a:prstGeom prst="rect">
            <a:avLst/>
          </a:prstGeom>
          <a:noFill/>
          <a:ln/>
        </p:spPr>
        <p:txBody>
          <a:bodyPr wrap="square" lIns="38100" tIns="38100" rIns="38100" bIns="38100" rtlCol="0" anchor="ctr"/>
          <a:lstStyle/>
          <a:p>
            <a:pPr algn="l" indent="0" marL="0">
              <a:buNone/>
            </a:pPr>
            <a:r>
              <a:rPr lang="en-US" sz="1050" b="1" dirty="0">
                <a:solidFill>
                  <a:srgbClr val="FFFFFF"/>
                </a:solidFill>
                <a:latin typeface="Cambria" pitchFamily="34" charset="0"/>
                <a:ea typeface="Cambria" pitchFamily="34" charset="-122"/>
                <a:cs typeface="Cambria" pitchFamily="34" charset="-120"/>
              </a:rPr>
              <a:t>Câu đưa vào</a:t>
            </a:r>
            <a:endParaRPr lang="en-US" sz="1050" dirty="0"/>
          </a:p>
        </p:txBody>
      </p:sp>
      <p:sp>
        <p:nvSpPr>
          <p:cNvPr id="9" name="Text 7"/>
          <p:cNvSpPr/>
          <p:nvPr/>
        </p:nvSpPr>
        <p:spPr>
          <a:xfrm>
            <a:off x="2697480" y="1965960"/>
            <a:ext cx="685800" cy="329184"/>
          </a:xfrm>
          <a:prstGeom prst="rect">
            <a:avLst/>
          </a:prstGeom>
          <a:noFill/>
          <a:ln/>
        </p:spPr>
        <p:txBody>
          <a:bodyPr wrap="square" lIns="38100" tIns="38100" rIns="38100" bIns="38100" rtlCol="0" anchor="ctr"/>
          <a:lstStyle/>
          <a:p>
            <a:pPr algn="ctr" indent="0" marL="0">
              <a:buNone/>
            </a:pPr>
            <a:r>
              <a:rPr lang="en-US" sz="1050" b="1" dirty="0">
                <a:solidFill>
                  <a:srgbClr val="FFFFFF"/>
                </a:solidFill>
                <a:latin typeface="Cambria" pitchFamily="34" charset="0"/>
                <a:ea typeface="Cambria" pitchFamily="34" charset="-122"/>
                <a:cs typeface="Cambria" pitchFamily="34" charset="-120"/>
              </a:rPr>
              <a:t>Đúng</a:t>
            </a:r>
            <a:endParaRPr lang="en-US" sz="1050" dirty="0"/>
          </a:p>
        </p:txBody>
      </p:sp>
      <p:sp>
        <p:nvSpPr>
          <p:cNvPr id="10" name="Text 8"/>
          <p:cNvSpPr/>
          <p:nvPr/>
        </p:nvSpPr>
        <p:spPr>
          <a:xfrm>
            <a:off x="3383280" y="1965960"/>
            <a:ext cx="1005840" cy="329184"/>
          </a:xfrm>
          <a:prstGeom prst="rect">
            <a:avLst/>
          </a:prstGeom>
          <a:noFill/>
          <a:ln/>
        </p:spPr>
        <p:txBody>
          <a:bodyPr wrap="square" lIns="38100" tIns="38100" rIns="38100" bIns="38100" rtlCol="0" anchor="ctr"/>
          <a:lstStyle/>
          <a:p>
            <a:pPr algn="ctr" indent="0" marL="0">
              <a:buNone/>
            </a:pPr>
            <a:r>
              <a:rPr lang="en-US" sz="1050" b="1" dirty="0">
                <a:solidFill>
                  <a:srgbClr val="FFFFFF"/>
                </a:solidFill>
                <a:latin typeface="Cambria" pitchFamily="34" charset="0"/>
                <a:ea typeface="Cambria" pitchFamily="34" charset="-122"/>
                <a:cs typeface="Cambria" pitchFamily="34" charset="-120"/>
              </a:rPr>
              <a:t>KTC 95%</a:t>
            </a:r>
            <a:endParaRPr lang="en-US" sz="1050" dirty="0"/>
          </a:p>
        </p:txBody>
      </p:sp>
      <p:sp>
        <p:nvSpPr>
          <p:cNvPr id="11" name="Text 9"/>
          <p:cNvSpPr/>
          <p:nvPr/>
        </p:nvSpPr>
        <p:spPr>
          <a:xfrm>
            <a:off x="548640" y="2295144"/>
            <a:ext cx="2148840" cy="329184"/>
          </a:xfrm>
          <a:prstGeom prst="rect">
            <a:avLst/>
          </a:prstGeom>
          <a:noFill/>
          <a:ln/>
        </p:spPr>
        <p:txBody>
          <a:bodyPr wrap="square" lIns="38100" tIns="38100" rIns="38100" bIns="38100" rtlCol="0" anchor="ctr"/>
          <a:lstStyle/>
          <a:p>
            <a:pPr algn="l" indent="0" marL="0">
              <a:buNone/>
            </a:pPr>
            <a:r>
              <a:rPr lang="en-US" sz="1050" dirty="0">
                <a:solidFill>
                  <a:srgbClr val="1A1A1A"/>
                </a:solidFill>
                <a:latin typeface="Cambria" pitchFamily="34" charset="0"/>
                <a:ea typeface="Cambria" pitchFamily="34" charset="-122"/>
                <a:cs typeface="Cambria" pitchFamily="34" charset="-120"/>
              </a:rPr>
              <a:t>Câu chuẩn</a:t>
            </a:r>
            <a:endParaRPr lang="en-US" sz="1050" dirty="0"/>
          </a:p>
        </p:txBody>
      </p:sp>
      <p:sp>
        <p:nvSpPr>
          <p:cNvPr id="12" name="Text 10"/>
          <p:cNvSpPr/>
          <p:nvPr/>
        </p:nvSpPr>
        <p:spPr>
          <a:xfrm>
            <a:off x="2697480" y="2295144"/>
            <a:ext cx="685800" cy="329184"/>
          </a:xfrm>
          <a:prstGeom prst="rect">
            <a:avLst/>
          </a:prstGeom>
          <a:noFill/>
          <a:ln/>
        </p:spPr>
        <p:txBody>
          <a:bodyPr wrap="square" lIns="38100" tIns="38100" rIns="38100" bIns="38100" rtlCol="0" anchor="ctr"/>
          <a:lstStyle/>
          <a:p>
            <a:pPr algn="ctr" indent="0" marL="0">
              <a:buNone/>
            </a:pPr>
            <a:r>
              <a:rPr lang="en-US" sz="1050" dirty="0">
                <a:solidFill>
                  <a:srgbClr val="1A1A1A"/>
                </a:solidFill>
                <a:latin typeface="Cambria" pitchFamily="34" charset="0"/>
                <a:ea typeface="Cambria" pitchFamily="34" charset="-122"/>
                <a:cs typeface="Cambria" pitchFamily="34" charset="-120"/>
              </a:rPr>
              <a:t>54,9</a:t>
            </a:r>
            <a:endParaRPr lang="en-US" sz="1050" dirty="0"/>
          </a:p>
        </p:txBody>
      </p:sp>
      <p:sp>
        <p:nvSpPr>
          <p:cNvPr id="13" name="Text 11"/>
          <p:cNvSpPr/>
          <p:nvPr/>
        </p:nvSpPr>
        <p:spPr>
          <a:xfrm>
            <a:off x="3383280" y="2295144"/>
            <a:ext cx="1005840" cy="329184"/>
          </a:xfrm>
          <a:prstGeom prst="rect">
            <a:avLst/>
          </a:prstGeom>
          <a:noFill/>
          <a:ln/>
        </p:spPr>
        <p:txBody>
          <a:bodyPr wrap="square" lIns="38100" tIns="38100" rIns="38100" bIns="38100" rtlCol="0" anchor="ctr"/>
          <a:lstStyle/>
          <a:p>
            <a:pPr algn="ctr" indent="0" marL="0">
              <a:buNone/>
            </a:pPr>
            <a:r>
              <a:rPr lang="en-US" sz="1050" dirty="0">
                <a:solidFill>
                  <a:srgbClr val="1A1A1A"/>
                </a:solidFill>
                <a:latin typeface="Cambria" pitchFamily="34" charset="0"/>
                <a:ea typeface="Cambria" pitchFamily="34" charset="-122"/>
                <a:cs typeface="Cambria" pitchFamily="34" charset="-120"/>
              </a:rPr>
              <a:t>[53,1; 56,8]</a:t>
            </a:r>
            <a:endParaRPr lang="en-US" sz="1050" dirty="0"/>
          </a:p>
        </p:txBody>
      </p:sp>
      <p:sp>
        <p:nvSpPr>
          <p:cNvPr id="14" name="Shape 12"/>
          <p:cNvSpPr/>
          <p:nvPr/>
        </p:nvSpPr>
        <p:spPr>
          <a:xfrm>
            <a:off x="548640" y="2624328"/>
            <a:ext cx="3840480" cy="0"/>
          </a:xfrm>
          <a:prstGeom prst="line">
            <a:avLst/>
          </a:prstGeom>
          <a:noFill/>
          <a:ln w="12700">
            <a:solidFill>
              <a:srgbClr val="9A94AE"/>
            </a:solidFill>
            <a:prstDash val="solid"/>
          </a:ln>
        </p:spPr>
      </p:sp>
      <p:sp>
        <p:nvSpPr>
          <p:cNvPr id="15" name="Text 13"/>
          <p:cNvSpPr/>
          <p:nvPr/>
        </p:nvSpPr>
        <p:spPr>
          <a:xfrm>
            <a:off x="548640" y="2624328"/>
            <a:ext cx="2148840" cy="329184"/>
          </a:xfrm>
          <a:prstGeom prst="rect">
            <a:avLst/>
          </a:prstGeom>
          <a:noFill/>
          <a:ln/>
        </p:spPr>
        <p:txBody>
          <a:bodyPr wrap="square" lIns="38100" tIns="38100" rIns="38100" bIns="38100" rtlCol="0" anchor="ctr"/>
          <a:lstStyle/>
          <a:p>
            <a:pPr algn="l" indent="0" marL="0">
              <a:buNone/>
            </a:pPr>
            <a:r>
              <a:rPr lang="en-US" sz="1050" dirty="0">
                <a:solidFill>
                  <a:srgbClr val="1A1A1A"/>
                </a:solidFill>
                <a:latin typeface="Cambria" pitchFamily="34" charset="0"/>
                <a:ea typeface="Cambria" pitchFamily="34" charset="-122"/>
                <a:cs typeface="Cambria" pitchFamily="34" charset="-120"/>
              </a:rPr>
              <a:t>Chặng ba</a:t>
            </a:r>
            <a:endParaRPr lang="en-US" sz="1050" dirty="0"/>
          </a:p>
        </p:txBody>
      </p:sp>
      <p:sp>
        <p:nvSpPr>
          <p:cNvPr id="16" name="Text 14"/>
          <p:cNvSpPr/>
          <p:nvPr/>
        </p:nvSpPr>
        <p:spPr>
          <a:xfrm>
            <a:off x="2697480" y="2624328"/>
            <a:ext cx="685800" cy="329184"/>
          </a:xfrm>
          <a:prstGeom prst="rect">
            <a:avLst/>
          </a:prstGeom>
          <a:noFill/>
          <a:ln/>
        </p:spPr>
        <p:txBody>
          <a:bodyPr wrap="square" lIns="38100" tIns="38100" rIns="38100" bIns="38100" rtlCol="0" anchor="ctr"/>
          <a:lstStyle/>
          <a:p>
            <a:pPr algn="ctr" indent="0" marL="0">
              <a:buNone/>
            </a:pPr>
            <a:r>
              <a:rPr lang="en-US" sz="1050" dirty="0">
                <a:solidFill>
                  <a:srgbClr val="1A1A1A"/>
                </a:solidFill>
                <a:latin typeface="Cambria" pitchFamily="34" charset="0"/>
                <a:ea typeface="Cambria" pitchFamily="34" charset="-122"/>
                <a:cs typeface="Cambria" pitchFamily="34" charset="-120"/>
              </a:rPr>
              <a:t>45,8</a:t>
            </a:r>
            <a:endParaRPr lang="en-US" sz="1050" dirty="0"/>
          </a:p>
        </p:txBody>
      </p:sp>
      <p:sp>
        <p:nvSpPr>
          <p:cNvPr id="17" name="Text 15"/>
          <p:cNvSpPr/>
          <p:nvPr/>
        </p:nvSpPr>
        <p:spPr>
          <a:xfrm>
            <a:off x="3383280" y="2624328"/>
            <a:ext cx="1005840" cy="329184"/>
          </a:xfrm>
          <a:prstGeom prst="rect">
            <a:avLst/>
          </a:prstGeom>
          <a:noFill/>
          <a:ln/>
        </p:spPr>
        <p:txBody>
          <a:bodyPr wrap="square" lIns="38100" tIns="38100" rIns="38100" bIns="38100" rtlCol="0" anchor="ctr"/>
          <a:lstStyle/>
          <a:p>
            <a:pPr algn="ctr" indent="0" marL="0">
              <a:buNone/>
            </a:pPr>
            <a:r>
              <a:rPr lang="en-US" sz="1050" dirty="0">
                <a:solidFill>
                  <a:srgbClr val="1A1A1A"/>
                </a:solidFill>
                <a:latin typeface="Cambria" pitchFamily="34" charset="0"/>
                <a:ea typeface="Cambria" pitchFamily="34" charset="-122"/>
                <a:cs typeface="Cambria" pitchFamily="34" charset="-120"/>
              </a:rPr>
              <a:t>[44,1; 47,5]</a:t>
            </a:r>
            <a:endParaRPr lang="en-US" sz="1050" dirty="0"/>
          </a:p>
        </p:txBody>
      </p:sp>
      <p:sp>
        <p:nvSpPr>
          <p:cNvPr id="18" name="Shape 16"/>
          <p:cNvSpPr/>
          <p:nvPr/>
        </p:nvSpPr>
        <p:spPr>
          <a:xfrm>
            <a:off x="548640" y="2953512"/>
            <a:ext cx="3840480" cy="0"/>
          </a:xfrm>
          <a:prstGeom prst="line">
            <a:avLst/>
          </a:prstGeom>
          <a:noFill/>
          <a:ln w="12700">
            <a:solidFill>
              <a:srgbClr val="9A94AE"/>
            </a:solidFill>
            <a:prstDash val="solid"/>
          </a:ln>
        </p:spPr>
      </p:sp>
      <p:sp>
        <p:nvSpPr>
          <p:cNvPr id="19" name="Text 17"/>
          <p:cNvSpPr/>
          <p:nvPr/>
        </p:nvSpPr>
        <p:spPr>
          <a:xfrm>
            <a:off x="548640" y="2953512"/>
            <a:ext cx="2148840" cy="329184"/>
          </a:xfrm>
          <a:prstGeom prst="rect">
            <a:avLst/>
          </a:prstGeom>
          <a:noFill/>
          <a:ln/>
        </p:spPr>
        <p:txBody>
          <a:bodyPr wrap="square" lIns="38100" tIns="38100" rIns="38100" bIns="38100" rtlCol="0" anchor="ctr"/>
          <a:lstStyle/>
          <a:p>
            <a:pPr algn="l" indent="0" marL="0">
              <a:buNone/>
            </a:pPr>
            <a:r>
              <a:rPr lang="en-US" sz="1050" dirty="0">
                <a:solidFill>
                  <a:srgbClr val="1A1A1A"/>
                </a:solidFill>
                <a:latin typeface="Cambria" pitchFamily="34" charset="0"/>
                <a:ea typeface="Cambria" pitchFamily="34" charset="-122"/>
                <a:cs typeface="Cambria" pitchFamily="34" charset="-120"/>
              </a:rPr>
              <a:t>S1 (hạt 101)</a:t>
            </a:r>
            <a:endParaRPr lang="en-US" sz="1050" dirty="0"/>
          </a:p>
        </p:txBody>
      </p:sp>
      <p:sp>
        <p:nvSpPr>
          <p:cNvPr id="20" name="Text 18"/>
          <p:cNvSpPr/>
          <p:nvPr/>
        </p:nvSpPr>
        <p:spPr>
          <a:xfrm>
            <a:off x="2697480" y="2953512"/>
            <a:ext cx="685800" cy="329184"/>
          </a:xfrm>
          <a:prstGeom prst="rect">
            <a:avLst/>
          </a:prstGeom>
          <a:noFill/>
          <a:ln/>
        </p:spPr>
        <p:txBody>
          <a:bodyPr wrap="square" lIns="38100" tIns="38100" rIns="38100" bIns="38100" rtlCol="0" anchor="ctr"/>
          <a:lstStyle/>
          <a:p>
            <a:pPr algn="ctr" indent="0" marL="0">
              <a:buNone/>
            </a:pPr>
            <a:r>
              <a:rPr lang="en-US" sz="1050" dirty="0">
                <a:solidFill>
                  <a:srgbClr val="1A1A1A"/>
                </a:solidFill>
                <a:latin typeface="Cambria" pitchFamily="34" charset="0"/>
                <a:ea typeface="Cambria" pitchFamily="34" charset="-122"/>
                <a:cs typeface="Cambria" pitchFamily="34" charset="-120"/>
              </a:rPr>
              <a:t>44,6</a:t>
            </a:r>
            <a:endParaRPr lang="en-US" sz="1050" dirty="0"/>
          </a:p>
        </p:txBody>
      </p:sp>
      <p:sp>
        <p:nvSpPr>
          <p:cNvPr id="21" name="Text 19"/>
          <p:cNvSpPr/>
          <p:nvPr/>
        </p:nvSpPr>
        <p:spPr>
          <a:xfrm>
            <a:off x="3383280" y="2953512"/>
            <a:ext cx="1005840" cy="329184"/>
          </a:xfrm>
          <a:prstGeom prst="rect">
            <a:avLst/>
          </a:prstGeom>
          <a:noFill/>
          <a:ln/>
        </p:spPr>
        <p:txBody>
          <a:bodyPr wrap="square" lIns="38100" tIns="38100" rIns="38100" bIns="38100" rtlCol="0" anchor="ctr"/>
          <a:lstStyle/>
          <a:p>
            <a:pPr algn="ctr" indent="0" marL="0">
              <a:buNone/>
            </a:pPr>
            <a:r>
              <a:rPr lang="en-US" sz="1050" dirty="0">
                <a:solidFill>
                  <a:srgbClr val="1A1A1A"/>
                </a:solidFill>
                <a:latin typeface="Cambria" pitchFamily="34" charset="0"/>
                <a:ea typeface="Cambria" pitchFamily="34" charset="-122"/>
                <a:cs typeface="Cambria" pitchFamily="34" charset="-120"/>
              </a:rPr>
              <a:t>[42,9; 46,4]</a:t>
            </a:r>
            <a:endParaRPr lang="en-US" sz="1050" dirty="0"/>
          </a:p>
        </p:txBody>
      </p:sp>
      <p:sp>
        <p:nvSpPr>
          <p:cNvPr id="22" name="Shape 20"/>
          <p:cNvSpPr/>
          <p:nvPr/>
        </p:nvSpPr>
        <p:spPr>
          <a:xfrm>
            <a:off x="548640" y="3282696"/>
            <a:ext cx="3840480" cy="0"/>
          </a:xfrm>
          <a:prstGeom prst="line">
            <a:avLst/>
          </a:prstGeom>
          <a:noFill/>
          <a:ln w="12700">
            <a:solidFill>
              <a:srgbClr val="9A94AE"/>
            </a:solidFill>
            <a:prstDash val="solid"/>
          </a:ln>
        </p:spPr>
      </p:sp>
      <p:sp>
        <p:nvSpPr>
          <p:cNvPr id="23" name="Text 21"/>
          <p:cNvSpPr/>
          <p:nvPr/>
        </p:nvSpPr>
        <p:spPr>
          <a:xfrm>
            <a:off x="548640" y="3282696"/>
            <a:ext cx="2148840" cy="329184"/>
          </a:xfrm>
          <a:prstGeom prst="rect">
            <a:avLst/>
          </a:prstGeom>
          <a:noFill/>
          <a:ln/>
        </p:spPr>
        <p:txBody>
          <a:bodyPr wrap="square" lIns="38100" tIns="38100" rIns="38100" bIns="38100" rtlCol="0" anchor="ctr"/>
          <a:lstStyle/>
          <a:p>
            <a:pPr algn="l" indent="0" marL="0">
              <a:buNone/>
            </a:pPr>
            <a:r>
              <a:rPr lang="en-US" sz="1050" dirty="0">
                <a:solidFill>
                  <a:srgbClr val="1A1A1A"/>
                </a:solidFill>
                <a:latin typeface="Cambria" pitchFamily="34" charset="0"/>
                <a:ea typeface="Cambria" pitchFamily="34" charset="-122"/>
                <a:cs typeface="Cambria" pitchFamily="34" charset="-120"/>
              </a:rPr>
              <a:t>Base (3.566 bước)</a:t>
            </a:r>
            <a:endParaRPr lang="en-US" sz="1050" dirty="0"/>
          </a:p>
        </p:txBody>
      </p:sp>
      <p:sp>
        <p:nvSpPr>
          <p:cNvPr id="24" name="Text 22"/>
          <p:cNvSpPr/>
          <p:nvPr/>
        </p:nvSpPr>
        <p:spPr>
          <a:xfrm>
            <a:off x="2697480" y="3282696"/>
            <a:ext cx="685800" cy="329184"/>
          </a:xfrm>
          <a:prstGeom prst="rect">
            <a:avLst/>
          </a:prstGeom>
          <a:noFill/>
          <a:ln/>
        </p:spPr>
        <p:txBody>
          <a:bodyPr wrap="square" lIns="38100" tIns="38100" rIns="38100" bIns="38100" rtlCol="0" anchor="ctr"/>
          <a:lstStyle/>
          <a:p>
            <a:pPr algn="ctr" indent="0" marL="0">
              <a:buNone/>
            </a:pPr>
            <a:r>
              <a:rPr lang="en-US" sz="1050" dirty="0">
                <a:solidFill>
                  <a:srgbClr val="1A1A1A"/>
                </a:solidFill>
                <a:latin typeface="Cambria" pitchFamily="34" charset="0"/>
                <a:ea typeface="Cambria" pitchFamily="34" charset="-122"/>
                <a:cs typeface="Cambria" pitchFamily="34" charset="-120"/>
              </a:rPr>
              <a:t>38,6</a:t>
            </a:r>
            <a:endParaRPr lang="en-US" sz="1050" dirty="0"/>
          </a:p>
        </p:txBody>
      </p:sp>
      <p:sp>
        <p:nvSpPr>
          <p:cNvPr id="25" name="Text 23"/>
          <p:cNvSpPr/>
          <p:nvPr/>
        </p:nvSpPr>
        <p:spPr>
          <a:xfrm>
            <a:off x="3383280" y="3282696"/>
            <a:ext cx="1005840" cy="329184"/>
          </a:xfrm>
          <a:prstGeom prst="rect">
            <a:avLst/>
          </a:prstGeom>
          <a:noFill/>
          <a:ln/>
        </p:spPr>
        <p:txBody>
          <a:bodyPr wrap="square" lIns="38100" tIns="38100" rIns="38100" bIns="38100" rtlCol="0" anchor="ctr"/>
          <a:lstStyle/>
          <a:p>
            <a:pPr algn="ctr" indent="0" marL="0">
              <a:buNone/>
            </a:pPr>
            <a:r>
              <a:rPr lang="en-US" sz="1050" dirty="0">
                <a:solidFill>
                  <a:srgbClr val="1A1A1A"/>
                </a:solidFill>
                <a:latin typeface="Cambria" pitchFamily="34" charset="0"/>
                <a:ea typeface="Cambria" pitchFamily="34" charset="-122"/>
                <a:cs typeface="Cambria" pitchFamily="34" charset="-120"/>
              </a:rPr>
              <a:t>[36,7; 40,4]</a:t>
            </a:r>
            <a:endParaRPr lang="en-US" sz="1050" dirty="0"/>
          </a:p>
        </p:txBody>
      </p:sp>
      <p:sp>
        <p:nvSpPr>
          <p:cNvPr id="26" name="Shape 24"/>
          <p:cNvSpPr/>
          <p:nvPr/>
        </p:nvSpPr>
        <p:spPr>
          <a:xfrm>
            <a:off x="548640" y="3611880"/>
            <a:ext cx="3840480" cy="0"/>
          </a:xfrm>
          <a:prstGeom prst="line">
            <a:avLst/>
          </a:prstGeom>
          <a:noFill/>
          <a:ln w="12700">
            <a:solidFill>
              <a:srgbClr val="9A94AE"/>
            </a:solidFill>
            <a:prstDash val="solid"/>
          </a:ln>
        </p:spPr>
      </p:sp>
      <p:sp>
        <p:nvSpPr>
          <p:cNvPr id="27" name="Text 25"/>
          <p:cNvSpPr/>
          <p:nvPr/>
        </p:nvSpPr>
        <p:spPr>
          <a:xfrm>
            <a:off x="548640" y="3611880"/>
            <a:ext cx="2148840" cy="329184"/>
          </a:xfrm>
          <a:prstGeom prst="rect">
            <a:avLst/>
          </a:prstGeom>
          <a:noFill/>
          <a:ln/>
        </p:spPr>
        <p:txBody>
          <a:bodyPr wrap="square" lIns="38100" tIns="38100" rIns="38100" bIns="38100" rtlCol="0" anchor="ctr"/>
          <a:lstStyle/>
          <a:p>
            <a:pPr algn="l" indent="0" marL="0">
              <a:buNone/>
            </a:pPr>
            <a:r>
              <a:rPr lang="en-US" sz="1050" dirty="0">
                <a:solidFill>
                  <a:srgbClr val="1A1A1A"/>
                </a:solidFill>
                <a:latin typeface="Cambria" pitchFamily="34" charset="0"/>
                <a:ea typeface="Cambria" pitchFamily="34" charset="-122"/>
                <a:cs typeface="Cambria" pitchFamily="34" charset="-120"/>
              </a:rPr>
              <a:t>“Tap the button.”</a:t>
            </a:r>
            <a:endParaRPr lang="en-US" sz="1050" dirty="0"/>
          </a:p>
        </p:txBody>
      </p:sp>
      <p:sp>
        <p:nvSpPr>
          <p:cNvPr id="28" name="Text 26"/>
          <p:cNvSpPr/>
          <p:nvPr/>
        </p:nvSpPr>
        <p:spPr>
          <a:xfrm>
            <a:off x="2697480" y="3611880"/>
            <a:ext cx="685800" cy="329184"/>
          </a:xfrm>
          <a:prstGeom prst="rect">
            <a:avLst/>
          </a:prstGeom>
          <a:noFill/>
          <a:ln/>
        </p:spPr>
        <p:txBody>
          <a:bodyPr wrap="square" lIns="38100" tIns="38100" rIns="38100" bIns="38100" rtlCol="0" anchor="ctr"/>
          <a:lstStyle/>
          <a:p>
            <a:pPr algn="ctr" indent="0" marL="0">
              <a:buNone/>
            </a:pPr>
            <a:r>
              <a:rPr lang="en-US" sz="1050" dirty="0">
                <a:solidFill>
                  <a:srgbClr val="1A1A1A"/>
                </a:solidFill>
                <a:latin typeface="Cambria" pitchFamily="34" charset="0"/>
                <a:ea typeface="Cambria" pitchFamily="34" charset="-122"/>
                <a:cs typeface="Cambria" pitchFamily="34" charset="-120"/>
              </a:rPr>
              <a:t>15,9</a:t>
            </a:r>
            <a:endParaRPr lang="en-US" sz="1050" dirty="0"/>
          </a:p>
        </p:txBody>
      </p:sp>
      <p:sp>
        <p:nvSpPr>
          <p:cNvPr id="29" name="Text 27"/>
          <p:cNvSpPr/>
          <p:nvPr/>
        </p:nvSpPr>
        <p:spPr>
          <a:xfrm>
            <a:off x="3383280" y="3611880"/>
            <a:ext cx="1005840" cy="329184"/>
          </a:xfrm>
          <a:prstGeom prst="rect">
            <a:avLst/>
          </a:prstGeom>
          <a:noFill/>
          <a:ln/>
        </p:spPr>
        <p:txBody>
          <a:bodyPr wrap="square" lIns="38100" tIns="38100" rIns="38100" bIns="38100" rtlCol="0" anchor="ctr"/>
          <a:lstStyle/>
          <a:p>
            <a:pPr algn="ctr" indent="0" marL="0">
              <a:buNone/>
            </a:pPr>
            <a:r>
              <a:rPr lang="en-US" sz="1050" dirty="0">
                <a:solidFill>
                  <a:srgbClr val="1A1A1A"/>
                </a:solidFill>
                <a:latin typeface="Cambria" pitchFamily="34" charset="0"/>
                <a:ea typeface="Cambria" pitchFamily="34" charset="-122"/>
                <a:cs typeface="Cambria" pitchFamily="34" charset="-120"/>
              </a:rPr>
              <a:t>[14,7; 17,0]</a:t>
            </a:r>
            <a:endParaRPr lang="en-US" sz="1050" dirty="0"/>
          </a:p>
        </p:txBody>
      </p:sp>
      <p:sp>
        <p:nvSpPr>
          <p:cNvPr id="30" name="Shape 28"/>
          <p:cNvSpPr/>
          <p:nvPr/>
        </p:nvSpPr>
        <p:spPr>
          <a:xfrm>
            <a:off x="548640" y="3941064"/>
            <a:ext cx="3840480" cy="0"/>
          </a:xfrm>
          <a:prstGeom prst="line">
            <a:avLst/>
          </a:prstGeom>
          <a:noFill/>
          <a:ln w="12700">
            <a:solidFill>
              <a:srgbClr val="9A94AE"/>
            </a:solidFill>
            <a:prstDash val="solid"/>
          </a:ln>
        </p:spPr>
      </p:sp>
      <p:sp>
        <p:nvSpPr>
          <p:cNvPr id="31" name="Text 29"/>
          <p:cNvSpPr/>
          <p:nvPr/>
        </p:nvSpPr>
        <p:spPr>
          <a:xfrm>
            <a:off x="548640" y="3941064"/>
            <a:ext cx="2148840" cy="329184"/>
          </a:xfrm>
          <a:prstGeom prst="rect">
            <a:avLst/>
          </a:prstGeom>
          <a:noFill/>
          <a:ln/>
        </p:spPr>
        <p:txBody>
          <a:bodyPr wrap="square" lIns="38100" tIns="38100" rIns="38100" bIns="38100" rtlCol="0" anchor="ctr"/>
          <a:lstStyle/>
          <a:p>
            <a:pPr algn="l" indent="0" marL="0">
              <a:buNone/>
            </a:pPr>
            <a:r>
              <a:rPr lang="en-US" sz="1050" dirty="0">
                <a:solidFill>
                  <a:srgbClr val="1A1A1A"/>
                </a:solidFill>
                <a:latin typeface="Cambria" pitchFamily="34" charset="0"/>
                <a:ea typeface="Cambria" pitchFamily="34" charset="-122"/>
                <a:cs typeface="Cambria" pitchFamily="34" charset="-120"/>
              </a:rPr>
              <a:t>Đoán ngẫu nhiên</a:t>
            </a:r>
            <a:endParaRPr lang="en-US" sz="1050" dirty="0"/>
          </a:p>
        </p:txBody>
      </p:sp>
      <p:sp>
        <p:nvSpPr>
          <p:cNvPr id="32" name="Text 30"/>
          <p:cNvSpPr/>
          <p:nvPr/>
        </p:nvSpPr>
        <p:spPr>
          <a:xfrm>
            <a:off x="2697480" y="3941064"/>
            <a:ext cx="685800" cy="329184"/>
          </a:xfrm>
          <a:prstGeom prst="rect">
            <a:avLst/>
          </a:prstGeom>
          <a:noFill/>
          <a:ln/>
        </p:spPr>
        <p:txBody>
          <a:bodyPr wrap="square" lIns="38100" tIns="38100" rIns="38100" bIns="38100" rtlCol="0" anchor="ctr"/>
          <a:lstStyle/>
          <a:p>
            <a:pPr algn="ctr" indent="0" marL="0">
              <a:buNone/>
            </a:pPr>
            <a:r>
              <a:rPr lang="en-US" sz="1050" dirty="0">
                <a:solidFill>
                  <a:srgbClr val="1A1A1A"/>
                </a:solidFill>
                <a:latin typeface="Cambria" pitchFamily="34" charset="0"/>
                <a:ea typeface="Cambria" pitchFamily="34" charset="-122"/>
                <a:cs typeface="Cambria" pitchFamily="34" charset="-120"/>
              </a:rPr>
              <a:t>10,1</a:t>
            </a:r>
            <a:endParaRPr lang="en-US" sz="1050" dirty="0"/>
          </a:p>
        </p:txBody>
      </p:sp>
      <p:sp>
        <p:nvSpPr>
          <p:cNvPr id="33" name="Text 31"/>
          <p:cNvSpPr/>
          <p:nvPr/>
        </p:nvSpPr>
        <p:spPr>
          <a:xfrm>
            <a:off x="3383280" y="3941064"/>
            <a:ext cx="1005840" cy="329184"/>
          </a:xfrm>
          <a:prstGeom prst="rect">
            <a:avLst/>
          </a:prstGeom>
          <a:noFill/>
          <a:ln/>
        </p:spPr>
        <p:txBody>
          <a:bodyPr wrap="square" lIns="38100" tIns="38100" rIns="38100" bIns="38100" rtlCol="0" anchor="ctr"/>
          <a:lstStyle/>
          <a:p>
            <a:pPr algn="ctr" indent="0" marL="0">
              <a:buNone/>
            </a:pPr>
            <a:endParaRPr lang="en-US" sz="1050" dirty="0"/>
          </a:p>
        </p:txBody>
      </p:sp>
      <p:sp>
        <p:nvSpPr>
          <p:cNvPr id="34" name="Text 32"/>
          <p:cNvSpPr/>
          <p:nvPr/>
        </p:nvSpPr>
        <p:spPr>
          <a:xfrm>
            <a:off x="594360" y="4434840"/>
            <a:ext cx="3749040" cy="548640"/>
          </a:xfrm>
          <a:prstGeom prst="rect">
            <a:avLst/>
          </a:prstGeom>
          <a:noFill/>
          <a:ln/>
        </p:spPr>
        <p:txBody>
          <a:bodyPr wrap="square" lIns="0" tIns="0" rIns="0" bIns="0" rtlCol="0" anchor="t"/>
          <a:lstStyle/>
          <a:p>
            <a:pPr algn="l" indent="0" marL="0">
              <a:lnSpc>
                <a:spcPct val="115000"/>
              </a:lnSpc>
              <a:buNone/>
            </a:pPr>
            <a:r>
              <a:rPr lang="en-US" sz="1100" dirty="0">
                <a:solidFill>
                  <a:srgbClr val="1A1A1A"/>
                </a:solidFill>
                <a:latin typeface="Cambria" pitchFamily="34" charset="0"/>
                <a:ea typeface="Cambria" pitchFamily="34" charset="-122"/>
                <a:cs typeface="Cambria" pitchFamily="34" charset="-120"/>
              </a:rPr>
              <a:t>Thứ tự giữ nguyên; chặng ba − S1 = +1,14 [+0,23; +2,10].</a:t>
            </a:r>
            <a:endParaRPr lang="en-US" sz="1100" dirty="0"/>
          </a:p>
        </p:txBody>
      </p:sp>
      <p:sp>
        <p:nvSpPr>
          <p:cNvPr id="35" name="Text 33"/>
          <p:cNvSpPr/>
          <p:nvPr/>
        </p:nvSpPr>
        <p:spPr>
          <a:xfrm>
            <a:off x="594360" y="4937760"/>
            <a:ext cx="3749040" cy="548640"/>
          </a:xfrm>
          <a:prstGeom prst="rect">
            <a:avLst/>
          </a:prstGeom>
          <a:noFill/>
          <a:ln/>
        </p:spPr>
        <p:txBody>
          <a:bodyPr wrap="square" lIns="0" tIns="0" rIns="0" bIns="0" rtlCol="0" anchor="t"/>
          <a:lstStyle/>
          <a:p>
            <a:pPr algn="l" indent="0" marL="0">
              <a:lnSpc>
                <a:spcPct val="115000"/>
              </a:lnSpc>
              <a:buNone/>
            </a:pPr>
            <a:r>
              <a:rPr lang="en-US" sz="1100" dirty="0">
                <a:solidFill>
                  <a:srgbClr val="1A1A1A"/>
                </a:solidFill>
                <a:latin typeface="Cambria" pitchFamily="34" charset="0"/>
                <a:ea typeface="Cambria" pitchFamily="34" charset="-122"/>
                <a:cs typeface="Cambria" pitchFamily="34" charset="-120"/>
              </a:rPr>
              <a:t>κ với UGround 0,25 đến 0,44: sai ở bước khác nhau mà vẫn cùng thứ tự.</a:t>
            </a:r>
            <a:endParaRPr lang="en-US" sz="1100" dirty="0"/>
          </a:p>
        </p:txBody>
      </p:sp>
      <p:sp>
        <p:nvSpPr>
          <p:cNvPr id="36" name="Shape 34"/>
          <p:cNvSpPr/>
          <p:nvPr/>
        </p:nvSpPr>
        <p:spPr>
          <a:xfrm>
            <a:off x="4663440" y="731520"/>
            <a:ext cx="4023360" cy="4846320"/>
          </a:xfrm>
          <a:prstGeom prst="roundRect">
            <a:avLst>
              <a:gd name="adj" fmla="val 1364"/>
            </a:avLst>
          </a:prstGeom>
          <a:solidFill>
            <a:srgbClr val="E9E8EC"/>
          </a:solidFill>
          <a:ln/>
          <a:effectLst>
            <a:outerShdw sx="100000" sy="100000" kx="0" ky="0" algn="bl" rotWithShape="0" blurRad="63500" dist="31750" dir="2700000">
              <a:srgbClr val="8C8C99">
                <a:alpha val="45000"/>
              </a:srgbClr>
            </a:outerShdw>
          </a:effectLst>
        </p:spPr>
      </p:sp>
      <p:sp>
        <p:nvSpPr>
          <p:cNvPr id="37" name="Text 35"/>
          <p:cNvSpPr/>
          <p:nvPr/>
        </p:nvSpPr>
        <p:spPr>
          <a:xfrm>
            <a:off x="4800600" y="804672"/>
            <a:ext cx="3749040" cy="502920"/>
          </a:xfrm>
          <a:prstGeom prst="rect">
            <a:avLst/>
          </a:prstGeom>
          <a:noFill/>
          <a:ln/>
        </p:spPr>
        <p:txBody>
          <a:bodyPr wrap="square" lIns="0" tIns="0" rIns="0" bIns="0" rtlCol="0" anchor="t"/>
          <a:lstStyle/>
          <a:p>
            <a:pPr algn="l" indent="0" marL="0">
              <a:lnSpc>
                <a:spcPct val="110000"/>
              </a:lnSpc>
              <a:buNone/>
            </a:pPr>
            <a:r>
              <a:rPr lang="en-US" sz="1250" b="1" dirty="0">
                <a:solidFill>
                  <a:srgbClr val="322164"/>
                </a:solidFill>
                <a:latin typeface="Cambria" pitchFamily="34" charset="0"/>
                <a:ea typeface="Cambria" pitchFamily="34" charset="-122"/>
                <a:cs typeface="Cambria" pitchFamily="34" charset="-120"/>
              </a:rPr>
              <a:t>Mô hình định vị thứ hai: UI-Venus-Ground-7B (không học AndroidControl)</a:t>
            </a:r>
            <a:endParaRPr lang="en-US" sz="1250" dirty="0"/>
          </a:p>
        </p:txBody>
      </p:sp>
      <p:sp>
        <p:nvSpPr>
          <p:cNvPr id="38" name="Text 36"/>
          <p:cNvSpPr/>
          <p:nvPr/>
        </p:nvSpPr>
        <p:spPr>
          <a:xfrm>
            <a:off x="4800600" y="1325880"/>
            <a:ext cx="3749040" cy="365760"/>
          </a:xfrm>
          <a:prstGeom prst="rect">
            <a:avLst/>
          </a:prstGeom>
          <a:noFill/>
          <a:ln/>
        </p:spPr>
        <p:txBody>
          <a:bodyPr wrap="square" lIns="0" tIns="0" rIns="0" bIns="0" rtlCol="0" anchor="t"/>
          <a:lstStyle/>
          <a:p>
            <a:pPr algn="l" indent="0" marL="0">
              <a:buNone/>
            </a:pPr>
            <a:r>
              <a:rPr lang="en-US" sz="1050" dirty="0">
                <a:solidFill>
                  <a:srgbClr val="5A5A66"/>
                </a:solidFill>
                <a:latin typeface="Cambria" pitchFamily="34" charset="0"/>
                <a:ea typeface="Cambria" pitchFamily="34" charset="-122"/>
                <a:cs typeface="Cambria" pitchFamily="34" charset="-120"/>
              </a:rPr>
              <a:t>Chấm lại 2.532 bước mà các nhánh viết câu khác nhau.</a:t>
            </a:r>
            <a:endParaRPr lang="en-US" sz="1050" dirty="0"/>
          </a:p>
        </p:txBody>
      </p:sp>
      <p:sp>
        <p:nvSpPr>
          <p:cNvPr id="39" name="Shape 37"/>
          <p:cNvSpPr/>
          <p:nvPr/>
        </p:nvSpPr>
        <p:spPr>
          <a:xfrm>
            <a:off x="4754880" y="1965960"/>
            <a:ext cx="3840480" cy="329184"/>
          </a:xfrm>
          <a:prstGeom prst="rect">
            <a:avLst/>
          </a:prstGeom>
          <a:solidFill>
            <a:srgbClr val="322164"/>
          </a:solidFill>
          <a:ln/>
        </p:spPr>
      </p:sp>
      <p:sp>
        <p:nvSpPr>
          <p:cNvPr id="40" name="Text 38"/>
          <p:cNvSpPr/>
          <p:nvPr/>
        </p:nvSpPr>
        <p:spPr>
          <a:xfrm>
            <a:off x="4754880" y="1965960"/>
            <a:ext cx="1463040" cy="329184"/>
          </a:xfrm>
          <a:prstGeom prst="rect">
            <a:avLst/>
          </a:prstGeom>
          <a:noFill/>
          <a:ln/>
        </p:spPr>
        <p:txBody>
          <a:bodyPr wrap="square" lIns="38100" tIns="38100" rIns="38100" bIns="38100" rtlCol="0" anchor="ctr"/>
          <a:lstStyle/>
          <a:p>
            <a:pPr algn="l" indent="0" marL="0">
              <a:buNone/>
            </a:pPr>
            <a:r>
              <a:rPr lang="en-US" sz="1050" b="1" dirty="0">
                <a:solidFill>
                  <a:srgbClr val="FFFFFF"/>
                </a:solidFill>
                <a:latin typeface="Cambria" pitchFamily="34" charset="0"/>
                <a:ea typeface="Cambria" pitchFamily="34" charset="-122"/>
                <a:cs typeface="Cambria" pitchFamily="34" charset="-120"/>
              </a:rPr>
              <a:t>Nhánh</a:t>
            </a:r>
            <a:endParaRPr lang="en-US" sz="1050" dirty="0"/>
          </a:p>
        </p:txBody>
      </p:sp>
      <p:sp>
        <p:nvSpPr>
          <p:cNvPr id="41" name="Text 39"/>
          <p:cNvSpPr/>
          <p:nvPr/>
        </p:nvSpPr>
        <p:spPr>
          <a:xfrm>
            <a:off x="6217920" y="1965960"/>
            <a:ext cx="1188720" cy="329184"/>
          </a:xfrm>
          <a:prstGeom prst="rect">
            <a:avLst/>
          </a:prstGeom>
          <a:noFill/>
          <a:ln/>
        </p:spPr>
        <p:txBody>
          <a:bodyPr wrap="square" lIns="38100" tIns="38100" rIns="38100" bIns="38100" rtlCol="0" anchor="ctr"/>
          <a:lstStyle/>
          <a:p>
            <a:pPr algn="ctr" indent="0" marL="0">
              <a:buNone/>
            </a:pPr>
            <a:r>
              <a:rPr lang="en-US" sz="1050" b="1" dirty="0">
                <a:solidFill>
                  <a:srgbClr val="FFFFFF"/>
                </a:solidFill>
                <a:latin typeface="Cambria" pitchFamily="34" charset="0"/>
                <a:ea typeface="Cambria" pitchFamily="34" charset="-122"/>
                <a:cs typeface="Cambria" pitchFamily="34" charset="-120"/>
              </a:rPr>
              <a:t>UGround</a:t>
            </a:r>
            <a:endParaRPr lang="en-US" sz="1050" dirty="0"/>
          </a:p>
        </p:txBody>
      </p:sp>
      <p:sp>
        <p:nvSpPr>
          <p:cNvPr id="42" name="Text 40"/>
          <p:cNvSpPr/>
          <p:nvPr/>
        </p:nvSpPr>
        <p:spPr>
          <a:xfrm>
            <a:off x="7406640" y="1965960"/>
            <a:ext cx="1188720" cy="329184"/>
          </a:xfrm>
          <a:prstGeom prst="rect">
            <a:avLst/>
          </a:prstGeom>
          <a:noFill/>
          <a:ln/>
        </p:spPr>
        <p:txBody>
          <a:bodyPr wrap="square" lIns="38100" tIns="38100" rIns="38100" bIns="38100" rtlCol="0" anchor="ctr"/>
          <a:lstStyle/>
          <a:p>
            <a:pPr algn="ctr" indent="0" marL="0">
              <a:buNone/>
            </a:pPr>
            <a:r>
              <a:rPr lang="en-US" sz="1050" b="1" dirty="0">
                <a:solidFill>
                  <a:srgbClr val="FFFFFF"/>
                </a:solidFill>
                <a:latin typeface="Cambria" pitchFamily="34" charset="0"/>
                <a:ea typeface="Cambria" pitchFamily="34" charset="-122"/>
                <a:cs typeface="Cambria" pitchFamily="34" charset="-120"/>
              </a:rPr>
              <a:t>UI-Venus</a:t>
            </a:r>
            <a:endParaRPr lang="en-US" sz="1050" dirty="0"/>
          </a:p>
        </p:txBody>
      </p:sp>
      <p:sp>
        <p:nvSpPr>
          <p:cNvPr id="43" name="Text 41"/>
          <p:cNvSpPr/>
          <p:nvPr/>
        </p:nvSpPr>
        <p:spPr>
          <a:xfrm>
            <a:off x="4754880" y="2295144"/>
            <a:ext cx="1463040" cy="329184"/>
          </a:xfrm>
          <a:prstGeom prst="rect">
            <a:avLst/>
          </a:prstGeom>
          <a:noFill/>
          <a:ln/>
        </p:spPr>
        <p:txBody>
          <a:bodyPr wrap="square" lIns="38100" tIns="38100" rIns="38100" bIns="38100" rtlCol="0" anchor="ctr"/>
          <a:lstStyle/>
          <a:p>
            <a:pPr algn="l" indent="0" marL="0">
              <a:buNone/>
            </a:pPr>
            <a:r>
              <a:rPr lang="en-US" sz="1050" dirty="0">
                <a:solidFill>
                  <a:srgbClr val="1A1A1A"/>
                </a:solidFill>
                <a:latin typeface="Cambria" pitchFamily="34" charset="0"/>
                <a:ea typeface="Cambria" pitchFamily="34" charset="-122"/>
                <a:cs typeface="Cambria" pitchFamily="34" charset="-120"/>
              </a:rPr>
              <a:t>Base</a:t>
            </a:r>
            <a:endParaRPr lang="en-US" sz="1050" dirty="0"/>
          </a:p>
        </p:txBody>
      </p:sp>
      <p:sp>
        <p:nvSpPr>
          <p:cNvPr id="44" name="Text 42"/>
          <p:cNvSpPr/>
          <p:nvPr/>
        </p:nvSpPr>
        <p:spPr>
          <a:xfrm>
            <a:off x="6217920" y="2295144"/>
            <a:ext cx="1188720" cy="329184"/>
          </a:xfrm>
          <a:prstGeom prst="rect">
            <a:avLst/>
          </a:prstGeom>
          <a:noFill/>
          <a:ln/>
        </p:spPr>
        <p:txBody>
          <a:bodyPr wrap="square" lIns="38100" tIns="38100" rIns="38100" bIns="38100" rtlCol="0" anchor="ctr"/>
          <a:lstStyle/>
          <a:p>
            <a:pPr algn="ctr" indent="0" marL="0">
              <a:buNone/>
            </a:pPr>
            <a:r>
              <a:rPr lang="en-US" sz="1050" dirty="0">
                <a:solidFill>
                  <a:srgbClr val="1A1A1A"/>
                </a:solidFill>
                <a:latin typeface="Cambria" pitchFamily="34" charset="0"/>
                <a:ea typeface="Cambria" pitchFamily="34" charset="-122"/>
                <a:cs typeface="Cambria" pitchFamily="34" charset="-120"/>
              </a:rPr>
              <a:t>42,5</a:t>
            </a:r>
            <a:endParaRPr lang="en-US" sz="1050" dirty="0"/>
          </a:p>
        </p:txBody>
      </p:sp>
      <p:sp>
        <p:nvSpPr>
          <p:cNvPr id="45" name="Text 43"/>
          <p:cNvSpPr/>
          <p:nvPr/>
        </p:nvSpPr>
        <p:spPr>
          <a:xfrm>
            <a:off x="7406640" y="2295144"/>
            <a:ext cx="1188720" cy="329184"/>
          </a:xfrm>
          <a:prstGeom prst="rect">
            <a:avLst/>
          </a:prstGeom>
          <a:noFill/>
          <a:ln/>
        </p:spPr>
        <p:txBody>
          <a:bodyPr wrap="square" lIns="38100" tIns="38100" rIns="38100" bIns="38100" rtlCol="0" anchor="ctr"/>
          <a:lstStyle/>
          <a:p>
            <a:pPr algn="ctr" indent="0" marL="0">
              <a:buNone/>
            </a:pPr>
            <a:r>
              <a:rPr lang="en-US" sz="1050" dirty="0">
                <a:solidFill>
                  <a:srgbClr val="1A1A1A"/>
                </a:solidFill>
                <a:latin typeface="Cambria" pitchFamily="34" charset="0"/>
                <a:ea typeface="Cambria" pitchFamily="34" charset="-122"/>
                <a:cs typeface="Cambria" pitchFamily="34" charset="-120"/>
              </a:rPr>
              <a:t>39,1</a:t>
            </a:r>
            <a:endParaRPr lang="en-US" sz="1050" dirty="0"/>
          </a:p>
        </p:txBody>
      </p:sp>
      <p:sp>
        <p:nvSpPr>
          <p:cNvPr id="46" name="Shape 44"/>
          <p:cNvSpPr/>
          <p:nvPr/>
        </p:nvSpPr>
        <p:spPr>
          <a:xfrm>
            <a:off x="4754880" y="2624328"/>
            <a:ext cx="3840480" cy="0"/>
          </a:xfrm>
          <a:prstGeom prst="line">
            <a:avLst/>
          </a:prstGeom>
          <a:noFill/>
          <a:ln w="12700">
            <a:solidFill>
              <a:srgbClr val="9A94AE"/>
            </a:solidFill>
            <a:prstDash val="solid"/>
          </a:ln>
        </p:spPr>
      </p:sp>
      <p:sp>
        <p:nvSpPr>
          <p:cNvPr id="47" name="Text 45"/>
          <p:cNvSpPr/>
          <p:nvPr/>
        </p:nvSpPr>
        <p:spPr>
          <a:xfrm>
            <a:off x="4754880" y="2624328"/>
            <a:ext cx="1463040" cy="329184"/>
          </a:xfrm>
          <a:prstGeom prst="rect">
            <a:avLst/>
          </a:prstGeom>
          <a:noFill/>
          <a:ln/>
        </p:spPr>
        <p:txBody>
          <a:bodyPr wrap="square" lIns="38100" tIns="38100" rIns="38100" bIns="38100" rtlCol="0" anchor="ctr"/>
          <a:lstStyle/>
          <a:p>
            <a:pPr algn="l" indent="0" marL="0">
              <a:buNone/>
            </a:pPr>
            <a:r>
              <a:rPr lang="en-US" sz="1050" dirty="0">
                <a:solidFill>
                  <a:srgbClr val="1A1A1A"/>
                </a:solidFill>
                <a:latin typeface="Cambria" pitchFamily="34" charset="0"/>
                <a:ea typeface="Cambria" pitchFamily="34" charset="-122"/>
                <a:cs typeface="Cambria" pitchFamily="34" charset="-120"/>
              </a:rPr>
              <a:t>S1</a:t>
            </a:r>
            <a:endParaRPr lang="en-US" sz="1050" dirty="0"/>
          </a:p>
        </p:txBody>
      </p:sp>
      <p:sp>
        <p:nvSpPr>
          <p:cNvPr id="48" name="Text 46"/>
          <p:cNvSpPr/>
          <p:nvPr/>
        </p:nvSpPr>
        <p:spPr>
          <a:xfrm>
            <a:off x="6217920" y="2624328"/>
            <a:ext cx="1188720" cy="329184"/>
          </a:xfrm>
          <a:prstGeom prst="rect">
            <a:avLst/>
          </a:prstGeom>
          <a:noFill/>
          <a:ln/>
        </p:spPr>
        <p:txBody>
          <a:bodyPr wrap="square" lIns="38100" tIns="38100" rIns="38100" bIns="38100" rtlCol="0" anchor="ctr"/>
          <a:lstStyle/>
          <a:p>
            <a:pPr algn="ctr" indent="0" marL="0">
              <a:buNone/>
            </a:pPr>
            <a:r>
              <a:rPr lang="en-US" sz="1050" dirty="0">
                <a:solidFill>
                  <a:srgbClr val="1A1A1A"/>
                </a:solidFill>
                <a:latin typeface="Cambria" pitchFamily="34" charset="0"/>
                <a:ea typeface="Cambria" pitchFamily="34" charset="-122"/>
                <a:cs typeface="Cambria" pitchFamily="34" charset="-120"/>
              </a:rPr>
              <a:t>52,8</a:t>
            </a:r>
            <a:endParaRPr lang="en-US" sz="1050" dirty="0"/>
          </a:p>
        </p:txBody>
      </p:sp>
      <p:sp>
        <p:nvSpPr>
          <p:cNvPr id="49" name="Text 47"/>
          <p:cNvSpPr/>
          <p:nvPr/>
        </p:nvSpPr>
        <p:spPr>
          <a:xfrm>
            <a:off x="7406640" y="2624328"/>
            <a:ext cx="1188720" cy="329184"/>
          </a:xfrm>
          <a:prstGeom prst="rect">
            <a:avLst/>
          </a:prstGeom>
          <a:noFill/>
          <a:ln/>
        </p:spPr>
        <p:txBody>
          <a:bodyPr wrap="square" lIns="38100" tIns="38100" rIns="38100" bIns="38100" rtlCol="0" anchor="ctr"/>
          <a:lstStyle/>
          <a:p>
            <a:pPr algn="ctr" indent="0" marL="0">
              <a:buNone/>
            </a:pPr>
            <a:r>
              <a:rPr lang="en-US" sz="1050" dirty="0">
                <a:solidFill>
                  <a:srgbClr val="1A1A1A"/>
                </a:solidFill>
                <a:latin typeface="Cambria" pitchFamily="34" charset="0"/>
                <a:ea typeface="Cambria" pitchFamily="34" charset="-122"/>
                <a:cs typeface="Cambria" pitchFamily="34" charset="-120"/>
              </a:rPr>
              <a:t>48,7</a:t>
            </a:r>
            <a:endParaRPr lang="en-US" sz="1050" dirty="0"/>
          </a:p>
        </p:txBody>
      </p:sp>
      <p:sp>
        <p:nvSpPr>
          <p:cNvPr id="50" name="Shape 48"/>
          <p:cNvSpPr/>
          <p:nvPr/>
        </p:nvSpPr>
        <p:spPr>
          <a:xfrm>
            <a:off x="4754880" y="2953512"/>
            <a:ext cx="3840480" cy="0"/>
          </a:xfrm>
          <a:prstGeom prst="line">
            <a:avLst/>
          </a:prstGeom>
          <a:noFill/>
          <a:ln w="12700">
            <a:solidFill>
              <a:srgbClr val="9A94AE"/>
            </a:solidFill>
            <a:prstDash val="solid"/>
          </a:ln>
        </p:spPr>
      </p:sp>
      <p:sp>
        <p:nvSpPr>
          <p:cNvPr id="51" name="Text 49"/>
          <p:cNvSpPr/>
          <p:nvPr/>
        </p:nvSpPr>
        <p:spPr>
          <a:xfrm>
            <a:off x="4754880" y="2953512"/>
            <a:ext cx="1463040" cy="329184"/>
          </a:xfrm>
          <a:prstGeom prst="rect">
            <a:avLst/>
          </a:prstGeom>
          <a:noFill/>
          <a:ln/>
        </p:spPr>
        <p:txBody>
          <a:bodyPr wrap="square" lIns="38100" tIns="38100" rIns="38100" bIns="38100" rtlCol="0" anchor="ctr"/>
          <a:lstStyle/>
          <a:p>
            <a:pPr algn="l" indent="0" marL="0">
              <a:buNone/>
            </a:pPr>
            <a:r>
              <a:rPr lang="en-US" sz="1050" dirty="0">
                <a:solidFill>
                  <a:srgbClr val="1A1A1A"/>
                </a:solidFill>
                <a:latin typeface="Cambria" pitchFamily="34" charset="0"/>
                <a:ea typeface="Cambria" pitchFamily="34" charset="-122"/>
                <a:cs typeface="Cambria" pitchFamily="34" charset="-120"/>
              </a:rPr>
              <a:t>S2</a:t>
            </a:r>
            <a:endParaRPr lang="en-US" sz="1050" dirty="0"/>
          </a:p>
        </p:txBody>
      </p:sp>
      <p:sp>
        <p:nvSpPr>
          <p:cNvPr id="52" name="Text 50"/>
          <p:cNvSpPr/>
          <p:nvPr/>
        </p:nvSpPr>
        <p:spPr>
          <a:xfrm>
            <a:off x="6217920" y="2953512"/>
            <a:ext cx="1188720" cy="329184"/>
          </a:xfrm>
          <a:prstGeom prst="rect">
            <a:avLst/>
          </a:prstGeom>
          <a:noFill/>
          <a:ln/>
        </p:spPr>
        <p:txBody>
          <a:bodyPr wrap="square" lIns="38100" tIns="38100" rIns="38100" bIns="38100" rtlCol="0" anchor="ctr"/>
          <a:lstStyle/>
          <a:p>
            <a:pPr algn="ctr" indent="0" marL="0">
              <a:buNone/>
            </a:pPr>
            <a:r>
              <a:rPr lang="en-US" sz="1050" dirty="0">
                <a:solidFill>
                  <a:srgbClr val="1A1A1A"/>
                </a:solidFill>
                <a:latin typeface="Cambria" pitchFamily="34" charset="0"/>
                <a:ea typeface="Cambria" pitchFamily="34" charset="-122"/>
                <a:cs typeface="Cambria" pitchFamily="34" charset="-120"/>
              </a:rPr>
              <a:t>49,5</a:t>
            </a:r>
            <a:endParaRPr lang="en-US" sz="1050" dirty="0"/>
          </a:p>
        </p:txBody>
      </p:sp>
      <p:sp>
        <p:nvSpPr>
          <p:cNvPr id="53" name="Text 51"/>
          <p:cNvSpPr/>
          <p:nvPr/>
        </p:nvSpPr>
        <p:spPr>
          <a:xfrm>
            <a:off x="7406640" y="2953512"/>
            <a:ext cx="1188720" cy="329184"/>
          </a:xfrm>
          <a:prstGeom prst="rect">
            <a:avLst/>
          </a:prstGeom>
          <a:noFill/>
          <a:ln/>
        </p:spPr>
        <p:txBody>
          <a:bodyPr wrap="square" lIns="38100" tIns="38100" rIns="38100" bIns="38100" rtlCol="0" anchor="ctr"/>
          <a:lstStyle/>
          <a:p>
            <a:pPr algn="ctr" indent="0" marL="0">
              <a:buNone/>
            </a:pPr>
            <a:r>
              <a:rPr lang="en-US" sz="1050" dirty="0">
                <a:solidFill>
                  <a:srgbClr val="1A1A1A"/>
                </a:solidFill>
                <a:latin typeface="Cambria" pitchFamily="34" charset="0"/>
                <a:ea typeface="Cambria" pitchFamily="34" charset="-122"/>
                <a:cs typeface="Cambria" pitchFamily="34" charset="-120"/>
              </a:rPr>
              <a:t>46,6</a:t>
            </a:r>
            <a:endParaRPr lang="en-US" sz="1050" dirty="0"/>
          </a:p>
        </p:txBody>
      </p:sp>
      <p:sp>
        <p:nvSpPr>
          <p:cNvPr id="54" name="Shape 52"/>
          <p:cNvSpPr/>
          <p:nvPr/>
        </p:nvSpPr>
        <p:spPr>
          <a:xfrm>
            <a:off x="4754880" y="3282696"/>
            <a:ext cx="3840480" cy="0"/>
          </a:xfrm>
          <a:prstGeom prst="line">
            <a:avLst/>
          </a:prstGeom>
          <a:noFill/>
          <a:ln w="12700">
            <a:solidFill>
              <a:srgbClr val="9A94AE"/>
            </a:solidFill>
            <a:prstDash val="solid"/>
          </a:ln>
        </p:spPr>
      </p:sp>
      <p:sp>
        <p:nvSpPr>
          <p:cNvPr id="55" name="Text 53"/>
          <p:cNvSpPr/>
          <p:nvPr/>
        </p:nvSpPr>
        <p:spPr>
          <a:xfrm>
            <a:off x="4754880" y="3282696"/>
            <a:ext cx="1463040" cy="329184"/>
          </a:xfrm>
          <a:prstGeom prst="rect">
            <a:avLst/>
          </a:prstGeom>
          <a:noFill/>
          <a:ln/>
        </p:spPr>
        <p:txBody>
          <a:bodyPr wrap="square" lIns="38100" tIns="38100" rIns="38100" bIns="38100" rtlCol="0" anchor="ctr"/>
          <a:lstStyle/>
          <a:p>
            <a:pPr algn="l" indent="0" marL="0">
              <a:buNone/>
            </a:pPr>
            <a:r>
              <a:rPr lang="en-US" sz="1050" dirty="0">
                <a:solidFill>
                  <a:srgbClr val="1A1A1A"/>
                </a:solidFill>
                <a:latin typeface="Cambria" pitchFamily="34" charset="0"/>
                <a:ea typeface="Cambria" pitchFamily="34" charset="-122"/>
                <a:cs typeface="Cambria" pitchFamily="34" charset="-120"/>
              </a:rPr>
              <a:t>Trần trên mẫu</a:t>
            </a:r>
            <a:endParaRPr lang="en-US" sz="1050" dirty="0"/>
          </a:p>
        </p:txBody>
      </p:sp>
      <p:sp>
        <p:nvSpPr>
          <p:cNvPr id="56" name="Text 54"/>
          <p:cNvSpPr/>
          <p:nvPr/>
        </p:nvSpPr>
        <p:spPr>
          <a:xfrm>
            <a:off x="6217920" y="3282696"/>
            <a:ext cx="1188720" cy="329184"/>
          </a:xfrm>
          <a:prstGeom prst="rect">
            <a:avLst/>
          </a:prstGeom>
          <a:noFill/>
          <a:ln/>
        </p:spPr>
        <p:txBody>
          <a:bodyPr wrap="square" lIns="38100" tIns="38100" rIns="38100" bIns="38100" rtlCol="0" anchor="ctr"/>
          <a:lstStyle/>
          <a:p>
            <a:pPr algn="ctr" indent="0" marL="0">
              <a:buNone/>
            </a:pPr>
            <a:r>
              <a:rPr lang="en-US" sz="1050" dirty="0">
                <a:solidFill>
                  <a:srgbClr val="1A1A1A"/>
                </a:solidFill>
                <a:latin typeface="Cambria" pitchFamily="34" charset="0"/>
                <a:ea typeface="Cambria" pitchFamily="34" charset="-122"/>
                <a:cs typeface="Cambria" pitchFamily="34" charset="-120"/>
              </a:rPr>
              <a:t>70,0</a:t>
            </a:r>
            <a:endParaRPr lang="en-US" sz="1050" dirty="0"/>
          </a:p>
        </p:txBody>
      </p:sp>
      <p:sp>
        <p:nvSpPr>
          <p:cNvPr id="57" name="Text 55"/>
          <p:cNvSpPr/>
          <p:nvPr/>
        </p:nvSpPr>
        <p:spPr>
          <a:xfrm>
            <a:off x="7406640" y="3282696"/>
            <a:ext cx="1188720" cy="329184"/>
          </a:xfrm>
          <a:prstGeom prst="rect">
            <a:avLst/>
          </a:prstGeom>
          <a:noFill/>
          <a:ln/>
        </p:spPr>
        <p:txBody>
          <a:bodyPr wrap="square" lIns="38100" tIns="38100" rIns="38100" bIns="38100" rtlCol="0" anchor="ctr"/>
          <a:lstStyle/>
          <a:p>
            <a:pPr algn="ctr" indent="0" marL="0">
              <a:buNone/>
            </a:pPr>
            <a:r>
              <a:rPr lang="en-US" sz="1050" dirty="0">
                <a:solidFill>
                  <a:srgbClr val="1A1A1A"/>
                </a:solidFill>
                <a:latin typeface="Cambria" pitchFamily="34" charset="0"/>
                <a:ea typeface="Cambria" pitchFamily="34" charset="-122"/>
                <a:cs typeface="Cambria" pitchFamily="34" charset="-120"/>
              </a:rPr>
              <a:t>69,3</a:t>
            </a:r>
            <a:endParaRPr lang="en-US" sz="1050" dirty="0"/>
          </a:p>
        </p:txBody>
      </p:sp>
      <p:sp>
        <p:nvSpPr>
          <p:cNvPr id="58" name="Shape 56"/>
          <p:cNvSpPr/>
          <p:nvPr/>
        </p:nvSpPr>
        <p:spPr>
          <a:xfrm>
            <a:off x="4754880" y="3749040"/>
            <a:ext cx="3840480" cy="329184"/>
          </a:xfrm>
          <a:prstGeom prst="rect">
            <a:avLst/>
          </a:prstGeom>
          <a:solidFill>
            <a:srgbClr val="322164"/>
          </a:solidFill>
          <a:ln/>
        </p:spPr>
      </p:sp>
      <p:sp>
        <p:nvSpPr>
          <p:cNvPr id="59" name="Text 57"/>
          <p:cNvSpPr/>
          <p:nvPr/>
        </p:nvSpPr>
        <p:spPr>
          <a:xfrm>
            <a:off x="4754880" y="3749040"/>
            <a:ext cx="1463040" cy="329184"/>
          </a:xfrm>
          <a:prstGeom prst="rect">
            <a:avLst/>
          </a:prstGeom>
          <a:noFill/>
          <a:ln/>
        </p:spPr>
        <p:txBody>
          <a:bodyPr wrap="square" lIns="38100" tIns="38100" rIns="38100" bIns="38100" rtlCol="0" anchor="ctr"/>
          <a:lstStyle/>
          <a:p>
            <a:pPr algn="l" indent="0" marL="0">
              <a:buNone/>
            </a:pPr>
            <a:r>
              <a:rPr lang="en-US" sz="1050" b="1" dirty="0">
                <a:solidFill>
                  <a:srgbClr val="FFFFFF"/>
                </a:solidFill>
                <a:latin typeface="Cambria" pitchFamily="34" charset="0"/>
                <a:ea typeface="Cambria" pitchFamily="34" charset="-122"/>
                <a:cs typeface="Cambria" pitchFamily="34" charset="-120"/>
              </a:rPr>
              <a:t>Phép so</a:t>
            </a:r>
            <a:endParaRPr lang="en-US" sz="1050" dirty="0"/>
          </a:p>
        </p:txBody>
      </p:sp>
      <p:sp>
        <p:nvSpPr>
          <p:cNvPr id="60" name="Text 58"/>
          <p:cNvSpPr/>
          <p:nvPr/>
        </p:nvSpPr>
        <p:spPr>
          <a:xfrm>
            <a:off x="6217920" y="3749040"/>
            <a:ext cx="1188720" cy="329184"/>
          </a:xfrm>
          <a:prstGeom prst="rect">
            <a:avLst/>
          </a:prstGeom>
          <a:noFill/>
          <a:ln/>
        </p:spPr>
        <p:txBody>
          <a:bodyPr wrap="square" lIns="38100" tIns="38100" rIns="38100" bIns="38100" rtlCol="0" anchor="ctr"/>
          <a:lstStyle/>
          <a:p>
            <a:pPr algn="ctr" indent="0" marL="0">
              <a:buNone/>
            </a:pPr>
            <a:r>
              <a:rPr lang="en-US" sz="1050" b="1" dirty="0">
                <a:solidFill>
                  <a:srgbClr val="FFFFFF"/>
                </a:solidFill>
                <a:latin typeface="Cambria" pitchFamily="34" charset="0"/>
                <a:ea typeface="Cambria" pitchFamily="34" charset="-122"/>
                <a:cs typeface="Cambria" pitchFamily="34" charset="-120"/>
              </a:rPr>
              <a:t>UGround</a:t>
            </a:r>
            <a:endParaRPr lang="en-US" sz="1050" dirty="0"/>
          </a:p>
        </p:txBody>
      </p:sp>
      <p:sp>
        <p:nvSpPr>
          <p:cNvPr id="61" name="Text 59"/>
          <p:cNvSpPr/>
          <p:nvPr/>
        </p:nvSpPr>
        <p:spPr>
          <a:xfrm>
            <a:off x="7406640" y="3749040"/>
            <a:ext cx="1188720" cy="329184"/>
          </a:xfrm>
          <a:prstGeom prst="rect">
            <a:avLst/>
          </a:prstGeom>
          <a:noFill/>
          <a:ln/>
        </p:spPr>
        <p:txBody>
          <a:bodyPr wrap="square" lIns="38100" tIns="38100" rIns="38100" bIns="38100" rtlCol="0" anchor="ctr"/>
          <a:lstStyle/>
          <a:p>
            <a:pPr algn="ctr" indent="0" marL="0">
              <a:buNone/>
            </a:pPr>
            <a:r>
              <a:rPr lang="en-US" sz="1050" b="1" dirty="0">
                <a:solidFill>
                  <a:srgbClr val="FFFFFF"/>
                </a:solidFill>
                <a:latin typeface="Cambria" pitchFamily="34" charset="0"/>
                <a:ea typeface="Cambria" pitchFamily="34" charset="-122"/>
                <a:cs typeface="Cambria" pitchFamily="34" charset="-120"/>
              </a:rPr>
              <a:t>UI-Venus</a:t>
            </a:r>
            <a:endParaRPr lang="en-US" sz="1050" dirty="0"/>
          </a:p>
        </p:txBody>
      </p:sp>
      <p:sp>
        <p:nvSpPr>
          <p:cNvPr id="62" name="Text 60"/>
          <p:cNvSpPr/>
          <p:nvPr/>
        </p:nvSpPr>
        <p:spPr>
          <a:xfrm>
            <a:off x="4754880" y="4078224"/>
            <a:ext cx="1463040" cy="329184"/>
          </a:xfrm>
          <a:prstGeom prst="rect">
            <a:avLst/>
          </a:prstGeom>
          <a:noFill/>
          <a:ln/>
        </p:spPr>
        <p:txBody>
          <a:bodyPr wrap="square" lIns="38100" tIns="38100" rIns="38100" bIns="38100" rtlCol="0" anchor="ctr"/>
          <a:lstStyle/>
          <a:p>
            <a:pPr algn="l" indent="0" marL="0">
              <a:buNone/>
            </a:pPr>
            <a:r>
              <a:rPr lang="en-US" sz="1050" dirty="0">
                <a:solidFill>
                  <a:srgbClr val="1A1A1A"/>
                </a:solidFill>
                <a:latin typeface="Cambria" pitchFamily="34" charset="0"/>
                <a:ea typeface="Cambria" pitchFamily="34" charset="-122"/>
                <a:cs typeface="Cambria" pitchFamily="34" charset="-120"/>
              </a:rPr>
              <a:t>S1 − Base</a:t>
            </a:r>
            <a:endParaRPr lang="en-US" sz="1050" dirty="0"/>
          </a:p>
        </p:txBody>
      </p:sp>
      <p:sp>
        <p:nvSpPr>
          <p:cNvPr id="63" name="Text 61"/>
          <p:cNvSpPr/>
          <p:nvPr/>
        </p:nvSpPr>
        <p:spPr>
          <a:xfrm>
            <a:off x="6217920" y="4078224"/>
            <a:ext cx="1188720" cy="329184"/>
          </a:xfrm>
          <a:prstGeom prst="rect">
            <a:avLst/>
          </a:prstGeom>
          <a:noFill/>
          <a:ln/>
        </p:spPr>
        <p:txBody>
          <a:bodyPr wrap="square" lIns="38100" tIns="38100" rIns="38100" bIns="38100" rtlCol="0" anchor="ctr"/>
          <a:lstStyle/>
          <a:p>
            <a:pPr algn="ctr" indent="0" marL="0">
              <a:buNone/>
            </a:pPr>
            <a:r>
              <a:rPr lang="en-US" sz="1050" dirty="0">
                <a:solidFill>
                  <a:srgbClr val="1A1A1A"/>
                </a:solidFill>
                <a:latin typeface="Cambria" pitchFamily="34" charset="0"/>
                <a:ea typeface="Cambria" pitchFamily="34" charset="-122"/>
                <a:cs typeface="Cambria" pitchFamily="34" charset="-120"/>
              </a:rPr>
              <a:t>+10,35</a:t>
            </a:r>
            <a:endParaRPr lang="en-US" sz="1050" dirty="0"/>
          </a:p>
        </p:txBody>
      </p:sp>
      <p:sp>
        <p:nvSpPr>
          <p:cNvPr id="64" name="Text 62"/>
          <p:cNvSpPr/>
          <p:nvPr/>
        </p:nvSpPr>
        <p:spPr>
          <a:xfrm>
            <a:off x="7406640" y="4078224"/>
            <a:ext cx="1188720" cy="329184"/>
          </a:xfrm>
          <a:prstGeom prst="rect">
            <a:avLst/>
          </a:prstGeom>
          <a:noFill/>
          <a:ln/>
        </p:spPr>
        <p:txBody>
          <a:bodyPr wrap="square" lIns="38100" tIns="38100" rIns="38100" bIns="38100" rtlCol="0" anchor="ctr"/>
          <a:lstStyle/>
          <a:p>
            <a:pPr algn="ctr" indent="0" marL="0">
              <a:buNone/>
            </a:pPr>
            <a:r>
              <a:rPr lang="en-US" sz="1050" dirty="0">
                <a:solidFill>
                  <a:srgbClr val="1A1A1A"/>
                </a:solidFill>
                <a:latin typeface="Cambria" pitchFamily="34" charset="0"/>
                <a:ea typeface="Cambria" pitchFamily="34" charset="-122"/>
                <a:cs typeface="Cambria" pitchFamily="34" charset="-120"/>
              </a:rPr>
              <a:t>+9,68</a:t>
            </a:r>
            <a:endParaRPr lang="en-US" sz="1050" dirty="0"/>
          </a:p>
        </p:txBody>
      </p:sp>
      <p:sp>
        <p:nvSpPr>
          <p:cNvPr id="65" name="Shape 63"/>
          <p:cNvSpPr/>
          <p:nvPr/>
        </p:nvSpPr>
        <p:spPr>
          <a:xfrm>
            <a:off x="4754880" y="4407408"/>
            <a:ext cx="3840480" cy="0"/>
          </a:xfrm>
          <a:prstGeom prst="line">
            <a:avLst/>
          </a:prstGeom>
          <a:noFill/>
          <a:ln w="12700">
            <a:solidFill>
              <a:srgbClr val="9A94AE"/>
            </a:solidFill>
            <a:prstDash val="solid"/>
          </a:ln>
        </p:spPr>
      </p:sp>
      <p:sp>
        <p:nvSpPr>
          <p:cNvPr id="66" name="Text 64"/>
          <p:cNvSpPr/>
          <p:nvPr/>
        </p:nvSpPr>
        <p:spPr>
          <a:xfrm>
            <a:off x="4754880" y="4407408"/>
            <a:ext cx="1463040" cy="329184"/>
          </a:xfrm>
          <a:prstGeom prst="rect">
            <a:avLst/>
          </a:prstGeom>
          <a:noFill/>
          <a:ln/>
        </p:spPr>
        <p:txBody>
          <a:bodyPr wrap="square" lIns="38100" tIns="38100" rIns="38100" bIns="38100" rtlCol="0" anchor="ctr"/>
          <a:lstStyle/>
          <a:p>
            <a:pPr algn="l" indent="0" marL="0">
              <a:buNone/>
            </a:pPr>
            <a:r>
              <a:rPr lang="en-US" sz="1050" dirty="0">
                <a:solidFill>
                  <a:srgbClr val="1A1A1A"/>
                </a:solidFill>
                <a:latin typeface="Cambria" pitchFamily="34" charset="0"/>
                <a:ea typeface="Cambria" pitchFamily="34" charset="-122"/>
                <a:cs typeface="Cambria" pitchFamily="34" charset="-120"/>
              </a:rPr>
              <a:t>S2 − S1</a:t>
            </a:r>
            <a:endParaRPr lang="en-US" sz="1050" dirty="0"/>
          </a:p>
        </p:txBody>
      </p:sp>
      <p:sp>
        <p:nvSpPr>
          <p:cNvPr id="67" name="Text 65"/>
          <p:cNvSpPr/>
          <p:nvPr/>
        </p:nvSpPr>
        <p:spPr>
          <a:xfrm>
            <a:off x="6217920" y="4407408"/>
            <a:ext cx="1188720" cy="329184"/>
          </a:xfrm>
          <a:prstGeom prst="rect">
            <a:avLst/>
          </a:prstGeom>
          <a:noFill/>
          <a:ln/>
        </p:spPr>
        <p:txBody>
          <a:bodyPr wrap="square" lIns="38100" tIns="38100" rIns="38100" bIns="38100" rtlCol="0" anchor="ctr"/>
          <a:lstStyle/>
          <a:p>
            <a:pPr algn="ctr" indent="0" marL="0">
              <a:buNone/>
            </a:pPr>
            <a:r>
              <a:rPr lang="en-US" sz="1050" dirty="0">
                <a:solidFill>
                  <a:srgbClr val="1A1A1A"/>
                </a:solidFill>
                <a:latin typeface="Cambria" pitchFamily="34" charset="0"/>
                <a:ea typeface="Cambria" pitchFamily="34" charset="-122"/>
                <a:cs typeface="Cambria" pitchFamily="34" charset="-120"/>
              </a:rPr>
              <a:t>−1,93</a:t>
            </a:r>
            <a:endParaRPr lang="en-US" sz="1050" dirty="0"/>
          </a:p>
        </p:txBody>
      </p:sp>
      <p:sp>
        <p:nvSpPr>
          <p:cNvPr id="68" name="Text 66"/>
          <p:cNvSpPr/>
          <p:nvPr/>
        </p:nvSpPr>
        <p:spPr>
          <a:xfrm>
            <a:off x="7406640" y="4407408"/>
            <a:ext cx="1188720" cy="329184"/>
          </a:xfrm>
          <a:prstGeom prst="rect">
            <a:avLst/>
          </a:prstGeom>
          <a:noFill/>
          <a:ln/>
        </p:spPr>
        <p:txBody>
          <a:bodyPr wrap="square" lIns="38100" tIns="38100" rIns="38100" bIns="38100" rtlCol="0" anchor="ctr"/>
          <a:lstStyle/>
          <a:p>
            <a:pPr algn="ctr" indent="0" marL="0">
              <a:buNone/>
            </a:pPr>
            <a:r>
              <a:rPr lang="en-US" sz="1050" dirty="0">
                <a:solidFill>
                  <a:srgbClr val="1A1A1A"/>
                </a:solidFill>
                <a:latin typeface="Cambria" pitchFamily="34" charset="0"/>
                <a:ea typeface="Cambria" pitchFamily="34" charset="-122"/>
                <a:cs typeface="Cambria" pitchFamily="34" charset="-120"/>
              </a:rPr>
              <a:t>−1,21</a:t>
            </a:r>
            <a:endParaRPr lang="en-US" sz="1050" dirty="0"/>
          </a:p>
        </p:txBody>
      </p:sp>
      <p:sp>
        <p:nvSpPr>
          <p:cNvPr id="69" name="Text 67"/>
          <p:cNvSpPr/>
          <p:nvPr/>
        </p:nvSpPr>
        <p:spPr>
          <a:xfrm>
            <a:off x="4800600" y="4846320"/>
            <a:ext cx="3749040" cy="548640"/>
          </a:xfrm>
          <a:prstGeom prst="rect">
            <a:avLst/>
          </a:prstGeom>
          <a:noFill/>
          <a:ln/>
        </p:spPr>
        <p:txBody>
          <a:bodyPr wrap="square" lIns="0" tIns="0" rIns="0" bIns="0" rtlCol="0" anchor="t"/>
          <a:lstStyle/>
          <a:p>
            <a:pPr algn="l" indent="0" marL="0">
              <a:lnSpc>
                <a:spcPct val="115000"/>
              </a:lnSpc>
              <a:buNone/>
            </a:pPr>
            <a:r>
              <a:rPr lang="en-US" sz="1100" dirty="0">
                <a:solidFill>
                  <a:srgbClr val="1A1A1A"/>
                </a:solidFill>
                <a:latin typeface="Cambria" pitchFamily="34" charset="0"/>
                <a:ea typeface="Cambria" pitchFamily="34" charset="-122"/>
                <a:cs typeface="Cambria" pitchFamily="34" charset="-120"/>
              </a:rPr>
              <a:t>Chênh lệch S1 − Base giữ 94%; S2 − S1 giữ dấu âm.</a:t>
            </a:r>
            <a:endParaRPr lang="en-US" sz="1100" dirty="0"/>
          </a:p>
        </p:txBody>
      </p:sp>
      <p:sp>
        <p:nvSpPr>
          <p:cNvPr id="70" name="Text 68"/>
          <p:cNvSpPr/>
          <p:nvPr/>
        </p:nvSpPr>
        <p:spPr>
          <a:xfrm>
            <a:off x="457200" y="5715000"/>
            <a:ext cx="8229600" cy="640080"/>
          </a:xfrm>
          <a:prstGeom prst="rect">
            <a:avLst/>
          </a:prstGeom>
          <a:noFill/>
          <a:ln/>
        </p:spPr>
        <p:txBody>
          <a:bodyPr wrap="square" lIns="0" tIns="0" rIns="0" bIns="0" rtlCol="0" anchor="t"/>
          <a:lstStyle/>
          <a:p>
            <a:pPr algn="l" indent="0" marL="0">
              <a:lnSpc>
                <a:spcPct val="115000"/>
              </a:lnSpc>
              <a:buNone/>
            </a:pPr>
            <a:r>
              <a:rPr lang="en-US" sz="1100" i="1" dirty="0">
                <a:solidFill>
                  <a:srgbClr val="5A5A66"/>
                </a:solidFill>
                <a:latin typeface="Cambria" pitchFamily="34" charset="0"/>
                <a:ea typeface="Cambria" pitchFamily="34" charset="-122"/>
                <a:cs typeface="Cambria" pitchFamily="34" charset="-120"/>
              </a:rPr>
              <a:t>Thang của người nghe hẹp hơn (câu chuẩn chỉ 54,9) nên chỉ dùng để kiểm thứ tự và hướng của phép so, không làm số chính.</a:t>
            </a:r>
            <a:endParaRPr lang="en-US" sz="1100" dirty="0"/>
          </a:p>
        </p:txBody>
      </p:sp>
      <p:sp>
        <p:nvSpPr>
          <p:cNvPr id="72" name="Shape 69"/>
          <p:cNvSpPr/>
          <p:nvPr/>
        </p:nvSpPr>
        <p:spPr>
          <a:xfrm>
            <a:off x="0" y="6620256"/>
            <a:ext cx="2743200" cy="237744"/>
          </a:xfrm>
          <a:prstGeom prst="rect">
            <a:avLst/>
          </a:prstGeom>
          <a:solidFill>
            <a:srgbClr val="191132"/>
          </a:solidFill>
          <a:ln/>
        </p:spPr>
      </p:sp>
      <p:sp>
        <p:nvSpPr>
          <p:cNvPr id="73" name="Shape 70"/>
          <p:cNvSpPr/>
          <p:nvPr/>
        </p:nvSpPr>
        <p:spPr>
          <a:xfrm>
            <a:off x="2743200" y="6620256"/>
            <a:ext cx="3383280" cy="237744"/>
          </a:xfrm>
          <a:prstGeom prst="rect">
            <a:avLst/>
          </a:prstGeom>
          <a:solidFill>
            <a:srgbClr val="25194B"/>
          </a:solidFill>
          <a:ln/>
        </p:spPr>
      </p:sp>
      <p:sp>
        <p:nvSpPr>
          <p:cNvPr id="74" name="Shape 71"/>
          <p:cNvSpPr/>
          <p:nvPr/>
        </p:nvSpPr>
        <p:spPr>
          <a:xfrm>
            <a:off x="6126480" y="6620256"/>
            <a:ext cx="1737360" cy="237744"/>
          </a:xfrm>
          <a:prstGeom prst="rect">
            <a:avLst/>
          </a:prstGeom>
          <a:solidFill>
            <a:srgbClr val="4F417A"/>
          </a:solidFill>
          <a:ln/>
        </p:spPr>
      </p:sp>
      <p:sp>
        <p:nvSpPr>
          <p:cNvPr id="75" name="Shape 72"/>
          <p:cNvSpPr/>
          <p:nvPr/>
        </p:nvSpPr>
        <p:spPr>
          <a:xfrm>
            <a:off x="7863840" y="6620256"/>
            <a:ext cx="1280160" cy="237744"/>
          </a:xfrm>
          <a:prstGeom prst="rect">
            <a:avLst/>
          </a:prstGeom>
          <a:solidFill>
            <a:srgbClr val="7A7099"/>
          </a:solidFill>
          <a:ln/>
        </p:spPr>
      </p:sp>
      <p:sp>
        <p:nvSpPr>
          <p:cNvPr id="76" name="Text 73"/>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Luận văn thạc sĩ</a:t>
            </a:r>
            <a:endParaRPr lang="en-US" sz="800" dirty="0"/>
          </a:p>
        </p:txBody>
      </p:sp>
      <p:sp>
        <p:nvSpPr>
          <p:cNvPr id="77" name="Text 74"/>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Phát sinh tự động hướng dẫn sử dụng phần mềm dựa trên LLM</a:t>
            </a:r>
            <a:endParaRPr lang="en-US" sz="800" dirty="0"/>
          </a:p>
        </p:txBody>
      </p:sp>
      <p:sp>
        <p:nvSpPr>
          <p:cNvPr id="78" name="Text 75"/>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79" name="Text 76"/>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16/24</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Mười ba thước dùng để so phương pháp đề xuất với S1</a:t>
            </a:r>
            <a:endParaRPr lang="en-US" sz="1900" dirty="0"/>
          </a:p>
        </p:txBody>
      </p:sp>
      <p:sp>
        <p:nvSpPr>
          <p:cNvPr id="4" name="Shape 2"/>
          <p:cNvSpPr/>
          <p:nvPr/>
        </p:nvSpPr>
        <p:spPr>
          <a:xfrm>
            <a:off x="274320" y="658368"/>
            <a:ext cx="8595360" cy="329184"/>
          </a:xfrm>
          <a:prstGeom prst="rect">
            <a:avLst/>
          </a:prstGeom>
          <a:solidFill>
            <a:srgbClr val="322164"/>
          </a:solidFill>
          <a:ln/>
        </p:spPr>
      </p:sp>
      <p:sp>
        <p:nvSpPr>
          <p:cNvPr id="5" name="Text 3"/>
          <p:cNvSpPr/>
          <p:nvPr/>
        </p:nvSpPr>
        <p:spPr>
          <a:xfrm>
            <a:off x="274320" y="658368"/>
            <a:ext cx="1600200" cy="329184"/>
          </a:xfrm>
          <a:prstGeom prst="rect">
            <a:avLst/>
          </a:prstGeom>
          <a:noFill/>
          <a:ln/>
        </p:spPr>
        <p:txBody>
          <a:bodyPr wrap="square" lIns="38100" tIns="38100" rIns="38100" bIns="38100" rtlCol="0" anchor="ctr"/>
          <a:lstStyle/>
          <a:p>
            <a:pPr algn="l" indent="0" marL="0">
              <a:buNone/>
            </a:pPr>
            <a:r>
              <a:rPr lang="en-US" sz="1100" b="1" dirty="0">
                <a:solidFill>
                  <a:srgbClr val="FFFFFF"/>
                </a:solidFill>
                <a:latin typeface="Cambria" pitchFamily="34" charset="0"/>
                <a:ea typeface="Cambria" pitchFamily="34" charset="-122"/>
                <a:cs typeface="Cambria" pitchFamily="34" charset="-120"/>
              </a:rPr>
              <a:t>Thước</a:t>
            </a:r>
            <a:endParaRPr lang="en-US" sz="1100" dirty="0"/>
          </a:p>
        </p:txBody>
      </p:sp>
      <p:sp>
        <p:nvSpPr>
          <p:cNvPr id="6" name="Text 4"/>
          <p:cNvSpPr/>
          <p:nvPr/>
        </p:nvSpPr>
        <p:spPr>
          <a:xfrm>
            <a:off x="1874520" y="658368"/>
            <a:ext cx="3611880" cy="329184"/>
          </a:xfrm>
          <a:prstGeom prst="rect">
            <a:avLst/>
          </a:prstGeom>
          <a:noFill/>
          <a:ln/>
        </p:spPr>
        <p:txBody>
          <a:bodyPr wrap="square" lIns="38100" tIns="38100" rIns="38100" bIns="38100" rtlCol="0" anchor="ctr"/>
          <a:lstStyle/>
          <a:p>
            <a:pPr algn="l" indent="0" marL="0">
              <a:buNone/>
            </a:pPr>
            <a:r>
              <a:rPr lang="en-US" sz="1100" b="1" dirty="0">
                <a:solidFill>
                  <a:srgbClr val="FFFFFF"/>
                </a:solidFill>
                <a:latin typeface="Cambria" pitchFamily="34" charset="0"/>
                <a:ea typeface="Cambria" pitchFamily="34" charset="-122"/>
                <a:cs typeface="Cambria" pitchFamily="34" charset="-120"/>
              </a:rPr>
              <a:t>Đo gì</a:t>
            </a:r>
            <a:endParaRPr lang="en-US" sz="1100" dirty="0"/>
          </a:p>
        </p:txBody>
      </p:sp>
      <p:sp>
        <p:nvSpPr>
          <p:cNvPr id="7" name="Text 5"/>
          <p:cNvSpPr/>
          <p:nvPr/>
        </p:nvSpPr>
        <p:spPr>
          <a:xfrm>
            <a:off x="5486400" y="658368"/>
            <a:ext cx="685800" cy="329184"/>
          </a:xfrm>
          <a:prstGeom prst="rect">
            <a:avLst/>
          </a:prstGeom>
          <a:noFill/>
          <a:ln/>
        </p:spPr>
        <p:txBody>
          <a:bodyPr wrap="square" lIns="38100" tIns="38100" rIns="38100" bIns="3810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S1</a:t>
            </a:r>
            <a:endParaRPr lang="en-US" sz="1100" dirty="0"/>
          </a:p>
        </p:txBody>
      </p:sp>
      <p:sp>
        <p:nvSpPr>
          <p:cNvPr id="8" name="Text 6"/>
          <p:cNvSpPr/>
          <p:nvPr/>
        </p:nvSpPr>
        <p:spPr>
          <a:xfrm>
            <a:off x="6172200" y="658368"/>
            <a:ext cx="731520" cy="329184"/>
          </a:xfrm>
          <a:prstGeom prst="rect">
            <a:avLst/>
          </a:prstGeom>
          <a:noFill/>
          <a:ln/>
        </p:spPr>
        <p:txBody>
          <a:bodyPr wrap="square" lIns="38100" tIns="38100" rIns="38100" bIns="3810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Đề xuất</a:t>
            </a:r>
            <a:endParaRPr lang="en-US" sz="1100" dirty="0"/>
          </a:p>
        </p:txBody>
      </p:sp>
      <p:sp>
        <p:nvSpPr>
          <p:cNvPr id="9" name="Text 7"/>
          <p:cNvSpPr/>
          <p:nvPr/>
        </p:nvSpPr>
        <p:spPr>
          <a:xfrm>
            <a:off x="6903720" y="658368"/>
            <a:ext cx="640080" cy="329184"/>
          </a:xfrm>
          <a:prstGeom prst="rect">
            <a:avLst/>
          </a:prstGeom>
          <a:noFill/>
          <a:ln/>
        </p:spPr>
        <p:txBody>
          <a:bodyPr wrap="square" lIns="38100" tIns="38100" rIns="38100" bIns="3810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Δ</a:t>
            </a:r>
            <a:endParaRPr lang="en-US" sz="1100" dirty="0"/>
          </a:p>
        </p:txBody>
      </p:sp>
      <p:sp>
        <p:nvSpPr>
          <p:cNvPr id="10" name="Text 8"/>
          <p:cNvSpPr/>
          <p:nvPr/>
        </p:nvSpPr>
        <p:spPr>
          <a:xfrm>
            <a:off x="7543800" y="658368"/>
            <a:ext cx="1325880" cy="329184"/>
          </a:xfrm>
          <a:prstGeom prst="rect">
            <a:avLst/>
          </a:prstGeom>
          <a:noFill/>
          <a:ln/>
        </p:spPr>
        <p:txBody>
          <a:bodyPr wrap="square" lIns="38100" tIns="38100" rIns="38100" bIns="3810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KTC 95%</a:t>
            </a:r>
            <a:endParaRPr lang="en-US" sz="1100" dirty="0"/>
          </a:p>
        </p:txBody>
      </p:sp>
      <p:sp>
        <p:nvSpPr>
          <p:cNvPr id="11" name="Shape 9"/>
          <p:cNvSpPr/>
          <p:nvPr/>
        </p:nvSpPr>
        <p:spPr>
          <a:xfrm>
            <a:off x="274320" y="987552"/>
            <a:ext cx="8595360" cy="274320"/>
          </a:xfrm>
          <a:prstGeom prst="rect">
            <a:avLst/>
          </a:prstGeom>
          <a:solidFill>
            <a:srgbClr val="F1EFF6"/>
          </a:solidFill>
          <a:ln/>
        </p:spPr>
      </p:sp>
      <p:sp>
        <p:nvSpPr>
          <p:cNvPr id="12" name="Text 10"/>
          <p:cNvSpPr/>
          <p:nvPr/>
        </p:nvSpPr>
        <p:spPr>
          <a:xfrm>
            <a:off x="301752" y="987552"/>
            <a:ext cx="8540496" cy="274320"/>
          </a:xfrm>
          <a:prstGeom prst="rect">
            <a:avLst/>
          </a:prstGeom>
          <a:noFill/>
          <a:ln/>
        </p:spPr>
        <p:txBody>
          <a:bodyPr wrap="square" lIns="38100" tIns="38100" rIns="38100" bIns="38100" rtlCol="0" anchor="ctr"/>
          <a:lstStyle/>
          <a:p>
            <a:pPr algn="l" indent="0" marL="0">
              <a:buNone/>
            </a:pPr>
            <a:r>
              <a:rPr lang="en-US" sz="1100" b="1" dirty="0">
                <a:solidFill>
                  <a:srgbClr val="322164"/>
                </a:solidFill>
                <a:latin typeface="Cambria" pitchFamily="34" charset="0"/>
                <a:ea typeface="Cambria" pitchFamily="34" charset="-122"/>
                <a:cs typeface="Cambria" pitchFamily="34" charset="-120"/>
              </a:rPr>
              <a:t>Theo vị trí, chấm bằng mô hình định vị đọc câu</a:t>
            </a:r>
            <a:endParaRPr lang="en-US" sz="1100" dirty="0"/>
          </a:p>
        </p:txBody>
      </p:sp>
      <p:sp>
        <p:nvSpPr>
          <p:cNvPr id="13" name="Text 11"/>
          <p:cNvSpPr/>
          <p:nvPr/>
        </p:nvSpPr>
        <p:spPr>
          <a:xfrm>
            <a:off x="274320" y="1261872"/>
            <a:ext cx="1600200" cy="329184"/>
          </a:xfrm>
          <a:prstGeom prst="rect">
            <a:avLst/>
          </a:prstGeom>
          <a:noFill/>
          <a:ln/>
        </p:spPr>
        <p:txBody>
          <a:bodyPr wrap="square" lIns="38100" tIns="38100" rIns="38100" bIns="38100" rtlCol="0" anchor="ctr"/>
          <a:lstStyle/>
          <a:p>
            <a:pPr algn="l" indent="0" marL="0">
              <a:buNone/>
            </a:pPr>
            <a:r>
              <a:rPr lang="en-US" sz="1050" b="1" dirty="0">
                <a:solidFill>
                  <a:srgbClr val="1A1A1A"/>
                </a:solidFill>
                <a:latin typeface="Cambria" pitchFamily="34" charset="0"/>
                <a:ea typeface="Cambria" pitchFamily="34" charset="-122"/>
                <a:cs typeface="Cambria" pitchFamily="34" charset="-120"/>
              </a:rPr>
              <a:t>Executability</a:t>
            </a:r>
            <a:endParaRPr lang="en-US" sz="1050" dirty="0"/>
          </a:p>
        </p:txBody>
      </p:sp>
      <p:sp>
        <p:nvSpPr>
          <p:cNvPr id="14" name="Text 12"/>
          <p:cNvSpPr/>
          <p:nvPr/>
        </p:nvSpPr>
        <p:spPr>
          <a:xfrm>
            <a:off x="1874520" y="1261872"/>
            <a:ext cx="3611880" cy="329184"/>
          </a:xfrm>
          <a:prstGeom prst="rect">
            <a:avLst/>
          </a:prstGeom>
          <a:noFill/>
          <a:ln/>
        </p:spPr>
        <p:txBody>
          <a:bodyPr wrap="square" lIns="38100" tIns="38100" rIns="38100" bIns="38100" rtlCol="0" anchor="ctr"/>
          <a:lstStyle/>
          <a:p>
            <a:pPr algn="l" indent="0" marL="0">
              <a:buNone/>
            </a:pPr>
            <a:r>
              <a:rPr lang="en-US" sz="950" dirty="0">
                <a:solidFill>
                  <a:srgbClr val="5A5A66"/>
                </a:solidFill>
                <a:latin typeface="Cambria" pitchFamily="34" charset="0"/>
                <a:ea typeface="Cambria" pitchFamily="34" charset="-122"/>
                <a:cs typeface="Cambria" pitchFamily="34" charset="-120"/>
              </a:rPr>
              <a:t>đúng loại thao tác, trong dung sai 0,14, trong ô Voronoi</a:t>
            </a:r>
            <a:endParaRPr lang="en-US" sz="950" dirty="0"/>
          </a:p>
        </p:txBody>
      </p:sp>
      <p:sp>
        <p:nvSpPr>
          <p:cNvPr id="15" name="Text 13"/>
          <p:cNvSpPr/>
          <p:nvPr/>
        </p:nvSpPr>
        <p:spPr>
          <a:xfrm>
            <a:off x="5486400" y="1261872"/>
            <a:ext cx="685800" cy="329184"/>
          </a:xfrm>
          <a:prstGeom prst="rect">
            <a:avLst/>
          </a:prstGeom>
          <a:noFill/>
          <a:ln/>
        </p:spPr>
        <p:txBody>
          <a:bodyPr wrap="square" lIns="38100" tIns="38100" rIns="38100" bIns="38100" rtlCol="0" anchor="ctr"/>
          <a:lstStyle/>
          <a:p>
            <a:pPr algn="ctr" indent="0" marL="0">
              <a:buNone/>
            </a:pPr>
            <a:r>
              <a:rPr lang="en-US" sz="1050" dirty="0">
                <a:solidFill>
                  <a:srgbClr val="1A1A1A"/>
                </a:solidFill>
                <a:latin typeface="Cambria" pitchFamily="34" charset="0"/>
                <a:ea typeface="Cambria" pitchFamily="34" charset="-122"/>
                <a:cs typeface="Cambria" pitchFamily="34" charset="-120"/>
              </a:rPr>
              <a:t>59,11</a:t>
            </a:r>
            <a:endParaRPr lang="en-US" sz="1050" dirty="0"/>
          </a:p>
        </p:txBody>
      </p:sp>
      <p:sp>
        <p:nvSpPr>
          <p:cNvPr id="16" name="Text 14"/>
          <p:cNvSpPr/>
          <p:nvPr/>
        </p:nvSpPr>
        <p:spPr>
          <a:xfrm>
            <a:off x="6172200" y="1261872"/>
            <a:ext cx="731520" cy="329184"/>
          </a:xfrm>
          <a:prstGeom prst="rect">
            <a:avLst/>
          </a:prstGeom>
          <a:noFill/>
          <a:ln/>
        </p:spPr>
        <p:txBody>
          <a:bodyPr wrap="square" lIns="38100" tIns="38100" rIns="38100" bIns="38100" rtlCol="0" anchor="ctr"/>
          <a:lstStyle/>
          <a:p>
            <a:pPr algn="ctr" indent="0" marL="0">
              <a:buNone/>
            </a:pPr>
            <a:r>
              <a:rPr lang="en-US" sz="1050" dirty="0">
                <a:solidFill>
                  <a:srgbClr val="1A1A1A"/>
                </a:solidFill>
                <a:latin typeface="Cambria" pitchFamily="34" charset="0"/>
                <a:ea typeface="Cambria" pitchFamily="34" charset="-122"/>
                <a:cs typeface="Cambria" pitchFamily="34" charset="-120"/>
              </a:rPr>
              <a:t>60,65</a:t>
            </a:r>
            <a:endParaRPr lang="en-US" sz="1050" dirty="0"/>
          </a:p>
        </p:txBody>
      </p:sp>
      <p:sp>
        <p:nvSpPr>
          <p:cNvPr id="17" name="Text 15"/>
          <p:cNvSpPr/>
          <p:nvPr/>
        </p:nvSpPr>
        <p:spPr>
          <a:xfrm>
            <a:off x="6903720" y="1261872"/>
            <a:ext cx="640080" cy="329184"/>
          </a:xfrm>
          <a:prstGeom prst="rect">
            <a:avLst/>
          </a:prstGeom>
          <a:noFill/>
          <a:ln/>
        </p:spPr>
        <p:txBody>
          <a:bodyPr wrap="square" lIns="38100" tIns="38100" rIns="38100" bIns="38100" rtlCol="0" anchor="ctr"/>
          <a:lstStyle/>
          <a:p>
            <a:pPr algn="ctr" indent="0" marL="0">
              <a:buNone/>
            </a:pPr>
            <a:r>
              <a:rPr lang="en-US" sz="1050" b="1" dirty="0">
                <a:solidFill>
                  <a:srgbClr val="1B8A5A"/>
                </a:solidFill>
                <a:latin typeface="Cambria" pitchFamily="34" charset="0"/>
                <a:ea typeface="Cambria" pitchFamily="34" charset="-122"/>
                <a:cs typeface="Cambria" pitchFamily="34" charset="-120"/>
              </a:rPr>
              <a:t>+1,55</a:t>
            </a:r>
            <a:endParaRPr lang="en-US" sz="1050" dirty="0"/>
          </a:p>
        </p:txBody>
      </p:sp>
      <p:sp>
        <p:nvSpPr>
          <p:cNvPr id="18" name="Text 16"/>
          <p:cNvSpPr/>
          <p:nvPr/>
        </p:nvSpPr>
        <p:spPr>
          <a:xfrm>
            <a:off x="7543800" y="1261872"/>
            <a:ext cx="1325880" cy="329184"/>
          </a:xfrm>
          <a:prstGeom prst="rect">
            <a:avLst/>
          </a:prstGeom>
          <a:noFill/>
          <a:ln/>
        </p:spPr>
        <p:txBody>
          <a:bodyPr wrap="square" lIns="38100" tIns="38100" rIns="38100" bIns="38100" rtlCol="0" anchor="ctr"/>
          <a:lstStyle/>
          <a:p>
            <a:pPr algn="ctr" indent="0" marL="0">
              <a:buNone/>
            </a:pPr>
            <a:r>
              <a:rPr lang="en-US" sz="950" dirty="0">
                <a:solidFill>
                  <a:srgbClr val="1A1A1A"/>
                </a:solidFill>
                <a:latin typeface="Cambria" pitchFamily="34" charset="0"/>
                <a:ea typeface="Cambria" pitchFamily="34" charset="-122"/>
                <a:cs typeface="Cambria" pitchFamily="34" charset="-120"/>
              </a:rPr>
              <a:t>[+0,80; +2,33]</a:t>
            </a:r>
            <a:endParaRPr lang="en-US" sz="950" dirty="0"/>
          </a:p>
        </p:txBody>
      </p:sp>
      <p:sp>
        <p:nvSpPr>
          <p:cNvPr id="19" name="Shape 17"/>
          <p:cNvSpPr/>
          <p:nvPr/>
        </p:nvSpPr>
        <p:spPr>
          <a:xfrm>
            <a:off x="274320" y="1591056"/>
            <a:ext cx="8595360" cy="0"/>
          </a:xfrm>
          <a:prstGeom prst="line">
            <a:avLst/>
          </a:prstGeom>
          <a:noFill/>
          <a:ln w="12700">
            <a:solidFill>
              <a:srgbClr val="9A94AE"/>
            </a:solidFill>
            <a:prstDash val="solid"/>
          </a:ln>
        </p:spPr>
      </p:sp>
      <p:sp>
        <p:nvSpPr>
          <p:cNvPr id="20" name="Text 18"/>
          <p:cNvSpPr/>
          <p:nvPr/>
        </p:nvSpPr>
        <p:spPr>
          <a:xfrm>
            <a:off x="274320" y="1591056"/>
            <a:ext cx="1600200" cy="329184"/>
          </a:xfrm>
          <a:prstGeom prst="rect">
            <a:avLst/>
          </a:prstGeom>
          <a:noFill/>
          <a:ln/>
        </p:spPr>
        <p:txBody>
          <a:bodyPr wrap="square" lIns="38100" tIns="38100" rIns="38100" bIns="38100" rtlCol="0" anchor="ctr"/>
          <a:lstStyle/>
          <a:p>
            <a:pPr algn="l" indent="0" marL="0">
              <a:buNone/>
            </a:pPr>
            <a:r>
              <a:rPr lang="en-US" sz="1050" dirty="0">
                <a:solidFill>
                  <a:srgbClr val="1A1A1A"/>
                </a:solidFill>
                <a:latin typeface="Cambria" pitchFamily="34" charset="0"/>
                <a:ea typeface="Cambria" pitchFamily="34" charset="-122"/>
                <a:cs typeface="Cambria" pitchFamily="34" charset="-120"/>
              </a:rPr>
              <a:t>Hộp phần tử (D.3)</a:t>
            </a:r>
            <a:endParaRPr lang="en-US" sz="1050" dirty="0"/>
          </a:p>
        </p:txBody>
      </p:sp>
      <p:sp>
        <p:nvSpPr>
          <p:cNvPr id="21" name="Text 19"/>
          <p:cNvSpPr/>
          <p:nvPr/>
        </p:nvSpPr>
        <p:spPr>
          <a:xfrm>
            <a:off x="1874520" y="1591056"/>
            <a:ext cx="3611880" cy="329184"/>
          </a:xfrm>
          <a:prstGeom prst="rect">
            <a:avLst/>
          </a:prstGeom>
          <a:noFill/>
          <a:ln/>
        </p:spPr>
        <p:txBody>
          <a:bodyPr wrap="square" lIns="38100" tIns="38100" rIns="38100" bIns="38100" rtlCol="0" anchor="ctr"/>
          <a:lstStyle/>
          <a:p>
            <a:pPr algn="l" indent="0" marL="0">
              <a:buNone/>
            </a:pPr>
            <a:r>
              <a:rPr lang="en-US" sz="950" dirty="0">
                <a:solidFill>
                  <a:srgbClr val="5A5A66"/>
                </a:solidFill>
                <a:latin typeface="Cambria" pitchFamily="34" charset="0"/>
                <a:ea typeface="Cambria" pitchFamily="34" charset="-122"/>
                <a:cs typeface="Cambria" pitchFamily="34" charset="-120"/>
              </a:rPr>
              <a:t>điểm trỏ nằm trong hộp phần tử cần chạm</a:t>
            </a:r>
            <a:endParaRPr lang="en-US" sz="950" dirty="0"/>
          </a:p>
        </p:txBody>
      </p:sp>
      <p:sp>
        <p:nvSpPr>
          <p:cNvPr id="22" name="Text 20"/>
          <p:cNvSpPr/>
          <p:nvPr/>
        </p:nvSpPr>
        <p:spPr>
          <a:xfrm>
            <a:off x="5486400" y="1591056"/>
            <a:ext cx="685800" cy="329184"/>
          </a:xfrm>
          <a:prstGeom prst="rect">
            <a:avLst/>
          </a:prstGeom>
          <a:noFill/>
          <a:ln/>
        </p:spPr>
        <p:txBody>
          <a:bodyPr wrap="square" lIns="38100" tIns="38100" rIns="38100" bIns="38100" rtlCol="0" anchor="ctr"/>
          <a:lstStyle/>
          <a:p>
            <a:pPr algn="ctr" indent="0" marL="0">
              <a:buNone/>
            </a:pPr>
            <a:r>
              <a:rPr lang="en-US" sz="1050" dirty="0">
                <a:solidFill>
                  <a:srgbClr val="1A1A1A"/>
                </a:solidFill>
                <a:latin typeface="Cambria" pitchFamily="34" charset="0"/>
                <a:ea typeface="Cambria" pitchFamily="34" charset="-122"/>
                <a:cs typeface="Cambria" pitchFamily="34" charset="-120"/>
              </a:rPr>
              <a:t>65,49</a:t>
            </a:r>
            <a:endParaRPr lang="en-US" sz="1050" dirty="0"/>
          </a:p>
        </p:txBody>
      </p:sp>
      <p:sp>
        <p:nvSpPr>
          <p:cNvPr id="23" name="Text 21"/>
          <p:cNvSpPr/>
          <p:nvPr/>
        </p:nvSpPr>
        <p:spPr>
          <a:xfrm>
            <a:off x="6172200" y="1591056"/>
            <a:ext cx="731520" cy="329184"/>
          </a:xfrm>
          <a:prstGeom prst="rect">
            <a:avLst/>
          </a:prstGeom>
          <a:noFill/>
          <a:ln/>
        </p:spPr>
        <p:txBody>
          <a:bodyPr wrap="square" lIns="38100" tIns="38100" rIns="38100" bIns="38100" rtlCol="0" anchor="ctr"/>
          <a:lstStyle/>
          <a:p>
            <a:pPr algn="ctr" indent="0" marL="0">
              <a:buNone/>
            </a:pPr>
            <a:r>
              <a:rPr lang="en-US" sz="1050" dirty="0">
                <a:solidFill>
                  <a:srgbClr val="1A1A1A"/>
                </a:solidFill>
                <a:latin typeface="Cambria" pitchFamily="34" charset="0"/>
                <a:ea typeface="Cambria" pitchFamily="34" charset="-122"/>
                <a:cs typeface="Cambria" pitchFamily="34" charset="-120"/>
              </a:rPr>
              <a:t>67,02</a:t>
            </a:r>
            <a:endParaRPr lang="en-US" sz="1050" dirty="0"/>
          </a:p>
        </p:txBody>
      </p:sp>
      <p:sp>
        <p:nvSpPr>
          <p:cNvPr id="24" name="Text 22"/>
          <p:cNvSpPr/>
          <p:nvPr/>
        </p:nvSpPr>
        <p:spPr>
          <a:xfrm>
            <a:off x="6903720" y="1591056"/>
            <a:ext cx="640080" cy="329184"/>
          </a:xfrm>
          <a:prstGeom prst="rect">
            <a:avLst/>
          </a:prstGeom>
          <a:noFill/>
          <a:ln/>
        </p:spPr>
        <p:txBody>
          <a:bodyPr wrap="square" lIns="38100" tIns="38100" rIns="38100" bIns="38100" rtlCol="0" anchor="ctr"/>
          <a:lstStyle/>
          <a:p>
            <a:pPr algn="ctr" indent="0" marL="0">
              <a:buNone/>
            </a:pPr>
            <a:r>
              <a:rPr lang="en-US" sz="1050" b="1" dirty="0">
                <a:solidFill>
                  <a:srgbClr val="1B8A5A"/>
                </a:solidFill>
                <a:latin typeface="Cambria" pitchFamily="34" charset="0"/>
                <a:ea typeface="Cambria" pitchFamily="34" charset="-122"/>
                <a:cs typeface="Cambria" pitchFamily="34" charset="-120"/>
              </a:rPr>
              <a:t>+1,52</a:t>
            </a:r>
            <a:endParaRPr lang="en-US" sz="1050" dirty="0"/>
          </a:p>
        </p:txBody>
      </p:sp>
      <p:sp>
        <p:nvSpPr>
          <p:cNvPr id="25" name="Text 23"/>
          <p:cNvSpPr/>
          <p:nvPr/>
        </p:nvSpPr>
        <p:spPr>
          <a:xfrm>
            <a:off x="7543800" y="1591056"/>
            <a:ext cx="1325880" cy="329184"/>
          </a:xfrm>
          <a:prstGeom prst="rect">
            <a:avLst/>
          </a:prstGeom>
          <a:noFill/>
          <a:ln/>
        </p:spPr>
        <p:txBody>
          <a:bodyPr wrap="square" lIns="38100" tIns="38100" rIns="38100" bIns="38100" rtlCol="0" anchor="ctr"/>
          <a:lstStyle/>
          <a:p>
            <a:pPr algn="ctr" indent="0" marL="0">
              <a:buNone/>
            </a:pPr>
            <a:r>
              <a:rPr lang="en-US" sz="950" dirty="0">
                <a:solidFill>
                  <a:srgbClr val="1A1A1A"/>
                </a:solidFill>
                <a:latin typeface="Cambria" pitchFamily="34" charset="0"/>
                <a:ea typeface="Cambria" pitchFamily="34" charset="-122"/>
                <a:cs typeface="Cambria" pitchFamily="34" charset="-120"/>
              </a:rPr>
              <a:t>[+0,77; +2,29]</a:t>
            </a:r>
            <a:endParaRPr lang="en-US" sz="950" dirty="0"/>
          </a:p>
        </p:txBody>
      </p:sp>
      <p:sp>
        <p:nvSpPr>
          <p:cNvPr id="26" name="Shape 24"/>
          <p:cNvSpPr/>
          <p:nvPr/>
        </p:nvSpPr>
        <p:spPr>
          <a:xfrm>
            <a:off x="274320" y="1920240"/>
            <a:ext cx="8595360" cy="0"/>
          </a:xfrm>
          <a:prstGeom prst="line">
            <a:avLst/>
          </a:prstGeom>
          <a:noFill/>
          <a:ln w="12700">
            <a:solidFill>
              <a:srgbClr val="9A94AE"/>
            </a:solidFill>
            <a:prstDash val="solid"/>
          </a:ln>
        </p:spPr>
      </p:sp>
      <p:sp>
        <p:nvSpPr>
          <p:cNvPr id="27" name="Text 25"/>
          <p:cNvSpPr/>
          <p:nvPr/>
        </p:nvSpPr>
        <p:spPr>
          <a:xfrm>
            <a:off x="274320" y="1920240"/>
            <a:ext cx="1600200" cy="329184"/>
          </a:xfrm>
          <a:prstGeom prst="rect">
            <a:avLst/>
          </a:prstGeom>
          <a:noFill/>
          <a:ln/>
        </p:spPr>
        <p:txBody>
          <a:bodyPr wrap="square" lIns="38100" tIns="38100" rIns="38100" bIns="38100" rtlCol="0" anchor="ctr"/>
          <a:lstStyle/>
          <a:p>
            <a:pPr algn="l" indent="0" marL="0">
              <a:buNone/>
            </a:pPr>
            <a:r>
              <a:rPr lang="en-US" sz="1050" dirty="0">
                <a:solidFill>
                  <a:srgbClr val="1A1A1A"/>
                </a:solidFill>
                <a:latin typeface="Cambria" pitchFamily="34" charset="0"/>
                <a:ea typeface="Cambria" pitchFamily="34" charset="-122"/>
                <a:cs typeface="Cambria" pitchFamily="34" charset="-120"/>
              </a:rPr>
              <a:t>Khớp chạm AitW</a:t>
            </a:r>
            <a:endParaRPr lang="en-US" sz="1050" dirty="0"/>
          </a:p>
        </p:txBody>
      </p:sp>
      <p:sp>
        <p:nvSpPr>
          <p:cNvPr id="28" name="Text 26"/>
          <p:cNvSpPr/>
          <p:nvPr/>
        </p:nvSpPr>
        <p:spPr>
          <a:xfrm>
            <a:off x="1874520" y="1920240"/>
            <a:ext cx="3611880" cy="329184"/>
          </a:xfrm>
          <a:prstGeom prst="rect">
            <a:avLst/>
          </a:prstGeom>
          <a:noFill/>
          <a:ln/>
        </p:spPr>
        <p:txBody>
          <a:bodyPr wrap="square" lIns="38100" tIns="38100" rIns="38100" bIns="38100" rtlCol="0" anchor="ctr"/>
          <a:lstStyle/>
          <a:p>
            <a:pPr algn="l" indent="0" marL="0">
              <a:buNone/>
            </a:pPr>
            <a:r>
              <a:rPr lang="en-US" sz="950" dirty="0">
                <a:solidFill>
                  <a:srgbClr val="5A5A66"/>
                </a:solidFill>
                <a:latin typeface="Cambria" pitchFamily="34" charset="0"/>
                <a:ea typeface="Cambria" pitchFamily="34" charset="-122"/>
                <a:cs typeface="Cambria" pitchFamily="34" charset="-120"/>
              </a:rPr>
              <a:t>cách ≤ 0,14 hoặc cùng trong hộp nới 1,4 lần (AitW)</a:t>
            </a:r>
            <a:endParaRPr lang="en-US" sz="950" dirty="0"/>
          </a:p>
        </p:txBody>
      </p:sp>
      <p:sp>
        <p:nvSpPr>
          <p:cNvPr id="29" name="Text 27"/>
          <p:cNvSpPr/>
          <p:nvPr/>
        </p:nvSpPr>
        <p:spPr>
          <a:xfrm>
            <a:off x="5486400" y="1920240"/>
            <a:ext cx="685800" cy="329184"/>
          </a:xfrm>
          <a:prstGeom prst="rect">
            <a:avLst/>
          </a:prstGeom>
          <a:noFill/>
          <a:ln/>
        </p:spPr>
        <p:txBody>
          <a:bodyPr wrap="square" lIns="38100" tIns="38100" rIns="38100" bIns="38100" rtlCol="0" anchor="ctr"/>
          <a:lstStyle/>
          <a:p>
            <a:pPr algn="ctr" indent="0" marL="0">
              <a:buNone/>
            </a:pPr>
            <a:r>
              <a:rPr lang="en-US" sz="1050" dirty="0">
                <a:solidFill>
                  <a:srgbClr val="1A1A1A"/>
                </a:solidFill>
                <a:latin typeface="Cambria" pitchFamily="34" charset="0"/>
                <a:ea typeface="Cambria" pitchFamily="34" charset="-122"/>
                <a:cs typeface="Cambria" pitchFamily="34" charset="-120"/>
              </a:rPr>
              <a:t>74,37</a:t>
            </a:r>
            <a:endParaRPr lang="en-US" sz="1050" dirty="0"/>
          </a:p>
        </p:txBody>
      </p:sp>
      <p:sp>
        <p:nvSpPr>
          <p:cNvPr id="30" name="Text 28"/>
          <p:cNvSpPr/>
          <p:nvPr/>
        </p:nvSpPr>
        <p:spPr>
          <a:xfrm>
            <a:off x="6172200" y="1920240"/>
            <a:ext cx="731520" cy="329184"/>
          </a:xfrm>
          <a:prstGeom prst="rect">
            <a:avLst/>
          </a:prstGeom>
          <a:noFill/>
          <a:ln/>
        </p:spPr>
        <p:txBody>
          <a:bodyPr wrap="square" lIns="38100" tIns="38100" rIns="38100" bIns="38100" rtlCol="0" anchor="ctr"/>
          <a:lstStyle/>
          <a:p>
            <a:pPr algn="ctr" indent="0" marL="0">
              <a:buNone/>
            </a:pPr>
            <a:r>
              <a:rPr lang="en-US" sz="1050" dirty="0">
                <a:solidFill>
                  <a:srgbClr val="1A1A1A"/>
                </a:solidFill>
                <a:latin typeface="Cambria" pitchFamily="34" charset="0"/>
                <a:ea typeface="Cambria" pitchFamily="34" charset="-122"/>
                <a:cs typeface="Cambria" pitchFamily="34" charset="-120"/>
              </a:rPr>
              <a:t>76,25</a:t>
            </a:r>
            <a:endParaRPr lang="en-US" sz="1050" dirty="0"/>
          </a:p>
        </p:txBody>
      </p:sp>
      <p:sp>
        <p:nvSpPr>
          <p:cNvPr id="31" name="Text 29"/>
          <p:cNvSpPr/>
          <p:nvPr/>
        </p:nvSpPr>
        <p:spPr>
          <a:xfrm>
            <a:off x="6903720" y="1920240"/>
            <a:ext cx="640080" cy="329184"/>
          </a:xfrm>
          <a:prstGeom prst="rect">
            <a:avLst/>
          </a:prstGeom>
          <a:noFill/>
          <a:ln/>
        </p:spPr>
        <p:txBody>
          <a:bodyPr wrap="square" lIns="38100" tIns="38100" rIns="38100" bIns="38100" rtlCol="0" anchor="ctr"/>
          <a:lstStyle/>
          <a:p>
            <a:pPr algn="ctr" indent="0" marL="0">
              <a:buNone/>
            </a:pPr>
            <a:r>
              <a:rPr lang="en-US" sz="1050" b="1" dirty="0">
                <a:solidFill>
                  <a:srgbClr val="1B8A5A"/>
                </a:solidFill>
                <a:latin typeface="Cambria" pitchFamily="34" charset="0"/>
                <a:ea typeface="Cambria" pitchFamily="34" charset="-122"/>
                <a:cs typeface="Cambria" pitchFamily="34" charset="-120"/>
              </a:rPr>
              <a:t>+1,88</a:t>
            </a:r>
            <a:endParaRPr lang="en-US" sz="1050" dirty="0"/>
          </a:p>
        </p:txBody>
      </p:sp>
      <p:sp>
        <p:nvSpPr>
          <p:cNvPr id="32" name="Text 30"/>
          <p:cNvSpPr/>
          <p:nvPr/>
        </p:nvSpPr>
        <p:spPr>
          <a:xfrm>
            <a:off x="7543800" y="1920240"/>
            <a:ext cx="1325880" cy="329184"/>
          </a:xfrm>
          <a:prstGeom prst="rect">
            <a:avLst/>
          </a:prstGeom>
          <a:noFill/>
          <a:ln/>
        </p:spPr>
        <p:txBody>
          <a:bodyPr wrap="square" lIns="38100" tIns="38100" rIns="38100" bIns="38100" rtlCol="0" anchor="ctr"/>
          <a:lstStyle/>
          <a:p>
            <a:pPr algn="ctr" indent="0" marL="0">
              <a:buNone/>
            </a:pPr>
            <a:r>
              <a:rPr lang="en-US" sz="950" dirty="0">
                <a:solidFill>
                  <a:srgbClr val="1A1A1A"/>
                </a:solidFill>
                <a:latin typeface="Cambria" pitchFamily="34" charset="0"/>
                <a:ea typeface="Cambria" pitchFamily="34" charset="-122"/>
                <a:cs typeface="Cambria" pitchFamily="34" charset="-120"/>
              </a:rPr>
              <a:t>[+1,17; +2,63]</a:t>
            </a:r>
            <a:endParaRPr lang="en-US" sz="950" dirty="0"/>
          </a:p>
        </p:txBody>
      </p:sp>
      <p:sp>
        <p:nvSpPr>
          <p:cNvPr id="33" name="Shape 31"/>
          <p:cNvSpPr/>
          <p:nvPr/>
        </p:nvSpPr>
        <p:spPr>
          <a:xfrm>
            <a:off x="274320" y="2249424"/>
            <a:ext cx="8595360" cy="0"/>
          </a:xfrm>
          <a:prstGeom prst="line">
            <a:avLst/>
          </a:prstGeom>
          <a:noFill/>
          <a:ln w="12700">
            <a:solidFill>
              <a:srgbClr val="9A94AE"/>
            </a:solidFill>
            <a:prstDash val="solid"/>
          </a:ln>
        </p:spPr>
      </p:sp>
      <p:sp>
        <p:nvSpPr>
          <p:cNvPr id="34" name="Text 32"/>
          <p:cNvSpPr/>
          <p:nvPr/>
        </p:nvSpPr>
        <p:spPr>
          <a:xfrm>
            <a:off x="274320" y="2249424"/>
            <a:ext cx="1600200" cy="329184"/>
          </a:xfrm>
          <a:prstGeom prst="rect">
            <a:avLst/>
          </a:prstGeom>
          <a:noFill/>
          <a:ln/>
        </p:spPr>
        <p:txBody>
          <a:bodyPr wrap="square" lIns="38100" tIns="38100" rIns="38100" bIns="38100" rtlCol="0" anchor="ctr"/>
          <a:lstStyle/>
          <a:p>
            <a:pPr algn="l" indent="0" marL="0">
              <a:buNone/>
            </a:pPr>
            <a:r>
              <a:rPr lang="en-US" sz="1050" dirty="0">
                <a:solidFill>
                  <a:srgbClr val="1A1A1A"/>
                </a:solidFill>
                <a:latin typeface="Cambria" pitchFamily="34" charset="0"/>
                <a:ea typeface="Cambria" pitchFamily="34" charset="-122"/>
                <a:cs typeface="Cambria" pitchFamily="34" charset="-120"/>
              </a:rPr>
              <a:t>AitW cận trên</a:t>
            </a:r>
            <a:endParaRPr lang="en-US" sz="1050" dirty="0"/>
          </a:p>
        </p:txBody>
      </p:sp>
      <p:sp>
        <p:nvSpPr>
          <p:cNvPr id="35" name="Text 33"/>
          <p:cNvSpPr/>
          <p:nvPr/>
        </p:nvSpPr>
        <p:spPr>
          <a:xfrm>
            <a:off x="1874520" y="2249424"/>
            <a:ext cx="3611880" cy="329184"/>
          </a:xfrm>
          <a:prstGeom prst="rect">
            <a:avLst/>
          </a:prstGeom>
          <a:noFill/>
          <a:ln/>
        </p:spPr>
        <p:txBody>
          <a:bodyPr wrap="square" lIns="38100" tIns="38100" rIns="38100" bIns="38100" rtlCol="0" anchor="ctr"/>
          <a:lstStyle/>
          <a:p>
            <a:pPr algn="l" indent="0" marL="0">
              <a:buNone/>
            </a:pPr>
            <a:r>
              <a:rPr lang="en-US" sz="950" dirty="0">
                <a:solidFill>
                  <a:srgbClr val="5A5A66"/>
                </a:solidFill>
                <a:latin typeface="Cambria" pitchFamily="34" charset="0"/>
                <a:ea typeface="Cambria" pitchFamily="34" charset="-122"/>
                <a:cs typeface="Cambria" pitchFamily="34" charset="-120"/>
              </a:rPr>
              <a:t>như trên, xét mọi khung phần tử bấm được trên màn</a:t>
            </a:r>
            <a:endParaRPr lang="en-US" sz="950" dirty="0"/>
          </a:p>
        </p:txBody>
      </p:sp>
      <p:sp>
        <p:nvSpPr>
          <p:cNvPr id="36" name="Text 34"/>
          <p:cNvSpPr/>
          <p:nvPr/>
        </p:nvSpPr>
        <p:spPr>
          <a:xfrm>
            <a:off x="5486400" y="2249424"/>
            <a:ext cx="685800" cy="329184"/>
          </a:xfrm>
          <a:prstGeom prst="rect">
            <a:avLst/>
          </a:prstGeom>
          <a:noFill/>
          <a:ln/>
        </p:spPr>
        <p:txBody>
          <a:bodyPr wrap="square" lIns="38100" tIns="38100" rIns="38100" bIns="38100" rtlCol="0" anchor="ctr"/>
          <a:lstStyle/>
          <a:p>
            <a:pPr algn="ctr" indent="0" marL="0">
              <a:buNone/>
            </a:pPr>
            <a:r>
              <a:rPr lang="en-US" sz="1050" dirty="0">
                <a:solidFill>
                  <a:srgbClr val="1A1A1A"/>
                </a:solidFill>
                <a:latin typeface="Cambria" pitchFamily="34" charset="0"/>
                <a:ea typeface="Cambria" pitchFamily="34" charset="-122"/>
                <a:cs typeface="Cambria" pitchFamily="34" charset="-120"/>
              </a:rPr>
              <a:t>81,04</a:t>
            </a:r>
            <a:endParaRPr lang="en-US" sz="1050" dirty="0"/>
          </a:p>
        </p:txBody>
      </p:sp>
      <p:sp>
        <p:nvSpPr>
          <p:cNvPr id="37" name="Text 35"/>
          <p:cNvSpPr/>
          <p:nvPr/>
        </p:nvSpPr>
        <p:spPr>
          <a:xfrm>
            <a:off x="6172200" y="2249424"/>
            <a:ext cx="731520" cy="329184"/>
          </a:xfrm>
          <a:prstGeom prst="rect">
            <a:avLst/>
          </a:prstGeom>
          <a:noFill/>
          <a:ln/>
        </p:spPr>
        <p:txBody>
          <a:bodyPr wrap="square" lIns="38100" tIns="38100" rIns="38100" bIns="38100" rtlCol="0" anchor="ctr"/>
          <a:lstStyle/>
          <a:p>
            <a:pPr algn="ctr" indent="0" marL="0">
              <a:buNone/>
            </a:pPr>
            <a:r>
              <a:rPr lang="en-US" sz="1050" dirty="0">
                <a:solidFill>
                  <a:srgbClr val="1A1A1A"/>
                </a:solidFill>
                <a:latin typeface="Cambria" pitchFamily="34" charset="0"/>
                <a:ea typeface="Cambria" pitchFamily="34" charset="-122"/>
                <a:cs typeface="Cambria" pitchFamily="34" charset="-120"/>
              </a:rPr>
              <a:t>82,90</a:t>
            </a:r>
            <a:endParaRPr lang="en-US" sz="1050" dirty="0"/>
          </a:p>
        </p:txBody>
      </p:sp>
      <p:sp>
        <p:nvSpPr>
          <p:cNvPr id="38" name="Text 36"/>
          <p:cNvSpPr/>
          <p:nvPr/>
        </p:nvSpPr>
        <p:spPr>
          <a:xfrm>
            <a:off x="6903720" y="2249424"/>
            <a:ext cx="640080" cy="329184"/>
          </a:xfrm>
          <a:prstGeom prst="rect">
            <a:avLst/>
          </a:prstGeom>
          <a:noFill/>
          <a:ln/>
        </p:spPr>
        <p:txBody>
          <a:bodyPr wrap="square" lIns="38100" tIns="38100" rIns="38100" bIns="38100" rtlCol="0" anchor="ctr"/>
          <a:lstStyle/>
          <a:p>
            <a:pPr algn="ctr" indent="0" marL="0">
              <a:buNone/>
            </a:pPr>
            <a:r>
              <a:rPr lang="en-US" sz="1050" b="1" dirty="0">
                <a:solidFill>
                  <a:srgbClr val="1B8A5A"/>
                </a:solidFill>
                <a:latin typeface="Cambria" pitchFamily="34" charset="0"/>
                <a:ea typeface="Cambria" pitchFamily="34" charset="-122"/>
                <a:cs typeface="Cambria" pitchFamily="34" charset="-120"/>
              </a:rPr>
              <a:t>+1,86</a:t>
            </a:r>
            <a:endParaRPr lang="en-US" sz="1050" dirty="0"/>
          </a:p>
        </p:txBody>
      </p:sp>
      <p:sp>
        <p:nvSpPr>
          <p:cNvPr id="39" name="Text 37"/>
          <p:cNvSpPr/>
          <p:nvPr/>
        </p:nvSpPr>
        <p:spPr>
          <a:xfrm>
            <a:off x="7543800" y="2249424"/>
            <a:ext cx="1325880" cy="329184"/>
          </a:xfrm>
          <a:prstGeom prst="rect">
            <a:avLst/>
          </a:prstGeom>
          <a:noFill/>
          <a:ln/>
        </p:spPr>
        <p:txBody>
          <a:bodyPr wrap="square" lIns="38100" tIns="38100" rIns="38100" bIns="38100" rtlCol="0" anchor="ctr"/>
          <a:lstStyle/>
          <a:p>
            <a:pPr algn="ctr" indent="0" marL="0">
              <a:buNone/>
            </a:pPr>
            <a:r>
              <a:rPr lang="en-US" sz="950" dirty="0">
                <a:solidFill>
                  <a:srgbClr val="1A1A1A"/>
                </a:solidFill>
                <a:latin typeface="Cambria" pitchFamily="34" charset="0"/>
                <a:ea typeface="Cambria" pitchFamily="34" charset="-122"/>
                <a:cs typeface="Cambria" pitchFamily="34" charset="-120"/>
              </a:rPr>
              <a:t>[+1,17; +2,60]</a:t>
            </a:r>
            <a:endParaRPr lang="en-US" sz="950" dirty="0"/>
          </a:p>
        </p:txBody>
      </p:sp>
      <p:sp>
        <p:nvSpPr>
          <p:cNvPr id="40" name="Shape 38"/>
          <p:cNvSpPr/>
          <p:nvPr/>
        </p:nvSpPr>
        <p:spPr>
          <a:xfrm>
            <a:off x="274320" y="2578608"/>
            <a:ext cx="8595360" cy="0"/>
          </a:xfrm>
          <a:prstGeom prst="line">
            <a:avLst/>
          </a:prstGeom>
          <a:noFill/>
          <a:ln w="12700">
            <a:solidFill>
              <a:srgbClr val="9A94AE"/>
            </a:solidFill>
            <a:prstDash val="solid"/>
          </a:ln>
        </p:spPr>
      </p:sp>
      <p:sp>
        <p:nvSpPr>
          <p:cNvPr id="41" name="Text 39"/>
          <p:cNvSpPr/>
          <p:nvPr/>
        </p:nvSpPr>
        <p:spPr>
          <a:xfrm>
            <a:off x="274320" y="2578608"/>
            <a:ext cx="1600200" cy="329184"/>
          </a:xfrm>
          <a:prstGeom prst="rect">
            <a:avLst/>
          </a:prstGeom>
          <a:noFill/>
          <a:ln/>
        </p:spPr>
        <p:txBody>
          <a:bodyPr wrap="square" lIns="38100" tIns="38100" rIns="38100" bIns="38100" rtlCol="0" anchor="ctr"/>
          <a:lstStyle/>
          <a:p>
            <a:pPr algn="l" indent="0" marL="0">
              <a:buNone/>
            </a:pPr>
            <a:r>
              <a:rPr lang="en-US" sz="1050" dirty="0">
                <a:solidFill>
                  <a:srgbClr val="1A1A1A"/>
                </a:solidFill>
                <a:latin typeface="Cambria" pitchFamily="34" charset="0"/>
                <a:ea typeface="Cambria" pitchFamily="34" charset="-122"/>
                <a:cs typeface="Cambria" pitchFamily="34" charset="-120"/>
              </a:rPr>
              <a:t>±14% theo trục</a:t>
            </a:r>
            <a:endParaRPr lang="en-US" sz="1050" dirty="0"/>
          </a:p>
        </p:txBody>
      </p:sp>
      <p:sp>
        <p:nvSpPr>
          <p:cNvPr id="42" name="Text 40"/>
          <p:cNvSpPr/>
          <p:nvPr/>
        </p:nvSpPr>
        <p:spPr>
          <a:xfrm>
            <a:off x="1874520" y="2578608"/>
            <a:ext cx="3611880" cy="329184"/>
          </a:xfrm>
          <a:prstGeom prst="rect">
            <a:avLst/>
          </a:prstGeom>
          <a:noFill/>
          <a:ln/>
        </p:spPr>
        <p:txBody>
          <a:bodyPr wrap="square" lIns="38100" tIns="38100" rIns="38100" bIns="38100" rtlCol="0" anchor="ctr"/>
          <a:lstStyle/>
          <a:p>
            <a:pPr algn="l" indent="0" marL="0">
              <a:buNone/>
            </a:pPr>
            <a:r>
              <a:rPr lang="en-US" sz="950" dirty="0">
                <a:solidFill>
                  <a:srgbClr val="5A5A66"/>
                </a:solidFill>
                <a:latin typeface="Cambria" pitchFamily="34" charset="0"/>
                <a:ea typeface="Cambria" pitchFamily="34" charset="-122"/>
                <a:cs typeface="Cambria" pitchFamily="34" charset="-120"/>
              </a:rPr>
              <a:t>lệch ≤ 0,14 bề rộng và ≤ 0,14 bề cao, đúng loại thao tác</a:t>
            </a:r>
            <a:endParaRPr lang="en-US" sz="950" dirty="0"/>
          </a:p>
        </p:txBody>
      </p:sp>
      <p:sp>
        <p:nvSpPr>
          <p:cNvPr id="43" name="Text 41"/>
          <p:cNvSpPr/>
          <p:nvPr/>
        </p:nvSpPr>
        <p:spPr>
          <a:xfrm>
            <a:off x="5486400" y="2578608"/>
            <a:ext cx="685800" cy="329184"/>
          </a:xfrm>
          <a:prstGeom prst="rect">
            <a:avLst/>
          </a:prstGeom>
          <a:noFill/>
          <a:ln/>
        </p:spPr>
        <p:txBody>
          <a:bodyPr wrap="square" lIns="38100" tIns="38100" rIns="38100" bIns="38100" rtlCol="0" anchor="ctr"/>
          <a:lstStyle/>
          <a:p>
            <a:pPr algn="ctr" indent="0" marL="0">
              <a:buNone/>
            </a:pPr>
            <a:r>
              <a:rPr lang="en-US" sz="1050" dirty="0">
                <a:solidFill>
                  <a:srgbClr val="1A1A1A"/>
                </a:solidFill>
                <a:latin typeface="Cambria" pitchFamily="34" charset="0"/>
                <a:ea typeface="Cambria" pitchFamily="34" charset="-122"/>
                <a:cs typeface="Cambria" pitchFamily="34" charset="-120"/>
              </a:rPr>
              <a:t>67,24</a:t>
            </a:r>
            <a:endParaRPr lang="en-US" sz="1050" dirty="0"/>
          </a:p>
        </p:txBody>
      </p:sp>
      <p:sp>
        <p:nvSpPr>
          <p:cNvPr id="44" name="Text 42"/>
          <p:cNvSpPr/>
          <p:nvPr/>
        </p:nvSpPr>
        <p:spPr>
          <a:xfrm>
            <a:off x="6172200" y="2578608"/>
            <a:ext cx="731520" cy="329184"/>
          </a:xfrm>
          <a:prstGeom prst="rect">
            <a:avLst/>
          </a:prstGeom>
          <a:noFill/>
          <a:ln/>
        </p:spPr>
        <p:txBody>
          <a:bodyPr wrap="square" lIns="38100" tIns="38100" rIns="38100" bIns="38100" rtlCol="0" anchor="ctr"/>
          <a:lstStyle/>
          <a:p>
            <a:pPr algn="ctr" indent="0" marL="0">
              <a:buNone/>
            </a:pPr>
            <a:r>
              <a:rPr lang="en-US" sz="1050" dirty="0">
                <a:solidFill>
                  <a:srgbClr val="1A1A1A"/>
                </a:solidFill>
                <a:latin typeface="Cambria" pitchFamily="34" charset="0"/>
                <a:ea typeface="Cambria" pitchFamily="34" charset="-122"/>
                <a:cs typeface="Cambria" pitchFamily="34" charset="-120"/>
              </a:rPr>
              <a:t>68,90</a:t>
            </a:r>
            <a:endParaRPr lang="en-US" sz="1050" dirty="0"/>
          </a:p>
        </p:txBody>
      </p:sp>
      <p:sp>
        <p:nvSpPr>
          <p:cNvPr id="45" name="Text 43"/>
          <p:cNvSpPr/>
          <p:nvPr/>
        </p:nvSpPr>
        <p:spPr>
          <a:xfrm>
            <a:off x="6903720" y="2578608"/>
            <a:ext cx="640080" cy="329184"/>
          </a:xfrm>
          <a:prstGeom prst="rect">
            <a:avLst/>
          </a:prstGeom>
          <a:noFill/>
          <a:ln/>
        </p:spPr>
        <p:txBody>
          <a:bodyPr wrap="square" lIns="38100" tIns="38100" rIns="38100" bIns="38100" rtlCol="0" anchor="ctr"/>
          <a:lstStyle/>
          <a:p>
            <a:pPr algn="ctr" indent="0" marL="0">
              <a:buNone/>
            </a:pPr>
            <a:r>
              <a:rPr lang="en-US" sz="1050" b="1" dirty="0">
                <a:solidFill>
                  <a:srgbClr val="1B8A5A"/>
                </a:solidFill>
                <a:latin typeface="Cambria" pitchFamily="34" charset="0"/>
                <a:ea typeface="Cambria" pitchFamily="34" charset="-122"/>
                <a:cs typeface="Cambria" pitchFamily="34" charset="-120"/>
              </a:rPr>
              <a:t>+1,66</a:t>
            </a:r>
            <a:endParaRPr lang="en-US" sz="1050" dirty="0"/>
          </a:p>
        </p:txBody>
      </p:sp>
      <p:sp>
        <p:nvSpPr>
          <p:cNvPr id="46" name="Text 44"/>
          <p:cNvSpPr/>
          <p:nvPr/>
        </p:nvSpPr>
        <p:spPr>
          <a:xfrm>
            <a:off x="7543800" y="2578608"/>
            <a:ext cx="1325880" cy="329184"/>
          </a:xfrm>
          <a:prstGeom prst="rect">
            <a:avLst/>
          </a:prstGeom>
          <a:noFill/>
          <a:ln/>
        </p:spPr>
        <p:txBody>
          <a:bodyPr wrap="square" lIns="38100" tIns="38100" rIns="38100" bIns="38100" rtlCol="0" anchor="ctr"/>
          <a:lstStyle/>
          <a:p>
            <a:pPr algn="ctr" indent="0" marL="0">
              <a:buNone/>
            </a:pPr>
            <a:r>
              <a:rPr lang="en-US" sz="950" dirty="0">
                <a:solidFill>
                  <a:srgbClr val="1A1A1A"/>
                </a:solidFill>
                <a:latin typeface="Cambria" pitchFamily="34" charset="0"/>
                <a:ea typeface="Cambria" pitchFamily="34" charset="-122"/>
                <a:cs typeface="Cambria" pitchFamily="34" charset="-120"/>
              </a:rPr>
              <a:t>[+0,90; +2,46]</a:t>
            </a:r>
            <a:endParaRPr lang="en-US" sz="950" dirty="0"/>
          </a:p>
        </p:txBody>
      </p:sp>
      <p:sp>
        <p:nvSpPr>
          <p:cNvPr id="47" name="Shape 45"/>
          <p:cNvSpPr/>
          <p:nvPr/>
        </p:nvSpPr>
        <p:spPr>
          <a:xfrm>
            <a:off x="274320" y="2907792"/>
            <a:ext cx="8595360" cy="0"/>
          </a:xfrm>
          <a:prstGeom prst="line">
            <a:avLst/>
          </a:prstGeom>
          <a:noFill/>
          <a:ln w="12700">
            <a:solidFill>
              <a:srgbClr val="9A94AE"/>
            </a:solidFill>
            <a:prstDash val="solid"/>
          </a:ln>
        </p:spPr>
      </p:sp>
      <p:sp>
        <p:nvSpPr>
          <p:cNvPr id="48" name="Text 46"/>
          <p:cNvSpPr/>
          <p:nvPr/>
        </p:nvSpPr>
        <p:spPr>
          <a:xfrm>
            <a:off x="274320" y="2907792"/>
            <a:ext cx="1600200" cy="329184"/>
          </a:xfrm>
          <a:prstGeom prst="rect">
            <a:avLst/>
          </a:prstGeom>
          <a:noFill/>
          <a:ln/>
        </p:spPr>
        <p:txBody>
          <a:bodyPr wrap="square" lIns="38100" tIns="38100" rIns="38100" bIns="38100" rtlCol="0" anchor="ctr"/>
          <a:lstStyle/>
          <a:p>
            <a:pPr algn="l" indent="0" marL="0">
              <a:buNone/>
            </a:pPr>
            <a:r>
              <a:rPr lang="en-US" sz="1050" dirty="0">
                <a:solidFill>
                  <a:srgbClr val="1A1A1A"/>
                </a:solidFill>
                <a:latin typeface="Cambria" pitchFamily="34" charset="0"/>
                <a:ea typeface="Cambria" pitchFamily="34" charset="-122"/>
                <a:cs typeface="Cambria" pitchFamily="34" charset="-120"/>
              </a:rPr>
              <a:t>Đúng loại thao tác</a:t>
            </a:r>
            <a:endParaRPr lang="en-US" sz="1050" dirty="0"/>
          </a:p>
        </p:txBody>
      </p:sp>
      <p:sp>
        <p:nvSpPr>
          <p:cNvPr id="49" name="Text 47"/>
          <p:cNvSpPr/>
          <p:nvPr/>
        </p:nvSpPr>
        <p:spPr>
          <a:xfrm>
            <a:off x="1874520" y="2907792"/>
            <a:ext cx="3611880" cy="329184"/>
          </a:xfrm>
          <a:prstGeom prst="rect">
            <a:avLst/>
          </a:prstGeom>
          <a:noFill/>
          <a:ln/>
        </p:spPr>
        <p:txBody>
          <a:bodyPr wrap="square" lIns="38100" tIns="38100" rIns="38100" bIns="38100" rtlCol="0" anchor="ctr"/>
          <a:lstStyle/>
          <a:p>
            <a:pPr algn="l" indent="0" marL="0">
              <a:buNone/>
            </a:pPr>
            <a:r>
              <a:rPr lang="en-US" sz="950" dirty="0">
                <a:solidFill>
                  <a:srgbClr val="5A5A66"/>
                </a:solidFill>
                <a:latin typeface="Cambria" pitchFamily="34" charset="0"/>
                <a:ea typeface="Cambria" pitchFamily="34" charset="-122"/>
                <a:cs typeface="Cambria" pitchFamily="34" charset="-120"/>
              </a:rPr>
              <a:t>câu quy về đúng loại thao tác của bước</a:t>
            </a:r>
            <a:endParaRPr lang="en-US" sz="950" dirty="0"/>
          </a:p>
        </p:txBody>
      </p:sp>
      <p:sp>
        <p:nvSpPr>
          <p:cNvPr id="50" name="Text 48"/>
          <p:cNvSpPr/>
          <p:nvPr/>
        </p:nvSpPr>
        <p:spPr>
          <a:xfrm>
            <a:off x="5486400" y="2907792"/>
            <a:ext cx="685800" cy="329184"/>
          </a:xfrm>
          <a:prstGeom prst="rect">
            <a:avLst/>
          </a:prstGeom>
          <a:noFill/>
          <a:ln/>
        </p:spPr>
        <p:txBody>
          <a:bodyPr wrap="square" lIns="38100" tIns="38100" rIns="38100" bIns="38100" rtlCol="0" anchor="ctr"/>
          <a:lstStyle/>
          <a:p>
            <a:pPr algn="ctr" indent="0" marL="0">
              <a:buNone/>
            </a:pPr>
            <a:r>
              <a:rPr lang="en-US" sz="1050" dirty="0">
                <a:solidFill>
                  <a:srgbClr val="1A1A1A"/>
                </a:solidFill>
                <a:latin typeface="Cambria" pitchFamily="34" charset="0"/>
                <a:ea typeface="Cambria" pitchFamily="34" charset="-122"/>
                <a:cs typeface="Cambria" pitchFamily="34" charset="-120"/>
              </a:rPr>
              <a:t>94,35</a:t>
            </a:r>
            <a:endParaRPr lang="en-US" sz="1050" dirty="0"/>
          </a:p>
        </p:txBody>
      </p:sp>
      <p:sp>
        <p:nvSpPr>
          <p:cNvPr id="51" name="Text 49"/>
          <p:cNvSpPr/>
          <p:nvPr/>
        </p:nvSpPr>
        <p:spPr>
          <a:xfrm>
            <a:off x="6172200" y="2907792"/>
            <a:ext cx="731520" cy="329184"/>
          </a:xfrm>
          <a:prstGeom prst="rect">
            <a:avLst/>
          </a:prstGeom>
          <a:noFill/>
          <a:ln/>
        </p:spPr>
        <p:txBody>
          <a:bodyPr wrap="square" lIns="38100" tIns="38100" rIns="38100" bIns="38100" rtlCol="0" anchor="ctr"/>
          <a:lstStyle/>
          <a:p>
            <a:pPr algn="ctr" indent="0" marL="0">
              <a:buNone/>
            </a:pPr>
            <a:r>
              <a:rPr lang="en-US" sz="1050" dirty="0">
                <a:solidFill>
                  <a:srgbClr val="1A1A1A"/>
                </a:solidFill>
                <a:latin typeface="Cambria" pitchFamily="34" charset="0"/>
                <a:ea typeface="Cambria" pitchFamily="34" charset="-122"/>
                <a:cs typeface="Cambria" pitchFamily="34" charset="-120"/>
              </a:rPr>
              <a:t>95,97</a:t>
            </a:r>
            <a:endParaRPr lang="en-US" sz="1050" dirty="0"/>
          </a:p>
        </p:txBody>
      </p:sp>
      <p:sp>
        <p:nvSpPr>
          <p:cNvPr id="52" name="Text 50"/>
          <p:cNvSpPr/>
          <p:nvPr/>
        </p:nvSpPr>
        <p:spPr>
          <a:xfrm>
            <a:off x="6903720" y="2907792"/>
            <a:ext cx="640080" cy="329184"/>
          </a:xfrm>
          <a:prstGeom prst="rect">
            <a:avLst/>
          </a:prstGeom>
          <a:noFill/>
          <a:ln/>
        </p:spPr>
        <p:txBody>
          <a:bodyPr wrap="square" lIns="38100" tIns="38100" rIns="38100" bIns="38100" rtlCol="0" anchor="ctr"/>
          <a:lstStyle/>
          <a:p>
            <a:pPr algn="ctr" indent="0" marL="0">
              <a:buNone/>
            </a:pPr>
            <a:r>
              <a:rPr lang="en-US" sz="1050" b="1" dirty="0">
                <a:solidFill>
                  <a:srgbClr val="1B8A5A"/>
                </a:solidFill>
                <a:latin typeface="Cambria" pitchFamily="34" charset="0"/>
                <a:ea typeface="Cambria" pitchFamily="34" charset="-122"/>
                <a:cs typeface="Cambria" pitchFamily="34" charset="-120"/>
              </a:rPr>
              <a:t>+1,61</a:t>
            </a:r>
            <a:endParaRPr lang="en-US" sz="1050" dirty="0"/>
          </a:p>
        </p:txBody>
      </p:sp>
      <p:sp>
        <p:nvSpPr>
          <p:cNvPr id="53" name="Text 51"/>
          <p:cNvSpPr/>
          <p:nvPr/>
        </p:nvSpPr>
        <p:spPr>
          <a:xfrm>
            <a:off x="7543800" y="2907792"/>
            <a:ext cx="1325880" cy="329184"/>
          </a:xfrm>
          <a:prstGeom prst="rect">
            <a:avLst/>
          </a:prstGeom>
          <a:noFill/>
          <a:ln/>
        </p:spPr>
        <p:txBody>
          <a:bodyPr wrap="square" lIns="38100" tIns="38100" rIns="38100" bIns="38100" rtlCol="0" anchor="ctr"/>
          <a:lstStyle/>
          <a:p>
            <a:pPr algn="ctr" indent="0" marL="0">
              <a:buNone/>
            </a:pPr>
            <a:r>
              <a:rPr lang="en-US" sz="950" dirty="0">
                <a:solidFill>
                  <a:srgbClr val="1A1A1A"/>
                </a:solidFill>
                <a:latin typeface="Cambria" pitchFamily="34" charset="0"/>
                <a:ea typeface="Cambria" pitchFamily="34" charset="-122"/>
                <a:cs typeface="Cambria" pitchFamily="34" charset="-120"/>
              </a:rPr>
              <a:t>[+1,17; +2,08]</a:t>
            </a:r>
            <a:endParaRPr lang="en-US" sz="950" dirty="0"/>
          </a:p>
        </p:txBody>
      </p:sp>
      <p:sp>
        <p:nvSpPr>
          <p:cNvPr id="54" name="Shape 52"/>
          <p:cNvSpPr/>
          <p:nvPr/>
        </p:nvSpPr>
        <p:spPr>
          <a:xfrm>
            <a:off x="274320" y="3236976"/>
            <a:ext cx="8595360" cy="274320"/>
          </a:xfrm>
          <a:prstGeom prst="rect">
            <a:avLst/>
          </a:prstGeom>
          <a:solidFill>
            <a:srgbClr val="F1EFF6"/>
          </a:solidFill>
          <a:ln/>
        </p:spPr>
      </p:sp>
      <p:sp>
        <p:nvSpPr>
          <p:cNvPr id="55" name="Text 53"/>
          <p:cNvSpPr/>
          <p:nvPr/>
        </p:nvSpPr>
        <p:spPr>
          <a:xfrm>
            <a:off x="301752" y="3236976"/>
            <a:ext cx="8540496" cy="274320"/>
          </a:xfrm>
          <a:prstGeom prst="rect">
            <a:avLst/>
          </a:prstGeom>
          <a:noFill/>
          <a:ln/>
        </p:spPr>
        <p:txBody>
          <a:bodyPr wrap="square" lIns="38100" tIns="38100" rIns="38100" bIns="38100" rtlCol="0" anchor="ctr"/>
          <a:lstStyle/>
          <a:p>
            <a:pPr algn="l" indent="0" marL="0">
              <a:buNone/>
            </a:pPr>
            <a:r>
              <a:rPr lang="en-US" sz="1100" b="1" dirty="0">
                <a:solidFill>
                  <a:srgbClr val="322164"/>
                </a:solidFill>
                <a:latin typeface="Cambria" pitchFamily="34" charset="0"/>
                <a:ea typeface="Cambria" pitchFamily="34" charset="-122"/>
                <a:cs typeface="Cambria" pitchFamily="34" charset="-120"/>
              </a:rPr>
              <a:t>Theo câu chữ, so với câu chuẩn (bộ chấm COCO, mức kho)</a:t>
            </a:r>
            <a:endParaRPr lang="en-US" sz="1100" dirty="0"/>
          </a:p>
        </p:txBody>
      </p:sp>
      <p:sp>
        <p:nvSpPr>
          <p:cNvPr id="56" name="Text 54"/>
          <p:cNvSpPr/>
          <p:nvPr/>
        </p:nvSpPr>
        <p:spPr>
          <a:xfrm>
            <a:off x="274320" y="3511296"/>
            <a:ext cx="1600200" cy="329184"/>
          </a:xfrm>
          <a:prstGeom prst="rect">
            <a:avLst/>
          </a:prstGeom>
          <a:noFill/>
          <a:ln/>
        </p:spPr>
        <p:txBody>
          <a:bodyPr wrap="square" lIns="38100" tIns="38100" rIns="38100" bIns="38100" rtlCol="0" anchor="ctr"/>
          <a:lstStyle/>
          <a:p>
            <a:pPr algn="l" indent="0" marL="0">
              <a:buNone/>
            </a:pPr>
            <a:r>
              <a:rPr lang="en-US" sz="1050" dirty="0">
                <a:solidFill>
                  <a:srgbClr val="1A1A1A"/>
                </a:solidFill>
                <a:latin typeface="Cambria" pitchFamily="34" charset="0"/>
                <a:ea typeface="Cambria" pitchFamily="34" charset="-122"/>
                <a:cs typeface="Cambria" pitchFamily="34" charset="-120"/>
              </a:rPr>
              <a:t>SPICE</a:t>
            </a:r>
            <a:endParaRPr lang="en-US" sz="1050" dirty="0"/>
          </a:p>
        </p:txBody>
      </p:sp>
      <p:sp>
        <p:nvSpPr>
          <p:cNvPr id="57" name="Text 55"/>
          <p:cNvSpPr/>
          <p:nvPr/>
        </p:nvSpPr>
        <p:spPr>
          <a:xfrm>
            <a:off x="1874520" y="3511296"/>
            <a:ext cx="3611880" cy="329184"/>
          </a:xfrm>
          <a:prstGeom prst="rect">
            <a:avLst/>
          </a:prstGeom>
          <a:noFill/>
          <a:ln/>
        </p:spPr>
        <p:txBody>
          <a:bodyPr wrap="square" lIns="38100" tIns="38100" rIns="38100" bIns="38100" rtlCol="0" anchor="ctr"/>
          <a:lstStyle/>
          <a:p>
            <a:pPr algn="l" indent="0" marL="0">
              <a:buNone/>
            </a:pPr>
            <a:r>
              <a:rPr lang="en-US" sz="950" dirty="0">
                <a:solidFill>
                  <a:srgbClr val="5A5A66"/>
                </a:solidFill>
                <a:latin typeface="Cambria" pitchFamily="34" charset="0"/>
                <a:ea typeface="Cambria" pitchFamily="34" charset="-122"/>
                <a:cs typeface="Cambria" pitchFamily="34" charset="-120"/>
              </a:rPr>
              <a:t>khớp đồ thị ngữ nghĩa: đối tượng, thuộc tính, quan hệ</a:t>
            </a:r>
            <a:endParaRPr lang="en-US" sz="950" dirty="0"/>
          </a:p>
        </p:txBody>
      </p:sp>
      <p:sp>
        <p:nvSpPr>
          <p:cNvPr id="58" name="Text 56"/>
          <p:cNvSpPr/>
          <p:nvPr/>
        </p:nvSpPr>
        <p:spPr>
          <a:xfrm>
            <a:off x="5486400" y="3511296"/>
            <a:ext cx="685800" cy="329184"/>
          </a:xfrm>
          <a:prstGeom prst="rect">
            <a:avLst/>
          </a:prstGeom>
          <a:noFill/>
          <a:ln/>
        </p:spPr>
        <p:txBody>
          <a:bodyPr wrap="square" lIns="38100" tIns="38100" rIns="38100" bIns="38100" rtlCol="0" anchor="ctr"/>
          <a:lstStyle/>
          <a:p>
            <a:pPr algn="ctr" indent="0" marL="0">
              <a:buNone/>
            </a:pPr>
            <a:r>
              <a:rPr lang="en-US" sz="1050" dirty="0">
                <a:solidFill>
                  <a:srgbClr val="1A1A1A"/>
                </a:solidFill>
                <a:latin typeface="Cambria" pitchFamily="34" charset="0"/>
                <a:ea typeface="Cambria" pitchFamily="34" charset="-122"/>
                <a:cs typeface="Cambria" pitchFamily="34" charset="-120"/>
              </a:rPr>
              <a:t>44,37</a:t>
            </a:r>
            <a:endParaRPr lang="en-US" sz="1050" dirty="0"/>
          </a:p>
        </p:txBody>
      </p:sp>
      <p:sp>
        <p:nvSpPr>
          <p:cNvPr id="59" name="Text 57"/>
          <p:cNvSpPr/>
          <p:nvPr/>
        </p:nvSpPr>
        <p:spPr>
          <a:xfrm>
            <a:off x="6172200" y="3511296"/>
            <a:ext cx="731520" cy="329184"/>
          </a:xfrm>
          <a:prstGeom prst="rect">
            <a:avLst/>
          </a:prstGeom>
          <a:noFill/>
          <a:ln/>
        </p:spPr>
        <p:txBody>
          <a:bodyPr wrap="square" lIns="38100" tIns="38100" rIns="38100" bIns="38100" rtlCol="0" anchor="ctr"/>
          <a:lstStyle/>
          <a:p>
            <a:pPr algn="ctr" indent="0" marL="0">
              <a:buNone/>
            </a:pPr>
            <a:r>
              <a:rPr lang="en-US" sz="1050" dirty="0">
                <a:solidFill>
                  <a:srgbClr val="1A1A1A"/>
                </a:solidFill>
                <a:latin typeface="Cambria" pitchFamily="34" charset="0"/>
                <a:ea typeface="Cambria" pitchFamily="34" charset="-122"/>
                <a:cs typeface="Cambria" pitchFamily="34" charset="-120"/>
              </a:rPr>
              <a:t>45,79</a:t>
            </a:r>
            <a:endParaRPr lang="en-US" sz="1050" dirty="0"/>
          </a:p>
        </p:txBody>
      </p:sp>
      <p:sp>
        <p:nvSpPr>
          <p:cNvPr id="60" name="Text 58"/>
          <p:cNvSpPr/>
          <p:nvPr/>
        </p:nvSpPr>
        <p:spPr>
          <a:xfrm>
            <a:off x="6903720" y="3511296"/>
            <a:ext cx="640080" cy="329184"/>
          </a:xfrm>
          <a:prstGeom prst="rect">
            <a:avLst/>
          </a:prstGeom>
          <a:noFill/>
          <a:ln/>
        </p:spPr>
        <p:txBody>
          <a:bodyPr wrap="square" lIns="38100" tIns="38100" rIns="38100" bIns="38100" rtlCol="0" anchor="ctr"/>
          <a:lstStyle/>
          <a:p>
            <a:pPr algn="ctr" indent="0" marL="0">
              <a:buNone/>
            </a:pPr>
            <a:r>
              <a:rPr lang="en-US" sz="1050" b="1" dirty="0">
                <a:solidFill>
                  <a:srgbClr val="1B8A5A"/>
                </a:solidFill>
                <a:latin typeface="Cambria" pitchFamily="34" charset="0"/>
                <a:ea typeface="Cambria" pitchFamily="34" charset="-122"/>
                <a:cs typeface="Cambria" pitchFamily="34" charset="-120"/>
              </a:rPr>
              <a:t>+1,42</a:t>
            </a:r>
            <a:endParaRPr lang="en-US" sz="1050" dirty="0"/>
          </a:p>
        </p:txBody>
      </p:sp>
      <p:sp>
        <p:nvSpPr>
          <p:cNvPr id="61" name="Text 59"/>
          <p:cNvSpPr/>
          <p:nvPr/>
        </p:nvSpPr>
        <p:spPr>
          <a:xfrm>
            <a:off x="7543800" y="3511296"/>
            <a:ext cx="1325880" cy="329184"/>
          </a:xfrm>
          <a:prstGeom prst="rect">
            <a:avLst/>
          </a:prstGeom>
          <a:noFill/>
          <a:ln/>
        </p:spPr>
        <p:txBody>
          <a:bodyPr wrap="square" lIns="38100" tIns="38100" rIns="38100" bIns="38100" rtlCol="0" anchor="ctr"/>
          <a:lstStyle/>
          <a:p>
            <a:pPr algn="ctr" indent="0" marL="0">
              <a:buNone/>
            </a:pPr>
            <a:r>
              <a:rPr lang="en-US" sz="950" dirty="0">
                <a:solidFill>
                  <a:srgbClr val="1A1A1A"/>
                </a:solidFill>
                <a:latin typeface="Cambria" pitchFamily="34" charset="0"/>
                <a:ea typeface="Cambria" pitchFamily="34" charset="-122"/>
                <a:cs typeface="Cambria" pitchFamily="34" charset="-120"/>
              </a:rPr>
              <a:t>[+0,69; +2,16]</a:t>
            </a:r>
            <a:endParaRPr lang="en-US" sz="950" dirty="0"/>
          </a:p>
        </p:txBody>
      </p:sp>
      <p:sp>
        <p:nvSpPr>
          <p:cNvPr id="62" name="Shape 60"/>
          <p:cNvSpPr/>
          <p:nvPr/>
        </p:nvSpPr>
        <p:spPr>
          <a:xfrm>
            <a:off x="274320" y="3840480"/>
            <a:ext cx="8595360" cy="0"/>
          </a:xfrm>
          <a:prstGeom prst="line">
            <a:avLst/>
          </a:prstGeom>
          <a:noFill/>
          <a:ln w="12700">
            <a:solidFill>
              <a:srgbClr val="9A94AE"/>
            </a:solidFill>
            <a:prstDash val="solid"/>
          </a:ln>
        </p:spPr>
      </p:sp>
      <p:sp>
        <p:nvSpPr>
          <p:cNvPr id="63" name="Text 61"/>
          <p:cNvSpPr/>
          <p:nvPr/>
        </p:nvSpPr>
        <p:spPr>
          <a:xfrm>
            <a:off x="274320" y="3840480"/>
            <a:ext cx="1600200" cy="329184"/>
          </a:xfrm>
          <a:prstGeom prst="rect">
            <a:avLst/>
          </a:prstGeom>
          <a:noFill/>
          <a:ln/>
        </p:spPr>
        <p:txBody>
          <a:bodyPr wrap="square" lIns="38100" tIns="38100" rIns="38100" bIns="38100" rtlCol="0" anchor="ctr"/>
          <a:lstStyle/>
          <a:p>
            <a:pPr algn="l" indent="0" marL="0">
              <a:buNone/>
            </a:pPr>
            <a:r>
              <a:rPr lang="en-US" sz="1050" dirty="0">
                <a:solidFill>
                  <a:srgbClr val="1A1A1A"/>
                </a:solidFill>
                <a:latin typeface="Cambria" pitchFamily="34" charset="0"/>
                <a:ea typeface="Cambria" pitchFamily="34" charset="-122"/>
                <a:cs typeface="Cambria" pitchFamily="34" charset="-120"/>
              </a:rPr>
              <a:t>BLEU-4</a:t>
            </a:r>
            <a:endParaRPr lang="en-US" sz="1050" dirty="0"/>
          </a:p>
        </p:txBody>
      </p:sp>
      <p:sp>
        <p:nvSpPr>
          <p:cNvPr id="64" name="Text 62"/>
          <p:cNvSpPr/>
          <p:nvPr/>
        </p:nvSpPr>
        <p:spPr>
          <a:xfrm>
            <a:off x="1874520" y="3840480"/>
            <a:ext cx="3611880" cy="329184"/>
          </a:xfrm>
          <a:prstGeom prst="rect">
            <a:avLst/>
          </a:prstGeom>
          <a:noFill/>
          <a:ln/>
        </p:spPr>
        <p:txBody>
          <a:bodyPr wrap="square" lIns="38100" tIns="38100" rIns="38100" bIns="38100" rtlCol="0" anchor="ctr"/>
          <a:lstStyle/>
          <a:p>
            <a:pPr algn="l" indent="0" marL="0">
              <a:buNone/>
            </a:pPr>
            <a:r>
              <a:rPr lang="en-US" sz="950" dirty="0">
                <a:solidFill>
                  <a:srgbClr val="5A5A66"/>
                </a:solidFill>
                <a:latin typeface="Cambria" pitchFamily="34" charset="0"/>
                <a:ea typeface="Cambria" pitchFamily="34" charset="-122"/>
                <a:cs typeface="Cambria" pitchFamily="34" charset="-120"/>
              </a:rPr>
              <a:t>độ chính xác cụm 1 đến 4 từ</a:t>
            </a:r>
            <a:endParaRPr lang="en-US" sz="950" dirty="0"/>
          </a:p>
        </p:txBody>
      </p:sp>
      <p:sp>
        <p:nvSpPr>
          <p:cNvPr id="65" name="Text 63"/>
          <p:cNvSpPr/>
          <p:nvPr/>
        </p:nvSpPr>
        <p:spPr>
          <a:xfrm>
            <a:off x="5486400" y="3840480"/>
            <a:ext cx="685800" cy="329184"/>
          </a:xfrm>
          <a:prstGeom prst="rect">
            <a:avLst/>
          </a:prstGeom>
          <a:noFill/>
          <a:ln/>
        </p:spPr>
        <p:txBody>
          <a:bodyPr wrap="square" lIns="38100" tIns="38100" rIns="38100" bIns="38100" rtlCol="0" anchor="ctr"/>
          <a:lstStyle/>
          <a:p>
            <a:pPr algn="ctr" indent="0" marL="0">
              <a:buNone/>
            </a:pPr>
            <a:r>
              <a:rPr lang="en-US" sz="1050" dirty="0">
                <a:solidFill>
                  <a:srgbClr val="1A1A1A"/>
                </a:solidFill>
                <a:latin typeface="Cambria" pitchFamily="34" charset="0"/>
                <a:ea typeface="Cambria" pitchFamily="34" charset="-122"/>
                <a:cs typeface="Cambria" pitchFamily="34" charset="-120"/>
              </a:rPr>
              <a:t>51,56</a:t>
            </a:r>
            <a:endParaRPr lang="en-US" sz="1050" dirty="0"/>
          </a:p>
        </p:txBody>
      </p:sp>
      <p:sp>
        <p:nvSpPr>
          <p:cNvPr id="66" name="Text 64"/>
          <p:cNvSpPr/>
          <p:nvPr/>
        </p:nvSpPr>
        <p:spPr>
          <a:xfrm>
            <a:off x="6172200" y="3840480"/>
            <a:ext cx="731520" cy="329184"/>
          </a:xfrm>
          <a:prstGeom prst="rect">
            <a:avLst/>
          </a:prstGeom>
          <a:noFill/>
          <a:ln/>
        </p:spPr>
        <p:txBody>
          <a:bodyPr wrap="square" lIns="38100" tIns="38100" rIns="38100" bIns="38100" rtlCol="0" anchor="ctr"/>
          <a:lstStyle/>
          <a:p>
            <a:pPr algn="ctr" indent="0" marL="0">
              <a:buNone/>
            </a:pPr>
            <a:r>
              <a:rPr lang="en-US" sz="1050" dirty="0">
                <a:solidFill>
                  <a:srgbClr val="1A1A1A"/>
                </a:solidFill>
                <a:latin typeface="Cambria" pitchFamily="34" charset="0"/>
                <a:ea typeface="Cambria" pitchFamily="34" charset="-122"/>
                <a:cs typeface="Cambria" pitchFamily="34" charset="-120"/>
              </a:rPr>
              <a:t>52,36</a:t>
            </a:r>
            <a:endParaRPr lang="en-US" sz="1050" dirty="0"/>
          </a:p>
        </p:txBody>
      </p:sp>
      <p:sp>
        <p:nvSpPr>
          <p:cNvPr id="67" name="Text 65"/>
          <p:cNvSpPr/>
          <p:nvPr/>
        </p:nvSpPr>
        <p:spPr>
          <a:xfrm>
            <a:off x="6903720" y="3840480"/>
            <a:ext cx="640080" cy="329184"/>
          </a:xfrm>
          <a:prstGeom prst="rect">
            <a:avLst/>
          </a:prstGeom>
          <a:noFill/>
          <a:ln/>
        </p:spPr>
        <p:txBody>
          <a:bodyPr wrap="square" lIns="38100" tIns="38100" rIns="38100" bIns="38100" rtlCol="0" anchor="ctr"/>
          <a:lstStyle/>
          <a:p>
            <a:pPr algn="ctr" indent="0" marL="0">
              <a:buNone/>
            </a:pPr>
            <a:r>
              <a:rPr lang="en-US" sz="1050" b="1" dirty="0">
                <a:solidFill>
                  <a:srgbClr val="1B8A5A"/>
                </a:solidFill>
                <a:latin typeface="Cambria" pitchFamily="34" charset="0"/>
                <a:ea typeface="Cambria" pitchFamily="34" charset="-122"/>
                <a:cs typeface="Cambria" pitchFamily="34" charset="-120"/>
              </a:rPr>
              <a:t>+0,80</a:t>
            </a:r>
            <a:endParaRPr lang="en-US" sz="1050" dirty="0"/>
          </a:p>
        </p:txBody>
      </p:sp>
      <p:sp>
        <p:nvSpPr>
          <p:cNvPr id="68" name="Text 66"/>
          <p:cNvSpPr/>
          <p:nvPr/>
        </p:nvSpPr>
        <p:spPr>
          <a:xfrm>
            <a:off x="7543800" y="3840480"/>
            <a:ext cx="1325880" cy="329184"/>
          </a:xfrm>
          <a:prstGeom prst="rect">
            <a:avLst/>
          </a:prstGeom>
          <a:noFill/>
          <a:ln/>
        </p:spPr>
        <p:txBody>
          <a:bodyPr wrap="square" lIns="38100" tIns="38100" rIns="38100" bIns="38100" rtlCol="0" anchor="ctr"/>
          <a:lstStyle/>
          <a:p>
            <a:pPr algn="ctr" indent="0" marL="0">
              <a:buNone/>
            </a:pPr>
            <a:endParaRPr lang="en-US" sz="950" dirty="0"/>
          </a:p>
        </p:txBody>
      </p:sp>
      <p:sp>
        <p:nvSpPr>
          <p:cNvPr id="69" name="Shape 67"/>
          <p:cNvSpPr/>
          <p:nvPr/>
        </p:nvSpPr>
        <p:spPr>
          <a:xfrm>
            <a:off x="274320" y="4169664"/>
            <a:ext cx="8595360" cy="0"/>
          </a:xfrm>
          <a:prstGeom prst="line">
            <a:avLst/>
          </a:prstGeom>
          <a:noFill/>
          <a:ln w="12700">
            <a:solidFill>
              <a:srgbClr val="9A94AE"/>
            </a:solidFill>
            <a:prstDash val="solid"/>
          </a:ln>
        </p:spPr>
      </p:sp>
      <p:sp>
        <p:nvSpPr>
          <p:cNvPr id="70" name="Text 68"/>
          <p:cNvSpPr/>
          <p:nvPr/>
        </p:nvSpPr>
        <p:spPr>
          <a:xfrm>
            <a:off x="274320" y="4169664"/>
            <a:ext cx="1600200" cy="329184"/>
          </a:xfrm>
          <a:prstGeom prst="rect">
            <a:avLst/>
          </a:prstGeom>
          <a:noFill/>
          <a:ln/>
        </p:spPr>
        <p:txBody>
          <a:bodyPr wrap="square" lIns="38100" tIns="38100" rIns="38100" bIns="38100" rtlCol="0" anchor="ctr"/>
          <a:lstStyle/>
          <a:p>
            <a:pPr algn="l" indent="0" marL="0">
              <a:buNone/>
            </a:pPr>
            <a:r>
              <a:rPr lang="en-US" sz="1050" dirty="0">
                <a:solidFill>
                  <a:srgbClr val="1A1A1A"/>
                </a:solidFill>
                <a:latin typeface="Cambria" pitchFamily="34" charset="0"/>
                <a:ea typeface="Cambria" pitchFamily="34" charset="-122"/>
                <a:cs typeface="Cambria" pitchFamily="34" charset="-120"/>
              </a:rPr>
              <a:t>METEOR</a:t>
            </a:r>
            <a:endParaRPr lang="en-US" sz="1050" dirty="0"/>
          </a:p>
        </p:txBody>
      </p:sp>
      <p:sp>
        <p:nvSpPr>
          <p:cNvPr id="71" name="Text 69"/>
          <p:cNvSpPr/>
          <p:nvPr/>
        </p:nvSpPr>
        <p:spPr>
          <a:xfrm>
            <a:off x="1874520" y="4169664"/>
            <a:ext cx="3611880" cy="329184"/>
          </a:xfrm>
          <a:prstGeom prst="rect">
            <a:avLst/>
          </a:prstGeom>
          <a:noFill/>
          <a:ln/>
        </p:spPr>
        <p:txBody>
          <a:bodyPr wrap="square" lIns="38100" tIns="38100" rIns="38100" bIns="38100" rtlCol="0" anchor="ctr"/>
          <a:lstStyle/>
          <a:p>
            <a:pPr algn="l" indent="0" marL="0">
              <a:buNone/>
            </a:pPr>
            <a:r>
              <a:rPr lang="en-US" sz="950" dirty="0">
                <a:solidFill>
                  <a:srgbClr val="5A5A66"/>
                </a:solidFill>
                <a:latin typeface="Cambria" pitchFamily="34" charset="0"/>
                <a:ea typeface="Cambria" pitchFamily="34" charset="-122"/>
                <a:cs typeface="Cambria" pitchFamily="34" charset="-120"/>
              </a:rPr>
              <a:t>khớp từ có tính gốc từ và đồng nghĩa</a:t>
            </a:r>
            <a:endParaRPr lang="en-US" sz="950" dirty="0"/>
          </a:p>
        </p:txBody>
      </p:sp>
      <p:sp>
        <p:nvSpPr>
          <p:cNvPr id="72" name="Text 70"/>
          <p:cNvSpPr/>
          <p:nvPr/>
        </p:nvSpPr>
        <p:spPr>
          <a:xfrm>
            <a:off x="5486400" y="4169664"/>
            <a:ext cx="685800" cy="329184"/>
          </a:xfrm>
          <a:prstGeom prst="rect">
            <a:avLst/>
          </a:prstGeom>
          <a:noFill/>
          <a:ln/>
        </p:spPr>
        <p:txBody>
          <a:bodyPr wrap="square" lIns="38100" tIns="38100" rIns="38100" bIns="38100" rtlCol="0" anchor="ctr"/>
          <a:lstStyle/>
          <a:p>
            <a:pPr algn="ctr" indent="0" marL="0">
              <a:buNone/>
            </a:pPr>
            <a:r>
              <a:rPr lang="en-US" sz="1050" dirty="0">
                <a:solidFill>
                  <a:srgbClr val="1A1A1A"/>
                </a:solidFill>
                <a:latin typeface="Cambria" pitchFamily="34" charset="0"/>
                <a:ea typeface="Cambria" pitchFamily="34" charset="-122"/>
                <a:cs typeface="Cambria" pitchFamily="34" charset="-120"/>
              </a:rPr>
              <a:t>36,79</a:t>
            </a:r>
            <a:endParaRPr lang="en-US" sz="1050" dirty="0"/>
          </a:p>
        </p:txBody>
      </p:sp>
      <p:sp>
        <p:nvSpPr>
          <p:cNvPr id="73" name="Text 71"/>
          <p:cNvSpPr/>
          <p:nvPr/>
        </p:nvSpPr>
        <p:spPr>
          <a:xfrm>
            <a:off x="6172200" y="4169664"/>
            <a:ext cx="731520" cy="329184"/>
          </a:xfrm>
          <a:prstGeom prst="rect">
            <a:avLst/>
          </a:prstGeom>
          <a:noFill/>
          <a:ln/>
        </p:spPr>
        <p:txBody>
          <a:bodyPr wrap="square" lIns="38100" tIns="38100" rIns="38100" bIns="38100" rtlCol="0" anchor="ctr"/>
          <a:lstStyle/>
          <a:p>
            <a:pPr algn="ctr" indent="0" marL="0">
              <a:buNone/>
            </a:pPr>
            <a:r>
              <a:rPr lang="en-US" sz="1050" dirty="0">
                <a:solidFill>
                  <a:srgbClr val="1A1A1A"/>
                </a:solidFill>
                <a:latin typeface="Cambria" pitchFamily="34" charset="0"/>
                <a:ea typeface="Cambria" pitchFamily="34" charset="-122"/>
                <a:cs typeface="Cambria" pitchFamily="34" charset="-120"/>
              </a:rPr>
              <a:t>37,92</a:t>
            </a:r>
            <a:endParaRPr lang="en-US" sz="1050" dirty="0"/>
          </a:p>
        </p:txBody>
      </p:sp>
      <p:sp>
        <p:nvSpPr>
          <p:cNvPr id="74" name="Text 72"/>
          <p:cNvSpPr/>
          <p:nvPr/>
        </p:nvSpPr>
        <p:spPr>
          <a:xfrm>
            <a:off x="6903720" y="4169664"/>
            <a:ext cx="640080" cy="329184"/>
          </a:xfrm>
          <a:prstGeom prst="rect">
            <a:avLst/>
          </a:prstGeom>
          <a:noFill/>
          <a:ln/>
        </p:spPr>
        <p:txBody>
          <a:bodyPr wrap="square" lIns="38100" tIns="38100" rIns="38100" bIns="38100" rtlCol="0" anchor="ctr"/>
          <a:lstStyle/>
          <a:p>
            <a:pPr algn="ctr" indent="0" marL="0">
              <a:buNone/>
            </a:pPr>
            <a:r>
              <a:rPr lang="en-US" sz="1050" b="1" dirty="0">
                <a:solidFill>
                  <a:srgbClr val="1B8A5A"/>
                </a:solidFill>
                <a:latin typeface="Cambria" pitchFamily="34" charset="0"/>
                <a:ea typeface="Cambria" pitchFamily="34" charset="-122"/>
                <a:cs typeface="Cambria" pitchFamily="34" charset="-120"/>
              </a:rPr>
              <a:t>+1,13</a:t>
            </a:r>
            <a:endParaRPr lang="en-US" sz="1050" dirty="0"/>
          </a:p>
        </p:txBody>
      </p:sp>
      <p:sp>
        <p:nvSpPr>
          <p:cNvPr id="75" name="Text 73"/>
          <p:cNvSpPr/>
          <p:nvPr/>
        </p:nvSpPr>
        <p:spPr>
          <a:xfrm>
            <a:off x="7543800" y="4169664"/>
            <a:ext cx="1325880" cy="329184"/>
          </a:xfrm>
          <a:prstGeom prst="rect">
            <a:avLst/>
          </a:prstGeom>
          <a:noFill/>
          <a:ln/>
        </p:spPr>
        <p:txBody>
          <a:bodyPr wrap="square" lIns="38100" tIns="38100" rIns="38100" bIns="38100" rtlCol="0" anchor="ctr"/>
          <a:lstStyle/>
          <a:p>
            <a:pPr algn="ctr" indent="0" marL="0">
              <a:buNone/>
            </a:pPr>
            <a:endParaRPr lang="en-US" sz="950" dirty="0"/>
          </a:p>
        </p:txBody>
      </p:sp>
      <p:sp>
        <p:nvSpPr>
          <p:cNvPr id="76" name="Shape 74"/>
          <p:cNvSpPr/>
          <p:nvPr/>
        </p:nvSpPr>
        <p:spPr>
          <a:xfrm>
            <a:off x="274320" y="4498848"/>
            <a:ext cx="8595360" cy="0"/>
          </a:xfrm>
          <a:prstGeom prst="line">
            <a:avLst/>
          </a:prstGeom>
          <a:noFill/>
          <a:ln w="12700">
            <a:solidFill>
              <a:srgbClr val="9A94AE"/>
            </a:solidFill>
            <a:prstDash val="solid"/>
          </a:ln>
        </p:spPr>
      </p:sp>
      <p:sp>
        <p:nvSpPr>
          <p:cNvPr id="77" name="Text 75"/>
          <p:cNvSpPr/>
          <p:nvPr/>
        </p:nvSpPr>
        <p:spPr>
          <a:xfrm>
            <a:off x="274320" y="4498848"/>
            <a:ext cx="1600200" cy="329184"/>
          </a:xfrm>
          <a:prstGeom prst="rect">
            <a:avLst/>
          </a:prstGeom>
          <a:noFill/>
          <a:ln/>
        </p:spPr>
        <p:txBody>
          <a:bodyPr wrap="square" lIns="38100" tIns="38100" rIns="38100" bIns="38100" rtlCol="0" anchor="ctr"/>
          <a:lstStyle/>
          <a:p>
            <a:pPr algn="l" indent="0" marL="0">
              <a:buNone/>
            </a:pPr>
            <a:r>
              <a:rPr lang="en-US" sz="1050" dirty="0">
                <a:solidFill>
                  <a:srgbClr val="1A1A1A"/>
                </a:solidFill>
                <a:latin typeface="Cambria" pitchFamily="34" charset="0"/>
                <a:ea typeface="Cambria" pitchFamily="34" charset="-122"/>
                <a:cs typeface="Cambria" pitchFamily="34" charset="-120"/>
              </a:rPr>
              <a:t>ROUGE-L</a:t>
            </a:r>
            <a:endParaRPr lang="en-US" sz="1050" dirty="0"/>
          </a:p>
        </p:txBody>
      </p:sp>
      <p:sp>
        <p:nvSpPr>
          <p:cNvPr id="78" name="Text 76"/>
          <p:cNvSpPr/>
          <p:nvPr/>
        </p:nvSpPr>
        <p:spPr>
          <a:xfrm>
            <a:off x="1874520" y="4498848"/>
            <a:ext cx="3611880" cy="329184"/>
          </a:xfrm>
          <a:prstGeom prst="rect">
            <a:avLst/>
          </a:prstGeom>
          <a:noFill/>
          <a:ln/>
        </p:spPr>
        <p:txBody>
          <a:bodyPr wrap="square" lIns="38100" tIns="38100" rIns="38100" bIns="38100" rtlCol="0" anchor="ctr"/>
          <a:lstStyle/>
          <a:p>
            <a:pPr algn="l" indent="0" marL="0">
              <a:buNone/>
            </a:pPr>
            <a:r>
              <a:rPr lang="en-US" sz="950" dirty="0">
                <a:solidFill>
                  <a:srgbClr val="5A5A66"/>
                </a:solidFill>
                <a:latin typeface="Cambria" pitchFamily="34" charset="0"/>
                <a:ea typeface="Cambria" pitchFamily="34" charset="-122"/>
                <a:cs typeface="Cambria" pitchFamily="34" charset="-120"/>
              </a:rPr>
              <a:t>chuỗi con chung dài nhất, F1</a:t>
            </a:r>
            <a:endParaRPr lang="en-US" sz="950" dirty="0"/>
          </a:p>
        </p:txBody>
      </p:sp>
      <p:sp>
        <p:nvSpPr>
          <p:cNvPr id="79" name="Text 77"/>
          <p:cNvSpPr/>
          <p:nvPr/>
        </p:nvSpPr>
        <p:spPr>
          <a:xfrm>
            <a:off x="5486400" y="4498848"/>
            <a:ext cx="685800" cy="329184"/>
          </a:xfrm>
          <a:prstGeom prst="rect">
            <a:avLst/>
          </a:prstGeom>
          <a:noFill/>
          <a:ln/>
        </p:spPr>
        <p:txBody>
          <a:bodyPr wrap="square" lIns="38100" tIns="38100" rIns="38100" bIns="38100" rtlCol="0" anchor="ctr"/>
          <a:lstStyle/>
          <a:p>
            <a:pPr algn="ctr" indent="0" marL="0">
              <a:buNone/>
            </a:pPr>
            <a:r>
              <a:rPr lang="en-US" sz="1050" dirty="0">
                <a:solidFill>
                  <a:srgbClr val="1A1A1A"/>
                </a:solidFill>
                <a:latin typeface="Cambria" pitchFamily="34" charset="0"/>
                <a:ea typeface="Cambria" pitchFamily="34" charset="-122"/>
                <a:cs typeface="Cambria" pitchFamily="34" charset="-120"/>
              </a:rPr>
              <a:t>67,35</a:t>
            </a:r>
            <a:endParaRPr lang="en-US" sz="1050" dirty="0"/>
          </a:p>
        </p:txBody>
      </p:sp>
      <p:sp>
        <p:nvSpPr>
          <p:cNvPr id="80" name="Text 78"/>
          <p:cNvSpPr/>
          <p:nvPr/>
        </p:nvSpPr>
        <p:spPr>
          <a:xfrm>
            <a:off x="6172200" y="4498848"/>
            <a:ext cx="731520" cy="329184"/>
          </a:xfrm>
          <a:prstGeom prst="rect">
            <a:avLst/>
          </a:prstGeom>
          <a:noFill/>
          <a:ln/>
        </p:spPr>
        <p:txBody>
          <a:bodyPr wrap="square" lIns="38100" tIns="38100" rIns="38100" bIns="38100" rtlCol="0" anchor="ctr"/>
          <a:lstStyle/>
          <a:p>
            <a:pPr algn="ctr" indent="0" marL="0">
              <a:buNone/>
            </a:pPr>
            <a:r>
              <a:rPr lang="en-US" sz="1050" dirty="0">
                <a:solidFill>
                  <a:srgbClr val="1A1A1A"/>
                </a:solidFill>
                <a:latin typeface="Cambria" pitchFamily="34" charset="0"/>
                <a:ea typeface="Cambria" pitchFamily="34" charset="-122"/>
                <a:cs typeface="Cambria" pitchFamily="34" charset="-120"/>
              </a:rPr>
              <a:t>68,36</a:t>
            </a:r>
            <a:endParaRPr lang="en-US" sz="1050" dirty="0"/>
          </a:p>
        </p:txBody>
      </p:sp>
      <p:sp>
        <p:nvSpPr>
          <p:cNvPr id="81" name="Text 79"/>
          <p:cNvSpPr/>
          <p:nvPr/>
        </p:nvSpPr>
        <p:spPr>
          <a:xfrm>
            <a:off x="6903720" y="4498848"/>
            <a:ext cx="640080" cy="329184"/>
          </a:xfrm>
          <a:prstGeom prst="rect">
            <a:avLst/>
          </a:prstGeom>
          <a:noFill/>
          <a:ln/>
        </p:spPr>
        <p:txBody>
          <a:bodyPr wrap="square" lIns="38100" tIns="38100" rIns="38100" bIns="38100" rtlCol="0" anchor="ctr"/>
          <a:lstStyle/>
          <a:p>
            <a:pPr algn="ctr" indent="0" marL="0">
              <a:buNone/>
            </a:pPr>
            <a:r>
              <a:rPr lang="en-US" sz="1050" b="1" dirty="0">
                <a:solidFill>
                  <a:srgbClr val="1B8A5A"/>
                </a:solidFill>
                <a:latin typeface="Cambria" pitchFamily="34" charset="0"/>
                <a:ea typeface="Cambria" pitchFamily="34" charset="-122"/>
                <a:cs typeface="Cambria" pitchFamily="34" charset="-120"/>
              </a:rPr>
              <a:t>+1,01</a:t>
            </a:r>
            <a:endParaRPr lang="en-US" sz="1050" dirty="0"/>
          </a:p>
        </p:txBody>
      </p:sp>
      <p:sp>
        <p:nvSpPr>
          <p:cNvPr id="82" name="Text 80"/>
          <p:cNvSpPr/>
          <p:nvPr/>
        </p:nvSpPr>
        <p:spPr>
          <a:xfrm>
            <a:off x="7543800" y="4498848"/>
            <a:ext cx="1325880" cy="329184"/>
          </a:xfrm>
          <a:prstGeom prst="rect">
            <a:avLst/>
          </a:prstGeom>
          <a:noFill/>
          <a:ln/>
        </p:spPr>
        <p:txBody>
          <a:bodyPr wrap="square" lIns="38100" tIns="38100" rIns="38100" bIns="38100" rtlCol="0" anchor="ctr"/>
          <a:lstStyle/>
          <a:p>
            <a:pPr algn="ctr" indent="0" marL="0">
              <a:buNone/>
            </a:pPr>
            <a:endParaRPr lang="en-US" sz="950" dirty="0"/>
          </a:p>
        </p:txBody>
      </p:sp>
      <p:sp>
        <p:nvSpPr>
          <p:cNvPr id="83" name="Shape 81"/>
          <p:cNvSpPr/>
          <p:nvPr/>
        </p:nvSpPr>
        <p:spPr>
          <a:xfrm>
            <a:off x="274320" y="4828032"/>
            <a:ext cx="8595360" cy="0"/>
          </a:xfrm>
          <a:prstGeom prst="line">
            <a:avLst/>
          </a:prstGeom>
          <a:noFill/>
          <a:ln w="12700">
            <a:solidFill>
              <a:srgbClr val="9A94AE"/>
            </a:solidFill>
            <a:prstDash val="solid"/>
          </a:ln>
        </p:spPr>
      </p:sp>
      <p:sp>
        <p:nvSpPr>
          <p:cNvPr id="84" name="Text 82"/>
          <p:cNvSpPr/>
          <p:nvPr/>
        </p:nvSpPr>
        <p:spPr>
          <a:xfrm>
            <a:off x="274320" y="4828032"/>
            <a:ext cx="1600200" cy="329184"/>
          </a:xfrm>
          <a:prstGeom prst="rect">
            <a:avLst/>
          </a:prstGeom>
          <a:noFill/>
          <a:ln/>
        </p:spPr>
        <p:txBody>
          <a:bodyPr wrap="square" lIns="38100" tIns="38100" rIns="38100" bIns="38100" rtlCol="0" anchor="ctr"/>
          <a:lstStyle/>
          <a:p>
            <a:pPr algn="l" indent="0" marL="0">
              <a:buNone/>
            </a:pPr>
            <a:r>
              <a:rPr lang="en-US" sz="1050" dirty="0">
                <a:solidFill>
                  <a:srgbClr val="1A1A1A"/>
                </a:solidFill>
                <a:latin typeface="Cambria" pitchFamily="34" charset="0"/>
                <a:ea typeface="Cambria" pitchFamily="34" charset="-122"/>
                <a:cs typeface="Cambria" pitchFamily="34" charset="-120"/>
              </a:rPr>
              <a:t>CIDEr-D</a:t>
            </a:r>
            <a:endParaRPr lang="en-US" sz="1050" dirty="0"/>
          </a:p>
        </p:txBody>
      </p:sp>
      <p:sp>
        <p:nvSpPr>
          <p:cNvPr id="85" name="Text 83"/>
          <p:cNvSpPr/>
          <p:nvPr/>
        </p:nvSpPr>
        <p:spPr>
          <a:xfrm>
            <a:off x="1874520" y="4828032"/>
            <a:ext cx="3611880" cy="329184"/>
          </a:xfrm>
          <a:prstGeom prst="rect">
            <a:avLst/>
          </a:prstGeom>
          <a:noFill/>
          <a:ln/>
        </p:spPr>
        <p:txBody>
          <a:bodyPr wrap="square" lIns="38100" tIns="38100" rIns="38100" bIns="38100" rtlCol="0" anchor="ctr"/>
          <a:lstStyle/>
          <a:p>
            <a:pPr algn="l" indent="0" marL="0">
              <a:buNone/>
            </a:pPr>
            <a:r>
              <a:rPr lang="en-US" sz="950" dirty="0">
                <a:solidFill>
                  <a:srgbClr val="5A5A66"/>
                </a:solidFill>
                <a:latin typeface="Cambria" pitchFamily="34" charset="0"/>
                <a:ea typeface="Cambria" pitchFamily="34" charset="-122"/>
                <a:cs typeface="Cambria" pitchFamily="34" charset="-120"/>
              </a:rPr>
              <a:t>cụm từ có trọng số TF-IDF theo độ hiếm của cụm</a:t>
            </a:r>
            <a:endParaRPr lang="en-US" sz="950" dirty="0"/>
          </a:p>
        </p:txBody>
      </p:sp>
      <p:sp>
        <p:nvSpPr>
          <p:cNvPr id="86" name="Text 84"/>
          <p:cNvSpPr/>
          <p:nvPr/>
        </p:nvSpPr>
        <p:spPr>
          <a:xfrm>
            <a:off x="5486400" y="4828032"/>
            <a:ext cx="685800" cy="329184"/>
          </a:xfrm>
          <a:prstGeom prst="rect">
            <a:avLst/>
          </a:prstGeom>
          <a:noFill/>
          <a:ln/>
        </p:spPr>
        <p:txBody>
          <a:bodyPr wrap="square" lIns="38100" tIns="38100" rIns="38100" bIns="38100" rtlCol="0" anchor="ctr"/>
          <a:lstStyle/>
          <a:p>
            <a:pPr algn="ctr" indent="0" marL="0">
              <a:buNone/>
            </a:pPr>
            <a:r>
              <a:rPr lang="en-US" sz="1050" dirty="0">
                <a:solidFill>
                  <a:srgbClr val="1A1A1A"/>
                </a:solidFill>
                <a:latin typeface="Cambria" pitchFamily="34" charset="0"/>
                <a:ea typeface="Cambria" pitchFamily="34" charset="-122"/>
                <a:cs typeface="Cambria" pitchFamily="34" charset="-120"/>
              </a:rPr>
              <a:t>416,12</a:t>
            </a:r>
            <a:endParaRPr lang="en-US" sz="1050" dirty="0"/>
          </a:p>
        </p:txBody>
      </p:sp>
      <p:sp>
        <p:nvSpPr>
          <p:cNvPr id="87" name="Text 85"/>
          <p:cNvSpPr/>
          <p:nvPr/>
        </p:nvSpPr>
        <p:spPr>
          <a:xfrm>
            <a:off x="6172200" y="4828032"/>
            <a:ext cx="731520" cy="329184"/>
          </a:xfrm>
          <a:prstGeom prst="rect">
            <a:avLst/>
          </a:prstGeom>
          <a:noFill/>
          <a:ln/>
        </p:spPr>
        <p:txBody>
          <a:bodyPr wrap="square" lIns="38100" tIns="38100" rIns="38100" bIns="38100" rtlCol="0" anchor="ctr"/>
          <a:lstStyle/>
          <a:p>
            <a:pPr algn="ctr" indent="0" marL="0">
              <a:buNone/>
            </a:pPr>
            <a:r>
              <a:rPr lang="en-US" sz="1050" dirty="0">
                <a:solidFill>
                  <a:srgbClr val="1A1A1A"/>
                </a:solidFill>
                <a:latin typeface="Cambria" pitchFamily="34" charset="0"/>
                <a:ea typeface="Cambria" pitchFamily="34" charset="-122"/>
                <a:cs typeface="Cambria" pitchFamily="34" charset="-120"/>
              </a:rPr>
              <a:t>430,05</a:t>
            </a:r>
            <a:endParaRPr lang="en-US" sz="1050" dirty="0"/>
          </a:p>
        </p:txBody>
      </p:sp>
      <p:sp>
        <p:nvSpPr>
          <p:cNvPr id="88" name="Text 86"/>
          <p:cNvSpPr/>
          <p:nvPr/>
        </p:nvSpPr>
        <p:spPr>
          <a:xfrm>
            <a:off x="6903720" y="4828032"/>
            <a:ext cx="640080" cy="329184"/>
          </a:xfrm>
          <a:prstGeom prst="rect">
            <a:avLst/>
          </a:prstGeom>
          <a:noFill/>
          <a:ln/>
        </p:spPr>
        <p:txBody>
          <a:bodyPr wrap="square" lIns="38100" tIns="38100" rIns="38100" bIns="38100" rtlCol="0" anchor="ctr"/>
          <a:lstStyle/>
          <a:p>
            <a:pPr algn="ctr" indent="0" marL="0">
              <a:buNone/>
            </a:pPr>
            <a:r>
              <a:rPr lang="en-US" sz="1050" b="1" dirty="0">
                <a:solidFill>
                  <a:srgbClr val="1B8A5A"/>
                </a:solidFill>
                <a:latin typeface="Cambria" pitchFamily="34" charset="0"/>
                <a:ea typeface="Cambria" pitchFamily="34" charset="-122"/>
                <a:cs typeface="Cambria" pitchFamily="34" charset="-120"/>
              </a:rPr>
              <a:t>+13,93</a:t>
            </a:r>
            <a:endParaRPr lang="en-US" sz="1050" dirty="0"/>
          </a:p>
        </p:txBody>
      </p:sp>
      <p:sp>
        <p:nvSpPr>
          <p:cNvPr id="89" name="Text 87"/>
          <p:cNvSpPr/>
          <p:nvPr/>
        </p:nvSpPr>
        <p:spPr>
          <a:xfrm>
            <a:off x="7543800" y="4828032"/>
            <a:ext cx="1325880" cy="329184"/>
          </a:xfrm>
          <a:prstGeom prst="rect">
            <a:avLst/>
          </a:prstGeom>
          <a:noFill/>
          <a:ln/>
        </p:spPr>
        <p:txBody>
          <a:bodyPr wrap="square" lIns="38100" tIns="38100" rIns="38100" bIns="38100" rtlCol="0" anchor="ctr"/>
          <a:lstStyle/>
          <a:p>
            <a:pPr algn="ctr" indent="0" marL="0">
              <a:buNone/>
            </a:pPr>
            <a:endParaRPr lang="en-US" sz="950" dirty="0"/>
          </a:p>
        </p:txBody>
      </p:sp>
      <p:sp>
        <p:nvSpPr>
          <p:cNvPr id="90" name="Shape 88"/>
          <p:cNvSpPr/>
          <p:nvPr/>
        </p:nvSpPr>
        <p:spPr>
          <a:xfrm>
            <a:off x="274320" y="5157216"/>
            <a:ext cx="8595360" cy="0"/>
          </a:xfrm>
          <a:prstGeom prst="line">
            <a:avLst/>
          </a:prstGeom>
          <a:noFill/>
          <a:ln w="12700">
            <a:solidFill>
              <a:srgbClr val="9A94AE"/>
            </a:solidFill>
            <a:prstDash val="solid"/>
          </a:ln>
        </p:spPr>
      </p:sp>
      <p:sp>
        <p:nvSpPr>
          <p:cNvPr id="91" name="Text 89"/>
          <p:cNvSpPr/>
          <p:nvPr/>
        </p:nvSpPr>
        <p:spPr>
          <a:xfrm>
            <a:off x="274320" y="5157216"/>
            <a:ext cx="1600200" cy="329184"/>
          </a:xfrm>
          <a:prstGeom prst="rect">
            <a:avLst/>
          </a:prstGeom>
          <a:noFill/>
          <a:ln/>
        </p:spPr>
        <p:txBody>
          <a:bodyPr wrap="square" lIns="38100" tIns="38100" rIns="38100" bIns="38100" rtlCol="0" anchor="ctr"/>
          <a:lstStyle/>
          <a:p>
            <a:pPr algn="l" indent="0" marL="0">
              <a:buNone/>
            </a:pPr>
            <a:r>
              <a:rPr lang="en-US" sz="1050" dirty="0">
                <a:solidFill>
                  <a:srgbClr val="1A1A1A"/>
                </a:solidFill>
                <a:latin typeface="Cambria" pitchFamily="34" charset="0"/>
                <a:ea typeface="Cambria" pitchFamily="34" charset="-122"/>
                <a:cs typeface="Cambria" pitchFamily="34" charset="-120"/>
              </a:rPr>
              <a:t>chrF</a:t>
            </a:r>
            <a:endParaRPr lang="en-US" sz="1050" dirty="0"/>
          </a:p>
        </p:txBody>
      </p:sp>
      <p:sp>
        <p:nvSpPr>
          <p:cNvPr id="92" name="Text 90"/>
          <p:cNvSpPr/>
          <p:nvPr/>
        </p:nvSpPr>
        <p:spPr>
          <a:xfrm>
            <a:off x="1874520" y="5157216"/>
            <a:ext cx="3611880" cy="329184"/>
          </a:xfrm>
          <a:prstGeom prst="rect">
            <a:avLst/>
          </a:prstGeom>
          <a:noFill/>
          <a:ln/>
        </p:spPr>
        <p:txBody>
          <a:bodyPr wrap="square" lIns="38100" tIns="38100" rIns="38100" bIns="38100" rtlCol="0" anchor="ctr"/>
          <a:lstStyle/>
          <a:p>
            <a:pPr algn="l" indent="0" marL="0">
              <a:buNone/>
            </a:pPr>
            <a:r>
              <a:rPr lang="en-US" sz="950" dirty="0">
                <a:solidFill>
                  <a:srgbClr val="5A5A66"/>
                </a:solidFill>
                <a:latin typeface="Cambria" pitchFamily="34" charset="0"/>
                <a:ea typeface="Cambria" pitchFamily="34" charset="-122"/>
                <a:cs typeface="Cambria" pitchFamily="34" charset="-120"/>
              </a:rPr>
              <a:t>F-score trên cụm ký tự</a:t>
            </a:r>
            <a:endParaRPr lang="en-US" sz="950" dirty="0"/>
          </a:p>
        </p:txBody>
      </p:sp>
      <p:sp>
        <p:nvSpPr>
          <p:cNvPr id="93" name="Text 91"/>
          <p:cNvSpPr/>
          <p:nvPr/>
        </p:nvSpPr>
        <p:spPr>
          <a:xfrm>
            <a:off x="5486400" y="5157216"/>
            <a:ext cx="685800" cy="329184"/>
          </a:xfrm>
          <a:prstGeom prst="rect">
            <a:avLst/>
          </a:prstGeom>
          <a:noFill/>
          <a:ln/>
        </p:spPr>
        <p:txBody>
          <a:bodyPr wrap="square" lIns="38100" tIns="38100" rIns="38100" bIns="38100" rtlCol="0" anchor="ctr"/>
          <a:lstStyle/>
          <a:p>
            <a:pPr algn="ctr" indent="0" marL="0">
              <a:buNone/>
            </a:pPr>
            <a:r>
              <a:rPr lang="en-US" sz="1050" dirty="0">
                <a:solidFill>
                  <a:srgbClr val="1A1A1A"/>
                </a:solidFill>
                <a:latin typeface="Cambria" pitchFamily="34" charset="0"/>
                <a:ea typeface="Cambria" pitchFamily="34" charset="-122"/>
                <a:cs typeface="Cambria" pitchFamily="34" charset="-120"/>
              </a:rPr>
              <a:t>61,26</a:t>
            </a:r>
            <a:endParaRPr lang="en-US" sz="1050" dirty="0"/>
          </a:p>
        </p:txBody>
      </p:sp>
      <p:sp>
        <p:nvSpPr>
          <p:cNvPr id="94" name="Text 92"/>
          <p:cNvSpPr/>
          <p:nvPr/>
        </p:nvSpPr>
        <p:spPr>
          <a:xfrm>
            <a:off x="6172200" y="5157216"/>
            <a:ext cx="731520" cy="329184"/>
          </a:xfrm>
          <a:prstGeom prst="rect">
            <a:avLst/>
          </a:prstGeom>
          <a:noFill/>
          <a:ln/>
        </p:spPr>
        <p:txBody>
          <a:bodyPr wrap="square" lIns="38100" tIns="38100" rIns="38100" bIns="38100" rtlCol="0" anchor="ctr"/>
          <a:lstStyle/>
          <a:p>
            <a:pPr algn="ctr" indent="0" marL="0">
              <a:buNone/>
            </a:pPr>
            <a:r>
              <a:rPr lang="en-US" sz="1050" dirty="0">
                <a:solidFill>
                  <a:srgbClr val="1A1A1A"/>
                </a:solidFill>
                <a:latin typeface="Cambria" pitchFamily="34" charset="0"/>
                <a:ea typeface="Cambria" pitchFamily="34" charset="-122"/>
                <a:cs typeface="Cambria" pitchFamily="34" charset="-120"/>
              </a:rPr>
              <a:t>62,87</a:t>
            </a:r>
            <a:endParaRPr lang="en-US" sz="1050" dirty="0"/>
          </a:p>
        </p:txBody>
      </p:sp>
      <p:sp>
        <p:nvSpPr>
          <p:cNvPr id="95" name="Text 93"/>
          <p:cNvSpPr/>
          <p:nvPr/>
        </p:nvSpPr>
        <p:spPr>
          <a:xfrm>
            <a:off x="6903720" y="5157216"/>
            <a:ext cx="640080" cy="329184"/>
          </a:xfrm>
          <a:prstGeom prst="rect">
            <a:avLst/>
          </a:prstGeom>
          <a:noFill/>
          <a:ln/>
        </p:spPr>
        <p:txBody>
          <a:bodyPr wrap="square" lIns="38100" tIns="38100" rIns="38100" bIns="38100" rtlCol="0" anchor="ctr"/>
          <a:lstStyle/>
          <a:p>
            <a:pPr algn="ctr" indent="0" marL="0">
              <a:buNone/>
            </a:pPr>
            <a:r>
              <a:rPr lang="en-US" sz="1050" b="1" dirty="0">
                <a:solidFill>
                  <a:srgbClr val="1B8A5A"/>
                </a:solidFill>
                <a:latin typeface="Cambria" pitchFamily="34" charset="0"/>
                <a:ea typeface="Cambria" pitchFamily="34" charset="-122"/>
                <a:cs typeface="Cambria" pitchFamily="34" charset="-120"/>
              </a:rPr>
              <a:t>+1,61</a:t>
            </a:r>
            <a:endParaRPr lang="en-US" sz="1050" dirty="0"/>
          </a:p>
        </p:txBody>
      </p:sp>
      <p:sp>
        <p:nvSpPr>
          <p:cNvPr id="96" name="Text 94"/>
          <p:cNvSpPr/>
          <p:nvPr/>
        </p:nvSpPr>
        <p:spPr>
          <a:xfrm>
            <a:off x="7543800" y="5157216"/>
            <a:ext cx="1325880" cy="329184"/>
          </a:xfrm>
          <a:prstGeom prst="rect">
            <a:avLst/>
          </a:prstGeom>
          <a:noFill/>
          <a:ln/>
        </p:spPr>
        <p:txBody>
          <a:bodyPr wrap="square" lIns="38100" tIns="38100" rIns="38100" bIns="38100" rtlCol="0" anchor="ctr"/>
          <a:lstStyle/>
          <a:p>
            <a:pPr algn="ctr" indent="0" marL="0">
              <a:buNone/>
            </a:pPr>
            <a:endParaRPr lang="en-US" sz="950" dirty="0"/>
          </a:p>
        </p:txBody>
      </p:sp>
      <p:sp>
        <p:nvSpPr>
          <p:cNvPr id="97" name="Shape 95"/>
          <p:cNvSpPr/>
          <p:nvPr/>
        </p:nvSpPr>
        <p:spPr>
          <a:xfrm>
            <a:off x="274320" y="5486400"/>
            <a:ext cx="8595360" cy="0"/>
          </a:xfrm>
          <a:prstGeom prst="line">
            <a:avLst/>
          </a:prstGeom>
          <a:noFill/>
          <a:ln w="12700">
            <a:solidFill>
              <a:srgbClr val="9A94AE"/>
            </a:solidFill>
            <a:prstDash val="solid"/>
          </a:ln>
        </p:spPr>
      </p:sp>
      <p:sp>
        <p:nvSpPr>
          <p:cNvPr id="98" name="Text 96"/>
          <p:cNvSpPr/>
          <p:nvPr/>
        </p:nvSpPr>
        <p:spPr>
          <a:xfrm>
            <a:off x="274320" y="5486400"/>
            <a:ext cx="1600200" cy="329184"/>
          </a:xfrm>
          <a:prstGeom prst="rect">
            <a:avLst/>
          </a:prstGeom>
          <a:noFill/>
          <a:ln/>
        </p:spPr>
        <p:txBody>
          <a:bodyPr wrap="square" lIns="38100" tIns="38100" rIns="38100" bIns="38100" rtlCol="0" anchor="ctr"/>
          <a:lstStyle/>
          <a:p>
            <a:pPr algn="l" indent="0" marL="0">
              <a:buNone/>
            </a:pPr>
            <a:r>
              <a:rPr lang="en-US" sz="1050" dirty="0">
                <a:solidFill>
                  <a:srgbClr val="1A1A1A"/>
                </a:solidFill>
                <a:latin typeface="Cambria" pitchFamily="34" charset="0"/>
                <a:ea typeface="Cambria" pitchFamily="34" charset="-122"/>
                <a:cs typeface="Cambria" pitchFamily="34" charset="-120"/>
              </a:rPr>
              <a:t>BERTScore</a:t>
            </a:r>
            <a:endParaRPr lang="en-US" sz="1050" dirty="0"/>
          </a:p>
        </p:txBody>
      </p:sp>
      <p:sp>
        <p:nvSpPr>
          <p:cNvPr id="99" name="Text 97"/>
          <p:cNvSpPr/>
          <p:nvPr/>
        </p:nvSpPr>
        <p:spPr>
          <a:xfrm>
            <a:off x="1874520" y="5486400"/>
            <a:ext cx="3611880" cy="329184"/>
          </a:xfrm>
          <a:prstGeom prst="rect">
            <a:avLst/>
          </a:prstGeom>
          <a:noFill/>
          <a:ln/>
        </p:spPr>
        <p:txBody>
          <a:bodyPr wrap="square" lIns="38100" tIns="38100" rIns="38100" bIns="38100" rtlCol="0" anchor="ctr"/>
          <a:lstStyle/>
          <a:p>
            <a:pPr algn="l" indent="0" marL="0">
              <a:buNone/>
            </a:pPr>
            <a:r>
              <a:rPr lang="en-US" sz="950" dirty="0">
                <a:solidFill>
                  <a:srgbClr val="5A5A66"/>
                </a:solidFill>
                <a:latin typeface="Cambria" pitchFamily="34" charset="0"/>
                <a:ea typeface="Cambria" pitchFamily="34" charset="-122"/>
                <a:cs typeface="Cambria" pitchFamily="34" charset="-120"/>
              </a:rPr>
              <a:t>tương đồng biểu diễn ngữ cảnh (roberta-large)</a:t>
            </a:r>
            <a:endParaRPr lang="en-US" sz="950" dirty="0"/>
          </a:p>
        </p:txBody>
      </p:sp>
      <p:sp>
        <p:nvSpPr>
          <p:cNvPr id="100" name="Text 98"/>
          <p:cNvSpPr/>
          <p:nvPr/>
        </p:nvSpPr>
        <p:spPr>
          <a:xfrm>
            <a:off x="5486400" y="5486400"/>
            <a:ext cx="685800" cy="329184"/>
          </a:xfrm>
          <a:prstGeom prst="rect">
            <a:avLst/>
          </a:prstGeom>
          <a:noFill/>
          <a:ln/>
        </p:spPr>
        <p:txBody>
          <a:bodyPr wrap="square" lIns="38100" tIns="38100" rIns="38100" bIns="38100" rtlCol="0" anchor="ctr"/>
          <a:lstStyle/>
          <a:p>
            <a:pPr algn="ctr" indent="0" marL="0">
              <a:buNone/>
            </a:pPr>
            <a:r>
              <a:rPr lang="en-US" sz="1050" dirty="0">
                <a:solidFill>
                  <a:srgbClr val="1A1A1A"/>
                </a:solidFill>
                <a:latin typeface="Cambria" pitchFamily="34" charset="0"/>
                <a:ea typeface="Cambria" pitchFamily="34" charset="-122"/>
                <a:cs typeface="Cambria" pitchFamily="34" charset="-120"/>
              </a:rPr>
              <a:t>66,33</a:t>
            </a:r>
            <a:endParaRPr lang="en-US" sz="1050" dirty="0"/>
          </a:p>
        </p:txBody>
      </p:sp>
      <p:sp>
        <p:nvSpPr>
          <p:cNvPr id="101" name="Text 99"/>
          <p:cNvSpPr/>
          <p:nvPr/>
        </p:nvSpPr>
        <p:spPr>
          <a:xfrm>
            <a:off x="6172200" y="5486400"/>
            <a:ext cx="731520" cy="329184"/>
          </a:xfrm>
          <a:prstGeom prst="rect">
            <a:avLst/>
          </a:prstGeom>
          <a:noFill/>
          <a:ln/>
        </p:spPr>
        <p:txBody>
          <a:bodyPr wrap="square" lIns="38100" tIns="38100" rIns="38100" bIns="38100" rtlCol="0" anchor="ctr"/>
          <a:lstStyle/>
          <a:p>
            <a:pPr algn="ctr" indent="0" marL="0">
              <a:buNone/>
            </a:pPr>
            <a:r>
              <a:rPr lang="en-US" sz="1050" dirty="0">
                <a:solidFill>
                  <a:srgbClr val="1A1A1A"/>
                </a:solidFill>
                <a:latin typeface="Cambria" pitchFamily="34" charset="0"/>
                <a:ea typeface="Cambria" pitchFamily="34" charset="-122"/>
                <a:cs typeface="Cambria" pitchFamily="34" charset="-120"/>
              </a:rPr>
              <a:t>67,07</a:t>
            </a:r>
            <a:endParaRPr lang="en-US" sz="1050" dirty="0"/>
          </a:p>
        </p:txBody>
      </p:sp>
      <p:sp>
        <p:nvSpPr>
          <p:cNvPr id="102" name="Text 100"/>
          <p:cNvSpPr/>
          <p:nvPr/>
        </p:nvSpPr>
        <p:spPr>
          <a:xfrm>
            <a:off x="6903720" y="5486400"/>
            <a:ext cx="640080" cy="329184"/>
          </a:xfrm>
          <a:prstGeom prst="rect">
            <a:avLst/>
          </a:prstGeom>
          <a:noFill/>
          <a:ln/>
        </p:spPr>
        <p:txBody>
          <a:bodyPr wrap="square" lIns="38100" tIns="38100" rIns="38100" bIns="38100" rtlCol="0" anchor="ctr"/>
          <a:lstStyle/>
          <a:p>
            <a:pPr algn="ctr" indent="0" marL="0">
              <a:buNone/>
            </a:pPr>
            <a:r>
              <a:rPr lang="en-US" sz="1050" b="1" dirty="0">
                <a:solidFill>
                  <a:srgbClr val="1B8A5A"/>
                </a:solidFill>
                <a:latin typeface="Cambria" pitchFamily="34" charset="0"/>
                <a:ea typeface="Cambria" pitchFamily="34" charset="-122"/>
                <a:cs typeface="Cambria" pitchFamily="34" charset="-120"/>
              </a:rPr>
              <a:t>+0,74</a:t>
            </a:r>
            <a:endParaRPr lang="en-US" sz="1050" dirty="0"/>
          </a:p>
        </p:txBody>
      </p:sp>
      <p:sp>
        <p:nvSpPr>
          <p:cNvPr id="103" name="Text 101"/>
          <p:cNvSpPr/>
          <p:nvPr/>
        </p:nvSpPr>
        <p:spPr>
          <a:xfrm>
            <a:off x="7543800" y="5486400"/>
            <a:ext cx="1325880" cy="329184"/>
          </a:xfrm>
          <a:prstGeom prst="rect">
            <a:avLst/>
          </a:prstGeom>
          <a:noFill/>
          <a:ln/>
        </p:spPr>
        <p:txBody>
          <a:bodyPr wrap="square" lIns="38100" tIns="38100" rIns="38100" bIns="38100" rtlCol="0" anchor="ctr"/>
          <a:lstStyle/>
          <a:p>
            <a:pPr algn="ctr" indent="0" marL="0">
              <a:buNone/>
            </a:pPr>
            <a:endParaRPr lang="en-US" sz="950" dirty="0"/>
          </a:p>
        </p:txBody>
      </p:sp>
      <p:sp>
        <p:nvSpPr>
          <p:cNvPr id="104" name="Text 102"/>
          <p:cNvSpPr/>
          <p:nvPr/>
        </p:nvSpPr>
        <p:spPr>
          <a:xfrm>
            <a:off x="274320" y="5989320"/>
            <a:ext cx="8595360" cy="502920"/>
          </a:xfrm>
          <a:prstGeom prst="rect">
            <a:avLst/>
          </a:prstGeom>
          <a:noFill/>
          <a:ln/>
        </p:spPr>
        <p:txBody>
          <a:bodyPr wrap="square" lIns="0" tIns="0" rIns="0" bIns="0" rtlCol="0" anchor="t"/>
          <a:lstStyle/>
          <a:p>
            <a:pPr algn="l" indent="0" marL="0">
              <a:lnSpc>
                <a:spcPct val="115000"/>
              </a:lnSpc>
              <a:buNone/>
            </a:pPr>
            <a:r>
              <a:rPr lang="en-US" sz="1050" i="1" dirty="0">
                <a:solidFill>
                  <a:srgbClr val="5A5A66"/>
                </a:solidFill>
                <a:latin typeface="Cambria" pitchFamily="34" charset="0"/>
                <a:ea typeface="Cambria" pitchFamily="34" charset="-122"/>
                <a:cs typeface="Cambria" pitchFamily="34" charset="-120"/>
              </a:rPr>
              <a:t>4.463 bước chạm, ghép cặp theo bước, KTC bootstrap theo cụm tác vụ. BLEU-4 ở đây là mức kho, khác BLEU-4 trung bình mức câu ở dự phòng 2.</a:t>
            </a:r>
            <a:endParaRPr lang="en-US" sz="1050" dirty="0"/>
          </a:p>
        </p:txBody>
      </p:sp>
      <p:sp>
        <p:nvSpPr>
          <p:cNvPr id="106" name="Shape 103"/>
          <p:cNvSpPr/>
          <p:nvPr/>
        </p:nvSpPr>
        <p:spPr>
          <a:xfrm>
            <a:off x="0" y="6620256"/>
            <a:ext cx="2743200" cy="237744"/>
          </a:xfrm>
          <a:prstGeom prst="rect">
            <a:avLst/>
          </a:prstGeom>
          <a:solidFill>
            <a:srgbClr val="191132"/>
          </a:solidFill>
          <a:ln/>
        </p:spPr>
      </p:sp>
      <p:sp>
        <p:nvSpPr>
          <p:cNvPr id="107" name="Shape 104"/>
          <p:cNvSpPr/>
          <p:nvPr/>
        </p:nvSpPr>
        <p:spPr>
          <a:xfrm>
            <a:off x="2743200" y="6620256"/>
            <a:ext cx="3383280" cy="237744"/>
          </a:xfrm>
          <a:prstGeom prst="rect">
            <a:avLst/>
          </a:prstGeom>
          <a:solidFill>
            <a:srgbClr val="25194B"/>
          </a:solidFill>
          <a:ln/>
        </p:spPr>
      </p:sp>
      <p:sp>
        <p:nvSpPr>
          <p:cNvPr id="108" name="Shape 105"/>
          <p:cNvSpPr/>
          <p:nvPr/>
        </p:nvSpPr>
        <p:spPr>
          <a:xfrm>
            <a:off x="6126480" y="6620256"/>
            <a:ext cx="1737360" cy="237744"/>
          </a:xfrm>
          <a:prstGeom prst="rect">
            <a:avLst/>
          </a:prstGeom>
          <a:solidFill>
            <a:srgbClr val="4F417A"/>
          </a:solidFill>
          <a:ln/>
        </p:spPr>
      </p:sp>
      <p:sp>
        <p:nvSpPr>
          <p:cNvPr id="109" name="Shape 106"/>
          <p:cNvSpPr/>
          <p:nvPr/>
        </p:nvSpPr>
        <p:spPr>
          <a:xfrm>
            <a:off x="7863840" y="6620256"/>
            <a:ext cx="1280160" cy="237744"/>
          </a:xfrm>
          <a:prstGeom prst="rect">
            <a:avLst/>
          </a:prstGeom>
          <a:solidFill>
            <a:srgbClr val="7A7099"/>
          </a:solidFill>
          <a:ln/>
        </p:spPr>
      </p:sp>
      <p:sp>
        <p:nvSpPr>
          <p:cNvPr id="110" name="Text 107"/>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Luận văn thạc sĩ</a:t>
            </a:r>
            <a:endParaRPr lang="en-US" sz="800" dirty="0"/>
          </a:p>
        </p:txBody>
      </p:sp>
      <p:sp>
        <p:nvSpPr>
          <p:cNvPr id="111" name="Text 108"/>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Phát sinh tự động hướng dẫn sử dụng phần mềm dựa trên LLM</a:t>
            </a:r>
            <a:endParaRPr lang="en-US" sz="800" dirty="0"/>
          </a:p>
        </p:txBody>
      </p:sp>
      <p:sp>
        <p:nvSpPr>
          <p:cNvPr id="112" name="Text 109"/>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113" name="Text 110"/>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17/24</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Nguồn của mức tăng so với S1</a:t>
            </a:r>
            <a:endParaRPr lang="en-US" sz="1900" dirty="0"/>
          </a:p>
        </p:txBody>
      </p:sp>
      <p:sp>
        <p:nvSpPr>
          <p:cNvPr id="4" name="Shape 2"/>
          <p:cNvSpPr/>
          <p:nvPr/>
        </p:nvSpPr>
        <p:spPr>
          <a:xfrm>
            <a:off x="457200" y="777240"/>
            <a:ext cx="5120640" cy="5532120"/>
          </a:xfrm>
          <a:prstGeom prst="roundRect">
            <a:avLst>
              <a:gd name="adj" fmla="val 1071"/>
            </a:avLst>
          </a:prstGeom>
          <a:solidFill>
            <a:srgbClr val="E9E8EC"/>
          </a:solidFill>
          <a:ln/>
          <a:effectLst>
            <a:outerShdw sx="100000" sy="100000" kx="0" ky="0" algn="bl" rotWithShape="0" blurRad="63500" dist="31750" dir="2700000">
              <a:srgbClr val="8C8C99">
                <a:alpha val="45000"/>
              </a:srgbClr>
            </a:outerShdw>
          </a:effectLst>
        </p:spPr>
      </p:sp>
      <p:sp>
        <p:nvSpPr>
          <p:cNvPr id="5" name="Text 3"/>
          <p:cNvSpPr/>
          <p:nvPr/>
        </p:nvSpPr>
        <p:spPr>
          <a:xfrm>
            <a:off x="640080" y="960120"/>
            <a:ext cx="201168" cy="914400"/>
          </a:xfrm>
          <a:prstGeom prst="rect">
            <a:avLst/>
          </a:prstGeom>
          <a:noFill/>
          <a:ln/>
        </p:spPr>
        <p:txBody>
          <a:bodyPr wrap="square" lIns="0" tIns="0" rIns="0" bIns="0" rtlCol="0" anchor="t"/>
          <a:lstStyle/>
          <a:p>
            <a:pPr algn="l" indent="0" marL="0">
              <a:buNone/>
            </a:pPr>
            <a:r>
              <a:rPr lang="en-US" sz="1250" b="1" dirty="0">
                <a:solidFill>
                  <a:srgbClr val="006666"/>
                </a:solidFill>
                <a:latin typeface="Cambria" pitchFamily="34" charset="0"/>
                <a:ea typeface="Cambria" pitchFamily="34" charset="-122"/>
                <a:cs typeface="Cambria" pitchFamily="34" charset="-120"/>
              </a:rPr>
              <a:t>•</a:t>
            </a:r>
            <a:endParaRPr lang="en-US" sz="1250" dirty="0"/>
          </a:p>
        </p:txBody>
      </p:sp>
      <p:sp>
        <p:nvSpPr>
          <p:cNvPr id="6" name="Text 4"/>
          <p:cNvSpPr/>
          <p:nvPr/>
        </p:nvSpPr>
        <p:spPr>
          <a:xfrm>
            <a:off x="868680" y="960120"/>
            <a:ext cx="4526280" cy="868680"/>
          </a:xfrm>
          <a:prstGeom prst="rect">
            <a:avLst/>
          </a:prstGeom>
          <a:noFill/>
          <a:ln/>
        </p:spPr>
        <p:txBody>
          <a:bodyPr wrap="square" lIns="0" tIns="0" rIns="0" bIns="0" rtlCol="0" anchor="t"/>
          <a:lstStyle/>
          <a:p>
            <a:pPr algn="l" indent="0" marL="0">
              <a:lnSpc>
                <a:spcPct val="125000"/>
              </a:lnSpc>
              <a:buNone/>
            </a:pPr>
            <a:r>
              <a:rPr lang="en-US" sz="1250" dirty="0">
                <a:solidFill>
                  <a:srgbClr val="1A1A1A"/>
                </a:solidFill>
                <a:latin typeface="Cambria" pitchFamily="34" charset="0"/>
                <a:ea typeface="Cambria" pitchFamily="34" charset="-122"/>
                <a:cs typeface="Cambria" pitchFamily="34" charset="-120"/>
              </a:rPr>
              <a:t>Executability </a:t>
            </a:r>
            <a:pPr algn="l" indent="0" marL="0">
              <a:lnSpc>
                <a:spcPct val="125000"/>
              </a:lnSpc>
              <a:buNone/>
            </a:pPr>
            <a:r>
              <a:rPr lang="en-US" sz="1250" b="1" dirty="0">
                <a:solidFill>
                  <a:srgbClr val="1A1A1A"/>
                </a:solidFill>
                <a:latin typeface="Cambria" pitchFamily="34" charset="0"/>
                <a:ea typeface="Cambria" pitchFamily="34" charset="-122"/>
                <a:cs typeface="Cambria" pitchFamily="34" charset="-120"/>
              </a:rPr>
              <a:t>+1,55</a:t>
            </a:r>
            <a:pPr algn="l" indent="0" marL="0">
              <a:lnSpc>
                <a:spcPct val="125000"/>
              </a:lnSpc>
              <a:buNone/>
            </a:pPr>
            <a:r>
              <a:rPr lang="en-US" sz="1250" dirty="0">
                <a:solidFill>
                  <a:srgbClr val="1A1A1A"/>
                </a:solidFill>
                <a:latin typeface="Cambria" pitchFamily="34" charset="0"/>
                <a:ea typeface="Cambria" pitchFamily="34" charset="-122"/>
                <a:cs typeface="Cambria" pitchFamily="34" charset="-120"/>
              </a:rPr>
              <a:t> điểm, p = 1,6 × 10⁻⁵; so với S1 hạt 202 vẫn hơn </a:t>
            </a:r>
            <a:pPr algn="l" indent="0" marL="0">
              <a:lnSpc>
                <a:spcPct val="125000"/>
              </a:lnSpc>
              <a:buNone/>
            </a:pPr>
            <a:r>
              <a:rPr lang="en-US" sz="1250" b="1" dirty="0">
                <a:solidFill>
                  <a:srgbClr val="1A1A1A"/>
                </a:solidFill>
                <a:latin typeface="Cambria" pitchFamily="34" charset="0"/>
                <a:ea typeface="Cambria" pitchFamily="34" charset="-122"/>
                <a:cs typeface="Cambria" pitchFamily="34" charset="-120"/>
              </a:rPr>
              <a:t>1,03</a:t>
            </a:r>
            <a:pPr algn="l" indent="0" marL="0">
              <a:lnSpc>
                <a:spcPct val="125000"/>
              </a:lnSpc>
              <a:buNone/>
            </a:pPr>
            <a:r>
              <a:rPr lang="en-US" sz="1250" dirty="0">
                <a:solidFill>
                  <a:srgbClr val="1A1A1A"/>
                </a:solidFill>
                <a:latin typeface="Cambria" pitchFamily="34" charset="0"/>
                <a:ea typeface="Cambria" pitchFamily="34" charset="-122"/>
                <a:cs typeface="Cambria" pitchFamily="34" charset="-120"/>
              </a:rPr>
              <a:t> điểm (p = 0,014).</a:t>
            </a:r>
            <a:endParaRPr lang="en-US" sz="1250" dirty="0"/>
          </a:p>
        </p:txBody>
      </p:sp>
      <p:sp>
        <p:nvSpPr>
          <p:cNvPr id="7" name="Text 5"/>
          <p:cNvSpPr/>
          <p:nvPr/>
        </p:nvSpPr>
        <p:spPr>
          <a:xfrm>
            <a:off x="640080" y="1874520"/>
            <a:ext cx="201168" cy="914400"/>
          </a:xfrm>
          <a:prstGeom prst="rect">
            <a:avLst/>
          </a:prstGeom>
          <a:noFill/>
          <a:ln/>
        </p:spPr>
        <p:txBody>
          <a:bodyPr wrap="square" lIns="0" tIns="0" rIns="0" bIns="0" rtlCol="0" anchor="t"/>
          <a:lstStyle/>
          <a:p>
            <a:pPr algn="l" indent="0" marL="0">
              <a:buNone/>
            </a:pPr>
            <a:r>
              <a:rPr lang="en-US" sz="1250" b="1" dirty="0">
                <a:solidFill>
                  <a:srgbClr val="006666"/>
                </a:solidFill>
                <a:latin typeface="Cambria" pitchFamily="34" charset="0"/>
                <a:ea typeface="Cambria" pitchFamily="34" charset="-122"/>
                <a:cs typeface="Cambria" pitchFamily="34" charset="-120"/>
              </a:rPr>
              <a:t>•</a:t>
            </a:r>
            <a:endParaRPr lang="en-US" sz="1250" dirty="0"/>
          </a:p>
        </p:txBody>
      </p:sp>
      <p:sp>
        <p:nvSpPr>
          <p:cNvPr id="8" name="Text 6"/>
          <p:cNvSpPr/>
          <p:nvPr/>
        </p:nvSpPr>
        <p:spPr>
          <a:xfrm>
            <a:off x="868680" y="1874520"/>
            <a:ext cx="4526280" cy="868680"/>
          </a:xfrm>
          <a:prstGeom prst="rect">
            <a:avLst/>
          </a:prstGeom>
          <a:noFill/>
          <a:ln/>
        </p:spPr>
        <p:txBody>
          <a:bodyPr wrap="square" lIns="0" tIns="0" rIns="0" bIns="0" rtlCol="0" anchor="t"/>
          <a:lstStyle/>
          <a:p>
            <a:pPr algn="l" indent="0" marL="0">
              <a:lnSpc>
                <a:spcPct val="125000"/>
              </a:lnSpc>
              <a:buNone/>
            </a:pPr>
            <a:r>
              <a:rPr lang="en-US" sz="1250" dirty="0">
                <a:solidFill>
                  <a:srgbClr val="1A1A1A"/>
                </a:solidFill>
                <a:latin typeface="Cambria" pitchFamily="34" charset="0"/>
                <a:ea typeface="Cambria" pitchFamily="34" charset="-122"/>
                <a:cs typeface="Cambria" pitchFamily="34" charset="-120"/>
              </a:rPr>
              <a:t>Cứu 159 bước, phá 90 bước.</a:t>
            </a:r>
            <a:endParaRPr lang="en-US" sz="1250" dirty="0"/>
          </a:p>
        </p:txBody>
      </p:sp>
      <p:sp>
        <p:nvSpPr>
          <p:cNvPr id="9" name="Text 7"/>
          <p:cNvSpPr/>
          <p:nvPr/>
        </p:nvSpPr>
        <p:spPr>
          <a:xfrm>
            <a:off x="640080" y="2788920"/>
            <a:ext cx="201168" cy="914400"/>
          </a:xfrm>
          <a:prstGeom prst="rect">
            <a:avLst/>
          </a:prstGeom>
          <a:noFill/>
          <a:ln/>
        </p:spPr>
        <p:txBody>
          <a:bodyPr wrap="square" lIns="0" tIns="0" rIns="0" bIns="0" rtlCol="0" anchor="t"/>
          <a:lstStyle/>
          <a:p>
            <a:pPr algn="l" indent="0" marL="0">
              <a:buNone/>
            </a:pPr>
            <a:r>
              <a:rPr lang="en-US" sz="1250" b="1" dirty="0">
                <a:solidFill>
                  <a:srgbClr val="006666"/>
                </a:solidFill>
                <a:latin typeface="Cambria" pitchFamily="34" charset="0"/>
                <a:ea typeface="Cambria" pitchFamily="34" charset="-122"/>
                <a:cs typeface="Cambria" pitchFamily="34" charset="-120"/>
              </a:rPr>
              <a:t>•</a:t>
            </a:r>
            <a:endParaRPr lang="en-US" sz="1250" dirty="0"/>
          </a:p>
        </p:txBody>
      </p:sp>
      <p:sp>
        <p:nvSpPr>
          <p:cNvPr id="10" name="Text 8"/>
          <p:cNvSpPr/>
          <p:nvPr/>
        </p:nvSpPr>
        <p:spPr>
          <a:xfrm>
            <a:off x="868680" y="2788920"/>
            <a:ext cx="4526280" cy="868680"/>
          </a:xfrm>
          <a:prstGeom prst="rect">
            <a:avLst/>
          </a:prstGeom>
          <a:noFill/>
          <a:ln/>
        </p:spPr>
        <p:txBody>
          <a:bodyPr wrap="square" lIns="0" tIns="0" rIns="0" bIns="0" rtlCol="0" anchor="t"/>
          <a:lstStyle/>
          <a:p>
            <a:pPr algn="l" indent="0" marL="0">
              <a:lnSpc>
                <a:spcPct val="125000"/>
              </a:lnSpc>
              <a:buNone/>
            </a:pPr>
            <a:r>
              <a:rPr lang="en-US" sz="1250" dirty="0">
                <a:solidFill>
                  <a:srgbClr val="1A1A1A"/>
                </a:solidFill>
                <a:latin typeface="Cambria" pitchFamily="34" charset="0"/>
                <a:ea typeface="Cambria" pitchFamily="34" charset="-122"/>
                <a:cs typeface="Cambria" pitchFamily="34" charset="-120"/>
              </a:rPr>
              <a:t>Tính ròng, </a:t>
            </a:r>
            <a:pPr algn="l" indent="0" marL="0">
              <a:lnSpc>
                <a:spcPct val="125000"/>
              </a:lnSpc>
              <a:buNone/>
            </a:pPr>
            <a:r>
              <a:rPr lang="en-US" sz="1250" b="1" dirty="0">
                <a:solidFill>
                  <a:srgbClr val="1A1A1A"/>
                </a:solidFill>
                <a:latin typeface="Cambria" pitchFamily="34" charset="0"/>
                <a:ea typeface="Cambria" pitchFamily="34" charset="-122"/>
                <a:cs typeface="Cambria" pitchFamily="34" charset="-120"/>
              </a:rPr>
              <a:t>41</a:t>
            </a:r>
            <a:pPr algn="l" indent="0" marL="0">
              <a:lnSpc>
                <a:spcPct val="125000"/>
              </a:lnSpc>
              <a:buNone/>
            </a:pPr>
            <a:r>
              <a:rPr lang="en-US" sz="1250" dirty="0">
                <a:solidFill>
                  <a:srgbClr val="1A1A1A"/>
                </a:solidFill>
                <a:latin typeface="Cambria" pitchFamily="34" charset="0"/>
                <a:ea typeface="Cambria" pitchFamily="34" charset="-122"/>
                <a:cs typeface="Cambria" pitchFamily="34" charset="-120"/>
              </a:rPr>
              <a:t> bước là đổi sang đúng phần tử ở những bước cả hai cùng đúng loại thao tác, tức định vị thật; </a:t>
            </a:r>
            <a:pPr algn="l" indent="0" marL="0">
              <a:lnSpc>
                <a:spcPct val="125000"/>
              </a:lnSpc>
              <a:buNone/>
            </a:pPr>
            <a:r>
              <a:rPr lang="en-US" sz="1250" b="1" dirty="0">
                <a:solidFill>
                  <a:srgbClr val="1A1A1A"/>
                </a:solidFill>
                <a:latin typeface="Cambria" pitchFamily="34" charset="0"/>
                <a:ea typeface="Cambria" pitchFamily="34" charset="-122"/>
                <a:cs typeface="Cambria" pitchFamily="34" charset="-120"/>
              </a:rPr>
              <a:t>28</a:t>
            </a:r>
            <a:pPr algn="l" indent="0" marL="0">
              <a:lnSpc>
                <a:spcPct val="125000"/>
              </a:lnSpc>
              <a:buNone/>
            </a:pPr>
            <a:r>
              <a:rPr lang="en-US" sz="1250" dirty="0">
                <a:solidFill>
                  <a:srgbClr val="1A1A1A"/>
                </a:solidFill>
                <a:latin typeface="Cambria" pitchFamily="34" charset="0"/>
                <a:ea typeface="Cambria" pitchFamily="34" charset="-122"/>
                <a:cs typeface="Cambria" pitchFamily="34" charset="-120"/>
              </a:rPr>
              <a:t> bước là sửa loại thao tác.</a:t>
            </a:r>
            <a:endParaRPr lang="en-US" sz="1250" dirty="0"/>
          </a:p>
        </p:txBody>
      </p:sp>
      <p:sp>
        <p:nvSpPr>
          <p:cNvPr id="11" name="Text 9"/>
          <p:cNvSpPr/>
          <p:nvPr/>
        </p:nvSpPr>
        <p:spPr>
          <a:xfrm>
            <a:off x="640080" y="3703320"/>
            <a:ext cx="201168" cy="914400"/>
          </a:xfrm>
          <a:prstGeom prst="rect">
            <a:avLst/>
          </a:prstGeom>
          <a:noFill/>
          <a:ln/>
        </p:spPr>
        <p:txBody>
          <a:bodyPr wrap="square" lIns="0" tIns="0" rIns="0" bIns="0" rtlCol="0" anchor="t"/>
          <a:lstStyle/>
          <a:p>
            <a:pPr algn="l" indent="0" marL="0">
              <a:buNone/>
            </a:pPr>
            <a:r>
              <a:rPr lang="en-US" sz="1250" b="1" dirty="0">
                <a:solidFill>
                  <a:srgbClr val="006666"/>
                </a:solidFill>
                <a:latin typeface="Cambria" pitchFamily="34" charset="0"/>
                <a:ea typeface="Cambria" pitchFamily="34" charset="-122"/>
                <a:cs typeface="Cambria" pitchFamily="34" charset="-120"/>
              </a:rPr>
              <a:t>•</a:t>
            </a:r>
            <a:endParaRPr lang="en-US" sz="1250" dirty="0"/>
          </a:p>
        </p:txBody>
      </p:sp>
      <p:sp>
        <p:nvSpPr>
          <p:cNvPr id="12" name="Text 10"/>
          <p:cNvSpPr/>
          <p:nvPr/>
        </p:nvSpPr>
        <p:spPr>
          <a:xfrm>
            <a:off x="868680" y="3703320"/>
            <a:ext cx="4526280" cy="868680"/>
          </a:xfrm>
          <a:prstGeom prst="rect">
            <a:avLst/>
          </a:prstGeom>
          <a:noFill/>
          <a:ln/>
        </p:spPr>
        <p:txBody>
          <a:bodyPr wrap="square" lIns="0" tIns="0" rIns="0" bIns="0" rtlCol="0" anchor="t"/>
          <a:lstStyle/>
          <a:p>
            <a:pPr algn="l" indent="0" marL="0">
              <a:lnSpc>
                <a:spcPct val="125000"/>
              </a:lnSpc>
              <a:buNone/>
            </a:pPr>
            <a:r>
              <a:rPr lang="en-US" sz="1250" dirty="0">
                <a:solidFill>
                  <a:srgbClr val="1A1A1A"/>
                </a:solidFill>
                <a:latin typeface="Cambria" pitchFamily="34" charset="0"/>
                <a:ea typeface="Cambria" pitchFamily="34" charset="-122"/>
                <a:cs typeface="Cambria" pitchFamily="34" charset="-120"/>
              </a:rPr>
              <a:t>Câu gần như giữ độ dài (7,83 → 7,96 từ); 2.795/4.463 câu trùng S1 từng ký tự.</a:t>
            </a:r>
            <a:endParaRPr lang="en-US" sz="1250" dirty="0"/>
          </a:p>
        </p:txBody>
      </p:sp>
      <p:sp>
        <p:nvSpPr>
          <p:cNvPr id="13" name="Text 11"/>
          <p:cNvSpPr/>
          <p:nvPr/>
        </p:nvSpPr>
        <p:spPr>
          <a:xfrm>
            <a:off x="640080" y="4617720"/>
            <a:ext cx="201168" cy="914400"/>
          </a:xfrm>
          <a:prstGeom prst="rect">
            <a:avLst/>
          </a:prstGeom>
          <a:noFill/>
          <a:ln/>
        </p:spPr>
        <p:txBody>
          <a:bodyPr wrap="square" lIns="0" tIns="0" rIns="0" bIns="0" rtlCol="0" anchor="t"/>
          <a:lstStyle/>
          <a:p>
            <a:pPr algn="l" indent="0" marL="0">
              <a:buNone/>
            </a:pPr>
            <a:r>
              <a:rPr lang="en-US" sz="1250" b="1" dirty="0">
                <a:solidFill>
                  <a:srgbClr val="006666"/>
                </a:solidFill>
                <a:latin typeface="Cambria" pitchFamily="34" charset="0"/>
                <a:ea typeface="Cambria" pitchFamily="34" charset="-122"/>
                <a:cs typeface="Cambria" pitchFamily="34" charset="-120"/>
              </a:rPr>
              <a:t>•</a:t>
            </a:r>
            <a:endParaRPr lang="en-US" sz="1250" dirty="0"/>
          </a:p>
        </p:txBody>
      </p:sp>
      <p:sp>
        <p:nvSpPr>
          <p:cNvPr id="14" name="Text 12"/>
          <p:cNvSpPr/>
          <p:nvPr/>
        </p:nvSpPr>
        <p:spPr>
          <a:xfrm>
            <a:off x="868680" y="4617720"/>
            <a:ext cx="4526280" cy="868680"/>
          </a:xfrm>
          <a:prstGeom prst="rect">
            <a:avLst/>
          </a:prstGeom>
          <a:noFill/>
          <a:ln/>
        </p:spPr>
        <p:txBody>
          <a:bodyPr wrap="square" lIns="0" tIns="0" rIns="0" bIns="0" rtlCol="0" anchor="t"/>
          <a:lstStyle/>
          <a:p>
            <a:pPr algn="l" indent="0" marL="0">
              <a:lnSpc>
                <a:spcPct val="125000"/>
              </a:lnSpc>
              <a:buNone/>
            </a:pPr>
            <a:r>
              <a:rPr lang="en-US" sz="1250" dirty="0">
                <a:solidFill>
                  <a:srgbClr val="1A1A1A"/>
                </a:solidFill>
                <a:latin typeface="Cambria" pitchFamily="34" charset="0"/>
                <a:ea typeface="Cambria" pitchFamily="34" charset="-122"/>
                <a:cs typeface="Cambria" pitchFamily="34" charset="-120"/>
              </a:rPr>
              <a:t>Khác chặng ba, vốn có toàn bộ mức hơn S1 ở các bước S1 gọi sai loại thao tác.</a:t>
            </a:r>
            <a:endParaRPr lang="en-US" sz="1250" dirty="0"/>
          </a:p>
        </p:txBody>
      </p:sp>
      <p:pic>
        <p:nvPicPr>
          <p:cNvPr id="15" name="Image 0" descr="/mnt/d/Master/Thesis/thesis/figures/fig_vidu_spice.png">    </p:cNvPr>
          <p:cNvPicPr>
            <a:picLocks noChangeAspect="1"/>
          </p:cNvPicPr>
          <p:nvPr/>
        </p:nvPicPr>
        <p:blipFill>
          <a:blip r:embed="rId1"/>
          <a:stretch>
            <a:fillRect/>
          </a:stretch>
        </p:blipFill>
        <p:spPr>
          <a:xfrm>
            <a:off x="5715000" y="1850746"/>
            <a:ext cx="3017520" cy="3339389"/>
          </a:xfrm>
          <a:prstGeom prst="rect">
            <a:avLst/>
          </a:prstGeom>
        </p:spPr>
      </p:pic>
      <p:sp>
        <p:nvSpPr>
          <p:cNvPr id="17" name="Shape 13"/>
          <p:cNvSpPr/>
          <p:nvPr/>
        </p:nvSpPr>
        <p:spPr>
          <a:xfrm>
            <a:off x="0" y="6620256"/>
            <a:ext cx="2743200" cy="237744"/>
          </a:xfrm>
          <a:prstGeom prst="rect">
            <a:avLst/>
          </a:prstGeom>
          <a:solidFill>
            <a:srgbClr val="191132"/>
          </a:solidFill>
          <a:ln/>
        </p:spPr>
      </p:sp>
      <p:sp>
        <p:nvSpPr>
          <p:cNvPr id="18" name="Shape 14"/>
          <p:cNvSpPr/>
          <p:nvPr/>
        </p:nvSpPr>
        <p:spPr>
          <a:xfrm>
            <a:off x="2743200" y="6620256"/>
            <a:ext cx="3383280" cy="237744"/>
          </a:xfrm>
          <a:prstGeom prst="rect">
            <a:avLst/>
          </a:prstGeom>
          <a:solidFill>
            <a:srgbClr val="25194B"/>
          </a:solidFill>
          <a:ln/>
        </p:spPr>
      </p:sp>
      <p:sp>
        <p:nvSpPr>
          <p:cNvPr id="19" name="Shape 15"/>
          <p:cNvSpPr/>
          <p:nvPr/>
        </p:nvSpPr>
        <p:spPr>
          <a:xfrm>
            <a:off x="6126480" y="6620256"/>
            <a:ext cx="1737360" cy="237744"/>
          </a:xfrm>
          <a:prstGeom prst="rect">
            <a:avLst/>
          </a:prstGeom>
          <a:solidFill>
            <a:srgbClr val="4F417A"/>
          </a:solidFill>
          <a:ln/>
        </p:spPr>
      </p:sp>
      <p:sp>
        <p:nvSpPr>
          <p:cNvPr id="20" name="Shape 16"/>
          <p:cNvSpPr/>
          <p:nvPr/>
        </p:nvSpPr>
        <p:spPr>
          <a:xfrm>
            <a:off x="7863840" y="6620256"/>
            <a:ext cx="1280160" cy="237744"/>
          </a:xfrm>
          <a:prstGeom prst="rect">
            <a:avLst/>
          </a:prstGeom>
          <a:solidFill>
            <a:srgbClr val="7A7099"/>
          </a:solidFill>
          <a:ln/>
        </p:spPr>
      </p:sp>
      <p:sp>
        <p:nvSpPr>
          <p:cNvPr id="21" name="Text 17"/>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Luận văn thạc sĩ</a:t>
            </a:r>
            <a:endParaRPr lang="en-US" sz="800" dirty="0"/>
          </a:p>
        </p:txBody>
      </p:sp>
      <p:sp>
        <p:nvSpPr>
          <p:cNvPr id="22" name="Text 18"/>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Phát sinh tự động hướng dẫn sử dụng phần mềm dựa trên LLM</a:t>
            </a:r>
            <a:endParaRPr lang="en-US" sz="800" dirty="0"/>
          </a:p>
        </p:txBody>
      </p:sp>
      <p:sp>
        <p:nvSpPr>
          <p:cNvPr id="23" name="Text 19"/>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24" name="Text 20"/>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18/24</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Tác dụng phụ đo được ở bước không chạm</a:t>
            </a:r>
            <a:endParaRPr lang="en-US" sz="1900" dirty="0"/>
          </a:p>
        </p:txBody>
      </p:sp>
      <p:pic>
        <p:nvPicPr>
          <p:cNvPr id="4" name="Image 0" descr="/mnt/d/Master/Thesis/thesis/figures/fig_khongcham.png">    </p:cNvPr>
          <p:cNvPicPr>
            <a:picLocks noChangeAspect="1"/>
          </p:cNvPicPr>
          <p:nvPr/>
        </p:nvPicPr>
        <p:blipFill>
          <a:blip r:embed="rId1"/>
          <a:stretch>
            <a:fillRect/>
          </a:stretch>
        </p:blipFill>
        <p:spPr>
          <a:xfrm>
            <a:off x="461930" y="685800"/>
            <a:ext cx="8220141" cy="3611880"/>
          </a:xfrm>
          <a:prstGeom prst="rect">
            <a:avLst/>
          </a:prstGeom>
        </p:spPr>
      </p:pic>
      <p:sp>
        <p:nvSpPr>
          <p:cNvPr id="5" name="Shape 2"/>
          <p:cNvSpPr/>
          <p:nvPr/>
        </p:nvSpPr>
        <p:spPr>
          <a:xfrm>
            <a:off x="457200" y="4434840"/>
            <a:ext cx="8229600" cy="1874520"/>
          </a:xfrm>
          <a:prstGeom prst="roundRect">
            <a:avLst>
              <a:gd name="adj" fmla="val 2927"/>
            </a:avLst>
          </a:prstGeom>
          <a:solidFill>
            <a:srgbClr val="E9E8EC"/>
          </a:solidFill>
          <a:ln/>
          <a:effectLst>
            <a:outerShdw sx="100000" sy="100000" kx="0" ky="0" algn="bl" rotWithShape="0" blurRad="63500" dist="31750" dir="2700000">
              <a:srgbClr val="8C8C99">
                <a:alpha val="45000"/>
              </a:srgbClr>
            </a:outerShdw>
          </a:effectLst>
        </p:spPr>
      </p:sp>
      <p:sp>
        <p:nvSpPr>
          <p:cNvPr id="6" name="Text 3"/>
          <p:cNvSpPr/>
          <p:nvPr/>
        </p:nvSpPr>
        <p:spPr>
          <a:xfrm>
            <a:off x="640080" y="4544568"/>
            <a:ext cx="201168" cy="585216"/>
          </a:xfrm>
          <a:prstGeom prst="rect">
            <a:avLst/>
          </a:prstGeom>
          <a:noFill/>
          <a:ln/>
        </p:spPr>
        <p:txBody>
          <a:bodyPr wrap="square" lIns="0" tIns="0" rIns="0" bIns="0" rtlCol="0" anchor="t"/>
          <a:lstStyle/>
          <a:p>
            <a:pPr algn="l" indent="0" marL="0">
              <a:buNone/>
            </a:pPr>
            <a:r>
              <a:rPr lang="en-US" sz="1200" b="1" dirty="0">
                <a:solidFill>
                  <a:srgbClr val="006666"/>
                </a:solidFill>
                <a:latin typeface="Cambria" pitchFamily="34" charset="0"/>
                <a:ea typeface="Cambria" pitchFamily="34" charset="-122"/>
                <a:cs typeface="Cambria" pitchFamily="34" charset="-120"/>
              </a:rPr>
              <a:t>•</a:t>
            </a:r>
            <a:endParaRPr lang="en-US" sz="1200" dirty="0"/>
          </a:p>
        </p:txBody>
      </p:sp>
      <p:sp>
        <p:nvSpPr>
          <p:cNvPr id="7" name="Text 4"/>
          <p:cNvSpPr/>
          <p:nvPr/>
        </p:nvSpPr>
        <p:spPr>
          <a:xfrm>
            <a:off x="868680" y="4544568"/>
            <a:ext cx="7635240" cy="566928"/>
          </a:xfrm>
          <a:prstGeom prst="rect">
            <a:avLst/>
          </a:prstGeom>
          <a:noFill/>
          <a:ln/>
        </p:spPr>
        <p:txBody>
          <a:bodyPr wrap="square" lIns="0" tIns="0" rIns="0" bIns="0" rtlCol="0" anchor="t"/>
          <a:lstStyle/>
          <a:p>
            <a:pPr algn="l" indent="0" marL="0">
              <a:lnSpc>
                <a:spcPct val="125000"/>
              </a:lnSpc>
              <a:buNone/>
            </a:pPr>
            <a:r>
              <a:rPr lang="en-US" sz="1200" dirty="0">
                <a:solidFill>
                  <a:srgbClr val="1A1A1A"/>
                </a:solidFill>
                <a:latin typeface="Cambria" pitchFamily="34" charset="0"/>
                <a:ea typeface="Cambria" pitchFamily="34" charset="-122"/>
                <a:cs typeface="Cambria" pitchFamily="34" charset="-120"/>
              </a:rPr>
              <a:t>Trên 2.495 bước không chạm, tỉ lệ gọi đúng loại thao tác giảm 1,68 điểm; dồn vào bước cuộn (</a:t>
            </a:r>
            <a:pPr algn="l" indent="0" marL="0">
              <a:lnSpc>
                <a:spcPct val="125000"/>
              </a:lnSpc>
              <a:buNone/>
            </a:pPr>
            <a:r>
              <a:rPr lang="en-US" sz="1200" b="1" dirty="0">
                <a:solidFill>
                  <a:srgbClr val="B22222"/>
                </a:solidFill>
                <a:latin typeface="Cambria" pitchFamily="34" charset="0"/>
                <a:ea typeface="Cambria" pitchFamily="34" charset="-122"/>
                <a:cs typeface="Cambria" pitchFamily="34" charset="-120"/>
              </a:rPr>
              <a:t>−6,23</a:t>
            </a:r>
            <a:pPr algn="l" indent="0" marL="0">
              <a:lnSpc>
                <a:spcPct val="125000"/>
              </a:lnSpc>
              <a:buNone/>
            </a:pPr>
            <a:r>
              <a:rPr lang="en-US" sz="1200" dirty="0">
                <a:solidFill>
                  <a:srgbClr val="1A1A1A"/>
                </a:solidFill>
                <a:latin typeface="Cambria" pitchFamily="34" charset="0"/>
                <a:ea typeface="Cambria" pitchFamily="34" charset="-122"/>
                <a:cs typeface="Cambria" pitchFamily="34" charset="-120"/>
              </a:rPr>
              <a:t>) và quay lại (</a:t>
            </a:r>
            <a:pPr algn="l" indent="0" marL="0">
              <a:lnSpc>
                <a:spcPct val="125000"/>
              </a:lnSpc>
              <a:buNone/>
            </a:pPr>
            <a:r>
              <a:rPr lang="en-US" sz="1200" b="1" dirty="0">
                <a:solidFill>
                  <a:srgbClr val="B22222"/>
                </a:solidFill>
                <a:latin typeface="Cambria" pitchFamily="34" charset="0"/>
                <a:ea typeface="Cambria" pitchFamily="34" charset="-122"/>
                <a:cs typeface="Cambria" pitchFamily="34" charset="-120"/>
              </a:rPr>
              <a:t>−5,93</a:t>
            </a:r>
            <a:pPr algn="l" indent="0" marL="0">
              <a:lnSpc>
                <a:spcPct val="125000"/>
              </a:lnSpc>
              <a:buNone/>
            </a:pPr>
            <a:r>
              <a:rPr lang="en-US" sz="1200" dirty="0">
                <a:solidFill>
                  <a:srgbClr val="1A1A1A"/>
                </a:solidFill>
                <a:latin typeface="Cambria" pitchFamily="34" charset="0"/>
                <a:ea typeface="Cambria" pitchFamily="34" charset="-122"/>
                <a:cs typeface="Cambria" pitchFamily="34" charset="-120"/>
              </a:rPr>
              <a:t>).</a:t>
            </a:r>
            <a:endParaRPr lang="en-US" sz="1200" dirty="0"/>
          </a:p>
        </p:txBody>
      </p:sp>
      <p:sp>
        <p:nvSpPr>
          <p:cNvPr id="8" name="Text 5"/>
          <p:cNvSpPr/>
          <p:nvPr/>
        </p:nvSpPr>
        <p:spPr>
          <a:xfrm>
            <a:off x="640080" y="5129784"/>
            <a:ext cx="201168" cy="585216"/>
          </a:xfrm>
          <a:prstGeom prst="rect">
            <a:avLst/>
          </a:prstGeom>
          <a:noFill/>
          <a:ln/>
        </p:spPr>
        <p:txBody>
          <a:bodyPr wrap="square" lIns="0" tIns="0" rIns="0" bIns="0" rtlCol="0" anchor="t"/>
          <a:lstStyle/>
          <a:p>
            <a:pPr algn="l" indent="0" marL="0">
              <a:buNone/>
            </a:pPr>
            <a:r>
              <a:rPr lang="en-US" sz="1200" b="1" dirty="0">
                <a:solidFill>
                  <a:srgbClr val="006666"/>
                </a:solidFill>
                <a:latin typeface="Cambria" pitchFamily="34" charset="0"/>
                <a:ea typeface="Cambria" pitchFamily="34" charset="-122"/>
                <a:cs typeface="Cambria" pitchFamily="34" charset="-120"/>
              </a:rPr>
              <a:t>•</a:t>
            </a:r>
            <a:endParaRPr lang="en-US" sz="1200" dirty="0"/>
          </a:p>
        </p:txBody>
      </p:sp>
      <p:sp>
        <p:nvSpPr>
          <p:cNvPr id="9" name="Text 6"/>
          <p:cNvSpPr/>
          <p:nvPr/>
        </p:nvSpPr>
        <p:spPr>
          <a:xfrm>
            <a:off x="868680" y="5129784"/>
            <a:ext cx="7635240" cy="566928"/>
          </a:xfrm>
          <a:prstGeom prst="rect">
            <a:avLst/>
          </a:prstGeom>
          <a:noFill/>
          <a:ln/>
        </p:spPr>
        <p:txBody>
          <a:bodyPr wrap="square" lIns="0" tIns="0" rIns="0" bIns="0" rtlCol="0" anchor="t"/>
          <a:lstStyle/>
          <a:p>
            <a:pPr algn="l" indent="0" marL="0">
              <a:lnSpc>
                <a:spcPct val="125000"/>
              </a:lnSpc>
              <a:buNone/>
            </a:pPr>
            <a:r>
              <a:rPr lang="en-US" sz="1200" dirty="0">
                <a:solidFill>
                  <a:srgbClr val="1A1A1A"/>
                </a:solidFill>
                <a:latin typeface="Cambria" pitchFamily="34" charset="0"/>
                <a:ea typeface="Cambria" pitchFamily="34" charset="-122"/>
                <a:cs typeface="Cambria" pitchFamily="34" charset="-120"/>
              </a:rPr>
              <a:t>Cơ chế: mô hình nghiêng về câu chạm. Trong 51 bước cuộn bị phá, 47 bước câu đổi từ “Swipe up” sang “Click on …”.</a:t>
            </a:r>
            <a:endParaRPr lang="en-US" sz="1200" dirty="0"/>
          </a:p>
        </p:txBody>
      </p:sp>
      <p:sp>
        <p:nvSpPr>
          <p:cNvPr id="10" name="Text 7"/>
          <p:cNvSpPr/>
          <p:nvPr/>
        </p:nvSpPr>
        <p:spPr>
          <a:xfrm>
            <a:off x="640080" y="5715000"/>
            <a:ext cx="201168" cy="585216"/>
          </a:xfrm>
          <a:prstGeom prst="rect">
            <a:avLst/>
          </a:prstGeom>
          <a:noFill/>
          <a:ln/>
        </p:spPr>
        <p:txBody>
          <a:bodyPr wrap="square" lIns="0" tIns="0" rIns="0" bIns="0" rtlCol="0" anchor="t"/>
          <a:lstStyle/>
          <a:p>
            <a:pPr algn="l" indent="0" marL="0">
              <a:buNone/>
            </a:pPr>
            <a:r>
              <a:rPr lang="en-US" sz="1200" b="1" dirty="0">
                <a:solidFill>
                  <a:srgbClr val="006666"/>
                </a:solidFill>
                <a:latin typeface="Cambria" pitchFamily="34" charset="0"/>
                <a:ea typeface="Cambria" pitchFamily="34" charset="-122"/>
                <a:cs typeface="Cambria" pitchFamily="34" charset="-120"/>
              </a:rPr>
              <a:t>•</a:t>
            </a:r>
            <a:endParaRPr lang="en-US" sz="1200" dirty="0"/>
          </a:p>
        </p:txBody>
      </p:sp>
      <p:sp>
        <p:nvSpPr>
          <p:cNvPr id="11" name="Text 8"/>
          <p:cNvSpPr/>
          <p:nvPr/>
        </p:nvSpPr>
        <p:spPr>
          <a:xfrm>
            <a:off x="868680" y="5715000"/>
            <a:ext cx="7635240" cy="566928"/>
          </a:xfrm>
          <a:prstGeom prst="rect">
            <a:avLst/>
          </a:prstGeom>
          <a:noFill/>
          <a:ln/>
        </p:spPr>
        <p:txBody>
          <a:bodyPr wrap="square" lIns="0" tIns="0" rIns="0" bIns="0" rtlCol="0" anchor="t"/>
          <a:lstStyle/>
          <a:p>
            <a:pPr algn="l" indent="0" marL="0">
              <a:lnSpc>
                <a:spcPct val="125000"/>
              </a:lnSpc>
              <a:buNone/>
            </a:pPr>
            <a:r>
              <a:rPr lang="en-US" sz="1200" dirty="0">
                <a:solidFill>
                  <a:srgbClr val="1A1A1A"/>
                </a:solidFill>
                <a:latin typeface="Cambria" pitchFamily="34" charset="0"/>
                <a:ea typeface="Cambria" pitchFamily="34" charset="-122"/>
                <a:cs typeface="Cambria" pitchFamily="34" charset="-120"/>
              </a:rPr>
              <a:t>Đã loại cách giải thích SPICE không phân biệt câu cuộn ngắn. Cách sửa trực tiếp: thêm số hạng đúng loại thao tác vào phần thưởng.</a:t>
            </a:r>
            <a:endParaRPr lang="en-US" sz="1200" dirty="0"/>
          </a:p>
        </p:txBody>
      </p:sp>
      <p:sp>
        <p:nvSpPr>
          <p:cNvPr id="13" name="Shape 9"/>
          <p:cNvSpPr/>
          <p:nvPr/>
        </p:nvSpPr>
        <p:spPr>
          <a:xfrm>
            <a:off x="0" y="6620256"/>
            <a:ext cx="2743200" cy="237744"/>
          </a:xfrm>
          <a:prstGeom prst="rect">
            <a:avLst/>
          </a:prstGeom>
          <a:solidFill>
            <a:srgbClr val="191132"/>
          </a:solidFill>
          <a:ln/>
        </p:spPr>
      </p:sp>
      <p:sp>
        <p:nvSpPr>
          <p:cNvPr id="14" name="Shape 10"/>
          <p:cNvSpPr/>
          <p:nvPr/>
        </p:nvSpPr>
        <p:spPr>
          <a:xfrm>
            <a:off x="2743200" y="6620256"/>
            <a:ext cx="3383280" cy="237744"/>
          </a:xfrm>
          <a:prstGeom prst="rect">
            <a:avLst/>
          </a:prstGeom>
          <a:solidFill>
            <a:srgbClr val="25194B"/>
          </a:solidFill>
          <a:ln/>
        </p:spPr>
      </p:sp>
      <p:sp>
        <p:nvSpPr>
          <p:cNvPr id="15" name="Shape 11"/>
          <p:cNvSpPr/>
          <p:nvPr/>
        </p:nvSpPr>
        <p:spPr>
          <a:xfrm>
            <a:off x="6126480" y="6620256"/>
            <a:ext cx="1737360" cy="237744"/>
          </a:xfrm>
          <a:prstGeom prst="rect">
            <a:avLst/>
          </a:prstGeom>
          <a:solidFill>
            <a:srgbClr val="4F417A"/>
          </a:solidFill>
          <a:ln/>
        </p:spPr>
      </p:sp>
      <p:sp>
        <p:nvSpPr>
          <p:cNvPr id="16" name="Shape 12"/>
          <p:cNvSpPr/>
          <p:nvPr/>
        </p:nvSpPr>
        <p:spPr>
          <a:xfrm>
            <a:off x="7863840" y="6620256"/>
            <a:ext cx="1280160" cy="237744"/>
          </a:xfrm>
          <a:prstGeom prst="rect">
            <a:avLst/>
          </a:prstGeom>
          <a:solidFill>
            <a:srgbClr val="7A7099"/>
          </a:solidFill>
          <a:ln/>
        </p:spPr>
      </p:sp>
      <p:sp>
        <p:nvSpPr>
          <p:cNvPr id="17" name="Text 13"/>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Luận văn thạc sĩ</a:t>
            </a:r>
            <a:endParaRPr lang="en-US" sz="800" dirty="0"/>
          </a:p>
        </p:txBody>
      </p:sp>
      <p:sp>
        <p:nvSpPr>
          <p:cNvPr id="18" name="Text 14"/>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Phát sinh tự động hướng dẫn sử dụng phần mềm dựa trên LLM</a:t>
            </a:r>
            <a:endParaRPr lang="en-US" sz="800" dirty="0"/>
          </a:p>
        </p:txBody>
      </p:sp>
      <p:sp>
        <p:nvSpPr>
          <p:cNvPr id="19" name="Text 15"/>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20" name="Text 16"/>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19/24</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Mở rộng: bộ sửa câu theo vùng cắt quanh phần tử (TAGE)</a:t>
            </a:r>
            <a:endParaRPr lang="en-US" sz="1900" dirty="0"/>
          </a:p>
        </p:txBody>
      </p:sp>
      <p:sp>
        <p:nvSpPr>
          <p:cNvPr id="4" name="Shape 2"/>
          <p:cNvSpPr/>
          <p:nvPr/>
        </p:nvSpPr>
        <p:spPr>
          <a:xfrm>
            <a:off x="457200" y="822960"/>
            <a:ext cx="1463040" cy="1005840"/>
          </a:xfrm>
          <a:prstGeom prst="roundRect">
            <a:avLst>
              <a:gd name="adj" fmla="val 5455"/>
            </a:avLst>
          </a:prstGeom>
          <a:solidFill>
            <a:srgbClr val="FFFFFF"/>
          </a:solidFill>
          <a:ln w="15240">
            <a:solidFill>
              <a:srgbClr val="6E6890"/>
            </a:solidFill>
            <a:prstDash val="solid"/>
          </a:ln>
        </p:spPr>
      </p:sp>
      <p:sp>
        <p:nvSpPr>
          <p:cNvPr id="5" name="Text 3"/>
          <p:cNvSpPr/>
          <p:nvPr/>
        </p:nvSpPr>
        <p:spPr>
          <a:xfrm>
            <a:off x="457200" y="822960"/>
            <a:ext cx="1463040" cy="1005840"/>
          </a:xfrm>
          <a:prstGeom prst="rect">
            <a:avLst/>
          </a:prstGeom>
          <a:noFill/>
          <a:ln/>
        </p:spPr>
        <p:txBody>
          <a:bodyPr wrap="square" lIns="38100" tIns="38100" rIns="38100" bIns="38100" rtlCol="0" anchor="ctr"/>
          <a:lstStyle/>
          <a:p>
            <a:pPr algn="ctr" indent="0" marL="0">
              <a:lnSpc>
                <a:spcPct val="115000"/>
              </a:lnSpc>
              <a:buNone/>
            </a:pPr>
            <a:r>
              <a:rPr lang="en-US" sz="1050" dirty="0">
                <a:solidFill>
                  <a:srgbClr val="1A1A1A"/>
                </a:solidFill>
                <a:latin typeface="Cambria" pitchFamily="34" charset="0"/>
                <a:ea typeface="Cambria" pitchFamily="34" charset="-122"/>
                <a:cs typeface="Cambria" pitchFamily="34" charset="-120"/>
              </a:rPr>
              <a:t>câu nháp</a:t>
            </a:r>
            <a:endParaRPr lang="en-US" sz="1050" dirty="0"/>
          </a:p>
          <a:p>
            <a:pPr algn="ctr" indent="0" marL="0">
              <a:lnSpc>
                <a:spcPct val="115000"/>
              </a:lnSpc>
              <a:buNone/>
            </a:pPr>
            <a:r>
              <a:rPr lang="en-US" sz="1050" dirty="0">
                <a:solidFill>
                  <a:srgbClr val="1A1A1A"/>
                </a:solidFill>
                <a:latin typeface="Cambria" pitchFamily="34" charset="0"/>
                <a:ea typeface="Cambria" pitchFamily="34" charset="-122"/>
                <a:cs typeface="Cambria" pitchFamily="34" charset="-120"/>
              </a:rPr>
              <a:t>của phương pháp</a:t>
            </a:r>
            <a:endParaRPr lang="en-US" sz="1050" dirty="0"/>
          </a:p>
          <a:p>
            <a:pPr algn="ctr" indent="0" marL="0">
              <a:lnSpc>
                <a:spcPct val="115000"/>
              </a:lnSpc>
              <a:buNone/>
            </a:pPr>
            <a:r>
              <a:rPr lang="en-US" sz="1050" dirty="0">
                <a:solidFill>
                  <a:srgbClr val="1A1A1A"/>
                </a:solidFill>
                <a:latin typeface="Cambria" pitchFamily="34" charset="0"/>
                <a:ea typeface="Cambria" pitchFamily="34" charset="-122"/>
                <a:cs typeface="Cambria" pitchFamily="34" charset="-120"/>
              </a:rPr>
              <a:t>đề xuất</a:t>
            </a:r>
            <a:endParaRPr lang="en-US" sz="1050" dirty="0"/>
          </a:p>
        </p:txBody>
      </p:sp>
      <p:sp>
        <p:nvSpPr>
          <p:cNvPr id="6" name="Shape 4"/>
          <p:cNvSpPr/>
          <p:nvPr/>
        </p:nvSpPr>
        <p:spPr>
          <a:xfrm>
            <a:off x="1938528" y="1325880"/>
            <a:ext cx="201168" cy="0"/>
          </a:xfrm>
          <a:prstGeom prst="line">
            <a:avLst/>
          </a:prstGeom>
          <a:noFill/>
          <a:ln w="25400">
            <a:solidFill>
              <a:srgbClr val="4F417A"/>
            </a:solidFill>
            <a:prstDash val="solid"/>
            <a:tailEnd type="triangle"/>
          </a:ln>
        </p:spPr>
      </p:sp>
      <p:sp>
        <p:nvSpPr>
          <p:cNvPr id="7" name="Shape 5"/>
          <p:cNvSpPr/>
          <p:nvPr/>
        </p:nvSpPr>
        <p:spPr>
          <a:xfrm>
            <a:off x="2157984" y="822960"/>
            <a:ext cx="1463040" cy="1005840"/>
          </a:xfrm>
          <a:prstGeom prst="roundRect">
            <a:avLst>
              <a:gd name="adj" fmla="val 5455"/>
            </a:avLst>
          </a:prstGeom>
          <a:solidFill>
            <a:srgbClr val="FFFFFF"/>
          </a:solidFill>
          <a:ln w="15240">
            <a:solidFill>
              <a:srgbClr val="6E6890"/>
            </a:solidFill>
            <a:prstDash val="solid"/>
          </a:ln>
        </p:spPr>
      </p:sp>
      <p:sp>
        <p:nvSpPr>
          <p:cNvPr id="8" name="Text 6"/>
          <p:cNvSpPr/>
          <p:nvPr/>
        </p:nvSpPr>
        <p:spPr>
          <a:xfrm>
            <a:off x="2157984" y="822960"/>
            <a:ext cx="1463040" cy="1005840"/>
          </a:xfrm>
          <a:prstGeom prst="rect">
            <a:avLst/>
          </a:prstGeom>
          <a:noFill/>
          <a:ln/>
        </p:spPr>
        <p:txBody>
          <a:bodyPr wrap="square" lIns="38100" tIns="38100" rIns="38100" bIns="38100" rtlCol="0" anchor="ctr"/>
          <a:lstStyle/>
          <a:p>
            <a:pPr algn="ctr" indent="0" marL="0">
              <a:lnSpc>
                <a:spcPct val="115000"/>
              </a:lnSpc>
              <a:buNone/>
            </a:pPr>
            <a:r>
              <a:rPr lang="en-US" sz="1050" dirty="0">
                <a:solidFill>
                  <a:srgbClr val="1A1A1A"/>
                </a:solidFill>
                <a:latin typeface="Cambria" pitchFamily="34" charset="0"/>
                <a:ea typeface="Cambria" pitchFamily="34" charset="-122"/>
                <a:cs typeface="Cambria" pitchFamily="34" charset="-120"/>
              </a:rPr>
              <a:t>bộ định vị</a:t>
            </a:r>
            <a:endParaRPr lang="en-US" sz="1050" dirty="0"/>
          </a:p>
          <a:p>
            <a:pPr algn="ctr" indent="0" marL="0">
              <a:lnSpc>
                <a:spcPct val="115000"/>
              </a:lnSpc>
              <a:buNone/>
            </a:pPr>
            <a:r>
              <a:rPr lang="en-US" sz="1050" dirty="0">
                <a:solidFill>
                  <a:srgbClr val="1A1A1A"/>
                </a:solidFill>
                <a:latin typeface="Cambria" pitchFamily="34" charset="0"/>
                <a:ea typeface="Cambria" pitchFamily="34" charset="-122"/>
                <a:cs typeface="Cambria" pitchFamily="34" charset="-120"/>
              </a:rPr>
              <a:t>đoán điểm</a:t>
            </a:r>
            <a:endParaRPr lang="en-US" sz="1050" dirty="0"/>
          </a:p>
          <a:p>
            <a:pPr algn="ctr" indent="0" marL="0">
              <a:lnSpc>
                <a:spcPct val="115000"/>
              </a:lnSpc>
              <a:buNone/>
            </a:pPr>
            <a:r>
              <a:rPr lang="en-US" sz="1050" dirty="0">
                <a:solidFill>
                  <a:srgbClr val="1A1A1A"/>
                </a:solidFill>
                <a:latin typeface="Cambria" pitchFamily="34" charset="0"/>
                <a:ea typeface="Cambria" pitchFamily="34" charset="-122"/>
                <a:cs typeface="Cambria" pitchFamily="34" charset="-120"/>
              </a:rPr>
              <a:t>cần chạm</a:t>
            </a:r>
            <a:endParaRPr lang="en-US" sz="1050" dirty="0"/>
          </a:p>
        </p:txBody>
      </p:sp>
      <p:sp>
        <p:nvSpPr>
          <p:cNvPr id="9" name="Shape 7"/>
          <p:cNvSpPr/>
          <p:nvPr/>
        </p:nvSpPr>
        <p:spPr>
          <a:xfrm>
            <a:off x="3639312" y="1325880"/>
            <a:ext cx="201168" cy="0"/>
          </a:xfrm>
          <a:prstGeom prst="line">
            <a:avLst/>
          </a:prstGeom>
          <a:noFill/>
          <a:ln w="25400">
            <a:solidFill>
              <a:srgbClr val="4F417A"/>
            </a:solidFill>
            <a:prstDash val="solid"/>
            <a:tailEnd type="triangle"/>
          </a:ln>
        </p:spPr>
      </p:sp>
      <p:sp>
        <p:nvSpPr>
          <p:cNvPr id="10" name="Shape 8"/>
          <p:cNvSpPr/>
          <p:nvPr/>
        </p:nvSpPr>
        <p:spPr>
          <a:xfrm>
            <a:off x="3858768" y="822960"/>
            <a:ext cx="1463040" cy="1005840"/>
          </a:xfrm>
          <a:prstGeom prst="roundRect">
            <a:avLst>
              <a:gd name="adj" fmla="val 5455"/>
            </a:avLst>
          </a:prstGeom>
          <a:solidFill>
            <a:srgbClr val="FFFFFF"/>
          </a:solidFill>
          <a:ln w="15240">
            <a:solidFill>
              <a:srgbClr val="6E6890"/>
            </a:solidFill>
            <a:prstDash val="solid"/>
          </a:ln>
        </p:spPr>
      </p:sp>
      <p:sp>
        <p:nvSpPr>
          <p:cNvPr id="11" name="Text 9"/>
          <p:cNvSpPr/>
          <p:nvPr/>
        </p:nvSpPr>
        <p:spPr>
          <a:xfrm>
            <a:off x="3858768" y="822960"/>
            <a:ext cx="1463040" cy="1005840"/>
          </a:xfrm>
          <a:prstGeom prst="rect">
            <a:avLst/>
          </a:prstGeom>
          <a:noFill/>
          <a:ln/>
        </p:spPr>
        <p:txBody>
          <a:bodyPr wrap="square" lIns="38100" tIns="38100" rIns="38100" bIns="38100" rtlCol="0" anchor="ctr"/>
          <a:lstStyle/>
          <a:p>
            <a:pPr algn="ctr" indent="0" marL="0">
              <a:lnSpc>
                <a:spcPct val="115000"/>
              </a:lnSpc>
              <a:buNone/>
            </a:pPr>
            <a:r>
              <a:rPr lang="en-US" sz="1050" dirty="0">
                <a:solidFill>
                  <a:srgbClr val="1A1A1A"/>
                </a:solidFill>
                <a:latin typeface="Cambria" pitchFamily="34" charset="0"/>
                <a:ea typeface="Cambria" pitchFamily="34" charset="-122"/>
                <a:cs typeface="Cambria" pitchFamily="34" charset="-120"/>
              </a:rPr>
              <a:t>cắt vùng</a:t>
            </a:r>
            <a:endParaRPr lang="en-US" sz="1050" dirty="0"/>
          </a:p>
          <a:p>
            <a:pPr algn="ctr" indent="0" marL="0">
              <a:lnSpc>
                <a:spcPct val="115000"/>
              </a:lnSpc>
              <a:buNone/>
            </a:pPr>
            <a:r>
              <a:rPr lang="en-US" sz="1050" dirty="0">
                <a:solidFill>
                  <a:srgbClr val="1A1A1A"/>
                </a:solidFill>
                <a:latin typeface="Cambria" pitchFamily="34" charset="0"/>
                <a:ea typeface="Cambria" pitchFamily="34" charset="-122"/>
                <a:cs typeface="Cambria" pitchFamily="34" charset="-120"/>
              </a:rPr>
              <a:t>40% bề ngang</a:t>
            </a:r>
            <a:endParaRPr lang="en-US" sz="1050" dirty="0"/>
          </a:p>
          <a:p>
            <a:pPr algn="ctr" indent="0" marL="0">
              <a:lnSpc>
                <a:spcPct val="115000"/>
              </a:lnSpc>
              <a:buNone/>
            </a:pPr>
            <a:r>
              <a:rPr lang="en-US" sz="1050" dirty="0">
                <a:solidFill>
                  <a:srgbClr val="1A1A1A"/>
                </a:solidFill>
                <a:latin typeface="Cambria" pitchFamily="34" charset="0"/>
                <a:ea typeface="Cambria" pitchFamily="34" charset="-122"/>
                <a:cs typeface="Cambria" pitchFamily="34" charset="-120"/>
              </a:rPr>
              <a:t>quanh điểm</a:t>
            </a:r>
            <a:endParaRPr lang="en-US" sz="1050" dirty="0"/>
          </a:p>
        </p:txBody>
      </p:sp>
      <p:sp>
        <p:nvSpPr>
          <p:cNvPr id="12" name="Shape 10"/>
          <p:cNvSpPr/>
          <p:nvPr/>
        </p:nvSpPr>
        <p:spPr>
          <a:xfrm>
            <a:off x="5340096" y="1325880"/>
            <a:ext cx="201168" cy="0"/>
          </a:xfrm>
          <a:prstGeom prst="line">
            <a:avLst/>
          </a:prstGeom>
          <a:noFill/>
          <a:ln w="25400">
            <a:solidFill>
              <a:srgbClr val="4F417A"/>
            </a:solidFill>
            <a:prstDash val="solid"/>
            <a:tailEnd type="triangle"/>
          </a:ln>
        </p:spPr>
      </p:sp>
      <p:sp>
        <p:nvSpPr>
          <p:cNvPr id="13" name="Shape 11"/>
          <p:cNvSpPr/>
          <p:nvPr/>
        </p:nvSpPr>
        <p:spPr>
          <a:xfrm>
            <a:off x="5559552" y="822960"/>
            <a:ext cx="1463040" cy="1005840"/>
          </a:xfrm>
          <a:prstGeom prst="roundRect">
            <a:avLst>
              <a:gd name="adj" fmla="val 5455"/>
            </a:avLst>
          </a:prstGeom>
          <a:solidFill>
            <a:srgbClr val="EEEAF6"/>
          </a:solidFill>
          <a:ln w="15240">
            <a:solidFill>
              <a:srgbClr val="322164"/>
            </a:solidFill>
            <a:prstDash val="solid"/>
          </a:ln>
        </p:spPr>
      </p:sp>
      <p:sp>
        <p:nvSpPr>
          <p:cNvPr id="14" name="Text 12"/>
          <p:cNvSpPr/>
          <p:nvPr/>
        </p:nvSpPr>
        <p:spPr>
          <a:xfrm>
            <a:off x="5559552" y="822960"/>
            <a:ext cx="1463040" cy="1005840"/>
          </a:xfrm>
          <a:prstGeom prst="rect">
            <a:avLst/>
          </a:prstGeom>
          <a:noFill/>
          <a:ln/>
        </p:spPr>
        <p:txBody>
          <a:bodyPr wrap="square" lIns="38100" tIns="38100" rIns="38100" bIns="38100" rtlCol="0" anchor="ctr"/>
          <a:lstStyle/>
          <a:p>
            <a:pPr algn="ctr" indent="0" marL="0">
              <a:lnSpc>
                <a:spcPct val="115000"/>
              </a:lnSpc>
              <a:buNone/>
            </a:pPr>
            <a:r>
              <a:rPr lang="en-US" sz="1050" dirty="0">
                <a:solidFill>
                  <a:srgbClr val="1A1A1A"/>
                </a:solidFill>
                <a:latin typeface="Cambria" pitchFamily="34" charset="0"/>
                <a:ea typeface="Cambria" pitchFamily="34" charset="-122"/>
                <a:cs typeface="Cambria" pitchFamily="34" charset="-120"/>
              </a:rPr>
              <a:t>bộ biên tập</a:t>
            </a:r>
            <a:endParaRPr lang="en-US" sz="1050" dirty="0"/>
          </a:p>
          <a:p>
            <a:pPr algn="ctr" indent="0" marL="0">
              <a:lnSpc>
                <a:spcPct val="115000"/>
              </a:lnSpc>
              <a:buNone/>
            </a:pPr>
            <a:r>
              <a:rPr lang="en-US" sz="1050" dirty="0">
                <a:solidFill>
                  <a:srgbClr val="1A1A1A"/>
                </a:solidFill>
                <a:latin typeface="Cambria" pitchFamily="34" charset="0"/>
                <a:ea typeface="Cambria" pitchFamily="34" charset="-122"/>
                <a:cs typeface="Cambria" pitchFamily="34" charset="-120"/>
              </a:rPr>
              <a:t>LoRA</a:t>
            </a:r>
            <a:endParaRPr lang="en-US" sz="1050" dirty="0"/>
          </a:p>
          <a:p>
            <a:pPr algn="ctr" indent="0" marL="0">
              <a:lnSpc>
                <a:spcPct val="115000"/>
              </a:lnSpc>
              <a:buNone/>
            </a:pPr>
            <a:r>
              <a:rPr lang="en-US" sz="1050" dirty="0">
                <a:solidFill>
                  <a:srgbClr val="1A1A1A"/>
                </a:solidFill>
                <a:latin typeface="Cambria" pitchFamily="34" charset="0"/>
                <a:ea typeface="Cambria" pitchFamily="34" charset="-122"/>
                <a:cs typeface="Cambria" pitchFamily="34" charset="-120"/>
              </a:rPr>
              <a:t>viết lại câu</a:t>
            </a:r>
            <a:endParaRPr lang="en-US" sz="1050" dirty="0"/>
          </a:p>
        </p:txBody>
      </p:sp>
      <p:sp>
        <p:nvSpPr>
          <p:cNvPr id="15" name="Shape 13"/>
          <p:cNvSpPr/>
          <p:nvPr/>
        </p:nvSpPr>
        <p:spPr>
          <a:xfrm>
            <a:off x="7040880" y="1325880"/>
            <a:ext cx="201168" cy="0"/>
          </a:xfrm>
          <a:prstGeom prst="line">
            <a:avLst/>
          </a:prstGeom>
          <a:noFill/>
          <a:ln w="25400">
            <a:solidFill>
              <a:srgbClr val="4F417A"/>
            </a:solidFill>
            <a:prstDash val="solid"/>
            <a:tailEnd type="triangle"/>
          </a:ln>
        </p:spPr>
      </p:sp>
      <p:sp>
        <p:nvSpPr>
          <p:cNvPr id="16" name="Shape 14"/>
          <p:cNvSpPr/>
          <p:nvPr/>
        </p:nvSpPr>
        <p:spPr>
          <a:xfrm>
            <a:off x="7260336" y="822960"/>
            <a:ext cx="1463040" cy="1005840"/>
          </a:xfrm>
          <a:prstGeom prst="roundRect">
            <a:avLst>
              <a:gd name="adj" fmla="val 5455"/>
            </a:avLst>
          </a:prstGeom>
          <a:solidFill>
            <a:srgbClr val="FFFFFF"/>
          </a:solidFill>
          <a:ln w="15240">
            <a:solidFill>
              <a:srgbClr val="6E6890"/>
            </a:solidFill>
            <a:prstDash val="solid"/>
          </a:ln>
        </p:spPr>
      </p:sp>
      <p:sp>
        <p:nvSpPr>
          <p:cNvPr id="17" name="Text 15"/>
          <p:cNvSpPr/>
          <p:nvPr/>
        </p:nvSpPr>
        <p:spPr>
          <a:xfrm>
            <a:off x="7260336" y="822960"/>
            <a:ext cx="1463040" cy="1005840"/>
          </a:xfrm>
          <a:prstGeom prst="rect">
            <a:avLst/>
          </a:prstGeom>
          <a:noFill/>
          <a:ln/>
        </p:spPr>
        <p:txBody>
          <a:bodyPr wrap="square" lIns="38100" tIns="38100" rIns="38100" bIns="38100" rtlCol="0" anchor="ctr"/>
          <a:lstStyle/>
          <a:p>
            <a:pPr algn="ctr" indent="0" marL="0">
              <a:lnSpc>
                <a:spcPct val="115000"/>
              </a:lnSpc>
              <a:buNone/>
            </a:pPr>
            <a:r>
              <a:rPr lang="en-US" sz="1050" dirty="0">
                <a:solidFill>
                  <a:srgbClr val="1A1A1A"/>
                </a:solidFill>
                <a:latin typeface="Cambria" pitchFamily="34" charset="0"/>
                <a:ea typeface="Cambria" pitchFamily="34" charset="-122"/>
                <a:cs typeface="Cambria" pitchFamily="34" charset="-120"/>
              </a:rPr>
              <a:t>bộ chọn</a:t>
            </a:r>
            <a:endParaRPr lang="en-US" sz="1050" dirty="0"/>
          </a:p>
          <a:p>
            <a:pPr algn="ctr" indent="0" marL="0">
              <a:lnSpc>
                <a:spcPct val="115000"/>
              </a:lnSpc>
              <a:buNone/>
            </a:pPr>
            <a:r>
              <a:rPr lang="en-US" sz="1050" dirty="0">
                <a:solidFill>
                  <a:srgbClr val="1A1A1A"/>
                </a:solidFill>
                <a:latin typeface="Cambria" pitchFamily="34" charset="0"/>
                <a:ea typeface="Cambria" pitchFamily="34" charset="-122"/>
                <a:cs typeface="Cambria" pitchFamily="34" charset="-120"/>
              </a:rPr>
              <a:t>giữ câu nháp</a:t>
            </a:r>
            <a:endParaRPr lang="en-US" sz="1050" dirty="0"/>
          </a:p>
          <a:p>
            <a:pPr algn="ctr" indent="0" marL="0">
              <a:lnSpc>
                <a:spcPct val="115000"/>
              </a:lnSpc>
              <a:buNone/>
            </a:pPr>
            <a:r>
              <a:rPr lang="en-US" sz="1050" dirty="0">
                <a:solidFill>
                  <a:srgbClr val="1A1A1A"/>
                </a:solidFill>
                <a:latin typeface="Cambria" pitchFamily="34" charset="0"/>
                <a:ea typeface="Cambria" pitchFamily="34" charset="-122"/>
                <a:cs typeface="Cambria" pitchFamily="34" charset="-120"/>
              </a:rPr>
              <a:t>hay câu sửa</a:t>
            </a:r>
            <a:endParaRPr lang="en-US" sz="1050" dirty="0"/>
          </a:p>
        </p:txBody>
      </p:sp>
      <p:sp>
        <p:nvSpPr>
          <p:cNvPr id="18" name="Shape 16"/>
          <p:cNvSpPr/>
          <p:nvPr/>
        </p:nvSpPr>
        <p:spPr>
          <a:xfrm>
            <a:off x="457200" y="2148840"/>
            <a:ext cx="8229600" cy="365760"/>
          </a:xfrm>
          <a:prstGeom prst="rect">
            <a:avLst/>
          </a:prstGeom>
          <a:solidFill>
            <a:srgbClr val="322164"/>
          </a:solidFill>
          <a:ln/>
        </p:spPr>
      </p:sp>
      <p:sp>
        <p:nvSpPr>
          <p:cNvPr id="19" name="Text 17"/>
          <p:cNvSpPr/>
          <p:nvPr/>
        </p:nvSpPr>
        <p:spPr>
          <a:xfrm>
            <a:off x="457200" y="2148840"/>
            <a:ext cx="2743200" cy="365760"/>
          </a:xfrm>
          <a:prstGeom prst="rect">
            <a:avLst/>
          </a:prstGeom>
          <a:noFill/>
          <a:ln/>
        </p:spPr>
        <p:txBody>
          <a:bodyPr wrap="square" lIns="38100" tIns="38100" rIns="38100" bIns="38100" rtlCol="0" anchor="ctr"/>
          <a:lstStyle/>
          <a:p>
            <a:pPr algn="l" indent="0" marL="0">
              <a:buNone/>
            </a:pPr>
            <a:r>
              <a:rPr lang="en-US" sz="1150" b="1" dirty="0">
                <a:solidFill>
                  <a:srgbClr val="FFFFFF"/>
                </a:solidFill>
                <a:latin typeface="Cambria" pitchFamily="34" charset="0"/>
                <a:ea typeface="Cambria" pitchFamily="34" charset="-122"/>
                <a:cs typeface="Cambria" pitchFamily="34" charset="-120"/>
              </a:rPr>
              <a:t>Thước</a:t>
            </a:r>
            <a:endParaRPr lang="en-US" sz="1150" dirty="0"/>
          </a:p>
        </p:txBody>
      </p:sp>
      <p:sp>
        <p:nvSpPr>
          <p:cNvPr id="20" name="Text 18"/>
          <p:cNvSpPr/>
          <p:nvPr/>
        </p:nvSpPr>
        <p:spPr>
          <a:xfrm>
            <a:off x="3200400" y="2148840"/>
            <a:ext cx="1097280" cy="365760"/>
          </a:xfrm>
          <a:prstGeom prst="rect">
            <a:avLst/>
          </a:prstGeom>
          <a:noFill/>
          <a:ln/>
        </p:spPr>
        <p:txBody>
          <a:bodyPr wrap="square" lIns="38100" tIns="38100" rIns="38100" bIns="38100" rtlCol="0" anchor="ctr"/>
          <a:lstStyle/>
          <a:p>
            <a:pPr algn="ctr" indent="0" marL="0">
              <a:buNone/>
            </a:pPr>
            <a:r>
              <a:rPr lang="en-US" sz="1150" b="1" dirty="0">
                <a:solidFill>
                  <a:srgbClr val="FFFFFF"/>
                </a:solidFill>
                <a:latin typeface="Cambria" pitchFamily="34" charset="0"/>
                <a:ea typeface="Cambria" pitchFamily="34" charset="-122"/>
                <a:cs typeface="Cambria" pitchFamily="34" charset="-120"/>
              </a:rPr>
              <a:t>S1</a:t>
            </a:r>
            <a:endParaRPr lang="en-US" sz="1150" dirty="0"/>
          </a:p>
        </p:txBody>
      </p:sp>
      <p:sp>
        <p:nvSpPr>
          <p:cNvPr id="21" name="Text 19"/>
          <p:cNvSpPr/>
          <p:nvPr/>
        </p:nvSpPr>
        <p:spPr>
          <a:xfrm>
            <a:off x="4297680" y="2148840"/>
            <a:ext cx="1097280" cy="365760"/>
          </a:xfrm>
          <a:prstGeom prst="rect">
            <a:avLst/>
          </a:prstGeom>
          <a:noFill/>
          <a:ln/>
        </p:spPr>
        <p:txBody>
          <a:bodyPr wrap="square" lIns="38100" tIns="38100" rIns="38100" bIns="38100" rtlCol="0" anchor="ctr"/>
          <a:lstStyle/>
          <a:p>
            <a:pPr algn="ctr" indent="0" marL="0">
              <a:buNone/>
            </a:pPr>
            <a:r>
              <a:rPr lang="en-US" sz="1150" b="1" dirty="0">
                <a:solidFill>
                  <a:srgbClr val="FFFFFF"/>
                </a:solidFill>
                <a:latin typeface="Cambria" pitchFamily="34" charset="0"/>
                <a:ea typeface="Cambria" pitchFamily="34" charset="-122"/>
                <a:cs typeface="Cambria" pitchFamily="34" charset="-120"/>
              </a:rPr>
              <a:t>Câu nháp</a:t>
            </a:r>
            <a:endParaRPr lang="en-US" sz="1150" dirty="0"/>
          </a:p>
        </p:txBody>
      </p:sp>
      <p:sp>
        <p:nvSpPr>
          <p:cNvPr id="22" name="Text 20"/>
          <p:cNvSpPr/>
          <p:nvPr/>
        </p:nvSpPr>
        <p:spPr>
          <a:xfrm>
            <a:off x="5394960" y="2148840"/>
            <a:ext cx="1097280" cy="365760"/>
          </a:xfrm>
          <a:prstGeom prst="rect">
            <a:avLst/>
          </a:prstGeom>
          <a:noFill/>
          <a:ln/>
        </p:spPr>
        <p:txBody>
          <a:bodyPr wrap="square" lIns="38100" tIns="38100" rIns="38100" bIns="38100" rtlCol="0" anchor="ctr"/>
          <a:lstStyle/>
          <a:p>
            <a:pPr algn="ctr" indent="0" marL="0">
              <a:buNone/>
            </a:pPr>
            <a:r>
              <a:rPr lang="en-US" sz="1150" b="1" dirty="0">
                <a:solidFill>
                  <a:srgbClr val="FFFFFF"/>
                </a:solidFill>
                <a:latin typeface="Cambria" pitchFamily="34" charset="0"/>
                <a:ea typeface="Cambria" pitchFamily="34" charset="-122"/>
                <a:cs typeface="Cambria" pitchFamily="34" charset="-120"/>
              </a:rPr>
              <a:t>TAGE</a:t>
            </a:r>
            <a:endParaRPr lang="en-US" sz="1150" dirty="0"/>
          </a:p>
        </p:txBody>
      </p:sp>
      <p:sp>
        <p:nvSpPr>
          <p:cNvPr id="23" name="Text 21"/>
          <p:cNvSpPr/>
          <p:nvPr/>
        </p:nvSpPr>
        <p:spPr>
          <a:xfrm>
            <a:off x="6492240" y="2148840"/>
            <a:ext cx="2194560" cy="365760"/>
          </a:xfrm>
          <a:prstGeom prst="rect">
            <a:avLst/>
          </a:prstGeom>
          <a:noFill/>
          <a:ln/>
        </p:spPr>
        <p:txBody>
          <a:bodyPr wrap="square" lIns="38100" tIns="38100" rIns="38100" bIns="38100" rtlCol="0" anchor="ctr"/>
          <a:lstStyle/>
          <a:p>
            <a:pPr algn="ctr" indent="0" marL="0">
              <a:buNone/>
            </a:pPr>
            <a:r>
              <a:rPr lang="en-US" sz="1150" b="1" dirty="0">
                <a:solidFill>
                  <a:srgbClr val="FFFFFF"/>
                </a:solidFill>
                <a:latin typeface="Cambria" pitchFamily="34" charset="0"/>
                <a:ea typeface="Cambria" pitchFamily="34" charset="-122"/>
                <a:cs typeface="Cambria" pitchFamily="34" charset="-120"/>
              </a:rPr>
              <a:t>TAGE − câu nháp</a:t>
            </a:r>
            <a:endParaRPr lang="en-US" sz="1150" dirty="0"/>
          </a:p>
        </p:txBody>
      </p:sp>
      <p:sp>
        <p:nvSpPr>
          <p:cNvPr id="24" name="Text 22"/>
          <p:cNvSpPr/>
          <p:nvPr/>
        </p:nvSpPr>
        <p:spPr>
          <a:xfrm>
            <a:off x="457200" y="2514600"/>
            <a:ext cx="2743200" cy="347472"/>
          </a:xfrm>
          <a:prstGeom prst="rect">
            <a:avLst/>
          </a:prstGeom>
          <a:noFill/>
          <a:ln/>
        </p:spPr>
        <p:txBody>
          <a:bodyPr wrap="square" lIns="38100" tIns="38100" rIns="38100" bIns="38100" rtlCol="0" anchor="ctr"/>
          <a:lstStyle/>
          <a:p>
            <a:pPr algn="l" indent="0" marL="0">
              <a:buNone/>
            </a:pPr>
            <a:r>
              <a:rPr lang="en-US" sz="1150" dirty="0">
                <a:solidFill>
                  <a:srgbClr val="1A1A1A"/>
                </a:solidFill>
                <a:latin typeface="Cambria" pitchFamily="34" charset="0"/>
                <a:ea typeface="Cambria" pitchFamily="34" charset="-122"/>
                <a:cs typeface="Cambria" pitchFamily="34" charset="-120"/>
              </a:rPr>
              <a:t>Executability</a:t>
            </a:r>
            <a:endParaRPr lang="en-US" sz="1150" dirty="0"/>
          </a:p>
        </p:txBody>
      </p:sp>
      <p:sp>
        <p:nvSpPr>
          <p:cNvPr id="25" name="Text 23"/>
          <p:cNvSpPr/>
          <p:nvPr/>
        </p:nvSpPr>
        <p:spPr>
          <a:xfrm>
            <a:off x="3200400" y="2514600"/>
            <a:ext cx="1097280" cy="347472"/>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59,11</a:t>
            </a:r>
            <a:endParaRPr lang="en-US" sz="1150" dirty="0"/>
          </a:p>
        </p:txBody>
      </p:sp>
      <p:sp>
        <p:nvSpPr>
          <p:cNvPr id="26" name="Text 24"/>
          <p:cNvSpPr/>
          <p:nvPr/>
        </p:nvSpPr>
        <p:spPr>
          <a:xfrm>
            <a:off x="4297680" y="2514600"/>
            <a:ext cx="1097280" cy="347472"/>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60,65</a:t>
            </a:r>
            <a:endParaRPr lang="en-US" sz="1150" dirty="0"/>
          </a:p>
        </p:txBody>
      </p:sp>
      <p:sp>
        <p:nvSpPr>
          <p:cNvPr id="27" name="Text 25"/>
          <p:cNvSpPr/>
          <p:nvPr/>
        </p:nvSpPr>
        <p:spPr>
          <a:xfrm>
            <a:off x="5394960" y="2514600"/>
            <a:ext cx="1097280" cy="347472"/>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60,23</a:t>
            </a:r>
            <a:endParaRPr lang="en-US" sz="1150" dirty="0"/>
          </a:p>
        </p:txBody>
      </p:sp>
      <p:sp>
        <p:nvSpPr>
          <p:cNvPr id="28" name="Text 26"/>
          <p:cNvSpPr/>
          <p:nvPr/>
        </p:nvSpPr>
        <p:spPr>
          <a:xfrm>
            <a:off x="6492240" y="2514600"/>
            <a:ext cx="2194560" cy="347472"/>
          </a:xfrm>
          <a:prstGeom prst="rect">
            <a:avLst/>
          </a:prstGeom>
          <a:noFill/>
          <a:ln/>
        </p:spPr>
        <p:txBody>
          <a:bodyPr wrap="square" lIns="38100" tIns="38100" rIns="38100" bIns="38100" rtlCol="0" anchor="ctr"/>
          <a:lstStyle/>
          <a:p>
            <a:pPr algn="ctr" indent="0" marL="0">
              <a:buNone/>
            </a:pPr>
            <a:r>
              <a:rPr lang="en-US" sz="1150" dirty="0">
                <a:solidFill>
                  <a:srgbClr val="B22222"/>
                </a:solidFill>
                <a:latin typeface="Cambria" pitchFamily="34" charset="0"/>
                <a:ea typeface="Cambria" pitchFamily="34" charset="-122"/>
                <a:cs typeface="Cambria" pitchFamily="34" charset="-120"/>
              </a:rPr>
              <a:t>−0,43 [−0,87; +0,02]</a:t>
            </a:r>
            <a:endParaRPr lang="en-US" sz="1150" dirty="0"/>
          </a:p>
        </p:txBody>
      </p:sp>
      <p:sp>
        <p:nvSpPr>
          <p:cNvPr id="29" name="Shape 27"/>
          <p:cNvSpPr/>
          <p:nvPr/>
        </p:nvSpPr>
        <p:spPr>
          <a:xfrm>
            <a:off x="457200" y="2862072"/>
            <a:ext cx="8229600" cy="0"/>
          </a:xfrm>
          <a:prstGeom prst="line">
            <a:avLst/>
          </a:prstGeom>
          <a:noFill/>
          <a:ln w="12700">
            <a:solidFill>
              <a:srgbClr val="9A94AE"/>
            </a:solidFill>
            <a:prstDash val="solid"/>
          </a:ln>
        </p:spPr>
      </p:sp>
      <p:sp>
        <p:nvSpPr>
          <p:cNvPr id="30" name="Text 28"/>
          <p:cNvSpPr/>
          <p:nvPr/>
        </p:nvSpPr>
        <p:spPr>
          <a:xfrm>
            <a:off x="457200" y="2862072"/>
            <a:ext cx="2743200" cy="347472"/>
          </a:xfrm>
          <a:prstGeom prst="rect">
            <a:avLst/>
          </a:prstGeom>
          <a:noFill/>
          <a:ln/>
        </p:spPr>
        <p:txBody>
          <a:bodyPr wrap="square" lIns="38100" tIns="38100" rIns="38100" bIns="38100" rtlCol="0" anchor="ctr"/>
          <a:lstStyle/>
          <a:p>
            <a:pPr algn="l" indent="0" marL="0">
              <a:buNone/>
            </a:pPr>
            <a:r>
              <a:rPr lang="en-US" sz="1150" dirty="0">
                <a:solidFill>
                  <a:srgbClr val="1A1A1A"/>
                </a:solidFill>
                <a:latin typeface="Cambria" pitchFamily="34" charset="0"/>
                <a:ea typeface="Cambria" pitchFamily="34" charset="-122"/>
                <a:cs typeface="Cambria" pitchFamily="34" charset="-120"/>
              </a:rPr>
              <a:t>Hộp phần tử (D.3)</a:t>
            </a:r>
            <a:endParaRPr lang="en-US" sz="1150" dirty="0"/>
          </a:p>
        </p:txBody>
      </p:sp>
      <p:sp>
        <p:nvSpPr>
          <p:cNvPr id="31" name="Text 29"/>
          <p:cNvSpPr/>
          <p:nvPr/>
        </p:nvSpPr>
        <p:spPr>
          <a:xfrm>
            <a:off x="3200400" y="2862072"/>
            <a:ext cx="1097280" cy="347472"/>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65,49</a:t>
            </a:r>
            <a:endParaRPr lang="en-US" sz="1150" dirty="0"/>
          </a:p>
        </p:txBody>
      </p:sp>
      <p:sp>
        <p:nvSpPr>
          <p:cNvPr id="32" name="Text 30"/>
          <p:cNvSpPr/>
          <p:nvPr/>
        </p:nvSpPr>
        <p:spPr>
          <a:xfrm>
            <a:off x="4297680" y="2862072"/>
            <a:ext cx="1097280" cy="347472"/>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67,02</a:t>
            </a:r>
            <a:endParaRPr lang="en-US" sz="1150" dirty="0"/>
          </a:p>
        </p:txBody>
      </p:sp>
      <p:sp>
        <p:nvSpPr>
          <p:cNvPr id="33" name="Text 31"/>
          <p:cNvSpPr/>
          <p:nvPr/>
        </p:nvSpPr>
        <p:spPr>
          <a:xfrm>
            <a:off x="5394960" y="2862072"/>
            <a:ext cx="1097280" cy="347472"/>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66,44</a:t>
            </a:r>
            <a:endParaRPr lang="en-US" sz="1150" dirty="0"/>
          </a:p>
        </p:txBody>
      </p:sp>
      <p:sp>
        <p:nvSpPr>
          <p:cNvPr id="34" name="Text 32"/>
          <p:cNvSpPr/>
          <p:nvPr/>
        </p:nvSpPr>
        <p:spPr>
          <a:xfrm>
            <a:off x="6492240" y="2862072"/>
            <a:ext cx="2194560" cy="347472"/>
          </a:xfrm>
          <a:prstGeom prst="rect">
            <a:avLst/>
          </a:prstGeom>
          <a:noFill/>
          <a:ln/>
        </p:spPr>
        <p:txBody>
          <a:bodyPr wrap="square" lIns="38100" tIns="38100" rIns="38100" bIns="38100" rtlCol="0" anchor="ctr"/>
          <a:lstStyle/>
          <a:p>
            <a:pPr algn="ctr" indent="0" marL="0">
              <a:buNone/>
            </a:pPr>
            <a:r>
              <a:rPr lang="en-US" sz="1150" dirty="0">
                <a:solidFill>
                  <a:srgbClr val="B22222"/>
                </a:solidFill>
                <a:latin typeface="Cambria" pitchFamily="34" charset="0"/>
                <a:ea typeface="Cambria" pitchFamily="34" charset="-122"/>
                <a:cs typeface="Cambria" pitchFamily="34" charset="-120"/>
              </a:rPr>
              <a:t>−0,58 [−1,07; −0,09]</a:t>
            </a:r>
            <a:endParaRPr lang="en-US" sz="1150" dirty="0"/>
          </a:p>
        </p:txBody>
      </p:sp>
      <p:sp>
        <p:nvSpPr>
          <p:cNvPr id="35" name="Shape 33"/>
          <p:cNvSpPr/>
          <p:nvPr/>
        </p:nvSpPr>
        <p:spPr>
          <a:xfrm>
            <a:off x="457200" y="3209544"/>
            <a:ext cx="8229600" cy="0"/>
          </a:xfrm>
          <a:prstGeom prst="line">
            <a:avLst/>
          </a:prstGeom>
          <a:noFill/>
          <a:ln w="12700">
            <a:solidFill>
              <a:srgbClr val="9A94AE"/>
            </a:solidFill>
            <a:prstDash val="solid"/>
          </a:ln>
        </p:spPr>
      </p:sp>
      <p:sp>
        <p:nvSpPr>
          <p:cNvPr id="36" name="Text 34"/>
          <p:cNvSpPr/>
          <p:nvPr/>
        </p:nvSpPr>
        <p:spPr>
          <a:xfrm>
            <a:off x="457200" y="3209544"/>
            <a:ext cx="2743200" cy="347472"/>
          </a:xfrm>
          <a:prstGeom prst="rect">
            <a:avLst/>
          </a:prstGeom>
          <a:noFill/>
          <a:ln/>
        </p:spPr>
        <p:txBody>
          <a:bodyPr wrap="square" lIns="38100" tIns="38100" rIns="38100" bIns="38100" rtlCol="0" anchor="ctr"/>
          <a:lstStyle/>
          <a:p>
            <a:pPr algn="l" indent="0" marL="0">
              <a:buNone/>
            </a:pPr>
            <a:r>
              <a:rPr lang="en-US" sz="1150" dirty="0">
                <a:solidFill>
                  <a:srgbClr val="1A1A1A"/>
                </a:solidFill>
                <a:latin typeface="Cambria" pitchFamily="34" charset="0"/>
                <a:ea typeface="Cambria" pitchFamily="34" charset="-122"/>
                <a:cs typeface="Cambria" pitchFamily="34" charset="-120"/>
              </a:rPr>
              <a:t>Đúng loại thao tác</a:t>
            </a:r>
            <a:endParaRPr lang="en-US" sz="1150" dirty="0"/>
          </a:p>
        </p:txBody>
      </p:sp>
      <p:sp>
        <p:nvSpPr>
          <p:cNvPr id="37" name="Text 35"/>
          <p:cNvSpPr/>
          <p:nvPr/>
        </p:nvSpPr>
        <p:spPr>
          <a:xfrm>
            <a:off x="3200400" y="3209544"/>
            <a:ext cx="1097280" cy="347472"/>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94,35</a:t>
            </a:r>
            <a:endParaRPr lang="en-US" sz="1150" dirty="0"/>
          </a:p>
        </p:txBody>
      </p:sp>
      <p:sp>
        <p:nvSpPr>
          <p:cNvPr id="38" name="Text 36"/>
          <p:cNvSpPr/>
          <p:nvPr/>
        </p:nvSpPr>
        <p:spPr>
          <a:xfrm>
            <a:off x="4297680" y="3209544"/>
            <a:ext cx="1097280" cy="347472"/>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95,97</a:t>
            </a:r>
            <a:endParaRPr lang="en-US" sz="1150" dirty="0"/>
          </a:p>
        </p:txBody>
      </p:sp>
      <p:sp>
        <p:nvSpPr>
          <p:cNvPr id="39" name="Text 37"/>
          <p:cNvSpPr/>
          <p:nvPr/>
        </p:nvSpPr>
        <p:spPr>
          <a:xfrm>
            <a:off x="5394960" y="3209544"/>
            <a:ext cx="1097280" cy="347472"/>
          </a:xfrm>
          <a:prstGeom prst="rect">
            <a:avLst/>
          </a:prstGeom>
          <a:noFill/>
          <a:ln/>
        </p:spPr>
        <p:txBody>
          <a:bodyPr wrap="square" lIns="38100" tIns="38100" rIns="38100" bIns="38100" rtlCol="0" anchor="ctr"/>
          <a:lstStyle/>
          <a:p>
            <a:pPr algn="ctr" indent="0" marL="0">
              <a:buNone/>
            </a:pPr>
            <a:r>
              <a:rPr lang="en-US" sz="1150" dirty="0">
                <a:solidFill>
                  <a:srgbClr val="1A1A1A"/>
                </a:solidFill>
                <a:latin typeface="Cambria" pitchFamily="34" charset="0"/>
                <a:ea typeface="Cambria" pitchFamily="34" charset="-122"/>
                <a:cs typeface="Cambria" pitchFamily="34" charset="-120"/>
              </a:rPr>
              <a:t>96,64</a:t>
            </a:r>
            <a:endParaRPr lang="en-US" sz="1150" dirty="0"/>
          </a:p>
        </p:txBody>
      </p:sp>
      <p:sp>
        <p:nvSpPr>
          <p:cNvPr id="40" name="Text 38"/>
          <p:cNvSpPr/>
          <p:nvPr/>
        </p:nvSpPr>
        <p:spPr>
          <a:xfrm>
            <a:off x="6492240" y="3209544"/>
            <a:ext cx="2194560" cy="347472"/>
          </a:xfrm>
          <a:prstGeom prst="rect">
            <a:avLst/>
          </a:prstGeom>
          <a:noFill/>
          <a:ln/>
        </p:spPr>
        <p:txBody>
          <a:bodyPr wrap="square" lIns="38100" tIns="38100" rIns="38100" bIns="38100" rtlCol="0" anchor="ctr"/>
          <a:lstStyle/>
          <a:p>
            <a:pPr algn="ctr" indent="0" marL="0">
              <a:buNone/>
            </a:pPr>
            <a:r>
              <a:rPr lang="en-US" sz="1150" dirty="0">
                <a:solidFill>
                  <a:srgbClr val="1B8A5A"/>
                </a:solidFill>
                <a:latin typeface="Cambria" pitchFamily="34" charset="0"/>
                <a:ea typeface="Cambria" pitchFamily="34" charset="-122"/>
                <a:cs typeface="Cambria" pitchFamily="34" charset="-120"/>
              </a:rPr>
              <a:t>+0,67 [+0,44; +0,92]</a:t>
            </a:r>
            <a:endParaRPr lang="en-US" sz="1150" dirty="0"/>
          </a:p>
        </p:txBody>
      </p:sp>
      <p:sp>
        <p:nvSpPr>
          <p:cNvPr id="41" name="Shape 39"/>
          <p:cNvSpPr/>
          <p:nvPr/>
        </p:nvSpPr>
        <p:spPr>
          <a:xfrm>
            <a:off x="457200" y="3794760"/>
            <a:ext cx="8229600" cy="2514600"/>
          </a:xfrm>
          <a:prstGeom prst="roundRect">
            <a:avLst>
              <a:gd name="adj" fmla="val 2182"/>
            </a:avLst>
          </a:prstGeom>
          <a:solidFill>
            <a:srgbClr val="E9E8EC"/>
          </a:solidFill>
          <a:ln/>
          <a:effectLst>
            <a:outerShdw sx="100000" sy="100000" kx="0" ky="0" algn="bl" rotWithShape="0" blurRad="63500" dist="31750" dir="2700000">
              <a:srgbClr val="8C8C99">
                <a:alpha val="45000"/>
              </a:srgbClr>
            </a:outerShdw>
          </a:effectLst>
        </p:spPr>
      </p:sp>
      <p:sp>
        <p:nvSpPr>
          <p:cNvPr id="42" name="Text 40"/>
          <p:cNvSpPr/>
          <p:nvPr/>
        </p:nvSpPr>
        <p:spPr>
          <a:xfrm>
            <a:off x="640080" y="3904488"/>
            <a:ext cx="201168" cy="731520"/>
          </a:xfrm>
          <a:prstGeom prst="rect">
            <a:avLst/>
          </a:prstGeom>
          <a:noFill/>
          <a:ln/>
        </p:spPr>
        <p:txBody>
          <a:bodyPr wrap="square" lIns="0" tIns="0" rIns="0" bIns="0" rtlCol="0" anchor="t"/>
          <a:lstStyle/>
          <a:p>
            <a:pPr algn="l" indent="0" marL="0">
              <a:buNone/>
            </a:pPr>
            <a:r>
              <a:rPr lang="en-US" sz="1200" b="1" dirty="0">
                <a:solidFill>
                  <a:srgbClr val="006666"/>
                </a:solidFill>
                <a:latin typeface="Cambria" pitchFamily="34" charset="0"/>
                <a:ea typeface="Cambria" pitchFamily="34" charset="-122"/>
                <a:cs typeface="Cambria" pitchFamily="34" charset="-120"/>
              </a:rPr>
              <a:t>•</a:t>
            </a:r>
            <a:endParaRPr lang="en-US" sz="1200" dirty="0"/>
          </a:p>
        </p:txBody>
      </p:sp>
      <p:sp>
        <p:nvSpPr>
          <p:cNvPr id="43" name="Text 41"/>
          <p:cNvSpPr/>
          <p:nvPr/>
        </p:nvSpPr>
        <p:spPr>
          <a:xfrm>
            <a:off x="868680" y="3904488"/>
            <a:ext cx="7635240" cy="713232"/>
          </a:xfrm>
          <a:prstGeom prst="rect">
            <a:avLst/>
          </a:prstGeom>
          <a:noFill/>
          <a:ln/>
        </p:spPr>
        <p:txBody>
          <a:bodyPr wrap="square" lIns="0" tIns="0" rIns="0" bIns="0" rtlCol="0" anchor="t"/>
          <a:lstStyle/>
          <a:p>
            <a:pPr algn="l" indent="0" marL="0">
              <a:lnSpc>
                <a:spcPct val="125000"/>
              </a:lnSpc>
              <a:buNone/>
            </a:pPr>
            <a:r>
              <a:rPr lang="en-US" sz="1200" dirty="0">
                <a:solidFill>
                  <a:srgbClr val="1A1A1A"/>
                </a:solidFill>
                <a:latin typeface="Cambria" pitchFamily="34" charset="0"/>
                <a:ea typeface="Cambria" pitchFamily="34" charset="-122"/>
                <a:cs typeface="Cambria" pitchFamily="34" charset="-120"/>
              </a:rPr>
              <a:t>Trên tập kiểm định, bộ biên tập đọc vùng cắt thật: vùng cắt đúng chỗ nâng câu rõ rệt, vùng cắt lệch sang phần tử lân cận làm câu kém đi.</a:t>
            </a:r>
            <a:endParaRPr lang="en-US" sz="1200" dirty="0"/>
          </a:p>
        </p:txBody>
      </p:sp>
      <p:sp>
        <p:nvSpPr>
          <p:cNvPr id="44" name="Text 42"/>
          <p:cNvSpPr/>
          <p:nvPr/>
        </p:nvSpPr>
        <p:spPr>
          <a:xfrm>
            <a:off x="640080" y="4636008"/>
            <a:ext cx="201168" cy="731520"/>
          </a:xfrm>
          <a:prstGeom prst="rect">
            <a:avLst/>
          </a:prstGeom>
          <a:noFill/>
          <a:ln/>
        </p:spPr>
        <p:txBody>
          <a:bodyPr wrap="square" lIns="0" tIns="0" rIns="0" bIns="0" rtlCol="0" anchor="t"/>
          <a:lstStyle/>
          <a:p>
            <a:pPr algn="l" indent="0" marL="0">
              <a:buNone/>
            </a:pPr>
            <a:r>
              <a:rPr lang="en-US" sz="1200" b="1" dirty="0">
                <a:solidFill>
                  <a:srgbClr val="006666"/>
                </a:solidFill>
                <a:latin typeface="Cambria" pitchFamily="34" charset="0"/>
                <a:ea typeface="Cambria" pitchFamily="34" charset="-122"/>
                <a:cs typeface="Cambria" pitchFamily="34" charset="-120"/>
              </a:rPr>
              <a:t>•</a:t>
            </a:r>
            <a:endParaRPr lang="en-US" sz="1200" dirty="0"/>
          </a:p>
        </p:txBody>
      </p:sp>
      <p:sp>
        <p:nvSpPr>
          <p:cNvPr id="45" name="Text 43"/>
          <p:cNvSpPr/>
          <p:nvPr/>
        </p:nvSpPr>
        <p:spPr>
          <a:xfrm>
            <a:off x="868680" y="4636008"/>
            <a:ext cx="7635240" cy="713232"/>
          </a:xfrm>
          <a:prstGeom prst="rect">
            <a:avLst/>
          </a:prstGeom>
          <a:noFill/>
          <a:ln/>
        </p:spPr>
        <p:txBody>
          <a:bodyPr wrap="square" lIns="0" tIns="0" rIns="0" bIns="0" rtlCol="0" anchor="t"/>
          <a:lstStyle/>
          <a:p>
            <a:pPr algn="l" indent="0" marL="0">
              <a:lnSpc>
                <a:spcPct val="125000"/>
              </a:lnSpc>
              <a:buNone/>
            </a:pPr>
            <a:r>
              <a:rPr lang="en-US" sz="1200" dirty="0">
                <a:solidFill>
                  <a:srgbClr val="1A1A1A"/>
                </a:solidFill>
                <a:latin typeface="Cambria" pitchFamily="34" charset="0"/>
                <a:ea typeface="Cambria" pitchFamily="34" charset="-122"/>
                <a:cs typeface="Cambria" pitchFamily="34" charset="-120"/>
              </a:rPr>
              <a:t>Trên tập kiểm, bộ chọn dựa trên xác suất của chính bộ biên tập nhận câu sửa đúng ở những bước vùng cắt sai: chỉ 36,5% vùng cắt đúng chỗ trong nhóm được nhận, so với 67,7% đến 74,0% ở các nhóm không được nhận.</a:t>
            </a:r>
            <a:endParaRPr lang="en-US" sz="1200" dirty="0"/>
          </a:p>
        </p:txBody>
      </p:sp>
      <p:sp>
        <p:nvSpPr>
          <p:cNvPr id="46" name="Text 44"/>
          <p:cNvSpPr/>
          <p:nvPr/>
        </p:nvSpPr>
        <p:spPr>
          <a:xfrm>
            <a:off x="640080" y="5367528"/>
            <a:ext cx="201168" cy="731520"/>
          </a:xfrm>
          <a:prstGeom prst="rect">
            <a:avLst/>
          </a:prstGeom>
          <a:noFill/>
          <a:ln/>
        </p:spPr>
        <p:txBody>
          <a:bodyPr wrap="square" lIns="0" tIns="0" rIns="0" bIns="0" rtlCol="0" anchor="t"/>
          <a:lstStyle/>
          <a:p>
            <a:pPr algn="l" indent="0" marL="0">
              <a:buNone/>
            </a:pPr>
            <a:r>
              <a:rPr lang="en-US" sz="1200" b="1" dirty="0">
                <a:solidFill>
                  <a:srgbClr val="006666"/>
                </a:solidFill>
                <a:latin typeface="Cambria" pitchFamily="34" charset="0"/>
                <a:ea typeface="Cambria" pitchFamily="34" charset="-122"/>
                <a:cs typeface="Cambria" pitchFamily="34" charset="-120"/>
              </a:rPr>
              <a:t>•</a:t>
            </a:r>
            <a:endParaRPr lang="en-US" sz="1200" dirty="0"/>
          </a:p>
        </p:txBody>
      </p:sp>
      <p:sp>
        <p:nvSpPr>
          <p:cNvPr id="47" name="Text 45"/>
          <p:cNvSpPr/>
          <p:nvPr/>
        </p:nvSpPr>
        <p:spPr>
          <a:xfrm>
            <a:off x="868680" y="5367528"/>
            <a:ext cx="7635240" cy="713232"/>
          </a:xfrm>
          <a:prstGeom prst="rect">
            <a:avLst/>
          </a:prstGeom>
          <a:noFill/>
          <a:ln/>
        </p:spPr>
        <p:txBody>
          <a:bodyPr wrap="square" lIns="0" tIns="0" rIns="0" bIns="0" rtlCol="0" anchor="t"/>
          <a:lstStyle/>
          <a:p>
            <a:pPr algn="l" indent="0" marL="0">
              <a:lnSpc>
                <a:spcPct val="125000"/>
              </a:lnSpc>
              <a:buNone/>
            </a:pPr>
            <a:r>
              <a:rPr lang="en-US" sz="1200" dirty="0">
                <a:solidFill>
                  <a:srgbClr val="1A1A1A"/>
                </a:solidFill>
                <a:latin typeface="Cambria" pitchFamily="34" charset="0"/>
                <a:ea typeface="Cambria" pitchFamily="34" charset="-122"/>
                <a:cs typeface="Cambria" pitchFamily="34" charset="-120"/>
              </a:rPr>
              <a:t>Hướng tiếp theo là một bộ chọn độc lập với vùng cắt.</a:t>
            </a:r>
            <a:endParaRPr lang="en-US" sz="1200" dirty="0"/>
          </a:p>
        </p:txBody>
      </p:sp>
      <p:sp>
        <p:nvSpPr>
          <p:cNvPr id="49" name="Shape 46"/>
          <p:cNvSpPr/>
          <p:nvPr/>
        </p:nvSpPr>
        <p:spPr>
          <a:xfrm>
            <a:off x="0" y="6620256"/>
            <a:ext cx="2743200" cy="237744"/>
          </a:xfrm>
          <a:prstGeom prst="rect">
            <a:avLst/>
          </a:prstGeom>
          <a:solidFill>
            <a:srgbClr val="191132"/>
          </a:solidFill>
          <a:ln/>
        </p:spPr>
      </p:sp>
      <p:sp>
        <p:nvSpPr>
          <p:cNvPr id="50" name="Shape 47"/>
          <p:cNvSpPr/>
          <p:nvPr/>
        </p:nvSpPr>
        <p:spPr>
          <a:xfrm>
            <a:off x="2743200" y="6620256"/>
            <a:ext cx="3383280" cy="237744"/>
          </a:xfrm>
          <a:prstGeom prst="rect">
            <a:avLst/>
          </a:prstGeom>
          <a:solidFill>
            <a:srgbClr val="25194B"/>
          </a:solidFill>
          <a:ln/>
        </p:spPr>
      </p:sp>
      <p:sp>
        <p:nvSpPr>
          <p:cNvPr id="51" name="Shape 48"/>
          <p:cNvSpPr/>
          <p:nvPr/>
        </p:nvSpPr>
        <p:spPr>
          <a:xfrm>
            <a:off x="6126480" y="6620256"/>
            <a:ext cx="1737360" cy="237744"/>
          </a:xfrm>
          <a:prstGeom prst="rect">
            <a:avLst/>
          </a:prstGeom>
          <a:solidFill>
            <a:srgbClr val="4F417A"/>
          </a:solidFill>
          <a:ln/>
        </p:spPr>
      </p:sp>
      <p:sp>
        <p:nvSpPr>
          <p:cNvPr id="52" name="Shape 49"/>
          <p:cNvSpPr/>
          <p:nvPr/>
        </p:nvSpPr>
        <p:spPr>
          <a:xfrm>
            <a:off x="7863840" y="6620256"/>
            <a:ext cx="1280160" cy="237744"/>
          </a:xfrm>
          <a:prstGeom prst="rect">
            <a:avLst/>
          </a:prstGeom>
          <a:solidFill>
            <a:srgbClr val="7A7099"/>
          </a:solidFill>
          <a:ln/>
        </p:spPr>
      </p:sp>
      <p:sp>
        <p:nvSpPr>
          <p:cNvPr id="53" name="Text 50"/>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Luận văn thạc sĩ</a:t>
            </a:r>
            <a:endParaRPr lang="en-US" sz="800" dirty="0"/>
          </a:p>
        </p:txBody>
      </p:sp>
      <p:sp>
        <p:nvSpPr>
          <p:cNvPr id="54" name="Text 51"/>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Phát sinh tự động hướng dẫn sử dụng phần mềm dựa trên LLM</a:t>
            </a:r>
            <a:endParaRPr lang="en-US" sz="800" dirty="0"/>
          </a:p>
        </p:txBody>
      </p:sp>
      <p:sp>
        <p:nvSpPr>
          <p:cNvPr id="55" name="Text 52"/>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56" name="Text 53"/>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20/24</a:t>
            </a:r>
            <a:endParaRPr lang="en-US"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Đóng góp của luận văn</a:t>
            </a:r>
            <a:endParaRPr lang="en-US" sz="1900" dirty="0"/>
          </a:p>
        </p:txBody>
      </p:sp>
      <p:sp>
        <p:nvSpPr>
          <p:cNvPr id="4" name="Shape 2"/>
          <p:cNvSpPr/>
          <p:nvPr/>
        </p:nvSpPr>
        <p:spPr>
          <a:xfrm>
            <a:off x="457200" y="777240"/>
            <a:ext cx="8229600" cy="1645920"/>
          </a:xfrm>
          <a:prstGeom prst="roundRect">
            <a:avLst>
              <a:gd name="adj" fmla="val 3333"/>
            </a:avLst>
          </a:prstGeom>
          <a:solidFill>
            <a:srgbClr val="E9E8EC"/>
          </a:solidFill>
          <a:ln/>
          <a:effectLst>
            <a:outerShdw sx="100000" sy="100000" kx="0" ky="0" algn="bl" rotWithShape="0" blurRad="63500" dist="31750" dir="2700000">
              <a:srgbClr val="8C8C99">
                <a:alpha val="45000"/>
              </a:srgbClr>
            </a:outerShdw>
          </a:effectLst>
        </p:spPr>
      </p:sp>
      <p:sp>
        <p:nvSpPr>
          <p:cNvPr id="5" name="Shape 3"/>
          <p:cNvSpPr/>
          <p:nvPr/>
        </p:nvSpPr>
        <p:spPr>
          <a:xfrm>
            <a:off x="457200" y="777240"/>
            <a:ext cx="594360" cy="1645920"/>
          </a:xfrm>
          <a:prstGeom prst="roundRect">
            <a:avLst>
              <a:gd name="adj" fmla="val 9231"/>
            </a:avLst>
          </a:prstGeom>
          <a:solidFill>
            <a:srgbClr val="322164"/>
          </a:solidFill>
          <a:ln/>
        </p:spPr>
      </p:sp>
      <p:sp>
        <p:nvSpPr>
          <p:cNvPr id="6" name="Text 4"/>
          <p:cNvSpPr/>
          <p:nvPr/>
        </p:nvSpPr>
        <p:spPr>
          <a:xfrm>
            <a:off x="457200" y="777240"/>
            <a:ext cx="594360" cy="164592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1</a:t>
            </a:r>
            <a:endParaRPr lang="en-US" sz="2400" dirty="0"/>
          </a:p>
        </p:txBody>
      </p:sp>
      <p:sp>
        <p:nvSpPr>
          <p:cNvPr id="7" name="Text 5"/>
          <p:cNvSpPr/>
          <p:nvPr/>
        </p:nvSpPr>
        <p:spPr>
          <a:xfrm>
            <a:off x="1234440" y="868680"/>
            <a:ext cx="7223760" cy="320040"/>
          </a:xfrm>
          <a:prstGeom prst="rect">
            <a:avLst/>
          </a:prstGeom>
          <a:noFill/>
          <a:ln/>
        </p:spPr>
        <p:txBody>
          <a:bodyPr wrap="square" lIns="0" tIns="0" rIns="0" bIns="0" rtlCol="0" anchor="t"/>
          <a:lstStyle/>
          <a:p>
            <a:pPr algn="l" indent="0" marL="0">
              <a:buNone/>
            </a:pPr>
            <a:r>
              <a:rPr lang="en-US" sz="1400" b="1" dirty="0">
                <a:solidFill>
                  <a:srgbClr val="322164"/>
                </a:solidFill>
                <a:latin typeface="Cambria" pitchFamily="34" charset="0"/>
                <a:ea typeface="Cambria" pitchFamily="34" charset="-122"/>
                <a:cs typeface="Cambria" pitchFamily="34" charset="-120"/>
              </a:rPr>
              <a:t>Thước đo</a:t>
            </a:r>
            <a:endParaRPr lang="en-US" sz="1400" dirty="0"/>
          </a:p>
        </p:txBody>
      </p:sp>
      <p:sp>
        <p:nvSpPr>
          <p:cNvPr id="8" name="Text 6"/>
          <p:cNvSpPr/>
          <p:nvPr/>
        </p:nvSpPr>
        <p:spPr>
          <a:xfrm>
            <a:off x="1234440" y="1216152"/>
            <a:ext cx="7315200" cy="1143000"/>
          </a:xfrm>
          <a:prstGeom prst="rect">
            <a:avLst/>
          </a:prstGeom>
          <a:noFill/>
          <a:ln/>
        </p:spPr>
        <p:txBody>
          <a:bodyPr wrap="square" lIns="0" tIns="0" rIns="0" bIns="0" rtlCol="0" anchor="t"/>
          <a:lstStyle/>
          <a:p>
            <a:pPr algn="l" indent="0" marL="0">
              <a:lnSpc>
                <a:spcPct val="120000"/>
              </a:lnSpc>
              <a:buNone/>
            </a:pPr>
            <a:r>
              <a:rPr lang="en-US" sz="1200" dirty="0">
                <a:solidFill>
                  <a:srgbClr val="1A1A1A"/>
                </a:solidFill>
                <a:latin typeface="Cambria" pitchFamily="34" charset="0"/>
                <a:ea typeface="Cambria" pitchFamily="34" charset="-122"/>
                <a:cs typeface="Cambria" pitchFamily="34" charset="-120"/>
              </a:rPr>
              <a:t>Executability: chấm câu bằng một người nghe độc lập, không cần câu chuẩn làm đáp án. Sai số dụng cụ, trần 75,7 và sàn 12,0 / 6,1 đều được đo trực tiếp; thứ tự các hệ thống giữ nguyên qua năm luật, một mô hình định vị thứ hai và một người nghe ngoài họ Qwen.</a:t>
            </a:r>
            <a:endParaRPr lang="en-US" sz="1200" dirty="0"/>
          </a:p>
        </p:txBody>
      </p:sp>
      <p:sp>
        <p:nvSpPr>
          <p:cNvPr id="9" name="Shape 7"/>
          <p:cNvSpPr/>
          <p:nvPr/>
        </p:nvSpPr>
        <p:spPr>
          <a:xfrm>
            <a:off x="457200" y="2606040"/>
            <a:ext cx="8229600" cy="1645920"/>
          </a:xfrm>
          <a:prstGeom prst="roundRect">
            <a:avLst>
              <a:gd name="adj" fmla="val 3333"/>
            </a:avLst>
          </a:prstGeom>
          <a:solidFill>
            <a:srgbClr val="E9E8EC"/>
          </a:solidFill>
          <a:ln/>
          <a:effectLst>
            <a:outerShdw sx="100000" sy="100000" kx="0" ky="0" algn="bl" rotWithShape="0" blurRad="63500" dist="31750" dir="2700000">
              <a:srgbClr val="8C8C99">
                <a:alpha val="45000"/>
              </a:srgbClr>
            </a:outerShdw>
          </a:effectLst>
        </p:spPr>
      </p:sp>
      <p:sp>
        <p:nvSpPr>
          <p:cNvPr id="10" name="Shape 8"/>
          <p:cNvSpPr/>
          <p:nvPr/>
        </p:nvSpPr>
        <p:spPr>
          <a:xfrm>
            <a:off x="457200" y="2606040"/>
            <a:ext cx="594360" cy="1645920"/>
          </a:xfrm>
          <a:prstGeom prst="roundRect">
            <a:avLst>
              <a:gd name="adj" fmla="val 9231"/>
            </a:avLst>
          </a:prstGeom>
          <a:solidFill>
            <a:srgbClr val="322164"/>
          </a:solidFill>
          <a:ln/>
        </p:spPr>
      </p:sp>
      <p:sp>
        <p:nvSpPr>
          <p:cNvPr id="11" name="Text 9"/>
          <p:cNvSpPr/>
          <p:nvPr/>
        </p:nvSpPr>
        <p:spPr>
          <a:xfrm>
            <a:off x="457200" y="2606040"/>
            <a:ext cx="594360" cy="164592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2</a:t>
            </a:r>
            <a:endParaRPr lang="en-US" sz="2400" dirty="0"/>
          </a:p>
        </p:txBody>
      </p:sp>
      <p:sp>
        <p:nvSpPr>
          <p:cNvPr id="12" name="Text 10"/>
          <p:cNvSpPr/>
          <p:nvPr/>
        </p:nvSpPr>
        <p:spPr>
          <a:xfrm>
            <a:off x="1234440" y="2697480"/>
            <a:ext cx="7223760" cy="320040"/>
          </a:xfrm>
          <a:prstGeom prst="rect">
            <a:avLst/>
          </a:prstGeom>
          <a:noFill/>
          <a:ln/>
        </p:spPr>
        <p:txBody>
          <a:bodyPr wrap="square" lIns="0" tIns="0" rIns="0" bIns="0" rtlCol="0" anchor="t"/>
          <a:lstStyle/>
          <a:p>
            <a:pPr algn="l" indent="0" marL="0">
              <a:buNone/>
            </a:pPr>
            <a:r>
              <a:rPr lang="en-US" sz="1400" b="1" dirty="0">
                <a:solidFill>
                  <a:srgbClr val="322164"/>
                </a:solidFill>
                <a:latin typeface="Cambria" pitchFamily="34" charset="0"/>
                <a:ea typeface="Cambria" pitchFamily="34" charset="-122"/>
                <a:cs typeface="Cambria" pitchFamily="34" charset="-120"/>
              </a:rPr>
              <a:t>Dữ liệu và phương pháp</a:t>
            </a:r>
            <a:endParaRPr lang="en-US" sz="1400" dirty="0"/>
          </a:p>
        </p:txBody>
      </p:sp>
      <p:sp>
        <p:nvSpPr>
          <p:cNvPr id="13" name="Text 11"/>
          <p:cNvSpPr/>
          <p:nvPr/>
        </p:nvSpPr>
        <p:spPr>
          <a:xfrm>
            <a:off x="1234440" y="3044952"/>
            <a:ext cx="7315200" cy="1143000"/>
          </a:xfrm>
          <a:prstGeom prst="rect">
            <a:avLst/>
          </a:prstGeom>
          <a:noFill/>
          <a:ln/>
        </p:spPr>
        <p:txBody>
          <a:bodyPr wrap="square" lIns="0" tIns="0" rIns="0" bIns="0" rtlCol="0" anchor="t"/>
          <a:lstStyle/>
          <a:p>
            <a:pPr algn="l" indent="0" marL="0">
              <a:lnSpc>
                <a:spcPct val="120000"/>
              </a:lnSpc>
              <a:buNone/>
            </a:pPr>
            <a:r>
              <a:rPr lang="en-US" sz="1200" dirty="0">
                <a:solidFill>
                  <a:srgbClr val="1A1A1A"/>
                </a:solidFill>
                <a:latin typeface="Cambria" pitchFamily="34" charset="0"/>
                <a:ea typeface="Cambria" pitchFamily="34" charset="-122"/>
                <a:cs typeface="Cambria" pitchFamily="34" charset="-120"/>
              </a:rPr>
              <a:t>Tập 64.567 bước dựng hoàn toàn tự động từ AndroidControl. Học tăng cường thưởng SPICE đưa executability từ 59,1 lên 60,6 (+1,55, p &lt; 0,001), tăng ở cả 13 thước, kèm tác dụng phụ ở bước cuộn đã đo.</a:t>
            </a:r>
            <a:endParaRPr lang="en-US" sz="1200" dirty="0"/>
          </a:p>
        </p:txBody>
      </p:sp>
      <p:sp>
        <p:nvSpPr>
          <p:cNvPr id="14" name="Shape 12"/>
          <p:cNvSpPr/>
          <p:nvPr/>
        </p:nvSpPr>
        <p:spPr>
          <a:xfrm>
            <a:off x="457200" y="4434840"/>
            <a:ext cx="8229600" cy="1645920"/>
          </a:xfrm>
          <a:prstGeom prst="roundRect">
            <a:avLst>
              <a:gd name="adj" fmla="val 3333"/>
            </a:avLst>
          </a:prstGeom>
          <a:solidFill>
            <a:srgbClr val="E9E8EC"/>
          </a:solidFill>
          <a:ln/>
          <a:effectLst>
            <a:outerShdw sx="100000" sy="100000" kx="0" ky="0" algn="bl" rotWithShape="0" blurRad="63500" dist="31750" dir="2700000">
              <a:srgbClr val="8C8C99">
                <a:alpha val="45000"/>
              </a:srgbClr>
            </a:outerShdw>
          </a:effectLst>
        </p:spPr>
      </p:sp>
      <p:sp>
        <p:nvSpPr>
          <p:cNvPr id="15" name="Shape 13"/>
          <p:cNvSpPr/>
          <p:nvPr/>
        </p:nvSpPr>
        <p:spPr>
          <a:xfrm>
            <a:off x="457200" y="4434840"/>
            <a:ext cx="594360" cy="1645920"/>
          </a:xfrm>
          <a:prstGeom prst="roundRect">
            <a:avLst>
              <a:gd name="adj" fmla="val 9231"/>
            </a:avLst>
          </a:prstGeom>
          <a:solidFill>
            <a:srgbClr val="322164"/>
          </a:solidFill>
          <a:ln/>
        </p:spPr>
      </p:sp>
      <p:sp>
        <p:nvSpPr>
          <p:cNvPr id="16" name="Text 14"/>
          <p:cNvSpPr/>
          <p:nvPr/>
        </p:nvSpPr>
        <p:spPr>
          <a:xfrm>
            <a:off x="457200" y="4434840"/>
            <a:ext cx="594360" cy="1645920"/>
          </a:xfrm>
          <a:prstGeom prst="rect">
            <a:avLst/>
          </a:prstGeom>
          <a:noFill/>
          <a:ln/>
        </p:spPr>
        <p:txBody>
          <a:bodyPr wrap="square" lIns="0" tIns="0" rIns="0" bIns="0" rtlCol="0" anchor="ctr"/>
          <a:lstStyle/>
          <a:p>
            <a:pPr algn="ctr" indent="0" marL="0">
              <a:buNone/>
            </a:pPr>
            <a:r>
              <a:rPr lang="en-US" sz="2400" b="1" dirty="0">
                <a:solidFill>
                  <a:srgbClr val="FFFFFF"/>
                </a:solidFill>
                <a:latin typeface="Cambria" pitchFamily="34" charset="0"/>
                <a:ea typeface="Cambria" pitchFamily="34" charset="-122"/>
                <a:cs typeface="Cambria" pitchFamily="34" charset="-120"/>
              </a:rPr>
              <a:t>3</a:t>
            </a:r>
            <a:endParaRPr lang="en-US" sz="2400" dirty="0"/>
          </a:p>
        </p:txBody>
      </p:sp>
      <p:sp>
        <p:nvSpPr>
          <p:cNvPr id="17" name="Text 15"/>
          <p:cNvSpPr/>
          <p:nvPr/>
        </p:nvSpPr>
        <p:spPr>
          <a:xfrm>
            <a:off x="1234440" y="4526280"/>
            <a:ext cx="7223760" cy="320040"/>
          </a:xfrm>
          <a:prstGeom prst="rect">
            <a:avLst/>
          </a:prstGeom>
          <a:noFill/>
          <a:ln/>
        </p:spPr>
        <p:txBody>
          <a:bodyPr wrap="square" lIns="0" tIns="0" rIns="0" bIns="0" rtlCol="0" anchor="t"/>
          <a:lstStyle/>
          <a:p>
            <a:pPr algn="l" indent="0" marL="0">
              <a:buNone/>
            </a:pPr>
            <a:r>
              <a:rPr lang="en-US" sz="1400" b="1" dirty="0">
                <a:solidFill>
                  <a:srgbClr val="322164"/>
                </a:solidFill>
                <a:latin typeface="Cambria" pitchFamily="34" charset="0"/>
                <a:ea typeface="Cambria" pitchFamily="34" charset="-122"/>
                <a:cs typeface="Cambria" pitchFamily="34" charset="-120"/>
              </a:rPr>
              <a:t>Phân tích lỗi qua các hướng đã thử</a:t>
            </a:r>
            <a:endParaRPr lang="en-US" sz="1400" dirty="0"/>
          </a:p>
        </p:txBody>
      </p:sp>
      <p:sp>
        <p:nvSpPr>
          <p:cNvPr id="18" name="Text 16"/>
          <p:cNvSpPr/>
          <p:nvPr/>
        </p:nvSpPr>
        <p:spPr>
          <a:xfrm>
            <a:off x="1234440" y="4873752"/>
            <a:ext cx="7315200" cy="1143000"/>
          </a:xfrm>
          <a:prstGeom prst="rect">
            <a:avLst/>
          </a:prstGeom>
          <a:noFill/>
          <a:ln/>
        </p:spPr>
        <p:txBody>
          <a:bodyPr wrap="square" lIns="0" tIns="0" rIns="0" bIns="0" rtlCol="0" anchor="t"/>
          <a:lstStyle/>
          <a:p>
            <a:pPr algn="l" indent="0" marL="0">
              <a:lnSpc>
                <a:spcPct val="120000"/>
              </a:lnSpc>
              <a:buNone/>
            </a:pPr>
            <a:r>
              <a:rPr lang="en-US" sz="1200" dirty="0">
                <a:solidFill>
                  <a:srgbClr val="1A1A1A"/>
                </a:solidFill>
                <a:latin typeface="Cambria" pitchFamily="34" charset="0"/>
                <a:ea typeface="Cambria" pitchFamily="34" charset="-122"/>
                <a:cs typeface="Cambria" pitchFamily="34" charset="-120"/>
              </a:rPr>
              <a:t>Điểm nghẽn nằm ở tầng tri giác: 91% khoảng cách tới câu chuẩn ở 29,9% số bước nhìn sai phần tử, mức truyền sang câu chỉ 0,028, thông tin vị trí gắn thêm bị phần sinh câu bỏ qua. Đây là căn cứ để đặt phần thưởng lên câu.</a:t>
            </a:r>
            <a:endParaRPr lang="en-US" sz="1200" dirty="0"/>
          </a:p>
        </p:txBody>
      </p:sp>
      <p:sp>
        <p:nvSpPr>
          <p:cNvPr id="20" name="Shape 17"/>
          <p:cNvSpPr/>
          <p:nvPr/>
        </p:nvSpPr>
        <p:spPr>
          <a:xfrm>
            <a:off x="0" y="6620256"/>
            <a:ext cx="2743200" cy="237744"/>
          </a:xfrm>
          <a:prstGeom prst="rect">
            <a:avLst/>
          </a:prstGeom>
          <a:solidFill>
            <a:srgbClr val="191132"/>
          </a:solidFill>
          <a:ln/>
        </p:spPr>
      </p:sp>
      <p:sp>
        <p:nvSpPr>
          <p:cNvPr id="21" name="Shape 18"/>
          <p:cNvSpPr/>
          <p:nvPr/>
        </p:nvSpPr>
        <p:spPr>
          <a:xfrm>
            <a:off x="2743200" y="6620256"/>
            <a:ext cx="3383280" cy="237744"/>
          </a:xfrm>
          <a:prstGeom prst="rect">
            <a:avLst/>
          </a:prstGeom>
          <a:solidFill>
            <a:srgbClr val="25194B"/>
          </a:solidFill>
          <a:ln/>
        </p:spPr>
      </p:sp>
      <p:sp>
        <p:nvSpPr>
          <p:cNvPr id="22" name="Shape 19"/>
          <p:cNvSpPr/>
          <p:nvPr/>
        </p:nvSpPr>
        <p:spPr>
          <a:xfrm>
            <a:off x="6126480" y="6620256"/>
            <a:ext cx="1737360" cy="237744"/>
          </a:xfrm>
          <a:prstGeom prst="rect">
            <a:avLst/>
          </a:prstGeom>
          <a:solidFill>
            <a:srgbClr val="4F417A"/>
          </a:solidFill>
          <a:ln/>
        </p:spPr>
      </p:sp>
      <p:sp>
        <p:nvSpPr>
          <p:cNvPr id="23" name="Shape 20"/>
          <p:cNvSpPr/>
          <p:nvPr/>
        </p:nvSpPr>
        <p:spPr>
          <a:xfrm>
            <a:off x="7863840" y="6620256"/>
            <a:ext cx="1280160" cy="237744"/>
          </a:xfrm>
          <a:prstGeom prst="rect">
            <a:avLst/>
          </a:prstGeom>
          <a:solidFill>
            <a:srgbClr val="7A7099"/>
          </a:solidFill>
          <a:ln/>
        </p:spPr>
      </p:sp>
      <p:sp>
        <p:nvSpPr>
          <p:cNvPr id="24" name="Text 21"/>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Luận văn thạc sĩ</a:t>
            </a:r>
            <a:endParaRPr lang="en-US" sz="800" dirty="0"/>
          </a:p>
        </p:txBody>
      </p:sp>
      <p:sp>
        <p:nvSpPr>
          <p:cNvPr id="25" name="Text 22"/>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Phát sinh tự động hướng dẫn sử dụng phần mềm dựa trên LLM</a:t>
            </a:r>
            <a:endParaRPr lang="en-US" sz="800" dirty="0"/>
          </a:p>
        </p:txBody>
      </p:sp>
      <p:sp>
        <p:nvSpPr>
          <p:cNvPr id="26" name="Text 23"/>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27" name="Text 24"/>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21/24</a:t>
            </a:r>
            <a:endParaRPr lang="en-US" sz="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Hạn chế</a:t>
            </a:r>
            <a:endParaRPr lang="en-US" sz="1900" dirty="0"/>
          </a:p>
        </p:txBody>
      </p:sp>
      <p:sp>
        <p:nvSpPr>
          <p:cNvPr id="4" name="Shape 2"/>
          <p:cNvSpPr/>
          <p:nvPr/>
        </p:nvSpPr>
        <p:spPr>
          <a:xfrm>
            <a:off x="457200" y="777240"/>
            <a:ext cx="4023360" cy="5440680"/>
          </a:xfrm>
          <a:prstGeom prst="roundRect">
            <a:avLst>
              <a:gd name="adj" fmla="val 1364"/>
            </a:avLst>
          </a:prstGeom>
          <a:solidFill>
            <a:srgbClr val="E9E8EC"/>
          </a:solidFill>
          <a:ln/>
          <a:effectLst>
            <a:outerShdw sx="100000" sy="100000" kx="0" ky="0" algn="bl" rotWithShape="0" blurRad="63500" dist="31750" dir="2700000">
              <a:srgbClr val="8C8C99">
                <a:alpha val="45000"/>
              </a:srgbClr>
            </a:outerShdw>
          </a:effectLst>
        </p:spPr>
      </p:sp>
      <p:sp>
        <p:nvSpPr>
          <p:cNvPr id="5" name="Text 3"/>
          <p:cNvSpPr/>
          <p:nvPr/>
        </p:nvSpPr>
        <p:spPr>
          <a:xfrm>
            <a:off x="640080" y="868680"/>
            <a:ext cx="3657600" cy="320040"/>
          </a:xfrm>
          <a:prstGeom prst="rect">
            <a:avLst/>
          </a:prstGeom>
          <a:noFill/>
          <a:ln/>
        </p:spPr>
        <p:txBody>
          <a:bodyPr wrap="square" lIns="0" tIns="0" rIns="0" bIns="0" rtlCol="0" anchor="t"/>
          <a:lstStyle/>
          <a:p>
            <a:pPr algn="l" indent="0" marL="0">
              <a:buNone/>
            </a:pPr>
            <a:r>
              <a:rPr lang="en-US" sz="1350" b="1" dirty="0">
                <a:solidFill>
                  <a:srgbClr val="322164"/>
                </a:solidFill>
                <a:latin typeface="Cambria" pitchFamily="34" charset="0"/>
                <a:ea typeface="Cambria" pitchFamily="34" charset="-122"/>
                <a:cs typeface="Cambria" pitchFamily="34" charset="-120"/>
              </a:rPr>
              <a:t>Về dụng cụ đo</a:t>
            </a:r>
            <a:endParaRPr lang="en-US" sz="1350" dirty="0"/>
          </a:p>
        </p:txBody>
      </p:sp>
      <p:sp>
        <p:nvSpPr>
          <p:cNvPr id="6" name="Text 4"/>
          <p:cNvSpPr/>
          <p:nvPr/>
        </p:nvSpPr>
        <p:spPr>
          <a:xfrm>
            <a:off x="640080" y="1280160"/>
            <a:ext cx="201168" cy="1097280"/>
          </a:xfrm>
          <a:prstGeom prst="rect">
            <a:avLst/>
          </a:prstGeom>
          <a:noFill/>
          <a:ln/>
        </p:spPr>
        <p:txBody>
          <a:bodyPr wrap="square" lIns="0" tIns="0" rIns="0" bIns="0" rtlCol="0" anchor="t"/>
          <a:lstStyle/>
          <a:p>
            <a:pPr algn="l" indent="0" marL="0">
              <a:buNone/>
            </a:pPr>
            <a:r>
              <a:rPr lang="en-US" sz="1150" b="1" dirty="0">
                <a:solidFill>
                  <a:srgbClr val="006666"/>
                </a:solidFill>
                <a:latin typeface="Cambria" pitchFamily="34" charset="0"/>
                <a:ea typeface="Cambria" pitchFamily="34" charset="-122"/>
                <a:cs typeface="Cambria" pitchFamily="34" charset="-120"/>
              </a:rPr>
              <a:t>•</a:t>
            </a:r>
            <a:endParaRPr lang="en-US" sz="1150" dirty="0"/>
          </a:p>
        </p:txBody>
      </p:sp>
      <p:sp>
        <p:nvSpPr>
          <p:cNvPr id="7" name="Text 5"/>
          <p:cNvSpPr/>
          <p:nvPr/>
        </p:nvSpPr>
        <p:spPr>
          <a:xfrm>
            <a:off x="868680" y="1280160"/>
            <a:ext cx="3474720" cy="1051560"/>
          </a:xfrm>
          <a:prstGeom prst="rect">
            <a:avLst/>
          </a:prstGeom>
          <a:noFill/>
          <a:ln/>
        </p:spPr>
        <p:txBody>
          <a:bodyPr wrap="square" lIns="0" tIns="0" rIns="0" bIns="0" rtlCol="0" anchor="t"/>
          <a:lstStyle/>
          <a:p>
            <a:pPr algn="l" indent="0" marL="0">
              <a:lnSpc>
                <a:spcPct val="125000"/>
              </a:lnSpc>
              <a:buNone/>
            </a:pPr>
            <a:r>
              <a:rPr lang="en-US" sz="1150" dirty="0">
                <a:solidFill>
                  <a:srgbClr val="1A1A1A"/>
                </a:solidFill>
                <a:latin typeface="Cambria" pitchFamily="34" charset="0"/>
                <a:ea typeface="Cambria" pitchFamily="34" charset="-122"/>
                <a:cs typeface="Cambria" pitchFamily="34" charset="-120"/>
              </a:rPr>
              <a:t>Hai mô hình định vị cùng họ Qwen-VL với mô hình được chấm; người nghe Phi-4 ngoài họ mới chấm bốn nhánh.</a:t>
            </a:r>
            <a:endParaRPr lang="en-US" sz="1150" dirty="0"/>
          </a:p>
        </p:txBody>
      </p:sp>
      <p:sp>
        <p:nvSpPr>
          <p:cNvPr id="8" name="Text 6"/>
          <p:cNvSpPr/>
          <p:nvPr/>
        </p:nvSpPr>
        <p:spPr>
          <a:xfrm>
            <a:off x="640080" y="2377440"/>
            <a:ext cx="201168" cy="1097280"/>
          </a:xfrm>
          <a:prstGeom prst="rect">
            <a:avLst/>
          </a:prstGeom>
          <a:noFill/>
          <a:ln/>
        </p:spPr>
        <p:txBody>
          <a:bodyPr wrap="square" lIns="0" tIns="0" rIns="0" bIns="0" rtlCol="0" anchor="t"/>
          <a:lstStyle/>
          <a:p>
            <a:pPr algn="l" indent="0" marL="0">
              <a:buNone/>
            </a:pPr>
            <a:r>
              <a:rPr lang="en-US" sz="1150" b="1" dirty="0">
                <a:solidFill>
                  <a:srgbClr val="006666"/>
                </a:solidFill>
                <a:latin typeface="Cambria" pitchFamily="34" charset="0"/>
                <a:ea typeface="Cambria" pitchFamily="34" charset="-122"/>
                <a:cs typeface="Cambria" pitchFamily="34" charset="-120"/>
              </a:rPr>
              <a:t>•</a:t>
            </a:r>
            <a:endParaRPr lang="en-US" sz="1150" dirty="0"/>
          </a:p>
        </p:txBody>
      </p:sp>
      <p:sp>
        <p:nvSpPr>
          <p:cNvPr id="9" name="Text 7"/>
          <p:cNvSpPr/>
          <p:nvPr/>
        </p:nvSpPr>
        <p:spPr>
          <a:xfrm>
            <a:off x="868680" y="2377440"/>
            <a:ext cx="3474720" cy="1051560"/>
          </a:xfrm>
          <a:prstGeom prst="rect">
            <a:avLst/>
          </a:prstGeom>
          <a:noFill/>
          <a:ln/>
        </p:spPr>
        <p:txBody>
          <a:bodyPr wrap="square" lIns="0" tIns="0" rIns="0" bIns="0" rtlCol="0" anchor="t"/>
          <a:lstStyle/>
          <a:p>
            <a:pPr algn="l" indent="0" marL="0">
              <a:lnSpc>
                <a:spcPct val="125000"/>
              </a:lnSpc>
              <a:buNone/>
            </a:pPr>
            <a:r>
              <a:rPr lang="en-US" sz="1150" dirty="0">
                <a:solidFill>
                  <a:srgbClr val="1A1A1A"/>
                </a:solidFill>
                <a:latin typeface="Cambria" pitchFamily="34" charset="0"/>
                <a:ea typeface="Cambria" pitchFamily="34" charset="-122"/>
                <a:cs typeface="Cambria" pitchFamily="34" charset="-120"/>
              </a:rPr>
              <a:t>Mới kiểm độ bền khi đổi động từ và trật tự câu, chưa kiểm khi viết lại tên gọi phần tử.</a:t>
            </a:r>
            <a:endParaRPr lang="en-US" sz="1150" dirty="0"/>
          </a:p>
        </p:txBody>
      </p:sp>
      <p:sp>
        <p:nvSpPr>
          <p:cNvPr id="10" name="Text 8"/>
          <p:cNvSpPr/>
          <p:nvPr/>
        </p:nvSpPr>
        <p:spPr>
          <a:xfrm>
            <a:off x="640080" y="3474720"/>
            <a:ext cx="201168" cy="1097280"/>
          </a:xfrm>
          <a:prstGeom prst="rect">
            <a:avLst/>
          </a:prstGeom>
          <a:noFill/>
          <a:ln/>
        </p:spPr>
        <p:txBody>
          <a:bodyPr wrap="square" lIns="0" tIns="0" rIns="0" bIns="0" rtlCol="0" anchor="t"/>
          <a:lstStyle/>
          <a:p>
            <a:pPr algn="l" indent="0" marL="0">
              <a:buNone/>
            </a:pPr>
            <a:r>
              <a:rPr lang="en-US" sz="1150" b="1" dirty="0">
                <a:solidFill>
                  <a:srgbClr val="006666"/>
                </a:solidFill>
                <a:latin typeface="Cambria" pitchFamily="34" charset="0"/>
                <a:ea typeface="Cambria" pitchFamily="34" charset="-122"/>
                <a:cs typeface="Cambria" pitchFamily="34" charset="-120"/>
              </a:rPr>
              <a:t>•</a:t>
            </a:r>
            <a:endParaRPr lang="en-US" sz="1150" dirty="0"/>
          </a:p>
        </p:txBody>
      </p:sp>
      <p:sp>
        <p:nvSpPr>
          <p:cNvPr id="11" name="Text 9"/>
          <p:cNvSpPr/>
          <p:nvPr/>
        </p:nvSpPr>
        <p:spPr>
          <a:xfrm>
            <a:off x="868680" y="3474720"/>
            <a:ext cx="3474720" cy="1051560"/>
          </a:xfrm>
          <a:prstGeom prst="rect">
            <a:avLst/>
          </a:prstGeom>
          <a:noFill/>
          <a:ln/>
        </p:spPr>
        <p:txBody>
          <a:bodyPr wrap="square" lIns="0" tIns="0" rIns="0" bIns="0" rtlCol="0" anchor="t"/>
          <a:lstStyle/>
          <a:p>
            <a:pPr algn="l" indent="0" marL="0">
              <a:lnSpc>
                <a:spcPct val="125000"/>
              </a:lnSpc>
              <a:buNone/>
            </a:pPr>
            <a:r>
              <a:rPr lang="en-US" sz="1150" dirty="0">
                <a:solidFill>
                  <a:srgbClr val="1A1A1A"/>
                </a:solidFill>
                <a:latin typeface="Cambria" pitchFamily="34" charset="0"/>
                <a:ea typeface="Cambria" pitchFamily="34" charset="-122"/>
                <a:cs typeface="Cambria" pitchFamily="34" charset="-120"/>
              </a:rPr>
              <a:t>Thước đo người nghe là mô hình; mức đồng thuận với người thật chưa được đo.</a:t>
            </a:r>
            <a:endParaRPr lang="en-US" sz="1150" dirty="0"/>
          </a:p>
        </p:txBody>
      </p:sp>
      <p:sp>
        <p:nvSpPr>
          <p:cNvPr id="12" name="Text 10"/>
          <p:cNvSpPr/>
          <p:nvPr/>
        </p:nvSpPr>
        <p:spPr>
          <a:xfrm>
            <a:off x="640080" y="4572000"/>
            <a:ext cx="201168" cy="1097280"/>
          </a:xfrm>
          <a:prstGeom prst="rect">
            <a:avLst/>
          </a:prstGeom>
          <a:noFill/>
          <a:ln/>
        </p:spPr>
        <p:txBody>
          <a:bodyPr wrap="square" lIns="0" tIns="0" rIns="0" bIns="0" rtlCol="0" anchor="t"/>
          <a:lstStyle/>
          <a:p>
            <a:pPr algn="l" indent="0" marL="0">
              <a:buNone/>
            </a:pPr>
            <a:r>
              <a:rPr lang="en-US" sz="1150" b="1" dirty="0">
                <a:solidFill>
                  <a:srgbClr val="006666"/>
                </a:solidFill>
                <a:latin typeface="Cambria" pitchFamily="34" charset="0"/>
                <a:ea typeface="Cambria" pitchFamily="34" charset="-122"/>
                <a:cs typeface="Cambria" pitchFamily="34" charset="-120"/>
              </a:rPr>
              <a:t>•</a:t>
            </a:r>
            <a:endParaRPr lang="en-US" sz="1150" dirty="0"/>
          </a:p>
        </p:txBody>
      </p:sp>
      <p:sp>
        <p:nvSpPr>
          <p:cNvPr id="13" name="Text 11"/>
          <p:cNvSpPr/>
          <p:nvPr/>
        </p:nvSpPr>
        <p:spPr>
          <a:xfrm>
            <a:off x="868680" y="4572000"/>
            <a:ext cx="3474720" cy="1051560"/>
          </a:xfrm>
          <a:prstGeom prst="rect">
            <a:avLst/>
          </a:prstGeom>
          <a:noFill/>
          <a:ln/>
        </p:spPr>
        <p:txBody>
          <a:bodyPr wrap="square" lIns="0" tIns="0" rIns="0" bIns="0" rtlCol="0" anchor="t"/>
          <a:lstStyle/>
          <a:p>
            <a:pPr algn="l" indent="0" marL="0">
              <a:lnSpc>
                <a:spcPct val="125000"/>
              </a:lnSpc>
              <a:buNone/>
            </a:pPr>
            <a:r>
              <a:rPr lang="en-US" sz="1150" dirty="0">
                <a:solidFill>
                  <a:srgbClr val="1A1A1A"/>
                </a:solidFill>
                <a:latin typeface="Cambria" pitchFamily="34" charset="0"/>
                <a:ea typeface="Cambria" pitchFamily="34" charset="-122"/>
                <a:cs typeface="Cambria" pitchFamily="34" charset="-120"/>
              </a:rPr>
              <a:t>Phần lớn tác vụ của tập kiểm thuộc phần huấn luyện chính thức của AndroidControl; tách điểm theo phần chia không thấy chênh lệch.</a:t>
            </a:r>
            <a:endParaRPr lang="en-US" sz="1150" dirty="0"/>
          </a:p>
        </p:txBody>
      </p:sp>
      <p:sp>
        <p:nvSpPr>
          <p:cNvPr id="14" name="Shape 12"/>
          <p:cNvSpPr/>
          <p:nvPr/>
        </p:nvSpPr>
        <p:spPr>
          <a:xfrm>
            <a:off x="4663440" y="777240"/>
            <a:ext cx="4023360" cy="5440680"/>
          </a:xfrm>
          <a:prstGeom prst="roundRect">
            <a:avLst>
              <a:gd name="adj" fmla="val 1364"/>
            </a:avLst>
          </a:prstGeom>
          <a:solidFill>
            <a:srgbClr val="E9E8EC"/>
          </a:solidFill>
          <a:ln/>
          <a:effectLst>
            <a:outerShdw sx="100000" sy="100000" kx="0" ky="0" algn="bl" rotWithShape="0" blurRad="63500" dist="31750" dir="2700000">
              <a:srgbClr val="8C8C99">
                <a:alpha val="45000"/>
              </a:srgbClr>
            </a:outerShdw>
          </a:effectLst>
        </p:spPr>
      </p:sp>
      <p:sp>
        <p:nvSpPr>
          <p:cNvPr id="15" name="Text 13"/>
          <p:cNvSpPr/>
          <p:nvPr/>
        </p:nvSpPr>
        <p:spPr>
          <a:xfrm>
            <a:off x="4846320" y="868680"/>
            <a:ext cx="3657600" cy="320040"/>
          </a:xfrm>
          <a:prstGeom prst="rect">
            <a:avLst/>
          </a:prstGeom>
          <a:noFill/>
          <a:ln/>
        </p:spPr>
        <p:txBody>
          <a:bodyPr wrap="square" lIns="0" tIns="0" rIns="0" bIns="0" rtlCol="0" anchor="t"/>
          <a:lstStyle/>
          <a:p>
            <a:pPr algn="l" indent="0" marL="0">
              <a:buNone/>
            </a:pPr>
            <a:r>
              <a:rPr lang="en-US" sz="1350" b="1" dirty="0">
                <a:solidFill>
                  <a:srgbClr val="322164"/>
                </a:solidFill>
                <a:latin typeface="Cambria" pitchFamily="34" charset="0"/>
                <a:ea typeface="Cambria" pitchFamily="34" charset="-122"/>
                <a:cs typeface="Cambria" pitchFamily="34" charset="-120"/>
              </a:rPr>
              <a:t>Về kết quả mô hình</a:t>
            </a:r>
            <a:endParaRPr lang="en-US" sz="1350" dirty="0"/>
          </a:p>
        </p:txBody>
      </p:sp>
      <p:sp>
        <p:nvSpPr>
          <p:cNvPr id="16" name="Text 14"/>
          <p:cNvSpPr/>
          <p:nvPr/>
        </p:nvSpPr>
        <p:spPr>
          <a:xfrm>
            <a:off x="4846320" y="1280160"/>
            <a:ext cx="201168" cy="1097280"/>
          </a:xfrm>
          <a:prstGeom prst="rect">
            <a:avLst/>
          </a:prstGeom>
          <a:noFill/>
          <a:ln/>
        </p:spPr>
        <p:txBody>
          <a:bodyPr wrap="square" lIns="0" tIns="0" rIns="0" bIns="0" rtlCol="0" anchor="t"/>
          <a:lstStyle/>
          <a:p>
            <a:pPr algn="l" indent="0" marL="0">
              <a:buNone/>
            </a:pPr>
            <a:r>
              <a:rPr lang="en-US" sz="1150" b="1" dirty="0">
                <a:solidFill>
                  <a:srgbClr val="006666"/>
                </a:solidFill>
                <a:latin typeface="Cambria" pitchFamily="34" charset="0"/>
                <a:ea typeface="Cambria" pitchFamily="34" charset="-122"/>
                <a:cs typeface="Cambria" pitchFamily="34" charset="-120"/>
              </a:rPr>
              <a:t>•</a:t>
            </a:r>
            <a:endParaRPr lang="en-US" sz="1150" dirty="0"/>
          </a:p>
        </p:txBody>
      </p:sp>
      <p:sp>
        <p:nvSpPr>
          <p:cNvPr id="17" name="Text 15"/>
          <p:cNvSpPr/>
          <p:nvPr/>
        </p:nvSpPr>
        <p:spPr>
          <a:xfrm>
            <a:off x="5074920" y="1280160"/>
            <a:ext cx="3474720" cy="1051560"/>
          </a:xfrm>
          <a:prstGeom prst="rect">
            <a:avLst/>
          </a:prstGeom>
          <a:noFill/>
          <a:ln/>
        </p:spPr>
        <p:txBody>
          <a:bodyPr wrap="square" lIns="0" tIns="0" rIns="0" bIns="0" rtlCol="0" anchor="t"/>
          <a:lstStyle/>
          <a:p>
            <a:pPr algn="l" indent="0" marL="0">
              <a:lnSpc>
                <a:spcPct val="125000"/>
              </a:lnSpc>
              <a:buNone/>
            </a:pPr>
            <a:r>
              <a:rPr lang="en-US" sz="1150" dirty="0">
                <a:solidFill>
                  <a:srgbClr val="1A1A1A"/>
                </a:solidFill>
                <a:latin typeface="Cambria" pitchFamily="34" charset="0"/>
                <a:ea typeface="Cambria" pitchFamily="34" charset="-122"/>
                <a:cs typeface="Cambria" pitchFamily="34" charset="-120"/>
              </a:rPr>
              <a:t>Mọi nhánh huấn luyện thêm chỉ có một hạt giống.</a:t>
            </a:r>
            <a:endParaRPr lang="en-US" sz="1150" dirty="0"/>
          </a:p>
        </p:txBody>
      </p:sp>
      <p:sp>
        <p:nvSpPr>
          <p:cNvPr id="18" name="Text 16"/>
          <p:cNvSpPr/>
          <p:nvPr/>
        </p:nvSpPr>
        <p:spPr>
          <a:xfrm>
            <a:off x="4846320" y="2377440"/>
            <a:ext cx="201168" cy="1097280"/>
          </a:xfrm>
          <a:prstGeom prst="rect">
            <a:avLst/>
          </a:prstGeom>
          <a:noFill/>
          <a:ln/>
        </p:spPr>
        <p:txBody>
          <a:bodyPr wrap="square" lIns="0" tIns="0" rIns="0" bIns="0" rtlCol="0" anchor="t"/>
          <a:lstStyle/>
          <a:p>
            <a:pPr algn="l" indent="0" marL="0">
              <a:buNone/>
            </a:pPr>
            <a:r>
              <a:rPr lang="en-US" sz="1150" b="1" dirty="0">
                <a:solidFill>
                  <a:srgbClr val="006666"/>
                </a:solidFill>
                <a:latin typeface="Cambria" pitchFamily="34" charset="0"/>
                <a:ea typeface="Cambria" pitchFamily="34" charset="-122"/>
                <a:cs typeface="Cambria" pitchFamily="34" charset="-120"/>
              </a:rPr>
              <a:t>•</a:t>
            </a:r>
            <a:endParaRPr lang="en-US" sz="1150" dirty="0"/>
          </a:p>
        </p:txBody>
      </p:sp>
      <p:sp>
        <p:nvSpPr>
          <p:cNvPr id="19" name="Text 17"/>
          <p:cNvSpPr/>
          <p:nvPr/>
        </p:nvSpPr>
        <p:spPr>
          <a:xfrm>
            <a:off x="5074920" y="2377440"/>
            <a:ext cx="3474720" cy="1051560"/>
          </a:xfrm>
          <a:prstGeom prst="rect">
            <a:avLst/>
          </a:prstGeom>
          <a:noFill/>
          <a:ln/>
        </p:spPr>
        <p:txBody>
          <a:bodyPr wrap="square" lIns="0" tIns="0" rIns="0" bIns="0" rtlCol="0" anchor="t"/>
          <a:lstStyle/>
          <a:p>
            <a:pPr algn="l" indent="0" marL="0">
              <a:lnSpc>
                <a:spcPct val="125000"/>
              </a:lnSpc>
              <a:buNone/>
            </a:pPr>
            <a:r>
              <a:rPr lang="en-US" sz="1150" dirty="0">
                <a:solidFill>
                  <a:srgbClr val="1A1A1A"/>
                </a:solidFill>
                <a:latin typeface="Cambria" pitchFamily="34" charset="0"/>
                <a:ea typeface="Cambria" pitchFamily="34" charset="-122"/>
                <a:cs typeface="Cambria" pitchFamily="34" charset="-120"/>
              </a:rPr>
              <a:t>Chưa có nhánh so sánh học có giám sát thêm cùng số bước cho phương pháp đề xuất.</a:t>
            </a:r>
            <a:endParaRPr lang="en-US" sz="1150" dirty="0"/>
          </a:p>
        </p:txBody>
      </p:sp>
      <p:sp>
        <p:nvSpPr>
          <p:cNvPr id="20" name="Text 18"/>
          <p:cNvSpPr/>
          <p:nvPr/>
        </p:nvSpPr>
        <p:spPr>
          <a:xfrm>
            <a:off x="4846320" y="3474720"/>
            <a:ext cx="201168" cy="1097280"/>
          </a:xfrm>
          <a:prstGeom prst="rect">
            <a:avLst/>
          </a:prstGeom>
          <a:noFill/>
          <a:ln/>
        </p:spPr>
        <p:txBody>
          <a:bodyPr wrap="square" lIns="0" tIns="0" rIns="0" bIns="0" rtlCol="0" anchor="t"/>
          <a:lstStyle/>
          <a:p>
            <a:pPr algn="l" indent="0" marL="0">
              <a:buNone/>
            </a:pPr>
            <a:r>
              <a:rPr lang="en-US" sz="1150" b="1" dirty="0">
                <a:solidFill>
                  <a:srgbClr val="006666"/>
                </a:solidFill>
                <a:latin typeface="Cambria" pitchFamily="34" charset="0"/>
                <a:ea typeface="Cambria" pitchFamily="34" charset="-122"/>
                <a:cs typeface="Cambria" pitchFamily="34" charset="-120"/>
              </a:rPr>
              <a:t>•</a:t>
            </a:r>
            <a:endParaRPr lang="en-US" sz="1150" dirty="0"/>
          </a:p>
        </p:txBody>
      </p:sp>
      <p:sp>
        <p:nvSpPr>
          <p:cNvPr id="21" name="Text 19"/>
          <p:cNvSpPr/>
          <p:nvPr/>
        </p:nvSpPr>
        <p:spPr>
          <a:xfrm>
            <a:off x="5074920" y="3474720"/>
            <a:ext cx="3474720" cy="1051560"/>
          </a:xfrm>
          <a:prstGeom prst="rect">
            <a:avLst/>
          </a:prstGeom>
          <a:noFill/>
          <a:ln/>
        </p:spPr>
        <p:txBody>
          <a:bodyPr wrap="square" lIns="0" tIns="0" rIns="0" bIns="0" rtlCol="0" anchor="t"/>
          <a:lstStyle/>
          <a:p>
            <a:pPr algn="l" indent="0" marL="0">
              <a:lnSpc>
                <a:spcPct val="125000"/>
              </a:lnSpc>
              <a:buNone/>
            </a:pPr>
            <a:r>
              <a:rPr lang="en-US" sz="1150" dirty="0">
                <a:solidFill>
                  <a:srgbClr val="1A1A1A"/>
                </a:solidFill>
                <a:latin typeface="Cambria" pitchFamily="34" charset="0"/>
                <a:ea typeface="Cambria" pitchFamily="34" charset="-122"/>
                <a:cs typeface="Cambria" pitchFamily="34" charset="-120"/>
              </a:rPr>
              <a:t>Đường sinh câu của phương pháp đề xuất khác S1 công bố; một phần nhỏ chênh lệch có thể đến từ đó.</a:t>
            </a:r>
            <a:endParaRPr lang="en-US" sz="1150" dirty="0"/>
          </a:p>
        </p:txBody>
      </p:sp>
      <p:sp>
        <p:nvSpPr>
          <p:cNvPr id="22" name="Text 20"/>
          <p:cNvSpPr/>
          <p:nvPr/>
        </p:nvSpPr>
        <p:spPr>
          <a:xfrm>
            <a:off x="4846320" y="4572000"/>
            <a:ext cx="201168" cy="1097280"/>
          </a:xfrm>
          <a:prstGeom prst="rect">
            <a:avLst/>
          </a:prstGeom>
          <a:noFill/>
          <a:ln/>
        </p:spPr>
        <p:txBody>
          <a:bodyPr wrap="square" lIns="0" tIns="0" rIns="0" bIns="0" rtlCol="0" anchor="t"/>
          <a:lstStyle/>
          <a:p>
            <a:pPr algn="l" indent="0" marL="0">
              <a:buNone/>
            </a:pPr>
            <a:r>
              <a:rPr lang="en-US" sz="1150" b="1" dirty="0">
                <a:solidFill>
                  <a:srgbClr val="006666"/>
                </a:solidFill>
                <a:latin typeface="Cambria" pitchFamily="34" charset="0"/>
                <a:ea typeface="Cambria" pitchFamily="34" charset="-122"/>
                <a:cs typeface="Cambria" pitchFamily="34" charset="-120"/>
              </a:rPr>
              <a:t>•</a:t>
            </a:r>
            <a:endParaRPr lang="en-US" sz="1150" dirty="0"/>
          </a:p>
        </p:txBody>
      </p:sp>
      <p:sp>
        <p:nvSpPr>
          <p:cNvPr id="23" name="Text 21"/>
          <p:cNvSpPr/>
          <p:nvPr/>
        </p:nvSpPr>
        <p:spPr>
          <a:xfrm>
            <a:off x="5074920" y="4572000"/>
            <a:ext cx="3474720" cy="1051560"/>
          </a:xfrm>
          <a:prstGeom prst="rect">
            <a:avLst/>
          </a:prstGeom>
          <a:noFill/>
          <a:ln/>
        </p:spPr>
        <p:txBody>
          <a:bodyPr wrap="square" lIns="0" tIns="0" rIns="0" bIns="0" rtlCol="0" anchor="t"/>
          <a:lstStyle/>
          <a:p>
            <a:pPr algn="l" indent="0" marL="0">
              <a:lnSpc>
                <a:spcPct val="125000"/>
              </a:lnSpc>
              <a:buNone/>
            </a:pPr>
            <a:r>
              <a:rPr lang="en-US" sz="1150" dirty="0">
                <a:solidFill>
                  <a:srgbClr val="1A1A1A"/>
                </a:solidFill>
                <a:latin typeface="Cambria" pitchFamily="34" charset="0"/>
                <a:ea typeface="Cambria" pitchFamily="34" charset="-122"/>
                <a:cs typeface="Cambria" pitchFamily="34" charset="-120"/>
              </a:rPr>
              <a:t>Tác dụng phụ ở bước cuộn và quay lại chưa được sửa.</a:t>
            </a:r>
            <a:endParaRPr lang="en-US" sz="1150" dirty="0"/>
          </a:p>
        </p:txBody>
      </p:sp>
      <p:sp>
        <p:nvSpPr>
          <p:cNvPr id="25" name="Shape 22"/>
          <p:cNvSpPr/>
          <p:nvPr/>
        </p:nvSpPr>
        <p:spPr>
          <a:xfrm>
            <a:off x="0" y="6620256"/>
            <a:ext cx="2743200" cy="237744"/>
          </a:xfrm>
          <a:prstGeom prst="rect">
            <a:avLst/>
          </a:prstGeom>
          <a:solidFill>
            <a:srgbClr val="191132"/>
          </a:solidFill>
          <a:ln/>
        </p:spPr>
      </p:sp>
      <p:sp>
        <p:nvSpPr>
          <p:cNvPr id="26" name="Shape 23"/>
          <p:cNvSpPr/>
          <p:nvPr/>
        </p:nvSpPr>
        <p:spPr>
          <a:xfrm>
            <a:off x="2743200" y="6620256"/>
            <a:ext cx="3383280" cy="237744"/>
          </a:xfrm>
          <a:prstGeom prst="rect">
            <a:avLst/>
          </a:prstGeom>
          <a:solidFill>
            <a:srgbClr val="25194B"/>
          </a:solidFill>
          <a:ln/>
        </p:spPr>
      </p:sp>
      <p:sp>
        <p:nvSpPr>
          <p:cNvPr id="27" name="Shape 24"/>
          <p:cNvSpPr/>
          <p:nvPr/>
        </p:nvSpPr>
        <p:spPr>
          <a:xfrm>
            <a:off x="6126480" y="6620256"/>
            <a:ext cx="1737360" cy="237744"/>
          </a:xfrm>
          <a:prstGeom prst="rect">
            <a:avLst/>
          </a:prstGeom>
          <a:solidFill>
            <a:srgbClr val="4F417A"/>
          </a:solidFill>
          <a:ln/>
        </p:spPr>
      </p:sp>
      <p:sp>
        <p:nvSpPr>
          <p:cNvPr id="28" name="Shape 25"/>
          <p:cNvSpPr/>
          <p:nvPr/>
        </p:nvSpPr>
        <p:spPr>
          <a:xfrm>
            <a:off x="7863840" y="6620256"/>
            <a:ext cx="1280160" cy="237744"/>
          </a:xfrm>
          <a:prstGeom prst="rect">
            <a:avLst/>
          </a:prstGeom>
          <a:solidFill>
            <a:srgbClr val="7A7099"/>
          </a:solidFill>
          <a:ln/>
        </p:spPr>
      </p:sp>
      <p:sp>
        <p:nvSpPr>
          <p:cNvPr id="29" name="Text 26"/>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Luận văn thạc sĩ</a:t>
            </a:r>
            <a:endParaRPr lang="en-US" sz="800" dirty="0"/>
          </a:p>
        </p:txBody>
      </p:sp>
      <p:sp>
        <p:nvSpPr>
          <p:cNvPr id="30" name="Text 27"/>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Phát sinh tự động hướng dẫn sử dụng phần mềm dựa trên LLM</a:t>
            </a:r>
            <a:endParaRPr lang="en-US" sz="800" dirty="0"/>
          </a:p>
        </p:txBody>
      </p:sp>
      <p:sp>
        <p:nvSpPr>
          <p:cNvPr id="31" name="Text 28"/>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32" name="Text 29"/>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22/24</a:t>
            </a:r>
            <a:endParaRPr lang="en-US" sz="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Hướng phát triển</a:t>
            </a:r>
            <a:endParaRPr lang="en-US" sz="1900" dirty="0"/>
          </a:p>
        </p:txBody>
      </p:sp>
      <p:sp>
        <p:nvSpPr>
          <p:cNvPr id="4" name="Shape 2"/>
          <p:cNvSpPr/>
          <p:nvPr/>
        </p:nvSpPr>
        <p:spPr>
          <a:xfrm>
            <a:off x="457200" y="777240"/>
            <a:ext cx="8229600" cy="932688"/>
          </a:xfrm>
          <a:prstGeom prst="roundRect">
            <a:avLst>
              <a:gd name="adj" fmla="val 5882"/>
            </a:avLst>
          </a:prstGeom>
          <a:solidFill>
            <a:srgbClr val="E9E8EC"/>
          </a:solidFill>
          <a:ln/>
          <a:effectLst>
            <a:outerShdw sx="100000" sy="100000" kx="0" ky="0" algn="bl" rotWithShape="0" blurRad="63500" dist="31750" dir="2700000">
              <a:srgbClr val="8C8C99">
                <a:alpha val="45000"/>
              </a:srgbClr>
            </a:outerShdw>
          </a:effectLst>
        </p:spPr>
      </p:sp>
      <p:sp>
        <p:nvSpPr>
          <p:cNvPr id="5" name="Text 3"/>
          <p:cNvSpPr/>
          <p:nvPr/>
        </p:nvSpPr>
        <p:spPr>
          <a:xfrm>
            <a:off x="548640" y="777240"/>
            <a:ext cx="457200" cy="932688"/>
          </a:xfrm>
          <a:prstGeom prst="rect">
            <a:avLst/>
          </a:prstGeom>
          <a:noFill/>
          <a:ln/>
        </p:spPr>
        <p:txBody>
          <a:bodyPr wrap="square" lIns="0" tIns="0" rIns="0" bIns="0" rtlCol="0" anchor="ctr"/>
          <a:lstStyle/>
          <a:p>
            <a:pPr algn="ctr" indent="0" marL="0">
              <a:buNone/>
            </a:pPr>
            <a:r>
              <a:rPr lang="en-US" sz="2000" b="1" dirty="0">
                <a:solidFill>
                  <a:srgbClr val="006666"/>
                </a:solidFill>
                <a:latin typeface="Cambria" pitchFamily="34" charset="0"/>
                <a:ea typeface="Cambria" pitchFamily="34" charset="-122"/>
                <a:cs typeface="Cambria" pitchFamily="34" charset="-120"/>
              </a:rPr>
              <a:t>1</a:t>
            </a:r>
            <a:endParaRPr lang="en-US" sz="2000" dirty="0"/>
          </a:p>
        </p:txBody>
      </p:sp>
      <p:sp>
        <p:nvSpPr>
          <p:cNvPr id="6" name="Text 4"/>
          <p:cNvSpPr/>
          <p:nvPr/>
        </p:nvSpPr>
        <p:spPr>
          <a:xfrm>
            <a:off x="1143000" y="868680"/>
            <a:ext cx="7406640" cy="320040"/>
          </a:xfrm>
          <a:prstGeom prst="rect">
            <a:avLst/>
          </a:prstGeom>
          <a:noFill/>
          <a:ln/>
        </p:spPr>
        <p:txBody>
          <a:bodyPr wrap="square" lIns="0" tIns="0" rIns="0" bIns="0" rtlCol="0" anchor="t"/>
          <a:lstStyle/>
          <a:p>
            <a:pPr algn="l" indent="0" marL="0">
              <a:buNone/>
            </a:pPr>
            <a:r>
              <a:rPr lang="en-US" sz="1350" b="1" dirty="0">
                <a:solidFill>
                  <a:srgbClr val="322164"/>
                </a:solidFill>
                <a:latin typeface="Cambria" pitchFamily="34" charset="0"/>
                <a:ea typeface="Cambria" pitchFamily="34" charset="-122"/>
                <a:cs typeface="Cambria" pitchFamily="34" charset="-120"/>
              </a:rPr>
              <a:t>Hoàn tất đánh giá phương pháp đề xuất</a:t>
            </a:r>
            <a:endParaRPr lang="en-US" sz="1350" dirty="0"/>
          </a:p>
        </p:txBody>
      </p:sp>
      <p:sp>
        <p:nvSpPr>
          <p:cNvPr id="7" name="Text 5"/>
          <p:cNvSpPr/>
          <p:nvPr/>
        </p:nvSpPr>
        <p:spPr>
          <a:xfrm>
            <a:off x="1143000" y="1197864"/>
            <a:ext cx="7406640" cy="475488"/>
          </a:xfrm>
          <a:prstGeom prst="rect">
            <a:avLst/>
          </a:prstGeom>
          <a:noFill/>
          <a:ln/>
        </p:spPr>
        <p:txBody>
          <a:bodyPr wrap="square" lIns="0" tIns="0" rIns="0" bIns="0" rtlCol="0" anchor="t"/>
          <a:lstStyle/>
          <a:p>
            <a:pPr algn="l" indent="0" marL="0">
              <a:lnSpc>
                <a:spcPct val="115000"/>
              </a:lnSpc>
              <a:buNone/>
            </a:pPr>
            <a:r>
              <a:rPr lang="en-US" sz="1150" dirty="0">
                <a:solidFill>
                  <a:srgbClr val="1A1A1A"/>
                </a:solidFill>
                <a:latin typeface="Cambria" pitchFamily="34" charset="0"/>
                <a:ea typeface="Cambria" pitchFamily="34" charset="-122"/>
                <a:cs typeface="Cambria" pitchFamily="34" charset="-120"/>
              </a:rPr>
              <a:t>hạt giống thứ hai, nhánh so sánh cùng số bước, sinh lại S1 qua cùng đường sinh; thêm số hạng đúng loại thao tác vào phần thưởng</a:t>
            </a:r>
            <a:endParaRPr lang="en-US" sz="1150" dirty="0"/>
          </a:p>
        </p:txBody>
      </p:sp>
      <p:sp>
        <p:nvSpPr>
          <p:cNvPr id="8" name="Shape 6"/>
          <p:cNvSpPr/>
          <p:nvPr/>
        </p:nvSpPr>
        <p:spPr>
          <a:xfrm>
            <a:off x="457200" y="1856232"/>
            <a:ext cx="8229600" cy="932688"/>
          </a:xfrm>
          <a:prstGeom prst="roundRect">
            <a:avLst>
              <a:gd name="adj" fmla="val 5882"/>
            </a:avLst>
          </a:prstGeom>
          <a:solidFill>
            <a:srgbClr val="E9E8EC"/>
          </a:solidFill>
          <a:ln/>
          <a:effectLst>
            <a:outerShdw sx="100000" sy="100000" kx="0" ky="0" algn="bl" rotWithShape="0" blurRad="63500" dist="31750" dir="2700000">
              <a:srgbClr val="8C8C99">
                <a:alpha val="45000"/>
              </a:srgbClr>
            </a:outerShdw>
          </a:effectLst>
        </p:spPr>
      </p:sp>
      <p:sp>
        <p:nvSpPr>
          <p:cNvPr id="9" name="Text 7"/>
          <p:cNvSpPr/>
          <p:nvPr/>
        </p:nvSpPr>
        <p:spPr>
          <a:xfrm>
            <a:off x="548640" y="1856232"/>
            <a:ext cx="457200" cy="932688"/>
          </a:xfrm>
          <a:prstGeom prst="rect">
            <a:avLst/>
          </a:prstGeom>
          <a:noFill/>
          <a:ln/>
        </p:spPr>
        <p:txBody>
          <a:bodyPr wrap="square" lIns="0" tIns="0" rIns="0" bIns="0" rtlCol="0" anchor="ctr"/>
          <a:lstStyle/>
          <a:p>
            <a:pPr algn="ctr" indent="0" marL="0">
              <a:buNone/>
            </a:pPr>
            <a:r>
              <a:rPr lang="en-US" sz="2000" b="1" dirty="0">
                <a:solidFill>
                  <a:srgbClr val="006666"/>
                </a:solidFill>
                <a:latin typeface="Cambria" pitchFamily="34" charset="0"/>
                <a:ea typeface="Cambria" pitchFamily="34" charset="-122"/>
                <a:cs typeface="Cambria" pitchFamily="34" charset="-120"/>
              </a:rPr>
              <a:t>2</a:t>
            </a:r>
            <a:endParaRPr lang="en-US" sz="2000" dirty="0"/>
          </a:p>
        </p:txBody>
      </p:sp>
      <p:sp>
        <p:nvSpPr>
          <p:cNvPr id="10" name="Text 8"/>
          <p:cNvSpPr/>
          <p:nvPr/>
        </p:nvSpPr>
        <p:spPr>
          <a:xfrm>
            <a:off x="1143000" y="1947672"/>
            <a:ext cx="7406640" cy="320040"/>
          </a:xfrm>
          <a:prstGeom prst="rect">
            <a:avLst/>
          </a:prstGeom>
          <a:noFill/>
          <a:ln/>
        </p:spPr>
        <p:txBody>
          <a:bodyPr wrap="square" lIns="0" tIns="0" rIns="0" bIns="0" rtlCol="0" anchor="t"/>
          <a:lstStyle/>
          <a:p>
            <a:pPr algn="l" indent="0" marL="0">
              <a:buNone/>
            </a:pPr>
            <a:r>
              <a:rPr lang="en-US" sz="1350" b="1" dirty="0">
                <a:solidFill>
                  <a:srgbClr val="322164"/>
                </a:solidFill>
                <a:latin typeface="Cambria" pitchFamily="34" charset="0"/>
                <a:ea typeface="Cambria" pitchFamily="34" charset="-122"/>
                <a:cs typeface="Cambria" pitchFamily="34" charset="-120"/>
              </a:rPr>
              <a:t>Bộ chọn độc lập với vùng cắt cho TAGE</a:t>
            </a:r>
            <a:endParaRPr lang="en-US" sz="1350" dirty="0"/>
          </a:p>
        </p:txBody>
      </p:sp>
      <p:sp>
        <p:nvSpPr>
          <p:cNvPr id="11" name="Text 9"/>
          <p:cNvSpPr/>
          <p:nvPr/>
        </p:nvSpPr>
        <p:spPr>
          <a:xfrm>
            <a:off x="1143000" y="2276856"/>
            <a:ext cx="7406640" cy="475488"/>
          </a:xfrm>
          <a:prstGeom prst="rect">
            <a:avLst/>
          </a:prstGeom>
          <a:noFill/>
          <a:ln/>
        </p:spPr>
        <p:txBody>
          <a:bodyPr wrap="square" lIns="0" tIns="0" rIns="0" bIns="0" rtlCol="0" anchor="t"/>
          <a:lstStyle/>
          <a:p>
            <a:pPr algn="l" indent="0" marL="0">
              <a:lnSpc>
                <a:spcPct val="115000"/>
              </a:lnSpc>
              <a:buNone/>
            </a:pPr>
            <a:r>
              <a:rPr lang="en-US" sz="1150" dirty="0">
                <a:solidFill>
                  <a:srgbClr val="1A1A1A"/>
                </a:solidFill>
                <a:latin typeface="Cambria" pitchFamily="34" charset="0"/>
                <a:ea typeface="Cambria" pitchFamily="34" charset="-122"/>
                <a:cs typeface="Cambria" pitchFamily="34" charset="-120"/>
              </a:rPr>
              <a:t>so điểm định vị theo câu nháp với điểm của bộ định vị, chọn trên toàn tập kiểm định</a:t>
            </a:r>
            <a:endParaRPr lang="en-US" sz="1150" dirty="0"/>
          </a:p>
        </p:txBody>
      </p:sp>
      <p:sp>
        <p:nvSpPr>
          <p:cNvPr id="12" name="Shape 10"/>
          <p:cNvSpPr/>
          <p:nvPr/>
        </p:nvSpPr>
        <p:spPr>
          <a:xfrm>
            <a:off x="457200" y="2935224"/>
            <a:ext cx="8229600" cy="932688"/>
          </a:xfrm>
          <a:prstGeom prst="roundRect">
            <a:avLst>
              <a:gd name="adj" fmla="val 5882"/>
            </a:avLst>
          </a:prstGeom>
          <a:solidFill>
            <a:srgbClr val="E9E8EC"/>
          </a:solidFill>
          <a:ln/>
          <a:effectLst>
            <a:outerShdw sx="100000" sy="100000" kx="0" ky="0" algn="bl" rotWithShape="0" blurRad="63500" dist="31750" dir="2700000">
              <a:srgbClr val="8C8C99">
                <a:alpha val="45000"/>
              </a:srgbClr>
            </a:outerShdw>
          </a:effectLst>
        </p:spPr>
      </p:sp>
      <p:sp>
        <p:nvSpPr>
          <p:cNvPr id="13" name="Text 11"/>
          <p:cNvSpPr/>
          <p:nvPr/>
        </p:nvSpPr>
        <p:spPr>
          <a:xfrm>
            <a:off x="548640" y="2935224"/>
            <a:ext cx="457200" cy="932688"/>
          </a:xfrm>
          <a:prstGeom prst="rect">
            <a:avLst/>
          </a:prstGeom>
          <a:noFill/>
          <a:ln/>
        </p:spPr>
        <p:txBody>
          <a:bodyPr wrap="square" lIns="0" tIns="0" rIns="0" bIns="0" rtlCol="0" anchor="ctr"/>
          <a:lstStyle/>
          <a:p>
            <a:pPr algn="ctr" indent="0" marL="0">
              <a:buNone/>
            </a:pPr>
            <a:r>
              <a:rPr lang="en-US" sz="2000" b="1" dirty="0">
                <a:solidFill>
                  <a:srgbClr val="006666"/>
                </a:solidFill>
                <a:latin typeface="Cambria" pitchFamily="34" charset="0"/>
                <a:ea typeface="Cambria" pitchFamily="34" charset="-122"/>
                <a:cs typeface="Cambria" pitchFamily="34" charset="-120"/>
              </a:rPr>
              <a:t>3</a:t>
            </a:r>
            <a:endParaRPr lang="en-US" sz="2000" dirty="0"/>
          </a:p>
        </p:txBody>
      </p:sp>
      <p:sp>
        <p:nvSpPr>
          <p:cNvPr id="14" name="Text 12"/>
          <p:cNvSpPr/>
          <p:nvPr/>
        </p:nvSpPr>
        <p:spPr>
          <a:xfrm>
            <a:off x="1143000" y="3026664"/>
            <a:ext cx="7406640" cy="320040"/>
          </a:xfrm>
          <a:prstGeom prst="rect">
            <a:avLst/>
          </a:prstGeom>
          <a:noFill/>
          <a:ln/>
        </p:spPr>
        <p:txBody>
          <a:bodyPr wrap="square" lIns="0" tIns="0" rIns="0" bIns="0" rtlCol="0" anchor="t"/>
          <a:lstStyle/>
          <a:p>
            <a:pPr algn="l" indent="0" marL="0">
              <a:buNone/>
            </a:pPr>
            <a:r>
              <a:rPr lang="en-US" sz="1350" b="1" dirty="0">
                <a:solidFill>
                  <a:srgbClr val="322164"/>
                </a:solidFill>
                <a:latin typeface="Cambria" pitchFamily="34" charset="0"/>
                <a:ea typeface="Cambria" pitchFamily="34" charset="-122"/>
                <a:cs typeface="Cambria" pitchFamily="34" charset="-120"/>
              </a:rPr>
              <a:t>Học kênh vị trí cùng lúc với phần sinh câu</a:t>
            </a:r>
            <a:endParaRPr lang="en-US" sz="1350" dirty="0"/>
          </a:p>
        </p:txBody>
      </p:sp>
      <p:sp>
        <p:nvSpPr>
          <p:cNvPr id="15" name="Text 13"/>
          <p:cNvSpPr/>
          <p:nvPr/>
        </p:nvSpPr>
        <p:spPr>
          <a:xfrm>
            <a:off x="1143000" y="3355848"/>
            <a:ext cx="7406640" cy="475488"/>
          </a:xfrm>
          <a:prstGeom prst="rect">
            <a:avLst/>
          </a:prstGeom>
          <a:noFill/>
          <a:ln/>
        </p:spPr>
        <p:txBody>
          <a:bodyPr wrap="square" lIns="0" tIns="0" rIns="0" bIns="0" rtlCol="0" anchor="t"/>
          <a:lstStyle/>
          <a:p>
            <a:pPr algn="l" indent="0" marL="0">
              <a:lnSpc>
                <a:spcPct val="115000"/>
              </a:lnSpc>
              <a:buNone/>
            </a:pPr>
            <a:r>
              <a:rPr lang="en-US" sz="1150" dirty="0">
                <a:solidFill>
                  <a:srgbClr val="1A1A1A"/>
                </a:solidFill>
                <a:latin typeface="Cambria" pitchFamily="34" charset="0"/>
                <a:ea typeface="Cambria" pitchFamily="34" charset="-122"/>
                <a:cs typeface="Cambria" pitchFamily="34" charset="-120"/>
              </a:rPr>
              <a:t>thay vì gắn vào một bộ sinh câu đã học xong</a:t>
            </a:r>
            <a:endParaRPr lang="en-US" sz="1150" dirty="0"/>
          </a:p>
        </p:txBody>
      </p:sp>
      <p:sp>
        <p:nvSpPr>
          <p:cNvPr id="16" name="Shape 14"/>
          <p:cNvSpPr/>
          <p:nvPr/>
        </p:nvSpPr>
        <p:spPr>
          <a:xfrm>
            <a:off x="457200" y="4014216"/>
            <a:ext cx="8229600" cy="932688"/>
          </a:xfrm>
          <a:prstGeom prst="roundRect">
            <a:avLst>
              <a:gd name="adj" fmla="val 5882"/>
            </a:avLst>
          </a:prstGeom>
          <a:solidFill>
            <a:srgbClr val="E9E8EC"/>
          </a:solidFill>
          <a:ln/>
          <a:effectLst>
            <a:outerShdw sx="100000" sy="100000" kx="0" ky="0" algn="bl" rotWithShape="0" blurRad="63500" dist="31750" dir="2700000">
              <a:srgbClr val="8C8C99">
                <a:alpha val="45000"/>
              </a:srgbClr>
            </a:outerShdw>
          </a:effectLst>
        </p:spPr>
      </p:sp>
      <p:sp>
        <p:nvSpPr>
          <p:cNvPr id="17" name="Text 15"/>
          <p:cNvSpPr/>
          <p:nvPr/>
        </p:nvSpPr>
        <p:spPr>
          <a:xfrm>
            <a:off x="548640" y="4014216"/>
            <a:ext cx="457200" cy="932688"/>
          </a:xfrm>
          <a:prstGeom prst="rect">
            <a:avLst/>
          </a:prstGeom>
          <a:noFill/>
          <a:ln/>
        </p:spPr>
        <p:txBody>
          <a:bodyPr wrap="square" lIns="0" tIns="0" rIns="0" bIns="0" rtlCol="0" anchor="ctr"/>
          <a:lstStyle/>
          <a:p>
            <a:pPr algn="ctr" indent="0" marL="0">
              <a:buNone/>
            </a:pPr>
            <a:r>
              <a:rPr lang="en-US" sz="2000" b="1" dirty="0">
                <a:solidFill>
                  <a:srgbClr val="006666"/>
                </a:solidFill>
                <a:latin typeface="Cambria" pitchFamily="34" charset="0"/>
                <a:ea typeface="Cambria" pitchFamily="34" charset="-122"/>
                <a:cs typeface="Cambria" pitchFamily="34" charset="-120"/>
              </a:rPr>
              <a:t>4</a:t>
            </a:r>
            <a:endParaRPr lang="en-US" sz="2000" dirty="0"/>
          </a:p>
        </p:txBody>
      </p:sp>
      <p:sp>
        <p:nvSpPr>
          <p:cNvPr id="18" name="Text 16"/>
          <p:cNvSpPr/>
          <p:nvPr/>
        </p:nvSpPr>
        <p:spPr>
          <a:xfrm>
            <a:off x="1143000" y="4105656"/>
            <a:ext cx="7406640" cy="320040"/>
          </a:xfrm>
          <a:prstGeom prst="rect">
            <a:avLst/>
          </a:prstGeom>
          <a:noFill/>
          <a:ln/>
        </p:spPr>
        <p:txBody>
          <a:bodyPr wrap="square" lIns="0" tIns="0" rIns="0" bIns="0" rtlCol="0" anchor="t"/>
          <a:lstStyle/>
          <a:p>
            <a:pPr algn="l" indent="0" marL="0">
              <a:buNone/>
            </a:pPr>
            <a:r>
              <a:rPr lang="en-US" sz="1350" b="1" dirty="0">
                <a:solidFill>
                  <a:srgbClr val="322164"/>
                </a:solidFill>
                <a:latin typeface="Cambria" pitchFamily="34" charset="0"/>
                <a:ea typeface="Cambria" pitchFamily="34" charset="-122"/>
                <a:cs typeface="Cambria" pitchFamily="34" charset="-120"/>
              </a:rPr>
              <a:t>Nối thước với đánh giá của người</a:t>
            </a:r>
            <a:endParaRPr lang="en-US" sz="1350" dirty="0"/>
          </a:p>
        </p:txBody>
      </p:sp>
      <p:sp>
        <p:nvSpPr>
          <p:cNvPr id="19" name="Text 17"/>
          <p:cNvSpPr/>
          <p:nvPr/>
        </p:nvSpPr>
        <p:spPr>
          <a:xfrm>
            <a:off x="1143000" y="4434840"/>
            <a:ext cx="7406640" cy="475488"/>
          </a:xfrm>
          <a:prstGeom prst="rect">
            <a:avLst/>
          </a:prstGeom>
          <a:noFill/>
          <a:ln/>
        </p:spPr>
        <p:txBody>
          <a:bodyPr wrap="square" lIns="0" tIns="0" rIns="0" bIns="0" rtlCol="0" anchor="t"/>
          <a:lstStyle/>
          <a:p>
            <a:pPr algn="l" indent="0" marL="0">
              <a:lnSpc>
                <a:spcPct val="115000"/>
              </a:lnSpc>
              <a:buNone/>
            </a:pPr>
            <a:r>
              <a:rPr lang="en-US" sz="1150" dirty="0">
                <a:solidFill>
                  <a:srgbClr val="1A1A1A"/>
                </a:solidFill>
                <a:latin typeface="Cambria" pitchFamily="34" charset="0"/>
                <a:ea typeface="Cambria" pitchFamily="34" charset="-122"/>
                <a:cs typeface="Cambria" pitchFamily="34" charset="-120"/>
              </a:rPr>
              <a:t>hai người chấm 100 câu, đo mức đồng thuận với executability</a:t>
            </a:r>
            <a:endParaRPr lang="en-US" sz="1150" dirty="0"/>
          </a:p>
        </p:txBody>
      </p:sp>
      <p:sp>
        <p:nvSpPr>
          <p:cNvPr id="20" name="Shape 18"/>
          <p:cNvSpPr/>
          <p:nvPr/>
        </p:nvSpPr>
        <p:spPr>
          <a:xfrm>
            <a:off x="457200" y="5093208"/>
            <a:ext cx="8229600" cy="932688"/>
          </a:xfrm>
          <a:prstGeom prst="roundRect">
            <a:avLst>
              <a:gd name="adj" fmla="val 5882"/>
            </a:avLst>
          </a:prstGeom>
          <a:solidFill>
            <a:srgbClr val="E9E8EC"/>
          </a:solidFill>
          <a:ln/>
          <a:effectLst>
            <a:outerShdw sx="100000" sy="100000" kx="0" ky="0" algn="bl" rotWithShape="0" blurRad="63500" dist="31750" dir="2700000">
              <a:srgbClr val="8C8C99">
                <a:alpha val="45000"/>
              </a:srgbClr>
            </a:outerShdw>
          </a:effectLst>
        </p:spPr>
      </p:sp>
      <p:sp>
        <p:nvSpPr>
          <p:cNvPr id="21" name="Text 19"/>
          <p:cNvSpPr/>
          <p:nvPr/>
        </p:nvSpPr>
        <p:spPr>
          <a:xfrm>
            <a:off x="548640" y="5093208"/>
            <a:ext cx="457200" cy="932688"/>
          </a:xfrm>
          <a:prstGeom prst="rect">
            <a:avLst/>
          </a:prstGeom>
          <a:noFill/>
          <a:ln/>
        </p:spPr>
        <p:txBody>
          <a:bodyPr wrap="square" lIns="0" tIns="0" rIns="0" bIns="0" rtlCol="0" anchor="ctr"/>
          <a:lstStyle/>
          <a:p>
            <a:pPr algn="ctr" indent="0" marL="0">
              <a:buNone/>
            </a:pPr>
            <a:r>
              <a:rPr lang="en-US" sz="2000" b="1" dirty="0">
                <a:solidFill>
                  <a:srgbClr val="006666"/>
                </a:solidFill>
                <a:latin typeface="Cambria" pitchFamily="34" charset="0"/>
                <a:ea typeface="Cambria" pitchFamily="34" charset="-122"/>
                <a:cs typeface="Cambria" pitchFamily="34" charset="-120"/>
              </a:rPr>
              <a:t>5</a:t>
            </a:r>
            <a:endParaRPr lang="en-US" sz="2000" dirty="0"/>
          </a:p>
        </p:txBody>
      </p:sp>
      <p:sp>
        <p:nvSpPr>
          <p:cNvPr id="22" name="Text 20"/>
          <p:cNvSpPr/>
          <p:nvPr/>
        </p:nvSpPr>
        <p:spPr>
          <a:xfrm>
            <a:off x="1143000" y="5184648"/>
            <a:ext cx="7406640" cy="320040"/>
          </a:xfrm>
          <a:prstGeom prst="rect">
            <a:avLst/>
          </a:prstGeom>
          <a:noFill/>
          <a:ln/>
        </p:spPr>
        <p:txBody>
          <a:bodyPr wrap="square" lIns="0" tIns="0" rIns="0" bIns="0" rtlCol="0" anchor="t"/>
          <a:lstStyle/>
          <a:p>
            <a:pPr algn="l" indent="0" marL="0">
              <a:buNone/>
            </a:pPr>
            <a:r>
              <a:rPr lang="en-US" sz="1350" b="1" dirty="0">
                <a:solidFill>
                  <a:srgbClr val="322164"/>
                </a:solidFill>
                <a:latin typeface="Cambria" pitchFamily="34" charset="0"/>
                <a:ea typeface="Cambria" pitchFamily="34" charset="-122"/>
                <a:cs typeface="Cambria" pitchFamily="34" charset="-120"/>
              </a:rPr>
              <a:t>Mở rộng phạm vi</a:t>
            </a:r>
            <a:endParaRPr lang="en-US" sz="1350" dirty="0"/>
          </a:p>
        </p:txBody>
      </p:sp>
      <p:sp>
        <p:nvSpPr>
          <p:cNvPr id="23" name="Text 21"/>
          <p:cNvSpPr/>
          <p:nvPr/>
        </p:nvSpPr>
        <p:spPr>
          <a:xfrm>
            <a:off x="1143000" y="5513832"/>
            <a:ext cx="7406640" cy="475488"/>
          </a:xfrm>
          <a:prstGeom prst="rect">
            <a:avLst/>
          </a:prstGeom>
          <a:noFill/>
          <a:ln/>
        </p:spPr>
        <p:txBody>
          <a:bodyPr wrap="square" lIns="0" tIns="0" rIns="0" bIns="0" rtlCol="0" anchor="t"/>
          <a:lstStyle/>
          <a:p>
            <a:pPr algn="l" indent="0" marL="0">
              <a:lnSpc>
                <a:spcPct val="115000"/>
              </a:lnSpc>
              <a:buNone/>
            </a:pPr>
            <a:r>
              <a:rPr lang="en-US" sz="1150" dirty="0">
                <a:solidFill>
                  <a:srgbClr val="1A1A1A"/>
                </a:solidFill>
                <a:latin typeface="Cambria" pitchFamily="34" charset="0"/>
                <a:ea typeface="Cambria" pitchFamily="34" charset="-122"/>
                <a:cs typeface="Cambria" pitchFamily="34" charset="-120"/>
              </a:rPr>
              <a:t>phần kiểm chính thức của AndroidControl, chuỗi nhiều màn, giao diện tiếng Việt, bộ dữ liệu thứ hai</a:t>
            </a:r>
            <a:endParaRPr lang="en-US" sz="1150" dirty="0"/>
          </a:p>
        </p:txBody>
      </p:sp>
      <p:sp>
        <p:nvSpPr>
          <p:cNvPr id="25" name="Shape 22"/>
          <p:cNvSpPr/>
          <p:nvPr/>
        </p:nvSpPr>
        <p:spPr>
          <a:xfrm>
            <a:off x="0" y="6620256"/>
            <a:ext cx="2743200" cy="237744"/>
          </a:xfrm>
          <a:prstGeom prst="rect">
            <a:avLst/>
          </a:prstGeom>
          <a:solidFill>
            <a:srgbClr val="191132"/>
          </a:solidFill>
          <a:ln/>
        </p:spPr>
      </p:sp>
      <p:sp>
        <p:nvSpPr>
          <p:cNvPr id="26" name="Shape 23"/>
          <p:cNvSpPr/>
          <p:nvPr/>
        </p:nvSpPr>
        <p:spPr>
          <a:xfrm>
            <a:off x="2743200" y="6620256"/>
            <a:ext cx="3383280" cy="237744"/>
          </a:xfrm>
          <a:prstGeom prst="rect">
            <a:avLst/>
          </a:prstGeom>
          <a:solidFill>
            <a:srgbClr val="25194B"/>
          </a:solidFill>
          <a:ln/>
        </p:spPr>
      </p:sp>
      <p:sp>
        <p:nvSpPr>
          <p:cNvPr id="27" name="Shape 24"/>
          <p:cNvSpPr/>
          <p:nvPr/>
        </p:nvSpPr>
        <p:spPr>
          <a:xfrm>
            <a:off x="6126480" y="6620256"/>
            <a:ext cx="1737360" cy="237744"/>
          </a:xfrm>
          <a:prstGeom prst="rect">
            <a:avLst/>
          </a:prstGeom>
          <a:solidFill>
            <a:srgbClr val="4F417A"/>
          </a:solidFill>
          <a:ln/>
        </p:spPr>
      </p:sp>
      <p:sp>
        <p:nvSpPr>
          <p:cNvPr id="28" name="Shape 25"/>
          <p:cNvSpPr/>
          <p:nvPr/>
        </p:nvSpPr>
        <p:spPr>
          <a:xfrm>
            <a:off x="7863840" y="6620256"/>
            <a:ext cx="1280160" cy="237744"/>
          </a:xfrm>
          <a:prstGeom prst="rect">
            <a:avLst/>
          </a:prstGeom>
          <a:solidFill>
            <a:srgbClr val="7A7099"/>
          </a:solidFill>
          <a:ln/>
        </p:spPr>
      </p:sp>
      <p:sp>
        <p:nvSpPr>
          <p:cNvPr id="29" name="Text 26"/>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Luận văn thạc sĩ</a:t>
            </a:r>
            <a:endParaRPr lang="en-US" sz="800" dirty="0"/>
          </a:p>
        </p:txBody>
      </p:sp>
      <p:sp>
        <p:nvSpPr>
          <p:cNvPr id="30" name="Text 27"/>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Phát sinh tự động hướng dẫn sử dụng phần mềm dựa trên LLM</a:t>
            </a:r>
            <a:endParaRPr lang="en-US" sz="800" dirty="0"/>
          </a:p>
        </p:txBody>
      </p:sp>
      <p:sp>
        <p:nvSpPr>
          <p:cNvPr id="31" name="Text 28"/>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32" name="Text 29"/>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23/24</a:t>
            </a:r>
            <a:endParaRPr lang="en-US" sz="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Tình trạng luận văn và các bài báo</a:t>
            </a:r>
            <a:endParaRPr lang="en-US" sz="1900" dirty="0"/>
          </a:p>
        </p:txBody>
      </p:sp>
      <p:sp>
        <p:nvSpPr>
          <p:cNvPr id="4" name="Shape 2"/>
          <p:cNvSpPr/>
          <p:nvPr/>
        </p:nvSpPr>
        <p:spPr>
          <a:xfrm>
            <a:off x="457200" y="777240"/>
            <a:ext cx="4023360" cy="3657600"/>
          </a:xfrm>
          <a:prstGeom prst="roundRect">
            <a:avLst>
              <a:gd name="adj" fmla="val 1500"/>
            </a:avLst>
          </a:prstGeom>
          <a:solidFill>
            <a:srgbClr val="E9E8EC"/>
          </a:solidFill>
          <a:ln/>
          <a:effectLst>
            <a:outerShdw sx="100000" sy="100000" kx="0" ky="0" algn="bl" rotWithShape="0" blurRad="63500" dist="31750" dir="2700000">
              <a:srgbClr val="8C8C99">
                <a:alpha val="45000"/>
              </a:srgbClr>
            </a:outerShdw>
          </a:effectLst>
        </p:spPr>
      </p:sp>
      <p:sp>
        <p:nvSpPr>
          <p:cNvPr id="5" name="Text 3"/>
          <p:cNvSpPr/>
          <p:nvPr/>
        </p:nvSpPr>
        <p:spPr>
          <a:xfrm>
            <a:off x="640080" y="868680"/>
            <a:ext cx="3657600" cy="320040"/>
          </a:xfrm>
          <a:prstGeom prst="rect">
            <a:avLst/>
          </a:prstGeom>
          <a:noFill/>
          <a:ln/>
        </p:spPr>
        <p:txBody>
          <a:bodyPr wrap="square" lIns="0" tIns="0" rIns="0" bIns="0" rtlCol="0" anchor="t"/>
          <a:lstStyle/>
          <a:p>
            <a:pPr algn="l" indent="0" marL="0">
              <a:buNone/>
            </a:pPr>
            <a:r>
              <a:rPr lang="en-US" sz="1350" b="1" dirty="0">
                <a:solidFill>
                  <a:srgbClr val="322164"/>
                </a:solidFill>
                <a:latin typeface="Cambria" pitchFamily="34" charset="0"/>
                <a:ea typeface="Cambria" pitchFamily="34" charset="-122"/>
                <a:cs typeface="Cambria" pitchFamily="34" charset="-120"/>
              </a:rPr>
              <a:t>Bản luận văn</a:t>
            </a:r>
            <a:endParaRPr lang="en-US" sz="1350" dirty="0"/>
          </a:p>
        </p:txBody>
      </p:sp>
      <p:sp>
        <p:nvSpPr>
          <p:cNvPr id="6" name="Text 4"/>
          <p:cNvSpPr/>
          <p:nvPr/>
        </p:nvSpPr>
        <p:spPr>
          <a:xfrm>
            <a:off x="594360" y="1280160"/>
            <a:ext cx="640080" cy="329184"/>
          </a:xfrm>
          <a:prstGeom prst="rect">
            <a:avLst/>
          </a:prstGeom>
          <a:noFill/>
          <a:ln/>
        </p:spPr>
        <p:txBody>
          <a:bodyPr wrap="square" lIns="38100" tIns="38100" rIns="38100" bIns="38100" rtlCol="0" anchor="ctr"/>
          <a:lstStyle/>
          <a:p>
            <a:pPr algn="l" indent="0" marL="0">
              <a:buNone/>
            </a:pPr>
            <a:r>
              <a:rPr lang="en-US" sz="1150" dirty="0">
                <a:solidFill>
                  <a:srgbClr val="1A1A1A"/>
                </a:solidFill>
                <a:latin typeface="Cambria" pitchFamily="34" charset="0"/>
                <a:ea typeface="Cambria" pitchFamily="34" charset="-122"/>
                <a:cs typeface="Cambria" pitchFamily="34" charset="-120"/>
              </a:rPr>
              <a:t>Ch. 1</a:t>
            </a:r>
            <a:endParaRPr lang="en-US" sz="1150" dirty="0"/>
          </a:p>
        </p:txBody>
      </p:sp>
      <p:sp>
        <p:nvSpPr>
          <p:cNvPr id="7" name="Text 5"/>
          <p:cNvSpPr/>
          <p:nvPr/>
        </p:nvSpPr>
        <p:spPr>
          <a:xfrm>
            <a:off x="1234440" y="1280160"/>
            <a:ext cx="2971800" cy="329184"/>
          </a:xfrm>
          <a:prstGeom prst="rect">
            <a:avLst/>
          </a:prstGeom>
          <a:noFill/>
          <a:ln/>
        </p:spPr>
        <p:txBody>
          <a:bodyPr wrap="square" lIns="38100" tIns="38100" rIns="38100" bIns="38100" rtlCol="0" anchor="ctr"/>
          <a:lstStyle/>
          <a:p>
            <a:pPr algn="l" indent="0" marL="0">
              <a:buNone/>
            </a:pPr>
            <a:r>
              <a:rPr lang="en-US" sz="1150" dirty="0">
                <a:solidFill>
                  <a:srgbClr val="1A1A1A"/>
                </a:solidFill>
                <a:latin typeface="Cambria" pitchFamily="34" charset="0"/>
                <a:ea typeface="Cambria" pitchFamily="34" charset="-122"/>
                <a:cs typeface="Cambria" pitchFamily="34" charset="-120"/>
              </a:rPr>
              <a:t>Giới thiệu</a:t>
            </a:r>
            <a:endParaRPr lang="en-US" sz="1150" dirty="0"/>
          </a:p>
        </p:txBody>
      </p:sp>
      <p:sp>
        <p:nvSpPr>
          <p:cNvPr id="8" name="Shape 6"/>
          <p:cNvSpPr/>
          <p:nvPr/>
        </p:nvSpPr>
        <p:spPr>
          <a:xfrm>
            <a:off x="594360" y="1609344"/>
            <a:ext cx="3611880" cy="0"/>
          </a:xfrm>
          <a:prstGeom prst="line">
            <a:avLst/>
          </a:prstGeom>
          <a:noFill/>
          <a:ln w="12700">
            <a:solidFill>
              <a:srgbClr val="9A94AE"/>
            </a:solidFill>
            <a:prstDash val="solid"/>
          </a:ln>
        </p:spPr>
      </p:sp>
      <p:sp>
        <p:nvSpPr>
          <p:cNvPr id="9" name="Text 7"/>
          <p:cNvSpPr/>
          <p:nvPr/>
        </p:nvSpPr>
        <p:spPr>
          <a:xfrm>
            <a:off x="594360" y="1609344"/>
            <a:ext cx="640080" cy="329184"/>
          </a:xfrm>
          <a:prstGeom prst="rect">
            <a:avLst/>
          </a:prstGeom>
          <a:noFill/>
          <a:ln/>
        </p:spPr>
        <p:txBody>
          <a:bodyPr wrap="square" lIns="38100" tIns="38100" rIns="38100" bIns="38100" rtlCol="0" anchor="ctr"/>
          <a:lstStyle/>
          <a:p>
            <a:pPr algn="l" indent="0" marL="0">
              <a:buNone/>
            </a:pPr>
            <a:r>
              <a:rPr lang="en-US" sz="1150" dirty="0">
                <a:solidFill>
                  <a:srgbClr val="1A1A1A"/>
                </a:solidFill>
                <a:latin typeface="Cambria" pitchFamily="34" charset="0"/>
                <a:ea typeface="Cambria" pitchFamily="34" charset="-122"/>
                <a:cs typeface="Cambria" pitchFamily="34" charset="-120"/>
              </a:rPr>
              <a:t>Ch. 2</a:t>
            </a:r>
            <a:endParaRPr lang="en-US" sz="1150" dirty="0"/>
          </a:p>
        </p:txBody>
      </p:sp>
      <p:sp>
        <p:nvSpPr>
          <p:cNvPr id="10" name="Text 8"/>
          <p:cNvSpPr/>
          <p:nvPr/>
        </p:nvSpPr>
        <p:spPr>
          <a:xfrm>
            <a:off x="1234440" y="1609344"/>
            <a:ext cx="2971800" cy="329184"/>
          </a:xfrm>
          <a:prstGeom prst="rect">
            <a:avLst/>
          </a:prstGeom>
          <a:noFill/>
          <a:ln/>
        </p:spPr>
        <p:txBody>
          <a:bodyPr wrap="square" lIns="38100" tIns="38100" rIns="38100" bIns="38100" rtlCol="0" anchor="ctr"/>
          <a:lstStyle/>
          <a:p>
            <a:pPr algn="l" indent="0" marL="0">
              <a:buNone/>
            </a:pPr>
            <a:r>
              <a:rPr lang="en-US" sz="1150" dirty="0">
                <a:solidFill>
                  <a:srgbClr val="1A1A1A"/>
                </a:solidFill>
                <a:latin typeface="Cambria" pitchFamily="34" charset="0"/>
                <a:ea typeface="Cambria" pitchFamily="34" charset="-122"/>
                <a:cs typeface="Cambria" pitchFamily="34" charset="-120"/>
              </a:rPr>
              <a:t>Tổng quan</a:t>
            </a:r>
            <a:endParaRPr lang="en-US" sz="1150" dirty="0"/>
          </a:p>
        </p:txBody>
      </p:sp>
      <p:sp>
        <p:nvSpPr>
          <p:cNvPr id="11" name="Shape 9"/>
          <p:cNvSpPr/>
          <p:nvPr/>
        </p:nvSpPr>
        <p:spPr>
          <a:xfrm>
            <a:off x="594360" y="1938528"/>
            <a:ext cx="3611880" cy="0"/>
          </a:xfrm>
          <a:prstGeom prst="line">
            <a:avLst/>
          </a:prstGeom>
          <a:noFill/>
          <a:ln w="12700">
            <a:solidFill>
              <a:srgbClr val="9A94AE"/>
            </a:solidFill>
            <a:prstDash val="solid"/>
          </a:ln>
        </p:spPr>
      </p:sp>
      <p:sp>
        <p:nvSpPr>
          <p:cNvPr id="12" name="Text 10"/>
          <p:cNvSpPr/>
          <p:nvPr/>
        </p:nvSpPr>
        <p:spPr>
          <a:xfrm>
            <a:off x="594360" y="1938528"/>
            <a:ext cx="640080" cy="329184"/>
          </a:xfrm>
          <a:prstGeom prst="rect">
            <a:avLst/>
          </a:prstGeom>
          <a:noFill/>
          <a:ln/>
        </p:spPr>
        <p:txBody>
          <a:bodyPr wrap="square" lIns="38100" tIns="38100" rIns="38100" bIns="38100" rtlCol="0" anchor="ctr"/>
          <a:lstStyle/>
          <a:p>
            <a:pPr algn="l" indent="0" marL="0">
              <a:buNone/>
            </a:pPr>
            <a:r>
              <a:rPr lang="en-US" sz="1150" dirty="0">
                <a:solidFill>
                  <a:srgbClr val="1A1A1A"/>
                </a:solidFill>
                <a:latin typeface="Cambria" pitchFamily="34" charset="0"/>
                <a:ea typeface="Cambria" pitchFamily="34" charset="-122"/>
                <a:cs typeface="Cambria" pitchFamily="34" charset="-120"/>
              </a:rPr>
              <a:t>Ch. 3</a:t>
            </a:r>
            <a:endParaRPr lang="en-US" sz="1150" dirty="0"/>
          </a:p>
        </p:txBody>
      </p:sp>
      <p:sp>
        <p:nvSpPr>
          <p:cNvPr id="13" name="Text 11"/>
          <p:cNvSpPr/>
          <p:nvPr/>
        </p:nvSpPr>
        <p:spPr>
          <a:xfrm>
            <a:off x="1234440" y="1938528"/>
            <a:ext cx="2971800" cy="329184"/>
          </a:xfrm>
          <a:prstGeom prst="rect">
            <a:avLst/>
          </a:prstGeom>
          <a:noFill/>
          <a:ln/>
        </p:spPr>
        <p:txBody>
          <a:bodyPr wrap="square" lIns="38100" tIns="38100" rIns="38100" bIns="38100" rtlCol="0" anchor="ctr"/>
          <a:lstStyle/>
          <a:p>
            <a:pPr algn="l" indent="0" marL="0">
              <a:buNone/>
            </a:pPr>
            <a:r>
              <a:rPr lang="en-US" sz="1150" dirty="0">
                <a:solidFill>
                  <a:srgbClr val="1A1A1A"/>
                </a:solidFill>
                <a:latin typeface="Cambria" pitchFamily="34" charset="0"/>
                <a:ea typeface="Cambria" pitchFamily="34" charset="-122"/>
                <a:cs typeface="Cambria" pitchFamily="34" charset="-120"/>
              </a:rPr>
              <a:t>Xây dựng bộ dữ liệu</a:t>
            </a:r>
            <a:endParaRPr lang="en-US" sz="1150" dirty="0"/>
          </a:p>
        </p:txBody>
      </p:sp>
      <p:sp>
        <p:nvSpPr>
          <p:cNvPr id="14" name="Shape 12"/>
          <p:cNvSpPr/>
          <p:nvPr/>
        </p:nvSpPr>
        <p:spPr>
          <a:xfrm>
            <a:off x="594360" y="2267712"/>
            <a:ext cx="3611880" cy="0"/>
          </a:xfrm>
          <a:prstGeom prst="line">
            <a:avLst/>
          </a:prstGeom>
          <a:noFill/>
          <a:ln w="12700">
            <a:solidFill>
              <a:srgbClr val="9A94AE"/>
            </a:solidFill>
            <a:prstDash val="solid"/>
          </a:ln>
        </p:spPr>
      </p:sp>
      <p:sp>
        <p:nvSpPr>
          <p:cNvPr id="15" name="Text 13"/>
          <p:cNvSpPr/>
          <p:nvPr/>
        </p:nvSpPr>
        <p:spPr>
          <a:xfrm>
            <a:off x="594360" y="2267712"/>
            <a:ext cx="640080" cy="329184"/>
          </a:xfrm>
          <a:prstGeom prst="rect">
            <a:avLst/>
          </a:prstGeom>
          <a:noFill/>
          <a:ln/>
        </p:spPr>
        <p:txBody>
          <a:bodyPr wrap="square" lIns="38100" tIns="38100" rIns="38100" bIns="38100" rtlCol="0" anchor="ctr"/>
          <a:lstStyle/>
          <a:p>
            <a:pPr algn="l" indent="0" marL="0">
              <a:buNone/>
            </a:pPr>
            <a:r>
              <a:rPr lang="en-US" sz="1150" dirty="0">
                <a:solidFill>
                  <a:srgbClr val="1A1A1A"/>
                </a:solidFill>
                <a:latin typeface="Cambria" pitchFamily="34" charset="0"/>
                <a:ea typeface="Cambria" pitchFamily="34" charset="-122"/>
                <a:cs typeface="Cambria" pitchFamily="34" charset="-120"/>
              </a:rPr>
              <a:t>Ch. 4</a:t>
            </a:r>
            <a:endParaRPr lang="en-US" sz="1150" dirty="0"/>
          </a:p>
        </p:txBody>
      </p:sp>
      <p:sp>
        <p:nvSpPr>
          <p:cNvPr id="16" name="Text 14"/>
          <p:cNvSpPr/>
          <p:nvPr/>
        </p:nvSpPr>
        <p:spPr>
          <a:xfrm>
            <a:off x="1234440" y="2267712"/>
            <a:ext cx="2971800" cy="329184"/>
          </a:xfrm>
          <a:prstGeom prst="rect">
            <a:avLst/>
          </a:prstGeom>
          <a:noFill/>
          <a:ln/>
        </p:spPr>
        <p:txBody>
          <a:bodyPr wrap="square" lIns="38100" tIns="38100" rIns="38100" bIns="38100" rtlCol="0" anchor="ctr"/>
          <a:lstStyle/>
          <a:p>
            <a:pPr algn="l" indent="0" marL="0">
              <a:buNone/>
            </a:pPr>
            <a:r>
              <a:rPr lang="en-US" sz="1150" dirty="0">
                <a:solidFill>
                  <a:srgbClr val="1A1A1A"/>
                </a:solidFill>
                <a:latin typeface="Cambria" pitchFamily="34" charset="0"/>
                <a:ea typeface="Cambria" pitchFamily="34" charset="-122"/>
                <a:cs typeface="Cambria" pitchFamily="34" charset="-120"/>
              </a:rPr>
              <a:t>Phương pháp tiếp cận</a:t>
            </a:r>
            <a:endParaRPr lang="en-US" sz="1150" dirty="0"/>
          </a:p>
        </p:txBody>
      </p:sp>
      <p:sp>
        <p:nvSpPr>
          <p:cNvPr id="17" name="Shape 15"/>
          <p:cNvSpPr/>
          <p:nvPr/>
        </p:nvSpPr>
        <p:spPr>
          <a:xfrm>
            <a:off x="594360" y="2596896"/>
            <a:ext cx="3611880" cy="0"/>
          </a:xfrm>
          <a:prstGeom prst="line">
            <a:avLst/>
          </a:prstGeom>
          <a:noFill/>
          <a:ln w="12700">
            <a:solidFill>
              <a:srgbClr val="9A94AE"/>
            </a:solidFill>
            <a:prstDash val="solid"/>
          </a:ln>
        </p:spPr>
      </p:sp>
      <p:sp>
        <p:nvSpPr>
          <p:cNvPr id="18" name="Text 16"/>
          <p:cNvSpPr/>
          <p:nvPr/>
        </p:nvSpPr>
        <p:spPr>
          <a:xfrm>
            <a:off x="594360" y="2596896"/>
            <a:ext cx="640080" cy="329184"/>
          </a:xfrm>
          <a:prstGeom prst="rect">
            <a:avLst/>
          </a:prstGeom>
          <a:noFill/>
          <a:ln/>
        </p:spPr>
        <p:txBody>
          <a:bodyPr wrap="square" lIns="38100" tIns="38100" rIns="38100" bIns="38100" rtlCol="0" anchor="ctr"/>
          <a:lstStyle/>
          <a:p>
            <a:pPr algn="l" indent="0" marL="0">
              <a:buNone/>
            </a:pPr>
            <a:r>
              <a:rPr lang="en-US" sz="1150" dirty="0">
                <a:solidFill>
                  <a:srgbClr val="1A1A1A"/>
                </a:solidFill>
                <a:latin typeface="Cambria" pitchFamily="34" charset="0"/>
                <a:ea typeface="Cambria" pitchFamily="34" charset="-122"/>
                <a:cs typeface="Cambria" pitchFamily="34" charset="-120"/>
              </a:rPr>
              <a:t>Ch. 5</a:t>
            </a:r>
            <a:endParaRPr lang="en-US" sz="1150" dirty="0"/>
          </a:p>
        </p:txBody>
      </p:sp>
      <p:sp>
        <p:nvSpPr>
          <p:cNvPr id="19" name="Text 17"/>
          <p:cNvSpPr/>
          <p:nvPr/>
        </p:nvSpPr>
        <p:spPr>
          <a:xfrm>
            <a:off x="1234440" y="2596896"/>
            <a:ext cx="2971800" cy="329184"/>
          </a:xfrm>
          <a:prstGeom prst="rect">
            <a:avLst/>
          </a:prstGeom>
          <a:noFill/>
          <a:ln/>
        </p:spPr>
        <p:txBody>
          <a:bodyPr wrap="square" lIns="38100" tIns="38100" rIns="38100" bIns="38100" rtlCol="0" anchor="ctr"/>
          <a:lstStyle/>
          <a:p>
            <a:pPr algn="l" indent="0" marL="0">
              <a:buNone/>
            </a:pPr>
            <a:r>
              <a:rPr lang="en-US" sz="1150" dirty="0">
                <a:solidFill>
                  <a:srgbClr val="1A1A1A"/>
                </a:solidFill>
                <a:latin typeface="Cambria" pitchFamily="34" charset="0"/>
                <a:ea typeface="Cambria" pitchFamily="34" charset="-122"/>
                <a:cs typeface="Cambria" pitchFamily="34" charset="-120"/>
              </a:rPr>
              <a:t>Thước đo executability</a:t>
            </a:r>
            <a:endParaRPr lang="en-US" sz="1150" dirty="0"/>
          </a:p>
        </p:txBody>
      </p:sp>
      <p:sp>
        <p:nvSpPr>
          <p:cNvPr id="20" name="Shape 18"/>
          <p:cNvSpPr/>
          <p:nvPr/>
        </p:nvSpPr>
        <p:spPr>
          <a:xfrm>
            <a:off x="594360" y="2926080"/>
            <a:ext cx="3611880" cy="0"/>
          </a:xfrm>
          <a:prstGeom prst="line">
            <a:avLst/>
          </a:prstGeom>
          <a:noFill/>
          <a:ln w="12700">
            <a:solidFill>
              <a:srgbClr val="9A94AE"/>
            </a:solidFill>
            <a:prstDash val="solid"/>
          </a:ln>
        </p:spPr>
      </p:sp>
      <p:sp>
        <p:nvSpPr>
          <p:cNvPr id="21" name="Text 19"/>
          <p:cNvSpPr/>
          <p:nvPr/>
        </p:nvSpPr>
        <p:spPr>
          <a:xfrm>
            <a:off x="594360" y="2926080"/>
            <a:ext cx="640080" cy="329184"/>
          </a:xfrm>
          <a:prstGeom prst="rect">
            <a:avLst/>
          </a:prstGeom>
          <a:noFill/>
          <a:ln/>
        </p:spPr>
        <p:txBody>
          <a:bodyPr wrap="square" lIns="38100" tIns="38100" rIns="38100" bIns="38100" rtlCol="0" anchor="ctr"/>
          <a:lstStyle/>
          <a:p>
            <a:pPr algn="l" indent="0" marL="0">
              <a:buNone/>
            </a:pPr>
            <a:r>
              <a:rPr lang="en-US" sz="1150" dirty="0">
                <a:solidFill>
                  <a:srgbClr val="1A1A1A"/>
                </a:solidFill>
                <a:latin typeface="Cambria" pitchFamily="34" charset="0"/>
                <a:ea typeface="Cambria" pitchFamily="34" charset="-122"/>
                <a:cs typeface="Cambria" pitchFamily="34" charset="-120"/>
              </a:rPr>
              <a:t>Ch. 6</a:t>
            </a:r>
            <a:endParaRPr lang="en-US" sz="1150" dirty="0"/>
          </a:p>
        </p:txBody>
      </p:sp>
      <p:sp>
        <p:nvSpPr>
          <p:cNvPr id="22" name="Text 20"/>
          <p:cNvSpPr/>
          <p:nvPr/>
        </p:nvSpPr>
        <p:spPr>
          <a:xfrm>
            <a:off x="1234440" y="2926080"/>
            <a:ext cx="2971800" cy="329184"/>
          </a:xfrm>
          <a:prstGeom prst="rect">
            <a:avLst/>
          </a:prstGeom>
          <a:noFill/>
          <a:ln/>
        </p:spPr>
        <p:txBody>
          <a:bodyPr wrap="square" lIns="38100" tIns="38100" rIns="38100" bIns="38100" rtlCol="0" anchor="ctr"/>
          <a:lstStyle/>
          <a:p>
            <a:pPr algn="l" indent="0" marL="0">
              <a:buNone/>
            </a:pPr>
            <a:r>
              <a:rPr lang="en-US" sz="1150" dirty="0">
                <a:solidFill>
                  <a:srgbClr val="1A1A1A"/>
                </a:solidFill>
                <a:latin typeface="Cambria" pitchFamily="34" charset="0"/>
                <a:ea typeface="Cambria" pitchFamily="34" charset="-122"/>
                <a:cs typeface="Cambria" pitchFamily="34" charset="-120"/>
              </a:rPr>
              <a:t>Thực nghiệm và kết quả</a:t>
            </a:r>
            <a:endParaRPr lang="en-US" sz="1150" dirty="0"/>
          </a:p>
        </p:txBody>
      </p:sp>
      <p:sp>
        <p:nvSpPr>
          <p:cNvPr id="23" name="Shape 21"/>
          <p:cNvSpPr/>
          <p:nvPr/>
        </p:nvSpPr>
        <p:spPr>
          <a:xfrm>
            <a:off x="594360" y="3255264"/>
            <a:ext cx="3611880" cy="0"/>
          </a:xfrm>
          <a:prstGeom prst="line">
            <a:avLst/>
          </a:prstGeom>
          <a:noFill/>
          <a:ln w="12700">
            <a:solidFill>
              <a:srgbClr val="9A94AE"/>
            </a:solidFill>
            <a:prstDash val="solid"/>
          </a:ln>
        </p:spPr>
      </p:sp>
      <p:sp>
        <p:nvSpPr>
          <p:cNvPr id="24" name="Text 22"/>
          <p:cNvSpPr/>
          <p:nvPr/>
        </p:nvSpPr>
        <p:spPr>
          <a:xfrm>
            <a:off x="594360" y="3255264"/>
            <a:ext cx="640080" cy="329184"/>
          </a:xfrm>
          <a:prstGeom prst="rect">
            <a:avLst/>
          </a:prstGeom>
          <a:noFill/>
          <a:ln/>
        </p:spPr>
        <p:txBody>
          <a:bodyPr wrap="square" lIns="38100" tIns="38100" rIns="38100" bIns="38100" rtlCol="0" anchor="ctr"/>
          <a:lstStyle/>
          <a:p>
            <a:pPr algn="l" indent="0" marL="0">
              <a:buNone/>
            </a:pPr>
            <a:r>
              <a:rPr lang="en-US" sz="1150" dirty="0">
                <a:solidFill>
                  <a:srgbClr val="1A1A1A"/>
                </a:solidFill>
                <a:latin typeface="Cambria" pitchFamily="34" charset="0"/>
                <a:ea typeface="Cambria" pitchFamily="34" charset="-122"/>
                <a:cs typeface="Cambria" pitchFamily="34" charset="-120"/>
              </a:rPr>
              <a:t>Ch. 7</a:t>
            </a:r>
            <a:endParaRPr lang="en-US" sz="1150" dirty="0"/>
          </a:p>
        </p:txBody>
      </p:sp>
      <p:sp>
        <p:nvSpPr>
          <p:cNvPr id="25" name="Text 23"/>
          <p:cNvSpPr/>
          <p:nvPr/>
        </p:nvSpPr>
        <p:spPr>
          <a:xfrm>
            <a:off x="1234440" y="3255264"/>
            <a:ext cx="2971800" cy="329184"/>
          </a:xfrm>
          <a:prstGeom prst="rect">
            <a:avLst/>
          </a:prstGeom>
          <a:noFill/>
          <a:ln/>
        </p:spPr>
        <p:txBody>
          <a:bodyPr wrap="square" lIns="38100" tIns="38100" rIns="38100" bIns="38100" rtlCol="0" anchor="ctr"/>
          <a:lstStyle/>
          <a:p>
            <a:pPr algn="l" indent="0" marL="0">
              <a:buNone/>
            </a:pPr>
            <a:r>
              <a:rPr lang="en-US" sz="1150" dirty="0">
                <a:solidFill>
                  <a:srgbClr val="1A1A1A"/>
                </a:solidFill>
                <a:latin typeface="Cambria" pitchFamily="34" charset="0"/>
                <a:ea typeface="Cambria" pitchFamily="34" charset="-122"/>
                <a:cs typeface="Cambria" pitchFamily="34" charset="-120"/>
              </a:rPr>
              <a:t>Kết luận</a:t>
            </a:r>
            <a:endParaRPr lang="en-US" sz="1150" dirty="0"/>
          </a:p>
        </p:txBody>
      </p:sp>
      <p:sp>
        <p:nvSpPr>
          <p:cNvPr id="26" name="Shape 24"/>
          <p:cNvSpPr/>
          <p:nvPr/>
        </p:nvSpPr>
        <p:spPr>
          <a:xfrm>
            <a:off x="594360" y="3584448"/>
            <a:ext cx="3611880" cy="0"/>
          </a:xfrm>
          <a:prstGeom prst="line">
            <a:avLst/>
          </a:prstGeom>
          <a:noFill/>
          <a:ln w="12700">
            <a:solidFill>
              <a:srgbClr val="9A94AE"/>
            </a:solidFill>
            <a:prstDash val="solid"/>
          </a:ln>
        </p:spPr>
      </p:sp>
      <p:sp>
        <p:nvSpPr>
          <p:cNvPr id="27" name="Text 25"/>
          <p:cNvSpPr/>
          <p:nvPr/>
        </p:nvSpPr>
        <p:spPr>
          <a:xfrm>
            <a:off x="594360" y="3584448"/>
            <a:ext cx="640080" cy="329184"/>
          </a:xfrm>
          <a:prstGeom prst="rect">
            <a:avLst/>
          </a:prstGeom>
          <a:noFill/>
          <a:ln/>
        </p:spPr>
        <p:txBody>
          <a:bodyPr wrap="square" lIns="38100" tIns="38100" rIns="38100" bIns="38100" rtlCol="0" anchor="ctr"/>
          <a:lstStyle/>
          <a:p>
            <a:pPr algn="l" indent="0" marL="0">
              <a:buNone/>
            </a:pPr>
            <a:r>
              <a:rPr lang="en-US" sz="1150" dirty="0">
                <a:solidFill>
                  <a:srgbClr val="1A1A1A"/>
                </a:solidFill>
                <a:latin typeface="Cambria" pitchFamily="34" charset="0"/>
                <a:ea typeface="Cambria" pitchFamily="34" charset="-122"/>
                <a:cs typeface="Cambria" pitchFamily="34" charset="-120"/>
              </a:rPr>
              <a:t>Ch. 8</a:t>
            </a:r>
            <a:endParaRPr lang="en-US" sz="1150" dirty="0"/>
          </a:p>
        </p:txBody>
      </p:sp>
      <p:sp>
        <p:nvSpPr>
          <p:cNvPr id="28" name="Text 26"/>
          <p:cNvSpPr/>
          <p:nvPr/>
        </p:nvSpPr>
        <p:spPr>
          <a:xfrm>
            <a:off x="1234440" y="3584448"/>
            <a:ext cx="2971800" cy="329184"/>
          </a:xfrm>
          <a:prstGeom prst="rect">
            <a:avLst/>
          </a:prstGeom>
          <a:noFill/>
          <a:ln/>
        </p:spPr>
        <p:txBody>
          <a:bodyPr wrap="square" lIns="38100" tIns="38100" rIns="38100" bIns="38100" rtlCol="0" anchor="ctr"/>
          <a:lstStyle/>
          <a:p>
            <a:pPr algn="l" indent="0" marL="0">
              <a:buNone/>
            </a:pPr>
            <a:r>
              <a:rPr lang="en-US" sz="1150" dirty="0">
                <a:solidFill>
                  <a:srgbClr val="1A1A1A"/>
                </a:solidFill>
                <a:latin typeface="Cambria" pitchFamily="34" charset="0"/>
                <a:ea typeface="Cambria" pitchFamily="34" charset="-122"/>
                <a:cs typeface="Cambria" pitchFamily="34" charset="-120"/>
              </a:rPr>
              <a:t>Các công trình nghiên cứu</a:t>
            </a:r>
            <a:endParaRPr lang="en-US" sz="1150" dirty="0"/>
          </a:p>
        </p:txBody>
      </p:sp>
      <p:sp>
        <p:nvSpPr>
          <p:cNvPr id="29" name="Text 27"/>
          <p:cNvSpPr/>
          <p:nvPr/>
        </p:nvSpPr>
        <p:spPr>
          <a:xfrm>
            <a:off x="640080" y="3977640"/>
            <a:ext cx="3657600" cy="320040"/>
          </a:xfrm>
          <a:prstGeom prst="rect">
            <a:avLst/>
          </a:prstGeom>
          <a:noFill/>
          <a:ln/>
        </p:spPr>
        <p:txBody>
          <a:bodyPr wrap="square" lIns="0" tIns="0" rIns="0" bIns="0" rtlCol="0" anchor="t"/>
          <a:lstStyle/>
          <a:p>
            <a:pPr algn="l" indent="0" marL="0">
              <a:buNone/>
            </a:pPr>
            <a:r>
              <a:rPr lang="en-US" sz="1200" b="1" dirty="0">
                <a:solidFill>
                  <a:srgbClr val="006666"/>
                </a:solidFill>
                <a:latin typeface="Cambria" pitchFamily="34" charset="0"/>
                <a:ea typeface="Cambria" pitchFamily="34" charset="-122"/>
                <a:cs typeface="Cambria" pitchFamily="34" charset="-120"/>
              </a:rPr>
              <a:t>153 trang, đã dựng bản PDF đầy đủ</a:t>
            </a:r>
            <a:endParaRPr lang="en-US" sz="1200" dirty="0"/>
          </a:p>
        </p:txBody>
      </p:sp>
      <p:sp>
        <p:nvSpPr>
          <p:cNvPr id="30" name="Shape 28"/>
          <p:cNvSpPr/>
          <p:nvPr/>
        </p:nvSpPr>
        <p:spPr>
          <a:xfrm>
            <a:off x="4663440" y="777240"/>
            <a:ext cx="4023360" cy="3657600"/>
          </a:xfrm>
          <a:prstGeom prst="roundRect">
            <a:avLst>
              <a:gd name="adj" fmla="val 1500"/>
            </a:avLst>
          </a:prstGeom>
          <a:solidFill>
            <a:srgbClr val="E9E8EC"/>
          </a:solidFill>
          <a:ln/>
          <a:effectLst>
            <a:outerShdw sx="100000" sy="100000" kx="0" ky="0" algn="bl" rotWithShape="0" blurRad="63500" dist="31750" dir="2700000">
              <a:srgbClr val="8C8C99">
                <a:alpha val="45000"/>
              </a:srgbClr>
            </a:outerShdw>
          </a:effectLst>
        </p:spPr>
      </p:sp>
      <p:sp>
        <p:nvSpPr>
          <p:cNvPr id="31" name="Text 29"/>
          <p:cNvSpPr/>
          <p:nvPr/>
        </p:nvSpPr>
        <p:spPr>
          <a:xfrm>
            <a:off x="4846320" y="868680"/>
            <a:ext cx="3657600" cy="320040"/>
          </a:xfrm>
          <a:prstGeom prst="rect">
            <a:avLst/>
          </a:prstGeom>
          <a:noFill/>
          <a:ln/>
        </p:spPr>
        <p:txBody>
          <a:bodyPr wrap="square" lIns="0" tIns="0" rIns="0" bIns="0" rtlCol="0" anchor="t"/>
          <a:lstStyle/>
          <a:p>
            <a:pPr algn="l" indent="0" marL="0">
              <a:buNone/>
            </a:pPr>
            <a:r>
              <a:rPr lang="en-US" sz="1350" b="1" dirty="0">
                <a:solidFill>
                  <a:srgbClr val="322164"/>
                </a:solidFill>
                <a:latin typeface="Cambria" pitchFamily="34" charset="0"/>
                <a:ea typeface="Cambria" pitchFamily="34" charset="-122"/>
                <a:cs typeface="Cambria" pitchFamily="34" charset="-120"/>
              </a:rPr>
              <a:t>Bài báo tách từ luận văn</a:t>
            </a:r>
            <a:endParaRPr lang="en-US" sz="1350" dirty="0"/>
          </a:p>
        </p:txBody>
      </p:sp>
      <p:sp>
        <p:nvSpPr>
          <p:cNvPr id="32" name="Text 30"/>
          <p:cNvSpPr/>
          <p:nvPr/>
        </p:nvSpPr>
        <p:spPr>
          <a:xfrm>
            <a:off x="4846320" y="1325880"/>
            <a:ext cx="3657600" cy="292608"/>
          </a:xfrm>
          <a:prstGeom prst="rect">
            <a:avLst/>
          </a:prstGeom>
          <a:noFill/>
          <a:ln/>
        </p:spPr>
        <p:txBody>
          <a:bodyPr wrap="square" lIns="0" tIns="0" rIns="0" bIns="0" rtlCol="0" anchor="t"/>
          <a:lstStyle/>
          <a:p>
            <a:pPr algn="l" indent="0" marL="0">
              <a:buNone/>
            </a:pPr>
            <a:r>
              <a:rPr lang="en-US" sz="1250" b="1" dirty="0">
                <a:solidFill>
                  <a:srgbClr val="006666"/>
                </a:solidFill>
                <a:latin typeface="Cambria" pitchFamily="34" charset="0"/>
                <a:ea typeface="Cambria" pitchFamily="34" charset="-122"/>
                <a:cs typeface="Cambria" pitchFamily="34" charset="-120"/>
              </a:rPr>
              <a:t>FAIR 2026</a:t>
            </a:r>
            <a:endParaRPr lang="en-US" sz="1250" dirty="0"/>
          </a:p>
        </p:txBody>
      </p:sp>
      <p:sp>
        <p:nvSpPr>
          <p:cNvPr id="33" name="Text 31"/>
          <p:cNvSpPr/>
          <p:nvPr/>
        </p:nvSpPr>
        <p:spPr>
          <a:xfrm>
            <a:off x="4846320" y="1618488"/>
            <a:ext cx="3703320" cy="621792"/>
          </a:xfrm>
          <a:prstGeom prst="rect">
            <a:avLst/>
          </a:prstGeom>
          <a:noFill/>
          <a:ln/>
        </p:spPr>
        <p:txBody>
          <a:bodyPr wrap="square" lIns="0" tIns="0" rIns="0" bIns="0" rtlCol="0" anchor="t"/>
          <a:lstStyle/>
          <a:p>
            <a:pPr algn="l" indent="0" marL="0">
              <a:lnSpc>
                <a:spcPct val="115000"/>
              </a:lnSpc>
              <a:buNone/>
            </a:pPr>
            <a:r>
              <a:rPr lang="en-US" sz="1100" dirty="0">
                <a:solidFill>
                  <a:srgbClr val="1A1A1A"/>
                </a:solidFill>
                <a:latin typeface="Cambria" pitchFamily="34" charset="0"/>
                <a:ea typeface="Cambria" pitchFamily="34" charset="-122"/>
                <a:cs typeface="Cambria" pitchFamily="34" charset="-120"/>
              </a:rPr>
              <a:t>tiếng Anh, mẫu IEEE · phần mô hình · gửi 31/8/2026</a:t>
            </a:r>
            <a:endParaRPr lang="en-US" sz="1100" dirty="0"/>
          </a:p>
        </p:txBody>
      </p:sp>
      <p:sp>
        <p:nvSpPr>
          <p:cNvPr id="34" name="Text 32"/>
          <p:cNvSpPr/>
          <p:nvPr/>
        </p:nvSpPr>
        <p:spPr>
          <a:xfrm>
            <a:off x="4846320" y="2313432"/>
            <a:ext cx="3657600" cy="292608"/>
          </a:xfrm>
          <a:prstGeom prst="rect">
            <a:avLst/>
          </a:prstGeom>
          <a:noFill/>
          <a:ln/>
        </p:spPr>
        <p:txBody>
          <a:bodyPr wrap="square" lIns="0" tIns="0" rIns="0" bIns="0" rtlCol="0" anchor="t"/>
          <a:lstStyle/>
          <a:p>
            <a:pPr algn="l" indent="0" marL="0">
              <a:buNone/>
            </a:pPr>
            <a:r>
              <a:rPr lang="en-US" sz="1250" b="1" dirty="0">
                <a:solidFill>
                  <a:srgbClr val="006666"/>
                </a:solidFill>
                <a:latin typeface="Cambria" pitchFamily="34" charset="0"/>
                <a:ea typeface="Cambria" pitchFamily="34" charset="-122"/>
                <a:cs typeface="Cambria" pitchFamily="34" charset="-120"/>
              </a:rPr>
              <a:t>VCL 2026</a:t>
            </a:r>
            <a:endParaRPr lang="en-US" sz="1250" dirty="0"/>
          </a:p>
        </p:txBody>
      </p:sp>
      <p:sp>
        <p:nvSpPr>
          <p:cNvPr id="35" name="Text 33"/>
          <p:cNvSpPr/>
          <p:nvPr/>
        </p:nvSpPr>
        <p:spPr>
          <a:xfrm>
            <a:off x="4846320" y="2606040"/>
            <a:ext cx="3703320" cy="621792"/>
          </a:xfrm>
          <a:prstGeom prst="rect">
            <a:avLst/>
          </a:prstGeom>
          <a:noFill/>
          <a:ln/>
        </p:spPr>
        <p:txBody>
          <a:bodyPr wrap="square" lIns="0" tIns="0" rIns="0" bIns="0" rtlCol="0" anchor="t"/>
          <a:lstStyle/>
          <a:p>
            <a:pPr algn="l" indent="0" marL="0">
              <a:lnSpc>
                <a:spcPct val="115000"/>
              </a:lnSpc>
              <a:buNone/>
            </a:pPr>
            <a:r>
              <a:rPr lang="en-US" sz="1100" dirty="0">
                <a:solidFill>
                  <a:srgbClr val="1A1A1A"/>
                </a:solidFill>
                <a:latin typeface="Cambria" pitchFamily="34" charset="0"/>
                <a:ea typeface="Cambria" pitchFamily="34" charset="-122"/>
                <a:cs typeface="Cambria" pitchFamily="34" charset="-120"/>
              </a:rPr>
              <a:t>tiếng Việt · nhãn quy chiếu và quy trình dựng dữ liệu · nộp 30/8/2026</a:t>
            </a:r>
            <a:endParaRPr lang="en-US" sz="1100" dirty="0"/>
          </a:p>
        </p:txBody>
      </p:sp>
      <p:sp>
        <p:nvSpPr>
          <p:cNvPr id="36" name="Text 34"/>
          <p:cNvSpPr/>
          <p:nvPr/>
        </p:nvSpPr>
        <p:spPr>
          <a:xfrm>
            <a:off x="4846320" y="3300984"/>
            <a:ext cx="3657600" cy="292608"/>
          </a:xfrm>
          <a:prstGeom prst="rect">
            <a:avLst/>
          </a:prstGeom>
          <a:noFill/>
          <a:ln/>
        </p:spPr>
        <p:txBody>
          <a:bodyPr wrap="square" lIns="0" tIns="0" rIns="0" bIns="0" rtlCol="0" anchor="t"/>
          <a:lstStyle/>
          <a:p>
            <a:pPr algn="l" indent="0" marL="0">
              <a:buNone/>
            </a:pPr>
            <a:r>
              <a:rPr lang="en-US" sz="1250" b="1" dirty="0">
                <a:solidFill>
                  <a:srgbClr val="006666"/>
                </a:solidFill>
                <a:latin typeface="Cambria" pitchFamily="34" charset="0"/>
                <a:ea typeface="Cambria" pitchFamily="34" charset="-122"/>
                <a:cs typeface="Cambria" pitchFamily="34" charset="-120"/>
              </a:rPr>
              <a:t>SOICT 2026</a:t>
            </a:r>
            <a:endParaRPr lang="en-US" sz="1250" dirty="0"/>
          </a:p>
        </p:txBody>
      </p:sp>
      <p:sp>
        <p:nvSpPr>
          <p:cNvPr id="37" name="Text 35"/>
          <p:cNvSpPr/>
          <p:nvPr/>
        </p:nvSpPr>
        <p:spPr>
          <a:xfrm>
            <a:off x="4846320" y="3593592"/>
            <a:ext cx="3703320" cy="621792"/>
          </a:xfrm>
          <a:prstGeom prst="rect">
            <a:avLst/>
          </a:prstGeom>
          <a:noFill/>
          <a:ln/>
        </p:spPr>
        <p:txBody>
          <a:bodyPr wrap="square" lIns="0" tIns="0" rIns="0" bIns="0" rtlCol="0" anchor="t"/>
          <a:lstStyle/>
          <a:p>
            <a:pPr algn="l" indent="0" marL="0">
              <a:lnSpc>
                <a:spcPct val="115000"/>
              </a:lnSpc>
              <a:buNone/>
            </a:pPr>
            <a:r>
              <a:rPr lang="en-US" sz="1100" dirty="0">
                <a:solidFill>
                  <a:srgbClr val="1A1A1A"/>
                </a:solidFill>
                <a:latin typeface="Cambria" pitchFamily="34" charset="0"/>
                <a:ea typeface="Cambria" pitchFamily="34" charset="-122"/>
                <a:cs typeface="Cambria" pitchFamily="34" charset="-120"/>
              </a:rPr>
              <a:t>tiếng Anh, Springer · tách điều kiện loại thao tác khỏi phần định vị · nộp 21/9/2026</a:t>
            </a:r>
            <a:endParaRPr lang="en-US" sz="1100" dirty="0"/>
          </a:p>
        </p:txBody>
      </p:sp>
      <p:sp>
        <p:nvSpPr>
          <p:cNvPr id="38" name="Shape 36"/>
          <p:cNvSpPr/>
          <p:nvPr/>
        </p:nvSpPr>
        <p:spPr>
          <a:xfrm>
            <a:off x="457200" y="4663440"/>
            <a:ext cx="8229600" cy="1600200"/>
          </a:xfrm>
          <a:prstGeom prst="roundRect">
            <a:avLst>
              <a:gd name="adj" fmla="val 3429"/>
            </a:avLst>
          </a:prstGeom>
          <a:solidFill>
            <a:srgbClr val="EEEAF6"/>
          </a:solidFill>
          <a:ln w="19050">
            <a:solidFill>
              <a:srgbClr val="322164"/>
            </a:solidFill>
            <a:prstDash val="solid"/>
          </a:ln>
        </p:spPr>
      </p:sp>
      <p:sp>
        <p:nvSpPr>
          <p:cNvPr id="39" name="Text 37"/>
          <p:cNvSpPr/>
          <p:nvPr/>
        </p:nvSpPr>
        <p:spPr>
          <a:xfrm>
            <a:off x="685800" y="4754880"/>
            <a:ext cx="5486400" cy="320040"/>
          </a:xfrm>
          <a:prstGeom prst="rect">
            <a:avLst/>
          </a:prstGeom>
          <a:noFill/>
          <a:ln/>
        </p:spPr>
        <p:txBody>
          <a:bodyPr wrap="square" lIns="0" tIns="0" rIns="0" bIns="0" rtlCol="0" anchor="t"/>
          <a:lstStyle/>
          <a:p>
            <a:pPr algn="l" indent="0" marL="0">
              <a:buNone/>
            </a:pPr>
            <a:r>
              <a:rPr lang="en-US" sz="1300" b="1" dirty="0">
                <a:solidFill>
                  <a:srgbClr val="322164"/>
                </a:solidFill>
                <a:latin typeface="Cambria" pitchFamily="34" charset="0"/>
                <a:ea typeface="Cambria" pitchFamily="34" charset="-122"/>
                <a:cs typeface="Cambria" pitchFamily="34" charset="-120"/>
              </a:rPr>
              <a:t>Đang chạy thêm, chưa đưa vào luận văn</a:t>
            </a:r>
            <a:endParaRPr lang="en-US" sz="1300" dirty="0"/>
          </a:p>
        </p:txBody>
      </p:sp>
      <p:sp>
        <p:nvSpPr>
          <p:cNvPr id="40" name="Text 38"/>
          <p:cNvSpPr/>
          <p:nvPr/>
        </p:nvSpPr>
        <p:spPr>
          <a:xfrm>
            <a:off x="685800" y="5120640"/>
            <a:ext cx="201168" cy="548640"/>
          </a:xfrm>
          <a:prstGeom prst="rect">
            <a:avLst/>
          </a:prstGeom>
          <a:noFill/>
          <a:ln/>
        </p:spPr>
        <p:txBody>
          <a:bodyPr wrap="square" lIns="0" tIns="0" rIns="0" bIns="0" rtlCol="0" anchor="t"/>
          <a:lstStyle/>
          <a:p>
            <a:pPr algn="l" indent="0" marL="0">
              <a:buNone/>
            </a:pPr>
            <a:r>
              <a:rPr lang="en-US" sz="1150" b="1" dirty="0">
                <a:solidFill>
                  <a:srgbClr val="006666"/>
                </a:solidFill>
                <a:latin typeface="Cambria" pitchFamily="34" charset="0"/>
                <a:ea typeface="Cambria" pitchFamily="34" charset="-122"/>
                <a:cs typeface="Cambria" pitchFamily="34" charset="-120"/>
              </a:rPr>
              <a:t>•</a:t>
            </a:r>
            <a:endParaRPr lang="en-US" sz="1150" dirty="0"/>
          </a:p>
        </p:txBody>
      </p:sp>
      <p:sp>
        <p:nvSpPr>
          <p:cNvPr id="41" name="Text 39"/>
          <p:cNvSpPr/>
          <p:nvPr/>
        </p:nvSpPr>
        <p:spPr>
          <a:xfrm>
            <a:off x="914400" y="5120640"/>
            <a:ext cx="7543800" cy="530352"/>
          </a:xfrm>
          <a:prstGeom prst="rect">
            <a:avLst/>
          </a:prstGeom>
          <a:noFill/>
          <a:ln/>
        </p:spPr>
        <p:txBody>
          <a:bodyPr wrap="square" lIns="0" tIns="0" rIns="0" bIns="0" rtlCol="0" anchor="t"/>
          <a:lstStyle/>
          <a:p>
            <a:pPr algn="l" indent="0" marL="0">
              <a:lnSpc>
                <a:spcPct val="125000"/>
              </a:lnSpc>
              <a:buNone/>
            </a:pPr>
            <a:r>
              <a:rPr lang="en-US" sz="1150" dirty="0">
                <a:solidFill>
                  <a:srgbClr val="1A1A1A"/>
                </a:solidFill>
                <a:latin typeface="Cambria" pitchFamily="34" charset="0"/>
                <a:ea typeface="Cambria" pitchFamily="34" charset="-122"/>
                <a:cs typeface="Cambria" pitchFamily="34" charset="-120"/>
              </a:rPr>
              <a:t>Học tiếp phương pháp đề xuất với phần thưởng có thêm người nghe Phi-4: trên tập kiểm định chưa nhánh nào vượt rõ điểm lưu 500.</a:t>
            </a:r>
            <a:endParaRPr lang="en-US" sz="1150" dirty="0"/>
          </a:p>
        </p:txBody>
      </p:sp>
      <p:sp>
        <p:nvSpPr>
          <p:cNvPr id="42" name="Text 40"/>
          <p:cNvSpPr/>
          <p:nvPr/>
        </p:nvSpPr>
        <p:spPr>
          <a:xfrm>
            <a:off x="685800" y="5669280"/>
            <a:ext cx="201168" cy="548640"/>
          </a:xfrm>
          <a:prstGeom prst="rect">
            <a:avLst/>
          </a:prstGeom>
          <a:noFill/>
          <a:ln/>
        </p:spPr>
        <p:txBody>
          <a:bodyPr wrap="square" lIns="0" tIns="0" rIns="0" bIns="0" rtlCol="0" anchor="t"/>
          <a:lstStyle/>
          <a:p>
            <a:pPr algn="l" indent="0" marL="0">
              <a:buNone/>
            </a:pPr>
            <a:r>
              <a:rPr lang="en-US" sz="1150" b="1" dirty="0">
                <a:solidFill>
                  <a:srgbClr val="006666"/>
                </a:solidFill>
                <a:latin typeface="Cambria" pitchFamily="34" charset="0"/>
                <a:ea typeface="Cambria" pitchFamily="34" charset="-122"/>
                <a:cs typeface="Cambria" pitchFamily="34" charset="-120"/>
              </a:rPr>
              <a:t>•</a:t>
            </a:r>
            <a:endParaRPr lang="en-US" sz="1150" dirty="0"/>
          </a:p>
        </p:txBody>
      </p:sp>
      <p:sp>
        <p:nvSpPr>
          <p:cNvPr id="43" name="Text 41"/>
          <p:cNvSpPr/>
          <p:nvPr/>
        </p:nvSpPr>
        <p:spPr>
          <a:xfrm>
            <a:off x="914400" y="5669280"/>
            <a:ext cx="7543800" cy="530352"/>
          </a:xfrm>
          <a:prstGeom prst="rect">
            <a:avLst/>
          </a:prstGeom>
          <a:noFill/>
          <a:ln/>
        </p:spPr>
        <p:txBody>
          <a:bodyPr wrap="square" lIns="0" tIns="0" rIns="0" bIns="0" rtlCol="0" anchor="t"/>
          <a:lstStyle/>
          <a:p>
            <a:pPr algn="l" indent="0" marL="0">
              <a:lnSpc>
                <a:spcPct val="125000"/>
              </a:lnSpc>
              <a:buNone/>
            </a:pPr>
            <a:r>
              <a:rPr lang="en-US" sz="1150" dirty="0">
                <a:solidFill>
                  <a:srgbClr val="1A1A1A"/>
                </a:solidFill>
                <a:latin typeface="Cambria" pitchFamily="34" charset="0"/>
                <a:ea typeface="Cambria" pitchFamily="34" charset="-122"/>
                <a:cs typeface="Cambria" pitchFamily="34" charset="-120"/>
              </a:rPr>
              <a:t>Chấm trên tập kiểm nhánh thưởng CIDEr-D cùng thiết lập, để so trực tiếp hai lựa chọn phần thưởng.</a:t>
            </a:r>
            <a:endParaRPr lang="en-US" sz="1150" dirty="0"/>
          </a:p>
        </p:txBody>
      </p:sp>
      <p:sp>
        <p:nvSpPr>
          <p:cNvPr id="45" name="Shape 42"/>
          <p:cNvSpPr/>
          <p:nvPr/>
        </p:nvSpPr>
        <p:spPr>
          <a:xfrm>
            <a:off x="0" y="6620256"/>
            <a:ext cx="2743200" cy="237744"/>
          </a:xfrm>
          <a:prstGeom prst="rect">
            <a:avLst/>
          </a:prstGeom>
          <a:solidFill>
            <a:srgbClr val="191132"/>
          </a:solidFill>
          <a:ln/>
        </p:spPr>
      </p:sp>
      <p:sp>
        <p:nvSpPr>
          <p:cNvPr id="46" name="Shape 43"/>
          <p:cNvSpPr/>
          <p:nvPr/>
        </p:nvSpPr>
        <p:spPr>
          <a:xfrm>
            <a:off x="2743200" y="6620256"/>
            <a:ext cx="3383280" cy="237744"/>
          </a:xfrm>
          <a:prstGeom prst="rect">
            <a:avLst/>
          </a:prstGeom>
          <a:solidFill>
            <a:srgbClr val="25194B"/>
          </a:solidFill>
          <a:ln/>
        </p:spPr>
      </p:sp>
      <p:sp>
        <p:nvSpPr>
          <p:cNvPr id="47" name="Shape 44"/>
          <p:cNvSpPr/>
          <p:nvPr/>
        </p:nvSpPr>
        <p:spPr>
          <a:xfrm>
            <a:off x="6126480" y="6620256"/>
            <a:ext cx="1737360" cy="237744"/>
          </a:xfrm>
          <a:prstGeom prst="rect">
            <a:avLst/>
          </a:prstGeom>
          <a:solidFill>
            <a:srgbClr val="4F417A"/>
          </a:solidFill>
          <a:ln/>
        </p:spPr>
      </p:sp>
      <p:sp>
        <p:nvSpPr>
          <p:cNvPr id="48" name="Shape 45"/>
          <p:cNvSpPr/>
          <p:nvPr/>
        </p:nvSpPr>
        <p:spPr>
          <a:xfrm>
            <a:off x="7863840" y="6620256"/>
            <a:ext cx="1280160" cy="237744"/>
          </a:xfrm>
          <a:prstGeom prst="rect">
            <a:avLst/>
          </a:prstGeom>
          <a:solidFill>
            <a:srgbClr val="7A7099"/>
          </a:solidFill>
          <a:ln/>
        </p:spPr>
      </p:sp>
      <p:sp>
        <p:nvSpPr>
          <p:cNvPr id="49" name="Text 46"/>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Luận văn thạc sĩ</a:t>
            </a:r>
            <a:endParaRPr lang="en-US" sz="800" dirty="0"/>
          </a:p>
        </p:txBody>
      </p:sp>
      <p:sp>
        <p:nvSpPr>
          <p:cNvPr id="50" name="Text 47"/>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Phát sinh tự động hướng dẫn sử dụng phần mềm dựa trên LLM</a:t>
            </a:r>
            <a:endParaRPr lang="en-US" sz="800" dirty="0"/>
          </a:p>
        </p:txBody>
      </p:sp>
      <p:sp>
        <p:nvSpPr>
          <p:cNvPr id="51" name="Text 48"/>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52" name="Text 49"/>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24/24</a:t>
            </a:r>
            <a:endParaRPr lang="en-US" sz="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Dự phòng: lý do dùng ô Voronoi thay cho dung sai đơn thuần</a:t>
            </a:r>
            <a:endParaRPr lang="en-US" sz="1900" dirty="0"/>
          </a:p>
        </p:txBody>
      </p:sp>
      <p:sp>
        <p:nvSpPr>
          <p:cNvPr id="4" name="Shape 2"/>
          <p:cNvSpPr/>
          <p:nvPr/>
        </p:nvSpPr>
        <p:spPr>
          <a:xfrm>
            <a:off x="457200" y="777240"/>
            <a:ext cx="8229600" cy="2194560"/>
          </a:xfrm>
          <a:prstGeom prst="roundRect">
            <a:avLst>
              <a:gd name="adj" fmla="val 2500"/>
            </a:avLst>
          </a:prstGeom>
          <a:solidFill>
            <a:srgbClr val="E9E8EC"/>
          </a:solidFill>
          <a:ln/>
          <a:effectLst>
            <a:outerShdw sx="100000" sy="100000" kx="0" ky="0" algn="bl" rotWithShape="0" blurRad="63500" dist="31750" dir="2700000">
              <a:srgbClr val="8C8C99">
                <a:alpha val="45000"/>
              </a:srgbClr>
            </a:outerShdw>
          </a:effectLst>
        </p:spPr>
      </p:sp>
      <p:sp>
        <p:nvSpPr>
          <p:cNvPr id="5" name="Text 3"/>
          <p:cNvSpPr/>
          <p:nvPr/>
        </p:nvSpPr>
        <p:spPr>
          <a:xfrm>
            <a:off x="640080" y="868680"/>
            <a:ext cx="7772400" cy="320040"/>
          </a:xfrm>
          <a:prstGeom prst="rect">
            <a:avLst/>
          </a:prstGeom>
          <a:noFill/>
          <a:ln/>
        </p:spPr>
        <p:txBody>
          <a:bodyPr wrap="square" lIns="0" tIns="0" rIns="0" bIns="0" rtlCol="0" anchor="t"/>
          <a:lstStyle/>
          <a:p>
            <a:pPr algn="l" indent="0" marL="0">
              <a:buNone/>
            </a:pPr>
            <a:r>
              <a:rPr lang="en-US" sz="1350" b="1" dirty="0">
                <a:solidFill>
                  <a:srgbClr val="322164"/>
                </a:solidFill>
                <a:latin typeface="Cambria" pitchFamily="34" charset="0"/>
                <a:ea typeface="Cambria" pitchFamily="34" charset="-122"/>
                <a:cs typeface="Cambria" pitchFamily="34" charset="-120"/>
              </a:rPr>
              <a:t>Đưa vào một câu gọi đúng loại phần tử nhưng sai nút (nút cạnh bên)</a:t>
            </a:r>
            <a:endParaRPr lang="en-US" sz="1350" dirty="0"/>
          </a:p>
        </p:txBody>
      </p:sp>
      <p:sp>
        <p:nvSpPr>
          <p:cNvPr id="6" name="Shape 4"/>
          <p:cNvSpPr/>
          <p:nvPr/>
        </p:nvSpPr>
        <p:spPr>
          <a:xfrm>
            <a:off x="822960" y="1417320"/>
            <a:ext cx="6552133" cy="457200"/>
          </a:xfrm>
          <a:prstGeom prst="rect">
            <a:avLst/>
          </a:prstGeom>
          <a:solidFill>
            <a:srgbClr val="D9622B"/>
          </a:solidFill>
          <a:ln/>
        </p:spPr>
      </p:sp>
      <p:sp>
        <p:nvSpPr>
          <p:cNvPr id="7" name="Text 5"/>
          <p:cNvSpPr/>
          <p:nvPr/>
        </p:nvSpPr>
        <p:spPr>
          <a:xfrm>
            <a:off x="7420813" y="1417320"/>
            <a:ext cx="914400" cy="457200"/>
          </a:xfrm>
          <a:prstGeom prst="rect">
            <a:avLst/>
          </a:prstGeom>
          <a:noFill/>
          <a:ln/>
        </p:spPr>
        <p:txBody>
          <a:bodyPr wrap="square" lIns="0" tIns="0" rIns="0" bIns="0" rtlCol="0" anchor="ctr"/>
          <a:lstStyle/>
          <a:p>
            <a:pPr algn="l" indent="0" marL="0">
              <a:buNone/>
            </a:pPr>
            <a:r>
              <a:rPr lang="en-US" sz="1400" b="1" dirty="0">
                <a:solidFill>
                  <a:srgbClr val="D9622B"/>
                </a:solidFill>
                <a:latin typeface="Cambria" pitchFamily="34" charset="0"/>
                <a:ea typeface="Cambria" pitchFamily="34" charset="-122"/>
                <a:cs typeface="Cambria" pitchFamily="34" charset="-120"/>
              </a:rPr>
              <a:t>84,3%</a:t>
            </a:r>
            <a:endParaRPr lang="en-US" sz="1400" dirty="0"/>
          </a:p>
        </p:txBody>
      </p:sp>
      <p:sp>
        <p:nvSpPr>
          <p:cNvPr id="8" name="Text 6"/>
          <p:cNvSpPr/>
          <p:nvPr/>
        </p:nvSpPr>
        <p:spPr>
          <a:xfrm>
            <a:off x="914400" y="1417320"/>
            <a:ext cx="5486400" cy="457200"/>
          </a:xfrm>
          <a:prstGeom prst="rect">
            <a:avLst/>
          </a:prstGeom>
          <a:noFill/>
          <a:ln/>
        </p:spPr>
        <p:txBody>
          <a:bodyPr wrap="square" lIns="0" tIns="0" rIns="0" bIns="0" rtlCol="0" anchor="ctr"/>
          <a:lstStyle/>
          <a:p>
            <a:pPr algn="l" indent="0" marL="0">
              <a:buNone/>
            </a:pPr>
            <a:r>
              <a:rPr lang="en-US" sz="1150" b="1" dirty="0">
                <a:solidFill>
                  <a:srgbClr val="FFFFFF"/>
                </a:solidFill>
                <a:latin typeface="Cambria" pitchFamily="34" charset="0"/>
                <a:ea typeface="Cambria" pitchFamily="34" charset="-122"/>
                <a:cs typeface="Cambria" pitchFamily="34" charset="-120"/>
              </a:rPr>
              <a:t>luật dung sai quy ước vẫn cho điểm</a:t>
            </a:r>
            <a:endParaRPr lang="en-US" sz="1150" dirty="0"/>
          </a:p>
        </p:txBody>
      </p:sp>
      <p:sp>
        <p:nvSpPr>
          <p:cNvPr id="9" name="Shape 7"/>
          <p:cNvSpPr/>
          <p:nvPr/>
        </p:nvSpPr>
        <p:spPr>
          <a:xfrm>
            <a:off x="822960" y="2057400"/>
            <a:ext cx="235915" cy="457200"/>
          </a:xfrm>
          <a:prstGeom prst="rect">
            <a:avLst/>
          </a:prstGeom>
          <a:solidFill>
            <a:srgbClr val="322164"/>
          </a:solidFill>
          <a:ln/>
        </p:spPr>
      </p:sp>
      <p:sp>
        <p:nvSpPr>
          <p:cNvPr id="10" name="Text 8"/>
          <p:cNvSpPr/>
          <p:nvPr/>
        </p:nvSpPr>
        <p:spPr>
          <a:xfrm>
            <a:off x="1143000" y="2057400"/>
            <a:ext cx="5486400" cy="457200"/>
          </a:xfrm>
          <a:prstGeom prst="rect">
            <a:avLst/>
          </a:prstGeom>
          <a:noFill/>
          <a:ln/>
        </p:spPr>
        <p:txBody>
          <a:bodyPr wrap="square" lIns="0" tIns="0" rIns="0" bIns="0" rtlCol="0" anchor="ctr"/>
          <a:lstStyle/>
          <a:p>
            <a:pPr algn="l" indent="0" marL="0">
              <a:buNone/>
            </a:pPr>
            <a:r>
              <a:rPr lang="en-US" sz="1200" b="1" dirty="0">
                <a:solidFill>
                  <a:srgbClr val="322164"/>
                </a:solidFill>
                <a:latin typeface="Cambria" pitchFamily="34" charset="0"/>
                <a:ea typeface="Cambria" pitchFamily="34" charset="-122"/>
                <a:cs typeface="Cambria" pitchFamily="34" charset="-120"/>
              </a:rPr>
              <a:t>2,8%   luật ô Voronoi cho điểm</a:t>
            </a:r>
            <a:endParaRPr lang="en-US" sz="1200" dirty="0"/>
          </a:p>
        </p:txBody>
      </p:sp>
      <p:sp>
        <p:nvSpPr>
          <p:cNvPr id="11" name="Text 9"/>
          <p:cNvSpPr/>
          <p:nvPr/>
        </p:nvSpPr>
        <p:spPr>
          <a:xfrm>
            <a:off x="640080" y="3246120"/>
            <a:ext cx="201168" cy="777240"/>
          </a:xfrm>
          <a:prstGeom prst="rect">
            <a:avLst/>
          </a:prstGeom>
          <a:noFill/>
          <a:ln/>
        </p:spPr>
        <p:txBody>
          <a:bodyPr wrap="square" lIns="0" tIns="0" rIns="0" bIns="0" rtlCol="0" anchor="t"/>
          <a:lstStyle/>
          <a:p>
            <a:pPr algn="l" indent="0" marL="0">
              <a:buNone/>
            </a:pPr>
            <a:r>
              <a:rPr lang="en-US" sz="1250" b="1" dirty="0">
                <a:solidFill>
                  <a:srgbClr val="006666"/>
                </a:solidFill>
                <a:latin typeface="Cambria" pitchFamily="34" charset="0"/>
                <a:ea typeface="Cambria" pitchFamily="34" charset="-122"/>
                <a:cs typeface="Cambria" pitchFamily="34" charset="-120"/>
              </a:rPr>
              <a:t>•</a:t>
            </a:r>
            <a:endParaRPr lang="en-US" sz="1250" dirty="0"/>
          </a:p>
        </p:txBody>
      </p:sp>
      <p:sp>
        <p:nvSpPr>
          <p:cNvPr id="12" name="Text 10"/>
          <p:cNvSpPr/>
          <p:nvPr/>
        </p:nvSpPr>
        <p:spPr>
          <a:xfrm>
            <a:off x="868680" y="3246120"/>
            <a:ext cx="7635240" cy="731520"/>
          </a:xfrm>
          <a:prstGeom prst="rect">
            <a:avLst/>
          </a:prstGeom>
          <a:noFill/>
          <a:ln/>
        </p:spPr>
        <p:txBody>
          <a:bodyPr wrap="square" lIns="0" tIns="0" rIns="0" bIns="0" rtlCol="0" anchor="t"/>
          <a:lstStyle/>
          <a:p>
            <a:pPr algn="l" indent="0" marL="0">
              <a:lnSpc>
                <a:spcPct val="125000"/>
              </a:lnSpc>
              <a:buNone/>
            </a:pPr>
            <a:r>
              <a:rPr lang="en-US" sz="1250" dirty="0">
                <a:solidFill>
                  <a:srgbClr val="1A1A1A"/>
                </a:solidFill>
                <a:latin typeface="Cambria" pitchFamily="34" charset="0"/>
                <a:ea typeface="Cambria" pitchFamily="34" charset="-122"/>
                <a:cs typeface="Cambria" pitchFamily="34" charset="-120"/>
              </a:rPr>
              <a:t>Luật trúng được chọn dựa trên sàn đo được: luật nào chấp nhận nhiều câu chỉ sai nút thì bị loại.</a:t>
            </a:r>
            <a:endParaRPr lang="en-US" sz="1250" dirty="0"/>
          </a:p>
        </p:txBody>
      </p:sp>
      <p:sp>
        <p:nvSpPr>
          <p:cNvPr id="13" name="Text 11"/>
          <p:cNvSpPr/>
          <p:nvPr/>
        </p:nvSpPr>
        <p:spPr>
          <a:xfrm>
            <a:off x="640080" y="4023360"/>
            <a:ext cx="201168" cy="777240"/>
          </a:xfrm>
          <a:prstGeom prst="rect">
            <a:avLst/>
          </a:prstGeom>
          <a:noFill/>
          <a:ln/>
        </p:spPr>
        <p:txBody>
          <a:bodyPr wrap="square" lIns="0" tIns="0" rIns="0" bIns="0" rtlCol="0" anchor="t"/>
          <a:lstStyle/>
          <a:p>
            <a:pPr algn="l" indent="0" marL="0">
              <a:buNone/>
            </a:pPr>
            <a:r>
              <a:rPr lang="en-US" sz="1250" b="1" dirty="0">
                <a:solidFill>
                  <a:srgbClr val="006666"/>
                </a:solidFill>
                <a:latin typeface="Cambria" pitchFamily="34" charset="0"/>
                <a:ea typeface="Cambria" pitchFamily="34" charset="-122"/>
                <a:cs typeface="Cambria" pitchFamily="34" charset="-120"/>
              </a:rPr>
              <a:t>•</a:t>
            </a:r>
            <a:endParaRPr lang="en-US" sz="1250" dirty="0"/>
          </a:p>
        </p:txBody>
      </p:sp>
      <p:sp>
        <p:nvSpPr>
          <p:cNvPr id="14" name="Text 12"/>
          <p:cNvSpPr/>
          <p:nvPr/>
        </p:nvSpPr>
        <p:spPr>
          <a:xfrm>
            <a:off x="868680" y="4023360"/>
            <a:ext cx="7635240" cy="731520"/>
          </a:xfrm>
          <a:prstGeom prst="rect">
            <a:avLst/>
          </a:prstGeom>
          <a:noFill/>
          <a:ln/>
        </p:spPr>
        <p:txBody>
          <a:bodyPr wrap="square" lIns="0" tIns="0" rIns="0" bIns="0" rtlCol="0" anchor="t"/>
          <a:lstStyle/>
          <a:p>
            <a:pPr algn="l" indent="0" marL="0">
              <a:lnSpc>
                <a:spcPct val="125000"/>
              </a:lnSpc>
              <a:buNone/>
            </a:pPr>
            <a:r>
              <a:rPr lang="en-US" sz="1250" dirty="0">
                <a:solidFill>
                  <a:srgbClr val="1A1A1A"/>
                </a:solidFill>
                <a:latin typeface="Cambria" pitchFamily="34" charset="0"/>
                <a:ea typeface="Cambria" pitchFamily="34" charset="-122"/>
                <a:cs typeface="Cambria" pitchFamily="34" charset="-120"/>
              </a:rPr>
              <a:t>Voronoi là bản siết chặt của luật dung sai: điểm phải nằm trong dung sai và gần điểm chạm hơn mọi phần tử khác.</a:t>
            </a:r>
            <a:endParaRPr lang="en-US" sz="1250" dirty="0"/>
          </a:p>
        </p:txBody>
      </p:sp>
      <p:sp>
        <p:nvSpPr>
          <p:cNvPr id="15" name="Text 13"/>
          <p:cNvSpPr/>
          <p:nvPr/>
        </p:nvSpPr>
        <p:spPr>
          <a:xfrm>
            <a:off x="640080" y="4800600"/>
            <a:ext cx="201168" cy="777240"/>
          </a:xfrm>
          <a:prstGeom prst="rect">
            <a:avLst/>
          </a:prstGeom>
          <a:noFill/>
          <a:ln/>
        </p:spPr>
        <p:txBody>
          <a:bodyPr wrap="square" lIns="0" tIns="0" rIns="0" bIns="0" rtlCol="0" anchor="t"/>
          <a:lstStyle/>
          <a:p>
            <a:pPr algn="l" indent="0" marL="0">
              <a:buNone/>
            </a:pPr>
            <a:r>
              <a:rPr lang="en-US" sz="1250" b="1" dirty="0">
                <a:solidFill>
                  <a:srgbClr val="006666"/>
                </a:solidFill>
                <a:latin typeface="Cambria" pitchFamily="34" charset="0"/>
                <a:ea typeface="Cambria" pitchFamily="34" charset="-122"/>
                <a:cs typeface="Cambria" pitchFamily="34" charset="-120"/>
              </a:rPr>
              <a:t>•</a:t>
            </a:r>
            <a:endParaRPr lang="en-US" sz="1250" dirty="0"/>
          </a:p>
        </p:txBody>
      </p:sp>
      <p:sp>
        <p:nvSpPr>
          <p:cNvPr id="16" name="Text 14"/>
          <p:cNvSpPr/>
          <p:nvPr/>
        </p:nvSpPr>
        <p:spPr>
          <a:xfrm>
            <a:off x="868680" y="4800600"/>
            <a:ext cx="7635240" cy="731520"/>
          </a:xfrm>
          <a:prstGeom prst="rect">
            <a:avLst/>
          </a:prstGeom>
          <a:noFill/>
          <a:ln/>
        </p:spPr>
        <p:txBody>
          <a:bodyPr wrap="square" lIns="0" tIns="0" rIns="0" bIns="0" rtlCol="0" anchor="t"/>
          <a:lstStyle/>
          <a:p>
            <a:pPr algn="l" indent="0" marL="0">
              <a:lnSpc>
                <a:spcPct val="125000"/>
              </a:lnSpc>
              <a:buNone/>
            </a:pPr>
            <a:r>
              <a:rPr lang="en-US" sz="1250" dirty="0">
                <a:solidFill>
                  <a:srgbClr val="1A1A1A"/>
                </a:solidFill>
                <a:latin typeface="Cambria" pitchFamily="34" charset="0"/>
                <a:ea typeface="Cambria" pitchFamily="34" charset="-122"/>
                <a:cs typeface="Cambria" pitchFamily="34" charset="-120"/>
              </a:rPr>
              <a:t>Luật hộp phần tử của AndroidControl (D.3) và luật khớp chạm của AitW được báo kèm, thứ tự các hệ thống không đổi.</a:t>
            </a:r>
            <a:endParaRPr lang="en-US" sz="1250" dirty="0"/>
          </a:p>
        </p:txBody>
      </p:sp>
      <p:sp>
        <p:nvSpPr>
          <p:cNvPr id="17" name="Shape 15"/>
          <p:cNvSpPr/>
          <p:nvPr/>
        </p:nvSpPr>
        <p:spPr>
          <a:xfrm>
            <a:off x="0" y="6620256"/>
            <a:ext cx="2743200" cy="237744"/>
          </a:xfrm>
          <a:prstGeom prst="rect">
            <a:avLst/>
          </a:prstGeom>
          <a:solidFill>
            <a:srgbClr val="191132"/>
          </a:solidFill>
          <a:ln/>
        </p:spPr>
      </p:sp>
      <p:sp>
        <p:nvSpPr>
          <p:cNvPr id="18" name="Shape 16"/>
          <p:cNvSpPr/>
          <p:nvPr/>
        </p:nvSpPr>
        <p:spPr>
          <a:xfrm>
            <a:off x="2743200" y="6620256"/>
            <a:ext cx="3383280" cy="237744"/>
          </a:xfrm>
          <a:prstGeom prst="rect">
            <a:avLst/>
          </a:prstGeom>
          <a:solidFill>
            <a:srgbClr val="25194B"/>
          </a:solidFill>
          <a:ln/>
        </p:spPr>
      </p:sp>
      <p:sp>
        <p:nvSpPr>
          <p:cNvPr id="19" name="Shape 17"/>
          <p:cNvSpPr/>
          <p:nvPr/>
        </p:nvSpPr>
        <p:spPr>
          <a:xfrm>
            <a:off x="6126480" y="6620256"/>
            <a:ext cx="1737360" cy="237744"/>
          </a:xfrm>
          <a:prstGeom prst="rect">
            <a:avLst/>
          </a:prstGeom>
          <a:solidFill>
            <a:srgbClr val="4F417A"/>
          </a:solidFill>
          <a:ln/>
        </p:spPr>
      </p:sp>
      <p:sp>
        <p:nvSpPr>
          <p:cNvPr id="20" name="Shape 18"/>
          <p:cNvSpPr/>
          <p:nvPr/>
        </p:nvSpPr>
        <p:spPr>
          <a:xfrm>
            <a:off x="7863840" y="6620256"/>
            <a:ext cx="1280160" cy="237744"/>
          </a:xfrm>
          <a:prstGeom prst="rect">
            <a:avLst/>
          </a:prstGeom>
          <a:solidFill>
            <a:srgbClr val="7A7099"/>
          </a:solidFill>
          <a:ln/>
        </p:spPr>
      </p:sp>
      <p:sp>
        <p:nvSpPr>
          <p:cNvPr id="21" name="Text 19"/>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Luận văn thạc sĩ</a:t>
            </a:r>
            <a:endParaRPr lang="en-US" sz="800" dirty="0"/>
          </a:p>
        </p:txBody>
      </p:sp>
      <p:sp>
        <p:nvSpPr>
          <p:cNvPr id="22" name="Text 20"/>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Phát sinh tự động hướng dẫn sử dụng phần mềm dựa trên LLM</a:t>
            </a:r>
            <a:endParaRPr lang="en-US" sz="800" dirty="0"/>
          </a:p>
        </p:txBody>
      </p:sp>
      <p:sp>
        <p:nvSpPr>
          <p:cNvPr id="23" name="Text 21"/>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24" name="Text 22"/>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dự phòng 1</a:t>
            </a:r>
            <a:endParaRPr lang="en-US" sz="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548640"/>
          </a:xfrm>
          <a:prstGeom prst="rect">
            <a:avLst/>
          </a:prstGeom>
          <a:solidFill>
            <a:srgbClr val="322164"/>
          </a:solidFill>
          <a:ln/>
        </p:spPr>
      </p:sp>
      <p:sp>
        <p:nvSpPr>
          <p:cNvPr id="3" name="Text 1"/>
          <p:cNvSpPr/>
          <p:nvPr/>
        </p:nvSpPr>
        <p:spPr>
          <a:xfrm>
            <a:off x="201168" y="0"/>
            <a:ext cx="8741664" cy="548640"/>
          </a:xfrm>
          <a:prstGeom prst="rect">
            <a:avLst/>
          </a:prstGeom>
          <a:noFill/>
          <a:ln/>
        </p:spPr>
        <p:txBody>
          <a:bodyPr wrap="square" lIns="0" tIns="0" rIns="0" bIns="0" rtlCol="0" anchor="ctr"/>
          <a:lstStyle/>
          <a:p>
            <a:pPr algn="l" indent="0" marL="0">
              <a:buNone/>
            </a:pPr>
            <a:r>
              <a:rPr lang="en-US" sz="1900" b="1" dirty="0">
                <a:solidFill>
                  <a:srgbClr val="FFFFFF"/>
                </a:solidFill>
                <a:latin typeface="Cambria" pitchFamily="34" charset="0"/>
                <a:ea typeface="Cambria" pitchFamily="34" charset="-122"/>
                <a:cs typeface="Cambria" pitchFamily="34" charset="-120"/>
              </a:rPr>
              <a:t>Dự phòng: bảng kết quả đủ các nhánh</a:t>
            </a:r>
            <a:endParaRPr lang="en-US" sz="1900" dirty="0"/>
          </a:p>
        </p:txBody>
      </p:sp>
      <p:sp>
        <p:nvSpPr>
          <p:cNvPr id="4" name="Shape 2"/>
          <p:cNvSpPr/>
          <p:nvPr/>
        </p:nvSpPr>
        <p:spPr>
          <a:xfrm>
            <a:off x="457200" y="731520"/>
            <a:ext cx="8229600" cy="365760"/>
          </a:xfrm>
          <a:prstGeom prst="rect">
            <a:avLst/>
          </a:prstGeom>
          <a:solidFill>
            <a:srgbClr val="322164"/>
          </a:solidFill>
          <a:ln/>
        </p:spPr>
      </p:sp>
      <p:sp>
        <p:nvSpPr>
          <p:cNvPr id="5" name="Text 3"/>
          <p:cNvSpPr/>
          <p:nvPr/>
        </p:nvSpPr>
        <p:spPr>
          <a:xfrm>
            <a:off x="457200" y="731520"/>
            <a:ext cx="3017520" cy="365760"/>
          </a:xfrm>
          <a:prstGeom prst="rect">
            <a:avLst/>
          </a:prstGeom>
          <a:noFill/>
          <a:ln/>
        </p:spPr>
        <p:txBody>
          <a:bodyPr wrap="square" lIns="38100" tIns="38100" rIns="38100" bIns="38100" rtlCol="0" anchor="ctr"/>
          <a:lstStyle/>
          <a:p>
            <a:pPr algn="l" indent="0" marL="0">
              <a:buNone/>
            </a:pPr>
            <a:r>
              <a:rPr lang="en-US" sz="1100" b="1" dirty="0">
                <a:solidFill>
                  <a:srgbClr val="FFFFFF"/>
                </a:solidFill>
                <a:latin typeface="Cambria" pitchFamily="34" charset="0"/>
                <a:ea typeface="Cambria" pitchFamily="34" charset="-122"/>
                <a:cs typeface="Cambria" pitchFamily="34" charset="-120"/>
              </a:rPr>
              <a:t>Nhánh</a:t>
            </a:r>
            <a:endParaRPr lang="en-US" sz="1100" dirty="0"/>
          </a:p>
        </p:txBody>
      </p:sp>
      <p:sp>
        <p:nvSpPr>
          <p:cNvPr id="6" name="Text 4"/>
          <p:cNvSpPr/>
          <p:nvPr/>
        </p:nvSpPr>
        <p:spPr>
          <a:xfrm>
            <a:off x="3474720" y="731520"/>
            <a:ext cx="777240" cy="365760"/>
          </a:xfrm>
          <a:prstGeom prst="rect">
            <a:avLst/>
          </a:prstGeom>
          <a:noFill/>
          <a:ln/>
        </p:spPr>
        <p:txBody>
          <a:bodyPr wrap="square" lIns="38100" tIns="38100" rIns="38100" bIns="3810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Exec.</a:t>
            </a:r>
            <a:endParaRPr lang="en-US" sz="1100" dirty="0"/>
          </a:p>
        </p:txBody>
      </p:sp>
      <p:sp>
        <p:nvSpPr>
          <p:cNvPr id="7" name="Text 5"/>
          <p:cNvSpPr/>
          <p:nvPr/>
        </p:nvSpPr>
        <p:spPr>
          <a:xfrm>
            <a:off x="4251960" y="731520"/>
            <a:ext cx="1234440" cy="365760"/>
          </a:xfrm>
          <a:prstGeom prst="rect">
            <a:avLst/>
          </a:prstGeom>
          <a:noFill/>
          <a:ln/>
        </p:spPr>
        <p:txBody>
          <a:bodyPr wrap="square" lIns="38100" tIns="38100" rIns="38100" bIns="3810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KTC 95%</a:t>
            </a:r>
            <a:endParaRPr lang="en-US" sz="1100" dirty="0"/>
          </a:p>
        </p:txBody>
      </p:sp>
      <p:sp>
        <p:nvSpPr>
          <p:cNvPr id="8" name="Text 6"/>
          <p:cNvSpPr/>
          <p:nvPr/>
        </p:nvSpPr>
        <p:spPr>
          <a:xfrm>
            <a:off x="5486400" y="731520"/>
            <a:ext cx="731520" cy="365760"/>
          </a:xfrm>
          <a:prstGeom prst="rect">
            <a:avLst/>
          </a:prstGeom>
          <a:noFill/>
          <a:ln/>
        </p:spPr>
        <p:txBody>
          <a:bodyPr wrap="square" lIns="38100" tIns="38100" rIns="38100" bIns="3810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D.3</a:t>
            </a:r>
            <a:endParaRPr lang="en-US" sz="1100" dirty="0"/>
          </a:p>
        </p:txBody>
      </p:sp>
      <p:sp>
        <p:nvSpPr>
          <p:cNvPr id="9" name="Text 7"/>
          <p:cNvSpPr/>
          <p:nvPr/>
        </p:nvSpPr>
        <p:spPr>
          <a:xfrm>
            <a:off x="6217920" y="731520"/>
            <a:ext cx="731520" cy="365760"/>
          </a:xfrm>
          <a:prstGeom prst="rect">
            <a:avLst/>
          </a:prstGeom>
          <a:noFill/>
          <a:ln/>
        </p:spPr>
        <p:txBody>
          <a:bodyPr wrap="square" lIns="38100" tIns="38100" rIns="38100" bIns="3810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AitW</a:t>
            </a:r>
            <a:endParaRPr lang="en-US" sz="1100" dirty="0"/>
          </a:p>
        </p:txBody>
      </p:sp>
      <p:sp>
        <p:nvSpPr>
          <p:cNvPr id="10" name="Text 8"/>
          <p:cNvSpPr/>
          <p:nvPr/>
        </p:nvSpPr>
        <p:spPr>
          <a:xfrm>
            <a:off x="6949440" y="731520"/>
            <a:ext cx="868680" cy="365760"/>
          </a:xfrm>
          <a:prstGeom prst="rect">
            <a:avLst/>
          </a:prstGeom>
          <a:noFill/>
          <a:ln/>
        </p:spPr>
        <p:txBody>
          <a:bodyPr wrap="square" lIns="38100" tIns="38100" rIns="38100" bIns="3810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BLEU-4</a:t>
            </a:r>
            <a:endParaRPr lang="en-US" sz="1100" dirty="0"/>
          </a:p>
        </p:txBody>
      </p:sp>
      <p:sp>
        <p:nvSpPr>
          <p:cNvPr id="11" name="Text 9"/>
          <p:cNvSpPr/>
          <p:nvPr/>
        </p:nvSpPr>
        <p:spPr>
          <a:xfrm>
            <a:off x="7818120" y="731520"/>
            <a:ext cx="868680" cy="365760"/>
          </a:xfrm>
          <a:prstGeom prst="rect">
            <a:avLst/>
          </a:prstGeom>
          <a:noFill/>
          <a:ln/>
        </p:spPr>
        <p:txBody>
          <a:bodyPr wrap="square" lIns="38100" tIns="38100" rIns="38100" bIns="3810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ROUGE-L</a:t>
            </a:r>
            <a:endParaRPr lang="en-US" sz="1100" dirty="0"/>
          </a:p>
        </p:txBody>
      </p:sp>
      <p:sp>
        <p:nvSpPr>
          <p:cNvPr id="12" name="Text 10"/>
          <p:cNvSpPr/>
          <p:nvPr/>
        </p:nvSpPr>
        <p:spPr>
          <a:xfrm>
            <a:off x="457200" y="1097280"/>
            <a:ext cx="3017520" cy="347472"/>
          </a:xfrm>
          <a:prstGeom prst="rect">
            <a:avLst/>
          </a:prstGeom>
          <a:noFill/>
          <a:ln/>
        </p:spPr>
        <p:txBody>
          <a:bodyPr wrap="square" lIns="38100" tIns="38100" rIns="38100" bIns="38100" rtlCol="0" anchor="ctr"/>
          <a:lstStyle/>
          <a:p>
            <a:pPr algn="l" indent="0" marL="0">
              <a:buNone/>
            </a:pPr>
            <a:r>
              <a:rPr lang="en-US" sz="1100" dirty="0">
                <a:solidFill>
                  <a:srgbClr val="1A1A1A"/>
                </a:solidFill>
                <a:latin typeface="Cambria" pitchFamily="34" charset="0"/>
                <a:ea typeface="Cambria" pitchFamily="34" charset="-122"/>
                <a:cs typeface="Cambria" pitchFamily="34" charset="-120"/>
              </a:rPr>
              <a:t>Base (chưa tinh chỉnh)</a:t>
            </a:r>
            <a:endParaRPr lang="en-US" sz="1100" dirty="0"/>
          </a:p>
        </p:txBody>
      </p:sp>
      <p:sp>
        <p:nvSpPr>
          <p:cNvPr id="13" name="Text 11"/>
          <p:cNvSpPr/>
          <p:nvPr/>
        </p:nvSpPr>
        <p:spPr>
          <a:xfrm>
            <a:off x="3474720" y="1097280"/>
            <a:ext cx="777240" cy="347472"/>
          </a:xfrm>
          <a:prstGeom prst="rect">
            <a:avLst/>
          </a:prstGeom>
          <a:noFill/>
          <a:ln/>
        </p:spPr>
        <p:txBody>
          <a:bodyPr wrap="square" lIns="38100" tIns="38100" rIns="38100" bIns="38100" rtlCol="0" anchor="ctr"/>
          <a:lstStyle/>
          <a:p>
            <a:pPr algn="ctr" indent="0" marL="0">
              <a:buNone/>
            </a:pPr>
            <a:r>
              <a:rPr lang="en-US" sz="1100" dirty="0">
                <a:solidFill>
                  <a:srgbClr val="1A1A1A"/>
                </a:solidFill>
                <a:latin typeface="Cambria" pitchFamily="34" charset="0"/>
                <a:ea typeface="Cambria" pitchFamily="34" charset="-122"/>
                <a:cs typeface="Cambria" pitchFamily="34" charset="-120"/>
              </a:rPr>
              <a:t>47,6</a:t>
            </a:r>
            <a:endParaRPr lang="en-US" sz="1100" dirty="0"/>
          </a:p>
        </p:txBody>
      </p:sp>
      <p:sp>
        <p:nvSpPr>
          <p:cNvPr id="14" name="Text 12"/>
          <p:cNvSpPr/>
          <p:nvPr/>
        </p:nvSpPr>
        <p:spPr>
          <a:xfrm>
            <a:off x="4251960" y="1097280"/>
            <a:ext cx="1234440" cy="347472"/>
          </a:xfrm>
          <a:prstGeom prst="rect">
            <a:avLst/>
          </a:prstGeom>
          <a:noFill/>
          <a:ln/>
        </p:spPr>
        <p:txBody>
          <a:bodyPr wrap="square" lIns="38100" tIns="38100" rIns="38100" bIns="38100" rtlCol="0" anchor="ctr"/>
          <a:lstStyle/>
          <a:p>
            <a:pPr algn="ctr" indent="0" marL="0">
              <a:buNone/>
            </a:pPr>
            <a:r>
              <a:rPr lang="en-US" sz="1100" dirty="0">
                <a:solidFill>
                  <a:srgbClr val="1A1A1A"/>
                </a:solidFill>
                <a:latin typeface="Cambria" pitchFamily="34" charset="0"/>
                <a:ea typeface="Cambria" pitchFamily="34" charset="-122"/>
                <a:cs typeface="Cambria" pitchFamily="34" charset="-120"/>
              </a:rPr>
              <a:t>[45,9; 49,3]</a:t>
            </a:r>
            <a:endParaRPr lang="en-US" sz="1100" dirty="0"/>
          </a:p>
        </p:txBody>
      </p:sp>
      <p:sp>
        <p:nvSpPr>
          <p:cNvPr id="15" name="Text 13"/>
          <p:cNvSpPr/>
          <p:nvPr/>
        </p:nvSpPr>
        <p:spPr>
          <a:xfrm>
            <a:off x="5486400" y="1097280"/>
            <a:ext cx="731520" cy="347472"/>
          </a:xfrm>
          <a:prstGeom prst="rect">
            <a:avLst/>
          </a:prstGeom>
          <a:noFill/>
          <a:ln/>
        </p:spPr>
        <p:txBody>
          <a:bodyPr wrap="square" lIns="38100" tIns="38100" rIns="38100" bIns="38100" rtlCol="0" anchor="ctr"/>
          <a:lstStyle/>
          <a:p>
            <a:pPr algn="ctr" indent="0" marL="0">
              <a:buNone/>
            </a:pPr>
            <a:r>
              <a:rPr lang="en-US" sz="1100" dirty="0">
                <a:solidFill>
                  <a:srgbClr val="1A1A1A"/>
                </a:solidFill>
                <a:latin typeface="Cambria" pitchFamily="34" charset="0"/>
                <a:ea typeface="Cambria" pitchFamily="34" charset="-122"/>
                <a:cs typeface="Cambria" pitchFamily="34" charset="-120"/>
              </a:rPr>
              <a:t>53,6</a:t>
            </a:r>
            <a:endParaRPr lang="en-US" sz="1100" dirty="0"/>
          </a:p>
        </p:txBody>
      </p:sp>
      <p:sp>
        <p:nvSpPr>
          <p:cNvPr id="16" name="Text 14"/>
          <p:cNvSpPr/>
          <p:nvPr/>
        </p:nvSpPr>
        <p:spPr>
          <a:xfrm>
            <a:off x="6217920" y="1097280"/>
            <a:ext cx="731520" cy="347472"/>
          </a:xfrm>
          <a:prstGeom prst="rect">
            <a:avLst/>
          </a:prstGeom>
          <a:noFill/>
          <a:ln/>
        </p:spPr>
        <p:txBody>
          <a:bodyPr wrap="square" lIns="38100" tIns="38100" rIns="38100" bIns="38100" rtlCol="0" anchor="ctr"/>
          <a:lstStyle/>
          <a:p>
            <a:pPr algn="ctr" indent="0" marL="0">
              <a:buNone/>
            </a:pPr>
            <a:r>
              <a:rPr lang="en-US" sz="1100" dirty="0">
                <a:solidFill>
                  <a:srgbClr val="1A1A1A"/>
                </a:solidFill>
                <a:latin typeface="Cambria" pitchFamily="34" charset="0"/>
                <a:ea typeface="Cambria" pitchFamily="34" charset="-122"/>
                <a:cs typeface="Cambria" pitchFamily="34" charset="-120"/>
              </a:rPr>
              <a:t>63,4</a:t>
            </a:r>
            <a:endParaRPr lang="en-US" sz="1100" dirty="0"/>
          </a:p>
        </p:txBody>
      </p:sp>
      <p:sp>
        <p:nvSpPr>
          <p:cNvPr id="17" name="Text 15"/>
          <p:cNvSpPr/>
          <p:nvPr/>
        </p:nvSpPr>
        <p:spPr>
          <a:xfrm>
            <a:off x="6949440" y="1097280"/>
            <a:ext cx="868680" cy="347472"/>
          </a:xfrm>
          <a:prstGeom prst="rect">
            <a:avLst/>
          </a:prstGeom>
          <a:noFill/>
          <a:ln/>
        </p:spPr>
        <p:txBody>
          <a:bodyPr wrap="square" lIns="38100" tIns="38100" rIns="38100" bIns="38100" rtlCol="0" anchor="ctr"/>
          <a:lstStyle/>
          <a:p>
            <a:pPr algn="ctr" indent="0" marL="0">
              <a:buNone/>
            </a:pPr>
            <a:r>
              <a:rPr lang="en-US" sz="1100" dirty="0">
                <a:solidFill>
                  <a:srgbClr val="1A1A1A"/>
                </a:solidFill>
                <a:latin typeface="Cambria" pitchFamily="34" charset="0"/>
                <a:ea typeface="Cambria" pitchFamily="34" charset="-122"/>
                <a:cs typeface="Cambria" pitchFamily="34" charset="-120"/>
              </a:rPr>
              <a:t>9,9</a:t>
            </a:r>
            <a:endParaRPr lang="en-US" sz="1100" dirty="0"/>
          </a:p>
        </p:txBody>
      </p:sp>
      <p:sp>
        <p:nvSpPr>
          <p:cNvPr id="18" name="Text 16"/>
          <p:cNvSpPr/>
          <p:nvPr/>
        </p:nvSpPr>
        <p:spPr>
          <a:xfrm>
            <a:off x="7818120" y="1097280"/>
            <a:ext cx="868680" cy="347472"/>
          </a:xfrm>
          <a:prstGeom prst="rect">
            <a:avLst/>
          </a:prstGeom>
          <a:noFill/>
          <a:ln/>
        </p:spPr>
        <p:txBody>
          <a:bodyPr wrap="square" lIns="38100" tIns="38100" rIns="38100" bIns="38100" rtlCol="0" anchor="ctr"/>
          <a:lstStyle/>
          <a:p>
            <a:pPr algn="ctr" indent="0" marL="0">
              <a:buNone/>
            </a:pPr>
            <a:r>
              <a:rPr lang="en-US" sz="1100" dirty="0">
                <a:solidFill>
                  <a:srgbClr val="1A1A1A"/>
                </a:solidFill>
                <a:latin typeface="Cambria" pitchFamily="34" charset="0"/>
                <a:ea typeface="Cambria" pitchFamily="34" charset="-122"/>
                <a:cs typeface="Cambria" pitchFamily="34" charset="-120"/>
              </a:rPr>
              <a:t>40,4</a:t>
            </a:r>
            <a:endParaRPr lang="en-US" sz="1100" dirty="0"/>
          </a:p>
        </p:txBody>
      </p:sp>
      <p:sp>
        <p:nvSpPr>
          <p:cNvPr id="19" name="Shape 17"/>
          <p:cNvSpPr/>
          <p:nvPr/>
        </p:nvSpPr>
        <p:spPr>
          <a:xfrm>
            <a:off x="457200" y="1444752"/>
            <a:ext cx="8229600" cy="0"/>
          </a:xfrm>
          <a:prstGeom prst="line">
            <a:avLst/>
          </a:prstGeom>
          <a:noFill/>
          <a:ln w="12700">
            <a:solidFill>
              <a:srgbClr val="9A94AE"/>
            </a:solidFill>
            <a:prstDash val="solid"/>
          </a:ln>
        </p:spPr>
      </p:sp>
      <p:sp>
        <p:nvSpPr>
          <p:cNvPr id="20" name="Text 18"/>
          <p:cNvSpPr/>
          <p:nvPr/>
        </p:nvSpPr>
        <p:spPr>
          <a:xfrm>
            <a:off x="457200" y="1444752"/>
            <a:ext cx="3017520" cy="347472"/>
          </a:xfrm>
          <a:prstGeom prst="rect">
            <a:avLst/>
          </a:prstGeom>
          <a:noFill/>
          <a:ln/>
        </p:spPr>
        <p:txBody>
          <a:bodyPr wrap="square" lIns="38100" tIns="38100" rIns="38100" bIns="38100" rtlCol="0" anchor="ctr"/>
          <a:lstStyle/>
          <a:p>
            <a:pPr algn="l" indent="0" marL="0">
              <a:buNone/>
            </a:pPr>
            <a:r>
              <a:rPr lang="en-US" sz="1100" dirty="0">
                <a:solidFill>
                  <a:srgbClr val="1A1A1A"/>
                </a:solidFill>
                <a:latin typeface="Cambria" pitchFamily="34" charset="0"/>
                <a:ea typeface="Cambria" pitchFamily="34" charset="-122"/>
                <a:cs typeface="Cambria" pitchFamily="34" charset="-120"/>
              </a:rPr>
              <a:t>S1 (hạt giống 101)</a:t>
            </a:r>
            <a:endParaRPr lang="en-US" sz="1100" dirty="0"/>
          </a:p>
        </p:txBody>
      </p:sp>
      <p:sp>
        <p:nvSpPr>
          <p:cNvPr id="21" name="Text 19"/>
          <p:cNvSpPr/>
          <p:nvPr/>
        </p:nvSpPr>
        <p:spPr>
          <a:xfrm>
            <a:off x="3474720" y="1444752"/>
            <a:ext cx="777240" cy="347472"/>
          </a:xfrm>
          <a:prstGeom prst="rect">
            <a:avLst/>
          </a:prstGeom>
          <a:noFill/>
          <a:ln/>
        </p:spPr>
        <p:txBody>
          <a:bodyPr wrap="square" lIns="38100" tIns="38100" rIns="38100" bIns="38100" rtlCol="0" anchor="ctr"/>
          <a:lstStyle/>
          <a:p>
            <a:pPr algn="ctr" indent="0" marL="0">
              <a:buNone/>
            </a:pPr>
            <a:r>
              <a:rPr lang="en-US" sz="1100" dirty="0">
                <a:solidFill>
                  <a:srgbClr val="1A1A1A"/>
                </a:solidFill>
                <a:latin typeface="Cambria" pitchFamily="34" charset="0"/>
                <a:ea typeface="Cambria" pitchFamily="34" charset="-122"/>
                <a:cs typeface="Cambria" pitchFamily="34" charset="-120"/>
              </a:rPr>
              <a:t>59,1</a:t>
            </a:r>
            <a:endParaRPr lang="en-US" sz="1100" dirty="0"/>
          </a:p>
        </p:txBody>
      </p:sp>
      <p:sp>
        <p:nvSpPr>
          <p:cNvPr id="22" name="Text 20"/>
          <p:cNvSpPr/>
          <p:nvPr/>
        </p:nvSpPr>
        <p:spPr>
          <a:xfrm>
            <a:off x="4251960" y="1444752"/>
            <a:ext cx="1234440" cy="347472"/>
          </a:xfrm>
          <a:prstGeom prst="rect">
            <a:avLst/>
          </a:prstGeom>
          <a:noFill/>
          <a:ln/>
        </p:spPr>
        <p:txBody>
          <a:bodyPr wrap="square" lIns="38100" tIns="38100" rIns="38100" bIns="38100" rtlCol="0" anchor="ctr"/>
          <a:lstStyle/>
          <a:p>
            <a:pPr algn="ctr" indent="0" marL="0">
              <a:buNone/>
            </a:pPr>
            <a:r>
              <a:rPr lang="en-US" sz="1100" dirty="0">
                <a:solidFill>
                  <a:srgbClr val="1A1A1A"/>
                </a:solidFill>
                <a:latin typeface="Cambria" pitchFamily="34" charset="0"/>
                <a:ea typeface="Cambria" pitchFamily="34" charset="-122"/>
                <a:cs typeface="Cambria" pitchFamily="34" charset="-120"/>
              </a:rPr>
              <a:t>[57,3; 60,8]</a:t>
            </a:r>
            <a:endParaRPr lang="en-US" sz="1100" dirty="0"/>
          </a:p>
        </p:txBody>
      </p:sp>
      <p:sp>
        <p:nvSpPr>
          <p:cNvPr id="23" name="Text 21"/>
          <p:cNvSpPr/>
          <p:nvPr/>
        </p:nvSpPr>
        <p:spPr>
          <a:xfrm>
            <a:off x="5486400" y="1444752"/>
            <a:ext cx="731520" cy="347472"/>
          </a:xfrm>
          <a:prstGeom prst="rect">
            <a:avLst/>
          </a:prstGeom>
          <a:noFill/>
          <a:ln/>
        </p:spPr>
        <p:txBody>
          <a:bodyPr wrap="square" lIns="38100" tIns="38100" rIns="38100" bIns="38100" rtlCol="0" anchor="ctr"/>
          <a:lstStyle/>
          <a:p>
            <a:pPr algn="ctr" indent="0" marL="0">
              <a:buNone/>
            </a:pPr>
            <a:r>
              <a:rPr lang="en-US" sz="1100" dirty="0">
                <a:solidFill>
                  <a:srgbClr val="1A1A1A"/>
                </a:solidFill>
                <a:latin typeface="Cambria" pitchFamily="34" charset="0"/>
                <a:ea typeface="Cambria" pitchFamily="34" charset="-122"/>
                <a:cs typeface="Cambria" pitchFamily="34" charset="-120"/>
              </a:rPr>
              <a:t>65,5</a:t>
            </a:r>
            <a:endParaRPr lang="en-US" sz="1100" dirty="0"/>
          </a:p>
        </p:txBody>
      </p:sp>
      <p:sp>
        <p:nvSpPr>
          <p:cNvPr id="24" name="Text 22"/>
          <p:cNvSpPr/>
          <p:nvPr/>
        </p:nvSpPr>
        <p:spPr>
          <a:xfrm>
            <a:off x="6217920" y="1444752"/>
            <a:ext cx="731520" cy="347472"/>
          </a:xfrm>
          <a:prstGeom prst="rect">
            <a:avLst/>
          </a:prstGeom>
          <a:noFill/>
          <a:ln/>
        </p:spPr>
        <p:txBody>
          <a:bodyPr wrap="square" lIns="38100" tIns="38100" rIns="38100" bIns="38100" rtlCol="0" anchor="ctr"/>
          <a:lstStyle/>
          <a:p>
            <a:pPr algn="ctr" indent="0" marL="0">
              <a:buNone/>
            </a:pPr>
            <a:r>
              <a:rPr lang="en-US" sz="1100" dirty="0">
                <a:solidFill>
                  <a:srgbClr val="1A1A1A"/>
                </a:solidFill>
                <a:latin typeface="Cambria" pitchFamily="34" charset="0"/>
                <a:ea typeface="Cambria" pitchFamily="34" charset="-122"/>
                <a:cs typeface="Cambria" pitchFamily="34" charset="-120"/>
              </a:rPr>
              <a:t>74,4</a:t>
            </a:r>
            <a:endParaRPr lang="en-US" sz="1100" dirty="0"/>
          </a:p>
        </p:txBody>
      </p:sp>
      <p:sp>
        <p:nvSpPr>
          <p:cNvPr id="25" name="Text 23"/>
          <p:cNvSpPr/>
          <p:nvPr/>
        </p:nvSpPr>
        <p:spPr>
          <a:xfrm>
            <a:off x="6949440" y="1444752"/>
            <a:ext cx="868680" cy="347472"/>
          </a:xfrm>
          <a:prstGeom prst="rect">
            <a:avLst/>
          </a:prstGeom>
          <a:noFill/>
          <a:ln/>
        </p:spPr>
        <p:txBody>
          <a:bodyPr wrap="square" lIns="38100" tIns="38100" rIns="38100" bIns="38100" rtlCol="0" anchor="ctr"/>
          <a:lstStyle/>
          <a:p>
            <a:pPr algn="ctr" indent="0" marL="0">
              <a:buNone/>
            </a:pPr>
            <a:r>
              <a:rPr lang="en-US" sz="1100" dirty="0">
                <a:solidFill>
                  <a:srgbClr val="1A1A1A"/>
                </a:solidFill>
                <a:latin typeface="Cambria" pitchFamily="34" charset="0"/>
                <a:ea typeface="Cambria" pitchFamily="34" charset="-122"/>
                <a:cs typeface="Cambria" pitchFamily="34" charset="-120"/>
              </a:rPr>
              <a:t>38,7</a:t>
            </a:r>
            <a:endParaRPr lang="en-US" sz="1100" dirty="0"/>
          </a:p>
        </p:txBody>
      </p:sp>
      <p:sp>
        <p:nvSpPr>
          <p:cNvPr id="26" name="Text 24"/>
          <p:cNvSpPr/>
          <p:nvPr/>
        </p:nvSpPr>
        <p:spPr>
          <a:xfrm>
            <a:off x="7818120" y="1444752"/>
            <a:ext cx="868680" cy="347472"/>
          </a:xfrm>
          <a:prstGeom prst="rect">
            <a:avLst/>
          </a:prstGeom>
          <a:noFill/>
          <a:ln/>
        </p:spPr>
        <p:txBody>
          <a:bodyPr wrap="square" lIns="38100" tIns="38100" rIns="38100" bIns="38100" rtlCol="0" anchor="ctr"/>
          <a:lstStyle/>
          <a:p>
            <a:pPr algn="ctr" indent="0" marL="0">
              <a:buNone/>
            </a:pPr>
            <a:r>
              <a:rPr lang="en-US" sz="1100" dirty="0">
                <a:solidFill>
                  <a:srgbClr val="1A1A1A"/>
                </a:solidFill>
                <a:latin typeface="Cambria" pitchFamily="34" charset="0"/>
                <a:ea typeface="Cambria" pitchFamily="34" charset="-122"/>
                <a:cs typeface="Cambria" pitchFamily="34" charset="-120"/>
              </a:rPr>
              <a:t>67,3</a:t>
            </a:r>
            <a:endParaRPr lang="en-US" sz="1100" dirty="0"/>
          </a:p>
        </p:txBody>
      </p:sp>
      <p:sp>
        <p:nvSpPr>
          <p:cNvPr id="27" name="Shape 25"/>
          <p:cNvSpPr/>
          <p:nvPr/>
        </p:nvSpPr>
        <p:spPr>
          <a:xfrm>
            <a:off x="457200" y="1792224"/>
            <a:ext cx="8229600" cy="0"/>
          </a:xfrm>
          <a:prstGeom prst="line">
            <a:avLst/>
          </a:prstGeom>
          <a:noFill/>
          <a:ln w="12700">
            <a:solidFill>
              <a:srgbClr val="9A94AE"/>
            </a:solidFill>
            <a:prstDash val="solid"/>
          </a:ln>
        </p:spPr>
      </p:sp>
      <p:sp>
        <p:nvSpPr>
          <p:cNvPr id="28" name="Text 26"/>
          <p:cNvSpPr/>
          <p:nvPr/>
        </p:nvSpPr>
        <p:spPr>
          <a:xfrm>
            <a:off x="457200" y="1792224"/>
            <a:ext cx="3017520" cy="347472"/>
          </a:xfrm>
          <a:prstGeom prst="rect">
            <a:avLst/>
          </a:prstGeom>
          <a:noFill/>
          <a:ln/>
        </p:spPr>
        <p:txBody>
          <a:bodyPr wrap="square" lIns="38100" tIns="38100" rIns="38100" bIns="38100" rtlCol="0" anchor="ctr"/>
          <a:lstStyle/>
          <a:p>
            <a:pPr algn="l" indent="0" marL="0">
              <a:buNone/>
            </a:pPr>
            <a:r>
              <a:rPr lang="en-US" sz="1100" dirty="0">
                <a:solidFill>
                  <a:srgbClr val="1A1A1A"/>
                </a:solidFill>
                <a:latin typeface="Cambria" pitchFamily="34" charset="0"/>
                <a:ea typeface="Cambria" pitchFamily="34" charset="-122"/>
                <a:cs typeface="Cambria" pitchFamily="34" charset="-120"/>
              </a:rPr>
              <a:t>S1 (hạt giống 202)</a:t>
            </a:r>
            <a:endParaRPr lang="en-US" sz="1100" dirty="0"/>
          </a:p>
        </p:txBody>
      </p:sp>
      <p:sp>
        <p:nvSpPr>
          <p:cNvPr id="29" name="Text 27"/>
          <p:cNvSpPr/>
          <p:nvPr/>
        </p:nvSpPr>
        <p:spPr>
          <a:xfrm>
            <a:off x="3474720" y="1792224"/>
            <a:ext cx="777240" cy="347472"/>
          </a:xfrm>
          <a:prstGeom prst="rect">
            <a:avLst/>
          </a:prstGeom>
          <a:noFill/>
          <a:ln/>
        </p:spPr>
        <p:txBody>
          <a:bodyPr wrap="square" lIns="38100" tIns="38100" rIns="38100" bIns="38100" rtlCol="0" anchor="ctr"/>
          <a:lstStyle/>
          <a:p>
            <a:pPr algn="ctr" indent="0" marL="0">
              <a:buNone/>
            </a:pPr>
            <a:r>
              <a:rPr lang="en-US" sz="1100" dirty="0">
                <a:solidFill>
                  <a:srgbClr val="1A1A1A"/>
                </a:solidFill>
                <a:latin typeface="Cambria" pitchFamily="34" charset="0"/>
                <a:ea typeface="Cambria" pitchFamily="34" charset="-122"/>
                <a:cs typeface="Cambria" pitchFamily="34" charset="-120"/>
              </a:rPr>
              <a:t>59,6</a:t>
            </a:r>
            <a:endParaRPr lang="en-US" sz="1100" dirty="0"/>
          </a:p>
        </p:txBody>
      </p:sp>
      <p:sp>
        <p:nvSpPr>
          <p:cNvPr id="30" name="Text 28"/>
          <p:cNvSpPr/>
          <p:nvPr/>
        </p:nvSpPr>
        <p:spPr>
          <a:xfrm>
            <a:off x="4251960" y="1792224"/>
            <a:ext cx="1234440" cy="347472"/>
          </a:xfrm>
          <a:prstGeom prst="rect">
            <a:avLst/>
          </a:prstGeom>
          <a:noFill/>
          <a:ln/>
        </p:spPr>
        <p:txBody>
          <a:bodyPr wrap="square" lIns="38100" tIns="38100" rIns="38100" bIns="38100" rtlCol="0" anchor="ctr"/>
          <a:lstStyle/>
          <a:p>
            <a:pPr algn="ctr" indent="0" marL="0">
              <a:buNone/>
            </a:pPr>
            <a:r>
              <a:rPr lang="en-US" sz="1100" dirty="0">
                <a:solidFill>
                  <a:srgbClr val="1A1A1A"/>
                </a:solidFill>
                <a:latin typeface="Cambria" pitchFamily="34" charset="0"/>
                <a:ea typeface="Cambria" pitchFamily="34" charset="-122"/>
                <a:cs typeface="Cambria" pitchFamily="34" charset="-120"/>
              </a:rPr>
              <a:t>[57,9; 61,3]</a:t>
            </a:r>
            <a:endParaRPr lang="en-US" sz="1100" dirty="0"/>
          </a:p>
        </p:txBody>
      </p:sp>
      <p:sp>
        <p:nvSpPr>
          <p:cNvPr id="31" name="Text 29"/>
          <p:cNvSpPr/>
          <p:nvPr/>
        </p:nvSpPr>
        <p:spPr>
          <a:xfrm>
            <a:off x="5486400" y="1792224"/>
            <a:ext cx="731520" cy="347472"/>
          </a:xfrm>
          <a:prstGeom prst="rect">
            <a:avLst/>
          </a:prstGeom>
          <a:noFill/>
          <a:ln/>
        </p:spPr>
        <p:txBody>
          <a:bodyPr wrap="square" lIns="38100" tIns="38100" rIns="38100" bIns="38100" rtlCol="0" anchor="ctr"/>
          <a:lstStyle/>
          <a:p>
            <a:pPr algn="ctr" indent="0" marL="0">
              <a:buNone/>
            </a:pPr>
            <a:r>
              <a:rPr lang="en-US" sz="1100" dirty="0">
                <a:solidFill>
                  <a:srgbClr val="1A1A1A"/>
                </a:solidFill>
                <a:latin typeface="Cambria" pitchFamily="34" charset="0"/>
                <a:ea typeface="Cambria" pitchFamily="34" charset="-122"/>
                <a:cs typeface="Cambria" pitchFamily="34" charset="-120"/>
              </a:rPr>
              <a:t>66,1</a:t>
            </a:r>
            <a:endParaRPr lang="en-US" sz="1100" dirty="0"/>
          </a:p>
        </p:txBody>
      </p:sp>
      <p:sp>
        <p:nvSpPr>
          <p:cNvPr id="32" name="Text 30"/>
          <p:cNvSpPr/>
          <p:nvPr/>
        </p:nvSpPr>
        <p:spPr>
          <a:xfrm>
            <a:off x="6217920" y="1792224"/>
            <a:ext cx="731520" cy="347472"/>
          </a:xfrm>
          <a:prstGeom prst="rect">
            <a:avLst/>
          </a:prstGeom>
          <a:noFill/>
          <a:ln/>
        </p:spPr>
        <p:txBody>
          <a:bodyPr wrap="square" lIns="38100" tIns="38100" rIns="38100" bIns="38100" rtlCol="0" anchor="ctr"/>
          <a:lstStyle/>
          <a:p>
            <a:pPr algn="ctr" indent="0" marL="0">
              <a:buNone/>
            </a:pPr>
            <a:r>
              <a:rPr lang="en-US" sz="1100" dirty="0">
                <a:solidFill>
                  <a:srgbClr val="1A1A1A"/>
                </a:solidFill>
                <a:latin typeface="Cambria" pitchFamily="34" charset="0"/>
                <a:ea typeface="Cambria" pitchFamily="34" charset="-122"/>
                <a:cs typeface="Cambria" pitchFamily="34" charset="-120"/>
              </a:rPr>
              <a:t>75,3</a:t>
            </a:r>
            <a:endParaRPr lang="en-US" sz="1100" dirty="0"/>
          </a:p>
        </p:txBody>
      </p:sp>
      <p:sp>
        <p:nvSpPr>
          <p:cNvPr id="33" name="Text 31"/>
          <p:cNvSpPr/>
          <p:nvPr/>
        </p:nvSpPr>
        <p:spPr>
          <a:xfrm>
            <a:off x="6949440" y="1792224"/>
            <a:ext cx="868680" cy="347472"/>
          </a:xfrm>
          <a:prstGeom prst="rect">
            <a:avLst/>
          </a:prstGeom>
          <a:noFill/>
          <a:ln/>
        </p:spPr>
        <p:txBody>
          <a:bodyPr wrap="square" lIns="38100" tIns="38100" rIns="38100" bIns="38100" rtlCol="0" anchor="ctr"/>
          <a:lstStyle/>
          <a:p>
            <a:pPr algn="ctr" indent="0" marL="0">
              <a:buNone/>
            </a:pPr>
            <a:r>
              <a:rPr lang="en-US" sz="1100" dirty="0">
                <a:solidFill>
                  <a:srgbClr val="1A1A1A"/>
                </a:solidFill>
                <a:latin typeface="Cambria" pitchFamily="34" charset="0"/>
                <a:ea typeface="Cambria" pitchFamily="34" charset="-122"/>
                <a:cs typeface="Cambria" pitchFamily="34" charset="-120"/>
              </a:rPr>
              <a:t>39,0</a:t>
            </a:r>
            <a:endParaRPr lang="en-US" sz="1100" dirty="0"/>
          </a:p>
        </p:txBody>
      </p:sp>
      <p:sp>
        <p:nvSpPr>
          <p:cNvPr id="34" name="Text 32"/>
          <p:cNvSpPr/>
          <p:nvPr/>
        </p:nvSpPr>
        <p:spPr>
          <a:xfrm>
            <a:off x="7818120" y="1792224"/>
            <a:ext cx="868680" cy="347472"/>
          </a:xfrm>
          <a:prstGeom prst="rect">
            <a:avLst/>
          </a:prstGeom>
          <a:noFill/>
          <a:ln/>
        </p:spPr>
        <p:txBody>
          <a:bodyPr wrap="square" lIns="38100" tIns="38100" rIns="38100" bIns="38100" rtlCol="0" anchor="ctr"/>
          <a:lstStyle/>
          <a:p>
            <a:pPr algn="ctr" indent="0" marL="0">
              <a:buNone/>
            </a:pPr>
            <a:r>
              <a:rPr lang="en-US" sz="1100" dirty="0">
                <a:solidFill>
                  <a:srgbClr val="1A1A1A"/>
                </a:solidFill>
                <a:latin typeface="Cambria" pitchFamily="34" charset="0"/>
                <a:ea typeface="Cambria" pitchFamily="34" charset="-122"/>
                <a:cs typeface="Cambria" pitchFamily="34" charset="-120"/>
              </a:rPr>
              <a:t>67,6</a:t>
            </a:r>
            <a:endParaRPr lang="en-US" sz="1100" dirty="0"/>
          </a:p>
        </p:txBody>
      </p:sp>
      <p:sp>
        <p:nvSpPr>
          <p:cNvPr id="35" name="Shape 33"/>
          <p:cNvSpPr/>
          <p:nvPr/>
        </p:nvSpPr>
        <p:spPr>
          <a:xfrm>
            <a:off x="457200" y="2139696"/>
            <a:ext cx="8229600" cy="0"/>
          </a:xfrm>
          <a:prstGeom prst="line">
            <a:avLst/>
          </a:prstGeom>
          <a:noFill/>
          <a:ln w="19050">
            <a:solidFill>
              <a:srgbClr val="322164"/>
            </a:solidFill>
            <a:prstDash val="solid"/>
          </a:ln>
        </p:spPr>
      </p:sp>
      <p:sp>
        <p:nvSpPr>
          <p:cNvPr id="36" name="Text 34"/>
          <p:cNvSpPr/>
          <p:nvPr/>
        </p:nvSpPr>
        <p:spPr>
          <a:xfrm>
            <a:off x="457200" y="2139696"/>
            <a:ext cx="3017520" cy="347472"/>
          </a:xfrm>
          <a:prstGeom prst="rect">
            <a:avLst/>
          </a:prstGeom>
          <a:noFill/>
          <a:ln/>
        </p:spPr>
        <p:txBody>
          <a:bodyPr wrap="square" lIns="38100" tIns="38100" rIns="38100" bIns="38100" rtlCol="0" anchor="ctr"/>
          <a:lstStyle/>
          <a:p>
            <a:pPr algn="l" indent="0" marL="0">
              <a:buNone/>
            </a:pPr>
            <a:r>
              <a:rPr lang="en-US" sz="1100" dirty="0">
                <a:solidFill>
                  <a:srgbClr val="1A1A1A"/>
                </a:solidFill>
                <a:latin typeface="Cambria" pitchFamily="34" charset="0"/>
                <a:ea typeface="Cambria" pitchFamily="34" charset="-122"/>
                <a:cs typeface="Cambria" pitchFamily="34" charset="-120"/>
              </a:rPr>
              <a:t>S2 (đích khai báo)</a:t>
            </a:r>
            <a:endParaRPr lang="en-US" sz="1100" dirty="0"/>
          </a:p>
        </p:txBody>
      </p:sp>
      <p:sp>
        <p:nvSpPr>
          <p:cNvPr id="37" name="Text 35"/>
          <p:cNvSpPr/>
          <p:nvPr/>
        </p:nvSpPr>
        <p:spPr>
          <a:xfrm>
            <a:off x="3474720" y="2139696"/>
            <a:ext cx="777240" cy="347472"/>
          </a:xfrm>
          <a:prstGeom prst="rect">
            <a:avLst/>
          </a:prstGeom>
          <a:noFill/>
          <a:ln/>
        </p:spPr>
        <p:txBody>
          <a:bodyPr wrap="square" lIns="38100" tIns="38100" rIns="38100" bIns="38100" rtlCol="0" anchor="ctr"/>
          <a:lstStyle/>
          <a:p>
            <a:pPr algn="ctr" indent="0" marL="0">
              <a:buNone/>
            </a:pPr>
            <a:r>
              <a:rPr lang="en-US" sz="1100" dirty="0">
                <a:solidFill>
                  <a:srgbClr val="1A1A1A"/>
                </a:solidFill>
                <a:latin typeface="Cambria" pitchFamily="34" charset="0"/>
                <a:ea typeface="Cambria" pitchFamily="34" charset="-122"/>
                <a:cs typeface="Cambria" pitchFamily="34" charset="-120"/>
              </a:rPr>
              <a:t>57,2</a:t>
            </a:r>
            <a:endParaRPr lang="en-US" sz="1100" dirty="0"/>
          </a:p>
        </p:txBody>
      </p:sp>
      <p:sp>
        <p:nvSpPr>
          <p:cNvPr id="38" name="Text 36"/>
          <p:cNvSpPr/>
          <p:nvPr/>
        </p:nvSpPr>
        <p:spPr>
          <a:xfrm>
            <a:off x="4251960" y="2139696"/>
            <a:ext cx="1234440" cy="347472"/>
          </a:xfrm>
          <a:prstGeom prst="rect">
            <a:avLst/>
          </a:prstGeom>
          <a:noFill/>
          <a:ln/>
        </p:spPr>
        <p:txBody>
          <a:bodyPr wrap="square" lIns="38100" tIns="38100" rIns="38100" bIns="38100" rtlCol="0" anchor="ctr"/>
          <a:lstStyle/>
          <a:p>
            <a:pPr algn="ctr" indent="0" marL="0">
              <a:buNone/>
            </a:pPr>
            <a:r>
              <a:rPr lang="en-US" sz="1100" dirty="0">
                <a:solidFill>
                  <a:srgbClr val="1A1A1A"/>
                </a:solidFill>
                <a:latin typeface="Cambria" pitchFamily="34" charset="0"/>
                <a:ea typeface="Cambria" pitchFamily="34" charset="-122"/>
                <a:cs typeface="Cambria" pitchFamily="34" charset="-120"/>
              </a:rPr>
              <a:t>[55,4; 58,9]</a:t>
            </a:r>
            <a:endParaRPr lang="en-US" sz="1100" dirty="0"/>
          </a:p>
        </p:txBody>
      </p:sp>
      <p:sp>
        <p:nvSpPr>
          <p:cNvPr id="39" name="Text 37"/>
          <p:cNvSpPr/>
          <p:nvPr/>
        </p:nvSpPr>
        <p:spPr>
          <a:xfrm>
            <a:off x="5486400" y="2139696"/>
            <a:ext cx="731520" cy="347472"/>
          </a:xfrm>
          <a:prstGeom prst="rect">
            <a:avLst/>
          </a:prstGeom>
          <a:noFill/>
          <a:ln/>
        </p:spPr>
        <p:txBody>
          <a:bodyPr wrap="square" lIns="38100" tIns="38100" rIns="38100" bIns="38100" rtlCol="0" anchor="ctr"/>
          <a:lstStyle/>
          <a:p>
            <a:pPr algn="ctr" indent="0" marL="0">
              <a:buNone/>
            </a:pPr>
            <a:r>
              <a:rPr lang="en-US" sz="1100" dirty="0">
                <a:solidFill>
                  <a:srgbClr val="1A1A1A"/>
                </a:solidFill>
                <a:latin typeface="Cambria" pitchFamily="34" charset="0"/>
                <a:ea typeface="Cambria" pitchFamily="34" charset="-122"/>
                <a:cs typeface="Cambria" pitchFamily="34" charset="-120"/>
              </a:rPr>
              <a:t>63,6</a:t>
            </a:r>
            <a:endParaRPr lang="en-US" sz="1100" dirty="0"/>
          </a:p>
        </p:txBody>
      </p:sp>
      <p:sp>
        <p:nvSpPr>
          <p:cNvPr id="40" name="Text 38"/>
          <p:cNvSpPr/>
          <p:nvPr/>
        </p:nvSpPr>
        <p:spPr>
          <a:xfrm>
            <a:off x="6217920" y="2139696"/>
            <a:ext cx="731520" cy="347472"/>
          </a:xfrm>
          <a:prstGeom prst="rect">
            <a:avLst/>
          </a:prstGeom>
          <a:noFill/>
          <a:ln/>
        </p:spPr>
        <p:txBody>
          <a:bodyPr wrap="square" lIns="38100" tIns="38100" rIns="38100" bIns="38100" rtlCol="0" anchor="ctr"/>
          <a:lstStyle/>
          <a:p>
            <a:pPr algn="ctr" indent="0" marL="0">
              <a:buNone/>
            </a:pPr>
            <a:r>
              <a:rPr lang="en-US" sz="1100" dirty="0">
                <a:solidFill>
                  <a:srgbClr val="1A1A1A"/>
                </a:solidFill>
                <a:latin typeface="Cambria" pitchFamily="34" charset="0"/>
                <a:ea typeface="Cambria" pitchFamily="34" charset="-122"/>
                <a:cs typeface="Cambria" pitchFamily="34" charset="-120"/>
              </a:rPr>
              <a:t>73,4</a:t>
            </a:r>
            <a:endParaRPr lang="en-US" sz="1100" dirty="0"/>
          </a:p>
        </p:txBody>
      </p:sp>
      <p:sp>
        <p:nvSpPr>
          <p:cNvPr id="41" name="Text 39"/>
          <p:cNvSpPr/>
          <p:nvPr/>
        </p:nvSpPr>
        <p:spPr>
          <a:xfrm>
            <a:off x="6949440" y="2139696"/>
            <a:ext cx="868680" cy="347472"/>
          </a:xfrm>
          <a:prstGeom prst="rect">
            <a:avLst/>
          </a:prstGeom>
          <a:noFill/>
          <a:ln/>
        </p:spPr>
        <p:txBody>
          <a:bodyPr wrap="square" lIns="38100" tIns="38100" rIns="38100" bIns="38100" rtlCol="0" anchor="ctr"/>
          <a:lstStyle/>
          <a:p>
            <a:pPr algn="ctr" indent="0" marL="0">
              <a:buNone/>
            </a:pPr>
            <a:r>
              <a:rPr lang="en-US" sz="1100" dirty="0">
                <a:solidFill>
                  <a:srgbClr val="1A1A1A"/>
                </a:solidFill>
                <a:latin typeface="Cambria" pitchFamily="34" charset="0"/>
                <a:ea typeface="Cambria" pitchFamily="34" charset="-122"/>
                <a:cs typeface="Cambria" pitchFamily="34" charset="-120"/>
              </a:rPr>
              <a:t>36,4</a:t>
            </a:r>
            <a:endParaRPr lang="en-US" sz="1100" dirty="0"/>
          </a:p>
        </p:txBody>
      </p:sp>
      <p:sp>
        <p:nvSpPr>
          <p:cNvPr id="42" name="Text 40"/>
          <p:cNvSpPr/>
          <p:nvPr/>
        </p:nvSpPr>
        <p:spPr>
          <a:xfrm>
            <a:off x="7818120" y="2139696"/>
            <a:ext cx="868680" cy="347472"/>
          </a:xfrm>
          <a:prstGeom prst="rect">
            <a:avLst/>
          </a:prstGeom>
          <a:noFill/>
          <a:ln/>
        </p:spPr>
        <p:txBody>
          <a:bodyPr wrap="square" lIns="38100" tIns="38100" rIns="38100" bIns="38100" rtlCol="0" anchor="ctr"/>
          <a:lstStyle/>
          <a:p>
            <a:pPr algn="ctr" indent="0" marL="0">
              <a:buNone/>
            </a:pPr>
            <a:r>
              <a:rPr lang="en-US" sz="1100" dirty="0">
                <a:solidFill>
                  <a:srgbClr val="1A1A1A"/>
                </a:solidFill>
                <a:latin typeface="Cambria" pitchFamily="34" charset="0"/>
                <a:ea typeface="Cambria" pitchFamily="34" charset="-122"/>
                <a:cs typeface="Cambria" pitchFamily="34" charset="-120"/>
              </a:rPr>
              <a:t>65,9</a:t>
            </a:r>
            <a:endParaRPr lang="en-US" sz="1100" dirty="0"/>
          </a:p>
        </p:txBody>
      </p:sp>
      <p:sp>
        <p:nvSpPr>
          <p:cNvPr id="43" name="Shape 41"/>
          <p:cNvSpPr/>
          <p:nvPr/>
        </p:nvSpPr>
        <p:spPr>
          <a:xfrm>
            <a:off x="457200" y="2487168"/>
            <a:ext cx="8229600" cy="0"/>
          </a:xfrm>
          <a:prstGeom prst="line">
            <a:avLst/>
          </a:prstGeom>
          <a:noFill/>
          <a:ln w="12700">
            <a:solidFill>
              <a:srgbClr val="9A94AE"/>
            </a:solidFill>
            <a:prstDash val="solid"/>
          </a:ln>
        </p:spPr>
      </p:sp>
      <p:sp>
        <p:nvSpPr>
          <p:cNvPr id="44" name="Text 42"/>
          <p:cNvSpPr/>
          <p:nvPr/>
        </p:nvSpPr>
        <p:spPr>
          <a:xfrm>
            <a:off x="457200" y="2487168"/>
            <a:ext cx="3017520" cy="347472"/>
          </a:xfrm>
          <a:prstGeom prst="rect">
            <a:avLst/>
          </a:prstGeom>
          <a:noFill/>
          <a:ln/>
        </p:spPr>
        <p:txBody>
          <a:bodyPr wrap="square" lIns="38100" tIns="38100" rIns="38100" bIns="38100" rtlCol="0" anchor="ctr"/>
          <a:lstStyle/>
          <a:p>
            <a:pPr algn="l" indent="0" marL="0">
              <a:buNone/>
            </a:pPr>
            <a:r>
              <a:rPr lang="en-US" sz="1100" dirty="0">
                <a:solidFill>
                  <a:srgbClr val="1A1A1A"/>
                </a:solidFill>
                <a:latin typeface="Cambria" pitchFamily="34" charset="0"/>
                <a:ea typeface="Cambria" pitchFamily="34" charset="-122"/>
                <a:cs typeface="Cambria" pitchFamily="34" charset="-120"/>
              </a:rPr>
              <a:t>CE2-S2 (nhánh so sánh)</a:t>
            </a:r>
            <a:endParaRPr lang="en-US" sz="1100" dirty="0"/>
          </a:p>
        </p:txBody>
      </p:sp>
      <p:sp>
        <p:nvSpPr>
          <p:cNvPr id="45" name="Text 43"/>
          <p:cNvSpPr/>
          <p:nvPr/>
        </p:nvSpPr>
        <p:spPr>
          <a:xfrm>
            <a:off x="3474720" y="2487168"/>
            <a:ext cx="777240" cy="347472"/>
          </a:xfrm>
          <a:prstGeom prst="rect">
            <a:avLst/>
          </a:prstGeom>
          <a:noFill/>
          <a:ln/>
        </p:spPr>
        <p:txBody>
          <a:bodyPr wrap="square" lIns="38100" tIns="38100" rIns="38100" bIns="38100" rtlCol="0" anchor="ctr"/>
          <a:lstStyle/>
          <a:p>
            <a:pPr algn="ctr" indent="0" marL="0">
              <a:buNone/>
            </a:pPr>
            <a:r>
              <a:rPr lang="en-US" sz="1100" dirty="0">
                <a:solidFill>
                  <a:srgbClr val="1A1A1A"/>
                </a:solidFill>
                <a:latin typeface="Cambria" pitchFamily="34" charset="0"/>
                <a:ea typeface="Cambria" pitchFamily="34" charset="-122"/>
                <a:cs typeface="Cambria" pitchFamily="34" charset="-120"/>
              </a:rPr>
              <a:t>59,4</a:t>
            </a:r>
            <a:endParaRPr lang="en-US" sz="1100" dirty="0"/>
          </a:p>
        </p:txBody>
      </p:sp>
      <p:sp>
        <p:nvSpPr>
          <p:cNvPr id="46" name="Text 44"/>
          <p:cNvSpPr/>
          <p:nvPr/>
        </p:nvSpPr>
        <p:spPr>
          <a:xfrm>
            <a:off x="4251960" y="2487168"/>
            <a:ext cx="1234440" cy="347472"/>
          </a:xfrm>
          <a:prstGeom prst="rect">
            <a:avLst/>
          </a:prstGeom>
          <a:noFill/>
          <a:ln/>
        </p:spPr>
        <p:txBody>
          <a:bodyPr wrap="square" lIns="38100" tIns="38100" rIns="38100" bIns="38100" rtlCol="0" anchor="ctr"/>
          <a:lstStyle/>
          <a:p>
            <a:pPr algn="ctr" indent="0" marL="0">
              <a:buNone/>
            </a:pPr>
            <a:r>
              <a:rPr lang="en-US" sz="1100" dirty="0">
                <a:solidFill>
                  <a:srgbClr val="1A1A1A"/>
                </a:solidFill>
                <a:latin typeface="Cambria" pitchFamily="34" charset="0"/>
                <a:ea typeface="Cambria" pitchFamily="34" charset="-122"/>
                <a:cs typeface="Cambria" pitchFamily="34" charset="-120"/>
              </a:rPr>
              <a:t>[57,7; 61,1]</a:t>
            </a:r>
            <a:endParaRPr lang="en-US" sz="1100" dirty="0"/>
          </a:p>
        </p:txBody>
      </p:sp>
      <p:sp>
        <p:nvSpPr>
          <p:cNvPr id="47" name="Text 45"/>
          <p:cNvSpPr/>
          <p:nvPr/>
        </p:nvSpPr>
        <p:spPr>
          <a:xfrm>
            <a:off x="5486400" y="2487168"/>
            <a:ext cx="731520" cy="347472"/>
          </a:xfrm>
          <a:prstGeom prst="rect">
            <a:avLst/>
          </a:prstGeom>
          <a:noFill/>
          <a:ln/>
        </p:spPr>
        <p:txBody>
          <a:bodyPr wrap="square" lIns="38100" tIns="38100" rIns="38100" bIns="38100" rtlCol="0" anchor="ctr"/>
          <a:lstStyle/>
          <a:p>
            <a:pPr algn="ctr" indent="0" marL="0">
              <a:buNone/>
            </a:pPr>
            <a:r>
              <a:rPr lang="en-US" sz="1100" dirty="0">
                <a:solidFill>
                  <a:srgbClr val="1A1A1A"/>
                </a:solidFill>
                <a:latin typeface="Cambria" pitchFamily="34" charset="0"/>
                <a:ea typeface="Cambria" pitchFamily="34" charset="-122"/>
                <a:cs typeface="Cambria" pitchFamily="34" charset="-120"/>
              </a:rPr>
              <a:t>66,0</a:t>
            </a:r>
            <a:endParaRPr lang="en-US" sz="1100" dirty="0"/>
          </a:p>
        </p:txBody>
      </p:sp>
      <p:sp>
        <p:nvSpPr>
          <p:cNvPr id="48" name="Text 46"/>
          <p:cNvSpPr/>
          <p:nvPr/>
        </p:nvSpPr>
        <p:spPr>
          <a:xfrm>
            <a:off x="6217920" y="2487168"/>
            <a:ext cx="731520" cy="347472"/>
          </a:xfrm>
          <a:prstGeom prst="rect">
            <a:avLst/>
          </a:prstGeom>
          <a:noFill/>
          <a:ln/>
        </p:spPr>
        <p:txBody>
          <a:bodyPr wrap="square" lIns="38100" tIns="38100" rIns="38100" bIns="38100" rtlCol="0" anchor="ctr"/>
          <a:lstStyle/>
          <a:p>
            <a:pPr algn="ctr" indent="0" marL="0">
              <a:buNone/>
            </a:pPr>
            <a:r>
              <a:rPr lang="en-US" sz="1100" dirty="0">
                <a:solidFill>
                  <a:srgbClr val="1A1A1A"/>
                </a:solidFill>
                <a:latin typeface="Cambria" pitchFamily="34" charset="0"/>
                <a:ea typeface="Cambria" pitchFamily="34" charset="-122"/>
                <a:cs typeface="Cambria" pitchFamily="34" charset="-120"/>
              </a:rPr>
              <a:t>76,1</a:t>
            </a:r>
            <a:endParaRPr lang="en-US" sz="1100" dirty="0"/>
          </a:p>
        </p:txBody>
      </p:sp>
      <p:sp>
        <p:nvSpPr>
          <p:cNvPr id="49" name="Text 47"/>
          <p:cNvSpPr/>
          <p:nvPr/>
        </p:nvSpPr>
        <p:spPr>
          <a:xfrm>
            <a:off x="6949440" y="2487168"/>
            <a:ext cx="868680" cy="347472"/>
          </a:xfrm>
          <a:prstGeom prst="rect">
            <a:avLst/>
          </a:prstGeom>
          <a:noFill/>
          <a:ln/>
        </p:spPr>
        <p:txBody>
          <a:bodyPr wrap="square" lIns="38100" tIns="38100" rIns="38100" bIns="38100" rtlCol="0" anchor="ctr"/>
          <a:lstStyle/>
          <a:p>
            <a:pPr algn="ctr" indent="0" marL="0">
              <a:buNone/>
            </a:pPr>
            <a:r>
              <a:rPr lang="en-US" sz="1100" dirty="0">
                <a:solidFill>
                  <a:srgbClr val="1A1A1A"/>
                </a:solidFill>
                <a:latin typeface="Cambria" pitchFamily="34" charset="0"/>
                <a:ea typeface="Cambria" pitchFamily="34" charset="-122"/>
                <a:cs typeface="Cambria" pitchFamily="34" charset="-120"/>
              </a:rPr>
              <a:t>38,1</a:t>
            </a:r>
            <a:endParaRPr lang="en-US" sz="1100" dirty="0"/>
          </a:p>
        </p:txBody>
      </p:sp>
      <p:sp>
        <p:nvSpPr>
          <p:cNvPr id="50" name="Text 48"/>
          <p:cNvSpPr/>
          <p:nvPr/>
        </p:nvSpPr>
        <p:spPr>
          <a:xfrm>
            <a:off x="7818120" y="2487168"/>
            <a:ext cx="868680" cy="347472"/>
          </a:xfrm>
          <a:prstGeom prst="rect">
            <a:avLst/>
          </a:prstGeom>
          <a:noFill/>
          <a:ln/>
        </p:spPr>
        <p:txBody>
          <a:bodyPr wrap="square" lIns="38100" tIns="38100" rIns="38100" bIns="38100" rtlCol="0" anchor="ctr"/>
          <a:lstStyle/>
          <a:p>
            <a:pPr algn="ctr" indent="0" marL="0">
              <a:buNone/>
            </a:pPr>
            <a:r>
              <a:rPr lang="en-US" sz="1100" dirty="0">
                <a:solidFill>
                  <a:srgbClr val="1A1A1A"/>
                </a:solidFill>
                <a:latin typeface="Cambria" pitchFamily="34" charset="0"/>
                <a:ea typeface="Cambria" pitchFamily="34" charset="-122"/>
                <a:cs typeface="Cambria" pitchFamily="34" charset="-120"/>
              </a:rPr>
              <a:t>68,6</a:t>
            </a:r>
            <a:endParaRPr lang="en-US" sz="1100" dirty="0"/>
          </a:p>
        </p:txBody>
      </p:sp>
      <p:sp>
        <p:nvSpPr>
          <p:cNvPr id="51" name="Shape 49"/>
          <p:cNvSpPr/>
          <p:nvPr/>
        </p:nvSpPr>
        <p:spPr>
          <a:xfrm>
            <a:off x="457200" y="2834640"/>
            <a:ext cx="8229600" cy="0"/>
          </a:xfrm>
          <a:prstGeom prst="line">
            <a:avLst/>
          </a:prstGeom>
          <a:noFill/>
          <a:ln w="12700">
            <a:solidFill>
              <a:srgbClr val="9A94AE"/>
            </a:solidFill>
            <a:prstDash val="solid"/>
          </a:ln>
        </p:spPr>
      </p:sp>
      <p:sp>
        <p:nvSpPr>
          <p:cNvPr id="52" name="Text 50"/>
          <p:cNvSpPr/>
          <p:nvPr/>
        </p:nvSpPr>
        <p:spPr>
          <a:xfrm>
            <a:off x="457200" y="2834640"/>
            <a:ext cx="3017520" cy="347472"/>
          </a:xfrm>
          <a:prstGeom prst="rect">
            <a:avLst/>
          </a:prstGeom>
          <a:noFill/>
          <a:ln/>
        </p:spPr>
        <p:txBody>
          <a:bodyPr wrap="square" lIns="38100" tIns="38100" rIns="38100" bIns="38100" rtlCol="0" anchor="ctr"/>
          <a:lstStyle/>
          <a:p>
            <a:pPr algn="l" indent="0" marL="0">
              <a:buNone/>
            </a:pPr>
            <a:r>
              <a:rPr lang="en-US" sz="1100" dirty="0">
                <a:solidFill>
                  <a:srgbClr val="1A1A1A"/>
                </a:solidFill>
                <a:latin typeface="Cambria" pitchFamily="34" charset="0"/>
                <a:ea typeface="Cambria" pitchFamily="34" charset="-122"/>
                <a:cs typeface="Cambria" pitchFamily="34" charset="-120"/>
              </a:rPr>
              <a:t>MIN-DESC (mục tiêu ưu tiên)</a:t>
            </a:r>
            <a:endParaRPr lang="en-US" sz="1100" dirty="0"/>
          </a:p>
        </p:txBody>
      </p:sp>
      <p:sp>
        <p:nvSpPr>
          <p:cNvPr id="53" name="Text 51"/>
          <p:cNvSpPr/>
          <p:nvPr/>
        </p:nvSpPr>
        <p:spPr>
          <a:xfrm>
            <a:off x="3474720" y="2834640"/>
            <a:ext cx="777240" cy="347472"/>
          </a:xfrm>
          <a:prstGeom prst="rect">
            <a:avLst/>
          </a:prstGeom>
          <a:noFill/>
          <a:ln/>
        </p:spPr>
        <p:txBody>
          <a:bodyPr wrap="square" lIns="38100" tIns="38100" rIns="38100" bIns="38100" rtlCol="0" anchor="ctr"/>
          <a:lstStyle/>
          <a:p>
            <a:pPr algn="ctr" indent="0" marL="0">
              <a:buNone/>
            </a:pPr>
            <a:r>
              <a:rPr lang="en-US" sz="1100" dirty="0">
                <a:solidFill>
                  <a:srgbClr val="1A1A1A"/>
                </a:solidFill>
                <a:latin typeface="Cambria" pitchFamily="34" charset="0"/>
                <a:ea typeface="Cambria" pitchFamily="34" charset="-122"/>
                <a:cs typeface="Cambria" pitchFamily="34" charset="-120"/>
              </a:rPr>
              <a:t>60,0</a:t>
            </a:r>
            <a:endParaRPr lang="en-US" sz="1100" dirty="0"/>
          </a:p>
        </p:txBody>
      </p:sp>
      <p:sp>
        <p:nvSpPr>
          <p:cNvPr id="54" name="Text 52"/>
          <p:cNvSpPr/>
          <p:nvPr/>
        </p:nvSpPr>
        <p:spPr>
          <a:xfrm>
            <a:off x="4251960" y="2834640"/>
            <a:ext cx="1234440" cy="347472"/>
          </a:xfrm>
          <a:prstGeom prst="rect">
            <a:avLst/>
          </a:prstGeom>
          <a:noFill/>
          <a:ln/>
        </p:spPr>
        <p:txBody>
          <a:bodyPr wrap="square" lIns="38100" tIns="38100" rIns="38100" bIns="38100" rtlCol="0" anchor="ctr"/>
          <a:lstStyle/>
          <a:p>
            <a:pPr algn="ctr" indent="0" marL="0">
              <a:buNone/>
            </a:pPr>
            <a:r>
              <a:rPr lang="en-US" sz="1100" dirty="0">
                <a:solidFill>
                  <a:srgbClr val="1A1A1A"/>
                </a:solidFill>
                <a:latin typeface="Cambria" pitchFamily="34" charset="0"/>
                <a:ea typeface="Cambria" pitchFamily="34" charset="-122"/>
                <a:cs typeface="Cambria" pitchFamily="34" charset="-120"/>
              </a:rPr>
              <a:t>[58,3; 61,8]</a:t>
            </a:r>
            <a:endParaRPr lang="en-US" sz="1100" dirty="0"/>
          </a:p>
        </p:txBody>
      </p:sp>
      <p:sp>
        <p:nvSpPr>
          <p:cNvPr id="55" name="Text 53"/>
          <p:cNvSpPr/>
          <p:nvPr/>
        </p:nvSpPr>
        <p:spPr>
          <a:xfrm>
            <a:off x="5486400" y="2834640"/>
            <a:ext cx="731520" cy="347472"/>
          </a:xfrm>
          <a:prstGeom prst="rect">
            <a:avLst/>
          </a:prstGeom>
          <a:noFill/>
          <a:ln/>
        </p:spPr>
        <p:txBody>
          <a:bodyPr wrap="square" lIns="38100" tIns="38100" rIns="38100" bIns="38100" rtlCol="0" anchor="ctr"/>
          <a:lstStyle/>
          <a:p>
            <a:pPr algn="ctr" indent="0" marL="0">
              <a:buNone/>
            </a:pPr>
            <a:r>
              <a:rPr lang="en-US" sz="1100" dirty="0">
                <a:solidFill>
                  <a:srgbClr val="1A1A1A"/>
                </a:solidFill>
                <a:latin typeface="Cambria" pitchFamily="34" charset="0"/>
                <a:ea typeface="Cambria" pitchFamily="34" charset="-122"/>
                <a:cs typeface="Cambria" pitchFamily="34" charset="-120"/>
              </a:rPr>
              <a:t>66,5</a:t>
            </a:r>
            <a:endParaRPr lang="en-US" sz="1100" dirty="0"/>
          </a:p>
        </p:txBody>
      </p:sp>
      <p:sp>
        <p:nvSpPr>
          <p:cNvPr id="56" name="Text 54"/>
          <p:cNvSpPr/>
          <p:nvPr/>
        </p:nvSpPr>
        <p:spPr>
          <a:xfrm>
            <a:off x="6217920" y="2834640"/>
            <a:ext cx="731520" cy="347472"/>
          </a:xfrm>
          <a:prstGeom prst="rect">
            <a:avLst/>
          </a:prstGeom>
          <a:noFill/>
          <a:ln/>
        </p:spPr>
        <p:txBody>
          <a:bodyPr wrap="square" lIns="38100" tIns="38100" rIns="38100" bIns="38100" rtlCol="0" anchor="ctr"/>
          <a:lstStyle/>
          <a:p>
            <a:pPr algn="ctr" indent="0" marL="0">
              <a:buNone/>
            </a:pPr>
            <a:r>
              <a:rPr lang="en-US" sz="1100" dirty="0">
                <a:solidFill>
                  <a:srgbClr val="1A1A1A"/>
                </a:solidFill>
                <a:latin typeface="Cambria" pitchFamily="34" charset="0"/>
                <a:ea typeface="Cambria" pitchFamily="34" charset="-122"/>
                <a:cs typeface="Cambria" pitchFamily="34" charset="-120"/>
              </a:rPr>
              <a:t>76,4</a:t>
            </a:r>
            <a:endParaRPr lang="en-US" sz="1100" dirty="0"/>
          </a:p>
        </p:txBody>
      </p:sp>
      <p:sp>
        <p:nvSpPr>
          <p:cNvPr id="57" name="Text 55"/>
          <p:cNvSpPr/>
          <p:nvPr/>
        </p:nvSpPr>
        <p:spPr>
          <a:xfrm>
            <a:off x="6949440" y="2834640"/>
            <a:ext cx="868680" cy="347472"/>
          </a:xfrm>
          <a:prstGeom prst="rect">
            <a:avLst/>
          </a:prstGeom>
          <a:noFill/>
          <a:ln/>
        </p:spPr>
        <p:txBody>
          <a:bodyPr wrap="square" lIns="38100" tIns="38100" rIns="38100" bIns="38100" rtlCol="0" anchor="ctr"/>
          <a:lstStyle/>
          <a:p>
            <a:pPr algn="ctr" indent="0" marL="0">
              <a:buNone/>
            </a:pPr>
            <a:r>
              <a:rPr lang="en-US" sz="1100" dirty="0">
                <a:solidFill>
                  <a:srgbClr val="1A1A1A"/>
                </a:solidFill>
                <a:latin typeface="Cambria" pitchFamily="34" charset="0"/>
                <a:ea typeface="Cambria" pitchFamily="34" charset="-122"/>
                <a:cs typeface="Cambria" pitchFamily="34" charset="-120"/>
              </a:rPr>
              <a:t>37,9</a:t>
            </a:r>
            <a:endParaRPr lang="en-US" sz="1100" dirty="0"/>
          </a:p>
        </p:txBody>
      </p:sp>
      <p:sp>
        <p:nvSpPr>
          <p:cNvPr id="58" name="Text 56"/>
          <p:cNvSpPr/>
          <p:nvPr/>
        </p:nvSpPr>
        <p:spPr>
          <a:xfrm>
            <a:off x="7818120" y="2834640"/>
            <a:ext cx="868680" cy="347472"/>
          </a:xfrm>
          <a:prstGeom prst="rect">
            <a:avLst/>
          </a:prstGeom>
          <a:noFill/>
          <a:ln/>
        </p:spPr>
        <p:txBody>
          <a:bodyPr wrap="square" lIns="38100" tIns="38100" rIns="38100" bIns="38100" rtlCol="0" anchor="ctr"/>
          <a:lstStyle/>
          <a:p>
            <a:pPr algn="ctr" indent="0" marL="0">
              <a:buNone/>
            </a:pPr>
            <a:r>
              <a:rPr lang="en-US" sz="1100" dirty="0">
                <a:solidFill>
                  <a:srgbClr val="1A1A1A"/>
                </a:solidFill>
                <a:latin typeface="Cambria" pitchFamily="34" charset="0"/>
                <a:ea typeface="Cambria" pitchFamily="34" charset="-122"/>
                <a:cs typeface="Cambria" pitchFamily="34" charset="-120"/>
              </a:rPr>
              <a:t>68,4</a:t>
            </a:r>
            <a:endParaRPr lang="en-US" sz="1100" dirty="0"/>
          </a:p>
        </p:txBody>
      </p:sp>
      <p:sp>
        <p:nvSpPr>
          <p:cNvPr id="59" name="Shape 57"/>
          <p:cNvSpPr/>
          <p:nvPr/>
        </p:nvSpPr>
        <p:spPr>
          <a:xfrm>
            <a:off x="457200" y="3182112"/>
            <a:ext cx="8229600" cy="0"/>
          </a:xfrm>
          <a:prstGeom prst="line">
            <a:avLst/>
          </a:prstGeom>
          <a:noFill/>
          <a:ln w="12700">
            <a:solidFill>
              <a:srgbClr val="9A94AE"/>
            </a:solidFill>
            <a:prstDash val="solid"/>
          </a:ln>
        </p:spPr>
      </p:sp>
      <p:sp>
        <p:nvSpPr>
          <p:cNvPr id="60" name="Text 58"/>
          <p:cNvSpPr/>
          <p:nvPr/>
        </p:nvSpPr>
        <p:spPr>
          <a:xfrm>
            <a:off x="457200" y="3182112"/>
            <a:ext cx="3017520" cy="347472"/>
          </a:xfrm>
          <a:prstGeom prst="rect">
            <a:avLst/>
          </a:prstGeom>
          <a:noFill/>
          <a:ln/>
        </p:spPr>
        <p:txBody>
          <a:bodyPr wrap="square" lIns="38100" tIns="38100" rIns="38100" bIns="38100" rtlCol="0" anchor="ctr"/>
          <a:lstStyle/>
          <a:p>
            <a:pPr algn="l" indent="0" marL="0">
              <a:buNone/>
            </a:pPr>
            <a:r>
              <a:rPr lang="en-US" sz="1100" dirty="0">
                <a:solidFill>
                  <a:srgbClr val="1A1A1A"/>
                </a:solidFill>
                <a:latin typeface="Cambria" pitchFamily="34" charset="0"/>
                <a:ea typeface="Cambria" pitchFamily="34" charset="-122"/>
                <a:cs typeface="Cambria" pitchFamily="34" charset="-120"/>
              </a:rPr>
              <a:t>Chặng ba (thưởng ô toạ độ)</a:t>
            </a:r>
            <a:endParaRPr lang="en-US" sz="1100" dirty="0"/>
          </a:p>
        </p:txBody>
      </p:sp>
      <p:sp>
        <p:nvSpPr>
          <p:cNvPr id="61" name="Text 59"/>
          <p:cNvSpPr/>
          <p:nvPr/>
        </p:nvSpPr>
        <p:spPr>
          <a:xfrm>
            <a:off x="3474720" y="3182112"/>
            <a:ext cx="777240" cy="347472"/>
          </a:xfrm>
          <a:prstGeom prst="rect">
            <a:avLst/>
          </a:prstGeom>
          <a:noFill/>
          <a:ln/>
        </p:spPr>
        <p:txBody>
          <a:bodyPr wrap="square" lIns="38100" tIns="38100" rIns="38100" bIns="38100" rtlCol="0" anchor="ctr"/>
          <a:lstStyle/>
          <a:p>
            <a:pPr algn="ctr" indent="0" marL="0">
              <a:buNone/>
            </a:pPr>
            <a:r>
              <a:rPr lang="en-US" sz="1100" dirty="0">
                <a:solidFill>
                  <a:srgbClr val="1A1A1A"/>
                </a:solidFill>
                <a:latin typeface="Cambria" pitchFamily="34" charset="0"/>
                <a:ea typeface="Cambria" pitchFamily="34" charset="-122"/>
                <a:cs typeface="Cambria" pitchFamily="34" charset="-120"/>
              </a:rPr>
              <a:t>60,1</a:t>
            </a:r>
            <a:endParaRPr lang="en-US" sz="1100" dirty="0"/>
          </a:p>
        </p:txBody>
      </p:sp>
      <p:sp>
        <p:nvSpPr>
          <p:cNvPr id="62" name="Text 60"/>
          <p:cNvSpPr/>
          <p:nvPr/>
        </p:nvSpPr>
        <p:spPr>
          <a:xfrm>
            <a:off x="4251960" y="3182112"/>
            <a:ext cx="1234440" cy="347472"/>
          </a:xfrm>
          <a:prstGeom prst="rect">
            <a:avLst/>
          </a:prstGeom>
          <a:noFill/>
          <a:ln/>
        </p:spPr>
        <p:txBody>
          <a:bodyPr wrap="square" lIns="38100" tIns="38100" rIns="38100" bIns="38100" rtlCol="0" anchor="ctr"/>
          <a:lstStyle/>
          <a:p>
            <a:pPr algn="ctr" indent="0" marL="0">
              <a:buNone/>
            </a:pPr>
            <a:r>
              <a:rPr lang="en-US" sz="1100" dirty="0">
                <a:solidFill>
                  <a:srgbClr val="1A1A1A"/>
                </a:solidFill>
                <a:latin typeface="Cambria" pitchFamily="34" charset="0"/>
                <a:ea typeface="Cambria" pitchFamily="34" charset="-122"/>
                <a:cs typeface="Cambria" pitchFamily="34" charset="-120"/>
              </a:rPr>
              <a:t>[58,3; 61,8]</a:t>
            </a:r>
            <a:endParaRPr lang="en-US" sz="1100" dirty="0"/>
          </a:p>
        </p:txBody>
      </p:sp>
      <p:sp>
        <p:nvSpPr>
          <p:cNvPr id="63" name="Text 61"/>
          <p:cNvSpPr/>
          <p:nvPr/>
        </p:nvSpPr>
        <p:spPr>
          <a:xfrm>
            <a:off x="5486400" y="3182112"/>
            <a:ext cx="731520" cy="347472"/>
          </a:xfrm>
          <a:prstGeom prst="rect">
            <a:avLst/>
          </a:prstGeom>
          <a:noFill/>
          <a:ln/>
        </p:spPr>
        <p:txBody>
          <a:bodyPr wrap="square" lIns="38100" tIns="38100" rIns="38100" bIns="38100" rtlCol="0" anchor="ctr"/>
          <a:lstStyle/>
          <a:p>
            <a:pPr algn="ctr" indent="0" marL="0">
              <a:buNone/>
            </a:pPr>
            <a:r>
              <a:rPr lang="en-US" sz="1100" dirty="0">
                <a:solidFill>
                  <a:srgbClr val="1A1A1A"/>
                </a:solidFill>
                <a:latin typeface="Cambria" pitchFamily="34" charset="0"/>
                <a:ea typeface="Cambria" pitchFamily="34" charset="-122"/>
                <a:cs typeface="Cambria" pitchFamily="34" charset="-120"/>
              </a:rPr>
              <a:t>67,0</a:t>
            </a:r>
            <a:endParaRPr lang="en-US" sz="1100" dirty="0"/>
          </a:p>
        </p:txBody>
      </p:sp>
      <p:sp>
        <p:nvSpPr>
          <p:cNvPr id="64" name="Text 62"/>
          <p:cNvSpPr/>
          <p:nvPr/>
        </p:nvSpPr>
        <p:spPr>
          <a:xfrm>
            <a:off x="6217920" y="3182112"/>
            <a:ext cx="731520" cy="347472"/>
          </a:xfrm>
          <a:prstGeom prst="rect">
            <a:avLst/>
          </a:prstGeom>
          <a:noFill/>
          <a:ln/>
        </p:spPr>
        <p:txBody>
          <a:bodyPr wrap="square" lIns="38100" tIns="38100" rIns="38100" bIns="38100" rtlCol="0" anchor="ctr"/>
          <a:lstStyle/>
          <a:p>
            <a:pPr algn="ctr" indent="0" marL="0">
              <a:buNone/>
            </a:pPr>
            <a:r>
              <a:rPr lang="en-US" sz="1100" dirty="0">
                <a:solidFill>
                  <a:srgbClr val="1A1A1A"/>
                </a:solidFill>
                <a:latin typeface="Cambria" pitchFamily="34" charset="0"/>
                <a:ea typeface="Cambria" pitchFamily="34" charset="-122"/>
                <a:cs typeface="Cambria" pitchFamily="34" charset="-120"/>
              </a:rPr>
              <a:t>77,3</a:t>
            </a:r>
            <a:endParaRPr lang="en-US" sz="1100" dirty="0"/>
          </a:p>
        </p:txBody>
      </p:sp>
      <p:sp>
        <p:nvSpPr>
          <p:cNvPr id="65" name="Text 63"/>
          <p:cNvSpPr/>
          <p:nvPr/>
        </p:nvSpPr>
        <p:spPr>
          <a:xfrm>
            <a:off x="6949440" y="3182112"/>
            <a:ext cx="868680" cy="347472"/>
          </a:xfrm>
          <a:prstGeom prst="rect">
            <a:avLst/>
          </a:prstGeom>
          <a:noFill/>
          <a:ln/>
        </p:spPr>
        <p:txBody>
          <a:bodyPr wrap="square" lIns="38100" tIns="38100" rIns="38100" bIns="38100" rtlCol="0" anchor="ctr"/>
          <a:lstStyle/>
          <a:p>
            <a:pPr algn="ctr" indent="0" marL="0">
              <a:buNone/>
            </a:pPr>
            <a:r>
              <a:rPr lang="en-US" sz="1100" dirty="0">
                <a:solidFill>
                  <a:srgbClr val="1A1A1A"/>
                </a:solidFill>
                <a:latin typeface="Cambria" pitchFamily="34" charset="0"/>
                <a:ea typeface="Cambria" pitchFamily="34" charset="-122"/>
                <a:cs typeface="Cambria" pitchFamily="34" charset="-120"/>
              </a:rPr>
              <a:t>37,8</a:t>
            </a:r>
            <a:endParaRPr lang="en-US" sz="1100" dirty="0"/>
          </a:p>
        </p:txBody>
      </p:sp>
      <p:sp>
        <p:nvSpPr>
          <p:cNvPr id="66" name="Text 64"/>
          <p:cNvSpPr/>
          <p:nvPr/>
        </p:nvSpPr>
        <p:spPr>
          <a:xfrm>
            <a:off x="7818120" y="3182112"/>
            <a:ext cx="868680" cy="347472"/>
          </a:xfrm>
          <a:prstGeom prst="rect">
            <a:avLst/>
          </a:prstGeom>
          <a:noFill/>
          <a:ln/>
        </p:spPr>
        <p:txBody>
          <a:bodyPr wrap="square" lIns="38100" tIns="38100" rIns="38100" bIns="38100" rtlCol="0" anchor="ctr"/>
          <a:lstStyle/>
          <a:p>
            <a:pPr algn="ctr" indent="0" marL="0">
              <a:buNone/>
            </a:pPr>
            <a:r>
              <a:rPr lang="en-US" sz="1100" dirty="0">
                <a:solidFill>
                  <a:srgbClr val="1A1A1A"/>
                </a:solidFill>
                <a:latin typeface="Cambria" pitchFamily="34" charset="0"/>
                <a:ea typeface="Cambria" pitchFamily="34" charset="-122"/>
                <a:cs typeface="Cambria" pitchFamily="34" charset="-120"/>
              </a:rPr>
              <a:t>68,5</a:t>
            </a:r>
            <a:endParaRPr lang="en-US" sz="1100" dirty="0"/>
          </a:p>
        </p:txBody>
      </p:sp>
      <p:sp>
        <p:nvSpPr>
          <p:cNvPr id="67" name="Shape 65"/>
          <p:cNvSpPr/>
          <p:nvPr/>
        </p:nvSpPr>
        <p:spPr>
          <a:xfrm>
            <a:off x="457200" y="3529584"/>
            <a:ext cx="8229600" cy="0"/>
          </a:xfrm>
          <a:prstGeom prst="line">
            <a:avLst/>
          </a:prstGeom>
          <a:noFill/>
          <a:ln w="12700">
            <a:solidFill>
              <a:srgbClr val="9A94AE"/>
            </a:solidFill>
            <a:prstDash val="solid"/>
          </a:ln>
        </p:spPr>
      </p:sp>
      <p:sp>
        <p:nvSpPr>
          <p:cNvPr id="68" name="Text 66"/>
          <p:cNvSpPr/>
          <p:nvPr/>
        </p:nvSpPr>
        <p:spPr>
          <a:xfrm>
            <a:off x="457200" y="3529584"/>
            <a:ext cx="3017520" cy="347472"/>
          </a:xfrm>
          <a:prstGeom prst="rect">
            <a:avLst/>
          </a:prstGeom>
          <a:noFill/>
          <a:ln/>
        </p:spPr>
        <p:txBody>
          <a:bodyPr wrap="square" lIns="38100" tIns="38100" rIns="38100" bIns="38100" rtlCol="0" anchor="ctr"/>
          <a:lstStyle/>
          <a:p>
            <a:pPr algn="l" indent="0" marL="0">
              <a:buNone/>
            </a:pPr>
            <a:r>
              <a:rPr lang="en-US" sz="1100" dirty="0">
                <a:solidFill>
                  <a:srgbClr val="1A1A1A"/>
                </a:solidFill>
                <a:latin typeface="Cambria" pitchFamily="34" charset="0"/>
                <a:ea typeface="Cambria" pitchFamily="34" charset="-122"/>
                <a:cs typeface="Cambria" pitchFamily="34" charset="-120"/>
              </a:rPr>
              <a:t>Nhánh ứng viên</a:t>
            </a:r>
            <a:endParaRPr lang="en-US" sz="1100" dirty="0"/>
          </a:p>
        </p:txBody>
      </p:sp>
      <p:sp>
        <p:nvSpPr>
          <p:cNvPr id="69" name="Text 67"/>
          <p:cNvSpPr/>
          <p:nvPr/>
        </p:nvSpPr>
        <p:spPr>
          <a:xfrm>
            <a:off x="3474720" y="3529584"/>
            <a:ext cx="777240" cy="347472"/>
          </a:xfrm>
          <a:prstGeom prst="rect">
            <a:avLst/>
          </a:prstGeom>
          <a:noFill/>
          <a:ln/>
        </p:spPr>
        <p:txBody>
          <a:bodyPr wrap="square" lIns="38100" tIns="38100" rIns="38100" bIns="38100" rtlCol="0" anchor="ctr"/>
          <a:lstStyle/>
          <a:p>
            <a:pPr algn="ctr" indent="0" marL="0">
              <a:buNone/>
            </a:pPr>
            <a:r>
              <a:rPr lang="en-US" sz="1100" dirty="0">
                <a:solidFill>
                  <a:srgbClr val="1A1A1A"/>
                </a:solidFill>
                <a:latin typeface="Cambria" pitchFamily="34" charset="0"/>
                <a:ea typeface="Cambria" pitchFamily="34" charset="-122"/>
                <a:cs typeface="Cambria" pitchFamily="34" charset="-120"/>
              </a:rPr>
              <a:t>56,1</a:t>
            </a:r>
            <a:endParaRPr lang="en-US" sz="1100" dirty="0"/>
          </a:p>
        </p:txBody>
      </p:sp>
      <p:sp>
        <p:nvSpPr>
          <p:cNvPr id="70" name="Text 68"/>
          <p:cNvSpPr/>
          <p:nvPr/>
        </p:nvSpPr>
        <p:spPr>
          <a:xfrm>
            <a:off x="4251960" y="3529584"/>
            <a:ext cx="1234440" cy="347472"/>
          </a:xfrm>
          <a:prstGeom prst="rect">
            <a:avLst/>
          </a:prstGeom>
          <a:noFill/>
          <a:ln/>
        </p:spPr>
        <p:txBody>
          <a:bodyPr wrap="square" lIns="38100" tIns="38100" rIns="38100" bIns="38100" rtlCol="0" anchor="ctr"/>
          <a:lstStyle/>
          <a:p>
            <a:pPr algn="ctr" indent="0" marL="0">
              <a:buNone/>
            </a:pPr>
            <a:r>
              <a:rPr lang="en-US" sz="1100" dirty="0">
                <a:solidFill>
                  <a:srgbClr val="1A1A1A"/>
                </a:solidFill>
                <a:latin typeface="Cambria" pitchFamily="34" charset="0"/>
                <a:ea typeface="Cambria" pitchFamily="34" charset="-122"/>
                <a:cs typeface="Cambria" pitchFamily="34" charset="-120"/>
              </a:rPr>
              <a:t>[54,2; 58,0]</a:t>
            </a:r>
            <a:endParaRPr lang="en-US" sz="1100" dirty="0"/>
          </a:p>
        </p:txBody>
      </p:sp>
      <p:sp>
        <p:nvSpPr>
          <p:cNvPr id="71" name="Text 69"/>
          <p:cNvSpPr/>
          <p:nvPr/>
        </p:nvSpPr>
        <p:spPr>
          <a:xfrm>
            <a:off x="5486400" y="3529584"/>
            <a:ext cx="731520" cy="347472"/>
          </a:xfrm>
          <a:prstGeom prst="rect">
            <a:avLst/>
          </a:prstGeom>
          <a:noFill/>
          <a:ln/>
        </p:spPr>
        <p:txBody>
          <a:bodyPr wrap="square" lIns="38100" tIns="38100" rIns="38100" bIns="38100" rtlCol="0" anchor="ctr"/>
          <a:lstStyle/>
          <a:p>
            <a:pPr algn="ctr" indent="0" marL="0">
              <a:buNone/>
            </a:pPr>
            <a:r>
              <a:rPr lang="en-US" sz="1100" dirty="0">
                <a:solidFill>
                  <a:srgbClr val="1A1A1A"/>
                </a:solidFill>
                <a:latin typeface="Cambria" pitchFamily="34" charset="0"/>
                <a:ea typeface="Cambria" pitchFamily="34" charset="-122"/>
                <a:cs typeface="Cambria" pitchFamily="34" charset="-120"/>
              </a:rPr>
              <a:t>62,4</a:t>
            </a:r>
            <a:endParaRPr lang="en-US" sz="1100" dirty="0"/>
          </a:p>
        </p:txBody>
      </p:sp>
      <p:sp>
        <p:nvSpPr>
          <p:cNvPr id="72" name="Text 70"/>
          <p:cNvSpPr/>
          <p:nvPr/>
        </p:nvSpPr>
        <p:spPr>
          <a:xfrm>
            <a:off x="6217920" y="3529584"/>
            <a:ext cx="731520" cy="347472"/>
          </a:xfrm>
          <a:prstGeom prst="rect">
            <a:avLst/>
          </a:prstGeom>
          <a:noFill/>
          <a:ln/>
        </p:spPr>
        <p:txBody>
          <a:bodyPr wrap="square" lIns="38100" tIns="38100" rIns="38100" bIns="38100" rtlCol="0" anchor="ctr"/>
          <a:lstStyle/>
          <a:p>
            <a:pPr algn="ctr" indent="0" marL="0">
              <a:buNone/>
            </a:pPr>
            <a:r>
              <a:rPr lang="en-US" sz="1100" dirty="0">
                <a:solidFill>
                  <a:srgbClr val="1A1A1A"/>
                </a:solidFill>
                <a:latin typeface="Cambria" pitchFamily="34" charset="0"/>
                <a:ea typeface="Cambria" pitchFamily="34" charset="-122"/>
                <a:cs typeface="Cambria" pitchFamily="34" charset="-120"/>
              </a:rPr>
              <a:t>71,2</a:t>
            </a:r>
            <a:endParaRPr lang="en-US" sz="1100" dirty="0"/>
          </a:p>
        </p:txBody>
      </p:sp>
      <p:sp>
        <p:nvSpPr>
          <p:cNvPr id="73" name="Text 71"/>
          <p:cNvSpPr/>
          <p:nvPr/>
        </p:nvSpPr>
        <p:spPr>
          <a:xfrm>
            <a:off x="6949440" y="3529584"/>
            <a:ext cx="868680" cy="347472"/>
          </a:xfrm>
          <a:prstGeom prst="rect">
            <a:avLst/>
          </a:prstGeom>
          <a:noFill/>
          <a:ln/>
        </p:spPr>
        <p:txBody>
          <a:bodyPr wrap="square" lIns="38100" tIns="38100" rIns="38100" bIns="38100" rtlCol="0" anchor="ctr"/>
          <a:lstStyle/>
          <a:p>
            <a:pPr algn="ctr" indent="0" marL="0">
              <a:buNone/>
            </a:pPr>
            <a:r>
              <a:rPr lang="en-US" sz="1100" dirty="0">
                <a:solidFill>
                  <a:srgbClr val="1A1A1A"/>
                </a:solidFill>
                <a:latin typeface="Cambria" pitchFamily="34" charset="0"/>
                <a:ea typeface="Cambria" pitchFamily="34" charset="-122"/>
                <a:cs typeface="Cambria" pitchFamily="34" charset="-120"/>
              </a:rPr>
              <a:t>34,5</a:t>
            </a:r>
            <a:endParaRPr lang="en-US" sz="1100" dirty="0"/>
          </a:p>
        </p:txBody>
      </p:sp>
      <p:sp>
        <p:nvSpPr>
          <p:cNvPr id="74" name="Text 72"/>
          <p:cNvSpPr/>
          <p:nvPr/>
        </p:nvSpPr>
        <p:spPr>
          <a:xfrm>
            <a:off x="7818120" y="3529584"/>
            <a:ext cx="868680" cy="347472"/>
          </a:xfrm>
          <a:prstGeom prst="rect">
            <a:avLst/>
          </a:prstGeom>
          <a:noFill/>
          <a:ln/>
        </p:spPr>
        <p:txBody>
          <a:bodyPr wrap="square" lIns="38100" tIns="38100" rIns="38100" bIns="38100" rtlCol="0" anchor="ctr"/>
          <a:lstStyle/>
          <a:p>
            <a:pPr algn="ctr" indent="0" marL="0">
              <a:buNone/>
            </a:pPr>
            <a:r>
              <a:rPr lang="en-US" sz="1100" dirty="0">
                <a:solidFill>
                  <a:srgbClr val="1A1A1A"/>
                </a:solidFill>
                <a:latin typeface="Cambria" pitchFamily="34" charset="0"/>
                <a:ea typeface="Cambria" pitchFamily="34" charset="-122"/>
                <a:cs typeface="Cambria" pitchFamily="34" charset="-120"/>
              </a:rPr>
              <a:t>63,0</a:t>
            </a:r>
            <a:endParaRPr lang="en-US" sz="1100" dirty="0"/>
          </a:p>
        </p:txBody>
      </p:sp>
      <p:sp>
        <p:nvSpPr>
          <p:cNvPr id="75" name="Shape 73"/>
          <p:cNvSpPr/>
          <p:nvPr/>
        </p:nvSpPr>
        <p:spPr>
          <a:xfrm>
            <a:off x="457200" y="3877056"/>
            <a:ext cx="8229600" cy="0"/>
          </a:xfrm>
          <a:prstGeom prst="line">
            <a:avLst/>
          </a:prstGeom>
          <a:noFill/>
          <a:ln w="19050">
            <a:solidFill>
              <a:srgbClr val="322164"/>
            </a:solidFill>
            <a:prstDash val="solid"/>
          </a:ln>
        </p:spPr>
      </p:sp>
      <p:sp>
        <p:nvSpPr>
          <p:cNvPr id="76" name="Text 74"/>
          <p:cNvSpPr/>
          <p:nvPr/>
        </p:nvSpPr>
        <p:spPr>
          <a:xfrm>
            <a:off x="457200" y="3877056"/>
            <a:ext cx="3017520" cy="347472"/>
          </a:xfrm>
          <a:prstGeom prst="rect">
            <a:avLst/>
          </a:prstGeom>
          <a:noFill/>
          <a:ln/>
        </p:spPr>
        <p:txBody>
          <a:bodyPr wrap="square" lIns="38100" tIns="38100" rIns="38100" bIns="38100" rtlCol="0" anchor="ctr"/>
          <a:lstStyle/>
          <a:p>
            <a:pPr algn="l" indent="0" marL="0">
              <a:buNone/>
            </a:pPr>
            <a:r>
              <a:rPr lang="en-US" sz="1100" b="1" dirty="0">
                <a:solidFill>
                  <a:srgbClr val="1A1A1A"/>
                </a:solidFill>
                <a:latin typeface="Cambria" pitchFamily="34" charset="0"/>
                <a:ea typeface="Cambria" pitchFamily="34" charset="-122"/>
                <a:cs typeface="Cambria" pitchFamily="34" charset="-120"/>
              </a:rPr>
              <a:t>Thưởng SPICE (đề xuất)</a:t>
            </a:r>
            <a:endParaRPr lang="en-US" sz="1100" dirty="0"/>
          </a:p>
        </p:txBody>
      </p:sp>
      <p:sp>
        <p:nvSpPr>
          <p:cNvPr id="77" name="Text 75"/>
          <p:cNvSpPr/>
          <p:nvPr/>
        </p:nvSpPr>
        <p:spPr>
          <a:xfrm>
            <a:off x="3474720" y="3877056"/>
            <a:ext cx="777240" cy="347472"/>
          </a:xfrm>
          <a:prstGeom prst="rect">
            <a:avLst/>
          </a:prstGeom>
          <a:noFill/>
          <a:ln/>
        </p:spPr>
        <p:txBody>
          <a:bodyPr wrap="square" lIns="38100" tIns="38100" rIns="38100" bIns="38100" rtlCol="0" anchor="ctr"/>
          <a:lstStyle/>
          <a:p>
            <a:pPr algn="ctr" indent="0" marL="0">
              <a:buNone/>
            </a:pPr>
            <a:r>
              <a:rPr lang="en-US" sz="1100" b="1" dirty="0">
                <a:solidFill>
                  <a:srgbClr val="1A1A1A"/>
                </a:solidFill>
                <a:latin typeface="Cambria" pitchFamily="34" charset="0"/>
                <a:ea typeface="Cambria" pitchFamily="34" charset="-122"/>
                <a:cs typeface="Cambria" pitchFamily="34" charset="-120"/>
              </a:rPr>
              <a:t>60,6</a:t>
            </a:r>
            <a:endParaRPr lang="en-US" sz="1100" dirty="0"/>
          </a:p>
        </p:txBody>
      </p:sp>
      <p:sp>
        <p:nvSpPr>
          <p:cNvPr id="78" name="Text 76"/>
          <p:cNvSpPr/>
          <p:nvPr/>
        </p:nvSpPr>
        <p:spPr>
          <a:xfrm>
            <a:off x="4251960" y="3877056"/>
            <a:ext cx="1234440" cy="347472"/>
          </a:xfrm>
          <a:prstGeom prst="rect">
            <a:avLst/>
          </a:prstGeom>
          <a:noFill/>
          <a:ln/>
        </p:spPr>
        <p:txBody>
          <a:bodyPr wrap="square" lIns="38100" tIns="38100" rIns="38100" bIns="38100" rtlCol="0" anchor="ctr"/>
          <a:lstStyle/>
          <a:p>
            <a:pPr algn="ctr" indent="0" marL="0">
              <a:buNone/>
            </a:pPr>
            <a:r>
              <a:rPr lang="en-US" sz="1100" dirty="0">
                <a:solidFill>
                  <a:srgbClr val="1A1A1A"/>
                </a:solidFill>
                <a:latin typeface="Cambria" pitchFamily="34" charset="0"/>
                <a:ea typeface="Cambria" pitchFamily="34" charset="-122"/>
                <a:cs typeface="Cambria" pitchFamily="34" charset="-120"/>
              </a:rPr>
              <a:t>[58,9; 62,4]</a:t>
            </a:r>
            <a:endParaRPr lang="en-US" sz="1100" dirty="0"/>
          </a:p>
        </p:txBody>
      </p:sp>
      <p:sp>
        <p:nvSpPr>
          <p:cNvPr id="79" name="Text 77"/>
          <p:cNvSpPr/>
          <p:nvPr/>
        </p:nvSpPr>
        <p:spPr>
          <a:xfrm>
            <a:off x="5486400" y="3877056"/>
            <a:ext cx="731520" cy="347472"/>
          </a:xfrm>
          <a:prstGeom prst="rect">
            <a:avLst/>
          </a:prstGeom>
          <a:noFill/>
          <a:ln/>
        </p:spPr>
        <p:txBody>
          <a:bodyPr wrap="square" lIns="38100" tIns="38100" rIns="38100" bIns="38100" rtlCol="0" anchor="ctr"/>
          <a:lstStyle/>
          <a:p>
            <a:pPr algn="ctr" indent="0" marL="0">
              <a:buNone/>
            </a:pPr>
            <a:r>
              <a:rPr lang="en-US" sz="1100" dirty="0">
                <a:solidFill>
                  <a:srgbClr val="1A1A1A"/>
                </a:solidFill>
                <a:latin typeface="Cambria" pitchFamily="34" charset="0"/>
                <a:ea typeface="Cambria" pitchFamily="34" charset="-122"/>
                <a:cs typeface="Cambria" pitchFamily="34" charset="-120"/>
              </a:rPr>
              <a:t>67,0</a:t>
            </a:r>
            <a:endParaRPr lang="en-US" sz="1100" dirty="0"/>
          </a:p>
        </p:txBody>
      </p:sp>
      <p:sp>
        <p:nvSpPr>
          <p:cNvPr id="80" name="Text 78"/>
          <p:cNvSpPr/>
          <p:nvPr/>
        </p:nvSpPr>
        <p:spPr>
          <a:xfrm>
            <a:off x="6217920" y="3877056"/>
            <a:ext cx="731520" cy="347472"/>
          </a:xfrm>
          <a:prstGeom prst="rect">
            <a:avLst/>
          </a:prstGeom>
          <a:noFill/>
          <a:ln/>
        </p:spPr>
        <p:txBody>
          <a:bodyPr wrap="square" lIns="38100" tIns="38100" rIns="38100" bIns="38100" rtlCol="0" anchor="ctr"/>
          <a:lstStyle/>
          <a:p>
            <a:pPr algn="ctr" indent="0" marL="0">
              <a:buNone/>
            </a:pPr>
            <a:r>
              <a:rPr lang="en-US" sz="1100" dirty="0">
                <a:solidFill>
                  <a:srgbClr val="1A1A1A"/>
                </a:solidFill>
                <a:latin typeface="Cambria" pitchFamily="34" charset="0"/>
                <a:ea typeface="Cambria" pitchFamily="34" charset="-122"/>
                <a:cs typeface="Cambria" pitchFamily="34" charset="-120"/>
              </a:rPr>
              <a:t>76,2</a:t>
            </a:r>
            <a:endParaRPr lang="en-US" sz="1100" dirty="0"/>
          </a:p>
        </p:txBody>
      </p:sp>
      <p:sp>
        <p:nvSpPr>
          <p:cNvPr id="81" name="Text 79"/>
          <p:cNvSpPr/>
          <p:nvPr/>
        </p:nvSpPr>
        <p:spPr>
          <a:xfrm>
            <a:off x="6949440" y="3877056"/>
            <a:ext cx="868680" cy="347472"/>
          </a:xfrm>
          <a:prstGeom prst="rect">
            <a:avLst/>
          </a:prstGeom>
          <a:noFill/>
          <a:ln/>
        </p:spPr>
        <p:txBody>
          <a:bodyPr wrap="square" lIns="38100" tIns="38100" rIns="38100" bIns="38100" rtlCol="0" anchor="ctr"/>
          <a:lstStyle/>
          <a:p>
            <a:pPr algn="ctr" indent="0" marL="0">
              <a:buNone/>
            </a:pPr>
            <a:r>
              <a:rPr lang="en-US" sz="1100" dirty="0">
                <a:solidFill>
                  <a:srgbClr val="1A1A1A"/>
                </a:solidFill>
                <a:latin typeface="Cambria" pitchFamily="34" charset="0"/>
                <a:ea typeface="Cambria" pitchFamily="34" charset="-122"/>
                <a:cs typeface="Cambria" pitchFamily="34" charset="-120"/>
              </a:rPr>
              <a:t>40,1</a:t>
            </a:r>
            <a:endParaRPr lang="en-US" sz="1100" dirty="0"/>
          </a:p>
        </p:txBody>
      </p:sp>
      <p:sp>
        <p:nvSpPr>
          <p:cNvPr id="82" name="Text 80"/>
          <p:cNvSpPr/>
          <p:nvPr/>
        </p:nvSpPr>
        <p:spPr>
          <a:xfrm>
            <a:off x="7818120" y="3877056"/>
            <a:ext cx="868680" cy="347472"/>
          </a:xfrm>
          <a:prstGeom prst="rect">
            <a:avLst/>
          </a:prstGeom>
          <a:noFill/>
          <a:ln/>
        </p:spPr>
        <p:txBody>
          <a:bodyPr wrap="square" lIns="38100" tIns="38100" rIns="38100" bIns="38100" rtlCol="0" anchor="ctr"/>
          <a:lstStyle/>
          <a:p>
            <a:pPr algn="ctr" indent="0" marL="0">
              <a:buNone/>
            </a:pPr>
            <a:r>
              <a:rPr lang="en-US" sz="1100" dirty="0">
                <a:solidFill>
                  <a:srgbClr val="1A1A1A"/>
                </a:solidFill>
                <a:latin typeface="Cambria" pitchFamily="34" charset="0"/>
                <a:ea typeface="Cambria" pitchFamily="34" charset="-122"/>
                <a:cs typeface="Cambria" pitchFamily="34" charset="-120"/>
              </a:rPr>
              <a:t>68,3</a:t>
            </a:r>
            <a:endParaRPr lang="en-US" sz="1100" dirty="0"/>
          </a:p>
        </p:txBody>
      </p:sp>
      <p:sp>
        <p:nvSpPr>
          <p:cNvPr id="83" name="Shape 81"/>
          <p:cNvSpPr/>
          <p:nvPr/>
        </p:nvSpPr>
        <p:spPr>
          <a:xfrm>
            <a:off x="457200" y="4224528"/>
            <a:ext cx="8229600" cy="0"/>
          </a:xfrm>
          <a:prstGeom prst="line">
            <a:avLst/>
          </a:prstGeom>
          <a:noFill/>
          <a:ln w="12700">
            <a:solidFill>
              <a:srgbClr val="9A94AE"/>
            </a:solidFill>
            <a:prstDash val="solid"/>
          </a:ln>
        </p:spPr>
      </p:sp>
      <p:sp>
        <p:nvSpPr>
          <p:cNvPr id="84" name="Text 82"/>
          <p:cNvSpPr/>
          <p:nvPr/>
        </p:nvSpPr>
        <p:spPr>
          <a:xfrm>
            <a:off x="457200" y="4224528"/>
            <a:ext cx="3017520" cy="347472"/>
          </a:xfrm>
          <a:prstGeom prst="rect">
            <a:avLst/>
          </a:prstGeom>
          <a:noFill/>
          <a:ln/>
        </p:spPr>
        <p:txBody>
          <a:bodyPr wrap="square" lIns="38100" tIns="38100" rIns="38100" bIns="38100" rtlCol="0" anchor="ctr"/>
          <a:lstStyle/>
          <a:p>
            <a:pPr algn="l" indent="0" marL="0">
              <a:buNone/>
            </a:pPr>
            <a:r>
              <a:rPr lang="en-US" sz="1100" dirty="0">
                <a:solidFill>
                  <a:srgbClr val="1A1A1A"/>
                </a:solidFill>
                <a:latin typeface="Cambria" pitchFamily="34" charset="0"/>
                <a:ea typeface="Cambria" pitchFamily="34" charset="-122"/>
                <a:cs typeface="Cambria" pitchFamily="34" charset="-120"/>
              </a:rPr>
              <a:t>  + TAGE (sửa câu)</a:t>
            </a:r>
            <a:endParaRPr lang="en-US" sz="1100" dirty="0"/>
          </a:p>
        </p:txBody>
      </p:sp>
      <p:sp>
        <p:nvSpPr>
          <p:cNvPr id="85" name="Text 83"/>
          <p:cNvSpPr/>
          <p:nvPr/>
        </p:nvSpPr>
        <p:spPr>
          <a:xfrm>
            <a:off x="3474720" y="4224528"/>
            <a:ext cx="777240" cy="347472"/>
          </a:xfrm>
          <a:prstGeom prst="rect">
            <a:avLst/>
          </a:prstGeom>
          <a:noFill/>
          <a:ln/>
        </p:spPr>
        <p:txBody>
          <a:bodyPr wrap="square" lIns="38100" tIns="38100" rIns="38100" bIns="38100" rtlCol="0" anchor="ctr"/>
          <a:lstStyle/>
          <a:p>
            <a:pPr algn="ctr" indent="0" marL="0">
              <a:buNone/>
            </a:pPr>
            <a:r>
              <a:rPr lang="en-US" sz="1100" dirty="0">
                <a:solidFill>
                  <a:srgbClr val="1A1A1A"/>
                </a:solidFill>
                <a:latin typeface="Cambria" pitchFamily="34" charset="0"/>
                <a:ea typeface="Cambria" pitchFamily="34" charset="-122"/>
                <a:cs typeface="Cambria" pitchFamily="34" charset="-120"/>
              </a:rPr>
              <a:t>60,2</a:t>
            </a:r>
            <a:endParaRPr lang="en-US" sz="1100" dirty="0"/>
          </a:p>
        </p:txBody>
      </p:sp>
      <p:sp>
        <p:nvSpPr>
          <p:cNvPr id="86" name="Text 84"/>
          <p:cNvSpPr/>
          <p:nvPr/>
        </p:nvSpPr>
        <p:spPr>
          <a:xfrm>
            <a:off x="4251960" y="4224528"/>
            <a:ext cx="1234440" cy="347472"/>
          </a:xfrm>
          <a:prstGeom prst="rect">
            <a:avLst/>
          </a:prstGeom>
          <a:noFill/>
          <a:ln/>
        </p:spPr>
        <p:txBody>
          <a:bodyPr wrap="square" lIns="38100" tIns="38100" rIns="38100" bIns="38100" rtlCol="0" anchor="ctr"/>
          <a:lstStyle/>
          <a:p>
            <a:pPr algn="ctr" indent="0" marL="0">
              <a:buNone/>
            </a:pPr>
            <a:r>
              <a:rPr lang="en-US" sz="1100" dirty="0">
                <a:solidFill>
                  <a:srgbClr val="1A1A1A"/>
                </a:solidFill>
                <a:latin typeface="Cambria" pitchFamily="34" charset="0"/>
                <a:ea typeface="Cambria" pitchFamily="34" charset="-122"/>
                <a:cs typeface="Cambria" pitchFamily="34" charset="-120"/>
              </a:rPr>
              <a:t>[58,5; 62,0]</a:t>
            </a:r>
            <a:endParaRPr lang="en-US" sz="1100" dirty="0"/>
          </a:p>
        </p:txBody>
      </p:sp>
      <p:sp>
        <p:nvSpPr>
          <p:cNvPr id="87" name="Text 85"/>
          <p:cNvSpPr/>
          <p:nvPr/>
        </p:nvSpPr>
        <p:spPr>
          <a:xfrm>
            <a:off x="5486400" y="4224528"/>
            <a:ext cx="731520" cy="347472"/>
          </a:xfrm>
          <a:prstGeom prst="rect">
            <a:avLst/>
          </a:prstGeom>
          <a:noFill/>
          <a:ln/>
        </p:spPr>
        <p:txBody>
          <a:bodyPr wrap="square" lIns="38100" tIns="38100" rIns="38100" bIns="38100" rtlCol="0" anchor="ctr"/>
          <a:lstStyle/>
          <a:p>
            <a:pPr algn="ctr" indent="0" marL="0">
              <a:buNone/>
            </a:pPr>
            <a:r>
              <a:rPr lang="en-US" sz="1100" dirty="0">
                <a:solidFill>
                  <a:srgbClr val="1A1A1A"/>
                </a:solidFill>
                <a:latin typeface="Cambria" pitchFamily="34" charset="0"/>
                <a:ea typeface="Cambria" pitchFamily="34" charset="-122"/>
                <a:cs typeface="Cambria" pitchFamily="34" charset="-120"/>
              </a:rPr>
              <a:t>66,4</a:t>
            </a:r>
            <a:endParaRPr lang="en-US" sz="1100" dirty="0"/>
          </a:p>
        </p:txBody>
      </p:sp>
      <p:sp>
        <p:nvSpPr>
          <p:cNvPr id="88" name="Text 86"/>
          <p:cNvSpPr/>
          <p:nvPr/>
        </p:nvSpPr>
        <p:spPr>
          <a:xfrm>
            <a:off x="6217920" y="4224528"/>
            <a:ext cx="731520" cy="347472"/>
          </a:xfrm>
          <a:prstGeom prst="rect">
            <a:avLst/>
          </a:prstGeom>
          <a:noFill/>
          <a:ln/>
        </p:spPr>
        <p:txBody>
          <a:bodyPr wrap="square" lIns="38100" tIns="38100" rIns="38100" bIns="38100" rtlCol="0" anchor="ctr"/>
          <a:lstStyle/>
          <a:p>
            <a:pPr algn="ctr" indent="0" marL="0">
              <a:buNone/>
            </a:pPr>
            <a:r>
              <a:rPr lang="en-US" sz="1100" dirty="0">
                <a:solidFill>
                  <a:srgbClr val="1A1A1A"/>
                </a:solidFill>
                <a:latin typeface="Cambria" pitchFamily="34" charset="0"/>
                <a:ea typeface="Cambria" pitchFamily="34" charset="-122"/>
                <a:cs typeface="Cambria" pitchFamily="34" charset="-120"/>
              </a:rPr>
              <a:t>76,1</a:t>
            </a:r>
            <a:endParaRPr lang="en-US" sz="1100" dirty="0"/>
          </a:p>
        </p:txBody>
      </p:sp>
      <p:sp>
        <p:nvSpPr>
          <p:cNvPr id="89" name="Text 87"/>
          <p:cNvSpPr/>
          <p:nvPr/>
        </p:nvSpPr>
        <p:spPr>
          <a:xfrm>
            <a:off x="6949440" y="4224528"/>
            <a:ext cx="868680" cy="347472"/>
          </a:xfrm>
          <a:prstGeom prst="rect">
            <a:avLst/>
          </a:prstGeom>
          <a:noFill/>
          <a:ln/>
        </p:spPr>
        <p:txBody>
          <a:bodyPr wrap="square" lIns="38100" tIns="38100" rIns="38100" bIns="38100" rtlCol="0" anchor="ctr"/>
          <a:lstStyle/>
          <a:p>
            <a:pPr algn="ctr" indent="0" marL="0">
              <a:buNone/>
            </a:pPr>
            <a:r>
              <a:rPr lang="en-US" sz="1100" dirty="0">
                <a:solidFill>
                  <a:srgbClr val="1A1A1A"/>
                </a:solidFill>
                <a:latin typeface="Cambria" pitchFamily="34" charset="0"/>
                <a:ea typeface="Cambria" pitchFamily="34" charset="-122"/>
                <a:cs typeface="Cambria" pitchFamily="34" charset="-120"/>
              </a:rPr>
              <a:t>40,1</a:t>
            </a:r>
            <a:endParaRPr lang="en-US" sz="1100" dirty="0"/>
          </a:p>
        </p:txBody>
      </p:sp>
      <p:sp>
        <p:nvSpPr>
          <p:cNvPr id="90" name="Text 88"/>
          <p:cNvSpPr/>
          <p:nvPr/>
        </p:nvSpPr>
        <p:spPr>
          <a:xfrm>
            <a:off x="7818120" y="4224528"/>
            <a:ext cx="868680" cy="347472"/>
          </a:xfrm>
          <a:prstGeom prst="rect">
            <a:avLst/>
          </a:prstGeom>
          <a:noFill/>
          <a:ln/>
        </p:spPr>
        <p:txBody>
          <a:bodyPr wrap="square" lIns="38100" tIns="38100" rIns="38100" bIns="38100" rtlCol="0" anchor="ctr"/>
          <a:lstStyle/>
          <a:p>
            <a:pPr algn="ctr" indent="0" marL="0">
              <a:buNone/>
            </a:pPr>
            <a:r>
              <a:rPr lang="en-US" sz="1100" dirty="0">
                <a:solidFill>
                  <a:srgbClr val="1A1A1A"/>
                </a:solidFill>
                <a:latin typeface="Cambria" pitchFamily="34" charset="0"/>
                <a:ea typeface="Cambria" pitchFamily="34" charset="-122"/>
                <a:cs typeface="Cambria" pitchFamily="34" charset="-120"/>
              </a:rPr>
              <a:t>68,4</a:t>
            </a:r>
            <a:endParaRPr lang="en-US" sz="1100" dirty="0"/>
          </a:p>
        </p:txBody>
      </p:sp>
      <p:sp>
        <p:nvSpPr>
          <p:cNvPr id="91" name="Shape 89"/>
          <p:cNvSpPr/>
          <p:nvPr/>
        </p:nvSpPr>
        <p:spPr>
          <a:xfrm>
            <a:off x="457200" y="4572000"/>
            <a:ext cx="8229600" cy="0"/>
          </a:xfrm>
          <a:prstGeom prst="line">
            <a:avLst/>
          </a:prstGeom>
          <a:noFill/>
          <a:ln w="19050">
            <a:solidFill>
              <a:srgbClr val="322164"/>
            </a:solidFill>
            <a:prstDash val="solid"/>
          </a:ln>
        </p:spPr>
      </p:sp>
      <p:sp>
        <p:nvSpPr>
          <p:cNvPr id="92" name="Text 90"/>
          <p:cNvSpPr/>
          <p:nvPr/>
        </p:nvSpPr>
        <p:spPr>
          <a:xfrm>
            <a:off x="457200" y="4572000"/>
            <a:ext cx="3017520" cy="347472"/>
          </a:xfrm>
          <a:prstGeom prst="rect">
            <a:avLst/>
          </a:prstGeom>
          <a:noFill/>
          <a:ln/>
        </p:spPr>
        <p:txBody>
          <a:bodyPr wrap="square" lIns="38100" tIns="38100" rIns="38100" bIns="38100" rtlCol="0" anchor="ctr"/>
          <a:lstStyle/>
          <a:p>
            <a:pPr algn="l" indent="0" marL="0">
              <a:buNone/>
            </a:pPr>
            <a:r>
              <a:rPr lang="en-US" sz="1100" i="1" dirty="0">
                <a:solidFill>
                  <a:srgbClr val="1A1A1A"/>
                </a:solidFill>
                <a:latin typeface="Cambria" pitchFamily="34" charset="0"/>
                <a:ea typeface="Cambria" pitchFamily="34" charset="-122"/>
                <a:cs typeface="Cambria" pitchFamily="34" charset="-120"/>
              </a:rPr>
              <a:t>Câu chuẩn (trần)</a:t>
            </a:r>
            <a:endParaRPr lang="en-US" sz="1100" dirty="0"/>
          </a:p>
        </p:txBody>
      </p:sp>
      <p:sp>
        <p:nvSpPr>
          <p:cNvPr id="93" name="Text 91"/>
          <p:cNvSpPr/>
          <p:nvPr/>
        </p:nvSpPr>
        <p:spPr>
          <a:xfrm>
            <a:off x="3474720" y="4572000"/>
            <a:ext cx="777240" cy="347472"/>
          </a:xfrm>
          <a:prstGeom prst="rect">
            <a:avLst/>
          </a:prstGeom>
          <a:noFill/>
          <a:ln/>
        </p:spPr>
        <p:txBody>
          <a:bodyPr wrap="square" lIns="38100" tIns="38100" rIns="38100" bIns="38100" rtlCol="0" anchor="ctr"/>
          <a:lstStyle/>
          <a:p>
            <a:pPr algn="ctr" indent="0" marL="0">
              <a:buNone/>
            </a:pPr>
            <a:r>
              <a:rPr lang="en-US" sz="1100" dirty="0">
                <a:solidFill>
                  <a:srgbClr val="1A1A1A"/>
                </a:solidFill>
                <a:latin typeface="Cambria" pitchFamily="34" charset="0"/>
                <a:ea typeface="Cambria" pitchFamily="34" charset="-122"/>
                <a:cs typeface="Cambria" pitchFamily="34" charset="-120"/>
              </a:rPr>
              <a:t>75,7</a:t>
            </a:r>
            <a:endParaRPr lang="en-US" sz="1100" dirty="0"/>
          </a:p>
        </p:txBody>
      </p:sp>
      <p:sp>
        <p:nvSpPr>
          <p:cNvPr id="94" name="Text 92"/>
          <p:cNvSpPr/>
          <p:nvPr/>
        </p:nvSpPr>
        <p:spPr>
          <a:xfrm>
            <a:off x="4251960" y="4572000"/>
            <a:ext cx="1234440" cy="347472"/>
          </a:xfrm>
          <a:prstGeom prst="rect">
            <a:avLst/>
          </a:prstGeom>
          <a:noFill/>
          <a:ln/>
        </p:spPr>
        <p:txBody>
          <a:bodyPr wrap="square" lIns="38100" tIns="38100" rIns="38100" bIns="38100" rtlCol="0" anchor="ctr"/>
          <a:lstStyle/>
          <a:p>
            <a:pPr algn="ctr" indent="0" marL="0">
              <a:buNone/>
            </a:pPr>
            <a:r>
              <a:rPr lang="en-US" sz="1100" dirty="0">
                <a:solidFill>
                  <a:srgbClr val="1A1A1A"/>
                </a:solidFill>
                <a:latin typeface="Cambria" pitchFamily="34" charset="0"/>
                <a:ea typeface="Cambria" pitchFamily="34" charset="-122"/>
                <a:cs typeface="Cambria" pitchFamily="34" charset="-120"/>
              </a:rPr>
              <a:t>[74,1; 77,3]</a:t>
            </a:r>
            <a:endParaRPr lang="en-US" sz="1100" dirty="0"/>
          </a:p>
        </p:txBody>
      </p:sp>
      <p:sp>
        <p:nvSpPr>
          <p:cNvPr id="95" name="Text 93"/>
          <p:cNvSpPr/>
          <p:nvPr/>
        </p:nvSpPr>
        <p:spPr>
          <a:xfrm>
            <a:off x="5486400" y="4572000"/>
            <a:ext cx="731520" cy="347472"/>
          </a:xfrm>
          <a:prstGeom prst="rect">
            <a:avLst/>
          </a:prstGeom>
          <a:noFill/>
          <a:ln/>
        </p:spPr>
        <p:txBody>
          <a:bodyPr wrap="square" lIns="38100" tIns="38100" rIns="38100" bIns="38100" rtlCol="0" anchor="ctr"/>
          <a:lstStyle/>
          <a:p>
            <a:pPr algn="ctr" indent="0" marL="0">
              <a:buNone/>
            </a:pPr>
            <a:r>
              <a:rPr lang="en-US" sz="1100" dirty="0">
                <a:solidFill>
                  <a:srgbClr val="1A1A1A"/>
                </a:solidFill>
                <a:latin typeface="Cambria" pitchFamily="34" charset="0"/>
                <a:ea typeface="Cambria" pitchFamily="34" charset="-122"/>
                <a:cs typeface="Cambria" pitchFamily="34" charset="-120"/>
              </a:rPr>
              <a:t>83,8</a:t>
            </a:r>
            <a:endParaRPr lang="en-US" sz="1100" dirty="0"/>
          </a:p>
        </p:txBody>
      </p:sp>
      <p:sp>
        <p:nvSpPr>
          <p:cNvPr id="96" name="Text 94"/>
          <p:cNvSpPr/>
          <p:nvPr/>
        </p:nvSpPr>
        <p:spPr>
          <a:xfrm>
            <a:off x="6217920" y="4572000"/>
            <a:ext cx="731520" cy="347472"/>
          </a:xfrm>
          <a:prstGeom prst="rect">
            <a:avLst/>
          </a:prstGeom>
          <a:noFill/>
          <a:ln/>
        </p:spPr>
        <p:txBody>
          <a:bodyPr wrap="square" lIns="38100" tIns="38100" rIns="38100" bIns="38100" rtlCol="0" anchor="ctr"/>
          <a:lstStyle/>
          <a:p>
            <a:pPr algn="ctr" indent="0" marL="0">
              <a:buNone/>
            </a:pPr>
            <a:r>
              <a:rPr lang="en-US" sz="1100" dirty="0">
                <a:solidFill>
                  <a:srgbClr val="1A1A1A"/>
                </a:solidFill>
                <a:latin typeface="Cambria" pitchFamily="34" charset="0"/>
                <a:ea typeface="Cambria" pitchFamily="34" charset="-122"/>
                <a:cs typeface="Cambria" pitchFamily="34" charset="-120"/>
              </a:rPr>
              <a:t>92,1</a:t>
            </a:r>
            <a:endParaRPr lang="en-US" sz="1100" dirty="0"/>
          </a:p>
        </p:txBody>
      </p:sp>
      <p:sp>
        <p:nvSpPr>
          <p:cNvPr id="97" name="Text 95"/>
          <p:cNvSpPr/>
          <p:nvPr/>
        </p:nvSpPr>
        <p:spPr>
          <a:xfrm>
            <a:off x="6949440" y="4572000"/>
            <a:ext cx="868680" cy="347472"/>
          </a:xfrm>
          <a:prstGeom prst="rect">
            <a:avLst/>
          </a:prstGeom>
          <a:noFill/>
          <a:ln/>
        </p:spPr>
        <p:txBody>
          <a:bodyPr wrap="square" lIns="38100" tIns="38100" rIns="38100" bIns="38100" rtlCol="0" anchor="ctr"/>
          <a:lstStyle/>
          <a:p>
            <a:pPr algn="ctr" indent="0" marL="0">
              <a:buNone/>
            </a:pPr>
            <a:r>
              <a:rPr lang="en-US" sz="1100" dirty="0">
                <a:solidFill>
                  <a:srgbClr val="1A1A1A"/>
                </a:solidFill>
                <a:latin typeface="Cambria" pitchFamily="34" charset="0"/>
                <a:ea typeface="Cambria" pitchFamily="34" charset="-122"/>
                <a:cs typeface="Cambria" pitchFamily="34" charset="-120"/>
              </a:rPr>
              <a:t>96,1</a:t>
            </a:r>
            <a:endParaRPr lang="en-US" sz="1100" dirty="0"/>
          </a:p>
        </p:txBody>
      </p:sp>
      <p:sp>
        <p:nvSpPr>
          <p:cNvPr id="98" name="Text 96"/>
          <p:cNvSpPr/>
          <p:nvPr/>
        </p:nvSpPr>
        <p:spPr>
          <a:xfrm>
            <a:off x="7818120" y="4572000"/>
            <a:ext cx="868680" cy="347472"/>
          </a:xfrm>
          <a:prstGeom prst="rect">
            <a:avLst/>
          </a:prstGeom>
          <a:noFill/>
          <a:ln/>
        </p:spPr>
        <p:txBody>
          <a:bodyPr wrap="square" lIns="38100" tIns="38100" rIns="38100" bIns="38100" rtlCol="0" anchor="ctr"/>
          <a:lstStyle/>
          <a:p>
            <a:pPr algn="ctr" indent="0" marL="0">
              <a:buNone/>
            </a:pPr>
            <a:r>
              <a:rPr lang="en-US" sz="1100" dirty="0">
                <a:solidFill>
                  <a:srgbClr val="1A1A1A"/>
                </a:solidFill>
                <a:latin typeface="Cambria" pitchFamily="34" charset="0"/>
                <a:ea typeface="Cambria" pitchFamily="34" charset="-122"/>
                <a:cs typeface="Cambria" pitchFamily="34" charset="-120"/>
              </a:rPr>
              <a:t>100,0</a:t>
            </a:r>
            <a:endParaRPr lang="en-US" sz="1100" dirty="0"/>
          </a:p>
        </p:txBody>
      </p:sp>
      <p:sp>
        <p:nvSpPr>
          <p:cNvPr id="99" name="Text 97"/>
          <p:cNvSpPr/>
          <p:nvPr/>
        </p:nvSpPr>
        <p:spPr>
          <a:xfrm>
            <a:off x="457200" y="5120640"/>
            <a:ext cx="8229600" cy="822960"/>
          </a:xfrm>
          <a:prstGeom prst="rect">
            <a:avLst/>
          </a:prstGeom>
          <a:noFill/>
          <a:ln/>
        </p:spPr>
        <p:txBody>
          <a:bodyPr wrap="square" lIns="0" tIns="0" rIns="0" bIns="0" rtlCol="0" anchor="t"/>
          <a:lstStyle/>
          <a:p>
            <a:pPr algn="l" indent="0" marL="0">
              <a:lnSpc>
                <a:spcPct val="120000"/>
              </a:lnSpc>
              <a:buNone/>
            </a:pPr>
            <a:r>
              <a:rPr lang="en-US" sz="1150" i="1" dirty="0">
                <a:solidFill>
                  <a:srgbClr val="5A5A66"/>
                </a:solidFill>
                <a:latin typeface="Cambria" pitchFamily="34" charset="0"/>
                <a:ea typeface="Cambria" pitchFamily="34" charset="-122"/>
                <a:cs typeface="Cambria" pitchFamily="34" charset="-120"/>
              </a:rPr>
              <a:t>4.463 bước chạm. BLEU-4 trung bình mức câu. Mọi nhánh trừ S1 chỉ có một hạt giống. Nhánh ứng viên lệch ba biến so với các nhánh khác nên chỉ so được với Base.</a:t>
            </a:r>
            <a:endParaRPr lang="en-US" sz="1150" dirty="0"/>
          </a:p>
        </p:txBody>
      </p:sp>
      <p:sp>
        <p:nvSpPr>
          <p:cNvPr id="100" name="Shape 98"/>
          <p:cNvSpPr/>
          <p:nvPr/>
        </p:nvSpPr>
        <p:spPr>
          <a:xfrm>
            <a:off x="0" y="6620256"/>
            <a:ext cx="2743200" cy="237744"/>
          </a:xfrm>
          <a:prstGeom prst="rect">
            <a:avLst/>
          </a:prstGeom>
          <a:solidFill>
            <a:srgbClr val="191132"/>
          </a:solidFill>
          <a:ln/>
        </p:spPr>
      </p:sp>
      <p:sp>
        <p:nvSpPr>
          <p:cNvPr id="101" name="Shape 99"/>
          <p:cNvSpPr/>
          <p:nvPr/>
        </p:nvSpPr>
        <p:spPr>
          <a:xfrm>
            <a:off x="2743200" y="6620256"/>
            <a:ext cx="3383280" cy="237744"/>
          </a:xfrm>
          <a:prstGeom prst="rect">
            <a:avLst/>
          </a:prstGeom>
          <a:solidFill>
            <a:srgbClr val="25194B"/>
          </a:solidFill>
          <a:ln/>
        </p:spPr>
      </p:sp>
      <p:sp>
        <p:nvSpPr>
          <p:cNvPr id="102" name="Shape 100"/>
          <p:cNvSpPr/>
          <p:nvPr/>
        </p:nvSpPr>
        <p:spPr>
          <a:xfrm>
            <a:off x="6126480" y="6620256"/>
            <a:ext cx="1737360" cy="237744"/>
          </a:xfrm>
          <a:prstGeom prst="rect">
            <a:avLst/>
          </a:prstGeom>
          <a:solidFill>
            <a:srgbClr val="4F417A"/>
          </a:solidFill>
          <a:ln/>
        </p:spPr>
      </p:sp>
      <p:sp>
        <p:nvSpPr>
          <p:cNvPr id="103" name="Shape 101"/>
          <p:cNvSpPr/>
          <p:nvPr/>
        </p:nvSpPr>
        <p:spPr>
          <a:xfrm>
            <a:off x="7863840" y="6620256"/>
            <a:ext cx="1280160" cy="237744"/>
          </a:xfrm>
          <a:prstGeom prst="rect">
            <a:avLst/>
          </a:prstGeom>
          <a:solidFill>
            <a:srgbClr val="7A7099"/>
          </a:solidFill>
          <a:ln/>
        </p:spPr>
      </p:sp>
      <p:sp>
        <p:nvSpPr>
          <p:cNvPr id="104" name="Text 102"/>
          <p:cNvSpPr/>
          <p:nvPr/>
        </p:nvSpPr>
        <p:spPr>
          <a:xfrm>
            <a:off x="0" y="6620256"/>
            <a:ext cx="2743200" cy="237744"/>
          </a:xfrm>
          <a:prstGeom prst="rect">
            <a:avLst/>
          </a:prstGeom>
          <a:noFill/>
          <a:ln/>
        </p:spPr>
        <p:txBody>
          <a:bodyPr wrap="square" lIns="0" tIns="0" rIns="0" bIns="0" rtlCol="0" anchor="ctr"/>
          <a:lstStyle/>
          <a:p>
            <a:pPr algn="ctr" indent="0" marL="0">
              <a:buNone/>
            </a:pPr>
            <a:r>
              <a:rPr lang="en-US" sz="800" b="1" dirty="0">
                <a:solidFill>
                  <a:srgbClr val="FFFFFF"/>
                </a:solidFill>
                <a:latin typeface="Consolas" pitchFamily="34" charset="0"/>
                <a:ea typeface="Consolas" pitchFamily="34" charset="-122"/>
                <a:cs typeface="Consolas" pitchFamily="34" charset="-120"/>
              </a:rPr>
              <a:t>Luận văn thạc sĩ</a:t>
            </a:r>
            <a:endParaRPr lang="en-US" sz="800" dirty="0"/>
          </a:p>
        </p:txBody>
      </p:sp>
      <p:sp>
        <p:nvSpPr>
          <p:cNvPr id="105" name="Text 103"/>
          <p:cNvSpPr/>
          <p:nvPr/>
        </p:nvSpPr>
        <p:spPr>
          <a:xfrm>
            <a:off x="2743200" y="6620256"/>
            <a:ext cx="338328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Phát sinh tự động hướng dẫn sử dụng phần mềm dựa trên LLM</a:t>
            </a:r>
            <a:endParaRPr lang="en-US" sz="800" dirty="0"/>
          </a:p>
        </p:txBody>
      </p:sp>
      <p:sp>
        <p:nvSpPr>
          <p:cNvPr id="106" name="Text 104"/>
          <p:cNvSpPr/>
          <p:nvPr/>
        </p:nvSpPr>
        <p:spPr>
          <a:xfrm>
            <a:off x="6126480" y="6620256"/>
            <a:ext cx="17373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Lê Đoàn Phương Uyên</a:t>
            </a:r>
            <a:endParaRPr lang="en-US" sz="800" dirty="0"/>
          </a:p>
        </p:txBody>
      </p:sp>
      <p:sp>
        <p:nvSpPr>
          <p:cNvPr id="107" name="Text 105"/>
          <p:cNvSpPr/>
          <p:nvPr/>
        </p:nvSpPr>
        <p:spPr>
          <a:xfrm>
            <a:off x="7863840" y="6620256"/>
            <a:ext cx="1280160" cy="237744"/>
          </a:xfrm>
          <a:prstGeom prst="rect">
            <a:avLst/>
          </a:prstGeom>
          <a:noFill/>
          <a:ln/>
        </p:spPr>
        <p:txBody>
          <a:bodyPr wrap="square" lIns="0" tIns="0" rIns="0" bIns="0" rtlCol="0" anchor="ctr"/>
          <a:lstStyle/>
          <a:p>
            <a:pPr algn="ctr" indent="0" marL="0">
              <a:buNone/>
            </a:pPr>
            <a:r>
              <a:rPr lang="en-US" sz="800" dirty="0">
                <a:solidFill>
                  <a:srgbClr val="FFFFFF"/>
                </a:solidFill>
                <a:latin typeface="Cambria" pitchFamily="34" charset="0"/>
                <a:ea typeface="Cambria" pitchFamily="34" charset="-122"/>
                <a:cs typeface="Cambria" pitchFamily="34" charset="-120"/>
              </a:rPr>
              <a:t>dự phòng 2</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Phat sinh tu dong huong dan su dung phan mem dua tren LLM - bao cao tien do</dc:title>
  <dc:subject>PptxGenJS Presentation</dc:subject>
  <dc:creator>Le Doan Phuong Uyen</dc:creator>
  <cp:lastModifiedBy>Le Doan Phuong Uyen</cp:lastModifiedBy>
  <cp:revision>1</cp:revision>
  <dcterms:created xsi:type="dcterms:W3CDTF">2026-10-07T13:36:13Z</dcterms:created>
  <dcterms:modified xsi:type="dcterms:W3CDTF">2026-10-07T13:36:13Z</dcterms:modified>
</cp:coreProperties>
</file>