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giây] Giới thiệu tên, ngành, thầy hướng dẫn, tên đề tài. Thời lượng khoảng 25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giây] Sáu phần. Dành nhiều thời gian nhất cho thước đo (đóng góp đã hoàn tất) và phần phân tích lỗi (chỉ ra giới hạn thật của thành phần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giây] Tình huống: người dùng không biết bấm gì tiếp trên điện thoại.
Tác tử giao diện: cùng đầu vào nhưng sinh toạ độ cho máy tự bấm.
Đề tài: đầu ra là câu chữ cho người đọc, và câu là thứ duy nhất đem chấm.
Mô hình ba tỉ tham số, chạy tại máy vì ảnh màn hình là dữ liệu riêng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 giây] Vấn đề 1, đánh giá: so khớp chuỗi loại nhầm 97,5%; vector ngữ nghĩa AUC 0,336, đo độ gần chủ đề chứ không đo cùng phần tử (inbox/outbox 0,76 cao hơn search/magnifying glass 0,55).
Vấn đề 2, dạng lỗi: đọc tay 40 ca, gần như không bịa, phần lớn là câu mơ hồ.
Kết luận: trọng tâm là tính phân biệt của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giây] Không nhận chữ "đầu tiên": ý câu phải đủ để bên kia trỏ đúng là của dòng sinh biểu thức quy chiếu từ 2016.
Phần nhận: đưa tính phân biệt vào mục tiêu huấn luyện trong miền giao diện; Widget Captioning vẫn dùng entropy chéo thuần.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giây] Đóng góp 1: thước đo, hoàn tất.
Đóng góp 2: quy trình dựng dữ liệu và kết quả thực nghiệm có nhánh so sánh; nhánh xử lý chỉ một hạt giống vì ngân sách máy, nên không kết luận thành phần có tác dụng hay không.
Đóng góp 3: phân tích lỗi từng bước, hoàn tất, giá trị nhất cho người làm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giây] AndroidControl, NeurIPS 2024. Ghép hai kho công khai theo khoá (episode, step).
Kiểm phép ghép bằng cách so với phép ghép cố ý lệch một bước: 48% so với 20%.
Nhãn dựng bằng máy, không thuê người, không lấy từ mô hình ngôn ngữ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giây] Bốn ô nhãn. Ô tên khó nhất: cây trợ năng chỉ 12,6% phần tử có tên, bù bằng OCR, thêm hai bộ lọc (14,7% nhãn trợ năng là chuỗi không dùng được).
Quy mô đủ: 73,6% có tên dùng được, 22% không có tên, 7,6% trùng tên. Hai số sau là lý do cần ô dấu hiệu phân biệt.
Ô toạ độ lấy từ chỗ người thật đã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 giây] Thành phần đề xuất: mô tả phần tử cần chạm trước, viết câu sau.
Lúc chấm CẮT tầng khai báo, chỉ đưa câu cho mô hình định vị; nếu không cắt, mọi mức tăng có thể do được thêm thông tin lúc chấm.
Bước trung gian phải có toạ độ: cặp Shikra cho −7,4 (văn xuôi) và +5,9 (có toạ độ).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giây] Phân tích lỗi từ nhánh khai báo: cơ chế đúng, điểm nghẽn là độ chính xác ô khai báo.
Chặng hai: mục tiêu ưu tiên trên cặp tối thiểu, hai vế giống nhau từng chữ ở phần câu, chỉ khác ô khai báo.
Nhánh so sánh CE2-S2: cùng điểm lưu, cùng 800 bước, chỉ bỏ số hạng ưu tiên. Đại lượng chính là hiệu giữa hai nhánh.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giây] Ý tưởng thước: đưa câu cho mô hình định vị độc lập, hỏi điểm trả về có rơi đúng phần tử đã chạm không.
Ba điều kiện; điều kiện thứ ba đòi phần tử đã chạm là phần tử gần điểm dự đoán nhất (ô Voronoi).
Không phải mô hình tự chấm: chuẩn là toạ độ người thật đã chạm, mô hình định vị không thấy toạ độ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giây] Vì sao không dùng ngưỡng dung sai quy ước: đặt câu cố tình sai nút, ngưỡng dung sai vẫn cho đúng 84,3%; thêm điều kiện Voronoi còn 2,8%.
Ba chi tiết của luật đọc thẳng từ cài đặt: vùng dung sai hình chữ nhật; hạt Voronoi là điểm chạm; Voronoi bao gồm luôn điều kiện dung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 giây] Trần: đem câu chuẩn đi chấm, 75,7%. Mọi điểm đọc trên nền này.
Sàn: câu chung chung 12%; câu thật của màn khác 6,1%, thấp hơn cả câu chung chung.
Số thứ hai là bằng chứng quan trọng nhất: thước không thưởng cho văn phong.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 giây] Mỗi dòng là một phép đo có số.
Viết lại 1.139 câu bảo toàn nghĩa: hiệu ròng +0,35; bỏ mệnh đề vị trí thì thước phạt đúng.
Đổi mô hình định vị thứ hai không dùng AndroidControl: phép so đối chiếu giữ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giây] Mọi nhánh chấm trên cùng tập bước: hiệu ghép cặp.
MDE đo từ hai hạt giống của nhánh nền: sai số chuẩn ghép cặp 0,79, MDE 2,2 điểm (công thức chiếu cho 4 đến 9 vì giả định tương quan trong cụm bằng một).
Bảng bốn kết cục: dưới 2,2 không gọi là cải thiện; cận trên âm phải báo là gây hại.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giây] Trần 75,7. Base 47,6. S1 59,1 và 59,6 ở hai hạt giống.
Năm nhánh dưới vạch chỉ một hạt giống. Điểm cao nhất là 60,07 của chặng ba, hơn chặng hai đúng 0,02 điểm, nên phải đọc hai nhánh ấy là cùng một mức chứ không phải một nhánh thắng.
Ba khoảng tin cậy của Base, S1 và trần rời nhau: thước phân giải được ba mức, còn khoảng trống cho can thiệp.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giây] Tinh chỉnh đáng 11,5 điểm; nhiễu hai hạt giống 0,52; tín hiệu gấp 22 lần nhiễu.
Bỏ một phần tư số bước chép nguyên câu chuẩn, vẫn còn 8,4.
Sáu cách giải thích thay thế; ô đỏ chỉ loại được sau khi đổi mô hình định vị thứ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giây] S2 thấp hơn nhánh nền 1,93; p nhỏ nhưng dưới MDE nên không kết luận được, không phải kết quả âm; hạt thứ hai không chạy.
Phân tích lỗi: 7,3% số bước chiếm một phần ba chênh lệch, là nhóm đoán sai loại thao tác.
Mô hình gốc gọi đúng loại thao tác nhiều hơn cả hai bản đã huấn luyện: chi phí của tinh chỉnh, do tập dạy chỉ gắn khai báo cho bước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 giây] Chặng hai đạt 60,05, nhưng có nhánh so sánh để tách công.
S2 → CE2: +2,24 do huấn luyện thêm; CE2 → MIN-DESC: +0,63 riêng mục tiêu ưu tiên. 78% thuộc nhánh so sánh; ở tầng khai báo 87%.
0,63 trên nhiễu thước nhưng dưới MDE. Không có nhánh so sánh thì đã có thể trình 2,87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Chặng ba thưởng thẳng cho ô toạ độ, nên đây là can thiệp duy nhất đặt phần thưởng ngay tại tầng mà phần phân tích lỗi chỉ ra.
Tầng khai báo tăng 2,56 điểm, p bằng 1,3 nhân 10 mũ trừ 8, khoảng tin cậy không chạm 0. Nhưng điểm thực thi chỉ nhích 0,02, khoảng [−0,59 ; +0,64].
Điều đáng nói là dự báo đã ghi trước khi chấm: lấy hệ số chuyển đổi 0,43 đo ở chặng hai thì dự báo +1,10. Giá trị thật là +0,02, tức dự báo bị bác, và hệ số ấy phụ thuộc dạng can thiệp.
Lý do trực tiếp: hai phần ba số bước có ô khai báo đổi mà câu ở đầu ra không đổi một ký tự, trong khi thước chỉ đọc câu.
Câu không bị bẻ thành chuỗi khó đọc: BLEU-4 và tỉ lệ khớp loại thao tác giữ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giây] Vì sao chỉ 0,94: cắt theo ô khai báo đúng hay sai.
Khai báo đúng (60,6%): hơn 8,83, vượt cả trần câu chuẩn của nhóm. Khai báo sai: thua 11,12.
Hai chiều triệt tiêu nhau. Cách chia là phân tích hậu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giây] Ba ràng buộc: ô đúng cả hai đã hết dư địa; 63% dư địa nằm trong ô sai cả tên lẫn toạ độ (3,6 so với 25,8); câu chuẩn vẫn đạt 64,4 ở đó nên giải được.
Bảy bộ định tuyến ở khâu suy luận đều trong nhiễu; định tuyến hoàn hảo chỉ 63,5. Phải sửa ở khâu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giây] Đây là mục trả lời câu hỏi vì sao năm can thiệp đều dừng lại.
Tách đường đi từ ảnh tới câu thành hai kênh đo được riêng: kênh tri giác là ô toạ độ mô hình tự viết ra, kênh diễn đạt là điểm mà mô hình định vị trả về sau khi đọc câu. Hai kênh dùng chung một luật phán đúng sai nên so được với nhau.
Nhóm nhìn đúng chiếm 70% số bước nhưng chỉ đóng góp 9% khoảng cách so với câu chuẩn. Nhóm nhìn sai chiếm 30% mà đóng góp 91%.
Con số quan trọng nhất là 45,30: đó là phần thiếu hụt sau khi đã trừ đi độ khó của nhóm bước, vì câu chuẩn cũng giảm 28,64 điểm khi đi từ nhóm này sang nhóm kia.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 giây] Sửa được tri giác vẫn chưa đủ, vì phần sửa còn phải đi qua tầng sinh câu.
Chặng ba cho phép đo trực tiếp mức truyền ấy, do đây là can thiệp duy nhất đặt phần thưởng thẳng lên ô toạ độ: nâng kênh tri giác 1,60 điểm chỉ cho 0,045 điểm thực thi.
Bảng chéo cho biết vì sao: sửa được 184 bước với mức lợi 40 điểm mỗi bước, nhưng làm sai 113 bước với mức thiệt 54 điểm. Hai chiều gần như triệt tiêu.
Nếu hội đồng hỏi về con số 0,739 thì nói rõ: đó là tương quan giữa các nhánh, phản ánh việc nhánh mạnh thì mạnh ở cả hai kênh, chứ không đo được điều gì xảy ra khi can thiệp vào riêng một kênh.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 giây] Nhánh cuối: danh sách tối đa 40 ứng viên của màn hình trong câu nhắc, mô hình chọn một dòng hoặc bỏ cuộc.
Không đạt ngưỡng dừng (57,5 so với 63,6); executability 56,1.
Đưa ra lựa chọn thì 71,4, kém câu chuẩn 4,3; bỏ cuộc sai ở 27,3% bước có đáp án, tái lập qua hai phép đo.
Nguyên nhân gần nhất: hơn nửa mẫu dạy mang nhãn bỏ cuộc (54,8% so với 29,1% trên bước chạm).
Không có nhánh so sánh cùng đầu vào; quan sát, chưa phải nhân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 giây] Một hạt giống ở mọi nhánh xử lý.
Điều kiện không gây hại không đạt: giảm gần 20 điểm ở bước không chạm, ngưỡng 3.
Lối tắt trong dữ liệu cặp, phát hiện sau huấn luyện.
Nhánh ứng viên không có nhánh so sánh cùng đầu vào.
Dụng cụ: hai mô hình định vị cùng họ với mô hình bị chấm.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giây] Hướng 1 là hướng duy nhất chạm vào tầng mà phần phân tích lỗi định vị được: mở phần thị giác của mô hình nền, giữ mọi tham số khác để phép so vẫn một biến, mốc đối chiếu 59,11.
Nói thẳng kỳ vọng: trên năm can thiệp đã đo không cái nào vượt ngưỡng phát hiện, và mức truyền chỉ 0,028, nên xác suất vượt ngưỡng ước lượng khoảng 0,30. Đây là phép thử có căn cứ phân tích lỗi, không phải cải tiến đã hứa trước.
Hướng 2 không chạy: thủ tục ngưỡng chỉ cứu được 8 trên 1.400 bước, dưới ngưỡng đặt trước.
Hướng 3: khoảng 14,6 điểm nằm ở khâu bỏ cuộc, cần một bộ phân loại riêng vì xác suất của chính mô hình không tách được hai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giây] Ba thứ để lại: thước đo kiểm chứng bằng phép đo; tinh chỉnh đáng 11,5 điểm qua sáu cách giải thích thay thế; phần phân tích lỗi chỉ đúng chỗ phải tác động, nối dài bằng nhánh ứng viên.
Điểm cao nhất là 60,07, nhưng không can thiệp nào trong năm can thiệp đã đo vượt được mức chênh nhỏ nhất phát hiện được, và luận văn nói thẳng điều đó.
Hai bài báo đã nộp cuối tháng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ĐẠI HỌC QUỐC GIA TP. HỒ CHÍ MINH  -  TRƯỜNG ĐẠI HỌC KHOA HỌC TỰ NHIÊN</a:t>
            </a:r>
            <a:endParaRPr lang="en-US" sz="1400" dirty="0"/>
          </a:p>
        </p:txBody>
      </p:sp>
      <p:sp>
        <p:nvSpPr>
          <p:cNvPr id="4" name="Shape 2"/>
          <p:cNvSpPr/>
          <p:nvPr/>
        </p:nvSpPr>
        <p:spPr>
          <a:xfrm>
            <a:off x="731520" y="1097280"/>
            <a:ext cx="7680960" cy="2240280"/>
          </a:xfrm>
          <a:prstGeom prst="roundRect">
            <a:avLst>
              <a:gd name="adj" fmla="val 3673"/>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371600"/>
            <a:ext cx="768096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Luận văn thạc sĩ  -  Ngành Trí tuệ nhân tạo</a:t>
            </a:r>
            <a:endParaRPr lang="en-US" sz="1500" dirty="0"/>
          </a:p>
        </p:txBody>
      </p:sp>
      <p:sp>
        <p:nvSpPr>
          <p:cNvPr id="6" name="Text 4"/>
          <p:cNvSpPr/>
          <p:nvPr/>
        </p:nvSpPr>
        <p:spPr>
          <a:xfrm>
            <a:off x="731520" y="1783080"/>
            <a:ext cx="7680960" cy="1463040"/>
          </a:xfrm>
          <a:prstGeom prst="rect">
            <a:avLst/>
          </a:prstGeom>
          <a:noFill/>
          <a:ln/>
        </p:spPr>
        <p:txBody>
          <a:bodyPr wrap="square" lIns="0" tIns="0" rIns="0" bIns="0" rtlCol="0" anchor="t"/>
          <a:lstStyle/>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PHÁT SINH TỰ ĐỘNG HƯỚNG DẪN SỬ DỤNG PHẦN MỀM</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DỰA TRÊN LLM TỪ CÁC TRƯỜNG HỢP SỬ DỤNG</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VÀ GIAO DIỆN NGƯỜI DÙNG</a:t>
            </a:r>
            <a:endParaRPr lang="en-US" sz="2100" dirty="0"/>
          </a:p>
        </p:txBody>
      </p:sp>
      <p:sp>
        <p:nvSpPr>
          <p:cNvPr id="7" name="Text 5"/>
          <p:cNvSpPr/>
          <p:nvPr/>
        </p:nvSpPr>
        <p:spPr>
          <a:xfrm>
            <a:off x="731520" y="3429000"/>
            <a:ext cx="7680960" cy="320040"/>
          </a:xfrm>
          <a:prstGeom prst="rect">
            <a:avLst/>
          </a:prstGeom>
          <a:noFill/>
          <a:ln/>
        </p:spPr>
        <p:txBody>
          <a:bodyPr wrap="square" lIns="0" tIns="0" rIns="0" bIns="0" rtlCol="0" anchor="t"/>
          <a:lstStyle/>
          <a:p>
            <a:pPr algn="ctr" indent="0" marL="0">
              <a:buNone/>
            </a:pPr>
            <a:r>
              <a:rPr lang="en-US" sz="1200" i="1" dirty="0">
                <a:solidFill>
                  <a:srgbClr val="5A5A66"/>
                </a:solidFill>
                <a:latin typeface="Cambria" pitchFamily="34" charset="0"/>
                <a:ea typeface="Cambria" pitchFamily="34" charset="-122"/>
                <a:cs typeface="Cambria" pitchFamily="34" charset="-120"/>
              </a:rPr>
              <a:t>LLM-Based Automatic Generation of Software User Guides from Use Cases and Front-End Structures</a:t>
            </a:r>
            <a:endParaRPr lang="en-US" sz="1200" dirty="0"/>
          </a:p>
        </p:txBody>
      </p:sp>
      <p:sp>
        <p:nvSpPr>
          <p:cNvPr id="8" name="Text 6"/>
          <p:cNvSpPr/>
          <p:nvPr/>
        </p:nvSpPr>
        <p:spPr>
          <a:xfrm>
            <a:off x="731520" y="402336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Học viên thực hiện:   Lê Đoàn Phương Uyên</a:t>
            </a:r>
            <a:endParaRPr lang="en-US" sz="1500" dirty="0"/>
          </a:p>
        </p:txBody>
      </p:sp>
      <p:sp>
        <p:nvSpPr>
          <p:cNvPr id="9" name="Text 7"/>
          <p:cNvSpPr/>
          <p:nvPr/>
        </p:nvSpPr>
        <p:spPr>
          <a:xfrm>
            <a:off x="731520" y="443484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Giáo viên hướng dẫn:   TS. Nguyễn Hồng Bửu Long</a:t>
            </a:r>
            <a:endParaRPr lang="en-US" sz="1500" dirty="0"/>
          </a:p>
        </p:txBody>
      </p:sp>
      <p:sp>
        <p:nvSpPr>
          <p:cNvPr id="10" name="Text 8"/>
          <p:cNvSpPr/>
          <p:nvPr/>
        </p:nvSpPr>
        <p:spPr>
          <a:xfrm>
            <a:off x="731520" y="4983480"/>
            <a:ext cx="7680960" cy="320040"/>
          </a:xfrm>
          <a:prstGeom prst="rect">
            <a:avLst/>
          </a:prstGeom>
          <a:noFill/>
          <a:ln/>
        </p:spPr>
        <p:txBody>
          <a:bodyPr wrap="square" lIns="0" tIns="0" rIns="0" bIns="0" rtlCol="0" anchor="t"/>
          <a:lstStyle/>
          <a:p>
            <a:pPr algn="ctr" indent="0" marL="0">
              <a:buNone/>
            </a:pPr>
            <a:r>
              <a:rPr lang="en-US" sz="1200" dirty="0">
                <a:solidFill>
                  <a:srgbClr val="5A5A66"/>
                </a:solidFill>
                <a:latin typeface="Cambria" pitchFamily="34" charset="0"/>
                <a:ea typeface="Cambria" pitchFamily="34" charset="-122"/>
                <a:cs typeface="Cambria" pitchFamily="34" charset="-120"/>
              </a:rPr>
              <a:t>Mã số ngành: 8480107</a:t>
            </a:r>
            <a:endParaRPr lang="en-US" sz="1200" dirty="0"/>
          </a:p>
        </p:txBody>
      </p:sp>
      <p:sp>
        <p:nvSpPr>
          <p:cNvPr id="11" name="Text 9"/>
          <p:cNvSpPr/>
          <p:nvPr/>
        </p:nvSpPr>
        <p:spPr>
          <a:xfrm>
            <a:off x="731520" y="534924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TP. Hồ Chí Minh  -  Năm 2026</a:t>
            </a:r>
            <a:endParaRPr lang="en-US" sz="12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1/29</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Nội dung trình bày</a:t>
            </a:r>
            <a:endParaRPr lang="en-US" sz="1900" dirty="0"/>
          </a:p>
        </p:txBody>
      </p:sp>
      <p:sp>
        <p:nvSpPr>
          <p:cNvPr id="4" name="Text 2"/>
          <p:cNvSpPr/>
          <p:nvPr/>
        </p:nvSpPr>
        <p:spPr>
          <a:xfrm>
            <a:off x="1554480" y="1783080"/>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1.</a:t>
            </a:r>
            <a:pPr algn="l" indent="0" marL="0">
              <a:buNone/>
            </a:pPr>
            <a:r>
              <a:rPr lang="en-US" sz="1700" b="1" dirty="0">
                <a:solidFill>
                  <a:srgbClr val="322164"/>
                </a:solidFill>
                <a:latin typeface="Cambria" pitchFamily="34" charset="0"/>
                <a:ea typeface="Cambria" pitchFamily="34" charset="-122"/>
                <a:cs typeface="Cambria" pitchFamily="34" charset="-120"/>
              </a:rPr>
              <a:t>   Bài toán và hai vấn đề</a:t>
            </a:r>
            <a:endParaRPr lang="en-US" sz="1700" dirty="0"/>
          </a:p>
        </p:txBody>
      </p:sp>
      <p:sp>
        <p:nvSpPr>
          <p:cNvPr id="5" name="Text 3"/>
          <p:cNvSpPr/>
          <p:nvPr/>
        </p:nvSpPr>
        <p:spPr>
          <a:xfrm>
            <a:off x="1554480" y="2386584"/>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2.</a:t>
            </a:r>
            <a:pPr algn="l" indent="0" marL="0">
              <a:buNone/>
            </a:pPr>
            <a:r>
              <a:rPr lang="en-US" sz="1700" b="1" dirty="0">
                <a:solidFill>
                  <a:srgbClr val="322164"/>
                </a:solidFill>
                <a:latin typeface="Cambria" pitchFamily="34" charset="0"/>
                <a:ea typeface="Cambria" pitchFamily="34" charset="-122"/>
                <a:cs typeface="Cambria" pitchFamily="34" charset="-120"/>
              </a:rPr>
              <a:t>   Dữ liệu và nhãn dựng tự động</a:t>
            </a:r>
            <a:endParaRPr lang="en-US" sz="1700" dirty="0"/>
          </a:p>
        </p:txBody>
      </p:sp>
      <p:sp>
        <p:nvSpPr>
          <p:cNvPr id="6" name="Text 4"/>
          <p:cNvSpPr/>
          <p:nvPr/>
        </p:nvSpPr>
        <p:spPr>
          <a:xfrm>
            <a:off x="1554480" y="2990088"/>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3.</a:t>
            </a:r>
            <a:pPr algn="l" indent="0" marL="0">
              <a:buNone/>
            </a:pPr>
            <a:r>
              <a:rPr lang="en-US" sz="1700" b="1" dirty="0">
                <a:solidFill>
                  <a:srgbClr val="322164"/>
                </a:solidFill>
                <a:latin typeface="Cambria" pitchFamily="34" charset="0"/>
                <a:ea typeface="Cambria" pitchFamily="34" charset="-122"/>
                <a:cs typeface="Cambria" pitchFamily="34" charset="-120"/>
              </a:rPr>
              <a:t>   Phương pháp: mô tả trước, phát ngôn sau</a:t>
            </a:r>
            <a:endParaRPr lang="en-US" sz="1700" dirty="0"/>
          </a:p>
        </p:txBody>
      </p:sp>
      <p:sp>
        <p:nvSpPr>
          <p:cNvPr id="7" name="Text 5"/>
          <p:cNvSpPr/>
          <p:nvPr/>
        </p:nvSpPr>
        <p:spPr>
          <a:xfrm>
            <a:off x="1554480" y="3593592"/>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4.</a:t>
            </a:r>
            <a:pPr algn="l" indent="0" marL="0">
              <a:buNone/>
            </a:pPr>
            <a:r>
              <a:rPr lang="en-US" sz="1700" b="1" dirty="0">
                <a:solidFill>
                  <a:srgbClr val="322164"/>
                </a:solidFill>
                <a:latin typeface="Cambria" pitchFamily="34" charset="0"/>
                <a:ea typeface="Cambria" pitchFamily="34" charset="-122"/>
                <a:cs typeface="Cambria" pitchFamily="34" charset="-120"/>
              </a:rPr>
              <a:t>   Thước đo executability</a:t>
            </a:r>
            <a:endParaRPr lang="en-US" sz="1700" dirty="0"/>
          </a:p>
        </p:txBody>
      </p:sp>
      <p:sp>
        <p:nvSpPr>
          <p:cNvPr id="8" name="Text 6"/>
          <p:cNvSpPr/>
          <p:nvPr/>
        </p:nvSpPr>
        <p:spPr>
          <a:xfrm>
            <a:off x="1554480" y="4197096"/>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5.</a:t>
            </a:r>
            <a:pPr algn="l" indent="0" marL="0">
              <a:buNone/>
            </a:pPr>
            <a:r>
              <a:rPr lang="en-US" sz="1700" b="1" dirty="0">
                <a:solidFill>
                  <a:srgbClr val="322164"/>
                </a:solidFill>
                <a:latin typeface="Cambria" pitchFamily="34" charset="0"/>
                <a:ea typeface="Cambria" pitchFamily="34" charset="-122"/>
                <a:cs typeface="Cambria" pitchFamily="34" charset="-120"/>
              </a:rPr>
              <a:t>   Kết quả và phân tích lỗi</a:t>
            </a:r>
            <a:endParaRPr lang="en-US" sz="1700" dirty="0"/>
          </a:p>
        </p:txBody>
      </p:sp>
      <p:sp>
        <p:nvSpPr>
          <p:cNvPr id="9" name="Text 7"/>
          <p:cNvSpPr/>
          <p:nvPr/>
        </p:nvSpPr>
        <p:spPr>
          <a:xfrm>
            <a:off x="1554480" y="4800600"/>
            <a:ext cx="658368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6.</a:t>
            </a:r>
            <a:pPr algn="l" indent="0" marL="0">
              <a:buNone/>
            </a:pPr>
            <a:r>
              <a:rPr lang="en-US" sz="1700" b="1" dirty="0">
                <a:solidFill>
                  <a:srgbClr val="322164"/>
                </a:solidFill>
                <a:latin typeface="Cambria" pitchFamily="34" charset="0"/>
                <a:ea typeface="Cambria" pitchFamily="34" charset="-122"/>
                <a:cs typeface="Cambria" pitchFamily="34" charset="-120"/>
              </a:rPr>
              <a:t>   Hạn chế và hướng phát triển</a:t>
            </a:r>
            <a:endParaRPr lang="en-US" sz="170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Bài toán: đầu ra là câu chữ, không phải toạ độ</a:t>
            </a:r>
            <a:endParaRPr lang="en-US" sz="1900" dirty="0"/>
          </a:p>
        </p:txBody>
      </p:sp>
      <p:sp>
        <p:nvSpPr>
          <p:cNvPr id="4" name="Shape 2"/>
          <p:cNvSpPr/>
          <p:nvPr/>
        </p:nvSpPr>
        <p:spPr>
          <a:xfrm>
            <a:off x="502920" y="82296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960120"/>
            <a:ext cx="7680960" cy="457200"/>
          </a:xfrm>
          <a:prstGeom prst="rect">
            <a:avLst/>
          </a:prstGeom>
          <a:noFill/>
          <a:ln/>
        </p:spPr>
        <p:txBody>
          <a:bodyPr wrap="square" lIns="0" tIns="0" rIns="0" bIns="0" rtlCol="0" anchor="t"/>
          <a:lstStyle/>
          <a:p>
            <a:pPr algn="l" indent="0" marL="0">
              <a:buNone/>
            </a:pPr>
            <a:r>
              <a:rPr lang="en-US" sz="1500" b="1" dirty="0">
                <a:solidFill>
                  <a:srgbClr val="1414BE"/>
                </a:solidFill>
                <a:latin typeface="Cambria" pitchFamily="34" charset="0"/>
                <a:ea typeface="Cambria" pitchFamily="34" charset="-122"/>
                <a:cs typeface="Cambria" pitchFamily="34" charset="-120"/>
              </a:rPr>
              <a:t>Đầu vào.  </a:t>
            </a:r>
            <a:pPr algn="l" indent="0" marL="0">
              <a:buNone/>
            </a:pPr>
            <a:r>
              <a:rPr lang="en-US" sz="1500" i="1" dirty="0">
                <a:solidFill>
                  <a:srgbClr val="1A1A1A"/>
                </a:solidFill>
                <a:latin typeface="Cambria" pitchFamily="34" charset="0"/>
                <a:ea typeface="Cambria" pitchFamily="34" charset="-122"/>
                <a:cs typeface="Cambria" pitchFamily="34" charset="-120"/>
              </a:rPr>
              <a:t>ảnh màn hình  +  “Chia sẻ playlist này cho bạn tôi”</a:t>
            </a:r>
            <a:endParaRPr lang="en-US" sz="1500" dirty="0"/>
          </a:p>
        </p:txBody>
      </p:sp>
      <p:sp>
        <p:nvSpPr>
          <p:cNvPr id="6" name="Text 4"/>
          <p:cNvSpPr/>
          <p:nvPr/>
        </p:nvSpPr>
        <p:spPr>
          <a:xfrm>
            <a:off x="731520" y="1572768"/>
            <a:ext cx="7680960" cy="457200"/>
          </a:xfrm>
          <a:prstGeom prst="rect">
            <a:avLst/>
          </a:prstGeom>
          <a:noFill/>
          <a:ln/>
        </p:spPr>
        <p:txBody>
          <a:bodyPr wrap="square" lIns="0" tIns="0" rIns="0" bIns="0" rtlCol="0" anchor="t"/>
          <a:lstStyle/>
          <a:p>
            <a:pPr algn="l" indent="0" marL="0">
              <a:buNone/>
            </a:pPr>
            <a:r>
              <a:rPr lang="en-US" sz="1500" b="1" dirty="0">
                <a:solidFill>
                  <a:srgbClr val="1414BE"/>
                </a:solidFill>
                <a:latin typeface="Cambria" pitchFamily="34" charset="0"/>
                <a:ea typeface="Cambria" pitchFamily="34" charset="-122"/>
                <a:cs typeface="Cambria" pitchFamily="34" charset="-120"/>
              </a:rPr>
              <a:t>Kết quả.  </a:t>
            </a:r>
            <a:pPr algn="l" indent="0" marL="0">
              <a:buNone/>
            </a:pPr>
            <a:r>
              <a:rPr lang="en-US" sz="1500" i="1" dirty="0">
                <a:solidFill>
                  <a:srgbClr val="1A1A1A"/>
                </a:solidFill>
                <a:latin typeface="Cambria" pitchFamily="34" charset="0"/>
                <a:ea typeface="Cambria" pitchFamily="34" charset="-122"/>
                <a:cs typeface="Cambria" pitchFamily="34" charset="-120"/>
              </a:rPr>
              <a:t>“Tap the share icon at the top right of the screen.”</a:t>
            </a:r>
            <a:endParaRPr lang="en-US" sz="1500" dirty="0"/>
          </a:p>
        </p:txBody>
      </p:sp>
      <p:sp>
        <p:nvSpPr>
          <p:cNvPr id="7" name="Text 5"/>
          <p:cNvSpPr/>
          <p:nvPr/>
        </p:nvSpPr>
        <p:spPr>
          <a:xfrm>
            <a:off x="502920" y="251460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Tác tử giao diện</a:t>
            </a:r>
            <a:endParaRPr lang="en-US" sz="1500" dirty="0"/>
          </a:p>
        </p:txBody>
      </p:sp>
      <p:sp>
        <p:nvSpPr>
          <p:cNvPr id="8" name="Text 6"/>
          <p:cNvSpPr/>
          <p:nvPr/>
        </p:nvSpPr>
        <p:spPr>
          <a:xfrm>
            <a:off x="4663440" y="2514600"/>
            <a:ext cx="3977640" cy="365760"/>
          </a:xfrm>
          <a:prstGeom prst="rect">
            <a:avLst/>
          </a:prstGeom>
          <a:noFill/>
          <a:ln/>
        </p:spPr>
        <p:txBody>
          <a:bodyPr wrap="square" lIns="0" tIns="0" rIns="0" bIns="0" rtlCol="0" anchor="t"/>
          <a:lstStyle/>
          <a:p>
            <a:pPr algn="ctr" indent="0" marL="0">
              <a:buNone/>
            </a:pPr>
            <a:r>
              <a:rPr lang="en-US" sz="1500" b="1" dirty="0">
                <a:solidFill>
                  <a:srgbClr val="B22222"/>
                </a:solidFill>
                <a:latin typeface="Cambria" pitchFamily="34" charset="0"/>
                <a:ea typeface="Cambria" pitchFamily="34" charset="-122"/>
                <a:cs typeface="Cambria" pitchFamily="34" charset="-120"/>
              </a:rPr>
              <a:t>Luận văn này</a:t>
            </a:r>
            <a:endParaRPr lang="en-US" sz="1500" dirty="0"/>
          </a:p>
        </p:txBody>
      </p:sp>
      <p:sp>
        <p:nvSpPr>
          <p:cNvPr id="9" name="Shape 7"/>
          <p:cNvSpPr/>
          <p:nvPr/>
        </p:nvSpPr>
        <p:spPr>
          <a:xfrm>
            <a:off x="502920" y="2926080"/>
            <a:ext cx="397764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10" name="Shape 8"/>
          <p:cNvSpPr/>
          <p:nvPr/>
        </p:nvSpPr>
        <p:spPr>
          <a:xfrm>
            <a:off x="4663440" y="2926080"/>
            <a:ext cx="397764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31520" y="3200400"/>
            <a:ext cx="3566160" cy="1645920"/>
          </a:xfrm>
          <a:prstGeom prst="rect">
            <a:avLst/>
          </a:prstGeom>
          <a:noFill/>
          <a:ln/>
        </p:spPr>
        <p:txBody>
          <a:bodyPr wrap="square" lIns="0" tIns="0" rIns="0" bIns="0" rtlCol="0" anchor="t"/>
          <a:lstStyle/>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Đầu ra là lệnh máy tự bấm,</a:t>
            </a: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dạng click(872, 141).</a:t>
            </a:r>
            <a:endParaRPr lang="en-US" sz="1450" dirty="0"/>
          </a:p>
          <a:p>
            <a:pPr algn="l" indent="0" marL="0">
              <a:lnSpc>
                <a:spcPct val="145000"/>
              </a:lnSpc>
              <a:buNone/>
            </a:pP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Câu chữ không được đem chấm.</a:t>
            </a:r>
            <a:endParaRPr lang="en-US" sz="1450" dirty="0"/>
          </a:p>
        </p:txBody>
      </p:sp>
      <p:sp>
        <p:nvSpPr>
          <p:cNvPr id="12" name="Text 10"/>
          <p:cNvSpPr/>
          <p:nvPr/>
        </p:nvSpPr>
        <p:spPr>
          <a:xfrm>
            <a:off x="4892040" y="3200400"/>
            <a:ext cx="3566160" cy="1645920"/>
          </a:xfrm>
          <a:prstGeom prst="rect">
            <a:avLst/>
          </a:prstGeom>
          <a:noFill/>
          <a:ln/>
        </p:spPr>
        <p:txBody>
          <a:bodyPr wrap="square" lIns="0" tIns="0" rIns="0" bIns="0" rtlCol="0" anchor="t"/>
          <a:lstStyle/>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Đầu ra là câu cho người đọc.</a:t>
            </a:r>
            <a:endParaRPr lang="en-US" sz="1450" dirty="0"/>
          </a:p>
          <a:p>
            <a:pPr algn="l" indent="0" marL="0">
              <a:lnSpc>
                <a:spcPct val="145000"/>
              </a:lnSpc>
              <a:buNone/>
            </a:pP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Câu là thứ duy nhất</a:t>
            </a: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được đem chấm.</a:t>
            </a:r>
            <a:endParaRPr lang="en-US" sz="1450" dirty="0"/>
          </a:p>
        </p:txBody>
      </p:sp>
      <p:sp>
        <p:nvSpPr>
          <p:cNvPr id="13" name="Text 11"/>
          <p:cNvSpPr/>
          <p:nvPr/>
        </p:nvSpPr>
        <p:spPr>
          <a:xfrm>
            <a:off x="502920" y="5166360"/>
            <a:ext cx="3977640" cy="320040"/>
          </a:xfrm>
          <a:prstGeom prst="rect">
            <a:avLst/>
          </a:prstGeom>
          <a:noFill/>
          <a:ln/>
        </p:spPr>
        <p:txBody>
          <a:bodyPr wrap="square" lIns="0" tIns="0" rIns="0" bIns="0" rtlCol="0" anchor="t"/>
          <a:lstStyle/>
          <a:p>
            <a:pPr algn="ctr" indent="0" marL="0">
              <a:buNone/>
            </a:pPr>
            <a:r>
              <a:rPr lang="en-US" sz="1100" i="1" dirty="0">
                <a:solidFill>
                  <a:srgbClr val="5A5A66"/>
                </a:solidFill>
                <a:latin typeface="Cambria" pitchFamily="34" charset="0"/>
                <a:ea typeface="Cambria" pitchFamily="34" charset="-122"/>
                <a:cs typeface="Cambria" pitchFamily="34" charset="-120"/>
              </a:rPr>
              <a:t>SeeClick · OS-Atlas · Aguvis</a:t>
            </a:r>
            <a:endParaRPr lang="en-US" sz="1100" dirty="0"/>
          </a:p>
        </p:txBody>
      </p:sp>
      <p:sp>
        <p:nvSpPr>
          <p:cNvPr id="14" name="Text 12"/>
          <p:cNvSpPr/>
          <p:nvPr/>
        </p:nvSpPr>
        <p:spPr>
          <a:xfrm>
            <a:off x="4663440" y="5166360"/>
            <a:ext cx="3977640" cy="320040"/>
          </a:xfrm>
          <a:prstGeom prst="rect">
            <a:avLst/>
          </a:prstGeom>
          <a:noFill/>
          <a:ln/>
        </p:spPr>
        <p:txBody>
          <a:bodyPr wrap="square" lIns="0" tIns="0" rIns="0" bIns="0" rtlCol="0" anchor="t"/>
          <a:lstStyle/>
          <a:p>
            <a:pPr algn="ctr" indent="0" marL="0">
              <a:buNone/>
            </a:pPr>
            <a:r>
              <a:rPr lang="en-US" sz="1100" i="1" dirty="0">
                <a:solidFill>
                  <a:srgbClr val="5A5A66"/>
                </a:solidFill>
                <a:latin typeface="Cambria" pitchFamily="34" charset="0"/>
                <a:ea typeface="Cambria" pitchFamily="34" charset="-122"/>
                <a:cs typeface="Cambria" pitchFamily="34" charset="-120"/>
              </a:rPr>
              <a:t>Mô hình ba tỉ tham số, chạy tại máy người dùng</a:t>
            </a:r>
            <a:endParaRPr lang="en-US" sz="1100" dirty="0"/>
          </a:p>
        </p:txBody>
      </p:sp>
      <p:sp>
        <p:nvSpPr>
          <p:cNvPr id="16" name="Shape 13"/>
          <p:cNvSpPr/>
          <p:nvPr/>
        </p:nvSpPr>
        <p:spPr>
          <a:xfrm>
            <a:off x="0" y="6620256"/>
            <a:ext cx="2743200" cy="237744"/>
          </a:xfrm>
          <a:prstGeom prst="rect">
            <a:avLst/>
          </a:prstGeom>
          <a:solidFill>
            <a:srgbClr val="191132"/>
          </a:solidFill>
          <a:ln/>
        </p:spPr>
      </p:sp>
      <p:sp>
        <p:nvSpPr>
          <p:cNvPr id="17" name="Shape 14"/>
          <p:cNvSpPr/>
          <p:nvPr/>
        </p:nvSpPr>
        <p:spPr>
          <a:xfrm>
            <a:off x="2743200" y="6620256"/>
            <a:ext cx="3383280" cy="237744"/>
          </a:xfrm>
          <a:prstGeom prst="rect">
            <a:avLst/>
          </a:prstGeom>
          <a:solidFill>
            <a:srgbClr val="25194B"/>
          </a:solidFill>
          <a:ln/>
        </p:spPr>
      </p:sp>
      <p:sp>
        <p:nvSpPr>
          <p:cNvPr id="18" name="Shape 15"/>
          <p:cNvSpPr/>
          <p:nvPr/>
        </p:nvSpPr>
        <p:spPr>
          <a:xfrm>
            <a:off x="6126480" y="6620256"/>
            <a:ext cx="1737360" cy="237744"/>
          </a:xfrm>
          <a:prstGeom prst="rect">
            <a:avLst/>
          </a:prstGeom>
          <a:solidFill>
            <a:srgbClr val="4F417A"/>
          </a:solidFill>
          <a:ln/>
        </p:spPr>
      </p:sp>
      <p:sp>
        <p:nvSpPr>
          <p:cNvPr id="19" name="Shape 16"/>
          <p:cNvSpPr/>
          <p:nvPr/>
        </p:nvSpPr>
        <p:spPr>
          <a:xfrm>
            <a:off x="7863840" y="6620256"/>
            <a:ext cx="1280160" cy="237744"/>
          </a:xfrm>
          <a:prstGeom prst="rect">
            <a:avLst/>
          </a:prstGeom>
          <a:solidFill>
            <a:srgbClr val="7A7099"/>
          </a:solidFill>
          <a:ln/>
        </p:spPr>
      </p:sp>
      <p:sp>
        <p:nvSpPr>
          <p:cNvPr id="20"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1"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2"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Đổi đầu ra kéo theo hai vấn đề</a:t>
            </a:r>
            <a:endParaRPr lang="en-US" sz="1900" dirty="0"/>
          </a:p>
        </p:txBody>
      </p:sp>
      <p:sp>
        <p:nvSpPr>
          <p:cNvPr id="4" name="Text 2"/>
          <p:cNvSpPr/>
          <p:nvPr/>
        </p:nvSpPr>
        <p:spPr>
          <a:xfrm>
            <a:off x="502920" y="82296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Vấn đề 1 · Không chấm được câu</a:t>
            </a:r>
            <a:endParaRPr lang="en-US" sz="1500" dirty="0"/>
          </a:p>
        </p:txBody>
      </p:sp>
      <p:sp>
        <p:nvSpPr>
          <p:cNvPr id="5" name="Text 3"/>
          <p:cNvSpPr/>
          <p:nvPr/>
        </p:nvSpPr>
        <p:spPr>
          <a:xfrm>
            <a:off x="4663440" y="82296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Vấn đề 2 · Dạng lỗi không như dự đoán</a:t>
            </a:r>
            <a:endParaRPr lang="en-US" sz="1500" dirty="0"/>
          </a:p>
        </p:txBody>
      </p:sp>
      <p:sp>
        <p:nvSpPr>
          <p:cNvPr id="6" name="Shape 4"/>
          <p:cNvSpPr/>
          <p:nvPr/>
        </p:nvSpPr>
        <p:spPr>
          <a:xfrm>
            <a:off x="502920" y="1280160"/>
            <a:ext cx="3977640" cy="3108960"/>
          </a:xfrm>
          <a:prstGeom prst="roundRect">
            <a:avLst>
              <a:gd name="adj" fmla="val 1765"/>
            </a:avLst>
          </a:prstGeom>
          <a:solidFill>
            <a:srgbClr val="E9E8EC"/>
          </a:solidFill>
          <a:ln/>
          <a:effectLst>
            <a:outerShdw sx="100000" sy="100000" kx="0" ky="0" algn="bl" rotWithShape="0" blurRad="63500" dist="31750" dir="2700000">
              <a:srgbClr val="8C8C99">
                <a:alpha val="45000"/>
              </a:srgbClr>
            </a:outerShdw>
          </a:effectLst>
        </p:spPr>
      </p:sp>
      <p:sp>
        <p:nvSpPr>
          <p:cNvPr id="7" name="Shape 5"/>
          <p:cNvSpPr/>
          <p:nvPr/>
        </p:nvSpPr>
        <p:spPr>
          <a:xfrm>
            <a:off x="4663440" y="1280160"/>
            <a:ext cx="3977640" cy="3108960"/>
          </a:xfrm>
          <a:prstGeom prst="roundRect">
            <a:avLst>
              <a:gd name="adj" fmla="val 1765"/>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1417320"/>
            <a:ext cx="3657600" cy="365760"/>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Một nút có nhiều tên gọi đều đúng.</a:t>
            </a:r>
            <a:endParaRPr lang="en-US" sz="1300" dirty="0"/>
          </a:p>
        </p:txBody>
      </p:sp>
      <p:sp>
        <p:nvSpPr>
          <p:cNvPr id="9" name="Text 7"/>
          <p:cNvSpPr/>
          <p:nvPr/>
        </p:nvSpPr>
        <p:spPr>
          <a:xfrm>
            <a:off x="704088" y="192024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0" name="Text 8"/>
          <p:cNvSpPr/>
          <p:nvPr/>
        </p:nvSpPr>
        <p:spPr>
          <a:xfrm>
            <a:off x="932688" y="192024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So khớp chuỗi loại nhầm </a:t>
            </a:r>
            <a:pPr algn="l" indent="0" marL="0">
              <a:lnSpc>
                <a:spcPct val="130000"/>
              </a:lnSpc>
              <a:buNone/>
            </a:pPr>
            <a:r>
              <a:rPr lang="en-US" sz="1300" b="1" dirty="0">
                <a:solidFill>
                  <a:srgbClr val="B22222"/>
                </a:solidFill>
                <a:latin typeface="Cambria" pitchFamily="34" charset="0"/>
                <a:ea typeface="Cambria" pitchFamily="34" charset="-122"/>
                <a:cs typeface="Cambria" pitchFamily="34" charset="-120"/>
              </a:rPr>
              <a:t>97,5%</a:t>
            </a:r>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 số câu diễn đạt khác</a:t>
            </a:r>
            <a:endParaRPr lang="en-US" sz="1300" dirty="0"/>
          </a:p>
        </p:txBody>
      </p:sp>
      <p:sp>
        <p:nvSpPr>
          <p:cNvPr id="11" name="Text 9"/>
          <p:cNvSpPr/>
          <p:nvPr/>
        </p:nvSpPr>
        <p:spPr>
          <a:xfrm>
            <a:off x="704088" y="269748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2" name="Text 10"/>
          <p:cNvSpPr/>
          <p:nvPr/>
        </p:nvSpPr>
        <p:spPr>
          <a:xfrm>
            <a:off x="932688" y="269748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So vector ngữ nghĩa: AUC </a:t>
            </a:r>
            <a:pPr algn="l" indent="0" marL="0">
              <a:lnSpc>
                <a:spcPct val="130000"/>
              </a:lnSpc>
              <a:buNone/>
            </a:pPr>
            <a:r>
              <a:rPr lang="en-US" sz="1300" b="1" dirty="0">
                <a:solidFill>
                  <a:srgbClr val="B22222"/>
                </a:solidFill>
                <a:latin typeface="Cambria" pitchFamily="34" charset="0"/>
                <a:ea typeface="Cambria" pitchFamily="34" charset="-122"/>
                <a:cs typeface="Cambria" pitchFamily="34" charset="-120"/>
              </a:rPr>
              <a:t>0,336</a:t>
            </a:r>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 kém đoán ngẫu nhiên</a:t>
            </a:r>
            <a:endParaRPr lang="en-US" sz="1300" dirty="0"/>
          </a:p>
        </p:txBody>
      </p:sp>
      <p:sp>
        <p:nvSpPr>
          <p:cNvPr id="13" name="Text 11"/>
          <p:cNvSpPr/>
          <p:nvPr/>
        </p:nvSpPr>
        <p:spPr>
          <a:xfrm>
            <a:off x="704088" y="347472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4" name="Text 12"/>
          <p:cNvSpPr/>
          <p:nvPr/>
        </p:nvSpPr>
        <p:spPr>
          <a:xfrm>
            <a:off x="932688" y="347472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inbox / outbox được 0,76, còn search / magnifying glass chỉ 0,55</a:t>
            </a:r>
            <a:endParaRPr lang="en-US" sz="1300" dirty="0"/>
          </a:p>
        </p:txBody>
      </p:sp>
      <p:sp>
        <p:nvSpPr>
          <p:cNvPr id="15" name="Text 13"/>
          <p:cNvSpPr/>
          <p:nvPr/>
        </p:nvSpPr>
        <p:spPr>
          <a:xfrm>
            <a:off x="4864608" y="1417320"/>
            <a:ext cx="3657600" cy="365760"/>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Đọc tay 40 trường hợp sinh sai.</a:t>
            </a:r>
            <a:endParaRPr lang="en-US" sz="1300" dirty="0"/>
          </a:p>
        </p:txBody>
      </p:sp>
      <p:sp>
        <p:nvSpPr>
          <p:cNvPr id="16" name="Text 14"/>
          <p:cNvSpPr/>
          <p:nvPr/>
        </p:nvSpPr>
        <p:spPr>
          <a:xfrm>
            <a:off x="4864608" y="192024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7" name="Text 15"/>
          <p:cNvSpPr/>
          <p:nvPr/>
        </p:nvSpPr>
        <p:spPr>
          <a:xfrm>
            <a:off x="5093208" y="192024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Bịa ra nút không có trên màn: </a:t>
            </a:r>
            <a:pPr algn="l" indent="0" marL="0">
              <a:lnSpc>
                <a:spcPct val="130000"/>
              </a:lnSpc>
              <a:buNone/>
            </a:pPr>
            <a:r>
              <a:rPr lang="en-US" sz="1300" b="1" dirty="0">
                <a:solidFill>
                  <a:srgbClr val="006666"/>
                </a:solidFill>
                <a:latin typeface="Cambria" pitchFamily="34" charset="0"/>
                <a:ea typeface="Cambria" pitchFamily="34" charset="-122"/>
                <a:cs typeface="Cambria" pitchFamily="34" charset="-120"/>
              </a:rPr>
              <a:t>0 đến 2%</a:t>
            </a:r>
            <a:endParaRPr lang="en-US" sz="1300" dirty="0"/>
          </a:p>
        </p:txBody>
      </p:sp>
      <p:sp>
        <p:nvSpPr>
          <p:cNvPr id="18" name="Text 16"/>
          <p:cNvSpPr/>
          <p:nvPr/>
        </p:nvSpPr>
        <p:spPr>
          <a:xfrm>
            <a:off x="4864608" y="269748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9" name="Text 17"/>
          <p:cNvSpPr/>
          <p:nvPr/>
        </p:nvSpPr>
        <p:spPr>
          <a:xfrm>
            <a:off x="5093208" y="269748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Phần lớn là </a:t>
            </a:r>
            <a:pPr algn="l" indent="0" marL="0">
              <a:lnSpc>
                <a:spcPct val="130000"/>
              </a:lnSpc>
              <a:buNone/>
            </a:pPr>
            <a:r>
              <a:rPr lang="en-US" sz="1300" b="1" dirty="0">
                <a:solidFill>
                  <a:srgbClr val="B22222"/>
                </a:solidFill>
                <a:latin typeface="Cambria" pitchFamily="34" charset="0"/>
                <a:ea typeface="Cambria" pitchFamily="34" charset="-122"/>
                <a:cs typeface="Cambria" pitchFamily="34" charset="-120"/>
              </a:rPr>
              <a:t>câu mơ hồ</a:t>
            </a:r>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 “biểu tượng tìm kiếm” khi màn hình có hai biểu tượng như vậy</a:t>
            </a:r>
            <a:endParaRPr lang="en-US" sz="1300" dirty="0"/>
          </a:p>
        </p:txBody>
      </p:sp>
      <p:sp>
        <p:nvSpPr>
          <p:cNvPr id="20" name="Text 18"/>
          <p:cNvSpPr/>
          <p:nvPr/>
        </p:nvSpPr>
        <p:spPr>
          <a:xfrm>
            <a:off x="4864608" y="347472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1" name="Text 19"/>
          <p:cNvSpPr/>
          <p:nvPr/>
        </p:nvSpPr>
        <p:spPr>
          <a:xfrm>
            <a:off x="5093208" y="3474720"/>
            <a:ext cx="342900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Câu không sai sự thật, nhưng người đọc vẫn không biết chạm đâu</a:t>
            </a:r>
            <a:endParaRPr lang="en-US" sz="1300" dirty="0"/>
          </a:p>
        </p:txBody>
      </p:sp>
      <p:sp>
        <p:nvSpPr>
          <p:cNvPr id="22" name="Shape 20"/>
          <p:cNvSpPr/>
          <p:nvPr/>
        </p:nvSpPr>
        <p:spPr>
          <a:xfrm>
            <a:off x="502920" y="466344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23" name="Text 21"/>
          <p:cNvSpPr/>
          <p:nvPr/>
        </p:nvSpPr>
        <p:spPr>
          <a:xfrm>
            <a:off x="731520" y="4663440"/>
            <a:ext cx="7680960" cy="1005840"/>
          </a:xfrm>
          <a:prstGeom prst="rect">
            <a:avLst/>
          </a:prstGeom>
          <a:noFill/>
          <a:ln/>
        </p:spPr>
        <p:txBody>
          <a:bodyPr wrap="square" lIns="0" tIns="0" rIns="0" bIns="0" rtlCol="0" anchor="ctr"/>
          <a:lstStyle/>
          <a:p>
            <a:pPr algn="l" indent="0" marL="0">
              <a:buNone/>
            </a:pPr>
            <a:r>
              <a:rPr lang="en-US" sz="1500" b="1" dirty="0">
                <a:solidFill>
                  <a:srgbClr val="B22222"/>
                </a:solidFill>
                <a:latin typeface="Cambria" pitchFamily="34" charset="0"/>
                <a:ea typeface="Cambria" pitchFamily="34" charset="-122"/>
                <a:cs typeface="Cambria" pitchFamily="34" charset="-120"/>
              </a:rPr>
              <a:t>Chỗ đáng sửa là tính phân biệt của câu, </a:t>
            </a:r>
            <a:pPr algn="l" indent="0" marL="0">
              <a:buNone/>
            </a:pPr>
            <a:r>
              <a:rPr lang="en-US" sz="1500" dirty="0">
                <a:solidFill>
                  <a:srgbClr val="1A1A1A"/>
                </a:solidFill>
                <a:latin typeface="Cambria" pitchFamily="34" charset="0"/>
                <a:ea typeface="Cambria" pitchFamily="34" charset="-122"/>
                <a:cs typeface="Cambria" pitchFamily="34" charset="-120"/>
              </a:rPr>
              <a:t>không phải việc chống bịa đặt.</a:t>
            </a:r>
            <a:endParaRPr lang="en-US" sz="150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Công trình liên quan</a:t>
            </a:r>
            <a:endParaRPr lang="en-US" sz="1900" dirty="0"/>
          </a:p>
        </p:txBody>
      </p:sp>
      <p:sp>
        <p:nvSpPr>
          <p:cNvPr id="4" name="Shape 2"/>
          <p:cNvSpPr/>
          <p:nvPr/>
        </p:nvSpPr>
        <p:spPr>
          <a:xfrm>
            <a:off x="502920" y="914400"/>
            <a:ext cx="8138160" cy="411480"/>
          </a:xfrm>
          <a:prstGeom prst="rect">
            <a:avLst/>
          </a:prstGeom>
          <a:solidFill>
            <a:srgbClr val="322164"/>
          </a:solidFill>
          <a:ln/>
        </p:spPr>
      </p:sp>
      <p:sp>
        <p:nvSpPr>
          <p:cNvPr id="5" name="Text 3"/>
          <p:cNvSpPr/>
          <p:nvPr/>
        </p:nvSpPr>
        <p:spPr>
          <a:xfrm>
            <a:off x="502920" y="914400"/>
            <a:ext cx="265176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Công trình</a:t>
            </a:r>
            <a:endParaRPr lang="en-US" sz="1300" dirty="0"/>
          </a:p>
        </p:txBody>
      </p:sp>
      <p:sp>
        <p:nvSpPr>
          <p:cNvPr id="6" name="Text 4"/>
          <p:cNvSpPr/>
          <p:nvPr/>
        </p:nvSpPr>
        <p:spPr>
          <a:xfrm>
            <a:off x="3154680" y="914400"/>
            <a:ext cx="274320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Họ làm gì</a:t>
            </a:r>
            <a:endParaRPr lang="en-US" sz="1300" dirty="0"/>
          </a:p>
        </p:txBody>
      </p:sp>
      <p:sp>
        <p:nvSpPr>
          <p:cNvPr id="7" name="Text 5"/>
          <p:cNvSpPr/>
          <p:nvPr/>
        </p:nvSpPr>
        <p:spPr>
          <a:xfrm>
            <a:off x="5897880" y="914400"/>
            <a:ext cx="274320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Luận văn khác đi</a:t>
            </a:r>
            <a:endParaRPr lang="en-US" sz="1300" dirty="0"/>
          </a:p>
        </p:txBody>
      </p:sp>
      <p:sp>
        <p:nvSpPr>
          <p:cNvPr id="8" name="Text 6"/>
          <p:cNvSpPr/>
          <p:nvPr/>
        </p:nvSpPr>
        <p:spPr>
          <a:xfrm>
            <a:off x="502920" y="1325880"/>
            <a:ext cx="265176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SeeClick, OS-Atlas,</a:t>
            </a:r>
            <a:endParaRPr lang="en-US" sz="1250" dirty="0"/>
          </a:p>
          <a:p>
            <a:pPr algn="l" indent="0" marL="0">
              <a:buNone/>
            </a:pPr>
            <a:r>
              <a:rPr lang="en-US" sz="1250" dirty="0">
                <a:solidFill>
                  <a:srgbClr val="1A1A1A"/>
                </a:solidFill>
                <a:latin typeface="Cambria" pitchFamily="34" charset="0"/>
                <a:ea typeface="Cambria" pitchFamily="34" charset="-122"/>
                <a:cs typeface="Cambria" pitchFamily="34" charset="-120"/>
              </a:rPr>
              <a:t>Aguvis</a:t>
            </a:r>
            <a:endParaRPr lang="en-US" sz="1250" dirty="0"/>
          </a:p>
        </p:txBody>
      </p:sp>
      <p:sp>
        <p:nvSpPr>
          <p:cNvPr id="9" name="Text 7"/>
          <p:cNvSpPr/>
          <p:nvPr/>
        </p:nvSpPr>
        <p:spPr>
          <a:xfrm>
            <a:off x="3154680" y="132588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Sinh toạ độ cho máy tự bấm</a:t>
            </a:r>
            <a:endParaRPr lang="en-US" sz="1250" dirty="0"/>
          </a:p>
        </p:txBody>
      </p:sp>
      <p:sp>
        <p:nvSpPr>
          <p:cNvPr id="10" name="Text 8"/>
          <p:cNvSpPr/>
          <p:nvPr/>
        </p:nvSpPr>
        <p:spPr>
          <a:xfrm>
            <a:off x="5897880" y="132588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là sản phẩm cuối, và là thứ đem chấm</a:t>
            </a:r>
            <a:endParaRPr lang="en-US" sz="1250" dirty="0"/>
          </a:p>
        </p:txBody>
      </p:sp>
      <p:sp>
        <p:nvSpPr>
          <p:cNvPr id="11" name="Shape 9"/>
          <p:cNvSpPr/>
          <p:nvPr/>
        </p:nvSpPr>
        <p:spPr>
          <a:xfrm>
            <a:off x="502920" y="2103120"/>
            <a:ext cx="8138160" cy="0"/>
          </a:xfrm>
          <a:prstGeom prst="line">
            <a:avLst/>
          </a:prstGeom>
          <a:noFill/>
          <a:ln w="12700">
            <a:solidFill>
              <a:srgbClr val="9A94AE"/>
            </a:solidFill>
            <a:prstDash val="solid"/>
          </a:ln>
        </p:spPr>
      </p:sp>
      <p:sp>
        <p:nvSpPr>
          <p:cNvPr id="12" name="Text 10"/>
          <p:cNvSpPr/>
          <p:nvPr/>
        </p:nvSpPr>
        <p:spPr>
          <a:xfrm>
            <a:off x="502920" y="2103120"/>
            <a:ext cx="265176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AndroidControl</a:t>
            </a:r>
            <a:endParaRPr lang="en-US" sz="1250" dirty="0"/>
          </a:p>
          <a:p>
            <a:pPr algn="l" indent="0" marL="0">
              <a:buNone/>
            </a:pPr>
            <a:r>
              <a:rPr lang="en-US" sz="1250" dirty="0">
                <a:solidFill>
                  <a:srgbClr val="1A1A1A"/>
                </a:solidFill>
                <a:latin typeface="Cambria" pitchFamily="34" charset="0"/>
                <a:ea typeface="Cambria" pitchFamily="34" charset="-122"/>
                <a:cs typeface="Cambria" pitchFamily="34" charset="-120"/>
              </a:rPr>
              <a:t>NeurIPS 2024</a:t>
            </a:r>
            <a:endParaRPr lang="en-US" sz="1250" dirty="0"/>
          </a:p>
        </p:txBody>
      </p:sp>
      <p:sp>
        <p:nvSpPr>
          <p:cNvPr id="13" name="Text 11"/>
          <p:cNvSpPr/>
          <p:nvPr/>
        </p:nvSpPr>
        <p:spPr>
          <a:xfrm>
            <a:off x="3154680" y="210312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chuẩn là đầu vào</a:t>
            </a:r>
            <a:endParaRPr lang="en-US" sz="1250" dirty="0"/>
          </a:p>
        </p:txBody>
      </p:sp>
      <p:sp>
        <p:nvSpPr>
          <p:cNvPr id="14" name="Text 12"/>
          <p:cNvSpPr/>
          <p:nvPr/>
        </p:nvSpPr>
        <p:spPr>
          <a:xfrm>
            <a:off x="5897880" y="210312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Dùng chính câu đó làm đầu ra mong đợi</a:t>
            </a:r>
            <a:endParaRPr lang="en-US" sz="1250" dirty="0"/>
          </a:p>
        </p:txBody>
      </p:sp>
      <p:sp>
        <p:nvSpPr>
          <p:cNvPr id="15" name="Shape 13"/>
          <p:cNvSpPr/>
          <p:nvPr/>
        </p:nvSpPr>
        <p:spPr>
          <a:xfrm>
            <a:off x="502920" y="2880360"/>
            <a:ext cx="8138160" cy="0"/>
          </a:xfrm>
          <a:prstGeom prst="line">
            <a:avLst/>
          </a:prstGeom>
          <a:noFill/>
          <a:ln w="12700">
            <a:solidFill>
              <a:srgbClr val="9A94AE"/>
            </a:solidFill>
            <a:prstDash val="solid"/>
          </a:ln>
        </p:spPr>
      </p:sp>
      <p:sp>
        <p:nvSpPr>
          <p:cNvPr id="16" name="Text 14"/>
          <p:cNvSpPr/>
          <p:nvPr/>
        </p:nvSpPr>
        <p:spPr>
          <a:xfrm>
            <a:off x="502920" y="2880360"/>
            <a:ext cx="265176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Sinh biểu thức quy chiếu</a:t>
            </a:r>
            <a:endParaRPr lang="en-US" sz="1250" dirty="0"/>
          </a:p>
          <a:p>
            <a:pPr algn="l" indent="0" marL="0">
              <a:buNone/>
            </a:pPr>
            <a:r>
              <a:rPr lang="en-US" sz="1250" dirty="0">
                <a:solidFill>
                  <a:srgbClr val="1A1A1A"/>
                </a:solidFill>
                <a:latin typeface="Cambria" pitchFamily="34" charset="0"/>
                <a:ea typeface="Cambria" pitchFamily="34" charset="-122"/>
                <a:cs typeface="Cambria" pitchFamily="34" charset="-120"/>
              </a:rPr>
              <a:t>Mao 2016 · Yu 2017</a:t>
            </a:r>
            <a:endParaRPr lang="en-US" sz="1250" dirty="0"/>
          </a:p>
        </p:txBody>
      </p:sp>
      <p:sp>
        <p:nvSpPr>
          <p:cNvPr id="17" name="Text 15"/>
          <p:cNvSpPr/>
          <p:nvPr/>
        </p:nvSpPr>
        <p:spPr>
          <a:xfrm>
            <a:off x="3154680" y="288036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phải đủ để bên kia trỏ đúng</a:t>
            </a:r>
            <a:endParaRPr lang="en-US" sz="1250" dirty="0"/>
          </a:p>
        </p:txBody>
      </p:sp>
      <p:sp>
        <p:nvSpPr>
          <p:cNvPr id="18" name="Text 16"/>
          <p:cNvSpPr/>
          <p:nvPr/>
        </p:nvSpPr>
        <p:spPr>
          <a:xfrm>
            <a:off x="5897880" y="288036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Đặt yêu cầu đó vào miền giao diện</a:t>
            </a:r>
            <a:endParaRPr lang="en-US" sz="1250" dirty="0"/>
          </a:p>
        </p:txBody>
      </p:sp>
      <p:sp>
        <p:nvSpPr>
          <p:cNvPr id="19" name="Shape 17"/>
          <p:cNvSpPr/>
          <p:nvPr/>
        </p:nvSpPr>
        <p:spPr>
          <a:xfrm>
            <a:off x="502920" y="3657600"/>
            <a:ext cx="8138160" cy="0"/>
          </a:xfrm>
          <a:prstGeom prst="line">
            <a:avLst/>
          </a:prstGeom>
          <a:noFill/>
          <a:ln w="12700">
            <a:solidFill>
              <a:srgbClr val="9A94AE"/>
            </a:solidFill>
            <a:prstDash val="solid"/>
          </a:ln>
        </p:spPr>
      </p:sp>
      <p:sp>
        <p:nvSpPr>
          <p:cNvPr id="20" name="Text 18"/>
          <p:cNvSpPr/>
          <p:nvPr/>
        </p:nvSpPr>
        <p:spPr>
          <a:xfrm>
            <a:off x="502920" y="3657600"/>
            <a:ext cx="265176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Widget Captioning</a:t>
            </a:r>
            <a:endParaRPr lang="en-US" sz="1250" dirty="0"/>
          </a:p>
          <a:p>
            <a:pPr algn="l" indent="0" marL="0">
              <a:buNone/>
            </a:pPr>
            <a:r>
              <a:rPr lang="en-US" sz="1250" dirty="0">
                <a:solidFill>
                  <a:srgbClr val="1A1A1A"/>
                </a:solidFill>
                <a:latin typeface="Cambria" pitchFamily="34" charset="0"/>
                <a:ea typeface="Cambria" pitchFamily="34" charset="-122"/>
                <a:cs typeface="Cambria" pitchFamily="34" charset="-120"/>
              </a:rPr>
              <a:t>EMNLP 2020</a:t>
            </a:r>
            <a:endParaRPr lang="en-US" sz="1250" dirty="0"/>
          </a:p>
        </p:txBody>
      </p:sp>
      <p:sp>
        <p:nvSpPr>
          <p:cNvPr id="21" name="Text 19"/>
          <p:cNvSpPr/>
          <p:nvPr/>
        </p:nvSpPr>
        <p:spPr>
          <a:xfrm>
            <a:off x="3154680" y="365760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Sinh mô tả, entropy chéo thuần</a:t>
            </a:r>
            <a:endParaRPr lang="en-US" sz="1250" dirty="0"/>
          </a:p>
        </p:txBody>
      </p:sp>
      <p:sp>
        <p:nvSpPr>
          <p:cNvPr id="22" name="Text 20"/>
          <p:cNvSpPr/>
          <p:nvPr/>
        </p:nvSpPr>
        <p:spPr>
          <a:xfrm>
            <a:off x="5897880" y="3657600"/>
            <a:ext cx="2743200" cy="7772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Tính phân biệt nằm trong mục tiêu huấn luyện</a:t>
            </a:r>
            <a:endParaRPr lang="en-US" sz="1250" dirty="0"/>
          </a:p>
        </p:txBody>
      </p:sp>
      <p:sp>
        <p:nvSpPr>
          <p:cNvPr id="23" name="Shape 21"/>
          <p:cNvSpPr/>
          <p:nvPr/>
        </p:nvSpPr>
        <p:spPr>
          <a:xfrm>
            <a:off x="502920" y="4434840"/>
            <a:ext cx="8138160" cy="0"/>
          </a:xfrm>
          <a:prstGeom prst="line">
            <a:avLst/>
          </a:prstGeom>
          <a:noFill/>
          <a:ln w="12700">
            <a:solidFill>
              <a:srgbClr val="9A94AE"/>
            </a:solidFill>
            <a:prstDash val="solid"/>
          </a:ln>
        </p:spPr>
      </p:sp>
      <p:sp>
        <p:nvSpPr>
          <p:cNvPr id="24" name="Text 22"/>
          <p:cNvSpPr/>
          <p:nvPr/>
        </p:nvSpPr>
        <p:spPr>
          <a:xfrm>
            <a:off x="502920" y="4434840"/>
            <a:ext cx="2651760" cy="8229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Zhao và cộng sự</a:t>
            </a:r>
            <a:endParaRPr lang="en-US" sz="1250" dirty="0"/>
          </a:p>
          <a:p>
            <a:pPr algn="l" indent="0" marL="0">
              <a:buNone/>
            </a:pPr>
            <a:r>
              <a:rPr lang="en-US" sz="1250" dirty="0">
                <a:solidFill>
                  <a:srgbClr val="1A1A1A"/>
                </a:solidFill>
                <a:latin typeface="Cambria" pitchFamily="34" charset="0"/>
                <a:ea typeface="Cambria" pitchFamily="34" charset="-122"/>
                <a:cs typeface="Cambria" pitchFamily="34" charset="-120"/>
              </a:rPr>
              <a:t>EACL 2021</a:t>
            </a:r>
            <a:endParaRPr lang="en-US" sz="1250" dirty="0"/>
          </a:p>
        </p:txBody>
      </p:sp>
      <p:sp>
        <p:nvSpPr>
          <p:cNvPr id="25" name="Text 23"/>
          <p:cNvSpPr/>
          <p:nvPr/>
        </p:nvSpPr>
        <p:spPr>
          <a:xfrm>
            <a:off x="3154680" y="4434840"/>
            <a:ext cx="2743200" cy="8229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BLEU, ROUGE không đo được hướng dẫn có định vị</a:t>
            </a:r>
            <a:endParaRPr lang="en-US" sz="1250" dirty="0"/>
          </a:p>
        </p:txBody>
      </p:sp>
      <p:sp>
        <p:nvSpPr>
          <p:cNvPr id="26" name="Text 24"/>
          <p:cNvSpPr/>
          <p:nvPr/>
        </p:nvSpPr>
        <p:spPr>
          <a:xfrm>
            <a:off x="5897880" y="4434840"/>
            <a:ext cx="2743200" cy="8229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Căn cứ để bỏ nhóm thước đồng thuận</a:t>
            </a:r>
            <a:endParaRPr lang="en-US" sz="1250" dirty="0"/>
          </a:p>
        </p:txBody>
      </p:sp>
      <p:sp>
        <p:nvSpPr>
          <p:cNvPr id="27" name="Shape 25"/>
          <p:cNvSpPr/>
          <p:nvPr/>
        </p:nvSpPr>
        <p:spPr>
          <a:xfrm>
            <a:off x="502920" y="5074920"/>
            <a:ext cx="8138160" cy="594360"/>
          </a:xfrm>
          <a:prstGeom prst="roundRect">
            <a:avLst>
              <a:gd name="adj" fmla="val 9231"/>
            </a:avLst>
          </a:prstGeom>
          <a:solidFill>
            <a:srgbClr val="E9E8EC"/>
          </a:solidFill>
          <a:ln/>
          <a:effectLst>
            <a:outerShdw sx="100000" sy="100000" kx="0" ky="0" algn="bl" rotWithShape="0" blurRad="63500" dist="31750" dir="2700000">
              <a:srgbClr val="8C8C99">
                <a:alpha val="45000"/>
              </a:srgbClr>
            </a:outerShdw>
          </a:effectLst>
        </p:spPr>
      </p:sp>
      <p:sp>
        <p:nvSpPr>
          <p:cNvPr id="28" name="Text 26"/>
          <p:cNvSpPr/>
          <p:nvPr/>
        </p:nvSpPr>
        <p:spPr>
          <a:xfrm>
            <a:off x="731520" y="5074920"/>
            <a:ext cx="7680960" cy="594360"/>
          </a:xfrm>
          <a:prstGeom prst="rect">
            <a:avLst/>
          </a:prstGeom>
          <a:noFill/>
          <a:ln/>
        </p:spPr>
        <p:txBody>
          <a:bodyPr wrap="square" lIns="0" tIns="0" rIns="0" bIns="0" rtlCol="0" anchor="ctr"/>
          <a:lstStyle/>
          <a:p>
            <a:pPr algn="l" indent="0" marL="0">
              <a:buNone/>
            </a:pPr>
            <a:r>
              <a:rPr lang="en-US" sz="1300" b="1" dirty="0">
                <a:solidFill>
                  <a:srgbClr val="B22222"/>
                </a:solidFill>
                <a:latin typeface="Cambria" pitchFamily="34" charset="0"/>
                <a:ea typeface="Cambria" pitchFamily="34" charset="-122"/>
                <a:cs typeface="Cambria" pitchFamily="34" charset="-120"/>
              </a:rPr>
              <a:t>Luận văn không dùng chữ “đầu tiên”: ý này đã có từ năm 2016.</a:t>
            </a:r>
            <a:endParaRPr lang="en-US" sz="1300" dirty="0"/>
          </a:p>
        </p:txBody>
      </p:sp>
      <p:sp>
        <p:nvSpPr>
          <p:cNvPr id="30" name="Shape 27"/>
          <p:cNvSpPr/>
          <p:nvPr/>
        </p:nvSpPr>
        <p:spPr>
          <a:xfrm>
            <a:off x="0" y="6620256"/>
            <a:ext cx="2743200" cy="237744"/>
          </a:xfrm>
          <a:prstGeom prst="rect">
            <a:avLst/>
          </a:prstGeom>
          <a:solidFill>
            <a:srgbClr val="191132"/>
          </a:solidFill>
          <a:ln/>
        </p:spPr>
      </p:sp>
      <p:sp>
        <p:nvSpPr>
          <p:cNvPr id="31" name="Shape 28"/>
          <p:cNvSpPr/>
          <p:nvPr/>
        </p:nvSpPr>
        <p:spPr>
          <a:xfrm>
            <a:off x="2743200" y="6620256"/>
            <a:ext cx="338328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5"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 · Ba đóng góp và trạng thái thật của từng đóng góp</a:t>
            </a:r>
            <a:endParaRPr lang="en-US" sz="1900" dirty="0"/>
          </a:p>
        </p:txBody>
      </p:sp>
      <p:sp>
        <p:nvSpPr>
          <p:cNvPr id="4" name="Shape 2"/>
          <p:cNvSpPr/>
          <p:nvPr/>
        </p:nvSpPr>
        <p:spPr>
          <a:xfrm>
            <a:off x="502920" y="960120"/>
            <a:ext cx="8138160" cy="1280160"/>
          </a:xfrm>
          <a:prstGeom prst="roundRect">
            <a:avLst>
              <a:gd name="adj" fmla="val 4286"/>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1097280"/>
            <a:ext cx="457200" cy="502920"/>
          </a:xfrm>
          <a:prstGeom prst="rect">
            <a:avLst/>
          </a:prstGeom>
          <a:noFill/>
          <a:ln/>
        </p:spPr>
        <p:txBody>
          <a:bodyPr wrap="square" lIns="0" tIns="0" rIns="0" bIns="0" rtlCol="0" anchor="t"/>
          <a:lstStyle/>
          <a:p>
            <a:pPr algn="ctr" indent="0" marL="0">
              <a:buNone/>
            </a:pPr>
            <a:r>
              <a:rPr lang="en-US" sz="2600" b="1" dirty="0">
                <a:solidFill>
                  <a:srgbClr val="322164"/>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161288" y="1124712"/>
            <a:ext cx="5029200" cy="411480"/>
          </a:xfrm>
          <a:prstGeom prst="rect">
            <a:avLst/>
          </a:prstGeom>
          <a:noFill/>
          <a:ln/>
        </p:spPr>
        <p:txBody>
          <a:bodyPr wrap="square" lIns="0" tIns="0" rIns="0" bIns="0" rtlCol="0" anchor="t"/>
          <a:lstStyle/>
          <a:p>
            <a:pPr algn="l" indent="0" marL="0">
              <a:lnSpc>
                <a:spcPct val="115000"/>
              </a:lnSpc>
              <a:buNone/>
            </a:pPr>
            <a:r>
              <a:rPr lang="en-US" sz="1500" b="1" dirty="0">
                <a:solidFill>
                  <a:srgbClr val="322164"/>
                </a:solidFill>
                <a:latin typeface="Cambria" pitchFamily="34" charset="0"/>
                <a:ea typeface="Cambria" pitchFamily="34" charset="-122"/>
                <a:cs typeface="Cambria" pitchFamily="34" charset="-120"/>
              </a:rPr>
              <a:t>Thước đo executability</a:t>
            </a:r>
            <a:endParaRPr lang="en-US" sz="1500" dirty="0"/>
          </a:p>
        </p:txBody>
      </p:sp>
      <p:sp>
        <p:nvSpPr>
          <p:cNvPr id="7" name="Text 5"/>
          <p:cNvSpPr/>
          <p:nvPr/>
        </p:nvSpPr>
        <p:spPr>
          <a:xfrm>
            <a:off x="6446520" y="1124712"/>
            <a:ext cx="2011680" cy="320040"/>
          </a:xfrm>
          <a:prstGeom prst="rect">
            <a:avLst/>
          </a:prstGeom>
          <a:noFill/>
          <a:ln/>
        </p:spPr>
        <p:txBody>
          <a:bodyPr wrap="square" lIns="0" tIns="0" rIns="0" bIns="0" rtlCol="0" anchor="t"/>
          <a:lstStyle/>
          <a:p>
            <a:pPr algn="r" indent="0" marL="0">
              <a:buNone/>
            </a:pPr>
            <a:r>
              <a:rPr lang="en-US" sz="1250" b="1" dirty="0">
                <a:solidFill>
                  <a:srgbClr val="006666"/>
                </a:solidFill>
                <a:latin typeface="Cambria" pitchFamily="34" charset="0"/>
                <a:ea typeface="Cambria" pitchFamily="34" charset="-122"/>
                <a:cs typeface="Cambria" pitchFamily="34" charset="-120"/>
              </a:rPr>
              <a:t>HOÀN TẤT</a:t>
            </a:r>
            <a:endParaRPr lang="en-US" sz="1250" dirty="0"/>
          </a:p>
        </p:txBody>
      </p:sp>
      <p:sp>
        <p:nvSpPr>
          <p:cNvPr id="8" name="Text 6"/>
          <p:cNvSpPr/>
          <p:nvPr/>
        </p:nvSpPr>
        <p:spPr>
          <a:xfrm>
            <a:off x="1161288" y="1673352"/>
            <a:ext cx="7269480" cy="45720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Kiểm chứng bằng sáu khối phép đo.</a:t>
            </a:r>
            <a:endParaRPr lang="en-US" sz="1350" dirty="0"/>
          </a:p>
        </p:txBody>
      </p:sp>
      <p:sp>
        <p:nvSpPr>
          <p:cNvPr id="9" name="Shape 7"/>
          <p:cNvSpPr/>
          <p:nvPr/>
        </p:nvSpPr>
        <p:spPr>
          <a:xfrm>
            <a:off x="502920" y="2468880"/>
            <a:ext cx="8138160" cy="1280160"/>
          </a:xfrm>
          <a:prstGeom prst="roundRect">
            <a:avLst>
              <a:gd name="adj" fmla="val 4286"/>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640080" y="2606040"/>
            <a:ext cx="457200" cy="502920"/>
          </a:xfrm>
          <a:prstGeom prst="rect">
            <a:avLst/>
          </a:prstGeom>
          <a:noFill/>
          <a:ln/>
        </p:spPr>
        <p:txBody>
          <a:bodyPr wrap="square" lIns="0" tIns="0" rIns="0" bIns="0" rtlCol="0" anchor="t"/>
          <a:lstStyle/>
          <a:p>
            <a:pPr algn="ctr" indent="0" marL="0">
              <a:buNone/>
            </a:pPr>
            <a:r>
              <a:rPr lang="en-US" sz="2600" b="1" dirty="0">
                <a:solidFill>
                  <a:srgbClr val="322164"/>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1161288" y="2633472"/>
            <a:ext cx="5029200" cy="411480"/>
          </a:xfrm>
          <a:prstGeom prst="rect">
            <a:avLst/>
          </a:prstGeom>
          <a:noFill/>
          <a:ln/>
        </p:spPr>
        <p:txBody>
          <a:bodyPr wrap="square" lIns="0" tIns="0" rIns="0" bIns="0" rtlCol="0" anchor="t"/>
          <a:lstStyle/>
          <a:p>
            <a:pPr algn="l" indent="0" marL="0">
              <a:lnSpc>
                <a:spcPct val="115000"/>
              </a:lnSpc>
              <a:buNone/>
            </a:pPr>
            <a:r>
              <a:rPr lang="en-US" sz="1500" b="1" dirty="0">
                <a:solidFill>
                  <a:srgbClr val="322164"/>
                </a:solidFill>
                <a:latin typeface="Cambria" pitchFamily="34" charset="0"/>
                <a:ea typeface="Cambria" pitchFamily="34" charset="-122"/>
                <a:cs typeface="Cambria" pitchFamily="34" charset="-120"/>
              </a:rPr>
              <a:t>Đường ống dữ liệu và kết quả thực nghiệm có nhánh so sánh</a:t>
            </a:r>
            <a:endParaRPr lang="en-US" sz="1500" dirty="0"/>
          </a:p>
        </p:txBody>
      </p:sp>
      <p:sp>
        <p:nvSpPr>
          <p:cNvPr id="12" name="Text 10"/>
          <p:cNvSpPr/>
          <p:nvPr/>
        </p:nvSpPr>
        <p:spPr>
          <a:xfrm>
            <a:off x="6446520" y="2633472"/>
            <a:ext cx="2011680" cy="320040"/>
          </a:xfrm>
          <a:prstGeom prst="rect">
            <a:avLst/>
          </a:prstGeom>
          <a:noFill/>
          <a:ln/>
        </p:spPr>
        <p:txBody>
          <a:bodyPr wrap="square" lIns="0" tIns="0" rIns="0" bIns="0" rtlCol="0" anchor="t"/>
          <a:lstStyle/>
          <a:p>
            <a:pPr algn="r" indent="0" marL="0">
              <a:buNone/>
            </a:pPr>
            <a:r>
              <a:rPr lang="en-US" sz="1250" b="1" dirty="0">
                <a:solidFill>
                  <a:srgbClr val="B22222"/>
                </a:solidFill>
                <a:latin typeface="Cambria" pitchFamily="34" charset="0"/>
                <a:ea typeface="Cambria" pitchFamily="34" charset="-122"/>
                <a:cs typeface="Cambria" pitchFamily="34" charset="-120"/>
              </a:rPr>
              <a:t>MỘT HẠT GIỐNG</a:t>
            </a:r>
            <a:endParaRPr lang="en-US" sz="1250" dirty="0"/>
          </a:p>
        </p:txBody>
      </p:sp>
      <p:sp>
        <p:nvSpPr>
          <p:cNvPr id="13" name="Text 11"/>
          <p:cNvSpPr/>
          <p:nvPr/>
        </p:nvSpPr>
        <p:spPr>
          <a:xfrm>
            <a:off x="1161288" y="3182112"/>
            <a:ext cx="7269480" cy="45720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Nhánh xử lý chỉ chạy được một hạt giống vì ngân sách máy.</a:t>
            </a:r>
            <a:endParaRPr lang="en-US" sz="1350" dirty="0"/>
          </a:p>
        </p:txBody>
      </p:sp>
      <p:sp>
        <p:nvSpPr>
          <p:cNvPr id="14" name="Shape 12"/>
          <p:cNvSpPr/>
          <p:nvPr/>
        </p:nvSpPr>
        <p:spPr>
          <a:xfrm>
            <a:off x="502920" y="3977640"/>
            <a:ext cx="8138160" cy="1280160"/>
          </a:xfrm>
          <a:prstGeom prst="roundRect">
            <a:avLst>
              <a:gd name="adj" fmla="val 4286"/>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640080" y="4114800"/>
            <a:ext cx="457200" cy="502920"/>
          </a:xfrm>
          <a:prstGeom prst="rect">
            <a:avLst/>
          </a:prstGeom>
          <a:noFill/>
          <a:ln/>
        </p:spPr>
        <p:txBody>
          <a:bodyPr wrap="square" lIns="0" tIns="0" rIns="0" bIns="0" rtlCol="0" anchor="t"/>
          <a:lstStyle/>
          <a:p>
            <a:pPr algn="ctr" indent="0" marL="0">
              <a:buNone/>
            </a:pPr>
            <a:r>
              <a:rPr lang="en-US" sz="2600" b="1" dirty="0">
                <a:solidFill>
                  <a:srgbClr val="322164"/>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1161288" y="4142232"/>
            <a:ext cx="5029200" cy="411480"/>
          </a:xfrm>
          <a:prstGeom prst="rect">
            <a:avLst/>
          </a:prstGeom>
          <a:noFill/>
          <a:ln/>
        </p:spPr>
        <p:txBody>
          <a:bodyPr wrap="square" lIns="0" tIns="0" rIns="0" bIns="0" rtlCol="0" anchor="t"/>
          <a:lstStyle/>
          <a:p>
            <a:pPr algn="l" indent="0" marL="0">
              <a:lnSpc>
                <a:spcPct val="115000"/>
              </a:lnSpc>
              <a:buNone/>
            </a:pPr>
            <a:r>
              <a:rPr lang="en-US" sz="1500" b="1" dirty="0">
                <a:solidFill>
                  <a:srgbClr val="322164"/>
                </a:solidFill>
                <a:latin typeface="Cambria" pitchFamily="34" charset="0"/>
                <a:ea typeface="Cambria" pitchFamily="34" charset="-122"/>
                <a:cs typeface="Cambria" pitchFamily="34" charset="-120"/>
              </a:rPr>
              <a:t>Phân tích lỗi ở mức từng bước</a:t>
            </a:r>
            <a:endParaRPr lang="en-US" sz="1500" dirty="0"/>
          </a:p>
        </p:txBody>
      </p:sp>
      <p:sp>
        <p:nvSpPr>
          <p:cNvPr id="17" name="Text 15"/>
          <p:cNvSpPr/>
          <p:nvPr/>
        </p:nvSpPr>
        <p:spPr>
          <a:xfrm>
            <a:off x="6446520" y="4142232"/>
            <a:ext cx="2011680" cy="320040"/>
          </a:xfrm>
          <a:prstGeom prst="rect">
            <a:avLst/>
          </a:prstGeom>
          <a:noFill/>
          <a:ln/>
        </p:spPr>
        <p:txBody>
          <a:bodyPr wrap="square" lIns="0" tIns="0" rIns="0" bIns="0" rtlCol="0" anchor="t"/>
          <a:lstStyle/>
          <a:p>
            <a:pPr algn="r" indent="0" marL="0">
              <a:buNone/>
            </a:pPr>
            <a:r>
              <a:rPr lang="en-US" sz="1250" b="1" dirty="0">
                <a:solidFill>
                  <a:srgbClr val="006666"/>
                </a:solidFill>
                <a:latin typeface="Cambria" pitchFamily="34" charset="0"/>
                <a:ea typeface="Cambria" pitchFamily="34" charset="-122"/>
                <a:cs typeface="Cambria" pitchFamily="34" charset="-120"/>
              </a:rPr>
              <a:t>HOÀN TẤT</a:t>
            </a:r>
            <a:endParaRPr lang="en-US" sz="1250" dirty="0"/>
          </a:p>
        </p:txBody>
      </p:sp>
      <p:sp>
        <p:nvSpPr>
          <p:cNvPr id="18" name="Text 16"/>
          <p:cNvSpPr/>
          <p:nvPr/>
        </p:nvSpPr>
        <p:spPr>
          <a:xfrm>
            <a:off x="1161288" y="4690872"/>
            <a:ext cx="7269480" cy="45720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Cơ chế đúng, nhưng bị chặn bởi độ chính xác khai báo. Nhánh ứng viên nối tiếp: điểm nghẽn mới là bỏ cuộc quá mức.</a:t>
            </a:r>
            <a:endParaRPr lang="en-US" sz="1350" dirty="0"/>
          </a:p>
        </p:txBody>
      </p:sp>
      <p:sp>
        <p:nvSpPr>
          <p:cNvPr id="20" name="Shape 17"/>
          <p:cNvSpPr/>
          <p:nvPr/>
        </p:nvSpPr>
        <p:spPr>
          <a:xfrm>
            <a:off x="0" y="6620256"/>
            <a:ext cx="2743200" cy="237744"/>
          </a:xfrm>
          <a:prstGeom prst="rect">
            <a:avLst/>
          </a:prstGeom>
          <a:solidFill>
            <a:srgbClr val="191132"/>
          </a:solidFill>
          <a:ln/>
        </p:spPr>
      </p:sp>
      <p:sp>
        <p:nvSpPr>
          <p:cNvPr id="21" name="Shape 18"/>
          <p:cNvSpPr/>
          <p:nvPr/>
        </p:nvSpPr>
        <p:spPr>
          <a:xfrm>
            <a:off x="2743200" y="6620256"/>
            <a:ext cx="3383280" cy="237744"/>
          </a:xfrm>
          <a:prstGeom prst="rect">
            <a:avLst/>
          </a:prstGeom>
          <a:solidFill>
            <a:srgbClr val="25194B"/>
          </a:solidFill>
          <a:ln/>
        </p:spPr>
      </p:sp>
      <p:sp>
        <p:nvSpPr>
          <p:cNvPr id="22" name="Shape 19"/>
          <p:cNvSpPr/>
          <p:nvPr/>
        </p:nvSpPr>
        <p:spPr>
          <a:xfrm>
            <a:off x="6126480" y="6620256"/>
            <a:ext cx="1737360" cy="237744"/>
          </a:xfrm>
          <a:prstGeom prst="rect">
            <a:avLst/>
          </a:prstGeom>
          <a:solidFill>
            <a:srgbClr val="4F417A"/>
          </a:solidFill>
          <a:ln/>
        </p:spPr>
      </p:sp>
      <p:sp>
        <p:nvSpPr>
          <p:cNvPr id="23" name="Shape 20"/>
          <p:cNvSpPr/>
          <p:nvPr/>
        </p:nvSpPr>
        <p:spPr>
          <a:xfrm>
            <a:off x="7863840" y="6620256"/>
            <a:ext cx="1280160" cy="237744"/>
          </a:xfrm>
          <a:prstGeom prst="rect">
            <a:avLst/>
          </a:prstGeom>
          <a:solidFill>
            <a:srgbClr val="7A7099"/>
          </a:solidFill>
          <a:ln/>
        </p:spPr>
      </p:sp>
      <p:sp>
        <p:nvSpPr>
          <p:cNvPr id="24"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6"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6/29</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Dữ liệu: dựng bằng máy, không thuê người dán nhãn</a:t>
            </a:r>
            <a:endParaRPr lang="en-US" sz="1900" dirty="0"/>
          </a:p>
        </p:txBody>
      </p:sp>
      <p:sp>
        <p:nvSpPr>
          <p:cNvPr id="4" name="Text 2"/>
          <p:cNvSpPr/>
          <p:nvPr/>
        </p:nvSpPr>
        <p:spPr>
          <a:xfrm>
            <a:off x="502920" y="822960"/>
            <a:ext cx="8138160" cy="45720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Ghép hai kho công khai theo khoá (episode_id, step_id): câu chuẩn và cây trợ năng từ kho thứ nhất, ảnh màn hình từ kho thứ hai.</a:t>
            </a:r>
            <a:endParaRPr lang="en-US" sz="1300" dirty="0"/>
          </a:p>
        </p:txBody>
      </p:sp>
      <p:sp>
        <p:nvSpPr>
          <p:cNvPr id="5" name="Shape 3"/>
          <p:cNvSpPr/>
          <p:nvPr/>
        </p:nvSpPr>
        <p:spPr>
          <a:xfrm>
            <a:off x="960120" y="1463040"/>
            <a:ext cx="7863840" cy="384048"/>
          </a:xfrm>
          <a:prstGeom prst="rect">
            <a:avLst/>
          </a:prstGeom>
          <a:solidFill>
            <a:srgbClr val="322164"/>
          </a:solidFill>
          <a:ln/>
        </p:spPr>
      </p:sp>
      <p:sp>
        <p:nvSpPr>
          <p:cNvPr id="6" name="Text 4"/>
          <p:cNvSpPr/>
          <p:nvPr/>
        </p:nvSpPr>
        <p:spPr>
          <a:xfrm>
            <a:off x="960120" y="1463040"/>
            <a:ext cx="2377440" cy="384048"/>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Tập</a:t>
            </a:r>
            <a:endParaRPr lang="en-US" sz="1300" dirty="0"/>
          </a:p>
        </p:txBody>
      </p:sp>
      <p:sp>
        <p:nvSpPr>
          <p:cNvPr id="7" name="Text 5"/>
          <p:cNvSpPr/>
          <p:nvPr/>
        </p:nvSpPr>
        <p:spPr>
          <a:xfrm>
            <a:off x="3337560" y="1463040"/>
            <a:ext cx="2011680" cy="38404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Số bước</a:t>
            </a:r>
            <a:endParaRPr lang="en-US" sz="1300" dirty="0"/>
          </a:p>
        </p:txBody>
      </p:sp>
      <p:sp>
        <p:nvSpPr>
          <p:cNvPr id="8" name="Text 6"/>
          <p:cNvSpPr/>
          <p:nvPr/>
        </p:nvSpPr>
        <p:spPr>
          <a:xfrm>
            <a:off x="5349240" y="1463040"/>
            <a:ext cx="2011680" cy="38404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Bước chạm</a:t>
            </a:r>
            <a:endParaRPr lang="en-US" sz="1300" dirty="0"/>
          </a:p>
        </p:txBody>
      </p:sp>
      <p:sp>
        <p:nvSpPr>
          <p:cNvPr id="9" name="Text 7"/>
          <p:cNvSpPr/>
          <p:nvPr/>
        </p:nvSpPr>
        <p:spPr>
          <a:xfrm>
            <a:off x="7360920" y="1463040"/>
            <a:ext cx="1463040" cy="38404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Tác vụ</a:t>
            </a:r>
            <a:endParaRPr lang="en-US" sz="1300" dirty="0"/>
          </a:p>
        </p:txBody>
      </p:sp>
      <p:sp>
        <p:nvSpPr>
          <p:cNvPr id="10" name="Text 8"/>
          <p:cNvSpPr/>
          <p:nvPr/>
        </p:nvSpPr>
        <p:spPr>
          <a:xfrm>
            <a:off x="960120" y="1847088"/>
            <a:ext cx="2377440" cy="384048"/>
          </a:xfrm>
          <a:prstGeom prst="rect">
            <a:avLst/>
          </a:prstGeom>
          <a:noFill/>
          <a:ln/>
        </p:spPr>
        <p:txBody>
          <a:bodyPr wrap="square" lIns="38100" tIns="38100" rIns="38100" bIns="38100" rtlCol="0" anchor="ctr"/>
          <a:lstStyle/>
          <a:p>
            <a:pPr algn="l" indent="0" marL="0">
              <a:buNone/>
            </a:pPr>
            <a:r>
              <a:rPr lang="en-US" sz="1350" dirty="0">
                <a:solidFill>
                  <a:srgbClr val="1A1A1A"/>
                </a:solidFill>
                <a:latin typeface="Cambria" pitchFamily="34" charset="0"/>
                <a:ea typeface="Cambria" pitchFamily="34" charset="-122"/>
                <a:cs typeface="Cambria" pitchFamily="34" charset="-120"/>
              </a:rPr>
              <a:t>Huấn luyện</a:t>
            </a:r>
            <a:endParaRPr lang="en-US" sz="1350" dirty="0"/>
          </a:p>
        </p:txBody>
      </p:sp>
      <p:sp>
        <p:nvSpPr>
          <p:cNvPr id="11" name="Text 9"/>
          <p:cNvSpPr/>
          <p:nvPr/>
        </p:nvSpPr>
        <p:spPr>
          <a:xfrm>
            <a:off x="3337560" y="1847088"/>
            <a:ext cx="2011680" cy="38404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64.567</a:t>
            </a:r>
            <a:endParaRPr lang="en-US" sz="1350" dirty="0"/>
          </a:p>
        </p:txBody>
      </p:sp>
      <p:sp>
        <p:nvSpPr>
          <p:cNvPr id="12" name="Text 10"/>
          <p:cNvSpPr/>
          <p:nvPr/>
        </p:nvSpPr>
        <p:spPr>
          <a:xfrm>
            <a:off x="5349240" y="1847088"/>
            <a:ext cx="2011680" cy="38404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41.191</a:t>
            </a:r>
            <a:endParaRPr lang="en-US" sz="1350" dirty="0"/>
          </a:p>
        </p:txBody>
      </p:sp>
      <p:sp>
        <p:nvSpPr>
          <p:cNvPr id="13" name="Text 11"/>
          <p:cNvSpPr/>
          <p:nvPr/>
        </p:nvSpPr>
        <p:spPr>
          <a:xfrm>
            <a:off x="7360920" y="1847088"/>
            <a:ext cx="1463040" cy="38404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12.895</a:t>
            </a:r>
            <a:endParaRPr lang="en-US" sz="1350" dirty="0"/>
          </a:p>
        </p:txBody>
      </p:sp>
      <p:sp>
        <p:nvSpPr>
          <p:cNvPr id="14" name="Shape 12"/>
          <p:cNvSpPr/>
          <p:nvPr/>
        </p:nvSpPr>
        <p:spPr>
          <a:xfrm>
            <a:off x="960120" y="2231136"/>
            <a:ext cx="7863840" cy="0"/>
          </a:xfrm>
          <a:prstGeom prst="line">
            <a:avLst/>
          </a:prstGeom>
          <a:noFill/>
          <a:ln w="12700">
            <a:solidFill>
              <a:srgbClr val="9A94AE"/>
            </a:solidFill>
            <a:prstDash val="solid"/>
          </a:ln>
        </p:spPr>
      </p:sp>
      <p:sp>
        <p:nvSpPr>
          <p:cNvPr id="15" name="Text 13"/>
          <p:cNvSpPr/>
          <p:nvPr/>
        </p:nvSpPr>
        <p:spPr>
          <a:xfrm>
            <a:off x="960120" y="2231136"/>
            <a:ext cx="2377440" cy="384048"/>
          </a:xfrm>
          <a:prstGeom prst="rect">
            <a:avLst/>
          </a:prstGeom>
          <a:noFill/>
          <a:ln/>
        </p:spPr>
        <p:txBody>
          <a:bodyPr wrap="square" lIns="38100" tIns="38100" rIns="38100" bIns="38100" rtlCol="0" anchor="ctr"/>
          <a:lstStyle/>
          <a:p>
            <a:pPr algn="l" indent="0" marL="0">
              <a:buNone/>
            </a:pPr>
            <a:r>
              <a:rPr lang="en-US" sz="1350" b="1" dirty="0">
                <a:solidFill>
                  <a:srgbClr val="1A1A1A"/>
                </a:solidFill>
                <a:latin typeface="Cambria" pitchFamily="34" charset="0"/>
                <a:ea typeface="Cambria" pitchFamily="34" charset="-122"/>
                <a:cs typeface="Cambria" pitchFamily="34" charset="-120"/>
              </a:rPr>
              <a:t>Kiểm tra</a:t>
            </a:r>
            <a:endParaRPr lang="en-US" sz="1350" dirty="0"/>
          </a:p>
        </p:txBody>
      </p:sp>
      <p:sp>
        <p:nvSpPr>
          <p:cNvPr id="16" name="Text 14"/>
          <p:cNvSpPr/>
          <p:nvPr/>
        </p:nvSpPr>
        <p:spPr>
          <a:xfrm>
            <a:off x="3337560" y="2231136"/>
            <a:ext cx="2011680" cy="384048"/>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6.958</a:t>
            </a:r>
            <a:endParaRPr lang="en-US" sz="1350" dirty="0"/>
          </a:p>
        </p:txBody>
      </p:sp>
      <p:sp>
        <p:nvSpPr>
          <p:cNvPr id="17" name="Text 15"/>
          <p:cNvSpPr/>
          <p:nvPr/>
        </p:nvSpPr>
        <p:spPr>
          <a:xfrm>
            <a:off x="5349240" y="2231136"/>
            <a:ext cx="2011680" cy="384048"/>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4.463</a:t>
            </a:r>
            <a:endParaRPr lang="en-US" sz="1350" dirty="0"/>
          </a:p>
        </p:txBody>
      </p:sp>
      <p:sp>
        <p:nvSpPr>
          <p:cNvPr id="18" name="Text 16"/>
          <p:cNvSpPr/>
          <p:nvPr/>
        </p:nvSpPr>
        <p:spPr>
          <a:xfrm>
            <a:off x="7360920" y="2231136"/>
            <a:ext cx="1463040" cy="384048"/>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1.432</a:t>
            </a:r>
            <a:endParaRPr lang="en-US" sz="1350" dirty="0"/>
          </a:p>
        </p:txBody>
      </p:sp>
      <p:sp>
        <p:nvSpPr>
          <p:cNvPr id="19" name="Text 17"/>
          <p:cNvSpPr/>
          <p:nvPr/>
        </p:nvSpPr>
        <p:spPr>
          <a:xfrm>
            <a:off x="502920" y="2880360"/>
            <a:ext cx="81381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Ba phép kiểm bảo vệ phần này</a:t>
            </a:r>
            <a:endParaRPr lang="en-US" sz="1400" dirty="0"/>
          </a:p>
        </p:txBody>
      </p:sp>
      <p:sp>
        <p:nvSpPr>
          <p:cNvPr id="20" name="Text 18"/>
          <p:cNvSpPr/>
          <p:nvPr/>
        </p:nvSpPr>
        <p:spPr>
          <a:xfrm>
            <a:off x="640080" y="3291840"/>
            <a:ext cx="201168" cy="50292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1" name="Text 19"/>
          <p:cNvSpPr/>
          <p:nvPr/>
        </p:nvSpPr>
        <p:spPr>
          <a:xfrm>
            <a:off x="868680" y="3291840"/>
            <a:ext cx="7635240" cy="457200"/>
          </a:xfrm>
          <a:prstGeom prst="rect">
            <a:avLst/>
          </a:prstGeom>
          <a:noFill/>
          <a:ln/>
        </p:spPr>
        <p:txBody>
          <a:bodyPr wrap="square" lIns="0" tIns="0" rIns="0" bIns="0" rtlCol="0" anchor="t"/>
          <a:lstStyle/>
          <a:p>
            <a:pPr algn="l" indent="0" marL="0">
              <a:lnSpc>
                <a:spcPct val="120000"/>
              </a:lnSpc>
              <a:buNone/>
            </a:pPr>
            <a:r>
              <a:rPr lang="en-US" sz="1350" dirty="0">
                <a:solidFill>
                  <a:srgbClr val="1A1A1A"/>
                </a:solidFill>
                <a:latin typeface="Cambria" pitchFamily="34" charset="0"/>
                <a:ea typeface="Cambria" pitchFamily="34" charset="-122"/>
                <a:cs typeface="Cambria" pitchFamily="34" charset="-120"/>
              </a:rPr>
              <a:t>Phép ghép khớp </a:t>
            </a:r>
            <a:pPr algn="l" indent="0" marL="0">
              <a:lnSpc>
                <a:spcPct val="120000"/>
              </a:lnSpc>
              <a:buNone/>
            </a:pPr>
            <a:r>
              <a:rPr lang="en-US" sz="1350" b="1" dirty="0">
                <a:solidFill>
                  <a:srgbClr val="006666"/>
                </a:solidFill>
                <a:latin typeface="Cambria" pitchFamily="34" charset="0"/>
                <a:ea typeface="Cambria" pitchFamily="34" charset="-122"/>
                <a:cs typeface="Cambria" pitchFamily="34" charset="-120"/>
              </a:rPr>
              <a:t>48%</a:t>
            </a:r>
            <a:pPr algn="l" indent="0" marL="0">
              <a:lnSpc>
                <a:spcPct val="120000"/>
              </a:lnSpc>
              <a:buNone/>
            </a:pPr>
            <a:r>
              <a:rPr lang="en-US" sz="1350" dirty="0">
                <a:solidFill>
                  <a:srgbClr val="1A1A1A"/>
                </a:solidFill>
                <a:latin typeface="Cambria" pitchFamily="34" charset="0"/>
                <a:ea typeface="Cambria" pitchFamily="34" charset="-122"/>
                <a:cs typeface="Cambria" pitchFamily="34" charset="-120"/>
              </a:rPr>
              <a:t>, phép ghép cố ý lệch một bước chỉ </a:t>
            </a:r>
            <a:pPr algn="l" indent="0" marL="0">
              <a:lnSpc>
                <a:spcPct val="120000"/>
              </a:lnSpc>
              <a:buNone/>
            </a:pPr>
            <a:r>
              <a:rPr lang="en-US" sz="1350" b="1" dirty="0">
                <a:solidFill>
                  <a:srgbClr val="B22222"/>
                </a:solidFill>
                <a:latin typeface="Cambria" pitchFamily="34" charset="0"/>
                <a:ea typeface="Cambria" pitchFamily="34" charset="-122"/>
                <a:cs typeface="Cambria" pitchFamily="34" charset="-120"/>
              </a:rPr>
              <a:t>20%</a:t>
            </a:r>
            <a:endParaRPr lang="en-US" sz="1350" dirty="0"/>
          </a:p>
        </p:txBody>
      </p:sp>
      <p:sp>
        <p:nvSpPr>
          <p:cNvPr id="22" name="Text 20"/>
          <p:cNvSpPr/>
          <p:nvPr/>
        </p:nvSpPr>
        <p:spPr>
          <a:xfrm>
            <a:off x="640080" y="3794760"/>
            <a:ext cx="201168" cy="50292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3" name="Text 21"/>
          <p:cNvSpPr/>
          <p:nvPr/>
        </p:nvSpPr>
        <p:spPr>
          <a:xfrm>
            <a:off x="868680" y="3794760"/>
            <a:ext cx="7635240" cy="457200"/>
          </a:xfrm>
          <a:prstGeom prst="rect">
            <a:avLst/>
          </a:prstGeom>
          <a:noFill/>
          <a:ln/>
        </p:spPr>
        <p:txBody>
          <a:bodyPr wrap="square" lIns="0" tIns="0" rIns="0" bIns="0" rtlCol="0" anchor="t"/>
          <a:lstStyle/>
          <a:p>
            <a:pPr algn="l" indent="0" marL="0">
              <a:lnSpc>
                <a:spcPct val="120000"/>
              </a:lnSpc>
              <a:buNone/>
            </a:pPr>
            <a:r>
              <a:rPr lang="en-US" sz="1350" dirty="0">
                <a:solidFill>
                  <a:srgbClr val="1A1A1A"/>
                </a:solidFill>
                <a:latin typeface="Cambria" pitchFamily="34" charset="0"/>
                <a:ea typeface="Cambria" pitchFamily="34" charset="-122"/>
                <a:cs typeface="Cambria" pitchFamily="34" charset="-120"/>
              </a:rPr>
              <a:t>Chín bất biến cấu trúc đều đạt: </a:t>
            </a:r>
            <a:pPr algn="l" indent="0" marL="0">
              <a:lnSpc>
                <a:spcPct val="120000"/>
              </a:lnSpc>
              <a:buNone/>
            </a:pPr>
            <a:r>
              <a:rPr lang="en-US" sz="1350" b="1" dirty="0">
                <a:solidFill>
                  <a:srgbClr val="006666"/>
                </a:solidFill>
                <a:latin typeface="Cambria" pitchFamily="34" charset="0"/>
                <a:ea typeface="Cambria" pitchFamily="34" charset="-122"/>
                <a:cs typeface="Cambria" pitchFamily="34" charset="-120"/>
              </a:rPr>
              <a:t>9/9</a:t>
            </a:r>
            <a:endParaRPr lang="en-US" sz="1350" dirty="0"/>
          </a:p>
        </p:txBody>
      </p:sp>
      <p:sp>
        <p:nvSpPr>
          <p:cNvPr id="24" name="Text 22"/>
          <p:cNvSpPr/>
          <p:nvPr/>
        </p:nvSpPr>
        <p:spPr>
          <a:xfrm>
            <a:off x="640080" y="4297680"/>
            <a:ext cx="201168" cy="50292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5" name="Text 23"/>
          <p:cNvSpPr/>
          <p:nvPr/>
        </p:nvSpPr>
        <p:spPr>
          <a:xfrm>
            <a:off x="868680" y="4297680"/>
            <a:ext cx="7635240" cy="457200"/>
          </a:xfrm>
          <a:prstGeom prst="rect">
            <a:avLst/>
          </a:prstGeom>
          <a:noFill/>
          <a:ln/>
        </p:spPr>
        <p:txBody>
          <a:bodyPr wrap="square" lIns="0" tIns="0" rIns="0" bIns="0" rtlCol="0" anchor="t"/>
          <a:lstStyle/>
          <a:p>
            <a:pPr algn="l" indent="0" marL="0">
              <a:lnSpc>
                <a:spcPct val="120000"/>
              </a:lnSpc>
              <a:buNone/>
            </a:pPr>
            <a:r>
              <a:rPr lang="en-US" sz="1350" dirty="0">
                <a:solidFill>
                  <a:srgbClr val="1A1A1A"/>
                </a:solidFill>
                <a:latin typeface="Cambria" pitchFamily="34" charset="0"/>
                <a:ea typeface="Cambria" pitchFamily="34" charset="-122"/>
                <a:cs typeface="Cambria" pitchFamily="34" charset="-120"/>
              </a:rPr>
              <a:t>Rò rỉ dạy và kiểm: </a:t>
            </a:r>
            <a:pPr algn="l" indent="0" marL="0">
              <a:lnSpc>
                <a:spcPct val="120000"/>
              </a:lnSpc>
              <a:buNone/>
            </a:pPr>
            <a:r>
              <a:rPr lang="en-US" sz="1350" b="1" dirty="0">
                <a:solidFill>
                  <a:srgbClr val="006666"/>
                </a:solidFill>
                <a:latin typeface="Cambria" pitchFamily="34" charset="0"/>
                <a:ea typeface="Cambria" pitchFamily="34" charset="-122"/>
                <a:cs typeface="Cambria" pitchFamily="34" charset="-120"/>
              </a:rPr>
              <a:t>không tác vụ nào trùng</a:t>
            </a:r>
            <a:endParaRPr lang="en-US" sz="1350" dirty="0"/>
          </a:p>
        </p:txBody>
      </p:sp>
      <p:sp>
        <p:nvSpPr>
          <p:cNvPr id="26" name="Shape 24"/>
          <p:cNvSpPr/>
          <p:nvPr/>
        </p:nvSpPr>
        <p:spPr>
          <a:xfrm>
            <a:off x="502920" y="4937760"/>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27" name="Text 25"/>
          <p:cNvSpPr/>
          <p:nvPr/>
        </p:nvSpPr>
        <p:spPr>
          <a:xfrm>
            <a:off x="731520" y="4937760"/>
            <a:ext cx="7680960" cy="731520"/>
          </a:xfrm>
          <a:prstGeom prst="rect">
            <a:avLst/>
          </a:prstGeom>
          <a:noFill/>
          <a:ln/>
        </p:spPr>
        <p:txBody>
          <a:bodyPr wrap="square" lIns="0" tIns="0" rIns="0" bIns="0" rtlCol="0" anchor="ctr"/>
          <a:lstStyle/>
          <a:p>
            <a:pPr algn="l" indent="0" marL="0">
              <a:buNone/>
            </a:pPr>
            <a:r>
              <a:rPr lang="en-US" sz="1350" dirty="0">
                <a:solidFill>
                  <a:srgbClr val="1A1A1A"/>
                </a:solidFill>
                <a:latin typeface="Cambria" pitchFamily="34" charset="0"/>
                <a:ea typeface="Cambria" pitchFamily="34" charset="-122"/>
                <a:cs typeface="Cambria" pitchFamily="34" charset="-120"/>
              </a:rPr>
              <a:t>Nhãn không do người dán, cũng không lấy từ một mô hình ngôn ngữ khác.</a:t>
            </a:r>
            <a:endParaRPr lang="en-US" sz="1350" dirty="0"/>
          </a:p>
        </p:txBody>
      </p:sp>
      <p:sp>
        <p:nvSpPr>
          <p:cNvPr id="29" name="Shape 26"/>
          <p:cNvSpPr/>
          <p:nvPr/>
        </p:nvSpPr>
        <p:spPr>
          <a:xfrm>
            <a:off x="0" y="6620256"/>
            <a:ext cx="2743200" cy="237744"/>
          </a:xfrm>
          <a:prstGeom prst="rect">
            <a:avLst/>
          </a:prstGeom>
          <a:solidFill>
            <a:srgbClr val="191132"/>
          </a:solidFill>
          <a:ln/>
        </p:spPr>
      </p:sp>
      <p:sp>
        <p:nvSpPr>
          <p:cNvPr id="30" name="Shape 27"/>
          <p:cNvSpPr/>
          <p:nvPr/>
        </p:nvSpPr>
        <p:spPr>
          <a:xfrm>
            <a:off x="2743200" y="6620256"/>
            <a:ext cx="3383280" cy="237744"/>
          </a:xfrm>
          <a:prstGeom prst="rect">
            <a:avLst/>
          </a:prstGeom>
          <a:solidFill>
            <a:srgbClr val="25194B"/>
          </a:solidFill>
          <a:ln/>
        </p:spPr>
      </p:sp>
      <p:sp>
        <p:nvSpPr>
          <p:cNvPr id="31" name="Shape 28"/>
          <p:cNvSpPr/>
          <p:nvPr/>
        </p:nvSpPr>
        <p:spPr>
          <a:xfrm>
            <a:off x="6126480" y="6620256"/>
            <a:ext cx="1737360" cy="237744"/>
          </a:xfrm>
          <a:prstGeom prst="rect">
            <a:avLst/>
          </a:prstGeom>
          <a:solidFill>
            <a:srgbClr val="4F417A"/>
          </a:solidFill>
          <a:ln/>
        </p:spPr>
      </p:sp>
      <p:sp>
        <p:nvSpPr>
          <p:cNvPr id="32" name="Shape 29"/>
          <p:cNvSpPr/>
          <p:nvPr/>
        </p:nvSpPr>
        <p:spPr>
          <a:xfrm>
            <a:off x="7863840" y="6620256"/>
            <a:ext cx="1280160" cy="237744"/>
          </a:xfrm>
          <a:prstGeom prst="rect">
            <a:avLst/>
          </a:prstGeom>
          <a:solidFill>
            <a:srgbClr val="7A7099"/>
          </a:solidFill>
          <a:ln/>
        </p:spPr>
      </p:sp>
      <p:sp>
        <p:nvSpPr>
          <p:cNvPr id="33" name="Text 3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4" name="Text 3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5" name="Text 3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6" name="Text 3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7/29</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 · Nhãn mô tả tự động cho phần tử người dùng đã chạm</a:t>
            </a:r>
            <a:endParaRPr lang="en-US" sz="1900" dirty="0"/>
          </a:p>
        </p:txBody>
      </p:sp>
      <p:sp>
        <p:nvSpPr>
          <p:cNvPr id="4" name="Shape 2"/>
          <p:cNvSpPr/>
          <p:nvPr/>
        </p:nvSpPr>
        <p:spPr>
          <a:xfrm>
            <a:off x="502920" y="868680"/>
            <a:ext cx="8138160" cy="640080"/>
          </a:xfrm>
          <a:prstGeom prst="roundRect">
            <a:avLst>
              <a:gd name="adj" fmla="val 85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868680"/>
            <a:ext cx="7680960" cy="640080"/>
          </a:xfrm>
          <a:prstGeom prst="rect">
            <a:avLst/>
          </a:prstGeom>
          <a:noFill/>
          <a:ln/>
        </p:spPr>
        <p:txBody>
          <a:bodyPr wrap="square" lIns="0" tIns="0" rIns="0" bIns="0" rtlCol="0" anchor="ctr"/>
          <a:lstStyle/>
          <a:p>
            <a:pPr algn="l" indent="0" marL="0">
              <a:buNone/>
            </a:pPr>
            <a:r>
              <a:rPr lang="en-US" sz="1400" b="1" dirty="0">
                <a:solidFill>
                  <a:srgbClr val="322164"/>
                </a:solidFill>
                <a:latin typeface="Cambria" pitchFamily="34" charset="0"/>
                <a:ea typeface="Cambria" pitchFamily="34" charset="-122"/>
                <a:cs typeface="Cambria" pitchFamily="34" charset="-120"/>
              </a:rPr>
              <a:t>Mỗi nhãn gồm bốn ô:   </a:t>
            </a:r>
            <a:pPr algn="l" indent="0" marL="0">
              <a:buNone/>
            </a:pPr>
            <a:r>
              <a:rPr lang="en-US" sz="1400" b="1" dirty="0">
                <a:solidFill>
                  <a:srgbClr val="1414BE"/>
                </a:solidFill>
                <a:latin typeface="Cambria" pitchFamily="34" charset="0"/>
                <a:ea typeface="Cambria" pitchFamily="34" charset="-122"/>
                <a:cs typeface="Cambria" pitchFamily="34" charset="-120"/>
              </a:rPr>
              <a:t>vai trò  |  tên  |  toạ độ chạm  |  dấu hiệu phân biệt</a:t>
            </a:r>
            <a:endParaRPr lang="en-US" sz="1400" dirty="0"/>
          </a:p>
        </p:txBody>
      </p:sp>
      <p:sp>
        <p:nvSpPr>
          <p:cNvPr id="6" name="Text 4"/>
          <p:cNvSpPr/>
          <p:nvPr/>
        </p:nvSpPr>
        <p:spPr>
          <a:xfrm>
            <a:off x="502920" y="1737360"/>
            <a:ext cx="40233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Vì sao phải tự dựng ô tên</a:t>
            </a:r>
            <a:endParaRPr lang="en-US" sz="1400" dirty="0"/>
          </a:p>
        </p:txBody>
      </p:sp>
      <p:sp>
        <p:nvSpPr>
          <p:cNvPr id="7" name="Text 5"/>
          <p:cNvSpPr/>
          <p:nvPr/>
        </p:nvSpPr>
        <p:spPr>
          <a:xfrm>
            <a:off x="502920" y="214884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8" name="Text 6"/>
          <p:cNvSpPr/>
          <p:nvPr/>
        </p:nvSpPr>
        <p:spPr>
          <a:xfrm>
            <a:off x="731520" y="2148840"/>
            <a:ext cx="379476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Cây trợ năng có 86 phần tử mỗi màn, chỉ 12,6% có tên</a:t>
            </a:r>
            <a:endParaRPr lang="en-US" sz="1300" dirty="0"/>
          </a:p>
        </p:txBody>
      </p:sp>
      <p:sp>
        <p:nvSpPr>
          <p:cNvPr id="9" name="Text 7"/>
          <p:cNvSpPr/>
          <p:nvPr/>
        </p:nvSpPr>
        <p:spPr>
          <a:xfrm>
            <a:off x="502920" y="292608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0" name="Text 8"/>
          <p:cNvSpPr/>
          <p:nvPr/>
        </p:nvSpPr>
        <p:spPr>
          <a:xfrm>
            <a:off x="731520" y="2926080"/>
            <a:ext cx="379476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Trích chữ trên ảnh bù vào, phủ 100% số bước</a:t>
            </a:r>
            <a:endParaRPr lang="en-US" sz="1300" dirty="0"/>
          </a:p>
        </p:txBody>
      </p:sp>
      <p:sp>
        <p:nvSpPr>
          <p:cNvPr id="11" name="Text 9"/>
          <p:cNvSpPr/>
          <p:nvPr/>
        </p:nvSpPr>
        <p:spPr>
          <a:xfrm>
            <a:off x="502920" y="3703320"/>
            <a:ext cx="201168" cy="77724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2" name="Text 10"/>
          <p:cNvSpPr/>
          <p:nvPr/>
        </p:nvSpPr>
        <p:spPr>
          <a:xfrm>
            <a:off x="731520" y="3703320"/>
            <a:ext cx="3794760" cy="73152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Hai bộ lọc thêm: nhãn rác 14,7% và phần tử quá 25% màn</a:t>
            </a:r>
            <a:endParaRPr lang="en-US" sz="1300" dirty="0"/>
          </a:p>
        </p:txBody>
      </p:sp>
      <p:sp>
        <p:nvSpPr>
          <p:cNvPr id="13" name="Text 11"/>
          <p:cNvSpPr/>
          <p:nvPr/>
        </p:nvSpPr>
        <p:spPr>
          <a:xfrm>
            <a:off x="4663440" y="1737360"/>
            <a:ext cx="397764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Chất lượng ô tên</a:t>
            </a:r>
            <a:endParaRPr lang="en-US" sz="1400" dirty="0"/>
          </a:p>
        </p:txBody>
      </p:sp>
      <p:sp>
        <p:nvSpPr>
          <p:cNvPr id="14" name="Text 12"/>
          <p:cNvSpPr/>
          <p:nvPr/>
        </p:nvSpPr>
        <p:spPr>
          <a:xfrm>
            <a:off x="4663440" y="2148840"/>
            <a:ext cx="2788920" cy="438912"/>
          </a:xfrm>
          <a:prstGeom prst="rect">
            <a:avLst/>
          </a:prstGeom>
          <a:noFill/>
          <a:ln/>
        </p:spPr>
        <p:txBody>
          <a:bodyPr wrap="square" lIns="38100" tIns="38100" rIns="38100" bIns="38100" rtlCol="0" anchor="ctr"/>
          <a:lstStyle/>
          <a:p>
            <a:pPr algn="l" indent="0" marL="0">
              <a:buNone/>
            </a:pPr>
            <a:r>
              <a:rPr lang="en-US" sz="1350" dirty="0">
                <a:solidFill>
                  <a:srgbClr val="1A1A1A"/>
                </a:solidFill>
                <a:latin typeface="Cambria" pitchFamily="34" charset="0"/>
                <a:ea typeface="Cambria" pitchFamily="34" charset="-122"/>
                <a:cs typeface="Cambria" pitchFamily="34" charset="-120"/>
              </a:rPr>
              <a:t>Có tên dùng được</a:t>
            </a:r>
            <a:endParaRPr lang="en-US" sz="1350" dirty="0"/>
          </a:p>
        </p:txBody>
      </p:sp>
      <p:sp>
        <p:nvSpPr>
          <p:cNvPr id="15" name="Text 13"/>
          <p:cNvSpPr/>
          <p:nvPr/>
        </p:nvSpPr>
        <p:spPr>
          <a:xfrm>
            <a:off x="7452360" y="2148840"/>
            <a:ext cx="1188720" cy="438912"/>
          </a:xfrm>
          <a:prstGeom prst="rect">
            <a:avLst/>
          </a:prstGeom>
          <a:noFill/>
          <a:ln/>
        </p:spPr>
        <p:txBody>
          <a:bodyPr wrap="square" lIns="38100" tIns="38100" rIns="38100" bIns="38100" rtlCol="0" anchor="ctr"/>
          <a:lstStyle/>
          <a:p>
            <a:pPr algn="r" indent="0" marL="0">
              <a:buNone/>
            </a:pPr>
            <a:r>
              <a:rPr lang="en-US" sz="1350" dirty="0">
                <a:solidFill>
                  <a:srgbClr val="1A1A1A"/>
                </a:solidFill>
                <a:latin typeface="Cambria" pitchFamily="34" charset="0"/>
                <a:ea typeface="Cambria" pitchFamily="34" charset="-122"/>
                <a:cs typeface="Cambria" pitchFamily="34" charset="-120"/>
              </a:rPr>
              <a:t>73,6%</a:t>
            </a:r>
            <a:endParaRPr lang="en-US" sz="1350" dirty="0"/>
          </a:p>
        </p:txBody>
      </p:sp>
      <p:sp>
        <p:nvSpPr>
          <p:cNvPr id="16" name="Shape 14"/>
          <p:cNvSpPr/>
          <p:nvPr/>
        </p:nvSpPr>
        <p:spPr>
          <a:xfrm>
            <a:off x="4663440" y="2587752"/>
            <a:ext cx="3977640" cy="0"/>
          </a:xfrm>
          <a:prstGeom prst="line">
            <a:avLst/>
          </a:prstGeom>
          <a:noFill/>
          <a:ln w="12700">
            <a:solidFill>
              <a:srgbClr val="9A94AE"/>
            </a:solidFill>
            <a:prstDash val="solid"/>
          </a:ln>
        </p:spPr>
      </p:sp>
      <p:sp>
        <p:nvSpPr>
          <p:cNvPr id="17" name="Text 15"/>
          <p:cNvSpPr/>
          <p:nvPr/>
        </p:nvSpPr>
        <p:spPr>
          <a:xfrm>
            <a:off x="4663440" y="2587752"/>
            <a:ext cx="2788920" cy="438912"/>
          </a:xfrm>
          <a:prstGeom prst="rect">
            <a:avLst/>
          </a:prstGeom>
          <a:noFill/>
          <a:ln/>
        </p:spPr>
        <p:txBody>
          <a:bodyPr wrap="square" lIns="38100" tIns="38100" rIns="38100" bIns="38100" rtlCol="0" anchor="ctr"/>
          <a:lstStyle/>
          <a:p>
            <a:pPr algn="l" indent="0" marL="0">
              <a:buNone/>
            </a:pPr>
            <a:r>
              <a:rPr lang="en-US" sz="1350" dirty="0">
                <a:solidFill>
                  <a:srgbClr val="B22222"/>
                </a:solidFill>
                <a:latin typeface="Cambria" pitchFamily="34" charset="0"/>
                <a:ea typeface="Cambria" pitchFamily="34" charset="-122"/>
                <a:cs typeface="Cambria" pitchFamily="34" charset="-120"/>
              </a:rPr>
              <a:t>Không có tên nào</a:t>
            </a:r>
            <a:endParaRPr lang="en-US" sz="1350" dirty="0"/>
          </a:p>
        </p:txBody>
      </p:sp>
      <p:sp>
        <p:nvSpPr>
          <p:cNvPr id="18" name="Text 16"/>
          <p:cNvSpPr/>
          <p:nvPr/>
        </p:nvSpPr>
        <p:spPr>
          <a:xfrm>
            <a:off x="7452360" y="2587752"/>
            <a:ext cx="1188720" cy="438912"/>
          </a:xfrm>
          <a:prstGeom prst="rect">
            <a:avLst/>
          </a:prstGeom>
          <a:noFill/>
          <a:ln/>
        </p:spPr>
        <p:txBody>
          <a:bodyPr wrap="square" lIns="38100" tIns="38100" rIns="38100" bIns="38100" rtlCol="0" anchor="ctr"/>
          <a:lstStyle/>
          <a:p>
            <a:pPr algn="r" indent="0" marL="0">
              <a:buNone/>
            </a:pPr>
            <a:r>
              <a:rPr lang="en-US" sz="1350" dirty="0">
                <a:solidFill>
                  <a:srgbClr val="B22222"/>
                </a:solidFill>
                <a:latin typeface="Cambria" pitchFamily="34" charset="0"/>
                <a:ea typeface="Cambria" pitchFamily="34" charset="-122"/>
                <a:cs typeface="Cambria" pitchFamily="34" charset="-120"/>
              </a:rPr>
              <a:t>22,0%</a:t>
            </a:r>
            <a:endParaRPr lang="en-US" sz="1350" dirty="0"/>
          </a:p>
        </p:txBody>
      </p:sp>
      <p:sp>
        <p:nvSpPr>
          <p:cNvPr id="19" name="Shape 17"/>
          <p:cNvSpPr/>
          <p:nvPr/>
        </p:nvSpPr>
        <p:spPr>
          <a:xfrm>
            <a:off x="4663440" y="3026664"/>
            <a:ext cx="3977640" cy="0"/>
          </a:xfrm>
          <a:prstGeom prst="line">
            <a:avLst/>
          </a:prstGeom>
          <a:noFill/>
          <a:ln w="12700">
            <a:solidFill>
              <a:srgbClr val="9A94AE"/>
            </a:solidFill>
            <a:prstDash val="solid"/>
          </a:ln>
        </p:spPr>
      </p:sp>
      <p:sp>
        <p:nvSpPr>
          <p:cNvPr id="20" name="Text 18"/>
          <p:cNvSpPr/>
          <p:nvPr/>
        </p:nvSpPr>
        <p:spPr>
          <a:xfrm>
            <a:off x="4663440" y="3026664"/>
            <a:ext cx="2788920" cy="438912"/>
          </a:xfrm>
          <a:prstGeom prst="rect">
            <a:avLst/>
          </a:prstGeom>
          <a:noFill/>
          <a:ln/>
        </p:spPr>
        <p:txBody>
          <a:bodyPr wrap="square" lIns="38100" tIns="38100" rIns="38100" bIns="38100" rtlCol="0" anchor="ctr"/>
          <a:lstStyle/>
          <a:p>
            <a:pPr algn="l" indent="0" marL="0">
              <a:buNone/>
            </a:pPr>
            <a:r>
              <a:rPr lang="en-US" sz="1350" dirty="0">
                <a:solidFill>
                  <a:srgbClr val="B22222"/>
                </a:solidFill>
                <a:latin typeface="Cambria" pitchFamily="34" charset="0"/>
                <a:ea typeface="Cambria" pitchFamily="34" charset="-122"/>
                <a:cs typeface="Cambria" pitchFamily="34" charset="-120"/>
              </a:rPr>
              <a:t>Trùng tên với phần tử khác</a:t>
            </a:r>
            <a:endParaRPr lang="en-US" sz="1350" dirty="0"/>
          </a:p>
        </p:txBody>
      </p:sp>
      <p:sp>
        <p:nvSpPr>
          <p:cNvPr id="21" name="Text 19"/>
          <p:cNvSpPr/>
          <p:nvPr/>
        </p:nvSpPr>
        <p:spPr>
          <a:xfrm>
            <a:off x="7452360" y="3026664"/>
            <a:ext cx="1188720" cy="438912"/>
          </a:xfrm>
          <a:prstGeom prst="rect">
            <a:avLst/>
          </a:prstGeom>
          <a:noFill/>
          <a:ln/>
        </p:spPr>
        <p:txBody>
          <a:bodyPr wrap="square" lIns="38100" tIns="38100" rIns="38100" bIns="38100" rtlCol="0" anchor="ctr"/>
          <a:lstStyle/>
          <a:p>
            <a:pPr algn="r" indent="0" marL="0">
              <a:buNone/>
            </a:pPr>
            <a:r>
              <a:rPr lang="en-US" sz="1350" dirty="0">
                <a:solidFill>
                  <a:srgbClr val="B22222"/>
                </a:solidFill>
                <a:latin typeface="Cambria" pitchFamily="34" charset="0"/>
                <a:ea typeface="Cambria" pitchFamily="34" charset="-122"/>
                <a:cs typeface="Cambria" pitchFamily="34" charset="-120"/>
              </a:rPr>
              <a:t>7,6%</a:t>
            </a:r>
            <a:endParaRPr lang="en-US" sz="1350" dirty="0"/>
          </a:p>
        </p:txBody>
      </p:sp>
      <p:sp>
        <p:nvSpPr>
          <p:cNvPr id="22" name="Shape 20"/>
          <p:cNvSpPr/>
          <p:nvPr/>
        </p:nvSpPr>
        <p:spPr>
          <a:xfrm>
            <a:off x="502920" y="461772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23" name="Text 21"/>
          <p:cNvSpPr/>
          <p:nvPr/>
        </p:nvSpPr>
        <p:spPr>
          <a:xfrm>
            <a:off x="731520" y="4617720"/>
            <a:ext cx="7680960" cy="1051560"/>
          </a:xfrm>
          <a:prstGeom prst="rect">
            <a:avLst/>
          </a:prstGeom>
          <a:noFill/>
          <a:ln/>
        </p:spPr>
        <p:txBody>
          <a:bodyPr wrap="square" lIns="0" tIns="0" rIns="0" bIns="0" rtlCol="0" anchor="ctr"/>
          <a:lstStyle/>
          <a:p>
            <a:pPr algn="l" indent="0" marL="0">
              <a:lnSpc>
                <a:spcPct val="135000"/>
              </a:lnSpc>
              <a:buNone/>
            </a:pPr>
            <a:r>
              <a:rPr lang="en-US" sz="1400" b="1" dirty="0">
                <a:solidFill>
                  <a:srgbClr val="B22222"/>
                </a:solidFill>
                <a:latin typeface="Cambria" pitchFamily="34" charset="0"/>
                <a:ea typeface="Cambria" pitchFamily="34" charset="-122"/>
                <a:cs typeface="Cambria" pitchFamily="34" charset="-120"/>
              </a:rPr>
              <a:t>Ô toạ độ lấy ngay chỗ người thật đã chạm: </a:t>
            </a:r>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nhãn sạch 100%, chi phí bằng không, và đây cũng là chuẩn để chấm điểm.</a:t>
            </a:r>
            <a:endParaRPr lang="en-US" sz="140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8/29</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 · Thành phần đề xuất: mô tả phân biệt trước, phát ngôn sau</a:t>
            </a:r>
            <a:endParaRPr lang="en-US" sz="1900" dirty="0"/>
          </a:p>
        </p:txBody>
      </p:sp>
      <p:sp>
        <p:nvSpPr>
          <p:cNvPr id="4" name="Shape 2"/>
          <p:cNvSpPr/>
          <p:nvPr/>
        </p:nvSpPr>
        <p:spPr>
          <a:xfrm>
            <a:off x="502920" y="86868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77240" y="1097280"/>
            <a:ext cx="7680960" cy="36576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tầng khai báo   </a:t>
            </a:r>
            <a:pPr algn="l" indent="0" marL="0">
              <a:buNone/>
            </a:pPr>
            <a:r>
              <a:rPr lang="en-US" sz="1200" b="1" dirty="0">
                <a:solidFill>
                  <a:srgbClr val="1414BE"/>
                </a:solidFill>
                <a:latin typeface="Consolas" pitchFamily="34" charset="0"/>
                <a:ea typeface="Consolas" pitchFamily="34" charset="-122"/>
                <a:cs typeface="Consolas" pitchFamily="34" charset="-120"/>
              </a:rPr>
              <a:t>&lt;desc&gt; vai trò | tên | &lt;point&gt;x,y&lt;/point&gt; | dấu hiệu phân biệt &lt;/desc&gt;</a:t>
            </a:r>
            <a:endParaRPr lang="en-US" sz="1200" dirty="0"/>
          </a:p>
        </p:txBody>
      </p:sp>
      <p:sp>
        <p:nvSpPr>
          <p:cNvPr id="6" name="Text 4"/>
          <p:cNvSpPr/>
          <p:nvPr/>
        </p:nvSpPr>
        <p:spPr>
          <a:xfrm>
            <a:off x="777240" y="1554480"/>
            <a:ext cx="7680960" cy="36576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tầng phát ngôn   </a:t>
            </a:r>
            <a:pPr algn="l" indent="0" marL="0">
              <a:buNone/>
            </a:pPr>
            <a:r>
              <a:rPr lang="en-US" sz="1200" b="1" dirty="0">
                <a:solidFill>
                  <a:srgbClr val="1A1A1A"/>
                </a:solidFill>
                <a:latin typeface="Consolas" pitchFamily="34" charset="0"/>
                <a:ea typeface="Consolas" pitchFamily="34" charset="-122"/>
                <a:cs typeface="Consolas" pitchFamily="34" charset="-120"/>
              </a:rPr>
              <a:t>câu hướng dẫn cho người đọc</a:t>
            </a:r>
            <a:endParaRPr lang="en-US" sz="1200" dirty="0"/>
          </a:p>
        </p:txBody>
      </p:sp>
      <p:sp>
        <p:nvSpPr>
          <p:cNvPr id="7" name="Text 5"/>
          <p:cNvSpPr/>
          <p:nvPr/>
        </p:nvSpPr>
        <p:spPr>
          <a:xfrm>
            <a:off x="502920" y="2286000"/>
            <a:ext cx="8138160" cy="731520"/>
          </a:xfrm>
          <a:prstGeom prst="rect">
            <a:avLst/>
          </a:prstGeom>
          <a:noFill/>
          <a:ln/>
        </p:spPr>
        <p:txBody>
          <a:bodyPr wrap="square" lIns="0" tIns="0" rIns="0" bIns="0" rtlCol="0" anchor="t"/>
          <a:lstStyle/>
          <a:p>
            <a:pPr algn="l" indent="0" marL="0">
              <a:lnSpc>
                <a:spcPct val="135000"/>
              </a:lnSpc>
              <a:buNone/>
            </a:pPr>
            <a:r>
              <a:rPr lang="en-US" sz="1400" b="1" dirty="0">
                <a:solidFill>
                  <a:srgbClr val="B22222"/>
                </a:solidFill>
                <a:latin typeface="Cambria" pitchFamily="34" charset="0"/>
                <a:ea typeface="Cambria" pitchFamily="34" charset="-122"/>
                <a:cs typeface="Cambria" pitchFamily="34" charset="-120"/>
              </a:rPr>
              <a:t>Lúc chấm, tầng khai báo bị cắt bỏ; chỉ câu đi chấm.</a:t>
            </a:r>
            <a:pPr algn="l" indent="0" marL="0">
              <a:lnSpc>
                <a:spcPct val="135000"/>
              </a:lnSpc>
              <a:buNone/>
            </a:pPr>
            <a:endParaRPr lang="en-US" sz="1400" dirty="0"/>
          </a:p>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Vì vậy đây là đóng góp về mô hình, không phải về dữ liệu.</a:t>
            </a:r>
            <a:endParaRPr lang="en-US" sz="1400" dirty="0"/>
          </a:p>
        </p:txBody>
      </p:sp>
      <p:sp>
        <p:nvSpPr>
          <p:cNvPr id="8" name="Text 6"/>
          <p:cNvSpPr/>
          <p:nvPr/>
        </p:nvSpPr>
        <p:spPr>
          <a:xfrm>
            <a:off x="502920" y="3200400"/>
            <a:ext cx="81381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Ba căn cứ cho thiết kế</a:t>
            </a:r>
            <a:endParaRPr lang="en-US" sz="1400" dirty="0"/>
          </a:p>
        </p:txBody>
      </p:sp>
      <p:sp>
        <p:nvSpPr>
          <p:cNvPr id="9" name="Text 7"/>
          <p:cNvSpPr/>
          <p:nvPr/>
        </p:nvSpPr>
        <p:spPr>
          <a:xfrm>
            <a:off x="640080" y="3611880"/>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0" name="Text 8"/>
          <p:cNvSpPr/>
          <p:nvPr/>
        </p:nvSpPr>
        <p:spPr>
          <a:xfrm>
            <a:off x="868680" y="3611880"/>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Dạng lỗi đo được là câu mơ hồ</a:t>
            </a:r>
            <a:endParaRPr lang="en-US" sz="1350" dirty="0"/>
          </a:p>
        </p:txBody>
      </p:sp>
      <p:sp>
        <p:nvSpPr>
          <p:cNvPr id="11" name="Text 9"/>
          <p:cNvSpPr/>
          <p:nvPr/>
        </p:nvSpPr>
        <p:spPr>
          <a:xfrm>
            <a:off x="640080" y="4178808"/>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2" name="Text 10"/>
          <p:cNvSpPr/>
          <p:nvPr/>
        </p:nvSpPr>
        <p:spPr>
          <a:xfrm>
            <a:off x="868680" y="4178808"/>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Bước trung gian phải có toạ độ: cặp Shikra cho </a:t>
            </a:r>
            <a:pPr algn="l" indent="0" marL="0">
              <a:lnSpc>
                <a:spcPct val="125000"/>
              </a:lnSpc>
              <a:buNone/>
            </a:pPr>
            <a:r>
              <a:rPr lang="en-US" sz="1350" b="1" dirty="0">
                <a:solidFill>
                  <a:srgbClr val="B22222"/>
                </a:solidFill>
                <a:latin typeface="Cambria" pitchFamily="34" charset="0"/>
                <a:ea typeface="Cambria" pitchFamily="34" charset="-122"/>
                <a:cs typeface="Cambria" pitchFamily="34" charset="-120"/>
              </a:rPr>
              <a:t>−7,4</a:t>
            </a:r>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 và </a:t>
            </a:r>
            <a:pPr algn="l" indent="0" marL="0">
              <a:lnSpc>
                <a:spcPct val="125000"/>
              </a:lnSpc>
              <a:buNone/>
            </a:pPr>
            <a:r>
              <a:rPr lang="en-US" sz="1350" b="1" dirty="0">
                <a:solidFill>
                  <a:srgbClr val="006666"/>
                </a:solidFill>
                <a:latin typeface="Cambria" pitchFamily="34" charset="0"/>
                <a:ea typeface="Cambria" pitchFamily="34" charset="-122"/>
                <a:cs typeface="Cambria" pitchFamily="34" charset="-120"/>
              </a:rPr>
              <a:t>+5,9</a:t>
            </a:r>
            <a:endParaRPr lang="en-US" sz="1350" dirty="0"/>
          </a:p>
        </p:txBody>
      </p:sp>
      <p:sp>
        <p:nvSpPr>
          <p:cNvPr id="13" name="Text 11"/>
          <p:cNvSpPr/>
          <p:nvPr/>
        </p:nvSpPr>
        <p:spPr>
          <a:xfrm>
            <a:off x="640080" y="4745736"/>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4" name="Text 12"/>
          <p:cNvSpPr/>
          <p:nvPr/>
        </p:nvSpPr>
        <p:spPr>
          <a:xfrm>
            <a:off x="868680" y="4745736"/>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Nhãn toạ độ sạch 100% và dựng không tốn gì</a:t>
            </a:r>
            <a:endParaRPr lang="en-US" sz="1350" dirty="0"/>
          </a:p>
        </p:txBody>
      </p:sp>
      <p:sp>
        <p:nvSpPr>
          <p:cNvPr id="15" name="Shape 13"/>
          <p:cNvSpPr/>
          <p:nvPr/>
        </p:nvSpPr>
        <p:spPr>
          <a:xfrm>
            <a:off x="502920" y="5349240"/>
            <a:ext cx="8138160" cy="548640"/>
          </a:xfrm>
          <a:prstGeom prst="roundRect">
            <a:avLst>
              <a:gd name="adj" fmla="val 10000"/>
            </a:avLst>
          </a:prstGeom>
          <a:solidFill>
            <a:srgbClr val="E9E8EC"/>
          </a:solidFill>
          <a:ln/>
          <a:effectLst>
            <a:outerShdw sx="100000" sy="100000" kx="0" ky="0" algn="bl" rotWithShape="0" blurRad="63500" dist="31750" dir="2700000">
              <a:srgbClr val="8C8C99">
                <a:alpha val="45000"/>
              </a:srgbClr>
            </a:outerShdw>
          </a:effectLst>
        </p:spPr>
      </p:sp>
      <p:sp>
        <p:nvSpPr>
          <p:cNvPr id="16" name="Text 14"/>
          <p:cNvSpPr/>
          <p:nvPr/>
        </p:nvSpPr>
        <p:spPr>
          <a:xfrm>
            <a:off x="731520" y="5349240"/>
            <a:ext cx="7680960" cy="548640"/>
          </a:xfrm>
          <a:prstGeom prst="rect">
            <a:avLst/>
          </a:prstGeom>
          <a:noFill/>
          <a:ln/>
        </p:spPr>
        <p:txBody>
          <a:bodyPr wrap="square" lIns="0" tIns="0" rIns="0" bIns="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Qwen2.5-VL-3B  ·  QLoRA 4 bit  ·  đóng băng phần thị giác  ·  8.072 bước  ·  23 giờ A100</a:t>
            </a:r>
            <a:endParaRPr lang="en-US" sz="1200" dirty="0"/>
          </a:p>
        </p:txBody>
      </p:sp>
      <p:sp>
        <p:nvSpPr>
          <p:cNvPr id="18" name="Shape 15"/>
          <p:cNvSpPr/>
          <p:nvPr/>
        </p:nvSpPr>
        <p:spPr>
          <a:xfrm>
            <a:off x="0" y="6620256"/>
            <a:ext cx="2743200" cy="237744"/>
          </a:xfrm>
          <a:prstGeom prst="rect">
            <a:avLst/>
          </a:prstGeom>
          <a:solidFill>
            <a:srgbClr val="191132"/>
          </a:solidFill>
          <a:ln/>
        </p:spPr>
      </p:sp>
      <p:sp>
        <p:nvSpPr>
          <p:cNvPr id="19" name="Shape 16"/>
          <p:cNvSpPr/>
          <p:nvPr/>
        </p:nvSpPr>
        <p:spPr>
          <a:xfrm>
            <a:off x="2743200" y="6620256"/>
            <a:ext cx="3383280" cy="237744"/>
          </a:xfrm>
          <a:prstGeom prst="rect">
            <a:avLst/>
          </a:prstGeom>
          <a:solidFill>
            <a:srgbClr val="25194B"/>
          </a:solidFill>
          <a:ln/>
        </p:spPr>
      </p:sp>
      <p:sp>
        <p:nvSpPr>
          <p:cNvPr id="20" name="Shape 17"/>
          <p:cNvSpPr/>
          <p:nvPr/>
        </p:nvSpPr>
        <p:spPr>
          <a:xfrm>
            <a:off x="6126480" y="6620256"/>
            <a:ext cx="1737360" cy="237744"/>
          </a:xfrm>
          <a:prstGeom prst="rect">
            <a:avLst/>
          </a:prstGeom>
          <a:solidFill>
            <a:srgbClr val="4F417A"/>
          </a:solidFill>
          <a:ln/>
        </p:spPr>
      </p:sp>
      <p:sp>
        <p:nvSpPr>
          <p:cNvPr id="21" name="Shape 18"/>
          <p:cNvSpPr/>
          <p:nvPr/>
        </p:nvSpPr>
        <p:spPr>
          <a:xfrm>
            <a:off x="7863840" y="6620256"/>
            <a:ext cx="1280160" cy="237744"/>
          </a:xfrm>
          <a:prstGeom prst="rect">
            <a:avLst/>
          </a:prstGeom>
          <a:solidFill>
            <a:srgbClr val="7A7099"/>
          </a:solidFill>
          <a:ln/>
        </p:spPr>
      </p:sp>
      <p:sp>
        <p:nvSpPr>
          <p:cNvPr id="22"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4"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 · Chặng huấn luyện thứ hai: mục tiêu ưu tiên ở tầng khai báo</a:t>
            </a:r>
            <a:endParaRPr lang="en-US" sz="1900" dirty="0"/>
          </a:p>
        </p:txBody>
      </p:sp>
      <p:sp>
        <p:nvSpPr>
          <p:cNvPr id="4" name="Text 2"/>
          <p:cNvSpPr/>
          <p:nvPr/>
        </p:nvSpPr>
        <p:spPr>
          <a:xfrm>
            <a:off x="502920" y="777240"/>
            <a:ext cx="81381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Điểm nghẽn nằm ở độ chính xác của tầng khai báo, không ở việc có tầng ấy hay không.</a:t>
            </a:r>
            <a:endParaRPr lang="en-US" sz="1350" dirty="0"/>
          </a:p>
        </p:txBody>
      </p:sp>
      <p:sp>
        <p:nvSpPr>
          <p:cNvPr id="5" name="Text 3"/>
          <p:cNvSpPr/>
          <p:nvPr/>
        </p:nvSpPr>
        <p:spPr>
          <a:xfrm>
            <a:off x="502920" y="1371600"/>
            <a:ext cx="81381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Cặp quy chiếu tối thiểu, 22.854 cặp</a:t>
            </a:r>
            <a:endParaRPr lang="en-US" sz="1400" dirty="0"/>
          </a:p>
        </p:txBody>
      </p:sp>
      <p:sp>
        <p:nvSpPr>
          <p:cNvPr id="6" name="Shape 4"/>
          <p:cNvSpPr/>
          <p:nvPr/>
        </p:nvSpPr>
        <p:spPr>
          <a:xfrm>
            <a:off x="502920" y="1755648"/>
            <a:ext cx="8138160" cy="960120"/>
          </a:xfrm>
          <a:prstGeom prst="rect">
            <a:avLst/>
          </a:prstGeom>
          <a:solidFill>
            <a:srgbClr val="FFFFFF"/>
          </a:solidFill>
          <a:ln w="12700">
            <a:solidFill>
              <a:srgbClr val="9A94AE"/>
            </a:solidFill>
            <a:prstDash val="solid"/>
          </a:ln>
        </p:spPr>
      </p:sp>
      <p:sp>
        <p:nvSpPr>
          <p:cNvPr id="7" name="Text 5"/>
          <p:cNvSpPr/>
          <p:nvPr/>
        </p:nvSpPr>
        <p:spPr>
          <a:xfrm>
            <a:off x="731520" y="1847088"/>
            <a:ext cx="7680960" cy="38404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được chọn    </a:t>
            </a:r>
            <a:pPr algn="l" indent="0" marL="0">
              <a:buNone/>
            </a:pPr>
            <a:r>
              <a:rPr lang="en-US" sz="1250" dirty="0">
                <a:solidFill>
                  <a:srgbClr val="1A1A1A"/>
                </a:solidFill>
                <a:latin typeface="Consolas" pitchFamily="34" charset="0"/>
                <a:ea typeface="Consolas" pitchFamily="34" charset="-122"/>
                <a:cs typeface="Consolas" pitchFamily="34" charset="-120"/>
              </a:rPr>
              <a:t>&lt;desc&gt;khai báo ĐÚNG&lt;/desc&gt;  +  câu</a:t>
            </a:r>
            <a:endParaRPr lang="en-US" sz="1250" dirty="0"/>
          </a:p>
        </p:txBody>
      </p:sp>
      <p:sp>
        <p:nvSpPr>
          <p:cNvPr id="8" name="Text 6"/>
          <p:cNvSpPr/>
          <p:nvPr/>
        </p:nvSpPr>
        <p:spPr>
          <a:xfrm>
            <a:off x="731520" y="2267712"/>
            <a:ext cx="7680960" cy="384048"/>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bị loại        </a:t>
            </a:r>
            <a:pPr algn="l" indent="0" marL="0">
              <a:buNone/>
            </a:pPr>
            <a:r>
              <a:rPr lang="en-US" sz="1250" dirty="0">
                <a:solidFill>
                  <a:srgbClr val="1A1A1A"/>
                </a:solidFill>
                <a:latin typeface="Consolas" pitchFamily="34" charset="0"/>
                <a:ea typeface="Consolas" pitchFamily="34" charset="-122"/>
                <a:cs typeface="Consolas" pitchFamily="34" charset="-120"/>
              </a:rPr>
              <a:t>&lt;desc&gt;khai báo SAI&lt;/desc&gt;  +  đúng câu đó, từng chữ</a:t>
            </a:r>
            <a:endParaRPr lang="en-US" sz="1250" dirty="0"/>
          </a:p>
        </p:txBody>
      </p:sp>
      <p:sp>
        <p:nvSpPr>
          <p:cNvPr id="9" name="Text 7"/>
          <p:cNvSpPr/>
          <p:nvPr/>
        </p:nvSpPr>
        <p:spPr>
          <a:xfrm>
            <a:off x="640080" y="2880360"/>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0" name="Text 8"/>
          <p:cNvSpPr/>
          <p:nvPr/>
        </p:nvSpPr>
        <p:spPr>
          <a:xfrm>
            <a:off x="868680" y="2880360"/>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Hai vế chỉ khác ô khai báo, nên gradient rơi vào việc chọn phần tử</a:t>
            </a:r>
            <a:endParaRPr lang="en-US" sz="1350" dirty="0"/>
          </a:p>
        </p:txBody>
      </p:sp>
      <p:sp>
        <p:nvSpPr>
          <p:cNvPr id="11" name="Text 9"/>
          <p:cNvSpPr/>
          <p:nvPr/>
        </p:nvSpPr>
        <p:spPr>
          <a:xfrm>
            <a:off x="640080" y="3447288"/>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2" name="Text 10"/>
          <p:cNvSpPr/>
          <p:nvPr/>
        </p:nvSpPr>
        <p:spPr>
          <a:xfrm>
            <a:off x="868680" y="3447288"/>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Khai báo sai là một phần tử thật trên chính màn hình đó</a:t>
            </a:r>
            <a:endParaRPr lang="en-US" sz="1350" dirty="0"/>
          </a:p>
        </p:txBody>
      </p:sp>
      <p:sp>
        <p:nvSpPr>
          <p:cNvPr id="13" name="Text 11"/>
          <p:cNvSpPr/>
          <p:nvPr/>
        </p:nvSpPr>
        <p:spPr>
          <a:xfrm>
            <a:off x="640080" y="4014216"/>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4" name="Text 12"/>
          <p:cNvSpPr/>
          <p:nvPr/>
        </p:nvSpPr>
        <p:spPr>
          <a:xfrm>
            <a:off x="868680" y="4014216"/>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Mục tiêu dạng tỉ số odds, không cần mô hình tham chiếu</a:t>
            </a:r>
            <a:endParaRPr lang="en-US" sz="1350" dirty="0"/>
          </a:p>
        </p:txBody>
      </p:sp>
      <p:sp>
        <p:nvSpPr>
          <p:cNvPr id="15" name="Shape 13"/>
          <p:cNvSpPr/>
          <p:nvPr/>
        </p:nvSpPr>
        <p:spPr>
          <a:xfrm>
            <a:off x="502920" y="4709160"/>
            <a:ext cx="8138160" cy="960120"/>
          </a:xfrm>
          <a:prstGeom prst="roundRect">
            <a:avLst>
              <a:gd name="adj" fmla="val 5714"/>
            </a:avLst>
          </a:prstGeom>
          <a:solidFill>
            <a:srgbClr val="E9E8EC"/>
          </a:solidFill>
          <a:ln/>
          <a:effectLst>
            <a:outerShdw sx="100000" sy="100000" kx="0" ky="0" algn="bl" rotWithShape="0" blurRad="63500" dist="31750" dir="2700000">
              <a:srgbClr val="8C8C99">
                <a:alpha val="45000"/>
              </a:srgbClr>
            </a:outerShdw>
          </a:effectLst>
        </p:spPr>
      </p:sp>
      <p:sp>
        <p:nvSpPr>
          <p:cNvPr id="16" name="Text 14"/>
          <p:cNvSpPr/>
          <p:nvPr/>
        </p:nvSpPr>
        <p:spPr>
          <a:xfrm>
            <a:off x="731520" y="4709160"/>
            <a:ext cx="7680960" cy="960120"/>
          </a:xfrm>
          <a:prstGeom prst="rect">
            <a:avLst/>
          </a:prstGeom>
          <a:noFill/>
          <a:ln/>
        </p:spPr>
        <p:txBody>
          <a:bodyPr wrap="square" lIns="0" tIns="0" rIns="0" bIns="0" rtlCol="0" anchor="ctr"/>
          <a:lstStyle/>
          <a:p>
            <a:pPr algn="l" indent="0" marL="0">
              <a:lnSpc>
                <a:spcPct val="135000"/>
              </a:lnSpc>
              <a:buNone/>
            </a:pPr>
            <a:r>
              <a:rPr lang="en-US" sz="1350" b="1" dirty="0">
                <a:solidFill>
                  <a:srgbClr val="B22222"/>
                </a:solidFill>
                <a:latin typeface="Cambria" pitchFamily="34" charset="0"/>
                <a:ea typeface="Cambria" pitchFamily="34" charset="-122"/>
                <a:cs typeface="Cambria" pitchFamily="34" charset="-120"/>
              </a:rPr>
              <a:t>Nhánh so sánh CE2-S2 tách phần công của mục tiêu ưu tiên:</a:t>
            </a:r>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 cùng điểm lưu, cùng 800 bước, không có số hạng ưu tiên.</a:t>
            </a:r>
            <a:endParaRPr lang="en-US" sz="1350" dirty="0"/>
          </a:p>
        </p:txBody>
      </p:sp>
      <p:sp>
        <p:nvSpPr>
          <p:cNvPr id="18" name="Shape 15"/>
          <p:cNvSpPr/>
          <p:nvPr/>
        </p:nvSpPr>
        <p:spPr>
          <a:xfrm>
            <a:off x="0" y="6620256"/>
            <a:ext cx="2743200" cy="237744"/>
          </a:xfrm>
          <a:prstGeom prst="rect">
            <a:avLst/>
          </a:prstGeom>
          <a:solidFill>
            <a:srgbClr val="191132"/>
          </a:solidFill>
          <a:ln/>
        </p:spPr>
      </p:sp>
      <p:sp>
        <p:nvSpPr>
          <p:cNvPr id="19" name="Shape 16"/>
          <p:cNvSpPr/>
          <p:nvPr/>
        </p:nvSpPr>
        <p:spPr>
          <a:xfrm>
            <a:off x="2743200" y="6620256"/>
            <a:ext cx="3383280" cy="237744"/>
          </a:xfrm>
          <a:prstGeom prst="rect">
            <a:avLst/>
          </a:prstGeom>
          <a:solidFill>
            <a:srgbClr val="25194B"/>
          </a:solidFill>
          <a:ln/>
        </p:spPr>
      </p:sp>
      <p:sp>
        <p:nvSpPr>
          <p:cNvPr id="20" name="Shape 17"/>
          <p:cNvSpPr/>
          <p:nvPr/>
        </p:nvSpPr>
        <p:spPr>
          <a:xfrm>
            <a:off x="6126480" y="6620256"/>
            <a:ext cx="1737360" cy="237744"/>
          </a:xfrm>
          <a:prstGeom prst="rect">
            <a:avLst/>
          </a:prstGeom>
          <a:solidFill>
            <a:srgbClr val="4F417A"/>
          </a:solidFill>
          <a:ln/>
        </p:spPr>
      </p:sp>
      <p:sp>
        <p:nvSpPr>
          <p:cNvPr id="21" name="Shape 18"/>
          <p:cNvSpPr/>
          <p:nvPr/>
        </p:nvSpPr>
        <p:spPr>
          <a:xfrm>
            <a:off x="7863840" y="6620256"/>
            <a:ext cx="1280160" cy="237744"/>
          </a:xfrm>
          <a:prstGeom prst="rect">
            <a:avLst/>
          </a:prstGeom>
          <a:solidFill>
            <a:srgbClr val="7A7099"/>
          </a:solidFill>
          <a:ln/>
        </p:spPr>
      </p:sp>
      <p:sp>
        <p:nvSpPr>
          <p:cNvPr id="22"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4"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Thước đo executability</a:t>
            </a:r>
            <a:endParaRPr lang="en-US" sz="1900" dirty="0"/>
          </a:p>
        </p:txBody>
      </p:sp>
      <p:sp>
        <p:nvSpPr>
          <p:cNvPr id="4" name="Text 2"/>
          <p:cNvSpPr/>
          <p:nvPr/>
        </p:nvSpPr>
        <p:spPr>
          <a:xfrm>
            <a:off x="502920" y="777240"/>
            <a:ext cx="4114800" cy="68580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Đưa câu cho một mô hình định vị độc lập, rồi hỏi điểm nó trả về có rơi đúng phần tử người dùng đã chạm hay không.</a:t>
            </a:r>
            <a:endParaRPr lang="en-US" sz="1300" dirty="0"/>
          </a:p>
        </p:txBody>
      </p:sp>
      <p:sp>
        <p:nvSpPr>
          <p:cNvPr id="5" name="Text 3"/>
          <p:cNvSpPr/>
          <p:nvPr/>
        </p:nvSpPr>
        <p:spPr>
          <a:xfrm>
            <a:off x="502920" y="1600200"/>
            <a:ext cx="4114800" cy="292608"/>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Một bước tính đúng khi cả ba điều kiện cùng thoả</a:t>
            </a:r>
            <a:endParaRPr lang="en-US" sz="1300" dirty="0"/>
          </a:p>
        </p:txBody>
      </p:sp>
      <p:sp>
        <p:nvSpPr>
          <p:cNvPr id="6" name="Shape 4"/>
          <p:cNvSpPr/>
          <p:nvPr/>
        </p:nvSpPr>
        <p:spPr>
          <a:xfrm>
            <a:off x="502920" y="2011680"/>
            <a:ext cx="4114800" cy="1051560"/>
          </a:xfrm>
          <a:prstGeom prst="roundRect">
            <a:avLst>
              <a:gd name="adj" fmla="val 4348"/>
            </a:avLst>
          </a:prstGeom>
          <a:solidFill>
            <a:srgbClr val="E9E8EC"/>
          </a:solidFill>
          <a:ln/>
        </p:spPr>
      </p:sp>
      <p:sp>
        <p:nvSpPr>
          <p:cNvPr id="7" name="Text 5"/>
          <p:cNvSpPr/>
          <p:nvPr/>
        </p:nvSpPr>
        <p:spPr>
          <a:xfrm>
            <a:off x="612648" y="2084832"/>
            <a:ext cx="45720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a:t>
            </a:r>
            <a:endParaRPr lang="en-US" sz="1250" dirty="0"/>
          </a:p>
        </p:txBody>
      </p:sp>
      <p:sp>
        <p:nvSpPr>
          <p:cNvPr id="8" name="Text 6"/>
          <p:cNvSpPr/>
          <p:nvPr/>
        </p:nvSpPr>
        <p:spPr>
          <a:xfrm>
            <a:off x="1069848" y="2084832"/>
            <a:ext cx="3383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Khớp loại thao tác</a:t>
            </a:r>
            <a:endParaRPr lang="en-US" sz="1300" dirty="0"/>
          </a:p>
        </p:txBody>
      </p:sp>
      <p:sp>
        <p:nvSpPr>
          <p:cNvPr id="9" name="Text 7"/>
          <p:cNvSpPr/>
          <p:nvPr/>
        </p:nvSpPr>
        <p:spPr>
          <a:xfrm>
            <a:off x="649224" y="2395728"/>
            <a:ext cx="3822192" cy="6400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Chạm, gõ, cuộn, nhấn giữ, quay lại.</a:t>
            </a:r>
            <a:endParaRPr lang="en-US" sz="1200" dirty="0"/>
          </a:p>
        </p:txBody>
      </p:sp>
      <p:sp>
        <p:nvSpPr>
          <p:cNvPr id="10" name="Shape 8"/>
          <p:cNvSpPr/>
          <p:nvPr/>
        </p:nvSpPr>
        <p:spPr>
          <a:xfrm>
            <a:off x="502920" y="3154680"/>
            <a:ext cx="4114800" cy="1051560"/>
          </a:xfrm>
          <a:prstGeom prst="roundRect">
            <a:avLst>
              <a:gd name="adj" fmla="val 4348"/>
            </a:avLst>
          </a:prstGeom>
          <a:solidFill>
            <a:srgbClr val="E9E8EC"/>
          </a:solidFill>
          <a:ln/>
        </p:spPr>
      </p:sp>
      <p:sp>
        <p:nvSpPr>
          <p:cNvPr id="11" name="Text 9"/>
          <p:cNvSpPr/>
          <p:nvPr/>
        </p:nvSpPr>
        <p:spPr>
          <a:xfrm>
            <a:off x="612648" y="3227832"/>
            <a:ext cx="45720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(ii)</a:t>
            </a:r>
            <a:endParaRPr lang="en-US" sz="1250" dirty="0"/>
          </a:p>
        </p:txBody>
      </p:sp>
      <p:sp>
        <p:nvSpPr>
          <p:cNvPr id="12" name="Text 10"/>
          <p:cNvSpPr/>
          <p:nvPr/>
        </p:nvSpPr>
        <p:spPr>
          <a:xfrm>
            <a:off x="1069848" y="3227832"/>
            <a:ext cx="3383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Không đảo nghĩa</a:t>
            </a:r>
            <a:endParaRPr lang="en-US" sz="1300" dirty="0"/>
          </a:p>
        </p:txBody>
      </p:sp>
      <p:sp>
        <p:nvSpPr>
          <p:cNvPr id="13" name="Text 11"/>
          <p:cNvSpPr/>
          <p:nvPr/>
        </p:nvSpPr>
        <p:spPr>
          <a:xfrm>
            <a:off x="649224" y="3538728"/>
            <a:ext cx="3822192" cy="6400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Bật và tắt nằm cùng một chỗ chạm.</a:t>
            </a:r>
            <a:endParaRPr lang="en-US" sz="1200" dirty="0"/>
          </a:p>
        </p:txBody>
      </p:sp>
      <p:sp>
        <p:nvSpPr>
          <p:cNvPr id="14" name="Shape 12"/>
          <p:cNvSpPr/>
          <p:nvPr/>
        </p:nvSpPr>
        <p:spPr>
          <a:xfrm>
            <a:off x="502920" y="4297680"/>
            <a:ext cx="4114800" cy="1051560"/>
          </a:xfrm>
          <a:prstGeom prst="roundRect">
            <a:avLst>
              <a:gd name="adj" fmla="val 4348"/>
            </a:avLst>
          </a:prstGeom>
          <a:solidFill>
            <a:srgbClr val="E9E8EC"/>
          </a:solidFill>
          <a:ln/>
        </p:spPr>
      </p:sp>
      <p:sp>
        <p:nvSpPr>
          <p:cNvPr id="15" name="Text 13"/>
          <p:cNvSpPr/>
          <p:nvPr/>
        </p:nvSpPr>
        <p:spPr>
          <a:xfrm>
            <a:off x="612648" y="4370832"/>
            <a:ext cx="45720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(iii)</a:t>
            </a:r>
            <a:endParaRPr lang="en-US" sz="1250" dirty="0"/>
          </a:p>
        </p:txBody>
      </p:sp>
      <p:sp>
        <p:nvSpPr>
          <p:cNvPr id="16" name="Text 14"/>
          <p:cNvSpPr/>
          <p:nvPr/>
        </p:nvSpPr>
        <p:spPr>
          <a:xfrm>
            <a:off x="1069848" y="4370832"/>
            <a:ext cx="338328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Định vị đúng</a:t>
            </a:r>
            <a:endParaRPr lang="en-US" sz="1300" dirty="0"/>
          </a:p>
        </p:txBody>
      </p:sp>
      <p:sp>
        <p:nvSpPr>
          <p:cNvPr id="17" name="Text 15"/>
          <p:cNvSpPr/>
          <p:nvPr/>
        </p:nvSpPr>
        <p:spPr>
          <a:xfrm>
            <a:off x="649224" y="4681728"/>
            <a:ext cx="3822192" cy="6400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Điểm dự đoán nằm trong dung sai 14%, và không phần tử nào khác gần nó hơn chỗ người dùng đã chạm.</a:t>
            </a:r>
            <a:endParaRPr lang="en-US" sz="1200" dirty="0"/>
          </a:p>
        </p:txBody>
      </p:sp>
      <p:pic>
        <p:nvPicPr>
          <p:cNvPr id="18" name="Image 0" descr="../../thesis/figures/fig_voronoi.png">    </p:cNvPr>
          <p:cNvPicPr>
            <a:picLocks noChangeAspect="1"/>
          </p:cNvPicPr>
          <p:nvPr/>
        </p:nvPicPr>
        <p:blipFill>
          <a:blip r:embed="rId1"/>
          <a:stretch>
            <a:fillRect/>
          </a:stretch>
        </p:blipFill>
        <p:spPr>
          <a:xfrm>
            <a:off x="4800600" y="1051560"/>
            <a:ext cx="3840480" cy="2633472"/>
          </a:xfrm>
          <a:prstGeom prst="rect">
            <a:avLst/>
          </a:prstGeom>
        </p:spPr>
      </p:pic>
      <p:sp>
        <p:nvSpPr>
          <p:cNvPr id="19" name="Text 16"/>
          <p:cNvSpPr/>
          <p:nvPr/>
        </p:nvSpPr>
        <p:spPr>
          <a:xfrm>
            <a:off x="4800600" y="3730752"/>
            <a:ext cx="3840480" cy="274320"/>
          </a:xfrm>
          <a:prstGeom prst="rect">
            <a:avLst/>
          </a:prstGeom>
          <a:noFill/>
          <a:ln/>
        </p:spPr>
        <p:txBody>
          <a:bodyPr wrap="square" lIns="0" tIns="0" rIns="0" bIns="0" rtlCol="0" anchor="t"/>
          <a:lstStyle/>
          <a:p>
            <a:pPr algn="ctr" indent="0" marL="0">
              <a:buNone/>
            </a:pPr>
            <a:r>
              <a:rPr lang="en-US" sz="1100" i="1" dirty="0">
                <a:solidFill>
                  <a:srgbClr val="5A5A66"/>
                </a:solidFill>
                <a:latin typeface="Cambria" pitchFamily="34" charset="0"/>
                <a:ea typeface="Cambria" pitchFamily="34" charset="-122"/>
                <a:cs typeface="Cambria" pitchFamily="34" charset="-120"/>
              </a:rPr>
              <a:t>Ô Voronoi của phần tử người dùng đã chạm</a:t>
            </a:r>
            <a:endParaRPr lang="en-US" sz="1100" dirty="0"/>
          </a:p>
        </p:txBody>
      </p:sp>
      <p:sp>
        <p:nvSpPr>
          <p:cNvPr id="20" name="Shape 17"/>
          <p:cNvSpPr/>
          <p:nvPr/>
        </p:nvSpPr>
        <p:spPr>
          <a:xfrm>
            <a:off x="4800600" y="4114800"/>
            <a:ext cx="3840480" cy="1554480"/>
          </a:xfrm>
          <a:prstGeom prst="roundRect">
            <a:avLst>
              <a:gd name="adj" fmla="val 3529"/>
            </a:avLst>
          </a:prstGeom>
          <a:solidFill>
            <a:srgbClr val="E9E8EC"/>
          </a:solidFill>
          <a:ln/>
          <a:effectLst>
            <a:outerShdw sx="100000" sy="100000" kx="0" ky="0" algn="bl" rotWithShape="0" blurRad="63500" dist="31750" dir="2700000">
              <a:srgbClr val="8C8C99">
                <a:alpha val="45000"/>
              </a:srgbClr>
            </a:outerShdw>
          </a:effectLst>
        </p:spPr>
      </p:sp>
      <p:sp>
        <p:nvSpPr>
          <p:cNvPr id="21" name="Text 18"/>
          <p:cNvSpPr/>
          <p:nvPr/>
        </p:nvSpPr>
        <p:spPr>
          <a:xfrm>
            <a:off x="4983480" y="4114800"/>
            <a:ext cx="3474720" cy="1554480"/>
          </a:xfrm>
          <a:prstGeom prst="rect">
            <a:avLst/>
          </a:prstGeom>
          <a:noFill/>
          <a:ln/>
        </p:spPr>
        <p:txBody>
          <a:bodyPr wrap="square" lIns="0" tIns="0" rIns="0" bIns="0" rtlCol="0" anchor="ctr"/>
          <a:lstStyle/>
          <a:p>
            <a:pPr algn="l" indent="0" marL="0">
              <a:lnSpc>
                <a:spcPct val="135000"/>
              </a:lnSpc>
              <a:buNone/>
            </a:pPr>
            <a:r>
              <a:rPr lang="en-US" sz="1250" b="1" dirty="0">
                <a:solidFill>
                  <a:srgbClr val="B22222"/>
                </a:solidFill>
                <a:latin typeface="Cambria" pitchFamily="34" charset="0"/>
                <a:ea typeface="Cambria" pitchFamily="34" charset="-122"/>
                <a:cs typeface="Cambria" pitchFamily="34" charset="-120"/>
              </a:rPr>
              <a:t>Đây không phải mô hình tự chấm.</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Chuẩn để chấm là toạ độ một người thật đã chạm. Mô hình định vị không bao giờ được cho biết toạ độ đó.</a:t>
            </a:r>
            <a:endParaRPr lang="en-US" sz="1250" dirty="0"/>
          </a:p>
        </p:txBody>
      </p:sp>
      <p:sp>
        <p:nvSpPr>
          <p:cNvPr id="23" name="Shape 19"/>
          <p:cNvSpPr/>
          <p:nvPr/>
        </p:nvSpPr>
        <p:spPr>
          <a:xfrm>
            <a:off x="0" y="6620256"/>
            <a:ext cx="2743200" cy="237744"/>
          </a:xfrm>
          <a:prstGeom prst="rect">
            <a:avLst/>
          </a:prstGeom>
          <a:solidFill>
            <a:srgbClr val="191132"/>
          </a:solidFill>
          <a:ln/>
        </p:spPr>
      </p:sp>
      <p:sp>
        <p:nvSpPr>
          <p:cNvPr id="24" name="Shape 20"/>
          <p:cNvSpPr/>
          <p:nvPr/>
        </p:nvSpPr>
        <p:spPr>
          <a:xfrm>
            <a:off x="2743200" y="6620256"/>
            <a:ext cx="3383280" cy="237744"/>
          </a:xfrm>
          <a:prstGeom prst="rect">
            <a:avLst/>
          </a:prstGeom>
          <a:solidFill>
            <a:srgbClr val="25194B"/>
          </a:solidFill>
          <a:ln/>
        </p:spPr>
      </p:sp>
      <p:sp>
        <p:nvSpPr>
          <p:cNvPr id="25" name="Shape 21"/>
          <p:cNvSpPr/>
          <p:nvPr/>
        </p:nvSpPr>
        <p:spPr>
          <a:xfrm>
            <a:off x="6126480" y="6620256"/>
            <a:ext cx="1737360" cy="237744"/>
          </a:xfrm>
          <a:prstGeom prst="rect">
            <a:avLst/>
          </a:prstGeom>
          <a:solidFill>
            <a:srgbClr val="4F417A"/>
          </a:solidFill>
          <a:ln/>
        </p:spPr>
      </p:sp>
      <p:sp>
        <p:nvSpPr>
          <p:cNvPr id="26" name="Shape 22"/>
          <p:cNvSpPr/>
          <p:nvPr/>
        </p:nvSpPr>
        <p:spPr>
          <a:xfrm>
            <a:off x="7863840" y="6620256"/>
            <a:ext cx="1280160" cy="237744"/>
          </a:xfrm>
          <a:prstGeom prst="rect">
            <a:avLst/>
          </a:prstGeom>
          <a:solidFill>
            <a:srgbClr val="7A7099"/>
          </a:solidFill>
          <a:ln/>
        </p:spPr>
      </p:sp>
      <p:sp>
        <p:nvSpPr>
          <p:cNvPr id="27" name="Text 2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8" name="Text 2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9"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0" name="Text 2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Luật xác định trúng được chọn từ sàn mà nó đạt được</a:t>
            </a:r>
            <a:endParaRPr lang="en-US" sz="1900" dirty="0"/>
          </a:p>
        </p:txBody>
      </p:sp>
      <p:sp>
        <p:nvSpPr>
          <p:cNvPr id="4" name="Text 2"/>
          <p:cNvSpPr/>
          <p:nvPr/>
        </p:nvSpPr>
        <p:spPr>
          <a:xfrm>
            <a:off x="502920" y="868680"/>
            <a:ext cx="8138160" cy="365760"/>
          </a:xfrm>
          <a:prstGeom prst="rect">
            <a:avLst/>
          </a:prstGeom>
          <a:noFill/>
          <a:ln/>
        </p:spPr>
        <p:txBody>
          <a:bodyPr wrap="square" lIns="0" tIns="0" rIns="0" bIns="0" rtlCol="0" anchor="t"/>
          <a:lstStyle/>
          <a:p>
            <a:pPr algn="l" indent="0" marL="0">
              <a:buNone/>
            </a:pPr>
            <a:r>
              <a:rPr lang="en-US" sz="1400" dirty="0">
                <a:solidFill>
                  <a:srgbClr val="1A1A1A"/>
                </a:solidFill>
                <a:latin typeface="Cambria" pitchFamily="34" charset="0"/>
                <a:ea typeface="Cambria" pitchFamily="34" charset="-122"/>
                <a:cs typeface="Cambria" pitchFamily="34" charset="-120"/>
              </a:rPr>
              <a:t>Đặt trước thước một câu cố tình gọi sai tên nút, rồi xem luật nào còn cho điểm.</a:t>
            </a:r>
            <a:endParaRPr lang="en-US" sz="1400" dirty="0"/>
          </a:p>
        </p:txBody>
      </p:sp>
      <p:sp>
        <p:nvSpPr>
          <p:cNvPr id="5" name="Shape 3"/>
          <p:cNvSpPr/>
          <p:nvPr/>
        </p:nvSpPr>
        <p:spPr>
          <a:xfrm>
            <a:off x="1143000" y="1463040"/>
            <a:ext cx="7498080" cy="411480"/>
          </a:xfrm>
          <a:prstGeom prst="rect">
            <a:avLst/>
          </a:prstGeom>
          <a:solidFill>
            <a:srgbClr val="322164"/>
          </a:solidFill>
          <a:ln/>
        </p:spPr>
      </p:sp>
      <p:sp>
        <p:nvSpPr>
          <p:cNvPr id="6" name="Text 4"/>
          <p:cNvSpPr/>
          <p:nvPr/>
        </p:nvSpPr>
        <p:spPr>
          <a:xfrm>
            <a:off x="1143000" y="1463040"/>
            <a:ext cx="4389120" cy="41148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Luật xác định trúng</a:t>
            </a:r>
            <a:endParaRPr lang="en-US" sz="1250" dirty="0"/>
          </a:p>
        </p:txBody>
      </p:sp>
      <p:sp>
        <p:nvSpPr>
          <p:cNvPr id="7" name="Text 5"/>
          <p:cNvSpPr/>
          <p:nvPr/>
        </p:nvSpPr>
        <p:spPr>
          <a:xfrm>
            <a:off x="5532120" y="1463040"/>
            <a:ext cx="1828800" cy="41148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Chấm đúng cho câu sai nút</a:t>
            </a:r>
            <a:endParaRPr lang="en-US" sz="1250" dirty="0"/>
          </a:p>
        </p:txBody>
      </p:sp>
      <p:sp>
        <p:nvSpPr>
          <p:cNvPr id="8" name="Text 6"/>
          <p:cNvSpPr/>
          <p:nvPr/>
        </p:nvSpPr>
        <p:spPr>
          <a:xfrm>
            <a:off x="7360920" y="1463040"/>
            <a:ext cx="1280160" cy="411480"/>
          </a:xfrm>
          <a:prstGeom prst="rect">
            <a:avLst/>
          </a:prstGeom>
          <a:noFill/>
          <a:ln/>
        </p:spPr>
        <p:txBody>
          <a:bodyPr wrap="square" lIns="38100" tIns="38100" rIns="38100" bIns="38100" rtlCol="0" anchor="ctr"/>
          <a:lstStyle/>
          <a:p>
            <a:pPr algn="r" indent="0" marL="0">
              <a:buNone/>
            </a:pPr>
            <a:endParaRPr lang="en-US" sz="1250" dirty="0"/>
          </a:p>
        </p:txBody>
      </p:sp>
      <p:sp>
        <p:nvSpPr>
          <p:cNvPr id="9" name="Text 7"/>
          <p:cNvSpPr/>
          <p:nvPr/>
        </p:nvSpPr>
        <p:spPr>
          <a:xfrm>
            <a:off x="1143000" y="1874520"/>
            <a:ext cx="4389120" cy="566928"/>
          </a:xfrm>
          <a:prstGeom prst="rect">
            <a:avLst/>
          </a:prstGeom>
          <a:noFill/>
          <a:ln/>
        </p:spPr>
        <p:txBody>
          <a:bodyPr wrap="square" lIns="38100" tIns="38100" rIns="38100" bIns="3810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Ngưỡng dung sai quy ước</a:t>
            </a:r>
            <a:endParaRPr lang="en-US" sz="1350" dirty="0"/>
          </a:p>
        </p:txBody>
      </p:sp>
      <p:sp>
        <p:nvSpPr>
          <p:cNvPr id="10" name="Text 8"/>
          <p:cNvSpPr/>
          <p:nvPr/>
        </p:nvSpPr>
        <p:spPr>
          <a:xfrm>
            <a:off x="5532120" y="1874520"/>
            <a:ext cx="1828800" cy="566928"/>
          </a:xfrm>
          <a:prstGeom prst="rect">
            <a:avLst/>
          </a:prstGeom>
          <a:noFill/>
          <a:ln/>
        </p:spPr>
        <p:txBody>
          <a:bodyPr wrap="square" lIns="38100" tIns="38100" rIns="38100" bIns="38100" rtlCol="0" anchor="ctr"/>
          <a:lstStyle/>
          <a:p>
            <a:pPr algn="ctr" indent="0" marL="0">
              <a:buNone/>
            </a:pPr>
            <a:r>
              <a:rPr lang="en-US" sz="1500" b="1" dirty="0">
                <a:solidFill>
                  <a:srgbClr val="B22222"/>
                </a:solidFill>
                <a:latin typeface="Cambria" pitchFamily="34" charset="0"/>
                <a:ea typeface="Cambria" pitchFamily="34" charset="-122"/>
                <a:cs typeface="Cambria" pitchFamily="34" charset="-120"/>
              </a:rPr>
              <a:t>84,3%</a:t>
            </a:r>
            <a:endParaRPr lang="en-US" sz="1500" dirty="0"/>
          </a:p>
        </p:txBody>
      </p:sp>
      <p:sp>
        <p:nvSpPr>
          <p:cNvPr id="11" name="Text 9"/>
          <p:cNvSpPr/>
          <p:nvPr/>
        </p:nvSpPr>
        <p:spPr>
          <a:xfrm>
            <a:off x="7360920" y="1874520"/>
            <a:ext cx="1280160" cy="566928"/>
          </a:xfrm>
          <a:prstGeom prst="rect">
            <a:avLst/>
          </a:prstGeom>
          <a:noFill/>
          <a:ln/>
        </p:spPr>
        <p:txBody>
          <a:bodyPr wrap="square" lIns="38100" tIns="38100" rIns="38100" bIns="38100" rtlCol="0" anchor="ctr"/>
          <a:lstStyle/>
          <a:p>
            <a:pPr algn="r" indent="0" marL="0">
              <a:buNone/>
            </a:pPr>
            <a:r>
              <a:rPr lang="en-US" sz="1350" b="1" dirty="0">
                <a:solidFill>
                  <a:srgbClr val="B22222"/>
                </a:solidFill>
                <a:latin typeface="Cambria" pitchFamily="34" charset="0"/>
                <a:ea typeface="Cambria" pitchFamily="34" charset="-122"/>
                <a:cs typeface="Cambria" pitchFamily="34" charset="-120"/>
              </a:rPr>
              <a:t>không dùng được</a:t>
            </a:r>
            <a:endParaRPr lang="en-US" sz="1350" dirty="0"/>
          </a:p>
        </p:txBody>
      </p:sp>
      <p:sp>
        <p:nvSpPr>
          <p:cNvPr id="12" name="Shape 10"/>
          <p:cNvSpPr/>
          <p:nvPr/>
        </p:nvSpPr>
        <p:spPr>
          <a:xfrm>
            <a:off x="1143000" y="2441448"/>
            <a:ext cx="7498080" cy="0"/>
          </a:xfrm>
          <a:prstGeom prst="line">
            <a:avLst/>
          </a:prstGeom>
          <a:noFill/>
          <a:ln w="12700">
            <a:solidFill>
              <a:srgbClr val="9A94AE"/>
            </a:solidFill>
            <a:prstDash val="solid"/>
          </a:ln>
        </p:spPr>
      </p:sp>
      <p:sp>
        <p:nvSpPr>
          <p:cNvPr id="13" name="Text 11"/>
          <p:cNvSpPr/>
          <p:nvPr/>
        </p:nvSpPr>
        <p:spPr>
          <a:xfrm>
            <a:off x="1143000" y="2441448"/>
            <a:ext cx="4389120" cy="566928"/>
          </a:xfrm>
          <a:prstGeom prst="rect">
            <a:avLst/>
          </a:prstGeom>
          <a:noFill/>
          <a:ln/>
        </p:spPr>
        <p:txBody>
          <a:bodyPr wrap="square" lIns="38100" tIns="38100" rIns="38100" bIns="38100" rtlCol="0" anchor="ctr"/>
          <a:lstStyle/>
          <a:p>
            <a:pPr algn="l" indent="0" marL="0">
              <a:buNone/>
            </a:pPr>
            <a:r>
              <a:rPr lang="en-US" sz="1350" b="1" dirty="0">
                <a:solidFill>
                  <a:srgbClr val="006666"/>
                </a:solidFill>
                <a:latin typeface="Cambria" pitchFamily="34" charset="0"/>
                <a:ea typeface="Cambria" pitchFamily="34" charset="-122"/>
                <a:cs typeface="Cambria" pitchFamily="34" charset="-120"/>
              </a:rPr>
              <a:t>Thêm điều kiện ô Voronoi</a:t>
            </a:r>
            <a:endParaRPr lang="en-US" sz="1350" dirty="0"/>
          </a:p>
        </p:txBody>
      </p:sp>
      <p:sp>
        <p:nvSpPr>
          <p:cNvPr id="14" name="Text 12"/>
          <p:cNvSpPr/>
          <p:nvPr/>
        </p:nvSpPr>
        <p:spPr>
          <a:xfrm>
            <a:off x="5532120" y="2441448"/>
            <a:ext cx="1828800" cy="566928"/>
          </a:xfrm>
          <a:prstGeom prst="rect">
            <a:avLst/>
          </a:prstGeom>
          <a:noFill/>
          <a:ln/>
        </p:spPr>
        <p:txBody>
          <a:bodyPr wrap="square" lIns="38100" tIns="38100" rIns="38100" bIns="38100" rtlCol="0" anchor="ctr"/>
          <a:lstStyle/>
          <a:p>
            <a:pPr algn="ctr" indent="0" marL="0">
              <a:buNone/>
            </a:pPr>
            <a:r>
              <a:rPr lang="en-US" sz="1500" b="1" dirty="0">
                <a:solidFill>
                  <a:srgbClr val="006666"/>
                </a:solidFill>
                <a:latin typeface="Cambria" pitchFamily="34" charset="0"/>
                <a:ea typeface="Cambria" pitchFamily="34" charset="-122"/>
                <a:cs typeface="Cambria" pitchFamily="34" charset="-120"/>
              </a:rPr>
              <a:t>2,8%</a:t>
            </a:r>
            <a:endParaRPr lang="en-US" sz="1500" dirty="0"/>
          </a:p>
        </p:txBody>
      </p:sp>
      <p:sp>
        <p:nvSpPr>
          <p:cNvPr id="15" name="Text 13"/>
          <p:cNvSpPr/>
          <p:nvPr/>
        </p:nvSpPr>
        <p:spPr>
          <a:xfrm>
            <a:off x="7360920" y="2441448"/>
            <a:ext cx="1280160" cy="566928"/>
          </a:xfrm>
          <a:prstGeom prst="rect">
            <a:avLst/>
          </a:prstGeom>
          <a:noFill/>
          <a:ln/>
        </p:spPr>
        <p:txBody>
          <a:bodyPr wrap="square" lIns="38100" tIns="38100" rIns="38100" bIns="38100" rtlCol="0" anchor="ctr"/>
          <a:lstStyle/>
          <a:p>
            <a:pPr algn="r" indent="0" marL="0">
              <a:buNone/>
            </a:pPr>
            <a:r>
              <a:rPr lang="en-US" sz="1350" b="1" dirty="0">
                <a:solidFill>
                  <a:srgbClr val="006666"/>
                </a:solidFill>
                <a:latin typeface="Cambria" pitchFamily="34" charset="0"/>
                <a:ea typeface="Cambria" pitchFamily="34" charset="-122"/>
                <a:cs typeface="Cambria" pitchFamily="34" charset="-120"/>
              </a:rPr>
              <a:t>đã chọn</a:t>
            </a:r>
            <a:endParaRPr lang="en-US" sz="1350" dirty="0"/>
          </a:p>
        </p:txBody>
      </p:sp>
      <p:sp>
        <p:nvSpPr>
          <p:cNvPr id="16" name="Text 14"/>
          <p:cNvSpPr/>
          <p:nvPr/>
        </p:nvSpPr>
        <p:spPr>
          <a:xfrm>
            <a:off x="502920" y="3200400"/>
            <a:ext cx="81381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Ba chi tiết của luật, đọc thẳng từ mã cài đặt</a:t>
            </a:r>
            <a:endParaRPr lang="en-US" sz="1400" dirty="0"/>
          </a:p>
        </p:txBody>
      </p:sp>
      <p:sp>
        <p:nvSpPr>
          <p:cNvPr id="17" name="Text 15"/>
          <p:cNvSpPr/>
          <p:nvPr/>
        </p:nvSpPr>
        <p:spPr>
          <a:xfrm>
            <a:off x="640080" y="3611880"/>
            <a:ext cx="201168" cy="64008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18" name="Text 16"/>
          <p:cNvSpPr/>
          <p:nvPr/>
        </p:nvSpPr>
        <p:spPr>
          <a:xfrm>
            <a:off x="868680" y="3611880"/>
            <a:ext cx="7635240" cy="603504"/>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Vùng dung sai là hình chữ nhật: ±151 điểm ảnh ngang nhưng ±336 dọc</a:t>
            </a:r>
            <a:endParaRPr lang="en-US" sz="1350" dirty="0"/>
          </a:p>
        </p:txBody>
      </p:sp>
      <p:sp>
        <p:nvSpPr>
          <p:cNvPr id="19" name="Text 17"/>
          <p:cNvSpPr/>
          <p:nvPr/>
        </p:nvSpPr>
        <p:spPr>
          <a:xfrm>
            <a:off x="640080" y="4251960"/>
            <a:ext cx="201168" cy="64008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0" name="Text 18"/>
          <p:cNvSpPr/>
          <p:nvPr/>
        </p:nvSpPr>
        <p:spPr>
          <a:xfrm>
            <a:off x="868680" y="4251960"/>
            <a:ext cx="7635240" cy="603504"/>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Hạt sinh ra ô Voronoi là chính điểm chạm, không phải tâm hộp phần tử</a:t>
            </a:r>
            <a:endParaRPr lang="en-US" sz="1350" dirty="0"/>
          </a:p>
        </p:txBody>
      </p:sp>
      <p:sp>
        <p:nvSpPr>
          <p:cNvPr id="21" name="Text 19"/>
          <p:cNvSpPr/>
          <p:nvPr/>
        </p:nvSpPr>
        <p:spPr>
          <a:xfrm>
            <a:off x="640080" y="4892040"/>
            <a:ext cx="201168" cy="640080"/>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2" name="Text 20"/>
          <p:cNvSpPr/>
          <p:nvPr/>
        </p:nvSpPr>
        <p:spPr>
          <a:xfrm>
            <a:off x="868680" y="4892040"/>
            <a:ext cx="7635240" cy="603504"/>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Điều kiện Voronoi bao gồm cả điều kiện dung sai, nên nó là bản siết chặt</a:t>
            </a:r>
            <a:endParaRPr lang="en-US" sz="1350" dirty="0"/>
          </a:p>
        </p:txBody>
      </p:sp>
      <p:sp>
        <p:nvSpPr>
          <p:cNvPr id="24" name="Shape 21"/>
          <p:cNvSpPr/>
          <p:nvPr/>
        </p:nvSpPr>
        <p:spPr>
          <a:xfrm>
            <a:off x="0" y="6620256"/>
            <a:ext cx="2743200" cy="237744"/>
          </a:xfrm>
          <a:prstGeom prst="rect">
            <a:avLst/>
          </a:prstGeom>
          <a:solidFill>
            <a:srgbClr val="191132"/>
          </a:solidFill>
          <a:ln/>
        </p:spPr>
      </p:sp>
      <p:sp>
        <p:nvSpPr>
          <p:cNvPr id="25" name="Shape 22"/>
          <p:cNvSpPr/>
          <p:nvPr/>
        </p:nvSpPr>
        <p:spPr>
          <a:xfrm>
            <a:off x="2743200" y="6620256"/>
            <a:ext cx="3383280" cy="237744"/>
          </a:xfrm>
          <a:prstGeom prst="rect">
            <a:avLst/>
          </a:prstGeom>
          <a:solidFill>
            <a:srgbClr val="25194B"/>
          </a:solidFill>
          <a:ln/>
        </p:spPr>
      </p:sp>
      <p:sp>
        <p:nvSpPr>
          <p:cNvPr id="26" name="Shape 23"/>
          <p:cNvSpPr/>
          <p:nvPr/>
        </p:nvSpPr>
        <p:spPr>
          <a:xfrm>
            <a:off x="6126480" y="6620256"/>
            <a:ext cx="1737360" cy="237744"/>
          </a:xfrm>
          <a:prstGeom prst="rect">
            <a:avLst/>
          </a:prstGeom>
          <a:solidFill>
            <a:srgbClr val="4F417A"/>
          </a:solidFill>
          <a:ln/>
        </p:spPr>
      </p:sp>
      <p:sp>
        <p:nvSpPr>
          <p:cNvPr id="27" name="Shape 24"/>
          <p:cNvSpPr/>
          <p:nvPr/>
        </p:nvSpPr>
        <p:spPr>
          <a:xfrm>
            <a:off x="7863840" y="6620256"/>
            <a:ext cx="1280160" cy="237744"/>
          </a:xfrm>
          <a:prstGeom prst="rect">
            <a:avLst/>
          </a:prstGeom>
          <a:solidFill>
            <a:srgbClr val="7A7099"/>
          </a:solidFill>
          <a:ln/>
        </p:spPr>
      </p:sp>
      <p:sp>
        <p:nvSpPr>
          <p:cNvPr id="28"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0"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Trần và sàn đều là đại lượng đo được</a:t>
            </a:r>
            <a:endParaRPr lang="en-US" sz="1900" dirty="0"/>
          </a:p>
        </p:txBody>
      </p:sp>
      <p:sp>
        <p:nvSpPr>
          <p:cNvPr id="4" name="Text 2"/>
          <p:cNvSpPr/>
          <p:nvPr/>
        </p:nvSpPr>
        <p:spPr>
          <a:xfrm>
            <a:off x="502920" y="914400"/>
            <a:ext cx="3291840" cy="384048"/>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Câu chuẩn  (trần)</a:t>
            </a:r>
            <a:endParaRPr lang="en-US" sz="1300" dirty="0"/>
          </a:p>
        </p:txBody>
      </p:sp>
      <p:sp>
        <p:nvSpPr>
          <p:cNvPr id="5" name="Shape 3"/>
          <p:cNvSpPr/>
          <p:nvPr/>
        </p:nvSpPr>
        <p:spPr>
          <a:xfrm>
            <a:off x="3886200" y="969264"/>
            <a:ext cx="3566160" cy="274320"/>
          </a:xfrm>
          <a:prstGeom prst="rect">
            <a:avLst/>
          </a:prstGeom>
          <a:solidFill>
            <a:srgbClr val="DCDAE4"/>
          </a:solidFill>
          <a:ln/>
        </p:spPr>
      </p:sp>
      <p:sp>
        <p:nvSpPr>
          <p:cNvPr id="6" name="Shape 4"/>
          <p:cNvSpPr/>
          <p:nvPr/>
        </p:nvSpPr>
        <p:spPr>
          <a:xfrm>
            <a:off x="3886200" y="969264"/>
            <a:ext cx="2699583" cy="274320"/>
          </a:xfrm>
          <a:prstGeom prst="rect">
            <a:avLst/>
          </a:prstGeom>
          <a:solidFill>
            <a:srgbClr val="006666"/>
          </a:solidFill>
          <a:ln/>
        </p:spPr>
      </p:sp>
      <p:sp>
        <p:nvSpPr>
          <p:cNvPr id="7" name="Text 5"/>
          <p:cNvSpPr/>
          <p:nvPr/>
        </p:nvSpPr>
        <p:spPr>
          <a:xfrm>
            <a:off x="7543800" y="914400"/>
            <a:ext cx="1097280" cy="384048"/>
          </a:xfrm>
          <a:prstGeom prst="rect">
            <a:avLst/>
          </a:prstGeom>
          <a:noFill/>
          <a:ln/>
        </p:spPr>
        <p:txBody>
          <a:bodyPr wrap="square" lIns="0" tIns="0" rIns="0" bIns="0" rtlCol="0" anchor="ctr"/>
          <a:lstStyle/>
          <a:p>
            <a:pPr algn="r" indent="0" marL="0">
              <a:buNone/>
            </a:pPr>
            <a:r>
              <a:rPr lang="en-US" sz="1500" b="1" dirty="0">
                <a:solidFill>
                  <a:srgbClr val="006666"/>
                </a:solidFill>
                <a:latin typeface="Cambria" pitchFamily="34" charset="0"/>
                <a:ea typeface="Cambria" pitchFamily="34" charset="-122"/>
                <a:cs typeface="Cambria" pitchFamily="34" charset="-120"/>
              </a:rPr>
              <a:t>75,7%</a:t>
            </a:r>
            <a:endParaRPr lang="en-US" sz="1500" dirty="0"/>
          </a:p>
        </p:txBody>
      </p:sp>
      <p:sp>
        <p:nvSpPr>
          <p:cNvPr id="8" name="Text 6"/>
          <p:cNvSpPr/>
          <p:nvPr/>
        </p:nvSpPr>
        <p:spPr>
          <a:xfrm>
            <a:off x="502920" y="1627632"/>
            <a:ext cx="3291840" cy="384048"/>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Mô hình sau tinh chỉnh</a:t>
            </a:r>
            <a:endParaRPr lang="en-US" sz="1300" dirty="0"/>
          </a:p>
        </p:txBody>
      </p:sp>
      <p:sp>
        <p:nvSpPr>
          <p:cNvPr id="9" name="Shape 7"/>
          <p:cNvSpPr/>
          <p:nvPr/>
        </p:nvSpPr>
        <p:spPr>
          <a:xfrm>
            <a:off x="3886200" y="1682496"/>
            <a:ext cx="3566160" cy="274320"/>
          </a:xfrm>
          <a:prstGeom prst="rect">
            <a:avLst/>
          </a:prstGeom>
          <a:solidFill>
            <a:srgbClr val="DCDAE4"/>
          </a:solidFill>
          <a:ln/>
        </p:spPr>
      </p:sp>
      <p:sp>
        <p:nvSpPr>
          <p:cNvPr id="10" name="Shape 8"/>
          <p:cNvSpPr/>
          <p:nvPr/>
        </p:nvSpPr>
        <p:spPr>
          <a:xfrm>
            <a:off x="3886200" y="1682496"/>
            <a:ext cx="2107601" cy="274320"/>
          </a:xfrm>
          <a:prstGeom prst="rect">
            <a:avLst/>
          </a:prstGeom>
          <a:solidFill>
            <a:srgbClr val="322164"/>
          </a:solidFill>
          <a:ln/>
        </p:spPr>
      </p:sp>
      <p:sp>
        <p:nvSpPr>
          <p:cNvPr id="11" name="Text 9"/>
          <p:cNvSpPr/>
          <p:nvPr/>
        </p:nvSpPr>
        <p:spPr>
          <a:xfrm>
            <a:off x="7543800" y="1627632"/>
            <a:ext cx="1097280" cy="384048"/>
          </a:xfrm>
          <a:prstGeom prst="rect">
            <a:avLst/>
          </a:prstGeom>
          <a:noFill/>
          <a:ln/>
        </p:spPr>
        <p:txBody>
          <a:bodyPr wrap="square" lIns="0" tIns="0" rIns="0" bIns="0" rtlCol="0" anchor="ctr"/>
          <a:lstStyle/>
          <a:p>
            <a:pPr algn="r" indent="0" marL="0">
              <a:buNone/>
            </a:pPr>
            <a:r>
              <a:rPr lang="en-US" sz="1500" b="1" dirty="0">
                <a:solidFill>
                  <a:srgbClr val="322164"/>
                </a:solidFill>
                <a:latin typeface="Cambria" pitchFamily="34" charset="0"/>
                <a:ea typeface="Cambria" pitchFamily="34" charset="-122"/>
                <a:cs typeface="Cambria" pitchFamily="34" charset="-120"/>
              </a:rPr>
              <a:t>59,1%</a:t>
            </a:r>
            <a:endParaRPr lang="en-US" sz="1500" dirty="0"/>
          </a:p>
        </p:txBody>
      </p:sp>
      <p:sp>
        <p:nvSpPr>
          <p:cNvPr id="12" name="Text 10"/>
          <p:cNvSpPr/>
          <p:nvPr/>
        </p:nvSpPr>
        <p:spPr>
          <a:xfrm>
            <a:off x="502920" y="2340864"/>
            <a:ext cx="3291840" cy="384048"/>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Mô hình chưa tinh chỉnh</a:t>
            </a:r>
            <a:endParaRPr lang="en-US" sz="1300" dirty="0"/>
          </a:p>
        </p:txBody>
      </p:sp>
      <p:sp>
        <p:nvSpPr>
          <p:cNvPr id="13" name="Shape 11"/>
          <p:cNvSpPr/>
          <p:nvPr/>
        </p:nvSpPr>
        <p:spPr>
          <a:xfrm>
            <a:off x="3886200" y="2395728"/>
            <a:ext cx="3566160" cy="274320"/>
          </a:xfrm>
          <a:prstGeom prst="rect">
            <a:avLst/>
          </a:prstGeom>
          <a:solidFill>
            <a:srgbClr val="DCDAE4"/>
          </a:solidFill>
          <a:ln/>
        </p:spPr>
      </p:sp>
      <p:sp>
        <p:nvSpPr>
          <p:cNvPr id="14" name="Shape 12"/>
          <p:cNvSpPr/>
          <p:nvPr/>
        </p:nvSpPr>
        <p:spPr>
          <a:xfrm>
            <a:off x="3886200" y="2395728"/>
            <a:ext cx="1697492" cy="274320"/>
          </a:xfrm>
          <a:prstGeom prst="rect">
            <a:avLst/>
          </a:prstGeom>
          <a:solidFill>
            <a:srgbClr val="4F417A"/>
          </a:solidFill>
          <a:ln/>
        </p:spPr>
      </p:sp>
      <p:sp>
        <p:nvSpPr>
          <p:cNvPr id="15" name="Text 13"/>
          <p:cNvSpPr/>
          <p:nvPr/>
        </p:nvSpPr>
        <p:spPr>
          <a:xfrm>
            <a:off x="7543800" y="2340864"/>
            <a:ext cx="1097280" cy="384048"/>
          </a:xfrm>
          <a:prstGeom prst="rect">
            <a:avLst/>
          </a:prstGeom>
          <a:noFill/>
          <a:ln/>
        </p:spPr>
        <p:txBody>
          <a:bodyPr wrap="square" lIns="0" tIns="0" rIns="0" bIns="0" rtlCol="0" anchor="ctr"/>
          <a:lstStyle/>
          <a:p>
            <a:pPr algn="r" indent="0" marL="0">
              <a:buNone/>
            </a:pPr>
            <a:r>
              <a:rPr lang="en-US" sz="1500" b="1" dirty="0">
                <a:solidFill>
                  <a:srgbClr val="4F417A"/>
                </a:solidFill>
                <a:latin typeface="Cambria" pitchFamily="34" charset="0"/>
                <a:ea typeface="Cambria" pitchFamily="34" charset="-122"/>
                <a:cs typeface="Cambria" pitchFamily="34" charset="-120"/>
              </a:rPr>
              <a:t>47,6%</a:t>
            </a:r>
            <a:endParaRPr lang="en-US" sz="1500" dirty="0"/>
          </a:p>
        </p:txBody>
      </p:sp>
      <p:sp>
        <p:nvSpPr>
          <p:cNvPr id="16" name="Text 14"/>
          <p:cNvSpPr/>
          <p:nvPr/>
        </p:nvSpPr>
        <p:spPr>
          <a:xfrm>
            <a:off x="502920" y="3054096"/>
            <a:ext cx="3291840" cy="384048"/>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Câu chung chung, không nói phần tử nào</a:t>
            </a:r>
            <a:endParaRPr lang="en-US" sz="1300" dirty="0"/>
          </a:p>
        </p:txBody>
      </p:sp>
      <p:sp>
        <p:nvSpPr>
          <p:cNvPr id="17" name="Shape 15"/>
          <p:cNvSpPr/>
          <p:nvPr/>
        </p:nvSpPr>
        <p:spPr>
          <a:xfrm>
            <a:off x="3886200" y="3108960"/>
            <a:ext cx="3566160" cy="274320"/>
          </a:xfrm>
          <a:prstGeom prst="rect">
            <a:avLst/>
          </a:prstGeom>
          <a:solidFill>
            <a:srgbClr val="DCDAE4"/>
          </a:solidFill>
          <a:ln/>
        </p:spPr>
      </p:sp>
      <p:sp>
        <p:nvSpPr>
          <p:cNvPr id="18" name="Shape 16"/>
          <p:cNvSpPr/>
          <p:nvPr/>
        </p:nvSpPr>
        <p:spPr>
          <a:xfrm>
            <a:off x="3886200" y="3108960"/>
            <a:ext cx="427939" cy="274320"/>
          </a:xfrm>
          <a:prstGeom prst="rect">
            <a:avLst/>
          </a:prstGeom>
          <a:solidFill>
            <a:srgbClr val="B22222"/>
          </a:solidFill>
          <a:ln/>
        </p:spPr>
      </p:sp>
      <p:sp>
        <p:nvSpPr>
          <p:cNvPr id="19" name="Text 17"/>
          <p:cNvSpPr/>
          <p:nvPr/>
        </p:nvSpPr>
        <p:spPr>
          <a:xfrm>
            <a:off x="7543800" y="3054096"/>
            <a:ext cx="1097280" cy="384048"/>
          </a:xfrm>
          <a:prstGeom prst="rect">
            <a:avLst/>
          </a:prstGeom>
          <a:noFill/>
          <a:ln/>
        </p:spPr>
        <p:txBody>
          <a:bodyPr wrap="square" lIns="0" tIns="0" rIns="0" bIns="0" rtlCol="0" anchor="ctr"/>
          <a:lstStyle/>
          <a:p>
            <a:pPr algn="r" indent="0" marL="0">
              <a:buNone/>
            </a:pPr>
            <a:r>
              <a:rPr lang="en-US" sz="1500" b="1" dirty="0">
                <a:solidFill>
                  <a:srgbClr val="B22222"/>
                </a:solidFill>
                <a:latin typeface="Cambria" pitchFamily="34" charset="0"/>
                <a:ea typeface="Cambria" pitchFamily="34" charset="-122"/>
                <a:cs typeface="Cambria" pitchFamily="34" charset="-120"/>
              </a:rPr>
              <a:t>12,0%</a:t>
            </a:r>
            <a:endParaRPr lang="en-US" sz="1500" dirty="0"/>
          </a:p>
        </p:txBody>
      </p:sp>
      <p:sp>
        <p:nvSpPr>
          <p:cNvPr id="20" name="Text 18"/>
          <p:cNvSpPr/>
          <p:nvPr/>
        </p:nvSpPr>
        <p:spPr>
          <a:xfrm>
            <a:off x="502920" y="3767328"/>
            <a:ext cx="3291840" cy="384048"/>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Câu thật nhưng của một màn hình khác</a:t>
            </a:r>
            <a:endParaRPr lang="en-US" sz="1300" dirty="0"/>
          </a:p>
        </p:txBody>
      </p:sp>
      <p:sp>
        <p:nvSpPr>
          <p:cNvPr id="21" name="Shape 19"/>
          <p:cNvSpPr/>
          <p:nvPr/>
        </p:nvSpPr>
        <p:spPr>
          <a:xfrm>
            <a:off x="3886200" y="3822192"/>
            <a:ext cx="3566160" cy="274320"/>
          </a:xfrm>
          <a:prstGeom prst="rect">
            <a:avLst/>
          </a:prstGeom>
          <a:solidFill>
            <a:srgbClr val="DCDAE4"/>
          </a:solidFill>
          <a:ln/>
        </p:spPr>
      </p:sp>
      <p:sp>
        <p:nvSpPr>
          <p:cNvPr id="22" name="Shape 20"/>
          <p:cNvSpPr/>
          <p:nvPr/>
        </p:nvSpPr>
        <p:spPr>
          <a:xfrm>
            <a:off x="3886200" y="3822192"/>
            <a:ext cx="217536" cy="274320"/>
          </a:xfrm>
          <a:prstGeom prst="rect">
            <a:avLst/>
          </a:prstGeom>
          <a:solidFill>
            <a:srgbClr val="990000"/>
          </a:solidFill>
          <a:ln/>
        </p:spPr>
      </p:sp>
      <p:sp>
        <p:nvSpPr>
          <p:cNvPr id="23" name="Text 21"/>
          <p:cNvSpPr/>
          <p:nvPr/>
        </p:nvSpPr>
        <p:spPr>
          <a:xfrm>
            <a:off x="7543800" y="3767328"/>
            <a:ext cx="1097280" cy="384048"/>
          </a:xfrm>
          <a:prstGeom prst="rect">
            <a:avLst/>
          </a:prstGeom>
          <a:noFill/>
          <a:ln/>
        </p:spPr>
        <p:txBody>
          <a:bodyPr wrap="square" lIns="0" tIns="0" rIns="0" bIns="0" rtlCol="0" anchor="ctr"/>
          <a:lstStyle/>
          <a:p>
            <a:pPr algn="r" indent="0" marL="0">
              <a:buNone/>
            </a:pPr>
            <a:r>
              <a:rPr lang="en-US" sz="1500" b="1" dirty="0">
                <a:solidFill>
                  <a:srgbClr val="990000"/>
                </a:solidFill>
                <a:latin typeface="Cambria" pitchFamily="34" charset="0"/>
                <a:ea typeface="Cambria" pitchFamily="34" charset="-122"/>
                <a:cs typeface="Cambria" pitchFamily="34" charset="-120"/>
              </a:rPr>
              <a:t>6,1%</a:t>
            </a:r>
            <a:endParaRPr lang="en-US" sz="1500" dirty="0"/>
          </a:p>
        </p:txBody>
      </p:sp>
      <p:sp>
        <p:nvSpPr>
          <p:cNvPr id="24" name="Shape 22"/>
          <p:cNvSpPr/>
          <p:nvPr/>
        </p:nvSpPr>
        <p:spPr>
          <a:xfrm>
            <a:off x="502920" y="461772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25" name="Text 23"/>
          <p:cNvSpPr/>
          <p:nvPr/>
        </p:nvSpPr>
        <p:spPr>
          <a:xfrm>
            <a:off x="731520" y="4617720"/>
            <a:ext cx="7680960" cy="1051560"/>
          </a:xfrm>
          <a:prstGeom prst="rect">
            <a:avLst/>
          </a:prstGeom>
          <a:noFill/>
          <a:ln/>
        </p:spPr>
        <p:txBody>
          <a:bodyPr wrap="square" lIns="0" tIns="0" rIns="0" bIns="0" rtlCol="0" anchor="ctr"/>
          <a:lstStyle/>
          <a:p>
            <a:pPr algn="l" indent="0" marL="0">
              <a:lnSpc>
                <a:spcPct val="140000"/>
              </a:lnSpc>
              <a:buNone/>
            </a:pPr>
            <a:r>
              <a:rPr lang="en-US" sz="1400" b="1" dirty="0">
                <a:solidFill>
                  <a:srgbClr val="B22222"/>
                </a:solidFill>
                <a:latin typeface="Cambria" pitchFamily="34" charset="0"/>
                <a:ea typeface="Cambria" pitchFamily="34" charset="-122"/>
                <a:cs typeface="Cambria" pitchFamily="34" charset="-120"/>
              </a:rPr>
              <a:t>Câu đúng văn phong mà sai nội dung bị chấm thấp nhất trong mọi phép đo.</a:t>
            </a:r>
            <a:pPr algn="l" indent="0" marL="0">
              <a:lnSpc>
                <a:spcPct val="140000"/>
              </a:lnSpc>
              <a:buNone/>
            </a:pP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Dụng cụ đo thật sự đọc nội dung câu, không thưởng cho văn phong.</a:t>
            </a:r>
            <a:endParaRPr lang="en-US" sz="1400" dirty="0"/>
          </a:p>
        </p:txBody>
      </p:sp>
      <p:sp>
        <p:nvSpPr>
          <p:cNvPr id="27" name="Shape 24"/>
          <p:cNvSpPr/>
          <p:nvPr/>
        </p:nvSpPr>
        <p:spPr>
          <a:xfrm>
            <a:off x="0" y="6620256"/>
            <a:ext cx="2743200" cy="237744"/>
          </a:xfrm>
          <a:prstGeom prst="rect">
            <a:avLst/>
          </a:prstGeom>
          <a:solidFill>
            <a:srgbClr val="191132"/>
          </a:solidFill>
          <a:ln/>
        </p:spPr>
      </p:sp>
      <p:sp>
        <p:nvSpPr>
          <p:cNvPr id="28" name="Shape 25"/>
          <p:cNvSpPr/>
          <p:nvPr/>
        </p:nvSpPr>
        <p:spPr>
          <a:xfrm>
            <a:off x="2743200" y="6620256"/>
            <a:ext cx="3383280" cy="237744"/>
          </a:xfrm>
          <a:prstGeom prst="rect">
            <a:avLst/>
          </a:prstGeom>
          <a:solidFill>
            <a:srgbClr val="25194B"/>
          </a:solidFill>
          <a:ln/>
        </p:spPr>
      </p:sp>
      <p:sp>
        <p:nvSpPr>
          <p:cNvPr id="29" name="Shape 26"/>
          <p:cNvSpPr/>
          <p:nvPr/>
        </p:nvSpPr>
        <p:spPr>
          <a:xfrm>
            <a:off x="6126480" y="6620256"/>
            <a:ext cx="1737360" cy="237744"/>
          </a:xfrm>
          <a:prstGeom prst="rect">
            <a:avLst/>
          </a:prstGeom>
          <a:solidFill>
            <a:srgbClr val="4F417A"/>
          </a:solidFill>
          <a:ln/>
        </p:spPr>
      </p:sp>
      <p:sp>
        <p:nvSpPr>
          <p:cNvPr id="30" name="Shape 27"/>
          <p:cNvSpPr/>
          <p:nvPr/>
        </p:nvSpPr>
        <p:spPr>
          <a:xfrm>
            <a:off x="7863840" y="6620256"/>
            <a:ext cx="1280160" cy="237744"/>
          </a:xfrm>
          <a:prstGeom prst="rect">
            <a:avLst/>
          </a:prstGeom>
          <a:solidFill>
            <a:srgbClr val="7A7099"/>
          </a:solidFill>
          <a:ln/>
        </p:spPr>
      </p:sp>
      <p:sp>
        <p:nvSpPr>
          <p:cNvPr id="31" name="Text 2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2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Sáu khối kiểm chứng của thước</a:t>
            </a:r>
            <a:endParaRPr lang="en-US" sz="1900" dirty="0"/>
          </a:p>
        </p:txBody>
      </p:sp>
      <p:sp>
        <p:nvSpPr>
          <p:cNvPr id="4" name="Shape 2"/>
          <p:cNvSpPr/>
          <p:nvPr/>
        </p:nvSpPr>
        <p:spPr>
          <a:xfrm>
            <a:off x="502920" y="914400"/>
            <a:ext cx="8129016" cy="411480"/>
          </a:xfrm>
          <a:prstGeom prst="rect">
            <a:avLst/>
          </a:prstGeom>
          <a:solidFill>
            <a:srgbClr val="322164"/>
          </a:solidFill>
          <a:ln/>
        </p:spPr>
      </p:sp>
      <p:sp>
        <p:nvSpPr>
          <p:cNvPr id="5" name="Text 3"/>
          <p:cNvSpPr/>
          <p:nvPr/>
        </p:nvSpPr>
        <p:spPr>
          <a:xfrm>
            <a:off x="502920" y="914400"/>
            <a:ext cx="3794760" cy="411480"/>
          </a:xfrm>
          <a:prstGeom prst="rect">
            <a:avLst/>
          </a:prstGeom>
          <a:noFill/>
          <a:ln/>
        </p:spPr>
        <p:txBody>
          <a:bodyPr wrap="square" lIns="38100" tIns="38100" rIns="38100" bIns="38100" rtlCol="0" anchor="ctr"/>
          <a:lstStyle/>
          <a:p>
            <a:pPr algn="l" indent="0" marL="0">
              <a:buNone/>
            </a:pPr>
            <a:r>
              <a:rPr lang="en-US" sz="1300" b="1" dirty="0">
                <a:solidFill>
                  <a:srgbClr val="FFFFFF"/>
                </a:solidFill>
                <a:latin typeface="Cambria" pitchFamily="34" charset="0"/>
                <a:ea typeface="Cambria" pitchFamily="34" charset="-122"/>
                <a:cs typeface="Cambria" pitchFamily="34" charset="-120"/>
              </a:rPr>
              <a:t>Khối kiểm chứng</a:t>
            </a:r>
            <a:endParaRPr lang="en-US" sz="1300" dirty="0"/>
          </a:p>
        </p:txBody>
      </p:sp>
      <p:sp>
        <p:nvSpPr>
          <p:cNvPr id="6" name="Text 4"/>
          <p:cNvSpPr/>
          <p:nvPr/>
        </p:nvSpPr>
        <p:spPr>
          <a:xfrm>
            <a:off x="4297680" y="914400"/>
            <a:ext cx="4334256" cy="4114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Kết quả đo</a:t>
            </a:r>
            <a:endParaRPr lang="en-US" sz="1300" dirty="0"/>
          </a:p>
        </p:txBody>
      </p:sp>
      <p:sp>
        <p:nvSpPr>
          <p:cNvPr id="7" name="Text 5"/>
          <p:cNvSpPr/>
          <p:nvPr/>
        </p:nvSpPr>
        <p:spPr>
          <a:xfrm>
            <a:off x="502920" y="132588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Điều kiện sai số dụng cụ, đặt trước</a:t>
            </a:r>
            <a:endParaRPr lang="en-US" sz="1250" dirty="0"/>
          </a:p>
        </p:txBody>
      </p:sp>
      <p:sp>
        <p:nvSpPr>
          <p:cNvPr id="8" name="Text 6"/>
          <p:cNvSpPr/>
          <p:nvPr/>
        </p:nvSpPr>
        <p:spPr>
          <a:xfrm>
            <a:off x="4297680" y="132588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sai số trung vị 0,7%, ngưỡng 3%</a:t>
            </a:r>
            <a:endParaRPr lang="en-US" sz="1250" dirty="0"/>
          </a:p>
        </p:txBody>
      </p:sp>
      <p:sp>
        <p:nvSpPr>
          <p:cNvPr id="9" name="Shape 7"/>
          <p:cNvSpPr/>
          <p:nvPr/>
        </p:nvSpPr>
        <p:spPr>
          <a:xfrm>
            <a:off x="502920" y="1874520"/>
            <a:ext cx="8129016" cy="0"/>
          </a:xfrm>
          <a:prstGeom prst="line">
            <a:avLst/>
          </a:prstGeom>
          <a:noFill/>
          <a:ln w="12700">
            <a:solidFill>
              <a:srgbClr val="9A94AE"/>
            </a:solidFill>
            <a:prstDash val="solid"/>
          </a:ln>
        </p:spPr>
      </p:sp>
      <p:sp>
        <p:nvSpPr>
          <p:cNvPr id="10" name="Text 8"/>
          <p:cNvSpPr/>
          <p:nvPr/>
        </p:nvSpPr>
        <p:spPr>
          <a:xfrm>
            <a:off x="502920" y="187452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Luật trúng chọn từ sàn</a:t>
            </a:r>
            <a:endParaRPr lang="en-US" sz="1250" dirty="0"/>
          </a:p>
        </p:txBody>
      </p:sp>
      <p:sp>
        <p:nvSpPr>
          <p:cNvPr id="11" name="Text 9"/>
          <p:cNvSpPr/>
          <p:nvPr/>
        </p:nvSpPr>
        <p:spPr>
          <a:xfrm>
            <a:off x="4297680" y="187452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84,3%  →  2,8%</a:t>
            </a:r>
            <a:endParaRPr lang="en-US" sz="1250" dirty="0"/>
          </a:p>
        </p:txBody>
      </p:sp>
      <p:sp>
        <p:nvSpPr>
          <p:cNvPr id="12" name="Shape 10"/>
          <p:cNvSpPr/>
          <p:nvPr/>
        </p:nvSpPr>
        <p:spPr>
          <a:xfrm>
            <a:off x="502920" y="2423160"/>
            <a:ext cx="8129016" cy="0"/>
          </a:xfrm>
          <a:prstGeom prst="line">
            <a:avLst/>
          </a:prstGeom>
          <a:noFill/>
          <a:ln w="12700">
            <a:solidFill>
              <a:srgbClr val="9A94AE"/>
            </a:solidFill>
            <a:prstDash val="solid"/>
          </a:ln>
        </p:spPr>
      </p:sp>
      <p:sp>
        <p:nvSpPr>
          <p:cNvPr id="13" name="Text 11"/>
          <p:cNvSpPr/>
          <p:nvPr/>
        </p:nvSpPr>
        <p:spPr>
          <a:xfrm>
            <a:off x="502920" y="242316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Trần và sàn của thước</a:t>
            </a:r>
            <a:endParaRPr lang="en-US" sz="1250" dirty="0"/>
          </a:p>
        </p:txBody>
      </p:sp>
      <p:sp>
        <p:nvSpPr>
          <p:cNvPr id="14" name="Text 12"/>
          <p:cNvSpPr/>
          <p:nvPr/>
        </p:nvSpPr>
        <p:spPr>
          <a:xfrm>
            <a:off x="4297680" y="242316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75,7  /  12,0  /  6,1</a:t>
            </a:r>
            <a:endParaRPr lang="en-US" sz="1250" dirty="0"/>
          </a:p>
        </p:txBody>
      </p:sp>
      <p:sp>
        <p:nvSpPr>
          <p:cNvPr id="15" name="Shape 13"/>
          <p:cNvSpPr/>
          <p:nvPr/>
        </p:nvSpPr>
        <p:spPr>
          <a:xfrm>
            <a:off x="502920" y="2971800"/>
            <a:ext cx="8129016" cy="0"/>
          </a:xfrm>
          <a:prstGeom prst="line">
            <a:avLst/>
          </a:prstGeom>
          <a:noFill/>
          <a:ln w="12700">
            <a:solidFill>
              <a:srgbClr val="9A94AE"/>
            </a:solidFill>
            <a:prstDash val="solid"/>
          </a:ln>
        </p:spPr>
      </p:sp>
      <p:sp>
        <p:nvSpPr>
          <p:cNvPr id="16" name="Text 14"/>
          <p:cNvSpPr/>
          <p:nvPr/>
        </p:nvSpPr>
        <p:spPr>
          <a:xfrm>
            <a:off x="502920" y="297180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Mười phép bơm lỗi, ngưỡng đặt sẵn</a:t>
            </a:r>
            <a:endParaRPr lang="en-US" sz="1250" dirty="0"/>
          </a:p>
        </p:txBody>
      </p:sp>
      <p:sp>
        <p:nvSpPr>
          <p:cNvPr id="17" name="Text 15"/>
          <p:cNvSpPr/>
          <p:nvPr/>
        </p:nvSpPr>
        <p:spPr>
          <a:xfrm>
            <a:off x="4297680" y="297180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đạt</a:t>
            </a:r>
            <a:endParaRPr lang="en-US" sz="1250" dirty="0"/>
          </a:p>
        </p:txBody>
      </p:sp>
      <p:sp>
        <p:nvSpPr>
          <p:cNvPr id="18" name="Shape 16"/>
          <p:cNvSpPr/>
          <p:nvPr/>
        </p:nvSpPr>
        <p:spPr>
          <a:xfrm>
            <a:off x="502920" y="3520440"/>
            <a:ext cx="8129016" cy="0"/>
          </a:xfrm>
          <a:prstGeom prst="line">
            <a:avLst/>
          </a:prstGeom>
          <a:noFill/>
          <a:ln w="12700">
            <a:solidFill>
              <a:srgbClr val="9A94AE"/>
            </a:solidFill>
            <a:prstDash val="solid"/>
          </a:ln>
        </p:spPr>
      </p:sp>
      <p:sp>
        <p:nvSpPr>
          <p:cNvPr id="19" name="Text 17"/>
          <p:cNvSpPr/>
          <p:nvPr/>
        </p:nvSpPr>
        <p:spPr>
          <a:xfrm>
            <a:off x="502920" y="352044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Viết lại 1.139 câu, bảo toàn nghĩa</a:t>
            </a:r>
            <a:endParaRPr lang="en-US" sz="1250" dirty="0"/>
          </a:p>
        </p:txBody>
      </p:sp>
      <p:sp>
        <p:nvSpPr>
          <p:cNvPr id="20" name="Text 18"/>
          <p:cNvSpPr/>
          <p:nvPr/>
        </p:nvSpPr>
        <p:spPr>
          <a:xfrm>
            <a:off x="4297680" y="352044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+0,35 điểm  [−0,59 ; +1,29]</a:t>
            </a:r>
            <a:endParaRPr lang="en-US" sz="1250" dirty="0"/>
          </a:p>
        </p:txBody>
      </p:sp>
      <p:sp>
        <p:nvSpPr>
          <p:cNvPr id="21" name="Shape 19"/>
          <p:cNvSpPr/>
          <p:nvPr/>
        </p:nvSpPr>
        <p:spPr>
          <a:xfrm>
            <a:off x="502920" y="4069080"/>
            <a:ext cx="8129016" cy="0"/>
          </a:xfrm>
          <a:prstGeom prst="line">
            <a:avLst/>
          </a:prstGeom>
          <a:noFill/>
          <a:ln w="12700">
            <a:solidFill>
              <a:srgbClr val="9A94AE"/>
            </a:solidFill>
            <a:prstDash val="solid"/>
          </a:ln>
        </p:spPr>
      </p:sp>
      <p:sp>
        <p:nvSpPr>
          <p:cNvPr id="22" name="Text 20"/>
          <p:cNvSpPr/>
          <p:nvPr/>
        </p:nvSpPr>
        <p:spPr>
          <a:xfrm>
            <a:off x="502920" y="4069080"/>
            <a:ext cx="3794760" cy="54864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Đổi sang một mô hình định vị thứ hai</a:t>
            </a:r>
            <a:endParaRPr lang="en-US" sz="1250" dirty="0"/>
          </a:p>
        </p:txBody>
      </p:sp>
      <p:sp>
        <p:nvSpPr>
          <p:cNvPr id="23" name="Text 21"/>
          <p:cNvSpPr/>
          <p:nvPr/>
        </p:nvSpPr>
        <p:spPr>
          <a:xfrm>
            <a:off x="4297680" y="4069080"/>
            <a:ext cx="4334256" cy="54864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giữ 94% độ lớn phép so S1 với Base</a:t>
            </a:r>
            <a:endParaRPr lang="en-US" sz="1250" dirty="0"/>
          </a:p>
        </p:txBody>
      </p:sp>
      <p:sp>
        <p:nvSpPr>
          <p:cNvPr id="24" name="Shape 22"/>
          <p:cNvSpPr/>
          <p:nvPr/>
        </p:nvSpPr>
        <p:spPr>
          <a:xfrm>
            <a:off x="502920" y="4709160"/>
            <a:ext cx="8138160" cy="960120"/>
          </a:xfrm>
          <a:prstGeom prst="roundRect">
            <a:avLst>
              <a:gd name="adj" fmla="val 5714"/>
            </a:avLst>
          </a:prstGeom>
          <a:solidFill>
            <a:srgbClr val="E9E8EC"/>
          </a:solidFill>
          <a:ln/>
          <a:effectLst>
            <a:outerShdw sx="100000" sy="100000" kx="0" ky="0" algn="bl" rotWithShape="0" blurRad="63500" dist="31750" dir="2700000">
              <a:srgbClr val="8C8C99">
                <a:alpha val="45000"/>
              </a:srgbClr>
            </a:outerShdw>
          </a:effectLst>
        </p:spPr>
      </p:sp>
      <p:sp>
        <p:nvSpPr>
          <p:cNvPr id="25" name="Text 23"/>
          <p:cNvSpPr/>
          <p:nvPr/>
        </p:nvSpPr>
        <p:spPr>
          <a:xfrm>
            <a:off x="731520" y="4709160"/>
            <a:ext cx="7680960" cy="960120"/>
          </a:xfrm>
          <a:prstGeom prst="rect">
            <a:avLst/>
          </a:prstGeom>
          <a:noFill/>
          <a:ln/>
        </p:spPr>
        <p:txBody>
          <a:bodyPr wrap="square" lIns="0" tIns="0" rIns="0" bIns="0" rtlCol="0" anchor="ctr"/>
          <a:lstStyle/>
          <a:p>
            <a:pPr algn="l" indent="0" marL="0">
              <a:lnSpc>
                <a:spcPct val="135000"/>
              </a:lnSpc>
              <a:buNone/>
            </a:pPr>
            <a:r>
              <a:rPr lang="en-US" sz="1300" b="1" dirty="0">
                <a:solidFill>
                  <a:srgbClr val="322164"/>
                </a:solidFill>
                <a:latin typeface="Cambria" pitchFamily="34" charset="0"/>
                <a:ea typeface="Cambria" pitchFamily="34" charset="-122"/>
                <a:cs typeface="Cambria" pitchFamily="34" charset="-120"/>
              </a:rPr>
              <a:t>Hai phép thử độ bền nữa.</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 Năm luật chấm khác nhau không đổi thứ tự các hệ thống. Thước tất định: 1.625 phép so, không một bất đồng.</a:t>
            </a:r>
            <a:endParaRPr lang="en-US" sz="1300" dirty="0"/>
          </a:p>
        </p:txBody>
      </p:sp>
      <p:sp>
        <p:nvSpPr>
          <p:cNvPr id="27" name="Shape 24"/>
          <p:cNvSpPr/>
          <p:nvPr/>
        </p:nvSpPr>
        <p:spPr>
          <a:xfrm>
            <a:off x="0" y="6620256"/>
            <a:ext cx="2743200" cy="237744"/>
          </a:xfrm>
          <a:prstGeom prst="rect">
            <a:avLst/>
          </a:prstGeom>
          <a:solidFill>
            <a:srgbClr val="191132"/>
          </a:solidFill>
          <a:ln/>
        </p:spPr>
      </p:sp>
      <p:sp>
        <p:nvSpPr>
          <p:cNvPr id="28" name="Shape 25"/>
          <p:cNvSpPr/>
          <p:nvPr/>
        </p:nvSpPr>
        <p:spPr>
          <a:xfrm>
            <a:off x="2743200" y="6620256"/>
            <a:ext cx="3383280" cy="237744"/>
          </a:xfrm>
          <a:prstGeom prst="rect">
            <a:avLst/>
          </a:prstGeom>
          <a:solidFill>
            <a:srgbClr val="25194B"/>
          </a:solidFill>
          <a:ln/>
        </p:spPr>
      </p:sp>
      <p:sp>
        <p:nvSpPr>
          <p:cNvPr id="29" name="Shape 26"/>
          <p:cNvSpPr/>
          <p:nvPr/>
        </p:nvSpPr>
        <p:spPr>
          <a:xfrm>
            <a:off x="6126480" y="6620256"/>
            <a:ext cx="1737360" cy="237744"/>
          </a:xfrm>
          <a:prstGeom prst="rect">
            <a:avLst/>
          </a:prstGeom>
          <a:solidFill>
            <a:srgbClr val="4F417A"/>
          </a:solidFill>
          <a:ln/>
        </p:spPr>
      </p:sp>
      <p:sp>
        <p:nvSpPr>
          <p:cNvPr id="30" name="Shape 27"/>
          <p:cNvSpPr/>
          <p:nvPr/>
        </p:nvSpPr>
        <p:spPr>
          <a:xfrm>
            <a:off x="7863840" y="6620256"/>
            <a:ext cx="1280160" cy="237744"/>
          </a:xfrm>
          <a:prstGeom prst="rect">
            <a:avLst/>
          </a:prstGeom>
          <a:solidFill>
            <a:srgbClr val="7A7099"/>
          </a:solidFill>
          <a:ln/>
        </p:spPr>
      </p:sp>
      <p:sp>
        <p:nvSpPr>
          <p:cNvPr id="31" name="Text 2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2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 · Thiết kế so sánh và mức chênh nhỏ nhất phát hiện được</a:t>
            </a:r>
            <a:endParaRPr lang="en-US" sz="1900" dirty="0"/>
          </a:p>
        </p:txBody>
      </p:sp>
      <p:sp>
        <p:nvSpPr>
          <p:cNvPr id="4" name="Text 2"/>
          <p:cNvSpPr/>
          <p:nvPr/>
        </p:nvSpPr>
        <p:spPr>
          <a:xfrm>
            <a:off x="502920" y="841248"/>
            <a:ext cx="8138160" cy="640080"/>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Mọi nhánh chấm trên cùng 4.463 bước, nên chênh lệch giữa hai nhánh là hiệu ghép cặp. Hiệu đó đọc theo khoảng tin cậy và theo mức chênh nhỏ nhất phát hiện được (MDE), đo từ nhánh nền.</a:t>
            </a:r>
            <a:endParaRPr lang="en-US" sz="1300" dirty="0"/>
          </a:p>
        </p:txBody>
      </p:sp>
      <p:sp>
        <p:nvSpPr>
          <p:cNvPr id="5" name="Shape 3"/>
          <p:cNvSpPr/>
          <p:nvPr/>
        </p:nvSpPr>
        <p:spPr>
          <a:xfrm>
            <a:off x="502920" y="1600200"/>
            <a:ext cx="4389120" cy="365760"/>
          </a:xfrm>
          <a:prstGeom prst="rect">
            <a:avLst/>
          </a:prstGeom>
          <a:solidFill>
            <a:srgbClr val="322164"/>
          </a:solidFill>
          <a:ln/>
        </p:spPr>
      </p:sp>
      <p:sp>
        <p:nvSpPr>
          <p:cNvPr id="6" name="Text 4"/>
          <p:cNvSpPr/>
          <p:nvPr/>
        </p:nvSpPr>
        <p:spPr>
          <a:xfrm>
            <a:off x="502920" y="1600200"/>
            <a:ext cx="201168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Kết cục</a:t>
            </a:r>
            <a:endParaRPr lang="en-US" sz="1200" dirty="0"/>
          </a:p>
        </p:txBody>
      </p:sp>
      <p:sp>
        <p:nvSpPr>
          <p:cNvPr id="7" name="Text 5"/>
          <p:cNvSpPr/>
          <p:nvPr/>
        </p:nvSpPr>
        <p:spPr>
          <a:xfrm>
            <a:off x="2514600" y="1600200"/>
            <a:ext cx="237744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Cách đọc</a:t>
            </a:r>
            <a:endParaRPr lang="en-US" sz="1200" dirty="0"/>
          </a:p>
        </p:txBody>
      </p:sp>
      <p:sp>
        <p:nvSpPr>
          <p:cNvPr id="8" name="Text 6"/>
          <p:cNvSpPr/>
          <p:nvPr/>
        </p:nvSpPr>
        <p:spPr>
          <a:xfrm>
            <a:off x="502920" y="1965960"/>
            <a:ext cx="2011680" cy="457200"/>
          </a:xfrm>
          <a:prstGeom prst="rect">
            <a:avLst/>
          </a:prstGeom>
          <a:noFill/>
          <a:ln/>
        </p:spPr>
        <p:txBody>
          <a:bodyPr wrap="square" lIns="38100" tIns="38100" rIns="38100" bIns="38100" rtlCol="0" anchor="ctr"/>
          <a:lstStyle/>
          <a:p>
            <a:pPr algn="l" indent="0" marL="0">
              <a:buNone/>
            </a:pPr>
            <a:r>
              <a:rPr lang="en-US" sz="1200" b="1" dirty="0">
                <a:solidFill>
                  <a:srgbClr val="006666"/>
                </a:solidFill>
                <a:latin typeface="Cambria" pitchFamily="34" charset="0"/>
                <a:ea typeface="Cambria" pitchFamily="34" charset="-122"/>
                <a:cs typeface="Cambria" pitchFamily="34" charset="-120"/>
              </a:rPr>
              <a:t>Δ vượt MDE, KTC loại 0</a:t>
            </a:r>
            <a:endParaRPr lang="en-US" sz="1200" dirty="0"/>
          </a:p>
        </p:txBody>
      </p:sp>
      <p:sp>
        <p:nvSpPr>
          <p:cNvPr id="9" name="Text 7"/>
          <p:cNvSpPr/>
          <p:nvPr/>
        </p:nvSpPr>
        <p:spPr>
          <a:xfrm>
            <a:off x="2514600" y="1965960"/>
            <a:ext cx="237744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thành phần có tác dụng</a:t>
            </a:r>
            <a:endParaRPr lang="en-US" sz="1200" dirty="0"/>
          </a:p>
        </p:txBody>
      </p:sp>
      <p:sp>
        <p:nvSpPr>
          <p:cNvPr id="10" name="Shape 8"/>
          <p:cNvSpPr/>
          <p:nvPr/>
        </p:nvSpPr>
        <p:spPr>
          <a:xfrm>
            <a:off x="502920" y="2423160"/>
            <a:ext cx="4389120" cy="0"/>
          </a:xfrm>
          <a:prstGeom prst="line">
            <a:avLst/>
          </a:prstGeom>
          <a:noFill/>
          <a:ln w="12700">
            <a:solidFill>
              <a:srgbClr val="9A94AE"/>
            </a:solidFill>
            <a:prstDash val="solid"/>
          </a:ln>
        </p:spPr>
      </p:sp>
      <p:sp>
        <p:nvSpPr>
          <p:cNvPr id="11" name="Text 9"/>
          <p:cNvSpPr/>
          <p:nvPr/>
        </p:nvSpPr>
        <p:spPr>
          <a:xfrm>
            <a:off x="502920" y="2423160"/>
            <a:ext cx="2011680" cy="457200"/>
          </a:xfrm>
          <a:prstGeom prst="rect">
            <a:avLst/>
          </a:prstGeom>
          <a:noFill/>
          <a:ln/>
        </p:spPr>
        <p:txBody>
          <a:bodyPr wrap="square" lIns="38100" tIns="38100" rIns="38100" bIns="38100" rtlCol="0" anchor="ctr"/>
          <a:lstStyle/>
          <a:p>
            <a:pPr algn="l" indent="0" marL="0">
              <a:buNone/>
            </a:pPr>
            <a:r>
              <a:rPr lang="en-US" sz="1200" dirty="0">
                <a:solidFill>
                  <a:srgbClr val="006666"/>
                </a:solidFill>
                <a:latin typeface="Cambria" pitchFamily="34" charset="0"/>
                <a:ea typeface="Cambria" pitchFamily="34" charset="-122"/>
                <a:cs typeface="Cambria" pitchFamily="34" charset="-120"/>
              </a:rPr>
              <a:t>KTC chạm 0</a:t>
            </a:r>
            <a:endParaRPr lang="en-US" sz="1200" dirty="0"/>
          </a:p>
        </p:txBody>
      </p:sp>
      <p:sp>
        <p:nvSpPr>
          <p:cNvPr id="12" name="Text 10"/>
          <p:cNvSpPr/>
          <p:nvPr/>
        </p:nvSpPr>
        <p:spPr>
          <a:xfrm>
            <a:off x="2514600" y="2423160"/>
            <a:ext cx="237744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xu hướng, chưa gọi là cải thiện</a:t>
            </a:r>
            <a:endParaRPr lang="en-US" sz="1200" dirty="0"/>
          </a:p>
        </p:txBody>
      </p:sp>
      <p:sp>
        <p:nvSpPr>
          <p:cNvPr id="13" name="Shape 11"/>
          <p:cNvSpPr/>
          <p:nvPr/>
        </p:nvSpPr>
        <p:spPr>
          <a:xfrm>
            <a:off x="502920" y="2880360"/>
            <a:ext cx="4389120" cy="0"/>
          </a:xfrm>
          <a:prstGeom prst="line">
            <a:avLst/>
          </a:prstGeom>
          <a:noFill/>
          <a:ln w="12700">
            <a:solidFill>
              <a:srgbClr val="9A94AE"/>
            </a:solidFill>
            <a:prstDash val="solid"/>
          </a:ln>
        </p:spPr>
      </p:sp>
      <p:sp>
        <p:nvSpPr>
          <p:cNvPr id="14" name="Text 12"/>
          <p:cNvSpPr/>
          <p:nvPr/>
        </p:nvSpPr>
        <p:spPr>
          <a:xfrm>
            <a:off x="502920" y="2880360"/>
            <a:ext cx="2011680" cy="457200"/>
          </a:xfrm>
          <a:prstGeom prst="rect">
            <a:avLst/>
          </a:prstGeom>
          <a:noFill/>
          <a:ln/>
        </p:spPr>
        <p:txBody>
          <a:bodyPr wrap="square" lIns="38100" tIns="38100" rIns="38100" bIns="38100" rtlCol="0" anchor="ctr"/>
          <a:lstStyle/>
          <a:p>
            <a:pPr algn="l" indent="0" marL="0">
              <a:buNone/>
            </a:pPr>
            <a:r>
              <a:rPr lang="en-US" sz="1200" b="1" dirty="0">
                <a:solidFill>
                  <a:srgbClr val="990000"/>
                </a:solidFill>
                <a:latin typeface="Cambria" pitchFamily="34" charset="0"/>
                <a:ea typeface="Cambria" pitchFamily="34" charset="-122"/>
                <a:cs typeface="Cambria" pitchFamily="34" charset="-120"/>
              </a:rPr>
              <a:t>|Δ| dưới MDE</a:t>
            </a:r>
            <a:endParaRPr lang="en-US" sz="1200" dirty="0"/>
          </a:p>
        </p:txBody>
      </p:sp>
      <p:sp>
        <p:nvSpPr>
          <p:cNvPr id="15" name="Text 13"/>
          <p:cNvSpPr/>
          <p:nvPr/>
        </p:nvSpPr>
        <p:spPr>
          <a:xfrm>
            <a:off x="2514600" y="2880360"/>
            <a:ext cx="237744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không kết luận được</a:t>
            </a:r>
            <a:endParaRPr lang="en-US" sz="1200" dirty="0"/>
          </a:p>
        </p:txBody>
      </p:sp>
      <p:sp>
        <p:nvSpPr>
          <p:cNvPr id="16" name="Shape 14"/>
          <p:cNvSpPr/>
          <p:nvPr/>
        </p:nvSpPr>
        <p:spPr>
          <a:xfrm>
            <a:off x="502920" y="3337560"/>
            <a:ext cx="4389120" cy="0"/>
          </a:xfrm>
          <a:prstGeom prst="line">
            <a:avLst/>
          </a:prstGeom>
          <a:noFill/>
          <a:ln w="12700">
            <a:solidFill>
              <a:srgbClr val="9A94AE"/>
            </a:solidFill>
            <a:prstDash val="solid"/>
          </a:ln>
        </p:spPr>
      </p:sp>
      <p:sp>
        <p:nvSpPr>
          <p:cNvPr id="17" name="Text 15"/>
          <p:cNvSpPr/>
          <p:nvPr/>
        </p:nvSpPr>
        <p:spPr>
          <a:xfrm>
            <a:off x="502920" y="3337560"/>
            <a:ext cx="2011680" cy="457200"/>
          </a:xfrm>
          <a:prstGeom prst="rect">
            <a:avLst/>
          </a:prstGeom>
          <a:noFill/>
          <a:ln/>
        </p:spPr>
        <p:txBody>
          <a:bodyPr wrap="square" lIns="38100" tIns="38100" rIns="38100" bIns="38100" rtlCol="0" anchor="ctr"/>
          <a:lstStyle/>
          <a:p>
            <a:pPr algn="l" indent="0" marL="0">
              <a:buNone/>
            </a:pPr>
            <a:r>
              <a:rPr lang="en-US" sz="1200" b="1" dirty="0">
                <a:solidFill>
                  <a:srgbClr val="B22222"/>
                </a:solidFill>
                <a:latin typeface="Cambria" pitchFamily="34" charset="0"/>
                <a:ea typeface="Cambria" pitchFamily="34" charset="-122"/>
                <a:cs typeface="Cambria" pitchFamily="34" charset="-120"/>
              </a:rPr>
              <a:t>Cận trên KTC &lt; 0</a:t>
            </a:r>
            <a:endParaRPr lang="en-US" sz="1200" dirty="0"/>
          </a:p>
        </p:txBody>
      </p:sp>
      <p:sp>
        <p:nvSpPr>
          <p:cNvPr id="18" name="Text 16"/>
          <p:cNvSpPr/>
          <p:nvPr/>
        </p:nvSpPr>
        <p:spPr>
          <a:xfrm>
            <a:off x="2514600" y="3337560"/>
            <a:ext cx="237744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thành phần gây hại</a:t>
            </a:r>
            <a:endParaRPr lang="en-US" sz="1200" dirty="0"/>
          </a:p>
        </p:txBody>
      </p:sp>
      <p:sp>
        <p:nvSpPr>
          <p:cNvPr id="19" name="Text 17"/>
          <p:cNvSpPr/>
          <p:nvPr/>
        </p:nvSpPr>
        <p:spPr>
          <a:xfrm>
            <a:off x="4663440" y="1645920"/>
            <a:ext cx="201168" cy="91440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0" name="Text 18"/>
          <p:cNvSpPr/>
          <p:nvPr/>
        </p:nvSpPr>
        <p:spPr>
          <a:xfrm>
            <a:off x="4892040" y="1645920"/>
            <a:ext cx="3749040" cy="8686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Hai hạt giống của nhánh nền cho nhiễu dựng lại: 0,52 điểm</a:t>
            </a:r>
            <a:endParaRPr lang="en-US" sz="1200" dirty="0"/>
          </a:p>
        </p:txBody>
      </p:sp>
      <p:sp>
        <p:nvSpPr>
          <p:cNvPr id="21" name="Text 19"/>
          <p:cNvSpPr/>
          <p:nvPr/>
        </p:nvSpPr>
        <p:spPr>
          <a:xfrm>
            <a:off x="4663440" y="2560320"/>
            <a:ext cx="201168" cy="91440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2" name="Text 20"/>
          <p:cNvSpPr/>
          <p:nvPr/>
        </p:nvSpPr>
        <p:spPr>
          <a:xfrm>
            <a:off x="4892040" y="2560320"/>
            <a:ext cx="3749040" cy="8686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Sai số chuẩn ghép cặp đo được 0,79 điểm, nên MDE là 2,2 điểm; công thức chiếu thông dụng cho 4 đến 9 điểm vì giả định tương quan trong cụm bằng một</a:t>
            </a:r>
            <a:endParaRPr lang="en-US" sz="1200" dirty="0"/>
          </a:p>
        </p:txBody>
      </p:sp>
      <p:sp>
        <p:nvSpPr>
          <p:cNvPr id="23" name="Text 21"/>
          <p:cNvSpPr/>
          <p:nvPr/>
        </p:nvSpPr>
        <p:spPr>
          <a:xfrm>
            <a:off x="4663440" y="3474720"/>
            <a:ext cx="201168" cy="91440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4" name="Text 22"/>
          <p:cNvSpPr/>
          <p:nvPr/>
        </p:nvSpPr>
        <p:spPr>
          <a:xfrm>
            <a:off x="4892040" y="3474720"/>
            <a:ext cx="3749040" cy="86868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Thiết kế một hạt giống có MDE 2,11 điểm</a:t>
            </a:r>
            <a:endParaRPr lang="en-US" sz="1200" dirty="0"/>
          </a:p>
        </p:txBody>
      </p:sp>
      <p:sp>
        <p:nvSpPr>
          <p:cNvPr id="25" name="Shape 23"/>
          <p:cNvSpPr/>
          <p:nvPr/>
        </p:nvSpPr>
        <p:spPr>
          <a:xfrm>
            <a:off x="502920" y="4480560"/>
            <a:ext cx="813816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26" name="Text 24"/>
          <p:cNvSpPr/>
          <p:nvPr/>
        </p:nvSpPr>
        <p:spPr>
          <a:xfrm>
            <a:off x="731520" y="4480560"/>
            <a:ext cx="7680960" cy="1188720"/>
          </a:xfrm>
          <a:prstGeom prst="rect">
            <a:avLst/>
          </a:prstGeom>
          <a:noFill/>
          <a:ln/>
        </p:spPr>
        <p:txBody>
          <a:bodyPr wrap="square" lIns="0" tIns="0" rIns="0" bIns="0" rtlCol="0" anchor="ctr"/>
          <a:lstStyle/>
          <a:p>
            <a:pPr algn="l" indent="0" marL="0">
              <a:lnSpc>
                <a:spcPct val="140000"/>
              </a:lnSpc>
              <a:buNone/>
            </a:pPr>
            <a:r>
              <a:rPr lang="en-US" sz="1400" b="1" dirty="0">
                <a:solidFill>
                  <a:srgbClr val="B22222"/>
                </a:solidFill>
                <a:latin typeface="Cambria" pitchFamily="34" charset="0"/>
                <a:ea typeface="Cambria" pitchFamily="34" charset="-122"/>
                <a:cs typeface="Cambria" pitchFamily="34" charset="-120"/>
              </a:rPr>
              <a:t>Mức chênh nhỏ nhất phát hiện được là 2,2 điểm.</a:t>
            </a:r>
            <a:pPr algn="l" indent="0" marL="0">
              <a:lnSpc>
                <a:spcPct val="140000"/>
              </a:lnSpc>
              <a:buNone/>
            </a:pP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Mọi kết quả ở phần sau đọc trên con số này.</a:t>
            </a:r>
            <a:endParaRPr lang="en-US" sz="1400" dirty="0"/>
          </a:p>
        </p:txBody>
      </p:sp>
      <p:sp>
        <p:nvSpPr>
          <p:cNvPr id="28" name="Shape 25"/>
          <p:cNvSpPr/>
          <p:nvPr/>
        </p:nvSpPr>
        <p:spPr>
          <a:xfrm>
            <a:off x="0" y="6620256"/>
            <a:ext cx="2743200" cy="237744"/>
          </a:xfrm>
          <a:prstGeom prst="rect">
            <a:avLst/>
          </a:prstGeom>
          <a:solidFill>
            <a:srgbClr val="191132"/>
          </a:solidFill>
          <a:ln/>
        </p:spPr>
      </p:sp>
      <p:sp>
        <p:nvSpPr>
          <p:cNvPr id="29" name="Shape 26"/>
          <p:cNvSpPr/>
          <p:nvPr/>
        </p:nvSpPr>
        <p:spPr>
          <a:xfrm>
            <a:off x="2743200" y="6620256"/>
            <a:ext cx="3383280" cy="237744"/>
          </a:xfrm>
          <a:prstGeom prst="rect">
            <a:avLst/>
          </a:prstGeom>
          <a:solidFill>
            <a:srgbClr val="25194B"/>
          </a:solidFill>
          <a:ln/>
        </p:spPr>
      </p:sp>
      <p:sp>
        <p:nvSpPr>
          <p:cNvPr id="30" name="Shape 27"/>
          <p:cNvSpPr/>
          <p:nvPr/>
        </p:nvSpPr>
        <p:spPr>
          <a:xfrm>
            <a:off x="6126480" y="6620256"/>
            <a:ext cx="1737360" cy="237744"/>
          </a:xfrm>
          <a:prstGeom prst="rect">
            <a:avLst/>
          </a:prstGeom>
          <a:solidFill>
            <a:srgbClr val="4F417A"/>
          </a:solidFill>
          <a:ln/>
        </p:spPr>
      </p:sp>
      <p:sp>
        <p:nvSpPr>
          <p:cNvPr id="31" name="Shape 28"/>
          <p:cNvSpPr/>
          <p:nvPr/>
        </p:nvSpPr>
        <p:spPr>
          <a:xfrm>
            <a:off x="7863840" y="6620256"/>
            <a:ext cx="1280160" cy="237744"/>
          </a:xfrm>
          <a:prstGeom prst="rect">
            <a:avLst/>
          </a:prstGeom>
          <a:solidFill>
            <a:srgbClr val="7A7099"/>
          </a:solidFill>
          <a:ln/>
        </p:spPr>
      </p:sp>
      <p:sp>
        <p:nvSpPr>
          <p:cNvPr id="32"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3"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4"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5"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Kết quả chính trên 4.463 bước chạm</a:t>
            </a:r>
            <a:endParaRPr lang="en-US" sz="1900" dirty="0"/>
          </a:p>
        </p:txBody>
      </p:sp>
      <p:sp>
        <p:nvSpPr>
          <p:cNvPr id="4" name="Shape 2"/>
          <p:cNvSpPr/>
          <p:nvPr/>
        </p:nvSpPr>
        <p:spPr>
          <a:xfrm>
            <a:off x="502920" y="868680"/>
            <a:ext cx="8129016" cy="365760"/>
          </a:xfrm>
          <a:prstGeom prst="rect">
            <a:avLst/>
          </a:prstGeom>
          <a:solidFill>
            <a:srgbClr val="322164"/>
          </a:solidFill>
          <a:ln/>
        </p:spPr>
      </p:sp>
      <p:sp>
        <p:nvSpPr>
          <p:cNvPr id="5" name="Text 3"/>
          <p:cNvSpPr/>
          <p:nvPr/>
        </p:nvSpPr>
        <p:spPr>
          <a:xfrm>
            <a:off x="502920" y="868680"/>
            <a:ext cx="274320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Nhánh</a:t>
            </a:r>
            <a:endParaRPr lang="en-US" sz="1200" dirty="0"/>
          </a:p>
        </p:txBody>
      </p:sp>
      <p:sp>
        <p:nvSpPr>
          <p:cNvPr id="6" name="Text 4"/>
          <p:cNvSpPr/>
          <p:nvPr/>
        </p:nvSpPr>
        <p:spPr>
          <a:xfrm>
            <a:off x="3246120" y="868680"/>
            <a:ext cx="123444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Exec.</a:t>
            </a:r>
            <a:endParaRPr lang="en-US" sz="1200" dirty="0"/>
          </a:p>
        </p:txBody>
      </p:sp>
      <p:sp>
        <p:nvSpPr>
          <p:cNvPr id="7" name="Text 5"/>
          <p:cNvSpPr/>
          <p:nvPr/>
        </p:nvSpPr>
        <p:spPr>
          <a:xfrm>
            <a:off x="4480560" y="868680"/>
            <a:ext cx="187452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Khoảng tin cậy 95%</a:t>
            </a:r>
            <a:endParaRPr lang="en-US" sz="1200" dirty="0"/>
          </a:p>
        </p:txBody>
      </p:sp>
      <p:sp>
        <p:nvSpPr>
          <p:cNvPr id="8" name="Text 6"/>
          <p:cNvSpPr/>
          <p:nvPr/>
        </p:nvSpPr>
        <p:spPr>
          <a:xfrm>
            <a:off x="6355080" y="868680"/>
            <a:ext cx="128016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Hộp phần tử</a:t>
            </a:r>
            <a:endParaRPr lang="en-US" sz="1200" dirty="0"/>
          </a:p>
        </p:txBody>
      </p:sp>
      <p:sp>
        <p:nvSpPr>
          <p:cNvPr id="9" name="Text 7"/>
          <p:cNvSpPr/>
          <p:nvPr/>
        </p:nvSpPr>
        <p:spPr>
          <a:xfrm>
            <a:off x="7635240" y="868680"/>
            <a:ext cx="996696" cy="365760"/>
          </a:xfrm>
          <a:prstGeom prst="rect">
            <a:avLst/>
          </a:prstGeom>
          <a:noFill/>
          <a:ln/>
        </p:spPr>
        <p:txBody>
          <a:bodyPr wrap="square" lIns="38100" tIns="38100" rIns="38100" bIns="38100" rtlCol="0" anchor="ctr"/>
          <a:lstStyle/>
          <a:p>
            <a:pPr algn="ctr" indent="0" marL="0">
              <a:buNone/>
            </a:pPr>
            <a:endParaRPr lang="en-US" sz="1200" dirty="0"/>
          </a:p>
        </p:txBody>
      </p:sp>
      <p:sp>
        <p:nvSpPr>
          <p:cNvPr id="10" name="Text 8"/>
          <p:cNvSpPr/>
          <p:nvPr/>
        </p:nvSpPr>
        <p:spPr>
          <a:xfrm>
            <a:off x="502920" y="1234440"/>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chuẩn  (trần)</a:t>
            </a:r>
            <a:endParaRPr lang="en-US" sz="1250" dirty="0"/>
          </a:p>
        </p:txBody>
      </p:sp>
      <p:sp>
        <p:nvSpPr>
          <p:cNvPr id="11" name="Text 9"/>
          <p:cNvSpPr/>
          <p:nvPr/>
        </p:nvSpPr>
        <p:spPr>
          <a:xfrm>
            <a:off x="3246120" y="1234440"/>
            <a:ext cx="1234440" cy="402336"/>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75,7</a:t>
            </a:r>
            <a:endParaRPr lang="en-US" sz="1250" dirty="0"/>
          </a:p>
        </p:txBody>
      </p:sp>
      <p:sp>
        <p:nvSpPr>
          <p:cNvPr id="12" name="Text 10"/>
          <p:cNvSpPr/>
          <p:nvPr/>
        </p:nvSpPr>
        <p:spPr>
          <a:xfrm>
            <a:off x="4480560" y="1234440"/>
            <a:ext cx="187452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[74,1 ; 77,3]</a:t>
            </a:r>
            <a:endParaRPr lang="en-US" sz="1250" dirty="0"/>
          </a:p>
        </p:txBody>
      </p:sp>
      <p:sp>
        <p:nvSpPr>
          <p:cNvPr id="13" name="Text 11"/>
          <p:cNvSpPr/>
          <p:nvPr/>
        </p:nvSpPr>
        <p:spPr>
          <a:xfrm>
            <a:off x="6355080" y="1234440"/>
            <a:ext cx="1280160" cy="402336"/>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83,8</a:t>
            </a:r>
            <a:endParaRPr lang="en-US" sz="1250" dirty="0"/>
          </a:p>
        </p:txBody>
      </p:sp>
      <p:sp>
        <p:nvSpPr>
          <p:cNvPr id="14" name="Text 12"/>
          <p:cNvSpPr/>
          <p:nvPr/>
        </p:nvSpPr>
        <p:spPr>
          <a:xfrm>
            <a:off x="7635240" y="1234440"/>
            <a:ext cx="996696" cy="402336"/>
          </a:xfrm>
          <a:prstGeom prst="rect">
            <a:avLst/>
          </a:prstGeom>
          <a:noFill/>
          <a:ln/>
        </p:spPr>
        <p:txBody>
          <a:bodyPr wrap="square" lIns="38100" tIns="38100" rIns="38100" bIns="38100" rtlCol="0" anchor="ctr"/>
          <a:lstStyle/>
          <a:p>
            <a:pPr algn="ctr" indent="0" marL="0">
              <a:buNone/>
            </a:pPr>
            <a:endParaRPr lang="en-US" sz="1250" dirty="0"/>
          </a:p>
        </p:txBody>
      </p:sp>
      <p:sp>
        <p:nvSpPr>
          <p:cNvPr id="15" name="Shape 13"/>
          <p:cNvSpPr/>
          <p:nvPr/>
        </p:nvSpPr>
        <p:spPr>
          <a:xfrm>
            <a:off x="502920" y="1636776"/>
            <a:ext cx="8129016" cy="0"/>
          </a:xfrm>
          <a:prstGeom prst="line">
            <a:avLst/>
          </a:prstGeom>
          <a:noFill/>
          <a:ln w="19050">
            <a:solidFill>
              <a:srgbClr val="322164"/>
            </a:solidFill>
            <a:prstDash val="solid"/>
          </a:ln>
        </p:spPr>
      </p:sp>
      <p:sp>
        <p:nvSpPr>
          <p:cNvPr id="16" name="Text 14"/>
          <p:cNvSpPr/>
          <p:nvPr/>
        </p:nvSpPr>
        <p:spPr>
          <a:xfrm>
            <a:off x="502920" y="163677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Base, chưa tinh chỉnh</a:t>
            </a:r>
            <a:endParaRPr lang="en-US" sz="1250" dirty="0"/>
          </a:p>
        </p:txBody>
      </p:sp>
      <p:sp>
        <p:nvSpPr>
          <p:cNvPr id="17" name="Text 15"/>
          <p:cNvSpPr/>
          <p:nvPr/>
        </p:nvSpPr>
        <p:spPr>
          <a:xfrm>
            <a:off x="3246120" y="163677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47,6</a:t>
            </a:r>
            <a:endParaRPr lang="en-US" sz="1250" dirty="0"/>
          </a:p>
        </p:txBody>
      </p:sp>
      <p:sp>
        <p:nvSpPr>
          <p:cNvPr id="18" name="Text 16"/>
          <p:cNvSpPr/>
          <p:nvPr/>
        </p:nvSpPr>
        <p:spPr>
          <a:xfrm>
            <a:off x="4480560" y="163677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[45,9 ; 49,3]</a:t>
            </a:r>
            <a:endParaRPr lang="en-US" sz="1250" dirty="0"/>
          </a:p>
        </p:txBody>
      </p:sp>
      <p:sp>
        <p:nvSpPr>
          <p:cNvPr id="19" name="Text 17"/>
          <p:cNvSpPr/>
          <p:nvPr/>
        </p:nvSpPr>
        <p:spPr>
          <a:xfrm>
            <a:off x="6355080" y="163677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53,6</a:t>
            </a:r>
            <a:endParaRPr lang="en-US" sz="1250" dirty="0"/>
          </a:p>
        </p:txBody>
      </p:sp>
      <p:sp>
        <p:nvSpPr>
          <p:cNvPr id="20" name="Text 18"/>
          <p:cNvSpPr/>
          <p:nvPr/>
        </p:nvSpPr>
        <p:spPr>
          <a:xfrm>
            <a:off x="7635240" y="1636776"/>
            <a:ext cx="996696" cy="365760"/>
          </a:xfrm>
          <a:prstGeom prst="rect">
            <a:avLst/>
          </a:prstGeom>
          <a:noFill/>
          <a:ln/>
        </p:spPr>
        <p:txBody>
          <a:bodyPr wrap="square" lIns="38100" tIns="38100" rIns="38100" bIns="38100" rtlCol="0" anchor="ctr"/>
          <a:lstStyle/>
          <a:p>
            <a:pPr algn="ctr" indent="0" marL="0">
              <a:buNone/>
            </a:pPr>
            <a:endParaRPr lang="en-US" sz="1250" dirty="0"/>
          </a:p>
        </p:txBody>
      </p:sp>
      <p:sp>
        <p:nvSpPr>
          <p:cNvPr id="21" name="Shape 19"/>
          <p:cNvSpPr/>
          <p:nvPr/>
        </p:nvSpPr>
        <p:spPr>
          <a:xfrm>
            <a:off x="502920" y="2002536"/>
            <a:ext cx="8129016" cy="0"/>
          </a:xfrm>
          <a:prstGeom prst="line">
            <a:avLst/>
          </a:prstGeom>
          <a:noFill/>
          <a:ln w="12700">
            <a:solidFill>
              <a:srgbClr val="9A94AE"/>
            </a:solidFill>
            <a:prstDash val="solid"/>
          </a:ln>
        </p:spPr>
      </p:sp>
      <p:sp>
        <p:nvSpPr>
          <p:cNvPr id="22" name="Text 20"/>
          <p:cNvSpPr/>
          <p:nvPr/>
        </p:nvSpPr>
        <p:spPr>
          <a:xfrm>
            <a:off x="502920" y="200253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 hạt giống 101</a:t>
            </a:r>
            <a:endParaRPr lang="en-US" sz="1250" dirty="0"/>
          </a:p>
        </p:txBody>
      </p:sp>
      <p:sp>
        <p:nvSpPr>
          <p:cNvPr id="23" name="Text 21"/>
          <p:cNvSpPr/>
          <p:nvPr/>
        </p:nvSpPr>
        <p:spPr>
          <a:xfrm>
            <a:off x="3246120" y="200253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59,1</a:t>
            </a:r>
            <a:endParaRPr lang="en-US" sz="1250" dirty="0"/>
          </a:p>
        </p:txBody>
      </p:sp>
      <p:sp>
        <p:nvSpPr>
          <p:cNvPr id="24" name="Text 22"/>
          <p:cNvSpPr/>
          <p:nvPr/>
        </p:nvSpPr>
        <p:spPr>
          <a:xfrm>
            <a:off x="4480560" y="200253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[57,3 ; 60,8]</a:t>
            </a:r>
            <a:endParaRPr lang="en-US" sz="1250" dirty="0"/>
          </a:p>
        </p:txBody>
      </p:sp>
      <p:sp>
        <p:nvSpPr>
          <p:cNvPr id="25" name="Text 23"/>
          <p:cNvSpPr/>
          <p:nvPr/>
        </p:nvSpPr>
        <p:spPr>
          <a:xfrm>
            <a:off x="6355080" y="200253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65,5</a:t>
            </a:r>
            <a:endParaRPr lang="en-US" sz="1250" dirty="0"/>
          </a:p>
        </p:txBody>
      </p:sp>
      <p:sp>
        <p:nvSpPr>
          <p:cNvPr id="26" name="Text 24"/>
          <p:cNvSpPr/>
          <p:nvPr/>
        </p:nvSpPr>
        <p:spPr>
          <a:xfrm>
            <a:off x="7635240" y="2002536"/>
            <a:ext cx="996696" cy="365760"/>
          </a:xfrm>
          <a:prstGeom prst="rect">
            <a:avLst/>
          </a:prstGeom>
          <a:noFill/>
          <a:ln/>
        </p:spPr>
        <p:txBody>
          <a:bodyPr wrap="square" lIns="38100" tIns="38100" rIns="38100" bIns="38100" rtlCol="0" anchor="ctr"/>
          <a:lstStyle/>
          <a:p>
            <a:pPr algn="ctr" indent="0" marL="0">
              <a:buNone/>
            </a:pPr>
            <a:endParaRPr lang="en-US" sz="1250" dirty="0"/>
          </a:p>
        </p:txBody>
      </p:sp>
      <p:sp>
        <p:nvSpPr>
          <p:cNvPr id="27" name="Shape 25"/>
          <p:cNvSpPr/>
          <p:nvPr/>
        </p:nvSpPr>
        <p:spPr>
          <a:xfrm>
            <a:off x="502920" y="2368296"/>
            <a:ext cx="8129016" cy="0"/>
          </a:xfrm>
          <a:prstGeom prst="line">
            <a:avLst/>
          </a:prstGeom>
          <a:noFill/>
          <a:ln w="12700">
            <a:solidFill>
              <a:srgbClr val="9A94AE"/>
            </a:solidFill>
            <a:prstDash val="solid"/>
          </a:ln>
        </p:spPr>
      </p:sp>
      <p:sp>
        <p:nvSpPr>
          <p:cNvPr id="28" name="Text 26"/>
          <p:cNvSpPr/>
          <p:nvPr/>
        </p:nvSpPr>
        <p:spPr>
          <a:xfrm>
            <a:off x="502920" y="236829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 hạt giống 202</a:t>
            </a:r>
            <a:endParaRPr lang="en-US" sz="1250" dirty="0"/>
          </a:p>
        </p:txBody>
      </p:sp>
      <p:sp>
        <p:nvSpPr>
          <p:cNvPr id="29" name="Text 27"/>
          <p:cNvSpPr/>
          <p:nvPr/>
        </p:nvSpPr>
        <p:spPr>
          <a:xfrm>
            <a:off x="3246120" y="236829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59,6</a:t>
            </a:r>
            <a:endParaRPr lang="en-US" sz="1250" dirty="0"/>
          </a:p>
        </p:txBody>
      </p:sp>
      <p:sp>
        <p:nvSpPr>
          <p:cNvPr id="30" name="Text 28"/>
          <p:cNvSpPr/>
          <p:nvPr/>
        </p:nvSpPr>
        <p:spPr>
          <a:xfrm>
            <a:off x="4480560" y="236829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[57,9 ; 61,3]</a:t>
            </a:r>
            <a:endParaRPr lang="en-US" sz="1250" dirty="0"/>
          </a:p>
        </p:txBody>
      </p:sp>
      <p:sp>
        <p:nvSpPr>
          <p:cNvPr id="31" name="Text 29"/>
          <p:cNvSpPr/>
          <p:nvPr/>
        </p:nvSpPr>
        <p:spPr>
          <a:xfrm>
            <a:off x="6355080" y="236829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66,1</a:t>
            </a:r>
            <a:endParaRPr lang="en-US" sz="1250" dirty="0"/>
          </a:p>
        </p:txBody>
      </p:sp>
      <p:sp>
        <p:nvSpPr>
          <p:cNvPr id="32" name="Text 30"/>
          <p:cNvSpPr/>
          <p:nvPr/>
        </p:nvSpPr>
        <p:spPr>
          <a:xfrm>
            <a:off x="7635240" y="2368296"/>
            <a:ext cx="996696" cy="365760"/>
          </a:xfrm>
          <a:prstGeom prst="rect">
            <a:avLst/>
          </a:prstGeom>
          <a:noFill/>
          <a:ln/>
        </p:spPr>
        <p:txBody>
          <a:bodyPr wrap="square" lIns="38100" tIns="38100" rIns="38100" bIns="38100" rtlCol="0" anchor="ctr"/>
          <a:lstStyle/>
          <a:p>
            <a:pPr algn="ctr" indent="0" marL="0">
              <a:buNone/>
            </a:pPr>
            <a:endParaRPr lang="en-US" sz="1250" dirty="0"/>
          </a:p>
        </p:txBody>
      </p:sp>
      <p:sp>
        <p:nvSpPr>
          <p:cNvPr id="33" name="Shape 31"/>
          <p:cNvSpPr/>
          <p:nvPr/>
        </p:nvSpPr>
        <p:spPr>
          <a:xfrm>
            <a:off x="502920" y="2734056"/>
            <a:ext cx="8129016" cy="0"/>
          </a:xfrm>
          <a:prstGeom prst="line">
            <a:avLst/>
          </a:prstGeom>
          <a:noFill/>
          <a:ln w="19050">
            <a:solidFill>
              <a:srgbClr val="322164"/>
            </a:solidFill>
            <a:prstDash val="solid"/>
          </a:ln>
        </p:spPr>
      </p:sp>
      <p:sp>
        <p:nvSpPr>
          <p:cNvPr id="34" name="Text 32"/>
          <p:cNvSpPr/>
          <p:nvPr/>
        </p:nvSpPr>
        <p:spPr>
          <a:xfrm>
            <a:off x="502920" y="273405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 khai báo trước</a:t>
            </a:r>
            <a:endParaRPr lang="en-US" sz="1250" dirty="0"/>
          </a:p>
        </p:txBody>
      </p:sp>
      <p:sp>
        <p:nvSpPr>
          <p:cNvPr id="35" name="Text 33"/>
          <p:cNvSpPr/>
          <p:nvPr/>
        </p:nvSpPr>
        <p:spPr>
          <a:xfrm>
            <a:off x="3246120" y="273405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57,2</a:t>
            </a:r>
            <a:endParaRPr lang="en-US" sz="1250" dirty="0"/>
          </a:p>
        </p:txBody>
      </p:sp>
      <p:sp>
        <p:nvSpPr>
          <p:cNvPr id="36" name="Text 34"/>
          <p:cNvSpPr/>
          <p:nvPr/>
        </p:nvSpPr>
        <p:spPr>
          <a:xfrm>
            <a:off x="4480560" y="273405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[55,4 ; 58,9]</a:t>
            </a:r>
            <a:endParaRPr lang="en-US" sz="1250" dirty="0"/>
          </a:p>
        </p:txBody>
      </p:sp>
      <p:sp>
        <p:nvSpPr>
          <p:cNvPr id="37" name="Text 35"/>
          <p:cNvSpPr/>
          <p:nvPr/>
        </p:nvSpPr>
        <p:spPr>
          <a:xfrm>
            <a:off x="6355080" y="273405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63,6</a:t>
            </a:r>
            <a:endParaRPr lang="en-US" sz="1250" dirty="0"/>
          </a:p>
        </p:txBody>
      </p:sp>
      <p:sp>
        <p:nvSpPr>
          <p:cNvPr id="38" name="Text 36"/>
          <p:cNvSpPr/>
          <p:nvPr/>
        </p:nvSpPr>
        <p:spPr>
          <a:xfrm>
            <a:off x="7635240" y="2734056"/>
            <a:ext cx="996696" cy="365760"/>
          </a:xfrm>
          <a:prstGeom prst="rect">
            <a:avLst/>
          </a:prstGeom>
          <a:noFill/>
          <a:ln/>
        </p:spPr>
        <p:txBody>
          <a:bodyPr wrap="square" lIns="38100" tIns="38100" rIns="38100" bIns="38100" rtlCol="0" anchor="ctr"/>
          <a:lstStyle/>
          <a:p>
            <a:pPr algn="ctr" indent="0" marL="0">
              <a:buNone/>
            </a:pPr>
            <a:r>
              <a:rPr lang="en-US" sz="1000" dirty="0">
                <a:solidFill>
                  <a:srgbClr val="990000"/>
                </a:solidFill>
                <a:latin typeface="Cambria" pitchFamily="34" charset="0"/>
                <a:ea typeface="Cambria" pitchFamily="34" charset="-122"/>
                <a:cs typeface="Cambria" pitchFamily="34" charset="-120"/>
              </a:rPr>
              <a:t>một hạt giống</a:t>
            </a:r>
            <a:endParaRPr lang="en-US" sz="1000" dirty="0"/>
          </a:p>
        </p:txBody>
      </p:sp>
      <p:sp>
        <p:nvSpPr>
          <p:cNvPr id="39" name="Shape 37"/>
          <p:cNvSpPr/>
          <p:nvPr/>
        </p:nvSpPr>
        <p:spPr>
          <a:xfrm>
            <a:off x="502920" y="3099816"/>
            <a:ext cx="8129016" cy="0"/>
          </a:xfrm>
          <a:prstGeom prst="line">
            <a:avLst/>
          </a:prstGeom>
          <a:noFill/>
          <a:ln w="12700">
            <a:solidFill>
              <a:srgbClr val="9A94AE"/>
            </a:solidFill>
            <a:prstDash val="solid"/>
          </a:ln>
        </p:spPr>
      </p:sp>
      <p:sp>
        <p:nvSpPr>
          <p:cNvPr id="40" name="Text 38"/>
          <p:cNvSpPr/>
          <p:nvPr/>
        </p:nvSpPr>
        <p:spPr>
          <a:xfrm>
            <a:off x="502920" y="309981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CE2-S2, nhánh so sánh</a:t>
            </a:r>
            <a:endParaRPr lang="en-US" sz="1250" dirty="0"/>
          </a:p>
        </p:txBody>
      </p:sp>
      <p:sp>
        <p:nvSpPr>
          <p:cNvPr id="41" name="Text 39"/>
          <p:cNvSpPr/>
          <p:nvPr/>
        </p:nvSpPr>
        <p:spPr>
          <a:xfrm>
            <a:off x="3246120" y="309981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59,4</a:t>
            </a:r>
            <a:endParaRPr lang="en-US" sz="1250" dirty="0"/>
          </a:p>
        </p:txBody>
      </p:sp>
      <p:sp>
        <p:nvSpPr>
          <p:cNvPr id="42" name="Text 40"/>
          <p:cNvSpPr/>
          <p:nvPr/>
        </p:nvSpPr>
        <p:spPr>
          <a:xfrm>
            <a:off x="4480560" y="309981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[57,7 ; 61,1]</a:t>
            </a:r>
            <a:endParaRPr lang="en-US" sz="1250" dirty="0"/>
          </a:p>
        </p:txBody>
      </p:sp>
      <p:sp>
        <p:nvSpPr>
          <p:cNvPr id="43" name="Text 41"/>
          <p:cNvSpPr/>
          <p:nvPr/>
        </p:nvSpPr>
        <p:spPr>
          <a:xfrm>
            <a:off x="6355080" y="309981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66,0</a:t>
            </a:r>
            <a:endParaRPr lang="en-US" sz="1250" dirty="0"/>
          </a:p>
        </p:txBody>
      </p:sp>
      <p:sp>
        <p:nvSpPr>
          <p:cNvPr id="44" name="Text 42"/>
          <p:cNvSpPr/>
          <p:nvPr/>
        </p:nvSpPr>
        <p:spPr>
          <a:xfrm>
            <a:off x="7635240" y="3099816"/>
            <a:ext cx="996696" cy="365760"/>
          </a:xfrm>
          <a:prstGeom prst="rect">
            <a:avLst/>
          </a:prstGeom>
          <a:noFill/>
          <a:ln/>
        </p:spPr>
        <p:txBody>
          <a:bodyPr wrap="square" lIns="38100" tIns="38100" rIns="38100" bIns="38100" rtlCol="0" anchor="ctr"/>
          <a:lstStyle/>
          <a:p>
            <a:pPr algn="ctr" indent="0" marL="0">
              <a:buNone/>
            </a:pPr>
            <a:r>
              <a:rPr lang="en-US" sz="1000" dirty="0">
                <a:solidFill>
                  <a:srgbClr val="990000"/>
                </a:solidFill>
                <a:latin typeface="Cambria" pitchFamily="34" charset="0"/>
                <a:ea typeface="Cambria" pitchFamily="34" charset="-122"/>
                <a:cs typeface="Cambria" pitchFamily="34" charset="-120"/>
              </a:rPr>
              <a:t>một hạt giống</a:t>
            </a:r>
            <a:endParaRPr lang="en-US" sz="1000" dirty="0"/>
          </a:p>
        </p:txBody>
      </p:sp>
      <p:sp>
        <p:nvSpPr>
          <p:cNvPr id="45" name="Shape 43"/>
          <p:cNvSpPr/>
          <p:nvPr/>
        </p:nvSpPr>
        <p:spPr>
          <a:xfrm>
            <a:off x="502920" y="3465576"/>
            <a:ext cx="8129016" cy="0"/>
          </a:xfrm>
          <a:prstGeom prst="line">
            <a:avLst/>
          </a:prstGeom>
          <a:noFill/>
          <a:ln w="12700">
            <a:solidFill>
              <a:srgbClr val="9A94AE"/>
            </a:solidFill>
            <a:prstDash val="solid"/>
          </a:ln>
        </p:spPr>
      </p:sp>
      <p:sp>
        <p:nvSpPr>
          <p:cNvPr id="46" name="Text 44"/>
          <p:cNvSpPr/>
          <p:nvPr/>
        </p:nvSpPr>
        <p:spPr>
          <a:xfrm>
            <a:off x="502920" y="346557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MIN-DESC, mục tiêu ưu tiên</a:t>
            </a:r>
            <a:endParaRPr lang="en-US" sz="1250" dirty="0"/>
          </a:p>
        </p:txBody>
      </p:sp>
      <p:sp>
        <p:nvSpPr>
          <p:cNvPr id="47" name="Text 45"/>
          <p:cNvSpPr/>
          <p:nvPr/>
        </p:nvSpPr>
        <p:spPr>
          <a:xfrm>
            <a:off x="3246120" y="346557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60,05</a:t>
            </a:r>
            <a:endParaRPr lang="en-US" sz="1250" dirty="0"/>
          </a:p>
        </p:txBody>
      </p:sp>
      <p:sp>
        <p:nvSpPr>
          <p:cNvPr id="48" name="Text 46"/>
          <p:cNvSpPr/>
          <p:nvPr/>
        </p:nvSpPr>
        <p:spPr>
          <a:xfrm>
            <a:off x="4480560" y="346557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[58,3 ; 61,8]</a:t>
            </a:r>
            <a:endParaRPr lang="en-US" sz="1250" dirty="0"/>
          </a:p>
        </p:txBody>
      </p:sp>
      <p:sp>
        <p:nvSpPr>
          <p:cNvPr id="49" name="Text 47"/>
          <p:cNvSpPr/>
          <p:nvPr/>
        </p:nvSpPr>
        <p:spPr>
          <a:xfrm>
            <a:off x="6355080" y="346557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66,5</a:t>
            </a:r>
            <a:endParaRPr lang="en-US" sz="1250" dirty="0"/>
          </a:p>
        </p:txBody>
      </p:sp>
      <p:sp>
        <p:nvSpPr>
          <p:cNvPr id="50" name="Text 48"/>
          <p:cNvSpPr/>
          <p:nvPr/>
        </p:nvSpPr>
        <p:spPr>
          <a:xfrm>
            <a:off x="7635240" y="3465576"/>
            <a:ext cx="996696" cy="365760"/>
          </a:xfrm>
          <a:prstGeom prst="rect">
            <a:avLst/>
          </a:prstGeom>
          <a:noFill/>
          <a:ln/>
        </p:spPr>
        <p:txBody>
          <a:bodyPr wrap="square" lIns="38100" tIns="38100" rIns="38100" bIns="38100" rtlCol="0" anchor="ctr"/>
          <a:lstStyle/>
          <a:p>
            <a:pPr algn="ctr" indent="0" marL="0">
              <a:buNone/>
            </a:pPr>
            <a:r>
              <a:rPr lang="en-US" sz="1000" dirty="0">
                <a:solidFill>
                  <a:srgbClr val="990000"/>
                </a:solidFill>
                <a:latin typeface="Cambria" pitchFamily="34" charset="0"/>
                <a:ea typeface="Cambria" pitchFamily="34" charset="-122"/>
                <a:cs typeface="Cambria" pitchFamily="34" charset="-120"/>
              </a:rPr>
              <a:t>một hạt giống</a:t>
            </a:r>
            <a:endParaRPr lang="en-US" sz="1000" dirty="0"/>
          </a:p>
        </p:txBody>
      </p:sp>
      <p:sp>
        <p:nvSpPr>
          <p:cNvPr id="51" name="Shape 49"/>
          <p:cNvSpPr/>
          <p:nvPr/>
        </p:nvSpPr>
        <p:spPr>
          <a:xfrm>
            <a:off x="502920" y="3831336"/>
            <a:ext cx="8129016" cy="0"/>
          </a:xfrm>
          <a:prstGeom prst="line">
            <a:avLst/>
          </a:prstGeom>
          <a:noFill/>
          <a:ln w="12700">
            <a:solidFill>
              <a:srgbClr val="9A94AE"/>
            </a:solidFill>
            <a:prstDash val="solid"/>
          </a:ln>
        </p:spPr>
      </p:sp>
      <p:sp>
        <p:nvSpPr>
          <p:cNvPr id="52" name="Text 50"/>
          <p:cNvSpPr/>
          <p:nvPr/>
        </p:nvSpPr>
        <p:spPr>
          <a:xfrm>
            <a:off x="502920" y="3831336"/>
            <a:ext cx="2743200" cy="365760"/>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Chặng ba, thưởng ô toạ độ</a:t>
            </a:r>
            <a:endParaRPr lang="en-US" sz="1250" dirty="0"/>
          </a:p>
        </p:txBody>
      </p:sp>
      <p:sp>
        <p:nvSpPr>
          <p:cNvPr id="53" name="Text 51"/>
          <p:cNvSpPr/>
          <p:nvPr/>
        </p:nvSpPr>
        <p:spPr>
          <a:xfrm>
            <a:off x="3246120" y="3831336"/>
            <a:ext cx="1234440" cy="365760"/>
          </a:xfrm>
          <a:prstGeom prst="rect">
            <a:avLst/>
          </a:prstGeom>
          <a:noFill/>
          <a:ln/>
        </p:spPr>
        <p:txBody>
          <a:bodyPr wrap="square" lIns="38100" tIns="38100" rIns="38100" bIns="38100" rtlCol="0" anchor="ctr"/>
          <a:lstStyle/>
          <a:p>
            <a:pPr algn="ctr" indent="0" marL="0">
              <a:buNone/>
            </a:pPr>
            <a:r>
              <a:rPr lang="en-US" sz="1250" b="1" dirty="0">
                <a:solidFill>
                  <a:srgbClr val="322164"/>
                </a:solidFill>
                <a:latin typeface="Cambria" pitchFamily="34" charset="0"/>
                <a:ea typeface="Cambria" pitchFamily="34" charset="-122"/>
                <a:cs typeface="Cambria" pitchFamily="34" charset="-120"/>
              </a:rPr>
              <a:t>60,07</a:t>
            </a:r>
            <a:endParaRPr lang="en-US" sz="1250" dirty="0"/>
          </a:p>
        </p:txBody>
      </p:sp>
      <p:sp>
        <p:nvSpPr>
          <p:cNvPr id="54" name="Text 52"/>
          <p:cNvSpPr/>
          <p:nvPr/>
        </p:nvSpPr>
        <p:spPr>
          <a:xfrm>
            <a:off x="4480560" y="383133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[58,3 ; 61,8]</a:t>
            </a:r>
            <a:endParaRPr lang="en-US" sz="1250" dirty="0"/>
          </a:p>
        </p:txBody>
      </p:sp>
      <p:sp>
        <p:nvSpPr>
          <p:cNvPr id="55" name="Text 53"/>
          <p:cNvSpPr/>
          <p:nvPr/>
        </p:nvSpPr>
        <p:spPr>
          <a:xfrm>
            <a:off x="6355080" y="3831336"/>
            <a:ext cx="1280160" cy="365760"/>
          </a:xfrm>
          <a:prstGeom prst="rect">
            <a:avLst/>
          </a:prstGeom>
          <a:noFill/>
          <a:ln/>
        </p:spPr>
        <p:txBody>
          <a:bodyPr wrap="square" lIns="38100" tIns="38100" rIns="38100" bIns="38100" rtlCol="0" anchor="ctr"/>
          <a:lstStyle/>
          <a:p>
            <a:pPr algn="ctr" indent="0" marL="0">
              <a:buNone/>
            </a:pPr>
            <a:r>
              <a:rPr lang="en-US" sz="1250" b="1" dirty="0">
                <a:solidFill>
                  <a:srgbClr val="322164"/>
                </a:solidFill>
                <a:latin typeface="Cambria" pitchFamily="34" charset="0"/>
                <a:ea typeface="Cambria" pitchFamily="34" charset="-122"/>
                <a:cs typeface="Cambria" pitchFamily="34" charset="-120"/>
              </a:rPr>
              <a:t>67,0</a:t>
            </a:r>
            <a:endParaRPr lang="en-US" sz="1250" dirty="0"/>
          </a:p>
        </p:txBody>
      </p:sp>
      <p:sp>
        <p:nvSpPr>
          <p:cNvPr id="56" name="Text 54"/>
          <p:cNvSpPr/>
          <p:nvPr/>
        </p:nvSpPr>
        <p:spPr>
          <a:xfrm>
            <a:off x="7635240" y="3831336"/>
            <a:ext cx="996696" cy="365760"/>
          </a:xfrm>
          <a:prstGeom prst="rect">
            <a:avLst/>
          </a:prstGeom>
          <a:noFill/>
          <a:ln/>
        </p:spPr>
        <p:txBody>
          <a:bodyPr wrap="square" lIns="38100" tIns="38100" rIns="38100" bIns="38100" rtlCol="0" anchor="ctr"/>
          <a:lstStyle/>
          <a:p>
            <a:pPr algn="ctr" indent="0" marL="0">
              <a:buNone/>
            </a:pPr>
            <a:r>
              <a:rPr lang="en-US" sz="1000" dirty="0">
                <a:solidFill>
                  <a:srgbClr val="990000"/>
                </a:solidFill>
                <a:latin typeface="Cambria" pitchFamily="34" charset="0"/>
                <a:ea typeface="Cambria" pitchFamily="34" charset="-122"/>
                <a:cs typeface="Cambria" pitchFamily="34" charset="-120"/>
              </a:rPr>
              <a:t>một hạt giống</a:t>
            </a:r>
            <a:endParaRPr lang="en-US" sz="1000" dirty="0"/>
          </a:p>
        </p:txBody>
      </p:sp>
      <p:sp>
        <p:nvSpPr>
          <p:cNvPr id="57" name="Shape 55"/>
          <p:cNvSpPr/>
          <p:nvPr/>
        </p:nvSpPr>
        <p:spPr>
          <a:xfrm>
            <a:off x="502920" y="4197096"/>
            <a:ext cx="8129016" cy="0"/>
          </a:xfrm>
          <a:prstGeom prst="line">
            <a:avLst/>
          </a:prstGeom>
          <a:noFill/>
          <a:ln w="19050">
            <a:solidFill>
              <a:srgbClr val="322164"/>
            </a:solidFill>
            <a:prstDash val="solid"/>
          </a:ln>
        </p:spPr>
      </p:sp>
      <p:sp>
        <p:nvSpPr>
          <p:cNvPr id="58" name="Text 56"/>
          <p:cNvSpPr/>
          <p:nvPr/>
        </p:nvSpPr>
        <p:spPr>
          <a:xfrm>
            <a:off x="502920" y="4197096"/>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Nhánh ứng viên, hạt giống 101</a:t>
            </a:r>
            <a:endParaRPr lang="en-US" sz="1250" dirty="0"/>
          </a:p>
        </p:txBody>
      </p:sp>
      <p:sp>
        <p:nvSpPr>
          <p:cNvPr id="59" name="Text 57"/>
          <p:cNvSpPr/>
          <p:nvPr/>
        </p:nvSpPr>
        <p:spPr>
          <a:xfrm>
            <a:off x="3246120" y="4197096"/>
            <a:ext cx="12344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56,1</a:t>
            </a:r>
            <a:endParaRPr lang="en-US" sz="1250" dirty="0"/>
          </a:p>
        </p:txBody>
      </p:sp>
      <p:sp>
        <p:nvSpPr>
          <p:cNvPr id="60" name="Text 58"/>
          <p:cNvSpPr/>
          <p:nvPr/>
        </p:nvSpPr>
        <p:spPr>
          <a:xfrm>
            <a:off x="4480560" y="4197096"/>
            <a:ext cx="18745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[54,5 ; 58,0]</a:t>
            </a:r>
            <a:endParaRPr lang="en-US" sz="1250" dirty="0"/>
          </a:p>
        </p:txBody>
      </p:sp>
      <p:sp>
        <p:nvSpPr>
          <p:cNvPr id="61" name="Text 59"/>
          <p:cNvSpPr/>
          <p:nvPr/>
        </p:nvSpPr>
        <p:spPr>
          <a:xfrm>
            <a:off x="6355080" y="4197096"/>
            <a:ext cx="12801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62,4</a:t>
            </a:r>
            <a:endParaRPr lang="en-US" sz="1250" dirty="0"/>
          </a:p>
        </p:txBody>
      </p:sp>
      <p:sp>
        <p:nvSpPr>
          <p:cNvPr id="62" name="Text 60"/>
          <p:cNvSpPr/>
          <p:nvPr/>
        </p:nvSpPr>
        <p:spPr>
          <a:xfrm>
            <a:off x="7635240" y="4197096"/>
            <a:ext cx="996696" cy="365760"/>
          </a:xfrm>
          <a:prstGeom prst="rect">
            <a:avLst/>
          </a:prstGeom>
          <a:noFill/>
          <a:ln/>
        </p:spPr>
        <p:txBody>
          <a:bodyPr wrap="square" lIns="38100" tIns="38100" rIns="38100" bIns="38100" rtlCol="0" anchor="ctr"/>
          <a:lstStyle/>
          <a:p>
            <a:pPr algn="ctr" indent="0" marL="0">
              <a:buNone/>
            </a:pPr>
            <a:r>
              <a:rPr lang="en-US" sz="1000" dirty="0">
                <a:solidFill>
                  <a:srgbClr val="990000"/>
                </a:solidFill>
                <a:latin typeface="Cambria" pitchFamily="34" charset="0"/>
                <a:ea typeface="Cambria" pitchFamily="34" charset="-122"/>
                <a:cs typeface="Cambria" pitchFamily="34" charset="-120"/>
              </a:rPr>
              <a:t>điều kiện khác</a:t>
            </a:r>
            <a:endParaRPr lang="en-US" sz="1000" dirty="0"/>
          </a:p>
        </p:txBody>
      </p:sp>
      <p:sp>
        <p:nvSpPr>
          <p:cNvPr id="63" name="Text 61"/>
          <p:cNvSpPr/>
          <p:nvPr/>
        </p:nvSpPr>
        <p:spPr>
          <a:xfrm>
            <a:off x="502920" y="4572000"/>
            <a:ext cx="8138160" cy="548640"/>
          </a:xfrm>
          <a:prstGeom prst="rect">
            <a:avLst/>
          </a:prstGeom>
          <a:noFill/>
          <a:ln/>
        </p:spPr>
        <p:txBody>
          <a:bodyPr wrap="square" lIns="0" tIns="0" rIns="0" bIns="0" rtlCol="0" anchor="t"/>
          <a:lstStyle/>
          <a:p>
            <a:pPr algn="l" indent="0" marL="0">
              <a:lnSpc>
                <a:spcPct val="120000"/>
              </a:lnSpc>
              <a:buNone/>
            </a:pPr>
            <a:r>
              <a:rPr lang="en-US" sz="1100" i="1" dirty="0">
                <a:solidFill>
                  <a:srgbClr val="5A5A66"/>
                </a:solidFill>
                <a:latin typeface="Cambria" pitchFamily="34" charset="0"/>
                <a:ea typeface="Cambria" pitchFamily="34" charset="-122"/>
                <a:cs typeface="Cambria" pitchFamily="34" charset="-120"/>
              </a:rPr>
              <a:t>Năm nhánh dưới vạch chỉ có một hạt giống. Chặng ba hơn chặng hai 0,02 điểm, tức hai nhánh cùng một mức. Cột hộp phần tử là thước báo kèm: điểm dự đoán rơi vào bên trong khung của phần tử đúng, theo luật chấm gốc của bộ dữ liệu. Cột này tính sau khi đã có mọi điểm nên không dùng làm con số chính.</a:t>
            </a:r>
            <a:endParaRPr lang="en-US" sz="1100" dirty="0"/>
          </a:p>
        </p:txBody>
      </p:sp>
      <p:sp>
        <p:nvSpPr>
          <p:cNvPr id="64" name="Shape 62"/>
          <p:cNvSpPr/>
          <p:nvPr/>
        </p:nvSpPr>
        <p:spPr>
          <a:xfrm>
            <a:off x="502920" y="5138928"/>
            <a:ext cx="813816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65" name="Text 63"/>
          <p:cNvSpPr/>
          <p:nvPr/>
        </p:nvSpPr>
        <p:spPr>
          <a:xfrm>
            <a:off x="685800" y="5202936"/>
            <a:ext cx="201168" cy="402336"/>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66" name="Text 64"/>
          <p:cNvSpPr/>
          <p:nvPr/>
        </p:nvSpPr>
        <p:spPr>
          <a:xfrm>
            <a:off x="914400" y="5202936"/>
            <a:ext cx="7543800" cy="365760"/>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Ba khoảng tin cậy của Base, S1 và trần rời nhau hoàn toàn</a:t>
            </a:r>
            <a:endParaRPr lang="en-US" sz="1300" dirty="0"/>
          </a:p>
        </p:txBody>
      </p:sp>
      <p:sp>
        <p:nvSpPr>
          <p:cNvPr id="67" name="Text 65"/>
          <p:cNvSpPr/>
          <p:nvPr/>
        </p:nvSpPr>
        <p:spPr>
          <a:xfrm>
            <a:off x="685800" y="5605272"/>
            <a:ext cx="201168" cy="402336"/>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68" name="Text 66"/>
          <p:cNvSpPr/>
          <p:nvPr/>
        </p:nvSpPr>
        <p:spPr>
          <a:xfrm>
            <a:off x="914400" y="5605272"/>
            <a:ext cx="7543800" cy="365760"/>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Thứ tự các nhánh không đổi dưới cả hai luật chấm</a:t>
            </a:r>
            <a:endParaRPr lang="en-US" sz="1300" dirty="0"/>
          </a:p>
        </p:txBody>
      </p:sp>
      <p:sp>
        <p:nvSpPr>
          <p:cNvPr id="70" name="Shape 67"/>
          <p:cNvSpPr/>
          <p:nvPr/>
        </p:nvSpPr>
        <p:spPr>
          <a:xfrm>
            <a:off x="0" y="6620256"/>
            <a:ext cx="2743200" cy="237744"/>
          </a:xfrm>
          <a:prstGeom prst="rect">
            <a:avLst/>
          </a:prstGeom>
          <a:solidFill>
            <a:srgbClr val="191132"/>
          </a:solidFill>
          <a:ln/>
        </p:spPr>
      </p:sp>
      <p:sp>
        <p:nvSpPr>
          <p:cNvPr id="71" name="Shape 68"/>
          <p:cNvSpPr/>
          <p:nvPr/>
        </p:nvSpPr>
        <p:spPr>
          <a:xfrm>
            <a:off x="2743200" y="6620256"/>
            <a:ext cx="3383280" cy="237744"/>
          </a:xfrm>
          <a:prstGeom prst="rect">
            <a:avLst/>
          </a:prstGeom>
          <a:solidFill>
            <a:srgbClr val="25194B"/>
          </a:solidFill>
          <a:ln/>
        </p:spPr>
      </p:sp>
      <p:sp>
        <p:nvSpPr>
          <p:cNvPr id="72" name="Shape 69"/>
          <p:cNvSpPr/>
          <p:nvPr/>
        </p:nvSpPr>
        <p:spPr>
          <a:xfrm>
            <a:off x="6126480" y="6620256"/>
            <a:ext cx="1737360" cy="237744"/>
          </a:xfrm>
          <a:prstGeom prst="rect">
            <a:avLst/>
          </a:prstGeom>
          <a:solidFill>
            <a:srgbClr val="4F417A"/>
          </a:solidFill>
          <a:ln/>
        </p:spPr>
      </p:sp>
      <p:sp>
        <p:nvSpPr>
          <p:cNvPr id="73" name="Shape 70"/>
          <p:cNvSpPr/>
          <p:nvPr/>
        </p:nvSpPr>
        <p:spPr>
          <a:xfrm>
            <a:off x="7863840" y="6620256"/>
            <a:ext cx="1280160" cy="237744"/>
          </a:xfrm>
          <a:prstGeom prst="rect">
            <a:avLst/>
          </a:prstGeom>
          <a:solidFill>
            <a:srgbClr val="7A7099"/>
          </a:solidFill>
          <a:ln/>
        </p:spPr>
      </p:sp>
      <p:sp>
        <p:nvSpPr>
          <p:cNvPr id="74" name="Text 7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75" name="Text 7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76" name="Text 7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77" name="Text 7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16/29</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So sánh ghép cặp và các cách giải thích thay thế</a:t>
            </a:r>
            <a:endParaRPr lang="en-US" sz="1900" dirty="0"/>
          </a:p>
        </p:txBody>
      </p:sp>
      <p:sp>
        <p:nvSpPr>
          <p:cNvPr id="4" name="Shape 2"/>
          <p:cNvSpPr/>
          <p:nvPr/>
        </p:nvSpPr>
        <p:spPr>
          <a:xfrm>
            <a:off x="502920" y="868680"/>
            <a:ext cx="8129016" cy="365760"/>
          </a:xfrm>
          <a:prstGeom prst="rect">
            <a:avLst/>
          </a:prstGeom>
          <a:solidFill>
            <a:srgbClr val="322164"/>
          </a:solidFill>
          <a:ln/>
        </p:spPr>
      </p:sp>
      <p:sp>
        <p:nvSpPr>
          <p:cNvPr id="5" name="Text 3"/>
          <p:cNvSpPr/>
          <p:nvPr/>
        </p:nvSpPr>
        <p:spPr>
          <a:xfrm>
            <a:off x="502920" y="868680"/>
            <a:ext cx="310896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Phép so (McNemar)</a:t>
            </a:r>
            <a:endParaRPr lang="en-US" sz="1250" dirty="0"/>
          </a:p>
        </p:txBody>
      </p:sp>
      <p:sp>
        <p:nvSpPr>
          <p:cNvPr id="6" name="Text 4"/>
          <p:cNvSpPr/>
          <p:nvPr/>
        </p:nvSpPr>
        <p:spPr>
          <a:xfrm>
            <a:off x="3611880" y="868680"/>
            <a:ext cx="1371600"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Δ</a:t>
            </a:r>
            <a:endParaRPr lang="en-US" sz="1250" dirty="0"/>
          </a:p>
        </p:txBody>
      </p:sp>
      <p:sp>
        <p:nvSpPr>
          <p:cNvPr id="7" name="Text 5"/>
          <p:cNvSpPr/>
          <p:nvPr/>
        </p:nvSpPr>
        <p:spPr>
          <a:xfrm>
            <a:off x="4983480" y="868680"/>
            <a:ext cx="2011680"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KTC 95%</a:t>
            </a:r>
            <a:endParaRPr lang="en-US" sz="1250" dirty="0"/>
          </a:p>
        </p:txBody>
      </p:sp>
      <p:sp>
        <p:nvSpPr>
          <p:cNvPr id="8" name="Text 6"/>
          <p:cNvSpPr/>
          <p:nvPr/>
        </p:nvSpPr>
        <p:spPr>
          <a:xfrm>
            <a:off x="6995160" y="868680"/>
            <a:ext cx="1636776"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a:t>
            </a:r>
            <a:endParaRPr lang="en-US" sz="1250" dirty="0"/>
          </a:p>
        </p:txBody>
      </p:sp>
      <p:sp>
        <p:nvSpPr>
          <p:cNvPr id="9" name="Text 7"/>
          <p:cNvSpPr/>
          <p:nvPr/>
        </p:nvSpPr>
        <p:spPr>
          <a:xfrm>
            <a:off x="502920" y="1234440"/>
            <a:ext cx="3108960" cy="402336"/>
          </a:xfrm>
          <a:prstGeom prst="rect">
            <a:avLst/>
          </a:prstGeom>
          <a:noFill/>
          <a:ln/>
        </p:spPr>
        <p:txBody>
          <a:bodyPr wrap="square" lIns="38100" tIns="38100" rIns="38100" bIns="38100" rtlCol="0" anchor="ctr"/>
          <a:lstStyle/>
          <a:p>
            <a:pPr algn="l" indent="0" marL="0">
              <a:buNone/>
            </a:pPr>
            <a:r>
              <a:rPr lang="en-US" sz="1300" b="1" dirty="0">
                <a:solidFill>
                  <a:srgbClr val="1A1A1A"/>
                </a:solidFill>
                <a:latin typeface="Cambria" pitchFamily="34" charset="0"/>
                <a:ea typeface="Cambria" pitchFamily="34" charset="-122"/>
                <a:cs typeface="Cambria" pitchFamily="34" charset="-120"/>
              </a:rPr>
              <a:t>S1 − Base</a:t>
            </a:r>
            <a:endParaRPr lang="en-US" sz="1300" dirty="0"/>
          </a:p>
        </p:txBody>
      </p:sp>
      <p:sp>
        <p:nvSpPr>
          <p:cNvPr id="10" name="Text 8"/>
          <p:cNvSpPr/>
          <p:nvPr/>
        </p:nvSpPr>
        <p:spPr>
          <a:xfrm>
            <a:off x="3611880" y="1234440"/>
            <a:ext cx="1371600" cy="402336"/>
          </a:xfrm>
          <a:prstGeom prst="rect">
            <a:avLst/>
          </a:prstGeom>
          <a:noFill/>
          <a:ln/>
        </p:spPr>
        <p:txBody>
          <a:bodyPr wrap="square" lIns="38100" tIns="38100" rIns="38100" bIns="38100" rtlCol="0" anchor="ctr"/>
          <a:lstStyle/>
          <a:p>
            <a:pPr algn="ctr" indent="0" marL="0">
              <a:buNone/>
            </a:pPr>
            <a:r>
              <a:rPr lang="en-US" sz="1300" b="1" dirty="0">
                <a:solidFill>
                  <a:srgbClr val="006666"/>
                </a:solidFill>
                <a:latin typeface="Cambria" pitchFamily="34" charset="0"/>
                <a:ea typeface="Cambria" pitchFamily="34" charset="-122"/>
                <a:cs typeface="Cambria" pitchFamily="34" charset="-120"/>
              </a:rPr>
              <a:t>+11,5</a:t>
            </a:r>
            <a:endParaRPr lang="en-US" sz="1300" dirty="0"/>
          </a:p>
        </p:txBody>
      </p:sp>
      <p:sp>
        <p:nvSpPr>
          <p:cNvPr id="11" name="Text 9"/>
          <p:cNvSpPr/>
          <p:nvPr/>
        </p:nvSpPr>
        <p:spPr>
          <a:xfrm>
            <a:off x="4983480" y="1234440"/>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[+10,0 ; +13,1]</a:t>
            </a:r>
            <a:endParaRPr lang="en-US" sz="1300" dirty="0"/>
          </a:p>
        </p:txBody>
      </p:sp>
      <p:sp>
        <p:nvSpPr>
          <p:cNvPr id="12" name="Text 10"/>
          <p:cNvSpPr/>
          <p:nvPr/>
        </p:nvSpPr>
        <p:spPr>
          <a:xfrm>
            <a:off x="6995160" y="1234440"/>
            <a:ext cx="1636776"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&lt;0,001</a:t>
            </a:r>
            <a:endParaRPr lang="en-US" sz="1300" dirty="0"/>
          </a:p>
        </p:txBody>
      </p:sp>
      <p:sp>
        <p:nvSpPr>
          <p:cNvPr id="13" name="Shape 11"/>
          <p:cNvSpPr/>
          <p:nvPr/>
        </p:nvSpPr>
        <p:spPr>
          <a:xfrm>
            <a:off x="502920" y="1636776"/>
            <a:ext cx="8129016" cy="0"/>
          </a:xfrm>
          <a:prstGeom prst="line">
            <a:avLst/>
          </a:prstGeom>
          <a:noFill/>
          <a:ln w="12700">
            <a:solidFill>
              <a:srgbClr val="9A94AE"/>
            </a:solidFill>
            <a:prstDash val="solid"/>
          </a:ln>
        </p:spPr>
      </p:sp>
      <p:sp>
        <p:nvSpPr>
          <p:cNvPr id="14" name="Text 12"/>
          <p:cNvSpPr/>
          <p:nvPr/>
        </p:nvSpPr>
        <p:spPr>
          <a:xfrm>
            <a:off x="502920" y="1636776"/>
            <a:ext cx="310896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Trần − S1</a:t>
            </a:r>
            <a:endParaRPr lang="en-US" sz="1300" dirty="0"/>
          </a:p>
        </p:txBody>
      </p:sp>
      <p:sp>
        <p:nvSpPr>
          <p:cNvPr id="15" name="Text 13"/>
          <p:cNvSpPr/>
          <p:nvPr/>
        </p:nvSpPr>
        <p:spPr>
          <a:xfrm>
            <a:off x="3611880" y="1636776"/>
            <a:ext cx="1371600"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+16,6</a:t>
            </a:r>
            <a:endParaRPr lang="en-US" sz="1300" dirty="0"/>
          </a:p>
        </p:txBody>
      </p:sp>
      <p:sp>
        <p:nvSpPr>
          <p:cNvPr id="16" name="Text 14"/>
          <p:cNvSpPr/>
          <p:nvPr/>
        </p:nvSpPr>
        <p:spPr>
          <a:xfrm>
            <a:off x="4983480" y="1636776"/>
            <a:ext cx="2011680"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a:t>
            </a:r>
            <a:endParaRPr lang="en-US" sz="1300" dirty="0"/>
          </a:p>
        </p:txBody>
      </p:sp>
      <p:sp>
        <p:nvSpPr>
          <p:cNvPr id="17" name="Text 15"/>
          <p:cNvSpPr/>
          <p:nvPr/>
        </p:nvSpPr>
        <p:spPr>
          <a:xfrm>
            <a:off x="6995160" y="1636776"/>
            <a:ext cx="1636776"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&lt;0,001</a:t>
            </a:r>
            <a:endParaRPr lang="en-US" sz="1300" dirty="0"/>
          </a:p>
        </p:txBody>
      </p:sp>
      <p:sp>
        <p:nvSpPr>
          <p:cNvPr id="18" name="Shape 16"/>
          <p:cNvSpPr/>
          <p:nvPr/>
        </p:nvSpPr>
        <p:spPr>
          <a:xfrm>
            <a:off x="502920" y="2020824"/>
            <a:ext cx="8129016" cy="0"/>
          </a:xfrm>
          <a:prstGeom prst="line">
            <a:avLst/>
          </a:prstGeom>
          <a:noFill/>
          <a:ln w="12700">
            <a:solidFill>
              <a:srgbClr val="9A94AE"/>
            </a:solidFill>
            <a:prstDash val="solid"/>
          </a:ln>
        </p:spPr>
      </p:sp>
      <p:sp>
        <p:nvSpPr>
          <p:cNvPr id="19" name="Text 17"/>
          <p:cNvSpPr/>
          <p:nvPr/>
        </p:nvSpPr>
        <p:spPr>
          <a:xfrm>
            <a:off x="502920" y="2020824"/>
            <a:ext cx="3108960" cy="384048"/>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Nhiễu giữa hai hạt giống</a:t>
            </a:r>
            <a:endParaRPr lang="en-US" sz="1300" dirty="0"/>
          </a:p>
        </p:txBody>
      </p:sp>
      <p:sp>
        <p:nvSpPr>
          <p:cNvPr id="20" name="Text 18"/>
          <p:cNvSpPr/>
          <p:nvPr/>
        </p:nvSpPr>
        <p:spPr>
          <a:xfrm>
            <a:off x="3611880" y="2020824"/>
            <a:ext cx="1371600"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+0,52</a:t>
            </a:r>
            <a:endParaRPr lang="en-US" sz="1300" dirty="0"/>
          </a:p>
        </p:txBody>
      </p:sp>
      <p:sp>
        <p:nvSpPr>
          <p:cNvPr id="21" name="Text 19"/>
          <p:cNvSpPr/>
          <p:nvPr/>
        </p:nvSpPr>
        <p:spPr>
          <a:xfrm>
            <a:off x="4983480" y="2020824"/>
            <a:ext cx="2011680"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[−0,22 ; +1,26]</a:t>
            </a:r>
            <a:endParaRPr lang="en-US" sz="1300" dirty="0"/>
          </a:p>
        </p:txBody>
      </p:sp>
      <p:sp>
        <p:nvSpPr>
          <p:cNvPr id="22" name="Text 20"/>
          <p:cNvSpPr/>
          <p:nvPr/>
        </p:nvSpPr>
        <p:spPr>
          <a:xfrm>
            <a:off x="6995160" y="2020824"/>
            <a:ext cx="1636776" cy="384048"/>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0,194</a:t>
            </a:r>
            <a:endParaRPr lang="en-US" sz="1300" dirty="0"/>
          </a:p>
        </p:txBody>
      </p:sp>
      <p:sp>
        <p:nvSpPr>
          <p:cNvPr id="23" name="Text 21"/>
          <p:cNvSpPr/>
          <p:nvPr/>
        </p:nvSpPr>
        <p:spPr>
          <a:xfrm>
            <a:off x="502920" y="2578608"/>
            <a:ext cx="8138160" cy="548640"/>
          </a:xfrm>
          <a:prstGeom prst="rect">
            <a:avLst/>
          </a:prstGeom>
          <a:noFill/>
          <a:ln/>
        </p:spPr>
        <p:txBody>
          <a:bodyPr wrap="square" lIns="0" tIns="0" rIns="0" bIns="0" rtlCol="0" anchor="t"/>
          <a:lstStyle/>
          <a:p>
            <a:pPr algn="l" indent="0" marL="0">
              <a:lnSpc>
                <a:spcPct val="130000"/>
              </a:lnSpc>
              <a:buNone/>
            </a:pPr>
            <a:r>
              <a:rPr lang="en-US" sz="1350" b="1" dirty="0">
                <a:solidFill>
                  <a:srgbClr val="322164"/>
                </a:solidFill>
                <a:latin typeface="Cambria" pitchFamily="34" charset="0"/>
                <a:ea typeface="Cambria" pitchFamily="34" charset="-122"/>
                <a:cs typeface="Cambria" pitchFamily="34" charset="-120"/>
              </a:rPr>
              <a:t>Tín hiệu gấp 22 lần nhiễu. Bỏ hết bước mô hình chép nguyên câu chuẩn thì khoảng cách vẫn còn 8,4 điểm.</a:t>
            </a:r>
            <a:endParaRPr lang="en-US" sz="1350" dirty="0"/>
          </a:p>
        </p:txBody>
      </p:sp>
      <p:sp>
        <p:nvSpPr>
          <p:cNvPr id="24" name="Text 22"/>
          <p:cNvSpPr/>
          <p:nvPr/>
        </p:nvSpPr>
        <p:spPr>
          <a:xfrm>
            <a:off x="502920" y="320040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Sáu cách giải thích thay thế đã kiểm</a:t>
            </a:r>
            <a:endParaRPr lang="en-US" sz="1350" dirty="0"/>
          </a:p>
        </p:txBody>
      </p:sp>
      <p:sp>
        <p:nvSpPr>
          <p:cNvPr id="25" name="Shape 23"/>
          <p:cNvSpPr/>
          <p:nvPr/>
        </p:nvSpPr>
        <p:spPr>
          <a:xfrm>
            <a:off x="502920" y="3611880"/>
            <a:ext cx="4023360" cy="493776"/>
          </a:xfrm>
          <a:prstGeom prst="roundRect">
            <a:avLst>
              <a:gd name="adj" fmla="val 7407"/>
            </a:avLst>
          </a:prstGeom>
          <a:solidFill>
            <a:srgbClr val="E9E8EC"/>
          </a:solidFill>
          <a:ln/>
        </p:spPr>
      </p:sp>
      <p:sp>
        <p:nvSpPr>
          <p:cNvPr id="26" name="Text 24"/>
          <p:cNvSpPr/>
          <p:nvPr/>
        </p:nvSpPr>
        <p:spPr>
          <a:xfrm>
            <a:off x="612648" y="3611880"/>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Chép lại câu chuẩn</a:t>
            </a:r>
            <a:endParaRPr lang="en-US" sz="1150" dirty="0"/>
          </a:p>
        </p:txBody>
      </p:sp>
      <p:sp>
        <p:nvSpPr>
          <p:cNvPr id="27" name="Text 25"/>
          <p:cNvSpPr/>
          <p:nvPr/>
        </p:nvSpPr>
        <p:spPr>
          <a:xfrm>
            <a:off x="2880360" y="3611880"/>
            <a:ext cx="1554480" cy="493776"/>
          </a:xfrm>
          <a:prstGeom prst="rect">
            <a:avLst/>
          </a:prstGeom>
          <a:noFill/>
          <a:ln/>
        </p:spPr>
        <p:txBody>
          <a:bodyPr wrap="square" lIns="0" tIns="0" rIns="0" bIns="0" rtlCol="0" anchor="ctr"/>
          <a:lstStyle/>
          <a:p>
            <a:pPr algn="r" indent="0" marL="0">
              <a:buNone/>
            </a:pPr>
            <a:r>
              <a:rPr lang="en-US" sz="1100" b="1" dirty="0">
                <a:solidFill>
                  <a:srgbClr val="006666"/>
                </a:solidFill>
                <a:latin typeface="Cambria" pitchFamily="34" charset="0"/>
                <a:ea typeface="Cambria" pitchFamily="34" charset="-122"/>
                <a:cs typeface="Cambria" pitchFamily="34" charset="-120"/>
              </a:rPr>
              <a:t>vẫn còn 8,4 điểm</a:t>
            </a:r>
            <a:endParaRPr lang="en-US" sz="1100" dirty="0"/>
          </a:p>
        </p:txBody>
      </p:sp>
      <p:sp>
        <p:nvSpPr>
          <p:cNvPr id="28" name="Shape 26"/>
          <p:cNvSpPr/>
          <p:nvPr/>
        </p:nvSpPr>
        <p:spPr>
          <a:xfrm>
            <a:off x="4572000" y="3611880"/>
            <a:ext cx="4023360" cy="493776"/>
          </a:xfrm>
          <a:prstGeom prst="roundRect">
            <a:avLst>
              <a:gd name="adj" fmla="val 7407"/>
            </a:avLst>
          </a:prstGeom>
          <a:solidFill>
            <a:srgbClr val="E9E8EC"/>
          </a:solidFill>
          <a:ln/>
        </p:spPr>
      </p:sp>
      <p:sp>
        <p:nvSpPr>
          <p:cNvPr id="29" name="Text 27"/>
          <p:cNvSpPr/>
          <p:nvPr/>
        </p:nvSpPr>
        <p:spPr>
          <a:xfrm>
            <a:off x="4681728" y="3611880"/>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Thiên vị độ dài câu</a:t>
            </a:r>
            <a:endParaRPr lang="en-US" sz="1150" dirty="0"/>
          </a:p>
        </p:txBody>
      </p:sp>
      <p:sp>
        <p:nvSpPr>
          <p:cNvPr id="30" name="Text 28"/>
          <p:cNvSpPr/>
          <p:nvPr/>
        </p:nvSpPr>
        <p:spPr>
          <a:xfrm>
            <a:off x="6949440" y="3611880"/>
            <a:ext cx="1554480" cy="493776"/>
          </a:xfrm>
          <a:prstGeom prst="rect">
            <a:avLst/>
          </a:prstGeom>
          <a:noFill/>
          <a:ln/>
        </p:spPr>
        <p:txBody>
          <a:bodyPr wrap="square" lIns="0" tIns="0" rIns="0" bIns="0" rtlCol="0" anchor="ctr"/>
          <a:lstStyle/>
          <a:p>
            <a:pPr algn="r" indent="0" marL="0">
              <a:buNone/>
            </a:pPr>
            <a:r>
              <a:rPr lang="en-US" sz="1100" b="1" dirty="0">
                <a:solidFill>
                  <a:srgbClr val="006666"/>
                </a:solidFill>
                <a:latin typeface="Cambria" pitchFamily="34" charset="0"/>
                <a:ea typeface="Cambria" pitchFamily="34" charset="-122"/>
                <a:cs typeface="Cambria" pitchFamily="34" charset="-120"/>
              </a:rPr>
              <a:t>nghiêng về phía Base</a:t>
            </a:r>
            <a:endParaRPr lang="en-US" sz="1100" dirty="0"/>
          </a:p>
        </p:txBody>
      </p:sp>
      <p:sp>
        <p:nvSpPr>
          <p:cNvPr id="31" name="Shape 29"/>
          <p:cNvSpPr/>
          <p:nvPr/>
        </p:nvSpPr>
        <p:spPr>
          <a:xfrm>
            <a:off x="502920" y="4178808"/>
            <a:ext cx="4023360" cy="493776"/>
          </a:xfrm>
          <a:prstGeom prst="roundRect">
            <a:avLst>
              <a:gd name="adj" fmla="val 7407"/>
            </a:avLst>
          </a:prstGeom>
          <a:solidFill>
            <a:srgbClr val="E9E8EC"/>
          </a:solidFill>
          <a:ln/>
        </p:spPr>
      </p:sp>
      <p:sp>
        <p:nvSpPr>
          <p:cNvPr id="32" name="Text 30"/>
          <p:cNvSpPr/>
          <p:nvPr/>
        </p:nvSpPr>
        <p:spPr>
          <a:xfrm>
            <a:off x="612648" y="4178808"/>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Trùng ứng dụng dạy và kiểm</a:t>
            </a:r>
            <a:endParaRPr lang="en-US" sz="1150" dirty="0"/>
          </a:p>
        </p:txBody>
      </p:sp>
      <p:sp>
        <p:nvSpPr>
          <p:cNvPr id="33" name="Text 31"/>
          <p:cNvSpPr/>
          <p:nvPr/>
        </p:nvSpPr>
        <p:spPr>
          <a:xfrm>
            <a:off x="2880360" y="4178808"/>
            <a:ext cx="1554480" cy="493776"/>
          </a:xfrm>
          <a:prstGeom prst="rect">
            <a:avLst/>
          </a:prstGeom>
          <a:noFill/>
          <a:ln/>
        </p:spPr>
        <p:txBody>
          <a:bodyPr wrap="square" lIns="0" tIns="0" rIns="0" bIns="0" rtlCol="0" anchor="ctr"/>
          <a:lstStyle/>
          <a:p>
            <a:pPr algn="r" indent="0" marL="0">
              <a:buNone/>
            </a:pPr>
            <a:r>
              <a:rPr lang="en-US" sz="1100" b="1" dirty="0">
                <a:solidFill>
                  <a:srgbClr val="006666"/>
                </a:solidFill>
                <a:latin typeface="Cambria" pitchFamily="34" charset="0"/>
                <a:ea typeface="Cambria" pitchFamily="34" charset="-122"/>
                <a:cs typeface="Cambria" pitchFamily="34" charset="-120"/>
              </a:rPr>
              <a:t>không ghi nhận ảnh hưởng</a:t>
            </a:r>
            <a:endParaRPr lang="en-US" sz="1100" dirty="0"/>
          </a:p>
        </p:txBody>
      </p:sp>
      <p:sp>
        <p:nvSpPr>
          <p:cNvPr id="34" name="Shape 32"/>
          <p:cNvSpPr/>
          <p:nvPr/>
        </p:nvSpPr>
        <p:spPr>
          <a:xfrm>
            <a:off x="4572000" y="4178808"/>
            <a:ext cx="4023360" cy="493776"/>
          </a:xfrm>
          <a:prstGeom prst="roundRect">
            <a:avLst>
              <a:gd name="adj" fmla="val 7407"/>
            </a:avLst>
          </a:prstGeom>
          <a:solidFill>
            <a:srgbClr val="E9E8EC"/>
          </a:solidFill>
          <a:ln/>
        </p:spPr>
      </p:sp>
      <p:sp>
        <p:nvSpPr>
          <p:cNvPr id="35" name="Text 33"/>
          <p:cNvSpPr/>
          <p:nvPr/>
        </p:nvSpPr>
        <p:spPr>
          <a:xfrm>
            <a:off x="4681728" y="4178808"/>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Luật chấm chọn có lợi</a:t>
            </a:r>
            <a:endParaRPr lang="en-US" sz="1150" dirty="0"/>
          </a:p>
        </p:txBody>
      </p:sp>
      <p:sp>
        <p:nvSpPr>
          <p:cNvPr id="36" name="Text 34"/>
          <p:cNvSpPr/>
          <p:nvPr/>
        </p:nvSpPr>
        <p:spPr>
          <a:xfrm>
            <a:off x="6949440" y="4178808"/>
            <a:ext cx="1554480" cy="493776"/>
          </a:xfrm>
          <a:prstGeom prst="rect">
            <a:avLst/>
          </a:prstGeom>
          <a:noFill/>
          <a:ln/>
        </p:spPr>
        <p:txBody>
          <a:bodyPr wrap="square" lIns="0" tIns="0" rIns="0" bIns="0" rtlCol="0" anchor="ctr"/>
          <a:lstStyle/>
          <a:p>
            <a:pPr algn="r" indent="0" marL="0">
              <a:buNone/>
            </a:pPr>
            <a:r>
              <a:rPr lang="en-US" sz="1100" b="1" dirty="0">
                <a:solidFill>
                  <a:srgbClr val="006666"/>
                </a:solidFill>
                <a:latin typeface="Cambria" pitchFamily="34" charset="0"/>
                <a:ea typeface="Cambria" pitchFamily="34" charset="-122"/>
                <a:cs typeface="Cambria" pitchFamily="34" charset="-120"/>
              </a:rPr>
              <a:t>năm luật không đổi thứ tự</a:t>
            </a:r>
            <a:endParaRPr lang="en-US" sz="1100" dirty="0"/>
          </a:p>
        </p:txBody>
      </p:sp>
      <p:sp>
        <p:nvSpPr>
          <p:cNvPr id="37" name="Shape 35"/>
          <p:cNvSpPr/>
          <p:nvPr/>
        </p:nvSpPr>
        <p:spPr>
          <a:xfrm>
            <a:off x="502920" y="4745736"/>
            <a:ext cx="4023360" cy="493776"/>
          </a:xfrm>
          <a:prstGeom prst="roundRect">
            <a:avLst>
              <a:gd name="adj" fmla="val 7407"/>
            </a:avLst>
          </a:prstGeom>
          <a:solidFill>
            <a:srgbClr val="E9E8EC"/>
          </a:solidFill>
          <a:ln/>
        </p:spPr>
      </p:sp>
      <p:sp>
        <p:nvSpPr>
          <p:cNvPr id="38" name="Text 36"/>
          <p:cNvSpPr/>
          <p:nvPr/>
        </p:nvSpPr>
        <p:spPr>
          <a:xfrm>
            <a:off x="612648" y="4745736"/>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Thước mong manh trước diễn đạt</a:t>
            </a:r>
            <a:endParaRPr lang="en-US" sz="1150" dirty="0"/>
          </a:p>
        </p:txBody>
      </p:sp>
      <p:sp>
        <p:nvSpPr>
          <p:cNvPr id="39" name="Text 37"/>
          <p:cNvSpPr/>
          <p:nvPr/>
        </p:nvSpPr>
        <p:spPr>
          <a:xfrm>
            <a:off x="2880360" y="4745736"/>
            <a:ext cx="1554480" cy="493776"/>
          </a:xfrm>
          <a:prstGeom prst="rect">
            <a:avLst/>
          </a:prstGeom>
          <a:noFill/>
          <a:ln/>
        </p:spPr>
        <p:txBody>
          <a:bodyPr wrap="square" lIns="0" tIns="0" rIns="0" bIns="0" rtlCol="0" anchor="ctr"/>
          <a:lstStyle/>
          <a:p>
            <a:pPr algn="r" indent="0" marL="0">
              <a:buNone/>
            </a:pPr>
            <a:r>
              <a:rPr lang="en-US" sz="1100" b="1" dirty="0">
                <a:solidFill>
                  <a:srgbClr val="006666"/>
                </a:solidFill>
                <a:latin typeface="Cambria" pitchFamily="34" charset="0"/>
                <a:ea typeface="Cambria" pitchFamily="34" charset="-122"/>
                <a:cs typeface="Cambria" pitchFamily="34" charset="-120"/>
              </a:rPr>
              <a:t>+0,35 trên 1.139 câu</a:t>
            </a:r>
            <a:endParaRPr lang="en-US" sz="1100" dirty="0"/>
          </a:p>
        </p:txBody>
      </p:sp>
      <p:sp>
        <p:nvSpPr>
          <p:cNvPr id="40" name="Shape 38"/>
          <p:cNvSpPr/>
          <p:nvPr/>
        </p:nvSpPr>
        <p:spPr>
          <a:xfrm>
            <a:off x="4572000" y="4745736"/>
            <a:ext cx="4023360" cy="493776"/>
          </a:xfrm>
          <a:prstGeom prst="roundRect">
            <a:avLst>
              <a:gd name="adj" fmla="val 7407"/>
            </a:avLst>
          </a:prstGeom>
          <a:solidFill>
            <a:srgbClr val="E9E8EC"/>
          </a:solidFill>
          <a:ln/>
        </p:spPr>
      </p:sp>
      <p:sp>
        <p:nvSpPr>
          <p:cNvPr id="41" name="Text 39"/>
          <p:cNvSpPr/>
          <p:nvPr/>
        </p:nvSpPr>
        <p:spPr>
          <a:xfrm>
            <a:off x="4681728" y="4745736"/>
            <a:ext cx="2286000" cy="493776"/>
          </a:xfrm>
          <a:prstGeom prst="rect">
            <a:avLst/>
          </a:prstGeom>
          <a:noFill/>
          <a:ln/>
        </p:spPr>
        <p:txBody>
          <a:bodyPr wrap="square" lIns="0" tIns="0" rIns="0" bIns="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Dụng cụ quen văn phong</a:t>
            </a:r>
            <a:endParaRPr lang="en-US" sz="1150" dirty="0"/>
          </a:p>
        </p:txBody>
      </p:sp>
      <p:sp>
        <p:nvSpPr>
          <p:cNvPr id="42" name="Text 40"/>
          <p:cNvSpPr/>
          <p:nvPr/>
        </p:nvSpPr>
        <p:spPr>
          <a:xfrm>
            <a:off x="6949440" y="4745736"/>
            <a:ext cx="1554480" cy="493776"/>
          </a:xfrm>
          <a:prstGeom prst="rect">
            <a:avLst/>
          </a:prstGeom>
          <a:noFill/>
          <a:ln/>
        </p:spPr>
        <p:txBody>
          <a:bodyPr wrap="square" lIns="0" tIns="0" rIns="0" bIns="0" rtlCol="0" anchor="ctr"/>
          <a:lstStyle/>
          <a:p>
            <a:pPr algn="r" indent="0" marL="0">
              <a:buNone/>
            </a:pPr>
            <a:r>
              <a:rPr lang="en-US" sz="1100" b="1" dirty="0">
                <a:solidFill>
                  <a:srgbClr val="990000"/>
                </a:solidFill>
                <a:latin typeface="Cambria" pitchFamily="34" charset="0"/>
                <a:ea typeface="Cambria" pitchFamily="34" charset="-122"/>
                <a:cs typeface="Cambria" pitchFamily="34" charset="-120"/>
              </a:rPr>
              <a:t>chỉ đóng sau khi đổi dụng cụ</a:t>
            </a:r>
            <a:endParaRPr lang="en-US" sz="1100" dirty="0"/>
          </a:p>
        </p:txBody>
      </p:sp>
      <p:sp>
        <p:nvSpPr>
          <p:cNvPr id="44" name="Shape 41"/>
          <p:cNvSpPr/>
          <p:nvPr/>
        </p:nvSpPr>
        <p:spPr>
          <a:xfrm>
            <a:off x="0" y="6620256"/>
            <a:ext cx="2743200" cy="237744"/>
          </a:xfrm>
          <a:prstGeom prst="rect">
            <a:avLst/>
          </a:prstGeom>
          <a:solidFill>
            <a:srgbClr val="191132"/>
          </a:solidFill>
          <a:ln/>
        </p:spPr>
      </p:sp>
      <p:sp>
        <p:nvSpPr>
          <p:cNvPr id="45" name="Shape 42"/>
          <p:cNvSpPr/>
          <p:nvPr/>
        </p:nvSpPr>
        <p:spPr>
          <a:xfrm>
            <a:off x="2743200" y="6620256"/>
            <a:ext cx="3383280" cy="237744"/>
          </a:xfrm>
          <a:prstGeom prst="rect">
            <a:avLst/>
          </a:prstGeom>
          <a:solidFill>
            <a:srgbClr val="25194B"/>
          </a:solidFill>
          <a:ln/>
        </p:spPr>
      </p:sp>
      <p:sp>
        <p:nvSpPr>
          <p:cNvPr id="46" name="Shape 43"/>
          <p:cNvSpPr/>
          <p:nvPr/>
        </p:nvSpPr>
        <p:spPr>
          <a:xfrm>
            <a:off x="6126480" y="6620256"/>
            <a:ext cx="1737360" cy="237744"/>
          </a:xfrm>
          <a:prstGeom prst="rect">
            <a:avLst/>
          </a:prstGeom>
          <a:solidFill>
            <a:srgbClr val="4F417A"/>
          </a:solidFill>
          <a:ln/>
        </p:spPr>
      </p:sp>
      <p:sp>
        <p:nvSpPr>
          <p:cNvPr id="47" name="Shape 44"/>
          <p:cNvSpPr/>
          <p:nvPr/>
        </p:nvSpPr>
        <p:spPr>
          <a:xfrm>
            <a:off x="7863840" y="6620256"/>
            <a:ext cx="1280160" cy="237744"/>
          </a:xfrm>
          <a:prstGeom prst="rect">
            <a:avLst/>
          </a:prstGeom>
          <a:solidFill>
            <a:srgbClr val="7A7099"/>
          </a:solidFill>
          <a:ln/>
        </p:spPr>
      </p:sp>
      <p:sp>
        <p:nvSpPr>
          <p:cNvPr id="48" name="Text 4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9" name="Text 4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0" name="Text 4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1" name="Text 4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17/29</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Nhánh khai báo: một hạt giống, không kết luận được</a:t>
            </a:r>
            <a:endParaRPr lang="en-US" sz="1900" dirty="0"/>
          </a:p>
        </p:txBody>
      </p:sp>
      <p:sp>
        <p:nvSpPr>
          <p:cNvPr id="4" name="Shape 2"/>
          <p:cNvSpPr/>
          <p:nvPr/>
        </p:nvSpPr>
        <p:spPr>
          <a:xfrm>
            <a:off x="502920" y="86868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868680"/>
            <a:ext cx="7680960" cy="914400"/>
          </a:xfrm>
          <a:prstGeom prst="rect">
            <a:avLst/>
          </a:prstGeom>
          <a:noFill/>
          <a:ln/>
        </p:spPr>
        <p:txBody>
          <a:bodyPr wrap="square" lIns="0" tIns="0" rIns="0" bIns="0" rtlCol="0" anchor="ctr"/>
          <a:lstStyle/>
          <a:p>
            <a:pPr algn="l" indent="0" marL="0">
              <a:lnSpc>
                <a:spcPct val="135000"/>
              </a:lnSpc>
              <a:buNone/>
            </a:pPr>
            <a:r>
              <a:rPr lang="en-US" sz="1400" b="1" dirty="0">
                <a:solidFill>
                  <a:srgbClr val="B22222"/>
                </a:solidFill>
                <a:latin typeface="Cambria" pitchFamily="34" charset="0"/>
                <a:ea typeface="Cambria" pitchFamily="34" charset="-122"/>
                <a:cs typeface="Cambria" pitchFamily="34" charset="-120"/>
              </a:rPr>
              <a:t>S2 đạt 57,2%, thấp hơn nhánh nền 1,93 điểm.</a:t>
            </a:r>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  Độ lớn đó dưới mức phát hiện 2,2 nên không kết luận được.</a:t>
            </a:r>
            <a:endParaRPr lang="en-US" sz="1400" dirty="0"/>
          </a:p>
        </p:txBody>
      </p:sp>
      <p:sp>
        <p:nvSpPr>
          <p:cNvPr id="6" name="Text 4"/>
          <p:cNvSpPr/>
          <p:nvPr/>
        </p:nvSpPr>
        <p:spPr>
          <a:xfrm>
            <a:off x="502920" y="1965960"/>
            <a:ext cx="40233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Vì sao không kết luận được</a:t>
            </a:r>
            <a:endParaRPr lang="en-US" sz="1350" dirty="0"/>
          </a:p>
        </p:txBody>
      </p:sp>
      <p:sp>
        <p:nvSpPr>
          <p:cNvPr id="7" name="Text 5"/>
          <p:cNvSpPr/>
          <p:nvPr/>
        </p:nvSpPr>
        <p:spPr>
          <a:xfrm>
            <a:off x="502920" y="2377440"/>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8" name="Text 6"/>
          <p:cNvSpPr/>
          <p:nvPr/>
        </p:nvSpPr>
        <p:spPr>
          <a:xfrm>
            <a:off x="731520" y="2377440"/>
            <a:ext cx="37947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Đại lượng chính đòi hai hạt giống; hạt thứ hai bị huỷ vì ngân sách</a:t>
            </a:r>
            <a:endParaRPr lang="en-US" sz="1250" dirty="0"/>
          </a:p>
        </p:txBody>
      </p:sp>
      <p:sp>
        <p:nvSpPr>
          <p:cNvPr id="9" name="Text 7"/>
          <p:cNvSpPr/>
          <p:nvPr/>
        </p:nvSpPr>
        <p:spPr>
          <a:xfrm>
            <a:off x="502920" y="3090672"/>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731520" y="3090672"/>
            <a:ext cx="37947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Luận văn không kết luận thành phần có tác dụng hay gây hại</a:t>
            </a:r>
            <a:endParaRPr lang="en-US" sz="1250" dirty="0"/>
          </a:p>
        </p:txBody>
      </p:sp>
      <p:sp>
        <p:nvSpPr>
          <p:cNvPr id="11" name="Text 9"/>
          <p:cNvSpPr/>
          <p:nvPr/>
        </p:nvSpPr>
        <p:spPr>
          <a:xfrm>
            <a:off x="502920" y="3803904"/>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731520" y="3803904"/>
            <a:ext cx="37947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Cũng không lấy phép so khác để thế chỗ</a:t>
            </a:r>
            <a:endParaRPr lang="en-US" sz="1250" dirty="0"/>
          </a:p>
        </p:txBody>
      </p:sp>
      <p:sp>
        <p:nvSpPr>
          <p:cNvPr id="13" name="Text 11"/>
          <p:cNvSpPr/>
          <p:nvPr/>
        </p:nvSpPr>
        <p:spPr>
          <a:xfrm>
            <a:off x="4663440" y="1965960"/>
            <a:ext cx="397764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Chỗ thiệt hại nằm ở đâu</a:t>
            </a:r>
            <a:endParaRPr lang="en-US" sz="1350" dirty="0"/>
          </a:p>
        </p:txBody>
      </p:sp>
      <p:sp>
        <p:nvSpPr>
          <p:cNvPr id="14" name="Shape 12"/>
          <p:cNvSpPr/>
          <p:nvPr/>
        </p:nvSpPr>
        <p:spPr>
          <a:xfrm>
            <a:off x="4663440" y="2377440"/>
            <a:ext cx="3977640" cy="347472"/>
          </a:xfrm>
          <a:prstGeom prst="rect">
            <a:avLst/>
          </a:prstGeom>
          <a:solidFill>
            <a:srgbClr val="322164"/>
          </a:solidFill>
          <a:ln/>
        </p:spPr>
      </p:sp>
      <p:sp>
        <p:nvSpPr>
          <p:cNvPr id="15" name="Text 13"/>
          <p:cNvSpPr/>
          <p:nvPr/>
        </p:nvSpPr>
        <p:spPr>
          <a:xfrm>
            <a:off x="4663440" y="2377440"/>
            <a:ext cx="2011680" cy="347472"/>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Nhóm bước</a:t>
            </a:r>
            <a:endParaRPr lang="en-US" sz="1100" dirty="0"/>
          </a:p>
        </p:txBody>
      </p:sp>
      <p:sp>
        <p:nvSpPr>
          <p:cNvPr id="16" name="Text 14"/>
          <p:cNvSpPr/>
          <p:nvPr/>
        </p:nvSpPr>
        <p:spPr>
          <a:xfrm>
            <a:off x="6675120" y="2377440"/>
            <a:ext cx="640080" cy="347472"/>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S1</a:t>
            </a:r>
            <a:endParaRPr lang="en-US" sz="1100" dirty="0"/>
          </a:p>
        </p:txBody>
      </p:sp>
      <p:sp>
        <p:nvSpPr>
          <p:cNvPr id="17" name="Text 15"/>
          <p:cNvSpPr/>
          <p:nvPr/>
        </p:nvSpPr>
        <p:spPr>
          <a:xfrm>
            <a:off x="7315200" y="2377440"/>
            <a:ext cx="640080" cy="347472"/>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S2</a:t>
            </a:r>
            <a:endParaRPr lang="en-US" sz="1100" dirty="0"/>
          </a:p>
        </p:txBody>
      </p:sp>
      <p:sp>
        <p:nvSpPr>
          <p:cNvPr id="18" name="Text 16"/>
          <p:cNvSpPr/>
          <p:nvPr/>
        </p:nvSpPr>
        <p:spPr>
          <a:xfrm>
            <a:off x="7955280" y="2377440"/>
            <a:ext cx="685800" cy="347472"/>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Δ</a:t>
            </a:r>
            <a:endParaRPr lang="en-US" sz="1100" dirty="0"/>
          </a:p>
        </p:txBody>
      </p:sp>
      <p:sp>
        <p:nvSpPr>
          <p:cNvPr id="19" name="Text 17"/>
          <p:cNvSpPr/>
          <p:nvPr/>
        </p:nvSpPr>
        <p:spPr>
          <a:xfrm>
            <a:off x="4663440" y="2724912"/>
            <a:ext cx="20116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Có sinh khai báo (4.138)</a:t>
            </a:r>
            <a:endParaRPr lang="en-US" sz="1150" dirty="0"/>
          </a:p>
        </p:txBody>
      </p:sp>
      <p:sp>
        <p:nvSpPr>
          <p:cNvPr id="20" name="Text 18"/>
          <p:cNvSpPr/>
          <p:nvPr/>
        </p:nvSpPr>
        <p:spPr>
          <a:xfrm>
            <a:off x="6675120" y="2724912"/>
            <a:ext cx="64008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62,2</a:t>
            </a:r>
            <a:endParaRPr lang="en-US" sz="1150" dirty="0"/>
          </a:p>
        </p:txBody>
      </p:sp>
      <p:sp>
        <p:nvSpPr>
          <p:cNvPr id="21" name="Text 19"/>
          <p:cNvSpPr/>
          <p:nvPr/>
        </p:nvSpPr>
        <p:spPr>
          <a:xfrm>
            <a:off x="7315200" y="2724912"/>
            <a:ext cx="64008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60,8</a:t>
            </a:r>
            <a:endParaRPr lang="en-US" sz="1150" dirty="0"/>
          </a:p>
        </p:txBody>
      </p:sp>
      <p:sp>
        <p:nvSpPr>
          <p:cNvPr id="22" name="Text 20"/>
          <p:cNvSpPr/>
          <p:nvPr/>
        </p:nvSpPr>
        <p:spPr>
          <a:xfrm>
            <a:off x="7955280" y="2724912"/>
            <a:ext cx="685800" cy="420624"/>
          </a:xfrm>
          <a:prstGeom prst="rect">
            <a:avLst/>
          </a:prstGeom>
          <a:noFill/>
          <a:ln/>
        </p:spPr>
        <p:txBody>
          <a:bodyPr wrap="square" lIns="38100" tIns="38100" rIns="38100" bIns="38100" rtlCol="0" anchor="ctr"/>
          <a:lstStyle/>
          <a:p>
            <a:pPr algn="ctr" indent="0" marL="0">
              <a:buNone/>
            </a:pPr>
            <a:r>
              <a:rPr lang="en-US" sz="1150" dirty="0">
                <a:solidFill>
                  <a:srgbClr val="990000"/>
                </a:solidFill>
                <a:latin typeface="Cambria" pitchFamily="34" charset="0"/>
                <a:ea typeface="Cambria" pitchFamily="34" charset="-122"/>
                <a:cs typeface="Cambria" pitchFamily="34" charset="-120"/>
              </a:rPr>
              <a:t>−1,38</a:t>
            </a:r>
            <a:endParaRPr lang="en-US" sz="1150" dirty="0"/>
          </a:p>
        </p:txBody>
      </p:sp>
      <p:sp>
        <p:nvSpPr>
          <p:cNvPr id="23" name="Shape 21"/>
          <p:cNvSpPr/>
          <p:nvPr/>
        </p:nvSpPr>
        <p:spPr>
          <a:xfrm>
            <a:off x="4663440" y="3145536"/>
            <a:ext cx="3977640" cy="0"/>
          </a:xfrm>
          <a:prstGeom prst="line">
            <a:avLst/>
          </a:prstGeom>
          <a:noFill/>
          <a:ln w="12700">
            <a:solidFill>
              <a:srgbClr val="9A94AE"/>
            </a:solidFill>
            <a:prstDash val="solid"/>
          </a:ln>
        </p:spPr>
      </p:sp>
      <p:sp>
        <p:nvSpPr>
          <p:cNvPr id="24" name="Text 22"/>
          <p:cNvSpPr/>
          <p:nvPr/>
        </p:nvSpPr>
        <p:spPr>
          <a:xfrm>
            <a:off x="4663440" y="3145536"/>
            <a:ext cx="2011680" cy="420624"/>
          </a:xfrm>
          <a:prstGeom prst="rect">
            <a:avLst/>
          </a:prstGeom>
          <a:noFill/>
          <a:ln/>
        </p:spPr>
        <p:txBody>
          <a:bodyPr wrap="square" lIns="38100" tIns="38100" rIns="38100" bIns="38100" rtlCol="0" anchor="ctr"/>
          <a:lstStyle/>
          <a:p>
            <a:pPr algn="l" indent="0" marL="0">
              <a:buNone/>
            </a:pPr>
            <a:r>
              <a:rPr lang="en-US" sz="1150" b="1" dirty="0">
                <a:solidFill>
                  <a:srgbClr val="1A1A1A"/>
                </a:solidFill>
                <a:latin typeface="Cambria" pitchFamily="34" charset="0"/>
                <a:ea typeface="Cambria" pitchFamily="34" charset="-122"/>
                <a:cs typeface="Cambria" pitchFamily="34" charset="-120"/>
              </a:rPr>
              <a:t>Không sinh (325)</a:t>
            </a:r>
            <a:endParaRPr lang="en-US" sz="1150" dirty="0"/>
          </a:p>
        </p:txBody>
      </p:sp>
      <p:sp>
        <p:nvSpPr>
          <p:cNvPr id="25" name="Text 23"/>
          <p:cNvSpPr/>
          <p:nvPr/>
        </p:nvSpPr>
        <p:spPr>
          <a:xfrm>
            <a:off x="6675120" y="3145536"/>
            <a:ext cx="64008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19,7</a:t>
            </a:r>
            <a:endParaRPr lang="en-US" sz="1150" dirty="0"/>
          </a:p>
        </p:txBody>
      </p:sp>
      <p:sp>
        <p:nvSpPr>
          <p:cNvPr id="26" name="Text 24"/>
          <p:cNvSpPr/>
          <p:nvPr/>
        </p:nvSpPr>
        <p:spPr>
          <a:xfrm>
            <a:off x="7315200" y="3145536"/>
            <a:ext cx="64008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10,8</a:t>
            </a:r>
            <a:endParaRPr lang="en-US" sz="1150" dirty="0"/>
          </a:p>
        </p:txBody>
      </p:sp>
      <p:sp>
        <p:nvSpPr>
          <p:cNvPr id="27" name="Text 25"/>
          <p:cNvSpPr/>
          <p:nvPr/>
        </p:nvSpPr>
        <p:spPr>
          <a:xfrm>
            <a:off x="7955280" y="3145536"/>
            <a:ext cx="685800" cy="420624"/>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−8,92</a:t>
            </a:r>
            <a:endParaRPr lang="en-US" sz="1150" dirty="0"/>
          </a:p>
        </p:txBody>
      </p:sp>
      <p:sp>
        <p:nvSpPr>
          <p:cNvPr id="28" name="Text 26"/>
          <p:cNvSpPr/>
          <p:nvPr/>
        </p:nvSpPr>
        <p:spPr>
          <a:xfrm>
            <a:off x="4663440" y="3703320"/>
            <a:ext cx="3977640" cy="292608"/>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7,3% số bước chiếm 34% chênh lệch.</a:t>
            </a:r>
            <a:endParaRPr lang="en-US" sz="1250" dirty="0"/>
          </a:p>
        </p:txBody>
      </p:sp>
      <p:sp>
        <p:nvSpPr>
          <p:cNvPr id="29" name="Shape 27"/>
          <p:cNvSpPr/>
          <p:nvPr/>
        </p:nvSpPr>
        <p:spPr>
          <a:xfrm>
            <a:off x="502920" y="4480560"/>
            <a:ext cx="813816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30" name="Text 28"/>
          <p:cNvSpPr/>
          <p:nvPr/>
        </p:nvSpPr>
        <p:spPr>
          <a:xfrm>
            <a:off x="731520" y="4480560"/>
            <a:ext cx="7680960" cy="1188720"/>
          </a:xfrm>
          <a:prstGeom prst="rect">
            <a:avLst/>
          </a:prstGeom>
          <a:noFill/>
          <a:ln/>
        </p:spPr>
        <p:txBody>
          <a:bodyPr wrap="square" lIns="0" tIns="0" rIns="0" bIns="0" rtlCol="0" anchor="ctr"/>
          <a:lstStyle/>
          <a:p>
            <a:pPr algn="l" indent="0" marL="0">
              <a:lnSpc>
                <a:spcPct val="135000"/>
              </a:lnSpc>
              <a:buNone/>
            </a:pPr>
            <a:r>
              <a:rPr lang="en-US" sz="1300" b="1" dirty="0">
                <a:solidFill>
                  <a:srgbClr val="B22222"/>
                </a:solidFill>
                <a:latin typeface="Cambria" pitchFamily="34" charset="0"/>
                <a:ea typeface="Cambria" pitchFamily="34" charset="-122"/>
                <a:cs typeface="Cambria" pitchFamily="34" charset="-120"/>
              </a:rPr>
              <a:t>Tinh chỉnh phải trả một giá.</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  Mô hình gốc gọi đúng loại thao tác nhiều hơn cả hai bản đã huấn luyện: 83,4% so với 55,1% và 38,8%.</a:t>
            </a:r>
            <a:endParaRPr lang="en-US" sz="1300" dirty="0"/>
          </a:p>
        </p:txBody>
      </p:sp>
      <p:sp>
        <p:nvSpPr>
          <p:cNvPr id="32" name="Shape 29"/>
          <p:cNvSpPr/>
          <p:nvPr/>
        </p:nvSpPr>
        <p:spPr>
          <a:xfrm>
            <a:off x="0" y="6620256"/>
            <a:ext cx="2743200" cy="237744"/>
          </a:xfrm>
          <a:prstGeom prst="rect">
            <a:avLst/>
          </a:prstGeom>
          <a:solidFill>
            <a:srgbClr val="191132"/>
          </a:solidFill>
          <a:ln/>
        </p:spPr>
      </p:sp>
      <p:sp>
        <p:nvSpPr>
          <p:cNvPr id="33" name="Shape 30"/>
          <p:cNvSpPr/>
          <p:nvPr/>
        </p:nvSpPr>
        <p:spPr>
          <a:xfrm>
            <a:off x="2743200" y="6620256"/>
            <a:ext cx="3383280" cy="237744"/>
          </a:xfrm>
          <a:prstGeom prst="rect">
            <a:avLst/>
          </a:prstGeom>
          <a:solidFill>
            <a:srgbClr val="25194B"/>
          </a:solidFill>
          <a:ln/>
        </p:spPr>
      </p:sp>
      <p:sp>
        <p:nvSpPr>
          <p:cNvPr id="34" name="Shape 31"/>
          <p:cNvSpPr/>
          <p:nvPr/>
        </p:nvSpPr>
        <p:spPr>
          <a:xfrm>
            <a:off x="6126480" y="6620256"/>
            <a:ext cx="1737360" cy="237744"/>
          </a:xfrm>
          <a:prstGeom prst="rect">
            <a:avLst/>
          </a:prstGeom>
          <a:solidFill>
            <a:srgbClr val="4F417A"/>
          </a:solidFill>
          <a:ln/>
        </p:spPr>
      </p:sp>
      <p:sp>
        <p:nvSpPr>
          <p:cNvPr id="35" name="Shape 32"/>
          <p:cNvSpPr/>
          <p:nvPr/>
        </p:nvSpPr>
        <p:spPr>
          <a:xfrm>
            <a:off x="7863840" y="6620256"/>
            <a:ext cx="1280160" cy="237744"/>
          </a:xfrm>
          <a:prstGeom prst="rect">
            <a:avLst/>
          </a:prstGeom>
          <a:solidFill>
            <a:srgbClr val="7A7099"/>
          </a:solidFill>
          <a:ln/>
        </p:spPr>
      </p:sp>
      <p:sp>
        <p:nvSpPr>
          <p:cNvPr id="36" name="Text 3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18/29</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Chặng hai: phần lớn mức tăng không thuộc mục tiêu ưu tiên</a:t>
            </a:r>
            <a:endParaRPr lang="en-US" sz="1900" dirty="0"/>
          </a:p>
        </p:txBody>
      </p:sp>
      <p:sp>
        <p:nvSpPr>
          <p:cNvPr id="4" name="Shape 2"/>
          <p:cNvSpPr/>
          <p:nvPr/>
        </p:nvSpPr>
        <p:spPr>
          <a:xfrm>
            <a:off x="1051560" y="960120"/>
            <a:ext cx="182880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1051560" y="1024128"/>
            <a:ext cx="1828800" cy="29260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S2</a:t>
            </a:r>
            <a:endParaRPr lang="en-US" sz="1300" dirty="0"/>
          </a:p>
        </p:txBody>
      </p:sp>
      <p:sp>
        <p:nvSpPr>
          <p:cNvPr id="6" name="Text 4"/>
          <p:cNvSpPr/>
          <p:nvPr/>
        </p:nvSpPr>
        <p:spPr>
          <a:xfrm>
            <a:off x="1051560" y="1353312"/>
            <a:ext cx="1828800" cy="411480"/>
          </a:xfrm>
          <a:prstGeom prst="rect">
            <a:avLst/>
          </a:prstGeom>
          <a:noFill/>
          <a:ln/>
        </p:spPr>
        <p:txBody>
          <a:bodyPr wrap="square" lIns="0" tIns="0" rIns="0" bIns="0" rtlCol="0" anchor="t"/>
          <a:lstStyle/>
          <a:p>
            <a:pPr algn="ctr" indent="0" marL="0">
              <a:buNone/>
            </a:pPr>
            <a:r>
              <a:rPr lang="en-US" sz="1900" b="1" dirty="0">
                <a:solidFill>
                  <a:srgbClr val="1A1A1A"/>
                </a:solidFill>
                <a:latin typeface="Cambria" pitchFamily="34" charset="0"/>
                <a:ea typeface="Cambria" pitchFamily="34" charset="-122"/>
                <a:cs typeface="Cambria" pitchFamily="34" charset="-120"/>
              </a:rPr>
              <a:t>57,2%</a:t>
            </a:r>
            <a:endParaRPr lang="en-US" sz="1900" dirty="0"/>
          </a:p>
        </p:txBody>
      </p:sp>
      <p:sp>
        <p:nvSpPr>
          <p:cNvPr id="7" name="Shape 5"/>
          <p:cNvSpPr/>
          <p:nvPr/>
        </p:nvSpPr>
        <p:spPr>
          <a:xfrm>
            <a:off x="2971800" y="1389888"/>
            <a:ext cx="640080" cy="0"/>
          </a:xfrm>
          <a:prstGeom prst="line">
            <a:avLst/>
          </a:prstGeom>
          <a:noFill/>
          <a:ln w="25400">
            <a:solidFill>
              <a:srgbClr val="4F417A"/>
            </a:solidFill>
            <a:prstDash val="solid"/>
            <a:tailEnd type="triangle"/>
          </a:ln>
        </p:spPr>
      </p:sp>
      <p:sp>
        <p:nvSpPr>
          <p:cNvPr id="8" name="Shape 6"/>
          <p:cNvSpPr/>
          <p:nvPr/>
        </p:nvSpPr>
        <p:spPr>
          <a:xfrm>
            <a:off x="3703320" y="960120"/>
            <a:ext cx="182880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3703320" y="1024128"/>
            <a:ext cx="1828800" cy="29260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CE2-S2</a:t>
            </a:r>
            <a:endParaRPr lang="en-US" sz="1300" dirty="0"/>
          </a:p>
        </p:txBody>
      </p:sp>
      <p:sp>
        <p:nvSpPr>
          <p:cNvPr id="10" name="Text 8"/>
          <p:cNvSpPr/>
          <p:nvPr/>
        </p:nvSpPr>
        <p:spPr>
          <a:xfrm>
            <a:off x="3703320" y="1353312"/>
            <a:ext cx="1828800" cy="411480"/>
          </a:xfrm>
          <a:prstGeom prst="rect">
            <a:avLst/>
          </a:prstGeom>
          <a:noFill/>
          <a:ln/>
        </p:spPr>
        <p:txBody>
          <a:bodyPr wrap="square" lIns="0" tIns="0" rIns="0" bIns="0" rtlCol="0" anchor="t"/>
          <a:lstStyle/>
          <a:p>
            <a:pPr algn="ctr" indent="0" marL="0">
              <a:buNone/>
            </a:pPr>
            <a:r>
              <a:rPr lang="en-US" sz="1900" b="1" dirty="0">
                <a:solidFill>
                  <a:srgbClr val="1A1A1A"/>
                </a:solidFill>
                <a:latin typeface="Cambria" pitchFamily="34" charset="0"/>
                <a:ea typeface="Cambria" pitchFamily="34" charset="-122"/>
                <a:cs typeface="Cambria" pitchFamily="34" charset="-120"/>
              </a:rPr>
              <a:t>59,4%</a:t>
            </a:r>
            <a:endParaRPr lang="en-US" sz="1900" dirty="0"/>
          </a:p>
        </p:txBody>
      </p:sp>
      <p:sp>
        <p:nvSpPr>
          <p:cNvPr id="11" name="Shape 9"/>
          <p:cNvSpPr/>
          <p:nvPr/>
        </p:nvSpPr>
        <p:spPr>
          <a:xfrm>
            <a:off x="5623560" y="1389888"/>
            <a:ext cx="640080" cy="0"/>
          </a:xfrm>
          <a:prstGeom prst="line">
            <a:avLst/>
          </a:prstGeom>
          <a:noFill/>
          <a:ln w="25400">
            <a:solidFill>
              <a:srgbClr val="4F417A"/>
            </a:solidFill>
            <a:prstDash val="solid"/>
            <a:tailEnd type="triangle"/>
          </a:ln>
        </p:spPr>
      </p:sp>
      <p:sp>
        <p:nvSpPr>
          <p:cNvPr id="12" name="Shape 10"/>
          <p:cNvSpPr/>
          <p:nvPr/>
        </p:nvSpPr>
        <p:spPr>
          <a:xfrm>
            <a:off x="6355080" y="960120"/>
            <a:ext cx="1828800" cy="868680"/>
          </a:xfrm>
          <a:prstGeom prst="roundRect">
            <a:avLst>
              <a:gd name="adj" fmla="val 6316"/>
            </a:avLst>
          </a:prstGeom>
          <a:solidFill>
            <a:srgbClr val="322164"/>
          </a:solidFill>
          <a:ln/>
          <a:effectLst>
            <a:outerShdw sx="100000" sy="100000" kx="0" ky="0" algn="bl" rotWithShape="0" blurRad="63500" dist="31750" dir="2700000">
              <a:srgbClr val="8C8C99">
                <a:alpha val="45000"/>
              </a:srgbClr>
            </a:outerShdw>
          </a:effectLst>
        </p:spPr>
      </p:sp>
      <p:sp>
        <p:nvSpPr>
          <p:cNvPr id="13" name="Text 11"/>
          <p:cNvSpPr/>
          <p:nvPr/>
        </p:nvSpPr>
        <p:spPr>
          <a:xfrm>
            <a:off x="6355080" y="1024128"/>
            <a:ext cx="1828800" cy="292608"/>
          </a:xfrm>
          <a:prstGeom prst="rect">
            <a:avLst/>
          </a:prstGeom>
          <a:noFill/>
          <a:ln/>
        </p:spPr>
        <p:txBody>
          <a:bodyPr wrap="square" lIns="0" tIns="0" rIns="0" bIns="0" rtlCol="0" anchor="t"/>
          <a:lstStyle/>
          <a:p>
            <a:pPr algn="ctr" indent="0" marL="0">
              <a:buNone/>
            </a:pPr>
            <a:r>
              <a:rPr lang="en-US" sz="1300" b="1" dirty="0">
                <a:solidFill>
                  <a:srgbClr val="FFFFFF"/>
                </a:solidFill>
                <a:latin typeface="Cambria" pitchFamily="34" charset="0"/>
                <a:ea typeface="Cambria" pitchFamily="34" charset="-122"/>
                <a:cs typeface="Cambria" pitchFamily="34" charset="-120"/>
              </a:rPr>
              <a:t>MIN-DESC</a:t>
            </a:r>
            <a:endParaRPr lang="en-US" sz="1300" dirty="0"/>
          </a:p>
        </p:txBody>
      </p:sp>
      <p:sp>
        <p:nvSpPr>
          <p:cNvPr id="14" name="Text 12"/>
          <p:cNvSpPr/>
          <p:nvPr/>
        </p:nvSpPr>
        <p:spPr>
          <a:xfrm>
            <a:off x="6355080" y="1353312"/>
            <a:ext cx="182880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Cambria" pitchFamily="34" charset="0"/>
                <a:ea typeface="Cambria" pitchFamily="34" charset="-122"/>
                <a:cs typeface="Cambria" pitchFamily="34" charset="-120"/>
              </a:rPr>
              <a:t>60,0%</a:t>
            </a:r>
            <a:endParaRPr lang="en-US" sz="1900" dirty="0"/>
          </a:p>
        </p:txBody>
      </p:sp>
      <p:sp>
        <p:nvSpPr>
          <p:cNvPr id="15" name="Text 13"/>
          <p:cNvSpPr/>
          <p:nvPr/>
        </p:nvSpPr>
        <p:spPr>
          <a:xfrm>
            <a:off x="2880360" y="1901952"/>
            <a:ext cx="1828800" cy="566928"/>
          </a:xfrm>
          <a:prstGeom prst="rect">
            <a:avLst/>
          </a:prstGeom>
          <a:noFill/>
          <a:ln/>
        </p:spPr>
        <p:txBody>
          <a:bodyPr wrap="square" lIns="0" tIns="0" rIns="0" bIns="0" rtlCol="0" anchor="t"/>
          <a:lstStyle/>
          <a:p>
            <a:pPr algn="ctr" indent="0" marL="0">
              <a:lnSpc>
                <a:spcPct val="120000"/>
              </a:lnSpc>
              <a:buNone/>
            </a:pPr>
            <a:r>
              <a:rPr lang="en-US" sz="1150" dirty="0">
                <a:solidFill>
                  <a:srgbClr val="990000"/>
                </a:solidFill>
                <a:latin typeface="Cambria" pitchFamily="34" charset="0"/>
                <a:ea typeface="Cambria" pitchFamily="34" charset="-122"/>
                <a:cs typeface="Cambria" pitchFamily="34" charset="-120"/>
              </a:rPr>
              <a:t>+2,24</a:t>
            </a:r>
            <a:endParaRPr lang="en-US" sz="1150" dirty="0"/>
          </a:p>
          <a:p>
            <a:pPr algn="ctr" indent="0" marL="0">
              <a:lnSpc>
                <a:spcPct val="120000"/>
              </a:lnSpc>
              <a:buNone/>
            </a:pPr>
            <a:r>
              <a:rPr lang="en-US" sz="1150" dirty="0">
                <a:solidFill>
                  <a:srgbClr val="990000"/>
                </a:solidFill>
                <a:latin typeface="Cambria" pitchFamily="34" charset="0"/>
                <a:ea typeface="Cambria" pitchFamily="34" charset="-122"/>
                <a:cs typeface="Cambria" pitchFamily="34" charset="-120"/>
              </a:rPr>
              <a:t>học có giám sát thuần</a:t>
            </a:r>
            <a:endParaRPr lang="en-US" sz="1150" dirty="0"/>
          </a:p>
        </p:txBody>
      </p:sp>
      <p:sp>
        <p:nvSpPr>
          <p:cNvPr id="16" name="Text 14"/>
          <p:cNvSpPr/>
          <p:nvPr/>
        </p:nvSpPr>
        <p:spPr>
          <a:xfrm>
            <a:off x="5532120" y="1901952"/>
            <a:ext cx="1828800" cy="566928"/>
          </a:xfrm>
          <a:prstGeom prst="rect">
            <a:avLst/>
          </a:prstGeom>
          <a:noFill/>
          <a:ln/>
        </p:spPr>
        <p:txBody>
          <a:bodyPr wrap="square" lIns="0" tIns="0" rIns="0" bIns="0" rtlCol="0" anchor="t"/>
          <a:lstStyle/>
          <a:p>
            <a:pPr algn="ctr" indent="0" marL="0">
              <a:lnSpc>
                <a:spcPct val="120000"/>
              </a:lnSpc>
              <a:buNone/>
            </a:pPr>
            <a:r>
              <a:rPr lang="en-US" sz="1150" dirty="0">
                <a:solidFill>
                  <a:srgbClr val="990000"/>
                </a:solidFill>
                <a:latin typeface="Cambria" pitchFamily="34" charset="0"/>
                <a:ea typeface="Cambria" pitchFamily="34" charset="-122"/>
                <a:cs typeface="Cambria" pitchFamily="34" charset="-120"/>
              </a:rPr>
              <a:t>+0,63</a:t>
            </a:r>
            <a:endParaRPr lang="en-US" sz="1150" dirty="0"/>
          </a:p>
          <a:p>
            <a:pPr algn="ctr" indent="0" marL="0">
              <a:lnSpc>
                <a:spcPct val="120000"/>
              </a:lnSpc>
              <a:buNone/>
            </a:pPr>
            <a:r>
              <a:rPr lang="en-US" sz="1150" dirty="0">
                <a:solidFill>
                  <a:srgbClr val="990000"/>
                </a:solidFill>
                <a:latin typeface="Cambria" pitchFamily="34" charset="0"/>
                <a:ea typeface="Cambria" pitchFamily="34" charset="-122"/>
                <a:cs typeface="Cambria" pitchFamily="34" charset="-120"/>
              </a:rPr>
              <a:t>riêng mục tiêu ưu tiên</a:t>
            </a:r>
            <a:endParaRPr lang="en-US" sz="1150" dirty="0"/>
          </a:p>
        </p:txBody>
      </p:sp>
      <p:sp>
        <p:nvSpPr>
          <p:cNvPr id="17" name="Shape 15"/>
          <p:cNvSpPr/>
          <p:nvPr/>
        </p:nvSpPr>
        <p:spPr>
          <a:xfrm>
            <a:off x="502920" y="2651760"/>
            <a:ext cx="8138160" cy="685800"/>
          </a:xfrm>
          <a:prstGeom prst="roundRect">
            <a:avLst>
              <a:gd name="adj" fmla="val 8000"/>
            </a:avLst>
          </a:prstGeom>
          <a:solidFill>
            <a:srgbClr val="E9E8EC"/>
          </a:solidFill>
          <a:ln/>
          <a:effectLst>
            <a:outerShdw sx="100000" sy="100000" kx="0" ky="0" algn="bl" rotWithShape="0" blurRad="63500" dist="31750" dir="2700000">
              <a:srgbClr val="8C8C99">
                <a:alpha val="45000"/>
              </a:srgbClr>
            </a:outerShdw>
          </a:effectLst>
        </p:spPr>
      </p:sp>
      <p:sp>
        <p:nvSpPr>
          <p:cNvPr id="18" name="Text 16"/>
          <p:cNvSpPr/>
          <p:nvPr/>
        </p:nvSpPr>
        <p:spPr>
          <a:xfrm>
            <a:off x="731520" y="2651760"/>
            <a:ext cx="7680960" cy="685800"/>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78% mức tăng thuộc về nhánh so sánh. Đo ở tầng khai báo, tỉ lệ ấy là 87,7%.</a:t>
            </a:r>
            <a:endParaRPr lang="en-US" sz="1400" dirty="0"/>
          </a:p>
        </p:txBody>
      </p:sp>
      <p:sp>
        <p:nvSpPr>
          <p:cNvPr id="19" name="Shape 17"/>
          <p:cNvSpPr/>
          <p:nvPr/>
        </p:nvSpPr>
        <p:spPr>
          <a:xfrm>
            <a:off x="502920" y="3520440"/>
            <a:ext cx="8220456" cy="365760"/>
          </a:xfrm>
          <a:prstGeom prst="rect">
            <a:avLst/>
          </a:prstGeom>
          <a:solidFill>
            <a:srgbClr val="322164"/>
          </a:solidFill>
          <a:ln/>
        </p:spPr>
      </p:sp>
      <p:sp>
        <p:nvSpPr>
          <p:cNvPr id="20" name="Text 18"/>
          <p:cNvSpPr/>
          <p:nvPr/>
        </p:nvSpPr>
        <p:spPr>
          <a:xfrm>
            <a:off x="502920" y="3520440"/>
            <a:ext cx="384048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Đại lượng</a:t>
            </a:r>
            <a:endParaRPr lang="en-US" sz="1200" dirty="0"/>
          </a:p>
        </p:txBody>
      </p:sp>
      <p:sp>
        <p:nvSpPr>
          <p:cNvPr id="21" name="Text 19"/>
          <p:cNvSpPr/>
          <p:nvPr/>
        </p:nvSpPr>
        <p:spPr>
          <a:xfrm>
            <a:off x="4343400" y="3520440"/>
            <a:ext cx="137160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22" name="Text 20"/>
          <p:cNvSpPr/>
          <p:nvPr/>
        </p:nvSpPr>
        <p:spPr>
          <a:xfrm>
            <a:off x="5715000" y="3520440"/>
            <a:ext cx="201168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KTC 95%</a:t>
            </a:r>
            <a:endParaRPr lang="en-US" sz="1200" dirty="0"/>
          </a:p>
        </p:txBody>
      </p:sp>
      <p:sp>
        <p:nvSpPr>
          <p:cNvPr id="23" name="Text 21"/>
          <p:cNvSpPr/>
          <p:nvPr/>
        </p:nvSpPr>
        <p:spPr>
          <a:xfrm>
            <a:off x="7726680" y="3520440"/>
            <a:ext cx="996696"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t>
            </a:r>
            <a:endParaRPr lang="en-US" sz="1200" dirty="0"/>
          </a:p>
        </p:txBody>
      </p:sp>
      <p:sp>
        <p:nvSpPr>
          <p:cNvPr id="24" name="Text 22"/>
          <p:cNvSpPr/>
          <p:nvPr/>
        </p:nvSpPr>
        <p:spPr>
          <a:xfrm>
            <a:off x="502920" y="3886200"/>
            <a:ext cx="3840480" cy="420624"/>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MIN-DESC − CE2-S2</a:t>
            </a:r>
            <a:endParaRPr lang="en-US" sz="1250" dirty="0"/>
          </a:p>
        </p:txBody>
      </p:sp>
      <p:sp>
        <p:nvSpPr>
          <p:cNvPr id="25" name="Text 23"/>
          <p:cNvSpPr/>
          <p:nvPr/>
        </p:nvSpPr>
        <p:spPr>
          <a:xfrm>
            <a:off x="4343400" y="3886200"/>
            <a:ext cx="1371600" cy="420624"/>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+0,63</a:t>
            </a:r>
            <a:endParaRPr lang="en-US" sz="1250" dirty="0"/>
          </a:p>
        </p:txBody>
      </p:sp>
      <p:sp>
        <p:nvSpPr>
          <p:cNvPr id="26" name="Text 24"/>
          <p:cNvSpPr/>
          <p:nvPr/>
        </p:nvSpPr>
        <p:spPr>
          <a:xfrm>
            <a:off x="5715000" y="3886200"/>
            <a:ext cx="2011680"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[+0,16 ; +1,10]</a:t>
            </a:r>
            <a:endParaRPr lang="en-US" sz="1250" dirty="0"/>
          </a:p>
        </p:txBody>
      </p:sp>
      <p:sp>
        <p:nvSpPr>
          <p:cNvPr id="27" name="Text 25"/>
          <p:cNvSpPr/>
          <p:nvPr/>
        </p:nvSpPr>
        <p:spPr>
          <a:xfrm>
            <a:off x="7726680" y="3886200"/>
            <a:ext cx="9966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0,011</a:t>
            </a:r>
            <a:endParaRPr lang="en-US" sz="1250" dirty="0"/>
          </a:p>
        </p:txBody>
      </p:sp>
      <p:sp>
        <p:nvSpPr>
          <p:cNvPr id="28" name="Shape 26"/>
          <p:cNvSpPr/>
          <p:nvPr/>
        </p:nvSpPr>
        <p:spPr>
          <a:xfrm>
            <a:off x="502920" y="4306824"/>
            <a:ext cx="8220456" cy="0"/>
          </a:xfrm>
          <a:prstGeom prst="line">
            <a:avLst/>
          </a:prstGeom>
          <a:noFill/>
          <a:ln w="12700">
            <a:solidFill>
              <a:srgbClr val="9A94AE"/>
            </a:solidFill>
            <a:prstDash val="solid"/>
          </a:ln>
        </p:spPr>
      </p:sp>
      <p:sp>
        <p:nvSpPr>
          <p:cNvPr id="29" name="Text 27"/>
          <p:cNvSpPr/>
          <p:nvPr/>
        </p:nvSpPr>
        <p:spPr>
          <a:xfrm>
            <a:off x="502920" y="4306824"/>
            <a:ext cx="384048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MIN-DESC − S1</a:t>
            </a:r>
            <a:endParaRPr lang="en-US" sz="1250" dirty="0"/>
          </a:p>
        </p:txBody>
      </p:sp>
      <p:sp>
        <p:nvSpPr>
          <p:cNvPr id="30" name="Text 28"/>
          <p:cNvSpPr/>
          <p:nvPr/>
        </p:nvSpPr>
        <p:spPr>
          <a:xfrm>
            <a:off x="4343400" y="4306824"/>
            <a:ext cx="1371600"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+0,94</a:t>
            </a:r>
            <a:endParaRPr lang="en-US" sz="1250" dirty="0"/>
          </a:p>
        </p:txBody>
      </p:sp>
      <p:sp>
        <p:nvSpPr>
          <p:cNvPr id="31" name="Text 29"/>
          <p:cNvSpPr/>
          <p:nvPr/>
        </p:nvSpPr>
        <p:spPr>
          <a:xfrm>
            <a:off x="5715000" y="4306824"/>
            <a:ext cx="2011680"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[−0,09 ; +2,05]</a:t>
            </a:r>
            <a:endParaRPr lang="en-US" sz="1250" dirty="0"/>
          </a:p>
        </p:txBody>
      </p:sp>
      <p:sp>
        <p:nvSpPr>
          <p:cNvPr id="32" name="Text 30"/>
          <p:cNvSpPr/>
          <p:nvPr/>
        </p:nvSpPr>
        <p:spPr>
          <a:xfrm>
            <a:off x="7726680" y="4306824"/>
            <a:ext cx="9966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0,11</a:t>
            </a:r>
            <a:endParaRPr lang="en-US" sz="1250" dirty="0"/>
          </a:p>
        </p:txBody>
      </p:sp>
      <p:sp>
        <p:nvSpPr>
          <p:cNvPr id="33" name="Shape 31"/>
          <p:cNvSpPr/>
          <p:nvPr/>
        </p:nvSpPr>
        <p:spPr>
          <a:xfrm>
            <a:off x="502920" y="4846320"/>
            <a:ext cx="813816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34" name="Text 32"/>
          <p:cNvSpPr/>
          <p:nvPr/>
        </p:nvSpPr>
        <p:spPr>
          <a:xfrm>
            <a:off x="731520" y="4846320"/>
            <a:ext cx="7680960" cy="822960"/>
          </a:xfrm>
          <a:prstGeom prst="rect">
            <a:avLst/>
          </a:prstGeom>
          <a:noFill/>
          <a:ln/>
        </p:spPr>
        <p:txBody>
          <a:bodyPr wrap="square" lIns="0" tIns="0" rIns="0" bIns="0" rtlCol="0" anchor="ctr"/>
          <a:lstStyle/>
          <a:p>
            <a:pPr algn="l" indent="0" marL="0">
              <a:lnSpc>
                <a:spcPct val="135000"/>
              </a:lnSpc>
              <a:buNone/>
            </a:pPr>
            <a:r>
              <a:rPr lang="en-US" sz="1350" b="1" dirty="0">
                <a:solidFill>
                  <a:srgbClr val="990000"/>
                </a:solidFill>
                <a:latin typeface="Cambria" pitchFamily="34" charset="0"/>
                <a:ea typeface="Cambria" pitchFamily="34" charset="-122"/>
                <a:cs typeface="Cambria" pitchFamily="34" charset="-120"/>
              </a:rPr>
              <a:t>Không kết luận được:</a:t>
            </a:r>
            <a:pPr algn="l" indent="0" marL="0">
              <a:lnSpc>
                <a:spcPct val="135000"/>
              </a:lnSpc>
              <a:buNone/>
            </a:pPr>
            <a:r>
              <a:rPr lang="en-US" sz="1350" dirty="0">
                <a:solidFill>
                  <a:srgbClr val="1A1A1A"/>
                </a:solidFill>
                <a:latin typeface="Cambria" pitchFamily="34" charset="0"/>
                <a:ea typeface="Cambria" pitchFamily="34" charset="-122"/>
                <a:cs typeface="Cambria" pitchFamily="34" charset="-120"/>
              </a:rPr>
              <a:t> +0,63 vẫn dưới mức phát hiện 2,11 và chỉ bằng 1,4 lần nhiễu giữa hạt giống.</a:t>
            </a:r>
            <a:endParaRPr lang="en-US" sz="1350" dirty="0"/>
          </a:p>
        </p:txBody>
      </p:sp>
      <p:sp>
        <p:nvSpPr>
          <p:cNvPr id="36" name="Shape 33"/>
          <p:cNvSpPr/>
          <p:nvPr/>
        </p:nvSpPr>
        <p:spPr>
          <a:xfrm>
            <a:off x="0" y="6620256"/>
            <a:ext cx="2743200" cy="237744"/>
          </a:xfrm>
          <a:prstGeom prst="rect">
            <a:avLst/>
          </a:prstGeom>
          <a:solidFill>
            <a:srgbClr val="191132"/>
          </a:solidFill>
          <a:ln/>
        </p:spPr>
      </p:sp>
      <p:sp>
        <p:nvSpPr>
          <p:cNvPr id="37" name="Shape 34"/>
          <p:cNvSpPr/>
          <p:nvPr/>
        </p:nvSpPr>
        <p:spPr>
          <a:xfrm>
            <a:off x="2743200" y="6620256"/>
            <a:ext cx="3383280" cy="237744"/>
          </a:xfrm>
          <a:prstGeom prst="rect">
            <a:avLst/>
          </a:prstGeom>
          <a:solidFill>
            <a:srgbClr val="25194B"/>
          </a:solidFill>
          <a:ln/>
        </p:spPr>
      </p:sp>
      <p:sp>
        <p:nvSpPr>
          <p:cNvPr id="38" name="Shape 35"/>
          <p:cNvSpPr/>
          <p:nvPr/>
        </p:nvSpPr>
        <p:spPr>
          <a:xfrm>
            <a:off x="6126480" y="6620256"/>
            <a:ext cx="1737360" cy="237744"/>
          </a:xfrm>
          <a:prstGeom prst="rect">
            <a:avLst/>
          </a:prstGeom>
          <a:solidFill>
            <a:srgbClr val="4F417A"/>
          </a:solidFill>
          <a:ln/>
        </p:spPr>
      </p:sp>
      <p:sp>
        <p:nvSpPr>
          <p:cNvPr id="39" name="Shape 36"/>
          <p:cNvSpPr/>
          <p:nvPr/>
        </p:nvSpPr>
        <p:spPr>
          <a:xfrm>
            <a:off x="7863840" y="6620256"/>
            <a:ext cx="1280160" cy="237744"/>
          </a:xfrm>
          <a:prstGeom prst="rect">
            <a:avLst/>
          </a:prstGeom>
          <a:solidFill>
            <a:srgbClr val="7A7099"/>
          </a:solidFill>
          <a:ln/>
        </p:spPr>
      </p:sp>
      <p:sp>
        <p:nvSpPr>
          <p:cNvPr id="40" name="Text 3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1" name="Text 3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2" name="Text 3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3" name="Text 4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Chặng ba: khai báo tăng rõ, thực thi đứng yên</a:t>
            </a:r>
            <a:endParaRPr lang="en-US" sz="1900" dirty="0"/>
          </a:p>
        </p:txBody>
      </p:sp>
      <p:sp>
        <p:nvSpPr>
          <p:cNvPr id="4" name="Text 2"/>
          <p:cNvSpPr/>
          <p:nvPr/>
        </p:nvSpPr>
        <p:spPr>
          <a:xfrm>
            <a:off x="502920" y="658368"/>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Học tăng cường thưởng thẳng cho ô toạ độ, học tiếp từ điểm lưu của chặng hai, chấm trên cùng 4.463 bước chạm</a:t>
            </a:r>
            <a:endParaRPr lang="en-US" sz="1200" dirty="0"/>
          </a:p>
        </p:txBody>
      </p:sp>
      <p:sp>
        <p:nvSpPr>
          <p:cNvPr id="5" name="Shape 3"/>
          <p:cNvSpPr/>
          <p:nvPr/>
        </p:nvSpPr>
        <p:spPr>
          <a:xfrm>
            <a:off x="502920" y="1078992"/>
            <a:ext cx="8129016" cy="384048"/>
          </a:xfrm>
          <a:prstGeom prst="rect">
            <a:avLst/>
          </a:prstGeom>
          <a:solidFill>
            <a:srgbClr val="322164"/>
          </a:solidFill>
          <a:ln/>
        </p:spPr>
      </p:sp>
      <p:sp>
        <p:nvSpPr>
          <p:cNvPr id="6" name="Text 4"/>
          <p:cNvSpPr/>
          <p:nvPr/>
        </p:nvSpPr>
        <p:spPr>
          <a:xfrm>
            <a:off x="502920" y="1078992"/>
            <a:ext cx="342900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Đại lượng</a:t>
            </a:r>
            <a:endParaRPr lang="en-US" sz="1200" dirty="0"/>
          </a:p>
        </p:txBody>
      </p:sp>
      <p:sp>
        <p:nvSpPr>
          <p:cNvPr id="7" name="Text 5"/>
          <p:cNvSpPr/>
          <p:nvPr/>
        </p:nvSpPr>
        <p:spPr>
          <a:xfrm>
            <a:off x="3931920" y="1078992"/>
            <a:ext cx="15087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Chặng hai</a:t>
            </a:r>
            <a:endParaRPr lang="en-US" sz="1200" dirty="0"/>
          </a:p>
        </p:txBody>
      </p:sp>
      <p:sp>
        <p:nvSpPr>
          <p:cNvPr id="8" name="Text 6"/>
          <p:cNvSpPr/>
          <p:nvPr/>
        </p:nvSpPr>
        <p:spPr>
          <a:xfrm>
            <a:off x="5440680" y="1078992"/>
            <a:ext cx="15087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Chặng ba</a:t>
            </a:r>
            <a:endParaRPr lang="en-US" sz="1200" dirty="0"/>
          </a:p>
        </p:txBody>
      </p:sp>
      <p:sp>
        <p:nvSpPr>
          <p:cNvPr id="9" name="Text 7"/>
          <p:cNvSpPr/>
          <p:nvPr/>
        </p:nvSpPr>
        <p:spPr>
          <a:xfrm>
            <a:off x="6949440" y="1078992"/>
            <a:ext cx="168249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Chênh</a:t>
            </a:r>
            <a:endParaRPr lang="en-US" sz="1200" dirty="0"/>
          </a:p>
        </p:txBody>
      </p:sp>
      <p:sp>
        <p:nvSpPr>
          <p:cNvPr id="10" name="Text 8"/>
          <p:cNvSpPr/>
          <p:nvPr/>
        </p:nvSpPr>
        <p:spPr>
          <a:xfrm>
            <a:off x="502920" y="1463040"/>
            <a:ext cx="3429000" cy="420624"/>
          </a:xfrm>
          <a:prstGeom prst="rect">
            <a:avLst/>
          </a:prstGeom>
          <a:noFill/>
          <a:ln/>
        </p:spPr>
        <p:txBody>
          <a:bodyPr wrap="square" lIns="38100" tIns="38100" rIns="38100" bIns="38100" rtlCol="0" anchor="ctr"/>
          <a:lstStyle/>
          <a:p>
            <a:pPr algn="l" indent="0" marL="0">
              <a:buNone/>
            </a:pPr>
            <a:r>
              <a:rPr lang="en-US" sz="1250" dirty="0">
                <a:solidFill>
                  <a:srgbClr val="006666"/>
                </a:solidFill>
                <a:latin typeface="Cambria" pitchFamily="34" charset="0"/>
                <a:ea typeface="Cambria" pitchFamily="34" charset="-122"/>
                <a:cs typeface="Cambria" pitchFamily="34" charset="-120"/>
              </a:rPr>
              <a:t>Ô khai báo đúng cả tên lẫn toạ độ</a:t>
            </a:r>
            <a:endParaRPr lang="en-US" sz="1250" dirty="0"/>
          </a:p>
        </p:txBody>
      </p:sp>
      <p:sp>
        <p:nvSpPr>
          <p:cNvPr id="11" name="Text 9"/>
          <p:cNvSpPr/>
          <p:nvPr/>
        </p:nvSpPr>
        <p:spPr>
          <a:xfrm>
            <a:off x="3931920" y="1463040"/>
            <a:ext cx="1508760"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60,6</a:t>
            </a:r>
            <a:endParaRPr lang="en-US" sz="1250" dirty="0"/>
          </a:p>
        </p:txBody>
      </p:sp>
      <p:sp>
        <p:nvSpPr>
          <p:cNvPr id="12" name="Text 10"/>
          <p:cNvSpPr/>
          <p:nvPr/>
        </p:nvSpPr>
        <p:spPr>
          <a:xfrm>
            <a:off x="5440680" y="1463040"/>
            <a:ext cx="1508760" cy="420624"/>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63,2</a:t>
            </a:r>
            <a:endParaRPr lang="en-US" sz="1250" dirty="0"/>
          </a:p>
        </p:txBody>
      </p:sp>
      <p:sp>
        <p:nvSpPr>
          <p:cNvPr id="13" name="Text 11"/>
          <p:cNvSpPr/>
          <p:nvPr/>
        </p:nvSpPr>
        <p:spPr>
          <a:xfrm>
            <a:off x="6949440" y="1463040"/>
            <a:ext cx="1682496" cy="420624"/>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+2,56</a:t>
            </a:r>
            <a:endParaRPr lang="en-US" sz="1250" dirty="0"/>
          </a:p>
        </p:txBody>
      </p:sp>
      <p:sp>
        <p:nvSpPr>
          <p:cNvPr id="14" name="Shape 12"/>
          <p:cNvSpPr/>
          <p:nvPr/>
        </p:nvSpPr>
        <p:spPr>
          <a:xfrm>
            <a:off x="502920" y="1883664"/>
            <a:ext cx="8129016" cy="0"/>
          </a:xfrm>
          <a:prstGeom prst="line">
            <a:avLst/>
          </a:prstGeom>
          <a:noFill/>
          <a:ln w="12700">
            <a:solidFill>
              <a:srgbClr val="9A94AE"/>
            </a:solidFill>
            <a:prstDash val="solid"/>
          </a:ln>
        </p:spPr>
      </p:sp>
      <p:sp>
        <p:nvSpPr>
          <p:cNvPr id="15" name="Text 13"/>
          <p:cNvSpPr/>
          <p:nvPr/>
        </p:nvSpPr>
        <p:spPr>
          <a:xfrm>
            <a:off x="502920" y="1883664"/>
            <a:ext cx="3429000" cy="420624"/>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Điểm thực thi  (thước tiêu đề)</a:t>
            </a:r>
            <a:endParaRPr lang="en-US" sz="1250" dirty="0"/>
          </a:p>
        </p:txBody>
      </p:sp>
      <p:sp>
        <p:nvSpPr>
          <p:cNvPr id="16" name="Text 14"/>
          <p:cNvSpPr/>
          <p:nvPr/>
        </p:nvSpPr>
        <p:spPr>
          <a:xfrm>
            <a:off x="3931920" y="1883664"/>
            <a:ext cx="1508760"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60,05</a:t>
            </a:r>
            <a:endParaRPr lang="en-US" sz="1250" dirty="0"/>
          </a:p>
        </p:txBody>
      </p:sp>
      <p:sp>
        <p:nvSpPr>
          <p:cNvPr id="17" name="Text 15"/>
          <p:cNvSpPr/>
          <p:nvPr/>
        </p:nvSpPr>
        <p:spPr>
          <a:xfrm>
            <a:off x="5440680" y="1883664"/>
            <a:ext cx="1508760" cy="420624"/>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60,07</a:t>
            </a:r>
            <a:endParaRPr lang="en-US" sz="1250" dirty="0"/>
          </a:p>
        </p:txBody>
      </p:sp>
      <p:sp>
        <p:nvSpPr>
          <p:cNvPr id="18" name="Text 16"/>
          <p:cNvSpPr/>
          <p:nvPr/>
        </p:nvSpPr>
        <p:spPr>
          <a:xfrm>
            <a:off x="6949440" y="1883664"/>
            <a:ext cx="1682496" cy="420624"/>
          </a:xfrm>
          <a:prstGeom prst="rect">
            <a:avLst/>
          </a:prstGeom>
          <a:noFill/>
          <a:ln/>
        </p:spPr>
        <p:txBody>
          <a:bodyPr wrap="square" lIns="38100" tIns="38100" rIns="38100" bIns="38100" rtlCol="0" anchor="ctr"/>
          <a:lstStyle/>
          <a:p>
            <a:pPr algn="ctr" indent="0" marL="0">
              <a:buNone/>
            </a:pPr>
            <a:r>
              <a:rPr lang="en-US" sz="1250" b="1" dirty="0">
                <a:solidFill>
                  <a:srgbClr val="990000"/>
                </a:solidFill>
                <a:latin typeface="Cambria" pitchFamily="34" charset="0"/>
                <a:ea typeface="Cambria" pitchFamily="34" charset="-122"/>
                <a:cs typeface="Cambria" pitchFamily="34" charset="-120"/>
              </a:rPr>
              <a:t>+0,02</a:t>
            </a:r>
            <a:endParaRPr lang="en-US" sz="1250" dirty="0"/>
          </a:p>
        </p:txBody>
      </p:sp>
      <p:sp>
        <p:nvSpPr>
          <p:cNvPr id="19" name="Shape 17"/>
          <p:cNvSpPr/>
          <p:nvPr/>
        </p:nvSpPr>
        <p:spPr>
          <a:xfrm>
            <a:off x="502920" y="2304288"/>
            <a:ext cx="8129016" cy="0"/>
          </a:xfrm>
          <a:prstGeom prst="line">
            <a:avLst/>
          </a:prstGeom>
          <a:noFill/>
          <a:ln w="12700">
            <a:solidFill>
              <a:srgbClr val="9A94AE"/>
            </a:solidFill>
            <a:prstDash val="solid"/>
          </a:ln>
        </p:spPr>
      </p:sp>
      <p:sp>
        <p:nvSpPr>
          <p:cNvPr id="20" name="Text 18"/>
          <p:cNvSpPr/>
          <p:nvPr/>
        </p:nvSpPr>
        <p:spPr>
          <a:xfrm>
            <a:off x="502920" y="2304288"/>
            <a:ext cx="34290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Luật hộp phần tử, thước báo kèm</a:t>
            </a:r>
            <a:endParaRPr lang="en-US" sz="1250" dirty="0"/>
          </a:p>
        </p:txBody>
      </p:sp>
      <p:sp>
        <p:nvSpPr>
          <p:cNvPr id="21" name="Text 19"/>
          <p:cNvSpPr/>
          <p:nvPr/>
        </p:nvSpPr>
        <p:spPr>
          <a:xfrm>
            <a:off x="3931920" y="2304288"/>
            <a:ext cx="15087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66,55</a:t>
            </a:r>
            <a:endParaRPr lang="en-US" sz="1250" dirty="0"/>
          </a:p>
        </p:txBody>
      </p:sp>
      <p:sp>
        <p:nvSpPr>
          <p:cNvPr id="22" name="Text 20"/>
          <p:cNvSpPr/>
          <p:nvPr/>
        </p:nvSpPr>
        <p:spPr>
          <a:xfrm>
            <a:off x="5440680" y="2304288"/>
            <a:ext cx="15087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67,04</a:t>
            </a:r>
            <a:endParaRPr lang="en-US" sz="1250" dirty="0"/>
          </a:p>
        </p:txBody>
      </p:sp>
      <p:sp>
        <p:nvSpPr>
          <p:cNvPr id="23" name="Text 21"/>
          <p:cNvSpPr/>
          <p:nvPr/>
        </p:nvSpPr>
        <p:spPr>
          <a:xfrm>
            <a:off x="6949440" y="2304288"/>
            <a:ext cx="168249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+0,49</a:t>
            </a:r>
            <a:endParaRPr lang="en-US" sz="1250" dirty="0"/>
          </a:p>
        </p:txBody>
      </p:sp>
      <p:sp>
        <p:nvSpPr>
          <p:cNvPr id="24" name="Shape 22"/>
          <p:cNvSpPr/>
          <p:nvPr/>
        </p:nvSpPr>
        <p:spPr>
          <a:xfrm>
            <a:off x="502920" y="2706624"/>
            <a:ext cx="8129016" cy="0"/>
          </a:xfrm>
          <a:prstGeom prst="line">
            <a:avLst/>
          </a:prstGeom>
          <a:noFill/>
          <a:ln w="12700">
            <a:solidFill>
              <a:srgbClr val="9A94AE"/>
            </a:solidFill>
            <a:prstDash val="solid"/>
          </a:ln>
        </p:spPr>
      </p:sp>
      <p:sp>
        <p:nvSpPr>
          <p:cNvPr id="25" name="Text 23"/>
          <p:cNvSpPr/>
          <p:nvPr/>
        </p:nvSpPr>
        <p:spPr>
          <a:xfrm>
            <a:off x="502920" y="2706624"/>
            <a:ext cx="34290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BLEU-4</a:t>
            </a:r>
            <a:endParaRPr lang="en-US" sz="1250" dirty="0"/>
          </a:p>
        </p:txBody>
      </p:sp>
      <p:sp>
        <p:nvSpPr>
          <p:cNvPr id="26" name="Text 24"/>
          <p:cNvSpPr/>
          <p:nvPr/>
        </p:nvSpPr>
        <p:spPr>
          <a:xfrm>
            <a:off x="3931920" y="2706624"/>
            <a:ext cx="15087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37,9</a:t>
            </a:r>
            <a:endParaRPr lang="en-US" sz="1250" dirty="0"/>
          </a:p>
        </p:txBody>
      </p:sp>
      <p:sp>
        <p:nvSpPr>
          <p:cNvPr id="27" name="Text 25"/>
          <p:cNvSpPr/>
          <p:nvPr/>
        </p:nvSpPr>
        <p:spPr>
          <a:xfrm>
            <a:off x="5440680" y="2706624"/>
            <a:ext cx="15087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37,8</a:t>
            </a:r>
            <a:endParaRPr lang="en-US" sz="1250" dirty="0"/>
          </a:p>
        </p:txBody>
      </p:sp>
      <p:sp>
        <p:nvSpPr>
          <p:cNvPr id="28" name="Text 26"/>
          <p:cNvSpPr/>
          <p:nvPr/>
        </p:nvSpPr>
        <p:spPr>
          <a:xfrm>
            <a:off x="6949440" y="2706624"/>
            <a:ext cx="168249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−0,08</a:t>
            </a:r>
            <a:endParaRPr lang="en-US" sz="1250" dirty="0"/>
          </a:p>
        </p:txBody>
      </p:sp>
      <p:sp>
        <p:nvSpPr>
          <p:cNvPr id="29" name="Text 27"/>
          <p:cNvSpPr/>
          <p:nvPr/>
        </p:nvSpPr>
        <p:spPr>
          <a:xfrm>
            <a:off x="640080" y="320040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0" name="Text 28"/>
          <p:cNvSpPr/>
          <p:nvPr/>
        </p:nvSpPr>
        <p:spPr>
          <a:xfrm>
            <a:off x="868680" y="3200400"/>
            <a:ext cx="7635240" cy="51206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Mức tăng ở tầng khai báo có ý nghĩa thống kê: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p = 1,3·10⁻⁸</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khoảng [+1,69 ; +3,44]</a:t>
            </a:r>
            <a:endParaRPr lang="en-US" sz="1250" dirty="0"/>
          </a:p>
        </p:txBody>
      </p:sp>
      <p:sp>
        <p:nvSpPr>
          <p:cNvPr id="31" name="Text 29"/>
          <p:cNvSpPr/>
          <p:nvPr/>
        </p:nvSpPr>
        <p:spPr>
          <a:xfrm>
            <a:off x="640080" y="374904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2" name="Text 30"/>
          <p:cNvSpPr/>
          <p:nvPr/>
        </p:nvSpPr>
        <p:spPr>
          <a:xfrm>
            <a:off x="868680" y="3749040"/>
            <a:ext cx="7635240" cy="51206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Mức chênh ở đầu ra: khoảng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[−0,59 ; +0,64]</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hẹp tới mức loại được mọi mức tăng từ 0,64 điểm trở lên</a:t>
            </a:r>
            <a:endParaRPr lang="en-US" sz="1250" dirty="0"/>
          </a:p>
        </p:txBody>
      </p:sp>
      <p:sp>
        <p:nvSpPr>
          <p:cNvPr id="33" name="Text 31"/>
          <p:cNvSpPr/>
          <p:nvPr/>
        </p:nvSpPr>
        <p:spPr>
          <a:xfrm>
            <a:off x="640080" y="429768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4" name="Text 32"/>
          <p:cNvSpPr/>
          <p:nvPr/>
        </p:nvSpPr>
        <p:spPr>
          <a:xfrm>
            <a:off x="868680" y="4297680"/>
            <a:ext cx="7635240" cy="51206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Dự báo ghi trước </a:t>
            </a:r>
            <a:pPr algn="l" indent="0" marL="0">
              <a:lnSpc>
                <a:spcPct val="125000"/>
              </a:lnSpc>
              <a:buNone/>
            </a:pPr>
            <a:r>
              <a:rPr lang="en-US" sz="1250" b="1" dirty="0">
                <a:solidFill>
                  <a:srgbClr val="B22222"/>
                </a:solidFill>
                <a:latin typeface="Cambria" pitchFamily="34" charset="0"/>
                <a:ea typeface="Cambria" pitchFamily="34" charset="-122"/>
                <a:cs typeface="Cambria" pitchFamily="34" charset="-120"/>
              </a:rPr>
              <a:t>+1,10 điểm bị bác</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hệ số chuyển đổi thật xấp xỉ 0,01, nên nó phụ thuộc dạng can thiệp chứ không phải hằng số của bài toán</a:t>
            </a:r>
            <a:endParaRPr lang="en-US" sz="1250" dirty="0"/>
          </a:p>
        </p:txBody>
      </p:sp>
      <p:sp>
        <p:nvSpPr>
          <p:cNvPr id="35" name="Text 33"/>
          <p:cNvSpPr/>
          <p:nvPr/>
        </p:nvSpPr>
        <p:spPr>
          <a:xfrm>
            <a:off x="640080" y="4846320"/>
            <a:ext cx="201168" cy="5486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6" name="Text 34"/>
          <p:cNvSpPr/>
          <p:nvPr/>
        </p:nvSpPr>
        <p:spPr>
          <a:xfrm>
            <a:off x="868680" y="4846320"/>
            <a:ext cx="7635240" cy="51206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Câu ở đầu ra không bị bẻ thành chuỗi khó đọc: BLEU-4 và tỉ lệ khớp loại thao tác đều giữ nguyên</a:t>
            </a:r>
            <a:endParaRPr lang="en-US" sz="1250" dirty="0"/>
          </a:p>
        </p:txBody>
      </p:sp>
      <p:sp>
        <p:nvSpPr>
          <p:cNvPr id="37" name="Shape 35"/>
          <p:cNvSpPr/>
          <p:nvPr/>
        </p:nvSpPr>
        <p:spPr>
          <a:xfrm>
            <a:off x="502920" y="544068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38" name="Text 36"/>
          <p:cNvSpPr/>
          <p:nvPr/>
        </p:nvSpPr>
        <p:spPr>
          <a:xfrm>
            <a:off x="731520" y="5440680"/>
            <a:ext cx="7680960" cy="777240"/>
          </a:xfrm>
          <a:prstGeom prst="rect">
            <a:avLst/>
          </a:prstGeom>
          <a:noFill/>
          <a:ln/>
        </p:spPr>
        <p:txBody>
          <a:bodyPr wrap="square" lIns="0" tIns="0" rIns="0" bIns="0" rtlCol="0" anchor="ctr"/>
          <a:lstStyle/>
          <a:p>
            <a:pPr algn="l" indent="0" marL="0">
              <a:lnSpc>
                <a:spcPct val="125000"/>
              </a:lnSpc>
              <a:buNone/>
            </a:pPr>
            <a:r>
              <a:rPr lang="en-US" sz="1250" b="1" dirty="0">
                <a:solidFill>
                  <a:srgbClr val="322164"/>
                </a:solidFill>
                <a:latin typeface="Cambria" pitchFamily="34" charset="0"/>
                <a:ea typeface="Cambria" pitchFamily="34" charset="-122"/>
                <a:cs typeface="Cambria" pitchFamily="34" charset="-120"/>
              </a:rPr>
              <a:t>Hai phần ba thay đổi không tới được câu.</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Trong 1.950 bước có ô khai báo đổi, 1.300 bước câu không đổi một ký tự, mà thước chỉ đọc câu.</a:t>
            </a:r>
            <a:endParaRPr lang="en-US" sz="1250" dirty="0"/>
          </a:p>
        </p:txBody>
      </p:sp>
      <p:sp>
        <p:nvSpPr>
          <p:cNvPr id="40" name="Shape 37"/>
          <p:cNvSpPr/>
          <p:nvPr/>
        </p:nvSpPr>
        <p:spPr>
          <a:xfrm>
            <a:off x="0" y="6620256"/>
            <a:ext cx="2743200" cy="237744"/>
          </a:xfrm>
          <a:prstGeom prst="rect">
            <a:avLst/>
          </a:prstGeom>
          <a:solidFill>
            <a:srgbClr val="191132"/>
          </a:solidFill>
          <a:ln/>
        </p:spPr>
      </p:sp>
      <p:sp>
        <p:nvSpPr>
          <p:cNvPr id="41" name="Shape 38"/>
          <p:cNvSpPr/>
          <p:nvPr/>
        </p:nvSpPr>
        <p:spPr>
          <a:xfrm>
            <a:off x="2743200" y="6620256"/>
            <a:ext cx="3383280" cy="237744"/>
          </a:xfrm>
          <a:prstGeom prst="rect">
            <a:avLst/>
          </a:prstGeom>
          <a:solidFill>
            <a:srgbClr val="25194B"/>
          </a:solidFill>
          <a:ln/>
        </p:spPr>
      </p:sp>
      <p:sp>
        <p:nvSpPr>
          <p:cNvPr id="42" name="Shape 39"/>
          <p:cNvSpPr/>
          <p:nvPr/>
        </p:nvSpPr>
        <p:spPr>
          <a:xfrm>
            <a:off x="6126480" y="6620256"/>
            <a:ext cx="1737360" cy="237744"/>
          </a:xfrm>
          <a:prstGeom prst="rect">
            <a:avLst/>
          </a:prstGeom>
          <a:solidFill>
            <a:srgbClr val="4F417A"/>
          </a:solidFill>
          <a:ln/>
        </p:spPr>
      </p:sp>
      <p:sp>
        <p:nvSpPr>
          <p:cNvPr id="43" name="Shape 40"/>
          <p:cNvSpPr/>
          <p:nvPr/>
        </p:nvSpPr>
        <p:spPr>
          <a:xfrm>
            <a:off x="7863840" y="6620256"/>
            <a:ext cx="1280160" cy="237744"/>
          </a:xfrm>
          <a:prstGeom prst="rect">
            <a:avLst/>
          </a:prstGeom>
          <a:solidFill>
            <a:srgbClr val="7A7099"/>
          </a:solidFill>
          <a:ln/>
        </p:spPr>
      </p:sp>
      <p:sp>
        <p:nvSpPr>
          <p:cNvPr id="44" name="Text 4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5" name="Text 4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6" name="Text 4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7" name="Text 4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Phân tích lỗi: cơ chế đúng, nhưng bị chặn bởi độ chính xác khai báo</a:t>
            </a:r>
            <a:endParaRPr lang="en-US" sz="1900" dirty="0"/>
          </a:p>
        </p:txBody>
      </p:sp>
      <p:sp>
        <p:nvSpPr>
          <p:cNvPr id="4" name="Text 2"/>
          <p:cNvSpPr/>
          <p:nvPr/>
        </p:nvSpPr>
        <p:spPr>
          <a:xfrm>
            <a:off x="502920" y="822960"/>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Chia 3.473 bước có tên tham chiếu, theo việc dòng khai báo của chính mô hình đúng hay sai</a:t>
            </a:r>
            <a:endParaRPr lang="en-US" sz="1200" dirty="0"/>
          </a:p>
        </p:txBody>
      </p:sp>
      <p:sp>
        <p:nvSpPr>
          <p:cNvPr id="5" name="Shape 3"/>
          <p:cNvSpPr/>
          <p:nvPr/>
        </p:nvSpPr>
        <p:spPr>
          <a:xfrm>
            <a:off x="502920" y="1234440"/>
            <a:ext cx="8586216" cy="411480"/>
          </a:xfrm>
          <a:prstGeom prst="rect">
            <a:avLst/>
          </a:prstGeom>
          <a:solidFill>
            <a:srgbClr val="322164"/>
          </a:solidFill>
          <a:ln/>
        </p:spPr>
      </p:sp>
      <p:sp>
        <p:nvSpPr>
          <p:cNvPr id="6" name="Text 4"/>
          <p:cNvSpPr/>
          <p:nvPr/>
        </p:nvSpPr>
        <p:spPr>
          <a:xfrm>
            <a:off x="502920" y="1234440"/>
            <a:ext cx="2377440" cy="41148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Nhóm</a:t>
            </a:r>
            <a:endParaRPr lang="en-US" sz="1200" dirty="0"/>
          </a:p>
        </p:txBody>
      </p:sp>
      <p:sp>
        <p:nvSpPr>
          <p:cNvPr id="7" name="Text 5"/>
          <p:cNvSpPr/>
          <p:nvPr/>
        </p:nvSpPr>
        <p:spPr>
          <a:xfrm>
            <a:off x="2880360" y="1234440"/>
            <a:ext cx="155448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a:t>
            </a:r>
            <a:endParaRPr lang="en-US" sz="1200" dirty="0"/>
          </a:p>
        </p:txBody>
      </p:sp>
      <p:sp>
        <p:nvSpPr>
          <p:cNvPr id="8" name="Text 6"/>
          <p:cNvSpPr/>
          <p:nvPr/>
        </p:nvSpPr>
        <p:spPr>
          <a:xfrm>
            <a:off x="4434840" y="1234440"/>
            <a:ext cx="146304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MIN-DESC</a:t>
            </a:r>
            <a:endParaRPr lang="en-US" sz="1200" dirty="0"/>
          </a:p>
        </p:txBody>
      </p:sp>
      <p:sp>
        <p:nvSpPr>
          <p:cNvPr id="9" name="Text 7"/>
          <p:cNvSpPr/>
          <p:nvPr/>
        </p:nvSpPr>
        <p:spPr>
          <a:xfrm>
            <a:off x="5897880" y="1234440"/>
            <a:ext cx="118872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S1</a:t>
            </a:r>
            <a:endParaRPr lang="en-US" sz="1200" dirty="0"/>
          </a:p>
        </p:txBody>
      </p:sp>
      <p:sp>
        <p:nvSpPr>
          <p:cNvPr id="10" name="Text 8"/>
          <p:cNvSpPr/>
          <p:nvPr/>
        </p:nvSpPr>
        <p:spPr>
          <a:xfrm>
            <a:off x="7086600" y="1234440"/>
            <a:ext cx="128016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11" name="Text 9"/>
          <p:cNvSpPr/>
          <p:nvPr/>
        </p:nvSpPr>
        <p:spPr>
          <a:xfrm>
            <a:off x="8366760" y="1234440"/>
            <a:ext cx="722376"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Trần</a:t>
            </a:r>
            <a:endParaRPr lang="en-US" sz="1200" dirty="0"/>
          </a:p>
        </p:txBody>
      </p:sp>
      <p:sp>
        <p:nvSpPr>
          <p:cNvPr id="12" name="Text 10"/>
          <p:cNvSpPr/>
          <p:nvPr/>
        </p:nvSpPr>
        <p:spPr>
          <a:xfrm>
            <a:off x="502920" y="1645920"/>
            <a:ext cx="2377440" cy="566928"/>
          </a:xfrm>
          <a:prstGeom prst="rect">
            <a:avLst/>
          </a:prstGeom>
          <a:noFill/>
          <a:ln/>
        </p:spPr>
        <p:txBody>
          <a:bodyPr wrap="square" lIns="38100" tIns="38100" rIns="38100" bIns="38100" rtlCol="0" anchor="ctr"/>
          <a:lstStyle/>
          <a:p>
            <a:pPr algn="l" indent="0" marL="0">
              <a:buNone/>
            </a:pPr>
            <a:r>
              <a:rPr lang="en-US" sz="1350" b="1" dirty="0">
                <a:solidFill>
                  <a:srgbClr val="006666"/>
                </a:solidFill>
                <a:latin typeface="Cambria" pitchFamily="34" charset="0"/>
                <a:ea typeface="Cambria" pitchFamily="34" charset="-122"/>
                <a:cs typeface="Cambria" pitchFamily="34" charset="-120"/>
              </a:rPr>
              <a:t>Khai báo ĐÚNG</a:t>
            </a:r>
            <a:endParaRPr lang="en-US" sz="1350" dirty="0"/>
          </a:p>
        </p:txBody>
      </p:sp>
      <p:sp>
        <p:nvSpPr>
          <p:cNvPr id="13" name="Text 11"/>
          <p:cNvSpPr/>
          <p:nvPr/>
        </p:nvSpPr>
        <p:spPr>
          <a:xfrm>
            <a:off x="2880360" y="1645920"/>
            <a:ext cx="1554480"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2.106  (60,6%)</a:t>
            </a:r>
            <a:endParaRPr lang="en-US" sz="1350" dirty="0"/>
          </a:p>
        </p:txBody>
      </p:sp>
      <p:sp>
        <p:nvSpPr>
          <p:cNvPr id="14" name="Text 12"/>
          <p:cNvSpPr/>
          <p:nvPr/>
        </p:nvSpPr>
        <p:spPr>
          <a:xfrm>
            <a:off x="4434840" y="1645920"/>
            <a:ext cx="1463040" cy="566928"/>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87,1</a:t>
            </a:r>
            <a:endParaRPr lang="en-US" sz="1350" dirty="0"/>
          </a:p>
        </p:txBody>
      </p:sp>
      <p:sp>
        <p:nvSpPr>
          <p:cNvPr id="15" name="Text 13"/>
          <p:cNvSpPr/>
          <p:nvPr/>
        </p:nvSpPr>
        <p:spPr>
          <a:xfrm>
            <a:off x="5897880" y="1645920"/>
            <a:ext cx="1188720"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78,3</a:t>
            </a:r>
            <a:endParaRPr lang="en-US" sz="1350" dirty="0"/>
          </a:p>
        </p:txBody>
      </p:sp>
      <p:sp>
        <p:nvSpPr>
          <p:cNvPr id="16" name="Text 14"/>
          <p:cNvSpPr/>
          <p:nvPr/>
        </p:nvSpPr>
        <p:spPr>
          <a:xfrm>
            <a:off x="7086600" y="1645920"/>
            <a:ext cx="1280160" cy="566928"/>
          </a:xfrm>
          <a:prstGeom prst="rect">
            <a:avLst/>
          </a:prstGeom>
          <a:noFill/>
          <a:ln/>
        </p:spPr>
        <p:txBody>
          <a:bodyPr wrap="square" lIns="38100" tIns="38100" rIns="38100" bIns="38100" rtlCol="0" anchor="ctr"/>
          <a:lstStyle/>
          <a:p>
            <a:pPr algn="ctr" indent="0" marL="0">
              <a:buNone/>
            </a:pPr>
            <a:r>
              <a:rPr lang="en-US" sz="1350" b="1" dirty="0">
                <a:solidFill>
                  <a:srgbClr val="006666"/>
                </a:solidFill>
                <a:latin typeface="Cambria" pitchFamily="34" charset="0"/>
                <a:ea typeface="Cambria" pitchFamily="34" charset="-122"/>
                <a:cs typeface="Cambria" pitchFamily="34" charset="-120"/>
              </a:rPr>
              <a:t>+8,83</a:t>
            </a:r>
            <a:endParaRPr lang="en-US" sz="1350" dirty="0"/>
          </a:p>
        </p:txBody>
      </p:sp>
      <p:sp>
        <p:nvSpPr>
          <p:cNvPr id="17" name="Text 15"/>
          <p:cNvSpPr/>
          <p:nvPr/>
        </p:nvSpPr>
        <p:spPr>
          <a:xfrm>
            <a:off x="8366760" y="1645920"/>
            <a:ext cx="722376"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86,3</a:t>
            </a:r>
            <a:endParaRPr lang="en-US" sz="1350" dirty="0"/>
          </a:p>
        </p:txBody>
      </p:sp>
      <p:sp>
        <p:nvSpPr>
          <p:cNvPr id="18" name="Shape 16"/>
          <p:cNvSpPr/>
          <p:nvPr/>
        </p:nvSpPr>
        <p:spPr>
          <a:xfrm>
            <a:off x="502920" y="2212848"/>
            <a:ext cx="8586216" cy="0"/>
          </a:xfrm>
          <a:prstGeom prst="line">
            <a:avLst/>
          </a:prstGeom>
          <a:noFill/>
          <a:ln w="12700">
            <a:solidFill>
              <a:srgbClr val="9A94AE"/>
            </a:solidFill>
            <a:prstDash val="solid"/>
          </a:ln>
        </p:spPr>
      </p:sp>
      <p:sp>
        <p:nvSpPr>
          <p:cNvPr id="19" name="Text 17"/>
          <p:cNvSpPr/>
          <p:nvPr/>
        </p:nvSpPr>
        <p:spPr>
          <a:xfrm>
            <a:off x="502920" y="2212848"/>
            <a:ext cx="2377440" cy="566928"/>
          </a:xfrm>
          <a:prstGeom prst="rect">
            <a:avLst/>
          </a:prstGeom>
          <a:noFill/>
          <a:ln/>
        </p:spPr>
        <p:txBody>
          <a:bodyPr wrap="square" lIns="38100" tIns="38100" rIns="38100" bIns="3810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Khai báo SAI</a:t>
            </a:r>
            <a:endParaRPr lang="en-US" sz="1350" dirty="0"/>
          </a:p>
        </p:txBody>
      </p:sp>
      <p:sp>
        <p:nvSpPr>
          <p:cNvPr id="20" name="Text 18"/>
          <p:cNvSpPr/>
          <p:nvPr/>
        </p:nvSpPr>
        <p:spPr>
          <a:xfrm>
            <a:off x="2880360" y="2212848"/>
            <a:ext cx="1554480"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1.367  (39,4%)</a:t>
            </a:r>
            <a:endParaRPr lang="en-US" sz="1350" dirty="0"/>
          </a:p>
        </p:txBody>
      </p:sp>
      <p:sp>
        <p:nvSpPr>
          <p:cNvPr id="21" name="Text 19"/>
          <p:cNvSpPr/>
          <p:nvPr/>
        </p:nvSpPr>
        <p:spPr>
          <a:xfrm>
            <a:off x="4434840" y="2212848"/>
            <a:ext cx="1463040" cy="566928"/>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21,8</a:t>
            </a:r>
            <a:endParaRPr lang="en-US" sz="1350" dirty="0"/>
          </a:p>
        </p:txBody>
      </p:sp>
      <p:sp>
        <p:nvSpPr>
          <p:cNvPr id="22" name="Text 20"/>
          <p:cNvSpPr/>
          <p:nvPr/>
        </p:nvSpPr>
        <p:spPr>
          <a:xfrm>
            <a:off x="5897880" y="2212848"/>
            <a:ext cx="1188720"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32,9</a:t>
            </a:r>
            <a:endParaRPr lang="en-US" sz="1350" dirty="0"/>
          </a:p>
        </p:txBody>
      </p:sp>
      <p:sp>
        <p:nvSpPr>
          <p:cNvPr id="23" name="Text 21"/>
          <p:cNvSpPr/>
          <p:nvPr/>
        </p:nvSpPr>
        <p:spPr>
          <a:xfrm>
            <a:off x="7086600" y="2212848"/>
            <a:ext cx="1280160" cy="566928"/>
          </a:xfrm>
          <a:prstGeom prst="rect">
            <a:avLst/>
          </a:prstGeom>
          <a:noFill/>
          <a:ln/>
        </p:spPr>
        <p:txBody>
          <a:bodyPr wrap="square" lIns="38100" tIns="38100" rIns="38100" bIns="38100" rtlCol="0" anchor="ctr"/>
          <a:lstStyle/>
          <a:p>
            <a:pPr algn="ctr" indent="0" marL="0">
              <a:buNone/>
            </a:pPr>
            <a:r>
              <a:rPr lang="en-US" sz="1350" b="1" dirty="0">
                <a:solidFill>
                  <a:srgbClr val="B22222"/>
                </a:solidFill>
                <a:latin typeface="Cambria" pitchFamily="34" charset="0"/>
                <a:ea typeface="Cambria" pitchFamily="34" charset="-122"/>
                <a:cs typeface="Cambria" pitchFamily="34" charset="-120"/>
              </a:rPr>
              <a:t>−11,12</a:t>
            </a:r>
            <a:endParaRPr lang="en-US" sz="1350" dirty="0"/>
          </a:p>
        </p:txBody>
      </p:sp>
      <p:sp>
        <p:nvSpPr>
          <p:cNvPr id="24" name="Text 22"/>
          <p:cNvSpPr/>
          <p:nvPr/>
        </p:nvSpPr>
        <p:spPr>
          <a:xfrm>
            <a:off x="8366760" y="2212848"/>
            <a:ext cx="722376" cy="566928"/>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61,4</a:t>
            </a:r>
            <a:endParaRPr lang="en-US" sz="1350" dirty="0"/>
          </a:p>
        </p:txBody>
      </p:sp>
      <p:sp>
        <p:nvSpPr>
          <p:cNvPr id="25" name="Text 23"/>
          <p:cNvSpPr/>
          <p:nvPr/>
        </p:nvSpPr>
        <p:spPr>
          <a:xfrm>
            <a:off x="640080" y="3017520"/>
            <a:ext cx="201168" cy="621792"/>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6" name="Text 24"/>
          <p:cNvSpPr/>
          <p:nvPr/>
        </p:nvSpPr>
        <p:spPr>
          <a:xfrm>
            <a:off x="868680" y="3017520"/>
            <a:ext cx="7635240" cy="585216"/>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Khai báo đúng thì mô hình vượt cả trần của nhóm đó</a:t>
            </a:r>
            <a:endParaRPr lang="en-US" sz="1350" dirty="0"/>
          </a:p>
        </p:txBody>
      </p:sp>
      <p:sp>
        <p:nvSpPr>
          <p:cNvPr id="27" name="Text 25"/>
          <p:cNvSpPr/>
          <p:nvPr/>
        </p:nvSpPr>
        <p:spPr>
          <a:xfrm>
            <a:off x="640080" y="3639312"/>
            <a:ext cx="201168" cy="621792"/>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28" name="Text 26"/>
          <p:cNvSpPr/>
          <p:nvPr/>
        </p:nvSpPr>
        <p:spPr>
          <a:xfrm>
            <a:off x="868680" y="3639312"/>
            <a:ext cx="7635240" cy="585216"/>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Khai báo sai thì nó làm sai câu nặng hơn cả không khai báo</a:t>
            </a:r>
            <a:endParaRPr lang="en-US" sz="1350" dirty="0"/>
          </a:p>
        </p:txBody>
      </p:sp>
      <p:sp>
        <p:nvSpPr>
          <p:cNvPr id="29" name="Text 27"/>
          <p:cNvSpPr/>
          <p:nvPr/>
        </p:nvSpPr>
        <p:spPr>
          <a:xfrm>
            <a:off x="640080" y="4261104"/>
            <a:ext cx="201168" cy="621792"/>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30" name="Text 28"/>
          <p:cNvSpPr/>
          <p:nvPr/>
        </p:nvSpPr>
        <p:spPr>
          <a:xfrm>
            <a:off x="868680" y="4261104"/>
            <a:ext cx="7635240" cy="585216"/>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Hai chiều triệt tiêu nhau, cộng lại thành </a:t>
            </a:r>
            <a:pPr algn="l" indent="0" marL="0">
              <a:lnSpc>
                <a:spcPct val="125000"/>
              </a:lnSpc>
              <a:buNone/>
            </a:pPr>
            <a:r>
              <a:rPr lang="en-US" sz="1350" b="1" dirty="0">
                <a:solidFill>
                  <a:srgbClr val="990000"/>
                </a:solidFill>
                <a:latin typeface="Cambria" pitchFamily="34" charset="0"/>
                <a:ea typeface="Cambria" pitchFamily="34" charset="-122"/>
                <a:cs typeface="Cambria" pitchFamily="34" charset="-120"/>
              </a:rPr>
              <a:t>+0,94 điểm không có ý nghĩa</a:t>
            </a:r>
            <a:endParaRPr lang="en-US" sz="1350" dirty="0"/>
          </a:p>
        </p:txBody>
      </p:sp>
      <p:sp>
        <p:nvSpPr>
          <p:cNvPr id="31" name="Shape 29"/>
          <p:cNvSpPr/>
          <p:nvPr/>
        </p:nvSpPr>
        <p:spPr>
          <a:xfrm>
            <a:off x="502920" y="489204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32" name="Text 30"/>
          <p:cNvSpPr/>
          <p:nvPr/>
        </p:nvSpPr>
        <p:spPr>
          <a:xfrm>
            <a:off x="731520" y="4892040"/>
            <a:ext cx="7680960" cy="777240"/>
          </a:xfrm>
          <a:prstGeom prst="rect">
            <a:avLst/>
          </a:prstGeom>
          <a:noFill/>
          <a:ln/>
        </p:spPr>
        <p:txBody>
          <a:bodyPr wrap="square" lIns="0" tIns="0" rIns="0" bIns="0" rtlCol="0" anchor="ctr"/>
          <a:lstStyle/>
          <a:p>
            <a:pPr algn="l" indent="0" marL="0">
              <a:lnSpc>
                <a:spcPct val="135000"/>
              </a:lnSpc>
              <a:buNone/>
            </a:pPr>
            <a:r>
              <a:rPr lang="en-US" sz="1250" b="1" dirty="0">
                <a:solidFill>
                  <a:srgbClr val="B22222"/>
                </a:solidFill>
                <a:latin typeface="Cambria" pitchFamily="34" charset="0"/>
                <a:ea typeface="Cambria" pitchFamily="34" charset="-122"/>
                <a:cs typeface="Cambria" pitchFamily="34" charset="-120"/>
              </a:rPr>
              <a:t>Cách chia nhóm này là hậu kiểm:</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biến chia nhóm là hành vi của chính mô hình được đo.</a:t>
            </a:r>
            <a:endParaRPr lang="en-US" sz="1250" dirty="0"/>
          </a:p>
        </p:txBody>
      </p:sp>
      <p:sp>
        <p:nvSpPr>
          <p:cNvPr id="34" name="Shape 31"/>
          <p:cNvSpPr/>
          <p:nvPr/>
        </p:nvSpPr>
        <p:spPr>
          <a:xfrm>
            <a:off x="0" y="6620256"/>
            <a:ext cx="2743200" cy="237744"/>
          </a:xfrm>
          <a:prstGeom prst="rect">
            <a:avLst/>
          </a:prstGeom>
          <a:solidFill>
            <a:srgbClr val="191132"/>
          </a:solidFill>
          <a:ln/>
        </p:spPr>
      </p:sp>
      <p:sp>
        <p:nvSpPr>
          <p:cNvPr id="35" name="Shape 32"/>
          <p:cNvSpPr/>
          <p:nvPr/>
        </p:nvSpPr>
        <p:spPr>
          <a:xfrm>
            <a:off x="2743200" y="6620256"/>
            <a:ext cx="3383280" cy="237744"/>
          </a:xfrm>
          <a:prstGeom prst="rect">
            <a:avLst/>
          </a:prstGeom>
          <a:solidFill>
            <a:srgbClr val="25194B"/>
          </a:solidFill>
          <a:ln/>
        </p:spPr>
      </p:sp>
      <p:sp>
        <p:nvSpPr>
          <p:cNvPr id="36" name="Shape 33"/>
          <p:cNvSpPr/>
          <p:nvPr/>
        </p:nvSpPr>
        <p:spPr>
          <a:xfrm>
            <a:off x="6126480" y="6620256"/>
            <a:ext cx="1737360" cy="237744"/>
          </a:xfrm>
          <a:prstGeom prst="rect">
            <a:avLst/>
          </a:prstGeom>
          <a:solidFill>
            <a:srgbClr val="4F417A"/>
          </a:solidFill>
          <a:ln/>
        </p:spPr>
      </p:sp>
      <p:sp>
        <p:nvSpPr>
          <p:cNvPr id="37" name="Shape 34"/>
          <p:cNvSpPr/>
          <p:nvPr/>
        </p:nvSpPr>
        <p:spPr>
          <a:xfrm>
            <a:off x="7863840" y="6620256"/>
            <a:ext cx="1280160" cy="237744"/>
          </a:xfrm>
          <a:prstGeom prst="rect">
            <a:avLst/>
          </a:prstGeom>
          <a:solidFill>
            <a:srgbClr val="7A7099"/>
          </a:solidFill>
          <a:ln/>
        </p:spPr>
      </p:sp>
      <p:sp>
        <p:nvSpPr>
          <p:cNvPr id="38" name="Text 3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9" name="Text 3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0" name="Text 3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1" name="Text 3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21/29</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63% dư địa còn lại nằm gọn trong một ô duy nhất</a:t>
            </a:r>
            <a:endParaRPr lang="en-US" sz="1900" dirty="0"/>
          </a:p>
        </p:txBody>
      </p:sp>
      <p:sp>
        <p:nvSpPr>
          <p:cNvPr id="4" name="Shape 2"/>
          <p:cNvSpPr/>
          <p:nvPr/>
        </p:nvSpPr>
        <p:spPr>
          <a:xfrm>
            <a:off x="502920" y="914400"/>
            <a:ext cx="8220456" cy="384048"/>
          </a:xfrm>
          <a:prstGeom prst="rect">
            <a:avLst/>
          </a:prstGeom>
          <a:solidFill>
            <a:srgbClr val="322164"/>
          </a:solidFill>
          <a:ln/>
        </p:spPr>
      </p:sp>
      <p:sp>
        <p:nvSpPr>
          <p:cNvPr id="5" name="Text 3"/>
          <p:cNvSpPr/>
          <p:nvPr/>
        </p:nvSpPr>
        <p:spPr>
          <a:xfrm>
            <a:off x="502920" y="914400"/>
            <a:ext cx="2468880" cy="384048"/>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Trạng thái ô khai báo</a:t>
            </a:r>
            <a:endParaRPr lang="en-US" sz="1150" dirty="0"/>
          </a:p>
        </p:txBody>
      </p:sp>
      <p:sp>
        <p:nvSpPr>
          <p:cNvPr id="6" name="Text 4"/>
          <p:cNvSpPr/>
          <p:nvPr/>
        </p:nvSpPr>
        <p:spPr>
          <a:xfrm>
            <a:off x="2971800" y="914400"/>
            <a:ext cx="960120"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a:t>
            </a:r>
            <a:endParaRPr lang="en-US" sz="1150" dirty="0"/>
          </a:p>
        </p:txBody>
      </p:sp>
      <p:sp>
        <p:nvSpPr>
          <p:cNvPr id="7" name="Text 5"/>
          <p:cNvSpPr/>
          <p:nvPr/>
        </p:nvSpPr>
        <p:spPr>
          <a:xfrm>
            <a:off x="3931920" y="914400"/>
            <a:ext cx="822960"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a:t>
            </a:r>
            <a:endParaRPr lang="en-US" sz="1150" dirty="0"/>
          </a:p>
        </p:txBody>
      </p:sp>
      <p:sp>
        <p:nvSpPr>
          <p:cNvPr id="8" name="Text 6"/>
          <p:cNvSpPr/>
          <p:nvPr/>
        </p:nvSpPr>
        <p:spPr>
          <a:xfrm>
            <a:off x="4754880" y="914400"/>
            <a:ext cx="1005840"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MIN</a:t>
            </a:r>
            <a:endParaRPr lang="en-US" sz="1150" dirty="0"/>
          </a:p>
        </p:txBody>
      </p:sp>
      <p:sp>
        <p:nvSpPr>
          <p:cNvPr id="9" name="Text 7"/>
          <p:cNvSpPr/>
          <p:nvPr/>
        </p:nvSpPr>
        <p:spPr>
          <a:xfrm>
            <a:off x="5760720" y="914400"/>
            <a:ext cx="1005840"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S1</a:t>
            </a:r>
            <a:endParaRPr lang="en-US" sz="1150" dirty="0"/>
          </a:p>
        </p:txBody>
      </p:sp>
      <p:sp>
        <p:nvSpPr>
          <p:cNvPr id="10" name="Text 8"/>
          <p:cNvSpPr/>
          <p:nvPr/>
        </p:nvSpPr>
        <p:spPr>
          <a:xfrm>
            <a:off x="6766560" y="914400"/>
            <a:ext cx="1005840"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Trần</a:t>
            </a:r>
            <a:endParaRPr lang="en-US" sz="1150" dirty="0"/>
          </a:p>
        </p:txBody>
      </p:sp>
      <p:sp>
        <p:nvSpPr>
          <p:cNvPr id="11" name="Text 9"/>
          <p:cNvSpPr/>
          <p:nvPr/>
        </p:nvSpPr>
        <p:spPr>
          <a:xfrm>
            <a:off x="7772400" y="914400"/>
            <a:ext cx="950976" cy="384048"/>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Dư địa</a:t>
            </a:r>
            <a:endParaRPr lang="en-US" sz="1150" dirty="0"/>
          </a:p>
        </p:txBody>
      </p:sp>
      <p:sp>
        <p:nvSpPr>
          <p:cNvPr id="12" name="Text 10"/>
          <p:cNvSpPr/>
          <p:nvPr/>
        </p:nvSpPr>
        <p:spPr>
          <a:xfrm>
            <a:off x="502920" y="1298448"/>
            <a:ext cx="2468880" cy="384048"/>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tên đúng, toạ độ đúng</a:t>
            </a:r>
            <a:endParaRPr lang="en-US" sz="1150" dirty="0"/>
          </a:p>
        </p:txBody>
      </p:sp>
      <p:sp>
        <p:nvSpPr>
          <p:cNvPr id="13" name="Text 11"/>
          <p:cNvSpPr/>
          <p:nvPr/>
        </p:nvSpPr>
        <p:spPr>
          <a:xfrm>
            <a:off x="2971800" y="1298448"/>
            <a:ext cx="960120" cy="384048"/>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2.082</a:t>
            </a:r>
            <a:endParaRPr lang="en-US" sz="1150" dirty="0"/>
          </a:p>
        </p:txBody>
      </p:sp>
      <p:sp>
        <p:nvSpPr>
          <p:cNvPr id="14" name="Text 12"/>
          <p:cNvSpPr/>
          <p:nvPr/>
        </p:nvSpPr>
        <p:spPr>
          <a:xfrm>
            <a:off x="3931920" y="1298448"/>
            <a:ext cx="822960" cy="384048"/>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46,7</a:t>
            </a:r>
            <a:endParaRPr lang="en-US" sz="1150" dirty="0"/>
          </a:p>
        </p:txBody>
      </p:sp>
      <p:sp>
        <p:nvSpPr>
          <p:cNvPr id="15" name="Text 13"/>
          <p:cNvSpPr/>
          <p:nvPr/>
        </p:nvSpPr>
        <p:spPr>
          <a:xfrm>
            <a:off x="4754880" y="1298448"/>
            <a:ext cx="1005840" cy="384048"/>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87,1</a:t>
            </a:r>
            <a:endParaRPr lang="en-US" sz="1150" dirty="0"/>
          </a:p>
        </p:txBody>
      </p:sp>
      <p:sp>
        <p:nvSpPr>
          <p:cNvPr id="16" name="Text 14"/>
          <p:cNvSpPr/>
          <p:nvPr/>
        </p:nvSpPr>
        <p:spPr>
          <a:xfrm>
            <a:off x="5760720" y="1298448"/>
            <a:ext cx="1005840" cy="384048"/>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78,2</a:t>
            </a:r>
            <a:endParaRPr lang="en-US" sz="1150" dirty="0"/>
          </a:p>
        </p:txBody>
      </p:sp>
      <p:sp>
        <p:nvSpPr>
          <p:cNvPr id="17" name="Text 15"/>
          <p:cNvSpPr/>
          <p:nvPr/>
        </p:nvSpPr>
        <p:spPr>
          <a:xfrm>
            <a:off x="6766560" y="1298448"/>
            <a:ext cx="1005840" cy="384048"/>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86,3</a:t>
            </a:r>
            <a:endParaRPr lang="en-US" sz="1150" dirty="0"/>
          </a:p>
        </p:txBody>
      </p:sp>
      <p:sp>
        <p:nvSpPr>
          <p:cNvPr id="18" name="Text 16"/>
          <p:cNvSpPr/>
          <p:nvPr/>
        </p:nvSpPr>
        <p:spPr>
          <a:xfrm>
            <a:off x="7772400" y="1298448"/>
            <a:ext cx="950976" cy="384048"/>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−0,36</a:t>
            </a:r>
            <a:endParaRPr lang="en-US" sz="1150" dirty="0"/>
          </a:p>
        </p:txBody>
      </p:sp>
      <p:sp>
        <p:nvSpPr>
          <p:cNvPr id="19" name="Shape 17"/>
          <p:cNvSpPr/>
          <p:nvPr/>
        </p:nvSpPr>
        <p:spPr>
          <a:xfrm>
            <a:off x="502920" y="1682496"/>
            <a:ext cx="8220456" cy="0"/>
          </a:xfrm>
          <a:prstGeom prst="line">
            <a:avLst/>
          </a:prstGeom>
          <a:noFill/>
          <a:ln w="12700">
            <a:solidFill>
              <a:srgbClr val="9A94AE"/>
            </a:solidFill>
            <a:prstDash val="solid"/>
          </a:ln>
        </p:spPr>
      </p:sp>
      <p:sp>
        <p:nvSpPr>
          <p:cNvPr id="20" name="Text 18"/>
          <p:cNvSpPr/>
          <p:nvPr/>
        </p:nvSpPr>
        <p:spPr>
          <a:xfrm>
            <a:off x="502920" y="1682496"/>
            <a:ext cx="246888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tên đúng, toạ độ sai</a:t>
            </a:r>
            <a:endParaRPr lang="en-US" sz="1150" dirty="0"/>
          </a:p>
        </p:txBody>
      </p:sp>
      <p:sp>
        <p:nvSpPr>
          <p:cNvPr id="21" name="Text 19"/>
          <p:cNvSpPr/>
          <p:nvPr/>
        </p:nvSpPr>
        <p:spPr>
          <a:xfrm>
            <a:off x="2971800" y="1682496"/>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220</a:t>
            </a:r>
            <a:endParaRPr lang="en-US" sz="1150" dirty="0"/>
          </a:p>
        </p:txBody>
      </p:sp>
      <p:sp>
        <p:nvSpPr>
          <p:cNvPr id="22" name="Text 20"/>
          <p:cNvSpPr/>
          <p:nvPr/>
        </p:nvSpPr>
        <p:spPr>
          <a:xfrm>
            <a:off x="3931920" y="1682496"/>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4,9</a:t>
            </a:r>
            <a:endParaRPr lang="en-US" sz="1150" dirty="0"/>
          </a:p>
        </p:txBody>
      </p:sp>
      <p:sp>
        <p:nvSpPr>
          <p:cNvPr id="23" name="Text 21"/>
          <p:cNvSpPr/>
          <p:nvPr/>
        </p:nvSpPr>
        <p:spPr>
          <a:xfrm>
            <a:off x="4754880" y="168249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26,4</a:t>
            </a:r>
            <a:endParaRPr lang="en-US" sz="1150" dirty="0"/>
          </a:p>
        </p:txBody>
      </p:sp>
      <p:sp>
        <p:nvSpPr>
          <p:cNvPr id="24" name="Text 22"/>
          <p:cNvSpPr/>
          <p:nvPr/>
        </p:nvSpPr>
        <p:spPr>
          <a:xfrm>
            <a:off x="5760720" y="168249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27,7</a:t>
            </a:r>
            <a:endParaRPr lang="en-US" sz="1150" dirty="0"/>
          </a:p>
        </p:txBody>
      </p:sp>
      <p:sp>
        <p:nvSpPr>
          <p:cNvPr id="25" name="Text 23"/>
          <p:cNvSpPr/>
          <p:nvPr/>
        </p:nvSpPr>
        <p:spPr>
          <a:xfrm>
            <a:off x="6766560" y="168249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32,3</a:t>
            </a:r>
            <a:endParaRPr lang="en-US" sz="1150" dirty="0"/>
          </a:p>
        </p:txBody>
      </p:sp>
      <p:sp>
        <p:nvSpPr>
          <p:cNvPr id="26" name="Text 24"/>
          <p:cNvSpPr/>
          <p:nvPr/>
        </p:nvSpPr>
        <p:spPr>
          <a:xfrm>
            <a:off x="7772400" y="1682496"/>
            <a:ext cx="950976"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+0,29</a:t>
            </a:r>
            <a:endParaRPr lang="en-US" sz="1150" dirty="0"/>
          </a:p>
        </p:txBody>
      </p:sp>
      <p:sp>
        <p:nvSpPr>
          <p:cNvPr id="27" name="Shape 25"/>
          <p:cNvSpPr/>
          <p:nvPr/>
        </p:nvSpPr>
        <p:spPr>
          <a:xfrm>
            <a:off x="502920" y="2048256"/>
            <a:ext cx="8220456" cy="0"/>
          </a:xfrm>
          <a:prstGeom prst="line">
            <a:avLst/>
          </a:prstGeom>
          <a:noFill/>
          <a:ln w="12700">
            <a:solidFill>
              <a:srgbClr val="9A94AE"/>
            </a:solidFill>
            <a:prstDash val="solid"/>
          </a:ln>
        </p:spPr>
      </p:sp>
      <p:sp>
        <p:nvSpPr>
          <p:cNvPr id="28" name="Text 26"/>
          <p:cNvSpPr/>
          <p:nvPr/>
        </p:nvSpPr>
        <p:spPr>
          <a:xfrm>
            <a:off x="502920" y="2048256"/>
            <a:ext cx="246888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tên sai, toạ độ đúng</a:t>
            </a:r>
            <a:endParaRPr lang="en-US" sz="1150" dirty="0"/>
          </a:p>
        </p:txBody>
      </p:sp>
      <p:sp>
        <p:nvSpPr>
          <p:cNvPr id="29" name="Text 27"/>
          <p:cNvSpPr/>
          <p:nvPr/>
        </p:nvSpPr>
        <p:spPr>
          <a:xfrm>
            <a:off x="2971800" y="2048256"/>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411</a:t>
            </a:r>
            <a:endParaRPr lang="en-US" sz="1150" dirty="0"/>
          </a:p>
        </p:txBody>
      </p:sp>
      <p:sp>
        <p:nvSpPr>
          <p:cNvPr id="30" name="Text 28"/>
          <p:cNvSpPr/>
          <p:nvPr/>
        </p:nvSpPr>
        <p:spPr>
          <a:xfrm>
            <a:off x="3931920" y="2048256"/>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9,2</a:t>
            </a:r>
            <a:endParaRPr lang="en-US" sz="1150" dirty="0"/>
          </a:p>
        </p:txBody>
      </p:sp>
      <p:sp>
        <p:nvSpPr>
          <p:cNvPr id="31" name="Text 29"/>
          <p:cNvSpPr/>
          <p:nvPr/>
        </p:nvSpPr>
        <p:spPr>
          <a:xfrm>
            <a:off x="4754880" y="204825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57,2</a:t>
            </a:r>
            <a:endParaRPr lang="en-US" sz="1150" dirty="0"/>
          </a:p>
        </p:txBody>
      </p:sp>
      <p:sp>
        <p:nvSpPr>
          <p:cNvPr id="32" name="Text 30"/>
          <p:cNvSpPr/>
          <p:nvPr/>
        </p:nvSpPr>
        <p:spPr>
          <a:xfrm>
            <a:off x="5760720" y="204825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53,0</a:t>
            </a:r>
            <a:endParaRPr lang="en-US" sz="1150" dirty="0"/>
          </a:p>
        </p:txBody>
      </p:sp>
      <p:sp>
        <p:nvSpPr>
          <p:cNvPr id="33" name="Text 31"/>
          <p:cNvSpPr/>
          <p:nvPr/>
        </p:nvSpPr>
        <p:spPr>
          <a:xfrm>
            <a:off x="6766560" y="204825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73,0</a:t>
            </a:r>
            <a:endParaRPr lang="en-US" sz="1150" dirty="0"/>
          </a:p>
        </p:txBody>
      </p:sp>
      <p:sp>
        <p:nvSpPr>
          <p:cNvPr id="34" name="Text 32"/>
          <p:cNvSpPr/>
          <p:nvPr/>
        </p:nvSpPr>
        <p:spPr>
          <a:xfrm>
            <a:off x="7772400" y="2048256"/>
            <a:ext cx="950976"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+1,46</a:t>
            </a:r>
            <a:endParaRPr lang="en-US" sz="1150" dirty="0"/>
          </a:p>
        </p:txBody>
      </p:sp>
      <p:sp>
        <p:nvSpPr>
          <p:cNvPr id="35" name="Shape 33"/>
          <p:cNvSpPr/>
          <p:nvPr/>
        </p:nvSpPr>
        <p:spPr>
          <a:xfrm>
            <a:off x="502920" y="2414016"/>
            <a:ext cx="8220456" cy="0"/>
          </a:xfrm>
          <a:prstGeom prst="line">
            <a:avLst/>
          </a:prstGeom>
          <a:noFill/>
          <a:ln w="12700">
            <a:solidFill>
              <a:srgbClr val="9A94AE"/>
            </a:solidFill>
            <a:prstDash val="solid"/>
          </a:ln>
        </p:spPr>
      </p:sp>
      <p:sp>
        <p:nvSpPr>
          <p:cNvPr id="36" name="Text 34"/>
          <p:cNvSpPr/>
          <p:nvPr/>
        </p:nvSpPr>
        <p:spPr>
          <a:xfrm>
            <a:off x="502920" y="2414016"/>
            <a:ext cx="246888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không sinh khai báo</a:t>
            </a:r>
            <a:endParaRPr lang="en-US" sz="1150" dirty="0"/>
          </a:p>
        </p:txBody>
      </p:sp>
      <p:sp>
        <p:nvSpPr>
          <p:cNvPr id="37" name="Text 35"/>
          <p:cNvSpPr/>
          <p:nvPr/>
        </p:nvSpPr>
        <p:spPr>
          <a:xfrm>
            <a:off x="2971800" y="2414016"/>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15</a:t>
            </a:r>
            <a:endParaRPr lang="en-US" sz="1150" dirty="0"/>
          </a:p>
        </p:txBody>
      </p:sp>
      <p:sp>
        <p:nvSpPr>
          <p:cNvPr id="38" name="Text 36"/>
          <p:cNvSpPr/>
          <p:nvPr/>
        </p:nvSpPr>
        <p:spPr>
          <a:xfrm>
            <a:off x="3931920" y="2414016"/>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0,3</a:t>
            </a:r>
            <a:endParaRPr lang="en-US" sz="1150" dirty="0"/>
          </a:p>
        </p:txBody>
      </p:sp>
      <p:sp>
        <p:nvSpPr>
          <p:cNvPr id="39" name="Text 37"/>
          <p:cNvSpPr/>
          <p:nvPr/>
        </p:nvSpPr>
        <p:spPr>
          <a:xfrm>
            <a:off x="4754880" y="241401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0,0</a:t>
            </a:r>
            <a:endParaRPr lang="en-US" sz="1150" dirty="0"/>
          </a:p>
        </p:txBody>
      </p:sp>
      <p:sp>
        <p:nvSpPr>
          <p:cNvPr id="40" name="Text 38"/>
          <p:cNvSpPr/>
          <p:nvPr/>
        </p:nvSpPr>
        <p:spPr>
          <a:xfrm>
            <a:off x="5760720" y="241401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0,0</a:t>
            </a:r>
            <a:endParaRPr lang="en-US" sz="1150" dirty="0"/>
          </a:p>
        </p:txBody>
      </p:sp>
      <p:sp>
        <p:nvSpPr>
          <p:cNvPr id="41" name="Text 39"/>
          <p:cNvSpPr/>
          <p:nvPr/>
        </p:nvSpPr>
        <p:spPr>
          <a:xfrm>
            <a:off x="6766560" y="2414016"/>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60,0</a:t>
            </a:r>
            <a:endParaRPr lang="en-US" sz="1150" dirty="0"/>
          </a:p>
        </p:txBody>
      </p:sp>
      <p:sp>
        <p:nvSpPr>
          <p:cNvPr id="42" name="Text 40"/>
          <p:cNvSpPr/>
          <p:nvPr/>
        </p:nvSpPr>
        <p:spPr>
          <a:xfrm>
            <a:off x="7772400" y="2414016"/>
            <a:ext cx="950976"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+0,20</a:t>
            </a:r>
            <a:endParaRPr lang="en-US" sz="1150" dirty="0"/>
          </a:p>
        </p:txBody>
      </p:sp>
      <p:sp>
        <p:nvSpPr>
          <p:cNvPr id="43" name="Shape 41"/>
          <p:cNvSpPr/>
          <p:nvPr/>
        </p:nvSpPr>
        <p:spPr>
          <a:xfrm>
            <a:off x="502920" y="2779776"/>
            <a:ext cx="8220456" cy="0"/>
          </a:xfrm>
          <a:prstGeom prst="line">
            <a:avLst/>
          </a:prstGeom>
          <a:noFill/>
          <a:ln w="12700">
            <a:solidFill>
              <a:srgbClr val="9A94AE"/>
            </a:solidFill>
            <a:prstDash val="solid"/>
          </a:ln>
        </p:spPr>
      </p:sp>
      <p:sp>
        <p:nvSpPr>
          <p:cNvPr id="44" name="Text 42"/>
          <p:cNvSpPr/>
          <p:nvPr/>
        </p:nvSpPr>
        <p:spPr>
          <a:xfrm>
            <a:off x="502920" y="2779776"/>
            <a:ext cx="2468880" cy="438912"/>
          </a:xfrm>
          <a:prstGeom prst="rect">
            <a:avLst/>
          </a:prstGeom>
          <a:noFill/>
          <a:ln/>
        </p:spPr>
        <p:txBody>
          <a:bodyPr wrap="square" lIns="38100" tIns="38100" rIns="38100" bIns="38100" rtlCol="0" anchor="ctr"/>
          <a:lstStyle/>
          <a:p>
            <a:pPr algn="l" indent="0" marL="0">
              <a:buNone/>
            </a:pPr>
            <a:r>
              <a:rPr lang="en-US" sz="1200" b="1" dirty="0">
                <a:solidFill>
                  <a:srgbClr val="B22222"/>
                </a:solidFill>
                <a:latin typeface="Cambria" pitchFamily="34" charset="0"/>
                <a:ea typeface="Cambria" pitchFamily="34" charset="-122"/>
                <a:cs typeface="Cambria" pitchFamily="34" charset="-120"/>
              </a:rPr>
              <a:t>tên sai, toạ độ sai</a:t>
            </a:r>
            <a:endParaRPr lang="en-US" sz="1200" dirty="0"/>
          </a:p>
        </p:txBody>
      </p:sp>
      <p:sp>
        <p:nvSpPr>
          <p:cNvPr id="45" name="Text 43"/>
          <p:cNvSpPr/>
          <p:nvPr/>
        </p:nvSpPr>
        <p:spPr>
          <a:xfrm>
            <a:off x="2971800" y="2779776"/>
            <a:ext cx="960120" cy="438912"/>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745</a:t>
            </a:r>
            <a:endParaRPr lang="en-US" sz="1200" dirty="0"/>
          </a:p>
        </p:txBody>
      </p:sp>
      <p:sp>
        <p:nvSpPr>
          <p:cNvPr id="46" name="Text 44"/>
          <p:cNvSpPr/>
          <p:nvPr/>
        </p:nvSpPr>
        <p:spPr>
          <a:xfrm>
            <a:off x="3931920" y="2779776"/>
            <a:ext cx="822960" cy="438912"/>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16,7</a:t>
            </a:r>
            <a:endParaRPr lang="en-US" sz="1200" dirty="0"/>
          </a:p>
        </p:txBody>
      </p:sp>
      <p:sp>
        <p:nvSpPr>
          <p:cNvPr id="47" name="Text 45"/>
          <p:cNvSpPr/>
          <p:nvPr/>
        </p:nvSpPr>
        <p:spPr>
          <a:xfrm>
            <a:off x="4754880" y="2779776"/>
            <a:ext cx="1005840" cy="438912"/>
          </a:xfrm>
          <a:prstGeom prst="rect">
            <a:avLst/>
          </a:prstGeom>
          <a:noFill/>
          <a:ln/>
        </p:spPr>
        <p:txBody>
          <a:bodyPr wrap="square" lIns="38100" tIns="38100" rIns="38100" bIns="38100" rtlCol="0" anchor="ctr"/>
          <a:lstStyle/>
          <a:p>
            <a:pPr algn="ctr" indent="0" marL="0">
              <a:buNone/>
            </a:pPr>
            <a:r>
              <a:rPr lang="en-US" sz="1200" b="1" dirty="0">
                <a:solidFill>
                  <a:srgbClr val="B22222"/>
                </a:solidFill>
                <a:latin typeface="Cambria" pitchFamily="34" charset="0"/>
                <a:ea typeface="Cambria" pitchFamily="34" charset="-122"/>
                <a:cs typeface="Cambria" pitchFamily="34" charset="-120"/>
              </a:rPr>
              <a:t>3,6</a:t>
            </a:r>
            <a:endParaRPr lang="en-US" sz="1200" dirty="0"/>
          </a:p>
        </p:txBody>
      </p:sp>
      <p:sp>
        <p:nvSpPr>
          <p:cNvPr id="48" name="Text 46"/>
          <p:cNvSpPr/>
          <p:nvPr/>
        </p:nvSpPr>
        <p:spPr>
          <a:xfrm>
            <a:off x="5760720" y="2779776"/>
            <a:ext cx="1005840" cy="438912"/>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25,8</a:t>
            </a:r>
            <a:endParaRPr lang="en-US" sz="1200" dirty="0"/>
          </a:p>
        </p:txBody>
      </p:sp>
      <p:sp>
        <p:nvSpPr>
          <p:cNvPr id="49" name="Text 47"/>
          <p:cNvSpPr/>
          <p:nvPr/>
        </p:nvSpPr>
        <p:spPr>
          <a:xfrm>
            <a:off x="6766560" y="2779776"/>
            <a:ext cx="1005840" cy="438912"/>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64,4</a:t>
            </a:r>
            <a:endParaRPr lang="en-US" sz="1200" dirty="0"/>
          </a:p>
        </p:txBody>
      </p:sp>
      <p:sp>
        <p:nvSpPr>
          <p:cNvPr id="50" name="Text 48"/>
          <p:cNvSpPr/>
          <p:nvPr/>
        </p:nvSpPr>
        <p:spPr>
          <a:xfrm>
            <a:off x="7772400" y="2779776"/>
            <a:ext cx="950976" cy="438912"/>
          </a:xfrm>
          <a:prstGeom prst="rect">
            <a:avLst/>
          </a:prstGeom>
          <a:noFill/>
          <a:ln/>
        </p:spPr>
        <p:txBody>
          <a:bodyPr wrap="square" lIns="38100" tIns="38100" rIns="38100" bIns="38100" rtlCol="0" anchor="ctr"/>
          <a:lstStyle/>
          <a:p>
            <a:pPr algn="ctr" indent="0" marL="0">
              <a:buNone/>
            </a:pPr>
            <a:r>
              <a:rPr lang="en-US" sz="1200" b="1" dirty="0">
                <a:solidFill>
                  <a:srgbClr val="B22222"/>
                </a:solidFill>
                <a:latin typeface="Cambria" pitchFamily="34" charset="0"/>
                <a:ea typeface="Cambria" pitchFamily="34" charset="-122"/>
                <a:cs typeface="Cambria" pitchFamily="34" charset="-120"/>
              </a:rPr>
              <a:t>+10,15</a:t>
            </a:r>
            <a:endParaRPr lang="en-US" sz="1200" dirty="0"/>
          </a:p>
        </p:txBody>
      </p:sp>
      <p:sp>
        <p:nvSpPr>
          <p:cNvPr id="51" name="Shape 49"/>
          <p:cNvSpPr/>
          <p:nvPr/>
        </p:nvSpPr>
        <p:spPr>
          <a:xfrm>
            <a:off x="502920" y="3218688"/>
            <a:ext cx="8220456" cy="0"/>
          </a:xfrm>
          <a:prstGeom prst="line">
            <a:avLst/>
          </a:prstGeom>
          <a:noFill/>
          <a:ln w="12700">
            <a:solidFill>
              <a:srgbClr val="9A94AE"/>
            </a:solidFill>
            <a:prstDash val="solid"/>
          </a:ln>
        </p:spPr>
      </p:sp>
      <p:sp>
        <p:nvSpPr>
          <p:cNvPr id="52" name="Text 50"/>
          <p:cNvSpPr/>
          <p:nvPr/>
        </p:nvSpPr>
        <p:spPr>
          <a:xfrm>
            <a:off x="502920" y="3218688"/>
            <a:ext cx="246888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không có tên tham chiếu</a:t>
            </a:r>
            <a:endParaRPr lang="en-US" sz="1150" dirty="0"/>
          </a:p>
        </p:txBody>
      </p:sp>
      <p:sp>
        <p:nvSpPr>
          <p:cNvPr id="53" name="Text 51"/>
          <p:cNvSpPr/>
          <p:nvPr/>
        </p:nvSpPr>
        <p:spPr>
          <a:xfrm>
            <a:off x="2971800" y="3218688"/>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990</a:t>
            </a:r>
            <a:endParaRPr lang="en-US" sz="1150" dirty="0"/>
          </a:p>
        </p:txBody>
      </p:sp>
      <p:sp>
        <p:nvSpPr>
          <p:cNvPr id="54" name="Text 52"/>
          <p:cNvSpPr/>
          <p:nvPr/>
        </p:nvSpPr>
        <p:spPr>
          <a:xfrm>
            <a:off x="3931920" y="3218688"/>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22,2</a:t>
            </a:r>
            <a:endParaRPr lang="en-US" sz="1150" dirty="0"/>
          </a:p>
        </p:txBody>
      </p:sp>
      <p:sp>
        <p:nvSpPr>
          <p:cNvPr id="55" name="Text 53"/>
          <p:cNvSpPr/>
          <p:nvPr/>
        </p:nvSpPr>
        <p:spPr>
          <a:xfrm>
            <a:off x="4754880" y="3218688"/>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55,3</a:t>
            </a:r>
            <a:endParaRPr lang="en-US" sz="1150" dirty="0"/>
          </a:p>
        </p:txBody>
      </p:sp>
      <p:sp>
        <p:nvSpPr>
          <p:cNvPr id="56" name="Text 54"/>
          <p:cNvSpPr/>
          <p:nvPr/>
        </p:nvSpPr>
        <p:spPr>
          <a:xfrm>
            <a:off x="5760720" y="3218688"/>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54,4</a:t>
            </a:r>
            <a:endParaRPr lang="en-US" sz="1150" dirty="0"/>
          </a:p>
        </p:txBody>
      </p:sp>
      <p:sp>
        <p:nvSpPr>
          <p:cNvPr id="57" name="Text 55"/>
          <p:cNvSpPr/>
          <p:nvPr/>
        </p:nvSpPr>
        <p:spPr>
          <a:xfrm>
            <a:off x="6766560" y="3218688"/>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73,0</a:t>
            </a:r>
            <a:endParaRPr lang="en-US" sz="1150" dirty="0"/>
          </a:p>
        </p:txBody>
      </p:sp>
      <p:sp>
        <p:nvSpPr>
          <p:cNvPr id="58" name="Text 56"/>
          <p:cNvSpPr/>
          <p:nvPr/>
        </p:nvSpPr>
        <p:spPr>
          <a:xfrm>
            <a:off x="7772400" y="3218688"/>
            <a:ext cx="950976"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+3,94</a:t>
            </a:r>
            <a:endParaRPr lang="en-US" sz="1150" dirty="0"/>
          </a:p>
        </p:txBody>
      </p:sp>
      <p:sp>
        <p:nvSpPr>
          <p:cNvPr id="59" name="Text 57"/>
          <p:cNvSpPr/>
          <p:nvPr/>
        </p:nvSpPr>
        <p:spPr>
          <a:xfrm>
            <a:off x="640080" y="3840480"/>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60" name="Text 58"/>
          <p:cNvSpPr/>
          <p:nvPr/>
        </p:nvSpPr>
        <p:spPr>
          <a:xfrm>
            <a:off x="868680" y="3840480"/>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Ô đúng cả hai đã hết dư địa: mô hình vượt trần trên 46,7% số bước</a:t>
            </a:r>
            <a:endParaRPr lang="en-US" sz="1350" dirty="0"/>
          </a:p>
        </p:txBody>
      </p:sp>
      <p:sp>
        <p:nvSpPr>
          <p:cNvPr id="61" name="Text 59"/>
          <p:cNvSpPr/>
          <p:nvPr/>
        </p:nvSpPr>
        <p:spPr>
          <a:xfrm>
            <a:off x="640080" y="4407408"/>
            <a:ext cx="201168" cy="566928"/>
          </a:xfrm>
          <a:prstGeom prst="rect">
            <a:avLst/>
          </a:prstGeom>
          <a:noFill/>
          <a:ln/>
        </p:spPr>
        <p:txBody>
          <a:bodyPr wrap="square" lIns="0" tIns="0" rIns="0" bIns="0" rtlCol="0" anchor="t"/>
          <a:lstStyle/>
          <a:p>
            <a:pPr algn="l" indent="0" marL="0">
              <a:buNone/>
            </a:pPr>
            <a:r>
              <a:rPr lang="en-US" sz="1350" b="1" dirty="0">
                <a:solidFill>
                  <a:srgbClr val="006666"/>
                </a:solidFill>
                <a:latin typeface="Cambria" pitchFamily="34" charset="0"/>
                <a:ea typeface="Cambria" pitchFamily="34" charset="-122"/>
                <a:cs typeface="Cambria" pitchFamily="34" charset="-120"/>
              </a:rPr>
              <a:t>•</a:t>
            </a:r>
            <a:endParaRPr lang="en-US" sz="1350" dirty="0"/>
          </a:p>
        </p:txBody>
      </p:sp>
      <p:sp>
        <p:nvSpPr>
          <p:cNvPr id="62" name="Text 60"/>
          <p:cNvSpPr/>
          <p:nvPr/>
        </p:nvSpPr>
        <p:spPr>
          <a:xfrm>
            <a:off x="868680" y="4407408"/>
            <a:ext cx="7635240" cy="530352"/>
          </a:xfrm>
          <a:prstGeom prst="rect">
            <a:avLst/>
          </a:prstGeom>
          <a:noFill/>
          <a:ln/>
        </p:spPr>
        <p:txBody>
          <a:bodyPr wrap="square" lIns="0" tIns="0" rIns="0" bIns="0" rtlCol="0" anchor="t"/>
          <a:lstStyle/>
          <a:p>
            <a:pPr algn="l" indent="0" marL="0">
              <a:lnSpc>
                <a:spcPct val="125000"/>
              </a:lnSpc>
              <a:buNone/>
            </a:pPr>
            <a:r>
              <a:rPr lang="en-US" sz="1350" dirty="0">
                <a:solidFill>
                  <a:srgbClr val="1A1A1A"/>
                </a:solidFill>
                <a:latin typeface="Cambria" pitchFamily="34" charset="0"/>
                <a:ea typeface="Cambria" pitchFamily="34" charset="-122"/>
                <a:cs typeface="Cambria" pitchFamily="34" charset="-120"/>
              </a:rPr>
              <a:t>Ô sai cả hai giữ 63% dư địa, mà câu chuẩn vẫn đạt 64,4 ở đó</a:t>
            </a:r>
            <a:endParaRPr lang="en-US" sz="1350" dirty="0"/>
          </a:p>
        </p:txBody>
      </p:sp>
      <p:sp>
        <p:nvSpPr>
          <p:cNvPr id="63" name="Shape 61"/>
          <p:cNvSpPr/>
          <p:nvPr/>
        </p:nvSpPr>
        <p:spPr>
          <a:xfrm>
            <a:off x="502920" y="4983480"/>
            <a:ext cx="8138160" cy="685800"/>
          </a:xfrm>
          <a:prstGeom prst="roundRect">
            <a:avLst>
              <a:gd name="adj" fmla="val 8000"/>
            </a:avLst>
          </a:prstGeom>
          <a:solidFill>
            <a:srgbClr val="E9E8EC"/>
          </a:solidFill>
          <a:ln/>
          <a:effectLst>
            <a:outerShdw sx="100000" sy="100000" kx="0" ky="0" algn="bl" rotWithShape="0" blurRad="63500" dist="31750" dir="2700000">
              <a:srgbClr val="8C8C99">
                <a:alpha val="45000"/>
              </a:srgbClr>
            </a:outerShdw>
          </a:effectLst>
        </p:spPr>
      </p:sp>
      <p:sp>
        <p:nvSpPr>
          <p:cNvPr id="64" name="Text 62"/>
          <p:cNvSpPr/>
          <p:nvPr/>
        </p:nvSpPr>
        <p:spPr>
          <a:xfrm>
            <a:off x="731520" y="4983480"/>
            <a:ext cx="7680960" cy="68580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Chặn được thiệt hại ở nhóm khai báo sai thì được +5,4 điểm.</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Bảy cơ chế chọn đã thử đều nằm trong nhiễu, nên phải sửa ở khâu huấn luyện.</a:t>
            </a:r>
            <a:endParaRPr lang="en-US" sz="1250" dirty="0"/>
          </a:p>
        </p:txBody>
      </p:sp>
      <p:sp>
        <p:nvSpPr>
          <p:cNvPr id="66" name="Shape 63"/>
          <p:cNvSpPr/>
          <p:nvPr/>
        </p:nvSpPr>
        <p:spPr>
          <a:xfrm>
            <a:off x="0" y="6620256"/>
            <a:ext cx="2743200" cy="237744"/>
          </a:xfrm>
          <a:prstGeom prst="rect">
            <a:avLst/>
          </a:prstGeom>
          <a:solidFill>
            <a:srgbClr val="191132"/>
          </a:solidFill>
          <a:ln/>
        </p:spPr>
      </p:sp>
      <p:sp>
        <p:nvSpPr>
          <p:cNvPr id="67" name="Shape 64"/>
          <p:cNvSpPr/>
          <p:nvPr/>
        </p:nvSpPr>
        <p:spPr>
          <a:xfrm>
            <a:off x="2743200" y="6620256"/>
            <a:ext cx="3383280" cy="237744"/>
          </a:xfrm>
          <a:prstGeom prst="rect">
            <a:avLst/>
          </a:prstGeom>
          <a:solidFill>
            <a:srgbClr val="25194B"/>
          </a:solidFill>
          <a:ln/>
        </p:spPr>
      </p:sp>
      <p:sp>
        <p:nvSpPr>
          <p:cNvPr id="68" name="Shape 65"/>
          <p:cNvSpPr/>
          <p:nvPr/>
        </p:nvSpPr>
        <p:spPr>
          <a:xfrm>
            <a:off x="6126480" y="6620256"/>
            <a:ext cx="1737360" cy="237744"/>
          </a:xfrm>
          <a:prstGeom prst="rect">
            <a:avLst/>
          </a:prstGeom>
          <a:solidFill>
            <a:srgbClr val="4F417A"/>
          </a:solidFill>
          <a:ln/>
        </p:spPr>
      </p:sp>
      <p:sp>
        <p:nvSpPr>
          <p:cNvPr id="69" name="Shape 66"/>
          <p:cNvSpPr/>
          <p:nvPr/>
        </p:nvSpPr>
        <p:spPr>
          <a:xfrm>
            <a:off x="7863840" y="6620256"/>
            <a:ext cx="1280160" cy="237744"/>
          </a:xfrm>
          <a:prstGeom prst="rect">
            <a:avLst/>
          </a:prstGeom>
          <a:solidFill>
            <a:srgbClr val="7A7099"/>
          </a:solidFill>
          <a:ln/>
        </p:spPr>
      </p:sp>
      <p:sp>
        <p:nvSpPr>
          <p:cNvPr id="70" name="Text 6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71" name="Text 6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72" name="Text 6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73" name="Text 7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22/29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Điểm nghẽn nằm ở tri giác, không ở diễn đạt</a:t>
            </a:r>
            <a:endParaRPr lang="en-US" sz="1900" dirty="0"/>
          </a:p>
        </p:txBody>
      </p:sp>
      <p:sp>
        <p:nvSpPr>
          <p:cNvPr id="4" name="Text 2"/>
          <p:cNvSpPr/>
          <p:nvPr/>
        </p:nvSpPr>
        <p:spPr>
          <a:xfrm>
            <a:off x="502920" y="822960"/>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Tách đường đi từ ảnh tới câu thành hai kênh đo được riêng, cùng một luật phán đúng sai (n = 4.442)</a:t>
            </a:r>
            <a:endParaRPr lang="en-US" sz="1200" dirty="0"/>
          </a:p>
        </p:txBody>
      </p:sp>
      <p:sp>
        <p:nvSpPr>
          <p:cNvPr id="5" name="Shape 3"/>
          <p:cNvSpPr/>
          <p:nvPr/>
        </p:nvSpPr>
        <p:spPr>
          <a:xfrm>
            <a:off x="502920" y="1207008"/>
            <a:ext cx="7671816" cy="411480"/>
          </a:xfrm>
          <a:prstGeom prst="rect">
            <a:avLst/>
          </a:prstGeom>
          <a:solidFill>
            <a:srgbClr val="322164"/>
          </a:solidFill>
          <a:ln/>
        </p:spPr>
      </p:sp>
      <p:sp>
        <p:nvSpPr>
          <p:cNvPr id="6" name="Text 4"/>
          <p:cNvSpPr/>
          <p:nvPr/>
        </p:nvSpPr>
        <p:spPr>
          <a:xfrm>
            <a:off x="502920" y="1207008"/>
            <a:ext cx="2286000" cy="41148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Nhóm</a:t>
            </a:r>
            <a:endParaRPr lang="en-US" sz="1200" dirty="0"/>
          </a:p>
        </p:txBody>
      </p:sp>
      <p:sp>
        <p:nvSpPr>
          <p:cNvPr id="7" name="Text 5"/>
          <p:cNvSpPr/>
          <p:nvPr/>
        </p:nvSpPr>
        <p:spPr>
          <a:xfrm>
            <a:off x="2788920" y="1207008"/>
            <a:ext cx="132588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a:t>
            </a:r>
            <a:endParaRPr lang="en-US" sz="1200" dirty="0"/>
          </a:p>
        </p:txBody>
      </p:sp>
      <p:sp>
        <p:nvSpPr>
          <p:cNvPr id="8" name="Text 6"/>
          <p:cNvSpPr/>
          <p:nvPr/>
        </p:nvSpPr>
        <p:spPr>
          <a:xfrm>
            <a:off x="4114800" y="1207008"/>
            <a:ext cx="132588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MIN-DESC</a:t>
            </a:r>
            <a:endParaRPr lang="en-US" sz="1200" dirty="0"/>
          </a:p>
        </p:txBody>
      </p:sp>
      <p:sp>
        <p:nvSpPr>
          <p:cNvPr id="9" name="Text 7"/>
          <p:cNvSpPr/>
          <p:nvPr/>
        </p:nvSpPr>
        <p:spPr>
          <a:xfrm>
            <a:off x="5440680" y="1207008"/>
            <a:ext cx="132588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S1</a:t>
            </a:r>
            <a:endParaRPr lang="en-US" sz="1200" dirty="0"/>
          </a:p>
        </p:txBody>
      </p:sp>
      <p:sp>
        <p:nvSpPr>
          <p:cNvPr id="10" name="Text 8"/>
          <p:cNvSpPr/>
          <p:nvPr/>
        </p:nvSpPr>
        <p:spPr>
          <a:xfrm>
            <a:off x="6766560" y="1207008"/>
            <a:ext cx="1408176"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Câu chuẩn</a:t>
            </a:r>
            <a:endParaRPr lang="en-US" sz="1200" dirty="0"/>
          </a:p>
        </p:txBody>
      </p:sp>
      <p:sp>
        <p:nvSpPr>
          <p:cNvPr id="11" name="Text 9"/>
          <p:cNvSpPr/>
          <p:nvPr/>
        </p:nvSpPr>
        <p:spPr>
          <a:xfrm>
            <a:off x="502920" y="1618488"/>
            <a:ext cx="2286000" cy="548640"/>
          </a:xfrm>
          <a:prstGeom prst="rect">
            <a:avLst/>
          </a:prstGeom>
          <a:noFill/>
          <a:ln/>
        </p:spPr>
        <p:txBody>
          <a:bodyPr wrap="square" lIns="38100" tIns="38100" rIns="38100" bIns="38100" rtlCol="0" anchor="ctr"/>
          <a:lstStyle/>
          <a:p>
            <a:pPr algn="l" indent="0" marL="0">
              <a:buNone/>
            </a:pPr>
            <a:r>
              <a:rPr lang="en-US" sz="1350" b="1" dirty="0">
                <a:solidFill>
                  <a:srgbClr val="006666"/>
                </a:solidFill>
                <a:latin typeface="Cambria" pitchFamily="34" charset="0"/>
                <a:ea typeface="Cambria" pitchFamily="34" charset="-122"/>
                <a:cs typeface="Cambria" pitchFamily="34" charset="-120"/>
              </a:rPr>
              <a:t>Nhìn ĐÚNG phần tử</a:t>
            </a:r>
            <a:endParaRPr lang="en-US" sz="1350" dirty="0"/>
          </a:p>
        </p:txBody>
      </p:sp>
      <p:sp>
        <p:nvSpPr>
          <p:cNvPr id="12" name="Text 10"/>
          <p:cNvSpPr/>
          <p:nvPr/>
        </p:nvSpPr>
        <p:spPr>
          <a:xfrm>
            <a:off x="2788920" y="1618488"/>
            <a:ext cx="1325880"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3.114  (70,1%)</a:t>
            </a:r>
            <a:endParaRPr lang="en-US" sz="1350" dirty="0"/>
          </a:p>
        </p:txBody>
      </p:sp>
      <p:sp>
        <p:nvSpPr>
          <p:cNvPr id="13" name="Text 11"/>
          <p:cNvSpPr/>
          <p:nvPr/>
        </p:nvSpPr>
        <p:spPr>
          <a:xfrm>
            <a:off x="4114800" y="1618488"/>
            <a:ext cx="1325880" cy="548640"/>
          </a:xfrm>
          <a:prstGeom prst="rect">
            <a:avLst/>
          </a:prstGeom>
          <a:noFill/>
          <a:ln/>
        </p:spPr>
        <p:txBody>
          <a:bodyPr wrap="square" lIns="38100" tIns="38100" rIns="38100" bIns="38100" rtlCol="0" anchor="ctr"/>
          <a:lstStyle/>
          <a:p>
            <a:pPr algn="ctr" indent="0" marL="0">
              <a:buNone/>
            </a:pPr>
            <a:r>
              <a:rPr lang="en-US" sz="1350" b="1" dirty="0">
                <a:solidFill>
                  <a:srgbClr val="1A1A1A"/>
                </a:solidFill>
                <a:latin typeface="Cambria" pitchFamily="34" charset="0"/>
                <a:ea typeface="Cambria" pitchFamily="34" charset="-122"/>
                <a:cs typeface="Cambria" pitchFamily="34" charset="-120"/>
              </a:rPr>
              <a:t>82,37</a:t>
            </a:r>
            <a:endParaRPr lang="en-US" sz="1350" dirty="0"/>
          </a:p>
        </p:txBody>
      </p:sp>
      <p:sp>
        <p:nvSpPr>
          <p:cNvPr id="14" name="Text 12"/>
          <p:cNvSpPr/>
          <p:nvPr/>
        </p:nvSpPr>
        <p:spPr>
          <a:xfrm>
            <a:off x="5440680" y="1618488"/>
            <a:ext cx="1325880"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74,18</a:t>
            </a:r>
            <a:endParaRPr lang="en-US" sz="1350" dirty="0"/>
          </a:p>
        </p:txBody>
      </p:sp>
      <p:sp>
        <p:nvSpPr>
          <p:cNvPr id="15" name="Text 13"/>
          <p:cNvSpPr/>
          <p:nvPr/>
        </p:nvSpPr>
        <p:spPr>
          <a:xfrm>
            <a:off x="6766560" y="1618488"/>
            <a:ext cx="1408176"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84,36</a:t>
            </a:r>
            <a:endParaRPr lang="en-US" sz="1350" dirty="0"/>
          </a:p>
        </p:txBody>
      </p:sp>
      <p:sp>
        <p:nvSpPr>
          <p:cNvPr id="16" name="Shape 14"/>
          <p:cNvSpPr/>
          <p:nvPr/>
        </p:nvSpPr>
        <p:spPr>
          <a:xfrm>
            <a:off x="502920" y="2167128"/>
            <a:ext cx="7671816" cy="0"/>
          </a:xfrm>
          <a:prstGeom prst="line">
            <a:avLst/>
          </a:prstGeom>
          <a:noFill/>
          <a:ln w="12700">
            <a:solidFill>
              <a:srgbClr val="9A94AE"/>
            </a:solidFill>
            <a:prstDash val="solid"/>
          </a:ln>
        </p:spPr>
      </p:sp>
      <p:sp>
        <p:nvSpPr>
          <p:cNvPr id="17" name="Text 15"/>
          <p:cNvSpPr/>
          <p:nvPr/>
        </p:nvSpPr>
        <p:spPr>
          <a:xfrm>
            <a:off x="502920" y="2167128"/>
            <a:ext cx="2286000" cy="548640"/>
          </a:xfrm>
          <a:prstGeom prst="rect">
            <a:avLst/>
          </a:prstGeom>
          <a:noFill/>
          <a:ln/>
        </p:spPr>
        <p:txBody>
          <a:bodyPr wrap="square" lIns="38100" tIns="38100" rIns="38100" bIns="3810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Nhìn SAI phần tử</a:t>
            </a:r>
            <a:endParaRPr lang="en-US" sz="1350" dirty="0"/>
          </a:p>
        </p:txBody>
      </p:sp>
      <p:sp>
        <p:nvSpPr>
          <p:cNvPr id="18" name="Text 16"/>
          <p:cNvSpPr/>
          <p:nvPr/>
        </p:nvSpPr>
        <p:spPr>
          <a:xfrm>
            <a:off x="2788920" y="2167128"/>
            <a:ext cx="1325880"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1.328  (29,9%)</a:t>
            </a:r>
            <a:endParaRPr lang="en-US" sz="1350" dirty="0"/>
          </a:p>
        </p:txBody>
      </p:sp>
      <p:sp>
        <p:nvSpPr>
          <p:cNvPr id="19" name="Text 17"/>
          <p:cNvSpPr/>
          <p:nvPr/>
        </p:nvSpPr>
        <p:spPr>
          <a:xfrm>
            <a:off x="4114800" y="2167128"/>
            <a:ext cx="1325880" cy="548640"/>
          </a:xfrm>
          <a:prstGeom prst="rect">
            <a:avLst/>
          </a:prstGeom>
          <a:noFill/>
          <a:ln/>
        </p:spPr>
        <p:txBody>
          <a:bodyPr wrap="square" lIns="38100" tIns="38100" rIns="38100" bIns="38100" rtlCol="0" anchor="ctr"/>
          <a:lstStyle/>
          <a:p>
            <a:pPr algn="ctr" indent="0" marL="0">
              <a:buNone/>
            </a:pPr>
            <a:r>
              <a:rPr lang="en-US" sz="1350" b="1" dirty="0">
                <a:solidFill>
                  <a:srgbClr val="B22222"/>
                </a:solidFill>
                <a:latin typeface="Cambria" pitchFamily="34" charset="0"/>
                <a:ea typeface="Cambria" pitchFamily="34" charset="-122"/>
                <a:cs typeface="Cambria" pitchFamily="34" charset="-120"/>
              </a:rPr>
              <a:t>8,43</a:t>
            </a:r>
            <a:endParaRPr lang="en-US" sz="1350" dirty="0"/>
          </a:p>
        </p:txBody>
      </p:sp>
      <p:sp>
        <p:nvSpPr>
          <p:cNvPr id="20" name="Text 18"/>
          <p:cNvSpPr/>
          <p:nvPr/>
        </p:nvSpPr>
        <p:spPr>
          <a:xfrm>
            <a:off x="5440680" y="2167128"/>
            <a:ext cx="1325880"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24,47</a:t>
            </a:r>
            <a:endParaRPr lang="en-US" sz="1350" dirty="0"/>
          </a:p>
        </p:txBody>
      </p:sp>
      <p:sp>
        <p:nvSpPr>
          <p:cNvPr id="21" name="Text 19"/>
          <p:cNvSpPr/>
          <p:nvPr/>
        </p:nvSpPr>
        <p:spPr>
          <a:xfrm>
            <a:off x="6766560" y="2167128"/>
            <a:ext cx="1408176" cy="548640"/>
          </a:xfrm>
          <a:prstGeom prst="rect">
            <a:avLst/>
          </a:prstGeom>
          <a:noFill/>
          <a:ln/>
        </p:spPr>
        <p:txBody>
          <a:bodyPr wrap="square" lIns="38100" tIns="38100" rIns="38100" bIns="38100" rtlCol="0" anchor="ctr"/>
          <a:lstStyle/>
          <a:p>
            <a:pPr algn="ctr" indent="0" marL="0">
              <a:buNone/>
            </a:pPr>
            <a:r>
              <a:rPr lang="en-US" sz="1350" dirty="0">
                <a:solidFill>
                  <a:srgbClr val="1A1A1A"/>
                </a:solidFill>
                <a:latin typeface="Cambria" pitchFamily="34" charset="0"/>
                <a:ea typeface="Cambria" pitchFamily="34" charset="-122"/>
                <a:cs typeface="Cambria" pitchFamily="34" charset="-120"/>
              </a:rPr>
              <a:t>55,72</a:t>
            </a:r>
            <a:endParaRPr lang="en-US" sz="1350" dirty="0"/>
          </a:p>
        </p:txBody>
      </p:sp>
      <p:sp>
        <p:nvSpPr>
          <p:cNvPr id="22" name="Text 20"/>
          <p:cNvSpPr/>
          <p:nvPr/>
        </p:nvSpPr>
        <p:spPr>
          <a:xfrm>
            <a:off x="640080" y="2880360"/>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3" name="Text 21"/>
          <p:cNvSpPr/>
          <p:nvPr/>
        </p:nvSpPr>
        <p:spPr>
          <a:xfrm>
            <a:off x="868680" y="2880360"/>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Nhóm nhìn đúng chiếm 70% số bước nhưng chỉ đóng góp </a:t>
            </a:r>
            <a:pPr algn="l" indent="0" marL="0">
              <a:lnSpc>
                <a:spcPct val="125000"/>
              </a:lnSpc>
              <a:buNone/>
            </a:pPr>
            <a:r>
              <a:rPr lang="en-US" sz="1300" b="1" dirty="0">
                <a:solidFill>
                  <a:srgbClr val="1A1A1A"/>
                </a:solidFill>
                <a:latin typeface="Cambria" pitchFamily="34" charset="0"/>
                <a:ea typeface="Cambria" pitchFamily="34" charset="-122"/>
                <a:cs typeface="Cambria" pitchFamily="34" charset="-120"/>
              </a:rPr>
              <a:t>9%</a:t>
            </a:r>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 khoảng cách so với câu chuẩn</a:t>
            </a:r>
            <a:endParaRPr lang="en-US" sz="1300" dirty="0"/>
          </a:p>
        </p:txBody>
      </p:sp>
      <p:sp>
        <p:nvSpPr>
          <p:cNvPr id="24" name="Text 22"/>
          <p:cNvSpPr/>
          <p:nvPr/>
        </p:nvSpPr>
        <p:spPr>
          <a:xfrm>
            <a:off x="640080" y="3483864"/>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5" name="Text 23"/>
          <p:cNvSpPr/>
          <p:nvPr/>
        </p:nvSpPr>
        <p:spPr>
          <a:xfrm>
            <a:off x="868680" y="3483864"/>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Nhóm nhìn sai chiếm 30% mà đóng góp </a:t>
            </a:r>
            <a:pPr algn="l" indent="0" marL="0">
              <a:lnSpc>
                <a:spcPct val="125000"/>
              </a:lnSpc>
              <a:buNone/>
            </a:pPr>
            <a:r>
              <a:rPr lang="en-US" sz="1300" b="1" dirty="0">
                <a:solidFill>
                  <a:srgbClr val="B22222"/>
                </a:solidFill>
                <a:latin typeface="Cambria" pitchFamily="34" charset="0"/>
                <a:ea typeface="Cambria" pitchFamily="34" charset="-122"/>
                <a:cs typeface="Cambria" pitchFamily="34" charset="-120"/>
              </a:rPr>
              <a:t>91%</a:t>
            </a:r>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 của khoảng cách 15,53 điểm</a:t>
            </a:r>
            <a:endParaRPr lang="en-US" sz="1300" dirty="0"/>
          </a:p>
        </p:txBody>
      </p:sp>
      <p:sp>
        <p:nvSpPr>
          <p:cNvPr id="26" name="Text 24"/>
          <p:cNvSpPr/>
          <p:nvPr/>
        </p:nvSpPr>
        <p:spPr>
          <a:xfrm>
            <a:off x="640080" y="4087368"/>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7" name="Text 25"/>
          <p:cNvSpPr/>
          <p:nvPr/>
        </p:nvSpPr>
        <p:spPr>
          <a:xfrm>
            <a:off x="868680" y="4087368"/>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Câu chuẩn cũng giảm 28,64 điểm ở nhóm khó, mô hình giảm 73,94 </a:t>
            </a:r>
            <a:pPr algn="l" indent="0" marL="0">
              <a:lnSpc>
                <a:spcPct val="125000"/>
              </a:lnSpc>
              <a:buNone/>
            </a:pPr>
            <a:r>
              <a:rPr lang="en-US" sz="1300" b="1" dirty="0">
                <a:solidFill>
                  <a:srgbClr val="990000"/>
                </a:solidFill>
                <a:latin typeface="Cambria" pitchFamily="34" charset="0"/>
                <a:ea typeface="Cambria" pitchFamily="34" charset="-122"/>
                <a:cs typeface="Cambria" pitchFamily="34" charset="-120"/>
              </a:rPr>
              <a:t>⇒ thiếu hụt riêng +45,30</a:t>
            </a:r>
            <a:endParaRPr lang="en-US" sz="1300" dirty="0"/>
          </a:p>
        </p:txBody>
      </p:sp>
      <p:sp>
        <p:nvSpPr>
          <p:cNvPr id="28" name="Shape 26"/>
          <p:cNvSpPr/>
          <p:nvPr/>
        </p:nvSpPr>
        <p:spPr>
          <a:xfrm>
            <a:off x="502920" y="489204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29" name="Text 27"/>
          <p:cNvSpPr/>
          <p:nvPr/>
        </p:nvSpPr>
        <p:spPr>
          <a:xfrm>
            <a:off x="731520" y="4892040"/>
            <a:ext cx="7680960" cy="777240"/>
          </a:xfrm>
          <a:prstGeom prst="rect">
            <a:avLst/>
          </a:prstGeom>
          <a:noFill/>
          <a:ln/>
        </p:spPr>
        <p:txBody>
          <a:bodyPr wrap="square" lIns="0" tIns="0" rIns="0" bIns="0" rtlCol="0" anchor="ctr"/>
          <a:lstStyle/>
          <a:p>
            <a:pPr algn="l" indent="0" marL="0">
              <a:lnSpc>
                <a:spcPct val="135000"/>
              </a:lnSpc>
              <a:buNone/>
            </a:pPr>
            <a:r>
              <a:rPr lang="en-US" sz="1250" b="1" dirty="0">
                <a:solidFill>
                  <a:srgbClr val="322164"/>
                </a:solidFill>
                <a:latin typeface="Cambria" pitchFamily="34" charset="0"/>
                <a:ea typeface="Cambria" pitchFamily="34" charset="-122"/>
                <a:cs typeface="Cambria" pitchFamily="34" charset="-120"/>
              </a:rPr>
              <a:t>Năm can thiệp đã đo đều đặt ở tầng khai báo và ngôn ngữ.</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Không can thiệp nào chạm tới tầng bị nghẽn.</a:t>
            </a:r>
            <a:endParaRPr lang="en-US" sz="1250" dirty="0"/>
          </a:p>
        </p:txBody>
      </p:sp>
      <p:sp>
        <p:nvSpPr>
          <p:cNvPr id="31" name="Shape 28"/>
          <p:cNvSpPr/>
          <p:nvPr/>
        </p:nvSpPr>
        <p:spPr>
          <a:xfrm>
            <a:off x="0" y="6620256"/>
            <a:ext cx="2743200" cy="237744"/>
          </a:xfrm>
          <a:prstGeom prst="rect">
            <a:avLst/>
          </a:prstGeom>
          <a:solidFill>
            <a:srgbClr val="191132"/>
          </a:solidFill>
          <a:ln/>
        </p:spPr>
      </p:sp>
      <p:sp>
        <p:nvSpPr>
          <p:cNvPr id="32" name="Shape 29"/>
          <p:cNvSpPr/>
          <p:nvPr/>
        </p:nvSpPr>
        <p:spPr>
          <a:xfrm>
            <a:off x="2743200" y="6620256"/>
            <a:ext cx="3383280" cy="237744"/>
          </a:xfrm>
          <a:prstGeom prst="rect">
            <a:avLst/>
          </a:prstGeom>
          <a:solidFill>
            <a:srgbClr val="25194B"/>
          </a:solidFill>
          <a:ln/>
        </p:spPr>
      </p:sp>
      <p:sp>
        <p:nvSpPr>
          <p:cNvPr id="33" name="Shape 30"/>
          <p:cNvSpPr/>
          <p:nvPr/>
        </p:nvSpPr>
        <p:spPr>
          <a:xfrm>
            <a:off x="6126480" y="6620256"/>
            <a:ext cx="1737360" cy="237744"/>
          </a:xfrm>
          <a:prstGeom prst="rect">
            <a:avLst/>
          </a:prstGeom>
          <a:solidFill>
            <a:srgbClr val="4F417A"/>
          </a:solidFill>
          <a:ln/>
        </p:spPr>
      </p:sp>
      <p:sp>
        <p:nvSpPr>
          <p:cNvPr id="34" name="Shape 31"/>
          <p:cNvSpPr/>
          <p:nvPr/>
        </p:nvSpPr>
        <p:spPr>
          <a:xfrm>
            <a:off x="7863840" y="6620256"/>
            <a:ext cx="1280160" cy="237744"/>
          </a:xfrm>
          <a:prstGeom prst="rect">
            <a:avLst/>
          </a:prstGeom>
          <a:solidFill>
            <a:srgbClr val="7A7099"/>
          </a:solidFill>
          <a:ln/>
        </p:spPr>
      </p:sp>
      <p:sp>
        <p:nvSpPr>
          <p:cNvPr id="35" name="Text 3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6" name="Text 3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7"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8"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23/29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Sửa được tri giác vẫn phải đi qua tầng sinh câu</a:t>
            </a:r>
            <a:endParaRPr lang="en-US" sz="1900" dirty="0"/>
          </a:p>
        </p:txBody>
      </p:sp>
      <p:sp>
        <p:nvSpPr>
          <p:cNvPr id="4" name="Text 2"/>
          <p:cNvSpPr/>
          <p:nvPr/>
        </p:nvSpPr>
        <p:spPr>
          <a:xfrm>
            <a:off x="502920" y="822960"/>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Chặng ba là can thiệp duy nhất đặt phần thưởng thẳng lên ô toạ độ, nên đo được mức truyền (n = 4.437)</a:t>
            </a:r>
            <a:endParaRPr lang="en-US" sz="1200" dirty="0"/>
          </a:p>
        </p:txBody>
      </p:sp>
      <p:sp>
        <p:nvSpPr>
          <p:cNvPr id="5" name="Shape 3"/>
          <p:cNvSpPr/>
          <p:nvPr/>
        </p:nvSpPr>
        <p:spPr>
          <a:xfrm>
            <a:off x="502920" y="1207008"/>
            <a:ext cx="7671816" cy="411480"/>
          </a:xfrm>
          <a:prstGeom prst="rect">
            <a:avLst/>
          </a:prstGeom>
          <a:solidFill>
            <a:srgbClr val="322164"/>
          </a:solidFill>
          <a:ln/>
        </p:spPr>
      </p:sp>
      <p:sp>
        <p:nvSpPr>
          <p:cNvPr id="6" name="Text 4"/>
          <p:cNvSpPr/>
          <p:nvPr/>
        </p:nvSpPr>
        <p:spPr>
          <a:xfrm>
            <a:off x="502920" y="1207008"/>
            <a:ext cx="2743200" cy="411480"/>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Ô chéo giữa chặng hai và chặng ba</a:t>
            </a:r>
            <a:endParaRPr lang="en-US" sz="1150" dirty="0"/>
          </a:p>
        </p:txBody>
      </p:sp>
      <p:sp>
        <p:nvSpPr>
          <p:cNvPr id="7" name="Text 5"/>
          <p:cNvSpPr/>
          <p:nvPr/>
        </p:nvSpPr>
        <p:spPr>
          <a:xfrm>
            <a:off x="3246120" y="1207008"/>
            <a:ext cx="137160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a:t>
            </a:r>
            <a:endParaRPr lang="en-US" sz="1150" dirty="0"/>
          </a:p>
        </p:txBody>
      </p:sp>
      <p:sp>
        <p:nvSpPr>
          <p:cNvPr id="8" name="Text 6"/>
          <p:cNvSpPr/>
          <p:nvPr/>
        </p:nvSpPr>
        <p:spPr>
          <a:xfrm>
            <a:off x="4617720" y="1207008"/>
            <a:ext cx="141732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MIN-DESC</a:t>
            </a:r>
            <a:endParaRPr lang="en-US" sz="1150" dirty="0"/>
          </a:p>
        </p:txBody>
      </p:sp>
      <p:sp>
        <p:nvSpPr>
          <p:cNvPr id="9" name="Text 7"/>
          <p:cNvSpPr/>
          <p:nvPr/>
        </p:nvSpPr>
        <p:spPr>
          <a:xfrm>
            <a:off x="6035040" y="1207008"/>
            <a:ext cx="141732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Chặng ba</a:t>
            </a:r>
            <a:endParaRPr lang="en-US" sz="1150" dirty="0"/>
          </a:p>
        </p:txBody>
      </p:sp>
      <p:sp>
        <p:nvSpPr>
          <p:cNvPr id="10" name="Text 8"/>
          <p:cNvSpPr/>
          <p:nvPr/>
        </p:nvSpPr>
        <p:spPr>
          <a:xfrm>
            <a:off x="7452360" y="1207008"/>
            <a:ext cx="722376"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Chênh</a:t>
            </a:r>
            <a:endParaRPr lang="en-US" sz="1150" dirty="0"/>
          </a:p>
        </p:txBody>
      </p:sp>
      <p:sp>
        <p:nvSpPr>
          <p:cNvPr id="11" name="Text 9"/>
          <p:cNvSpPr/>
          <p:nvPr/>
        </p:nvSpPr>
        <p:spPr>
          <a:xfrm>
            <a:off x="502920" y="1618488"/>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giữ đúng</a:t>
            </a:r>
            <a:endParaRPr lang="en-US" sz="1200" dirty="0"/>
          </a:p>
        </p:txBody>
      </p:sp>
      <p:sp>
        <p:nvSpPr>
          <p:cNvPr id="12" name="Text 10"/>
          <p:cNvSpPr/>
          <p:nvPr/>
        </p:nvSpPr>
        <p:spPr>
          <a:xfrm>
            <a:off x="3246120" y="1618488"/>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2.997</a:t>
            </a:r>
            <a:endParaRPr lang="en-US" sz="1200" dirty="0"/>
          </a:p>
        </p:txBody>
      </p:sp>
      <p:sp>
        <p:nvSpPr>
          <p:cNvPr id="13" name="Text 11"/>
          <p:cNvSpPr/>
          <p:nvPr/>
        </p:nvSpPr>
        <p:spPr>
          <a:xfrm>
            <a:off x="4617720" y="1618488"/>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83,08</a:t>
            </a:r>
            <a:endParaRPr lang="en-US" sz="1200" dirty="0"/>
          </a:p>
        </p:txBody>
      </p:sp>
      <p:sp>
        <p:nvSpPr>
          <p:cNvPr id="14" name="Text 12"/>
          <p:cNvSpPr/>
          <p:nvPr/>
        </p:nvSpPr>
        <p:spPr>
          <a:xfrm>
            <a:off x="6035040" y="1618488"/>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82,95</a:t>
            </a:r>
            <a:endParaRPr lang="en-US" sz="1200" dirty="0"/>
          </a:p>
        </p:txBody>
      </p:sp>
      <p:sp>
        <p:nvSpPr>
          <p:cNvPr id="15" name="Text 13"/>
          <p:cNvSpPr/>
          <p:nvPr/>
        </p:nvSpPr>
        <p:spPr>
          <a:xfrm>
            <a:off x="7452360" y="1618488"/>
            <a:ext cx="722376"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−0,13</a:t>
            </a:r>
            <a:endParaRPr lang="en-US" sz="1200" dirty="0"/>
          </a:p>
        </p:txBody>
      </p:sp>
      <p:sp>
        <p:nvSpPr>
          <p:cNvPr id="16" name="Shape 14"/>
          <p:cNvSpPr/>
          <p:nvPr/>
        </p:nvSpPr>
        <p:spPr>
          <a:xfrm>
            <a:off x="502920" y="1984248"/>
            <a:ext cx="7671816" cy="0"/>
          </a:xfrm>
          <a:prstGeom prst="line">
            <a:avLst/>
          </a:prstGeom>
          <a:noFill/>
          <a:ln w="12700">
            <a:solidFill>
              <a:srgbClr val="9A94AE"/>
            </a:solidFill>
            <a:prstDash val="solid"/>
          </a:ln>
        </p:spPr>
      </p:sp>
      <p:sp>
        <p:nvSpPr>
          <p:cNvPr id="17" name="Text 15"/>
          <p:cNvSpPr/>
          <p:nvPr/>
        </p:nvSpPr>
        <p:spPr>
          <a:xfrm>
            <a:off x="502920" y="1984248"/>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giữ sai</a:t>
            </a:r>
            <a:endParaRPr lang="en-US" sz="1200" dirty="0"/>
          </a:p>
        </p:txBody>
      </p:sp>
      <p:sp>
        <p:nvSpPr>
          <p:cNvPr id="18" name="Text 16"/>
          <p:cNvSpPr/>
          <p:nvPr/>
        </p:nvSpPr>
        <p:spPr>
          <a:xfrm>
            <a:off x="3246120" y="1984248"/>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1.143</a:t>
            </a:r>
            <a:endParaRPr lang="en-US" sz="1200" dirty="0"/>
          </a:p>
        </p:txBody>
      </p:sp>
      <p:sp>
        <p:nvSpPr>
          <p:cNvPr id="19" name="Text 17"/>
          <p:cNvSpPr/>
          <p:nvPr/>
        </p:nvSpPr>
        <p:spPr>
          <a:xfrm>
            <a:off x="4617720" y="1984248"/>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6,91</a:t>
            </a:r>
            <a:endParaRPr lang="en-US" sz="1200" dirty="0"/>
          </a:p>
        </p:txBody>
      </p:sp>
      <p:sp>
        <p:nvSpPr>
          <p:cNvPr id="20" name="Text 18"/>
          <p:cNvSpPr/>
          <p:nvPr/>
        </p:nvSpPr>
        <p:spPr>
          <a:xfrm>
            <a:off x="6035040" y="1984248"/>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6,30</a:t>
            </a:r>
            <a:endParaRPr lang="en-US" sz="1200" dirty="0"/>
          </a:p>
        </p:txBody>
      </p:sp>
      <p:sp>
        <p:nvSpPr>
          <p:cNvPr id="21" name="Text 19"/>
          <p:cNvSpPr/>
          <p:nvPr/>
        </p:nvSpPr>
        <p:spPr>
          <a:xfrm>
            <a:off x="7452360" y="1984248"/>
            <a:ext cx="722376"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−0,61</a:t>
            </a:r>
            <a:endParaRPr lang="en-US" sz="1200" dirty="0"/>
          </a:p>
        </p:txBody>
      </p:sp>
      <p:sp>
        <p:nvSpPr>
          <p:cNvPr id="22" name="Shape 20"/>
          <p:cNvSpPr/>
          <p:nvPr/>
        </p:nvSpPr>
        <p:spPr>
          <a:xfrm>
            <a:off x="502920" y="2350008"/>
            <a:ext cx="7671816" cy="0"/>
          </a:xfrm>
          <a:prstGeom prst="line">
            <a:avLst/>
          </a:prstGeom>
          <a:noFill/>
          <a:ln w="12700">
            <a:solidFill>
              <a:srgbClr val="9A94AE"/>
            </a:solidFill>
            <a:prstDash val="solid"/>
          </a:ln>
        </p:spPr>
      </p:sp>
      <p:sp>
        <p:nvSpPr>
          <p:cNvPr id="23" name="Text 21"/>
          <p:cNvSpPr/>
          <p:nvPr/>
        </p:nvSpPr>
        <p:spPr>
          <a:xfrm>
            <a:off x="502920" y="2350008"/>
            <a:ext cx="2743200" cy="420624"/>
          </a:xfrm>
          <a:prstGeom prst="rect">
            <a:avLst/>
          </a:prstGeom>
          <a:noFill/>
          <a:ln/>
        </p:spPr>
        <p:txBody>
          <a:bodyPr wrap="square" lIns="38100" tIns="38100" rIns="38100" bIns="38100" rtlCol="0" anchor="ctr"/>
          <a:lstStyle/>
          <a:p>
            <a:pPr algn="l" indent="0" marL="0">
              <a:buNone/>
            </a:pPr>
            <a:r>
              <a:rPr lang="en-US" sz="1200" dirty="0">
                <a:solidFill>
                  <a:srgbClr val="006666"/>
                </a:solidFill>
                <a:latin typeface="Cambria" pitchFamily="34" charset="0"/>
                <a:ea typeface="Cambria" pitchFamily="34" charset="-122"/>
                <a:cs typeface="Cambria" pitchFamily="34" charset="-120"/>
              </a:rPr>
              <a:t>sai chuyển thành đúng</a:t>
            </a:r>
            <a:endParaRPr lang="en-US" sz="1200" dirty="0"/>
          </a:p>
        </p:txBody>
      </p:sp>
      <p:sp>
        <p:nvSpPr>
          <p:cNvPr id="24" name="Text 22"/>
          <p:cNvSpPr/>
          <p:nvPr/>
        </p:nvSpPr>
        <p:spPr>
          <a:xfrm>
            <a:off x="3246120" y="2350008"/>
            <a:ext cx="1371600" cy="42062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184</a:t>
            </a:r>
            <a:endParaRPr lang="en-US" sz="1200" dirty="0"/>
          </a:p>
        </p:txBody>
      </p:sp>
      <p:sp>
        <p:nvSpPr>
          <p:cNvPr id="25" name="Text 23"/>
          <p:cNvSpPr/>
          <p:nvPr/>
        </p:nvSpPr>
        <p:spPr>
          <a:xfrm>
            <a:off x="4617720" y="2350008"/>
            <a:ext cx="1417320" cy="42062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17,93</a:t>
            </a:r>
            <a:endParaRPr lang="en-US" sz="1200" dirty="0"/>
          </a:p>
        </p:txBody>
      </p:sp>
      <p:sp>
        <p:nvSpPr>
          <p:cNvPr id="26" name="Text 24"/>
          <p:cNvSpPr/>
          <p:nvPr/>
        </p:nvSpPr>
        <p:spPr>
          <a:xfrm>
            <a:off x="6035040" y="2350008"/>
            <a:ext cx="1417320" cy="420624"/>
          </a:xfrm>
          <a:prstGeom prst="rect">
            <a:avLst/>
          </a:prstGeom>
          <a:noFill/>
          <a:ln/>
        </p:spPr>
        <p:txBody>
          <a:bodyPr wrap="square" lIns="38100" tIns="38100" rIns="38100" bIns="38100" rtlCol="0" anchor="ctr"/>
          <a:lstStyle/>
          <a:p>
            <a:pPr algn="ctr" indent="0" marL="0">
              <a:buNone/>
            </a:pPr>
            <a:r>
              <a:rPr lang="en-US" sz="1200" b="1" dirty="0">
                <a:solidFill>
                  <a:srgbClr val="006666"/>
                </a:solidFill>
                <a:latin typeface="Cambria" pitchFamily="34" charset="0"/>
                <a:ea typeface="Cambria" pitchFamily="34" charset="-122"/>
                <a:cs typeface="Cambria" pitchFamily="34" charset="-120"/>
              </a:rPr>
              <a:t>58,15</a:t>
            </a:r>
            <a:endParaRPr lang="en-US" sz="1200" dirty="0"/>
          </a:p>
        </p:txBody>
      </p:sp>
      <p:sp>
        <p:nvSpPr>
          <p:cNvPr id="27" name="Text 25"/>
          <p:cNvSpPr/>
          <p:nvPr/>
        </p:nvSpPr>
        <p:spPr>
          <a:xfrm>
            <a:off x="7452360" y="2350008"/>
            <a:ext cx="722376" cy="420624"/>
          </a:xfrm>
          <a:prstGeom prst="rect">
            <a:avLst/>
          </a:prstGeom>
          <a:noFill/>
          <a:ln/>
        </p:spPr>
        <p:txBody>
          <a:bodyPr wrap="square" lIns="38100" tIns="38100" rIns="38100" bIns="38100" rtlCol="0" anchor="ctr"/>
          <a:lstStyle/>
          <a:p>
            <a:pPr algn="ctr" indent="0" marL="0">
              <a:buNone/>
            </a:pPr>
            <a:r>
              <a:rPr lang="en-US" sz="1200" b="1" dirty="0">
                <a:solidFill>
                  <a:srgbClr val="006666"/>
                </a:solidFill>
                <a:latin typeface="Cambria" pitchFamily="34" charset="0"/>
                <a:ea typeface="Cambria" pitchFamily="34" charset="-122"/>
                <a:cs typeface="Cambria" pitchFamily="34" charset="-120"/>
              </a:rPr>
              <a:t>+40,22</a:t>
            </a:r>
            <a:endParaRPr lang="en-US" sz="1200" dirty="0"/>
          </a:p>
        </p:txBody>
      </p:sp>
      <p:sp>
        <p:nvSpPr>
          <p:cNvPr id="28" name="Shape 26"/>
          <p:cNvSpPr/>
          <p:nvPr/>
        </p:nvSpPr>
        <p:spPr>
          <a:xfrm>
            <a:off x="502920" y="2770632"/>
            <a:ext cx="7671816" cy="0"/>
          </a:xfrm>
          <a:prstGeom prst="line">
            <a:avLst/>
          </a:prstGeom>
          <a:noFill/>
          <a:ln w="12700">
            <a:solidFill>
              <a:srgbClr val="9A94AE"/>
            </a:solidFill>
            <a:prstDash val="solid"/>
          </a:ln>
        </p:spPr>
      </p:sp>
      <p:sp>
        <p:nvSpPr>
          <p:cNvPr id="29" name="Text 27"/>
          <p:cNvSpPr/>
          <p:nvPr/>
        </p:nvSpPr>
        <p:spPr>
          <a:xfrm>
            <a:off x="502920" y="2770632"/>
            <a:ext cx="2743200" cy="420624"/>
          </a:xfrm>
          <a:prstGeom prst="rect">
            <a:avLst/>
          </a:prstGeom>
          <a:noFill/>
          <a:ln/>
        </p:spPr>
        <p:txBody>
          <a:bodyPr wrap="square" lIns="38100" tIns="38100" rIns="38100" bIns="38100" rtlCol="0" anchor="ctr"/>
          <a:lstStyle/>
          <a:p>
            <a:pPr algn="l" indent="0" marL="0">
              <a:buNone/>
            </a:pPr>
            <a:r>
              <a:rPr lang="en-US" sz="1200" dirty="0">
                <a:solidFill>
                  <a:srgbClr val="B22222"/>
                </a:solidFill>
                <a:latin typeface="Cambria" pitchFamily="34" charset="0"/>
                <a:ea typeface="Cambria" pitchFamily="34" charset="-122"/>
                <a:cs typeface="Cambria" pitchFamily="34" charset="-120"/>
              </a:rPr>
              <a:t>đúng chuyển thành sai</a:t>
            </a:r>
            <a:endParaRPr lang="en-US" sz="1200" dirty="0"/>
          </a:p>
        </p:txBody>
      </p:sp>
      <p:sp>
        <p:nvSpPr>
          <p:cNvPr id="30" name="Text 28"/>
          <p:cNvSpPr/>
          <p:nvPr/>
        </p:nvSpPr>
        <p:spPr>
          <a:xfrm>
            <a:off x="3246120" y="2770632"/>
            <a:ext cx="1371600" cy="42062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113</a:t>
            </a:r>
            <a:endParaRPr lang="en-US" sz="1200" dirty="0"/>
          </a:p>
        </p:txBody>
      </p:sp>
      <p:sp>
        <p:nvSpPr>
          <p:cNvPr id="31" name="Text 29"/>
          <p:cNvSpPr/>
          <p:nvPr/>
        </p:nvSpPr>
        <p:spPr>
          <a:xfrm>
            <a:off x="4617720" y="2770632"/>
            <a:ext cx="1417320" cy="42062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62,83</a:t>
            </a:r>
            <a:endParaRPr lang="en-US" sz="1200" dirty="0"/>
          </a:p>
        </p:txBody>
      </p:sp>
      <p:sp>
        <p:nvSpPr>
          <p:cNvPr id="32" name="Text 30"/>
          <p:cNvSpPr/>
          <p:nvPr/>
        </p:nvSpPr>
        <p:spPr>
          <a:xfrm>
            <a:off x="6035040" y="2770632"/>
            <a:ext cx="1417320" cy="420624"/>
          </a:xfrm>
          <a:prstGeom prst="rect">
            <a:avLst/>
          </a:prstGeom>
          <a:noFill/>
          <a:ln/>
        </p:spPr>
        <p:txBody>
          <a:bodyPr wrap="square" lIns="38100" tIns="38100" rIns="38100" bIns="38100" rtlCol="0" anchor="ctr"/>
          <a:lstStyle/>
          <a:p>
            <a:pPr algn="ctr" indent="0" marL="0">
              <a:buNone/>
            </a:pPr>
            <a:r>
              <a:rPr lang="en-US" sz="1200" b="1" dirty="0">
                <a:solidFill>
                  <a:srgbClr val="B22222"/>
                </a:solidFill>
                <a:latin typeface="Cambria" pitchFamily="34" charset="0"/>
                <a:ea typeface="Cambria" pitchFamily="34" charset="-122"/>
                <a:cs typeface="Cambria" pitchFamily="34" charset="-120"/>
              </a:rPr>
              <a:t>8,85</a:t>
            </a:r>
            <a:endParaRPr lang="en-US" sz="1200" dirty="0"/>
          </a:p>
        </p:txBody>
      </p:sp>
      <p:sp>
        <p:nvSpPr>
          <p:cNvPr id="33" name="Text 31"/>
          <p:cNvSpPr/>
          <p:nvPr/>
        </p:nvSpPr>
        <p:spPr>
          <a:xfrm>
            <a:off x="7452360" y="2770632"/>
            <a:ext cx="722376" cy="420624"/>
          </a:xfrm>
          <a:prstGeom prst="rect">
            <a:avLst/>
          </a:prstGeom>
          <a:noFill/>
          <a:ln/>
        </p:spPr>
        <p:txBody>
          <a:bodyPr wrap="square" lIns="38100" tIns="38100" rIns="38100" bIns="38100" rtlCol="0" anchor="ctr"/>
          <a:lstStyle/>
          <a:p>
            <a:pPr algn="ctr" indent="0" marL="0">
              <a:buNone/>
            </a:pPr>
            <a:r>
              <a:rPr lang="en-US" sz="1200" b="1" dirty="0">
                <a:solidFill>
                  <a:srgbClr val="B22222"/>
                </a:solidFill>
                <a:latin typeface="Cambria" pitchFamily="34" charset="0"/>
                <a:ea typeface="Cambria" pitchFamily="34" charset="-122"/>
                <a:cs typeface="Cambria" pitchFamily="34" charset="-120"/>
              </a:rPr>
              <a:t>−53,98</a:t>
            </a:r>
            <a:endParaRPr lang="en-US" sz="1200" dirty="0"/>
          </a:p>
        </p:txBody>
      </p:sp>
      <p:sp>
        <p:nvSpPr>
          <p:cNvPr id="34" name="Text 32"/>
          <p:cNvSpPr/>
          <p:nvPr/>
        </p:nvSpPr>
        <p:spPr>
          <a:xfrm>
            <a:off x="640080" y="3337560"/>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35" name="Text 33"/>
          <p:cNvSpPr/>
          <p:nvPr/>
        </p:nvSpPr>
        <p:spPr>
          <a:xfrm>
            <a:off x="868680" y="3337560"/>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Kênh tri giác lên 1,60 điểm nhưng thực thi chỉ lên 0,045 </a:t>
            </a:r>
            <a:pPr algn="l" indent="0" marL="0">
              <a:lnSpc>
                <a:spcPct val="125000"/>
              </a:lnSpc>
              <a:buNone/>
            </a:pPr>
            <a:r>
              <a:rPr lang="en-US" sz="1300" b="1" dirty="0">
                <a:solidFill>
                  <a:srgbClr val="990000"/>
                </a:solidFill>
                <a:latin typeface="Cambria" pitchFamily="34" charset="0"/>
                <a:ea typeface="Cambria" pitchFamily="34" charset="-122"/>
                <a:cs typeface="Cambria" pitchFamily="34" charset="-120"/>
              </a:rPr>
              <a:t>⇒ mức truyền 0,028</a:t>
            </a:r>
            <a:endParaRPr lang="en-US" sz="1300" dirty="0"/>
          </a:p>
        </p:txBody>
      </p:sp>
      <p:sp>
        <p:nvSpPr>
          <p:cNvPr id="36" name="Text 34"/>
          <p:cNvSpPr/>
          <p:nvPr/>
        </p:nvSpPr>
        <p:spPr>
          <a:xfrm>
            <a:off x="640080" y="3904488"/>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37" name="Text 35"/>
          <p:cNvSpPr/>
          <p:nvPr/>
        </p:nvSpPr>
        <p:spPr>
          <a:xfrm>
            <a:off x="868680" y="3904488"/>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Sửa 184 bước với mức lợi 40 điểm, làm sai 113 bước với mức thiệt 54 điểm: hai chiều triệt tiêu</a:t>
            </a:r>
            <a:endParaRPr lang="en-US" sz="1300" dirty="0"/>
          </a:p>
        </p:txBody>
      </p:sp>
      <p:sp>
        <p:nvSpPr>
          <p:cNvPr id="38" name="Text 36"/>
          <p:cNvSpPr/>
          <p:nvPr/>
        </p:nvSpPr>
        <p:spPr>
          <a:xfrm>
            <a:off x="640080" y="4471416"/>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39" name="Text 37"/>
          <p:cNvSpPr/>
          <p:nvPr/>
        </p:nvSpPr>
        <p:spPr>
          <a:xfrm>
            <a:off x="868680" y="4471416"/>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Muốn vượt ngưỡng phát hiện cần 243 bước sửa mà không kèm bước nào bị làm sai, tức 18,3% nhóm nhìn sai</a:t>
            </a:r>
            <a:endParaRPr lang="en-US" sz="1300" dirty="0"/>
          </a:p>
        </p:txBody>
      </p:sp>
      <p:sp>
        <p:nvSpPr>
          <p:cNvPr id="40" name="Shape 38"/>
          <p:cNvSpPr/>
          <p:nvPr/>
        </p:nvSpPr>
        <p:spPr>
          <a:xfrm>
            <a:off x="502920" y="5120640"/>
            <a:ext cx="8138160" cy="640080"/>
          </a:xfrm>
          <a:prstGeom prst="roundRect">
            <a:avLst>
              <a:gd name="adj" fmla="val 8571"/>
            </a:avLst>
          </a:prstGeom>
          <a:solidFill>
            <a:srgbClr val="E9E8EC"/>
          </a:solidFill>
          <a:ln/>
          <a:effectLst>
            <a:outerShdw sx="100000" sy="100000" kx="0" ky="0" algn="bl" rotWithShape="0" blurRad="63500" dist="31750" dir="2700000">
              <a:srgbClr val="8C8C99">
                <a:alpha val="45000"/>
              </a:srgbClr>
            </a:outerShdw>
          </a:effectLst>
        </p:spPr>
      </p:sp>
      <p:sp>
        <p:nvSpPr>
          <p:cNvPr id="41" name="Text 39"/>
          <p:cNvSpPr/>
          <p:nvPr/>
        </p:nvSpPr>
        <p:spPr>
          <a:xfrm>
            <a:off x="731520" y="5120640"/>
            <a:ext cx="7680960" cy="640080"/>
          </a:xfrm>
          <a:prstGeom prst="rect">
            <a:avLst/>
          </a:prstGeom>
          <a:noFill/>
          <a:ln/>
        </p:spPr>
        <p:txBody>
          <a:bodyPr wrap="square" lIns="0" tIns="0" rIns="0" bIns="0" rtlCol="0" anchor="ctr"/>
          <a:lstStyle/>
          <a:p>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Tương quan giữa các nhánh là 0,739, gấp 26 lần mức truyền thật.</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Nó không phải hệ số quy đổi.</a:t>
            </a:r>
            <a:endParaRPr lang="en-US" sz="1250" dirty="0"/>
          </a:p>
        </p:txBody>
      </p:sp>
      <p:sp>
        <p:nvSpPr>
          <p:cNvPr id="43" name="Shape 40"/>
          <p:cNvSpPr/>
          <p:nvPr/>
        </p:nvSpPr>
        <p:spPr>
          <a:xfrm>
            <a:off x="0" y="6620256"/>
            <a:ext cx="2743200" cy="237744"/>
          </a:xfrm>
          <a:prstGeom prst="rect">
            <a:avLst/>
          </a:prstGeom>
          <a:solidFill>
            <a:srgbClr val="191132"/>
          </a:solidFill>
          <a:ln/>
        </p:spPr>
      </p:sp>
      <p:sp>
        <p:nvSpPr>
          <p:cNvPr id="44" name="Shape 41"/>
          <p:cNvSpPr/>
          <p:nvPr/>
        </p:nvSpPr>
        <p:spPr>
          <a:xfrm>
            <a:off x="2743200" y="6620256"/>
            <a:ext cx="3383280" cy="237744"/>
          </a:xfrm>
          <a:prstGeom prst="rect">
            <a:avLst/>
          </a:prstGeom>
          <a:solidFill>
            <a:srgbClr val="25194B"/>
          </a:solidFill>
          <a:ln/>
        </p:spPr>
      </p:sp>
      <p:sp>
        <p:nvSpPr>
          <p:cNvPr id="45" name="Shape 42"/>
          <p:cNvSpPr/>
          <p:nvPr/>
        </p:nvSpPr>
        <p:spPr>
          <a:xfrm>
            <a:off x="6126480" y="6620256"/>
            <a:ext cx="1737360" cy="237744"/>
          </a:xfrm>
          <a:prstGeom prst="rect">
            <a:avLst/>
          </a:prstGeom>
          <a:solidFill>
            <a:srgbClr val="4F417A"/>
          </a:solidFill>
          <a:ln/>
        </p:spPr>
      </p:sp>
      <p:sp>
        <p:nvSpPr>
          <p:cNvPr id="46" name="Shape 43"/>
          <p:cNvSpPr/>
          <p:nvPr/>
        </p:nvSpPr>
        <p:spPr>
          <a:xfrm>
            <a:off x="7863840" y="6620256"/>
            <a:ext cx="1280160" cy="237744"/>
          </a:xfrm>
          <a:prstGeom prst="rect">
            <a:avLst/>
          </a:prstGeom>
          <a:solidFill>
            <a:srgbClr val="7A7099"/>
          </a:solidFill>
          <a:ln/>
        </p:spPr>
      </p:sp>
      <p:sp>
        <p:nvSpPr>
          <p:cNvPr id="47" name="Text 4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8" name="Text 4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9" name="Text 4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0" name="Text 4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24/29</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 · Nhánh ứng viên: cơ chế chọn đúng, điểm nghẽn là bỏ cuộc quá mức</a:t>
            </a:r>
            <a:endParaRPr lang="en-US" sz="1900" dirty="0"/>
          </a:p>
        </p:txBody>
      </p:sp>
      <p:sp>
        <p:nvSpPr>
          <p:cNvPr id="4" name="Text 2"/>
          <p:cNvSpPr/>
          <p:nvPr/>
        </p:nvSpPr>
        <p:spPr>
          <a:xfrm>
            <a:off x="502920" y="777240"/>
            <a:ext cx="8138160" cy="6400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Ô khai báo đổi từ sinh tự do sang chọn một dòng trong danh sách tối đa 40 ứng viên của chính màn hình. Không đạt ngưỡng dừng: độ chính xác chọn 57,5% so với ngưỡng 63,6%. Executability 56,1% [54,5 ; 58,0].</a:t>
            </a:r>
            <a:endParaRPr lang="en-US" sz="1250" dirty="0"/>
          </a:p>
        </p:txBody>
      </p:sp>
      <p:sp>
        <p:nvSpPr>
          <p:cNvPr id="5" name="Text 3"/>
          <p:cNvSpPr/>
          <p:nvPr/>
        </p:nvSpPr>
        <p:spPr>
          <a:xfrm>
            <a:off x="502920" y="1463040"/>
            <a:ext cx="475488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Chia theo việc danh sách có đáp án và mô hình có đưa ra lựa chọn hay không</a:t>
            </a:r>
            <a:endParaRPr lang="en-US" sz="1250" dirty="0"/>
          </a:p>
        </p:txBody>
      </p:sp>
      <p:sp>
        <p:nvSpPr>
          <p:cNvPr id="6" name="Shape 4"/>
          <p:cNvSpPr/>
          <p:nvPr/>
        </p:nvSpPr>
        <p:spPr>
          <a:xfrm>
            <a:off x="502920" y="1783080"/>
            <a:ext cx="4754880" cy="347472"/>
          </a:xfrm>
          <a:prstGeom prst="rect">
            <a:avLst/>
          </a:prstGeom>
          <a:solidFill>
            <a:srgbClr val="322164"/>
          </a:solidFill>
          <a:ln/>
        </p:spPr>
      </p:sp>
      <p:sp>
        <p:nvSpPr>
          <p:cNvPr id="7" name="Text 5"/>
          <p:cNvSpPr/>
          <p:nvPr/>
        </p:nvSpPr>
        <p:spPr>
          <a:xfrm>
            <a:off x="502920" y="1783080"/>
            <a:ext cx="1371600" cy="347472"/>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Có đáp án</a:t>
            </a:r>
            <a:endParaRPr lang="en-US" sz="1150" dirty="0"/>
          </a:p>
        </p:txBody>
      </p:sp>
      <p:sp>
        <p:nvSpPr>
          <p:cNvPr id="8" name="Text 6"/>
          <p:cNvSpPr/>
          <p:nvPr/>
        </p:nvSpPr>
        <p:spPr>
          <a:xfrm>
            <a:off x="1874520" y="1783080"/>
            <a:ext cx="1234440" cy="347472"/>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Mô hình</a:t>
            </a:r>
            <a:endParaRPr lang="en-US" sz="1150" dirty="0"/>
          </a:p>
        </p:txBody>
      </p:sp>
      <p:sp>
        <p:nvSpPr>
          <p:cNvPr id="9" name="Text 7"/>
          <p:cNvSpPr/>
          <p:nvPr/>
        </p:nvSpPr>
        <p:spPr>
          <a:xfrm>
            <a:off x="3108960" y="1783080"/>
            <a:ext cx="868680" cy="347472"/>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a:t>
            </a:r>
            <a:endParaRPr lang="en-US" sz="1150" dirty="0"/>
          </a:p>
        </p:txBody>
      </p:sp>
      <p:sp>
        <p:nvSpPr>
          <p:cNvPr id="10" name="Text 8"/>
          <p:cNvSpPr/>
          <p:nvPr/>
        </p:nvSpPr>
        <p:spPr>
          <a:xfrm>
            <a:off x="3977640" y="1783080"/>
            <a:ext cx="1280160" cy="347472"/>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Exec.</a:t>
            </a:r>
            <a:endParaRPr lang="en-US" sz="1150" dirty="0"/>
          </a:p>
        </p:txBody>
      </p:sp>
      <p:sp>
        <p:nvSpPr>
          <p:cNvPr id="11" name="Text 9"/>
          <p:cNvSpPr/>
          <p:nvPr/>
        </p:nvSpPr>
        <p:spPr>
          <a:xfrm>
            <a:off x="502920" y="2130552"/>
            <a:ext cx="13716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có</a:t>
            </a:r>
            <a:endParaRPr lang="en-US" sz="1250" dirty="0"/>
          </a:p>
        </p:txBody>
      </p:sp>
      <p:sp>
        <p:nvSpPr>
          <p:cNvPr id="12" name="Text 10"/>
          <p:cNvSpPr/>
          <p:nvPr/>
        </p:nvSpPr>
        <p:spPr>
          <a:xfrm>
            <a:off x="1874520" y="2130552"/>
            <a:ext cx="1234440" cy="402336"/>
          </a:xfrm>
          <a:prstGeom prst="rect">
            <a:avLst/>
          </a:prstGeom>
          <a:noFill/>
          <a:ln/>
        </p:spPr>
        <p:txBody>
          <a:bodyPr wrap="square" lIns="38100" tIns="38100" rIns="38100" bIns="3810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chọn</a:t>
            </a:r>
            <a:endParaRPr lang="en-US" sz="1250" dirty="0"/>
          </a:p>
        </p:txBody>
      </p:sp>
      <p:sp>
        <p:nvSpPr>
          <p:cNvPr id="13" name="Text 11"/>
          <p:cNvSpPr/>
          <p:nvPr/>
        </p:nvSpPr>
        <p:spPr>
          <a:xfrm>
            <a:off x="3108960" y="2130552"/>
            <a:ext cx="8686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2.326</a:t>
            </a:r>
            <a:endParaRPr lang="en-US" sz="1250" dirty="0"/>
          </a:p>
        </p:txBody>
      </p:sp>
      <p:sp>
        <p:nvSpPr>
          <p:cNvPr id="14" name="Text 12"/>
          <p:cNvSpPr/>
          <p:nvPr/>
        </p:nvSpPr>
        <p:spPr>
          <a:xfrm>
            <a:off x="3977640" y="2130552"/>
            <a:ext cx="1280160" cy="402336"/>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71,4</a:t>
            </a:r>
            <a:endParaRPr lang="en-US" sz="1250" dirty="0"/>
          </a:p>
        </p:txBody>
      </p:sp>
      <p:sp>
        <p:nvSpPr>
          <p:cNvPr id="15" name="Shape 13"/>
          <p:cNvSpPr/>
          <p:nvPr/>
        </p:nvSpPr>
        <p:spPr>
          <a:xfrm>
            <a:off x="502920" y="2532888"/>
            <a:ext cx="4754880" cy="0"/>
          </a:xfrm>
          <a:prstGeom prst="line">
            <a:avLst/>
          </a:prstGeom>
          <a:noFill/>
          <a:ln w="12700">
            <a:solidFill>
              <a:srgbClr val="9A94AE"/>
            </a:solidFill>
            <a:prstDash val="solid"/>
          </a:ln>
        </p:spPr>
      </p:sp>
      <p:sp>
        <p:nvSpPr>
          <p:cNvPr id="16" name="Text 14"/>
          <p:cNvSpPr/>
          <p:nvPr/>
        </p:nvSpPr>
        <p:spPr>
          <a:xfrm>
            <a:off x="502920" y="2532888"/>
            <a:ext cx="13716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có</a:t>
            </a:r>
            <a:endParaRPr lang="en-US" sz="1250" dirty="0"/>
          </a:p>
        </p:txBody>
      </p:sp>
      <p:sp>
        <p:nvSpPr>
          <p:cNvPr id="17" name="Text 15"/>
          <p:cNvSpPr/>
          <p:nvPr/>
        </p:nvSpPr>
        <p:spPr>
          <a:xfrm>
            <a:off x="1874520" y="2532888"/>
            <a:ext cx="1234440" cy="402336"/>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bỏ cuộc (sai)</a:t>
            </a:r>
            <a:endParaRPr lang="en-US" sz="1250" dirty="0"/>
          </a:p>
        </p:txBody>
      </p:sp>
      <p:sp>
        <p:nvSpPr>
          <p:cNvPr id="18" name="Text 16"/>
          <p:cNvSpPr/>
          <p:nvPr/>
        </p:nvSpPr>
        <p:spPr>
          <a:xfrm>
            <a:off x="3108960" y="2532888"/>
            <a:ext cx="8686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872</a:t>
            </a:r>
            <a:endParaRPr lang="en-US" sz="1250" dirty="0"/>
          </a:p>
        </p:txBody>
      </p:sp>
      <p:sp>
        <p:nvSpPr>
          <p:cNvPr id="19" name="Text 17"/>
          <p:cNvSpPr/>
          <p:nvPr/>
        </p:nvSpPr>
        <p:spPr>
          <a:xfrm>
            <a:off x="3977640" y="2532888"/>
            <a:ext cx="1280160" cy="402336"/>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23,7</a:t>
            </a:r>
            <a:endParaRPr lang="en-US" sz="1250" dirty="0"/>
          </a:p>
        </p:txBody>
      </p:sp>
      <p:sp>
        <p:nvSpPr>
          <p:cNvPr id="20" name="Shape 18"/>
          <p:cNvSpPr/>
          <p:nvPr/>
        </p:nvSpPr>
        <p:spPr>
          <a:xfrm>
            <a:off x="502920" y="2935224"/>
            <a:ext cx="4754880" cy="0"/>
          </a:xfrm>
          <a:prstGeom prst="line">
            <a:avLst/>
          </a:prstGeom>
          <a:noFill/>
          <a:ln w="12700">
            <a:solidFill>
              <a:srgbClr val="9A94AE"/>
            </a:solidFill>
            <a:prstDash val="solid"/>
          </a:ln>
        </p:spPr>
      </p:sp>
      <p:sp>
        <p:nvSpPr>
          <p:cNvPr id="21" name="Text 19"/>
          <p:cNvSpPr/>
          <p:nvPr/>
        </p:nvSpPr>
        <p:spPr>
          <a:xfrm>
            <a:off x="502920" y="2935224"/>
            <a:ext cx="13716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không</a:t>
            </a:r>
            <a:endParaRPr lang="en-US" sz="1200" dirty="0"/>
          </a:p>
        </p:txBody>
      </p:sp>
      <p:sp>
        <p:nvSpPr>
          <p:cNvPr id="22" name="Text 20"/>
          <p:cNvSpPr/>
          <p:nvPr/>
        </p:nvSpPr>
        <p:spPr>
          <a:xfrm>
            <a:off x="1874520" y="2935224"/>
            <a:ext cx="123444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chọn (sai)</a:t>
            </a:r>
            <a:endParaRPr lang="en-US" sz="1200" dirty="0"/>
          </a:p>
        </p:txBody>
      </p:sp>
      <p:sp>
        <p:nvSpPr>
          <p:cNvPr id="23" name="Text 21"/>
          <p:cNvSpPr/>
          <p:nvPr/>
        </p:nvSpPr>
        <p:spPr>
          <a:xfrm>
            <a:off x="3108960" y="2935224"/>
            <a:ext cx="8686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264</a:t>
            </a:r>
            <a:endParaRPr lang="en-US" sz="1200" dirty="0"/>
          </a:p>
        </p:txBody>
      </p:sp>
      <p:sp>
        <p:nvSpPr>
          <p:cNvPr id="24" name="Text 22"/>
          <p:cNvSpPr/>
          <p:nvPr/>
        </p:nvSpPr>
        <p:spPr>
          <a:xfrm>
            <a:off x="3977640" y="2935224"/>
            <a:ext cx="128016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37,5</a:t>
            </a:r>
            <a:endParaRPr lang="en-US" sz="1200" dirty="0"/>
          </a:p>
        </p:txBody>
      </p:sp>
      <p:sp>
        <p:nvSpPr>
          <p:cNvPr id="25" name="Shape 23"/>
          <p:cNvSpPr/>
          <p:nvPr/>
        </p:nvSpPr>
        <p:spPr>
          <a:xfrm>
            <a:off x="502920" y="3300984"/>
            <a:ext cx="4754880" cy="0"/>
          </a:xfrm>
          <a:prstGeom prst="line">
            <a:avLst/>
          </a:prstGeom>
          <a:noFill/>
          <a:ln w="12700">
            <a:solidFill>
              <a:srgbClr val="9A94AE"/>
            </a:solidFill>
            <a:prstDash val="solid"/>
          </a:ln>
        </p:spPr>
      </p:sp>
      <p:sp>
        <p:nvSpPr>
          <p:cNvPr id="26" name="Text 24"/>
          <p:cNvSpPr/>
          <p:nvPr/>
        </p:nvSpPr>
        <p:spPr>
          <a:xfrm>
            <a:off x="502920" y="3300984"/>
            <a:ext cx="13716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không</a:t>
            </a:r>
            <a:endParaRPr lang="en-US" sz="1200" dirty="0"/>
          </a:p>
        </p:txBody>
      </p:sp>
      <p:sp>
        <p:nvSpPr>
          <p:cNvPr id="27" name="Text 25"/>
          <p:cNvSpPr/>
          <p:nvPr/>
        </p:nvSpPr>
        <p:spPr>
          <a:xfrm>
            <a:off x="1874520" y="3300984"/>
            <a:ext cx="123444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bỏ cuộc (đúng)</a:t>
            </a:r>
            <a:endParaRPr lang="en-US" sz="1200" dirty="0"/>
          </a:p>
        </p:txBody>
      </p:sp>
      <p:sp>
        <p:nvSpPr>
          <p:cNvPr id="28" name="Text 26"/>
          <p:cNvSpPr/>
          <p:nvPr/>
        </p:nvSpPr>
        <p:spPr>
          <a:xfrm>
            <a:off x="3108960" y="3300984"/>
            <a:ext cx="8686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1.001</a:t>
            </a:r>
            <a:endParaRPr lang="en-US" sz="1200" dirty="0"/>
          </a:p>
        </p:txBody>
      </p:sp>
      <p:sp>
        <p:nvSpPr>
          <p:cNvPr id="29" name="Text 27"/>
          <p:cNvSpPr/>
          <p:nvPr/>
        </p:nvSpPr>
        <p:spPr>
          <a:xfrm>
            <a:off x="3977640" y="3300984"/>
            <a:ext cx="128016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53,8</a:t>
            </a:r>
            <a:endParaRPr lang="en-US" sz="1200" dirty="0"/>
          </a:p>
        </p:txBody>
      </p:sp>
      <p:sp>
        <p:nvSpPr>
          <p:cNvPr id="30" name="Text 28"/>
          <p:cNvSpPr/>
          <p:nvPr/>
        </p:nvSpPr>
        <p:spPr>
          <a:xfrm>
            <a:off x="502920" y="3749040"/>
            <a:ext cx="4754880" cy="685800"/>
          </a:xfrm>
          <a:prstGeom prst="rect">
            <a:avLst/>
          </a:prstGeom>
          <a:noFill/>
          <a:ln/>
        </p:spPr>
        <p:txBody>
          <a:bodyPr wrap="square" lIns="0" tIns="0" rIns="0" bIns="0" rtlCol="0" anchor="t"/>
          <a:lstStyle/>
          <a:p>
            <a:pPr algn="l" indent="0" marL="0">
              <a:lnSpc>
                <a:spcPct val="130000"/>
              </a:lnSpc>
              <a:buNone/>
            </a:pPr>
            <a:r>
              <a:rPr lang="en-US" sz="1200" b="1" dirty="0">
                <a:solidFill>
                  <a:srgbClr val="B22222"/>
                </a:solidFill>
                <a:latin typeface="Cambria" pitchFamily="34" charset="0"/>
                <a:ea typeface="Cambria" pitchFamily="34" charset="-122"/>
                <a:cs typeface="Cambria" pitchFamily="34" charset="-120"/>
              </a:rPr>
              <a:t>Khi đưa ra lựa chọn, kém câu chuẩn 4,3 điểm. Bỏ cuộc sai ở 27,3% số bước có đáp án, tái lập qua hai phép đo.</a:t>
            </a:r>
            <a:endParaRPr lang="en-US" sz="1200" dirty="0"/>
          </a:p>
        </p:txBody>
      </p:sp>
      <p:sp>
        <p:nvSpPr>
          <p:cNvPr id="31" name="Text 29"/>
          <p:cNvSpPr/>
          <p:nvPr/>
        </p:nvSpPr>
        <p:spPr>
          <a:xfrm>
            <a:off x="5532120" y="1463040"/>
            <a:ext cx="310896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Tỉ lệ nhãn bỏ cuộc theo mẫu số</a:t>
            </a:r>
            <a:endParaRPr lang="en-US" sz="1250" dirty="0"/>
          </a:p>
        </p:txBody>
      </p:sp>
      <p:sp>
        <p:nvSpPr>
          <p:cNvPr id="32" name="Text 30"/>
          <p:cNvSpPr/>
          <p:nvPr/>
        </p:nvSpPr>
        <p:spPr>
          <a:xfrm>
            <a:off x="5532120" y="1783080"/>
            <a:ext cx="224028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Toàn tập huấn luyện</a:t>
            </a:r>
            <a:endParaRPr lang="en-US" sz="1200" dirty="0"/>
          </a:p>
        </p:txBody>
      </p:sp>
      <p:sp>
        <p:nvSpPr>
          <p:cNvPr id="33" name="Text 31"/>
          <p:cNvSpPr/>
          <p:nvPr/>
        </p:nvSpPr>
        <p:spPr>
          <a:xfrm>
            <a:off x="7772400" y="1783080"/>
            <a:ext cx="868680" cy="402336"/>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54,8%</a:t>
            </a:r>
            <a:endParaRPr lang="en-US" sz="1200" dirty="0"/>
          </a:p>
        </p:txBody>
      </p:sp>
      <p:sp>
        <p:nvSpPr>
          <p:cNvPr id="34" name="Shape 32"/>
          <p:cNvSpPr/>
          <p:nvPr/>
        </p:nvSpPr>
        <p:spPr>
          <a:xfrm>
            <a:off x="5532120" y="2185416"/>
            <a:ext cx="3108960" cy="0"/>
          </a:xfrm>
          <a:prstGeom prst="line">
            <a:avLst/>
          </a:prstGeom>
          <a:noFill/>
          <a:ln w="12700">
            <a:solidFill>
              <a:srgbClr val="9A94AE"/>
            </a:solidFill>
            <a:prstDash val="solid"/>
          </a:ln>
        </p:spPr>
      </p:sp>
      <p:sp>
        <p:nvSpPr>
          <p:cNvPr id="35" name="Text 33"/>
          <p:cNvSpPr/>
          <p:nvPr/>
        </p:nvSpPr>
        <p:spPr>
          <a:xfrm>
            <a:off x="5532120" y="2185416"/>
            <a:ext cx="224028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Chỉ bước chạm, tập huấn luyện</a:t>
            </a:r>
            <a:endParaRPr lang="en-US" sz="1200" dirty="0"/>
          </a:p>
        </p:txBody>
      </p:sp>
      <p:sp>
        <p:nvSpPr>
          <p:cNvPr id="36" name="Text 34"/>
          <p:cNvSpPr/>
          <p:nvPr/>
        </p:nvSpPr>
        <p:spPr>
          <a:xfrm>
            <a:off x="7772400" y="2185416"/>
            <a:ext cx="868680" cy="402336"/>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29,1%</a:t>
            </a:r>
            <a:endParaRPr lang="en-US" sz="1200" dirty="0"/>
          </a:p>
        </p:txBody>
      </p:sp>
      <p:sp>
        <p:nvSpPr>
          <p:cNvPr id="37" name="Shape 35"/>
          <p:cNvSpPr/>
          <p:nvPr/>
        </p:nvSpPr>
        <p:spPr>
          <a:xfrm>
            <a:off x="5532120" y="2587752"/>
            <a:ext cx="3108960" cy="0"/>
          </a:xfrm>
          <a:prstGeom prst="line">
            <a:avLst/>
          </a:prstGeom>
          <a:noFill/>
          <a:ln w="12700">
            <a:solidFill>
              <a:srgbClr val="9A94AE"/>
            </a:solidFill>
            <a:prstDash val="solid"/>
          </a:ln>
        </p:spPr>
      </p:sp>
      <p:sp>
        <p:nvSpPr>
          <p:cNvPr id="38" name="Text 36"/>
          <p:cNvSpPr/>
          <p:nvPr/>
        </p:nvSpPr>
        <p:spPr>
          <a:xfrm>
            <a:off x="5532120" y="2587752"/>
            <a:ext cx="224028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Bước chạm tập kiểm, tỉ lệ đúng</a:t>
            </a:r>
            <a:endParaRPr lang="en-US" sz="1200" dirty="0"/>
          </a:p>
        </p:txBody>
      </p:sp>
      <p:sp>
        <p:nvSpPr>
          <p:cNvPr id="39" name="Text 37"/>
          <p:cNvSpPr/>
          <p:nvPr/>
        </p:nvSpPr>
        <p:spPr>
          <a:xfrm>
            <a:off x="7772400" y="2587752"/>
            <a:ext cx="868680" cy="402336"/>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28,3%</a:t>
            </a:r>
            <a:endParaRPr lang="en-US" sz="1200" dirty="0"/>
          </a:p>
        </p:txBody>
      </p:sp>
      <p:sp>
        <p:nvSpPr>
          <p:cNvPr id="40" name="Shape 38"/>
          <p:cNvSpPr/>
          <p:nvPr/>
        </p:nvSpPr>
        <p:spPr>
          <a:xfrm>
            <a:off x="5532120" y="2990088"/>
            <a:ext cx="3108960" cy="0"/>
          </a:xfrm>
          <a:prstGeom prst="line">
            <a:avLst/>
          </a:prstGeom>
          <a:noFill/>
          <a:ln w="12700">
            <a:solidFill>
              <a:srgbClr val="9A94AE"/>
            </a:solidFill>
            <a:prstDash val="solid"/>
          </a:ln>
        </p:spPr>
      </p:sp>
      <p:sp>
        <p:nvSpPr>
          <p:cNvPr id="41" name="Text 39"/>
          <p:cNvSpPr/>
          <p:nvPr/>
        </p:nvSpPr>
        <p:spPr>
          <a:xfrm>
            <a:off x="5532120" y="2990088"/>
            <a:ext cx="2240280" cy="402336"/>
          </a:xfrm>
          <a:prstGeom prst="rect">
            <a:avLst/>
          </a:prstGeom>
          <a:noFill/>
          <a:ln/>
        </p:spPr>
        <p:txBody>
          <a:bodyPr wrap="square" lIns="38100" tIns="38100" rIns="38100" bIns="38100" rtlCol="0" anchor="ctr"/>
          <a:lstStyle/>
          <a:p>
            <a:pPr algn="l" indent="0" marL="0">
              <a:buNone/>
            </a:pPr>
            <a:r>
              <a:rPr lang="en-US" sz="1200" b="1" dirty="0">
                <a:solidFill>
                  <a:srgbClr val="1A1A1A"/>
                </a:solidFill>
                <a:latin typeface="Cambria" pitchFamily="34" charset="0"/>
                <a:ea typeface="Cambria" pitchFamily="34" charset="-122"/>
                <a:cs typeface="Cambria" pitchFamily="34" charset="-120"/>
              </a:rPr>
              <a:t>Mô hình phát ra</a:t>
            </a:r>
            <a:endParaRPr lang="en-US" sz="1200" dirty="0"/>
          </a:p>
        </p:txBody>
      </p:sp>
      <p:sp>
        <p:nvSpPr>
          <p:cNvPr id="42" name="Text 40"/>
          <p:cNvSpPr/>
          <p:nvPr/>
        </p:nvSpPr>
        <p:spPr>
          <a:xfrm>
            <a:off x="7772400" y="2990088"/>
            <a:ext cx="868680" cy="402336"/>
          </a:xfrm>
          <a:prstGeom prst="rect">
            <a:avLst/>
          </a:prstGeom>
          <a:noFill/>
          <a:ln/>
        </p:spPr>
        <p:txBody>
          <a:bodyPr wrap="square" lIns="38100" tIns="38100" rIns="38100" bIns="38100" rtlCol="0" anchor="ctr"/>
          <a:lstStyle/>
          <a:p>
            <a:pPr algn="r" indent="0" marL="0">
              <a:buNone/>
            </a:pPr>
            <a:r>
              <a:rPr lang="en-US" sz="1200" b="1" dirty="0">
                <a:solidFill>
                  <a:srgbClr val="B22222"/>
                </a:solidFill>
                <a:latin typeface="Cambria" pitchFamily="34" charset="0"/>
                <a:ea typeface="Cambria" pitchFamily="34" charset="-122"/>
                <a:cs typeface="Cambria" pitchFamily="34" charset="-120"/>
              </a:rPr>
              <a:t>42,0%</a:t>
            </a:r>
            <a:endParaRPr lang="en-US" sz="1200" dirty="0"/>
          </a:p>
        </p:txBody>
      </p:sp>
      <p:sp>
        <p:nvSpPr>
          <p:cNvPr id="43" name="Text 41"/>
          <p:cNvSpPr/>
          <p:nvPr/>
        </p:nvSpPr>
        <p:spPr>
          <a:xfrm>
            <a:off x="5532120" y="3520440"/>
            <a:ext cx="3108960" cy="914400"/>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Mọi bước không chạm đều mang nhãn bỏ cuộc, nên hơn nửa mẫu huấn luyện dạy mô hình bỏ cuộc. Đây là quan sát, chưa phải nhân quả.</a:t>
            </a:r>
            <a:endParaRPr lang="en-US" sz="1150" dirty="0"/>
          </a:p>
        </p:txBody>
      </p:sp>
      <p:sp>
        <p:nvSpPr>
          <p:cNvPr id="44" name="Shape 42"/>
          <p:cNvSpPr/>
          <p:nvPr/>
        </p:nvSpPr>
        <p:spPr>
          <a:xfrm>
            <a:off x="502920" y="466344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45" name="Text 43"/>
          <p:cNvSpPr/>
          <p:nvPr/>
        </p:nvSpPr>
        <p:spPr>
          <a:xfrm>
            <a:off x="731520" y="4663440"/>
            <a:ext cx="7680960" cy="1005840"/>
          </a:xfrm>
          <a:prstGeom prst="rect">
            <a:avLst/>
          </a:prstGeom>
          <a:noFill/>
          <a:ln/>
        </p:spPr>
        <p:txBody>
          <a:bodyPr wrap="square" lIns="0" tIns="0" rIns="0" bIns="0" rtlCol="0" anchor="ctr"/>
          <a:lstStyle/>
          <a:p>
            <a:pPr algn="l" indent="0" marL="0">
              <a:lnSpc>
                <a:spcPct val="135000"/>
              </a:lnSpc>
              <a:buNone/>
            </a:pPr>
            <a:r>
              <a:rPr lang="en-US" sz="1250" b="1" dirty="0">
                <a:solidFill>
                  <a:srgbClr val="322164"/>
                </a:solidFill>
                <a:latin typeface="Cambria" pitchFamily="34" charset="0"/>
                <a:ea typeface="Cambria" pitchFamily="34" charset="-122"/>
                <a:cs typeface="Cambria" pitchFamily="34" charset="-120"/>
              </a:rPr>
              <a:t>Không có nhánh so sánh cùng đầu vào, nên luận văn không nói gì về công của đầu chọn hay của danh sách.</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Nhánh chỉ so được với Base: +8,54 điểm. Mọi số ở đây là kết quả một hạt giống.</a:t>
            </a:r>
            <a:endParaRPr lang="en-US" sz="1250" dirty="0"/>
          </a:p>
        </p:txBody>
      </p:sp>
      <p:sp>
        <p:nvSpPr>
          <p:cNvPr id="47" name="Shape 44"/>
          <p:cNvSpPr/>
          <p:nvPr/>
        </p:nvSpPr>
        <p:spPr>
          <a:xfrm>
            <a:off x="0" y="6620256"/>
            <a:ext cx="2743200" cy="237744"/>
          </a:xfrm>
          <a:prstGeom prst="rect">
            <a:avLst/>
          </a:prstGeom>
          <a:solidFill>
            <a:srgbClr val="191132"/>
          </a:solidFill>
          <a:ln/>
        </p:spPr>
      </p:sp>
      <p:sp>
        <p:nvSpPr>
          <p:cNvPr id="48" name="Shape 45"/>
          <p:cNvSpPr/>
          <p:nvPr/>
        </p:nvSpPr>
        <p:spPr>
          <a:xfrm>
            <a:off x="2743200" y="6620256"/>
            <a:ext cx="3383280" cy="237744"/>
          </a:xfrm>
          <a:prstGeom prst="rect">
            <a:avLst/>
          </a:prstGeom>
          <a:solidFill>
            <a:srgbClr val="25194B"/>
          </a:solidFill>
          <a:ln/>
        </p:spPr>
      </p:sp>
      <p:sp>
        <p:nvSpPr>
          <p:cNvPr id="49" name="Shape 46"/>
          <p:cNvSpPr/>
          <p:nvPr/>
        </p:nvSpPr>
        <p:spPr>
          <a:xfrm>
            <a:off x="6126480" y="6620256"/>
            <a:ext cx="1737360" cy="237744"/>
          </a:xfrm>
          <a:prstGeom prst="rect">
            <a:avLst/>
          </a:prstGeom>
          <a:solidFill>
            <a:srgbClr val="4F417A"/>
          </a:solidFill>
          <a:ln/>
        </p:spPr>
      </p:sp>
      <p:sp>
        <p:nvSpPr>
          <p:cNvPr id="50" name="Shape 47"/>
          <p:cNvSpPr/>
          <p:nvPr/>
        </p:nvSpPr>
        <p:spPr>
          <a:xfrm>
            <a:off x="7863840" y="6620256"/>
            <a:ext cx="1280160" cy="237744"/>
          </a:xfrm>
          <a:prstGeom prst="rect">
            <a:avLst/>
          </a:prstGeom>
          <a:solidFill>
            <a:srgbClr val="7A7099"/>
          </a:solidFill>
          <a:ln/>
        </p:spPr>
      </p:sp>
      <p:sp>
        <p:nvSpPr>
          <p:cNvPr id="51" name="Text 4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2" name="Text 4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3" name="Text 5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4" name="Text 5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25/29</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 · Hạn chế, tự khai kèm số đo</a:t>
            </a:r>
            <a:endParaRPr lang="en-US" sz="1900" dirty="0"/>
          </a:p>
        </p:txBody>
      </p:sp>
      <p:sp>
        <p:nvSpPr>
          <p:cNvPr id="4" name="Text 2"/>
          <p:cNvSpPr/>
          <p:nvPr/>
        </p:nvSpPr>
        <p:spPr>
          <a:xfrm>
            <a:off x="502920" y="868680"/>
            <a:ext cx="402336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Về kết quả mô hình</a:t>
            </a:r>
            <a:endParaRPr lang="en-US" sz="1400" dirty="0"/>
          </a:p>
        </p:txBody>
      </p:sp>
      <p:sp>
        <p:nvSpPr>
          <p:cNvPr id="5" name="Text 3"/>
          <p:cNvSpPr/>
          <p:nvPr/>
        </p:nvSpPr>
        <p:spPr>
          <a:xfrm>
            <a:off x="502920" y="128016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6" name="Text 4"/>
          <p:cNvSpPr/>
          <p:nvPr/>
        </p:nvSpPr>
        <p:spPr>
          <a:xfrm>
            <a:off x="731520" y="1280160"/>
            <a:ext cx="37947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Mọi nhánh xử lý chỉ chạy được một hạt giống</a:t>
            </a:r>
            <a:endParaRPr lang="en-US" sz="1250" dirty="0"/>
          </a:p>
        </p:txBody>
      </p:sp>
      <p:sp>
        <p:nvSpPr>
          <p:cNvPr id="7" name="Text 5"/>
          <p:cNvSpPr/>
          <p:nvPr/>
        </p:nvSpPr>
        <p:spPr>
          <a:xfrm>
            <a:off x="502920" y="190195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8" name="Text 6"/>
          <p:cNvSpPr/>
          <p:nvPr/>
        </p:nvSpPr>
        <p:spPr>
          <a:xfrm>
            <a:off x="731520" y="1901952"/>
            <a:ext cx="37947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Điều kiện không gây hại không đạt: giảm 19,75 điểm ở bước không chạm</a:t>
            </a:r>
            <a:endParaRPr lang="en-US" sz="1250" dirty="0"/>
          </a:p>
        </p:txBody>
      </p:sp>
      <p:sp>
        <p:nvSpPr>
          <p:cNvPr id="9" name="Text 7"/>
          <p:cNvSpPr/>
          <p:nvPr/>
        </p:nvSpPr>
        <p:spPr>
          <a:xfrm>
            <a:off x="502920" y="252374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731520" y="2523744"/>
            <a:ext cx="37947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Dữ liệu cặp có lối tắt ở 17,4% số cặp, phát hiện sau khi huấn luyện</a:t>
            </a:r>
            <a:endParaRPr lang="en-US" sz="1250" dirty="0"/>
          </a:p>
        </p:txBody>
      </p:sp>
      <p:sp>
        <p:nvSpPr>
          <p:cNvPr id="11" name="Text 9"/>
          <p:cNvSpPr/>
          <p:nvPr/>
        </p:nvSpPr>
        <p:spPr>
          <a:xfrm>
            <a:off x="502920" y="3145536"/>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731520" y="3145536"/>
            <a:ext cx="37947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Ba nhánh so sánh trong thiết kế không chạy</a:t>
            </a:r>
            <a:endParaRPr lang="en-US" sz="1250" dirty="0"/>
          </a:p>
        </p:txBody>
      </p:sp>
      <p:sp>
        <p:nvSpPr>
          <p:cNvPr id="13" name="Text 11"/>
          <p:cNvSpPr/>
          <p:nvPr/>
        </p:nvSpPr>
        <p:spPr>
          <a:xfrm>
            <a:off x="502920" y="3767328"/>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4" name="Text 12"/>
          <p:cNvSpPr/>
          <p:nvPr/>
        </p:nvSpPr>
        <p:spPr>
          <a:xfrm>
            <a:off x="731520" y="3767328"/>
            <a:ext cx="37947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Nhánh ứng viên không có nhánh so sánh cùng đầu vào</a:t>
            </a:r>
            <a:endParaRPr lang="en-US" sz="1250" dirty="0"/>
          </a:p>
        </p:txBody>
      </p:sp>
      <p:sp>
        <p:nvSpPr>
          <p:cNvPr id="15" name="Text 13"/>
          <p:cNvSpPr/>
          <p:nvPr/>
        </p:nvSpPr>
        <p:spPr>
          <a:xfrm>
            <a:off x="4663440" y="868680"/>
            <a:ext cx="397764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Về dụng cụ đo và dữ liệu</a:t>
            </a:r>
            <a:endParaRPr lang="en-US" sz="1400" dirty="0"/>
          </a:p>
        </p:txBody>
      </p:sp>
      <p:sp>
        <p:nvSpPr>
          <p:cNvPr id="16" name="Text 14"/>
          <p:cNvSpPr/>
          <p:nvPr/>
        </p:nvSpPr>
        <p:spPr>
          <a:xfrm>
            <a:off x="4663440" y="1280160"/>
            <a:ext cx="201168" cy="7498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7" name="Text 15"/>
          <p:cNvSpPr/>
          <p:nvPr/>
        </p:nvSpPr>
        <p:spPr>
          <a:xfrm>
            <a:off x="4892040" y="1280160"/>
            <a:ext cx="3749040" cy="71323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Hai dụng cụ đo cùng họ Qwen-VL với mô hình bị chấm</a:t>
            </a:r>
            <a:endParaRPr lang="en-US" sz="1250" dirty="0"/>
          </a:p>
        </p:txBody>
      </p:sp>
      <p:sp>
        <p:nvSpPr>
          <p:cNvPr id="18" name="Text 16"/>
          <p:cNvSpPr/>
          <p:nvPr/>
        </p:nvSpPr>
        <p:spPr>
          <a:xfrm>
            <a:off x="4663440" y="2029968"/>
            <a:ext cx="201168" cy="7498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4892040" y="2029968"/>
            <a:ext cx="3749040" cy="71323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Thước chưa đối chiếu với đánh giá của người thật</a:t>
            </a:r>
            <a:endParaRPr lang="en-US" sz="1250" dirty="0"/>
          </a:p>
        </p:txBody>
      </p:sp>
      <p:sp>
        <p:nvSpPr>
          <p:cNvPr id="20" name="Text 18"/>
          <p:cNvSpPr/>
          <p:nvPr/>
        </p:nvSpPr>
        <p:spPr>
          <a:xfrm>
            <a:off x="4663440" y="2779776"/>
            <a:ext cx="201168" cy="7498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1" name="Text 19"/>
          <p:cNvSpPr/>
          <p:nvPr/>
        </p:nvSpPr>
        <p:spPr>
          <a:xfrm>
            <a:off x="4892040" y="2779776"/>
            <a:ext cx="3749040" cy="71323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Tập kiểm không phải ứng dụng chưa từng xuất hiện: 95,6% trùng</a:t>
            </a:r>
            <a:endParaRPr lang="en-US" sz="1250" dirty="0"/>
          </a:p>
        </p:txBody>
      </p:sp>
      <p:sp>
        <p:nvSpPr>
          <p:cNvPr id="22" name="Text 20"/>
          <p:cNvSpPr/>
          <p:nvPr/>
        </p:nvSpPr>
        <p:spPr>
          <a:xfrm>
            <a:off x="4663440" y="3529584"/>
            <a:ext cx="201168" cy="7498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3" name="Text 21"/>
          <p:cNvSpPr/>
          <p:nvPr/>
        </p:nvSpPr>
        <p:spPr>
          <a:xfrm>
            <a:off x="4892040" y="3529584"/>
            <a:ext cx="3749040" cy="71323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Khâu chấm cho sẵn ngữ cảnh là câu chuẩn của các bước trước</a:t>
            </a:r>
            <a:endParaRPr lang="en-US" sz="1250" dirty="0"/>
          </a:p>
        </p:txBody>
      </p:sp>
      <p:sp>
        <p:nvSpPr>
          <p:cNvPr id="24" name="Shape 22"/>
          <p:cNvSpPr/>
          <p:nvPr/>
        </p:nvSpPr>
        <p:spPr>
          <a:xfrm>
            <a:off x="502920" y="4480560"/>
            <a:ext cx="813816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25" name="Text 23"/>
          <p:cNvSpPr/>
          <p:nvPr/>
        </p:nvSpPr>
        <p:spPr>
          <a:xfrm>
            <a:off x="731520" y="4480560"/>
            <a:ext cx="7680960" cy="1188720"/>
          </a:xfrm>
          <a:prstGeom prst="rect">
            <a:avLst/>
          </a:prstGeom>
          <a:noFill/>
          <a:ln/>
        </p:spPr>
        <p:txBody>
          <a:bodyPr wrap="square" lIns="0" tIns="0" rIns="0" bIns="0" rtlCol="0" anchor="ctr"/>
          <a:lstStyle/>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Phạm vi của luận văn gồm một màn hình mỗi lần, giao diện tiếng Anh, một bộ dữ liệu, hai mô hình định vị cùng họ và một mô hình gốc cỡ ba tỉ tham số.</a:t>
            </a:r>
            <a:endParaRPr lang="en-US" sz="1350" dirty="0"/>
          </a:p>
        </p:txBody>
      </p:sp>
      <p:sp>
        <p:nvSpPr>
          <p:cNvPr id="27" name="Shape 24"/>
          <p:cNvSpPr/>
          <p:nvPr/>
        </p:nvSpPr>
        <p:spPr>
          <a:xfrm>
            <a:off x="0" y="6620256"/>
            <a:ext cx="2743200" cy="237744"/>
          </a:xfrm>
          <a:prstGeom prst="rect">
            <a:avLst/>
          </a:prstGeom>
          <a:solidFill>
            <a:srgbClr val="191132"/>
          </a:solidFill>
          <a:ln/>
        </p:spPr>
      </p:sp>
      <p:sp>
        <p:nvSpPr>
          <p:cNvPr id="28" name="Shape 25"/>
          <p:cNvSpPr/>
          <p:nvPr/>
        </p:nvSpPr>
        <p:spPr>
          <a:xfrm>
            <a:off x="2743200" y="6620256"/>
            <a:ext cx="3383280" cy="237744"/>
          </a:xfrm>
          <a:prstGeom prst="rect">
            <a:avLst/>
          </a:prstGeom>
          <a:solidFill>
            <a:srgbClr val="25194B"/>
          </a:solidFill>
          <a:ln/>
        </p:spPr>
      </p:sp>
      <p:sp>
        <p:nvSpPr>
          <p:cNvPr id="29" name="Shape 26"/>
          <p:cNvSpPr/>
          <p:nvPr/>
        </p:nvSpPr>
        <p:spPr>
          <a:xfrm>
            <a:off x="6126480" y="6620256"/>
            <a:ext cx="1737360" cy="237744"/>
          </a:xfrm>
          <a:prstGeom prst="rect">
            <a:avLst/>
          </a:prstGeom>
          <a:solidFill>
            <a:srgbClr val="4F417A"/>
          </a:solidFill>
          <a:ln/>
        </p:spPr>
      </p:sp>
      <p:sp>
        <p:nvSpPr>
          <p:cNvPr id="30" name="Shape 27"/>
          <p:cNvSpPr/>
          <p:nvPr/>
        </p:nvSpPr>
        <p:spPr>
          <a:xfrm>
            <a:off x="7863840" y="6620256"/>
            <a:ext cx="1280160" cy="237744"/>
          </a:xfrm>
          <a:prstGeom prst="rect">
            <a:avLst/>
          </a:prstGeom>
          <a:solidFill>
            <a:srgbClr val="7A7099"/>
          </a:solidFill>
          <a:ln/>
        </p:spPr>
      </p:sp>
      <p:sp>
        <p:nvSpPr>
          <p:cNvPr id="31" name="Text 2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2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26/29</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 · Hướng phát triển</a:t>
            </a:r>
            <a:endParaRPr lang="en-US" sz="1900" dirty="0"/>
          </a:p>
        </p:txBody>
      </p:sp>
      <p:sp>
        <p:nvSpPr>
          <p:cNvPr id="4" name="Text 2"/>
          <p:cNvSpPr/>
          <p:nvPr/>
        </p:nvSpPr>
        <p:spPr>
          <a:xfrm>
            <a:off x="502920" y="804672"/>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Xếp theo mức cấp thiết với độ tin cậy của kết luận. Hướng đầu là hướng duy nhất chạm vào tầng mà phần phân tích định vị được</a:t>
            </a:r>
            <a:endParaRPr lang="en-US" sz="1200" dirty="0"/>
          </a:p>
        </p:txBody>
      </p:sp>
      <p:sp>
        <p:nvSpPr>
          <p:cNvPr id="5" name="Shape 3"/>
          <p:cNvSpPr/>
          <p:nvPr/>
        </p:nvSpPr>
        <p:spPr>
          <a:xfrm>
            <a:off x="502920" y="1188720"/>
            <a:ext cx="8138160" cy="1170432"/>
          </a:xfrm>
          <a:prstGeom prst="roundRect">
            <a:avLst>
              <a:gd name="adj" fmla="val 4688"/>
            </a:avLst>
          </a:prstGeom>
          <a:solidFill>
            <a:srgbClr val="E9E8EC"/>
          </a:solidFill>
          <a:ln/>
          <a:effectLst>
            <a:outerShdw sx="100000" sy="100000" kx="0" ky="0" algn="bl" rotWithShape="0" blurRad="63500" dist="31750" dir="2700000">
              <a:srgbClr val="8C8C99">
                <a:alpha val="45000"/>
              </a:srgbClr>
            </a:outerShdw>
          </a:effectLst>
        </p:spPr>
      </p:sp>
      <p:sp>
        <p:nvSpPr>
          <p:cNvPr id="6" name="Text 4"/>
          <p:cNvSpPr/>
          <p:nvPr/>
        </p:nvSpPr>
        <p:spPr>
          <a:xfrm>
            <a:off x="630936" y="1298448"/>
            <a:ext cx="384048" cy="384048"/>
          </a:xfrm>
          <a:prstGeom prst="rect">
            <a:avLst/>
          </a:prstGeom>
          <a:noFill/>
          <a:ln/>
        </p:spPr>
        <p:txBody>
          <a:bodyPr wrap="square" lIns="0" tIns="0" rIns="0" bIns="0" rtlCol="0" anchor="t"/>
          <a:lstStyle/>
          <a:p>
            <a:pPr algn="ctr" indent="0" marL="0">
              <a:buNone/>
            </a:pPr>
            <a:r>
              <a:rPr lang="en-US" sz="2100" b="1" dirty="0">
                <a:solidFill>
                  <a:srgbClr val="006666"/>
                </a:solidFill>
                <a:latin typeface="Cambria" pitchFamily="34" charset="0"/>
                <a:ea typeface="Cambria" pitchFamily="34" charset="-122"/>
                <a:cs typeface="Cambria" pitchFamily="34" charset="-120"/>
              </a:rPr>
              <a:t>1</a:t>
            </a:r>
            <a:endParaRPr lang="en-US" sz="2100" dirty="0"/>
          </a:p>
        </p:txBody>
      </p:sp>
      <p:sp>
        <p:nvSpPr>
          <p:cNvPr id="7" name="Text 5"/>
          <p:cNvSpPr/>
          <p:nvPr/>
        </p:nvSpPr>
        <p:spPr>
          <a:xfrm>
            <a:off x="1069848" y="1316736"/>
            <a:ext cx="7360920" cy="310896"/>
          </a:xfrm>
          <a:prstGeom prst="rect">
            <a:avLst/>
          </a:prstGeom>
          <a:noFill/>
          <a:ln/>
        </p:spPr>
        <p:txBody>
          <a:bodyPr wrap="square" lIns="0" tIns="0" rIns="0" bIns="0" rtlCol="0" anchor="t"/>
          <a:lstStyle/>
          <a:p>
            <a:pPr algn="l" indent="0" marL="0">
              <a:buNone/>
            </a:pPr>
            <a:r>
              <a:rPr lang="en-US" sz="1400" b="1" dirty="0">
                <a:solidFill>
                  <a:srgbClr val="006666"/>
                </a:solidFill>
                <a:latin typeface="Cambria" pitchFamily="34" charset="0"/>
                <a:ea typeface="Cambria" pitchFamily="34" charset="-122"/>
                <a:cs typeface="Cambria" pitchFamily="34" charset="-120"/>
              </a:rPr>
              <a:t>Mở phần thị giác của mô hình nền cho quá trình tinh chỉnh</a:t>
            </a:r>
            <a:endParaRPr lang="en-US" sz="1400" dirty="0"/>
          </a:p>
        </p:txBody>
      </p:sp>
      <p:sp>
        <p:nvSpPr>
          <p:cNvPr id="8" name="Text 6"/>
          <p:cNvSpPr/>
          <p:nvPr/>
        </p:nvSpPr>
        <p:spPr>
          <a:xfrm>
            <a:off x="1069848" y="1700784"/>
            <a:ext cx="736092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Năm can thiệp đã đo đều nằm ở tầng khai báo hoặc ngôn ngữ, trong khi 91% khoảng cách dồn vào nhóm nhìn sai phần tử. Giữ mọi tham số khác để phép so vẫn một biến, mốc đối chiếu 59,11. Kỳ vọng ghi trước: xác suất vượt ngưỡng phát hiện khoảng 0,30.</a:t>
            </a:r>
            <a:endParaRPr lang="en-US" sz="1250" dirty="0"/>
          </a:p>
        </p:txBody>
      </p:sp>
      <p:sp>
        <p:nvSpPr>
          <p:cNvPr id="9" name="Shape 7"/>
          <p:cNvSpPr/>
          <p:nvPr/>
        </p:nvSpPr>
        <p:spPr>
          <a:xfrm>
            <a:off x="502920" y="2487168"/>
            <a:ext cx="8138160" cy="1170432"/>
          </a:xfrm>
          <a:prstGeom prst="roundRect">
            <a:avLst>
              <a:gd name="adj" fmla="val 4688"/>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630936" y="2596896"/>
            <a:ext cx="384048" cy="384048"/>
          </a:xfrm>
          <a:prstGeom prst="rect">
            <a:avLst/>
          </a:prstGeom>
          <a:noFill/>
          <a:ln/>
        </p:spPr>
        <p:txBody>
          <a:bodyPr wrap="square" lIns="0" tIns="0" rIns="0" bIns="0" rtlCol="0" anchor="t"/>
          <a:lstStyle/>
          <a:p>
            <a:pPr algn="ctr" indent="0" marL="0">
              <a:buNone/>
            </a:pPr>
            <a:r>
              <a:rPr lang="en-US" sz="2100" b="1" dirty="0">
                <a:solidFill>
                  <a:srgbClr val="B22222"/>
                </a:solidFill>
                <a:latin typeface="Cambria" pitchFamily="34" charset="0"/>
                <a:ea typeface="Cambria" pitchFamily="34" charset="-122"/>
                <a:cs typeface="Cambria" pitchFamily="34" charset="-120"/>
              </a:rPr>
              <a:t>2</a:t>
            </a:r>
            <a:endParaRPr lang="en-US" sz="2100" dirty="0"/>
          </a:p>
        </p:txBody>
      </p:sp>
      <p:sp>
        <p:nvSpPr>
          <p:cNvPr id="11" name="Text 9"/>
          <p:cNvSpPr/>
          <p:nvPr/>
        </p:nvSpPr>
        <p:spPr>
          <a:xfrm>
            <a:off x="1069848" y="2615184"/>
            <a:ext cx="7360920" cy="310896"/>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Huấn luyện lại trên riêng 41.191 bước chạm, với điều kiện đã nêu</a:t>
            </a:r>
            <a:endParaRPr lang="en-US" sz="1400" dirty="0"/>
          </a:p>
        </p:txBody>
      </p:sp>
      <p:sp>
        <p:nvSpPr>
          <p:cNvPr id="12" name="Text 10"/>
          <p:cNvSpPr/>
          <p:nvPr/>
        </p:nvSpPr>
        <p:spPr>
          <a:xfrm>
            <a:off x="1069848" y="2999232"/>
            <a:ext cx="736092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Đưa tỉ lệ nhãn bỏ cuộc từ 54,8% về 29,1%. Dữ liệu đã dựng. Không chạy: thủ tục ngưỡng chỉ cải thiện tối đa 8 trên 1.400 bước, dưới ngưỡng 18/24 đặt trước.</a:t>
            </a:r>
            <a:endParaRPr lang="en-US" sz="1250" dirty="0"/>
          </a:p>
        </p:txBody>
      </p:sp>
      <p:sp>
        <p:nvSpPr>
          <p:cNvPr id="13" name="Shape 11"/>
          <p:cNvSpPr/>
          <p:nvPr/>
        </p:nvSpPr>
        <p:spPr>
          <a:xfrm>
            <a:off x="502920" y="3785616"/>
            <a:ext cx="8138160" cy="1170432"/>
          </a:xfrm>
          <a:prstGeom prst="roundRect">
            <a:avLst>
              <a:gd name="adj" fmla="val 4688"/>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630936" y="3895344"/>
            <a:ext cx="384048" cy="384048"/>
          </a:xfrm>
          <a:prstGeom prst="rect">
            <a:avLst/>
          </a:prstGeom>
          <a:noFill/>
          <a:ln/>
        </p:spPr>
        <p:txBody>
          <a:bodyPr wrap="square" lIns="0" tIns="0" rIns="0" bIns="0" rtlCol="0" anchor="t"/>
          <a:lstStyle/>
          <a:p>
            <a:pPr algn="ctr" indent="0" marL="0">
              <a:buNone/>
            </a:pPr>
            <a:r>
              <a:rPr lang="en-US" sz="2100" b="1" dirty="0">
                <a:solidFill>
                  <a:srgbClr val="322164"/>
                </a:solidFill>
                <a:latin typeface="Cambria" pitchFamily="34" charset="0"/>
                <a:ea typeface="Cambria" pitchFamily="34" charset="-122"/>
                <a:cs typeface="Cambria" pitchFamily="34" charset="-120"/>
              </a:rPr>
              <a:t>3</a:t>
            </a:r>
            <a:endParaRPr lang="en-US" sz="2100" dirty="0"/>
          </a:p>
        </p:txBody>
      </p:sp>
      <p:sp>
        <p:nvSpPr>
          <p:cNvPr id="15" name="Text 13"/>
          <p:cNvSpPr/>
          <p:nvPr/>
        </p:nvSpPr>
        <p:spPr>
          <a:xfrm>
            <a:off x="1069848" y="3913632"/>
            <a:ext cx="7360920" cy="310896"/>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Học quyết định bỏ cuộc từ tín hiệu ngoài xác suất của mô hình</a:t>
            </a:r>
            <a:endParaRPr lang="en-US" sz="1400" dirty="0"/>
          </a:p>
        </p:txBody>
      </p:sp>
      <p:sp>
        <p:nvSpPr>
          <p:cNvPr id="16" name="Text 14"/>
          <p:cNvSpPr/>
          <p:nvPr/>
        </p:nvSpPr>
        <p:spPr>
          <a:xfrm>
            <a:off x="1069848" y="4297680"/>
            <a:ext cx="736092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Điểm thẻ bỏ cuộc ở bước có vàng và không có vàng trùng nhau, AUC 0,69–0,72. Bỏ cuộc hoàn hảo cho 78,0%: khoảng 14,6 điểm cần một bộ phân loại riêng.</a:t>
            </a:r>
            <a:endParaRPr lang="en-US" sz="1250" dirty="0"/>
          </a:p>
        </p:txBody>
      </p:sp>
      <p:sp>
        <p:nvSpPr>
          <p:cNvPr id="17" name="Text 15"/>
          <p:cNvSpPr/>
          <p:nvPr/>
        </p:nvSpPr>
        <p:spPr>
          <a:xfrm>
            <a:off x="502920" y="5166360"/>
            <a:ext cx="8138160" cy="502920"/>
          </a:xfrm>
          <a:prstGeom prst="rect">
            <a:avLst/>
          </a:prstGeom>
          <a:noFill/>
          <a:ln/>
        </p:spPr>
        <p:txBody>
          <a:bodyPr wrap="square" lIns="0" tIns="0" rIns="0" bIns="0" rtlCol="0" anchor="t"/>
          <a:lstStyle/>
          <a:p>
            <a:pPr algn="l" indent="0" marL="0">
              <a:lnSpc>
                <a:spcPct val="130000"/>
              </a:lnSpc>
              <a:buNone/>
            </a:pPr>
            <a:r>
              <a:rPr lang="en-US" sz="1150" dirty="0">
                <a:solidFill>
                  <a:srgbClr val="5A5A66"/>
                </a:solidFill>
                <a:latin typeface="Cambria" pitchFamily="34" charset="0"/>
                <a:ea typeface="Cambria" pitchFamily="34" charset="-122"/>
                <a:cs typeface="Cambria" pitchFamily="34" charset="-120"/>
              </a:rPr>
              <a:t>Còn lại: nhánh so sánh cùng đầu vào rồi hạt giống thứ hai · dạy mô hình lùi khi không chắc · khắc phục điều kiện không gây hại · nối thước với đánh giá của người · bộ liệt kê phần tử tốt hơn · chuỗi nhiều màn</a:t>
            </a:r>
            <a:endParaRPr lang="en-US" sz="115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27/29</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Kết luận</a:t>
            </a:r>
            <a:endParaRPr lang="en-US" sz="1900" dirty="0"/>
          </a:p>
        </p:txBody>
      </p:sp>
      <p:sp>
        <p:nvSpPr>
          <p:cNvPr id="4" name="Shape 2"/>
          <p:cNvSpPr/>
          <p:nvPr/>
        </p:nvSpPr>
        <p:spPr>
          <a:xfrm>
            <a:off x="502920" y="96012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1069848"/>
            <a:ext cx="1463040" cy="320040"/>
          </a:xfrm>
          <a:prstGeom prst="rect">
            <a:avLst/>
          </a:prstGeom>
          <a:noFill/>
          <a:ln/>
        </p:spPr>
        <p:txBody>
          <a:bodyPr wrap="square" lIns="0" tIns="0" rIns="0" bIns="0" rtlCol="0" anchor="t"/>
          <a:lstStyle/>
          <a:p>
            <a:pPr algn="l" indent="0" marL="0">
              <a:buNone/>
            </a:pPr>
            <a:r>
              <a:rPr lang="en-US" sz="1450" b="1" dirty="0">
                <a:solidFill>
                  <a:srgbClr val="006666"/>
                </a:solidFill>
                <a:latin typeface="Cambria" pitchFamily="34" charset="0"/>
                <a:ea typeface="Cambria" pitchFamily="34" charset="-122"/>
                <a:cs typeface="Cambria" pitchFamily="34" charset="-120"/>
              </a:rPr>
              <a:t>Thước đo</a:t>
            </a:r>
            <a:endParaRPr lang="en-US" sz="1450" dirty="0"/>
          </a:p>
        </p:txBody>
      </p:sp>
      <p:sp>
        <p:nvSpPr>
          <p:cNvPr id="6" name="Text 4"/>
          <p:cNvSpPr/>
          <p:nvPr/>
        </p:nvSpPr>
        <p:spPr>
          <a:xfrm>
            <a:off x="685800" y="1417320"/>
            <a:ext cx="7772400" cy="59436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Executability, kiểm chứng bằng sáu khối phép đo. Trần 75,7 và sàn 12,0 đều đo được.</a:t>
            </a:r>
            <a:endParaRPr lang="en-US" sz="1250" dirty="0"/>
          </a:p>
        </p:txBody>
      </p:sp>
      <p:sp>
        <p:nvSpPr>
          <p:cNvPr id="7" name="Shape 5"/>
          <p:cNvSpPr/>
          <p:nvPr/>
        </p:nvSpPr>
        <p:spPr>
          <a:xfrm>
            <a:off x="502920" y="219456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685800" y="2304288"/>
            <a:ext cx="1463040" cy="320040"/>
          </a:xfrm>
          <a:prstGeom prst="rect">
            <a:avLst/>
          </a:prstGeom>
          <a:noFill/>
          <a:ln/>
        </p:spPr>
        <p:txBody>
          <a:bodyPr wrap="square" lIns="0" tIns="0" rIns="0" bIns="0" rtlCol="0" anchor="t"/>
          <a:lstStyle/>
          <a:p>
            <a:pPr algn="l" indent="0" marL="0">
              <a:buNone/>
            </a:pPr>
            <a:r>
              <a:rPr lang="en-US" sz="1450" b="1" dirty="0">
                <a:solidFill>
                  <a:srgbClr val="322164"/>
                </a:solidFill>
                <a:latin typeface="Cambria" pitchFamily="34" charset="0"/>
                <a:ea typeface="Cambria" pitchFamily="34" charset="-122"/>
                <a:cs typeface="Cambria" pitchFamily="34" charset="-120"/>
              </a:rPr>
              <a:t>Kết quả</a:t>
            </a:r>
            <a:endParaRPr lang="en-US" sz="1450" dirty="0"/>
          </a:p>
        </p:txBody>
      </p:sp>
      <p:sp>
        <p:nvSpPr>
          <p:cNvPr id="9" name="Text 7"/>
          <p:cNvSpPr/>
          <p:nvPr/>
        </p:nvSpPr>
        <p:spPr>
          <a:xfrm>
            <a:off x="685800" y="2651760"/>
            <a:ext cx="7772400" cy="59436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Tinh chỉnh đáng 11,5 điểm và đứng vững sau sáu cách giải thích thay thế. Điểm cao nhất đạt được là 60,07, nhưng không can thiệp nào trong năm can thiệp đã đo vượt được mức chênh nhỏ nhất phát hiện được. Thành phần đề xuất chưa kết luận được ở một hạt giống, và luận văn dừng đúng ở đó.</a:t>
            </a:r>
            <a:endParaRPr lang="en-US" sz="1250" dirty="0"/>
          </a:p>
        </p:txBody>
      </p:sp>
      <p:sp>
        <p:nvSpPr>
          <p:cNvPr id="10" name="Shape 8"/>
          <p:cNvSpPr/>
          <p:nvPr/>
        </p:nvSpPr>
        <p:spPr>
          <a:xfrm>
            <a:off x="502920" y="342900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685800" y="3538728"/>
            <a:ext cx="1463040" cy="320040"/>
          </a:xfrm>
          <a:prstGeom prst="rect">
            <a:avLst/>
          </a:prstGeom>
          <a:noFill/>
          <a:ln/>
        </p:spPr>
        <p:txBody>
          <a:bodyPr wrap="square" lIns="0" tIns="0" rIns="0" bIns="0" rtlCol="0" anchor="t"/>
          <a:lstStyle/>
          <a:p>
            <a:pPr algn="l" indent="0" marL="0">
              <a:buNone/>
            </a:pPr>
            <a:r>
              <a:rPr lang="en-US" sz="1450" b="1" dirty="0">
                <a:solidFill>
                  <a:srgbClr val="990000"/>
                </a:solidFill>
                <a:latin typeface="Cambria" pitchFamily="34" charset="0"/>
                <a:ea typeface="Cambria" pitchFamily="34" charset="-122"/>
                <a:cs typeface="Cambria" pitchFamily="34" charset="-120"/>
              </a:rPr>
              <a:t>Phân tích lỗi</a:t>
            </a:r>
            <a:endParaRPr lang="en-US" sz="1450" dirty="0"/>
          </a:p>
        </p:txBody>
      </p:sp>
      <p:sp>
        <p:nvSpPr>
          <p:cNvPr id="12" name="Text 10"/>
          <p:cNvSpPr/>
          <p:nvPr/>
        </p:nvSpPr>
        <p:spPr>
          <a:xfrm>
            <a:off x="685800" y="3886200"/>
            <a:ext cx="7772400" cy="594360"/>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Cơ chế đúng trên 60,6% số bước, nhưng bị chặn bởi độ chính xác khai báo. Nhánh ứng viên: cơ chế chọn đạt 71,4 khi đưa ra lựa chọn, điểm nghẽn mới là bỏ cuộc quá mức.</a:t>
            </a:r>
            <a:endParaRPr lang="en-US" sz="1250" dirty="0"/>
          </a:p>
        </p:txBody>
      </p:sp>
      <p:sp>
        <p:nvSpPr>
          <p:cNvPr id="13" name="Text 11"/>
          <p:cNvSpPr/>
          <p:nvPr/>
        </p:nvSpPr>
        <p:spPr>
          <a:xfrm>
            <a:off x="502920" y="4709160"/>
            <a:ext cx="813816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Bài báo đã nộp</a:t>
            </a:r>
            <a:endParaRPr lang="en-US" sz="1300" dirty="0"/>
          </a:p>
        </p:txBody>
      </p:sp>
      <p:sp>
        <p:nvSpPr>
          <p:cNvPr id="14" name="Text 12"/>
          <p:cNvSpPr/>
          <p:nvPr/>
        </p:nvSpPr>
        <p:spPr>
          <a:xfrm>
            <a:off x="502920" y="5029200"/>
            <a:ext cx="21031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VCL 2026</a:t>
            </a:r>
            <a:endParaRPr lang="en-US" sz="1150" dirty="0"/>
          </a:p>
        </p:txBody>
      </p:sp>
      <p:sp>
        <p:nvSpPr>
          <p:cNvPr id="15" name="Text 13"/>
          <p:cNvSpPr/>
          <p:nvPr/>
        </p:nvSpPr>
        <p:spPr>
          <a:xfrm>
            <a:off x="2606040" y="5029200"/>
            <a:ext cx="397764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Nhãn quy chiếu tự động khi phần tử không có tên để gọi</a:t>
            </a:r>
            <a:endParaRPr lang="en-US" sz="1150" dirty="0"/>
          </a:p>
        </p:txBody>
      </p:sp>
      <p:sp>
        <p:nvSpPr>
          <p:cNvPr id="16" name="Text 14"/>
          <p:cNvSpPr/>
          <p:nvPr/>
        </p:nvSpPr>
        <p:spPr>
          <a:xfrm>
            <a:off x="6583680" y="5029200"/>
            <a:ext cx="2057400" cy="365760"/>
          </a:xfrm>
          <a:prstGeom prst="rect">
            <a:avLst/>
          </a:prstGeom>
          <a:noFill/>
          <a:ln/>
        </p:spPr>
        <p:txBody>
          <a:bodyPr wrap="square" lIns="38100" tIns="38100" rIns="38100" bIns="38100" rtlCol="0" anchor="ctr"/>
          <a:lstStyle/>
          <a:p>
            <a:pPr algn="r" indent="0" marL="0">
              <a:buNone/>
            </a:pPr>
            <a:r>
              <a:rPr lang="en-US" sz="1150" dirty="0">
                <a:solidFill>
                  <a:srgbClr val="5A5A66"/>
                </a:solidFill>
                <a:latin typeface="Cambria" pitchFamily="34" charset="0"/>
                <a:ea typeface="Cambria" pitchFamily="34" charset="-122"/>
                <a:cs typeface="Cambria" pitchFamily="34" charset="-120"/>
              </a:rPr>
              <a:t>đã nộp 30/8</a:t>
            </a:r>
            <a:endParaRPr lang="en-US" sz="1150" dirty="0"/>
          </a:p>
        </p:txBody>
      </p:sp>
      <p:sp>
        <p:nvSpPr>
          <p:cNvPr id="17" name="Shape 15"/>
          <p:cNvSpPr/>
          <p:nvPr/>
        </p:nvSpPr>
        <p:spPr>
          <a:xfrm>
            <a:off x="502920" y="5394960"/>
            <a:ext cx="8138160" cy="0"/>
          </a:xfrm>
          <a:prstGeom prst="line">
            <a:avLst/>
          </a:prstGeom>
          <a:noFill/>
          <a:ln w="12700">
            <a:solidFill>
              <a:srgbClr val="9A94AE"/>
            </a:solidFill>
            <a:prstDash val="solid"/>
          </a:ln>
        </p:spPr>
      </p:sp>
      <p:sp>
        <p:nvSpPr>
          <p:cNvPr id="18" name="Text 16"/>
          <p:cNvSpPr/>
          <p:nvPr/>
        </p:nvSpPr>
        <p:spPr>
          <a:xfrm>
            <a:off x="502920" y="5394960"/>
            <a:ext cx="21031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FAIR 2026</a:t>
            </a:r>
            <a:endParaRPr lang="en-US" sz="1150" dirty="0"/>
          </a:p>
        </p:txBody>
      </p:sp>
      <p:sp>
        <p:nvSpPr>
          <p:cNvPr id="19" name="Text 17"/>
          <p:cNvSpPr/>
          <p:nvPr/>
        </p:nvSpPr>
        <p:spPr>
          <a:xfrm>
            <a:off x="2606040" y="5394960"/>
            <a:ext cx="397764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Descriptor and Preference Targets for GUI Instruction Generation</a:t>
            </a:r>
            <a:endParaRPr lang="en-US" sz="1150" dirty="0"/>
          </a:p>
        </p:txBody>
      </p:sp>
      <p:sp>
        <p:nvSpPr>
          <p:cNvPr id="20" name="Text 18"/>
          <p:cNvSpPr/>
          <p:nvPr/>
        </p:nvSpPr>
        <p:spPr>
          <a:xfrm>
            <a:off x="6583680" y="5394960"/>
            <a:ext cx="2057400" cy="365760"/>
          </a:xfrm>
          <a:prstGeom prst="rect">
            <a:avLst/>
          </a:prstGeom>
          <a:noFill/>
          <a:ln/>
        </p:spPr>
        <p:txBody>
          <a:bodyPr wrap="square" lIns="38100" tIns="38100" rIns="38100" bIns="38100" rtlCol="0" anchor="ctr"/>
          <a:lstStyle/>
          <a:p>
            <a:pPr algn="r" indent="0" marL="0">
              <a:buNone/>
            </a:pPr>
            <a:r>
              <a:rPr lang="en-US" sz="1150" dirty="0">
                <a:solidFill>
                  <a:srgbClr val="5A5A66"/>
                </a:solidFill>
                <a:latin typeface="Cambria" pitchFamily="34" charset="0"/>
                <a:ea typeface="Cambria" pitchFamily="34" charset="-122"/>
                <a:cs typeface="Cambria" pitchFamily="34" charset="-120"/>
              </a:rPr>
              <a:t>đã gửi 31/8</a:t>
            </a:r>
            <a:endParaRPr lang="en-US" sz="1150" dirty="0"/>
          </a:p>
        </p:txBody>
      </p:sp>
      <p:sp>
        <p:nvSpPr>
          <p:cNvPr id="22" name="Shape 19"/>
          <p:cNvSpPr/>
          <p:nvPr/>
        </p:nvSpPr>
        <p:spPr>
          <a:xfrm>
            <a:off x="0" y="6620256"/>
            <a:ext cx="2743200" cy="237744"/>
          </a:xfrm>
          <a:prstGeom prst="rect">
            <a:avLst/>
          </a:prstGeom>
          <a:solidFill>
            <a:srgbClr val="191132"/>
          </a:solidFill>
          <a:ln/>
        </p:spPr>
      </p:sp>
      <p:sp>
        <p:nvSpPr>
          <p:cNvPr id="23" name="Shape 20"/>
          <p:cNvSpPr/>
          <p:nvPr/>
        </p:nvSpPr>
        <p:spPr>
          <a:xfrm>
            <a:off x="2743200" y="6620256"/>
            <a:ext cx="3383280" cy="237744"/>
          </a:xfrm>
          <a:prstGeom prst="rect">
            <a:avLst/>
          </a:prstGeom>
          <a:solidFill>
            <a:srgbClr val="25194B"/>
          </a:solidFill>
          <a:ln/>
        </p:spPr>
      </p:sp>
      <p:sp>
        <p:nvSpPr>
          <p:cNvPr id="24" name="Shape 21"/>
          <p:cNvSpPr/>
          <p:nvPr/>
        </p:nvSpPr>
        <p:spPr>
          <a:xfrm>
            <a:off x="6126480" y="6620256"/>
            <a:ext cx="1737360" cy="237744"/>
          </a:xfrm>
          <a:prstGeom prst="rect">
            <a:avLst/>
          </a:prstGeom>
          <a:solidFill>
            <a:srgbClr val="4F417A"/>
          </a:solidFill>
          <a:ln/>
        </p:spPr>
      </p:sp>
      <p:sp>
        <p:nvSpPr>
          <p:cNvPr id="25" name="Shape 22"/>
          <p:cNvSpPr/>
          <p:nvPr/>
        </p:nvSpPr>
        <p:spPr>
          <a:xfrm>
            <a:off x="7863840" y="6620256"/>
            <a:ext cx="1280160" cy="237744"/>
          </a:xfrm>
          <a:prstGeom prst="rect">
            <a:avLst/>
          </a:prstGeom>
          <a:solidFill>
            <a:srgbClr val="7A7099"/>
          </a:solidFill>
          <a:ln/>
        </p:spPr>
      </p:sp>
      <p:sp>
        <p:nvSpPr>
          <p:cNvPr id="26" name="Text 2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7" name="Text 2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8"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9" name="Text 2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28/29</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322164"/>
          </a:solidFill>
          <a:ln/>
        </p:spPr>
      </p:sp>
      <p:sp>
        <p:nvSpPr>
          <p:cNvPr id="3" name="Text 1"/>
          <p:cNvSpPr/>
          <p:nvPr/>
        </p:nvSpPr>
        <p:spPr>
          <a:xfrm>
            <a:off x="731520" y="2377440"/>
            <a:ext cx="7680960" cy="640080"/>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Trân trọng cảm ơn</a:t>
            </a:r>
            <a:endParaRPr lang="en-US" sz="2600" dirty="0"/>
          </a:p>
        </p:txBody>
      </p:sp>
      <p:sp>
        <p:nvSpPr>
          <p:cNvPr id="4" name="Text 2"/>
          <p:cNvSpPr/>
          <p:nvPr/>
        </p:nvSpPr>
        <p:spPr>
          <a:xfrm>
            <a:off x="731520" y="3200400"/>
            <a:ext cx="7680960" cy="457200"/>
          </a:xfrm>
          <a:prstGeom prst="rect">
            <a:avLst/>
          </a:prstGeom>
          <a:noFill/>
          <a:ln/>
        </p:spPr>
        <p:txBody>
          <a:bodyPr wrap="square" lIns="0" tIns="0" rIns="0" bIns="0" rtlCol="0" anchor="t"/>
          <a:lstStyle/>
          <a:p>
            <a:pPr algn="ctr" indent="0" marL="0">
              <a:buNone/>
            </a:pPr>
            <a:r>
              <a:rPr lang="en-US" sz="1600" dirty="0">
                <a:solidFill>
                  <a:srgbClr val="D8D4E6"/>
                </a:solidFill>
                <a:latin typeface="Cambria" pitchFamily="34" charset="0"/>
                <a:ea typeface="Cambria" pitchFamily="34" charset="-122"/>
                <a:cs typeface="Cambria" pitchFamily="34" charset="-120"/>
              </a:rPr>
              <a:t>Hỏi đáp và thảo luận</a:t>
            </a:r>
            <a:endParaRPr lang="en-US" sz="1600" dirty="0"/>
          </a:p>
        </p:txBody>
      </p:sp>
      <p:sp>
        <p:nvSpPr>
          <p:cNvPr id="5" name="Shape 3"/>
          <p:cNvSpPr/>
          <p:nvPr/>
        </p:nvSpPr>
        <p:spPr>
          <a:xfrm>
            <a:off x="3291840" y="3977640"/>
            <a:ext cx="2560320" cy="0"/>
          </a:xfrm>
          <a:prstGeom prst="line">
            <a:avLst/>
          </a:prstGeom>
          <a:noFill/>
          <a:ln w="19050">
            <a:solidFill>
              <a:srgbClr val="7A7099"/>
            </a:solidFill>
            <a:prstDash val="solid"/>
          </a:ln>
        </p:spPr>
      </p:sp>
      <p:sp>
        <p:nvSpPr>
          <p:cNvPr id="6" name="Text 4"/>
          <p:cNvSpPr/>
          <p:nvPr/>
        </p:nvSpPr>
        <p:spPr>
          <a:xfrm>
            <a:off x="731520" y="4251960"/>
            <a:ext cx="7680960" cy="731520"/>
          </a:xfrm>
          <a:prstGeom prst="rect">
            <a:avLst/>
          </a:prstGeom>
          <a:noFill/>
          <a:ln/>
        </p:spPr>
        <p:txBody>
          <a:bodyPr wrap="square" lIns="0" tIns="0" rIns="0" bIns="0" rtlCol="0" anchor="t"/>
          <a:lstStyle/>
          <a:p>
            <a:pPr algn="ctr" indent="0" marL="0">
              <a:lnSpc>
                <a:spcPct val="140000"/>
              </a:lnSpc>
              <a:buNone/>
            </a:pPr>
            <a:r>
              <a:rPr lang="en-US" sz="1300" dirty="0">
                <a:solidFill>
                  <a:srgbClr val="D8D4E6"/>
                </a:solidFill>
                <a:latin typeface="Cambria" pitchFamily="34" charset="0"/>
                <a:ea typeface="Cambria" pitchFamily="34" charset="-122"/>
                <a:cs typeface="Cambria" pitchFamily="34" charset="-120"/>
              </a:rPr>
              <a:t>Lê Đoàn Phương Uyên   ·   TS. Nguyễn Hồng Bửu Long</a:t>
            </a:r>
            <a:endParaRPr lang="en-US" sz="1300" dirty="0"/>
          </a:p>
          <a:p>
            <a:pPr algn="ctr" indent="0" marL="0">
              <a:lnSpc>
                <a:spcPct val="140000"/>
              </a:lnSpc>
              <a:buNone/>
            </a:pPr>
            <a:r>
              <a:rPr lang="en-US" sz="1300" dirty="0">
                <a:solidFill>
                  <a:srgbClr val="D8D4E6"/>
                </a:solidFill>
                <a:latin typeface="Cambria" pitchFamily="34" charset="0"/>
                <a:ea typeface="Cambria" pitchFamily="34" charset="-122"/>
                <a:cs typeface="Cambria" pitchFamily="34" charset="-120"/>
              </a:rPr>
              <a:t>Trường Đại học Khoa học Tự nhiên, ĐHQG-HCM</a:t>
            </a:r>
            <a:endParaRPr lang="en-US" sz="1300" dirty="0"/>
          </a:p>
        </p:txBody>
      </p:sp>
      <p:sp>
        <p:nvSpPr>
          <p:cNvPr id="7" name="Shape 5"/>
          <p:cNvSpPr/>
          <p:nvPr/>
        </p:nvSpPr>
        <p:spPr>
          <a:xfrm>
            <a:off x="0" y="6620256"/>
            <a:ext cx="2743200" cy="237744"/>
          </a:xfrm>
          <a:prstGeom prst="rect">
            <a:avLst/>
          </a:prstGeom>
          <a:solidFill>
            <a:srgbClr val="191132"/>
          </a:solidFill>
          <a:ln/>
        </p:spPr>
      </p:sp>
      <p:sp>
        <p:nvSpPr>
          <p:cNvPr id="8" name="Shape 6"/>
          <p:cNvSpPr/>
          <p:nvPr/>
        </p:nvSpPr>
        <p:spPr>
          <a:xfrm>
            <a:off x="2743200" y="6620256"/>
            <a:ext cx="3383280" cy="237744"/>
          </a:xfrm>
          <a:prstGeom prst="rect">
            <a:avLst/>
          </a:prstGeom>
          <a:solidFill>
            <a:srgbClr val="25194B"/>
          </a:solidFill>
          <a:ln/>
        </p:spPr>
      </p:sp>
      <p:sp>
        <p:nvSpPr>
          <p:cNvPr id="9" name="Shape 7"/>
          <p:cNvSpPr/>
          <p:nvPr/>
        </p:nvSpPr>
        <p:spPr>
          <a:xfrm>
            <a:off x="6126480" y="6620256"/>
            <a:ext cx="1737360" cy="237744"/>
          </a:xfrm>
          <a:prstGeom prst="rect">
            <a:avLst/>
          </a:prstGeom>
          <a:solidFill>
            <a:srgbClr val="4F417A"/>
          </a:solidFill>
          <a:ln/>
        </p:spPr>
      </p:sp>
      <p:sp>
        <p:nvSpPr>
          <p:cNvPr id="10" name="Shape 8"/>
          <p:cNvSpPr/>
          <p:nvPr/>
        </p:nvSpPr>
        <p:spPr>
          <a:xfrm>
            <a:off x="7863840" y="6620256"/>
            <a:ext cx="1280160" cy="237744"/>
          </a:xfrm>
          <a:prstGeom prst="rect">
            <a:avLst/>
          </a:prstGeom>
          <a:solidFill>
            <a:srgbClr val="7A7099"/>
          </a:solidFill>
          <a:ln/>
        </p:spPr>
      </p:sp>
      <p:sp>
        <p:nvSpPr>
          <p:cNvPr id="11" name="Text 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2" name="Text 1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3" name="Text 1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4" name="Text 1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29/29</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Lý do không dùng BLEU, ROUGE hay vector ngữ nghĩa</a:t>
            </a:r>
            <a:endParaRPr lang="en-US" sz="1900" dirty="0"/>
          </a:p>
        </p:txBody>
      </p:sp>
      <p:sp>
        <p:nvSpPr>
          <p:cNvPr id="4" name="Shape 2"/>
          <p:cNvSpPr/>
          <p:nvPr/>
        </p:nvSpPr>
        <p:spPr>
          <a:xfrm>
            <a:off x="502920" y="1005840"/>
            <a:ext cx="8129016" cy="384048"/>
          </a:xfrm>
          <a:prstGeom prst="rect">
            <a:avLst/>
          </a:prstGeom>
          <a:solidFill>
            <a:srgbClr val="322164"/>
          </a:solidFill>
          <a:ln/>
        </p:spPr>
      </p:sp>
      <p:sp>
        <p:nvSpPr>
          <p:cNvPr id="5" name="Text 3"/>
          <p:cNvSpPr/>
          <p:nvPr/>
        </p:nvSpPr>
        <p:spPr>
          <a:xfrm>
            <a:off x="502920" y="1005840"/>
            <a:ext cx="32004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Nhánh</a:t>
            </a:r>
            <a:endParaRPr lang="en-US" sz="1250" dirty="0"/>
          </a:p>
        </p:txBody>
      </p:sp>
      <p:sp>
        <p:nvSpPr>
          <p:cNvPr id="6" name="Text 4"/>
          <p:cNvSpPr/>
          <p:nvPr/>
        </p:nvSpPr>
        <p:spPr>
          <a:xfrm>
            <a:off x="3703320" y="1005840"/>
            <a:ext cx="173736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Executability</a:t>
            </a:r>
            <a:endParaRPr lang="en-US" sz="1250" dirty="0"/>
          </a:p>
        </p:txBody>
      </p:sp>
      <p:sp>
        <p:nvSpPr>
          <p:cNvPr id="7" name="Text 5"/>
          <p:cNvSpPr/>
          <p:nvPr/>
        </p:nvSpPr>
        <p:spPr>
          <a:xfrm>
            <a:off x="5440680" y="1005840"/>
            <a:ext cx="164592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BLEU-4</a:t>
            </a:r>
            <a:endParaRPr lang="en-US" sz="1250" dirty="0"/>
          </a:p>
        </p:txBody>
      </p:sp>
      <p:sp>
        <p:nvSpPr>
          <p:cNvPr id="8" name="Text 6"/>
          <p:cNvSpPr/>
          <p:nvPr/>
        </p:nvSpPr>
        <p:spPr>
          <a:xfrm>
            <a:off x="7086600" y="1005840"/>
            <a:ext cx="1545336"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ROUGE-L</a:t>
            </a:r>
            <a:endParaRPr lang="en-US" sz="1250" dirty="0"/>
          </a:p>
        </p:txBody>
      </p:sp>
      <p:sp>
        <p:nvSpPr>
          <p:cNvPr id="9" name="Text 7"/>
          <p:cNvSpPr/>
          <p:nvPr/>
        </p:nvSpPr>
        <p:spPr>
          <a:xfrm>
            <a:off x="502920" y="138988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Base</a:t>
            </a:r>
            <a:endParaRPr lang="en-US" sz="1250" dirty="0"/>
          </a:p>
        </p:txBody>
      </p:sp>
      <p:sp>
        <p:nvSpPr>
          <p:cNvPr id="10" name="Text 8"/>
          <p:cNvSpPr/>
          <p:nvPr/>
        </p:nvSpPr>
        <p:spPr>
          <a:xfrm>
            <a:off x="3703320" y="1389888"/>
            <a:ext cx="17373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47,6</a:t>
            </a:r>
            <a:endParaRPr lang="en-US" sz="1250" dirty="0"/>
          </a:p>
        </p:txBody>
      </p:sp>
      <p:sp>
        <p:nvSpPr>
          <p:cNvPr id="11" name="Text 9"/>
          <p:cNvSpPr/>
          <p:nvPr/>
        </p:nvSpPr>
        <p:spPr>
          <a:xfrm>
            <a:off x="5440680" y="138988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9,9</a:t>
            </a:r>
            <a:endParaRPr lang="en-US" sz="1250" dirty="0"/>
          </a:p>
        </p:txBody>
      </p:sp>
      <p:sp>
        <p:nvSpPr>
          <p:cNvPr id="12" name="Text 10"/>
          <p:cNvSpPr/>
          <p:nvPr/>
        </p:nvSpPr>
        <p:spPr>
          <a:xfrm>
            <a:off x="7086600" y="1389888"/>
            <a:ext cx="154533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40,4</a:t>
            </a:r>
            <a:endParaRPr lang="en-US" sz="1250" dirty="0"/>
          </a:p>
        </p:txBody>
      </p:sp>
      <p:sp>
        <p:nvSpPr>
          <p:cNvPr id="13" name="Shape 11"/>
          <p:cNvSpPr/>
          <p:nvPr/>
        </p:nvSpPr>
        <p:spPr>
          <a:xfrm>
            <a:off x="502920" y="1755648"/>
            <a:ext cx="8129016" cy="0"/>
          </a:xfrm>
          <a:prstGeom prst="line">
            <a:avLst/>
          </a:prstGeom>
          <a:noFill/>
          <a:ln w="12700">
            <a:solidFill>
              <a:srgbClr val="9A94AE"/>
            </a:solidFill>
            <a:prstDash val="solid"/>
          </a:ln>
        </p:spPr>
      </p:sp>
      <p:sp>
        <p:nvSpPr>
          <p:cNvPr id="14" name="Text 12"/>
          <p:cNvSpPr/>
          <p:nvPr/>
        </p:nvSpPr>
        <p:spPr>
          <a:xfrm>
            <a:off x="502920" y="175564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 (hạt giống 101)</a:t>
            </a:r>
            <a:endParaRPr lang="en-US" sz="1250" dirty="0"/>
          </a:p>
        </p:txBody>
      </p:sp>
      <p:sp>
        <p:nvSpPr>
          <p:cNvPr id="15" name="Text 13"/>
          <p:cNvSpPr/>
          <p:nvPr/>
        </p:nvSpPr>
        <p:spPr>
          <a:xfrm>
            <a:off x="3703320" y="1755648"/>
            <a:ext cx="17373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59,1</a:t>
            </a:r>
            <a:endParaRPr lang="en-US" sz="1250" dirty="0"/>
          </a:p>
        </p:txBody>
      </p:sp>
      <p:sp>
        <p:nvSpPr>
          <p:cNvPr id="16" name="Text 14"/>
          <p:cNvSpPr/>
          <p:nvPr/>
        </p:nvSpPr>
        <p:spPr>
          <a:xfrm>
            <a:off x="5440680" y="175564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38,7</a:t>
            </a:r>
            <a:endParaRPr lang="en-US" sz="1250" dirty="0"/>
          </a:p>
        </p:txBody>
      </p:sp>
      <p:sp>
        <p:nvSpPr>
          <p:cNvPr id="17" name="Text 15"/>
          <p:cNvSpPr/>
          <p:nvPr/>
        </p:nvSpPr>
        <p:spPr>
          <a:xfrm>
            <a:off x="7086600" y="1755648"/>
            <a:ext cx="154533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67,3</a:t>
            </a:r>
            <a:endParaRPr lang="en-US" sz="1250" dirty="0"/>
          </a:p>
        </p:txBody>
      </p:sp>
      <p:sp>
        <p:nvSpPr>
          <p:cNvPr id="18" name="Shape 16"/>
          <p:cNvSpPr/>
          <p:nvPr/>
        </p:nvSpPr>
        <p:spPr>
          <a:xfrm>
            <a:off x="502920" y="2121408"/>
            <a:ext cx="8129016" cy="0"/>
          </a:xfrm>
          <a:prstGeom prst="line">
            <a:avLst/>
          </a:prstGeom>
          <a:noFill/>
          <a:ln w="12700">
            <a:solidFill>
              <a:srgbClr val="9A94AE"/>
            </a:solidFill>
            <a:prstDash val="solid"/>
          </a:ln>
        </p:spPr>
      </p:sp>
      <p:sp>
        <p:nvSpPr>
          <p:cNvPr id="19" name="Text 17"/>
          <p:cNvSpPr/>
          <p:nvPr/>
        </p:nvSpPr>
        <p:spPr>
          <a:xfrm>
            <a:off x="502920" y="212140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CE2-S2</a:t>
            </a:r>
            <a:endParaRPr lang="en-US" sz="1250" dirty="0"/>
          </a:p>
        </p:txBody>
      </p:sp>
      <p:sp>
        <p:nvSpPr>
          <p:cNvPr id="20" name="Text 18"/>
          <p:cNvSpPr/>
          <p:nvPr/>
        </p:nvSpPr>
        <p:spPr>
          <a:xfrm>
            <a:off x="3703320" y="2121408"/>
            <a:ext cx="17373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59,4</a:t>
            </a:r>
            <a:endParaRPr lang="en-US" sz="1250" dirty="0"/>
          </a:p>
        </p:txBody>
      </p:sp>
      <p:sp>
        <p:nvSpPr>
          <p:cNvPr id="21" name="Text 19"/>
          <p:cNvSpPr/>
          <p:nvPr/>
        </p:nvSpPr>
        <p:spPr>
          <a:xfrm>
            <a:off x="5440680" y="212140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38,1</a:t>
            </a:r>
            <a:endParaRPr lang="en-US" sz="1250" dirty="0"/>
          </a:p>
        </p:txBody>
      </p:sp>
      <p:sp>
        <p:nvSpPr>
          <p:cNvPr id="22" name="Text 20"/>
          <p:cNvSpPr/>
          <p:nvPr/>
        </p:nvSpPr>
        <p:spPr>
          <a:xfrm>
            <a:off x="7086600" y="2121408"/>
            <a:ext cx="1545336" cy="36576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68,6</a:t>
            </a:r>
            <a:endParaRPr lang="en-US" sz="1250" dirty="0"/>
          </a:p>
        </p:txBody>
      </p:sp>
      <p:sp>
        <p:nvSpPr>
          <p:cNvPr id="23" name="Shape 21"/>
          <p:cNvSpPr/>
          <p:nvPr/>
        </p:nvSpPr>
        <p:spPr>
          <a:xfrm>
            <a:off x="502920" y="2487168"/>
            <a:ext cx="8129016" cy="0"/>
          </a:xfrm>
          <a:prstGeom prst="line">
            <a:avLst/>
          </a:prstGeom>
          <a:noFill/>
          <a:ln w="12700">
            <a:solidFill>
              <a:srgbClr val="9A94AE"/>
            </a:solidFill>
            <a:prstDash val="solid"/>
          </a:ln>
        </p:spPr>
      </p:sp>
      <p:sp>
        <p:nvSpPr>
          <p:cNvPr id="24" name="Text 22"/>
          <p:cNvSpPr/>
          <p:nvPr/>
        </p:nvSpPr>
        <p:spPr>
          <a:xfrm>
            <a:off x="502920" y="248716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MIN-DESC</a:t>
            </a:r>
            <a:endParaRPr lang="en-US" sz="1250" dirty="0"/>
          </a:p>
        </p:txBody>
      </p:sp>
      <p:sp>
        <p:nvSpPr>
          <p:cNvPr id="25" name="Text 23"/>
          <p:cNvSpPr/>
          <p:nvPr/>
        </p:nvSpPr>
        <p:spPr>
          <a:xfrm>
            <a:off x="3703320" y="2487168"/>
            <a:ext cx="1737360" cy="36576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60,0</a:t>
            </a:r>
            <a:endParaRPr lang="en-US" sz="1250" dirty="0"/>
          </a:p>
        </p:txBody>
      </p:sp>
      <p:sp>
        <p:nvSpPr>
          <p:cNvPr id="26" name="Text 24"/>
          <p:cNvSpPr/>
          <p:nvPr/>
        </p:nvSpPr>
        <p:spPr>
          <a:xfrm>
            <a:off x="5440680" y="248716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37,9</a:t>
            </a:r>
            <a:endParaRPr lang="en-US" sz="1250" dirty="0"/>
          </a:p>
        </p:txBody>
      </p:sp>
      <p:sp>
        <p:nvSpPr>
          <p:cNvPr id="27" name="Text 25"/>
          <p:cNvSpPr/>
          <p:nvPr/>
        </p:nvSpPr>
        <p:spPr>
          <a:xfrm>
            <a:off x="7086600" y="2487168"/>
            <a:ext cx="154533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68,4</a:t>
            </a:r>
            <a:endParaRPr lang="en-US" sz="1250" dirty="0"/>
          </a:p>
        </p:txBody>
      </p:sp>
      <p:sp>
        <p:nvSpPr>
          <p:cNvPr id="28" name="Shape 26"/>
          <p:cNvSpPr/>
          <p:nvPr/>
        </p:nvSpPr>
        <p:spPr>
          <a:xfrm>
            <a:off x="502920" y="2852928"/>
            <a:ext cx="8129016" cy="0"/>
          </a:xfrm>
          <a:prstGeom prst="line">
            <a:avLst/>
          </a:prstGeom>
          <a:noFill/>
          <a:ln w="12700">
            <a:solidFill>
              <a:srgbClr val="9A94AE"/>
            </a:solidFill>
            <a:prstDash val="solid"/>
          </a:ln>
        </p:spPr>
      </p:sp>
      <p:sp>
        <p:nvSpPr>
          <p:cNvPr id="29" name="Text 27"/>
          <p:cNvSpPr/>
          <p:nvPr/>
        </p:nvSpPr>
        <p:spPr>
          <a:xfrm>
            <a:off x="502920" y="285292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Nhánh ứng viên</a:t>
            </a:r>
            <a:endParaRPr lang="en-US" sz="1250" dirty="0"/>
          </a:p>
        </p:txBody>
      </p:sp>
      <p:sp>
        <p:nvSpPr>
          <p:cNvPr id="30" name="Text 28"/>
          <p:cNvSpPr/>
          <p:nvPr/>
        </p:nvSpPr>
        <p:spPr>
          <a:xfrm>
            <a:off x="3703320" y="2852928"/>
            <a:ext cx="17373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56,1</a:t>
            </a:r>
            <a:endParaRPr lang="en-US" sz="1250" dirty="0"/>
          </a:p>
        </p:txBody>
      </p:sp>
      <p:sp>
        <p:nvSpPr>
          <p:cNvPr id="31" name="Text 29"/>
          <p:cNvSpPr/>
          <p:nvPr/>
        </p:nvSpPr>
        <p:spPr>
          <a:xfrm>
            <a:off x="5440680" y="285292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34,5</a:t>
            </a:r>
            <a:endParaRPr lang="en-US" sz="1250" dirty="0"/>
          </a:p>
        </p:txBody>
      </p:sp>
      <p:sp>
        <p:nvSpPr>
          <p:cNvPr id="32" name="Text 30"/>
          <p:cNvSpPr/>
          <p:nvPr/>
        </p:nvSpPr>
        <p:spPr>
          <a:xfrm>
            <a:off x="7086600" y="2852928"/>
            <a:ext cx="154533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63,0</a:t>
            </a:r>
            <a:endParaRPr lang="en-US" sz="1250" dirty="0"/>
          </a:p>
        </p:txBody>
      </p:sp>
      <p:sp>
        <p:nvSpPr>
          <p:cNvPr id="33" name="Shape 31"/>
          <p:cNvSpPr/>
          <p:nvPr/>
        </p:nvSpPr>
        <p:spPr>
          <a:xfrm>
            <a:off x="502920" y="3218688"/>
            <a:ext cx="8129016" cy="0"/>
          </a:xfrm>
          <a:prstGeom prst="line">
            <a:avLst/>
          </a:prstGeom>
          <a:noFill/>
          <a:ln w="12700">
            <a:solidFill>
              <a:srgbClr val="9A94AE"/>
            </a:solidFill>
            <a:prstDash val="solid"/>
          </a:ln>
        </p:spPr>
      </p:sp>
      <p:sp>
        <p:nvSpPr>
          <p:cNvPr id="34" name="Text 32"/>
          <p:cNvSpPr/>
          <p:nvPr/>
        </p:nvSpPr>
        <p:spPr>
          <a:xfrm>
            <a:off x="502920" y="3218688"/>
            <a:ext cx="32004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chuẩn</a:t>
            </a:r>
            <a:endParaRPr lang="en-US" sz="1250" dirty="0"/>
          </a:p>
        </p:txBody>
      </p:sp>
      <p:sp>
        <p:nvSpPr>
          <p:cNvPr id="35" name="Text 33"/>
          <p:cNvSpPr/>
          <p:nvPr/>
        </p:nvSpPr>
        <p:spPr>
          <a:xfrm>
            <a:off x="3703320" y="3218688"/>
            <a:ext cx="173736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75,7</a:t>
            </a:r>
            <a:endParaRPr lang="en-US" sz="1250" dirty="0"/>
          </a:p>
        </p:txBody>
      </p:sp>
      <p:sp>
        <p:nvSpPr>
          <p:cNvPr id="36" name="Text 34"/>
          <p:cNvSpPr/>
          <p:nvPr/>
        </p:nvSpPr>
        <p:spPr>
          <a:xfrm>
            <a:off x="5440680" y="3218688"/>
            <a:ext cx="164592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96,1</a:t>
            </a:r>
            <a:endParaRPr lang="en-US" sz="1250" dirty="0"/>
          </a:p>
        </p:txBody>
      </p:sp>
      <p:sp>
        <p:nvSpPr>
          <p:cNvPr id="37" name="Text 35"/>
          <p:cNvSpPr/>
          <p:nvPr/>
        </p:nvSpPr>
        <p:spPr>
          <a:xfrm>
            <a:off x="7086600" y="3218688"/>
            <a:ext cx="154533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100,0</a:t>
            </a:r>
            <a:endParaRPr lang="en-US" sz="1250" dirty="0"/>
          </a:p>
        </p:txBody>
      </p:sp>
      <p:sp>
        <p:nvSpPr>
          <p:cNvPr id="38" name="Text 36"/>
          <p:cNvSpPr/>
          <p:nvPr/>
        </p:nvSpPr>
        <p:spPr>
          <a:xfrm>
            <a:off x="502920" y="3703320"/>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9" name="Text 37"/>
          <p:cNvSpPr/>
          <p:nvPr/>
        </p:nvSpPr>
        <p:spPr>
          <a:xfrm>
            <a:off x="731520" y="3703320"/>
            <a:ext cx="7909560" cy="548640"/>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Ba thước cùng thứ tự ở ba nhánh cách xa nhau; trong cụm 57 đến 60 thì bất đồng: BLEU xếp MIN-DESC dưới S1, ROUGE-L xếp CE2-S2 cao nhất</a:t>
            </a:r>
            <a:endParaRPr lang="en-US" sz="1200" dirty="0"/>
          </a:p>
        </p:txBody>
      </p:sp>
      <p:sp>
        <p:nvSpPr>
          <p:cNvPr id="40" name="Text 38"/>
          <p:cNvSpPr/>
          <p:nvPr/>
        </p:nvSpPr>
        <p:spPr>
          <a:xfrm>
            <a:off x="502920" y="4270248"/>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1" name="Text 39"/>
          <p:cNvSpPr/>
          <p:nvPr/>
        </p:nvSpPr>
        <p:spPr>
          <a:xfrm>
            <a:off x="731520" y="4270248"/>
            <a:ext cx="7909560" cy="548640"/>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So khớp chuỗi kết oan 97,5% số câu diễn đạt khác; vector ngữ nghĩa cho AUC 0,336</a:t>
            </a:r>
            <a:endParaRPr lang="en-US" sz="1200" dirty="0"/>
          </a:p>
        </p:txBody>
      </p:sp>
      <p:sp>
        <p:nvSpPr>
          <p:cNvPr id="42" name="Text 40"/>
          <p:cNvSpPr/>
          <p:nvPr/>
        </p:nvSpPr>
        <p:spPr>
          <a:xfrm>
            <a:off x="502920" y="4837176"/>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3" name="Text 41"/>
          <p:cNvSpPr/>
          <p:nvPr/>
        </p:nvSpPr>
        <p:spPr>
          <a:xfrm>
            <a:off x="731520" y="4837176"/>
            <a:ext cx="7909560" cy="548640"/>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Zhao và cộng sự (EACL 2021) khuyên dùng thước có tham chiếu khi xếp hạng hệ thống, nên luận văn chỉ phát biểu ở mức hệ thống</a:t>
            </a:r>
            <a:endParaRPr lang="en-US" sz="1200" dirty="0"/>
          </a:p>
        </p:txBody>
      </p:sp>
      <p:sp>
        <p:nvSpPr>
          <p:cNvPr id="44" name="Text 42"/>
          <p:cNvSpPr/>
          <p:nvPr/>
        </p:nvSpPr>
        <p:spPr>
          <a:xfrm>
            <a:off x="502920" y="5404104"/>
            <a:ext cx="201168" cy="566928"/>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5" name="Text 43"/>
          <p:cNvSpPr/>
          <p:nvPr/>
        </p:nvSpPr>
        <p:spPr>
          <a:xfrm>
            <a:off x="731520" y="5404104"/>
            <a:ext cx="7909560" cy="548640"/>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Bản thước không tham chiếu cho kết luận lệch không quá 0,20 điểm</a:t>
            </a:r>
            <a:endParaRPr lang="en-US" sz="1200" dirty="0"/>
          </a:p>
        </p:txBody>
      </p:sp>
      <p:sp>
        <p:nvSpPr>
          <p:cNvPr id="46" name="Shape 44"/>
          <p:cNvSpPr/>
          <p:nvPr/>
        </p:nvSpPr>
        <p:spPr>
          <a:xfrm>
            <a:off x="0" y="6620256"/>
            <a:ext cx="2743200" cy="237744"/>
          </a:xfrm>
          <a:prstGeom prst="rect">
            <a:avLst/>
          </a:prstGeom>
          <a:solidFill>
            <a:srgbClr val="191132"/>
          </a:solidFill>
          <a:ln/>
        </p:spPr>
      </p:sp>
      <p:sp>
        <p:nvSpPr>
          <p:cNvPr id="47" name="Shape 45"/>
          <p:cNvSpPr/>
          <p:nvPr/>
        </p:nvSpPr>
        <p:spPr>
          <a:xfrm>
            <a:off x="2743200" y="6620256"/>
            <a:ext cx="3383280" cy="237744"/>
          </a:xfrm>
          <a:prstGeom prst="rect">
            <a:avLst/>
          </a:prstGeom>
          <a:solidFill>
            <a:srgbClr val="25194B"/>
          </a:solidFill>
          <a:ln/>
        </p:spPr>
      </p:sp>
      <p:sp>
        <p:nvSpPr>
          <p:cNvPr id="48" name="Shape 46"/>
          <p:cNvSpPr/>
          <p:nvPr/>
        </p:nvSpPr>
        <p:spPr>
          <a:xfrm>
            <a:off x="6126480" y="6620256"/>
            <a:ext cx="1737360" cy="237744"/>
          </a:xfrm>
          <a:prstGeom prst="rect">
            <a:avLst/>
          </a:prstGeom>
          <a:solidFill>
            <a:srgbClr val="4F417A"/>
          </a:solidFill>
          <a:ln/>
        </p:spPr>
      </p:sp>
      <p:sp>
        <p:nvSpPr>
          <p:cNvPr id="49" name="Shape 47"/>
          <p:cNvSpPr/>
          <p:nvPr/>
        </p:nvSpPr>
        <p:spPr>
          <a:xfrm>
            <a:off x="7863840" y="6620256"/>
            <a:ext cx="1280160" cy="237744"/>
          </a:xfrm>
          <a:prstGeom prst="rect">
            <a:avLst/>
          </a:prstGeom>
          <a:solidFill>
            <a:srgbClr val="7A7099"/>
          </a:solidFill>
          <a:ln/>
        </p:spPr>
      </p:sp>
      <p:sp>
        <p:nvSpPr>
          <p:cNvPr id="50" name="Text 4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1" name="Text 4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2" name="Text 5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3" name="Text 5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Chấm lại bằng UI-Venus-Ground-7B</a:t>
            </a:r>
            <a:endParaRPr lang="en-US" sz="1900" dirty="0"/>
          </a:p>
        </p:txBody>
      </p:sp>
      <p:sp>
        <p:nvSpPr>
          <p:cNvPr id="4" name="Text 2"/>
          <p:cNvSpPr/>
          <p:nvPr/>
        </p:nvSpPr>
        <p:spPr>
          <a:xfrm>
            <a:off x="502920" y="777240"/>
            <a:ext cx="8138160" cy="27432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Lát 2.532 bước, mô hình định vị thứ hai không dùng AndroidControl khi huấn luyện</a:t>
            </a:r>
            <a:endParaRPr lang="en-US" sz="1200" dirty="0"/>
          </a:p>
        </p:txBody>
      </p:sp>
      <p:sp>
        <p:nvSpPr>
          <p:cNvPr id="5" name="Shape 3"/>
          <p:cNvSpPr/>
          <p:nvPr/>
        </p:nvSpPr>
        <p:spPr>
          <a:xfrm>
            <a:off x="502920" y="1143000"/>
            <a:ext cx="8129016" cy="384048"/>
          </a:xfrm>
          <a:prstGeom prst="rect">
            <a:avLst/>
          </a:prstGeom>
          <a:solidFill>
            <a:srgbClr val="322164"/>
          </a:solidFill>
          <a:ln/>
        </p:spPr>
      </p:sp>
      <p:sp>
        <p:nvSpPr>
          <p:cNvPr id="6" name="Text 4"/>
          <p:cNvSpPr/>
          <p:nvPr/>
        </p:nvSpPr>
        <p:spPr>
          <a:xfrm>
            <a:off x="502920" y="1143000"/>
            <a:ext cx="292608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Phép so</a:t>
            </a:r>
            <a:endParaRPr lang="en-US" sz="1250" dirty="0"/>
          </a:p>
        </p:txBody>
      </p:sp>
      <p:sp>
        <p:nvSpPr>
          <p:cNvPr id="7" name="Text 5"/>
          <p:cNvSpPr/>
          <p:nvPr/>
        </p:nvSpPr>
        <p:spPr>
          <a:xfrm>
            <a:off x="3429000" y="1143000"/>
            <a:ext cx="26060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UGround</a:t>
            </a:r>
            <a:endParaRPr lang="en-US" sz="1250" dirty="0"/>
          </a:p>
        </p:txBody>
      </p:sp>
      <p:sp>
        <p:nvSpPr>
          <p:cNvPr id="8" name="Text 6"/>
          <p:cNvSpPr/>
          <p:nvPr/>
        </p:nvSpPr>
        <p:spPr>
          <a:xfrm>
            <a:off x="6035040" y="1143000"/>
            <a:ext cx="2596896"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UI-Venus</a:t>
            </a:r>
            <a:endParaRPr lang="en-US" sz="1250" dirty="0"/>
          </a:p>
        </p:txBody>
      </p:sp>
      <p:sp>
        <p:nvSpPr>
          <p:cNvPr id="9" name="Text 7"/>
          <p:cNvSpPr/>
          <p:nvPr/>
        </p:nvSpPr>
        <p:spPr>
          <a:xfrm>
            <a:off x="502920" y="1527048"/>
            <a:ext cx="2926080" cy="502920"/>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S1 − Base, mốc đối chiếu</a:t>
            </a:r>
            <a:endParaRPr lang="en-US" sz="1250" dirty="0"/>
          </a:p>
        </p:txBody>
      </p:sp>
      <p:sp>
        <p:nvSpPr>
          <p:cNvPr id="10" name="Text 8"/>
          <p:cNvSpPr/>
          <p:nvPr/>
        </p:nvSpPr>
        <p:spPr>
          <a:xfrm>
            <a:off x="3429000" y="1527048"/>
            <a:ext cx="2606040" cy="502920"/>
          </a:xfrm>
          <a:prstGeom prst="rect">
            <a:avLst/>
          </a:prstGeom>
          <a:noFill/>
          <a:ln/>
        </p:spPr>
        <p:txBody>
          <a:bodyPr wrap="square" lIns="38100" tIns="38100" rIns="38100" bIns="38100" rtlCol="0" anchor="ctr"/>
          <a:lstStyle/>
          <a:p>
            <a:pPr algn="ctr" indent="0" marL="0">
              <a:buNone/>
            </a:pPr>
            <a:r>
              <a:rPr lang="en-US" sz="1400" b="1" dirty="0">
                <a:solidFill>
                  <a:srgbClr val="006666"/>
                </a:solidFill>
                <a:latin typeface="Cambria" pitchFamily="34" charset="0"/>
                <a:ea typeface="Cambria" pitchFamily="34" charset="-122"/>
                <a:cs typeface="Cambria" pitchFamily="34" charset="-120"/>
              </a:rPr>
              <a:t>+10,35</a:t>
            </a:r>
            <a:endParaRPr lang="en-US" sz="1400" dirty="0"/>
          </a:p>
        </p:txBody>
      </p:sp>
      <p:sp>
        <p:nvSpPr>
          <p:cNvPr id="11" name="Text 9"/>
          <p:cNvSpPr/>
          <p:nvPr/>
        </p:nvSpPr>
        <p:spPr>
          <a:xfrm>
            <a:off x="6035040" y="1527048"/>
            <a:ext cx="2596896" cy="502920"/>
          </a:xfrm>
          <a:prstGeom prst="rect">
            <a:avLst/>
          </a:prstGeom>
          <a:noFill/>
          <a:ln/>
        </p:spPr>
        <p:txBody>
          <a:bodyPr wrap="square" lIns="38100" tIns="38100" rIns="38100" bIns="38100" rtlCol="0" anchor="ctr"/>
          <a:lstStyle/>
          <a:p>
            <a:pPr algn="ctr" indent="0" marL="0">
              <a:buNone/>
            </a:pPr>
            <a:r>
              <a:rPr lang="en-US" sz="1400" b="1" dirty="0">
                <a:solidFill>
                  <a:srgbClr val="006666"/>
                </a:solidFill>
                <a:latin typeface="Cambria" pitchFamily="34" charset="0"/>
                <a:ea typeface="Cambria" pitchFamily="34" charset="-122"/>
                <a:cs typeface="Cambria" pitchFamily="34" charset="-120"/>
              </a:rPr>
              <a:t>+9,68</a:t>
            </a:r>
            <a:endParaRPr lang="en-US" sz="1400" dirty="0"/>
          </a:p>
        </p:txBody>
      </p:sp>
      <p:sp>
        <p:nvSpPr>
          <p:cNvPr id="12" name="Shape 10"/>
          <p:cNvSpPr/>
          <p:nvPr/>
        </p:nvSpPr>
        <p:spPr>
          <a:xfrm>
            <a:off x="502920" y="2029968"/>
            <a:ext cx="8129016" cy="0"/>
          </a:xfrm>
          <a:prstGeom prst="line">
            <a:avLst/>
          </a:prstGeom>
          <a:noFill/>
          <a:ln w="12700">
            <a:solidFill>
              <a:srgbClr val="9A94AE"/>
            </a:solidFill>
            <a:prstDash val="solid"/>
          </a:ln>
        </p:spPr>
      </p:sp>
      <p:sp>
        <p:nvSpPr>
          <p:cNvPr id="13" name="Text 11"/>
          <p:cNvSpPr/>
          <p:nvPr/>
        </p:nvSpPr>
        <p:spPr>
          <a:xfrm>
            <a:off x="502920" y="2029968"/>
            <a:ext cx="2926080" cy="45720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S2 − S1</a:t>
            </a:r>
            <a:endParaRPr lang="en-US" sz="1250" dirty="0"/>
          </a:p>
        </p:txBody>
      </p:sp>
      <p:sp>
        <p:nvSpPr>
          <p:cNvPr id="14" name="Text 12"/>
          <p:cNvSpPr/>
          <p:nvPr/>
        </p:nvSpPr>
        <p:spPr>
          <a:xfrm>
            <a:off x="3429000" y="2029968"/>
            <a:ext cx="2606040" cy="457200"/>
          </a:xfrm>
          <a:prstGeom prst="rect">
            <a:avLst/>
          </a:prstGeom>
          <a:noFill/>
          <a:ln/>
        </p:spPr>
        <p:txBody>
          <a:bodyPr wrap="square" lIns="38100" tIns="38100" rIns="38100" bIns="38100" rtlCol="0" anchor="ctr"/>
          <a:lstStyle/>
          <a:p>
            <a:pPr algn="ctr" indent="0" marL="0">
              <a:buNone/>
            </a:pPr>
            <a:r>
              <a:rPr lang="en-US" sz="1250" dirty="0">
                <a:solidFill>
                  <a:srgbClr val="B22222"/>
                </a:solidFill>
                <a:latin typeface="Cambria" pitchFamily="34" charset="0"/>
                <a:ea typeface="Cambria" pitchFamily="34" charset="-122"/>
                <a:cs typeface="Cambria" pitchFamily="34" charset="-120"/>
              </a:rPr>
              <a:t>−1,93   p = 0,0005</a:t>
            </a:r>
            <a:endParaRPr lang="en-US" sz="1250" dirty="0"/>
          </a:p>
        </p:txBody>
      </p:sp>
      <p:sp>
        <p:nvSpPr>
          <p:cNvPr id="15" name="Text 13"/>
          <p:cNvSpPr/>
          <p:nvPr/>
        </p:nvSpPr>
        <p:spPr>
          <a:xfrm>
            <a:off x="6035040" y="2029968"/>
            <a:ext cx="2596896" cy="457200"/>
          </a:xfrm>
          <a:prstGeom prst="rect">
            <a:avLst/>
          </a:prstGeom>
          <a:noFill/>
          <a:ln/>
        </p:spPr>
        <p:txBody>
          <a:bodyPr wrap="square" lIns="38100" tIns="38100" rIns="38100" bIns="38100" rtlCol="0" anchor="ctr"/>
          <a:lstStyle/>
          <a:p>
            <a:pPr algn="ctr" indent="0" marL="0">
              <a:buNone/>
            </a:pPr>
            <a:r>
              <a:rPr lang="en-US" sz="1250" dirty="0">
                <a:solidFill>
                  <a:srgbClr val="B22222"/>
                </a:solidFill>
                <a:latin typeface="Cambria" pitchFamily="34" charset="0"/>
                <a:ea typeface="Cambria" pitchFamily="34" charset="-122"/>
                <a:cs typeface="Cambria" pitchFamily="34" charset="-120"/>
              </a:rPr>
              <a:t>−1,21   p = 0,026</a:t>
            </a:r>
            <a:endParaRPr lang="en-US" sz="1250" dirty="0"/>
          </a:p>
        </p:txBody>
      </p:sp>
      <p:sp>
        <p:nvSpPr>
          <p:cNvPr id="16" name="Shape 14"/>
          <p:cNvSpPr/>
          <p:nvPr/>
        </p:nvSpPr>
        <p:spPr>
          <a:xfrm>
            <a:off x="502920" y="2487168"/>
            <a:ext cx="8129016" cy="0"/>
          </a:xfrm>
          <a:prstGeom prst="line">
            <a:avLst/>
          </a:prstGeom>
          <a:noFill/>
          <a:ln w="12700">
            <a:solidFill>
              <a:srgbClr val="9A94AE"/>
            </a:solidFill>
            <a:prstDash val="solid"/>
          </a:ln>
        </p:spPr>
      </p:sp>
      <p:sp>
        <p:nvSpPr>
          <p:cNvPr id="17" name="Text 15"/>
          <p:cNvSpPr/>
          <p:nvPr/>
        </p:nvSpPr>
        <p:spPr>
          <a:xfrm>
            <a:off x="502920" y="2487168"/>
            <a:ext cx="292608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Trần trên lát này</a:t>
            </a:r>
            <a:endParaRPr lang="en-US" sz="1250" dirty="0"/>
          </a:p>
        </p:txBody>
      </p:sp>
      <p:sp>
        <p:nvSpPr>
          <p:cNvPr id="18" name="Text 16"/>
          <p:cNvSpPr/>
          <p:nvPr/>
        </p:nvSpPr>
        <p:spPr>
          <a:xfrm>
            <a:off x="3429000" y="2487168"/>
            <a:ext cx="26060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70,0</a:t>
            </a:r>
            <a:endParaRPr lang="en-US" sz="1250" dirty="0"/>
          </a:p>
        </p:txBody>
      </p:sp>
      <p:sp>
        <p:nvSpPr>
          <p:cNvPr id="19" name="Text 17"/>
          <p:cNvSpPr/>
          <p:nvPr/>
        </p:nvSpPr>
        <p:spPr>
          <a:xfrm>
            <a:off x="6035040" y="2487168"/>
            <a:ext cx="259689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69,3</a:t>
            </a:r>
            <a:endParaRPr lang="en-US" sz="1250" dirty="0"/>
          </a:p>
        </p:txBody>
      </p:sp>
      <p:sp>
        <p:nvSpPr>
          <p:cNvPr id="20" name="Text 18"/>
          <p:cNvSpPr/>
          <p:nvPr/>
        </p:nvSpPr>
        <p:spPr>
          <a:xfrm>
            <a:off x="502920" y="320040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1" name="Text 19"/>
          <p:cNvSpPr/>
          <p:nvPr/>
        </p:nvSpPr>
        <p:spPr>
          <a:xfrm>
            <a:off x="731520" y="3200400"/>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Mốc đối chiếu giữ 94% độ lớn, nên thang đo không bị nén</a:t>
            </a:r>
            <a:endParaRPr lang="en-US" sz="1250" dirty="0"/>
          </a:p>
        </p:txBody>
      </p:sp>
      <p:sp>
        <p:nvSpPr>
          <p:cNvPr id="22" name="Text 20"/>
          <p:cNvSpPr/>
          <p:nvPr/>
        </p:nvSpPr>
        <p:spPr>
          <a:xfrm>
            <a:off x="502920" y="382219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3" name="Text 21"/>
          <p:cNvSpPr/>
          <p:nvPr/>
        </p:nvSpPr>
        <p:spPr>
          <a:xfrm>
            <a:off x="731520" y="3822192"/>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Dấu của mọi phép so không đổi dưới cả hai dụng cụ</a:t>
            </a:r>
            <a:endParaRPr lang="en-US" sz="1250" dirty="0"/>
          </a:p>
        </p:txBody>
      </p:sp>
      <p:sp>
        <p:nvSpPr>
          <p:cNvPr id="24" name="Text 22"/>
          <p:cNvSpPr/>
          <p:nvPr/>
        </p:nvSpPr>
        <p:spPr>
          <a:xfrm>
            <a:off x="502920" y="444398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5" name="Text 23"/>
          <p:cNvSpPr/>
          <p:nvPr/>
        </p:nvSpPr>
        <p:spPr>
          <a:xfrm>
            <a:off x="731520" y="4443984"/>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UI-Venus cho điểm thấp hơn ở cả ba nhánh, nên nó không dễ tính hơn</a:t>
            </a:r>
            <a:endParaRPr lang="en-US" sz="1250" dirty="0"/>
          </a:p>
        </p:txBody>
      </p:sp>
      <p:sp>
        <p:nvSpPr>
          <p:cNvPr id="26" name="Text 24"/>
          <p:cNvSpPr/>
          <p:nvPr/>
        </p:nvSpPr>
        <p:spPr>
          <a:xfrm>
            <a:off x="502920" y="5065776"/>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7" name="Text 25"/>
          <p:cNvSpPr/>
          <p:nvPr/>
        </p:nvSpPr>
        <p:spPr>
          <a:xfrm>
            <a:off x="731520" y="5065776"/>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Chỗ chưa đóng: cả hai dụng cụ đều thuộc họ Qwen-VL</a:t>
            </a:r>
            <a:endParaRPr lang="en-US" sz="1250" dirty="0"/>
          </a:p>
        </p:txBody>
      </p:sp>
      <p:sp>
        <p:nvSpPr>
          <p:cNvPr id="28" name="Shape 26"/>
          <p:cNvSpPr/>
          <p:nvPr/>
        </p:nvSpPr>
        <p:spPr>
          <a:xfrm>
            <a:off x="0" y="6620256"/>
            <a:ext cx="2743200" cy="237744"/>
          </a:xfrm>
          <a:prstGeom prst="rect">
            <a:avLst/>
          </a:prstGeom>
          <a:solidFill>
            <a:srgbClr val="191132"/>
          </a:solidFill>
          <a:ln/>
        </p:spPr>
      </p:sp>
      <p:sp>
        <p:nvSpPr>
          <p:cNvPr id="29" name="Shape 27"/>
          <p:cNvSpPr/>
          <p:nvPr/>
        </p:nvSpPr>
        <p:spPr>
          <a:xfrm>
            <a:off x="2743200" y="6620256"/>
            <a:ext cx="3383280" cy="237744"/>
          </a:xfrm>
          <a:prstGeom prst="rect">
            <a:avLst/>
          </a:prstGeom>
          <a:solidFill>
            <a:srgbClr val="25194B"/>
          </a:solidFill>
          <a:ln/>
        </p:spPr>
      </p:sp>
      <p:sp>
        <p:nvSpPr>
          <p:cNvPr id="30" name="Shape 28"/>
          <p:cNvSpPr/>
          <p:nvPr/>
        </p:nvSpPr>
        <p:spPr>
          <a:xfrm>
            <a:off x="6126480" y="6620256"/>
            <a:ext cx="1737360" cy="237744"/>
          </a:xfrm>
          <a:prstGeom prst="rect">
            <a:avLst/>
          </a:prstGeom>
          <a:solidFill>
            <a:srgbClr val="4F417A"/>
          </a:solidFill>
          <a:ln/>
        </p:spPr>
      </p:sp>
      <p:sp>
        <p:nvSpPr>
          <p:cNvPr id="31" name="Shape 29"/>
          <p:cNvSpPr/>
          <p:nvPr/>
        </p:nvSpPr>
        <p:spPr>
          <a:xfrm>
            <a:off x="7863840" y="6620256"/>
            <a:ext cx="1280160" cy="237744"/>
          </a:xfrm>
          <a:prstGeom prst="rect">
            <a:avLst/>
          </a:prstGeom>
          <a:solidFill>
            <a:srgbClr val="7A7099"/>
          </a:solidFill>
          <a:ln/>
        </p:spPr>
      </p:sp>
      <p:sp>
        <p:nvSpPr>
          <p:cNvPr id="32" name="Text 3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3" name="Text 3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4" name="Text 3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5" name="Text 3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2</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Độ bền của luật chấm và tính tất định</a:t>
            </a:r>
            <a:endParaRPr lang="en-US" sz="1900" dirty="0"/>
          </a:p>
        </p:txBody>
      </p:sp>
      <p:sp>
        <p:nvSpPr>
          <p:cNvPr id="4" name="Text 2"/>
          <p:cNvSpPr/>
          <p:nvPr/>
        </p:nvSpPr>
        <p:spPr>
          <a:xfrm>
            <a:off x="502920" y="91440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5" name="Text 3"/>
          <p:cNvSpPr/>
          <p:nvPr/>
        </p:nvSpPr>
        <p:spPr>
          <a:xfrm>
            <a:off x="731520" y="91440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Ba nhánh được chấm lại dưới năm luật trên 698 bước: trần trôi từ 56,6% lên 82,2%, thứ tự không đổi</a:t>
            </a:r>
            <a:endParaRPr lang="en-US" sz="1250" dirty="0"/>
          </a:p>
        </p:txBody>
      </p:sp>
      <p:sp>
        <p:nvSpPr>
          <p:cNvPr id="6" name="Text 4"/>
          <p:cNvSpPr/>
          <p:nvPr/>
        </p:nvSpPr>
        <p:spPr>
          <a:xfrm>
            <a:off x="502920" y="173736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731520" y="173736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Chênh lệch S1 − Base nằm gọn trong khoảng 9,5 đến 13,0 điểm ở cả năm luật</a:t>
            </a:r>
            <a:endParaRPr lang="en-US" sz="1250" dirty="0"/>
          </a:p>
        </p:txBody>
      </p:sp>
      <p:sp>
        <p:nvSpPr>
          <p:cNvPr id="8" name="Text 6"/>
          <p:cNvSpPr/>
          <p:nvPr/>
        </p:nvSpPr>
        <p:spPr>
          <a:xfrm>
            <a:off x="502920" y="256032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9" name="Text 7"/>
          <p:cNvSpPr/>
          <p:nvPr/>
        </p:nvSpPr>
        <p:spPr>
          <a:xfrm>
            <a:off x="731520" y="256032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Thước cho kết quả tất định: bốn lượt chạy độc lập, 1.625 phép so, không một bất đồng</a:t>
            </a:r>
            <a:endParaRPr lang="en-US" sz="1250" dirty="0"/>
          </a:p>
        </p:txBody>
      </p:sp>
      <p:sp>
        <p:nvSpPr>
          <p:cNvPr id="10" name="Text 8"/>
          <p:cNvSpPr/>
          <p:nvPr/>
        </p:nvSpPr>
        <p:spPr>
          <a:xfrm>
            <a:off x="502920" y="338328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1" name="Text 9"/>
          <p:cNvSpPr/>
          <p:nvPr/>
        </p:nvSpPr>
        <p:spPr>
          <a:xfrm>
            <a:off x="731520" y="338328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Hệ số đồng thuận κ = 0,867 toàn tập, và 0,650 trên 1.652 bước hai nhánh viết câu khác nhau</a:t>
            </a:r>
            <a:endParaRPr lang="en-US" sz="1250" dirty="0"/>
          </a:p>
        </p:txBody>
      </p:sp>
      <p:sp>
        <p:nvSpPr>
          <p:cNvPr id="12" name="Text 10"/>
          <p:cNvSpPr/>
          <p:nvPr/>
        </p:nvSpPr>
        <p:spPr>
          <a:xfrm>
            <a:off x="502920" y="420624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731520" y="420624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Luận văn nêu thẳng một lỗi cài đặt: phép chuẩn hoá quy “go back” về lớp chạm. Sửa lại thì điểm đổi 0,3 điểm, và ba nhánh đã chấm không được chấm lại</a:t>
            </a:r>
            <a:endParaRPr lang="en-US" sz="1250" dirty="0"/>
          </a:p>
        </p:txBody>
      </p:sp>
      <p:sp>
        <p:nvSpPr>
          <p:cNvPr id="14" name="Text 12"/>
          <p:cNvSpPr/>
          <p:nvPr/>
        </p:nvSpPr>
        <p:spPr>
          <a:xfrm>
            <a:off x="502920" y="5029200"/>
            <a:ext cx="201168" cy="8229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731520" y="5029200"/>
            <a:ext cx="7909560" cy="78638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Luật hộp phần tử của chính AndroidControl (Phụ lục D.3) cho mốc câu chuẩn 83,8, thứ tự tám nhánh không đổi; tính sau khi có điểm nên chỉ là thước báo kèm</a:t>
            </a:r>
            <a:endParaRPr lang="en-US" sz="1250" dirty="0"/>
          </a:p>
        </p:txBody>
      </p:sp>
      <p:sp>
        <p:nvSpPr>
          <p:cNvPr id="16" name="Shape 14"/>
          <p:cNvSpPr/>
          <p:nvPr/>
        </p:nvSpPr>
        <p:spPr>
          <a:xfrm>
            <a:off x="0" y="6620256"/>
            <a:ext cx="2743200" cy="237744"/>
          </a:xfrm>
          <a:prstGeom prst="rect">
            <a:avLst/>
          </a:prstGeom>
          <a:solidFill>
            <a:srgbClr val="191132"/>
          </a:solidFill>
          <a:ln/>
        </p:spPr>
      </p:sp>
      <p:sp>
        <p:nvSpPr>
          <p:cNvPr id="17" name="Shape 15"/>
          <p:cNvSpPr/>
          <p:nvPr/>
        </p:nvSpPr>
        <p:spPr>
          <a:xfrm>
            <a:off x="2743200" y="6620256"/>
            <a:ext cx="3383280" cy="237744"/>
          </a:xfrm>
          <a:prstGeom prst="rect">
            <a:avLst/>
          </a:prstGeom>
          <a:solidFill>
            <a:srgbClr val="25194B"/>
          </a:solidFill>
          <a:ln/>
        </p:spPr>
      </p:sp>
      <p:sp>
        <p:nvSpPr>
          <p:cNvPr id="18" name="Shape 16"/>
          <p:cNvSpPr/>
          <p:nvPr/>
        </p:nvSpPr>
        <p:spPr>
          <a:xfrm>
            <a:off x="6126480" y="6620256"/>
            <a:ext cx="1737360" cy="237744"/>
          </a:xfrm>
          <a:prstGeom prst="rect">
            <a:avLst/>
          </a:prstGeom>
          <a:solidFill>
            <a:srgbClr val="4F417A"/>
          </a:solidFill>
          <a:ln/>
        </p:spPr>
      </p:sp>
      <p:sp>
        <p:nvSpPr>
          <p:cNvPr id="19" name="Shape 17"/>
          <p:cNvSpPr/>
          <p:nvPr/>
        </p:nvSpPr>
        <p:spPr>
          <a:xfrm>
            <a:off x="7863840" y="6620256"/>
            <a:ext cx="1280160" cy="237744"/>
          </a:xfrm>
          <a:prstGeom prst="rect">
            <a:avLst/>
          </a:prstGeom>
          <a:solidFill>
            <a:srgbClr val="7A7099"/>
          </a:solidFill>
          <a:ln/>
        </p:spPr>
      </p:sp>
      <p:sp>
        <p:nvSpPr>
          <p:cNvPr id="20"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1"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2"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3</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Độ bền của thước trước cách diễn đạt khác</a:t>
            </a:r>
            <a:endParaRPr lang="en-US" sz="1900" dirty="0"/>
          </a:p>
        </p:txBody>
      </p:sp>
      <p:sp>
        <p:nvSpPr>
          <p:cNvPr id="4" name="Shape 2"/>
          <p:cNvSpPr/>
          <p:nvPr/>
        </p:nvSpPr>
        <p:spPr>
          <a:xfrm>
            <a:off x="502920" y="914400"/>
            <a:ext cx="8129016" cy="384048"/>
          </a:xfrm>
          <a:prstGeom prst="rect">
            <a:avLst/>
          </a:prstGeom>
          <a:solidFill>
            <a:srgbClr val="322164"/>
          </a:solidFill>
          <a:ln/>
        </p:spPr>
      </p:sp>
      <p:sp>
        <p:nvSpPr>
          <p:cNvPr id="5" name="Text 3"/>
          <p:cNvSpPr/>
          <p:nvPr/>
        </p:nvSpPr>
        <p:spPr>
          <a:xfrm>
            <a:off x="502920" y="914400"/>
            <a:ext cx="25603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Biến thể</a:t>
            </a:r>
            <a:endParaRPr lang="en-US" sz="1200" dirty="0"/>
          </a:p>
        </p:txBody>
      </p:sp>
      <p:sp>
        <p:nvSpPr>
          <p:cNvPr id="6" name="Text 4"/>
          <p:cNvSpPr/>
          <p:nvPr/>
        </p:nvSpPr>
        <p:spPr>
          <a:xfrm>
            <a:off x="3063240" y="914400"/>
            <a:ext cx="182880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Phần bị tác động</a:t>
            </a:r>
            <a:endParaRPr lang="en-US" sz="1200" dirty="0"/>
          </a:p>
        </p:txBody>
      </p:sp>
      <p:sp>
        <p:nvSpPr>
          <p:cNvPr id="7" name="Text 5"/>
          <p:cNvSpPr/>
          <p:nvPr/>
        </p:nvSpPr>
        <p:spPr>
          <a:xfrm>
            <a:off x="4892040" y="914400"/>
            <a:ext cx="17373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Điểm</a:t>
            </a:r>
            <a:endParaRPr lang="en-US" sz="1200" dirty="0"/>
          </a:p>
        </p:txBody>
      </p:sp>
      <p:sp>
        <p:nvSpPr>
          <p:cNvPr id="8" name="Text 6"/>
          <p:cNvSpPr/>
          <p:nvPr/>
        </p:nvSpPr>
        <p:spPr>
          <a:xfrm>
            <a:off x="6629400" y="914400"/>
            <a:ext cx="200253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t>
            </a:r>
            <a:endParaRPr lang="en-US" sz="1200" dirty="0"/>
          </a:p>
        </p:txBody>
      </p:sp>
      <p:sp>
        <p:nvSpPr>
          <p:cNvPr id="9" name="Text 7"/>
          <p:cNvSpPr/>
          <p:nvPr/>
        </p:nvSpPr>
        <p:spPr>
          <a:xfrm>
            <a:off x="502920" y="1298448"/>
            <a:ext cx="256032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Đổi động từ thao tác</a:t>
            </a:r>
            <a:endParaRPr lang="en-US" sz="1250" dirty="0"/>
          </a:p>
        </p:txBody>
      </p:sp>
      <p:sp>
        <p:nvSpPr>
          <p:cNvPr id="10" name="Text 8"/>
          <p:cNvSpPr/>
          <p:nvPr/>
        </p:nvSpPr>
        <p:spPr>
          <a:xfrm>
            <a:off x="3063240" y="1298448"/>
            <a:ext cx="182880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725 bước</a:t>
            </a:r>
            <a:endParaRPr lang="en-US" sz="1250" dirty="0"/>
          </a:p>
        </p:txBody>
      </p:sp>
      <p:sp>
        <p:nvSpPr>
          <p:cNvPr id="11" name="Text 9"/>
          <p:cNvSpPr/>
          <p:nvPr/>
        </p:nvSpPr>
        <p:spPr>
          <a:xfrm>
            <a:off x="4892040" y="1298448"/>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76,8 → 77,0</a:t>
            </a:r>
            <a:endParaRPr lang="en-US" sz="1250" dirty="0"/>
          </a:p>
        </p:txBody>
      </p:sp>
      <p:sp>
        <p:nvSpPr>
          <p:cNvPr id="12" name="Text 10"/>
          <p:cNvSpPr/>
          <p:nvPr/>
        </p:nvSpPr>
        <p:spPr>
          <a:xfrm>
            <a:off x="6629400" y="1298448"/>
            <a:ext cx="200253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1,000</a:t>
            </a:r>
            <a:endParaRPr lang="en-US" sz="1250" dirty="0"/>
          </a:p>
        </p:txBody>
      </p:sp>
      <p:sp>
        <p:nvSpPr>
          <p:cNvPr id="13" name="Shape 11"/>
          <p:cNvSpPr/>
          <p:nvPr/>
        </p:nvSpPr>
        <p:spPr>
          <a:xfrm>
            <a:off x="502920" y="1700784"/>
            <a:ext cx="8129016" cy="0"/>
          </a:xfrm>
          <a:prstGeom prst="line">
            <a:avLst/>
          </a:prstGeom>
          <a:noFill/>
          <a:ln w="12700">
            <a:solidFill>
              <a:srgbClr val="9A94AE"/>
            </a:solidFill>
            <a:prstDash val="solid"/>
          </a:ln>
        </p:spPr>
      </p:sp>
      <p:sp>
        <p:nvSpPr>
          <p:cNvPr id="14" name="Text 12"/>
          <p:cNvSpPr/>
          <p:nvPr/>
        </p:nvSpPr>
        <p:spPr>
          <a:xfrm>
            <a:off x="502920" y="1700784"/>
            <a:ext cx="256032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Đảo trật tự mệnh đề</a:t>
            </a:r>
            <a:endParaRPr lang="en-US" sz="1250" dirty="0"/>
          </a:p>
        </p:txBody>
      </p:sp>
      <p:sp>
        <p:nvSpPr>
          <p:cNvPr id="15" name="Text 13"/>
          <p:cNvSpPr/>
          <p:nvPr/>
        </p:nvSpPr>
        <p:spPr>
          <a:xfrm>
            <a:off x="3063240" y="1700784"/>
            <a:ext cx="182880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211 bước</a:t>
            </a:r>
            <a:endParaRPr lang="en-US" sz="1250" dirty="0"/>
          </a:p>
        </p:txBody>
      </p:sp>
      <p:sp>
        <p:nvSpPr>
          <p:cNvPr id="16" name="Text 14"/>
          <p:cNvSpPr/>
          <p:nvPr/>
        </p:nvSpPr>
        <p:spPr>
          <a:xfrm>
            <a:off x="4892040" y="1700784"/>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89,6 → 90,0</a:t>
            </a:r>
            <a:endParaRPr lang="en-US" sz="1250" dirty="0"/>
          </a:p>
        </p:txBody>
      </p:sp>
      <p:sp>
        <p:nvSpPr>
          <p:cNvPr id="17" name="Text 15"/>
          <p:cNvSpPr/>
          <p:nvPr/>
        </p:nvSpPr>
        <p:spPr>
          <a:xfrm>
            <a:off x="6629400" y="1700784"/>
            <a:ext cx="200253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1,000</a:t>
            </a:r>
            <a:endParaRPr lang="en-US" sz="1250" dirty="0"/>
          </a:p>
        </p:txBody>
      </p:sp>
      <p:sp>
        <p:nvSpPr>
          <p:cNvPr id="18" name="Shape 16"/>
          <p:cNvSpPr/>
          <p:nvPr/>
        </p:nvSpPr>
        <p:spPr>
          <a:xfrm>
            <a:off x="502920" y="2103120"/>
            <a:ext cx="8129016" cy="0"/>
          </a:xfrm>
          <a:prstGeom prst="line">
            <a:avLst/>
          </a:prstGeom>
          <a:noFill/>
          <a:ln w="12700">
            <a:solidFill>
              <a:srgbClr val="9A94AE"/>
            </a:solidFill>
            <a:prstDash val="solid"/>
          </a:ln>
        </p:spPr>
      </p:sp>
      <p:sp>
        <p:nvSpPr>
          <p:cNvPr id="19" name="Text 17"/>
          <p:cNvSpPr/>
          <p:nvPr/>
        </p:nvSpPr>
        <p:spPr>
          <a:xfrm>
            <a:off x="502920" y="2103120"/>
            <a:ext cx="256032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Cả hai cùng lúc</a:t>
            </a:r>
            <a:endParaRPr lang="en-US" sz="1250" dirty="0"/>
          </a:p>
        </p:txBody>
      </p:sp>
      <p:sp>
        <p:nvSpPr>
          <p:cNvPr id="20" name="Text 18"/>
          <p:cNvSpPr/>
          <p:nvPr/>
        </p:nvSpPr>
        <p:spPr>
          <a:xfrm>
            <a:off x="3063240" y="2103120"/>
            <a:ext cx="182880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203 bước</a:t>
            </a:r>
            <a:endParaRPr lang="en-US" sz="1250" dirty="0"/>
          </a:p>
        </p:txBody>
      </p:sp>
      <p:sp>
        <p:nvSpPr>
          <p:cNvPr id="21" name="Text 19"/>
          <p:cNvSpPr/>
          <p:nvPr/>
        </p:nvSpPr>
        <p:spPr>
          <a:xfrm>
            <a:off x="4892040" y="2103120"/>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90,1 → 91,1</a:t>
            </a:r>
            <a:endParaRPr lang="en-US" sz="1250" dirty="0"/>
          </a:p>
        </p:txBody>
      </p:sp>
      <p:sp>
        <p:nvSpPr>
          <p:cNvPr id="22" name="Text 20"/>
          <p:cNvSpPr/>
          <p:nvPr/>
        </p:nvSpPr>
        <p:spPr>
          <a:xfrm>
            <a:off x="6629400" y="2103120"/>
            <a:ext cx="200253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0,480</a:t>
            </a:r>
            <a:endParaRPr lang="en-US" sz="1250" dirty="0"/>
          </a:p>
        </p:txBody>
      </p:sp>
      <p:sp>
        <p:nvSpPr>
          <p:cNvPr id="23" name="Shape 21"/>
          <p:cNvSpPr/>
          <p:nvPr/>
        </p:nvSpPr>
        <p:spPr>
          <a:xfrm>
            <a:off x="502920" y="2505456"/>
            <a:ext cx="8129016" cy="0"/>
          </a:xfrm>
          <a:prstGeom prst="line">
            <a:avLst/>
          </a:prstGeom>
          <a:noFill/>
          <a:ln w="12700">
            <a:solidFill>
              <a:srgbClr val="9A94AE"/>
            </a:solidFill>
            <a:prstDash val="solid"/>
          </a:ln>
        </p:spPr>
      </p:sp>
      <p:sp>
        <p:nvSpPr>
          <p:cNvPr id="24" name="Text 22"/>
          <p:cNvSpPr/>
          <p:nvPr/>
        </p:nvSpPr>
        <p:spPr>
          <a:xfrm>
            <a:off x="502920" y="2505456"/>
            <a:ext cx="2560320" cy="438912"/>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Bỏ mệnh đề vị trí</a:t>
            </a:r>
            <a:endParaRPr lang="en-US" sz="1250" dirty="0"/>
          </a:p>
        </p:txBody>
      </p:sp>
      <p:sp>
        <p:nvSpPr>
          <p:cNvPr id="25" name="Text 23"/>
          <p:cNvSpPr/>
          <p:nvPr/>
        </p:nvSpPr>
        <p:spPr>
          <a:xfrm>
            <a:off x="3063240" y="2505456"/>
            <a:ext cx="1828800" cy="438912"/>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198 bước</a:t>
            </a:r>
            <a:endParaRPr lang="en-US" sz="1250" dirty="0"/>
          </a:p>
        </p:txBody>
      </p:sp>
      <p:sp>
        <p:nvSpPr>
          <p:cNvPr id="26" name="Text 24"/>
          <p:cNvSpPr/>
          <p:nvPr/>
        </p:nvSpPr>
        <p:spPr>
          <a:xfrm>
            <a:off x="4892040" y="2505456"/>
            <a:ext cx="1737360" cy="438912"/>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89,4 → 85,9</a:t>
            </a:r>
            <a:endParaRPr lang="en-US" sz="1250" dirty="0"/>
          </a:p>
        </p:txBody>
      </p:sp>
      <p:sp>
        <p:nvSpPr>
          <p:cNvPr id="27" name="Text 25"/>
          <p:cNvSpPr/>
          <p:nvPr/>
        </p:nvSpPr>
        <p:spPr>
          <a:xfrm>
            <a:off x="6629400" y="2505456"/>
            <a:ext cx="2002536" cy="438912"/>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0,046</a:t>
            </a:r>
            <a:endParaRPr lang="en-US" sz="1250" dirty="0"/>
          </a:p>
        </p:txBody>
      </p:sp>
      <p:sp>
        <p:nvSpPr>
          <p:cNvPr id="28" name="Text 26"/>
          <p:cNvSpPr/>
          <p:nvPr/>
        </p:nvSpPr>
        <p:spPr>
          <a:xfrm>
            <a:off x="502920" y="3200400"/>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9" name="Text 27"/>
          <p:cNvSpPr/>
          <p:nvPr/>
        </p:nvSpPr>
        <p:spPr>
          <a:xfrm>
            <a:off x="731520" y="3200400"/>
            <a:ext cx="790956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Gộp ba biến thể bảo toàn nghĩa: 1.139 câu, hiệu ròng +0,35 điểm, KTC [−0,59 ; +1,29]</a:t>
            </a:r>
            <a:endParaRPr lang="en-US" sz="1250" dirty="0"/>
          </a:p>
        </p:txBody>
      </p:sp>
      <p:sp>
        <p:nvSpPr>
          <p:cNvPr id="30" name="Text 28"/>
          <p:cNvSpPr/>
          <p:nvPr/>
        </p:nvSpPr>
        <p:spPr>
          <a:xfrm>
            <a:off x="502920" y="3840480"/>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1" name="Text 29"/>
          <p:cNvSpPr/>
          <p:nvPr/>
        </p:nvSpPr>
        <p:spPr>
          <a:xfrm>
            <a:off x="731520" y="3840480"/>
            <a:ext cx="790956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Bỏ mệnh đề vị trí thì thước phạt đúng, nên đây không phải một thước bất động</a:t>
            </a:r>
            <a:endParaRPr lang="en-US" sz="1250" dirty="0"/>
          </a:p>
        </p:txBody>
      </p:sp>
      <p:sp>
        <p:nvSpPr>
          <p:cNvPr id="32" name="Text 30"/>
          <p:cNvSpPr/>
          <p:nvPr/>
        </p:nvSpPr>
        <p:spPr>
          <a:xfrm>
            <a:off x="502920" y="4480560"/>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3" name="Text 31"/>
          <p:cNvSpPr/>
          <p:nvPr/>
        </p:nvSpPr>
        <p:spPr>
          <a:xfrm>
            <a:off x="731520" y="4480560"/>
            <a:ext cx="790956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Dạng lỗi là tất cả hoặc không: trung vị sai số giữ nguyên, còn p90 bung từ 6,88 lên 31,16</a:t>
            </a:r>
            <a:endParaRPr lang="en-US" sz="1250" dirty="0"/>
          </a:p>
        </p:txBody>
      </p:sp>
      <p:sp>
        <p:nvSpPr>
          <p:cNvPr id="34" name="Text 32"/>
          <p:cNvSpPr/>
          <p:nvPr/>
        </p:nvSpPr>
        <p:spPr>
          <a:xfrm>
            <a:off x="502920" y="5120640"/>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5" name="Text 33"/>
          <p:cNvSpPr/>
          <p:nvPr/>
        </p:nvSpPr>
        <p:spPr>
          <a:xfrm>
            <a:off x="731520" y="5120640"/>
            <a:ext cx="7909560" cy="603504"/>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Phần bị tác động là phần dễ nhất, và phép viết lại này chưa đụng vào cách mô tả phần tử</a:t>
            </a:r>
            <a:endParaRPr lang="en-US" sz="1250" dirty="0"/>
          </a:p>
        </p:txBody>
      </p:sp>
      <p:sp>
        <p:nvSpPr>
          <p:cNvPr id="36" name="Shape 34"/>
          <p:cNvSpPr/>
          <p:nvPr/>
        </p:nvSpPr>
        <p:spPr>
          <a:xfrm>
            <a:off x="0" y="6620256"/>
            <a:ext cx="2743200" cy="237744"/>
          </a:xfrm>
          <a:prstGeom prst="rect">
            <a:avLst/>
          </a:prstGeom>
          <a:solidFill>
            <a:srgbClr val="191132"/>
          </a:solidFill>
          <a:ln/>
        </p:spPr>
      </p:sp>
      <p:sp>
        <p:nvSpPr>
          <p:cNvPr id="37" name="Shape 35"/>
          <p:cNvSpPr/>
          <p:nvPr/>
        </p:nvSpPr>
        <p:spPr>
          <a:xfrm>
            <a:off x="2743200" y="6620256"/>
            <a:ext cx="3383280" cy="237744"/>
          </a:xfrm>
          <a:prstGeom prst="rect">
            <a:avLst/>
          </a:prstGeom>
          <a:solidFill>
            <a:srgbClr val="25194B"/>
          </a:solidFill>
          <a:ln/>
        </p:spPr>
      </p:sp>
      <p:sp>
        <p:nvSpPr>
          <p:cNvPr id="38" name="Shape 36"/>
          <p:cNvSpPr/>
          <p:nvPr/>
        </p:nvSpPr>
        <p:spPr>
          <a:xfrm>
            <a:off x="6126480" y="6620256"/>
            <a:ext cx="1737360" cy="237744"/>
          </a:xfrm>
          <a:prstGeom prst="rect">
            <a:avLst/>
          </a:prstGeom>
          <a:solidFill>
            <a:srgbClr val="4F417A"/>
          </a:solidFill>
          <a:ln/>
        </p:spPr>
      </p:sp>
      <p:sp>
        <p:nvSpPr>
          <p:cNvPr id="39" name="Shape 37"/>
          <p:cNvSpPr/>
          <p:nvPr/>
        </p:nvSpPr>
        <p:spPr>
          <a:xfrm>
            <a:off x="7863840" y="6620256"/>
            <a:ext cx="1280160" cy="237744"/>
          </a:xfrm>
          <a:prstGeom prst="rect">
            <a:avLst/>
          </a:prstGeom>
          <a:solidFill>
            <a:srgbClr val="7A7099"/>
          </a:solidFill>
          <a:ln/>
        </p:spPr>
      </p:sp>
      <p:sp>
        <p:nvSpPr>
          <p:cNvPr id="40" name="Text 3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1" name="Text 3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2" name="Text 4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3" name="Text 4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4</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Sàn của thước, và gọi tên so với chỉ vị trí</a:t>
            </a:r>
            <a:endParaRPr lang="en-US" sz="1900" dirty="0"/>
          </a:p>
        </p:txBody>
      </p:sp>
      <p:sp>
        <p:nvSpPr>
          <p:cNvPr id="4" name="Shape 2"/>
          <p:cNvSpPr/>
          <p:nvPr/>
        </p:nvSpPr>
        <p:spPr>
          <a:xfrm>
            <a:off x="502920" y="960120"/>
            <a:ext cx="8129016" cy="384048"/>
          </a:xfrm>
          <a:prstGeom prst="rect">
            <a:avLst/>
          </a:prstGeom>
          <a:solidFill>
            <a:srgbClr val="322164"/>
          </a:solidFill>
          <a:ln/>
        </p:spPr>
      </p:sp>
      <p:sp>
        <p:nvSpPr>
          <p:cNvPr id="5" name="Text 3"/>
          <p:cNvSpPr/>
          <p:nvPr/>
        </p:nvSpPr>
        <p:spPr>
          <a:xfrm>
            <a:off x="502920" y="960120"/>
            <a:ext cx="329184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Nhánh so sánh</a:t>
            </a:r>
            <a:endParaRPr lang="en-US" sz="1200" dirty="0"/>
          </a:p>
        </p:txBody>
      </p:sp>
      <p:sp>
        <p:nvSpPr>
          <p:cNvPr id="6" name="Text 4"/>
          <p:cNvSpPr/>
          <p:nvPr/>
        </p:nvSpPr>
        <p:spPr>
          <a:xfrm>
            <a:off x="3794760" y="960120"/>
            <a:ext cx="320040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Câu bị thay thành gì</a:t>
            </a:r>
            <a:endParaRPr lang="en-US" sz="1200" dirty="0"/>
          </a:p>
        </p:txBody>
      </p:sp>
      <p:sp>
        <p:nvSpPr>
          <p:cNvPr id="7" name="Text 5"/>
          <p:cNvSpPr/>
          <p:nvPr/>
        </p:nvSpPr>
        <p:spPr>
          <a:xfrm>
            <a:off x="6995160" y="960120"/>
            <a:ext cx="163677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Điểm</a:t>
            </a:r>
            <a:endParaRPr lang="en-US" sz="1200" dirty="0"/>
          </a:p>
        </p:txBody>
      </p:sp>
      <p:sp>
        <p:nvSpPr>
          <p:cNvPr id="8" name="Text 6"/>
          <p:cNvSpPr/>
          <p:nvPr/>
        </p:nvSpPr>
        <p:spPr>
          <a:xfrm>
            <a:off x="502920" y="1344168"/>
            <a:ext cx="329184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chung chung</a:t>
            </a:r>
            <a:endParaRPr lang="en-US" sz="1250" dirty="0"/>
          </a:p>
        </p:txBody>
      </p:sp>
      <p:sp>
        <p:nvSpPr>
          <p:cNvPr id="9" name="Text 7"/>
          <p:cNvSpPr/>
          <p:nvPr/>
        </p:nvSpPr>
        <p:spPr>
          <a:xfrm>
            <a:off x="3794760" y="1344168"/>
            <a:ext cx="320040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“Tap the button.” ở mọi bước</a:t>
            </a:r>
            <a:endParaRPr lang="en-US" sz="1250" dirty="0"/>
          </a:p>
        </p:txBody>
      </p:sp>
      <p:sp>
        <p:nvSpPr>
          <p:cNvPr id="10" name="Text 8"/>
          <p:cNvSpPr/>
          <p:nvPr/>
        </p:nvSpPr>
        <p:spPr>
          <a:xfrm>
            <a:off x="6995160" y="1344168"/>
            <a:ext cx="1636776" cy="420624"/>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12,0</a:t>
            </a:r>
            <a:endParaRPr lang="en-US" sz="1250" dirty="0"/>
          </a:p>
        </p:txBody>
      </p:sp>
      <p:sp>
        <p:nvSpPr>
          <p:cNvPr id="11" name="Shape 9"/>
          <p:cNvSpPr/>
          <p:nvPr/>
        </p:nvSpPr>
        <p:spPr>
          <a:xfrm>
            <a:off x="502920" y="1764792"/>
            <a:ext cx="8129016" cy="0"/>
          </a:xfrm>
          <a:prstGeom prst="line">
            <a:avLst/>
          </a:prstGeom>
          <a:noFill/>
          <a:ln w="12700">
            <a:solidFill>
              <a:srgbClr val="9A94AE"/>
            </a:solidFill>
            <a:prstDash val="solid"/>
          </a:ln>
        </p:spPr>
      </p:sp>
      <p:sp>
        <p:nvSpPr>
          <p:cNvPr id="12" name="Text 10"/>
          <p:cNvSpPr/>
          <p:nvPr/>
        </p:nvSpPr>
        <p:spPr>
          <a:xfrm>
            <a:off x="502920" y="1764792"/>
            <a:ext cx="3291840" cy="512064"/>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Câu sai màn hình</a:t>
            </a:r>
            <a:endParaRPr lang="en-US" sz="1250" dirty="0"/>
          </a:p>
        </p:txBody>
      </p:sp>
      <p:sp>
        <p:nvSpPr>
          <p:cNvPr id="13" name="Text 11"/>
          <p:cNvSpPr/>
          <p:nvPr/>
        </p:nvSpPr>
        <p:spPr>
          <a:xfrm>
            <a:off x="3794760" y="1764792"/>
            <a:ext cx="3200400" cy="51206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thật của bước khác: đúng văn phong, sai nội dung</a:t>
            </a:r>
            <a:endParaRPr lang="en-US" sz="1250" dirty="0"/>
          </a:p>
        </p:txBody>
      </p:sp>
      <p:sp>
        <p:nvSpPr>
          <p:cNvPr id="14" name="Text 12"/>
          <p:cNvSpPr/>
          <p:nvPr/>
        </p:nvSpPr>
        <p:spPr>
          <a:xfrm>
            <a:off x="6995160" y="1764792"/>
            <a:ext cx="1636776" cy="512064"/>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6,1</a:t>
            </a:r>
            <a:endParaRPr lang="en-US" sz="1250" dirty="0"/>
          </a:p>
        </p:txBody>
      </p:sp>
      <p:sp>
        <p:nvSpPr>
          <p:cNvPr id="15" name="Shape 13"/>
          <p:cNvSpPr/>
          <p:nvPr/>
        </p:nvSpPr>
        <p:spPr>
          <a:xfrm>
            <a:off x="502920" y="2276856"/>
            <a:ext cx="8129016" cy="0"/>
          </a:xfrm>
          <a:prstGeom prst="line">
            <a:avLst/>
          </a:prstGeom>
          <a:noFill/>
          <a:ln w="12700">
            <a:solidFill>
              <a:srgbClr val="9A94AE"/>
            </a:solidFill>
            <a:prstDash val="solid"/>
          </a:ln>
        </p:spPr>
      </p:sp>
      <p:sp>
        <p:nvSpPr>
          <p:cNvPr id="16" name="Text 14"/>
          <p:cNvSpPr/>
          <p:nvPr/>
        </p:nvSpPr>
        <p:spPr>
          <a:xfrm>
            <a:off x="502920" y="2276856"/>
            <a:ext cx="329184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Bỏ tên, giữ vị trí</a:t>
            </a:r>
            <a:endParaRPr lang="en-US" sz="1250" dirty="0"/>
          </a:p>
        </p:txBody>
      </p:sp>
      <p:sp>
        <p:nvSpPr>
          <p:cNvPr id="17" name="Text 15"/>
          <p:cNvSpPr/>
          <p:nvPr/>
        </p:nvSpPr>
        <p:spPr>
          <a:xfrm>
            <a:off x="3794760" y="2276856"/>
            <a:ext cx="320040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chỉ còn mệnh đề vị trí</a:t>
            </a:r>
            <a:endParaRPr lang="en-US" sz="1250" dirty="0"/>
          </a:p>
        </p:txBody>
      </p:sp>
      <p:sp>
        <p:nvSpPr>
          <p:cNvPr id="18" name="Text 16"/>
          <p:cNvSpPr/>
          <p:nvPr/>
        </p:nvSpPr>
        <p:spPr>
          <a:xfrm>
            <a:off x="6995160" y="2276856"/>
            <a:ext cx="163677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61,1</a:t>
            </a:r>
            <a:endParaRPr lang="en-US" sz="1250" dirty="0"/>
          </a:p>
        </p:txBody>
      </p:sp>
      <p:sp>
        <p:nvSpPr>
          <p:cNvPr id="19" name="Text 17"/>
          <p:cNvSpPr/>
          <p:nvPr/>
        </p:nvSpPr>
        <p:spPr>
          <a:xfrm>
            <a:off x="502920" y="3063240"/>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0" name="Text 18"/>
          <p:cNvSpPr/>
          <p:nvPr/>
        </p:nvSpPr>
        <p:spPr>
          <a:xfrm>
            <a:off x="731520" y="3063240"/>
            <a:ext cx="790956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Việc gọi tên đắt gấp tám lần việc chỉ chỗ: bỏ tên mất 28,5 điểm, bỏ vị trí chỉ mất 3,5 điểm</a:t>
            </a:r>
            <a:endParaRPr lang="en-US" sz="1250" dirty="0"/>
          </a:p>
        </p:txBody>
      </p:sp>
      <p:sp>
        <p:nvSpPr>
          <p:cNvPr id="21" name="Text 19"/>
          <p:cNvSpPr/>
          <p:nvPr/>
        </p:nvSpPr>
        <p:spPr>
          <a:xfrm>
            <a:off x="502920" y="3721608"/>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731520" y="3721608"/>
            <a:ext cx="790956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Con số phải trình là 28,5 điểm trên phần bị tác động, vì phép thử chỉ đụng 24,1% số bước</a:t>
            </a:r>
            <a:endParaRPr lang="en-US" sz="1250" dirty="0"/>
          </a:p>
        </p:txBody>
      </p:sp>
      <p:sp>
        <p:nvSpPr>
          <p:cNvPr id="23" name="Text 21"/>
          <p:cNvSpPr/>
          <p:nvPr/>
        </p:nvSpPr>
        <p:spPr>
          <a:xfrm>
            <a:off x="502920" y="4379976"/>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4" name="Text 22"/>
          <p:cNvSpPr/>
          <p:nvPr/>
        </p:nvSpPr>
        <p:spPr>
          <a:xfrm>
            <a:off x="731520" y="4379976"/>
            <a:ext cx="790956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Dải dùng được của thước là 62,9 điểm</a:t>
            </a:r>
            <a:endParaRPr lang="en-US" sz="1250" dirty="0"/>
          </a:p>
        </p:txBody>
      </p:sp>
      <p:sp>
        <p:nvSpPr>
          <p:cNvPr id="25" name="Text 23"/>
          <p:cNvSpPr/>
          <p:nvPr/>
        </p:nvSpPr>
        <p:spPr>
          <a:xfrm>
            <a:off x="502920" y="5038344"/>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731520" y="5038344"/>
            <a:ext cx="790956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Suy đoán sàn khoảng 40% bị loại, vì nó suy từ tỉ lệ ba nhánh cùng trúng</a:t>
            </a:r>
            <a:endParaRPr lang="en-US" sz="1250" dirty="0"/>
          </a:p>
        </p:txBody>
      </p:sp>
      <p:sp>
        <p:nvSpPr>
          <p:cNvPr id="27" name="Shape 25"/>
          <p:cNvSpPr/>
          <p:nvPr/>
        </p:nvSpPr>
        <p:spPr>
          <a:xfrm>
            <a:off x="0" y="6620256"/>
            <a:ext cx="2743200" cy="237744"/>
          </a:xfrm>
          <a:prstGeom prst="rect">
            <a:avLst/>
          </a:prstGeom>
          <a:solidFill>
            <a:srgbClr val="191132"/>
          </a:solidFill>
          <a:ln/>
        </p:spPr>
      </p:sp>
      <p:sp>
        <p:nvSpPr>
          <p:cNvPr id="28" name="Shape 26"/>
          <p:cNvSpPr/>
          <p:nvPr/>
        </p:nvSpPr>
        <p:spPr>
          <a:xfrm>
            <a:off x="2743200" y="6620256"/>
            <a:ext cx="3383280" cy="237744"/>
          </a:xfrm>
          <a:prstGeom prst="rect">
            <a:avLst/>
          </a:prstGeom>
          <a:solidFill>
            <a:srgbClr val="25194B"/>
          </a:solidFill>
          <a:ln/>
        </p:spPr>
      </p:sp>
      <p:sp>
        <p:nvSpPr>
          <p:cNvPr id="29" name="Shape 27"/>
          <p:cNvSpPr/>
          <p:nvPr/>
        </p:nvSpPr>
        <p:spPr>
          <a:xfrm>
            <a:off x="6126480" y="6620256"/>
            <a:ext cx="1737360" cy="237744"/>
          </a:xfrm>
          <a:prstGeom prst="rect">
            <a:avLst/>
          </a:prstGeom>
          <a:solidFill>
            <a:srgbClr val="4F417A"/>
          </a:solidFill>
          <a:ln/>
        </p:spPr>
      </p:sp>
      <p:sp>
        <p:nvSpPr>
          <p:cNvPr id="30" name="Shape 28"/>
          <p:cNvSpPr/>
          <p:nvPr/>
        </p:nvSpPr>
        <p:spPr>
          <a:xfrm>
            <a:off x="7863840" y="6620256"/>
            <a:ext cx="1280160" cy="237744"/>
          </a:xfrm>
          <a:prstGeom prst="rect">
            <a:avLst/>
          </a:prstGeom>
          <a:solidFill>
            <a:srgbClr val="7A7099"/>
          </a:solidFill>
          <a:ln/>
        </p:spPr>
      </p:sp>
      <p:sp>
        <p:nvSpPr>
          <p:cNvPr id="31" name="Text 2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2" name="Text 3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3" name="Text 3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4" name="Text 3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Cấu hình huấn luyện và chi phí máy</a:t>
            </a:r>
            <a:endParaRPr lang="en-US" sz="1900" dirty="0"/>
          </a:p>
        </p:txBody>
      </p:sp>
      <p:sp>
        <p:nvSpPr>
          <p:cNvPr id="4" name="Shape 2"/>
          <p:cNvSpPr/>
          <p:nvPr/>
        </p:nvSpPr>
        <p:spPr>
          <a:xfrm>
            <a:off x="502920" y="960120"/>
            <a:ext cx="8129016" cy="365760"/>
          </a:xfrm>
          <a:prstGeom prst="rect">
            <a:avLst/>
          </a:prstGeom>
          <a:solidFill>
            <a:srgbClr val="322164"/>
          </a:solidFill>
          <a:ln/>
        </p:spPr>
      </p:sp>
      <p:sp>
        <p:nvSpPr>
          <p:cNvPr id="5" name="Text 3"/>
          <p:cNvSpPr/>
          <p:nvPr/>
        </p:nvSpPr>
        <p:spPr>
          <a:xfrm>
            <a:off x="502920" y="960120"/>
            <a:ext cx="274320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Hạng mục</a:t>
            </a:r>
            <a:endParaRPr lang="en-US" sz="1250" dirty="0"/>
          </a:p>
        </p:txBody>
      </p:sp>
      <p:sp>
        <p:nvSpPr>
          <p:cNvPr id="6" name="Text 4"/>
          <p:cNvSpPr/>
          <p:nvPr/>
        </p:nvSpPr>
        <p:spPr>
          <a:xfrm>
            <a:off x="3246120" y="960120"/>
            <a:ext cx="5385816"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Cấu hình</a:t>
            </a:r>
            <a:endParaRPr lang="en-US" sz="1250" dirty="0"/>
          </a:p>
        </p:txBody>
      </p:sp>
      <p:sp>
        <p:nvSpPr>
          <p:cNvPr id="7" name="Text 5"/>
          <p:cNvSpPr/>
          <p:nvPr/>
        </p:nvSpPr>
        <p:spPr>
          <a:xfrm>
            <a:off x="502920" y="1325880"/>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Mô hình gốc</a:t>
            </a:r>
            <a:endParaRPr lang="en-US" sz="1250" dirty="0"/>
          </a:p>
        </p:txBody>
      </p:sp>
      <p:sp>
        <p:nvSpPr>
          <p:cNvPr id="8" name="Text 6"/>
          <p:cNvSpPr/>
          <p:nvPr/>
        </p:nvSpPr>
        <p:spPr>
          <a:xfrm>
            <a:off x="3246120" y="1325880"/>
            <a:ext cx="538581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Qwen2.5-VL-3B-Instruct</a:t>
            </a:r>
            <a:endParaRPr lang="en-US" sz="1250" dirty="0"/>
          </a:p>
        </p:txBody>
      </p:sp>
      <p:sp>
        <p:nvSpPr>
          <p:cNvPr id="9" name="Shape 7"/>
          <p:cNvSpPr/>
          <p:nvPr/>
        </p:nvSpPr>
        <p:spPr>
          <a:xfrm>
            <a:off x="502920" y="1691640"/>
            <a:ext cx="8129016" cy="0"/>
          </a:xfrm>
          <a:prstGeom prst="line">
            <a:avLst/>
          </a:prstGeom>
          <a:noFill/>
          <a:ln w="12700">
            <a:solidFill>
              <a:srgbClr val="9A94AE"/>
            </a:solidFill>
            <a:prstDash val="solid"/>
          </a:ln>
        </p:spPr>
      </p:sp>
      <p:sp>
        <p:nvSpPr>
          <p:cNvPr id="10" name="Text 8"/>
          <p:cNvSpPr/>
          <p:nvPr/>
        </p:nvSpPr>
        <p:spPr>
          <a:xfrm>
            <a:off x="502920" y="1691640"/>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Cách tinh chỉnh</a:t>
            </a:r>
            <a:endParaRPr lang="en-US" sz="1250" dirty="0"/>
          </a:p>
        </p:txBody>
      </p:sp>
      <p:sp>
        <p:nvSpPr>
          <p:cNvPr id="11" name="Text 9"/>
          <p:cNvSpPr/>
          <p:nvPr/>
        </p:nvSpPr>
        <p:spPr>
          <a:xfrm>
            <a:off x="3246120" y="1691640"/>
            <a:ext cx="538581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QLoRA 4 bit, đóng băng phần thị giác</a:t>
            </a:r>
            <a:endParaRPr lang="en-US" sz="1250" dirty="0"/>
          </a:p>
        </p:txBody>
      </p:sp>
      <p:sp>
        <p:nvSpPr>
          <p:cNvPr id="12" name="Shape 10"/>
          <p:cNvSpPr/>
          <p:nvPr/>
        </p:nvSpPr>
        <p:spPr>
          <a:xfrm>
            <a:off x="502920" y="2057400"/>
            <a:ext cx="8129016" cy="0"/>
          </a:xfrm>
          <a:prstGeom prst="line">
            <a:avLst/>
          </a:prstGeom>
          <a:noFill/>
          <a:ln w="12700">
            <a:solidFill>
              <a:srgbClr val="9A94AE"/>
            </a:solidFill>
            <a:prstDash val="solid"/>
          </a:ln>
        </p:spPr>
      </p:sp>
      <p:sp>
        <p:nvSpPr>
          <p:cNvPr id="13" name="Text 11"/>
          <p:cNvSpPr/>
          <p:nvPr/>
        </p:nvSpPr>
        <p:spPr>
          <a:xfrm>
            <a:off x="502920" y="2057400"/>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Độ dài và lô</a:t>
            </a:r>
            <a:endParaRPr lang="en-US" sz="1250" dirty="0"/>
          </a:p>
        </p:txBody>
      </p:sp>
      <p:sp>
        <p:nvSpPr>
          <p:cNvPr id="14" name="Text 12"/>
          <p:cNvSpPr/>
          <p:nvPr/>
        </p:nvSpPr>
        <p:spPr>
          <a:xfrm>
            <a:off x="3246120" y="2057400"/>
            <a:ext cx="538581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2.560 token, lô hiệu dụng 16, hai lượt duyệt, 8.072 bước</a:t>
            </a:r>
            <a:endParaRPr lang="en-US" sz="1250" dirty="0"/>
          </a:p>
        </p:txBody>
      </p:sp>
      <p:sp>
        <p:nvSpPr>
          <p:cNvPr id="15" name="Shape 13"/>
          <p:cNvSpPr/>
          <p:nvPr/>
        </p:nvSpPr>
        <p:spPr>
          <a:xfrm>
            <a:off x="502920" y="2423160"/>
            <a:ext cx="8129016" cy="0"/>
          </a:xfrm>
          <a:prstGeom prst="line">
            <a:avLst/>
          </a:prstGeom>
          <a:noFill/>
          <a:ln w="12700">
            <a:solidFill>
              <a:srgbClr val="9A94AE"/>
            </a:solidFill>
            <a:prstDash val="solid"/>
          </a:ln>
        </p:spPr>
      </p:sp>
      <p:sp>
        <p:nvSpPr>
          <p:cNvPr id="16" name="Text 14"/>
          <p:cNvSpPr/>
          <p:nvPr/>
        </p:nvSpPr>
        <p:spPr>
          <a:xfrm>
            <a:off x="502920" y="2423160"/>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Máy và thời gian</a:t>
            </a:r>
            <a:endParaRPr lang="en-US" sz="1250" dirty="0"/>
          </a:p>
        </p:txBody>
      </p:sp>
      <p:sp>
        <p:nvSpPr>
          <p:cNvPr id="17" name="Text 15"/>
          <p:cNvSpPr/>
          <p:nvPr/>
        </p:nvSpPr>
        <p:spPr>
          <a:xfrm>
            <a:off x="3246120" y="2423160"/>
            <a:ext cx="538581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A100, 10,3 giây mỗi bước, khoảng 23 giờ mỗi lượt</a:t>
            </a:r>
            <a:endParaRPr lang="en-US" sz="1250" dirty="0"/>
          </a:p>
        </p:txBody>
      </p:sp>
      <p:sp>
        <p:nvSpPr>
          <p:cNvPr id="18" name="Shape 16"/>
          <p:cNvSpPr/>
          <p:nvPr/>
        </p:nvSpPr>
        <p:spPr>
          <a:xfrm>
            <a:off x="502920" y="2788920"/>
            <a:ext cx="8129016" cy="0"/>
          </a:xfrm>
          <a:prstGeom prst="line">
            <a:avLst/>
          </a:prstGeom>
          <a:noFill/>
          <a:ln w="12700">
            <a:solidFill>
              <a:srgbClr val="9A94AE"/>
            </a:solidFill>
            <a:prstDash val="solid"/>
          </a:ln>
        </p:spPr>
      </p:sp>
      <p:sp>
        <p:nvSpPr>
          <p:cNvPr id="19" name="Text 17"/>
          <p:cNvSpPr/>
          <p:nvPr/>
        </p:nvSpPr>
        <p:spPr>
          <a:xfrm>
            <a:off x="502920" y="2788920"/>
            <a:ext cx="27432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Khâu chấm</a:t>
            </a:r>
            <a:endParaRPr lang="en-US" sz="1250" dirty="0"/>
          </a:p>
        </p:txBody>
      </p:sp>
      <p:sp>
        <p:nvSpPr>
          <p:cNvPr id="20" name="Text 18"/>
          <p:cNvSpPr/>
          <p:nvPr/>
        </p:nvSpPr>
        <p:spPr>
          <a:xfrm>
            <a:off x="3246120" y="2788920"/>
            <a:ext cx="538581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Kaggle T4 × 2, khoảng 5,6 giờ mỗi nhánh</a:t>
            </a:r>
            <a:endParaRPr lang="en-US" sz="1250" dirty="0"/>
          </a:p>
        </p:txBody>
      </p:sp>
      <p:sp>
        <p:nvSpPr>
          <p:cNvPr id="21" name="Text 19"/>
          <p:cNvSpPr/>
          <p:nvPr/>
        </p:nvSpPr>
        <p:spPr>
          <a:xfrm>
            <a:off x="502920" y="3429000"/>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731520" y="3429000"/>
            <a:ext cx="7909560" cy="56692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QLoRA 4 bit chạy nhanh hơn bf16 ở bài này: 10,70 so với 14,76 giây mỗi bước</a:t>
            </a:r>
            <a:endParaRPr lang="en-US" sz="1250" dirty="0"/>
          </a:p>
        </p:txBody>
      </p:sp>
      <p:sp>
        <p:nvSpPr>
          <p:cNvPr id="23" name="Text 21"/>
          <p:cNvSpPr/>
          <p:nvPr/>
        </p:nvSpPr>
        <p:spPr>
          <a:xfrm>
            <a:off x="502920" y="4032504"/>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4" name="Text 22"/>
          <p:cNvSpPr/>
          <p:nvPr/>
        </p:nvSpPr>
        <p:spPr>
          <a:xfrm>
            <a:off x="731520" y="4032504"/>
            <a:ext cx="7909560" cy="56692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Chỗ ngốn bộ nhớ là bảng logits, không phải trọng số</a:t>
            </a:r>
            <a:endParaRPr lang="en-US" sz="1250" dirty="0"/>
          </a:p>
        </p:txBody>
      </p:sp>
      <p:sp>
        <p:nvSpPr>
          <p:cNvPr id="25" name="Text 23"/>
          <p:cNvSpPr/>
          <p:nvPr/>
        </p:nvSpPr>
        <p:spPr>
          <a:xfrm>
            <a:off x="502920" y="4636008"/>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731520" y="4636008"/>
            <a:ext cx="7909560" cy="56692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Đổi loại card không làm đổi kết quả: cùng hạt giống thì mất mát 20 bước đầu trùng ba chữ số</a:t>
            </a:r>
            <a:endParaRPr lang="en-US" sz="1250" dirty="0"/>
          </a:p>
        </p:txBody>
      </p:sp>
      <p:sp>
        <p:nvSpPr>
          <p:cNvPr id="27" name="Text 25"/>
          <p:cNvSpPr/>
          <p:nvPr/>
        </p:nvSpPr>
        <p:spPr>
          <a:xfrm>
            <a:off x="502920" y="5239512"/>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731520" y="5239512"/>
            <a:ext cx="7909560" cy="56692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Ngân sách máy là lý do hạt giống thứ hai của nhánh xử lý bị huỷ</a:t>
            </a:r>
            <a:endParaRPr lang="en-US" sz="1250" dirty="0"/>
          </a:p>
        </p:txBody>
      </p:sp>
      <p:sp>
        <p:nvSpPr>
          <p:cNvPr id="29" name="Shape 27"/>
          <p:cNvSpPr/>
          <p:nvPr/>
        </p:nvSpPr>
        <p:spPr>
          <a:xfrm>
            <a:off x="0" y="6620256"/>
            <a:ext cx="2743200" cy="237744"/>
          </a:xfrm>
          <a:prstGeom prst="rect">
            <a:avLst/>
          </a:prstGeom>
          <a:solidFill>
            <a:srgbClr val="191132"/>
          </a:solidFill>
          <a:ln/>
        </p:spPr>
      </p:sp>
      <p:sp>
        <p:nvSpPr>
          <p:cNvPr id="30" name="Shape 28"/>
          <p:cNvSpPr/>
          <p:nvPr/>
        </p:nvSpPr>
        <p:spPr>
          <a:xfrm>
            <a:off x="2743200" y="6620256"/>
            <a:ext cx="3383280" cy="237744"/>
          </a:xfrm>
          <a:prstGeom prst="rect">
            <a:avLst/>
          </a:prstGeom>
          <a:solidFill>
            <a:srgbClr val="25194B"/>
          </a:solidFill>
          <a:ln/>
        </p:spPr>
      </p:sp>
      <p:sp>
        <p:nvSpPr>
          <p:cNvPr id="31" name="Shape 29"/>
          <p:cNvSpPr/>
          <p:nvPr/>
        </p:nvSpPr>
        <p:spPr>
          <a:xfrm>
            <a:off x="6126480" y="6620256"/>
            <a:ext cx="1737360" cy="237744"/>
          </a:xfrm>
          <a:prstGeom prst="rect">
            <a:avLst/>
          </a:prstGeom>
          <a:solidFill>
            <a:srgbClr val="4F417A"/>
          </a:solidFill>
          <a:ln/>
        </p:spPr>
      </p:sp>
      <p:sp>
        <p:nvSpPr>
          <p:cNvPr id="32" name="Shape 30"/>
          <p:cNvSpPr/>
          <p:nvPr/>
        </p:nvSpPr>
        <p:spPr>
          <a:xfrm>
            <a:off x="7863840" y="6620256"/>
            <a:ext cx="1280160" cy="237744"/>
          </a:xfrm>
          <a:prstGeom prst="rect">
            <a:avLst/>
          </a:prstGeom>
          <a:solidFill>
            <a:srgbClr val="7A7099"/>
          </a:solidFill>
          <a:ln/>
        </p:spPr>
      </p:sp>
      <p:sp>
        <p:nvSpPr>
          <p:cNvPr id="33"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4"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5"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6"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Trạng thái cuối của các nhánh trong thiết kế</a:t>
            </a:r>
            <a:endParaRPr lang="en-US" sz="1900" dirty="0"/>
          </a:p>
        </p:txBody>
      </p:sp>
      <p:sp>
        <p:nvSpPr>
          <p:cNvPr id="4" name="Shape 2"/>
          <p:cNvSpPr/>
          <p:nvPr/>
        </p:nvSpPr>
        <p:spPr>
          <a:xfrm>
            <a:off x="502920" y="731520"/>
            <a:ext cx="8129016" cy="365760"/>
          </a:xfrm>
          <a:prstGeom prst="rect">
            <a:avLst/>
          </a:prstGeom>
          <a:solidFill>
            <a:srgbClr val="322164"/>
          </a:solidFill>
          <a:ln/>
        </p:spPr>
      </p:sp>
      <p:sp>
        <p:nvSpPr>
          <p:cNvPr id="5" name="Text 3"/>
          <p:cNvSpPr/>
          <p:nvPr/>
        </p:nvSpPr>
        <p:spPr>
          <a:xfrm>
            <a:off x="502920" y="731520"/>
            <a:ext cx="237744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Nhánh</a:t>
            </a:r>
            <a:endParaRPr lang="en-US" sz="1200" dirty="0"/>
          </a:p>
        </p:txBody>
      </p:sp>
      <p:sp>
        <p:nvSpPr>
          <p:cNvPr id="6" name="Text 4"/>
          <p:cNvSpPr/>
          <p:nvPr/>
        </p:nvSpPr>
        <p:spPr>
          <a:xfrm>
            <a:off x="2880360" y="731520"/>
            <a:ext cx="164592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Trạng thái</a:t>
            </a:r>
            <a:endParaRPr lang="en-US" sz="1200" dirty="0"/>
          </a:p>
        </p:txBody>
      </p:sp>
      <p:sp>
        <p:nvSpPr>
          <p:cNvPr id="7" name="Text 5"/>
          <p:cNvSpPr/>
          <p:nvPr/>
        </p:nvSpPr>
        <p:spPr>
          <a:xfrm>
            <a:off x="4526280" y="731520"/>
            <a:ext cx="4105656"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Lý do</a:t>
            </a:r>
            <a:endParaRPr lang="en-US" sz="1200" dirty="0"/>
          </a:p>
        </p:txBody>
      </p:sp>
      <p:sp>
        <p:nvSpPr>
          <p:cNvPr id="8" name="Text 6"/>
          <p:cNvSpPr/>
          <p:nvPr/>
        </p:nvSpPr>
        <p:spPr>
          <a:xfrm>
            <a:off x="502920" y="1097280"/>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S1, hai hạt giống</a:t>
            </a:r>
            <a:endParaRPr lang="en-US" sz="1100" dirty="0"/>
          </a:p>
        </p:txBody>
      </p:sp>
      <p:sp>
        <p:nvSpPr>
          <p:cNvPr id="9" name="Text 7"/>
          <p:cNvSpPr/>
          <p:nvPr/>
        </p:nvSpPr>
        <p:spPr>
          <a:xfrm>
            <a:off x="2880360" y="1097280"/>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đã chạy</a:t>
            </a:r>
            <a:endParaRPr lang="en-US" sz="1100" dirty="0"/>
          </a:p>
        </p:txBody>
      </p:sp>
      <p:sp>
        <p:nvSpPr>
          <p:cNvPr id="10" name="Text 8"/>
          <p:cNvSpPr/>
          <p:nvPr/>
        </p:nvSpPr>
        <p:spPr>
          <a:xfrm>
            <a:off x="4526280" y="1097280"/>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nhánh nền, cho biết nhiễu là 0,52 điểm</a:t>
            </a:r>
            <a:endParaRPr lang="en-US" sz="1100" dirty="0"/>
          </a:p>
        </p:txBody>
      </p:sp>
      <p:sp>
        <p:nvSpPr>
          <p:cNvPr id="11" name="Shape 9"/>
          <p:cNvSpPr/>
          <p:nvPr/>
        </p:nvSpPr>
        <p:spPr>
          <a:xfrm>
            <a:off x="502920" y="1481328"/>
            <a:ext cx="8129016" cy="0"/>
          </a:xfrm>
          <a:prstGeom prst="line">
            <a:avLst/>
          </a:prstGeom>
          <a:noFill/>
          <a:ln w="12700">
            <a:solidFill>
              <a:srgbClr val="9A94AE"/>
            </a:solidFill>
            <a:prstDash val="solid"/>
          </a:ln>
        </p:spPr>
      </p:sp>
      <p:sp>
        <p:nvSpPr>
          <p:cNvPr id="12" name="Text 10"/>
          <p:cNvSpPr/>
          <p:nvPr/>
        </p:nvSpPr>
        <p:spPr>
          <a:xfrm>
            <a:off x="502920" y="1481328"/>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S2, hạt giống 101</a:t>
            </a:r>
            <a:endParaRPr lang="en-US" sz="1100" dirty="0"/>
          </a:p>
        </p:txBody>
      </p:sp>
      <p:sp>
        <p:nvSpPr>
          <p:cNvPr id="13" name="Text 11"/>
          <p:cNvSpPr/>
          <p:nvPr/>
        </p:nvSpPr>
        <p:spPr>
          <a:xfrm>
            <a:off x="2880360" y="1481328"/>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đã chạy</a:t>
            </a:r>
            <a:endParaRPr lang="en-US" sz="1100" dirty="0"/>
          </a:p>
        </p:txBody>
      </p:sp>
      <p:sp>
        <p:nvSpPr>
          <p:cNvPr id="14" name="Text 12"/>
          <p:cNvSpPr/>
          <p:nvPr/>
        </p:nvSpPr>
        <p:spPr>
          <a:xfrm>
            <a:off x="4526280" y="1481328"/>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một hạt giống, −1,93 điểm so với nhánh nền</a:t>
            </a:r>
            <a:endParaRPr lang="en-US" sz="1100" dirty="0"/>
          </a:p>
        </p:txBody>
      </p:sp>
      <p:sp>
        <p:nvSpPr>
          <p:cNvPr id="15" name="Shape 13"/>
          <p:cNvSpPr/>
          <p:nvPr/>
        </p:nvSpPr>
        <p:spPr>
          <a:xfrm>
            <a:off x="502920" y="1865376"/>
            <a:ext cx="8129016" cy="0"/>
          </a:xfrm>
          <a:prstGeom prst="line">
            <a:avLst/>
          </a:prstGeom>
          <a:noFill/>
          <a:ln w="12700">
            <a:solidFill>
              <a:srgbClr val="9A94AE"/>
            </a:solidFill>
            <a:prstDash val="solid"/>
          </a:ln>
        </p:spPr>
      </p:sp>
      <p:sp>
        <p:nvSpPr>
          <p:cNvPr id="16" name="Text 14"/>
          <p:cNvSpPr/>
          <p:nvPr/>
        </p:nvSpPr>
        <p:spPr>
          <a:xfrm>
            <a:off x="502920" y="1865376"/>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S2, hạt giống 202</a:t>
            </a:r>
            <a:endParaRPr lang="en-US" sz="1100" dirty="0"/>
          </a:p>
        </p:txBody>
      </p:sp>
      <p:sp>
        <p:nvSpPr>
          <p:cNvPr id="17" name="Text 15"/>
          <p:cNvSpPr/>
          <p:nvPr/>
        </p:nvSpPr>
        <p:spPr>
          <a:xfrm>
            <a:off x="2880360" y="1865376"/>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B22222"/>
                </a:solidFill>
                <a:latin typeface="Cambria" pitchFamily="34" charset="0"/>
                <a:ea typeface="Cambria" pitchFamily="34" charset="-122"/>
                <a:cs typeface="Cambria" pitchFamily="34" charset="-120"/>
              </a:rPr>
              <a:t>huỷ</a:t>
            </a:r>
            <a:endParaRPr lang="en-US" sz="1100" dirty="0"/>
          </a:p>
        </p:txBody>
      </p:sp>
      <p:sp>
        <p:nvSpPr>
          <p:cNvPr id="18" name="Text 16"/>
          <p:cNvSpPr/>
          <p:nvPr/>
        </p:nvSpPr>
        <p:spPr>
          <a:xfrm>
            <a:off x="4526280" y="1865376"/>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ngân sách máy; đại lượng chính không hoàn tất</a:t>
            </a:r>
            <a:endParaRPr lang="en-US" sz="1100" dirty="0"/>
          </a:p>
        </p:txBody>
      </p:sp>
      <p:sp>
        <p:nvSpPr>
          <p:cNvPr id="19" name="Shape 17"/>
          <p:cNvSpPr/>
          <p:nvPr/>
        </p:nvSpPr>
        <p:spPr>
          <a:xfrm>
            <a:off x="502920" y="2249424"/>
            <a:ext cx="8129016" cy="0"/>
          </a:xfrm>
          <a:prstGeom prst="line">
            <a:avLst/>
          </a:prstGeom>
          <a:noFill/>
          <a:ln w="12700">
            <a:solidFill>
              <a:srgbClr val="9A94AE"/>
            </a:solidFill>
            <a:prstDash val="solid"/>
          </a:ln>
        </p:spPr>
      </p:sp>
      <p:sp>
        <p:nvSpPr>
          <p:cNvPr id="20" name="Text 18"/>
          <p:cNvSpPr/>
          <p:nvPr/>
        </p:nvSpPr>
        <p:spPr>
          <a:xfrm>
            <a:off x="502920" y="2249424"/>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CE2-S2 và MIN-DESC</a:t>
            </a:r>
            <a:endParaRPr lang="en-US" sz="1100" dirty="0"/>
          </a:p>
        </p:txBody>
      </p:sp>
      <p:sp>
        <p:nvSpPr>
          <p:cNvPr id="21" name="Text 19"/>
          <p:cNvSpPr/>
          <p:nvPr/>
        </p:nvSpPr>
        <p:spPr>
          <a:xfrm>
            <a:off x="2880360" y="2249424"/>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đã chạy</a:t>
            </a:r>
            <a:endParaRPr lang="en-US" sz="1100" dirty="0"/>
          </a:p>
        </p:txBody>
      </p:sp>
      <p:sp>
        <p:nvSpPr>
          <p:cNvPr id="22" name="Text 20"/>
          <p:cNvSpPr/>
          <p:nvPr/>
        </p:nvSpPr>
        <p:spPr>
          <a:xfrm>
            <a:off x="4526280" y="2249424"/>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một hạt giống mỗi nhánh; MIN-DESC đạt 60,05</a:t>
            </a:r>
            <a:endParaRPr lang="en-US" sz="1100" dirty="0"/>
          </a:p>
        </p:txBody>
      </p:sp>
      <p:sp>
        <p:nvSpPr>
          <p:cNvPr id="23" name="Shape 21"/>
          <p:cNvSpPr/>
          <p:nvPr/>
        </p:nvSpPr>
        <p:spPr>
          <a:xfrm>
            <a:off x="502920" y="2633472"/>
            <a:ext cx="8129016" cy="0"/>
          </a:xfrm>
          <a:prstGeom prst="line">
            <a:avLst/>
          </a:prstGeom>
          <a:noFill/>
          <a:ln w="12700">
            <a:solidFill>
              <a:srgbClr val="9A94AE"/>
            </a:solidFill>
            <a:prstDash val="solid"/>
          </a:ln>
        </p:spPr>
      </p:sp>
      <p:sp>
        <p:nvSpPr>
          <p:cNvPr id="24" name="Text 22"/>
          <p:cNvSpPr/>
          <p:nvPr/>
        </p:nvSpPr>
        <p:spPr>
          <a:xfrm>
            <a:off x="502920" y="2633472"/>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Chặng ba, thưởng ô toạ độ</a:t>
            </a:r>
            <a:endParaRPr lang="en-US" sz="1100" dirty="0"/>
          </a:p>
        </p:txBody>
      </p:sp>
      <p:sp>
        <p:nvSpPr>
          <p:cNvPr id="25" name="Text 23"/>
          <p:cNvSpPr/>
          <p:nvPr/>
        </p:nvSpPr>
        <p:spPr>
          <a:xfrm>
            <a:off x="2880360" y="2633472"/>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đã chạy</a:t>
            </a:r>
            <a:endParaRPr lang="en-US" sz="1100" dirty="0"/>
          </a:p>
        </p:txBody>
      </p:sp>
      <p:sp>
        <p:nvSpPr>
          <p:cNvPr id="26" name="Text 24"/>
          <p:cNvSpPr/>
          <p:nvPr/>
        </p:nvSpPr>
        <p:spPr>
          <a:xfrm>
            <a:off x="4526280" y="2633472"/>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60,07, chênh +0,02 so với chặng hai; khai báo +2,56</a:t>
            </a:r>
            <a:endParaRPr lang="en-US" sz="1100" dirty="0"/>
          </a:p>
        </p:txBody>
      </p:sp>
      <p:sp>
        <p:nvSpPr>
          <p:cNvPr id="27" name="Shape 25"/>
          <p:cNvSpPr/>
          <p:nvPr/>
        </p:nvSpPr>
        <p:spPr>
          <a:xfrm>
            <a:off x="502920" y="3017520"/>
            <a:ext cx="8129016" cy="0"/>
          </a:xfrm>
          <a:prstGeom prst="line">
            <a:avLst/>
          </a:prstGeom>
          <a:noFill/>
          <a:ln w="12700">
            <a:solidFill>
              <a:srgbClr val="9A94AE"/>
            </a:solidFill>
            <a:prstDash val="solid"/>
          </a:ln>
        </p:spPr>
      </p:sp>
      <p:sp>
        <p:nvSpPr>
          <p:cNvPr id="28" name="Text 26"/>
          <p:cNvSpPr/>
          <p:nvPr/>
        </p:nvSpPr>
        <p:spPr>
          <a:xfrm>
            <a:off x="502920" y="3017520"/>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Nội suy hai bộ trọng số</a:t>
            </a:r>
            <a:endParaRPr lang="en-US" sz="1100" dirty="0"/>
          </a:p>
        </p:txBody>
      </p:sp>
      <p:sp>
        <p:nvSpPr>
          <p:cNvPr id="29" name="Text 27"/>
          <p:cNvSpPr/>
          <p:nvPr/>
        </p:nvSpPr>
        <p:spPr>
          <a:xfrm>
            <a:off x="2880360" y="3017520"/>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990000"/>
                </a:solidFill>
                <a:latin typeface="Cambria" pitchFamily="34" charset="0"/>
                <a:ea typeface="Cambria" pitchFamily="34" charset="-122"/>
                <a:cs typeface="Cambria" pitchFamily="34" charset="-120"/>
              </a:rPr>
              <a:t>xong, không cho gì</a:t>
            </a:r>
            <a:endParaRPr lang="en-US" sz="1100" dirty="0"/>
          </a:p>
        </p:txBody>
      </p:sp>
      <p:sp>
        <p:nvSpPr>
          <p:cNvPr id="30" name="Text 28"/>
          <p:cNvSpPr/>
          <p:nvPr/>
        </p:nvSpPr>
        <p:spPr>
          <a:xfrm>
            <a:off x="4526280" y="3017520"/>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đường cong đơn điệu, cực đại rơi đúng vào một đầu mút</a:t>
            </a:r>
            <a:endParaRPr lang="en-US" sz="1100" dirty="0"/>
          </a:p>
        </p:txBody>
      </p:sp>
      <p:sp>
        <p:nvSpPr>
          <p:cNvPr id="31" name="Shape 29"/>
          <p:cNvSpPr/>
          <p:nvPr/>
        </p:nvSpPr>
        <p:spPr>
          <a:xfrm>
            <a:off x="502920" y="3401568"/>
            <a:ext cx="8129016" cy="0"/>
          </a:xfrm>
          <a:prstGeom prst="line">
            <a:avLst/>
          </a:prstGeom>
          <a:noFill/>
          <a:ln w="12700">
            <a:solidFill>
              <a:srgbClr val="9A94AE"/>
            </a:solidFill>
            <a:prstDash val="solid"/>
          </a:ln>
        </p:spPr>
      </p:sp>
      <p:sp>
        <p:nvSpPr>
          <p:cNvPr id="32" name="Text 30"/>
          <p:cNvSpPr/>
          <p:nvPr/>
        </p:nvSpPr>
        <p:spPr>
          <a:xfrm>
            <a:off x="502920" y="3401568"/>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S2r</a:t>
            </a:r>
            <a:endParaRPr lang="en-US" sz="1100" dirty="0"/>
          </a:p>
        </p:txBody>
      </p:sp>
      <p:sp>
        <p:nvSpPr>
          <p:cNvPr id="33" name="Text 31"/>
          <p:cNvSpPr/>
          <p:nvPr/>
        </p:nvSpPr>
        <p:spPr>
          <a:xfrm>
            <a:off x="2880360" y="3401568"/>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990000"/>
                </a:solidFill>
                <a:latin typeface="Cambria" pitchFamily="34" charset="0"/>
                <a:ea typeface="Cambria" pitchFamily="34" charset="-122"/>
                <a:cs typeface="Cambria" pitchFamily="34" charset="-120"/>
              </a:rPr>
              <a:t>không chạy</a:t>
            </a:r>
            <a:endParaRPr lang="en-US" sz="1100" dirty="0"/>
          </a:p>
        </p:txBody>
      </p:sp>
      <p:sp>
        <p:nvSpPr>
          <p:cNvPr id="34" name="Text 32"/>
          <p:cNvSpPr/>
          <p:nvPr/>
        </p:nvSpPr>
        <p:spPr>
          <a:xfrm>
            <a:off x="4526280" y="3401568"/>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được thiết kế để chắc chắn thua nên giá trị thông tin thấp</a:t>
            </a:r>
            <a:endParaRPr lang="en-US" sz="1100" dirty="0"/>
          </a:p>
        </p:txBody>
      </p:sp>
      <p:sp>
        <p:nvSpPr>
          <p:cNvPr id="35" name="Shape 33"/>
          <p:cNvSpPr/>
          <p:nvPr/>
        </p:nvSpPr>
        <p:spPr>
          <a:xfrm>
            <a:off x="502920" y="3785616"/>
            <a:ext cx="8129016" cy="0"/>
          </a:xfrm>
          <a:prstGeom prst="line">
            <a:avLst/>
          </a:prstGeom>
          <a:noFill/>
          <a:ln w="12700">
            <a:solidFill>
              <a:srgbClr val="9A94AE"/>
            </a:solidFill>
            <a:prstDash val="solid"/>
          </a:ln>
        </p:spPr>
      </p:sp>
      <p:sp>
        <p:nvSpPr>
          <p:cNvPr id="36" name="Text 34"/>
          <p:cNvSpPr/>
          <p:nvPr/>
        </p:nvSpPr>
        <p:spPr>
          <a:xfrm>
            <a:off x="502920" y="3785616"/>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S2-nopoint</a:t>
            </a:r>
            <a:endParaRPr lang="en-US" sz="1100" dirty="0"/>
          </a:p>
        </p:txBody>
      </p:sp>
      <p:sp>
        <p:nvSpPr>
          <p:cNvPr id="37" name="Text 35"/>
          <p:cNvSpPr/>
          <p:nvPr/>
        </p:nvSpPr>
        <p:spPr>
          <a:xfrm>
            <a:off x="2880360" y="3785616"/>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990000"/>
                </a:solidFill>
                <a:latin typeface="Cambria" pitchFamily="34" charset="0"/>
                <a:ea typeface="Cambria" pitchFamily="34" charset="-122"/>
                <a:cs typeface="Cambria" pitchFamily="34" charset="-120"/>
              </a:rPr>
              <a:t>không chạy</a:t>
            </a:r>
            <a:endParaRPr lang="en-US" sz="1100" dirty="0"/>
          </a:p>
        </p:txBody>
      </p:sp>
      <p:sp>
        <p:nvSpPr>
          <p:cNvPr id="38" name="Text 36"/>
          <p:cNvSpPr/>
          <p:nvPr/>
        </p:nvSpPr>
        <p:spPr>
          <a:xfrm>
            <a:off x="4526280" y="3785616"/>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chi phí gấp đôi chặng hai, mà ô toạ độ đã đo được là ô có ích</a:t>
            </a:r>
            <a:endParaRPr lang="en-US" sz="1100" dirty="0"/>
          </a:p>
        </p:txBody>
      </p:sp>
      <p:sp>
        <p:nvSpPr>
          <p:cNvPr id="39" name="Shape 37"/>
          <p:cNvSpPr/>
          <p:nvPr/>
        </p:nvSpPr>
        <p:spPr>
          <a:xfrm>
            <a:off x="502920" y="4169664"/>
            <a:ext cx="8129016" cy="0"/>
          </a:xfrm>
          <a:prstGeom prst="line">
            <a:avLst/>
          </a:prstGeom>
          <a:noFill/>
          <a:ln w="12700">
            <a:solidFill>
              <a:srgbClr val="9A94AE"/>
            </a:solidFill>
            <a:prstDash val="solid"/>
          </a:ln>
        </p:spPr>
      </p:sp>
      <p:sp>
        <p:nvSpPr>
          <p:cNvPr id="40" name="Text 38"/>
          <p:cNvSpPr/>
          <p:nvPr/>
        </p:nvSpPr>
        <p:spPr>
          <a:xfrm>
            <a:off x="502920" y="4169664"/>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MIN-ONPOLICY</a:t>
            </a:r>
            <a:endParaRPr lang="en-US" sz="1100" dirty="0"/>
          </a:p>
        </p:txBody>
      </p:sp>
      <p:sp>
        <p:nvSpPr>
          <p:cNvPr id="41" name="Text 39"/>
          <p:cNvSpPr/>
          <p:nvPr/>
        </p:nvSpPr>
        <p:spPr>
          <a:xfrm>
            <a:off x="2880360" y="4169664"/>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B22222"/>
                </a:solidFill>
                <a:latin typeface="Cambria" pitchFamily="34" charset="0"/>
                <a:ea typeface="Cambria" pitchFamily="34" charset="-122"/>
                <a:cs typeface="Cambria" pitchFamily="34" charset="-120"/>
              </a:rPr>
              <a:t>dừng</a:t>
            </a:r>
            <a:endParaRPr lang="en-US" sz="1100" dirty="0"/>
          </a:p>
        </p:txBody>
      </p:sp>
      <p:sp>
        <p:nvSpPr>
          <p:cNvPr id="42" name="Text 40"/>
          <p:cNvSpPr/>
          <p:nvPr/>
        </p:nvSpPr>
        <p:spPr>
          <a:xfrm>
            <a:off x="4526280" y="4169664"/>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dựng dữ liệu xong nhưng không đạt tiêu chí khả thi</a:t>
            </a:r>
            <a:endParaRPr lang="en-US" sz="1100" dirty="0"/>
          </a:p>
        </p:txBody>
      </p:sp>
      <p:sp>
        <p:nvSpPr>
          <p:cNvPr id="43" name="Shape 41"/>
          <p:cNvSpPr/>
          <p:nvPr/>
        </p:nvSpPr>
        <p:spPr>
          <a:xfrm>
            <a:off x="502920" y="4553712"/>
            <a:ext cx="8129016" cy="0"/>
          </a:xfrm>
          <a:prstGeom prst="line">
            <a:avLst/>
          </a:prstGeom>
          <a:noFill/>
          <a:ln w="12700">
            <a:solidFill>
              <a:srgbClr val="9A94AE"/>
            </a:solidFill>
            <a:prstDash val="solid"/>
          </a:ln>
        </p:spPr>
      </p:sp>
      <p:sp>
        <p:nvSpPr>
          <p:cNvPr id="44" name="Text 42"/>
          <p:cNvSpPr/>
          <p:nvPr/>
        </p:nvSpPr>
        <p:spPr>
          <a:xfrm>
            <a:off x="502920" y="4553712"/>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Nhánh ứng viên, hạt 101</a:t>
            </a:r>
            <a:endParaRPr lang="en-US" sz="1100" dirty="0"/>
          </a:p>
        </p:txBody>
      </p:sp>
      <p:sp>
        <p:nvSpPr>
          <p:cNvPr id="45" name="Text 43"/>
          <p:cNvSpPr/>
          <p:nvPr/>
        </p:nvSpPr>
        <p:spPr>
          <a:xfrm>
            <a:off x="2880360" y="4553712"/>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đã chạy</a:t>
            </a:r>
            <a:endParaRPr lang="en-US" sz="1100" dirty="0"/>
          </a:p>
        </p:txBody>
      </p:sp>
      <p:sp>
        <p:nvSpPr>
          <p:cNvPr id="46" name="Text 44"/>
          <p:cNvSpPr/>
          <p:nvPr/>
        </p:nvSpPr>
        <p:spPr>
          <a:xfrm>
            <a:off x="4526280" y="4553712"/>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không đạt ngưỡng chọn; executability 56,1, một hạt giống</a:t>
            </a:r>
            <a:endParaRPr lang="en-US" sz="1100" dirty="0"/>
          </a:p>
        </p:txBody>
      </p:sp>
      <p:sp>
        <p:nvSpPr>
          <p:cNvPr id="47" name="Shape 45"/>
          <p:cNvSpPr/>
          <p:nvPr/>
        </p:nvSpPr>
        <p:spPr>
          <a:xfrm>
            <a:off x="502920" y="4937760"/>
            <a:ext cx="8129016" cy="0"/>
          </a:xfrm>
          <a:prstGeom prst="line">
            <a:avLst/>
          </a:prstGeom>
          <a:noFill/>
          <a:ln w="12700">
            <a:solidFill>
              <a:srgbClr val="9A94AE"/>
            </a:solidFill>
            <a:prstDash val="solid"/>
          </a:ln>
        </p:spPr>
      </p:sp>
      <p:sp>
        <p:nvSpPr>
          <p:cNvPr id="48" name="Text 46"/>
          <p:cNvSpPr/>
          <p:nvPr/>
        </p:nvSpPr>
        <p:spPr>
          <a:xfrm>
            <a:off x="502920" y="4937760"/>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Nhánh so sánh cùng đầu vào</a:t>
            </a:r>
            <a:endParaRPr lang="en-US" sz="1100" dirty="0"/>
          </a:p>
        </p:txBody>
      </p:sp>
      <p:sp>
        <p:nvSpPr>
          <p:cNvPr id="49" name="Text 47"/>
          <p:cNvSpPr/>
          <p:nvPr/>
        </p:nvSpPr>
        <p:spPr>
          <a:xfrm>
            <a:off x="2880360" y="4937760"/>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B22222"/>
                </a:solidFill>
                <a:latin typeface="Cambria" pitchFamily="34" charset="0"/>
                <a:ea typeface="Cambria" pitchFamily="34" charset="-122"/>
                <a:cs typeface="Cambria" pitchFamily="34" charset="-120"/>
              </a:rPr>
              <a:t>huỷ</a:t>
            </a:r>
            <a:endParaRPr lang="en-US" sz="1100" dirty="0"/>
          </a:p>
        </p:txBody>
      </p:sp>
      <p:sp>
        <p:nvSpPr>
          <p:cNvPr id="50" name="Text 48"/>
          <p:cNvSpPr/>
          <p:nvPr/>
        </p:nvSpPr>
        <p:spPr>
          <a:xfrm>
            <a:off x="4526280" y="4937760"/>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ngân sách; không quy công được cho danh sách ứng viên</a:t>
            </a:r>
            <a:endParaRPr lang="en-US" sz="1100" dirty="0"/>
          </a:p>
        </p:txBody>
      </p:sp>
      <p:sp>
        <p:nvSpPr>
          <p:cNvPr id="51" name="Shape 49"/>
          <p:cNvSpPr/>
          <p:nvPr/>
        </p:nvSpPr>
        <p:spPr>
          <a:xfrm>
            <a:off x="502920" y="5321808"/>
            <a:ext cx="8129016" cy="0"/>
          </a:xfrm>
          <a:prstGeom prst="line">
            <a:avLst/>
          </a:prstGeom>
          <a:noFill/>
          <a:ln w="12700">
            <a:solidFill>
              <a:srgbClr val="9A94AE"/>
            </a:solidFill>
            <a:prstDash val="solid"/>
          </a:ln>
        </p:spPr>
      </p:sp>
      <p:sp>
        <p:nvSpPr>
          <p:cNvPr id="52" name="Text 50"/>
          <p:cNvSpPr/>
          <p:nvPr/>
        </p:nvSpPr>
        <p:spPr>
          <a:xfrm>
            <a:off x="502920" y="5321808"/>
            <a:ext cx="2377440"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Ngưỡng bỏ cuộc τ</a:t>
            </a:r>
            <a:endParaRPr lang="en-US" sz="1100" dirty="0"/>
          </a:p>
        </p:txBody>
      </p:sp>
      <p:sp>
        <p:nvSpPr>
          <p:cNvPr id="53" name="Text 51"/>
          <p:cNvSpPr/>
          <p:nvPr/>
        </p:nvSpPr>
        <p:spPr>
          <a:xfrm>
            <a:off x="2880360" y="5321808"/>
            <a:ext cx="1645920" cy="384048"/>
          </a:xfrm>
          <a:prstGeom prst="rect">
            <a:avLst/>
          </a:prstGeom>
          <a:noFill/>
          <a:ln/>
        </p:spPr>
        <p:txBody>
          <a:bodyPr wrap="square" lIns="38100" tIns="38100" rIns="38100" bIns="38100" rtlCol="0" anchor="ctr"/>
          <a:lstStyle/>
          <a:p>
            <a:pPr algn="ctr" indent="0" marL="0">
              <a:buNone/>
            </a:pPr>
            <a:r>
              <a:rPr lang="en-US" sz="1100" b="1" dirty="0">
                <a:solidFill>
                  <a:srgbClr val="990000"/>
                </a:solidFill>
                <a:latin typeface="Cambria" pitchFamily="34" charset="0"/>
                <a:ea typeface="Cambria" pitchFamily="34" charset="-122"/>
                <a:cs typeface="Cambria" pitchFamily="34" charset="-120"/>
              </a:rPr>
              <a:t>giữ nguyên thắng</a:t>
            </a:r>
            <a:endParaRPr lang="en-US" sz="1100" dirty="0"/>
          </a:p>
        </p:txBody>
      </p:sp>
      <p:sp>
        <p:nvSpPr>
          <p:cNvPr id="54" name="Text 52"/>
          <p:cNvSpPr/>
          <p:nvPr/>
        </p:nvSpPr>
        <p:spPr>
          <a:xfrm>
            <a:off x="4526280" y="5321808"/>
            <a:ext cx="4105656" cy="384048"/>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tốt nhất +8/1.400, dưới ngưỡng đặt trước</a:t>
            </a:r>
            <a:endParaRPr lang="en-US" sz="1100" dirty="0"/>
          </a:p>
        </p:txBody>
      </p:sp>
      <p:sp>
        <p:nvSpPr>
          <p:cNvPr id="55" name="Shape 53"/>
          <p:cNvSpPr/>
          <p:nvPr/>
        </p:nvSpPr>
        <p:spPr>
          <a:xfrm>
            <a:off x="502920" y="5779008"/>
            <a:ext cx="8138160" cy="566928"/>
          </a:xfrm>
          <a:prstGeom prst="roundRect">
            <a:avLst>
              <a:gd name="adj" fmla="val 9677"/>
            </a:avLst>
          </a:prstGeom>
          <a:solidFill>
            <a:srgbClr val="E9E8EC"/>
          </a:solidFill>
          <a:ln/>
          <a:effectLst>
            <a:outerShdw sx="100000" sy="100000" kx="0" ky="0" algn="bl" rotWithShape="0" blurRad="63500" dist="31750" dir="2700000">
              <a:srgbClr val="8C8C99">
                <a:alpha val="45000"/>
              </a:srgbClr>
            </a:outerShdw>
          </a:effectLst>
        </p:spPr>
      </p:sp>
      <p:sp>
        <p:nvSpPr>
          <p:cNvPr id="56" name="Text 54"/>
          <p:cNvSpPr/>
          <p:nvPr/>
        </p:nvSpPr>
        <p:spPr>
          <a:xfrm>
            <a:off x="731520" y="5779008"/>
            <a:ext cx="7680960" cy="566928"/>
          </a:xfrm>
          <a:prstGeom prst="rect">
            <a:avLst/>
          </a:prstGeom>
          <a:noFill/>
          <a:ln/>
        </p:spPr>
        <p:txBody>
          <a:bodyPr wrap="square" lIns="0" tIns="0" rIns="0" bIns="0" rtlCol="0" anchor="ctr"/>
          <a:lstStyle/>
          <a:p>
            <a:pPr algn="l" indent="0" marL="0">
              <a:buNone/>
            </a:pPr>
            <a:r>
              <a:rPr lang="en-US" sz="1250" b="1" dirty="0">
                <a:solidFill>
                  <a:srgbClr val="322164"/>
                </a:solidFill>
                <a:latin typeface="Cambria" pitchFamily="34" charset="0"/>
                <a:ea typeface="Cambria" pitchFamily="34" charset="-122"/>
                <a:cs typeface="Cambria" pitchFamily="34" charset="-120"/>
              </a:rPr>
              <a:t>Luận văn báo mọi nhánh, kể cả nhánh dừng ở tiêu chí khả thi và kể cả khi kết quả đi ngược kỳ vọng.</a:t>
            </a:r>
            <a:endParaRPr lang="en-US" sz="1250" dirty="0"/>
          </a:p>
        </p:txBody>
      </p:sp>
      <p:sp>
        <p:nvSpPr>
          <p:cNvPr id="57" name="Shape 55"/>
          <p:cNvSpPr/>
          <p:nvPr/>
        </p:nvSpPr>
        <p:spPr>
          <a:xfrm>
            <a:off x="0" y="6620256"/>
            <a:ext cx="2743200" cy="237744"/>
          </a:xfrm>
          <a:prstGeom prst="rect">
            <a:avLst/>
          </a:prstGeom>
          <a:solidFill>
            <a:srgbClr val="191132"/>
          </a:solidFill>
          <a:ln/>
        </p:spPr>
      </p:sp>
      <p:sp>
        <p:nvSpPr>
          <p:cNvPr id="58" name="Shape 56"/>
          <p:cNvSpPr/>
          <p:nvPr/>
        </p:nvSpPr>
        <p:spPr>
          <a:xfrm>
            <a:off x="2743200" y="6620256"/>
            <a:ext cx="3383280" cy="237744"/>
          </a:xfrm>
          <a:prstGeom prst="rect">
            <a:avLst/>
          </a:prstGeom>
          <a:solidFill>
            <a:srgbClr val="25194B"/>
          </a:solidFill>
          <a:ln/>
        </p:spPr>
      </p:sp>
      <p:sp>
        <p:nvSpPr>
          <p:cNvPr id="59" name="Shape 57"/>
          <p:cNvSpPr/>
          <p:nvPr/>
        </p:nvSpPr>
        <p:spPr>
          <a:xfrm>
            <a:off x="6126480" y="6620256"/>
            <a:ext cx="1737360" cy="237744"/>
          </a:xfrm>
          <a:prstGeom prst="rect">
            <a:avLst/>
          </a:prstGeom>
          <a:solidFill>
            <a:srgbClr val="4F417A"/>
          </a:solidFill>
          <a:ln/>
        </p:spPr>
      </p:sp>
      <p:sp>
        <p:nvSpPr>
          <p:cNvPr id="60" name="Shape 58"/>
          <p:cNvSpPr/>
          <p:nvPr/>
        </p:nvSpPr>
        <p:spPr>
          <a:xfrm>
            <a:off x="7863840" y="6620256"/>
            <a:ext cx="1280160" cy="237744"/>
          </a:xfrm>
          <a:prstGeom prst="rect">
            <a:avLst/>
          </a:prstGeom>
          <a:solidFill>
            <a:srgbClr val="7A7099"/>
          </a:solidFill>
          <a:ln/>
        </p:spPr>
      </p:sp>
      <p:sp>
        <p:nvSpPr>
          <p:cNvPr id="61" name="Text 5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62" name="Text 6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63" name="Text 6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64" name="Text 6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7</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Nội suy giữa hai bộ trọng số, và lý do không trích số trên tập chọn</a:t>
            </a:r>
            <a:endParaRPr lang="en-US" sz="1900" dirty="0"/>
          </a:p>
        </p:txBody>
      </p:sp>
      <p:sp>
        <p:nvSpPr>
          <p:cNvPr id="4" name="Text 2"/>
          <p:cNvSpPr/>
          <p:nvPr/>
        </p:nvSpPr>
        <p:spPr>
          <a:xfrm>
            <a:off x="502920" y="658368"/>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Ghép nối theo hạng hai bộ trọng số hạng thấp của chặng hai và chặng ba, chấm trên lát chọn 262 bước chạm</a:t>
            </a:r>
            <a:endParaRPr lang="en-US" sz="1200" dirty="0"/>
          </a:p>
        </p:txBody>
      </p:sp>
      <p:sp>
        <p:nvSpPr>
          <p:cNvPr id="5" name="Shape 3"/>
          <p:cNvSpPr/>
          <p:nvPr/>
        </p:nvSpPr>
        <p:spPr>
          <a:xfrm>
            <a:off x="502920" y="1097280"/>
            <a:ext cx="8311896" cy="402336"/>
          </a:xfrm>
          <a:prstGeom prst="rect">
            <a:avLst/>
          </a:prstGeom>
          <a:solidFill>
            <a:srgbClr val="322164"/>
          </a:solidFill>
          <a:ln/>
        </p:spPr>
      </p:sp>
      <p:sp>
        <p:nvSpPr>
          <p:cNvPr id="6" name="Text 4"/>
          <p:cNvSpPr/>
          <p:nvPr/>
        </p:nvSpPr>
        <p:spPr>
          <a:xfrm>
            <a:off x="502920" y="1097280"/>
            <a:ext cx="2377440" cy="402336"/>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Hệ số trộn</a:t>
            </a:r>
            <a:endParaRPr lang="en-US" sz="1200" dirty="0"/>
          </a:p>
        </p:txBody>
      </p:sp>
      <p:sp>
        <p:nvSpPr>
          <p:cNvPr id="7" name="Text 5"/>
          <p:cNvSpPr/>
          <p:nvPr/>
        </p:nvSpPr>
        <p:spPr>
          <a:xfrm>
            <a:off x="2880360" y="1097280"/>
            <a:ext cx="1225296" cy="402336"/>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0,00</a:t>
            </a:r>
            <a:endParaRPr lang="en-US" sz="1200" dirty="0"/>
          </a:p>
        </p:txBody>
      </p:sp>
      <p:sp>
        <p:nvSpPr>
          <p:cNvPr id="8" name="Text 6"/>
          <p:cNvSpPr/>
          <p:nvPr/>
        </p:nvSpPr>
        <p:spPr>
          <a:xfrm>
            <a:off x="4105656" y="1097280"/>
            <a:ext cx="1225296" cy="402336"/>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0,25</a:t>
            </a:r>
            <a:endParaRPr lang="en-US" sz="1200" dirty="0"/>
          </a:p>
        </p:txBody>
      </p:sp>
      <p:sp>
        <p:nvSpPr>
          <p:cNvPr id="9" name="Text 7"/>
          <p:cNvSpPr/>
          <p:nvPr/>
        </p:nvSpPr>
        <p:spPr>
          <a:xfrm>
            <a:off x="5330952" y="1097280"/>
            <a:ext cx="1225296" cy="402336"/>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0,50</a:t>
            </a:r>
            <a:endParaRPr lang="en-US" sz="1200" dirty="0"/>
          </a:p>
        </p:txBody>
      </p:sp>
      <p:sp>
        <p:nvSpPr>
          <p:cNvPr id="10" name="Text 8"/>
          <p:cNvSpPr/>
          <p:nvPr/>
        </p:nvSpPr>
        <p:spPr>
          <a:xfrm>
            <a:off x="6556248" y="1097280"/>
            <a:ext cx="1225296" cy="402336"/>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0,75</a:t>
            </a:r>
            <a:endParaRPr lang="en-US" sz="1200" dirty="0"/>
          </a:p>
        </p:txBody>
      </p:sp>
      <p:sp>
        <p:nvSpPr>
          <p:cNvPr id="11" name="Text 9"/>
          <p:cNvSpPr/>
          <p:nvPr/>
        </p:nvSpPr>
        <p:spPr>
          <a:xfrm>
            <a:off x="7781544" y="1097280"/>
            <a:ext cx="1033272" cy="402336"/>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1,00</a:t>
            </a:r>
            <a:endParaRPr lang="en-US" sz="1200" dirty="0"/>
          </a:p>
        </p:txBody>
      </p:sp>
      <p:sp>
        <p:nvSpPr>
          <p:cNvPr id="12" name="Text 10"/>
          <p:cNvSpPr/>
          <p:nvPr/>
        </p:nvSpPr>
        <p:spPr>
          <a:xfrm>
            <a:off x="502920" y="1499616"/>
            <a:ext cx="237744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Điểm trên lát chọn</a:t>
            </a:r>
            <a:endParaRPr lang="en-US" sz="1250" dirty="0"/>
          </a:p>
        </p:txBody>
      </p:sp>
      <p:sp>
        <p:nvSpPr>
          <p:cNvPr id="13" name="Text 11"/>
          <p:cNvSpPr/>
          <p:nvPr/>
        </p:nvSpPr>
        <p:spPr>
          <a:xfrm>
            <a:off x="2880360" y="1499616"/>
            <a:ext cx="12252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67,56</a:t>
            </a:r>
            <a:endParaRPr lang="en-US" sz="1250" dirty="0"/>
          </a:p>
        </p:txBody>
      </p:sp>
      <p:sp>
        <p:nvSpPr>
          <p:cNvPr id="14" name="Text 12"/>
          <p:cNvSpPr/>
          <p:nvPr/>
        </p:nvSpPr>
        <p:spPr>
          <a:xfrm>
            <a:off x="4105656" y="1499616"/>
            <a:ext cx="12252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67,94</a:t>
            </a:r>
            <a:endParaRPr lang="en-US" sz="1250" dirty="0"/>
          </a:p>
        </p:txBody>
      </p:sp>
      <p:sp>
        <p:nvSpPr>
          <p:cNvPr id="15" name="Text 13"/>
          <p:cNvSpPr/>
          <p:nvPr/>
        </p:nvSpPr>
        <p:spPr>
          <a:xfrm>
            <a:off x="5330952" y="1499616"/>
            <a:ext cx="12252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67,94</a:t>
            </a:r>
            <a:endParaRPr lang="en-US" sz="1250" dirty="0"/>
          </a:p>
        </p:txBody>
      </p:sp>
      <p:sp>
        <p:nvSpPr>
          <p:cNvPr id="16" name="Text 14"/>
          <p:cNvSpPr/>
          <p:nvPr/>
        </p:nvSpPr>
        <p:spPr>
          <a:xfrm>
            <a:off x="6556248" y="1499616"/>
            <a:ext cx="1225296" cy="420624"/>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67,94</a:t>
            </a:r>
            <a:endParaRPr lang="en-US" sz="1250" dirty="0"/>
          </a:p>
        </p:txBody>
      </p:sp>
      <p:sp>
        <p:nvSpPr>
          <p:cNvPr id="17" name="Text 15"/>
          <p:cNvSpPr/>
          <p:nvPr/>
        </p:nvSpPr>
        <p:spPr>
          <a:xfrm>
            <a:off x="7781544" y="1499616"/>
            <a:ext cx="1033272" cy="420624"/>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68,32</a:t>
            </a:r>
            <a:endParaRPr lang="en-US" sz="1250" dirty="0"/>
          </a:p>
        </p:txBody>
      </p:sp>
      <p:sp>
        <p:nvSpPr>
          <p:cNvPr id="18" name="Shape 16"/>
          <p:cNvSpPr/>
          <p:nvPr/>
        </p:nvSpPr>
        <p:spPr>
          <a:xfrm>
            <a:off x="502920" y="1920240"/>
            <a:ext cx="8311896" cy="0"/>
          </a:xfrm>
          <a:prstGeom prst="line">
            <a:avLst/>
          </a:prstGeom>
          <a:noFill/>
          <a:ln w="12700">
            <a:solidFill>
              <a:srgbClr val="9A94AE"/>
            </a:solidFill>
            <a:prstDash val="solid"/>
          </a:ln>
        </p:spPr>
      </p:sp>
      <p:sp>
        <p:nvSpPr>
          <p:cNvPr id="19" name="Text 17"/>
          <p:cNvSpPr/>
          <p:nvPr/>
        </p:nvSpPr>
        <p:spPr>
          <a:xfrm>
            <a:off x="502920" y="1920240"/>
            <a:ext cx="2377440" cy="402336"/>
          </a:xfrm>
          <a:prstGeom prst="rect">
            <a:avLst/>
          </a:prstGeom>
          <a:noFill/>
          <a:ln/>
        </p:spPr>
        <p:txBody>
          <a:bodyPr wrap="square" lIns="38100" tIns="38100" rIns="38100" bIns="38100" rtlCol="0" anchor="ctr"/>
          <a:lstStyle/>
          <a:p>
            <a:pPr algn="l" indent="0" marL="0">
              <a:buNone/>
            </a:pPr>
            <a:r>
              <a:rPr lang="en-US" sz="1150" dirty="0">
                <a:solidFill>
                  <a:srgbClr val="5A5A66"/>
                </a:solidFill>
                <a:latin typeface="Cambria" pitchFamily="34" charset="0"/>
                <a:ea typeface="Cambria" pitchFamily="34" charset="-122"/>
                <a:cs typeface="Cambria" pitchFamily="34" charset="-120"/>
              </a:rPr>
              <a:t>Số bước câu đổi so với đầu mút</a:t>
            </a:r>
            <a:endParaRPr lang="en-US" sz="1150" dirty="0"/>
          </a:p>
        </p:txBody>
      </p:sp>
      <p:sp>
        <p:nvSpPr>
          <p:cNvPr id="20" name="Text 18"/>
          <p:cNvSpPr/>
          <p:nvPr/>
        </p:nvSpPr>
        <p:spPr>
          <a:xfrm>
            <a:off x="2880360" y="1920240"/>
            <a:ext cx="1225296" cy="402336"/>
          </a:xfrm>
          <a:prstGeom prst="rect">
            <a:avLst/>
          </a:prstGeom>
          <a:noFill/>
          <a:ln/>
        </p:spPr>
        <p:txBody>
          <a:bodyPr wrap="square" lIns="38100" tIns="38100" rIns="38100" bIns="38100" rtlCol="0" anchor="ctr"/>
          <a:lstStyle/>
          <a:p>
            <a:pPr algn="ctr" indent="0" marL="0">
              <a:buNone/>
            </a:pPr>
            <a:r>
              <a:rPr lang="en-US" sz="1150" dirty="0">
                <a:solidFill>
                  <a:srgbClr val="5A5A66"/>
                </a:solidFill>
                <a:latin typeface="Cambria" pitchFamily="34" charset="0"/>
                <a:ea typeface="Cambria" pitchFamily="34" charset="-122"/>
                <a:cs typeface="Cambria" pitchFamily="34" charset="-120"/>
              </a:rPr>
              <a:t>0</a:t>
            </a:r>
            <a:endParaRPr lang="en-US" sz="1150" dirty="0"/>
          </a:p>
        </p:txBody>
      </p:sp>
      <p:sp>
        <p:nvSpPr>
          <p:cNvPr id="21" name="Text 19"/>
          <p:cNvSpPr/>
          <p:nvPr/>
        </p:nvSpPr>
        <p:spPr>
          <a:xfrm>
            <a:off x="4105656" y="1920240"/>
            <a:ext cx="1225296" cy="402336"/>
          </a:xfrm>
          <a:prstGeom prst="rect">
            <a:avLst/>
          </a:prstGeom>
          <a:noFill/>
          <a:ln/>
        </p:spPr>
        <p:txBody>
          <a:bodyPr wrap="square" lIns="38100" tIns="38100" rIns="38100" bIns="38100" rtlCol="0" anchor="ctr"/>
          <a:lstStyle/>
          <a:p>
            <a:pPr algn="ctr" indent="0" marL="0">
              <a:buNone/>
            </a:pPr>
            <a:r>
              <a:rPr lang="en-US" sz="1150" dirty="0">
                <a:solidFill>
                  <a:srgbClr val="5A5A66"/>
                </a:solidFill>
                <a:latin typeface="Cambria" pitchFamily="34" charset="0"/>
                <a:ea typeface="Cambria" pitchFamily="34" charset="-122"/>
                <a:cs typeface="Cambria" pitchFamily="34" charset="-120"/>
              </a:rPr>
              <a:t>53</a:t>
            </a:r>
            <a:endParaRPr lang="en-US" sz="1150" dirty="0"/>
          </a:p>
        </p:txBody>
      </p:sp>
      <p:sp>
        <p:nvSpPr>
          <p:cNvPr id="22" name="Text 20"/>
          <p:cNvSpPr/>
          <p:nvPr/>
        </p:nvSpPr>
        <p:spPr>
          <a:xfrm>
            <a:off x="5330952" y="1920240"/>
            <a:ext cx="1225296" cy="402336"/>
          </a:xfrm>
          <a:prstGeom prst="rect">
            <a:avLst/>
          </a:prstGeom>
          <a:noFill/>
          <a:ln/>
        </p:spPr>
        <p:txBody>
          <a:bodyPr wrap="square" lIns="38100" tIns="38100" rIns="38100" bIns="38100" rtlCol="0" anchor="ctr"/>
          <a:lstStyle/>
          <a:p>
            <a:pPr algn="ctr" indent="0" marL="0">
              <a:buNone/>
            </a:pPr>
            <a:r>
              <a:rPr lang="en-US" sz="1150" dirty="0">
                <a:solidFill>
                  <a:srgbClr val="5A5A66"/>
                </a:solidFill>
                <a:latin typeface="Cambria" pitchFamily="34" charset="0"/>
                <a:ea typeface="Cambria" pitchFamily="34" charset="-122"/>
                <a:cs typeface="Cambria" pitchFamily="34" charset="-120"/>
              </a:rPr>
              <a:t>95</a:t>
            </a:r>
            <a:endParaRPr lang="en-US" sz="1150" dirty="0"/>
          </a:p>
        </p:txBody>
      </p:sp>
      <p:sp>
        <p:nvSpPr>
          <p:cNvPr id="23" name="Text 21"/>
          <p:cNvSpPr/>
          <p:nvPr/>
        </p:nvSpPr>
        <p:spPr>
          <a:xfrm>
            <a:off x="6556248" y="1920240"/>
            <a:ext cx="1225296" cy="402336"/>
          </a:xfrm>
          <a:prstGeom prst="rect">
            <a:avLst/>
          </a:prstGeom>
          <a:noFill/>
          <a:ln/>
        </p:spPr>
        <p:txBody>
          <a:bodyPr wrap="square" lIns="38100" tIns="38100" rIns="38100" bIns="38100" rtlCol="0" anchor="ctr"/>
          <a:lstStyle/>
          <a:p>
            <a:pPr algn="ctr" indent="0" marL="0">
              <a:buNone/>
            </a:pPr>
            <a:r>
              <a:rPr lang="en-US" sz="1150" dirty="0">
                <a:solidFill>
                  <a:srgbClr val="5A5A66"/>
                </a:solidFill>
                <a:latin typeface="Cambria" pitchFamily="34" charset="0"/>
                <a:ea typeface="Cambria" pitchFamily="34" charset="-122"/>
                <a:cs typeface="Cambria" pitchFamily="34" charset="-120"/>
              </a:rPr>
              <a:t>127</a:t>
            </a:r>
            <a:endParaRPr lang="en-US" sz="1150" dirty="0"/>
          </a:p>
        </p:txBody>
      </p:sp>
      <p:sp>
        <p:nvSpPr>
          <p:cNvPr id="24" name="Text 22"/>
          <p:cNvSpPr/>
          <p:nvPr/>
        </p:nvSpPr>
        <p:spPr>
          <a:xfrm>
            <a:off x="7781544" y="1920240"/>
            <a:ext cx="1033272" cy="402336"/>
          </a:xfrm>
          <a:prstGeom prst="rect">
            <a:avLst/>
          </a:prstGeom>
          <a:noFill/>
          <a:ln/>
        </p:spPr>
        <p:txBody>
          <a:bodyPr wrap="square" lIns="38100" tIns="38100" rIns="38100" bIns="38100" rtlCol="0" anchor="ctr"/>
          <a:lstStyle/>
          <a:p>
            <a:pPr algn="ctr" indent="0" marL="0">
              <a:buNone/>
            </a:pPr>
            <a:r>
              <a:rPr lang="en-US" sz="1150" dirty="0">
                <a:solidFill>
                  <a:srgbClr val="5A5A66"/>
                </a:solidFill>
                <a:latin typeface="Cambria" pitchFamily="34" charset="0"/>
                <a:ea typeface="Cambria" pitchFamily="34" charset="-122"/>
                <a:cs typeface="Cambria" pitchFamily="34" charset="-120"/>
              </a:rPr>
              <a:t>155</a:t>
            </a:r>
            <a:endParaRPr lang="en-US" sz="1150" dirty="0"/>
          </a:p>
        </p:txBody>
      </p:sp>
      <p:sp>
        <p:nvSpPr>
          <p:cNvPr id="25" name="Text 23"/>
          <p:cNvSpPr/>
          <p:nvPr/>
        </p:nvSpPr>
        <p:spPr>
          <a:xfrm>
            <a:off x="640080" y="2606040"/>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868680" y="2606040"/>
            <a:ext cx="7635240" cy="566928"/>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Đường cong đơn điệu, cực đại rơi đúng vào một đầu mút, tức không có điểm trộn nào tốt hơn hai bộ trọng số gốc</a:t>
            </a:r>
            <a:endParaRPr lang="en-US" sz="1250" dirty="0"/>
          </a:p>
        </p:txBody>
      </p:sp>
      <p:sp>
        <p:nvSpPr>
          <p:cNvPr id="27" name="Text 25"/>
          <p:cNvSpPr/>
          <p:nvPr/>
        </p:nvSpPr>
        <p:spPr>
          <a:xfrm>
            <a:off x="640080" y="3209544"/>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868680" y="3209544"/>
            <a:ext cx="7635240" cy="566928"/>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Mọi khoảng tin cậy ghép cặp đều phủ 0; theo tiêu chí đặt trước, hệ số được khoá về 0 và bước chấm lại trên tập kiểm không chạy</a:t>
            </a:r>
            <a:endParaRPr lang="en-US" sz="1250" dirty="0"/>
          </a:p>
        </p:txBody>
      </p:sp>
      <p:sp>
        <p:nvSpPr>
          <p:cNvPr id="29" name="Text 27"/>
          <p:cNvSpPr/>
          <p:nvPr/>
        </p:nvSpPr>
        <p:spPr>
          <a:xfrm>
            <a:off x="640080" y="3813048"/>
            <a:ext cx="201168" cy="603504"/>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0" name="Text 28"/>
          <p:cNvSpPr/>
          <p:nvPr/>
        </p:nvSpPr>
        <p:spPr>
          <a:xfrm>
            <a:off x="868680" y="3813048"/>
            <a:ext cx="7635240" cy="566928"/>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Số bước có câu thay đổi tăng đều theo hệ số trộn, nên phép ghép chạy đúng: kết quả bằng 0 là kết quả thật, không phải lỗi cài đặt</a:t>
            </a:r>
            <a:endParaRPr lang="en-US" sz="1250" dirty="0"/>
          </a:p>
        </p:txBody>
      </p:sp>
      <p:sp>
        <p:nvSpPr>
          <p:cNvPr id="31" name="Shape 29"/>
          <p:cNvSpPr/>
          <p:nvPr/>
        </p:nvSpPr>
        <p:spPr>
          <a:xfrm>
            <a:off x="502920" y="457200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32" name="Text 30"/>
          <p:cNvSpPr/>
          <p:nvPr/>
        </p:nvSpPr>
        <p:spPr>
          <a:xfrm>
            <a:off x="731520" y="4617720"/>
            <a:ext cx="7680960" cy="1143000"/>
          </a:xfrm>
          <a:prstGeom prst="rect">
            <a:avLst/>
          </a:prstGeom>
          <a:noFill/>
          <a:ln/>
        </p:spPr>
        <p:txBody>
          <a:bodyPr wrap="square" lIns="0" tIns="0" rIns="0" bIns="0" rtlCol="0" anchor="t"/>
          <a:lstStyle/>
          <a:p>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Vì sao không con số nào trên lát chọn được đưa vào báo cáo.</a:t>
            </a:r>
            <a:pPr algn="l" indent="0" marL="0">
              <a:lnSpc>
                <a:spcPct val="130000"/>
              </a:lnSpc>
              <a:buNone/>
            </a:pPr>
            <a:endParaRPr lang="en-US" sz="1250" dirty="0"/>
          </a:p>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Lát chọn nằm trong phần dữ liệu mà ba nhánh này đã học, nên điểm trên đó cao hơn tập kiểm khoảng 7,5 điểm, và phóng đại khoảng cách giữa hai nhánh gần 40 lần: 0,76 điểm trên lát chọn so với 0,02 điểm trên tập kiểm. Lát chọn chỉ dùng để xếp hạng ứng viên trong cùng một họ.</a:t>
            </a:r>
            <a:endParaRPr lang="en-US" sz="1250" dirty="0"/>
          </a:p>
        </p:txBody>
      </p:sp>
      <p:sp>
        <p:nvSpPr>
          <p:cNvPr id="33" name="Shape 31"/>
          <p:cNvSpPr/>
          <p:nvPr/>
        </p:nvSpPr>
        <p:spPr>
          <a:xfrm>
            <a:off x="0" y="6620256"/>
            <a:ext cx="2743200" cy="237744"/>
          </a:xfrm>
          <a:prstGeom prst="rect">
            <a:avLst/>
          </a:prstGeom>
          <a:solidFill>
            <a:srgbClr val="191132"/>
          </a:solidFill>
          <a:ln/>
        </p:spPr>
      </p:sp>
      <p:sp>
        <p:nvSpPr>
          <p:cNvPr id="34" name="Shape 32"/>
          <p:cNvSpPr/>
          <p:nvPr/>
        </p:nvSpPr>
        <p:spPr>
          <a:xfrm>
            <a:off x="2743200" y="6620256"/>
            <a:ext cx="3383280" cy="237744"/>
          </a:xfrm>
          <a:prstGeom prst="rect">
            <a:avLst/>
          </a:prstGeom>
          <a:solidFill>
            <a:srgbClr val="25194B"/>
          </a:solidFill>
          <a:ln/>
        </p:spPr>
      </p:sp>
      <p:sp>
        <p:nvSpPr>
          <p:cNvPr id="35" name="Shape 33"/>
          <p:cNvSpPr/>
          <p:nvPr/>
        </p:nvSpPr>
        <p:spPr>
          <a:xfrm>
            <a:off x="6126480" y="6620256"/>
            <a:ext cx="1737360" cy="237744"/>
          </a:xfrm>
          <a:prstGeom prst="rect">
            <a:avLst/>
          </a:prstGeom>
          <a:solidFill>
            <a:srgbClr val="4F417A"/>
          </a:solidFill>
          <a:ln/>
        </p:spPr>
      </p:sp>
      <p:sp>
        <p:nvSpPr>
          <p:cNvPr id="36" name="Shape 34"/>
          <p:cNvSpPr/>
          <p:nvPr/>
        </p:nvSpPr>
        <p:spPr>
          <a:xfrm>
            <a:off x="7863840" y="6620256"/>
            <a:ext cx="1280160" cy="237744"/>
          </a:xfrm>
          <a:prstGeom prst="rect">
            <a:avLst/>
          </a:prstGeom>
          <a:solidFill>
            <a:srgbClr val="7A7099"/>
          </a:solidFill>
          <a:ln/>
        </p:spPr>
      </p:sp>
      <p:sp>
        <p:nvSpPr>
          <p:cNvPr id="37" name="Text 3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8" name="Text 3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9" name="Text 3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0" name="Text 3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8</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Một biến thể đã thiết kế nhưng không dựng được dữ liệu</a:t>
            </a:r>
            <a:endParaRPr lang="en-US" sz="1900" dirty="0"/>
          </a:p>
        </p:txBody>
      </p:sp>
      <p:sp>
        <p:nvSpPr>
          <p:cNvPr id="4" name="Text 2"/>
          <p:cNvSpPr/>
          <p:nvPr/>
        </p:nvSpPr>
        <p:spPr>
          <a:xfrm>
            <a:off x="502920" y="960120"/>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5" name="Text 3"/>
          <p:cNvSpPr/>
          <p:nvPr/>
        </p:nvSpPr>
        <p:spPr>
          <a:xfrm>
            <a:off x="731520" y="960120"/>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Ý tưởng là thay khai báo sai lấy từ phần tử cạnh bên bằng chính khai báo sai mà mô hình đã sinh ra</a:t>
            </a:r>
            <a:endParaRPr lang="en-US" sz="1300" dirty="0"/>
          </a:p>
        </p:txBody>
      </p:sp>
      <p:sp>
        <p:nvSpPr>
          <p:cNvPr id="6" name="Text 4"/>
          <p:cNvSpPr/>
          <p:nvPr/>
        </p:nvSpPr>
        <p:spPr>
          <a:xfrm>
            <a:off x="502920" y="1892808"/>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731520" y="1892808"/>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Dữ liệu đã dựng thật: 14.000 màn, chỉ được 459 cặp, tức 3,3% so với ngưỡng khả thi 25%</a:t>
            </a:r>
            <a:endParaRPr lang="en-US" sz="1300" dirty="0"/>
          </a:p>
        </p:txBody>
      </p:sp>
      <p:sp>
        <p:nvSpPr>
          <p:cNvPr id="8" name="Text 6"/>
          <p:cNvSpPr/>
          <p:nvPr/>
        </p:nvSpPr>
        <p:spPr>
          <a:xfrm>
            <a:off x="502920" y="2825496"/>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731520" y="2825496"/>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Ngưỡng này đặt trên tỉ lệ chứ không phải trên số lượng, nên sinh thêm dữ liệu không thay đổi kết luận</a:t>
            </a:r>
            <a:endParaRPr lang="en-US" sz="1300" dirty="0"/>
          </a:p>
        </p:txBody>
      </p:sp>
      <p:sp>
        <p:nvSpPr>
          <p:cNvPr id="10" name="Text 8"/>
          <p:cNvSpPr/>
          <p:nvPr/>
        </p:nvSpPr>
        <p:spPr>
          <a:xfrm>
            <a:off x="502920" y="3758184"/>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731520" y="3758184"/>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Khoảng cách tới phần tử người dùng đã chạm có trung vị 351 điểm ảnh, 76,5% ngoài dải 80 đến 350</a:t>
            </a:r>
            <a:endParaRPr lang="en-US" sz="1300" dirty="0"/>
          </a:p>
        </p:txBody>
      </p:sp>
      <p:sp>
        <p:nvSpPr>
          <p:cNvPr id="12" name="Text 10"/>
          <p:cNvSpPr/>
          <p:nvPr/>
        </p:nvSpPr>
        <p:spPr>
          <a:xfrm>
            <a:off x="502920" y="4690872"/>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3" name="Text 11"/>
          <p:cNvSpPr/>
          <p:nvPr/>
        </p:nvSpPr>
        <p:spPr>
          <a:xfrm>
            <a:off x="731520" y="4690872"/>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Lỗi khai báo có hai cực: gọi đúng phần tử bằng tên khác, hoặc nhìn sang vùng khác hẳn</a:t>
            </a:r>
            <a:endParaRPr lang="en-US" sz="1300" dirty="0"/>
          </a:p>
        </p:txBody>
      </p:sp>
      <p:sp>
        <p:nvSpPr>
          <p:cNvPr id="14" name="Shape 12"/>
          <p:cNvSpPr/>
          <p:nvPr/>
        </p:nvSpPr>
        <p:spPr>
          <a:xfrm>
            <a:off x="0" y="6620256"/>
            <a:ext cx="2743200" cy="237744"/>
          </a:xfrm>
          <a:prstGeom prst="rect">
            <a:avLst/>
          </a:prstGeom>
          <a:solidFill>
            <a:srgbClr val="191132"/>
          </a:solidFill>
          <a:ln/>
        </p:spPr>
      </p:sp>
      <p:sp>
        <p:nvSpPr>
          <p:cNvPr id="15" name="Shape 13"/>
          <p:cNvSpPr/>
          <p:nvPr/>
        </p:nvSpPr>
        <p:spPr>
          <a:xfrm>
            <a:off x="2743200" y="6620256"/>
            <a:ext cx="3383280" cy="237744"/>
          </a:xfrm>
          <a:prstGeom prst="rect">
            <a:avLst/>
          </a:prstGeom>
          <a:solidFill>
            <a:srgbClr val="25194B"/>
          </a:solidFill>
          <a:ln/>
        </p:spPr>
      </p:sp>
      <p:sp>
        <p:nvSpPr>
          <p:cNvPr id="16" name="Shape 14"/>
          <p:cNvSpPr/>
          <p:nvPr/>
        </p:nvSpPr>
        <p:spPr>
          <a:xfrm>
            <a:off x="6126480" y="6620256"/>
            <a:ext cx="1737360" cy="237744"/>
          </a:xfrm>
          <a:prstGeom prst="rect">
            <a:avLst/>
          </a:prstGeom>
          <a:solidFill>
            <a:srgbClr val="4F417A"/>
          </a:solidFill>
          <a:ln/>
        </p:spPr>
      </p:sp>
      <p:sp>
        <p:nvSpPr>
          <p:cNvPr id="17" name="Shape 15"/>
          <p:cNvSpPr/>
          <p:nvPr/>
        </p:nvSpPr>
        <p:spPr>
          <a:xfrm>
            <a:off x="7863840" y="6620256"/>
            <a:ext cx="1280160" cy="237744"/>
          </a:xfrm>
          <a:prstGeom prst="rect">
            <a:avLst/>
          </a:prstGeom>
          <a:solidFill>
            <a:srgbClr val="7A7099"/>
          </a:solidFill>
          <a:ln/>
        </p:spPr>
      </p:sp>
      <p:sp>
        <p:nvSpPr>
          <p:cNvPr id="18"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0"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9</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Vùng mù của thước, theo cả hai chiều</a:t>
            </a:r>
            <a:endParaRPr lang="en-US" sz="1900" dirty="0"/>
          </a:p>
        </p:txBody>
      </p:sp>
      <p:sp>
        <p:nvSpPr>
          <p:cNvPr id="4" name="Text 2"/>
          <p:cNvSpPr/>
          <p:nvPr/>
        </p:nvSpPr>
        <p:spPr>
          <a:xfrm>
            <a:off x="502920" y="960120"/>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5" name="Text 3"/>
          <p:cNvSpPr/>
          <p:nvPr/>
        </p:nvSpPr>
        <p:spPr>
          <a:xfrm>
            <a:off x="731520" y="960120"/>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Theo chiều bỏ sót, thước không phát hiện được độ lệch dưới khoảng 63 điểm ảnh</a:t>
            </a:r>
            <a:endParaRPr lang="en-US" sz="1300" dirty="0"/>
          </a:p>
        </p:txBody>
      </p:sp>
      <p:sp>
        <p:nvSpPr>
          <p:cNvPr id="6" name="Text 4"/>
          <p:cNvSpPr/>
          <p:nvPr/>
        </p:nvSpPr>
        <p:spPr>
          <a:xfrm>
            <a:off x="502920" y="1892808"/>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731520" y="1892808"/>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Theo chiều kết oan, 1.083 bước mà chính câu chuẩn cũng không đạt, 72% do dụng cụ sai quá 14% bề màn</a:t>
            </a:r>
            <a:endParaRPr lang="en-US" sz="1300" dirty="0"/>
          </a:p>
        </p:txBody>
      </p:sp>
      <p:sp>
        <p:nvSpPr>
          <p:cNvPr id="8" name="Text 6"/>
          <p:cNvSpPr/>
          <p:nvPr/>
        </p:nvSpPr>
        <p:spPr>
          <a:xfrm>
            <a:off x="502920" y="2825496"/>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9" name="Text 7"/>
          <p:cNvSpPr/>
          <p:nvPr/>
        </p:nvSpPr>
        <p:spPr>
          <a:xfrm>
            <a:off x="731520" y="2825496"/>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935 bước, tức 21% quần thể, cả ba nhánh đều không đạt. Trần 75,7% vì vậy phản ánh năng lực dụng cụ hơn là giới hạn ngôn ngữ</a:t>
            </a:r>
            <a:endParaRPr lang="en-US" sz="1300" dirty="0"/>
          </a:p>
        </p:txBody>
      </p:sp>
      <p:sp>
        <p:nvSpPr>
          <p:cNvPr id="10" name="Text 8"/>
          <p:cNvSpPr/>
          <p:nvPr/>
        </p:nvSpPr>
        <p:spPr>
          <a:xfrm>
            <a:off x="502920" y="3758184"/>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731520" y="3758184"/>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Luật Voronoi chỉ chặt bằng độ đầy đủ của bộ liệt kê phần tử; phép gộp hộp xoá nhầm phần tử riêng biệt ở 8,2% số bước</a:t>
            </a:r>
            <a:endParaRPr lang="en-US" sz="1300" dirty="0"/>
          </a:p>
        </p:txBody>
      </p:sp>
      <p:sp>
        <p:nvSpPr>
          <p:cNvPr id="12" name="Text 10"/>
          <p:cNvSpPr/>
          <p:nvPr/>
        </p:nvSpPr>
        <p:spPr>
          <a:xfrm>
            <a:off x="502920" y="4690872"/>
            <a:ext cx="201168" cy="93268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13" name="Text 11"/>
          <p:cNvSpPr/>
          <p:nvPr/>
        </p:nvSpPr>
        <p:spPr>
          <a:xfrm>
            <a:off x="731520" y="4690872"/>
            <a:ext cx="7909560" cy="896112"/>
          </a:xfrm>
          <a:prstGeom prst="rect">
            <a:avLst/>
          </a:prstGeom>
          <a:noFill/>
          <a:ln/>
        </p:spPr>
        <p:txBody>
          <a:bodyPr wrap="square" lIns="0" tIns="0" rIns="0" bIns="0" rtlCol="0" anchor="t"/>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Mức câu chuẩn cũng không phải chặn trên tuyệt đối: hợp ba nhánh giải được 79,1% số bước</a:t>
            </a:r>
            <a:endParaRPr lang="en-US" sz="1300" dirty="0"/>
          </a:p>
        </p:txBody>
      </p:sp>
      <p:sp>
        <p:nvSpPr>
          <p:cNvPr id="14" name="Shape 12"/>
          <p:cNvSpPr/>
          <p:nvPr/>
        </p:nvSpPr>
        <p:spPr>
          <a:xfrm>
            <a:off x="0" y="6620256"/>
            <a:ext cx="2743200" cy="237744"/>
          </a:xfrm>
          <a:prstGeom prst="rect">
            <a:avLst/>
          </a:prstGeom>
          <a:solidFill>
            <a:srgbClr val="191132"/>
          </a:solidFill>
          <a:ln/>
        </p:spPr>
      </p:sp>
      <p:sp>
        <p:nvSpPr>
          <p:cNvPr id="15" name="Shape 13"/>
          <p:cNvSpPr/>
          <p:nvPr/>
        </p:nvSpPr>
        <p:spPr>
          <a:xfrm>
            <a:off x="2743200" y="6620256"/>
            <a:ext cx="3383280" cy="237744"/>
          </a:xfrm>
          <a:prstGeom prst="rect">
            <a:avLst/>
          </a:prstGeom>
          <a:solidFill>
            <a:srgbClr val="25194B"/>
          </a:solidFill>
          <a:ln/>
        </p:spPr>
      </p:sp>
      <p:sp>
        <p:nvSpPr>
          <p:cNvPr id="16" name="Shape 14"/>
          <p:cNvSpPr/>
          <p:nvPr/>
        </p:nvSpPr>
        <p:spPr>
          <a:xfrm>
            <a:off x="6126480" y="6620256"/>
            <a:ext cx="1737360" cy="237744"/>
          </a:xfrm>
          <a:prstGeom prst="rect">
            <a:avLst/>
          </a:prstGeom>
          <a:solidFill>
            <a:srgbClr val="4F417A"/>
          </a:solidFill>
          <a:ln/>
        </p:spPr>
      </p:sp>
      <p:sp>
        <p:nvSpPr>
          <p:cNvPr id="17" name="Shape 15"/>
          <p:cNvSpPr/>
          <p:nvPr/>
        </p:nvSpPr>
        <p:spPr>
          <a:xfrm>
            <a:off x="7863840" y="6620256"/>
            <a:ext cx="1280160" cy="237744"/>
          </a:xfrm>
          <a:prstGeom prst="rect">
            <a:avLst/>
          </a:prstGeom>
          <a:solidFill>
            <a:srgbClr val="7A7099"/>
          </a:solidFill>
          <a:ln/>
        </p:spPr>
      </p:sp>
      <p:sp>
        <p:nvSpPr>
          <p:cNvPr id="18"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0"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10</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Phép kiểm cơ học và thiệt hại ở bước không chạm</a:t>
            </a:r>
            <a:endParaRPr lang="en-US" sz="1900" dirty="0"/>
          </a:p>
        </p:txBody>
      </p:sp>
      <p:sp>
        <p:nvSpPr>
          <p:cNvPr id="4" name="Text 2"/>
          <p:cNvSpPr/>
          <p:nvPr/>
        </p:nvSpPr>
        <p:spPr>
          <a:xfrm>
            <a:off x="502920" y="777240"/>
            <a:ext cx="8138160" cy="27432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Phép kiểm cơ học đo thẳng độ chính xác ô khai báo, không gọi mô hình định vị (3.473 bước)</a:t>
            </a:r>
            <a:endParaRPr lang="en-US" sz="1200" dirty="0"/>
          </a:p>
        </p:txBody>
      </p:sp>
      <p:sp>
        <p:nvSpPr>
          <p:cNvPr id="5" name="Shape 3"/>
          <p:cNvSpPr/>
          <p:nvPr/>
        </p:nvSpPr>
        <p:spPr>
          <a:xfrm>
            <a:off x="1005840" y="1143000"/>
            <a:ext cx="7132320" cy="384048"/>
          </a:xfrm>
          <a:prstGeom prst="rect">
            <a:avLst/>
          </a:prstGeom>
          <a:solidFill>
            <a:srgbClr val="322164"/>
          </a:solidFill>
          <a:ln/>
        </p:spPr>
      </p:sp>
      <p:sp>
        <p:nvSpPr>
          <p:cNvPr id="6" name="Text 4"/>
          <p:cNvSpPr/>
          <p:nvPr/>
        </p:nvSpPr>
        <p:spPr>
          <a:xfrm>
            <a:off x="1005840" y="1143000"/>
            <a:ext cx="274320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Điểm lưu</a:t>
            </a:r>
            <a:endParaRPr lang="en-US" sz="1200" dirty="0"/>
          </a:p>
        </p:txBody>
      </p:sp>
      <p:sp>
        <p:nvSpPr>
          <p:cNvPr id="7" name="Text 5"/>
          <p:cNvSpPr/>
          <p:nvPr/>
        </p:nvSpPr>
        <p:spPr>
          <a:xfrm>
            <a:off x="3749040" y="1143000"/>
            <a:ext cx="17373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Khai báo đúng</a:t>
            </a:r>
            <a:endParaRPr lang="en-US" sz="1200" dirty="0"/>
          </a:p>
        </p:txBody>
      </p:sp>
      <p:sp>
        <p:nvSpPr>
          <p:cNvPr id="8" name="Text 6"/>
          <p:cNvSpPr/>
          <p:nvPr/>
        </p:nvSpPr>
        <p:spPr>
          <a:xfrm>
            <a:off x="5486400" y="1143000"/>
            <a:ext cx="265176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Phần tăng thuộc về</a:t>
            </a:r>
            <a:endParaRPr lang="en-US" sz="1200" dirty="0"/>
          </a:p>
        </p:txBody>
      </p:sp>
      <p:sp>
        <p:nvSpPr>
          <p:cNvPr id="9" name="Text 7"/>
          <p:cNvSpPr/>
          <p:nvPr/>
        </p:nvSpPr>
        <p:spPr>
          <a:xfrm>
            <a:off x="1005840" y="1527048"/>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S2</a:t>
            </a:r>
            <a:endParaRPr lang="en-US" sz="1250" dirty="0"/>
          </a:p>
        </p:txBody>
      </p:sp>
      <p:sp>
        <p:nvSpPr>
          <p:cNvPr id="10" name="Text 8"/>
          <p:cNvSpPr/>
          <p:nvPr/>
        </p:nvSpPr>
        <p:spPr>
          <a:xfrm>
            <a:off x="3749040" y="1527048"/>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53,9%</a:t>
            </a:r>
            <a:endParaRPr lang="en-US" sz="1250" dirty="0"/>
          </a:p>
        </p:txBody>
      </p:sp>
      <p:sp>
        <p:nvSpPr>
          <p:cNvPr id="11" name="Text 9"/>
          <p:cNvSpPr/>
          <p:nvPr/>
        </p:nvSpPr>
        <p:spPr>
          <a:xfrm>
            <a:off x="5486400" y="1527048"/>
            <a:ext cx="2651760" cy="402336"/>
          </a:xfrm>
          <a:prstGeom prst="rect">
            <a:avLst/>
          </a:prstGeom>
          <a:noFill/>
          <a:ln/>
        </p:spPr>
        <p:txBody>
          <a:bodyPr wrap="square" lIns="38100" tIns="38100" rIns="38100" bIns="38100" rtlCol="0" anchor="ctr"/>
          <a:lstStyle/>
          <a:p>
            <a:pPr algn="l" indent="0" marL="0">
              <a:buNone/>
            </a:pPr>
            <a:endParaRPr lang="en-US" sz="1250" dirty="0"/>
          </a:p>
        </p:txBody>
      </p:sp>
      <p:sp>
        <p:nvSpPr>
          <p:cNvPr id="12" name="Shape 10"/>
          <p:cNvSpPr/>
          <p:nvPr/>
        </p:nvSpPr>
        <p:spPr>
          <a:xfrm>
            <a:off x="1005840" y="1929384"/>
            <a:ext cx="7132320" cy="0"/>
          </a:xfrm>
          <a:prstGeom prst="line">
            <a:avLst/>
          </a:prstGeom>
          <a:noFill/>
          <a:ln w="12700">
            <a:solidFill>
              <a:srgbClr val="9A94AE"/>
            </a:solidFill>
            <a:prstDash val="solid"/>
          </a:ln>
        </p:spPr>
      </p:sp>
      <p:sp>
        <p:nvSpPr>
          <p:cNvPr id="13" name="Text 11"/>
          <p:cNvSpPr/>
          <p:nvPr/>
        </p:nvSpPr>
        <p:spPr>
          <a:xfrm>
            <a:off x="1005840" y="1929384"/>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CE2-S2</a:t>
            </a:r>
            <a:endParaRPr lang="en-US" sz="1250" dirty="0"/>
          </a:p>
        </p:txBody>
      </p:sp>
      <p:sp>
        <p:nvSpPr>
          <p:cNvPr id="14" name="Text 12"/>
          <p:cNvSpPr/>
          <p:nvPr/>
        </p:nvSpPr>
        <p:spPr>
          <a:xfrm>
            <a:off x="3749040" y="1929384"/>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59,8%</a:t>
            </a:r>
            <a:endParaRPr lang="en-US" sz="1250" dirty="0"/>
          </a:p>
        </p:txBody>
      </p:sp>
      <p:sp>
        <p:nvSpPr>
          <p:cNvPr id="15" name="Text 13"/>
          <p:cNvSpPr/>
          <p:nvPr/>
        </p:nvSpPr>
        <p:spPr>
          <a:xfrm>
            <a:off x="5486400" y="1929384"/>
            <a:ext cx="2651760" cy="402336"/>
          </a:xfrm>
          <a:prstGeom prst="rect">
            <a:avLst/>
          </a:prstGeom>
          <a:noFill/>
          <a:ln/>
        </p:spPr>
        <p:txBody>
          <a:bodyPr wrap="square" lIns="38100" tIns="38100" rIns="38100" bIns="38100" rtlCol="0" anchor="ctr"/>
          <a:lstStyle/>
          <a:p>
            <a:pPr algn="l" indent="0" marL="0">
              <a:buNone/>
            </a:pPr>
            <a:r>
              <a:rPr lang="en-US" sz="1250" dirty="0">
                <a:solidFill>
                  <a:srgbClr val="990000"/>
                </a:solidFill>
                <a:latin typeface="Cambria" pitchFamily="34" charset="0"/>
                <a:ea typeface="Cambria" pitchFamily="34" charset="-122"/>
                <a:cs typeface="Cambria" pitchFamily="34" charset="-120"/>
              </a:rPr>
              <a:t>+5,93  học có giám sát thuần</a:t>
            </a:r>
            <a:endParaRPr lang="en-US" sz="1250" dirty="0"/>
          </a:p>
        </p:txBody>
      </p:sp>
      <p:sp>
        <p:nvSpPr>
          <p:cNvPr id="16" name="Shape 14"/>
          <p:cNvSpPr/>
          <p:nvPr/>
        </p:nvSpPr>
        <p:spPr>
          <a:xfrm>
            <a:off x="1005840" y="2331720"/>
            <a:ext cx="7132320" cy="0"/>
          </a:xfrm>
          <a:prstGeom prst="line">
            <a:avLst/>
          </a:prstGeom>
          <a:noFill/>
          <a:ln w="12700">
            <a:solidFill>
              <a:srgbClr val="9A94AE"/>
            </a:solidFill>
            <a:prstDash val="solid"/>
          </a:ln>
        </p:spPr>
      </p:sp>
      <p:sp>
        <p:nvSpPr>
          <p:cNvPr id="17" name="Text 15"/>
          <p:cNvSpPr/>
          <p:nvPr/>
        </p:nvSpPr>
        <p:spPr>
          <a:xfrm>
            <a:off x="1005840" y="2331720"/>
            <a:ext cx="2743200" cy="402336"/>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MIN-DESC</a:t>
            </a:r>
            <a:endParaRPr lang="en-US" sz="1250" dirty="0"/>
          </a:p>
        </p:txBody>
      </p:sp>
      <p:sp>
        <p:nvSpPr>
          <p:cNvPr id="18" name="Text 16"/>
          <p:cNvSpPr/>
          <p:nvPr/>
        </p:nvSpPr>
        <p:spPr>
          <a:xfrm>
            <a:off x="3749040" y="2331720"/>
            <a:ext cx="1737360" cy="402336"/>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60,6%</a:t>
            </a:r>
            <a:endParaRPr lang="en-US" sz="1250" dirty="0"/>
          </a:p>
        </p:txBody>
      </p:sp>
      <p:sp>
        <p:nvSpPr>
          <p:cNvPr id="19" name="Text 17"/>
          <p:cNvSpPr/>
          <p:nvPr/>
        </p:nvSpPr>
        <p:spPr>
          <a:xfrm>
            <a:off x="5486400" y="2331720"/>
            <a:ext cx="2651760" cy="402336"/>
          </a:xfrm>
          <a:prstGeom prst="rect">
            <a:avLst/>
          </a:prstGeom>
          <a:noFill/>
          <a:ln/>
        </p:spPr>
        <p:txBody>
          <a:bodyPr wrap="square" lIns="38100" tIns="38100" rIns="38100" bIns="38100" rtlCol="0" anchor="ctr"/>
          <a:lstStyle/>
          <a:p>
            <a:pPr algn="l" indent="0" marL="0">
              <a:buNone/>
            </a:pPr>
            <a:r>
              <a:rPr lang="en-US" sz="1250" dirty="0">
                <a:solidFill>
                  <a:srgbClr val="990000"/>
                </a:solidFill>
                <a:latin typeface="Cambria" pitchFamily="34" charset="0"/>
                <a:ea typeface="Cambria" pitchFamily="34" charset="-122"/>
                <a:cs typeface="Cambria" pitchFamily="34" charset="-120"/>
              </a:rPr>
              <a:t>+0,84  riêng mục tiêu ưu tiên</a:t>
            </a:r>
            <a:endParaRPr lang="en-US" sz="1250" dirty="0"/>
          </a:p>
        </p:txBody>
      </p:sp>
      <p:sp>
        <p:nvSpPr>
          <p:cNvPr id="20" name="Text 18"/>
          <p:cNvSpPr/>
          <p:nvPr/>
        </p:nvSpPr>
        <p:spPr>
          <a:xfrm>
            <a:off x="502920" y="2880360"/>
            <a:ext cx="8138160" cy="292608"/>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87,7% mức tăng ở tầng khai báo cũng thuộc về nhánh so sánh, khớp với 78% đo ở điểm đầu ra.</a:t>
            </a:r>
            <a:endParaRPr lang="en-US" sz="1300" dirty="0"/>
          </a:p>
        </p:txBody>
      </p:sp>
      <p:sp>
        <p:nvSpPr>
          <p:cNvPr id="21" name="Text 19"/>
          <p:cNvSpPr/>
          <p:nvPr/>
        </p:nvSpPr>
        <p:spPr>
          <a:xfrm>
            <a:off x="502920" y="329184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731520" y="3291840"/>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Một điểm cải thiện ở tầng khai báo đổi được 0,42 điểm executability</a:t>
            </a:r>
            <a:endParaRPr lang="en-US" sz="1250" dirty="0"/>
          </a:p>
        </p:txBody>
      </p:sp>
      <p:sp>
        <p:nvSpPr>
          <p:cNvPr id="23" name="Text 21"/>
          <p:cNvSpPr/>
          <p:nvPr/>
        </p:nvSpPr>
        <p:spPr>
          <a:xfrm>
            <a:off x="502920" y="391363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4" name="Text 22"/>
          <p:cNvSpPr/>
          <p:nvPr/>
        </p:nvSpPr>
        <p:spPr>
          <a:xfrm>
            <a:off x="731520" y="3913632"/>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Điều kiện không gây hại không đạt: lớp thao tác giảm 19,75 điểm ở bước không chạm, ngưỡng là 3</a:t>
            </a:r>
            <a:endParaRPr lang="en-US" sz="1250" dirty="0"/>
          </a:p>
        </p:txBody>
      </p:sp>
      <p:sp>
        <p:nvSpPr>
          <p:cNvPr id="25" name="Text 23"/>
          <p:cNvSpPr/>
          <p:nvPr/>
        </p:nvSpPr>
        <p:spPr>
          <a:xfrm>
            <a:off x="502920" y="453542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731520" y="4535424"/>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Nguyên nhân là thiết kế dữ liệu, vì tập cặp chỉ chứa bước chạm</a:t>
            </a:r>
            <a:endParaRPr lang="en-US" sz="1250" dirty="0"/>
          </a:p>
        </p:txBody>
      </p:sp>
      <p:sp>
        <p:nvSpPr>
          <p:cNvPr id="27" name="Text 25"/>
          <p:cNvSpPr/>
          <p:nvPr/>
        </p:nvSpPr>
        <p:spPr>
          <a:xfrm>
            <a:off x="502920" y="5157216"/>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731520" y="5157216"/>
            <a:ext cx="7909560" cy="58521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Cách gỡ là trộn bước không chạm dạng entropy chéo thuần vào chặng hai</a:t>
            </a:r>
            <a:endParaRPr lang="en-US" sz="1250" dirty="0"/>
          </a:p>
        </p:txBody>
      </p:sp>
      <p:sp>
        <p:nvSpPr>
          <p:cNvPr id="29" name="Shape 27"/>
          <p:cNvSpPr/>
          <p:nvPr/>
        </p:nvSpPr>
        <p:spPr>
          <a:xfrm>
            <a:off x="0" y="6620256"/>
            <a:ext cx="2743200" cy="237744"/>
          </a:xfrm>
          <a:prstGeom prst="rect">
            <a:avLst/>
          </a:prstGeom>
          <a:solidFill>
            <a:srgbClr val="191132"/>
          </a:solidFill>
          <a:ln/>
        </p:spPr>
      </p:sp>
      <p:sp>
        <p:nvSpPr>
          <p:cNvPr id="30" name="Shape 28"/>
          <p:cNvSpPr/>
          <p:nvPr/>
        </p:nvSpPr>
        <p:spPr>
          <a:xfrm>
            <a:off x="2743200" y="6620256"/>
            <a:ext cx="3383280" cy="237744"/>
          </a:xfrm>
          <a:prstGeom prst="rect">
            <a:avLst/>
          </a:prstGeom>
          <a:solidFill>
            <a:srgbClr val="25194B"/>
          </a:solidFill>
          <a:ln/>
        </p:spPr>
      </p:sp>
      <p:sp>
        <p:nvSpPr>
          <p:cNvPr id="31" name="Shape 29"/>
          <p:cNvSpPr/>
          <p:nvPr/>
        </p:nvSpPr>
        <p:spPr>
          <a:xfrm>
            <a:off x="6126480" y="6620256"/>
            <a:ext cx="1737360" cy="237744"/>
          </a:xfrm>
          <a:prstGeom prst="rect">
            <a:avLst/>
          </a:prstGeom>
          <a:solidFill>
            <a:srgbClr val="4F417A"/>
          </a:solidFill>
          <a:ln/>
        </p:spPr>
      </p:sp>
      <p:sp>
        <p:nvSpPr>
          <p:cNvPr id="32" name="Shape 30"/>
          <p:cNvSpPr/>
          <p:nvPr/>
        </p:nvSpPr>
        <p:spPr>
          <a:xfrm>
            <a:off x="7863840" y="6620256"/>
            <a:ext cx="1280160" cy="237744"/>
          </a:xfrm>
          <a:prstGeom prst="rect">
            <a:avLst/>
          </a:prstGeom>
          <a:solidFill>
            <a:srgbClr val="7A7099"/>
          </a:solidFill>
          <a:ln/>
        </p:spPr>
      </p:sp>
      <p:sp>
        <p:nvSpPr>
          <p:cNvPr id="33"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4"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5"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6"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11</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Luật hộp phần tử của chính AndroidControl (Phụ lục D.3)</a:t>
            </a:r>
            <a:endParaRPr lang="en-US" sz="1900" dirty="0"/>
          </a:p>
        </p:txBody>
      </p:sp>
      <p:sp>
        <p:nvSpPr>
          <p:cNvPr id="4" name="Text 2"/>
          <p:cNvSpPr/>
          <p:nvPr/>
        </p:nvSpPr>
        <p:spPr>
          <a:xfrm>
            <a:off x="502920" y="777240"/>
            <a:ext cx="8138160" cy="502920"/>
          </a:xfrm>
          <a:prstGeom prst="rect">
            <a:avLst/>
          </a:prstGeom>
          <a:noFill/>
          <a:ln/>
        </p:spPr>
        <p:txBody>
          <a:bodyPr wrap="square" lIns="0" tIns="0" rIns="0" bIns="0" rtlCol="0" anchor="t"/>
          <a:lstStyle/>
          <a:p>
            <a:pPr algn="l" indent="0" marL="0">
              <a:lnSpc>
                <a:spcPct val="130000"/>
              </a:lnSpc>
              <a:buNone/>
            </a:pPr>
            <a:r>
              <a:rPr lang="en-US" sz="1200" i="1" dirty="0">
                <a:solidFill>
                  <a:srgbClr val="5A5A66"/>
                </a:solidFill>
                <a:latin typeface="Cambria" pitchFamily="34" charset="0"/>
                <a:ea typeface="Cambria" pitchFamily="34" charset="-122"/>
                <a:cs typeface="Cambria" pitchFamily="34" charset="-120"/>
              </a:rPr>
              <a:t>Điểm dự đoán nằm trong hộp bao của phần tử cần chạm. Tính lại từ bản ghi từng bước ngày 5/9, sau khi đã có mọi điểm, không gọi lại mô hình định vị.</a:t>
            </a:r>
            <a:endParaRPr lang="en-US" sz="1200" dirty="0"/>
          </a:p>
        </p:txBody>
      </p:sp>
      <p:sp>
        <p:nvSpPr>
          <p:cNvPr id="5" name="Shape 3"/>
          <p:cNvSpPr/>
          <p:nvPr/>
        </p:nvSpPr>
        <p:spPr>
          <a:xfrm>
            <a:off x="502920" y="1371600"/>
            <a:ext cx="8129016" cy="384048"/>
          </a:xfrm>
          <a:prstGeom prst="rect">
            <a:avLst/>
          </a:prstGeom>
          <a:solidFill>
            <a:srgbClr val="322164"/>
          </a:solidFill>
          <a:ln/>
        </p:spPr>
      </p:sp>
      <p:sp>
        <p:nvSpPr>
          <p:cNvPr id="6" name="Text 4"/>
          <p:cNvSpPr/>
          <p:nvPr/>
        </p:nvSpPr>
        <p:spPr>
          <a:xfrm>
            <a:off x="502920" y="1371600"/>
            <a:ext cx="30175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Nhánh</a:t>
            </a:r>
            <a:endParaRPr lang="en-US" sz="1200" dirty="0"/>
          </a:p>
        </p:txBody>
      </p:sp>
      <p:sp>
        <p:nvSpPr>
          <p:cNvPr id="7" name="Text 5"/>
          <p:cNvSpPr/>
          <p:nvPr/>
        </p:nvSpPr>
        <p:spPr>
          <a:xfrm>
            <a:off x="3520440" y="1371600"/>
            <a:ext cx="164592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Ô Voronoi</a:t>
            </a:r>
            <a:endParaRPr lang="en-US" sz="1200" dirty="0"/>
          </a:p>
        </p:txBody>
      </p:sp>
      <p:sp>
        <p:nvSpPr>
          <p:cNvPr id="8" name="Text 6"/>
          <p:cNvSpPr/>
          <p:nvPr/>
        </p:nvSpPr>
        <p:spPr>
          <a:xfrm>
            <a:off x="5166360" y="1371600"/>
            <a:ext cx="17373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Hộp D.3</a:t>
            </a:r>
            <a:endParaRPr lang="en-US" sz="1200" dirty="0"/>
          </a:p>
        </p:txBody>
      </p:sp>
      <p:sp>
        <p:nvSpPr>
          <p:cNvPr id="9" name="Text 7"/>
          <p:cNvSpPr/>
          <p:nvPr/>
        </p:nvSpPr>
        <p:spPr>
          <a:xfrm>
            <a:off x="6903720" y="1371600"/>
            <a:ext cx="172821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D.3 và cửa sổ 14%</a:t>
            </a:r>
            <a:endParaRPr lang="en-US" sz="1200" dirty="0"/>
          </a:p>
        </p:txBody>
      </p:sp>
      <p:sp>
        <p:nvSpPr>
          <p:cNvPr id="10" name="Text 8"/>
          <p:cNvSpPr/>
          <p:nvPr/>
        </p:nvSpPr>
        <p:spPr>
          <a:xfrm>
            <a:off x="502920" y="1755648"/>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Câu chuẩn</a:t>
            </a:r>
            <a:endParaRPr lang="en-US" sz="1250" dirty="0"/>
          </a:p>
        </p:txBody>
      </p:sp>
      <p:sp>
        <p:nvSpPr>
          <p:cNvPr id="11" name="Text 9"/>
          <p:cNvSpPr/>
          <p:nvPr/>
        </p:nvSpPr>
        <p:spPr>
          <a:xfrm>
            <a:off x="3520440" y="1755648"/>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75,7</a:t>
            </a:r>
            <a:endParaRPr lang="en-US" sz="1250" dirty="0"/>
          </a:p>
        </p:txBody>
      </p:sp>
      <p:sp>
        <p:nvSpPr>
          <p:cNvPr id="12" name="Text 10"/>
          <p:cNvSpPr/>
          <p:nvPr/>
        </p:nvSpPr>
        <p:spPr>
          <a:xfrm>
            <a:off x="5166360" y="1755648"/>
            <a:ext cx="1737360" cy="384048"/>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83,8</a:t>
            </a:r>
            <a:endParaRPr lang="en-US" sz="1250" dirty="0"/>
          </a:p>
        </p:txBody>
      </p:sp>
      <p:sp>
        <p:nvSpPr>
          <p:cNvPr id="13" name="Text 11"/>
          <p:cNvSpPr/>
          <p:nvPr/>
        </p:nvSpPr>
        <p:spPr>
          <a:xfrm>
            <a:off x="6903720" y="1755648"/>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79,2</a:t>
            </a:r>
            <a:endParaRPr lang="en-US" sz="1250" dirty="0"/>
          </a:p>
        </p:txBody>
      </p:sp>
      <p:sp>
        <p:nvSpPr>
          <p:cNvPr id="14" name="Shape 12"/>
          <p:cNvSpPr/>
          <p:nvPr/>
        </p:nvSpPr>
        <p:spPr>
          <a:xfrm>
            <a:off x="502920" y="2139696"/>
            <a:ext cx="8129016" cy="0"/>
          </a:xfrm>
          <a:prstGeom prst="line">
            <a:avLst/>
          </a:prstGeom>
          <a:noFill/>
          <a:ln w="12700">
            <a:solidFill>
              <a:srgbClr val="9A94AE"/>
            </a:solidFill>
            <a:prstDash val="solid"/>
          </a:ln>
        </p:spPr>
      </p:sp>
      <p:sp>
        <p:nvSpPr>
          <p:cNvPr id="15" name="Text 13"/>
          <p:cNvSpPr/>
          <p:nvPr/>
        </p:nvSpPr>
        <p:spPr>
          <a:xfrm>
            <a:off x="502920" y="2139696"/>
            <a:ext cx="3017520" cy="384048"/>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Chặng ba</a:t>
            </a:r>
            <a:endParaRPr lang="en-US" sz="1250" dirty="0"/>
          </a:p>
        </p:txBody>
      </p:sp>
      <p:sp>
        <p:nvSpPr>
          <p:cNvPr id="16" name="Text 14"/>
          <p:cNvSpPr/>
          <p:nvPr/>
        </p:nvSpPr>
        <p:spPr>
          <a:xfrm>
            <a:off x="3520440" y="2139696"/>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60,07</a:t>
            </a:r>
            <a:endParaRPr lang="en-US" sz="1250" dirty="0"/>
          </a:p>
        </p:txBody>
      </p:sp>
      <p:sp>
        <p:nvSpPr>
          <p:cNvPr id="17" name="Text 15"/>
          <p:cNvSpPr/>
          <p:nvPr/>
        </p:nvSpPr>
        <p:spPr>
          <a:xfrm>
            <a:off x="5166360" y="2139696"/>
            <a:ext cx="1737360" cy="384048"/>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67,0</a:t>
            </a:r>
            <a:endParaRPr lang="en-US" sz="1250" dirty="0"/>
          </a:p>
        </p:txBody>
      </p:sp>
      <p:sp>
        <p:nvSpPr>
          <p:cNvPr id="18" name="Text 16"/>
          <p:cNvSpPr/>
          <p:nvPr/>
        </p:nvSpPr>
        <p:spPr>
          <a:xfrm>
            <a:off x="6903720" y="2139696"/>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63,0</a:t>
            </a:r>
            <a:endParaRPr lang="en-US" sz="1250" dirty="0"/>
          </a:p>
        </p:txBody>
      </p:sp>
      <p:sp>
        <p:nvSpPr>
          <p:cNvPr id="19" name="Shape 17"/>
          <p:cNvSpPr/>
          <p:nvPr/>
        </p:nvSpPr>
        <p:spPr>
          <a:xfrm>
            <a:off x="502920" y="2523744"/>
            <a:ext cx="8129016" cy="0"/>
          </a:xfrm>
          <a:prstGeom prst="line">
            <a:avLst/>
          </a:prstGeom>
          <a:noFill/>
          <a:ln w="12700">
            <a:solidFill>
              <a:srgbClr val="9A94AE"/>
            </a:solidFill>
            <a:prstDash val="solid"/>
          </a:ln>
        </p:spPr>
      </p:sp>
      <p:sp>
        <p:nvSpPr>
          <p:cNvPr id="20" name="Text 18"/>
          <p:cNvSpPr/>
          <p:nvPr/>
        </p:nvSpPr>
        <p:spPr>
          <a:xfrm>
            <a:off x="502920" y="2523744"/>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MIN-DESC</a:t>
            </a:r>
            <a:endParaRPr lang="en-US" sz="1250" dirty="0"/>
          </a:p>
        </p:txBody>
      </p:sp>
      <p:sp>
        <p:nvSpPr>
          <p:cNvPr id="21" name="Text 19"/>
          <p:cNvSpPr/>
          <p:nvPr/>
        </p:nvSpPr>
        <p:spPr>
          <a:xfrm>
            <a:off x="3520440" y="2523744"/>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60,05</a:t>
            </a:r>
            <a:endParaRPr lang="en-US" sz="1250" dirty="0"/>
          </a:p>
        </p:txBody>
      </p:sp>
      <p:sp>
        <p:nvSpPr>
          <p:cNvPr id="22" name="Text 20"/>
          <p:cNvSpPr/>
          <p:nvPr/>
        </p:nvSpPr>
        <p:spPr>
          <a:xfrm>
            <a:off x="5166360" y="2523744"/>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66,5</a:t>
            </a:r>
            <a:endParaRPr lang="en-US" sz="1250" dirty="0"/>
          </a:p>
        </p:txBody>
      </p:sp>
      <p:sp>
        <p:nvSpPr>
          <p:cNvPr id="23" name="Text 21"/>
          <p:cNvSpPr/>
          <p:nvPr/>
        </p:nvSpPr>
        <p:spPr>
          <a:xfrm>
            <a:off x="6903720" y="2523744"/>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62,7</a:t>
            </a:r>
            <a:endParaRPr lang="en-US" sz="1250" dirty="0"/>
          </a:p>
        </p:txBody>
      </p:sp>
      <p:sp>
        <p:nvSpPr>
          <p:cNvPr id="24" name="Shape 22"/>
          <p:cNvSpPr/>
          <p:nvPr/>
        </p:nvSpPr>
        <p:spPr>
          <a:xfrm>
            <a:off x="502920" y="2907792"/>
            <a:ext cx="8129016" cy="0"/>
          </a:xfrm>
          <a:prstGeom prst="line">
            <a:avLst/>
          </a:prstGeom>
          <a:noFill/>
          <a:ln w="12700">
            <a:solidFill>
              <a:srgbClr val="9A94AE"/>
            </a:solidFill>
            <a:prstDash val="solid"/>
          </a:ln>
        </p:spPr>
      </p:sp>
      <p:sp>
        <p:nvSpPr>
          <p:cNvPr id="25" name="Text 23"/>
          <p:cNvSpPr/>
          <p:nvPr/>
        </p:nvSpPr>
        <p:spPr>
          <a:xfrm>
            <a:off x="502920" y="2907792"/>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 hạt giống 101</a:t>
            </a:r>
            <a:endParaRPr lang="en-US" sz="1250" dirty="0"/>
          </a:p>
        </p:txBody>
      </p:sp>
      <p:sp>
        <p:nvSpPr>
          <p:cNvPr id="26" name="Text 24"/>
          <p:cNvSpPr/>
          <p:nvPr/>
        </p:nvSpPr>
        <p:spPr>
          <a:xfrm>
            <a:off x="3520440" y="2907792"/>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59,1</a:t>
            </a:r>
            <a:endParaRPr lang="en-US" sz="1250" dirty="0"/>
          </a:p>
        </p:txBody>
      </p:sp>
      <p:sp>
        <p:nvSpPr>
          <p:cNvPr id="27" name="Text 25"/>
          <p:cNvSpPr/>
          <p:nvPr/>
        </p:nvSpPr>
        <p:spPr>
          <a:xfrm>
            <a:off x="5166360" y="2907792"/>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65,5</a:t>
            </a:r>
            <a:endParaRPr lang="en-US" sz="1250" dirty="0"/>
          </a:p>
        </p:txBody>
      </p:sp>
      <p:sp>
        <p:nvSpPr>
          <p:cNvPr id="28" name="Text 26"/>
          <p:cNvSpPr/>
          <p:nvPr/>
        </p:nvSpPr>
        <p:spPr>
          <a:xfrm>
            <a:off x="6903720" y="2907792"/>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61,7</a:t>
            </a:r>
            <a:endParaRPr lang="en-US" sz="1250" dirty="0"/>
          </a:p>
        </p:txBody>
      </p:sp>
      <p:sp>
        <p:nvSpPr>
          <p:cNvPr id="29" name="Shape 27"/>
          <p:cNvSpPr/>
          <p:nvPr/>
        </p:nvSpPr>
        <p:spPr>
          <a:xfrm>
            <a:off x="502920" y="3291840"/>
            <a:ext cx="8129016" cy="0"/>
          </a:xfrm>
          <a:prstGeom prst="line">
            <a:avLst/>
          </a:prstGeom>
          <a:noFill/>
          <a:ln w="12700">
            <a:solidFill>
              <a:srgbClr val="9A94AE"/>
            </a:solidFill>
            <a:prstDash val="solid"/>
          </a:ln>
        </p:spPr>
      </p:sp>
      <p:sp>
        <p:nvSpPr>
          <p:cNvPr id="30" name="Text 28"/>
          <p:cNvSpPr/>
          <p:nvPr/>
        </p:nvSpPr>
        <p:spPr>
          <a:xfrm>
            <a:off x="502920" y="3291840"/>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Nhánh ứng viên</a:t>
            </a:r>
            <a:endParaRPr lang="en-US" sz="1250" dirty="0"/>
          </a:p>
        </p:txBody>
      </p:sp>
      <p:sp>
        <p:nvSpPr>
          <p:cNvPr id="31" name="Text 29"/>
          <p:cNvSpPr/>
          <p:nvPr/>
        </p:nvSpPr>
        <p:spPr>
          <a:xfrm>
            <a:off x="3520440" y="3291840"/>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56,1</a:t>
            </a:r>
            <a:endParaRPr lang="en-US" sz="1250" dirty="0"/>
          </a:p>
        </p:txBody>
      </p:sp>
      <p:sp>
        <p:nvSpPr>
          <p:cNvPr id="32" name="Text 30"/>
          <p:cNvSpPr/>
          <p:nvPr/>
        </p:nvSpPr>
        <p:spPr>
          <a:xfrm>
            <a:off x="5166360" y="3291840"/>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62,4</a:t>
            </a:r>
            <a:endParaRPr lang="en-US" sz="1250" dirty="0"/>
          </a:p>
        </p:txBody>
      </p:sp>
      <p:sp>
        <p:nvSpPr>
          <p:cNvPr id="33" name="Text 31"/>
          <p:cNvSpPr/>
          <p:nvPr/>
        </p:nvSpPr>
        <p:spPr>
          <a:xfrm>
            <a:off x="6903720" y="3291840"/>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58,6</a:t>
            </a:r>
            <a:endParaRPr lang="en-US" sz="1250" dirty="0"/>
          </a:p>
        </p:txBody>
      </p:sp>
      <p:sp>
        <p:nvSpPr>
          <p:cNvPr id="34" name="Shape 32"/>
          <p:cNvSpPr/>
          <p:nvPr/>
        </p:nvSpPr>
        <p:spPr>
          <a:xfrm>
            <a:off x="502920" y="3675888"/>
            <a:ext cx="8129016" cy="0"/>
          </a:xfrm>
          <a:prstGeom prst="line">
            <a:avLst/>
          </a:prstGeom>
          <a:noFill/>
          <a:ln w="12700">
            <a:solidFill>
              <a:srgbClr val="9A94AE"/>
            </a:solidFill>
            <a:prstDash val="solid"/>
          </a:ln>
        </p:spPr>
      </p:sp>
      <p:sp>
        <p:nvSpPr>
          <p:cNvPr id="35" name="Text 33"/>
          <p:cNvSpPr/>
          <p:nvPr/>
        </p:nvSpPr>
        <p:spPr>
          <a:xfrm>
            <a:off x="502920" y="3675888"/>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Base</a:t>
            </a:r>
            <a:endParaRPr lang="en-US" sz="1250" dirty="0"/>
          </a:p>
        </p:txBody>
      </p:sp>
      <p:sp>
        <p:nvSpPr>
          <p:cNvPr id="36" name="Text 34"/>
          <p:cNvSpPr/>
          <p:nvPr/>
        </p:nvSpPr>
        <p:spPr>
          <a:xfrm>
            <a:off x="3520440" y="3675888"/>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47,6</a:t>
            </a:r>
            <a:endParaRPr lang="en-US" sz="1250" dirty="0"/>
          </a:p>
        </p:txBody>
      </p:sp>
      <p:sp>
        <p:nvSpPr>
          <p:cNvPr id="37" name="Text 35"/>
          <p:cNvSpPr/>
          <p:nvPr/>
        </p:nvSpPr>
        <p:spPr>
          <a:xfrm>
            <a:off x="5166360" y="3675888"/>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53,6</a:t>
            </a:r>
            <a:endParaRPr lang="en-US" sz="1250" dirty="0"/>
          </a:p>
        </p:txBody>
      </p:sp>
      <p:sp>
        <p:nvSpPr>
          <p:cNvPr id="38" name="Text 36"/>
          <p:cNvSpPr/>
          <p:nvPr/>
        </p:nvSpPr>
        <p:spPr>
          <a:xfrm>
            <a:off x="6903720" y="3675888"/>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49,8</a:t>
            </a:r>
            <a:endParaRPr lang="en-US" sz="1250" dirty="0"/>
          </a:p>
        </p:txBody>
      </p:sp>
      <p:sp>
        <p:nvSpPr>
          <p:cNvPr id="39" name="Shape 37"/>
          <p:cNvSpPr/>
          <p:nvPr/>
        </p:nvSpPr>
        <p:spPr>
          <a:xfrm>
            <a:off x="502920" y="4059936"/>
            <a:ext cx="8129016" cy="0"/>
          </a:xfrm>
          <a:prstGeom prst="line">
            <a:avLst/>
          </a:prstGeom>
          <a:noFill/>
          <a:ln w="19050">
            <a:solidFill>
              <a:srgbClr val="322164"/>
            </a:solidFill>
            <a:prstDash val="solid"/>
          </a:ln>
        </p:spPr>
      </p:sp>
      <p:sp>
        <p:nvSpPr>
          <p:cNvPr id="40" name="Text 38"/>
          <p:cNvSpPr/>
          <p:nvPr/>
        </p:nvSpPr>
        <p:spPr>
          <a:xfrm>
            <a:off x="502920" y="4059936"/>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Sàn: câu chung chung (lát 800)</a:t>
            </a:r>
            <a:endParaRPr lang="en-US" sz="1250" dirty="0"/>
          </a:p>
        </p:txBody>
      </p:sp>
      <p:sp>
        <p:nvSpPr>
          <p:cNvPr id="41" name="Text 39"/>
          <p:cNvSpPr/>
          <p:nvPr/>
        </p:nvSpPr>
        <p:spPr>
          <a:xfrm>
            <a:off x="3520440" y="4059936"/>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12,0</a:t>
            </a:r>
            <a:endParaRPr lang="en-US" sz="1250" dirty="0"/>
          </a:p>
        </p:txBody>
      </p:sp>
      <p:sp>
        <p:nvSpPr>
          <p:cNvPr id="42" name="Text 40"/>
          <p:cNvSpPr/>
          <p:nvPr/>
        </p:nvSpPr>
        <p:spPr>
          <a:xfrm>
            <a:off x="5166360" y="4059936"/>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14,1</a:t>
            </a:r>
            <a:endParaRPr lang="en-US" sz="1250" dirty="0"/>
          </a:p>
        </p:txBody>
      </p:sp>
      <p:sp>
        <p:nvSpPr>
          <p:cNvPr id="43" name="Text 41"/>
          <p:cNvSpPr/>
          <p:nvPr/>
        </p:nvSpPr>
        <p:spPr>
          <a:xfrm>
            <a:off x="6903720" y="4059936"/>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12,1</a:t>
            </a:r>
            <a:endParaRPr lang="en-US" sz="1250" dirty="0"/>
          </a:p>
        </p:txBody>
      </p:sp>
      <p:sp>
        <p:nvSpPr>
          <p:cNvPr id="44" name="Shape 42"/>
          <p:cNvSpPr/>
          <p:nvPr/>
        </p:nvSpPr>
        <p:spPr>
          <a:xfrm>
            <a:off x="502920" y="4443984"/>
            <a:ext cx="8129016" cy="0"/>
          </a:xfrm>
          <a:prstGeom prst="line">
            <a:avLst/>
          </a:prstGeom>
          <a:noFill/>
          <a:ln w="12700">
            <a:solidFill>
              <a:srgbClr val="9A94AE"/>
            </a:solidFill>
            <a:prstDash val="solid"/>
          </a:ln>
        </p:spPr>
      </p:sp>
      <p:sp>
        <p:nvSpPr>
          <p:cNvPr id="45" name="Text 43"/>
          <p:cNvSpPr/>
          <p:nvPr/>
        </p:nvSpPr>
        <p:spPr>
          <a:xfrm>
            <a:off x="502920" y="4443984"/>
            <a:ext cx="301752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Sàn: câu của màn khác (lát 800)</a:t>
            </a:r>
            <a:endParaRPr lang="en-US" sz="1250" dirty="0"/>
          </a:p>
        </p:txBody>
      </p:sp>
      <p:sp>
        <p:nvSpPr>
          <p:cNvPr id="46" name="Text 44"/>
          <p:cNvSpPr/>
          <p:nvPr/>
        </p:nvSpPr>
        <p:spPr>
          <a:xfrm>
            <a:off x="3520440" y="4443984"/>
            <a:ext cx="164592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6,1</a:t>
            </a:r>
            <a:endParaRPr lang="en-US" sz="1250" dirty="0"/>
          </a:p>
        </p:txBody>
      </p:sp>
      <p:sp>
        <p:nvSpPr>
          <p:cNvPr id="47" name="Text 45"/>
          <p:cNvSpPr/>
          <p:nvPr/>
        </p:nvSpPr>
        <p:spPr>
          <a:xfrm>
            <a:off x="5166360" y="4443984"/>
            <a:ext cx="173736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8,6</a:t>
            </a:r>
            <a:endParaRPr lang="en-US" sz="1250" dirty="0"/>
          </a:p>
        </p:txBody>
      </p:sp>
      <p:sp>
        <p:nvSpPr>
          <p:cNvPr id="48" name="Text 46"/>
          <p:cNvSpPr/>
          <p:nvPr/>
        </p:nvSpPr>
        <p:spPr>
          <a:xfrm>
            <a:off x="6903720" y="4443984"/>
            <a:ext cx="172821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6,6</a:t>
            </a:r>
            <a:endParaRPr lang="en-US" sz="1250" dirty="0"/>
          </a:p>
        </p:txBody>
      </p:sp>
      <p:sp>
        <p:nvSpPr>
          <p:cNvPr id="49" name="Text 47"/>
          <p:cNvSpPr/>
          <p:nvPr/>
        </p:nvSpPr>
        <p:spPr>
          <a:xfrm>
            <a:off x="502920" y="4572000"/>
            <a:ext cx="201168" cy="45720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50" name="Text 48"/>
          <p:cNvSpPr/>
          <p:nvPr/>
        </p:nvSpPr>
        <p:spPr>
          <a:xfrm>
            <a:off x="731520" y="4572000"/>
            <a:ext cx="7909560" cy="420624"/>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Nâng trần gần gấp bốn lần mức nâng sàn, nên dải dùng được rộng ra chứ không bị nén</a:t>
            </a:r>
            <a:endParaRPr lang="en-US" sz="1150" dirty="0"/>
          </a:p>
        </p:txBody>
      </p:sp>
      <p:sp>
        <p:nvSpPr>
          <p:cNvPr id="51" name="Text 49"/>
          <p:cNvSpPr/>
          <p:nvPr/>
        </p:nvSpPr>
        <p:spPr>
          <a:xfrm>
            <a:off x="502920" y="5029200"/>
            <a:ext cx="201168" cy="45720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52" name="Text 50"/>
          <p:cNvSpPr/>
          <p:nvPr/>
        </p:nvSpPr>
        <p:spPr>
          <a:xfrm>
            <a:off x="731520" y="5029200"/>
            <a:ext cx="7909560" cy="420624"/>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Hộp do luận văn suy từ cây trợ năng: 48% là nút con không nhận chạm, nên chặt hơn nhãn gốc</a:t>
            </a:r>
            <a:endParaRPr lang="en-US" sz="1150" dirty="0"/>
          </a:p>
        </p:txBody>
      </p:sp>
      <p:sp>
        <p:nvSpPr>
          <p:cNvPr id="53" name="Text 51"/>
          <p:cNvSpPr/>
          <p:nvPr/>
        </p:nvSpPr>
        <p:spPr>
          <a:xfrm>
            <a:off x="502920" y="5486400"/>
            <a:ext cx="201168" cy="45720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54" name="Text 52"/>
          <p:cNvSpPr/>
          <p:nvPr/>
        </p:nvSpPr>
        <p:spPr>
          <a:xfrm>
            <a:off x="731520" y="5486400"/>
            <a:ext cx="7909560" cy="420624"/>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78% mức tăng đến từ hộp rộng hơn nửa màn; 120 bước rơi vào khung chứa rộng khiến bước đó gần như mặc nhiên được tính đạt</a:t>
            </a:r>
            <a:endParaRPr lang="en-US" sz="1150" dirty="0"/>
          </a:p>
        </p:txBody>
      </p:sp>
      <p:sp>
        <p:nvSpPr>
          <p:cNvPr id="55" name="Text 53"/>
          <p:cNvSpPr/>
          <p:nvPr/>
        </p:nvSpPr>
        <p:spPr>
          <a:xfrm>
            <a:off x="502920" y="5943600"/>
            <a:ext cx="201168" cy="45720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56" name="Text 54"/>
          <p:cNvSpPr/>
          <p:nvPr/>
        </p:nvSpPr>
        <p:spPr>
          <a:xfrm>
            <a:off x="731520" y="5943600"/>
            <a:ext cx="7909560" cy="420624"/>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Hiệu MIN-DESC trên S1 vẫn +0,9 đến +1,1 dưới mọi biến thể: luật này không thêm bằng chứng cho đóng góp mô hình</a:t>
            </a:r>
            <a:endParaRPr lang="en-US" sz="1150" dirty="0"/>
          </a:p>
        </p:txBody>
      </p:sp>
      <p:sp>
        <p:nvSpPr>
          <p:cNvPr id="57" name="Shape 55"/>
          <p:cNvSpPr/>
          <p:nvPr/>
        </p:nvSpPr>
        <p:spPr>
          <a:xfrm>
            <a:off x="0" y="6620256"/>
            <a:ext cx="2743200" cy="237744"/>
          </a:xfrm>
          <a:prstGeom prst="rect">
            <a:avLst/>
          </a:prstGeom>
          <a:solidFill>
            <a:srgbClr val="191132"/>
          </a:solidFill>
          <a:ln/>
        </p:spPr>
      </p:sp>
      <p:sp>
        <p:nvSpPr>
          <p:cNvPr id="58" name="Shape 56"/>
          <p:cNvSpPr/>
          <p:nvPr/>
        </p:nvSpPr>
        <p:spPr>
          <a:xfrm>
            <a:off x="2743200" y="6620256"/>
            <a:ext cx="3383280" cy="237744"/>
          </a:xfrm>
          <a:prstGeom prst="rect">
            <a:avLst/>
          </a:prstGeom>
          <a:solidFill>
            <a:srgbClr val="25194B"/>
          </a:solidFill>
          <a:ln/>
        </p:spPr>
      </p:sp>
      <p:sp>
        <p:nvSpPr>
          <p:cNvPr id="59" name="Shape 57"/>
          <p:cNvSpPr/>
          <p:nvPr/>
        </p:nvSpPr>
        <p:spPr>
          <a:xfrm>
            <a:off x="6126480" y="6620256"/>
            <a:ext cx="1737360" cy="237744"/>
          </a:xfrm>
          <a:prstGeom prst="rect">
            <a:avLst/>
          </a:prstGeom>
          <a:solidFill>
            <a:srgbClr val="4F417A"/>
          </a:solidFill>
          <a:ln/>
        </p:spPr>
      </p:sp>
      <p:sp>
        <p:nvSpPr>
          <p:cNvPr id="60" name="Shape 58"/>
          <p:cNvSpPr/>
          <p:nvPr/>
        </p:nvSpPr>
        <p:spPr>
          <a:xfrm>
            <a:off x="7863840" y="6620256"/>
            <a:ext cx="1280160" cy="237744"/>
          </a:xfrm>
          <a:prstGeom prst="rect">
            <a:avLst/>
          </a:prstGeom>
          <a:solidFill>
            <a:srgbClr val="7A7099"/>
          </a:solidFill>
          <a:ln/>
        </p:spPr>
      </p:sp>
      <p:sp>
        <p:nvSpPr>
          <p:cNvPr id="61" name="Text 5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62" name="Text 6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63" name="Text 6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64" name="Text 6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12</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Nhánh ứng viên: dấu hiệu của bỏ cuộc và thủ tục ngưỡng</a:t>
            </a:r>
            <a:endParaRPr lang="en-US" sz="1900" dirty="0"/>
          </a:p>
        </p:txBody>
      </p:sp>
      <p:sp>
        <p:nvSpPr>
          <p:cNvPr id="4" name="Text 2"/>
          <p:cNvSpPr/>
          <p:nvPr/>
        </p:nvSpPr>
        <p:spPr>
          <a:xfrm>
            <a:off x="502920" y="777240"/>
            <a:ext cx="420624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Chỉ bước có đáp án trong danh sách</a:t>
            </a:r>
            <a:endParaRPr lang="en-US" sz="1250" dirty="0"/>
          </a:p>
        </p:txBody>
      </p:sp>
      <p:sp>
        <p:nvSpPr>
          <p:cNvPr id="5" name="Shape 3"/>
          <p:cNvSpPr/>
          <p:nvPr/>
        </p:nvSpPr>
        <p:spPr>
          <a:xfrm>
            <a:off x="502920" y="1097280"/>
            <a:ext cx="4114800" cy="347472"/>
          </a:xfrm>
          <a:prstGeom prst="rect">
            <a:avLst/>
          </a:prstGeom>
          <a:solidFill>
            <a:srgbClr val="322164"/>
          </a:solidFill>
          <a:ln/>
        </p:spPr>
      </p:sp>
      <p:sp>
        <p:nvSpPr>
          <p:cNvPr id="6" name="Text 4"/>
          <p:cNvSpPr/>
          <p:nvPr/>
        </p:nvSpPr>
        <p:spPr>
          <a:xfrm>
            <a:off x="502920" y="1097280"/>
            <a:ext cx="1554480" cy="347472"/>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Số dòng</a:t>
            </a:r>
            <a:endParaRPr lang="en-US" sz="1150" dirty="0"/>
          </a:p>
        </p:txBody>
      </p:sp>
      <p:sp>
        <p:nvSpPr>
          <p:cNvPr id="7" name="Text 5"/>
          <p:cNvSpPr/>
          <p:nvPr/>
        </p:nvSpPr>
        <p:spPr>
          <a:xfrm>
            <a:off x="2057400" y="1097280"/>
            <a:ext cx="731520" cy="347472"/>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a:t>
            </a:r>
            <a:endParaRPr lang="en-US" sz="1150" dirty="0"/>
          </a:p>
        </p:txBody>
      </p:sp>
      <p:sp>
        <p:nvSpPr>
          <p:cNvPr id="8" name="Text 6"/>
          <p:cNvSpPr/>
          <p:nvPr/>
        </p:nvSpPr>
        <p:spPr>
          <a:xfrm>
            <a:off x="2788920" y="1097280"/>
            <a:ext cx="1005840" cy="347472"/>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Bỏ cuộc</a:t>
            </a:r>
            <a:endParaRPr lang="en-US" sz="1150" dirty="0"/>
          </a:p>
        </p:txBody>
      </p:sp>
      <p:sp>
        <p:nvSpPr>
          <p:cNvPr id="9" name="Text 7"/>
          <p:cNvSpPr/>
          <p:nvPr/>
        </p:nvSpPr>
        <p:spPr>
          <a:xfrm>
            <a:off x="3794760" y="1097280"/>
            <a:ext cx="822960" cy="347472"/>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Exec.</a:t>
            </a:r>
            <a:endParaRPr lang="en-US" sz="1150" dirty="0"/>
          </a:p>
        </p:txBody>
      </p:sp>
      <p:sp>
        <p:nvSpPr>
          <p:cNvPr id="10" name="Text 8"/>
          <p:cNvSpPr/>
          <p:nvPr/>
        </p:nvSpPr>
        <p:spPr>
          <a:xfrm>
            <a:off x="502920" y="1444752"/>
            <a:ext cx="15544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1 đến 5</a:t>
            </a:r>
            <a:endParaRPr lang="en-US" sz="1150" dirty="0"/>
          </a:p>
        </p:txBody>
      </p:sp>
      <p:sp>
        <p:nvSpPr>
          <p:cNvPr id="11" name="Text 9"/>
          <p:cNvSpPr/>
          <p:nvPr/>
        </p:nvSpPr>
        <p:spPr>
          <a:xfrm>
            <a:off x="2057400" y="1444752"/>
            <a:ext cx="73152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178</a:t>
            </a:r>
            <a:endParaRPr lang="en-US" sz="1150" dirty="0"/>
          </a:p>
        </p:txBody>
      </p:sp>
      <p:sp>
        <p:nvSpPr>
          <p:cNvPr id="12" name="Text 10"/>
          <p:cNvSpPr/>
          <p:nvPr/>
        </p:nvSpPr>
        <p:spPr>
          <a:xfrm>
            <a:off x="2788920" y="1444752"/>
            <a:ext cx="100584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18,5%</a:t>
            </a:r>
            <a:endParaRPr lang="en-US" sz="1150" dirty="0"/>
          </a:p>
        </p:txBody>
      </p:sp>
      <p:sp>
        <p:nvSpPr>
          <p:cNvPr id="13" name="Text 11"/>
          <p:cNvSpPr/>
          <p:nvPr/>
        </p:nvSpPr>
        <p:spPr>
          <a:xfrm>
            <a:off x="3794760" y="1444752"/>
            <a:ext cx="82296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70,8</a:t>
            </a:r>
            <a:endParaRPr lang="en-US" sz="1150" dirty="0"/>
          </a:p>
        </p:txBody>
      </p:sp>
      <p:sp>
        <p:nvSpPr>
          <p:cNvPr id="14" name="Shape 12"/>
          <p:cNvSpPr/>
          <p:nvPr/>
        </p:nvSpPr>
        <p:spPr>
          <a:xfrm>
            <a:off x="502920" y="1773936"/>
            <a:ext cx="4114800" cy="0"/>
          </a:xfrm>
          <a:prstGeom prst="line">
            <a:avLst/>
          </a:prstGeom>
          <a:noFill/>
          <a:ln w="12700">
            <a:solidFill>
              <a:srgbClr val="9A94AE"/>
            </a:solidFill>
            <a:prstDash val="solid"/>
          </a:ln>
        </p:spPr>
      </p:sp>
      <p:sp>
        <p:nvSpPr>
          <p:cNvPr id="15" name="Text 13"/>
          <p:cNvSpPr/>
          <p:nvPr/>
        </p:nvSpPr>
        <p:spPr>
          <a:xfrm>
            <a:off x="502920" y="1773936"/>
            <a:ext cx="15544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6 đến 10</a:t>
            </a:r>
            <a:endParaRPr lang="en-US" sz="1150" dirty="0"/>
          </a:p>
        </p:txBody>
      </p:sp>
      <p:sp>
        <p:nvSpPr>
          <p:cNvPr id="16" name="Text 14"/>
          <p:cNvSpPr/>
          <p:nvPr/>
        </p:nvSpPr>
        <p:spPr>
          <a:xfrm>
            <a:off x="2057400" y="1773936"/>
            <a:ext cx="73152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363</a:t>
            </a:r>
            <a:endParaRPr lang="en-US" sz="1150" dirty="0"/>
          </a:p>
        </p:txBody>
      </p:sp>
      <p:sp>
        <p:nvSpPr>
          <p:cNvPr id="17" name="Text 15"/>
          <p:cNvSpPr/>
          <p:nvPr/>
        </p:nvSpPr>
        <p:spPr>
          <a:xfrm>
            <a:off x="2788920" y="1773936"/>
            <a:ext cx="100584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15,7%</a:t>
            </a:r>
            <a:endParaRPr lang="en-US" sz="1150" dirty="0"/>
          </a:p>
        </p:txBody>
      </p:sp>
      <p:sp>
        <p:nvSpPr>
          <p:cNvPr id="18" name="Text 16"/>
          <p:cNvSpPr/>
          <p:nvPr/>
        </p:nvSpPr>
        <p:spPr>
          <a:xfrm>
            <a:off x="3794760" y="1773936"/>
            <a:ext cx="82296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70,5</a:t>
            </a:r>
            <a:endParaRPr lang="en-US" sz="1150" dirty="0"/>
          </a:p>
        </p:txBody>
      </p:sp>
      <p:sp>
        <p:nvSpPr>
          <p:cNvPr id="19" name="Shape 17"/>
          <p:cNvSpPr/>
          <p:nvPr/>
        </p:nvSpPr>
        <p:spPr>
          <a:xfrm>
            <a:off x="502920" y="2103120"/>
            <a:ext cx="4114800" cy="0"/>
          </a:xfrm>
          <a:prstGeom prst="line">
            <a:avLst/>
          </a:prstGeom>
          <a:noFill/>
          <a:ln w="12700">
            <a:solidFill>
              <a:srgbClr val="9A94AE"/>
            </a:solidFill>
            <a:prstDash val="solid"/>
          </a:ln>
        </p:spPr>
      </p:sp>
      <p:sp>
        <p:nvSpPr>
          <p:cNvPr id="20" name="Text 18"/>
          <p:cNvSpPr/>
          <p:nvPr/>
        </p:nvSpPr>
        <p:spPr>
          <a:xfrm>
            <a:off x="502920" y="2103120"/>
            <a:ext cx="15544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11 đến 20</a:t>
            </a:r>
            <a:endParaRPr lang="en-US" sz="1150" dirty="0"/>
          </a:p>
        </p:txBody>
      </p:sp>
      <p:sp>
        <p:nvSpPr>
          <p:cNvPr id="21" name="Text 19"/>
          <p:cNvSpPr/>
          <p:nvPr/>
        </p:nvSpPr>
        <p:spPr>
          <a:xfrm>
            <a:off x="2057400" y="2103120"/>
            <a:ext cx="73152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826</a:t>
            </a:r>
            <a:endParaRPr lang="en-US" sz="1150" dirty="0"/>
          </a:p>
        </p:txBody>
      </p:sp>
      <p:sp>
        <p:nvSpPr>
          <p:cNvPr id="22" name="Text 20"/>
          <p:cNvSpPr/>
          <p:nvPr/>
        </p:nvSpPr>
        <p:spPr>
          <a:xfrm>
            <a:off x="2788920" y="2103120"/>
            <a:ext cx="100584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25,9%</a:t>
            </a:r>
            <a:endParaRPr lang="en-US" sz="1150" dirty="0"/>
          </a:p>
        </p:txBody>
      </p:sp>
      <p:sp>
        <p:nvSpPr>
          <p:cNvPr id="23" name="Text 21"/>
          <p:cNvSpPr/>
          <p:nvPr/>
        </p:nvSpPr>
        <p:spPr>
          <a:xfrm>
            <a:off x="3794760" y="2103120"/>
            <a:ext cx="82296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60,3</a:t>
            </a:r>
            <a:endParaRPr lang="en-US" sz="1150" dirty="0"/>
          </a:p>
        </p:txBody>
      </p:sp>
      <p:sp>
        <p:nvSpPr>
          <p:cNvPr id="24" name="Shape 22"/>
          <p:cNvSpPr/>
          <p:nvPr/>
        </p:nvSpPr>
        <p:spPr>
          <a:xfrm>
            <a:off x="502920" y="2432304"/>
            <a:ext cx="4114800" cy="0"/>
          </a:xfrm>
          <a:prstGeom prst="line">
            <a:avLst/>
          </a:prstGeom>
          <a:noFill/>
          <a:ln w="12700">
            <a:solidFill>
              <a:srgbClr val="9A94AE"/>
            </a:solidFill>
            <a:prstDash val="solid"/>
          </a:ln>
        </p:spPr>
      </p:sp>
      <p:sp>
        <p:nvSpPr>
          <p:cNvPr id="25" name="Text 23"/>
          <p:cNvSpPr/>
          <p:nvPr/>
        </p:nvSpPr>
        <p:spPr>
          <a:xfrm>
            <a:off x="502920" y="2432304"/>
            <a:ext cx="15544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21 đến 39</a:t>
            </a:r>
            <a:endParaRPr lang="en-US" sz="1150" dirty="0"/>
          </a:p>
        </p:txBody>
      </p:sp>
      <p:sp>
        <p:nvSpPr>
          <p:cNvPr id="26" name="Text 24"/>
          <p:cNvSpPr/>
          <p:nvPr/>
        </p:nvSpPr>
        <p:spPr>
          <a:xfrm>
            <a:off x="2057400" y="2432304"/>
            <a:ext cx="73152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1.036</a:t>
            </a:r>
            <a:endParaRPr lang="en-US" sz="1150" dirty="0"/>
          </a:p>
        </p:txBody>
      </p:sp>
      <p:sp>
        <p:nvSpPr>
          <p:cNvPr id="27" name="Text 25"/>
          <p:cNvSpPr/>
          <p:nvPr/>
        </p:nvSpPr>
        <p:spPr>
          <a:xfrm>
            <a:off x="2788920" y="2432304"/>
            <a:ext cx="100584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29,3%</a:t>
            </a:r>
            <a:endParaRPr lang="en-US" sz="1150" dirty="0"/>
          </a:p>
        </p:txBody>
      </p:sp>
      <p:sp>
        <p:nvSpPr>
          <p:cNvPr id="28" name="Text 26"/>
          <p:cNvSpPr/>
          <p:nvPr/>
        </p:nvSpPr>
        <p:spPr>
          <a:xfrm>
            <a:off x="3794760" y="2432304"/>
            <a:ext cx="82296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55,6</a:t>
            </a:r>
            <a:endParaRPr lang="en-US" sz="1150" dirty="0"/>
          </a:p>
        </p:txBody>
      </p:sp>
      <p:sp>
        <p:nvSpPr>
          <p:cNvPr id="29" name="Shape 27"/>
          <p:cNvSpPr/>
          <p:nvPr/>
        </p:nvSpPr>
        <p:spPr>
          <a:xfrm>
            <a:off x="502920" y="2761488"/>
            <a:ext cx="4114800" cy="0"/>
          </a:xfrm>
          <a:prstGeom prst="line">
            <a:avLst/>
          </a:prstGeom>
          <a:noFill/>
          <a:ln w="12700">
            <a:solidFill>
              <a:srgbClr val="9A94AE"/>
            </a:solidFill>
            <a:prstDash val="solid"/>
          </a:ln>
        </p:spPr>
      </p:sp>
      <p:sp>
        <p:nvSpPr>
          <p:cNvPr id="30" name="Text 28"/>
          <p:cNvSpPr/>
          <p:nvPr/>
        </p:nvSpPr>
        <p:spPr>
          <a:xfrm>
            <a:off x="502920" y="2761488"/>
            <a:ext cx="1554480" cy="329184"/>
          </a:xfrm>
          <a:prstGeom prst="rect">
            <a:avLst/>
          </a:prstGeom>
          <a:noFill/>
          <a:ln/>
        </p:spPr>
        <p:txBody>
          <a:bodyPr wrap="square" lIns="38100" tIns="38100" rIns="38100" bIns="38100" rtlCol="0" anchor="ctr"/>
          <a:lstStyle/>
          <a:p>
            <a:pPr algn="l" indent="0" marL="0">
              <a:buNone/>
            </a:pPr>
            <a:r>
              <a:rPr lang="en-US" sz="1150" b="1" dirty="0">
                <a:solidFill>
                  <a:srgbClr val="1A1A1A"/>
                </a:solidFill>
                <a:latin typeface="Cambria" pitchFamily="34" charset="0"/>
                <a:ea typeface="Cambria" pitchFamily="34" charset="-122"/>
                <a:cs typeface="Cambria" pitchFamily="34" charset="-120"/>
              </a:rPr>
              <a:t>40, chạm trần</a:t>
            </a:r>
            <a:endParaRPr lang="en-US" sz="1150" dirty="0"/>
          </a:p>
        </p:txBody>
      </p:sp>
      <p:sp>
        <p:nvSpPr>
          <p:cNvPr id="31" name="Text 29"/>
          <p:cNvSpPr/>
          <p:nvPr/>
        </p:nvSpPr>
        <p:spPr>
          <a:xfrm>
            <a:off x="2057400" y="2761488"/>
            <a:ext cx="731520" cy="32918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795</a:t>
            </a:r>
            <a:endParaRPr lang="en-US" sz="1150" dirty="0"/>
          </a:p>
        </p:txBody>
      </p:sp>
      <p:sp>
        <p:nvSpPr>
          <p:cNvPr id="32" name="Text 30"/>
          <p:cNvSpPr/>
          <p:nvPr/>
        </p:nvSpPr>
        <p:spPr>
          <a:xfrm>
            <a:off x="2788920" y="2761488"/>
            <a:ext cx="1005840" cy="329184"/>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33,2%</a:t>
            </a:r>
            <a:endParaRPr lang="en-US" sz="1150" dirty="0"/>
          </a:p>
        </p:txBody>
      </p:sp>
      <p:sp>
        <p:nvSpPr>
          <p:cNvPr id="33" name="Text 31"/>
          <p:cNvSpPr/>
          <p:nvPr/>
        </p:nvSpPr>
        <p:spPr>
          <a:xfrm>
            <a:off x="3794760" y="2761488"/>
            <a:ext cx="822960" cy="329184"/>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51,8</a:t>
            </a:r>
            <a:endParaRPr lang="en-US" sz="1150" dirty="0"/>
          </a:p>
        </p:txBody>
      </p:sp>
      <p:sp>
        <p:nvSpPr>
          <p:cNvPr id="34" name="Text 32"/>
          <p:cNvSpPr/>
          <p:nvPr/>
        </p:nvSpPr>
        <p:spPr>
          <a:xfrm>
            <a:off x="502920" y="3154680"/>
            <a:ext cx="4206240" cy="548640"/>
          </a:xfrm>
          <a:prstGeom prst="rect">
            <a:avLst/>
          </a:prstGeom>
          <a:noFill/>
          <a:ln/>
        </p:spPr>
        <p:txBody>
          <a:bodyPr wrap="square" lIns="0" tIns="0" rIns="0" bIns="0" rtlCol="0" anchor="t"/>
          <a:lstStyle/>
          <a:p>
            <a:pPr algn="l" indent="0" marL="0">
              <a:lnSpc>
                <a:spcPct val="130000"/>
              </a:lnSpc>
              <a:buNone/>
            </a:pPr>
            <a:r>
              <a:rPr lang="en-US" sz="1100" i="1" dirty="0">
                <a:solidFill>
                  <a:srgbClr val="5A5A66"/>
                </a:solidFill>
                <a:latin typeface="Cambria" pitchFamily="34" charset="0"/>
                <a:ea typeface="Cambria" pitchFamily="34" charset="-122"/>
                <a:cs typeface="Cambria" pitchFamily="34" charset="-120"/>
              </a:rPr>
              <a:t>Tương quan hậu kiểm, không phải nhân quả: màn nhiều phần tử cũng là màn khó hơn.</a:t>
            </a:r>
            <a:endParaRPr lang="en-US" sz="1100" dirty="0"/>
          </a:p>
        </p:txBody>
      </p:sp>
      <p:sp>
        <p:nvSpPr>
          <p:cNvPr id="35" name="Text 33"/>
          <p:cNvSpPr/>
          <p:nvPr/>
        </p:nvSpPr>
        <p:spPr>
          <a:xfrm>
            <a:off x="4983480" y="777240"/>
            <a:ext cx="365760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Bốn dấu hiệu đi kèm việc bỏ cuộc</a:t>
            </a:r>
            <a:endParaRPr lang="en-US" sz="1250" dirty="0"/>
          </a:p>
        </p:txBody>
      </p:sp>
      <p:sp>
        <p:nvSpPr>
          <p:cNvPr id="36" name="Text 34"/>
          <p:cNvSpPr/>
          <p:nvPr/>
        </p:nvSpPr>
        <p:spPr>
          <a:xfrm>
            <a:off x="4983480" y="1143000"/>
            <a:ext cx="201168" cy="530352"/>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7" name="Text 35"/>
          <p:cNvSpPr/>
          <p:nvPr/>
        </p:nvSpPr>
        <p:spPr>
          <a:xfrm>
            <a:off x="5212080" y="1143000"/>
            <a:ext cx="3429000" cy="493776"/>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Câu mang động từ không chạm: 28,3% so với 0,97%, gấp 29 lần</a:t>
            </a:r>
            <a:endParaRPr lang="en-US" sz="1150" dirty="0"/>
          </a:p>
        </p:txBody>
      </p:sp>
      <p:sp>
        <p:nvSpPr>
          <p:cNvPr id="38" name="Text 36"/>
          <p:cNvSpPr/>
          <p:nvPr/>
        </p:nvSpPr>
        <p:spPr>
          <a:xfrm>
            <a:off x="4983480" y="1673352"/>
            <a:ext cx="201168" cy="530352"/>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9" name="Text 37"/>
          <p:cNvSpPr/>
          <p:nvPr/>
        </p:nvSpPr>
        <p:spPr>
          <a:xfrm>
            <a:off x="5212080" y="1673352"/>
            <a:ext cx="3429000" cy="493776"/>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Sai số mô hình định vị: trung vị 19,9% so với 0,78% bề ngang màn</a:t>
            </a:r>
            <a:endParaRPr lang="en-US" sz="1150" dirty="0"/>
          </a:p>
        </p:txBody>
      </p:sp>
      <p:sp>
        <p:nvSpPr>
          <p:cNvPr id="40" name="Text 38"/>
          <p:cNvSpPr/>
          <p:nvPr/>
        </p:nvSpPr>
        <p:spPr>
          <a:xfrm>
            <a:off x="4983480" y="2203704"/>
            <a:ext cx="201168" cy="530352"/>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1" name="Text 39"/>
          <p:cNvSpPr/>
          <p:nvPr/>
        </p:nvSpPr>
        <p:spPr>
          <a:xfrm>
            <a:off x="5212080" y="2203704"/>
            <a:ext cx="3429000" cy="493776"/>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Danh sách càng dài thì tỉ lệ bỏ cuộc càng cao, đơn điệu</a:t>
            </a:r>
            <a:endParaRPr lang="en-US" sz="1150" dirty="0"/>
          </a:p>
        </p:txBody>
      </p:sp>
      <p:sp>
        <p:nvSpPr>
          <p:cNvPr id="42" name="Text 40"/>
          <p:cNvSpPr/>
          <p:nvPr/>
        </p:nvSpPr>
        <p:spPr>
          <a:xfrm>
            <a:off x="4983480" y="2734056"/>
            <a:ext cx="201168" cy="530352"/>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3" name="Text 41"/>
          <p:cNvSpPr/>
          <p:nvPr/>
        </p:nvSpPr>
        <p:spPr>
          <a:xfrm>
            <a:off x="5212080" y="2734056"/>
            <a:ext cx="3429000" cy="493776"/>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Ứng dụng chưa xuất hiện trong tập dạy: 51,3% so với 41,8% (n = 78, chỉ là gợi ý)</a:t>
            </a:r>
            <a:endParaRPr lang="en-US" sz="1150" dirty="0"/>
          </a:p>
        </p:txBody>
      </p:sp>
      <p:sp>
        <p:nvSpPr>
          <p:cNvPr id="44" name="Text 42"/>
          <p:cNvSpPr/>
          <p:nvPr/>
        </p:nvSpPr>
        <p:spPr>
          <a:xfrm>
            <a:off x="4983480" y="3264408"/>
            <a:ext cx="201168" cy="530352"/>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5" name="Text 43"/>
          <p:cNvSpPr/>
          <p:nvPr/>
        </p:nvSpPr>
        <p:spPr>
          <a:xfrm>
            <a:off x="5212080" y="3264408"/>
            <a:ext cx="3429000" cy="493776"/>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Đã loại: độ dài câu, trung vị 33 ký tự ở cả hai nhóm</a:t>
            </a:r>
            <a:endParaRPr lang="en-US" sz="1150" dirty="0"/>
          </a:p>
        </p:txBody>
      </p:sp>
      <p:sp>
        <p:nvSpPr>
          <p:cNvPr id="46" name="Shape 44"/>
          <p:cNvSpPr/>
          <p:nvPr/>
        </p:nvSpPr>
        <p:spPr>
          <a:xfrm>
            <a:off x="502920" y="3931920"/>
            <a:ext cx="8138160" cy="1783080"/>
          </a:xfrm>
          <a:prstGeom prst="roundRect">
            <a:avLst>
              <a:gd name="adj" fmla="val 3077"/>
            </a:avLst>
          </a:prstGeom>
          <a:solidFill>
            <a:srgbClr val="E9E8EC"/>
          </a:solidFill>
          <a:ln/>
          <a:effectLst>
            <a:outerShdw sx="100000" sy="100000" kx="0" ky="0" algn="bl" rotWithShape="0" blurRad="63500" dist="31750" dir="2700000">
              <a:srgbClr val="8C8C99">
                <a:alpha val="45000"/>
              </a:srgbClr>
            </a:outerShdw>
          </a:effectLst>
        </p:spPr>
      </p:sp>
      <p:sp>
        <p:nvSpPr>
          <p:cNvPr id="47" name="Text 45"/>
          <p:cNvSpPr/>
          <p:nvPr/>
        </p:nvSpPr>
        <p:spPr>
          <a:xfrm>
            <a:off x="731520" y="3931920"/>
            <a:ext cx="7680960" cy="1783080"/>
          </a:xfrm>
          <a:prstGeom prst="rect">
            <a:avLst/>
          </a:prstGeom>
          <a:noFill/>
          <a:ln/>
        </p:spPr>
        <p:txBody>
          <a:bodyPr wrap="square" lIns="0" tIns="0" rIns="0" bIns="0" rtlCol="0" anchor="ctr"/>
          <a:lstStyle/>
          <a:p>
            <a:pPr algn="l" indent="0" marL="0">
              <a:lnSpc>
                <a:spcPct val="135000"/>
              </a:lnSpc>
              <a:buNone/>
            </a:pPr>
            <a:r>
              <a:rPr lang="en-US" sz="1200" b="1" dirty="0">
                <a:solidFill>
                  <a:srgbClr val="322164"/>
                </a:solidFill>
                <a:latin typeface="Cambria" pitchFamily="34" charset="0"/>
                <a:ea typeface="Cambria" pitchFamily="34" charset="-122"/>
                <a:cs typeface="Cambria" pitchFamily="34" charset="-120"/>
              </a:rPr>
              <a:t>Thủ tục chọn ngưỡng bỏ cuộc, cố định trước khi tính điểm nào.</a:t>
            </a:r>
            <a:pPr algn="l" indent="0" marL="0">
              <a:lnSpc>
                <a:spcPct val="135000"/>
              </a:lnSpc>
              <a:buNone/>
            </a:pPr>
            <a:r>
              <a:rPr lang="en-US" sz="1200" dirty="0">
                <a:solidFill>
                  <a:srgbClr val="1A1A1A"/>
                </a:solidFill>
                <a:latin typeface="Cambria" pitchFamily="34" charset="0"/>
                <a:ea typeface="Cambria" pitchFamily="34" charset="-122"/>
                <a:cs typeface="Cambria" pitchFamily="34" charset="-120"/>
              </a:rPr>
              <a:t> Ép từng thẻ chọn vào mô hình, lấy log-xác suất trung bình theo token; chọn ứng viên tốt nhất khi biên so với thẻ bỏ cuộc vượt τ. Quét τ chỉ trên lát 1.400, theo độ đúng toàn bộ lát; lưới chứa cả phương án giữ nguyên, cải thiện dưới 18 bước thì giữ nguyên thắng. Kỳ vọng ghi trước: 0 đến 3 điểm. Kết quả: giữ nguyên thắng, tốt nhất +8/1.400, KTC [−11; +27]; điểm thẻ none ở bước có vàng và không có vàng trùng nhau (AUC 0,69–0,72). Huấn luyện lại không chạy.</a:t>
            </a:r>
            <a:endParaRPr lang="en-US" sz="1200" dirty="0"/>
          </a:p>
        </p:txBody>
      </p:sp>
      <p:sp>
        <p:nvSpPr>
          <p:cNvPr id="48" name="Shape 46"/>
          <p:cNvSpPr/>
          <p:nvPr/>
        </p:nvSpPr>
        <p:spPr>
          <a:xfrm>
            <a:off x="0" y="6620256"/>
            <a:ext cx="2743200" cy="237744"/>
          </a:xfrm>
          <a:prstGeom prst="rect">
            <a:avLst/>
          </a:prstGeom>
          <a:solidFill>
            <a:srgbClr val="191132"/>
          </a:solidFill>
          <a:ln/>
        </p:spPr>
      </p:sp>
      <p:sp>
        <p:nvSpPr>
          <p:cNvPr id="49" name="Shape 47"/>
          <p:cNvSpPr/>
          <p:nvPr/>
        </p:nvSpPr>
        <p:spPr>
          <a:xfrm>
            <a:off x="2743200" y="6620256"/>
            <a:ext cx="3383280" cy="237744"/>
          </a:xfrm>
          <a:prstGeom prst="rect">
            <a:avLst/>
          </a:prstGeom>
          <a:solidFill>
            <a:srgbClr val="25194B"/>
          </a:solidFill>
          <a:ln/>
        </p:spPr>
      </p:sp>
      <p:sp>
        <p:nvSpPr>
          <p:cNvPr id="50" name="Shape 48"/>
          <p:cNvSpPr/>
          <p:nvPr/>
        </p:nvSpPr>
        <p:spPr>
          <a:xfrm>
            <a:off x="6126480" y="6620256"/>
            <a:ext cx="1737360" cy="237744"/>
          </a:xfrm>
          <a:prstGeom prst="rect">
            <a:avLst/>
          </a:prstGeom>
          <a:solidFill>
            <a:srgbClr val="4F417A"/>
          </a:solidFill>
          <a:ln/>
        </p:spPr>
      </p:sp>
      <p:sp>
        <p:nvSpPr>
          <p:cNvPr id="51" name="Shape 49"/>
          <p:cNvSpPr/>
          <p:nvPr/>
        </p:nvSpPr>
        <p:spPr>
          <a:xfrm>
            <a:off x="7863840" y="6620256"/>
            <a:ext cx="1280160" cy="237744"/>
          </a:xfrm>
          <a:prstGeom prst="rect">
            <a:avLst/>
          </a:prstGeom>
          <a:solidFill>
            <a:srgbClr val="7A7099"/>
          </a:solidFill>
          <a:ln/>
        </p:spPr>
      </p:sp>
      <p:sp>
        <p:nvSpPr>
          <p:cNvPr id="52" name="Text 5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3" name="Text 5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4" name="Text 5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5" name="Text 5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13</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Một trần suy từ lát cắt theo hành vi mô hình thì trôi theo cách chia nhóm</a:t>
            </a:r>
            <a:endParaRPr lang="en-US" sz="1900" dirty="0"/>
          </a:p>
        </p:txBody>
      </p:sp>
      <p:sp>
        <p:nvSpPr>
          <p:cNvPr id="4" name="Text 2"/>
          <p:cNvSpPr/>
          <p:nvPr/>
        </p:nvSpPr>
        <p:spPr>
          <a:xfrm>
            <a:off x="502920" y="822960"/>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Cùng một can thiệp giả định, đổi cách định nghĩa nhóm ba lần, giữ nguyên mọi thứ khác (n = 4.437)</a:t>
            </a:r>
            <a:endParaRPr lang="en-US" sz="1200" dirty="0"/>
          </a:p>
        </p:txBody>
      </p:sp>
      <p:sp>
        <p:nvSpPr>
          <p:cNvPr id="5" name="Shape 3"/>
          <p:cNvSpPr/>
          <p:nvPr/>
        </p:nvSpPr>
        <p:spPr>
          <a:xfrm>
            <a:off x="502920" y="1207008"/>
            <a:ext cx="8129016" cy="411480"/>
          </a:xfrm>
          <a:prstGeom prst="rect">
            <a:avLst/>
          </a:prstGeom>
          <a:solidFill>
            <a:srgbClr val="322164"/>
          </a:solidFill>
          <a:ln/>
        </p:spPr>
      </p:sp>
      <p:sp>
        <p:nvSpPr>
          <p:cNvPr id="6" name="Text 4"/>
          <p:cNvSpPr/>
          <p:nvPr/>
        </p:nvSpPr>
        <p:spPr>
          <a:xfrm>
            <a:off x="502920" y="1207008"/>
            <a:ext cx="3154680" cy="411480"/>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Cách định nghĩa nhóm</a:t>
            </a:r>
            <a:endParaRPr lang="en-US" sz="1150" dirty="0"/>
          </a:p>
        </p:txBody>
      </p:sp>
      <p:sp>
        <p:nvSpPr>
          <p:cNvPr id="7" name="Text 5"/>
          <p:cNvSpPr/>
          <p:nvPr/>
        </p:nvSpPr>
        <p:spPr>
          <a:xfrm>
            <a:off x="3657600" y="1207008"/>
            <a:ext cx="86868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n</a:t>
            </a:r>
            <a:endParaRPr lang="en-US" sz="1150" dirty="0"/>
          </a:p>
        </p:txBody>
      </p:sp>
      <p:sp>
        <p:nvSpPr>
          <p:cNvPr id="8" name="Text 6"/>
          <p:cNvSpPr/>
          <p:nvPr/>
        </p:nvSpPr>
        <p:spPr>
          <a:xfrm>
            <a:off x="4526280" y="1207008"/>
            <a:ext cx="105156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MIN</a:t>
            </a:r>
            <a:endParaRPr lang="en-US" sz="1150" dirty="0"/>
          </a:p>
        </p:txBody>
      </p:sp>
      <p:sp>
        <p:nvSpPr>
          <p:cNvPr id="9" name="Text 7"/>
          <p:cNvSpPr/>
          <p:nvPr/>
        </p:nvSpPr>
        <p:spPr>
          <a:xfrm>
            <a:off x="5577840" y="1207008"/>
            <a:ext cx="105156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S1</a:t>
            </a:r>
            <a:endParaRPr lang="en-US" sz="1150" dirty="0"/>
          </a:p>
        </p:txBody>
      </p:sp>
      <p:sp>
        <p:nvSpPr>
          <p:cNvPr id="10" name="Text 8"/>
          <p:cNvSpPr/>
          <p:nvPr/>
        </p:nvSpPr>
        <p:spPr>
          <a:xfrm>
            <a:off x="6629400" y="1207008"/>
            <a:ext cx="105156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Câu chuẩn</a:t>
            </a:r>
            <a:endParaRPr lang="en-US" sz="1150" dirty="0"/>
          </a:p>
        </p:txBody>
      </p:sp>
      <p:sp>
        <p:nvSpPr>
          <p:cNvPr id="11" name="Text 9"/>
          <p:cNvSpPr/>
          <p:nvPr/>
        </p:nvSpPr>
        <p:spPr>
          <a:xfrm>
            <a:off x="7680960" y="1207008"/>
            <a:ext cx="950976"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Trần</a:t>
            </a:r>
            <a:endParaRPr lang="en-US" sz="1150" dirty="0"/>
          </a:p>
        </p:txBody>
      </p:sp>
      <p:sp>
        <p:nvSpPr>
          <p:cNvPr id="12" name="Text 10"/>
          <p:cNvSpPr/>
          <p:nvPr/>
        </p:nvSpPr>
        <p:spPr>
          <a:xfrm>
            <a:off x="502920" y="1618488"/>
            <a:ext cx="3154680" cy="402336"/>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mô hình đang đo nhìn sai</a:t>
            </a:r>
            <a:endParaRPr lang="en-US" sz="1150" dirty="0"/>
          </a:p>
        </p:txBody>
      </p:sp>
      <p:sp>
        <p:nvSpPr>
          <p:cNvPr id="13" name="Text 11"/>
          <p:cNvSpPr/>
          <p:nvPr/>
        </p:nvSpPr>
        <p:spPr>
          <a:xfrm>
            <a:off x="3657600" y="1618488"/>
            <a:ext cx="86868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1.327</a:t>
            </a:r>
            <a:endParaRPr lang="en-US" sz="1150" dirty="0"/>
          </a:p>
        </p:txBody>
      </p:sp>
      <p:sp>
        <p:nvSpPr>
          <p:cNvPr id="14" name="Text 12"/>
          <p:cNvSpPr/>
          <p:nvPr/>
        </p:nvSpPr>
        <p:spPr>
          <a:xfrm>
            <a:off x="4526280" y="1618488"/>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8,44</a:t>
            </a:r>
            <a:endParaRPr lang="en-US" sz="1150" dirty="0"/>
          </a:p>
        </p:txBody>
      </p:sp>
      <p:sp>
        <p:nvSpPr>
          <p:cNvPr id="15" name="Text 13"/>
          <p:cNvSpPr/>
          <p:nvPr/>
        </p:nvSpPr>
        <p:spPr>
          <a:xfrm>
            <a:off x="5577840" y="1618488"/>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24,49</a:t>
            </a:r>
            <a:endParaRPr lang="en-US" sz="1150" dirty="0"/>
          </a:p>
        </p:txBody>
      </p:sp>
      <p:sp>
        <p:nvSpPr>
          <p:cNvPr id="16" name="Text 14"/>
          <p:cNvSpPr/>
          <p:nvPr/>
        </p:nvSpPr>
        <p:spPr>
          <a:xfrm>
            <a:off x="6629400" y="1618488"/>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55,69</a:t>
            </a:r>
            <a:endParaRPr lang="en-US" sz="1150" dirty="0"/>
          </a:p>
        </p:txBody>
      </p:sp>
      <p:sp>
        <p:nvSpPr>
          <p:cNvPr id="17" name="Text 15"/>
          <p:cNvSpPr/>
          <p:nvPr/>
        </p:nvSpPr>
        <p:spPr>
          <a:xfrm>
            <a:off x="7680960" y="1618488"/>
            <a:ext cx="950976" cy="402336"/>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+4,80</a:t>
            </a:r>
            <a:endParaRPr lang="en-US" sz="1150" dirty="0"/>
          </a:p>
        </p:txBody>
      </p:sp>
      <p:sp>
        <p:nvSpPr>
          <p:cNvPr id="18" name="Shape 16"/>
          <p:cNvSpPr/>
          <p:nvPr/>
        </p:nvSpPr>
        <p:spPr>
          <a:xfrm>
            <a:off x="502920" y="2020824"/>
            <a:ext cx="8129016" cy="0"/>
          </a:xfrm>
          <a:prstGeom prst="line">
            <a:avLst/>
          </a:prstGeom>
          <a:noFill/>
          <a:ln w="12700">
            <a:solidFill>
              <a:srgbClr val="9A94AE"/>
            </a:solidFill>
            <a:prstDash val="solid"/>
          </a:ln>
        </p:spPr>
      </p:sp>
      <p:sp>
        <p:nvSpPr>
          <p:cNvPr id="19" name="Text 17"/>
          <p:cNvSpPr/>
          <p:nvPr/>
        </p:nvSpPr>
        <p:spPr>
          <a:xfrm>
            <a:off x="502920" y="2020824"/>
            <a:ext cx="3154680" cy="402336"/>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mô hình khác nhìn sai</a:t>
            </a:r>
            <a:endParaRPr lang="en-US" sz="1150" dirty="0"/>
          </a:p>
        </p:txBody>
      </p:sp>
      <p:sp>
        <p:nvSpPr>
          <p:cNvPr id="20" name="Text 18"/>
          <p:cNvSpPr/>
          <p:nvPr/>
        </p:nvSpPr>
        <p:spPr>
          <a:xfrm>
            <a:off x="3657600" y="2020824"/>
            <a:ext cx="86868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1.256</a:t>
            </a:r>
            <a:endParaRPr lang="en-US" sz="1150" dirty="0"/>
          </a:p>
        </p:txBody>
      </p:sp>
      <p:sp>
        <p:nvSpPr>
          <p:cNvPr id="21" name="Text 19"/>
          <p:cNvSpPr/>
          <p:nvPr/>
        </p:nvSpPr>
        <p:spPr>
          <a:xfrm>
            <a:off x="4526280" y="2020824"/>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11,94</a:t>
            </a:r>
            <a:endParaRPr lang="en-US" sz="1150" dirty="0"/>
          </a:p>
        </p:txBody>
      </p:sp>
      <p:sp>
        <p:nvSpPr>
          <p:cNvPr id="22" name="Text 20"/>
          <p:cNvSpPr/>
          <p:nvPr/>
        </p:nvSpPr>
        <p:spPr>
          <a:xfrm>
            <a:off x="5577840" y="2020824"/>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22,13</a:t>
            </a:r>
            <a:endParaRPr lang="en-US" sz="1150" dirty="0"/>
          </a:p>
        </p:txBody>
      </p:sp>
      <p:sp>
        <p:nvSpPr>
          <p:cNvPr id="23" name="Text 21"/>
          <p:cNvSpPr/>
          <p:nvPr/>
        </p:nvSpPr>
        <p:spPr>
          <a:xfrm>
            <a:off x="6629400" y="2020824"/>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54,70</a:t>
            </a:r>
            <a:endParaRPr lang="en-US" sz="1150" dirty="0"/>
          </a:p>
        </p:txBody>
      </p:sp>
      <p:sp>
        <p:nvSpPr>
          <p:cNvPr id="24" name="Text 22"/>
          <p:cNvSpPr/>
          <p:nvPr/>
        </p:nvSpPr>
        <p:spPr>
          <a:xfrm>
            <a:off x="7680960" y="2020824"/>
            <a:ext cx="950976" cy="402336"/>
          </a:xfrm>
          <a:prstGeom prst="rect">
            <a:avLst/>
          </a:prstGeom>
          <a:noFill/>
          <a:ln/>
        </p:spPr>
        <p:txBody>
          <a:bodyPr wrap="square" lIns="38100" tIns="38100" rIns="38100" bIns="38100" rtlCol="0" anchor="ctr"/>
          <a:lstStyle/>
          <a:p>
            <a:pPr algn="ctr" indent="0" marL="0">
              <a:buNone/>
            </a:pPr>
            <a:r>
              <a:rPr lang="en-US" sz="1150" b="1" dirty="0">
                <a:solidFill>
                  <a:srgbClr val="1A1A1A"/>
                </a:solidFill>
                <a:latin typeface="Cambria" pitchFamily="34" charset="0"/>
                <a:ea typeface="Cambria" pitchFamily="34" charset="-122"/>
                <a:cs typeface="Cambria" pitchFamily="34" charset="-120"/>
              </a:rPr>
              <a:t>+2,88</a:t>
            </a:r>
            <a:endParaRPr lang="en-US" sz="1150" dirty="0"/>
          </a:p>
        </p:txBody>
      </p:sp>
      <p:sp>
        <p:nvSpPr>
          <p:cNvPr id="25" name="Shape 23"/>
          <p:cNvSpPr/>
          <p:nvPr/>
        </p:nvSpPr>
        <p:spPr>
          <a:xfrm>
            <a:off x="502920" y="2423160"/>
            <a:ext cx="8129016" cy="0"/>
          </a:xfrm>
          <a:prstGeom prst="line">
            <a:avLst/>
          </a:prstGeom>
          <a:noFill/>
          <a:ln w="12700">
            <a:solidFill>
              <a:srgbClr val="9A94AE"/>
            </a:solidFill>
            <a:prstDash val="solid"/>
          </a:ln>
        </p:spPr>
      </p:sp>
      <p:sp>
        <p:nvSpPr>
          <p:cNvPr id="26" name="Text 24"/>
          <p:cNvSpPr/>
          <p:nvPr/>
        </p:nvSpPr>
        <p:spPr>
          <a:xfrm>
            <a:off x="502920" y="2423160"/>
            <a:ext cx="3154680" cy="402336"/>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bỏ hẳn việc chọn theo lỗi của nó</a:t>
            </a:r>
            <a:endParaRPr lang="en-US" sz="1150" dirty="0"/>
          </a:p>
        </p:txBody>
      </p:sp>
      <p:sp>
        <p:nvSpPr>
          <p:cNvPr id="27" name="Text 25"/>
          <p:cNvSpPr/>
          <p:nvPr/>
        </p:nvSpPr>
        <p:spPr>
          <a:xfrm>
            <a:off x="3657600" y="2423160"/>
            <a:ext cx="86868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113</a:t>
            </a:r>
            <a:endParaRPr lang="en-US" sz="1150" dirty="0"/>
          </a:p>
        </p:txBody>
      </p:sp>
      <p:sp>
        <p:nvSpPr>
          <p:cNvPr id="28" name="Text 26"/>
          <p:cNvSpPr/>
          <p:nvPr/>
        </p:nvSpPr>
        <p:spPr>
          <a:xfrm>
            <a:off x="4526280" y="2423160"/>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62,83</a:t>
            </a:r>
            <a:endParaRPr lang="en-US" sz="1150" dirty="0"/>
          </a:p>
        </p:txBody>
      </p:sp>
      <p:sp>
        <p:nvSpPr>
          <p:cNvPr id="29" name="Text 27"/>
          <p:cNvSpPr/>
          <p:nvPr/>
        </p:nvSpPr>
        <p:spPr>
          <a:xfrm>
            <a:off x="5577840" y="2423160"/>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34,51</a:t>
            </a:r>
            <a:endParaRPr lang="en-US" sz="1150" dirty="0"/>
          </a:p>
        </p:txBody>
      </p:sp>
      <p:sp>
        <p:nvSpPr>
          <p:cNvPr id="30" name="Text 28"/>
          <p:cNvSpPr/>
          <p:nvPr/>
        </p:nvSpPr>
        <p:spPr>
          <a:xfrm>
            <a:off x="6629400" y="2423160"/>
            <a:ext cx="1051560" cy="402336"/>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60,18</a:t>
            </a:r>
            <a:endParaRPr lang="en-US" sz="1150" dirty="0"/>
          </a:p>
        </p:txBody>
      </p:sp>
      <p:sp>
        <p:nvSpPr>
          <p:cNvPr id="31" name="Text 29"/>
          <p:cNvSpPr/>
          <p:nvPr/>
        </p:nvSpPr>
        <p:spPr>
          <a:xfrm>
            <a:off x="7680960" y="2423160"/>
            <a:ext cx="950976" cy="402336"/>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−0,72</a:t>
            </a:r>
            <a:endParaRPr lang="en-US" sz="1150" dirty="0"/>
          </a:p>
        </p:txBody>
      </p:sp>
      <p:sp>
        <p:nvSpPr>
          <p:cNvPr id="32" name="Shape 30"/>
          <p:cNvSpPr/>
          <p:nvPr/>
        </p:nvSpPr>
        <p:spPr>
          <a:xfrm>
            <a:off x="502920" y="2825496"/>
            <a:ext cx="8129016" cy="0"/>
          </a:xfrm>
          <a:prstGeom prst="line">
            <a:avLst/>
          </a:prstGeom>
          <a:noFill/>
          <a:ln w="12700">
            <a:solidFill>
              <a:srgbClr val="9A94AE"/>
            </a:solidFill>
            <a:prstDash val="solid"/>
          </a:ln>
        </p:spPr>
      </p:sp>
      <p:sp>
        <p:nvSpPr>
          <p:cNvPr id="33" name="Text 31"/>
          <p:cNvSpPr/>
          <p:nvPr/>
        </p:nvSpPr>
        <p:spPr>
          <a:xfrm>
            <a:off x="502920" y="2825496"/>
            <a:ext cx="3154680" cy="420624"/>
          </a:xfrm>
          <a:prstGeom prst="rect">
            <a:avLst/>
          </a:prstGeom>
          <a:noFill/>
          <a:ln/>
        </p:spPr>
        <p:txBody>
          <a:bodyPr wrap="square" lIns="38100" tIns="38100" rIns="38100" bIns="38100" rtlCol="0" anchor="ctr"/>
          <a:lstStyle/>
          <a:p>
            <a:pPr algn="l" indent="0" marL="0">
              <a:buNone/>
            </a:pPr>
            <a:r>
              <a:rPr lang="en-US" sz="1150" b="1" dirty="0">
                <a:solidFill>
                  <a:srgbClr val="1A1A1A"/>
                </a:solidFill>
                <a:latin typeface="Cambria" pitchFamily="34" charset="0"/>
                <a:ea typeface="Cambria" pitchFamily="34" charset="-122"/>
                <a:cs typeface="Cambria" pitchFamily="34" charset="-120"/>
              </a:rPr>
              <a:t>độ khó đọc từ màn hình</a:t>
            </a:r>
            <a:endParaRPr lang="en-US" sz="1150" dirty="0"/>
          </a:p>
        </p:txBody>
      </p:sp>
      <p:sp>
        <p:nvSpPr>
          <p:cNvPr id="34" name="Text 32"/>
          <p:cNvSpPr/>
          <p:nvPr/>
        </p:nvSpPr>
        <p:spPr>
          <a:xfrm>
            <a:off x="3657600" y="2825496"/>
            <a:ext cx="86868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1.331</a:t>
            </a:r>
            <a:endParaRPr lang="en-US" sz="1150" dirty="0"/>
          </a:p>
        </p:txBody>
      </p:sp>
      <p:sp>
        <p:nvSpPr>
          <p:cNvPr id="35" name="Text 33"/>
          <p:cNvSpPr/>
          <p:nvPr/>
        </p:nvSpPr>
        <p:spPr>
          <a:xfrm>
            <a:off x="4526280" y="2825496"/>
            <a:ext cx="105156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58,53</a:t>
            </a:r>
            <a:endParaRPr lang="en-US" sz="1150" dirty="0"/>
          </a:p>
        </p:txBody>
      </p:sp>
      <p:sp>
        <p:nvSpPr>
          <p:cNvPr id="36" name="Text 34"/>
          <p:cNvSpPr/>
          <p:nvPr/>
        </p:nvSpPr>
        <p:spPr>
          <a:xfrm>
            <a:off x="5577840" y="2825496"/>
            <a:ext cx="105156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56,35</a:t>
            </a:r>
            <a:endParaRPr lang="en-US" sz="1150" dirty="0"/>
          </a:p>
        </p:txBody>
      </p:sp>
      <p:sp>
        <p:nvSpPr>
          <p:cNvPr id="37" name="Text 35"/>
          <p:cNvSpPr/>
          <p:nvPr/>
        </p:nvSpPr>
        <p:spPr>
          <a:xfrm>
            <a:off x="6629400" y="2825496"/>
            <a:ext cx="1051560" cy="420624"/>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73,55</a:t>
            </a:r>
            <a:endParaRPr lang="en-US" sz="1150" dirty="0"/>
          </a:p>
        </p:txBody>
      </p:sp>
      <p:sp>
        <p:nvSpPr>
          <p:cNvPr id="38" name="Text 36"/>
          <p:cNvSpPr/>
          <p:nvPr/>
        </p:nvSpPr>
        <p:spPr>
          <a:xfrm>
            <a:off x="7680960" y="2825496"/>
            <a:ext cx="950976" cy="420624"/>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−0,65</a:t>
            </a:r>
            <a:endParaRPr lang="en-US" sz="1150" dirty="0"/>
          </a:p>
        </p:txBody>
      </p:sp>
      <p:sp>
        <p:nvSpPr>
          <p:cNvPr id="39" name="Text 37"/>
          <p:cNvSpPr/>
          <p:nvPr/>
        </p:nvSpPr>
        <p:spPr>
          <a:xfrm>
            <a:off x="640080" y="3429000"/>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40" name="Text 38"/>
          <p:cNvSpPr/>
          <p:nvPr/>
        </p:nvSpPr>
        <p:spPr>
          <a:xfrm>
            <a:off x="868680" y="3429000"/>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Cột trần đi từ +4,80 xuống −0,65, trong khi cột câu chuẩn gần như đứng yên</a:t>
            </a:r>
            <a:endParaRPr lang="en-US" sz="1300" dirty="0"/>
          </a:p>
        </p:txBody>
      </p:sp>
      <p:sp>
        <p:nvSpPr>
          <p:cNvPr id="41" name="Text 39"/>
          <p:cNvSpPr/>
          <p:nvPr/>
        </p:nvSpPr>
        <p:spPr>
          <a:xfrm>
            <a:off x="640080" y="3995928"/>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42" name="Text 40"/>
          <p:cNvSpPr/>
          <p:nvPr/>
        </p:nvSpPr>
        <p:spPr>
          <a:xfrm>
            <a:off x="868680" y="3995928"/>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Đại lượng trôi theo cách chia nhóm là ưu thế giữa hai mô hình cùng họ, không phải dư địa thật</a:t>
            </a:r>
            <a:endParaRPr lang="en-US" sz="1300" dirty="0"/>
          </a:p>
        </p:txBody>
      </p:sp>
      <p:sp>
        <p:nvSpPr>
          <p:cNvPr id="43" name="Text 41"/>
          <p:cNvSpPr/>
          <p:nvPr/>
        </p:nvSpPr>
        <p:spPr>
          <a:xfrm>
            <a:off x="640080" y="4562856"/>
            <a:ext cx="201168" cy="566928"/>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44" name="Text 42"/>
          <p:cNvSpPr/>
          <p:nvPr/>
        </p:nvSpPr>
        <p:spPr>
          <a:xfrm>
            <a:off x="868680" y="4562856"/>
            <a:ext cx="7635240" cy="530352"/>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Luận văn áp phép kiểm này cho cả những con số thuận lợi của chính mình</a:t>
            </a:r>
            <a:endParaRPr lang="en-US" sz="1300" dirty="0"/>
          </a:p>
        </p:txBody>
      </p:sp>
      <p:sp>
        <p:nvSpPr>
          <p:cNvPr id="45" name="Shape 43"/>
          <p:cNvSpPr/>
          <p:nvPr/>
        </p:nvSpPr>
        <p:spPr>
          <a:xfrm>
            <a:off x="502920" y="5212080"/>
            <a:ext cx="8138160" cy="640080"/>
          </a:xfrm>
          <a:prstGeom prst="roundRect">
            <a:avLst>
              <a:gd name="adj" fmla="val 8571"/>
            </a:avLst>
          </a:prstGeom>
          <a:solidFill>
            <a:srgbClr val="E9E8EC"/>
          </a:solidFill>
          <a:ln/>
          <a:effectLst>
            <a:outerShdw sx="100000" sy="100000" kx="0" ky="0" algn="bl" rotWithShape="0" blurRad="63500" dist="31750" dir="2700000">
              <a:srgbClr val="8C8C99">
                <a:alpha val="45000"/>
              </a:srgbClr>
            </a:outerShdw>
          </a:effectLst>
        </p:spPr>
      </p:sp>
      <p:sp>
        <p:nvSpPr>
          <p:cNvPr id="46" name="Text 44"/>
          <p:cNvSpPr/>
          <p:nvPr/>
        </p:nvSpPr>
        <p:spPr>
          <a:xfrm>
            <a:off x="731520" y="5212080"/>
            <a:ext cx="7680960" cy="64008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Phép kiểm này đã ngăn một lượt huấn luyện được đề xuất trên căn cứ 4,80 điểm.</a:t>
            </a:r>
            <a:endParaRPr lang="en-US" sz="1250" dirty="0"/>
          </a:p>
        </p:txBody>
      </p:sp>
      <p:sp>
        <p:nvSpPr>
          <p:cNvPr id="47" name="Shape 45"/>
          <p:cNvSpPr/>
          <p:nvPr/>
        </p:nvSpPr>
        <p:spPr>
          <a:xfrm>
            <a:off x="0" y="6620256"/>
            <a:ext cx="2743200" cy="237744"/>
          </a:xfrm>
          <a:prstGeom prst="rect">
            <a:avLst/>
          </a:prstGeom>
          <a:solidFill>
            <a:srgbClr val="191132"/>
          </a:solidFill>
          <a:ln/>
        </p:spPr>
      </p:sp>
      <p:sp>
        <p:nvSpPr>
          <p:cNvPr id="48" name="Shape 46"/>
          <p:cNvSpPr/>
          <p:nvPr/>
        </p:nvSpPr>
        <p:spPr>
          <a:xfrm>
            <a:off x="2743200" y="6620256"/>
            <a:ext cx="3383280" cy="237744"/>
          </a:xfrm>
          <a:prstGeom prst="rect">
            <a:avLst/>
          </a:prstGeom>
          <a:solidFill>
            <a:srgbClr val="25194B"/>
          </a:solidFill>
          <a:ln/>
        </p:spPr>
      </p:sp>
      <p:sp>
        <p:nvSpPr>
          <p:cNvPr id="49" name="Shape 47"/>
          <p:cNvSpPr/>
          <p:nvPr/>
        </p:nvSpPr>
        <p:spPr>
          <a:xfrm>
            <a:off x="6126480" y="6620256"/>
            <a:ext cx="1737360" cy="237744"/>
          </a:xfrm>
          <a:prstGeom prst="rect">
            <a:avLst/>
          </a:prstGeom>
          <a:solidFill>
            <a:srgbClr val="4F417A"/>
          </a:solidFill>
          <a:ln/>
        </p:spPr>
      </p:sp>
      <p:sp>
        <p:nvSpPr>
          <p:cNvPr id="50" name="Shape 48"/>
          <p:cNvSpPr/>
          <p:nvPr/>
        </p:nvSpPr>
        <p:spPr>
          <a:xfrm>
            <a:off x="7863840" y="6620256"/>
            <a:ext cx="1280160" cy="237744"/>
          </a:xfrm>
          <a:prstGeom prst="rect">
            <a:avLst/>
          </a:prstGeom>
          <a:solidFill>
            <a:srgbClr val="7A7099"/>
          </a:solidFill>
          <a:ln/>
        </p:spPr>
      </p:sp>
      <p:sp>
        <p:nvSpPr>
          <p:cNvPr id="51" name="Text 4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2" name="Text 5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3" name="Text 5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4" name="Text 5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14</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 Đổi luật chấm thì kết luận thống kê cũng đổi</a:t>
            </a:r>
            <a:endParaRPr lang="en-US" sz="1900" dirty="0"/>
          </a:p>
        </p:txBody>
      </p:sp>
      <p:sp>
        <p:nvSpPr>
          <p:cNvPr id="4" name="Text 2"/>
          <p:cNvSpPr/>
          <p:nvPr/>
        </p:nvSpPr>
        <p:spPr>
          <a:xfrm>
            <a:off x="502920" y="822960"/>
            <a:ext cx="8138160" cy="292608"/>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Chặng ba so với nhánh chỉ sinh câu, trên đủ 4.463 bước, ba luật cùng đòi đúng loại thao tác</a:t>
            </a:r>
            <a:endParaRPr lang="en-US" sz="1200" dirty="0"/>
          </a:p>
        </p:txBody>
      </p:sp>
      <p:sp>
        <p:nvSpPr>
          <p:cNvPr id="5" name="Shape 3"/>
          <p:cNvSpPr/>
          <p:nvPr/>
        </p:nvSpPr>
        <p:spPr>
          <a:xfrm>
            <a:off x="502920" y="1234440"/>
            <a:ext cx="8129016" cy="411480"/>
          </a:xfrm>
          <a:prstGeom prst="rect">
            <a:avLst/>
          </a:prstGeom>
          <a:solidFill>
            <a:srgbClr val="322164"/>
          </a:solidFill>
          <a:ln/>
        </p:spPr>
      </p:sp>
      <p:sp>
        <p:nvSpPr>
          <p:cNvPr id="6" name="Text 4"/>
          <p:cNvSpPr/>
          <p:nvPr/>
        </p:nvSpPr>
        <p:spPr>
          <a:xfrm>
            <a:off x="502920" y="1234440"/>
            <a:ext cx="3291840" cy="41148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Luật chấm</a:t>
            </a:r>
            <a:endParaRPr lang="en-US" sz="1200" dirty="0"/>
          </a:p>
        </p:txBody>
      </p:sp>
      <p:sp>
        <p:nvSpPr>
          <p:cNvPr id="7" name="Text 5"/>
          <p:cNvSpPr/>
          <p:nvPr/>
        </p:nvSpPr>
        <p:spPr>
          <a:xfrm>
            <a:off x="3794760" y="1234440"/>
            <a:ext cx="128016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8" name="Text 6"/>
          <p:cNvSpPr/>
          <p:nvPr/>
        </p:nvSpPr>
        <p:spPr>
          <a:xfrm>
            <a:off x="5074920" y="1234440"/>
            <a:ext cx="1371600"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t>
            </a:r>
            <a:endParaRPr lang="en-US" sz="1200" dirty="0"/>
          </a:p>
        </p:txBody>
      </p:sp>
      <p:sp>
        <p:nvSpPr>
          <p:cNvPr id="9" name="Text 7"/>
          <p:cNvSpPr/>
          <p:nvPr/>
        </p:nvSpPr>
        <p:spPr>
          <a:xfrm>
            <a:off x="6446520" y="1234440"/>
            <a:ext cx="2185416" cy="41148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Sau hiệu chỉnh Holm</a:t>
            </a:r>
            <a:endParaRPr lang="en-US" sz="1200" dirty="0"/>
          </a:p>
        </p:txBody>
      </p:sp>
      <p:sp>
        <p:nvSpPr>
          <p:cNvPr id="10" name="Text 8"/>
          <p:cNvSpPr/>
          <p:nvPr/>
        </p:nvSpPr>
        <p:spPr>
          <a:xfrm>
            <a:off x="502920" y="1645920"/>
            <a:ext cx="3291840" cy="457200"/>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±14% từng trục</a:t>
            </a:r>
            <a:endParaRPr lang="en-US" sz="1300" dirty="0"/>
          </a:p>
        </p:txBody>
      </p:sp>
      <p:sp>
        <p:nvSpPr>
          <p:cNvPr id="11" name="Text 9"/>
          <p:cNvSpPr/>
          <p:nvPr/>
        </p:nvSpPr>
        <p:spPr>
          <a:xfrm>
            <a:off x="3794760" y="1645920"/>
            <a:ext cx="1280160" cy="45720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+2,13</a:t>
            </a:r>
            <a:endParaRPr lang="en-US" sz="1300" dirty="0"/>
          </a:p>
        </p:txBody>
      </p:sp>
      <p:sp>
        <p:nvSpPr>
          <p:cNvPr id="12" name="Text 10"/>
          <p:cNvSpPr/>
          <p:nvPr/>
        </p:nvSpPr>
        <p:spPr>
          <a:xfrm>
            <a:off x="5074920" y="1645920"/>
            <a:ext cx="1371600" cy="45720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0,0003</a:t>
            </a:r>
            <a:endParaRPr lang="en-US" sz="1300" dirty="0"/>
          </a:p>
        </p:txBody>
      </p:sp>
      <p:sp>
        <p:nvSpPr>
          <p:cNvPr id="13" name="Text 11"/>
          <p:cNvSpPr/>
          <p:nvPr/>
        </p:nvSpPr>
        <p:spPr>
          <a:xfrm>
            <a:off x="6446520" y="1645920"/>
            <a:ext cx="2185416" cy="457200"/>
          </a:xfrm>
          <a:prstGeom prst="rect">
            <a:avLst/>
          </a:prstGeom>
          <a:noFill/>
          <a:ln/>
        </p:spPr>
        <p:txBody>
          <a:bodyPr wrap="square" lIns="38100" tIns="38100" rIns="38100" bIns="38100" rtlCol="0" anchor="ctr"/>
          <a:lstStyle/>
          <a:p>
            <a:pPr algn="ctr" indent="0" marL="0">
              <a:buNone/>
            </a:pPr>
            <a:r>
              <a:rPr lang="en-US" sz="1300" dirty="0">
                <a:solidFill>
                  <a:srgbClr val="006666"/>
                </a:solidFill>
                <a:latin typeface="Cambria" pitchFamily="34" charset="0"/>
                <a:ea typeface="Cambria" pitchFamily="34" charset="-122"/>
                <a:cs typeface="Cambria" pitchFamily="34" charset="-120"/>
              </a:rPr>
              <a:t>giữ ý nghĩa</a:t>
            </a:r>
            <a:endParaRPr lang="en-US" sz="1300" dirty="0"/>
          </a:p>
        </p:txBody>
      </p:sp>
      <p:sp>
        <p:nvSpPr>
          <p:cNvPr id="14" name="Shape 12"/>
          <p:cNvSpPr/>
          <p:nvPr/>
        </p:nvSpPr>
        <p:spPr>
          <a:xfrm>
            <a:off x="502920" y="2103120"/>
            <a:ext cx="8129016" cy="0"/>
          </a:xfrm>
          <a:prstGeom prst="line">
            <a:avLst/>
          </a:prstGeom>
          <a:noFill/>
          <a:ln w="12700">
            <a:solidFill>
              <a:srgbClr val="9A94AE"/>
            </a:solidFill>
            <a:prstDash val="solid"/>
          </a:ln>
        </p:spPr>
      </p:sp>
      <p:sp>
        <p:nvSpPr>
          <p:cNvPr id="15" name="Text 13"/>
          <p:cNvSpPr/>
          <p:nvPr/>
        </p:nvSpPr>
        <p:spPr>
          <a:xfrm>
            <a:off x="502920" y="2103120"/>
            <a:ext cx="3291840" cy="457200"/>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AitW Euclid</a:t>
            </a:r>
            <a:endParaRPr lang="en-US" sz="1300" dirty="0"/>
          </a:p>
        </p:txBody>
      </p:sp>
      <p:sp>
        <p:nvSpPr>
          <p:cNvPr id="16" name="Text 14"/>
          <p:cNvSpPr/>
          <p:nvPr/>
        </p:nvSpPr>
        <p:spPr>
          <a:xfrm>
            <a:off x="3794760" y="2103120"/>
            <a:ext cx="1280160" cy="45720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+1,99</a:t>
            </a:r>
            <a:endParaRPr lang="en-US" sz="1300" dirty="0"/>
          </a:p>
        </p:txBody>
      </p:sp>
      <p:sp>
        <p:nvSpPr>
          <p:cNvPr id="17" name="Text 15"/>
          <p:cNvSpPr/>
          <p:nvPr/>
        </p:nvSpPr>
        <p:spPr>
          <a:xfrm>
            <a:off x="5074920" y="2103120"/>
            <a:ext cx="1371600" cy="45720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0,0010</a:t>
            </a:r>
            <a:endParaRPr lang="en-US" sz="1300" dirty="0"/>
          </a:p>
        </p:txBody>
      </p:sp>
      <p:sp>
        <p:nvSpPr>
          <p:cNvPr id="18" name="Text 16"/>
          <p:cNvSpPr/>
          <p:nvPr/>
        </p:nvSpPr>
        <p:spPr>
          <a:xfrm>
            <a:off x="6446520" y="2103120"/>
            <a:ext cx="2185416" cy="457200"/>
          </a:xfrm>
          <a:prstGeom prst="rect">
            <a:avLst/>
          </a:prstGeom>
          <a:noFill/>
          <a:ln/>
        </p:spPr>
        <p:txBody>
          <a:bodyPr wrap="square" lIns="38100" tIns="38100" rIns="38100" bIns="38100" rtlCol="0" anchor="ctr"/>
          <a:lstStyle/>
          <a:p>
            <a:pPr algn="ctr" indent="0" marL="0">
              <a:buNone/>
            </a:pPr>
            <a:r>
              <a:rPr lang="en-US" sz="1300" dirty="0">
                <a:solidFill>
                  <a:srgbClr val="006666"/>
                </a:solidFill>
                <a:latin typeface="Cambria" pitchFamily="34" charset="0"/>
                <a:ea typeface="Cambria" pitchFamily="34" charset="-122"/>
                <a:cs typeface="Cambria" pitchFamily="34" charset="-120"/>
              </a:rPr>
              <a:t>giữ ý nghĩa</a:t>
            </a:r>
            <a:endParaRPr lang="en-US" sz="1300" dirty="0"/>
          </a:p>
        </p:txBody>
      </p:sp>
      <p:sp>
        <p:nvSpPr>
          <p:cNvPr id="19" name="Shape 17"/>
          <p:cNvSpPr/>
          <p:nvPr/>
        </p:nvSpPr>
        <p:spPr>
          <a:xfrm>
            <a:off x="502920" y="2560320"/>
            <a:ext cx="8129016" cy="0"/>
          </a:xfrm>
          <a:prstGeom prst="line">
            <a:avLst/>
          </a:prstGeom>
          <a:noFill/>
          <a:ln w="12700">
            <a:solidFill>
              <a:srgbClr val="9A94AE"/>
            </a:solidFill>
            <a:prstDash val="solid"/>
          </a:ln>
        </p:spPr>
      </p:sp>
      <p:sp>
        <p:nvSpPr>
          <p:cNvPr id="20" name="Text 18"/>
          <p:cNvSpPr/>
          <p:nvPr/>
        </p:nvSpPr>
        <p:spPr>
          <a:xfrm>
            <a:off x="502920" y="2560320"/>
            <a:ext cx="3291840" cy="493776"/>
          </a:xfrm>
          <a:prstGeom prst="rect">
            <a:avLst/>
          </a:prstGeom>
          <a:noFill/>
          <a:ln/>
        </p:spPr>
        <p:txBody>
          <a:bodyPr wrap="square" lIns="38100" tIns="38100" rIns="38100" bIns="38100" rtlCol="0" anchor="ctr"/>
          <a:lstStyle/>
          <a:p>
            <a:pPr algn="l" indent="0" marL="0">
              <a:buNone/>
            </a:pPr>
            <a:r>
              <a:rPr lang="en-US" sz="1300" b="1" dirty="0">
                <a:solidFill>
                  <a:srgbClr val="1A1A1A"/>
                </a:solidFill>
                <a:latin typeface="Cambria" pitchFamily="34" charset="0"/>
                <a:ea typeface="Cambria" pitchFamily="34" charset="-122"/>
                <a:cs typeface="Cambria" pitchFamily="34" charset="-120"/>
              </a:rPr>
              <a:t>Voronoi (thước tiêu đề)</a:t>
            </a:r>
            <a:endParaRPr lang="en-US" sz="1300" dirty="0"/>
          </a:p>
        </p:txBody>
      </p:sp>
      <p:sp>
        <p:nvSpPr>
          <p:cNvPr id="21" name="Text 19"/>
          <p:cNvSpPr/>
          <p:nvPr/>
        </p:nvSpPr>
        <p:spPr>
          <a:xfrm>
            <a:off x="3794760" y="2560320"/>
            <a:ext cx="1280160" cy="493776"/>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+0,96</a:t>
            </a:r>
            <a:endParaRPr lang="en-US" sz="1300" dirty="0"/>
          </a:p>
        </p:txBody>
      </p:sp>
      <p:sp>
        <p:nvSpPr>
          <p:cNvPr id="22" name="Text 20"/>
          <p:cNvSpPr/>
          <p:nvPr/>
        </p:nvSpPr>
        <p:spPr>
          <a:xfrm>
            <a:off x="5074920" y="2560320"/>
            <a:ext cx="1371600" cy="493776"/>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0,0860</a:t>
            </a:r>
            <a:endParaRPr lang="en-US" sz="1300" dirty="0"/>
          </a:p>
        </p:txBody>
      </p:sp>
      <p:sp>
        <p:nvSpPr>
          <p:cNvPr id="23" name="Text 21"/>
          <p:cNvSpPr/>
          <p:nvPr/>
        </p:nvSpPr>
        <p:spPr>
          <a:xfrm>
            <a:off x="6446520" y="2560320"/>
            <a:ext cx="2185416" cy="493776"/>
          </a:xfrm>
          <a:prstGeom prst="rect">
            <a:avLst/>
          </a:prstGeom>
          <a:noFill/>
          <a:ln/>
        </p:spPr>
        <p:txBody>
          <a:bodyPr wrap="square" lIns="38100" tIns="38100" rIns="38100" bIns="38100" rtlCol="0" anchor="ctr"/>
          <a:lstStyle/>
          <a:p>
            <a:pPr algn="ctr" indent="0" marL="0">
              <a:buNone/>
            </a:pPr>
            <a:r>
              <a:rPr lang="en-US" sz="1300" b="1" dirty="0">
                <a:solidFill>
                  <a:srgbClr val="B22222"/>
                </a:solidFill>
                <a:latin typeface="Cambria" pitchFamily="34" charset="0"/>
                <a:ea typeface="Cambria" pitchFamily="34" charset="-122"/>
                <a:cs typeface="Cambria" pitchFamily="34" charset="-120"/>
              </a:rPr>
              <a:t>MẤT ý nghĩa</a:t>
            </a:r>
            <a:endParaRPr lang="en-US" sz="1300" dirty="0"/>
          </a:p>
        </p:txBody>
      </p:sp>
      <p:sp>
        <p:nvSpPr>
          <p:cNvPr id="24" name="Text 22"/>
          <p:cNvSpPr/>
          <p:nvPr/>
        </p:nvSpPr>
        <p:spPr>
          <a:xfrm>
            <a:off x="640080" y="3246120"/>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5" name="Text 23"/>
          <p:cNvSpPr/>
          <p:nvPr/>
        </p:nvSpPr>
        <p:spPr>
          <a:xfrm>
            <a:off x="868680" y="3246120"/>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Đổi sang luật dung sai đơn thuần biến một phép so không có ý nghĩa thành có ý nghĩa</a:t>
            </a:r>
            <a:endParaRPr lang="en-US" sz="1300" dirty="0"/>
          </a:p>
        </p:txBody>
      </p:sp>
      <p:sp>
        <p:nvSpPr>
          <p:cNvPr id="26" name="Text 24"/>
          <p:cNvSpPr/>
          <p:nvPr/>
        </p:nvSpPr>
        <p:spPr>
          <a:xfrm>
            <a:off x="640080" y="3849624"/>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7" name="Text 25"/>
          <p:cNvSpPr/>
          <p:nvPr/>
        </p:nvSpPr>
        <p:spPr>
          <a:xfrm>
            <a:off x="868680" y="3849624"/>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Cùng lúc đó nó kéo mức chênh từ 0,96 lên 2,13 điểm</a:t>
            </a:r>
            <a:endParaRPr lang="en-US" sz="1300" dirty="0"/>
          </a:p>
        </p:txBody>
      </p:sp>
      <p:sp>
        <p:nvSpPr>
          <p:cNvPr id="28" name="Text 26"/>
          <p:cNvSpPr/>
          <p:nvPr/>
        </p:nvSpPr>
        <p:spPr>
          <a:xfrm>
            <a:off x="640080" y="4453128"/>
            <a:ext cx="201168" cy="603504"/>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a:t>
            </a:r>
            <a:endParaRPr lang="en-US" sz="1300" dirty="0"/>
          </a:p>
        </p:txBody>
      </p:sp>
      <p:sp>
        <p:nvSpPr>
          <p:cNvPr id="29" name="Text 27"/>
          <p:cNvSpPr/>
          <p:nvPr/>
        </p:nvSpPr>
        <p:spPr>
          <a:xfrm>
            <a:off x="868680" y="4453128"/>
            <a:ext cx="7635240" cy="566928"/>
          </a:xfrm>
          <a:prstGeom prst="rect">
            <a:avLst/>
          </a:prstGeom>
          <a:noFill/>
          <a:ln/>
        </p:spPr>
        <p:txBody>
          <a:bodyPr wrap="square" lIns="0" tIns="0" rIns="0" bIns="0" rtlCol="0" anchor="t"/>
          <a:lstStyle/>
          <a:p>
            <a:pPr algn="l" indent="0" marL="0">
              <a:lnSpc>
                <a:spcPct val="125000"/>
              </a:lnSpc>
              <a:buNone/>
            </a:pPr>
            <a:r>
              <a:rPr lang="en-US" sz="1300" dirty="0">
                <a:solidFill>
                  <a:srgbClr val="1A1A1A"/>
                </a:solidFill>
                <a:latin typeface="Cambria" pitchFamily="34" charset="0"/>
                <a:ea typeface="Cambria" pitchFamily="34" charset="-122"/>
                <a:cs typeface="Cambria" pitchFamily="34" charset="-120"/>
              </a:rPr>
              <a:t>Câu rỗng nghĩa đạt 12,00 dưới thước tiêu đề nhưng 20,50 dưới luật lỏng </a:t>
            </a:r>
            <a:pPr algn="l" indent="0" marL="0">
              <a:lnSpc>
                <a:spcPct val="125000"/>
              </a:lnSpc>
              <a:buNone/>
            </a:pPr>
            <a:r>
              <a:rPr lang="en-US" sz="1300" b="1" dirty="0">
                <a:solidFill>
                  <a:srgbClr val="990000"/>
                </a:solidFill>
                <a:latin typeface="Cambria" pitchFamily="34" charset="0"/>
                <a:ea typeface="Cambria" pitchFamily="34" charset="-122"/>
                <a:cs typeface="Cambria" pitchFamily="34" charset="-120"/>
              </a:rPr>
              <a:t>⇒ 86% mức tăng là thứ câu vô nghĩa cũng lấy được</a:t>
            </a:r>
            <a:endParaRPr lang="en-US" sz="1300" dirty="0"/>
          </a:p>
        </p:txBody>
      </p:sp>
      <p:sp>
        <p:nvSpPr>
          <p:cNvPr id="30" name="Shape 28"/>
          <p:cNvSpPr/>
          <p:nvPr/>
        </p:nvSpPr>
        <p:spPr>
          <a:xfrm>
            <a:off x="502920" y="5120640"/>
            <a:ext cx="8138160" cy="640080"/>
          </a:xfrm>
          <a:prstGeom prst="roundRect">
            <a:avLst>
              <a:gd name="adj" fmla="val 8571"/>
            </a:avLst>
          </a:prstGeom>
          <a:solidFill>
            <a:srgbClr val="E9E8EC"/>
          </a:solidFill>
          <a:ln/>
          <a:effectLst>
            <a:outerShdw sx="100000" sy="100000" kx="0" ky="0" algn="bl" rotWithShape="0" blurRad="63500" dist="31750" dir="2700000">
              <a:srgbClr val="8C8C99">
                <a:alpha val="45000"/>
              </a:srgbClr>
            </a:outerShdw>
          </a:effectLst>
        </p:spPr>
      </p:sp>
      <p:sp>
        <p:nvSpPr>
          <p:cNvPr id="31" name="Text 29"/>
          <p:cNvSpPr/>
          <p:nvPr/>
        </p:nvSpPr>
        <p:spPr>
          <a:xfrm>
            <a:off x="731520" y="5120640"/>
            <a:ext cx="7680960" cy="64008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Đó là lý do luật chấm được cố định trước khi có điểm số, và không đổi về sau.</a:t>
            </a:r>
            <a:endParaRPr lang="en-US" sz="1250" dirty="0"/>
          </a:p>
        </p:txBody>
      </p:sp>
      <p:sp>
        <p:nvSpPr>
          <p:cNvPr id="32" name="Shape 30"/>
          <p:cNvSpPr/>
          <p:nvPr/>
        </p:nvSpPr>
        <p:spPr>
          <a:xfrm>
            <a:off x="0" y="6620256"/>
            <a:ext cx="2743200" cy="237744"/>
          </a:xfrm>
          <a:prstGeom prst="rect">
            <a:avLst/>
          </a:prstGeom>
          <a:solidFill>
            <a:srgbClr val="191132"/>
          </a:solidFill>
          <a:ln/>
        </p:spPr>
      </p:sp>
      <p:sp>
        <p:nvSpPr>
          <p:cNvPr id="33" name="Shape 31"/>
          <p:cNvSpPr/>
          <p:nvPr/>
        </p:nvSpPr>
        <p:spPr>
          <a:xfrm>
            <a:off x="2743200" y="6620256"/>
            <a:ext cx="3383280" cy="237744"/>
          </a:xfrm>
          <a:prstGeom prst="rect">
            <a:avLst/>
          </a:prstGeom>
          <a:solidFill>
            <a:srgbClr val="25194B"/>
          </a:solidFill>
          <a:ln/>
        </p:spPr>
      </p:sp>
      <p:sp>
        <p:nvSpPr>
          <p:cNvPr id="34" name="Shape 32"/>
          <p:cNvSpPr/>
          <p:nvPr/>
        </p:nvSpPr>
        <p:spPr>
          <a:xfrm>
            <a:off x="6126480" y="6620256"/>
            <a:ext cx="1737360" cy="237744"/>
          </a:xfrm>
          <a:prstGeom prst="rect">
            <a:avLst/>
          </a:prstGeom>
          <a:solidFill>
            <a:srgbClr val="4F417A"/>
          </a:solidFill>
          <a:ln/>
        </p:spPr>
      </p:sp>
      <p:sp>
        <p:nvSpPr>
          <p:cNvPr id="35" name="Shape 33"/>
          <p:cNvSpPr/>
          <p:nvPr/>
        </p:nvSpPr>
        <p:spPr>
          <a:xfrm>
            <a:off x="7863840" y="6620256"/>
            <a:ext cx="1280160" cy="237744"/>
          </a:xfrm>
          <a:prstGeom prst="rect">
            <a:avLst/>
          </a:prstGeom>
          <a:solidFill>
            <a:srgbClr val="7A7099"/>
          </a:solidFill>
          <a:ln/>
        </p:spPr>
      </p:sp>
      <p:sp>
        <p:nvSpPr>
          <p:cNvPr id="36" name="Text 3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 sinh tu dong huong dan su dung phan mem dua tren LLM - bao ve luan van</dc:title>
  <dc:subject>PptxGenJS Presentation</dc:subject>
  <dc:creator>Le Doan Phuong Uyen</dc:creator>
  <cp:lastModifiedBy>Le Doan Phuong Uyen</cp:lastModifiedBy>
  <cp:revision>1</cp:revision>
  <dcterms:created xsi:type="dcterms:W3CDTF">2026-09-09T13:42:12Z</dcterms:created>
  <dcterms:modified xsi:type="dcterms:W3CDTF">2026-09-09T13:42:12Z</dcterms:modified>
</cp:coreProperties>
</file>