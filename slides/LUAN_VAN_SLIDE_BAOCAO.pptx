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giây] Giới thiệu tên, ngành, thầy hướng dẫn, tên đề tài. Thời lượng khoảng 25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giây] Sáu phần. Dành nhiều thời gian nhất cho thước đo (đóng góp đã hoàn tất) và phần chẩn đoán (chỉ ra giới hạn thật của thành phần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 giây] Tình huống: người dùng không biết bấm gì tiếp trên điện thoại.
Tác tử giao diện: cùng đầu vào nhưng sinh toạ độ cho máy tự bấm.
Đề tài: đầu ra là câu chữ cho người đọc, và câu là thứ duy nhất đem chấm.
Mô hình ba tỉ tham số, chạy tại máy vì ảnh màn hình là dữ liệu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 giây] Vấn đề 1, đánh giá: so khớp chuỗi loại nhầm 97,5%; vector ngữ nghĩa AUC 0,336, đo độ gần chủ đề chứ không đo cùng phần tử (inbox/outbox 0,76 cao hơn search/magnifying glass 0,55).
Vấn đề 2, dạng lỗi: đọc tay 40 ca, gần như không bịa, phần lớn là câu mơ hồ.
Kết luận: trọng tâm là tính phân biệt của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 giây] Không nhận chữ "đầu tiên": ý câu phải đủ để bên kia trỏ đúng là của dòng sinh biểu thức quy chiếu từ 2016.
Phần nhận: đưa tính phân biệt vào mục tiêu huấn luyện trong miền giao diện; Widget Captioning vẫn dùng entropy chéo thuần.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giây] Đóng góp 1: thước đo, hoàn tất.
Đóng góp 2: quy trình dựng dữ liệu và kết quả thực nghiệm có nhánh so sánh; nhánh xử lý chỉ một hạt giống vì ngân sách máy, nên không kết luận thành phần có tác dụng hay không.
Đóng góp 3: chẩn đoán từng bước, hoàn tất, giá trị nhất cho người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giây] AndroidControl, NeurIPS 2024. Ghép hai kho công khai theo khoá (episode, step).
Kiểm phép ghép bằng cách so với phép ghép cố ý lệch một bước: 48% so với 20%.
Nhãn dựng bằng máy, không thuê người, không lấy từ mô hình ngôn ngữ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 giây] Bốn ô nhãn. Ô tên khó nhất: cây trợ năng chỉ 12,6% phần tử có tên, bù bằng OCR, thêm hai bộ lọc (14,7% nhãn trợ năng là chuỗi không dùng được).
Quy mô đủ: 73,6% có tên dùng được, 22% không có tên, 7,6% trùng tên. Hai số sau là lý do cần ô dấu hiệu phân biệt.
Ô toạ độ lấy từ chỗ người thật đã chạm.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 giây] Thành phần đề xuất: mô tả phần tử cần chạm trước, viết câu sau.
Lúc chấm CẮT tầng khai báo, chỉ đưa câu cho mô hình định vị; nếu không cắt, mọi mức tăng có thể do được thêm thông tin lúc chấm.
Bước trung gian phải có toạ độ: cặp Shikra cho −7,4 (văn xuôi) và +5,9 (có toạ độ).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 giây] Chẩn đoán từ nhánh khai báo: cơ chế đúng, điểm nghẽn là độ chính xác ô khai báo.
Chặng hai: mục tiêu ưu tiên trên cặp tối thiểu, hai vế giống nhau từng chữ ở phần câu, chỉ khác ô khai báo.
Nhánh so sánh CE2-S2: cùng điểm lưu, cùng 800 bước, chỉ bỏ số hạng ưu tiên. Đại lượng chính là hiệu giữa hai nhánh.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 giây] Ý tưởng thước: đưa câu cho mô hình định vị độc lập, hỏi điểm trả về có rơi đúng phần tử đã chạm không.
Ba điều kiện; điều kiện thứ ba đòi phần tử đã chạm là phần tử gần điểm dự đoán nhất (ô Voronoi).
Không phải mô hình tự chấm: chuẩn là toạ độ người thật đã chạm, mô hình định vị không thấy toạ độ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giây] Vì sao không dùng ngưỡng dung sai quy ước: đặt câu cố tình sai nút, ngưỡng dung sai vẫn cho đúng 84,3%; thêm điều kiện Voronoi còn 2,8%.
Ba chi tiết của luật đọc thẳng từ cài đặt: vùng dung sai hình chữ nhật; hạt Voronoi là điểm chạm; Voronoi bao gồm luôn điều kiện dung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giây] Trần: đem câu chuẩn đi chấm, 75,7%. Mọi điểm đọc trên nền này.
Sàn: câu chung chung 12%; câu thật của màn khác 6,1%, thấp hơn cả câu chung chung.
Số thứ hai là bằng chứng quan trọng nhất: thước không thưởng cho văn phong.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giây] Mỗi dòng là một phép đo có số.
Viết lại 1.139 câu bảo toàn nghĩa: hiệu ròng +0,35; bỏ mệnh đề vị trí thì thước phạt đúng.
Đổi mô hình định vị thứ hai không dùng AndroidControl: phép so đối chiếu giữ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giây] Mọi nhánh chấm trên cùng tập bước: hiệu ghép cặp.
MDE đo từ hai hạt giống của nhánh nền: sai số chuẩn ghép cặp 0,79, MDE 2,2 điểm (công thức chiếu cho 4 đến 9 vì giả định tương quan trong cụm bằng một).
Bảng bốn kết cục: dưới 2,2 không gọi là cải thiện; cận trên âm phải báo là gây hại.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giây] Trần 75,7. Base 47,6. S1 59,1 và 59,6 ở hai hạt giống.
Bốn nhánh dưới vạch chỉ một hạt giống.
Ba khoảng tin cậy rời nhau: thước phân giải được ba mức, còn khoảng trống cho can thiệp.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giây] Tinh chỉnh đáng 11,5 điểm; nhiễu hai hạt giống 0,52; tín hiệu gấp 22 lần nhiễu.
Bỏ một phần tư số bước chép nguyên câu chuẩn, vẫn còn 8,4.
Sáu cách giải thích thay thế; ô đỏ chỉ loại được sau khi đổi mô hình định vị thứ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giây] S2 thấp hơn nhánh nền 1,93; p nhỏ nhưng dưới MDE nên không kết luận được, không phải kết quả âm; hạt thứ hai không chạy.
Chẩn đoán: 7,3% số bước chiếm một phần ba chênh lệch, là nhóm đoán sai loại thao tác.
Mô hình gốc gọi đúng loại thao tác nhiều hơn cả hai bản đã huấn luyện: chi phí của tinh chỉnh, do tập dạy chỉ gắn khai báo cho bước chạm.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 giây] 60,0 là điểm cao nhất, nhưng có nhánh so sánh để tách công.
S2 → CE2: +2,24 do huấn luyện thêm; CE2 → MIN-DESC: +0,63 riêng mục tiêu ưu tiên. 78% thuộc nhánh so sánh; ở tầng khai báo 87%.
0,63 trên nhiễu thước nhưng dưới MDE. Không có nhánh so sánh thì đã có thể trình 2,87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giây] Vì sao chỉ 0,94: cắt theo ô khai báo đúng hay sai.
Khai báo đúng (60,6%): hơn 8,83, vượt cả trần câu chuẩn của nhóm. Khai báo sai: thua 11,12.
Hai chiều triệt tiêu nhau. Cách chia là phân tích hậu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 giây] Ba ràng buộc: ô đúng cả hai đã hết dư địa; 63% dư địa nằm trong ô sai cả tên lẫn toạ độ (3,6 so với 25,8); câu chuẩn vẫn đạt 64,4 ở đó nên giải được.
Bảy bộ định tuyến ở khâu suy luận đều trong nhiễu; định tuyến hoàn hảo chỉ 63,5. Phải sửa ở khâu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 giây] Nhánh cuối: danh sách tối đa 40 ứng viên của màn hình trong câu nhắc, mô hình chọn một dòng hoặc bỏ cuộc.
Không đạt ngưỡng dừng (57,5 so với 63,6); executability 56,1.
Đưa ra lựa chọn thì 71,4, kém câu chuẩn 4,3; bỏ cuộc sai ở 27,3% bước có đáp án, tái lập qua hai phép đo.
Nguyên nhân gần nhất: hơn nửa mẫu dạy mang nhãn bỏ cuộc (54,8% so với 29,1% trên bước chạm).
Không có nhánh so sánh cùng đầu vào; quan sát, chưa phải nhân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 giây] Một hạt giống ở mọi nhánh xử lý.
Điều kiện không gây hại không đạt: giảm gần 20 điểm ở bước không chạm, ngưỡng 3.
Lối tắt trong dữ liệu cặp, phát hiện sau huấn luyện.
Nhánh ứng viên không có nhánh so sánh cùng đầu vào.
Dụng cụ: hai mô hình định vị cùng họ với mô hình bị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giây] Hướng 1: huấn luyện lại trên 41 nghìn bước chạm, đưa nhãn bỏ cuộc từ 55% về 29%; đúng một biến đổi.
Hướng 2: thủ tục chọn ngưỡng bỏ cuộc, đang chạy; quyết định hướng 1 có chạy hay không.
Hướng 3: nhánh so sánh cùng đầu vào, rồi hạt giống thứ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 giây] Ba thứ để lại: thước đo kiểm chứng bằng phép đo; tinh chỉnh đáng 11,5 điểm qua sáu cách giải thích thay thế; chẩn đoán chỉ đúng chỗ phải tác động, nối dài bằng nhánh ứng viên.
Thành phần đề xuất chưa kết luận được ở một hạt giống.
Hai bài báo đã nộp cuối tháng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322164"/>
          </a:solidFill>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ĐẠI HỌC QUỐC GIA TP. HỒ CHÍ MINH  -  TRƯỜNG ĐẠI HỌC KHOA HỌC TỰ NHIÊN</a:t>
            </a:r>
            <a:endParaRPr lang="en-US" sz="1400" dirty="0"/>
          </a:p>
        </p:txBody>
      </p:sp>
      <p:sp>
        <p:nvSpPr>
          <p:cNvPr id="4" name="Shape 2"/>
          <p:cNvSpPr/>
          <p:nvPr/>
        </p:nvSpPr>
        <p:spPr>
          <a:xfrm>
            <a:off x="731520" y="1097280"/>
            <a:ext cx="7680960" cy="2240280"/>
          </a:xfrm>
          <a:prstGeom prst="roundRect">
            <a:avLst>
              <a:gd name="adj" fmla="val 3673"/>
            </a:avLst>
          </a:prstGeom>
          <a:solidFill>
            <a:srgbClr val="322164"/>
          </a:solidFill>
          <a:ln/>
          <a:effectLst>
            <a:outerShdw sx="100000" sy="100000" kx="0" ky="0" algn="bl" rotWithShape="0" blurRad="63500" dist="31750" dir="2700000">
              <a:srgbClr val="8C8C99">
                <a:alpha val="45000"/>
              </a:srgbClr>
            </a:outerShdw>
          </a:effectLst>
        </p:spPr>
      </p:sp>
      <p:sp>
        <p:nvSpPr>
          <p:cNvPr id="5" name="Text 3"/>
          <p:cNvSpPr/>
          <p:nvPr/>
        </p:nvSpPr>
        <p:spPr>
          <a:xfrm>
            <a:off x="731520" y="1371600"/>
            <a:ext cx="7680960"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mbria" pitchFamily="34" charset="0"/>
                <a:ea typeface="Cambria" pitchFamily="34" charset="-122"/>
                <a:cs typeface="Cambria" pitchFamily="34" charset="-120"/>
              </a:rPr>
              <a:t>Luận văn thạc sĩ  -  ngành Trí tuệ nhân tạo</a:t>
            </a:r>
            <a:endParaRPr lang="en-US" sz="1500" dirty="0"/>
          </a:p>
        </p:txBody>
      </p:sp>
      <p:sp>
        <p:nvSpPr>
          <p:cNvPr id="6" name="Text 4"/>
          <p:cNvSpPr/>
          <p:nvPr/>
        </p:nvSpPr>
        <p:spPr>
          <a:xfrm>
            <a:off x="731520" y="1783080"/>
            <a:ext cx="7680960" cy="1463040"/>
          </a:xfrm>
          <a:prstGeom prst="rect">
            <a:avLst/>
          </a:prstGeom>
          <a:noFill/>
          <a:ln/>
        </p:spPr>
        <p:txBody>
          <a:bodyPr wrap="square" lIns="0" tIns="0" rIns="0" bIns="0" rtlCol="0" anchor="t"/>
          <a:lstStyle/>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PHÁT SINH TỰ ĐỘNG HƯỚNG DẪN SỬ DỤNG PHẦN MỀM</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DỰA TRÊN LLM TỪ CÁC TRƯỜNG HỢP SỬ DỤNG</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VÀ GIAO DIỆN NGƯỜI DÙNG</a:t>
            </a:r>
            <a:endParaRPr lang="en-US" sz="2100" dirty="0"/>
          </a:p>
        </p:txBody>
      </p:sp>
      <p:sp>
        <p:nvSpPr>
          <p:cNvPr id="7" name="Text 5"/>
          <p:cNvSpPr/>
          <p:nvPr/>
        </p:nvSpPr>
        <p:spPr>
          <a:xfrm>
            <a:off x="731520" y="3429000"/>
            <a:ext cx="7680960" cy="320040"/>
          </a:xfrm>
          <a:prstGeom prst="rect">
            <a:avLst/>
          </a:prstGeom>
          <a:noFill/>
          <a:ln/>
        </p:spPr>
        <p:txBody>
          <a:bodyPr wrap="square" lIns="0" tIns="0" rIns="0" bIns="0" rtlCol="0" anchor="t"/>
          <a:lstStyle/>
          <a:p>
            <a:pPr algn="ctr" indent="0" marL="0">
              <a:buNone/>
            </a:pPr>
            <a:r>
              <a:rPr lang="en-US" sz="1200" i="1" dirty="0">
                <a:solidFill>
                  <a:srgbClr val="5A5A66"/>
                </a:solidFill>
                <a:latin typeface="Cambria" pitchFamily="34" charset="0"/>
                <a:ea typeface="Cambria" pitchFamily="34" charset="-122"/>
                <a:cs typeface="Cambria" pitchFamily="34" charset="-120"/>
              </a:rPr>
              <a:t>LLM-Based Automatic Generation of Software User Guides from Use Cases and Front-End Structures</a:t>
            </a:r>
            <a:endParaRPr lang="en-US" sz="1200" dirty="0"/>
          </a:p>
        </p:txBody>
      </p:sp>
      <p:sp>
        <p:nvSpPr>
          <p:cNvPr id="8" name="Text 6"/>
          <p:cNvSpPr/>
          <p:nvPr/>
        </p:nvSpPr>
        <p:spPr>
          <a:xfrm>
            <a:off x="731520" y="4023360"/>
            <a:ext cx="7680960" cy="365760"/>
          </a:xfrm>
          <a:prstGeom prst="rect">
            <a:avLst/>
          </a:prstGeom>
          <a:noFill/>
          <a:ln/>
        </p:spPr>
        <p:txBody>
          <a:bodyPr wrap="square" lIns="0" tIns="0" rIns="0" bIns="0" rtlCol="0" anchor="t"/>
          <a:lstStyle/>
          <a:p>
            <a:pPr algn="ctr" indent="0" marL="0">
              <a:buNone/>
            </a:pPr>
            <a:r>
              <a:rPr lang="en-US" sz="1500" b="1" dirty="0">
                <a:solidFill>
                  <a:srgbClr val="1A1A1A"/>
                </a:solidFill>
                <a:latin typeface="Cambria" pitchFamily="34" charset="0"/>
                <a:ea typeface="Cambria" pitchFamily="34" charset="-122"/>
                <a:cs typeface="Cambria" pitchFamily="34" charset="-120"/>
              </a:rPr>
              <a:t>Học viên thực hiện:   Lê Đoàn Phương Uyên</a:t>
            </a:r>
            <a:endParaRPr lang="en-US" sz="1500" dirty="0"/>
          </a:p>
        </p:txBody>
      </p:sp>
      <p:sp>
        <p:nvSpPr>
          <p:cNvPr id="9" name="Text 7"/>
          <p:cNvSpPr/>
          <p:nvPr/>
        </p:nvSpPr>
        <p:spPr>
          <a:xfrm>
            <a:off x="731520" y="4434840"/>
            <a:ext cx="7680960" cy="365760"/>
          </a:xfrm>
          <a:prstGeom prst="rect">
            <a:avLst/>
          </a:prstGeom>
          <a:noFill/>
          <a:ln/>
        </p:spPr>
        <p:txBody>
          <a:bodyPr wrap="square" lIns="0" tIns="0" rIns="0" bIns="0" rtlCol="0" anchor="t"/>
          <a:lstStyle/>
          <a:p>
            <a:pPr algn="ctr" indent="0" marL="0">
              <a:buNone/>
            </a:pPr>
            <a:r>
              <a:rPr lang="en-US" sz="1500" b="1" dirty="0">
                <a:solidFill>
                  <a:srgbClr val="1A1A1A"/>
                </a:solidFill>
                <a:latin typeface="Cambria" pitchFamily="34" charset="0"/>
                <a:ea typeface="Cambria" pitchFamily="34" charset="-122"/>
                <a:cs typeface="Cambria" pitchFamily="34" charset="-120"/>
              </a:rPr>
              <a:t>Người hướng dẫn khoa học:   TS. Nguyễn Hồng Bửu Long</a:t>
            </a:r>
            <a:endParaRPr lang="en-US" sz="1500" dirty="0"/>
          </a:p>
        </p:txBody>
      </p:sp>
      <p:sp>
        <p:nvSpPr>
          <p:cNvPr id="10" name="Text 8"/>
          <p:cNvSpPr/>
          <p:nvPr/>
        </p:nvSpPr>
        <p:spPr>
          <a:xfrm>
            <a:off x="731520" y="4983480"/>
            <a:ext cx="7680960" cy="320040"/>
          </a:xfrm>
          <a:prstGeom prst="rect">
            <a:avLst/>
          </a:prstGeom>
          <a:noFill/>
          <a:ln/>
        </p:spPr>
        <p:txBody>
          <a:bodyPr wrap="square" lIns="0" tIns="0" rIns="0" bIns="0" rtlCol="0" anchor="t"/>
          <a:lstStyle/>
          <a:p>
            <a:pPr algn="ctr" indent="0" marL="0">
              <a:buNone/>
            </a:pPr>
            <a:r>
              <a:rPr lang="en-US" sz="1200" dirty="0">
                <a:solidFill>
                  <a:srgbClr val="5A5A66"/>
                </a:solidFill>
                <a:latin typeface="Cambria" pitchFamily="34" charset="0"/>
                <a:ea typeface="Cambria" pitchFamily="34" charset="-122"/>
                <a:cs typeface="Cambria" pitchFamily="34" charset="-120"/>
              </a:rPr>
              <a:t>Mã số ngành: 8480107</a:t>
            </a:r>
            <a:endParaRPr lang="en-US" sz="1200" dirty="0"/>
          </a:p>
        </p:txBody>
      </p:sp>
      <p:sp>
        <p:nvSpPr>
          <p:cNvPr id="11" name="Text 9"/>
          <p:cNvSpPr/>
          <p:nvPr/>
        </p:nvSpPr>
        <p:spPr>
          <a:xfrm>
            <a:off x="731520" y="5349240"/>
            <a:ext cx="7680960" cy="320040"/>
          </a:xfrm>
          <a:prstGeom prst="rect">
            <a:avLst/>
          </a:prstGeom>
          <a:noFill/>
          <a:ln/>
        </p:spPr>
        <p:txBody>
          <a:bodyPr wrap="square" lIns="0" tIns="0" rIns="0" bIns="0" rtlCol="0" anchor="t"/>
          <a:lstStyle/>
          <a:p>
            <a:pPr algn="ctr" indent="0" marL="0">
              <a:buNone/>
            </a:pPr>
            <a:r>
              <a:rPr lang="en-US" sz="1200" dirty="0">
                <a:solidFill>
                  <a:srgbClr val="1A1A1A"/>
                </a:solidFill>
                <a:latin typeface="Cambria" pitchFamily="34" charset="0"/>
                <a:ea typeface="Cambria" pitchFamily="34" charset="-122"/>
                <a:cs typeface="Cambria" pitchFamily="34" charset="-120"/>
              </a:rPr>
              <a:t>TP. Hồ Chí Minh  -  Năm 2026</a:t>
            </a:r>
            <a:endParaRPr lang="en-US" sz="120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Nội dung trình bày</a:t>
            </a:r>
            <a:endParaRPr lang="en-US" sz="1900" dirty="0"/>
          </a:p>
        </p:txBody>
      </p:sp>
      <p:sp>
        <p:nvSpPr>
          <p:cNvPr id="4" name="Shape 2"/>
          <p:cNvSpPr/>
          <p:nvPr/>
        </p:nvSpPr>
        <p:spPr>
          <a:xfrm>
            <a:off x="502920" y="914400"/>
            <a:ext cx="8138160" cy="731520"/>
          </a:xfrm>
          <a:prstGeom prst="roundRect">
            <a:avLst>
              <a:gd name="adj" fmla="val 75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914400"/>
            <a:ext cx="7680960" cy="731520"/>
          </a:xfrm>
          <a:prstGeom prst="rect">
            <a:avLst/>
          </a:prstGeom>
          <a:noFill/>
          <a:ln/>
        </p:spPr>
        <p:txBody>
          <a:bodyPr wrap="square" lIns="0" tIns="0" rIns="0" bIns="0" rtlCol="0" anchor="ctr"/>
          <a:lstStyle/>
          <a:p>
            <a:pPr algn="l" indent="0" marL="0">
              <a:buNone/>
            </a:pPr>
            <a:r>
              <a:rPr lang="en-US" sz="1450" b="1" dirty="0">
                <a:solidFill>
                  <a:srgbClr val="B22222"/>
                </a:solidFill>
                <a:latin typeface="Cambria" pitchFamily="34" charset="0"/>
                <a:ea typeface="Cambria" pitchFamily="34" charset="-122"/>
                <a:cs typeface="Cambria" pitchFamily="34" charset="-120"/>
              </a:rPr>
              <a:t>Vào:  </a:t>
            </a:r>
            <a:pPr algn="l" indent="0" marL="0">
              <a:buNone/>
            </a:pPr>
            <a:r>
              <a:rPr lang="en-US" sz="1450" b="1" dirty="0">
                <a:solidFill>
                  <a:srgbClr val="322164"/>
                </a:solidFill>
                <a:latin typeface="Cambria" pitchFamily="34" charset="0"/>
                <a:ea typeface="Cambria" pitchFamily="34" charset="-122"/>
                <a:cs typeface="Cambria" pitchFamily="34" charset="-120"/>
              </a:rPr>
              <a:t>ảnh màn hình và mục tiêu người dùng.     </a:t>
            </a:r>
            <a:pPr algn="l" indent="0" marL="0">
              <a:buNone/>
            </a:pPr>
            <a:r>
              <a:rPr lang="en-US" sz="1450" b="1" dirty="0">
                <a:solidFill>
                  <a:srgbClr val="B22222"/>
                </a:solidFill>
                <a:latin typeface="Cambria" pitchFamily="34" charset="0"/>
                <a:ea typeface="Cambria" pitchFamily="34" charset="-122"/>
                <a:cs typeface="Cambria" pitchFamily="34" charset="-120"/>
              </a:rPr>
              <a:t>Ra:  </a:t>
            </a:r>
            <a:pPr algn="l" indent="0" marL="0">
              <a:buNone/>
            </a:pPr>
            <a:r>
              <a:rPr lang="en-US" sz="1450" b="1" dirty="0">
                <a:solidFill>
                  <a:srgbClr val="322164"/>
                </a:solidFill>
                <a:latin typeface="Cambria" pitchFamily="34" charset="0"/>
                <a:ea typeface="Cambria" pitchFamily="34" charset="-122"/>
                <a:cs typeface="Cambria" pitchFamily="34" charset="-120"/>
              </a:rPr>
              <a:t>một câu hướng dẫn cho người đọc.</a:t>
            </a:r>
            <a:endParaRPr lang="en-US" sz="1450" dirty="0"/>
          </a:p>
        </p:txBody>
      </p:sp>
      <p:sp>
        <p:nvSpPr>
          <p:cNvPr id="6" name="Text 4"/>
          <p:cNvSpPr/>
          <p:nvPr/>
        </p:nvSpPr>
        <p:spPr>
          <a:xfrm>
            <a:off x="1554480" y="2148840"/>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1.</a:t>
            </a:r>
            <a:pPr algn="l" indent="0" marL="0">
              <a:buNone/>
            </a:pPr>
            <a:r>
              <a:rPr lang="en-US" sz="1700" b="1" dirty="0">
                <a:solidFill>
                  <a:srgbClr val="322164"/>
                </a:solidFill>
                <a:latin typeface="Cambria" pitchFamily="34" charset="0"/>
                <a:ea typeface="Cambria" pitchFamily="34" charset="-122"/>
                <a:cs typeface="Cambria" pitchFamily="34" charset="-120"/>
              </a:rPr>
              <a:t>   Bài toán và hai vấn đề</a:t>
            </a:r>
            <a:endParaRPr lang="en-US" sz="1700" dirty="0"/>
          </a:p>
        </p:txBody>
      </p:sp>
      <p:sp>
        <p:nvSpPr>
          <p:cNvPr id="7" name="Text 5"/>
          <p:cNvSpPr/>
          <p:nvPr/>
        </p:nvSpPr>
        <p:spPr>
          <a:xfrm>
            <a:off x="1554480" y="2752344"/>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2.</a:t>
            </a:r>
            <a:pPr algn="l" indent="0" marL="0">
              <a:buNone/>
            </a:pPr>
            <a:r>
              <a:rPr lang="en-US" sz="1700" b="1" dirty="0">
                <a:solidFill>
                  <a:srgbClr val="322164"/>
                </a:solidFill>
                <a:latin typeface="Cambria" pitchFamily="34" charset="0"/>
                <a:ea typeface="Cambria" pitchFamily="34" charset="-122"/>
                <a:cs typeface="Cambria" pitchFamily="34" charset="-120"/>
              </a:rPr>
              <a:t>   Dữ liệu và nhãn dựng tự động</a:t>
            </a:r>
            <a:endParaRPr lang="en-US" sz="1700" dirty="0"/>
          </a:p>
        </p:txBody>
      </p:sp>
      <p:sp>
        <p:nvSpPr>
          <p:cNvPr id="8" name="Text 6"/>
          <p:cNvSpPr/>
          <p:nvPr/>
        </p:nvSpPr>
        <p:spPr>
          <a:xfrm>
            <a:off x="1554480" y="3355848"/>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3.</a:t>
            </a:r>
            <a:pPr algn="l" indent="0" marL="0">
              <a:buNone/>
            </a:pPr>
            <a:r>
              <a:rPr lang="en-US" sz="1700" b="1" dirty="0">
                <a:solidFill>
                  <a:srgbClr val="322164"/>
                </a:solidFill>
                <a:latin typeface="Cambria" pitchFamily="34" charset="0"/>
                <a:ea typeface="Cambria" pitchFamily="34" charset="-122"/>
                <a:cs typeface="Cambria" pitchFamily="34" charset="-120"/>
              </a:rPr>
              <a:t>   Phương pháp: mô tả trước, phát ngôn sau</a:t>
            </a:r>
            <a:endParaRPr lang="en-US" sz="1700" dirty="0"/>
          </a:p>
        </p:txBody>
      </p:sp>
      <p:sp>
        <p:nvSpPr>
          <p:cNvPr id="9" name="Text 7"/>
          <p:cNvSpPr/>
          <p:nvPr/>
        </p:nvSpPr>
        <p:spPr>
          <a:xfrm>
            <a:off x="1554480" y="3959352"/>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4.</a:t>
            </a:r>
            <a:pPr algn="l" indent="0" marL="0">
              <a:buNone/>
            </a:pPr>
            <a:r>
              <a:rPr lang="en-US" sz="1700" b="1" dirty="0">
                <a:solidFill>
                  <a:srgbClr val="322164"/>
                </a:solidFill>
                <a:latin typeface="Cambria" pitchFamily="34" charset="0"/>
                <a:ea typeface="Cambria" pitchFamily="34" charset="-122"/>
                <a:cs typeface="Cambria" pitchFamily="34" charset="-120"/>
              </a:rPr>
              <a:t>   Thước đo executability</a:t>
            </a:r>
            <a:endParaRPr lang="en-US" sz="1700" dirty="0"/>
          </a:p>
        </p:txBody>
      </p:sp>
      <p:sp>
        <p:nvSpPr>
          <p:cNvPr id="10" name="Text 8"/>
          <p:cNvSpPr/>
          <p:nvPr/>
        </p:nvSpPr>
        <p:spPr>
          <a:xfrm>
            <a:off x="1554480" y="4562856"/>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5.</a:t>
            </a:r>
            <a:pPr algn="l" indent="0" marL="0">
              <a:buNone/>
            </a:pPr>
            <a:r>
              <a:rPr lang="en-US" sz="1700" b="1" dirty="0">
                <a:solidFill>
                  <a:srgbClr val="322164"/>
                </a:solidFill>
                <a:latin typeface="Cambria" pitchFamily="34" charset="0"/>
                <a:ea typeface="Cambria" pitchFamily="34" charset="-122"/>
                <a:cs typeface="Cambria" pitchFamily="34" charset="-120"/>
              </a:rPr>
              <a:t>   Kết quả và chẩn đoán</a:t>
            </a:r>
            <a:endParaRPr lang="en-US" sz="1700" dirty="0"/>
          </a:p>
        </p:txBody>
      </p:sp>
      <p:sp>
        <p:nvSpPr>
          <p:cNvPr id="11" name="Text 9"/>
          <p:cNvSpPr/>
          <p:nvPr/>
        </p:nvSpPr>
        <p:spPr>
          <a:xfrm>
            <a:off x="1554480" y="5166360"/>
            <a:ext cx="6583680" cy="457200"/>
          </a:xfrm>
          <a:prstGeom prst="rect">
            <a:avLst/>
          </a:prstGeom>
          <a:noFill/>
          <a:ln/>
        </p:spPr>
        <p:txBody>
          <a:bodyPr wrap="square" lIns="0" tIns="0" rIns="0" bIns="0" rtlCol="0" anchor="t"/>
          <a:lstStyle/>
          <a:p>
            <a:pPr algn="l" indent="0" marL="0">
              <a:buNone/>
            </a:pPr>
            <a:r>
              <a:rPr lang="en-US" sz="1700" b="1" dirty="0">
                <a:solidFill>
                  <a:srgbClr val="006666"/>
                </a:solidFill>
                <a:latin typeface="Cambria" pitchFamily="34" charset="0"/>
                <a:ea typeface="Cambria" pitchFamily="34" charset="-122"/>
                <a:cs typeface="Cambria" pitchFamily="34" charset="-120"/>
              </a:rPr>
              <a:t>6.</a:t>
            </a:r>
            <a:pPr algn="l" indent="0" marL="0">
              <a:buNone/>
            </a:pPr>
            <a:r>
              <a:rPr lang="en-US" sz="1700" b="1" dirty="0">
                <a:solidFill>
                  <a:srgbClr val="322164"/>
                </a:solidFill>
                <a:latin typeface="Cambria" pitchFamily="34" charset="0"/>
                <a:ea typeface="Cambria" pitchFamily="34" charset="-122"/>
                <a:cs typeface="Cambria" pitchFamily="34" charset="-120"/>
              </a:rPr>
              <a:t>   Hạn chế và hướng phát triển</a:t>
            </a:r>
            <a:endParaRPr lang="en-US" sz="1700" dirty="0"/>
          </a:p>
        </p:txBody>
      </p:sp>
      <p:sp>
        <p:nvSpPr>
          <p:cNvPr id="13" name="Shape 10"/>
          <p:cNvSpPr/>
          <p:nvPr/>
        </p:nvSpPr>
        <p:spPr>
          <a:xfrm>
            <a:off x="0" y="6620256"/>
            <a:ext cx="2743200" cy="237744"/>
          </a:xfrm>
          <a:prstGeom prst="rect">
            <a:avLst/>
          </a:prstGeom>
          <a:solidFill>
            <a:srgbClr val="191132"/>
          </a:solidFill>
          <a:ln/>
        </p:spPr>
      </p:sp>
      <p:sp>
        <p:nvSpPr>
          <p:cNvPr id="14" name="Shape 11"/>
          <p:cNvSpPr/>
          <p:nvPr/>
        </p:nvSpPr>
        <p:spPr>
          <a:xfrm>
            <a:off x="2743200" y="6620256"/>
            <a:ext cx="3383280" cy="237744"/>
          </a:xfrm>
          <a:prstGeom prst="rect">
            <a:avLst/>
          </a:prstGeom>
          <a:solidFill>
            <a:srgbClr val="25194B"/>
          </a:solidFill>
          <a:ln/>
        </p:spPr>
      </p:sp>
      <p:sp>
        <p:nvSpPr>
          <p:cNvPr id="15" name="Shape 12"/>
          <p:cNvSpPr/>
          <p:nvPr/>
        </p:nvSpPr>
        <p:spPr>
          <a:xfrm>
            <a:off x="6126480" y="6620256"/>
            <a:ext cx="1737360" cy="237744"/>
          </a:xfrm>
          <a:prstGeom prst="rect">
            <a:avLst/>
          </a:prstGeom>
          <a:solidFill>
            <a:srgbClr val="4F417A"/>
          </a:solidFill>
          <a:ln/>
        </p:spPr>
      </p:sp>
      <p:sp>
        <p:nvSpPr>
          <p:cNvPr id="16" name="Shape 13"/>
          <p:cNvSpPr/>
          <p:nvPr/>
        </p:nvSpPr>
        <p:spPr>
          <a:xfrm>
            <a:off x="7863840" y="6620256"/>
            <a:ext cx="1280160" cy="237744"/>
          </a:xfrm>
          <a:prstGeom prst="rect">
            <a:avLst/>
          </a:prstGeom>
          <a:solidFill>
            <a:srgbClr val="7A7099"/>
          </a:solidFill>
          <a:ln/>
        </p:spPr>
      </p:sp>
      <p:sp>
        <p:nvSpPr>
          <p:cNvPr id="17" name="Text 1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8" name="Text 1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9" name="Text 1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0" name="Text 1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Bài toán: đầu ra là câu chữ, không phải toạ độ</a:t>
            </a:r>
            <a:endParaRPr lang="en-US" sz="1900" dirty="0"/>
          </a:p>
        </p:txBody>
      </p:sp>
      <p:sp>
        <p:nvSpPr>
          <p:cNvPr id="4" name="Shape 2"/>
          <p:cNvSpPr/>
          <p:nvPr/>
        </p:nvSpPr>
        <p:spPr>
          <a:xfrm>
            <a:off x="502920" y="822960"/>
            <a:ext cx="8138160" cy="1371600"/>
          </a:xfrm>
          <a:prstGeom prst="roundRect">
            <a:avLst>
              <a:gd name="adj" fmla="val 4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960120"/>
            <a:ext cx="7680960" cy="457200"/>
          </a:xfrm>
          <a:prstGeom prst="rect">
            <a:avLst/>
          </a:prstGeom>
          <a:noFill/>
          <a:ln/>
        </p:spPr>
        <p:txBody>
          <a:bodyPr wrap="square" lIns="0" tIns="0" rIns="0" bIns="0" rtlCol="0" anchor="t"/>
          <a:lstStyle/>
          <a:p>
            <a:pPr algn="l" indent="0" marL="0">
              <a:buNone/>
            </a:pPr>
            <a:r>
              <a:rPr lang="en-US" sz="1500" b="1" dirty="0">
                <a:solidFill>
                  <a:srgbClr val="1414BE"/>
                </a:solidFill>
                <a:latin typeface="Cambria" pitchFamily="34" charset="0"/>
                <a:ea typeface="Cambria" pitchFamily="34" charset="-122"/>
                <a:cs typeface="Cambria" pitchFamily="34" charset="-120"/>
              </a:rPr>
              <a:t>Vào.  </a:t>
            </a:r>
            <a:pPr algn="l" indent="0" marL="0">
              <a:buNone/>
            </a:pPr>
            <a:r>
              <a:rPr lang="en-US" sz="1500" i="1" dirty="0">
                <a:solidFill>
                  <a:srgbClr val="1A1A1A"/>
                </a:solidFill>
                <a:latin typeface="Cambria" pitchFamily="34" charset="0"/>
                <a:ea typeface="Cambria" pitchFamily="34" charset="-122"/>
                <a:cs typeface="Cambria" pitchFamily="34" charset="-120"/>
              </a:rPr>
              <a:t>ảnh màn hình  +  “Chia sẻ playlist này cho bạn tôi”</a:t>
            </a:r>
            <a:endParaRPr lang="en-US" sz="1500" dirty="0"/>
          </a:p>
        </p:txBody>
      </p:sp>
      <p:sp>
        <p:nvSpPr>
          <p:cNvPr id="6" name="Text 4"/>
          <p:cNvSpPr/>
          <p:nvPr/>
        </p:nvSpPr>
        <p:spPr>
          <a:xfrm>
            <a:off x="731520" y="1572768"/>
            <a:ext cx="7680960" cy="457200"/>
          </a:xfrm>
          <a:prstGeom prst="rect">
            <a:avLst/>
          </a:prstGeom>
          <a:noFill/>
          <a:ln/>
        </p:spPr>
        <p:txBody>
          <a:bodyPr wrap="square" lIns="0" tIns="0" rIns="0" bIns="0" rtlCol="0" anchor="t"/>
          <a:lstStyle/>
          <a:p>
            <a:pPr algn="l" indent="0" marL="0">
              <a:buNone/>
            </a:pPr>
            <a:r>
              <a:rPr lang="en-US" sz="1500" b="1" dirty="0">
                <a:solidFill>
                  <a:srgbClr val="1414BE"/>
                </a:solidFill>
                <a:latin typeface="Cambria" pitchFamily="34" charset="0"/>
                <a:ea typeface="Cambria" pitchFamily="34" charset="-122"/>
                <a:cs typeface="Cambria" pitchFamily="34" charset="-120"/>
              </a:rPr>
              <a:t>Ra.  </a:t>
            </a:r>
            <a:pPr algn="l" indent="0" marL="0">
              <a:buNone/>
            </a:pPr>
            <a:r>
              <a:rPr lang="en-US" sz="1500" i="1" dirty="0">
                <a:solidFill>
                  <a:srgbClr val="1A1A1A"/>
                </a:solidFill>
                <a:latin typeface="Cambria" pitchFamily="34" charset="0"/>
                <a:ea typeface="Cambria" pitchFamily="34" charset="-122"/>
                <a:cs typeface="Cambria" pitchFamily="34" charset="-120"/>
              </a:rPr>
              <a:t>“Tap the share icon at the top right of the screen.”</a:t>
            </a:r>
            <a:endParaRPr lang="en-US" sz="1500" dirty="0"/>
          </a:p>
        </p:txBody>
      </p:sp>
      <p:sp>
        <p:nvSpPr>
          <p:cNvPr id="7" name="Text 5"/>
          <p:cNvSpPr/>
          <p:nvPr/>
        </p:nvSpPr>
        <p:spPr>
          <a:xfrm>
            <a:off x="502920" y="2514600"/>
            <a:ext cx="3977640" cy="365760"/>
          </a:xfrm>
          <a:prstGeom prst="rect">
            <a:avLst/>
          </a:prstGeom>
          <a:noFill/>
          <a:ln/>
        </p:spPr>
        <p:txBody>
          <a:bodyPr wrap="square" lIns="0" tIns="0" rIns="0" bIns="0" rtlCol="0" anchor="t"/>
          <a:lstStyle/>
          <a:p>
            <a:pPr algn="ctr" indent="0" marL="0">
              <a:buNone/>
            </a:pPr>
            <a:r>
              <a:rPr lang="en-US" sz="1500" b="1" dirty="0">
                <a:solidFill>
                  <a:srgbClr val="322164"/>
                </a:solidFill>
                <a:latin typeface="Cambria" pitchFamily="34" charset="0"/>
                <a:ea typeface="Cambria" pitchFamily="34" charset="-122"/>
                <a:cs typeface="Cambria" pitchFamily="34" charset="-120"/>
              </a:rPr>
              <a:t>Tác tử giao diện</a:t>
            </a:r>
            <a:endParaRPr lang="en-US" sz="1500" dirty="0"/>
          </a:p>
        </p:txBody>
      </p:sp>
      <p:sp>
        <p:nvSpPr>
          <p:cNvPr id="8" name="Text 6"/>
          <p:cNvSpPr/>
          <p:nvPr/>
        </p:nvSpPr>
        <p:spPr>
          <a:xfrm>
            <a:off x="4663440" y="2514600"/>
            <a:ext cx="3977640" cy="365760"/>
          </a:xfrm>
          <a:prstGeom prst="rect">
            <a:avLst/>
          </a:prstGeom>
          <a:noFill/>
          <a:ln/>
        </p:spPr>
        <p:txBody>
          <a:bodyPr wrap="square" lIns="0" tIns="0" rIns="0" bIns="0" rtlCol="0" anchor="t"/>
          <a:lstStyle/>
          <a:p>
            <a:pPr algn="ctr" indent="0" marL="0">
              <a:buNone/>
            </a:pPr>
            <a:r>
              <a:rPr lang="en-US" sz="1500" b="1" dirty="0">
                <a:solidFill>
                  <a:srgbClr val="B22222"/>
                </a:solidFill>
                <a:latin typeface="Cambria" pitchFamily="34" charset="0"/>
                <a:ea typeface="Cambria" pitchFamily="34" charset="-122"/>
                <a:cs typeface="Cambria" pitchFamily="34" charset="-120"/>
              </a:rPr>
              <a:t>Luận văn này</a:t>
            </a:r>
            <a:endParaRPr lang="en-US" sz="1500" dirty="0"/>
          </a:p>
        </p:txBody>
      </p:sp>
      <p:sp>
        <p:nvSpPr>
          <p:cNvPr id="9" name="Shape 7"/>
          <p:cNvSpPr/>
          <p:nvPr/>
        </p:nvSpPr>
        <p:spPr>
          <a:xfrm>
            <a:off x="502920" y="2926080"/>
            <a:ext cx="3977640" cy="2148840"/>
          </a:xfrm>
          <a:prstGeom prst="roundRect">
            <a:avLst>
              <a:gd name="adj" fmla="val 2553"/>
            </a:avLst>
          </a:prstGeom>
          <a:solidFill>
            <a:srgbClr val="E9E8EC"/>
          </a:solidFill>
          <a:ln/>
          <a:effectLst>
            <a:outerShdw sx="100000" sy="100000" kx="0" ky="0" algn="bl" rotWithShape="0" blurRad="63500" dist="31750" dir="2700000">
              <a:srgbClr val="8C8C99">
                <a:alpha val="45000"/>
              </a:srgbClr>
            </a:outerShdw>
          </a:effectLst>
        </p:spPr>
      </p:sp>
      <p:sp>
        <p:nvSpPr>
          <p:cNvPr id="10" name="Shape 8"/>
          <p:cNvSpPr/>
          <p:nvPr/>
        </p:nvSpPr>
        <p:spPr>
          <a:xfrm>
            <a:off x="4663440" y="2926080"/>
            <a:ext cx="3977640" cy="2148840"/>
          </a:xfrm>
          <a:prstGeom prst="roundRect">
            <a:avLst>
              <a:gd name="adj" fmla="val 2553"/>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731520" y="3200400"/>
            <a:ext cx="3566160" cy="1645920"/>
          </a:xfrm>
          <a:prstGeom prst="rect">
            <a:avLst/>
          </a:prstGeom>
          <a:noFill/>
          <a:ln/>
        </p:spPr>
        <p:txBody>
          <a:bodyPr wrap="square" lIns="0" tIns="0" rIns="0" bIns="0" rtlCol="0" anchor="t"/>
          <a:lstStyle/>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Đầu ra là lệnh máy tự bấm,</a:t>
            </a: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dạng click(872, 141).</a:t>
            </a:r>
            <a:endParaRPr lang="en-US" sz="1450" dirty="0"/>
          </a:p>
          <a:p>
            <a:pPr algn="l" indent="0" marL="0">
              <a:lnSpc>
                <a:spcPct val="145000"/>
              </a:lnSpc>
              <a:buNone/>
            </a:pP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Câu chữ không được đem chấm.</a:t>
            </a:r>
            <a:endParaRPr lang="en-US" sz="1450" dirty="0"/>
          </a:p>
        </p:txBody>
      </p:sp>
      <p:sp>
        <p:nvSpPr>
          <p:cNvPr id="12" name="Text 10"/>
          <p:cNvSpPr/>
          <p:nvPr/>
        </p:nvSpPr>
        <p:spPr>
          <a:xfrm>
            <a:off x="4892040" y="3200400"/>
            <a:ext cx="3566160" cy="1645920"/>
          </a:xfrm>
          <a:prstGeom prst="rect">
            <a:avLst/>
          </a:prstGeom>
          <a:noFill/>
          <a:ln/>
        </p:spPr>
        <p:txBody>
          <a:bodyPr wrap="square" lIns="0" tIns="0" rIns="0" bIns="0" rtlCol="0" anchor="t"/>
          <a:lstStyle/>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Đầu ra là câu cho người đọc.</a:t>
            </a:r>
            <a:endParaRPr lang="en-US" sz="1450" dirty="0"/>
          </a:p>
          <a:p>
            <a:pPr algn="l" indent="0" marL="0">
              <a:lnSpc>
                <a:spcPct val="145000"/>
              </a:lnSpc>
              <a:buNone/>
            </a:pP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Câu là thứ duy nhất</a:t>
            </a:r>
            <a:endParaRPr lang="en-US" sz="1450" dirty="0"/>
          </a:p>
          <a:p>
            <a:pPr algn="l" indent="0" marL="0">
              <a:lnSpc>
                <a:spcPct val="145000"/>
              </a:lnSpc>
              <a:buNone/>
            </a:pPr>
            <a:r>
              <a:rPr lang="en-US" sz="1450" dirty="0">
                <a:solidFill>
                  <a:srgbClr val="1A1A1A"/>
                </a:solidFill>
                <a:latin typeface="Cambria" pitchFamily="34" charset="0"/>
                <a:ea typeface="Cambria" pitchFamily="34" charset="-122"/>
                <a:cs typeface="Cambria" pitchFamily="34" charset="-120"/>
              </a:rPr>
              <a:t>được đem chấm.</a:t>
            </a:r>
            <a:endParaRPr lang="en-US" sz="1450" dirty="0"/>
          </a:p>
        </p:txBody>
      </p:sp>
      <p:sp>
        <p:nvSpPr>
          <p:cNvPr id="13" name="Text 11"/>
          <p:cNvSpPr/>
          <p:nvPr/>
        </p:nvSpPr>
        <p:spPr>
          <a:xfrm>
            <a:off x="502920" y="5166360"/>
            <a:ext cx="3977640" cy="320040"/>
          </a:xfrm>
          <a:prstGeom prst="rect">
            <a:avLst/>
          </a:prstGeom>
          <a:noFill/>
          <a:ln/>
        </p:spPr>
        <p:txBody>
          <a:bodyPr wrap="square" lIns="0" tIns="0" rIns="0" bIns="0" rtlCol="0" anchor="t"/>
          <a:lstStyle/>
          <a:p>
            <a:pPr algn="ctr" indent="0" marL="0">
              <a:buNone/>
            </a:pPr>
            <a:r>
              <a:rPr lang="en-US" sz="1100" i="1" dirty="0">
                <a:solidFill>
                  <a:srgbClr val="5A5A66"/>
                </a:solidFill>
                <a:latin typeface="Cambria" pitchFamily="34" charset="0"/>
                <a:ea typeface="Cambria" pitchFamily="34" charset="-122"/>
                <a:cs typeface="Cambria" pitchFamily="34" charset="-120"/>
              </a:rPr>
              <a:t>SeeClick · OS-Atlas · Aguvis</a:t>
            </a:r>
            <a:endParaRPr lang="en-US" sz="1100" dirty="0"/>
          </a:p>
        </p:txBody>
      </p:sp>
      <p:sp>
        <p:nvSpPr>
          <p:cNvPr id="14" name="Text 12"/>
          <p:cNvSpPr/>
          <p:nvPr/>
        </p:nvSpPr>
        <p:spPr>
          <a:xfrm>
            <a:off x="4663440" y="5166360"/>
            <a:ext cx="3977640" cy="320040"/>
          </a:xfrm>
          <a:prstGeom prst="rect">
            <a:avLst/>
          </a:prstGeom>
          <a:noFill/>
          <a:ln/>
        </p:spPr>
        <p:txBody>
          <a:bodyPr wrap="square" lIns="0" tIns="0" rIns="0" bIns="0" rtlCol="0" anchor="t"/>
          <a:lstStyle/>
          <a:p>
            <a:pPr algn="ctr" indent="0" marL="0">
              <a:buNone/>
            </a:pPr>
            <a:r>
              <a:rPr lang="en-US" sz="1100" i="1" dirty="0">
                <a:solidFill>
                  <a:srgbClr val="5A5A66"/>
                </a:solidFill>
                <a:latin typeface="Cambria" pitchFamily="34" charset="0"/>
                <a:ea typeface="Cambria" pitchFamily="34" charset="-122"/>
                <a:cs typeface="Cambria" pitchFamily="34" charset="-120"/>
              </a:rPr>
              <a:t>Mô hình ba tỉ tham số, chạy tại máy người dùng</a:t>
            </a:r>
            <a:endParaRPr lang="en-US" sz="1100" dirty="0"/>
          </a:p>
        </p:txBody>
      </p:sp>
      <p:sp>
        <p:nvSpPr>
          <p:cNvPr id="16" name="Shape 13"/>
          <p:cNvSpPr/>
          <p:nvPr/>
        </p:nvSpPr>
        <p:spPr>
          <a:xfrm>
            <a:off x="0" y="6620256"/>
            <a:ext cx="2743200" cy="237744"/>
          </a:xfrm>
          <a:prstGeom prst="rect">
            <a:avLst/>
          </a:prstGeom>
          <a:solidFill>
            <a:srgbClr val="191132"/>
          </a:solidFill>
          <a:ln/>
        </p:spPr>
      </p:sp>
      <p:sp>
        <p:nvSpPr>
          <p:cNvPr id="17" name="Shape 14"/>
          <p:cNvSpPr/>
          <p:nvPr/>
        </p:nvSpPr>
        <p:spPr>
          <a:xfrm>
            <a:off x="2743200" y="6620256"/>
            <a:ext cx="3383280" cy="237744"/>
          </a:xfrm>
          <a:prstGeom prst="rect">
            <a:avLst/>
          </a:prstGeom>
          <a:solidFill>
            <a:srgbClr val="25194B"/>
          </a:solidFill>
          <a:ln/>
        </p:spPr>
      </p:sp>
      <p:sp>
        <p:nvSpPr>
          <p:cNvPr id="18" name="Shape 15"/>
          <p:cNvSpPr/>
          <p:nvPr/>
        </p:nvSpPr>
        <p:spPr>
          <a:xfrm>
            <a:off x="6126480" y="6620256"/>
            <a:ext cx="1737360" cy="237744"/>
          </a:xfrm>
          <a:prstGeom prst="rect">
            <a:avLst/>
          </a:prstGeom>
          <a:solidFill>
            <a:srgbClr val="4F417A"/>
          </a:solidFill>
          <a:ln/>
        </p:spPr>
      </p:sp>
      <p:sp>
        <p:nvSpPr>
          <p:cNvPr id="19" name="Shape 16"/>
          <p:cNvSpPr/>
          <p:nvPr/>
        </p:nvSpPr>
        <p:spPr>
          <a:xfrm>
            <a:off x="7863840" y="6620256"/>
            <a:ext cx="1280160" cy="237744"/>
          </a:xfrm>
          <a:prstGeom prst="rect">
            <a:avLst/>
          </a:prstGeom>
          <a:solidFill>
            <a:srgbClr val="7A7099"/>
          </a:solidFill>
          <a:ln/>
        </p:spPr>
      </p:sp>
      <p:sp>
        <p:nvSpPr>
          <p:cNvPr id="20" name="Text 1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1" name="Text 1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1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3/26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Đổi đầu ra kéo theo hai vấn đề</a:t>
            </a:r>
            <a:endParaRPr lang="en-US" sz="1900" dirty="0"/>
          </a:p>
        </p:txBody>
      </p:sp>
      <p:sp>
        <p:nvSpPr>
          <p:cNvPr id="4" name="Text 2"/>
          <p:cNvSpPr/>
          <p:nvPr/>
        </p:nvSpPr>
        <p:spPr>
          <a:xfrm>
            <a:off x="502920" y="822960"/>
            <a:ext cx="3977640" cy="365760"/>
          </a:xfrm>
          <a:prstGeom prst="rect">
            <a:avLst/>
          </a:prstGeom>
          <a:noFill/>
          <a:ln/>
        </p:spPr>
        <p:txBody>
          <a:bodyPr wrap="square" lIns="0" tIns="0" rIns="0" bIns="0" rtlCol="0" anchor="t"/>
          <a:lstStyle/>
          <a:p>
            <a:pPr algn="ctr" indent="0" marL="0">
              <a:buNone/>
            </a:pPr>
            <a:r>
              <a:rPr lang="en-US" sz="1500" b="1" dirty="0">
                <a:solidFill>
                  <a:srgbClr val="322164"/>
                </a:solidFill>
                <a:latin typeface="Cambria" pitchFamily="34" charset="0"/>
                <a:ea typeface="Cambria" pitchFamily="34" charset="-122"/>
                <a:cs typeface="Cambria" pitchFamily="34" charset="-120"/>
              </a:rPr>
              <a:t>Vấn đề 1 · Không chấm được câu</a:t>
            </a:r>
            <a:endParaRPr lang="en-US" sz="1500" dirty="0"/>
          </a:p>
        </p:txBody>
      </p:sp>
      <p:sp>
        <p:nvSpPr>
          <p:cNvPr id="5" name="Text 3"/>
          <p:cNvSpPr/>
          <p:nvPr/>
        </p:nvSpPr>
        <p:spPr>
          <a:xfrm>
            <a:off x="4663440" y="822960"/>
            <a:ext cx="3977640" cy="365760"/>
          </a:xfrm>
          <a:prstGeom prst="rect">
            <a:avLst/>
          </a:prstGeom>
          <a:noFill/>
          <a:ln/>
        </p:spPr>
        <p:txBody>
          <a:bodyPr wrap="square" lIns="0" tIns="0" rIns="0" bIns="0" rtlCol="0" anchor="t"/>
          <a:lstStyle/>
          <a:p>
            <a:pPr algn="ctr" indent="0" marL="0">
              <a:buNone/>
            </a:pPr>
            <a:r>
              <a:rPr lang="en-US" sz="1500" b="1" dirty="0">
                <a:solidFill>
                  <a:srgbClr val="322164"/>
                </a:solidFill>
                <a:latin typeface="Cambria" pitchFamily="34" charset="0"/>
                <a:ea typeface="Cambria" pitchFamily="34" charset="-122"/>
                <a:cs typeface="Cambria" pitchFamily="34" charset="-120"/>
              </a:rPr>
              <a:t>Vấn đề 2 · Dạng lỗi không như dự đoán</a:t>
            </a:r>
            <a:endParaRPr lang="en-US" sz="1500" dirty="0"/>
          </a:p>
        </p:txBody>
      </p:sp>
      <p:sp>
        <p:nvSpPr>
          <p:cNvPr id="6" name="Shape 4"/>
          <p:cNvSpPr/>
          <p:nvPr/>
        </p:nvSpPr>
        <p:spPr>
          <a:xfrm>
            <a:off x="502920" y="1280160"/>
            <a:ext cx="3977640" cy="3108960"/>
          </a:xfrm>
          <a:prstGeom prst="roundRect">
            <a:avLst>
              <a:gd name="adj" fmla="val 1765"/>
            </a:avLst>
          </a:prstGeom>
          <a:solidFill>
            <a:srgbClr val="E9E8EC"/>
          </a:solidFill>
          <a:ln/>
          <a:effectLst>
            <a:outerShdw sx="100000" sy="100000" kx="0" ky="0" algn="bl" rotWithShape="0" blurRad="63500" dist="31750" dir="2700000">
              <a:srgbClr val="8C8C99">
                <a:alpha val="45000"/>
              </a:srgbClr>
            </a:outerShdw>
          </a:effectLst>
        </p:spPr>
      </p:sp>
      <p:sp>
        <p:nvSpPr>
          <p:cNvPr id="7" name="Shape 5"/>
          <p:cNvSpPr/>
          <p:nvPr/>
        </p:nvSpPr>
        <p:spPr>
          <a:xfrm>
            <a:off x="4663440" y="1280160"/>
            <a:ext cx="3977640" cy="3108960"/>
          </a:xfrm>
          <a:prstGeom prst="roundRect">
            <a:avLst>
              <a:gd name="adj" fmla="val 1765"/>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704088" y="1417320"/>
            <a:ext cx="3657600" cy="365760"/>
          </a:xfrm>
          <a:prstGeom prst="rect">
            <a:avLst/>
          </a:prstGeom>
          <a:noFill/>
          <a:ln/>
        </p:spPr>
        <p:txBody>
          <a:bodyPr wrap="square" lIns="0" tIns="0" rIns="0" bIns="0" rtlCol="0" anchor="t"/>
          <a:lstStyle/>
          <a:p>
            <a:pPr algn="l" indent="0" marL="0">
              <a:buNone/>
            </a:pPr>
            <a:r>
              <a:rPr lang="en-US" sz="1300" i="1" dirty="0">
                <a:solidFill>
                  <a:srgbClr val="1A1A1A"/>
                </a:solidFill>
                <a:latin typeface="Cambria" pitchFamily="34" charset="0"/>
                <a:ea typeface="Cambria" pitchFamily="34" charset="-122"/>
                <a:cs typeface="Cambria" pitchFamily="34" charset="-120"/>
              </a:rPr>
              <a:t>Một nút có nhiều tên gọi đều đúng.</a:t>
            </a:r>
            <a:endParaRPr lang="en-US" sz="1300" dirty="0"/>
          </a:p>
        </p:txBody>
      </p:sp>
      <p:sp>
        <p:nvSpPr>
          <p:cNvPr id="9" name="Text 7"/>
          <p:cNvSpPr/>
          <p:nvPr/>
        </p:nvSpPr>
        <p:spPr>
          <a:xfrm>
            <a:off x="704088" y="192024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0" name="Text 8"/>
          <p:cNvSpPr/>
          <p:nvPr/>
        </p:nvSpPr>
        <p:spPr>
          <a:xfrm>
            <a:off x="932688" y="192024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So khớp chuỗi loại nhầm </a:t>
            </a:r>
            <a:pPr algn="l" indent="0" marL="0">
              <a:lnSpc>
                <a:spcPct val="130000"/>
              </a:lnSpc>
              <a:buNone/>
            </a:pPr>
            <a:r>
              <a:rPr lang="en-US" sz="1300" b="1" dirty="0">
                <a:solidFill>
                  <a:srgbClr val="B22222"/>
                </a:solidFill>
                <a:latin typeface="Cambria" pitchFamily="34" charset="0"/>
                <a:ea typeface="Cambria" pitchFamily="34" charset="-122"/>
                <a:cs typeface="Cambria" pitchFamily="34" charset="-120"/>
              </a:rPr>
              <a:t>97,5%</a:t>
            </a:r>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 số câu diễn đạt khác</a:t>
            </a:r>
            <a:endParaRPr lang="en-US" sz="1300" dirty="0"/>
          </a:p>
        </p:txBody>
      </p:sp>
      <p:sp>
        <p:nvSpPr>
          <p:cNvPr id="11" name="Text 9"/>
          <p:cNvSpPr/>
          <p:nvPr/>
        </p:nvSpPr>
        <p:spPr>
          <a:xfrm>
            <a:off x="704088" y="269748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2" name="Text 10"/>
          <p:cNvSpPr/>
          <p:nvPr/>
        </p:nvSpPr>
        <p:spPr>
          <a:xfrm>
            <a:off x="932688" y="269748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So vector ngữ nghĩa: AUC </a:t>
            </a:r>
            <a:pPr algn="l" indent="0" marL="0">
              <a:lnSpc>
                <a:spcPct val="130000"/>
              </a:lnSpc>
              <a:buNone/>
            </a:pPr>
            <a:r>
              <a:rPr lang="en-US" sz="1300" b="1" dirty="0">
                <a:solidFill>
                  <a:srgbClr val="B22222"/>
                </a:solidFill>
                <a:latin typeface="Cambria" pitchFamily="34" charset="0"/>
                <a:ea typeface="Cambria" pitchFamily="34" charset="-122"/>
                <a:cs typeface="Cambria" pitchFamily="34" charset="-120"/>
              </a:rPr>
              <a:t>0,336</a:t>
            </a:r>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 kém đoán ngẫu nhiên</a:t>
            </a:r>
            <a:endParaRPr lang="en-US" sz="1300" dirty="0"/>
          </a:p>
        </p:txBody>
      </p:sp>
      <p:sp>
        <p:nvSpPr>
          <p:cNvPr id="13" name="Text 11"/>
          <p:cNvSpPr/>
          <p:nvPr/>
        </p:nvSpPr>
        <p:spPr>
          <a:xfrm>
            <a:off x="704088" y="347472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4" name="Text 12"/>
          <p:cNvSpPr/>
          <p:nvPr/>
        </p:nvSpPr>
        <p:spPr>
          <a:xfrm>
            <a:off x="932688" y="347472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inbox / outbox được 0,76, còn search / magnifying glass chỉ 0,55</a:t>
            </a:r>
            <a:endParaRPr lang="en-US" sz="1300" dirty="0"/>
          </a:p>
        </p:txBody>
      </p:sp>
      <p:sp>
        <p:nvSpPr>
          <p:cNvPr id="15" name="Text 13"/>
          <p:cNvSpPr/>
          <p:nvPr/>
        </p:nvSpPr>
        <p:spPr>
          <a:xfrm>
            <a:off x="4864608" y="1417320"/>
            <a:ext cx="3657600" cy="365760"/>
          </a:xfrm>
          <a:prstGeom prst="rect">
            <a:avLst/>
          </a:prstGeom>
          <a:noFill/>
          <a:ln/>
        </p:spPr>
        <p:txBody>
          <a:bodyPr wrap="square" lIns="0" tIns="0" rIns="0" bIns="0" rtlCol="0" anchor="t"/>
          <a:lstStyle/>
          <a:p>
            <a:pPr algn="l" indent="0" marL="0">
              <a:buNone/>
            </a:pPr>
            <a:r>
              <a:rPr lang="en-US" sz="1300" i="1" dirty="0">
                <a:solidFill>
                  <a:srgbClr val="1A1A1A"/>
                </a:solidFill>
                <a:latin typeface="Cambria" pitchFamily="34" charset="0"/>
                <a:ea typeface="Cambria" pitchFamily="34" charset="-122"/>
                <a:cs typeface="Cambria" pitchFamily="34" charset="-120"/>
              </a:rPr>
              <a:t>Đọc tay 40 trường hợp sinh sai.</a:t>
            </a:r>
            <a:endParaRPr lang="en-US" sz="1300" dirty="0"/>
          </a:p>
        </p:txBody>
      </p:sp>
      <p:sp>
        <p:nvSpPr>
          <p:cNvPr id="16" name="Text 14"/>
          <p:cNvSpPr/>
          <p:nvPr/>
        </p:nvSpPr>
        <p:spPr>
          <a:xfrm>
            <a:off x="4864608" y="192024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7" name="Text 15"/>
          <p:cNvSpPr/>
          <p:nvPr/>
        </p:nvSpPr>
        <p:spPr>
          <a:xfrm>
            <a:off x="5093208" y="192024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Bịa ra nút không có trên màn: </a:t>
            </a:r>
            <a:pPr algn="l" indent="0" marL="0">
              <a:lnSpc>
                <a:spcPct val="130000"/>
              </a:lnSpc>
              <a:buNone/>
            </a:pPr>
            <a:r>
              <a:rPr lang="en-US" sz="1300" b="1" dirty="0">
                <a:solidFill>
                  <a:srgbClr val="006666"/>
                </a:solidFill>
                <a:latin typeface="Cambria" pitchFamily="34" charset="0"/>
                <a:ea typeface="Cambria" pitchFamily="34" charset="-122"/>
                <a:cs typeface="Cambria" pitchFamily="34" charset="-120"/>
              </a:rPr>
              <a:t>0 đến 2%</a:t>
            </a:r>
            <a:endParaRPr lang="en-US" sz="1300" dirty="0"/>
          </a:p>
        </p:txBody>
      </p:sp>
      <p:sp>
        <p:nvSpPr>
          <p:cNvPr id="18" name="Text 16"/>
          <p:cNvSpPr/>
          <p:nvPr/>
        </p:nvSpPr>
        <p:spPr>
          <a:xfrm>
            <a:off x="4864608" y="269748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9" name="Text 17"/>
          <p:cNvSpPr/>
          <p:nvPr/>
        </p:nvSpPr>
        <p:spPr>
          <a:xfrm>
            <a:off x="5093208" y="269748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Phần lớn là </a:t>
            </a:r>
            <a:pPr algn="l" indent="0" marL="0">
              <a:lnSpc>
                <a:spcPct val="130000"/>
              </a:lnSpc>
              <a:buNone/>
            </a:pPr>
            <a:r>
              <a:rPr lang="en-US" sz="1300" b="1" dirty="0">
                <a:solidFill>
                  <a:srgbClr val="B22222"/>
                </a:solidFill>
                <a:latin typeface="Cambria" pitchFamily="34" charset="0"/>
                <a:ea typeface="Cambria" pitchFamily="34" charset="-122"/>
                <a:cs typeface="Cambria" pitchFamily="34" charset="-120"/>
              </a:rPr>
              <a:t>câu mơ hồ</a:t>
            </a:r>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 “biểu tượng tìm kiếm” khi màn có hai cái</a:t>
            </a:r>
            <a:endParaRPr lang="en-US" sz="1300" dirty="0"/>
          </a:p>
        </p:txBody>
      </p:sp>
      <p:sp>
        <p:nvSpPr>
          <p:cNvPr id="20" name="Text 18"/>
          <p:cNvSpPr/>
          <p:nvPr/>
        </p:nvSpPr>
        <p:spPr>
          <a:xfrm>
            <a:off x="4864608" y="347472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21" name="Text 19"/>
          <p:cNvSpPr/>
          <p:nvPr/>
        </p:nvSpPr>
        <p:spPr>
          <a:xfrm>
            <a:off x="5093208" y="3474720"/>
            <a:ext cx="342900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Câu không sai sự thật, nhưng người đọc vẫn không biết chạm đâu</a:t>
            </a:r>
            <a:endParaRPr lang="en-US" sz="1300" dirty="0"/>
          </a:p>
        </p:txBody>
      </p:sp>
      <p:sp>
        <p:nvSpPr>
          <p:cNvPr id="22" name="Shape 20"/>
          <p:cNvSpPr/>
          <p:nvPr/>
        </p:nvSpPr>
        <p:spPr>
          <a:xfrm>
            <a:off x="502920" y="4663440"/>
            <a:ext cx="8138160" cy="1005840"/>
          </a:xfrm>
          <a:prstGeom prst="roundRect">
            <a:avLst>
              <a:gd name="adj" fmla="val 5455"/>
            </a:avLst>
          </a:prstGeom>
          <a:solidFill>
            <a:srgbClr val="E9E8EC"/>
          </a:solidFill>
          <a:ln/>
          <a:effectLst>
            <a:outerShdw sx="100000" sy="100000" kx="0" ky="0" algn="bl" rotWithShape="0" blurRad="63500" dist="31750" dir="2700000">
              <a:srgbClr val="8C8C99">
                <a:alpha val="45000"/>
              </a:srgbClr>
            </a:outerShdw>
          </a:effectLst>
        </p:spPr>
      </p:sp>
      <p:sp>
        <p:nvSpPr>
          <p:cNvPr id="23" name="Text 21"/>
          <p:cNvSpPr/>
          <p:nvPr/>
        </p:nvSpPr>
        <p:spPr>
          <a:xfrm>
            <a:off x="731520" y="4663440"/>
            <a:ext cx="7680960" cy="1005840"/>
          </a:xfrm>
          <a:prstGeom prst="rect">
            <a:avLst/>
          </a:prstGeom>
          <a:noFill/>
          <a:ln/>
        </p:spPr>
        <p:txBody>
          <a:bodyPr wrap="square" lIns="0" tIns="0" rIns="0" bIns="0" rtlCol="0" anchor="ctr"/>
          <a:lstStyle/>
          <a:p>
            <a:pPr algn="l" indent="0" marL="0">
              <a:buNone/>
            </a:pPr>
            <a:r>
              <a:rPr lang="en-US" sz="1500" b="1" dirty="0">
                <a:solidFill>
                  <a:srgbClr val="B22222"/>
                </a:solidFill>
                <a:latin typeface="Cambria" pitchFamily="34" charset="0"/>
                <a:ea typeface="Cambria" pitchFamily="34" charset="-122"/>
                <a:cs typeface="Cambria" pitchFamily="34" charset="-120"/>
              </a:rPr>
              <a:t>Chỗ đáng sửa là tính phân biệt của câu, </a:t>
            </a:r>
            <a:pPr algn="l" indent="0" marL="0">
              <a:buNone/>
            </a:pPr>
            <a:r>
              <a:rPr lang="en-US" sz="1500" dirty="0">
                <a:solidFill>
                  <a:srgbClr val="1A1A1A"/>
                </a:solidFill>
                <a:latin typeface="Cambria" pitchFamily="34" charset="0"/>
                <a:ea typeface="Cambria" pitchFamily="34" charset="-122"/>
                <a:cs typeface="Cambria" pitchFamily="34" charset="-120"/>
              </a:rPr>
              <a:t>không phải việc chống bịa đặt.</a:t>
            </a:r>
            <a:endParaRPr lang="en-US" sz="1500" dirty="0"/>
          </a:p>
        </p:txBody>
      </p:sp>
      <p:sp>
        <p:nvSpPr>
          <p:cNvPr id="25" name="Shape 22"/>
          <p:cNvSpPr/>
          <p:nvPr/>
        </p:nvSpPr>
        <p:spPr>
          <a:xfrm>
            <a:off x="0" y="6620256"/>
            <a:ext cx="2743200" cy="237744"/>
          </a:xfrm>
          <a:prstGeom prst="rect">
            <a:avLst/>
          </a:prstGeom>
          <a:solidFill>
            <a:srgbClr val="191132"/>
          </a:solidFill>
          <a:ln/>
        </p:spPr>
      </p:sp>
      <p:sp>
        <p:nvSpPr>
          <p:cNvPr id="26" name="Shape 23"/>
          <p:cNvSpPr/>
          <p:nvPr/>
        </p:nvSpPr>
        <p:spPr>
          <a:xfrm>
            <a:off x="2743200" y="6620256"/>
            <a:ext cx="3383280" cy="237744"/>
          </a:xfrm>
          <a:prstGeom prst="rect">
            <a:avLst/>
          </a:prstGeom>
          <a:solidFill>
            <a:srgbClr val="25194B"/>
          </a:solidFill>
          <a:ln/>
        </p:spPr>
      </p:sp>
      <p:sp>
        <p:nvSpPr>
          <p:cNvPr id="27" name="Shape 24"/>
          <p:cNvSpPr/>
          <p:nvPr/>
        </p:nvSpPr>
        <p:spPr>
          <a:xfrm>
            <a:off x="6126480" y="6620256"/>
            <a:ext cx="1737360" cy="237744"/>
          </a:xfrm>
          <a:prstGeom prst="rect">
            <a:avLst/>
          </a:prstGeom>
          <a:solidFill>
            <a:srgbClr val="4F417A"/>
          </a:solidFill>
          <a:ln/>
        </p:spPr>
      </p:sp>
      <p:sp>
        <p:nvSpPr>
          <p:cNvPr id="28" name="Shape 25"/>
          <p:cNvSpPr/>
          <p:nvPr/>
        </p:nvSpPr>
        <p:spPr>
          <a:xfrm>
            <a:off x="7863840" y="6620256"/>
            <a:ext cx="1280160" cy="237744"/>
          </a:xfrm>
          <a:prstGeom prst="rect">
            <a:avLst/>
          </a:prstGeom>
          <a:solidFill>
            <a:srgbClr val="7A7099"/>
          </a:solidFill>
          <a:ln/>
        </p:spPr>
      </p:sp>
      <p:sp>
        <p:nvSpPr>
          <p:cNvPr id="29"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0"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4/26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Vị trí của luận văn so với các công trình gần nhất</a:t>
            </a:r>
            <a:endParaRPr lang="en-US" sz="1900" dirty="0"/>
          </a:p>
        </p:txBody>
      </p:sp>
      <p:sp>
        <p:nvSpPr>
          <p:cNvPr id="4" name="Shape 2"/>
          <p:cNvSpPr/>
          <p:nvPr/>
        </p:nvSpPr>
        <p:spPr>
          <a:xfrm>
            <a:off x="502920" y="914400"/>
            <a:ext cx="8138160" cy="411480"/>
          </a:xfrm>
          <a:prstGeom prst="rect">
            <a:avLst/>
          </a:prstGeom>
          <a:solidFill>
            <a:srgbClr val="322164"/>
          </a:solidFill>
          <a:ln/>
        </p:spPr>
      </p:sp>
      <p:sp>
        <p:nvSpPr>
          <p:cNvPr id="5" name="Text 3"/>
          <p:cNvSpPr/>
          <p:nvPr/>
        </p:nvSpPr>
        <p:spPr>
          <a:xfrm>
            <a:off x="502920" y="914400"/>
            <a:ext cx="265176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Công trình</a:t>
            </a:r>
            <a:endParaRPr lang="en-US" sz="1300" dirty="0"/>
          </a:p>
        </p:txBody>
      </p:sp>
      <p:sp>
        <p:nvSpPr>
          <p:cNvPr id="6" name="Text 4"/>
          <p:cNvSpPr/>
          <p:nvPr/>
        </p:nvSpPr>
        <p:spPr>
          <a:xfrm>
            <a:off x="3154680" y="914400"/>
            <a:ext cx="274320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Họ làm gì</a:t>
            </a:r>
            <a:endParaRPr lang="en-US" sz="1300" dirty="0"/>
          </a:p>
        </p:txBody>
      </p:sp>
      <p:sp>
        <p:nvSpPr>
          <p:cNvPr id="7" name="Text 5"/>
          <p:cNvSpPr/>
          <p:nvPr/>
        </p:nvSpPr>
        <p:spPr>
          <a:xfrm>
            <a:off x="5897880" y="914400"/>
            <a:ext cx="274320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Luận văn khác đi</a:t>
            </a:r>
            <a:endParaRPr lang="en-US" sz="1300" dirty="0"/>
          </a:p>
        </p:txBody>
      </p:sp>
      <p:sp>
        <p:nvSpPr>
          <p:cNvPr id="8" name="Text 6"/>
          <p:cNvSpPr/>
          <p:nvPr/>
        </p:nvSpPr>
        <p:spPr>
          <a:xfrm>
            <a:off x="502920" y="132588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SeeClick, OS-Atlas,</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Aguvis</a:t>
            </a:r>
            <a:endParaRPr lang="en-US" sz="1250" dirty="0"/>
          </a:p>
        </p:txBody>
      </p:sp>
      <p:sp>
        <p:nvSpPr>
          <p:cNvPr id="9" name="Text 7"/>
          <p:cNvSpPr/>
          <p:nvPr/>
        </p:nvSpPr>
        <p:spPr>
          <a:xfrm>
            <a:off x="3154680" y="132588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Sinh toạ độ cho máy tự bấm</a:t>
            </a:r>
            <a:endParaRPr lang="en-US" sz="1250" dirty="0"/>
          </a:p>
        </p:txBody>
      </p:sp>
      <p:sp>
        <p:nvSpPr>
          <p:cNvPr id="10" name="Text 8"/>
          <p:cNvSpPr/>
          <p:nvPr/>
        </p:nvSpPr>
        <p:spPr>
          <a:xfrm>
            <a:off x="5897880" y="132588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là sản phẩm cuối, và là thứ đem chấm</a:t>
            </a:r>
            <a:endParaRPr lang="en-US" sz="1250" dirty="0"/>
          </a:p>
        </p:txBody>
      </p:sp>
      <p:sp>
        <p:nvSpPr>
          <p:cNvPr id="11" name="Shape 9"/>
          <p:cNvSpPr/>
          <p:nvPr/>
        </p:nvSpPr>
        <p:spPr>
          <a:xfrm>
            <a:off x="502920" y="2103120"/>
            <a:ext cx="8138160" cy="0"/>
          </a:xfrm>
          <a:prstGeom prst="line">
            <a:avLst/>
          </a:prstGeom>
          <a:noFill/>
          <a:ln w="12700">
            <a:solidFill>
              <a:srgbClr val="9A94AE"/>
            </a:solidFill>
            <a:prstDash val="solid"/>
          </a:ln>
        </p:spPr>
      </p:sp>
      <p:sp>
        <p:nvSpPr>
          <p:cNvPr id="12" name="Text 10"/>
          <p:cNvSpPr/>
          <p:nvPr/>
        </p:nvSpPr>
        <p:spPr>
          <a:xfrm>
            <a:off x="502920" y="210312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AndroidControl</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NeurIPS 2024</a:t>
            </a:r>
            <a:endParaRPr lang="en-US" sz="1250" dirty="0"/>
          </a:p>
        </p:txBody>
      </p:sp>
      <p:sp>
        <p:nvSpPr>
          <p:cNvPr id="13" name="Text 11"/>
          <p:cNvSpPr/>
          <p:nvPr/>
        </p:nvSpPr>
        <p:spPr>
          <a:xfrm>
            <a:off x="3154680" y="210312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chuẩn là đầu vào</a:t>
            </a:r>
            <a:endParaRPr lang="en-US" sz="1250" dirty="0"/>
          </a:p>
        </p:txBody>
      </p:sp>
      <p:sp>
        <p:nvSpPr>
          <p:cNvPr id="14" name="Text 12"/>
          <p:cNvSpPr/>
          <p:nvPr/>
        </p:nvSpPr>
        <p:spPr>
          <a:xfrm>
            <a:off x="5897880" y="210312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Dùng chính câu đó làm đầu ra mong đợi</a:t>
            </a:r>
            <a:endParaRPr lang="en-US" sz="1250" dirty="0"/>
          </a:p>
        </p:txBody>
      </p:sp>
      <p:sp>
        <p:nvSpPr>
          <p:cNvPr id="15" name="Shape 13"/>
          <p:cNvSpPr/>
          <p:nvPr/>
        </p:nvSpPr>
        <p:spPr>
          <a:xfrm>
            <a:off x="502920" y="2880360"/>
            <a:ext cx="8138160" cy="0"/>
          </a:xfrm>
          <a:prstGeom prst="line">
            <a:avLst/>
          </a:prstGeom>
          <a:noFill/>
          <a:ln w="12700">
            <a:solidFill>
              <a:srgbClr val="9A94AE"/>
            </a:solidFill>
            <a:prstDash val="solid"/>
          </a:ln>
        </p:spPr>
      </p:sp>
      <p:sp>
        <p:nvSpPr>
          <p:cNvPr id="16" name="Text 14"/>
          <p:cNvSpPr/>
          <p:nvPr/>
        </p:nvSpPr>
        <p:spPr>
          <a:xfrm>
            <a:off x="502920" y="288036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Sinh biểu thức quy chiếu</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Mao 2016 · Yu 2017</a:t>
            </a:r>
            <a:endParaRPr lang="en-US" sz="1250" dirty="0"/>
          </a:p>
        </p:txBody>
      </p:sp>
      <p:sp>
        <p:nvSpPr>
          <p:cNvPr id="17" name="Text 15"/>
          <p:cNvSpPr/>
          <p:nvPr/>
        </p:nvSpPr>
        <p:spPr>
          <a:xfrm>
            <a:off x="3154680" y="288036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phải đủ để bên kia trỏ đúng</a:t>
            </a:r>
            <a:endParaRPr lang="en-US" sz="1250" dirty="0"/>
          </a:p>
        </p:txBody>
      </p:sp>
      <p:sp>
        <p:nvSpPr>
          <p:cNvPr id="18" name="Text 16"/>
          <p:cNvSpPr/>
          <p:nvPr/>
        </p:nvSpPr>
        <p:spPr>
          <a:xfrm>
            <a:off x="5897880" y="288036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Đặt yêu cầu đó vào miền giao diện</a:t>
            </a:r>
            <a:endParaRPr lang="en-US" sz="1250" dirty="0"/>
          </a:p>
        </p:txBody>
      </p:sp>
      <p:sp>
        <p:nvSpPr>
          <p:cNvPr id="19" name="Shape 17"/>
          <p:cNvSpPr/>
          <p:nvPr/>
        </p:nvSpPr>
        <p:spPr>
          <a:xfrm>
            <a:off x="502920" y="3657600"/>
            <a:ext cx="8138160" cy="0"/>
          </a:xfrm>
          <a:prstGeom prst="line">
            <a:avLst/>
          </a:prstGeom>
          <a:noFill/>
          <a:ln w="12700">
            <a:solidFill>
              <a:srgbClr val="9A94AE"/>
            </a:solidFill>
            <a:prstDash val="solid"/>
          </a:ln>
        </p:spPr>
      </p:sp>
      <p:sp>
        <p:nvSpPr>
          <p:cNvPr id="20" name="Text 18"/>
          <p:cNvSpPr/>
          <p:nvPr/>
        </p:nvSpPr>
        <p:spPr>
          <a:xfrm>
            <a:off x="502920" y="3657600"/>
            <a:ext cx="265176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Widget Captioning</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EMNLP 2020</a:t>
            </a:r>
            <a:endParaRPr lang="en-US" sz="1250" dirty="0"/>
          </a:p>
        </p:txBody>
      </p:sp>
      <p:sp>
        <p:nvSpPr>
          <p:cNvPr id="21" name="Text 19"/>
          <p:cNvSpPr/>
          <p:nvPr/>
        </p:nvSpPr>
        <p:spPr>
          <a:xfrm>
            <a:off x="3154680" y="365760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Sinh mô tả, entropy chéo thuần</a:t>
            </a:r>
            <a:endParaRPr lang="en-US" sz="1250" dirty="0"/>
          </a:p>
        </p:txBody>
      </p:sp>
      <p:sp>
        <p:nvSpPr>
          <p:cNvPr id="22" name="Text 20"/>
          <p:cNvSpPr/>
          <p:nvPr/>
        </p:nvSpPr>
        <p:spPr>
          <a:xfrm>
            <a:off x="5897880" y="3657600"/>
            <a:ext cx="2743200" cy="7772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Tính phân biệt nằm trong mục tiêu huấn luyện</a:t>
            </a:r>
            <a:endParaRPr lang="en-US" sz="1250" dirty="0"/>
          </a:p>
        </p:txBody>
      </p:sp>
      <p:sp>
        <p:nvSpPr>
          <p:cNvPr id="23" name="Shape 21"/>
          <p:cNvSpPr/>
          <p:nvPr/>
        </p:nvSpPr>
        <p:spPr>
          <a:xfrm>
            <a:off x="502920" y="4434840"/>
            <a:ext cx="8138160" cy="0"/>
          </a:xfrm>
          <a:prstGeom prst="line">
            <a:avLst/>
          </a:prstGeom>
          <a:noFill/>
          <a:ln w="12700">
            <a:solidFill>
              <a:srgbClr val="9A94AE"/>
            </a:solidFill>
            <a:prstDash val="solid"/>
          </a:ln>
        </p:spPr>
      </p:sp>
      <p:sp>
        <p:nvSpPr>
          <p:cNvPr id="24" name="Text 22"/>
          <p:cNvSpPr/>
          <p:nvPr/>
        </p:nvSpPr>
        <p:spPr>
          <a:xfrm>
            <a:off x="502920" y="4434840"/>
            <a:ext cx="2651760" cy="8229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Zhao và cộng sự</a:t>
            </a:r>
            <a:endParaRPr lang="en-US" sz="1250" dirty="0"/>
          </a:p>
          <a:p>
            <a:pPr algn="l" indent="0" marL="0">
              <a:buNone/>
            </a:pPr>
            <a:r>
              <a:rPr lang="en-US" sz="1250" dirty="0">
                <a:solidFill>
                  <a:srgbClr val="1A1A1A"/>
                </a:solidFill>
                <a:latin typeface="Cambria" pitchFamily="34" charset="0"/>
                <a:ea typeface="Cambria" pitchFamily="34" charset="-122"/>
                <a:cs typeface="Cambria" pitchFamily="34" charset="-120"/>
              </a:rPr>
              <a:t>EACL 2021</a:t>
            </a:r>
            <a:endParaRPr lang="en-US" sz="1250" dirty="0"/>
          </a:p>
        </p:txBody>
      </p:sp>
      <p:sp>
        <p:nvSpPr>
          <p:cNvPr id="25" name="Text 23"/>
          <p:cNvSpPr/>
          <p:nvPr/>
        </p:nvSpPr>
        <p:spPr>
          <a:xfrm>
            <a:off x="3154680" y="4434840"/>
            <a:ext cx="2743200" cy="8229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BLEU, ROUGE không đo được hướng dẫn có định vị</a:t>
            </a:r>
            <a:endParaRPr lang="en-US" sz="1250" dirty="0"/>
          </a:p>
        </p:txBody>
      </p:sp>
      <p:sp>
        <p:nvSpPr>
          <p:cNvPr id="26" name="Text 24"/>
          <p:cNvSpPr/>
          <p:nvPr/>
        </p:nvSpPr>
        <p:spPr>
          <a:xfrm>
            <a:off x="5897880" y="4434840"/>
            <a:ext cx="2743200" cy="8229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Căn cứ để bỏ nhóm thước đồng thuận</a:t>
            </a:r>
            <a:endParaRPr lang="en-US" sz="1250" dirty="0"/>
          </a:p>
        </p:txBody>
      </p:sp>
      <p:sp>
        <p:nvSpPr>
          <p:cNvPr id="27" name="Shape 25"/>
          <p:cNvSpPr/>
          <p:nvPr/>
        </p:nvSpPr>
        <p:spPr>
          <a:xfrm>
            <a:off x="502920" y="5074920"/>
            <a:ext cx="8138160" cy="594360"/>
          </a:xfrm>
          <a:prstGeom prst="roundRect">
            <a:avLst>
              <a:gd name="adj" fmla="val 9231"/>
            </a:avLst>
          </a:prstGeom>
          <a:solidFill>
            <a:srgbClr val="E9E8EC"/>
          </a:solidFill>
          <a:ln/>
          <a:effectLst>
            <a:outerShdw sx="100000" sy="100000" kx="0" ky="0" algn="bl" rotWithShape="0" blurRad="63500" dist="31750" dir="2700000">
              <a:srgbClr val="8C8C99">
                <a:alpha val="45000"/>
              </a:srgbClr>
            </a:outerShdw>
          </a:effectLst>
        </p:spPr>
      </p:sp>
      <p:sp>
        <p:nvSpPr>
          <p:cNvPr id="28" name="Text 26"/>
          <p:cNvSpPr/>
          <p:nvPr/>
        </p:nvSpPr>
        <p:spPr>
          <a:xfrm>
            <a:off x="731520" y="5074920"/>
            <a:ext cx="7680960" cy="594360"/>
          </a:xfrm>
          <a:prstGeom prst="rect">
            <a:avLst/>
          </a:prstGeom>
          <a:noFill/>
          <a:ln/>
        </p:spPr>
        <p:txBody>
          <a:bodyPr wrap="square" lIns="0" tIns="0" rIns="0" bIns="0" rtlCol="0" anchor="ctr"/>
          <a:lstStyle/>
          <a:p>
            <a:pPr algn="l" indent="0" marL="0">
              <a:buNone/>
            </a:pPr>
            <a:r>
              <a:rPr lang="en-US" sz="1300" b="1" dirty="0">
                <a:solidFill>
                  <a:srgbClr val="B22222"/>
                </a:solidFill>
                <a:latin typeface="Cambria" pitchFamily="34" charset="0"/>
                <a:ea typeface="Cambria" pitchFamily="34" charset="-122"/>
                <a:cs typeface="Cambria" pitchFamily="34" charset="-120"/>
              </a:rPr>
              <a:t>Luận văn không dùng chữ “đầu tiên”: ý này đã có từ năm 2016.</a:t>
            </a:r>
            <a:endParaRPr lang="en-US" sz="1300" dirty="0"/>
          </a:p>
        </p:txBody>
      </p:sp>
      <p:sp>
        <p:nvSpPr>
          <p:cNvPr id="30" name="Shape 27"/>
          <p:cNvSpPr/>
          <p:nvPr/>
        </p:nvSpPr>
        <p:spPr>
          <a:xfrm>
            <a:off x="0" y="6620256"/>
            <a:ext cx="2743200" cy="237744"/>
          </a:xfrm>
          <a:prstGeom prst="rect">
            <a:avLst/>
          </a:prstGeom>
          <a:solidFill>
            <a:srgbClr val="191132"/>
          </a:solidFill>
          <a:ln/>
        </p:spPr>
      </p:sp>
      <p:sp>
        <p:nvSpPr>
          <p:cNvPr id="31" name="Shape 28"/>
          <p:cNvSpPr/>
          <p:nvPr/>
        </p:nvSpPr>
        <p:spPr>
          <a:xfrm>
            <a:off x="2743200" y="6620256"/>
            <a:ext cx="3383280" cy="237744"/>
          </a:xfrm>
          <a:prstGeom prst="rect">
            <a:avLst/>
          </a:prstGeom>
          <a:solidFill>
            <a:srgbClr val="25194B"/>
          </a:solidFill>
          <a:ln/>
        </p:spPr>
      </p:sp>
      <p:sp>
        <p:nvSpPr>
          <p:cNvPr id="32" name="Shape 29"/>
          <p:cNvSpPr/>
          <p:nvPr/>
        </p:nvSpPr>
        <p:spPr>
          <a:xfrm>
            <a:off x="6126480" y="6620256"/>
            <a:ext cx="1737360" cy="237744"/>
          </a:xfrm>
          <a:prstGeom prst="rect">
            <a:avLst/>
          </a:prstGeom>
          <a:solidFill>
            <a:srgbClr val="4F417A"/>
          </a:solidFill>
          <a:ln/>
        </p:spPr>
      </p:sp>
      <p:sp>
        <p:nvSpPr>
          <p:cNvPr id="33" name="Shape 30"/>
          <p:cNvSpPr/>
          <p:nvPr/>
        </p:nvSpPr>
        <p:spPr>
          <a:xfrm>
            <a:off x="7863840" y="6620256"/>
            <a:ext cx="1280160" cy="237744"/>
          </a:xfrm>
          <a:prstGeom prst="rect">
            <a:avLst/>
          </a:prstGeom>
          <a:solidFill>
            <a:srgbClr val="7A7099"/>
          </a:solidFill>
          <a:ln/>
        </p:spPr>
      </p:sp>
      <p:sp>
        <p:nvSpPr>
          <p:cNvPr id="34" name="Text 3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5" name="Text 3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6" name="Text 3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7" name="Text 3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5/26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1 · Ba đóng góp và trạng thái thật của từng đóng góp</a:t>
            </a:r>
            <a:endParaRPr lang="en-US" sz="1900" dirty="0"/>
          </a:p>
        </p:txBody>
      </p:sp>
      <p:sp>
        <p:nvSpPr>
          <p:cNvPr id="4" name="Shape 2"/>
          <p:cNvSpPr/>
          <p:nvPr/>
        </p:nvSpPr>
        <p:spPr>
          <a:xfrm>
            <a:off x="502920" y="960120"/>
            <a:ext cx="8138160" cy="1280160"/>
          </a:xfrm>
          <a:prstGeom prst="roundRect">
            <a:avLst>
              <a:gd name="adj" fmla="val 4286"/>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640080" y="1097280"/>
            <a:ext cx="457200" cy="502920"/>
          </a:xfrm>
          <a:prstGeom prst="rect">
            <a:avLst/>
          </a:prstGeom>
          <a:noFill/>
          <a:ln/>
        </p:spPr>
        <p:txBody>
          <a:bodyPr wrap="square" lIns="0" tIns="0" rIns="0" bIns="0" rtlCol="0" anchor="t"/>
          <a:lstStyle/>
          <a:p>
            <a:pPr algn="ctr" indent="0" marL="0">
              <a:buNone/>
            </a:pPr>
            <a:r>
              <a:rPr lang="en-US" sz="2600" b="1" dirty="0">
                <a:solidFill>
                  <a:srgbClr val="322164"/>
                </a:solidFill>
                <a:latin typeface="Cambria" pitchFamily="34" charset="0"/>
                <a:ea typeface="Cambria" pitchFamily="34" charset="-122"/>
                <a:cs typeface="Cambria" pitchFamily="34" charset="-120"/>
              </a:rPr>
              <a:t>1</a:t>
            </a:r>
            <a:endParaRPr lang="en-US" sz="2600" dirty="0"/>
          </a:p>
        </p:txBody>
      </p:sp>
      <p:sp>
        <p:nvSpPr>
          <p:cNvPr id="6" name="Text 4"/>
          <p:cNvSpPr/>
          <p:nvPr/>
        </p:nvSpPr>
        <p:spPr>
          <a:xfrm>
            <a:off x="1161288" y="1124712"/>
            <a:ext cx="5029200" cy="411480"/>
          </a:xfrm>
          <a:prstGeom prst="rect">
            <a:avLst/>
          </a:prstGeom>
          <a:noFill/>
          <a:ln/>
        </p:spPr>
        <p:txBody>
          <a:bodyPr wrap="square" lIns="0" tIns="0" rIns="0" bIns="0" rtlCol="0" anchor="t"/>
          <a:lstStyle/>
          <a:p>
            <a:pPr algn="l" indent="0" marL="0">
              <a:lnSpc>
                <a:spcPct val="115000"/>
              </a:lnSpc>
              <a:buNone/>
            </a:pPr>
            <a:r>
              <a:rPr lang="en-US" sz="1500" b="1" dirty="0">
                <a:solidFill>
                  <a:srgbClr val="322164"/>
                </a:solidFill>
                <a:latin typeface="Cambria" pitchFamily="34" charset="0"/>
                <a:ea typeface="Cambria" pitchFamily="34" charset="-122"/>
                <a:cs typeface="Cambria" pitchFamily="34" charset="-120"/>
              </a:rPr>
              <a:t>Thước đo executability</a:t>
            </a:r>
            <a:endParaRPr lang="en-US" sz="1500" dirty="0"/>
          </a:p>
        </p:txBody>
      </p:sp>
      <p:sp>
        <p:nvSpPr>
          <p:cNvPr id="7" name="Text 5"/>
          <p:cNvSpPr/>
          <p:nvPr/>
        </p:nvSpPr>
        <p:spPr>
          <a:xfrm>
            <a:off x="6446520" y="1124712"/>
            <a:ext cx="2011680" cy="320040"/>
          </a:xfrm>
          <a:prstGeom prst="rect">
            <a:avLst/>
          </a:prstGeom>
          <a:noFill/>
          <a:ln/>
        </p:spPr>
        <p:txBody>
          <a:bodyPr wrap="square" lIns="0" tIns="0" rIns="0" bIns="0" rtlCol="0" anchor="t"/>
          <a:lstStyle/>
          <a:p>
            <a:pPr algn="r" indent="0" marL="0">
              <a:buNone/>
            </a:pPr>
            <a:r>
              <a:rPr lang="en-US" sz="1250" b="1" dirty="0">
                <a:solidFill>
                  <a:srgbClr val="006666"/>
                </a:solidFill>
                <a:latin typeface="Cambria" pitchFamily="34" charset="0"/>
                <a:ea typeface="Cambria" pitchFamily="34" charset="-122"/>
                <a:cs typeface="Cambria" pitchFamily="34" charset="-120"/>
              </a:rPr>
              <a:t>HOÀN TẤT</a:t>
            </a:r>
            <a:endParaRPr lang="en-US" sz="1250" dirty="0"/>
          </a:p>
        </p:txBody>
      </p:sp>
      <p:sp>
        <p:nvSpPr>
          <p:cNvPr id="8" name="Text 6"/>
          <p:cNvSpPr/>
          <p:nvPr/>
        </p:nvSpPr>
        <p:spPr>
          <a:xfrm>
            <a:off x="1161288" y="1673352"/>
            <a:ext cx="7269480" cy="45720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Kiểm chứng bằng sáu khối phép đo.</a:t>
            </a:r>
            <a:endParaRPr lang="en-US" sz="1350" dirty="0"/>
          </a:p>
        </p:txBody>
      </p:sp>
      <p:sp>
        <p:nvSpPr>
          <p:cNvPr id="9" name="Shape 7"/>
          <p:cNvSpPr/>
          <p:nvPr/>
        </p:nvSpPr>
        <p:spPr>
          <a:xfrm>
            <a:off x="502920" y="2468880"/>
            <a:ext cx="8138160" cy="1280160"/>
          </a:xfrm>
          <a:prstGeom prst="roundRect">
            <a:avLst>
              <a:gd name="adj" fmla="val 4286"/>
            </a:avLst>
          </a:prstGeom>
          <a:solidFill>
            <a:srgbClr val="E9E8EC"/>
          </a:solidFill>
          <a:ln/>
          <a:effectLst>
            <a:outerShdw sx="100000" sy="100000" kx="0" ky="0" algn="bl" rotWithShape="0" blurRad="63500" dist="31750" dir="2700000">
              <a:srgbClr val="8C8C99">
                <a:alpha val="45000"/>
              </a:srgbClr>
            </a:outerShdw>
          </a:effectLst>
        </p:spPr>
      </p:sp>
      <p:sp>
        <p:nvSpPr>
          <p:cNvPr id="10" name="Text 8"/>
          <p:cNvSpPr/>
          <p:nvPr/>
        </p:nvSpPr>
        <p:spPr>
          <a:xfrm>
            <a:off x="640080" y="2606040"/>
            <a:ext cx="457200" cy="502920"/>
          </a:xfrm>
          <a:prstGeom prst="rect">
            <a:avLst/>
          </a:prstGeom>
          <a:noFill/>
          <a:ln/>
        </p:spPr>
        <p:txBody>
          <a:bodyPr wrap="square" lIns="0" tIns="0" rIns="0" bIns="0" rtlCol="0" anchor="t"/>
          <a:lstStyle/>
          <a:p>
            <a:pPr algn="ctr" indent="0" marL="0">
              <a:buNone/>
            </a:pPr>
            <a:r>
              <a:rPr lang="en-US" sz="2600" b="1" dirty="0">
                <a:solidFill>
                  <a:srgbClr val="322164"/>
                </a:solidFill>
                <a:latin typeface="Cambria" pitchFamily="34" charset="0"/>
                <a:ea typeface="Cambria" pitchFamily="34" charset="-122"/>
                <a:cs typeface="Cambria" pitchFamily="34" charset="-120"/>
              </a:rPr>
              <a:t>2</a:t>
            </a:r>
            <a:endParaRPr lang="en-US" sz="2600" dirty="0"/>
          </a:p>
        </p:txBody>
      </p:sp>
      <p:sp>
        <p:nvSpPr>
          <p:cNvPr id="11" name="Text 9"/>
          <p:cNvSpPr/>
          <p:nvPr/>
        </p:nvSpPr>
        <p:spPr>
          <a:xfrm>
            <a:off x="1161288" y="2633472"/>
            <a:ext cx="5029200" cy="411480"/>
          </a:xfrm>
          <a:prstGeom prst="rect">
            <a:avLst/>
          </a:prstGeom>
          <a:noFill/>
          <a:ln/>
        </p:spPr>
        <p:txBody>
          <a:bodyPr wrap="square" lIns="0" tIns="0" rIns="0" bIns="0" rtlCol="0" anchor="t"/>
          <a:lstStyle/>
          <a:p>
            <a:pPr algn="l" indent="0" marL="0">
              <a:lnSpc>
                <a:spcPct val="115000"/>
              </a:lnSpc>
              <a:buNone/>
            </a:pPr>
            <a:r>
              <a:rPr lang="en-US" sz="1500" b="1" dirty="0">
                <a:solidFill>
                  <a:srgbClr val="322164"/>
                </a:solidFill>
                <a:latin typeface="Cambria" pitchFamily="34" charset="0"/>
                <a:ea typeface="Cambria" pitchFamily="34" charset="-122"/>
                <a:cs typeface="Cambria" pitchFamily="34" charset="-120"/>
              </a:rPr>
              <a:t>Đường ống dữ liệu và kết quả thực nghiệm có nhánh so sánh</a:t>
            </a:r>
            <a:endParaRPr lang="en-US" sz="1500" dirty="0"/>
          </a:p>
        </p:txBody>
      </p:sp>
      <p:sp>
        <p:nvSpPr>
          <p:cNvPr id="12" name="Text 10"/>
          <p:cNvSpPr/>
          <p:nvPr/>
        </p:nvSpPr>
        <p:spPr>
          <a:xfrm>
            <a:off x="6446520" y="2633472"/>
            <a:ext cx="2011680" cy="320040"/>
          </a:xfrm>
          <a:prstGeom prst="rect">
            <a:avLst/>
          </a:prstGeom>
          <a:noFill/>
          <a:ln/>
        </p:spPr>
        <p:txBody>
          <a:bodyPr wrap="square" lIns="0" tIns="0" rIns="0" bIns="0" rtlCol="0" anchor="t"/>
          <a:lstStyle/>
          <a:p>
            <a:pPr algn="r" indent="0" marL="0">
              <a:buNone/>
            </a:pPr>
            <a:r>
              <a:rPr lang="en-US" sz="1250" b="1" dirty="0">
                <a:solidFill>
                  <a:srgbClr val="B22222"/>
                </a:solidFill>
                <a:latin typeface="Cambria" pitchFamily="34" charset="0"/>
                <a:ea typeface="Cambria" pitchFamily="34" charset="-122"/>
                <a:cs typeface="Cambria" pitchFamily="34" charset="-120"/>
              </a:rPr>
              <a:t>MỘT HẠT GIỐNG</a:t>
            </a:r>
            <a:endParaRPr lang="en-US" sz="1250" dirty="0"/>
          </a:p>
        </p:txBody>
      </p:sp>
      <p:sp>
        <p:nvSpPr>
          <p:cNvPr id="13" name="Text 11"/>
          <p:cNvSpPr/>
          <p:nvPr/>
        </p:nvSpPr>
        <p:spPr>
          <a:xfrm>
            <a:off x="1161288" y="3182112"/>
            <a:ext cx="7269480" cy="45720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Nhánh xử lý chỉ chạy được một hạt giống vì ngân sách máy.</a:t>
            </a:r>
            <a:endParaRPr lang="en-US" sz="1350" dirty="0"/>
          </a:p>
        </p:txBody>
      </p:sp>
      <p:sp>
        <p:nvSpPr>
          <p:cNvPr id="14" name="Shape 12"/>
          <p:cNvSpPr/>
          <p:nvPr/>
        </p:nvSpPr>
        <p:spPr>
          <a:xfrm>
            <a:off x="502920" y="3977640"/>
            <a:ext cx="8138160" cy="1280160"/>
          </a:xfrm>
          <a:prstGeom prst="roundRect">
            <a:avLst>
              <a:gd name="adj" fmla="val 4286"/>
            </a:avLst>
          </a:prstGeom>
          <a:solidFill>
            <a:srgbClr val="E9E8EC"/>
          </a:solidFill>
          <a:ln/>
          <a:effectLst>
            <a:outerShdw sx="100000" sy="100000" kx="0" ky="0" algn="bl" rotWithShape="0" blurRad="63500" dist="31750" dir="2700000">
              <a:srgbClr val="8C8C99">
                <a:alpha val="45000"/>
              </a:srgbClr>
            </a:outerShdw>
          </a:effectLst>
        </p:spPr>
      </p:sp>
      <p:sp>
        <p:nvSpPr>
          <p:cNvPr id="15" name="Text 13"/>
          <p:cNvSpPr/>
          <p:nvPr/>
        </p:nvSpPr>
        <p:spPr>
          <a:xfrm>
            <a:off x="640080" y="4114800"/>
            <a:ext cx="457200" cy="502920"/>
          </a:xfrm>
          <a:prstGeom prst="rect">
            <a:avLst/>
          </a:prstGeom>
          <a:noFill/>
          <a:ln/>
        </p:spPr>
        <p:txBody>
          <a:bodyPr wrap="square" lIns="0" tIns="0" rIns="0" bIns="0" rtlCol="0" anchor="t"/>
          <a:lstStyle/>
          <a:p>
            <a:pPr algn="ctr" indent="0" marL="0">
              <a:buNone/>
            </a:pPr>
            <a:r>
              <a:rPr lang="en-US" sz="2600" b="1" dirty="0">
                <a:solidFill>
                  <a:srgbClr val="322164"/>
                </a:solidFill>
                <a:latin typeface="Cambria" pitchFamily="34" charset="0"/>
                <a:ea typeface="Cambria" pitchFamily="34" charset="-122"/>
                <a:cs typeface="Cambria" pitchFamily="34" charset="-120"/>
              </a:rPr>
              <a:t>3</a:t>
            </a:r>
            <a:endParaRPr lang="en-US" sz="2600" dirty="0"/>
          </a:p>
        </p:txBody>
      </p:sp>
      <p:sp>
        <p:nvSpPr>
          <p:cNvPr id="16" name="Text 14"/>
          <p:cNvSpPr/>
          <p:nvPr/>
        </p:nvSpPr>
        <p:spPr>
          <a:xfrm>
            <a:off x="1161288" y="4142232"/>
            <a:ext cx="5029200" cy="411480"/>
          </a:xfrm>
          <a:prstGeom prst="rect">
            <a:avLst/>
          </a:prstGeom>
          <a:noFill/>
          <a:ln/>
        </p:spPr>
        <p:txBody>
          <a:bodyPr wrap="square" lIns="0" tIns="0" rIns="0" bIns="0" rtlCol="0" anchor="t"/>
          <a:lstStyle/>
          <a:p>
            <a:pPr algn="l" indent="0" marL="0">
              <a:lnSpc>
                <a:spcPct val="115000"/>
              </a:lnSpc>
              <a:buNone/>
            </a:pPr>
            <a:r>
              <a:rPr lang="en-US" sz="1500" b="1" dirty="0">
                <a:solidFill>
                  <a:srgbClr val="322164"/>
                </a:solidFill>
                <a:latin typeface="Cambria" pitchFamily="34" charset="0"/>
                <a:ea typeface="Cambria" pitchFamily="34" charset="-122"/>
                <a:cs typeface="Cambria" pitchFamily="34" charset="-120"/>
              </a:rPr>
              <a:t>Chẩn đoán ở mức từng bước</a:t>
            </a:r>
            <a:endParaRPr lang="en-US" sz="1500" dirty="0"/>
          </a:p>
        </p:txBody>
      </p:sp>
      <p:sp>
        <p:nvSpPr>
          <p:cNvPr id="17" name="Text 15"/>
          <p:cNvSpPr/>
          <p:nvPr/>
        </p:nvSpPr>
        <p:spPr>
          <a:xfrm>
            <a:off x="6446520" y="4142232"/>
            <a:ext cx="2011680" cy="320040"/>
          </a:xfrm>
          <a:prstGeom prst="rect">
            <a:avLst/>
          </a:prstGeom>
          <a:noFill/>
          <a:ln/>
        </p:spPr>
        <p:txBody>
          <a:bodyPr wrap="square" lIns="0" tIns="0" rIns="0" bIns="0" rtlCol="0" anchor="t"/>
          <a:lstStyle/>
          <a:p>
            <a:pPr algn="r" indent="0" marL="0">
              <a:buNone/>
            </a:pPr>
            <a:r>
              <a:rPr lang="en-US" sz="1250" b="1" dirty="0">
                <a:solidFill>
                  <a:srgbClr val="006666"/>
                </a:solidFill>
                <a:latin typeface="Cambria" pitchFamily="34" charset="0"/>
                <a:ea typeface="Cambria" pitchFamily="34" charset="-122"/>
                <a:cs typeface="Cambria" pitchFamily="34" charset="-120"/>
              </a:rPr>
              <a:t>HOÀN TẤT</a:t>
            </a:r>
            <a:endParaRPr lang="en-US" sz="1250" dirty="0"/>
          </a:p>
        </p:txBody>
      </p:sp>
      <p:sp>
        <p:nvSpPr>
          <p:cNvPr id="18" name="Text 16"/>
          <p:cNvSpPr/>
          <p:nvPr/>
        </p:nvSpPr>
        <p:spPr>
          <a:xfrm>
            <a:off x="1161288" y="4690872"/>
            <a:ext cx="7269480" cy="45720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Cơ chế đúng, nhưng bị chặn bởi độ chính xác khai báo. Nhánh ứng viên nối tiếp: chỗ nghẽn mới là bỏ cuộc quá mức.</a:t>
            </a:r>
            <a:endParaRPr lang="en-US" sz="1350" dirty="0"/>
          </a:p>
        </p:txBody>
      </p:sp>
      <p:sp>
        <p:nvSpPr>
          <p:cNvPr id="20" name="Shape 17"/>
          <p:cNvSpPr/>
          <p:nvPr/>
        </p:nvSpPr>
        <p:spPr>
          <a:xfrm>
            <a:off x="0" y="6620256"/>
            <a:ext cx="2743200" cy="237744"/>
          </a:xfrm>
          <a:prstGeom prst="rect">
            <a:avLst/>
          </a:prstGeom>
          <a:solidFill>
            <a:srgbClr val="191132"/>
          </a:solidFill>
          <a:ln/>
        </p:spPr>
      </p:sp>
      <p:sp>
        <p:nvSpPr>
          <p:cNvPr id="21" name="Shape 18"/>
          <p:cNvSpPr/>
          <p:nvPr/>
        </p:nvSpPr>
        <p:spPr>
          <a:xfrm>
            <a:off x="2743200" y="6620256"/>
            <a:ext cx="3383280" cy="237744"/>
          </a:xfrm>
          <a:prstGeom prst="rect">
            <a:avLst/>
          </a:prstGeom>
          <a:solidFill>
            <a:srgbClr val="25194B"/>
          </a:solidFill>
          <a:ln/>
        </p:spPr>
      </p:sp>
      <p:sp>
        <p:nvSpPr>
          <p:cNvPr id="22" name="Shape 19"/>
          <p:cNvSpPr/>
          <p:nvPr/>
        </p:nvSpPr>
        <p:spPr>
          <a:xfrm>
            <a:off x="6126480" y="6620256"/>
            <a:ext cx="1737360" cy="237744"/>
          </a:xfrm>
          <a:prstGeom prst="rect">
            <a:avLst/>
          </a:prstGeom>
          <a:solidFill>
            <a:srgbClr val="4F417A"/>
          </a:solidFill>
          <a:ln/>
        </p:spPr>
      </p:sp>
      <p:sp>
        <p:nvSpPr>
          <p:cNvPr id="23" name="Shape 20"/>
          <p:cNvSpPr/>
          <p:nvPr/>
        </p:nvSpPr>
        <p:spPr>
          <a:xfrm>
            <a:off x="7863840" y="6620256"/>
            <a:ext cx="1280160" cy="237744"/>
          </a:xfrm>
          <a:prstGeom prst="rect">
            <a:avLst/>
          </a:prstGeom>
          <a:solidFill>
            <a:srgbClr val="7A7099"/>
          </a:solidFill>
          <a:ln/>
        </p:spPr>
      </p:sp>
      <p:sp>
        <p:nvSpPr>
          <p:cNvPr id="24" name="Text 2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5" name="Text 2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6/26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2 · Dữ liệu: dựng bằng máy, không thuê người dán nhãn</a:t>
            </a:r>
            <a:endParaRPr lang="en-US" sz="1900" dirty="0"/>
          </a:p>
        </p:txBody>
      </p:sp>
      <p:sp>
        <p:nvSpPr>
          <p:cNvPr id="4" name="Text 2"/>
          <p:cNvSpPr/>
          <p:nvPr/>
        </p:nvSpPr>
        <p:spPr>
          <a:xfrm>
            <a:off x="502920" y="822960"/>
            <a:ext cx="8138160" cy="4572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Ghép hai kho công khai theo khoá (episode_id, step_id): câu chuẩn và cây trợ năng từ kho thứ nhất, ảnh màn hình từ kho thứ hai.</a:t>
            </a:r>
            <a:endParaRPr lang="en-US" sz="1300" dirty="0"/>
          </a:p>
        </p:txBody>
      </p:sp>
      <p:sp>
        <p:nvSpPr>
          <p:cNvPr id="5" name="Shape 3"/>
          <p:cNvSpPr/>
          <p:nvPr/>
        </p:nvSpPr>
        <p:spPr>
          <a:xfrm>
            <a:off x="960120" y="1463040"/>
            <a:ext cx="7863840" cy="384048"/>
          </a:xfrm>
          <a:prstGeom prst="rect">
            <a:avLst/>
          </a:prstGeom>
          <a:solidFill>
            <a:srgbClr val="322164"/>
          </a:solidFill>
          <a:ln/>
        </p:spPr>
      </p:sp>
      <p:sp>
        <p:nvSpPr>
          <p:cNvPr id="6" name="Text 4"/>
          <p:cNvSpPr/>
          <p:nvPr/>
        </p:nvSpPr>
        <p:spPr>
          <a:xfrm>
            <a:off x="960120" y="1463040"/>
            <a:ext cx="2377440" cy="384048"/>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Tập</a:t>
            </a:r>
            <a:endParaRPr lang="en-US" sz="1300" dirty="0"/>
          </a:p>
        </p:txBody>
      </p:sp>
      <p:sp>
        <p:nvSpPr>
          <p:cNvPr id="7" name="Text 5"/>
          <p:cNvSpPr/>
          <p:nvPr/>
        </p:nvSpPr>
        <p:spPr>
          <a:xfrm>
            <a:off x="3337560" y="1463040"/>
            <a:ext cx="2011680" cy="384048"/>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Số bước</a:t>
            </a:r>
            <a:endParaRPr lang="en-US" sz="1300" dirty="0"/>
          </a:p>
        </p:txBody>
      </p:sp>
      <p:sp>
        <p:nvSpPr>
          <p:cNvPr id="8" name="Text 6"/>
          <p:cNvSpPr/>
          <p:nvPr/>
        </p:nvSpPr>
        <p:spPr>
          <a:xfrm>
            <a:off x="5349240" y="1463040"/>
            <a:ext cx="2011680" cy="384048"/>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Bước chạm</a:t>
            </a:r>
            <a:endParaRPr lang="en-US" sz="1300" dirty="0"/>
          </a:p>
        </p:txBody>
      </p:sp>
      <p:sp>
        <p:nvSpPr>
          <p:cNvPr id="9" name="Text 7"/>
          <p:cNvSpPr/>
          <p:nvPr/>
        </p:nvSpPr>
        <p:spPr>
          <a:xfrm>
            <a:off x="7360920" y="1463040"/>
            <a:ext cx="1463040" cy="384048"/>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Tác vụ</a:t>
            </a:r>
            <a:endParaRPr lang="en-US" sz="1300" dirty="0"/>
          </a:p>
        </p:txBody>
      </p:sp>
      <p:sp>
        <p:nvSpPr>
          <p:cNvPr id="10" name="Text 8"/>
          <p:cNvSpPr/>
          <p:nvPr/>
        </p:nvSpPr>
        <p:spPr>
          <a:xfrm>
            <a:off x="960120" y="1847088"/>
            <a:ext cx="2377440" cy="384048"/>
          </a:xfrm>
          <a:prstGeom prst="rect">
            <a:avLst/>
          </a:prstGeom>
          <a:noFill/>
          <a:ln/>
        </p:spPr>
        <p:txBody>
          <a:bodyPr wrap="square" lIns="38100" tIns="38100" rIns="38100" bIns="38100" rtlCol="0" anchor="ctr"/>
          <a:lstStyle/>
          <a:p>
            <a:pPr algn="l" indent="0" marL="0">
              <a:buNone/>
            </a:pPr>
            <a:r>
              <a:rPr lang="en-US" sz="1350" dirty="0">
                <a:solidFill>
                  <a:srgbClr val="1A1A1A"/>
                </a:solidFill>
                <a:latin typeface="Cambria" pitchFamily="34" charset="0"/>
                <a:ea typeface="Cambria" pitchFamily="34" charset="-122"/>
                <a:cs typeface="Cambria" pitchFamily="34" charset="-120"/>
              </a:rPr>
              <a:t>Huấn luyện</a:t>
            </a:r>
            <a:endParaRPr lang="en-US" sz="1350" dirty="0"/>
          </a:p>
        </p:txBody>
      </p:sp>
      <p:sp>
        <p:nvSpPr>
          <p:cNvPr id="11" name="Text 9"/>
          <p:cNvSpPr/>
          <p:nvPr/>
        </p:nvSpPr>
        <p:spPr>
          <a:xfrm>
            <a:off x="3337560" y="1847088"/>
            <a:ext cx="2011680" cy="38404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64.567</a:t>
            </a:r>
            <a:endParaRPr lang="en-US" sz="1350" dirty="0"/>
          </a:p>
        </p:txBody>
      </p:sp>
      <p:sp>
        <p:nvSpPr>
          <p:cNvPr id="12" name="Text 10"/>
          <p:cNvSpPr/>
          <p:nvPr/>
        </p:nvSpPr>
        <p:spPr>
          <a:xfrm>
            <a:off x="5349240" y="1847088"/>
            <a:ext cx="2011680" cy="38404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41.191</a:t>
            </a:r>
            <a:endParaRPr lang="en-US" sz="1350" dirty="0"/>
          </a:p>
        </p:txBody>
      </p:sp>
      <p:sp>
        <p:nvSpPr>
          <p:cNvPr id="13" name="Text 11"/>
          <p:cNvSpPr/>
          <p:nvPr/>
        </p:nvSpPr>
        <p:spPr>
          <a:xfrm>
            <a:off x="7360920" y="1847088"/>
            <a:ext cx="1463040" cy="38404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12.895</a:t>
            </a:r>
            <a:endParaRPr lang="en-US" sz="1350" dirty="0"/>
          </a:p>
        </p:txBody>
      </p:sp>
      <p:sp>
        <p:nvSpPr>
          <p:cNvPr id="14" name="Shape 12"/>
          <p:cNvSpPr/>
          <p:nvPr/>
        </p:nvSpPr>
        <p:spPr>
          <a:xfrm>
            <a:off x="960120" y="2231136"/>
            <a:ext cx="7863840" cy="0"/>
          </a:xfrm>
          <a:prstGeom prst="line">
            <a:avLst/>
          </a:prstGeom>
          <a:noFill/>
          <a:ln w="12700">
            <a:solidFill>
              <a:srgbClr val="9A94AE"/>
            </a:solidFill>
            <a:prstDash val="solid"/>
          </a:ln>
        </p:spPr>
      </p:sp>
      <p:sp>
        <p:nvSpPr>
          <p:cNvPr id="15" name="Text 13"/>
          <p:cNvSpPr/>
          <p:nvPr/>
        </p:nvSpPr>
        <p:spPr>
          <a:xfrm>
            <a:off x="960120" y="2231136"/>
            <a:ext cx="2377440" cy="384048"/>
          </a:xfrm>
          <a:prstGeom prst="rect">
            <a:avLst/>
          </a:prstGeom>
          <a:noFill/>
          <a:ln/>
        </p:spPr>
        <p:txBody>
          <a:bodyPr wrap="square" lIns="38100" tIns="38100" rIns="38100" bIns="38100" rtlCol="0" anchor="ctr"/>
          <a:lstStyle/>
          <a:p>
            <a:pPr algn="l" indent="0" marL="0">
              <a:buNone/>
            </a:pPr>
            <a:r>
              <a:rPr lang="en-US" sz="1350" b="1" dirty="0">
                <a:solidFill>
                  <a:srgbClr val="1A1A1A"/>
                </a:solidFill>
                <a:latin typeface="Cambria" pitchFamily="34" charset="0"/>
                <a:ea typeface="Cambria" pitchFamily="34" charset="-122"/>
                <a:cs typeface="Cambria" pitchFamily="34" charset="-120"/>
              </a:rPr>
              <a:t>Kiểm tra</a:t>
            </a:r>
            <a:endParaRPr lang="en-US" sz="1350" dirty="0"/>
          </a:p>
        </p:txBody>
      </p:sp>
      <p:sp>
        <p:nvSpPr>
          <p:cNvPr id="16" name="Text 14"/>
          <p:cNvSpPr/>
          <p:nvPr/>
        </p:nvSpPr>
        <p:spPr>
          <a:xfrm>
            <a:off x="3337560" y="2231136"/>
            <a:ext cx="2011680" cy="38404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6.958</a:t>
            </a:r>
            <a:endParaRPr lang="en-US" sz="1350" dirty="0"/>
          </a:p>
        </p:txBody>
      </p:sp>
      <p:sp>
        <p:nvSpPr>
          <p:cNvPr id="17" name="Text 15"/>
          <p:cNvSpPr/>
          <p:nvPr/>
        </p:nvSpPr>
        <p:spPr>
          <a:xfrm>
            <a:off x="5349240" y="2231136"/>
            <a:ext cx="2011680" cy="38404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4.463</a:t>
            </a:r>
            <a:endParaRPr lang="en-US" sz="1350" dirty="0"/>
          </a:p>
        </p:txBody>
      </p:sp>
      <p:sp>
        <p:nvSpPr>
          <p:cNvPr id="18" name="Text 16"/>
          <p:cNvSpPr/>
          <p:nvPr/>
        </p:nvSpPr>
        <p:spPr>
          <a:xfrm>
            <a:off x="7360920" y="2231136"/>
            <a:ext cx="1463040" cy="38404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1.432</a:t>
            </a:r>
            <a:endParaRPr lang="en-US" sz="1350" dirty="0"/>
          </a:p>
        </p:txBody>
      </p:sp>
      <p:sp>
        <p:nvSpPr>
          <p:cNvPr id="19" name="Text 17"/>
          <p:cNvSpPr/>
          <p:nvPr/>
        </p:nvSpPr>
        <p:spPr>
          <a:xfrm>
            <a:off x="502920" y="288036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Ba phép kiểm bảo vệ phần này</a:t>
            </a:r>
            <a:endParaRPr lang="en-US" sz="1400" dirty="0"/>
          </a:p>
        </p:txBody>
      </p:sp>
      <p:sp>
        <p:nvSpPr>
          <p:cNvPr id="20" name="Text 18"/>
          <p:cNvSpPr/>
          <p:nvPr/>
        </p:nvSpPr>
        <p:spPr>
          <a:xfrm>
            <a:off x="640080" y="3291840"/>
            <a:ext cx="201168" cy="50292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1" name="Text 19"/>
          <p:cNvSpPr/>
          <p:nvPr/>
        </p:nvSpPr>
        <p:spPr>
          <a:xfrm>
            <a:off x="868680" y="3291840"/>
            <a:ext cx="7635240" cy="457200"/>
          </a:xfrm>
          <a:prstGeom prst="rect">
            <a:avLst/>
          </a:prstGeom>
          <a:noFill/>
          <a:ln/>
        </p:spPr>
        <p:txBody>
          <a:bodyPr wrap="square" lIns="0" tIns="0" rIns="0" bIns="0" rtlCol="0" anchor="t"/>
          <a:lstStyle/>
          <a:p>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Phép ghép khớp </a:t>
            </a:r>
            <a:pPr algn="l" indent="0" marL="0">
              <a:lnSpc>
                <a:spcPct val="120000"/>
              </a:lnSpc>
              <a:buNone/>
            </a:pPr>
            <a:r>
              <a:rPr lang="en-US" sz="1350" b="1" dirty="0">
                <a:solidFill>
                  <a:srgbClr val="006666"/>
                </a:solidFill>
                <a:latin typeface="Cambria" pitchFamily="34" charset="0"/>
                <a:ea typeface="Cambria" pitchFamily="34" charset="-122"/>
                <a:cs typeface="Cambria" pitchFamily="34" charset="-120"/>
              </a:rPr>
              <a:t>48%</a:t>
            </a:r>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 phép ghép cố ý lệch một bước chỉ </a:t>
            </a:r>
            <a:pPr algn="l" indent="0" marL="0">
              <a:lnSpc>
                <a:spcPct val="120000"/>
              </a:lnSpc>
              <a:buNone/>
            </a:pPr>
            <a:r>
              <a:rPr lang="en-US" sz="1350" b="1" dirty="0">
                <a:solidFill>
                  <a:srgbClr val="B22222"/>
                </a:solidFill>
                <a:latin typeface="Cambria" pitchFamily="34" charset="0"/>
                <a:ea typeface="Cambria" pitchFamily="34" charset="-122"/>
                <a:cs typeface="Cambria" pitchFamily="34" charset="-120"/>
              </a:rPr>
              <a:t>20%</a:t>
            </a:r>
            <a:endParaRPr lang="en-US" sz="1350" dirty="0"/>
          </a:p>
        </p:txBody>
      </p:sp>
      <p:sp>
        <p:nvSpPr>
          <p:cNvPr id="22" name="Text 20"/>
          <p:cNvSpPr/>
          <p:nvPr/>
        </p:nvSpPr>
        <p:spPr>
          <a:xfrm>
            <a:off x="640080" y="3794760"/>
            <a:ext cx="201168" cy="50292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3" name="Text 21"/>
          <p:cNvSpPr/>
          <p:nvPr/>
        </p:nvSpPr>
        <p:spPr>
          <a:xfrm>
            <a:off x="868680" y="3794760"/>
            <a:ext cx="7635240" cy="457200"/>
          </a:xfrm>
          <a:prstGeom prst="rect">
            <a:avLst/>
          </a:prstGeom>
          <a:noFill/>
          <a:ln/>
        </p:spPr>
        <p:txBody>
          <a:bodyPr wrap="square" lIns="0" tIns="0" rIns="0" bIns="0" rtlCol="0" anchor="t"/>
          <a:lstStyle/>
          <a:p>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Chín bất biến cấu trúc đều đạt: </a:t>
            </a:r>
            <a:pPr algn="l" indent="0" marL="0">
              <a:lnSpc>
                <a:spcPct val="120000"/>
              </a:lnSpc>
              <a:buNone/>
            </a:pPr>
            <a:r>
              <a:rPr lang="en-US" sz="1350" b="1" dirty="0">
                <a:solidFill>
                  <a:srgbClr val="006666"/>
                </a:solidFill>
                <a:latin typeface="Cambria" pitchFamily="34" charset="0"/>
                <a:ea typeface="Cambria" pitchFamily="34" charset="-122"/>
                <a:cs typeface="Cambria" pitchFamily="34" charset="-120"/>
              </a:rPr>
              <a:t>9/9</a:t>
            </a:r>
            <a:endParaRPr lang="en-US" sz="1350" dirty="0"/>
          </a:p>
        </p:txBody>
      </p:sp>
      <p:sp>
        <p:nvSpPr>
          <p:cNvPr id="24" name="Text 22"/>
          <p:cNvSpPr/>
          <p:nvPr/>
        </p:nvSpPr>
        <p:spPr>
          <a:xfrm>
            <a:off x="640080" y="4297680"/>
            <a:ext cx="201168" cy="50292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5" name="Text 23"/>
          <p:cNvSpPr/>
          <p:nvPr/>
        </p:nvSpPr>
        <p:spPr>
          <a:xfrm>
            <a:off x="868680" y="4297680"/>
            <a:ext cx="7635240" cy="457200"/>
          </a:xfrm>
          <a:prstGeom prst="rect">
            <a:avLst/>
          </a:prstGeom>
          <a:noFill/>
          <a:ln/>
        </p:spPr>
        <p:txBody>
          <a:bodyPr wrap="square" lIns="0" tIns="0" rIns="0" bIns="0" rtlCol="0" anchor="t"/>
          <a:lstStyle/>
          <a:p>
            <a:pPr algn="l" indent="0" marL="0">
              <a:lnSpc>
                <a:spcPct val="120000"/>
              </a:lnSpc>
              <a:buNone/>
            </a:pPr>
            <a:r>
              <a:rPr lang="en-US" sz="1350" dirty="0">
                <a:solidFill>
                  <a:srgbClr val="1A1A1A"/>
                </a:solidFill>
                <a:latin typeface="Cambria" pitchFamily="34" charset="0"/>
                <a:ea typeface="Cambria" pitchFamily="34" charset="-122"/>
                <a:cs typeface="Cambria" pitchFamily="34" charset="-120"/>
              </a:rPr>
              <a:t>Rò rỉ dạy và kiểm: </a:t>
            </a:r>
            <a:pPr algn="l" indent="0" marL="0">
              <a:lnSpc>
                <a:spcPct val="120000"/>
              </a:lnSpc>
              <a:buNone/>
            </a:pPr>
            <a:r>
              <a:rPr lang="en-US" sz="1350" b="1" dirty="0">
                <a:solidFill>
                  <a:srgbClr val="006666"/>
                </a:solidFill>
                <a:latin typeface="Cambria" pitchFamily="34" charset="0"/>
                <a:ea typeface="Cambria" pitchFamily="34" charset="-122"/>
                <a:cs typeface="Cambria" pitchFamily="34" charset="-120"/>
              </a:rPr>
              <a:t>không tác vụ nào trùng</a:t>
            </a:r>
            <a:endParaRPr lang="en-US" sz="1350" dirty="0"/>
          </a:p>
        </p:txBody>
      </p:sp>
      <p:sp>
        <p:nvSpPr>
          <p:cNvPr id="26" name="Shape 24"/>
          <p:cNvSpPr/>
          <p:nvPr/>
        </p:nvSpPr>
        <p:spPr>
          <a:xfrm>
            <a:off x="502920" y="4937760"/>
            <a:ext cx="8138160" cy="731520"/>
          </a:xfrm>
          <a:prstGeom prst="roundRect">
            <a:avLst>
              <a:gd name="adj" fmla="val 7500"/>
            </a:avLst>
          </a:prstGeom>
          <a:solidFill>
            <a:srgbClr val="E9E8EC"/>
          </a:solidFill>
          <a:ln/>
          <a:effectLst>
            <a:outerShdw sx="100000" sy="100000" kx="0" ky="0" algn="bl" rotWithShape="0" blurRad="63500" dist="31750" dir="2700000">
              <a:srgbClr val="8C8C99">
                <a:alpha val="45000"/>
              </a:srgbClr>
            </a:outerShdw>
          </a:effectLst>
        </p:spPr>
      </p:sp>
      <p:sp>
        <p:nvSpPr>
          <p:cNvPr id="27" name="Text 25"/>
          <p:cNvSpPr/>
          <p:nvPr/>
        </p:nvSpPr>
        <p:spPr>
          <a:xfrm>
            <a:off x="731520" y="4937760"/>
            <a:ext cx="7680960" cy="731520"/>
          </a:xfrm>
          <a:prstGeom prst="rect">
            <a:avLst/>
          </a:prstGeom>
          <a:noFill/>
          <a:ln/>
        </p:spPr>
        <p:txBody>
          <a:bodyPr wrap="square" lIns="0" tIns="0" rIns="0" bIns="0" rtlCol="0" anchor="ctr"/>
          <a:lstStyle/>
          <a:p>
            <a:pPr algn="l" indent="0" marL="0">
              <a:buNone/>
            </a:pPr>
            <a:r>
              <a:rPr lang="en-US" sz="1350" dirty="0">
                <a:solidFill>
                  <a:srgbClr val="1A1A1A"/>
                </a:solidFill>
                <a:latin typeface="Cambria" pitchFamily="34" charset="0"/>
                <a:ea typeface="Cambria" pitchFamily="34" charset="-122"/>
                <a:cs typeface="Cambria" pitchFamily="34" charset="-120"/>
              </a:rPr>
              <a:t>Nhãn không do người dán, cũng không lấy từ một mô hình ngôn ngữ khác.</a:t>
            </a:r>
            <a:endParaRPr lang="en-US" sz="1350" dirty="0"/>
          </a:p>
        </p:txBody>
      </p:sp>
      <p:sp>
        <p:nvSpPr>
          <p:cNvPr id="29" name="Shape 26"/>
          <p:cNvSpPr/>
          <p:nvPr/>
        </p:nvSpPr>
        <p:spPr>
          <a:xfrm>
            <a:off x="0" y="6620256"/>
            <a:ext cx="2743200" cy="237744"/>
          </a:xfrm>
          <a:prstGeom prst="rect">
            <a:avLst/>
          </a:prstGeom>
          <a:solidFill>
            <a:srgbClr val="191132"/>
          </a:solidFill>
          <a:ln/>
        </p:spPr>
      </p:sp>
      <p:sp>
        <p:nvSpPr>
          <p:cNvPr id="30" name="Shape 27"/>
          <p:cNvSpPr/>
          <p:nvPr/>
        </p:nvSpPr>
        <p:spPr>
          <a:xfrm>
            <a:off x="2743200" y="6620256"/>
            <a:ext cx="3383280" cy="237744"/>
          </a:xfrm>
          <a:prstGeom prst="rect">
            <a:avLst/>
          </a:prstGeom>
          <a:solidFill>
            <a:srgbClr val="25194B"/>
          </a:solidFill>
          <a:ln/>
        </p:spPr>
      </p:sp>
      <p:sp>
        <p:nvSpPr>
          <p:cNvPr id="31" name="Shape 28"/>
          <p:cNvSpPr/>
          <p:nvPr/>
        </p:nvSpPr>
        <p:spPr>
          <a:xfrm>
            <a:off x="6126480" y="6620256"/>
            <a:ext cx="1737360" cy="237744"/>
          </a:xfrm>
          <a:prstGeom prst="rect">
            <a:avLst/>
          </a:prstGeom>
          <a:solidFill>
            <a:srgbClr val="4F417A"/>
          </a:solidFill>
          <a:ln/>
        </p:spPr>
      </p:sp>
      <p:sp>
        <p:nvSpPr>
          <p:cNvPr id="32" name="Shape 29"/>
          <p:cNvSpPr/>
          <p:nvPr/>
        </p:nvSpPr>
        <p:spPr>
          <a:xfrm>
            <a:off x="7863840" y="6620256"/>
            <a:ext cx="1280160" cy="237744"/>
          </a:xfrm>
          <a:prstGeom prst="rect">
            <a:avLst/>
          </a:prstGeom>
          <a:solidFill>
            <a:srgbClr val="7A7099"/>
          </a:solidFill>
          <a:ln/>
        </p:spPr>
      </p:sp>
      <p:sp>
        <p:nvSpPr>
          <p:cNvPr id="33" name="Text 3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4" name="Text 3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7/26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2 · Nhãn mô tả tự động cho phần tử người dùng đã chạm</a:t>
            </a:r>
            <a:endParaRPr lang="en-US" sz="1900" dirty="0"/>
          </a:p>
        </p:txBody>
      </p:sp>
      <p:sp>
        <p:nvSpPr>
          <p:cNvPr id="4" name="Shape 2"/>
          <p:cNvSpPr/>
          <p:nvPr/>
        </p:nvSpPr>
        <p:spPr>
          <a:xfrm>
            <a:off x="502920" y="868680"/>
            <a:ext cx="8138160" cy="640080"/>
          </a:xfrm>
          <a:prstGeom prst="roundRect">
            <a:avLst>
              <a:gd name="adj" fmla="val 8571"/>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868680"/>
            <a:ext cx="7680960" cy="640080"/>
          </a:xfrm>
          <a:prstGeom prst="rect">
            <a:avLst/>
          </a:prstGeom>
          <a:noFill/>
          <a:ln/>
        </p:spPr>
        <p:txBody>
          <a:bodyPr wrap="square" lIns="0" tIns="0" rIns="0" bIns="0" rtlCol="0" anchor="ctr"/>
          <a:lstStyle/>
          <a:p>
            <a:pPr algn="l" indent="0" marL="0">
              <a:buNone/>
            </a:pPr>
            <a:r>
              <a:rPr lang="en-US" sz="1400" b="1" dirty="0">
                <a:solidFill>
                  <a:srgbClr val="322164"/>
                </a:solidFill>
                <a:latin typeface="Cambria" pitchFamily="34" charset="0"/>
                <a:ea typeface="Cambria" pitchFamily="34" charset="-122"/>
                <a:cs typeface="Cambria" pitchFamily="34" charset="-120"/>
              </a:rPr>
              <a:t>Mỗi nhãn gồm bốn ô:   </a:t>
            </a:r>
            <a:pPr algn="l" indent="0" marL="0">
              <a:buNone/>
            </a:pPr>
            <a:r>
              <a:rPr lang="en-US" sz="1400" b="1" dirty="0">
                <a:solidFill>
                  <a:srgbClr val="1414BE"/>
                </a:solidFill>
                <a:latin typeface="Cambria" pitchFamily="34" charset="0"/>
                <a:ea typeface="Cambria" pitchFamily="34" charset="-122"/>
                <a:cs typeface="Cambria" pitchFamily="34" charset="-120"/>
              </a:rPr>
              <a:t>vai trò  |  tên  |  toạ độ chạm  |  dấu hiệu phân biệt</a:t>
            </a:r>
            <a:endParaRPr lang="en-US" sz="1400" dirty="0"/>
          </a:p>
        </p:txBody>
      </p:sp>
      <p:sp>
        <p:nvSpPr>
          <p:cNvPr id="6" name="Text 4"/>
          <p:cNvSpPr/>
          <p:nvPr/>
        </p:nvSpPr>
        <p:spPr>
          <a:xfrm>
            <a:off x="502920" y="1737360"/>
            <a:ext cx="40233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Vì sao phải tự dựng ô tên</a:t>
            </a:r>
            <a:endParaRPr lang="en-US" sz="1400" dirty="0"/>
          </a:p>
        </p:txBody>
      </p:sp>
      <p:sp>
        <p:nvSpPr>
          <p:cNvPr id="7" name="Text 5"/>
          <p:cNvSpPr/>
          <p:nvPr/>
        </p:nvSpPr>
        <p:spPr>
          <a:xfrm>
            <a:off x="502920" y="214884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8" name="Text 6"/>
          <p:cNvSpPr/>
          <p:nvPr/>
        </p:nvSpPr>
        <p:spPr>
          <a:xfrm>
            <a:off x="731520" y="2148840"/>
            <a:ext cx="379476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Cây trợ năng có 86 phần tử mỗi màn, chỉ 12,6% có tên</a:t>
            </a:r>
            <a:endParaRPr lang="en-US" sz="1300" dirty="0"/>
          </a:p>
        </p:txBody>
      </p:sp>
      <p:sp>
        <p:nvSpPr>
          <p:cNvPr id="9" name="Text 7"/>
          <p:cNvSpPr/>
          <p:nvPr/>
        </p:nvSpPr>
        <p:spPr>
          <a:xfrm>
            <a:off x="502920" y="292608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0" name="Text 8"/>
          <p:cNvSpPr/>
          <p:nvPr/>
        </p:nvSpPr>
        <p:spPr>
          <a:xfrm>
            <a:off x="731520" y="2926080"/>
            <a:ext cx="379476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Trích chữ trên ảnh bù vào, phủ 100% số bước</a:t>
            </a:r>
            <a:endParaRPr lang="en-US" sz="1300" dirty="0"/>
          </a:p>
        </p:txBody>
      </p:sp>
      <p:sp>
        <p:nvSpPr>
          <p:cNvPr id="11" name="Text 9"/>
          <p:cNvSpPr/>
          <p:nvPr/>
        </p:nvSpPr>
        <p:spPr>
          <a:xfrm>
            <a:off x="502920" y="3703320"/>
            <a:ext cx="201168" cy="77724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2" name="Text 10"/>
          <p:cNvSpPr/>
          <p:nvPr/>
        </p:nvSpPr>
        <p:spPr>
          <a:xfrm>
            <a:off x="731520" y="3703320"/>
            <a:ext cx="3794760" cy="73152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Hai cổng lọc thêm: nhãn rác 14,7% và phần tử quá 25% màn</a:t>
            </a:r>
            <a:endParaRPr lang="en-US" sz="1300" dirty="0"/>
          </a:p>
        </p:txBody>
      </p:sp>
      <p:sp>
        <p:nvSpPr>
          <p:cNvPr id="13" name="Text 11"/>
          <p:cNvSpPr/>
          <p:nvPr/>
        </p:nvSpPr>
        <p:spPr>
          <a:xfrm>
            <a:off x="4663440" y="1737360"/>
            <a:ext cx="397764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Chất lượng ô tên</a:t>
            </a:r>
            <a:endParaRPr lang="en-US" sz="1400" dirty="0"/>
          </a:p>
        </p:txBody>
      </p:sp>
      <p:sp>
        <p:nvSpPr>
          <p:cNvPr id="14" name="Text 12"/>
          <p:cNvSpPr/>
          <p:nvPr/>
        </p:nvSpPr>
        <p:spPr>
          <a:xfrm>
            <a:off x="4663440" y="2148840"/>
            <a:ext cx="2788920" cy="438912"/>
          </a:xfrm>
          <a:prstGeom prst="rect">
            <a:avLst/>
          </a:prstGeom>
          <a:noFill/>
          <a:ln/>
        </p:spPr>
        <p:txBody>
          <a:bodyPr wrap="square" lIns="38100" tIns="38100" rIns="38100" bIns="38100" rtlCol="0" anchor="ctr"/>
          <a:lstStyle/>
          <a:p>
            <a:pPr algn="l" indent="0" marL="0">
              <a:buNone/>
            </a:pPr>
            <a:r>
              <a:rPr lang="en-US" sz="1350" dirty="0">
                <a:solidFill>
                  <a:srgbClr val="1A1A1A"/>
                </a:solidFill>
                <a:latin typeface="Cambria" pitchFamily="34" charset="0"/>
                <a:ea typeface="Cambria" pitchFamily="34" charset="-122"/>
                <a:cs typeface="Cambria" pitchFamily="34" charset="-120"/>
              </a:rPr>
              <a:t>Có tên dùng được</a:t>
            </a:r>
            <a:endParaRPr lang="en-US" sz="1350" dirty="0"/>
          </a:p>
        </p:txBody>
      </p:sp>
      <p:sp>
        <p:nvSpPr>
          <p:cNvPr id="15" name="Text 13"/>
          <p:cNvSpPr/>
          <p:nvPr/>
        </p:nvSpPr>
        <p:spPr>
          <a:xfrm>
            <a:off x="7452360" y="2148840"/>
            <a:ext cx="1188720" cy="438912"/>
          </a:xfrm>
          <a:prstGeom prst="rect">
            <a:avLst/>
          </a:prstGeom>
          <a:noFill/>
          <a:ln/>
        </p:spPr>
        <p:txBody>
          <a:bodyPr wrap="square" lIns="38100" tIns="38100" rIns="38100" bIns="38100" rtlCol="0" anchor="ctr"/>
          <a:lstStyle/>
          <a:p>
            <a:pPr algn="r" indent="0" marL="0">
              <a:buNone/>
            </a:pPr>
            <a:r>
              <a:rPr lang="en-US" sz="1350" dirty="0">
                <a:solidFill>
                  <a:srgbClr val="1A1A1A"/>
                </a:solidFill>
                <a:latin typeface="Cambria" pitchFamily="34" charset="0"/>
                <a:ea typeface="Cambria" pitchFamily="34" charset="-122"/>
                <a:cs typeface="Cambria" pitchFamily="34" charset="-120"/>
              </a:rPr>
              <a:t>73,6%</a:t>
            </a:r>
            <a:endParaRPr lang="en-US" sz="1350" dirty="0"/>
          </a:p>
        </p:txBody>
      </p:sp>
      <p:sp>
        <p:nvSpPr>
          <p:cNvPr id="16" name="Shape 14"/>
          <p:cNvSpPr/>
          <p:nvPr/>
        </p:nvSpPr>
        <p:spPr>
          <a:xfrm>
            <a:off x="4663440" y="2587752"/>
            <a:ext cx="3977640" cy="0"/>
          </a:xfrm>
          <a:prstGeom prst="line">
            <a:avLst/>
          </a:prstGeom>
          <a:noFill/>
          <a:ln w="12700">
            <a:solidFill>
              <a:srgbClr val="9A94AE"/>
            </a:solidFill>
            <a:prstDash val="solid"/>
          </a:ln>
        </p:spPr>
      </p:sp>
      <p:sp>
        <p:nvSpPr>
          <p:cNvPr id="17" name="Text 15"/>
          <p:cNvSpPr/>
          <p:nvPr/>
        </p:nvSpPr>
        <p:spPr>
          <a:xfrm>
            <a:off x="4663440" y="2587752"/>
            <a:ext cx="2788920" cy="438912"/>
          </a:xfrm>
          <a:prstGeom prst="rect">
            <a:avLst/>
          </a:prstGeom>
          <a:noFill/>
          <a:ln/>
        </p:spPr>
        <p:txBody>
          <a:bodyPr wrap="square" lIns="38100" tIns="38100" rIns="38100" bIns="38100" rtlCol="0" anchor="ctr"/>
          <a:lstStyle/>
          <a:p>
            <a:pPr algn="l" indent="0" marL="0">
              <a:buNone/>
            </a:pPr>
            <a:r>
              <a:rPr lang="en-US" sz="1350" dirty="0">
                <a:solidFill>
                  <a:srgbClr val="B22222"/>
                </a:solidFill>
                <a:latin typeface="Cambria" pitchFamily="34" charset="0"/>
                <a:ea typeface="Cambria" pitchFamily="34" charset="-122"/>
                <a:cs typeface="Cambria" pitchFamily="34" charset="-120"/>
              </a:rPr>
              <a:t>Không có tên nào</a:t>
            </a:r>
            <a:endParaRPr lang="en-US" sz="1350" dirty="0"/>
          </a:p>
        </p:txBody>
      </p:sp>
      <p:sp>
        <p:nvSpPr>
          <p:cNvPr id="18" name="Text 16"/>
          <p:cNvSpPr/>
          <p:nvPr/>
        </p:nvSpPr>
        <p:spPr>
          <a:xfrm>
            <a:off x="7452360" y="2587752"/>
            <a:ext cx="1188720" cy="438912"/>
          </a:xfrm>
          <a:prstGeom prst="rect">
            <a:avLst/>
          </a:prstGeom>
          <a:noFill/>
          <a:ln/>
        </p:spPr>
        <p:txBody>
          <a:bodyPr wrap="square" lIns="38100" tIns="38100" rIns="38100" bIns="38100" rtlCol="0" anchor="ctr"/>
          <a:lstStyle/>
          <a:p>
            <a:pPr algn="r" indent="0" marL="0">
              <a:buNone/>
            </a:pPr>
            <a:r>
              <a:rPr lang="en-US" sz="1350" dirty="0">
                <a:solidFill>
                  <a:srgbClr val="B22222"/>
                </a:solidFill>
                <a:latin typeface="Cambria" pitchFamily="34" charset="0"/>
                <a:ea typeface="Cambria" pitchFamily="34" charset="-122"/>
                <a:cs typeface="Cambria" pitchFamily="34" charset="-120"/>
              </a:rPr>
              <a:t>22,0%</a:t>
            </a:r>
            <a:endParaRPr lang="en-US" sz="1350" dirty="0"/>
          </a:p>
        </p:txBody>
      </p:sp>
      <p:sp>
        <p:nvSpPr>
          <p:cNvPr id="19" name="Shape 17"/>
          <p:cNvSpPr/>
          <p:nvPr/>
        </p:nvSpPr>
        <p:spPr>
          <a:xfrm>
            <a:off x="4663440" y="3026664"/>
            <a:ext cx="3977640" cy="0"/>
          </a:xfrm>
          <a:prstGeom prst="line">
            <a:avLst/>
          </a:prstGeom>
          <a:noFill/>
          <a:ln w="12700">
            <a:solidFill>
              <a:srgbClr val="9A94AE"/>
            </a:solidFill>
            <a:prstDash val="solid"/>
          </a:ln>
        </p:spPr>
      </p:sp>
      <p:sp>
        <p:nvSpPr>
          <p:cNvPr id="20" name="Text 18"/>
          <p:cNvSpPr/>
          <p:nvPr/>
        </p:nvSpPr>
        <p:spPr>
          <a:xfrm>
            <a:off x="4663440" y="3026664"/>
            <a:ext cx="2788920" cy="438912"/>
          </a:xfrm>
          <a:prstGeom prst="rect">
            <a:avLst/>
          </a:prstGeom>
          <a:noFill/>
          <a:ln/>
        </p:spPr>
        <p:txBody>
          <a:bodyPr wrap="square" lIns="38100" tIns="38100" rIns="38100" bIns="38100" rtlCol="0" anchor="ctr"/>
          <a:lstStyle/>
          <a:p>
            <a:pPr algn="l" indent="0" marL="0">
              <a:buNone/>
            </a:pPr>
            <a:r>
              <a:rPr lang="en-US" sz="1350" dirty="0">
                <a:solidFill>
                  <a:srgbClr val="B22222"/>
                </a:solidFill>
                <a:latin typeface="Cambria" pitchFamily="34" charset="0"/>
                <a:ea typeface="Cambria" pitchFamily="34" charset="-122"/>
                <a:cs typeface="Cambria" pitchFamily="34" charset="-120"/>
              </a:rPr>
              <a:t>Trùng tên với phần tử khác</a:t>
            </a:r>
            <a:endParaRPr lang="en-US" sz="1350" dirty="0"/>
          </a:p>
        </p:txBody>
      </p:sp>
      <p:sp>
        <p:nvSpPr>
          <p:cNvPr id="21" name="Text 19"/>
          <p:cNvSpPr/>
          <p:nvPr/>
        </p:nvSpPr>
        <p:spPr>
          <a:xfrm>
            <a:off x="7452360" y="3026664"/>
            <a:ext cx="1188720" cy="438912"/>
          </a:xfrm>
          <a:prstGeom prst="rect">
            <a:avLst/>
          </a:prstGeom>
          <a:noFill/>
          <a:ln/>
        </p:spPr>
        <p:txBody>
          <a:bodyPr wrap="square" lIns="38100" tIns="38100" rIns="38100" bIns="38100" rtlCol="0" anchor="ctr"/>
          <a:lstStyle/>
          <a:p>
            <a:pPr algn="r" indent="0" marL="0">
              <a:buNone/>
            </a:pPr>
            <a:r>
              <a:rPr lang="en-US" sz="1350" dirty="0">
                <a:solidFill>
                  <a:srgbClr val="B22222"/>
                </a:solidFill>
                <a:latin typeface="Cambria" pitchFamily="34" charset="0"/>
                <a:ea typeface="Cambria" pitchFamily="34" charset="-122"/>
                <a:cs typeface="Cambria" pitchFamily="34" charset="-120"/>
              </a:rPr>
              <a:t>7,6%</a:t>
            </a:r>
            <a:endParaRPr lang="en-US" sz="1350" dirty="0"/>
          </a:p>
        </p:txBody>
      </p:sp>
      <p:sp>
        <p:nvSpPr>
          <p:cNvPr id="22" name="Shape 20"/>
          <p:cNvSpPr/>
          <p:nvPr/>
        </p:nvSpPr>
        <p:spPr>
          <a:xfrm>
            <a:off x="502920" y="461772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23" name="Text 21"/>
          <p:cNvSpPr/>
          <p:nvPr/>
        </p:nvSpPr>
        <p:spPr>
          <a:xfrm>
            <a:off x="731520" y="4617720"/>
            <a:ext cx="7680960" cy="1051560"/>
          </a:xfrm>
          <a:prstGeom prst="rect">
            <a:avLst/>
          </a:prstGeom>
          <a:noFill/>
          <a:ln/>
        </p:spPr>
        <p:txBody>
          <a:bodyPr wrap="square" lIns="0" tIns="0" rIns="0" bIns="0" rtlCol="0" anchor="ctr"/>
          <a:lstStyle/>
          <a:p>
            <a:pPr algn="l" indent="0" marL="0">
              <a:lnSpc>
                <a:spcPct val="135000"/>
              </a:lnSpc>
              <a:buNone/>
            </a:pPr>
            <a:r>
              <a:rPr lang="en-US" sz="1400" b="1" dirty="0">
                <a:solidFill>
                  <a:srgbClr val="B22222"/>
                </a:solidFill>
                <a:latin typeface="Cambria" pitchFamily="34" charset="0"/>
                <a:ea typeface="Cambria" pitchFamily="34" charset="-122"/>
                <a:cs typeface="Cambria" pitchFamily="34" charset="-120"/>
              </a:rPr>
              <a:t>Ô toạ độ lấy ngay chỗ người thật đã chạm: </a:t>
            </a:r>
            <a:pPr algn="l" indent="0" marL="0">
              <a:lnSpc>
                <a:spcPct val="135000"/>
              </a:lnSpc>
              <a:buNone/>
            </a:pPr>
            <a:r>
              <a:rPr lang="en-US" sz="1400" dirty="0">
                <a:solidFill>
                  <a:srgbClr val="1A1A1A"/>
                </a:solidFill>
                <a:latin typeface="Cambria" pitchFamily="34" charset="0"/>
                <a:ea typeface="Cambria" pitchFamily="34" charset="-122"/>
                <a:cs typeface="Cambria" pitchFamily="34" charset="-120"/>
              </a:rPr>
              <a:t>nhãn sạch 100%, chi phí bằng không, và đây cũng là chuẩn để chấm điểm.</a:t>
            </a:r>
            <a:endParaRPr lang="en-US" sz="1400" dirty="0"/>
          </a:p>
        </p:txBody>
      </p:sp>
      <p:sp>
        <p:nvSpPr>
          <p:cNvPr id="25" name="Shape 22"/>
          <p:cNvSpPr/>
          <p:nvPr/>
        </p:nvSpPr>
        <p:spPr>
          <a:xfrm>
            <a:off x="0" y="6620256"/>
            <a:ext cx="2743200" cy="237744"/>
          </a:xfrm>
          <a:prstGeom prst="rect">
            <a:avLst/>
          </a:prstGeom>
          <a:solidFill>
            <a:srgbClr val="191132"/>
          </a:solidFill>
          <a:ln/>
        </p:spPr>
      </p:sp>
      <p:sp>
        <p:nvSpPr>
          <p:cNvPr id="26" name="Shape 23"/>
          <p:cNvSpPr/>
          <p:nvPr/>
        </p:nvSpPr>
        <p:spPr>
          <a:xfrm>
            <a:off x="2743200" y="6620256"/>
            <a:ext cx="3383280" cy="237744"/>
          </a:xfrm>
          <a:prstGeom prst="rect">
            <a:avLst/>
          </a:prstGeom>
          <a:solidFill>
            <a:srgbClr val="25194B"/>
          </a:solidFill>
          <a:ln/>
        </p:spPr>
      </p:sp>
      <p:sp>
        <p:nvSpPr>
          <p:cNvPr id="27" name="Shape 24"/>
          <p:cNvSpPr/>
          <p:nvPr/>
        </p:nvSpPr>
        <p:spPr>
          <a:xfrm>
            <a:off x="6126480" y="6620256"/>
            <a:ext cx="1737360" cy="237744"/>
          </a:xfrm>
          <a:prstGeom prst="rect">
            <a:avLst/>
          </a:prstGeom>
          <a:solidFill>
            <a:srgbClr val="4F417A"/>
          </a:solidFill>
          <a:ln/>
        </p:spPr>
      </p:sp>
      <p:sp>
        <p:nvSpPr>
          <p:cNvPr id="28" name="Shape 25"/>
          <p:cNvSpPr/>
          <p:nvPr/>
        </p:nvSpPr>
        <p:spPr>
          <a:xfrm>
            <a:off x="7863840" y="6620256"/>
            <a:ext cx="1280160" cy="237744"/>
          </a:xfrm>
          <a:prstGeom prst="rect">
            <a:avLst/>
          </a:prstGeom>
          <a:solidFill>
            <a:srgbClr val="7A7099"/>
          </a:solidFill>
          <a:ln/>
        </p:spPr>
      </p:sp>
      <p:sp>
        <p:nvSpPr>
          <p:cNvPr id="29" name="Text 2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0" name="Text 2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2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8/26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3 · Thành phần đề xuất: mô tả phân biệt trước, phát ngôn sau</a:t>
            </a:r>
            <a:endParaRPr lang="en-US" sz="1900" dirty="0"/>
          </a:p>
        </p:txBody>
      </p:sp>
      <p:sp>
        <p:nvSpPr>
          <p:cNvPr id="4" name="Shape 2"/>
          <p:cNvSpPr/>
          <p:nvPr/>
        </p:nvSpPr>
        <p:spPr>
          <a:xfrm>
            <a:off x="502920" y="868680"/>
            <a:ext cx="8138160" cy="1234440"/>
          </a:xfrm>
          <a:prstGeom prst="roundRect">
            <a:avLst>
              <a:gd name="adj" fmla="val 4444"/>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77240" y="1097280"/>
            <a:ext cx="7680960" cy="36576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tầng khai báo   </a:t>
            </a:r>
            <a:pPr algn="l" indent="0" marL="0">
              <a:buNone/>
            </a:pPr>
            <a:r>
              <a:rPr lang="en-US" sz="1200" b="1" dirty="0">
                <a:solidFill>
                  <a:srgbClr val="1414BE"/>
                </a:solidFill>
                <a:latin typeface="Consolas" pitchFamily="34" charset="0"/>
                <a:ea typeface="Consolas" pitchFamily="34" charset="-122"/>
                <a:cs typeface="Consolas" pitchFamily="34" charset="-120"/>
              </a:rPr>
              <a:t>&lt;desc&gt; vai trò | tên | &lt;point&gt;x,y&lt;/point&gt; | dấu hiệu phân biệt &lt;/desc&gt;</a:t>
            </a:r>
            <a:endParaRPr lang="en-US" sz="1200" dirty="0"/>
          </a:p>
        </p:txBody>
      </p:sp>
      <p:sp>
        <p:nvSpPr>
          <p:cNvPr id="6" name="Text 4"/>
          <p:cNvSpPr/>
          <p:nvPr/>
        </p:nvSpPr>
        <p:spPr>
          <a:xfrm>
            <a:off x="777240" y="1554480"/>
            <a:ext cx="7680960" cy="36576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tầng phát ngôn   </a:t>
            </a:r>
            <a:pPr algn="l" indent="0" marL="0">
              <a:buNone/>
            </a:pPr>
            <a:r>
              <a:rPr lang="en-US" sz="1200" b="1" dirty="0">
                <a:solidFill>
                  <a:srgbClr val="1A1A1A"/>
                </a:solidFill>
                <a:latin typeface="Consolas" pitchFamily="34" charset="0"/>
                <a:ea typeface="Consolas" pitchFamily="34" charset="-122"/>
                <a:cs typeface="Consolas" pitchFamily="34" charset="-120"/>
              </a:rPr>
              <a:t>câu hướng dẫn cho người đọc</a:t>
            </a:r>
            <a:endParaRPr lang="en-US" sz="1200" dirty="0"/>
          </a:p>
        </p:txBody>
      </p:sp>
      <p:sp>
        <p:nvSpPr>
          <p:cNvPr id="7" name="Text 5"/>
          <p:cNvSpPr/>
          <p:nvPr/>
        </p:nvSpPr>
        <p:spPr>
          <a:xfrm>
            <a:off x="502920" y="2286000"/>
            <a:ext cx="8138160" cy="731520"/>
          </a:xfrm>
          <a:prstGeom prst="rect">
            <a:avLst/>
          </a:prstGeom>
          <a:noFill/>
          <a:ln/>
        </p:spPr>
        <p:txBody>
          <a:bodyPr wrap="square" lIns="0" tIns="0" rIns="0" bIns="0" rtlCol="0" anchor="t"/>
          <a:lstStyle/>
          <a:p>
            <a:pPr algn="l" indent="0" marL="0">
              <a:lnSpc>
                <a:spcPct val="135000"/>
              </a:lnSpc>
              <a:buNone/>
            </a:pPr>
            <a:r>
              <a:rPr lang="en-US" sz="1400" b="1" dirty="0">
                <a:solidFill>
                  <a:srgbClr val="B22222"/>
                </a:solidFill>
                <a:latin typeface="Cambria" pitchFamily="34" charset="0"/>
                <a:ea typeface="Cambria" pitchFamily="34" charset="-122"/>
                <a:cs typeface="Cambria" pitchFamily="34" charset="-120"/>
              </a:rPr>
              <a:t>Lúc chấm, tầng khai báo bị cắt bỏ; chỉ câu đi chấm.</a:t>
            </a:r>
            <a:pPr algn="l" indent="0" marL="0">
              <a:lnSpc>
                <a:spcPct val="135000"/>
              </a:lnSpc>
              <a:buNone/>
            </a:pPr>
            <a:endParaRPr lang="en-US" sz="1400" dirty="0"/>
          </a:p>
          <a:p>
            <a:pPr algn="l" indent="0" marL="0">
              <a:lnSpc>
                <a:spcPct val="135000"/>
              </a:lnSpc>
              <a:buNone/>
            </a:pPr>
            <a:r>
              <a:rPr lang="en-US" sz="1400" dirty="0">
                <a:solidFill>
                  <a:srgbClr val="1A1A1A"/>
                </a:solidFill>
                <a:latin typeface="Cambria" pitchFamily="34" charset="0"/>
                <a:ea typeface="Cambria" pitchFamily="34" charset="-122"/>
                <a:cs typeface="Cambria" pitchFamily="34" charset="-120"/>
              </a:rPr>
              <a:t>Vì vậy đây là đóng góp về mô hình, không phải về dữ liệu.</a:t>
            </a:r>
            <a:endParaRPr lang="en-US" sz="1400" dirty="0"/>
          </a:p>
        </p:txBody>
      </p:sp>
      <p:sp>
        <p:nvSpPr>
          <p:cNvPr id="8" name="Text 6"/>
          <p:cNvSpPr/>
          <p:nvPr/>
        </p:nvSpPr>
        <p:spPr>
          <a:xfrm>
            <a:off x="502920" y="320040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Ba căn cứ cho thiết kế</a:t>
            </a:r>
            <a:endParaRPr lang="en-US" sz="1400" dirty="0"/>
          </a:p>
        </p:txBody>
      </p:sp>
      <p:sp>
        <p:nvSpPr>
          <p:cNvPr id="9" name="Text 7"/>
          <p:cNvSpPr/>
          <p:nvPr/>
        </p:nvSpPr>
        <p:spPr>
          <a:xfrm>
            <a:off x="640080" y="3611880"/>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0" name="Text 8"/>
          <p:cNvSpPr/>
          <p:nvPr/>
        </p:nvSpPr>
        <p:spPr>
          <a:xfrm>
            <a:off x="868680" y="3611880"/>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Dạng lỗi đo được là câu mơ hồ</a:t>
            </a:r>
            <a:endParaRPr lang="en-US" sz="1350" dirty="0"/>
          </a:p>
        </p:txBody>
      </p:sp>
      <p:sp>
        <p:nvSpPr>
          <p:cNvPr id="11" name="Text 9"/>
          <p:cNvSpPr/>
          <p:nvPr/>
        </p:nvSpPr>
        <p:spPr>
          <a:xfrm>
            <a:off x="640080" y="4178808"/>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2" name="Text 10"/>
          <p:cNvSpPr/>
          <p:nvPr/>
        </p:nvSpPr>
        <p:spPr>
          <a:xfrm>
            <a:off x="868680" y="4178808"/>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Bước trung gian phải có toạ độ: cặp Shikra cho </a:t>
            </a:r>
            <a:pPr algn="l" indent="0" marL="0">
              <a:lnSpc>
                <a:spcPct val="125000"/>
              </a:lnSpc>
              <a:buNone/>
            </a:pPr>
            <a:r>
              <a:rPr lang="en-US" sz="1350" b="1" dirty="0">
                <a:solidFill>
                  <a:srgbClr val="B22222"/>
                </a:solidFill>
                <a:latin typeface="Cambria" pitchFamily="34" charset="0"/>
                <a:ea typeface="Cambria" pitchFamily="34" charset="-122"/>
                <a:cs typeface="Cambria" pitchFamily="34" charset="-120"/>
              </a:rPr>
              <a:t>−7,4</a:t>
            </a:r>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 và </a:t>
            </a:r>
            <a:pPr algn="l" indent="0" marL="0">
              <a:lnSpc>
                <a:spcPct val="125000"/>
              </a:lnSpc>
              <a:buNone/>
            </a:pPr>
            <a:r>
              <a:rPr lang="en-US" sz="1350" b="1" dirty="0">
                <a:solidFill>
                  <a:srgbClr val="006666"/>
                </a:solidFill>
                <a:latin typeface="Cambria" pitchFamily="34" charset="0"/>
                <a:ea typeface="Cambria" pitchFamily="34" charset="-122"/>
                <a:cs typeface="Cambria" pitchFamily="34" charset="-120"/>
              </a:rPr>
              <a:t>+5,9</a:t>
            </a:r>
            <a:endParaRPr lang="en-US" sz="1350" dirty="0"/>
          </a:p>
        </p:txBody>
      </p:sp>
      <p:sp>
        <p:nvSpPr>
          <p:cNvPr id="13" name="Text 11"/>
          <p:cNvSpPr/>
          <p:nvPr/>
        </p:nvSpPr>
        <p:spPr>
          <a:xfrm>
            <a:off x="640080" y="4745736"/>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4" name="Text 12"/>
          <p:cNvSpPr/>
          <p:nvPr/>
        </p:nvSpPr>
        <p:spPr>
          <a:xfrm>
            <a:off x="868680" y="4745736"/>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Nhãn toạ độ sạch 100% và dựng không tốn gì</a:t>
            </a:r>
            <a:endParaRPr lang="en-US" sz="1350" dirty="0"/>
          </a:p>
        </p:txBody>
      </p:sp>
      <p:sp>
        <p:nvSpPr>
          <p:cNvPr id="15" name="Shape 13"/>
          <p:cNvSpPr/>
          <p:nvPr/>
        </p:nvSpPr>
        <p:spPr>
          <a:xfrm>
            <a:off x="502920" y="5349240"/>
            <a:ext cx="8138160" cy="548640"/>
          </a:xfrm>
          <a:prstGeom prst="roundRect">
            <a:avLst>
              <a:gd name="adj" fmla="val 10000"/>
            </a:avLst>
          </a:prstGeom>
          <a:solidFill>
            <a:srgbClr val="E9E8EC"/>
          </a:solidFill>
          <a:ln/>
          <a:effectLst>
            <a:outerShdw sx="100000" sy="100000" kx="0" ky="0" algn="bl" rotWithShape="0" blurRad="63500" dist="31750" dir="2700000">
              <a:srgbClr val="8C8C99">
                <a:alpha val="45000"/>
              </a:srgbClr>
            </a:outerShdw>
          </a:effectLst>
        </p:spPr>
      </p:sp>
      <p:sp>
        <p:nvSpPr>
          <p:cNvPr id="16" name="Text 14"/>
          <p:cNvSpPr/>
          <p:nvPr/>
        </p:nvSpPr>
        <p:spPr>
          <a:xfrm>
            <a:off x="731520" y="5349240"/>
            <a:ext cx="7680960" cy="548640"/>
          </a:xfrm>
          <a:prstGeom prst="rect">
            <a:avLst/>
          </a:prstGeom>
          <a:noFill/>
          <a:ln/>
        </p:spPr>
        <p:txBody>
          <a:bodyPr wrap="square" lIns="0" tIns="0" rIns="0" bIns="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Qwen2.5-VL-3B  ·  QLoRA 4 bit  ·  đóng băng phần thị giác  ·  8.072 bước  ·  23 giờ A100</a:t>
            </a:r>
            <a:endParaRPr lang="en-US" sz="1200" dirty="0"/>
          </a:p>
        </p:txBody>
      </p:sp>
      <p:sp>
        <p:nvSpPr>
          <p:cNvPr id="18" name="Shape 15"/>
          <p:cNvSpPr/>
          <p:nvPr/>
        </p:nvSpPr>
        <p:spPr>
          <a:xfrm>
            <a:off x="0" y="6620256"/>
            <a:ext cx="2743200" cy="237744"/>
          </a:xfrm>
          <a:prstGeom prst="rect">
            <a:avLst/>
          </a:prstGeom>
          <a:solidFill>
            <a:srgbClr val="191132"/>
          </a:solidFill>
          <a:ln/>
        </p:spPr>
      </p:sp>
      <p:sp>
        <p:nvSpPr>
          <p:cNvPr id="19" name="Shape 16"/>
          <p:cNvSpPr/>
          <p:nvPr/>
        </p:nvSpPr>
        <p:spPr>
          <a:xfrm>
            <a:off x="2743200" y="6620256"/>
            <a:ext cx="3383280" cy="237744"/>
          </a:xfrm>
          <a:prstGeom prst="rect">
            <a:avLst/>
          </a:prstGeom>
          <a:solidFill>
            <a:srgbClr val="25194B"/>
          </a:solidFill>
          <a:ln/>
        </p:spPr>
      </p:sp>
      <p:sp>
        <p:nvSpPr>
          <p:cNvPr id="20" name="Shape 17"/>
          <p:cNvSpPr/>
          <p:nvPr/>
        </p:nvSpPr>
        <p:spPr>
          <a:xfrm>
            <a:off x="6126480" y="6620256"/>
            <a:ext cx="1737360" cy="237744"/>
          </a:xfrm>
          <a:prstGeom prst="rect">
            <a:avLst/>
          </a:prstGeom>
          <a:solidFill>
            <a:srgbClr val="4F417A"/>
          </a:solidFill>
          <a:ln/>
        </p:spPr>
      </p:sp>
      <p:sp>
        <p:nvSpPr>
          <p:cNvPr id="21" name="Shape 18"/>
          <p:cNvSpPr/>
          <p:nvPr/>
        </p:nvSpPr>
        <p:spPr>
          <a:xfrm>
            <a:off x="7863840" y="6620256"/>
            <a:ext cx="1280160" cy="237744"/>
          </a:xfrm>
          <a:prstGeom prst="rect">
            <a:avLst/>
          </a:prstGeom>
          <a:solidFill>
            <a:srgbClr val="7A7099"/>
          </a:solidFill>
          <a:ln/>
        </p:spPr>
      </p:sp>
      <p:sp>
        <p:nvSpPr>
          <p:cNvPr id="22"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3"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9/26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3 · Chặng huấn luyện thứ hai: mục tiêu ưu tiên ở tầng khai báo</a:t>
            </a:r>
            <a:endParaRPr lang="en-US" sz="1900" dirty="0"/>
          </a:p>
        </p:txBody>
      </p:sp>
      <p:sp>
        <p:nvSpPr>
          <p:cNvPr id="4" name="Text 2"/>
          <p:cNvSpPr/>
          <p:nvPr/>
        </p:nvSpPr>
        <p:spPr>
          <a:xfrm>
            <a:off x="502920" y="777240"/>
            <a:ext cx="8138160" cy="365760"/>
          </a:xfrm>
          <a:prstGeom prst="rect">
            <a:avLst/>
          </a:prstGeom>
          <a:noFill/>
          <a:ln/>
        </p:spPr>
        <p:txBody>
          <a:bodyPr wrap="square" lIns="0" tIns="0" rIns="0" bIns="0" rtlCol="0" anchor="t"/>
          <a:lstStyle/>
          <a:p>
            <a:pPr algn="l" indent="0" marL="0">
              <a:buNone/>
            </a:pPr>
            <a:r>
              <a:rPr lang="en-US" sz="1350" dirty="0">
                <a:solidFill>
                  <a:srgbClr val="1A1A1A"/>
                </a:solidFill>
                <a:latin typeface="Cambria" pitchFamily="34" charset="0"/>
                <a:ea typeface="Cambria" pitchFamily="34" charset="-122"/>
                <a:cs typeface="Cambria" pitchFamily="34" charset="-120"/>
              </a:rPr>
              <a:t>Điểm nghẽn nằm ở độ chính xác của tầng khai báo, không ở việc có tầng ấy hay không.</a:t>
            </a:r>
            <a:endParaRPr lang="en-US" sz="1350" dirty="0"/>
          </a:p>
        </p:txBody>
      </p:sp>
      <p:sp>
        <p:nvSpPr>
          <p:cNvPr id="5" name="Text 3"/>
          <p:cNvSpPr/>
          <p:nvPr/>
        </p:nvSpPr>
        <p:spPr>
          <a:xfrm>
            <a:off x="502920" y="137160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Cặp quy chiếu tối thiểu, 22.854 cặp</a:t>
            </a:r>
            <a:endParaRPr lang="en-US" sz="1400" dirty="0"/>
          </a:p>
        </p:txBody>
      </p:sp>
      <p:sp>
        <p:nvSpPr>
          <p:cNvPr id="6" name="Shape 4"/>
          <p:cNvSpPr/>
          <p:nvPr/>
        </p:nvSpPr>
        <p:spPr>
          <a:xfrm>
            <a:off x="502920" y="1755648"/>
            <a:ext cx="8138160" cy="960120"/>
          </a:xfrm>
          <a:prstGeom prst="rect">
            <a:avLst/>
          </a:prstGeom>
          <a:solidFill>
            <a:srgbClr val="FFFFFF"/>
          </a:solidFill>
          <a:ln w="12700">
            <a:solidFill>
              <a:srgbClr val="9A94AE"/>
            </a:solidFill>
            <a:prstDash val="solid"/>
          </a:ln>
        </p:spPr>
      </p:sp>
      <p:sp>
        <p:nvSpPr>
          <p:cNvPr id="7" name="Text 5"/>
          <p:cNvSpPr/>
          <p:nvPr/>
        </p:nvSpPr>
        <p:spPr>
          <a:xfrm>
            <a:off x="731520" y="1847088"/>
            <a:ext cx="7680960" cy="38404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được chọn    </a:t>
            </a:r>
            <a:pPr algn="l" indent="0" marL="0">
              <a:buNone/>
            </a:pPr>
            <a:r>
              <a:rPr lang="en-US" sz="1250" dirty="0">
                <a:solidFill>
                  <a:srgbClr val="1A1A1A"/>
                </a:solidFill>
                <a:latin typeface="Consolas" pitchFamily="34" charset="0"/>
                <a:ea typeface="Consolas" pitchFamily="34" charset="-122"/>
                <a:cs typeface="Consolas" pitchFamily="34" charset="-120"/>
              </a:rPr>
              <a:t>&lt;desc&gt;khai báo ĐÚNG&lt;/desc&gt;  +  câu</a:t>
            </a:r>
            <a:endParaRPr lang="en-US" sz="1250" dirty="0"/>
          </a:p>
        </p:txBody>
      </p:sp>
      <p:sp>
        <p:nvSpPr>
          <p:cNvPr id="8" name="Text 6"/>
          <p:cNvSpPr/>
          <p:nvPr/>
        </p:nvSpPr>
        <p:spPr>
          <a:xfrm>
            <a:off x="731520" y="2267712"/>
            <a:ext cx="7680960" cy="384048"/>
          </a:xfrm>
          <a:prstGeom prst="rect">
            <a:avLst/>
          </a:prstGeom>
          <a:noFill/>
          <a:ln/>
        </p:spPr>
        <p:txBody>
          <a:bodyPr wrap="square" lIns="0" tIns="0" rIns="0" bIns="0" rtlCol="0" anchor="t"/>
          <a:lstStyle/>
          <a:p>
            <a:pPr algn="l" indent="0" marL="0">
              <a:buNone/>
            </a:pPr>
            <a:r>
              <a:rPr lang="en-US" sz="1250" b="1" dirty="0">
                <a:solidFill>
                  <a:srgbClr val="B22222"/>
                </a:solidFill>
                <a:latin typeface="Cambria" pitchFamily="34" charset="0"/>
                <a:ea typeface="Cambria" pitchFamily="34" charset="-122"/>
                <a:cs typeface="Cambria" pitchFamily="34" charset="-120"/>
              </a:rPr>
              <a:t>bị loại        </a:t>
            </a:r>
            <a:pPr algn="l" indent="0" marL="0">
              <a:buNone/>
            </a:pPr>
            <a:r>
              <a:rPr lang="en-US" sz="1250" dirty="0">
                <a:solidFill>
                  <a:srgbClr val="1A1A1A"/>
                </a:solidFill>
                <a:latin typeface="Consolas" pitchFamily="34" charset="0"/>
                <a:ea typeface="Consolas" pitchFamily="34" charset="-122"/>
                <a:cs typeface="Consolas" pitchFamily="34" charset="-120"/>
              </a:rPr>
              <a:t>&lt;desc&gt;khai báo SAI&lt;/desc&gt;  +  đúng câu đó, từng chữ</a:t>
            </a:r>
            <a:endParaRPr lang="en-US" sz="1250" dirty="0"/>
          </a:p>
        </p:txBody>
      </p:sp>
      <p:sp>
        <p:nvSpPr>
          <p:cNvPr id="9" name="Text 7"/>
          <p:cNvSpPr/>
          <p:nvPr/>
        </p:nvSpPr>
        <p:spPr>
          <a:xfrm>
            <a:off x="640080" y="2880360"/>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0" name="Text 8"/>
          <p:cNvSpPr/>
          <p:nvPr/>
        </p:nvSpPr>
        <p:spPr>
          <a:xfrm>
            <a:off x="868680" y="2880360"/>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Hai vế chỉ khác ô khai báo, nên gradient rơi vào việc chọn phần tử</a:t>
            </a:r>
            <a:endParaRPr lang="en-US" sz="1350" dirty="0"/>
          </a:p>
        </p:txBody>
      </p:sp>
      <p:sp>
        <p:nvSpPr>
          <p:cNvPr id="11" name="Text 9"/>
          <p:cNvSpPr/>
          <p:nvPr/>
        </p:nvSpPr>
        <p:spPr>
          <a:xfrm>
            <a:off x="640080" y="3447288"/>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2" name="Text 10"/>
          <p:cNvSpPr/>
          <p:nvPr/>
        </p:nvSpPr>
        <p:spPr>
          <a:xfrm>
            <a:off x="868680" y="3447288"/>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Khai báo sai là một phần tử thật trên chính màn hình đó</a:t>
            </a:r>
            <a:endParaRPr lang="en-US" sz="1350" dirty="0"/>
          </a:p>
        </p:txBody>
      </p:sp>
      <p:sp>
        <p:nvSpPr>
          <p:cNvPr id="13" name="Text 11"/>
          <p:cNvSpPr/>
          <p:nvPr/>
        </p:nvSpPr>
        <p:spPr>
          <a:xfrm>
            <a:off x="640080" y="4014216"/>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4" name="Text 12"/>
          <p:cNvSpPr/>
          <p:nvPr/>
        </p:nvSpPr>
        <p:spPr>
          <a:xfrm>
            <a:off x="868680" y="4014216"/>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Mục tiêu dạng tỉ số odds, không cần mô hình tham chiếu</a:t>
            </a:r>
            <a:endParaRPr lang="en-US" sz="1350" dirty="0"/>
          </a:p>
        </p:txBody>
      </p:sp>
      <p:sp>
        <p:nvSpPr>
          <p:cNvPr id="15" name="Shape 13"/>
          <p:cNvSpPr/>
          <p:nvPr/>
        </p:nvSpPr>
        <p:spPr>
          <a:xfrm>
            <a:off x="502920" y="4709160"/>
            <a:ext cx="8138160" cy="960120"/>
          </a:xfrm>
          <a:prstGeom prst="roundRect">
            <a:avLst>
              <a:gd name="adj" fmla="val 5714"/>
            </a:avLst>
          </a:prstGeom>
          <a:solidFill>
            <a:srgbClr val="E9E8EC"/>
          </a:solidFill>
          <a:ln/>
          <a:effectLst>
            <a:outerShdw sx="100000" sy="100000" kx="0" ky="0" algn="bl" rotWithShape="0" blurRad="63500" dist="31750" dir="2700000">
              <a:srgbClr val="8C8C99">
                <a:alpha val="45000"/>
              </a:srgbClr>
            </a:outerShdw>
          </a:effectLst>
        </p:spPr>
      </p:sp>
      <p:sp>
        <p:nvSpPr>
          <p:cNvPr id="16" name="Text 14"/>
          <p:cNvSpPr/>
          <p:nvPr/>
        </p:nvSpPr>
        <p:spPr>
          <a:xfrm>
            <a:off x="731520" y="4709160"/>
            <a:ext cx="7680960" cy="960120"/>
          </a:xfrm>
          <a:prstGeom prst="rect">
            <a:avLst/>
          </a:prstGeom>
          <a:noFill/>
          <a:ln/>
        </p:spPr>
        <p:txBody>
          <a:bodyPr wrap="square" lIns="0" tIns="0" rIns="0" bIns="0" rtlCol="0" anchor="ctr"/>
          <a:lstStyle/>
          <a:p>
            <a:pPr algn="l" indent="0" marL="0">
              <a:lnSpc>
                <a:spcPct val="135000"/>
              </a:lnSpc>
              <a:buNone/>
            </a:pPr>
            <a:r>
              <a:rPr lang="en-US" sz="1350" b="1" dirty="0">
                <a:solidFill>
                  <a:srgbClr val="B22222"/>
                </a:solidFill>
                <a:latin typeface="Cambria" pitchFamily="34" charset="0"/>
                <a:ea typeface="Cambria" pitchFamily="34" charset="-122"/>
                <a:cs typeface="Cambria" pitchFamily="34" charset="-120"/>
              </a:rPr>
              <a:t>Nhánh so sánh CE2-S2 tách phần công của mục tiêu ưu tiên:</a:t>
            </a:r>
            <a:pPr algn="l" indent="0" marL="0">
              <a:lnSpc>
                <a:spcPct val="135000"/>
              </a:lnSpc>
              <a:buNone/>
            </a:pPr>
            <a:r>
              <a:rPr lang="en-US" sz="1350" dirty="0">
                <a:solidFill>
                  <a:srgbClr val="1A1A1A"/>
                </a:solidFill>
                <a:latin typeface="Cambria" pitchFamily="34" charset="0"/>
                <a:ea typeface="Cambria" pitchFamily="34" charset="-122"/>
                <a:cs typeface="Cambria" pitchFamily="34" charset="-120"/>
              </a:rPr>
              <a:t> cùng điểm lưu, cùng 800 bước, không có số hạng ưu tiên.</a:t>
            </a:r>
            <a:endParaRPr lang="en-US" sz="1350" dirty="0"/>
          </a:p>
        </p:txBody>
      </p:sp>
      <p:sp>
        <p:nvSpPr>
          <p:cNvPr id="18" name="Shape 15"/>
          <p:cNvSpPr/>
          <p:nvPr/>
        </p:nvSpPr>
        <p:spPr>
          <a:xfrm>
            <a:off x="0" y="6620256"/>
            <a:ext cx="2743200" cy="237744"/>
          </a:xfrm>
          <a:prstGeom prst="rect">
            <a:avLst/>
          </a:prstGeom>
          <a:solidFill>
            <a:srgbClr val="191132"/>
          </a:solidFill>
          <a:ln/>
        </p:spPr>
      </p:sp>
      <p:sp>
        <p:nvSpPr>
          <p:cNvPr id="19" name="Shape 16"/>
          <p:cNvSpPr/>
          <p:nvPr/>
        </p:nvSpPr>
        <p:spPr>
          <a:xfrm>
            <a:off x="2743200" y="6620256"/>
            <a:ext cx="3383280" cy="237744"/>
          </a:xfrm>
          <a:prstGeom prst="rect">
            <a:avLst/>
          </a:prstGeom>
          <a:solidFill>
            <a:srgbClr val="25194B"/>
          </a:solidFill>
          <a:ln/>
        </p:spPr>
      </p:sp>
      <p:sp>
        <p:nvSpPr>
          <p:cNvPr id="20" name="Shape 17"/>
          <p:cNvSpPr/>
          <p:nvPr/>
        </p:nvSpPr>
        <p:spPr>
          <a:xfrm>
            <a:off x="6126480" y="6620256"/>
            <a:ext cx="1737360" cy="237744"/>
          </a:xfrm>
          <a:prstGeom prst="rect">
            <a:avLst/>
          </a:prstGeom>
          <a:solidFill>
            <a:srgbClr val="4F417A"/>
          </a:solidFill>
          <a:ln/>
        </p:spPr>
      </p:sp>
      <p:sp>
        <p:nvSpPr>
          <p:cNvPr id="21" name="Shape 18"/>
          <p:cNvSpPr/>
          <p:nvPr/>
        </p:nvSpPr>
        <p:spPr>
          <a:xfrm>
            <a:off x="7863840" y="6620256"/>
            <a:ext cx="1280160" cy="237744"/>
          </a:xfrm>
          <a:prstGeom prst="rect">
            <a:avLst/>
          </a:prstGeom>
          <a:solidFill>
            <a:srgbClr val="7A7099"/>
          </a:solidFill>
          <a:ln/>
        </p:spPr>
      </p:sp>
      <p:sp>
        <p:nvSpPr>
          <p:cNvPr id="22" name="Text 1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3" name="Text 2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4" name="Text 2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5" name="Text 2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Thước đo executability</a:t>
            </a:r>
            <a:endParaRPr lang="en-US" sz="1900" dirty="0"/>
          </a:p>
        </p:txBody>
      </p:sp>
      <p:sp>
        <p:nvSpPr>
          <p:cNvPr id="4" name="Text 2"/>
          <p:cNvSpPr/>
          <p:nvPr/>
        </p:nvSpPr>
        <p:spPr>
          <a:xfrm>
            <a:off x="502920" y="777240"/>
            <a:ext cx="4114800" cy="68580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Đưa câu cho một mô hình định vị độc lập, rồi hỏi điểm nó trả về có rơi đúng phần tử người dùng đã chạm hay không.</a:t>
            </a:r>
            <a:endParaRPr lang="en-US" sz="1300" dirty="0"/>
          </a:p>
        </p:txBody>
      </p:sp>
      <p:sp>
        <p:nvSpPr>
          <p:cNvPr id="5" name="Text 3"/>
          <p:cNvSpPr/>
          <p:nvPr/>
        </p:nvSpPr>
        <p:spPr>
          <a:xfrm>
            <a:off x="502920" y="1600200"/>
            <a:ext cx="4114800" cy="292608"/>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Một bước tính đúng khi cả ba điều kiện cùng thoả</a:t>
            </a:r>
            <a:endParaRPr lang="en-US" sz="1300" dirty="0"/>
          </a:p>
        </p:txBody>
      </p:sp>
      <p:sp>
        <p:nvSpPr>
          <p:cNvPr id="6" name="Shape 4"/>
          <p:cNvSpPr/>
          <p:nvPr/>
        </p:nvSpPr>
        <p:spPr>
          <a:xfrm>
            <a:off x="502920" y="2011680"/>
            <a:ext cx="4114800" cy="1051560"/>
          </a:xfrm>
          <a:prstGeom prst="roundRect">
            <a:avLst>
              <a:gd name="adj" fmla="val 4348"/>
            </a:avLst>
          </a:prstGeom>
          <a:solidFill>
            <a:srgbClr val="E9E8EC"/>
          </a:solidFill>
          <a:ln/>
        </p:spPr>
      </p:sp>
      <p:sp>
        <p:nvSpPr>
          <p:cNvPr id="7" name="Text 5"/>
          <p:cNvSpPr/>
          <p:nvPr/>
        </p:nvSpPr>
        <p:spPr>
          <a:xfrm>
            <a:off x="612648" y="2084832"/>
            <a:ext cx="457200" cy="27432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(i)</a:t>
            </a:r>
            <a:endParaRPr lang="en-US" sz="1250" dirty="0"/>
          </a:p>
        </p:txBody>
      </p:sp>
      <p:sp>
        <p:nvSpPr>
          <p:cNvPr id="8" name="Text 6"/>
          <p:cNvSpPr/>
          <p:nvPr/>
        </p:nvSpPr>
        <p:spPr>
          <a:xfrm>
            <a:off x="1069848" y="2084832"/>
            <a:ext cx="338328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Khớp loại thao tác</a:t>
            </a:r>
            <a:endParaRPr lang="en-US" sz="1300" dirty="0"/>
          </a:p>
        </p:txBody>
      </p:sp>
      <p:sp>
        <p:nvSpPr>
          <p:cNvPr id="9" name="Text 7"/>
          <p:cNvSpPr/>
          <p:nvPr/>
        </p:nvSpPr>
        <p:spPr>
          <a:xfrm>
            <a:off x="649224" y="2395728"/>
            <a:ext cx="3822192" cy="6400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Chạm, gõ, cuộn, nhấn giữ, quay lại.</a:t>
            </a:r>
            <a:endParaRPr lang="en-US" sz="1200" dirty="0"/>
          </a:p>
        </p:txBody>
      </p:sp>
      <p:sp>
        <p:nvSpPr>
          <p:cNvPr id="10" name="Shape 8"/>
          <p:cNvSpPr/>
          <p:nvPr/>
        </p:nvSpPr>
        <p:spPr>
          <a:xfrm>
            <a:off x="502920" y="3154680"/>
            <a:ext cx="4114800" cy="1051560"/>
          </a:xfrm>
          <a:prstGeom prst="roundRect">
            <a:avLst>
              <a:gd name="adj" fmla="val 4348"/>
            </a:avLst>
          </a:prstGeom>
          <a:solidFill>
            <a:srgbClr val="E9E8EC"/>
          </a:solidFill>
          <a:ln/>
        </p:spPr>
      </p:sp>
      <p:sp>
        <p:nvSpPr>
          <p:cNvPr id="11" name="Text 9"/>
          <p:cNvSpPr/>
          <p:nvPr/>
        </p:nvSpPr>
        <p:spPr>
          <a:xfrm>
            <a:off x="612648" y="3227832"/>
            <a:ext cx="457200" cy="27432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(ii)</a:t>
            </a:r>
            <a:endParaRPr lang="en-US" sz="1250" dirty="0"/>
          </a:p>
        </p:txBody>
      </p:sp>
      <p:sp>
        <p:nvSpPr>
          <p:cNvPr id="12" name="Text 10"/>
          <p:cNvSpPr/>
          <p:nvPr/>
        </p:nvSpPr>
        <p:spPr>
          <a:xfrm>
            <a:off x="1069848" y="3227832"/>
            <a:ext cx="338328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Không đảo nghĩa</a:t>
            </a:r>
            <a:endParaRPr lang="en-US" sz="1300" dirty="0"/>
          </a:p>
        </p:txBody>
      </p:sp>
      <p:sp>
        <p:nvSpPr>
          <p:cNvPr id="13" name="Text 11"/>
          <p:cNvSpPr/>
          <p:nvPr/>
        </p:nvSpPr>
        <p:spPr>
          <a:xfrm>
            <a:off x="649224" y="3538728"/>
            <a:ext cx="3822192" cy="6400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Bật và tắt nằm cùng một chỗ chạm.</a:t>
            </a:r>
            <a:endParaRPr lang="en-US" sz="1200" dirty="0"/>
          </a:p>
        </p:txBody>
      </p:sp>
      <p:sp>
        <p:nvSpPr>
          <p:cNvPr id="14" name="Shape 12"/>
          <p:cNvSpPr/>
          <p:nvPr/>
        </p:nvSpPr>
        <p:spPr>
          <a:xfrm>
            <a:off x="502920" y="4297680"/>
            <a:ext cx="4114800" cy="1051560"/>
          </a:xfrm>
          <a:prstGeom prst="roundRect">
            <a:avLst>
              <a:gd name="adj" fmla="val 4348"/>
            </a:avLst>
          </a:prstGeom>
          <a:solidFill>
            <a:srgbClr val="E9E8EC"/>
          </a:solidFill>
          <a:ln/>
        </p:spPr>
      </p:sp>
      <p:sp>
        <p:nvSpPr>
          <p:cNvPr id="15" name="Text 13"/>
          <p:cNvSpPr/>
          <p:nvPr/>
        </p:nvSpPr>
        <p:spPr>
          <a:xfrm>
            <a:off x="612648" y="4370832"/>
            <a:ext cx="457200" cy="27432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(iii)</a:t>
            </a:r>
            <a:endParaRPr lang="en-US" sz="1250" dirty="0"/>
          </a:p>
        </p:txBody>
      </p:sp>
      <p:sp>
        <p:nvSpPr>
          <p:cNvPr id="16" name="Text 14"/>
          <p:cNvSpPr/>
          <p:nvPr/>
        </p:nvSpPr>
        <p:spPr>
          <a:xfrm>
            <a:off x="1069848" y="4370832"/>
            <a:ext cx="338328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Định vị đúng</a:t>
            </a:r>
            <a:endParaRPr lang="en-US" sz="1300" dirty="0"/>
          </a:p>
        </p:txBody>
      </p:sp>
      <p:sp>
        <p:nvSpPr>
          <p:cNvPr id="17" name="Text 15"/>
          <p:cNvSpPr/>
          <p:nvPr/>
        </p:nvSpPr>
        <p:spPr>
          <a:xfrm>
            <a:off x="649224" y="4681728"/>
            <a:ext cx="3822192" cy="6400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Điểm dự đoán nằm trong dung sai 14%, và không phần tử nào khác gần nó hơn chỗ người dùng đã chạm.</a:t>
            </a:r>
            <a:endParaRPr lang="en-US" sz="1200" dirty="0"/>
          </a:p>
        </p:txBody>
      </p:sp>
      <p:pic>
        <p:nvPicPr>
          <p:cNvPr id="18" name="Image 0" descr="../../thesis/figures/fig_voronoi.png">    </p:cNvPr>
          <p:cNvPicPr>
            <a:picLocks noChangeAspect="1"/>
          </p:cNvPicPr>
          <p:nvPr/>
        </p:nvPicPr>
        <p:blipFill>
          <a:blip r:embed="rId1"/>
          <a:stretch>
            <a:fillRect/>
          </a:stretch>
        </p:blipFill>
        <p:spPr>
          <a:xfrm>
            <a:off x="4800600" y="1051560"/>
            <a:ext cx="3840480" cy="2633472"/>
          </a:xfrm>
          <a:prstGeom prst="rect">
            <a:avLst/>
          </a:prstGeom>
        </p:spPr>
      </p:pic>
      <p:sp>
        <p:nvSpPr>
          <p:cNvPr id="19" name="Text 16"/>
          <p:cNvSpPr/>
          <p:nvPr/>
        </p:nvSpPr>
        <p:spPr>
          <a:xfrm>
            <a:off x="4800600" y="3730752"/>
            <a:ext cx="3840480" cy="274320"/>
          </a:xfrm>
          <a:prstGeom prst="rect">
            <a:avLst/>
          </a:prstGeom>
          <a:noFill/>
          <a:ln/>
        </p:spPr>
        <p:txBody>
          <a:bodyPr wrap="square" lIns="0" tIns="0" rIns="0" bIns="0" rtlCol="0" anchor="t"/>
          <a:lstStyle/>
          <a:p>
            <a:pPr algn="ctr" indent="0" marL="0">
              <a:buNone/>
            </a:pPr>
            <a:r>
              <a:rPr lang="en-US" sz="1100" i="1" dirty="0">
                <a:solidFill>
                  <a:srgbClr val="5A5A66"/>
                </a:solidFill>
                <a:latin typeface="Cambria" pitchFamily="34" charset="0"/>
                <a:ea typeface="Cambria" pitchFamily="34" charset="-122"/>
                <a:cs typeface="Cambria" pitchFamily="34" charset="-120"/>
              </a:rPr>
              <a:t>Ô Voronoi của phần tử người dùng đã chạm</a:t>
            </a:r>
            <a:endParaRPr lang="en-US" sz="1100" dirty="0"/>
          </a:p>
        </p:txBody>
      </p:sp>
      <p:sp>
        <p:nvSpPr>
          <p:cNvPr id="20" name="Shape 17"/>
          <p:cNvSpPr/>
          <p:nvPr/>
        </p:nvSpPr>
        <p:spPr>
          <a:xfrm>
            <a:off x="4800600" y="4114800"/>
            <a:ext cx="3840480" cy="1554480"/>
          </a:xfrm>
          <a:prstGeom prst="roundRect">
            <a:avLst>
              <a:gd name="adj" fmla="val 3529"/>
            </a:avLst>
          </a:prstGeom>
          <a:solidFill>
            <a:srgbClr val="E9E8EC"/>
          </a:solidFill>
          <a:ln/>
          <a:effectLst>
            <a:outerShdw sx="100000" sy="100000" kx="0" ky="0" algn="bl" rotWithShape="0" blurRad="63500" dist="31750" dir="2700000">
              <a:srgbClr val="8C8C99">
                <a:alpha val="45000"/>
              </a:srgbClr>
            </a:outerShdw>
          </a:effectLst>
        </p:spPr>
      </p:sp>
      <p:sp>
        <p:nvSpPr>
          <p:cNvPr id="21" name="Text 18"/>
          <p:cNvSpPr/>
          <p:nvPr/>
        </p:nvSpPr>
        <p:spPr>
          <a:xfrm>
            <a:off x="4983480" y="4114800"/>
            <a:ext cx="3474720" cy="1554480"/>
          </a:xfrm>
          <a:prstGeom prst="rect">
            <a:avLst/>
          </a:prstGeom>
          <a:noFill/>
          <a:ln/>
        </p:spPr>
        <p:txBody>
          <a:bodyPr wrap="square" lIns="0" tIns="0" rIns="0" bIns="0" rtlCol="0" anchor="ctr"/>
          <a:lstStyle/>
          <a:p>
            <a:pPr algn="l" indent="0" marL="0">
              <a:lnSpc>
                <a:spcPct val="135000"/>
              </a:lnSpc>
              <a:buNone/>
            </a:pPr>
            <a:r>
              <a:rPr lang="en-US" sz="1250" b="1" dirty="0">
                <a:solidFill>
                  <a:srgbClr val="B22222"/>
                </a:solidFill>
                <a:latin typeface="Cambria" pitchFamily="34" charset="0"/>
                <a:ea typeface="Cambria" pitchFamily="34" charset="-122"/>
                <a:cs typeface="Cambria" pitchFamily="34" charset="-120"/>
              </a:rPr>
              <a:t>Đây không phải mô hình tự chấm.</a:t>
            </a:r>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 Chuẩn để chấm là toạ độ một người thật đã chạm. Mô hình định vị không bao giờ thấy toạ độ đó.</a:t>
            </a:r>
            <a:endParaRPr lang="en-US" sz="1250" dirty="0"/>
          </a:p>
        </p:txBody>
      </p:sp>
      <p:sp>
        <p:nvSpPr>
          <p:cNvPr id="23" name="Shape 19"/>
          <p:cNvSpPr/>
          <p:nvPr/>
        </p:nvSpPr>
        <p:spPr>
          <a:xfrm>
            <a:off x="0" y="6620256"/>
            <a:ext cx="2743200" cy="237744"/>
          </a:xfrm>
          <a:prstGeom prst="rect">
            <a:avLst/>
          </a:prstGeom>
          <a:solidFill>
            <a:srgbClr val="191132"/>
          </a:solidFill>
          <a:ln/>
        </p:spPr>
      </p:sp>
      <p:sp>
        <p:nvSpPr>
          <p:cNvPr id="24" name="Shape 20"/>
          <p:cNvSpPr/>
          <p:nvPr/>
        </p:nvSpPr>
        <p:spPr>
          <a:xfrm>
            <a:off x="2743200" y="6620256"/>
            <a:ext cx="3383280" cy="237744"/>
          </a:xfrm>
          <a:prstGeom prst="rect">
            <a:avLst/>
          </a:prstGeom>
          <a:solidFill>
            <a:srgbClr val="25194B"/>
          </a:solidFill>
          <a:ln/>
        </p:spPr>
      </p:sp>
      <p:sp>
        <p:nvSpPr>
          <p:cNvPr id="25" name="Shape 21"/>
          <p:cNvSpPr/>
          <p:nvPr/>
        </p:nvSpPr>
        <p:spPr>
          <a:xfrm>
            <a:off x="6126480" y="6620256"/>
            <a:ext cx="1737360" cy="237744"/>
          </a:xfrm>
          <a:prstGeom prst="rect">
            <a:avLst/>
          </a:prstGeom>
          <a:solidFill>
            <a:srgbClr val="4F417A"/>
          </a:solidFill>
          <a:ln/>
        </p:spPr>
      </p:sp>
      <p:sp>
        <p:nvSpPr>
          <p:cNvPr id="26" name="Shape 22"/>
          <p:cNvSpPr/>
          <p:nvPr/>
        </p:nvSpPr>
        <p:spPr>
          <a:xfrm>
            <a:off x="7863840" y="6620256"/>
            <a:ext cx="1280160" cy="237744"/>
          </a:xfrm>
          <a:prstGeom prst="rect">
            <a:avLst/>
          </a:prstGeom>
          <a:solidFill>
            <a:srgbClr val="7A7099"/>
          </a:solidFill>
          <a:ln/>
        </p:spPr>
      </p:sp>
      <p:sp>
        <p:nvSpPr>
          <p:cNvPr id="27"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8"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9"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0"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11/26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Luật xác định trúng được chọn từ sàn mà nó đạt được</a:t>
            </a:r>
            <a:endParaRPr lang="en-US" sz="1900" dirty="0"/>
          </a:p>
        </p:txBody>
      </p:sp>
      <p:sp>
        <p:nvSpPr>
          <p:cNvPr id="4" name="Text 2"/>
          <p:cNvSpPr/>
          <p:nvPr/>
        </p:nvSpPr>
        <p:spPr>
          <a:xfrm>
            <a:off x="502920" y="868680"/>
            <a:ext cx="8138160" cy="365760"/>
          </a:xfrm>
          <a:prstGeom prst="rect">
            <a:avLst/>
          </a:prstGeom>
          <a:noFill/>
          <a:ln/>
        </p:spPr>
        <p:txBody>
          <a:bodyPr wrap="square" lIns="0" tIns="0" rIns="0" bIns="0" rtlCol="0" anchor="t"/>
          <a:lstStyle/>
          <a:p>
            <a:pPr algn="l" indent="0" marL="0">
              <a:buNone/>
            </a:pPr>
            <a:r>
              <a:rPr lang="en-US" sz="1400" dirty="0">
                <a:solidFill>
                  <a:srgbClr val="1A1A1A"/>
                </a:solidFill>
                <a:latin typeface="Cambria" pitchFamily="34" charset="0"/>
                <a:ea typeface="Cambria" pitchFamily="34" charset="-122"/>
                <a:cs typeface="Cambria" pitchFamily="34" charset="-120"/>
              </a:rPr>
              <a:t>Đặt trước thước một câu cố tình gọi sai tên nút, rồi xem luật nào còn cho điểm.</a:t>
            </a:r>
            <a:endParaRPr lang="en-US" sz="1400" dirty="0"/>
          </a:p>
        </p:txBody>
      </p:sp>
      <p:sp>
        <p:nvSpPr>
          <p:cNvPr id="5" name="Shape 3"/>
          <p:cNvSpPr/>
          <p:nvPr/>
        </p:nvSpPr>
        <p:spPr>
          <a:xfrm>
            <a:off x="1143000" y="1463040"/>
            <a:ext cx="7498080" cy="411480"/>
          </a:xfrm>
          <a:prstGeom prst="rect">
            <a:avLst/>
          </a:prstGeom>
          <a:solidFill>
            <a:srgbClr val="322164"/>
          </a:solidFill>
          <a:ln/>
        </p:spPr>
      </p:sp>
      <p:sp>
        <p:nvSpPr>
          <p:cNvPr id="6" name="Text 4"/>
          <p:cNvSpPr/>
          <p:nvPr/>
        </p:nvSpPr>
        <p:spPr>
          <a:xfrm>
            <a:off x="1143000" y="1463040"/>
            <a:ext cx="4389120" cy="41148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Luật xác định trúng</a:t>
            </a:r>
            <a:endParaRPr lang="en-US" sz="1250" dirty="0"/>
          </a:p>
        </p:txBody>
      </p:sp>
      <p:sp>
        <p:nvSpPr>
          <p:cNvPr id="7" name="Text 5"/>
          <p:cNvSpPr/>
          <p:nvPr/>
        </p:nvSpPr>
        <p:spPr>
          <a:xfrm>
            <a:off x="5532120" y="1463040"/>
            <a:ext cx="1828800" cy="41148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Chấm đúng cho câu sai nút</a:t>
            </a:r>
            <a:endParaRPr lang="en-US" sz="1250" dirty="0"/>
          </a:p>
        </p:txBody>
      </p:sp>
      <p:sp>
        <p:nvSpPr>
          <p:cNvPr id="8" name="Text 6"/>
          <p:cNvSpPr/>
          <p:nvPr/>
        </p:nvSpPr>
        <p:spPr>
          <a:xfrm>
            <a:off x="7360920" y="1463040"/>
            <a:ext cx="1280160" cy="411480"/>
          </a:xfrm>
          <a:prstGeom prst="rect">
            <a:avLst/>
          </a:prstGeom>
          <a:noFill/>
          <a:ln/>
        </p:spPr>
        <p:txBody>
          <a:bodyPr wrap="square" lIns="38100" tIns="38100" rIns="38100" bIns="38100" rtlCol="0" anchor="ctr"/>
          <a:lstStyle/>
          <a:p>
            <a:pPr algn="r" indent="0" marL="0">
              <a:buNone/>
            </a:pPr>
            <a:endParaRPr lang="en-US" sz="1250" dirty="0"/>
          </a:p>
        </p:txBody>
      </p:sp>
      <p:sp>
        <p:nvSpPr>
          <p:cNvPr id="9" name="Text 7"/>
          <p:cNvSpPr/>
          <p:nvPr/>
        </p:nvSpPr>
        <p:spPr>
          <a:xfrm>
            <a:off x="1143000" y="1874520"/>
            <a:ext cx="4389120" cy="566928"/>
          </a:xfrm>
          <a:prstGeom prst="rect">
            <a:avLst/>
          </a:prstGeom>
          <a:noFill/>
          <a:ln/>
        </p:spPr>
        <p:txBody>
          <a:bodyPr wrap="square" lIns="38100" tIns="38100" rIns="38100" bIns="38100" rtlCol="0" anchor="ctr"/>
          <a:lstStyle/>
          <a:p>
            <a:pPr algn="l" indent="0" marL="0">
              <a:buNone/>
            </a:pPr>
            <a:r>
              <a:rPr lang="en-US" sz="1350" b="1" dirty="0">
                <a:solidFill>
                  <a:srgbClr val="B22222"/>
                </a:solidFill>
                <a:latin typeface="Cambria" pitchFamily="34" charset="0"/>
                <a:ea typeface="Cambria" pitchFamily="34" charset="-122"/>
                <a:cs typeface="Cambria" pitchFamily="34" charset="-120"/>
              </a:rPr>
              <a:t>Ngưỡng dung sai quy ước</a:t>
            </a:r>
            <a:endParaRPr lang="en-US" sz="1350" dirty="0"/>
          </a:p>
        </p:txBody>
      </p:sp>
      <p:sp>
        <p:nvSpPr>
          <p:cNvPr id="10" name="Text 8"/>
          <p:cNvSpPr/>
          <p:nvPr/>
        </p:nvSpPr>
        <p:spPr>
          <a:xfrm>
            <a:off x="5532120" y="1874520"/>
            <a:ext cx="1828800" cy="566928"/>
          </a:xfrm>
          <a:prstGeom prst="rect">
            <a:avLst/>
          </a:prstGeom>
          <a:noFill/>
          <a:ln/>
        </p:spPr>
        <p:txBody>
          <a:bodyPr wrap="square" lIns="38100" tIns="38100" rIns="38100" bIns="38100" rtlCol="0" anchor="ctr"/>
          <a:lstStyle/>
          <a:p>
            <a:pPr algn="ctr" indent="0" marL="0">
              <a:buNone/>
            </a:pPr>
            <a:r>
              <a:rPr lang="en-US" sz="1500" b="1" dirty="0">
                <a:solidFill>
                  <a:srgbClr val="B22222"/>
                </a:solidFill>
                <a:latin typeface="Cambria" pitchFamily="34" charset="0"/>
                <a:ea typeface="Cambria" pitchFamily="34" charset="-122"/>
                <a:cs typeface="Cambria" pitchFamily="34" charset="-120"/>
              </a:rPr>
              <a:t>84,3%</a:t>
            </a:r>
            <a:endParaRPr lang="en-US" sz="1500" dirty="0"/>
          </a:p>
        </p:txBody>
      </p:sp>
      <p:sp>
        <p:nvSpPr>
          <p:cNvPr id="11" name="Text 9"/>
          <p:cNvSpPr/>
          <p:nvPr/>
        </p:nvSpPr>
        <p:spPr>
          <a:xfrm>
            <a:off x="7360920" y="1874520"/>
            <a:ext cx="1280160" cy="566928"/>
          </a:xfrm>
          <a:prstGeom prst="rect">
            <a:avLst/>
          </a:prstGeom>
          <a:noFill/>
          <a:ln/>
        </p:spPr>
        <p:txBody>
          <a:bodyPr wrap="square" lIns="38100" tIns="38100" rIns="38100" bIns="38100" rtlCol="0" anchor="ctr"/>
          <a:lstStyle/>
          <a:p>
            <a:pPr algn="r" indent="0" marL="0">
              <a:buNone/>
            </a:pPr>
            <a:r>
              <a:rPr lang="en-US" sz="1350" b="1" dirty="0">
                <a:solidFill>
                  <a:srgbClr val="B22222"/>
                </a:solidFill>
                <a:latin typeface="Cambria" pitchFamily="34" charset="0"/>
                <a:ea typeface="Cambria" pitchFamily="34" charset="-122"/>
                <a:cs typeface="Cambria" pitchFamily="34" charset="-120"/>
              </a:rPr>
              <a:t>không dùng được</a:t>
            </a:r>
            <a:endParaRPr lang="en-US" sz="1350" dirty="0"/>
          </a:p>
        </p:txBody>
      </p:sp>
      <p:sp>
        <p:nvSpPr>
          <p:cNvPr id="12" name="Shape 10"/>
          <p:cNvSpPr/>
          <p:nvPr/>
        </p:nvSpPr>
        <p:spPr>
          <a:xfrm>
            <a:off x="1143000" y="2441448"/>
            <a:ext cx="7498080" cy="0"/>
          </a:xfrm>
          <a:prstGeom prst="line">
            <a:avLst/>
          </a:prstGeom>
          <a:noFill/>
          <a:ln w="12700">
            <a:solidFill>
              <a:srgbClr val="9A94AE"/>
            </a:solidFill>
            <a:prstDash val="solid"/>
          </a:ln>
        </p:spPr>
      </p:sp>
      <p:sp>
        <p:nvSpPr>
          <p:cNvPr id="13" name="Text 11"/>
          <p:cNvSpPr/>
          <p:nvPr/>
        </p:nvSpPr>
        <p:spPr>
          <a:xfrm>
            <a:off x="1143000" y="2441448"/>
            <a:ext cx="4389120" cy="566928"/>
          </a:xfrm>
          <a:prstGeom prst="rect">
            <a:avLst/>
          </a:prstGeom>
          <a:noFill/>
          <a:ln/>
        </p:spPr>
        <p:txBody>
          <a:bodyPr wrap="square" lIns="38100" tIns="38100" rIns="38100" bIns="38100" rtlCol="0" anchor="ctr"/>
          <a:lstStyle/>
          <a:p>
            <a:pPr algn="l" indent="0" marL="0">
              <a:buNone/>
            </a:pPr>
            <a:r>
              <a:rPr lang="en-US" sz="1350" b="1" dirty="0">
                <a:solidFill>
                  <a:srgbClr val="006666"/>
                </a:solidFill>
                <a:latin typeface="Cambria" pitchFamily="34" charset="0"/>
                <a:ea typeface="Cambria" pitchFamily="34" charset="-122"/>
                <a:cs typeface="Cambria" pitchFamily="34" charset="-120"/>
              </a:rPr>
              <a:t>Thêm điều kiện ô Voronoi</a:t>
            </a:r>
            <a:endParaRPr lang="en-US" sz="1350" dirty="0"/>
          </a:p>
        </p:txBody>
      </p:sp>
      <p:sp>
        <p:nvSpPr>
          <p:cNvPr id="14" name="Text 12"/>
          <p:cNvSpPr/>
          <p:nvPr/>
        </p:nvSpPr>
        <p:spPr>
          <a:xfrm>
            <a:off x="5532120" y="2441448"/>
            <a:ext cx="1828800" cy="566928"/>
          </a:xfrm>
          <a:prstGeom prst="rect">
            <a:avLst/>
          </a:prstGeom>
          <a:noFill/>
          <a:ln/>
        </p:spPr>
        <p:txBody>
          <a:bodyPr wrap="square" lIns="38100" tIns="38100" rIns="38100" bIns="38100" rtlCol="0" anchor="ctr"/>
          <a:lstStyle/>
          <a:p>
            <a:pPr algn="ctr" indent="0" marL="0">
              <a:buNone/>
            </a:pPr>
            <a:r>
              <a:rPr lang="en-US" sz="1500" b="1" dirty="0">
                <a:solidFill>
                  <a:srgbClr val="006666"/>
                </a:solidFill>
                <a:latin typeface="Cambria" pitchFamily="34" charset="0"/>
                <a:ea typeface="Cambria" pitchFamily="34" charset="-122"/>
                <a:cs typeface="Cambria" pitchFamily="34" charset="-120"/>
              </a:rPr>
              <a:t>2,8%</a:t>
            </a:r>
            <a:endParaRPr lang="en-US" sz="1500" dirty="0"/>
          </a:p>
        </p:txBody>
      </p:sp>
      <p:sp>
        <p:nvSpPr>
          <p:cNvPr id="15" name="Text 13"/>
          <p:cNvSpPr/>
          <p:nvPr/>
        </p:nvSpPr>
        <p:spPr>
          <a:xfrm>
            <a:off x="7360920" y="2441448"/>
            <a:ext cx="1280160" cy="566928"/>
          </a:xfrm>
          <a:prstGeom prst="rect">
            <a:avLst/>
          </a:prstGeom>
          <a:noFill/>
          <a:ln/>
        </p:spPr>
        <p:txBody>
          <a:bodyPr wrap="square" lIns="38100" tIns="38100" rIns="38100" bIns="38100" rtlCol="0" anchor="ctr"/>
          <a:lstStyle/>
          <a:p>
            <a:pPr algn="r" indent="0" marL="0">
              <a:buNone/>
            </a:pPr>
            <a:r>
              <a:rPr lang="en-US" sz="1350" b="1" dirty="0">
                <a:solidFill>
                  <a:srgbClr val="006666"/>
                </a:solidFill>
                <a:latin typeface="Cambria" pitchFamily="34" charset="0"/>
                <a:ea typeface="Cambria" pitchFamily="34" charset="-122"/>
                <a:cs typeface="Cambria" pitchFamily="34" charset="-120"/>
              </a:rPr>
              <a:t>đã chọn</a:t>
            </a:r>
            <a:endParaRPr lang="en-US" sz="1350" dirty="0"/>
          </a:p>
        </p:txBody>
      </p:sp>
      <p:sp>
        <p:nvSpPr>
          <p:cNvPr id="16" name="Text 14"/>
          <p:cNvSpPr/>
          <p:nvPr/>
        </p:nvSpPr>
        <p:spPr>
          <a:xfrm>
            <a:off x="502920" y="3200400"/>
            <a:ext cx="8138160" cy="320040"/>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Ba chi tiết của luật, đọc thẳng từ mã cài đặt</a:t>
            </a:r>
            <a:endParaRPr lang="en-US" sz="1400" dirty="0"/>
          </a:p>
        </p:txBody>
      </p:sp>
      <p:sp>
        <p:nvSpPr>
          <p:cNvPr id="17" name="Text 15"/>
          <p:cNvSpPr/>
          <p:nvPr/>
        </p:nvSpPr>
        <p:spPr>
          <a:xfrm>
            <a:off x="640080" y="3611880"/>
            <a:ext cx="201168" cy="64008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18" name="Text 16"/>
          <p:cNvSpPr/>
          <p:nvPr/>
        </p:nvSpPr>
        <p:spPr>
          <a:xfrm>
            <a:off x="868680" y="3611880"/>
            <a:ext cx="7635240" cy="603504"/>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Vùng dung sai là hình chữ nhật: ±151 điểm ảnh ngang nhưng ±336 dọc</a:t>
            </a:r>
            <a:endParaRPr lang="en-US" sz="1350" dirty="0"/>
          </a:p>
        </p:txBody>
      </p:sp>
      <p:sp>
        <p:nvSpPr>
          <p:cNvPr id="19" name="Text 17"/>
          <p:cNvSpPr/>
          <p:nvPr/>
        </p:nvSpPr>
        <p:spPr>
          <a:xfrm>
            <a:off x="640080" y="4251960"/>
            <a:ext cx="201168" cy="64008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0" name="Text 18"/>
          <p:cNvSpPr/>
          <p:nvPr/>
        </p:nvSpPr>
        <p:spPr>
          <a:xfrm>
            <a:off x="868680" y="4251960"/>
            <a:ext cx="7635240" cy="603504"/>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Hạt sinh ra ô Voronoi là chính điểm chạm, không phải tâm hộp phần tử</a:t>
            </a:r>
            <a:endParaRPr lang="en-US" sz="1350" dirty="0"/>
          </a:p>
        </p:txBody>
      </p:sp>
      <p:sp>
        <p:nvSpPr>
          <p:cNvPr id="21" name="Text 19"/>
          <p:cNvSpPr/>
          <p:nvPr/>
        </p:nvSpPr>
        <p:spPr>
          <a:xfrm>
            <a:off x="640080" y="4892040"/>
            <a:ext cx="201168" cy="640080"/>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2" name="Text 20"/>
          <p:cNvSpPr/>
          <p:nvPr/>
        </p:nvSpPr>
        <p:spPr>
          <a:xfrm>
            <a:off x="868680" y="4892040"/>
            <a:ext cx="7635240" cy="603504"/>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Điều kiện Voronoi bao gồm luôn điều kiện dung sai, nên nó là bản siết chặt</a:t>
            </a:r>
            <a:endParaRPr lang="en-US" sz="1350" dirty="0"/>
          </a:p>
        </p:txBody>
      </p:sp>
      <p:sp>
        <p:nvSpPr>
          <p:cNvPr id="24" name="Shape 21"/>
          <p:cNvSpPr/>
          <p:nvPr/>
        </p:nvSpPr>
        <p:spPr>
          <a:xfrm>
            <a:off x="0" y="6620256"/>
            <a:ext cx="2743200" cy="237744"/>
          </a:xfrm>
          <a:prstGeom prst="rect">
            <a:avLst/>
          </a:prstGeom>
          <a:solidFill>
            <a:srgbClr val="191132"/>
          </a:solidFill>
          <a:ln/>
        </p:spPr>
      </p:sp>
      <p:sp>
        <p:nvSpPr>
          <p:cNvPr id="25" name="Shape 22"/>
          <p:cNvSpPr/>
          <p:nvPr/>
        </p:nvSpPr>
        <p:spPr>
          <a:xfrm>
            <a:off x="2743200" y="6620256"/>
            <a:ext cx="3383280" cy="237744"/>
          </a:xfrm>
          <a:prstGeom prst="rect">
            <a:avLst/>
          </a:prstGeom>
          <a:solidFill>
            <a:srgbClr val="25194B"/>
          </a:solidFill>
          <a:ln/>
        </p:spPr>
      </p:sp>
      <p:sp>
        <p:nvSpPr>
          <p:cNvPr id="26" name="Shape 23"/>
          <p:cNvSpPr/>
          <p:nvPr/>
        </p:nvSpPr>
        <p:spPr>
          <a:xfrm>
            <a:off x="6126480" y="6620256"/>
            <a:ext cx="1737360" cy="237744"/>
          </a:xfrm>
          <a:prstGeom prst="rect">
            <a:avLst/>
          </a:prstGeom>
          <a:solidFill>
            <a:srgbClr val="4F417A"/>
          </a:solidFill>
          <a:ln/>
        </p:spPr>
      </p:sp>
      <p:sp>
        <p:nvSpPr>
          <p:cNvPr id="27" name="Shape 24"/>
          <p:cNvSpPr/>
          <p:nvPr/>
        </p:nvSpPr>
        <p:spPr>
          <a:xfrm>
            <a:off x="7863840" y="6620256"/>
            <a:ext cx="1280160" cy="237744"/>
          </a:xfrm>
          <a:prstGeom prst="rect">
            <a:avLst/>
          </a:prstGeom>
          <a:solidFill>
            <a:srgbClr val="7A7099"/>
          </a:solidFill>
          <a:ln/>
        </p:spPr>
      </p:sp>
      <p:sp>
        <p:nvSpPr>
          <p:cNvPr id="28" name="Text 2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9" name="Text 2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0" name="Text 2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1" name="Text 2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12/26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Trần và sàn đều là đại lượng đo được</a:t>
            </a:r>
            <a:endParaRPr lang="en-US" sz="1900" dirty="0"/>
          </a:p>
        </p:txBody>
      </p:sp>
      <p:sp>
        <p:nvSpPr>
          <p:cNvPr id="4" name="Text 2"/>
          <p:cNvSpPr/>
          <p:nvPr/>
        </p:nvSpPr>
        <p:spPr>
          <a:xfrm>
            <a:off x="502920" y="914400"/>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chuẩn  (trần)</a:t>
            </a:r>
            <a:endParaRPr lang="en-US" sz="1300" dirty="0"/>
          </a:p>
        </p:txBody>
      </p:sp>
      <p:sp>
        <p:nvSpPr>
          <p:cNvPr id="5" name="Shape 3"/>
          <p:cNvSpPr/>
          <p:nvPr/>
        </p:nvSpPr>
        <p:spPr>
          <a:xfrm>
            <a:off x="3886200" y="969264"/>
            <a:ext cx="3566160" cy="274320"/>
          </a:xfrm>
          <a:prstGeom prst="rect">
            <a:avLst/>
          </a:prstGeom>
          <a:solidFill>
            <a:srgbClr val="DCDAE4"/>
          </a:solidFill>
          <a:ln/>
        </p:spPr>
      </p:sp>
      <p:sp>
        <p:nvSpPr>
          <p:cNvPr id="6" name="Shape 4"/>
          <p:cNvSpPr/>
          <p:nvPr/>
        </p:nvSpPr>
        <p:spPr>
          <a:xfrm>
            <a:off x="3886200" y="969264"/>
            <a:ext cx="2699583" cy="274320"/>
          </a:xfrm>
          <a:prstGeom prst="rect">
            <a:avLst/>
          </a:prstGeom>
          <a:solidFill>
            <a:srgbClr val="006666"/>
          </a:solidFill>
          <a:ln/>
        </p:spPr>
      </p:sp>
      <p:sp>
        <p:nvSpPr>
          <p:cNvPr id="7" name="Text 5"/>
          <p:cNvSpPr/>
          <p:nvPr/>
        </p:nvSpPr>
        <p:spPr>
          <a:xfrm>
            <a:off x="7543800" y="914400"/>
            <a:ext cx="1097280" cy="384048"/>
          </a:xfrm>
          <a:prstGeom prst="rect">
            <a:avLst/>
          </a:prstGeom>
          <a:noFill/>
          <a:ln/>
        </p:spPr>
        <p:txBody>
          <a:bodyPr wrap="square" lIns="0" tIns="0" rIns="0" bIns="0" rtlCol="0" anchor="ctr"/>
          <a:lstStyle/>
          <a:p>
            <a:pPr algn="r" indent="0" marL="0">
              <a:buNone/>
            </a:pPr>
            <a:r>
              <a:rPr lang="en-US" sz="1500" b="1" dirty="0">
                <a:solidFill>
                  <a:srgbClr val="006666"/>
                </a:solidFill>
                <a:latin typeface="Cambria" pitchFamily="34" charset="0"/>
                <a:ea typeface="Cambria" pitchFamily="34" charset="-122"/>
                <a:cs typeface="Cambria" pitchFamily="34" charset="-120"/>
              </a:rPr>
              <a:t>75,7%</a:t>
            </a:r>
            <a:endParaRPr lang="en-US" sz="1500" dirty="0"/>
          </a:p>
        </p:txBody>
      </p:sp>
      <p:sp>
        <p:nvSpPr>
          <p:cNvPr id="8" name="Text 6"/>
          <p:cNvSpPr/>
          <p:nvPr/>
        </p:nvSpPr>
        <p:spPr>
          <a:xfrm>
            <a:off x="502920" y="1627632"/>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Mô hình sau tinh chỉnh</a:t>
            </a:r>
            <a:endParaRPr lang="en-US" sz="1300" dirty="0"/>
          </a:p>
        </p:txBody>
      </p:sp>
      <p:sp>
        <p:nvSpPr>
          <p:cNvPr id="9" name="Shape 7"/>
          <p:cNvSpPr/>
          <p:nvPr/>
        </p:nvSpPr>
        <p:spPr>
          <a:xfrm>
            <a:off x="3886200" y="1682496"/>
            <a:ext cx="3566160" cy="274320"/>
          </a:xfrm>
          <a:prstGeom prst="rect">
            <a:avLst/>
          </a:prstGeom>
          <a:solidFill>
            <a:srgbClr val="DCDAE4"/>
          </a:solidFill>
          <a:ln/>
        </p:spPr>
      </p:sp>
      <p:sp>
        <p:nvSpPr>
          <p:cNvPr id="10" name="Shape 8"/>
          <p:cNvSpPr/>
          <p:nvPr/>
        </p:nvSpPr>
        <p:spPr>
          <a:xfrm>
            <a:off x="3886200" y="1682496"/>
            <a:ext cx="2107601" cy="274320"/>
          </a:xfrm>
          <a:prstGeom prst="rect">
            <a:avLst/>
          </a:prstGeom>
          <a:solidFill>
            <a:srgbClr val="322164"/>
          </a:solidFill>
          <a:ln/>
        </p:spPr>
      </p:sp>
      <p:sp>
        <p:nvSpPr>
          <p:cNvPr id="11" name="Text 9"/>
          <p:cNvSpPr/>
          <p:nvPr/>
        </p:nvSpPr>
        <p:spPr>
          <a:xfrm>
            <a:off x="7543800" y="1627632"/>
            <a:ext cx="1097280" cy="384048"/>
          </a:xfrm>
          <a:prstGeom prst="rect">
            <a:avLst/>
          </a:prstGeom>
          <a:noFill/>
          <a:ln/>
        </p:spPr>
        <p:txBody>
          <a:bodyPr wrap="square" lIns="0" tIns="0" rIns="0" bIns="0" rtlCol="0" anchor="ctr"/>
          <a:lstStyle/>
          <a:p>
            <a:pPr algn="r" indent="0" marL="0">
              <a:buNone/>
            </a:pPr>
            <a:r>
              <a:rPr lang="en-US" sz="1500" b="1" dirty="0">
                <a:solidFill>
                  <a:srgbClr val="322164"/>
                </a:solidFill>
                <a:latin typeface="Cambria" pitchFamily="34" charset="0"/>
                <a:ea typeface="Cambria" pitchFamily="34" charset="-122"/>
                <a:cs typeface="Cambria" pitchFamily="34" charset="-120"/>
              </a:rPr>
              <a:t>59,1%</a:t>
            </a:r>
            <a:endParaRPr lang="en-US" sz="1500" dirty="0"/>
          </a:p>
        </p:txBody>
      </p:sp>
      <p:sp>
        <p:nvSpPr>
          <p:cNvPr id="12" name="Text 10"/>
          <p:cNvSpPr/>
          <p:nvPr/>
        </p:nvSpPr>
        <p:spPr>
          <a:xfrm>
            <a:off x="502920" y="2340864"/>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Mô hình chưa tinh chỉnh</a:t>
            </a:r>
            <a:endParaRPr lang="en-US" sz="1300" dirty="0"/>
          </a:p>
        </p:txBody>
      </p:sp>
      <p:sp>
        <p:nvSpPr>
          <p:cNvPr id="13" name="Shape 11"/>
          <p:cNvSpPr/>
          <p:nvPr/>
        </p:nvSpPr>
        <p:spPr>
          <a:xfrm>
            <a:off x="3886200" y="2395728"/>
            <a:ext cx="3566160" cy="274320"/>
          </a:xfrm>
          <a:prstGeom prst="rect">
            <a:avLst/>
          </a:prstGeom>
          <a:solidFill>
            <a:srgbClr val="DCDAE4"/>
          </a:solidFill>
          <a:ln/>
        </p:spPr>
      </p:sp>
      <p:sp>
        <p:nvSpPr>
          <p:cNvPr id="14" name="Shape 12"/>
          <p:cNvSpPr/>
          <p:nvPr/>
        </p:nvSpPr>
        <p:spPr>
          <a:xfrm>
            <a:off x="3886200" y="2395728"/>
            <a:ext cx="1697492" cy="274320"/>
          </a:xfrm>
          <a:prstGeom prst="rect">
            <a:avLst/>
          </a:prstGeom>
          <a:solidFill>
            <a:srgbClr val="4F417A"/>
          </a:solidFill>
          <a:ln/>
        </p:spPr>
      </p:sp>
      <p:sp>
        <p:nvSpPr>
          <p:cNvPr id="15" name="Text 13"/>
          <p:cNvSpPr/>
          <p:nvPr/>
        </p:nvSpPr>
        <p:spPr>
          <a:xfrm>
            <a:off x="7543800" y="2340864"/>
            <a:ext cx="1097280" cy="384048"/>
          </a:xfrm>
          <a:prstGeom prst="rect">
            <a:avLst/>
          </a:prstGeom>
          <a:noFill/>
          <a:ln/>
        </p:spPr>
        <p:txBody>
          <a:bodyPr wrap="square" lIns="0" tIns="0" rIns="0" bIns="0" rtlCol="0" anchor="ctr"/>
          <a:lstStyle/>
          <a:p>
            <a:pPr algn="r" indent="0" marL="0">
              <a:buNone/>
            </a:pPr>
            <a:r>
              <a:rPr lang="en-US" sz="1500" b="1" dirty="0">
                <a:solidFill>
                  <a:srgbClr val="4F417A"/>
                </a:solidFill>
                <a:latin typeface="Cambria" pitchFamily="34" charset="0"/>
                <a:ea typeface="Cambria" pitchFamily="34" charset="-122"/>
                <a:cs typeface="Cambria" pitchFamily="34" charset="-120"/>
              </a:rPr>
              <a:t>47,6%</a:t>
            </a:r>
            <a:endParaRPr lang="en-US" sz="1500" dirty="0"/>
          </a:p>
        </p:txBody>
      </p:sp>
      <p:sp>
        <p:nvSpPr>
          <p:cNvPr id="16" name="Text 14"/>
          <p:cNvSpPr/>
          <p:nvPr/>
        </p:nvSpPr>
        <p:spPr>
          <a:xfrm>
            <a:off x="502920" y="3054096"/>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chung chung, không nói phần tử nào</a:t>
            </a:r>
            <a:endParaRPr lang="en-US" sz="1300" dirty="0"/>
          </a:p>
        </p:txBody>
      </p:sp>
      <p:sp>
        <p:nvSpPr>
          <p:cNvPr id="17" name="Shape 15"/>
          <p:cNvSpPr/>
          <p:nvPr/>
        </p:nvSpPr>
        <p:spPr>
          <a:xfrm>
            <a:off x="3886200" y="3108960"/>
            <a:ext cx="3566160" cy="274320"/>
          </a:xfrm>
          <a:prstGeom prst="rect">
            <a:avLst/>
          </a:prstGeom>
          <a:solidFill>
            <a:srgbClr val="DCDAE4"/>
          </a:solidFill>
          <a:ln/>
        </p:spPr>
      </p:sp>
      <p:sp>
        <p:nvSpPr>
          <p:cNvPr id="18" name="Shape 16"/>
          <p:cNvSpPr/>
          <p:nvPr/>
        </p:nvSpPr>
        <p:spPr>
          <a:xfrm>
            <a:off x="3886200" y="3108960"/>
            <a:ext cx="427939" cy="274320"/>
          </a:xfrm>
          <a:prstGeom prst="rect">
            <a:avLst/>
          </a:prstGeom>
          <a:solidFill>
            <a:srgbClr val="B22222"/>
          </a:solidFill>
          <a:ln/>
        </p:spPr>
      </p:sp>
      <p:sp>
        <p:nvSpPr>
          <p:cNvPr id="19" name="Text 17"/>
          <p:cNvSpPr/>
          <p:nvPr/>
        </p:nvSpPr>
        <p:spPr>
          <a:xfrm>
            <a:off x="7543800" y="3054096"/>
            <a:ext cx="1097280" cy="384048"/>
          </a:xfrm>
          <a:prstGeom prst="rect">
            <a:avLst/>
          </a:prstGeom>
          <a:noFill/>
          <a:ln/>
        </p:spPr>
        <p:txBody>
          <a:bodyPr wrap="square" lIns="0" tIns="0" rIns="0" bIns="0" rtlCol="0" anchor="ctr"/>
          <a:lstStyle/>
          <a:p>
            <a:pPr algn="r" indent="0" marL="0">
              <a:buNone/>
            </a:pPr>
            <a:r>
              <a:rPr lang="en-US" sz="1500" b="1" dirty="0">
                <a:solidFill>
                  <a:srgbClr val="B22222"/>
                </a:solidFill>
                <a:latin typeface="Cambria" pitchFamily="34" charset="0"/>
                <a:ea typeface="Cambria" pitchFamily="34" charset="-122"/>
                <a:cs typeface="Cambria" pitchFamily="34" charset="-120"/>
              </a:rPr>
              <a:t>12,0%</a:t>
            </a:r>
            <a:endParaRPr lang="en-US" sz="1500" dirty="0"/>
          </a:p>
        </p:txBody>
      </p:sp>
      <p:sp>
        <p:nvSpPr>
          <p:cNvPr id="20" name="Text 18"/>
          <p:cNvSpPr/>
          <p:nvPr/>
        </p:nvSpPr>
        <p:spPr>
          <a:xfrm>
            <a:off x="502920" y="3767328"/>
            <a:ext cx="3291840" cy="384048"/>
          </a:xfrm>
          <a:prstGeom prst="rect">
            <a:avLst/>
          </a:prstGeom>
          <a:noFill/>
          <a:ln/>
        </p:spPr>
        <p:txBody>
          <a:bodyPr wrap="square" lIns="0" tIns="0" rIns="0" bIns="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thật nhưng của một màn hình khác</a:t>
            </a:r>
            <a:endParaRPr lang="en-US" sz="1300" dirty="0"/>
          </a:p>
        </p:txBody>
      </p:sp>
      <p:sp>
        <p:nvSpPr>
          <p:cNvPr id="21" name="Shape 19"/>
          <p:cNvSpPr/>
          <p:nvPr/>
        </p:nvSpPr>
        <p:spPr>
          <a:xfrm>
            <a:off x="3886200" y="3822192"/>
            <a:ext cx="3566160" cy="274320"/>
          </a:xfrm>
          <a:prstGeom prst="rect">
            <a:avLst/>
          </a:prstGeom>
          <a:solidFill>
            <a:srgbClr val="DCDAE4"/>
          </a:solidFill>
          <a:ln/>
        </p:spPr>
      </p:sp>
      <p:sp>
        <p:nvSpPr>
          <p:cNvPr id="22" name="Shape 20"/>
          <p:cNvSpPr/>
          <p:nvPr/>
        </p:nvSpPr>
        <p:spPr>
          <a:xfrm>
            <a:off x="3886200" y="3822192"/>
            <a:ext cx="217536" cy="274320"/>
          </a:xfrm>
          <a:prstGeom prst="rect">
            <a:avLst/>
          </a:prstGeom>
          <a:solidFill>
            <a:srgbClr val="990000"/>
          </a:solidFill>
          <a:ln/>
        </p:spPr>
      </p:sp>
      <p:sp>
        <p:nvSpPr>
          <p:cNvPr id="23" name="Text 21"/>
          <p:cNvSpPr/>
          <p:nvPr/>
        </p:nvSpPr>
        <p:spPr>
          <a:xfrm>
            <a:off x="7543800" y="3767328"/>
            <a:ext cx="1097280" cy="384048"/>
          </a:xfrm>
          <a:prstGeom prst="rect">
            <a:avLst/>
          </a:prstGeom>
          <a:noFill/>
          <a:ln/>
        </p:spPr>
        <p:txBody>
          <a:bodyPr wrap="square" lIns="0" tIns="0" rIns="0" bIns="0" rtlCol="0" anchor="ctr"/>
          <a:lstStyle/>
          <a:p>
            <a:pPr algn="r" indent="0" marL="0">
              <a:buNone/>
            </a:pPr>
            <a:r>
              <a:rPr lang="en-US" sz="1500" b="1" dirty="0">
                <a:solidFill>
                  <a:srgbClr val="990000"/>
                </a:solidFill>
                <a:latin typeface="Cambria" pitchFamily="34" charset="0"/>
                <a:ea typeface="Cambria" pitchFamily="34" charset="-122"/>
                <a:cs typeface="Cambria" pitchFamily="34" charset="-120"/>
              </a:rPr>
              <a:t>6,1%</a:t>
            </a:r>
            <a:endParaRPr lang="en-US" sz="1500" dirty="0"/>
          </a:p>
        </p:txBody>
      </p:sp>
      <p:sp>
        <p:nvSpPr>
          <p:cNvPr id="24" name="Shape 22"/>
          <p:cNvSpPr/>
          <p:nvPr/>
        </p:nvSpPr>
        <p:spPr>
          <a:xfrm>
            <a:off x="502920" y="4617720"/>
            <a:ext cx="8138160" cy="1051560"/>
          </a:xfrm>
          <a:prstGeom prst="roundRect">
            <a:avLst>
              <a:gd name="adj" fmla="val 5217"/>
            </a:avLst>
          </a:prstGeom>
          <a:solidFill>
            <a:srgbClr val="E9E8EC"/>
          </a:solidFill>
          <a:ln/>
          <a:effectLst>
            <a:outerShdw sx="100000" sy="100000" kx="0" ky="0" algn="bl" rotWithShape="0" blurRad="63500" dist="31750" dir="2700000">
              <a:srgbClr val="8C8C99">
                <a:alpha val="45000"/>
              </a:srgbClr>
            </a:outerShdw>
          </a:effectLst>
        </p:spPr>
      </p:sp>
      <p:sp>
        <p:nvSpPr>
          <p:cNvPr id="25" name="Text 23"/>
          <p:cNvSpPr/>
          <p:nvPr/>
        </p:nvSpPr>
        <p:spPr>
          <a:xfrm>
            <a:off x="731520" y="4617720"/>
            <a:ext cx="7680960" cy="1051560"/>
          </a:xfrm>
          <a:prstGeom prst="rect">
            <a:avLst/>
          </a:prstGeom>
          <a:noFill/>
          <a:ln/>
        </p:spPr>
        <p:txBody>
          <a:bodyPr wrap="square" lIns="0" tIns="0" rIns="0" bIns="0" rtlCol="0" anchor="ctr"/>
          <a:lstStyle/>
          <a:p>
            <a:pPr algn="l" indent="0" marL="0">
              <a:lnSpc>
                <a:spcPct val="140000"/>
              </a:lnSpc>
              <a:buNone/>
            </a:pPr>
            <a:r>
              <a:rPr lang="en-US" sz="1400" b="1" dirty="0">
                <a:solidFill>
                  <a:srgbClr val="B22222"/>
                </a:solidFill>
                <a:latin typeface="Cambria" pitchFamily="34" charset="0"/>
                <a:ea typeface="Cambria" pitchFamily="34" charset="-122"/>
                <a:cs typeface="Cambria" pitchFamily="34" charset="-120"/>
              </a:rPr>
              <a:t>Câu đúng văn phong mà sai nội dung bị chấm thấp nhất trong mọi phép đo.</a:t>
            </a:r>
            <a:pPr algn="l" indent="0" marL="0">
              <a:lnSpc>
                <a:spcPct val="140000"/>
              </a:lnSpc>
              <a:buNone/>
            </a:pPr>
            <a:endParaRPr lang="en-US" sz="1400" dirty="0"/>
          </a:p>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Dụng cụ đo thật sự đọc nội dung câu, không thưởng cho văn phong.</a:t>
            </a:r>
            <a:endParaRPr lang="en-US" sz="1400" dirty="0"/>
          </a:p>
        </p:txBody>
      </p:sp>
      <p:sp>
        <p:nvSpPr>
          <p:cNvPr id="27" name="Shape 24"/>
          <p:cNvSpPr/>
          <p:nvPr/>
        </p:nvSpPr>
        <p:spPr>
          <a:xfrm>
            <a:off x="0" y="6620256"/>
            <a:ext cx="2743200" cy="237744"/>
          </a:xfrm>
          <a:prstGeom prst="rect">
            <a:avLst/>
          </a:prstGeom>
          <a:solidFill>
            <a:srgbClr val="191132"/>
          </a:solidFill>
          <a:ln/>
        </p:spPr>
      </p:sp>
      <p:sp>
        <p:nvSpPr>
          <p:cNvPr id="28" name="Shape 25"/>
          <p:cNvSpPr/>
          <p:nvPr/>
        </p:nvSpPr>
        <p:spPr>
          <a:xfrm>
            <a:off x="2743200" y="6620256"/>
            <a:ext cx="3383280" cy="237744"/>
          </a:xfrm>
          <a:prstGeom prst="rect">
            <a:avLst/>
          </a:prstGeom>
          <a:solidFill>
            <a:srgbClr val="25194B"/>
          </a:solidFill>
          <a:ln/>
        </p:spPr>
      </p:sp>
      <p:sp>
        <p:nvSpPr>
          <p:cNvPr id="29" name="Shape 26"/>
          <p:cNvSpPr/>
          <p:nvPr/>
        </p:nvSpPr>
        <p:spPr>
          <a:xfrm>
            <a:off x="6126480" y="6620256"/>
            <a:ext cx="1737360" cy="237744"/>
          </a:xfrm>
          <a:prstGeom prst="rect">
            <a:avLst/>
          </a:prstGeom>
          <a:solidFill>
            <a:srgbClr val="4F417A"/>
          </a:solidFill>
          <a:ln/>
        </p:spPr>
      </p:sp>
      <p:sp>
        <p:nvSpPr>
          <p:cNvPr id="30" name="Shape 27"/>
          <p:cNvSpPr/>
          <p:nvPr/>
        </p:nvSpPr>
        <p:spPr>
          <a:xfrm>
            <a:off x="7863840" y="6620256"/>
            <a:ext cx="1280160" cy="237744"/>
          </a:xfrm>
          <a:prstGeom prst="rect">
            <a:avLst/>
          </a:prstGeom>
          <a:solidFill>
            <a:srgbClr val="7A7099"/>
          </a:solidFill>
          <a:ln/>
        </p:spPr>
      </p:sp>
      <p:sp>
        <p:nvSpPr>
          <p:cNvPr id="31" name="Text 2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2" name="Text 2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13/26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Sáu khối kiểm chứng của thước</a:t>
            </a:r>
            <a:endParaRPr lang="en-US" sz="1900" dirty="0"/>
          </a:p>
        </p:txBody>
      </p:sp>
      <p:sp>
        <p:nvSpPr>
          <p:cNvPr id="4" name="Shape 2"/>
          <p:cNvSpPr/>
          <p:nvPr/>
        </p:nvSpPr>
        <p:spPr>
          <a:xfrm>
            <a:off x="502920" y="914400"/>
            <a:ext cx="8129016" cy="411480"/>
          </a:xfrm>
          <a:prstGeom prst="rect">
            <a:avLst/>
          </a:prstGeom>
          <a:solidFill>
            <a:srgbClr val="322164"/>
          </a:solidFill>
          <a:ln/>
        </p:spPr>
      </p:sp>
      <p:sp>
        <p:nvSpPr>
          <p:cNvPr id="5" name="Text 3"/>
          <p:cNvSpPr/>
          <p:nvPr/>
        </p:nvSpPr>
        <p:spPr>
          <a:xfrm>
            <a:off x="502920" y="914400"/>
            <a:ext cx="3794760" cy="411480"/>
          </a:xfrm>
          <a:prstGeom prst="rect">
            <a:avLst/>
          </a:prstGeom>
          <a:noFill/>
          <a:ln/>
        </p:spPr>
        <p:txBody>
          <a:bodyPr wrap="square" lIns="38100" tIns="38100" rIns="38100" bIns="38100" rtlCol="0" anchor="ctr"/>
          <a:lstStyle/>
          <a:p>
            <a:pPr algn="l" indent="0" marL="0">
              <a:buNone/>
            </a:pPr>
            <a:r>
              <a:rPr lang="en-US" sz="1300" b="1" dirty="0">
                <a:solidFill>
                  <a:srgbClr val="FFFFFF"/>
                </a:solidFill>
                <a:latin typeface="Cambria" pitchFamily="34" charset="0"/>
                <a:ea typeface="Cambria" pitchFamily="34" charset="-122"/>
                <a:cs typeface="Cambria" pitchFamily="34" charset="-120"/>
              </a:rPr>
              <a:t>Khối kiểm chứng</a:t>
            </a:r>
            <a:endParaRPr lang="en-US" sz="1300" dirty="0"/>
          </a:p>
        </p:txBody>
      </p:sp>
      <p:sp>
        <p:nvSpPr>
          <p:cNvPr id="6" name="Text 4"/>
          <p:cNvSpPr/>
          <p:nvPr/>
        </p:nvSpPr>
        <p:spPr>
          <a:xfrm>
            <a:off x="4297680" y="914400"/>
            <a:ext cx="4334256" cy="411480"/>
          </a:xfrm>
          <a:prstGeom prst="rect">
            <a:avLst/>
          </a:prstGeom>
          <a:noFill/>
          <a:ln/>
        </p:spPr>
        <p:txBody>
          <a:bodyPr wrap="square" lIns="38100" tIns="38100" rIns="38100" bIns="3810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Kết quả đo</a:t>
            </a:r>
            <a:endParaRPr lang="en-US" sz="1300" dirty="0"/>
          </a:p>
        </p:txBody>
      </p:sp>
      <p:sp>
        <p:nvSpPr>
          <p:cNvPr id="7" name="Text 5"/>
          <p:cNvSpPr/>
          <p:nvPr/>
        </p:nvSpPr>
        <p:spPr>
          <a:xfrm>
            <a:off x="502920" y="132588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Điều kiện sai số dụng cụ, đặt trước</a:t>
            </a:r>
            <a:endParaRPr lang="en-US" sz="1250" dirty="0"/>
          </a:p>
        </p:txBody>
      </p:sp>
      <p:sp>
        <p:nvSpPr>
          <p:cNvPr id="8" name="Text 6"/>
          <p:cNvSpPr/>
          <p:nvPr/>
        </p:nvSpPr>
        <p:spPr>
          <a:xfrm>
            <a:off x="4297680" y="132588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sai số trung vị 0,7%, ngưỡng 3%</a:t>
            </a:r>
            <a:endParaRPr lang="en-US" sz="1250" dirty="0"/>
          </a:p>
        </p:txBody>
      </p:sp>
      <p:sp>
        <p:nvSpPr>
          <p:cNvPr id="9" name="Shape 7"/>
          <p:cNvSpPr/>
          <p:nvPr/>
        </p:nvSpPr>
        <p:spPr>
          <a:xfrm>
            <a:off x="502920" y="1874520"/>
            <a:ext cx="8129016" cy="0"/>
          </a:xfrm>
          <a:prstGeom prst="line">
            <a:avLst/>
          </a:prstGeom>
          <a:noFill/>
          <a:ln w="12700">
            <a:solidFill>
              <a:srgbClr val="9A94AE"/>
            </a:solidFill>
            <a:prstDash val="solid"/>
          </a:ln>
        </p:spPr>
      </p:sp>
      <p:sp>
        <p:nvSpPr>
          <p:cNvPr id="10" name="Text 8"/>
          <p:cNvSpPr/>
          <p:nvPr/>
        </p:nvSpPr>
        <p:spPr>
          <a:xfrm>
            <a:off x="502920" y="187452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Luật trúng chọn từ sàn</a:t>
            </a:r>
            <a:endParaRPr lang="en-US" sz="1250" dirty="0"/>
          </a:p>
        </p:txBody>
      </p:sp>
      <p:sp>
        <p:nvSpPr>
          <p:cNvPr id="11" name="Text 9"/>
          <p:cNvSpPr/>
          <p:nvPr/>
        </p:nvSpPr>
        <p:spPr>
          <a:xfrm>
            <a:off x="4297680" y="187452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84,3%  →  2,8%</a:t>
            </a:r>
            <a:endParaRPr lang="en-US" sz="1250" dirty="0"/>
          </a:p>
        </p:txBody>
      </p:sp>
      <p:sp>
        <p:nvSpPr>
          <p:cNvPr id="12" name="Shape 10"/>
          <p:cNvSpPr/>
          <p:nvPr/>
        </p:nvSpPr>
        <p:spPr>
          <a:xfrm>
            <a:off x="502920" y="2423160"/>
            <a:ext cx="8129016" cy="0"/>
          </a:xfrm>
          <a:prstGeom prst="line">
            <a:avLst/>
          </a:prstGeom>
          <a:noFill/>
          <a:ln w="12700">
            <a:solidFill>
              <a:srgbClr val="9A94AE"/>
            </a:solidFill>
            <a:prstDash val="solid"/>
          </a:ln>
        </p:spPr>
      </p:sp>
      <p:sp>
        <p:nvSpPr>
          <p:cNvPr id="13" name="Text 11"/>
          <p:cNvSpPr/>
          <p:nvPr/>
        </p:nvSpPr>
        <p:spPr>
          <a:xfrm>
            <a:off x="502920" y="242316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Trần và sàn của thước</a:t>
            </a:r>
            <a:endParaRPr lang="en-US" sz="1250" dirty="0"/>
          </a:p>
        </p:txBody>
      </p:sp>
      <p:sp>
        <p:nvSpPr>
          <p:cNvPr id="14" name="Text 12"/>
          <p:cNvSpPr/>
          <p:nvPr/>
        </p:nvSpPr>
        <p:spPr>
          <a:xfrm>
            <a:off x="4297680" y="242316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75,7  /  12,0  /  6,1</a:t>
            </a:r>
            <a:endParaRPr lang="en-US" sz="1250" dirty="0"/>
          </a:p>
        </p:txBody>
      </p:sp>
      <p:sp>
        <p:nvSpPr>
          <p:cNvPr id="15" name="Shape 13"/>
          <p:cNvSpPr/>
          <p:nvPr/>
        </p:nvSpPr>
        <p:spPr>
          <a:xfrm>
            <a:off x="502920" y="2971800"/>
            <a:ext cx="8129016" cy="0"/>
          </a:xfrm>
          <a:prstGeom prst="line">
            <a:avLst/>
          </a:prstGeom>
          <a:noFill/>
          <a:ln w="12700">
            <a:solidFill>
              <a:srgbClr val="9A94AE"/>
            </a:solidFill>
            <a:prstDash val="solid"/>
          </a:ln>
        </p:spPr>
      </p:sp>
      <p:sp>
        <p:nvSpPr>
          <p:cNvPr id="16" name="Text 14"/>
          <p:cNvSpPr/>
          <p:nvPr/>
        </p:nvSpPr>
        <p:spPr>
          <a:xfrm>
            <a:off x="502920" y="297180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Mười phép bơm lỗi, ngưỡng đặt sẵn</a:t>
            </a:r>
            <a:endParaRPr lang="en-US" sz="1250" dirty="0"/>
          </a:p>
        </p:txBody>
      </p:sp>
      <p:sp>
        <p:nvSpPr>
          <p:cNvPr id="17" name="Text 15"/>
          <p:cNvSpPr/>
          <p:nvPr/>
        </p:nvSpPr>
        <p:spPr>
          <a:xfrm>
            <a:off x="4297680" y="297180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đạt</a:t>
            </a:r>
            <a:endParaRPr lang="en-US" sz="1250" dirty="0"/>
          </a:p>
        </p:txBody>
      </p:sp>
      <p:sp>
        <p:nvSpPr>
          <p:cNvPr id="18" name="Shape 16"/>
          <p:cNvSpPr/>
          <p:nvPr/>
        </p:nvSpPr>
        <p:spPr>
          <a:xfrm>
            <a:off x="502920" y="3520440"/>
            <a:ext cx="8129016" cy="0"/>
          </a:xfrm>
          <a:prstGeom prst="line">
            <a:avLst/>
          </a:prstGeom>
          <a:noFill/>
          <a:ln w="12700">
            <a:solidFill>
              <a:srgbClr val="9A94AE"/>
            </a:solidFill>
            <a:prstDash val="solid"/>
          </a:ln>
        </p:spPr>
      </p:sp>
      <p:sp>
        <p:nvSpPr>
          <p:cNvPr id="19" name="Text 17"/>
          <p:cNvSpPr/>
          <p:nvPr/>
        </p:nvSpPr>
        <p:spPr>
          <a:xfrm>
            <a:off x="502920" y="352044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Viết lại 1.139 câu, bảo toàn nghĩa</a:t>
            </a:r>
            <a:endParaRPr lang="en-US" sz="1250" dirty="0"/>
          </a:p>
        </p:txBody>
      </p:sp>
      <p:sp>
        <p:nvSpPr>
          <p:cNvPr id="20" name="Text 18"/>
          <p:cNvSpPr/>
          <p:nvPr/>
        </p:nvSpPr>
        <p:spPr>
          <a:xfrm>
            <a:off x="4297680" y="352044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+0,35 điểm  [−0,59 ; +1,29]</a:t>
            </a:r>
            <a:endParaRPr lang="en-US" sz="1250" dirty="0"/>
          </a:p>
        </p:txBody>
      </p:sp>
      <p:sp>
        <p:nvSpPr>
          <p:cNvPr id="21" name="Shape 19"/>
          <p:cNvSpPr/>
          <p:nvPr/>
        </p:nvSpPr>
        <p:spPr>
          <a:xfrm>
            <a:off x="502920" y="4069080"/>
            <a:ext cx="8129016" cy="0"/>
          </a:xfrm>
          <a:prstGeom prst="line">
            <a:avLst/>
          </a:prstGeom>
          <a:noFill/>
          <a:ln w="12700">
            <a:solidFill>
              <a:srgbClr val="9A94AE"/>
            </a:solidFill>
            <a:prstDash val="solid"/>
          </a:ln>
        </p:spPr>
      </p:sp>
      <p:sp>
        <p:nvSpPr>
          <p:cNvPr id="22" name="Text 20"/>
          <p:cNvSpPr/>
          <p:nvPr/>
        </p:nvSpPr>
        <p:spPr>
          <a:xfrm>
            <a:off x="502920" y="4069080"/>
            <a:ext cx="3794760" cy="54864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Đổi sang một mô hình định vị thứ hai</a:t>
            </a:r>
            <a:endParaRPr lang="en-US" sz="1250" dirty="0"/>
          </a:p>
        </p:txBody>
      </p:sp>
      <p:sp>
        <p:nvSpPr>
          <p:cNvPr id="23" name="Text 21"/>
          <p:cNvSpPr/>
          <p:nvPr/>
        </p:nvSpPr>
        <p:spPr>
          <a:xfrm>
            <a:off x="4297680" y="4069080"/>
            <a:ext cx="4334256" cy="548640"/>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giữ 94% độ lớn phép so S1 với Base</a:t>
            </a:r>
            <a:endParaRPr lang="en-US" sz="1250" dirty="0"/>
          </a:p>
        </p:txBody>
      </p:sp>
      <p:sp>
        <p:nvSpPr>
          <p:cNvPr id="24" name="Shape 22"/>
          <p:cNvSpPr/>
          <p:nvPr/>
        </p:nvSpPr>
        <p:spPr>
          <a:xfrm>
            <a:off x="502920" y="4709160"/>
            <a:ext cx="8138160" cy="960120"/>
          </a:xfrm>
          <a:prstGeom prst="roundRect">
            <a:avLst>
              <a:gd name="adj" fmla="val 5714"/>
            </a:avLst>
          </a:prstGeom>
          <a:solidFill>
            <a:srgbClr val="E9E8EC"/>
          </a:solidFill>
          <a:ln/>
          <a:effectLst>
            <a:outerShdw sx="100000" sy="100000" kx="0" ky="0" algn="bl" rotWithShape="0" blurRad="63500" dist="31750" dir="2700000">
              <a:srgbClr val="8C8C99">
                <a:alpha val="45000"/>
              </a:srgbClr>
            </a:outerShdw>
          </a:effectLst>
        </p:spPr>
      </p:sp>
      <p:sp>
        <p:nvSpPr>
          <p:cNvPr id="25" name="Text 23"/>
          <p:cNvSpPr/>
          <p:nvPr/>
        </p:nvSpPr>
        <p:spPr>
          <a:xfrm>
            <a:off x="731520" y="4709160"/>
            <a:ext cx="7680960" cy="960120"/>
          </a:xfrm>
          <a:prstGeom prst="rect">
            <a:avLst/>
          </a:prstGeom>
          <a:noFill/>
          <a:ln/>
        </p:spPr>
        <p:txBody>
          <a:bodyPr wrap="square" lIns="0" tIns="0" rIns="0" bIns="0" rtlCol="0" anchor="ctr"/>
          <a:lstStyle/>
          <a:p>
            <a:pPr algn="l" indent="0" marL="0">
              <a:lnSpc>
                <a:spcPct val="135000"/>
              </a:lnSpc>
              <a:buNone/>
            </a:pPr>
            <a:r>
              <a:rPr lang="en-US" sz="1300" b="1" dirty="0">
                <a:solidFill>
                  <a:srgbClr val="322164"/>
                </a:solidFill>
                <a:latin typeface="Cambria" pitchFamily="34" charset="0"/>
                <a:ea typeface="Cambria" pitchFamily="34" charset="-122"/>
                <a:cs typeface="Cambria" pitchFamily="34" charset="-120"/>
              </a:rPr>
              <a:t>Hai phép thử độ bền nữa.</a:t>
            </a:r>
            <a:pPr algn="l" indent="0" marL="0">
              <a:lnSpc>
                <a:spcPct val="135000"/>
              </a:lnSpc>
              <a:buNone/>
            </a:pPr>
            <a:r>
              <a:rPr lang="en-US" sz="1300" dirty="0">
                <a:solidFill>
                  <a:srgbClr val="1A1A1A"/>
                </a:solidFill>
                <a:latin typeface="Cambria" pitchFamily="34" charset="0"/>
                <a:ea typeface="Cambria" pitchFamily="34" charset="-122"/>
                <a:cs typeface="Cambria" pitchFamily="34" charset="-120"/>
              </a:rPr>
              <a:t> Năm luật chấm khác nhau không đổi thứ tự các hệ thống. Thước tất định: 1.625 phép so, không một bất đồng.</a:t>
            </a:r>
            <a:endParaRPr lang="en-US" sz="1300" dirty="0"/>
          </a:p>
        </p:txBody>
      </p:sp>
      <p:sp>
        <p:nvSpPr>
          <p:cNvPr id="27" name="Shape 24"/>
          <p:cNvSpPr/>
          <p:nvPr/>
        </p:nvSpPr>
        <p:spPr>
          <a:xfrm>
            <a:off x="0" y="6620256"/>
            <a:ext cx="2743200" cy="237744"/>
          </a:xfrm>
          <a:prstGeom prst="rect">
            <a:avLst/>
          </a:prstGeom>
          <a:solidFill>
            <a:srgbClr val="191132"/>
          </a:solidFill>
          <a:ln/>
        </p:spPr>
      </p:sp>
      <p:sp>
        <p:nvSpPr>
          <p:cNvPr id="28" name="Shape 25"/>
          <p:cNvSpPr/>
          <p:nvPr/>
        </p:nvSpPr>
        <p:spPr>
          <a:xfrm>
            <a:off x="2743200" y="6620256"/>
            <a:ext cx="3383280" cy="237744"/>
          </a:xfrm>
          <a:prstGeom prst="rect">
            <a:avLst/>
          </a:prstGeom>
          <a:solidFill>
            <a:srgbClr val="25194B"/>
          </a:solidFill>
          <a:ln/>
        </p:spPr>
      </p:sp>
      <p:sp>
        <p:nvSpPr>
          <p:cNvPr id="29" name="Shape 26"/>
          <p:cNvSpPr/>
          <p:nvPr/>
        </p:nvSpPr>
        <p:spPr>
          <a:xfrm>
            <a:off x="6126480" y="6620256"/>
            <a:ext cx="1737360" cy="237744"/>
          </a:xfrm>
          <a:prstGeom prst="rect">
            <a:avLst/>
          </a:prstGeom>
          <a:solidFill>
            <a:srgbClr val="4F417A"/>
          </a:solidFill>
          <a:ln/>
        </p:spPr>
      </p:sp>
      <p:sp>
        <p:nvSpPr>
          <p:cNvPr id="30" name="Shape 27"/>
          <p:cNvSpPr/>
          <p:nvPr/>
        </p:nvSpPr>
        <p:spPr>
          <a:xfrm>
            <a:off x="7863840" y="6620256"/>
            <a:ext cx="1280160" cy="237744"/>
          </a:xfrm>
          <a:prstGeom prst="rect">
            <a:avLst/>
          </a:prstGeom>
          <a:solidFill>
            <a:srgbClr val="7A7099"/>
          </a:solidFill>
          <a:ln/>
        </p:spPr>
      </p:sp>
      <p:sp>
        <p:nvSpPr>
          <p:cNvPr id="31" name="Text 2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2" name="Text 2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14/26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4 · Thiết kế so sánh và mức chênh nhỏ nhất phát hiện được</a:t>
            </a:r>
            <a:endParaRPr lang="en-US" sz="1900" dirty="0"/>
          </a:p>
        </p:txBody>
      </p:sp>
      <p:sp>
        <p:nvSpPr>
          <p:cNvPr id="4" name="Text 2"/>
          <p:cNvSpPr/>
          <p:nvPr/>
        </p:nvSpPr>
        <p:spPr>
          <a:xfrm>
            <a:off x="502920" y="841248"/>
            <a:ext cx="8138160" cy="640080"/>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Mọi nhánh chấm trên cùng 4.463 bước, nên chênh lệch giữa hai nhánh là hiệu ghép cặp. Hiệu đó đọc theo khoảng tin cậy và theo mức chênh nhỏ nhất phát hiện được (MDE), đo từ nhánh nền.</a:t>
            </a:r>
            <a:endParaRPr lang="en-US" sz="1300" dirty="0"/>
          </a:p>
        </p:txBody>
      </p:sp>
      <p:sp>
        <p:nvSpPr>
          <p:cNvPr id="5" name="Shape 3"/>
          <p:cNvSpPr/>
          <p:nvPr/>
        </p:nvSpPr>
        <p:spPr>
          <a:xfrm>
            <a:off x="502920" y="1600200"/>
            <a:ext cx="4389120" cy="365760"/>
          </a:xfrm>
          <a:prstGeom prst="rect">
            <a:avLst/>
          </a:prstGeom>
          <a:solidFill>
            <a:srgbClr val="322164"/>
          </a:solidFill>
          <a:ln/>
        </p:spPr>
      </p:sp>
      <p:sp>
        <p:nvSpPr>
          <p:cNvPr id="6" name="Text 4"/>
          <p:cNvSpPr/>
          <p:nvPr/>
        </p:nvSpPr>
        <p:spPr>
          <a:xfrm>
            <a:off x="502920" y="1600200"/>
            <a:ext cx="2011680" cy="36576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Kết cục</a:t>
            </a:r>
            <a:endParaRPr lang="en-US" sz="1200" dirty="0"/>
          </a:p>
        </p:txBody>
      </p:sp>
      <p:sp>
        <p:nvSpPr>
          <p:cNvPr id="7" name="Text 5"/>
          <p:cNvSpPr/>
          <p:nvPr/>
        </p:nvSpPr>
        <p:spPr>
          <a:xfrm>
            <a:off x="2514600" y="1600200"/>
            <a:ext cx="2377440" cy="36576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Cách đọc</a:t>
            </a:r>
            <a:endParaRPr lang="en-US" sz="1200" dirty="0"/>
          </a:p>
        </p:txBody>
      </p:sp>
      <p:sp>
        <p:nvSpPr>
          <p:cNvPr id="8" name="Text 6"/>
          <p:cNvSpPr/>
          <p:nvPr/>
        </p:nvSpPr>
        <p:spPr>
          <a:xfrm>
            <a:off x="502920" y="1965960"/>
            <a:ext cx="2011680" cy="457200"/>
          </a:xfrm>
          <a:prstGeom prst="rect">
            <a:avLst/>
          </a:prstGeom>
          <a:noFill/>
          <a:ln/>
        </p:spPr>
        <p:txBody>
          <a:bodyPr wrap="square" lIns="38100" tIns="38100" rIns="38100" bIns="38100" rtlCol="0" anchor="ctr"/>
          <a:lstStyle/>
          <a:p>
            <a:pPr algn="l" indent="0" marL="0">
              <a:buNone/>
            </a:pPr>
            <a:r>
              <a:rPr lang="en-US" sz="1200" b="1" dirty="0">
                <a:solidFill>
                  <a:srgbClr val="006666"/>
                </a:solidFill>
                <a:latin typeface="Cambria" pitchFamily="34" charset="0"/>
                <a:ea typeface="Cambria" pitchFamily="34" charset="-122"/>
                <a:cs typeface="Cambria" pitchFamily="34" charset="-120"/>
              </a:rPr>
              <a:t>Δ vượt MDE, KTC loại 0</a:t>
            </a:r>
            <a:endParaRPr lang="en-US" sz="1200" dirty="0"/>
          </a:p>
        </p:txBody>
      </p:sp>
      <p:sp>
        <p:nvSpPr>
          <p:cNvPr id="9" name="Text 7"/>
          <p:cNvSpPr/>
          <p:nvPr/>
        </p:nvSpPr>
        <p:spPr>
          <a:xfrm>
            <a:off x="2514600" y="1965960"/>
            <a:ext cx="2377440" cy="45720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thành phần có tác dụng</a:t>
            </a:r>
            <a:endParaRPr lang="en-US" sz="1200" dirty="0"/>
          </a:p>
        </p:txBody>
      </p:sp>
      <p:sp>
        <p:nvSpPr>
          <p:cNvPr id="10" name="Shape 8"/>
          <p:cNvSpPr/>
          <p:nvPr/>
        </p:nvSpPr>
        <p:spPr>
          <a:xfrm>
            <a:off x="502920" y="2423160"/>
            <a:ext cx="4389120" cy="0"/>
          </a:xfrm>
          <a:prstGeom prst="line">
            <a:avLst/>
          </a:prstGeom>
          <a:noFill/>
          <a:ln w="12700">
            <a:solidFill>
              <a:srgbClr val="9A94AE"/>
            </a:solidFill>
            <a:prstDash val="solid"/>
          </a:ln>
        </p:spPr>
      </p:sp>
      <p:sp>
        <p:nvSpPr>
          <p:cNvPr id="11" name="Text 9"/>
          <p:cNvSpPr/>
          <p:nvPr/>
        </p:nvSpPr>
        <p:spPr>
          <a:xfrm>
            <a:off x="502920" y="2423160"/>
            <a:ext cx="2011680" cy="457200"/>
          </a:xfrm>
          <a:prstGeom prst="rect">
            <a:avLst/>
          </a:prstGeom>
          <a:noFill/>
          <a:ln/>
        </p:spPr>
        <p:txBody>
          <a:bodyPr wrap="square" lIns="38100" tIns="38100" rIns="38100" bIns="38100" rtlCol="0" anchor="ctr"/>
          <a:lstStyle/>
          <a:p>
            <a:pPr algn="l" indent="0" marL="0">
              <a:buNone/>
            </a:pPr>
            <a:r>
              <a:rPr lang="en-US" sz="1200" dirty="0">
                <a:solidFill>
                  <a:srgbClr val="006666"/>
                </a:solidFill>
                <a:latin typeface="Cambria" pitchFamily="34" charset="0"/>
                <a:ea typeface="Cambria" pitchFamily="34" charset="-122"/>
                <a:cs typeface="Cambria" pitchFamily="34" charset="-120"/>
              </a:rPr>
              <a:t>KTC chạm 0</a:t>
            </a:r>
            <a:endParaRPr lang="en-US" sz="1200" dirty="0"/>
          </a:p>
        </p:txBody>
      </p:sp>
      <p:sp>
        <p:nvSpPr>
          <p:cNvPr id="12" name="Text 10"/>
          <p:cNvSpPr/>
          <p:nvPr/>
        </p:nvSpPr>
        <p:spPr>
          <a:xfrm>
            <a:off x="2514600" y="2423160"/>
            <a:ext cx="2377440" cy="45720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xu hướng, chưa gọi là cải thiện</a:t>
            </a:r>
            <a:endParaRPr lang="en-US" sz="1200" dirty="0"/>
          </a:p>
        </p:txBody>
      </p:sp>
      <p:sp>
        <p:nvSpPr>
          <p:cNvPr id="13" name="Shape 11"/>
          <p:cNvSpPr/>
          <p:nvPr/>
        </p:nvSpPr>
        <p:spPr>
          <a:xfrm>
            <a:off x="502920" y="2880360"/>
            <a:ext cx="4389120" cy="0"/>
          </a:xfrm>
          <a:prstGeom prst="line">
            <a:avLst/>
          </a:prstGeom>
          <a:noFill/>
          <a:ln w="12700">
            <a:solidFill>
              <a:srgbClr val="9A94AE"/>
            </a:solidFill>
            <a:prstDash val="solid"/>
          </a:ln>
        </p:spPr>
      </p:sp>
      <p:sp>
        <p:nvSpPr>
          <p:cNvPr id="14" name="Text 12"/>
          <p:cNvSpPr/>
          <p:nvPr/>
        </p:nvSpPr>
        <p:spPr>
          <a:xfrm>
            <a:off x="502920" y="2880360"/>
            <a:ext cx="2011680" cy="457200"/>
          </a:xfrm>
          <a:prstGeom prst="rect">
            <a:avLst/>
          </a:prstGeom>
          <a:noFill/>
          <a:ln/>
        </p:spPr>
        <p:txBody>
          <a:bodyPr wrap="square" lIns="38100" tIns="38100" rIns="38100" bIns="38100" rtlCol="0" anchor="ctr"/>
          <a:lstStyle/>
          <a:p>
            <a:pPr algn="l" indent="0" marL="0">
              <a:buNone/>
            </a:pPr>
            <a:r>
              <a:rPr lang="en-US" sz="1200" b="1" dirty="0">
                <a:solidFill>
                  <a:srgbClr val="990000"/>
                </a:solidFill>
                <a:latin typeface="Cambria" pitchFamily="34" charset="0"/>
                <a:ea typeface="Cambria" pitchFamily="34" charset="-122"/>
                <a:cs typeface="Cambria" pitchFamily="34" charset="-120"/>
              </a:rPr>
              <a:t>|Δ| dưới MDE</a:t>
            </a:r>
            <a:endParaRPr lang="en-US" sz="1200" dirty="0"/>
          </a:p>
        </p:txBody>
      </p:sp>
      <p:sp>
        <p:nvSpPr>
          <p:cNvPr id="15" name="Text 13"/>
          <p:cNvSpPr/>
          <p:nvPr/>
        </p:nvSpPr>
        <p:spPr>
          <a:xfrm>
            <a:off x="2514600" y="2880360"/>
            <a:ext cx="2377440" cy="45720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không kết luận được</a:t>
            </a:r>
            <a:endParaRPr lang="en-US" sz="1200" dirty="0"/>
          </a:p>
        </p:txBody>
      </p:sp>
      <p:sp>
        <p:nvSpPr>
          <p:cNvPr id="16" name="Shape 14"/>
          <p:cNvSpPr/>
          <p:nvPr/>
        </p:nvSpPr>
        <p:spPr>
          <a:xfrm>
            <a:off x="502920" y="3337560"/>
            <a:ext cx="4389120" cy="0"/>
          </a:xfrm>
          <a:prstGeom prst="line">
            <a:avLst/>
          </a:prstGeom>
          <a:noFill/>
          <a:ln w="12700">
            <a:solidFill>
              <a:srgbClr val="9A94AE"/>
            </a:solidFill>
            <a:prstDash val="solid"/>
          </a:ln>
        </p:spPr>
      </p:sp>
      <p:sp>
        <p:nvSpPr>
          <p:cNvPr id="17" name="Text 15"/>
          <p:cNvSpPr/>
          <p:nvPr/>
        </p:nvSpPr>
        <p:spPr>
          <a:xfrm>
            <a:off x="502920" y="3337560"/>
            <a:ext cx="2011680" cy="457200"/>
          </a:xfrm>
          <a:prstGeom prst="rect">
            <a:avLst/>
          </a:prstGeom>
          <a:noFill/>
          <a:ln/>
        </p:spPr>
        <p:txBody>
          <a:bodyPr wrap="square" lIns="38100" tIns="38100" rIns="38100" bIns="38100" rtlCol="0" anchor="ctr"/>
          <a:lstStyle/>
          <a:p>
            <a:pPr algn="l" indent="0" marL="0">
              <a:buNone/>
            </a:pPr>
            <a:r>
              <a:rPr lang="en-US" sz="1200" b="1" dirty="0">
                <a:solidFill>
                  <a:srgbClr val="B22222"/>
                </a:solidFill>
                <a:latin typeface="Cambria" pitchFamily="34" charset="0"/>
                <a:ea typeface="Cambria" pitchFamily="34" charset="-122"/>
                <a:cs typeface="Cambria" pitchFamily="34" charset="-120"/>
              </a:rPr>
              <a:t>Cận trên KTC &lt; 0</a:t>
            </a:r>
            <a:endParaRPr lang="en-US" sz="1200" dirty="0"/>
          </a:p>
        </p:txBody>
      </p:sp>
      <p:sp>
        <p:nvSpPr>
          <p:cNvPr id="18" name="Text 16"/>
          <p:cNvSpPr/>
          <p:nvPr/>
        </p:nvSpPr>
        <p:spPr>
          <a:xfrm>
            <a:off x="2514600" y="3337560"/>
            <a:ext cx="2377440" cy="45720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thành phần gây hại</a:t>
            </a:r>
            <a:endParaRPr lang="en-US" sz="1200" dirty="0"/>
          </a:p>
        </p:txBody>
      </p:sp>
      <p:sp>
        <p:nvSpPr>
          <p:cNvPr id="19" name="Text 17"/>
          <p:cNvSpPr/>
          <p:nvPr/>
        </p:nvSpPr>
        <p:spPr>
          <a:xfrm>
            <a:off x="4663440" y="1645920"/>
            <a:ext cx="201168" cy="914400"/>
          </a:xfrm>
          <a:prstGeom prst="rect">
            <a:avLst/>
          </a:prstGeom>
          <a:noFill/>
          <a:ln/>
        </p:spPr>
        <p:txBody>
          <a:bodyPr wrap="square" lIns="0" tIns="0" rIns="0" bIns="0" rtlCol="0" anchor="t"/>
          <a:lstStyle/>
          <a:p>
            <a:pPr algn="l" indent="0" marL="0">
              <a:buNone/>
            </a:pPr>
            <a:r>
              <a:rPr lang="en-US" sz="1200" b="1" dirty="0">
                <a:solidFill>
                  <a:srgbClr val="006666"/>
                </a:solidFill>
                <a:latin typeface="Cambria" pitchFamily="34" charset="0"/>
                <a:ea typeface="Cambria" pitchFamily="34" charset="-122"/>
                <a:cs typeface="Cambria" pitchFamily="34" charset="-120"/>
              </a:rPr>
              <a:t>•</a:t>
            </a:r>
            <a:endParaRPr lang="en-US" sz="1200" dirty="0"/>
          </a:p>
        </p:txBody>
      </p:sp>
      <p:sp>
        <p:nvSpPr>
          <p:cNvPr id="20" name="Text 18"/>
          <p:cNvSpPr/>
          <p:nvPr/>
        </p:nvSpPr>
        <p:spPr>
          <a:xfrm>
            <a:off x="4892040" y="1645920"/>
            <a:ext cx="3749040" cy="8686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Hai hạt giống của nhánh nền cho nhiễu dựng lại: 0,52 điểm</a:t>
            </a:r>
            <a:endParaRPr lang="en-US" sz="1200" dirty="0"/>
          </a:p>
        </p:txBody>
      </p:sp>
      <p:sp>
        <p:nvSpPr>
          <p:cNvPr id="21" name="Text 19"/>
          <p:cNvSpPr/>
          <p:nvPr/>
        </p:nvSpPr>
        <p:spPr>
          <a:xfrm>
            <a:off x="4663440" y="2560320"/>
            <a:ext cx="201168" cy="914400"/>
          </a:xfrm>
          <a:prstGeom prst="rect">
            <a:avLst/>
          </a:prstGeom>
          <a:noFill/>
          <a:ln/>
        </p:spPr>
        <p:txBody>
          <a:bodyPr wrap="square" lIns="0" tIns="0" rIns="0" bIns="0" rtlCol="0" anchor="t"/>
          <a:lstStyle/>
          <a:p>
            <a:pPr algn="l" indent="0" marL="0">
              <a:buNone/>
            </a:pPr>
            <a:r>
              <a:rPr lang="en-US" sz="1200" b="1" dirty="0">
                <a:solidFill>
                  <a:srgbClr val="006666"/>
                </a:solidFill>
                <a:latin typeface="Cambria" pitchFamily="34" charset="0"/>
                <a:ea typeface="Cambria" pitchFamily="34" charset="-122"/>
                <a:cs typeface="Cambria" pitchFamily="34" charset="-120"/>
              </a:rPr>
              <a:t>•</a:t>
            </a:r>
            <a:endParaRPr lang="en-US" sz="1200" dirty="0"/>
          </a:p>
        </p:txBody>
      </p:sp>
      <p:sp>
        <p:nvSpPr>
          <p:cNvPr id="22" name="Text 20"/>
          <p:cNvSpPr/>
          <p:nvPr/>
        </p:nvSpPr>
        <p:spPr>
          <a:xfrm>
            <a:off x="4892040" y="2560320"/>
            <a:ext cx="3749040" cy="8686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Sai số chuẩn ghép cặp đo được 0,79 điểm, nên MDE là 2,2 điểm; công thức chiếu thông dụng cho 4 đến 9 điểm vì giả định tương quan trong cụm bằng một</a:t>
            </a:r>
            <a:endParaRPr lang="en-US" sz="1200" dirty="0"/>
          </a:p>
        </p:txBody>
      </p:sp>
      <p:sp>
        <p:nvSpPr>
          <p:cNvPr id="23" name="Text 21"/>
          <p:cNvSpPr/>
          <p:nvPr/>
        </p:nvSpPr>
        <p:spPr>
          <a:xfrm>
            <a:off x="4663440" y="3474720"/>
            <a:ext cx="201168" cy="914400"/>
          </a:xfrm>
          <a:prstGeom prst="rect">
            <a:avLst/>
          </a:prstGeom>
          <a:noFill/>
          <a:ln/>
        </p:spPr>
        <p:txBody>
          <a:bodyPr wrap="square" lIns="0" tIns="0" rIns="0" bIns="0" rtlCol="0" anchor="t"/>
          <a:lstStyle/>
          <a:p>
            <a:pPr algn="l" indent="0" marL="0">
              <a:buNone/>
            </a:pPr>
            <a:r>
              <a:rPr lang="en-US" sz="1200" b="1" dirty="0">
                <a:solidFill>
                  <a:srgbClr val="006666"/>
                </a:solidFill>
                <a:latin typeface="Cambria" pitchFamily="34" charset="0"/>
                <a:ea typeface="Cambria" pitchFamily="34" charset="-122"/>
                <a:cs typeface="Cambria" pitchFamily="34" charset="-120"/>
              </a:rPr>
              <a:t>•</a:t>
            </a:r>
            <a:endParaRPr lang="en-US" sz="1200" dirty="0"/>
          </a:p>
        </p:txBody>
      </p:sp>
      <p:sp>
        <p:nvSpPr>
          <p:cNvPr id="24" name="Text 22"/>
          <p:cNvSpPr/>
          <p:nvPr/>
        </p:nvSpPr>
        <p:spPr>
          <a:xfrm>
            <a:off x="4892040" y="3474720"/>
            <a:ext cx="3749040" cy="868680"/>
          </a:xfrm>
          <a:prstGeom prst="rect">
            <a:avLst/>
          </a:prstGeom>
          <a:noFill/>
          <a:ln/>
        </p:spPr>
        <p:txBody>
          <a:bodyPr wrap="square" lIns="0" tIns="0" rIns="0" bIns="0" rtlCol="0" anchor="t"/>
          <a:lstStyle/>
          <a:p>
            <a:pPr algn="l" indent="0" marL="0">
              <a:lnSpc>
                <a:spcPct val="130000"/>
              </a:lnSpc>
              <a:buNone/>
            </a:pPr>
            <a:r>
              <a:rPr lang="en-US" sz="1200" dirty="0">
                <a:solidFill>
                  <a:srgbClr val="1A1A1A"/>
                </a:solidFill>
                <a:latin typeface="Cambria" pitchFamily="34" charset="0"/>
                <a:ea typeface="Cambria" pitchFamily="34" charset="-122"/>
                <a:cs typeface="Cambria" pitchFamily="34" charset="-120"/>
              </a:rPr>
              <a:t>Thiết kế một hạt giống có MDE 2,11 điểm</a:t>
            </a:r>
            <a:endParaRPr lang="en-US" sz="1200" dirty="0"/>
          </a:p>
        </p:txBody>
      </p:sp>
      <p:sp>
        <p:nvSpPr>
          <p:cNvPr id="25" name="Shape 23"/>
          <p:cNvSpPr/>
          <p:nvPr/>
        </p:nvSpPr>
        <p:spPr>
          <a:xfrm>
            <a:off x="502920" y="4480560"/>
            <a:ext cx="8138160" cy="1188720"/>
          </a:xfrm>
          <a:prstGeom prst="roundRect">
            <a:avLst>
              <a:gd name="adj" fmla="val 4615"/>
            </a:avLst>
          </a:prstGeom>
          <a:solidFill>
            <a:srgbClr val="E9E8EC"/>
          </a:solidFill>
          <a:ln/>
          <a:effectLst>
            <a:outerShdw sx="100000" sy="100000" kx="0" ky="0" algn="bl" rotWithShape="0" blurRad="63500" dist="31750" dir="2700000">
              <a:srgbClr val="8C8C99">
                <a:alpha val="45000"/>
              </a:srgbClr>
            </a:outerShdw>
          </a:effectLst>
        </p:spPr>
      </p:sp>
      <p:sp>
        <p:nvSpPr>
          <p:cNvPr id="26" name="Text 24"/>
          <p:cNvSpPr/>
          <p:nvPr/>
        </p:nvSpPr>
        <p:spPr>
          <a:xfrm>
            <a:off x="731520" y="4480560"/>
            <a:ext cx="7680960" cy="1188720"/>
          </a:xfrm>
          <a:prstGeom prst="rect">
            <a:avLst/>
          </a:prstGeom>
          <a:noFill/>
          <a:ln/>
        </p:spPr>
        <p:txBody>
          <a:bodyPr wrap="square" lIns="0" tIns="0" rIns="0" bIns="0" rtlCol="0" anchor="ctr"/>
          <a:lstStyle/>
          <a:p>
            <a:pPr algn="l" indent="0" marL="0">
              <a:lnSpc>
                <a:spcPct val="140000"/>
              </a:lnSpc>
              <a:buNone/>
            </a:pPr>
            <a:r>
              <a:rPr lang="en-US" sz="1400" b="1" dirty="0">
                <a:solidFill>
                  <a:srgbClr val="B22222"/>
                </a:solidFill>
                <a:latin typeface="Cambria" pitchFamily="34" charset="0"/>
                <a:ea typeface="Cambria" pitchFamily="34" charset="-122"/>
                <a:cs typeface="Cambria" pitchFamily="34" charset="-120"/>
              </a:rPr>
              <a:t>Mức chênh nhỏ nhất phát hiện được là 2,2 điểm.</a:t>
            </a:r>
            <a:pPr algn="l" indent="0" marL="0">
              <a:lnSpc>
                <a:spcPct val="140000"/>
              </a:lnSpc>
              <a:buNone/>
            </a:pPr>
            <a:endParaRPr lang="en-US" sz="1400" dirty="0"/>
          </a:p>
          <a:p>
            <a:pPr algn="l" indent="0" marL="0">
              <a:lnSpc>
                <a:spcPct val="140000"/>
              </a:lnSpc>
              <a:buNone/>
            </a:pPr>
            <a:r>
              <a:rPr lang="en-US" sz="1400" dirty="0">
                <a:solidFill>
                  <a:srgbClr val="1A1A1A"/>
                </a:solidFill>
                <a:latin typeface="Cambria" pitchFamily="34" charset="0"/>
                <a:ea typeface="Cambria" pitchFamily="34" charset="-122"/>
                <a:cs typeface="Cambria" pitchFamily="34" charset="-120"/>
              </a:rPr>
              <a:t>Mọi kết quả ở phần sau đọc trên con số này.</a:t>
            </a:r>
            <a:endParaRPr lang="en-US" sz="1400" dirty="0"/>
          </a:p>
        </p:txBody>
      </p:sp>
      <p:sp>
        <p:nvSpPr>
          <p:cNvPr id="28" name="Shape 25"/>
          <p:cNvSpPr/>
          <p:nvPr/>
        </p:nvSpPr>
        <p:spPr>
          <a:xfrm>
            <a:off x="0" y="6620256"/>
            <a:ext cx="2743200" cy="237744"/>
          </a:xfrm>
          <a:prstGeom prst="rect">
            <a:avLst/>
          </a:prstGeom>
          <a:solidFill>
            <a:srgbClr val="191132"/>
          </a:solidFill>
          <a:ln/>
        </p:spPr>
      </p:sp>
      <p:sp>
        <p:nvSpPr>
          <p:cNvPr id="29" name="Shape 26"/>
          <p:cNvSpPr/>
          <p:nvPr/>
        </p:nvSpPr>
        <p:spPr>
          <a:xfrm>
            <a:off x="2743200" y="6620256"/>
            <a:ext cx="3383280" cy="237744"/>
          </a:xfrm>
          <a:prstGeom prst="rect">
            <a:avLst/>
          </a:prstGeom>
          <a:solidFill>
            <a:srgbClr val="25194B"/>
          </a:solidFill>
          <a:ln/>
        </p:spPr>
      </p:sp>
      <p:sp>
        <p:nvSpPr>
          <p:cNvPr id="30" name="Shape 27"/>
          <p:cNvSpPr/>
          <p:nvPr/>
        </p:nvSpPr>
        <p:spPr>
          <a:xfrm>
            <a:off x="6126480" y="6620256"/>
            <a:ext cx="1737360" cy="237744"/>
          </a:xfrm>
          <a:prstGeom prst="rect">
            <a:avLst/>
          </a:prstGeom>
          <a:solidFill>
            <a:srgbClr val="4F417A"/>
          </a:solidFill>
          <a:ln/>
        </p:spPr>
      </p:sp>
      <p:sp>
        <p:nvSpPr>
          <p:cNvPr id="31" name="Shape 28"/>
          <p:cNvSpPr/>
          <p:nvPr/>
        </p:nvSpPr>
        <p:spPr>
          <a:xfrm>
            <a:off x="7863840" y="6620256"/>
            <a:ext cx="1280160" cy="237744"/>
          </a:xfrm>
          <a:prstGeom prst="rect">
            <a:avLst/>
          </a:prstGeom>
          <a:solidFill>
            <a:srgbClr val="7A7099"/>
          </a:solidFill>
          <a:ln/>
        </p:spPr>
      </p:sp>
      <p:sp>
        <p:nvSpPr>
          <p:cNvPr id="32"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3"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4"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15/26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Kết quả chính trên 4.463 bước chạm</a:t>
            </a:r>
            <a:endParaRPr lang="en-US" sz="1900" dirty="0"/>
          </a:p>
        </p:txBody>
      </p:sp>
      <p:sp>
        <p:nvSpPr>
          <p:cNvPr id="4" name="Shape 2"/>
          <p:cNvSpPr/>
          <p:nvPr/>
        </p:nvSpPr>
        <p:spPr>
          <a:xfrm>
            <a:off x="502920" y="914400"/>
            <a:ext cx="8129016" cy="384048"/>
          </a:xfrm>
          <a:prstGeom prst="rect">
            <a:avLst/>
          </a:prstGeom>
          <a:solidFill>
            <a:srgbClr val="322164"/>
          </a:solidFill>
          <a:ln/>
        </p:spPr>
      </p:sp>
      <p:sp>
        <p:nvSpPr>
          <p:cNvPr id="5" name="Text 3"/>
          <p:cNvSpPr/>
          <p:nvPr/>
        </p:nvSpPr>
        <p:spPr>
          <a:xfrm>
            <a:off x="502920" y="914400"/>
            <a:ext cx="3566160" cy="384048"/>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Nhánh</a:t>
            </a:r>
            <a:endParaRPr lang="en-US" sz="1250" dirty="0"/>
          </a:p>
        </p:txBody>
      </p:sp>
      <p:sp>
        <p:nvSpPr>
          <p:cNvPr id="6" name="Text 4"/>
          <p:cNvSpPr/>
          <p:nvPr/>
        </p:nvSpPr>
        <p:spPr>
          <a:xfrm>
            <a:off x="4069080" y="914400"/>
            <a:ext cx="155448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Exec.</a:t>
            </a:r>
            <a:endParaRPr lang="en-US" sz="1250" dirty="0"/>
          </a:p>
        </p:txBody>
      </p:sp>
      <p:sp>
        <p:nvSpPr>
          <p:cNvPr id="7" name="Text 5"/>
          <p:cNvSpPr/>
          <p:nvPr/>
        </p:nvSpPr>
        <p:spPr>
          <a:xfrm>
            <a:off x="5623560" y="914400"/>
            <a:ext cx="201168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KTC 95%</a:t>
            </a:r>
            <a:endParaRPr lang="en-US" sz="1250" dirty="0"/>
          </a:p>
        </p:txBody>
      </p:sp>
      <p:sp>
        <p:nvSpPr>
          <p:cNvPr id="8" name="Text 6"/>
          <p:cNvSpPr/>
          <p:nvPr/>
        </p:nvSpPr>
        <p:spPr>
          <a:xfrm>
            <a:off x="7635240" y="914400"/>
            <a:ext cx="996696" cy="384048"/>
          </a:xfrm>
          <a:prstGeom prst="rect">
            <a:avLst/>
          </a:prstGeom>
          <a:noFill/>
          <a:ln/>
        </p:spPr>
        <p:txBody>
          <a:bodyPr wrap="square" lIns="38100" tIns="38100" rIns="38100" bIns="38100" rtlCol="0" anchor="ctr"/>
          <a:lstStyle/>
          <a:p>
            <a:pPr algn="ctr" indent="0" marL="0">
              <a:buNone/>
            </a:pPr>
            <a:endParaRPr lang="en-US" sz="1250" dirty="0"/>
          </a:p>
        </p:txBody>
      </p:sp>
      <p:sp>
        <p:nvSpPr>
          <p:cNvPr id="9" name="Text 7"/>
          <p:cNvSpPr/>
          <p:nvPr/>
        </p:nvSpPr>
        <p:spPr>
          <a:xfrm>
            <a:off x="502920" y="1298448"/>
            <a:ext cx="3566160" cy="420624"/>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Câu chuẩn  (trần)</a:t>
            </a:r>
            <a:endParaRPr lang="en-US" sz="1300" dirty="0"/>
          </a:p>
        </p:txBody>
      </p:sp>
      <p:sp>
        <p:nvSpPr>
          <p:cNvPr id="10" name="Text 8"/>
          <p:cNvSpPr/>
          <p:nvPr/>
        </p:nvSpPr>
        <p:spPr>
          <a:xfrm>
            <a:off x="4069080" y="1298448"/>
            <a:ext cx="1554480" cy="420624"/>
          </a:xfrm>
          <a:prstGeom prst="rect">
            <a:avLst/>
          </a:prstGeom>
          <a:noFill/>
          <a:ln/>
        </p:spPr>
        <p:txBody>
          <a:bodyPr wrap="square" lIns="38100" tIns="38100" rIns="38100" bIns="38100" rtlCol="0" anchor="ctr"/>
          <a:lstStyle/>
          <a:p>
            <a:pPr algn="ctr" indent="0" marL="0">
              <a:buNone/>
            </a:pPr>
            <a:r>
              <a:rPr lang="en-US" sz="1300" b="1" dirty="0">
                <a:solidFill>
                  <a:srgbClr val="006666"/>
                </a:solidFill>
                <a:latin typeface="Cambria" pitchFamily="34" charset="0"/>
                <a:ea typeface="Cambria" pitchFamily="34" charset="-122"/>
                <a:cs typeface="Cambria" pitchFamily="34" charset="-120"/>
              </a:rPr>
              <a:t>75,7</a:t>
            </a:r>
            <a:endParaRPr lang="en-US" sz="1300" dirty="0"/>
          </a:p>
        </p:txBody>
      </p:sp>
      <p:sp>
        <p:nvSpPr>
          <p:cNvPr id="11" name="Text 9"/>
          <p:cNvSpPr/>
          <p:nvPr/>
        </p:nvSpPr>
        <p:spPr>
          <a:xfrm>
            <a:off x="5623560" y="1298448"/>
            <a:ext cx="2011680" cy="420624"/>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[74,1 ; 77,3]</a:t>
            </a:r>
            <a:endParaRPr lang="en-US" sz="1300" dirty="0"/>
          </a:p>
        </p:txBody>
      </p:sp>
      <p:sp>
        <p:nvSpPr>
          <p:cNvPr id="12" name="Text 10"/>
          <p:cNvSpPr/>
          <p:nvPr/>
        </p:nvSpPr>
        <p:spPr>
          <a:xfrm>
            <a:off x="7635240" y="1298448"/>
            <a:ext cx="996696" cy="420624"/>
          </a:xfrm>
          <a:prstGeom prst="rect">
            <a:avLst/>
          </a:prstGeom>
          <a:noFill/>
          <a:ln/>
        </p:spPr>
        <p:txBody>
          <a:bodyPr wrap="square" lIns="38100" tIns="38100" rIns="38100" bIns="38100" rtlCol="0" anchor="ctr"/>
          <a:lstStyle/>
          <a:p>
            <a:pPr algn="ctr" indent="0" marL="0">
              <a:buNone/>
            </a:pPr>
            <a:endParaRPr lang="en-US" sz="1300" dirty="0"/>
          </a:p>
        </p:txBody>
      </p:sp>
      <p:sp>
        <p:nvSpPr>
          <p:cNvPr id="13" name="Shape 11"/>
          <p:cNvSpPr/>
          <p:nvPr/>
        </p:nvSpPr>
        <p:spPr>
          <a:xfrm>
            <a:off x="502920" y="1719072"/>
            <a:ext cx="8129016" cy="0"/>
          </a:xfrm>
          <a:prstGeom prst="line">
            <a:avLst/>
          </a:prstGeom>
          <a:noFill/>
          <a:ln w="19050">
            <a:solidFill>
              <a:srgbClr val="322164"/>
            </a:solidFill>
            <a:prstDash val="solid"/>
          </a:ln>
        </p:spPr>
      </p:sp>
      <p:sp>
        <p:nvSpPr>
          <p:cNvPr id="14" name="Text 12"/>
          <p:cNvSpPr/>
          <p:nvPr/>
        </p:nvSpPr>
        <p:spPr>
          <a:xfrm>
            <a:off x="502920" y="1719072"/>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Base, chưa tinh chỉnh</a:t>
            </a:r>
            <a:endParaRPr lang="en-US" sz="1300" dirty="0"/>
          </a:p>
        </p:txBody>
      </p:sp>
      <p:sp>
        <p:nvSpPr>
          <p:cNvPr id="15" name="Text 13"/>
          <p:cNvSpPr/>
          <p:nvPr/>
        </p:nvSpPr>
        <p:spPr>
          <a:xfrm>
            <a:off x="4069080" y="1719072"/>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47,6</a:t>
            </a:r>
            <a:endParaRPr lang="en-US" sz="1300" dirty="0"/>
          </a:p>
        </p:txBody>
      </p:sp>
      <p:sp>
        <p:nvSpPr>
          <p:cNvPr id="16" name="Text 14"/>
          <p:cNvSpPr/>
          <p:nvPr/>
        </p:nvSpPr>
        <p:spPr>
          <a:xfrm>
            <a:off x="5623560" y="1719072"/>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[45,9 ; 49,3]</a:t>
            </a:r>
            <a:endParaRPr lang="en-US" sz="1300" dirty="0"/>
          </a:p>
        </p:txBody>
      </p:sp>
      <p:sp>
        <p:nvSpPr>
          <p:cNvPr id="17" name="Text 15"/>
          <p:cNvSpPr/>
          <p:nvPr/>
        </p:nvSpPr>
        <p:spPr>
          <a:xfrm>
            <a:off x="7635240" y="1719072"/>
            <a:ext cx="996696" cy="402336"/>
          </a:xfrm>
          <a:prstGeom prst="rect">
            <a:avLst/>
          </a:prstGeom>
          <a:noFill/>
          <a:ln/>
        </p:spPr>
        <p:txBody>
          <a:bodyPr wrap="square" lIns="38100" tIns="38100" rIns="38100" bIns="38100" rtlCol="0" anchor="ctr"/>
          <a:lstStyle/>
          <a:p>
            <a:pPr algn="ctr" indent="0" marL="0">
              <a:buNone/>
            </a:pPr>
            <a:endParaRPr lang="en-US" sz="1300" dirty="0"/>
          </a:p>
        </p:txBody>
      </p:sp>
      <p:sp>
        <p:nvSpPr>
          <p:cNvPr id="18" name="Shape 16"/>
          <p:cNvSpPr/>
          <p:nvPr/>
        </p:nvSpPr>
        <p:spPr>
          <a:xfrm>
            <a:off x="502920" y="2121408"/>
            <a:ext cx="8129016" cy="0"/>
          </a:xfrm>
          <a:prstGeom prst="line">
            <a:avLst/>
          </a:prstGeom>
          <a:noFill/>
          <a:ln w="12700">
            <a:solidFill>
              <a:srgbClr val="9A94AE"/>
            </a:solidFill>
            <a:prstDash val="solid"/>
          </a:ln>
        </p:spPr>
      </p:sp>
      <p:sp>
        <p:nvSpPr>
          <p:cNvPr id="19" name="Text 17"/>
          <p:cNvSpPr/>
          <p:nvPr/>
        </p:nvSpPr>
        <p:spPr>
          <a:xfrm>
            <a:off x="502920" y="2121408"/>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S1, hạt giống 101</a:t>
            </a:r>
            <a:endParaRPr lang="en-US" sz="1300" dirty="0"/>
          </a:p>
        </p:txBody>
      </p:sp>
      <p:sp>
        <p:nvSpPr>
          <p:cNvPr id="20" name="Text 18"/>
          <p:cNvSpPr/>
          <p:nvPr/>
        </p:nvSpPr>
        <p:spPr>
          <a:xfrm>
            <a:off x="4069080" y="2121408"/>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59,1</a:t>
            </a:r>
            <a:endParaRPr lang="en-US" sz="1300" dirty="0"/>
          </a:p>
        </p:txBody>
      </p:sp>
      <p:sp>
        <p:nvSpPr>
          <p:cNvPr id="21" name="Text 19"/>
          <p:cNvSpPr/>
          <p:nvPr/>
        </p:nvSpPr>
        <p:spPr>
          <a:xfrm>
            <a:off x="5623560" y="2121408"/>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[57,3 ; 60,8]</a:t>
            </a:r>
            <a:endParaRPr lang="en-US" sz="1300" dirty="0"/>
          </a:p>
        </p:txBody>
      </p:sp>
      <p:sp>
        <p:nvSpPr>
          <p:cNvPr id="22" name="Text 20"/>
          <p:cNvSpPr/>
          <p:nvPr/>
        </p:nvSpPr>
        <p:spPr>
          <a:xfrm>
            <a:off x="7635240" y="2121408"/>
            <a:ext cx="996696" cy="402336"/>
          </a:xfrm>
          <a:prstGeom prst="rect">
            <a:avLst/>
          </a:prstGeom>
          <a:noFill/>
          <a:ln/>
        </p:spPr>
        <p:txBody>
          <a:bodyPr wrap="square" lIns="38100" tIns="38100" rIns="38100" bIns="38100" rtlCol="0" anchor="ctr"/>
          <a:lstStyle/>
          <a:p>
            <a:pPr algn="ctr" indent="0" marL="0">
              <a:buNone/>
            </a:pPr>
            <a:endParaRPr lang="en-US" sz="1300" dirty="0"/>
          </a:p>
        </p:txBody>
      </p:sp>
      <p:sp>
        <p:nvSpPr>
          <p:cNvPr id="23" name="Shape 21"/>
          <p:cNvSpPr/>
          <p:nvPr/>
        </p:nvSpPr>
        <p:spPr>
          <a:xfrm>
            <a:off x="502920" y="2523744"/>
            <a:ext cx="8129016" cy="0"/>
          </a:xfrm>
          <a:prstGeom prst="line">
            <a:avLst/>
          </a:prstGeom>
          <a:noFill/>
          <a:ln w="12700">
            <a:solidFill>
              <a:srgbClr val="9A94AE"/>
            </a:solidFill>
            <a:prstDash val="solid"/>
          </a:ln>
        </p:spPr>
      </p:sp>
      <p:sp>
        <p:nvSpPr>
          <p:cNvPr id="24" name="Text 22"/>
          <p:cNvSpPr/>
          <p:nvPr/>
        </p:nvSpPr>
        <p:spPr>
          <a:xfrm>
            <a:off x="502920" y="2523744"/>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S1, hạt giống 202</a:t>
            </a:r>
            <a:endParaRPr lang="en-US" sz="1300" dirty="0"/>
          </a:p>
        </p:txBody>
      </p:sp>
      <p:sp>
        <p:nvSpPr>
          <p:cNvPr id="25" name="Text 23"/>
          <p:cNvSpPr/>
          <p:nvPr/>
        </p:nvSpPr>
        <p:spPr>
          <a:xfrm>
            <a:off x="4069080" y="2523744"/>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59,6</a:t>
            </a:r>
            <a:endParaRPr lang="en-US" sz="1300" dirty="0"/>
          </a:p>
        </p:txBody>
      </p:sp>
      <p:sp>
        <p:nvSpPr>
          <p:cNvPr id="26" name="Text 24"/>
          <p:cNvSpPr/>
          <p:nvPr/>
        </p:nvSpPr>
        <p:spPr>
          <a:xfrm>
            <a:off x="5623560" y="2523744"/>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[57,9 ; 61,3]</a:t>
            </a:r>
            <a:endParaRPr lang="en-US" sz="1300" dirty="0"/>
          </a:p>
        </p:txBody>
      </p:sp>
      <p:sp>
        <p:nvSpPr>
          <p:cNvPr id="27" name="Text 25"/>
          <p:cNvSpPr/>
          <p:nvPr/>
        </p:nvSpPr>
        <p:spPr>
          <a:xfrm>
            <a:off x="7635240" y="2523744"/>
            <a:ext cx="996696" cy="402336"/>
          </a:xfrm>
          <a:prstGeom prst="rect">
            <a:avLst/>
          </a:prstGeom>
          <a:noFill/>
          <a:ln/>
        </p:spPr>
        <p:txBody>
          <a:bodyPr wrap="square" lIns="38100" tIns="38100" rIns="38100" bIns="38100" rtlCol="0" anchor="ctr"/>
          <a:lstStyle/>
          <a:p>
            <a:pPr algn="ctr" indent="0" marL="0">
              <a:buNone/>
            </a:pPr>
            <a:endParaRPr lang="en-US" sz="1300" dirty="0"/>
          </a:p>
        </p:txBody>
      </p:sp>
      <p:sp>
        <p:nvSpPr>
          <p:cNvPr id="28" name="Shape 26"/>
          <p:cNvSpPr/>
          <p:nvPr/>
        </p:nvSpPr>
        <p:spPr>
          <a:xfrm>
            <a:off x="502920" y="2926080"/>
            <a:ext cx="8129016" cy="0"/>
          </a:xfrm>
          <a:prstGeom prst="line">
            <a:avLst/>
          </a:prstGeom>
          <a:noFill/>
          <a:ln w="19050">
            <a:solidFill>
              <a:srgbClr val="322164"/>
            </a:solidFill>
            <a:prstDash val="solid"/>
          </a:ln>
        </p:spPr>
      </p:sp>
      <p:sp>
        <p:nvSpPr>
          <p:cNvPr id="29" name="Text 27"/>
          <p:cNvSpPr/>
          <p:nvPr/>
        </p:nvSpPr>
        <p:spPr>
          <a:xfrm>
            <a:off x="502920" y="2926080"/>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S2, khai báo trước</a:t>
            </a:r>
            <a:endParaRPr lang="en-US" sz="1300" dirty="0"/>
          </a:p>
        </p:txBody>
      </p:sp>
      <p:sp>
        <p:nvSpPr>
          <p:cNvPr id="30" name="Text 28"/>
          <p:cNvSpPr/>
          <p:nvPr/>
        </p:nvSpPr>
        <p:spPr>
          <a:xfrm>
            <a:off x="4069080" y="2926080"/>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57,2</a:t>
            </a:r>
            <a:endParaRPr lang="en-US" sz="1300" dirty="0"/>
          </a:p>
        </p:txBody>
      </p:sp>
      <p:sp>
        <p:nvSpPr>
          <p:cNvPr id="31" name="Text 29"/>
          <p:cNvSpPr/>
          <p:nvPr/>
        </p:nvSpPr>
        <p:spPr>
          <a:xfrm>
            <a:off x="5623560" y="2926080"/>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[55,4 ; 58,9]</a:t>
            </a:r>
            <a:endParaRPr lang="en-US" sz="1300" dirty="0"/>
          </a:p>
        </p:txBody>
      </p:sp>
      <p:sp>
        <p:nvSpPr>
          <p:cNvPr id="32" name="Text 30"/>
          <p:cNvSpPr/>
          <p:nvPr/>
        </p:nvSpPr>
        <p:spPr>
          <a:xfrm>
            <a:off x="7635240" y="2926080"/>
            <a:ext cx="996696" cy="402336"/>
          </a:xfrm>
          <a:prstGeom prst="rect">
            <a:avLst/>
          </a:prstGeom>
          <a:noFill/>
          <a:ln/>
        </p:spPr>
        <p:txBody>
          <a:bodyPr wrap="square" lIns="38100" tIns="38100" rIns="38100" bIns="38100" rtlCol="0" anchor="ctr"/>
          <a:lstStyle/>
          <a:p>
            <a:pPr algn="ctr" indent="0" marL="0">
              <a:buNone/>
            </a:pPr>
            <a:r>
              <a:rPr lang="en-US" sz="1300" dirty="0">
                <a:solidFill>
                  <a:srgbClr val="990000"/>
                </a:solidFill>
                <a:latin typeface="Cambria" pitchFamily="34" charset="0"/>
                <a:ea typeface="Cambria" pitchFamily="34" charset="-122"/>
                <a:cs typeface="Cambria" pitchFamily="34" charset="-120"/>
              </a:rPr>
              <a:t>một hạt giống</a:t>
            </a:r>
            <a:endParaRPr lang="en-US" sz="1300" dirty="0"/>
          </a:p>
        </p:txBody>
      </p:sp>
      <p:sp>
        <p:nvSpPr>
          <p:cNvPr id="33" name="Shape 31"/>
          <p:cNvSpPr/>
          <p:nvPr/>
        </p:nvSpPr>
        <p:spPr>
          <a:xfrm>
            <a:off x="502920" y="3328416"/>
            <a:ext cx="8129016" cy="0"/>
          </a:xfrm>
          <a:prstGeom prst="line">
            <a:avLst/>
          </a:prstGeom>
          <a:noFill/>
          <a:ln w="12700">
            <a:solidFill>
              <a:srgbClr val="9A94AE"/>
            </a:solidFill>
            <a:prstDash val="solid"/>
          </a:ln>
        </p:spPr>
      </p:sp>
      <p:sp>
        <p:nvSpPr>
          <p:cNvPr id="34" name="Text 32"/>
          <p:cNvSpPr/>
          <p:nvPr/>
        </p:nvSpPr>
        <p:spPr>
          <a:xfrm>
            <a:off x="502920" y="3328416"/>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CE2-S2, nhánh so sánh</a:t>
            </a:r>
            <a:endParaRPr lang="en-US" sz="1300" dirty="0"/>
          </a:p>
        </p:txBody>
      </p:sp>
      <p:sp>
        <p:nvSpPr>
          <p:cNvPr id="35" name="Text 33"/>
          <p:cNvSpPr/>
          <p:nvPr/>
        </p:nvSpPr>
        <p:spPr>
          <a:xfrm>
            <a:off x="4069080" y="3328416"/>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59,4</a:t>
            </a:r>
            <a:endParaRPr lang="en-US" sz="1300" dirty="0"/>
          </a:p>
        </p:txBody>
      </p:sp>
      <p:sp>
        <p:nvSpPr>
          <p:cNvPr id="36" name="Text 34"/>
          <p:cNvSpPr/>
          <p:nvPr/>
        </p:nvSpPr>
        <p:spPr>
          <a:xfrm>
            <a:off x="5623560" y="3328416"/>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[57,7 ; 61,1]</a:t>
            </a:r>
            <a:endParaRPr lang="en-US" sz="1300" dirty="0"/>
          </a:p>
        </p:txBody>
      </p:sp>
      <p:sp>
        <p:nvSpPr>
          <p:cNvPr id="37" name="Text 35"/>
          <p:cNvSpPr/>
          <p:nvPr/>
        </p:nvSpPr>
        <p:spPr>
          <a:xfrm>
            <a:off x="7635240" y="3328416"/>
            <a:ext cx="996696" cy="402336"/>
          </a:xfrm>
          <a:prstGeom prst="rect">
            <a:avLst/>
          </a:prstGeom>
          <a:noFill/>
          <a:ln/>
        </p:spPr>
        <p:txBody>
          <a:bodyPr wrap="square" lIns="38100" tIns="38100" rIns="38100" bIns="38100" rtlCol="0" anchor="ctr"/>
          <a:lstStyle/>
          <a:p>
            <a:pPr algn="ctr" indent="0" marL="0">
              <a:buNone/>
            </a:pPr>
            <a:r>
              <a:rPr lang="en-US" sz="1300" dirty="0">
                <a:solidFill>
                  <a:srgbClr val="990000"/>
                </a:solidFill>
                <a:latin typeface="Cambria" pitchFamily="34" charset="0"/>
                <a:ea typeface="Cambria" pitchFamily="34" charset="-122"/>
                <a:cs typeface="Cambria" pitchFamily="34" charset="-120"/>
              </a:rPr>
              <a:t>một hạt giống</a:t>
            </a:r>
            <a:endParaRPr lang="en-US" sz="1300" dirty="0"/>
          </a:p>
        </p:txBody>
      </p:sp>
      <p:sp>
        <p:nvSpPr>
          <p:cNvPr id="38" name="Shape 36"/>
          <p:cNvSpPr/>
          <p:nvPr/>
        </p:nvSpPr>
        <p:spPr>
          <a:xfrm>
            <a:off x="502920" y="3730752"/>
            <a:ext cx="8129016" cy="0"/>
          </a:xfrm>
          <a:prstGeom prst="line">
            <a:avLst/>
          </a:prstGeom>
          <a:noFill/>
          <a:ln w="12700">
            <a:solidFill>
              <a:srgbClr val="9A94AE"/>
            </a:solidFill>
            <a:prstDash val="solid"/>
          </a:ln>
        </p:spPr>
      </p:sp>
      <p:sp>
        <p:nvSpPr>
          <p:cNvPr id="39" name="Text 37"/>
          <p:cNvSpPr/>
          <p:nvPr/>
        </p:nvSpPr>
        <p:spPr>
          <a:xfrm>
            <a:off x="502920" y="3730752"/>
            <a:ext cx="3566160" cy="402336"/>
          </a:xfrm>
          <a:prstGeom prst="rect">
            <a:avLst/>
          </a:prstGeom>
          <a:noFill/>
          <a:ln/>
        </p:spPr>
        <p:txBody>
          <a:bodyPr wrap="square" lIns="38100" tIns="38100" rIns="38100" bIns="38100" rtlCol="0" anchor="ctr"/>
          <a:lstStyle/>
          <a:p>
            <a:pPr algn="l" indent="0" marL="0">
              <a:buNone/>
            </a:pPr>
            <a:r>
              <a:rPr lang="en-US" sz="1300" b="1" dirty="0">
                <a:solidFill>
                  <a:srgbClr val="1A1A1A"/>
                </a:solidFill>
                <a:latin typeface="Cambria" pitchFamily="34" charset="0"/>
                <a:ea typeface="Cambria" pitchFamily="34" charset="-122"/>
                <a:cs typeface="Cambria" pitchFamily="34" charset="-120"/>
              </a:rPr>
              <a:t>MIN-DESC, mục tiêu ưu tiên</a:t>
            </a:r>
            <a:endParaRPr lang="en-US" sz="1300" dirty="0"/>
          </a:p>
        </p:txBody>
      </p:sp>
      <p:sp>
        <p:nvSpPr>
          <p:cNvPr id="40" name="Text 38"/>
          <p:cNvSpPr/>
          <p:nvPr/>
        </p:nvSpPr>
        <p:spPr>
          <a:xfrm>
            <a:off x="4069080" y="3730752"/>
            <a:ext cx="1554480" cy="402336"/>
          </a:xfrm>
          <a:prstGeom prst="rect">
            <a:avLst/>
          </a:prstGeom>
          <a:noFill/>
          <a:ln/>
        </p:spPr>
        <p:txBody>
          <a:bodyPr wrap="square" lIns="38100" tIns="38100" rIns="38100" bIns="38100" rtlCol="0" anchor="ctr"/>
          <a:lstStyle/>
          <a:p>
            <a:pPr algn="ctr" indent="0" marL="0">
              <a:buNone/>
            </a:pPr>
            <a:r>
              <a:rPr lang="en-US" sz="1300" b="1" dirty="0">
                <a:solidFill>
                  <a:srgbClr val="322164"/>
                </a:solidFill>
                <a:latin typeface="Cambria" pitchFamily="34" charset="0"/>
                <a:ea typeface="Cambria" pitchFamily="34" charset="-122"/>
                <a:cs typeface="Cambria" pitchFamily="34" charset="-120"/>
              </a:rPr>
              <a:t>60,0</a:t>
            </a:r>
            <a:endParaRPr lang="en-US" sz="1300" dirty="0"/>
          </a:p>
        </p:txBody>
      </p:sp>
      <p:sp>
        <p:nvSpPr>
          <p:cNvPr id="41" name="Text 39"/>
          <p:cNvSpPr/>
          <p:nvPr/>
        </p:nvSpPr>
        <p:spPr>
          <a:xfrm>
            <a:off x="5623560" y="3730752"/>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[58,3 ; 61,8]</a:t>
            </a:r>
            <a:endParaRPr lang="en-US" sz="1300" dirty="0"/>
          </a:p>
        </p:txBody>
      </p:sp>
      <p:sp>
        <p:nvSpPr>
          <p:cNvPr id="42" name="Text 40"/>
          <p:cNvSpPr/>
          <p:nvPr/>
        </p:nvSpPr>
        <p:spPr>
          <a:xfrm>
            <a:off x="7635240" y="3730752"/>
            <a:ext cx="996696" cy="402336"/>
          </a:xfrm>
          <a:prstGeom prst="rect">
            <a:avLst/>
          </a:prstGeom>
          <a:noFill/>
          <a:ln/>
        </p:spPr>
        <p:txBody>
          <a:bodyPr wrap="square" lIns="38100" tIns="38100" rIns="38100" bIns="38100" rtlCol="0" anchor="ctr"/>
          <a:lstStyle/>
          <a:p>
            <a:pPr algn="ctr" indent="0" marL="0">
              <a:buNone/>
            </a:pPr>
            <a:r>
              <a:rPr lang="en-US" sz="1300" dirty="0">
                <a:solidFill>
                  <a:srgbClr val="990000"/>
                </a:solidFill>
                <a:latin typeface="Cambria" pitchFamily="34" charset="0"/>
                <a:ea typeface="Cambria" pitchFamily="34" charset="-122"/>
                <a:cs typeface="Cambria" pitchFamily="34" charset="-120"/>
              </a:rPr>
              <a:t>một hạt giống</a:t>
            </a:r>
            <a:endParaRPr lang="en-US" sz="1300" dirty="0"/>
          </a:p>
        </p:txBody>
      </p:sp>
      <p:sp>
        <p:nvSpPr>
          <p:cNvPr id="43" name="Shape 41"/>
          <p:cNvSpPr/>
          <p:nvPr/>
        </p:nvSpPr>
        <p:spPr>
          <a:xfrm>
            <a:off x="502920" y="4133088"/>
            <a:ext cx="8129016" cy="0"/>
          </a:xfrm>
          <a:prstGeom prst="line">
            <a:avLst/>
          </a:prstGeom>
          <a:noFill/>
          <a:ln w="19050">
            <a:solidFill>
              <a:srgbClr val="322164"/>
            </a:solidFill>
            <a:prstDash val="solid"/>
          </a:ln>
        </p:spPr>
      </p:sp>
      <p:sp>
        <p:nvSpPr>
          <p:cNvPr id="44" name="Text 42"/>
          <p:cNvSpPr/>
          <p:nvPr/>
        </p:nvSpPr>
        <p:spPr>
          <a:xfrm>
            <a:off x="502920" y="4133088"/>
            <a:ext cx="3566160" cy="402336"/>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Nhánh ứng viên, hạt giống 101</a:t>
            </a:r>
            <a:endParaRPr lang="en-US" sz="1300" dirty="0"/>
          </a:p>
        </p:txBody>
      </p:sp>
      <p:sp>
        <p:nvSpPr>
          <p:cNvPr id="45" name="Text 43"/>
          <p:cNvSpPr/>
          <p:nvPr/>
        </p:nvSpPr>
        <p:spPr>
          <a:xfrm>
            <a:off x="4069080" y="4133088"/>
            <a:ext cx="15544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56,1</a:t>
            </a:r>
            <a:endParaRPr lang="en-US" sz="1300" dirty="0"/>
          </a:p>
        </p:txBody>
      </p:sp>
      <p:sp>
        <p:nvSpPr>
          <p:cNvPr id="46" name="Text 44"/>
          <p:cNvSpPr/>
          <p:nvPr/>
        </p:nvSpPr>
        <p:spPr>
          <a:xfrm>
            <a:off x="5623560" y="4133088"/>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[54,5 ; 58,0]</a:t>
            </a:r>
            <a:endParaRPr lang="en-US" sz="1300" dirty="0"/>
          </a:p>
        </p:txBody>
      </p:sp>
      <p:sp>
        <p:nvSpPr>
          <p:cNvPr id="47" name="Text 45"/>
          <p:cNvSpPr/>
          <p:nvPr/>
        </p:nvSpPr>
        <p:spPr>
          <a:xfrm>
            <a:off x="7635240" y="4133088"/>
            <a:ext cx="996696" cy="402336"/>
          </a:xfrm>
          <a:prstGeom prst="rect">
            <a:avLst/>
          </a:prstGeom>
          <a:noFill/>
          <a:ln/>
        </p:spPr>
        <p:txBody>
          <a:bodyPr wrap="square" lIns="38100" tIns="38100" rIns="38100" bIns="38100" rtlCol="0" anchor="ctr"/>
          <a:lstStyle/>
          <a:p>
            <a:pPr algn="ctr" indent="0" marL="0">
              <a:buNone/>
            </a:pPr>
            <a:r>
              <a:rPr lang="en-US" sz="1300" dirty="0">
                <a:solidFill>
                  <a:srgbClr val="990000"/>
                </a:solidFill>
                <a:latin typeface="Cambria" pitchFamily="34" charset="0"/>
                <a:ea typeface="Cambria" pitchFamily="34" charset="-122"/>
                <a:cs typeface="Cambria" pitchFamily="34" charset="-120"/>
              </a:rPr>
              <a:t>điều kiện khác</a:t>
            </a:r>
            <a:endParaRPr lang="en-US" sz="1300" dirty="0"/>
          </a:p>
        </p:txBody>
      </p:sp>
      <p:sp>
        <p:nvSpPr>
          <p:cNvPr id="48" name="Text 46"/>
          <p:cNvSpPr/>
          <p:nvPr/>
        </p:nvSpPr>
        <p:spPr>
          <a:xfrm>
            <a:off x="502920" y="4590288"/>
            <a:ext cx="8138160" cy="274320"/>
          </a:xfrm>
          <a:prstGeom prst="rect">
            <a:avLst/>
          </a:prstGeom>
          <a:noFill/>
          <a:ln/>
        </p:spPr>
        <p:txBody>
          <a:bodyPr wrap="square" lIns="0" tIns="0" rIns="0" bIns="0" rtlCol="0" anchor="t"/>
          <a:lstStyle/>
          <a:p>
            <a:pPr algn="l" indent="0" marL="0">
              <a:buNone/>
            </a:pPr>
            <a:r>
              <a:rPr lang="en-US" sz="1150" i="1" dirty="0">
                <a:solidFill>
                  <a:srgbClr val="5A5A66"/>
                </a:solidFill>
                <a:latin typeface="Cambria" pitchFamily="34" charset="0"/>
                <a:ea typeface="Cambria" pitchFamily="34" charset="-122"/>
                <a:cs typeface="Cambria" pitchFamily="34" charset="-120"/>
              </a:rPr>
              <a:t>Bốn nhánh dưới vạch chỉ có một hạt giống. Nhánh ứng viên lệch ba biến so với các nhánh trên, chỉ so được với Base.</a:t>
            </a:r>
            <a:endParaRPr lang="en-US" sz="1150" dirty="0"/>
          </a:p>
        </p:txBody>
      </p:sp>
      <p:sp>
        <p:nvSpPr>
          <p:cNvPr id="49" name="Shape 47"/>
          <p:cNvSpPr/>
          <p:nvPr/>
        </p:nvSpPr>
        <p:spPr>
          <a:xfrm>
            <a:off x="502920" y="493776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50" name="Text 48"/>
          <p:cNvSpPr/>
          <p:nvPr/>
        </p:nvSpPr>
        <p:spPr>
          <a:xfrm>
            <a:off x="685800" y="5010912"/>
            <a:ext cx="201168" cy="41148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51" name="Text 49"/>
          <p:cNvSpPr/>
          <p:nvPr/>
        </p:nvSpPr>
        <p:spPr>
          <a:xfrm>
            <a:off x="914400" y="5010912"/>
            <a:ext cx="7543800" cy="384048"/>
          </a:xfrm>
          <a:prstGeom prst="rect">
            <a:avLst/>
          </a:prstGeom>
          <a:noFill/>
          <a:ln/>
        </p:spPr>
        <p:txBody>
          <a:bodyPr wrap="square" lIns="0" tIns="0" rIns="0" bIns="0" rtlCol="0" anchor="t"/>
          <a:lstStyle/>
          <a:p>
            <a:pPr algn="l" indent="0" marL="0">
              <a:lnSpc>
                <a:spcPct val="120000"/>
              </a:lnSpc>
              <a:buNone/>
            </a:pPr>
            <a:r>
              <a:rPr lang="en-US" sz="1300" dirty="0">
                <a:solidFill>
                  <a:srgbClr val="1A1A1A"/>
                </a:solidFill>
                <a:latin typeface="Cambria" pitchFamily="34" charset="0"/>
                <a:ea typeface="Cambria" pitchFamily="34" charset="-122"/>
                <a:cs typeface="Cambria" pitchFamily="34" charset="-120"/>
              </a:rPr>
              <a:t>Ba khoảng tin cậy của Base, S1 và trần rời nhau hoàn toàn</a:t>
            </a:r>
            <a:endParaRPr lang="en-US" sz="1300" dirty="0"/>
          </a:p>
        </p:txBody>
      </p:sp>
      <p:sp>
        <p:nvSpPr>
          <p:cNvPr id="52" name="Text 50"/>
          <p:cNvSpPr/>
          <p:nvPr/>
        </p:nvSpPr>
        <p:spPr>
          <a:xfrm>
            <a:off x="685800" y="5422392"/>
            <a:ext cx="201168" cy="411480"/>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53" name="Text 51"/>
          <p:cNvSpPr/>
          <p:nvPr/>
        </p:nvSpPr>
        <p:spPr>
          <a:xfrm>
            <a:off x="914400" y="5422392"/>
            <a:ext cx="7543800" cy="384048"/>
          </a:xfrm>
          <a:prstGeom prst="rect">
            <a:avLst/>
          </a:prstGeom>
          <a:noFill/>
          <a:ln/>
        </p:spPr>
        <p:txBody>
          <a:bodyPr wrap="square" lIns="0" tIns="0" rIns="0" bIns="0" rtlCol="0" anchor="t"/>
          <a:lstStyle/>
          <a:p>
            <a:pPr algn="l" indent="0" marL="0">
              <a:lnSpc>
                <a:spcPct val="120000"/>
              </a:lnSpc>
              <a:buNone/>
            </a:pPr>
            <a:r>
              <a:rPr lang="en-US" sz="1300" dirty="0">
                <a:solidFill>
                  <a:srgbClr val="1A1A1A"/>
                </a:solidFill>
                <a:latin typeface="Cambria" pitchFamily="34" charset="0"/>
                <a:ea typeface="Cambria" pitchFamily="34" charset="-122"/>
                <a:cs typeface="Cambria" pitchFamily="34" charset="-120"/>
              </a:rPr>
              <a:t>Nhánh nền chưa sát trần, nên vẫn còn khoảng trống cho can thiệp</a:t>
            </a:r>
            <a:endParaRPr lang="en-US" sz="1300" dirty="0"/>
          </a:p>
        </p:txBody>
      </p:sp>
      <p:sp>
        <p:nvSpPr>
          <p:cNvPr id="55" name="Shape 52"/>
          <p:cNvSpPr/>
          <p:nvPr/>
        </p:nvSpPr>
        <p:spPr>
          <a:xfrm>
            <a:off x="0" y="6620256"/>
            <a:ext cx="2743200" cy="237744"/>
          </a:xfrm>
          <a:prstGeom prst="rect">
            <a:avLst/>
          </a:prstGeom>
          <a:solidFill>
            <a:srgbClr val="191132"/>
          </a:solidFill>
          <a:ln/>
        </p:spPr>
      </p:sp>
      <p:sp>
        <p:nvSpPr>
          <p:cNvPr id="56" name="Shape 53"/>
          <p:cNvSpPr/>
          <p:nvPr/>
        </p:nvSpPr>
        <p:spPr>
          <a:xfrm>
            <a:off x="2743200" y="6620256"/>
            <a:ext cx="3383280" cy="237744"/>
          </a:xfrm>
          <a:prstGeom prst="rect">
            <a:avLst/>
          </a:prstGeom>
          <a:solidFill>
            <a:srgbClr val="25194B"/>
          </a:solidFill>
          <a:ln/>
        </p:spPr>
      </p:sp>
      <p:sp>
        <p:nvSpPr>
          <p:cNvPr id="57" name="Shape 54"/>
          <p:cNvSpPr/>
          <p:nvPr/>
        </p:nvSpPr>
        <p:spPr>
          <a:xfrm>
            <a:off x="6126480" y="6620256"/>
            <a:ext cx="1737360" cy="237744"/>
          </a:xfrm>
          <a:prstGeom prst="rect">
            <a:avLst/>
          </a:prstGeom>
          <a:solidFill>
            <a:srgbClr val="4F417A"/>
          </a:solidFill>
          <a:ln/>
        </p:spPr>
      </p:sp>
      <p:sp>
        <p:nvSpPr>
          <p:cNvPr id="58" name="Shape 55"/>
          <p:cNvSpPr/>
          <p:nvPr/>
        </p:nvSpPr>
        <p:spPr>
          <a:xfrm>
            <a:off x="7863840" y="6620256"/>
            <a:ext cx="1280160" cy="237744"/>
          </a:xfrm>
          <a:prstGeom prst="rect">
            <a:avLst/>
          </a:prstGeom>
          <a:solidFill>
            <a:srgbClr val="7A7099"/>
          </a:solidFill>
          <a:ln/>
        </p:spPr>
      </p:sp>
      <p:sp>
        <p:nvSpPr>
          <p:cNvPr id="59" name="Text 5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60" name="Text 5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61" name="Text 5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62" name="Text 5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16/26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So sánh ghép cặp và các cách giải thích thay thế</a:t>
            </a:r>
            <a:endParaRPr lang="en-US" sz="1900" dirty="0"/>
          </a:p>
        </p:txBody>
      </p:sp>
      <p:sp>
        <p:nvSpPr>
          <p:cNvPr id="4" name="Shape 2"/>
          <p:cNvSpPr/>
          <p:nvPr/>
        </p:nvSpPr>
        <p:spPr>
          <a:xfrm>
            <a:off x="502920" y="868680"/>
            <a:ext cx="8129016" cy="365760"/>
          </a:xfrm>
          <a:prstGeom prst="rect">
            <a:avLst/>
          </a:prstGeom>
          <a:solidFill>
            <a:srgbClr val="322164"/>
          </a:solidFill>
          <a:ln/>
        </p:spPr>
      </p:sp>
      <p:sp>
        <p:nvSpPr>
          <p:cNvPr id="5" name="Text 3"/>
          <p:cNvSpPr/>
          <p:nvPr/>
        </p:nvSpPr>
        <p:spPr>
          <a:xfrm>
            <a:off x="502920" y="868680"/>
            <a:ext cx="3108960" cy="36576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Phép so (McNemar)</a:t>
            </a:r>
            <a:endParaRPr lang="en-US" sz="1250" dirty="0"/>
          </a:p>
        </p:txBody>
      </p:sp>
      <p:sp>
        <p:nvSpPr>
          <p:cNvPr id="6" name="Text 4"/>
          <p:cNvSpPr/>
          <p:nvPr/>
        </p:nvSpPr>
        <p:spPr>
          <a:xfrm>
            <a:off x="3611880" y="868680"/>
            <a:ext cx="1371600" cy="36576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Δ</a:t>
            </a:r>
            <a:endParaRPr lang="en-US" sz="1250" dirty="0"/>
          </a:p>
        </p:txBody>
      </p:sp>
      <p:sp>
        <p:nvSpPr>
          <p:cNvPr id="7" name="Text 5"/>
          <p:cNvSpPr/>
          <p:nvPr/>
        </p:nvSpPr>
        <p:spPr>
          <a:xfrm>
            <a:off x="4983480" y="868680"/>
            <a:ext cx="2011680" cy="36576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KTC 95%</a:t>
            </a:r>
            <a:endParaRPr lang="en-US" sz="1250" dirty="0"/>
          </a:p>
        </p:txBody>
      </p:sp>
      <p:sp>
        <p:nvSpPr>
          <p:cNvPr id="8" name="Text 6"/>
          <p:cNvSpPr/>
          <p:nvPr/>
        </p:nvSpPr>
        <p:spPr>
          <a:xfrm>
            <a:off x="6995160" y="868680"/>
            <a:ext cx="1636776" cy="365760"/>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p</a:t>
            </a:r>
            <a:endParaRPr lang="en-US" sz="1250" dirty="0"/>
          </a:p>
        </p:txBody>
      </p:sp>
      <p:sp>
        <p:nvSpPr>
          <p:cNvPr id="9" name="Text 7"/>
          <p:cNvSpPr/>
          <p:nvPr/>
        </p:nvSpPr>
        <p:spPr>
          <a:xfrm>
            <a:off x="502920" y="1234440"/>
            <a:ext cx="3108960" cy="402336"/>
          </a:xfrm>
          <a:prstGeom prst="rect">
            <a:avLst/>
          </a:prstGeom>
          <a:noFill/>
          <a:ln/>
        </p:spPr>
        <p:txBody>
          <a:bodyPr wrap="square" lIns="38100" tIns="38100" rIns="38100" bIns="38100" rtlCol="0" anchor="ctr"/>
          <a:lstStyle/>
          <a:p>
            <a:pPr algn="l" indent="0" marL="0">
              <a:buNone/>
            </a:pPr>
            <a:r>
              <a:rPr lang="en-US" sz="1300" b="1" dirty="0">
                <a:solidFill>
                  <a:srgbClr val="1A1A1A"/>
                </a:solidFill>
                <a:latin typeface="Cambria" pitchFamily="34" charset="0"/>
                <a:ea typeface="Cambria" pitchFamily="34" charset="-122"/>
                <a:cs typeface="Cambria" pitchFamily="34" charset="-120"/>
              </a:rPr>
              <a:t>S1 − Base</a:t>
            </a:r>
            <a:endParaRPr lang="en-US" sz="1300" dirty="0"/>
          </a:p>
        </p:txBody>
      </p:sp>
      <p:sp>
        <p:nvSpPr>
          <p:cNvPr id="10" name="Text 8"/>
          <p:cNvSpPr/>
          <p:nvPr/>
        </p:nvSpPr>
        <p:spPr>
          <a:xfrm>
            <a:off x="3611880" y="1234440"/>
            <a:ext cx="1371600" cy="402336"/>
          </a:xfrm>
          <a:prstGeom prst="rect">
            <a:avLst/>
          </a:prstGeom>
          <a:noFill/>
          <a:ln/>
        </p:spPr>
        <p:txBody>
          <a:bodyPr wrap="square" lIns="38100" tIns="38100" rIns="38100" bIns="38100" rtlCol="0" anchor="ctr"/>
          <a:lstStyle/>
          <a:p>
            <a:pPr algn="ctr" indent="0" marL="0">
              <a:buNone/>
            </a:pPr>
            <a:r>
              <a:rPr lang="en-US" sz="1300" b="1" dirty="0">
                <a:solidFill>
                  <a:srgbClr val="006666"/>
                </a:solidFill>
                <a:latin typeface="Cambria" pitchFamily="34" charset="0"/>
                <a:ea typeface="Cambria" pitchFamily="34" charset="-122"/>
                <a:cs typeface="Cambria" pitchFamily="34" charset="-120"/>
              </a:rPr>
              <a:t>+11,5</a:t>
            </a:r>
            <a:endParaRPr lang="en-US" sz="1300" dirty="0"/>
          </a:p>
        </p:txBody>
      </p:sp>
      <p:sp>
        <p:nvSpPr>
          <p:cNvPr id="11" name="Text 9"/>
          <p:cNvSpPr/>
          <p:nvPr/>
        </p:nvSpPr>
        <p:spPr>
          <a:xfrm>
            <a:off x="4983480" y="1234440"/>
            <a:ext cx="2011680"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[+10,0 ; +13,1]</a:t>
            </a:r>
            <a:endParaRPr lang="en-US" sz="1300" dirty="0"/>
          </a:p>
        </p:txBody>
      </p:sp>
      <p:sp>
        <p:nvSpPr>
          <p:cNvPr id="12" name="Text 10"/>
          <p:cNvSpPr/>
          <p:nvPr/>
        </p:nvSpPr>
        <p:spPr>
          <a:xfrm>
            <a:off x="6995160" y="1234440"/>
            <a:ext cx="1636776" cy="402336"/>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&lt;0,001</a:t>
            </a:r>
            <a:endParaRPr lang="en-US" sz="1300" dirty="0"/>
          </a:p>
        </p:txBody>
      </p:sp>
      <p:sp>
        <p:nvSpPr>
          <p:cNvPr id="13" name="Shape 11"/>
          <p:cNvSpPr/>
          <p:nvPr/>
        </p:nvSpPr>
        <p:spPr>
          <a:xfrm>
            <a:off x="502920" y="1636776"/>
            <a:ext cx="8129016" cy="0"/>
          </a:xfrm>
          <a:prstGeom prst="line">
            <a:avLst/>
          </a:prstGeom>
          <a:noFill/>
          <a:ln w="12700">
            <a:solidFill>
              <a:srgbClr val="9A94AE"/>
            </a:solidFill>
            <a:prstDash val="solid"/>
          </a:ln>
        </p:spPr>
      </p:sp>
      <p:sp>
        <p:nvSpPr>
          <p:cNvPr id="14" name="Text 12"/>
          <p:cNvSpPr/>
          <p:nvPr/>
        </p:nvSpPr>
        <p:spPr>
          <a:xfrm>
            <a:off x="502920" y="1636776"/>
            <a:ext cx="3108960" cy="384048"/>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Trần − S1</a:t>
            </a:r>
            <a:endParaRPr lang="en-US" sz="1300" dirty="0"/>
          </a:p>
        </p:txBody>
      </p:sp>
      <p:sp>
        <p:nvSpPr>
          <p:cNvPr id="15" name="Text 13"/>
          <p:cNvSpPr/>
          <p:nvPr/>
        </p:nvSpPr>
        <p:spPr>
          <a:xfrm>
            <a:off x="3611880" y="1636776"/>
            <a:ext cx="137160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+16,6</a:t>
            </a:r>
            <a:endParaRPr lang="en-US" sz="1300" dirty="0"/>
          </a:p>
        </p:txBody>
      </p:sp>
      <p:sp>
        <p:nvSpPr>
          <p:cNvPr id="16" name="Text 14"/>
          <p:cNvSpPr/>
          <p:nvPr/>
        </p:nvSpPr>
        <p:spPr>
          <a:xfrm>
            <a:off x="4983480" y="1636776"/>
            <a:ext cx="201168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a:t>
            </a:r>
            <a:endParaRPr lang="en-US" sz="1300" dirty="0"/>
          </a:p>
        </p:txBody>
      </p:sp>
      <p:sp>
        <p:nvSpPr>
          <p:cNvPr id="17" name="Text 15"/>
          <p:cNvSpPr/>
          <p:nvPr/>
        </p:nvSpPr>
        <p:spPr>
          <a:xfrm>
            <a:off x="6995160" y="1636776"/>
            <a:ext cx="1636776"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&lt;0,001</a:t>
            </a:r>
            <a:endParaRPr lang="en-US" sz="1300" dirty="0"/>
          </a:p>
        </p:txBody>
      </p:sp>
      <p:sp>
        <p:nvSpPr>
          <p:cNvPr id="18" name="Shape 16"/>
          <p:cNvSpPr/>
          <p:nvPr/>
        </p:nvSpPr>
        <p:spPr>
          <a:xfrm>
            <a:off x="502920" y="2020824"/>
            <a:ext cx="8129016" cy="0"/>
          </a:xfrm>
          <a:prstGeom prst="line">
            <a:avLst/>
          </a:prstGeom>
          <a:noFill/>
          <a:ln w="12700">
            <a:solidFill>
              <a:srgbClr val="9A94AE"/>
            </a:solidFill>
            <a:prstDash val="solid"/>
          </a:ln>
        </p:spPr>
      </p:sp>
      <p:sp>
        <p:nvSpPr>
          <p:cNvPr id="19" name="Text 17"/>
          <p:cNvSpPr/>
          <p:nvPr/>
        </p:nvSpPr>
        <p:spPr>
          <a:xfrm>
            <a:off x="502920" y="2020824"/>
            <a:ext cx="3108960" cy="384048"/>
          </a:xfrm>
          <a:prstGeom prst="rect">
            <a:avLst/>
          </a:prstGeom>
          <a:noFill/>
          <a:ln/>
        </p:spPr>
        <p:txBody>
          <a:bodyPr wrap="square" lIns="38100" tIns="38100" rIns="38100" bIns="38100" rtlCol="0" anchor="ctr"/>
          <a:lstStyle/>
          <a:p>
            <a:pPr algn="l" indent="0" marL="0">
              <a:buNone/>
            </a:pPr>
            <a:r>
              <a:rPr lang="en-US" sz="1300" dirty="0">
                <a:solidFill>
                  <a:srgbClr val="1A1A1A"/>
                </a:solidFill>
                <a:latin typeface="Cambria" pitchFamily="34" charset="0"/>
                <a:ea typeface="Cambria" pitchFamily="34" charset="-122"/>
                <a:cs typeface="Cambria" pitchFamily="34" charset="-120"/>
              </a:rPr>
              <a:t>Nhiễu giữa hai hạt giống</a:t>
            </a:r>
            <a:endParaRPr lang="en-US" sz="1300" dirty="0"/>
          </a:p>
        </p:txBody>
      </p:sp>
      <p:sp>
        <p:nvSpPr>
          <p:cNvPr id="20" name="Text 18"/>
          <p:cNvSpPr/>
          <p:nvPr/>
        </p:nvSpPr>
        <p:spPr>
          <a:xfrm>
            <a:off x="3611880" y="2020824"/>
            <a:ext cx="137160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+0,52</a:t>
            </a:r>
            <a:endParaRPr lang="en-US" sz="1300" dirty="0"/>
          </a:p>
        </p:txBody>
      </p:sp>
      <p:sp>
        <p:nvSpPr>
          <p:cNvPr id="21" name="Text 19"/>
          <p:cNvSpPr/>
          <p:nvPr/>
        </p:nvSpPr>
        <p:spPr>
          <a:xfrm>
            <a:off x="4983480" y="2020824"/>
            <a:ext cx="2011680"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[−0,22 ; +1,26]</a:t>
            </a:r>
            <a:endParaRPr lang="en-US" sz="1300" dirty="0"/>
          </a:p>
        </p:txBody>
      </p:sp>
      <p:sp>
        <p:nvSpPr>
          <p:cNvPr id="22" name="Text 20"/>
          <p:cNvSpPr/>
          <p:nvPr/>
        </p:nvSpPr>
        <p:spPr>
          <a:xfrm>
            <a:off x="6995160" y="2020824"/>
            <a:ext cx="1636776" cy="384048"/>
          </a:xfrm>
          <a:prstGeom prst="rect">
            <a:avLst/>
          </a:prstGeom>
          <a:noFill/>
          <a:ln/>
        </p:spPr>
        <p:txBody>
          <a:bodyPr wrap="square" lIns="38100" tIns="38100" rIns="38100" bIns="38100" rtlCol="0" anchor="ctr"/>
          <a:lstStyle/>
          <a:p>
            <a:pPr algn="ctr" indent="0" marL="0">
              <a:buNone/>
            </a:pPr>
            <a:r>
              <a:rPr lang="en-US" sz="1300" dirty="0">
                <a:solidFill>
                  <a:srgbClr val="1A1A1A"/>
                </a:solidFill>
                <a:latin typeface="Cambria" pitchFamily="34" charset="0"/>
                <a:ea typeface="Cambria" pitchFamily="34" charset="-122"/>
                <a:cs typeface="Cambria" pitchFamily="34" charset="-120"/>
              </a:rPr>
              <a:t>0,194</a:t>
            </a:r>
            <a:endParaRPr lang="en-US" sz="1300" dirty="0"/>
          </a:p>
        </p:txBody>
      </p:sp>
      <p:sp>
        <p:nvSpPr>
          <p:cNvPr id="23" name="Text 21"/>
          <p:cNvSpPr/>
          <p:nvPr/>
        </p:nvSpPr>
        <p:spPr>
          <a:xfrm>
            <a:off x="502920" y="2578608"/>
            <a:ext cx="8138160" cy="548640"/>
          </a:xfrm>
          <a:prstGeom prst="rect">
            <a:avLst/>
          </a:prstGeom>
          <a:noFill/>
          <a:ln/>
        </p:spPr>
        <p:txBody>
          <a:bodyPr wrap="square" lIns="0" tIns="0" rIns="0" bIns="0" rtlCol="0" anchor="t"/>
          <a:lstStyle/>
          <a:p>
            <a:pPr algn="l" indent="0" marL="0">
              <a:lnSpc>
                <a:spcPct val="130000"/>
              </a:lnSpc>
              <a:buNone/>
            </a:pPr>
            <a:r>
              <a:rPr lang="en-US" sz="1350" b="1" dirty="0">
                <a:solidFill>
                  <a:srgbClr val="322164"/>
                </a:solidFill>
                <a:latin typeface="Cambria" pitchFamily="34" charset="0"/>
                <a:ea typeface="Cambria" pitchFamily="34" charset="-122"/>
                <a:cs typeface="Cambria" pitchFamily="34" charset="-120"/>
              </a:rPr>
              <a:t>Tín hiệu gấp 22 lần nhiễu. Bỏ hết bước mô hình chép nguyên câu chuẩn thì khoảng cách vẫn còn 8,4 điểm.</a:t>
            </a:r>
            <a:endParaRPr lang="en-US" sz="1350" dirty="0"/>
          </a:p>
        </p:txBody>
      </p:sp>
      <p:sp>
        <p:nvSpPr>
          <p:cNvPr id="24" name="Text 22"/>
          <p:cNvSpPr/>
          <p:nvPr/>
        </p:nvSpPr>
        <p:spPr>
          <a:xfrm>
            <a:off x="502920" y="3200400"/>
            <a:ext cx="8138160" cy="292608"/>
          </a:xfrm>
          <a:prstGeom prst="rect">
            <a:avLst/>
          </a:prstGeom>
          <a:noFill/>
          <a:ln/>
        </p:spPr>
        <p:txBody>
          <a:bodyPr wrap="square" lIns="0" tIns="0" rIns="0" bIns="0" rtlCol="0" anchor="t"/>
          <a:lstStyle/>
          <a:p>
            <a:pPr algn="l" indent="0" marL="0">
              <a:buNone/>
            </a:pPr>
            <a:r>
              <a:rPr lang="en-US" sz="1350" b="1" dirty="0">
                <a:solidFill>
                  <a:srgbClr val="322164"/>
                </a:solidFill>
                <a:latin typeface="Cambria" pitchFamily="34" charset="0"/>
                <a:ea typeface="Cambria" pitchFamily="34" charset="-122"/>
                <a:cs typeface="Cambria" pitchFamily="34" charset="-120"/>
              </a:rPr>
              <a:t>Sáu cách giải thích thay thế đã kiểm</a:t>
            </a:r>
            <a:endParaRPr lang="en-US" sz="1350" dirty="0"/>
          </a:p>
        </p:txBody>
      </p:sp>
      <p:sp>
        <p:nvSpPr>
          <p:cNvPr id="25" name="Shape 23"/>
          <p:cNvSpPr/>
          <p:nvPr/>
        </p:nvSpPr>
        <p:spPr>
          <a:xfrm>
            <a:off x="502920" y="3611880"/>
            <a:ext cx="4023360" cy="493776"/>
          </a:xfrm>
          <a:prstGeom prst="roundRect">
            <a:avLst>
              <a:gd name="adj" fmla="val 7407"/>
            </a:avLst>
          </a:prstGeom>
          <a:solidFill>
            <a:srgbClr val="E9E8EC"/>
          </a:solidFill>
          <a:ln/>
        </p:spPr>
      </p:sp>
      <p:sp>
        <p:nvSpPr>
          <p:cNvPr id="26" name="Text 24"/>
          <p:cNvSpPr/>
          <p:nvPr/>
        </p:nvSpPr>
        <p:spPr>
          <a:xfrm>
            <a:off x="612648" y="3611880"/>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Chép lại câu chuẩn</a:t>
            </a:r>
            <a:endParaRPr lang="en-US" sz="1150" dirty="0"/>
          </a:p>
        </p:txBody>
      </p:sp>
      <p:sp>
        <p:nvSpPr>
          <p:cNvPr id="27" name="Text 25"/>
          <p:cNvSpPr/>
          <p:nvPr/>
        </p:nvSpPr>
        <p:spPr>
          <a:xfrm>
            <a:off x="2880360" y="3611880"/>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vẫn còn 8,4 điểm</a:t>
            </a:r>
            <a:endParaRPr lang="en-US" sz="1100" dirty="0"/>
          </a:p>
        </p:txBody>
      </p:sp>
      <p:sp>
        <p:nvSpPr>
          <p:cNvPr id="28" name="Shape 26"/>
          <p:cNvSpPr/>
          <p:nvPr/>
        </p:nvSpPr>
        <p:spPr>
          <a:xfrm>
            <a:off x="4572000" y="3611880"/>
            <a:ext cx="4023360" cy="493776"/>
          </a:xfrm>
          <a:prstGeom prst="roundRect">
            <a:avLst>
              <a:gd name="adj" fmla="val 7407"/>
            </a:avLst>
          </a:prstGeom>
          <a:solidFill>
            <a:srgbClr val="E9E8EC"/>
          </a:solidFill>
          <a:ln/>
        </p:spPr>
      </p:sp>
      <p:sp>
        <p:nvSpPr>
          <p:cNvPr id="29" name="Text 27"/>
          <p:cNvSpPr/>
          <p:nvPr/>
        </p:nvSpPr>
        <p:spPr>
          <a:xfrm>
            <a:off x="4681728" y="3611880"/>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Thiên vị độ dài câu</a:t>
            </a:r>
            <a:endParaRPr lang="en-US" sz="1150" dirty="0"/>
          </a:p>
        </p:txBody>
      </p:sp>
      <p:sp>
        <p:nvSpPr>
          <p:cNvPr id="30" name="Text 28"/>
          <p:cNvSpPr/>
          <p:nvPr/>
        </p:nvSpPr>
        <p:spPr>
          <a:xfrm>
            <a:off x="6949440" y="3611880"/>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nghiêng về phía Base</a:t>
            </a:r>
            <a:endParaRPr lang="en-US" sz="1100" dirty="0"/>
          </a:p>
        </p:txBody>
      </p:sp>
      <p:sp>
        <p:nvSpPr>
          <p:cNvPr id="31" name="Shape 29"/>
          <p:cNvSpPr/>
          <p:nvPr/>
        </p:nvSpPr>
        <p:spPr>
          <a:xfrm>
            <a:off x="502920" y="4178808"/>
            <a:ext cx="4023360" cy="493776"/>
          </a:xfrm>
          <a:prstGeom prst="roundRect">
            <a:avLst>
              <a:gd name="adj" fmla="val 7407"/>
            </a:avLst>
          </a:prstGeom>
          <a:solidFill>
            <a:srgbClr val="E9E8EC"/>
          </a:solidFill>
          <a:ln/>
        </p:spPr>
      </p:sp>
      <p:sp>
        <p:nvSpPr>
          <p:cNvPr id="32" name="Text 30"/>
          <p:cNvSpPr/>
          <p:nvPr/>
        </p:nvSpPr>
        <p:spPr>
          <a:xfrm>
            <a:off x="612648" y="4178808"/>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Trùng ứng dụng dạy và kiểm</a:t>
            </a:r>
            <a:endParaRPr lang="en-US" sz="1150" dirty="0"/>
          </a:p>
        </p:txBody>
      </p:sp>
      <p:sp>
        <p:nvSpPr>
          <p:cNvPr id="33" name="Text 31"/>
          <p:cNvSpPr/>
          <p:nvPr/>
        </p:nvSpPr>
        <p:spPr>
          <a:xfrm>
            <a:off x="2880360" y="4178808"/>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không thấy ảnh hưởng</a:t>
            </a:r>
            <a:endParaRPr lang="en-US" sz="1100" dirty="0"/>
          </a:p>
        </p:txBody>
      </p:sp>
      <p:sp>
        <p:nvSpPr>
          <p:cNvPr id="34" name="Shape 32"/>
          <p:cNvSpPr/>
          <p:nvPr/>
        </p:nvSpPr>
        <p:spPr>
          <a:xfrm>
            <a:off x="4572000" y="4178808"/>
            <a:ext cx="4023360" cy="493776"/>
          </a:xfrm>
          <a:prstGeom prst="roundRect">
            <a:avLst>
              <a:gd name="adj" fmla="val 7407"/>
            </a:avLst>
          </a:prstGeom>
          <a:solidFill>
            <a:srgbClr val="E9E8EC"/>
          </a:solidFill>
          <a:ln/>
        </p:spPr>
      </p:sp>
      <p:sp>
        <p:nvSpPr>
          <p:cNvPr id="35" name="Text 33"/>
          <p:cNvSpPr/>
          <p:nvPr/>
        </p:nvSpPr>
        <p:spPr>
          <a:xfrm>
            <a:off x="4681728" y="4178808"/>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Luật chấm chọn có lợi</a:t>
            </a:r>
            <a:endParaRPr lang="en-US" sz="1150" dirty="0"/>
          </a:p>
        </p:txBody>
      </p:sp>
      <p:sp>
        <p:nvSpPr>
          <p:cNvPr id="36" name="Text 34"/>
          <p:cNvSpPr/>
          <p:nvPr/>
        </p:nvSpPr>
        <p:spPr>
          <a:xfrm>
            <a:off x="6949440" y="4178808"/>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năm luật không đổi thứ tự</a:t>
            </a:r>
            <a:endParaRPr lang="en-US" sz="1100" dirty="0"/>
          </a:p>
        </p:txBody>
      </p:sp>
      <p:sp>
        <p:nvSpPr>
          <p:cNvPr id="37" name="Shape 35"/>
          <p:cNvSpPr/>
          <p:nvPr/>
        </p:nvSpPr>
        <p:spPr>
          <a:xfrm>
            <a:off x="502920" y="4745736"/>
            <a:ext cx="4023360" cy="493776"/>
          </a:xfrm>
          <a:prstGeom prst="roundRect">
            <a:avLst>
              <a:gd name="adj" fmla="val 7407"/>
            </a:avLst>
          </a:prstGeom>
          <a:solidFill>
            <a:srgbClr val="E9E8EC"/>
          </a:solidFill>
          <a:ln/>
        </p:spPr>
      </p:sp>
      <p:sp>
        <p:nvSpPr>
          <p:cNvPr id="38" name="Text 36"/>
          <p:cNvSpPr/>
          <p:nvPr/>
        </p:nvSpPr>
        <p:spPr>
          <a:xfrm>
            <a:off x="612648" y="4745736"/>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Thước mong manh trước diễn đạt</a:t>
            </a:r>
            <a:endParaRPr lang="en-US" sz="1150" dirty="0"/>
          </a:p>
        </p:txBody>
      </p:sp>
      <p:sp>
        <p:nvSpPr>
          <p:cNvPr id="39" name="Text 37"/>
          <p:cNvSpPr/>
          <p:nvPr/>
        </p:nvSpPr>
        <p:spPr>
          <a:xfrm>
            <a:off x="2880360" y="4745736"/>
            <a:ext cx="1554480" cy="493776"/>
          </a:xfrm>
          <a:prstGeom prst="rect">
            <a:avLst/>
          </a:prstGeom>
          <a:noFill/>
          <a:ln/>
        </p:spPr>
        <p:txBody>
          <a:bodyPr wrap="square" lIns="0" tIns="0" rIns="0" bIns="0" rtlCol="0" anchor="ctr"/>
          <a:lstStyle/>
          <a:p>
            <a:pPr algn="r" indent="0" marL="0">
              <a:buNone/>
            </a:pPr>
            <a:r>
              <a:rPr lang="en-US" sz="1100" b="1" dirty="0">
                <a:solidFill>
                  <a:srgbClr val="006666"/>
                </a:solidFill>
                <a:latin typeface="Cambria" pitchFamily="34" charset="0"/>
                <a:ea typeface="Cambria" pitchFamily="34" charset="-122"/>
                <a:cs typeface="Cambria" pitchFamily="34" charset="-120"/>
              </a:rPr>
              <a:t>+0,35 trên 1.139 câu</a:t>
            </a:r>
            <a:endParaRPr lang="en-US" sz="1100" dirty="0"/>
          </a:p>
        </p:txBody>
      </p:sp>
      <p:sp>
        <p:nvSpPr>
          <p:cNvPr id="40" name="Shape 38"/>
          <p:cNvSpPr/>
          <p:nvPr/>
        </p:nvSpPr>
        <p:spPr>
          <a:xfrm>
            <a:off x="4572000" y="4745736"/>
            <a:ext cx="4023360" cy="493776"/>
          </a:xfrm>
          <a:prstGeom prst="roundRect">
            <a:avLst>
              <a:gd name="adj" fmla="val 7407"/>
            </a:avLst>
          </a:prstGeom>
          <a:solidFill>
            <a:srgbClr val="E9E8EC"/>
          </a:solidFill>
          <a:ln/>
        </p:spPr>
      </p:sp>
      <p:sp>
        <p:nvSpPr>
          <p:cNvPr id="41" name="Text 39"/>
          <p:cNvSpPr/>
          <p:nvPr/>
        </p:nvSpPr>
        <p:spPr>
          <a:xfrm>
            <a:off x="4681728" y="4745736"/>
            <a:ext cx="2286000" cy="493776"/>
          </a:xfrm>
          <a:prstGeom prst="rect">
            <a:avLst/>
          </a:prstGeom>
          <a:noFill/>
          <a:ln/>
        </p:spPr>
        <p:txBody>
          <a:bodyPr wrap="square" lIns="0" tIns="0" rIns="0" bIns="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Dụng cụ quen văn phong</a:t>
            </a:r>
            <a:endParaRPr lang="en-US" sz="1150" dirty="0"/>
          </a:p>
        </p:txBody>
      </p:sp>
      <p:sp>
        <p:nvSpPr>
          <p:cNvPr id="42" name="Text 40"/>
          <p:cNvSpPr/>
          <p:nvPr/>
        </p:nvSpPr>
        <p:spPr>
          <a:xfrm>
            <a:off x="6949440" y="4745736"/>
            <a:ext cx="1554480" cy="493776"/>
          </a:xfrm>
          <a:prstGeom prst="rect">
            <a:avLst/>
          </a:prstGeom>
          <a:noFill/>
          <a:ln/>
        </p:spPr>
        <p:txBody>
          <a:bodyPr wrap="square" lIns="0" tIns="0" rIns="0" bIns="0" rtlCol="0" anchor="ctr"/>
          <a:lstStyle/>
          <a:p>
            <a:pPr algn="r" indent="0" marL="0">
              <a:buNone/>
            </a:pPr>
            <a:r>
              <a:rPr lang="en-US" sz="1100" b="1" dirty="0">
                <a:solidFill>
                  <a:srgbClr val="990000"/>
                </a:solidFill>
                <a:latin typeface="Cambria" pitchFamily="34" charset="0"/>
                <a:ea typeface="Cambria" pitchFamily="34" charset="-122"/>
                <a:cs typeface="Cambria" pitchFamily="34" charset="-120"/>
              </a:rPr>
              <a:t>chỉ đóng sau khi đổi dụng cụ</a:t>
            </a:r>
            <a:endParaRPr lang="en-US" sz="1100" dirty="0"/>
          </a:p>
        </p:txBody>
      </p:sp>
      <p:sp>
        <p:nvSpPr>
          <p:cNvPr id="44" name="Shape 41"/>
          <p:cNvSpPr/>
          <p:nvPr/>
        </p:nvSpPr>
        <p:spPr>
          <a:xfrm>
            <a:off x="0" y="6620256"/>
            <a:ext cx="2743200" cy="237744"/>
          </a:xfrm>
          <a:prstGeom prst="rect">
            <a:avLst/>
          </a:prstGeom>
          <a:solidFill>
            <a:srgbClr val="191132"/>
          </a:solidFill>
          <a:ln/>
        </p:spPr>
      </p:sp>
      <p:sp>
        <p:nvSpPr>
          <p:cNvPr id="45" name="Shape 42"/>
          <p:cNvSpPr/>
          <p:nvPr/>
        </p:nvSpPr>
        <p:spPr>
          <a:xfrm>
            <a:off x="2743200" y="6620256"/>
            <a:ext cx="3383280" cy="237744"/>
          </a:xfrm>
          <a:prstGeom prst="rect">
            <a:avLst/>
          </a:prstGeom>
          <a:solidFill>
            <a:srgbClr val="25194B"/>
          </a:solidFill>
          <a:ln/>
        </p:spPr>
      </p:sp>
      <p:sp>
        <p:nvSpPr>
          <p:cNvPr id="46" name="Shape 43"/>
          <p:cNvSpPr/>
          <p:nvPr/>
        </p:nvSpPr>
        <p:spPr>
          <a:xfrm>
            <a:off x="6126480" y="6620256"/>
            <a:ext cx="1737360" cy="237744"/>
          </a:xfrm>
          <a:prstGeom prst="rect">
            <a:avLst/>
          </a:prstGeom>
          <a:solidFill>
            <a:srgbClr val="4F417A"/>
          </a:solidFill>
          <a:ln/>
        </p:spPr>
      </p:sp>
      <p:sp>
        <p:nvSpPr>
          <p:cNvPr id="47" name="Shape 44"/>
          <p:cNvSpPr/>
          <p:nvPr/>
        </p:nvSpPr>
        <p:spPr>
          <a:xfrm>
            <a:off x="7863840" y="6620256"/>
            <a:ext cx="1280160" cy="237744"/>
          </a:xfrm>
          <a:prstGeom prst="rect">
            <a:avLst/>
          </a:prstGeom>
          <a:solidFill>
            <a:srgbClr val="7A7099"/>
          </a:solidFill>
          <a:ln/>
        </p:spPr>
      </p:sp>
      <p:sp>
        <p:nvSpPr>
          <p:cNvPr id="48" name="Text 4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49" name="Text 4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50" name="Text 4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1" name="Text 4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17/26</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Nhánh khai báo: một hạt giống, không kết luận được</a:t>
            </a:r>
            <a:endParaRPr lang="en-US" sz="1900" dirty="0"/>
          </a:p>
        </p:txBody>
      </p:sp>
      <p:sp>
        <p:nvSpPr>
          <p:cNvPr id="4" name="Shape 2"/>
          <p:cNvSpPr/>
          <p:nvPr/>
        </p:nvSpPr>
        <p:spPr>
          <a:xfrm>
            <a:off x="502920" y="868680"/>
            <a:ext cx="8138160" cy="914400"/>
          </a:xfrm>
          <a:prstGeom prst="roundRect">
            <a:avLst>
              <a:gd name="adj" fmla="val 6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731520" y="868680"/>
            <a:ext cx="7680960" cy="914400"/>
          </a:xfrm>
          <a:prstGeom prst="rect">
            <a:avLst/>
          </a:prstGeom>
          <a:noFill/>
          <a:ln/>
        </p:spPr>
        <p:txBody>
          <a:bodyPr wrap="square" lIns="0" tIns="0" rIns="0" bIns="0" rtlCol="0" anchor="ctr"/>
          <a:lstStyle/>
          <a:p>
            <a:pPr algn="l" indent="0" marL="0">
              <a:lnSpc>
                <a:spcPct val="135000"/>
              </a:lnSpc>
              <a:buNone/>
            </a:pPr>
            <a:r>
              <a:rPr lang="en-US" sz="1400" b="1" dirty="0">
                <a:solidFill>
                  <a:srgbClr val="B22222"/>
                </a:solidFill>
                <a:latin typeface="Cambria" pitchFamily="34" charset="0"/>
                <a:ea typeface="Cambria" pitchFamily="34" charset="-122"/>
                <a:cs typeface="Cambria" pitchFamily="34" charset="-120"/>
              </a:rPr>
              <a:t>S2 đạt 57,2%, thấp hơn nhánh nền 1,93 điểm.</a:t>
            </a:r>
            <a:pPr algn="l" indent="0" marL="0">
              <a:lnSpc>
                <a:spcPct val="135000"/>
              </a:lnSpc>
              <a:buNone/>
            </a:pPr>
            <a:r>
              <a:rPr lang="en-US" sz="1400" dirty="0">
                <a:solidFill>
                  <a:srgbClr val="1A1A1A"/>
                </a:solidFill>
                <a:latin typeface="Cambria" pitchFamily="34" charset="0"/>
                <a:ea typeface="Cambria" pitchFamily="34" charset="-122"/>
                <a:cs typeface="Cambria" pitchFamily="34" charset="-120"/>
              </a:rPr>
              <a:t>  Độ lớn đó dưới mức phát hiện 2,2 nên không kết luận được.</a:t>
            </a:r>
            <a:endParaRPr lang="en-US" sz="1400" dirty="0"/>
          </a:p>
        </p:txBody>
      </p:sp>
      <p:sp>
        <p:nvSpPr>
          <p:cNvPr id="6" name="Text 4"/>
          <p:cNvSpPr/>
          <p:nvPr/>
        </p:nvSpPr>
        <p:spPr>
          <a:xfrm>
            <a:off x="502920" y="1965960"/>
            <a:ext cx="4023360" cy="292608"/>
          </a:xfrm>
          <a:prstGeom prst="rect">
            <a:avLst/>
          </a:prstGeom>
          <a:noFill/>
          <a:ln/>
        </p:spPr>
        <p:txBody>
          <a:bodyPr wrap="square" lIns="0" tIns="0" rIns="0" bIns="0" rtlCol="0" anchor="t"/>
          <a:lstStyle/>
          <a:p>
            <a:pPr algn="l" indent="0" marL="0">
              <a:buNone/>
            </a:pPr>
            <a:r>
              <a:rPr lang="en-US" sz="1350" b="1" dirty="0">
                <a:solidFill>
                  <a:srgbClr val="322164"/>
                </a:solidFill>
                <a:latin typeface="Cambria" pitchFamily="34" charset="0"/>
                <a:ea typeface="Cambria" pitchFamily="34" charset="-122"/>
                <a:cs typeface="Cambria" pitchFamily="34" charset="-120"/>
              </a:rPr>
              <a:t>Vì sao không kết luận được</a:t>
            </a:r>
            <a:endParaRPr lang="en-US" sz="1350" dirty="0"/>
          </a:p>
        </p:txBody>
      </p:sp>
      <p:sp>
        <p:nvSpPr>
          <p:cNvPr id="7" name="Text 5"/>
          <p:cNvSpPr/>
          <p:nvPr/>
        </p:nvSpPr>
        <p:spPr>
          <a:xfrm>
            <a:off x="502920" y="2377440"/>
            <a:ext cx="201168" cy="71323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8" name="Text 6"/>
          <p:cNvSpPr/>
          <p:nvPr/>
        </p:nvSpPr>
        <p:spPr>
          <a:xfrm>
            <a:off x="731520" y="2377440"/>
            <a:ext cx="3794760" cy="67665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Đại lượng chính đòi hai hạt giống; hạt thứ hai bị huỷ vì ngân sách</a:t>
            </a:r>
            <a:endParaRPr lang="en-US" sz="1250" dirty="0"/>
          </a:p>
        </p:txBody>
      </p:sp>
      <p:sp>
        <p:nvSpPr>
          <p:cNvPr id="9" name="Text 7"/>
          <p:cNvSpPr/>
          <p:nvPr/>
        </p:nvSpPr>
        <p:spPr>
          <a:xfrm>
            <a:off x="502920" y="3090672"/>
            <a:ext cx="201168" cy="71323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0" name="Text 8"/>
          <p:cNvSpPr/>
          <p:nvPr/>
        </p:nvSpPr>
        <p:spPr>
          <a:xfrm>
            <a:off x="731520" y="3090672"/>
            <a:ext cx="3794760" cy="67665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Luận văn không kết luận thành phần có tác dụng hay gây hại</a:t>
            </a:r>
            <a:endParaRPr lang="en-US" sz="1250" dirty="0"/>
          </a:p>
        </p:txBody>
      </p:sp>
      <p:sp>
        <p:nvSpPr>
          <p:cNvPr id="11" name="Text 9"/>
          <p:cNvSpPr/>
          <p:nvPr/>
        </p:nvSpPr>
        <p:spPr>
          <a:xfrm>
            <a:off x="502920" y="3803904"/>
            <a:ext cx="201168" cy="71323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2" name="Text 10"/>
          <p:cNvSpPr/>
          <p:nvPr/>
        </p:nvSpPr>
        <p:spPr>
          <a:xfrm>
            <a:off x="731520" y="3803904"/>
            <a:ext cx="3794760" cy="67665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Cũng không lấy phép so khác để thế chỗ</a:t>
            </a:r>
            <a:endParaRPr lang="en-US" sz="1250" dirty="0"/>
          </a:p>
        </p:txBody>
      </p:sp>
      <p:sp>
        <p:nvSpPr>
          <p:cNvPr id="13" name="Text 11"/>
          <p:cNvSpPr/>
          <p:nvPr/>
        </p:nvSpPr>
        <p:spPr>
          <a:xfrm>
            <a:off x="4663440" y="1965960"/>
            <a:ext cx="3977640" cy="292608"/>
          </a:xfrm>
          <a:prstGeom prst="rect">
            <a:avLst/>
          </a:prstGeom>
          <a:noFill/>
          <a:ln/>
        </p:spPr>
        <p:txBody>
          <a:bodyPr wrap="square" lIns="0" tIns="0" rIns="0" bIns="0" rtlCol="0" anchor="t"/>
          <a:lstStyle/>
          <a:p>
            <a:pPr algn="l" indent="0" marL="0">
              <a:buNone/>
            </a:pPr>
            <a:r>
              <a:rPr lang="en-US" sz="1350" b="1" dirty="0">
                <a:solidFill>
                  <a:srgbClr val="322164"/>
                </a:solidFill>
                <a:latin typeface="Cambria" pitchFamily="34" charset="0"/>
                <a:ea typeface="Cambria" pitchFamily="34" charset="-122"/>
                <a:cs typeface="Cambria" pitchFamily="34" charset="-120"/>
              </a:rPr>
              <a:t>Chỗ thiệt hại nằm ở đâu</a:t>
            </a:r>
            <a:endParaRPr lang="en-US" sz="1350" dirty="0"/>
          </a:p>
        </p:txBody>
      </p:sp>
      <p:sp>
        <p:nvSpPr>
          <p:cNvPr id="14" name="Shape 12"/>
          <p:cNvSpPr/>
          <p:nvPr/>
        </p:nvSpPr>
        <p:spPr>
          <a:xfrm>
            <a:off x="4663440" y="2377440"/>
            <a:ext cx="3977640" cy="347472"/>
          </a:xfrm>
          <a:prstGeom prst="rect">
            <a:avLst/>
          </a:prstGeom>
          <a:solidFill>
            <a:srgbClr val="322164"/>
          </a:solidFill>
          <a:ln/>
        </p:spPr>
      </p:sp>
      <p:sp>
        <p:nvSpPr>
          <p:cNvPr id="15" name="Text 13"/>
          <p:cNvSpPr/>
          <p:nvPr/>
        </p:nvSpPr>
        <p:spPr>
          <a:xfrm>
            <a:off x="4663440" y="2377440"/>
            <a:ext cx="2011680" cy="347472"/>
          </a:xfrm>
          <a:prstGeom prst="rect">
            <a:avLst/>
          </a:prstGeom>
          <a:noFill/>
          <a:ln/>
        </p:spPr>
        <p:txBody>
          <a:bodyPr wrap="square" lIns="38100" tIns="38100" rIns="38100" bIns="38100" rtlCol="0" anchor="ctr"/>
          <a:lstStyle/>
          <a:p>
            <a:pPr algn="l" indent="0" marL="0">
              <a:buNone/>
            </a:pPr>
            <a:r>
              <a:rPr lang="en-US" sz="1100" b="1" dirty="0">
                <a:solidFill>
                  <a:srgbClr val="FFFFFF"/>
                </a:solidFill>
                <a:latin typeface="Cambria" pitchFamily="34" charset="0"/>
                <a:ea typeface="Cambria" pitchFamily="34" charset="-122"/>
                <a:cs typeface="Cambria" pitchFamily="34" charset="-120"/>
              </a:rPr>
              <a:t>Nhóm bước</a:t>
            </a:r>
            <a:endParaRPr lang="en-US" sz="1100" dirty="0"/>
          </a:p>
        </p:txBody>
      </p:sp>
      <p:sp>
        <p:nvSpPr>
          <p:cNvPr id="16" name="Text 14"/>
          <p:cNvSpPr/>
          <p:nvPr/>
        </p:nvSpPr>
        <p:spPr>
          <a:xfrm>
            <a:off x="6675120" y="2377440"/>
            <a:ext cx="640080" cy="347472"/>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S1</a:t>
            </a:r>
            <a:endParaRPr lang="en-US" sz="1100" dirty="0"/>
          </a:p>
        </p:txBody>
      </p:sp>
      <p:sp>
        <p:nvSpPr>
          <p:cNvPr id="17" name="Text 15"/>
          <p:cNvSpPr/>
          <p:nvPr/>
        </p:nvSpPr>
        <p:spPr>
          <a:xfrm>
            <a:off x="7315200" y="2377440"/>
            <a:ext cx="640080" cy="347472"/>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S2</a:t>
            </a:r>
            <a:endParaRPr lang="en-US" sz="1100" dirty="0"/>
          </a:p>
        </p:txBody>
      </p:sp>
      <p:sp>
        <p:nvSpPr>
          <p:cNvPr id="18" name="Text 16"/>
          <p:cNvSpPr/>
          <p:nvPr/>
        </p:nvSpPr>
        <p:spPr>
          <a:xfrm>
            <a:off x="7955280" y="2377440"/>
            <a:ext cx="685800" cy="347472"/>
          </a:xfrm>
          <a:prstGeom prst="rect">
            <a:avLst/>
          </a:prstGeom>
          <a:noFill/>
          <a:ln/>
        </p:spPr>
        <p:txBody>
          <a:bodyPr wrap="square" lIns="38100" tIns="38100" rIns="38100" bIns="3810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Δ</a:t>
            </a:r>
            <a:endParaRPr lang="en-US" sz="1100" dirty="0"/>
          </a:p>
        </p:txBody>
      </p:sp>
      <p:sp>
        <p:nvSpPr>
          <p:cNvPr id="19" name="Text 17"/>
          <p:cNvSpPr/>
          <p:nvPr/>
        </p:nvSpPr>
        <p:spPr>
          <a:xfrm>
            <a:off x="4663440" y="2724912"/>
            <a:ext cx="201168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Có sinh khai báo (4.138)</a:t>
            </a:r>
            <a:endParaRPr lang="en-US" sz="1150" dirty="0"/>
          </a:p>
        </p:txBody>
      </p:sp>
      <p:sp>
        <p:nvSpPr>
          <p:cNvPr id="20" name="Text 18"/>
          <p:cNvSpPr/>
          <p:nvPr/>
        </p:nvSpPr>
        <p:spPr>
          <a:xfrm>
            <a:off x="6675120" y="2724912"/>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62,2</a:t>
            </a:r>
            <a:endParaRPr lang="en-US" sz="1150" dirty="0"/>
          </a:p>
        </p:txBody>
      </p:sp>
      <p:sp>
        <p:nvSpPr>
          <p:cNvPr id="21" name="Text 19"/>
          <p:cNvSpPr/>
          <p:nvPr/>
        </p:nvSpPr>
        <p:spPr>
          <a:xfrm>
            <a:off x="7315200" y="2724912"/>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60,8</a:t>
            </a:r>
            <a:endParaRPr lang="en-US" sz="1150" dirty="0"/>
          </a:p>
        </p:txBody>
      </p:sp>
      <p:sp>
        <p:nvSpPr>
          <p:cNvPr id="22" name="Text 20"/>
          <p:cNvSpPr/>
          <p:nvPr/>
        </p:nvSpPr>
        <p:spPr>
          <a:xfrm>
            <a:off x="7955280" y="2724912"/>
            <a:ext cx="685800" cy="420624"/>
          </a:xfrm>
          <a:prstGeom prst="rect">
            <a:avLst/>
          </a:prstGeom>
          <a:noFill/>
          <a:ln/>
        </p:spPr>
        <p:txBody>
          <a:bodyPr wrap="square" lIns="38100" tIns="38100" rIns="38100" bIns="38100" rtlCol="0" anchor="ctr"/>
          <a:lstStyle/>
          <a:p>
            <a:pPr algn="ctr" indent="0" marL="0">
              <a:buNone/>
            </a:pPr>
            <a:r>
              <a:rPr lang="en-US" sz="1150" dirty="0">
                <a:solidFill>
                  <a:srgbClr val="990000"/>
                </a:solidFill>
                <a:latin typeface="Cambria" pitchFamily="34" charset="0"/>
                <a:ea typeface="Cambria" pitchFamily="34" charset="-122"/>
                <a:cs typeface="Cambria" pitchFamily="34" charset="-120"/>
              </a:rPr>
              <a:t>−1,38</a:t>
            </a:r>
            <a:endParaRPr lang="en-US" sz="1150" dirty="0"/>
          </a:p>
        </p:txBody>
      </p:sp>
      <p:sp>
        <p:nvSpPr>
          <p:cNvPr id="23" name="Shape 21"/>
          <p:cNvSpPr/>
          <p:nvPr/>
        </p:nvSpPr>
        <p:spPr>
          <a:xfrm>
            <a:off x="4663440" y="3145536"/>
            <a:ext cx="3977640" cy="0"/>
          </a:xfrm>
          <a:prstGeom prst="line">
            <a:avLst/>
          </a:prstGeom>
          <a:noFill/>
          <a:ln w="12700">
            <a:solidFill>
              <a:srgbClr val="9A94AE"/>
            </a:solidFill>
            <a:prstDash val="solid"/>
          </a:ln>
        </p:spPr>
      </p:sp>
      <p:sp>
        <p:nvSpPr>
          <p:cNvPr id="24" name="Text 22"/>
          <p:cNvSpPr/>
          <p:nvPr/>
        </p:nvSpPr>
        <p:spPr>
          <a:xfrm>
            <a:off x="4663440" y="3145536"/>
            <a:ext cx="2011680" cy="420624"/>
          </a:xfrm>
          <a:prstGeom prst="rect">
            <a:avLst/>
          </a:prstGeom>
          <a:noFill/>
          <a:ln/>
        </p:spPr>
        <p:txBody>
          <a:bodyPr wrap="square" lIns="38100" tIns="38100" rIns="38100" bIns="38100" rtlCol="0" anchor="ctr"/>
          <a:lstStyle/>
          <a:p>
            <a:pPr algn="l" indent="0" marL="0">
              <a:buNone/>
            </a:pPr>
            <a:r>
              <a:rPr lang="en-US" sz="1150" b="1" dirty="0">
                <a:solidFill>
                  <a:srgbClr val="1A1A1A"/>
                </a:solidFill>
                <a:latin typeface="Cambria" pitchFamily="34" charset="0"/>
                <a:ea typeface="Cambria" pitchFamily="34" charset="-122"/>
                <a:cs typeface="Cambria" pitchFamily="34" charset="-120"/>
              </a:rPr>
              <a:t>Không sinh (325)</a:t>
            </a:r>
            <a:endParaRPr lang="en-US" sz="1150" dirty="0"/>
          </a:p>
        </p:txBody>
      </p:sp>
      <p:sp>
        <p:nvSpPr>
          <p:cNvPr id="25" name="Text 23"/>
          <p:cNvSpPr/>
          <p:nvPr/>
        </p:nvSpPr>
        <p:spPr>
          <a:xfrm>
            <a:off x="6675120" y="3145536"/>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19,7</a:t>
            </a:r>
            <a:endParaRPr lang="en-US" sz="1150" dirty="0"/>
          </a:p>
        </p:txBody>
      </p:sp>
      <p:sp>
        <p:nvSpPr>
          <p:cNvPr id="26" name="Text 24"/>
          <p:cNvSpPr/>
          <p:nvPr/>
        </p:nvSpPr>
        <p:spPr>
          <a:xfrm>
            <a:off x="7315200" y="3145536"/>
            <a:ext cx="640080" cy="42062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10,8</a:t>
            </a:r>
            <a:endParaRPr lang="en-US" sz="1150" dirty="0"/>
          </a:p>
        </p:txBody>
      </p:sp>
      <p:sp>
        <p:nvSpPr>
          <p:cNvPr id="27" name="Text 25"/>
          <p:cNvSpPr/>
          <p:nvPr/>
        </p:nvSpPr>
        <p:spPr>
          <a:xfrm>
            <a:off x="7955280" y="3145536"/>
            <a:ext cx="685800" cy="42062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−8,92</a:t>
            </a:r>
            <a:endParaRPr lang="en-US" sz="1150" dirty="0"/>
          </a:p>
        </p:txBody>
      </p:sp>
      <p:sp>
        <p:nvSpPr>
          <p:cNvPr id="28" name="Text 26"/>
          <p:cNvSpPr/>
          <p:nvPr/>
        </p:nvSpPr>
        <p:spPr>
          <a:xfrm>
            <a:off x="4663440" y="3703320"/>
            <a:ext cx="3977640" cy="292608"/>
          </a:xfrm>
          <a:prstGeom prst="rect">
            <a:avLst/>
          </a:prstGeom>
          <a:noFill/>
          <a:ln/>
        </p:spPr>
        <p:txBody>
          <a:bodyPr wrap="square" lIns="0" tIns="0" rIns="0" bIns="0" rtlCol="0" anchor="t"/>
          <a:lstStyle/>
          <a:p>
            <a:pPr algn="l" indent="0" marL="0">
              <a:buNone/>
            </a:pPr>
            <a:r>
              <a:rPr lang="en-US" sz="1250" b="1" dirty="0">
                <a:solidFill>
                  <a:srgbClr val="B22222"/>
                </a:solidFill>
                <a:latin typeface="Cambria" pitchFamily="34" charset="0"/>
                <a:ea typeface="Cambria" pitchFamily="34" charset="-122"/>
                <a:cs typeface="Cambria" pitchFamily="34" charset="-120"/>
              </a:rPr>
              <a:t>7,3% số bước gánh 34% chênh lệch.</a:t>
            </a:r>
            <a:endParaRPr lang="en-US" sz="1250" dirty="0"/>
          </a:p>
        </p:txBody>
      </p:sp>
      <p:sp>
        <p:nvSpPr>
          <p:cNvPr id="29" name="Shape 27"/>
          <p:cNvSpPr/>
          <p:nvPr/>
        </p:nvSpPr>
        <p:spPr>
          <a:xfrm>
            <a:off x="502920" y="4480560"/>
            <a:ext cx="8138160" cy="1188720"/>
          </a:xfrm>
          <a:prstGeom prst="roundRect">
            <a:avLst>
              <a:gd name="adj" fmla="val 4615"/>
            </a:avLst>
          </a:prstGeom>
          <a:solidFill>
            <a:srgbClr val="E9E8EC"/>
          </a:solidFill>
          <a:ln/>
          <a:effectLst>
            <a:outerShdw sx="100000" sy="100000" kx="0" ky="0" algn="bl" rotWithShape="0" blurRad="63500" dist="31750" dir="2700000">
              <a:srgbClr val="8C8C99">
                <a:alpha val="45000"/>
              </a:srgbClr>
            </a:outerShdw>
          </a:effectLst>
        </p:spPr>
      </p:sp>
      <p:sp>
        <p:nvSpPr>
          <p:cNvPr id="30" name="Text 28"/>
          <p:cNvSpPr/>
          <p:nvPr/>
        </p:nvSpPr>
        <p:spPr>
          <a:xfrm>
            <a:off x="731520" y="4480560"/>
            <a:ext cx="7680960" cy="1188720"/>
          </a:xfrm>
          <a:prstGeom prst="rect">
            <a:avLst/>
          </a:prstGeom>
          <a:noFill/>
          <a:ln/>
        </p:spPr>
        <p:txBody>
          <a:bodyPr wrap="square" lIns="0" tIns="0" rIns="0" bIns="0" rtlCol="0" anchor="ctr"/>
          <a:lstStyle/>
          <a:p>
            <a:pPr algn="l" indent="0" marL="0">
              <a:lnSpc>
                <a:spcPct val="135000"/>
              </a:lnSpc>
              <a:buNone/>
            </a:pPr>
            <a:r>
              <a:rPr lang="en-US" sz="1300" b="1" dirty="0">
                <a:solidFill>
                  <a:srgbClr val="B22222"/>
                </a:solidFill>
                <a:latin typeface="Cambria" pitchFamily="34" charset="0"/>
                <a:ea typeface="Cambria" pitchFamily="34" charset="-122"/>
                <a:cs typeface="Cambria" pitchFamily="34" charset="-120"/>
              </a:rPr>
              <a:t>Tinh chỉnh có cái giá của nó.</a:t>
            </a:r>
            <a:pPr algn="l" indent="0" marL="0">
              <a:lnSpc>
                <a:spcPct val="135000"/>
              </a:lnSpc>
              <a:buNone/>
            </a:pPr>
            <a:r>
              <a:rPr lang="en-US" sz="1300" dirty="0">
                <a:solidFill>
                  <a:srgbClr val="1A1A1A"/>
                </a:solidFill>
                <a:latin typeface="Cambria" pitchFamily="34" charset="0"/>
                <a:ea typeface="Cambria" pitchFamily="34" charset="-122"/>
                <a:cs typeface="Cambria" pitchFamily="34" charset="-120"/>
              </a:rPr>
              <a:t>  Mô hình gốc gọi đúng loại thao tác nhiều hơn cả hai bản đã huấn luyện: 83,4% so với 55,1% và 38,8%.</a:t>
            </a:r>
            <a:endParaRPr lang="en-US" sz="1300" dirty="0"/>
          </a:p>
        </p:txBody>
      </p:sp>
      <p:sp>
        <p:nvSpPr>
          <p:cNvPr id="32" name="Shape 29"/>
          <p:cNvSpPr/>
          <p:nvPr/>
        </p:nvSpPr>
        <p:spPr>
          <a:xfrm>
            <a:off x="0" y="6620256"/>
            <a:ext cx="2743200" cy="237744"/>
          </a:xfrm>
          <a:prstGeom prst="rect">
            <a:avLst/>
          </a:prstGeom>
          <a:solidFill>
            <a:srgbClr val="191132"/>
          </a:solidFill>
          <a:ln/>
        </p:spPr>
      </p:sp>
      <p:sp>
        <p:nvSpPr>
          <p:cNvPr id="33" name="Shape 30"/>
          <p:cNvSpPr/>
          <p:nvPr/>
        </p:nvSpPr>
        <p:spPr>
          <a:xfrm>
            <a:off x="2743200" y="6620256"/>
            <a:ext cx="3383280" cy="237744"/>
          </a:xfrm>
          <a:prstGeom prst="rect">
            <a:avLst/>
          </a:prstGeom>
          <a:solidFill>
            <a:srgbClr val="25194B"/>
          </a:solidFill>
          <a:ln/>
        </p:spPr>
      </p:sp>
      <p:sp>
        <p:nvSpPr>
          <p:cNvPr id="34" name="Shape 31"/>
          <p:cNvSpPr/>
          <p:nvPr/>
        </p:nvSpPr>
        <p:spPr>
          <a:xfrm>
            <a:off x="6126480" y="6620256"/>
            <a:ext cx="1737360" cy="237744"/>
          </a:xfrm>
          <a:prstGeom prst="rect">
            <a:avLst/>
          </a:prstGeom>
          <a:solidFill>
            <a:srgbClr val="4F417A"/>
          </a:solidFill>
          <a:ln/>
        </p:spPr>
      </p:sp>
      <p:sp>
        <p:nvSpPr>
          <p:cNvPr id="35" name="Shape 32"/>
          <p:cNvSpPr/>
          <p:nvPr/>
        </p:nvSpPr>
        <p:spPr>
          <a:xfrm>
            <a:off x="7863840" y="6620256"/>
            <a:ext cx="1280160" cy="237744"/>
          </a:xfrm>
          <a:prstGeom prst="rect">
            <a:avLst/>
          </a:prstGeom>
          <a:solidFill>
            <a:srgbClr val="7A7099"/>
          </a:solidFill>
          <a:ln/>
        </p:spPr>
      </p:sp>
      <p:sp>
        <p:nvSpPr>
          <p:cNvPr id="36" name="Text 3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7" name="Text 3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8" name="Text 3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9" name="Text 3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18/26</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Chặng hai: điểm cao nhất, nhưng phần lớn không thuộc mục tiêu ưu tiên</a:t>
            </a:r>
            <a:endParaRPr lang="en-US" sz="1900" dirty="0"/>
          </a:p>
        </p:txBody>
      </p:sp>
      <p:sp>
        <p:nvSpPr>
          <p:cNvPr id="4" name="Shape 2"/>
          <p:cNvSpPr/>
          <p:nvPr/>
        </p:nvSpPr>
        <p:spPr>
          <a:xfrm>
            <a:off x="1051560" y="960120"/>
            <a:ext cx="182880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1051560" y="1024128"/>
            <a:ext cx="1828800" cy="292608"/>
          </a:xfrm>
          <a:prstGeom prst="rect">
            <a:avLst/>
          </a:prstGeom>
          <a:noFill/>
          <a:ln/>
        </p:spPr>
        <p:txBody>
          <a:bodyPr wrap="square" lIns="0" tIns="0" rIns="0" bIns="0" rtlCol="0" anchor="t"/>
          <a:lstStyle/>
          <a:p>
            <a:pPr algn="ctr" indent="0" marL="0">
              <a:buNone/>
            </a:pPr>
            <a:r>
              <a:rPr lang="en-US" sz="1300" b="1" dirty="0">
                <a:solidFill>
                  <a:srgbClr val="322164"/>
                </a:solidFill>
                <a:latin typeface="Cambria" pitchFamily="34" charset="0"/>
                <a:ea typeface="Cambria" pitchFamily="34" charset="-122"/>
                <a:cs typeface="Cambria" pitchFamily="34" charset="-120"/>
              </a:rPr>
              <a:t>S2</a:t>
            </a:r>
            <a:endParaRPr lang="en-US" sz="1300" dirty="0"/>
          </a:p>
        </p:txBody>
      </p:sp>
      <p:sp>
        <p:nvSpPr>
          <p:cNvPr id="6" name="Text 4"/>
          <p:cNvSpPr/>
          <p:nvPr/>
        </p:nvSpPr>
        <p:spPr>
          <a:xfrm>
            <a:off x="1051560" y="1353312"/>
            <a:ext cx="1828800" cy="411480"/>
          </a:xfrm>
          <a:prstGeom prst="rect">
            <a:avLst/>
          </a:prstGeom>
          <a:noFill/>
          <a:ln/>
        </p:spPr>
        <p:txBody>
          <a:bodyPr wrap="square" lIns="0" tIns="0" rIns="0" bIns="0" rtlCol="0" anchor="t"/>
          <a:lstStyle/>
          <a:p>
            <a:pPr algn="ctr" indent="0" marL="0">
              <a:buNone/>
            </a:pPr>
            <a:r>
              <a:rPr lang="en-US" sz="1900" b="1" dirty="0">
                <a:solidFill>
                  <a:srgbClr val="1A1A1A"/>
                </a:solidFill>
                <a:latin typeface="Cambria" pitchFamily="34" charset="0"/>
                <a:ea typeface="Cambria" pitchFamily="34" charset="-122"/>
                <a:cs typeface="Cambria" pitchFamily="34" charset="-120"/>
              </a:rPr>
              <a:t>57,2%</a:t>
            </a:r>
            <a:endParaRPr lang="en-US" sz="1900" dirty="0"/>
          </a:p>
        </p:txBody>
      </p:sp>
      <p:sp>
        <p:nvSpPr>
          <p:cNvPr id="7" name="Shape 5"/>
          <p:cNvSpPr/>
          <p:nvPr/>
        </p:nvSpPr>
        <p:spPr>
          <a:xfrm>
            <a:off x="2971800" y="1389888"/>
            <a:ext cx="640080" cy="0"/>
          </a:xfrm>
          <a:prstGeom prst="line">
            <a:avLst/>
          </a:prstGeom>
          <a:noFill/>
          <a:ln w="25400">
            <a:solidFill>
              <a:srgbClr val="4F417A"/>
            </a:solidFill>
            <a:prstDash val="solid"/>
            <a:tailEnd type="triangle"/>
          </a:ln>
        </p:spPr>
      </p:sp>
      <p:sp>
        <p:nvSpPr>
          <p:cNvPr id="8" name="Shape 6"/>
          <p:cNvSpPr/>
          <p:nvPr/>
        </p:nvSpPr>
        <p:spPr>
          <a:xfrm>
            <a:off x="3703320" y="960120"/>
            <a:ext cx="1828800" cy="868680"/>
          </a:xfrm>
          <a:prstGeom prst="roundRect">
            <a:avLst>
              <a:gd name="adj" fmla="val 6316"/>
            </a:avLst>
          </a:prstGeom>
          <a:solidFill>
            <a:srgbClr val="E9E8EC"/>
          </a:solidFill>
          <a:ln/>
          <a:effectLst>
            <a:outerShdw sx="100000" sy="100000" kx="0" ky="0" algn="bl" rotWithShape="0" blurRad="63500" dist="31750" dir="2700000">
              <a:srgbClr val="8C8C99">
                <a:alpha val="45000"/>
              </a:srgbClr>
            </a:outerShdw>
          </a:effectLst>
        </p:spPr>
      </p:sp>
      <p:sp>
        <p:nvSpPr>
          <p:cNvPr id="9" name="Text 7"/>
          <p:cNvSpPr/>
          <p:nvPr/>
        </p:nvSpPr>
        <p:spPr>
          <a:xfrm>
            <a:off x="3703320" y="1024128"/>
            <a:ext cx="1828800" cy="292608"/>
          </a:xfrm>
          <a:prstGeom prst="rect">
            <a:avLst/>
          </a:prstGeom>
          <a:noFill/>
          <a:ln/>
        </p:spPr>
        <p:txBody>
          <a:bodyPr wrap="square" lIns="0" tIns="0" rIns="0" bIns="0" rtlCol="0" anchor="t"/>
          <a:lstStyle/>
          <a:p>
            <a:pPr algn="ctr" indent="0" marL="0">
              <a:buNone/>
            </a:pPr>
            <a:r>
              <a:rPr lang="en-US" sz="1300" b="1" dirty="0">
                <a:solidFill>
                  <a:srgbClr val="322164"/>
                </a:solidFill>
                <a:latin typeface="Cambria" pitchFamily="34" charset="0"/>
                <a:ea typeface="Cambria" pitchFamily="34" charset="-122"/>
                <a:cs typeface="Cambria" pitchFamily="34" charset="-120"/>
              </a:rPr>
              <a:t>CE2-S2</a:t>
            </a:r>
            <a:endParaRPr lang="en-US" sz="1300" dirty="0"/>
          </a:p>
        </p:txBody>
      </p:sp>
      <p:sp>
        <p:nvSpPr>
          <p:cNvPr id="10" name="Text 8"/>
          <p:cNvSpPr/>
          <p:nvPr/>
        </p:nvSpPr>
        <p:spPr>
          <a:xfrm>
            <a:off x="3703320" y="1353312"/>
            <a:ext cx="1828800" cy="411480"/>
          </a:xfrm>
          <a:prstGeom prst="rect">
            <a:avLst/>
          </a:prstGeom>
          <a:noFill/>
          <a:ln/>
        </p:spPr>
        <p:txBody>
          <a:bodyPr wrap="square" lIns="0" tIns="0" rIns="0" bIns="0" rtlCol="0" anchor="t"/>
          <a:lstStyle/>
          <a:p>
            <a:pPr algn="ctr" indent="0" marL="0">
              <a:buNone/>
            </a:pPr>
            <a:r>
              <a:rPr lang="en-US" sz="1900" b="1" dirty="0">
                <a:solidFill>
                  <a:srgbClr val="1A1A1A"/>
                </a:solidFill>
                <a:latin typeface="Cambria" pitchFamily="34" charset="0"/>
                <a:ea typeface="Cambria" pitchFamily="34" charset="-122"/>
                <a:cs typeface="Cambria" pitchFamily="34" charset="-120"/>
              </a:rPr>
              <a:t>59,4%</a:t>
            </a:r>
            <a:endParaRPr lang="en-US" sz="1900" dirty="0"/>
          </a:p>
        </p:txBody>
      </p:sp>
      <p:sp>
        <p:nvSpPr>
          <p:cNvPr id="11" name="Shape 9"/>
          <p:cNvSpPr/>
          <p:nvPr/>
        </p:nvSpPr>
        <p:spPr>
          <a:xfrm>
            <a:off x="5623560" y="1389888"/>
            <a:ext cx="640080" cy="0"/>
          </a:xfrm>
          <a:prstGeom prst="line">
            <a:avLst/>
          </a:prstGeom>
          <a:noFill/>
          <a:ln w="25400">
            <a:solidFill>
              <a:srgbClr val="4F417A"/>
            </a:solidFill>
            <a:prstDash val="solid"/>
            <a:tailEnd type="triangle"/>
          </a:ln>
        </p:spPr>
      </p:sp>
      <p:sp>
        <p:nvSpPr>
          <p:cNvPr id="12" name="Shape 10"/>
          <p:cNvSpPr/>
          <p:nvPr/>
        </p:nvSpPr>
        <p:spPr>
          <a:xfrm>
            <a:off x="6355080" y="960120"/>
            <a:ext cx="1828800" cy="868680"/>
          </a:xfrm>
          <a:prstGeom prst="roundRect">
            <a:avLst>
              <a:gd name="adj" fmla="val 6316"/>
            </a:avLst>
          </a:prstGeom>
          <a:solidFill>
            <a:srgbClr val="322164"/>
          </a:solidFill>
          <a:ln/>
          <a:effectLst>
            <a:outerShdw sx="100000" sy="100000" kx="0" ky="0" algn="bl" rotWithShape="0" blurRad="63500" dist="31750" dir="2700000">
              <a:srgbClr val="8C8C99">
                <a:alpha val="45000"/>
              </a:srgbClr>
            </a:outerShdw>
          </a:effectLst>
        </p:spPr>
      </p:sp>
      <p:sp>
        <p:nvSpPr>
          <p:cNvPr id="13" name="Text 11"/>
          <p:cNvSpPr/>
          <p:nvPr/>
        </p:nvSpPr>
        <p:spPr>
          <a:xfrm>
            <a:off x="6355080" y="1024128"/>
            <a:ext cx="1828800" cy="292608"/>
          </a:xfrm>
          <a:prstGeom prst="rect">
            <a:avLst/>
          </a:prstGeom>
          <a:noFill/>
          <a:ln/>
        </p:spPr>
        <p:txBody>
          <a:bodyPr wrap="square" lIns="0" tIns="0" rIns="0" bIns="0" rtlCol="0" anchor="t"/>
          <a:lstStyle/>
          <a:p>
            <a:pPr algn="ctr" indent="0" marL="0">
              <a:buNone/>
            </a:pPr>
            <a:r>
              <a:rPr lang="en-US" sz="1300" b="1" dirty="0">
                <a:solidFill>
                  <a:srgbClr val="FFFFFF"/>
                </a:solidFill>
                <a:latin typeface="Cambria" pitchFamily="34" charset="0"/>
                <a:ea typeface="Cambria" pitchFamily="34" charset="-122"/>
                <a:cs typeface="Cambria" pitchFamily="34" charset="-120"/>
              </a:rPr>
              <a:t>MIN-DESC</a:t>
            </a:r>
            <a:endParaRPr lang="en-US" sz="1300" dirty="0"/>
          </a:p>
        </p:txBody>
      </p:sp>
      <p:sp>
        <p:nvSpPr>
          <p:cNvPr id="14" name="Text 12"/>
          <p:cNvSpPr/>
          <p:nvPr/>
        </p:nvSpPr>
        <p:spPr>
          <a:xfrm>
            <a:off x="6355080" y="1353312"/>
            <a:ext cx="1828800" cy="411480"/>
          </a:xfrm>
          <a:prstGeom prst="rect">
            <a:avLst/>
          </a:prstGeom>
          <a:noFill/>
          <a:ln/>
        </p:spPr>
        <p:txBody>
          <a:bodyPr wrap="square" lIns="0" tIns="0" rIns="0" bIns="0" rtlCol="0" anchor="t"/>
          <a:lstStyle/>
          <a:p>
            <a:pPr algn="ctr" indent="0" marL="0">
              <a:buNone/>
            </a:pPr>
            <a:r>
              <a:rPr lang="en-US" sz="1900" b="1" dirty="0">
                <a:solidFill>
                  <a:srgbClr val="FFFFFF"/>
                </a:solidFill>
                <a:latin typeface="Cambria" pitchFamily="34" charset="0"/>
                <a:ea typeface="Cambria" pitchFamily="34" charset="-122"/>
                <a:cs typeface="Cambria" pitchFamily="34" charset="-120"/>
              </a:rPr>
              <a:t>60,0%</a:t>
            </a:r>
            <a:endParaRPr lang="en-US" sz="1900" dirty="0"/>
          </a:p>
        </p:txBody>
      </p:sp>
      <p:sp>
        <p:nvSpPr>
          <p:cNvPr id="15" name="Text 13"/>
          <p:cNvSpPr/>
          <p:nvPr/>
        </p:nvSpPr>
        <p:spPr>
          <a:xfrm>
            <a:off x="2880360" y="1901952"/>
            <a:ext cx="1828800" cy="566928"/>
          </a:xfrm>
          <a:prstGeom prst="rect">
            <a:avLst/>
          </a:prstGeom>
          <a:noFill/>
          <a:ln/>
        </p:spPr>
        <p:txBody>
          <a:bodyPr wrap="square" lIns="0" tIns="0" rIns="0" bIns="0" rtlCol="0" anchor="t"/>
          <a:lstStyle/>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+2,24</a:t>
            </a:r>
            <a:endParaRPr lang="en-US" sz="1150" dirty="0"/>
          </a:p>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học có giám sát thuần</a:t>
            </a:r>
            <a:endParaRPr lang="en-US" sz="1150" dirty="0"/>
          </a:p>
        </p:txBody>
      </p:sp>
      <p:sp>
        <p:nvSpPr>
          <p:cNvPr id="16" name="Text 14"/>
          <p:cNvSpPr/>
          <p:nvPr/>
        </p:nvSpPr>
        <p:spPr>
          <a:xfrm>
            <a:off x="5532120" y="1901952"/>
            <a:ext cx="1828800" cy="566928"/>
          </a:xfrm>
          <a:prstGeom prst="rect">
            <a:avLst/>
          </a:prstGeom>
          <a:noFill/>
          <a:ln/>
        </p:spPr>
        <p:txBody>
          <a:bodyPr wrap="square" lIns="0" tIns="0" rIns="0" bIns="0" rtlCol="0" anchor="t"/>
          <a:lstStyle/>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+0,63</a:t>
            </a:r>
            <a:endParaRPr lang="en-US" sz="1150" dirty="0"/>
          </a:p>
          <a:p>
            <a:pPr algn="ctr" indent="0" marL="0">
              <a:lnSpc>
                <a:spcPct val="120000"/>
              </a:lnSpc>
              <a:buNone/>
            </a:pPr>
            <a:r>
              <a:rPr lang="en-US" sz="1150" dirty="0">
                <a:solidFill>
                  <a:srgbClr val="990000"/>
                </a:solidFill>
                <a:latin typeface="Cambria" pitchFamily="34" charset="0"/>
                <a:ea typeface="Cambria" pitchFamily="34" charset="-122"/>
                <a:cs typeface="Cambria" pitchFamily="34" charset="-120"/>
              </a:rPr>
              <a:t>riêng mục tiêu ưu tiên</a:t>
            </a:r>
            <a:endParaRPr lang="en-US" sz="1150" dirty="0"/>
          </a:p>
        </p:txBody>
      </p:sp>
      <p:sp>
        <p:nvSpPr>
          <p:cNvPr id="17" name="Shape 15"/>
          <p:cNvSpPr/>
          <p:nvPr/>
        </p:nvSpPr>
        <p:spPr>
          <a:xfrm>
            <a:off x="502920" y="2651760"/>
            <a:ext cx="8138160" cy="685800"/>
          </a:xfrm>
          <a:prstGeom prst="roundRect">
            <a:avLst>
              <a:gd name="adj" fmla="val 8000"/>
            </a:avLst>
          </a:prstGeom>
          <a:solidFill>
            <a:srgbClr val="E9E8EC"/>
          </a:solidFill>
          <a:ln/>
          <a:effectLst>
            <a:outerShdw sx="100000" sy="100000" kx="0" ky="0" algn="bl" rotWithShape="0" blurRad="63500" dist="31750" dir="2700000">
              <a:srgbClr val="8C8C99">
                <a:alpha val="45000"/>
              </a:srgbClr>
            </a:outerShdw>
          </a:effectLst>
        </p:spPr>
      </p:sp>
      <p:sp>
        <p:nvSpPr>
          <p:cNvPr id="18" name="Text 16"/>
          <p:cNvSpPr/>
          <p:nvPr/>
        </p:nvSpPr>
        <p:spPr>
          <a:xfrm>
            <a:off x="731520" y="2651760"/>
            <a:ext cx="7680960" cy="685800"/>
          </a:xfrm>
          <a:prstGeom prst="rect">
            <a:avLst/>
          </a:prstGeom>
          <a:noFill/>
          <a:ln/>
        </p:spPr>
        <p:txBody>
          <a:bodyPr wrap="square" lIns="0" tIns="0" rIns="0" bIns="0" rtlCol="0" anchor="ctr"/>
          <a:lstStyle/>
          <a:p>
            <a:pPr algn="l" indent="0" marL="0">
              <a:buNone/>
            </a:pPr>
            <a:r>
              <a:rPr lang="en-US" sz="1400" b="1" dirty="0">
                <a:solidFill>
                  <a:srgbClr val="B22222"/>
                </a:solidFill>
                <a:latin typeface="Cambria" pitchFamily="34" charset="0"/>
                <a:ea typeface="Cambria" pitchFamily="34" charset="-122"/>
                <a:cs typeface="Cambria" pitchFamily="34" charset="-120"/>
              </a:rPr>
              <a:t>78% mức tăng thuộc về nhánh so sánh. Đo ở tầng khai báo, tỉ lệ ấy là 87%.</a:t>
            </a:r>
            <a:endParaRPr lang="en-US" sz="1400" dirty="0"/>
          </a:p>
        </p:txBody>
      </p:sp>
      <p:sp>
        <p:nvSpPr>
          <p:cNvPr id="19" name="Shape 17"/>
          <p:cNvSpPr/>
          <p:nvPr/>
        </p:nvSpPr>
        <p:spPr>
          <a:xfrm>
            <a:off x="502920" y="3520440"/>
            <a:ext cx="8220456" cy="365760"/>
          </a:xfrm>
          <a:prstGeom prst="rect">
            <a:avLst/>
          </a:prstGeom>
          <a:solidFill>
            <a:srgbClr val="322164"/>
          </a:solidFill>
          <a:ln/>
        </p:spPr>
      </p:sp>
      <p:sp>
        <p:nvSpPr>
          <p:cNvPr id="20" name="Text 18"/>
          <p:cNvSpPr/>
          <p:nvPr/>
        </p:nvSpPr>
        <p:spPr>
          <a:xfrm>
            <a:off x="502920" y="3520440"/>
            <a:ext cx="3840480" cy="36576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Đại lượng</a:t>
            </a:r>
            <a:endParaRPr lang="en-US" sz="1200" dirty="0"/>
          </a:p>
        </p:txBody>
      </p:sp>
      <p:sp>
        <p:nvSpPr>
          <p:cNvPr id="21" name="Text 19"/>
          <p:cNvSpPr/>
          <p:nvPr/>
        </p:nvSpPr>
        <p:spPr>
          <a:xfrm>
            <a:off x="4343400" y="3520440"/>
            <a:ext cx="1371600" cy="36576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Δ</a:t>
            </a:r>
            <a:endParaRPr lang="en-US" sz="1200" dirty="0"/>
          </a:p>
        </p:txBody>
      </p:sp>
      <p:sp>
        <p:nvSpPr>
          <p:cNvPr id="22" name="Text 20"/>
          <p:cNvSpPr/>
          <p:nvPr/>
        </p:nvSpPr>
        <p:spPr>
          <a:xfrm>
            <a:off x="5715000" y="3520440"/>
            <a:ext cx="2011680" cy="36576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KTC 95%</a:t>
            </a:r>
            <a:endParaRPr lang="en-US" sz="1200" dirty="0"/>
          </a:p>
        </p:txBody>
      </p:sp>
      <p:sp>
        <p:nvSpPr>
          <p:cNvPr id="23" name="Text 21"/>
          <p:cNvSpPr/>
          <p:nvPr/>
        </p:nvSpPr>
        <p:spPr>
          <a:xfrm>
            <a:off x="7726680" y="3520440"/>
            <a:ext cx="996696" cy="36576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p</a:t>
            </a:r>
            <a:endParaRPr lang="en-US" sz="1200" dirty="0"/>
          </a:p>
        </p:txBody>
      </p:sp>
      <p:sp>
        <p:nvSpPr>
          <p:cNvPr id="24" name="Text 22"/>
          <p:cNvSpPr/>
          <p:nvPr/>
        </p:nvSpPr>
        <p:spPr>
          <a:xfrm>
            <a:off x="502920" y="3886200"/>
            <a:ext cx="3840480" cy="420624"/>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MIN-DESC − CE2-S2</a:t>
            </a:r>
            <a:endParaRPr lang="en-US" sz="1250" dirty="0"/>
          </a:p>
        </p:txBody>
      </p:sp>
      <p:sp>
        <p:nvSpPr>
          <p:cNvPr id="25" name="Text 23"/>
          <p:cNvSpPr/>
          <p:nvPr/>
        </p:nvSpPr>
        <p:spPr>
          <a:xfrm>
            <a:off x="4343400" y="3886200"/>
            <a:ext cx="1371600" cy="420624"/>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+0,63</a:t>
            </a:r>
            <a:endParaRPr lang="en-US" sz="1250" dirty="0"/>
          </a:p>
        </p:txBody>
      </p:sp>
      <p:sp>
        <p:nvSpPr>
          <p:cNvPr id="26" name="Text 24"/>
          <p:cNvSpPr/>
          <p:nvPr/>
        </p:nvSpPr>
        <p:spPr>
          <a:xfrm>
            <a:off x="5715000" y="3886200"/>
            <a:ext cx="2011680"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[+0,16 ; +1,10]</a:t>
            </a:r>
            <a:endParaRPr lang="en-US" sz="1250" dirty="0"/>
          </a:p>
        </p:txBody>
      </p:sp>
      <p:sp>
        <p:nvSpPr>
          <p:cNvPr id="27" name="Text 25"/>
          <p:cNvSpPr/>
          <p:nvPr/>
        </p:nvSpPr>
        <p:spPr>
          <a:xfrm>
            <a:off x="7726680" y="3886200"/>
            <a:ext cx="996696"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0,011</a:t>
            </a:r>
            <a:endParaRPr lang="en-US" sz="1250" dirty="0"/>
          </a:p>
        </p:txBody>
      </p:sp>
      <p:sp>
        <p:nvSpPr>
          <p:cNvPr id="28" name="Shape 26"/>
          <p:cNvSpPr/>
          <p:nvPr/>
        </p:nvSpPr>
        <p:spPr>
          <a:xfrm>
            <a:off x="502920" y="4306824"/>
            <a:ext cx="8220456" cy="0"/>
          </a:xfrm>
          <a:prstGeom prst="line">
            <a:avLst/>
          </a:prstGeom>
          <a:noFill/>
          <a:ln w="12700">
            <a:solidFill>
              <a:srgbClr val="9A94AE"/>
            </a:solidFill>
            <a:prstDash val="solid"/>
          </a:ln>
        </p:spPr>
      </p:sp>
      <p:sp>
        <p:nvSpPr>
          <p:cNvPr id="29" name="Text 27"/>
          <p:cNvSpPr/>
          <p:nvPr/>
        </p:nvSpPr>
        <p:spPr>
          <a:xfrm>
            <a:off x="502920" y="4306824"/>
            <a:ext cx="384048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MIN-DESC − S1</a:t>
            </a:r>
            <a:endParaRPr lang="en-US" sz="1250" dirty="0"/>
          </a:p>
        </p:txBody>
      </p:sp>
      <p:sp>
        <p:nvSpPr>
          <p:cNvPr id="30" name="Text 28"/>
          <p:cNvSpPr/>
          <p:nvPr/>
        </p:nvSpPr>
        <p:spPr>
          <a:xfrm>
            <a:off x="4343400" y="4306824"/>
            <a:ext cx="1371600"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+0,94</a:t>
            </a:r>
            <a:endParaRPr lang="en-US" sz="1250" dirty="0"/>
          </a:p>
        </p:txBody>
      </p:sp>
      <p:sp>
        <p:nvSpPr>
          <p:cNvPr id="31" name="Text 29"/>
          <p:cNvSpPr/>
          <p:nvPr/>
        </p:nvSpPr>
        <p:spPr>
          <a:xfrm>
            <a:off x="5715000" y="4306824"/>
            <a:ext cx="2011680"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[−0,09 ; +2,05]</a:t>
            </a:r>
            <a:endParaRPr lang="en-US" sz="1250" dirty="0"/>
          </a:p>
        </p:txBody>
      </p:sp>
      <p:sp>
        <p:nvSpPr>
          <p:cNvPr id="32" name="Text 30"/>
          <p:cNvSpPr/>
          <p:nvPr/>
        </p:nvSpPr>
        <p:spPr>
          <a:xfrm>
            <a:off x="7726680" y="4306824"/>
            <a:ext cx="996696"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0,11</a:t>
            </a:r>
            <a:endParaRPr lang="en-US" sz="1250" dirty="0"/>
          </a:p>
        </p:txBody>
      </p:sp>
      <p:sp>
        <p:nvSpPr>
          <p:cNvPr id="33" name="Shape 31"/>
          <p:cNvSpPr/>
          <p:nvPr/>
        </p:nvSpPr>
        <p:spPr>
          <a:xfrm>
            <a:off x="502920" y="4846320"/>
            <a:ext cx="8138160" cy="822960"/>
          </a:xfrm>
          <a:prstGeom prst="roundRect">
            <a:avLst>
              <a:gd name="adj" fmla="val 6667"/>
            </a:avLst>
          </a:prstGeom>
          <a:solidFill>
            <a:srgbClr val="E9E8EC"/>
          </a:solidFill>
          <a:ln/>
          <a:effectLst>
            <a:outerShdw sx="100000" sy="100000" kx="0" ky="0" algn="bl" rotWithShape="0" blurRad="63500" dist="31750" dir="2700000">
              <a:srgbClr val="8C8C99">
                <a:alpha val="45000"/>
              </a:srgbClr>
            </a:outerShdw>
          </a:effectLst>
        </p:spPr>
      </p:sp>
      <p:sp>
        <p:nvSpPr>
          <p:cNvPr id="34" name="Text 32"/>
          <p:cNvSpPr/>
          <p:nvPr/>
        </p:nvSpPr>
        <p:spPr>
          <a:xfrm>
            <a:off x="731520" y="4846320"/>
            <a:ext cx="7680960" cy="822960"/>
          </a:xfrm>
          <a:prstGeom prst="rect">
            <a:avLst/>
          </a:prstGeom>
          <a:noFill/>
          <a:ln/>
        </p:spPr>
        <p:txBody>
          <a:bodyPr wrap="square" lIns="0" tIns="0" rIns="0" bIns="0" rtlCol="0" anchor="ctr"/>
          <a:lstStyle/>
          <a:p>
            <a:pPr algn="l" indent="0" marL="0">
              <a:lnSpc>
                <a:spcPct val="135000"/>
              </a:lnSpc>
              <a:buNone/>
            </a:pPr>
            <a:r>
              <a:rPr lang="en-US" sz="1350" b="1" dirty="0">
                <a:solidFill>
                  <a:srgbClr val="990000"/>
                </a:solidFill>
                <a:latin typeface="Cambria" pitchFamily="34" charset="0"/>
                <a:ea typeface="Cambria" pitchFamily="34" charset="-122"/>
                <a:cs typeface="Cambria" pitchFamily="34" charset="-120"/>
              </a:rPr>
              <a:t>Không kết luận được:</a:t>
            </a:r>
            <a:pPr algn="l" indent="0" marL="0">
              <a:lnSpc>
                <a:spcPct val="135000"/>
              </a:lnSpc>
              <a:buNone/>
            </a:pPr>
            <a:r>
              <a:rPr lang="en-US" sz="1350" dirty="0">
                <a:solidFill>
                  <a:srgbClr val="1A1A1A"/>
                </a:solidFill>
                <a:latin typeface="Cambria" pitchFamily="34" charset="0"/>
                <a:ea typeface="Cambria" pitchFamily="34" charset="-122"/>
                <a:cs typeface="Cambria" pitchFamily="34" charset="-120"/>
              </a:rPr>
              <a:t> +0,63 vẫn dưới mức phát hiện 2,11 và chỉ bằng 1,4 lần nhiễu giữa hạt giống.</a:t>
            </a:r>
            <a:endParaRPr lang="en-US" sz="1350" dirty="0"/>
          </a:p>
        </p:txBody>
      </p:sp>
      <p:sp>
        <p:nvSpPr>
          <p:cNvPr id="36" name="Shape 33"/>
          <p:cNvSpPr/>
          <p:nvPr/>
        </p:nvSpPr>
        <p:spPr>
          <a:xfrm>
            <a:off x="0" y="6620256"/>
            <a:ext cx="2743200" cy="237744"/>
          </a:xfrm>
          <a:prstGeom prst="rect">
            <a:avLst/>
          </a:prstGeom>
          <a:solidFill>
            <a:srgbClr val="191132"/>
          </a:solidFill>
          <a:ln/>
        </p:spPr>
      </p:sp>
      <p:sp>
        <p:nvSpPr>
          <p:cNvPr id="37" name="Shape 34"/>
          <p:cNvSpPr/>
          <p:nvPr/>
        </p:nvSpPr>
        <p:spPr>
          <a:xfrm>
            <a:off x="2743200" y="6620256"/>
            <a:ext cx="3383280" cy="237744"/>
          </a:xfrm>
          <a:prstGeom prst="rect">
            <a:avLst/>
          </a:prstGeom>
          <a:solidFill>
            <a:srgbClr val="25194B"/>
          </a:solidFill>
          <a:ln/>
        </p:spPr>
      </p:sp>
      <p:sp>
        <p:nvSpPr>
          <p:cNvPr id="38" name="Shape 35"/>
          <p:cNvSpPr/>
          <p:nvPr/>
        </p:nvSpPr>
        <p:spPr>
          <a:xfrm>
            <a:off x="6126480" y="6620256"/>
            <a:ext cx="1737360" cy="237744"/>
          </a:xfrm>
          <a:prstGeom prst="rect">
            <a:avLst/>
          </a:prstGeom>
          <a:solidFill>
            <a:srgbClr val="4F417A"/>
          </a:solidFill>
          <a:ln/>
        </p:spPr>
      </p:sp>
      <p:sp>
        <p:nvSpPr>
          <p:cNvPr id="39" name="Shape 36"/>
          <p:cNvSpPr/>
          <p:nvPr/>
        </p:nvSpPr>
        <p:spPr>
          <a:xfrm>
            <a:off x="7863840" y="6620256"/>
            <a:ext cx="1280160" cy="237744"/>
          </a:xfrm>
          <a:prstGeom prst="rect">
            <a:avLst/>
          </a:prstGeom>
          <a:solidFill>
            <a:srgbClr val="7A7099"/>
          </a:solidFill>
          <a:ln/>
        </p:spPr>
      </p:sp>
      <p:sp>
        <p:nvSpPr>
          <p:cNvPr id="40" name="Text 3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41" name="Text 3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42" name="Text 3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43" name="Text 4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19/26</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Chẩn đoán: cơ chế đúng, nhưng bị chặn bởi độ chính xác khai báo</a:t>
            </a:r>
            <a:endParaRPr lang="en-US" sz="1900" dirty="0"/>
          </a:p>
        </p:txBody>
      </p:sp>
      <p:sp>
        <p:nvSpPr>
          <p:cNvPr id="4" name="Text 2"/>
          <p:cNvSpPr/>
          <p:nvPr/>
        </p:nvSpPr>
        <p:spPr>
          <a:xfrm>
            <a:off x="502920" y="822960"/>
            <a:ext cx="8138160" cy="292608"/>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Chia 3.473 bước có tên tham chiếu, theo việc dòng khai báo của chính mô hình đúng hay sai</a:t>
            </a:r>
            <a:endParaRPr lang="en-US" sz="1200" dirty="0"/>
          </a:p>
        </p:txBody>
      </p:sp>
      <p:sp>
        <p:nvSpPr>
          <p:cNvPr id="5" name="Shape 3"/>
          <p:cNvSpPr/>
          <p:nvPr/>
        </p:nvSpPr>
        <p:spPr>
          <a:xfrm>
            <a:off x="502920" y="1234440"/>
            <a:ext cx="8586216" cy="411480"/>
          </a:xfrm>
          <a:prstGeom prst="rect">
            <a:avLst/>
          </a:prstGeom>
          <a:solidFill>
            <a:srgbClr val="322164"/>
          </a:solidFill>
          <a:ln/>
        </p:spPr>
      </p:sp>
      <p:sp>
        <p:nvSpPr>
          <p:cNvPr id="6" name="Text 4"/>
          <p:cNvSpPr/>
          <p:nvPr/>
        </p:nvSpPr>
        <p:spPr>
          <a:xfrm>
            <a:off x="502920" y="1234440"/>
            <a:ext cx="2377440" cy="411480"/>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Nhóm</a:t>
            </a:r>
            <a:endParaRPr lang="en-US" sz="1200" dirty="0"/>
          </a:p>
        </p:txBody>
      </p:sp>
      <p:sp>
        <p:nvSpPr>
          <p:cNvPr id="7" name="Text 5"/>
          <p:cNvSpPr/>
          <p:nvPr/>
        </p:nvSpPr>
        <p:spPr>
          <a:xfrm>
            <a:off x="2880360" y="1234440"/>
            <a:ext cx="155448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n</a:t>
            </a:r>
            <a:endParaRPr lang="en-US" sz="1200" dirty="0"/>
          </a:p>
        </p:txBody>
      </p:sp>
      <p:sp>
        <p:nvSpPr>
          <p:cNvPr id="8" name="Text 6"/>
          <p:cNvSpPr/>
          <p:nvPr/>
        </p:nvSpPr>
        <p:spPr>
          <a:xfrm>
            <a:off x="4434840" y="1234440"/>
            <a:ext cx="146304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MIN-DESC</a:t>
            </a:r>
            <a:endParaRPr lang="en-US" sz="1200" dirty="0"/>
          </a:p>
        </p:txBody>
      </p:sp>
      <p:sp>
        <p:nvSpPr>
          <p:cNvPr id="9" name="Text 7"/>
          <p:cNvSpPr/>
          <p:nvPr/>
        </p:nvSpPr>
        <p:spPr>
          <a:xfrm>
            <a:off x="5897880" y="1234440"/>
            <a:ext cx="118872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S1</a:t>
            </a:r>
            <a:endParaRPr lang="en-US" sz="1200" dirty="0"/>
          </a:p>
        </p:txBody>
      </p:sp>
      <p:sp>
        <p:nvSpPr>
          <p:cNvPr id="10" name="Text 8"/>
          <p:cNvSpPr/>
          <p:nvPr/>
        </p:nvSpPr>
        <p:spPr>
          <a:xfrm>
            <a:off x="7086600" y="1234440"/>
            <a:ext cx="1280160"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Δ</a:t>
            </a:r>
            <a:endParaRPr lang="en-US" sz="1200" dirty="0"/>
          </a:p>
        </p:txBody>
      </p:sp>
      <p:sp>
        <p:nvSpPr>
          <p:cNvPr id="11" name="Text 9"/>
          <p:cNvSpPr/>
          <p:nvPr/>
        </p:nvSpPr>
        <p:spPr>
          <a:xfrm>
            <a:off x="8366760" y="1234440"/>
            <a:ext cx="722376" cy="411480"/>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Trần</a:t>
            </a:r>
            <a:endParaRPr lang="en-US" sz="1200" dirty="0"/>
          </a:p>
        </p:txBody>
      </p:sp>
      <p:sp>
        <p:nvSpPr>
          <p:cNvPr id="12" name="Text 10"/>
          <p:cNvSpPr/>
          <p:nvPr/>
        </p:nvSpPr>
        <p:spPr>
          <a:xfrm>
            <a:off x="502920" y="1645920"/>
            <a:ext cx="2377440" cy="566928"/>
          </a:xfrm>
          <a:prstGeom prst="rect">
            <a:avLst/>
          </a:prstGeom>
          <a:noFill/>
          <a:ln/>
        </p:spPr>
        <p:txBody>
          <a:bodyPr wrap="square" lIns="38100" tIns="38100" rIns="38100" bIns="38100" rtlCol="0" anchor="ctr"/>
          <a:lstStyle/>
          <a:p>
            <a:pPr algn="l" indent="0" marL="0">
              <a:buNone/>
            </a:pPr>
            <a:r>
              <a:rPr lang="en-US" sz="1350" b="1" dirty="0">
                <a:solidFill>
                  <a:srgbClr val="006666"/>
                </a:solidFill>
                <a:latin typeface="Cambria" pitchFamily="34" charset="0"/>
                <a:ea typeface="Cambria" pitchFamily="34" charset="-122"/>
                <a:cs typeface="Cambria" pitchFamily="34" charset="-120"/>
              </a:rPr>
              <a:t>Khai báo ĐÚNG</a:t>
            </a:r>
            <a:endParaRPr lang="en-US" sz="1350" dirty="0"/>
          </a:p>
        </p:txBody>
      </p:sp>
      <p:sp>
        <p:nvSpPr>
          <p:cNvPr id="13" name="Text 11"/>
          <p:cNvSpPr/>
          <p:nvPr/>
        </p:nvSpPr>
        <p:spPr>
          <a:xfrm>
            <a:off x="2880360" y="1645920"/>
            <a:ext cx="155448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2.106  (60,6%)</a:t>
            </a:r>
            <a:endParaRPr lang="en-US" sz="1350" dirty="0"/>
          </a:p>
        </p:txBody>
      </p:sp>
      <p:sp>
        <p:nvSpPr>
          <p:cNvPr id="14" name="Text 12"/>
          <p:cNvSpPr/>
          <p:nvPr/>
        </p:nvSpPr>
        <p:spPr>
          <a:xfrm>
            <a:off x="4434840" y="1645920"/>
            <a:ext cx="1463040" cy="56692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87,1</a:t>
            </a:r>
            <a:endParaRPr lang="en-US" sz="1350" dirty="0"/>
          </a:p>
        </p:txBody>
      </p:sp>
      <p:sp>
        <p:nvSpPr>
          <p:cNvPr id="15" name="Text 13"/>
          <p:cNvSpPr/>
          <p:nvPr/>
        </p:nvSpPr>
        <p:spPr>
          <a:xfrm>
            <a:off x="5897880" y="1645920"/>
            <a:ext cx="118872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78,3</a:t>
            </a:r>
            <a:endParaRPr lang="en-US" sz="1350" dirty="0"/>
          </a:p>
        </p:txBody>
      </p:sp>
      <p:sp>
        <p:nvSpPr>
          <p:cNvPr id="16" name="Text 14"/>
          <p:cNvSpPr/>
          <p:nvPr/>
        </p:nvSpPr>
        <p:spPr>
          <a:xfrm>
            <a:off x="7086600" y="1645920"/>
            <a:ext cx="1280160" cy="566928"/>
          </a:xfrm>
          <a:prstGeom prst="rect">
            <a:avLst/>
          </a:prstGeom>
          <a:noFill/>
          <a:ln/>
        </p:spPr>
        <p:txBody>
          <a:bodyPr wrap="square" lIns="38100" tIns="38100" rIns="38100" bIns="38100" rtlCol="0" anchor="ctr"/>
          <a:lstStyle/>
          <a:p>
            <a:pPr algn="ctr" indent="0" marL="0">
              <a:buNone/>
            </a:pPr>
            <a:r>
              <a:rPr lang="en-US" sz="1350" b="1" dirty="0">
                <a:solidFill>
                  <a:srgbClr val="006666"/>
                </a:solidFill>
                <a:latin typeface="Cambria" pitchFamily="34" charset="0"/>
                <a:ea typeface="Cambria" pitchFamily="34" charset="-122"/>
                <a:cs typeface="Cambria" pitchFamily="34" charset="-120"/>
              </a:rPr>
              <a:t>+8,83</a:t>
            </a:r>
            <a:endParaRPr lang="en-US" sz="1350" dirty="0"/>
          </a:p>
        </p:txBody>
      </p:sp>
      <p:sp>
        <p:nvSpPr>
          <p:cNvPr id="17" name="Text 15"/>
          <p:cNvSpPr/>
          <p:nvPr/>
        </p:nvSpPr>
        <p:spPr>
          <a:xfrm>
            <a:off x="8366760" y="1645920"/>
            <a:ext cx="722376"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86,3</a:t>
            </a:r>
            <a:endParaRPr lang="en-US" sz="1350" dirty="0"/>
          </a:p>
        </p:txBody>
      </p:sp>
      <p:sp>
        <p:nvSpPr>
          <p:cNvPr id="18" name="Shape 16"/>
          <p:cNvSpPr/>
          <p:nvPr/>
        </p:nvSpPr>
        <p:spPr>
          <a:xfrm>
            <a:off x="502920" y="2212848"/>
            <a:ext cx="8586216" cy="0"/>
          </a:xfrm>
          <a:prstGeom prst="line">
            <a:avLst/>
          </a:prstGeom>
          <a:noFill/>
          <a:ln w="12700">
            <a:solidFill>
              <a:srgbClr val="9A94AE"/>
            </a:solidFill>
            <a:prstDash val="solid"/>
          </a:ln>
        </p:spPr>
      </p:sp>
      <p:sp>
        <p:nvSpPr>
          <p:cNvPr id="19" name="Text 17"/>
          <p:cNvSpPr/>
          <p:nvPr/>
        </p:nvSpPr>
        <p:spPr>
          <a:xfrm>
            <a:off x="502920" y="2212848"/>
            <a:ext cx="2377440" cy="566928"/>
          </a:xfrm>
          <a:prstGeom prst="rect">
            <a:avLst/>
          </a:prstGeom>
          <a:noFill/>
          <a:ln/>
        </p:spPr>
        <p:txBody>
          <a:bodyPr wrap="square" lIns="38100" tIns="38100" rIns="38100" bIns="38100" rtlCol="0" anchor="ctr"/>
          <a:lstStyle/>
          <a:p>
            <a:pPr algn="l" indent="0" marL="0">
              <a:buNone/>
            </a:pPr>
            <a:r>
              <a:rPr lang="en-US" sz="1350" b="1" dirty="0">
                <a:solidFill>
                  <a:srgbClr val="B22222"/>
                </a:solidFill>
                <a:latin typeface="Cambria" pitchFamily="34" charset="0"/>
                <a:ea typeface="Cambria" pitchFamily="34" charset="-122"/>
                <a:cs typeface="Cambria" pitchFamily="34" charset="-120"/>
              </a:rPr>
              <a:t>Khai báo SAI</a:t>
            </a:r>
            <a:endParaRPr lang="en-US" sz="1350" dirty="0"/>
          </a:p>
        </p:txBody>
      </p:sp>
      <p:sp>
        <p:nvSpPr>
          <p:cNvPr id="20" name="Text 18"/>
          <p:cNvSpPr/>
          <p:nvPr/>
        </p:nvSpPr>
        <p:spPr>
          <a:xfrm>
            <a:off x="2880360" y="2212848"/>
            <a:ext cx="155448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1.367  (39,4%)</a:t>
            </a:r>
            <a:endParaRPr lang="en-US" sz="1350" dirty="0"/>
          </a:p>
        </p:txBody>
      </p:sp>
      <p:sp>
        <p:nvSpPr>
          <p:cNvPr id="21" name="Text 19"/>
          <p:cNvSpPr/>
          <p:nvPr/>
        </p:nvSpPr>
        <p:spPr>
          <a:xfrm>
            <a:off x="4434840" y="2212848"/>
            <a:ext cx="1463040" cy="566928"/>
          </a:xfrm>
          <a:prstGeom prst="rect">
            <a:avLst/>
          </a:prstGeom>
          <a:noFill/>
          <a:ln/>
        </p:spPr>
        <p:txBody>
          <a:bodyPr wrap="square" lIns="38100" tIns="38100" rIns="38100" bIns="38100" rtlCol="0" anchor="ctr"/>
          <a:lstStyle/>
          <a:p>
            <a:pPr algn="ctr" indent="0" marL="0">
              <a:buNone/>
            </a:pPr>
            <a:r>
              <a:rPr lang="en-US" sz="1350" b="1" dirty="0">
                <a:solidFill>
                  <a:srgbClr val="1A1A1A"/>
                </a:solidFill>
                <a:latin typeface="Cambria" pitchFamily="34" charset="0"/>
                <a:ea typeface="Cambria" pitchFamily="34" charset="-122"/>
                <a:cs typeface="Cambria" pitchFamily="34" charset="-120"/>
              </a:rPr>
              <a:t>21,8</a:t>
            </a:r>
            <a:endParaRPr lang="en-US" sz="1350" dirty="0"/>
          </a:p>
        </p:txBody>
      </p:sp>
      <p:sp>
        <p:nvSpPr>
          <p:cNvPr id="22" name="Text 20"/>
          <p:cNvSpPr/>
          <p:nvPr/>
        </p:nvSpPr>
        <p:spPr>
          <a:xfrm>
            <a:off x="5897880" y="2212848"/>
            <a:ext cx="1188720"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32,9</a:t>
            </a:r>
            <a:endParaRPr lang="en-US" sz="1350" dirty="0"/>
          </a:p>
        </p:txBody>
      </p:sp>
      <p:sp>
        <p:nvSpPr>
          <p:cNvPr id="23" name="Text 21"/>
          <p:cNvSpPr/>
          <p:nvPr/>
        </p:nvSpPr>
        <p:spPr>
          <a:xfrm>
            <a:off x="7086600" y="2212848"/>
            <a:ext cx="1280160" cy="566928"/>
          </a:xfrm>
          <a:prstGeom prst="rect">
            <a:avLst/>
          </a:prstGeom>
          <a:noFill/>
          <a:ln/>
        </p:spPr>
        <p:txBody>
          <a:bodyPr wrap="square" lIns="38100" tIns="38100" rIns="38100" bIns="38100" rtlCol="0" anchor="ctr"/>
          <a:lstStyle/>
          <a:p>
            <a:pPr algn="ctr" indent="0" marL="0">
              <a:buNone/>
            </a:pPr>
            <a:r>
              <a:rPr lang="en-US" sz="1350" b="1" dirty="0">
                <a:solidFill>
                  <a:srgbClr val="B22222"/>
                </a:solidFill>
                <a:latin typeface="Cambria" pitchFamily="34" charset="0"/>
                <a:ea typeface="Cambria" pitchFamily="34" charset="-122"/>
                <a:cs typeface="Cambria" pitchFamily="34" charset="-120"/>
              </a:rPr>
              <a:t>−11,12</a:t>
            </a:r>
            <a:endParaRPr lang="en-US" sz="1350" dirty="0"/>
          </a:p>
        </p:txBody>
      </p:sp>
      <p:sp>
        <p:nvSpPr>
          <p:cNvPr id="24" name="Text 22"/>
          <p:cNvSpPr/>
          <p:nvPr/>
        </p:nvSpPr>
        <p:spPr>
          <a:xfrm>
            <a:off x="8366760" y="2212848"/>
            <a:ext cx="722376" cy="566928"/>
          </a:xfrm>
          <a:prstGeom prst="rect">
            <a:avLst/>
          </a:prstGeom>
          <a:noFill/>
          <a:ln/>
        </p:spPr>
        <p:txBody>
          <a:bodyPr wrap="square" lIns="38100" tIns="38100" rIns="38100" bIns="38100" rtlCol="0" anchor="ctr"/>
          <a:lstStyle/>
          <a:p>
            <a:pPr algn="ctr" indent="0" marL="0">
              <a:buNone/>
            </a:pPr>
            <a:r>
              <a:rPr lang="en-US" sz="1350" dirty="0">
                <a:solidFill>
                  <a:srgbClr val="1A1A1A"/>
                </a:solidFill>
                <a:latin typeface="Cambria" pitchFamily="34" charset="0"/>
                <a:ea typeface="Cambria" pitchFamily="34" charset="-122"/>
                <a:cs typeface="Cambria" pitchFamily="34" charset="-120"/>
              </a:rPr>
              <a:t>61,4</a:t>
            </a:r>
            <a:endParaRPr lang="en-US" sz="1350" dirty="0"/>
          </a:p>
        </p:txBody>
      </p:sp>
      <p:sp>
        <p:nvSpPr>
          <p:cNvPr id="25" name="Text 23"/>
          <p:cNvSpPr/>
          <p:nvPr/>
        </p:nvSpPr>
        <p:spPr>
          <a:xfrm>
            <a:off x="640080" y="3017520"/>
            <a:ext cx="201168" cy="621792"/>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6" name="Text 24"/>
          <p:cNvSpPr/>
          <p:nvPr/>
        </p:nvSpPr>
        <p:spPr>
          <a:xfrm>
            <a:off x="868680" y="3017520"/>
            <a:ext cx="7635240" cy="585216"/>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Khai báo đúng thì mô hình vượt cả trần của nhóm đó</a:t>
            </a:r>
            <a:endParaRPr lang="en-US" sz="1350" dirty="0"/>
          </a:p>
        </p:txBody>
      </p:sp>
      <p:sp>
        <p:nvSpPr>
          <p:cNvPr id="27" name="Text 25"/>
          <p:cNvSpPr/>
          <p:nvPr/>
        </p:nvSpPr>
        <p:spPr>
          <a:xfrm>
            <a:off x="640080" y="3639312"/>
            <a:ext cx="201168" cy="621792"/>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28" name="Text 26"/>
          <p:cNvSpPr/>
          <p:nvPr/>
        </p:nvSpPr>
        <p:spPr>
          <a:xfrm>
            <a:off x="868680" y="3639312"/>
            <a:ext cx="7635240" cy="585216"/>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Khai báo sai thì nó làm sai câu nặng hơn cả không khai báo</a:t>
            </a:r>
            <a:endParaRPr lang="en-US" sz="1350" dirty="0"/>
          </a:p>
        </p:txBody>
      </p:sp>
      <p:sp>
        <p:nvSpPr>
          <p:cNvPr id="29" name="Text 27"/>
          <p:cNvSpPr/>
          <p:nvPr/>
        </p:nvSpPr>
        <p:spPr>
          <a:xfrm>
            <a:off x="640080" y="4261104"/>
            <a:ext cx="201168" cy="621792"/>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30" name="Text 28"/>
          <p:cNvSpPr/>
          <p:nvPr/>
        </p:nvSpPr>
        <p:spPr>
          <a:xfrm>
            <a:off x="868680" y="4261104"/>
            <a:ext cx="7635240" cy="585216"/>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Hai chiều triệt tiêu nhau, cộng lại thành </a:t>
            </a:r>
            <a:pPr algn="l" indent="0" marL="0">
              <a:lnSpc>
                <a:spcPct val="125000"/>
              </a:lnSpc>
              <a:buNone/>
            </a:pPr>
            <a:r>
              <a:rPr lang="en-US" sz="1350" b="1" dirty="0">
                <a:solidFill>
                  <a:srgbClr val="990000"/>
                </a:solidFill>
                <a:latin typeface="Cambria" pitchFamily="34" charset="0"/>
                <a:ea typeface="Cambria" pitchFamily="34" charset="-122"/>
                <a:cs typeface="Cambria" pitchFamily="34" charset="-120"/>
              </a:rPr>
              <a:t>+0,94 điểm không có ý nghĩa</a:t>
            </a:r>
            <a:endParaRPr lang="en-US" sz="1350" dirty="0"/>
          </a:p>
        </p:txBody>
      </p:sp>
      <p:sp>
        <p:nvSpPr>
          <p:cNvPr id="31" name="Shape 29"/>
          <p:cNvSpPr/>
          <p:nvPr/>
        </p:nvSpPr>
        <p:spPr>
          <a:xfrm>
            <a:off x="502920" y="4892040"/>
            <a:ext cx="8138160" cy="777240"/>
          </a:xfrm>
          <a:prstGeom prst="roundRect">
            <a:avLst>
              <a:gd name="adj" fmla="val 7059"/>
            </a:avLst>
          </a:prstGeom>
          <a:solidFill>
            <a:srgbClr val="E9E8EC"/>
          </a:solidFill>
          <a:ln/>
          <a:effectLst>
            <a:outerShdw sx="100000" sy="100000" kx="0" ky="0" algn="bl" rotWithShape="0" blurRad="63500" dist="31750" dir="2700000">
              <a:srgbClr val="8C8C99">
                <a:alpha val="45000"/>
              </a:srgbClr>
            </a:outerShdw>
          </a:effectLst>
        </p:spPr>
      </p:sp>
      <p:sp>
        <p:nvSpPr>
          <p:cNvPr id="32" name="Text 30"/>
          <p:cNvSpPr/>
          <p:nvPr/>
        </p:nvSpPr>
        <p:spPr>
          <a:xfrm>
            <a:off x="731520" y="4892040"/>
            <a:ext cx="7680960" cy="777240"/>
          </a:xfrm>
          <a:prstGeom prst="rect">
            <a:avLst/>
          </a:prstGeom>
          <a:noFill/>
          <a:ln/>
        </p:spPr>
        <p:txBody>
          <a:bodyPr wrap="square" lIns="0" tIns="0" rIns="0" bIns="0" rtlCol="0" anchor="ctr"/>
          <a:lstStyle/>
          <a:p>
            <a:pPr algn="l" indent="0" marL="0">
              <a:lnSpc>
                <a:spcPct val="135000"/>
              </a:lnSpc>
              <a:buNone/>
            </a:pPr>
            <a:r>
              <a:rPr lang="en-US" sz="1250" b="1" dirty="0">
                <a:solidFill>
                  <a:srgbClr val="B22222"/>
                </a:solidFill>
                <a:latin typeface="Cambria" pitchFamily="34" charset="0"/>
                <a:ea typeface="Cambria" pitchFamily="34" charset="-122"/>
                <a:cs typeface="Cambria" pitchFamily="34" charset="-120"/>
              </a:rPr>
              <a:t>Cách chia nhóm này là hậu kiểm:</a:t>
            </a:r>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 biến chia nhóm là hành vi của chính mô hình được đo.</a:t>
            </a:r>
            <a:endParaRPr lang="en-US" sz="1250" dirty="0"/>
          </a:p>
        </p:txBody>
      </p:sp>
      <p:sp>
        <p:nvSpPr>
          <p:cNvPr id="34" name="Shape 31"/>
          <p:cNvSpPr/>
          <p:nvPr/>
        </p:nvSpPr>
        <p:spPr>
          <a:xfrm>
            <a:off x="0" y="6620256"/>
            <a:ext cx="2743200" cy="237744"/>
          </a:xfrm>
          <a:prstGeom prst="rect">
            <a:avLst/>
          </a:prstGeom>
          <a:solidFill>
            <a:srgbClr val="191132"/>
          </a:solidFill>
          <a:ln/>
        </p:spPr>
      </p:sp>
      <p:sp>
        <p:nvSpPr>
          <p:cNvPr id="35" name="Shape 32"/>
          <p:cNvSpPr/>
          <p:nvPr/>
        </p:nvSpPr>
        <p:spPr>
          <a:xfrm>
            <a:off x="2743200" y="6620256"/>
            <a:ext cx="3383280" cy="237744"/>
          </a:xfrm>
          <a:prstGeom prst="rect">
            <a:avLst/>
          </a:prstGeom>
          <a:solidFill>
            <a:srgbClr val="25194B"/>
          </a:solidFill>
          <a:ln/>
        </p:spPr>
      </p:sp>
      <p:sp>
        <p:nvSpPr>
          <p:cNvPr id="36" name="Shape 33"/>
          <p:cNvSpPr/>
          <p:nvPr/>
        </p:nvSpPr>
        <p:spPr>
          <a:xfrm>
            <a:off x="6126480" y="6620256"/>
            <a:ext cx="1737360" cy="237744"/>
          </a:xfrm>
          <a:prstGeom prst="rect">
            <a:avLst/>
          </a:prstGeom>
          <a:solidFill>
            <a:srgbClr val="4F417A"/>
          </a:solidFill>
          <a:ln/>
        </p:spPr>
      </p:sp>
      <p:sp>
        <p:nvSpPr>
          <p:cNvPr id="37" name="Shape 34"/>
          <p:cNvSpPr/>
          <p:nvPr/>
        </p:nvSpPr>
        <p:spPr>
          <a:xfrm>
            <a:off x="7863840" y="6620256"/>
            <a:ext cx="1280160" cy="237744"/>
          </a:xfrm>
          <a:prstGeom prst="rect">
            <a:avLst/>
          </a:prstGeom>
          <a:solidFill>
            <a:srgbClr val="7A7099"/>
          </a:solidFill>
          <a:ln/>
        </p:spPr>
      </p:sp>
      <p:sp>
        <p:nvSpPr>
          <p:cNvPr id="38" name="Text 35"/>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9" name="Text 36"/>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40" name="Text 37"/>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41" name="Text 38"/>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20/26</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63% dư địa còn lại nằm gọn trong một ô duy nhất</a:t>
            </a:r>
            <a:endParaRPr lang="en-US" sz="1900" dirty="0"/>
          </a:p>
        </p:txBody>
      </p:sp>
      <p:sp>
        <p:nvSpPr>
          <p:cNvPr id="4" name="Shape 2"/>
          <p:cNvSpPr/>
          <p:nvPr/>
        </p:nvSpPr>
        <p:spPr>
          <a:xfrm>
            <a:off x="502920" y="914400"/>
            <a:ext cx="8220456" cy="384048"/>
          </a:xfrm>
          <a:prstGeom prst="rect">
            <a:avLst/>
          </a:prstGeom>
          <a:solidFill>
            <a:srgbClr val="322164"/>
          </a:solidFill>
          <a:ln/>
        </p:spPr>
      </p:sp>
      <p:sp>
        <p:nvSpPr>
          <p:cNvPr id="5" name="Text 3"/>
          <p:cNvSpPr/>
          <p:nvPr/>
        </p:nvSpPr>
        <p:spPr>
          <a:xfrm>
            <a:off x="502920" y="914400"/>
            <a:ext cx="2468880" cy="384048"/>
          </a:xfrm>
          <a:prstGeom prst="rect">
            <a:avLst/>
          </a:prstGeom>
          <a:noFill/>
          <a:ln/>
        </p:spPr>
        <p:txBody>
          <a:bodyPr wrap="square" lIns="38100" tIns="38100" rIns="38100" bIns="38100" rtlCol="0" anchor="ctr"/>
          <a:lstStyle/>
          <a:p>
            <a:pPr algn="l" indent="0" marL="0">
              <a:buNone/>
            </a:pPr>
            <a:r>
              <a:rPr lang="en-US" sz="1150" b="1" dirty="0">
                <a:solidFill>
                  <a:srgbClr val="FFFFFF"/>
                </a:solidFill>
                <a:latin typeface="Cambria" pitchFamily="34" charset="0"/>
                <a:ea typeface="Cambria" pitchFamily="34" charset="-122"/>
                <a:cs typeface="Cambria" pitchFamily="34" charset="-120"/>
              </a:rPr>
              <a:t>Trạng thái ô khai báo</a:t>
            </a:r>
            <a:endParaRPr lang="en-US" sz="1150" dirty="0"/>
          </a:p>
        </p:txBody>
      </p:sp>
      <p:sp>
        <p:nvSpPr>
          <p:cNvPr id="6" name="Text 4"/>
          <p:cNvSpPr/>
          <p:nvPr/>
        </p:nvSpPr>
        <p:spPr>
          <a:xfrm>
            <a:off x="2971800" y="914400"/>
            <a:ext cx="96012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n</a:t>
            </a:r>
            <a:endParaRPr lang="en-US" sz="1150" dirty="0"/>
          </a:p>
        </p:txBody>
      </p:sp>
      <p:sp>
        <p:nvSpPr>
          <p:cNvPr id="7" name="Text 5"/>
          <p:cNvSpPr/>
          <p:nvPr/>
        </p:nvSpPr>
        <p:spPr>
          <a:xfrm>
            <a:off x="3931920" y="914400"/>
            <a:ext cx="82296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a:t>
            </a:r>
            <a:endParaRPr lang="en-US" sz="1150" dirty="0"/>
          </a:p>
        </p:txBody>
      </p:sp>
      <p:sp>
        <p:nvSpPr>
          <p:cNvPr id="8" name="Text 6"/>
          <p:cNvSpPr/>
          <p:nvPr/>
        </p:nvSpPr>
        <p:spPr>
          <a:xfrm>
            <a:off x="4754880" y="914400"/>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MIN</a:t>
            </a:r>
            <a:endParaRPr lang="en-US" sz="1150" dirty="0"/>
          </a:p>
        </p:txBody>
      </p:sp>
      <p:sp>
        <p:nvSpPr>
          <p:cNvPr id="9" name="Text 7"/>
          <p:cNvSpPr/>
          <p:nvPr/>
        </p:nvSpPr>
        <p:spPr>
          <a:xfrm>
            <a:off x="5760720" y="914400"/>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S1</a:t>
            </a:r>
            <a:endParaRPr lang="en-US" sz="1150" dirty="0"/>
          </a:p>
        </p:txBody>
      </p:sp>
      <p:sp>
        <p:nvSpPr>
          <p:cNvPr id="10" name="Text 8"/>
          <p:cNvSpPr/>
          <p:nvPr/>
        </p:nvSpPr>
        <p:spPr>
          <a:xfrm>
            <a:off x="6766560" y="914400"/>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Trần</a:t>
            </a:r>
            <a:endParaRPr lang="en-US" sz="1150" dirty="0"/>
          </a:p>
        </p:txBody>
      </p:sp>
      <p:sp>
        <p:nvSpPr>
          <p:cNvPr id="11" name="Text 9"/>
          <p:cNvSpPr/>
          <p:nvPr/>
        </p:nvSpPr>
        <p:spPr>
          <a:xfrm>
            <a:off x="7772400" y="914400"/>
            <a:ext cx="950976" cy="384048"/>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Dư địa</a:t>
            </a:r>
            <a:endParaRPr lang="en-US" sz="1150" dirty="0"/>
          </a:p>
        </p:txBody>
      </p:sp>
      <p:sp>
        <p:nvSpPr>
          <p:cNvPr id="12" name="Text 10"/>
          <p:cNvSpPr/>
          <p:nvPr/>
        </p:nvSpPr>
        <p:spPr>
          <a:xfrm>
            <a:off x="502920" y="1298448"/>
            <a:ext cx="2468880" cy="384048"/>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tên đúng, toạ độ đúng</a:t>
            </a:r>
            <a:endParaRPr lang="en-US" sz="1150" dirty="0"/>
          </a:p>
        </p:txBody>
      </p:sp>
      <p:sp>
        <p:nvSpPr>
          <p:cNvPr id="13" name="Text 11"/>
          <p:cNvSpPr/>
          <p:nvPr/>
        </p:nvSpPr>
        <p:spPr>
          <a:xfrm>
            <a:off x="2971800" y="1298448"/>
            <a:ext cx="96012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2.082</a:t>
            </a:r>
            <a:endParaRPr lang="en-US" sz="1150" dirty="0"/>
          </a:p>
        </p:txBody>
      </p:sp>
      <p:sp>
        <p:nvSpPr>
          <p:cNvPr id="14" name="Text 12"/>
          <p:cNvSpPr/>
          <p:nvPr/>
        </p:nvSpPr>
        <p:spPr>
          <a:xfrm>
            <a:off x="3931920" y="1298448"/>
            <a:ext cx="82296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46,7</a:t>
            </a:r>
            <a:endParaRPr lang="en-US" sz="1150" dirty="0"/>
          </a:p>
        </p:txBody>
      </p:sp>
      <p:sp>
        <p:nvSpPr>
          <p:cNvPr id="15" name="Text 13"/>
          <p:cNvSpPr/>
          <p:nvPr/>
        </p:nvSpPr>
        <p:spPr>
          <a:xfrm>
            <a:off x="4754880" y="1298448"/>
            <a:ext cx="1005840" cy="384048"/>
          </a:xfrm>
          <a:prstGeom prst="rect">
            <a:avLst/>
          </a:prstGeom>
          <a:noFill/>
          <a:ln/>
        </p:spPr>
        <p:txBody>
          <a:bodyPr wrap="square" lIns="38100" tIns="38100" rIns="38100" bIns="38100" rtlCol="0" anchor="ctr"/>
          <a:lstStyle/>
          <a:p>
            <a:pPr algn="ctr" indent="0" marL="0">
              <a:buNone/>
            </a:pPr>
            <a:r>
              <a:rPr lang="en-US" sz="1150" b="1" dirty="0">
                <a:solidFill>
                  <a:srgbClr val="1A1A1A"/>
                </a:solidFill>
                <a:latin typeface="Cambria" pitchFamily="34" charset="0"/>
                <a:ea typeface="Cambria" pitchFamily="34" charset="-122"/>
                <a:cs typeface="Cambria" pitchFamily="34" charset="-120"/>
              </a:rPr>
              <a:t>87,1</a:t>
            </a:r>
            <a:endParaRPr lang="en-US" sz="1150" dirty="0"/>
          </a:p>
        </p:txBody>
      </p:sp>
      <p:sp>
        <p:nvSpPr>
          <p:cNvPr id="16" name="Text 14"/>
          <p:cNvSpPr/>
          <p:nvPr/>
        </p:nvSpPr>
        <p:spPr>
          <a:xfrm>
            <a:off x="5760720" y="1298448"/>
            <a:ext cx="100584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78,2</a:t>
            </a:r>
            <a:endParaRPr lang="en-US" sz="1150" dirty="0"/>
          </a:p>
        </p:txBody>
      </p:sp>
      <p:sp>
        <p:nvSpPr>
          <p:cNvPr id="17" name="Text 15"/>
          <p:cNvSpPr/>
          <p:nvPr/>
        </p:nvSpPr>
        <p:spPr>
          <a:xfrm>
            <a:off x="6766560" y="1298448"/>
            <a:ext cx="1005840"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86,3</a:t>
            </a:r>
            <a:endParaRPr lang="en-US" sz="1150" dirty="0"/>
          </a:p>
        </p:txBody>
      </p:sp>
      <p:sp>
        <p:nvSpPr>
          <p:cNvPr id="18" name="Text 16"/>
          <p:cNvSpPr/>
          <p:nvPr/>
        </p:nvSpPr>
        <p:spPr>
          <a:xfrm>
            <a:off x="7772400" y="1298448"/>
            <a:ext cx="950976" cy="384048"/>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−0,36</a:t>
            </a:r>
            <a:endParaRPr lang="en-US" sz="1150" dirty="0"/>
          </a:p>
        </p:txBody>
      </p:sp>
      <p:sp>
        <p:nvSpPr>
          <p:cNvPr id="19" name="Shape 17"/>
          <p:cNvSpPr/>
          <p:nvPr/>
        </p:nvSpPr>
        <p:spPr>
          <a:xfrm>
            <a:off x="502920" y="1682496"/>
            <a:ext cx="8220456" cy="0"/>
          </a:xfrm>
          <a:prstGeom prst="line">
            <a:avLst/>
          </a:prstGeom>
          <a:noFill/>
          <a:ln w="12700">
            <a:solidFill>
              <a:srgbClr val="9A94AE"/>
            </a:solidFill>
            <a:prstDash val="solid"/>
          </a:ln>
        </p:spPr>
      </p:sp>
      <p:sp>
        <p:nvSpPr>
          <p:cNvPr id="20" name="Text 18"/>
          <p:cNvSpPr/>
          <p:nvPr/>
        </p:nvSpPr>
        <p:spPr>
          <a:xfrm>
            <a:off x="502920" y="1682496"/>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tên đúng, toạ độ sai</a:t>
            </a:r>
            <a:endParaRPr lang="en-US" sz="1150" dirty="0"/>
          </a:p>
        </p:txBody>
      </p:sp>
      <p:sp>
        <p:nvSpPr>
          <p:cNvPr id="21" name="Text 19"/>
          <p:cNvSpPr/>
          <p:nvPr/>
        </p:nvSpPr>
        <p:spPr>
          <a:xfrm>
            <a:off x="2971800" y="1682496"/>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220</a:t>
            </a:r>
            <a:endParaRPr lang="en-US" sz="1150" dirty="0"/>
          </a:p>
        </p:txBody>
      </p:sp>
      <p:sp>
        <p:nvSpPr>
          <p:cNvPr id="22" name="Text 20"/>
          <p:cNvSpPr/>
          <p:nvPr/>
        </p:nvSpPr>
        <p:spPr>
          <a:xfrm>
            <a:off x="3931920" y="1682496"/>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4,9</a:t>
            </a:r>
            <a:endParaRPr lang="en-US" sz="1150" dirty="0"/>
          </a:p>
        </p:txBody>
      </p:sp>
      <p:sp>
        <p:nvSpPr>
          <p:cNvPr id="23" name="Text 21"/>
          <p:cNvSpPr/>
          <p:nvPr/>
        </p:nvSpPr>
        <p:spPr>
          <a:xfrm>
            <a:off x="4754880" y="168249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26,4</a:t>
            </a:r>
            <a:endParaRPr lang="en-US" sz="1150" dirty="0"/>
          </a:p>
        </p:txBody>
      </p:sp>
      <p:sp>
        <p:nvSpPr>
          <p:cNvPr id="24" name="Text 22"/>
          <p:cNvSpPr/>
          <p:nvPr/>
        </p:nvSpPr>
        <p:spPr>
          <a:xfrm>
            <a:off x="5760720" y="168249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27,7</a:t>
            </a:r>
            <a:endParaRPr lang="en-US" sz="1150" dirty="0"/>
          </a:p>
        </p:txBody>
      </p:sp>
      <p:sp>
        <p:nvSpPr>
          <p:cNvPr id="25" name="Text 23"/>
          <p:cNvSpPr/>
          <p:nvPr/>
        </p:nvSpPr>
        <p:spPr>
          <a:xfrm>
            <a:off x="6766560" y="168249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32,3</a:t>
            </a:r>
            <a:endParaRPr lang="en-US" sz="1150" dirty="0"/>
          </a:p>
        </p:txBody>
      </p:sp>
      <p:sp>
        <p:nvSpPr>
          <p:cNvPr id="26" name="Text 24"/>
          <p:cNvSpPr/>
          <p:nvPr/>
        </p:nvSpPr>
        <p:spPr>
          <a:xfrm>
            <a:off x="7772400" y="1682496"/>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+0,29</a:t>
            </a:r>
            <a:endParaRPr lang="en-US" sz="1150" dirty="0"/>
          </a:p>
        </p:txBody>
      </p:sp>
      <p:sp>
        <p:nvSpPr>
          <p:cNvPr id="27" name="Shape 25"/>
          <p:cNvSpPr/>
          <p:nvPr/>
        </p:nvSpPr>
        <p:spPr>
          <a:xfrm>
            <a:off x="502920" y="2048256"/>
            <a:ext cx="8220456" cy="0"/>
          </a:xfrm>
          <a:prstGeom prst="line">
            <a:avLst/>
          </a:prstGeom>
          <a:noFill/>
          <a:ln w="12700">
            <a:solidFill>
              <a:srgbClr val="9A94AE"/>
            </a:solidFill>
            <a:prstDash val="solid"/>
          </a:ln>
        </p:spPr>
      </p:sp>
      <p:sp>
        <p:nvSpPr>
          <p:cNvPr id="28" name="Text 26"/>
          <p:cNvSpPr/>
          <p:nvPr/>
        </p:nvSpPr>
        <p:spPr>
          <a:xfrm>
            <a:off x="502920" y="2048256"/>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tên sai, toạ độ đúng</a:t>
            </a:r>
            <a:endParaRPr lang="en-US" sz="1150" dirty="0"/>
          </a:p>
        </p:txBody>
      </p:sp>
      <p:sp>
        <p:nvSpPr>
          <p:cNvPr id="29" name="Text 27"/>
          <p:cNvSpPr/>
          <p:nvPr/>
        </p:nvSpPr>
        <p:spPr>
          <a:xfrm>
            <a:off x="2971800" y="2048256"/>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411</a:t>
            </a:r>
            <a:endParaRPr lang="en-US" sz="1150" dirty="0"/>
          </a:p>
        </p:txBody>
      </p:sp>
      <p:sp>
        <p:nvSpPr>
          <p:cNvPr id="30" name="Text 28"/>
          <p:cNvSpPr/>
          <p:nvPr/>
        </p:nvSpPr>
        <p:spPr>
          <a:xfrm>
            <a:off x="3931920" y="2048256"/>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9,2</a:t>
            </a:r>
            <a:endParaRPr lang="en-US" sz="1150" dirty="0"/>
          </a:p>
        </p:txBody>
      </p:sp>
      <p:sp>
        <p:nvSpPr>
          <p:cNvPr id="31" name="Text 29"/>
          <p:cNvSpPr/>
          <p:nvPr/>
        </p:nvSpPr>
        <p:spPr>
          <a:xfrm>
            <a:off x="4754880" y="204825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57,2</a:t>
            </a:r>
            <a:endParaRPr lang="en-US" sz="1150" dirty="0"/>
          </a:p>
        </p:txBody>
      </p:sp>
      <p:sp>
        <p:nvSpPr>
          <p:cNvPr id="32" name="Text 30"/>
          <p:cNvSpPr/>
          <p:nvPr/>
        </p:nvSpPr>
        <p:spPr>
          <a:xfrm>
            <a:off x="5760720" y="204825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53,0</a:t>
            </a:r>
            <a:endParaRPr lang="en-US" sz="1150" dirty="0"/>
          </a:p>
        </p:txBody>
      </p:sp>
      <p:sp>
        <p:nvSpPr>
          <p:cNvPr id="33" name="Text 31"/>
          <p:cNvSpPr/>
          <p:nvPr/>
        </p:nvSpPr>
        <p:spPr>
          <a:xfrm>
            <a:off x="6766560" y="204825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73,0</a:t>
            </a:r>
            <a:endParaRPr lang="en-US" sz="1150" dirty="0"/>
          </a:p>
        </p:txBody>
      </p:sp>
      <p:sp>
        <p:nvSpPr>
          <p:cNvPr id="34" name="Text 32"/>
          <p:cNvSpPr/>
          <p:nvPr/>
        </p:nvSpPr>
        <p:spPr>
          <a:xfrm>
            <a:off x="7772400" y="2048256"/>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+1,46</a:t>
            </a:r>
            <a:endParaRPr lang="en-US" sz="1150" dirty="0"/>
          </a:p>
        </p:txBody>
      </p:sp>
      <p:sp>
        <p:nvSpPr>
          <p:cNvPr id="35" name="Shape 33"/>
          <p:cNvSpPr/>
          <p:nvPr/>
        </p:nvSpPr>
        <p:spPr>
          <a:xfrm>
            <a:off x="502920" y="2414016"/>
            <a:ext cx="8220456" cy="0"/>
          </a:xfrm>
          <a:prstGeom prst="line">
            <a:avLst/>
          </a:prstGeom>
          <a:noFill/>
          <a:ln w="12700">
            <a:solidFill>
              <a:srgbClr val="9A94AE"/>
            </a:solidFill>
            <a:prstDash val="solid"/>
          </a:ln>
        </p:spPr>
      </p:sp>
      <p:sp>
        <p:nvSpPr>
          <p:cNvPr id="36" name="Text 34"/>
          <p:cNvSpPr/>
          <p:nvPr/>
        </p:nvSpPr>
        <p:spPr>
          <a:xfrm>
            <a:off x="502920" y="2414016"/>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không sinh khai báo</a:t>
            </a:r>
            <a:endParaRPr lang="en-US" sz="1150" dirty="0"/>
          </a:p>
        </p:txBody>
      </p:sp>
      <p:sp>
        <p:nvSpPr>
          <p:cNvPr id="37" name="Text 35"/>
          <p:cNvSpPr/>
          <p:nvPr/>
        </p:nvSpPr>
        <p:spPr>
          <a:xfrm>
            <a:off x="2971800" y="2414016"/>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15</a:t>
            </a:r>
            <a:endParaRPr lang="en-US" sz="1150" dirty="0"/>
          </a:p>
        </p:txBody>
      </p:sp>
      <p:sp>
        <p:nvSpPr>
          <p:cNvPr id="38" name="Text 36"/>
          <p:cNvSpPr/>
          <p:nvPr/>
        </p:nvSpPr>
        <p:spPr>
          <a:xfrm>
            <a:off x="3931920" y="2414016"/>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0,3</a:t>
            </a:r>
            <a:endParaRPr lang="en-US" sz="1150" dirty="0"/>
          </a:p>
        </p:txBody>
      </p:sp>
      <p:sp>
        <p:nvSpPr>
          <p:cNvPr id="39" name="Text 37"/>
          <p:cNvSpPr/>
          <p:nvPr/>
        </p:nvSpPr>
        <p:spPr>
          <a:xfrm>
            <a:off x="4754880" y="241401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0,0</a:t>
            </a:r>
            <a:endParaRPr lang="en-US" sz="1150" dirty="0"/>
          </a:p>
        </p:txBody>
      </p:sp>
      <p:sp>
        <p:nvSpPr>
          <p:cNvPr id="40" name="Text 38"/>
          <p:cNvSpPr/>
          <p:nvPr/>
        </p:nvSpPr>
        <p:spPr>
          <a:xfrm>
            <a:off x="5760720" y="241401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0,0</a:t>
            </a:r>
            <a:endParaRPr lang="en-US" sz="1150" dirty="0"/>
          </a:p>
        </p:txBody>
      </p:sp>
      <p:sp>
        <p:nvSpPr>
          <p:cNvPr id="41" name="Text 39"/>
          <p:cNvSpPr/>
          <p:nvPr/>
        </p:nvSpPr>
        <p:spPr>
          <a:xfrm>
            <a:off x="6766560" y="2414016"/>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60,0</a:t>
            </a:r>
            <a:endParaRPr lang="en-US" sz="1150" dirty="0"/>
          </a:p>
        </p:txBody>
      </p:sp>
      <p:sp>
        <p:nvSpPr>
          <p:cNvPr id="42" name="Text 40"/>
          <p:cNvSpPr/>
          <p:nvPr/>
        </p:nvSpPr>
        <p:spPr>
          <a:xfrm>
            <a:off x="7772400" y="2414016"/>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+0,20</a:t>
            </a:r>
            <a:endParaRPr lang="en-US" sz="1150" dirty="0"/>
          </a:p>
        </p:txBody>
      </p:sp>
      <p:sp>
        <p:nvSpPr>
          <p:cNvPr id="43" name="Shape 41"/>
          <p:cNvSpPr/>
          <p:nvPr/>
        </p:nvSpPr>
        <p:spPr>
          <a:xfrm>
            <a:off x="502920" y="2779776"/>
            <a:ext cx="8220456" cy="0"/>
          </a:xfrm>
          <a:prstGeom prst="line">
            <a:avLst/>
          </a:prstGeom>
          <a:noFill/>
          <a:ln w="12700">
            <a:solidFill>
              <a:srgbClr val="9A94AE"/>
            </a:solidFill>
            <a:prstDash val="solid"/>
          </a:ln>
        </p:spPr>
      </p:sp>
      <p:sp>
        <p:nvSpPr>
          <p:cNvPr id="44" name="Text 42"/>
          <p:cNvSpPr/>
          <p:nvPr/>
        </p:nvSpPr>
        <p:spPr>
          <a:xfrm>
            <a:off x="502920" y="2779776"/>
            <a:ext cx="2468880" cy="438912"/>
          </a:xfrm>
          <a:prstGeom prst="rect">
            <a:avLst/>
          </a:prstGeom>
          <a:noFill/>
          <a:ln/>
        </p:spPr>
        <p:txBody>
          <a:bodyPr wrap="square" lIns="38100" tIns="38100" rIns="38100" bIns="38100" rtlCol="0" anchor="ctr"/>
          <a:lstStyle/>
          <a:p>
            <a:pPr algn="l" indent="0" marL="0">
              <a:buNone/>
            </a:pPr>
            <a:r>
              <a:rPr lang="en-US" sz="1200" b="1" dirty="0">
                <a:solidFill>
                  <a:srgbClr val="B22222"/>
                </a:solidFill>
                <a:latin typeface="Cambria" pitchFamily="34" charset="0"/>
                <a:ea typeface="Cambria" pitchFamily="34" charset="-122"/>
                <a:cs typeface="Cambria" pitchFamily="34" charset="-120"/>
              </a:rPr>
              <a:t>tên sai, toạ độ sai</a:t>
            </a:r>
            <a:endParaRPr lang="en-US" sz="1200" dirty="0"/>
          </a:p>
        </p:txBody>
      </p:sp>
      <p:sp>
        <p:nvSpPr>
          <p:cNvPr id="45" name="Text 43"/>
          <p:cNvSpPr/>
          <p:nvPr/>
        </p:nvSpPr>
        <p:spPr>
          <a:xfrm>
            <a:off x="2971800" y="2779776"/>
            <a:ext cx="960120" cy="438912"/>
          </a:xfrm>
          <a:prstGeom prst="rect">
            <a:avLst/>
          </a:prstGeom>
          <a:noFill/>
          <a:ln/>
        </p:spPr>
        <p:txBody>
          <a:bodyPr wrap="square" lIns="38100" tIns="38100" rIns="38100" bIns="38100" rtlCol="0" anchor="ctr"/>
          <a:lstStyle/>
          <a:p>
            <a:pPr algn="ctr" indent="0" marL="0">
              <a:buNone/>
            </a:pPr>
            <a:r>
              <a:rPr lang="en-US" sz="1200" b="1" dirty="0">
                <a:solidFill>
                  <a:srgbClr val="1A1A1A"/>
                </a:solidFill>
                <a:latin typeface="Cambria" pitchFamily="34" charset="0"/>
                <a:ea typeface="Cambria" pitchFamily="34" charset="-122"/>
                <a:cs typeface="Cambria" pitchFamily="34" charset="-120"/>
              </a:rPr>
              <a:t>745</a:t>
            </a:r>
            <a:endParaRPr lang="en-US" sz="1200" dirty="0"/>
          </a:p>
        </p:txBody>
      </p:sp>
      <p:sp>
        <p:nvSpPr>
          <p:cNvPr id="46" name="Text 44"/>
          <p:cNvSpPr/>
          <p:nvPr/>
        </p:nvSpPr>
        <p:spPr>
          <a:xfrm>
            <a:off x="3931920" y="2779776"/>
            <a:ext cx="822960" cy="438912"/>
          </a:xfrm>
          <a:prstGeom prst="rect">
            <a:avLst/>
          </a:prstGeom>
          <a:noFill/>
          <a:ln/>
        </p:spPr>
        <p:txBody>
          <a:bodyPr wrap="square" lIns="38100" tIns="38100" rIns="38100" bIns="38100" rtlCol="0" anchor="ctr"/>
          <a:lstStyle/>
          <a:p>
            <a:pPr algn="ctr" indent="0" marL="0">
              <a:buNone/>
            </a:pPr>
            <a:r>
              <a:rPr lang="en-US" sz="1200" b="1" dirty="0">
                <a:solidFill>
                  <a:srgbClr val="1A1A1A"/>
                </a:solidFill>
                <a:latin typeface="Cambria" pitchFamily="34" charset="0"/>
                <a:ea typeface="Cambria" pitchFamily="34" charset="-122"/>
                <a:cs typeface="Cambria" pitchFamily="34" charset="-120"/>
              </a:rPr>
              <a:t>16,7</a:t>
            </a:r>
            <a:endParaRPr lang="en-US" sz="1200" dirty="0"/>
          </a:p>
        </p:txBody>
      </p:sp>
      <p:sp>
        <p:nvSpPr>
          <p:cNvPr id="47" name="Text 45"/>
          <p:cNvSpPr/>
          <p:nvPr/>
        </p:nvSpPr>
        <p:spPr>
          <a:xfrm>
            <a:off x="4754880" y="2779776"/>
            <a:ext cx="1005840" cy="438912"/>
          </a:xfrm>
          <a:prstGeom prst="rect">
            <a:avLst/>
          </a:prstGeom>
          <a:noFill/>
          <a:ln/>
        </p:spPr>
        <p:txBody>
          <a:bodyPr wrap="square" lIns="38100" tIns="38100" rIns="38100" bIns="38100" rtlCol="0" anchor="ctr"/>
          <a:lstStyle/>
          <a:p>
            <a:pPr algn="ctr" indent="0" marL="0">
              <a:buNone/>
            </a:pPr>
            <a:r>
              <a:rPr lang="en-US" sz="1200" b="1" dirty="0">
                <a:solidFill>
                  <a:srgbClr val="B22222"/>
                </a:solidFill>
                <a:latin typeface="Cambria" pitchFamily="34" charset="0"/>
                <a:ea typeface="Cambria" pitchFamily="34" charset="-122"/>
                <a:cs typeface="Cambria" pitchFamily="34" charset="-120"/>
              </a:rPr>
              <a:t>3,6</a:t>
            </a:r>
            <a:endParaRPr lang="en-US" sz="1200" dirty="0"/>
          </a:p>
        </p:txBody>
      </p:sp>
      <p:sp>
        <p:nvSpPr>
          <p:cNvPr id="48" name="Text 46"/>
          <p:cNvSpPr/>
          <p:nvPr/>
        </p:nvSpPr>
        <p:spPr>
          <a:xfrm>
            <a:off x="5760720" y="2779776"/>
            <a:ext cx="1005840" cy="438912"/>
          </a:xfrm>
          <a:prstGeom prst="rect">
            <a:avLst/>
          </a:prstGeom>
          <a:noFill/>
          <a:ln/>
        </p:spPr>
        <p:txBody>
          <a:bodyPr wrap="square" lIns="38100" tIns="38100" rIns="38100" bIns="38100" rtlCol="0" anchor="ctr"/>
          <a:lstStyle/>
          <a:p>
            <a:pPr algn="ctr" indent="0" marL="0">
              <a:buNone/>
            </a:pPr>
            <a:r>
              <a:rPr lang="en-US" sz="1200" b="1" dirty="0">
                <a:solidFill>
                  <a:srgbClr val="1A1A1A"/>
                </a:solidFill>
                <a:latin typeface="Cambria" pitchFamily="34" charset="0"/>
                <a:ea typeface="Cambria" pitchFamily="34" charset="-122"/>
                <a:cs typeface="Cambria" pitchFamily="34" charset="-120"/>
              </a:rPr>
              <a:t>25,8</a:t>
            </a:r>
            <a:endParaRPr lang="en-US" sz="1200" dirty="0"/>
          </a:p>
        </p:txBody>
      </p:sp>
      <p:sp>
        <p:nvSpPr>
          <p:cNvPr id="49" name="Text 47"/>
          <p:cNvSpPr/>
          <p:nvPr/>
        </p:nvSpPr>
        <p:spPr>
          <a:xfrm>
            <a:off x="6766560" y="2779776"/>
            <a:ext cx="1005840" cy="438912"/>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mbria" pitchFamily="34" charset="0"/>
                <a:ea typeface="Cambria" pitchFamily="34" charset="-122"/>
                <a:cs typeface="Cambria" pitchFamily="34" charset="-120"/>
              </a:rPr>
              <a:t>64,4</a:t>
            </a:r>
            <a:endParaRPr lang="en-US" sz="1200" dirty="0"/>
          </a:p>
        </p:txBody>
      </p:sp>
      <p:sp>
        <p:nvSpPr>
          <p:cNvPr id="50" name="Text 48"/>
          <p:cNvSpPr/>
          <p:nvPr/>
        </p:nvSpPr>
        <p:spPr>
          <a:xfrm>
            <a:off x="7772400" y="2779776"/>
            <a:ext cx="950976" cy="438912"/>
          </a:xfrm>
          <a:prstGeom prst="rect">
            <a:avLst/>
          </a:prstGeom>
          <a:noFill/>
          <a:ln/>
        </p:spPr>
        <p:txBody>
          <a:bodyPr wrap="square" lIns="38100" tIns="38100" rIns="38100" bIns="38100" rtlCol="0" anchor="ctr"/>
          <a:lstStyle/>
          <a:p>
            <a:pPr algn="ctr" indent="0" marL="0">
              <a:buNone/>
            </a:pPr>
            <a:r>
              <a:rPr lang="en-US" sz="1200" b="1" dirty="0">
                <a:solidFill>
                  <a:srgbClr val="B22222"/>
                </a:solidFill>
                <a:latin typeface="Cambria" pitchFamily="34" charset="0"/>
                <a:ea typeface="Cambria" pitchFamily="34" charset="-122"/>
                <a:cs typeface="Cambria" pitchFamily="34" charset="-120"/>
              </a:rPr>
              <a:t>+10,15</a:t>
            </a:r>
            <a:endParaRPr lang="en-US" sz="1200" dirty="0"/>
          </a:p>
        </p:txBody>
      </p:sp>
      <p:sp>
        <p:nvSpPr>
          <p:cNvPr id="51" name="Shape 49"/>
          <p:cNvSpPr/>
          <p:nvPr/>
        </p:nvSpPr>
        <p:spPr>
          <a:xfrm>
            <a:off x="502920" y="3218688"/>
            <a:ext cx="8220456" cy="0"/>
          </a:xfrm>
          <a:prstGeom prst="line">
            <a:avLst/>
          </a:prstGeom>
          <a:noFill/>
          <a:ln w="12700">
            <a:solidFill>
              <a:srgbClr val="9A94AE"/>
            </a:solidFill>
            <a:prstDash val="solid"/>
          </a:ln>
        </p:spPr>
      </p:sp>
      <p:sp>
        <p:nvSpPr>
          <p:cNvPr id="52" name="Text 50"/>
          <p:cNvSpPr/>
          <p:nvPr/>
        </p:nvSpPr>
        <p:spPr>
          <a:xfrm>
            <a:off x="502920" y="3218688"/>
            <a:ext cx="246888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không có tên tham chiếu</a:t>
            </a:r>
            <a:endParaRPr lang="en-US" sz="1150" dirty="0"/>
          </a:p>
        </p:txBody>
      </p:sp>
      <p:sp>
        <p:nvSpPr>
          <p:cNvPr id="53" name="Text 51"/>
          <p:cNvSpPr/>
          <p:nvPr/>
        </p:nvSpPr>
        <p:spPr>
          <a:xfrm>
            <a:off x="2971800" y="3218688"/>
            <a:ext cx="96012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990</a:t>
            </a:r>
            <a:endParaRPr lang="en-US" sz="1150" dirty="0"/>
          </a:p>
        </p:txBody>
      </p:sp>
      <p:sp>
        <p:nvSpPr>
          <p:cNvPr id="54" name="Text 52"/>
          <p:cNvSpPr/>
          <p:nvPr/>
        </p:nvSpPr>
        <p:spPr>
          <a:xfrm>
            <a:off x="3931920" y="3218688"/>
            <a:ext cx="82296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22,2</a:t>
            </a:r>
            <a:endParaRPr lang="en-US" sz="1150" dirty="0"/>
          </a:p>
        </p:txBody>
      </p:sp>
      <p:sp>
        <p:nvSpPr>
          <p:cNvPr id="55" name="Text 53"/>
          <p:cNvSpPr/>
          <p:nvPr/>
        </p:nvSpPr>
        <p:spPr>
          <a:xfrm>
            <a:off x="4754880" y="3218688"/>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55,3</a:t>
            </a:r>
            <a:endParaRPr lang="en-US" sz="1150" dirty="0"/>
          </a:p>
        </p:txBody>
      </p:sp>
      <p:sp>
        <p:nvSpPr>
          <p:cNvPr id="56" name="Text 54"/>
          <p:cNvSpPr/>
          <p:nvPr/>
        </p:nvSpPr>
        <p:spPr>
          <a:xfrm>
            <a:off x="5760720" y="3218688"/>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54,4</a:t>
            </a:r>
            <a:endParaRPr lang="en-US" sz="1150" dirty="0"/>
          </a:p>
        </p:txBody>
      </p:sp>
      <p:sp>
        <p:nvSpPr>
          <p:cNvPr id="57" name="Text 55"/>
          <p:cNvSpPr/>
          <p:nvPr/>
        </p:nvSpPr>
        <p:spPr>
          <a:xfrm>
            <a:off x="6766560" y="3218688"/>
            <a:ext cx="1005840"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73,0</a:t>
            </a:r>
            <a:endParaRPr lang="en-US" sz="1150" dirty="0"/>
          </a:p>
        </p:txBody>
      </p:sp>
      <p:sp>
        <p:nvSpPr>
          <p:cNvPr id="58" name="Text 56"/>
          <p:cNvSpPr/>
          <p:nvPr/>
        </p:nvSpPr>
        <p:spPr>
          <a:xfrm>
            <a:off x="7772400" y="3218688"/>
            <a:ext cx="950976" cy="365760"/>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+3,94</a:t>
            </a:r>
            <a:endParaRPr lang="en-US" sz="1150" dirty="0"/>
          </a:p>
        </p:txBody>
      </p:sp>
      <p:sp>
        <p:nvSpPr>
          <p:cNvPr id="59" name="Text 57"/>
          <p:cNvSpPr/>
          <p:nvPr/>
        </p:nvSpPr>
        <p:spPr>
          <a:xfrm>
            <a:off x="640080" y="3840480"/>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60" name="Text 58"/>
          <p:cNvSpPr/>
          <p:nvPr/>
        </p:nvSpPr>
        <p:spPr>
          <a:xfrm>
            <a:off x="868680" y="3840480"/>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Ô đúng cả hai đã hết dư địa: mô hình vượt trần trên 46,7% số bước</a:t>
            </a:r>
            <a:endParaRPr lang="en-US" sz="1350" dirty="0"/>
          </a:p>
        </p:txBody>
      </p:sp>
      <p:sp>
        <p:nvSpPr>
          <p:cNvPr id="61" name="Text 59"/>
          <p:cNvSpPr/>
          <p:nvPr/>
        </p:nvSpPr>
        <p:spPr>
          <a:xfrm>
            <a:off x="640080" y="4407408"/>
            <a:ext cx="201168" cy="566928"/>
          </a:xfrm>
          <a:prstGeom prst="rect">
            <a:avLst/>
          </a:prstGeom>
          <a:noFill/>
          <a:ln/>
        </p:spPr>
        <p:txBody>
          <a:bodyPr wrap="square" lIns="0" tIns="0" rIns="0" bIns="0" rtlCol="0" anchor="t"/>
          <a:lstStyle/>
          <a:p>
            <a:pPr algn="l" indent="0" marL="0">
              <a:buNone/>
            </a:pPr>
            <a:r>
              <a:rPr lang="en-US" sz="1350" b="1" dirty="0">
                <a:solidFill>
                  <a:srgbClr val="006666"/>
                </a:solidFill>
                <a:latin typeface="Cambria" pitchFamily="34" charset="0"/>
                <a:ea typeface="Cambria" pitchFamily="34" charset="-122"/>
                <a:cs typeface="Cambria" pitchFamily="34" charset="-120"/>
              </a:rPr>
              <a:t>•</a:t>
            </a:r>
            <a:endParaRPr lang="en-US" sz="1350" dirty="0"/>
          </a:p>
        </p:txBody>
      </p:sp>
      <p:sp>
        <p:nvSpPr>
          <p:cNvPr id="62" name="Text 60"/>
          <p:cNvSpPr/>
          <p:nvPr/>
        </p:nvSpPr>
        <p:spPr>
          <a:xfrm>
            <a:off x="868680" y="4407408"/>
            <a:ext cx="7635240" cy="530352"/>
          </a:xfrm>
          <a:prstGeom prst="rect">
            <a:avLst/>
          </a:prstGeom>
          <a:noFill/>
          <a:ln/>
        </p:spPr>
        <p:txBody>
          <a:bodyPr wrap="square" lIns="0" tIns="0" rIns="0" bIns="0" rtlCol="0" anchor="t"/>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Ô sai cả hai giữ 63% dư địa, mà câu chuẩn vẫn đạt 64,4 ở đó</a:t>
            </a:r>
            <a:endParaRPr lang="en-US" sz="1350" dirty="0"/>
          </a:p>
        </p:txBody>
      </p:sp>
      <p:sp>
        <p:nvSpPr>
          <p:cNvPr id="63" name="Shape 61"/>
          <p:cNvSpPr/>
          <p:nvPr/>
        </p:nvSpPr>
        <p:spPr>
          <a:xfrm>
            <a:off x="502920" y="4983480"/>
            <a:ext cx="8138160" cy="685800"/>
          </a:xfrm>
          <a:prstGeom prst="roundRect">
            <a:avLst>
              <a:gd name="adj" fmla="val 8000"/>
            </a:avLst>
          </a:prstGeom>
          <a:solidFill>
            <a:srgbClr val="E9E8EC"/>
          </a:solidFill>
          <a:ln/>
          <a:effectLst>
            <a:outerShdw sx="100000" sy="100000" kx="0" ky="0" algn="bl" rotWithShape="0" blurRad="63500" dist="31750" dir="2700000">
              <a:srgbClr val="8C8C99">
                <a:alpha val="45000"/>
              </a:srgbClr>
            </a:outerShdw>
          </a:effectLst>
        </p:spPr>
      </p:sp>
      <p:sp>
        <p:nvSpPr>
          <p:cNvPr id="64" name="Text 62"/>
          <p:cNvSpPr/>
          <p:nvPr/>
        </p:nvSpPr>
        <p:spPr>
          <a:xfrm>
            <a:off x="731520" y="4983480"/>
            <a:ext cx="7680960" cy="685800"/>
          </a:xfrm>
          <a:prstGeom prst="rect">
            <a:avLst/>
          </a:prstGeom>
          <a:noFill/>
          <a:ln/>
        </p:spPr>
        <p:txBody>
          <a:bodyPr wrap="square" lIns="0" tIns="0" rIns="0" bIns="0" rtlCol="0" anchor="ctr"/>
          <a:lstStyle/>
          <a:p>
            <a:pPr algn="l" indent="0" marL="0">
              <a:lnSpc>
                <a:spcPct val="130000"/>
              </a:lnSpc>
              <a:buNone/>
            </a:pPr>
            <a:r>
              <a:rPr lang="en-US" sz="1250" b="1" dirty="0">
                <a:solidFill>
                  <a:srgbClr val="322164"/>
                </a:solidFill>
                <a:latin typeface="Cambria" pitchFamily="34" charset="0"/>
                <a:ea typeface="Cambria" pitchFamily="34" charset="-122"/>
                <a:cs typeface="Cambria" pitchFamily="34" charset="-120"/>
              </a:rPr>
              <a:t>Chặn được thiệt hại ở nhóm khai báo sai thì được +5,4 điểm.</a:t>
            </a:r>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  Bảy cơ chế chọn đã thử đều nằm trong nhiễu, nên phải sửa ở khâu huấn luyện.</a:t>
            </a:r>
            <a:endParaRPr lang="en-US" sz="1250" dirty="0"/>
          </a:p>
        </p:txBody>
      </p:sp>
      <p:sp>
        <p:nvSpPr>
          <p:cNvPr id="66" name="Shape 63"/>
          <p:cNvSpPr/>
          <p:nvPr/>
        </p:nvSpPr>
        <p:spPr>
          <a:xfrm>
            <a:off x="0" y="6620256"/>
            <a:ext cx="2743200" cy="237744"/>
          </a:xfrm>
          <a:prstGeom prst="rect">
            <a:avLst/>
          </a:prstGeom>
          <a:solidFill>
            <a:srgbClr val="191132"/>
          </a:solidFill>
          <a:ln/>
        </p:spPr>
      </p:sp>
      <p:sp>
        <p:nvSpPr>
          <p:cNvPr id="67" name="Shape 64"/>
          <p:cNvSpPr/>
          <p:nvPr/>
        </p:nvSpPr>
        <p:spPr>
          <a:xfrm>
            <a:off x="2743200" y="6620256"/>
            <a:ext cx="3383280" cy="237744"/>
          </a:xfrm>
          <a:prstGeom prst="rect">
            <a:avLst/>
          </a:prstGeom>
          <a:solidFill>
            <a:srgbClr val="25194B"/>
          </a:solidFill>
          <a:ln/>
        </p:spPr>
      </p:sp>
      <p:sp>
        <p:nvSpPr>
          <p:cNvPr id="68" name="Shape 65"/>
          <p:cNvSpPr/>
          <p:nvPr/>
        </p:nvSpPr>
        <p:spPr>
          <a:xfrm>
            <a:off x="6126480" y="6620256"/>
            <a:ext cx="1737360" cy="237744"/>
          </a:xfrm>
          <a:prstGeom prst="rect">
            <a:avLst/>
          </a:prstGeom>
          <a:solidFill>
            <a:srgbClr val="4F417A"/>
          </a:solidFill>
          <a:ln/>
        </p:spPr>
      </p:sp>
      <p:sp>
        <p:nvSpPr>
          <p:cNvPr id="69" name="Shape 66"/>
          <p:cNvSpPr/>
          <p:nvPr/>
        </p:nvSpPr>
        <p:spPr>
          <a:xfrm>
            <a:off x="7863840" y="6620256"/>
            <a:ext cx="1280160" cy="237744"/>
          </a:xfrm>
          <a:prstGeom prst="rect">
            <a:avLst/>
          </a:prstGeom>
          <a:solidFill>
            <a:srgbClr val="7A7099"/>
          </a:solidFill>
          <a:ln/>
        </p:spPr>
      </p:sp>
      <p:sp>
        <p:nvSpPr>
          <p:cNvPr id="70" name="Text 67"/>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71" name="Text 68"/>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72" name="Text 69"/>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73" name="Text 70"/>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21/26</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5 · Nhánh ứng viên: cơ chế chọn đúng, điểm nghẽn là bỏ cuộc quá mức</a:t>
            </a:r>
            <a:endParaRPr lang="en-US" sz="1900" dirty="0"/>
          </a:p>
        </p:txBody>
      </p:sp>
      <p:sp>
        <p:nvSpPr>
          <p:cNvPr id="4" name="Text 2"/>
          <p:cNvSpPr/>
          <p:nvPr/>
        </p:nvSpPr>
        <p:spPr>
          <a:xfrm>
            <a:off x="502920" y="777240"/>
            <a:ext cx="8138160" cy="640080"/>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Ô khai báo đổi từ sinh tự do sang chọn một dòng trong danh sách tối đa 40 ứng viên của chính màn hình. Không đạt ngưỡng dừng: độ chính xác chọn 57,5% so với ngưỡng 63,6%. Executability 56,1% [54,5 ; 58,0].</a:t>
            </a:r>
            <a:endParaRPr lang="en-US" sz="1250" dirty="0"/>
          </a:p>
        </p:txBody>
      </p:sp>
      <p:sp>
        <p:nvSpPr>
          <p:cNvPr id="5" name="Text 3"/>
          <p:cNvSpPr/>
          <p:nvPr/>
        </p:nvSpPr>
        <p:spPr>
          <a:xfrm>
            <a:off x="502920" y="1463040"/>
            <a:ext cx="4754880" cy="274320"/>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Chia theo việc danh sách có đáp án và mô hình có đưa ra lựa chọn hay không</a:t>
            </a:r>
            <a:endParaRPr lang="en-US" sz="1250" dirty="0"/>
          </a:p>
        </p:txBody>
      </p:sp>
      <p:sp>
        <p:nvSpPr>
          <p:cNvPr id="6" name="Shape 4"/>
          <p:cNvSpPr/>
          <p:nvPr/>
        </p:nvSpPr>
        <p:spPr>
          <a:xfrm>
            <a:off x="502920" y="1783080"/>
            <a:ext cx="4754880" cy="347472"/>
          </a:xfrm>
          <a:prstGeom prst="rect">
            <a:avLst/>
          </a:prstGeom>
          <a:solidFill>
            <a:srgbClr val="322164"/>
          </a:solidFill>
          <a:ln/>
        </p:spPr>
      </p:sp>
      <p:sp>
        <p:nvSpPr>
          <p:cNvPr id="7" name="Text 5"/>
          <p:cNvSpPr/>
          <p:nvPr/>
        </p:nvSpPr>
        <p:spPr>
          <a:xfrm>
            <a:off x="502920" y="1783080"/>
            <a:ext cx="1371600" cy="347472"/>
          </a:xfrm>
          <a:prstGeom prst="rect">
            <a:avLst/>
          </a:prstGeom>
          <a:noFill/>
          <a:ln/>
        </p:spPr>
        <p:txBody>
          <a:bodyPr wrap="square" lIns="38100" tIns="38100" rIns="38100" bIns="38100" rtlCol="0" anchor="ctr"/>
          <a:lstStyle/>
          <a:p>
            <a:pPr algn="l" indent="0" marL="0">
              <a:buNone/>
            </a:pPr>
            <a:r>
              <a:rPr lang="en-US" sz="1150" b="1" dirty="0">
                <a:solidFill>
                  <a:srgbClr val="FFFFFF"/>
                </a:solidFill>
                <a:latin typeface="Cambria" pitchFamily="34" charset="0"/>
                <a:ea typeface="Cambria" pitchFamily="34" charset="-122"/>
                <a:cs typeface="Cambria" pitchFamily="34" charset="-120"/>
              </a:rPr>
              <a:t>Có đáp án</a:t>
            </a:r>
            <a:endParaRPr lang="en-US" sz="1150" dirty="0"/>
          </a:p>
        </p:txBody>
      </p:sp>
      <p:sp>
        <p:nvSpPr>
          <p:cNvPr id="8" name="Text 6"/>
          <p:cNvSpPr/>
          <p:nvPr/>
        </p:nvSpPr>
        <p:spPr>
          <a:xfrm>
            <a:off x="1874520" y="1783080"/>
            <a:ext cx="1234440" cy="347472"/>
          </a:xfrm>
          <a:prstGeom prst="rect">
            <a:avLst/>
          </a:prstGeom>
          <a:noFill/>
          <a:ln/>
        </p:spPr>
        <p:txBody>
          <a:bodyPr wrap="square" lIns="38100" tIns="38100" rIns="38100" bIns="38100" rtlCol="0" anchor="ctr"/>
          <a:lstStyle/>
          <a:p>
            <a:pPr algn="l" indent="0" marL="0">
              <a:buNone/>
            </a:pPr>
            <a:r>
              <a:rPr lang="en-US" sz="1150" b="1" dirty="0">
                <a:solidFill>
                  <a:srgbClr val="FFFFFF"/>
                </a:solidFill>
                <a:latin typeface="Cambria" pitchFamily="34" charset="0"/>
                <a:ea typeface="Cambria" pitchFamily="34" charset="-122"/>
                <a:cs typeface="Cambria" pitchFamily="34" charset="-120"/>
              </a:rPr>
              <a:t>Mô hình</a:t>
            </a:r>
            <a:endParaRPr lang="en-US" sz="1150" dirty="0"/>
          </a:p>
        </p:txBody>
      </p:sp>
      <p:sp>
        <p:nvSpPr>
          <p:cNvPr id="9" name="Text 7"/>
          <p:cNvSpPr/>
          <p:nvPr/>
        </p:nvSpPr>
        <p:spPr>
          <a:xfrm>
            <a:off x="3108960" y="1783080"/>
            <a:ext cx="868680" cy="347472"/>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n</a:t>
            </a:r>
            <a:endParaRPr lang="en-US" sz="1150" dirty="0"/>
          </a:p>
        </p:txBody>
      </p:sp>
      <p:sp>
        <p:nvSpPr>
          <p:cNvPr id="10" name="Text 8"/>
          <p:cNvSpPr/>
          <p:nvPr/>
        </p:nvSpPr>
        <p:spPr>
          <a:xfrm>
            <a:off x="3977640" y="1783080"/>
            <a:ext cx="1280160" cy="347472"/>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Exec.</a:t>
            </a:r>
            <a:endParaRPr lang="en-US" sz="1150" dirty="0"/>
          </a:p>
        </p:txBody>
      </p:sp>
      <p:sp>
        <p:nvSpPr>
          <p:cNvPr id="11" name="Text 9"/>
          <p:cNvSpPr/>
          <p:nvPr/>
        </p:nvSpPr>
        <p:spPr>
          <a:xfrm>
            <a:off x="502920" y="2130552"/>
            <a:ext cx="137160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có</a:t>
            </a:r>
            <a:endParaRPr lang="en-US" sz="1250" dirty="0"/>
          </a:p>
        </p:txBody>
      </p:sp>
      <p:sp>
        <p:nvSpPr>
          <p:cNvPr id="12" name="Text 10"/>
          <p:cNvSpPr/>
          <p:nvPr/>
        </p:nvSpPr>
        <p:spPr>
          <a:xfrm>
            <a:off x="1874520" y="2130552"/>
            <a:ext cx="1234440" cy="402336"/>
          </a:xfrm>
          <a:prstGeom prst="rect">
            <a:avLst/>
          </a:prstGeom>
          <a:noFill/>
          <a:ln/>
        </p:spPr>
        <p:txBody>
          <a:bodyPr wrap="square" lIns="38100" tIns="38100" rIns="38100" bIns="38100" rtlCol="0" anchor="ctr"/>
          <a:lstStyle/>
          <a:p>
            <a:pPr algn="l" indent="0" marL="0">
              <a:buNone/>
            </a:pPr>
            <a:r>
              <a:rPr lang="en-US" sz="1250" b="1" dirty="0">
                <a:solidFill>
                  <a:srgbClr val="006666"/>
                </a:solidFill>
                <a:latin typeface="Cambria" pitchFamily="34" charset="0"/>
                <a:ea typeface="Cambria" pitchFamily="34" charset="-122"/>
                <a:cs typeface="Cambria" pitchFamily="34" charset="-120"/>
              </a:rPr>
              <a:t>chọn</a:t>
            </a:r>
            <a:endParaRPr lang="en-US" sz="1250" dirty="0"/>
          </a:p>
        </p:txBody>
      </p:sp>
      <p:sp>
        <p:nvSpPr>
          <p:cNvPr id="13" name="Text 11"/>
          <p:cNvSpPr/>
          <p:nvPr/>
        </p:nvSpPr>
        <p:spPr>
          <a:xfrm>
            <a:off x="3108960" y="2130552"/>
            <a:ext cx="86868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2.326</a:t>
            </a:r>
            <a:endParaRPr lang="en-US" sz="1250" dirty="0"/>
          </a:p>
        </p:txBody>
      </p:sp>
      <p:sp>
        <p:nvSpPr>
          <p:cNvPr id="14" name="Text 12"/>
          <p:cNvSpPr/>
          <p:nvPr/>
        </p:nvSpPr>
        <p:spPr>
          <a:xfrm>
            <a:off x="3977640" y="2130552"/>
            <a:ext cx="1280160" cy="402336"/>
          </a:xfrm>
          <a:prstGeom prst="rect">
            <a:avLst/>
          </a:prstGeom>
          <a:noFill/>
          <a:ln/>
        </p:spPr>
        <p:txBody>
          <a:bodyPr wrap="square" lIns="38100" tIns="38100" rIns="38100" bIns="38100" rtlCol="0" anchor="ctr"/>
          <a:lstStyle/>
          <a:p>
            <a:pPr algn="ctr" indent="0" marL="0">
              <a:buNone/>
            </a:pPr>
            <a:r>
              <a:rPr lang="en-US" sz="1250" b="1" dirty="0">
                <a:solidFill>
                  <a:srgbClr val="006666"/>
                </a:solidFill>
                <a:latin typeface="Cambria" pitchFamily="34" charset="0"/>
                <a:ea typeface="Cambria" pitchFamily="34" charset="-122"/>
                <a:cs typeface="Cambria" pitchFamily="34" charset="-120"/>
              </a:rPr>
              <a:t>71,4</a:t>
            </a:r>
            <a:endParaRPr lang="en-US" sz="1250" dirty="0"/>
          </a:p>
        </p:txBody>
      </p:sp>
      <p:sp>
        <p:nvSpPr>
          <p:cNvPr id="15" name="Shape 13"/>
          <p:cNvSpPr/>
          <p:nvPr/>
        </p:nvSpPr>
        <p:spPr>
          <a:xfrm>
            <a:off x="502920" y="2532888"/>
            <a:ext cx="4754880" cy="0"/>
          </a:xfrm>
          <a:prstGeom prst="line">
            <a:avLst/>
          </a:prstGeom>
          <a:noFill/>
          <a:ln w="12700">
            <a:solidFill>
              <a:srgbClr val="9A94AE"/>
            </a:solidFill>
            <a:prstDash val="solid"/>
          </a:ln>
        </p:spPr>
      </p:sp>
      <p:sp>
        <p:nvSpPr>
          <p:cNvPr id="16" name="Text 14"/>
          <p:cNvSpPr/>
          <p:nvPr/>
        </p:nvSpPr>
        <p:spPr>
          <a:xfrm>
            <a:off x="502920" y="2532888"/>
            <a:ext cx="137160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có</a:t>
            </a:r>
            <a:endParaRPr lang="en-US" sz="1250" dirty="0"/>
          </a:p>
        </p:txBody>
      </p:sp>
      <p:sp>
        <p:nvSpPr>
          <p:cNvPr id="17" name="Text 15"/>
          <p:cNvSpPr/>
          <p:nvPr/>
        </p:nvSpPr>
        <p:spPr>
          <a:xfrm>
            <a:off x="1874520" y="2532888"/>
            <a:ext cx="1234440" cy="402336"/>
          </a:xfrm>
          <a:prstGeom prst="rect">
            <a:avLst/>
          </a:prstGeom>
          <a:noFill/>
          <a:ln/>
        </p:spPr>
        <p:txBody>
          <a:bodyPr wrap="square" lIns="38100" tIns="38100" rIns="38100" bIns="38100" rtlCol="0" anchor="ctr"/>
          <a:lstStyle/>
          <a:p>
            <a:pPr algn="l" indent="0" marL="0">
              <a:buNone/>
            </a:pPr>
            <a:r>
              <a:rPr lang="en-US" sz="1250" b="1" dirty="0">
                <a:solidFill>
                  <a:srgbClr val="B22222"/>
                </a:solidFill>
                <a:latin typeface="Cambria" pitchFamily="34" charset="0"/>
                <a:ea typeface="Cambria" pitchFamily="34" charset="-122"/>
                <a:cs typeface="Cambria" pitchFamily="34" charset="-120"/>
              </a:rPr>
              <a:t>bỏ cuộc (sai)</a:t>
            </a:r>
            <a:endParaRPr lang="en-US" sz="1250" dirty="0"/>
          </a:p>
        </p:txBody>
      </p:sp>
      <p:sp>
        <p:nvSpPr>
          <p:cNvPr id="18" name="Text 16"/>
          <p:cNvSpPr/>
          <p:nvPr/>
        </p:nvSpPr>
        <p:spPr>
          <a:xfrm>
            <a:off x="3108960" y="2532888"/>
            <a:ext cx="86868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872</a:t>
            </a:r>
            <a:endParaRPr lang="en-US" sz="1250" dirty="0"/>
          </a:p>
        </p:txBody>
      </p:sp>
      <p:sp>
        <p:nvSpPr>
          <p:cNvPr id="19" name="Text 17"/>
          <p:cNvSpPr/>
          <p:nvPr/>
        </p:nvSpPr>
        <p:spPr>
          <a:xfrm>
            <a:off x="3977640" y="2532888"/>
            <a:ext cx="1280160" cy="402336"/>
          </a:xfrm>
          <a:prstGeom prst="rect">
            <a:avLst/>
          </a:prstGeom>
          <a:noFill/>
          <a:ln/>
        </p:spPr>
        <p:txBody>
          <a:bodyPr wrap="square" lIns="38100" tIns="38100" rIns="38100" bIns="38100" rtlCol="0" anchor="ctr"/>
          <a:lstStyle/>
          <a:p>
            <a:pPr algn="ctr" indent="0" marL="0">
              <a:buNone/>
            </a:pPr>
            <a:r>
              <a:rPr lang="en-US" sz="1250" b="1" dirty="0">
                <a:solidFill>
                  <a:srgbClr val="B22222"/>
                </a:solidFill>
                <a:latin typeface="Cambria" pitchFamily="34" charset="0"/>
                <a:ea typeface="Cambria" pitchFamily="34" charset="-122"/>
                <a:cs typeface="Cambria" pitchFamily="34" charset="-120"/>
              </a:rPr>
              <a:t>23,7</a:t>
            </a:r>
            <a:endParaRPr lang="en-US" sz="1250" dirty="0"/>
          </a:p>
        </p:txBody>
      </p:sp>
      <p:sp>
        <p:nvSpPr>
          <p:cNvPr id="20" name="Shape 18"/>
          <p:cNvSpPr/>
          <p:nvPr/>
        </p:nvSpPr>
        <p:spPr>
          <a:xfrm>
            <a:off x="502920" y="2935224"/>
            <a:ext cx="4754880" cy="0"/>
          </a:xfrm>
          <a:prstGeom prst="line">
            <a:avLst/>
          </a:prstGeom>
          <a:noFill/>
          <a:ln w="12700">
            <a:solidFill>
              <a:srgbClr val="9A94AE"/>
            </a:solidFill>
            <a:prstDash val="solid"/>
          </a:ln>
        </p:spPr>
      </p:sp>
      <p:sp>
        <p:nvSpPr>
          <p:cNvPr id="21" name="Text 19"/>
          <p:cNvSpPr/>
          <p:nvPr/>
        </p:nvSpPr>
        <p:spPr>
          <a:xfrm>
            <a:off x="502920" y="2935224"/>
            <a:ext cx="1371600" cy="36576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không</a:t>
            </a:r>
            <a:endParaRPr lang="en-US" sz="1200" dirty="0"/>
          </a:p>
        </p:txBody>
      </p:sp>
      <p:sp>
        <p:nvSpPr>
          <p:cNvPr id="22" name="Text 20"/>
          <p:cNvSpPr/>
          <p:nvPr/>
        </p:nvSpPr>
        <p:spPr>
          <a:xfrm>
            <a:off x="1874520" y="2935224"/>
            <a:ext cx="1234440" cy="36576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chọn (sai)</a:t>
            </a:r>
            <a:endParaRPr lang="en-US" sz="1200" dirty="0"/>
          </a:p>
        </p:txBody>
      </p:sp>
      <p:sp>
        <p:nvSpPr>
          <p:cNvPr id="23" name="Text 21"/>
          <p:cNvSpPr/>
          <p:nvPr/>
        </p:nvSpPr>
        <p:spPr>
          <a:xfrm>
            <a:off x="3108960" y="2935224"/>
            <a:ext cx="868680" cy="365760"/>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mbria" pitchFamily="34" charset="0"/>
                <a:ea typeface="Cambria" pitchFamily="34" charset="-122"/>
                <a:cs typeface="Cambria" pitchFamily="34" charset="-120"/>
              </a:rPr>
              <a:t>264</a:t>
            </a:r>
            <a:endParaRPr lang="en-US" sz="1200" dirty="0"/>
          </a:p>
        </p:txBody>
      </p:sp>
      <p:sp>
        <p:nvSpPr>
          <p:cNvPr id="24" name="Text 22"/>
          <p:cNvSpPr/>
          <p:nvPr/>
        </p:nvSpPr>
        <p:spPr>
          <a:xfrm>
            <a:off x="3977640" y="2935224"/>
            <a:ext cx="1280160" cy="365760"/>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mbria" pitchFamily="34" charset="0"/>
                <a:ea typeface="Cambria" pitchFamily="34" charset="-122"/>
                <a:cs typeface="Cambria" pitchFamily="34" charset="-120"/>
              </a:rPr>
              <a:t>37,5</a:t>
            </a:r>
            <a:endParaRPr lang="en-US" sz="1200" dirty="0"/>
          </a:p>
        </p:txBody>
      </p:sp>
      <p:sp>
        <p:nvSpPr>
          <p:cNvPr id="25" name="Shape 23"/>
          <p:cNvSpPr/>
          <p:nvPr/>
        </p:nvSpPr>
        <p:spPr>
          <a:xfrm>
            <a:off x="502920" y="3300984"/>
            <a:ext cx="4754880" cy="0"/>
          </a:xfrm>
          <a:prstGeom prst="line">
            <a:avLst/>
          </a:prstGeom>
          <a:noFill/>
          <a:ln w="12700">
            <a:solidFill>
              <a:srgbClr val="9A94AE"/>
            </a:solidFill>
            <a:prstDash val="solid"/>
          </a:ln>
        </p:spPr>
      </p:sp>
      <p:sp>
        <p:nvSpPr>
          <p:cNvPr id="26" name="Text 24"/>
          <p:cNvSpPr/>
          <p:nvPr/>
        </p:nvSpPr>
        <p:spPr>
          <a:xfrm>
            <a:off x="502920" y="3300984"/>
            <a:ext cx="1371600" cy="36576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không</a:t>
            </a:r>
            <a:endParaRPr lang="en-US" sz="1200" dirty="0"/>
          </a:p>
        </p:txBody>
      </p:sp>
      <p:sp>
        <p:nvSpPr>
          <p:cNvPr id="27" name="Text 25"/>
          <p:cNvSpPr/>
          <p:nvPr/>
        </p:nvSpPr>
        <p:spPr>
          <a:xfrm>
            <a:off x="1874520" y="3300984"/>
            <a:ext cx="1234440" cy="365760"/>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bỏ cuộc (đúng)</a:t>
            </a:r>
            <a:endParaRPr lang="en-US" sz="1200" dirty="0"/>
          </a:p>
        </p:txBody>
      </p:sp>
      <p:sp>
        <p:nvSpPr>
          <p:cNvPr id="28" name="Text 26"/>
          <p:cNvSpPr/>
          <p:nvPr/>
        </p:nvSpPr>
        <p:spPr>
          <a:xfrm>
            <a:off x="3108960" y="3300984"/>
            <a:ext cx="868680" cy="365760"/>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mbria" pitchFamily="34" charset="0"/>
                <a:ea typeface="Cambria" pitchFamily="34" charset="-122"/>
                <a:cs typeface="Cambria" pitchFamily="34" charset="-120"/>
              </a:rPr>
              <a:t>1.001</a:t>
            </a:r>
            <a:endParaRPr lang="en-US" sz="1200" dirty="0"/>
          </a:p>
        </p:txBody>
      </p:sp>
      <p:sp>
        <p:nvSpPr>
          <p:cNvPr id="29" name="Text 27"/>
          <p:cNvSpPr/>
          <p:nvPr/>
        </p:nvSpPr>
        <p:spPr>
          <a:xfrm>
            <a:off x="3977640" y="3300984"/>
            <a:ext cx="1280160" cy="365760"/>
          </a:xfrm>
          <a:prstGeom prst="rect">
            <a:avLst/>
          </a:prstGeom>
          <a:noFill/>
          <a:ln/>
        </p:spPr>
        <p:txBody>
          <a:bodyPr wrap="square" lIns="38100" tIns="38100" rIns="38100" bIns="38100" rtlCol="0" anchor="ctr"/>
          <a:lstStyle/>
          <a:p>
            <a:pPr algn="ctr" indent="0" marL="0">
              <a:buNone/>
            </a:pPr>
            <a:r>
              <a:rPr lang="en-US" sz="1200" dirty="0">
                <a:solidFill>
                  <a:srgbClr val="1A1A1A"/>
                </a:solidFill>
                <a:latin typeface="Cambria" pitchFamily="34" charset="0"/>
                <a:ea typeface="Cambria" pitchFamily="34" charset="-122"/>
                <a:cs typeface="Cambria" pitchFamily="34" charset="-120"/>
              </a:rPr>
              <a:t>53,8</a:t>
            </a:r>
            <a:endParaRPr lang="en-US" sz="1200" dirty="0"/>
          </a:p>
        </p:txBody>
      </p:sp>
      <p:sp>
        <p:nvSpPr>
          <p:cNvPr id="30" name="Text 28"/>
          <p:cNvSpPr/>
          <p:nvPr/>
        </p:nvSpPr>
        <p:spPr>
          <a:xfrm>
            <a:off x="502920" y="3749040"/>
            <a:ext cx="4754880" cy="685800"/>
          </a:xfrm>
          <a:prstGeom prst="rect">
            <a:avLst/>
          </a:prstGeom>
          <a:noFill/>
          <a:ln/>
        </p:spPr>
        <p:txBody>
          <a:bodyPr wrap="square" lIns="0" tIns="0" rIns="0" bIns="0" rtlCol="0" anchor="t"/>
          <a:lstStyle/>
          <a:p>
            <a:pPr algn="l" indent="0" marL="0">
              <a:lnSpc>
                <a:spcPct val="130000"/>
              </a:lnSpc>
              <a:buNone/>
            </a:pPr>
            <a:r>
              <a:rPr lang="en-US" sz="1200" b="1" dirty="0">
                <a:solidFill>
                  <a:srgbClr val="B22222"/>
                </a:solidFill>
                <a:latin typeface="Cambria" pitchFamily="34" charset="0"/>
                <a:ea typeface="Cambria" pitchFamily="34" charset="-122"/>
                <a:cs typeface="Cambria" pitchFamily="34" charset="-120"/>
              </a:rPr>
              <a:t>Khi đưa ra lựa chọn, kém câu chuẩn 4,3 điểm. Bỏ cuộc sai ở 27,3% số bước có đáp án, tái lập qua hai phép đo.</a:t>
            </a:r>
            <a:endParaRPr lang="en-US" sz="1200" dirty="0"/>
          </a:p>
        </p:txBody>
      </p:sp>
      <p:sp>
        <p:nvSpPr>
          <p:cNvPr id="31" name="Text 29"/>
          <p:cNvSpPr/>
          <p:nvPr/>
        </p:nvSpPr>
        <p:spPr>
          <a:xfrm>
            <a:off x="5532120" y="1463040"/>
            <a:ext cx="3108960" cy="274320"/>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Tỉ lệ nhãn bỏ cuộc theo mẫu số</a:t>
            </a:r>
            <a:endParaRPr lang="en-US" sz="1250" dirty="0"/>
          </a:p>
        </p:txBody>
      </p:sp>
      <p:sp>
        <p:nvSpPr>
          <p:cNvPr id="32" name="Text 30"/>
          <p:cNvSpPr/>
          <p:nvPr/>
        </p:nvSpPr>
        <p:spPr>
          <a:xfrm>
            <a:off x="5532120" y="1783080"/>
            <a:ext cx="2240280" cy="402336"/>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Toàn tập huấn luyện</a:t>
            </a:r>
            <a:endParaRPr lang="en-US" sz="1200" dirty="0"/>
          </a:p>
        </p:txBody>
      </p:sp>
      <p:sp>
        <p:nvSpPr>
          <p:cNvPr id="33" name="Text 31"/>
          <p:cNvSpPr/>
          <p:nvPr/>
        </p:nvSpPr>
        <p:spPr>
          <a:xfrm>
            <a:off x="7772400" y="1783080"/>
            <a:ext cx="868680" cy="402336"/>
          </a:xfrm>
          <a:prstGeom prst="rect">
            <a:avLst/>
          </a:prstGeom>
          <a:noFill/>
          <a:ln/>
        </p:spPr>
        <p:txBody>
          <a:bodyPr wrap="square" lIns="38100" tIns="38100" rIns="38100" bIns="38100" rtlCol="0" anchor="ctr"/>
          <a:lstStyle/>
          <a:p>
            <a:pPr algn="r" indent="0" marL="0">
              <a:buNone/>
            </a:pPr>
            <a:r>
              <a:rPr lang="en-US" sz="1200" dirty="0">
                <a:solidFill>
                  <a:srgbClr val="1A1A1A"/>
                </a:solidFill>
                <a:latin typeface="Cambria" pitchFamily="34" charset="0"/>
                <a:ea typeface="Cambria" pitchFamily="34" charset="-122"/>
                <a:cs typeface="Cambria" pitchFamily="34" charset="-120"/>
              </a:rPr>
              <a:t>54,8%</a:t>
            </a:r>
            <a:endParaRPr lang="en-US" sz="1200" dirty="0"/>
          </a:p>
        </p:txBody>
      </p:sp>
      <p:sp>
        <p:nvSpPr>
          <p:cNvPr id="34" name="Shape 32"/>
          <p:cNvSpPr/>
          <p:nvPr/>
        </p:nvSpPr>
        <p:spPr>
          <a:xfrm>
            <a:off x="5532120" y="2185416"/>
            <a:ext cx="3108960" cy="0"/>
          </a:xfrm>
          <a:prstGeom prst="line">
            <a:avLst/>
          </a:prstGeom>
          <a:noFill/>
          <a:ln w="12700">
            <a:solidFill>
              <a:srgbClr val="9A94AE"/>
            </a:solidFill>
            <a:prstDash val="solid"/>
          </a:ln>
        </p:spPr>
      </p:sp>
      <p:sp>
        <p:nvSpPr>
          <p:cNvPr id="35" name="Text 33"/>
          <p:cNvSpPr/>
          <p:nvPr/>
        </p:nvSpPr>
        <p:spPr>
          <a:xfrm>
            <a:off x="5532120" y="2185416"/>
            <a:ext cx="2240280" cy="402336"/>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Chỉ bước chạm, tập huấn luyện</a:t>
            </a:r>
            <a:endParaRPr lang="en-US" sz="1200" dirty="0"/>
          </a:p>
        </p:txBody>
      </p:sp>
      <p:sp>
        <p:nvSpPr>
          <p:cNvPr id="36" name="Text 34"/>
          <p:cNvSpPr/>
          <p:nvPr/>
        </p:nvSpPr>
        <p:spPr>
          <a:xfrm>
            <a:off x="7772400" y="2185416"/>
            <a:ext cx="868680" cy="402336"/>
          </a:xfrm>
          <a:prstGeom prst="rect">
            <a:avLst/>
          </a:prstGeom>
          <a:noFill/>
          <a:ln/>
        </p:spPr>
        <p:txBody>
          <a:bodyPr wrap="square" lIns="38100" tIns="38100" rIns="38100" bIns="38100" rtlCol="0" anchor="ctr"/>
          <a:lstStyle/>
          <a:p>
            <a:pPr algn="r" indent="0" marL="0">
              <a:buNone/>
            </a:pPr>
            <a:r>
              <a:rPr lang="en-US" sz="1200" dirty="0">
                <a:solidFill>
                  <a:srgbClr val="1A1A1A"/>
                </a:solidFill>
                <a:latin typeface="Cambria" pitchFamily="34" charset="0"/>
                <a:ea typeface="Cambria" pitchFamily="34" charset="-122"/>
                <a:cs typeface="Cambria" pitchFamily="34" charset="-120"/>
              </a:rPr>
              <a:t>29,1%</a:t>
            </a:r>
            <a:endParaRPr lang="en-US" sz="1200" dirty="0"/>
          </a:p>
        </p:txBody>
      </p:sp>
      <p:sp>
        <p:nvSpPr>
          <p:cNvPr id="37" name="Shape 35"/>
          <p:cNvSpPr/>
          <p:nvPr/>
        </p:nvSpPr>
        <p:spPr>
          <a:xfrm>
            <a:off x="5532120" y="2587752"/>
            <a:ext cx="3108960" cy="0"/>
          </a:xfrm>
          <a:prstGeom prst="line">
            <a:avLst/>
          </a:prstGeom>
          <a:noFill/>
          <a:ln w="12700">
            <a:solidFill>
              <a:srgbClr val="9A94AE"/>
            </a:solidFill>
            <a:prstDash val="solid"/>
          </a:ln>
        </p:spPr>
      </p:sp>
      <p:sp>
        <p:nvSpPr>
          <p:cNvPr id="38" name="Text 36"/>
          <p:cNvSpPr/>
          <p:nvPr/>
        </p:nvSpPr>
        <p:spPr>
          <a:xfrm>
            <a:off x="5532120" y="2587752"/>
            <a:ext cx="2240280" cy="402336"/>
          </a:xfrm>
          <a:prstGeom prst="rect">
            <a:avLst/>
          </a:prstGeom>
          <a:noFill/>
          <a:ln/>
        </p:spPr>
        <p:txBody>
          <a:bodyPr wrap="square" lIns="38100" tIns="38100" rIns="38100" bIns="38100" rtlCol="0" anchor="ctr"/>
          <a:lstStyle/>
          <a:p>
            <a:pPr algn="l" indent="0" marL="0">
              <a:buNone/>
            </a:pPr>
            <a:r>
              <a:rPr lang="en-US" sz="1200" dirty="0">
                <a:solidFill>
                  <a:srgbClr val="1A1A1A"/>
                </a:solidFill>
                <a:latin typeface="Cambria" pitchFamily="34" charset="0"/>
                <a:ea typeface="Cambria" pitchFamily="34" charset="-122"/>
                <a:cs typeface="Cambria" pitchFamily="34" charset="-120"/>
              </a:rPr>
              <a:t>Bước chạm tập kiểm, tỉ lệ đúng</a:t>
            </a:r>
            <a:endParaRPr lang="en-US" sz="1200" dirty="0"/>
          </a:p>
        </p:txBody>
      </p:sp>
      <p:sp>
        <p:nvSpPr>
          <p:cNvPr id="39" name="Text 37"/>
          <p:cNvSpPr/>
          <p:nvPr/>
        </p:nvSpPr>
        <p:spPr>
          <a:xfrm>
            <a:off x="7772400" y="2587752"/>
            <a:ext cx="868680" cy="402336"/>
          </a:xfrm>
          <a:prstGeom prst="rect">
            <a:avLst/>
          </a:prstGeom>
          <a:noFill/>
          <a:ln/>
        </p:spPr>
        <p:txBody>
          <a:bodyPr wrap="square" lIns="38100" tIns="38100" rIns="38100" bIns="38100" rtlCol="0" anchor="ctr"/>
          <a:lstStyle/>
          <a:p>
            <a:pPr algn="r" indent="0" marL="0">
              <a:buNone/>
            </a:pPr>
            <a:r>
              <a:rPr lang="en-US" sz="1200" dirty="0">
                <a:solidFill>
                  <a:srgbClr val="1A1A1A"/>
                </a:solidFill>
                <a:latin typeface="Cambria" pitchFamily="34" charset="0"/>
                <a:ea typeface="Cambria" pitchFamily="34" charset="-122"/>
                <a:cs typeface="Cambria" pitchFamily="34" charset="-120"/>
              </a:rPr>
              <a:t>28,3%</a:t>
            </a:r>
            <a:endParaRPr lang="en-US" sz="1200" dirty="0"/>
          </a:p>
        </p:txBody>
      </p:sp>
      <p:sp>
        <p:nvSpPr>
          <p:cNvPr id="40" name="Shape 38"/>
          <p:cNvSpPr/>
          <p:nvPr/>
        </p:nvSpPr>
        <p:spPr>
          <a:xfrm>
            <a:off x="5532120" y="2990088"/>
            <a:ext cx="3108960" cy="0"/>
          </a:xfrm>
          <a:prstGeom prst="line">
            <a:avLst/>
          </a:prstGeom>
          <a:noFill/>
          <a:ln w="12700">
            <a:solidFill>
              <a:srgbClr val="9A94AE"/>
            </a:solidFill>
            <a:prstDash val="solid"/>
          </a:ln>
        </p:spPr>
      </p:sp>
      <p:sp>
        <p:nvSpPr>
          <p:cNvPr id="41" name="Text 39"/>
          <p:cNvSpPr/>
          <p:nvPr/>
        </p:nvSpPr>
        <p:spPr>
          <a:xfrm>
            <a:off x="5532120" y="2990088"/>
            <a:ext cx="2240280" cy="402336"/>
          </a:xfrm>
          <a:prstGeom prst="rect">
            <a:avLst/>
          </a:prstGeom>
          <a:noFill/>
          <a:ln/>
        </p:spPr>
        <p:txBody>
          <a:bodyPr wrap="square" lIns="38100" tIns="38100" rIns="38100" bIns="38100" rtlCol="0" anchor="ctr"/>
          <a:lstStyle/>
          <a:p>
            <a:pPr algn="l" indent="0" marL="0">
              <a:buNone/>
            </a:pPr>
            <a:r>
              <a:rPr lang="en-US" sz="1200" b="1" dirty="0">
                <a:solidFill>
                  <a:srgbClr val="1A1A1A"/>
                </a:solidFill>
                <a:latin typeface="Cambria" pitchFamily="34" charset="0"/>
                <a:ea typeface="Cambria" pitchFamily="34" charset="-122"/>
                <a:cs typeface="Cambria" pitchFamily="34" charset="-120"/>
              </a:rPr>
              <a:t>Mô hình phát ra</a:t>
            </a:r>
            <a:endParaRPr lang="en-US" sz="1200" dirty="0"/>
          </a:p>
        </p:txBody>
      </p:sp>
      <p:sp>
        <p:nvSpPr>
          <p:cNvPr id="42" name="Text 40"/>
          <p:cNvSpPr/>
          <p:nvPr/>
        </p:nvSpPr>
        <p:spPr>
          <a:xfrm>
            <a:off x="7772400" y="2990088"/>
            <a:ext cx="868680" cy="402336"/>
          </a:xfrm>
          <a:prstGeom prst="rect">
            <a:avLst/>
          </a:prstGeom>
          <a:noFill/>
          <a:ln/>
        </p:spPr>
        <p:txBody>
          <a:bodyPr wrap="square" lIns="38100" tIns="38100" rIns="38100" bIns="38100" rtlCol="0" anchor="ctr"/>
          <a:lstStyle/>
          <a:p>
            <a:pPr algn="r" indent="0" marL="0">
              <a:buNone/>
            </a:pPr>
            <a:r>
              <a:rPr lang="en-US" sz="1200" b="1" dirty="0">
                <a:solidFill>
                  <a:srgbClr val="B22222"/>
                </a:solidFill>
                <a:latin typeface="Cambria" pitchFamily="34" charset="0"/>
                <a:ea typeface="Cambria" pitchFamily="34" charset="-122"/>
                <a:cs typeface="Cambria" pitchFamily="34" charset="-120"/>
              </a:rPr>
              <a:t>42,0%</a:t>
            </a:r>
            <a:endParaRPr lang="en-US" sz="1200" dirty="0"/>
          </a:p>
        </p:txBody>
      </p:sp>
      <p:sp>
        <p:nvSpPr>
          <p:cNvPr id="43" name="Text 41"/>
          <p:cNvSpPr/>
          <p:nvPr/>
        </p:nvSpPr>
        <p:spPr>
          <a:xfrm>
            <a:off x="5532120" y="3520440"/>
            <a:ext cx="3108960" cy="914400"/>
          </a:xfrm>
          <a:prstGeom prst="rect">
            <a:avLst/>
          </a:prstGeom>
          <a:noFill/>
          <a:ln/>
        </p:spPr>
        <p:txBody>
          <a:bodyPr wrap="square" lIns="0" tIns="0" rIns="0" bIns="0" rtlCol="0" anchor="t"/>
          <a:lstStyle/>
          <a:p>
            <a:pPr algn="l" indent="0" marL="0">
              <a:lnSpc>
                <a:spcPct val="130000"/>
              </a:lnSpc>
              <a:buNone/>
            </a:pPr>
            <a:r>
              <a:rPr lang="en-US" sz="1150" dirty="0">
                <a:solidFill>
                  <a:srgbClr val="1A1A1A"/>
                </a:solidFill>
                <a:latin typeface="Cambria" pitchFamily="34" charset="0"/>
                <a:ea typeface="Cambria" pitchFamily="34" charset="-122"/>
                <a:cs typeface="Cambria" pitchFamily="34" charset="-120"/>
              </a:rPr>
              <a:t>Mọi bước không chạm đều mang nhãn bỏ cuộc, nên hơn nửa mẫu huấn luyện dạy mô hình bỏ cuộc. Đây là quan sát, chưa phải nhân quả.</a:t>
            </a:r>
            <a:endParaRPr lang="en-US" sz="1150" dirty="0"/>
          </a:p>
        </p:txBody>
      </p:sp>
      <p:sp>
        <p:nvSpPr>
          <p:cNvPr id="44" name="Shape 42"/>
          <p:cNvSpPr/>
          <p:nvPr/>
        </p:nvSpPr>
        <p:spPr>
          <a:xfrm>
            <a:off x="502920" y="4663440"/>
            <a:ext cx="8138160" cy="1005840"/>
          </a:xfrm>
          <a:prstGeom prst="roundRect">
            <a:avLst>
              <a:gd name="adj" fmla="val 5455"/>
            </a:avLst>
          </a:prstGeom>
          <a:solidFill>
            <a:srgbClr val="E9E8EC"/>
          </a:solidFill>
          <a:ln/>
          <a:effectLst>
            <a:outerShdw sx="100000" sy="100000" kx="0" ky="0" algn="bl" rotWithShape="0" blurRad="63500" dist="31750" dir="2700000">
              <a:srgbClr val="8C8C99">
                <a:alpha val="45000"/>
              </a:srgbClr>
            </a:outerShdw>
          </a:effectLst>
        </p:spPr>
      </p:sp>
      <p:sp>
        <p:nvSpPr>
          <p:cNvPr id="45" name="Text 43"/>
          <p:cNvSpPr/>
          <p:nvPr/>
        </p:nvSpPr>
        <p:spPr>
          <a:xfrm>
            <a:off x="731520" y="4663440"/>
            <a:ext cx="7680960" cy="1005840"/>
          </a:xfrm>
          <a:prstGeom prst="rect">
            <a:avLst/>
          </a:prstGeom>
          <a:noFill/>
          <a:ln/>
        </p:spPr>
        <p:txBody>
          <a:bodyPr wrap="square" lIns="0" tIns="0" rIns="0" bIns="0" rtlCol="0" anchor="ctr"/>
          <a:lstStyle/>
          <a:p>
            <a:pPr algn="l" indent="0" marL="0">
              <a:lnSpc>
                <a:spcPct val="135000"/>
              </a:lnSpc>
              <a:buNone/>
            </a:pPr>
            <a:r>
              <a:rPr lang="en-US" sz="1250" b="1" dirty="0">
                <a:solidFill>
                  <a:srgbClr val="322164"/>
                </a:solidFill>
                <a:latin typeface="Cambria" pitchFamily="34" charset="0"/>
                <a:ea typeface="Cambria" pitchFamily="34" charset="-122"/>
                <a:cs typeface="Cambria" pitchFamily="34" charset="-120"/>
              </a:rPr>
              <a:t>Không có nhánh so sánh cùng đầu vào, nên luận văn không nói gì về công của đầu chọn hay của danh sách.</a:t>
            </a:r>
            <a:pPr algn="l" indent="0" marL="0">
              <a:lnSpc>
                <a:spcPct val="135000"/>
              </a:lnSpc>
              <a:buNone/>
            </a:pPr>
            <a:r>
              <a:rPr lang="en-US" sz="1250" dirty="0">
                <a:solidFill>
                  <a:srgbClr val="1A1A1A"/>
                </a:solidFill>
                <a:latin typeface="Cambria" pitchFamily="34" charset="0"/>
                <a:ea typeface="Cambria" pitchFamily="34" charset="-122"/>
                <a:cs typeface="Cambria" pitchFamily="34" charset="-120"/>
              </a:rPr>
              <a:t> Nhánh chỉ so được với Base: +8,54 điểm. Mọi số ở đây là kết quả một hạt giống.</a:t>
            </a:r>
            <a:endParaRPr lang="en-US" sz="1250" dirty="0"/>
          </a:p>
        </p:txBody>
      </p:sp>
      <p:sp>
        <p:nvSpPr>
          <p:cNvPr id="47" name="Shape 44"/>
          <p:cNvSpPr/>
          <p:nvPr/>
        </p:nvSpPr>
        <p:spPr>
          <a:xfrm>
            <a:off x="0" y="6620256"/>
            <a:ext cx="2743200" cy="237744"/>
          </a:xfrm>
          <a:prstGeom prst="rect">
            <a:avLst/>
          </a:prstGeom>
          <a:solidFill>
            <a:srgbClr val="191132"/>
          </a:solidFill>
          <a:ln/>
        </p:spPr>
      </p:sp>
      <p:sp>
        <p:nvSpPr>
          <p:cNvPr id="48" name="Shape 45"/>
          <p:cNvSpPr/>
          <p:nvPr/>
        </p:nvSpPr>
        <p:spPr>
          <a:xfrm>
            <a:off x="2743200" y="6620256"/>
            <a:ext cx="3383280" cy="237744"/>
          </a:xfrm>
          <a:prstGeom prst="rect">
            <a:avLst/>
          </a:prstGeom>
          <a:solidFill>
            <a:srgbClr val="25194B"/>
          </a:solidFill>
          <a:ln/>
        </p:spPr>
      </p:sp>
      <p:sp>
        <p:nvSpPr>
          <p:cNvPr id="49" name="Shape 46"/>
          <p:cNvSpPr/>
          <p:nvPr/>
        </p:nvSpPr>
        <p:spPr>
          <a:xfrm>
            <a:off x="6126480" y="6620256"/>
            <a:ext cx="1737360" cy="237744"/>
          </a:xfrm>
          <a:prstGeom prst="rect">
            <a:avLst/>
          </a:prstGeom>
          <a:solidFill>
            <a:srgbClr val="4F417A"/>
          </a:solidFill>
          <a:ln/>
        </p:spPr>
      </p:sp>
      <p:sp>
        <p:nvSpPr>
          <p:cNvPr id="50" name="Shape 47"/>
          <p:cNvSpPr/>
          <p:nvPr/>
        </p:nvSpPr>
        <p:spPr>
          <a:xfrm>
            <a:off x="7863840" y="6620256"/>
            <a:ext cx="1280160" cy="237744"/>
          </a:xfrm>
          <a:prstGeom prst="rect">
            <a:avLst/>
          </a:prstGeom>
          <a:solidFill>
            <a:srgbClr val="7A7099"/>
          </a:solidFill>
          <a:ln/>
        </p:spPr>
      </p:sp>
      <p:sp>
        <p:nvSpPr>
          <p:cNvPr id="51" name="Text 4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52" name="Text 4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53" name="Text 5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4" name="Text 5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22/26</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6 · Hạn chế, tự khai kèm số đo</a:t>
            </a:r>
            <a:endParaRPr lang="en-US" sz="1900" dirty="0"/>
          </a:p>
        </p:txBody>
      </p:sp>
      <p:sp>
        <p:nvSpPr>
          <p:cNvPr id="4" name="Text 2"/>
          <p:cNvSpPr/>
          <p:nvPr/>
        </p:nvSpPr>
        <p:spPr>
          <a:xfrm>
            <a:off x="502920" y="868680"/>
            <a:ext cx="4023360" cy="292608"/>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Về kết quả mô hình</a:t>
            </a:r>
            <a:endParaRPr lang="en-US" sz="1400" dirty="0"/>
          </a:p>
        </p:txBody>
      </p:sp>
      <p:sp>
        <p:nvSpPr>
          <p:cNvPr id="5" name="Text 3"/>
          <p:cNvSpPr/>
          <p:nvPr/>
        </p:nvSpPr>
        <p:spPr>
          <a:xfrm>
            <a:off x="502920" y="1280160"/>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6" name="Text 4"/>
          <p:cNvSpPr/>
          <p:nvPr/>
        </p:nvSpPr>
        <p:spPr>
          <a:xfrm>
            <a:off x="731520" y="1280160"/>
            <a:ext cx="37947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Mọi nhánh xử lý chỉ chạy được một hạt giống</a:t>
            </a:r>
            <a:endParaRPr lang="en-US" sz="1250" dirty="0"/>
          </a:p>
        </p:txBody>
      </p:sp>
      <p:sp>
        <p:nvSpPr>
          <p:cNvPr id="7" name="Text 5"/>
          <p:cNvSpPr/>
          <p:nvPr/>
        </p:nvSpPr>
        <p:spPr>
          <a:xfrm>
            <a:off x="502920" y="1901952"/>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8" name="Text 6"/>
          <p:cNvSpPr/>
          <p:nvPr/>
        </p:nvSpPr>
        <p:spPr>
          <a:xfrm>
            <a:off x="731520" y="1901952"/>
            <a:ext cx="37947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Điều kiện không gây hại không đạt: giảm 19,75 điểm ở bước không chạm</a:t>
            </a:r>
            <a:endParaRPr lang="en-US" sz="1250" dirty="0"/>
          </a:p>
        </p:txBody>
      </p:sp>
      <p:sp>
        <p:nvSpPr>
          <p:cNvPr id="9" name="Text 7"/>
          <p:cNvSpPr/>
          <p:nvPr/>
        </p:nvSpPr>
        <p:spPr>
          <a:xfrm>
            <a:off x="502920" y="2523744"/>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0" name="Text 8"/>
          <p:cNvSpPr/>
          <p:nvPr/>
        </p:nvSpPr>
        <p:spPr>
          <a:xfrm>
            <a:off x="731520" y="2523744"/>
            <a:ext cx="37947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Dữ liệu cặp có lối tắt ở 17,4% số cặp, phát hiện sau khi huấn luyện</a:t>
            </a:r>
            <a:endParaRPr lang="en-US" sz="1250" dirty="0"/>
          </a:p>
        </p:txBody>
      </p:sp>
      <p:sp>
        <p:nvSpPr>
          <p:cNvPr id="11" name="Text 9"/>
          <p:cNvSpPr/>
          <p:nvPr/>
        </p:nvSpPr>
        <p:spPr>
          <a:xfrm>
            <a:off x="502920" y="3145536"/>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2" name="Text 10"/>
          <p:cNvSpPr/>
          <p:nvPr/>
        </p:nvSpPr>
        <p:spPr>
          <a:xfrm>
            <a:off x="731520" y="3145536"/>
            <a:ext cx="37947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Ba nhánh so sánh trong thiết kế không chạy</a:t>
            </a:r>
            <a:endParaRPr lang="en-US" sz="1250" dirty="0"/>
          </a:p>
        </p:txBody>
      </p:sp>
      <p:sp>
        <p:nvSpPr>
          <p:cNvPr id="13" name="Text 11"/>
          <p:cNvSpPr/>
          <p:nvPr/>
        </p:nvSpPr>
        <p:spPr>
          <a:xfrm>
            <a:off x="502920" y="3767328"/>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4" name="Text 12"/>
          <p:cNvSpPr/>
          <p:nvPr/>
        </p:nvSpPr>
        <p:spPr>
          <a:xfrm>
            <a:off x="731520" y="3767328"/>
            <a:ext cx="37947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Nhánh ứng viên không có nhánh so sánh cùng đầu vào</a:t>
            </a:r>
            <a:endParaRPr lang="en-US" sz="1250" dirty="0"/>
          </a:p>
        </p:txBody>
      </p:sp>
      <p:sp>
        <p:nvSpPr>
          <p:cNvPr id="15" name="Text 13"/>
          <p:cNvSpPr/>
          <p:nvPr/>
        </p:nvSpPr>
        <p:spPr>
          <a:xfrm>
            <a:off x="4663440" y="868680"/>
            <a:ext cx="3977640" cy="292608"/>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Về dụng cụ đo và dữ liệu</a:t>
            </a:r>
            <a:endParaRPr lang="en-US" sz="1400" dirty="0"/>
          </a:p>
        </p:txBody>
      </p:sp>
      <p:sp>
        <p:nvSpPr>
          <p:cNvPr id="16" name="Text 14"/>
          <p:cNvSpPr/>
          <p:nvPr/>
        </p:nvSpPr>
        <p:spPr>
          <a:xfrm>
            <a:off x="4663440" y="1280160"/>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7" name="Text 15"/>
          <p:cNvSpPr/>
          <p:nvPr/>
        </p:nvSpPr>
        <p:spPr>
          <a:xfrm>
            <a:off x="4892040" y="1280160"/>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Hai dụng cụ đo cùng họ Qwen-VL với mô hình bị chấm</a:t>
            </a:r>
            <a:endParaRPr lang="en-US" sz="1250" dirty="0"/>
          </a:p>
        </p:txBody>
      </p:sp>
      <p:sp>
        <p:nvSpPr>
          <p:cNvPr id="18" name="Text 16"/>
          <p:cNvSpPr/>
          <p:nvPr/>
        </p:nvSpPr>
        <p:spPr>
          <a:xfrm>
            <a:off x="4663440" y="2029968"/>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9" name="Text 17"/>
          <p:cNvSpPr/>
          <p:nvPr/>
        </p:nvSpPr>
        <p:spPr>
          <a:xfrm>
            <a:off x="4892040" y="2029968"/>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Thước chưa đối chiếu với đánh giá của người thật</a:t>
            </a:r>
            <a:endParaRPr lang="en-US" sz="1250" dirty="0"/>
          </a:p>
        </p:txBody>
      </p:sp>
      <p:sp>
        <p:nvSpPr>
          <p:cNvPr id="20" name="Text 18"/>
          <p:cNvSpPr/>
          <p:nvPr/>
        </p:nvSpPr>
        <p:spPr>
          <a:xfrm>
            <a:off x="4663440" y="2779776"/>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1" name="Text 19"/>
          <p:cNvSpPr/>
          <p:nvPr/>
        </p:nvSpPr>
        <p:spPr>
          <a:xfrm>
            <a:off x="4892040" y="2779776"/>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Tập kiểm không phải ứng dụng chưa từng thấy: 95,6% trùng</a:t>
            </a:r>
            <a:endParaRPr lang="en-US" sz="1250" dirty="0"/>
          </a:p>
        </p:txBody>
      </p:sp>
      <p:sp>
        <p:nvSpPr>
          <p:cNvPr id="22" name="Text 20"/>
          <p:cNvSpPr/>
          <p:nvPr/>
        </p:nvSpPr>
        <p:spPr>
          <a:xfrm>
            <a:off x="4663440" y="3529584"/>
            <a:ext cx="201168" cy="74980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3" name="Text 21"/>
          <p:cNvSpPr/>
          <p:nvPr/>
        </p:nvSpPr>
        <p:spPr>
          <a:xfrm>
            <a:off x="4892040" y="3529584"/>
            <a:ext cx="3749040" cy="71323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Khâu chấm cho sẵn ngữ cảnh là câu chuẩn của các bước trước</a:t>
            </a:r>
            <a:endParaRPr lang="en-US" sz="1250" dirty="0"/>
          </a:p>
        </p:txBody>
      </p:sp>
      <p:sp>
        <p:nvSpPr>
          <p:cNvPr id="24" name="Shape 22"/>
          <p:cNvSpPr/>
          <p:nvPr/>
        </p:nvSpPr>
        <p:spPr>
          <a:xfrm>
            <a:off x="502920" y="4480560"/>
            <a:ext cx="8138160" cy="1188720"/>
          </a:xfrm>
          <a:prstGeom prst="roundRect">
            <a:avLst>
              <a:gd name="adj" fmla="val 4615"/>
            </a:avLst>
          </a:prstGeom>
          <a:solidFill>
            <a:srgbClr val="E9E8EC"/>
          </a:solidFill>
          <a:ln/>
          <a:effectLst>
            <a:outerShdw sx="100000" sy="100000" kx="0" ky="0" algn="bl" rotWithShape="0" blurRad="63500" dist="31750" dir="2700000">
              <a:srgbClr val="8C8C99">
                <a:alpha val="45000"/>
              </a:srgbClr>
            </a:outerShdw>
          </a:effectLst>
        </p:spPr>
      </p:sp>
      <p:sp>
        <p:nvSpPr>
          <p:cNvPr id="25" name="Text 23"/>
          <p:cNvSpPr/>
          <p:nvPr/>
        </p:nvSpPr>
        <p:spPr>
          <a:xfrm>
            <a:off x="731520" y="4480560"/>
            <a:ext cx="7680960" cy="1188720"/>
          </a:xfrm>
          <a:prstGeom prst="rect">
            <a:avLst/>
          </a:prstGeom>
          <a:noFill/>
          <a:ln/>
        </p:spPr>
        <p:txBody>
          <a:bodyPr wrap="square" lIns="0" tIns="0" rIns="0" bIns="0" rtlCol="0" anchor="ctr"/>
          <a:lstStyle/>
          <a:p>
            <a:pPr algn="l" indent="0" marL="0">
              <a:lnSpc>
                <a:spcPct val="140000"/>
              </a:lnSpc>
              <a:buNone/>
            </a:pPr>
            <a:r>
              <a:rPr lang="en-US" sz="1350" dirty="0">
                <a:solidFill>
                  <a:srgbClr val="1A1A1A"/>
                </a:solidFill>
                <a:latin typeface="Cambria" pitchFamily="34" charset="0"/>
                <a:ea typeface="Cambria" pitchFamily="34" charset="-122"/>
                <a:cs typeface="Cambria" pitchFamily="34" charset="-120"/>
              </a:rPr>
              <a:t>Phạm vi của luận văn gồm một màn hình mỗi lần, giao diện tiếng Anh, một bộ dữ liệu, hai mô hình định vị cùng họ và một mô hình gốc cỡ ba tỉ tham số.</a:t>
            </a:r>
            <a:endParaRPr lang="en-US" sz="1350" dirty="0"/>
          </a:p>
        </p:txBody>
      </p:sp>
      <p:sp>
        <p:nvSpPr>
          <p:cNvPr id="27" name="Shape 24"/>
          <p:cNvSpPr/>
          <p:nvPr/>
        </p:nvSpPr>
        <p:spPr>
          <a:xfrm>
            <a:off x="0" y="6620256"/>
            <a:ext cx="2743200" cy="237744"/>
          </a:xfrm>
          <a:prstGeom prst="rect">
            <a:avLst/>
          </a:prstGeom>
          <a:solidFill>
            <a:srgbClr val="191132"/>
          </a:solidFill>
          <a:ln/>
        </p:spPr>
      </p:sp>
      <p:sp>
        <p:nvSpPr>
          <p:cNvPr id="28" name="Shape 25"/>
          <p:cNvSpPr/>
          <p:nvPr/>
        </p:nvSpPr>
        <p:spPr>
          <a:xfrm>
            <a:off x="2743200" y="6620256"/>
            <a:ext cx="3383280" cy="237744"/>
          </a:xfrm>
          <a:prstGeom prst="rect">
            <a:avLst/>
          </a:prstGeom>
          <a:solidFill>
            <a:srgbClr val="25194B"/>
          </a:solidFill>
          <a:ln/>
        </p:spPr>
      </p:sp>
      <p:sp>
        <p:nvSpPr>
          <p:cNvPr id="29" name="Shape 26"/>
          <p:cNvSpPr/>
          <p:nvPr/>
        </p:nvSpPr>
        <p:spPr>
          <a:xfrm>
            <a:off x="6126480" y="6620256"/>
            <a:ext cx="1737360" cy="237744"/>
          </a:xfrm>
          <a:prstGeom prst="rect">
            <a:avLst/>
          </a:prstGeom>
          <a:solidFill>
            <a:srgbClr val="4F417A"/>
          </a:solidFill>
          <a:ln/>
        </p:spPr>
      </p:sp>
      <p:sp>
        <p:nvSpPr>
          <p:cNvPr id="30" name="Shape 27"/>
          <p:cNvSpPr/>
          <p:nvPr/>
        </p:nvSpPr>
        <p:spPr>
          <a:xfrm>
            <a:off x="7863840" y="6620256"/>
            <a:ext cx="1280160" cy="237744"/>
          </a:xfrm>
          <a:prstGeom prst="rect">
            <a:avLst/>
          </a:prstGeom>
          <a:solidFill>
            <a:srgbClr val="7A7099"/>
          </a:solidFill>
          <a:ln/>
        </p:spPr>
      </p:sp>
      <p:sp>
        <p:nvSpPr>
          <p:cNvPr id="31" name="Text 2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2" name="Text 2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23/26</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6 · Hướng phát triển</a:t>
            </a:r>
            <a:endParaRPr lang="en-US" sz="1900" dirty="0"/>
          </a:p>
        </p:txBody>
      </p:sp>
      <p:sp>
        <p:nvSpPr>
          <p:cNvPr id="4" name="Text 2"/>
          <p:cNvSpPr/>
          <p:nvPr/>
        </p:nvSpPr>
        <p:spPr>
          <a:xfrm>
            <a:off x="502920" y="804672"/>
            <a:ext cx="8138160" cy="292608"/>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Ba hướng đầu nối thẳng vào nhánh ứng viên; điều kiện chạy của hai hướng đầu đã cố định trước khi có số</a:t>
            </a:r>
            <a:endParaRPr lang="en-US" sz="1200" dirty="0"/>
          </a:p>
        </p:txBody>
      </p:sp>
      <p:sp>
        <p:nvSpPr>
          <p:cNvPr id="5" name="Shape 3"/>
          <p:cNvSpPr/>
          <p:nvPr/>
        </p:nvSpPr>
        <p:spPr>
          <a:xfrm>
            <a:off x="502920" y="1188720"/>
            <a:ext cx="8138160" cy="1170432"/>
          </a:xfrm>
          <a:prstGeom prst="roundRect">
            <a:avLst>
              <a:gd name="adj" fmla="val 4688"/>
            </a:avLst>
          </a:prstGeom>
          <a:solidFill>
            <a:srgbClr val="E9E8EC"/>
          </a:solidFill>
          <a:ln/>
          <a:effectLst>
            <a:outerShdw sx="100000" sy="100000" kx="0" ky="0" algn="bl" rotWithShape="0" blurRad="63500" dist="31750" dir="2700000">
              <a:srgbClr val="8C8C99">
                <a:alpha val="45000"/>
              </a:srgbClr>
            </a:outerShdw>
          </a:effectLst>
        </p:spPr>
      </p:sp>
      <p:sp>
        <p:nvSpPr>
          <p:cNvPr id="6" name="Text 4"/>
          <p:cNvSpPr/>
          <p:nvPr/>
        </p:nvSpPr>
        <p:spPr>
          <a:xfrm>
            <a:off x="630936" y="1298448"/>
            <a:ext cx="384048" cy="384048"/>
          </a:xfrm>
          <a:prstGeom prst="rect">
            <a:avLst/>
          </a:prstGeom>
          <a:noFill/>
          <a:ln/>
        </p:spPr>
        <p:txBody>
          <a:bodyPr wrap="square" lIns="0" tIns="0" rIns="0" bIns="0" rtlCol="0" anchor="t"/>
          <a:lstStyle/>
          <a:p>
            <a:pPr algn="ctr" indent="0" marL="0">
              <a:buNone/>
            </a:pPr>
            <a:r>
              <a:rPr lang="en-US" sz="2100" b="1" dirty="0">
                <a:solidFill>
                  <a:srgbClr val="B22222"/>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069848" y="1316736"/>
            <a:ext cx="7360920" cy="310896"/>
          </a:xfrm>
          <a:prstGeom prst="rect">
            <a:avLst/>
          </a:prstGeom>
          <a:noFill/>
          <a:ln/>
        </p:spPr>
        <p:txBody>
          <a:bodyPr wrap="square" lIns="0" tIns="0" rIns="0" bIns="0" rtlCol="0" anchor="t"/>
          <a:lstStyle/>
          <a:p>
            <a:pPr algn="l" indent="0" marL="0">
              <a:buNone/>
            </a:pPr>
            <a:r>
              <a:rPr lang="en-US" sz="1400" b="1" dirty="0">
                <a:solidFill>
                  <a:srgbClr val="B22222"/>
                </a:solidFill>
                <a:latin typeface="Cambria" pitchFamily="34" charset="0"/>
                <a:ea typeface="Cambria" pitchFamily="34" charset="-122"/>
                <a:cs typeface="Cambria" pitchFamily="34" charset="-120"/>
              </a:rPr>
              <a:t>Huấn luyện lại trên riêng 41.191 bước chạm</a:t>
            </a:r>
            <a:endParaRPr lang="en-US" sz="1400" dirty="0"/>
          </a:p>
        </p:txBody>
      </p:sp>
      <p:sp>
        <p:nvSpPr>
          <p:cNvPr id="8" name="Text 6"/>
          <p:cNvSpPr/>
          <p:nvPr/>
        </p:nvSpPr>
        <p:spPr>
          <a:xfrm>
            <a:off x="1069848" y="1700784"/>
            <a:ext cx="736092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Đưa tỉ lệ nhãn bỏ cuộc từ 54,8% về 29,1%. Dữ liệu đã dựng. Không chạy: thủ tục ngưỡng chỉ cải thiện tối đa 8 trên 1.400 bước, dưới ngưỡng 18/24 đặt trước.</a:t>
            </a:r>
            <a:endParaRPr lang="en-US" sz="1250" dirty="0"/>
          </a:p>
        </p:txBody>
      </p:sp>
      <p:sp>
        <p:nvSpPr>
          <p:cNvPr id="9" name="Shape 7"/>
          <p:cNvSpPr/>
          <p:nvPr/>
        </p:nvSpPr>
        <p:spPr>
          <a:xfrm>
            <a:off x="502920" y="2487168"/>
            <a:ext cx="8138160" cy="1170432"/>
          </a:xfrm>
          <a:prstGeom prst="roundRect">
            <a:avLst>
              <a:gd name="adj" fmla="val 4688"/>
            </a:avLst>
          </a:prstGeom>
          <a:solidFill>
            <a:srgbClr val="E9E8EC"/>
          </a:solidFill>
          <a:ln/>
          <a:effectLst>
            <a:outerShdw sx="100000" sy="100000" kx="0" ky="0" algn="bl" rotWithShape="0" blurRad="63500" dist="31750" dir="2700000">
              <a:srgbClr val="8C8C99">
                <a:alpha val="45000"/>
              </a:srgbClr>
            </a:outerShdw>
          </a:effectLst>
        </p:spPr>
      </p:sp>
      <p:sp>
        <p:nvSpPr>
          <p:cNvPr id="10" name="Text 8"/>
          <p:cNvSpPr/>
          <p:nvPr/>
        </p:nvSpPr>
        <p:spPr>
          <a:xfrm>
            <a:off x="630936" y="2596896"/>
            <a:ext cx="384048" cy="384048"/>
          </a:xfrm>
          <a:prstGeom prst="rect">
            <a:avLst/>
          </a:prstGeom>
          <a:noFill/>
          <a:ln/>
        </p:spPr>
        <p:txBody>
          <a:bodyPr wrap="square" lIns="0" tIns="0" rIns="0" bIns="0" rtlCol="0" anchor="t"/>
          <a:lstStyle/>
          <a:p>
            <a:pPr algn="ctr" indent="0" marL="0">
              <a:buNone/>
            </a:pPr>
            <a:r>
              <a:rPr lang="en-US" sz="2100" b="1" dirty="0">
                <a:solidFill>
                  <a:srgbClr val="322164"/>
                </a:solidFill>
                <a:latin typeface="Cambria" pitchFamily="34" charset="0"/>
                <a:ea typeface="Cambria" pitchFamily="34" charset="-122"/>
                <a:cs typeface="Cambria" pitchFamily="34" charset="-120"/>
              </a:rPr>
              <a:t>2</a:t>
            </a:r>
            <a:endParaRPr lang="en-US" sz="2100" dirty="0"/>
          </a:p>
        </p:txBody>
      </p:sp>
      <p:sp>
        <p:nvSpPr>
          <p:cNvPr id="11" name="Text 9"/>
          <p:cNvSpPr/>
          <p:nvPr/>
        </p:nvSpPr>
        <p:spPr>
          <a:xfrm>
            <a:off x="1069848" y="2615184"/>
            <a:ext cx="7360920" cy="310896"/>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Học quyết định bỏ cuộc từ tín hiệu ngoài xác suất của mô hình</a:t>
            </a:r>
            <a:endParaRPr lang="en-US" sz="1400" dirty="0"/>
          </a:p>
        </p:txBody>
      </p:sp>
      <p:sp>
        <p:nvSpPr>
          <p:cNvPr id="12" name="Text 10"/>
          <p:cNvSpPr/>
          <p:nvPr/>
        </p:nvSpPr>
        <p:spPr>
          <a:xfrm>
            <a:off x="1069848" y="2999232"/>
            <a:ext cx="736092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Thủ tục ngưỡng: giữ nguyên thắng (+8/1.400, KTC phủ 0). Điểm thẻ none ở bước có vàng và không có vàng trùng nhau, AUC 0,69–0,72. Bỏ cuộc hoàn hảo cho 78,0%: khoảng 14,6 điểm cần một bộ phân loại riêng.</a:t>
            </a:r>
            <a:endParaRPr lang="en-US" sz="1250" dirty="0"/>
          </a:p>
        </p:txBody>
      </p:sp>
      <p:sp>
        <p:nvSpPr>
          <p:cNvPr id="13" name="Shape 11"/>
          <p:cNvSpPr/>
          <p:nvPr/>
        </p:nvSpPr>
        <p:spPr>
          <a:xfrm>
            <a:off x="502920" y="3785616"/>
            <a:ext cx="8138160" cy="1170432"/>
          </a:xfrm>
          <a:prstGeom prst="roundRect">
            <a:avLst>
              <a:gd name="adj" fmla="val 4688"/>
            </a:avLst>
          </a:prstGeom>
          <a:solidFill>
            <a:srgbClr val="E9E8EC"/>
          </a:solidFill>
          <a:ln/>
          <a:effectLst>
            <a:outerShdw sx="100000" sy="100000" kx="0" ky="0" algn="bl" rotWithShape="0" blurRad="63500" dist="31750" dir="2700000">
              <a:srgbClr val="8C8C99">
                <a:alpha val="45000"/>
              </a:srgbClr>
            </a:outerShdw>
          </a:effectLst>
        </p:spPr>
      </p:sp>
      <p:sp>
        <p:nvSpPr>
          <p:cNvPr id="14" name="Text 12"/>
          <p:cNvSpPr/>
          <p:nvPr/>
        </p:nvSpPr>
        <p:spPr>
          <a:xfrm>
            <a:off x="630936" y="3895344"/>
            <a:ext cx="384048" cy="384048"/>
          </a:xfrm>
          <a:prstGeom prst="rect">
            <a:avLst/>
          </a:prstGeom>
          <a:noFill/>
          <a:ln/>
        </p:spPr>
        <p:txBody>
          <a:bodyPr wrap="square" lIns="0" tIns="0" rIns="0" bIns="0" rtlCol="0" anchor="t"/>
          <a:lstStyle/>
          <a:p>
            <a:pPr algn="ctr" indent="0" marL="0">
              <a:buNone/>
            </a:pPr>
            <a:r>
              <a:rPr lang="en-US" sz="2100" b="1" dirty="0">
                <a:solidFill>
                  <a:srgbClr val="322164"/>
                </a:solidFill>
                <a:latin typeface="Cambria" pitchFamily="34" charset="0"/>
                <a:ea typeface="Cambria" pitchFamily="34" charset="-122"/>
                <a:cs typeface="Cambria" pitchFamily="34" charset="-120"/>
              </a:rPr>
              <a:t>3</a:t>
            </a:r>
            <a:endParaRPr lang="en-US" sz="2100" dirty="0"/>
          </a:p>
        </p:txBody>
      </p:sp>
      <p:sp>
        <p:nvSpPr>
          <p:cNvPr id="15" name="Text 13"/>
          <p:cNvSpPr/>
          <p:nvPr/>
        </p:nvSpPr>
        <p:spPr>
          <a:xfrm>
            <a:off x="1069848" y="3913632"/>
            <a:ext cx="7360920" cy="310896"/>
          </a:xfrm>
          <a:prstGeom prst="rect">
            <a:avLst/>
          </a:prstGeom>
          <a:noFill/>
          <a:ln/>
        </p:spPr>
        <p:txBody>
          <a:bodyPr wrap="square" lIns="0" tIns="0" rIns="0" bIns="0" rtlCol="0" anchor="t"/>
          <a:lstStyle/>
          <a:p>
            <a:pPr algn="l" indent="0" marL="0">
              <a:buNone/>
            </a:pPr>
            <a:r>
              <a:rPr lang="en-US" sz="1400" b="1" dirty="0">
                <a:solidFill>
                  <a:srgbClr val="322164"/>
                </a:solidFill>
                <a:latin typeface="Cambria" pitchFamily="34" charset="0"/>
                <a:ea typeface="Cambria" pitchFamily="34" charset="-122"/>
                <a:cs typeface="Cambria" pitchFamily="34" charset="-120"/>
              </a:rPr>
              <a:t>Nhánh so sánh cùng đầu vào, rồi hạt giống thứ hai</a:t>
            </a:r>
            <a:endParaRPr lang="en-US" sz="1400" dirty="0"/>
          </a:p>
        </p:txBody>
      </p:sp>
      <p:sp>
        <p:nvSpPr>
          <p:cNvPr id="16" name="Text 14"/>
          <p:cNvSpPr/>
          <p:nvPr/>
        </p:nvSpPr>
        <p:spPr>
          <a:xfrm>
            <a:off x="1069848" y="4297680"/>
            <a:ext cx="736092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Không có nó thì không nói được công của đầu chọn. Sau đó mới báo trung bình hai hạt giống, bất kể ra sao.</a:t>
            </a:r>
            <a:endParaRPr lang="en-US" sz="1250" dirty="0"/>
          </a:p>
        </p:txBody>
      </p:sp>
      <p:sp>
        <p:nvSpPr>
          <p:cNvPr id="17" name="Text 15"/>
          <p:cNvSpPr/>
          <p:nvPr/>
        </p:nvSpPr>
        <p:spPr>
          <a:xfrm>
            <a:off x="502920" y="5166360"/>
            <a:ext cx="8138160" cy="502920"/>
          </a:xfrm>
          <a:prstGeom prst="rect">
            <a:avLst/>
          </a:prstGeom>
          <a:noFill/>
          <a:ln/>
        </p:spPr>
        <p:txBody>
          <a:bodyPr wrap="square" lIns="0" tIns="0" rIns="0" bIns="0" rtlCol="0" anchor="t"/>
          <a:lstStyle/>
          <a:p>
            <a:pPr algn="l" indent="0" marL="0">
              <a:lnSpc>
                <a:spcPct val="130000"/>
              </a:lnSpc>
              <a:buNone/>
            </a:pPr>
            <a:r>
              <a:rPr lang="en-US" sz="1150" dirty="0">
                <a:solidFill>
                  <a:srgbClr val="5A5A66"/>
                </a:solidFill>
                <a:latin typeface="Cambria" pitchFamily="34" charset="0"/>
                <a:ea typeface="Cambria" pitchFamily="34" charset="-122"/>
                <a:cs typeface="Cambria" pitchFamily="34" charset="-120"/>
              </a:rPr>
              <a:t>Còn lại: dạy mô hình lùi khi không chắc · chấm tay 100 câu · viết lại chính tên gọi phần tử · bộ liệt kê phần tử tốt hơn · chuỗi nhiều màn</a:t>
            </a:r>
            <a:endParaRPr lang="en-US" sz="1150" dirty="0"/>
          </a:p>
        </p:txBody>
      </p:sp>
      <p:sp>
        <p:nvSpPr>
          <p:cNvPr id="19" name="Shape 16"/>
          <p:cNvSpPr/>
          <p:nvPr/>
        </p:nvSpPr>
        <p:spPr>
          <a:xfrm>
            <a:off x="0" y="6620256"/>
            <a:ext cx="2743200" cy="237744"/>
          </a:xfrm>
          <a:prstGeom prst="rect">
            <a:avLst/>
          </a:prstGeom>
          <a:solidFill>
            <a:srgbClr val="191132"/>
          </a:solidFill>
          <a:ln/>
        </p:spPr>
      </p:sp>
      <p:sp>
        <p:nvSpPr>
          <p:cNvPr id="20" name="Shape 17"/>
          <p:cNvSpPr/>
          <p:nvPr/>
        </p:nvSpPr>
        <p:spPr>
          <a:xfrm>
            <a:off x="2743200" y="6620256"/>
            <a:ext cx="3383280" cy="237744"/>
          </a:xfrm>
          <a:prstGeom prst="rect">
            <a:avLst/>
          </a:prstGeom>
          <a:solidFill>
            <a:srgbClr val="25194B"/>
          </a:solidFill>
          <a:ln/>
        </p:spPr>
      </p:sp>
      <p:sp>
        <p:nvSpPr>
          <p:cNvPr id="21" name="Shape 18"/>
          <p:cNvSpPr/>
          <p:nvPr/>
        </p:nvSpPr>
        <p:spPr>
          <a:xfrm>
            <a:off x="6126480" y="6620256"/>
            <a:ext cx="1737360" cy="237744"/>
          </a:xfrm>
          <a:prstGeom prst="rect">
            <a:avLst/>
          </a:prstGeom>
          <a:solidFill>
            <a:srgbClr val="4F417A"/>
          </a:solidFill>
          <a:ln/>
        </p:spPr>
      </p:sp>
      <p:sp>
        <p:nvSpPr>
          <p:cNvPr id="22" name="Shape 19"/>
          <p:cNvSpPr/>
          <p:nvPr/>
        </p:nvSpPr>
        <p:spPr>
          <a:xfrm>
            <a:off x="7863840" y="6620256"/>
            <a:ext cx="1280160" cy="237744"/>
          </a:xfrm>
          <a:prstGeom prst="rect">
            <a:avLst/>
          </a:prstGeom>
          <a:solidFill>
            <a:srgbClr val="7A7099"/>
          </a:solidFill>
          <a:ln/>
        </p:spPr>
      </p:sp>
      <p:sp>
        <p:nvSpPr>
          <p:cNvPr id="23" name="Text 2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4" name="Text 2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24/26</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Kết luận</a:t>
            </a:r>
            <a:endParaRPr lang="en-US" sz="1900" dirty="0"/>
          </a:p>
        </p:txBody>
      </p:sp>
      <p:sp>
        <p:nvSpPr>
          <p:cNvPr id="4" name="Shape 2"/>
          <p:cNvSpPr/>
          <p:nvPr/>
        </p:nvSpPr>
        <p:spPr>
          <a:xfrm>
            <a:off x="502920" y="96012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5" name="Text 3"/>
          <p:cNvSpPr/>
          <p:nvPr/>
        </p:nvSpPr>
        <p:spPr>
          <a:xfrm>
            <a:off x="685800" y="1069848"/>
            <a:ext cx="1463040" cy="320040"/>
          </a:xfrm>
          <a:prstGeom prst="rect">
            <a:avLst/>
          </a:prstGeom>
          <a:noFill/>
          <a:ln/>
        </p:spPr>
        <p:txBody>
          <a:bodyPr wrap="square" lIns="0" tIns="0" rIns="0" bIns="0" rtlCol="0" anchor="t"/>
          <a:lstStyle/>
          <a:p>
            <a:pPr algn="l" indent="0" marL="0">
              <a:buNone/>
            </a:pPr>
            <a:r>
              <a:rPr lang="en-US" sz="1450" b="1" dirty="0">
                <a:solidFill>
                  <a:srgbClr val="006666"/>
                </a:solidFill>
                <a:latin typeface="Cambria" pitchFamily="34" charset="0"/>
                <a:ea typeface="Cambria" pitchFamily="34" charset="-122"/>
                <a:cs typeface="Cambria" pitchFamily="34" charset="-120"/>
              </a:rPr>
              <a:t>Thước đo</a:t>
            </a:r>
            <a:endParaRPr lang="en-US" sz="1450" dirty="0"/>
          </a:p>
        </p:txBody>
      </p:sp>
      <p:sp>
        <p:nvSpPr>
          <p:cNvPr id="6" name="Text 4"/>
          <p:cNvSpPr/>
          <p:nvPr/>
        </p:nvSpPr>
        <p:spPr>
          <a:xfrm>
            <a:off x="685800" y="1417320"/>
            <a:ext cx="7772400" cy="594360"/>
          </a:xfrm>
          <a:prstGeom prst="rect">
            <a:avLst/>
          </a:prstGeom>
          <a:noFill/>
          <a:ln/>
        </p:spPr>
        <p:txBody>
          <a:bodyPr wrap="square" lIns="0" tIns="0" rIns="0" bIns="0" rtlCol="0" anchor="t"/>
          <a:lstStyle/>
          <a:p>
            <a:pPr algn="l" indent="0" marL="0">
              <a:lnSpc>
                <a:spcPct val="132000"/>
              </a:lnSpc>
              <a:buNone/>
            </a:pPr>
            <a:r>
              <a:rPr lang="en-US" sz="1250" dirty="0">
                <a:solidFill>
                  <a:srgbClr val="1A1A1A"/>
                </a:solidFill>
                <a:latin typeface="Cambria" pitchFamily="34" charset="0"/>
                <a:ea typeface="Cambria" pitchFamily="34" charset="-122"/>
                <a:cs typeface="Cambria" pitchFamily="34" charset="-120"/>
              </a:rPr>
              <a:t>Executability, kiểm chứng bằng sáu khối phép đo. Trần 75,7 và sàn 12,0 đều đo được.</a:t>
            </a:r>
            <a:endParaRPr lang="en-US" sz="1250" dirty="0"/>
          </a:p>
        </p:txBody>
      </p:sp>
      <p:sp>
        <p:nvSpPr>
          <p:cNvPr id="7" name="Shape 5"/>
          <p:cNvSpPr/>
          <p:nvPr/>
        </p:nvSpPr>
        <p:spPr>
          <a:xfrm>
            <a:off x="502920" y="219456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8" name="Text 6"/>
          <p:cNvSpPr/>
          <p:nvPr/>
        </p:nvSpPr>
        <p:spPr>
          <a:xfrm>
            <a:off x="685800" y="2304288"/>
            <a:ext cx="1463040" cy="320040"/>
          </a:xfrm>
          <a:prstGeom prst="rect">
            <a:avLst/>
          </a:prstGeom>
          <a:noFill/>
          <a:ln/>
        </p:spPr>
        <p:txBody>
          <a:bodyPr wrap="square" lIns="0" tIns="0" rIns="0" bIns="0" rtlCol="0" anchor="t"/>
          <a:lstStyle/>
          <a:p>
            <a:pPr algn="l" indent="0" marL="0">
              <a:buNone/>
            </a:pPr>
            <a:r>
              <a:rPr lang="en-US" sz="1450" b="1" dirty="0">
                <a:solidFill>
                  <a:srgbClr val="322164"/>
                </a:solidFill>
                <a:latin typeface="Cambria" pitchFamily="34" charset="0"/>
                <a:ea typeface="Cambria" pitchFamily="34" charset="-122"/>
                <a:cs typeface="Cambria" pitchFamily="34" charset="-120"/>
              </a:rPr>
              <a:t>Kết quả</a:t>
            </a:r>
            <a:endParaRPr lang="en-US" sz="1450" dirty="0"/>
          </a:p>
        </p:txBody>
      </p:sp>
      <p:sp>
        <p:nvSpPr>
          <p:cNvPr id="9" name="Text 7"/>
          <p:cNvSpPr/>
          <p:nvPr/>
        </p:nvSpPr>
        <p:spPr>
          <a:xfrm>
            <a:off x="685800" y="2651760"/>
            <a:ext cx="7772400" cy="594360"/>
          </a:xfrm>
          <a:prstGeom prst="rect">
            <a:avLst/>
          </a:prstGeom>
          <a:noFill/>
          <a:ln/>
        </p:spPr>
        <p:txBody>
          <a:bodyPr wrap="square" lIns="0" tIns="0" rIns="0" bIns="0" rtlCol="0" anchor="t"/>
          <a:lstStyle/>
          <a:p>
            <a:pPr algn="l" indent="0" marL="0">
              <a:lnSpc>
                <a:spcPct val="132000"/>
              </a:lnSpc>
              <a:buNone/>
            </a:pPr>
            <a:r>
              <a:rPr lang="en-US" sz="1250" dirty="0">
                <a:solidFill>
                  <a:srgbClr val="1A1A1A"/>
                </a:solidFill>
                <a:latin typeface="Cambria" pitchFamily="34" charset="0"/>
                <a:ea typeface="Cambria" pitchFamily="34" charset="-122"/>
                <a:cs typeface="Cambria" pitchFamily="34" charset="-120"/>
              </a:rPr>
              <a:t>Tinh chỉnh đáng 11,5 điểm và đứng vững sau sáu cách giải thích thay thế. Thành phần đề xuất chưa kết luận được ở một hạt giống, và luận văn dừng đúng ở đó.</a:t>
            </a:r>
            <a:endParaRPr lang="en-US" sz="1250" dirty="0"/>
          </a:p>
        </p:txBody>
      </p:sp>
      <p:sp>
        <p:nvSpPr>
          <p:cNvPr id="10" name="Shape 8"/>
          <p:cNvSpPr/>
          <p:nvPr/>
        </p:nvSpPr>
        <p:spPr>
          <a:xfrm>
            <a:off x="502920" y="3429000"/>
            <a:ext cx="8138160" cy="1097280"/>
          </a:xfrm>
          <a:prstGeom prst="roundRect">
            <a:avLst>
              <a:gd name="adj" fmla="val 5000"/>
            </a:avLst>
          </a:prstGeom>
          <a:solidFill>
            <a:srgbClr val="E9E8EC"/>
          </a:solidFill>
          <a:ln/>
          <a:effectLst>
            <a:outerShdw sx="100000" sy="100000" kx="0" ky="0" algn="bl" rotWithShape="0" blurRad="63500" dist="31750" dir="2700000">
              <a:srgbClr val="8C8C99">
                <a:alpha val="45000"/>
              </a:srgbClr>
            </a:outerShdw>
          </a:effectLst>
        </p:spPr>
      </p:sp>
      <p:sp>
        <p:nvSpPr>
          <p:cNvPr id="11" name="Text 9"/>
          <p:cNvSpPr/>
          <p:nvPr/>
        </p:nvSpPr>
        <p:spPr>
          <a:xfrm>
            <a:off x="685800" y="3538728"/>
            <a:ext cx="1463040" cy="320040"/>
          </a:xfrm>
          <a:prstGeom prst="rect">
            <a:avLst/>
          </a:prstGeom>
          <a:noFill/>
          <a:ln/>
        </p:spPr>
        <p:txBody>
          <a:bodyPr wrap="square" lIns="0" tIns="0" rIns="0" bIns="0" rtlCol="0" anchor="t"/>
          <a:lstStyle/>
          <a:p>
            <a:pPr algn="l" indent="0" marL="0">
              <a:buNone/>
            </a:pPr>
            <a:r>
              <a:rPr lang="en-US" sz="1450" b="1" dirty="0">
                <a:solidFill>
                  <a:srgbClr val="990000"/>
                </a:solidFill>
                <a:latin typeface="Cambria" pitchFamily="34" charset="0"/>
                <a:ea typeface="Cambria" pitchFamily="34" charset="-122"/>
                <a:cs typeface="Cambria" pitchFamily="34" charset="-120"/>
              </a:rPr>
              <a:t>Chẩn đoán</a:t>
            </a:r>
            <a:endParaRPr lang="en-US" sz="1450" dirty="0"/>
          </a:p>
        </p:txBody>
      </p:sp>
      <p:sp>
        <p:nvSpPr>
          <p:cNvPr id="12" name="Text 10"/>
          <p:cNvSpPr/>
          <p:nvPr/>
        </p:nvSpPr>
        <p:spPr>
          <a:xfrm>
            <a:off x="685800" y="3886200"/>
            <a:ext cx="7772400" cy="594360"/>
          </a:xfrm>
          <a:prstGeom prst="rect">
            <a:avLst/>
          </a:prstGeom>
          <a:noFill/>
          <a:ln/>
        </p:spPr>
        <p:txBody>
          <a:bodyPr wrap="square" lIns="0" tIns="0" rIns="0" bIns="0" rtlCol="0" anchor="t"/>
          <a:lstStyle/>
          <a:p>
            <a:pPr algn="l" indent="0" marL="0">
              <a:lnSpc>
                <a:spcPct val="132000"/>
              </a:lnSpc>
              <a:buNone/>
            </a:pPr>
            <a:r>
              <a:rPr lang="en-US" sz="1250" dirty="0">
                <a:solidFill>
                  <a:srgbClr val="1A1A1A"/>
                </a:solidFill>
                <a:latin typeface="Cambria" pitchFamily="34" charset="0"/>
                <a:ea typeface="Cambria" pitchFamily="34" charset="-122"/>
                <a:cs typeface="Cambria" pitchFamily="34" charset="-120"/>
              </a:rPr>
              <a:t>Cơ chế đúng trên 60,6% số bước, nhưng bị chặn bởi độ chính xác khai báo. Nhánh ứng viên: cơ chế chọn đạt 71,4 khi đưa ra lựa chọn, điểm nghẽn mới là bỏ cuộc quá mức.</a:t>
            </a:r>
            <a:endParaRPr lang="en-US" sz="1250" dirty="0"/>
          </a:p>
        </p:txBody>
      </p:sp>
      <p:sp>
        <p:nvSpPr>
          <p:cNvPr id="13" name="Text 11"/>
          <p:cNvSpPr/>
          <p:nvPr/>
        </p:nvSpPr>
        <p:spPr>
          <a:xfrm>
            <a:off x="502920" y="4709160"/>
            <a:ext cx="8138160" cy="274320"/>
          </a:xfrm>
          <a:prstGeom prst="rect">
            <a:avLst/>
          </a:prstGeom>
          <a:noFill/>
          <a:ln/>
        </p:spPr>
        <p:txBody>
          <a:bodyPr wrap="square" lIns="0" tIns="0" rIns="0" bIns="0" rtlCol="0" anchor="t"/>
          <a:lstStyle/>
          <a:p>
            <a:pPr algn="l" indent="0" marL="0">
              <a:buNone/>
            </a:pPr>
            <a:r>
              <a:rPr lang="en-US" sz="1300" b="1" dirty="0">
                <a:solidFill>
                  <a:srgbClr val="322164"/>
                </a:solidFill>
                <a:latin typeface="Cambria" pitchFamily="34" charset="0"/>
                <a:ea typeface="Cambria" pitchFamily="34" charset="-122"/>
                <a:cs typeface="Cambria" pitchFamily="34" charset="-120"/>
              </a:rPr>
              <a:t>Công trình liên quan tới luận văn</a:t>
            </a:r>
            <a:endParaRPr lang="en-US" sz="1300" dirty="0"/>
          </a:p>
        </p:txBody>
      </p:sp>
      <p:sp>
        <p:nvSpPr>
          <p:cNvPr id="14" name="Text 12"/>
          <p:cNvSpPr/>
          <p:nvPr/>
        </p:nvSpPr>
        <p:spPr>
          <a:xfrm>
            <a:off x="502920" y="5029200"/>
            <a:ext cx="210312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VCL 2026</a:t>
            </a:r>
            <a:endParaRPr lang="en-US" sz="1150" dirty="0"/>
          </a:p>
        </p:txBody>
      </p:sp>
      <p:sp>
        <p:nvSpPr>
          <p:cNvPr id="15" name="Text 13"/>
          <p:cNvSpPr/>
          <p:nvPr/>
        </p:nvSpPr>
        <p:spPr>
          <a:xfrm>
            <a:off x="2606040" y="5029200"/>
            <a:ext cx="397764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Nhãn quy chiếu tự động khi phần tử không có tên để gọi</a:t>
            </a:r>
            <a:endParaRPr lang="en-US" sz="1150" dirty="0"/>
          </a:p>
        </p:txBody>
      </p:sp>
      <p:sp>
        <p:nvSpPr>
          <p:cNvPr id="16" name="Text 14"/>
          <p:cNvSpPr/>
          <p:nvPr/>
        </p:nvSpPr>
        <p:spPr>
          <a:xfrm>
            <a:off x="6583680" y="5029200"/>
            <a:ext cx="2057400" cy="365760"/>
          </a:xfrm>
          <a:prstGeom prst="rect">
            <a:avLst/>
          </a:prstGeom>
          <a:noFill/>
          <a:ln/>
        </p:spPr>
        <p:txBody>
          <a:bodyPr wrap="square" lIns="38100" tIns="38100" rIns="38100" bIns="38100" rtlCol="0" anchor="ctr"/>
          <a:lstStyle/>
          <a:p>
            <a:pPr algn="r" indent="0" marL="0">
              <a:buNone/>
            </a:pPr>
            <a:r>
              <a:rPr lang="en-US" sz="1150" dirty="0">
                <a:solidFill>
                  <a:srgbClr val="5A5A66"/>
                </a:solidFill>
                <a:latin typeface="Cambria" pitchFamily="34" charset="0"/>
                <a:ea typeface="Cambria" pitchFamily="34" charset="-122"/>
                <a:cs typeface="Cambria" pitchFamily="34" charset="-120"/>
              </a:rPr>
              <a:t>đã nộp 30/8</a:t>
            </a:r>
            <a:endParaRPr lang="en-US" sz="1150" dirty="0"/>
          </a:p>
        </p:txBody>
      </p:sp>
      <p:sp>
        <p:nvSpPr>
          <p:cNvPr id="17" name="Shape 15"/>
          <p:cNvSpPr/>
          <p:nvPr/>
        </p:nvSpPr>
        <p:spPr>
          <a:xfrm>
            <a:off x="502920" y="5394960"/>
            <a:ext cx="8138160" cy="0"/>
          </a:xfrm>
          <a:prstGeom prst="line">
            <a:avLst/>
          </a:prstGeom>
          <a:noFill/>
          <a:ln w="12700">
            <a:solidFill>
              <a:srgbClr val="9A94AE"/>
            </a:solidFill>
            <a:prstDash val="solid"/>
          </a:ln>
        </p:spPr>
      </p:sp>
      <p:sp>
        <p:nvSpPr>
          <p:cNvPr id="18" name="Text 16"/>
          <p:cNvSpPr/>
          <p:nvPr/>
        </p:nvSpPr>
        <p:spPr>
          <a:xfrm>
            <a:off x="502920" y="5394960"/>
            <a:ext cx="210312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FAIR 2026</a:t>
            </a:r>
            <a:endParaRPr lang="en-US" sz="1150" dirty="0"/>
          </a:p>
        </p:txBody>
      </p:sp>
      <p:sp>
        <p:nvSpPr>
          <p:cNvPr id="19" name="Text 17"/>
          <p:cNvSpPr/>
          <p:nvPr/>
        </p:nvSpPr>
        <p:spPr>
          <a:xfrm>
            <a:off x="2606040" y="5394960"/>
            <a:ext cx="3977640" cy="36576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Descriptor and Preference Targets for GUI Instruction Generation</a:t>
            </a:r>
            <a:endParaRPr lang="en-US" sz="1150" dirty="0"/>
          </a:p>
        </p:txBody>
      </p:sp>
      <p:sp>
        <p:nvSpPr>
          <p:cNvPr id="20" name="Text 18"/>
          <p:cNvSpPr/>
          <p:nvPr/>
        </p:nvSpPr>
        <p:spPr>
          <a:xfrm>
            <a:off x="6583680" y="5394960"/>
            <a:ext cx="2057400" cy="365760"/>
          </a:xfrm>
          <a:prstGeom prst="rect">
            <a:avLst/>
          </a:prstGeom>
          <a:noFill/>
          <a:ln/>
        </p:spPr>
        <p:txBody>
          <a:bodyPr wrap="square" lIns="38100" tIns="38100" rIns="38100" bIns="38100" rtlCol="0" anchor="ctr"/>
          <a:lstStyle/>
          <a:p>
            <a:pPr algn="r" indent="0" marL="0">
              <a:buNone/>
            </a:pPr>
            <a:r>
              <a:rPr lang="en-US" sz="1150" dirty="0">
                <a:solidFill>
                  <a:srgbClr val="5A5A66"/>
                </a:solidFill>
                <a:latin typeface="Cambria" pitchFamily="34" charset="0"/>
                <a:ea typeface="Cambria" pitchFamily="34" charset="-122"/>
                <a:cs typeface="Cambria" pitchFamily="34" charset="-120"/>
              </a:rPr>
              <a:t>đã gửi 31/8</a:t>
            </a:r>
            <a:endParaRPr lang="en-US" sz="1150" dirty="0"/>
          </a:p>
        </p:txBody>
      </p:sp>
      <p:sp>
        <p:nvSpPr>
          <p:cNvPr id="22" name="Shape 19"/>
          <p:cNvSpPr/>
          <p:nvPr/>
        </p:nvSpPr>
        <p:spPr>
          <a:xfrm>
            <a:off x="0" y="6620256"/>
            <a:ext cx="2743200" cy="237744"/>
          </a:xfrm>
          <a:prstGeom prst="rect">
            <a:avLst/>
          </a:prstGeom>
          <a:solidFill>
            <a:srgbClr val="191132"/>
          </a:solidFill>
          <a:ln/>
        </p:spPr>
      </p:sp>
      <p:sp>
        <p:nvSpPr>
          <p:cNvPr id="23" name="Shape 20"/>
          <p:cNvSpPr/>
          <p:nvPr/>
        </p:nvSpPr>
        <p:spPr>
          <a:xfrm>
            <a:off x="2743200" y="6620256"/>
            <a:ext cx="3383280" cy="237744"/>
          </a:xfrm>
          <a:prstGeom prst="rect">
            <a:avLst/>
          </a:prstGeom>
          <a:solidFill>
            <a:srgbClr val="25194B"/>
          </a:solidFill>
          <a:ln/>
        </p:spPr>
      </p:sp>
      <p:sp>
        <p:nvSpPr>
          <p:cNvPr id="24" name="Shape 21"/>
          <p:cNvSpPr/>
          <p:nvPr/>
        </p:nvSpPr>
        <p:spPr>
          <a:xfrm>
            <a:off x="6126480" y="6620256"/>
            <a:ext cx="1737360" cy="237744"/>
          </a:xfrm>
          <a:prstGeom prst="rect">
            <a:avLst/>
          </a:prstGeom>
          <a:solidFill>
            <a:srgbClr val="4F417A"/>
          </a:solidFill>
          <a:ln/>
        </p:spPr>
      </p:sp>
      <p:sp>
        <p:nvSpPr>
          <p:cNvPr id="25" name="Shape 22"/>
          <p:cNvSpPr/>
          <p:nvPr/>
        </p:nvSpPr>
        <p:spPr>
          <a:xfrm>
            <a:off x="7863840" y="6620256"/>
            <a:ext cx="1280160" cy="237744"/>
          </a:xfrm>
          <a:prstGeom prst="rect">
            <a:avLst/>
          </a:prstGeom>
          <a:solidFill>
            <a:srgbClr val="7A7099"/>
          </a:solidFill>
          <a:ln/>
        </p:spPr>
      </p:sp>
      <p:sp>
        <p:nvSpPr>
          <p:cNvPr id="26" name="Text 23"/>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7" name="Text 24"/>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8" name="Text 25"/>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9" name="Text 26"/>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25/26</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858000"/>
          </a:xfrm>
          <a:prstGeom prst="rect">
            <a:avLst/>
          </a:prstGeom>
          <a:solidFill>
            <a:srgbClr val="322164"/>
          </a:solidFill>
          <a:ln/>
        </p:spPr>
      </p:sp>
      <p:sp>
        <p:nvSpPr>
          <p:cNvPr id="3" name="Text 1"/>
          <p:cNvSpPr/>
          <p:nvPr/>
        </p:nvSpPr>
        <p:spPr>
          <a:xfrm>
            <a:off x="731520" y="2377440"/>
            <a:ext cx="7680960" cy="640080"/>
          </a:xfrm>
          <a:prstGeom prst="rect">
            <a:avLst/>
          </a:prstGeom>
          <a:noFill/>
          <a:ln/>
        </p:spPr>
        <p:txBody>
          <a:bodyPr wrap="square" lIns="0" tIns="0" rIns="0" bIns="0" rtlCol="0" anchor="t"/>
          <a:lstStyle/>
          <a:p>
            <a:pPr algn="ctr" indent="0" marL="0">
              <a:buNone/>
            </a:pPr>
            <a:r>
              <a:rPr lang="en-US" sz="2600" b="1" dirty="0">
                <a:solidFill>
                  <a:srgbClr val="FFFFFF"/>
                </a:solidFill>
                <a:latin typeface="Cambria" pitchFamily="34" charset="0"/>
                <a:ea typeface="Cambria" pitchFamily="34" charset="-122"/>
                <a:cs typeface="Cambria" pitchFamily="34" charset="-120"/>
              </a:rPr>
              <a:t>Trân trọng cảm ơn</a:t>
            </a:r>
            <a:endParaRPr lang="en-US" sz="2600" dirty="0"/>
          </a:p>
        </p:txBody>
      </p:sp>
      <p:sp>
        <p:nvSpPr>
          <p:cNvPr id="4" name="Text 2"/>
          <p:cNvSpPr/>
          <p:nvPr/>
        </p:nvSpPr>
        <p:spPr>
          <a:xfrm>
            <a:off x="731520" y="3200400"/>
            <a:ext cx="7680960" cy="457200"/>
          </a:xfrm>
          <a:prstGeom prst="rect">
            <a:avLst/>
          </a:prstGeom>
          <a:noFill/>
          <a:ln/>
        </p:spPr>
        <p:txBody>
          <a:bodyPr wrap="square" lIns="0" tIns="0" rIns="0" bIns="0" rtlCol="0" anchor="t"/>
          <a:lstStyle/>
          <a:p>
            <a:pPr algn="ctr" indent="0" marL="0">
              <a:buNone/>
            </a:pPr>
            <a:r>
              <a:rPr lang="en-US" sz="1600" dirty="0">
                <a:solidFill>
                  <a:srgbClr val="D8D4E6"/>
                </a:solidFill>
                <a:latin typeface="Cambria" pitchFamily="34" charset="0"/>
                <a:ea typeface="Cambria" pitchFamily="34" charset="-122"/>
                <a:cs typeface="Cambria" pitchFamily="34" charset="-120"/>
              </a:rPr>
              <a:t>Hỏi đáp và thảo luận</a:t>
            </a:r>
            <a:endParaRPr lang="en-US" sz="1600" dirty="0"/>
          </a:p>
        </p:txBody>
      </p:sp>
      <p:sp>
        <p:nvSpPr>
          <p:cNvPr id="5" name="Shape 3"/>
          <p:cNvSpPr/>
          <p:nvPr/>
        </p:nvSpPr>
        <p:spPr>
          <a:xfrm>
            <a:off x="3291840" y="3977640"/>
            <a:ext cx="2560320" cy="0"/>
          </a:xfrm>
          <a:prstGeom prst="line">
            <a:avLst/>
          </a:prstGeom>
          <a:noFill/>
          <a:ln w="19050">
            <a:solidFill>
              <a:srgbClr val="7A7099"/>
            </a:solidFill>
            <a:prstDash val="solid"/>
          </a:ln>
        </p:spPr>
      </p:sp>
      <p:sp>
        <p:nvSpPr>
          <p:cNvPr id="6" name="Text 4"/>
          <p:cNvSpPr/>
          <p:nvPr/>
        </p:nvSpPr>
        <p:spPr>
          <a:xfrm>
            <a:off x="731520" y="4251960"/>
            <a:ext cx="7680960" cy="731520"/>
          </a:xfrm>
          <a:prstGeom prst="rect">
            <a:avLst/>
          </a:prstGeom>
          <a:noFill/>
          <a:ln/>
        </p:spPr>
        <p:txBody>
          <a:bodyPr wrap="square" lIns="0" tIns="0" rIns="0" bIns="0" rtlCol="0" anchor="t"/>
          <a:lstStyle/>
          <a:p>
            <a:pPr algn="ctr" indent="0" marL="0">
              <a:lnSpc>
                <a:spcPct val="140000"/>
              </a:lnSpc>
              <a:buNone/>
            </a:pPr>
            <a:r>
              <a:rPr lang="en-US" sz="1300" dirty="0">
                <a:solidFill>
                  <a:srgbClr val="D8D4E6"/>
                </a:solidFill>
                <a:latin typeface="Cambria" pitchFamily="34" charset="0"/>
                <a:ea typeface="Cambria" pitchFamily="34" charset="-122"/>
                <a:cs typeface="Cambria" pitchFamily="34" charset="-120"/>
              </a:rPr>
              <a:t>Lê Đoàn Phương Uyên   ·   TS. Nguyễn Hồng Bửu Long</a:t>
            </a:r>
            <a:endParaRPr lang="en-US" sz="1300" dirty="0"/>
          </a:p>
          <a:p>
            <a:pPr algn="ctr" indent="0" marL="0">
              <a:lnSpc>
                <a:spcPct val="140000"/>
              </a:lnSpc>
              <a:buNone/>
            </a:pPr>
            <a:r>
              <a:rPr lang="en-US" sz="1300" dirty="0">
                <a:solidFill>
                  <a:srgbClr val="D8D4E6"/>
                </a:solidFill>
                <a:latin typeface="Cambria" pitchFamily="34" charset="0"/>
                <a:ea typeface="Cambria" pitchFamily="34" charset="-122"/>
                <a:cs typeface="Cambria" pitchFamily="34" charset="-120"/>
              </a:rPr>
              <a:t>Trường Đại học Khoa học Tự nhiên, ĐHQG-HCM</a:t>
            </a:r>
            <a:endParaRPr lang="en-US" sz="1300" dirty="0"/>
          </a:p>
        </p:txBody>
      </p:sp>
      <p:sp>
        <p:nvSpPr>
          <p:cNvPr id="7" name="Shape 5"/>
          <p:cNvSpPr/>
          <p:nvPr/>
        </p:nvSpPr>
        <p:spPr>
          <a:xfrm>
            <a:off x="0" y="6620256"/>
            <a:ext cx="2743200" cy="237744"/>
          </a:xfrm>
          <a:prstGeom prst="rect">
            <a:avLst/>
          </a:prstGeom>
          <a:solidFill>
            <a:srgbClr val="191132"/>
          </a:solidFill>
          <a:ln/>
        </p:spPr>
      </p:sp>
      <p:sp>
        <p:nvSpPr>
          <p:cNvPr id="8" name="Shape 6"/>
          <p:cNvSpPr/>
          <p:nvPr/>
        </p:nvSpPr>
        <p:spPr>
          <a:xfrm>
            <a:off x="2743200" y="6620256"/>
            <a:ext cx="3383280" cy="237744"/>
          </a:xfrm>
          <a:prstGeom prst="rect">
            <a:avLst/>
          </a:prstGeom>
          <a:solidFill>
            <a:srgbClr val="25194B"/>
          </a:solidFill>
          <a:ln/>
        </p:spPr>
      </p:sp>
      <p:sp>
        <p:nvSpPr>
          <p:cNvPr id="9" name="Shape 7"/>
          <p:cNvSpPr/>
          <p:nvPr/>
        </p:nvSpPr>
        <p:spPr>
          <a:xfrm>
            <a:off x="6126480" y="6620256"/>
            <a:ext cx="1737360" cy="237744"/>
          </a:xfrm>
          <a:prstGeom prst="rect">
            <a:avLst/>
          </a:prstGeom>
          <a:solidFill>
            <a:srgbClr val="4F417A"/>
          </a:solidFill>
          <a:ln/>
        </p:spPr>
      </p:sp>
      <p:sp>
        <p:nvSpPr>
          <p:cNvPr id="10" name="Shape 8"/>
          <p:cNvSpPr/>
          <p:nvPr/>
        </p:nvSpPr>
        <p:spPr>
          <a:xfrm>
            <a:off x="7863840" y="6620256"/>
            <a:ext cx="1280160" cy="237744"/>
          </a:xfrm>
          <a:prstGeom prst="rect">
            <a:avLst/>
          </a:prstGeom>
          <a:solidFill>
            <a:srgbClr val="7A7099"/>
          </a:solidFill>
          <a:ln/>
        </p:spPr>
      </p:sp>
      <p:sp>
        <p:nvSpPr>
          <p:cNvPr id="11" name="Text 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2" name="Text 1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3" name="Text 1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4" name="Text 1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26/26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Lý do không dùng BLEU, ROUGE hay vector ngữ nghĩa</a:t>
            </a:r>
            <a:endParaRPr lang="en-US" sz="1900" dirty="0"/>
          </a:p>
        </p:txBody>
      </p:sp>
      <p:sp>
        <p:nvSpPr>
          <p:cNvPr id="4" name="Shape 2"/>
          <p:cNvSpPr/>
          <p:nvPr/>
        </p:nvSpPr>
        <p:spPr>
          <a:xfrm>
            <a:off x="502920" y="1005840"/>
            <a:ext cx="8129016" cy="384048"/>
          </a:xfrm>
          <a:prstGeom prst="rect">
            <a:avLst/>
          </a:prstGeom>
          <a:solidFill>
            <a:srgbClr val="322164"/>
          </a:solidFill>
          <a:ln/>
        </p:spPr>
      </p:sp>
      <p:sp>
        <p:nvSpPr>
          <p:cNvPr id="5" name="Text 3"/>
          <p:cNvSpPr/>
          <p:nvPr/>
        </p:nvSpPr>
        <p:spPr>
          <a:xfrm>
            <a:off x="502920" y="1005840"/>
            <a:ext cx="3200400" cy="384048"/>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Nhánh</a:t>
            </a:r>
            <a:endParaRPr lang="en-US" sz="1250" dirty="0"/>
          </a:p>
        </p:txBody>
      </p:sp>
      <p:sp>
        <p:nvSpPr>
          <p:cNvPr id="6" name="Text 4"/>
          <p:cNvSpPr/>
          <p:nvPr/>
        </p:nvSpPr>
        <p:spPr>
          <a:xfrm>
            <a:off x="3703320" y="1005840"/>
            <a:ext cx="173736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Executability</a:t>
            </a:r>
            <a:endParaRPr lang="en-US" sz="1250" dirty="0"/>
          </a:p>
        </p:txBody>
      </p:sp>
      <p:sp>
        <p:nvSpPr>
          <p:cNvPr id="7" name="Text 5"/>
          <p:cNvSpPr/>
          <p:nvPr/>
        </p:nvSpPr>
        <p:spPr>
          <a:xfrm>
            <a:off x="5440680" y="1005840"/>
            <a:ext cx="164592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BLEU-4</a:t>
            </a:r>
            <a:endParaRPr lang="en-US" sz="1250" dirty="0"/>
          </a:p>
        </p:txBody>
      </p:sp>
      <p:sp>
        <p:nvSpPr>
          <p:cNvPr id="8" name="Text 6"/>
          <p:cNvSpPr/>
          <p:nvPr/>
        </p:nvSpPr>
        <p:spPr>
          <a:xfrm>
            <a:off x="7086600" y="1005840"/>
            <a:ext cx="1545336"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ROUGE-L</a:t>
            </a:r>
            <a:endParaRPr lang="en-US" sz="1250" dirty="0"/>
          </a:p>
        </p:txBody>
      </p:sp>
      <p:sp>
        <p:nvSpPr>
          <p:cNvPr id="9" name="Text 7"/>
          <p:cNvSpPr/>
          <p:nvPr/>
        </p:nvSpPr>
        <p:spPr>
          <a:xfrm>
            <a:off x="502920" y="1389888"/>
            <a:ext cx="32004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Base</a:t>
            </a:r>
            <a:endParaRPr lang="en-US" sz="1250" dirty="0"/>
          </a:p>
        </p:txBody>
      </p:sp>
      <p:sp>
        <p:nvSpPr>
          <p:cNvPr id="10" name="Text 8"/>
          <p:cNvSpPr/>
          <p:nvPr/>
        </p:nvSpPr>
        <p:spPr>
          <a:xfrm>
            <a:off x="3703320" y="1389888"/>
            <a:ext cx="173736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47,6</a:t>
            </a:r>
            <a:endParaRPr lang="en-US" sz="1250" dirty="0"/>
          </a:p>
        </p:txBody>
      </p:sp>
      <p:sp>
        <p:nvSpPr>
          <p:cNvPr id="11" name="Text 9"/>
          <p:cNvSpPr/>
          <p:nvPr/>
        </p:nvSpPr>
        <p:spPr>
          <a:xfrm>
            <a:off x="5440680" y="1389888"/>
            <a:ext cx="164592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9,9</a:t>
            </a:r>
            <a:endParaRPr lang="en-US" sz="1250" dirty="0"/>
          </a:p>
        </p:txBody>
      </p:sp>
      <p:sp>
        <p:nvSpPr>
          <p:cNvPr id="12" name="Text 10"/>
          <p:cNvSpPr/>
          <p:nvPr/>
        </p:nvSpPr>
        <p:spPr>
          <a:xfrm>
            <a:off x="7086600" y="1389888"/>
            <a:ext cx="1545336"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40,4</a:t>
            </a:r>
            <a:endParaRPr lang="en-US" sz="1250" dirty="0"/>
          </a:p>
        </p:txBody>
      </p:sp>
      <p:sp>
        <p:nvSpPr>
          <p:cNvPr id="13" name="Shape 11"/>
          <p:cNvSpPr/>
          <p:nvPr/>
        </p:nvSpPr>
        <p:spPr>
          <a:xfrm>
            <a:off x="502920" y="1755648"/>
            <a:ext cx="8129016" cy="0"/>
          </a:xfrm>
          <a:prstGeom prst="line">
            <a:avLst/>
          </a:prstGeom>
          <a:noFill/>
          <a:ln w="12700">
            <a:solidFill>
              <a:srgbClr val="9A94AE"/>
            </a:solidFill>
            <a:prstDash val="solid"/>
          </a:ln>
        </p:spPr>
      </p:sp>
      <p:sp>
        <p:nvSpPr>
          <p:cNvPr id="14" name="Text 12"/>
          <p:cNvSpPr/>
          <p:nvPr/>
        </p:nvSpPr>
        <p:spPr>
          <a:xfrm>
            <a:off x="502920" y="1755648"/>
            <a:ext cx="32004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S1 (hạt giống 101)</a:t>
            </a:r>
            <a:endParaRPr lang="en-US" sz="1250" dirty="0"/>
          </a:p>
        </p:txBody>
      </p:sp>
      <p:sp>
        <p:nvSpPr>
          <p:cNvPr id="15" name="Text 13"/>
          <p:cNvSpPr/>
          <p:nvPr/>
        </p:nvSpPr>
        <p:spPr>
          <a:xfrm>
            <a:off x="3703320" y="1755648"/>
            <a:ext cx="173736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59,1</a:t>
            </a:r>
            <a:endParaRPr lang="en-US" sz="1250" dirty="0"/>
          </a:p>
        </p:txBody>
      </p:sp>
      <p:sp>
        <p:nvSpPr>
          <p:cNvPr id="16" name="Text 14"/>
          <p:cNvSpPr/>
          <p:nvPr/>
        </p:nvSpPr>
        <p:spPr>
          <a:xfrm>
            <a:off x="5440680" y="1755648"/>
            <a:ext cx="164592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38,7</a:t>
            </a:r>
            <a:endParaRPr lang="en-US" sz="1250" dirty="0"/>
          </a:p>
        </p:txBody>
      </p:sp>
      <p:sp>
        <p:nvSpPr>
          <p:cNvPr id="17" name="Text 15"/>
          <p:cNvSpPr/>
          <p:nvPr/>
        </p:nvSpPr>
        <p:spPr>
          <a:xfrm>
            <a:off x="7086600" y="1755648"/>
            <a:ext cx="1545336"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67,3</a:t>
            </a:r>
            <a:endParaRPr lang="en-US" sz="1250" dirty="0"/>
          </a:p>
        </p:txBody>
      </p:sp>
      <p:sp>
        <p:nvSpPr>
          <p:cNvPr id="18" name="Shape 16"/>
          <p:cNvSpPr/>
          <p:nvPr/>
        </p:nvSpPr>
        <p:spPr>
          <a:xfrm>
            <a:off x="502920" y="2121408"/>
            <a:ext cx="8129016" cy="0"/>
          </a:xfrm>
          <a:prstGeom prst="line">
            <a:avLst/>
          </a:prstGeom>
          <a:noFill/>
          <a:ln w="12700">
            <a:solidFill>
              <a:srgbClr val="9A94AE"/>
            </a:solidFill>
            <a:prstDash val="solid"/>
          </a:ln>
        </p:spPr>
      </p:sp>
      <p:sp>
        <p:nvSpPr>
          <p:cNvPr id="19" name="Text 17"/>
          <p:cNvSpPr/>
          <p:nvPr/>
        </p:nvSpPr>
        <p:spPr>
          <a:xfrm>
            <a:off x="502920" y="2121408"/>
            <a:ext cx="32004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CE2-S2</a:t>
            </a:r>
            <a:endParaRPr lang="en-US" sz="1250" dirty="0"/>
          </a:p>
        </p:txBody>
      </p:sp>
      <p:sp>
        <p:nvSpPr>
          <p:cNvPr id="20" name="Text 18"/>
          <p:cNvSpPr/>
          <p:nvPr/>
        </p:nvSpPr>
        <p:spPr>
          <a:xfrm>
            <a:off x="3703320" y="2121408"/>
            <a:ext cx="173736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59,4</a:t>
            </a:r>
            <a:endParaRPr lang="en-US" sz="1250" dirty="0"/>
          </a:p>
        </p:txBody>
      </p:sp>
      <p:sp>
        <p:nvSpPr>
          <p:cNvPr id="21" name="Text 19"/>
          <p:cNvSpPr/>
          <p:nvPr/>
        </p:nvSpPr>
        <p:spPr>
          <a:xfrm>
            <a:off x="5440680" y="2121408"/>
            <a:ext cx="164592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38,1</a:t>
            </a:r>
            <a:endParaRPr lang="en-US" sz="1250" dirty="0"/>
          </a:p>
        </p:txBody>
      </p:sp>
      <p:sp>
        <p:nvSpPr>
          <p:cNvPr id="22" name="Text 20"/>
          <p:cNvSpPr/>
          <p:nvPr/>
        </p:nvSpPr>
        <p:spPr>
          <a:xfrm>
            <a:off x="7086600" y="2121408"/>
            <a:ext cx="1545336" cy="365760"/>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68,6</a:t>
            </a:r>
            <a:endParaRPr lang="en-US" sz="1250" dirty="0"/>
          </a:p>
        </p:txBody>
      </p:sp>
      <p:sp>
        <p:nvSpPr>
          <p:cNvPr id="23" name="Shape 21"/>
          <p:cNvSpPr/>
          <p:nvPr/>
        </p:nvSpPr>
        <p:spPr>
          <a:xfrm>
            <a:off x="502920" y="2487168"/>
            <a:ext cx="8129016" cy="0"/>
          </a:xfrm>
          <a:prstGeom prst="line">
            <a:avLst/>
          </a:prstGeom>
          <a:noFill/>
          <a:ln w="12700">
            <a:solidFill>
              <a:srgbClr val="9A94AE"/>
            </a:solidFill>
            <a:prstDash val="solid"/>
          </a:ln>
        </p:spPr>
      </p:sp>
      <p:sp>
        <p:nvSpPr>
          <p:cNvPr id="24" name="Text 22"/>
          <p:cNvSpPr/>
          <p:nvPr/>
        </p:nvSpPr>
        <p:spPr>
          <a:xfrm>
            <a:off x="502920" y="2487168"/>
            <a:ext cx="32004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MIN-DESC</a:t>
            </a:r>
            <a:endParaRPr lang="en-US" sz="1250" dirty="0"/>
          </a:p>
        </p:txBody>
      </p:sp>
      <p:sp>
        <p:nvSpPr>
          <p:cNvPr id="25" name="Text 23"/>
          <p:cNvSpPr/>
          <p:nvPr/>
        </p:nvSpPr>
        <p:spPr>
          <a:xfrm>
            <a:off x="3703320" y="2487168"/>
            <a:ext cx="1737360" cy="365760"/>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60,0</a:t>
            </a:r>
            <a:endParaRPr lang="en-US" sz="1250" dirty="0"/>
          </a:p>
        </p:txBody>
      </p:sp>
      <p:sp>
        <p:nvSpPr>
          <p:cNvPr id="26" name="Text 24"/>
          <p:cNvSpPr/>
          <p:nvPr/>
        </p:nvSpPr>
        <p:spPr>
          <a:xfrm>
            <a:off x="5440680" y="2487168"/>
            <a:ext cx="164592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37,9</a:t>
            </a:r>
            <a:endParaRPr lang="en-US" sz="1250" dirty="0"/>
          </a:p>
        </p:txBody>
      </p:sp>
      <p:sp>
        <p:nvSpPr>
          <p:cNvPr id="27" name="Text 25"/>
          <p:cNvSpPr/>
          <p:nvPr/>
        </p:nvSpPr>
        <p:spPr>
          <a:xfrm>
            <a:off x="7086600" y="2487168"/>
            <a:ext cx="1545336"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68,4</a:t>
            </a:r>
            <a:endParaRPr lang="en-US" sz="1250" dirty="0"/>
          </a:p>
        </p:txBody>
      </p:sp>
      <p:sp>
        <p:nvSpPr>
          <p:cNvPr id="28" name="Shape 26"/>
          <p:cNvSpPr/>
          <p:nvPr/>
        </p:nvSpPr>
        <p:spPr>
          <a:xfrm>
            <a:off x="502920" y="2852928"/>
            <a:ext cx="8129016" cy="0"/>
          </a:xfrm>
          <a:prstGeom prst="line">
            <a:avLst/>
          </a:prstGeom>
          <a:noFill/>
          <a:ln w="12700">
            <a:solidFill>
              <a:srgbClr val="9A94AE"/>
            </a:solidFill>
            <a:prstDash val="solid"/>
          </a:ln>
        </p:spPr>
      </p:sp>
      <p:sp>
        <p:nvSpPr>
          <p:cNvPr id="29" name="Text 27"/>
          <p:cNvSpPr/>
          <p:nvPr/>
        </p:nvSpPr>
        <p:spPr>
          <a:xfrm>
            <a:off x="502920" y="2852928"/>
            <a:ext cx="32004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Nhánh ứng viên</a:t>
            </a:r>
            <a:endParaRPr lang="en-US" sz="1250" dirty="0"/>
          </a:p>
        </p:txBody>
      </p:sp>
      <p:sp>
        <p:nvSpPr>
          <p:cNvPr id="30" name="Text 28"/>
          <p:cNvSpPr/>
          <p:nvPr/>
        </p:nvSpPr>
        <p:spPr>
          <a:xfrm>
            <a:off x="3703320" y="2852928"/>
            <a:ext cx="173736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56,1</a:t>
            </a:r>
            <a:endParaRPr lang="en-US" sz="1250" dirty="0"/>
          </a:p>
        </p:txBody>
      </p:sp>
      <p:sp>
        <p:nvSpPr>
          <p:cNvPr id="31" name="Text 29"/>
          <p:cNvSpPr/>
          <p:nvPr/>
        </p:nvSpPr>
        <p:spPr>
          <a:xfrm>
            <a:off x="5440680" y="2852928"/>
            <a:ext cx="164592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34,5</a:t>
            </a:r>
            <a:endParaRPr lang="en-US" sz="1250" dirty="0"/>
          </a:p>
        </p:txBody>
      </p:sp>
      <p:sp>
        <p:nvSpPr>
          <p:cNvPr id="32" name="Text 30"/>
          <p:cNvSpPr/>
          <p:nvPr/>
        </p:nvSpPr>
        <p:spPr>
          <a:xfrm>
            <a:off x="7086600" y="2852928"/>
            <a:ext cx="1545336"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63,0</a:t>
            </a:r>
            <a:endParaRPr lang="en-US" sz="1250" dirty="0"/>
          </a:p>
        </p:txBody>
      </p:sp>
      <p:sp>
        <p:nvSpPr>
          <p:cNvPr id="33" name="Shape 31"/>
          <p:cNvSpPr/>
          <p:nvPr/>
        </p:nvSpPr>
        <p:spPr>
          <a:xfrm>
            <a:off x="502920" y="3218688"/>
            <a:ext cx="8129016" cy="0"/>
          </a:xfrm>
          <a:prstGeom prst="line">
            <a:avLst/>
          </a:prstGeom>
          <a:noFill/>
          <a:ln w="12700">
            <a:solidFill>
              <a:srgbClr val="9A94AE"/>
            </a:solidFill>
            <a:prstDash val="solid"/>
          </a:ln>
        </p:spPr>
      </p:sp>
      <p:sp>
        <p:nvSpPr>
          <p:cNvPr id="34" name="Text 32"/>
          <p:cNvSpPr/>
          <p:nvPr/>
        </p:nvSpPr>
        <p:spPr>
          <a:xfrm>
            <a:off x="502920" y="3218688"/>
            <a:ext cx="32004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chuẩn</a:t>
            </a:r>
            <a:endParaRPr lang="en-US" sz="1250" dirty="0"/>
          </a:p>
        </p:txBody>
      </p:sp>
      <p:sp>
        <p:nvSpPr>
          <p:cNvPr id="35" name="Text 33"/>
          <p:cNvSpPr/>
          <p:nvPr/>
        </p:nvSpPr>
        <p:spPr>
          <a:xfrm>
            <a:off x="3703320" y="3218688"/>
            <a:ext cx="173736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75,7</a:t>
            </a:r>
            <a:endParaRPr lang="en-US" sz="1250" dirty="0"/>
          </a:p>
        </p:txBody>
      </p:sp>
      <p:sp>
        <p:nvSpPr>
          <p:cNvPr id="36" name="Text 34"/>
          <p:cNvSpPr/>
          <p:nvPr/>
        </p:nvSpPr>
        <p:spPr>
          <a:xfrm>
            <a:off x="5440680" y="3218688"/>
            <a:ext cx="1645920"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96,1</a:t>
            </a:r>
            <a:endParaRPr lang="en-US" sz="1250" dirty="0"/>
          </a:p>
        </p:txBody>
      </p:sp>
      <p:sp>
        <p:nvSpPr>
          <p:cNvPr id="37" name="Text 35"/>
          <p:cNvSpPr/>
          <p:nvPr/>
        </p:nvSpPr>
        <p:spPr>
          <a:xfrm>
            <a:off x="7086600" y="3218688"/>
            <a:ext cx="1545336" cy="365760"/>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100,0</a:t>
            </a:r>
            <a:endParaRPr lang="en-US" sz="1250" dirty="0"/>
          </a:p>
        </p:txBody>
      </p:sp>
      <p:sp>
        <p:nvSpPr>
          <p:cNvPr id="38" name="Text 36"/>
          <p:cNvSpPr/>
          <p:nvPr/>
        </p:nvSpPr>
        <p:spPr>
          <a:xfrm>
            <a:off x="502920" y="3703320"/>
            <a:ext cx="201168" cy="566928"/>
          </a:xfrm>
          <a:prstGeom prst="rect">
            <a:avLst/>
          </a:prstGeom>
          <a:noFill/>
          <a:ln/>
        </p:spPr>
        <p:txBody>
          <a:bodyPr wrap="square" lIns="0" tIns="0" rIns="0" bIns="0" rtlCol="0" anchor="t"/>
          <a:lstStyle/>
          <a:p>
            <a:pPr algn="l" indent="0" marL="0">
              <a:buNone/>
            </a:pPr>
            <a:r>
              <a:rPr lang="en-US" sz="1200" b="1" dirty="0">
                <a:solidFill>
                  <a:srgbClr val="006666"/>
                </a:solidFill>
                <a:latin typeface="Cambria" pitchFamily="34" charset="0"/>
                <a:ea typeface="Cambria" pitchFamily="34" charset="-122"/>
                <a:cs typeface="Cambria" pitchFamily="34" charset="-120"/>
              </a:rPr>
              <a:t>•</a:t>
            </a:r>
            <a:endParaRPr lang="en-US" sz="1200" dirty="0"/>
          </a:p>
        </p:txBody>
      </p:sp>
      <p:sp>
        <p:nvSpPr>
          <p:cNvPr id="39" name="Text 37"/>
          <p:cNvSpPr/>
          <p:nvPr/>
        </p:nvSpPr>
        <p:spPr>
          <a:xfrm>
            <a:off x="731520" y="3703320"/>
            <a:ext cx="7909560" cy="548640"/>
          </a:xfrm>
          <a:prstGeom prst="rect">
            <a:avLst/>
          </a:prstGeom>
          <a:noFill/>
          <a:ln/>
        </p:spPr>
        <p:txBody>
          <a:bodyPr wrap="square" lIns="0" tIns="0" rIns="0" bIns="0" rtlCol="0" anchor="t"/>
          <a:lstStyle/>
          <a:p>
            <a:pPr algn="l" indent="0" marL="0">
              <a:lnSpc>
                <a:spcPct val="125000"/>
              </a:lnSpc>
              <a:buNone/>
            </a:pPr>
            <a:r>
              <a:rPr lang="en-US" sz="1200" dirty="0">
                <a:solidFill>
                  <a:srgbClr val="1A1A1A"/>
                </a:solidFill>
                <a:latin typeface="Cambria" pitchFamily="34" charset="0"/>
                <a:ea typeface="Cambria" pitchFamily="34" charset="-122"/>
                <a:cs typeface="Cambria" pitchFamily="34" charset="-120"/>
              </a:rPr>
              <a:t>Ba thước cùng thứ tự ở ba nhánh cách xa nhau; trong cụm 57 đến 60 thì bất đồng: BLEU xếp MIN-DESC dưới S1, ROUGE-L xếp CE2-S2 cao nhất</a:t>
            </a:r>
            <a:endParaRPr lang="en-US" sz="1200" dirty="0"/>
          </a:p>
        </p:txBody>
      </p:sp>
      <p:sp>
        <p:nvSpPr>
          <p:cNvPr id="40" name="Text 38"/>
          <p:cNvSpPr/>
          <p:nvPr/>
        </p:nvSpPr>
        <p:spPr>
          <a:xfrm>
            <a:off x="502920" y="4270248"/>
            <a:ext cx="201168" cy="566928"/>
          </a:xfrm>
          <a:prstGeom prst="rect">
            <a:avLst/>
          </a:prstGeom>
          <a:noFill/>
          <a:ln/>
        </p:spPr>
        <p:txBody>
          <a:bodyPr wrap="square" lIns="0" tIns="0" rIns="0" bIns="0" rtlCol="0" anchor="t"/>
          <a:lstStyle/>
          <a:p>
            <a:pPr algn="l" indent="0" marL="0">
              <a:buNone/>
            </a:pPr>
            <a:r>
              <a:rPr lang="en-US" sz="1200" b="1" dirty="0">
                <a:solidFill>
                  <a:srgbClr val="006666"/>
                </a:solidFill>
                <a:latin typeface="Cambria" pitchFamily="34" charset="0"/>
                <a:ea typeface="Cambria" pitchFamily="34" charset="-122"/>
                <a:cs typeface="Cambria" pitchFamily="34" charset="-120"/>
              </a:rPr>
              <a:t>•</a:t>
            </a:r>
            <a:endParaRPr lang="en-US" sz="1200" dirty="0"/>
          </a:p>
        </p:txBody>
      </p:sp>
      <p:sp>
        <p:nvSpPr>
          <p:cNvPr id="41" name="Text 39"/>
          <p:cNvSpPr/>
          <p:nvPr/>
        </p:nvSpPr>
        <p:spPr>
          <a:xfrm>
            <a:off x="731520" y="4270248"/>
            <a:ext cx="7909560" cy="548640"/>
          </a:xfrm>
          <a:prstGeom prst="rect">
            <a:avLst/>
          </a:prstGeom>
          <a:noFill/>
          <a:ln/>
        </p:spPr>
        <p:txBody>
          <a:bodyPr wrap="square" lIns="0" tIns="0" rIns="0" bIns="0" rtlCol="0" anchor="t"/>
          <a:lstStyle/>
          <a:p>
            <a:pPr algn="l" indent="0" marL="0">
              <a:lnSpc>
                <a:spcPct val="125000"/>
              </a:lnSpc>
              <a:buNone/>
            </a:pPr>
            <a:r>
              <a:rPr lang="en-US" sz="1200" dirty="0">
                <a:solidFill>
                  <a:srgbClr val="1A1A1A"/>
                </a:solidFill>
                <a:latin typeface="Cambria" pitchFamily="34" charset="0"/>
                <a:ea typeface="Cambria" pitchFamily="34" charset="-122"/>
                <a:cs typeface="Cambria" pitchFamily="34" charset="-120"/>
              </a:rPr>
              <a:t>So khớp chuỗi kết oan 97,5% số câu diễn đạt khác; vector ngữ nghĩa cho AUC 0,336</a:t>
            </a:r>
            <a:endParaRPr lang="en-US" sz="1200" dirty="0"/>
          </a:p>
        </p:txBody>
      </p:sp>
      <p:sp>
        <p:nvSpPr>
          <p:cNvPr id="42" name="Text 40"/>
          <p:cNvSpPr/>
          <p:nvPr/>
        </p:nvSpPr>
        <p:spPr>
          <a:xfrm>
            <a:off x="502920" y="4837176"/>
            <a:ext cx="201168" cy="566928"/>
          </a:xfrm>
          <a:prstGeom prst="rect">
            <a:avLst/>
          </a:prstGeom>
          <a:noFill/>
          <a:ln/>
        </p:spPr>
        <p:txBody>
          <a:bodyPr wrap="square" lIns="0" tIns="0" rIns="0" bIns="0" rtlCol="0" anchor="t"/>
          <a:lstStyle/>
          <a:p>
            <a:pPr algn="l" indent="0" marL="0">
              <a:buNone/>
            </a:pPr>
            <a:r>
              <a:rPr lang="en-US" sz="1200" b="1" dirty="0">
                <a:solidFill>
                  <a:srgbClr val="006666"/>
                </a:solidFill>
                <a:latin typeface="Cambria" pitchFamily="34" charset="0"/>
                <a:ea typeface="Cambria" pitchFamily="34" charset="-122"/>
                <a:cs typeface="Cambria" pitchFamily="34" charset="-120"/>
              </a:rPr>
              <a:t>•</a:t>
            </a:r>
            <a:endParaRPr lang="en-US" sz="1200" dirty="0"/>
          </a:p>
        </p:txBody>
      </p:sp>
      <p:sp>
        <p:nvSpPr>
          <p:cNvPr id="43" name="Text 41"/>
          <p:cNvSpPr/>
          <p:nvPr/>
        </p:nvSpPr>
        <p:spPr>
          <a:xfrm>
            <a:off x="731520" y="4837176"/>
            <a:ext cx="7909560" cy="548640"/>
          </a:xfrm>
          <a:prstGeom prst="rect">
            <a:avLst/>
          </a:prstGeom>
          <a:noFill/>
          <a:ln/>
        </p:spPr>
        <p:txBody>
          <a:bodyPr wrap="square" lIns="0" tIns="0" rIns="0" bIns="0" rtlCol="0" anchor="t"/>
          <a:lstStyle/>
          <a:p>
            <a:pPr algn="l" indent="0" marL="0">
              <a:lnSpc>
                <a:spcPct val="125000"/>
              </a:lnSpc>
              <a:buNone/>
            </a:pPr>
            <a:r>
              <a:rPr lang="en-US" sz="1200" dirty="0">
                <a:solidFill>
                  <a:srgbClr val="1A1A1A"/>
                </a:solidFill>
                <a:latin typeface="Cambria" pitchFamily="34" charset="0"/>
                <a:ea typeface="Cambria" pitchFamily="34" charset="-122"/>
                <a:cs typeface="Cambria" pitchFamily="34" charset="-120"/>
              </a:rPr>
              <a:t>Zhao và cộng sự (EACL 2021) khuyên dùng thước có tham chiếu khi xếp hạng hệ thống, nên luận văn chỉ phát biểu ở mức hệ thống</a:t>
            </a:r>
            <a:endParaRPr lang="en-US" sz="1200" dirty="0"/>
          </a:p>
        </p:txBody>
      </p:sp>
      <p:sp>
        <p:nvSpPr>
          <p:cNvPr id="44" name="Text 42"/>
          <p:cNvSpPr/>
          <p:nvPr/>
        </p:nvSpPr>
        <p:spPr>
          <a:xfrm>
            <a:off x="502920" y="5404104"/>
            <a:ext cx="201168" cy="566928"/>
          </a:xfrm>
          <a:prstGeom prst="rect">
            <a:avLst/>
          </a:prstGeom>
          <a:noFill/>
          <a:ln/>
        </p:spPr>
        <p:txBody>
          <a:bodyPr wrap="square" lIns="0" tIns="0" rIns="0" bIns="0" rtlCol="0" anchor="t"/>
          <a:lstStyle/>
          <a:p>
            <a:pPr algn="l" indent="0" marL="0">
              <a:buNone/>
            </a:pPr>
            <a:r>
              <a:rPr lang="en-US" sz="1200" b="1" dirty="0">
                <a:solidFill>
                  <a:srgbClr val="006666"/>
                </a:solidFill>
                <a:latin typeface="Cambria" pitchFamily="34" charset="0"/>
                <a:ea typeface="Cambria" pitchFamily="34" charset="-122"/>
                <a:cs typeface="Cambria" pitchFamily="34" charset="-120"/>
              </a:rPr>
              <a:t>•</a:t>
            </a:r>
            <a:endParaRPr lang="en-US" sz="1200" dirty="0"/>
          </a:p>
        </p:txBody>
      </p:sp>
      <p:sp>
        <p:nvSpPr>
          <p:cNvPr id="45" name="Text 43"/>
          <p:cNvSpPr/>
          <p:nvPr/>
        </p:nvSpPr>
        <p:spPr>
          <a:xfrm>
            <a:off x="731520" y="5404104"/>
            <a:ext cx="7909560" cy="548640"/>
          </a:xfrm>
          <a:prstGeom prst="rect">
            <a:avLst/>
          </a:prstGeom>
          <a:noFill/>
          <a:ln/>
        </p:spPr>
        <p:txBody>
          <a:bodyPr wrap="square" lIns="0" tIns="0" rIns="0" bIns="0" rtlCol="0" anchor="t"/>
          <a:lstStyle/>
          <a:p>
            <a:pPr algn="l" indent="0" marL="0">
              <a:lnSpc>
                <a:spcPct val="125000"/>
              </a:lnSpc>
              <a:buNone/>
            </a:pPr>
            <a:r>
              <a:rPr lang="en-US" sz="1200" dirty="0">
                <a:solidFill>
                  <a:srgbClr val="1A1A1A"/>
                </a:solidFill>
                <a:latin typeface="Cambria" pitchFamily="34" charset="0"/>
                <a:ea typeface="Cambria" pitchFamily="34" charset="-122"/>
                <a:cs typeface="Cambria" pitchFamily="34" charset="-120"/>
              </a:rPr>
              <a:t>Bản thước không tham chiếu cho kết luận lệch không quá 0,20 điểm</a:t>
            </a:r>
            <a:endParaRPr lang="en-US" sz="1200" dirty="0"/>
          </a:p>
        </p:txBody>
      </p:sp>
      <p:sp>
        <p:nvSpPr>
          <p:cNvPr id="46" name="Shape 44"/>
          <p:cNvSpPr/>
          <p:nvPr/>
        </p:nvSpPr>
        <p:spPr>
          <a:xfrm>
            <a:off x="0" y="6620256"/>
            <a:ext cx="2743200" cy="237744"/>
          </a:xfrm>
          <a:prstGeom prst="rect">
            <a:avLst/>
          </a:prstGeom>
          <a:solidFill>
            <a:srgbClr val="191132"/>
          </a:solidFill>
          <a:ln/>
        </p:spPr>
      </p:sp>
      <p:sp>
        <p:nvSpPr>
          <p:cNvPr id="47" name="Shape 45"/>
          <p:cNvSpPr/>
          <p:nvPr/>
        </p:nvSpPr>
        <p:spPr>
          <a:xfrm>
            <a:off x="2743200" y="6620256"/>
            <a:ext cx="3383280" cy="237744"/>
          </a:xfrm>
          <a:prstGeom prst="rect">
            <a:avLst/>
          </a:prstGeom>
          <a:solidFill>
            <a:srgbClr val="25194B"/>
          </a:solidFill>
          <a:ln/>
        </p:spPr>
      </p:sp>
      <p:sp>
        <p:nvSpPr>
          <p:cNvPr id="48" name="Shape 46"/>
          <p:cNvSpPr/>
          <p:nvPr/>
        </p:nvSpPr>
        <p:spPr>
          <a:xfrm>
            <a:off x="6126480" y="6620256"/>
            <a:ext cx="1737360" cy="237744"/>
          </a:xfrm>
          <a:prstGeom prst="rect">
            <a:avLst/>
          </a:prstGeom>
          <a:solidFill>
            <a:srgbClr val="4F417A"/>
          </a:solidFill>
          <a:ln/>
        </p:spPr>
      </p:sp>
      <p:sp>
        <p:nvSpPr>
          <p:cNvPr id="49" name="Shape 47"/>
          <p:cNvSpPr/>
          <p:nvPr/>
        </p:nvSpPr>
        <p:spPr>
          <a:xfrm>
            <a:off x="7863840" y="6620256"/>
            <a:ext cx="1280160" cy="237744"/>
          </a:xfrm>
          <a:prstGeom prst="rect">
            <a:avLst/>
          </a:prstGeom>
          <a:solidFill>
            <a:srgbClr val="7A7099"/>
          </a:solidFill>
          <a:ln/>
        </p:spPr>
      </p:sp>
      <p:sp>
        <p:nvSpPr>
          <p:cNvPr id="50" name="Text 4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51" name="Text 4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52" name="Text 5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3" name="Text 5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1</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Chấm lại bằng UI-Venus-Ground-7B</a:t>
            </a:r>
            <a:endParaRPr lang="en-US" sz="1900" dirty="0"/>
          </a:p>
        </p:txBody>
      </p:sp>
      <p:sp>
        <p:nvSpPr>
          <p:cNvPr id="4" name="Text 2"/>
          <p:cNvSpPr/>
          <p:nvPr/>
        </p:nvSpPr>
        <p:spPr>
          <a:xfrm>
            <a:off x="502920" y="777240"/>
            <a:ext cx="8138160" cy="27432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Lát 2.532 bước, mô hình định vị thứ hai không dùng AndroidControl khi huấn luyện</a:t>
            </a:r>
            <a:endParaRPr lang="en-US" sz="1200" dirty="0"/>
          </a:p>
        </p:txBody>
      </p:sp>
      <p:sp>
        <p:nvSpPr>
          <p:cNvPr id="5" name="Shape 3"/>
          <p:cNvSpPr/>
          <p:nvPr/>
        </p:nvSpPr>
        <p:spPr>
          <a:xfrm>
            <a:off x="502920" y="1143000"/>
            <a:ext cx="8129016" cy="384048"/>
          </a:xfrm>
          <a:prstGeom prst="rect">
            <a:avLst/>
          </a:prstGeom>
          <a:solidFill>
            <a:srgbClr val="322164"/>
          </a:solidFill>
          <a:ln/>
        </p:spPr>
      </p:sp>
      <p:sp>
        <p:nvSpPr>
          <p:cNvPr id="6" name="Text 4"/>
          <p:cNvSpPr/>
          <p:nvPr/>
        </p:nvSpPr>
        <p:spPr>
          <a:xfrm>
            <a:off x="502920" y="1143000"/>
            <a:ext cx="2926080" cy="384048"/>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Phép so</a:t>
            </a:r>
            <a:endParaRPr lang="en-US" sz="1250" dirty="0"/>
          </a:p>
        </p:txBody>
      </p:sp>
      <p:sp>
        <p:nvSpPr>
          <p:cNvPr id="7" name="Text 5"/>
          <p:cNvSpPr/>
          <p:nvPr/>
        </p:nvSpPr>
        <p:spPr>
          <a:xfrm>
            <a:off x="3429000" y="1143000"/>
            <a:ext cx="2606040"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UGround</a:t>
            </a:r>
            <a:endParaRPr lang="en-US" sz="1250" dirty="0"/>
          </a:p>
        </p:txBody>
      </p:sp>
      <p:sp>
        <p:nvSpPr>
          <p:cNvPr id="8" name="Text 6"/>
          <p:cNvSpPr/>
          <p:nvPr/>
        </p:nvSpPr>
        <p:spPr>
          <a:xfrm>
            <a:off x="6035040" y="1143000"/>
            <a:ext cx="2596896" cy="384048"/>
          </a:xfrm>
          <a:prstGeom prst="rect">
            <a:avLst/>
          </a:prstGeom>
          <a:noFill/>
          <a:ln/>
        </p:spPr>
        <p:txBody>
          <a:bodyPr wrap="square" lIns="38100" tIns="38100" rIns="38100" bIns="3810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UI-Venus</a:t>
            </a:r>
            <a:endParaRPr lang="en-US" sz="1250" dirty="0"/>
          </a:p>
        </p:txBody>
      </p:sp>
      <p:sp>
        <p:nvSpPr>
          <p:cNvPr id="9" name="Text 7"/>
          <p:cNvSpPr/>
          <p:nvPr/>
        </p:nvSpPr>
        <p:spPr>
          <a:xfrm>
            <a:off x="502920" y="1527048"/>
            <a:ext cx="2926080" cy="502920"/>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S1 − Base, mốc đối chiếu</a:t>
            </a:r>
            <a:endParaRPr lang="en-US" sz="1250" dirty="0"/>
          </a:p>
        </p:txBody>
      </p:sp>
      <p:sp>
        <p:nvSpPr>
          <p:cNvPr id="10" name="Text 8"/>
          <p:cNvSpPr/>
          <p:nvPr/>
        </p:nvSpPr>
        <p:spPr>
          <a:xfrm>
            <a:off x="3429000" y="1527048"/>
            <a:ext cx="2606040" cy="502920"/>
          </a:xfrm>
          <a:prstGeom prst="rect">
            <a:avLst/>
          </a:prstGeom>
          <a:noFill/>
          <a:ln/>
        </p:spPr>
        <p:txBody>
          <a:bodyPr wrap="square" lIns="38100" tIns="38100" rIns="38100" bIns="38100" rtlCol="0" anchor="ctr"/>
          <a:lstStyle/>
          <a:p>
            <a:pPr algn="ctr" indent="0" marL="0">
              <a:buNone/>
            </a:pPr>
            <a:r>
              <a:rPr lang="en-US" sz="1400" b="1" dirty="0">
                <a:solidFill>
                  <a:srgbClr val="006666"/>
                </a:solidFill>
                <a:latin typeface="Cambria" pitchFamily="34" charset="0"/>
                <a:ea typeface="Cambria" pitchFamily="34" charset="-122"/>
                <a:cs typeface="Cambria" pitchFamily="34" charset="-120"/>
              </a:rPr>
              <a:t>+10,35</a:t>
            </a:r>
            <a:endParaRPr lang="en-US" sz="1400" dirty="0"/>
          </a:p>
        </p:txBody>
      </p:sp>
      <p:sp>
        <p:nvSpPr>
          <p:cNvPr id="11" name="Text 9"/>
          <p:cNvSpPr/>
          <p:nvPr/>
        </p:nvSpPr>
        <p:spPr>
          <a:xfrm>
            <a:off x="6035040" y="1527048"/>
            <a:ext cx="2596896" cy="502920"/>
          </a:xfrm>
          <a:prstGeom prst="rect">
            <a:avLst/>
          </a:prstGeom>
          <a:noFill/>
          <a:ln/>
        </p:spPr>
        <p:txBody>
          <a:bodyPr wrap="square" lIns="38100" tIns="38100" rIns="38100" bIns="38100" rtlCol="0" anchor="ctr"/>
          <a:lstStyle/>
          <a:p>
            <a:pPr algn="ctr" indent="0" marL="0">
              <a:buNone/>
            </a:pPr>
            <a:r>
              <a:rPr lang="en-US" sz="1400" b="1" dirty="0">
                <a:solidFill>
                  <a:srgbClr val="006666"/>
                </a:solidFill>
                <a:latin typeface="Cambria" pitchFamily="34" charset="0"/>
                <a:ea typeface="Cambria" pitchFamily="34" charset="-122"/>
                <a:cs typeface="Cambria" pitchFamily="34" charset="-120"/>
              </a:rPr>
              <a:t>+9,68</a:t>
            </a:r>
            <a:endParaRPr lang="en-US" sz="1400" dirty="0"/>
          </a:p>
        </p:txBody>
      </p:sp>
      <p:sp>
        <p:nvSpPr>
          <p:cNvPr id="12" name="Shape 10"/>
          <p:cNvSpPr/>
          <p:nvPr/>
        </p:nvSpPr>
        <p:spPr>
          <a:xfrm>
            <a:off x="502920" y="2029968"/>
            <a:ext cx="8129016" cy="0"/>
          </a:xfrm>
          <a:prstGeom prst="line">
            <a:avLst/>
          </a:prstGeom>
          <a:noFill/>
          <a:ln w="12700">
            <a:solidFill>
              <a:srgbClr val="9A94AE"/>
            </a:solidFill>
            <a:prstDash val="solid"/>
          </a:ln>
        </p:spPr>
      </p:sp>
      <p:sp>
        <p:nvSpPr>
          <p:cNvPr id="13" name="Text 11"/>
          <p:cNvSpPr/>
          <p:nvPr/>
        </p:nvSpPr>
        <p:spPr>
          <a:xfrm>
            <a:off x="502920" y="2029968"/>
            <a:ext cx="2926080" cy="45720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S2 − S1</a:t>
            </a:r>
            <a:endParaRPr lang="en-US" sz="1250" dirty="0"/>
          </a:p>
        </p:txBody>
      </p:sp>
      <p:sp>
        <p:nvSpPr>
          <p:cNvPr id="14" name="Text 12"/>
          <p:cNvSpPr/>
          <p:nvPr/>
        </p:nvSpPr>
        <p:spPr>
          <a:xfrm>
            <a:off x="3429000" y="2029968"/>
            <a:ext cx="2606040" cy="457200"/>
          </a:xfrm>
          <a:prstGeom prst="rect">
            <a:avLst/>
          </a:prstGeom>
          <a:noFill/>
          <a:ln/>
        </p:spPr>
        <p:txBody>
          <a:bodyPr wrap="square" lIns="38100" tIns="38100" rIns="38100" bIns="38100" rtlCol="0" anchor="ctr"/>
          <a:lstStyle/>
          <a:p>
            <a:pPr algn="ctr" indent="0" marL="0">
              <a:buNone/>
            </a:pPr>
            <a:r>
              <a:rPr lang="en-US" sz="1250" dirty="0">
                <a:solidFill>
                  <a:srgbClr val="B22222"/>
                </a:solidFill>
                <a:latin typeface="Cambria" pitchFamily="34" charset="0"/>
                <a:ea typeface="Cambria" pitchFamily="34" charset="-122"/>
                <a:cs typeface="Cambria" pitchFamily="34" charset="-120"/>
              </a:rPr>
              <a:t>−1,93   p = 0,0005</a:t>
            </a:r>
            <a:endParaRPr lang="en-US" sz="1250" dirty="0"/>
          </a:p>
        </p:txBody>
      </p:sp>
      <p:sp>
        <p:nvSpPr>
          <p:cNvPr id="15" name="Text 13"/>
          <p:cNvSpPr/>
          <p:nvPr/>
        </p:nvSpPr>
        <p:spPr>
          <a:xfrm>
            <a:off x="6035040" y="2029968"/>
            <a:ext cx="2596896" cy="457200"/>
          </a:xfrm>
          <a:prstGeom prst="rect">
            <a:avLst/>
          </a:prstGeom>
          <a:noFill/>
          <a:ln/>
        </p:spPr>
        <p:txBody>
          <a:bodyPr wrap="square" lIns="38100" tIns="38100" rIns="38100" bIns="38100" rtlCol="0" anchor="ctr"/>
          <a:lstStyle/>
          <a:p>
            <a:pPr algn="ctr" indent="0" marL="0">
              <a:buNone/>
            </a:pPr>
            <a:r>
              <a:rPr lang="en-US" sz="1250" dirty="0">
                <a:solidFill>
                  <a:srgbClr val="B22222"/>
                </a:solidFill>
                <a:latin typeface="Cambria" pitchFamily="34" charset="0"/>
                <a:ea typeface="Cambria" pitchFamily="34" charset="-122"/>
                <a:cs typeface="Cambria" pitchFamily="34" charset="-120"/>
              </a:rPr>
              <a:t>−1,21   p = 0,026</a:t>
            </a:r>
            <a:endParaRPr lang="en-US" sz="1250" dirty="0"/>
          </a:p>
        </p:txBody>
      </p:sp>
      <p:sp>
        <p:nvSpPr>
          <p:cNvPr id="16" name="Shape 14"/>
          <p:cNvSpPr/>
          <p:nvPr/>
        </p:nvSpPr>
        <p:spPr>
          <a:xfrm>
            <a:off x="502920" y="2487168"/>
            <a:ext cx="8129016" cy="0"/>
          </a:xfrm>
          <a:prstGeom prst="line">
            <a:avLst/>
          </a:prstGeom>
          <a:noFill/>
          <a:ln w="12700">
            <a:solidFill>
              <a:srgbClr val="9A94AE"/>
            </a:solidFill>
            <a:prstDash val="solid"/>
          </a:ln>
        </p:spPr>
      </p:sp>
      <p:sp>
        <p:nvSpPr>
          <p:cNvPr id="17" name="Text 15"/>
          <p:cNvSpPr/>
          <p:nvPr/>
        </p:nvSpPr>
        <p:spPr>
          <a:xfrm>
            <a:off x="502920" y="2487168"/>
            <a:ext cx="292608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Trần trên lát này</a:t>
            </a:r>
            <a:endParaRPr lang="en-US" sz="1250" dirty="0"/>
          </a:p>
        </p:txBody>
      </p:sp>
      <p:sp>
        <p:nvSpPr>
          <p:cNvPr id="18" name="Text 16"/>
          <p:cNvSpPr/>
          <p:nvPr/>
        </p:nvSpPr>
        <p:spPr>
          <a:xfrm>
            <a:off x="3429000" y="2487168"/>
            <a:ext cx="260604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70,0</a:t>
            </a:r>
            <a:endParaRPr lang="en-US" sz="1250" dirty="0"/>
          </a:p>
        </p:txBody>
      </p:sp>
      <p:sp>
        <p:nvSpPr>
          <p:cNvPr id="19" name="Text 17"/>
          <p:cNvSpPr/>
          <p:nvPr/>
        </p:nvSpPr>
        <p:spPr>
          <a:xfrm>
            <a:off x="6035040" y="2487168"/>
            <a:ext cx="259689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69,3</a:t>
            </a:r>
            <a:endParaRPr lang="en-US" sz="1250" dirty="0"/>
          </a:p>
        </p:txBody>
      </p:sp>
      <p:sp>
        <p:nvSpPr>
          <p:cNvPr id="20" name="Text 18"/>
          <p:cNvSpPr/>
          <p:nvPr/>
        </p:nvSpPr>
        <p:spPr>
          <a:xfrm>
            <a:off x="502920" y="3200400"/>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1" name="Text 19"/>
          <p:cNvSpPr/>
          <p:nvPr/>
        </p:nvSpPr>
        <p:spPr>
          <a:xfrm>
            <a:off x="731520" y="3200400"/>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Mốc đối chiếu giữ 94% độ lớn, nên thang đo không bị nén</a:t>
            </a:r>
            <a:endParaRPr lang="en-US" sz="1250" dirty="0"/>
          </a:p>
        </p:txBody>
      </p:sp>
      <p:sp>
        <p:nvSpPr>
          <p:cNvPr id="22" name="Text 20"/>
          <p:cNvSpPr/>
          <p:nvPr/>
        </p:nvSpPr>
        <p:spPr>
          <a:xfrm>
            <a:off x="502920" y="3822192"/>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3" name="Text 21"/>
          <p:cNvSpPr/>
          <p:nvPr/>
        </p:nvSpPr>
        <p:spPr>
          <a:xfrm>
            <a:off x="731520" y="3822192"/>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Dấu của mọi phép so không đổi dưới cả hai dụng cụ</a:t>
            </a:r>
            <a:endParaRPr lang="en-US" sz="1250" dirty="0"/>
          </a:p>
        </p:txBody>
      </p:sp>
      <p:sp>
        <p:nvSpPr>
          <p:cNvPr id="24" name="Text 22"/>
          <p:cNvSpPr/>
          <p:nvPr/>
        </p:nvSpPr>
        <p:spPr>
          <a:xfrm>
            <a:off x="502920" y="4443984"/>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5" name="Text 23"/>
          <p:cNvSpPr/>
          <p:nvPr/>
        </p:nvSpPr>
        <p:spPr>
          <a:xfrm>
            <a:off x="731520" y="4443984"/>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UI-Venus cho điểm thấp hơn ở cả ba nhánh, nên nó không dễ tính hơn</a:t>
            </a:r>
            <a:endParaRPr lang="en-US" sz="1250" dirty="0"/>
          </a:p>
        </p:txBody>
      </p:sp>
      <p:sp>
        <p:nvSpPr>
          <p:cNvPr id="26" name="Text 24"/>
          <p:cNvSpPr/>
          <p:nvPr/>
        </p:nvSpPr>
        <p:spPr>
          <a:xfrm>
            <a:off x="502920" y="5065776"/>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7" name="Text 25"/>
          <p:cNvSpPr/>
          <p:nvPr/>
        </p:nvSpPr>
        <p:spPr>
          <a:xfrm>
            <a:off x="731520" y="5065776"/>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Chỗ chưa đóng: cả hai dụng cụ đều thuộc họ Qwen-VL</a:t>
            </a:r>
            <a:endParaRPr lang="en-US" sz="1250" dirty="0"/>
          </a:p>
        </p:txBody>
      </p:sp>
      <p:sp>
        <p:nvSpPr>
          <p:cNvPr id="28" name="Shape 26"/>
          <p:cNvSpPr/>
          <p:nvPr/>
        </p:nvSpPr>
        <p:spPr>
          <a:xfrm>
            <a:off x="0" y="6620256"/>
            <a:ext cx="2743200" cy="237744"/>
          </a:xfrm>
          <a:prstGeom prst="rect">
            <a:avLst/>
          </a:prstGeom>
          <a:solidFill>
            <a:srgbClr val="191132"/>
          </a:solidFill>
          <a:ln/>
        </p:spPr>
      </p:sp>
      <p:sp>
        <p:nvSpPr>
          <p:cNvPr id="29" name="Shape 27"/>
          <p:cNvSpPr/>
          <p:nvPr/>
        </p:nvSpPr>
        <p:spPr>
          <a:xfrm>
            <a:off x="2743200" y="6620256"/>
            <a:ext cx="3383280" cy="237744"/>
          </a:xfrm>
          <a:prstGeom prst="rect">
            <a:avLst/>
          </a:prstGeom>
          <a:solidFill>
            <a:srgbClr val="25194B"/>
          </a:solidFill>
          <a:ln/>
        </p:spPr>
      </p:sp>
      <p:sp>
        <p:nvSpPr>
          <p:cNvPr id="30" name="Shape 28"/>
          <p:cNvSpPr/>
          <p:nvPr/>
        </p:nvSpPr>
        <p:spPr>
          <a:xfrm>
            <a:off x="6126480" y="6620256"/>
            <a:ext cx="1737360" cy="237744"/>
          </a:xfrm>
          <a:prstGeom prst="rect">
            <a:avLst/>
          </a:prstGeom>
          <a:solidFill>
            <a:srgbClr val="4F417A"/>
          </a:solidFill>
          <a:ln/>
        </p:spPr>
      </p:sp>
      <p:sp>
        <p:nvSpPr>
          <p:cNvPr id="31" name="Shape 29"/>
          <p:cNvSpPr/>
          <p:nvPr/>
        </p:nvSpPr>
        <p:spPr>
          <a:xfrm>
            <a:off x="7863840" y="6620256"/>
            <a:ext cx="1280160" cy="237744"/>
          </a:xfrm>
          <a:prstGeom prst="rect">
            <a:avLst/>
          </a:prstGeom>
          <a:solidFill>
            <a:srgbClr val="7A7099"/>
          </a:solidFill>
          <a:ln/>
        </p:spPr>
      </p:sp>
      <p:sp>
        <p:nvSpPr>
          <p:cNvPr id="32" name="Text 3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3" name="Text 3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4" name="Text 3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5" name="Text 3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2</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Độ bền của luật chấm và tính tất định</a:t>
            </a:r>
            <a:endParaRPr lang="en-US" sz="1900" dirty="0"/>
          </a:p>
        </p:txBody>
      </p:sp>
      <p:sp>
        <p:nvSpPr>
          <p:cNvPr id="4" name="Text 2"/>
          <p:cNvSpPr/>
          <p:nvPr/>
        </p:nvSpPr>
        <p:spPr>
          <a:xfrm>
            <a:off x="502920" y="914400"/>
            <a:ext cx="201168" cy="82296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5" name="Text 3"/>
          <p:cNvSpPr/>
          <p:nvPr/>
        </p:nvSpPr>
        <p:spPr>
          <a:xfrm>
            <a:off x="731520" y="914400"/>
            <a:ext cx="7909560" cy="78638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Ba nhánh được chấm lại dưới năm luật trên 698 bước: trần trôi từ 56,6% lên 82,2%, thứ tự không đổi</a:t>
            </a:r>
            <a:endParaRPr lang="en-US" sz="1250" dirty="0"/>
          </a:p>
        </p:txBody>
      </p:sp>
      <p:sp>
        <p:nvSpPr>
          <p:cNvPr id="6" name="Text 4"/>
          <p:cNvSpPr/>
          <p:nvPr/>
        </p:nvSpPr>
        <p:spPr>
          <a:xfrm>
            <a:off x="502920" y="1737360"/>
            <a:ext cx="201168" cy="82296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7" name="Text 5"/>
          <p:cNvSpPr/>
          <p:nvPr/>
        </p:nvSpPr>
        <p:spPr>
          <a:xfrm>
            <a:off x="731520" y="1737360"/>
            <a:ext cx="7909560" cy="78638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Chênh lệch S1 − Base nằm gọn trong khoảng 9,5 đến 13,0 điểm ở cả năm luật</a:t>
            </a:r>
            <a:endParaRPr lang="en-US" sz="1250" dirty="0"/>
          </a:p>
        </p:txBody>
      </p:sp>
      <p:sp>
        <p:nvSpPr>
          <p:cNvPr id="8" name="Text 6"/>
          <p:cNvSpPr/>
          <p:nvPr/>
        </p:nvSpPr>
        <p:spPr>
          <a:xfrm>
            <a:off x="502920" y="2560320"/>
            <a:ext cx="201168" cy="82296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9" name="Text 7"/>
          <p:cNvSpPr/>
          <p:nvPr/>
        </p:nvSpPr>
        <p:spPr>
          <a:xfrm>
            <a:off x="731520" y="2560320"/>
            <a:ext cx="7909560" cy="78638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Thước cho kết quả tất định: bốn lượt chạy độc lập, 1.625 phép so, không một bất đồng</a:t>
            </a:r>
            <a:endParaRPr lang="en-US" sz="1250" dirty="0"/>
          </a:p>
        </p:txBody>
      </p:sp>
      <p:sp>
        <p:nvSpPr>
          <p:cNvPr id="10" name="Text 8"/>
          <p:cNvSpPr/>
          <p:nvPr/>
        </p:nvSpPr>
        <p:spPr>
          <a:xfrm>
            <a:off x="502920" y="3383280"/>
            <a:ext cx="201168" cy="82296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1" name="Text 9"/>
          <p:cNvSpPr/>
          <p:nvPr/>
        </p:nvSpPr>
        <p:spPr>
          <a:xfrm>
            <a:off x="731520" y="3383280"/>
            <a:ext cx="7909560" cy="78638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Hệ số đồng thuận κ = 0,867 toàn tập, và 0,650 trên 1.652 bước hai nhánh viết câu khác nhau</a:t>
            </a:r>
            <a:endParaRPr lang="en-US" sz="1250" dirty="0"/>
          </a:p>
        </p:txBody>
      </p:sp>
      <p:sp>
        <p:nvSpPr>
          <p:cNvPr id="12" name="Text 10"/>
          <p:cNvSpPr/>
          <p:nvPr/>
        </p:nvSpPr>
        <p:spPr>
          <a:xfrm>
            <a:off x="502920" y="4206240"/>
            <a:ext cx="201168" cy="82296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3" name="Text 11"/>
          <p:cNvSpPr/>
          <p:nvPr/>
        </p:nvSpPr>
        <p:spPr>
          <a:xfrm>
            <a:off x="731520" y="4206240"/>
            <a:ext cx="7909560" cy="78638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Luận văn nêu thẳng một lỗi cài đặt: phép chuẩn hoá quy “go back” về lớp chạm. Sửa lại thì điểm đổi 0,3 điểm, và ba nhánh đã chấm không được chấm lại</a:t>
            </a:r>
            <a:endParaRPr lang="en-US" sz="1250" dirty="0"/>
          </a:p>
        </p:txBody>
      </p:sp>
      <p:sp>
        <p:nvSpPr>
          <p:cNvPr id="14" name="Text 12"/>
          <p:cNvSpPr/>
          <p:nvPr/>
        </p:nvSpPr>
        <p:spPr>
          <a:xfrm>
            <a:off x="502920" y="5029200"/>
            <a:ext cx="201168" cy="82296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15" name="Text 13"/>
          <p:cNvSpPr/>
          <p:nvPr/>
        </p:nvSpPr>
        <p:spPr>
          <a:xfrm>
            <a:off x="731520" y="5029200"/>
            <a:ext cx="7909560" cy="78638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Luật hộp phần tử của chính AndroidControl (Phụ lục D.3) cho mốc câu chuẩn 83,8, thứ tự tám nhánh không đổi; tính sau khi có điểm nên chỉ là thước báo kèm</a:t>
            </a:r>
            <a:endParaRPr lang="en-US" sz="1250" dirty="0"/>
          </a:p>
        </p:txBody>
      </p:sp>
      <p:sp>
        <p:nvSpPr>
          <p:cNvPr id="16" name="Shape 14"/>
          <p:cNvSpPr/>
          <p:nvPr/>
        </p:nvSpPr>
        <p:spPr>
          <a:xfrm>
            <a:off x="0" y="6620256"/>
            <a:ext cx="2743200" cy="237744"/>
          </a:xfrm>
          <a:prstGeom prst="rect">
            <a:avLst/>
          </a:prstGeom>
          <a:solidFill>
            <a:srgbClr val="191132"/>
          </a:solidFill>
          <a:ln/>
        </p:spPr>
      </p:sp>
      <p:sp>
        <p:nvSpPr>
          <p:cNvPr id="17" name="Shape 15"/>
          <p:cNvSpPr/>
          <p:nvPr/>
        </p:nvSpPr>
        <p:spPr>
          <a:xfrm>
            <a:off x="2743200" y="6620256"/>
            <a:ext cx="3383280" cy="237744"/>
          </a:xfrm>
          <a:prstGeom prst="rect">
            <a:avLst/>
          </a:prstGeom>
          <a:solidFill>
            <a:srgbClr val="25194B"/>
          </a:solidFill>
          <a:ln/>
        </p:spPr>
      </p:sp>
      <p:sp>
        <p:nvSpPr>
          <p:cNvPr id="18" name="Shape 16"/>
          <p:cNvSpPr/>
          <p:nvPr/>
        </p:nvSpPr>
        <p:spPr>
          <a:xfrm>
            <a:off x="6126480" y="6620256"/>
            <a:ext cx="1737360" cy="237744"/>
          </a:xfrm>
          <a:prstGeom prst="rect">
            <a:avLst/>
          </a:prstGeom>
          <a:solidFill>
            <a:srgbClr val="4F417A"/>
          </a:solidFill>
          <a:ln/>
        </p:spPr>
      </p:sp>
      <p:sp>
        <p:nvSpPr>
          <p:cNvPr id="19" name="Shape 17"/>
          <p:cNvSpPr/>
          <p:nvPr/>
        </p:nvSpPr>
        <p:spPr>
          <a:xfrm>
            <a:off x="7863840" y="6620256"/>
            <a:ext cx="1280160" cy="237744"/>
          </a:xfrm>
          <a:prstGeom prst="rect">
            <a:avLst/>
          </a:prstGeom>
          <a:solidFill>
            <a:srgbClr val="7A7099"/>
          </a:solidFill>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3</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Độ bền của thước trước cách diễn đạt khác</a:t>
            </a:r>
            <a:endParaRPr lang="en-US" sz="1900" dirty="0"/>
          </a:p>
        </p:txBody>
      </p:sp>
      <p:sp>
        <p:nvSpPr>
          <p:cNvPr id="4" name="Shape 2"/>
          <p:cNvSpPr/>
          <p:nvPr/>
        </p:nvSpPr>
        <p:spPr>
          <a:xfrm>
            <a:off x="502920" y="914400"/>
            <a:ext cx="8129016" cy="384048"/>
          </a:xfrm>
          <a:prstGeom prst="rect">
            <a:avLst/>
          </a:prstGeom>
          <a:solidFill>
            <a:srgbClr val="322164"/>
          </a:solidFill>
          <a:ln/>
        </p:spPr>
      </p:sp>
      <p:sp>
        <p:nvSpPr>
          <p:cNvPr id="5" name="Text 3"/>
          <p:cNvSpPr/>
          <p:nvPr/>
        </p:nvSpPr>
        <p:spPr>
          <a:xfrm>
            <a:off x="502920" y="914400"/>
            <a:ext cx="256032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Biến thể</a:t>
            </a:r>
            <a:endParaRPr lang="en-US" sz="1200" dirty="0"/>
          </a:p>
        </p:txBody>
      </p:sp>
      <p:sp>
        <p:nvSpPr>
          <p:cNvPr id="6" name="Text 4"/>
          <p:cNvSpPr/>
          <p:nvPr/>
        </p:nvSpPr>
        <p:spPr>
          <a:xfrm>
            <a:off x="3063240" y="914400"/>
            <a:ext cx="182880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Phần bị tác động</a:t>
            </a:r>
            <a:endParaRPr lang="en-US" sz="1200" dirty="0"/>
          </a:p>
        </p:txBody>
      </p:sp>
      <p:sp>
        <p:nvSpPr>
          <p:cNvPr id="7" name="Text 5"/>
          <p:cNvSpPr/>
          <p:nvPr/>
        </p:nvSpPr>
        <p:spPr>
          <a:xfrm>
            <a:off x="4892040" y="914400"/>
            <a:ext cx="173736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Điểm</a:t>
            </a:r>
            <a:endParaRPr lang="en-US" sz="1200" dirty="0"/>
          </a:p>
        </p:txBody>
      </p:sp>
      <p:sp>
        <p:nvSpPr>
          <p:cNvPr id="8" name="Text 6"/>
          <p:cNvSpPr/>
          <p:nvPr/>
        </p:nvSpPr>
        <p:spPr>
          <a:xfrm>
            <a:off x="6629400" y="914400"/>
            <a:ext cx="2002536"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p</a:t>
            </a:r>
            <a:endParaRPr lang="en-US" sz="1200" dirty="0"/>
          </a:p>
        </p:txBody>
      </p:sp>
      <p:sp>
        <p:nvSpPr>
          <p:cNvPr id="9" name="Text 7"/>
          <p:cNvSpPr/>
          <p:nvPr/>
        </p:nvSpPr>
        <p:spPr>
          <a:xfrm>
            <a:off x="502920" y="1298448"/>
            <a:ext cx="256032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Đổi động từ thao tác</a:t>
            </a:r>
            <a:endParaRPr lang="en-US" sz="1250" dirty="0"/>
          </a:p>
        </p:txBody>
      </p:sp>
      <p:sp>
        <p:nvSpPr>
          <p:cNvPr id="10" name="Text 8"/>
          <p:cNvSpPr/>
          <p:nvPr/>
        </p:nvSpPr>
        <p:spPr>
          <a:xfrm>
            <a:off x="3063240" y="1298448"/>
            <a:ext cx="182880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725 bước</a:t>
            </a:r>
            <a:endParaRPr lang="en-US" sz="1250" dirty="0"/>
          </a:p>
        </p:txBody>
      </p:sp>
      <p:sp>
        <p:nvSpPr>
          <p:cNvPr id="11" name="Text 9"/>
          <p:cNvSpPr/>
          <p:nvPr/>
        </p:nvSpPr>
        <p:spPr>
          <a:xfrm>
            <a:off x="4892040" y="1298448"/>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76,8 → 77,0</a:t>
            </a:r>
            <a:endParaRPr lang="en-US" sz="1250" dirty="0"/>
          </a:p>
        </p:txBody>
      </p:sp>
      <p:sp>
        <p:nvSpPr>
          <p:cNvPr id="12" name="Text 10"/>
          <p:cNvSpPr/>
          <p:nvPr/>
        </p:nvSpPr>
        <p:spPr>
          <a:xfrm>
            <a:off x="6629400" y="1298448"/>
            <a:ext cx="200253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1,000</a:t>
            </a:r>
            <a:endParaRPr lang="en-US" sz="1250" dirty="0"/>
          </a:p>
        </p:txBody>
      </p:sp>
      <p:sp>
        <p:nvSpPr>
          <p:cNvPr id="13" name="Shape 11"/>
          <p:cNvSpPr/>
          <p:nvPr/>
        </p:nvSpPr>
        <p:spPr>
          <a:xfrm>
            <a:off x="502920" y="1700784"/>
            <a:ext cx="8129016" cy="0"/>
          </a:xfrm>
          <a:prstGeom prst="line">
            <a:avLst/>
          </a:prstGeom>
          <a:noFill/>
          <a:ln w="12700">
            <a:solidFill>
              <a:srgbClr val="9A94AE"/>
            </a:solidFill>
            <a:prstDash val="solid"/>
          </a:ln>
        </p:spPr>
      </p:sp>
      <p:sp>
        <p:nvSpPr>
          <p:cNvPr id="14" name="Text 12"/>
          <p:cNvSpPr/>
          <p:nvPr/>
        </p:nvSpPr>
        <p:spPr>
          <a:xfrm>
            <a:off x="502920" y="1700784"/>
            <a:ext cx="256032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Đảo trật tự mệnh đề</a:t>
            </a:r>
            <a:endParaRPr lang="en-US" sz="1250" dirty="0"/>
          </a:p>
        </p:txBody>
      </p:sp>
      <p:sp>
        <p:nvSpPr>
          <p:cNvPr id="15" name="Text 13"/>
          <p:cNvSpPr/>
          <p:nvPr/>
        </p:nvSpPr>
        <p:spPr>
          <a:xfrm>
            <a:off x="3063240" y="1700784"/>
            <a:ext cx="182880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211 bước</a:t>
            </a:r>
            <a:endParaRPr lang="en-US" sz="1250" dirty="0"/>
          </a:p>
        </p:txBody>
      </p:sp>
      <p:sp>
        <p:nvSpPr>
          <p:cNvPr id="16" name="Text 14"/>
          <p:cNvSpPr/>
          <p:nvPr/>
        </p:nvSpPr>
        <p:spPr>
          <a:xfrm>
            <a:off x="4892040" y="1700784"/>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89,6 → 90,0</a:t>
            </a:r>
            <a:endParaRPr lang="en-US" sz="1250" dirty="0"/>
          </a:p>
        </p:txBody>
      </p:sp>
      <p:sp>
        <p:nvSpPr>
          <p:cNvPr id="17" name="Text 15"/>
          <p:cNvSpPr/>
          <p:nvPr/>
        </p:nvSpPr>
        <p:spPr>
          <a:xfrm>
            <a:off x="6629400" y="1700784"/>
            <a:ext cx="200253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1,000</a:t>
            </a:r>
            <a:endParaRPr lang="en-US" sz="1250" dirty="0"/>
          </a:p>
        </p:txBody>
      </p:sp>
      <p:sp>
        <p:nvSpPr>
          <p:cNvPr id="18" name="Shape 16"/>
          <p:cNvSpPr/>
          <p:nvPr/>
        </p:nvSpPr>
        <p:spPr>
          <a:xfrm>
            <a:off x="502920" y="2103120"/>
            <a:ext cx="8129016" cy="0"/>
          </a:xfrm>
          <a:prstGeom prst="line">
            <a:avLst/>
          </a:prstGeom>
          <a:noFill/>
          <a:ln w="12700">
            <a:solidFill>
              <a:srgbClr val="9A94AE"/>
            </a:solidFill>
            <a:prstDash val="solid"/>
          </a:ln>
        </p:spPr>
      </p:sp>
      <p:sp>
        <p:nvSpPr>
          <p:cNvPr id="19" name="Text 17"/>
          <p:cNvSpPr/>
          <p:nvPr/>
        </p:nvSpPr>
        <p:spPr>
          <a:xfrm>
            <a:off x="502920" y="2103120"/>
            <a:ext cx="256032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Cả hai cùng lúc</a:t>
            </a:r>
            <a:endParaRPr lang="en-US" sz="1250" dirty="0"/>
          </a:p>
        </p:txBody>
      </p:sp>
      <p:sp>
        <p:nvSpPr>
          <p:cNvPr id="20" name="Text 18"/>
          <p:cNvSpPr/>
          <p:nvPr/>
        </p:nvSpPr>
        <p:spPr>
          <a:xfrm>
            <a:off x="3063240" y="2103120"/>
            <a:ext cx="182880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203 bước</a:t>
            </a:r>
            <a:endParaRPr lang="en-US" sz="1250" dirty="0"/>
          </a:p>
        </p:txBody>
      </p:sp>
      <p:sp>
        <p:nvSpPr>
          <p:cNvPr id="21" name="Text 19"/>
          <p:cNvSpPr/>
          <p:nvPr/>
        </p:nvSpPr>
        <p:spPr>
          <a:xfrm>
            <a:off x="4892040" y="2103120"/>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90,1 → 91,1</a:t>
            </a:r>
            <a:endParaRPr lang="en-US" sz="1250" dirty="0"/>
          </a:p>
        </p:txBody>
      </p:sp>
      <p:sp>
        <p:nvSpPr>
          <p:cNvPr id="22" name="Text 20"/>
          <p:cNvSpPr/>
          <p:nvPr/>
        </p:nvSpPr>
        <p:spPr>
          <a:xfrm>
            <a:off x="6629400" y="2103120"/>
            <a:ext cx="2002536"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0,480</a:t>
            </a:r>
            <a:endParaRPr lang="en-US" sz="1250" dirty="0"/>
          </a:p>
        </p:txBody>
      </p:sp>
      <p:sp>
        <p:nvSpPr>
          <p:cNvPr id="23" name="Shape 21"/>
          <p:cNvSpPr/>
          <p:nvPr/>
        </p:nvSpPr>
        <p:spPr>
          <a:xfrm>
            <a:off x="502920" y="2505456"/>
            <a:ext cx="8129016" cy="0"/>
          </a:xfrm>
          <a:prstGeom prst="line">
            <a:avLst/>
          </a:prstGeom>
          <a:noFill/>
          <a:ln w="12700">
            <a:solidFill>
              <a:srgbClr val="9A94AE"/>
            </a:solidFill>
            <a:prstDash val="solid"/>
          </a:ln>
        </p:spPr>
      </p:sp>
      <p:sp>
        <p:nvSpPr>
          <p:cNvPr id="24" name="Text 22"/>
          <p:cNvSpPr/>
          <p:nvPr/>
        </p:nvSpPr>
        <p:spPr>
          <a:xfrm>
            <a:off x="502920" y="2505456"/>
            <a:ext cx="2560320" cy="438912"/>
          </a:xfrm>
          <a:prstGeom prst="rect">
            <a:avLst/>
          </a:prstGeom>
          <a:noFill/>
          <a:ln/>
        </p:spPr>
        <p:txBody>
          <a:bodyPr wrap="square" lIns="38100" tIns="38100" rIns="38100" bIns="38100" rtlCol="0" anchor="ctr"/>
          <a:lstStyle/>
          <a:p>
            <a:pPr algn="l" indent="0" marL="0">
              <a:buNone/>
            </a:pPr>
            <a:r>
              <a:rPr lang="en-US" sz="1250" b="1" dirty="0">
                <a:solidFill>
                  <a:srgbClr val="B22222"/>
                </a:solidFill>
                <a:latin typeface="Cambria" pitchFamily="34" charset="0"/>
                <a:ea typeface="Cambria" pitchFamily="34" charset="-122"/>
                <a:cs typeface="Cambria" pitchFamily="34" charset="-120"/>
              </a:rPr>
              <a:t>Bỏ mệnh đề vị trí</a:t>
            </a:r>
            <a:endParaRPr lang="en-US" sz="1250" dirty="0"/>
          </a:p>
        </p:txBody>
      </p:sp>
      <p:sp>
        <p:nvSpPr>
          <p:cNvPr id="25" name="Text 23"/>
          <p:cNvSpPr/>
          <p:nvPr/>
        </p:nvSpPr>
        <p:spPr>
          <a:xfrm>
            <a:off x="3063240" y="2505456"/>
            <a:ext cx="1828800" cy="438912"/>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198 bước</a:t>
            </a:r>
            <a:endParaRPr lang="en-US" sz="1250" dirty="0"/>
          </a:p>
        </p:txBody>
      </p:sp>
      <p:sp>
        <p:nvSpPr>
          <p:cNvPr id="26" name="Text 24"/>
          <p:cNvSpPr/>
          <p:nvPr/>
        </p:nvSpPr>
        <p:spPr>
          <a:xfrm>
            <a:off x="4892040" y="2505456"/>
            <a:ext cx="1737360" cy="438912"/>
          </a:xfrm>
          <a:prstGeom prst="rect">
            <a:avLst/>
          </a:prstGeom>
          <a:noFill/>
          <a:ln/>
        </p:spPr>
        <p:txBody>
          <a:bodyPr wrap="square" lIns="38100" tIns="38100" rIns="38100" bIns="38100" rtlCol="0" anchor="ctr"/>
          <a:lstStyle/>
          <a:p>
            <a:pPr algn="ctr" indent="0" marL="0">
              <a:buNone/>
            </a:pPr>
            <a:r>
              <a:rPr lang="en-US" sz="1250" b="1" dirty="0">
                <a:solidFill>
                  <a:srgbClr val="B22222"/>
                </a:solidFill>
                <a:latin typeface="Cambria" pitchFamily="34" charset="0"/>
                <a:ea typeface="Cambria" pitchFamily="34" charset="-122"/>
                <a:cs typeface="Cambria" pitchFamily="34" charset="-120"/>
              </a:rPr>
              <a:t>89,4 → 85,9</a:t>
            </a:r>
            <a:endParaRPr lang="en-US" sz="1250" dirty="0"/>
          </a:p>
        </p:txBody>
      </p:sp>
      <p:sp>
        <p:nvSpPr>
          <p:cNvPr id="27" name="Text 25"/>
          <p:cNvSpPr/>
          <p:nvPr/>
        </p:nvSpPr>
        <p:spPr>
          <a:xfrm>
            <a:off x="6629400" y="2505456"/>
            <a:ext cx="2002536" cy="438912"/>
          </a:xfrm>
          <a:prstGeom prst="rect">
            <a:avLst/>
          </a:prstGeom>
          <a:noFill/>
          <a:ln/>
        </p:spPr>
        <p:txBody>
          <a:bodyPr wrap="square" lIns="38100" tIns="38100" rIns="38100" bIns="38100" rtlCol="0" anchor="ctr"/>
          <a:lstStyle/>
          <a:p>
            <a:pPr algn="ctr" indent="0" marL="0">
              <a:buNone/>
            </a:pPr>
            <a:r>
              <a:rPr lang="en-US" sz="1250" b="1" dirty="0">
                <a:solidFill>
                  <a:srgbClr val="B22222"/>
                </a:solidFill>
                <a:latin typeface="Cambria" pitchFamily="34" charset="0"/>
                <a:ea typeface="Cambria" pitchFamily="34" charset="-122"/>
                <a:cs typeface="Cambria" pitchFamily="34" charset="-120"/>
              </a:rPr>
              <a:t>0,046</a:t>
            </a:r>
            <a:endParaRPr lang="en-US" sz="1250" dirty="0"/>
          </a:p>
        </p:txBody>
      </p:sp>
      <p:sp>
        <p:nvSpPr>
          <p:cNvPr id="28" name="Text 26"/>
          <p:cNvSpPr/>
          <p:nvPr/>
        </p:nvSpPr>
        <p:spPr>
          <a:xfrm>
            <a:off x="502920" y="320040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9" name="Text 27"/>
          <p:cNvSpPr/>
          <p:nvPr/>
        </p:nvSpPr>
        <p:spPr>
          <a:xfrm>
            <a:off x="731520" y="320040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Gộp ba biến thể bảo toàn nghĩa: 1.139 câu, hiệu ròng +0,35 điểm, KTC [−0,59 ; +1,29]</a:t>
            </a:r>
            <a:endParaRPr lang="en-US" sz="1250" dirty="0"/>
          </a:p>
        </p:txBody>
      </p:sp>
      <p:sp>
        <p:nvSpPr>
          <p:cNvPr id="30" name="Text 28"/>
          <p:cNvSpPr/>
          <p:nvPr/>
        </p:nvSpPr>
        <p:spPr>
          <a:xfrm>
            <a:off x="502920" y="384048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31" name="Text 29"/>
          <p:cNvSpPr/>
          <p:nvPr/>
        </p:nvSpPr>
        <p:spPr>
          <a:xfrm>
            <a:off x="731520" y="384048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Bỏ mệnh đề vị trí thì thước phạt đúng, nên đây không phải một thước bất động</a:t>
            </a:r>
            <a:endParaRPr lang="en-US" sz="1250" dirty="0"/>
          </a:p>
        </p:txBody>
      </p:sp>
      <p:sp>
        <p:nvSpPr>
          <p:cNvPr id="32" name="Text 30"/>
          <p:cNvSpPr/>
          <p:nvPr/>
        </p:nvSpPr>
        <p:spPr>
          <a:xfrm>
            <a:off x="502920" y="448056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33" name="Text 31"/>
          <p:cNvSpPr/>
          <p:nvPr/>
        </p:nvSpPr>
        <p:spPr>
          <a:xfrm>
            <a:off x="731520" y="448056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Dạng lỗi là tất cả hoặc không: trung vị sai số giữ nguyên, còn p90 bung từ 6,88 lên 31,16</a:t>
            </a:r>
            <a:endParaRPr lang="en-US" sz="1250" dirty="0"/>
          </a:p>
        </p:txBody>
      </p:sp>
      <p:sp>
        <p:nvSpPr>
          <p:cNvPr id="34" name="Text 32"/>
          <p:cNvSpPr/>
          <p:nvPr/>
        </p:nvSpPr>
        <p:spPr>
          <a:xfrm>
            <a:off x="502920" y="5120640"/>
            <a:ext cx="201168" cy="640080"/>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35" name="Text 33"/>
          <p:cNvSpPr/>
          <p:nvPr/>
        </p:nvSpPr>
        <p:spPr>
          <a:xfrm>
            <a:off x="731520" y="5120640"/>
            <a:ext cx="7909560" cy="603504"/>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Phần bị tác động là phần dễ nhất, và phép viết lại này chưa đụng vào cách mô tả phần tử</a:t>
            </a:r>
            <a:endParaRPr lang="en-US" sz="1250" dirty="0"/>
          </a:p>
        </p:txBody>
      </p:sp>
      <p:sp>
        <p:nvSpPr>
          <p:cNvPr id="36" name="Shape 34"/>
          <p:cNvSpPr/>
          <p:nvPr/>
        </p:nvSpPr>
        <p:spPr>
          <a:xfrm>
            <a:off x="0" y="6620256"/>
            <a:ext cx="2743200" cy="237744"/>
          </a:xfrm>
          <a:prstGeom prst="rect">
            <a:avLst/>
          </a:prstGeom>
          <a:solidFill>
            <a:srgbClr val="191132"/>
          </a:solidFill>
          <a:ln/>
        </p:spPr>
      </p:sp>
      <p:sp>
        <p:nvSpPr>
          <p:cNvPr id="37" name="Shape 35"/>
          <p:cNvSpPr/>
          <p:nvPr/>
        </p:nvSpPr>
        <p:spPr>
          <a:xfrm>
            <a:off x="2743200" y="6620256"/>
            <a:ext cx="3383280" cy="237744"/>
          </a:xfrm>
          <a:prstGeom prst="rect">
            <a:avLst/>
          </a:prstGeom>
          <a:solidFill>
            <a:srgbClr val="25194B"/>
          </a:solidFill>
          <a:ln/>
        </p:spPr>
      </p:sp>
      <p:sp>
        <p:nvSpPr>
          <p:cNvPr id="38" name="Shape 36"/>
          <p:cNvSpPr/>
          <p:nvPr/>
        </p:nvSpPr>
        <p:spPr>
          <a:xfrm>
            <a:off x="6126480" y="6620256"/>
            <a:ext cx="1737360" cy="237744"/>
          </a:xfrm>
          <a:prstGeom prst="rect">
            <a:avLst/>
          </a:prstGeom>
          <a:solidFill>
            <a:srgbClr val="4F417A"/>
          </a:solidFill>
          <a:ln/>
        </p:spPr>
      </p:sp>
      <p:sp>
        <p:nvSpPr>
          <p:cNvPr id="39" name="Shape 37"/>
          <p:cNvSpPr/>
          <p:nvPr/>
        </p:nvSpPr>
        <p:spPr>
          <a:xfrm>
            <a:off x="7863840" y="6620256"/>
            <a:ext cx="1280160" cy="237744"/>
          </a:xfrm>
          <a:prstGeom prst="rect">
            <a:avLst/>
          </a:prstGeom>
          <a:solidFill>
            <a:srgbClr val="7A7099"/>
          </a:solidFill>
          <a:ln/>
        </p:spPr>
      </p:sp>
      <p:sp>
        <p:nvSpPr>
          <p:cNvPr id="40" name="Text 38"/>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41" name="Text 39"/>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42" name="Text 40"/>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43" name="Text 41"/>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4</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Sàn của thước, và gọi tên so với chỉ vị trí</a:t>
            </a:r>
            <a:endParaRPr lang="en-US" sz="1900" dirty="0"/>
          </a:p>
        </p:txBody>
      </p:sp>
      <p:sp>
        <p:nvSpPr>
          <p:cNvPr id="4" name="Shape 2"/>
          <p:cNvSpPr/>
          <p:nvPr/>
        </p:nvSpPr>
        <p:spPr>
          <a:xfrm>
            <a:off x="502920" y="960120"/>
            <a:ext cx="8129016" cy="384048"/>
          </a:xfrm>
          <a:prstGeom prst="rect">
            <a:avLst/>
          </a:prstGeom>
          <a:solidFill>
            <a:srgbClr val="322164"/>
          </a:solidFill>
          <a:ln/>
        </p:spPr>
      </p:sp>
      <p:sp>
        <p:nvSpPr>
          <p:cNvPr id="5" name="Text 3"/>
          <p:cNvSpPr/>
          <p:nvPr/>
        </p:nvSpPr>
        <p:spPr>
          <a:xfrm>
            <a:off x="502920" y="960120"/>
            <a:ext cx="329184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Nhánh so sánh</a:t>
            </a:r>
            <a:endParaRPr lang="en-US" sz="1200" dirty="0"/>
          </a:p>
        </p:txBody>
      </p:sp>
      <p:sp>
        <p:nvSpPr>
          <p:cNvPr id="6" name="Text 4"/>
          <p:cNvSpPr/>
          <p:nvPr/>
        </p:nvSpPr>
        <p:spPr>
          <a:xfrm>
            <a:off x="3794760" y="960120"/>
            <a:ext cx="320040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Câu bị thay thành gì</a:t>
            </a:r>
            <a:endParaRPr lang="en-US" sz="1200" dirty="0"/>
          </a:p>
        </p:txBody>
      </p:sp>
      <p:sp>
        <p:nvSpPr>
          <p:cNvPr id="7" name="Text 5"/>
          <p:cNvSpPr/>
          <p:nvPr/>
        </p:nvSpPr>
        <p:spPr>
          <a:xfrm>
            <a:off x="6995160" y="960120"/>
            <a:ext cx="1636776"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Điểm</a:t>
            </a:r>
            <a:endParaRPr lang="en-US" sz="1200" dirty="0"/>
          </a:p>
        </p:txBody>
      </p:sp>
      <p:sp>
        <p:nvSpPr>
          <p:cNvPr id="8" name="Text 6"/>
          <p:cNvSpPr/>
          <p:nvPr/>
        </p:nvSpPr>
        <p:spPr>
          <a:xfrm>
            <a:off x="502920" y="1344168"/>
            <a:ext cx="329184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chung chung</a:t>
            </a:r>
            <a:endParaRPr lang="en-US" sz="1250" dirty="0"/>
          </a:p>
        </p:txBody>
      </p:sp>
      <p:sp>
        <p:nvSpPr>
          <p:cNvPr id="9" name="Text 7"/>
          <p:cNvSpPr/>
          <p:nvPr/>
        </p:nvSpPr>
        <p:spPr>
          <a:xfrm>
            <a:off x="3794760" y="1344168"/>
            <a:ext cx="320040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“Tap the button.” ở mọi bước</a:t>
            </a:r>
            <a:endParaRPr lang="en-US" sz="1250" dirty="0"/>
          </a:p>
        </p:txBody>
      </p:sp>
      <p:sp>
        <p:nvSpPr>
          <p:cNvPr id="10" name="Text 8"/>
          <p:cNvSpPr/>
          <p:nvPr/>
        </p:nvSpPr>
        <p:spPr>
          <a:xfrm>
            <a:off x="6995160" y="1344168"/>
            <a:ext cx="1636776" cy="420624"/>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12,0</a:t>
            </a:r>
            <a:endParaRPr lang="en-US" sz="1250" dirty="0"/>
          </a:p>
        </p:txBody>
      </p:sp>
      <p:sp>
        <p:nvSpPr>
          <p:cNvPr id="11" name="Shape 9"/>
          <p:cNvSpPr/>
          <p:nvPr/>
        </p:nvSpPr>
        <p:spPr>
          <a:xfrm>
            <a:off x="502920" y="1764792"/>
            <a:ext cx="8129016" cy="0"/>
          </a:xfrm>
          <a:prstGeom prst="line">
            <a:avLst/>
          </a:prstGeom>
          <a:noFill/>
          <a:ln w="12700">
            <a:solidFill>
              <a:srgbClr val="9A94AE"/>
            </a:solidFill>
            <a:prstDash val="solid"/>
          </a:ln>
        </p:spPr>
      </p:sp>
      <p:sp>
        <p:nvSpPr>
          <p:cNvPr id="12" name="Text 10"/>
          <p:cNvSpPr/>
          <p:nvPr/>
        </p:nvSpPr>
        <p:spPr>
          <a:xfrm>
            <a:off x="502920" y="1764792"/>
            <a:ext cx="3291840" cy="512064"/>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Câu sai màn hình</a:t>
            </a:r>
            <a:endParaRPr lang="en-US" sz="1250" dirty="0"/>
          </a:p>
        </p:txBody>
      </p:sp>
      <p:sp>
        <p:nvSpPr>
          <p:cNvPr id="13" name="Text 11"/>
          <p:cNvSpPr/>
          <p:nvPr/>
        </p:nvSpPr>
        <p:spPr>
          <a:xfrm>
            <a:off x="3794760" y="1764792"/>
            <a:ext cx="3200400" cy="51206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thật của bước khác: đúng văn phong, sai nội dung</a:t>
            </a:r>
            <a:endParaRPr lang="en-US" sz="1250" dirty="0"/>
          </a:p>
        </p:txBody>
      </p:sp>
      <p:sp>
        <p:nvSpPr>
          <p:cNvPr id="14" name="Text 12"/>
          <p:cNvSpPr/>
          <p:nvPr/>
        </p:nvSpPr>
        <p:spPr>
          <a:xfrm>
            <a:off x="6995160" y="1764792"/>
            <a:ext cx="1636776" cy="512064"/>
          </a:xfrm>
          <a:prstGeom prst="rect">
            <a:avLst/>
          </a:prstGeom>
          <a:noFill/>
          <a:ln/>
        </p:spPr>
        <p:txBody>
          <a:bodyPr wrap="square" lIns="38100" tIns="38100" rIns="38100" bIns="38100" rtlCol="0" anchor="ctr"/>
          <a:lstStyle/>
          <a:p>
            <a:pPr algn="ctr" indent="0" marL="0">
              <a:buNone/>
            </a:pPr>
            <a:r>
              <a:rPr lang="en-US" sz="1250" b="1" dirty="0">
                <a:solidFill>
                  <a:srgbClr val="B22222"/>
                </a:solidFill>
                <a:latin typeface="Cambria" pitchFamily="34" charset="0"/>
                <a:ea typeface="Cambria" pitchFamily="34" charset="-122"/>
                <a:cs typeface="Cambria" pitchFamily="34" charset="-120"/>
              </a:rPr>
              <a:t>6,1</a:t>
            </a:r>
            <a:endParaRPr lang="en-US" sz="1250" dirty="0"/>
          </a:p>
        </p:txBody>
      </p:sp>
      <p:sp>
        <p:nvSpPr>
          <p:cNvPr id="15" name="Shape 13"/>
          <p:cNvSpPr/>
          <p:nvPr/>
        </p:nvSpPr>
        <p:spPr>
          <a:xfrm>
            <a:off x="502920" y="2276856"/>
            <a:ext cx="8129016" cy="0"/>
          </a:xfrm>
          <a:prstGeom prst="line">
            <a:avLst/>
          </a:prstGeom>
          <a:noFill/>
          <a:ln w="12700">
            <a:solidFill>
              <a:srgbClr val="9A94AE"/>
            </a:solidFill>
            <a:prstDash val="solid"/>
          </a:ln>
        </p:spPr>
      </p:sp>
      <p:sp>
        <p:nvSpPr>
          <p:cNvPr id="16" name="Text 14"/>
          <p:cNvSpPr/>
          <p:nvPr/>
        </p:nvSpPr>
        <p:spPr>
          <a:xfrm>
            <a:off x="502920" y="2276856"/>
            <a:ext cx="329184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Bỏ tên, giữ vị trí</a:t>
            </a:r>
            <a:endParaRPr lang="en-US" sz="1250" dirty="0"/>
          </a:p>
        </p:txBody>
      </p:sp>
      <p:sp>
        <p:nvSpPr>
          <p:cNvPr id="17" name="Text 15"/>
          <p:cNvSpPr/>
          <p:nvPr/>
        </p:nvSpPr>
        <p:spPr>
          <a:xfrm>
            <a:off x="3794760" y="2276856"/>
            <a:ext cx="3200400" cy="420624"/>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chỉ còn mệnh đề vị trí</a:t>
            </a:r>
            <a:endParaRPr lang="en-US" sz="1250" dirty="0"/>
          </a:p>
        </p:txBody>
      </p:sp>
      <p:sp>
        <p:nvSpPr>
          <p:cNvPr id="18" name="Text 16"/>
          <p:cNvSpPr/>
          <p:nvPr/>
        </p:nvSpPr>
        <p:spPr>
          <a:xfrm>
            <a:off x="6995160" y="2276856"/>
            <a:ext cx="1636776" cy="420624"/>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61,1</a:t>
            </a:r>
            <a:endParaRPr lang="en-US" sz="1250" dirty="0"/>
          </a:p>
        </p:txBody>
      </p:sp>
      <p:sp>
        <p:nvSpPr>
          <p:cNvPr id="19" name="Text 17"/>
          <p:cNvSpPr/>
          <p:nvPr/>
        </p:nvSpPr>
        <p:spPr>
          <a:xfrm>
            <a:off x="502920" y="3063240"/>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0" name="Text 18"/>
          <p:cNvSpPr/>
          <p:nvPr/>
        </p:nvSpPr>
        <p:spPr>
          <a:xfrm>
            <a:off x="731520" y="3063240"/>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Việc gọi tên đắt gấp tám lần việc chỉ chỗ: bỏ tên mất 28,5 điểm, bỏ vị trí chỉ mất 3,5 điểm</a:t>
            </a:r>
            <a:endParaRPr lang="en-US" sz="1250" dirty="0"/>
          </a:p>
        </p:txBody>
      </p:sp>
      <p:sp>
        <p:nvSpPr>
          <p:cNvPr id="21" name="Text 19"/>
          <p:cNvSpPr/>
          <p:nvPr/>
        </p:nvSpPr>
        <p:spPr>
          <a:xfrm>
            <a:off x="502920" y="3721608"/>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2" name="Text 20"/>
          <p:cNvSpPr/>
          <p:nvPr/>
        </p:nvSpPr>
        <p:spPr>
          <a:xfrm>
            <a:off x="731520" y="3721608"/>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Con số phải trình là 28,5 điểm trên phần bị tác động, vì phép thử chỉ đụng 24,1% số bước</a:t>
            </a:r>
            <a:endParaRPr lang="en-US" sz="1250" dirty="0"/>
          </a:p>
        </p:txBody>
      </p:sp>
      <p:sp>
        <p:nvSpPr>
          <p:cNvPr id="23" name="Text 21"/>
          <p:cNvSpPr/>
          <p:nvPr/>
        </p:nvSpPr>
        <p:spPr>
          <a:xfrm>
            <a:off x="502920" y="4379976"/>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731520" y="4379976"/>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Dải dùng được của thước là 62,9 điểm</a:t>
            </a:r>
            <a:endParaRPr lang="en-US" sz="1250" dirty="0"/>
          </a:p>
        </p:txBody>
      </p:sp>
      <p:sp>
        <p:nvSpPr>
          <p:cNvPr id="25" name="Text 23"/>
          <p:cNvSpPr/>
          <p:nvPr/>
        </p:nvSpPr>
        <p:spPr>
          <a:xfrm>
            <a:off x="502920" y="5038344"/>
            <a:ext cx="201168" cy="658368"/>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6" name="Text 24"/>
          <p:cNvSpPr/>
          <p:nvPr/>
        </p:nvSpPr>
        <p:spPr>
          <a:xfrm>
            <a:off x="731520" y="5038344"/>
            <a:ext cx="7909560" cy="621792"/>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Suy đoán sàn khoảng 40% bị loại, vì nó suy từ tỉ lệ ba nhánh cùng trúng</a:t>
            </a:r>
            <a:endParaRPr lang="en-US" sz="1250" dirty="0"/>
          </a:p>
        </p:txBody>
      </p:sp>
      <p:sp>
        <p:nvSpPr>
          <p:cNvPr id="27" name="Shape 25"/>
          <p:cNvSpPr/>
          <p:nvPr/>
        </p:nvSpPr>
        <p:spPr>
          <a:xfrm>
            <a:off x="0" y="6620256"/>
            <a:ext cx="2743200" cy="237744"/>
          </a:xfrm>
          <a:prstGeom prst="rect">
            <a:avLst/>
          </a:prstGeom>
          <a:solidFill>
            <a:srgbClr val="191132"/>
          </a:solidFill>
          <a:ln/>
        </p:spPr>
      </p:sp>
      <p:sp>
        <p:nvSpPr>
          <p:cNvPr id="28" name="Shape 26"/>
          <p:cNvSpPr/>
          <p:nvPr/>
        </p:nvSpPr>
        <p:spPr>
          <a:xfrm>
            <a:off x="2743200" y="6620256"/>
            <a:ext cx="3383280" cy="237744"/>
          </a:xfrm>
          <a:prstGeom prst="rect">
            <a:avLst/>
          </a:prstGeom>
          <a:solidFill>
            <a:srgbClr val="25194B"/>
          </a:solidFill>
          <a:ln/>
        </p:spPr>
      </p:sp>
      <p:sp>
        <p:nvSpPr>
          <p:cNvPr id="29" name="Shape 27"/>
          <p:cNvSpPr/>
          <p:nvPr/>
        </p:nvSpPr>
        <p:spPr>
          <a:xfrm>
            <a:off x="6126480" y="6620256"/>
            <a:ext cx="1737360" cy="237744"/>
          </a:xfrm>
          <a:prstGeom prst="rect">
            <a:avLst/>
          </a:prstGeom>
          <a:solidFill>
            <a:srgbClr val="4F417A"/>
          </a:solidFill>
          <a:ln/>
        </p:spPr>
      </p:sp>
      <p:sp>
        <p:nvSpPr>
          <p:cNvPr id="30" name="Shape 28"/>
          <p:cNvSpPr/>
          <p:nvPr/>
        </p:nvSpPr>
        <p:spPr>
          <a:xfrm>
            <a:off x="7863840" y="6620256"/>
            <a:ext cx="1280160" cy="237744"/>
          </a:xfrm>
          <a:prstGeom prst="rect">
            <a:avLst/>
          </a:prstGeom>
          <a:solidFill>
            <a:srgbClr val="7A7099"/>
          </a:solidFill>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Cấu hình huấn luyện và chi phí máy</a:t>
            </a:r>
            <a:endParaRPr lang="en-US" sz="1900" dirty="0"/>
          </a:p>
        </p:txBody>
      </p:sp>
      <p:sp>
        <p:nvSpPr>
          <p:cNvPr id="4" name="Shape 2"/>
          <p:cNvSpPr/>
          <p:nvPr/>
        </p:nvSpPr>
        <p:spPr>
          <a:xfrm>
            <a:off x="502920" y="960120"/>
            <a:ext cx="8129016" cy="365760"/>
          </a:xfrm>
          <a:prstGeom prst="rect">
            <a:avLst/>
          </a:prstGeom>
          <a:solidFill>
            <a:srgbClr val="322164"/>
          </a:solidFill>
          <a:ln/>
        </p:spPr>
      </p:sp>
      <p:sp>
        <p:nvSpPr>
          <p:cNvPr id="5" name="Text 3"/>
          <p:cNvSpPr/>
          <p:nvPr/>
        </p:nvSpPr>
        <p:spPr>
          <a:xfrm>
            <a:off x="502920" y="960120"/>
            <a:ext cx="2743200" cy="36576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Hạng mục</a:t>
            </a:r>
            <a:endParaRPr lang="en-US" sz="1250" dirty="0"/>
          </a:p>
        </p:txBody>
      </p:sp>
      <p:sp>
        <p:nvSpPr>
          <p:cNvPr id="6" name="Text 4"/>
          <p:cNvSpPr/>
          <p:nvPr/>
        </p:nvSpPr>
        <p:spPr>
          <a:xfrm>
            <a:off x="3246120" y="960120"/>
            <a:ext cx="5385816" cy="365760"/>
          </a:xfrm>
          <a:prstGeom prst="rect">
            <a:avLst/>
          </a:prstGeom>
          <a:noFill/>
          <a:ln/>
        </p:spPr>
        <p:txBody>
          <a:bodyPr wrap="square" lIns="38100" tIns="38100" rIns="38100" bIns="38100" rtlCol="0" anchor="ctr"/>
          <a:lstStyle/>
          <a:p>
            <a:pPr algn="l" indent="0" marL="0">
              <a:buNone/>
            </a:pPr>
            <a:r>
              <a:rPr lang="en-US" sz="1250" b="1" dirty="0">
                <a:solidFill>
                  <a:srgbClr val="FFFFFF"/>
                </a:solidFill>
                <a:latin typeface="Cambria" pitchFamily="34" charset="0"/>
                <a:ea typeface="Cambria" pitchFamily="34" charset="-122"/>
                <a:cs typeface="Cambria" pitchFamily="34" charset="-120"/>
              </a:rPr>
              <a:t>Cấu hình</a:t>
            </a:r>
            <a:endParaRPr lang="en-US" sz="1250" dirty="0"/>
          </a:p>
        </p:txBody>
      </p:sp>
      <p:sp>
        <p:nvSpPr>
          <p:cNvPr id="7" name="Text 5"/>
          <p:cNvSpPr/>
          <p:nvPr/>
        </p:nvSpPr>
        <p:spPr>
          <a:xfrm>
            <a:off x="502920" y="132588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Mô hình gốc</a:t>
            </a:r>
            <a:endParaRPr lang="en-US" sz="1250" dirty="0"/>
          </a:p>
        </p:txBody>
      </p:sp>
      <p:sp>
        <p:nvSpPr>
          <p:cNvPr id="8" name="Text 6"/>
          <p:cNvSpPr/>
          <p:nvPr/>
        </p:nvSpPr>
        <p:spPr>
          <a:xfrm>
            <a:off x="3246120" y="132588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Qwen2.5-VL-3B-Instruct</a:t>
            </a:r>
            <a:endParaRPr lang="en-US" sz="1250" dirty="0"/>
          </a:p>
        </p:txBody>
      </p:sp>
      <p:sp>
        <p:nvSpPr>
          <p:cNvPr id="9" name="Shape 7"/>
          <p:cNvSpPr/>
          <p:nvPr/>
        </p:nvSpPr>
        <p:spPr>
          <a:xfrm>
            <a:off x="502920" y="1691640"/>
            <a:ext cx="8129016" cy="0"/>
          </a:xfrm>
          <a:prstGeom prst="line">
            <a:avLst/>
          </a:prstGeom>
          <a:noFill/>
          <a:ln w="12700">
            <a:solidFill>
              <a:srgbClr val="9A94AE"/>
            </a:solidFill>
            <a:prstDash val="solid"/>
          </a:ln>
        </p:spPr>
      </p:sp>
      <p:sp>
        <p:nvSpPr>
          <p:cNvPr id="10" name="Text 8"/>
          <p:cNvSpPr/>
          <p:nvPr/>
        </p:nvSpPr>
        <p:spPr>
          <a:xfrm>
            <a:off x="502920" y="169164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Cách tinh chỉnh</a:t>
            </a:r>
            <a:endParaRPr lang="en-US" sz="1250" dirty="0"/>
          </a:p>
        </p:txBody>
      </p:sp>
      <p:sp>
        <p:nvSpPr>
          <p:cNvPr id="11" name="Text 9"/>
          <p:cNvSpPr/>
          <p:nvPr/>
        </p:nvSpPr>
        <p:spPr>
          <a:xfrm>
            <a:off x="3246120" y="169164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QLoRA 4 bit, đóng băng phần thị giác</a:t>
            </a:r>
            <a:endParaRPr lang="en-US" sz="1250" dirty="0"/>
          </a:p>
        </p:txBody>
      </p:sp>
      <p:sp>
        <p:nvSpPr>
          <p:cNvPr id="12" name="Shape 10"/>
          <p:cNvSpPr/>
          <p:nvPr/>
        </p:nvSpPr>
        <p:spPr>
          <a:xfrm>
            <a:off x="502920" y="2057400"/>
            <a:ext cx="8129016" cy="0"/>
          </a:xfrm>
          <a:prstGeom prst="line">
            <a:avLst/>
          </a:prstGeom>
          <a:noFill/>
          <a:ln w="12700">
            <a:solidFill>
              <a:srgbClr val="9A94AE"/>
            </a:solidFill>
            <a:prstDash val="solid"/>
          </a:ln>
        </p:spPr>
      </p:sp>
      <p:sp>
        <p:nvSpPr>
          <p:cNvPr id="13" name="Text 11"/>
          <p:cNvSpPr/>
          <p:nvPr/>
        </p:nvSpPr>
        <p:spPr>
          <a:xfrm>
            <a:off x="502920" y="205740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Độ dài và lô</a:t>
            </a:r>
            <a:endParaRPr lang="en-US" sz="1250" dirty="0"/>
          </a:p>
        </p:txBody>
      </p:sp>
      <p:sp>
        <p:nvSpPr>
          <p:cNvPr id="14" name="Text 12"/>
          <p:cNvSpPr/>
          <p:nvPr/>
        </p:nvSpPr>
        <p:spPr>
          <a:xfrm>
            <a:off x="3246120" y="205740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2.560 token, lô hiệu dụng 16, hai lượt duyệt, 8.072 bước</a:t>
            </a:r>
            <a:endParaRPr lang="en-US" sz="1250" dirty="0"/>
          </a:p>
        </p:txBody>
      </p:sp>
      <p:sp>
        <p:nvSpPr>
          <p:cNvPr id="15" name="Shape 13"/>
          <p:cNvSpPr/>
          <p:nvPr/>
        </p:nvSpPr>
        <p:spPr>
          <a:xfrm>
            <a:off x="502920" y="2423160"/>
            <a:ext cx="8129016" cy="0"/>
          </a:xfrm>
          <a:prstGeom prst="line">
            <a:avLst/>
          </a:prstGeom>
          <a:noFill/>
          <a:ln w="12700">
            <a:solidFill>
              <a:srgbClr val="9A94AE"/>
            </a:solidFill>
            <a:prstDash val="solid"/>
          </a:ln>
        </p:spPr>
      </p:sp>
      <p:sp>
        <p:nvSpPr>
          <p:cNvPr id="16" name="Text 14"/>
          <p:cNvSpPr/>
          <p:nvPr/>
        </p:nvSpPr>
        <p:spPr>
          <a:xfrm>
            <a:off x="502920" y="242316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Máy và thời gian</a:t>
            </a:r>
            <a:endParaRPr lang="en-US" sz="1250" dirty="0"/>
          </a:p>
        </p:txBody>
      </p:sp>
      <p:sp>
        <p:nvSpPr>
          <p:cNvPr id="17" name="Text 15"/>
          <p:cNvSpPr/>
          <p:nvPr/>
        </p:nvSpPr>
        <p:spPr>
          <a:xfrm>
            <a:off x="3246120" y="242316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A100, 10,3 giây mỗi bước, khoảng 23 giờ mỗi lượt</a:t>
            </a:r>
            <a:endParaRPr lang="en-US" sz="1250" dirty="0"/>
          </a:p>
        </p:txBody>
      </p:sp>
      <p:sp>
        <p:nvSpPr>
          <p:cNvPr id="18" name="Shape 16"/>
          <p:cNvSpPr/>
          <p:nvPr/>
        </p:nvSpPr>
        <p:spPr>
          <a:xfrm>
            <a:off x="502920" y="2788920"/>
            <a:ext cx="8129016" cy="0"/>
          </a:xfrm>
          <a:prstGeom prst="line">
            <a:avLst/>
          </a:prstGeom>
          <a:noFill/>
          <a:ln w="12700">
            <a:solidFill>
              <a:srgbClr val="9A94AE"/>
            </a:solidFill>
            <a:prstDash val="solid"/>
          </a:ln>
        </p:spPr>
      </p:sp>
      <p:sp>
        <p:nvSpPr>
          <p:cNvPr id="19" name="Text 17"/>
          <p:cNvSpPr/>
          <p:nvPr/>
        </p:nvSpPr>
        <p:spPr>
          <a:xfrm>
            <a:off x="502920" y="2788920"/>
            <a:ext cx="2743200"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Khâu chấm</a:t>
            </a:r>
            <a:endParaRPr lang="en-US" sz="1250" dirty="0"/>
          </a:p>
        </p:txBody>
      </p:sp>
      <p:sp>
        <p:nvSpPr>
          <p:cNvPr id="20" name="Text 18"/>
          <p:cNvSpPr/>
          <p:nvPr/>
        </p:nvSpPr>
        <p:spPr>
          <a:xfrm>
            <a:off x="3246120" y="2788920"/>
            <a:ext cx="5385816" cy="365760"/>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Kaggle T4 × 2, khoảng 5,6 giờ mỗi nhánh</a:t>
            </a:r>
            <a:endParaRPr lang="en-US" sz="1250" dirty="0"/>
          </a:p>
        </p:txBody>
      </p:sp>
      <p:sp>
        <p:nvSpPr>
          <p:cNvPr id="21" name="Text 19"/>
          <p:cNvSpPr/>
          <p:nvPr/>
        </p:nvSpPr>
        <p:spPr>
          <a:xfrm>
            <a:off x="502920" y="3429000"/>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2" name="Text 20"/>
          <p:cNvSpPr/>
          <p:nvPr/>
        </p:nvSpPr>
        <p:spPr>
          <a:xfrm>
            <a:off x="731520" y="3429000"/>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QLoRA 4 bit chạy nhanh hơn bf16 ở bài này: 10,70 so với 14,76 giây mỗi bước</a:t>
            </a:r>
            <a:endParaRPr lang="en-US" sz="1250" dirty="0"/>
          </a:p>
        </p:txBody>
      </p:sp>
      <p:sp>
        <p:nvSpPr>
          <p:cNvPr id="23" name="Text 21"/>
          <p:cNvSpPr/>
          <p:nvPr/>
        </p:nvSpPr>
        <p:spPr>
          <a:xfrm>
            <a:off x="502920" y="4032504"/>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731520" y="4032504"/>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Chỗ ngốn bộ nhớ là bảng logits, không phải trọng số</a:t>
            </a:r>
            <a:endParaRPr lang="en-US" sz="1250" dirty="0"/>
          </a:p>
        </p:txBody>
      </p:sp>
      <p:sp>
        <p:nvSpPr>
          <p:cNvPr id="25" name="Text 23"/>
          <p:cNvSpPr/>
          <p:nvPr/>
        </p:nvSpPr>
        <p:spPr>
          <a:xfrm>
            <a:off x="502920" y="4636008"/>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6" name="Text 24"/>
          <p:cNvSpPr/>
          <p:nvPr/>
        </p:nvSpPr>
        <p:spPr>
          <a:xfrm>
            <a:off x="731520" y="4636008"/>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Đổi loại card không làm đổi kết quả: cùng hạt giống thì mất mát 20 bước đầu trùng ba chữ số</a:t>
            </a:r>
            <a:endParaRPr lang="en-US" sz="1250" dirty="0"/>
          </a:p>
        </p:txBody>
      </p:sp>
      <p:sp>
        <p:nvSpPr>
          <p:cNvPr id="27" name="Text 25"/>
          <p:cNvSpPr/>
          <p:nvPr/>
        </p:nvSpPr>
        <p:spPr>
          <a:xfrm>
            <a:off x="502920" y="5239512"/>
            <a:ext cx="201168" cy="603504"/>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8" name="Text 26"/>
          <p:cNvSpPr/>
          <p:nvPr/>
        </p:nvSpPr>
        <p:spPr>
          <a:xfrm>
            <a:off x="731520" y="5239512"/>
            <a:ext cx="7909560" cy="566928"/>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Ngân sách máy là lý do hạt giống thứ hai của nhánh xử lý bị huỷ</a:t>
            </a:r>
            <a:endParaRPr lang="en-US" sz="1250" dirty="0"/>
          </a:p>
        </p:txBody>
      </p:sp>
      <p:sp>
        <p:nvSpPr>
          <p:cNvPr id="29" name="Shape 27"/>
          <p:cNvSpPr/>
          <p:nvPr/>
        </p:nvSpPr>
        <p:spPr>
          <a:xfrm>
            <a:off x="0" y="6620256"/>
            <a:ext cx="2743200" cy="237744"/>
          </a:xfrm>
          <a:prstGeom prst="rect">
            <a:avLst/>
          </a:prstGeom>
          <a:solidFill>
            <a:srgbClr val="191132"/>
          </a:solidFill>
          <a:ln/>
        </p:spPr>
      </p:sp>
      <p:sp>
        <p:nvSpPr>
          <p:cNvPr id="30" name="Shape 28"/>
          <p:cNvSpPr/>
          <p:nvPr/>
        </p:nvSpPr>
        <p:spPr>
          <a:xfrm>
            <a:off x="2743200" y="6620256"/>
            <a:ext cx="3383280" cy="237744"/>
          </a:xfrm>
          <a:prstGeom prst="rect">
            <a:avLst/>
          </a:prstGeom>
          <a:solidFill>
            <a:srgbClr val="25194B"/>
          </a:solidFill>
          <a:ln/>
        </p:spPr>
      </p:sp>
      <p:sp>
        <p:nvSpPr>
          <p:cNvPr id="31" name="Shape 29"/>
          <p:cNvSpPr/>
          <p:nvPr/>
        </p:nvSpPr>
        <p:spPr>
          <a:xfrm>
            <a:off x="6126480" y="6620256"/>
            <a:ext cx="1737360" cy="237744"/>
          </a:xfrm>
          <a:prstGeom prst="rect">
            <a:avLst/>
          </a:prstGeom>
          <a:solidFill>
            <a:srgbClr val="4F417A"/>
          </a:solidFill>
          <a:ln/>
        </p:spPr>
      </p:sp>
      <p:sp>
        <p:nvSpPr>
          <p:cNvPr id="32" name="Shape 30"/>
          <p:cNvSpPr/>
          <p:nvPr/>
        </p:nvSpPr>
        <p:spPr>
          <a:xfrm>
            <a:off x="7863840" y="6620256"/>
            <a:ext cx="1280160" cy="237744"/>
          </a:xfrm>
          <a:prstGeom prst="rect">
            <a:avLst/>
          </a:prstGeom>
          <a:solidFill>
            <a:srgbClr val="7A7099"/>
          </a:solidFill>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6</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Trạng thái cuối của các nhánh trong thiết kế</a:t>
            </a:r>
            <a:endParaRPr lang="en-US" sz="1900" dirty="0"/>
          </a:p>
        </p:txBody>
      </p:sp>
      <p:sp>
        <p:nvSpPr>
          <p:cNvPr id="4" name="Shape 2"/>
          <p:cNvSpPr/>
          <p:nvPr/>
        </p:nvSpPr>
        <p:spPr>
          <a:xfrm>
            <a:off x="502920" y="777240"/>
            <a:ext cx="8129016" cy="384048"/>
          </a:xfrm>
          <a:prstGeom prst="rect">
            <a:avLst/>
          </a:prstGeom>
          <a:solidFill>
            <a:srgbClr val="322164"/>
          </a:solidFill>
          <a:ln/>
        </p:spPr>
      </p:sp>
      <p:sp>
        <p:nvSpPr>
          <p:cNvPr id="5" name="Text 3"/>
          <p:cNvSpPr/>
          <p:nvPr/>
        </p:nvSpPr>
        <p:spPr>
          <a:xfrm>
            <a:off x="502920" y="777240"/>
            <a:ext cx="237744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Nhánh</a:t>
            </a:r>
            <a:endParaRPr lang="en-US" sz="1200" dirty="0"/>
          </a:p>
        </p:txBody>
      </p:sp>
      <p:sp>
        <p:nvSpPr>
          <p:cNvPr id="6" name="Text 4"/>
          <p:cNvSpPr/>
          <p:nvPr/>
        </p:nvSpPr>
        <p:spPr>
          <a:xfrm>
            <a:off x="2880360" y="777240"/>
            <a:ext cx="164592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Trạng thái</a:t>
            </a:r>
            <a:endParaRPr lang="en-US" sz="1200" dirty="0"/>
          </a:p>
        </p:txBody>
      </p:sp>
      <p:sp>
        <p:nvSpPr>
          <p:cNvPr id="7" name="Text 5"/>
          <p:cNvSpPr/>
          <p:nvPr/>
        </p:nvSpPr>
        <p:spPr>
          <a:xfrm>
            <a:off x="4526280" y="777240"/>
            <a:ext cx="4105656"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Lý do</a:t>
            </a:r>
            <a:endParaRPr lang="en-US" sz="1200" dirty="0"/>
          </a:p>
        </p:txBody>
      </p:sp>
      <p:sp>
        <p:nvSpPr>
          <p:cNvPr id="8" name="Text 6"/>
          <p:cNvSpPr/>
          <p:nvPr/>
        </p:nvSpPr>
        <p:spPr>
          <a:xfrm>
            <a:off x="502920" y="1161288"/>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S1, hai hạt giống</a:t>
            </a:r>
            <a:endParaRPr lang="en-US" sz="1150" dirty="0"/>
          </a:p>
        </p:txBody>
      </p:sp>
      <p:sp>
        <p:nvSpPr>
          <p:cNvPr id="9" name="Text 7"/>
          <p:cNvSpPr/>
          <p:nvPr/>
        </p:nvSpPr>
        <p:spPr>
          <a:xfrm>
            <a:off x="2880360" y="1161288"/>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006666"/>
                </a:solidFill>
                <a:latin typeface="Cambria" pitchFamily="34" charset="0"/>
                <a:ea typeface="Cambria" pitchFamily="34" charset="-122"/>
                <a:cs typeface="Cambria" pitchFamily="34" charset="-120"/>
              </a:rPr>
              <a:t>đã chạy</a:t>
            </a:r>
            <a:endParaRPr lang="en-US" sz="1150" dirty="0"/>
          </a:p>
        </p:txBody>
      </p:sp>
      <p:sp>
        <p:nvSpPr>
          <p:cNvPr id="10" name="Text 8"/>
          <p:cNvSpPr/>
          <p:nvPr/>
        </p:nvSpPr>
        <p:spPr>
          <a:xfrm>
            <a:off x="4526280" y="1161288"/>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nhánh nền, cho biết nhiễu là 0,52 điểm</a:t>
            </a:r>
            <a:endParaRPr lang="en-US" sz="1150" dirty="0"/>
          </a:p>
        </p:txBody>
      </p:sp>
      <p:sp>
        <p:nvSpPr>
          <p:cNvPr id="11" name="Shape 9"/>
          <p:cNvSpPr/>
          <p:nvPr/>
        </p:nvSpPr>
        <p:spPr>
          <a:xfrm>
            <a:off x="502920" y="1581912"/>
            <a:ext cx="8129016" cy="0"/>
          </a:xfrm>
          <a:prstGeom prst="line">
            <a:avLst/>
          </a:prstGeom>
          <a:noFill/>
          <a:ln w="12700">
            <a:solidFill>
              <a:srgbClr val="9A94AE"/>
            </a:solidFill>
            <a:prstDash val="solid"/>
          </a:ln>
        </p:spPr>
      </p:sp>
      <p:sp>
        <p:nvSpPr>
          <p:cNvPr id="12" name="Text 10"/>
          <p:cNvSpPr/>
          <p:nvPr/>
        </p:nvSpPr>
        <p:spPr>
          <a:xfrm>
            <a:off x="502920" y="1581912"/>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 hạt giống 101</a:t>
            </a:r>
            <a:endParaRPr lang="en-US" sz="1150" dirty="0"/>
          </a:p>
        </p:txBody>
      </p:sp>
      <p:sp>
        <p:nvSpPr>
          <p:cNvPr id="13" name="Text 11"/>
          <p:cNvSpPr/>
          <p:nvPr/>
        </p:nvSpPr>
        <p:spPr>
          <a:xfrm>
            <a:off x="2880360" y="1581912"/>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006666"/>
                </a:solidFill>
                <a:latin typeface="Cambria" pitchFamily="34" charset="0"/>
                <a:ea typeface="Cambria" pitchFamily="34" charset="-122"/>
                <a:cs typeface="Cambria" pitchFamily="34" charset="-120"/>
              </a:rPr>
              <a:t>đã chạy</a:t>
            </a:r>
            <a:endParaRPr lang="en-US" sz="1150" dirty="0"/>
          </a:p>
        </p:txBody>
      </p:sp>
      <p:sp>
        <p:nvSpPr>
          <p:cNvPr id="14" name="Text 12"/>
          <p:cNvSpPr/>
          <p:nvPr/>
        </p:nvSpPr>
        <p:spPr>
          <a:xfrm>
            <a:off x="4526280" y="1581912"/>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một hạt giống, −1,93 điểm so với nhánh nền</a:t>
            </a:r>
            <a:endParaRPr lang="en-US" sz="1150" dirty="0"/>
          </a:p>
        </p:txBody>
      </p:sp>
      <p:sp>
        <p:nvSpPr>
          <p:cNvPr id="15" name="Shape 13"/>
          <p:cNvSpPr/>
          <p:nvPr/>
        </p:nvSpPr>
        <p:spPr>
          <a:xfrm>
            <a:off x="502920" y="2002536"/>
            <a:ext cx="8129016" cy="0"/>
          </a:xfrm>
          <a:prstGeom prst="line">
            <a:avLst/>
          </a:prstGeom>
          <a:noFill/>
          <a:ln w="12700">
            <a:solidFill>
              <a:srgbClr val="9A94AE"/>
            </a:solidFill>
            <a:prstDash val="solid"/>
          </a:ln>
        </p:spPr>
      </p:sp>
      <p:sp>
        <p:nvSpPr>
          <p:cNvPr id="16" name="Text 14"/>
          <p:cNvSpPr/>
          <p:nvPr/>
        </p:nvSpPr>
        <p:spPr>
          <a:xfrm>
            <a:off x="502920" y="2002536"/>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 hạt giống 202</a:t>
            </a:r>
            <a:endParaRPr lang="en-US" sz="1150" dirty="0"/>
          </a:p>
        </p:txBody>
      </p:sp>
      <p:sp>
        <p:nvSpPr>
          <p:cNvPr id="17" name="Text 15"/>
          <p:cNvSpPr/>
          <p:nvPr/>
        </p:nvSpPr>
        <p:spPr>
          <a:xfrm>
            <a:off x="2880360" y="2002536"/>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huỷ</a:t>
            </a:r>
            <a:endParaRPr lang="en-US" sz="1150" dirty="0"/>
          </a:p>
        </p:txBody>
      </p:sp>
      <p:sp>
        <p:nvSpPr>
          <p:cNvPr id="18" name="Text 16"/>
          <p:cNvSpPr/>
          <p:nvPr/>
        </p:nvSpPr>
        <p:spPr>
          <a:xfrm>
            <a:off x="4526280" y="2002536"/>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ngân sách máy; đại lượng chính không hoàn tất</a:t>
            </a:r>
            <a:endParaRPr lang="en-US" sz="1150" dirty="0"/>
          </a:p>
        </p:txBody>
      </p:sp>
      <p:sp>
        <p:nvSpPr>
          <p:cNvPr id="19" name="Shape 17"/>
          <p:cNvSpPr/>
          <p:nvPr/>
        </p:nvSpPr>
        <p:spPr>
          <a:xfrm>
            <a:off x="502920" y="2423160"/>
            <a:ext cx="8129016" cy="0"/>
          </a:xfrm>
          <a:prstGeom prst="line">
            <a:avLst/>
          </a:prstGeom>
          <a:noFill/>
          <a:ln w="12700">
            <a:solidFill>
              <a:srgbClr val="9A94AE"/>
            </a:solidFill>
            <a:prstDash val="solid"/>
          </a:ln>
        </p:spPr>
      </p:sp>
      <p:sp>
        <p:nvSpPr>
          <p:cNvPr id="20" name="Text 18"/>
          <p:cNvSpPr/>
          <p:nvPr/>
        </p:nvSpPr>
        <p:spPr>
          <a:xfrm>
            <a:off x="502920" y="2423160"/>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CE2-S2 và MIN-DESC</a:t>
            </a:r>
            <a:endParaRPr lang="en-US" sz="1150" dirty="0"/>
          </a:p>
        </p:txBody>
      </p:sp>
      <p:sp>
        <p:nvSpPr>
          <p:cNvPr id="21" name="Text 19"/>
          <p:cNvSpPr/>
          <p:nvPr/>
        </p:nvSpPr>
        <p:spPr>
          <a:xfrm>
            <a:off x="2880360" y="2423160"/>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006666"/>
                </a:solidFill>
                <a:latin typeface="Cambria" pitchFamily="34" charset="0"/>
                <a:ea typeface="Cambria" pitchFamily="34" charset="-122"/>
                <a:cs typeface="Cambria" pitchFamily="34" charset="-120"/>
              </a:rPr>
              <a:t>đã chạy</a:t>
            </a:r>
            <a:endParaRPr lang="en-US" sz="1150" dirty="0"/>
          </a:p>
        </p:txBody>
      </p:sp>
      <p:sp>
        <p:nvSpPr>
          <p:cNvPr id="22" name="Text 20"/>
          <p:cNvSpPr/>
          <p:nvPr/>
        </p:nvSpPr>
        <p:spPr>
          <a:xfrm>
            <a:off x="4526280" y="2423160"/>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một hạt giống mỗi nhánh</a:t>
            </a:r>
            <a:endParaRPr lang="en-US" sz="1150" dirty="0"/>
          </a:p>
        </p:txBody>
      </p:sp>
      <p:sp>
        <p:nvSpPr>
          <p:cNvPr id="23" name="Shape 21"/>
          <p:cNvSpPr/>
          <p:nvPr/>
        </p:nvSpPr>
        <p:spPr>
          <a:xfrm>
            <a:off x="502920" y="2843784"/>
            <a:ext cx="8129016" cy="0"/>
          </a:xfrm>
          <a:prstGeom prst="line">
            <a:avLst/>
          </a:prstGeom>
          <a:noFill/>
          <a:ln w="12700">
            <a:solidFill>
              <a:srgbClr val="9A94AE"/>
            </a:solidFill>
            <a:prstDash val="solid"/>
          </a:ln>
        </p:spPr>
      </p:sp>
      <p:sp>
        <p:nvSpPr>
          <p:cNvPr id="24" name="Text 22"/>
          <p:cNvSpPr/>
          <p:nvPr/>
        </p:nvSpPr>
        <p:spPr>
          <a:xfrm>
            <a:off x="502920" y="2843784"/>
            <a:ext cx="2377440"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S2r</a:t>
            </a:r>
            <a:endParaRPr lang="en-US" sz="1150" dirty="0"/>
          </a:p>
        </p:txBody>
      </p:sp>
      <p:sp>
        <p:nvSpPr>
          <p:cNvPr id="25" name="Text 23"/>
          <p:cNvSpPr/>
          <p:nvPr/>
        </p:nvSpPr>
        <p:spPr>
          <a:xfrm>
            <a:off x="2880360" y="2843784"/>
            <a:ext cx="1645920" cy="457200"/>
          </a:xfrm>
          <a:prstGeom prst="rect">
            <a:avLst/>
          </a:prstGeom>
          <a:noFill/>
          <a:ln/>
        </p:spPr>
        <p:txBody>
          <a:bodyPr wrap="square" lIns="38100" tIns="38100" rIns="38100" bIns="38100" rtlCol="0" anchor="ctr"/>
          <a:lstStyle/>
          <a:p>
            <a:pPr algn="ctr" indent="0" marL="0">
              <a:buNone/>
            </a:pPr>
            <a:r>
              <a:rPr lang="en-US" sz="1150" b="1" dirty="0">
                <a:solidFill>
                  <a:srgbClr val="990000"/>
                </a:solidFill>
                <a:latin typeface="Cambria" pitchFamily="34" charset="0"/>
                <a:ea typeface="Cambria" pitchFamily="34" charset="-122"/>
                <a:cs typeface="Cambria" pitchFamily="34" charset="-120"/>
              </a:rPr>
              <a:t>không chạy</a:t>
            </a:r>
            <a:endParaRPr lang="en-US" sz="1150" dirty="0"/>
          </a:p>
        </p:txBody>
      </p:sp>
      <p:sp>
        <p:nvSpPr>
          <p:cNvPr id="26" name="Text 24"/>
          <p:cNvSpPr/>
          <p:nvPr/>
        </p:nvSpPr>
        <p:spPr>
          <a:xfrm>
            <a:off x="4526280" y="2843784"/>
            <a:ext cx="4105656"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được thiết kế để chắc chắn thua nên giá trị thông tin thấp</a:t>
            </a:r>
            <a:endParaRPr lang="en-US" sz="1150" dirty="0"/>
          </a:p>
        </p:txBody>
      </p:sp>
      <p:sp>
        <p:nvSpPr>
          <p:cNvPr id="27" name="Shape 25"/>
          <p:cNvSpPr/>
          <p:nvPr/>
        </p:nvSpPr>
        <p:spPr>
          <a:xfrm>
            <a:off x="502920" y="3300984"/>
            <a:ext cx="8129016" cy="0"/>
          </a:xfrm>
          <a:prstGeom prst="line">
            <a:avLst/>
          </a:prstGeom>
          <a:noFill/>
          <a:ln w="12700">
            <a:solidFill>
              <a:srgbClr val="9A94AE"/>
            </a:solidFill>
            <a:prstDash val="solid"/>
          </a:ln>
        </p:spPr>
      </p:sp>
      <p:sp>
        <p:nvSpPr>
          <p:cNvPr id="28" name="Text 26"/>
          <p:cNvSpPr/>
          <p:nvPr/>
        </p:nvSpPr>
        <p:spPr>
          <a:xfrm>
            <a:off x="502920" y="3300984"/>
            <a:ext cx="2377440"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S2-nopoint</a:t>
            </a:r>
            <a:endParaRPr lang="en-US" sz="1150" dirty="0"/>
          </a:p>
        </p:txBody>
      </p:sp>
      <p:sp>
        <p:nvSpPr>
          <p:cNvPr id="29" name="Text 27"/>
          <p:cNvSpPr/>
          <p:nvPr/>
        </p:nvSpPr>
        <p:spPr>
          <a:xfrm>
            <a:off x="2880360" y="3300984"/>
            <a:ext cx="1645920" cy="457200"/>
          </a:xfrm>
          <a:prstGeom prst="rect">
            <a:avLst/>
          </a:prstGeom>
          <a:noFill/>
          <a:ln/>
        </p:spPr>
        <p:txBody>
          <a:bodyPr wrap="square" lIns="38100" tIns="38100" rIns="38100" bIns="38100" rtlCol="0" anchor="ctr"/>
          <a:lstStyle/>
          <a:p>
            <a:pPr algn="ctr" indent="0" marL="0">
              <a:buNone/>
            </a:pPr>
            <a:r>
              <a:rPr lang="en-US" sz="1150" b="1" dirty="0">
                <a:solidFill>
                  <a:srgbClr val="990000"/>
                </a:solidFill>
                <a:latin typeface="Cambria" pitchFamily="34" charset="0"/>
                <a:ea typeface="Cambria" pitchFamily="34" charset="-122"/>
                <a:cs typeface="Cambria" pitchFamily="34" charset="-120"/>
              </a:rPr>
              <a:t>không chạy</a:t>
            </a:r>
            <a:endParaRPr lang="en-US" sz="1150" dirty="0"/>
          </a:p>
        </p:txBody>
      </p:sp>
      <p:sp>
        <p:nvSpPr>
          <p:cNvPr id="30" name="Text 28"/>
          <p:cNvSpPr/>
          <p:nvPr/>
        </p:nvSpPr>
        <p:spPr>
          <a:xfrm>
            <a:off x="4526280" y="3300984"/>
            <a:ext cx="4105656" cy="457200"/>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chi phí gấp đôi chặng hai, mà ô toạ độ đã đo được là ô có ích</a:t>
            </a:r>
            <a:endParaRPr lang="en-US" sz="1150" dirty="0"/>
          </a:p>
        </p:txBody>
      </p:sp>
      <p:sp>
        <p:nvSpPr>
          <p:cNvPr id="31" name="Shape 29"/>
          <p:cNvSpPr/>
          <p:nvPr/>
        </p:nvSpPr>
        <p:spPr>
          <a:xfrm>
            <a:off x="502920" y="3758184"/>
            <a:ext cx="8129016" cy="0"/>
          </a:xfrm>
          <a:prstGeom prst="line">
            <a:avLst/>
          </a:prstGeom>
          <a:noFill/>
          <a:ln w="12700">
            <a:solidFill>
              <a:srgbClr val="9A94AE"/>
            </a:solidFill>
            <a:prstDash val="solid"/>
          </a:ln>
        </p:spPr>
      </p:sp>
      <p:sp>
        <p:nvSpPr>
          <p:cNvPr id="32" name="Text 30"/>
          <p:cNvSpPr/>
          <p:nvPr/>
        </p:nvSpPr>
        <p:spPr>
          <a:xfrm>
            <a:off x="502920" y="3758184"/>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MIN-ONPOLICY</a:t>
            </a:r>
            <a:endParaRPr lang="en-US" sz="1150" dirty="0"/>
          </a:p>
        </p:txBody>
      </p:sp>
      <p:sp>
        <p:nvSpPr>
          <p:cNvPr id="33" name="Text 31"/>
          <p:cNvSpPr/>
          <p:nvPr/>
        </p:nvSpPr>
        <p:spPr>
          <a:xfrm>
            <a:off x="2880360" y="3758184"/>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dừng</a:t>
            </a:r>
            <a:endParaRPr lang="en-US" sz="1150" dirty="0"/>
          </a:p>
        </p:txBody>
      </p:sp>
      <p:sp>
        <p:nvSpPr>
          <p:cNvPr id="34" name="Text 32"/>
          <p:cNvSpPr/>
          <p:nvPr/>
        </p:nvSpPr>
        <p:spPr>
          <a:xfrm>
            <a:off x="4526280" y="3758184"/>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dựng dữ liệu xong nhưng không đạt tiêu chí khả thi</a:t>
            </a:r>
            <a:endParaRPr lang="en-US" sz="1150" dirty="0"/>
          </a:p>
        </p:txBody>
      </p:sp>
      <p:sp>
        <p:nvSpPr>
          <p:cNvPr id="35" name="Shape 33"/>
          <p:cNvSpPr/>
          <p:nvPr/>
        </p:nvSpPr>
        <p:spPr>
          <a:xfrm>
            <a:off x="502920" y="4178808"/>
            <a:ext cx="8129016" cy="0"/>
          </a:xfrm>
          <a:prstGeom prst="line">
            <a:avLst/>
          </a:prstGeom>
          <a:noFill/>
          <a:ln w="12700">
            <a:solidFill>
              <a:srgbClr val="9A94AE"/>
            </a:solidFill>
            <a:prstDash val="solid"/>
          </a:ln>
        </p:spPr>
      </p:sp>
      <p:sp>
        <p:nvSpPr>
          <p:cNvPr id="36" name="Text 34"/>
          <p:cNvSpPr/>
          <p:nvPr/>
        </p:nvSpPr>
        <p:spPr>
          <a:xfrm>
            <a:off x="502920" y="4178808"/>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Nhánh ứng viên, hạt 101</a:t>
            </a:r>
            <a:endParaRPr lang="en-US" sz="1150" dirty="0"/>
          </a:p>
        </p:txBody>
      </p:sp>
      <p:sp>
        <p:nvSpPr>
          <p:cNvPr id="37" name="Text 35"/>
          <p:cNvSpPr/>
          <p:nvPr/>
        </p:nvSpPr>
        <p:spPr>
          <a:xfrm>
            <a:off x="2880360" y="4178808"/>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006666"/>
                </a:solidFill>
                <a:latin typeface="Cambria" pitchFamily="34" charset="0"/>
                <a:ea typeface="Cambria" pitchFamily="34" charset="-122"/>
                <a:cs typeface="Cambria" pitchFamily="34" charset="-120"/>
              </a:rPr>
              <a:t>đã chạy</a:t>
            </a:r>
            <a:endParaRPr lang="en-US" sz="1150" dirty="0"/>
          </a:p>
        </p:txBody>
      </p:sp>
      <p:sp>
        <p:nvSpPr>
          <p:cNvPr id="38" name="Text 36"/>
          <p:cNvSpPr/>
          <p:nvPr/>
        </p:nvSpPr>
        <p:spPr>
          <a:xfrm>
            <a:off x="4526280" y="4178808"/>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không đạt ngưỡng chọn; executability 56,1, một hạt giống</a:t>
            </a:r>
            <a:endParaRPr lang="en-US" sz="1150" dirty="0"/>
          </a:p>
        </p:txBody>
      </p:sp>
      <p:sp>
        <p:nvSpPr>
          <p:cNvPr id="39" name="Shape 37"/>
          <p:cNvSpPr/>
          <p:nvPr/>
        </p:nvSpPr>
        <p:spPr>
          <a:xfrm>
            <a:off x="502920" y="4599432"/>
            <a:ext cx="8129016" cy="0"/>
          </a:xfrm>
          <a:prstGeom prst="line">
            <a:avLst/>
          </a:prstGeom>
          <a:noFill/>
          <a:ln w="12700">
            <a:solidFill>
              <a:srgbClr val="9A94AE"/>
            </a:solidFill>
            <a:prstDash val="solid"/>
          </a:ln>
        </p:spPr>
      </p:sp>
      <p:sp>
        <p:nvSpPr>
          <p:cNvPr id="40" name="Text 38"/>
          <p:cNvSpPr/>
          <p:nvPr/>
        </p:nvSpPr>
        <p:spPr>
          <a:xfrm>
            <a:off x="502920" y="4599432"/>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Nhánh so sánh cùng đầu vào</a:t>
            </a:r>
            <a:endParaRPr lang="en-US" sz="1150" dirty="0"/>
          </a:p>
        </p:txBody>
      </p:sp>
      <p:sp>
        <p:nvSpPr>
          <p:cNvPr id="41" name="Text 39"/>
          <p:cNvSpPr/>
          <p:nvPr/>
        </p:nvSpPr>
        <p:spPr>
          <a:xfrm>
            <a:off x="2880360" y="4599432"/>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huỷ</a:t>
            </a:r>
            <a:endParaRPr lang="en-US" sz="1150" dirty="0"/>
          </a:p>
        </p:txBody>
      </p:sp>
      <p:sp>
        <p:nvSpPr>
          <p:cNvPr id="42" name="Text 40"/>
          <p:cNvSpPr/>
          <p:nvPr/>
        </p:nvSpPr>
        <p:spPr>
          <a:xfrm>
            <a:off x="4526280" y="4599432"/>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ngân sách 5/9; không quy công được cho danh sách ứng viên</a:t>
            </a:r>
            <a:endParaRPr lang="en-US" sz="1150" dirty="0"/>
          </a:p>
        </p:txBody>
      </p:sp>
      <p:sp>
        <p:nvSpPr>
          <p:cNvPr id="43" name="Shape 41"/>
          <p:cNvSpPr/>
          <p:nvPr/>
        </p:nvSpPr>
        <p:spPr>
          <a:xfrm>
            <a:off x="502920" y="5020056"/>
            <a:ext cx="8129016" cy="0"/>
          </a:xfrm>
          <a:prstGeom prst="line">
            <a:avLst/>
          </a:prstGeom>
          <a:noFill/>
          <a:ln w="12700">
            <a:solidFill>
              <a:srgbClr val="9A94AE"/>
            </a:solidFill>
            <a:prstDash val="solid"/>
          </a:ln>
        </p:spPr>
      </p:sp>
      <p:sp>
        <p:nvSpPr>
          <p:cNvPr id="44" name="Text 42"/>
          <p:cNvSpPr/>
          <p:nvPr/>
        </p:nvSpPr>
        <p:spPr>
          <a:xfrm>
            <a:off x="502920" y="5020056"/>
            <a:ext cx="2377440"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Ngưỡng bỏ cuộc τ</a:t>
            </a:r>
            <a:endParaRPr lang="en-US" sz="1150" dirty="0"/>
          </a:p>
        </p:txBody>
      </p:sp>
      <p:sp>
        <p:nvSpPr>
          <p:cNvPr id="45" name="Text 43"/>
          <p:cNvSpPr/>
          <p:nvPr/>
        </p:nvSpPr>
        <p:spPr>
          <a:xfrm>
            <a:off x="2880360" y="5020056"/>
            <a:ext cx="1645920" cy="420624"/>
          </a:xfrm>
          <a:prstGeom prst="rect">
            <a:avLst/>
          </a:prstGeom>
          <a:noFill/>
          <a:ln/>
        </p:spPr>
        <p:txBody>
          <a:bodyPr wrap="square" lIns="38100" tIns="38100" rIns="38100" bIns="38100" rtlCol="0" anchor="ctr"/>
          <a:lstStyle/>
          <a:p>
            <a:pPr algn="ctr" indent="0" marL="0">
              <a:buNone/>
            </a:pPr>
            <a:r>
              <a:rPr lang="en-US" sz="1150" b="1" dirty="0">
                <a:solidFill>
                  <a:srgbClr val="990000"/>
                </a:solidFill>
                <a:latin typeface="Cambria" pitchFamily="34" charset="0"/>
                <a:ea typeface="Cambria" pitchFamily="34" charset="-122"/>
                <a:cs typeface="Cambria" pitchFamily="34" charset="-120"/>
              </a:rPr>
              <a:t>xong, giữ nguyên thắng</a:t>
            </a:r>
            <a:endParaRPr lang="en-US" sz="1150" dirty="0"/>
          </a:p>
        </p:txBody>
      </p:sp>
      <p:sp>
        <p:nvSpPr>
          <p:cNvPr id="46" name="Text 44"/>
          <p:cNvSpPr/>
          <p:nvPr/>
        </p:nvSpPr>
        <p:spPr>
          <a:xfrm>
            <a:off x="4526280" y="5020056"/>
            <a:ext cx="4105656" cy="42062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tốt nhất +8/1.400, dưới ngưỡng</a:t>
            </a:r>
            <a:endParaRPr lang="en-US" sz="1150" dirty="0"/>
          </a:p>
        </p:txBody>
      </p:sp>
      <p:sp>
        <p:nvSpPr>
          <p:cNvPr id="47" name="Shape 45"/>
          <p:cNvSpPr/>
          <p:nvPr/>
        </p:nvSpPr>
        <p:spPr>
          <a:xfrm>
            <a:off x="502920" y="5577840"/>
            <a:ext cx="8138160" cy="685800"/>
          </a:xfrm>
          <a:prstGeom prst="roundRect">
            <a:avLst>
              <a:gd name="adj" fmla="val 8000"/>
            </a:avLst>
          </a:prstGeom>
          <a:solidFill>
            <a:srgbClr val="E9E8EC"/>
          </a:solidFill>
          <a:ln/>
          <a:effectLst>
            <a:outerShdw sx="100000" sy="100000" kx="0" ky="0" algn="bl" rotWithShape="0" blurRad="63500" dist="31750" dir="2700000">
              <a:srgbClr val="8C8C99">
                <a:alpha val="45000"/>
              </a:srgbClr>
            </a:outerShdw>
          </a:effectLst>
        </p:spPr>
      </p:sp>
      <p:sp>
        <p:nvSpPr>
          <p:cNvPr id="48" name="Text 46"/>
          <p:cNvSpPr/>
          <p:nvPr/>
        </p:nvSpPr>
        <p:spPr>
          <a:xfrm>
            <a:off x="731520" y="5577840"/>
            <a:ext cx="7680960" cy="685800"/>
          </a:xfrm>
          <a:prstGeom prst="rect">
            <a:avLst/>
          </a:prstGeom>
          <a:noFill/>
          <a:ln/>
        </p:spPr>
        <p:txBody>
          <a:bodyPr wrap="square" lIns="0" tIns="0" rIns="0" bIns="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Luận văn báo mọi nhánh, kể cả nhánh dừng ở tiêu chí khả thi và kể cả khi số ra xấu.</a:t>
            </a:r>
            <a:endParaRPr lang="en-US" sz="1250" dirty="0"/>
          </a:p>
        </p:txBody>
      </p:sp>
      <p:sp>
        <p:nvSpPr>
          <p:cNvPr id="49" name="Shape 47"/>
          <p:cNvSpPr/>
          <p:nvPr/>
        </p:nvSpPr>
        <p:spPr>
          <a:xfrm>
            <a:off x="0" y="6620256"/>
            <a:ext cx="2743200" cy="237744"/>
          </a:xfrm>
          <a:prstGeom prst="rect">
            <a:avLst/>
          </a:prstGeom>
          <a:solidFill>
            <a:srgbClr val="191132"/>
          </a:solidFill>
          <a:ln/>
        </p:spPr>
      </p:sp>
      <p:sp>
        <p:nvSpPr>
          <p:cNvPr id="50" name="Shape 48"/>
          <p:cNvSpPr/>
          <p:nvPr/>
        </p:nvSpPr>
        <p:spPr>
          <a:xfrm>
            <a:off x="2743200" y="6620256"/>
            <a:ext cx="3383280" cy="237744"/>
          </a:xfrm>
          <a:prstGeom prst="rect">
            <a:avLst/>
          </a:prstGeom>
          <a:solidFill>
            <a:srgbClr val="25194B"/>
          </a:solidFill>
          <a:ln/>
        </p:spPr>
      </p:sp>
      <p:sp>
        <p:nvSpPr>
          <p:cNvPr id="51" name="Shape 49"/>
          <p:cNvSpPr/>
          <p:nvPr/>
        </p:nvSpPr>
        <p:spPr>
          <a:xfrm>
            <a:off x="6126480" y="6620256"/>
            <a:ext cx="1737360" cy="237744"/>
          </a:xfrm>
          <a:prstGeom prst="rect">
            <a:avLst/>
          </a:prstGeom>
          <a:solidFill>
            <a:srgbClr val="4F417A"/>
          </a:solidFill>
          <a:ln/>
        </p:spPr>
      </p:sp>
      <p:sp>
        <p:nvSpPr>
          <p:cNvPr id="52" name="Shape 50"/>
          <p:cNvSpPr/>
          <p:nvPr/>
        </p:nvSpPr>
        <p:spPr>
          <a:xfrm>
            <a:off x="7863840" y="6620256"/>
            <a:ext cx="1280160" cy="237744"/>
          </a:xfrm>
          <a:prstGeom prst="rect">
            <a:avLst/>
          </a:prstGeom>
          <a:solidFill>
            <a:srgbClr val="7A7099"/>
          </a:solidFill>
          <a:ln/>
        </p:spPr>
      </p:sp>
      <p:sp>
        <p:nvSpPr>
          <p:cNvPr id="53" name="Text 5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54" name="Text 5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55" name="Text 5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6" name="Text 5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7</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Một biến thể đã thiết kế nhưng không dựng được dữ liệu</a:t>
            </a:r>
            <a:endParaRPr lang="en-US" sz="1900" dirty="0"/>
          </a:p>
        </p:txBody>
      </p:sp>
      <p:sp>
        <p:nvSpPr>
          <p:cNvPr id="4" name="Text 2"/>
          <p:cNvSpPr/>
          <p:nvPr/>
        </p:nvSpPr>
        <p:spPr>
          <a:xfrm>
            <a:off x="502920" y="960120"/>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5" name="Text 3"/>
          <p:cNvSpPr/>
          <p:nvPr/>
        </p:nvSpPr>
        <p:spPr>
          <a:xfrm>
            <a:off x="731520" y="960120"/>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Ý tưởng là thay khai báo sai lấy từ phần tử cạnh bên bằng chính khai báo sai mà mô hình đã sinh ra</a:t>
            </a:r>
            <a:endParaRPr lang="en-US" sz="1300" dirty="0"/>
          </a:p>
        </p:txBody>
      </p:sp>
      <p:sp>
        <p:nvSpPr>
          <p:cNvPr id="6" name="Text 4"/>
          <p:cNvSpPr/>
          <p:nvPr/>
        </p:nvSpPr>
        <p:spPr>
          <a:xfrm>
            <a:off x="502920" y="1892808"/>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7" name="Text 5"/>
          <p:cNvSpPr/>
          <p:nvPr/>
        </p:nvSpPr>
        <p:spPr>
          <a:xfrm>
            <a:off x="731520" y="1892808"/>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Dữ liệu đã dựng thật: 14.000 màn, chỉ được 459 cặp, tức 3,3% so với ngưỡng khả thi 25%</a:t>
            </a:r>
            <a:endParaRPr lang="en-US" sz="1300" dirty="0"/>
          </a:p>
        </p:txBody>
      </p:sp>
      <p:sp>
        <p:nvSpPr>
          <p:cNvPr id="8" name="Text 6"/>
          <p:cNvSpPr/>
          <p:nvPr/>
        </p:nvSpPr>
        <p:spPr>
          <a:xfrm>
            <a:off x="502920" y="2825496"/>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9" name="Text 7"/>
          <p:cNvSpPr/>
          <p:nvPr/>
        </p:nvSpPr>
        <p:spPr>
          <a:xfrm>
            <a:off x="731520" y="2825496"/>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Ngưỡng này đặt trên tỉ lệ chứ không phải trên số lượng, nên sinh thêm dữ liệu không thay đổi kết luận</a:t>
            </a:r>
            <a:endParaRPr lang="en-US" sz="1300" dirty="0"/>
          </a:p>
        </p:txBody>
      </p:sp>
      <p:sp>
        <p:nvSpPr>
          <p:cNvPr id="10" name="Text 8"/>
          <p:cNvSpPr/>
          <p:nvPr/>
        </p:nvSpPr>
        <p:spPr>
          <a:xfrm>
            <a:off x="502920" y="3758184"/>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1" name="Text 9"/>
          <p:cNvSpPr/>
          <p:nvPr/>
        </p:nvSpPr>
        <p:spPr>
          <a:xfrm>
            <a:off x="731520" y="3758184"/>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Khoảng cách tới phần tử người dùng đã chạm có trung vị 351 điểm ảnh, 76,5% ngoài dải 80 đến 350</a:t>
            </a:r>
            <a:endParaRPr lang="en-US" sz="1300" dirty="0"/>
          </a:p>
        </p:txBody>
      </p:sp>
      <p:sp>
        <p:nvSpPr>
          <p:cNvPr id="12" name="Text 10"/>
          <p:cNvSpPr/>
          <p:nvPr/>
        </p:nvSpPr>
        <p:spPr>
          <a:xfrm>
            <a:off x="502920" y="4690872"/>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3" name="Text 11"/>
          <p:cNvSpPr/>
          <p:nvPr/>
        </p:nvSpPr>
        <p:spPr>
          <a:xfrm>
            <a:off x="731520" y="4690872"/>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Lỗi khai báo có hai cực: gọi đúng phần tử bằng tên khác, hoặc nhìn sang vùng khác hẳn</a:t>
            </a:r>
            <a:endParaRPr lang="en-US" sz="1300" dirty="0"/>
          </a:p>
        </p:txBody>
      </p:sp>
      <p:sp>
        <p:nvSpPr>
          <p:cNvPr id="14" name="Shape 12"/>
          <p:cNvSpPr/>
          <p:nvPr/>
        </p:nvSpPr>
        <p:spPr>
          <a:xfrm>
            <a:off x="0" y="6620256"/>
            <a:ext cx="2743200" cy="237744"/>
          </a:xfrm>
          <a:prstGeom prst="rect">
            <a:avLst/>
          </a:prstGeom>
          <a:solidFill>
            <a:srgbClr val="191132"/>
          </a:solidFill>
          <a:ln/>
        </p:spPr>
      </p:sp>
      <p:sp>
        <p:nvSpPr>
          <p:cNvPr id="15" name="Shape 13"/>
          <p:cNvSpPr/>
          <p:nvPr/>
        </p:nvSpPr>
        <p:spPr>
          <a:xfrm>
            <a:off x="2743200" y="6620256"/>
            <a:ext cx="3383280" cy="237744"/>
          </a:xfrm>
          <a:prstGeom prst="rect">
            <a:avLst/>
          </a:prstGeom>
          <a:solidFill>
            <a:srgbClr val="25194B"/>
          </a:solidFill>
          <a:ln/>
        </p:spPr>
      </p:sp>
      <p:sp>
        <p:nvSpPr>
          <p:cNvPr id="16" name="Shape 14"/>
          <p:cNvSpPr/>
          <p:nvPr/>
        </p:nvSpPr>
        <p:spPr>
          <a:xfrm>
            <a:off x="6126480" y="6620256"/>
            <a:ext cx="1737360" cy="237744"/>
          </a:xfrm>
          <a:prstGeom prst="rect">
            <a:avLst/>
          </a:prstGeom>
          <a:solidFill>
            <a:srgbClr val="4F417A"/>
          </a:solidFill>
          <a:ln/>
        </p:spPr>
      </p:sp>
      <p:sp>
        <p:nvSpPr>
          <p:cNvPr id="17" name="Shape 15"/>
          <p:cNvSpPr/>
          <p:nvPr/>
        </p:nvSpPr>
        <p:spPr>
          <a:xfrm>
            <a:off x="7863840" y="6620256"/>
            <a:ext cx="1280160" cy="237744"/>
          </a:xfrm>
          <a:prstGeom prst="rect">
            <a:avLst/>
          </a:prstGeom>
          <a:solidFill>
            <a:srgbClr val="7A7099"/>
          </a:solidFill>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8</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Vùng mù của thước, theo cả hai chiều</a:t>
            </a:r>
            <a:endParaRPr lang="en-US" sz="1900" dirty="0"/>
          </a:p>
        </p:txBody>
      </p:sp>
      <p:sp>
        <p:nvSpPr>
          <p:cNvPr id="4" name="Text 2"/>
          <p:cNvSpPr/>
          <p:nvPr/>
        </p:nvSpPr>
        <p:spPr>
          <a:xfrm>
            <a:off x="502920" y="960120"/>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5" name="Text 3"/>
          <p:cNvSpPr/>
          <p:nvPr/>
        </p:nvSpPr>
        <p:spPr>
          <a:xfrm>
            <a:off x="731520" y="960120"/>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Theo chiều bỏ sót, thước không phát hiện được độ lệch dưới khoảng 63 điểm ảnh</a:t>
            </a:r>
            <a:endParaRPr lang="en-US" sz="1300" dirty="0"/>
          </a:p>
        </p:txBody>
      </p:sp>
      <p:sp>
        <p:nvSpPr>
          <p:cNvPr id="6" name="Text 4"/>
          <p:cNvSpPr/>
          <p:nvPr/>
        </p:nvSpPr>
        <p:spPr>
          <a:xfrm>
            <a:off x="502920" y="1892808"/>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7" name="Text 5"/>
          <p:cNvSpPr/>
          <p:nvPr/>
        </p:nvSpPr>
        <p:spPr>
          <a:xfrm>
            <a:off x="731520" y="1892808"/>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Theo chiều kết oan, 1.083 bước mà chính câu chuẩn cũng không đạt, 72% do dụng cụ sai quá 14% bề màn</a:t>
            </a:r>
            <a:endParaRPr lang="en-US" sz="1300" dirty="0"/>
          </a:p>
        </p:txBody>
      </p:sp>
      <p:sp>
        <p:nvSpPr>
          <p:cNvPr id="8" name="Text 6"/>
          <p:cNvSpPr/>
          <p:nvPr/>
        </p:nvSpPr>
        <p:spPr>
          <a:xfrm>
            <a:off x="502920" y="2825496"/>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9" name="Text 7"/>
          <p:cNvSpPr/>
          <p:nvPr/>
        </p:nvSpPr>
        <p:spPr>
          <a:xfrm>
            <a:off x="731520" y="2825496"/>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935 bước, tức 21% quần thể, cả ba nhánh đều không đạt. Trần 75,7% vì vậy phản ánh năng lực dụng cụ hơn là giới hạn ngôn ngữ</a:t>
            </a:r>
            <a:endParaRPr lang="en-US" sz="1300" dirty="0"/>
          </a:p>
        </p:txBody>
      </p:sp>
      <p:sp>
        <p:nvSpPr>
          <p:cNvPr id="10" name="Text 8"/>
          <p:cNvSpPr/>
          <p:nvPr/>
        </p:nvSpPr>
        <p:spPr>
          <a:xfrm>
            <a:off x="502920" y="3758184"/>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1" name="Text 9"/>
          <p:cNvSpPr/>
          <p:nvPr/>
        </p:nvSpPr>
        <p:spPr>
          <a:xfrm>
            <a:off x="731520" y="3758184"/>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Luật Voronoi chỉ chặt bằng độ đầy đủ của bộ liệt kê phần tử; phép gộp hộp xoá nhầm phần tử riêng biệt ở 8,2% số bước</a:t>
            </a:r>
            <a:endParaRPr lang="en-US" sz="1300" dirty="0"/>
          </a:p>
        </p:txBody>
      </p:sp>
      <p:sp>
        <p:nvSpPr>
          <p:cNvPr id="12" name="Text 10"/>
          <p:cNvSpPr/>
          <p:nvPr/>
        </p:nvSpPr>
        <p:spPr>
          <a:xfrm>
            <a:off x="502920" y="4690872"/>
            <a:ext cx="201168" cy="932688"/>
          </a:xfrm>
          <a:prstGeom prst="rect">
            <a:avLst/>
          </a:prstGeom>
          <a:noFill/>
          <a:ln/>
        </p:spPr>
        <p:txBody>
          <a:bodyPr wrap="square" lIns="0" tIns="0" rIns="0" bIns="0" rtlCol="0" anchor="t"/>
          <a:lstStyle/>
          <a:p>
            <a:pPr algn="l" indent="0" marL="0">
              <a:buNone/>
            </a:pPr>
            <a:r>
              <a:rPr lang="en-US" sz="1300" b="1" dirty="0">
                <a:solidFill>
                  <a:srgbClr val="006666"/>
                </a:solidFill>
                <a:latin typeface="Cambria" pitchFamily="34" charset="0"/>
                <a:ea typeface="Cambria" pitchFamily="34" charset="-122"/>
                <a:cs typeface="Cambria" pitchFamily="34" charset="-120"/>
              </a:rPr>
              <a:t>•</a:t>
            </a:r>
            <a:endParaRPr lang="en-US" sz="1300" dirty="0"/>
          </a:p>
        </p:txBody>
      </p:sp>
      <p:sp>
        <p:nvSpPr>
          <p:cNvPr id="13" name="Text 11"/>
          <p:cNvSpPr/>
          <p:nvPr/>
        </p:nvSpPr>
        <p:spPr>
          <a:xfrm>
            <a:off x="731520" y="4690872"/>
            <a:ext cx="7909560" cy="896112"/>
          </a:xfrm>
          <a:prstGeom prst="rect">
            <a:avLst/>
          </a:prstGeom>
          <a:noFill/>
          <a:ln/>
        </p:spPr>
        <p:txBody>
          <a:bodyPr wrap="square" lIns="0" tIns="0" rIns="0" bIns="0" rtlCol="0" anchor="t"/>
          <a:lstStyle/>
          <a:p>
            <a:pPr algn="l" indent="0" marL="0">
              <a:lnSpc>
                <a:spcPct val="130000"/>
              </a:lnSpc>
              <a:buNone/>
            </a:pPr>
            <a:r>
              <a:rPr lang="en-US" sz="1300" dirty="0">
                <a:solidFill>
                  <a:srgbClr val="1A1A1A"/>
                </a:solidFill>
                <a:latin typeface="Cambria" pitchFamily="34" charset="0"/>
                <a:ea typeface="Cambria" pitchFamily="34" charset="-122"/>
                <a:cs typeface="Cambria" pitchFamily="34" charset="-120"/>
              </a:rPr>
              <a:t>Mức câu chuẩn cũng không phải chặn trên tuyệt đối: hợp ba nhánh giải được 79,1% số bước</a:t>
            </a:r>
            <a:endParaRPr lang="en-US" sz="1300" dirty="0"/>
          </a:p>
        </p:txBody>
      </p:sp>
      <p:sp>
        <p:nvSpPr>
          <p:cNvPr id="14" name="Shape 12"/>
          <p:cNvSpPr/>
          <p:nvPr/>
        </p:nvSpPr>
        <p:spPr>
          <a:xfrm>
            <a:off x="0" y="6620256"/>
            <a:ext cx="2743200" cy="237744"/>
          </a:xfrm>
          <a:prstGeom prst="rect">
            <a:avLst/>
          </a:prstGeom>
          <a:solidFill>
            <a:srgbClr val="191132"/>
          </a:solidFill>
          <a:ln/>
        </p:spPr>
      </p:sp>
      <p:sp>
        <p:nvSpPr>
          <p:cNvPr id="15" name="Shape 13"/>
          <p:cNvSpPr/>
          <p:nvPr/>
        </p:nvSpPr>
        <p:spPr>
          <a:xfrm>
            <a:off x="2743200" y="6620256"/>
            <a:ext cx="3383280" cy="237744"/>
          </a:xfrm>
          <a:prstGeom prst="rect">
            <a:avLst/>
          </a:prstGeom>
          <a:solidFill>
            <a:srgbClr val="25194B"/>
          </a:solidFill>
          <a:ln/>
        </p:spPr>
      </p:sp>
      <p:sp>
        <p:nvSpPr>
          <p:cNvPr id="16" name="Shape 14"/>
          <p:cNvSpPr/>
          <p:nvPr/>
        </p:nvSpPr>
        <p:spPr>
          <a:xfrm>
            <a:off x="6126480" y="6620256"/>
            <a:ext cx="1737360" cy="237744"/>
          </a:xfrm>
          <a:prstGeom prst="rect">
            <a:avLst/>
          </a:prstGeom>
          <a:solidFill>
            <a:srgbClr val="4F417A"/>
          </a:solidFill>
          <a:ln/>
        </p:spPr>
      </p:sp>
      <p:sp>
        <p:nvSpPr>
          <p:cNvPr id="17" name="Shape 15"/>
          <p:cNvSpPr/>
          <p:nvPr/>
        </p:nvSpPr>
        <p:spPr>
          <a:xfrm>
            <a:off x="7863840" y="6620256"/>
            <a:ext cx="1280160" cy="237744"/>
          </a:xfrm>
          <a:prstGeom prst="rect">
            <a:avLst/>
          </a:prstGeom>
          <a:solidFill>
            <a:srgbClr val="7A7099"/>
          </a:solidFill>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9</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Cổng cơ học và thiệt hại ở bước không chạm</a:t>
            </a:r>
            <a:endParaRPr lang="en-US" sz="1900" dirty="0"/>
          </a:p>
        </p:txBody>
      </p:sp>
      <p:sp>
        <p:nvSpPr>
          <p:cNvPr id="4" name="Text 2"/>
          <p:cNvSpPr/>
          <p:nvPr/>
        </p:nvSpPr>
        <p:spPr>
          <a:xfrm>
            <a:off x="502920" y="777240"/>
            <a:ext cx="8138160" cy="274320"/>
          </a:xfrm>
          <a:prstGeom prst="rect">
            <a:avLst/>
          </a:prstGeom>
          <a:noFill/>
          <a:ln/>
        </p:spPr>
        <p:txBody>
          <a:bodyPr wrap="square" lIns="0" tIns="0" rIns="0" bIns="0" rtlCol="0" anchor="t"/>
          <a:lstStyle/>
          <a:p>
            <a:pPr algn="l" indent="0" marL="0">
              <a:buNone/>
            </a:pPr>
            <a:r>
              <a:rPr lang="en-US" sz="1200" i="1" dirty="0">
                <a:solidFill>
                  <a:srgbClr val="5A5A66"/>
                </a:solidFill>
                <a:latin typeface="Cambria" pitchFamily="34" charset="0"/>
                <a:ea typeface="Cambria" pitchFamily="34" charset="-122"/>
                <a:cs typeface="Cambria" pitchFamily="34" charset="-120"/>
              </a:rPr>
              <a:t>Cổng cơ học đo thẳng độ chính xác ô khai báo, không gọi mô hình định vị (3.473 bước)</a:t>
            </a:r>
            <a:endParaRPr lang="en-US" sz="1200" dirty="0"/>
          </a:p>
        </p:txBody>
      </p:sp>
      <p:sp>
        <p:nvSpPr>
          <p:cNvPr id="5" name="Shape 3"/>
          <p:cNvSpPr/>
          <p:nvPr/>
        </p:nvSpPr>
        <p:spPr>
          <a:xfrm>
            <a:off x="1005840" y="1143000"/>
            <a:ext cx="7132320" cy="384048"/>
          </a:xfrm>
          <a:prstGeom prst="rect">
            <a:avLst/>
          </a:prstGeom>
          <a:solidFill>
            <a:srgbClr val="322164"/>
          </a:solidFill>
          <a:ln/>
        </p:spPr>
      </p:sp>
      <p:sp>
        <p:nvSpPr>
          <p:cNvPr id="6" name="Text 4"/>
          <p:cNvSpPr/>
          <p:nvPr/>
        </p:nvSpPr>
        <p:spPr>
          <a:xfrm>
            <a:off x="1005840" y="1143000"/>
            <a:ext cx="274320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Điểm lưu</a:t>
            </a:r>
            <a:endParaRPr lang="en-US" sz="1200" dirty="0"/>
          </a:p>
        </p:txBody>
      </p:sp>
      <p:sp>
        <p:nvSpPr>
          <p:cNvPr id="7" name="Text 5"/>
          <p:cNvSpPr/>
          <p:nvPr/>
        </p:nvSpPr>
        <p:spPr>
          <a:xfrm>
            <a:off x="3749040" y="1143000"/>
            <a:ext cx="173736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Khai báo đúng</a:t>
            </a:r>
            <a:endParaRPr lang="en-US" sz="1200" dirty="0"/>
          </a:p>
        </p:txBody>
      </p:sp>
      <p:sp>
        <p:nvSpPr>
          <p:cNvPr id="8" name="Text 6"/>
          <p:cNvSpPr/>
          <p:nvPr/>
        </p:nvSpPr>
        <p:spPr>
          <a:xfrm>
            <a:off x="5486400" y="1143000"/>
            <a:ext cx="265176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Phần tăng thuộc về</a:t>
            </a:r>
            <a:endParaRPr lang="en-US" sz="1200" dirty="0"/>
          </a:p>
        </p:txBody>
      </p:sp>
      <p:sp>
        <p:nvSpPr>
          <p:cNvPr id="9" name="Text 7"/>
          <p:cNvSpPr/>
          <p:nvPr/>
        </p:nvSpPr>
        <p:spPr>
          <a:xfrm>
            <a:off x="1005840" y="1527048"/>
            <a:ext cx="274320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S2</a:t>
            </a:r>
            <a:endParaRPr lang="en-US" sz="1250" dirty="0"/>
          </a:p>
        </p:txBody>
      </p:sp>
      <p:sp>
        <p:nvSpPr>
          <p:cNvPr id="10" name="Text 8"/>
          <p:cNvSpPr/>
          <p:nvPr/>
        </p:nvSpPr>
        <p:spPr>
          <a:xfrm>
            <a:off x="3749040" y="1527048"/>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53,9%</a:t>
            </a:r>
            <a:endParaRPr lang="en-US" sz="1250" dirty="0"/>
          </a:p>
        </p:txBody>
      </p:sp>
      <p:sp>
        <p:nvSpPr>
          <p:cNvPr id="11" name="Text 9"/>
          <p:cNvSpPr/>
          <p:nvPr/>
        </p:nvSpPr>
        <p:spPr>
          <a:xfrm>
            <a:off x="5486400" y="1527048"/>
            <a:ext cx="2651760" cy="402336"/>
          </a:xfrm>
          <a:prstGeom prst="rect">
            <a:avLst/>
          </a:prstGeom>
          <a:noFill/>
          <a:ln/>
        </p:spPr>
        <p:txBody>
          <a:bodyPr wrap="square" lIns="38100" tIns="38100" rIns="38100" bIns="38100" rtlCol="0" anchor="ctr"/>
          <a:lstStyle/>
          <a:p>
            <a:pPr algn="l" indent="0" marL="0">
              <a:buNone/>
            </a:pPr>
            <a:endParaRPr lang="en-US" sz="1250" dirty="0"/>
          </a:p>
        </p:txBody>
      </p:sp>
      <p:sp>
        <p:nvSpPr>
          <p:cNvPr id="12" name="Shape 10"/>
          <p:cNvSpPr/>
          <p:nvPr/>
        </p:nvSpPr>
        <p:spPr>
          <a:xfrm>
            <a:off x="1005840" y="1929384"/>
            <a:ext cx="7132320" cy="0"/>
          </a:xfrm>
          <a:prstGeom prst="line">
            <a:avLst/>
          </a:prstGeom>
          <a:noFill/>
          <a:ln w="12700">
            <a:solidFill>
              <a:srgbClr val="9A94AE"/>
            </a:solidFill>
            <a:prstDash val="solid"/>
          </a:ln>
        </p:spPr>
      </p:sp>
      <p:sp>
        <p:nvSpPr>
          <p:cNvPr id="13" name="Text 11"/>
          <p:cNvSpPr/>
          <p:nvPr/>
        </p:nvSpPr>
        <p:spPr>
          <a:xfrm>
            <a:off x="1005840" y="1929384"/>
            <a:ext cx="2743200" cy="402336"/>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CE2-S2</a:t>
            </a:r>
            <a:endParaRPr lang="en-US" sz="1250" dirty="0"/>
          </a:p>
        </p:txBody>
      </p:sp>
      <p:sp>
        <p:nvSpPr>
          <p:cNvPr id="14" name="Text 12"/>
          <p:cNvSpPr/>
          <p:nvPr/>
        </p:nvSpPr>
        <p:spPr>
          <a:xfrm>
            <a:off x="3749040" y="1929384"/>
            <a:ext cx="1737360" cy="402336"/>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59,8%</a:t>
            </a:r>
            <a:endParaRPr lang="en-US" sz="1250" dirty="0"/>
          </a:p>
        </p:txBody>
      </p:sp>
      <p:sp>
        <p:nvSpPr>
          <p:cNvPr id="15" name="Text 13"/>
          <p:cNvSpPr/>
          <p:nvPr/>
        </p:nvSpPr>
        <p:spPr>
          <a:xfrm>
            <a:off x="5486400" y="1929384"/>
            <a:ext cx="2651760" cy="402336"/>
          </a:xfrm>
          <a:prstGeom prst="rect">
            <a:avLst/>
          </a:prstGeom>
          <a:noFill/>
          <a:ln/>
        </p:spPr>
        <p:txBody>
          <a:bodyPr wrap="square" lIns="38100" tIns="38100" rIns="38100" bIns="38100" rtlCol="0" anchor="ctr"/>
          <a:lstStyle/>
          <a:p>
            <a:pPr algn="l" indent="0" marL="0">
              <a:buNone/>
            </a:pPr>
            <a:r>
              <a:rPr lang="en-US" sz="1250" dirty="0">
                <a:solidFill>
                  <a:srgbClr val="990000"/>
                </a:solidFill>
                <a:latin typeface="Cambria" pitchFamily="34" charset="0"/>
                <a:ea typeface="Cambria" pitchFamily="34" charset="-122"/>
                <a:cs typeface="Cambria" pitchFamily="34" charset="-120"/>
              </a:rPr>
              <a:t>+5,90  học có giám sát thuần</a:t>
            </a:r>
            <a:endParaRPr lang="en-US" sz="1250" dirty="0"/>
          </a:p>
        </p:txBody>
      </p:sp>
      <p:sp>
        <p:nvSpPr>
          <p:cNvPr id="16" name="Shape 14"/>
          <p:cNvSpPr/>
          <p:nvPr/>
        </p:nvSpPr>
        <p:spPr>
          <a:xfrm>
            <a:off x="1005840" y="2331720"/>
            <a:ext cx="7132320" cy="0"/>
          </a:xfrm>
          <a:prstGeom prst="line">
            <a:avLst/>
          </a:prstGeom>
          <a:noFill/>
          <a:ln w="12700">
            <a:solidFill>
              <a:srgbClr val="9A94AE"/>
            </a:solidFill>
            <a:prstDash val="solid"/>
          </a:ln>
        </p:spPr>
      </p:sp>
      <p:sp>
        <p:nvSpPr>
          <p:cNvPr id="17" name="Text 15"/>
          <p:cNvSpPr/>
          <p:nvPr/>
        </p:nvSpPr>
        <p:spPr>
          <a:xfrm>
            <a:off x="1005840" y="2331720"/>
            <a:ext cx="2743200" cy="402336"/>
          </a:xfrm>
          <a:prstGeom prst="rect">
            <a:avLst/>
          </a:prstGeom>
          <a:noFill/>
          <a:ln/>
        </p:spPr>
        <p:txBody>
          <a:bodyPr wrap="square" lIns="38100" tIns="38100" rIns="38100" bIns="38100" rtlCol="0" anchor="ctr"/>
          <a:lstStyle/>
          <a:p>
            <a:pPr algn="l" indent="0" marL="0">
              <a:buNone/>
            </a:pPr>
            <a:r>
              <a:rPr lang="en-US" sz="1250" b="1" dirty="0">
                <a:solidFill>
                  <a:srgbClr val="1A1A1A"/>
                </a:solidFill>
                <a:latin typeface="Cambria" pitchFamily="34" charset="0"/>
                <a:ea typeface="Cambria" pitchFamily="34" charset="-122"/>
                <a:cs typeface="Cambria" pitchFamily="34" charset="-120"/>
              </a:rPr>
              <a:t>MIN-DESC</a:t>
            </a:r>
            <a:endParaRPr lang="en-US" sz="1250" dirty="0"/>
          </a:p>
        </p:txBody>
      </p:sp>
      <p:sp>
        <p:nvSpPr>
          <p:cNvPr id="18" name="Text 16"/>
          <p:cNvSpPr/>
          <p:nvPr/>
        </p:nvSpPr>
        <p:spPr>
          <a:xfrm>
            <a:off x="3749040" y="2331720"/>
            <a:ext cx="1737360" cy="402336"/>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60,6%</a:t>
            </a:r>
            <a:endParaRPr lang="en-US" sz="1250" dirty="0"/>
          </a:p>
        </p:txBody>
      </p:sp>
      <p:sp>
        <p:nvSpPr>
          <p:cNvPr id="19" name="Text 17"/>
          <p:cNvSpPr/>
          <p:nvPr/>
        </p:nvSpPr>
        <p:spPr>
          <a:xfrm>
            <a:off x="5486400" y="2331720"/>
            <a:ext cx="2651760" cy="402336"/>
          </a:xfrm>
          <a:prstGeom prst="rect">
            <a:avLst/>
          </a:prstGeom>
          <a:noFill/>
          <a:ln/>
        </p:spPr>
        <p:txBody>
          <a:bodyPr wrap="square" lIns="38100" tIns="38100" rIns="38100" bIns="38100" rtlCol="0" anchor="ctr"/>
          <a:lstStyle/>
          <a:p>
            <a:pPr algn="l" indent="0" marL="0">
              <a:buNone/>
            </a:pPr>
            <a:r>
              <a:rPr lang="en-US" sz="1250" dirty="0">
                <a:solidFill>
                  <a:srgbClr val="990000"/>
                </a:solidFill>
                <a:latin typeface="Cambria" pitchFamily="34" charset="0"/>
                <a:ea typeface="Cambria" pitchFamily="34" charset="-122"/>
                <a:cs typeface="Cambria" pitchFamily="34" charset="-120"/>
              </a:rPr>
              <a:t>+0,80  riêng mục tiêu ưu tiên</a:t>
            </a:r>
            <a:endParaRPr lang="en-US" sz="1250" dirty="0"/>
          </a:p>
        </p:txBody>
      </p:sp>
      <p:sp>
        <p:nvSpPr>
          <p:cNvPr id="20" name="Text 18"/>
          <p:cNvSpPr/>
          <p:nvPr/>
        </p:nvSpPr>
        <p:spPr>
          <a:xfrm>
            <a:off x="502920" y="2880360"/>
            <a:ext cx="8138160" cy="292608"/>
          </a:xfrm>
          <a:prstGeom prst="rect">
            <a:avLst/>
          </a:prstGeom>
          <a:noFill/>
          <a:ln/>
        </p:spPr>
        <p:txBody>
          <a:bodyPr wrap="square" lIns="0" tIns="0" rIns="0" bIns="0" rtlCol="0" anchor="t"/>
          <a:lstStyle/>
          <a:p>
            <a:pPr algn="l" indent="0" marL="0">
              <a:buNone/>
            </a:pPr>
            <a:r>
              <a:rPr lang="en-US" sz="1300" b="1" dirty="0">
                <a:solidFill>
                  <a:srgbClr val="B22222"/>
                </a:solidFill>
                <a:latin typeface="Cambria" pitchFamily="34" charset="0"/>
                <a:ea typeface="Cambria" pitchFamily="34" charset="-122"/>
                <a:cs typeface="Cambria" pitchFamily="34" charset="-120"/>
              </a:rPr>
              <a:t>87% mức tăng ở tầng khai báo cũng thuộc về nhánh so sánh, khớp với 78% đo ở điểm đầu ra.</a:t>
            </a:r>
            <a:endParaRPr lang="en-US" sz="1300" dirty="0"/>
          </a:p>
        </p:txBody>
      </p:sp>
      <p:sp>
        <p:nvSpPr>
          <p:cNvPr id="21" name="Text 19"/>
          <p:cNvSpPr/>
          <p:nvPr/>
        </p:nvSpPr>
        <p:spPr>
          <a:xfrm>
            <a:off x="502920" y="3291840"/>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2" name="Text 20"/>
          <p:cNvSpPr/>
          <p:nvPr/>
        </p:nvSpPr>
        <p:spPr>
          <a:xfrm>
            <a:off x="731520" y="3291840"/>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Một điểm cải thiện ở tầng khai báo đổi được 0,43 điểm executability</a:t>
            </a:r>
            <a:endParaRPr lang="en-US" sz="1250" dirty="0"/>
          </a:p>
        </p:txBody>
      </p:sp>
      <p:sp>
        <p:nvSpPr>
          <p:cNvPr id="23" name="Text 21"/>
          <p:cNvSpPr/>
          <p:nvPr/>
        </p:nvSpPr>
        <p:spPr>
          <a:xfrm>
            <a:off x="502920" y="3913632"/>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4" name="Text 22"/>
          <p:cNvSpPr/>
          <p:nvPr/>
        </p:nvSpPr>
        <p:spPr>
          <a:xfrm>
            <a:off x="731520" y="3913632"/>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Điều kiện không gây hại không đạt: lớp thao tác giảm 19,75 điểm ở bước không chạm, ngưỡng là 3</a:t>
            </a:r>
            <a:endParaRPr lang="en-US" sz="1250" dirty="0"/>
          </a:p>
        </p:txBody>
      </p:sp>
      <p:sp>
        <p:nvSpPr>
          <p:cNvPr id="25" name="Text 23"/>
          <p:cNvSpPr/>
          <p:nvPr/>
        </p:nvSpPr>
        <p:spPr>
          <a:xfrm>
            <a:off x="502920" y="4535424"/>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6" name="Text 24"/>
          <p:cNvSpPr/>
          <p:nvPr/>
        </p:nvSpPr>
        <p:spPr>
          <a:xfrm>
            <a:off x="731520" y="4535424"/>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Nguyên nhân là thiết kế dữ liệu, vì tập cặp chỉ chứa bước chạm</a:t>
            </a:r>
            <a:endParaRPr lang="en-US" sz="1250" dirty="0"/>
          </a:p>
        </p:txBody>
      </p:sp>
      <p:sp>
        <p:nvSpPr>
          <p:cNvPr id="27" name="Text 25"/>
          <p:cNvSpPr/>
          <p:nvPr/>
        </p:nvSpPr>
        <p:spPr>
          <a:xfrm>
            <a:off x="502920" y="5157216"/>
            <a:ext cx="201168" cy="621792"/>
          </a:xfrm>
          <a:prstGeom prst="rect">
            <a:avLst/>
          </a:prstGeom>
          <a:noFill/>
          <a:ln/>
        </p:spPr>
        <p:txBody>
          <a:bodyPr wrap="square" lIns="0" tIns="0" rIns="0" bIns="0" rtlCol="0" anchor="t"/>
          <a:lstStyle/>
          <a:p>
            <a:pPr algn="l" indent="0" marL="0">
              <a:buNone/>
            </a:pPr>
            <a:r>
              <a:rPr lang="en-US" sz="1250" b="1" dirty="0">
                <a:solidFill>
                  <a:srgbClr val="006666"/>
                </a:solidFill>
                <a:latin typeface="Cambria" pitchFamily="34" charset="0"/>
                <a:ea typeface="Cambria" pitchFamily="34" charset="-122"/>
                <a:cs typeface="Cambria" pitchFamily="34" charset="-120"/>
              </a:rPr>
              <a:t>•</a:t>
            </a:r>
            <a:endParaRPr lang="en-US" sz="1250" dirty="0"/>
          </a:p>
        </p:txBody>
      </p:sp>
      <p:sp>
        <p:nvSpPr>
          <p:cNvPr id="28" name="Text 26"/>
          <p:cNvSpPr/>
          <p:nvPr/>
        </p:nvSpPr>
        <p:spPr>
          <a:xfrm>
            <a:off x="731520" y="5157216"/>
            <a:ext cx="7909560" cy="585216"/>
          </a:xfrm>
          <a:prstGeom prst="rect">
            <a:avLst/>
          </a:prstGeom>
          <a:noFill/>
          <a:ln/>
        </p:spPr>
        <p:txBody>
          <a:bodyPr wrap="square" lIns="0" tIns="0" rIns="0" bIns="0" rtlCol="0" anchor="t"/>
          <a:lstStyle/>
          <a:p>
            <a:pPr algn="l" indent="0" marL="0">
              <a:lnSpc>
                <a:spcPct val="130000"/>
              </a:lnSpc>
              <a:buNone/>
            </a:pPr>
            <a:r>
              <a:rPr lang="en-US" sz="1250" dirty="0">
                <a:solidFill>
                  <a:srgbClr val="1A1A1A"/>
                </a:solidFill>
                <a:latin typeface="Cambria" pitchFamily="34" charset="0"/>
                <a:ea typeface="Cambria" pitchFamily="34" charset="-122"/>
                <a:cs typeface="Cambria" pitchFamily="34" charset="-120"/>
              </a:rPr>
              <a:t>Cách gỡ là trộn bước không chạm dạng entropy chéo thuần vào chặng hai</a:t>
            </a:r>
            <a:endParaRPr lang="en-US" sz="1250" dirty="0"/>
          </a:p>
        </p:txBody>
      </p:sp>
      <p:sp>
        <p:nvSpPr>
          <p:cNvPr id="29" name="Shape 27"/>
          <p:cNvSpPr/>
          <p:nvPr/>
        </p:nvSpPr>
        <p:spPr>
          <a:xfrm>
            <a:off x="0" y="6620256"/>
            <a:ext cx="2743200" cy="237744"/>
          </a:xfrm>
          <a:prstGeom prst="rect">
            <a:avLst/>
          </a:prstGeom>
          <a:solidFill>
            <a:srgbClr val="191132"/>
          </a:solidFill>
          <a:ln/>
        </p:spPr>
      </p:sp>
      <p:sp>
        <p:nvSpPr>
          <p:cNvPr id="30" name="Shape 28"/>
          <p:cNvSpPr/>
          <p:nvPr/>
        </p:nvSpPr>
        <p:spPr>
          <a:xfrm>
            <a:off x="2743200" y="6620256"/>
            <a:ext cx="3383280" cy="237744"/>
          </a:xfrm>
          <a:prstGeom prst="rect">
            <a:avLst/>
          </a:prstGeom>
          <a:solidFill>
            <a:srgbClr val="25194B"/>
          </a:solidFill>
          <a:ln/>
        </p:spPr>
      </p:sp>
      <p:sp>
        <p:nvSpPr>
          <p:cNvPr id="31" name="Shape 29"/>
          <p:cNvSpPr/>
          <p:nvPr/>
        </p:nvSpPr>
        <p:spPr>
          <a:xfrm>
            <a:off x="6126480" y="6620256"/>
            <a:ext cx="1737360" cy="237744"/>
          </a:xfrm>
          <a:prstGeom prst="rect">
            <a:avLst/>
          </a:prstGeom>
          <a:solidFill>
            <a:srgbClr val="4F417A"/>
          </a:solidFill>
          <a:ln/>
        </p:spPr>
      </p:sp>
      <p:sp>
        <p:nvSpPr>
          <p:cNvPr id="32" name="Shape 30"/>
          <p:cNvSpPr/>
          <p:nvPr/>
        </p:nvSpPr>
        <p:spPr>
          <a:xfrm>
            <a:off x="7863840" y="6620256"/>
            <a:ext cx="1280160" cy="237744"/>
          </a:xfrm>
          <a:prstGeom prst="rect">
            <a:avLst/>
          </a:prstGeom>
          <a:solidFill>
            <a:srgbClr val="7A7099"/>
          </a:solidFill>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10</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Luật hộp phần tử của chính AndroidControl (Phụ lục D.3)</a:t>
            </a:r>
            <a:endParaRPr lang="en-US" sz="1900" dirty="0"/>
          </a:p>
        </p:txBody>
      </p:sp>
      <p:sp>
        <p:nvSpPr>
          <p:cNvPr id="4" name="Text 2"/>
          <p:cNvSpPr/>
          <p:nvPr/>
        </p:nvSpPr>
        <p:spPr>
          <a:xfrm>
            <a:off x="502920" y="777240"/>
            <a:ext cx="8138160" cy="502920"/>
          </a:xfrm>
          <a:prstGeom prst="rect">
            <a:avLst/>
          </a:prstGeom>
          <a:noFill/>
          <a:ln/>
        </p:spPr>
        <p:txBody>
          <a:bodyPr wrap="square" lIns="0" tIns="0" rIns="0" bIns="0" rtlCol="0" anchor="t"/>
          <a:lstStyle/>
          <a:p>
            <a:pPr algn="l" indent="0" marL="0">
              <a:lnSpc>
                <a:spcPct val="130000"/>
              </a:lnSpc>
              <a:buNone/>
            </a:pPr>
            <a:r>
              <a:rPr lang="en-US" sz="1200" i="1" dirty="0">
                <a:solidFill>
                  <a:srgbClr val="5A5A66"/>
                </a:solidFill>
                <a:latin typeface="Cambria" pitchFamily="34" charset="0"/>
                <a:ea typeface="Cambria" pitchFamily="34" charset="-122"/>
                <a:cs typeface="Cambria" pitchFamily="34" charset="-120"/>
              </a:rPr>
              <a:t>Điểm dự đoán nằm trong hộp bao của phần tử cần chạm. Tính lại từ bản ghi từng bước ngày 5/9, sau khi đã có mọi điểm, không gọi lại mô hình định vị.</a:t>
            </a:r>
            <a:endParaRPr lang="en-US" sz="1200" dirty="0"/>
          </a:p>
        </p:txBody>
      </p:sp>
      <p:sp>
        <p:nvSpPr>
          <p:cNvPr id="5" name="Shape 3"/>
          <p:cNvSpPr/>
          <p:nvPr/>
        </p:nvSpPr>
        <p:spPr>
          <a:xfrm>
            <a:off x="502920" y="1371600"/>
            <a:ext cx="8129016" cy="384048"/>
          </a:xfrm>
          <a:prstGeom prst="rect">
            <a:avLst/>
          </a:prstGeom>
          <a:solidFill>
            <a:srgbClr val="322164"/>
          </a:solidFill>
          <a:ln/>
        </p:spPr>
      </p:sp>
      <p:sp>
        <p:nvSpPr>
          <p:cNvPr id="6" name="Text 4"/>
          <p:cNvSpPr/>
          <p:nvPr/>
        </p:nvSpPr>
        <p:spPr>
          <a:xfrm>
            <a:off x="502920" y="1371600"/>
            <a:ext cx="3017520" cy="384048"/>
          </a:xfrm>
          <a:prstGeom prst="rect">
            <a:avLst/>
          </a:prstGeom>
          <a:noFill/>
          <a:ln/>
        </p:spPr>
        <p:txBody>
          <a:bodyPr wrap="square" lIns="38100" tIns="38100" rIns="38100" bIns="38100" rtlCol="0" anchor="ctr"/>
          <a:lstStyle/>
          <a:p>
            <a:pPr algn="l" indent="0" marL="0">
              <a:buNone/>
            </a:pPr>
            <a:r>
              <a:rPr lang="en-US" sz="1200" b="1" dirty="0">
                <a:solidFill>
                  <a:srgbClr val="FFFFFF"/>
                </a:solidFill>
                <a:latin typeface="Cambria" pitchFamily="34" charset="0"/>
                <a:ea typeface="Cambria" pitchFamily="34" charset="-122"/>
                <a:cs typeface="Cambria" pitchFamily="34" charset="-120"/>
              </a:rPr>
              <a:t>Nhánh</a:t>
            </a:r>
            <a:endParaRPr lang="en-US" sz="1200" dirty="0"/>
          </a:p>
        </p:txBody>
      </p:sp>
      <p:sp>
        <p:nvSpPr>
          <p:cNvPr id="7" name="Text 5"/>
          <p:cNvSpPr/>
          <p:nvPr/>
        </p:nvSpPr>
        <p:spPr>
          <a:xfrm>
            <a:off x="3520440" y="1371600"/>
            <a:ext cx="164592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Ô Voronoi</a:t>
            </a:r>
            <a:endParaRPr lang="en-US" sz="1200" dirty="0"/>
          </a:p>
        </p:txBody>
      </p:sp>
      <p:sp>
        <p:nvSpPr>
          <p:cNvPr id="8" name="Text 6"/>
          <p:cNvSpPr/>
          <p:nvPr/>
        </p:nvSpPr>
        <p:spPr>
          <a:xfrm>
            <a:off x="5166360" y="1371600"/>
            <a:ext cx="1737360"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Hộp D.3</a:t>
            </a:r>
            <a:endParaRPr lang="en-US" sz="1200" dirty="0"/>
          </a:p>
        </p:txBody>
      </p:sp>
      <p:sp>
        <p:nvSpPr>
          <p:cNvPr id="9" name="Text 7"/>
          <p:cNvSpPr/>
          <p:nvPr/>
        </p:nvSpPr>
        <p:spPr>
          <a:xfrm>
            <a:off x="6903720" y="1371600"/>
            <a:ext cx="1728216" cy="384048"/>
          </a:xfrm>
          <a:prstGeom prst="rect">
            <a:avLst/>
          </a:prstGeom>
          <a:noFill/>
          <a:ln/>
        </p:spPr>
        <p:txBody>
          <a:bodyPr wrap="square" lIns="38100" tIns="38100" rIns="38100" bIns="3810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D.3 và cửa sổ 14%</a:t>
            </a:r>
            <a:endParaRPr lang="en-US" sz="1200" dirty="0"/>
          </a:p>
        </p:txBody>
      </p:sp>
      <p:sp>
        <p:nvSpPr>
          <p:cNvPr id="10" name="Text 8"/>
          <p:cNvSpPr/>
          <p:nvPr/>
        </p:nvSpPr>
        <p:spPr>
          <a:xfrm>
            <a:off x="502920" y="1755648"/>
            <a:ext cx="3017520" cy="384048"/>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Câu chuẩn</a:t>
            </a:r>
            <a:endParaRPr lang="en-US" sz="1250" dirty="0"/>
          </a:p>
        </p:txBody>
      </p:sp>
      <p:sp>
        <p:nvSpPr>
          <p:cNvPr id="11" name="Text 9"/>
          <p:cNvSpPr/>
          <p:nvPr/>
        </p:nvSpPr>
        <p:spPr>
          <a:xfrm>
            <a:off x="3520440" y="1755648"/>
            <a:ext cx="164592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75,7</a:t>
            </a:r>
            <a:endParaRPr lang="en-US" sz="1250" dirty="0"/>
          </a:p>
        </p:txBody>
      </p:sp>
      <p:sp>
        <p:nvSpPr>
          <p:cNvPr id="12" name="Text 10"/>
          <p:cNvSpPr/>
          <p:nvPr/>
        </p:nvSpPr>
        <p:spPr>
          <a:xfrm>
            <a:off x="5166360" y="1755648"/>
            <a:ext cx="1737360" cy="384048"/>
          </a:xfrm>
          <a:prstGeom prst="rect">
            <a:avLst/>
          </a:prstGeom>
          <a:noFill/>
          <a:ln/>
        </p:spPr>
        <p:txBody>
          <a:bodyPr wrap="square" lIns="38100" tIns="38100" rIns="38100" bIns="38100" rtlCol="0" anchor="ctr"/>
          <a:lstStyle/>
          <a:p>
            <a:pPr algn="ctr" indent="0" marL="0">
              <a:buNone/>
            </a:pPr>
            <a:r>
              <a:rPr lang="en-US" sz="1250" b="1" dirty="0">
                <a:solidFill>
                  <a:srgbClr val="1A1A1A"/>
                </a:solidFill>
                <a:latin typeface="Cambria" pitchFamily="34" charset="0"/>
                <a:ea typeface="Cambria" pitchFamily="34" charset="-122"/>
                <a:cs typeface="Cambria" pitchFamily="34" charset="-120"/>
              </a:rPr>
              <a:t>83,8</a:t>
            </a:r>
            <a:endParaRPr lang="en-US" sz="1250" dirty="0"/>
          </a:p>
        </p:txBody>
      </p:sp>
      <p:sp>
        <p:nvSpPr>
          <p:cNvPr id="13" name="Text 11"/>
          <p:cNvSpPr/>
          <p:nvPr/>
        </p:nvSpPr>
        <p:spPr>
          <a:xfrm>
            <a:off x="6903720" y="1755648"/>
            <a:ext cx="1728216"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79,2</a:t>
            </a:r>
            <a:endParaRPr lang="en-US" sz="1250" dirty="0"/>
          </a:p>
        </p:txBody>
      </p:sp>
      <p:sp>
        <p:nvSpPr>
          <p:cNvPr id="14" name="Shape 12"/>
          <p:cNvSpPr/>
          <p:nvPr/>
        </p:nvSpPr>
        <p:spPr>
          <a:xfrm>
            <a:off x="502920" y="2139696"/>
            <a:ext cx="8129016" cy="0"/>
          </a:xfrm>
          <a:prstGeom prst="line">
            <a:avLst/>
          </a:prstGeom>
          <a:noFill/>
          <a:ln w="12700">
            <a:solidFill>
              <a:srgbClr val="9A94AE"/>
            </a:solidFill>
            <a:prstDash val="solid"/>
          </a:ln>
        </p:spPr>
      </p:sp>
      <p:sp>
        <p:nvSpPr>
          <p:cNvPr id="15" name="Text 13"/>
          <p:cNvSpPr/>
          <p:nvPr/>
        </p:nvSpPr>
        <p:spPr>
          <a:xfrm>
            <a:off x="502920" y="2139696"/>
            <a:ext cx="3017520" cy="384048"/>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MIN-DESC</a:t>
            </a:r>
            <a:endParaRPr lang="en-US" sz="1250" dirty="0"/>
          </a:p>
        </p:txBody>
      </p:sp>
      <p:sp>
        <p:nvSpPr>
          <p:cNvPr id="16" name="Text 14"/>
          <p:cNvSpPr/>
          <p:nvPr/>
        </p:nvSpPr>
        <p:spPr>
          <a:xfrm>
            <a:off x="3520440" y="2139696"/>
            <a:ext cx="164592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60,0</a:t>
            </a:r>
            <a:endParaRPr lang="en-US" sz="1250" dirty="0"/>
          </a:p>
        </p:txBody>
      </p:sp>
      <p:sp>
        <p:nvSpPr>
          <p:cNvPr id="17" name="Text 15"/>
          <p:cNvSpPr/>
          <p:nvPr/>
        </p:nvSpPr>
        <p:spPr>
          <a:xfrm>
            <a:off x="5166360" y="2139696"/>
            <a:ext cx="173736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66,5</a:t>
            </a:r>
            <a:endParaRPr lang="en-US" sz="1250" dirty="0"/>
          </a:p>
        </p:txBody>
      </p:sp>
      <p:sp>
        <p:nvSpPr>
          <p:cNvPr id="18" name="Text 16"/>
          <p:cNvSpPr/>
          <p:nvPr/>
        </p:nvSpPr>
        <p:spPr>
          <a:xfrm>
            <a:off x="6903720" y="2139696"/>
            <a:ext cx="1728216"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62,7</a:t>
            </a:r>
            <a:endParaRPr lang="en-US" sz="1250" dirty="0"/>
          </a:p>
        </p:txBody>
      </p:sp>
      <p:sp>
        <p:nvSpPr>
          <p:cNvPr id="19" name="Shape 17"/>
          <p:cNvSpPr/>
          <p:nvPr/>
        </p:nvSpPr>
        <p:spPr>
          <a:xfrm>
            <a:off x="502920" y="2523744"/>
            <a:ext cx="8129016" cy="0"/>
          </a:xfrm>
          <a:prstGeom prst="line">
            <a:avLst/>
          </a:prstGeom>
          <a:noFill/>
          <a:ln w="12700">
            <a:solidFill>
              <a:srgbClr val="9A94AE"/>
            </a:solidFill>
            <a:prstDash val="solid"/>
          </a:ln>
        </p:spPr>
      </p:sp>
      <p:sp>
        <p:nvSpPr>
          <p:cNvPr id="20" name="Text 18"/>
          <p:cNvSpPr/>
          <p:nvPr/>
        </p:nvSpPr>
        <p:spPr>
          <a:xfrm>
            <a:off x="502920" y="2523744"/>
            <a:ext cx="3017520" cy="384048"/>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S1, hạt giống 101</a:t>
            </a:r>
            <a:endParaRPr lang="en-US" sz="1250" dirty="0"/>
          </a:p>
        </p:txBody>
      </p:sp>
      <p:sp>
        <p:nvSpPr>
          <p:cNvPr id="21" name="Text 19"/>
          <p:cNvSpPr/>
          <p:nvPr/>
        </p:nvSpPr>
        <p:spPr>
          <a:xfrm>
            <a:off x="3520440" y="2523744"/>
            <a:ext cx="164592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59,1</a:t>
            </a:r>
            <a:endParaRPr lang="en-US" sz="1250" dirty="0"/>
          </a:p>
        </p:txBody>
      </p:sp>
      <p:sp>
        <p:nvSpPr>
          <p:cNvPr id="22" name="Text 20"/>
          <p:cNvSpPr/>
          <p:nvPr/>
        </p:nvSpPr>
        <p:spPr>
          <a:xfrm>
            <a:off x="5166360" y="2523744"/>
            <a:ext cx="173736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65,5</a:t>
            </a:r>
            <a:endParaRPr lang="en-US" sz="1250" dirty="0"/>
          </a:p>
        </p:txBody>
      </p:sp>
      <p:sp>
        <p:nvSpPr>
          <p:cNvPr id="23" name="Text 21"/>
          <p:cNvSpPr/>
          <p:nvPr/>
        </p:nvSpPr>
        <p:spPr>
          <a:xfrm>
            <a:off x="6903720" y="2523744"/>
            <a:ext cx="1728216"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61,7</a:t>
            </a:r>
            <a:endParaRPr lang="en-US" sz="1250" dirty="0"/>
          </a:p>
        </p:txBody>
      </p:sp>
      <p:sp>
        <p:nvSpPr>
          <p:cNvPr id="24" name="Shape 22"/>
          <p:cNvSpPr/>
          <p:nvPr/>
        </p:nvSpPr>
        <p:spPr>
          <a:xfrm>
            <a:off x="502920" y="2907792"/>
            <a:ext cx="8129016" cy="0"/>
          </a:xfrm>
          <a:prstGeom prst="line">
            <a:avLst/>
          </a:prstGeom>
          <a:noFill/>
          <a:ln w="12700">
            <a:solidFill>
              <a:srgbClr val="9A94AE"/>
            </a:solidFill>
            <a:prstDash val="solid"/>
          </a:ln>
        </p:spPr>
      </p:sp>
      <p:sp>
        <p:nvSpPr>
          <p:cNvPr id="25" name="Text 23"/>
          <p:cNvSpPr/>
          <p:nvPr/>
        </p:nvSpPr>
        <p:spPr>
          <a:xfrm>
            <a:off x="502920" y="2907792"/>
            <a:ext cx="3017520" cy="384048"/>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Nhánh ứng viên</a:t>
            </a:r>
            <a:endParaRPr lang="en-US" sz="1250" dirty="0"/>
          </a:p>
        </p:txBody>
      </p:sp>
      <p:sp>
        <p:nvSpPr>
          <p:cNvPr id="26" name="Text 24"/>
          <p:cNvSpPr/>
          <p:nvPr/>
        </p:nvSpPr>
        <p:spPr>
          <a:xfrm>
            <a:off x="3520440" y="2907792"/>
            <a:ext cx="164592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56,1</a:t>
            </a:r>
            <a:endParaRPr lang="en-US" sz="1250" dirty="0"/>
          </a:p>
        </p:txBody>
      </p:sp>
      <p:sp>
        <p:nvSpPr>
          <p:cNvPr id="27" name="Text 25"/>
          <p:cNvSpPr/>
          <p:nvPr/>
        </p:nvSpPr>
        <p:spPr>
          <a:xfrm>
            <a:off x="5166360" y="2907792"/>
            <a:ext cx="173736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62,4</a:t>
            </a:r>
            <a:endParaRPr lang="en-US" sz="1250" dirty="0"/>
          </a:p>
        </p:txBody>
      </p:sp>
      <p:sp>
        <p:nvSpPr>
          <p:cNvPr id="28" name="Text 26"/>
          <p:cNvSpPr/>
          <p:nvPr/>
        </p:nvSpPr>
        <p:spPr>
          <a:xfrm>
            <a:off x="6903720" y="2907792"/>
            <a:ext cx="1728216"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58,6</a:t>
            </a:r>
            <a:endParaRPr lang="en-US" sz="1250" dirty="0"/>
          </a:p>
        </p:txBody>
      </p:sp>
      <p:sp>
        <p:nvSpPr>
          <p:cNvPr id="29" name="Shape 27"/>
          <p:cNvSpPr/>
          <p:nvPr/>
        </p:nvSpPr>
        <p:spPr>
          <a:xfrm>
            <a:off x="502920" y="3291840"/>
            <a:ext cx="8129016" cy="0"/>
          </a:xfrm>
          <a:prstGeom prst="line">
            <a:avLst/>
          </a:prstGeom>
          <a:noFill/>
          <a:ln w="12700">
            <a:solidFill>
              <a:srgbClr val="9A94AE"/>
            </a:solidFill>
            <a:prstDash val="solid"/>
          </a:ln>
        </p:spPr>
      </p:sp>
      <p:sp>
        <p:nvSpPr>
          <p:cNvPr id="30" name="Text 28"/>
          <p:cNvSpPr/>
          <p:nvPr/>
        </p:nvSpPr>
        <p:spPr>
          <a:xfrm>
            <a:off x="502920" y="3291840"/>
            <a:ext cx="3017520" cy="384048"/>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Base</a:t>
            </a:r>
            <a:endParaRPr lang="en-US" sz="1250" dirty="0"/>
          </a:p>
        </p:txBody>
      </p:sp>
      <p:sp>
        <p:nvSpPr>
          <p:cNvPr id="31" name="Text 29"/>
          <p:cNvSpPr/>
          <p:nvPr/>
        </p:nvSpPr>
        <p:spPr>
          <a:xfrm>
            <a:off x="3520440" y="3291840"/>
            <a:ext cx="164592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47,6</a:t>
            </a:r>
            <a:endParaRPr lang="en-US" sz="1250" dirty="0"/>
          </a:p>
        </p:txBody>
      </p:sp>
      <p:sp>
        <p:nvSpPr>
          <p:cNvPr id="32" name="Text 30"/>
          <p:cNvSpPr/>
          <p:nvPr/>
        </p:nvSpPr>
        <p:spPr>
          <a:xfrm>
            <a:off x="5166360" y="3291840"/>
            <a:ext cx="173736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53,6</a:t>
            </a:r>
            <a:endParaRPr lang="en-US" sz="1250" dirty="0"/>
          </a:p>
        </p:txBody>
      </p:sp>
      <p:sp>
        <p:nvSpPr>
          <p:cNvPr id="33" name="Text 31"/>
          <p:cNvSpPr/>
          <p:nvPr/>
        </p:nvSpPr>
        <p:spPr>
          <a:xfrm>
            <a:off x="6903720" y="3291840"/>
            <a:ext cx="1728216"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49,8</a:t>
            </a:r>
            <a:endParaRPr lang="en-US" sz="1250" dirty="0"/>
          </a:p>
        </p:txBody>
      </p:sp>
      <p:sp>
        <p:nvSpPr>
          <p:cNvPr id="34" name="Shape 32"/>
          <p:cNvSpPr/>
          <p:nvPr/>
        </p:nvSpPr>
        <p:spPr>
          <a:xfrm>
            <a:off x="502920" y="3675888"/>
            <a:ext cx="8129016" cy="0"/>
          </a:xfrm>
          <a:prstGeom prst="line">
            <a:avLst/>
          </a:prstGeom>
          <a:noFill/>
          <a:ln w="19050">
            <a:solidFill>
              <a:srgbClr val="322164"/>
            </a:solidFill>
            <a:prstDash val="solid"/>
          </a:ln>
        </p:spPr>
      </p:sp>
      <p:sp>
        <p:nvSpPr>
          <p:cNvPr id="35" name="Text 33"/>
          <p:cNvSpPr/>
          <p:nvPr/>
        </p:nvSpPr>
        <p:spPr>
          <a:xfrm>
            <a:off x="502920" y="3675888"/>
            <a:ext cx="3017520" cy="384048"/>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Sàn: câu chung chung (lát 800)</a:t>
            </a:r>
            <a:endParaRPr lang="en-US" sz="1250" dirty="0"/>
          </a:p>
        </p:txBody>
      </p:sp>
      <p:sp>
        <p:nvSpPr>
          <p:cNvPr id="36" name="Text 34"/>
          <p:cNvSpPr/>
          <p:nvPr/>
        </p:nvSpPr>
        <p:spPr>
          <a:xfrm>
            <a:off x="3520440" y="3675888"/>
            <a:ext cx="164592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12,0</a:t>
            </a:r>
            <a:endParaRPr lang="en-US" sz="1250" dirty="0"/>
          </a:p>
        </p:txBody>
      </p:sp>
      <p:sp>
        <p:nvSpPr>
          <p:cNvPr id="37" name="Text 35"/>
          <p:cNvSpPr/>
          <p:nvPr/>
        </p:nvSpPr>
        <p:spPr>
          <a:xfrm>
            <a:off x="5166360" y="3675888"/>
            <a:ext cx="173736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14,1</a:t>
            </a:r>
            <a:endParaRPr lang="en-US" sz="1250" dirty="0"/>
          </a:p>
        </p:txBody>
      </p:sp>
      <p:sp>
        <p:nvSpPr>
          <p:cNvPr id="38" name="Text 36"/>
          <p:cNvSpPr/>
          <p:nvPr/>
        </p:nvSpPr>
        <p:spPr>
          <a:xfrm>
            <a:off x="6903720" y="3675888"/>
            <a:ext cx="1728216"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12,1</a:t>
            </a:r>
            <a:endParaRPr lang="en-US" sz="1250" dirty="0"/>
          </a:p>
        </p:txBody>
      </p:sp>
      <p:sp>
        <p:nvSpPr>
          <p:cNvPr id="39" name="Shape 37"/>
          <p:cNvSpPr/>
          <p:nvPr/>
        </p:nvSpPr>
        <p:spPr>
          <a:xfrm>
            <a:off x="502920" y="4059936"/>
            <a:ext cx="8129016" cy="0"/>
          </a:xfrm>
          <a:prstGeom prst="line">
            <a:avLst/>
          </a:prstGeom>
          <a:noFill/>
          <a:ln w="12700">
            <a:solidFill>
              <a:srgbClr val="9A94AE"/>
            </a:solidFill>
            <a:prstDash val="solid"/>
          </a:ln>
        </p:spPr>
      </p:sp>
      <p:sp>
        <p:nvSpPr>
          <p:cNvPr id="40" name="Text 38"/>
          <p:cNvSpPr/>
          <p:nvPr/>
        </p:nvSpPr>
        <p:spPr>
          <a:xfrm>
            <a:off x="502920" y="4059936"/>
            <a:ext cx="3017520" cy="384048"/>
          </a:xfrm>
          <a:prstGeom prst="rect">
            <a:avLst/>
          </a:prstGeom>
          <a:noFill/>
          <a:ln/>
        </p:spPr>
        <p:txBody>
          <a:bodyPr wrap="square" lIns="38100" tIns="38100" rIns="38100" bIns="38100" rtlCol="0" anchor="ctr"/>
          <a:lstStyle/>
          <a:p>
            <a:pPr algn="l" indent="0" marL="0">
              <a:buNone/>
            </a:pPr>
            <a:r>
              <a:rPr lang="en-US" sz="1250" dirty="0">
                <a:solidFill>
                  <a:srgbClr val="1A1A1A"/>
                </a:solidFill>
                <a:latin typeface="Cambria" pitchFamily="34" charset="0"/>
                <a:ea typeface="Cambria" pitchFamily="34" charset="-122"/>
                <a:cs typeface="Cambria" pitchFamily="34" charset="-120"/>
              </a:rPr>
              <a:t>Sàn: câu của màn khác (lát 800)</a:t>
            </a:r>
            <a:endParaRPr lang="en-US" sz="1250" dirty="0"/>
          </a:p>
        </p:txBody>
      </p:sp>
      <p:sp>
        <p:nvSpPr>
          <p:cNvPr id="41" name="Text 39"/>
          <p:cNvSpPr/>
          <p:nvPr/>
        </p:nvSpPr>
        <p:spPr>
          <a:xfrm>
            <a:off x="3520440" y="4059936"/>
            <a:ext cx="164592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6,1</a:t>
            </a:r>
            <a:endParaRPr lang="en-US" sz="1250" dirty="0"/>
          </a:p>
        </p:txBody>
      </p:sp>
      <p:sp>
        <p:nvSpPr>
          <p:cNvPr id="42" name="Text 40"/>
          <p:cNvSpPr/>
          <p:nvPr/>
        </p:nvSpPr>
        <p:spPr>
          <a:xfrm>
            <a:off x="5166360" y="4059936"/>
            <a:ext cx="1737360"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8,6</a:t>
            </a:r>
            <a:endParaRPr lang="en-US" sz="1250" dirty="0"/>
          </a:p>
        </p:txBody>
      </p:sp>
      <p:sp>
        <p:nvSpPr>
          <p:cNvPr id="43" name="Text 41"/>
          <p:cNvSpPr/>
          <p:nvPr/>
        </p:nvSpPr>
        <p:spPr>
          <a:xfrm>
            <a:off x="6903720" y="4059936"/>
            <a:ext cx="1728216" cy="384048"/>
          </a:xfrm>
          <a:prstGeom prst="rect">
            <a:avLst/>
          </a:prstGeom>
          <a:noFill/>
          <a:ln/>
        </p:spPr>
        <p:txBody>
          <a:bodyPr wrap="square" lIns="38100" tIns="38100" rIns="38100" bIns="38100" rtlCol="0" anchor="ctr"/>
          <a:lstStyle/>
          <a:p>
            <a:pPr algn="ctr" indent="0" marL="0">
              <a:buNone/>
            </a:pPr>
            <a:r>
              <a:rPr lang="en-US" sz="1250" dirty="0">
                <a:solidFill>
                  <a:srgbClr val="1A1A1A"/>
                </a:solidFill>
                <a:latin typeface="Cambria" pitchFamily="34" charset="0"/>
                <a:ea typeface="Cambria" pitchFamily="34" charset="-122"/>
                <a:cs typeface="Cambria" pitchFamily="34" charset="-120"/>
              </a:rPr>
              <a:t>6,6</a:t>
            </a:r>
            <a:endParaRPr lang="en-US" sz="1250" dirty="0"/>
          </a:p>
        </p:txBody>
      </p:sp>
      <p:sp>
        <p:nvSpPr>
          <p:cNvPr id="44" name="Text 42"/>
          <p:cNvSpPr/>
          <p:nvPr/>
        </p:nvSpPr>
        <p:spPr>
          <a:xfrm>
            <a:off x="502920" y="4572000"/>
            <a:ext cx="201168" cy="457200"/>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45" name="Text 43"/>
          <p:cNvSpPr/>
          <p:nvPr/>
        </p:nvSpPr>
        <p:spPr>
          <a:xfrm>
            <a:off x="731520" y="4572000"/>
            <a:ext cx="7909560" cy="420624"/>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Nâng trần gần gấp bốn lần mức nâng sàn, nên dải dùng được rộng ra chứ không bị nén</a:t>
            </a:r>
            <a:endParaRPr lang="en-US" sz="1150" dirty="0"/>
          </a:p>
        </p:txBody>
      </p:sp>
      <p:sp>
        <p:nvSpPr>
          <p:cNvPr id="46" name="Text 44"/>
          <p:cNvSpPr/>
          <p:nvPr/>
        </p:nvSpPr>
        <p:spPr>
          <a:xfrm>
            <a:off x="502920" y="5029200"/>
            <a:ext cx="201168" cy="457200"/>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47" name="Text 45"/>
          <p:cNvSpPr/>
          <p:nvPr/>
        </p:nvSpPr>
        <p:spPr>
          <a:xfrm>
            <a:off x="731520" y="5029200"/>
            <a:ext cx="7909560" cy="420624"/>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Hộp do luận văn suy từ cây trợ năng: 48% là nút con không nhận chạm, nên chặt hơn nhãn gốc</a:t>
            </a:r>
            <a:endParaRPr lang="en-US" sz="1150" dirty="0"/>
          </a:p>
        </p:txBody>
      </p:sp>
      <p:sp>
        <p:nvSpPr>
          <p:cNvPr id="48" name="Text 46"/>
          <p:cNvSpPr/>
          <p:nvPr/>
        </p:nvSpPr>
        <p:spPr>
          <a:xfrm>
            <a:off x="502920" y="5486400"/>
            <a:ext cx="201168" cy="457200"/>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49" name="Text 47"/>
          <p:cNvSpPr/>
          <p:nvPr/>
        </p:nvSpPr>
        <p:spPr>
          <a:xfrm>
            <a:off x="731520" y="5486400"/>
            <a:ext cx="7909560" cy="420624"/>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78% mức tăng đến từ hộp rộng hơn nửa màn; 120 bước rơi vào khung chứa rộng cho điểm gần như miễn phí</a:t>
            </a:r>
            <a:endParaRPr lang="en-US" sz="1150" dirty="0"/>
          </a:p>
        </p:txBody>
      </p:sp>
      <p:sp>
        <p:nvSpPr>
          <p:cNvPr id="50" name="Text 48"/>
          <p:cNvSpPr/>
          <p:nvPr/>
        </p:nvSpPr>
        <p:spPr>
          <a:xfrm>
            <a:off x="502920" y="5943600"/>
            <a:ext cx="201168" cy="457200"/>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51" name="Text 49"/>
          <p:cNvSpPr/>
          <p:nvPr/>
        </p:nvSpPr>
        <p:spPr>
          <a:xfrm>
            <a:off x="731520" y="5943600"/>
            <a:ext cx="7909560" cy="420624"/>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Hiệu MIN-DESC trên S1 vẫn +0,9 đến +1,1 dưới mọi biến thể: luật này không thêm bằng chứng cho đóng góp mô hình</a:t>
            </a:r>
            <a:endParaRPr lang="en-US" sz="1150" dirty="0"/>
          </a:p>
        </p:txBody>
      </p:sp>
      <p:sp>
        <p:nvSpPr>
          <p:cNvPr id="52" name="Shape 50"/>
          <p:cNvSpPr/>
          <p:nvPr/>
        </p:nvSpPr>
        <p:spPr>
          <a:xfrm>
            <a:off x="0" y="6620256"/>
            <a:ext cx="2743200" cy="237744"/>
          </a:xfrm>
          <a:prstGeom prst="rect">
            <a:avLst/>
          </a:prstGeom>
          <a:solidFill>
            <a:srgbClr val="191132"/>
          </a:solidFill>
          <a:ln/>
        </p:spPr>
      </p:sp>
      <p:sp>
        <p:nvSpPr>
          <p:cNvPr id="53" name="Shape 51"/>
          <p:cNvSpPr/>
          <p:nvPr/>
        </p:nvSpPr>
        <p:spPr>
          <a:xfrm>
            <a:off x="2743200" y="6620256"/>
            <a:ext cx="3383280" cy="237744"/>
          </a:xfrm>
          <a:prstGeom prst="rect">
            <a:avLst/>
          </a:prstGeom>
          <a:solidFill>
            <a:srgbClr val="25194B"/>
          </a:solidFill>
          <a:ln/>
        </p:spPr>
      </p:sp>
      <p:sp>
        <p:nvSpPr>
          <p:cNvPr id="54" name="Shape 52"/>
          <p:cNvSpPr/>
          <p:nvPr/>
        </p:nvSpPr>
        <p:spPr>
          <a:xfrm>
            <a:off x="6126480" y="6620256"/>
            <a:ext cx="1737360" cy="237744"/>
          </a:xfrm>
          <a:prstGeom prst="rect">
            <a:avLst/>
          </a:prstGeom>
          <a:solidFill>
            <a:srgbClr val="4F417A"/>
          </a:solidFill>
          <a:ln/>
        </p:spPr>
      </p:sp>
      <p:sp>
        <p:nvSpPr>
          <p:cNvPr id="55" name="Shape 53"/>
          <p:cNvSpPr/>
          <p:nvPr/>
        </p:nvSpPr>
        <p:spPr>
          <a:xfrm>
            <a:off x="7863840" y="6620256"/>
            <a:ext cx="1280160" cy="237744"/>
          </a:xfrm>
          <a:prstGeom prst="rect">
            <a:avLst/>
          </a:prstGeom>
          <a:solidFill>
            <a:srgbClr val="7A7099"/>
          </a:solidFill>
          <a:ln/>
        </p:spPr>
      </p:sp>
      <p:sp>
        <p:nvSpPr>
          <p:cNvPr id="56" name="Text 54"/>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57" name="Text 55"/>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58" name="Text 56"/>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9" name="Text 57"/>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11</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322164"/>
          </a:solidFill>
          <a:ln/>
        </p:spPr>
      </p:sp>
      <p:sp>
        <p:nvSpPr>
          <p:cNvPr id="3" name="Text 1"/>
          <p:cNvSpPr/>
          <p:nvPr/>
        </p:nvSpPr>
        <p:spPr>
          <a:xfrm>
            <a:off x="201168" y="0"/>
            <a:ext cx="8741664"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Dự phòng · Nhánh ứng viên: dấu hiệu của bỏ cuộc và thủ tục ngưỡng</a:t>
            </a:r>
            <a:endParaRPr lang="en-US" sz="1900" dirty="0"/>
          </a:p>
        </p:txBody>
      </p:sp>
      <p:sp>
        <p:nvSpPr>
          <p:cNvPr id="4" name="Text 2"/>
          <p:cNvSpPr/>
          <p:nvPr/>
        </p:nvSpPr>
        <p:spPr>
          <a:xfrm>
            <a:off x="502920" y="777240"/>
            <a:ext cx="4206240" cy="274320"/>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Chỉ bước có đáp án trong danh sách</a:t>
            </a:r>
            <a:endParaRPr lang="en-US" sz="1250" dirty="0"/>
          </a:p>
        </p:txBody>
      </p:sp>
      <p:sp>
        <p:nvSpPr>
          <p:cNvPr id="5" name="Shape 3"/>
          <p:cNvSpPr/>
          <p:nvPr/>
        </p:nvSpPr>
        <p:spPr>
          <a:xfrm>
            <a:off x="502920" y="1097280"/>
            <a:ext cx="4114800" cy="347472"/>
          </a:xfrm>
          <a:prstGeom prst="rect">
            <a:avLst/>
          </a:prstGeom>
          <a:solidFill>
            <a:srgbClr val="322164"/>
          </a:solidFill>
          <a:ln/>
        </p:spPr>
      </p:sp>
      <p:sp>
        <p:nvSpPr>
          <p:cNvPr id="6" name="Text 4"/>
          <p:cNvSpPr/>
          <p:nvPr/>
        </p:nvSpPr>
        <p:spPr>
          <a:xfrm>
            <a:off x="502920" y="1097280"/>
            <a:ext cx="1554480" cy="347472"/>
          </a:xfrm>
          <a:prstGeom prst="rect">
            <a:avLst/>
          </a:prstGeom>
          <a:noFill/>
          <a:ln/>
        </p:spPr>
        <p:txBody>
          <a:bodyPr wrap="square" lIns="38100" tIns="38100" rIns="38100" bIns="38100" rtlCol="0" anchor="ctr"/>
          <a:lstStyle/>
          <a:p>
            <a:pPr algn="l" indent="0" marL="0">
              <a:buNone/>
            </a:pPr>
            <a:r>
              <a:rPr lang="en-US" sz="1150" b="1" dirty="0">
                <a:solidFill>
                  <a:srgbClr val="FFFFFF"/>
                </a:solidFill>
                <a:latin typeface="Cambria" pitchFamily="34" charset="0"/>
                <a:ea typeface="Cambria" pitchFamily="34" charset="-122"/>
                <a:cs typeface="Cambria" pitchFamily="34" charset="-120"/>
              </a:rPr>
              <a:t>Số dòng</a:t>
            </a:r>
            <a:endParaRPr lang="en-US" sz="1150" dirty="0"/>
          </a:p>
        </p:txBody>
      </p:sp>
      <p:sp>
        <p:nvSpPr>
          <p:cNvPr id="7" name="Text 5"/>
          <p:cNvSpPr/>
          <p:nvPr/>
        </p:nvSpPr>
        <p:spPr>
          <a:xfrm>
            <a:off x="2057400" y="1097280"/>
            <a:ext cx="731520" cy="347472"/>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n</a:t>
            </a:r>
            <a:endParaRPr lang="en-US" sz="1150" dirty="0"/>
          </a:p>
        </p:txBody>
      </p:sp>
      <p:sp>
        <p:nvSpPr>
          <p:cNvPr id="8" name="Text 6"/>
          <p:cNvSpPr/>
          <p:nvPr/>
        </p:nvSpPr>
        <p:spPr>
          <a:xfrm>
            <a:off x="2788920" y="1097280"/>
            <a:ext cx="1005840" cy="347472"/>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Bỏ cuộc</a:t>
            </a:r>
            <a:endParaRPr lang="en-US" sz="1150" dirty="0"/>
          </a:p>
        </p:txBody>
      </p:sp>
      <p:sp>
        <p:nvSpPr>
          <p:cNvPr id="9" name="Text 7"/>
          <p:cNvSpPr/>
          <p:nvPr/>
        </p:nvSpPr>
        <p:spPr>
          <a:xfrm>
            <a:off x="3794760" y="1097280"/>
            <a:ext cx="822960" cy="347472"/>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Cambria" pitchFamily="34" charset="0"/>
                <a:ea typeface="Cambria" pitchFamily="34" charset="-122"/>
                <a:cs typeface="Cambria" pitchFamily="34" charset="-120"/>
              </a:rPr>
              <a:t>Exec.</a:t>
            </a:r>
            <a:endParaRPr lang="en-US" sz="1150" dirty="0"/>
          </a:p>
        </p:txBody>
      </p:sp>
      <p:sp>
        <p:nvSpPr>
          <p:cNvPr id="10" name="Text 8"/>
          <p:cNvSpPr/>
          <p:nvPr/>
        </p:nvSpPr>
        <p:spPr>
          <a:xfrm>
            <a:off x="502920" y="1444752"/>
            <a:ext cx="1554480" cy="32918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1 đến 5</a:t>
            </a:r>
            <a:endParaRPr lang="en-US" sz="1150" dirty="0"/>
          </a:p>
        </p:txBody>
      </p:sp>
      <p:sp>
        <p:nvSpPr>
          <p:cNvPr id="11" name="Text 9"/>
          <p:cNvSpPr/>
          <p:nvPr/>
        </p:nvSpPr>
        <p:spPr>
          <a:xfrm>
            <a:off x="2057400" y="1444752"/>
            <a:ext cx="73152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178</a:t>
            </a:r>
            <a:endParaRPr lang="en-US" sz="1150" dirty="0"/>
          </a:p>
        </p:txBody>
      </p:sp>
      <p:sp>
        <p:nvSpPr>
          <p:cNvPr id="12" name="Text 10"/>
          <p:cNvSpPr/>
          <p:nvPr/>
        </p:nvSpPr>
        <p:spPr>
          <a:xfrm>
            <a:off x="2788920" y="1444752"/>
            <a:ext cx="100584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18,5%</a:t>
            </a:r>
            <a:endParaRPr lang="en-US" sz="1150" dirty="0"/>
          </a:p>
        </p:txBody>
      </p:sp>
      <p:sp>
        <p:nvSpPr>
          <p:cNvPr id="13" name="Text 11"/>
          <p:cNvSpPr/>
          <p:nvPr/>
        </p:nvSpPr>
        <p:spPr>
          <a:xfrm>
            <a:off x="3794760" y="1444752"/>
            <a:ext cx="82296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70,8</a:t>
            </a:r>
            <a:endParaRPr lang="en-US" sz="1150" dirty="0"/>
          </a:p>
        </p:txBody>
      </p:sp>
      <p:sp>
        <p:nvSpPr>
          <p:cNvPr id="14" name="Shape 12"/>
          <p:cNvSpPr/>
          <p:nvPr/>
        </p:nvSpPr>
        <p:spPr>
          <a:xfrm>
            <a:off x="502920" y="1773936"/>
            <a:ext cx="4114800" cy="0"/>
          </a:xfrm>
          <a:prstGeom prst="line">
            <a:avLst/>
          </a:prstGeom>
          <a:noFill/>
          <a:ln w="12700">
            <a:solidFill>
              <a:srgbClr val="9A94AE"/>
            </a:solidFill>
            <a:prstDash val="solid"/>
          </a:ln>
        </p:spPr>
      </p:sp>
      <p:sp>
        <p:nvSpPr>
          <p:cNvPr id="15" name="Text 13"/>
          <p:cNvSpPr/>
          <p:nvPr/>
        </p:nvSpPr>
        <p:spPr>
          <a:xfrm>
            <a:off x="502920" y="1773936"/>
            <a:ext cx="1554480" cy="32918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6 đến 10</a:t>
            </a:r>
            <a:endParaRPr lang="en-US" sz="1150" dirty="0"/>
          </a:p>
        </p:txBody>
      </p:sp>
      <p:sp>
        <p:nvSpPr>
          <p:cNvPr id="16" name="Text 14"/>
          <p:cNvSpPr/>
          <p:nvPr/>
        </p:nvSpPr>
        <p:spPr>
          <a:xfrm>
            <a:off x="2057400" y="1773936"/>
            <a:ext cx="73152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363</a:t>
            </a:r>
            <a:endParaRPr lang="en-US" sz="1150" dirty="0"/>
          </a:p>
        </p:txBody>
      </p:sp>
      <p:sp>
        <p:nvSpPr>
          <p:cNvPr id="17" name="Text 15"/>
          <p:cNvSpPr/>
          <p:nvPr/>
        </p:nvSpPr>
        <p:spPr>
          <a:xfrm>
            <a:off x="2788920" y="1773936"/>
            <a:ext cx="100584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15,7%</a:t>
            </a:r>
            <a:endParaRPr lang="en-US" sz="1150" dirty="0"/>
          </a:p>
        </p:txBody>
      </p:sp>
      <p:sp>
        <p:nvSpPr>
          <p:cNvPr id="18" name="Text 16"/>
          <p:cNvSpPr/>
          <p:nvPr/>
        </p:nvSpPr>
        <p:spPr>
          <a:xfrm>
            <a:off x="3794760" y="1773936"/>
            <a:ext cx="82296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70,5</a:t>
            </a:r>
            <a:endParaRPr lang="en-US" sz="1150" dirty="0"/>
          </a:p>
        </p:txBody>
      </p:sp>
      <p:sp>
        <p:nvSpPr>
          <p:cNvPr id="19" name="Shape 17"/>
          <p:cNvSpPr/>
          <p:nvPr/>
        </p:nvSpPr>
        <p:spPr>
          <a:xfrm>
            <a:off x="502920" y="2103120"/>
            <a:ext cx="4114800" cy="0"/>
          </a:xfrm>
          <a:prstGeom prst="line">
            <a:avLst/>
          </a:prstGeom>
          <a:noFill/>
          <a:ln w="12700">
            <a:solidFill>
              <a:srgbClr val="9A94AE"/>
            </a:solidFill>
            <a:prstDash val="solid"/>
          </a:ln>
        </p:spPr>
      </p:sp>
      <p:sp>
        <p:nvSpPr>
          <p:cNvPr id="20" name="Text 18"/>
          <p:cNvSpPr/>
          <p:nvPr/>
        </p:nvSpPr>
        <p:spPr>
          <a:xfrm>
            <a:off x="502920" y="2103120"/>
            <a:ext cx="1554480" cy="32918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11 đến 20</a:t>
            </a:r>
            <a:endParaRPr lang="en-US" sz="1150" dirty="0"/>
          </a:p>
        </p:txBody>
      </p:sp>
      <p:sp>
        <p:nvSpPr>
          <p:cNvPr id="21" name="Text 19"/>
          <p:cNvSpPr/>
          <p:nvPr/>
        </p:nvSpPr>
        <p:spPr>
          <a:xfrm>
            <a:off x="2057400" y="2103120"/>
            <a:ext cx="73152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826</a:t>
            </a:r>
            <a:endParaRPr lang="en-US" sz="1150" dirty="0"/>
          </a:p>
        </p:txBody>
      </p:sp>
      <p:sp>
        <p:nvSpPr>
          <p:cNvPr id="22" name="Text 20"/>
          <p:cNvSpPr/>
          <p:nvPr/>
        </p:nvSpPr>
        <p:spPr>
          <a:xfrm>
            <a:off x="2788920" y="2103120"/>
            <a:ext cx="100584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25,9%</a:t>
            </a:r>
            <a:endParaRPr lang="en-US" sz="1150" dirty="0"/>
          </a:p>
        </p:txBody>
      </p:sp>
      <p:sp>
        <p:nvSpPr>
          <p:cNvPr id="23" name="Text 21"/>
          <p:cNvSpPr/>
          <p:nvPr/>
        </p:nvSpPr>
        <p:spPr>
          <a:xfrm>
            <a:off x="3794760" y="2103120"/>
            <a:ext cx="82296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60,3</a:t>
            </a:r>
            <a:endParaRPr lang="en-US" sz="1150" dirty="0"/>
          </a:p>
        </p:txBody>
      </p:sp>
      <p:sp>
        <p:nvSpPr>
          <p:cNvPr id="24" name="Shape 22"/>
          <p:cNvSpPr/>
          <p:nvPr/>
        </p:nvSpPr>
        <p:spPr>
          <a:xfrm>
            <a:off x="502920" y="2432304"/>
            <a:ext cx="4114800" cy="0"/>
          </a:xfrm>
          <a:prstGeom prst="line">
            <a:avLst/>
          </a:prstGeom>
          <a:noFill/>
          <a:ln w="12700">
            <a:solidFill>
              <a:srgbClr val="9A94AE"/>
            </a:solidFill>
            <a:prstDash val="solid"/>
          </a:ln>
        </p:spPr>
      </p:sp>
      <p:sp>
        <p:nvSpPr>
          <p:cNvPr id="25" name="Text 23"/>
          <p:cNvSpPr/>
          <p:nvPr/>
        </p:nvSpPr>
        <p:spPr>
          <a:xfrm>
            <a:off x="502920" y="2432304"/>
            <a:ext cx="1554480" cy="329184"/>
          </a:xfrm>
          <a:prstGeom prst="rect">
            <a:avLst/>
          </a:prstGeom>
          <a:noFill/>
          <a:ln/>
        </p:spPr>
        <p:txBody>
          <a:bodyPr wrap="square" lIns="38100" tIns="38100" rIns="38100" bIns="38100" rtlCol="0" anchor="ctr"/>
          <a:lstStyle/>
          <a:p>
            <a:pPr algn="l" indent="0" marL="0">
              <a:buNone/>
            </a:pPr>
            <a:r>
              <a:rPr lang="en-US" sz="1150" dirty="0">
                <a:solidFill>
                  <a:srgbClr val="1A1A1A"/>
                </a:solidFill>
                <a:latin typeface="Cambria" pitchFamily="34" charset="0"/>
                <a:ea typeface="Cambria" pitchFamily="34" charset="-122"/>
                <a:cs typeface="Cambria" pitchFamily="34" charset="-120"/>
              </a:rPr>
              <a:t>21 đến 39</a:t>
            </a:r>
            <a:endParaRPr lang="en-US" sz="1150" dirty="0"/>
          </a:p>
        </p:txBody>
      </p:sp>
      <p:sp>
        <p:nvSpPr>
          <p:cNvPr id="26" name="Text 24"/>
          <p:cNvSpPr/>
          <p:nvPr/>
        </p:nvSpPr>
        <p:spPr>
          <a:xfrm>
            <a:off x="2057400" y="2432304"/>
            <a:ext cx="73152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1.036</a:t>
            </a:r>
            <a:endParaRPr lang="en-US" sz="1150" dirty="0"/>
          </a:p>
        </p:txBody>
      </p:sp>
      <p:sp>
        <p:nvSpPr>
          <p:cNvPr id="27" name="Text 25"/>
          <p:cNvSpPr/>
          <p:nvPr/>
        </p:nvSpPr>
        <p:spPr>
          <a:xfrm>
            <a:off x="2788920" y="2432304"/>
            <a:ext cx="100584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29,3%</a:t>
            </a:r>
            <a:endParaRPr lang="en-US" sz="1150" dirty="0"/>
          </a:p>
        </p:txBody>
      </p:sp>
      <p:sp>
        <p:nvSpPr>
          <p:cNvPr id="28" name="Text 26"/>
          <p:cNvSpPr/>
          <p:nvPr/>
        </p:nvSpPr>
        <p:spPr>
          <a:xfrm>
            <a:off x="3794760" y="2432304"/>
            <a:ext cx="82296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55,6</a:t>
            </a:r>
            <a:endParaRPr lang="en-US" sz="1150" dirty="0"/>
          </a:p>
        </p:txBody>
      </p:sp>
      <p:sp>
        <p:nvSpPr>
          <p:cNvPr id="29" name="Shape 27"/>
          <p:cNvSpPr/>
          <p:nvPr/>
        </p:nvSpPr>
        <p:spPr>
          <a:xfrm>
            <a:off x="502920" y="2761488"/>
            <a:ext cx="4114800" cy="0"/>
          </a:xfrm>
          <a:prstGeom prst="line">
            <a:avLst/>
          </a:prstGeom>
          <a:noFill/>
          <a:ln w="12700">
            <a:solidFill>
              <a:srgbClr val="9A94AE"/>
            </a:solidFill>
            <a:prstDash val="solid"/>
          </a:ln>
        </p:spPr>
      </p:sp>
      <p:sp>
        <p:nvSpPr>
          <p:cNvPr id="30" name="Text 28"/>
          <p:cNvSpPr/>
          <p:nvPr/>
        </p:nvSpPr>
        <p:spPr>
          <a:xfrm>
            <a:off x="502920" y="2761488"/>
            <a:ext cx="1554480" cy="329184"/>
          </a:xfrm>
          <a:prstGeom prst="rect">
            <a:avLst/>
          </a:prstGeom>
          <a:noFill/>
          <a:ln/>
        </p:spPr>
        <p:txBody>
          <a:bodyPr wrap="square" lIns="38100" tIns="38100" rIns="38100" bIns="38100" rtlCol="0" anchor="ctr"/>
          <a:lstStyle/>
          <a:p>
            <a:pPr algn="l" indent="0" marL="0">
              <a:buNone/>
            </a:pPr>
            <a:r>
              <a:rPr lang="en-US" sz="1150" b="1" dirty="0">
                <a:solidFill>
                  <a:srgbClr val="1A1A1A"/>
                </a:solidFill>
                <a:latin typeface="Cambria" pitchFamily="34" charset="0"/>
                <a:ea typeface="Cambria" pitchFamily="34" charset="-122"/>
                <a:cs typeface="Cambria" pitchFamily="34" charset="-120"/>
              </a:rPr>
              <a:t>40, chạm trần</a:t>
            </a:r>
            <a:endParaRPr lang="en-US" sz="1150" dirty="0"/>
          </a:p>
        </p:txBody>
      </p:sp>
      <p:sp>
        <p:nvSpPr>
          <p:cNvPr id="31" name="Text 29"/>
          <p:cNvSpPr/>
          <p:nvPr/>
        </p:nvSpPr>
        <p:spPr>
          <a:xfrm>
            <a:off x="2057400" y="2761488"/>
            <a:ext cx="731520" cy="329184"/>
          </a:xfrm>
          <a:prstGeom prst="rect">
            <a:avLst/>
          </a:prstGeom>
          <a:noFill/>
          <a:ln/>
        </p:spPr>
        <p:txBody>
          <a:bodyPr wrap="square" lIns="38100" tIns="38100" rIns="38100" bIns="38100" rtlCol="0" anchor="ctr"/>
          <a:lstStyle/>
          <a:p>
            <a:pPr algn="ctr" indent="0" marL="0">
              <a:buNone/>
            </a:pPr>
            <a:r>
              <a:rPr lang="en-US" sz="1150" dirty="0">
                <a:solidFill>
                  <a:srgbClr val="1A1A1A"/>
                </a:solidFill>
                <a:latin typeface="Cambria" pitchFamily="34" charset="0"/>
                <a:ea typeface="Cambria" pitchFamily="34" charset="-122"/>
                <a:cs typeface="Cambria" pitchFamily="34" charset="-120"/>
              </a:rPr>
              <a:t>795</a:t>
            </a:r>
            <a:endParaRPr lang="en-US" sz="1150" dirty="0"/>
          </a:p>
        </p:txBody>
      </p:sp>
      <p:sp>
        <p:nvSpPr>
          <p:cNvPr id="32" name="Text 30"/>
          <p:cNvSpPr/>
          <p:nvPr/>
        </p:nvSpPr>
        <p:spPr>
          <a:xfrm>
            <a:off x="2788920" y="2761488"/>
            <a:ext cx="1005840" cy="329184"/>
          </a:xfrm>
          <a:prstGeom prst="rect">
            <a:avLst/>
          </a:prstGeom>
          <a:noFill/>
          <a:ln/>
        </p:spPr>
        <p:txBody>
          <a:bodyPr wrap="square" lIns="38100" tIns="38100" rIns="38100" bIns="38100" rtlCol="0" anchor="ctr"/>
          <a:lstStyle/>
          <a:p>
            <a:pPr algn="ctr" indent="0" marL="0">
              <a:buNone/>
            </a:pPr>
            <a:r>
              <a:rPr lang="en-US" sz="1150" b="1" dirty="0">
                <a:solidFill>
                  <a:srgbClr val="B22222"/>
                </a:solidFill>
                <a:latin typeface="Cambria" pitchFamily="34" charset="0"/>
                <a:ea typeface="Cambria" pitchFamily="34" charset="-122"/>
                <a:cs typeface="Cambria" pitchFamily="34" charset="-120"/>
              </a:rPr>
              <a:t>33,2%</a:t>
            </a:r>
            <a:endParaRPr lang="en-US" sz="1150" dirty="0"/>
          </a:p>
        </p:txBody>
      </p:sp>
      <p:sp>
        <p:nvSpPr>
          <p:cNvPr id="33" name="Text 31"/>
          <p:cNvSpPr/>
          <p:nvPr/>
        </p:nvSpPr>
        <p:spPr>
          <a:xfrm>
            <a:off x="3794760" y="2761488"/>
            <a:ext cx="822960" cy="329184"/>
          </a:xfrm>
          <a:prstGeom prst="rect">
            <a:avLst/>
          </a:prstGeom>
          <a:noFill/>
          <a:ln/>
        </p:spPr>
        <p:txBody>
          <a:bodyPr wrap="square" lIns="38100" tIns="38100" rIns="38100" bIns="38100" rtlCol="0" anchor="ctr"/>
          <a:lstStyle/>
          <a:p>
            <a:pPr algn="ctr" indent="0" marL="0">
              <a:buNone/>
            </a:pPr>
            <a:r>
              <a:rPr lang="en-US" sz="1150" b="1" dirty="0">
                <a:solidFill>
                  <a:srgbClr val="1A1A1A"/>
                </a:solidFill>
                <a:latin typeface="Cambria" pitchFamily="34" charset="0"/>
                <a:ea typeface="Cambria" pitchFamily="34" charset="-122"/>
                <a:cs typeface="Cambria" pitchFamily="34" charset="-120"/>
              </a:rPr>
              <a:t>51,8</a:t>
            </a:r>
            <a:endParaRPr lang="en-US" sz="1150" dirty="0"/>
          </a:p>
        </p:txBody>
      </p:sp>
      <p:sp>
        <p:nvSpPr>
          <p:cNvPr id="34" name="Text 32"/>
          <p:cNvSpPr/>
          <p:nvPr/>
        </p:nvSpPr>
        <p:spPr>
          <a:xfrm>
            <a:off x="502920" y="3154680"/>
            <a:ext cx="4206240" cy="548640"/>
          </a:xfrm>
          <a:prstGeom prst="rect">
            <a:avLst/>
          </a:prstGeom>
          <a:noFill/>
          <a:ln/>
        </p:spPr>
        <p:txBody>
          <a:bodyPr wrap="square" lIns="0" tIns="0" rIns="0" bIns="0" rtlCol="0" anchor="t"/>
          <a:lstStyle/>
          <a:p>
            <a:pPr algn="l" indent="0" marL="0">
              <a:lnSpc>
                <a:spcPct val="130000"/>
              </a:lnSpc>
              <a:buNone/>
            </a:pPr>
            <a:r>
              <a:rPr lang="en-US" sz="1100" i="1" dirty="0">
                <a:solidFill>
                  <a:srgbClr val="5A5A66"/>
                </a:solidFill>
                <a:latin typeface="Cambria" pitchFamily="34" charset="0"/>
                <a:ea typeface="Cambria" pitchFamily="34" charset="-122"/>
                <a:cs typeface="Cambria" pitchFamily="34" charset="-120"/>
              </a:rPr>
              <a:t>Tương quan hậu kiểm, không phải nhân quả: màn nhiều phần tử cũng là màn khó hơn.</a:t>
            </a:r>
            <a:endParaRPr lang="en-US" sz="1100" dirty="0"/>
          </a:p>
        </p:txBody>
      </p:sp>
      <p:sp>
        <p:nvSpPr>
          <p:cNvPr id="35" name="Text 33"/>
          <p:cNvSpPr/>
          <p:nvPr/>
        </p:nvSpPr>
        <p:spPr>
          <a:xfrm>
            <a:off x="4983480" y="777240"/>
            <a:ext cx="3657600" cy="274320"/>
          </a:xfrm>
          <a:prstGeom prst="rect">
            <a:avLst/>
          </a:prstGeom>
          <a:noFill/>
          <a:ln/>
        </p:spPr>
        <p:txBody>
          <a:bodyPr wrap="square" lIns="0" tIns="0" rIns="0" bIns="0" rtlCol="0" anchor="t"/>
          <a:lstStyle/>
          <a:p>
            <a:pPr algn="l" indent="0" marL="0">
              <a:buNone/>
            </a:pPr>
            <a:r>
              <a:rPr lang="en-US" sz="1250" b="1" dirty="0">
                <a:solidFill>
                  <a:srgbClr val="322164"/>
                </a:solidFill>
                <a:latin typeface="Cambria" pitchFamily="34" charset="0"/>
                <a:ea typeface="Cambria" pitchFamily="34" charset="-122"/>
                <a:cs typeface="Cambria" pitchFamily="34" charset="-120"/>
              </a:rPr>
              <a:t>Bốn dấu hiệu đi kèm việc bỏ cuộc</a:t>
            </a:r>
            <a:endParaRPr lang="en-US" sz="1250" dirty="0"/>
          </a:p>
        </p:txBody>
      </p:sp>
      <p:sp>
        <p:nvSpPr>
          <p:cNvPr id="36" name="Text 34"/>
          <p:cNvSpPr/>
          <p:nvPr/>
        </p:nvSpPr>
        <p:spPr>
          <a:xfrm>
            <a:off x="4983480" y="1143000"/>
            <a:ext cx="201168" cy="530352"/>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37" name="Text 35"/>
          <p:cNvSpPr/>
          <p:nvPr/>
        </p:nvSpPr>
        <p:spPr>
          <a:xfrm>
            <a:off x="5212080" y="1143000"/>
            <a:ext cx="3429000" cy="493776"/>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Câu mang động từ không chạm: 28,3% so với 0,97%, gấp 29 lần</a:t>
            </a:r>
            <a:endParaRPr lang="en-US" sz="1150" dirty="0"/>
          </a:p>
        </p:txBody>
      </p:sp>
      <p:sp>
        <p:nvSpPr>
          <p:cNvPr id="38" name="Text 36"/>
          <p:cNvSpPr/>
          <p:nvPr/>
        </p:nvSpPr>
        <p:spPr>
          <a:xfrm>
            <a:off x="4983480" y="1673352"/>
            <a:ext cx="201168" cy="530352"/>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39" name="Text 37"/>
          <p:cNvSpPr/>
          <p:nvPr/>
        </p:nvSpPr>
        <p:spPr>
          <a:xfrm>
            <a:off x="5212080" y="1673352"/>
            <a:ext cx="3429000" cy="493776"/>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Sai số mô hình định vị: trung vị 19,9% so với 0,78% bề ngang màn</a:t>
            </a:r>
            <a:endParaRPr lang="en-US" sz="1150" dirty="0"/>
          </a:p>
        </p:txBody>
      </p:sp>
      <p:sp>
        <p:nvSpPr>
          <p:cNvPr id="40" name="Text 38"/>
          <p:cNvSpPr/>
          <p:nvPr/>
        </p:nvSpPr>
        <p:spPr>
          <a:xfrm>
            <a:off x="4983480" y="2203704"/>
            <a:ext cx="201168" cy="530352"/>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41" name="Text 39"/>
          <p:cNvSpPr/>
          <p:nvPr/>
        </p:nvSpPr>
        <p:spPr>
          <a:xfrm>
            <a:off x="5212080" y="2203704"/>
            <a:ext cx="3429000" cy="493776"/>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Danh sách càng dài càng hay bỏ cuộc, đơn điệu</a:t>
            </a:r>
            <a:endParaRPr lang="en-US" sz="1150" dirty="0"/>
          </a:p>
        </p:txBody>
      </p:sp>
      <p:sp>
        <p:nvSpPr>
          <p:cNvPr id="42" name="Text 40"/>
          <p:cNvSpPr/>
          <p:nvPr/>
        </p:nvSpPr>
        <p:spPr>
          <a:xfrm>
            <a:off x="4983480" y="2734056"/>
            <a:ext cx="201168" cy="530352"/>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43" name="Text 41"/>
          <p:cNvSpPr/>
          <p:nvPr/>
        </p:nvSpPr>
        <p:spPr>
          <a:xfrm>
            <a:off x="5212080" y="2734056"/>
            <a:ext cx="3429000" cy="493776"/>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Ứng dụng chưa thấy: 51,3% so với 41,8% (n = 78, chỉ là gợi ý)</a:t>
            </a:r>
            <a:endParaRPr lang="en-US" sz="1150" dirty="0"/>
          </a:p>
        </p:txBody>
      </p:sp>
      <p:sp>
        <p:nvSpPr>
          <p:cNvPr id="44" name="Text 42"/>
          <p:cNvSpPr/>
          <p:nvPr/>
        </p:nvSpPr>
        <p:spPr>
          <a:xfrm>
            <a:off x="4983480" y="3264408"/>
            <a:ext cx="201168" cy="530352"/>
          </a:xfrm>
          <a:prstGeom prst="rect">
            <a:avLst/>
          </a:prstGeom>
          <a:noFill/>
          <a:ln/>
        </p:spPr>
        <p:txBody>
          <a:bodyPr wrap="square" lIns="0" tIns="0" rIns="0" bIns="0" rtlCol="0" anchor="t"/>
          <a:lstStyle/>
          <a:p>
            <a:pPr algn="l" indent="0" marL="0">
              <a:buNone/>
            </a:pPr>
            <a:r>
              <a:rPr lang="en-US" sz="1150" b="1" dirty="0">
                <a:solidFill>
                  <a:srgbClr val="006666"/>
                </a:solidFill>
                <a:latin typeface="Cambria" pitchFamily="34" charset="0"/>
                <a:ea typeface="Cambria" pitchFamily="34" charset="-122"/>
                <a:cs typeface="Cambria" pitchFamily="34" charset="-120"/>
              </a:rPr>
              <a:t>•</a:t>
            </a:r>
            <a:endParaRPr lang="en-US" sz="1150" dirty="0"/>
          </a:p>
        </p:txBody>
      </p:sp>
      <p:sp>
        <p:nvSpPr>
          <p:cNvPr id="45" name="Text 43"/>
          <p:cNvSpPr/>
          <p:nvPr/>
        </p:nvSpPr>
        <p:spPr>
          <a:xfrm>
            <a:off x="5212080" y="3264408"/>
            <a:ext cx="3429000" cy="493776"/>
          </a:xfrm>
          <a:prstGeom prst="rect">
            <a:avLst/>
          </a:prstGeom>
          <a:noFill/>
          <a:ln/>
        </p:spPr>
        <p:txBody>
          <a:bodyPr wrap="square" lIns="0" tIns="0" rIns="0" bIns="0" rtlCol="0" anchor="t"/>
          <a:lstStyle/>
          <a:p>
            <a:pPr algn="l" indent="0" marL="0">
              <a:lnSpc>
                <a:spcPct val="125000"/>
              </a:lnSpc>
              <a:buNone/>
            </a:pPr>
            <a:r>
              <a:rPr lang="en-US" sz="1150" dirty="0">
                <a:solidFill>
                  <a:srgbClr val="1A1A1A"/>
                </a:solidFill>
                <a:latin typeface="Cambria" pitchFamily="34" charset="0"/>
                <a:ea typeface="Cambria" pitchFamily="34" charset="-122"/>
                <a:cs typeface="Cambria" pitchFamily="34" charset="-120"/>
              </a:rPr>
              <a:t>Đã loại: độ dài câu, trung vị 33 ký tự ở cả hai nhóm</a:t>
            </a:r>
            <a:endParaRPr lang="en-US" sz="1150" dirty="0"/>
          </a:p>
        </p:txBody>
      </p:sp>
      <p:sp>
        <p:nvSpPr>
          <p:cNvPr id="46" name="Shape 44"/>
          <p:cNvSpPr/>
          <p:nvPr/>
        </p:nvSpPr>
        <p:spPr>
          <a:xfrm>
            <a:off x="502920" y="3931920"/>
            <a:ext cx="8138160" cy="1783080"/>
          </a:xfrm>
          <a:prstGeom prst="roundRect">
            <a:avLst>
              <a:gd name="adj" fmla="val 3077"/>
            </a:avLst>
          </a:prstGeom>
          <a:solidFill>
            <a:srgbClr val="E9E8EC"/>
          </a:solidFill>
          <a:ln/>
          <a:effectLst>
            <a:outerShdw sx="100000" sy="100000" kx="0" ky="0" algn="bl" rotWithShape="0" blurRad="63500" dist="31750" dir="2700000">
              <a:srgbClr val="8C8C99">
                <a:alpha val="45000"/>
              </a:srgbClr>
            </a:outerShdw>
          </a:effectLst>
        </p:spPr>
      </p:sp>
      <p:sp>
        <p:nvSpPr>
          <p:cNvPr id="47" name="Text 45"/>
          <p:cNvSpPr/>
          <p:nvPr/>
        </p:nvSpPr>
        <p:spPr>
          <a:xfrm>
            <a:off x="731520" y="3931920"/>
            <a:ext cx="7680960" cy="1783080"/>
          </a:xfrm>
          <a:prstGeom prst="rect">
            <a:avLst/>
          </a:prstGeom>
          <a:noFill/>
          <a:ln/>
        </p:spPr>
        <p:txBody>
          <a:bodyPr wrap="square" lIns="0" tIns="0" rIns="0" bIns="0" rtlCol="0" anchor="ctr"/>
          <a:lstStyle/>
          <a:p>
            <a:pPr algn="l" indent="0" marL="0">
              <a:lnSpc>
                <a:spcPct val="135000"/>
              </a:lnSpc>
              <a:buNone/>
            </a:pPr>
            <a:r>
              <a:rPr lang="en-US" sz="1200" b="1" dirty="0">
                <a:solidFill>
                  <a:srgbClr val="322164"/>
                </a:solidFill>
                <a:latin typeface="Cambria" pitchFamily="34" charset="0"/>
                <a:ea typeface="Cambria" pitchFamily="34" charset="-122"/>
                <a:cs typeface="Cambria" pitchFamily="34" charset="-120"/>
              </a:rPr>
              <a:t>Thủ tục chọn ngưỡng bỏ cuộc, cố định trước khi tính điểm nào.</a:t>
            </a:r>
            <a:pPr algn="l" indent="0" marL="0">
              <a:lnSpc>
                <a:spcPct val="135000"/>
              </a:lnSpc>
              <a:buNone/>
            </a:pPr>
            <a:r>
              <a:rPr lang="en-US" sz="1200" dirty="0">
                <a:solidFill>
                  <a:srgbClr val="1A1A1A"/>
                </a:solidFill>
                <a:latin typeface="Cambria" pitchFamily="34" charset="0"/>
                <a:ea typeface="Cambria" pitchFamily="34" charset="-122"/>
                <a:cs typeface="Cambria" pitchFamily="34" charset="-120"/>
              </a:rPr>
              <a:t> Ép từng thẻ chọn vào mô hình, lấy log-xác suất trung bình theo token; chọn ứng viên tốt nhất khi biên so với thẻ bỏ cuộc vượt τ. Quét τ chỉ trên lát 1.400, theo độ đúng toàn bộ lát; lưới chứa cả phương án giữ nguyên, cải thiện dưới 18 bước thì giữ nguyên thắng. Kỳ vọng ghi trước: 0 đến 3 điểm. Kết quả: giữ nguyên thắng, tốt nhất +8/1.400, KTC [−11; +27]; điểm thẻ none ở bước có vàng và không có vàng trùng nhau (AUC 0,69–0,72). Huấn luyện lại không chạy.</a:t>
            </a:r>
            <a:endParaRPr lang="en-US" sz="1200" dirty="0"/>
          </a:p>
        </p:txBody>
      </p:sp>
      <p:sp>
        <p:nvSpPr>
          <p:cNvPr id="48" name="Shape 46"/>
          <p:cNvSpPr/>
          <p:nvPr/>
        </p:nvSpPr>
        <p:spPr>
          <a:xfrm>
            <a:off x="0" y="6620256"/>
            <a:ext cx="2743200" cy="237744"/>
          </a:xfrm>
          <a:prstGeom prst="rect">
            <a:avLst/>
          </a:prstGeom>
          <a:solidFill>
            <a:srgbClr val="191132"/>
          </a:solidFill>
          <a:ln/>
        </p:spPr>
      </p:sp>
      <p:sp>
        <p:nvSpPr>
          <p:cNvPr id="49" name="Shape 47"/>
          <p:cNvSpPr/>
          <p:nvPr/>
        </p:nvSpPr>
        <p:spPr>
          <a:xfrm>
            <a:off x="2743200" y="6620256"/>
            <a:ext cx="3383280" cy="237744"/>
          </a:xfrm>
          <a:prstGeom prst="rect">
            <a:avLst/>
          </a:prstGeom>
          <a:solidFill>
            <a:srgbClr val="25194B"/>
          </a:solidFill>
          <a:ln/>
        </p:spPr>
      </p:sp>
      <p:sp>
        <p:nvSpPr>
          <p:cNvPr id="50" name="Shape 48"/>
          <p:cNvSpPr/>
          <p:nvPr/>
        </p:nvSpPr>
        <p:spPr>
          <a:xfrm>
            <a:off x="6126480" y="6620256"/>
            <a:ext cx="1737360" cy="237744"/>
          </a:xfrm>
          <a:prstGeom prst="rect">
            <a:avLst/>
          </a:prstGeom>
          <a:solidFill>
            <a:srgbClr val="4F417A"/>
          </a:solidFill>
          <a:ln/>
        </p:spPr>
      </p:sp>
      <p:sp>
        <p:nvSpPr>
          <p:cNvPr id="51" name="Shape 49"/>
          <p:cNvSpPr/>
          <p:nvPr/>
        </p:nvSpPr>
        <p:spPr>
          <a:xfrm>
            <a:off x="7863840" y="6620256"/>
            <a:ext cx="1280160" cy="237744"/>
          </a:xfrm>
          <a:prstGeom prst="rect">
            <a:avLst/>
          </a:prstGeom>
          <a:solidFill>
            <a:srgbClr val="7A7099"/>
          </a:solidFill>
          <a:ln/>
        </p:spPr>
      </p:sp>
      <p:sp>
        <p:nvSpPr>
          <p:cNvPr id="52" name="Text 50"/>
          <p:cNvSpPr/>
          <p:nvPr/>
        </p:nvSpPr>
        <p:spPr>
          <a:xfrm>
            <a:off x="0" y="6620256"/>
            <a:ext cx="274320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bảo vệ luận văn thạc sĩ</a:t>
            </a:r>
            <a:endParaRPr lang="en-US" sz="800" dirty="0"/>
          </a:p>
        </p:txBody>
      </p:sp>
      <p:sp>
        <p:nvSpPr>
          <p:cNvPr id="53" name="Text 51"/>
          <p:cNvSpPr/>
          <p:nvPr/>
        </p:nvSpPr>
        <p:spPr>
          <a:xfrm>
            <a:off x="2743200" y="6620256"/>
            <a:ext cx="338328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54" name="Text 52"/>
          <p:cNvSpPr/>
          <p:nvPr/>
        </p:nvSpPr>
        <p:spPr>
          <a:xfrm>
            <a:off x="6126480" y="6620256"/>
            <a:ext cx="17373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55" name="Text 53"/>
          <p:cNvSpPr/>
          <p:nvPr/>
        </p:nvSpPr>
        <p:spPr>
          <a:xfrm>
            <a:off x="7863840" y="6620256"/>
            <a:ext cx="1280160"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mbria" pitchFamily="34" charset="0"/>
                <a:ea typeface="Cambria" pitchFamily="34" charset="-122"/>
                <a:cs typeface="Cambria" pitchFamily="34" charset="-120"/>
              </a:rPr>
              <a:t>dự phòng 12</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Phat sinh tu dong huong dan su dung phan mem dua tren LLM - bao ve luan van</dc:title>
  <dc:subject>PptxGenJS Presentation</dc:subject>
  <dc:creator>Le Doan Phuong Uyen</dc:creator>
  <cp:lastModifiedBy>Le Doan Phuong Uyen</cp:lastModifiedBy>
  <cp:revision>1</cp:revision>
  <dcterms:created xsi:type="dcterms:W3CDTF">2026-09-05T14:05:32Z</dcterms:created>
  <dcterms:modified xsi:type="dcterms:W3CDTF">2026-09-05T14:05:32Z</dcterms:modified>
</cp:coreProperties>
</file>