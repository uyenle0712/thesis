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giây] Kính thưa hội đồng, em là Lê Đoàn Phương Uyên, học viên cao học ngành Trí tuệ nhân tạo, thực hiện luận văn dưới sự hướng dẫn của thầy Nguyễn Hồng Bửu Long. Đề tài của em là sinh hướng dẫn sử dụng phần mềm từ ảnh màn hình. Bài trình bày khoảng 25 phút, em xin bắt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giây] Bài trình bày đi theo sáu phần. Em xin dành phần lớn thời gian cho hai chỗ: thước đo, vì đó là phần đóng góp đã hoàn tất, và phần chẩn đoán, vì đó là chỗ luận văn nói rõ được giới hạn thật của thành phần mà em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giây] Bài toán bắt đầu từ một tình huống rất đời thường: đang thao tác trên điện thoại thì bí, không biết bấm gì tiếp.
Dòng nghiên cứu tác tử giao diện nhận đúng đầu vào này nhưng sinh ra toạ độ để máy tự bấm. Em đổi đầu ra: sản phẩm cuối là câu chữ cho người đọc, và câu cũng là thứ duy nhất đem chấm.
Chỗ này quan trọng vì nó quyết định cả phần đánh giá lẫn phần huấn luyện về sau. Mô hình nhắm tới cỡ ba tỉ tham số để chạy tại máy, vì ảnh màn hình là dữ liệu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Đổi đầu ra thì hai chỗ hỏng ngay.
Thứ nhất là đánh giá. Em đo mức hỏng của từng thước quen dùng chứ không nói suông: so khớp chuỗi kết oan 97,5% số câu chỉ diễn đạt khác; so vector ngữ nghĩa cho AUC 0,336, tức kém hơn đoán ngẫu nhiên, vì nó đo độ gần chủ đề chứ không đo hai câu có nói về cùng một phần tử hay không. Cặp inbox và outbox được chấm cao hơn cặp search và magnifying glass, dù cặp sau mới là cặp cùng chỉ một nút.
Thứ hai là dạng lỗi. Em đọc tay 40 trường hợp sinh sai: bịa đặt gần như không có, phần lớn là câu mơ hồ. Quan sát này đặt lại trọng tâm cải tiến cho cả luận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giây] Bảng này trả lời câu hỏi công trình đứng ở đâu.
Điều em muốn nói rõ ngay từ đầu là luận văn không nhận chữ "đầu tiên" cho ý tưởng câu phải đủ để bên kia trỏ đúng. Ý đó là của dòng sinh biểu thức quy chiếu, có từ 2016. Phần em nhận hẹp hơn nhiều: đưa ràng buộc phân biệt vào mục tiêu huấn luyện, trong miền giao diện, nơi công trình có giám sát gần nhất là Widget Captioning vẫn dùng entropy chéo thuần.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Em xin nói trước trạng thái thật của ba đóng góp, để hội đồng theo dõi phần sau dễ hơn.
Đóng góp thứ nhất là thước đo, đã hoàn tất. Thứ hai là đường ống dữ liệu cộng một kết quả đã đăng ký trước, và em xin nói thẳng: kết quả này KHÔNG hoàn tất, vì đại lượng chính đòi trung bình hai hạt giống mà nhánh xử lý chỉ chạy được một, do ngân sách máy. Luận văn không lấy một phép so khác đã có số để thế chỗ. Thứ ba là phần chẩn đoán, đã hoàn tất, và đó là phần em thấy có giá trị nhất cho người làm tiếp. Ba phần này độc lập nhau về lập luận, nên phần chưa hoàn tất không kéo theo hai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giây] Bộ dữ liệu gốc là AndroidControl, công bố tại NeurIPS 2024. Em ghép hai kho công khai theo khoá cặp tập phim và số bước: một kho giữ câu do người viết cùng cây trợ năng, kho kia giữ ảnh.
Phép ghép được kiểm bằng một đối chứng lệch chủ ý: nếu ghép đúng thì tỉ lệ khớp phải cao hơn hẳn bản cố tình lệch một bước, và số đo là 48 so với 20 phần trăm.
Điểm em muốn nhấn: toàn bộ nhãn dựng bằng máy, không thuê người, và cũng không lấy nhãn từ một mô hình ngôn ngữ khác, nên không có chuyện chưng cất ngầm từ một mô hình mạnh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giây] Nhãn có bốn ô. Ô khó nhất là ô tên, vì cây trợ năng của Android tuy liệt kê rất nhiều phần tử nhưng chỉ khoảng một phần tám trong đó có tên đọc được. Em bù bằng phép trích chữ trên ảnh, cộng hai cổng lọc thêm vào sau khi đo thấy nhãn trợ năng có 14,7% là chuỗi rác.
Kết quả ở quy mô đủ: 73,6% bước có tên dùng được, 22% không có tên nào, 7,6% trùng tên với phần tử khác. Chính hai con số sau là lý do phải có ô dấu hiệu phân biệt.
Ô toạ độ thì miễn phí và sạch tuyệt đối, vì đó là chỗ người thật đã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Đây là thành phần em đề xuất. Thay vì dạy mô hình nhảy thẳng từ ảnh sang câu, em dạy nó mô tả phần tử đích trước rồi mới viết câu.
Chi tiết quan trọng nhất nằm ở dòng đỏ: lúc chấm em CẮT tầng khai báo, chỉ đưa câu cho mô hình định vị. Nếu không cắt thì mọi mức tăng đều có thể giải thích bằng việc mô hình được cho thêm thông tin lúc chấm, và đóng góp sẽ tụt xuống thành đóng góp về dữ liệu.
Về việc vì sao bước trung gian phải có toạ độ chứ không phải văn xuôi, em dựa vào cặp Shikra: cùng mô hình cùng bài kiểm, chỉ đổi dạng bước trung gian, một bên âm bảy phẩy bốn, một bên dương năm phẩy chín.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giây] Nhánh khai báo để lại một chẩn đoán rõ: cơ chế không hỏng, cái hỏng là độ chính xác của ô khai báo. Học có giám sát thuần không tác động thẳng vào việc chọn phần tử, nên em thêm một chặng huấn luyện bằng mục tiêu ưu tiên.
Cặp dữ liệu được dựng tối thiểu đúng nghĩa: hai vế giống nhau từng chữ ở phần câu, chỉ khác ô khai báo. Nhờ vậy gradient rơi đúng vào việc chọn phần tử.
Và đây là chỗ em xin nhấn về mặt phương pháp: chặng thêm 800 bước tự nó đã làm mô hình đổi, nên em chạy kèm một nhánh đối chứng cùng điểm xuất phát, cùng số bước, chỉ khác ở việc có hay không có số hạng ưu tiên. Đại lượng đăng ký là hiệu giữa hai nhánh đó, chứ không phải mức tăng thô.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giây] Đây là phần đóng góp đã hoàn tất.
Ý tưởng: đưa câu cho một mô hình định vị độc lập, nó trả về một điểm, rồi hỏi điểm đó có rơi đúng phần tử người dùng đã chạm không.
Ba điều kiện phải cùng thoả. Điều kiện thứ ba là chỗ có nội dung kỹ thuật: không chỉ đòi điểm dự đoán nằm trong dung sai, mà còn đòi trong toàn bộ phần tử trên màn, phần tử người dùng chạm phải là phần tử gần điểm dự đoán nhất. Vùng thoả tính chất đó chính là ô Voronoi trong hình bên phải.
Câu em muốn nói rõ với hội đồng: đây không phải mô hình tự chấm. Barem là toạ độ người thật đã chạm, có sẵn trong dữ liệu, và mô hình định vị không bao giờ thấy toạ độ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giây] Một câu hỏi tự nhiên là vì sao không dùng luôn ngưỡng dung sai quy ước của các công trình trước.
Em trả lời bằng phép đo, không bằng lập luận: đặt trước thước một câu cố tình gọi tên sai nút, ngưỡng dung sai vẫn chấm đúng cho 84,3% số ca. Một thước như vậy gần như không phân biệt được gì. Thêm điều kiện Voronoi thì con số đó xuống 2,8%.
Ba dòng dưới là ba chỗ mà chính em từng viết sai trong bản thảo rồi phải sửa sau khi đọc lại mã, nên em nêu luôn ở đây cho chính xác.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Một thước chỉ đọc được khi biết trần và sàn của nó.
Trần đo bằng cách đem chính câu do người viết đi chấm như một nhánh bình thường: 75,7%. Mọi điểm số khác đọc trên nền này.
Sàn đo bằng hai nhánh đối chứng. Thay mọi câu bằng một câu chung chung không nói phần tử nào thì mô hình định vị vẫn trúng 12%, đó là phần đoán mò được. Còn khi thay bằng câu thật của một màn hình khác, tức câu đúng văn phong đúng độ dài nhưng sai nội dung, điểm rơi xuống 6,1%, thấp hơn cả câu chung chung.
Con số thứ hai là lá chắn quan trọng nhất của thước: nếu thước thưởng cho văn phong thì nhánh đó phải được điểm cao, nhưng thực tế nó thấp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Đây là toàn bộ phần kiểm chứng của thước, và em xin nhấn: mỗi dòng là một phép đo có số, không phải một lập luận.
Hai dòng cuối là hai dòng nặng nhất về mặt phản biện. Dòng viết lại câu trả lời câu hỏi thước có mong manh trước cách diễn đạt không: viết lại 1.139 câu của người theo ba kiểu bảo toàn nghĩa, hiệu ròng chỉ 0,35 điểm và khoảng tin cậy loại được mọi mức tụt lớn hơn 0,6 điểm. Nhưng khi bỏ hẳn mệnh đề vị trí thì thước phạt đúng, nên nó không phải là một thước bất động.
Dòng cuối trả lời đòn mạnh nhất: dụng cụ chính có dữ liệu AndroidControl trong công thức huấn luyện, nên có thể nó quen văn phong của bộ ngữ liệu. Em chấm lại bằng một mô hình định vị thứ hai không dùng bộ này, phép so đối chiếu giữ được 94% độ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giây] Slide này nói về quy trình, và em nghĩ nó đáng một phút.
Toàn bộ thiết kế so sánh cùng luật đọc cho cả bốn kết cục được đưa vào kho phiên bản trước lượt huấn luyện đầu tiên, nên kiểm được bằng lịch sử phiên bản.
Ý nghĩa thực tế: khi kết quả ra ô trắng, em không phải nghĩ ra cách trình bày mới, vì cách đọc ô trắng đã viết sẵn từ khi chưa có số. Các mục sửa đổi cũng ghi kèm ngày chứ không sửa đè, và phần lớn ra đời trước điểm số đầu tiên.
Mức chênh nhỏ nhất phát hiện được là 2,2 điểm. Xin hội đồng giữ con số này trong đầu, vì mọi kết quả sau đây đọc trên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giây] Đây là bảng kết quả chính.
Đọc từ trên xuống: trần của thước là 75,7. Mô hình gốc chưa tinh chỉnh được 47,6. Sau khi tinh chỉnh trên tập giám sát dựng tự động, nó lên 59,1 và 59,6 ở hai hạt giống.
Ba nhánh dưới vạch là phần chặng hai, và cả ba mang nhãn thăm dò vì chỉ có một hạt giống. Em sẽ nói kỹ về chúng ở hai slide sau.
Một điều bản đăng ký bắt em kiểm trước tiên: nếu nhánh nền đã sát trần thì phải dừng nghiên cứu vì không còn chỗ để cải thiện. Kết quả cho thấy ba khoảng tin cậy rời nhau hoàn toàn, nên thước phân giải được cả ba mức, và vẫn còn khoảng trống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Vì mọi nhánh chấm trên cùng một tập bước nên phép so đúng là phép so ghép cặp.
Tinh chỉnh đáng 11,5 điểm. Con số này phải đọc kèm nhiễu dựng lại đường ống, đo bằng hai hạt giống của chính nhánh nền, là 0,52 điểm. Tín hiệu gấp 22 lần nhiễu.
Em cũng tự trừ đi phần dễ: một phần tư số bước mô hình chép lại nguyên văn câu chuẩn. Bỏ hết đi thì khoảng cách vẫn còn 8,4 điểm.
Sáu ô dưới là sáu cách giải thích thay thế mà em kiểm từng cái. Ô cuối màu đỏ là ô nặng nhất và cũng là ô đắt nhất: nó chỉ loại được sau khi chấm lại bằng một mô hình định vị thứ hai, tốn tám giờ máy.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Đây là kết quả mà em phải trình bày đúng như nó là.
Nhánh khai báo thấp hơn nhánh nền 1,93 điểm. Về mặt thống kê thì p rất nhỏ, nhưng độ lớn lại nằm dưới mức chênh nhỏ nhất mà thiết kế phát hiện được, nên theo đúng luật đã khoá, đây là ô trắng chứ không phải kết quả âm. Và vì hạt giống thứ hai bị huỷ, đại lượng chính không hoàn tất.
Phần đáng giá là chẩn đoán bên phải: 7,3% số bước gánh một phần ba chênh lệch, và đó là nhóm bước mà mô hình đoán sai luôn loại thao tác.
Đi truy tiếp thì gặp một điều không ai chờ: mô hình gốc gọi đúng loại thao tác nhiều hơn cả hai bản đã huấn luyện. Đây là cái giá của tinh chỉnh, và nguyên nhân quy được về thiết kế dữ liệu, vì tập dạy chỉ gắn khai báo cho bước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giây] Chặng hai cho điểm cao nhất trong mọi điểm lưu của đề tài: 60,0.
Nhưng em không trình con số đó như thành tích, vì có nhánh đối chứng để tách công. Đi từ S2 lên CE2 được 2,24 điểm, đó là công của việc huấn luyện thêm 800 bước bất kể mục tiêu gì. Đi tiếp từ CE2 lên MIN-DESC chỉ được 0,63 điểm, và đó mới là phần thuộc riêng mục tiêu ưu tiên. Tức 78% mức tăng thuộc về đối chứng. Đo thẳng ở tầng khai báo thì tỉ lệ ấy lặp lại, 87%.
Theo luật đã khoá từ trước, 0,63 điểm là ô trắng: có ý nghĩa trên nhiễu của thước, nhưng dưới mức phát hiện được của thiết kế, và chỉ bằng 1,4 lần độ lệch chuẩn giữa hạt giống.
Nếu không có nhánh đối chứng này thì em đã có thể trình mức tăng 2,87 điểm và nghe rất thuyết phục. Đó là lý do tồn tại của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giây] Slide này trả lời câu hỏi vì sao một cơ chế nghe hợp lý lại chỉ cho 0,94 điểm.
Em cắt quần thể theo việc ô khai báo do chính mô hình sinh ra có trỏ đúng phần tử hay không. Trên 60,6% số bước nó khai báo đúng, và ở đó nó hơn nhánh chỉ sinh câu tới 8,83 điểm, thậm chí vượt cả trần câu người viết của nhóm ấy. Nhưng trên 39,4% còn lại, nó thua 11,12 điểm.
Tức là cơ chế hoạt động đúng như giả thuyết, nhưng nó chỉ đúng trên phần mà nó nhắm trúng, còn ở phần nhắm trượt thì nó tự làm hỏng kết quả. Hai chiều triệt tiêu nhau và cộng lại thành gần như không.
Em xin khai rõ: cách chia nhóm này là hậu kiểm, không nằm trong lát cắt đã đăng ký.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Đi sâu thêm một bậc, em phân rã toàn bộ quần thể theo trạng thái ô khai báo.
Bảng cho ba ràng buộc cho mọi thiết kế tiếp theo. Thứ nhất, ô đúng cả hai đã hết chỗ: mô hình vượt trần câu người viết trên gần một nửa số bước. Thứ hai, 63% dư địa còn lại nằm gọn trong một ô duy nhất, là ô sai cả tên lẫn toạ độ, nơi mô hình chỉ được 3,6 điểm còn nhánh nền được 25,8. Nghĩa là khai báo sai không chỉ vô ích mà còn phá hỏng câu. Thứ ba, câu người viết đạt 64,4 ngay trong ô đó nên các bước này giải được.
Em cũng đã thử né ở khâu suy luận bằng bảy bộ định tuyến khác nhau; tất cả đều nằm trong nhiễu. Kể cả một bộ định tuyến hoàn hảo cũng chỉ cho 63,5%. Kết luận: phải sửa ở khâu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giây] Em xin nêu hạn chế bằng số chứ không bằng lời chung chung.
Nặng nhất là một hạt giống ở mọi nhánh xử lý. Thứ hai, điều kiện không gây hại mà chính em đăng ký đã bị trượt: ở bước không chạm, lớp thao tác tụt gần 20 điểm trong khi ngưỡng khoá là 3. Executability chỉ chấm trên bước chạm nên điểm chính không bị đụng, nhưng em không viết bất kỳ phát biểu nào kiểu mô hình cuối tốt hơn mà bỏ qua điều kiện này.
Thứ ba là một lối tắt trong dữ liệu cặp, phát hiện sau khi đã huấn luyện xong, bản vá đã viết nhưng không còn lượt huấn luyện nào để gộp vào.
Bên phải là hạn chế của dụng cụ. Chỗ chưa đóng được là cả hai mô hình định vị đều cùng họ với mô hình bị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Hướng đi tiếp không phải là tinh chỉnh thêm tương phản, vì chẩn đoán đã chỉ ra chỗ nghẽn nằm ở độ chính xác khai báo.
Hướng thứ nhất là sửa cách nhắm: thay vì để mô hình tự nghĩ ra tên phần tử, đưa cho nó danh sách ứng viên dựng sẵn từ trích chữ và cây trợ năng. Ba con số căn cứ đều đã đo được mà không tốn một giây GPU nào, và con số cuối là con số em thấy thuyết phục nhất: hai phần ba số bước mà mô hình gọi sai tên thì tên đúng đã nằm sẵn trong câu nhắc, nó chỉ không dùng được vì thiếu neo vị trí.
Hướng thứ hai là dạy mô hình lùi khi không chắc. Hướng thứ ba là chạy nốt hạt giống thứ hai, vì không có nó thì mọi số về thành phần đề xuất vẫn là thăm dò.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giây] Tóm lại, luận văn để lại ba thứ.
Một thước đo có phần kiểm chứng đứng bằng phép đo chứ không bằng lập luận. Một kết quả định lượng cho thấy tinh chỉnh trên tập giám sát dựng tự động đáng 11,5 điểm và đứng vững qua sáu cách giải thích thay thế. Và một chẩn đoán chỉ đúng chỗ mà mọi can thiệp tiếp theo phải tác động vào.
Phần thành phần đề xuất cho kết cục ô trắng, và em dừng đúng ở đó theo luật đã khoá từ trước.
Hai bài báo tách từ luận văn đang trong quá trình bình duyệt.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322164"/>
          </a:solidFill>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97280"/>
            <a:ext cx="7680960" cy="2240280"/>
          </a:xfrm>
          <a:prstGeom prst="roundRect">
            <a:avLst>
              <a:gd name="adj" fmla="val 3673"/>
            </a:avLst>
          </a:prstGeom>
          <a:solidFill>
            <a:srgbClr val="322164"/>
          </a:solidFill>
          <a:ln/>
          <a:effectLst>
            <a:outerShdw sx="100000" sy="100000" kx="0" ky="0" algn="bl" rotWithShape="0" blurRad="63500" dist="31750" dir="2700000">
              <a:srgbClr val="8C8C99">
                <a:alpha val="45000"/>
              </a:srgbClr>
            </a:outerShdw>
          </a:effectLst>
        </p:spPr>
      </p:sp>
      <p:sp>
        <p:nvSpPr>
          <p:cNvPr id="5" name="Text 3"/>
          <p:cNvSpPr/>
          <p:nvPr/>
        </p:nvSpPr>
        <p:spPr>
          <a:xfrm>
            <a:off x="731520" y="1371600"/>
            <a:ext cx="768096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500" dirty="0"/>
          </a:p>
        </p:txBody>
      </p:sp>
      <p:sp>
        <p:nvSpPr>
          <p:cNvPr id="6" name="Text 4"/>
          <p:cNvSpPr/>
          <p:nvPr/>
        </p:nvSpPr>
        <p:spPr>
          <a:xfrm>
            <a:off x="731520" y="1920240"/>
            <a:ext cx="7680960" cy="1188720"/>
          </a:xfrm>
          <a:prstGeom prst="rect">
            <a:avLst/>
          </a:prstGeom>
          <a:noFill/>
          <a:ln/>
        </p:spPr>
        <p:txBody>
          <a:bodyPr wrap="square" lIns="0" tIns="0" rIns="0" bIns="0" rtlCol="0" anchor="t"/>
          <a:lstStyle/>
          <a:p>
            <a:pPr algn="ctr" indent="0" marL="0">
              <a:lnSpc>
                <a:spcPct val="125000"/>
              </a:lnSpc>
              <a:buNone/>
            </a:pPr>
            <a:r>
              <a:rPr lang="en-US" sz="2500" b="1" dirty="0">
                <a:solidFill>
                  <a:srgbClr val="FFFFFF"/>
                </a:solidFill>
                <a:latin typeface="Cambria" pitchFamily="34" charset="0"/>
                <a:ea typeface="Cambria" pitchFamily="34" charset="-122"/>
                <a:cs typeface="Cambria" pitchFamily="34" charset="-120"/>
              </a:rPr>
              <a:t>SINH HƯỚNG DẪN SỬ DỤNG PHẦN MỀM</a:t>
            </a:r>
            <a:endParaRPr lang="en-US" sz="2500" dirty="0"/>
          </a:p>
          <a:p>
            <a:pPr algn="ctr" indent="0" marL="0">
              <a:lnSpc>
                <a:spcPct val="125000"/>
              </a:lnSpc>
              <a:buNone/>
            </a:pPr>
            <a:r>
              <a:rPr lang="en-US" sz="2500" b="1" dirty="0">
                <a:solidFill>
                  <a:srgbClr val="FFFFFF"/>
                </a:solidFill>
                <a:latin typeface="Cambria" pitchFamily="34" charset="0"/>
                <a:ea typeface="Cambria" pitchFamily="34" charset="-122"/>
                <a:cs typeface="Cambria" pitchFamily="34" charset="-120"/>
              </a:rPr>
              <a:t>TỪ ẢNH MÀN HÌNH</a:t>
            </a:r>
            <a:endParaRPr lang="en-US" sz="2500" dirty="0"/>
          </a:p>
        </p:txBody>
      </p:sp>
      <p:sp>
        <p:nvSpPr>
          <p:cNvPr id="7" name="Text 5"/>
          <p:cNvSpPr/>
          <p:nvPr/>
        </p:nvSpPr>
        <p:spPr>
          <a:xfrm>
            <a:off x="731520" y="3429000"/>
            <a:ext cx="7680960" cy="320040"/>
          </a:xfrm>
          <a:prstGeom prst="rect">
            <a:avLst/>
          </a:prstGeom>
          <a:noFill/>
          <a:ln/>
        </p:spPr>
        <p:txBody>
          <a:bodyPr wrap="square" lIns="0" tIns="0" rIns="0" bIns="0" rtlCol="0" anchor="t"/>
          <a:lstStyle/>
          <a:p>
            <a:pPr algn="ctr" indent="0" marL="0">
              <a:buNone/>
            </a:pPr>
            <a:r>
              <a:rPr lang="en-US" sz="1200" i="1" dirty="0">
                <a:solidFill>
                  <a:srgbClr val="5A5A66"/>
                </a:solidFill>
                <a:latin typeface="Cambria" pitchFamily="34" charset="0"/>
                <a:ea typeface="Cambria" pitchFamily="34" charset="-122"/>
                <a:cs typeface="Cambria" pitchFamily="34" charset="-120"/>
              </a:rPr>
              <a:t>Generating Software Usage Instructions from Screenshots</a:t>
            </a:r>
            <a:endParaRPr lang="en-US" sz="1200" dirty="0"/>
          </a:p>
        </p:txBody>
      </p:sp>
      <p:sp>
        <p:nvSpPr>
          <p:cNvPr id="8" name="Text 6"/>
          <p:cNvSpPr/>
          <p:nvPr/>
        </p:nvSpPr>
        <p:spPr>
          <a:xfrm>
            <a:off x="731520" y="4023360"/>
            <a:ext cx="7680960" cy="365760"/>
          </a:xfrm>
          <a:prstGeom prst="rect">
            <a:avLst/>
          </a:prstGeom>
          <a:noFill/>
          <a:ln/>
        </p:spPr>
        <p:txBody>
          <a:bodyPr wrap="square" lIns="0" tIns="0" rIns="0" bIns="0" rtlCol="0" anchor="t"/>
          <a:lstStyle/>
          <a:p>
            <a:pPr algn="ctr" indent="0" marL="0">
              <a:buNone/>
            </a:pPr>
            <a:r>
              <a:rPr lang="en-US" sz="1500" b="1" dirty="0">
                <a:solidFill>
                  <a:srgbClr val="1A1A1A"/>
                </a:solidFill>
                <a:latin typeface="Cambria" pitchFamily="34" charset="0"/>
                <a:ea typeface="Cambria" pitchFamily="34" charset="-122"/>
                <a:cs typeface="Cambria" pitchFamily="34" charset="-120"/>
              </a:rPr>
              <a:t>Học viên thực hiện:   Lê Đoàn Phương Uyên</a:t>
            </a:r>
            <a:endParaRPr lang="en-US" sz="1500" dirty="0"/>
          </a:p>
        </p:txBody>
      </p:sp>
      <p:sp>
        <p:nvSpPr>
          <p:cNvPr id="9" name="Text 7"/>
          <p:cNvSpPr/>
          <p:nvPr/>
        </p:nvSpPr>
        <p:spPr>
          <a:xfrm>
            <a:off x="731520" y="4434840"/>
            <a:ext cx="7680960" cy="365760"/>
          </a:xfrm>
          <a:prstGeom prst="rect">
            <a:avLst/>
          </a:prstGeom>
          <a:noFill/>
          <a:ln/>
        </p:spPr>
        <p:txBody>
          <a:bodyPr wrap="square" lIns="0" tIns="0" rIns="0" bIns="0" rtlCol="0" anchor="t"/>
          <a:lstStyle/>
          <a:p>
            <a:pPr algn="ctr" indent="0" marL="0">
              <a:buNone/>
            </a:pPr>
            <a:r>
              <a:rPr lang="en-US" sz="1500" b="1" dirty="0">
                <a:solidFill>
                  <a:srgbClr val="1A1A1A"/>
                </a:solidFill>
                <a:latin typeface="Cambria" pitchFamily="34" charset="0"/>
                <a:ea typeface="Cambria" pitchFamily="34" charset="-122"/>
                <a:cs typeface="Cambria" pitchFamily="34" charset="-120"/>
              </a:rPr>
              <a:t>Người hướng dẫn khoa học:   TS. Nguyễn Hồng Bửu Long</a:t>
            </a:r>
            <a:endParaRPr lang="en-US" sz="1500" dirty="0"/>
          </a:p>
        </p:txBody>
      </p:sp>
      <p:sp>
        <p:nvSpPr>
          <p:cNvPr id="10" name="Text 8"/>
          <p:cNvSpPr/>
          <p:nvPr/>
        </p:nvSpPr>
        <p:spPr>
          <a:xfrm>
            <a:off x="731520" y="4983480"/>
            <a:ext cx="7680960" cy="320040"/>
          </a:xfrm>
          <a:prstGeom prst="rect">
            <a:avLst/>
          </a:prstGeom>
          <a:noFill/>
          <a:ln/>
        </p:spPr>
        <p:txBody>
          <a:bodyPr wrap="square" lIns="0" tIns="0" rIns="0" bIns="0" rtlCol="0" anchor="t"/>
          <a:lstStyle/>
          <a:p>
            <a:pPr algn="ctr" indent="0" marL="0">
              <a:buNone/>
            </a:pPr>
            <a:r>
              <a:rPr lang="en-US" sz="1200" dirty="0">
                <a:solidFill>
                  <a:srgbClr val="5A5A66"/>
                </a:solidFill>
                <a:latin typeface="Cambria" pitchFamily="34" charset="0"/>
                <a:ea typeface="Cambria" pitchFamily="34" charset="-122"/>
                <a:cs typeface="Cambria" pitchFamily="34" charset="-120"/>
              </a:rPr>
              <a:t>Mã số ngành: 8480107</a:t>
            </a:r>
            <a:endParaRPr lang="en-US" sz="1200" dirty="0"/>
          </a:p>
        </p:txBody>
      </p:sp>
      <p:sp>
        <p:nvSpPr>
          <p:cNvPr id="11" name="Text 9"/>
          <p:cNvSpPr/>
          <p:nvPr/>
        </p:nvSpPr>
        <p:spPr>
          <a:xfrm>
            <a:off x="731520" y="5349240"/>
            <a:ext cx="7680960" cy="320040"/>
          </a:xfrm>
          <a:prstGeom prst="rect">
            <a:avLst/>
          </a:prstGeom>
          <a:noFill/>
          <a:ln/>
        </p:spPr>
        <p:txBody>
          <a:bodyPr wrap="square" lIns="0" tIns="0" rIns="0" bIns="0" rtlCol="0" anchor="t"/>
          <a:lstStyle/>
          <a:p>
            <a:pPr algn="ctr" indent="0" marL="0">
              <a:buNone/>
            </a:pPr>
            <a:r>
              <a:rPr lang="en-US" sz="1200" dirty="0">
                <a:solidFill>
                  <a:srgbClr val="1A1A1A"/>
                </a:solidFill>
                <a:latin typeface="Cambria" pitchFamily="34" charset="0"/>
                <a:ea typeface="Cambria" pitchFamily="34" charset="-122"/>
                <a:cs typeface="Cambria" pitchFamily="34" charset="-120"/>
              </a:rPr>
              <a:t>TP. Hồ Chí Minh  -  Năm 2026</a:t>
            </a:r>
            <a:endParaRPr lang="en-US" sz="12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Nội dung trình bày</a:t>
            </a:r>
            <a:endParaRPr lang="en-US" sz="1900" dirty="0"/>
          </a:p>
        </p:txBody>
      </p:sp>
      <p:sp>
        <p:nvSpPr>
          <p:cNvPr id="4" name="Shape 2"/>
          <p:cNvSpPr/>
          <p:nvPr/>
        </p:nvSpPr>
        <p:spPr>
          <a:xfrm>
            <a:off x="502920" y="914400"/>
            <a:ext cx="8138160" cy="731520"/>
          </a:xfrm>
          <a:prstGeom prst="roundRect">
            <a:avLst>
              <a:gd name="adj" fmla="val 75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914400"/>
            <a:ext cx="7680960" cy="731520"/>
          </a:xfrm>
          <a:prstGeom prst="rect">
            <a:avLst/>
          </a:prstGeom>
          <a:noFill/>
          <a:ln/>
        </p:spPr>
        <p:txBody>
          <a:bodyPr wrap="square" lIns="0" tIns="0" rIns="0" bIns="0" rtlCol="0" anchor="ctr"/>
          <a:lstStyle/>
          <a:p>
            <a:pPr algn="l" indent="0" marL="0">
              <a:buNone/>
            </a:pPr>
            <a:r>
              <a:rPr lang="en-US" sz="1450" b="1" dirty="0">
                <a:solidFill>
                  <a:srgbClr val="B22222"/>
                </a:solidFill>
                <a:latin typeface="Cambria" pitchFamily="34" charset="0"/>
                <a:ea typeface="Cambria" pitchFamily="34" charset="-122"/>
                <a:cs typeface="Cambria" pitchFamily="34" charset="-120"/>
              </a:rPr>
              <a:t>Vào:  </a:t>
            </a:r>
            <a:pPr algn="l" indent="0" marL="0">
              <a:buNone/>
            </a:pPr>
            <a:r>
              <a:rPr lang="en-US" sz="1450" b="1" dirty="0">
                <a:solidFill>
                  <a:srgbClr val="322164"/>
                </a:solidFill>
                <a:latin typeface="Cambria" pitchFamily="34" charset="0"/>
                <a:ea typeface="Cambria" pitchFamily="34" charset="-122"/>
                <a:cs typeface="Cambria" pitchFamily="34" charset="-120"/>
              </a:rPr>
              <a:t>ảnh màn hình và mục tiêu người dùng.     </a:t>
            </a:r>
            <a:pPr algn="l" indent="0" marL="0">
              <a:buNone/>
            </a:pPr>
            <a:r>
              <a:rPr lang="en-US" sz="1450" b="1" dirty="0">
                <a:solidFill>
                  <a:srgbClr val="B22222"/>
                </a:solidFill>
                <a:latin typeface="Cambria" pitchFamily="34" charset="0"/>
                <a:ea typeface="Cambria" pitchFamily="34" charset="-122"/>
                <a:cs typeface="Cambria" pitchFamily="34" charset="-120"/>
              </a:rPr>
              <a:t>Ra:  </a:t>
            </a:r>
            <a:pPr algn="l" indent="0" marL="0">
              <a:buNone/>
            </a:pPr>
            <a:r>
              <a:rPr lang="en-US" sz="1450" b="1" dirty="0">
                <a:solidFill>
                  <a:srgbClr val="322164"/>
                </a:solidFill>
                <a:latin typeface="Cambria" pitchFamily="34" charset="0"/>
                <a:ea typeface="Cambria" pitchFamily="34" charset="-122"/>
                <a:cs typeface="Cambria" pitchFamily="34" charset="-120"/>
              </a:rPr>
              <a:t>một câu hướng dẫn cho người đọc.</a:t>
            </a:r>
            <a:endParaRPr lang="en-US" sz="1450" dirty="0"/>
          </a:p>
        </p:txBody>
      </p:sp>
      <p:sp>
        <p:nvSpPr>
          <p:cNvPr id="6" name="Text 4"/>
          <p:cNvSpPr/>
          <p:nvPr/>
        </p:nvSpPr>
        <p:spPr>
          <a:xfrm>
            <a:off x="1554480" y="2148840"/>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1.</a:t>
            </a:r>
            <a:pPr algn="l" indent="0" marL="0">
              <a:buNone/>
            </a:pPr>
            <a:r>
              <a:rPr lang="en-US" sz="1700" b="1" dirty="0">
                <a:solidFill>
                  <a:srgbClr val="322164"/>
                </a:solidFill>
                <a:latin typeface="Cambria" pitchFamily="34" charset="0"/>
                <a:ea typeface="Cambria" pitchFamily="34" charset="-122"/>
                <a:cs typeface="Cambria" pitchFamily="34" charset="-120"/>
              </a:rPr>
              <a:t>   Bài toán và hai vấn đề</a:t>
            </a:r>
            <a:endParaRPr lang="en-US" sz="1700" dirty="0"/>
          </a:p>
        </p:txBody>
      </p:sp>
      <p:sp>
        <p:nvSpPr>
          <p:cNvPr id="7" name="Text 5"/>
          <p:cNvSpPr/>
          <p:nvPr/>
        </p:nvSpPr>
        <p:spPr>
          <a:xfrm>
            <a:off x="1554480" y="2752344"/>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2.</a:t>
            </a:r>
            <a:pPr algn="l" indent="0" marL="0">
              <a:buNone/>
            </a:pPr>
            <a:r>
              <a:rPr lang="en-US" sz="1700" b="1" dirty="0">
                <a:solidFill>
                  <a:srgbClr val="322164"/>
                </a:solidFill>
                <a:latin typeface="Cambria" pitchFamily="34" charset="0"/>
                <a:ea typeface="Cambria" pitchFamily="34" charset="-122"/>
                <a:cs typeface="Cambria" pitchFamily="34" charset="-120"/>
              </a:rPr>
              <a:t>   Dữ liệu và nhãn dựng tự động</a:t>
            </a:r>
            <a:endParaRPr lang="en-US" sz="1700" dirty="0"/>
          </a:p>
        </p:txBody>
      </p:sp>
      <p:sp>
        <p:nvSpPr>
          <p:cNvPr id="8" name="Text 6"/>
          <p:cNvSpPr/>
          <p:nvPr/>
        </p:nvSpPr>
        <p:spPr>
          <a:xfrm>
            <a:off x="1554480" y="3355848"/>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3.</a:t>
            </a:r>
            <a:pPr algn="l" indent="0" marL="0">
              <a:buNone/>
            </a:pPr>
            <a:r>
              <a:rPr lang="en-US" sz="1700" b="1" dirty="0">
                <a:solidFill>
                  <a:srgbClr val="322164"/>
                </a:solidFill>
                <a:latin typeface="Cambria" pitchFamily="34" charset="0"/>
                <a:ea typeface="Cambria" pitchFamily="34" charset="-122"/>
                <a:cs typeface="Cambria" pitchFamily="34" charset="-120"/>
              </a:rPr>
              <a:t>   Phương pháp: mô tả trước, phát ngôn sau</a:t>
            </a:r>
            <a:endParaRPr lang="en-US" sz="1700" dirty="0"/>
          </a:p>
        </p:txBody>
      </p:sp>
      <p:sp>
        <p:nvSpPr>
          <p:cNvPr id="9" name="Text 7"/>
          <p:cNvSpPr/>
          <p:nvPr/>
        </p:nvSpPr>
        <p:spPr>
          <a:xfrm>
            <a:off x="1554480" y="3959352"/>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4.</a:t>
            </a:r>
            <a:pPr algn="l" indent="0" marL="0">
              <a:buNone/>
            </a:pPr>
            <a:r>
              <a:rPr lang="en-US" sz="1700" b="1" dirty="0">
                <a:solidFill>
                  <a:srgbClr val="322164"/>
                </a:solidFill>
                <a:latin typeface="Cambria" pitchFamily="34" charset="0"/>
                <a:ea typeface="Cambria" pitchFamily="34" charset="-122"/>
                <a:cs typeface="Cambria" pitchFamily="34" charset="-120"/>
              </a:rPr>
              <a:t>   Thước đo executability</a:t>
            </a:r>
            <a:endParaRPr lang="en-US" sz="1700" dirty="0"/>
          </a:p>
        </p:txBody>
      </p:sp>
      <p:sp>
        <p:nvSpPr>
          <p:cNvPr id="10" name="Text 8"/>
          <p:cNvSpPr/>
          <p:nvPr/>
        </p:nvSpPr>
        <p:spPr>
          <a:xfrm>
            <a:off x="1554480" y="4562856"/>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5.</a:t>
            </a:r>
            <a:pPr algn="l" indent="0" marL="0">
              <a:buNone/>
            </a:pPr>
            <a:r>
              <a:rPr lang="en-US" sz="1700" b="1" dirty="0">
                <a:solidFill>
                  <a:srgbClr val="322164"/>
                </a:solidFill>
                <a:latin typeface="Cambria" pitchFamily="34" charset="0"/>
                <a:ea typeface="Cambria" pitchFamily="34" charset="-122"/>
                <a:cs typeface="Cambria" pitchFamily="34" charset="-120"/>
              </a:rPr>
              <a:t>   Kết quả và chẩn đoán</a:t>
            </a:r>
            <a:endParaRPr lang="en-US" sz="1700" dirty="0"/>
          </a:p>
        </p:txBody>
      </p:sp>
      <p:sp>
        <p:nvSpPr>
          <p:cNvPr id="11" name="Text 9"/>
          <p:cNvSpPr/>
          <p:nvPr/>
        </p:nvSpPr>
        <p:spPr>
          <a:xfrm>
            <a:off x="1554480" y="5166360"/>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6.</a:t>
            </a:r>
            <a:pPr algn="l" indent="0" marL="0">
              <a:buNone/>
            </a:pPr>
            <a:r>
              <a:rPr lang="en-US" sz="1700" b="1" dirty="0">
                <a:solidFill>
                  <a:srgbClr val="322164"/>
                </a:solidFill>
                <a:latin typeface="Cambria" pitchFamily="34" charset="0"/>
                <a:ea typeface="Cambria" pitchFamily="34" charset="-122"/>
                <a:cs typeface="Cambria" pitchFamily="34" charset="-120"/>
              </a:rPr>
              <a:t>   Hạn chế và hướng phát triển</a:t>
            </a:r>
            <a:endParaRPr lang="en-US" sz="17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Bài toán: đầu ra là câu chữ, không phải toạ độ</a:t>
            </a:r>
            <a:endParaRPr lang="en-US" sz="1900" dirty="0"/>
          </a:p>
        </p:txBody>
      </p:sp>
      <p:sp>
        <p:nvSpPr>
          <p:cNvPr id="4" name="Shape 2"/>
          <p:cNvSpPr/>
          <p:nvPr/>
        </p:nvSpPr>
        <p:spPr>
          <a:xfrm>
            <a:off x="502920" y="822960"/>
            <a:ext cx="8138160" cy="1371600"/>
          </a:xfrm>
          <a:prstGeom prst="roundRect">
            <a:avLst>
              <a:gd name="adj" fmla="val 4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960120"/>
            <a:ext cx="7680960" cy="457200"/>
          </a:xfrm>
          <a:prstGeom prst="rect">
            <a:avLst/>
          </a:prstGeom>
          <a:noFill/>
          <a:ln/>
        </p:spPr>
        <p:txBody>
          <a:bodyPr wrap="square" lIns="0" tIns="0" rIns="0" bIns="0" rtlCol="0" anchor="t"/>
          <a:lstStyle/>
          <a:p>
            <a:pPr algn="l" indent="0" marL="0">
              <a:buNone/>
            </a:pPr>
            <a:r>
              <a:rPr lang="en-US" sz="1500" b="1" dirty="0">
                <a:solidFill>
                  <a:srgbClr val="1414BE"/>
                </a:solidFill>
                <a:latin typeface="Cambria" pitchFamily="34" charset="0"/>
                <a:ea typeface="Cambria" pitchFamily="34" charset="-122"/>
                <a:cs typeface="Cambria" pitchFamily="34" charset="-120"/>
              </a:rPr>
              <a:t>Vào.  </a:t>
            </a:r>
            <a:pPr algn="l" indent="0" marL="0">
              <a:buNone/>
            </a:pPr>
            <a:r>
              <a:rPr lang="en-US" sz="1500" i="1" dirty="0">
                <a:solidFill>
                  <a:srgbClr val="1A1A1A"/>
                </a:solidFill>
                <a:latin typeface="Cambria" pitchFamily="34" charset="0"/>
                <a:ea typeface="Cambria" pitchFamily="34" charset="-122"/>
                <a:cs typeface="Cambria" pitchFamily="34" charset="-120"/>
              </a:rPr>
              <a:t>ảnh màn hình  +  “Chia sẻ playlist này cho bạn tôi”</a:t>
            </a:r>
            <a:endParaRPr lang="en-US" sz="1500" dirty="0"/>
          </a:p>
        </p:txBody>
      </p:sp>
      <p:sp>
        <p:nvSpPr>
          <p:cNvPr id="6" name="Text 4"/>
          <p:cNvSpPr/>
          <p:nvPr/>
        </p:nvSpPr>
        <p:spPr>
          <a:xfrm>
            <a:off x="731520" y="1572768"/>
            <a:ext cx="7680960" cy="457200"/>
          </a:xfrm>
          <a:prstGeom prst="rect">
            <a:avLst/>
          </a:prstGeom>
          <a:noFill/>
          <a:ln/>
        </p:spPr>
        <p:txBody>
          <a:bodyPr wrap="square" lIns="0" tIns="0" rIns="0" bIns="0" rtlCol="0" anchor="t"/>
          <a:lstStyle/>
          <a:p>
            <a:pPr algn="l" indent="0" marL="0">
              <a:buNone/>
            </a:pPr>
            <a:r>
              <a:rPr lang="en-US" sz="1500" b="1" dirty="0">
                <a:solidFill>
                  <a:srgbClr val="1414BE"/>
                </a:solidFill>
                <a:latin typeface="Cambria" pitchFamily="34" charset="0"/>
                <a:ea typeface="Cambria" pitchFamily="34" charset="-122"/>
                <a:cs typeface="Cambria" pitchFamily="34" charset="-120"/>
              </a:rPr>
              <a:t>Ra.  </a:t>
            </a:r>
            <a:pPr algn="l" indent="0" marL="0">
              <a:buNone/>
            </a:pPr>
            <a:r>
              <a:rPr lang="en-US" sz="1500" i="1" dirty="0">
                <a:solidFill>
                  <a:srgbClr val="1A1A1A"/>
                </a:solidFill>
                <a:latin typeface="Cambria" pitchFamily="34" charset="0"/>
                <a:ea typeface="Cambria" pitchFamily="34" charset="-122"/>
                <a:cs typeface="Cambria" pitchFamily="34" charset="-120"/>
              </a:rPr>
              <a:t>“Tap the share icon at the top right of the screen.”</a:t>
            </a:r>
            <a:endParaRPr lang="en-US" sz="1500" dirty="0"/>
          </a:p>
        </p:txBody>
      </p:sp>
      <p:sp>
        <p:nvSpPr>
          <p:cNvPr id="7" name="Text 5"/>
          <p:cNvSpPr/>
          <p:nvPr/>
        </p:nvSpPr>
        <p:spPr>
          <a:xfrm>
            <a:off x="502920" y="251460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Tác tử giao diện</a:t>
            </a:r>
            <a:endParaRPr lang="en-US" sz="1500" dirty="0"/>
          </a:p>
        </p:txBody>
      </p:sp>
      <p:sp>
        <p:nvSpPr>
          <p:cNvPr id="8" name="Text 6"/>
          <p:cNvSpPr/>
          <p:nvPr/>
        </p:nvSpPr>
        <p:spPr>
          <a:xfrm>
            <a:off x="4663440" y="2514600"/>
            <a:ext cx="3977640" cy="365760"/>
          </a:xfrm>
          <a:prstGeom prst="rect">
            <a:avLst/>
          </a:prstGeom>
          <a:noFill/>
          <a:ln/>
        </p:spPr>
        <p:txBody>
          <a:bodyPr wrap="square" lIns="0" tIns="0" rIns="0" bIns="0" rtlCol="0" anchor="t"/>
          <a:lstStyle/>
          <a:p>
            <a:pPr algn="ctr" indent="0" marL="0">
              <a:buNone/>
            </a:pPr>
            <a:r>
              <a:rPr lang="en-US" sz="1500" b="1" dirty="0">
                <a:solidFill>
                  <a:srgbClr val="B22222"/>
                </a:solidFill>
                <a:latin typeface="Cambria" pitchFamily="34" charset="0"/>
                <a:ea typeface="Cambria" pitchFamily="34" charset="-122"/>
                <a:cs typeface="Cambria" pitchFamily="34" charset="-120"/>
              </a:rPr>
              <a:t>Luận văn này</a:t>
            </a:r>
            <a:endParaRPr lang="en-US" sz="1500" dirty="0"/>
          </a:p>
        </p:txBody>
      </p:sp>
      <p:sp>
        <p:nvSpPr>
          <p:cNvPr id="9" name="Shape 7"/>
          <p:cNvSpPr/>
          <p:nvPr/>
        </p:nvSpPr>
        <p:spPr>
          <a:xfrm>
            <a:off x="502920" y="2926080"/>
            <a:ext cx="397764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10" name="Shape 8"/>
          <p:cNvSpPr/>
          <p:nvPr/>
        </p:nvSpPr>
        <p:spPr>
          <a:xfrm>
            <a:off x="4663440" y="2926080"/>
            <a:ext cx="397764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31520" y="3200400"/>
            <a:ext cx="3566160" cy="1645920"/>
          </a:xfrm>
          <a:prstGeom prst="rect">
            <a:avLst/>
          </a:prstGeom>
          <a:noFill/>
          <a:ln/>
        </p:spPr>
        <p:txBody>
          <a:bodyPr wrap="square" lIns="0" tIns="0" rIns="0" bIns="0" rtlCol="0" anchor="t"/>
          <a:lstStyle/>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Đầu ra là lệnh máy tự bấm,</a:t>
            </a: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dạng click(872, 141).</a:t>
            </a:r>
            <a:endParaRPr lang="en-US" sz="1450" dirty="0"/>
          </a:p>
          <a:p>
            <a:pPr algn="l" indent="0" marL="0">
              <a:lnSpc>
                <a:spcPct val="145000"/>
              </a:lnSpc>
              <a:buNone/>
            </a:pP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Câu chữ không được đem chấm.</a:t>
            </a:r>
            <a:endParaRPr lang="en-US" sz="1450" dirty="0"/>
          </a:p>
        </p:txBody>
      </p:sp>
      <p:sp>
        <p:nvSpPr>
          <p:cNvPr id="12" name="Text 10"/>
          <p:cNvSpPr/>
          <p:nvPr/>
        </p:nvSpPr>
        <p:spPr>
          <a:xfrm>
            <a:off x="4892040" y="3200400"/>
            <a:ext cx="3566160" cy="1645920"/>
          </a:xfrm>
          <a:prstGeom prst="rect">
            <a:avLst/>
          </a:prstGeom>
          <a:noFill/>
          <a:ln/>
        </p:spPr>
        <p:txBody>
          <a:bodyPr wrap="square" lIns="0" tIns="0" rIns="0" bIns="0" rtlCol="0" anchor="t"/>
          <a:lstStyle/>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Đầu ra là câu cho người đọc.</a:t>
            </a:r>
            <a:endParaRPr lang="en-US" sz="1450" dirty="0"/>
          </a:p>
          <a:p>
            <a:pPr algn="l" indent="0" marL="0">
              <a:lnSpc>
                <a:spcPct val="145000"/>
              </a:lnSpc>
              <a:buNone/>
            </a:pP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Câu là thứ duy nhất</a:t>
            </a: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được đem chấm.</a:t>
            </a:r>
            <a:endParaRPr lang="en-US" sz="1450" dirty="0"/>
          </a:p>
        </p:txBody>
      </p:sp>
      <p:sp>
        <p:nvSpPr>
          <p:cNvPr id="13" name="Text 11"/>
          <p:cNvSpPr/>
          <p:nvPr/>
        </p:nvSpPr>
        <p:spPr>
          <a:xfrm>
            <a:off x="502920" y="5166360"/>
            <a:ext cx="3977640" cy="32004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SeeClick · OS-Atlas · Aguvis</a:t>
            </a:r>
            <a:endParaRPr lang="en-US" sz="1100" dirty="0"/>
          </a:p>
        </p:txBody>
      </p:sp>
      <p:sp>
        <p:nvSpPr>
          <p:cNvPr id="14" name="Text 12"/>
          <p:cNvSpPr/>
          <p:nvPr/>
        </p:nvSpPr>
        <p:spPr>
          <a:xfrm>
            <a:off x="4663440" y="5166360"/>
            <a:ext cx="3977640" cy="32004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Mô hình ba tỉ tham số, chạy tại máy người dùng</a:t>
            </a:r>
            <a:endParaRPr lang="en-US" sz="1100" dirty="0"/>
          </a:p>
        </p:txBody>
      </p:sp>
      <p:sp>
        <p:nvSpPr>
          <p:cNvPr id="16" name="Shape 13"/>
          <p:cNvSpPr/>
          <p:nvPr/>
        </p:nvSpPr>
        <p:spPr>
          <a:xfrm>
            <a:off x="0" y="6620256"/>
            <a:ext cx="2743200" cy="237744"/>
          </a:xfrm>
          <a:prstGeom prst="rect">
            <a:avLst/>
          </a:prstGeom>
          <a:solidFill>
            <a:srgbClr val="191132"/>
          </a:solidFill>
          <a:ln/>
        </p:spPr>
      </p:sp>
      <p:sp>
        <p:nvSpPr>
          <p:cNvPr id="17" name="Shape 14"/>
          <p:cNvSpPr/>
          <p:nvPr/>
        </p:nvSpPr>
        <p:spPr>
          <a:xfrm>
            <a:off x="2743200" y="6620256"/>
            <a:ext cx="3383280" cy="237744"/>
          </a:xfrm>
          <a:prstGeom prst="rect">
            <a:avLst/>
          </a:prstGeom>
          <a:solidFill>
            <a:srgbClr val="25194B"/>
          </a:solidFill>
          <a:ln/>
        </p:spPr>
      </p:sp>
      <p:sp>
        <p:nvSpPr>
          <p:cNvPr id="18" name="Shape 15"/>
          <p:cNvSpPr/>
          <p:nvPr/>
        </p:nvSpPr>
        <p:spPr>
          <a:xfrm>
            <a:off x="6126480" y="6620256"/>
            <a:ext cx="1737360" cy="237744"/>
          </a:xfrm>
          <a:prstGeom prst="rect">
            <a:avLst/>
          </a:prstGeom>
          <a:solidFill>
            <a:srgbClr val="4F417A"/>
          </a:solidFill>
          <a:ln/>
        </p:spPr>
      </p:sp>
      <p:sp>
        <p:nvSpPr>
          <p:cNvPr id="19" name="Shape 16"/>
          <p:cNvSpPr/>
          <p:nvPr/>
        </p:nvSpPr>
        <p:spPr>
          <a:xfrm>
            <a:off x="7863840" y="6620256"/>
            <a:ext cx="1280160" cy="237744"/>
          </a:xfrm>
          <a:prstGeom prst="rect">
            <a:avLst/>
          </a:prstGeom>
          <a:solidFill>
            <a:srgbClr val="7A7099"/>
          </a:solidFill>
          <a:ln/>
        </p:spPr>
      </p:sp>
      <p:sp>
        <p:nvSpPr>
          <p:cNvPr id="20"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1"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2"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3/25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Đổi đầu ra kéo theo hai vấn đề</a:t>
            </a:r>
            <a:endParaRPr lang="en-US" sz="1900" dirty="0"/>
          </a:p>
        </p:txBody>
      </p:sp>
      <p:sp>
        <p:nvSpPr>
          <p:cNvPr id="4" name="Text 2"/>
          <p:cNvSpPr/>
          <p:nvPr/>
        </p:nvSpPr>
        <p:spPr>
          <a:xfrm>
            <a:off x="502920" y="82296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Vấn đề 1 · Không chấm được câu</a:t>
            </a:r>
            <a:endParaRPr lang="en-US" sz="1500" dirty="0"/>
          </a:p>
        </p:txBody>
      </p:sp>
      <p:sp>
        <p:nvSpPr>
          <p:cNvPr id="5" name="Text 3"/>
          <p:cNvSpPr/>
          <p:nvPr/>
        </p:nvSpPr>
        <p:spPr>
          <a:xfrm>
            <a:off x="4663440" y="82296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Vấn đề 2 · Dạng lỗi không như dự đoán</a:t>
            </a:r>
            <a:endParaRPr lang="en-US" sz="1500" dirty="0"/>
          </a:p>
        </p:txBody>
      </p:sp>
      <p:sp>
        <p:nvSpPr>
          <p:cNvPr id="6" name="Shape 4"/>
          <p:cNvSpPr/>
          <p:nvPr/>
        </p:nvSpPr>
        <p:spPr>
          <a:xfrm>
            <a:off x="502920" y="1280160"/>
            <a:ext cx="3977640" cy="3108960"/>
          </a:xfrm>
          <a:prstGeom prst="roundRect">
            <a:avLst>
              <a:gd name="adj" fmla="val 1765"/>
            </a:avLst>
          </a:prstGeom>
          <a:solidFill>
            <a:srgbClr val="E9E8EC"/>
          </a:solidFill>
          <a:ln/>
          <a:effectLst>
            <a:outerShdw sx="100000" sy="100000" kx="0" ky="0" algn="bl" rotWithShape="0" blurRad="63500" dist="31750" dir="2700000">
              <a:srgbClr val="8C8C99">
                <a:alpha val="45000"/>
              </a:srgbClr>
            </a:outerShdw>
          </a:effectLst>
        </p:spPr>
      </p:sp>
      <p:sp>
        <p:nvSpPr>
          <p:cNvPr id="7" name="Shape 5"/>
          <p:cNvSpPr/>
          <p:nvPr/>
        </p:nvSpPr>
        <p:spPr>
          <a:xfrm>
            <a:off x="4663440" y="1280160"/>
            <a:ext cx="3977640" cy="3108960"/>
          </a:xfrm>
          <a:prstGeom prst="roundRect">
            <a:avLst>
              <a:gd name="adj" fmla="val 1765"/>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1417320"/>
            <a:ext cx="3657600" cy="365760"/>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Một nút có nhiều tên gọi đều đúng.</a:t>
            </a:r>
            <a:endParaRPr lang="en-US" sz="1300" dirty="0"/>
          </a:p>
        </p:txBody>
      </p:sp>
      <p:sp>
        <p:nvSpPr>
          <p:cNvPr id="9" name="Text 7"/>
          <p:cNvSpPr/>
          <p:nvPr/>
        </p:nvSpPr>
        <p:spPr>
          <a:xfrm>
            <a:off x="704088" y="19202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0" name="Text 8"/>
          <p:cNvSpPr/>
          <p:nvPr/>
        </p:nvSpPr>
        <p:spPr>
          <a:xfrm>
            <a:off x="932688" y="192024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So khớp chuỗi kết oan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97,5%</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số câu diễn đạt khác</a:t>
            </a:r>
            <a:endParaRPr lang="en-US" sz="1300" dirty="0"/>
          </a:p>
        </p:txBody>
      </p:sp>
      <p:sp>
        <p:nvSpPr>
          <p:cNvPr id="11" name="Text 9"/>
          <p:cNvSpPr/>
          <p:nvPr/>
        </p:nvSpPr>
        <p:spPr>
          <a:xfrm>
            <a:off x="704088" y="26974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2" name="Text 10"/>
          <p:cNvSpPr/>
          <p:nvPr/>
        </p:nvSpPr>
        <p:spPr>
          <a:xfrm>
            <a:off x="932688" y="269748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So vector ngữ nghĩa: AUC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0,336</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kém đoán ngẫu nhiên</a:t>
            </a:r>
            <a:endParaRPr lang="en-US" sz="1300" dirty="0"/>
          </a:p>
        </p:txBody>
      </p:sp>
      <p:sp>
        <p:nvSpPr>
          <p:cNvPr id="13" name="Text 11"/>
          <p:cNvSpPr/>
          <p:nvPr/>
        </p:nvSpPr>
        <p:spPr>
          <a:xfrm>
            <a:off x="704088" y="34747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4" name="Text 12"/>
          <p:cNvSpPr/>
          <p:nvPr/>
        </p:nvSpPr>
        <p:spPr>
          <a:xfrm>
            <a:off x="932688" y="347472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inbox / outbox được 0,76, còn search / magnifying glass chỉ 0,55</a:t>
            </a:r>
            <a:endParaRPr lang="en-US" sz="1300" dirty="0"/>
          </a:p>
        </p:txBody>
      </p:sp>
      <p:sp>
        <p:nvSpPr>
          <p:cNvPr id="15" name="Text 13"/>
          <p:cNvSpPr/>
          <p:nvPr/>
        </p:nvSpPr>
        <p:spPr>
          <a:xfrm>
            <a:off x="4864608" y="1417320"/>
            <a:ext cx="3657600" cy="365760"/>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Đọc tay 40 trường hợp sinh sai.</a:t>
            </a:r>
            <a:endParaRPr lang="en-US" sz="1300" dirty="0"/>
          </a:p>
        </p:txBody>
      </p:sp>
      <p:sp>
        <p:nvSpPr>
          <p:cNvPr id="16" name="Text 14"/>
          <p:cNvSpPr/>
          <p:nvPr/>
        </p:nvSpPr>
        <p:spPr>
          <a:xfrm>
            <a:off x="4864608" y="19202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7" name="Text 15"/>
          <p:cNvSpPr/>
          <p:nvPr/>
        </p:nvSpPr>
        <p:spPr>
          <a:xfrm>
            <a:off x="5093208" y="192024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Bịa ra nút không có trên màn: </a:t>
            </a:r>
            <a:pPr algn="l" indent="0" marL="0">
              <a:lnSpc>
                <a:spcPct val="130000"/>
              </a:lnSpc>
              <a:buNone/>
            </a:pPr>
            <a:r>
              <a:rPr lang="en-US" sz="1300" b="1" dirty="0">
                <a:solidFill>
                  <a:srgbClr val="006666"/>
                </a:solidFill>
                <a:latin typeface="Cambria" pitchFamily="34" charset="0"/>
                <a:ea typeface="Cambria" pitchFamily="34" charset="-122"/>
                <a:cs typeface="Cambria" pitchFamily="34" charset="-120"/>
              </a:rPr>
              <a:t>0 đến 2%</a:t>
            </a:r>
            <a:endParaRPr lang="en-US" sz="1300" dirty="0"/>
          </a:p>
        </p:txBody>
      </p:sp>
      <p:sp>
        <p:nvSpPr>
          <p:cNvPr id="18" name="Text 16"/>
          <p:cNvSpPr/>
          <p:nvPr/>
        </p:nvSpPr>
        <p:spPr>
          <a:xfrm>
            <a:off x="4864608" y="26974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9" name="Text 17"/>
          <p:cNvSpPr/>
          <p:nvPr/>
        </p:nvSpPr>
        <p:spPr>
          <a:xfrm>
            <a:off x="5093208" y="269748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Phần lớn là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câu mơ hồ</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“biểu tượng tìm kiếm” khi màn có hai cái</a:t>
            </a:r>
            <a:endParaRPr lang="en-US" sz="1300" dirty="0"/>
          </a:p>
        </p:txBody>
      </p:sp>
      <p:sp>
        <p:nvSpPr>
          <p:cNvPr id="20" name="Text 18"/>
          <p:cNvSpPr/>
          <p:nvPr/>
        </p:nvSpPr>
        <p:spPr>
          <a:xfrm>
            <a:off x="4864608" y="34747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21" name="Text 19"/>
          <p:cNvSpPr/>
          <p:nvPr/>
        </p:nvSpPr>
        <p:spPr>
          <a:xfrm>
            <a:off x="5093208" y="347472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Câu không sai sự thật, nhưng người đọc vẫn không biết chạm đâu</a:t>
            </a:r>
            <a:endParaRPr lang="en-US" sz="1300" dirty="0"/>
          </a:p>
        </p:txBody>
      </p:sp>
      <p:sp>
        <p:nvSpPr>
          <p:cNvPr id="22" name="Shape 20"/>
          <p:cNvSpPr/>
          <p:nvPr/>
        </p:nvSpPr>
        <p:spPr>
          <a:xfrm>
            <a:off x="502920" y="4663440"/>
            <a:ext cx="8138160" cy="1005840"/>
          </a:xfrm>
          <a:prstGeom prst="roundRect">
            <a:avLst>
              <a:gd name="adj" fmla="val 5455"/>
            </a:avLst>
          </a:prstGeom>
          <a:solidFill>
            <a:srgbClr val="E9E8EC"/>
          </a:solidFill>
          <a:ln/>
          <a:effectLst>
            <a:outerShdw sx="100000" sy="100000" kx="0" ky="0" algn="bl" rotWithShape="0" blurRad="63500" dist="31750" dir="2700000">
              <a:srgbClr val="8C8C99">
                <a:alpha val="45000"/>
              </a:srgbClr>
            </a:outerShdw>
          </a:effectLst>
        </p:spPr>
      </p:sp>
      <p:sp>
        <p:nvSpPr>
          <p:cNvPr id="23" name="Text 21"/>
          <p:cNvSpPr/>
          <p:nvPr/>
        </p:nvSpPr>
        <p:spPr>
          <a:xfrm>
            <a:off x="731520" y="4663440"/>
            <a:ext cx="7680960" cy="1005840"/>
          </a:xfrm>
          <a:prstGeom prst="rect">
            <a:avLst/>
          </a:prstGeom>
          <a:noFill/>
          <a:ln/>
        </p:spPr>
        <p:txBody>
          <a:bodyPr wrap="square" lIns="0" tIns="0" rIns="0" bIns="0" rtlCol="0" anchor="ctr"/>
          <a:lstStyle/>
          <a:p>
            <a:pPr algn="l" indent="0" marL="0">
              <a:buNone/>
            </a:pPr>
            <a:r>
              <a:rPr lang="en-US" sz="1500" b="1" dirty="0">
                <a:solidFill>
                  <a:srgbClr val="B22222"/>
                </a:solidFill>
                <a:latin typeface="Cambria" pitchFamily="34" charset="0"/>
                <a:ea typeface="Cambria" pitchFamily="34" charset="-122"/>
                <a:cs typeface="Cambria" pitchFamily="34" charset="-120"/>
              </a:rPr>
              <a:t>Chỗ đáng sửa là tính phân biệt của câu, </a:t>
            </a:r>
            <a:pPr algn="l" indent="0" marL="0">
              <a:buNone/>
            </a:pPr>
            <a:r>
              <a:rPr lang="en-US" sz="1500" dirty="0">
                <a:solidFill>
                  <a:srgbClr val="1A1A1A"/>
                </a:solidFill>
                <a:latin typeface="Cambria" pitchFamily="34" charset="0"/>
                <a:ea typeface="Cambria" pitchFamily="34" charset="-122"/>
                <a:cs typeface="Cambria" pitchFamily="34" charset="-120"/>
              </a:rPr>
              <a:t>không phải việc chống bịa đặt.</a:t>
            </a:r>
            <a:endParaRPr lang="en-US" sz="150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4/25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Vị trí của luận văn so với các công trình gần nhất</a:t>
            </a:r>
            <a:endParaRPr lang="en-US" sz="1900" dirty="0"/>
          </a:p>
        </p:txBody>
      </p:sp>
      <p:sp>
        <p:nvSpPr>
          <p:cNvPr id="4" name="Shape 2"/>
          <p:cNvSpPr/>
          <p:nvPr/>
        </p:nvSpPr>
        <p:spPr>
          <a:xfrm>
            <a:off x="502920" y="914400"/>
            <a:ext cx="8138160" cy="411480"/>
          </a:xfrm>
          <a:prstGeom prst="rect">
            <a:avLst/>
          </a:prstGeom>
          <a:solidFill>
            <a:srgbClr val="322164"/>
          </a:solidFill>
          <a:ln/>
        </p:spPr>
      </p:sp>
      <p:sp>
        <p:nvSpPr>
          <p:cNvPr id="5" name="Text 3"/>
          <p:cNvSpPr/>
          <p:nvPr/>
        </p:nvSpPr>
        <p:spPr>
          <a:xfrm>
            <a:off x="502920" y="914400"/>
            <a:ext cx="265176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Công trình</a:t>
            </a:r>
            <a:endParaRPr lang="en-US" sz="1300" dirty="0"/>
          </a:p>
        </p:txBody>
      </p:sp>
      <p:sp>
        <p:nvSpPr>
          <p:cNvPr id="6" name="Text 4"/>
          <p:cNvSpPr/>
          <p:nvPr/>
        </p:nvSpPr>
        <p:spPr>
          <a:xfrm>
            <a:off x="3154680" y="914400"/>
            <a:ext cx="274320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Họ làm gì</a:t>
            </a:r>
            <a:endParaRPr lang="en-US" sz="1300" dirty="0"/>
          </a:p>
        </p:txBody>
      </p:sp>
      <p:sp>
        <p:nvSpPr>
          <p:cNvPr id="7" name="Text 5"/>
          <p:cNvSpPr/>
          <p:nvPr/>
        </p:nvSpPr>
        <p:spPr>
          <a:xfrm>
            <a:off x="5897880" y="914400"/>
            <a:ext cx="274320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Luận văn khác đi</a:t>
            </a:r>
            <a:endParaRPr lang="en-US" sz="1300" dirty="0"/>
          </a:p>
        </p:txBody>
      </p:sp>
      <p:sp>
        <p:nvSpPr>
          <p:cNvPr id="8" name="Text 6"/>
          <p:cNvSpPr/>
          <p:nvPr/>
        </p:nvSpPr>
        <p:spPr>
          <a:xfrm>
            <a:off x="502920" y="132588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SeeClick, OS-Atlas,</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Aguvis</a:t>
            </a:r>
            <a:endParaRPr lang="en-US" sz="1250" dirty="0"/>
          </a:p>
        </p:txBody>
      </p:sp>
      <p:sp>
        <p:nvSpPr>
          <p:cNvPr id="9" name="Text 7"/>
          <p:cNvSpPr/>
          <p:nvPr/>
        </p:nvSpPr>
        <p:spPr>
          <a:xfrm>
            <a:off x="3154680" y="132588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toạ độ cho máy tự bấm</a:t>
            </a:r>
            <a:endParaRPr lang="en-US" sz="1250" dirty="0"/>
          </a:p>
        </p:txBody>
      </p:sp>
      <p:sp>
        <p:nvSpPr>
          <p:cNvPr id="10" name="Text 8"/>
          <p:cNvSpPr/>
          <p:nvPr/>
        </p:nvSpPr>
        <p:spPr>
          <a:xfrm>
            <a:off x="5897880" y="132588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là sản phẩm cuối, và là thứ đem chấm</a:t>
            </a:r>
            <a:endParaRPr lang="en-US" sz="1250" dirty="0"/>
          </a:p>
        </p:txBody>
      </p:sp>
      <p:sp>
        <p:nvSpPr>
          <p:cNvPr id="11" name="Shape 9"/>
          <p:cNvSpPr/>
          <p:nvPr/>
        </p:nvSpPr>
        <p:spPr>
          <a:xfrm>
            <a:off x="502920" y="2103120"/>
            <a:ext cx="8138160" cy="0"/>
          </a:xfrm>
          <a:prstGeom prst="line">
            <a:avLst/>
          </a:prstGeom>
          <a:noFill/>
          <a:ln w="12700">
            <a:solidFill>
              <a:srgbClr val="9A94AE"/>
            </a:solidFill>
            <a:prstDash val="solid"/>
          </a:ln>
        </p:spPr>
      </p:sp>
      <p:sp>
        <p:nvSpPr>
          <p:cNvPr id="12" name="Text 10"/>
          <p:cNvSpPr/>
          <p:nvPr/>
        </p:nvSpPr>
        <p:spPr>
          <a:xfrm>
            <a:off x="502920" y="210312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AndroidControl</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NeurIPS 2024</a:t>
            </a:r>
            <a:endParaRPr lang="en-US" sz="1250" dirty="0"/>
          </a:p>
        </p:txBody>
      </p:sp>
      <p:sp>
        <p:nvSpPr>
          <p:cNvPr id="13" name="Text 11"/>
          <p:cNvSpPr/>
          <p:nvPr/>
        </p:nvSpPr>
        <p:spPr>
          <a:xfrm>
            <a:off x="3154680" y="210312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người viết là đầu vào</a:t>
            </a:r>
            <a:endParaRPr lang="en-US" sz="1250" dirty="0"/>
          </a:p>
        </p:txBody>
      </p:sp>
      <p:sp>
        <p:nvSpPr>
          <p:cNvPr id="14" name="Text 12"/>
          <p:cNvSpPr/>
          <p:nvPr/>
        </p:nvSpPr>
        <p:spPr>
          <a:xfrm>
            <a:off x="5897880" y="210312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Dùng chính câu đó làm đầu ra mong đợi</a:t>
            </a:r>
            <a:endParaRPr lang="en-US" sz="1250" dirty="0"/>
          </a:p>
        </p:txBody>
      </p:sp>
      <p:sp>
        <p:nvSpPr>
          <p:cNvPr id="15" name="Shape 13"/>
          <p:cNvSpPr/>
          <p:nvPr/>
        </p:nvSpPr>
        <p:spPr>
          <a:xfrm>
            <a:off x="502920" y="2880360"/>
            <a:ext cx="8138160" cy="0"/>
          </a:xfrm>
          <a:prstGeom prst="line">
            <a:avLst/>
          </a:prstGeom>
          <a:noFill/>
          <a:ln w="12700">
            <a:solidFill>
              <a:srgbClr val="9A94AE"/>
            </a:solidFill>
            <a:prstDash val="solid"/>
          </a:ln>
        </p:spPr>
      </p:sp>
      <p:sp>
        <p:nvSpPr>
          <p:cNvPr id="16" name="Text 14"/>
          <p:cNvSpPr/>
          <p:nvPr/>
        </p:nvSpPr>
        <p:spPr>
          <a:xfrm>
            <a:off x="502920" y="288036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biểu thức quy chiếu</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Mao 2016 · Yu 2017</a:t>
            </a:r>
            <a:endParaRPr lang="en-US" sz="1250" dirty="0"/>
          </a:p>
        </p:txBody>
      </p:sp>
      <p:sp>
        <p:nvSpPr>
          <p:cNvPr id="17" name="Text 15"/>
          <p:cNvSpPr/>
          <p:nvPr/>
        </p:nvSpPr>
        <p:spPr>
          <a:xfrm>
            <a:off x="3154680" y="288036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phải đủ để bên kia trỏ đúng</a:t>
            </a:r>
            <a:endParaRPr lang="en-US" sz="1250" dirty="0"/>
          </a:p>
        </p:txBody>
      </p:sp>
      <p:sp>
        <p:nvSpPr>
          <p:cNvPr id="18" name="Text 16"/>
          <p:cNvSpPr/>
          <p:nvPr/>
        </p:nvSpPr>
        <p:spPr>
          <a:xfrm>
            <a:off x="5897880" y="288036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Đặt yêu cầu đó vào miền giao diện</a:t>
            </a:r>
            <a:endParaRPr lang="en-US" sz="1250" dirty="0"/>
          </a:p>
        </p:txBody>
      </p:sp>
      <p:sp>
        <p:nvSpPr>
          <p:cNvPr id="19" name="Shape 17"/>
          <p:cNvSpPr/>
          <p:nvPr/>
        </p:nvSpPr>
        <p:spPr>
          <a:xfrm>
            <a:off x="502920" y="3657600"/>
            <a:ext cx="8138160" cy="0"/>
          </a:xfrm>
          <a:prstGeom prst="line">
            <a:avLst/>
          </a:prstGeom>
          <a:noFill/>
          <a:ln w="12700">
            <a:solidFill>
              <a:srgbClr val="9A94AE"/>
            </a:solidFill>
            <a:prstDash val="solid"/>
          </a:ln>
        </p:spPr>
      </p:sp>
      <p:sp>
        <p:nvSpPr>
          <p:cNvPr id="20" name="Text 18"/>
          <p:cNvSpPr/>
          <p:nvPr/>
        </p:nvSpPr>
        <p:spPr>
          <a:xfrm>
            <a:off x="502920" y="365760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Widget Captioning</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EMNLP 2020</a:t>
            </a:r>
            <a:endParaRPr lang="en-US" sz="1250" dirty="0"/>
          </a:p>
        </p:txBody>
      </p:sp>
      <p:sp>
        <p:nvSpPr>
          <p:cNvPr id="21" name="Text 19"/>
          <p:cNvSpPr/>
          <p:nvPr/>
        </p:nvSpPr>
        <p:spPr>
          <a:xfrm>
            <a:off x="3154680" y="365760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mô tả, entropy chéo thuần</a:t>
            </a:r>
            <a:endParaRPr lang="en-US" sz="1250" dirty="0"/>
          </a:p>
        </p:txBody>
      </p:sp>
      <p:sp>
        <p:nvSpPr>
          <p:cNvPr id="22" name="Text 20"/>
          <p:cNvSpPr/>
          <p:nvPr/>
        </p:nvSpPr>
        <p:spPr>
          <a:xfrm>
            <a:off x="5897880" y="365760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Tính phân biệt nằm trong mục tiêu huấn luyện</a:t>
            </a:r>
            <a:endParaRPr lang="en-US" sz="1250" dirty="0"/>
          </a:p>
        </p:txBody>
      </p:sp>
      <p:sp>
        <p:nvSpPr>
          <p:cNvPr id="23" name="Shape 21"/>
          <p:cNvSpPr/>
          <p:nvPr/>
        </p:nvSpPr>
        <p:spPr>
          <a:xfrm>
            <a:off x="502920" y="4434840"/>
            <a:ext cx="8138160" cy="0"/>
          </a:xfrm>
          <a:prstGeom prst="line">
            <a:avLst/>
          </a:prstGeom>
          <a:noFill/>
          <a:ln w="12700">
            <a:solidFill>
              <a:srgbClr val="9A94AE"/>
            </a:solidFill>
            <a:prstDash val="solid"/>
          </a:ln>
        </p:spPr>
      </p:sp>
      <p:sp>
        <p:nvSpPr>
          <p:cNvPr id="24" name="Text 22"/>
          <p:cNvSpPr/>
          <p:nvPr/>
        </p:nvSpPr>
        <p:spPr>
          <a:xfrm>
            <a:off x="502920" y="4434840"/>
            <a:ext cx="265176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Zhao và cộng sự</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EACL 2021</a:t>
            </a:r>
            <a:endParaRPr lang="en-US" sz="1250" dirty="0"/>
          </a:p>
        </p:txBody>
      </p:sp>
      <p:sp>
        <p:nvSpPr>
          <p:cNvPr id="25" name="Text 23"/>
          <p:cNvSpPr/>
          <p:nvPr/>
        </p:nvSpPr>
        <p:spPr>
          <a:xfrm>
            <a:off x="3154680" y="4434840"/>
            <a:ext cx="274320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BLEU, ROUGE không đo được hướng dẫn có định vị</a:t>
            </a:r>
            <a:endParaRPr lang="en-US" sz="1250" dirty="0"/>
          </a:p>
        </p:txBody>
      </p:sp>
      <p:sp>
        <p:nvSpPr>
          <p:cNvPr id="26" name="Text 24"/>
          <p:cNvSpPr/>
          <p:nvPr/>
        </p:nvSpPr>
        <p:spPr>
          <a:xfrm>
            <a:off x="5897880" y="4434840"/>
            <a:ext cx="274320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Căn cứ để bỏ nhóm thước đồng thuận</a:t>
            </a:r>
            <a:endParaRPr lang="en-US" sz="1250" dirty="0"/>
          </a:p>
        </p:txBody>
      </p:sp>
      <p:sp>
        <p:nvSpPr>
          <p:cNvPr id="27" name="Shape 25"/>
          <p:cNvSpPr/>
          <p:nvPr/>
        </p:nvSpPr>
        <p:spPr>
          <a:xfrm>
            <a:off x="502920" y="5074920"/>
            <a:ext cx="8138160" cy="594360"/>
          </a:xfrm>
          <a:prstGeom prst="roundRect">
            <a:avLst>
              <a:gd name="adj" fmla="val 9231"/>
            </a:avLst>
          </a:prstGeom>
          <a:solidFill>
            <a:srgbClr val="E9E8EC"/>
          </a:solidFill>
          <a:ln/>
          <a:effectLst>
            <a:outerShdw sx="100000" sy="100000" kx="0" ky="0" algn="bl" rotWithShape="0" blurRad="63500" dist="31750" dir="2700000">
              <a:srgbClr val="8C8C99">
                <a:alpha val="45000"/>
              </a:srgbClr>
            </a:outerShdw>
          </a:effectLst>
        </p:spPr>
      </p:sp>
      <p:sp>
        <p:nvSpPr>
          <p:cNvPr id="28" name="Text 26"/>
          <p:cNvSpPr/>
          <p:nvPr/>
        </p:nvSpPr>
        <p:spPr>
          <a:xfrm>
            <a:off x="731520" y="5074920"/>
            <a:ext cx="7680960" cy="594360"/>
          </a:xfrm>
          <a:prstGeom prst="rect">
            <a:avLst/>
          </a:prstGeom>
          <a:noFill/>
          <a:ln/>
        </p:spPr>
        <p:txBody>
          <a:bodyPr wrap="square" lIns="0" tIns="0" rIns="0" bIns="0" rtlCol="0" anchor="ctr"/>
          <a:lstStyle/>
          <a:p>
            <a:pPr algn="l" indent="0" marL="0">
              <a:buNone/>
            </a:pPr>
            <a:r>
              <a:rPr lang="en-US" sz="1300" b="1" dirty="0">
                <a:solidFill>
                  <a:srgbClr val="B22222"/>
                </a:solidFill>
                <a:latin typeface="Cambria" pitchFamily="34" charset="0"/>
                <a:ea typeface="Cambria" pitchFamily="34" charset="-122"/>
                <a:cs typeface="Cambria" pitchFamily="34" charset="-120"/>
              </a:rPr>
              <a:t>Luận văn không dùng chữ “đầu tiên”: ý này đã có từ năm 2016.</a:t>
            </a:r>
            <a:endParaRPr lang="en-US" sz="1300" dirty="0"/>
          </a:p>
        </p:txBody>
      </p:sp>
      <p:sp>
        <p:nvSpPr>
          <p:cNvPr id="30" name="Shape 27"/>
          <p:cNvSpPr/>
          <p:nvPr/>
        </p:nvSpPr>
        <p:spPr>
          <a:xfrm>
            <a:off x="0" y="6620256"/>
            <a:ext cx="2743200" cy="237744"/>
          </a:xfrm>
          <a:prstGeom prst="rect">
            <a:avLst/>
          </a:prstGeom>
          <a:solidFill>
            <a:srgbClr val="191132"/>
          </a:solidFill>
          <a:ln/>
        </p:spPr>
      </p:sp>
      <p:sp>
        <p:nvSpPr>
          <p:cNvPr id="31" name="Shape 28"/>
          <p:cNvSpPr/>
          <p:nvPr/>
        </p:nvSpPr>
        <p:spPr>
          <a:xfrm>
            <a:off x="2743200" y="6620256"/>
            <a:ext cx="3383280" cy="237744"/>
          </a:xfrm>
          <a:prstGeom prst="rect">
            <a:avLst/>
          </a:prstGeom>
          <a:solidFill>
            <a:srgbClr val="25194B"/>
          </a:solidFill>
          <a:ln/>
        </p:spPr>
      </p:sp>
      <p:sp>
        <p:nvSpPr>
          <p:cNvPr id="32" name="Shape 29"/>
          <p:cNvSpPr/>
          <p:nvPr/>
        </p:nvSpPr>
        <p:spPr>
          <a:xfrm>
            <a:off x="6126480" y="6620256"/>
            <a:ext cx="1737360" cy="237744"/>
          </a:xfrm>
          <a:prstGeom prst="rect">
            <a:avLst/>
          </a:prstGeom>
          <a:solidFill>
            <a:srgbClr val="4F417A"/>
          </a:solidFill>
          <a:ln/>
        </p:spPr>
      </p:sp>
      <p:sp>
        <p:nvSpPr>
          <p:cNvPr id="33" name="Shape 30"/>
          <p:cNvSpPr/>
          <p:nvPr/>
        </p:nvSpPr>
        <p:spPr>
          <a:xfrm>
            <a:off x="7863840" y="6620256"/>
            <a:ext cx="1280160" cy="237744"/>
          </a:xfrm>
          <a:prstGeom prst="rect">
            <a:avLst/>
          </a:prstGeom>
          <a:solidFill>
            <a:srgbClr val="7A7099"/>
          </a:solidFill>
          <a:ln/>
        </p:spPr>
      </p:sp>
      <p:sp>
        <p:nvSpPr>
          <p:cNvPr id="34"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5"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6"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7"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5/25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Ba đóng góp và trạng thái thật của từng đóng góp</a:t>
            </a:r>
            <a:endParaRPr lang="en-US" sz="1900" dirty="0"/>
          </a:p>
        </p:txBody>
      </p:sp>
      <p:sp>
        <p:nvSpPr>
          <p:cNvPr id="4" name="Shape 2"/>
          <p:cNvSpPr/>
          <p:nvPr/>
        </p:nvSpPr>
        <p:spPr>
          <a:xfrm>
            <a:off x="502920" y="96012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40080" y="109728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161288" y="112471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Thước đo executability</a:t>
            </a:r>
            <a:endParaRPr lang="en-US" sz="1500" dirty="0"/>
          </a:p>
        </p:txBody>
      </p:sp>
      <p:sp>
        <p:nvSpPr>
          <p:cNvPr id="7" name="Text 5"/>
          <p:cNvSpPr/>
          <p:nvPr/>
        </p:nvSpPr>
        <p:spPr>
          <a:xfrm>
            <a:off x="6446520" y="1124712"/>
            <a:ext cx="2011680" cy="320040"/>
          </a:xfrm>
          <a:prstGeom prst="rect">
            <a:avLst/>
          </a:prstGeom>
          <a:noFill/>
          <a:ln/>
        </p:spPr>
        <p:txBody>
          <a:bodyPr wrap="square" lIns="0" tIns="0" rIns="0" bIns="0" rtlCol="0" anchor="t"/>
          <a:lstStyle/>
          <a:p>
            <a:pPr algn="r" indent="0" marL="0">
              <a:buNone/>
            </a:pPr>
            <a:r>
              <a:rPr lang="en-US" sz="1250" b="1" dirty="0">
                <a:solidFill>
                  <a:srgbClr val="006666"/>
                </a:solidFill>
                <a:latin typeface="Cambria" pitchFamily="34" charset="0"/>
                <a:ea typeface="Cambria" pitchFamily="34" charset="-122"/>
                <a:cs typeface="Cambria" pitchFamily="34" charset="-120"/>
              </a:rPr>
              <a:t>HOÀN TẤT</a:t>
            </a:r>
            <a:endParaRPr lang="en-US" sz="1250" dirty="0"/>
          </a:p>
        </p:txBody>
      </p:sp>
      <p:sp>
        <p:nvSpPr>
          <p:cNvPr id="8" name="Text 6"/>
          <p:cNvSpPr/>
          <p:nvPr/>
        </p:nvSpPr>
        <p:spPr>
          <a:xfrm>
            <a:off x="1161288" y="167335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Kiểm chứng bằng sáu khối phép đo.</a:t>
            </a:r>
            <a:endParaRPr lang="en-US" sz="1350" dirty="0"/>
          </a:p>
        </p:txBody>
      </p:sp>
      <p:sp>
        <p:nvSpPr>
          <p:cNvPr id="9" name="Shape 7"/>
          <p:cNvSpPr/>
          <p:nvPr/>
        </p:nvSpPr>
        <p:spPr>
          <a:xfrm>
            <a:off x="502920" y="246888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640080" y="260604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2</a:t>
            </a:r>
            <a:endParaRPr lang="en-US" sz="2600" dirty="0"/>
          </a:p>
        </p:txBody>
      </p:sp>
      <p:sp>
        <p:nvSpPr>
          <p:cNvPr id="11" name="Text 9"/>
          <p:cNvSpPr/>
          <p:nvPr/>
        </p:nvSpPr>
        <p:spPr>
          <a:xfrm>
            <a:off x="1161288" y="263347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Đường ống dữ liệu và một kết quả đã đăng ký trước</a:t>
            </a:r>
            <a:endParaRPr lang="en-US" sz="1500" dirty="0"/>
          </a:p>
        </p:txBody>
      </p:sp>
      <p:sp>
        <p:nvSpPr>
          <p:cNvPr id="12" name="Text 10"/>
          <p:cNvSpPr/>
          <p:nvPr/>
        </p:nvSpPr>
        <p:spPr>
          <a:xfrm>
            <a:off x="6446520" y="2633472"/>
            <a:ext cx="2011680" cy="320040"/>
          </a:xfrm>
          <a:prstGeom prst="rect">
            <a:avLst/>
          </a:prstGeom>
          <a:noFill/>
          <a:ln/>
        </p:spPr>
        <p:txBody>
          <a:bodyPr wrap="square" lIns="0" tIns="0" rIns="0" bIns="0" rtlCol="0" anchor="t"/>
          <a:lstStyle/>
          <a:p>
            <a:pPr algn="r" indent="0" marL="0">
              <a:buNone/>
            </a:pPr>
            <a:r>
              <a:rPr lang="en-US" sz="1250" b="1" dirty="0">
                <a:solidFill>
                  <a:srgbClr val="B22222"/>
                </a:solidFill>
                <a:latin typeface="Cambria" pitchFamily="34" charset="0"/>
                <a:ea typeface="Cambria" pitchFamily="34" charset="-122"/>
                <a:cs typeface="Cambria" pitchFamily="34" charset="-120"/>
              </a:rPr>
              <a:t>KHÔNG HOÀN TẤT</a:t>
            </a:r>
            <a:endParaRPr lang="en-US" sz="1250" dirty="0"/>
          </a:p>
        </p:txBody>
      </p:sp>
      <p:sp>
        <p:nvSpPr>
          <p:cNvPr id="13" name="Text 11"/>
          <p:cNvSpPr/>
          <p:nvPr/>
        </p:nvSpPr>
        <p:spPr>
          <a:xfrm>
            <a:off x="1161288" y="318211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Hạt giống thứ hai bị huỷ vì ngân sách máy.</a:t>
            </a:r>
            <a:endParaRPr lang="en-US" sz="1350" dirty="0"/>
          </a:p>
        </p:txBody>
      </p:sp>
      <p:sp>
        <p:nvSpPr>
          <p:cNvPr id="14" name="Shape 12"/>
          <p:cNvSpPr/>
          <p:nvPr/>
        </p:nvSpPr>
        <p:spPr>
          <a:xfrm>
            <a:off x="502920" y="397764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15" name="Text 13"/>
          <p:cNvSpPr/>
          <p:nvPr/>
        </p:nvSpPr>
        <p:spPr>
          <a:xfrm>
            <a:off x="640080" y="411480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3</a:t>
            </a:r>
            <a:endParaRPr lang="en-US" sz="2600" dirty="0"/>
          </a:p>
        </p:txBody>
      </p:sp>
      <p:sp>
        <p:nvSpPr>
          <p:cNvPr id="16" name="Text 14"/>
          <p:cNvSpPr/>
          <p:nvPr/>
        </p:nvSpPr>
        <p:spPr>
          <a:xfrm>
            <a:off x="1161288" y="414223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Chẩn đoán ở mức từng bước</a:t>
            </a:r>
            <a:endParaRPr lang="en-US" sz="1500" dirty="0"/>
          </a:p>
        </p:txBody>
      </p:sp>
      <p:sp>
        <p:nvSpPr>
          <p:cNvPr id="17" name="Text 15"/>
          <p:cNvSpPr/>
          <p:nvPr/>
        </p:nvSpPr>
        <p:spPr>
          <a:xfrm>
            <a:off x="6446520" y="4142232"/>
            <a:ext cx="2011680" cy="320040"/>
          </a:xfrm>
          <a:prstGeom prst="rect">
            <a:avLst/>
          </a:prstGeom>
          <a:noFill/>
          <a:ln/>
        </p:spPr>
        <p:txBody>
          <a:bodyPr wrap="square" lIns="0" tIns="0" rIns="0" bIns="0" rtlCol="0" anchor="t"/>
          <a:lstStyle/>
          <a:p>
            <a:pPr algn="r" indent="0" marL="0">
              <a:buNone/>
            </a:pPr>
            <a:r>
              <a:rPr lang="en-US" sz="1250" b="1" dirty="0">
                <a:solidFill>
                  <a:srgbClr val="006666"/>
                </a:solidFill>
                <a:latin typeface="Cambria" pitchFamily="34" charset="0"/>
                <a:ea typeface="Cambria" pitchFamily="34" charset="-122"/>
                <a:cs typeface="Cambria" pitchFamily="34" charset="-120"/>
              </a:rPr>
              <a:t>HOÀN TẤT</a:t>
            </a:r>
            <a:endParaRPr lang="en-US" sz="1250" dirty="0"/>
          </a:p>
        </p:txBody>
      </p:sp>
      <p:sp>
        <p:nvSpPr>
          <p:cNvPr id="18" name="Text 16"/>
          <p:cNvSpPr/>
          <p:nvPr/>
        </p:nvSpPr>
        <p:spPr>
          <a:xfrm>
            <a:off x="1161288" y="469087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Cơ chế đúng, nhưng bị chặn bởi độ chính xác khai báo.</a:t>
            </a:r>
            <a:endParaRPr lang="en-US" sz="1350" dirty="0"/>
          </a:p>
        </p:txBody>
      </p:sp>
      <p:sp>
        <p:nvSpPr>
          <p:cNvPr id="20" name="Shape 17"/>
          <p:cNvSpPr/>
          <p:nvPr/>
        </p:nvSpPr>
        <p:spPr>
          <a:xfrm>
            <a:off x="0" y="6620256"/>
            <a:ext cx="2743200" cy="237744"/>
          </a:xfrm>
          <a:prstGeom prst="rect">
            <a:avLst/>
          </a:prstGeom>
          <a:solidFill>
            <a:srgbClr val="191132"/>
          </a:solidFill>
          <a:ln/>
        </p:spPr>
      </p:sp>
      <p:sp>
        <p:nvSpPr>
          <p:cNvPr id="21" name="Shape 18"/>
          <p:cNvSpPr/>
          <p:nvPr/>
        </p:nvSpPr>
        <p:spPr>
          <a:xfrm>
            <a:off x="2743200" y="6620256"/>
            <a:ext cx="3383280" cy="237744"/>
          </a:xfrm>
          <a:prstGeom prst="rect">
            <a:avLst/>
          </a:prstGeom>
          <a:solidFill>
            <a:srgbClr val="25194B"/>
          </a:solidFill>
          <a:ln/>
        </p:spPr>
      </p:sp>
      <p:sp>
        <p:nvSpPr>
          <p:cNvPr id="22" name="Shape 19"/>
          <p:cNvSpPr/>
          <p:nvPr/>
        </p:nvSpPr>
        <p:spPr>
          <a:xfrm>
            <a:off x="6126480" y="6620256"/>
            <a:ext cx="1737360" cy="237744"/>
          </a:xfrm>
          <a:prstGeom prst="rect">
            <a:avLst/>
          </a:prstGeom>
          <a:solidFill>
            <a:srgbClr val="4F417A"/>
          </a:solidFill>
          <a:ln/>
        </p:spPr>
      </p:sp>
      <p:sp>
        <p:nvSpPr>
          <p:cNvPr id="23" name="Shape 20"/>
          <p:cNvSpPr/>
          <p:nvPr/>
        </p:nvSpPr>
        <p:spPr>
          <a:xfrm>
            <a:off x="7863840" y="6620256"/>
            <a:ext cx="1280160" cy="237744"/>
          </a:xfrm>
          <a:prstGeom prst="rect">
            <a:avLst/>
          </a:prstGeom>
          <a:solidFill>
            <a:srgbClr val="7A7099"/>
          </a:solidFill>
          <a:ln/>
        </p:spPr>
      </p:sp>
      <p:sp>
        <p:nvSpPr>
          <p:cNvPr id="24" name="Text 2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5" name="Text 2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6" name="Text 2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6/25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2 · Dữ liệu: dựng bằng máy, không thuê người dán nhãn</a:t>
            </a:r>
            <a:endParaRPr lang="en-US" sz="1900" dirty="0"/>
          </a:p>
        </p:txBody>
      </p:sp>
      <p:sp>
        <p:nvSpPr>
          <p:cNvPr id="4" name="Text 2"/>
          <p:cNvSpPr/>
          <p:nvPr/>
        </p:nvSpPr>
        <p:spPr>
          <a:xfrm>
            <a:off x="502920" y="822960"/>
            <a:ext cx="8138160" cy="4572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Ghép hai kho công khai theo khoá (episode_id, step_id): câu người viết và cây trợ năng từ kho thứ nhất, ảnh màn hình từ kho thứ hai.</a:t>
            </a:r>
            <a:endParaRPr lang="en-US" sz="1300" dirty="0"/>
          </a:p>
        </p:txBody>
      </p:sp>
      <p:sp>
        <p:nvSpPr>
          <p:cNvPr id="5" name="Shape 3"/>
          <p:cNvSpPr/>
          <p:nvPr/>
        </p:nvSpPr>
        <p:spPr>
          <a:xfrm>
            <a:off x="960120" y="1463040"/>
            <a:ext cx="7863840" cy="384048"/>
          </a:xfrm>
          <a:prstGeom prst="rect">
            <a:avLst/>
          </a:prstGeom>
          <a:solidFill>
            <a:srgbClr val="322164"/>
          </a:solidFill>
          <a:ln/>
        </p:spPr>
      </p:sp>
      <p:sp>
        <p:nvSpPr>
          <p:cNvPr id="6" name="Text 4"/>
          <p:cNvSpPr/>
          <p:nvPr/>
        </p:nvSpPr>
        <p:spPr>
          <a:xfrm>
            <a:off x="960120" y="1463040"/>
            <a:ext cx="2377440" cy="384048"/>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Tập</a:t>
            </a:r>
            <a:endParaRPr lang="en-US" sz="1300" dirty="0"/>
          </a:p>
        </p:txBody>
      </p:sp>
      <p:sp>
        <p:nvSpPr>
          <p:cNvPr id="7" name="Text 5"/>
          <p:cNvSpPr/>
          <p:nvPr/>
        </p:nvSpPr>
        <p:spPr>
          <a:xfrm>
            <a:off x="3337560" y="1463040"/>
            <a:ext cx="201168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Số bước</a:t>
            </a:r>
            <a:endParaRPr lang="en-US" sz="1300" dirty="0"/>
          </a:p>
        </p:txBody>
      </p:sp>
      <p:sp>
        <p:nvSpPr>
          <p:cNvPr id="8" name="Text 6"/>
          <p:cNvSpPr/>
          <p:nvPr/>
        </p:nvSpPr>
        <p:spPr>
          <a:xfrm>
            <a:off x="5349240" y="1463040"/>
            <a:ext cx="201168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Bước chạm</a:t>
            </a:r>
            <a:endParaRPr lang="en-US" sz="1300" dirty="0"/>
          </a:p>
        </p:txBody>
      </p:sp>
      <p:sp>
        <p:nvSpPr>
          <p:cNvPr id="9" name="Text 7"/>
          <p:cNvSpPr/>
          <p:nvPr/>
        </p:nvSpPr>
        <p:spPr>
          <a:xfrm>
            <a:off x="7360920" y="1463040"/>
            <a:ext cx="146304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Tác vụ</a:t>
            </a:r>
            <a:endParaRPr lang="en-US" sz="1300" dirty="0"/>
          </a:p>
        </p:txBody>
      </p:sp>
      <p:sp>
        <p:nvSpPr>
          <p:cNvPr id="10" name="Text 8"/>
          <p:cNvSpPr/>
          <p:nvPr/>
        </p:nvSpPr>
        <p:spPr>
          <a:xfrm>
            <a:off x="960120" y="1847088"/>
            <a:ext cx="2377440" cy="384048"/>
          </a:xfrm>
          <a:prstGeom prst="rect">
            <a:avLst/>
          </a:prstGeom>
          <a:noFill/>
          <a:ln/>
        </p:spPr>
        <p:txBody>
          <a:bodyPr wrap="square" lIns="38100" tIns="38100" rIns="38100" bIns="3810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Huấn luyện</a:t>
            </a:r>
            <a:endParaRPr lang="en-US" sz="1350" dirty="0"/>
          </a:p>
        </p:txBody>
      </p:sp>
      <p:sp>
        <p:nvSpPr>
          <p:cNvPr id="11" name="Text 9"/>
          <p:cNvSpPr/>
          <p:nvPr/>
        </p:nvSpPr>
        <p:spPr>
          <a:xfrm>
            <a:off x="3337560" y="1847088"/>
            <a:ext cx="201168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64.567</a:t>
            </a:r>
            <a:endParaRPr lang="en-US" sz="1350" dirty="0"/>
          </a:p>
        </p:txBody>
      </p:sp>
      <p:sp>
        <p:nvSpPr>
          <p:cNvPr id="12" name="Text 10"/>
          <p:cNvSpPr/>
          <p:nvPr/>
        </p:nvSpPr>
        <p:spPr>
          <a:xfrm>
            <a:off x="5349240" y="1847088"/>
            <a:ext cx="201168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41.191</a:t>
            </a:r>
            <a:endParaRPr lang="en-US" sz="1350" dirty="0"/>
          </a:p>
        </p:txBody>
      </p:sp>
      <p:sp>
        <p:nvSpPr>
          <p:cNvPr id="13" name="Text 11"/>
          <p:cNvSpPr/>
          <p:nvPr/>
        </p:nvSpPr>
        <p:spPr>
          <a:xfrm>
            <a:off x="7360920" y="1847088"/>
            <a:ext cx="146304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12.895</a:t>
            </a:r>
            <a:endParaRPr lang="en-US" sz="1350" dirty="0"/>
          </a:p>
        </p:txBody>
      </p:sp>
      <p:sp>
        <p:nvSpPr>
          <p:cNvPr id="14" name="Shape 12"/>
          <p:cNvSpPr/>
          <p:nvPr/>
        </p:nvSpPr>
        <p:spPr>
          <a:xfrm>
            <a:off x="960120" y="2231136"/>
            <a:ext cx="7863840" cy="0"/>
          </a:xfrm>
          <a:prstGeom prst="line">
            <a:avLst/>
          </a:prstGeom>
          <a:noFill/>
          <a:ln w="12700">
            <a:solidFill>
              <a:srgbClr val="9A94AE"/>
            </a:solidFill>
            <a:prstDash val="solid"/>
          </a:ln>
        </p:spPr>
      </p:sp>
      <p:sp>
        <p:nvSpPr>
          <p:cNvPr id="15" name="Text 13"/>
          <p:cNvSpPr/>
          <p:nvPr/>
        </p:nvSpPr>
        <p:spPr>
          <a:xfrm>
            <a:off x="960120" y="2231136"/>
            <a:ext cx="2377440" cy="384048"/>
          </a:xfrm>
          <a:prstGeom prst="rect">
            <a:avLst/>
          </a:prstGeom>
          <a:noFill/>
          <a:ln/>
        </p:spPr>
        <p:txBody>
          <a:bodyPr wrap="square" lIns="38100" tIns="38100" rIns="38100" bIns="38100" rtlCol="0" anchor="ctr"/>
          <a:lstStyle/>
          <a:p>
            <a:pPr algn="l" indent="0" marL="0">
              <a:buNone/>
            </a:pPr>
            <a:r>
              <a:rPr lang="en-US" sz="1350" b="1" dirty="0">
                <a:solidFill>
                  <a:srgbClr val="1A1A1A"/>
                </a:solidFill>
                <a:latin typeface="Cambria" pitchFamily="34" charset="0"/>
                <a:ea typeface="Cambria" pitchFamily="34" charset="-122"/>
                <a:cs typeface="Cambria" pitchFamily="34" charset="-120"/>
              </a:rPr>
              <a:t>Kiểm tra</a:t>
            </a:r>
            <a:endParaRPr lang="en-US" sz="1350" dirty="0"/>
          </a:p>
        </p:txBody>
      </p:sp>
      <p:sp>
        <p:nvSpPr>
          <p:cNvPr id="16" name="Text 14"/>
          <p:cNvSpPr/>
          <p:nvPr/>
        </p:nvSpPr>
        <p:spPr>
          <a:xfrm>
            <a:off x="3337560" y="2231136"/>
            <a:ext cx="201168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6.958</a:t>
            </a:r>
            <a:endParaRPr lang="en-US" sz="1350" dirty="0"/>
          </a:p>
        </p:txBody>
      </p:sp>
      <p:sp>
        <p:nvSpPr>
          <p:cNvPr id="17" name="Text 15"/>
          <p:cNvSpPr/>
          <p:nvPr/>
        </p:nvSpPr>
        <p:spPr>
          <a:xfrm>
            <a:off x="5349240" y="2231136"/>
            <a:ext cx="201168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4.463</a:t>
            </a:r>
            <a:endParaRPr lang="en-US" sz="1350" dirty="0"/>
          </a:p>
        </p:txBody>
      </p:sp>
      <p:sp>
        <p:nvSpPr>
          <p:cNvPr id="18" name="Text 16"/>
          <p:cNvSpPr/>
          <p:nvPr/>
        </p:nvSpPr>
        <p:spPr>
          <a:xfrm>
            <a:off x="7360920" y="2231136"/>
            <a:ext cx="146304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1.432</a:t>
            </a:r>
            <a:endParaRPr lang="en-US" sz="1350" dirty="0"/>
          </a:p>
        </p:txBody>
      </p:sp>
      <p:sp>
        <p:nvSpPr>
          <p:cNvPr id="19" name="Text 17"/>
          <p:cNvSpPr/>
          <p:nvPr/>
        </p:nvSpPr>
        <p:spPr>
          <a:xfrm>
            <a:off x="502920" y="288036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phép kiểm bảo vệ phần này</a:t>
            </a:r>
            <a:endParaRPr lang="en-US" sz="1400" dirty="0"/>
          </a:p>
        </p:txBody>
      </p:sp>
      <p:sp>
        <p:nvSpPr>
          <p:cNvPr id="20" name="Text 18"/>
          <p:cNvSpPr/>
          <p:nvPr/>
        </p:nvSpPr>
        <p:spPr>
          <a:xfrm>
            <a:off x="640080" y="329184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1" name="Text 19"/>
          <p:cNvSpPr/>
          <p:nvPr/>
        </p:nvSpPr>
        <p:spPr>
          <a:xfrm>
            <a:off x="868680" y="329184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Phép ghép khớp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48%</a:t>
            </a:r>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 đối chứng lệch chủ ý chỉ </a:t>
            </a:r>
            <a:pPr algn="l" indent="0" marL="0">
              <a:lnSpc>
                <a:spcPct val="120000"/>
              </a:lnSpc>
              <a:buNone/>
            </a:pPr>
            <a:r>
              <a:rPr lang="en-US" sz="1350" b="1" dirty="0">
                <a:solidFill>
                  <a:srgbClr val="B22222"/>
                </a:solidFill>
                <a:latin typeface="Cambria" pitchFamily="34" charset="0"/>
                <a:ea typeface="Cambria" pitchFamily="34" charset="-122"/>
                <a:cs typeface="Cambria" pitchFamily="34" charset="-120"/>
              </a:rPr>
              <a:t>20%</a:t>
            </a:r>
            <a:endParaRPr lang="en-US" sz="1350" dirty="0"/>
          </a:p>
        </p:txBody>
      </p:sp>
      <p:sp>
        <p:nvSpPr>
          <p:cNvPr id="22" name="Text 20"/>
          <p:cNvSpPr/>
          <p:nvPr/>
        </p:nvSpPr>
        <p:spPr>
          <a:xfrm>
            <a:off x="640080" y="379476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3" name="Text 21"/>
          <p:cNvSpPr/>
          <p:nvPr/>
        </p:nvSpPr>
        <p:spPr>
          <a:xfrm>
            <a:off x="868680" y="379476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Chín bất biến cấu trúc đều đạt: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9/9</a:t>
            </a:r>
            <a:endParaRPr lang="en-US" sz="1350" dirty="0"/>
          </a:p>
        </p:txBody>
      </p:sp>
      <p:sp>
        <p:nvSpPr>
          <p:cNvPr id="24" name="Text 22"/>
          <p:cNvSpPr/>
          <p:nvPr/>
        </p:nvSpPr>
        <p:spPr>
          <a:xfrm>
            <a:off x="640080" y="429768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5" name="Text 23"/>
          <p:cNvSpPr/>
          <p:nvPr/>
        </p:nvSpPr>
        <p:spPr>
          <a:xfrm>
            <a:off x="868680" y="429768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Rò rỉ dạy và kiểm: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không tác vụ nào trùng</a:t>
            </a:r>
            <a:endParaRPr lang="en-US" sz="1350" dirty="0"/>
          </a:p>
        </p:txBody>
      </p:sp>
      <p:sp>
        <p:nvSpPr>
          <p:cNvPr id="26" name="Shape 24"/>
          <p:cNvSpPr/>
          <p:nvPr/>
        </p:nvSpPr>
        <p:spPr>
          <a:xfrm>
            <a:off x="502920" y="4937760"/>
            <a:ext cx="8138160" cy="731520"/>
          </a:xfrm>
          <a:prstGeom prst="roundRect">
            <a:avLst>
              <a:gd name="adj" fmla="val 7500"/>
            </a:avLst>
          </a:prstGeom>
          <a:solidFill>
            <a:srgbClr val="E9E8EC"/>
          </a:solidFill>
          <a:ln/>
          <a:effectLst>
            <a:outerShdw sx="100000" sy="100000" kx="0" ky="0" algn="bl" rotWithShape="0" blurRad="63500" dist="31750" dir="2700000">
              <a:srgbClr val="8C8C99">
                <a:alpha val="45000"/>
              </a:srgbClr>
            </a:outerShdw>
          </a:effectLst>
        </p:spPr>
      </p:sp>
      <p:sp>
        <p:nvSpPr>
          <p:cNvPr id="27" name="Text 25"/>
          <p:cNvSpPr/>
          <p:nvPr/>
        </p:nvSpPr>
        <p:spPr>
          <a:xfrm>
            <a:off x="731520" y="4937760"/>
            <a:ext cx="7680960" cy="731520"/>
          </a:xfrm>
          <a:prstGeom prst="rect">
            <a:avLst/>
          </a:prstGeom>
          <a:noFill/>
          <a:ln/>
        </p:spPr>
        <p:txBody>
          <a:bodyPr wrap="square" lIns="0" tIns="0" rIns="0" bIns="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Nhãn không do người dán, cũng không lấy từ một mô hình ngôn ngữ khác.</a:t>
            </a:r>
            <a:endParaRPr lang="en-US" sz="1350" dirty="0"/>
          </a:p>
        </p:txBody>
      </p:sp>
      <p:sp>
        <p:nvSpPr>
          <p:cNvPr id="29" name="Shape 26"/>
          <p:cNvSpPr/>
          <p:nvPr/>
        </p:nvSpPr>
        <p:spPr>
          <a:xfrm>
            <a:off x="0" y="6620256"/>
            <a:ext cx="2743200" cy="237744"/>
          </a:xfrm>
          <a:prstGeom prst="rect">
            <a:avLst/>
          </a:prstGeom>
          <a:solidFill>
            <a:srgbClr val="191132"/>
          </a:solidFill>
          <a:ln/>
        </p:spPr>
      </p:sp>
      <p:sp>
        <p:nvSpPr>
          <p:cNvPr id="30" name="Shape 27"/>
          <p:cNvSpPr/>
          <p:nvPr/>
        </p:nvSpPr>
        <p:spPr>
          <a:xfrm>
            <a:off x="2743200" y="6620256"/>
            <a:ext cx="3383280" cy="237744"/>
          </a:xfrm>
          <a:prstGeom prst="rect">
            <a:avLst/>
          </a:prstGeom>
          <a:solidFill>
            <a:srgbClr val="25194B"/>
          </a:solidFill>
          <a:ln/>
        </p:spPr>
      </p:sp>
      <p:sp>
        <p:nvSpPr>
          <p:cNvPr id="31" name="Shape 28"/>
          <p:cNvSpPr/>
          <p:nvPr/>
        </p:nvSpPr>
        <p:spPr>
          <a:xfrm>
            <a:off x="6126480" y="6620256"/>
            <a:ext cx="1737360" cy="237744"/>
          </a:xfrm>
          <a:prstGeom prst="rect">
            <a:avLst/>
          </a:prstGeom>
          <a:solidFill>
            <a:srgbClr val="4F417A"/>
          </a:solidFill>
          <a:ln/>
        </p:spPr>
      </p:sp>
      <p:sp>
        <p:nvSpPr>
          <p:cNvPr id="32" name="Shape 29"/>
          <p:cNvSpPr/>
          <p:nvPr/>
        </p:nvSpPr>
        <p:spPr>
          <a:xfrm>
            <a:off x="7863840" y="6620256"/>
            <a:ext cx="1280160" cy="237744"/>
          </a:xfrm>
          <a:prstGeom prst="rect">
            <a:avLst/>
          </a:prstGeom>
          <a:solidFill>
            <a:srgbClr val="7A7099"/>
          </a:solidFill>
          <a:ln/>
        </p:spPr>
      </p:sp>
      <p:sp>
        <p:nvSpPr>
          <p:cNvPr id="33"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5"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7/25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2 · Nhãn mô tả tự động cho phần tử người dùng đã chạm</a:t>
            </a:r>
            <a:endParaRPr lang="en-US" sz="1900" dirty="0"/>
          </a:p>
        </p:txBody>
      </p:sp>
      <p:sp>
        <p:nvSpPr>
          <p:cNvPr id="4" name="Shape 2"/>
          <p:cNvSpPr/>
          <p:nvPr/>
        </p:nvSpPr>
        <p:spPr>
          <a:xfrm>
            <a:off x="502920" y="868680"/>
            <a:ext cx="8138160" cy="640080"/>
          </a:xfrm>
          <a:prstGeom prst="roundRect">
            <a:avLst>
              <a:gd name="adj" fmla="val 8571"/>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868680"/>
            <a:ext cx="7680960" cy="640080"/>
          </a:xfrm>
          <a:prstGeom prst="rect">
            <a:avLst/>
          </a:prstGeom>
          <a:noFill/>
          <a:ln/>
        </p:spPr>
        <p:txBody>
          <a:bodyPr wrap="square" lIns="0" tIns="0" rIns="0" bIns="0" rtlCol="0" anchor="ctr"/>
          <a:lstStyle/>
          <a:p>
            <a:pPr algn="l" indent="0" marL="0">
              <a:buNone/>
            </a:pPr>
            <a:r>
              <a:rPr lang="en-US" sz="1400" b="1" dirty="0">
                <a:solidFill>
                  <a:srgbClr val="322164"/>
                </a:solidFill>
                <a:latin typeface="Cambria" pitchFamily="34" charset="0"/>
                <a:ea typeface="Cambria" pitchFamily="34" charset="-122"/>
                <a:cs typeface="Cambria" pitchFamily="34" charset="-120"/>
              </a:rPr>
              <a:t>Mỗi nhãn gồm bốn ô:   </a:t>
            </a:r>
            <a:pPr algn="l" indent="0" marL="0">
              <a:buNone/>
            </a:pPr>
            <a:r>
              <a:rPr lang="en-US" sz="1400" b="1" dirty="0">
                <a:solidFill>
                  <a:srgbClr val="1414BE"/>
                </a:solidFill>
                <a:latin typeface="Cambria" pitchFamily="34" charset="0"/>
                <a:ea typeface="Cambria" pitchFamily="34" charset="-122"/>
                <a:cs typeface="Cambria" pitchFamily="34" charset="-120"/>
              </a:rPr>
              <a:t>vai trò  |  tên  |  toạ độ chạm  |  dấu hiệu phân biệt</a:t>
            </a:r>
            <a:endParaRPr lang="en-US" sz="1400" dirty="0"/>
          </a:p>
        </p:txBody>
      </p:sp>
      <p:sp>
        <p:nvSpPr>
          <p:cNvPr id="6" name="Text 4"/>
          <p:cNvSpPr/>
          <p:nvPr/>
        </p:nvSpPr>
        <p:spPr>
          <a:xfrm>
            <a:off x="502920" y="1737360"/>
            <a:ext cx="40233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Vì sao phải tự dựng ô tên</a:t>
            </a:r>
            <a:endParaRPr lang="en-US" sz="1400" dirty="0"/>
          </a:p>
        </p:txBody>
      </p:sp>
      <p:sp>
        <p:nvSpPr>
          <p:cNvPr id="7" name="Text 5"/>
          <p:cNvSpPr/>
          <p:nvPr/>
        </p:nvSpPr>
        <p:spPr>
          <a:xfrm>
            <a:off x="502920" y="21488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8" name="Text 6"/>
          <p:cNvSpPr/>
          <p:nvPr/>
        </p:nvSpPr>
        <p:spPr>
          <a:xfrm>
            <a:off x="731520" y="214884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Cây trợ năng có 86 phần tử mỗi màn, chỉ 12,6% có tên</a:t>
            </a:r>
            <a:endParaRPr lang="en-US" sz="1300" dirty="0"/>
          </a:p>
        </p:txBody>
      </p:sp>
      <p:sp>
        <p:nvSpPr>
          <p:cNvPr id="9" name="Text 7"/>
          <p:cNvSpPr/>
          <p:nvPr/>
        </p:nvSpPr>
        <p:spPr>
          <a:xfrm>
            <a:off x="502920" y="29260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0" name="Text 8"/>
          <p:cNvSpPr/>
          <p:nvPr/>
        </p:nvSpPr>
        <p:spPr>
          <a:xfrm>
            <a:off x="731520" y="292608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Trích chữ trên ảnh bù vào, phủ 100% số bước</a:t>
            </a:r>
            <a:endParaRPr lang="en-US" sz="1300" dirty="0"/>
          </a:p>
        </p:txBody>
      </p:sp>
      <p:sp>
        <p:nvSpPr>
          <p:cNvPr id="11" name="Text 9"/>
          <p:cNvSpPr/>
          <p:nvPr/>
        </p:nvSpPr>
        <p:spPr>
          <a:xfrm>
            <a:off x="502920" y="37033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2" name="Text 10"/>
          <p:cNvSpPr/>
          <p:nvPr/>
        </p:nvSpPr>
        <p:spPr>
          <a:xfrm>
            <a:off x="731520" y="370332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Hai cổng lọc thêm: nhãn rác 14,7% và phần tử quá 25% màn</a:t>
            </a:r>
            <a:endParaRPr lang="en-US" sz="1300" dirty="0"/>
          </a:p>
        </p:txBody>
      </p:sp>
      <p:sp>
        <p:nvSpPr>
          <p:cNvPr id="13" name="Text 11"/>
          <p:cNvSpPr/>
          <p:nvPr/>
        </p:nvSpPr>
        <p:spPr>
          <a:xfrm>
            <a:off x="4663440" y="1737360"/>
            <a:ext cx="397764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Chất lượng ô tên</a:t>
            </a:r>
            <a:endParaRPr lang="en-US" sz="1400" dirty="0"/>
          </a:p>
        </p:txBody>
      </p:sp>
      <p:sp>
        <p:nvSpPr>
          <p:cNvPr id="14" name="Text 12"/>
          <p:cNvSpPr/>
          <p:nvPr/>
        </p:nvSpPr>
        <p:spPr>
          <a:xfrm>
            <a:off x="4663440" y="2148840"/>
            <a:ext cx="2788920" cy="438912"/>
          </a:xfrm>
          <a:prstGeom prst="rect">
            <a:avLst/>
          </a:prstGeom>
          <a:noFill/>
          <a:ln/>
        </p:spPr>
        <p:txBody>
          <a:bodyPr wrap="square" lIns="38100" tIns="38100" rIns="38100" bIns="3810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Có tên dùng được</a:t>
            </a:r>
            <a:endParaRPr lang="en-US" sz="1350" dirty="0"/>
          </a:p>
        </p:txBody>
      </p:sp>
      <p:sp>
        <p:nvSpPr>
          <p:cNvPr id="15" name="Text 13"/>
          <p:cNvSpPr/>
          <p:nvPr/>
        </p:nvSpPr>
        <p:spPr>
          <a:xfrm>
            <a:off x="7452360" y="2148840"/>
            <a:ext cx="1188720" cy="438912"/>
          </a:xfrm>
          <a:prstGeom prst="rect">
            <a:avLst/>
          </a:prstGeom>
          <a:noFill/>
          <a:ln/>
        </p:spPr>
        <p:txBody>
          <a:bodyPr wrap="square" lIns="38100" tIns="38100" rIns="38100" bIns="38100" rtlCol="0" anchor="ctr"/>
          <a:lstStyle/>
          <a:p>
            <a:pPr algn="r" indent="0" marL="0">
              <a:buNone/>
            </a:pPr>
            <a:r>
              <a:rPr lang="en-US" sz="1350" dirty="0">
                <a:solidFill>
                  <a:srgbClr val="1A1A1A"/>
                </a:solidFill>
                <a:latin typeface="Cambria" pitchFamily="34" charset="0"/>
                <a:ea typeface="Cambria" pitchFamily="34" charset="-122"/>
                <a:cs typeface="Cambria" pitchFamily="34" charset="-120"/>
              </a:rPr>
              <a:t>73,6%</a:t>
            </a:r>
            <a:endParaRPr lang="en-US" sz="1350" dirty="0"/>
          </a:p>
        </p:txBody>
      </p:sp>
      <p:sp>
        <p:nvSpPr>
          <p:cNvPr id="16" name="Shape 14"/>
          <p:cNvSpPr/>
          <p:nvPr/>
        </p:nvSpPr>
        <p:spPr>
          <a:xfrm>
            <a:off x="4663440" y="2587752"/>
            <a:ext cx="3977640" cy="0"/>
          </a:xfrm>
          <a:prstGeom prst="line">
            <a:avLst/>
          </a:prstGeom>
          <a:noFill/>
          <a:ln w="12700">
            <a:solidFill>
              <a:srgbClr val="9A94AE"/>
            </a:solidFill>
            <a:prstDash val="solid"/>
          </a:ln>
        </p:spPr>
      </p:sp>
      <p:sp>
        <p:nvSpPr>
          <p:cNvPr id="17" name="Text 15"/>
          <p:cNvSpPr/>
          <p:nvPr/>
        </p:nvSpPr>
        <p:spPr>
          <a:xfrm>
            <a:off x="4663440" y="2587752"/>
            <a:ext cx="2788920" cy="438912"/>
          </a:xfrm>
          <a:prstGeom prst="rect">
            <a:avLst/>
          </a:prstGeom>
          <a:noFill/>
          <a:ln/>
        </p:spPr>
        <p:txBody>
          <a:bodyPr wrap="square" lIns="38100" tIns="38100" rIns="38100" bIns="38100" rtlCol="0" anchor="ctr"/>
          <a:lstStyle/>
          <a:p>
            <a:pPr algn="l" indent="0" marL="0">
              <a:buNone/>
            </a:pPr>
            <a:r>
              <a:rPr lang="en-US" sz="1350" dirty="0">
                <a:solidFill>
                  <a:srgbClr val="B22222"/>
                </a:solidFill>
                <a:latin typeface="Cambria" pitchFamily="34" charset="0"/>
                <a:ea typeface="Cambria" pitchFamily="34" charset="-122"/>
                <a:cs typeface="Cambria" pitchFamily="34" charset="-120"/>
              </a:rPr>
              <a:t>Không có tên nào</a:t>
            </a:r>
            <a:endParaRPr lang="en-US" sz="1350" dirty="0"/>
          </a:p>
        </p:txBody>
      </p:sp>
      <p:sp>
        <p:nvSpPr>
          <p:cNvPr id="18" name="Text 16"/>
          <p:cNvSpPr/>
          <p:nvPr/>
        </p:nvSpPr>
        <p:spPr>
          <a:xfrm>
            <a:off x="7452360" y="2587752"/>
            <a:ext cx="1188720" cy="438912"/>
          </a:xfrm>
          <a:prstGeom prst="rect">
            <a:avLst/>
          </a:prstGeom>
          <a:noFill/>
          <a:ln/>
        </p:spPr>
        <p:txBody>
          <a:bodyPr wrap="square" lIns="38100" tIns="38100" rIns="38100" bIns="38100" rtlCol="0" anchor="ctr"/>
          <a:lstStyle/>
          <a:p>
            <a:pPr algn="r" indent="0" marL="0">
              <a:buNone/>
            </a:pPr>
            <a:r>
              <a:rPr lang="en-US" sz="1350" dirty="0">
                <a:solidFill>
                  <a:srgbClr val="B22222"/>
                </a:solidFill>
                <a:latin typeface="Cambria" pitchFamily="34" charset="0"/>
                <a:ea typeface="Cambria" pitchFamily="34" charset="-122"/>
                <a:cs typeface="Cambria" pitchFamily="34" charset="-120"/>
              </a:rPr>
              <a:t>22,0%</a:t>
            </a:r>
            <a:endParaRPr lang="en-US" sz="1350" dirty="0"/>
          </a:p>
        </p:txBody>
      </p:sp>
      <p:sp>
        <p:nvSpPr>
          <p:cNvPr id="19" name="Shape 17"/>
          <p:cNvSpPr/>
          <p:nvPr/>
        </p:nvSpPr>
        <p:spPr>
          <a:xfrm>
            <a:off x="4663440" y="3026664"/>
            <a:ext cx="3977640" cy="0"/>
          </a:xfrm>
          <a:prstGeom prst="line">
            <a:avLst/>
          </a:prstGeom>
          <a:noFill/>
          <a:ln w="12700">
            <a:solidFill>
              <a:srgbClr val="9A94AE"/>
            </a:solidFill>
            <a:prstDash val="solid"/>
          </a:ln>
        </p:spPr>
      </p:sp>
      <p:sp>
        <p:nvSpPr>
          <p:cNvPr id="20" name="Text 18"/>
          <p:cNvSpPr/>
          <p:nvPr/>
        </p:nvSpPr>
        <p:spPr>
          <a:xfrm>
            <a:off x="4663440" y="3026664"/>
            <a:ext cx="2788920" cy="438912"/>
          </a:xfrm>
          <a:prstGeom prst="rect">
            <a:avLst/>
          </a:prstGeom>
          <a:noFill/>
          <a:ln/>
        </p:spPr>
        <p:txBody>
          <a:bodyPr wrap="square" lIns="38100" tIns="38100" rIns="38100" bIns="38100" rtlCol="0" anchor="ctr"/>
          <a:lstStyle/>
          <a:p>
            <a:pPr algn="l" indent="0" marL="0">
              <a:buNone/>
            </a:pPr>
            <a:r>
              <a:rPr lang="en-US" sz="1350" dirty="0">
                <a:solidFill>
                  <a:srgbClr val="B22222"/>
                </a:solidFill>
                <a:latin typeface="Cambria" pitchFamily="34" charset="0"/>
                <a:ea typeface="Cambria" pitchFamily="34" charset="-122"/>
                <a:cs typeface="Cambria" pitchFamily="34" charset="-120"/>
              </a:rPr>
              <a:t>Trùng tên với phần tử khác</a:t>
            </a:r>
            <a:endParaRPr lang="en-US" sz="1350" dirty="0"/>
          </a:p>
        </p:txBody>
      </p:sp>
      <p:sp>
        <p:nvSpPr>
          <p:cNvPr id="21" name="Text 19"/>
          <p:cNvSpPr/>
          <p:nvPr/>
        </p:nvSpPr>
        <p:spPr>
          <a:xfrm>
            <a:off x="7452360" y="3026664"/>
            <a:ext cx="1188720" cy="438912"/>
          </a:xfrm>
          <a:prstGeom prst="rect">
            <a:avLst/>
          </a:prstGeom>
          <a:noFill/>
          <a:ln/>
        </p:spPr>
        <p:txBody>
          <a:bodyPr wrap="square" lIns="38100" tIns="38100" rIns="38100" bIns="38100" rtlCol="0" anchor="ctr"/>
          <a:lstStyle/>
          <a:p>
            <a:pPr algn="r" indent="0" marL="0">
              <a:buNone/>
            </a:pPr>
            <a:r>
              <a:rPr lang="en-US" sz="1350" dirty="0">
                <a:solidFill>
                  <a:srgbClr val="B22222"/>
                </a:solidFill>
                <a:latin typeface="Cambria" pitchFamily="34" charset="0"/>
                <a:ea typeface="Cambria" pitchFamily="34" charset="-122"/>
                <a:cs typeface="Cambria" pitchFamily="34" charset="-120"/>
              </a:rPr>
              <a:t>7,6%</a:t>
            </a:r>
            <a:endParaRPr lang="en-US" sz="1350" dirty="0"/>
          </a:p>
        </p:txBody>
      </p:sp>
      <p:sp>
        <p:nvSpPr>
          <p:cNvPr id="22" name="Shape 20"/>
          <p:cNvSpPr/>
          <p:nvPr/>
        </p:nvSpPr>
        <p:spPr>
          <a:xfrm>
            <a:off x="502920" y="461772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23" name="Text 21"/>
          <p:cNvSpPr/>
          <p:nvPr/>
        </p:nvSpPr>
        <p:spPr>
          <a:xfrm>
            <a:off x="731520" y="4617720"/>
            <a:ext cx="7680960" cy="1051560"/>
          </a:xfrm>
          <a:prstGeom prst="rect">
            <a:avLst/>
          </a:prstGeom>
          <a:noFill/>
          <a:ln/>
        </p:spPr>
        <p:txBody>
          <a:bodyPr wrap="square" lIns="0" tIns="0" rIns="0" bIns="0" rtlCol="0" anchor="ctr"/>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Ô toạ độ lấy ngay chỗ người thật đã chạm: </a:t>
            </a:r>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nhãn sạch 100%, chi phí bằng không, và đây cũng là chuẩn để chấm điểm.</a:t>
            </a:r>
            <a:endParaRPr lang="en-US" sz="140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8/25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3 · Thành phần đề xuất: mô tả phân biệt trước, phát ngôn sau</a:t>
            </a:r>
            <a:endParaRPr lang="en-US" sz="1900" dirty="0"/>
          </a:p>
        </p:txBody>
      </p:sp>
      <p:sp>
        <p:nvSpPr>
          <p:cNvPr id="4" name="Shape 2"/>
          <p:cNvSpPr/>
          <p:nvPr/>
        </p:nvSpPr>
        <p:spPr>
          <a:xfrm>
            <a:off x="502920" y="868680"/>
            <a:ext cx="8138160" cy="1234440"/>
          </a:xfrm>
          <a:prstGeom prst="roundRect">
            <a:avLst>
              <a:gd name="adj" fmla="val 4444"/>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77240" y="1097280"/>
            <a:ext cx="7680960" cy="36576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tầng khai báo   </a:t>
            </a:r>
            <a:pPr algn="l" indent="0" marL="0">
              <a:buNone/>
            </a:pPr>
            <a:r>
              <a:rPr lang="en-US" sz="1200" b="1" dirty="0">
                <a:solidFill>
                  <a:srgbClr val="1414BE"/>
                </a:solidFill>
                <a:latin typeface="Consolas" pitchFamily="34" charset="0"/>
                <a:ea typeface="Consolas" pitchFamily="34" charset="-122"/>
                <a:cs typeface="Consolas" pitchFamily="34" charset="-120"/>
              </a:rPr>
              <a:t>&lt;desc&gt; vai trò | tên | &lt;point&gt;x,y&lt;/point&gt; | dấu hiệu phân biệt &lt;/desc&gt;</a:t>
            </a:r>
            <a:endParaRPr lang="en-US" sz="1200" dirty="0"/>
          </a:p>
        </p:txBody>
      </p:sp>
      <p:sp>
        <p:nvSpPr>
          <p:cNvPr id="6" name="Text 4"/>
          <p:cNvSpPr/>
          <p:nvPr/>
        </p:nvSpPr>
        <p:spPr>
          <a:xfrm>
            <a:off x="777240" y="1554480"/>
            <a:ext cx="7680960" cy="36576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tầng phát ngôn   </a:t>
            </a:r>
            <a:pPr algn="l" indent="0" marL="0">
              <a:buNone/>
            </a:pPr>
            <a:r>
              <a:rPr lang="en-US" sz="1200" b="1" dirty="0">
                <a:solidFill>
                  <a:srgbClr val="1A1A1A"/>
                </a:solidFill>
                <a:latin typeface="Consolas" pitchFamily="34" charset="0"/>
                <a:ea typeface="Consolas" pitchFamily="34" charset="-122"/>
                <a:cs typeface="Consolas" pitchFamily="34" charset="-120"/>
              </a:rPr>
              <a:t>câu hướng dẫn cho người đọc</a:t>
            </a:r>
            <a:endParaRPr lang="en-US" sz="1200" dirty="0"/>
          </a:p>
        </p:txBody>
      </p:sp>
      <p:sp>
        <p:nvSpPr>
          <p:cNvPr id="7" name="Text 5"/>
          <p:cNvSpPr/>
          <p:nvPr/>
        </p:nvSpPr>
        <p:spPr>
          <a:xfrm>
            <a:off x="502920" y="2286000"/>
            <a:ext cx="8138160" cy="731520"/>
          </a:xfrm>
          <a:prstGeom prst="rect">
            <a:avLst/>
          </a:prstGeom>
          <a:noFill/>
          <a:ln/>
        </p:spPr>
        <p:txBody>
          <a:bodyPr wrap="square" lIns="0" tIns="0" rIns="0" bIns="0" rtlCol="0" anchor="t"/>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Lúc chấm, tầng khai báo bị cắt bỏ; chỉ câu đi chấm.</a:t>
            </a:r>
            <a:pPr algn="l" indent="0" marL="0">
              <a:lnSpc>
                <a:spcPct val="135000"/>
              </a:lnSpc>
              <a:buNone/>
            </a:pPr>
            <a:endParaRPr lang="en-US" sz="1400" dirty="0"/>
          </a:p>
          <a:p>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Vì vậy đây là đóng góp về mô hình, không phải về dữ liệu.</a:t>
            </a:r>
            <a:endParaRPr lang="en-US" sz="1400" dirty="0"/>
          </a:p>
        </p:txBody>
      </p:sp>
      <p:sp>
        <p:nvSpPr>
          <p:cNvPr id="8" name="Text 6"/>
          <p:cNvSpPr/>
          <p:nvPr/>
        </p:nvSpPr>
        <p:spPr>
          <a:xfrm>
            <a:off x="502920" y="32004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căn cứ cho thiết kế</a:t>
            </a:r>
            <a:endParaRPr lang="en-US" sz="1400" dirty="0"/>
          </a:p>
        </p:txBody>
      </p:sp>
      <p:sp>
        <p:nvSpPr>
          <p:cNvPr id="9" name="Text 7"/>
          <p:cNvSpPr/>
          <p:nvPr/>
        </p:nvSpPr>
        <p:spPr>
          <a:xfrm>
            <a:off x="640080" y="361188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0" name="Text 8"/>
          <p:cNvSpPr/>
          <p:nvPr/>
        </p:nvSpPr>
        <p:spPr>
          <a:xfrm>
            <a:off x="868680" y="361188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Dạng lỗi đo được là câu mơ hồ</a:t>
            </a:r>
            <a:endParaRPr lang="en-US" sz="1350" dirty="0"/>
          </a:p>
        </p:txBody>
      </p:sp>
      <p:sp>
        <p:nvSpPr>
          <p:cNvPr id="11" name="Text 9"/>
          <p:cNvSpPr/>
          <p:nvPr/>
        </p:nvSpPr>
        <p:spPr>
          <a:xfrm>
            <a:off x="640080" y="417880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2" name="Text 10"/>
          <p:cNvSpPr/>
          <p:nvPr/>
        </p:nvSpPr>
        <p:spPr>
          <a:xfrm>
            <a:off x="868680" y="417880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Bước trung gian phải có toạ độ: cặp Shikra cho </a:t>
            </a:r>
            <a:pPr algn="l" indent="0" marL="0">
              <a:lnSpc>
                <a:spcPct val="125000"/>
              </a:lnSpc>
              <a:buNone/>
            </a:pPr>
            <a:r>
              <a:rPr lang="en-US" sz="1350" b="1" dirty="0">
                <a:solidFill>
                  <a:srgbClr val="B22222"/>
                </a:solidFill>
                <a:latin typeface="Cambria" pitchFamily="34" charset="0"/>
                <a:ea typeface="Cambria" pitchFamily="34" charset="-122"/>
                <a:cs typeface="Cambria" pitchFamily="34" charset="-120"/>
              </a:rPr>
              <a:t>−7,4</a:t>
            </a:r>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 và </a:t>
            </a:r>
            <a:pPr algn="l" indent="0" marL="0">
              <a:lnSpc>
                <a:spcPct val="125000"/>
              </a:lnSpc>
              <a:buNone/>
            </a:pPr>
            <a:r>
              <a:rPr lang="en-US" sz="1350" b="1" dirty="0">
                <a:solidFill>
                  <a:srgbClr val="006666"/>
                </a:solidFill>
                <a:latin typeface="Cambria" pitchFamily="34" charset="0"/>
                <a:ea typeface="Cambria" pitchFamily="34" charset="-122"/>
                <a:cs typeface="Cambria" pitchFamily="34" charset="-120"/>
              </a:rPr>
              <a:t>+5,9</a:t>
            </a:r>
            <a:endParaRPr lang="en-US" sz="1350" dirty="0"/>
          </a:p>
        </p:txBody>
      </p:sp>
      <p:sp>
        <p:nvSpPr>
          <p:cNvPr id="13" name="Text 11"/>
          <p:cNvSpPr/>
          <p:nvPr/>
        </p:nvSpPr>
        <p:spPr>
          <a:xfrm>
            <a:off x="640080" y="4745736"/>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4" name="Text 12"/>
          <p:cNvSpPr/>
          <p:nvPr/>
        </p:nvSpPr>
        <p:spPr>
          <a:xfrm>
            <a:off x="868680" y="4745736"/>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Nhãn toạ độ sạch 100% và dựng không tốn gì</a:t>
            </a:r>
            <a:endParaRPr lang="en-US" sz="1350" dirty="0"/>
          </a:p>
        </p:txBody>
      </p:sp>
      <p:sp>
        <p:nvSpPr>
          <p:cNvPr id="15" name="Shape 13"/>
          <p:cNvSpPr/>
          <p:nvPr/>
        </p:nvSpPr>
        <p:spPr>
          <a:xfrm>
            <a:off x="502920" y="5349240"/>
            <a:ext cx="8138160" cy="548640"/>
          </a:xfrm>
          <a:prstGeom prst="roundRect">
            <a:avLst>
              <a:gd name="adj" fmla="val 10000"/>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31520" y="5349240"/>
            <a:ext cx="7680960" cy="548640"/>
          </a:xfrm>
          <a:prstGeom prst="rect">
            <a:avLst/>
          </a:prstGeom>
          <a:noFill/>
          <a:ln/>
        </p:spPr>
        <p:txBody>
          <a:bodyPr wrap="square" lIns="0" tIns="0" rIns="0" bIns="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Qwen2.5-VL-3B  ·  QLoRA 4 bit  ·  đóng băng phần thị giác  ·  8.072 bước  ·  23 giờ A100</a:t>
            </a:r>
            <a:endParaRPr lang="en-US" sz="1200" dirty="0"/>
          </a:p>
        </p:txBody>
      </p:sp>
      <p:sp>
        <p:nvSpPr>
          <p:cNvPr id="18" name="Shape 15"/>
          <p:cNvSpPr/>
          <p:nvPr/>
        </p:nvSpPr>
        <p:spPr>
          <a:xfrm>
            <a:off x="0" y="6620256"/>
            <a:ext cx="2743200" cy="237744"/>
          </a:xfrm>
          <a:prstGeom prst="rect">
            <a:avLst/>
          </a:prstGeom>
          <a:solidFill>
            <a:srgbClr val="191132"/>
          </a:solidFill>
          <a:ln/>
        </p:spPr>
      </p:sp>
      <p:sp>
        <p:nvSpPr>
          <p:cNvPr id="19" name="Shape 16"/>
          <p:cNvSpPr/>
          <p:nvPr/>
        </p:nvSpPr>
        <p:spPr>
          <a:xfrm>
            <a:off x="2743200" y="6620256"/>
            <a:ext cx="3383280" cy="237744"/>
          </a:xfrm>
          <a:prstGeom prst="rect">
            <a:avLst/>
          </a:prstGeom>
          <a:solidFill>
            <a:srgbClr val="25194B"/>
          </a:solidFill>
          <a:ln/>
        </p:spPr>
      </p:sp>
      <p:sp>
        <p:nvSpPr>
          <p:cNvPr id="20" name="Shape 17"/>
          <p:cNvSpPr/>
          <p:nvPr/>
        </p:nvSpPr>
        <p:spPr>
          <a:xfrm>
            <a:off x="6126480" y="6620256"/>
            <a:ext cx="1737360" cy="237744"/>
          </a:xfrm>
          <a:prstGeom prst="rect">
            <a:avLst/>
          </a:prstGeom>
          <a:solidFill>
            <a:srgbClr val="4F417A"/>
          </a:solidFill>
          <a:ln/>
        </p:spPr>
      </p:sp>
      <p:sp>
        <p:nvSpPr>
          <p:cNvPr id="21" name="Shape 18"/>
          <p:cNvSpPr/>
          <p:nvPr/>
        </p:nvSpPr>
        <p:spPr>
          <a:xfrm>
            <a:off x="7863840" y="6620256"/>
            <a:ext cx="1280160" cy="237744"/>
          </a:xfrm>
          <a:prstGeom prst="rect">
            <a:avLst/>
          </a:prstGeom>
          <a:solidFill>
            <a:srgbClr val="7A7099"/>
          </a:solidFill>
          <a:ln/>
        </p:spPr>
      </p:sp>
      <p:sp>
        <p:nvSpPr>
          <p:cNvPr id="22"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3"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4"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9/25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3 · Chặng huấn luyện thứ hai: mục tiêu ưu tiên ở tầng khai báo</a:t>
            </a:r>
            <a:endParaRPr lang="en-US" sz="1900" dirty="0"/>
          </a:p>
        </p:txBody>
      </p:sp>
      <p:sp>
        <p:nvSpPr>
          <p:cNvPr id="4" name="Text 2"/>
          <p:cNvSpPr/>
          <p:nvPr/>
        </p:nvSpPr>
        <p:spPr>
          <a:xfrm>
            <a:off x="502920" y="777240"/>
            <a:ext cx="81381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Điểm nghẽn nằm ở độ chính xác của tầng khai báo, không ở việc có tầng ấy hay không.</a:t>
            </a:r>
            <a:endParaRPr lang="en-US" sz="1350" dirty="0"/>
          </a:p>
        </p:txBody>
      </p:sp>
      <p:sp>
        <p:nvSpPr>
          <p:cNvPr id="5" name="Text 3"/>
          <p:cNvSpPr/>
          <p:nvPr/>
        </p:nvSpPr>
        <p:spPr>
          <a:xfrm>
            <a:off x="502920" y="13716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Cặp quy chiếu tối thiểu, 22.854 cặp</a:t>
            </a:r>
            <a:endParaRPr lang="en-US" sz="1400" dirty="0"/>
          </a:p>
        </p:txBody>
      </p:sp>
      <p:sp>
        <p:nvSpPr>
          <p:cNvPr id="6" name="Shape 4"/>
          <p:cNvSpPr/>
          <p:nvPr/>
        </p:nvSpPr>
        <p:spPr>
          <a:xfrm>
            <a:off x="502920" y="1755648"/>
            <a:ext cx="8138160" cy="960120"/>
          </a:xfrm>
          <a:prstGeom prst="rect">
            <a:avLst/>
          </a:prstGeom>
          <a:solidFill>
            <a:srgbClr val="FFFFFF"/>
          </a:solidFill>
          <a:ln w="12700">
            <a:solidFill>
              <a:srgbClr val="9A94AE"/>
            </a:solidFill>
            <a:prstDash val="solid"/>
          </a:ln>
        </p:spPr>
      </p:sp>
      <p:sp>
        <p:nvSpPr>
          <p:cNvPr id="7" name="Text 5"/>
          <p:cNvSpPr/>
          <p:nvPr/>
        </p:nvSpPr>
        <p:spPr>
          <a:xfrm>
            <a:off x="731520" y="1847088"/>
            <a:ext cx="7680960" cy="38404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được chọn    </a:t>
            </a:r>
            <a:pPr algn="l" indent="0" marL="0">
              <a:buNone/>
            </a:pPr>
            <a:r>
              <a:rPr lang="en-US" sz="1250" dirty="0">
                <a:solidFill>
                  <a:srgbClr val="1A1A1A"/>
                </a:solidFill>
                <a:latin typeface="Consolas" pitchFamily="34" charset="0"/>
                <a:ea typeface="Consolas" pitchFamily="34" charset="-122"/>
                <a:cs typeface="Consolas" pitchFamily="34" charset="-120"/>
              </a:rPr>
              <a:t>&lt;desc&gt;khai báo ĐÚNG&lt;/desc&gt;  +  câu</a:t>
            </a:r>
            <a:endParaRPr lang="en-US" sz="1250" dirty="0"/>
          </a:p>
        </p:txBody>
      </p:sp>
      <p:sp>
        <p:nvSpPr>
          <p:cNvPr id="8" name="Text 6"/>
          <p:cNvSpPr/>
          <p:nvPr/>
        </p:nvSpPr>
        <p:spPr>
          <a:xfrm>
            <a:off x="731520" y="2267712"/>
            <a:ext cx="7680960" cy="384048"/>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bị loại        </a:t>
            </a:r>
            <a:pPr algn="l" indent="0" marL="0">
              <a:buNone/>
            </a:pPr>
            <a:r>
              <a:rPr lang="en-US" sz="1250" dirty="0">
                <a:solidFill>
                  <a:srgbClr val="1A1A1A"/>
                </a:solidFill>
                <a:latin typeface="Consolas" pitchFamily="34" charset="0"/>
                <a:ea typeface="Consolas" pitchFamily="34" charset="-122"/>
                <a:cs typeface="Consolas" pitchFamily="34" charset="-120"/>
              </a:rPr>
              <a:t>&lt;desc&gt;khai báo SAI&lt;/desc&gt;  +  đúng câu đó, từng chữ</a:t>
            </a:r>
            <a:endParaRPr lang="en-US" sz="1250" dirty="0"/>
          </a:p>
        </p:txBody>
      </p:sp>
      <p:sp>
        <p:nvSpPr>
          <p:cNvPr id="9" name="Text 7"/>
          <p:cNvSpPr/>
          <p:nvPr/>
        </p:nvSpPr>
        <p:spPr>
          <a:xfrm>
            <a:off x="640080" y="288036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0" name="Text 8"/>
          <p:cNvSpPr/>
          <p:nvPr/>
        </p:nvSpPr>
        <p:spPr>
          <a:xfrm>
            <a:off x="868680" y="288036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Hai vế chỉ khác ô khai báo, nên gradient rơi vào việc chọn phần tử</a:t>
            </a:r>
            <a:endParaRPr lang="en-US" sz="1350" dirty="0"/>
          </a:p>
        </p:txBody>
      </p:sp>
      <p:sp>
        <p:nvSpPr>
          <p:cNvPr id="11" name="Text 9"/>
          <p:cNvSpPr/>
          <p:nvPr/>
        </p:nvSpPr>
        <p:spPr>
          <a:xfrm>
            <a:off x="640080" y="344728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2" name="Text 10"/>
          <p:cNvSpPr/>
          <p:nvPr/>
        </p:nvSpPr>
        <p:spPr>
          <a:xfrm>
            <a:off x="868680" y="344728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sai là một phần tử thật trên chính màn hình đó</a:t>
            </a:r>
            <a:endParaRPr lang="en-US" sz="1350" dirty="0"/>
          </a:p>
        </p:txBody>
      </p:sp>
      <p:sp>
        <p:nvSpPr>
          <p:cNvPr id="13" name="Text 11"/>
          <p:cNvSpPr/>
          <p:nvPr/>
        </p:nvSpPr>
        <p:spPr>
          <a:xfrm>
            <a:off x="640080" y="4014216"/>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4" name="Text 12"/>
          <p:cNvSpPr/>
          <p:nvPr/>
        </p:nvSpPr>
        <p:spPr>
          <a:xfrm>
            <a:off x="868680" y="4014216"/>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Mục tiêu dạng tỉ số odds, không cần mô hình tham chiếu</a:t>
            </a:r>
            <a:endParaRPr lang="en-US" sz="1350" dirty="0"/>
          </a:p>
        </p:txBody>
      </p:sp>
      <p:sp>
        <p:nvSpPr>
          <p:cNvPr id="15" name="Shape 13"/>
          <p:cNvSpPr/>
          <p:nvPr/>
        </p:nvSpPr>
        <p:spPr>
          <a:xfrm>
            <a:off x="502920" y="4709160"/>
            <a:ext cx="8138160" cy="960120"/>
          </a:xfrm>
          <a:prstGeom prst="roundRect">
            <a:avLst>
              <a:gd name="adj" fmla="val 5714"/>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31520" y="4709160"/>
            <a:ext cx="7680960" cy="960120"/>
          </a:xfrm>
          <a:prstGeom prst="rect">
            <a:avLst/>
          </a:prstGeom>
          <a:noFill/>
          <a:ln/>
        </p:spPr>
        <p:txBody>
          <a:bodyPr wrap="square" lIns="0" tIns="0" rIns="0" bIns="0" rtlCol="0" anchor="ctr"/>
          <a:lstStyle/>
          <a:p>
            <a:pPr algn="l" indent="0" marL="0">
              <a:lnSpc>
                <a:spcPct val="135000"/>
              </a:lnSpc>
              <a:buNone/>
            </a:pPr>
            <a:r>
              <a:rPr lang="en-US" sz="1350" b="1" dirty="0">
                <a:solidFill>
                  <a:srgbClr val="B22222"/>
                </a:solidFill>
                <a:latin typeface="Cambria" pitchFamily="34" charset="0"/>
                <a:ea typeface="Cambria" pitchFamily="34" charset="-122"/>
                <a:cs typeface="Cambria" pitchFamily="34" charset="-120"/>
              </a:rPr>
              <a:t>Đối chứng CE2-S2 tách phần công của mục tiêu ưu tiên:</a:t>
            </a:r>
            <a:pPr algn="l" indent="0" marL="0">
              <a:lnSpc>
                <a:spcPct val="135000"/>
              </a:lnSpc>
              <a:buNone/>
            </a:pPr>
            <a:r>
              <a:rPr lang="en-US" sz="1350" dirty="0">
                <a:solidFill>
                  <a:srgbClr val="1A1A1A"/>
                </a:solidFill>
                <a:latin typeface="Cambria" pitchFamily="34" charset="0"/>
                <a:ea typeface="Cambria" pitchFamily="34" charset="-122"/>
                <a:cs typeface="Cambria" pitchFamily="34" charset="-120"/>
              </a:rPr>
              <a:t> cùng điểm lưu, cùng 800 bước, không có số hạng ưu tiên.</a:t>
            </a:r>
            <a:endParaRPr lang="en-US" sz="1350" dirty="0"/>
          </a:p>
        </p:txBody>
      </p:sp>
      <p:sp>
        <p:nvSpPr>
          <p:cNvPr id="18" name="Shape 15"/>
          <p:cNvSpPr/>
          <p:nvPr/>
        </p:nvSpPr>
        <p:spPr>
          <a:xfrm>
            <a:off x="0" y="6620256"/>
            <a:ext cx="2743200" cy="237744"/>
          </a:xfrm>
          <a:prstGeom prst="rect">
            <a:avLst/>
          </a:prstGeom>
          <a:solidFill>
            <a:srgbClr val="191132"/>
          </a:solidFill>
          <a:ln/>
        </p:spPr>
      </p:sp>
      <p:sp>
        <p:nvSpPr>
          <p:cNvPr id="19" name="Shape 16"/>
          <p:cNvSpPr/>
          <p:nvPr/>
        </p:nvSpPr>
        <p:spPr>
          <a:xfrm>
            <a:off x="2743200" y="6620256"/>
            <a:ext cx="3383280" cy="237744"/>
          </a:xfrm>
          <a:prstGeom prst="rect">
            <a:avLst/>
          </a:prstGeom>
          <a:solidFill>
            <a:srgbClr val="25194B"/>
          </a:solidFill>
          <a:ln/>
        </p:spPr>
      </p:sp>
      <p:sp>
        <p:nvSpPr>
          <p:cNvPr id="20" name="Shape 17"/>
          <p:cNvSpPr/>
          <p:nvPr/>
        </p:nvSpPr>
        <p:spPr>
          <a:xfrm>
            <a:off x="6126480" y="6620256"/>
            <a:ext cx="1737360" cy="237744"/>
          </a:xfrm>
          <a:prstGeom prst="rect">
            <a:avLst/>
          </a:prstGeom>
          <a:solidFill>
            <a:srgbClr val="4F417A"/>
          </a:solidFill>
          <a:ln/>
        </p:spPr>
      </p:sp>
      <p:sp>
        <p:nvSpPr>
          <p:cNvPr id="21" name="Shape 18"/>
          <p:cNvSpPr/>
          <p:nvPr/>
        </p:nvSpPr>
        <p:spPr>
          <a:xfrm>
            <a:off x="7863840" y="6620256"/>
            <a:ext cx="1280160" cy="237744"/>
          </a:xfrm>
          <a:prstGeom prst="rect">
            <a:avLst/>
          </a:prstGeom>
          <a:solidFill>
            <a:srgbClr val="7A7099"/>
          </a:solidFill>
          <a:ln/>
        </p:spPr>
      </p:sp>
      <p:sp>
        <p:nvSpPr>
          <p:cNvPr id="22"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3"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4"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10/25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Thước đo executability</a:t>
            </a:r>
            <a:endParaRPr lang="en-US" sz="1900" dirty="0"/>
          </a:p>
        </p:txBody>
      </p:sp>
      <p:sp>
        <p:nvSpPr>
          <p:cNvPr id="4" name="Text 2"/>
          <p:cNvSpPr/>
          <p:nvPr/>
        </p:nvSpPr>
        <p:spPr>
          <a:xfrm>
            <a:off x="502920" y="777240"/>
            <a:ext cx="4114800" cy="6858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Đưa câu cho một mô hình định vị độc lập, rồi hỏi điểm nó trả về có rơi đúng phần tử người dùng đã chạm hay không.</a:t>
            </a:r>
            <a:endParaRPr lang="en-US" sz="1300" dirty="0"/>
          </a:p>
        </p:txBody>
      </p:sp>
      <p:sp>
        <p:nvSpPr>
          <p:cNvPr id="5" name="Text 3"/>
          <p:cNvSpPr/>
          <p:nvPr/>
        </p:nvSpPr>
        <p:spPr>
          <a:xfrm>
            <a:off x="502920" y="1600200"/>
            <a:ext cx="4114800" cy="292608"/>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Một bước tính đúng khi cả ba điều kiện cùng thoả</a:t>
            </a:r>
            <a:endParaRPr lang="en-US" sz="1300" dirty="0"/>
          </a:p>
        </p:txBody>
      </p:sp>
      <p:sp>
        <p:nvSpPr>
          <p:cNvPr id="6" name="Shape 4"/>
          <p:cNvSpPr/>
          <p:nvPr/>
        </p:nvSpPr>
        <p:spPr>
          <a:xfrm>
            <a:off x="502920" y="2011680"/>
            <a:ext cx="4114800" cy="1051560"/>
          </a:xfrm>
          <a:prstGeom prst="roundRect">
            <a:avLst>
              <a:gd name="adj" fmla="val 4348"/>
            </a:avLst>
          </a:prstGeom>
          <a:solidFill>
            <a:srgbClr val="E9E8EC"/>
          </a:solidFill>
          <a:ln/>
        </p:spPr>
      </p:sp>
      <p:sp>
        <p:nvSpPr>
          <p:cNvPr id="7" name="Text 5"/>
          <p:cNvSpPr/>
          <p:nvPr/>
        </p:nvSpPr>
        <p:spPr>
          <a:xfrm>
            <a:off x="612648" y="2084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a:t>
            </a:r>
            <a:endParaRPr lang="en-US" sz="1250" dirty="0"/>
          </a:p>
        </p:txBody>
      </p:sp>
      <p:sp>
        <p:nvSpPr>
          <p:cNvPr id="8" name="Text 6"/>
          <p:cNvSpPr/>
          <p:nvPr/>
        </p:nvSpPr>
        <p:spPr>
          <a:xfrm>
            <a:off x="1069848" y="2084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Khớp loại thao tác</a:t>
            </a:r>
            <a:endParaRPr lang="en-US" sz="1300" dirty="0"/>
          </a:p>
        </p:txBody>
      </p:sp>
      <p:sp>
        <p:nvSpPr>
          <p:cNvPr id="9" name="Text 7"/>
          <p:cNvSpPr/>
          <p:nvPr/>
        </p:nvSpPr>
        <p:spPr>
          <a:xfrm>
            <a:off x="649224" y="2395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Chạm, gõ, cuộn, nhấn giữ, quay lại.</a:t>
            </a:r>
            <a:endParaRPr lang="en-US" sz="1200" dirty="0"/>
          </a:p>
        </p:txBody>
      </p:sp>
      <p:sp>
        <p:nvSpPr>
          <p:cNvPr id="10" name="Shape 8"/>
          <p:cNvSpPr/>
          <p:nvPr/>
        </p:nvSpPr>
        <p:spPr>
          <a:xfrm>
            <a:off x="502920" y="3154680"/>
            <a:ext cx="4114800" cy="1051560"/>
          </a:xfrm>
          <a:prstGeom prst="roundRect">
            <a:avLst>
              <a:gd name="adj" fmla="val 4348"/>
            </a:avLst>
          </a:prstGeom>
          <a:solidFill>
            <a:srgbClr val="E9E8EC"/>
          </a:solidFill>
          <a:ln/>
        </p:spPr>
      </p:sp>
      <p:sp>
        <p:nvSpPr>
          <p:cNvPr id="11" name="Text 9"/>
          <p:cNvSpPr/>
          <p:nvPr/>
        </p:nvSpPr>
        <p:spPr>
          <a:xfrm>
            <a:off x="612648" y="3227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(ii)</a:t>
            </a:r>
            <a:endParaRPr lang="en-US" sz="1250" dirty="0"/>
          </a:p>
        </p:txBody>
      </p:sp>
      <p:sp>
        <p:nvSpPr>
          <p:cNvPr id="12" name="Text 10"/>
          <p:cNvSpPr/>
          <p:nvPr/>
        </p:nvSpPr>
        <p:spPr>
          <a:xfrm>
            <a:off x="1069848" y="3227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Không đảo nghĩa</a:t>
            </a:r>
            <a:endParaRPr lang="en-US" sz="1300" dirty="0"/>
          </a:p>
        </p:txBody>
      </p:sp>
      <p:sp>
        <p:nvSpPr>
          <p:cNvPr id="13" name="Text 11"/>
          <p:cNvSpPr/>
          <p:nvPr/>
        </p:nvSpPr>
        <p:spPr>
          <a:xfrm>
            <a:off x="649224" y="3538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Bật và tắt nằm cùng một chỗ chạm.</a:t>
            </a:r>
            <a:endParaRPr lang="en-US" sz="1200" dirty="0"/>
          </a:p>
        </p:txBody>
      </p:sp>
      <p:sp>
        <p:nvSpPr>
          <p:cNvPr id="14" name="Shape 12"/>
          <p:cNvSpPr/>
          <p:nvPr/>
        </p:nvSpPr>
        <p:spPr>
          <a:xfrm>
            <a:off x="502920" y="4297680"/>
            <a:ext cx="4114800" cy="1051560"/>
          </a:xfrm>
          <a:prstGeom prst="roundRect">
            <a:avLst>
              <a:gd name="adj" fmla="val 4348"/>
            </a:avLst>
          </a:prstGeom>
          <a:solidFill>
            <a:srgbClr val="E9E8EC"/>
          </a:solidFill>
          <a:ln/>
        </p:spPr>
      </p:sp>
      <p:sp>
        <p:nvSpPr>
          <p:cNvPr id="15" name="Text 13"/>
          <p:cNvSpPr/>
          <p:nvPr/>
        </p:nvSpPr>
        <p:spPr>
          <a:xfrm>
            <a:off x="612648" y="4370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(iii)</a:t>
            </a:r>
            <a:endParaRPr lang="en-US" sz="1250" dirty="0"/>
          </a:p>
        </p:txBody>
      </p:sp>
      <p:sp>
        <p:nvSpPr>
          <p:cNvPr id="16" name="Text 14"/>
          <p:cNvSpPr/>
          <p:nvPr/>
        </p:nvSpPr>
        <p:spPr>
          <a:xfrm>
            <a:off x="1069848" y="4370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Định vị đúng</a:t>
            </a:r>
            <a:endParaRPr lang="en-US" sz="1300" dirty="0"/>
          </a:p>
        </p:txBody>
      </p:sp>
      <p:sp>
        <p:nvSpPr>
          <p:cNvPr id="17" name="Text 15"/>
          <p:cNvSpPr/>
          <p:nvPr/>
        </p:nvSpPr>
        <p:spPr>
          <a:xfrm>
            <a:off x="649224" y="4681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Điểm dự đoán nằm trong dung sai 14%, và không phần tử nào khác gần nó hơn chỗ người dùng đã chạm.</a:t>
            </a:r>
            <a:endParaRPr lang="en-US" sz="1200" dirty="0"/>
          </a:p>
        </p:txBody>
      </p:sp>
      <p:pic>
        <p:nvPicPr>
          <p:cNvPr id="18" name="Image 0" descr="../../thesis/figures/fig_voronoi.png">    </p:cNvPr>
          <p:cNvPicPr>
            <a:picLocks noChangeAspect="1"/>
          </p:cNvPicPr>
          <p:nvPr/>
        </p:nvPicPr>
        <p:blipFill>
          <a:blip r:embed="rId1"/>
          <a:stretch>
            <a:fillRect/>
          </a:stretch>
        </p:blipFill>
        <p:spPr>
          <a:xfrm>
            <a:off x="4800600" y="1051560"/>
            <a:ext cx="3840480" cy="2633472"/>
          </a:xfrm>
          <a:prstGeom prst="rect">
            <a:avLst/>
          </a:prstGeom>
        </p:spPr>
      </p:pic>
      <p:sp>
        <p:nvSpPr>
          <p:cNvPr id="19" name="Text 16"/>
          <p:cNvSpPr/>
          <p:nvPr/>
        </p:nvSpPr>
        <p:spPr>
          <a:xfrm>
            <a:off x="4800600" y="3730752"/>
            <a:ext cx="3840480" cy="27432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Ô Voronoi của phần tử người dùng đã chạm</a:t>
            </a:r>
            <a:endParaRPr lang="en-US" sz="1100" dirty="0"/>
          </a:p>
        </p:txBody>
      </p:sp>
      <p:sp>
        <p:nvSpPr>
          <p:cNvPr id="20" name="Shape 17"/>
          <p:cNvSpPr/>
          <p:nvPr/>
        </p:nvSpPr>
        <p:spPr>
          <a:xfrm>
            <a:off x="4800600" y="4114800"/>
            <a:ext cx="3840480" cy="1554480"/>
          </a:xfrm>
          <a:prstGeom prst="roundRect">
            <a:avLst>
              <a:gd name="adj" fmla="val 3529"/>
            </a:avLst>
          </a:prstGeom>
          <a:solidFill>
            <a:srgbClr val="E9E8EC"/>
          </a:solidFill>
          <a:ln/>
          <a:effectLst>
            <a:outerShdw sx="100000" sy="100000" kx="0" ky="0" algn="bl" rotWithShape="0" blurRad="63500" dist="31750" dir="2700000">
              <a:srgbClr val="8C8C99">
                <a:alpha val="45000"/>
              </a:srgbClr>
            </a:outerShdw>
          </a:effectLst>
        </p:spPr>
      </p:sp>
      <p:sp>
        <p:nvSpPr>
          <p:cNvPr id="21" name="Text 18"/>
          <p:cNvSpPr/>
          <p:nvPr/>
        </p:nvSpPr>
        <p:spPr>
          <a:xfrm>
            <a:off x="4983480" y="4114800"/>
            <a:ext cx="3474720" cy="1554480"/>
          </a:xfrm>
          <a:prstGeom prst="rect">
            <a:avLst/>
          </a:prstGeom>
          <a:noFill/>
          <a:ln/>
        </p:spPr>
        <p:txBody>
          <a:bodyPr wrap="square" lIns="0" tIns="0" rIns="0" bIns="0" rtlCol="0" anchor="ctr"/>
          <a:lstStyle/>
          <a:p>
            <a:pPr algn="l" indent="0" marL="0">
              <a:lnSpc>
                <a:spcPct val="135000"/>
              </a:lnSpc>
              <a:buNone/>
            </a:pPr>
            <a:r>
              <a:rPr lang="en-US" sz="1250" b="1" dirty="0">
                <a:solidFill>
                  <a:srgbClr val="B22222"/>
                </a:solidFill>
                <a:latin typeface="Cambria" pitchFamily="34" charset="0"/>
                <a:ea typeface="Cambria" pitchFamily="34" charset="-122"/>
                <a:cs typeface="Cambria" pitchFamily="34" charset="-120"/>
              </a:rPr>
              <a:t>Đây không phải mô hình tự chấm.</a:t>
            </a:r>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 Chuẩn để chấm là toạ độ một người thật đã chạm. Mô hình định vị không bao giờ thấy toạ độ đó.</a:t>
            </a:r>
            <a:endParaRPr lang="en-US" sz="1250" dirty="0"/>
          </a:p>
        </p:txBody>
      </p:sp>
      <p:sp>
        <p:nvSpPr>
          <p:cNvPr id="23" name="Shape 19"/>
          <p:cNvSpPr/>
          <p:nvPr/>
        </p:nvSpPr>
        <p:spPr>
          <a:xfrm>
            <a:off x="0" y="6620256"/>
            <a:ext cx="2743200" cy="237744"/>
          </a:xfrm>
          <a:prstGeom prst="rect">
            <a:avLst/>
          </a:prstGeom>
          <a:solidFill>
            <a:srgbClr val="191132"/>
          </a:solidFill>
          <a:ln/>
        </p:spPr>
      </p:sp>
      <p:sp>
        <p:nvSpPr>
          <p:cNvPr id="24" name="Shape 20"/>
          <p:cNvSpPr/>
          <p:nvPr/>
        </p:nvSpPr>
        <p:spPr>
          <a:xfrm>
            <a:off x="2743200" y="6620256"/>
            <a:ext cx="3383280" cy="237744"/>
          </a:xfrm>
          <a:prstGeom prst="rect">
            <a:avLst/>
          </a:prstGeom>
          <a:solidFill>
            <a:srgbClr val="25194B"/>
          </a:solidFill>
          <a:ln/>
        </p:spPr>
      </p:sp>
      <p:sp>
        <p:nvSpPr>
          <p:cNvPr id="25" name="Shape 21"/>
          <p:cNvSpPr/>
          <p:nvPr/>
        </p:nvSpPr>
        <p:spPr>
          <a:xfrm>
            <a:off x="6126480" y="6620256"/>
            <a:ext cx="1737360" cy="237744"/>
          </a:xfrm>
          <a:prstGeom prst="rect">
            <a:avLst/>
          </a:prstGeom>
          <a:solidFill>
            <a:srgbClr val="4F417A"/>
          </a:solidFill>
          <a:ln/>
        </p:spPr>
      </p:sp>
      <p:sp>
        <p:nvSpPr>
          <p:cNvPr id="26" name="Shape 22"/>
          <p:cNvSpPr/>
          <p:nvPr/>
        </p:nvSpPr>
        <p:spPr>
          <a:xfrm>
            <a:off x="7863840" y="6620256"/>
            <a:ext cx="1280160" cy="237744"/>
          </a:xfrm>
          <a:prstGeom prst="rect">
            <a:avLst/>
          </a:prstGeom>
          <a:solidFill>
            <a:srgbClr val="7A7099"/>
          </a:solidFill>
          <a:ln/>
        </p:spPr>
      </p:sp>
      <p:sp>
        <p:nvSpPr>
          <p:cNvPr id="27"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8"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9"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11/25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Luật xác định trúng được chọn từ sàn mà nó đạt được</a:t>
            </a:r>
            <a:endParaRPr lang="en-US" sz="1900" dirty="0"/>
          </a:p>
        </p:txBody>
      </p:sp>
      <p:sp>
        <p:nvSpPr>
          <p:cNvPr id="4" name="Text 2"/>
          <p:cNvSpPr/>
          <p:nvPr/>
        </p:nvSpPr>
        <p:spPr>
          <a:xfrm>
            <a:off x="502920" y="868680"/>
            <a:ext cx="8138160" cy="365760"/>
          </a:xfrm>
          <a:prstGeom prst="rect">
            <a:avLst/>
          </a:prstGeom>
          <a:noFill/>
          <a:ln/>
        </p:spPr>
        <p:txBody>
          <a:bodyPr wrap="square" lIns="0" tIns="0" rIns="0" bIns="0" rtlCol="0" anchor="t"/>
          <a:lstStyle/>
          <a:p>
            <a:pPr algn="l" indent="0" marL="0">
              <a:buNone/>
            </a:pPr>
            <a:r>
              <a:rPr lang="en-US" sz="1400" dirty="0">
                <a:solidFill>
                  <a:srgbClr val="1A1A1A"/>
                </a:solidFill>
                <a:latin typeface="Cambria" pitchFamily="34" charset="0"/>
                <a:ea typeface="Cambria" pitchFamily="34" charset="-122"/>
                <a:cs typeface="Cambria" pitchFamily="34" charset="-120"/>
              </a:rPr>
              <a:t>Đặt trước thước một câu cố tình gọi sai tên nút, rồi xem luật nào còn cho điểm.</a:t>
            </a:r>
            <a:endParaRPr lang="en-US" sz="1400" dirty="0"/>
          </a:p>
        </p:txBody>
      </p:sp>
      <p:sp>
        <p:nvSpPr>
          <p:cNvPr id="5" name="Shape 3"/>
          <p:cNvSpPr/>
          <p:nvPr/>
        </p:nvSpPr>
        <p:spPr>
          <a:xfrm>
            <a:off x="1143000" y="1463040"/>
            <a:ext cx="7498080" cy="411480"/>
          </a:xfrm>
          <a:prstGeom prst="rect">
            <a:avLst/>
          </a:prstGeom>
          <a:solidFill>
            <a:srgbClr val="322164"/>
          </a:solidFill>
          <a:ln/>
        </p:spPr>
      </p:sp>
      <p:sp>
        <p:nvSpPr>
          <p:cNvPr id="6" name="Text 4"/>
          <p:cNvSpPr/>
          <p:nvPr/>
        </p:nvSpPr>
        <p:spPr>
          <a:xfrm>
            <a:off x="1143000" y="1463040"/>
            <a:ext cx="4389120" cy="41148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Luật xác định trúng</a:t>
            </a:r>
            <a:endParaRPr lang="en-US" sz="1250" dirty="0"/>
          </a:p>
        </p:txBody>
      </p:sp>
      <p:sp>
        <p:nvSpPr>
          <p:cNvPr id="7" name="Text 5"/>
          <p:cNvSpPr/>
          <p:nvPr/>
        </p:nvSpPr>
        <p:spPr>
          <a:xfrm>
            <a:off x="5532120" y="1463040"/>
            <a:ext cx="1828800" cy="41148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Chấm đúng cho câu sai nút</a:t>
            </a:r>
            <a:endParaRPr lang="en-US" sz="1250" dirty="0"/>
          </a:p>
        </p:txBody>
      </p:sp>
      <p:sp>
        <p:nvSpPr>
          <p:cNvPr id="8" name="Text 6"/>
          <p:cNvSpPr/>
          <p:nvPr/>
        </p:nvSpPr>
        <p:spPr>
          <a:xfrm>
            <a:off x="7360920" y="1463040"/>
            <a:ext cx="1280160" cy="411480"/>
          </a:xfrm>
          <a:prstGeom prst="rect">
            <a:avLst/>
          </a:prstGeom>
          <a:noFill/>
          <a:ln/>
        </p:spPr>
        <p:txBody>
          <a:bodyPr wrap="square" lIns="38100" tIns="38100" rIns="38100" bIns="38100" rtlCol="0" anchor="ctr"/>
          <a:lstStyle/>
          <a:p>
            <a:pPr algn="r" indent="0" marL="0">
              <a:buNone/>
            </a:pPr>
            <a:endParaRPr lang="en-US" sz="1250" dirty="0"/>
          </a:p>
        </p:txBody>
      </p:sp>
      <p:sp>
        <p:nvSpPr>
          <p:cNvPr id="9" name="Text 7"/>
          <p:cNvSpPr/>
          <p:nvPr/>
        </p:nvSpPr>
        <p:spPr>
          <a:xfrm>
            <a:off x="1143000" y="1874520"/>
            <a:ext cx="4389120" cy="566928"/>
          </a:xfrm>
          <a:prstGeom prst="rect">
            <a:avLst/>
          </a:prstGeom>
          <a:noFill/>
          <a:ln/>
        </p:spPr>
        <p:txBody>
          <a:bodyPr wrap="square" lIns="38100" tIns="38100" rIns="38100" bIns="38100" rtlCol="0" anchor="ctr"/>
          <a:lstStyle/>
          <a:p>
            <a:pPr algn="l" indent="0" marL="0">
              <a:buNone/>
            </a:pPr>
            <a:r>
              <a:rPr lang="en-US" sz="1350" b="1" dirty="0">
                <a:solidFill>
                  <a:srgbClr val="B22222"/>
                </a:solidFill>
                <a:latin typeface="Cambria" pitchFamily="34" charset="0"/>
                <a:ea typeface="Cambria" pitchFamily="34" charset="-122"/>
                <a:cs typeface="Cambria" pitchFamily="34" charset="-120"/>
              </a:rPr>
              <a:t>Ngưỡng dung sai quy ước</a:t>
            </a:r>
            <a:endParaRPr lang="en-US" sz="1350" dirty="0"/>
          </a:p>
        </p:txBody>
      </p:sp>
      <p:sp>
        <p:nvSpPr>
          <p:cNvPr id="10" name="Text 8"/>
          <p:cNvSpPr/>
          <p:nvPr/>
        </p:nvSpPr>
        <p:spPr>
          <a:xfrm>
            <a:off x="5532120" y="1874520"/>
            <a:ext cx="1828800" cy="566928"/>
          </a:xfrm>
          <a:prstGeom prst="rect">
            <a:avLst/>
          </a:prstGeom>
          <a:noFill/>
          <a:ln/>
        </p:spPr>
        <p:txBody>
          <a:bodyPr wrap="square" lIns="38100" tIns="38100" rIns="38100" bIns="38100" rtlCol="0" anchor="ctr"/>
          <a:lstStyle/>
          <a:p>
            <a:pPr algn="ctr" indent="0" marL="0">
              <a:buNone/>
            </a:pPr>
            <a:r>
              <a:rPr lang="en-US" sz="1500" b="1" dirty="0">
                <a:solidFill>
                  <a:srgbClr val="B22222"/>
                </a:solidFill>
                <a:latin typeface="Cambria" pitchFamily="34" charset="0"/>
                <a:ea typeface="Cambria" pitchFamily="34" charset="-122"/>
                <a:cs typeface="Cambria" pitchFamily="34" charset="-120"/>
              </a:rPr>
              <a:t>84,3%</a:t>
            </a:r>
            <a:endParaRPr lang="en-US" sz="1500" dirty="0"/>
          </a:p>
        </p:txBody>
      </p:sp>
      <p:sp>
        <p:nvSpPr>
          <p:cNvPr id="11" name="Text 9"/>
          <p:cNvSpPr/>
          <p:nvPr/>
        </p:nvSpPr>
        <p:spPr>
          <a:xfrm>
            <a:off x="7360920" y="1874520"/>
            <a:ext cx="1280160" cy="566928"/>
          </a:xfrm>
          <a:prstGeom prst="rect">
            <a:avLst/>
          </a:prstGeom>
          <a:noFill/>
          <a:ln/>
        </p:spPr>
        <p:txBody>
          <a:bodyPr wrap="square" lIns="38100" tIns="38100" rIns="38100" bIns="38100" rtlCol="0" anchor="ctr"/>
          <a:lstStyle/>
          <a:p>
            <a:pPr algn="r" indent="0" marL="0">
              <a:buNone/>
            </a:pPr>
            <a:r>
              <a:rPr lang="en-US" sz="1350" b="1" dirty="0">
                <a:solidFill>
                  <a:srgbClr val="B22222"/>
                </a:solidFill>
                <a:latin typeface="Cambria" pitchFamily="34" charset="0"/>
                <a:ea typeface="Cambria" pitchFamily="34" charset="-122"/>
                <a:cs typeface="Cambria" pitchFamily="34" charset="-120"/>
              </a:rPr>
              <a:t>không dùng được</a:t>
            </a:r>
            <a:endParaRPr lang="en-US" sz="1350" dirty="0"/>
          </a:p>
        </p:txBody>
      </p:sp>
      <p:sp>
        <p:nvSpPr>
          <p:cNvPr id="12" name="Shape 10"/>
          <p:cNvSpPr/>
          <p:nvPr/>
        </p:nvSpPr>
        <p:spPr>
          <a:xfrm>
            <a:off x="1143000" y="2441448"/>
            <a:ext cx="7498080" cy="0"/>
          </a:xfrm>
          <a:prstGeom prst="line">
            <a:avLst/>
          </a:prstGeom>
          <a:noFill/>
          <a:ln w="12700">
            <a:solidFill>
              <a:srgbClr val="9A94AE"/>
            </a:solidFill>
            <a:prstDash val="solid"/>
          </a:ln>
        </p:spPr>
      </p:sp>
      <p:sp>
        <p:nvSpPr>
          <p:cNvPr id="13" name="Text 11"/>
          <p:cNvSpPr/>
          <p:nvPr/>
        </p:nvSpPr>
        <p:spPr>
          <a:xfrm>
            <a:off x="1143000" y="2441448"/>
            <a:ext cx="4389120" cy="566928"/>
          </a:xfrm>
          <a:prstGeom prst="rect">
            <a:avLst/>
          </a:prstGeom>
          <a:noFill/>
          <a:ln/>
        </p:spPr>
        <p:txBody>
          <a:bodyPr wrap="square" lIns="38100" tIns="38100" rIns="38100" bIns="38100" rtlCol="0" anchor="ctr"/>
          <a:lstStyle/>
          <a:p>
            <a:pPr algn="l" indent="0" marL="0">
              <a:buNone/>
            </a:pPr>
            <a:r>
              <a:rPr lang="en-US" sz="1350" b="1" dirty="0">
                <a:solidFill>
                  <a:srgbClr val="006666"/>
                </a:solidFill>
                <a:latin typeface="Cambria" pitchFamily="34" charset="0"/>
                <a:ea typeface="Cambria" pitchFamily="34" charset="-122"/>
                <a:cs typeface="Cambria" pitchFamily="34" charset="-120"/>
              </a:rPr>
              <a:t>Thêm điều kiện ô Voronoi</a:t>
            </a:r>
            <a:endParaRPr lang="en-US" sz="1350" dirty="0"/>
          </a:p>
        </p:txBody>
      </p:sp>
      <p:sp>
        <p:nvSpPr>
          <p:cNvPr id="14" name="Text 12"/>
          <p:cNvSpPr/>
          <p:nvPr/>
        </p:nvSpPr>
        <p:spPr>
          <a:xfrm>
            <a:off x="5532120" y="2441448"/>
            <a:ext cx="1828800" cy="566928"/>
          </a:xfrm>
          <a:prstGeom prst="rect">
            <a:avLst/>
          </a:prstGeom>
          <a:noFill/>
          <a:ln/>
        </p:spPr>
        <p:txBody>
          <a:bodyPr wrap="square" lIns="38100" tIns="38100" rIns="38100" bIns="38100" rtlCol="0" anchor="ctr"/>
          <a:lstStyle/>
          <a:p>
            <a:pPr algn="ctr" indent="0" marL="0">
              <a:buNone/>
            </a:pPr>
            <a:r>
              <a:rPr lang="en-US" sz="1500" b="1" dirty="0">
                <a:solidFill>
                  <a:srgbClr val="006666"/>
                </a:solidFill>
                <a:latin typeface="Cambria" pitchFamily="34" charset="0"/>
                <a:ea typeface="Cambria" pitchFamily="34" charset="-122"/>
                <a:cs typeface="Cambria" pitchFamily="34" charset="-120"/>
              </a:rPr>
              <a:t>2,8%</a:t>
            </a:r>
            <a:endParaRPr lang="en-US" sz="1500" dirty="0"/>
          </a:p>
        </p:txBody>
      </p:sp>
      <p:sp>
        <p:nvSpPr>
          <p:cNvPr id="15" name="Text 13"/>
          <p:cNvSpPr/>
          <p:nvPr/>
        </p:nvSpPr>
        <p:spPr>
          <a:xfrm>
            <a:off x="7360920" y="2441448"/>
            <a:ext cx="1280160" cy="566928"/>
          </a:xfrm>
          <a:prstGeom prst="rect">
            <a:avLst/>
          </a:prstGeom>
          <a:noFill/>
          <a:ln/>
        </p:spPr>
        <p:txBody>
          <a:bodyPr wrap="square" lIns="38100" tIns="38100" rIns="38100" bIns="38100" rtlCol="0" anchor="ctr"/>
          <a:lstStyle/>
          <a:p>
            <a:pPr algn="r" indent="0" marL="0">
              <a:buNone/>
            </a:pPr>
            <a:r>
              <a:rPr lang="en-US" sz="1350" b="1" dirty="0">
                <a:solidFill>
                  <a:srgbClr val="006666"/>
                </a:solidFill>
                <a:latin typeface="Cambria" pitchFamily="34" charset="0"/>
                <a:ea typeface="Cambria" pitchFamily="34" charset="-122"/>
                <a:cs typeface="Cambria" pitchFamily="34" charset="-120"/>
              </a:rPr>
              <a:t>đã chọn</a:t>
            </a:r>
            <a:endParaRPr lang="en-US" sz="1350" dirty="0"/>
          </a:p>
        </p:txBody>
      </p:sp>
      <p:sp>
        <p:nvSpPr>
          <p:cNvPr id="16" name="Text 14"/>
          <p:cNvSpPr/>
          <p:nvPr/>
        </p:nvSpPr>
        <p:spPr>
          <a:xfrm>
            <a:off x="502920" y="32004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chi tiết của luật, đọc thẳng từ mã cài đặt</a:t>
            </a:r>
            <a:endParaRPr lang="en-US" sz="1400" dirty="0"/>
          </a:p>
        </p:txBody>
      </p:sp>
      <p:sp>
        <p:nvSpPr>
          <p:cNvPr id="17" name="Text 15"/>
          <p:cNvSpPr/>
          <p:nvPr/>
        </p:nvSpPr>
        <p:spPr>
          <a:xfrm>
            <a:off x="640080" y="361188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8" name="Text 16"/>
          <p:cNvSpPr/>
          <p:nvPr/>
        </p:nvSpPr>
        <p:spPr>
          <a:xfrm>
            <a:off x="868680" y="361188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Vùng dung sai là hình chữ nhật: ±151 điểm ảnh ngang nhưng ±336 dọc</a:t>
            </a:r>
            <a:endParaRPr lang="en-US" sz="1350" dirty="0"/>
          </a:p>
        </p:txBody>
      </p:sp>
      <p:sp>
        <p:nvSpPr>
          <p:cNvPr id="19" name="Text 17"/>
          <p:cNvSpPr/>
          <p:nvPr/>
        </p:nvSpPr>
        <p:spPr>
          <a:xfrm>
            <a:off x="640080" y="425196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0" name="Text 18"/>
          <p:cNvSpPr/>
          <p:nvPr/>
        </p:nvSpPr>
        <p:spPr>
          <a:xfrm>
            <a:off x="868680" y="425196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Hạt sinh ra ô Voronoi là chính điểm chạm, không phải tâm hộp phần tử</a:t>
            </a:r>
            <a:endParaRPr lang="en-US" sz="1350" dirty="0"/>
          </a:p>
        </p:txBody>
      </p:sp>
      <p:sp>
        <p:nvSpPr>
          <p:cNvPr id="21" name="Text 19"/>
          <p:cNvSpPr/>
          <p:nvPr/>
        </p:nvSpPr>
        <p:spPr>
          <a:xfrm>
            <a:off x="640080" y="489204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2" name="Text 20"/>
          <p:cNvSpPr/>
          <p:nvPr/>
        </p:nvSpPr>
        <p:spPr>
          <a:xfrm>
            <a:off x="868680" y="489204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Điều kiện Voronoi bao gồm luôn điều kiện dung sai, nên nó là bản siết chặt</a:t>
            </a:r>
            <a:endParaRPr lang="en-US" sz="1350" dirty="0"/>
          </a:p>
        </p:txBody>
      </p:sp>
      <p:sp>
        <p:nvSpPr>
          <p:cNvPr id="24" name="Shape 21"/>
          <p:cNvSpPr/>
          <p:nvPr/>
        </p:nvSpPr>
        <p:spPr>
          <a:xfrm>
            <a:off x="0" y="6620256"/>
            <a:ext cx="2743200" cy="237744"/>
          </a:xfrm>
          <a:prstGeom prst="rect">
            <a:avLst/>
          </a:prstGeom>
          <a:solidFill>
            <a:srgbClr val="191132"/>
          </a:solidFill>
          <a:ln/>
        </p:spPr>
      </p:sp>
      <p:sp>
        <p:nvSpPr>
          <p:cNvPr id="25" name="Shape 22"/>
          <p:cNvSpPr/>
          <p:nvPr/>
        </p:nvSpPr>
        <p:spPr>
          <a:xfrm>
            <a:off x="2743200" y="6620256"/>
            <a:ext cx="3383280" cy="237744"/>
          </a:xfrm>
          <a:prstGeom prst="rect">
            <a:avLst/>
          </a:prstGeom>
          <a:solidFill>
            <a:srgbClr val="25194B"/>
          </a:solidFill>
          <a:ln/>
        </p:spPr>
      </p:sp>
      <p:sp>
        <p:nvSpPr>
          <p:cNvPr id="26" name="Shape 23"/>
          <p:cNvSpPr/>
          <p:nvPr/>
        </p:nvSpPr>
        <p:spPr>
          <a:xfrm>
            <a:off x="6126480" y="6620256"/>
            <a:ext cx="1737360" cy="237744"/>
          </a:xfrm>
          <a:prstGeom prst="rect">
            <a:avLst/>
          </a:prstGeom>
          <a:solidFill>
            <a:srgbClr val="4F417A"/>
          </a:solidFill>
          <a:ln/>
        </p:spPr>
      </p:sp>
      <p:sp>
        <p:nvSpPr>
          <p:cNvPr id="27" name="Shape 24"/>
          <p:cNvSpPr/>
          <p:nvPr/>
        </p:nvSpPr>
        <p:spPr>
          <a:xfrm>
            <a:off x="7863840" y="6620256"/>
            <a:ext cx="1280160" cy="237744"/>
          </a:xfrm>
          <a:prstGeom prst="rect">
            <a:avLst/>
          </a:prstGeom>
          <a:solidFill>
            <a:srgbClr val="7A7099"/>
          </a:solidFill>
          <a:ln/>
        </p:spPr>
      </p:sp>
      <p:sp>
        <p:nvSpPr>
          <p:cNvPr id="28" name="Text 2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9" name="Text 2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0" name="Text 2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Trần và sàn đều là đại lượng đo được</a:t>
            </a:r>
            <a:endParaRPr lang="en-US" sz="1900" dirty="0"/>
          </a:p>
        </p:txBody>
      </p:sp>
      <p:sp>
        <p:nvSpPr>
          <p:cNvPr id="4" name="Text 2"/>
          <p:cNvSpPr/>
          <p:nvPr/>
        </p:nvSpPr>
        <p:spPr>
          <a:xfrm>
            <a:off x="502920" y="914400"/>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do người viết  (trần)</a:t>
            </a:r>
            <a:endParaRPr lang="en-US" sz="1300" dirty="0"/>
          </a:p>
        </p:txBody>
      </p:sp>
      <p:sp>
        <p:nvSpPr>
          <p:cNvPr id="5" name="Shape 3"/>
          <p:cNvSpPr/>
          <p:nvPr/>
        </p:nvSpPr>
        <p:spPr>
          <a:xfrm>
            <a:off x="3886200" y="969264"/>
            <a:ext cx="3566160" cy="274320"/>
          </a:xfrm>
          <a:prstGeom prst="rect">
            <a:avLst/>
          </a:prstGeom>
          <a:solidFill>
            <a:srgbClr val="DCDAE4"/>
          </a:solidFill>
          <a:ln/>
        </p:spPr>
      </p:sp>
      <p:sp>
        <p:nvSpPr>
          <p:cNvPr id="6" name="Shape 4"/>
          <p:cNvSpPr/>
          <p:nvPr/>
        </p:nvSpPr>
        <p:spPr>
          <a:xfrm>
            <a:off x="3886200" y="969264"/>
            <a:ext cx="2699583" cy="274320"/>
          </a:xfrm>
          <a:prstGeom prst="rect">
            <a:avLst/>
          </a:prstGeom>
          <a:solidFill>
            <a:srgbClr val="006666"/>
          </a:solidFill>
          <a:ln/>
        </p:spPr>
      </p:sp>
      <p:sp>
        <p:nvSpPr>
          <p:cNvPr id="7" name="Text 5"/>
          <p:cNvSpPr/>
          <p:nvPr/>
        </p:nvSpPr>
        <p:spPr>
          <a:xfrm>
            <a:off x="7543800" y="914400"/>
            <a:ext cx="1097280" cy="384048"/>
          </a:xfrm>
          <a:prstGeom prst="rect">
            <a:avLst/>
          </a:prstGeom>
          <a:noFill/>
          <a:ln/>
        </p:spPr>
        <p:txBody>
          <a:bodyPr wrap="square" lIns="0" tIns="0" rIns="0" bIns="0" rtlCol="0" anchor="ctr"/>
          <a:lstStyle/>
          <a:p>
            <a:pPr algn="r" indent="0" marL="0">
              <a:buNone/>
            </a:pPr>
            <a:r>
              <a:rPr lang="en-US" sz="1500" b="1" dirty="0">
                <a:solidFill>
                  <a:srgbClr val="006666"/>
                </a:solidFill>
                <a:latin typeface="Cambria" pitchFamily="34" charset="0"/>
                <a:ea typeface="Cambria" pitchFamily="34" charset="-122"/>
                <a:cs typeface="Cambria" pitchFamily="34" charset="-120"/>
              </a:rPr>
              <a:t>75,7%</a:t>
            </a:r>
            <a:endParaRPr lang="en-US" sz="1500" dirty="0"/>
          </a:p>
        </p:txBody>
      </p:sp>
      <p:sp>
        <p:nvSpPr>
          <p:cNvPr id="8" name="Text 6"/>
          <p:cNvSpPr/>
          <p:nvPr/>
        </p:nvSpPr>
        <p:spPr>
          <a:xfrm>
            <a:off x="502920" y="1627632"/>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Mô hình sau tinh chỉnh</a:t>
            </a:r>
            <a:endParaRPr lang="en-US" sz="1300" dirty="0"/>
          </a:p>
        </p:txBody>
      </p:sp>
      <p:sp>
        <p:nvSpPr>
          <p:cNvPr id="9" name="Shape 7"/>
          <p:cNvSpPr/>
          <p:nvPr/>
        </p:nvSpPr>
        <p:spPr>
          <a:xfrm>
            <a:off x="3886200" y="1682496"/>
            <a:ext cx="3566160" cy="274320"/>
          </a:xfrm>
          <a:prstGeom prst="rect">
            <a:avLst/>
          </a:prstGeom>
          <a:solidFill>
            <a:srgbClr val="DCDAE4"/>
          </a:solidFill>
          <a:ln/>
        </p:spPr>
      </p:sp>
      <p:sp>
        <p:nvSpPr>
          <p:cNvPr id="10" name="Shape 8"/>
          <p:cNvSpPr/>
          <p:nvPr/>
        </p:nvSpPr>
        <p:spPr>
          <a:xfrm>
            <a:off x="3886200" y="1682496"/>
            <a:ext cx="2107601" cy="274320"/>
          </a:xfrm>
          <a:prstGeom prst="rect">
            <a:avLst/>
          </a:prstGeom>
          <a:solidFill>
            <a:srgbClr val="322164"/>
          </a:solidFill>
          <a:ln/>
        </p:spPr>
      </p:sp>
      <p:sp>
        <p:nvSpPr>
          <p:cNvPr id="11" name="Text 9"/>
          <p:cNvSpPr/>
          <p:nvPr/>
        </p:nvSpPr>
        <p:spPr>
          <a:xfrm>
            <a:off x="7543800" y="1627632"/>
            <a:ext cx="1097280" cy="384048"/>
          </a:xfrm>
          <a:prstGeom prst="rect">
            <a:avLst/>
          </a:prstGeom>
          <a:noFill/>
          <a:ln/>
        </p:spPr>
        <p:txBody>
          <a:bodyPr wrap="square" lIns="0" tIns="0" rIns="0" bIns="0" rtlCol="0" anchor="ctr"/>
          <a:lstStyle/>
          <a:p>
            <a:pPr algn="r" indent="0" marL="0">
              <a:buNone/>
            </a:pPr>
            <a:r>
              <a:rPr lang="en-US" sz="1500" b="1" dirty="0">
                <a:solidFill>
                  <a:srgbClr val="322164"/>
                </a:solidFill>
                <a:latin typeface="Cambria" pitchFamily="34" charset="0"/>
                <a:ea typeface="Cambria" pitchFamily="34" charset="-122"/>
                <a:cs typeface="Cambria" pitchFamily="34" charset="-120"/>
              </a:rPr>
              <a:t>59,1%</a:t>
            </a:r>
            <a:endParaRPr lang="en-US" sz="1500" dirty="0"/>
          </a:p>
        </p:txBody>
      </p:sp>
      <p:sp>
        <p:nvSpPr>
          <p:cNvPr id="12" name="Text 10"/>
          <p:cNvSpPr/>
          <p:nvPr/>
        </p:nvSpPr>
        <p:spPr>
          <a:xfrm>
            <a:off x="502920" y="2340864"/>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Mô hình chưa tinh chỉnh</a:t>
            </a:r>
            <a:endParaRPr lang="en-US" sz="1300" dirty="0"/>
          </a:p>
        </p:txBody>
      </p:sp>
      <p:sp>
        <p:nvSpPr>
          <p:cNvPr id="13" name="Shape 11"/>
          <p:cNvSpPr/>
          <p:nvPr/>
        </p:nvSpPr>
        <p:spPr>
          <a:xfrm>
            <a:off x="3886200" y="2395728"/>
            <a:ext cx="3566160" cy="274320"/>
          </a:xfrm>
          <a:prstGeom prst="rect">
            <a:avLst/>
          </a:prstGeom>
          <a:solidFill>
            <a:srgbClr val="DCDAE4"/>
          </a:solidFill>
          <a:ln/>
        </p:spPr>
      </p:sp>
      <p:sp>
        <p:nvSpPr>
          <p:cNvPr id="14" name="Shape 12"/>
          <p:cNvSpPr/>
          <p:nvPr/>
        </p:nvSpPr>
        <p:spPr>
          <a:xfrm>
            <a:off x="3886200" y="2395728"/>
            <a:ext cx="1697492" cy="274320"/>
          </a:xfrm>
          <a:prstGeom prst="rect">
            <a:avLst/>
          </a:prstGeom>
          <a:solidFill>
            <a:srgbClr val="4F417A"/>
          </a:solidFill>
          <a:ln/>
        </p:spPr>
      </p:sp>
      <p:sp>
        <p:nvSpPr>
          <p:cNvPr id="15" name="Text 13"/>
          <p:cNvSpPr/>
          <p:nvPr/>
        </p:nvSpPr>
        <p:spPr>
          <a:xfrm>
            <a:off x="7543800" y="2340864"/>
            <a:ext cx="1097280" cy="384048"/>
          </a:xfrm>
          <a:prstGeom prst="rect">
            <a:avLst/>
          </a:prstGeom>
          <a:noFill/>
          <a:ln/>
        </p:spPr>
        <p:txBody>
          <a:bodyPr wrap="square" lIns="0" tIns="0" rIns="0" bIns="0" rtlCol="0" anchor="ctr"/>
          <a:lstStyle/>
          <a:p>
            <a:pPr algn="r" indent="0" marL="0">
              <a:buNone/>
            </a:pPr>
            <a:r>
              <a:rPr lang="en-US" sz="1500" b="1" dirty="0">
                <a:solidFill>
                  <a:srgbClr val="4F417A"/>
                </a:solidFill>
                <a:latin typeface="Cambria" pitchFamily="34" charset="0"/>
                <a:ea typeface="Cambria" pitchFamily="34" charset="-122"/>
                <a:cs typeface="Cambria" pitchFamily="34" charset="-120"/>
              </a:rPr>
              <a:t>47,6%</a:t>
            </a:r>
            <a:endParaRPr lang="en-US" sz="1500" dirty="0"/>
          </a:p>
        </p:txBody>
      </p:sp>
      <p:sp>
        <p:nvSpPr>
          <p:cNvPr id="16" name="Text 14"/>
          <p:cNvSpPr/>
          <p:nvPr/>
        </p:nvSpPr>
        <p:spPr>
          <a:xfrm>
            <a:off x="502920" y="3054096"/>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chung chung, không nói phần tử nào</a:t>
            </a:r>
            <a:endParaRPr lang="en-US" sz="1300" dirty="0"/>
          </a:p>
        </p:txBody>
      </p:sp>
      <p:sp>
        <p:nvSpPr>
          <p:cNvPr id="17" name="Shape 15"/>
          <p:cNvSpPr/>
          <p:nvPr/>
        </p:nvSpPr>
        <p:spPr>
          <a:xfrm>
            <a:off x="3886200" y="3108960"/>
            <a:ext cx="3566160" cy="274320"/>
          </a:xfrm>
          <a:prstGeom prst="rect">
            <a:avLst/>
          </a:prstGeom>
          <a:solidFill>
            <a:srgbClr val="DCDAE4"/>
          </a:solidFill>
          <a:ln/>
        </p:spPr>
      </p:sp>
      <p:sp>
        <p:nvSpPr>
          <p:cNvPr id="18" name="Shape 16"/>
          <p:cNvSpPr/>
          <p:nvPr/>
        </p:nvSpPr>
        <p:spPr>
          <a:xfrm>
            <a:off x="3886200" y="3108960"/>
            <a:ext cx="427939" cy="274320"/>
          </a:xfrm>
          <a:prstGeom prst="rect">
            <a:avLst/>
          </a:prstGeom>
          <a:solidFill>
            <a:srgbClr val="B22222"/>
          </a:solidFill>
          <a:ln/>
        </p:spPr>
      </p:sp>
      <p:sp>
        <p:nvSpPr>
          <p:cNvPr id="19" name="Text 17"/>
          <p:cNvSpPr/>
          <p:nvPr/>
        </p:nvSpPr>
        <p:spPr>
          <a:xfrm>
            <a:off x="7543800" y="3054096"/>
            <a:ext cx="1097280" cy="384048"/>
          </a:xfrm>
          <a:prstGeom prst="rect">
            <a:avLst/>
          </a:prstGeom>
          <a:noFill/>
          <a:ln/>
        </p:spPr>
        <p:txBody>
          <a:bodyPr wrap="square" lIns="0" tIns="0" rIns="0" bIns="0" rtlCol="0" anchor="ctr"/>
          <a:lstStyle/>
          <a:p>
            <a:pPr algn="r" indent="0" marL="0">
              <a:buNone/>
            </a:pPr>
            <a:r>
              <a:rPr lang="en-US" sz="1500" b="1" dirty="0">
                <a:solidFill>
                  <a:srgbClr val="B22222"/>
                </a:solidFill>
                <a:latin typeface="Cambria" pitchFamily="34" charset="0"/>
                <a:ea typeface="Cambria" pitchFamily="34" charset="-122"/>
                <a:cs typeface="Cambria" pitchFamily="34" charset="-120"/>
              </a:rPr>
              <a:t>12,0%</a:t>
            </a:r>
            <a:endParaRPr lang="en-US" sz="1500" dirty="0"/>
          </a:p>
        </p:txBody>
      </p:sp>
      <p:sp>
        <p:nvSpPr>
          <p:cNvPr id="20" name="Text 18"/>
          <p:cNvSpPr/>
          <p:nvPr/>
        </p:nvSpPr>
        <p:spPr>
          <a:xfrm>
            <a:off x="502920" y="3767328"/>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thật nhưng của một màn hình khác</a:t>
            </a:r>
            <a:endParaRPr lang="en-US" sz="1300" dirty="0"/>
          </a:p>
        </p:txBody>
      </p:sp>
      <p:sp>
        <p:nvSpPr>
          <p:cNvPr id="21" name="Shape 19"/>
          <p:cNvSpPr/>
          <p:nvPr/>
        </p:nvSpPr>
        <p:spPr>
          <a:xfrm>
            <a:off x="3886200" y="3822192"/>
            <a:ext cx="3566160" cy="274320"/>
          </a:xfrm>
          <a:prstGeom prst="rect">
            <a:avLst/>
          </a:prstGeom>
          <a:solidFill>
            <a:srgbClr val="DCDAE4"/>
          </a:solidFill>
          <a:ln/>
        </p:spPr>
      </p:sp>
      <p:sp>
        <p:nvSpPr>
          <p:cNvPr id="22" name="Shape 20"/>
          <p:cNvSpPr/>
          <p:nvPr/>
        </p:nvSpPr>
        <p:spPr>
          <a:xfrm>
            <a:off x="3886200" y="3822192"/>
            <a:ext cx="217536" cy="274320"/>
          </a:xfrm>
          <a:prstGeom prst="rect">
            <a:avLst/>
          </a:prstGeom>
          <a:solidFill>
            <a:srgbClr val="990000"/>
          </a:solidFill>
          <a:ln/>
        </p:spPr>
      </p:sp>
      <p:sp>
        <p:nvSpPr>
          <p:cNvPr id="23" name="Text 21"/>
          <p:cNvSpPr/>
          <p:nvPr/>
        </p:nvSpPr>
        <p:spPr>
          <a:xfrm>
            <a:off x="7543800" y="3767328"/>
            <a:ext cx="1097280" cy="384048"/>
          </a:xfrm>
          <a:prstGeom prst="rect">
            <a:avLst/>
          </a:prstGeom>
          <a:noFill/>
          <a:ln/>
        </p:spPr>
        <p:txBody>
          <a:bodyPr wrap="square" lIns="0" tIns="0" rIns="0" bIns="0" rtlCol="0" anchor="ctr"/>
          <a:lstStyle/>
          <a:p>
            <a:pPr algn="r" indent="0" marL="0">
              <a:buNone/>
            </a:pPr>
            <a:r>
              <a:rPr lang="en-US" sz="1500" b="1" dirty="0">
                <a:solidFill>
                  <a:srgbClr val="990000"/>
                </a:solidFill>
                <a:latin typeface="Cambria" pitchFamily="34" charset="0"/>
                <a:ea typeface="Cambria" pitchFamily="34" charset="-122"/>
                <a:cs typeface="Cambria" pitchFamily="34" charset="-120"/>
              </a:rPr>
              <a:t>6,1%</a:t>
            </a:r>
            <a:endParaRPr lang="en-US" sz="1500" dirty="0"/>
          </a:p>
        </p:txBody>
      </p:sp>
      <p:sp>
        <p:nvSpPr>
          <p:cNvPr id="24" name="Shape 22"/>
          <p:cNvSpPr/>
          <p:nvPr/>
        </p:nvSpPr>
        <p:spPr>
          <a:xfrm>
            <a:off x="502920" y="461772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25" name="Text 23"/>
          <p:cNvSpPr/>
          <p:nvPr/>
        </p:nvSpPr>
        <p:spPr>
          <a:xfrm>
            <a:off x="731520" y="4617720"/>
            <a:ext cx="7680960" cy="1051560"/>
          </a:xfrm>
          <a:prstGeom prst="rect">
            <a:avLst/>
          </a:prstGeom>
          <a:noFill/>
          <a:ln/>
        </p:spPr>
        <p:txBody>
          <a:bodyPr wrap="square" lIns="0" tIns="0" rIns="0" bIns="0" rtlCol="0" anchor="ctr"/>
          <a:lstStyle/>
          <a:p>
            <a:pPr algn="l" indent="0" marL="0">
              <a:lnSpc>
                <a:spcPct val="140000"/>
              </a:lnSpc>
              <a:buNone/>
            </a:pPr>
            <a:r>
              <a:rPr lang="en-US" sz="1400" b="1" dirty="0">
                <a:solidFill>
                  <a:srgbClr val="B22222"/>
                </a:solidFill>
                <a:latin typeface="Cambria" pitchFamily="34" charset="0"/>
                <a:ea typeface="Cambria" pitchFamily="34" charset="-122"/>
                <a:cs typeface="Cambria" pitchFamily="34" charset="-120"/>
              </a:rPr>
              <a:t>Câu đúng văn phong mà sai nội dung bị chấm thấp nhất trong mọi phép đo.</a:t>
            </a:r>
            <a:pPr algn="l" indent="0" marL="0">
              <a:lnSpc>
                <a:spcPct val="140000"/>
              </a:lnSpc>
              <a:buNone/>
            </a:pP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Dụng cụ đo thật sự đọc nội dung câu, không thưởng cho văn phong.</a:t>
            </a:r>
            <a:endParaRPr lang="en-US" sz="1400" dirty="0"/>
          </a:p>
        </p:txBody>
      </p:sp>
      <p:sp>
        <p:nvSpPr>
          <p:cNvPr id="27" name="Shape 24"/>
          <p:cNvSpPr/>
          <p:nvPr/>
        </p:nvSpPr>
        <p:spPr>
          <a:xfrm>
            <a:off x="0" y="6620256"/>
            <a:ext cx="2743200" cy="237744"/>
          </a:xfrm>
          <a:prstGeom prst="rect">
            <a:avLst/>
          </a:prstGeom>
          <a:solidFill>
            <a:srgbClr val="191132"/>
          </a:solidFill>
          <a:ln/>
        </p:spPr>
      </p:sp>
      <p:sp>
        <p:nvSpPr>
          <p:cNvPr id="28" name="Shape 25"/>
          <p:cNvSpPr/>
          <p:nvPr/>
        </p:nvSpPr>
        <p:spPr>
          <a:xfrm>
            <a:off x="2743200" y="6620256"/>
            <a:ext cx="3383280" cy="237744"/>
          </a:xfrm>
          <a:prstGeom prst="rect">
            <a:avLst/>
          </a:prstGeom>
          <a:solidFill>
            <a:srgbClr val="25194B"/>
          </a:solidFill>
          <a:ln/>
        </p:spPr>
      </p:sp>
      <p:sp>
        <p:nvSpPr>
          <p:cNvPr id="29" name="Shape 26"/>
          <p:cNvSpPr/>
          <p:nvPr/>
        </p:nvSpPr>
        <p:spPr>
          <a:xfrm>
            <a:off x="6126480" y="6620256"/>
            <a:ext cx="1737360" cy="237744"/>
          </a:xfrm>
          <a:prstGeom prst="rect">
            <a:avLst/>
          </a:prstGeom>
          <a:solidFill>
            <a:srgbClr val="4F417A"/>
          </a:solidFill>
          <a:ln/>
        </p:spPr>
      </p:sp>
      <p:sp>
        <p:nvSpPr>
          <p:cNvPr id="30" name="Shape 27"/>
          <p:cNvSpPr/>
          <p:nvPr/>
        </p:nvSpPr>
        <p:spPr>
          <a:xfrm>
            <a:off x="7863840" y="6620256"/>
            <a:ext cx="1280160" cy="237744"/>
          </a:xfrm>
          <a:prstGeom prst="rect">
            <a:avLst/>
          </a:prstGeom>
          <a:solidFill>
            <a:srgbClr val="7A7099"/>
          </a:solidFill>
          <a:ln/>
        </p:spPr>
      </p:sp>
      <p:sp>
        <p:nvSpPr>
          <p:cNvPr id="31" name="Text 2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2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3" name="Text 3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13/25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Sáu khối kiểm chứng của thước</a:t>
            </a:r>
            <a:endParaRPr lang="en-US" sz="1900" dirty="0"/>
          </a:p>
        </p:txBody>
      </p:sp>
      <p:sp>
        <p:nvSpPr>
          <p:cNvPr id="4" name="Shape 2"/>
          <p:cNvSpPr/>
          <p:nvPr/>
        </p:nvSpPr>
        <p:spPr>
          <a:xfrm>
            <a:off x="502920" y="914400"/>
            <a:ext cx="8129016" cy="411480"/>
          </a:xfrm>
          <a:prstGeom prst="rect">
            <a:avLst/>
          </a:prstGeom>
          <a:solidFill>
            <a:srgbClr val="322164"/>
          </a:solidFill>
          <a:ln/>
        </p:spPr>
      </p:sp>
      <p:sp>
        <p:nvSpPr>
          <p:cNvPr id="5" name="Text 3"/>
          <p:cNvSpPr/>
          <p:nvPr/>
        </p:nvSpPr>
        <p:spPr>
          <a:xfrm>
            <a:off x="502920" y="914400"/>
            <a:ext cx="379476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Khối kiểm chứng</a:t>
            </a:r>
            <a:endParaRPr lang="en-US" sz="1300" dirty="0"/>
          </a:p>
        </p:txBody>
      </p:sp>
      <p:sp>
        <p:nvSpPr>
          <p:cNvPr id="6" name="Text 4"/>
          <p:cNvSpPr/>
          <p:nvPr/>
        </p:nvSpPr>
        <p:spPr>
          <a:xfrm>
            <a:off x="4297680" y="914400"/>
            <a:ext cx="4334256" cy="411480"/>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Kết quả đo</a:t>
            </a:r>
            <a:endParaRPr lang="en-US" sz="1300" dirty="0"/>
          </a:p>
        </p:txBody>
      </p:sp>
      <p:sp>
        <p:nvSpPr>
          <p:cNvPr id="7" name="Text 5"/>
          <p:cNvSpPr/>
          <p:nvPr/>
        </p:nvSpPr>
        <p:spPr>
          <a:xfrm>
            <a:off x="502920" y="132588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Cổng chặn sai số dụng cụ, khoá trước</a:t>
            </a:r>
            <a:endParaRPr lang="en-US" sz="1250" dirty="0"/>
          </a:p>
        </p:txBody>
      </p:sp>
      <p:sp>
        <p:nvSpPr>
          <p:cNvPr id="8" name="Text 6"/>
          <p:cNvSpPr/>
          <p:nvPr/>
        </p:nvSpPr>
        <p:spPr>
          <a:xfrm>
            <a:off x="4297680" y="132588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sai số trung vị 0,7%, ngưỡng 3%</a:t>
            </a:r>
            <a:endParaRPr lang="en-US" sz="1250" dirty="0"/>
          </a:p>
        </p:txBody>
      </p:sp>
      <p:sp>
        <p:nvSpPr>
          <p:cNvPr id="9" name="Shape 7"/>
          <p:cNvSpPr/>
          <p:nvPr/>
        </p:nvSpPr>
        <p:spPr>
          <a:xfrm>
            <a:off x="502920" y="1874520"/>
            <a:ext cx="8129016" cy="0"/>
          </a:xfrm>
          <a:prstGeom prst="line">
            <a:avLst/>
          </a:prstGeom>
          <a:noFill/>
          <a:ln w="12700">
            <a:solidFill>
              <a:srgbClr val="9A94AE"/>
            </a:solidFill>
            <a:prstDash val="solid"/>
          </a:ln>
        </p:spPr>
      </p:sp>
      <p:sp>
        <p:nvSpPr>
          <p:cNvPr id="10" name="Text 8"/>
          <p:cNvSpPr/>
          <p:nvPr/>
        </p:nvSpPr>
        <p:spPr>
          <a:xfrm>
            <a:off x="502920" y="187452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Luật trúng chọn từ sàn</a:t>
            </a:r>
            <a:endParaRPr lang="en-US" sz="1250" dirty="0"/>
          </a:p>
        </p:txBody>
      </p:sp>
      <p:sp>
        <p:nvSpPr>
          <p:cNvPr id="11" name="Text 9"/>
          <p:cNvSpPr/>
          <p:nvPr/>
        </p:nvSpPr>
        <p:spPr>
          <a:xfrm>
            <a:off x="4297680" y="187452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84,3%  →  2,8%</a:t>
            </a:r>
            <a:endParaRPr lang="en-US" sz="1250" dirty="0"/>
          </a:p>
        </p:txBody>
      </p:sp>
      <p:sp>
        <p:nvSpPr>
          <p:cNvPr id="12" name="Shape 10"/>
          <p:cNvSpPr/>
          <p:nvPr/>
        </p:nvSpPr>
        <p:spPr>
          <a:xfrm>
            <a:off x="502920" y="2423160"/>
            <a:ext cx="8129016" cy="0"/>
          </a:xfrm>
          <a:prstGeom prst="line">
            <a:avLst/>
          </a:prstGeom>
          <a:noFill/>
          <a:ln w="12700">
            <a:solidFill>
              <a:srgbClr val="9A94AE"/>
            </a:solidFill>
            <a:prstDash val="solid"/>
          </a:ln>
        </p:spPr>
      </p:sp>
      <p:sp>
        <p:nvSpPr>
          <p:cNvPr id="13" name="Text 11"/>
          <p:cNvSpPr/>
          <p:nvPr/>
        </p:nvSpPr>
        <p:spPr>
          <a:xfrm>
            <a:off x="502920" y="242316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Trần và sàn của thước</a:t>
            </a:r>
            <a:endParaRPr lang="en-US" sz="1250" dirty="0"/>
          </a:p>
        </p:txBody>
      </p:sp>
      <p:sp>
        <p:nvSpPr>
          <p:cNvPr id="14" name="Text 12"/>
          <p:cNvSpPr/>
          <p:nvPr/>
        </p:nvSpPr>
        <p:spPr>
          <a:xfrm>
            <a:off x="4297680" y="242316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75,7  /  12,0  /  6,1</a:t>
            </a:r>
            <a:endParaRPr lang="en-US" sz="1250" dirty="0"/>
          </a:p>
        </p:txBody>
      </p:sp>
      <p:sp>
        <p:nvSpPr>
          <p:cNvPr id="15" name="Shape 13"/>
          <p:cNvSpPr/>
          <p:nvPr/>
        </p:nvSpPr>
        <p:spPr>
          <a:xfrm>
            <a:off x="502920" y="2971800"/>
            <a:ext cx="8129016" cy="0"/>
          </a:xfrm>
          <a:prstGeom prst="line">
            <a:avLst/>
          </a:prstGeom>
          <a:noFill/>
          <a:ln w="12700">
            <a:solidFill>
              <a:srgbClr val="9A94AE"/>
            </a:solidFill>
            <a:prstDash val="solid"/>
          </a:ln>
        </p:spPr>
      </p:sp>
      <p:sp>
        <p:nvSpPr>
          <p:cNvPr id="16" name="Text 14"/>
          <p:cNvSpPr/>
          <p:nvPr/>
        </p:nvSpPr>
        <p:spPr>
          <a:xfrm>
            <a:off x="502920" y="297180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Mười phép bơm lỗi, ngưỡng đóng băng trước</a:t>
            </a:r>
            <a:endParaRPr lang="en-US" sz="1250" dirty="0"/>
          </a:p>
        </p:txBody>
      </p:sp>
      <p:sp>
        <p:nvSpPr>
          <p:cNvPr id="17" name="Text 15"/>
          <p:cNvSpPr/>
          <p:nvPr/>
        </p:nvSpPr>
        <p:spPr>
          <a:xfrm>
            <a:off x="4297680" y="297180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đạt</a:t>
            </a:r>
            <a:endParaRPr lang="en-US" sz="1250" dirty="0"/>
          </a:p>
        </p:txBody>
      </p:sp>
      <p:sp>
        <p:nvSpPr>
          <p:cNvPr id="18" name="Shape 16"/>
          <p:cNvSpPr/>
          <p:nvPr/>
        </p:nvSpPr>
        <p:spPr>
          <a:xfrm>
            <a:off x="502920" y="3520440"/>
            <a:ext cx="8129016" cy="0"/>
          </a:xfrm>
          <a:prstGeom prst="line">
            <a:avLst/>
          </a:prstGeom>
          <a:noFill/>
          <a:ln w="12700">
            <a:solidFill>
              <a:srgbClr val="9A94AE"/>
            </a:solidFill>
            <a:prstDash val="solid"/>
          </a:ln>
        </p:spPr>
      </p:sp>
      <p:sp>
        <p:nvSpPr>
          <p:cNvPr id="19" name="Text 17"/>
          <p:cNvSpPr/>
          <p:nvPr/>
        </p:nvSpPr>
        <p:spPr>
          <a:xfrm>
            <a:off x="502920" y="352044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Viết lại 1.139 câu, bảo toàn nghĩa</a:t>
            </a:r>
            <a:endParaRPr lang="en-US" sz="1250" dirty="0"/>
          </a:p>
        </p:txBody>
      </p:sp>
      <p:sp>
        <p:nvSpPr>
          <p:cNvPr id="20" name="Text 18"/>
          <p:cNvSpPr/>
          <p:nvPr/>
        </p:nvSpPr>
        <p:spPr>
          <a:xfrm>
            <a:off x="4297680" y="352044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+0,35 điểm  [−0,59 ; +1,29]</a:t>
            </a:r>
            <a:endParaRPr lang="en-US" sz="1250" dirty="0"/>
          </a:p>
        </p:txBody>
      </p:sp>
      <p:sp>
        <p:nvSpPr>
          <p:cNvPr id="21" name="Shape 19"/>
          <p:cNvSpPr/>
          <p:nvPr/>
        </p:nvSpPr>
        <p:spPr>
          <a:xfrm>
            <a:off x="502920" y="4069080"/>
            <a:ext cx="8129016" cy="0"/>
          </a:xfrm>
          <a:prstGeom prst="line">
            <a:avLst/>
          </a:prstGeom>
          <a:noFill/>
          <a:ln w="12700">
            <a:solidFill>
              <a:srgbClr val="9A94AE"/>
            </a:solidFill>
            <a:prstDash val="solid"/>
          </a:ln>
        </p:spPr>
      </p:sp>
      <p:sp>
        <p:nvSpPr>
          <p:cNvPr id="22" name="Text 20"/>
          <p:cNvSpPr/>
          <p:nvPr/>
        </p:nvSpPr>
        <p:spPr>
          <a:xfrm>
            <a:off x="502920" y="406908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Đổi sang một mô hình định vị thứ hai</a:t>
            </a:r>
            <a:endParaRPr lang="en-US" sz="1250" dirty="0"/>
          </a:p>
        </p:txBody>
      </p:sp>
      <p:sp>
        <p:nvSpPr>
          <p:cNvPr id="23" name="Text 21"/>
          <p:cNvSpPr/>
          <p:nvPr/>
        </p:nvSpPr>
        <p:spPr>
          <a:xfrm>
            <a:off x="4297680" y="406908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giữ 94% độ lớn phép so S1 với Base</a:t>
            </a:r>
            <a:endParaRPr lang="en-US" sz="1250" dirty="0"/>
          </a:p>
        </p:txBody>
      </p:sp>
      <p:sp>
        <p:nvSpPr>
          <p:cNvPr id="24" name="Shape 22"/>
          <p:cNvSpPr/>
          <p:nvPr/>
        </p:nvSpPr>
        <p:spPr>
          <a:xfrm>
            <a:off x="502920" y="4709160"/>
            <a:ext cx="8138160" cy="960120"/>
          </a:xfrm>
          <a:prstGeom prst="roundRect">
            <a:avLst>
              <a:gd name="adj" fmla="val 5714"/>
            </a:avLst>
          </a:prstGeom>
          <a:solidFill>
            <a:srgbClr val="E9E8EC"/>
          </a:solidFill>
          <a:ln/>
          <a:effectLst>
            <a:outerShdw sx="100000" sy="100000" kx="0" ky="0" algn="bl" rotWithShape="0" blurRad="63500" dist="31750" dir="2700000">
              <a:srgbClr val="8C8C99">
                <a:alpha val="45000"/>
              </a:srgbClr>
            </a:outerShdw>
          </a:effectLst>
        </p:spPr>
      </p:sp>
      <p:sp>
        <p:nvSpPr>
          <p:cNvPr id="25" name="Text 23"/>
          <p:cNvSpPr/>
          <p:nvPr/>
        </p:nvSpPr>
        <p:spPr>
          <a:xfrm>
            <a:off x="731520" y="4709160"/>
            <a:ext cx="7680960" cy="960120"/>
          </a:xfrm>
          <a:prstGeom prst="rect">
            <a:avLst/>
          </a:prstGeom>
          <a:noFill/>
          <a:ln/>
        </p:spPr>
        <p:txBody>
          <a:bodyPr wrap="square" lIns="0" tIns="0" rIns="0" bIns="0" rtlCol="0" anchor="ctr"/>
          <a:lstStyle/>
          <a:p>
            <a:pPr algn="l" indent="0" marL="0">
              <a:lnSpc>
                <a:spcPct val="135000"/>
              </a:lnSpc>
              <a:buNone/>
            </a:pPr>
            <a:r>
              <a:rPr lang="en-US" sz="1300" b="1" dirty="0">
                <a:solidFill>
                  <a:srgbClr val="322164"/>
                </a:solidFill>
                <a:latin typeface="Cambria" pitchFamily="34" charset="0"/>
                <a:ea typeface="Cambria" pitchFamily="34" charset="-122"/>
                <a:cs typeface="Cambria" pitchFamily="34" charset="-120"/>
              </a:rPr>
              <a:t>Hai phép thử độ bền nữa.</a:t>
            </a:r>
            <a:pPr algn="l" indent="0" marL="0">
              <a:lnSpc>
                <a:spcPct val="135000"/>
              </a:lnSpc>
              <a:buNone/>
            </a:pPr>
            <a:r>
              <a:rPr lang="en-US" sz="1300" dirty="0">
                <a:solidFill>
                  <a:srgbClr val="1A1A1A"/>
                </a:solidFill>
                <a:latin typeface="Cambria" pitchFamily="34" charset="0"/>
                <a:ea typeface="Cambria" pitchFamily="34" charset="-122"/>
                <a:cs typeface="Cambria" pitchFamily="34" charset="-120"/>
              </a:rPr>
              <a:t> Năm luật chấm khác nhau không đổi thứ tự các hệ thống. Thước tất định: 1.625 phép so, không một bất đồng.</a:t>
            </a:r>
            <a:endParaRPr lang="en-US" sz="1300" dirty="0"/>
          </a:p>
        </p:txBody>
      </p:sp>
      <p:sp>
        <p:nvSpPr>
          <p:cNvPr id="27" name="Shape 24"/>
          <p:cNvSpPr/>
          <p:nvPr/>
        </p:nvSpPr>
        <p:spPr>
          <a:xfrm>
            <a:off x="0" y="6620256"/>
            <a:ext cx="2743200" cy="237744"/>
          </a:xfrm>
          <a:prstGeom prst="rect">
            <a:avLst/>
          </a:prstGeom>
          <a:solidFill>
            <a:srgbClr val="191132"/>
          </a:solidFill>
          <a:ln/>
        </p:spPr>
      </p:sp>
      <p:sp>
        <p:nvSpPr>
          <p:cNvPr id="28" name="Shape 25"/>
          <p:cNvSpPr/>
          <p:nvPr/>
        </p:nvSpPr>
        <p:spPr>
          <a:xfrm>
            <a:off x="2743200" y="6620256"/>
            <a:ext cx="3383280" cy="237744"/>
          </a:xfrm>
          <a:prstGeom prst="rect">
            <a:avLst/>
          </a:prstGeom>
          <a:solidFill>
            <a:srgbClr val="25194B"/>
          </a:solidFill>
          <a:ln/>
        </p:spPr>
      </p:sp>
      <p:sp>
        <p:nvSpPr>
          <p:cNvPr id="29" name="Shape 26"/>
          <p:cNvSpPr/>
          <p:nvPr/>
        </p:nvSpPr>
        <p:spPr>
          <a:xfrm>
            <a:off x="6126480" y="6620256"/>
            <a:ext cx="1737360" cy="237744"/>
          </a:xfrm>
          <a:prstGeom prst="rect">
            <a:avLst/>
          </a:prstGeom>
          <a:solidFill>
            <a:srgbClr val="4F417A"/>
          </a:solidFill>
          <a:ln/>
        </p:spPr>
      </p:sp>
      <p:sp>
        <p:nvSpPr>
          <p:cNvPr id="30" name="Shape 27"/>
          <p:cNvSpPr/>
          <p:nvPr/>
        </p:nvSpPr>
        <p:spPr>
          <a:xfrm>
            <a:off x="7863840" y="6620256"/>
            <a:ext cx="1280160" cy="237744"/>
          </a:xfrm>
          <a:prstGeom prst="rect">
            <a:avLst/>
          </a:prstGeom>
          <a:solidFill>
            <a:srgbClr val="7A7099"/>
          </a:solidFill>
          <a:ln/>
        </p:spPr>
      </p:sp>
      <p:sp>
        <p:nvSpPr>
          <p:cNvPr id="31" name="Text 2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2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3" name="Text 3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14/25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Thiết kế được niêm phong trước lượt huấn luyện đầu tiên</a:t>
            </a:r>
            <a:endParaRPr lang="en-US" sz="1900" dirty="0"/>
          </a:p>
        </p:txBody>
      </p:sp>
      <p:sp>
        <p:nvSpPr>
          <p:cNvPr id="4" name="Text 2"/>
          <p:cNvSpPr/>
          <p:nvPr/>
        </p:nvSpPr>
        <p:spPr>
          <a:xfrm>
            <a:off x="502920" y="841248"/>
            <a:ext cx="81381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Ngày 5 tháng 8 năm 2026, toàn bộ thiết kế vào kho phiên bản khi chưa có điểm số nào.</a:t>
            </a:r>
            <a:endParaRPr lang="en-US" sz="1350" dirty="0"/>
          </a:p>
        </p:txBody>
      </p:sp>
      <p:sp>
        <p:nvSpPr>
          <p:cNvPr id="5" name="Shape 3"/>
          <p:cNvSpPr/>
          <p:nvPr/>
        </p:nvSpPr>
        <p:spPr>
          <a:xfrm>
            <a:off x="502920" y="1554480"/>
            <a:ext cx="4206240" cy="365760"/>
          </a:xfrm>
          <a:prstGeom prst="rect">
            <a:avLst/>
          </a:prstGeom>
          <a:solidFill>
            <a:srgbClr val="322164"/>
          </a:solidFill>
          <a:ln/>
        </p:spPr>
      </p:sp>
      <p:sp>
        <p:nvSpPr>
          <p:cNvPr id="6" name="Text 4"/>
          <p:cNvSpPr/>
          <p:nvPr/>
        </p:nvSpPr>
        <p:spPr>
          <a:xfrm>
            <a:off x="502920" y="1554480"/>
            <a:ext cx="182880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Kết cục</a:t>
            </a:r>
            <a:endParaRPr lang="en-US" sz="1200" dirty="0"/>
          </a:p>
        </p:txBody>
      </p:sp>
      <p:sp>
        <p:nvSpPr>
          <p:cNvPr id="7" name="Text 5"/>
          <p:cNvSpPr/>
          <p:nvPr/>
        </p:nvSpPr>
        <p:spPr>
          <a:xfrm>
            <a:off x="2331720" y="1554480"/>
            <a:ext cx="237744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Điều kiện</a:t>
            </a:r>
            <a:endParaRPr lang="en-US" sz="1200" dirty="0"/>
          </a:p>
        </p:txBody>
      </p:sp>
      <p:sp>
        <p:nvSpPr>
          <p:cNvPr id="8" name="Text 6"/>
          <p:cNvSpPr/>
          <p:nvPr/>
        </p:nvSpPr>
        <p:spPr>
          <a:xfrm>
            <a:off x="502920" y="1920240"/>
            <a:ext cx="1828800" cy="457200"/>
          </a:xfrm>
          <a:prstGeom prst="rect">
            <a:avLst/>
          </a:prstGeom>
          <a:noFill/>
          <a:ln/>
        </p:spPr>
        <p:txBody>
          <a:bodyPr wrap="square" lIns="38100" tIns="38100" rIns="38100" bIns="38100" rtlCol="0" anchor="ctr"/>
          <a:lstStyle/>
          <a:p>
            <a:pPr algn="l" indent="0" marL="0">
              <a:buNone/>
            </a:pPr>
            <a:r>
              <a:rPr lang="en-US" sz="1250" b="1" dirty="0">
                <a:solidFill>
                  <a:srgbClr val="006666"/>
                </a:solidFill>
                <a:latin typeface="Cambria" pitchFamily="34" charset="0"/>
                <a:ea typeface="Cambria" pitchFamily="34" charset="-122"/>
                <a:cs typeface="Cambria" pitchFamily="34" charset="-120"/>
              </a:rPr>
              <a:t>Dương</a:t>
            </a:r>
            <a:endParaRPr lang="en-US" sz="1250" dirty="0"/>
          </a:p>
        </p:txBody>
      </p:sp>
      <p:sp>
        <p:nvSpPr>
          <p:cNvPr id="9" name="Text 7"/>
          <p:cNvSpPr/>
          <p:nvPr/>
        </p:nvSpPr>
        <p:spPr>
          <a:xfrm>
            <a:off x="2331720" y="1920240"/>
            <a:ext cx="237744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vượt ngưỡng đã khoá</a:t>
            </a:r>
            <a:endParaRPr lang="en-US" sz="1250" dirty="0"/>
          </a:p>
        </p:txBody>
      </p:sp>
      <p:sp>
        <p:nvSpPr>
          <p:cNvPr id="10" name="Shape 8"/>
          <p:cNvSpPr/>
          <p:nvPr/>
        </p:nvSpPr>
        <p:spPr>
          <a:xfrm>
            <a:off x="502920" y="2377440"/>
            <a:ext cx="4206240" cy="0"/>
          </a:xfrm>
          <a:prstGeom prst="line">
            <a:avLst/>
          </a:prstGeom>
          <a:noFill/>
          <a:ln w="12700">
            <a:solidFill>
              <a:srgbClr val="9A94AE"/>
            </a:solidFill>
            <a:prstDash val="solid"/>
          </a:ln>
        </p:spPr>
      </p:sp>
      <p:sp>
        <p:nvSpPr>
          <p:cNvPr id="11" name="Text 9"/>
          <p:cNvSpPr/>
          <p:nvPr/>
        </p:nvSpPr>
        <p:spPr>
          <a:xfrm>
            <a:off x="502920" y="2377440"/>
            <a:ext cx="1828800" cy="457200"/>
          </a:xfrm>
          <a:prstGeom prst="rect">
            <a:avLst/>
          </a:prstGeom>
          <a:noFill/>
          <a:ln/>
        </p:spPr>
        <p:txBody>
          <a:bodyPr wrap="square" lIns="38100" tIns="38100" rIns="38100" bIns="38100" rtlCol="0" anchor="ctr"/>
          <a:lstStyle/>
          <a:p>
            <a:pPr algn="l" indent="0" marL="0">
              <a:buNone/>
            </a:pPr>
            <a:r>
              <a:rPr lang="en-US" sz="1250" dirty="0">
                <a:solidFill>
                  <a:srgbClr val="006666"/>
                </a:solidFill>
                <a:latin typeface="Cambria" pitchFamily="34" charset="0"/>
                <a:ea typeface="Cambria" pitchFamily="34" charset="-122"/>
                <a:cs typeface="Cambria" pitchFamily="34" charset="-120"/>
              </a:rPr>
              <a:t>Dương yếu</a:t>
            </a:r>
            <a:endParaRPr lang="en-US" sz="1250" dirty="0"/>
          </a:p>
        </p:txBody>
      </p:sp>
      <p:sp>
        <p:nvSpPr>
          <p:cNvPr id="12" name="Text 10"/>
          <p:cNvSpPr/>
          <p:nvPr/>
        </p:nvSpPr>
        <p:spPr>
          <a:xfrm>
            <a:off x="2331720" y="2377440"/>
            <a:ext cx="237744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có dấu, dưới ngưỡng</a:t>
            </a:r>
            <a:endParaRPr lang="en-US" sz="1250" dirty="0"/>
          </a:p>
        </p:txBody>
      </p:sp>
      <p:sp>
        <p:nvSpPr>
          <p:cNvPr id="13" name="Shape 11"/>
          <p:cNvSpPr/>
          <p:nvPr/>
        </p:nvSpPr>
        <p:spPr>
          <a:xfrm>
            <a:off x="502920" y="2834640"/>
            <a:ext cx="4206240" cy="0"/>
          </a:xfrm>
          <a:prstGeom prst="line">
            <a:avLst/>
          </a:prstGeom>
          <a:noFill/>
          <a:ln w="12700">
            <a:solidFill>
              <a:srgbClr val="9A94AE"/>
            </a:solidFill>
            <a:prstDash val="solid"/>
          </a:ln>
        </p:spPr>
      </p:sp>
      <p:sp>
        <p:nvSpPr>
          <p:cNvPr id="14" name="Text 12"/>
          <p:cNvSpPr/>
          <p:nvPr/>
        </p:nvSpPr>
        <p:spPr>
          <a:xfrm>
            <a:off x="502920" y="2834640"/>
            <a:ext cx="1828800" cy="457200"/>
          </a:xfrm>
          <a:prstGeom prst="rect">
            <a:avLst/>
          </a:prstGeom>
          <a:noFill/>
          <a:ln/>
        </p:spPr>
        <p:txBody>
          <a:bodyPr wrap="square" lIns="38100" tIns="38100" rIns="38100" bIns="38100" rtlCol="0" anchor="ctr"/>
          <a:lstStyle/>
          <a:p>
            <a:pPr algn="l" indent="0" marL="0">
              <a:buNone/>
            </a:pPr>
            <a:r>
              <a:rPr lang="en-US" sz="1250" b="1" dirty="0">
                <a:solidFill>
                  <a:srgbClr val="990000"/>
                </a:solidFill>
                <a:latin typeface="Cambria" pitchFamily="34" charset="0"/>
                <a:ea typeface="Cambria" pitchFamily="34" charset="-122"/>
                <a:cs typeface="Cambria" pitchFamily="34" charset="-120"/>
              </a:rPr>
              <a:t>Trắng</a:t>
            </a:r>
            <a:endParaRPr lang="en-US" sz="1250" dirty="0"/>
          </a:p>
        </p:txBody>
      </p:sp>
      <p:sp>
        <p:nvSpPr>
          <p:cNvPr id="15" name="Text 13"/>
          <p:cNvSpPr/>
          <p:nvPr/>
        </p:nvSpPr>
        <p:spPr>
          <a:xfrm>
            <a:off x="2331720" y="2834640"/>
            <a:ext cx="237744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không kết luận được</a:t>
            </a:r>
            <a:endParaRPr lang="en-US" sz="1250" dirty="0"/>
          </a:p>
        </p:txBody>
      </p:sp>
      <p:sp>
        <p:nvSpPr>
          <p:cNvPr id="16" name="Shape 14"/>
          <p:cNvSpPr/>
          <p:nvPr/>
        </p:nvSpPr>
        <p:spPr>
          <a:xfrm>
            <a:off x="502920" y="3291840"/>
            <a:ext cx="4206240" cy="0"/>
          </a:xfrm>
          <a:prstGeom prst="line">
            <a:avLst/>
          </a:prstGeom>
          <a:noFill/>
          <a:ln w="12700">
            <a:solidFill>
              <a:srgbClr val="9A94AE"/>
            </a:solidFill>
            <a:prstDash val="solid"/>
          </a:ln>
        </p:spPr>
      </p:sp>
      <p:sp>
        <p:nvSpPr>
          <p:cNvPr id="17" name="Text 15"/>
          <p:cNvSpPr/>
          <p:nvPr/>
        </p:nvSpPr>
        <p:spPr>
          <a:xfrm>
            <a:off x="502920" y="3291840"/>
            <a:ext cx="1828800" cy="457200"/>
          </a:xfrm>
          <a:prstGeom prst="rect">
            <a:avLst/>
          </a:prstGeom>
          <a:noFill/>
          <a:ln/>
        </p:spPr>
        <p:txBody>
          <a:bodyPr wrap="square" lIns="38100" tIns="38100" rIns="38100" bIns="38100" rtlCol="0" anchor="ctr"/>
          <a:lstStyle/>
          <a:p>
            <a:pPr algn="l" indent="0" marL="0">
              <a:buNone/>
            </a:pPr>
            <a:r>
              <a:rPr lang="en-US" sz="1250" b="1" dirty="0">
                <a:solidFill>
                  <a:srgbClr val="B22222"/>
                </a:solidFill>
                <a:latin typeface="Cambria" pitchFamily="34" charset="0"/>
                <a:ea typeface="Cambria" pitchFamily="34" charset="-122"/>
                <a:cs typeface="Cambria" pitchFamily="34" charset="-120"/>
              </a:rPr>
              <a:t>Âm</a:t>
            </a:r>
            <a:endParaRPr lang="en-US" sz="1250" dirty="0"/>
          </a:p>
        </p:txBody>
      </p:sp>
      <p:sp>
        <p:nvSpPr>
          <p:cNvPr id="18" name="Text 16"/>
          <p:cNvSpPr/>
          <p:nvPr/>
        </p:nvSpPr>
        <p:spPr>
          <a:xfrm>
            <a:off x="2331720" y="3291840"/>
            <a:ext cx="237744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thua dưới hai dụng cụ</a:t>
            </a:r>
            <a:endParaRPr lang="en-US" sz="1250" dirty="0"/>
          </a:p>
        </p:txBody>
      </p:sp>
      <p:sp>
        <p:nvSpPr>
          <p:cNvPr id="19" name="Text 17"/>
          <p:cNvSpPr/>
          <p:nvPr/>
        </p:nvSpPr>
        <p:spPr>
          <a:xfrm>
            <a:off x="4663440" y="1600200"/>
            <a:ext cx="201168" cy="8686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0" name="Text 18"/>
          <p:cNvSpPr/>
          <p:nvPr/>
        </p:nvSpPr>
        <p:spPr>
          <a:xfrm>
            <a:off x="4892040" y="1600200"/>
            <a:ext cx="3749040" cy="822960"/>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Kết cục trắng đã có sẵn cách đọc từ trước</a:t>
            </a:r>
            <a:endParaRPr lang="en-US" sz="1250" dirty="0"/>
          </a:p>
        </p:txBody>
      </p:sp>
      <p:sp>
        <p:nvSpPr>
          <p:cNvPr id="21" name="Text 19"/>
          <p:cNvSpPr/>
          <p:nvPr/>
        </p:nvSpPr>
        <p:spPr>
          <a:xfrm>
            <a:off x="4663440" y="2468880"/>
            <a:ext cx="201168" cy="8686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4892040" y="2468880"/>
            <a:ext cx="3749040" cy="822960"/>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27 mục sửa đổi ghi kèm ngày, 21 mục có trước điểm số đầu tiên</a:t>
            </a:r>
            <a:endParaRPr lang="en-US" sz="1250" dirty="0"/>
          </a:p>
        </p:txBody>
      </p:sp>
      <p:sp>
        <p:nvSpPr>
          <p:cNvPr id="23" name="Text 21"/>
          <p:cNvSpPr/>
          <p:nvPr/>
        </p:nvSpPr>
        <p:spPr>
          <a:xfrm>
            <a:off x="4663440" y="3337560"/>
            <a:ext cx="201168" cy="8686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4892040" y="3337560"/>
            <a:ext cx="3749040" cy="822960"/>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Số đã rút vẫn giữ lại kèm lý do rút</a:t>
            </a:r>
            <a:endParaRPr lang="en-US" sz="1250" dirty="0"/>
          </a:p>
        </p:txBody>
      </p:sp>
      <p:sp>
        <p:nvSpPr>
          <p:cNvPr id="25" name="Shape 23"/>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26" name="Text 24"/>
          <p:cNvSpPr/>
          <p:nvPr/>
        </p:nvSpPr>
        <p:spPr>
          <a:xfrm>
            <a:off x="731520" y="4480560"/>
            <a:ext cx="7680960" cy="1188720"/>
          </a:xfrm>
          <a:prstGeom prst="rect">
            <a:avLst/>
          </a:prstGeom>
          <a:noFill/>
          <a:ln/>
        </p:spPr>
        <p:txBody>
          <a:bodyPr wrap="square" lIns="0" tIns="0" rIns="0" bIns="0" rtlCol="0" anchor="ctr"/>
          <a:lstStyle/>
          <a:p>
            <a:pPr algn="l" indent="0" marL="0">
              <a:lnSpc>
                <a:spcPct val="140000"/>
              </a:lnSpc>
              <a:buNone/>
            </a:pPr>
            <a:r>
              <a:rPr lang="en-US" sz="1400" b="1" dirty="0">
                <a:solidFill>
                  <a:srgbClr val="B22222"/>
                </a:solidFill>
                <a:latin typeface="Cambria" pitchFamily="34" charset="0"/>
                <a:ea typeface="Cambria" pitchFamily="34" charset="-122"/>
                <a:cs typeface="Cambria" pitchFamily="34" charset="-120"/>
              </a:rPr>
              <a:t>Mức chênh nhỏ nhất phát hiện được là 2,2 điểm.</a:t>
            </a:r>
            <a:pPr algn="l" indent="0" marL="0">
              <a:lnSpc>
                <a:spcPct val="140000"/>
              </a:lnSpc>
              <a:buNone/>
            </a:pP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Con số này cũng chốt trước khi có điểm, và mọi kết quả sau đọc trên nó.</a:t>
            </a:r>
            <a:endParaRPr lang="en-US" sz="1400" dirty="0"/>
          </a:p>
        </p:txBody>
      </p:sp>
      <p:sp>
        <p:nvSpPr>
          <p:cNvPr id="28" name="Shape 25"/>
          <p:cNvSpPr/>
          <p:nvPr/>
        </p:nvSpPr>
        <p:spPr>
          <a:xfrm>
            <a:off x="0" y="6620256"/>
            <a:ext cx="2743200" cy="237744"/>
          </a:xfrm>
          <a:prstGeom prst="rect">
            <a:avLst/>
          </a:prstGeom>
          <a:solidFill>
            <a:srgbClr val="191132"/>
          </a:solidFill>
          <a:ln/>
        </p:spPr>
      </p:sp>
      <p:sp>
        <p:nvSpPr>
          <p:cNvPr id="29" name="Shape 26"/>
          <p:cNvSpPr/>
          <p:nvPr/>
        </p:nvSpPr>
        <p:spPr>
          <a:xfrm>
            <a:off x="2743200" y="6620256"/>
            <a:ext cx="3383280" cy="237744"/>
          </a:xfrm>
          <a:prstGeom prst="rect">
            <a:avLst/>
          </a:prstGeom>
          <a:solidFill>
            <a:srgbClr val="25194B"/>
          </a:solidFill>
          <a:ln/>
        </p:spPr>
      </p:sp>
      <p:sp>
        <p:nvSpPr>
          <p:cNvPr id="30" name="Shape 27"/>
          <p:cNvSpPr/>
          <p:nvPr/>
        </p:nvSpPr>
        <p:spPr>
          <a:xfrm>
            <a:off x="6126480" y="6620256"/>
            <a:ext cx="1737360" cy="237744"/>
          </a:xfrm>
          <a:prstGeom prst="rect">
            <a:avLst/>
          </a:prstGeom>
          <a:solidFill>
            <a:srgbClr val="4F417A"/>
          </a:solidFill>
          <a:ln/>
        </p:spPr>
      </p:sp>
      <p:sp>
        <p:nvSpPr>
          <p:cNvPr id="31" name="Shape 28"/>
          <p:cNvSpPr/>
          <p:nvPr/>
        </p:nvSpPr>
        <p:spPr>
          <a:xfrm>
            <a:off x="7863840" y="6620256"/>
            <a:ext cx="1280160" cy="237744"/>
          </a:xfrm>
          <a:prstGeom prst="rect">
            <a:avLst/>
          </a:prstGeom>
          <a:solidFill>
            <a:srgbClr val="7A7099"/>
          </a:solidFill>
          <a:ln/>
        </p:spPr>
      </p:sp>
      <p:sp>
        <p:nvSpPr>
          <p:cNvPr id="32"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3"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4"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15/25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Kết quả chính trên 4.463 bước chạm</a:t>
            </a:r>
            <a:endParaRPr lang="en-US" sz="1900" dirty="0"/>
          </a:p>
        </p:txBody>
      </p:sp>
      <p:sp>
        <p:nvSpPr>
          <p:cNvPr id="4" name="Shape 2"/>
          <p:cNvSpPr/>
          <p:nvPr/>
        </p:nvSpPr>
        <p:spPr>
          <a:xfrm>
            <a:off x="502920" y="914400"/>
            <a:ext cx="8129016" cy="384048"/>
          </a:xfrm>
          <a:prstGeom prst="rect">
            <a:avLst/>
          </a:prstGeom>
          <a:solidFill>
            <a:srgbClr val="322164"/>
          </a:solidFill>
          <a:ln/>
        </p:spPr>
      </p:sp>
      <p:sp>
        <p:nvSpPr>
          <p:cNvPr id="5" name="Text 3"/>
          <p:cNvSpPr/>
          <p:nvPr/>
        </p:nvSpPr>
        <p:spPr>
          <a:xfrm>
            <a:off x="502920" y="914400"/>
            <a:ext cx="356616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Nhánh</a:t>
            </a:r>
            <a:endParaRPr lang="en-US" sz="1250" dirty="0"/>
          </a:p>
        </p:txBody>
      </p:sp>
      <p:sp>
        <p:nvSpPr>
          <p:cNvPr id="6" name="Text 4"/>
          <p:cNvSpPr/>
          <p:nvPr/>
        </p:nvSpPr>
        <p:spPr>
          <a:xfrm>
            <a:off x="4069080" y="914400"/>
            <a:ext cx="155448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Exec.</a:t>
            </a:r>
            <a:endParaRPr lang="en-US" sz="1250" dirty="0"/>
          </a:p>
        </p:txBody>
      </p:sp>
      <p:sp>
        <p:nvSpPr>
          <p:cNvPr id="7" name="Text 5"/>
          <p:cNvSpPr/>
          <p:nvPr/>
        </p:nvSpPr>
        <p:spPr>
          <a:xfrm>
            <a:off x="5623560" y="914400"/>
            <a:ext cx="201168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KTC 95%</a:t>
            </a:r>
            <a:endParaRPr lang="en-US" sz="1250" dirty="0"/>
          </a:p>
        </p:txBody>
      </p:sp>
      <p:sp>
        <p:nvSpPr>
          <p:cNvPr id="8" name="Text 6"/>
          <p:cNvSpPr/>
          <p:nvPr/>
        </p:nvSpPr>
        <p:spPr>
          <a:xfrm>
            <a:off x="7635240" y="914400"/>
            <a:ext cx="996696" cy="384048"/>
          </a:xfrm>
          <a:prstGeom prst="rect">
            <a:avLst/>
          </a:prstGeom>
          <a:noFill/>
          <a:ln/>
        </p:spPr>
        <p:txBody>
          <a:bodyPr wrap="square" lIns="38100" tIns="38100" rIns="38100" bIns="38100" rtlCol="0" anchor="ctr"/>
          <a:lstStyle/>
          <a:p>
            <a:pPr algn="ctr" indent="0" marL="0">
              <a:buNone/>
            </a:pPr>
            <a:endParaRPr lang="en-US" sz="1250" dirty="0"/>
          </a:p>
        </p:txBody>
      </p:sp>
      <p:sp>
        <p:nvSpPr>
          <p:cNvPr id="9" name="Text 7"/>
          <p:cNvSpPr/>
          <p:nvPr/>
        </p:nvSpPr>
        <p:spPr>
          <a:xfrm>
            <a:off x="502920" y="1298448"/>
            <a:ext cx="3566160" cy="420624"/>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do người viết  (trần)</a:t>
            </a:r>
            <a:endParaRPr lang="en-US" sz="1300" dirty="0"/>
          </a:p>
        </p:txBody>
      </p:sp>
      <p:sp>
        <p:nvSpPr>
          <p:cNvPr id="10" name="Text 8"/>
          <p:cNvSpPr/>
          <p:nvPr/>
        </p:nvSpPr>
        <p:spPr>
          <a:xfrm>
            <a:off x="4069080" y="1298448"/>
            <a:ext cx="1554480" cy="420624"/>
          </a:xfrm>
          <a:prstGeom prst="rect">
            <a:avLst/>
          </a:prstGeom>
          <a:noFill/>
          <a:ln/>
        </p:spPr>
        <p:txBody>
          <a:bodyPr wrap="square" lIns="38100" tIns="38100" rIns="38100" bIns="38100" rtlCol="0" anchor="ctr"/>
          <a:lstStyle/>
          <a:p>
            <a:pPr algn="ctr" indent="0" marL="0">
              <a:buNone/>
            </a:pPr>
            <a:r>
              <a:rPr lang="en-US" sz="1300" b="1" dirty="0">
                <a:solidFill>
                  <a:srgbClr val="006666"/>
                </a:solidFill>
                <a:latin typeface="Cambria" pitchFamily="34" charset="0"/>
                <a:ea typeface="Cambria" pitchFamily="34" charset="-122"/>
                <a:cs typeface="Cambria" pitchFamily="34" charset="-120"/>
              </a:rPr>
              <a:t>75,7</a:t>
            </a:r>
            <a:endParaRPr lang="en-US" sz="1300" dirty="0"/>
          </a:p>
        </p:txBody>
      </p:sp>
      <p:sp>
        <p:nvSpPr>
          <p:cNvPr id="11" name="Text 9"/>
          <p:cNvSpPr/>
          <p:nvPr/>
        </p:nvSpPr>
        <p:spPr>
          <a:xfrm>
            <a:off x="5623560" y="1298448"/>
            <a:ext cx="2011680" cy="420624"/>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[74,1 ; 77,3]</a:t>
            </a:r>
            <a:endParaRPr lang="en-US" sz="1300" dirty="0"/>
          </a:p>
        </p:txBody>
      </p:sp>
      <p:sp>
        <p:nvSpPr>
          <p:cNvPr id="12" name="Text 10"/>
          <p:cNvSpPr/>
          <p:nvPr/>
        </p:nvSpPr>
        <p:spPr>
          <a:xfrm>
            <a:off x="7635240" y="1298448"/>
            <a:ext cx="996696" cy="420624"/>
          </a:xfrm>
          <a:prstGeom prst="rect">
            <a:avLst/>
          </a:prstGeom>
          <a:noFill/>
          <a:ln/>
        </p:spPr>
        <p:txBody>
          <a:bodyPr wrap="square" lIns="38100" tIns="38100" rIns="38100" bIns="38100" rtlCol="0" anchor="ctr"/>
          <a:lstStyle/>
          <a:p>
            <a:pPr algn="ctr" indent="0" marL="0">
              <a:buNone/>
            </a:pPr>
            <a:endParaRPr lang="en-US" sz="1300" dirty="0"/>
          </a:p>
        </p:txBody>
      </p:sp>
      <p:sp>
        <p:nvSpPr>
          <p:cNvPr id="13" name="Shape 11"/>
          <p:cNvSpPr/>
          <p:nvPr/>
        </p:nvSpPr>
        <p:spPr>
          <a:xfrm>
            <a:off x="502920" y="1719072"/>
            <a:ext cx="8129016" cy="0"/>
          </a:xfrm>
          <a:prstGeom prst="line">
            <a:avLst/>
          </a:prstGeom>
          <a:noFill/>
          <a:ln w="19050">
            <a:solidFill>
              <a:srgbClr val="322164"/>
            </a:solidFill>
            <a:prstDash val="solid"/>
          </a:ln>
        </p:spPr>
      </p:sp>
      <p:sp>
        <p:nvSpPr>
          <p:cNvPr id="14" name="Text 12"/>
          <p:cNvSpPr/>
          <p:nvPr/>
        </p:nvSpPr>
        <p:spPr>
          <a:xfrm>
            <a:off x="502920" y="1719072"/>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Base, chưa tinh chỉnh</a:t>
            </a:r>
            <a:endParaRPr lang="en-US" sz="1300" dirty="0"/>
          </a:p>
        </p:txBody>
      </p:sp>
      <p:sp>
        <p:nvSpPr>
          <p:cNvPr id="15" name="Text 13"/>
          <p:cNvSpPr/>
          <p:nvPr/>
        </p:nvSpPr>
        <p:spPr>
          <a:xfrm>
            <a:off x="4069080" y="1719072"/>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47,6</a:t>
            </a:r>
            <a:endParaRPr lang="en-US" sz="1300" dirty="0"/>
          </a:p>
        </p:txBody>
      </p:sp>
      <p:sp>
        <p:nvSpPr>
          <p:cNvPr id="16" name="Text 14"/>
          <p:cNvSpPr/>
          <p:nvPr/>
        </p:nvSpPr>
        <p:spPr>
          <a:xfrm>
            <a:off x="5623560" y="1719072"/>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[45,9 ; 49,3]</a:t>
            </a:r>
            <a:endParaRPr lang="en-US" sz="1300" dirty="0"/>
          </a:p>
        </p:txBody>
      </p:sp>
      <p:sp>
        <p:nvSpPr>
          <p:cNvPr id="17" name="Text 15"/>
          <p:cNvSpPr/>
          <p:nvPr/>
        </p:nvSpPr>
        <p:spPr>
          <a:xfrm>
            <a:off x="7635240" y="1719072"/>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18" name="Shape 16"/>
          <p:cNvSpPr/>
          <p:nvPr/>
        </p:nvSpPr>
        <p:spPr>
          <a:xfrm>
            <a:off x="502920" y="2121408"/>
            <a:ext cx="8129016" cy="0"/>
          </a:xfrm>
          <a:prstGeom prst="line">
            <a:avLst/>
          </a:prstGeom>
          <a:noFill/>
          <a:ln w="12700">
            <a:solidFill>
              <a:srgbClr val="9A94AE"/>
            </a:solidFill>
            <a:prstDash val="solid"/>
          </a:ln>
        </p:spPr>
      </p:sp>
      <p:sp>
        <p:nvSpPr>
          <p:cNvPr id="19" name="Text 17"/>
          <p:cNvSpPr/>
          <p:nvPr/>
        </p:nvSpPr>
        <p:spPr>
          <a:xfrm>
            <a:off x="502920" y="2121408"/>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S1, hạt giống 101</a:t>
            </a:r>
            <a:endParaRPr lang="en-US" sz="1300" dirty="0"/>
          </a:p>
        </p:txBody>
      </p:sp>
      <p:sp>
        <p:nvSpPr>
          <p:cNvPr id="20" name="Text 18"/>
          <p:cNvSpPr/>
          <p:nvPr/>
        </p:nvSpPr>
        <p:spPr>
          <a:xfrm>
            <a:off x="4069080" y="2121408"/>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59,1</a:t>
            </a:r>
            <a:endParaRPr lang="en-US" sz="1300" dirty="0"/>
          </a:p>
        </p:txBody>
      </p:sp>
      <p:sp>
        <p:nvSpPr>
          <p:cNvPr id="21" name="Text 19"/>
          <p:cNvSpPr/>
          <p:nvPr/>
        </p:nvSpPr>
        <p:spPr>
          <a:xfrm>
            <a:off x="5623560" y="2121408"/>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[57,3 ; 60,8]</a:t>
            </a:r>
            <a:endParaRPr lang="en-US" sz="1300" dirty="0"/>
          </a:p>
        </p:txBody>
      </p:sp>
      <p:sp>
        <p:nvSpPr>
          <p:cNvPr id="22" name="Text 20"/>
          <p:cNvSpPr/>
          <p:nvPr/>
        </p:nvSpPr>
        <p:spPr>
          <a:xfrm>
            <a:off x="7635240" y="2121408"/>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23" name="Shape 21"/>
          <p:cNvSpPr/>
          <p:nvPr/>
        </p:nvSpPr>
        <p:spPr>
          <a:xfrm>
            <a:off x="502920" y="2523744"/>
            <a:ext cx="8129016" cy="0"/>
          </a:xfrm>
          <a:prstGeom prst="line">
            <a:avLst/>
          </a:prstGeom>
          <a:noFill/>
          <a:ln w="12700">
            <a:solidFill>
              <a:srgbClr val="9A94AE"/>
            </a:solidFill>
            <a:prstDash val="solid"/>
          </a:ln>
        </p:spPr>
      </p:sp>
      <p:sp>
        <p:nvSpPr>
          <p:cNvPr id="24" name="Text 22"/>
          <p:cNvSpPr/>
          <p:nvPr/>
        </p:nvSpPr>
        <p:spPr>
          <a:xfrm>
            <a:off x="502920" y="2523744"/>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S1, hạt giống 202</a:t>
            </a:r>
            <a:endParaRPr lang="en-US" sz="1300" dirty="0"/>
          </a:p>
        </p:txBody>
      </p:sp>
      <p:sp>
        <p:nvSpPr>
          <p:cNvPr id="25" name="Text 23"/>
          <p:cNvSpPr/>
          <p:nvPr/>
        </p:nvSpPr>
        <p:spPr>
          <a:xfrm>
            <a:off x="4069080" y="2523744"/>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59,6</a:t>
            </a:r>
            <a:endParaRPr lang="en-US" sz="1300" dirty="0"/>
          </a:p>
        </p:txBody>
      </p:sp>
      <p:sp>
        <p:nvSpPr>
          <p:cNvPr id="26" name="Text 24"/>
          <p:cNvSpPr/>
          <p:nvPr/>
        </p:nvSpPr>
        <p:spPr>
          <a:xfrm>
            <a:off x="5623560" y="2523744"/>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[57,9 ; 61,3]</a:t>
            </a:r>
            <a:endParaRPr lang="en-US" sz="1300" dirty="0"/>
          </a:p>
        </p:txBody>
      </p:sp>
      <p:sp>
        <p:nvSpPr>
          <p:cNvPr id="27" name="Text 25"/>
          <p:cNvSpPr/>
          <p:nvPr/>
        </p:nvSpPr>
        <p:spPr>
          <a:xfrm>
            <a:off x="7635240" y="2523744"/>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28" name="Shape 26"/>
          <p:cNvSpPr/>
          <p:nvPr/>
        </p:nvSpPr>
        <p:spPr>
          <a:xfrm>
            <a:off x="502920" y="2926080"/>
            <a:ext cx="8129016" cy="0"/>
          </a:xfrm>
          <a:prstGeom prst="line">
            <a:avLst/>
          </a:prstGeom>
          <a:noFill/>
          <a:ln w="19050">
            <a:solidFill>
              <a:srgbClr val="322164"/>
            </a:solidFill>
            <a:prstDash val="solid"/>
          </a:ln>
        </p:spPr>
      </p:sp>
      <p:sp>
        <p:nvSpPr>
          <p:cNvPr id="29" name="Text 27"/>
          <p:cNvSpPr/>
          <p:nvPr/>
        </p:nvSpPr>
        <p:spPr>
          <a:xfrm>
            <a:off x="502920" y="2926080"/>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S2, khai báo trước</a:t>
            </a:r>
            <a:endParaRPr lang="en-US" sz="1300" dirty="0"/>
          </a:p>
        </p:txBody>
      </p:sp>
      <p:sp>
        <p:nvSpPr>
          <p:cNvPr id="30" name="Text 28"/>
          <p:cNvSpPr/>
          <p:nvPr/>
        </p:nvSpPr>
        <p:spPr>
          <a:xfrm>
            <a:off x="4069080" y="2926080"/>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57,2</a:t>
            </a:r>
            <a:endParaRPr lang="en-US" sz="1300" dirty="0"/>
          </a:p>
        </p:txBody>
      </p:sp>
      <p:sp>
        <p:nvSpPr>
          <p:cNvPr id="31" name="Text 29"/>
          <p:cNvSpPr/>
          <p:nvPr/>
        </p:nvSpPr>
        <p:spPr>
          <a:xfrm>
            <a:off x="5623560" y="2926080"/>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[55,4 ; 58,9]</a:t>
            </a:r>
            <a:endParaRPr lang="en-US" sz="1300" dirty="0"/>
          </a:p>
        </p:txBody>
      </p:sp>
      <p:sp>
        <p:nvSpPr>
          <p:cNvPr id="32" name="Text 30"/>
          <p:cNvSpPr/>
          <p:nvPr/>
        </p:nvSpPr>
        <p:spPr>
          <a:xfrm>
            <a:off x="7635240" y="2926080"/>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thăm dò</a:t>
            </a:r>
            <a:endParaRPr lang="en-US" sz="1300" dirty="0"/>
          </a:p>
        </p:txBody>
      </p:sp>
      <p:sp>
        <p:nvSpPr>
          <p:cNvPr id="33" name="Shape 31"/>
          <p:cNvSpPr/>
          <p:nvPr/>
        </p:nvSpPr>
        <p:spPr>
          <a:xfrm>
            <a:off x="502920" y="3328416"/>
            <a:ext cx="8129016" cy="0"/>
          </a:xfrm>
          <a:prstGeom prst="line">
            <a:avLst/>
          </a:prstGeom>
          <a:noFill/>
          <a:ln w="12700">
            <a:solidFill>
              <a:srgbClr val="9A94AE"/>
            </a:solidFill>
            <a:prstDash val="solid"/>
          </a:ln>
        </p:spPr>
      </p:sp>
      <p:sp>
        <p:nvSpPr>
          <p:cNvPr id="34" name="Text 32"/>
          <p:cNvSpPr/>
          <p:nvPr/>
        </p:nvSpPr>
        <p:spPr>
          <a:xfrm>
            <a:off x="502920" y="3328416"/>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CE2-S2, đối chứng</a:t>
            </a:r>
            <a:endParaRPr lang="en-US" sz="1300" dirty="0"/>
          </a:p>
        </p:txBody>
      </p:sp>
      <p:sp>
        <p:nvSpPr>
          <p:cNvPr id="35" name="Text 33"/>
          <p:cNvSpPr/>
          <p:nvPr/>
        </p:nvSpPr>
        <p:spPr>
          <a:xfrm>
            <a:off x="4069080" y="3328416"/>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59,4</a:t>
            </a:r>
            <a:endParaRPr lang="en-US" sz="1300" dirty="0"/>
          </a:p>
        </p:txBody>
      </p:sp>
      <p:sp>
        <p:nvSpPr>
          <p:cNvPr id="36" name="Text 34"/>
          <p:cNvSpPr/>
          <p:nvPr/>
        </p:nvSpPr>
        <p:spPr>
          <a:xfrm>
            <a:off x="5623560" y="3328416"/>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[57,7 ; 61,1]</a:t>
            </a:r>
            <a:endParaRPr lang="en-US" sz="1300" dirty="0"/>
          </a:p>
        </p:txBody>
      </p:sp>
      <p:sp>
        <p:nvSpPr>
          <p:cNvPr id="37" name="Text 35"/>
          <p:cNvSpPr/>
          <p:nvPr/>
        </p:nvSpPr>
        <p:spPr>
          <a:xfrm>
            <a:off x="7635240" y="3328416"/>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thăm dò</a:t>
            </a:r>
            <a:endParaRPr lang="en-US" sz="1300" dirty="0"/>
          </a:p>
        </p:txBody>
      </p:sp>
      <p:sp>
        <p:nvSpPr>
          <p:cNvPr id="38" name="Shape 36"/>
          <p:cNvSpPr/>
          <p:nvPr/>
        </p:nvSpPr>
        <p:spPr>
          <a:xfrm>
            <a:off x="502920" y="3730752"/>
            <a:ext cx="8129016" cy="0"/>
          </a:xfrm>
          <a:prstGeom prst="line">
            <a:avLst/>
          </a:prstGeom>
          <a:noFill/>
          <a:ln w="12700">
            <a:solidFill>
              <a:srgbClr val="9A94AE"/>
            </a:solidFill>
            <a:prstDash val="solid"/>
          </a:ln>
        </p:spPr>
      </p:sp>
      <p:sp>
        <p:nvSpPr>
          <p:cNvPr id="39" name="Text 37"/>
          <p:cNvSpPr/>
          <p:nvPr/>
        </p:nvSpPr>
        <p:spPr>
          <a:xfrm>
            <a:off x="502920" y="3730752"/>
            <a:ext cx="3566160" cy="402336"/>
          </a:xfrm>
          <a:prstGeom prst="rect">
            <a:avLst/>
          </a:prstGeom>
          <a:noFill/>
          <a:ln/>
        </p:spPr>
        <p:txBody>
          <a:bodyPr wrap="square" lIns="38100" tIns="38100" rIns="38100" bIns="38100" rtlCol="0" anchor="ctr"/>
          <a:lstStyle/>
          <a:p>
            <a:pPr algn="l" indent="0" marL="0">
              <a:buNone/>
            </a:pPr>
            <a:r>
              <a:rPr lang="en-US" sz="1300" b="1" dirty="0">
                <a:solidFill>
                  <a:srgbClr val="1A1A1A"/>
                </a:solidFill>
                <a:latin typeface="Cambria" pitchFamily="34" charset="0"/>
                <a:ea typeface="Cambria" pitchFamily="34" charset="-122"/>
                <a:cs typeface="Cambria" pitchFamily="34" charset="-120"/>
              </a:rPr>
              <a:t>MIN-DESC, mục tiêu ưu tiên</a:t>
            </a:r>
            <a:endParaRPr lang="en-US" sz="1300" dirty="0"/>
          </a:p>
        </p:txBody>
      </p:sp>
      <p:sp>
        <p:nvSpPr>
          <p:cNvPr id="40" name="Text 38"/>
          <p:cNvSpPr/>
          <p:nvPr/>
        </p:nvSpPr>
        <p:spPr>
          <a:xfrm>
            <a:off x="4069080" y="3730752"/>
            <a:ext cx="1554480" cy="402336"/>
          </a:xfrm>
          <a:prstGeom prst="rect">
            <a:avLst/>
          </a:prstGeom>
          <a:noFill/>
          <a:ln/>
        </p:spPr>
        <p:txBody>
          <a:bodyPr wrap="square" lIns="38100" tIns="38100" rIns="38100" bIns="38100" rtlCol="0" anchor="ctr"/>
          <a:lstStyle/>
          <a:p>
            <a:pPr algn="ctr" indent="0" marL="0">
              <a:buNone/>
            </a:pPr>
            <a:r>
              <a:rPr lang="en-US" sz="1300" b="1" dirty="0">
                <a:solidFill>
                  <a:srgbClr val="322164"/>
                </a:solidFill>
                <a:latin typeface="Cambria" pitchFamily="34" charset="0"/>
                <a:ea typeface="Cambria" pitchFamily="34" charset="-122"/>
                <a:cs typeface="Cambria" pitchFamily="34" charset="-120"/>
              </a:rPr>
              <a:t>60,0</a:t>
            </a:r>
            <a:endParaRPr lang="en-US" sz="1300" dirty="0"/>
          </a:p>
        </p:txBody>
      </p:sp>
      <p:sp>
        <p:nvSpPr>
          <p:cNvPr id="41" name="Text 39"/>
          <p:cNvSpPr/>
          <p:nvPr/>
        </p:nvSpPr>
        <p:spPr>
          <a:xfrm>
            <a:off x="5623560" y="3730752"/>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[58,3 ; 61,8]</a:t>
            </a:r>
            <a:endParaRPr lang="en-US" sz="1300" dirty="0"/>
          </a:p>
        </p:txBody>
      </p:sp>
      <p:sp>
        <p:nvSpPr>
          <p:cNvPr id="42" name="Text 40"/>
          <p:cNvSpPr/>
          <p:nvPr/>
        </p:nvSpPr>
        <p:spPr>
          <a:xfrm>
            <a:off x="7635240" y="3730752"/>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thăm dò</a:t>
            </a:r>
            <a:endParaRPr lang="en-US" sz="1300" dirty="0"/>
          </a:p>
        </p:txBody>
      </p:sp>
      <p:sp>
        <p:nvSpPr>
          <p:cNvPr id="43" name="Text 41"/>
          <p:cNvSpPr/>
          <p:nvPr/>
        </p:nvSpPr>
        <p:spPr>
          <a:xfrm>
            <a:off x="502920" y="3977640"/>
            <a:ext cx="8138160" cy="274320"/>
          </a:xfrm>
          <a:prstGeom prst="rect">
            <a:avLst/>
          </a:prstGeom>
          <a:noFill/>
          <a:ln/>
        </p:spPr>
        <p:txBody>
          <a:bodyPr wrap="square" lIns="0" tIns="0" rIns="0" bIns="0" rtlCol="0" anchor="t"/>
          <a:lstStyle/>
          <a:p>
            <a:pPr algn="l" indent="0" marL="0">
              <a:buNone/>
            </a:pPr>
            <a:r>
              <a:rPr lang="en-US" sz="1150" i="1" dirty="0">
                <a:solidFill>
                  <a:srgbClr val="5A5A66"/>
                </a:solidFill>
                <a:latin typeface="Cambria" pitchFamily="34" charset="0"/>
                <a:ea typeface="Cambria" pitchFamily="34" charset="-122"/>
                <a:cs typeface="Cambria" pitchFamily="34" charset="-120"/>
              </a:rPr>
              <a:t>Ba nhánh dưới vạch chỉ có một hạt giống.</a:t>
            </a:r>
            <a:endParaRPr lang="en-US" sz="1150" dirty="0"/>
          </a:p>
        </p:txBody>
      </p:sp>
      <p:sp>
        <p:nvSpPr>
          <p:cNvPr id="44" name="Shape 42"/>
          <p:cNvSpPr/>
          <p:nvPr/>
        </p:nvSpPr>
        <p:spPr>
          <a:xfrm>
            <a:off x="502920" y="438912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45" name="Text 43"/>
          <p:cNvSpPr/>
          <p:nvPr/>
        </p:nvSpPr>
        <p:spPr>
          <a:xfrm>
            <a:off x="685800" y="4526280"/>
            <a:ext cx="201168" cy="54864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46" name="Text 44"/>
          <p:cNvSpPr/>
          <p:nvPr/>
        </p:nvSpPr>
        <p:spPr>
          <a:xfrm>
            <a:off x="914400" y="4526280"/>
            <a:ext cx="7543800" cy="502920"/>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Ba khoảng tin cậy của Base, S1 và trần rời nhau hoàn toàn</a:t>
            </a:r>
            <a:endParaRPr lang="en-US" sz="1350" dirty="0"/>
          </a:p>
        </p:txBody>
      </p:sp>
      <p:sp>
        <p:nvSpPr>
          <p:cNvPr id="47" name="Text 45"/>
          <p:cNvSpPr/>
          <p:nvPr/>
        </p:nvSpPr>
        <p:spPr>
          <a:xfrm>
            <a:off x="685800" y="5074920"/>
            <a:ext cx="201168" cy="54864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48" name="Text 46"/>
          <p:cNvSpPr/>
          <p:nvPr/>
        </p:nvSpPr>
        <p:spPr>
          <a:xfrm>
            <a:off x="914400" y="5074920"/>
            <a:ext cx="7543800" cy="502920"/>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Nhánh nền chưa sát trần, nên vẫn còn khoảng trống cho can thiệp</a:t>
            </a:r>
            <a:endParaRPr lang="en-US" sz="1350" dirty="0"/>
          </a:p>
        </p:txBody>
      </p:sp>
      <p:sp>
        <p:nvSpPr>
          <p:cNvPr id="50" name="Shape 47"/>
          <p:cNvSpPr/>
          <p:nvPr/>
        </p:nvSpPr>
        <p:spPr>
          <a:xfrm>
            <a:off x="0" y="6620256"/>
            <a:ext cx="2743200" cy="237744"/>
          </a:xfrm>
          <a:prstGeom prst="rect">
            <a:avLst/>
          </a:prstGeom>
          <a:solidFill>
            <a:srgbClr val="191132"/>
          </a:solidFill>
          <a:ln/>
        </p:spPr>
      </p:sp>
      <p:sp>
        <p:nvSpPr>
          <p:cNvPr id="51" name="Shape 48"/>
          <p:cNvSpPr/>
          <p:nvPr/>
        </p:nvSpPr>
        <p:spPr>
          <a:xfrm>
            <a:off x="2743200" y="6620256"/>
            <a:ext cx="3383280" cy="237744"/>
          </a:xfrm>
          <a:prstGeom prst="rect">
            <a:avLst/>
          </a:prstGeom>
          <a:solidFill>
            <a:srgbClr val="25194B"/>
          </a:solidFill>
          <a:ln/>
        </p:spPr>
      </p:sp>
      <p:sp>
        <p:nvSpPr>
          <p:cNvPr id="52" name="Shape 49"/>
          <p:cNvSpPr/>
          <p:nvPr/>
        </p:nvSpPr>
        <p:spPr>
          <a:xfrm>
            <a:off x="6126480" y="6620256"/>
            <a:ext cx="1737360" cy="237744"/>
          </a:xfrm>
          <a:prstGeom prst="rect">
            <a:avLst/>
          </a:prstGeom>
          <a:solidFill>
            <a:srgbClr val="4F417A"/>
          </a:solidFill>
          <a:ln/>
        </p:spPr>
      </p:sp>
      <p:sp>
        <p:nvSpPr>
          <p:cNvPr id="53" name="Shape 50"/>
          <p:cNvSpPr/>
          <p:nvPr/>
        </p:nvSpPr>
        <p:spPr>
          <a:xfrm>
            <a:off x="7863840" y="6620256"/>
            <a:ext cx="1280160" cy="237744"/>
          </a:xfrm>
          <a:prstGeom prst="rect">
            <a:avLst/>
          </a:prstGeom>
          <a:solidFill>
            <a:srgbClr val="7A7099"/>
          </a:solidFill>
          <a:ln/>
        </p:spPr>
      </p:sp>
      <p:sp>
        <p:nvSpPr>
          <p:cNvPr id="54" name="Text 5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5" name="Text 5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56" name="Text 5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7" name="Text 5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16/25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So sánh ghép cặp và các cách giải thích thay thế</a:t>
            </a:r>
            <a:endParaRPr lang="en-US" sz="1900" dirty="0"/>
          </a:p>
        </p:txBody>
      </p:sp>
      <p:sp>
        <p:nvSpPr>
          <p:cNvPr id="4" name="Shape 2"/>
          <p:cNvSpPr/>
          <p:nvPr/>
        </p:nvSpPr>
        <p:spPr>
          <a:xfrm>
            <a:off x="502920" y="868680"/>
            <a:ext cx="8129016" cy="365760"/>
          </a:xfrm>
          <a:prstGeom prst="rect">
            <a:avLst/>
          </a:prstGeom>
          <a:solidFill>
            <a:srgbClr val="322164"/>
          </a:solidFill>
          <a:ln/>
        </p:spPr>
      </p:sp>
      <p:sp>
        <p:nvSpPr>
          <p:cNvPr id="5" name="Text 3"/>
          <p:cNvSpPr/>
          <p:nvPr/>
        </p:nvSpPr>
        <p:spPr>
          <a:xfrm>
            <a:off x="502920" y="868680"/>
            <a:ext cx="3108960"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Phép so (McNemar)</a:t>
            </a:r>
            <a:endParaRPr lang="en-US" sz="1250" dirty="0"/>
          </a:p>
        </p:txBody>
      </p:sp>
      <p:sp>
        <p:nvSpPr>
          <p:cNvPr id="6" name="Text 4"/>
          <p:cNvSpPr/>
          <p:nvPr/>
        </p:nvSpPr>
        <p:spPr>
          <a:xfrm>
            <a:off x="3611880" y="868680"/>
            <a:ext cx="1371600"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Δ</a:t>
            </a:r>
            <a:endParaRPr lang="en-US" sz="1250" dirty="0"/>
          </a:p>
        </p:txBody>
      </p:sp>
      <p:sp>
        <p:nvSpPr>
          <p:cNvPr id="7" name="Text 5"/>
          <p:cNvSpPr/>
          <p:nvPr/>
        </p:nvSpPr>
        <p:spPr>
          <a:xfrm>
            <a:off x="4983480" y="868680"/>
            <a:ext cx="2011680"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KTC 95%</a:t>
            </a:r>
            <a:endParaRPr lang="en-US" sz="1250" dirty="0"/>
          </a:p>
        </p:txBody>
      </p:sp>
      <p:sp>
        <p:nvSpPr>
          <p:cNvPr id="8" name="Text 6"/>
          <p:cNvSpPr/>
          <p:nvPr/>
        </p:nvSpPr>
        <p:spPr>
          <a:xfrm>
            <a:off x="6995160" y="868680"/>
            <a:ext cx="1636776"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p</a:t>
            </a:r>
            <a:endParaRPr lang="en-US" sz="1250" dirty="0"/>
          </a:p>
        </p:txBody>
      </p:sp>
      <p:sp>
        <p:nvSpPr>
          <p:cNvPr id="9" name="Text 7"/>
          <p:cNvSpPr/>
          <p:nvPr/>
        </p:nvSpPr>
        <p:spPr>
          <a:xfrm>
            <a:off x="502920" y="1234440"/>
            <a:ext cx="3108960" cy="402336"/>
          </a:xfrm>
          <a:prstGeom prst="rect">
            <a:avLst/>
          </a:prstGeom>
          <a:noFill/>
          <a:ln/>
        </p:spPr>
        <p:txBody>
          <a:bodyPr wrap="square" lIns="38100" tIns="38100" rIns="38100" bIns="38100" rtlCol="0" anchor="ctr"/>
          <a:lstStyle/>
          <a:p>
            <a:pPr algn="l" indent="0" marL="0">
              <a:buNone/>
            </a:pPr>
            <a:r>
              <a:rPr lang="en-US" sz="1300" b="1" dirty="0">
                <a:solidFill>
                  <a:srgbClr val="1A1A1A"/>
                </a:solidFill>
                <a:latin typeface="Cambria" pitchFamily="34" charset="0"/>
                <a:ea typeface="Cambria" pitchFamily="34" charset="-122"/>
                <a:cs typeface="Cambria" pitchFamily="34" charset="-120"/>
              </a:rPr>
              <a:t>S1 − Base</a:t>
            </a:r>
            <a:endParaRPr lang="en-US" sz="1300" dirty="0"/>
          </a:p>
        </p:txBody>
      </p:sp>
      <p:sp>
        <p:nvSpPr>
          <p:cNvPr id="10" name="Text 8"/>
          <p:cNvSpPr/>
          <p:nvPr/>
        </p:nvSpPr>
        <p:spPr>
          <a:xfrm>
            <a:off x="3611880" y="1234440"/>
            <a:ext cx="1371600" cy="402336"/>
          </a:xfrm>
          <a:prstGeom prst="rect">
            <a:avLst/>
          </a:prstGeom>
          <a:noFill/>
          <a:ln/>
        </p:spPr>
        <p:txBody>
          <a:bodyPr wrap="square" lIns="38100" tIns="38100" rIns="38100" bIns="38100" rtlCol="0" anchor="ctr"/>
          <a:lstStyle/>
          <a:p>
            <a:pPr algn="ctr" indent="0" marL="0">
              <a:buNone/>
            </a:pPr>
            <a:r>
              <a:rPr lang="en-US" sz="1300" b="1" dirty="0">
                <a:solidFill>
                  <a:srgbClr val="006666"/>
                </a:solidFill>
                <a:latin typeface="Cambria" pitchFamily="34" charset="0"/>
                <a:ea typeface="Cambria" pitchFamily="34" charset="-122"/>
                <a:cs typeface="Cambria" pitchFamily="34" charset="-120"/>
              </a:rPr>
              <a:t>+11,5</a:t>
            </a:r>
            <a:endParaRPr lang="en-US" sz="1300" dirty="0"/>
          </a:p>
        </p:txBody>
      </p:sp>
      <p:sp>
        <p:nvSpPr>
          <p:cNvPr id="11" name="Text 9"/>
          <p:cNvSpPr/>
          <p:nvPr/>
        </p:nvSpPr>
        <p:spPr>
          <a:xfrm>
            <a:off x="4983480" y="1234440"/>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[+10,0 ; +13,1]</a:t>
            </a:r>
            <a:endParaRPr lang="en-US" sz="1300" dirty="0"/>
          </a:p>
        </p:txBody>
      </p:sp>
      <p:sp>
        <p:nvSpPr>
          <p:cNvPr id="12" name="Text 10"/>
          <p:cNvSpPr/>
          <p:nvPr/>
        </p:nvSpPr>
        <p:spPr>
          <a:xfrm>
            <a:off x="6995160" y="1234440"/>
            <a:ext cx="1636776"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&lt;0,001</a:t>
            </a:r>
            <a:endParaRPr lang="en-US" sz="1300" dirty="0"/>
          </a:p>
        </p:txBody>
      </p:sp>
      <p:sp>
        <p:nvSpPr>
          <p:cNvPr id="13" name="Shape 11"/>
          <p:cNvSpPr/>
          <p:nvPr/>
        </p:nvSpPr>
        <p:spPr>
          <a:xfrm>
            <a:off x="502920" y="1636776"/>
            <a:ext cx="8129016" cy="0"/>
          </a:xfrm>
          <a:prstGeom prst="line">
            <a:avLst/>
          </a:prstGeom>
          <a:noFill/>
          <a:ln w="12700">
            <a:solidFill>
              <a:srgbClr val="9A94AE"/>
            </a:solidFill>
            <a:prstDash val="solid"/>
          </a:ln>
        </p:spPr>
      </p:sp>
      <p:sp>
        <p:nvSpPr>
          <p:cNvPr id="14" name="Text 12"/>
          <p:cNvSpPr/>
          <p:nvPr/>
        </p:nvSpPr>
        <p:spPr>
          <a:xfrm>
            <a:off x="502920" y="1636776"/>
            <a:ext cx="3108960" cy="384048"/>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Trần − S1</a:t>
            </a:r>
            <a:endParaRPr lang="en-US" sz="1300" dirty="0"/>
          </a:p>
        </p:txBody>
      </p:sp>
      <p:sp>
        <p:nvSpPr>
          <p:cNvPr id="15" name="Text 13"/>
          <p:cNvSpPr/>
          <p:nvPr/>
        </p:nvSpPr>
        <p:spPr>
          <a:xfrm>
            <a:off x="3611880" y="1636776"/>
            <a:ext cx="137160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+16,6</a:t>
            </a:r>
            <a:endParaRPr lang="en-US" sz="1300" dirty="0"/>
          </a:p>
        </p:txBody>
      </p:sp>
      <p:sp>
        <p:nvSpPr>
          <p:cNvPr id="16" name="Text 14"/>
          <p:cNvSpPr/>
          <p:nvPr/>
        </p:nvSpPr>
        <p:spPr>
          <a:xfrm>
            <a:off x="4983480" y="1636776"/>
            <a:ext cx="201168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a:t>
            </a:r>
            <a:endParaRPr lang="en-US" sz="1300" dirty="0"/>
          </a:p>
        </p:txBody>
      </p:sp>
      <p:sp>
        <p:nvSpPr>
          <p:cNvPr id="17" name="Text 15"/>
          <p:cNvSpPr/>
          <p:nvPr/>
        </p:nvSpPr>
        <p:spPr>
          <a:xfrm>
            <a:off x="6995160" y="1636776"/>
            <a:ext cx="1636776"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&lt;0,001</a:t>
            </a:r>
            <a:endParaRPr lang="en-US" sz="1300" dirty="0"/>
          </a:p>
        </p:txBody>
      </p:sp>
      <p:sp>
        <p:nvSpPr>
          <p:cNvPr id="18" name="Shape 16"/>
          <p:cNvSpPr/>
          <p:nvPr/>
        </p:nvSpPr>
        <p:spPr>
          <a:xfrm>
            <a:off x="502920" y="2020824"/>
            <a:ext cx="8129016" cy="0"/>
          </a:xfrm>
          <a:prstGeom prst="line">
            <a:avLst/>
          </a:prstGeom>
          <a:noFill/>
          <a:ln w="12700">
            <a:solidFill>
              <a:srgbClr val="9A94AE"/>
            </a:solidFill>
            <a:prstDash val="solid"/>
          </a:ln>
        </p:spPr>
      </p:sp>
      <p:sp>
        <p:nvSpPr>
          <p:cNvPr id="19" name="Text 17"/>
          <p:cNvSpPr/>
          <p:nvPr/>
        </p:nvSpPr>
        <p:spPr>
          <a:xfrm>
            <a:off x="502920" y="2020824"/>
            <a:ext cx="3108960" cy="384048"/>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Nhiễu giữa hai hạt giống</a:t>
            </a:r>
            <a:endParaRPr lang="en-US" sz="1300" dirty="0"/>
          </a:p>
        </p:txBody>
      </p:sp>
      <p:sp>
        <p:nvSpPr>
          <p:cNvPr id="20" name="Text 18"/>
          <p:cNvSpPr/>
          <p:nvPr/>
        </p:nvSpPr>
        <p:spPr>
          <a:xfrm>
            <a:off x="3611880" y="2020824"/>
            <a:ext cx="137160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+0,52</a:t>
            </a:r>
            <a:endParaRPr lang="en-US" sz="1300" dirty="0"/>
          </a:p>
        </p:txBody>
      </p:sp>
      <p:sp>
        <p:nvSpPr>
          <p:cNvPr id="21" name="Text 19"/>
          <p:cNvSpPr/>
          <p:nvPr/>
        </p:nvSpPr>
        <p:spPr>
          <a:xfrm>
            <a:off x="4983480" y="2020824"/>
            <a:ext cx="201168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[−0,22 ; +1,26]</a:t>
            </a:r>
            <a:endParaRPr lang="en-US" sz="1300" dirty="0"/>
          </a:p>
        </p:txBody>
      </p:sp>
      <p:sp>
        <p:nvSpPr>
          <p:cNvPr id="22" name="Text 20"/>
          <p:cNvSpPr/>
          <p:nvPr/>
        </p:nvSpPr>
        <p:spPr>
          <a:xfrm>
            <a:off x="6995160" y="2020824"/>
            <a:ext cx="1636776"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0,194</a:t>
            </a:r>
            <a:endParaRPr lang="en-US" sz="1300" dirty="0"/>
          </a:p>
        </p:txBody>
      </p:sp>
      <p:sp>
        <p:nvSpPr>
          <p:cNvPr id="23" name="Text 21"/>
          <p:cNvSpPr/>
          <p:nvPr/>
        </p:nvSpPr>
        <p:spPr>
          <a:xfrm>
            <a:off x="502920" y="2578608"/>
            <a:ext cx="8138160" cy="548640"/>
          </a:xfrm>
          <a:prstGeom prst="rect">
            <a:avLst/>
          </a:prstGeom>
          <a:noFill/>
          <a:ln/>
        </p:spPr>
        <p:txBody>
          <a:bodyPr wrap="square" lIns="0" tIns="0" rIns="0" bIns="0" rtlCol="0" anchor="t"/>
          <a:lstStyle/>
          <a:p>
            <a:pPr algn="l" indent="0" marL="0">
              <a:lnSpc>
                <a:spcPct val="130000"/>
              </a:lnSpc>
              <a:buNone/>
            </a:pPr>
            <a:r>
              <a:rPr lang="en-US" sz="1350" b="1" dirty="0">
                <a:solidFill>
                  <a:srgbClr val="322164"/>
                </a:solidFill>
                <a:latin typeface="Cambria" pitchFamily="34" charset="0"/>
                <a:ea typeface="Cambria" pitchFamily="34" charset="-122"/>
                <a:cs typeface="Cambria" pitchFamily="34" charset="-120"/>
              </a:rPr>
              <a:t>Tín hiệu gấp 22 lần nhiễu. Bỏ hết bước mô hình chép nguyên câu chuẩn thì khoảng cách vẫn còn 8,4 điểm.</a:t>
            </a:r>
            <a:endParaRPr lang="en-US" sz="1350" dirty="0"/>
          </a:p>
        </p:txBody>
      </p:sp>
      <p:sp>
        <p:nvSpPr>
          <p:cNvPr id="24" name="Text 22"/>
          <p:cNvSpPr/>
          <p:nvPr/>
        </p:nvSpPr>
        <p:spPr>
          <a:xfrm>
            <a:off x="502920" y="3200400"/>
            <a:ext cx="813816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Sáu cách giải thích thay thế đã kiểm</a:t>
            </a:r>
            <a:endParaRPr lang="en-US" sz="1350" dirty="0"/>
          </a:p>
        </p:txBody>
      </p:sp>
      <p:sp>
        <p:nvSpPr>
          <p:cNvPr id="25" name="Shape 23"/>
          <p:cNvSpPr/>
          <p:nvPr/>
        </p:nvSpPr>
        <p:spPr>
          <a:xfrm>
            <a:off x="502920" y="3611880"/>
            <a:ext cx="4023360" cy="493776"/>
          </a:xfrm>
          <a:prstGeom prst="roundRect">
            <a:avLst>
              <a:gd name="adj" fmla="val 7407"/>
            </a:avLst>
          </a:prstGeom>
          <a:solidFill>
            <a:srgbClr val="E9E8EC"/>
          </a:solidFill>
          <a:ln/>
        </p:spPr>
      </p:sp>
      <p:sp>
        <p:nvSpPr>
          <p:cNvPr id="26" name="Text 24"/>
          <p:cNvSpPr/>
          <p:nvPr/>
        </p:nvSpPr>
        <p:spPr>
          <a:xfrm>
            <a:off x="612648" y="3611880"/>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Chép lại câu chuẩn</a:t>
            </a:r>
            <a:endParaRPr lang="en-US" sz="1150" dirty="0"/>
          </a:p>
        </p:txBody>
      </p:sp>
      <p:sp>
        <p:nvSpPr>
          <p:cNvPr id="27" name="Text 25"/>
          <p:cNvSpPr/>
          <p:nvPr/>
        </p:nvSpPr>
        <p:spPr>
          <a:xfrm>
            <a:off x="2880360" y="3611880"/>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vẫn còn 8,4 điểm</a:t>
            </a:r>
            <a:endParaRPr lang="en-US" sz="1100" dirty="0"/>
          </a:p>
        </p:txBody>
      </p:sp>
      <p:sp>
        <p:nvSpPr>
          <p:cNvPr id="28" name="Shape 26"/>
          <p:cNvSpPr/>
          <p:nvPr/>
        </p:nvSpPr>
        <p:spPr>
          <a:xfrm>
            <a:off x="4572000" y="3611880"/>
            <a:ext cx="4023360" cy="493776"/>
          </a:xfrm>
          <a:prstGeom prst="roundRect">
            <a:avLst>
              <a:gd name="adj" fmla="val 7407"/>
            </a:avLst>
          </a:prstGeom>
          <a:solidFill>
            <a:srgbClr val="E9E8EC"/>
          </a:solidFill>
          <a:ln/>
        </p:spPr>
      </p:sp>
      <p:sp>
        <p:nvSpPr>
          <p:cNvPr id="29" name="Text 27"/>
          <p:cNvSpPr/>
          <p:nvPr/>
        </p:nvSpPr>
        <p:spPr>
          <a:xfrm>
            <a:off x="4681728" y="3611880"/>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Thiên vị độ dài câu</a:t>
            </a:r>
            <a:endParaRPr lang="en-US" sz="1150" dirty="0"/>
          </a:p>
        </p:txBody>
      </p:sp>
      <p:sp>
        <p:nvSpPr>
          <p:cNvPr id="30" name="Text 28"/>
          <p:cNvSpPr/>
          <p:nvPr/>
        </p:nvSpPr>
        <p:spPr>
          <a:xfrm>
            <a:off x="6949440" y="3611880"/>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nghiêng về phía Base</a:t>
            </a:r>
            <a:endParaRPr lang="en-US" sz="1100" dirty="0"/>
          </a:p>
        </p:txBody>
      </p:sp>
      <p:sp>
        <p:nvSpPr>
          <p:cNvPr id="31" name="Shape 29"/>
          <p:cNvSpPr/>
          <p:nvPr/>
        </p:nvSpPr>
        <p:spPr>
          <a:xfrm>
            <a:off x="502920" y="4178808"/>
            <a:ext cx="4023360" cy="493776"/>
          </a:xfrm>
          <a:prstGeom prst="roundRect">
            <a:avLst>
              <a:gd name="adj" fmla="val 7407"/>
            </a:avLst>
          </a:prstGeom>
          <a:solidFill>
            <a:srgbClr val="E9E8EC"/>
          </a:solidFill>
          <a:ln/>
        </p:spPr>
      </p:sp>
      <p:sp>
        <p:nvSpPr>
          <p:cNvPr id="32" name="Text 30"/>
          <p:cNvSpPr/>
          <p:nvPr/>
        </p:nvSpPr>
        <p:spPr>
          <a:xfrm>
            <a:off x="612648" y="4178808"/>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Trùng ứng dụng dạy và kiểm</a:t>
            </a:r>
            <a:endParaRPr lang="en-US" sz="1150" dirty="0"/>
          </a:p>
        </p:txBody>
      </p:sp>
      <p:sp>
        <p:nvSpPr>
          <p:cNvPr id="33" name="Text 31"/>
          <p:cNvSpPr/>
          <p:nvPr/>
        </p:nvSpPr>
        <p:spPr>
          <a:xfrm>
            <a:off x="2880360" y="4178808"/>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không thấy ảnh hưởng</a:t>
            </a:r>
            <a:endParaRPr lang="en-US" sz="1100" dirty="0"/>
          </a:p>
        </p:txBody>
      </p:sp>
      <p:sp>
        <p:nvSpPr>
          <p:cNvPr id="34" name="Shape 32"/>
          <p:cNvSpPr/>
          <p:nvPr/>
        </p:nvSpPr>
        <p:spPr>
          <a:xfrm>
            <a:off x="4572000" y="4178808"/>
            <a:ext cx="4023360" cy="493776"/>
          </a:xfrm>
          <a:prstGeom prst="roundRect">
            <a:avLst>
              <a:gd name="adj" fmla="val 7407"/>
            </a:avLst>
          </a:prstGeom>
          <a:solidFill>
            <a:srgbClr val="E9E8EC"/>
          </a:solidFill>
          <a:ln/>
        </p:spPr>
      </p:sp>
      <p:sp>
        <p:nvSpPr>
          <p:cNvPr id="35" name="Text 33"/>
          <p:cNvSpPr/>
          <p:nvPr/>
        </p:nvSpPr>
        <p:spPr>
          <a:xfrm>
            <a:off x="4681728" y="4178808"/>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Luật chấm chọn có lợi</a:t>
            </a:r>
            <a:endParaRPr lang="en-US" sz="1150" dirty="0"/>
          </a:p>
        </p:txBody>
      </p:sp>
      <p:sp>
        <p:nvSpPr>
          <p:cNvPr id="36" name="Text 34"/>
          <p:cNvSpPr/>
          <p:nvPr/>
        </p:nvSpPr>
        <p:spPr>
          <a:xfrm>
            <a:off x="6949440" y="4178808"/>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năm luật không đổi thứ tự</a:t>
            </a:r>
            <a:endParaRPr lang="en-US" sz="1100" dirty="0"/>
          </a:p>
        </p:txBody>
      </p:sp>
      <p:sp>
        <p:nvSpPr>
          <p:cNvPr id="37" name="Shape 35"/>
          <p:cNvSpPr/>
          <p:nvPr/>
        </p:nvSpPr>
        <p:spPr>
          <a:xfrm>
            <a:off x="502920" y="4745736"/>
            <a:ext cx="4023360" cy="493776"/>
          </a:xfrm>
          <a:prstGeom prst="roundRect">
            <a:avLst>
              <a:gd name="adj" fmla="val 7407"/>
            </a:avLst>
          </a:prstGeom>
          <a:solidFill>
            <a:srgbClr val="E9E8EC"/>
          </a:solidFill>
          <a:ln/>
        </p:spPr>
      </p:sp>
      <p:sp>
        <p:nvSpPr>
          <p:cNvPr id="38" name="Text 36"/>
          <p:cNvSpPr/>
          <p:nvPr/>
        </p:nvSpPr>
        <p:spPr>
          <a:xfrm>
            <a:off x="612648" y="4745736"/>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Thước mong manh trước diễn đạt</a:t>
            </a:r>
            <a:endParaRPr lang="en-US" sz="1150" dirty="0"/>
          </a:p>
        </p:txBody>
      </p:sp>
      <p:sp>
        <p:nvSpPr>
          <p:cNvPr id="39" name="Text 37"/>
          <p:cNvSpPr/>
          <p:nvPr/>
        </p:nvSpPr>
        <p:spPr>
          <a:xfrm>
            <a:off x="2880360" y="4745736"/>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+0,35 trên 1.139 câu</a:t>
            </a:r>
            <a:endParaRPr lang="en-US" sz="1100" dirty="0"/>
          </a:p>
        </p:txBody>
      </p:sp>
      <p:sp>
        <p:nvSpPr>
          <p:cNvPr id="40" name="Shape 38"/>
          <p:cNvSpPr/>
          <p:nvPr/>
        </p:nvSpPr>
        <p:spPr>
          <a:xfrm>
            <a:off x="4572000" y="4745736"/>
            <a:ext cx="4023360" cy="493776"/>
          </a:xfrm>
          <a:prstGeom prst="roundRect">
            <a:avLst>
              <a:gd name="adj" fmla="val 7407"/>
            </a:avLst>
          </a:prstGeom>
          <a:solidFill>
            <a:srgbClr val="E9E8EC"/>
          </a:solidFill>
          <a:ln/>
        </p:spPr>
      </p:sp>
      <p:sp>
        <p:nvSpPr>
          <p:cNvPr id="41" name="Text 39"/>
          <p:cNvSpPr/>
          <p:nvPr/>
        </p:nvSpPr>
        <p:spPr>
          <a:xfrm>
            <a:off x="4681728" y="4745736"/>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Dụng cụ quen văn phong</a:t>
            </a:r>
            <a:endParaRPr lang="en-US" sz="1150" dirty="0"/>
          </a:p>
        </p:txBody>
      </p:sp>
      <p:sp>
        <p:nvSpPr>
          <p:cNvPr id="42" name="Text 40"/>
          <p:cNvSpPr/>
          <p:nvPr/>
        </p:nvSpPr>
        <p:spPr>
          <a:xfrm>
            <a:off x="6949440" y="4745736"/>
            <a:ext cx="1554480" cy="493776"/>
          </a:xfrm>
          <a:prstGeom prst="rect">
            <a:avLst/>
          </a:prstGeom>
          <a:noFill/>
          <a:ln/>
        </p:spPr>
        <p:txBody>
          <a:bodyPr wrap="square" lIns="0" tIns="0" rIns="0" bIns="0" rtlCol="0" anchor="ctr"/>
          <a:lstStyle/>
          <a:p>
            <a:pPr algn="r" indent="0" marL="0">
              <a:buNone/>
            </a:pPr>
            <a:r>
              <a:rPr lang="en-US" sz="1100" b="1" dirty="0">
                <a:solidFill>
                  <a:srgbClr val="990000"/>
                </a:solidFill>
                <a:latin typeface="Cambria" pitchFamily="34" charset="0"/>
                <a:ea typeface="Cambria" pitchFamily="34" charset="-122"/>
                <a:cs typeface="Cambria" pitchFamily="34" charset="-120"/>
              </a:rPr>
              <a:t>chỉ đóng sau khi đổi dụng cụ</a:t>
            </a:r>
            <a:endParaRPr lang="en-US" sz="1100" dirty="0"/>
          </a:p>
        </p:txBody>
      </p:sp>
      <p:sp>
        <p:nvSpPr>
          <p:cNvPr id="44" name="Shape 41"/>
          <p:cNvSpPr/>
          <p:nvPr/>
        </p:nvSpPr>
        <p:spPr>
          <a:xfrm>
            <a:off x="0" y="6620256"/>
            <a:ext cx="2743200" cy="237744"/>
          </a:xfrm>
          <a:prstGeom prst="rect">
            <a:avLst/>
          </a:prstGeom>
          <a:solidFill>
            <a:srgbClr val="191132"/>
          </a:solidFill>
          <a:ln/>
        </p:spPr>
      </p:sp>
      <p:sp>
        <p:nvSpPr>
          <p:cNvPr id="45" name="Shape 42"/>
          <p:cNvSpPr/>
          <p:nvPr/>
        </p:nvSpPr>
        <p:spPr>
          <a:xfrm>
            <a:off x="2743200" y="6620256"/>
            <a:ext cx="3383280" cy="237744"/>
          </a:xfrm>
          <a:prstGeom prst="rect">
            <a:avLst/>
          </a:prstGeom>
          <a:solidFill>
            <a:srgbClr val="25194B"/>
          </a:solidFill>
          <a:ln/>
        </p:spPr>
      </p:sp>
      <p:sp>
        <p:nvSpPr>
          <p:cNvPr id="46" name="Shape 43"/>
          <p:cNvSpPr/>
          <p:nvPr/>
        </p:nvSpPr>
        <p:spPr>
          <a:xfrm>
            <a:off x="6126480" y="6620256"/>
            <a:ext cx="1737360" cy="237744"/>
          </a:xfrm>
          <a:prstGeom prst="rect">
            <a:avLst/>
          </a:prstGeom>
          <a:solidFill>
            <a:srgbClr val="4F417A"/>
          </a:solidFill>
          <a:ln/>
        </p:spPr>
      </p:sp>
      <p:sp>
        <p:nvSpPr>
          <p:cNvPr id="47" name="Shape 44"/>
          <p:cNvSpPr/>
          <p:nvPr/>
        </p:nvSpPr>
        <p:spPr>
          <a:xfrm>
            <a:off x="7863840" y="6620256"/>
            <a:ext cx="1280160" cy="237744"/>
          </a:xfrm>
          <a:prstGeom prst="rect">
            <a:avLst/>
          </a:prstGeom>
          <a:solidFill>
            <a:srgbClr val="7A7099"/>
          </a:solidFill>
          <a:ln/>
        </p:spPr>
      </p:sp>
      <p:sp>
        <p:nvSpPr>
          <p:cNvPr id="48" name="Text 4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9" name="Text 4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50" name="Text 4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1" name="Text 4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17/25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Nhánh khai báo: một kết quả thăm dò, không kết luận được</a:t>
            </a:r>
            <a:endParaRPr lang="en-US" sz="1900" dirty="0"/>
          </a:p>
        </p:txBody>
      </p:sp>
      <p:sp>
        <p:nvSpPr>
          <p:cNvPr id="4" name="Shape 2"/>
          <p:cNvSpPr/>
          <p:nvPr/>
        </p:nvSpPr>
        <p:spPr>
          <a:xfrm>
            <a:off x="502920" y="86868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868680"/>
            <a:ext cx="7680960" cy="914400"/>
          </a:xfrm>
          <a:prstGeom prst="rect">
            <a:avLst/>
          </a:prstGeom>
          <a:noFill/>
          <a:ln/>
        </p:spPr>
        <p:txBody>
          <a:bodyPr wrap="square" lIns="0" tIns="0" rIns="0" bIns="0" rtlCol="0" anchor="ctr"/>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S2 đạt 57,2%, thấp hơn nhánh nền 1,93 điểm.</a:t>
            </a:r>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  Độ lớn đó dưới mức phát hiện 2,2 nên đây là ô trắng.</a:t>
            </a:r>
            <a:endParaRPr lang="en-US" sz="1400" dirty="0"/>
          </a:p>
        </p:txBody>
      </p:sp>
      <p:sp>
        <p:nvSpPr>
          <p:cNvPr id="6" name="Text 4"/>
          <p:cNvSpPr/>
          <p:nvPr/>
        </p:nvSpPr>
        <p:spPr>
          <a:xfrm>
            <a:off x="502920" y="1965960"/>
            <a:ext cx="402336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Vì sao không kết luận được</a:t>
            </a:r>
            <a:endParaRPr lang="en-US" sz="1350" dirty="0"/>
          </a:p>
        </p:txBody>
      </p:sp>
      <p:sp>
        <p:nvSpPr>
          <p:cNvPr id="7" name="Text 5"/>
          <p:cNvSpPr/>
          <p:nvPr/>
        </p:nvSpPr>
        <p:spPr>
          <a:xfrm>
            <a:off x="502920" y="2377440"/>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8" name="Text 6"/>
          <p:cNvSpPr/>
          <p:nvPr/>
        </p:nvSpPr>
        <p:spPr>
          <a:xfrm>
            <a:off x="731520" y="2377440"/>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Đại lượng chính đòi hai hạt giống; hạt thứ hai bị huỷ vì ngân sách</a:t>
            </a:r>
            <a:endParaRPr lang="en-US" sz="1250" dirty="0"/>
          </a:p>
        </p:txBody>
      </p:sp>
      <p:sp>
        <p:nvSpPr>
          <p:cNvPr id="9" name="Text 7"/>
          <p:cNvSpPr/>
          <p:nvPr/>
        </p:nvSpPr>
        <p:spPr>
          <a:xfrm>
            <a:off x="502920" y="3090672"/>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0" name="Text 8"/>
          <p:cNvSpPr/>
          <p:nvPr/>
        </p:nvSpPr>
        <p:spPr>
          <a:xfrm>
            <a:off x="731520" y="3090672"/>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Luận văn không nói thành phần có tác dụng hay gây hại</a:t>
            </a:r>
            <a:endParaRPr lang="en-US" sz="1250" dirty="0"/>
          </a:p>
        </p:txBody>
      </p:sp>
      <p:sp>
        <p:nvSpPr>
          <p:cNvPr id="11" name="Text 9"/>
          <p:cNvSpPr/>
          <p:nvPr/>
        </p:nvSpPr>
        <p:spPr>
          <a:xfrm>
            <a:off x="502920" y="3803904"/>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2" name="Text 10"/>
          <p:cNvSpPr/>
          <p:nvPr/>
        </p:nvSpPr>
        <p:spPr>
          <a:xfrm>
            <a:off x="731520" y="3803904"/>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Cũng không lấy phép so khác để thế chỗ</a:t>
            </a:r>
            <a:endParaRPr lang="en-US" sz="1250" dirty="0"/>
          </a:p>
        </p:txBody>
      </p:sp>
      <p:sp>
        <p:nvSpPr>
          <p:cNvPr id="13" name="Text 11"/>
          <p:cNvSpPr/>
          <p:nvPr/>
        </p:nvSpPr>
        <p:spPr>
          <a:xfrm>
            <a:off x="4663440" y="1965960"/>
            <a:ext cx="397764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Chỗ thiệt hại nằm ở đâu</a:t>
            </a:r>
            <a:endParaRPr lang="en-US" sz="1350" dirty="0"/>
          </a:p>
        </p:txBody>
      </p:sp>
      <p:sp>
        <p:nvSpPr>
          <p:cNvPr id="14" name="Shape 12"/>
          <p:cNvSpPr/>
          <p:nvPr/>
        </p:nvSpPr>
        <p:spPr>
          <a:xfrm>
            <a:off x="4663440" y="2377440"/>
            <a:ext cx="3977640" cy="347472"/>
          </a:xfrm>
          <a:prstGeom prst="rect">
            <a:avLst/>
          </a:prstGeom>
          <a:solidFill>
            <a:srgbClr val="322164"/>
          </a:solidFill>
          <a:ln/>
        </p:spPr>
      </p:sp>
      <p:sp>
        <p:nvSpPr>
          <p:cNvPr id="15" name="Text 13"/>
          <p:cNvSpPr/>
          <p:nvPr/>
        </p:nvSpPr>
        <p:spPr>
          <a:xfrm>
            <a:off x="4663440" y="2377440"/>
            <a:ext cx="2011680" cy="347472"/>
          </a:xfrm>
          <a:prstGeom prst="rect">
            <a:avLst/>
          </a:prstGeom>
          <a:noFill/>
          <a:ln/>
        </p:spPr>
        <p:txBody>
          <a:bodyPr wrap="square" lIns="38100" tIns="38100" rIns="38100" bIns="38100" rtlCol="0" anchor="ctr"/>
          <a:lstStyle/>
          <a:p>
            <a:pPr algn="l" indent="0" marL="0">
              <a:buNone/>
            </a:pPr>
            <a:r>
              <a:rPr lang="en-US" sz="1100" b="1" dirty="0">
                <a:solidFill>
                  <a:srgbClr val="FFFFFF"/>
                </a:solidFill>
                <a:latin typeface="Cambria" pitchFamily="34" charset="0"/>
                <a:ea typeface="Cambria" pitchFamily="34" charset="-122"/>
                <a:cs typeface="Cambria" pitchFamily="34" charset="-120"/>
              </a:rPr>
              <a:t>Nhóm bước</a:t>
            </a:r>
            <a:endParaRPr lang="en-US" sz="1100" dirty="0"/>
          </a:p>
        </p:txBody>
      </p:sp>
      <p:sp>
        <p:nvSpPr>
          <p:cNvPr id="16" name="Text 14"/>
          <p:cNvSpPr/>
          <p:nvPr/>
        </p:nvSpPr>
        <p:spPr>
          <a:xfrm>
            <a:off x="6675120" y="2377440"/>
            <a:ext cx="64008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S1</a:t>
            </a:r>
            <a:endParaRPr lang="en-US" sz="1100" dirty="0"/>
          </a:p>
        </p:txBody>
      </p:sp>
      <p:sp>
        <p:nvSpPr>
          <p:cNvPr id="17" name="Text 15"/>
          <p:cNvSpPr/>
          <p:nvPr/>
        </p:nvSpPr>
        <p:spPr>
          <a:xfrm>
            <a:off x="7315200" y="2377440"/>
            <a:ext cx="64008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S2</a:t>
            </a:r>
            <a:endParaRPr lang="en-US" sz="1100" dirty="0"/>
          </a:p>
        </p:txBody>
      </p:sp>
      <p:sp>
        <p:nvSpPr>
          <p:cNvPr id="18" name="Text 16"/>
          <p:cNvSpPr/>
          <p:nvPr/>
        </p:nvSpPr>
        <p:spPr>
          <a:xfrm>
            <a:off x="7955280" y="2377440"/>
            <a:ext cx="68580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Δ</a:t>
            </a:r>
            <a:endParaRPr lang="en-US" sz="1100" dirty="0"/>
          </a:p>
        </p:txBody>
      </p:sp>
      <p:sp>
        <p:nvSpPr>
          <p:cNvPr id="19" name="Text 17"/>
          <p:cNvSpPr/>
          <p:nvPr/>
        </p:nvSpPr>
        <p:spPr>
          <a:xfrm>
            <a:off x="4663440" y="2724912"/>
            <a:ext cx="201168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Có sinh khai báo (4.138)</a:t>
            </a:r>
            <a:endParaRPr lang="en-US" sz="1150" dirty="0"/>
          </a:p>
        </p:txBody>
      </p:sp>
      <p:sp>
        <p:nvSpPr>
          <p:cNvPr id="20" name="Text 18"/>
          <p:cNvSpPr/>
          <p:nvPr/>
        </p:nvSpPr>
        <p:spPr>
          <a:xfrm>
            <a:off x="6675120" y="2724912"/>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62,2</a:t>
            </a:r>
            <a:endParaRPr lang="en-US" sz="1150" dirty="0"/>
          </a:p>
        </p:txBody>
      </p:sp>
      <p:sp>
        <p:nvSpPr>
          <p:cNvPr id="21" name="Text 19"/>
          <p:cNvSpPr/>
          <p:nvPr/>
        </p:nvSpPr>
        <p:spPr>
          <a:xfrm>
            <a:off x="7315200" y="2724912"/>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60,8</a:t>
            </a:r>
            <a:endParaRPr lang="en-US" sz="1150" dirty="0"/>
          </a:p>
        </p:txBody>
      </p:sp>
      <p:sp>
        <p:nvSpPr>
          <p:cNvPr id="22" name="Text 20"/>
          <p:cNvSpPr/>
          <p:nvPr/>
        </p:nvSpPr>
        <p:spPr>
          <a:xfrm>
            <a:off x="7955280" y="2724912"/>
            <a:ext cx="685800" cy="420624"/>
          </a:xfrm>
          <a:prstGeom prst="rect">
            <a:avLst/>
          </a:prstGeom>
          <a:noFill/>
          <a:ln/>
        </p:spPr>
        <p:txBody>
          <a:bodyPr wrap="square" lIns="38100" tIns="38100" rIns="38100" bIns="38100" rtlCol="0" anchor="ctr"/>
          <a:lstStyle/>
          <a:p>
            <a:pPr algn="ctr" indent="0" marL="0">
              <a:buNone/>
            </a:pPr>
            <a:r>
              <a:rPr lang="en-US" sz="1150" dirty="0">
                <a:solidFill>
                  <a:srgbClr val="990000"/>
                </a:solidFill>
                <a:latin typeface="Cambria" pitchFamily="34" charset="0"/>
                <a:ea typeface="Cambria" pitchFamily="34" charset="-122"/>
                <a:cs typeface="Cambria" pitchFamily="34" charset="-120"/>
              </a:rPr>
              <a:t>−1,38</a:t>
            </a:r>
            <a:endParaRPr lang="en-US" sz="1150" dirty="0"/>
          </a:p>
        </p:txBody>
      </p:sp>
      <p:sp>
        <p:nvSpPr>
          <p:cNvPr id="23" name="Shape 21"/>
          <p:cNvSpPr/>
          <p:nvPr/>
        </p:nvSpPr>
        <p:spPr>
          <a:xfrm>
            <a:off x="4663440" y="3145536"/>
            <a:ext cx="3977640" cy="0"/>
          </a:xfrm>
          <a:prstGeom prst="line">
            <a:avLst/>
          </a:prstGeom>
          <a:noFill/>
          <a:ln w="12700">
            <a:solidFill>
              <a:srgbClr val="9A94AE"/>
            </a:solidFill>
            <a:prstDash val="solid"/>
          </a:ln>
        </p:spPr>
      </p:sp>
      <p:sp>
        <p:nvSpPr>
          <p:cNvPr id="24" name="Text 22"/>
          <p:cNvSpPr/>
          <p:nvPr/>
        </p:nvSpPr>
        <p:spPr>
          <a:xfrm>
            <a:off x="4663440" y="3145536"/>
            <a:ext cx="2011680" cy="420624"/>
          </a:xfrm>
          <a:prstGeom prst="rect">
            <a:avLst/>
          </a:prstGeom>
          <a:noFill/>
          <a:ln/>
        </p:spPr>
        <p:txBody>
          <a:bodyPr wrap="square" lIns="38100" tIns="38100" rIns="38100" bIns="38100" rtlCol="0" anchor="ctr"/>
          <a:lstStyle/>
          <a:p>
            <a:pPr algn="l" indent="0" marL="0">
              <a:buNone/>
            </a:pPr>
            <a:r>
              <a:rPr lang="en-US" sz="1150" b="1" dirty="0">
                <a:solidFill>
                  <a:srgbClr val="1A1A1A"/>
                </a:solidFill>
                <a:latin typeface="Cambria" pitchFamily="34" charset="0"/>
                <a:ea typeface="Cambria" pitchFamily="34" charset="-122"/>
                <a:cs typeface="Cambria" pitchFamily="34" charset="-120"/>
              </a:rPr>
              <a:t>Không sinh (325)</a:t>
            </a:r>
            <a:endParaRPr lang="en-US" sz="1150" dirty="0"/>
          </a:p>
        </p:txBody>
      </p:sp>
      <p:sp>
        <p:nvSpPr>
          <p:cNvPr id="25" name="Text 23"/>
          <p:cNvSpPr/>
          <p:nvPr/>
        </p:nvSpPr>
        <p:spPr>
          <a:xfrm>
            <a:off x="6675120" y="3145536"/>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19,7</a:t>
            </a:r>
            <a:endParaRPr lang="en-US" sz="1150" dirty="0"/>
          </a:p>
        </p:txBody>
      </p:sp>
      <p:sp>
        <p:nvSpPr>
          <p:cNvPr id="26" name="Text 24"/>
          <p:cNvSpPr/>
          <p:nvPr/>
        </p:nvSpPr>
        <p:spPr>
          <a:xfrm>
            <a:off x="7315200" y="3145536"/>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10,8</a:t>
            </a:r>
            <a:endParaRPr lang="en-US" sz="1150" dirty="0"/>
          </a:p>
        </p:txBody>
      </p:sp>
      <p:sp>
        <p:nvSpPr>
          <p:cNvPr id="27" name="Text 25"/>
          <p:cNvSpPr/>
          <p:nvPr/>
        </p:nvSpPr>
        <p:spPr>
          <a:xfrm>
            <a:off x="7955280" y="3145536"/>
            <a:ext cx="68580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−8,92</a:t>
            </a:r>
            <a:endParaRPr lang="en-US" sz="1150" dirty="0"/>
          </a:p>
        </p:txBody>
      </p:sp>
      <p:sp>
        <p:nvSpPr>
          <p:cNvPr id="28" name="Text 26"/>
          <p:cNvSpPr/>
          <p:nvPr/>
        </p:nvSpPr>
        <p:spPr>
          <a:xfrm>
            <a:off x="4663440" y="3703320"/>
            <a:ext cx="3977640" cy="292608"/>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7,3% số bước gánh 34% chênh lệch.</a:t>
            </a:r>
            <a:endParaRPr lang="en-US" sz="1250" dirty="0"/>
          </a:p>
        </p:txBody>
      </p:sp>
      <p:sp>
        <p:nvSpPr>
          <p:cNvPr id="29" name="Shape 27"/>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30" name="Text 28"/>
          <p:cNvSpPr/>
          <p:nvPr/>
        </p:nvSpPr>
        <p:spPr>
          <a:xfrm>
            <a:off x="731520" y="4480560"/>
            <a:ext cx="7680960" cy="1188720"/>
          </a:xfrm>
          <a:prstGeom prst="rect">
            <a:avLst/>
          </a:prstGeom>
          <a:noFill/>
          <a:ln/>
        </p:spPr>
        <p:txBody>
          <a:bodyPr wrap="square" lIns="0" tIns="0" rIns="0" bIns="0" rtlCol="0" anchor="ctr"/>
          <a:lstStyle/>
          <a:p>
            <a:pPr algn="l" indent="0" marL="0">
              <a:lnSpc>
                <a:spcPct val="135000"/>
              </a:lnSpc>
              <a:buNone/>
            </a:pPr>
            <a:r>
              <a:rPr lang="en-US" sz="1300" b="1" dirty="0">
                <a:solidFill>
                  <a:srgbClr val="B22222"/>
                </a:solidFill>
                <a:latin typeface="Cambria" pitchFamily="34" charset="0"/>
                <a:ea typeface="Cambria" pitchFamily="34" charset="-122"/>
                <a:cs typeface="Cambria" pitchFamily="34" charset="-120"/>
              </a:rPr>
              <a:t>Tinh chỉnh có cái giá của nó.</a:t>
            </a:r>
            <a:pPr algn="l" indent="0" marL="0">
              <a:lnSpc>
                <a:spcPct val="135000"/>
              </a:lnSpc>
              <a:buNone/>
            </a:pPr>
            <a:r>
              <a:rPr lang="en-US" sz="1300" dirty="0">
                <a:solidFill>
                  <a:srgbClr val="1A1A1A"/>
                </a:solidFill>
                <a:latin typeface="Cambria" pitchFamily="34" charset="0"/>
                <a:ea typeface="Cambria" pitchFamily="34" charset="-122"/>
                <a:cs typeface="Cambria" pitchFamily="34" charset="-120"/>
              </a:rPr>
              <a:t>  Mô hình gốc gọi đúng loại thao tác nhiều hơn cả hai bản đã huấn luyện: 83,4% so với 55,1% và 38,8%.</a:t>
            </a:r>
            <a:endParaRPr lang="en-US" sz="1300" dirty="0"/>
          </a:p>
        </p:txBody>
      </p:sp>
      <p:sp>
        <p:nvSpPr>
          <p:cNvPr id="32" name="Shape 29"/>
          <p:cNvSpPr/>
          <p:nvPr/>
        </p:nvSpPr>
        <p:spPr>
          <a:xfrm>
            <a:off x="0" y="6620256"/>
            <a:ext cx="2743200" cy="237744"/>
          </a:xfrm>
          <a:prstGeom prst="rect">
            <a:avLst/>
          </a:prstGeom>
          <a:solidFill>
            <a:srgbClr val="191132"/>
          </a:solidFill>
          <a:ln/>
        </p:spPr>
      </p:sp>
      <p:sp>
        <p:nvSpPr>
          <p:cNvPr id="33" name="Shape 30"/>
          <p:cNvSpPr/>
          <p:nvPr/>
        </p:nvSpPr>
        <p:spPr>
          <a:xfrm>
            <a:off x="2743200" y="6620256"/>
            <a:ext cx="3383280" cy="237744"/>
          </a:xfrm>
          <a:prstGeom prst="rect">
            <a:avLst/>
          </a:prstGeom>
          <a:solidFill>
            <a:srgbClr val="25194B"/>
          </a:solidFill>
          <a:ln/>
        </p:spPr>
      </p:sp>
      <p:sp>
        <p:nvSpPr>
          <p:cNvPr id="34" name="Shape 31"/>
          <p:cNvSpPr/>
          <p:nvPr/>
        </p:nvSpPr>
        <p:spPr>
          <a:xfrm>
            <a:off x="6126480" y="6620256"/>
            <a:ext cx="1737360" cy="237744"/>
          </a:xfrm>
          <a:prstGeom prst="rect">
            <a:avLst/>
          </a:prstGeom>
          <a:solidFill>
            <a:srgbClr val="4F417A"/>
          </a:solidFill>
          <a:ln/>
        </p:spPr>
      </p:sp>
      <p:sp>
        <p:nvSpPr>
          <p:cNvPr id="35" name="Shape 32"/>
          <p:cNvSpPr/>
          <p:nvPr/>
        </p:nvSpPr>
        <p:spPr>
          <a:xfrm>
            <a:off x="7863840" y="6620256"/>
            <a:ext cx="1280160" cy="237744"/>
          </a:xfrm>
          <a:prstGeom prst="rect">
            <a:avLst/>
          </a:prstGeom>
          <a:solidFill>
            <a:srgbClr val="7A7099"/>
          </a:solidFill>
          <a:ln/>
        </p:spPr>
      </p:sp>
      <p:sp>
        <p:nvSpPr>
          <p:cNvPr id="36" name="Text 3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7" name="Text 3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8" name="Text 3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9" name="Text 3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18/25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Chặng hai: điểm cao nhất, nhưng phần lớn không thuộc mục tiêu ưu tiên</a:t>
            </a:r>
            <a:endParaRPr lang="en-US" sz="1900" dirty="0"/>
          </a:p>
        </p:txBody>
      </p:sp>
      <p:sp>
        <p:nvSpPr>
          <p:cNvPr id="4" name="Shape 2"/>
          <p:cNvSpPr/>
          <p:nvPr/>
        </p:nvSpPr>
        <p:spPr>
          <a:xfrm>
            <a:off x="1051560" y="960120"/>
            <a:ext cx="182880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1051560" y="1024128"/>
            <a:ext cx="1828800" cy="29260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S2</a:t>
            </a:r>
            <a:endParaRPr lang="en-US" sz="1300" dirty="0"/>
          </a:p>
        </p:txBody>
      </p:sp>
      <p:sp>
        <p:nvSpPr>
          <p:cNvPr id="6" name="Text 4"/>
          <p:cNvSpPr/>
          <p:nvPr/>
        </p:nvSpPr>
        <p:spPr>
          <a:xfrm>
            <a:off x="1051560" y="1353312"/>
            <a:ext cx="1828800" cy="411480"/>
          </a:xfrm>
          <a:prstGeom prst="rect">
            <a:avLst/>
          </a:prstGeom>
          <a:noFill/>
          <a:ln/>
        </p:spPr>
        <p:txBody>
          <a:bodyPr wrap="square" lIns="0" tIns="0" rIns="0" bIns="0" rtlCol="0" anchor="t"/>
          <a:lstStyle/>
          <a:p>
            <a:pPr algn="ctr" indent="0" marL="0">
              <a:buNone/>
            </a:pPr>
            <a:r>
              <a:rPr lang="en-US" sz="1900" b="1" dirty="0">
                <a:solidFill>
                  <a:srgbClr val="1A1A1A"/>
                </a:solidFill>
                <a:latin typeface="Cambria" pitchFamily="34" charset="0"/>
                <a:ea typeface="Cambria" pitchFamily="34" charset="-122"/>
                <a:cs typeface="Cambria" pitchFamily="34" charset="-120"/>
              </a:rPr>
              <a:t>57,2%</a:t>
            </a:r>
            <a:endParaRPr lang="en-US" sz="1900" dirty="0"/>
          </a:p>
        </p:txBody>
      </p:sp>
      <p:sp>
        <p:nvSpPr>
          <p:cNvPr id="7" name="Shape 5"/>
          <p:cNvSpPr/>
          <p:nvPr/>
        </p:nvSpPr>
        <p:spPr>
          <a:xfrm>
            <a:off x="2971800" y="1389888"/>
            <a:ext cx="640080" cy="0"/>
          </a:xfrm>
          <a:prstGeom prst="line">
            <a:avLst/>
          </a:prstGeom>
          <a:noFill/>
          <a:ln w="25400">
            <a:solidFill>
              <a:srgbClr val="4F417A"/>
            </a:solidFill>
            <a:prstDash val="solid"/>
            <a:tailEnd type="triangle"/>
          </a:ln>
        </p:spPr>
      </p:sp>
      <p:sp>
        <p:nvSpPr>
          <p:cNvPr id="8" name="Shape 6"/>
          <p:cNvSpPr/>
          <p:nvPr/>
        </p:nvSpPr>
        <p:spPr>
          <a:xfrm>
            <a:off x="3703320" y="960120"/>
            <a:ext cx="182880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3703320" y="1024128"/>
            <a:ext cx="1828800" cy="29260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CE2-S2</a:t>
            </a:r>
            <a:endParaRPr lang="en-US" sz="1300" dirty="0"/>
          </a:p>
        </p:txBody>
      </p:sp>
      <p:sp>
        <p:nvSpPr>
          <p:cNvPr id="10" name="Text 8"/>
          <p:cNvSpPr/>
          <p:nvPr/>
        </p:nvSpPr>
        <p:spPr>
          <a:xfrm>
            <a:off x="3703320" y="1353312"/>
            <a:ext cx="1828800" cy="411480"/>
          </a:xfrm>
          <a:prstGeom prst="rect">
            <a:avLst/>
          </a:prstGeom>
          <a:noFill/>
          <a:ln/>
        </p:spPr>
        <p:txBody>
          <a:bodyPr wrap="square" lIns="0" tIns="0" rIns="0" bIns="0" rtlCol="0" anchor="t"/>
          <a:lstStyle/>
          <a:p>
            <a:pPr algn="ctr" indent="0" marL="0">
              <a:buNone/>
            </a:pPr>
            <a:r>
              <a:rPr lang="en-US" sz="1900" b="1" dirty="0">
                <a:solidFill>
                  <a:srgbClr val="1A1A1A"/>
                </a:solidFill>
                <a:latin typeface="Cambria" pitchFamily="34" charset="0"/>
                <a:ea typeface="Cambria" pitchFamily="34" charset="-122"/>
                <a:cs typeface="Cambria" pitchFamily="34" charset="-120"/>
              </a:rPr>
              <a:t>59,4%</a:t>
            </a:r>
            <a:endParaRPr lang="en-US" sz="1900" dirty="0"/>
          </a:p>
        </p:txBody>
      </p:sp>
      <p:sp>
        <p:nvSpPr>
          <p:cNvPr id="11" name="Shape 9"/>
          <p:cNvSpPr/>
          <p:nvPr/>
        </p:nvSpPr>
        <p:spPr>
          <a:xfrm>
            <a:off x="5623560" y="1389888"/>
            <a:ext cx="640080" cy="0"/>
          </a:xfrm>
          <a:prstGeom prst="line">
            <a:avLst/>
          </a:prstGeom>
          <a:noFill/>
          <a:ln w="25400">
            <a:solidFill>
              <a:srgbClr val="4F417A"/>
            </a:solidFill>
            <a:prstDash val="solid"/>
            <a:tailEnd type="triangle"/>
          </a:ln>
        </p:spPr>
      </p:sp>
      <p:sp>
        <p:nvSpPr>
          <p:cNvPr id="12" name="Shape 10"/>
          <p:cNvSpPr/>
          <p:nvPr/>
        </p:nvSpPr>
        <p:spPr>
          <a:xfrm>
            <a:off x="6355080" y="960120"/>
            <a:ext cx="1828800" cy="868680"/>
          </a:xfrm>
          <a:prstGeom prst="roundRect">
            <a:avLst>
              <a:gd name="adj" fmla="val 6316"/>
            </a:avLst>
          </a:prstGeom>
          <a:solidFill>
            <a:srgbClr val="322164"/>
          </a:solidFill>
          <a:ln/>
          <a:effectLst>
            <a:outerShdw sx="100000" sy="100000" kx="0" ky="0" algn="bl" rotWithShape="0" blurRad="63500" dist="31750" dir="2700000">
              <a:srgbClr val="8C8C99">
                <a:alpha val="45000"/>
              </a:srgbClr>
            </a:outerShdw>
          </a:effectLst>
        </p:spPr>
      </p:sp>
      <p:sp>
        <p:nvSpPr>
          <p:cNvPr id="13" name="Text 11"/>
          <p:cNvSpPr/>
          <p:nvPr/>
        </p:nvSpPr>
        <p:spPr>
          <a:xfrm>
            <a:off x="6355080" y="1024128"/>
            <a:ext cx="1828800" cy="292608"/>
          </a:xfrm>
          <a:prstGeom prst="rect">
            <a:avLst/>
          </a:prstGeom>
          <a:noFill/>
          <a:ln/>
        </p:spPr>
        <p:txBody>
          <a:bodyPr wrap="square" lIns="0" tIns="0" rIns="0" bIns="0" rtlCol="0" anchor="t"/>
          <a:lstStyle/>
          <a:p>
            <a:pPr algn="ctr" indent="0" marL="0">
              <a:buNone/>
            </a:pPr>
            <a:r>
              <a:rPr lang="en-US" sz="1300" b="1" dirty="0">
                <a:solidFill>
                  <a:srgbClr val="FFFFFF"/>
                </a:solidFill>
                <a:latin typeface="Cambria" pitchFamily="34" charset="0"/>
                <a:ea typeface="Cambria" pitchFamily="34" charset="-122"/>
                <a:cs typeface="Cambria" pitchFamily="34" charset="-120"/>
              </a:rPr>
              <a:t>MIN-DESC</a:t>
            </a:r>
            <a:endParaRPr lang="en-US" sz="1300" dirty="0"/>
          </a:p>
        </p:txBody>
      </p:sp>
      <p:sp>
        <p:nvSpPr>
          <p:cNvPr id="14" name="Text 12"/>
          <p:cNvSpPr/>
          <p:nvPr/>
        </p:nvSpPr>
        <p:spPr>
          <a:xfrm>
            <a:off x="6355080" y="1353312"/>
            <a:ext cx="1828800" cy="411480"/>
          </a:xfrm>
          <a:prstGeom prst="rect">
            <a:avLst/>
          </a:prstGeom>
          <a:noFill/>
          <a:ln/>
        </p:spPr>
        <p:txBody>
          <a:bodyPr wrap="square" lIns="0" tIns="0" rIns="0" bIns="0" rtlCol="0" anchor="t"/>
          <a:lstStyle/>
          <a:p>
            <a:pPr algn="ctr" indent="0" marL="0">
              <a:buNone/>
            </a:pPr>
            <a:r>
              <a:rPr lang="en-US" sz="1900" b="1" dirty="0">
                <a:solidFill>
                  <a:srgbClr val="FFFFFF"/>
                </a:solidFill>
                <a:latin typeface="Cambria" pitchFamily="34" charset="0"/>
                <a:ea typeface="Cambria" pitchFamily="34" charset="-122"/>
                <a:cs typeface="Cambria" pitchFamily="34" charset="-120"/>
              </a:rPr>
              <a:t>60,0%</a:t>
            </a:r>
            <a:endParaRPr lang="en-US" sz="1900" dirty="0"/>
          </a:p>
        </p:txBody>
      </p:sp>
      <p:sp>
        <p:nvSpPr>
          <p:cNvPr id="15" name="Text 13"/>
          <p:cNvSpPr/>
          <p:nvPr/>
        </p:nvSpPr>
        <p:spPr>
          <a:xfrm>
            <a:off x="2880360" y="1901952"/>
            <a:ext cx="1828800" cy="566928"/>
          </a:xfrm>
          <a:prstGeom prst="rect">
            <a:avLst/>
          </a:prstGeom>
          <a:noFill/>
          <a:ln/>
        </p:spPr>
        <p:txBody>
          <a:bodyPr wrap="square" lIns="0" tIns="0" rIns="0" bIns="0" rtlCol="0" anchor="t"/>
          <a:lstStyle/>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+2,24</a:t>
            </a:r>
            <a:endParaRPr lang="en-US" sz="1150" dirty="0"/>
          </a:p>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học có giám sát thuần</a:t>
            </a:r>
            <a:endParaRPr lang="en-US" sz="1150" dirty="0"/>
          </a:p>
        </p:txBody>
      </p:sp>
      <p:sp>
        <p:nvSpPr>
          <p:cNvPr id="16" name="Text 14"/>
          <p:cNvSpPr/>
          <p:nvPr/>
        </p:nvSpPr>
        <p:spPr>
          <a:xfrm>
            <a:off x="5532120" y="1901952"/>
            <a:ext cx="1828800" cy="566928"/>
          </a:xfrm>
          <a:prstGeom prst="rect">
            <a:avLst/>
          </a:prstGeom>
          <a:noFill/>
          <a:ln/>
        </p:spPr>
        <p:txBody>
          <a:bodyPr wrap="square" lIns="0" tIns="0" rIns="0" bIns="0" rtlCol="0" anchor="t"/>
          <a:lstStyle/>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+0,63</a:t>
            </a:r>
            <a:endParaRPr lang="en-US" sz="1150" dirty="0"/>
          </a:p>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riêng mục tiêu ưu tiên</a:t>
            </a:r>
            <a:endParaRPr lang="en-US" sz="1150" dirty="0"/>
          </a:p>
        </p:txBody>
      </p:sp>
      <p:sp>
        <p:nvSpPr>
          <p:cNvPr id="17" name="Shape 15"/>
          <p:cNvSpPr/>
          <p:nvPr/>
        </p:nvSpPr>
        <p:spPr>
          <a:xfrm>
            <a:off x="502920" y="2651760"/>
            <a:ext cx="8138160" cy="685800"/>
          </a:xfrm>
          <a:prstGeom prst="roundRect">
            <a:avLst>
              <a:gd name="adj" fmla="val 8000"/>
            </a:avLst>
          </a:prstGeom>
          <a:solidFill>
            <a:srgbClr val="E9E8EC"/>
          </a:solidFill>
          <a:ln/>
          <a:effectLst>
            <a:outerShdw sx="100000" sy="100000" kx="0" ky="0" algn="bl" rotWithShape="0" blurRad="63500" dist="31750" dir="2700000">
              <a:srgbClr val="8C8C99">
                <a:alpha val="45000"/>
              </a:srgbClr>
            </a:outerShdw>
          </a:effectLst>
        </p:spPr>
      </p:sp>
      <p:sp>
        <p:nvSpPr>
          <p:cNvPr id="18" name="Text 16"/>
          <p:cNvSpPr/>
          <p:nvPr/>
        </p:nvSpPr>
        <p:spPr>
          <a:xfrm>
            <a:off x="731520" y="2651760"/>
            <a:ext cx="7680960" cy="685800"/>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78% mức tăng thuộc về nhánh đối chứng. Đo ở tầng khai báo, tỉ lệ ấy là 87%.</a:t>
            </a:r>
            <a:endParaRPr lang="en-US" sz="1400" dirty="0"/>
          </a:p>
        </p:txBody>
      </p:sp>
      <p:sp>
        <p:nvSpPr>
          <p:cNvPr id="19" name="Shape 17"/>
          <p:cNvSpPr/>
          <p:nvPr/>
        </p:nvSpPr>
        <p:spPr>
          <a:xfrm>
            <a:off x="502920" y="3520440"/>
            <a:ext cx="8220456" cy="365760"/>
          </a:xfrm>
          <a:prstGeom prst="rect">
            <a:avLst/>
          </a:prstGeom>
          <a:solidFill>
            <a:srgbClr val="322164"/>
          </a:solidFill>
          <a:ln/>
        </p:spPr>
      </p:sp>
      <p:sp>
        <p:nvSpPr>
          <p:cNvPr id="20" name="Text 18"/>
          <p:cNvSpPr/>
          <p:nvPr/>
        </p:nvSpPr>
        <p:spPr>
          <a:xfrm>
            <a:off x="502920" y="3520440"/>
            <a:ext cx="384048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Đại lượng</a:t>
            </a:r>
            <a:endParaRPr lang="en-US" sz="1200" dirty="0"/>
          </a:p>
        </p:txBody>
      </p:sp>
      <p:sp>
        <p:nvSpPr>
          <p:cNvPr id="21" name="Text 19"/>
          <p:cNvSpPr/>
          <p:nvPr/>
        </p:nvSpPr>
        <p:spPr>
          <a:xfrm>
            <a:off x="4343400" y="3520440"/>
            <a:ext cx="1371600"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Δ</a:t>
            </a:r>
            <a:endParaRPr lang="en-US" sz="1200" dirty="0"/>
          </a:p>
        </p:txBody>
      </p:sp>
      <p:sp>
        <p:nvSpPr>
          <p:cNvPr id="22" name="Text 20"/>
          <p:cNvSpPr/>
          <p:nvPr/>
        </p:nvSpPr>
        <p:spPr>
          <a:xfrm>
            <a:off x="5715000" y="3520440"/>
            <a:ext cx="2011680"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KTC 95%</a:t>
            </a:r>
            <a:endParaRPr lang="en-US" sz="1200" dirty="0"/>
          </a:p>
        </p:txBody>
      </p:sp>
      <p:sp>
        <p:nvSpPr>
          <p:cNvPr id="23" name="Text 21"/>
          <p:cNvSpPr/>
          <p:nvPr/>
        </p:nvSpPr>
        <p:spPr>
          <a:xfrm>
            <a:off x="7726680" y="3520440"/>
            <a:ext cx="996696"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a:t>
            </a:r>
            <a:endParaRPr lang="en-US" sz="1200" dirty="0"/>
          </a:p>
        </p:txBody>
      </p:sp>
      <p:sp>
        <p:nvSpPr>
          <p:cNvPr id="24" name="Text 22"/>
          <p:cNvSpPr/>
          <p:nvPr/>
        </p:nvSpPr>
        <p:spPr>
          <a:xfrm>
            <a:off x="502920" y="3886200"/>
            <a:ext cx="3840480" cy="420624"/>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MIN-DESC − CE2-S2</a:t>
            </a:r>
            <a:endParaRPr lang="en-US" sz="1250" dirty="0"/>
          </a:p>
        </p:txBody>
      </p:sp>
      <p:sp>
        <p:nvSpPr>
          <p:cNvPr id="25" name="Text 23"/>
          <p:cNvSpPr/>
          <p:nvPr/>
        </p:nvSpPr>
        <p:spPr>
          <a:xfrm>
            <a:off x="4343400" y="3886200"/>
            <a:ext cx="1371600" cy="420624"/>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+0,63</a:t>
            </a:r>
            <a:endParaRPr lang="en-US" sz="1250" dirty="0"/>
          </a:p>
        </p:txBody>
      </p:sp>
      <p:sp>
        <p:nvSpPr>
          <p:cNvPr id="26" name="Text 24"/>
          <p:cNvSpPr/>
          <p:nvPr/>
        </p:nvSpPr>
        <p:spPr>
          <a:xfrm>
            <a:off x="5715000" y="3886200"/>
            <a:ext cx="201168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[+0,16 ; +1,10]</a:t>
            </a:r>
            <a:endParaRPr lang="en-US" sz="1250" dirty="0"/>
          </a:p>
        </p:txBody>
      </p:sp>
      <p:sp>
        <p:nvSpPr>
          <p:cNvPr id="27" name="Text 25"/>
          <p:cNvSpPr/>
          <p:nvPr/>
        </p:nvSpPr>
        <p:spPr>
          <a:xfrm>
            <a:off x="7726680" y="3886200"/>
            <a:ext cx="99669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0,011</a:t>
            </a:r>
            <a:endParaRPr lang="en-US" sz="1250" dirty="0"/>
          </a:p>
        </p:txBody>
      </p:sp>
      <p:sp>
        <p:nvSpPr>
          <p:cNvPr id="28" name="Shape 26"/>
          <p:cNvSpPr/>
          <p:nvPr/>
        </p:nvSpPr>
        <p:spPr>
          <a:xfrm>
            <a:off x="502920" y="4306824"/>
            <a:ext cx="8220456" cy="0"/>
          </a:xfrm>
          <a:prstGeom prst="line">
            <a:avLst/>
          </a:prstGeom>
          <a:noFill/>
          <a:ln w="12700">
            <a:solidFill>
              <a:srgbClr val="9A94AE"/>
            </a:solidFill>
            <a:prstDash val="solid"/>
          </a:ln>
        </p:spPr>
      </p:sp>
      <p:sp>
        <p:nvSpPr>
          <p:cNvPr id="29" name="Text 27"/>
          <p:cNvSpPr/>
          <p:nvPr/>
        </p:nvSpPr>
        <p:spPr>
          <a:xfrm>
            <a:off x="502920" y="4306824"/>
            <a:ext cx="384048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MIN-DESC − S1</a:t>
            </a:r>
            <a:endParaRPr lang="en-US" sz="1250" dirty="0"/>
          </a:p>
        </p:txBody>
      </p:sp>
      <p:sp>
        <p:nvSpPr>
          <p:cNvPr id="30" name="Text 28"/>
          <p:cNvSpPr/>
          <p:nvPr/>
        </p:nvSpPr>
        <p:spPr>
          <a:xfrm>
            <a:off x="4343400" y="4306824"/>
            <a:ext cx="137160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+0,94</a:t>
            </a:r>
            <a:endParaRPr lang="en-US" sz="1250" dirty="0"/>
          </a:p>
        </p:txBody>
      </p:sp>
      <p:sp>
        <p:nvSpPr>
          <p:cNvPr id="31" name="Text 29"/>
          <p:cNvSpPr/>
          <p:nvPr/>
        </p:nvSpPr>
        <p:spPr>
          <a:xfrm>
            <a:off x="5715000" y="4306824"/>
            <a:ext cx="201168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[−0,09 ; +2,05]</a:t>
            </a:r>
            <a:endParaRPr lang="en-US" sz="1250" dirty="0"/>
          </a:p>
        </p:txBody>
      </p:sp>
      <p:sp>
        <p:nvSpPr>
          <p:cNvPr id="32" name="Text 30"/>
          <p:cNvSpPr/>
          <p:nvPr/>
        </p:nvSpPr>
        <p:spPr>
          <a:xfrm>
            <a:off x="7726680" y="4306824"/>
            <a:ext cx="99669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0,11</a:t>
            </a:r>
            <a:endParaRPr lang="en-US" sz="1250" dirty="0"/>
          </a:p>
        </p:txBody>
      </p:sp>
      <p:sp>
        <p:nvSpPr>
          <p:cNvPr id="33" name="Shape 31"/>
          <p:cNvSpPr/>
          <p:nvPr/>
        </p:nvSpPr>
        <p:spPr>
          <a:xfrm>
            <a:off x="502920" y="4846320"/>
            <a:ext cx="8138160" cy="822960"/>
          </a:xfrm>
          <a:prstGeom prst="roundRect">
            <a:avLst>
              <a:gd name="adj" fmla="val 6667"/>
            </a:avLst>
          </a:prstGeom>
          <a:solidFill>
            <a:srgbClr val="E9E8EC"/>
          </a:solidFill>
          <a:ln/>
          <a:effectLst>
            <a:outerShdw sx="100000" sy="100000" kx="0" ky="0" algn="bl" rotWithShape="0" blurRad="63500" dist="31750" dir="2700000">
              <a:srgbClr val="8C8C99">
                <a:alpha val="45000"/>
              </a:srgbClr>
            </a:outerShdw>
          </a:effectLst>
        </p:spPr>
      </p:sp>
      <p:sp>
        <p:nvSpPr>
          <p:cNvPr id="34" name="Text 32"/>
          <p:cNvSpPr/>
          <p:nvPr/>
        </p:nvSpPr>
        <p:spPr>
          <a:xfrm>
            <a:off x="731520" y="4846320"/>
            <a:ext cx="7680960" cy="822960"/>
          </a:xfrm>
          <a:prstGeom prst="rect">
            <a:avLst/>
          </a:prstGeom>
          <a:noFill/>
          <a:ln/>
        </p:spPr>
        <p:txBody>
          <a:bodyPr wrap="square" lIns="0" tIns="0" rIns="0" bIns="0" rtlCol="0" anchor="ctr"/>
          <a:lstStyle/>
          <a:p>
            <a:pPr algn="l" indent="0" marL="0">
              <a:lnSpc>
                <a:spcPct val="135000"/>
              </a:lnSpc>
              <a:buNone/>
            </a:pPr>
            <a:r>
              <a:rPr lang="en-US" sz="1350" b="1" dirty="0">
                <a:solidFill>
                  <a:srgbClr val="990000"/>
                </a:solidFill>
                <a:latin typeface="Cambria" pitchFamily="34" charset="0"/>
                <a:ea typeface="Cambria" pitchFamily="34" charset="-122"/>
                <a:cs typeface="Cambria" pitchFamily="34" charset="-120"/>
              </a:rPr>
              <a:t>Theo luật đã khoá, đây là ô TRẮNG:</a:t>
            </a:r>
            <a:pPr algn="l" indent="0" marL="0">
              <a:lnSpc>
                <a:spcPct val="135000"/>
              </a:lnSpc>
              <a:buNone/>
            </a:pPr>
            <a:r>
              <a:rPr lang="en-US" sz="1350" dirty="0">
                <a:solidFill>
                  <a:srgbClr val="1A1A1A"/>
                </a:solidFill>
                <a:latin typeface="Cambria" pitchFamily="34" charset="0"/>
                <a:ea typeface="Cambria" pitchFamily="34" charset="-122"/>
                <a:cs typeface="Cambria" pitchFamily="34" charset="-120"/>
              </a:rPr>
              <a:t> +0,63 vẫn dưới mức phát hiện 2,11 và chỉ bằng 1,4 lần nhiễu giữa hạt giống.</a:t>
            </a:r>
            <a:endParaRPr lang="en-US" sz="1350" dirty="0"/>
          </a:p>
        </p:txBody>
      </p:sp>
      <p:sp>
        <p:nvSpPr>
          <p:cNvPr id="36" name="Shape 33"/>
          <p:cNvSpPr/>
          <p:nvPr/>
        </p:nvSpPr>
        <p:spPr>
          <a:xfrm>
            <a:off x="0" y="6620256"/>
            <a:ext cx="2743200" cy="237744"/>
          </a:xfrm>
          <a:prstGeom prst="rect">
            <a:avLst/>
          </a:prstGeom>
          <a:solidFill>
            <a:srgbClr val="191132"/>
          </a:solidFill>
          <a:ln/>
        </p:spPr>
      </p:sp>
      <p:sp>
        <p:nvSpPr>
          <p:cNvPr id="37" name="Shape 34"/>
          <p:cNvSpPr/>
          <p:nvPr/>
        </p:nvSpPr>
        <p:spPr>
          <a:xfrm>
            <a:off x="2743200" y="6620256"/>
            <a:ext cx="3383280" cy="237744"/>
          </a:xfrm>
          <a:prstGeom prst="rect">
            <a:avLst/>
          </a:prstGeom>
          <a:solidFill>
            <a:srgbClr val="25194B"/>
          </a:solidFill>
          <a:ln/>
        </p:spPr>
      </p:sp>
      <p:sp>
        <p:nvSpPr>
          <p:cNvPr id="38" name="Shape 35"/>
          <p:cNvSpPr/>
          <p:nvPr/>
        </p:nvSpPr>
        <p:spPr>
          <a:xfrm>
            <a:off x="6126480" y="6620256"/>
            <a:ext cx="1737360" cy="237744"/>
          </a:xfrm>
          <a:prstGeom prst="rect">
            <a:avLst/>
          </a:prstGeom>
          <a:solidFill>
            <a:srgbClr val="4F417A"/>
          </a:solidFill>
          <a:ln/>
        </p:spPr>
      </p:sp>
      <p:sp>
        <p:nvSpPr>
          <p:cNvPr id="39" name="Shape 36"/>
          <p:cNvSpPr/>
          <p:nvPr/>
        </p:nvSpPr>
        <p:spPr>
          <a:xfrm>
            <a:off x="7863840" y="6620256"/>
            <a:ext cx="1280160" cy="237744"/>
          </a:xfrm>
          <a:prstGeom prst="rect">
            <a:avLst/>
          </a:prstGeom>
          <a:solidFill>
            <a:srgbClr val="7A7099"/>
          </a:solidFill>
          <a:ln/>
        </p:spPr>
      </p:sp>
      <p:sp>
        <p:nvSpPr>
          <p:cNvPr id="40" name="Text 3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1" name="Text 3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42" name="Text 3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3" name="Text 4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19/25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Chẩn đoán: cơ chế đúng, nhưng bị chặn bởi độ chính xác khai báo</a:t>
            </a:r>
            <a:endParaRPr lang="en-US" sz="1900" dirty="0"/>
          </a:p>
        </p:txBody>
      </p:sp>
      <p:sp>
        <p:nvSpPr>
          <p:cNvPr id="4" name="Text 2"/>
          <p:cNvSpPr/>
          <p:nvPr/>
        </p:nvSpPr>
        <p:spPr>
          <a:xfrm>
            <a:off x="502920" y="822960"/>
            <a:ext cx="8138160" cy="292608"/>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Chia 3.473 bước có tên tham chiếu, theo việc dòng khai báo của chính mô hình đúng hay sai</a:t>
            </a:r>
            <a:endParaRPr lang="en-US" sz="1200" dirty="0"/>
          </a:p>
        </p:txBody>
      </p:sp>
      <p:sp>
        <p:nvSpPr>
          <p:cNvPr id="5" name="Shape 3"/>
          <p:cNvSpPr/>
          <p:nvPr/>
        </p:nvSpPr>
        <p:spPr>
          <a:xfrm>
            <a:off x="502920" y="1234440"/>
            <a:ext cx="8586216" cy="411480"/>
          </a:xfrm>
          <a:prstGeom prst="rect">
            <a:avLst/>
          </a:prstGeom>
          <a:solidFill>
            <a:srgbClr val="322164"/>
          </a:solidFill>
          <a:ln/>
        </p:spPr>
      </p:sp>
      <p:sp>
        <p:nvSpPr>
          <p:cNvPr id="6" name="Text 4"/>
          <p:cNvSpPr/>
          <p:nvPr/>
        </p:nvSpPr>
        <p:spPr>
          <a:xfrm>
            <a:off x="502920" y="1234440"/>
            <a:ext cx="2377440" cy="41148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Nhóm</a:t>
            </a:r>
            <a:endParaRPr lang="en-US" sz="1200" dirty="0"/>
          </a:p>
        </p:txBody>
      </p:sp>
      <p:sp>
        <p:nvSpPr>
          <p:cNvPr id="7" name="Text 5"/>
          <p:cNvSpPr/>
          <p:nvPr/>
        </p:nvSpPr>
        <p:spPr>
          <a:xfrm>
            <a:off x="2880360" y="1234440"/>
            <a:ext cx="155448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n</a:t>
            </a:r>
            <a:endParaRPr lang="en-US" sz="1200" dirty="0"/>
          </a:p>
        </p:txBody>
      </p:sp>
      <p:sp>
        <p:nvSpPr>
          <p:cNvPr id="8" name="Text 6"/>
          <p:cNvSpPr/>
          <p:nvPr/>
        </p:nvSpPr>
        <p:spPr>
          <a:xfrm>
            <a:off x="4434840" y="1234440"/>
            <a:ext cx="146304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MIN-DESC</a:t>
            </a:r>
            <a:endParaRPr lang="en-US" sz="1200" dirty="0"/>
          </a:p>
        </p:txBody>
      </p:sp>
      <p:sp>
        <p:nvSpPr>
          <p:cNvPr id="9" name="Text 7"/>
          <p:cNvSpPr/>
          <p:nvPr/>
        </p:nvSpPr>
        <p:spPr>
          <a:xfrm>
            <a:off x="5897880" y="1234440"/>
            <a:ext cx="118872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10" name="Text 8"/>
          <p:cNvSpPr/>
          <p:nvPr/>
        </p:nvSpPr>
        <p:spPr>
          <a:xfrm>
            <a:off x="7086600" y="1234440"/>
            <a:ext cx="128016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Δ</a:t>
            </a:r>
            <a:endParaRPr lang="en-US" sz="1200" dirty="0"/>
          </a:p>
        </p:txBody>
      </p:sp>
      <p:sp>
        <p:nvSpPr>
          <p:cNvPr id="11" name="Text 9"/>
          <p:cNvSpPr/>
          <p:nvPr/>
        </p:nvSpPr>
        <p:spPr>
          <a:xfrm>
            <a:off x="8366760" y="1234440"/>
            <a:ext cx="722376"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Trần</a:t>
            </a:r>
            <a:endParaRPr lang="en-US" sz="1200" dirty="0"/>
          </a:p>
        </p:txBody>
      </p:sp>
      <p:sp>
        <p:nvSpPr>
          <p:cNvPr id="12" name="Text 10"/>
          <p:cNvSpPr/>
          <p:nvPr/>
        </p:nvSpPr>
        <p:spPr>
          <a:xfrm>
            <a:off x="502920" y="1645920"/>
            <a:ext cx="2377440" cy="566928"/>
          </a:xfrm>
          <a:prstGeom prst="rect">
            <a:avLst/>
          </a:prstGeom>
          <a:noFill/>
          <a:ln/>
        </p:spPr>
        <p:txBody>
          <a:bodyPr wrap="square" lIns="38100" tIns="38100" rIns="38100" bIns="38100" rtlCol="0" anchor="ctr"/>
          <a:lstStyle/>
          <a:p>
            <a:pPr algn="l" indent="0" marL="0">
              <a:buNone/>
            </a:pPr>
            <a:r>
              <a:rPr lang="en-US" sz="1350" b="1" dirty="0">
                <a:solidFill>
                  <a:srgbClr val="006666"/>
                </a:solidFill>
                <a:latin typeface="Cambria" pitchFamily="34" charset="0"/>
                <a:ea typeface="Cambria" pitchFamily="34" charset="-122"/>
                <a:cs typeface="Cambria" pitchFamily="34" charset="-120"/>
              </a:rPr>
              <a:t>Khai báo ĐÚNG</a:t>
            </a:r>
            <a:endParaRPr lang="en-US" sz="1350" dirty="0"/>
          </a:p>
        </p:txBody>
      </p:sp>
      <p:sp>
        <p:nvSpPr>
          <p:cNvPr id="13" name="Text 11"/>
          <p:cNvSpPr/>
          <p:nvPr/>
        </p:nvSpPr>
        <p:spPr>
          <a:xfrm>
            <a:off x="2880360" y="1645920"/>
            <a:ext cx="155448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2.106  (60,6%)</a:t>
            </a:r>
            <a:endParaRPr lang="en-US" sz="1350" dirty="0"/>
          </a:p>
        </p:txBody>
      </p:sp>
      <p:sp>
        <p:nvSpPr>
          <p:cNvPr id="14" name="Text 12"/>
          <p:cNvSpPr/>
          <p:nvPr/>
        </p:nvSpPr>
        <p:spPr>
          <a:xfrm>
            <a:off x="4434840" y="1645920"/>
            <a:ext cx="1463040" cy="56692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87,1</a:t>
            </a:r>
            <a:endParaRPr lang="en-US" sz="1350" dirty="0"/>
          </a:p>
        </p:txBody>
      </p:sp>
      <p:sp>
        <p:nvSpPr>
          <p:cNvPr id="15" name="Text 13"/>
          <p:cNvSpPr/>
          <p:nvPr/>
        </p:nvSpPr>
        <p:spPr>
          <a:xfrm>
            <a:off x="5897880" y="1645920"/>
            <a:ext cx="118872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78,3</a:t>
            </a:r>
            <a:endParaRPr lang="en-US" sz="1350" dirty="0"/>
          </a:p>
        </p:txBody>
      </p:sp>
      <p:sp>
        <p:nvSpPr>
          <p:cNvPr id="16" name="Text 14"/>
          <p:cNvSpPr/>
          <p:nvPr/>
        </p:nvSpPr>
        <p:spPr>
          <a:xfrm>
            <a:off x="7086600" y="1645920"/>
            <a:ext cx="1280160" cy="566928"/>
          </a:xfrm>
          <a:prstGeom prst="rect">
            <a:avLst/>
          </a:prstGeom>
          <a:noFill/>
          <a:ln/>
        </p:spPr>
        <p:txBody>
          <a:bodyPr wrap="square" lIns="38100" tIns="38100" rIns="38100" bIns="38100" rtlCol="0" anchor="ctr"/>
          <a:lstStyle/>
          <a:p>
            <a:pPr algn="ctr" indent="0" marL="0">
              <a:buNone/>
            </a:pPr>
            <a:r>
              <a:rPr lang="en-US" sz="1350" b="1" dirty="0">
                <a:solidFill>
                  <a:srgbClr val="006666"/>
                </a:solidFill>
                <a:latin typeface="Cambria" pitchFamily="34" charset="0"/>
                <a:ea typeface="Cambria" pitchFamily="34" charset="-122"/>
                <a:cs typeface="Cambria" pitchFamily="34" charset="-120"/>
              </a:rPr>
              <a:t>+8,83</a:t>
            </a:r>
            <a:endParaRPr lang="en-US" sz="1350" dirty="0"/>
          </a:p>
        </p:txBody>
      </p:sp>
      <p:sp>
        <p:nvSpPr>
          <p:cNvPr id="17" name="Text 15"/>
          <p:cNvSpPr/>
          <p:nvPr/>
        </p:nvSpPr>
        <p:spPr>
          <a:xfrm>
            <a:off x="8366760" y="1645920"/>
            <a:ext cx="722376"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86,3</a:t>
            </a:r>
            <a:endParaRPr lang="en-US" sz="1350" dirty="0"/>
          </a:p>
        </p:txBody>
      </p:sp>
      <p:sp>
        <p:nvSpPr>
          <p:cNvPr id="18" name="Shape 16"/>
          <p:cNvSpPr/>
          <p:nvPr/>
        </p:nvSpPr>
        <p:spPr>
          <a:xfrm>
            <a:off x="502920" y="2212848"/>
            <a:ext cx="8586216" cy="0"/>
          </a:xfrm>
          <a:prstGeom prst="line">
            <a:avLst/>
          </a:prstGeom>
          <a:noFill/>
          <a:ln w="12700">
            <a:solidFill>
              <a:srgbClr val="9A94AE"/>
            </a:solidFill>
            <a:prstDash val="solid"/>
          </a:ln>
        </p:spPr>
      </p:sp>
      <p:sp>
        <p:nvSpPr>
          <p:cNvPr id="19" name="Text 17"/>
          <p:cNvSpPr/>
          <p:nvPr/>
        </p:nvSpPr>
        <p:spPr>
          <a:xfrm>
            <a:off x="502920" y="2212848"/>
            <a:ext cx="2377440" cy="566928"/>
          </a:xfrm>
          <a:prstGeom prst="rect">
            <a:avLst/>
          </a:prstGeom>
          <a:noFill/>
          <a:ln/>
        </p:spPr>
        <p:txBody>
          <a:bodyPr wrap="square" lIns="38100" tIns="38100" rIns="38100" bIns="38100" rtlCol="0" anchor="ctr"/>
          <a:lstStyle/>
          <a:p>
            <a:pPr algn="l" indent="0" marL="0">
              <a:buNone/>
            </a:pPr>
            <a:r>
              <a:rPr lang="en-US" sz="1350" b="1" dirty="0">
                <a:solidFill>
                  <a:srgbClr val="B22222"/>
                </a:solidFill>
                <a:latin typeface="Cambria" pitchFamily="34" charset="0"/>
                <a:ea typeface="Cambria" pitchFamily="34" charset="-122"/>
                <a:cs typeface="Cambria" pitchFamily="34" charset="-120"/>
              </a:rPr>
              <a:t>Khai báo SAI</a:t>
            </a:r>
            <a:endParaRPr lang="en-US" sz="1350" dirty="0"/>
          </a:p>
        </p:txBody>
      </p:sp>
      <p:sp>
        <p:nvSpPr>
          <p:cNvPr id="20" name="Text 18"/>
          <p:cNvSpPr/>
          <p:nvPr/>
        </p:nvSpPr>
        <p:spPr>
          <a:xfrm>
            <a:off x="2880360" y="2212848"/>
            <a:ext cx="155448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1.367  (39,4%)</a:t>
            </a:r>
            <a:endParaRPr lang="en-US" sz="1350" dirty="0"/>
          </a:p>
        </p:txBody>
      </p:sp>
      <p:sp>
        <p:nvSpPr>
          <p:cNvPr id="21" name="Text 19"/>
          <p:cNvSpPr/>
          <p:nvPr/>
        </p:nvSpPr>
        <p:spPr>
          <a:xfrm>
            <a:off x="4434840" y="2212848"/>
            <a:ext cx="1463040" cy="56692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21,8</a:t>
            </a:r>
            <a:endParaRPr lang="en-US" sz="1350" dirty="0"/>
          </a:p>
        </p:txBody>
      </p:sp>
      <p:sp>
        <p:nvSpPr>
          <p:cNvPr id="22" name="Text 20"/>
          <p:cNvSpPr/>
          <p:nvPr/>
        </p:nvSpPr>
        <p:spPr>
          <a:xfrm>
            <a:off x="5897880" y="2212848"/>
            <a:ext cx="118872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32,9</a:t>
            </a:r>
            <a:endParaRPr lang="en-US" sz="1350" dirty="0"/>
          </a:p>
        </p:txBody>
      </p:sp>
      <p:sp>
        <p:nvSpPr>
          <p:cNvPr id="23" name="Text 21"/>
          <p:cNvSpPr/>
          <p:nvPr/>
        </p:nvSpPr>
        <p:spPr>
          <a:xfrm>
            <a:off x="7086600" y="2212848"/>
            <a:ext cx="1280160" cy="566928"/>
          </a:xfrm>
          <a:prstGeom prst="rect">
            <a:avLst/>
          </a:prstGeom>
          <a:noFill/>
          <a:ln/>
        </p:spPr>
        <p:txBody>
          <a:bodyPr wrap="square" lIns="38100" tIns="38100" rIns="38100" bIns="38100" rtlCol="0" anchor="ctr"/>
          <a:lstStyle/>
          <a:p>
            <a:pPr algn="ctr" indent="0" marL="0">
              <a:buNone/>
            </a:pPr>
            <a:r>
              <a:rPr lang="en-US" sz="1350" b="1" dirty="0">
                <a:solidFill>
                  <a:srgbClr val="B22222"/>
                </a:solidFill>
                <a:latin typeface="Cambria" pitchFamily="34" charset="0"/>
                <a:ea typeface="Cambria" pitchFamily="34" charset="-122"/>
                <a:cs typeface="Cambria" pitchFamily="34" charset="-120"/>
              </a:rPr>
              <a:t>−11,12</a:t>
            </a:r>
            <a:endParaRPr lang="en-US" sz="1350" dirty="0"/>
          </a:p>
        </p:txBody>
      </p:sp>
      <p:sp>
        <p:nvSpPr>
          <p:cNvPr id="24" name="Text 22"/>
          <p:cNvSpPr/>
          <p:nvPr/>
        </p:nvSpPr>
        <p:spPr>
          <a:xfrm>
            <a:off x="8366760" y="2212848"/>
            <a:ext cx="722376"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61,4</a:t>
            </a:r>
            <a:endParaRPr lang="en-US" sz="1350" dirty="0"/>
          </a:p>
        </p:txBody>
      </p:sp>
      <p:sp>
        <p:nvSpPr>
          <p:cNvPr id="25" name="Text 23"/>
          <p:cNvSpPr/>
          <p:nvPr/>
        </p:nvSpPr>
        <p:spPr>
          <a:xfrm>
            <a:off x="640080" y="3017520"/>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6" name="Text 24"/>
          <p:cNvSpPr/>
          <p:nvPr/>
        </p:nvSpPr>
        <p:spPr>
          <a:xfrm>
            <a:off x="868680" y="3017520"/>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đúng thì mô hình vượt cả trần của nhóm đó</a:t>
            </a:r>
            <a:endParaRPr lang="en-US" sz="1350" dirty="0"/>
          </a:p>
        </p:txBody>
      </p:sp>
      <p:sp>
        <p:nvSpPr>
          <p:cNvPr id="27" name="Text 25"/>
          <p:cNvSpPr/>
          <p:nvPr/>
        </p:nvSpPr>
        <p:spPr>
          <a:xfrm>
            <a:off x="640080" y="3639312"/>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8" name="Text 26"/>
          <p:cNvSpPr/>
          <p:nvPr/>
        </p:nvSpPr>
        <p:spPr>
          <a:xfrm>
            <a:off x="868680" y="3639312"/>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sai thì nó làm hỏng câu nặng hơn cả không khai báo</a:t>
            </a:r>
            <a:endParaRPr lang="en-US" sz="1350" dirty="0"/>
          </a:p>
        </p:txBody>
      </p:sp>
      <p:sp>
        <p:nvSpPr>
          <p:cNvPr id="29" name="Text 27"/>
          <p:cNvSpPr/>
          <p:nvPr/>
        </p:nvSpPr>
        <p:spPr>
          <a:xfrm>
            <a:off x="640080" y="4261104"/>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30" name="Text 28"/>
          <p:cNvSpPr/>
          <p:nvPr/>
        </p:nvSpPr>
        <p:spPr>
          <a:xfrm>
            <a:off x="868680" y="4261104"/>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Hai chiều triệt tiêu nhau, cộng lại thành </a:t>
            </a:r>
            <a:pPr algn="l" indent="0" marL="0">
              <a:lnSpc>
                <a:spcPct val="125000"/>
              </a:lnSpc>
              <a:buNone/>
            </a:pPr>
            <a:r>
              <a:rPr lang="en-US" sz="1350" b="1" dirty="0">
                <a:solidFill>
                  <a:srgbClr val="990000"/>
                </a:solidFill>
                <a:latin typeface="Cambria" pitchFamily="34" charset="0"/>
                <a:ea typeface="Cambria" pitchFamily="34" charset="-122"/>
                <a:cs typeface="Cambria" pitchFamily="34" charset="-120"/>
              </a:rPr>
              <a:t>+0,94 điểm không có ý nghĩa</a:t>
            </a:r>
            <a:endParaRPr lang="en-US" sz="1350" dirty="0"/>
          </a:p>
        </p:txBody>
      </p:sp>
      <p:sp>
        <p:nvSpPr>
          <p:cNvPr id="31" name="Shape 29"/>
          <p:cNvSpPr/>
          <p:nvPr/>
        </p:nvSpPr>
        <p:spPr>
          <a:xfrm>
            <a:off x="502920" y="4892040"/>
            <a:ext cx="8138160" cy="777240"/>
          </a:xfrm>
          <a:prstGeom prst="roundRect">
            <a:avLst>
              <a:gd name="adj" fmla="val 7059"/>
            </a:avLst>
          </a:prstGeom>
          <a:solidFill>
            <a:srgbClr val="E9E8EC"/>
          </a:solidFill>
          <a:ln/>
          <a:effectLst>
            <a:outerShdw sx="100000" sy="100000" kx="0" ky="0" algn="bl" rotWithShape="0" blurRad="63500" dist="31750" dir="2700000">
              <a:srgbClr val="8C8C99">
                <a:alpha val="45000"/>
              </a:srgbClr>
            </a:outerShdw>
          </a:effectLst>
        </p:spPr>
      </p:sp>
      <p:sp>
        <p:nvSpPr>
          <p:cNvPr id="32" name="Text 30"/>
          <p:cNvSpPr/>
          <p:nvPr/>
        </p:nvSpPr>
        <p:spPr>
          <a:xfrm>
            <a:off x="731520" y="4892040"/>
            <a:ext cx="7680960" cy="777240"/>
          </a:xfrm>
          <a:prstGeom prst="rect">
            <a:avLst/>
          </a:prstGeom>
          <a:noFill/>
          <a:ln/>
        </p:spPr>
        <p:txBody>
          <a:bodyPr wrap="square" lIns="0" tIns="0" rIns="0" bIns="0" rtlCol="0" anchor="ctr"/>
          <a:lstStyle/>
          <a:p>
            <a:pPr algn="l" indent="0" marL="0">
              <a:lnSpc>
                <a:spcPct val="135000"/>
              </a:lnSpc>
              <a:buNone/>
            </a:pPr>
            <a:r>
              <a:rPr lang="en-US" sz="1250" b="1" dirty="0">
                <a:solidFill>
                  <a:srgbClr val="B22222"/>
                </a:solidFill>
                <a:latin typeface="Cambria" pitchFamily="34" charset="0"/>
                <a:ea typeface="Cambria" pitchFamily="34" charset="-122"/>
                <a:cs typeface="Cambria" pitchFamily="34" charset="-120"/>
              </a:rPr>
              <a:t>Cách chia nhóm này là hậu kiểm:</a:t>
            </a:r>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 biến chia nhóm là hành vi của chính mô hình được đo.</a:t>
            </a:r>
            <a:endParaRPr lang="en-US" sz="1250" dirty="0"/>
          </a:p>
        </p:txBody>
      </p:sp>
      <p:sp>
        <p:nvSpPr>
          <p:cNvPr id="34" name="Shape 31"/>
          <p:cNvSpPr/>
          <p:nvPr/>
        </p:nvSpPr>
        <p:spPr>
          <a:xfrm>
            <a:off x="0" y="6620256"/>
            <a:ext cx="2743200" cy="237744"/>
          </a:xfrm>
          <a:prstGeom prst="rect">
            <a:avLst/>
          </a:prstGeom>
          <a:solidFill>
            <a:srgbClr val="191132"/>
          </a:solidFill>
          <a:ln/>
        </p:spPr>
      </p:sp>
      <p:sp>
        <p:nvSpPr>
          <p:cNvPr id="35" name="Shape 32"/>
          <p:cNvSpPr/>
          <p:nvPr/>
        </p:nvSpPr>
        <p:spPr>
          <a:xfrm>
            <a:off x="2743200" y="6620256"/>
            <a:ext cx="3383280" cy="237744"/>
          </a:xfrm>
          <a:prstGeom prst="rect">
            <a:avLst/>
          </a:prstGeom>
          <a:solidFill>
            <a:srgbClr val="25194B"/>
          </a:solidFill>
          <a:ln/>
        </p:spPr>
      </p:sp>
      <p:sp>
        <p:nvSpPr>
          <p:cNvPr id="36" name="Shape 33"/>
          <p:cNvSpPr/>
          <p:nvPr/>
        </p:nvSpPr>
        <p:spPr>
          <a:xfrm>
            <a:off x="6126480" y="6620256"/>
            <a:ext cx="1737360" cy="237744"/>
          </a:xfrm>
          <a:prstGeom prst="rect">
            <a:avLst/>
          </a:prstGeom>
          <a:solidFill>
            <a:srgbClr val="4F417A"/>
          </a:solidFill>
          <a:ln/>
        </p:spPr>
      </p:sp>
      <p:sp>
        <p:nvSpPr>
          <p:cNvPr id="37" name="Shape 34"/>
          <p:cNvSpPr/>
          <p:nvPr/>
        </p:nvSpPr>
        <p:spPr>
          <a:xfrm>
            <a:off x="7863840" y="6620256"/>
            <a:ext cx="1280160" cy="237744"/>
          </a:xfrm>
          <a:prstGeom prst="rect">
            <a:avLst/>
          </a:prstGeom>
          <a:solidFill>
            <a:srgbClr val="7A7099"/>
          </a:solidFill>
          <a:ln/>
        </p:spPr>
      </p:sp>
      <p:sp>
        <p:nvSpPr>
          <p:cNvPr id="38" name="Text 3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9" name="Text 3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40" name="Text 3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1" name="Text 3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20/25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63% dư địa còn lại nằm gọn trong một ô duy nhất</a:t>
            </a:r>
            <a:endParaRPr lang="en-US" sz="1900" dirty="0"/>
          </a:p>
        </p:txBody>
      </p:sp>
      <p:sp>
        <p:nvSpPr>
          <p:cNvPr id="4" name="Shape 2"/>
          <p:cNvSpPr/>
          <p:nvPr/>
        </p:nvSpPr>
        <p:spPr>
          <a:xfrm>
            <a:off x="502920" y="914400"/>
            <a:ext cx="8220456" cy="384048"/>
          </a:xfrm>
          <a:prstGeom prst="rect">
            <a:avLst/>
          </a:prstGeom>
          <a:solidFill>
            <a:srgbClr val="322164"/>
          </a:solidFill>
          <a:ln/>
        </p:spPr>
      </p:sp>
      <p:sp>
        <p:nvSpPr>
          <p:cNvPr id="5" name="Text 3"/>
          <p:cNvSpPr/>
          <p:nvPr/>
        </p:nvSpPr>
        <p:spPr>
          <a:xfrm>
            <a:off x="502920" y="914400"/>
            <a:ext cx="2468880" cy="384048"/>
          </a:xfrm>
          <a:prstGeom prst="rect">
            <a:avLst/>
          </a:prstGeom>
          <a:noFill/>
          <a:ln/>
        </p:spPr>
        <p:txBody>
          <a:bodyPr wrap="square" lIns="38100" tIns="38100" rIns="38100" bIns="38100" rtlCol="0" anchor="ctr"/>
          <a:lstStyle/>
          <a:p>
            <a:pPr algn="l" indent="0" marL="0">
              <a:buNone/>
            </a:pPr>
            <a:r>
              <a:rPr lang="en-US" sz="1150" b="1" dirty="0">
                <a:solidFill>
                  <a:srgbClr val="FFFFFF"/>
                </a:solidFill>
                <a:latin typeface="Cambria" pitchFamily="34" charset="0"/>
                <a:ea typeface="Cambria" pitchFamily="34" charset="-122"/>
                <a:cs typeface="Cambria" pitchFamily="34" charset="-120"/>
              </a:rPr>
              <a:t>Trạng thái ô khai báo</a:t>
            </a:r>
            <a:endParaRPr lang="en-US" sz="1150" dirty="0"/>
          </a:p>
        </p:txBody>
      </p:sp>
      <p:sp>
        <p:nvSpPr>
          <p:cNvPr id="6" name="Text 4"/>
          <p:cNvSpPr/>
          <p:nvPr/>
        </p:nvSpPr>
        <p:spPr>
          <a:xfrm>
            <a:off x="2971800" y="914400"/>
            <a:ext cx="96012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n</a:t>
            </a:r>
            <a:endParaRPr lang="en-US" sz="1150" dirty="0"/>
          </a:p>
        </p:txBody>
      </p:sp>
      <p:sp>
        <p:nvSpPr>
          <p:cNvPr id="7" name="Text 5"/>
          <p:cNvSpPr/>
          <p:nvPr/>
        </p:nvSpPr>
        <p:spPr>
          <a:xfrm>
            <a:off x="3931920" y="914400"/>
            <a:ext cx="82296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a:t>
            </a:r>
            <a:endParaRPr lang="en-US" sz="1150" dirty="0"/>
          </a:p>
        </p:txBody>
      </p:sp>
      <p:sp>
        <p:nvSpPr>
          <p:cNvPr id="8" name="Text 6"/>
          <p:cNvSpPr/>
          <p:nvPr/>
        </p:nvSpPr>
        <p:spPr>
          <a:xfrm>
            <a:off x="475488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MIN</a:t>
            </a:r>
            <a:endParaRPr lang="en-US" sz="1150" dirty="0"/>
          </a:p>
        </p:txBody>
      </p:sp>
      <p:sp>
        <p:nvSpPr>
          <p:cNvPr id="9" name="Text 7"/>
          <p:cNvSpPr/>
          <p:nvPr/>
        </p:nvSpPr>
        <p:spPr>
          <a:xfrm>
            <a:off x="576072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S1</a:t>
            </a:r>
            <a:endParaRPr lang="en-US" sz="1150" dirty="0"/>
          </a:p>
        </p:txBody>
      </p:sp>
      <p:sp>
        <p:nvSpPr>
          <p:cNvPr id="10" name="Text 8"/>
          <p:cNvSpPr/>
          <p:nvPr/>
        </p:nvSpPr>
        <p:spPr>
          <a:xfrm>
            <a:off x="676656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Trần</a:t>
            </a:r>
            <a:endParaRPr lang="en-US" sz="1150" dirty="0"/>
          </a:p>
        </p:txBody>
      </p:sp>
      <p:sp>
        <p:nvSpPr>
          <p:cNvPr id="11" name="Text 9"/>
          <p:cNvSpPr/>
          <p:nvPr/>
        </p:nvSpPr>
        <p:spPr>
          <a:xfrm>
            <a:off x="7772400" y="914400"/>
            <a:ext cx="950976"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Dư địa</a:t>
            </a:r>
            <a:endParaRPr lang="en-US" sz="1150" dirty="0"/>
          </a:p>
        </p:txBody>
      </p:sp>
      <p:sp>
        <p:nvSpPr>
          <p:cNvPr id="12" name="Text 10"/>
          <p:cNvSpPr/>
          <p:nvPr/>
        </p:nvSpPr>
        <p:spPr>
          <a:xfrm>
            <a:off x="502920" y="1298448"/>
            <a:ext cx="2468880" cy="384048"/>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đúng, toạ độ đúng</a:t>
            </a:r>
            <a:endParaRPr lang="en-US" sz="1150" dirty="0"/>
          </a:p>
        </p:txBody>
      </p:sp>
      <p:sp>
        <p:nvSpPr>
          <p:cNvPr id="13" name="Text 11"/>
          <p:cNvSpPr/>
          <p:nvPr/>
        </p:nvSpPr>
        <p:spPr>
          <a:xfrm>
            <a:off x="2971800" y="1298448"/>
            <a:ext cx="96012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2.082</a:t>
            </a:r>
            <a:endParaRPr lang="en-US" sz="1150" dirty="0"/>
          </a:p>
        </p:txBody>
      </p:sp>
      <p:sp>
        <p:nvSpPr>
          <p:cNvPr id="14" name="Text 12"/>
          <p:cNvSpPr/>
          <p:nvPr/>
        </p:nvSpPr>
        <p:spPr>
          <a:xfrm>
            <a:off x="3931920" y="1298448"/>
            <a:ext cx="82296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46,7</a:t>
            </a:r>
            <a:endParaRPr lang="en-US" sz="1150" dirty="0"/>
          </a:p>
        </p:txBody>
      </p:sp>
      <p:sp>
        <p:nvSpPr>
          <p:cNvPr id="15" name="Text 13"/>
          <p:cNvSpPr/>
          <p:nvPr/>
        </p:nvSpPr>
        <p:spPr>
          <a:xfrm>
            <a:off x="4754880" y="1298448"/>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1A1A1A"/>
                </a:solidFill>
                <a:latin typeface="Cambria" pitchFamily="34" charset="0"/>
                <a:ea typeface="Cambria" pitchFamily="34" charset="-122"/>
                <a:cs typeface="Cambria" pitchFamily="34" charset="-120"/>
              </a:rPr>
              <a:t>87,1</a:t>
            </a:r>
            <a:endParaRPr lang="en-US" sz="1150" dirty="0"/>
          </a:p>
        </p:txBody>
      </p:sp>
      <p:sp>
        <p:nvSpPr>
          <p:cNvPr id="16" name="Text 14"/>
          <p:cNvSpPr/>
          <p:nvPr/>
        </p:nvSpPr>
        <p:spPr>
          <a:xfrm>
            <a:off x="5760720" y="1298448"/>
            <a:ext cx="100584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78,2</a:t>
            </a:r>
            <a:endParaRPr lang="en-US" sz="1150" dirty="0"/>
          </a:p>
        </p:txBody>
      </p:sp>
      <p:sp>
        <p:nvSpPr>
          <p:cNvPr id="17" name="Text 15"/>
          <p:cNvSpPr/>
          <p:nvPr/>
        </p:nvSpPr>
        <p:spPr>
          <a:xfrm>
            <a:off x="6766560" y="1298448"/>
            <a:ext cx="100584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86,3</a:t>
            </a:r>
            <a:endParaRPr lang="en-US" sz="1150" dirty="0"/>
          </a:p>
        </p:txBody>
      </p:sp>
      <p:sp>
        <p:nvSpPr>
          <p:cNvPr id="18" name="Text 16"/>
          <p:cNvSpPr/>
          <p:nvPr/>
        </p:nvSpPr>
        <p:spPr>
          <a:xfrm>
            <a:off x="7772400" y="1298448"/>
            <a:ext cx="950976"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−0,36</a:t>
            </a:r>
            <a:endParaRPr lang="en-US" sz="1150" dirty="0"/>
          </a:p>
        </p:txBody>
      </p:sp>
      <p:sp>
        <p:nvSpPr>
          <p:cNvPr id="19" name="Shape 17"/>
          <p:cNvSpPr/>
          <p:nvPr/>
        </p:nvSpPr>
        <p:spPr>
          <a:xfrm>
            <a:off x="502920" y="1682496"/>
            <a:ext cx="8220456" cy="0"/>
          </a:xfrm>
          <a:prstGeom prst="line">
            <a:avLst/>
          </a:prstGeom>
          <a:noFill/>
          <a:ln w="12700">
            <a:solidFill>
              <a:srgbClr val="9A94AE"/>
            </a:solidFill>
            <a:prstDash val="solid"/>
          </a:ln>
        </p:spPr>
      </p:sp>
      <p:sp>
        <p:nvSpPr>
          <p:cNvPr id="20" name="Text 18"/>
          <p:cNvSpPr/>
          <p:nvPr/>
        </p:nvSpPr>
        <p:spPr>
          <a:xfrm>
            <a:off x="502920" y="168249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đúng, toạ độ sai</a:t>
            </a:r>
            <a:endParaRPr lang="en-US" sz="1150" dirty="0"/>
          </a:p>
        </p:txBody>
      </p:sp>
      <p:sp>
        <p:nvSpPr>
          <p:cNvPr id="21" name="Text 19"/>
          <p:cNvSpPr/>
          <p:nvPr/>
        </p:nvSpPr>
        <p:spPr>
          <a:xfrm>
            <a:off x="2971800" y="168249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220</a:t>
            </a:r>
            <a:endParaRPr lang="en-US" sz="1150" dirty="0"/>
          </a:p>
        </p:txBody>
      </p:sp>
      <p:sp>
        <p:nvSpPr>
          <p:cNvPr id="22" name="Text 20"/>
          <p:cNvSpPr/>
          <p:nvPr/>
        </p:nvSpPr>
        <p:spPr>
          <a:xfrm>
            <a:off x="3931920" y="168249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4,9</a:t>
            </a:r>
            <a:endParaRPr lang="en-US" sz="1150" dirty="0"/>
          </a:p>
        </p:txBody>
      </p:sp>
      <p:sp>
        <p:nvSpPr>
          <p:cNvPr id="23" name="Text 21"/>
          <p:cNvSpPr/>
          <p:nvPr/>
        </p:nvSpPr>
        <p:spPr>
          <a:xfrm>
            <a:off x="475488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26,4</a:t>
            </a:r>
            <a:endParaRPr lang="en-US" sz="1150" dirty="0"/>
          </a:p>
        </p:txBody>
      </p:sp>
      <p:sp>
        <p:nvSpPr>
          <p:cNvPr id="24" name="Text 22"/>
          <p:cNvSpPr/>
          <p:nvPr/>
        </p:nvSpPr>
        <p:spPr>
          <a:xfrm>
            <a:off x="576072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27,7</a:t>
            </a:r>
            <a:endParaRPr lang="en-US" sz="1150" dirty="0"/>
          </a:p>
        </p:txBody>
      </p:sp>
      <p:sp>
        <p:nvSpPr>
          <p:cNvPr id="25" name="Text 23"/>
          <p:cNvSpPr/>
          <p:nvPr/>
        </p:nvSpPr>
        <p:spPr>
          <a:xfrm>
            <a:off x="676656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32,3</a:t>
            </a:r>
            <a:endParaRPr lang="en-US" sz="1150" dirty="0"/>
          </a:p>
        </p:txBody>
      </p:sp>
      <p:sp>
        <p:nvSpPr>
          <p:cNvPr id="26" name="Text 24"/>
          <p:cNvSpPr/>
          <p:nvPr/>
        </p:nvSpPr>
        <p:spPr>
          <a:xfrm>
            <a:off x="7772400" y="168249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+0,29</a:t>
            </a:r>
            <a:endParaRPr lang="en-US" sz="1150" dirty="0"/>
          </a:p>
        </p:txBody>
      </p:sp>
      <p:sp>
        <p:nvSpPr>
          <p:cNvPr id="27" name="Shape 25"/>
          <p:cNvSpPr/>
          <p:nvPr/>
        </p:nvSpPr>
        <p:spPr>
          <a:xfrm>
            <a:off x="502920" y="2048256"/>
            <a:ext cx="8220456" cy="0"/>
          </a:xfrm>
          <a:prstGeom prst="line">
            <a:avLst/>
          </a:prstGeom>
          <a:noFill/>
          <a:ln w="12700">
            <a:solidFill>
              <a:srgbClr val="9A94AE"/>
            </a:solidFill>
            <a:prstDash val="solid"/>
          </a:ln>
        </p:spPr>
      </p:sp>
      <p:sp>
        <p:nvSpPr>
          <p:cNvPr id="28" name="Text 26"/>
          <p:cNvSpPr/>
          <p:nvPr/>
        </p:nvSpPr>
        <p:spPr>
          <a:xfrm>
            <a:off x="502920" y="204825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sai, toạ độ đúng</a:t>
            </a:r>
            <a:endParaRPr lang="en-US" sz="1150" dirty="0"/>
          </a:p>
        </p:txBody>
      </p:sp>
      <p:sp>
        <p:nvSpPr>
          <p:cNvPr id="29" name="Text 27"/>
          <p:cNvSpPr/>
          <p:nvPr/>
        </p:nvSpPr>
        <p:spPr>
          <a:xfrm>
            <a:off x="2971800" y="204825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411</a:t>
            </a:r>
            <a:endParaRPr lang="en-US" sz="1150" dirty="0"/>
          </a:p>
        </p:txBody>
      </p:sp>
      <p:sp>
        <p:nvSpPr>
          <p:cNvPr id="30" name="Text 28"/>
          <p:cNvSpPr/>
          <p:nvPr/>
        </p:nvSpPr>
        <p:spPr>
          <a:xfrm>
            <a:off x="3931920" y="204825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9,2</a:t>
            </a:r>
            <a:endParaRPr lang="en-US" sz="1150" dirty="0"/>
          </a:p>
        </p:txBody>
      </p:sp>
      <p:sp>
        <p:nvSpPr>
          <p:cNvPr id="31" name="Text 29"/>
          <p:cNvSpPr/>
          <p:nvPr/>
        </p:nvSpPr>
        <p:spPr>
          <a:xfrm>
            <a:off x="475488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57,2</a:t>
            </a:r>
            <a:endParaRPr lang="en-US" sz="1150" dirty="0"/>
          </a:p>
        </p:txBody>
      </p:sp>
      <p:sp>
        <p:nvSpPr>
          <p:cNvPr id="32" name="Text 30"/>
          <p:cNvSpPr/>
          <p:nvPr/>
        </p:nvSpPr>
        <p:spPr>
          <a:xfrm>
            <a:off x="576072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53,0</a:t>
            </a:r>
            <a:endParaRPr lang="en-US" sz="1150" dirty="0"/>
          </a:p>
        </p:txBody>
      </p:sp>
      <p:sp>
        <p:nvSpPr>
          <p:cNvPr id="33" name="Text 31"/>
          <p:cNvSpPr/>
          <p:nvPr/>
        </p:nvSpPr>
        <p:spPr>
          <a:xfrm>
            <a:off x="676656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73,0</a:t>
            </a:r>
            <a:endParaRPr lang="en-US" sz="1150" dirty="0"/>
          </a:p>
        </p:txBody>
      </p:sp>
      <p:sp>
        <p:nvSpPr>
          <p:cNvPr id="34" name="Text 32"/>
          <p:cNvSpPr/>
          <p:nvPr/>
        </p:nvSpPr>
        <p:spPr>
          <a:xfrm>
            <a:off x="7772400" y="204825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+1,46</a:t>
            </a:r>
            <a:endParaRPr lang="en-US" sz="1150" dirty="0"/>
          </a:p>
        </p:txBody>
      </p:sp>
      <p:sp>
        <p:nvSpPr>
          <p:cNvPr id="35" name="Shape 33"/>
          <p:cNvSpPr/>
          <p:nvPr/>
        </p:nvSpPr>
        <p:spPr>
          <a:xfrm>
            <a:off x="502920" y="2414016"/>
            <a:ext cx="8220456" cy="0"/>
          </a:xfrm>
          <a:prstGeom prst="line">
            <a:avLst/>
          </a:prstGeom>
          <a:noFill/>
          <a:ln w="12700">
            <a:solidFill>
              <a:srgbClr val="9A94AE"/>
            </a:solidFill>
            <a:prstDash val="solid"/>
          </a:ln>
        </p:spPr>
      </p:sp>
      <p:sp>
        <p:nvSpPr>
          <p:cNvPr id="36" name="Text 34"/>
          <p:cNvSpPr/>
          <p:nvPr/>
        </p:nvSpPr>
        <p:spPr>
          <a:xfrm>
            <a:off x="502920" y="241401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không sinh khai báo</a:t>
            </a:r>
            <a:endParaRPr lang="en-US" sz="1150" dirty="0"/>
          </a:p>
        </p:txBody>
      </p:sp>
      <p:sp>
        <p:nvSpPr>
          <p:cNvPr id="37" name="Text 35"/>
          <p:cNvSpPr/>
          <p:nvPr/>
        </p:nvSpPr>
        <p:spPr>
          <a:xfrm>
            <a:off x="2971800" y="241401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15</a:t>
            </a:r>
            <a:endParaRPr lang="en-US" sz="1150" dirty="0"/>
          </a:p>
        </p:txBody>
      </p:sp>
      <p:sp>
        <p:nvSpPr>
          <p:cNvPr id="38" name="Text 36"/>
          <p:cNvSpPr/>
          <p:nvPr/>
        </p:nvSpPr>
        <p:spPr>
          <a:xfrm>
            <a:off x="3931920" y="241401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0,3</a:t>
            </a:r>
            <a:endParaRPr lang="en-US" sz="1150" dirty="0"/>
          </a:p>
        </p:txBody>
      </p:sp>
      <p:sp>
        <p:nvSpPr>
          <p:cNvPr id="39" name="Text 37"/>
          <p:cNvSpPr/>
          <p:nvPr/>
        </p:nvSpPr>
        <p:spPr>
          <a:xfrm>
            <a:off x="475488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0,0</a:t>
            </a:r>
            <a:endParaRPr lang="en-US" sz="1150" dirty="0"/>
          </a:p>
        </p:txBody>
      </p:sp>
      <p:sp>
        <p:nvSpPr>
          <p:cNvPr id="40" name="Text 38"/>
          <p:cNvSpPr/>
          <p:nvPr/>
        </p:nvSpPr>
        <p:spPr>
          <a:xfrm>
            <a:off x="576072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0,0</a:t>
            </a:r>
            <a:endParaRPr lang="en-US" sz="1150" dirty="0"/>
          </a:p>
        </p:txBody>
      </p:sp>
      <p:sp>
        <p:nvSpPr>
          <p:cNvPr id="41" name="Text 39"/>
          <p:cNvSpPr/>
          <p:nvPr/>
        </p:nvSpPr>
        <p:spPr>
          <a:xfrm>
            <a:off x="676656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60,0</a:t>
            </a:r>
            <a:endParaRPr lang="en-US" sz="1150" dirty="0"/>
          </a:p>
        </p:txBody>
      </p:sp>
      <p:sp>
        <p:nvSpPr>
          <p:cNvPr id="42" name="Text 40"/>
          <p:cNvSpPr/>
          <p:nvPr/>
        </p:nvSpPr>
        <p:spPr>
          <a:xfrm>
            <a:off x="7772400" y="241401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+0,20</a:t>
            </a:r>
            <a:endParaRPr lang="en-US" sz="1150" dirty="0"/>
          </a:p>
        </p:txBody>
      </p:sp>
      <p:sp>
        <p:nvSpPr>
          <p:cNvPr id="43" name="Shape 41"/>
          <p:cNvSpPr/>
          <p:nvPr/>
        </p:nvSpPr>
        <p:spPr>
          <a:xfrm>
            <a:off x="502920" y="2779776"/>
            <a:ext cx="8220456" cy="0"/>
          </a:xfrm>
          <a:prstGeom prst="line">
            <a:avLst/>
          </a:prstGeom>
          <a:noFill/>
          <a:ln w="12700">
            <a:solidFill>
              <a:srgbClr val="9A94AE"/>
            </a:solidFill>
            <a:prstDash val="solid"/>
          </a:ln>
        </p:spPr>
      </p:sp>
      <p:sp>
        <p:nvSpPr>
          <p:cNvPr id="44" name="Text 42"/>
          <p:cNvSpPr/>
          <p:nvPr/>
        </p:nvSpPr>
        <p:spPr>
          <a:xfrm>
            <a:off x="502920" y="2779776"/>
            <a:ext cx="2468880" cy="438912"/>
          </a:xfrm>
          <a:prstGeom prst="rect">
            <a:avLst/>
          </a:prstGeom>
          <a:noFill/>
          <a:ln/>
        </p:spPr>
        <p:txBody>
          <a:bodyPr wrap="square" lIns="38100" tIns="38100" rIns="38100" bIns="38100" rtlCol="0" anchor="ctr"/>
          <a:lstStyle/>
          <a:p>
            <a:pPr algn="l" indent="0" marL="0">
              <a:buNone/>
            </a:pPr>
            <a:r>
              <a:rPr lang="en-US" sz="1200" b="1" dirty="0">
                <a:solidFill>
                  <a:srgbClr val="B22222"/>
                </a:solidFill>
                <a:latin typeface="Cambria" pitchFamily="34" charset="0"/>
                <a:ea typeface="Cambria" pitchFamily="34" charset="-122"/>
                <a:cs typeface="Cambria" pitchFamily="34" charset="-120"/>
              </a:rPr>
              <a:t>tên sai, toạ độ sai</a:t>
            </a:r>
            <a:endParaRPr lang="en-US" sz="1200" dirty="0"/>
          </a:p>
        </p:txBody>
      </p:sp>
      <p:sp>
        <p:nvSpPr>
          <p:cNvPr id="45" name="Text 43"/>
          <p:cNvSpPr/>
          <p:nvPr/>
        </p:nvSpPr>
        <p:spPr>
          <a:xfrm>
            <a:off x="2971800" y="2779776"/>
            <a:ext cx="96012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745</a:t>
            </a:r>
            <a:endParaRPr lang="en-US" sz="1200" dirty="0"/>
          </a:p>
        </p:txBody>
      </p:sp>
      <p:sp>
        <p:nvSpPr>
          <p:cNvPr id="46" name="Text 44"/>
          <p:cNvSpPr/>
          <p:nvPr/>
        </p:nvSpPr>
        <p:spPr>
          <a:xfrm>
            <a:off x="3931920" y="2779776"/>
            <a:ext cx="82296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16,7</a:t>
            </a:r>
            <a:endParaRPr lang="en-US" sz="1200" dirty="0"/>
          </a:p>
        </p:txBody>
      </p:sp>
      <p:sp>
        <p:nvSpPr>
          <p:cNvPr id="47" name="Text 45"/>
          <p:cNvSpPr/>
          <p:nvPr/>
        </p:nvSpPr>
        <p:spPr>
          <a:xfrm>
            <a:off x="4754880" y="2779776"/>
            <a:ext cx="1005840" cy="438912"/>
          </a:xfrm>
          <a:prstGeom prst="rect">
            <a:avLst/>
          </a:prstGeom>
          <a:noFill/>
          <a:ln/>
        </p:spPr>
        <p:txBody>
          <a:bodyPr wrap="square" lIns="38100" tIns="38100" rIns="38100" bIns="38100" rtlCol="0" anchor="ctr"/>
          <a:lstStyle/>
          <a:p>
            <a:pPr algn="ctr" indent="0" marL="0">
              <a:buNone/>
            </a:pPr>
            <a:r>
              <a:rPr lang="en-US" sz="1200" b="1" dirty="0">
                <a:solidFill>
                  <a:srgbClr val="B22222"/>
                </a:solidFill>
                <a:latin typeface="Cambria" pitchFamily="34" charset="0"/>
                <a:ea typeface="Cambria" pitchFamily="34" charset="-122"/>
                <a:cs typeface="Cambria" pitchFamily="34" charset="-120"/>
              </a:rPr>
              <a:t>3,6</a:t>
            </a:r>
            <a:endParaRPr lang="en-US" sz="1200" dirty="0"/>
          </a:p>
        </p:txBody>
      </p:sp>
      <p:sp>
        <p:nvSpPr>
          <p:cNvPr id="48" name="Text 46"/>
          <p:cNvSpPr/>
          <p:nvPr/>
        </p:nvSpPr>
        <p:spPr>
          <a:xfrm>
            <a:off x="5760720" y="2779776"/>
            <a:ext cx="100584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25,8</a:t>
            </a:r>
            <a:endParaRPr lang="en-US" sz="1200" dirty="0"/>
          </a:p>
        </p:txBody>
      </p:sp>
      <p:sp>
        <p:nvSpPr>
          <p:cNvPr id="49" name="Text 47"/>
          <p:cNvSpPr/>
          <p:nvPr/>
        </p:nvSpPr>
        <p:spPr>
          <a:xfrm>
            <a:off x="6766560" y="2779776"/>
            <a:ext cx="1005840" cy="438912"/>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64,4</a:t>
            </a:r>
            <a:endParaRPr lang="en-US" sz="1200" dirty="0"/>
          </a:p>
        </p:txBody>
      </p:sp>
      <p:sp>
        <p:nvSpPr>
          <p:cNvPr id="50" name="Text 48"/>
          <p:cNvSpPr/>
          <p:nvPr/>
        </p:nvSpPr>
        <p:spPr>
          <a:xfrm>
            <a:off x="7772400" y="2779776"/>
            <a:ext cx="950976" cy="438912"/>
          </a:xfrm>
          <a:prstGeom prst="rect">
            <a:avLst/>
          </a:prstGeom>
          <a:noFill/>
          <a:ln/>
        </p:spPr>
        <p:txBody>
          <a:bodyPr wrap="square" lIns="38100" tIns="38100" rIns="38100" bIns="38100" rtlCol="0" anchor="ctr"/>
          <a:lstStyle/>
          <a:p>
            <a:pPr algn="ctr" indent="0" marL="0">
              <a:buNone/>
            </a:pPr>
            <a:r>
              <a:rPr lang="en-US" sz="1200" b="1" dirty="0">
                <a:solidFill>
                  <a:srgbClr val="B22222"/>
                </a:solidFill>
                <a:latin typeface="Cambria" pitchFamily="34" charset="0"/>
                <a:ea typeface="Cambria" pitchFamily="34" charset="-122"/>
                <a:cs typeface="Cambria" pitchFamily="34" charset="-120"/>
              </a:rPr>
              <a:t>+10,15</a:t>
            </a:r>
            <a:endParaRPr lang="en-US" sz="1200" dirty="0"/>
          </a:p>
        </p:txBody>
      </p:sp>
      <p:sp>
        <p:nvSpPr>
          <p:cNvPr id="51" name="Shape 49"/>
          <p:cNvSpPr/>
          <p:nvPr/>
        </p:nvSpPr>
        <p:spPr>
          <a:xfrm>
            <a:off x="502920" y="3218688"/>
            <a:ext cx="8220456" cy="0"/>
          </a:xfrm>
          <a:prstGeom prst="line">
            <a:avLst/>
          </a:prstGeom>
          <a:noFill/>
          <a:ln w="12700">
            <a:solidFill>
              <a:srgbClr val="9A94AE"/>
            </a:solidFill>
            <a:prstDash val="solid"/>
          </a:ln>
        </p:spPr>
      </p:sp>
      <p:sp>
        <p:nvSpPr>
          <p:cNvPr id="52" name="Text 50"/>
          <p:cNvSpPr/>
          <p:nvPr/>
        </p:nvSpPr>
        <p:spPr>
          <a:xfrm>
            <a:off x="502920" y="3218688"/>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không có tên tham chiếu</a:t>
            </a:r>
            <a:endParaRPr lang="en-US" sz="1150" dirty="0"/>
          </a:p>
        </p:txBody>
      </p:sp>
      <p:sp>
        <p:nvSpPr>
          <p:cNvPr id="53" name="Text 51"/>
          <p:cNvSpPr/>
          <p:nvPr/>
        </p:nvSpPr>
        <p:spPr>
          <a:xfrm>
            <a:off x="2971800" y="3218688"/>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990</a:t>
            </a:r>
            <a:endParaRPr lang="en-US" sz="1150" dirty="0"/>
          </a:p>
        </p:txBody>
      </p:sp>
      <p:sp>
        <p:nvSpPr>
          <p:cNvPr id="54" name="Text 52"/>
          <p:cNvSpPr/>
          <p:nvPr/>
        </p:nvSpPr>
        <p:spPr>
          <a:xfrm>
            <a:off x="3931920" y="3218688"/>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22,2</a:t>
            </a:r>
            <a:endParaRPr lang="en-US" sz="1150" dirty="0"/>
          </a:p>
        </p:txBody>
      </p:sp>
      <p:sp>
        <p:nvSpPr>
          <p:cNvPr id="55" name="Text 53"/>
          <p:cNvSpPr/>
          <p:nvPr/>
        </p:nvSpPr>
        <p:spPr>
          <a:xfrm>
            <a:off x="475488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55,3</a:t>
            </a:r>
            <a:endParaRPr lang="en-US" sz="1150" dirty="0"/>
          </a:p>
        </p:txBody>
      </p:sp>
      <p:sp>
        <p:nvSpPr>
          <p:cNvPr id="56" name="Text 54"/>
          <p:cNvSpPr/>
          <p:nvPr/>
        </p:nvSpPr>
        <p:spPr>
          <a:xfrm>
            <a:off x="576072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54,4</a:t>
            </a:r>
            <a:endParaRPr lang="en-US" sz="1150" dirty="0"/>
          </a:p>
        </p:txBody>
      </p:sp>
      <p:sp>
        <p:nvSpPr>
          <p:cNvPr id="57" name="Text 55"/>
          <p:cNvSpPr/>
          <p:nvPr/>
        </p:nvSpPr>
        <p:spPr>
          <a:xfrm>
            <a:off x="676656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73,0</a:t>
            </a:r>
            <a:endParaRPr lang="en-US" sz="1150" dirty="0"/>
          </a:p>
        </p:txBody>
      </p:sp>
      <p:sp>
        <p:nvSpPr>
          <p:cNvPr id="58" name="Text 56"/>
          <p:cNvSpPr/>
          <p:nvPr/>
        </p:nvSpPr>
        <p:spPr>
          <a:xfrm>
            <a:off x="7772400" y="3218688"/>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+3,94</a:t>
            </a:r>
            <a:endParaRPr lang="en-US" sz="1150" dirty="0"/>
          </a:p>
        </p:txBody>
      </p:sp>
      <p:sp>
        <p:nvSpPr>
          <p:cNvPr id="59" name="Text 57"/>
          <p:cNvSpPr/>
          <p:nvPr/>
        </p:nvSpPr>
        <p:spPr>
          <a:xfrm>
            <a:off x="640080" y="384048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60" name="Text 58"/>
          <p:cNvSpPr/>
          <p:nvPr/>
        </p:nvSpPr>
        <p:spPr>
          <a:xfrm>
            <a:off x="868680" y="384048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Ô đúng cả hai đã hết dư địa: mô hình vượt trần trên 46,7% số bước</a:t>
            </a:r>
            <a:endParaRPr lang="en-US" sz="1350" dirty="0"/>
          </a:p>
        </p:txBody>
      </p:sp>
      <p:sp>
        <p:nvSpPr>
          <p:cNvPr id="61" name="Text 59"/>
          <p:cNvSpPr/>
          <p:nvPr/>
        </p:nvSpPr>
        <p:spPr>
          <a:xfrm>
            <a:off x="640080" y="440740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62" name="Text 60"/>
          <p:cNvSpPr/>
          <p:nvPr/>
        </p:nvSpPr>
        <p:spPr>
          <a:xfrm>
            <a:off x="868680" y="440740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Ô sai cả hai giữ 63% dư địa, mà câu người viết vẫn đạt 64,4 ở đó</a:t>
            </a:r>
            <a:endParaRPr lang="en-US" sz="1350" dirty="0"/>
          </a:p>
        </p:txBody>
      </p:sp>
      <p:sp>
        <p:nvSpPr>
          <p:cNvPr id="63" name="Shape 61"/>
          <p:cNvSpPr/>
          <p:nvPr/>
        </p:nvSpPr>
        <p:spPr>
          <a:xfrm>
            <a:off x="502920" y="4983480"/>
            <a:ext cx="8138160" cy="685800"/>
          </a:xfrm>
          <a:prstGeom prst="roundRect">
            <a:avLst>
              <a:gd name="adj" fmla="val 8000"/>
            </a:avLst>
          </a:prstGeom>
          <a:solidFill>
            <a:srgbClr val="E9E8EC"/>
          </a:solidFill>
          <a:ln/>
          <a:effectLst>
            <a:outerShdw sx="100000" sy="100000" kx="0" ky="0" algn="bl" rotWithShape="0" blurRad="63500" dist="31750" dir="2700000">
              <a:srgbClr val="8C8C99">
                <a:alpha val="45000"/>
              </a:srgbClr>
            </a:outerShdw>
          </a:effectLst>
        </p:spPr>
      </p:sp>
      <p:sp>
        <p:nvSpPr>
          <p:cNvPr id="64" name="Text 62"/>
          <p:cNvSpPr/>
          <p:nvPr/>
        </p:nvSpPr>
        <p:spPr>
          <a:xfrm>
            <a:off x="731520" y="4983480"/>
            <a:ext cx="7680960" cy="685800"/>
          </a:xfrm>
          <a:prstGeom prst="rect">
            <a:avLst/>
          </a:prstGeom>
          <a:noFill/>
          <a:ln/>
        </p:spPr>
        <p:txBody>
          <a:bodyPr wrap="square" lIns="0" tIns="0" rIns="0" bIns="0" rtlCol="0" anchor="ctr"/>
          <a:lstStyle/>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Chặn được thiệt hại ở nhóm khai báo sai thì được +5,4 điểm.</a:t>
            </a:r>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  Bảy cơ chế chọn đã thử đều nằm trong nhiễu, nên phải sửa ở khâu huấn luyện.</a:t>
            </a:r>
            <a:endParaRPr lang="en-US" sz="1250" dirty="0"/>
          </a:p>
        </p:txBody>
      </p:sp>
      <p:sp>
        <p:nvSpPr>
          <p:cNvPr id="66" name="Shape 63"/>
          <p:cNvSpPr/>
          <p:nvPr/>
        </p:nvSpPr>
        <p:spPr>
          <a:xfrm>
            <a:off x="0" y="6620256"/>
            <a:ext cx="2743200" cy="237744"/>
          </a:xfrm>
          <a:prstGeom prst="rect">
            <a:avLst/>
          </a:prstGeom>
          <a:solidFill>
            <a:srgbClr val="191132"/>
          </a:solidFill>
          <a:ln/>
        </p:spPr>
      </p:sp>
      <p:sp>
        <p:nvSpPr>
          <p:cNvPr id="67" name="Shape 64"/>
          <p:cNvSpPr/>
          <p:nvPr/>
        </p:nvSpPr>
        <p:spPr>
          <a:xfrm>
            <a:off x="2743200" y="6620256"/>
            <a:ext cx="3383280" cy="237744"/>
          </a:xfrm>
          <a:prstGeom prst="rect">
            <a:avLst/>
          </a:prstGeom>
          <a:solidFill>
            <a:srgbClr val="25194B"/>
          </a:solidFill>
          <a:ln/>
        </p:spPr>
      </p:sp>
      <p:sp>
        <p:nvSpPr>
          <p:cNvPr id="68" name="Shape 65"/>
          <p:cNvSpPr/>
          <p:nvPr/>
        </p:nvSpPr>
        <p:spPr>
          <a:xfrm>
            <a:off x="6126480" y="6620256"/>
            <a:ext cx="1737360" cy="237744"/>
          </a:xfrm>
          <a:prstGeom prst="rect">
            <a:avLst/>
          </a:prstGeom>
          <a:solidFill>
            <a:srgbClr val="4F417A"/>
          </a:solidFill>
          <a:ln/>
        </p:spPr>
      </p:sp>
      <p:sp>
        <p:nvSpPr>
          <p:cNvPr id="69" name="Shape 66"/>
          <p:cNvSpPr/>
          <p:nvPr/>
        </p:nvSpPr>
        <p:spPr>
          <a:xfrm>
            <a:off x="7863840" y="6620256"/>
            <a:ext cx="1280160" cy="237744"/>
          </a:xfrm>
          <a:prstGeom prst="rect">
            <a:avLst/>
          </a:prstGeom>
          <a:solidFill>
            <a:srgbClr val="7A7099"/>
          </a:solidFill>
          <a:ln/>
        </p:spPr>
      </p:sp>
      <p:sp>
        <p:nvSpPr>
          <p:cNvPr id="70" name="Text 6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71" name="Text 6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72" name="Text 6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73" name="Text 7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21/25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6 · Hạn chế, tự khai kèm số đo</a:t>
            </a:r>
            <a:endParaRPr lang="en-US" sz="1900" dirty="0"/>
          </a:p>
        </p:txBody>
      </p:sp>
      <p:sp>
        <p:nvSpPr>
          <p:cNvPr id="4" name="Text 2"/>
          <p:cNvSpPr/>
          <p:nvPr/>
        </p:nvSpPr>
        <p:spPr>
          <a:xfrm>
            <a:off x="502920" y="868680"/>
            <a:ext cx="4023360" cy="292608"/>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Về kết quả mô hình</a:t>
            </a:r>
            <a:endParaRPr lang="en-US" sz="1400" dirty="0"/>
          </a:p>
        </p:txBody>
      </p:sp>
      <p:sp>
        <p:nvSpPr>
          <p:cNvPr id="5" name="Text 3"/>
          <p:cNvSpPr/>
          <p:nvPr/>
        </p:nvSpPr>
        <p:spPr>
          <a:xfrm>
            <a:off x="502920" y="1280160"/>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6" name="Text 4"/>
          <p:cNvSpPr/>
          <p:nvPr/>
        </p:nvSpPr>
        <p:spPr>
          <a:xfrm>
            <a:off x="731520" y="1280160"/>
            <a:ext cx="379476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Mọi nhánh xử lý chỉ chạy được một hạt giống</a:t>
            </a:r>
            <a:endParaRPr lang="en-US" sz="1250" dirty="0"/>
          </a:p>
        </p:txBody>
      </p:sp>
      <p:sp>
        <p:nvSpPr>
          <p:cNvPr id="7" name="Text 5"/>
          <p:cNvSpPr/>
          <p:nvPr/>
        </p:nvSpPr>
        <p:spPr>
          <a:xfrm>
            <a:off x="502920" y="2029968"/>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8" name="Text 6"/>
          <p:cNvSpPr/>
          <p:nvPr/>
        </p:nvSpPr>
        <p:spPr>
          <a:xfrm>
            <a:off x="731520" y="2029968"/>
            <a:ext cx="379476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Điều kiện không gây hại bị trượt: tụt 19,75 điểm ở bước không chạm</a:t>
            </a:r>
            <a:endParaRPr lang="en-US" sz="1250" dirty="0"/>
          </a:p>
        </p:txBody>
      </p:sp>
      <p:sp>
        <p:nvSpPr>
          <p:cNvPr id="9" name="Text 7"/>
          <p:cNvSpPr/>
          <p:nvPr/>
        </p:nvSpPr>
        <p:spPr>
          <a:xfrm>
            <a:off x="502920" y="2779776"/>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0" name="Text 8"/>
          <p:cNvSpPr/>
          <p:nvPr/>
        </p:nvSpPr>
        <p:spPr>
          <a:xfrm>
            <a:off x="731520" y="2779776"/>
            <a:ext cx="379476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Dữ liệu cặp có lối tắt ở 17,4% số cặp, phát hiện sau khi huấn luyện</a:t>
            </a:r>
            <a:endParaRPr lang="en-US" sz="1250" dirty="0"/>
          </a:p>
        </p:txBody>
      </p:sp>
      <p:sp>
        <p:nvSpPr>
          <p:cNvPr id="11" name="Text 9"/>
          <p:cNvSpPr/>
          <p:nvPr/>
        </p:nvSpPr>
        <p:spPr>
          <a:xfrm>
            <a:off x="502920" y="3529584"/>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2" name="Text 10"/>
          <p:cNvSpPr/>
          <p:nvPr/>
        </p:nvSpPr>
        <p:spPr>
          <a:xfrm>
            <a:off x="731520" y="3529584"/>
            <a:ext cx="379476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Ba nhánh đối chứng đã đăng ký không chạy</a:t>
            </a:r>
            <a:endParaRPr lang="en-US" sz="1250" dirty="0"/>
          </a:p>
        </p:txBody>
      </p:sp>
      <p:sp>
        <p:nvSpPr>
          <p:cNvPr id="13" name="Text 11"/>
          <p:cNvSpPr/>
          <p:nvPr/>
        </p:nvSpPr>
        <p:spPr>
          <a:xfrm>
            <a:off x="4663440" y="868680"/>
            <a:ext cx="3977640" cy="292608"/>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Về dụng cụ đo và dữ liệu</a:t>
            </a:r>
            <a:endParaRPr lang="en-US" sz="1400" dirty="0"/>
          </a:p>
        </p:txBody>
      </p:sp>
      <p:sp>
        <p:nvSpPr>
          <p:cNvPr id="14" name="Text 12"/>
          <p:cNvSpPr/>
          <p:nvPr/>
        </p:nvSpPr>
        <p:spPr>
          <a:xfrm>
            <a:off x="4663440" y="1280160"/>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5" name="Text 13"/>
          <p:cNvSpPr/>
          <p:nvPr/>
        </p:nvSpPr>
        <p:spPr>
          <a:xfrm>
            <a:off x="4892040" y="1280160"/>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Hai dụng cụ đo cùng họ Qwen-VL với mô hình bị chấm</a:t>
            </a:r>
            <a:endParaRPr lang="en-US" sz="1250" dirty="0"/>
          </a:p>
        </p:txBody>
      </p:sp>
      <p:sp>
        <p:nvSpPr>
          <p:cNvPr id="16" name="Text 14"/>
          <p:cNvSpPr/>
          <p:nvPr/>
        </p:nvSpPr>
        <p:spPr>
          <a:xfrm>
            <a:off x="4663440" y="2029968"/>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7" name="Text 15"/>
          <p:cNvSpPr/>
          <p:nvPr/>
        </p:nvSpPr>
        <p:spPr>
          <a:xfrm>
            <a:off x="4892040" y="2029968"/>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Thước chưa đối chiếu với đánh giá của người thật</a:t>
            </a:r>
            <a:endParaRPr lang="en-US" sz="1250" dirty="0"/>
          </a:p>
        </p:txBody>
      </p:sp>
      <p:sp>
        <p:nvSpPr>
          <p:cNvPr id="18" name="Text 16"/>
          <p:cNvSpPr/>
          <p:nvPr/>
        </p:nvSpPr>
        <p:spPr>
          <a:xfrm>
            <a:off x="4663440" y="2779776"/>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9" name="Text 17"/>
          <p:cNvSpPr/>
          <p:nvPr/>
        </p:nvSpPr>
        <p:spPr>
          <a:xfrm>
            <a:off x="4892040" y="2779776"/>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Tập kiểm không phải ứng dụng chưa từng thấy: 95,6% trùng</a:t>
            </a:r>
            <a:endParaRPr lang="en-US" sz="1250" dirty="0"/>
          </a:p>
        </p:txBody>
      </p:sp>
      <p:sp>
        <p:nvSpPr>
          <p:cNvPr id="20" name="Text 18"/>
          <p:cNvSpPr/>
          <p:nvPr/>
        </p:nvSpPr>
        <p:spPr>
          <a:xfrm>
            <a:off x="4663440" y="3529584"/>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1" name="Text 19"/>
          <p:cNvSpPr/>
          <p:nvPr/>
        </p:nvSpPr>
        <p:spPr>
          <a:xfrm>
            <a:off x="4892040" y="3529584"/>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Khâu chấm mớm sẵn ngữ cảnh do người viết</a:t>
            </a:r>
            <a:endParaRPr lang="en-US" sz="1250" dirty="0"/>
          </a:p>
        </p:txBody>
      </p:sp>
      <p:sp>
        <p:nvSpPr>
          <p:cNvPr id="22" name="Shape 20"/>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23" name="Text 21"/>
          <p:cNvSpPr/>
          <p:nvPr/>
        </p:nvSpPr>
        <p:spPr>
          <a:xfrm>
            <a:off x="731520" y="4480560"/>
            <a:ext cx="7680960" cy="1188720"/>
          </a:xfrm>
          <a:prstGeom prst="rect">
            <a:avLst/>
          </a:prstGeom>
          <a:noFill/>
          <a:ln/>
        </p:spPr>
        <p:txBody>
          <a:bodyPr wrap="square" lIns="0" tIns="0" rIns="0" bIns="0" rtlCol="0" anchor="ctr"/>
          <a:lstStyle/>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Phạm vi của luận văn gồm một màn hình mỗi lần, giao diện tiếng Anh, một bộ dữ liệu, hai mô hình định vị cùng họ và một mô hình gốc cỡ ba tỉ tham số.</a:t>
            </a:r>
            <a:endParaRPr lang="en-US" sz="135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6 · Hướng phát triển</a:t>
            </a:r>
            <a:endParaRPr lang="en-US" sz="1900" dirty="0"/>
          </a:p>
        </p:txBody>
      </p:sp>
      <p:sp>
        <p:nvSpPr>
          <p:cNvPr id="4" name="Text 2"/>
          <p:cNvSpPr/>
          <p:nvPr/>
        </p:nvSpPr>
        <p:spPr>
          <a:xfrm>
            <a:off x="502920" y="804672"/>
            <a:ext cx="8138160" cy="292608"/>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Ba hướng đầu đã đăng ký trước ngày 25 tháng 8, kèm cổng chặn và điểm quyết định</a:t>
            </a:r>
            <a:endParaRPr lang="en-US" sz="1200" dirty="0"/>
          </a:p>
        </p:txBody>
      </p:sp>
      <p:sp>
        <p:nvSpPr>
          <p:cNvPr id="5" name="Shape 3"/>
          <p:cNvSpPr/>
          <p:nvPr/>
        </p:nvSpPr>
        <p:spPr>
          <a:xfrm>
            <a:off x="502920" y="1188720"/>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6" name="Text 4"/>
          <p:cNvSpPr/>
          <p:nvPr/>
        </p:nvSpPr>
        <p:spPr>
          <a:xfrm>
            <a:off x="630936" y="1298448"/>
            <a:ext cx="384048" cy="384048"/>
          </a:xfrm>
          <a:prstGeom prst="rect">
            <a:avLst/>
          </a:prstGeom>
          <a:noFill/>
          <a:ln/>
        </p:spPr>
        <p:txBody>
          <a:bodyPr wrap="square" lIns="0" tIns="0" rIns="0" bIns="0" rtlCol="0" anchor="t"/>
          <a:lstStyle/>
          <a:p>
            <a:pPr algn="ctr" indent="0" marL="0">
              <a:buNone/>
            </a:pPr>
            <a:r>
              <a:rPr lang="en-US" sz="2100" b="1" dirty="0">
                <a:solidFill>
                  <a:srgbClr val="B22222"/>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069848" y="1316736"/>
            <a:ext cx="7360920" cy="310896"/>
          </a:xfrm>
          <a:prstGeom prst="rect">
            <a:avLst/>
          </a:prstGeom>
          <a:noFill/>
          <a:ln/>
        </p:spPr>
        <p:txBody>
          <a:bodyPr wrap="square" lIns="0" tIns="0" rIns="0" bIns="0" rtlCol="0" anchor="t"/>
          <a:lstStyle/>
          <a:p>
            <a:pPr algn="l" indent="0" marL="0">
              <a:buNone/>
            </a:pPr>
            <a:r>
              <a:rPr lang="en-US" sz="1400" b="1" dirty="0">
                <a:solidFill>
                  <a:srgbClr val="B22222"/>
                </a:solidFill>
                <a:latin typeface="Cambria" pitchFamily="34" charset="0"/>
                <a:ea typeface="Cambria" pitchFamily="34" charset="-122"/>
                <a:cs typeface="Cambria" pitchFamily="34" charset="-120"/>
              </a:rPr>
              <a:t>Đưa danh sách ứng viên vào đầu vào</a:t>
            </a:r>
            <a:endParaRPr lang="en-US" sz="1400" dirty="0"/>
          </a:p>
        </p:txBody>
      </p:sp>
      <p:sp>
        <p:nvSpPr>
          <p:cNvPr id="8" name="Text 6"/>
          <p:cNvSpPr/>
          <p:nvPr/>
        </p:nvSpPr>
        <p:spPr>
          <a:xfrm>
            <a:off x="1069848" y="1700784"/>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Mô hình chọn tên trong danh sách của màn hình đó. Tên đúng có mặt ở 99,7% số bước.</a:t>
            </a:r>
            <a:endParaRPr lang="en-US" sz="1250" dirty="0"/>
          </a:p>
        </p:txBody>
      </p:sp>
      <p:sp>
        <p:nvSpPr>
          <p:cNvPr id="9" name="Shape 7"/>
          <p:cNvSpPr/>
          <p:nvPr/>
        </p:nvSpPr>
        <p:spPr>
          <a:xfrm>
            <a:off x="502920" y="2487168"/>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630936" y="2596896"/>
            <a:ext cx="384048" cy="384048"/>
          </a:xfrm>
          <a:prstGeom prst="rect">
            <a:avLst/>
          </a:prstGeom>
          <a:noFill/>
          <a:ln/>
        </p:spPr>
        <p:txBody>
          <a:bodyPr wrap="square" lIns="0" tIns="0" rIns="0" bIns="0" rtlCol="0" anchor="t"/>
          <a:lstStyle/>
          <a:p>
            <a:pPr algn="ctr" indent="0" marL="0">
              <a:buNone/>
            </a:pPr>
            <a:r>
              <a:rPr lang="en-US" sz="2100" b="1" dirty="0">
                <a:solidFill>
                  <a:srgbClr val="322164"/>
                </a:solidFill>
                <a:latin typeface="Cambria" pitchFamily="34" charset="0"/>
                <a:ea typeface="Cambria" pitchFamily="34" charset="-122"/>
                <a:cs typeface="Cambria" pitchFamily="34" charset="-120"/>
              </a:rPr>
              <a:t>2</a:t>
            </a:r>
            <a:endParaRPr lang="en-US" sz="2100" dirty="0"/>
          </a:p>
        </p:txBody>
      </p:sp>
      <p:sp>
        <p:nvSpPr>
          <p:cNvPr id="11" name="Text 9"/>
          <p:cNvSpPr/>
          <p:nvPr/>
        </p:nvSpPr>
        <p:spPr>
          <a:xfrm>
            <a:off x="1069848" y="2615184"/>
            <a:ext cx="7360920" cy="310896"/>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Dạy mô hình lùi khi không chắc</a:t>
            </a:r>
            <a:endParaRPr lang="en-US" sz="1400" dirty="0"/>
          </a:p>
        </p:txBody>
      </p:sp>
      <p:sp>
        <p:nvSpPr>
          <p:cNvPr id="12" name="Text 10"/>
          <p:cNvSpPr/>
          <p:nvPr/>
        </p:nvSpPr>
        <p:spPr>
          <a:xfrm>
            <a:off x="1069848" y="2999232"/>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Bước từng gọi sai tên nhận đích không chắc, nên vẫn so được với nhánh nền.</a:t>
            </a:r>
            <a:endParaRPr lang="en-US" sz="1250" dirty="0"/>
          </a:p>
        </p:txBody>
      </p:sp>
      <p:sp>
        <p:nvSpPr>
          <p:cNvPr id="13" name="Shape 11"/>
          <p:cNvSpPr/>
          <p:nvPr/>
        </p:nvSpPr>
        <p:spPr>
          <a:xfrm>
            <a:off x="502920" y="3785616"/>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14" name="Text 12"/>
          <p:cNvSpPr/>
          <p:nvPr/>
        </p:nvSpPr>
        <p:spPr>
          <a:xfrm>
            <a:off x="630936" y="3895344"/>
            <a:ext cx="384048" cy="384048"/>
          </a:xfrm>
          <a:prstGeom prst="rect">
            <a:avLst/>
          </a:prstGeom>
          <a:noFill/>
          <a:ln/>
        </p:spPr>
        <p:txBody>
          <a:bodyPr wrap="square" lIns="0" tIns="0" rIns="0" bIns="0" rtlCol="0" anchor="t"/>
          <a:lstStyle/>
          <a:p>
            <a:pPr algn="ctr" indent="0" marL="0">
              <a:buNone/>
            </a:pPr>
            <a:r>
              <a:rPr lang="en-US" sz="2100" b="1" dirty="0">
                <a:solidFill>
                  <a:srgbClr val="322164"/>
                </a:solidFill>
                <a:latin typeface="Cambria" pitchFamily="34" charset="0"/>
                <a:ea typeface="Cambria" pitchFamily="34" charset="-122"/>
                <a:cs typeface="Cambria" pitchFamily="34" charset="-120"/>
              </a:rPr>
              <a:t>3</a:t>
            </a:r>
            <a:endParaRPr lang="en-US" sz="2100" dirty="0"/>
          </a:p>
        </p:txBody>
      </p:sp>
      <p:sp>
        <p:nvSpPr>
          <p:cNvPr id="15" name="Text 13"/>
          <p:cNvSpPr/>
          <p:nvPr/>
        </p:nvSpPr>
        <p:spPr>
          <a:xfrm>
            <a:off x="1069848" y="3913632"/>
            <a:ext cx="7360920" cy="310896"/>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Chạy nốt hạt giống thứ hai</a:t>
            </a:r>
            <a:endParaRPr lang="en-US" sz="1400" dirty="0"/>
          </a:p>
        </p:txBody>
      </p:sp>
      <p:sp>
        <p:nvSpPr>
          <p:cNvPr id="16" name="Text 14"/>
          <p:cNvSpPr/>
          <p:nvPr/>
        </p:nvSpPr>
        <p:spPr>
          <a:xfrm>
            <a:off x="1069848" y="4297680"/>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Báo trung bình hai hạt giống, bất kể kết quả ra sao.</a:t>
            </a:r>
            <a:endParaRPr lang="en-US" sz="1250" dirty="0"/>
          </a:p>
        </p:txBody>
      </p:sp>
      <p:sp>
        <p:nvSpPr>
          <p:cNvPr id="17" name="Text 15"/>
          <p:cNvSpPr/>
          <p:nvPr/>
        </p:nvSpPr>
        <p:spPr>
          <a:xfrm>
            <a:off x="502920" y="5166360"/>
            <a:ext cx="8138160" cy="502920"/>
          </a:xfrm>
          <a:prstGeom prst="rect">
            <a:avLst/>
          </a:prstGeom>
          <a:noFill/>
          <a:ln/>
        </p:spPr>
        <p:txBody>
          <a:bodyPr wrap="square" lIns="0" tIns="0" rIns="0" bIns="0" rtlCol="0" anchor="t"/>
          <a:lstStyle/>
          <a:p>
            <a:pPr algn="l" indent="0" marL="0">
              <a:lnSpc>
                <a:spcPct val="130000"/>
              </a:lnSpc>
              <a:buNone/>
            </a:pPr>
            <a:r>
              <a:rPr lang="en-US" sz="1150" dirty="0">
                <a:solidFill>
                  <a:srgbClr val="5A5A66"/>
                </a:solidFill>
                <a:latin typeface="Cambria" pitchFamily="34" charset="0"/>
                <a:ea typeface="Cambria" pitchFamily="34" charset="-122"/>
                <a:cs typeface="Cambria" pitchFamily="34" charset="-120"/>
              </a:rPr>
              <a:t>Còn lại: chấm tay 100 câu · viết lại chính tên gọi phần tử · bộ liệt kê phần tử tốt hơn · chuỗi nhiều màn</a:t>
            </a:r>
            <a:endParaRPr lang="en-US" sz="1150" dirty="0"/>
          </a:p>
        </p:txBody>
      </p:sp>
      <p:sp>
        <p:nvSpPr>
          <p:cNvPr id="19" name="Shape 16"/>
          <p:cNvSpPr/>
          <p:nvPr/>
        </p:nvSpPr>
        <p:spPr>
          <a:xfrm>
            <a:off x="0" y="6620256"/>
            <a:ext cx="2743200" cy="237744"/>
          </a:xfrm>
          <a:prstGeom prst="rect">
            <a:avLst/>
          </a:prstGeom>
          <a:solidFill>
            <a:srgbClr val="191132"/>
          </a:solidFill>
          <a:ln/>
        </p:spPr>
      </p:sp>
      <p:sp>
        <p:nvSpPr>
          <p:cNvPr id="20" name="Shape 17"/>
          <p:cNvSpPr/>
          <p:nvPr/>
        </p:nvSpPr>
        <p:spPr>
          <a:xfrm>
            <a:off x="2743200" y="6620256"/>
            <a:ext cx="3383280" cy="237744"/>
          </a:xfrm>
          <a:prstGeom prst="rect">
            <a:avLst/>
          </a:prstGeom>
          <a:solidFill>
            <a:srgbClr val="25194B"/>
          </a:solidFill>
          <a:ln/>
        </p:spPr>
      </p:sp>
      <p:sp>
        <p:nvSpPr>
          <p:cNvPr id="21" name="Shape 18"/>
          <p:cNvSpPr/>
          <p:nvPr/>
        </p:nvSpPr>
        <p:spPr>
          <a:xfrm>
            <a:off x="6126480" y="6620256"/>
            <a:ext cx="1737360" cy="237744"/>
          </a:xfrm>
          <a:prstGeom prst="rect">
            <a:avLst/>
          </a:prstGeom>
          <a:solidFill>
            <a:srgbClr val="4F417A"/>
          </a:solidFill>
          <a:ln/>
        </p:spPr>
      </p:sp>
      <p:sp>
        <p:nvSpPr>
          <p:cNvPr id="22" name="Shape 19"/>
          <p:cNvSpPr/>
          <p:nvPr/>
        </p:nvSpPr>
        <p:spPr>
          <a:xfrm>
            <a:off x="7863840" y="6620256"/>
            <a:ext cx="1280160" cy="237744"/>
          </a:xfrm>
          <a:prstGeom prst="rect">
            <a:avLst/>
          </a:prstGeom>
          <a:solidFill>
            <a:srgbClr val="7A7099"/>
          </a:solidFill>
          <a:ln/>
        </p:spPr>
      </p:sp>
      <p:sp>
        <p:nvSpPr>
          <p:cNvPr id="23"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4"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5"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23/25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Kết luận</a:t>
            </a:r>
            <a:endParaRPr lang="en-US" sz="1900" dirty="0"/>
          </a:p>
        </p:txBody>
      </p:sp>
      <p:sp>
        <p:nvSpPr>
          <p:cNvPr id="4" name="Shape 2"/>
          <p:cNvSpPr/>
          <p:nvPr/>
        </p:nvSpPr>
        <p:spPr>
          <a:xfrm>
            <a:off x="502920" y="96012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85800" y="1069848"/>
            <a:ext cx="1463040" cy="320040"/>
          </a:xfrm>
          <a:prstGeom prst="rect">
            <a:avLst/>
          </a:prstGeom>
          <a:noFill/>
          <a:ln/>
        </p:spPr>
        <p:txBody>
          <a:bodyPr wrap="square" lIns="0" tIns="0" rIns="0" bIns="0" rtlCol="0" anchor="t"/>
          <a:lstStyle/>
          <a:p>
            <a:pPr algn="l" indent="0" marL="0">
              <a:buNone/>
            </a:pPr>
            <a:r>
              <a:rPr lang="en-US" sz="1450" b="1" dirty="0">
                <a:solidFill>
                  <a:srgbClr val="006666"/>
                </a:solidFill>
                <a:latin typeface="Cambria" pitchFamily="34" charset="0"/>
                <a:ea typeface="Cambria" pitchFamily="34" charset="-122"/>
                <a:cs typeface="Cambria" pitchFamily="34" charset="-120"/>
              </a:rPr>
              <a:t>Thước đo</a:t>
            </a:r>
            <a:endParaRPr lang="en-US" sz="1450" dirty="0"/>
          </a:p>
        </p:txBody>
      </p:sp>
      <p:sp>
        <p:nvSpPr>
          <p:cNvPr id="6" name="Text 4"/>
          <p:cNvSpPr/>
          <p:nvPr/>
        </p:nvSpPr>
        <p:spPr>
          <a:xfrm>
            <a:off x="685800" y="141732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Executability, kiểm chứng bằng sáu khối phép đo. Trần 75,7 và sàn 12,0 đều đo được.</a:t>
            </a:r>
            <a:endParaRPr lang="en-US" sz="1250" dirty="0"/>
          </a:p>
        </p:txBody>
      </p:sp>
      <p:sp>
        <p:nvSpPr>
          <p:cNvPr id="7" name="Shape 5"/>
          <p:cNvSpPr/>
          <p:nvPr/>
        </p:nvSpPr>
        <p:spPr>
          <a:xfrm>
            <a:off x="502920" y="219456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685800" y="2304288"/>
            <a:ext cx="1463040" cy="320040"/>
          </a:xfrm>
          <a:prstGeom prst="rect">
            <a:avLst/>
          </a:prstGeom>
          <a:noFill/>
          <a:ln/>
        </p:spPr>
        <p:txBody>
          <a:bodyPr wrap="square" lIns="0" tIns="0" rIns="0" bIns="0" rtlCol="0" anchor="t"/>
          <a:lstStyle/>
          <a:p>
            <a:pPr algn="l" indent="0" marL="0">
              <a:buNone/>
            </a:pPr>
            <a:r>
              <a:rPr lang="en-US" sz="1450" b="1" dirty="0">
                <a:solidFill>
                  <a:srgbClr val="322164"/>
                </a:solidFill>
                <a:latin typeface="Cambria" pitchFamily="34" charset="0"/>
                <a:ea typeface="Cambria" pitchFamily="34" charset="-122"/>
                <a:cs typeface="Cambria" pitchFamily="34" charset="-120"/>
              </a:rPr>
              <a:t>Kết quả</a:t>
            </a:r>
            <a:endParaRPr lang="en-US" sz="1450" dirty="0"/>
          </a:p>
        </p:txBody>
      </p:sp>
      <p:sp>
        <p:nvSpPr>
          <p:cNvPr id="9" name="Text 7"/>
          <p:cNvSpPr/>
          <p:nvPr/>
        </p:nvSpPr>
        <p:spPr>
          <a:xfrm>
            <a:off x="685800" y="265176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Tinh chỉnh đáng 11,5 điểm và đứng vững sau sáu cách giải thích thay thế. Thành phần đề xuất cho ô trắng, và luận văn dừng đúng ở đó.</a:t>
            </a:r>
            <a:endParaRPr lang="en-US" sz="1250" dirty="0"/>
          </a:p>
        </p:txBody>
      </p:sp>
      <p:sp>
        <p:nvSpPr>
          <p:cNvPr id="10" name="Shape 8"/>
          <p:cNvSpPr/>
          <p:nvPr/>
        </p:nvSpPr>
        <p:spPr>
          <a:xfrm>
            <a:off x="502920" y="342900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685800" y="3538728"/>
            <a:ext cx="1463040" cy="320040"/>
          </a:xfrm>
          <a:prstGeom prst="rect">
            <a:avLst/>
          </a:prstGeom>
          <a:noFill/>
          <a:ln/>
        </p:spPr>
        <p:txBody>
          <a:bodyPr wrap="square" lIns="0" tIns="0" rIns="0" bIns="0" rtlCol="0" anchor="t"/>
          <a:lstStyle/>
          <a:p>
            <a:pPr algn="l" indent="0" marL="0">
              <a:buNone/>
            </a:pPr>
            <a:r>
              <a:rPr lang="en-US" sz="1450" b="1" dirty="0">
                <a:solidFill>
                  <a:srgbClr val="990000"/>
                </a:solidFill>
                <a:latin typeface="Cambria" pitchFamily="34" charset="0"/>
                <a:ea typeface="Cambria" pitchFamily="34" charset="-122"/>
                <a:cs typeface="Cambria" pitchFamily="34" charset="-120"/>
              </a:rPr>
              <a:t>Chẩn đoán</a:t>
            </a:r>
            <a:endParaRPr lang="en-US" sz="1450" dirty="0"/>
          </a:p>
        </p:txBody>
      </p:sp>
      <p:sp>
        <p:nvSpPr>
          <p:cNvPr id="12" name="Text 10"/>
          <p:cNvSpPr/>
          <p:nvPr/>
        </p:nvSpPr>
        <p:spPr>
          <a:xfrm>
            <a:off x="685800" y="388620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Cơ chế đúng trên 60,6% số bước, nhưng bị chặn bởi độ chính xác khai báo. 63% dư địa nằm trong một ô.</a:t>
            </a:r>
            <a:endParaRPr lang="en-US" sz="1250" dirty="0"/>
          </a:p>
        </p:txBody>
      </p:sp>
      <p:sp>
        <p:nvSpPr>
          <p:cNvPr id="13" name="Text 11"/>
          <p:cNvSpPr/>
          <p:nvPr/>
        </p:nvSpPr>
        <p:spPr>
          <a:xfrm>
            <a:off x="502920" y="4709160"/>
            <a:ext cx="813816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Công trình liên quan tới luận văn</a:t>
            </a:r>
            <a:endParaRPr lang="en-US" sz="1300" dirty="0"/>
          </a:p>
        </p:txBody>
      </p:sp>
      <p:sp>
        <p:nvSpPr>
          <p:cNvPr id="14" name="Text 12"/>
          <p:cNvSpPr/>
          <p:nvPr/>
        </p:nvSpPr>
        <p:spPr>
          <a:xfrm>
            <a:off x="502920" y="5029200"/>
            <a:ext cx="210312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VCL 2026</a:t>
            </a:r>
            <a:endParaRPr lang="en-US" sz="1150" dirty="0"/>
          </a:p>
        </p:txBody>
      </p:sp>
      <p:sp>
        <p:nvSpPr>
          <p:cNvPr id="15" name="Text 13"/>
          <p:cNvSpPr/>
          <p:nvPr/>
        </p:nvSpPr>
        <p:spPr>
          <a:xfrm>
            <a:off x="2606040" y="5029200"/>
            <a:ext cx="397764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Nhãn quy chiếu tự động khi phần tử không có tên để gọi</a:t>
            </a:r>
            <a:endParaRPr lang="en-US" sz="1150" dirty="0"/>
          </a:p>
        </p:txBody>
      </p:sp>
      <p:sp>
        <p:nvSpPr>
          <p:cNvPr id="16" name="Text 14"/>
          <p:cNvSpPr/>
          <p:nvPr/>
        </p:nvSpPr>
        <p:spPr>
          <a:xfrm>
            <a:off x="6583680" y="5029200"/>
            <a:ext cx="2057400" cy="365760"/>
          </a:xfrm>
          <a:prstGeom prst="rect">
            <a:avLst/>
          </a:prstGeom>
          <a:noFill/>
          <a:ln/>
        </p:spPr>
        <p:txBody>
          <a:bodyPr wrap="square" lIns="38100" tIns="38100" rIns="38100" bIns="38100" rtlCol="0" anchor="ctr"/>
          <a:lstStyle/>
          <a:p>
            <a:pPr algn="r" indent="0" marL="0">
              <a:buNone/>
            </a:pPr>
            <a:r>
              <a:rPr lang="en-US" sz="1150" dirty="0">
                <a:solidFill>
                  <a:srgbClr val="5A5A66"/>
                </a:solidFill>
                <a:latin typeface="Cambria" pitchFamily="34" charset="0"/>
                <a:ea typeface="Cambria" pitchFamily="34" charset="-122"/>
                <a:cs typeface="Cambria" pitchFamily="34" charset="-120"/>
              </a:rPr>
              <a:t>đang bình duyệt</a:t>
            </a:r>
            <a:endParaRPr lang="en-US" sz="1150" dirty="0"/>
          </a:p>
        </p:txBody>
      </p:sp>
      <p:sp>
        <p:nvSpPr>
          <p:cNvPr id="17" name="Shape 15"/>
          <p:cNvSpPr/>
          <p:nvPr/>
        </p:nvSpPr>
        <p:spPr>
          <a:xfrm>
            <a:off x="502920" y="5394960"/>
            <a:ext cx="8138160" cy="0"/>
          </a:xfrm>
          <a:prstGeom prst="line">
            <a:avLst/>
          </a:prstGeom>
          <a:noFill/>
          <a:ln w="12700">
            <a:solidFill>
              <a:srgbClr val="9A94AE"/>
            </a:solidFill>
            <a:prstDash val="solid"/>
          </a:ln>
        </p:spPr>
      </p:sp>
      <p:sp>
        <p:nvSpPr>
          <p:cNvPr id="18" name="Text 16"/>
          <p:cNvSpPr/>
          <p:nvPr/>
        </p:nvSpPr>
        <p:spPr>
          <a:xfrm>
            <a:off x="502920" y="5394960"/>
            <a:ext cx="210312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FAIR 2026</a:t>
            </a:r>
            <a:endParaRPr lang="en-US" sz="1150" dirty="0"/>
          </a:p>
        </p:txBody>
      </p:sp>
      <p:sp>
        <p:nvSpPr>
          <p:cNvPr id="19" name="Text 17"/>
          <p:cNvSpPr/>
          <p:nvPr/>
        </p:nvSpPr>
        <p:spPr>
          <a:xfrm>
            <a:off x="2606040" y="5394960"/>
            <a:ext cx="397764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Descriptor-First Supervision for GUI Instruction Generation</a:t>
            </a:r>
            <a:endParaRPr lang="en-US" sz="1150" dirty="0"/>
          </a:p>
        </p:txBody>
      </p:sp>
      <p:sp>
        <p:nvSpPr>
          <p:cNvPr id="20" name="Text 18"/>
          <p:cNvSpPr/>
          <p:nvPr/>
        </p:nvSpPr>
        <p:spPr>
          <a:xfrm>
            <a:off x="6583680" y="5394960"/>
            <a:ext cx="2057400" cy="365760"/>
          </a:xfrm>
          <a:prstGeom prst="rect">
            <a:avLst/>
          </a:prstGeom>
          <a:noFill/>
          <a:ln/>
        </p:spPr>
        <p:txBody>
          <a:bodyPr wrap="square" lIns="38100" tIns="38100" rIns="38100" bIns="38100" rtlCol="0" anchor="ctr"/>
          <a:lstStyle/>
          <a:p>
            <a:pPr algn="r" indent="0" marL="0">
              <a:buNone/>
            </a:pPr>
            <a:r>
              <a:rPr lang="en-US" sz="1150" dirty="0">
                <a:solidFill>
                  <a:srgbClr val="5A5A66"/>
                </a:solidFill>
                <a:latin typeface="Cambria" pitchFamily="34" charset="0"/>
                <a:ea typeface="Cambria" pitchFamily="34" charset="-122"/>
                <a:cs typeface="Cambria" pitchFamily="34" charset="-120"/>
              </a:rPr>
              <a:t>đang bình duyệt</a:t>
            </a:r>
            <a:endParaRPr lang="en-US" sz="1150" dirty="0"/>
          </a:p>
        </p:txBody>
      </p:sp>
      <p:sp>
        <p:nvSpPr>
          <p:cNvPr id="22" name="Shape 19"/>
          <p:cNvSpPr/>
          <p:nvPr/>
        </p:nvSpPr>
        <p:spPr>
          <a:xfrm>
            <a:off x="0" y="6620256"/>
            <a:ext cx="2743200" cy="237744"/>
          </a:xfrm>
          <a:prstGeom prst="rect">
            <a:avLst/>
          </a:prstGeom>
          <a:solidFill>
            <a:srgbClr val="191132"/>
          </a:solidFill>
          <a:ln/>
        </p:spPr>
      </p:sp>
      <p:sp>
        <p:nvSpPr>
          <p:cNvPr id="23" name="Shape 20"/>
          <p:cNvSpPr/>
          <p:nvPr/>
        </p:nvSpPr>
        <p:spPr>
          <a:xfrm>
            <a:off x="2743200" y="6620256"/>
            <a:ext cx="3383280" cy="237744"/>
          </a:xfrm>
          <a:prstGeom prst="rect">
            <a:avLst/>
          </a:prstGeom>
          <a:solidFill>
            <a:srgbClr val="25194B"/>
          </a:solidFill>
          <a:ln/>
        </p:spPr>
      </p:sp>
      <p:sp>
        <p:nvSpPr>
          <p:cNvPr id="24" name="Shape 21"/>
          <p:cNvSpPr/>
          <p:nvPr/>
        </p:nvSpPr>
        <p:spPr>
          <a:xfrm>
            <a:off x="6126480" y="6620256"/>
            <a:ext cx="1737360" cy="237744"/>
          </a:xfrm>
          <a:prstGeom prst="rect">
            <a:avLst/>
          </a:prstGeom>
          <a:solidFill>
            <a:srgbClr val="4F417A"/>
          </a:solidFill>
          <a:ln/>
        </p:spPr>
      </p:sp>
      <p:sp>
        <p:nvSpPr>
          <p:cNvPr id="25" name="Shape 22"/>
          <p:cNvSpPr/>
          <p:nvPr/>
        </p:nvSpPr>
        <p:spPr>
          <a:xfrm>
            <a:off x="7863840" y="6620256"/>
            <a:ext cx="1280160" cy="237744"/>
          </a:xfrm>
          <a:prstGeom prst="rect">
            <a:avLst/>
          </a:prstGeom>
          <a:solidFill>
            <a:srgbClr val="7A7099"/>
          </a:solidFill>
          <a:ln/>
        </p:spPr>
      </p:sp>
      <p:sp>
        <p:nvSpPr>
          <p:cNvPr id="26"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7"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8"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24/25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322164"/>
          </a:solidFill>
          <a:ln/>
        </p:spPr>
      </p:sp>
      <p:sp>
        <p:nvSpPr>
          <p:cNvPr id="3" name="Text 1"/>
          <p:cNvSpPr/>
          <p:nvPr/>
        </p:nvSpPr>
        <p:spPr>
          <a:xfrm>
            <a:off x="731520" y="2377440"/>
            <a:ext cx="7680960" cy="640080"/>
          </a:xfrm>
          <a:prstGeom prst="rect">
            <a:avLst/>
          </a:prstGeom>
          <a:noFill/>
          <a:ln/>
        </p:spPr>
        <p:txBody>
          <a:bodyPr wrap="square" lIns="0" tIns="0" rIns="0" bIns="0" rtlCol="0" anchor="t"/>
          <a:lstStyle/>
          <a:p>
            <a:pPr algn="ctr" indent="0" marL="0">
              <a:buNone/>
            </a:pPr>
            <a:r>
              <a:rPr lang="en-US" sz="2600" b="1" dirty="0">
                <a:solidFill>
                  <a:srgbClr val="FFFFFF"/>
                </a:solidFill>
                <a:latin typeface="Cambria" pitchFamily="34" charset="0"/>
                <a:ea typeface="Cambria" pitchFamily="34" charset="-122"/>
                <a:cs typeface="Cambria" pitchFamily="34" charset="-120"/>
              </a:rPr>
              <a:t>Em xin cảm ơn hội đồng đã lắng nghe</a:t>
            </a:r>
            <a:endParaRPr lang="en-US" sz="2600" dirty="0"/>
          </a:p>
        </p:txBody>
      </p:sp>
      <p:sp>
        <p:nvSpPr>
          <p:cNvPr id="4" name="Text 2"/>
          <p:cNvSpPr/>
          <p:nvPr/>
        </p:nvSpPr>
        <p:spPr>
          <a:xfrm>
            <a:off x="731520" y="3200400"/>
            <a:ext cx="7680960" cy="457200"/>
          </a:xfrm>
          <a:prstGeom prst="rect">
            <a:avLst/>
          </a:prstGeom>
          <a:noFill/>
          <a:ln/>
        </p:spPr>
        <p:txBody>
          <a:bodyPr wrap="square" lIns="0" tIns="0" rIns="0" bIns="0" rtlCol="0" anchor="t"/>
          <a:lstStyle/>
          <a:p>
            <a:pPr algn="ctr" indent="0" marL="0">
              <a:buNone/>
            </a:pPr>
            <a:r>
              <a:rPr lang="en-US" sz="1600" dirty="0">
                <a:solidFill>
                  <a:srgbClr val="D8D4E6"/>
                </a:solidFill>
                <a:latin typeface="Cambria" pitchFamily="34" charset="0"/>
                <a:ea typeface="Cambria" pitchFamily="34" charset="-122"/>
                <a:cs typeface="Cambria" pitchFamily="34" charset="-120"/>
              </a:rPr>
              <a:t>Kính mong nhận được góp ý của quý thầy cô</a:t>
            </a:r>
            <a:endParaRPr lang="en-US" sz="1600" dirty="0"/>
          </a:p>
        </p:txBody>
      </p:sp>
      <p:sp>
        <p:nvSpPr>
          <p:cNvPr id="5" name="Shape 3"/>
          <p:cNvSpPr/>
          <p:nvPr/>
        </p:nvSpPr>
        <p:spPr>
          <a:xfrm>
            <a:off x="3291840" y="3977640"/>
            <a:ext cx="2560320" cy="0"/>
          </a:xfrm>
          <a:prstGeom prst="line">
            <a:avLst/>
          </a:prstGeom>
          <a:noFill/>
          <a:ln w="19050">
            <a:solidFill>
              <a:srgbClr val="7A7099"/>
            </a:solidFill>
            <a:prstDash val="solid"/>
          </a:ln>
        </p:spPr>
      </p:sp>
      <p:sp>
        <p:nvSpPr>
          <p:cNvPr id="6" name="Text 4"/>
          <p:cNvSpPr/>
          <p:nvPr/>
        </p:nvSpPr>
        <p:spPr>
          <a:xfrm>
            <a:off x="731520" y="4251960"/>
            <a:ext cx="7680960" cy="731520"/>
          </a:xfrm>
          <a:prstGeom prst="rect">
            <a:avLst/>
          </a:prstGeom>
          <a:noFill/>
          <a:ln/>
        </p:spPr>
        <p:txBody>
          <a:bodyPr wrap="square" lIns="0" tIns="0" rIns="0" bIns="0" rtlCol="0" anchor="t"/>
          <a:lstStyle/>
          <a:p>
            <a:pPr algn="ctr" indent="0" marL="0">
              <a:lnSpc>
                <a:spcPct val="140000"/>
              </a:lnSpc>
              <a:buNone/>
            </a:pPr>
            <a:r>
              <a:rPr lang="en-US" sz="1300" dirty="0">
                <a:solidFill>
                  <a:srgbClr val="D8D4E6"/>
                </a:solidFill>
                <a:latin typeface="Cambria" pitchFamily="34" charset="0"/>
                <a:ea typeface="Cambria" pitchFamily="34" charset="-122"/>
                <a:cs typeface="Cambria" pitchFamily="34" charset="-120"/>
              </a:rPr>
              <a:t>Lê Đoàn Phương Uyên   ·   TS. Nguyễn Hồng Bửu Long</a:t>
            </a:r>
            <a:endParaRPr lang="en-US" sz="1300" dirty="0"/>
          </a:p>
          <a:p>
            <a:pPr algn="ctr" indent="0" marL="0">
              <a:lnSpc>
                <a:spcPct val="140000"/>
              </a:lnSpc>
              <a:buNone/>
            </a:pPr>
            <a:r>
              <a:rPr lang="en-US" sz="1300" dirty="0">
                <a:solidFill>
                  <a:srgbClr val="D8D4E6"/>
                </a:solidFill>
                <a:latin typeface="Cambria" pitchFamily="34" charset="0"/>
                <a:ea typeface="Cambria" pitchFamily="34" charset="-122"/>
                <a:cs typeface="Cambria" pitchFamily="34" charset="-120"/>
              </a:rPr>
              <a:t>Trường Đại học Khoa học Tự nhiên, ĐHQG-HCM</a:t>
            </a:r>
            <a:endParaRPr lang="en-US" sz="1300" dirty="0"/>
          </a:p>
        </p:txBody>
      </p:sp>
      <p:sp>
        <p:nvSpPr>
          <p:cNvPr id="7" name="Shape 5"/>
          <p:cNvSpPr/>
          <p:nvPr/>
        </p:nvSpPr>
        <p:spPr>
          <a:xfrm>
            <a:off x="0" y="6620256"/>
            <a:ext cx="2743200" cy="237744"/>
          </a:xfrm>
          <a:prstGeom prst="rect">
            <a:avLst/>
          </a:prstGeom>
          <a:solidFill>
            <a:srgbClr val="191132"/>
          </a:solidFill>
          <a:ln/>
        </p:spPr>
      </p:sp>
      <p:sp>
        <p:nvSpPr>
          <p:cNvPr id="8" name="Shape 6"/>
          <p:cNvSpPr/>
          <p:nvPr/>
        </p:nvSpPr>
        <p:spPr>
          <a:xfrm>
            <a:off x="2743200" y="6620256"/>
            <a:ext cx="3383280" cy="237744"/>
          </a:xfrm>
          <a:prstGeom prst="rect">
            <a:avLst/>
          </a:prstGeom>
          <a:solidFill>
            <a:srgbClr val="25194B"/>
          </a:solidFill>
          <a:ln/>
        </p:spPr>
      </p:sp>
      <p:sp>
        <p:nvSpPr>
          <p:cNvPr id="9" name="Shape 7"/>
          <p:cNvSpPr/>
          <p:nvPr/>
        </p:nvSpPr>
        <p:spPr>
          <a:xfrm>
            <a:off x="6126480" y="6620256"/>
            <a:ext cx="1737360" cy="237744"/>
          </a:xfrm>
          <a:prstGeom prst="rect">
            <a:avLst/>
          </a:prstGeom>
          <a:solidFill>
            <a:srgbClr val="4F417A"/>
          </a:solidFill>
          <a:ln/>
        </p:spPr>
      </p:sp>
      <p:sp>
        <p:nvSpPr>
          <p:cNvPr id="10" name="Shape 8"/>
          <p:cNvSpPr/>
          <p:nvPr/>
        </p:nvSpPr>
        <p:spPr>
          <a:xfrm>
            <a:off x="7863840" y="6620256"/>
            <a:ext cx="1280160" cy="237744"/>
          </a:xfrm>
          <a:prstGeom prst="rect">
            <a:avLst/>
          </a:prstGeom>
          <a:solidFill>
            <a:srgbClr val="7A7099"/>
          </a:solidFill>
          <a:ln/>
        </p:spPr>
      </p:sp>
      <p:sp>
        <p:nvSpPr>
          <p:cNvPr id="11" name="Text 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2" name="Text 1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13" name="Text 1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4" name="Text 1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25/25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Vì sao không dùng BLEU, ROUGE hay vector ngữ nghĩa</a:t>
            </a:r>
            <a:endParaRPr lang="en-US" sz="1900" dirty="0"/>
          </a:p>
        </p:txBody>
      </p:sp>
      <p:sp>
        <p:nvSpPr>
          <p:cNvPr id="4" name="Shape 2"/>
          <p:cNvSpPr/>
          <p:nvPr/>
        </p:nvSpPr>
        <p:spPr>
          <a:xfrm>
            <a:off x="502920" y="1005840"/>
            <a:ext cx="8129016" cy="384048"/>
          </a:xfrm>
          <a:prstGeom prst="rect">
            <a:avLst/>
          </a:prstGeom>
          <a:solidFill>
            <a:srgbClr val="322164"/>
          </a:solidFill>
          <a:ln/>
        </p:spPr>
      </p:sp>
      <p:sp>
        <p:nvSpPr>
          <p:cNvPr id="5" name="Text 3"/>
          <p:cNvSpPr/>
          <p:nvPr/>
        </p:nvSpPr>
        <p:spPr>
          <a:xfrm>
            <a:off x="502920" y="1005840"/>
            <a:ext cx="320040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Nhánh</a:t>
            </a:r>
            <a:endParaRPr lang="en-US" sz="1250" dirty="0"/>
          </a:p>
        </p:txBody>
      </p:sp>
      <p:sp>
        <p:nvSpPr>
          <p:cNvPr id="6" name="Text 4"/>
          <p:cNvSpPr/>
          <p:nvPr/>
        </p:nvSpPr>
        <p:spPr>
          <a:xfrm>
            <a:off x="3703320" y="1005840"/>
            <a:ext cx="173736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5440680" y="1005840"/>
            <a:ext cx="164592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BLEU-4</a:t>
            </a:r>
            <a:endParaRPr lang="en-US" sz="1250" dirty="0"/>
          </a:p>
        </p:txBody>
      </p:sp>
      <p:sp>
        <p:nvSpPr>
          <p:cNvPr id="8" name="Text 6"/>
          <p:cNvSpPr/>
          <p:nvPr/>
        </p:nvSpPr>
        <p:spPr>
          <a:xfrm>
            <a:off x="7086600" y="1005840"/>
            <a:ext cx="1545336"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ROUGE-L</a:t>
            </a:r>
            <a:endParaRPr lang="en-US" sz="1250" dirty="0"/>
          </a:p>
        </p:txBody>
      </p:sp>
      <p:sp>
        <p:nvSpPr>
          <p:cNvPr id="9" name="Text 7"/>
          <p:cNvSpPr/>
          <p:nvPr/>
        </p:nvSpPr>
        <p:spPr>
          <a:xfrm>
            <a:off x="502920" y="1389888"/>
            <a:ext cx="320040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Base</a:t>
            </a:r>
            <a:endParaRPr lang="en-US" sz="1300" dirty="0"/>
          </a:p>
        </p:txBody>
      </p:sp>
      <p:sp>
        <p:nvSpPr>
          <p:cNvPr id="10" name="Text 8"/>
          <p:cNvSpPr/>
          <p:nvPr/>
        </p:nvSpPr>
        <p:spPr>
          <a:xfrm>
            <a:off x="3703320" y="1389888"/>
            <a:ext cx="173736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47,6</a:t>
            </a:r>
            <a:endParaRPr lang="en-US" sz="1300" dirty="0"/>
          </a:p>
        </p:txBody>
      </p:sp>
      <p:sp>
        <p:nvSpPr>
          <p:cNvPr id="11" name="Text 9"/>
          <p:cNvSpPr/>
          <p:nvPr/>
        </p:nvSpPr>
        <p:spPr>
          <a:xfrm>
            <a:off x="5440680" y="1389888"/>
            <a:ext cx="164592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9,7</a:t>
            </a:r>
            <a:endParaRPr lang="en-US" sz="1300" dirty="0"/>
          </a:p>
        </p:txBody>
      </p:sp>
      <p:sp>
        <p:nvSpPr>
          <p:cNvPr id="12" name="Text 10"/>
          <p:cNvSpPr/>
          <p:nvPr/>
        </p:nvSpPr>
        <p:spPr>
          <a:xfrm>
            <a:off x="7086600" y="1389888"/>
            <a:ext cx="1545336"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40,3</a:t>
            </a:r>
            <a:endParaRPr lang="en-US" sz="1300" dirty="0"/>
          </a:p>
        </p:txBody>
      </p:sp>
      <p:sp>
        <p:nvSpPr>
          <p:cNvPr id="13" name="Shape 11"/>
          <p:cNvSpPr/>
          <p:nvPr/>
        </p:nvSpPr>
        <p:spPr>
          <a:xfrm>
            <a:off x="502920" y="1792224"/>
            <a:ext cx="8129016" cy="0"/>
          </a:xfrm>
          <a:prstGeom prst="line">
            <a:avLst/>
          </a:prstGeom>
          <a:noFill/>
          <a:ln w="12700">
            <a:solidFill>
              <a:srgbClr val="9A94AE"/>
            </a:solidFill>
            <a:prstDash val="solid"/>
          </a:ln>
        </p:spPr>
      </p:sp>
      <p:sp>
        <p:nvSpPr>
          <p:cNvPr id="14" name="Text 12"/>
          <p:cNvSpPr/>
          <p:nvPr/>
        </p:nvSpPr>
        <p:spPr>
          <a:xfrm>
            <a:off x="502920" y="1792224"/>
            <a:ext cx="320040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S1</a:t>
            </a:r>
            <a:endParaRPr lang="en-US" sz="1300" dirty="0"/>
          </a:p>
        </p:txBody>
      </p:sp>
      <p:sp>
        <p:nvSpPr>
          <p:cNvPr id="15" name="Text 13"/>
          <p:cNvSpPr/>
          <p:nvPr/>
        </p:nvSpPr>
        <p:spPr>
          <a:xfrm>
            <a:off x="3703320" y="1792224"/>
            <a:ext cx="173736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59,1</a:t>
            </a:r>
            <a:endParaRPr lang="en-US" sz="1300" dirty="0"/>
          </a:p>
        </p:txBody>
      </p:sp>
      <p:sp>
        <p:nvSpPr>
          <p:cNvPr id="16" name="Text 14"/>
          <p:cNvSpPr/>
          <p:nvPr/>
        </p:nvSpPr>
        <p:spPr>
          <a:xfrm>
            <a:off x="5440680" y="1792224"/>
            <a:ext cx="164592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38,7</a:t>
            </a:r>
            <a:endParaRPr lang="en-US" sz="1300" dirty="0"/>
          </a:p>
        </p:txBody>
      </p:sp>
      <p:sp>
        <p:nvSpPr>
          <p:cNvPr id="17" name="Text 15"/>
          <p:cNvSpPr/>
          <p:nvPr/>
        </p:nvSpPr>
        <p:spPr>
          <a:xfrm>
            <a:off x="7086600" y="1792224"/>
            <a:ext cx="1545336"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67,3</a:t>
            </a:r>
            <a:endParaRPr lang="en-US" sz="1300" dirty="0"/>
          </a:p>
        </p:txBody>
      </p:sp>
      <p:sp>
        <p:nvSpPr>
          <p:cNvPr id="18" name="Shape 16"/>
          <p:cNvSpPr/>
          <p:nvPr/>
        </p:nvSpPr>
        <p:spPr>
          <a:xfrm>
            <a:off x="502920" y="2194560"/>
            <a:ext cx="8129016" cy="0"/>
          </a:xfrm>
          <a:prstGeom prst="line">
            <a:avLst/>
          </a:prstGeom>
          <a:noFill/>
          <a:ln w="12700">
            <a:solidFill>
              <a:srgbClr val="9A94AE"/>
            </a:solidFill>
            <a:prstDash val="solid"/>
          </a:ln>
        </p:spPr>
      </p:sp>
      <p:sp>
        <p:nvSpPr>
          <p:cNvPr id="19" name="Text 17"/>
          <p:cNvSpPr/>
          <p:nvPr/>
        </p:nvSpPr>
        <p:spPr>
          <a:xfrm>
            <a:off x="502920" y="2194560"/>
            <a:ext cx="320040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người viết</a:t>
            </a:r>
            <a:endParaRPr lang="en-US" sz="1300" dirty="0"/>
          </a:p>
        </p:txBody>
      </p:sp>
      <p:sp>
        <p:nvSpPr>
          <p:cNvPr id="20" name="Text 18"/>
          <p:cNvSpPr/>
          <p:nvPr/>
        </p:nvSpPr>
        <p:spPr>
          <a:xfrm>
            <a:off x="3703320" y="2194560"/>
            <a:ext cx="173736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75,7</a:t>
            </a:r>
            <a:endParaRPr lang="en-US" sz="1300" dirty="0"/>
          </a:p>
        </p:txBody>
      </p:sp>
      <p:sp>
        <p:nvSpPr>
          <p:cNvPr id="21" name="Text 19"/>
          <p:cNvSpPr/>
          <p:nvPr/>
        </p:nvSpPr>
        <p:spPr>
          <a:xfrm>
            <a:off x="5440680" y="2194560"/>
            <a:ext cx="164592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96,1</a:t>
            </a:r>
            <a:endParaRPr lang="en-US" sz="1300" dirty="0"/>
          </a:p>
        </p:txBody>
      </p:sp>
      <p:sp>
        <p:nvSpPr>
          <p:cNvPr id="22" name="Text 20"/>
          <p:cNvSpPr/>
          <p:nvPr/>
        </p:nvSpPr>
        <p:spPr>
          <a:xfrm>
            <a:off x="7086600" y="2194560"/>
            <a:ext cx="1545336"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100,0</a:t>
            </a:r>
            <a:endParaRPr lang="en-US" sz="1300" dirty="0"/>
          </a:p>
        </p:txBody>
      </p:sp>
      <p:sp>
        <p:nvSpPr>
          <p:cNvPr id="23" name="Text 21"/>
          <p:cNvSpPr/>
          <p:nvPr/>
        </p:nvSpPr>
        <p:spPr>
          <a:xfrm>
            <a:off x="502920" y="3017520"/>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3017520"/>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Ba thước xếp cùng thứ tự chỉ vì ba nhánh cách nhau rất xa</a:t>
            </a:r>
            <a:endParaRPr lang="en-US" sz="1250" dirty="0"/>
          </a:p>
        </p:txBody>
      </p:sp>
      <p:sp>
        <p:nvSpPr>
          <p:cNvPr id="25" name="Text 23"/>
          <p:cNvSpPr/>
          <p:nvPr/>
        </p:nvSpPr>
        <p:spPr>
          <a:xfrm>
            <a:off x="502920" y="3675888"/>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3675888"/>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So khớp chuỗi kết oan 97,5% số câu diễn đạt khác; vector ngữ nghĩa cho AUC 0,336</a:t>
            </a:r>
            <a:endParaRPr lang="en-US" sz="1250" dirty="0"/>
          </a:p>
        </p:txBody>
      </p:sp>
      <p:sp>
        <p:nvSpPr>
          <p:cNvPr id="27" name="Text 25"/>
          <p:cNvSpPr/>
          <p:nvPr/>
        </p:nvSpPr>
        <p:spPr>
          <a:xfrm>
            <a:off x="502920" y="4334256"/>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8" name="Text 26"/>
          <p:cNvSpPr/>
          <p:nvPr/>
        </p:nvSpPr>
        <p:spPr>
          <a:xfrm>
            <a:off x="731520" y="4334256"/>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Zhao và cộng sự (EACL 2021) khuyên dùng thước có tham chiếu khi xếp hạng hệ thống, nên luận văn chỉ phát biểu ở mức hệ thống</a:t>
            </a:r>
            <a:endParaRPr lang="en-US" sz="1250" dirty="0"/>
          </a:p>
        </p:txBody>
      </p:sp>
      <p:sp>
        <p:nvSpPr>
          <p:cNvPr id="29" name="Text 27"/>
          <p:cNvSpPr/>
          <p:nvPr/>
        </p:nvSpPr>
        <p:spPr>
          <a:xfrm>
            <a:off x="502920" y="4992624"/>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0" name="Text 28"/>
          <p:cNvSpPr/>
          <p:nvPr/>
        </p:nvSpPr>
        <p:spPr>
          <a:xfrm>
            <a:off x="731520" y="4992624"/>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Bản thước không tham chiếu cho kết luận lệch không quá 0,20 điểm</a:t>
            </a:r>
            <a:endParaRPr lang="en-US" sz="1250" dirty="0"/>
          </a:p>
        </p:txBody>
      </p:sp>
      <p:sp>
        <p:nvSpPr>
          <p:cNvPr id="31" name="Shape 29"/>
          <p:cNvSpPr/>
          <p:nvPr/>
        </p:nvSpPr>
        <p:spPr>
          <a:xfrm>
            <a:off x="0" y="6620256"/>
            <a:ext cx="2743200" cy="237744"/>
          </a:xfrm>
          <a:prstGeom prst="rect">
            <a:avLst/>
          </a:prstGeom>
          <a:solidFill>
            <a:srgbClr val="191132"/>
          </a:solidFill>
          <a:ln/>
        </p:spPr>
      </p:sp>
      <p:sp>
        <p:nvSpPr>
          <p:cNvPr id="32" name="Shape 30"/>
          <p:cNvSpPr/>
          <p:nvPr/>
        </p:nvSpPr>
        <p:spPr>
          <a:xfrm>
            <a:off x="2743200" y="6620256"/>
            <a:ext cx="3383280" cy="237744"/>
          </a:xfrm>
          <a:prstGeom prst="rect">
            <a:avLst/>
          </a:prstGeom>
          <a:solidFill>
            <a:srgbClr val="25194B"/>
          </a:solidFill>
          <a:ln/>
        </p:spPr>
      </p:sp>
      <p:sp>
        <p:nvSpPr>
          <p:cNvPr id="33" name="Shape 31"/>
          <p:cNvSpPr/>
          <p:nvPr/>
        </p:nvSpPr>
        <p:spPr>
          <a:xfrm>
            <a:off x="6126480" y="6620256"/>
            <a:ext cx="1737360" cy="237744"/>
          </a:xfrm>
          <a:prstGeom prst="rect">
            <a:avLst/>
          </a:prstGeom>
          <a:solidFill>
            <a:srgbClr val="4F417A"/>
          </a:solidFill>
          <a:ln/>
        </p:spPr>
      </p:sp>
      <p:sp>
        <p:nvSpPr>
          <p:cNvPr id="34" name="Shape 32"/>
          <p:cNvSpPr/>
          <p:nvPr/>
        </p:nvSpPr>
        <p:spPr>
          <a:xfrm>
            <a:off x="7863840" y="6620256"/>
            <a:ext cx="1280160" cy="237744"/>
          </a:xfrm>
          <a:prstGeom prst="rect">
            <a:avLst/>
          </a:prstGeom>
          <a:solidFill>
            <a:srgbClr val="7A7099"/>
          </a:solidFill>
          <a:ln/>
        </p:spPr>
      </p:sp>
      <p:sp>
        <p:nvSpPr>
          <p:cNvPr id="35" name="Text 3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6" name="Text 3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7" name="Text 3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8" name="Text 3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Chấm lại bằng UI-Venus-Ground-7B</a:t>
            </a:r>
            <a:endParaRPr lang="en-US" sz="1900" dirty="0"/>
          </a:p>
        </p:txBody>
      </p:sp>
      <p:sp>
        <p:nvSpPr>
          <p:cNvPr id="4" name="Text 2"/>
          <p:cNvSpPr/>
          <p:nvPr/>
        </p:nvSpPr>
        <p:spPr>
          <a:xfrm>
            <a:off x="502920" y="777240"/>
            <a:ext cx="8138160" cy="27432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Lát 2.532 bước, mô hình định vị thứ hai không dùng AndroidControl khi huấn luyện</a:t>
            </a:r>
            <a:endParaRPr lang="en-US" sz="1200" dirty="0"/>
          </a:p>
        </p:txBody>
      </p:sp>
      <p:sp>
        <p:nvSpPr>
          <p:cNvPr id="5" name="Shape 3"/>
          <p:cNvSpPr/>
          <p:nvPr/>
        </p:nvSpPr>
        <p:spPr>
          <a:xfrm>
            <a:off x="502920" y="1143000"/>
            <a:ext cx="8129016" cy="384048"/>
          </a:xfrm>
          <a:prstGeom prst="rect">
            <a:avLst/>
          </a:prstGeom>
          <a:solidFill>
            <a:srgbClr val="322164"/>
          </a:solidFill>
          <a:ln/>
        </p:spPr>
      </p:sp>
      <p:sp>
        <p:nvSpPr>
          <p:cNvPr id="6" name="Text 4"/>
          <p:cNvSpPr/>
          <p:nvPr/>
        </p:nvSpPr>
        <p:spPr>
          <a:xfrm>
            <a:off x="502920" y="1143000"/>
            <a:ext cx="292608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Phép so</a:t>
            </a:r>
            <a:endParaRPr lang="en-US" sz="1250" dirty="0"/>
          </a:p>
        </p:txBody>
      </p:sp>
      <p:sp>
        <p:nvSpPr>
          <p:cNvPr id="7" name="Text 5"/>
          <p:cNvSpPr/>
          <p:nvPr/>
        </p:nvSpPr>
        <p:spPr>
          <a:xfrm>
            <a:off x="3429000" y="1143000"/>
            <a:ext cx="260604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UGround</a:t>
            </a:r>
            <a:endParaRPr lang="en-US" sz="1250" dirty="0"/>
          </a:p>
        </p:txBody>
      </p:sp>
      <p:sp>
        <p:nvSpPr>
          <p:cNvPr id="8" name="Text 6"/>
          <p:cNvSpPr/>
          <p:nvPr/>
        </p:nvSpPr>
        <p:spPr>
          <a:xfrm>
            <a:off x="6035040" y="1143000"/>
            <a:ext cx="2596896"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502920" y="1527048"/>
            <a:ext cx="2926080" cy="502920"/>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S1 − Base, mốc đối chiếu</a:t>
            </a:r>
            <a:endParaRPr lang="en-US" sz="1250" dirty="0"/>
          </a:p>
        </p:txBody>
      </p:sp>
      <p:sp>
        <p:nvSpPr>
          <p:cNvPr id="10" name="Text 8"/>
          <p:cNvSpPr/>
          <p:nvPr/>
        </p:nvSpPr>
        <p:spPr>
          <a:xfrm>
            <a:off x="3429000" y="1527048"/>
            <a:ext cx="2606040" cy="502920"/>
          </a:xfrm>
          <a:prstGeom prst="rect">
            <a:avLst/>
          </a:prstGeom>
          <a:noFill/>
          <a:ln/>
        </p:spPr>
        <p:txBody>
          <a:bodyPr wrap="square" lIns="38100" tIns="38100" rIns="38100" bIns="38100" rtlCol="0" anchor="ctr"/>
          <a:lstStyle/>
          <a:p>
            <a:pPr algn="ctr" indent="0" marL="0">
              <a:buNone/>
            </a:pPr>
            <a:r>
              <a:rPr lang="en-US" sz="1400" b="1" dirty="0">
                <a:solidFill>
                  <a:srgbClr val="006666"/>
                </a:solidFill>
                <a:latin typeface="Cambria" pitchFamily="34" charset="0"/>
                <a:ea typeface="Cambria" pitchFamily="34" charset="-122"/>
                <a:cs typeface="Cambria" pitchFamily="34" charset="-120"/>
              </a:rPr>
              <a:t>+10,35</a:t>
            </a:r>
            <a:endParaRPr lang="en-US" sz="1400" dirty="0"/>
          </a:p>
        </p:txBody>
      </p:sp>
      <p:sp>
        <p:nvSpPr>
          <p:cNvPr id="11" name="Text 9"/>
          <p:cNvSpPr/>
          <p:nvPr/>
        </p:nvSpPr>
        <p:spPr>
          <a:xfrm>
            <a:off x="6035040" y="1527048"/>
            <a:ext cx="2596896" cy="502920"/>
          </a:xfrm>
          <a:prstGeom prst="rect">
            <a:avLst/>
          </a:prstGeom>
          <a:noFill/>
          <a:ln/>
        </p:spPr>
        <p:txBody>
          <a:bodyPr wrap="square" lIns="38100" tIns="38100" rIns="38100" bIns="38100" rtlCol="0" anchor="ctr"/>
          <a:lstStyle/>
          <a:p>
            <a:pPr algn="ctr" indent="0" marL="0">
              <a:buNone/>
            </a:pPr>
            <a:r>
              <a:rPr lang="en-US" sz="1400" b="1" dirty="0">
                <a:solidFill>
                  <a:srgbClr val="006666"/>
                </a:solidFill>
                <a:latin typeface="Cambria" pitchFamily="34" charset="0"/>
                <a:ea typeface="Cambria" pitchFamily="34" charset="-122"/>
                <a:cs typeface="Cambria" pitchFamily="34" charset="-120"/>
              </a:rPr>
              <a:t>+9,68</a:t>
            </a:r>
            <a:endParaRPr lang="en-US" sz="1400" dirty="0"/>
          </a:p>
        </p:txBody>
      </p:sp>
      <p:sp>
        <p:nvSpPr>
          <p:cNvPr id="12" name="Shape 10"/>
          <p:cNvSpPr/>
          <p:nvPr/>
        </p:nvSpPr>
        <p:spPr>
          <a:xfrm>
            <a:off x="502920" y="2029968"/>
            <a:ext cx="8129016" cy="0"/>
          </a:xfrm>
          <a:prstGeom prst="line">
            <a:avLst/>
          </a:prstGeom>
          <a:noFill/>
          <a:ln w="12700">
            <a:solidFill>
              <a:srgbClr val="9A94AE"/>
            </a:solidFill>
            <a:prstDash val="solid"/>
          </a:ln>
        </p:spPr>
      </p:sp>
      <p:sp>
        <p:nvSpPr>
          <p:cNvPr id="13" name="Text 11"/>
          <p:cNvSpPr/>
          <p:nvPr/>
        </p:nvSpPr>
        <p:spPr>
          <a:xfrm>
            <a:off x="502920" y="2029968"/>
            <a:ext cx="292608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S2 − S1</a:t>
            </a:r>
            <a:endParaRPr lang="en-US" sz="1250" dirty="0"/>
          </a:p>
        </p:txBody>
      </p:sp>
      <p:sp>
        <p:nvSpPr>
          <p:cNvPr id="14" name="Text 12"/>
          <p:cNvSpPr/>
          <p:nvPr/>
        </p:nvSpPr>
        <p:spPr>
          <a:xfrm>
            <a:off x="3429000" y="2029968"/>
            <a:ext cx="2606040" cy="457200"/>
          </a:xfrm>
          <a:prstGeom prst="rect">
            <a:avLst/>
          </a:prstGeom>
          <a:noFill/>
          <a:ln/>
        </p:spPr>
        <p:txBody>
          <a:bodyPr wrap="square" lIns="38100" tIns="38100" rIns="38100" bIns="38100" rtlCol="0" anchor="ctr"/>
          <a:lstStyle/>
          <a:p>
            <a:pPr algn="ctr" indent="0" marL="0">
              <a:buNone/>
            </a:pPr>
            <a:r>
              <a:rPr lang="en-US" sz="1250" dirty="0">
                <a:solidFill>
                  <a:srgbClr val="B22222"/>
                </a:solidFill>
                <a:latin typeface="Cambria" pitchFamily="34" charset="0"/>
                <a:ea typeface="Cambria" pitchFamily="34" charset="-122"/>
                <a:cs typeface="Cambria" pitchFamily="34" charset="-120"/>
              </a:rPr>
              <a:t>−1,93   p = 0,0005</a:t>
            </a:r>
            <a:endParaRPr lang="en-US" sz="1250" dirty="0"/>
          </a:p>
        </p:txBody>
      </p:sp>
      <p:sp>
        <p:nvSpPr>
          <p:cNvPr id="15" name="Text 13"/>
          <p:cNvSpPr/>
          <p:nvPr/>
        </p:nvSpPr>
        <p:spPr>
          <a:xfrm>
            <a:off x="6035040" y="2029968"/>
            <a:ext cx="2596896" cy="457200"/>
          </a:xfrm>
          <a:prstGeom prst="rect">
            <a:avLst/>
          </a:prstGeom>
          <a:noFill/>
          <a:ln/>
        </p:spPr>
        <p:txBody>
          <a:bodyPr wrap="square" lIns="38100" tIns="38100" rIns="38100" bIns="38100" rtlCol="0" anchor="ctr"/>
          <a:lstStyle/>
          <a:p>
            <a:pPr algn="ctr" indent="0" marL="0">
              <a:buNone/>
            </a:pPr>
            <a:r>
              <a:rPr lang="en-US" sz="1250" dirty="0">
                <a:solidFill>
                  <a:srgbClr val="B22222"/>
                </a:solidFill>
                <a:latin typeface="Cambria" pitchFamily="34" charset="0"/>
                <a:ea typeface="Cambria" pitchFamily="34" charset="-122"/>
                <a:cs typeface="Cambria" pitchFamily="34" charset="-120"/>
              </a:rPr>
              <a:t>−1,21   p = 0,026</a:t>
            </a:r>
            <a:endParaRPr lang="en-US" sz="1250" dirty="0"/>
          </a:p>
        </p:txBody>
      </p:sp>
      <p:sp>
        <p:nvSpPr>
          <p:cNvPr id="16" name="Shape 14"/>
          <p:cNvSpPr/>
          <p:nvPr/>
        </p:nvSpPr>
        <p:spPr>
          <a:xfrm>
            <a:off x="502920" y="2487168"/>
            <a:ext cx="8129016" cy="0"/>
          </a:xfrm>
          <a:prstGeom prst="line">
            <a:avLst/>
          </a:prstGeom>
          <a:noFill/>
          <a:ln w="12700">
            <a:solidFill>
              <a:srgbClr val="9A94AE"/>
            </a:solidFill>
            <a:prstDash val="solid"/>
          </a:ln>
        </p:spPr>
      </p:sp>
      <p:sp>
        <p:nvSpPr>
          <p:cNvPr id="17" name="Text 15"/>
          <p:cNvSpPr/>
          <p:nvPr/>
        </p:nvSpPr>
        <p:spPr>
          <a:xfrm>
            <a:off x="502920" y="2487168"/>
            <a:ext cx="292608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Trần trên lát này</a:t>
            </a:r>
            <a:endParaRPr lang="en-US" sz="1250" dirty="0"/>
          </a:p>
        </p:txBody>
      </p:sp>
      <p:sp>
        <p:nvSpPr>
          <p:cNvPr id="18" name="Text 16"/>
          <p:cNvSpPr/>
          <p:nvPr/>
        </p:nvSpPr>
        <p:spPr>
          <a:xfrm>
            <a:off x="3429000" y="2487168"/>
            <a:ext cx="260604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70,0</a:t>
            </a:r>
            <a:endParaRPr lang="en-US" sz="1250" dirty="0"/>
          </a:p>
        </p:txBody>
      </p:sp>
      <p:sp>
        <p:nvSpPr>
          <p:cNvPr id="19" name="Text 17"/>
          <p:cNvSpPr/>
          <p:nvPr/>
        </p:nvSpPr>
        <p:spPr>
          <a:xfrm>
            <a:off x="6035040" y="2487168"/>
            <a:ext cx="259689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69,3</a:t>
            </a:r>
            <a:endParaRPr lang="en-US" sz="1250" dirty="0"/>
          </a:p>
        </p:txBody>
      </p:sp>
      <p:sp>
        <p:nvSpPr>
          <p:cNvPr id="20" name="Text 18"/>
          <p:cNvSpPr/>
          <p:nvPr/>
        </p:nvSpPr>
        <p:spPr>
          <a:xfrm>
            <a:off x="502920" y="3200400"/>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1" name="Text 19"/>
          <p:cNvSpPr/>
          <p:nvPr/>
        </p:nvSpPr>
        <p:spPr>
          <a:xfrm>
            <a:off x="731520" y="3200400"/>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Mốc đối chiếu giữ 94% độ lớn, nên thang đo không bị nén</a:t>
            </a:r>
            <a:endParaRPr lang="en-US" sz="1250" dirty="0"/>
          </a:p>
        </p:txBody>
      </p:sp>
      <p:sp>
        <p:nvSpPr>
          <p:cNvPr id="22" name="Text 20"/>
          <p:cNvSpPr/>
          <p:nvPr/>
        </p:nvSpPr>
        <p:spPr>
          <a:xfrm>
            <a:off x="502920" y="3822192"/>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3" name="Text 21"/>
          <p:cNvSpPr/>
          <p:nvPr/>
        </p:nvSpPr>
        <p:spPr>
          <a:xfrm>
            <a:off x="731520" y="3822192"/>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Dấu của mọi phép so không đổi dưới cả hai dụng cụ</a:t>
            </a:r>
            <a:endParaRPr lang="en-US" sz="1250" dirty="0"/>
          </a:p>
        </p:txBody>
      </p:sp>
      <p:sp>
        <p:nvSpPr>
          <p:cNvPr id="24" name="Text 22"/>
          <p:cNvSpPr/>
          <p:nvPr/>
        </p:nvSpPr>
        <p:spPr>
          <a:xfrm>
            <a:off x="502920" y="4443984"/>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5" name="Text 23"/>
          <p:cNvSpPr/>
          <p:nvPr/>
        </p:nvSpPr>
        <p:spPr>
          <a:xfrm>
            <a:off x="731520" y="4443984"/>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UI-Venus cho điểm thấp hơn ở cả ba nhánh, nên nó không dễ tính hơn</a:t>
            </a:r>
            <a:endParaRPr lang="en-US" sz="1250" dirty="0"/>
          </a:p>
        </p:txBody>
      </p:sp>
      <p:sp>
        <p:nvSpPr>
          <p:cNvPr id="26" name="Text 24"/>
          <p:cNvSpPr/>
          <p:nvPr/>
        </p:nvSpPr>
        <p:spPr>
          <a:xfrm>
            <a:off x="502920" y="5065776"/>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7" name="Text 25"/>
          <p:cNvSpPr/>
          <p:nvPr/>
        </p:nvSpPr>
        <p:spPr>
          <a:xfrm>
            <a:off x="731520" y="5065776"/>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Chỗ chưa đóng: cả hai dụng cụ đều thuộc họ Qwen-VL</a:t>
            </a:r>
            <a:endParaRPr lang="en-US" sz="1250" dirty="0"/>
          </a:p>
        </p:txBody>
      </p:sp>
      <p:sp>
        <p:nvSpPr>
          <p:cNvPr id="28" name="Shape 26"/>
          <p:cNvSpPr/>
          <p:nvPr/>
        </p:nvSpPr>
        <p:spPr>
          <a:xfrm>
            <a:off x="0" y="6620256"/>
            <a:ext cx="2743200" cy="237744"/>
          </a:xfrm>
          <a:prstGeom prst="rect">
            <a:avLst/>
          </a:prstGeom>
          <a:solidFill>
            <a:srgbClr val="191132"/>
          </a:solidFill>
          <a:ln/>
        </p:spPr>
      </p:sp>
      <p:sp>
        <p:nvSpPr>
          <p:cNvPr id="29" name="Shape 27"/>
          <p:cNvSpPr/>
          <p:nvPr/>
        </p:nvSpPr>
        <p:spPr>
          <a:xfrm>
            <a:off x="2743200" y="6620256"/>
            <a:ext cx="3383280" cy="237744"/>
          </a:xfrm>
          <a:prstGeom prst="rect">
            <a:avLst/>
          </a:prstGeom>
          <a:solidFill>
            <a:srgbClr val="25194B"/>
          </a:solidFill>
          <a:ln/>
        </p:spPr>
      </p:sp>
      <p:sp>
        <p:nvSpPr>
          <p:cNvPr id="30" name="Shape 28"/>
          <p:cNvSpPr/>
          <p:nvPr/>
        </p:nvSpPr>
        <p:spPr>
          <a:xfrm>
            <a:off x="6126480" y="6620256"/>
            <a:ext cx="1737360" cy="237744"/>
          </a:xfrm>
          <a:prstGeom prst="rect">
            <a:avLst/>
          </a:prstGeom>
          <a:solidFill>
            <a:srgbClr val="4F417A"/>
          </a:solidFill>
          <a:ln/>
        </p:spPr>
      </p:sp>
      <p:sp>
        <p:nvSpPr>
          <p:cNvPr id="31" name="Shape 29"/>
          <p:cNvSpPr/>
          <p:nvPr/>
        </p:nvSpPr>
        <p:spPr>
          <a:xfrm>
            <a:off x="7863840" y="6620256"/>
            <a:ext cx="1280160" cy="237744"/>
          </a:xfrm>
          <a:prstGeom prst="rect">
            <a:avLst/>
          </a:prstGeom>
          <a:solidFill>
            <a:srgbClr val="7A7099"/>
          </a:solidFill>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2</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Độ bền của luật chấm và tính tất định</a:t>
            </a:r>
            <a:endParaRPr lang="en-US" sz="1900" dirty="0"/>
          </a:p>
        </p:txBody>
      </p:sp>
      <p:sp>
        <p:nvSpPr>
          <p:cNvPr id="4" name="Text 2"/>
          <p:cNvSpPr/>
          <p:nvPr/>
        </p:nvSpPr>
        <p:spPr>
          <a:xfrm>
            <a:off x="502920" y="914400"/>
            <a:ext cx="201168" cy="96012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 name="Text 3"/>
          <p:cNvSpPr/>
          <p:nvPr/>
        </p:nvSpPr>
        <p:spPr>
          <a:xfrm>
            <a:off x="731520" y="914400"/>
            <a:ext cx="7909560" cy="9144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Ba nhánh được chấm lại dưới năm luật trên 698 bước: trần trôi từ 56,6% lên 82,2%, thứ tự không đổi</a:t>
            </a:r>
            <a:endParaRPr lang="en-US" sz="1300" dirty="0"/>
          </a:p>
        </p:txBody>
      </p:sp>
      <p:sp>
        <p:nvSpPr>
          <p:cNvPr id="6" name="Text 4"/>
          <p:cNvSpPr/>
          <p:nvPr/>
        </p:nvSpPr>
        <p:spPr>
          <a:xfrm>
            <a:off x="502920" y="1874520"/>
            <a:ext cx="201168" cy="96012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7" name="Text 5"/>
          <p:cNvSpPr/>
          <p:nvPr/>
        </p:nvSpPr>
        <p:spPr>
          <a:xfrm>
            <a:off x="731520" y="1874520"/>
            <a:ext cx="7909560" cy="9144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Chênh lệch S1 − Base nằm gọn trong khoảng 9,5 đến 13,0 điểm ở cả năm luật</a:t>
            </a:r>
            <a:endParaRPr lang="en-US" sz="1300" dirty="0"/>
          </a:p>
        </p:txBody>
      </p:sp>
      <p:sp>
        <p:nvSpPr>
          <p:cNvPr id="8" name="Text 6"/>
          <p:cNvSpPr/>
          <p:nvPr/>
        </p:nvSpPr>
        <p:spPr>
          <a:xfrm>
            <a:off x="502920" y="2834640"/>
            <a:ext cx="201168" cy="96012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9" name="Text 7"/>
          <p:cNvSpPr/>
          <p:nvPr/>
        </p:nvSpPr>
        <p:spPr>
          <a:xfrm>
            <a:off x="731520" y="2834640"/>
            <a:ext cx="7909560" cy="9144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Thước cho kết quả tất định: bốn lượt chạy độc lập, 1.625 phép so, không một bất đồng</a:t>
            </a:r>
            <a:endParaRPr lang="en-US" sz="1300" dirty="0"/>
          </a:p>
        </p:txBody>
      </p:sp>
      <p:sp>
        <p:nvSpPr>
          <p:cNvPr id="10" name="Text 8"/>
          <p:cNvSpPr/>
          <p:nvPr/>
        </p:nvSpPr>
        <p:spPr>
          <a:xfrm>
            <a:off x="502920" y="3794760"/>
            <a:ext cx="201168" cy="96012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1" name="Text 9"/>
          <p:cNvSpPr/>
          <p:nvPr/>
        </p:nvSpPr>
        <p:spPr>
          <a:xfrm>
            <a:off x="731520" y="3794760"/>
            <a:ext cx="7909560" cy="9144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Hệ số đồng thuận κ = 0,867 toàn tập, và 0,650 trên 1.652 bước hai nhánh viết câu khác nhau</a:t>
            </a:r>
            <a:endParaRPr lang="en-US" sz="1300" dirty="0"/>
          </a:p>
        </p:txBody>
      </p:sp>
      <p:sp>
        <p:nvSpPr>
          <p:cNvPr id="12" name="Text 10"/>
          <p:cNvSpPr/>
          <p:nvPr/>
        </p:nvSpPr>
        <p:spPr>
          <a:xfrm>
            <a:off x="502920" y="4754880"/>
            <a:ext cx="201168" cy="96012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3" name="Text 11"/>
          <p:cNvSpPr/>
          <p:nvPr/>
        </p:nvSpPr>
        <p:spPr>
          <a:xfrm>
            <a:off x="731520" y="4754880"/>
            <a:ext cx="7909560" cy="9144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Luận văn nêu thẳng một lỗi cài đặt: phép chuẩn hoá quy “go back” về lớp chạm. Sửa lại thì điểm đổi 0,3 điểm, và ba nhánh đã chấm không được chấm lại</a:t>
            </a:r>
            <a:endParaRPr lang="en-US" sz="1300" dirty="0"/>
          </a:p>
        </p:txBody>
      </p:sp>
      <p:sp>
        <p:nvSpPr>
          <p:cNvPr id="14" name="Shape 12"/>
          <p:cNvSpPr/>
          <p:nvPr/>
        </p:nvSpPr>
        <p:spPr>
          <a:xfrm>
            <a:off x="0" y="6620256"/>
            <a:ext cx="2743200" cy="237744"/>
          </a:xfrm>
          <a:prstGeom prst="rect">
            <a:avLst/>
          </a:prstGeom>
          <a:solidFill>
            <a:srgbClr val="191132"/>
          </a:solidFill>
          <a:ln/>
        </p:spPr>
      </p:sp>
      <p:sp>
        <p:nvSpPr>
          <p:cNvPr id="15" name="Shape 13"/>
          <p:cNvSpPr/>
          <p:nvPr/>
        </p:nvSpPr>
        <p:spPr>
          <a:xfrm>
            <a:off x="2743200" y="6620256"/>
            <a:ext cx="3383280" cy="237744"/>
          </a:xfrm>
          <a:prstGeom prst="rect">
            <a:avLst/>
          </a:prstGeom>
          <a:solidFill>
            <a:srgbClr val="25194B"/>
          </a:solidFill>
          <a:ln/>
        </p:spPr>
      </p:sp>
      <p:sp>
        <p:nvSpPr>
          <p:cNvPr id="16" name="Shape 14"/>
          <p:cNvSpPr/>
          <p:nvPr/>
        </p:nvSpPr>
        <p:spPr>
          <a:xfrm>
            <a:off x="6126480" y="6620256"/>
            <a:ext cx="1737360" cy="237744"/>
          </a:xfrm>
          <a:prstGeom prst="rect">
            <a:avLst/>
          </a:prstGeom>
          <a:solidFill>
            <a:srgbClr val="4F417A"/>
          </a:solidFill>
          <a:ln/>
        </p:spPr>
      </p:sp>
      <p:sp>
        <p:nvSpPr>
          <p:cNvPr id="17" name="Shape 15"/>
          <p:cNvSpPr/>
          <p:nvPr/>
        </p:nvSpPr>
        <p:spPr>
          <a:xfrm>
            <a:off x="7863840" y="6620256"/>
            <a:ext cx="1280160" cy="237744"/>
          </a:xfrm>
          <a:prstGeom prst="rect">
            <a:avLst/>
          </a:prstGeom>
          <a:solidFill>
            <a:srgbClr val="7A7099"/>
          </a:solidFill>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3</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Thước có mong manh trước cách diễn đạt không</a:t>
            </a:r>
            <a:endParaRPr lang="en-US" sz="1900" dirty="0"/>
          </a:p>
        </p:txBody>
      </p:sp>
      <p:sp>
        <p:nvSpPr>
          <p:cNvPr id="4" name="Shape 2"/>
          <p:cNvSpPr/>
          <p:nvPr/>
        </p:nvSpPr>
        <p:spPr>
          <a:xfrm>
            <a:off x="502920" y="914400"/>
            <a:ext cx="8129016" cy="384048"/>
          </a:xfrm>
          <a:prstGeom prst="rect">
            <a:avLst/>
          </a:prstGeom>
          <a:solidFill>
            <a:srgbClr val="322164"/>
          </a:solidFill>
          <a:ln/>
        </p:spPr>
      </p:sp>
      <p:sp>
        <p:nvSpPr>
          <p:cNvPr id="5" name="Text 3"/>
          <p:cNvSpPr/>
          <p:nvPr/>
        </p:nvSpPr>
        <p:spPr>
          <a:xfrm>
            <a:off x="502920" y="914400"/>
            <a:ext cx="256032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Biến thể</a:t>
            </a:r>
            <a:endParaRPr lang="en-US" sz="1200" dirty="0"/>
          </a:p>
        </p:txBody>
      </p:sp>
      <p:sp>
        <p:nvSpPr>
          <p:cNvPr id="6" name="Text 4"/>
          <p:cNvSpPr/>
          <p:nvPr/>
        </p:nvSpPr>
        <p:spPr>
          <a:xfrm>
            <a:off x="3063240" y="914400"/>
            <a:ext cx="182880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Phần bị tác động</a:t>
            </a:r>
            <a:endParaRPr lang="en-US" sz="1200" dirty="0"/>
          </a:p>
        </p:txBody>
      </p:sp>
      <p:sp>
        <p:nvSpPr>
          <p:cNvPr id="7" name="Text 5"/>
          <p:cNvSpPr/>
          <p:nvPr/>
        </p:nvSpPr>
        <p:spPr>
          <a:xfrm>
            <a:off x="4892040" y="914400"/>
            <a:ext cx="173736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Điểm</a:t>
            </a:r>
            <a:endParaRPr lang="en-US" sz="1200" dirty="0"/>
          </a:p>
        </p:txBody>
      </p:sp>
      <p:sp>
        <p:nvSpPr>
          <p:cNvPr id="8" name="Text 6"/>
          <p:cNvSpPr/>
          <p:nvPr/>
        </p:nvSpPr>
        <p:spPr>
          <a:xfrm>
            <a:off x="6629400" y="914400"/>
            <a:ext cx="2002536"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a:t>
            </a:r>
            <a:endParaRPr lang="en-US" sz="1200" dirty="0"/>
          </a:p>
        </p:txBody>
      </p:sp>
      <p:sp>
        <p:nvSpPr>
          <p:cNvPr id="9" name="Text 7"/>
          <p:cNvSpPr/>
          <p:nvPr/>
        </p:nvSpPr>
        <p:spPr>
          <a:xfrm>
            <a:off x="502920" y="1298448"/>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Đổi động từ thao tác</a:t>
            </a:r>
            <a:endParaRPr lang="en-US" sz="1250" dirty="0"/>
          </a:p>
        </p:txBody>
      </p:sp>
      <p:sp>
        <p:nvSpPr>
          <p:cNvPr id="10" name="Text 8"/>
          <p:cNvSpPr/>
          <p:nvPr/>
        </p:nvSpPr>
        <p:spPr>
          <a:xfrm>
            <a:off x="3063240" y="1298448"/>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725 bước</a:t>
            </a:r>
            <a:endParaRPr lang="en-US" sz="1250" dirty="0"/>
          </a:p>
        </p:txBody>
      </p:sp>
      <p:sp>
        <p:nvSpPr>
          <p:cNvPr id="11" name="Text 9"/>
          <p:cNvSpPr/>
          <p:nvPr/>
        </p:nvSpPr>
        <p:spPr>
          <a:xfrm>
            <a:off x="4892040" y="1298448"/>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76,8 → 77,0</a:t>
            </a:r>
            <a:endParaRPr lang="en-US" sz="1250" dirty="0"/>
          </a:p>
        </p:txBody>
      </p:sp>
      <p:sp>
        <p:nvSpPr>
          <p:cNvPr id="12" name="Text 10"/>
          <p:cNvSpPr/>
          <p:nvPr/>
        </p:nvSpPr>
        <p:spPr>
          <a:xfrm>
            <a:off x="6629400" y="1298448"/>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1,000</a:t>
            </a:r>
            <a:endParaRPr lang="en-US" sz="1250" dirty="0"/>
          </a:p>
        </p:txBody>
      </p:sp>
      <p:sp>
        <p:nvSpPr>
          <p:cNvPr id="13" name="Shape 11"/>
          <p:cNvSpPr/>
          <p:nvPr/>
        </p:nvSpPr>
        <p:spPr>
          <a:xfrm>
            <a:off x="502920" y="1700784"/>
            <a:ext cx="8129016" cy="0"/>
          </a:xfrm>
          <a:prstGeom prst="line">
            <a:avLst/>
          </a:prstGeom>
          <a:noFill/>
          <a:ln w="12700">
            <a:solidFill>
              <a:srgbClr val="9A94AE"/>
            </a:solidFill>
            <a:prstDash val="solid"/>
          </a:ln>
        </p:spPr>
      </p:sp>
      <p:sp>
        <p:nvSpPr>
          <p:cNvPr id="14" name="Text 12"/>
          <p:cNvSpPr/>
          <p:nvPr/>
        </p:nvSpPr>
        <p:spPr>
          <a:xfrm>
            <a:off x="502920" y="1700784"/>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Đảo trật tự mệnh đề</a:t>
            </a:r>
            <a:endParaRPr lang="en-US" sz="1250" dirty="0"/>
          </a:p>
        </p:txBody>
      </p:sp>
      <p:sp>
        <p:nvSpPr>
          <p:cNvPr id="15" name="Text 13"/>
          <p:cNvSpPr/>
          <p:nvPr/>
        </p:nvSpPr>
        <p:spPr>
          <a:xfrm>
            <a:off x="3063240" y="1700784"/>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211 bước</a:t>
            </a:r>
            <a:endParaRPr lang="en-US" sz="1250" dirty="0"/>
          </a:p>
        </p:txBody>
      </p:sp>
      <p:sp>
        <p:nvSpPr>
          <p:cNvPr id="16" name="Text 14"/>
          <p:cNvSpPr/>
          <p:nvPr/>
        </p:nvSpPr>
        <p:spPr>
          <a:xfrm>
            <a:off x="4892040" y="1700784"/>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89,6 → 90,0</a:t>
            </a:r>
            <a:endParaRPr lang="en-US" sz="1250" dirty="0"/>
          </a:p>
        </p:txBody>
      </p:sp>
      <p:sp>
        <p:nvSpPr>
          <p:cNvPr id="17" name="Text 15"/>
          <p:cNvSpPr/>
          <p:nvPr/>
        </p:nvSpPr>
        <p:spPr>
          <a:xfrm>
            <a:off x="6629400" y="1700784"/>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1,000</a:t>
            </a:r>
            <a:endParaRPr lang="en-US" sz="1250" dirty="0"/>
          </a:p>
        </p:txBody>
      </p:sp>
      <p:sp>
        <p:nvSpPr>
          <p:cNvPr id="18" name="Shape 16"/>
          <p:cNvSpPr/>
          <p:nvPr/>
        </p:nvSpPr>
        <p:spPr>
          <a:xfrm>
            <a:off x="502920" y="2103120"/>
            <a:ext cx="8129016" cy="0"/>
          </a:xfrm>
          <a:prstGeom prst="line">
            <a:avLst/>
          </a:prstGeom>
          <a:noFill/>
          <a:ln w="12700">
            <a:solidFill>
              <a:srgbClr val="9A94AE"/>
            </a:solidFill>
            <a:prstDash val="solid"/>
          </a:ln>
        </p:spPr>
      </p:sp>
      <p:sp>
        <p:nvSpPr>
          <p:cNvPr id="19" name="Text 17"/>
          <p:cNvSpPr/>
          <p:nvPr/>
        </p:nvSpPr>
        <p:spPr>
          <a:xfrm>
            <a:off x="502920" y="2103120"/>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Cả hai cùng lúc</a:t>
            </a:r>
            <a:endParaRPr lang="en-US" sz="1250" dirty="0"/>
          </a:p>
        </p:txBody>
      </p:sp>
      <p:sp>
        <p:nvSpPr>
          <p:cNvPr id="20" name="Text 18"/>
          <p:cNvSpPr/>
          <p:nvPr/>
        </p:nvSpPr>
        <p:spPr>
          <a:xfrm>
            <a:off x="3063240" y="2103120"/>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203 bước</a:t>
            </a:r>
            <a:endParaRPr lang="en-US" sz="1250" dirty="0"/>
          </a:p>
        </p:txBody>
      </p:sp>
      <p:sp>
        <p:nvSpPr>
          <p:cNvPr id="21" name="Text 19"/>
          <p:cNvSpPr/>
          <p:nvPr/>
        </p:nvSpPr>
        <p:spPr>
          <a:xfrm>
            <a:off x="4892040" y="2103120"/>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90,1 → 91,1</a:t>
            </a:r>
            <a:endParaRPr lang="en-US" sz="1250" dirty="0"/>
          </a:p>
        </p:txBody>
      </p:sp>
      <p:sp>
        <p:nvSpPr>
          <p:cNvPr id="22" name="Text 20"/>
          <p:cNvSpPr/>
          <p:nvPr/>
        </p:nvSpPr>
        <p:spPr>
          <a:xfrm>
            <a:off x="6629400" y="2103120"/>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0,480</a:t>
            </a:r>
            <a:endParaRPr lang="en-US" sz="1250" dirty="0"/>
          </a:p>
        </p:txBody>
      </p:sp>
      <p:sp>
        <p:nvSpPr>
          <p:cNvPr id="23" name="Shape 21"/>
          <p:cNvSpPr/>
          <p:nvPr/>
        </p:nvSpPr>
        <p:spPr>
          <a:xfrm>
            <a:off x="502920" y="2505456"/>
            <a:ext cx="8129016" cy="0"/>
          </a:xfrm>
          <a:prstGeom prst="line">
            <a:avLst/>
          </a:prstGeom>
          <a:noFill/>
          <a:ln w="12700">
            <a:solidFill>
              <a:srgbClr val="9A94AE"/>
            </a:solidFill>
            <a:prstDash val="solid"/>
          </a:ln>
        </p:spPr>
      </p:sp>
      <p:sp>
        <p:nvSpPr>
          <p:cNvPr id="24" name="Text 22"/>
          <p:cNvSpPr/>
          <p:nvPr/>
        </p:nvSpPr>
        <p:spPr>
          <a:xfrm>
            <a:off x="502920" y="2505456"/>
            <a:ext cx="2560320" cy="438912"/>
          </a:xfrm>
          <a:prstGeom prst="rect">
            <a:avLst/>
          </a:prstGeom>
          <a:noFill/>
          <a:ln/>
        </p:spPr>
        <p:txBody>
          <a:bodyPr wrap="square" lIns="38100" tIns="38100" rIns="38100" bIns="38100" rtlCol="0" anchor="ctr"/>
          <a:lstStyle/>
          <a:p>
            <a:pPr algn="l" indent="0" marL="0">
              <a:buNone/>
            </a:pPr>
            <a:r>
              <a:rPr lang="en-US" sz="1250" b="1" dirty="0">
                <a:solidFill>
                  <a:srgbClr val="B22222"/>
                </a:solidFill>
                <a:latin typeface="Cambria" pitchFamily="34" charset="0"/>
                <a:ea typeface="Cambria" pitchFamily="34" charset="-122"/>
                <a:cs typeface="Cambria" pitchFamily="34" charset="-120"/>
              </a:rPr>
              <a:t>Bỏ mệnh đề vị trí</a:t>
            </a:r>
            <a:endParaRPr lang="en-US" sz="1250" dirty="0"/>
          </a:p>
        </p:txBody>
      </p:sp>
      <p:sp>
        <p:nvSpPr>
          <p:cNvPr id="25" name="Text 23"/>
          <p:cNvSpPr/>
          <p:nvPr/>
        </p:nvSpPr>
        <p:spPr>
          <a:xfrm>
            <a:off x="3063240" y="2505456"/>
            <a:ext cx="1828800" cy="438912"/>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198 bước</a:t>
            </a:r>
            <a:endParaRPr lang="en-US" sz="1250" dirty="0"/>
          </a:p>
        </p:txBody>
      </p:sp>
      <p:sp>
        <p:nvSpPr>
          <p:cNvPr id="26" name="Text 24"/>
          <p:cNvSpPr/>
          <p:nvPr/>
        </p:nvSpPr>
        <p:spPr>
          <a:xfrm>
            <a:off x="4892040" y="2505456"/>
            <a:ext cx="1737360" cy="438912"/>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89,4 → 85,9</a:t>
            </a:r>
            <a:endParaRPr lang="en-US" sz="1250" dirty="0"/>
          </a:p>
        </p:txBody>
      </p:sp>
      <p:sp>
        <p:nvSpPr>
          <p:cNvPr id="27" name="Text 25"/>
          <p:cNvSpPr/>
          <p:nvPr/>
        </p:nvSpPr>
        <p:spPr>
          <a:xfrm>
            <a:off x="6629400" y="2505456"/>
            <a:ext cx="2002536" cy="438912"/>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0,046</a:t>
            </a:r>
            <a:endParaRPr lang="en-US" sz="1250" dirty="0"/>
          </a:p>
        </p:txBody>
      </p:sp>
      <p:sp>
        <p:nvSpPr>
          <p:cNvPr id="28" name="Text 26"/>
          <p:cNvSpPr/>
          <p:nvPr/>
        </p:nvSpPr>
        <p:spPr>
          <a:xfrm>
            <a:off x="502920" y="320040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9" name="Text 27"/>
          <p:cNvSpPr/>
          <p:nvPr/>
        </p:nvSpPr>
        <p:spPr>
          <a:xfrm>
            <a:off x="731520" y="320040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Gộp ba biến thể bảo toàn nghĩa: 1.139 câu, hiệu ròng +0,35 điểm, KTC [−0,59 ; +1,29]</a:t>
            </a:r>
            <a:endParaRPr lang="en-US" sz="1250" dirty="0"/>
          </a:p>
        </p:txBody>
      </p:sp>
      <p:sp>
        <p:nvSpPr>
          <p:cNvPr id="30" name="Text 28"/>
          <p:cNvSpPr/>
          <p:nvPr/>
        </p:nvSpPr>
        <p:spPr>
          <a:xfrm>
            <a:off x="502920" y="384048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1" name="Text 29"/>
          <p:cNvSpPr/>
          <p:nvPr/>
        </p:nvSpPr>
        <p:spPr>
          <a:xfrm>
            <a:off x="731520" y="384048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Bỏ mệnh đề vị trí thì thước phạt đúng, nên đây không phải một thước bất động</a:t>
            </a:r>
            <a:endParaRPr lang="en-US" sz="1250" dirty="0"/>
          </a:p>
        </p:txBody>
      </p:sp>
      <p:sp>
        <p:nvSpPr>
          <p:cNvPr id="32" name="Text 30"/>
          <p:cNvSpPr/>
          <p:nvPr/>
        </p:nvSpPr>
        <p:spPr>
          <a:xfrm>
            <a:off x="502920" y="448056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3" name="Text 31"/>
          <p:cNvSpPr/>
          <p:nvPr/>
        </p:nvSpPr>
        <p:spPr>
          <a:xfrm>
            <a:off x="731520" y="448056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Cơ chế hỏng là hỏng tất cả hoặc không: trung vị sai số giữ nguyên, còn p90 bung từ 6,88 lên 31,16</a:t>
            </a:r>
            <a:endParaRPr lang="en-US" sz="1250" dirty="0"/>
          </a:p>
        </p:txBody>
      </p:sp>
      <p:sp>
        <p:nvSpPr>
          <p:cNvPr id="34" name="Text 32"/>
          <p:cNvSpPr/>
          <p:nvPr/>
        </p:nvSpPr>
        <p:spPr>
          <a:xfrm>
            <a:off x="502920" y="512064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5" name="Text 33"/>
          <p:cNvSpPr/>
          <p:nvPr/>
        </p:nvSpPr>
        <p:spPr>
          <a:xfrm>
            <a:off x="731520" y="512064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Phần bị tác động là phần dễ nhất, và phép viết lại này chưa đụng vào cách mô tả phần tử</a:t>
            </a:r>
            <a:endParaRPr lang="en-US" sz="1250" dirty="0"/>
          </a:p>
        </p:txBody>
      </p:sp>
      <p:sp>
        <p:nvSpPr>
          <p:cNvPr id="36" name="Shape 34"/>
          <p:cNvSpPr/>
          <p:nvPr/>
        </p:nvSpPr>
        <p:spPr>
          <a:xfrm>
            <a:off x="0" y="6620256"/>
            <a:ext cx="2743200" cy="237744"/>
          </a:xfrm>
          <a:prstGeom prst="rect">
            <a:avLst/>
          </a:prstGeom>
          <a:solidFill>
            <a:srgbClr val="191132"/>
          </a:solidFill>
          <a:ln/>
        </p:spPr>
      </p:sp>
      <p:sp>
        <p:nvSpPr>
          <p:cNvPr id="37" name="Shape 35"/>
          <p:cNvSpPr/>
          <p:nvPr/>
        </p:nvSpPr>
        <p:spPr>
          <a:xfrm>
            <a:off x="2743200" y="6620256"/>
            <a:ext cx="3383280" cy="237744"/>
          </a:xfrm>
          <a:prstGeom prst="rect">
            <a:avLst/>
          </a:prstGeom>
          <a:solidFill>
            <a:srgbClr val="25194B"/>
          </a:solidFill>
          <a:ln/>
        </p:spPr>
      </p:sp>
      <p:sp>
        <p:nvSpPr>
          <p:cNvPr id="38" name="Shape 36"/>
          <p:cNvSpPr/>
          <p:nvPr/>
        </p:nvSpPr>
        <p:spPr>
          <a:xfrm>
            <a:off x="6126480" y="6620256"/>
            <a:ext cx="1737360" cy="237744"/>
          </a:xfrm>
          <a:prstGeom prst="rect">
            <a:avLst/>
          </a:prstGeom>
          <a:solidFill>
            <a:srgbClr val="4F417A"/>
          </a:solidFill>
          <a:ln/>
        </p:spPr>
      </p:sp>
      <p:sp>
        <p:nvSpPr>
          <p:cNvPr id="39" name="Shape 37"/>
          <p:cNvSpPr/>
          <p:nvPr/>
        </p:nvSpPr>
        <p:spPr>
          <a:xfrm>
            <a:off x="7863840" y="6620256"/>
            <a:ext cx="1280160" cy="237744"/>
          </a:xfrm>
          <a:prstGeom prst="rect">
            <a:avLst/>
          </a:prstGeom>
          <a:solidFill>
            <a:srgbClr val="7A7099"/>
          </a:solidFill>
          <a:ln/>
        </p:spPr>
      </p:sp>
      <p:sp>
        <p:nvSpPr>
          <p:cNvPr id="40" name="Text 3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1" name="Text 3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42" name="Text 4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3" name="Text 4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4</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Sàn của thước, và gọi tên so với chỉ vị trí</a:t>
            </a:r>
            <a:endParaRPr lang="en-US" sz="1900" dirty="0"/>
          </a:p>
        </p:txBody>
      </p:sp>
      <p:sp>
        <p:nvSpPr>
          <p:cNvPr id="4" name="Shape 2"/>
          <p:cNvSpPr/>
          <p:nvPr/>
        </p:nvSpPr>
        <p:spPr>
          <a:xfrm>
            <a:off x="502920" y="960120"/>
            <a:ext cx="8129016" cy="384048"/>
          </a:xfrm>
          <a:prstGeom prst="rect">
            <a:avLst/>
          </a:prstGeom>
          <a:solidFill>
            <a:srgbClr val="322164"/>
          </a:solidFill>
          <a:ln/>
        </p:spPr>
      </p:sp>
      <p:sp>
        <p:nvSpPr>
          <p:cNvPr id="5" name="Text 3"/>
          <p:cNvSpPr/>
          <p:nvPr/>
        </p:nvSpPr>
        <p:spPr>
          <a:xfrm>
            <a:off x="502920" y="960120"/>
            <a:ext cx="329184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Nhánh đối chứng</a:t>
            </a:r>
            <a:endParaRPr lang="en-US" sz="1200" dirty="0"/>
          </a:p>
        </p:txBody>
      </p:sp>
      <p:sp>
        <p:nvSpPr>
          <p:cNvPr id="6" name="Text 4"/>
          <p:cNvSpPr/>
          <p:nvPr/>
        </p:nvSpPr>
        <p:spPr>
          <a:xfrm>
            <a:off x="3794760" y="960120"/>
            <a:ext cx="320040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Câu bị thay thành gì</a:t>
            </a:r>
            <a:endParaRPr lang="en-US" sz="1200" dirty="0"/>
          </a:p>
        </p:txBody>
      </p:sp>
      <p:sp>
        <p:nvSpPr>
          <p:cNvPr id="7" name="Text 5"/>
          <p:cNvSpPr/>
          <p:nvPr/>
        </p:nvSpPr>
        <p:spPr>
          <a:xfrm>
            <a:off x="6995160" y="960120"/>
            <a:ext cx="1636776"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Điểm</a:t>
            </a:r>
            <a:endParaRPr lang="en-US" sz="1200" dirty="0"/>
          </a:p>
        </p:txBody>
      </p:sp>
      <p:sp>
        <p:nvSpPr>
          <p:cNvPr id="8" name="Text 6"/>
          <p:cNvSpPr/>
          <p:nvPr/>
        </p:nvSpPr>
        <p:spPr>
          <a:xfrm>
            <a:off x="502920" y="1344168"/>
            <a:ext cx="329184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chung chung</a:t>
            </a:r>
            <a:endParaRPr lang="en-US" sz="1250" dirty="0"/>
          </a:p>
        </p:txBody>
      </p:sp>
      <p:sp>
        <p:nvSpPr>
          <p:cNvPr id="9" name="Text 7"/>
          <p:cNvSpPr/>
          <p:nvPr/>
        </p:nvSpPr>
        <p:spPr>
          <a:xfrm>
            <a:off x="3794760" y="1344168"/>
            <a:ext cx="320040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“Tap the button.” ở mọi bước</a:t>
            </a:r>
            <a:endParaRPr lang="en-US" sz="1250" dirty="0"/>
          </a:p>
        </p:txBody>
      </p:sp>
      <p:sp>
        <p:nvSpPr>
          <p:cNvPr id="10" name="Text 8"/>
          <p:cNvSpPr/>
          <p:nvPr/>
        </p:nvSpPr>
        <p:spPr>
          <a:xfrm>
            <a:off x="6995160" y="1344168"/>
            <a:ext cx="1636776" cy="420624"/>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12,0</a:t>
            </a:r>
            <a:endParaRPr lang="en-US" sz="1250" dirty="0"/>
          </a:p>
        </p:txBody>
      </p:sp>
      <p:sp>
        <p:nvSpPr>
          <p:cNvPr id="11" name="Shape 9"/>
          <p:cNvSpPr/>
          <p:nvPr/>
        </p:nvSpPr>
        <p:spPr>
          <a:xfrm>
            <a:off x="502920" y="1764792"/>
            <a:ext cx="8129016" cy="0"/>
          </a:xfrm>
          <a:prstGeom prst="line">
            <a:avLst/>
          </a:prstGeom>
          <a:noFill/>
          <a:ln w="12700">
            <a:solidFill>
              <a:srgbClr val="9A94AE"/>
            </a:solidFill>
            <a:prstDash val="solid"/>
          </a:ln>
        </p:spPr>
      </p:sp>
      <p:sp>
        <p:nvSpPr>
          <p:cNvPr id="12" name="Text 10"/>
          <p:cNvSpPr/>
          <p:nvPr/>
        </p:nvSpPr>
        <p:spPr>
          <a:xfrm>
            <a:off x="502920" y="1764792"/>
            <a:ext cx="3291840" cy="512064"/>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Câu sai màn hình</a:t>
            </a:r>
            <a:endParaRPr lang="en-US" sz="1250" dirty="0"/>
          </a:p>
        </p:txBody>
      </p:sp>
      <p:sp>
        <p:nvSpPr>
          <p:cNvPr id="13" name="Text 11"/>
          <p:cNvSpPr/>
          <p:nvPr/>
        </p:nvSpPr>
        <p:spPr>
          <a:xfrm>
            <a:off x="3794760" y="1764792"/>
            <a:ext cx="3200400" cy="51206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thật của bước khác: đúng văn phong, sai nội dung</a:t>
            </a:r>
            <a:endParaRPr lang="en-US" sz="1250" dirty="0"/>
          </a:p>
        </p:txBody>
      </p:sp>
      <p:sp>
        <p:nvSpPr>
          <p:cNvPr id="14" name="Text 12"/>
          <p:cNvSpPr/>
          <p:nvPr/>
        </p:nvSpPr>
        <p:spPr>
          <a:xfrm>
            <a:off x="6995160" y="1764792"/>
            <a:ext cx="1636776" cy="512064"/>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6,1</a:t>
            </a:r>
            <a:endParaRPr lang="en-US" sz="1250" dirty="0"/>
          </a:p>
        </p:txBody>
      </p:sp>
      <p:sp>
        <p:nvSpPr>
          <p:cNvPr id="15" name="Shape 13"/>
          <p:cNvSpPr/>
          <p:nvPr/>
        </p:nvSpPr>
        <p:spPr>
          <a:xfrm>
            <a:off x="502920" y="2276856"/>
            <a:ext cx="8129016" cy="0"/>
          </a:xfrm>
          <a:prstGeom prst="line">
            <a:avLst/>
          </a:prstGeom>
          <a:noFill/>
          <a:ln w="12700">
            <a:solidFill>
              <a:srgbClr val="9A94AE"/>
            </a:solidFill>
            <a:prstDash val="solid"/>
          </a:ln>
        </p:spPr>
      </p:sp>
      <p:sp>
        <p:nvSpPr>
          <p:cNvPr id="16" name="Text 14"/>
          <p:cNvSpPr/>
          <p:nvPr/>
        </p:nvSpPr>
        <p:spPr>
          <a:xfrm>
            <a:off x="502920" y="2276856"/>
            <a:ext cx="329184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Bỏ tên, giữ vị trí</a:t>
            </a:r>
            <a:endParaRPr lang="en-US" sz="1250" dirty="0"/>
          </a:p>
        </p:txBody>
      </p:sp>
      <p:sp>
        <p:nvSpPr>
          <p:cNvPr id="17" name="Text 15"/>
          <p:cNvSpPr/>
          <p:nvPr/>
        </p:nvSpPr>
        <p:spPr>
          <a:xfrm>
            <a:off x="3794760" y="2276856"/>
            <a:ext cx="320040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chỉ còn mệnh đề vị trí</a:t>
            </a:r>
            <a:endParaRPr lang="en-US" sz="1250" dirty="0"/>
          </a:p>
        </p:txBody>
      </p:sp>
      <p:sp>
        <p:nvSpPr>
          <p:cNvPr id="18" name="Text 16"/>
          <p:cNvSpPr/>
          <p:nvPr/>
        </p:nvSpPr>
        <p:spPr>
          <a:xfrm>
            <a:off x="6995160" y="2276856"/>
            <a:ext cx="163677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61,1</a:t>
            </a:r>
            <a:endParaRPr lang="en-US" sz="1250" dirty="0"/>
          </a:p>
        </p:txBody>
      </p:sp>
      <p:sp>
        <p:nvSpPr>
          <p:cNvPr id="19" name="Text 17"/>
          <p:cNvSpPr/>
          <p:nvPr/>
        </p:nvSpPr>
        <p:spPr>
          <a:xfrm>
            <a:off x="502920" y="3063240"/>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0" name="Text 18"/>
          <p:cNvSpPr/>
          <p:nvPr/>
        </p:nvSpPr>
        <p:spPr>
          <a:xfrm>
            <a:off x="731520" y="3063240"/>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Việc gọi tên đắt gấp tám lần việc chỉ chỗ: bỏ tên mất 28,5 điểm, bỏ vị trí chỉ mất 3,5 điểm</a:t>
            </a:r>
            <a:endParaRPr lang="en-US" sz="1250" dirty="0"/>
          </a:p>
        </p:txBody>
      </p:sp>
      <p:sp>
        <p:nvSpPr>
          <p:cNvPr id="21" name="Text 19"/>
          <p:cNvSpPr/>
          <p:nvPr/>
        </p:nvSpPr>
        <p:spPr>
          <a:xfrm>
            <a:off x="502920" y="3721608"/>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721608"/>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Con số phải trình là 28,5 điểm trên phần bị tác động, vì phép thử chỉ đụng 24,1% số bước</a:t>
            </a:r>
            <a:endParaRPr lang="en-US" sz="1250" dirty="0"/>
          </a:p>
        </p:txBody>
      </p:sp>
      <p:sp>
        <p:nvSpPr>
          <p:cNvPr id="23" name="Text 21"/>
          <p:cNvSpPr/>
          <p:nvPr/>
        </p:nvSpPr>
        <p:spPr>
          <a:xfrm>
            <a:off x="502920" y="4379976"/>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4379976"/>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Dải dùng được của thước là 62,9 điểm</a:t>
            </a:r>
            <a:endParaRPr lang="en-US" sz="1250" dirty="0"/>
          </a:p>
        </p:txBody>
      </p:sp>
      <p:sp>
        <p:nvSpPr>
          <p:cNvPr id="25" name="Text 23"/>
          <p:cNvSpPr/>
          <p:nvPr/>
        </p:nvSpPr>
        <p:spPr>
          <a:xfrm>
            <a:off x="502920" y="5038344"/>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5038344"/>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Suy đoán sàn khoảng 40% bị bác, vì nó suy từ tỉ lệ ba nhánh cùng trúng</a:t>
            </a:r>
            <a:endParaRPr lang="en-US" sz="1250" dirty="0"/>
          </a:p>
        </p:txBody>
      </p:sp>
      <p:sp>
        <p:nvSpPr>
          <p:cNvPr id="27" name="Shape 25"/>
          <p:cNvSpPr/>
          <p:nvPr/>
        </p:nvSpPr>
        <p:spPr>
          <a:xfrm>
            <a:off x="0" y="6620256"/>
            <a:ext cx="2743200" cy="237744"/>
          </a:xfrm>
          <a:prstGeom prst="rect">
            <a:avLst/>
          </a:prstGeom>
          <a:solidFill>
            <a:srgbClr val="191132"/>
          </a:solidFill>
          <a:ln/>
        </p:spPr>
      </p:sp>
      <p:sp>
        <p:nvSpPr>
          <p:cNvPr id="28" name="Shape 26"/>
          <p:cNvSpPr/>
          <p:nvPr/>
        </p:nvSpPr>
        <p:spPr>
          <a:xfrm>
            <a:off x="2743200" y="6620256"/>
            <a:ext cx="3383280" cy="237744"/>
          </a:xfrm>
          <a:prstGeom prst="rect">
            <a:avLst/>
          </a:prstGeom>
          <a:solidFill>
            <a:srgbClr val="25194B"/>
          </a:solidFill>
          <a:ln/>
        </p:spPr>
      </p:sp>
      <p:sp>
        <p:nvSpPr>
          <p:cNvPr id="29" name="Shape 27"/>
          <p:cNvSpPr/>
          <p:nvPr/>
        </p:nvSpPr>
        <p:spPr>
          <a:xfrm>
            <a:off x="6126480" y="6620256"/>
            <a:ext cx="1737360" cy="237744"/>
          </a:xfrm>
          <a:prstGeom prst="rect">
            <a:avLst/>
          </a:prstGeom>
          <a:solidFill>
            <a:srgbClr val="4F417A"/>
          </a:solidFill>
          <a:ln/>
        </p:spPr>
      </p:sp>
      <p:sp>
        <p:nvSpPr>
          <p:cNvPr id="30" name="Shape 28"/>
          <p:cNvSpPr/>
          <p:nvPr/>
        </p:nvSpPr>
        <p:spPr>
          <a:xfrm>
            <a:off x="7863840" y="6620256"/>
            <a:ext cx="1280160" cy="237744"/>
          </a:xfrm>
          <a:prstGeom prst="rect">
            <a:avLst/>
          </a:prstGeom>
          <a:solidFill>
            <a:srgbClr val="7A7099"/>
          </a:solidFill>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Cấu hình huấn luyện và chi phí máy</a:t>
            </a:r>
            <a:endParaRPr lang="en-US" sz="1900" dirty="0"/>
          </a:p>
        </p:txBody>
      </p:sp>
      <p:sp>
        <p:nvSpPr>
          <p:cNvPr id="4" name="Shape 2"/>
          <p:cNvSpPr/>
          <p:nvPr/>
        </p:nvSpPr>
        <p:spPr>
          <a:xfrm>
            <a:off x="502920" y="960120"/>
            <a:ext cx="8129016" cy="365760"/>
          </a:xfrm>
          <a:prstGeom prst="rect">
            <a:avLst/>
          </a:prstGeom>
          <a:solidFill>
            <a:srgbClr val="322164"/>
          </a:solidFill>
          <a:ln/>
        </p:spPr>
      </p:sp>
      <p:sp>
        <p:nvSpPr>
          <p:cNvPr id="5" name="Text 3"/>
          <p:cNvSpPr/>
          <p:nvPr/>
        </p:nvSpPr>
        <p:spPr>
          <a:xfrm>
            <a:off x="502920" y="960120"/>
            <a:ext cx="2743200"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Hạng mục</a:t>
            </a:r>
            <a:endParaRPr lang="en-US" sz="1250" dirty="0"/>
          </a:p>
        </p:txBody>
      </p:sp>
      <p:sp>
        <p:nvSpPr>
          <p:cNvPr id="6" name="Text 4"/>
          <p:cNvSpPr/>
          <p:nvPr/>
        </p:nvSpPr>
        <p:spPr>
          <a:xfrm>
            <a:off x="3246120" y="960120"/>
            <a:ext cx="5385816"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Cấu hình</a:t>
            </a:r>
            <a:endParaRPr lang="en-US" sz="1250" dirty="0"/>
          </a:p>
        </p:txBody>
      </p:sp>
      <p:sp>
        <p:nvSpPr>
          <p:cNvPr id="7" name="Text 5"/>
          <p:cNvSpPr/>
          <p:nvPr/>
        </p:nvSpPr>
        <p:spPr>
          <a:xfrm>
            <a:off x="502920" y="132588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Mô hình gốc</a:t>
            </a:r>
            <a:endParaRPr lang="en-US" sz="1250" dirty="0"/>
          </a:p>
        </p:txBody>
      </p:sp>
      <p:sp>
        <p:nvSpPr>
          <p:cNvPr id="8" name="Text 6"/>
          <p:cNvSpPr/>
          <p:nvPr/>
        </p:nvSpPr>
        <p:spPr>
          <a:xfrm>
            <a:off x="3246120" y="132588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Qwen2.5-VL-3B-Instruct</a:t>
            </a:r>
            <a:endParaRPr lang="en-US" sz="1250" dirty="0"/>
          </a:p>
        </p:txBody>
      </p:sp>
      <p:sp>
        <p:nvSpPr>
          <p:cNvPr id="9" name="Shape 7"/>
          <p:cNvSpPr/>
          <p:nvPr/>
        </p:nvSpPr>
        <p:spPr>
          <a:xfrm>
            <a:off x="502920" y="1691640"/>
            <a:ext cx="8129016" cy="0"/>
          </a:xfrm>
          <a:prstGeom prst="line">
            <a:avLst/>
          </a:prstGeom>
          <a:noFill/>
          <a:ln w="12700">
            <a:solidFill>
              <a:srgbClr val="9A94AE"/>
            </a:solidFill>
            <a:prstDash val="solid"/>
          </a:ln>
        </p:spPr>
      </p:sp>
      <p:sp>
        <p:nvSpPr>
          <p:cNvPr id="10" name="Text 8"/>
          <p:cNvSpPr/>
          <p:nvPr/>
        </p:nvSpPr>
        <p:spPr>
          <a:xfrm>
            <a:off x="502920" y="169164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Cách tinh chỉnh</a:t>
            </a:r>
            <a:endParaRPr lang="en-US" sz="1250" dirty="0"/>
          </a:p>
        </p:txBody>
      </p:sp>
      <p:sp>
        <p:nvSpPr>
          <p:cNvPr id="11" name="Text 9"/>
          <p:cNvSpPr/>
          <p:nvPr/>
        </p:nvSpPr>
        <p:spPr>
          <a:xfrm>
            <a:off x="3246120" y="169164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QLoRA 4 bit, đóng băng phần thị giác</a:t>
            </a:r>
            <a:endParaRPr lang="en-US" sz="1250" dirty="0"/>
          </a:p>
        </p:txBody>
      </p:sp>
      <p:sp>
        <p:nvSpPr>
          <p:cNvPr id="12" name="Shape 10"/>
          <p:cNvSpPr/>
          <p:nvPr/>
        </p:nvSpPr>
        <p:spPr>
          <a:xfrm>
            <a:off x="502920" y="2057400"/>
            <a:ext cx="8129016" cy="0"/>
          </a:xfrm>
          <a:prstGeom prst="line">
            <a:avLst/>
          </a:prstGeom>
          <a:noFill/>
          <a:ln w="12700">
            <a:solidFill>
              <a:srgbClr val="9A94AE"/>
            </a:solidFill>
            <a:prstDash val="solid"/>
          </a:ln>
        </p:spPr>
      </p:sp>
      <p:sp>
        <p:nvSpPr>
          <p:cNvPr id="13" name="Text 11"/>
          <p:cNvSpPr/>
          <p:nvPr/>
        </p:nvSpPr>
        <p:spPr>
          <a:xfrm>
            <a:off x="502920" y="205740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Độ dài và lô</a:t>
            </a:r>
            <a:endParaRPr lang="en-US" sz="1250" dirty="0"/>
          </a:p>
        </p:txBody>
      </p:sp>
      <p:sp>
        <p:nvSpPr>
          <p:cNvPr id="14" name="Text 12"/>
          <p:cNvSpPr/>
          <p:nvPr/>
        </p:nvSpPr>
        <p:spPr>
          <a:xfrm>
            <a:off x="3246120" y="205740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2.560 token, lô hiệu dụng 16, một epoch, 8.072 bước</a:t>
            </a:r>
            <a:endParaRPr lang="en-US" sz="1250" dirty="0"/>
          </a:p>
        </p:txBody>
      </p:sp>
      <p:sp>
        <p:nvSpPr>
          <p:cNvPr id="15" name="Shape 13"/>
          <p:cNvSpPr/>
          <p:nvPr/>
        </p:nvSpPr>
        <p:spPr>
          <a:xfrm>
            <a:off x="502920" y="2423160"/>
            <a:ext cx="8129016" cy="0"/>
          </a:xfrm>
          <a:prstGeom prst="line">
            <a:avLst/>
          </a:prstGeom>
          <a:noFill/>
          <a:ln w="12700">
            <a:solidFill>
              <a:srgbClr val="9A94AE"/>
            </a:solidFill>
            <a:prstDash val="solid"/>
          </a:ln>
        </p:spPr>
      </p:sp>
      <p:sp>
        <p:nvSpPr>
          <p:cNvPr id="16" name="Text 14"/>
          <p:cNvSpPr/>
          <p:nvPr/>
        </p:nvSpPr>
        <p:spPr>
          <a:xfrm>
            <a:off x="502920" y="242316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Máy và thời gian</a:t>
            </a:r>
            <a:endParaRPr lang="en-US" sz="1250" dirty="0"/>
          </a:p>
        </p:txBody>
      </p:sp>
      <p:sp>
        <p:nvSpPr>
          <p:cNvPr id="17" name="Text 15"/>
          <p:cNvSpPr/>
          <p:nvPr/>
        </p:nvSpPr>
        <p:spPr>
          <a:xfrm>
            <a:off x="3246120" y="242316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A100, 10,3 giây mỗi bước, khoảng 23 giờ mỗi lượt</a:t>
            </a:r>
            <a:endParaRPr lang="en-US" sz="1250" dirty="0"/>
          </a:p>
        </p:txBody>
      </p:sp>
      <p:sp>
        <p:nvSpPr>
          <p:cNvPr id="18" name="Shape 16"/>
          <p:cNvSpPr/>
          <p:nvPr/>
        </p:nvSpPr>
        <p:spPr>
          <a:xfrm>
            <a:off x="502920" y="2788920"/>
            <a:ext cx="8129016" cy="0"/>
          </a:xfrm>
          <a:prstGeom prst="line">
            <a:avLst/>
          </a:prstGeom>
          <a:noFill/>
          <a:ln w="12700">
            <a:solidFill>
              <a:srgbClr val="9A94AE"/>
            </a:solidFill>
            <a:prstDash val="solid"/>
          </a:ln>
        </p:spPr>
      </p:sp>
      <p:sp>
        <p:nvSpPr>
          <p:cNvPr id="19" name="Text 17"/>
          <p:cNvSpPr/>
          <p:nvPr/>
        </p:nvSpPr>
        <p:spPr>
          <a:xfrm>
            <a:off x="502920" y="278892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Khâu chấm</a:t>
            </a:r>
            <a:endParaRPr lang="en-US" sz="1250" dirty="0"/>
          </a:p>
        </p:txBody>
      </p:sp>
      <p:sp>
        <p:nvSpPr>
          <p:cNvPr id="20" name="Text 18"/>
          <p:cNvSpPr/>
          <p:nvPr/>
        </p:nvSpPr>
        <p:spPr>
          <a:xfrm>
            <a:off x="3246120" y="278892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Kaggle T4 × 2, khoảng 5,6 giờ mỗi nhánh</a:t>
            </a:r>
            <a:endParaRPr lang="en-US" sz="1250" dirty="0"/>
          </a:p>
        </p:txBody>
      </p:sp>
      <p:sp>
        <p:nvSpPr>
          <p:cNvPr id="21" name="Text 19"/>
          <p:cNvSpPr/>
          <p:nvPr/>
        </p:nvSpPr>
        <p:spPr>
          <a:xfrm>
            <a:off x="502920" y="3429000"/>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429000"/>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QLoRA 4 bit chạy nhanh hơn bf16 ở bài này: 10,70 so với 14,76 giây mỗi bước</a:t>
            </a:r>
            <a:endParaRPr lang="en-US" sz="1250" dirty="0"/>
          </a:p>
        </p:txBody>
      </p:sp>
      <p:sp>
        <p:nvSpPr>
          <p:cNvPr id="23" name="Text 21"/>
          <p:cNvSpPr/>
          <p:nvPr/>
        </p:nvSpPr>
        <p:spPr>
          <a:xfrm>
            <a:off x="502920" y="4032504"/>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4032504"/>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Chỗ ngốn bộ nhớ là bảng logits, không phải trọng số</a:t>
            </a:r>
            <a:endParaRPr lang="en-US" sz="1250" dirty="0"/>
          </a:p>
        </p:txBody>
      </p:sp>
      <p:sp>
        <p:nvSpPr>
          <p:cNvPr id="25" name="Text 23"/>
          <p:cNvSpPr/>
          <p:nvPr/>
        </p:nvSpPr>
        <p:spPr>
          <a:xfrm>
            <a:off x="502920" y="4636008"/>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4636008"/>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Đổi loại card không làm đổi kết quả: cùng hạt giống thì mất mát 20 bước đầu trùng ba chữ số</a:t>
            </a:r>
            <a:endParaRPr lang="en-US" sz="1250" dirty="0"/>
          </a:p>
        </p:txBody>
      </p:sp>
      <p:sp>
        <p:nvSpPr>
          <p:cNvPr id="27" name="Text 25"/>
          <p:cNvSpPr/>
          <p:nvPr/>
        </p:nvSpPr>
        <p:spPr>
          <a:xfrm>
            <a:off x="502920" y="5239512"/>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8" name="Text 26"/>
          <p:cNvSpPr/>
          <p:nvPr/>
        </p:nvSpPr>
        <p:spPr>
          <a:xfrm>
            <a:off x="731520" y="5239512"/>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Ngân sách máy là lý do hạt giống thứ hai của nhánh xử lý bị huỷ</a:t>
            </a:r>
            <a:endParaRPr lang="en-US" sz="1250" dirty="0"/>
          </a:p>
        </p:txBody>
      </p:sp>
      <p:sp>
        <p:nvSpPr>
          <p:cNvPr id="29" name="Shape 27"/>
          <p:cNvSpPr/>
          <p:nvPr/>
        </p:nvSpPr>
        <p:spPr>
          <a:xfrm>
            <a:off x="0" y="6620256"/>
            <a:ext cx="2743200" cy="237744"/>
          </a:xfrm>
          <a:prstGeom prst="rect">
            <a:avLst/>
          </a:prstGeom>
          <a:solidFill>
            <a:srgbClr val="191132"/>
          </a:solidFill>
          <a:ln/>
        </p:spPr>
      </p:sp>
      <p:sp>
        <p:nvSpPr>
          <p:cNvPr id="30" name="Shape 28"/>
          <p:cNvSpPr/>
          <p:nvPr/>
        </p:nvSpPr>
        <p:spPr>
          <a:xfrm>
            <a:off x="2743200" y="6620256"/>
            <a:ext cx="3383280" cy="237744"/>
          </a:xfrm>
          <a:prstGeom prst="rect">
            <a:avLst/>
          </a:prstGeom>
          <a:solidFill>
            <a:srgbClr val="25194B"/>
          </a:solidFill>
          <a:ln/>
        </p:spPr>
      </p:sp>
      <p:sp>
        <p:nvSpPr>
          <p:cNvPr id="31" name="Shape 29"/>
          <p:cNvSpPr/>
          <p:nvPr/>
        </p:nvSpPr>
        <p:spPr>
          <a:xfrm>
            <a:off x="6126480" y="6620256"/>
            <a:ext cx="1737360" cy="237744"/>
          </a:xfrm>
          <a:prstGeom prst="rect">
            <a:avLst/>
          </a:prstGeom>
          <a:solidFill>
            <a:srgbClr val="4F417A"/>
          </a:solidFill>
          <a:ln/>
        </p:spPr>
      </p:sp>
      <p:sp>
        <p:nvSpPr>
          <p:cNvPr id="32" name="Shape 30"/>
          <p:cNvSpPr/>
          <p:nvPr/>
        </p:nvSpPr>
        <p:spPr>
          <a:xfrm>
            <a:off x="7863840" y="6620256"/>
            <a:ext cx="1280160" cy="237744"/>
          </a:xfrm>
          <a:prstGeom prst="rect">
            <a:avLst/>
          </a:prstGeom>
          <a:solidFill>
            <a:srgbClr val="7A7099"/>
          </a:solidFill>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6</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Trạng thái cuối của bảy nhánh đã đăng ký</a:t>
            </a:r>
            <a:endParaRPr lang="en-US" sz="1900" dirty="0"/>
          </a:p>
        </p:txBody>
      </p:sp>
      <p:sp>
        <p:nvSpPr>
          <p:cNvPr id="4" name="Shape 2"/>
          <p:cNvSpPr/>
          <p:nvPr/>
        </p:nvSpPr>
        <p:spPr>
          <a:xfrm>
            <a:off x="502920" y="914400"/>
            <a:ext cx="8129016" cy="384048"/>
          </a:xfrm>
          <a:prstGeom prst="rect">
            <a:avLst/>
          </a:prstGeom>
          <a:solidFill>
            <a:srgbClr val="322164"/>
          </a:solidFill>
          <a:ln/>
        </p:spPr>
      </p:sp>
      <p:sp>
        <p:nvSpPr>
          <p:cNvPr id="5" name="Text 3"/>
          <p:cNvSpPr/>
          <p:nvPr/>
        </p:nvSpPr>
        <p:spPr>
          <a:xfrm>
            <a:off x="502920" y="914400"/>
            <a:ext cx="237744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Nhánh</a:t>
            </a:r>
            <a:endParaRPr lang="en-US" sz="1200" dirty="0"/>
          </a:p>
        </p:txBody>
      </p:sp>
      <p:sp>
        <p:nvSpPr>
          <p:cNvPr id="6" name="Text 4"/>
          <p:cNvSpPr/>
          <p:nvPr/>
        </p:nvSpPr>
        <p:spPr>
          <a:xfrm>
            <a:off x="2880360" y="914400"/>
            <a:ext cx="164592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Trạng thái</a:t>
            </a:r>
            <a:endParaRPr lang="en-US" sz="1200" dirty="0"/>
          </a:p>
        </p:txBody>
      </p:sp>
      <p:sp>
        <p:nvSpPr>
          <p:cNvPr id="7" name="Text 5"/>
          <p:cNvSpPr/>
          <p:nvPr/>
        </p:nvSpPr>
        <p:spPr>
          <a:xfrm>
            <a:off x="4526280" y="914400"/>
            <a:ext cx="4105656"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Lý do</a:t>
            </a:r>
            <a:endParaRPr lang="en-US" sz="1200" dirty="0"/>
          </a:p>
        </p:txBody>
      </p:sp>
      <p:sp>
        <p:nvSpPr>
          <p:cNvPr id="8" name="Text 6"/>
          <p:cNvSpPr/>
          <p:nvPr/>
        </p:nvSpPr>
        <p:spPr>
          <a:xfrm>
            <a:off x="502920" y="1298448"/>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S1, hai hạt giống</a:t>
            </a:r>
            <a:endParaRPr lang="en-US" sz="1150" dirty="0"/>
          </a:p>
        </p:txBody>
      </p:sp>
      <p:sp>
        <p:nvSpPr>
          <p:cNvPr id="9" name="Text 7"/>
          <p:cNvSpPr/>
          <p:nvPr/>
        </p:nvSpPr>
        <p:spPr>
          <a:xfrm>
            <a:off x="2880360" y="1298448"/>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10" name="Text 8"/>
          <p:cNvSpPr/>
          <p:nvPr/>
        </p:nvSpPr>
        <p:spPr>
          <a:xfrm>
            <a:off x="4526280" y="1298448"/>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nhánh nền, cho biết nhiễu là 0,52 điểm</a:t>
            </a:r>
            <a:endParaRPr lang="en-US" sz="1150" dirty="0"/>
          </a:p>
        </p:txBody>
      </p:sp>
      <p:sp>
        <p:nvSpPr>
          <p:cNvPr id="11" name="Shape 9"/>
          <p:cNvSpPr/>
          <p:nvPr/>
        </p:nvSpPr>
        <p:spPr>
          <a:xfrm>
            <a:off x="502920" y="1719072"/>
            <a:ext cx="8129016" cy="0"/>
          </a:xfrm>
          <a:prstGeom prst="line">
            <a:avLst/>
          </a:prstGeom>
          <a:noFill/>
          <a:ln w="12700">
            <a:solidFill>
              <a:srgbClr val="9A94AE"/>
            </a:solidFill>
            <a:prstDash val="solid"/>
          </a:ln>
        </p:spPr>
      </p:sp>
      <p:sp>
        <p:nvSpPr>
          <p:cNvPr id="12" name="Text 10"/>
          <p:cNvSpPr/>
          <p:nvPr/>
        </p:nvSpPr>
        <p:spPr>
          <a:xfrm>
            <a:off x="502920" y="1719072"/>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 hạt giống 101</a:t>
            </a:r>
            <a:endParaRPr lang="en-US" sz="1150" dirty="0"/>
          </a:p>
        </p:txBody>
      </p:sp>
      <p:sp>
        <p:nvSpPr>
          <p:cNvPr id="13" name="Text 11"/>
          <p:cNvSpPr/>
          <p:nvPr/>
        </p:nvSpPr>
        <p:spPr>
          <a:xfrm>
            <a:off x="2880360" y="1719072"/>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14" name="Text 12"/>
          <p:cNvSpPr/>
          <p:nvPr/>
        </p:nvSpPr>
        <p:spPr>
          <a:xfrm>
            <a:off x="4526280" y="1719072"/>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thăm dò, −1,93 điểm so với nhánh nền</a:t>
            </a:r>
            <a:endParaRPr lang="en-US" sz="1150" dirty="0"/>
          </a:p>
        </p:txBody>
      </p:sp>
      <p:sp>
        <p:nvSpPr>
          <p:cNvPr id="15" name="Shape 13"/>
          <p:cNvSpPr/>
          <p:nvPr/>
        </p:nvSpPr>
        <p:spPr>
          <a:xfrm>
            <a:off x="502920" y="2139696"/>
            <a:ext cx="8129016" cy="0"/>
          </a:xfrm>
          <a:prstGeom prst="line">
            <a:avLst/>
          </a:prstGeom>
          <a:noFill/>
          <a:ln w="12700">
            <a:solidFill>
              <a:srgbClr val="9A94AE"/>
            </a:solidFill>
            <a:prstDash val="solid"/>
          </a:ln>
        </p:spPr>
      </p:sp>
      <p:sp>
        <p:nvSpPr>
          <p:cNvPr id="16" name="Text 14"/>
          <p:cNvSpPr/>
          <p:nvPr/>
        </p:nvSpPr>
        <p:spPr>
          <a:xfrm>
            <a:off x="502920" y="2139696"/>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 hạt giống 202</a:t>
            </a:r>
            <a:endParaRPr lang="en-US" sz="1150" dirty="0"/>
          </a:p>
        </p:txBody>
      </p:sp>
      <p:sp>
        <p:nvSpPr>
          <p:cNvPr id="17" name="Text 15"/>
          <p:cNvSpPr/>
          <p:nvPr/>
        </p:nvSpPr>
        <p:spPr>
          <a:xfrm>
            <a:off x="2880360" y="2139696"/>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huỷ</a:t>
            </a:r>
            <a:endParaRPr lang="en-US" sz="1150" dirty="0"/>
          </a:p>
        </p:txBody>
      </p:sp>
      <p:sp>
        <p:nvSpPr>
          <p:cNvPr id="18" name="Text 16"/>
          <p:cNvSpPr/>
          <p:nvPr/>
        </p:nvSpPr>
        <p:spPr>
          <a:xfrm>
            <a:off x="4526280" y="2139696"/>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ngân sách máy; đại lượng chính không hoàn tất</a:t>
            </a:r>
            <a:endParaRPr lang="en-US" sz="1150" dirty="0"/>
          </a:p>
        </p:txBody>
      </p:sp>
      <p:sp>
        <p:nvSpPr>
          <p:cNvPr id="19" name="Shape 17"/>
          <p:cNvSpPr/>
          <p:nvPr/>
        </p:nvSpPr>
        <p:spPr>
          <a:xfrm>
            <a:off x="502920" y="2560320"/>
            <a:ext cx="8129016" cy="0"/>
          </a:xfrm>
          <a:prstGeom prst="line">
            <a:avLst/>
          </a:prstGeom>
          <a:noFill/>
          <a:ln w="12700">
            <a:solidFill>
              <a:srgbClr val="9A94AE"/>
            </a:solidFill>
            <a:prstDash val="solid"/>
          </a:ln>
        </p:spPr>
      </p:sp>
      <p:sp>
        <p:nvSpPr>
          <p:cNvPr id="20" name="Text 18"/>
          <p:cNvSpPr/>
          <p:nvPr/>
        </p:nvSpPr>
        <p:spPr>
          <a:xfrm>
            <a:off x="502920" y="2560320"/>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CE2-S2 và MIN-DESC</a:t>
            </a:r>
            <a:endParaRPr lang="en-US" sz="1150" dirty="0"/>
          </a:p>
        </p:txBody>
      </p:sp>
      <p:sp>
        <p:nvSpPr>
          <p:cNvPr id="21" name="Text 19"/>
          <p:cNvSpPr/>
          <p:nvPr/>
        </p:nvSpPr>
        <p:spPr>
          <a:xfrm>
            <a:off x="2880360" y="2560320"/>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22" name="Text 20"/>
          <p:cNvSpPr/>
          <p:nvPr/>
        </p:nvSpPr>
        <p:spPr>
          <a:xfrm>
            <a:off x="4526280" y="2560320"/>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một hạt giống mỗi nhánh, mang nhãn thăm dò</a:t>
            </a:r>
            <a:endParaRPr lang="en-US" sz="1150" dirty="0"/>
          </a:p>
        </p:txBody>
      </p:sp>
      <p:sp>
        <p:nvSpPr>
          <p:cNvPr id="23" name="Shape 21"/>
          <p:cNvSpPr/>
          <p:nvPr/>
        </p:nvSpPr>
        <p:spPr>
          <a:xfrm>
            <a:off x="502920" y="2980944"/>
            <a:ext cx="8129016" cy="0"/>
          </a:xfrm>
          <a:prstGeom prst="line">
            <a:avLst/>
          </a:prstGeom>
          <a:noFill/>
          <a:ln w="12700">
            <a:solidFill>
              <a:srgbClr val="9A94AE"/>
            </a:solidFill>
            <a:prstDash val="solid"/>
          </a:ln>
        </p:spPr>
      </p:sp>
      <p:sp>
        <p:nvSpPr>
          <p:cNvPr id="24" name="Text 22"/>
          <p:cNvSpPr/>
          <p:nvPr/>
        </p:nvSpPr>
        <p:spPr>
          <a:xfrm>
            <a:off x="502920" y="2980944"/>
            <a:ext cx="2377440"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S2r</a:t>
            </a:r>
            <a:endParaRPr lang="en-US" sz="1150" dirty="0"/>
          </a:p>
        </p:txBody>
      </p:sp>
      <p:sp>
        <p:nvSpPr>
          <p:cNvPr id="25" name="Text 23"/>
          <p:cNvSpPr/>
          <p:nvPr/>
        </p:nvSpPr>
        <p:spPr>
          <a:xfrm>
            <a:off x="2880360" y="2980944"/>
            <a:ext cx="1645920" cy="457200"/>
          </a:xfrm>
          <a:prstGeom prst="rect">
            <a:avLst/>
          </a:prstGeom>
          <a:noFill/>
          <a:ln/>
        </p:spPr>
        <p:txBody>
          <a:bodyPr wrap="square" lIns="38100" tIns="38100" rIns="38100" bIns="38100" rtlCol="0" anchor="ctr"/>
          <a:lstStyle/>
          <a:p>
            <a:pPr algn="ctr" indent="0" marL="0">
              <a:buNone/>
            </a:pPr>
            <a:r>
              <a:rPr lang="en-US" sz="1150" b="1" dirty="0">
                <a:solidFill>
                  <a:srgbClr val="990000"/>
                </a:solidFill>
                <a:latin typeface="Cambria" pitchFamily="34" charset="0"/>
                <a:ea typeface="Cambria" pitchFamily="34" charset="-122"/>
                <a:cs typeface="Cambria" pitchFamily="34" charset="-120"/>
              </a:rPr>
              <a:t>không chạy</a:t>
            </a:r>
            <a:endParaRPr lang="en-US" sz="1150" dirty="0"/>
          </a:p>
        </p:txBody>
      </p:sp>
      <p:sp>
        <p:nvSpPr>
          <p:cNvPr id="26" name="Text 24"/>
          <p:cNvSpPr/>
          <p:nvPr/>
        </p:nvSpPr>
        <p:spPr>
          <a:xfrm>
            <a:off x="4526280" y="2980944"/>
            <a:ext cx="4105656"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được thiết kế để chắc chắn thua nên giá trị thông tin thấp</a:t>
            </a:r>
            <a:endParaRPr lang="en-US" sz="1150" dirty="0"/>
          </a:p>
        </p:txBody>
      </p:sp>
      <p:sp>
        <p:nvSpPr>
          <p:cNvPr id="27" name="Shape 25"/>
          <p:cNvSpPr/>
          <p:nvPr/>
        </p:nvSpPr>
        <p:spPr>
          <a:xfrm>
            <a:off x="502920" y="3438144"/>
            <a:ext cx="8129016" cy="0"/>
          </a:xfrm>
          <a:prstGeom prst="line">
            <a:avLst/>
          </a:prstGeom>
          <a:noFill/>
          <a:ln w="12700">
            <a:solidFill>
              <a:srgbClr val="9A94AE"/>
            </a:solidFill>
            <a:prstDash val="solid"/>
          </a:ln>
        </p:spPr>
      </p:sp>
      <p:sp>
        <p:nvSpPr>
          <p:cNvPr id="28" name="Text 26"/>
          <p:cNvSpPr/>
          <p:nvPr/>
        </p:nvSpPr>
        <p:spPr>
          <a:xfrm>
            <a:off x="502920" y="3438144"/>
            <a:ext cx="2377440"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S2-nopoint</a:t>
            </a:r>
            <a:endParaRPr lang="en-US" sz="1150" dirty="0"/>
          </a:p>
        </p:txBody>
      </p:sp>
      <p:sp>
        <p:nvSpPr>
          <p:cNvPr id="29" name="Text 27"/>
          <p:cNvSpPr/>
          <p:nvPr/>
        </p:nvSpPr>
        <p:spPr>
          <a:xfrm>
            <a:off x="2880360" y="3438144"/>
            <a:ext cx="1645920" cy="457200"/>
          </a:xfrm>
          <a:prstGeom prst="rect">
            <a:avLst/>
          </a:prstGeom>
          <a:noFill/>
          <a:ln/>
        </p:spPr>
        <p:txBody>
          <a:bodyPr wrap="square" lIns="38100" tIns="38100" rIns="38100" bIns="38100" rtlCol="0" anchor="ctr"/>
          <a:lstStyle/>
          <a:p>
            <a:pPr algn="ctr" indent="0" marL="0">
              <a:buNone/>
            </a:pPr>
            <a:r>
              <a:rPr lang="en-US" sz="1150" b="1" dirty="0">
                <a:solidFill>
                  <a:srgbClr val="990000"/>
                </a:solidFill>
                <a:latin typeface="Cambria" pitchFamily="34" charset="0"/>
                <a:ea typeface="Cambria" pitchFamily="34" charset="-122"/>
                <a:cs typeface="Cambria" pitchFamily="34" charset="-120"/>
              </a:rPr>
              <a:t>không chạy</a:t>
            </a:r>
            <a:endParaRPr lang="en-US" sz="1150" dirty="0"/>
          </a:p>
        </p:txBody>
      </p:sp>
      <p:sp>
        <p:nvSpPr>
          <p:cNvPr id="30" name="Text 28"/>
          <p:cNvSpPr/>
          <p:nvPr/>
        </p:nvSpPr>
        <p:spPr>
          <a:xfrm>
            <a:off x="4526280" y="3438144"/>
            <a:ext cx="4105656"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đắt gấp đôi chặng hai, mà ô toạ độ đã đo được là ô gánh</a:t>
            </a:r>
            <a:endParaRPr lang="en-US" sz="1150" dirty="0"/>
          </a:p>
        </p:txBody>
      </p:sp>
      <p:sp>
        <p:nvSpPr>
          <p:cNvPr id="31" name="Shape 29"/>
          <p:cNvSpPr/>
          <p:nvPr/>
        </p:nvSpPr>
        <p:spPr>
          <a:xfrm>
            <a:off x="502920" y="3895344"/>
            <a:ext cx="8129016" cy="0"/>
          </a:xfrm>
          <a:prstGeom prst="line">
            <a:avLst/>
          </a:prstGeom>
          <a:noFill/>
          <a:ln w="12700">
            <a:solidFill>
              <a:srgbClr val="9A94AE"/>
            </a:solidFill>
            <a:prstDash val="solid"/>
          </a:ln>
        </p:spPr>
      </p:sp>
      <p:sp>
        <p:nvSpPr>
          <p:cNvPr id="32" name="Text 30"/>
          <p:cNvSpPr/>
          <p:nvPr/>
        </p:nvSpPr>
        <p:spPr>
          <a:xfrm>
            <a:off x="502920" y="3895344"/>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MIN-ONPOLICY</a:t>
            </a:r>
            <a:endParaRPr lang="en-US" sz="1150" dirty="0"/>
          </a:p>
        </p:txBody>
      </p:sp>
      <p:sp>
        <p:nvSpPr>
          <p:cNvPr id="33" name="Text 31"/>
          <p:cNvSpPr/>
          <p:nvPr/>
        </p:nvSpPr>
        <p:spPr>
          <a:xfrm>
            <a:off x="2880360" y="3895344"/>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dừng ở cổng</a:t>
            </a:r>
            <a:endParaRPr lang="en-US" sz="1150" dirty="0"/>
          </a:p>
        </p:txBody>
      </p:sp>
      <p:sp>
        <p:nvSpPr>
          <p:cNvPr id="34" name="Text 32"/>
          <p:cNvSpPr/>
          <p:nvPr/>
        </p:nvSpPr>
        <p:spPr>
          <a:xfrm>
            <a:off x="4526280" y="3895344"/>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dựng dữ liệu xong nhưng trượt cổng đã khoá trước</a:t>
            </a:r>
            <a:endParaRPr lang="en-US" sz="1150" dirty="0"/>
          </a:p>
        </p:txBody>
      </p:sp>
      <p:sp>
        <p:nvSpPr>
          <p:cNvPr id="35" name="Shape 33"/>
          <p:cNvSpPr/>
          <p:nvPr/>
        </p:nvSpPr>
        <p:spPr>
          <a:xfrm>
            <a:off x="502920" y="4846320"/>
            <a:ext cx="8138160" cy="822960"/>
          </a:xfrm>
          <a:prstGeom prst="roundRect">
            <a:avLst>
              <a:gd name="adj" fmla="val 6667"/>
            </a:avLst>
          </a:prstGeom>
          <a:solidFill>
            <a:srgbClr val="E9E8EC"/>
          </a:solidFill>
          <a:ln/>
          <a:effectLst>
            <a:outerShdw sx="100000" sy="100000" kx="0" ky="0" algn="bl" rotWithShape="0" blurRad="63500" dist="31750" dir="2700000">
              <a:srgbClr val="8C8C99">
                <a:alpha val="45000"/>
              </a:srgbClr>
            </a:outerShdw>
          </a:effectLst>
        </p:spPr>
      </p:sp>
      <p:sp>
        <p:nvSpPr>
          <p:cNvPr id="36" name="Text 34"/>
          <p:cNvSpPr/>
          <p:nvPr/>
        </p:nvSpPr>
        <p:spPr>
          <a:xfrm>
            <a:off x="731520" y="4846320"/>
            <a:ext cx="7680960" cy="822960"/>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Bản đăng ký buộc báo cả ba nhánh, kể cả nhánh dừng ở cổng và kể cả khi số ra xấu.</a:t>
            </a:r>
            <a:endParaRPr lang="en-US" sz="1300" dirty="0"/>
          </a:p>
        </p:txBody>
      </p:sp>
      <p:sp>
        <p:nvSpPr>
          <p:cNvPr id="37" name="Shape 35"/>
          <p:cNvSpPr/>
          <p:nvPr/>
        </p:nvSpPr>
        <p:spPr>
          <a:xfrm>
            <a:off x="0" y="6620256"/>
            <a:ext cx="2743200" cy="237744"/>
          </a:xfrm>
          <a:prstGeom prst="rect">
            <a:avLst/>
          </a:prstGeom>
          <a:solidFill>
            <a:srgbClr val="191132"/>
          </a:solidFill>
          <a:ln/>
        </p:spPr>
      </p:sp>
      <p:sp>
        <p:nvSpPr>
          <p:cNvPr id="38" name="Shape 36"/>
          <p:cNvSpPr/>
          <p:nvPr/>
        </p:nvSpPr>
        <p:spPr>
          <a:xfrm>
            <a:off x="2743200" y="6620256"/>
            <a:ext cx="3383280" cy="237744"/>
          </a:xfrm>
          <a:prstGeom prst="rect">
            <a:avLst/>
          </a:prstGeom>
          <a:solidFill>
            <a:srgbClr val="25194B"/>
          </a:solidFill>
          <a:ln/>
        </p:spPr>
      </p:sp>
      <p:sp>
        <p:nvSpPr>
          <p:cNvPr id="39" name="Shape 37"/>
          <p:cNvSpPr/>
          <p:nvPr/>
        </p:nvSpPr>
        <p:spPr>
          <a:xfrm>
            <a:off x="6126480" y="6620256"/>
            <a:ext cx="1737360" cy="237744"/>
          </a:xfrm>
          <a:prstGeom prst="rect">
            <a:avLst/>
          </a:prstGeom>
          <a:solidFill>
            <a:srgbClr val="4F417A"/>
          </a:solidFill>
          <a:ln/>
        </p:spPr>
      </p:sp>
      <p:sp>
        <p:nvSpPr>
          <p:cNvPr id="40" name="Shape 38"/>
          <p:cNvSpPr/>
          <p:nvPr/>
        </p:nvSpPr>
        <p:spPr>
          <a:xfrm>
            <a:off x="7863840" y="6620256"/>
            <a:ext cx="1280160" cy="237744"/>
          </a:xfrm>
          <a:prstGeom prst="rect">
            <a:avLst/>
          </a:prstGeom>
          <a:solidFill>
            <a:srgbClr val="7A7099"/>
          </a:solidFill>
          <a:ln/>
        </p:spPr>
      </p:sp>
      <p:sp>
        <p:nvSpPr>
          <p:cNvPr id="41" name="Text 3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2" name="Text 4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43" name="Text 4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4" name="Text 4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7</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Một biến thể đã đăng ký nhưng không dựng nổi dữ liệu</a:t>
            </a:r>
            <a:endParaRPr lang="en-US" sz="1900" dirty="0"/>
          </a:p>
        </p:txBody>
      </p:sp>
      <p:sp>
        <p:nvSpPr>
          <p:cNvPr id="4" name="Text 2"/>
          <p:cNvSpPr/>
          <p:nvPr/>
        </p:nvSpPr>
        <p:spPr>
          <a:xfrm>
            <a:off x="502920" y="960120"/>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 name="Text 3"/>
          <p:cNvSpPr/>
          <p:nvPr/>
        </p:nvSpPr>
        <p:spPr>
          <a:xfrm>
            <a:off x="731520" y="960120"/>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Ý tưởng là thay khai báo sai lấy từ phần tử cạnh bên bằng chính khai báo sai mà mô hình đã sinh ra</a:t>
            </a:r>
            <a:endParaRPr lang="en-US" sz="1300" dirty="0"/>
          </a:p>
        </p:txBody>
      </p:sp>
      <p:sp>
        <p:nvSpPr>
          <p:cNvPr id="6" name="Text 4"/>
          <p:cNvSpPr/>
          <p:nvPr/>
        </p:nvSpPr>
        <p:spPr>
          <a:xfrm>
            <a:off x="502920" y="1892808"/>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7" name="Text 5"/>
          <p:cNvSpPr/>
          <p:nvPr/>
        </p:nvSpPr>
        <p:spPr>
          <a:xfrm>
            <a:off x="731520" y="1892808"/>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Dữ liệu đã dựng thật: 14.000 màn, 4,5 giờ A100, chỉ được 459 cặp, tức 3,3% so với ngưỡng 25%</a:t>
            </a:r>
            <a:endParaRPr lang="en-US" sz="1300" dirty="0"/>
          </a:p>
        </p:txBody>
      </p:sp>
      <p:sp>
        <p:nvSpPr>
          <p:cNvPr id="8" name="Text 6"/>
          <p:cNvSpPr/>
          <p:nvPr/>
        </p:nvSpPr>
        <p:spPr>
          <a:xfrm>
            <a:off x="502920" y="2825496"/>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9" name="Text 7"/>
          <p:cNvSpPr/>
          <p:nvPr/>
        </p:nvSpPr>
        <p:spPr>
          <a:xfrm>
            <a:off x="731520" y="2825496"/>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Cổng này không có chỗ nới, vì đây là cổng đặt trên tỉ lệ chứ không phải trên số lượng</a:t>
            </a:r>
            <a:endParaRPr lang="en-US" sz="1300" dirty="0"/>
          </a:p>
        </p:txBody>
      </p:sp>
      <p:sp>
        <p:nvSpPr>
          <p:cNvPr id="10" name="Text 8"/>
          <p:cNvSpPr/>
          <p:nvPr/>
        </p:nvSpPr>
        <p:spPr>
          <a:xfrm>
            <a:off x="502920" y="3758184"/>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1" name="Text 9"/>
          <p:cNvSpPr/>
          <p:nvPr/>
        </p:nvSpPr>
        <p:spPr>
          <a:xfrm>
            <a:off x="731520" y="3758184"/>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Khoảng cách tới phần tử người dùng đã chạm có trung vị 351 điểm ảnh, 76,5% ngoài dải 80 đến 350</a:t>
            </a:r>
            <a:endParaRPr lang="en-US" sz="1300" dirty="0"/>
          </a:p>
        </p:txBody>
      </p:sp>
      <p:sp>
        <p:nvSpPr>
          <p:cNvPr id="12" name="Text 10"/>
          <p:cNvSpPr/>
          <p:nvPr/>
        </p:nvSpPr>
        <p:spPr>
          <a:xfrm>
            <a:off x="502920" y="4690872"/>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3" name="Text 11"/>
          <p:cNvSpPr/>
          <p:nvPr/>
        </p:nvSpPr>
        <p:spPr>
          <a:xfrm>
            <a:off x="731520" y="4690872"/>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Lỗi khai báo có hai cực: gọi đúng phần tử bằng tên khác, hoặc nhìn sang vùng khác hẳn</a:t>
            </a:r>
            <a:endParaRPr lang="en-US" sz="1300" dirty="0"/>
          </a:p>
        </p:txBody>
      </p:sp>
      <p:sp>
        <p:nvSpPr>
          <p:cNvPr id="14" name="Shape 12"/>
          <p:cNvSpPr/>
          <p:nvPr/>
        </p:nvSpPr>
        <p:spPr>
          <a:xfrm>
            <a:off x="0" y="6620256"/>
            <a:ext cx="2743200" cy="237744"/>
          </a:xfrm>
          <a:prstGeom prst="rect">
            <a:avLst/>
          </a:prstGeom>
          <a:solidFill>
            <a:srgbClr val="191132"/>
          </a:solidFill>
          <a:ln/>
        </p:spPr>
      </p:sp>
      <p:sp>
        <p:nvSpPr>
          <p:cNvPr id="15" name="Shape 13"/>
          <p:cNvSpPr/>
          <p:nvPr/>
        </p:nvSpPr>
        <p:spPr>
          <a:xfrm>
            <a:off x="2743200" y="6620256"/>
            <a:ext cx="3383280" cy="237744"/>
          </a:xfrm>
          <a:prstGeom prst="rect">
            <a:avLst/>
          </a:prstGeom>
          <a:solidFill>
            <a:srgbClr val="25194B"/>
          </a:solidFill>
          <a:ln/>
        </p:spPr>
      </p:sp>
      <p:sp>
        <p:nvSpPr>
          <p:cNvPr id="16" name="Shape 14"/>
          <p:cNvSpPr/>
          <p:nvPr/>
        </p:nvSpPr>
        <p:spPr>
          <a:xfrm>
            <a:off x="6126480" y="6620256"/>
            <a:ext cx="1737360" cy="237744"/>
          </a:xfrm>
          <a:prstGeom prst="rect">
            <a:avLst/>
          </a:prstGeom>
          <a:solidFill>
            <a:srgbClr val="4F417A"/>
          </a:solidFill>
          <a:ln/>
        </p:spPr>
      </p:sp>
      <p:sp>
        <p:nvSpPr>
          <p:cNvPr id="17" name="Shape 15"/>
          <p:cNvSpPr/>
          <p:nvPr/>
        </p:nvSpPr>
        <p:spPr>
          <a:xfrm>
            <a:off x="7863840" y="6620256"/>
            <a:ext cx="1280160" cy="237744"/>
          </a:xfrm>
          <a:prstGeom prst="rect">
            <a:avLst/>
          </a:prstGeom>
          <a:solidFill>
            <a:srgbClr val="7A7099"/>
          </a:solidFill>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8</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Vùng mù của thước, theo cả hai chiều</a:t>
            </a:r>
            <a:endParaRPr lang="en-US" sz="1900" dirty="0"/>
          </a:p>
        </p:txBody>
      </p:sp>
      <p:sp>
        <p:nvSpPr>
          <p:cNvPr id="4" name="Text 2"/>
          <p:cNvSpPr/>
          <p:nvPr/>
        </p:nvSpPr>
        <p:spPr>
          <a:xfrm>
            <a:off x="502920" y="960120"/>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 name="Text 3"/>
          <p:cNvSpPr/>
          <p:nvPr/>
        </p:nvSpPr>
        <p:spPr>
          <a:xfrm>
            <a:off x="731520" y="960120"/>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Theo chiều bỏ sót, thước không phát hiện được độ lệch dưới khoảng 63 điểm ảnh</a:t>
            </a:r>
            <a:endParaRPr lang="en-US" sz="1300" dirty="0"/>
          </a:p>
        </p:txBody>
      </p:sp>
      <p:sp>
        <p:nvSpPr>
          <p:cNvPr id="6" name="Text 4"/>
          <p:cNvSpPr/>
          <p:nvPr/>
        </p:nvSpPr>
        <p:spPr>
          <a:xfrm>
            <a:off x="502920" y="1892808"/>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7" name="Text 5"/>
          <p:cNvSpPr/>
          <p:nvPr/>
        </p:nvSpPr>
        <p:spPr>
          <a:xfrm>
            <a:off x="731520" y="1892808"/>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Theo chiều kết oan, 1.083 bước mà chính câu người viết cũng trượt, 72% do dụng cụ sai quá 14% bề màn</a:t>
            </a:r>
            <a:endParaRPr lang="en-US" sz="1300" dirty="0"/>
          </a:p>
        </p:txBody>
      </p:sp>
      <p:sp>
        <p:nvSpPr>
          <p:cNvPr id="8" name="Text 6"/>
          <p:cNvSpPr/>
          <p:nvPr/>
        </p:nvSpPr>
        <p:spPr>
          <a:xfrm>
            <a:off x="502920" y="2825496"/>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9" name="Text 7"/>
          <p:cNvSpPr/>
          <p:nvPr/>
        </p:nvSpPr>
        <p:spPr>
          <a:xfrm>
            <a:off x="731520" y="2825496"/>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935 bước, tức 21% quần thể, đánh bại cả ba nhánh. Trần 75,7% vì vậy phản ánh năng lực dụng cụ hơn là giới hạn ngôn ngữ</a:t>
            </a:r>
            <a:endParaRPr lang="en-US" sz="1300" dirty="0"/>
          </a:p>
        </p:txBody>
      </p:sp>
      <p:sp>
        <p:nvSpPr>
          <p:cNvPr id="10" name="Text 8"/>
          <p:cNvSpPr/>
          <p:nvPr/>
        </p:nvSpPr>
        <p:spPr>
          <a:xfrm>
            <a:off x="502920" y="3758184"/>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1" name="Text 9"/>
          <p:cNvSpPr/>
          <p:nvPr/>
        </p:nvSpPr>
        <p:spPr>
          <a:xfrm>
            <a:off x="731520" y="3758184"/>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Luật Voronoi chỉ chặt bằng độ đầy đủ của bộ liệt kê phần tử; phép gộp hộp xoá nhầm phần tử riêng biệt ở 8,2% số bước</a:t>
            </a:r>
            <a:endParaRPr lang="en-US" sz="1300" dirty="0"/>
          </a:p>
        </p:txBody>
      </p:sp>
      <p:sp>
        <p:nvSpPr>
          <p:cNvPr id="12" name="Text 10"/>
          <p:cNvSpPr/>
          <p:nvPr/>
        </p:nvSpPr>
        <p:spPr>
          <a:xfrm>
            <a:off x="502920" y="4690872"/>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3" name="Text 11"/>
          <p:cNvSpPr/>
          <p:nvPr/>
        </p:nvSpPr>
        <p:spPr>
          <a:xfrm>
            <a:off x="731520" y="4690872"/>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Mức câu người viết cũng không phải chặn trên tuyệt đối: hợp ba nhánh giải được 79,1% số bước</a:t>
            </a:r>
            <a:endParaRPr lang="en-US" sz="1300" dirty="0"/>
          </a:p>
        </p:txBody>
      </p:sp>
      <p:sp>
        <p:nvSpPr>
          <p:cNvPr id="14" name="Shape 12"/>
          <p:cNvSpPr/>
          <p:nvPr/>
        </p:nvSpPr>
        <p:spPr>
          <a:xfrm>
            <a:off x="0" y="6620256"/>
            <a:ext cx="2743200" cy="237744"/>
          </a:xfrm>
          <a:prstGeom prst="rect">
            <a:avLst/>
          </a:prstGeom>
          <a:solidFill>
            <a:srgbClr val="191132"/>
          </a:solidFill>
          <a:ln/>
        </p:spPr>
      </p:sp>
      <p:sp>
        <p:nvSpPr>
          <p:cNvPr id="15" name="Shape 13"/>
          <p:cNvSpPr/>
          <p:nvPr/>
        </p:nvSpPr>
        <p:spPr>
          <a:xfrm>
            <a:off x="2743200" y="6620256"/>
            <a:ext cx="3383280" cy="237744"/>
          </a:xfrm>
          <a:prstGeom prst="rect">
            <a:avLst/>
          </a:prstGeom>
          <a:solidFill>
            <a:srgbClr val="25194B"/>
          </a:solidFill>
          <a:ln/>
        </p:spPr>
      </p:sp>
      <p:sp>
        <p:nvSpPr>
          <p:cNvPr id="16" name="Shape 14"/>
          <p:cNvSpPr/>
          <p:nvPr/>
        </p:nvSpPr>
        <p:spPr>
          <a:xfrm>
            <a:off x="6126480" y="6620256"/>
            <a:ext cx="1737360" cy="237744"/>
          </a:xfrm>
          <a:prstGeom prst="rect">
            <a:avLst/>
          </a:prstGeom>
          <a:solidFill>
            <a:srgbClr val="4F417A"/>
          </a:solidFill>
          <a:ln/>
        </p:spPr>
      </p:sp>
      <p:sp>
        <p:nvSpPr>
          <p:cNvPr id="17" name="Shape 15"/>
          <p:cNvSpPr/>
          <p:nvPr/>
        </p:nvSpPr>
        <p:spPr>
          <a:xfrm>
            <a:off x="7863840" y="6620256"/>
            <a:ext cx="1280160" cy="237744"/>
          </a:xfrm>
          <a:prstGeom prst="rect">
            <a:avLst/>
          </a:prstGeom>
          <a:solidFill>
            <a:srgbClr val="7A7099"/>
          </a:solidFill>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9</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Cổng cơ học và thiệt hại ở bước không chạm</a:t>
            </a:r>
            <a:endParaRPr lang="en-US" sz="1900" dirty="0"/>
          </a:p>
        </p:txBody>
      </p:sp>
      <p:sp>
        <p:nvSpPr>
          <p:cNvPr id="4" name="Text 2"/>
          <p:cNvSpPr/>
          <p:nvPr/>
        </p:nvSpPr>
        <p:spPr>
          <a:xfrm>
            <a:off x="502920" y="777240"/>
            <a:ext cx="8138160" cy="27432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Cổng cơ học đo thẳng độ chính xác ô khai báo, không gọi mô hình định vị (3.473 bước)</a:t>
            </a:r>
            <a:endParaRPr lang="en-US" sz="1200" dirty="0"/>
          </a:p>
        </p:txBody>
      </p:sp>
      <p:sp>
        <p:nvSpPr>
          <p:cNvPr id="5" name="Shape 3"/>
          <p:cNvSpPr/>
          <p:nvPr/>
        </p:nvSpPr>
        <p:spPr>
          <a:xfrm>
            <a:off x="1005840" y="1143000"/>
            <a:ext cx="7132320" cy="384048"/>
          </a:xfrm>
          <a:prstGeom prst="rect">
            <a:avLst/>
          </a:prstGeom>
          <a:solidFill>
            <a:srgbClr val="322164"/>
          </a:solidFill>
          <a:ln/>
        </p:spPr>
      </p:sp>
      <p:sp>
        <p:nvSpPr>
          <p:cNvPr id="6" name="Text 4"/>
          <p:cNvSpPr/>
          <p:nvPr/>
        </p:nvSpPr>
        <p:spPr>
          <a:xfrm>
            <a:off x="1005840" y="1143000"/>
            <a:ext cx="274320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Điểm lưu</a:t>
            </a:r>
            <a:endParaRPr lang="en-US" sz="1200" dirty="0"/>
          </a:p>
        </p:txBody>
      </p:sp>
      <p:sp>
        <p:nvSpPr>
          <p:cNvPr id="7" name="Text 5"/>
          <p:cNvSpPr/>
          <p:nvPr/>
        </p:nvSpPr>
        <p:spPr>
          <a:xfrm>
            <a:off x="3749040" y="1143000"/>
            <a:ext cx="173736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Khai báo đúng</a:t>
            </a:r>
            <a:endParaRPr lang="en-US" sz="1200" dirty="0"/>
          </a:p>
        </p:txBody>
      </p:sp>
      <p:sp>
        <p:nvSpPr>
          <p:cNvPr id="8" name="Text 6"/>
          <p:cNvSpPr/>
          <p:nvPr/>
        </p:nvSpPr>
        <p:spPr>
          <a:xfrm>
            <a:off x="5486400" y="1143000"/>
            <a:ext cx="265176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Phần tăng thuộc về</a:t>
            </a:r>
            <a:endParaRPr lang="en-US" sz="1200" dirty="0"/>
          </a:p>
        </p:txBody>
      </p:sp>
      <p:sp>
        <p:nvSpPr>
          <p:cNvPr id="9" name="Text 7"/>
          <p:cNvSpPr/>
          <p:nvPr/>
        </p:nvSpPr>
        <p:spPr>
          <a:xfrm>
            <a:off x="1005840" y="1527048"/>
            <a:ext cx="27432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S2</a:t>
            </a:r>
            <a:endParaRPr lang="en-US" sz="1250" dirty="0"/>
          </a:p>
        </p:txBody>
      </p:sp>
      <p:sp>
        <p:nvSpPr>
          <p:cNvPr id="10" name="Text 8"/>
          <p:cNvSpPr/>
          <p:nvPr/>
        </p:nvSpPr>
        <p:spPr>
          <a:xfrm>
            <a:off x="3749040" y="1527048"/>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53,9%</a:t>
            </a:r>
            <a:endParaRPr lang="en-US" sz="1250" dirty="0"/>
          </a:p>
        </p:txBody>
      </p:sp>
      <p:sp>
        <p:nvSpPr>
          <p:cNvPr id="11" name="Text 9"/>
          <p:cNvSpPr/>
          <p:nvPr/>
        </p:nvSpPr>
        <p:spPr>
          <a:xfrm>
            <a:off x="5486400" y="1527048"/>
            <a:ext cx="2651760" cy="402336"/>
          </a:xfrm>
          <a:prstGeom prst="rect">
            <a:avLst/>
          </a:prstGeom>
          <a:noFill/>
          <a:ln/>
        </p:spPr>
        <p:txBody>
          <a:bodyPr wrap="square" lIns="38100" tIns="38100" rIns="38100" bIns="38100" rtlCol="0" anchor="ctr"/>
          <a:lstStyle/>
          <a:p>
            <a:pPr algn="l" indent="0" marL="0">
              <a:buNone/>
            </a:pPr>
            <a:endParaRPr lang="en-US" sz="1250" dirty="0"/>
          </a:p>
        </p:txBody>
      </p:sp>
      <p:sp>
        <p:nvSpPr>
          <p:cNvPr id="12" name="Shape 10"/>
          <p:cNvSpPr/>
          <p:nvPr/>
        </p:nvSpPr>
        <p:spPr>
          <a:xfrm>
            <a:off x="1005840" y="1929384"/>
            <a:ext cx="7132320" cy="0"/>
          </a:xfrm>
          <a:prstGeom prst="line">
            <a:avLst/>
          </a:prstGeom>
          <a:noFill/>
          <a:ln w="12700">
            <a:solidFill>
              <a:srgbClr val="9A94AE"/>
            </a:solidFill>
            <a:prstDash val="solid"/>
          </a:ln>
        </p:spPr>
      </p:sp>
      <p:sp>
        <p:nvSpPr>
          <p:cNvPr id="13" name="Text 11"/>
          <p:cNvSpPr/>
          <p:nvPr/>
        </p:nvSpPr>
        <p:spPr>
          <a:xfrm>
            <a:off x="1005840" y="1929384"/>
            <a:ext cx="27432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CE2-S2</a:t>
            </a:r>
            <a:endParaRPr lang="en-US" sz="1250" dirty="0"/>
          </a:p>
        </p:txBody>
      </p:sp>
      <p:sp>
        <p:nvSpPr>
          <p:cNvPr id="14" name="Text 12"/>
          <p:cNvSpPr/>
          <p:nvPr/>
        </p:nvSpPr>
        <p:spPr>
          <a:xfrm>
            <a:off x="3749040" y="1929384"/>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59,8%</a:t>
            </a:r>
            <a:endParaRPr lang="en-US" sz="1250" dirty="0"/>
          </a:p>
        </p:txBody>
      </p:sp>
      <p:sp>
        <p:nvSpPr>
          <p:cNvPr id="15" name="Text 13"/>
          <p:cNvSpPr/>
          <p:nvPr/>
        </p:nvSpPr>
        <p:spPr>
          <a:xfrm>
            <a:off x="5486400" y="1929384"/>
            <a:ext cx="2651760" cy="402336"/>
          </a:xfrm>
          <a:prstGeom prst="rect">
            <a:avLst/>
          </a:prstGeom>
          <a:noFill/>
          <a:ln/>
        </p:spPr>
        <p:txBody>
          <a:bodyPr wrap="square" lIns="38100" tIns="38100" rIns="38100" bIns="38100" rtlCol="0" anchor="ctr"/>
          <a:lstStyle/>
          <a:p>
            <a:pPr algn="l" indent="0" marL="0">
              <a:buNone/>
            </a:pPr>
            <a:r>
              <a:rPr lang="en-US" sz="1250" dirty="0">
                <a:solidFill>
                  <a:srgbClr val="990000"/>
                </a:solidFill>
                <a:latin typeface="Cambria" pitchFamily="34" charset="0"/>
                <a:ea typeface="Cambria" pitchFamily="34" charset="-122"/>
                <a:cs typeface="Cambria" pitchFamily="34" charset="-120"/>
              </a:rPr>
              <a:t>+5,90  học có giám sát thuần</a:t>
            </a:r>
            <a:endParaRPr lang="en-US" sz="1250" dirty="0"/>
          </a:p>
        </p:txBody>
      </p:sp>
      <p:sp>
        <p:nvSpPr>
          <p:cNvPr id="16" name="Shape 14"/>
          <p:cNvSpPr/>
          <p:nvPr/>
        </p:nvSpPr>
        <p:spPr>
          <a:xfrm>
            <a:off x="1005840" y="2331720"/>
            <a:ext cx="7132320" cy="0"/>
          </a:xfrm>
          <a:prstGeom prst="line">
            <a:avLst/>
          </a:prstGeom>
          <a:noFill/>
          <a:ln w="12700">
            <a:solidFill>
              <a:srgbClr val="9A94AE"/>
            </a:solidFill>
            <a:prstDash val="solid"/>
          </a:ln>
        </p:spPr>
      </p:sp>
      <p:sp>
        <p:nvSpPr>
          <p:cNvPr id="17" name="Text 15"/>
          <p:cNvSpPr/>
          <p:nvPr/>
        </p:nvSpPr>
        <p:spPr>
          <a:xfrm>
            <a:off x="1005840" y="2331720"/>
            <a:ext cx="2743200" cy="402336"/>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MIN-DESC</a:t>
            </a:r>
            <a:endParaRPr lang="en-US" sz="1250" dirty="0"/>
          </a:p>
        </p:txBody>
      </p:sp>
      <p:sp>
        <p:nvSpPr>
          <p:cNvPr id="18" name="Text 16"/>
          <p:cNvSpPr/>
          <p:nvPr/>
        </p:nvSpPr>
        <p:spPr>
          <a:xfrm>
            <a:off x="3749040" y="2331720"/>
            <a:ext cx="1737360" cy="402336"/>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60,6%</a:t>
            </a:r>
            <a:endParaRPr lang="en-US" sz="1250" dirty="0"/>
          </a:p>
        </p:txBody>
      </p:sp>
      <p:sp>
        <p:nvSpPr>
          <p:cNvPr id="19" name="Text 17"/>
          <p:cNvSpPr/>
          <p:nvPr/>
        </p:nvSpPr>
        <p:spPr>
          <a:xfrm>
            <a:off x="5486400" y="2331720"/>
            <a:ext cx="2651760" cy="402336"/>
          </a:xfrm>
          <a:prstGeom prst="rect">
            <a:avLst/>
          </a:prstGeom>
          <a:noFill/>
          <a:ln/>
        </p:spPr>
        <p:txBody>
          <a:bodyPr wrap="square" lIns="38100" tIns="38100" rIns="38100" bIns="38100" rtlCol="0" anchor="ctr"/>
          <a:lstStyle/>
          <a:p>
            <a:pPr algn="l" indent="0" marL="0">
              <a:buNone/>
            </a:pPr>
            <a:r>
              <a:rPr lang="en-US" sz="1250" dirty="0">
                <a:solidFill>
                  <a:srgbClr val="990000"/>
                </a:solidFill>
                <a:latin typeface="Cambria" pitchFamily="34" charset="0"/>
                <a:ea typeface="Cambria" pitchFamily="34" charset="-122"/>
                <a:cs typeface="Cambria" pitchFamily="34" charset="-120"/>
              </a:rPr>
              <a:t>+0,80  riêng mục tiêu ưu tiên</a:t>
            </a:r>
            <a:endParaRPr lang="en-US" sz="1250" dirty="0"/>
          </a:p>
        </p:txBody>
      </p:sp>
      <p:sp>
        <p:nvSpPr>
          <p:cNvPr id="20" name="Text 18"/>
          <p:cNvSpPr/>
          <p:nvPr/>
        </p:nvSpPr>
        <p:spPr>
          <a:xfrm>
            <a:off x="502920" y="2880360"/>
            <a:ext cx="8138160" cy="292608"/>
          </a:xfrm>
          <a:prstGeom prst="rect">
            <a:avLst/>
          </a:prstGeom>
          <a:noFill/>
          <a:ln/>
        </p:spPr>
        <p:txBody>
          <a:bodyPr wrap="square" lIns="0" tIns="0" rIns="0" bIns="0" rtlCol="0" anchor="t"/>
          <a:lstStyle/>
          <a:p>
            <a:pPr algn="l" indent="0" marL="0">
              <a:buNone/>
            </a:pPr>
            <a:r>
              <a:rPr lang="en-US" sz="1300" b="1" dirty="0">
                <a:solidFill>
                  <a:srgbClr val="B22222"/>
                </a:solidFill>
                <a:latin typeface="Cambria" pitchFamily="34" charset="0"/>
                <a:ea typeface="Cambria" pitchFamily="34" charset="-122"/>
                <a:cs typeface="Cambria" pitchFamily="34" charset="-120"/>
              </a:rPr>
              <a:t>87% mức tăng ở tầng khai báo cũng thuộc về đối chứng, khớp với 78% đo ở điểm đầu ra.</a:t>
            </a:r>
            <a:endParaRPr lang="en-US" sz="1300" dirty="0"/>
          </a:p>
        </p:txBody>
      </p:sp>
      <p:sp>
        <p:nvSpPr>
          <p:cNvPr id="21" name="Text 19"/>
          <p:cNvSpPr/>
          <p:nvPr/>
        </p:nvSpPr>
        <p:spPr>
          <a:xfrm>
            <a:off x="502920" y="3291840"/>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291840"/>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Một điểm cải thiện ở tầng khai báo đổi được 0,43 điểm executability</a:t>
            </a:r>
            <a:endParaRPr lang="en-US" sz="1250" dirty="0"/>
          </a:p>
        </p:txBody>
      </p:sp>
      <p:sp>
        <p:nvSpPr>
          <p:cNvPr id="23" name="Text 21"/>
          <p:cNvSpPr/>
          <p:nvPr/>
        </p:nvSpPr>
        <p:spPr>
          <a:xfrm>
            <a:off x="502920" y="3913632"/>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3913632"/>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Điều kiện không gây hại bị trượt: lớp thao tác tụt 19,75 điểm ở bước không chạm, ngưỡng là 3</a:t>
            </a:r>
            <a:endParaRPr lang="en-US" sz="1250" dirty="0"/>
          </a:p>
        </p:txBody>
      </p:sp>
      <p:sp>
        <p:nvSpPr>
          <p:cNvPr id="25" name="Text 23"/>
          <p:cNvSpPr/>
          <p:nvPr/>
        </p:nvSpPr>
        <p:spPr>
          <a:xfrm>
            <a:off x="502920" y="4535424"/>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4535424"/>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Nguyên nhân là thiết kế dữ liệu, vì tập cặp chỉ chứa bước chạm</a:t>
            </a:r>
            <a:endParaRPr lang="en-US" sz="1250" dirty="0"/>
          </a:p>
        </p:txBody>
      </p:sp>
      <p:sp>
        <p:nvSpPr>
          <p:cNvPr id="27" name="Text 25"/>
          <p:cNvSpPr/>
          <p:nvPr/>
        </p:nvSpPr>
        <p:spPr>
          <a:xfrm>
            <a:off x="502920" y="5157216"/>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8" name="Text 26"/>
          <p:cNvSpPr/>
          <p:nvPr/>
        </p:nvSpPr>
        <p:spPr>
          <a:xfrm>
            <a:off x="731520" y="5157216"/>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Cách gỡ đã đăng ký là trộn bước không chạm dạng entropy chéo thuần vào chặng hai</a:t>
            </a:r>
            <a:endParaRPr lang="en-US" sz="1250" dirty="0"/>
          </a:p>
        </p:txBody>
      </p:sp>
      <p:sp>
        <p:nvSpPr>
          <p:cNvPr id="29" name="Shape 27"/>
          <p:cNvSpPr/>
          <p:nvPr/>
        </p:nvSpPr>
        <p:spPr>
          <a:xfrm>
            <a:off x="0" y="6620256"/>
            <a:ext cx="2743200" cy="237744"/>
          </a:xfrm>
          <a:prstGeom prst="rect">
            <a:avLst/>
          </a:prstGeom>
          <a:solidFill>
            <a:srgbClr val="191132"/>
          </a:solidFill>
          <a:ln/>
        </p:spPr>
      </p:sp>
      <p:sp>
        <p:nvSpPr>
          <p:cNvPr id="30" name="Shape 28"/>
          <p:cNvSpPr/>
          <p:nvPr/>
        </p:nvSpPr>
        <p:spPr>
          <a:xfrm>
            <a:off x="2743200" y="6620256"/>
            <a:ext cx="3383280" cy="237744"/>
          </a:xfrm>
          <a:prstGeom prst="rect">
            <a:avLst/>
          </a:prstGeom>
          <a:solidFill>
            <a:srgbClr val="25194B"/>
          </a:solidFill>
          <a:ln/>
        </p:spPr>
      </p:sp>
      <p:sp>
        <p:nvSpPr>
          <p:cNvPr id="31" name="Shape 29"/>
          <p:cNvSpPr/>
          <p:nvPr/>
        </p:nvSpPr>
        <p:spPr>
          <a:xfrm>
            <a:off x="6126480" y="6620256"/>
            <a:ext cx="1737360" cy="237744"/>
          </a:xfrm>
          <a:prstGeom prst="rect">
            <a:avLst/>
          </a:prstGeom>
          <a:solidFill>
            <a:srgbClr val="4F417A"/>
          </a:solidFill>
          <a:ln/>
        </p:spPr>
      </p:sp>
      <p:sp>
        <p:nvSpPr>
          <p:cNvPr id="32" name="Shape 30"/>
          <p:cNvSpPr/>
          <p:nvPr/>
        </p:nvSpPr>
        <p:spPr>
          <a:xfrm>
            <a:off x="7863840" y="6620256"/>
            <a:ext cx="1280160" cy="237744"/>
          </a:xfrm>
          <a:prstGeom prst="rect">
            <a:avLst/>
          </a:prstGeom>
          <a:solidFill>
            <a:srgbClr val="7A7099"/>
          </a:solidFill>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Sinh hướng dẫn sử dụng phần mềm từ ảnh màn hình</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Sinh huong dan su dung phan mem tu anh man hinh - bao ve luan van</dc:title>
  <dc:subject>PptxGenJS Presentation</dc:subject>
  <dc:creator>Le Doan Phuong Uyen</dc:creator>
  <cp:lastModifiedBy>Le Doan Phuong Uyen</cp:lastModifiedBy>
  <cp:revision>1</cp:revision>
  <dcterms:created xsi:type="dcterms:W3CDTF">2026-08-30T17:06:55Z</dcterms:created>
  <dcterms:modified xsi:type="dcterms:W3CDTF">2026-08-30T17:06:55Z</dcterms:modified>
</cp:coreProperties>
</file>