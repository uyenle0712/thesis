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57" d="100"/>
          <a:sy n="57" d="100"/>
        </p:scale>
        <p:origin x="1219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84736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Mở đầu ngắn: đề tài sinh một câu hướng dẫn cho bước tiếp theo từ màn hình và mục tiêu người dùng.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0350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9144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ĐẠI HỌC QUỐC GIA TP. HỒ CHÍ MINH  -  TRƯỜNG ĐẠI HỌC KHOA HỌC TỰ NHIÊN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078992"/>
            <a:ext cx="7680960" cy="2286000"/>
          </a:xfrm>
          <a:prstGeom prst="round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THẠC SĨ  -  NGÀNH TRÍ TUỆ NHÂN TẠO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1792224"/>
            <a:ext cx="7406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DỰA TRÊN LLM TỪ CÁC TRƯỜNG HỢP SỬ DỤNG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VÀ GIAO DIỆN NGƯỜI DÙNG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31520" y="41605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 thực hiện: Lê Đoàn Phương Uyên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Giáo viên hướng dẫn: TS. Nguyễn Hồng Bửu Long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537667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TP. Hồ Chí Minh - 2026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1/28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Bài toán thực tế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02920" y="135331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Từ trạng thái giao diện hiện tại, sinh một câu hướng dẫn để người dùng biết chính xác bước tiếp theo cần làm.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85800" y="2514600"/>
            <a:ext cx="1965960" cy="9601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514600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Màn hình hiện tại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788920" y="2999232"/>
            <a:ext cx="59436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520440" y="2514600"/>
            <a:ext cx="1965960" cy="9601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20440" y="2514600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sinh câu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623560" y="2999232"/>
            <a:ext cx="59436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355080" y="2331720"/>
            <a:ext cx="2103120" cy="13258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233172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“Chạm vào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now”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Sản phẩm cuối là câu dành cho người dùng, không phải tọa độ để agent tự thao tác.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Chương 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2/28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Định nghĩa bài toán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Đầu vào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21208" y="141732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280160"/>
            <a:ext cx="3538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Ảnh màn hình hiện tại.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21208" y="207568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938528"/>
            <a:ext cx="3538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 người dùng.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21208" y="273405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596896"/>
            <a:ext cx="3538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bước đã thực hiện trước đó.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21208" y="339242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3255264"/>
            <a:ext cx="3538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Thông tin OCR trên giao diện.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709160" y="89611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Đầu ra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709160" y="1353312"/>
            <a:ext cx="3931920" cy="20116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83480" y="171907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câu hướng dẫn cho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bước tiếp theo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983480" y="26974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 dụ: “Tap Not now to continue.”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02920" y="470916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Yêu cầu quan trọng: câu phải đủ rõ để phân biệt đúng phần tử cần thao tác.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§1.2–§1.3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3/28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Thách thức của câu hướng dẫn GUI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câu có thể đúng ngữ pháp nhưng vẫn không giúp người dùng thao tác đúng.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794760" cy="25146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0116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mơ hồ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2743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i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“Tap the button.”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77240" y="34290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biết phải chạm nút nào khi màn hình có nhiều nút.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846320" y="1783080"/>
            <a:ext cx="3794760" cy="25146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0" y="20116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đủ rõ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074920" y="2743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i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“Tap Not now.”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120640" y="34290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ra đúng phần tử cần thao tác.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48920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Thách thức chính là tính phân biệt và khả năng dẫn tới đúng thao tác.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Chương 1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4/28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Khoảng trống đánh giá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thước đo so sánh câu chưa trực tiếp phản ánh điều người dùng thực sự cần.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331720" cy="10972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7452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 / ROUGE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giống reference đến đâu?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01568" y="1874520"/>
            <a:ext cx="2331720" cy="10972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01568" y="187452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 / CIDEr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Nội dung có tương đồng?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72200" y="1691640"/>
            <a:ext cx="2331720" cy="14630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72200" y="1691640"/>
            <a:ext cx="2331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Điều cần biết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có dẫn tới đúng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tử hay không?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2920" y="416052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Vì vậy luận văn báo cáo cả chất lượng câu, chất lượng định vị và Executability.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Chương 5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5/28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Đóng góp của luận văn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21208" y="128016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143000"/>
            <a:ext cx="79278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 + SPICE: tối ưu trực tiếp câu hướng dẫn cuối cùng.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21208" y="2267712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130552"/>
            <a:ext cx="79278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ACE: dùng ví dụ tham chiếu có chọn lọc để cải thiện cách diễn đạt.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21208" y="325526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3118104"/>
            <a:ext cx="79278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Executability: đo câu có đủ rõ để định vị đúng phần tử trên giao diện hay không.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21208" y="424281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4105656"/>
            <a:ext cx="79278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Phân tích ablation và các hướng đã thử để xác định vai trò của từng thành phần.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2920" y="5166360"/>
            <a:ext cx="8138160" cy="5943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5166360"/>
            <a:ext cx="78089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chính: 60,7% Executability, cao hơn S1 1,57 điểm; KTC 95% [+0,86; +2,31].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§1.6, §6.2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6/28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Tổng quan phương pháp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7315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3444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325880" y="1645920"/>
            <a:ext cx="32004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737360" y="1234440"/>
            <a:ext cx="1691640" cy="8229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37360" y="12344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 + SPICE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520440" y="1645920"/>
            <a:ext cx="27432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886200" y="1097280"/>
            <a:ext cx="16002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86200" y="109728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hướng dẫn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 đầu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577840" y="1645920"/>
            <a:ext cx="27432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943600" y="1234440"/>
            <a:ext cx="822960" cy="8229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0" y="1234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858000" y="1645920"/>
            <a:ext cx="27432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223760" y="1097280"/>
            <a:ext cx="14173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23760" y="1097280"/>
            <a:ext cx="1417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hướng dẫn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cuối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02920" y="3154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Thành phần 1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21208" y="379476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3657600"/>
            <a:ext cx="367588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 học từ nhiều câu ứng viên trong cùng một tình huống.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21208" y="454456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3232" y="4407408"/>
            <a:ext cx="367588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 cung cấp tín hiệu về mức độ đúng nội dung.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617720" y="3154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Thành phần 2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4636008" y="379476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28032" y="3657600"/>
            <a:ext cx="38130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 truy hồi 4 ví dụ tương tự.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636008" y="454456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28032" y="4407408"/>
            <a:ext cx="38130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thay câu hướng dẫn ban đầu khi thỏa điều kiện chọn lọc.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Chương 4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7/28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 Mô hình nền S1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Backbone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02920" y="1325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Qwen2.5-VL-3B-Instruct + QLoRA 4-bit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777240" y="2331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47,6%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77240" y="286207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gốc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566160" y="2331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59,1%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566160" y="286207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S1 - seed 101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355080" y="2331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355080" y="286207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S1 - seed 202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1148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SFT đã tạo ra bước nhảy lớn; phương pháp đề xuất tiếp tục tối ưu từ S1.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2920" y="4864608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Vision tower / projector được đóng băng; khoảng 15 triệu tham số được huấn luyện.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§4.3, §6.1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8/28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 Cách GRPO hoạt động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6012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Thay vì học từ một câu duy nhất, mô hình tự tạo nhiều cách hướng dẫn cho cùng tình huống rồi học từ sự khác biệt giữa chúng.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2148840"/>
            <a:ext cx="1371600" cy="8229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1488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tình huống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084832" y="2560320"/>
            <a:ext cx="41148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606040" y="1965960"/>
            <a:ext cx="1554480" cy="11887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06040" y="19659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câu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 dẫn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279392" y="2560320"/>
            <a:ext cx="41148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800600" y="1965960"/>
            <a:ext cx="1554480" cy="11887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9659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Chấm từng câu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bằng SPICE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73952" y="2560320"/>
            <a:ext cx="41148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995160" y="1965960"/>
            <a:ext cx="1554480" cy="11887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95160" y="19659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 học từ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sánh trong nhóm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" y="425196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tốt hơn trong cùng nhóm được tăng ưu tiên; câu kém hơn bị giảm ưu tiên.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§4.5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9/28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 Quy trình GRPO + SPICE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02920" y="128016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Giúp mô hình ưu tiên những câu hướng dẫn đúng nội dung và ít mơ hồ hơn.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21208" y="228600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148840"/>
            <a:ext cx="79278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Với cùng một tình huống, mô hình sinh 8 câu hướng dẫn khác nhau.</a:t>
            </a:r>
            <a:endParaRPr lang="en-US" sz="1580" dirty="0"/>
          </a:p>
        </p:txBody>
      </p:sp>
      <p:sp>
        <p:nvSpPr>
          <p:cNvPr id="8" name="Shape 6"/>
          <p:cNvSpPr/>
          <p:nvPr/>
        </p:nvSpPr>
        <p:spPr>
          <a:xfrm>
            <a:off x="521208" y="314553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3008376"/>
            <a:ext cx="79278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vi-VN" sz="1580" smtClean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 đánh giá mức độ tương đồng về nội dung của mỗi câu với câu chuẩn.</a:t>
            </a:r>
            <a:endParaRPr lang="en-US" sz="1580" dirty="0"/>
          </a:p>
        </p:txBody>
      </p:sp>
      <p:sp>
        <p:nvSpPr>
          <p:cNvPr id="10" name="Shape 8"/>
          <p:cNvSpPr/>
          <p:nvPr/>
        </p:nvSpPr>
        <p:spPr>
          <a:xfrm>
            <a:off x="521208" y="4005072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867912"/>
            <a:ext cx="79278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 so sánh các câu trong cùng nhóm để cập nhật mô hình.</a:t>
            </a:r>
            <a:endParaRPr lang="en-US" sz="1580" dirty="0"/>
          </a:p>
        </p:txBody>
      </p:sp>
      <p:sp>
        <p:nvSpPr>
          <p:cNvPr id="12" name="Shape 10"/>
          <p:cNvSpPr/>
          <p:nvPr/>
        </p:nvSpPr>
        <p:spPr>
          <a:xfrm>
            <a:off x="502920" y="4800600"/>
            <a:ext cx="8138160" cy="7772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480060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 tiết huấn luyện như 500 updates, KL β = 0,04 và length penalty được để ở slide dự phòng.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§4.5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10/28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 Hiệu quả riêng của GRPO + SPICE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914400"/>
            <a:ext cx="4206240" cy="43434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1704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 dụ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Cần chạm: Not now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514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S1: “Click on the Allow button …”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99923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sai phần tử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5844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 + SPICE: “Click on Not now …”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40690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đúng phần tử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9144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định lượng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892040" y="1508760"/>
            <a:ext cx="3703320" cy="41148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5087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126480" y="15087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360920" y="15087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892040" y="1920240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126480" y="1920240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360920" y="1920240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892040" y="2450592"/>
            <a:ext cx="37033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4892040" y="2450592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126480" y="2450592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44,37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360920" y="2450592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45,79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4892040" y="2980944"/>
            <a:ext cx="37033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892040" y="2980944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CIDEr-D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126480" y="2980944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416,12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360920" y="2980944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430,05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4983480" y="38862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 điểm Executability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§6.3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11/28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 Động lực của ACE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60120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Tập huấn luyện chứa nhiều câu chuẩn có thể giúp diễn đạt tốt hơn, nhưng sao chép không chọn lọc có thể làm sai thao tác.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2057400"/>
            <a:ext cx="3794760" cy="23317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33172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Cơ hội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297180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bước mới có thể rất giống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bước đã thấy trong train.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846320" y="2057400"/>
            <a:ext cx="3794760" cy="23317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0" y="233172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Rủi ro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120640" y="297180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 dụ gần giống nhưng khác thao tác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sao chép sai câu sẽ làm hỏng kết quả.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" y="489204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 chỉ thay câu hướng dẫn ban đầu khi câu mới khớp với ví dụ tham chiếu và cùng loại thao tác.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§4.6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12/28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 Quy trình ACE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16002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32588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hướng dẫn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 đầu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194560" y="1783080"/>
            <a:ext cx="36576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651760" y="1234440"/>
            <a:ext cx="1874520" cy="10972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51760" y="123444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Truy hồi 4 ví dụ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tương tự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617720" y="1783080"/>
            <a:ext cx="36576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074920" y="1234440"/>
            <a:ext cx="1508760" cy="10972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12344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Bộ sinh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đề xuất câu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675120" y="1783080"/>
            <a:ext cx="36576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132320" y="1234440"/>
            <a:ext cx="1508760" cy="10972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0" y="12344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điều kiện chọn lọc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983480" y="30632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Nếu đạt điều kiện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760720" y="3429000"/>
            <a:ext cx="0" cy="50292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800600" y="4069080"/>
            <a:ext cx="1920240" cy="8229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40690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Dùng câu mới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949440" y="30632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Nếu không đạt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7726680" y="3429000"/>
            <a:ext cx="0" cy="502920"/>
          </a:xfrm>
          <a:prstGeom prst="line">
            <a:avLst/>
          </a:prstGeom>
          <a:noFill/>
          <a:ln w="25400">
            <a:solidFill>
              <a:srgbClr val="7A709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812280" y="4069080"/>
            <a:ext cx="18288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12280" y="40690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Giữ câu ban đầu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§4.6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13/28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 Điều kiện chọn lọc của ACE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601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 chỉ thay câu hướng dẫn ban đầu khi đồng thời thỏa hai điều kiện.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0574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60120" y="258775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mới trùng nguyên văn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ví dụ tham chiếu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577840" y="20574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577840" y="258775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Cùng loại thao tác với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hướng dẫn ban đầu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425196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đích của hai điều kiện: chỉ tận dụng ví dụ khi có bằng chứng mạnh rằng câu đó phù hợp.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§4.6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14/28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 Bằng chứng cho điều kiện chọn lọc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85800" y="123444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85800" y="1764792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được ACE thay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520440" y="123444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9,0%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520440" y="1764792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tổng số touch steps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355080" y="123444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−1,25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355080" y="1764792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Exec. nếu dùng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bộ sinh ở mọi bước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971800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521208" y="347472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3337560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Trong 402 câu được thay: 15 bước được sửa đúng, 14 bước bị làm sai.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21208" y="422452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" y="4087368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ACE gần như giữ nguyên Executability so với GRPO: +0,02 điểm.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521208" y="497433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4837176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Nhưng cải thiện đồng thời 7/7 metric chất lượng câu.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502920" y="5376672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Vai trò của ACE là cải thiện câu một cách chọn lọc, không phải thay toàn bộ câu hướng dẫn ban đầu.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§6.4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15/28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15. Khung đánh giá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đánh giá ở ba góc nhìn bổ sung cho nhau.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691640"/>
            <a:ext cx="2423160" cy="28803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9339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74320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có đủ rõ để tìm đúng phần tử cần thao tác?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364992" y="1691640"/>
            <a:ext cx="2423160" cy="28803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199339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Location metrics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93592" y="274320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AndroidControl Box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AitW Euclid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26480" y="1691640"/>
            <a:ext cx="2423160" cy="28803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199339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 metrics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355080" y="2606040"/>
            <a:ext cx="1965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BLEU, METEOR, ROUGE-L,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CIDEr-D, SPICE, chrF, BERTScore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02920" y="5074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luận chính dựa trên Executability; các nhóm còn lại giúp kiểm tra vị trí và chất lượng câu.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Chương 5–6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16/28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 Executability - ý nghĩa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đo xem câu hướng dẫn có chứa đủ thông tin để một mô hình độc lập nhìn màn hình và tìm đúng phần tử cần thao tác hay không.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2240280"/>
            <a:ext cx="20116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2402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“Tap Not now”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24912" y="2697480"/>
            <a:ext cx="45720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310128" y="2240280"/>
            <a:ext cx="2011680" cy="9144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128" y="22402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Màn hình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40680" y="2697480"/>
            <a:ext cx="45720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016752" y="2240280"/>
            <a:ext cx="2011680" cy="9144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6752" y="22402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định vị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022592" y="3291840"/>
            <a:ext cx="0" cy="50292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897880" y="3977640"/>
            <a:ext cx="2240280" cy="8229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97880" y="397764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Chọn đúng “Not now”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" y="52120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Chọn đúng phần tử → câu được tính là executable.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Chương 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17/28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 Executability - cách đánh giá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bước được tính đúng khi đồng thời thỏa ba điều kiện.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77240" y="1691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77240" y="222199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Đúng loại thao tác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520440" y="1691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520440" y="222199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đảo nghĩa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263640" y="1691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263640" y="222199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rơi thuộc đúng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tử cần chạm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703320"/>
            <a:ext cx="8138160" cy="11430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91363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 tiết kỹ thuật của điều kiện 3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31520" y="434340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phải nằm trong dung sai ±14% theo hai trục và trong vùng Voronoi của phần tử đúng.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02920" y="53949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định vị không biết tọa độ đáp án và không tham gia huấn luyện phương pháp.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§5.2–§5.4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18/28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 Độ tin cậy của Executability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85800" y="12344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75,7%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85800" y="176479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chuẩn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611880" y="12344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12,0%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611880" y="176479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“Tap the button.”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537960" y="12344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6,1%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37960" y="176479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từ màn hình khác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788920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521208" y="329184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3154680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Viết lại câu mà giữ nguyên nghĩa gần như không làm điểm thay đổi.</a:t>
            </a:r>
            <a:endParaRPr lang="en-US" sz="1520" dirty="0"/>
          </a:p>
        </p:txBody>
      </p:sp>
      <p:sp>
        <p:nvSpPr>
          <p:cNvPr id="13" name="Shape 11"/>
          <p:cNvSpPr/>
          <p:nvPr/>
        </p:nvSpPr>
        <p:spPr>
          <a:xfrm>
            <a:off x="521208" y="404164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" y="3904488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Đổi mô hình định vị sang UI-Venus vẫn giữ khoảng 94% độ lớn chênh S1 − Base.</a:t>
            </a:r>
            <a:endParaRPr lang="en-US" sz="1520" dirty="0"/>
          </a:p>
        </p:txBody>
      </p:sp>
      <p:sp>
        <p:nvSpPr>
          <p:cNvPr id="15" name="Shape 13"/>
          <p:cNvSpPr/>
          <p:nvPr/>
        </p:nvSpPr>
        <p:spPr>
          <a:xfrm>
            <a:off x="521208" y="479145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4654296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Phi-4 ngoài họ Qwen vẫn giữ thứ tự: Câu chuẩn &gt; S1 &gt; Base &gt; Câu chung chung.</a:t>
            </a:r>
            <a:endParaRPr lang="en-US" sz="1520" dirty="0"/>
          </a:p>
        </p:txBody>
      </p:sp>
      <p:sp>
        <p:nvSpPr>
          <p:cNvPr id="17" name="Text 15"/>
          <p:cNvSpPr/>
          <p:nvPr/>
        </p:nvSpPr>
        <p:spPr>
          <a:xfrm>
            <a:off x="502920" y="5358384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Executability phản ánh nội dung hướng dẫn, không chỉ cách diễn đạt.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§5.5–§5.10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19/28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 Dữ liệu AndroidControl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Phân chia dữ liệu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1353312"/>
            <a:ext cx="8138160" cy="42062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353312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971800" y="135331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Huấn luyện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00600" y="135331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629400" y="1353312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Ghi chú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02920" y="1773936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Số bước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971800" y="177393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64.567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800600" y="177393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6.958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629400" y="177393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chia theo tác vụ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02920" y="2249424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502920" y="2249424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Bước chạm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971800" y="2249424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41.191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800600" y="2249424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4.463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629400" y="224942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50" smtClean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dùng để tính Executability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02920" y="2724912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502920" y="2724912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Số tác vụ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2971800" y="272491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12.895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800600" y="272491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1.432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629400" y="272491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task-held-out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02920" y="34290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Đặc điểm cần lưu ý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21208" y="397764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3840480"/>
            <a:ext cx="7927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Train/test không trùng tác vụ.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21208" y="4599432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" y="4462272"/>
            <a:ext cx="7927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95,6% bước test gán được app thuộc các app đã thấy trong train.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21208" y="522122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3232" y="5084064"/>
            <a:ext cx="7927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17,3% câu chuẩn test xuất hiện nguyên văn trong train.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Chương 3, §6.8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20/28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20. Thiết lập thực nghiệm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21208" y="143560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298448"/>
            <a:ext cx="35387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Qwen2.5-VL-3B-Instruct + QLoRA 4-bit.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21208" y="214884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011680"/>
            <a:ext cx="35387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epochs, batch hiệu dụng 16, learning rate 1e−4.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617720" y="914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 + SPICE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636008" y="143560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28032" y="1298448"/>
            <a:ext cx="3767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câu / prompt, 500 updates.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36008" y="214884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28032" y="2011680"/>
            <a:ext cx="3767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rate 1e−5, KL β = 0,04.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2999232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502920" y="33101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21208" y="383133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3694176"/>
            <a:ext cx="35387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Truy hồi 4 ví dụ theo mục tiêu + bước trước.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21208" y="454456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4407408"/>
            <a:ext cx="35387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Kho truy hồi loại các task nội bộ val/test.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617720" y="33101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Đánh giá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636008" y="383133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8032" y="3694176"/>
            <a:ext cx="3767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4.463 touch steps.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636008" y="454456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8032" y="4407408"/>
            <a:ext cx="3767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KTC 95% và kiểm định cặp cho các so sánh chính.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§4.3–§4.6, Chương 6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21/28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21. Kết quả khả năng thao tác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7543800" cy="43891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6012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246120" y="960120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846320" y="960120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46520" y="960120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Euclid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13990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gốc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246120" y="139903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47,60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846320" y="139903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53,60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46520" y="139903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63,40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02920" y="1892808"/>
            <a:ext cx="754380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502920" y="189280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246120" y="1892808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846320" y="1892808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65,49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46520" y="1892808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74,37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2920" y="2386584"/>
            <a:ext cx="754380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502920" y="238658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 + SPICE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246120" y="2386584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846320" y="2386584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67,02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446520" y="2386584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76,25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02920" y="2880360"/>
            <a:ext cx="754380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502920" y="288036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pháp đề xuất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3246120" y="2880360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60,68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846320" y="2880360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67,11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446520" y="2880360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76,32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02920" y="3410712"/>
            <a:ext cx="754380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9" name="Text 27"/>
          <p:cNvSpPr/>
          <p:nvPr/>
        </p:nvSpPr>
        <p:spPr>
          <a:xfrm>
            <a:off x="502920" y="341071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chuẩn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3246120" y="341071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75,70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4846320" y="341071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446520" y="341071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502920" y="4315968"/>
            <a:ext cx="8138160" cy="9601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16552"/>
            <a:ext cx="7772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pháp đề xuất − S1 = +1,57 điểm Executability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KTC 95% [+0,86; +2,31], p &lt; 0,001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4.463 bước chạm · Luận văn §6.2, §6.6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22/28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22. Kết quả chất lượng câu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43891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6012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</a:t>
            </a:r>
            <a:endParaRPr lang="en-US" sz="1270" dirty="0"/>
          </a:p>
        </p:txBody>
      </p:sp>
      <p:sp>
        <p:nvSpPr>
          <p:cNvPr id="6" name="Text 4"/>
          <p:cNvSpPr/>
          <p:nvPr/>
        </p:nvSpPr>
        <p:spPr>
          <a:xfrm>
            <a:off x="2423160" y="96012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BLEU-4</a:t>
            </a:r>
            <a:endParaRPr lang="en-US" sz="1270" dirty="0"/>
          </a:p>
        </p:txBody>
      </p:sp>
      <p:sp>
        <p:nvSpPr>
          <p:cNvPr id="7" name="Text 5"/>
          <p:cNvSpPr/>
          <p:nvPr/>
        </p:nvSpPr>
        <p:spPr>
          <a:xfrm>
            <a:off x="3520440" y="96012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ROUGE-L</a:t>
            </a:r>
            <a:endParaRPr lang="en-US" sz="1270" dirty="0"/>
          </a:p>
        </p:txBody>
      </p:sp>
      <p:sp>
        <p:nvSpPr>
          <p:cNvPr id="8" name="Text 6"/>
          <p:cNvSpPr/>
          <p:nvPr/>
        </p:nvSpPr>
        <p:spPr>
          <a:xfrm>
            <a:off x="4800600" y="96012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CIDEr-D</a:t>
            </a:r>
            <a:endParaRPr lang="en-US" sz="1270" dirty="0"/>
          </a:p>
        </p:txBody>
      </p:sp>
      <p:sp>
        <p:nvSpPr>
          <p:cNvPr id="9" name="Text 7"/>
          <p:cNvSpPr/>
          <p:nvPr/>
        </p:nvSpPr>
        <p:spPr>
          <a:xfrm>
            <a:off x="6080760" y="96012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270" dirty="0"/>
          </a:p>
        </p:txBody>
      </p:sp>
      <p:sp>
        <p:nvSpPr>
          <p:cNvPr id="10" name="Text 8"/>
          <p:cNvSpPr/>
          <p:nvPr/>
        </p:nvSpPr>
        <p:spPr>
          <a:xfrm>
            <a:off x="7360920" y="96012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BERTScore</a:t>
            </a:r>
            <a:endParaRPr lang="en-US" sz="1270" dirty="0"/>
          </a:p>
        </p:txBody>
      </p:sp>
      <p:sp>
        <p:nvSpPr>
          <p:cNvPr id="11" name="Text 9"/>
          <p:cNvSpPr/>
          <p:nvPr/>
        </p:nvSpPr>
        <p:spPr>
          <a:xfrm>
            <a:off x="502920" y="139903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23160" y="139903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51,56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20440" y="1399032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67,35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00600" y="1399032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416,12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080760" y="1399032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44,37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60920" y="1399032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66,33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1874520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502920" y="1874520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 + SPICE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423160" y="1874520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52,36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20440" y="187452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68,36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00600" y="187452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430,05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080760" y="187452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45,79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60920" y="187452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67,07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2920" y="2350008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502920" y="2350008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Đề xuất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423160" y="235000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53,47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520440" y="2350008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69,08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800600" y="2350008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442,02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080760" y="2350008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47,13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60920" y="2350008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67,73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02920" y="2926080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Mức tăng của ACE so với GRPO + SPICE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658368" y="349300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+1,11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658368" y="402336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BLEU-4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2221992" y="349300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+0,74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2221992" y="402336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ROUGE-L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3785616" y="349300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+11,98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3785616" y="402336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CIDEr-D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5349240" y="349300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+1,34</a:t>
            </a:r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5349240" y="402336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6912864" y="349300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+0,66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6912864" y="402336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BERTScore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502920" y="5138928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METEOR và chrF cũng tăng → ACE cải thiện 7/7 metric chất lượng câu.</a:t>
            </a:r>
            <a:endParaRPr lang="en-US" sz="1550" dirty="0"/>
          </a:p>
        </p:txBody>
      </p:sp>
      <p:sp>
        <p:nvSpPr>
          <p:cNvPr id="43" name="Text 41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§6.4, §6.6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23/28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23. Đóng góp của từng thành phần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3840480" cy="43434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4088" y="13258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 + SPICE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19659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22960" y="2496312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Exec.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288036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159 bước sai được sửa đúng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40156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bước đúng bị làm sai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40690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Nguồn chính của cải thiện khả năng thao tác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4800600" y="1051560"/>
            <a:ext cx="3840480" cy="43434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01768" y="13258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120640" y="19659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120640" y="2496312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Exec.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047488" y="28803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Cải thiện 7/7 metric chất lượng câu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47488" y="3456432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Dùng bộ sinh ở mọi bước: −1,25 điểm Exec.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47488" y="416052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Điều kiện chọn lọc của ACE là cần thiết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§6.3–§6.4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24/28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 Các hướng đã thử và bài học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914400"/>
            <a:ext cx="8046720" cy="42062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246120" y="914400"/>
            <a:ext cx="1143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389120" y="914400"/>
            <a:ext cx="4160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học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133502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tả phần tử trước câu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246120" y="1335024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57,2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389120" y="1335024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Bước trung gian đúng thì giúp; sai thì làm câu giảm mạnh.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1901952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502920" y="190195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thưởng tọa độ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246120" y="190195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60,1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389120" y="1901952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Vị trí tốt hơn nhưng câu gần như không đổi.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2468880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502920" y="24688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Chọn ứng viên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246120" y="2468880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56,1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389120" y="2468880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Khi chọn thì tốt nhưng từ chối quá nhiều.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3035808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502920" y="303580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TAGE crop editor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246120" y="3035808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60,2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389120" y="3035808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Bộ sửa câu không vượt câu hướng dẫn ban đầu.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02920" y="4434840"/>
            <a:ext cx="8138160" cy="9144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44348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học chung: cải thiện biểu diễn trung gian chưa chắc truyền được sang câu cuối → phương pháp cuối tối ưu trực tiếp câu hướng dẫn.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§6.10, Phụ lục A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25/28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25. Hạn chế và hướng phát triển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Hạn chế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21208" y="1399032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261872"/>
            <a:ext cx="7927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Chưa có SFT control cùng số bước để tách riêng tác dụng của phần thưởng SPICE.</a:t>
            </a:r>
            <a:endParaRPr lang="en-US" sz="1520" dirty="0"/>
          </a:p>
        </p:txBody>
      </p:sp>
      <p:sp>
        <p:nvSpPr>
          <p:cNvPr id="7" name="Shape 5"/>
          <p:cNvSpPr/>
          <p:nvPr/>
        </p:nvSpPr>
        <p:spPr>
          <a:xfrm>
            <a:off x="521208" y="2084832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947672"/>
            <a:ext cx="7927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vẫn phụ thuộc mô hình định vị, dù đã được đối chiếu với các mô hình khác.</a:t>
            </a:r>
            <a:endParaRPr lang="en-US" sz="1520" dirty="0"/>
          </a:p>
        </p:txBody>
      </p:sp>
      <p:sp>
        <p:nvSpPr>
          <p:cNvPr id="9" name="Shape 7"/>
          <p:cNvSpPr/>
          <p:nvPr/>
        </p:nvSpPr>
        <p:spPr>
          <a:xfrm>
            <a:off x="521208" y="2770632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633472"/>
            <a:ext cx="7927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nghiệm chính trên AndroidControl, giao diện tiếng Anh và một backbone 3B.</a:t>
            </a:r>
            <a:endParaRPr lang="en-US" sz="1520" dirty="0"/>
          </a:p>
        </p:txBody>
      </p:sp>
      <p:sp>
        <p:nvSpPr>
          <p:cNvPr id="11" name="Shape 9"/>
          <p:cNvSpPr/>
          <p:nvPr/>
        </p:nvSpPr>
        <p:spPr>
          <a:xfrm>
            <a:off x="521208" y="3456432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3319272"/>
            <a:ext cx="7927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Lịch sử bước trước dùng gold history.</a:t>
            </a:r>
            <a:endParaRPr lang="en-US" sz="1520" dirty="0"/>
          </a:p>
        </p:txBody>
      </p:sp>
      <p:sp>
        <p:nvSpPr>
          <p:cNvPr id="13" name="Text 11"/>
          <p:cNvSpPr/>
          <p:nvPr/>
        </p:nvSpPr>
        <p:spPr>
          <a:xfrm>
            <a:off x="502920" y="42245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 phát triển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21208" y="489204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4754880"/>
            <a:ext cx="7927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Thêm same-step SFT control và human evaluation.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521208" y="5513832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5376672"/>
            <a:ext cx="7927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Đánh giá trên test chính thức / dataset thứ hai / giao diện tiếng Việt.</a:t>
            </a:r>
            <a:endParaRPr lang="en-US" sz="1520" dirty="0"/>
          </a:p>
        </p:txBody>
      </p:sp>
      <p:sp>
        <p:nvSpPr>
          <p:cNvPr id="18" name="Text 16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§7.2–§7.3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26/28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 Kết luận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21208" y="1307592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170432"/>
            <a:ext cx="79278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Đề xuất pipeline S1 → GRPO + SPICE → ACE để sinh hướng dẫn GUI rõ và ổn định hơn.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21208" y="224028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103120"/>
            <a:ext cx="79278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bổ sung góc nhìn thực tế: câu có dẫn tới đúng phần tử cần thao tác hay không.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21208" y="317296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3035808"/>
            <a:ext cx="79278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pháp hoàn chỉnh đạt 60,7% Executability, hơn S1 1,57 điểm với khác biệt có ý nghĩa thống kê.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21208" y="410565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968496"/>
            <a:ext cx="79278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 tạo phần lớn mức tăng khả năng thao tác; ACE cải thiện chất lượng câu mà gần như không làm giảm Executability.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" y="6327648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Chương 7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27/28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Trân trọng cảm ơn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87452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TRÂN TRỌNG CẢM ƠN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274320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HỎI ĐÁP VÀ THẢO LUẬN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40690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28/28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Dự phòng · Định nghĩa Executability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bước đúng khi đồng thời: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21208" y="150876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371600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Đúng loại thao tác.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21208" y="225856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121408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đảo nghĩa.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21208" y="300837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871216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|px−gx| ≤ 0,14W; |py−gy| ≤ 0,14H.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21208" y="375818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3621024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p nằm trong ô Voronoi của phần tử cần chạm.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502920" y="48006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= số bước đúng / tổng số touch steps.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dự phòng 1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Dự phòng · Toàn bộ metric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804672"/>
            <a:ext cx="7955280" cy="384048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0467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0467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749040" y="80467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46320" y="8046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80760" y="8046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Đề xuất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0" y="80467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 ACE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11887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170" dirty="0"/>
          </a:p>
        </p:txBody>
      </p:sp>
      <p:sp>
        <p:nvSpPr>
          <p:cNvPr id="12" name="Text 10"/>
          <p:cNvSpPr/>
          <p:nvPr/>
        </p:nvSpPr>
        <p:spPr>
          <a:xfrm>
            <a:off x="2651760" y="118872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47,60</a:t>
            </a:r>
            <a:endParaRPr lang="en-US" sz="1170" dirty="0"/>
          </a:p>
        </p:txBody>
      </p:sp>
      <p:sp>
        <p:nvSpPr>
          <p:cNvPr id="13" name="Text 11"/>
          <p:cNvSpPr/>
          <p:nvPr/>
        </p:nvSpPr>
        <p:spPr>
          <a:xfrm>
            <a:off x="3749040" y="118872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</a:t>
            </a:r>
            <a:endParaRPr lang="en-US" sz="1170" dirty="0"/>
          </a:p>
        </p:txBody>
      </p:sp>
      <p:sp>
        <p:nvSpPr>
          <p:cNvPr id="14" name="Text 12"/>
          <p:cNvSpPr/>
          <p:nvPr/>
        </p:nvSpPr>
        <p:spPr>
          <a:xfrm>
            <a:off x="4846320" y="11887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</a:t>
            </a:r>
            <a:endParaRPr lang="en-US" sz="1170" dirty="0"/>
          </a:p>
        </p:txBody>
      </p:sp>
      <p:sp>
        <p:nvSpPr>
          <p:cNvPr id="15" name="Text 13"/>
          <p:cNvSpPr/>
          <p:nvPr/>
        </p:nvSpPr>
        <p:spPr>
          <a:xfrm>
            <a:off x="6080760" y="11887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60,68</a:t>
            </a:r>
            <a:endParaRPr lang="en-US" sz="1170" dirty="0"/>
          </a:p>
        </p:txBody>
      </p:sp>
      <p:sp>
        <p:nvSpPr>
          <p:cNvPr id="16" name="Text 14"/>
          <p:cNvSpPr/>
          <p:nvPr/>
        </p:nvSpPr>
        <p:spPr>
          <a:xfrm>
            <a:off x="7315200" y="11887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+0,02</a:t>
            </a:r>
            <a:endParaRPr lang="en-US" sz="1170" dirty="0"/>
          </a:p>
        </p:txBody>
      </p:sp>
      <p:sp>
        <p:nvSpPr>
          <p:cNvPr id="17" name="Shape 15"/>
          <p:cNvSpPr/>
          <p:nvPr/>
        </p:nvSpPr>
        <p:spPr>
          <a:xfrm>
            <a:off x="502920" y="1572768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502920" y="157276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</a:t>
            </a:r>
            <a:endParaRPr lang="en-US" sz="1170" dirty="0"/>
          </a:p>
        </p:txBody>
      </p:sp>
      <p:sp>
        <p:nvSpPr>
          <p:cNvPr id="19" name="Text 17"/>
          <p:cNvSpPr/>
          <p:nvPr/>
        </p:nvSpPr>
        <p:spPr>
          <a:xfrm>
            <a:off x="2651760" y="157276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53,60</a:t>
            </a:r>
            <a:endParaRPr lang="en-US" sz="1170" dirty="0"/>
          </a:p>
        </p:txBody>
      </p:sp>
      <p:sp>
        <p:nvSpPr>
          <p:cNvPr id="20" name="Text 18"/>
          <p:cNvSpPr/>
          <p:nvPr/>
        </p:nvSpPr>
        <p:spPr>
          <a:xfrm>
            <a:off x="3749040" y="157276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65,49</a:t>
            </a:r>
            <a:endParaRPr lang="en-US" sz="1170" dirty="0"/>
          </a:p>
        </p:txBody>
      </p:sp>
      <p:sp>
        <p:nvSpPr>
          <p:cNvPr id="21" name="Text 19"/>
          <p:cNvSpPr/>
          <p:nvPr/>
        </p:nvSpPr>
        <p:spPr>
          <a:xfrm>
            <a:off x="4846320" y="1572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67,02</a:t>
            </a:r>
            <a:endParaRPr lang="en-US" sz="1170" dirty="0"/>
          </a:p>
        </p:txBody>
      </p:sp>
      <p:sp>
        <p:nvSpPr>
          <p:cNvPr id="22" name="Text 20"/>
          <p:cNvSpPr/>
          <p:nvPr/>
        </p:nvSpPr>
        <p:spPr>
          <a:xfrm>
            <a:off x="6080760" y="1572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67,11</a:t>
            </a:r>
            <a:endParaRPr lang="en-US" sz="1170" dirty="0"/>
          </a:p>
        </p:txBody>
      </p:sp>
      <p:sp>
        <p:nvSpPr>
          <p:cNvPr id="23" name="Text 21"/>
          <p:cNvSpPr/>
          <p:nvPr/>
        </p:nvSpPr>
        <p:spPr>
          <a:xfrm>
            <a:off x="7315200" y="1572768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+0,09</a:t>
            </a:r>
            <a:endParaRPr lang="en-US" sz="1170" dirty="0"/>
          </a:p>
        </p:txBody>
      </p:sp>
      <p:sp>
        <p:nvSpPr>
          <p:cNvPr id="24" name="Shape 22"/>
          <p:cNvSpPr/>
          <p:nvPr/>
        </p:nvSpPr>
        <p:spPr>
          <a:xfrm>
            <a:off x="502920" y="1956816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502920" y="195681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Euclid</a:t>
            </a:r>
            <a:endParaRPr lang="en-US" sz="1170" dirty="0"/>
          </a:p>
        </p:txBody>
      </p:sp>
      <p:sp>
        <p:nvSpPr>
          <p:cNvPr id="26" name="Text 24"/>
          <p:cNvSpPr/>
          <p:nvPr/>
        </p:nvSpPr>
        <p:spPr>
          <a:xfrm>
            <a:off x="2651760" y="195681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63,40</a:t>
            </a:r>
            <a:endParaRPr lang="en-US" sz="1170" dirty="0"/>
          </a:p>
        </p:txBody>
      </p:sp>
      <p:sp>
        <p:nvSpPr>
          <p:cNvPr id="27" name="Text 25"/>
          <p:cNvSpPr/>
          <p:nvPr/>
        </p:nvSpPr>
        <p:spPr>
          <a:xfrm>
            <a:off x="3749040" y="195681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74,37</a:t>
            </a:r>
            <a:endParaRPr lang="en-US" sz="1170" dirty="0"/>
          </a:p>
        </p:txBody>
      </p:sp>
      <p:sp>
        <p:nvSpPr>
          <p:cNvPr id="28" name="Text 26"/>
          <p:cNvSpPr/>
          <p:nvPr/>
        </p:nvSpPr>
        <p:spPr>
          <a:xfrm>
            <a:off x="4846320" y="195681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76,25</a:t>
            </a:r>
            <a:endParaRPr lang="en-US" sz="1170" dirty="0"/>
          </a:p>
        </p:txBody>
      </p:sp>
      <p:sp>
        <p:nvSpPr>
          <p:cNvPr id="29" name="Text 27"/>
          <p:cNvSpPr/>
          <p:nvPr/>
        </p:nvSpPr>
        <p:spPr>
          <a:xfrm>
            <a:off x="6080760" y="195681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76,32</a:t>
            </a:r>
            <a:endParaRPr lang="en-US" sz="1170" dirty="0"/>
          </a:p>
        </p:txBody>
      </p:sp>
      <p:sp>
        <p:nvSpPr>
          <p:cNvPr id="30" name="Text 28"/>
          <p:cNvSpPr/>
          <p:nvPr/>
        </p:nvSpPr>
        <p:spPr>
          <a:xfrm>
            <a:off x="7315200" y="1956816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+0,07</a:t>
            </a:r>
            <a:endParaRPr lang="en-US" sz="1170" dirty="0"/>
          </a:p>
        </p:txBody>
      </p:sp>
      <p:sp>
        <p:nvSpPr>
          <p:cNvPr id="31" name="Shape 29"/>
          <p:cNvSpPr/>
          <p:nvPr/>
        </p:nvSpPr>
        <p:spPr>
          <a:xfrm>
            <a:off x="502920" y="2340864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2" name="Text 30"/>
          <p:cNvSpPr/>
          <p:nvPr/>
        </p:nvSpPr>
        <p:spPr>
          <a:xfrm>
            <a:off x="502920" y="234086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BLEU-4</a:t>
            </a:r>
            <a:endParaRPr lang="en-US" sz="1170" dirty="0"/>
          </a:p>
        </p:txBody>
      </p:sp>
      <p:sp>
        <p:nvSpPr>
          <p:cNvPr id="33" name="Text 31"/>
          <p:cNvSpPr/>
          <p:nvPr/>
        </p:nvSpPr>
        <p:spPr>
          <a:xfrm>
            <a:off x="2651760" y="234086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15,30</a:t>
            </a:r>
            <a:endParaRPr lang="en-US" sz="1170" dirty="0"/>
          </a:p>
        </p:txBody>
      </p:sp>
      <p:sp>
        <p:nvSpPr>
          <p:cNvPr id="34" name="Text 32"/>
          <p:cNvSpPr/>
          <p:nvPr/>
        </p:nvSpPr>
        <p:spPr>
          <a:xfrm>
            <a:off x="3749040" y="234086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51,56</a:t>
            </a:r>
            <a:endParaRPr lang="en-US" sz="1170" dirty="0"/>
          </a:p>
        </p:txBody>
      </p:sp>
      <p:sp>
        <p:nvSpPr>
          <p:cNvPr id="35" name="Text 33"/>
          <p:cNvSpPr/>
          <p:nvPr/>
        </p:nvSpPr>
        <p:spPr>
          <a:xfrm>
            <a:off x="4846320" y="234086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52,36</a:t>
            </a:r>
            <a:endParaRPr lang="en-US" sz="1170" dirty="0"/>
          </a:p>
        </p:txBody>
      </p:sp>
      <p:sp>
        <p:nvSpPr>
          <p:cNvPr id="36" name="Text 34"/>
          <p:cNvSpPr/>
          <p:nvPr/>
        </p:nvSpPr>
        <p:spPr>
          <a:xfrm>
            <a:off x="6080760" y="234086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53,47</a:t>
            </a:r>
            <a:endParaRPr lang="en-US" sz="1170" dirty="0"/>
          </a:p>
        </p:txBody>
      </p:sp>
      <p:sp>
        <p:nvSpPr>
          <p:cNvPr id="37" name="Text 35"/>
          <p:cNvSpPr/>
          <p:nvPr/>
        </p:nvSpPr>
        <p:spPr>
          <a:xfrm>
            <a:off x="7315200" y="234086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+1,11</a:t>
            </a:r>
            <a:endParaRPr lang="en-US" sz="1170" dirty="0"/>
          </a:p>
        </p:txBody>
      </p:sp>
      <p:sp>
        <p:nvSpPr>
          <p:cNvPr id="38" name="Shape 36"/>
          <p:cNvSpPr/>
          <p:nvPr/>
        </p:nvSpPr>
        <p:spPr>
          <a:xfrm>
            <a:off x="502920" y="2724912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9" name="Text 37"/>
          <p:cNvSpPr/>
          <p:nvPr/>
        </p:nvSpPr>
        <p:spPr>
          <a:xfrm>
            <a:off x="502920" y="272491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METEOR</a:t>
            </a:r>
            <a:endParaRPr lang="en-US" sz="1170" dirty="0"/>
          </a:p>
        </p:txBody>
      </p:sp>
      <p:sp>
        <p:nvSpPr>
          <p:cNvPr id="40" name="Text 38"/>
          <p:cNvSpPr/>
          <p:nvPr/>
        </p:nvSpPr>
        <p:spPr>
          <a:xfrm>
            <a:off x="2651760" y="272491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24,60</a:t>
            </a:r>
            <a:endParaRPr lang="en-US" sz="1170" dirty="0"/>
          </a:p>
        </p:txBody>
      </p:sp>
      <p:sp>
        <p:nvSpPr>
          <p:cNvPr id="41" name="Text 39"/>
          <p:cNvSpPr/>
          <p:nvPr/>
        </p:nvSpPr>
        <p:spPr>
          <a:xfrm>
            <a:off x="3749040" y="272491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36,79</a:t>
            </a:r>
            <a:endParaRPr lang="en-US" sz="1170" dirty="0"/>
          </a:p>
        </p:txBody>
      </p:sp>
      <p:sp>
        <p:nvSpPr>
          <p:cNvPr id="42" name="Text 40"/>
          <p:cNvSpPr/>
          <p:nvPr/>
        </p:nvSpPr>
        <p:spPr>
          <a:xfrm>
            <a:off x="4846320" y="27249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37,92</a:t>
            </a:r>
            <a:endParaRPr lang="en-US" sz="1170" dirty="0"/>
          </a:p>
        </p:txBody>
      </p:sp>
      <p:sp>
        <p:nvSpPr>
          <p:cNvPr id="43" name="Text 41"/>
          <p:cNvSpPr/>
          <p:nvPr/>
        </p:nvSpPr>
        <p:spPr>
          <a:xfrm>
            <a:off x="6080760" y="27249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38,37</a:t>
            </a:r>
            <a:endParaRPr lang="en-US" sz="1170" dirty="0"/>
          </a:p>
        </p:txBody>
      </p:sp>
      <p:sp>
        <p:nvSpPr>
          <p:cNvPr id="44" name="Text 42"/>
          <p:cNvSpPr/>
          <p:nvPr/>
        </p:nvSpPr>
        <p:spPr>
          <a:xfrm>
            <a:off x="7315200" y="27249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+0,46</a:t>
            </a:r>
            <a:endParaRPr lang="en-US" sz="1170" dirty="0"/>
          </a:p>
        </p:txBody>
      </p:sp>
      <p:sp>
        <p:nvSpPr>
          <p:cNvPr id="45" name="Shape 43"/>
          <p:cNvSpPr/>
          <p:nvPr/>
        </p:nvSpPr>
        <p:spPr>
          <a:xfrm>
            <a:off x="502920" y="3108960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46" name="Text 44"/>
          <p:cNvSpPr/>
          <p:nvPr/>
        </p:nvSpPr>
        <p:spPr>
          <a:xfrm>
            <a:off x="502920" y="310896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ROUGE-L</a:t>
            </a:r>
            <a:endParaRPr lang="en-US" sz="1170" dirty="0"/>
          </a:p>
        </p:txBody>
      </p:sp>
      <p:sp>
        <p:nvSpPr>
          <p:cNvPr id="47" name="Text 45"/>
          <p:cNvSpPr/>
          <p:nvPr/>
        </p:nvSpPr>
        <p:spPr>
          <a:xfrm>
            <a:off x="2651760" y="310896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42,30</a:t>
            </a:r>
            <a:endParaRPr lang="en-US" sz="1170" dirty="0"/>
          </a:p>
        </p:txBody>
      </p:sp>
      <p:sp>
        <p:nvSpPr>
          <p:cNvPr id="48" name="Text 46"/>
          <p:cNvSpPr/>
          <p:nvPr/>
        </p:nvSpPr>
        <p:spPr>
          <a:xfrm>
            <a:off x="3749040" y="310896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67,35</a:t>
            </a:r>
            <a:endParaRPr lang="en-US" sz="1170" dirty="0"/>
          </a:p>
        </p:txBody>
      </p:sp>
      <p:sp>
        <p:nvSpPr>
          <p:cNvPr id="49" name="Text 47"/>
          <p:cNvSpPr/>
          <p:nvPr/>
        </p:nvSpPr>
        <p:spPr>
          <a:xfrm>
            <a:off x="4846320" y="3108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68,36</a:t>
            </a:r>
            <a:endParaRPr lang="en-US" sz="1170" dirty="0"/>
          </a:p>
        </p:txBody>
      </p:sp>
      <p:sp>
        <p:nvSpPr>
          <p:cNvPr id="50" name="Text 48"/>
          <p:cNvSpPr/>
          <p:nvPr/>
        </p:nvSpPr>
        <p:spPr>
          <a:xfrm>
            <a:off x="6080760" y="3108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69,08</a:t>
            </a:r>
            <a:endParaRPr lang="en-US" sz="1170" dirty="0"/>
          </a:p>
        </p:txBody>
      </p:sp>
      <p:sp>
        <p:nvSpPr>
          <p:cNvPr id="51" name="Text 49"/>
          <p:cNvSpPr/>
          <p:nvPr/>
        </p:nvSpPr>
        <p:spPr>
          <a:xfrm>
            <a:off x="7315200" y="310896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+0,74</a:t>
            </a:r>
            <a:endParaRPr lang="en-US" sz="1170" dirty="0"/>
          </a:p>
        </p:txBody>
      </p:sp>
      <p:sp>
        <p:nvSpPr>
          <p:cNvPr id="52" name="Shape 50"/>
          <p:cNvSpPr/>
          <p:nvPr/>
        </p:nvSpPr>
        <p:spPr>
          <a:xfrm>
            <a:off x="502920" y="3493008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53" name="Text 51"/>
          <p:cNvSpPr/>
          <p:nvPr/>
        </p:nvSpPr>
        <p:spPr>
          <a:xfrm>
            <a:off x="502920" y="349300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CIDEr-D</a:t>
            </a:r>
            <a:endParaRPr lang="en-US" sz="1170" dirty="0"/>
          </a:p>
        </p:txBody>
      </p:sp>
      <p:sp>
        <p:nvSpPr>
          <p:cNvPr id="54" name="Text 52"/>
          <p:cNvSpPr/>
          <p:nvPr/>
        </p:nvSpPr>
        <p:spPr>
          <a:xfrm>
            <a:off x="2651760" y="349300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88,00</a:t>
            </a:r>
            <a:endParaRPr lang="en-US" sz="1170" dirty="0"/>
          </a:p>
        </p:txBody>
      </p:sp>
      <p:sp>
        <p:nvSpPr>
          <p:cNvPr id="55" name="Text 53"/>
          <p:cNvSpPr/>
          <p:nvPr/>
        </p:nvSpPr>
        <p:spPr>
          <a:xfrm>
            <a:off x="3749040" y="349300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416,12</a:t>
            </a:r>
            <a:endParaRPr lang="en-US" sz="1170" dirty="0"/>
          </a:p>
        </p:txBody>
      </p:sp>
      <p:sp>
        <p:nvSpPr>
          <p:cNvPr id="56" name="Text 54"/>
          <p:cNvSpPr/>
          <p:nvPr/>
        </p:nvSpPr>
        <p:spPr>
          <a:xfrm>
            <a:off x="4846320" y="349300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430,05</a:t>
            </a:r>
            <a:endParaRPr lang="en-US" sz="1170" dirty="0"/>
          </a:p>
        </p:txBody>
      </p:sp>
      <p:sp>
        <p:nvSpPr>
          <p:cNvPr id="57" name="Text 55"/>
          <p:cNvSpPr/>
          <p:nvPr/>
        </p:nvSpPr>
        <p:spPr>
          <a:xfrm>
            <a:off x="6080760" y="349300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442,02</a:t>
            </a:r>
            <a:endParaRPr lang="en-US" sz="1170" dirty="0"/>
          </a:p>
        </p:txBody>
      </p:sp>
      <p:sp>
        <p:nvSpPr>
          <p:cNvPr id="58" name="Text 56"/>
          <p:cNvSpPr/>
          <p:nvPr/>
        </p:nvSpPr>
        <p:spPr>
          <a:xfrm>
            <a:off x="7315200" y="3493008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+11,98</a:t>
            </a:r>
            <a:endParaRPr lang="en-US" sz="1170" dirty="0"/>
          </a:p>
        </p:txBody>
      </p:sp>
      <p:sp>
        <p:nvSpPr>
          <p:cNvPr id="59" name="Shape 57"/>
          <p:cNvSpPr/>
          <p:nvPr/>
        </p:nvSpPr>
        <p:spPr>
          <a:xfrm>
            <a:off x="502920" y="3877056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60" name="Text 58"/>
          <p:cNvSpPr/>
          <p:nvPr/>
        </p:nvSpPr>
        <p:spPr>
          <a:xfrm>
            <a:off x="502920" y="387705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170" dirty="0"/>
          </a:p>
        </p:txBody>
      </p:sp>
      <p:sp>
        <p:nvSpPr>
          <p:cNvPr id="61" name="Text 59"/>
          <p:cNvSpPr/>
          <p:nvPr/>
        </p:nvSpPr>
        <p:spPr>
          <a:xfrm>
            <a:off x="2651760" y="387705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18,50</a:t>
            </a:r>
            <a:endParaRPr lang="en-US" sz="1170" dirty="0"/>
          </a:p>
        </p:txBody>
      </p:sp>
      <p:sp>
        <p:nvSpPr>
          <p:cNvPr id="62" name="Text 60"/>
          <p:cNvSpPr/>
          <p:nvPr/>
        </p:nvSpPr>
        <p:spPr>
          <a:xfrm>
            <a:off x="3749040" y="387705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44,37</a:t>
            </a:r>
            <a:endParaRPr lang="en-US" sz="1170" dirty="0"/>
          </a:p>
        </p:txBody>
      </p:sp>
      <p:sp>
        <p:nvSpPr>
          <p:cNvPr id="63" name="Text 61"/>
          <p:cNvSpPr/>
          <p:nvPr/>
        </p:nvSpPr>
        <p:spPr>
          <a:xfrm>
            <a:off x="4846320" y="387705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45,79</a:t>
            </a:r>
            <a:endParaRPr lang="en-US" sz="1170" dirty="0"/>
          </a:p>
        </p:txBody>
      </p:sp>
      <p:sp>
        <p:nvSpPr>
          <p:cNvPr id="64" name="Text 62"/>
          <p:cNvSpPr/>
          <p:nvPr/>
        </p:nvSpPr>
        <p:spPr>
          <a:xfrm>
            <a:off x="6080760" y="387705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47,13</a:t>
            </a:r>
            <a:endParaRPr lang="en-US" sz="1170" dirty="0"/>
          </a:p>
        </p:txBody>
      </p:sp>
      <p:sp>
        <p:nvSpPr>
          <p:cNvPr id="65" name="Text 63"/>
          <p:cNvSpPr/>
          <p:nvPr/>
        </p:nvSpPr>
        <p:spPr>
          <a:xfrm>
            <a:off x="7315200" y="3877056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+1,34</a:t>
            </a:r>
            <a:endParaRPr lang="en-US" sz="1170" dirty="0"/>
          </a:p>
        </p:txBody>
      </p:sp>
      <p:sp>
        <p:nvSpPr>
          <p:cNvPr id="66" name="Shape 64"/>
          <p:cNvSpPr/>
          <p:nvPr/>
        </p:nvSpPr>
        <p:spPr>
          <a:xfrm>
            <a:off x="502920" y="4261104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67" name="Text 65"/>
          <p:cNvSpPr/>
          <p:nvPr/>
        </p:nvSpPr>
        <p:spPr>
          <a:xfrm>
            <a:off x="502920" y="426110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chrF</a:t>
            </a:r>
            <a:endParaRPr lang="en-US" sz="1170" dirty="0"/>
          </a:p>
        </p:txBody>
      </p:sp>
      <p:sp>
        <p:nvSpPr>
          <p:cNvPr id="68" name="Text 66"/>
          <p:cNvSpPr/>
          <p:nvPr/>
        </p:nvSpPr>
        <p:spPr>
          <a:xfrm>
            <a:off x="2651760" y="42611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40,20</a:t>
            </a:r>
            <a:endParaRPr lang="en-US" sz="1170" dirty="0"/>
          </a:p>
        </p:txBody>
      </p:sp>
      <p:sp>
        <p:nvSpPr>
          <p:cNvPr id="69" name="Text 67"/>
          <p:cNvSpPr/>
          <p:nvPr/>
        </p:nvSpPr>
        <p:spPr>
          <a:xfrm>
            <a:off x="3749040" y="42611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61,26</a:t>
            </a:r>
            <a:endParaRPr lang="en-US" sz="1170" dirty="0"/>
          </a:p>
        </p:txBody>
      </p:sp>
      <p:sp>
        <p:nvSpPr>
          <p:cNvPr id="70" name="Text 68"/>
          <p:cNvSpPr/>
          <p:nvPr/>
        </p:nvSpPr>
        <p:spPr>
          <a:xfrm>
            <a:off x="4846320" y="426110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62,87</a:t>
            </a:r>
            <a:endParaRPr lang="en-US" sz="1170" dirty="0"/>
          </a:p>
        </p:txBody>
      </p:sp>
      <p:sp>
        <p:nvSpPr>
          <p:cNvPr id="71" name="Text 69"/>
          <p:cNvSpPr/>
          <p:nvPr/>
        </p:nvSpPr>
        <p:spPr>
          <a:xfrm>
            <a:off x="6080760" y="426110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63,44</a:t>
            </a:r>
            <a:endParaRPr lang="en-US" sz="1170" dirty="0"/>
          </a:p>
        </p:txBody>
      </p:sp>
      <p:sp>
        <p:nvSpPr>
          <p:cNvPr id="72" name="Text 70"/>
          <p:cNvSpPr/>
          <p:nvPr/>
        </p:nvSpPr>
        <p:spPr>
          <a:xfrm>
            <a:off x="7315200" y="426110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+0,58</a:t>
            </a:r>
            <a:endParaRPr lang="en-US" sz="1170" dirty="0"/>
          </a:p>
        </p:txBody>
      </p:sp>
      <p:sp>
        <p:nvSpPr>
          <p:cNvPr id="73" name="Shape 71"/>
          <p:cNvSpPr/>
          <p:nvPr/>
        </p:nvSpPr>
        <p:spPr>
          <a:xfrm>
            <a:off x="502920" y="4645152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74" name="Text 72"/>
          <p:cNvSpPr/>
          <p:nvPr/>
        </p:nvSpPr>
        <p:spPr>
          <a:xfrm>
            <a:off x="502920" y="464515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BERTScore</a:t>
            </a:r>
            <a:endParaRPr lang="en-US" sz="1170" dirty="0"/>
          </a:p>
        </p:txBody>
      </p:sp>
      <p:sp>
        <p:nvSpPr>
          <p:cNvPr id="75" name="Text 73"/>
          <p:cNvSpPr/>
          <p:nvPr/>
        </p:nvSpPr>
        <p:spPr>
          <a:xfrm>
            <a:off x="2651760" y="464515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40,10</a:t>
            </a:r>
            <a:endParaRPr lang="en-US" sz="1170" dirty="0"/>
          </a:p>
        </p:txBody>
      </p:sp>
      <p:sp>
        <p:nvSpPr>
          <p:cNvPr id="76" name="Text 74"/>
          <p:cNvSpPr/>
          <p:nvPr/>
        </p:nvSpPr>
        <p:spPr>
          <a:xfrm>
            <a:off x="3749040" y="464515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66,33</a:t>
            </a:r>
            <a:endParaRPr lang="en-US" sz="1170" dirty="0"/>
          </a:p>
        </p:txBody>
      </p:sp>
      <p:sp>
        <p:nvSpPr>
          <p:cNvPr id="77" name="Text 75"/>
          <p:cNvSpPr/>
          <p:nvPr/>
        </p:nvSpPr>
        <p:spPr>
          <a:xfrm>
            <a:off x="4846320" y="464515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67,07</a:t>
            </a:r>
            <a:endParaRPr lang="en-US" sz="1170" dirty="0"/>
          </a:p>
        </p:txBody>
      </p:sp>
      <p:sp>
        <p:nvSpPr>
          <p:cNvPr id="78" name="Text 76"/>
          <p:cNvSpPr/>
          <p:nvPr/>
        </p:nvSpPr>
        <p:spPr>
          <a:xfrm>
            <a:off x="6080760" y="464515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67,73</a:t>
            </a:r>
            <a:endParaRPr lang="en-US" sz="1170" dirty="0"/>
          </a:p>
        </p:txBody>
      </p:sp>
      <p:sp>
        <p:nvSpPr>
          <p:cNvPr id="79" name="Text 77"/>
          <p:cNvSpPr/>
          <p:nvPr/>
        </p:nvSpPr>
        <p:spPr>
          <a:xfrm>
            <a:off x="7315200" y="464515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+0,66</a:t>
            </a:r>
            <a:endParaRPr lang="en-US" sz="1170" dirty="0"/>
          </a:p>
        </p:txBody>
      </p:sp>
      <p:sp>
        <p:nvSpPr>
          <p:cNvPr id="80" name="Shape 7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dự phòng 2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Dự phòng · Cross-listener validation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7772400" cy="42062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09728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Phép so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703320" y="109728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UGround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89320" y="109728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UI-Venus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1517904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S1 − Base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703320" y="1517904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+10,35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89320" y="1517904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+9,68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048256"/>
            <a:ext cx="777240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502920" y="2048256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S2 − S1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03320" y="2048256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−1,93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89320" y="2048256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−1,21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2578608"/>
            <a:ext cx="777240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502920" y="2578608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chuẩn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703320" y="2578608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70,0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89320" y="2578608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397764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Phi-4 ngoài họ Qwen vẫn giữ thứ tự: Câu chuẩn &gt; S1 &gt; Base &gt; Câu chung chung.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dự phòng 3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741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Dự phòng · Cấu hình huấn luyện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914400"/>
            <a:ext cx="8046720" cy="402336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Hạng mục</a:t>
            </a:r>
            <a:endParaRPr lang="en-US" sz="1270" dirty="0"/>
          </a:p>
        </p:txBody>
      </p:sp>
      <p:sp>
        <p:nvSpPr>
          <p:cNvPr id="6" name="Text 4"/>
          <p:cNvSpPr/>
          <p:nvPr/>
        </p:nvSpPr>
        <p:spPr>
          <a:xfrm>
            <a:off x="3246120" y="914400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Giá trị</a:t>
            </a:r>
            <a:endParaRPr lang="en-US" sz="1270" dirty="0"/>
          </a:p>
        </p:txBody>
      </p:sp>
      <p:sp>
        <p:nvSpPr>
          <p:cNvPr id="7" name="Text 5"/>
          <p:cNvSpPr/>
          <p:nvPr/>
        </p:nvSpPr>
        <p:spPr>
          <a:xfrm>
            <a:off x="502920" y="1316736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Backbone</a:t>
            </a:r>
            <a:endParaRPr lang="en-US" sz="1270" dirty="0"/>
          </a:p>
        </p:txBody>
      </p:sp>
      <p:sp>
        <p:nvSpPr>
          <p:cNvPr id="8" name="Text 6"/>
          <p:cNvSpPr/>
          <p:nvPr/>
        </p:nvSpPr>
        <p:spPr>
          <a:xfrm>
            <a:off x="3246120" y="1316736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Qwen2.5-VL-3B-Instruct</a:t>
            </a:r>
            <a:endParaRPr lang="en-US" sz="127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502920" y="175564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Fine-tuning</a:t>
            </a:r>
            <a:endParaRPr lang="en-US" sz="1270" dirty="0"/>
          </a:p>
        </p:txBody>
      </p:sp>
      <p:sp>
        <p:nvSpPr>
          <p:cNvPr id="11" name="Text 9"/>
          <p:cNvSpPr/>
          <p:nvPr/>
        </p:nvSpPr>
        <p:spPr>
          <a:xfrm>
            <a:off x="3246120" y="1755648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QLoRA NF4 4-bit, rank 8, alpha 16, dropout 0,05</a:t>
            </a:r>
            <a:endParaRPr lang="en-US" sz="1270" dirty="0"/>
          </a:p>
        </p:txBody>
      </p:sp>
      <p:sp>
        <p:nvSpPr>
          <p:cNvPr id="12" name="Shape 10"/>
          <p:cNvSpPr/>
          <p:nvPr/>
        </p:nvSpPr>
        <p:spPr>
          <a:xfrm>
            <a:off x="502920" y="2194560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502920" y="219456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SFT</a:t>
            </a:r>
            <a:endParaRPr lang="en-US" sz="1270" dirty="0"/>
          </a:p>
        </p:txBody>
      </p:sp>
      <p:sp>
        <p:nvSpPr>
          <p:cNvPr id="14" name="Text 12"/>
          <p:cNvSpPr/>
          <p:nvPr/>
        </p:nvSpPr>
        <p:spPr>
          <a:xfrm>
            <a:off x="3246120" y="2194560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epochs = 8.072 steps, batch hiệu dụng 16, LR 1e−4</a:t>
            </a:r>
            <a:endParaRPr lang="en-US" sz="1270" dirty="0"/>
          </a:p>
        </p:txBody>
      </p:sp>
      <p:sp>
        <p:nvSpPr>
          <p:cNvPr id="15" name="Shape 13"/>
          <p:cNvSpPr/>
          <p:nvPr/>
        </p:nvSpPr>
        <p:spPr>
          <a:xfrm>
            <a:off x="502920" y="2633472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502920" y="2633472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</a:t>
            </a:r>
            <a:endParaRPr lang="en-US" sz="1270" dirty="0"/>
          </a:p>
        </p:txBody>
      </p:sp>
      <p:sp>
        <p:nvSpPr>
          <p:cNvPr id="17" name="Text 15"/>
          <p:cNvSpPr/>
          <p:nvPr/>
        </p:nvSpPr>
        <p:spPr>
          <a:xfrm>
            <a:off x="3246120" y="2633472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samples/prompt, 500 updates, LR 1e−5, KL β 0,04</a:t>
            </a:r>
            <a:endParaRPr lang="en-US" sz="1270" dirty="0"/>
          </a:p>
        </p:txBody>
      </p:sp>
      <p:sp>
        <p:nvSpPr>
          <p:cNvPr id="18" name="Shape 16"/>
          <p:cNvSpPr/>
          <p:nvPr/>
        </p:nvSpPr>
        <p:spPr>
          <a:xfrm>
            <a:off x="502920" y="3072384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502920" y="3072384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Hardware</a:t>
            </a:r>
            <a:endParaRPr lang="en-US" sz="1270" dirty="0"/>
          </a:p>
        </p:txBody>
      </p:sp>
      <p:sp>
        <p:nvSpPr>
          <p:cNvPr id="20" name="Text 18"/>
          <p:cNvSpPr/>
          <p:nvPr/>
        </p:nvSpPr>
        <p:spPr>
          <a:xfrm>
            <a:off x="3246120" y="3072384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× A100, vision tower frozen</a:t>
            </a:r>
            <a:endParaRPr lang="en-US" sz="1270" dirty="0"/>
          </a:p>
        </p:txBody>
      </p:sp>
      <p:sp>
        <p:nvSpPr>
          <p:cNvPr id="21" name="Shape 19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dự phòng 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3325</Words>
  <Application>Microsoft Office PowerPoint</Application>
  <PresentationFormat>On-screen Show (4:3)</PresentationFormat>
  <Paragraphs>633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Phat sinh tu dong huong dan su dung phan mem dua tren LLM</dc:title>
  <dc:subject>Master thesis defense</dc:subject>
  <dc:creator>Le Doan Phuong Uyen</dc:creator>
  <cp:lastModifiedBy>Admin</cp:lastModifiedBy>
  <cp:revision>2</cp:revision>
  <dcterms:created xsi:type="dcterms:W3CDTF">2026-10-17T14:33:25Z</dcterms:created>
  <dcterms:modified xsi:type="dcterms:W3CDTF">2026-10-17T14:37:51Z</dcterms:modified>
</cp:coreProperties>
</file>