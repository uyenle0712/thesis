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Tổng quan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Văn bản hiển thị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Yêu cầu của câu hướng dẫn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Hạn chế của độ tương đồng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độ đo chất lượng câu và khả năng làm theo phản ánh hai khía cạnh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mức giống câu chuẩn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tương đồng nội dung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đúng phần tử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đúng loại thao tác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chuẩn và khả năng xác định đúng phần tử, đúng loại thao tác.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22376" y="1847088"/>
            <a:ext cx="207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câu hướng dẫn. ACE tiếp tục hiệu chỉnh câu ban đầu để cải thiện chất lượng mà vẫn giữ executability.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319272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66160" y="1847088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tách biệt kiểm tra câu có dẫn tới đúng phần tử và đúng thao tác.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1704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55080" y="184708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kiểm tra bằng cùng số bước huấn luyện, nhiều mô hình định vị, tác vụ mới và chuyển miền.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tập kiểm chính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01568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01568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tác vụ chưa có trong huấn luyện có giám sát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076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và tập kiểm tra chính được tách theo tác vụ; không có tác vụ xuất hiện ở cả hai phía.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8138160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endParaRPr lang="en-US" sz="1370" dirty="0"/>
          </a:p>
        </p:txBody>
      </p:sp>
      <p:sp>
        <p:nvSpPr>
          <p:cNvPr id="7" name="Text 5"/>
          <p:cNvSpPr/>
          <p:nvPr/>
        </p:nvSpPr>
        <p:spPr>
          <a:xfrm>
            <a:off x="301752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470916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6400800" y="1536192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01752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470916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6400800" y="2029968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502920" y="261518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301752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470916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6400800" y="26151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chính của executability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20040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01752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470916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400800" y="3200400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502920" y="39867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tổng quát hóa bổ sung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5994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460" dirty="0"/>
          </a:p>
        </p:txBody>
      </p:sp>
      <p:sp>
        <p:nvSpPr>
          <p:cNvPr id="27" name="Text 25"/>
          <p:cNvSpPr/>
          <p:nvPr/>
        </p:nvSpPr>
        <p:spPr>
          <a:xfrm>
            <a:off x="1920240" y="45537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chưa có trong tập huấn luyện</a:t>
            </a:r>
            <a:endParaRPr lang="en-US" sz="1380" dirty="0"/>
          </a:p>
        </p:txBody>
      </p:sp>
      <p:sp>
        <p:nvSpPr>
          <p:cNvPr id="28" name="Shape 26"/>
          <p:cNvSpPr/>
          <p:nvPr/>
        </p:nvSpPr>
        <p:spPr>
          <a:xfrm>
            <a:off x="475488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45994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Chuyển miền (AitZ)</a:t>
            </a:r>
            <a:endParaRPr lang="en-US" sz="1460" dirty="0"/>
          </a:p>
        </p:txBody>
      </p:sp>
      <p:sp>
        <p:nvSpPr>
          <p:cNvPr id="30" name="Text 28"/>
          <p:cNvSpPr/>
          <p:nvPr/>
        </p:nvSpPr>
        <p:spPr>
          <a:xfrm>
            <a:off x="6263640" y="455371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giao diện khác để kiểm tra khả năng chuyển miền</a:t>
            </a:r>
            <a:endParaRPr lang="en-US" sz="138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2.1. Executability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Kiểm tra độ tin cậy của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cùng một nhóm bước, câu càng thiếu thông tin để xác định đúng phần tử thì executability càng thấp.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 (đầy đủ thông tin)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26798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hồ: 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sai màn hình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51560" y="4498848"/>
            <a:ext cx="7040880" cy="85953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4498848"/>
            <a:ext cx="6620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đúng kỳ vọng: 74,9% → 12,0% → 6,1%. Khi câu mơ hồ hoặc sai ngữ cảnh, executability giảm mạnh.</a:t>
            </a:r>
            <a:endParaRPr lang="en-US" sz="15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33856"/>
            <a:ext cx="138988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33856"/>
            <a:ext cx="13898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8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(đã được SFT)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1874520" y="1645920"/>
            <a:ext cx="1828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21408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33088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39712" y="1143000"/>
            <a:ext cx="1810512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9712" y="1143000"/>
            <a:ext cx="1810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từ tập dạy.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chỉ được dùng để đánh giá câu hướng dẫn; không tham gia sinh câu hay cập nhật mô hình.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3.1. Thành phần thứ nhất: GRPO-SPICE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đầu vào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trực tiếp câu hướng dẫn bằng tín hiệu SPICE.</a:t>
            </a:r>
            <a:endParaRPr lang="en-US" sz="146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3.2. Thành phần thứ hai: ACE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từ tập huấn luyện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trùng với một trong bốn câu ví dụ được truy hồi.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trên tập kiểm chính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68680" y="1408176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</a:t>
            </a:r>
            <a:endParaRPr lang="en-US" sz="1390" dirty="0"/>
          </a:p>
        </p:txBody>
      </p:sp>
      <p:sp>
        <p:nvSpPr>
          <p:cNvPr id="6" name="Shape 4"/>
          <p:cNvSpPr/>
          <p:nvPr/>
        </p:nvSpPr>
        <p:spPr>
          <a:xfrm>
            <a:off x="3108960" y="1481328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481328"/>
            <a:ext cx="300597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3990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47,59%</a:t>
            </a:r>
            <a:endParaRPr lang="en-US" sz="1390" dirty="0"/>
          </a:p>
        </p:txBody>
      </p:sp>
      <p:sp>
        <p:nvSpPr>
          <p:cNvPr id="9" name="Text 7"/>
          <p:cNvSpPr/>
          <p:nvPr/>
        </p:nvSpPr>
        <p:spPr>
          <a:xfrm>
            <a:off x="868680" y="212140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Base</a:t>
            </a:r>
            <a:endParaRPr lang="en-US" sz="1390" dirty="0"/>
          </a:p>
        </p:txBody>
      </p:sp>
      <p:sp>
        <p:nvSpPr>
          <p:cNvPr id="10" name="Shape 8"/>
          <p:cNvSpPr/>
          <p:nvPr/>
        </p:nvSpPr>
        <p:spPr>
          <a:xfrm>
            <a:off x="3108960" y="2194560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194560"/>
            <a:ext cx="3253574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112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51,51%</a:t>
            </a:r>
            <a:endParaRPr lang="en-US" sz="139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baseline S1</a:t>
            </a:r>
            <a:endParaRPr lang="en-US" sz="1390" dirty="0"/>
          </a:p>
        </p:txBody>
      </p:sp>
      <p:sp>
        <p:nvSpPr>
          <p:cNvPr id="14" name="Shape 12"/>
          <p:cNvSpPr/>
          <p:nvPr/>
        </p:nvSpPr>
        <p:spPr>
          <a:xfrm>
            <a:off x="3108960" y="2907792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2907792"/>
            <a:ext cx="3733620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254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390" dirty="0"/>
          </a:p>
        </p:txBody>
      </p:sp>
      <p:sp>
        <p:nvSpPr>
          <p:cNvPr id="17" name="Text 15"/>
          <p:cNvSpPr/>
          <p:nvPr/>
        </p:nvSpPr>
        <p:spPr>
          <a:xfrm>
            <a:off x="868680" y="3547872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90" dirty="0"/>
          </a:p>
        </p:txBody>
      </p:sp>
      <p:sp>
        <p:nvSpPr>
          <p:cNvPr id="18" name="Shape 16"/>
          <p:cNvSpPr/>
          <p:nvPr/>
        </p:nvSpPr>
        <p:spPr>
          <a:xfrm>
            <a:off x="3108960" y="3621024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3621024"/>
            <a:ext cx="38308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3538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60120" y="4498848"/>
            <a:ext cx="7223760" cy="7863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49884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+ GRPO-SPICE cao hơn 7B Base +9,14 điểm</a:t>
            </a:r>
            <a:endParaRPr lang="en-US" sz="1720" dirty="0"/>
          </a:p>
        </p:txBody>
      </p:sp>
      <p:sp>
        <p:nvSpPr>
          <p:cNvPr id="23" name="Text 21"/>
          <p:cNvSpPr/>
          <p:nvPr/>
        </p:nvSpPr>
        <p:spPr>
          <a:xfrm>
            <a:off x="502920" y="554126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dùng cùng prompt của Base và không được tối ưu prompt riêng.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Vai trò của tín hiệu SPICE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500 bước GRPO, nhánh dùng SPICE từ mẫu khác vẫn ở mức S1; GRPO-SPICE tăng +1,55 điểm.</a:t>
            </a:r>
            <a:endParaRPr lang="en-US" sz="1580" dirty="0"/>
          </a:p>
        </p:txBody>
      </p:sp>
      <p:sp>
        <p:nvSpPr>
          <p:cNvPr id="5" name="Shape 3"/>
          <p:cNvSpPr/>
          <p:nvPr/>
        </p:nvSpPr>
        <p:spPr>
          <a:xfrm>
            <a:off x="749808" y="1627632"/>
            <a:ext cx="78181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5584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 từ mẫu khác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6188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5584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6188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78608" y="309067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Ở cột giữa, điểm SPICE được lấy từ một mẫu khác.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1005840" y="4041648"/>
            <a:ext cx="7132320" cy="89611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041648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nhánh dùng SPICE từ mẫu khác +1,55 điểm · KTC 95% [+0,81; +2,30]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541324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chất lượng câu có KTC đều tăng trong cùng phép so sánh.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Kết quả trên tập kiểm chính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73568" cy="56692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849624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5111496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373368" y="13898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7333488" y="1389888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585216" y="195681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2432304" y="195681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3849624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5111496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6373368" y="1956816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340" dirty="0"/>
          </a:p>
        </p:txBody>
      </p:sp>
      <p:sp>
        <p:nvSpPr>
          <p:cNvPr id="18" name="Text 16"/>
          <p:cNvSpPr/>
          <p:nvPr/>
        </p:nvSpPr>
        <p:spPr>
          <a:xfrm>
            <a:off x="7333488" y="1956816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585216" y="2560320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60320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40" dirty="0"/>
          </a:p>
        </p:txBody>
      </p:sp>
      <p:sp>
        <p:nvSpPr>
          <p:cNvPr id="21" name="Text 19"/>
          <p:cNvSpPr/>
          <p:nvPr/>
        </p:nvSpPr>
        <p:spPr>
          <a:xfrm>
            <a:off x="2432304" y="256032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40" dirty="0"/>
          </a:p>
        </p:txBody>
      </p:sp>
      <p:sp>
        <p:nvSpPr>
          <p:cNvPr id="22" name="Text 20"/>
          <p:cNvSpPr/>
          <p:nvPr/>
        </p:nvSpPr>
        <p:spPr>
          <a:xfrm>
            <a:off x="3849624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40" dirty="0"/>
          </a:p>
        </p:txBody>
      </p:sp>
      <p:sp>
        <p:nvSpPr>
          <p:cNvPr id="23" name="Text 21"/>
          <p:cNvSpPr/>
          <p:nvPr/>
        </p:nvSpPr>
        <p:spPr>
          <a:xfrm>
            <a:off x="5111496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6373368" y="2560320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40" dirty="0"/>
          </a:p>
        </p:txBody>
      </p:sp>
      <p:sp>
        <p:nvSpPr>
          <p:cNvPr id="25" name="Text 23"/>
          <p:cNvSpPr/>
          <p:nvPr/>
        </p:nvSpPr>
        <p:spPr>
          <a:xfrm>
            <a:off x="7333488" y="2560320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40" dirty="0"/>
          </a:p>
        </p:txBody>
      </p:sp>
      <p:sp>
        <p:nvSpPr>
          <p:cNvPr id="26" name="Shape 24"/>
          <p:cNvSpPr/>
          <p:nvPr/>
        </p:nvSpPr>
        <p:spPr>
          <a:xfrm>
            <a:off x="585216" y="3163824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63824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40" dirty="0"/>
          </a:p>
        </p:txBody>
      </p:sp>
      <p:sp>
        <p:nvSpPr>
          <p:cNvPr id="28" name="Text 26"/>
          <p:cNvSpPr/>
          <p:nvPr/>
        </p:nvSpPr>
        <p:spPr>
          <a:xfrm>
            <a:off x="2432304" y="316382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40" dirty="0"/>
          </a:p>
        </p:txBody>
      </p:sp>
      <p:sp>
        <p:nvSpPr>
          <p:cNvPr id="29" name="Text 27"/>
          <p:cNvSpPr/>
          <p:nvPr/>
        </p:nvSpPr>
        <p:spPr>
          <a:xfrm>
            <a:off x="3849624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40" dirty="0"/>
          </a:p>
        </p:txBody>
      </p:sp>
      <p:sp>
        <p:nvSpPr>
          <p:cNvPr id="30" name="Text 28"/>
          <p:cNvSpPr/>
          <p:nvPr/>
        </p:nvSpPr>
        <p:spPr>
          <a:xfrm>
            <a:off x="5111496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40" dirty="0"/>
          </a:p>
        </p:txBody>
      </p:sp>
      <p:sp>
        <p:nvSpPr>
          <p:cNvPr id="31" name="Text 29"/>
          <p:cNvSpPr/>
          <p:nvPr/>
        </p:nvSpPr>
        <p:spPr>
          <a:xfrm>
            <a:off x="6373368" y="316382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40" dirty="0"/>
          </a:p>
        </p:txBody>
      </p:sp>
      <p:sp>
        <p:nvSpPr>
          <p:cNvPr id="32" name="Text 30"/>
          <p:cNvSpPr/>
          <p:nvPr/>
        </p:nvSpPr>
        <p:spPr>
          <a:xfrm>
            <a:off x="7333488" y="3163824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40" dirty="0"/>
          </a:p>
        </p:txBody>
      </p:sp>
      <p:sp>
        <p:nvSpPr>
          <p:cNvPr id="33" name="Text 31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0; METEOR tăng nhưng chưa có KTC.</a:t>
            </a:r>
            <a:endParaRPr lang="en-US" sz="1360" dirty="0"/>
          </a:p>
        </p:txBody>
      </p:sp>
      <p:sp>
        <p:nvSpPr>
          <p:cNvPr id="40" name="Shape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Kết quả trên tác vụ mới (ACU)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 gồm 1.484 bước từ các tác vụ không xuất hiện trong huấn luyện SFT. Các số dưới đây là mức tăng so với baseline S1.</a:t>
            </a:r>
            <a:endParaRPr lang="en-US" sz="1540" dirty="0"/>
          </a:p>
        </p:txBody>
      </p:sp>
      <p:sp>
        <p:nvSpPr>
          <p:cNvPr id="5" name="Text 3"/>
          <p:cNvSpPr/>
          <p:nvPr/>
        </p:nvSpPr>
        <p:spPr>
          <a:xfrm>
            <a:off x="932688" y="156362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72968" y="163677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636776"/>
            <a:ext cx="3575867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79208" y="1554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38658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Chạy lại GRPO-SPICE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72968" y="245973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2459736"/>
            <a:ext cx="3154258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9208" y="2377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+4,04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20954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72968" y="328269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3282696"/>
            <a:ext cx="3786671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1879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ba khoảng tin cậy đều nằm trên 0.</a:t>
            </a:r>
            <a:endParaRPr lang="en-US" sz="1370" dirty="0"/>
          </a:p>
        </p:txBody>
      </p:sp>
      <p:sp>
        <p:nvSpPr>
          <p:cNvPr id="18" name="Shape 16"/>
          <p:cNvSpPr/>
          <p:nvPr/>
        </p:nvSpPr>
        <p:spPr>
          <a:xfrm>
            <a:off x="960120" y="4700016"/>
            <a:ext cx="7223760" cy="80467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70001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 + ACU: GRPO-SPICE − S1 = +2,30  [ +1,62; +2,99 ]</a:t>
            </a:r>
            <a:endParaRPr lang="en-US" sz="148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4.4. Kết quả sau ACE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mức tương đương GRPO-SPICE và tiếp tục tăng các độ đo dựa trên câu chuẩn.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313432"/>
            <a:ext cx="1874520" cy="3511296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313432"/>
            <a:ext cx="7388352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313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2066544" y="231343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3255264" y="231343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160" dirty="0"/>
          </a:p>
        </p:txBody>
      </p:sp>
      <p:sp>
        <p:nvSpPr>
          <p:cNvPr id="16" name="Text 14"/>
          <p:cNvSpPr/>
          <p:nvPr/>
        </p:nvSpPr>
        <p:spPr>
          <a:xfrm>
            <a:off x="4681728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291072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160" dirty="0"/>
          </a:p>
        </p:txBody>
      </p:sp>
      <p:sp>
        <p:nvSpPr>
          <p:cNvPr id="18" name="Text 16"/>
          <p:cNvSpPr/>
          <p:nvPr/>
        </p:nvSpPr>
        <p:spPr>
          <a:xfrm>
            <a:off x="512064" y="27523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90" dirty="0"/>
          </a:p>
        </p:txBody>
      </p:sp>
      <p:sp>
        <p:nvSpPr>
          <p:cNvPr id="19" name="Text 17"/>
          <p:cNvSpPr/>
          <p:nvPr/>
        </p:nvSpPr>
        <p:spPr>
          <a:xfrm>
            <a:off x="2066544" y="27523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15,34</a:t>
            </a:r>
            <a:endParaRPr lang="en-US" sz="1190" dirty="0"/>
          </a:p>
        </p:txBody>
      </p:sp>
      <p:sp>
        <p:nvSpPr>
          <p:cNvPr id="20" name="Text 18"/>
          <p:cNvSpPr/>
          <p:nvPr/>
        </p:nvSpPr>
        <p:spPr>
          <a:xfrm>
            <a:off x="3255264" y="27523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90" dirty="0"/>
          </a:p>
        </p:txBody>
      </p:sp>
      <p:sp>
        <p:nvSpPr>
          <p:cNvPr id="21" name="Text 19"/>
          <p:cNvSpPr/>
          <p:nvPr/>
        </p:nvSpPr>
        <p:spPr>
          <a:xfrm>
            <a:off x="4681728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90" dirty="0"/>
          </a:p>
        </p:txBody>
      </p:sp>
      <p:sp>
        <p:nvSpPr>
          <p:cNvPr id="22" name="Text 20"/>
          <p:cNvSpPr/>
          <p:nvPr/>
        </p:nvSpPr>
        <p:spPr>
          <a:xfrm>
            <a:off x="6291072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90" dirty="0"/>
          </a:p>
        </p:txBody>
      </p:sp>
      <p:sp>
        <p:nvSpPr>
          <p:cNvPr id="23" name="Shape 21"/>
          <p:cNvSpPr/>
          <p:nvPr/>
        </p:nvSpPr>
        <p:spPr>
          <a:xfrm>
            <a:off x="512064" y="319125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12064" y="319125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90" dirty="0"/>
          </a:p>
        </p:txBody>
      </p:sp>
      <p:sp>
        <p:nvSpPr>
          <p:cNvPr id="25" name="Text 23"/>
          <p:cNvSpPr/>
          <p:nvPr/>
        </p:nvSpPr>
        <p:spPr>
          <a:xfrm>
            <a:off x="2066544" y="319125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24,58</a:t>
            </a:r>
            <a:endParaRPr lang="en-US" sz="1190" dirty="0"/>
          </a:p>
        </p:txBody>
      </p:sp>
      <p:sp>
        <p:nvSpPr>
          <p:cNvPr id="26" name="Text 24"/>
          <p:cNvSpPr/>
          <p:nvPr/>
        </p:nvSpPr>
        <p:spPr>
          <a:xfrm>
            <a:off x="3255264" y="319125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90" dirty="0"/>
          </a:p>
        </p:txBody>
      </p:sp>
      <p:sp>
        <p:nvSpPr>
          <p:cNvPr id="27" name="Text 25"/>
          <p:cNvSpPr/>
          <p:nvPr/>
        </p:nvSpPr>
        <p:spPr>
          <a:xfrm>
            <a:off x="4681728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90" dirty="0"/>
          </a:p>
        </p:txBody>
      </p:sp>
      <p:sp>
        <p:nvSpPr>
          <p:cNvPr id="28" name="Text 26"/>
          <p:cNvSpPr/>
          <p:nvPr/>
        </p:nvSpPr>
        <p:spPr>
          <a:xfrm>
            <a:off x="6291072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90" dirty="0"/>
          </a:p>
        </p:txBody>
      </p:sp>
      <p:sp>
        <p:nvSpPr>
          <p:cNvPr id="29" name="Shape 27"/>
          <p:cNvSpPr/>
          <p:nvPr/>
        </p:nvSpPr>
        <p:spPr>
          <a:xfrm>
            <a:off x="512064" y="3630168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512064" y="3630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90" dirty="0"/>
          </a:p>
        </p:txBody>
      </p:sp>
      <p:sp>
        <p:nvSpPr>
          <p:cNvPr id="31" name="Text 29"/>
          <p:cNvSpPr/>
          <p:nvPr/>
        </p:nvSpPr>
        <p:spPr>
          <a:xfrm>
            <a:off x="2066544" y="36301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42,31</a:t>
            </a:r>
            <a:endParaRPr lang="en-US" sz="1190" dirty="0"/>
          </a:p>
        </p:txBody>
      </p:sp>
      <p:sp>
        <p:nvSpPr>
          <p:cNvPr id="32" name="Text 30"/>
          <p:cNvSpPr/>
          <p:nvPr/>
        </p:nvSpPr>
        <p:spPr>
          <a:xfrm>
            <a:off x="3255264" y="363016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90" dirty="0"/>
          </a:p>
        </p:txBody>
      </p:sp>
      <p:sp>
        <p:nvSpPr>
          <p:cNvPr id="33" name="Text 31"/>
          <p:cNvSpPr/>
          <p:nvPr/>
        </p:nvSpPr>
        <p:spPr>
          <a:xfrm>
            <a:off x="4681728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90" dirty="0"/>
          </a:p>
        </p:txBody>
      </p:sp>
      <p:sp>
        <p:nvSpPr>
          <p:cNvPr id="34" name="Text 32"/>
          <p:cNvSpPr/>
          <p:nvPr/>
        </p:nvSpPr>
        <p:spPr>
          <a:xfrm>
            <a:off x="6291072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90" dirty="0"/>
          </a:p>
        </p:txBody>
      </p:sp>
      <p:sp>
        <p:nvSpPr>
          <p:cNvPr id="35" name="Shape 33"/>
          <p:cNvSpPr/>
          <p:nvPr/>
        </p:nvSpPr>
        <p:spPr>
          <a:xfrm>
            <a:off x="512064" y="4069080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12064" y="40690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90" dirty="0"/>
          </a:p>
        </p:txBody>
      </p:sp>
      <p:sp>
        <p:nvSpPr>
          <p:cNvPr id="37" name="Text 35"/>
          <p:cNvSpPr/>
          <p:nvPr/>
        </p:nvSpPr>
        <p:spPr>
          <a:xfrm>
            <a:off x="2066544" y="40690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88,01</a:t>
            </a:r>
            <a:endParaRPr lang="en-US" sz="1190" dirty="0"/>
          </a:p>
        </p:txBody>
      </p:sp>
      <p:sp>
        <p:nvSpPr>
          <p:cNvPr id="38" name="Text 36"/>
          <p:cNvSpPr/>
          <p:nvPr/>
        </p:nvSpPr>
        <p:spPr>
          <a:xfrm>
            <a:off x="3255264" y="40690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90" dirty="0"/>
          </a:p>
        </p:txBody>
      </p:sp>
      <p:sp>
        <p:nvSpPr>
          <p:cNvPr id="39" name="Text 37"/>
          <p:cNvSpPr/>
          <p:nvPr/>
        </p:nvSpPr>
        <p:spPr>
          <a:xfrm>
            <a:off x="4681728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90" dirty="0"/>
          </a:p>
        </p:txBody>
      </p:sp>
      <p:sp>
        <p:nvSpPr>
          <p:cNvPr id="40" name="Text 38"/>
          <p:cNvSpPr/>
          <p:nvPr/>
        </p:nvSpPr>
        <p:spPr>
          <a:xfrm>
            <a:off x="6291072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90" dirty="0"/>
          </a:p>
        </p:txBody>
      </p:sp>
      <p:sp>
        <p:nvSpPr>
          <p:cNvPr id="41" name="Shape 39"/>
          <p:cNvSpPr/>
          <p:nvPr/>
        </p:nvSpPr>
        <p:spPr>
          <a:xfrm>
            <a:off x="512064" y="4507992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512064" y="450799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90" dirty="0"/>
          </a:p>
        </p:txBody>
      </p:sp>
      <p:sp>
        <p:nvSpPr>
          <p:cNvPr id="43" name="Text 41"/>
          <p:cNvSpPr/>
          <p:nvPr/>
        </p:nvSpPr>
        <p:spPr>
          <a:xfrm>
            <a:off x="2066544" y="450799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18,48</a:t>
            </a:r>
            <a:endParaRPr lang="en-US" sz="1190" dirty="0"/>
          </a:p>
        </p:txBody>
      </p:sp>
      <p:sp>
        <p:nvSpPr>
          <p:cNvPr id="44" name="Text 42"/>
          <p:cNvSpPr/>
          <p:nvPr/>
        </p:nvSpPr>
        <p:spPr>
          <a:xfrm>
            <a:off x="3255264" y="450799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90" dirty="0"/>
          </a:p>
        </p:txBody>
      </p:sp>
      <p:sp>
        <p:nvSpPr>
          <p:cNvPr id="45" name="Text 43"/>
          <p:cNvSpPr/>
          <p:nvPr/>
        </p:nvSpPr>
        <p:spPr>
          <a:xfrm>
            <a:off x="4681728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90" dirty="0"/>
          </a:p>
        </p:txBody>
      </p:sp>
      <p:sp>
        <p:nvSpPr>
          <p:cNvPr id="46" name="Text 44"/>
          <p:cNvSpPr/>
          <p:nvPr/>
        </p:nvSpPr>
        <p:spPr>
          <a:xfrm>
            <a:off x="6291072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90" dirty="0"/>
          </a:p>
        </p:txBody>
      </p:sp>
      <p:sp>
        <p:nvSpPr>
          <p:cNvPr id="47" name="Shape 45"/>
          <p:cNvSpPr/>
          <p:nvPr/>
        </p:nvSpPr>
        <p:spPr>
          <a:xfrm>
            <a:off x="512064" y="4946904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512064" y="494690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90" dirty="0"/>
          </a:p>
        </p:txBody>
      </p:sp>
      <p:sp>
        <p:nvSpPr>
          <p:cNvPr id="49" name="Text 47"/>
          <p:cNvSpPr/>
          <p:nvPr/>
        </p:nvSpPr>
        <p:spPr>
          <a:xfrm>
            <a:off x="2066544" y="494690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40,18</a:t>
            </a:r>
            <a:endParaRPr lang="en-US" sz="1190" dirty="0"/>
          </a:p>
        </p:txBody>
      </p:sp>
      <p:sp>
        <p:nvSpPr>
          <p:cNvPr id="50" name="Text 48"/>
          <p:cNvSpPr/>
          <p:nvPr/>
        </p:nvSpPr>
        <p:spPr>
          <a:xfrm>
            <a:off x="3255264" y="494690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90" dirty="0"/>
          </a:p>
        </p:txBody>
      </p:sp>
      <p:sp>
        <p:nvSpPr>
          <p:cNvPr id="51" name="Text 49"/>
          <p:cNvSpPr/>
          <p:nvPr/>
        </p:nvSpPr>
        <p:spPr>
          <a:xfrm>
            <a:off x="4681728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90" dirty="0"/>
          </a:p>
        </p:txBody>
      </p:sp>
      <p:sp>
        <p:nvSpPr>
          <p:cNvPr id="52" name="Text 50"/>
          <p:cNvSpPr/>
          <p:nvPr/>
        </p:nvSpPr>
        <p:spPr>
          <a:xfrm>
            <a:off x="6291072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512064" y="538581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4" name="Text 52"/>
          <p:cNvSpPr/>
          <p:nvPr/>
        </p:nvSpPr>
        <p:spPr>
          <a:xfrm>
            <a:off x="512064" y="53858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90" dirty="0"/>
          </a:p>
        </p:txBody>
      </p:sp>
      <p:sp>
        <p:nvSpPr>
          <p:cNvPr id="55" name="Text 53"/>
          <p:cNvSpPr/>
          <p:nvPr/>
        </p:nvSpPr>
        <p:spPr>
          <a:xfrm>
            <a:off x="2066544" y="538581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90" dirty="0"/>
          </a:p>
        </p:txBody>
      </p:sp>
      <p:sp>
        <p:nvSpPr>
          <p:cNvPr id="56" name="Text 54"/>
          <p:cNvSpPr/>
          <p:nvPr/>
        </p:nvSpPr>
        <p:spPr>
          <a:xfrm>
            <a:off x="3255264" y="538581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90" dirty="0"/>
          </a:p>
        </p:txBody>
      </p:sp>
      <p:sp>
        <p:nvSpPr>
          <p:cNvPr id="57" name="Text 55"/>
          <p:cNvSpPr/>
          <p:nvPr/>
        </p:nvSpPr>
        <p:spPr>
          <a:xfrm>
            <a:off x="4681728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90" dirty="0"/>
          </a:p>
        </p:txBody>
      </p:sp>
      <p:sp>
        <p:nvSpPr>
          <p:cNvPr id="58" name="Text 56"/>
          <p:cNvSpPr/>
          <p:nvPr/>
        </p:nvSpPr>
        <p:spPr>
          <a:xfrm>
            <a:off x="6291072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90" dirty="0"/>
          </a:p>
        </p:txBody>
      </p:sp>
      <p:sp>
        <p:nvSpPr>
          <p:cNvPr id="59" name="Text 57"/>
          <p:cNvSpPr/>
          <p:nvPr/>
        </p:nvSpPr>
        <p:spPr>
          <a:xfrm>
            <a:off x="502920" y="587959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0; METEOR chưa có KTC.</a:t>
            </a:r>
            <a:endParaRPr lang="en-US" sz="1280" dirty="0"/>
          </a:p>
        </p:txBody>
      </p:sp>
      <p:sp>
        <p:nvSpPr>
          <p:cNvPr id="60" name="Shape 5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4.5. Đối chiếu với bốn mô hình định vị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Để kiểm tra kết quả không phụ thuộc vào một mô hình định vị duy nhất, executability được tính lại bằng 4 mô hình: UGround, UI-Venus, Phi-Ground và Phi-4.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1051560" y="1572768"/>
            <a:ext cx="7040880" cy="50292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5727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3886200" y="1572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baseline S1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5715000" y="15727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3886200" y="207568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70" dirty="0"/>
          </a:p>
        </p:txBody>
      </p:sp>
      <p:sp>
        <p:nvSpPr>
          <p:cNvPr id="11" name="Text 9"/>
          <p:cNvSpPr/>
          <p:nvPr/>
        </p:nvSpPr>
        <p:spPr>
          <a:xfrm>
            <a:off x="5715000" y="207568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[+0,80; +2,33]</a:t>
            </a:r>
            <a:endParaRPr lang="en-US" sz="1370" dirty="0"/>
          </a:p>
        </p:txBody>
      </p:sp>
      <p:sp>
        <p:nvSpPr>
          <p:cNvPr id="12" name="Shape 10"/>
          <p:cNvSpPr/>
          <p:nvPr/>
        </p:nvSpPr>
        <p:spPr>
          <a:xfrm>
            <a:off x="1051560" y="2697480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051560" y="269748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70" dirty="0"/>
          </a:p>
        </p:txBody>
      </p:sp>
      <p:sp>
        <p:nvSpPr>
          <p:cNvPr id="14" name="Text 12"/>
          <p:cNvSpPr/>
          <p:nvPr/>
        </p:nvSpPr>
        <p:spPr>
          <a:xfrm>
            <a:off x="3886200" y="26974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5715000" y="2697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[+0,82; +2,30]</a:t>
            </a:r>
            <a:endParaRPr lang="en-US" sz="1370" dirty="0"/>
          </a:p>
        </p:txBody>
      </p:sp>
      <p:sp>
        <p:nvSpPr>
          <p:cNvPr id="16" name="Shape 14"/>
          <p:cNvSpPr/>
          <p:nvPr/>
        </p:nvSpPr>
        <p:spPr>
          <a:xfrm>
            <a:off x="1051560" y="3319272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051560" y="3319272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70" dirty="0"/>
          </a:p>
        </p:txBody>
      </p:sp>
      <p:sp>
        <p:nvSpPr>
          <p:cNvPr id="18" name="Text 16"/>
          <p:cNvSpPr/>
          <p:nvPr/>
        </p:nvSpPr>
        <p:spPr>
          <a:xfrm>
            <a:off x="3886200" y="33192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5715000" y="331927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[+0,05; +1,51]</a:t>
            </a:r>
            <a:endParaRPr lang="en-US" sz="1370" dirty="0"/>
          </a:p>
        </p:txBody>
      </p:sp>
      <p:sp>
        <p:nvSpPr>
          <p:cNvPr id="20" name="Shape 18"/>
          <p:cNvSpPr/>
          <p:nvPr/>
        </p:nvSpPr>
        <p:spPr>
          <a:xfrm>
            <a:off x="1051560" y="3941064"/>
            <a:ext cx="70408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051560" y="394106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886200" y="394106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70" dirty="0"/>
          </a:p>
        </p:txBody>
      </p:sp>
      <p:sp>
        <p:nvSpPr>
          <p:cNvPr id="23" name="Text 21"/>
          <p:cNvSpPr/>
          <p:nvPr/>
        </p:nvSpPr>
        <p:spPr>
          <a:xfrm>
            <a:off x="5715000" y="394106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[+0,02; +1,40]</a:t>
            </a:r>
            <a:endParaRPr lang="en-US" sz="1370" dirty="0"/>
          </a:p>
        </p:txBody>
      </p:sp>
      <p:sp>
        <p:nvSpPr>
          <p:cNvPr id="24" name="Shape 22"/>
          <p:cNvSpPr/>
          <p:nvPr/>
        </p:nvSpPr>
        <p:spPr>
          <a:xfrm>
            <a:off x="1005840" y="4663440"/>
            <a:ext cx="7132320" cy="76809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7008" y="4663440"/>
            <a:ext cx="67299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4 khoảng tin cậy đều nằm trên 0 → mức tăng không chỉ xuất hiện với một mô hình định vị.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4.6. Lịch sử do mô hình tự sinh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lịch sử do chính mô hình sinh, GRPO-SPICE vẫn cao hơn S1.</a:t>
            </a:r>
            <a:endParaRPr lang="en-US" sz="1630" dirty="0"/>
          </a:p>
        </p:txBody>
      </p:sp>
      <p:sp>
        <p:nvSpPr>
          <p:cNvPr id="5" name="Shape 3"/>
          <p:cNvSpPr/>
          <p:nvPr/>
        </p:nvSpPr>
        <p:spPr>
          <a:xfrm>
            <a:off x="105156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54,96%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07492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5780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005840" y="3977640"/>
            <a:ext cx="7132320" cy="93268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977640"/>
            <a:ext cx="6675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 điểm   ·   KTC 95% [+0,54; +2,43]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534009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vẫn còn khi các bước trước do chính mô hình tạo ra, gần hơn với tình huống sử dụng thực tế.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4.7. Chuyển miền sang AitZ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là bộ dữ liệu giao diện khác, dùng để kiểm tra khả năng chuyển miền.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32688" y="1490472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2898648" y="1563624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98648" y="1563624"/>
            <a:ext cx="36988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33488" y="14813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27685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2898648" y="2350008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2350008"/>
            <a:ext cx="4051594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2267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0632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2898648" y="3136392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3136392"/>
            <a:ext cx="3996916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30540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960120" y="3931920"/>
            <a:ext cx="72237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246120" y="393192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Chênh lệch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212080" y="393192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60120" y="43525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3246120" y="435254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+3,29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5212080" y="435254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[+1,51; +5,03]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960120" y="4864608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" y="48646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baseline S1</a:t>
            </a:r>
            <a:endParaRPr lang="en-US" sz="1260" dirty="0"/>
          </a:p>
        </p:txBody>
      </p:sp>
      <p:sp>
        <p:nvSpPr>
          <p:cNvPr id="26" name="Text 24"/>
          <p:cNvSpPr/>
          <p:nvPr/>
        </p:nvSpPr>
        <p:spPr>
          <a:xfrm>
            <a:off x="3246120" y="486460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260" dirty="0"/>
          </a:p>
        </p:txBody>
      </p:sp>
      <p:sp>
        <p:nvSpPr>
          <p:cNvPr id="27" name="Text 25"/>
          <p:cNvSpPr/>
          <p:nvPr/>
        </p:nvSpPr>
        <p:spPr>
          <a:xfrm>
            <a:off x="5212080" y="48646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[−1,39; +0,36]</a:t>
            </a:r>
            <a:endParaRPr lang="en-US" sz="1260" dirty="0"/>
          </a:p>
        </p:txBody>
      </p:sp>
      <p:sp>
        <p:nvSpPr>
          <p:cNvPr id="28" name="Text 26"/>
          <p:cNvSpPr/>
          <p:nvPr/>
        </p:nvSpPr>
        <p:spPr>
          <a:xfrm>
            <a:off x="502920" y="5532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vẫn cao hơn Base; GRPO-SPICE không khác rõ S1 về executability.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4.8. Ví dụ định tính</a:t>
            </a:r>
            <a:endParaRPr lang="en-US" sz="1820" dirty="0"/>
          </a:p>
        </p:txBody>
      </p:sp>
      <p:pic>
        <p:nvPicPr>
          <p:cNvPr id="4" name="Image 0" descr="/mnt/d/Master/Thesis/thesis/figures/fig_vidu_sp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68680"/>
            <a:ext cx="3886200" cy="44897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28032" y="987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cần thực hiện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983480" y="1389888"/>
            <a:ext cx="3310128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83480" y="1389888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Chạm nút “Not now”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828032" y="2468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983480" y="2816352"/>
            <a:ext cx="331012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2816352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nhầm “Allow”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sai phần tử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828032" y="40416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983480" y="4389120"/>
            <a:ext cx="3310128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389120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đúng “Not now”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đúng phần tử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02920" y="55961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họa trực tiếp ý nghĩa của executability: câu chuyển từ quy chiếu sai nút sang đúng nút cần chạm.</a:t>
            </a:r>
            <a:endParaRPr lang="en-US" sz="1380" dirty="0"/>
          </a:p>
        </p:txBody>
      </p:sp>
      <p:sp>
        <p:nvSpPr>
          <p:cNvPr id="15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4.9. Biến thiên giữa hai seed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ở cả hai seed, nhưng độ lớn mức tăng thay đổi theo seed.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572768"/>
            <a:ext cx="7763256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7276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90" dirty="0"/>
          </a:p>
        </p:txBody>
      </p:sp>
      <p:sp>
        <p:nvSpPr>
          <p:cNvPr id="7" name="Text 5"/>
          <p:cNvSpPr/>
          <p:nvPr/>
        </p:nvSpPr>
        <p:spPr>
          <a:xfrm>
            <a:off x="3611880" y="15727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101</a:t>
            </a:r>
            <a:endParaRPr lang="en-US" sz="1290" dirty="0"/>
          </a:p>
        </p:txBody>
      </p:sp>
      <p:sp>
        <p:nvSpPr>
          <p:cNvPr id="8" name="Text 6"/>
          <p:cNvSpPr/>
          <p:nvPr/>
        </p:nvSpPr>
        <p:spPr>
          <a:xfrm>
            <a:off x="5184648" y="15727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202</a:t>
            </a:r>
            <a:endParaRPr lang="en-US" sz="1290" dirty="0"/>
          </a:p>
        </p:txBody>
      </p:sp>
      <p:sp>
        <p:nvSpPr>
          <p:cNvPr id="9" name="Text 7"/>
          <p:cNvSpPr/>
          <p:nvPr/>
        </p:nvSpPr>
        <p:spPr>
          <a:xfrm>
            <a:off x="6757416" y="157276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(202 − 101)</a:t>
            </a:r>
            <a:endParaRPr lang="en-US" sz="1290" dirty="0"/>
          </a:p>
        </p:txBody>
      </p:sp>
      <p:sp>
        <p:nvSpPr>
          <p:cNvPr id="10" name="Text 8"/>
          <p:cNvSpPr/>
          <p:nvPr/>
        </p:nvSpPr>
        <p:spPr>
          <a:xfrm>
            <a:off x="822960" y="2084832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20848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84648" y="20848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57416" y="20848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798064"/>
            <a:ext cx="7763256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22960" y="279806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2798064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84648" y="2798064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59,94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57416" y="279806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−0,72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3511296"/>
            <a:ext cx="7763256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22960" y="351129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611880" y="3511296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5184648" y="3511296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+0,31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757416" y="3511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1005840" y="4663440"/>
            <a:ext cx="7132320" cy="87782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25296" y="4663440"/>
            <a:ext cx="6693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hai seed đều cùng hướng so với baseline S1; seed thứ hai cho mức tăng nhỏ hơn.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2029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tạo phần lớn mức tăng. ACE tiếp tục cải thiện chất lượng câu.</a:t>
            </a:r>
            <a:endParaRPr lang="en-US" sz="1530" dirty="0"/>
          </a:p>
        </p:txBody>
      </p:sp>
      <p:sp>
        <p:nvSpPr>
          <p:cNvPr id="7" name="Shape 5"/>
          <p:cNvSpPr/>
          <p:nvPr/>
        </p:nvSpPr>
        <p:spPr>
          <a:xfrm>
            <a:off x="3328416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5576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7016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khả năng xác định đúng phần tử và đúng thao tác.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144768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133502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73368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giữ khi đổi công cụ định vị, chạy lại mô hình, xét tác vụ mới và lịch sử tự sinh.</a:t>
            </a:r>
            <a:endParaRPr lang="en-US" sz="1510" dirty="0"/>
          </a:p>
        </p:txBody>
      </p:sp>
      <p:sp>
        <p:nvSpPr>
          <p:cNvPr id="13" name="Text 11"/>
          <p:cNvSpPr/>
          <p:nvPr/>
        </p:nvSpPr>
        <p:spPr>
          <a:xfrm>
            <a:off x="502920" y="49560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chính: phương pháp, độ đo và bằng chứng thực nghiệm.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5.2. Kết luận chung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38328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7B prompting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0175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80360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tăng +1,55 điểm trên tập kiểm chính và +4,58 điểm trên ACU.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" y="3858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721608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" y="47000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562856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468112"/>
            <a:ext cx="731520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468112"/>
            <a:ext cx="6876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[+0,80; +2,33]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[+0,82; +2,30]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[+0,05; +1,51]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[+0,02; +1,40]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tốt;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đúng;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2026-10-28T11:03:15Z</dcterms:created>
  <dcterms:modified xsi:type="dcterms:W3CDTF">2026-10-28T11:03:15Z</dcterms:modified>
</cp:coreProperties>
</file>