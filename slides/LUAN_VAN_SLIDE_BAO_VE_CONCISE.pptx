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03504"/>
          </a:xfrm>
          <a:prstGeom prst="rect">
            <a:avLst/>
          </a:prstGeom>
          <a:solidFill>
            <a:srgbClr val="191132"/>
          </a:solidFill>
          <a:ln w="12700">
            <a:solidFill>
              <a:srgbClr val="191132">
                <a:alpha val="0"/>
              </a:srgbClr>
            </a:solidFill>
            <a:prstDash val="solid"/>
          </a:ln>
        </p:spPr>
      </p:sp>
      <p:sp>
        <p:nvSpPr>
          <p:cNvPr id="3" name="Text 1"/>
          <p:cNvSpPr/>
          <p:nvPr/>
        </p:nvSpPr>
        <p:spPr>
          <a:xfrm>
            <a:off x="0" y="0"/>
            <a:ext cx="9144000" cy="603504"/>
          </a:xfrm>
          <a:prstGeom prst="rect">
            <a:avLst/>
          </a:prstGeom>
          <a:noFill/>
          <a:ln/>
        </p:spPr>
        <p:txBody>
          <a:bodyPr wrap="square" lIns="0" tIns="0" rIns="0" bIns="0" rtlCol="0" anchor="ctr"/>
          <a:lstStyle/>
          <a:p>
            <a:pPr algn="ctr" indent="0" marL="0">
              <a:lnSpc>
                <a:spcPct val="125000"/>
              </a:lnSpc>
              <a:buNone/>
            </a:pPr>
            <a:r>
              <a:rPr lang="en-US" sz="1400" b="1" dirty="0">
                <a:solidFill>
                  <a:srgbClr val="FFFFFF"/>
                </a:solidFill>
                <a:latin typeface="Cambria" pitchFamily="34" charset="0"/>
                <a:ea typeface="Cambria" pitchFamily="34" charset="-122"/>
                <a:cs typeface="Cambria" pitchFamily="34" charset="-120"/>
              </a:rPr>
              <a:t>ĐẠI HỌC QUỐC GIA TP. HỒ CHÍ MINH  -  TRƯỜNG ĐẠI HỌC KHOA HỌC TỰ NHIÊN</a:t>
            </a:r>
            <a:endParaRPr lang="en-US" sz="1400" dirty="0"/>
          </a:p>
        </p:txBody>
      </p:sp>
      <p:sp>
        <p:nvSpPr>
          <p:cNvPr id="4" name="Shape 2"/>
          <p:cNvSpPr/>
          <p:nvPr/>
        </p:nvSpPr>
        <p:spPr>
          <a:xfrm>
            <a:off x="731520" y="1078992"/>
            <a:ext cx="7680960" cy="2286000"/>
          </a:xfrm>
          <a:prstGeom prst="roundRect">
            <a:avLst/>
          </a:prstGeom>
          <a:solidFill>
            <a:srgbClr val="25194B"/>
          </a:solidFill>
          <a:ln w="12700">
            <a:solidFill>
              <a:srgbClr val="25194B">
                <a:alpha val="0"/>
              </a:srgbClr>
            </a:solidFill>
            <a:prstDash val="solid"/>
          </a:ln>
        </p:spPr>
      </p:sp>
      <p:sp>
        <p:nvSpPr>
          <p:cNvPr id="5" name="Text 3"/>
          <p:cNvSpPr/>
          <p:nvPr/>
        </p:nvSpPr>
        <p:spPr>
          <a:xfrm>
            <a:off x="731520" y="1325880"/>
            <a:ext cx="7680960" cy="320040"/>
          </a:xfrm>
          <a:prstGeom prst="rect">
            <a:avLst/>
          </a:prstGeom>
          <a:noFill/>
          <a:ln/>
        </p:spPr>
        <p:txBody>
          <a:bodyPr wrap="square" lIns="0" tIns="0" rIns="0" bIns="0" rtlCol="0" anchor="ctr"/>
          <a:lstStyle/>
          <a:p>
            <a:pPr algn="ctr" indent="0" marL="0">
              <a:lnSpc>
                <a:spcPct val="125000"/>
              </a:lnSpc>
              <a:buNone/>
            </a:pPr>
            <a:r>
              <a:rPr lang="en-US" sz="1400" b="1" dirty="0">
                <a:solidFill>
                  <a:srgbClr val="FFFFFF"/>
                </a:solidFill>
                <a:latin typeface="Cambria" pitchFamily="34" charset="0"/>
                <a:ea typeface="Cambria" pitchFamily="34" charset="-122"/>
                <a:cs typeface="Cambria" pitchFamily="34" charset="-120"/>
              </a:rPr>
              <a:t>LUẬN VĂN THẠC SĨ  -  NGÀNH TRÍ TUỆ NHÂN TẠO</a:t>
            </a:r>
            <a:endParaRPr lang="en-US" sz="1400" dirty="0"/>
          </a:p>
        </p:txBody>
      </p:sp>
      <p:sp>
        <p:nvSpPr>
          <p:cNvPr id="6" name="Text 4"/>
          <p:cNvSpPr/>
          <p:nvPr/>
        </p:nvSpPr>
        <p:spPr>
          <a:xfrm>
            <a:off x="868680" y="1792224"/>
            <a:ext cx="7406640" cy="1325880"/>
          </a:xfrm>
          <a:prstGeom prst="rect">
            <a:avLst/>
          </a:prstGeom>
          <a:noFill/>
          <a:ln/>
        </p:spPr>
        <p:txBody>
          <a:bodyPr wrap="square" lIns="0" tIns="0" rIns="0" bIns="0" rtlCol="0" anchor="ctr">
            <a:normAutofit/>
          </a:bodyPr>
          <a:lstStyle/>
          <a:p>
            <a:pPr algn="ctr" indent="0" marL="0">
              <a:lnSpc>
                <a:spcPct val="125000"/>
              </a:lnSpc>
              <a:buNone/>
            </a:pPr>
            <a:r>
              <a:rPr lang="en-US" sz="2100" b="1" dirty="0">
                <a:solidFill>
                  <a:srgbClr val="FFFFFF"/>
                </a:solidFill>
                <a:latin typeface="Cambria" pitchFamily="34" charset="0"/>
                <a:ea typeface="Cambria" pitchFamily="34" charset="-122"/>
                <a:cs typeface="Cambria" pitchFamily="34" charset="-120"/>
              </a:rPr>
              <a:t>PHÁT SINH TỰ ĐỘNG HƯỚNG DẪN SỬ DỤNG PHẦN MỀM</a:t>
            </a:r>
            <a:endParaRPr lang="en-US" sz="2100" dirty="0"/>
          </a:p>
          <a:p>
            <a:pPr algn="ctr" indent="0" marL="0">
              <a:lnSpc>
                <a:spcPct val="125000"/>
              </a:lnSpc>
              <a:buNone/>
            </a:pPr>
            <a:r>
              <a:rPr lang="en-US" sz="2100" b="1" dirty="0">
                <a:solidFill>
                  <a:srgbClr val="FFFFFF"/>
                </a:solidFill>
                <a:latin typeface="Cambria" pitchFamily="34" charset="0"/>
                <a:ea typeface="Cambria" pitchFamily="34" charset="-122"/>
                <a:cs typeface="Cambria" pitchFamily="34" charset="-120"/>
              </a:rPr>
              <a:t>DỰA TRÊN LLM TỪ CÁC TRƯỜNG HỢP SỬ DỤNG</a:t>
            </a:r>
            <a:endParaRPr lang="en-US" sz="2100" dirty="0"/>
          </a:p>
          <a:p>
            <a:pPr algn="ctr" indent="0" marL="0">
              <a:lnSpc>
                <a:spcPct val="125000"/>
              </a:lnSpc>
              <a:buNone/>
            </a:pPr>
            <a:r>
              <a:rPr lang="en-US" sz="2100" b="1" dirty="0">
                <a:solidFill>
                  <a:srgbClr val="FFFFFF"/>
                </a:solidFill>
                <a:latin typeface="Cambria" pitchFamily="34" charset="0"/>
                <a:ea typeface="Cambria" pitchFamily="34" charset="-122"/>
                <a:cs typeface="Cambria" pitchFamily="34" charset="-120"/>
              </a:rPr>
              <a:t>VÀ GIAO DIỆN NGƯỜI DÙNG</a:t>
            </a:r>
            <a:endParaRPr lang="en-US" sz="2100" dirty="0"/>
          </a:p>
        </p:txBody>
      </p:sp>
      <p:sp>
        <p:nvSpPr>
          <p:cNvPr id="7" name="Text 5"/>
          <p:cNvSpPr/>
          <p:nvPr/>
        </p:nvSpPr>
        <p:spPr>
          <a:xfrm>
            <a:off x="731520" y="4160520"/>
            <a:ext cx="7680960" cy="365760"/>
          </a:xfrm>
          <a:prstGeom prst="rect">
            <a:avLst/>
          </a:prstGeom>
          <a:noFill/>
          <a:ln/>
        </p:spPr>
        <p:txBody>
          <a:bodyPr wrap="square" lIns="0" tIns="0" rIns="0" bIns="0" rtlCol="0" anchor="ct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Học viên thực hiện: Lê Đoàn Phương Uyên</a:t>
            </a:r>
            <a:endParaRPr lang="en-US" sz="1600" dirty="0"/>
          </a:p>
        </p:txBody>
      </p:sp>
      <p:sp>
        <p:nvSpPr>
          <p:cNvPr id="8" name="Text 6"/>
          <p:cNvSpPr/>
          <p:nvPr/>
        </p:nvSpPr>
        <p:spPr>
          <a:xfrm>
            <a:off x="731520" y="4572000"/>
            <a:ext cx="7680960" cy="365760"/>
          </a:xfrm>
          <a:prstGeom prst="rect">
            <a:avLst/>
          </a:prstGeom>
          <a:noFill/>
          <a:ln/>
        </p:spPr>
        <p:txBody>
          <a:bodyPr wrap="square" lIns="0" tIns="0" rIns="0" bIns="0" rtlCol="0" anchor="ct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Giáo viên hướng dẫn: TS. Nguyễn Hồng Bửu Long</a:t>
            </a:r>
            <a:endParaRPr lang="en-US" sz="1600" dirty="0"/>
          </a:p>
        </p:txBody>
      </p:sp>
      <p:sp>
        <p:nvSpPr>
          <p:cNvPr id="9" name="Text 7"/>
          <p:cNvSpPr/>
          <p:nvPr/>
        </p:nvSpPr>
        <p:spPr>
          <a:xfrm>
            <a:off x="731520" y="5376672"/>
            <a:ext cx="7680960" cy="320040"/>
          </a:xfrm>
          <a:prstGeom prst="rect">
            <a:avLst/>
          </a:prstGeom>
          <a:noFill/>
          <a:ln/>
        </p:spPr>
        <p:txBody>
          <a:bodyPr wrap="square" lIns="0" tIns="0" rIns="0" bIns="0" rtlCol="0" anchor="ct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TP. Hồ Chí Minh - 2026</a:t>
            </a:r>
            <a:endParaRPr lang="en-US" sz="1300" dirty="0"/>
          </a:p>
        </p:txBody>
      </p:sp>
      <p:sp>
        <p:nvSpPr>
          <p:cNvPr id="10" name="Shape 8"/>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1" name="Shape 9"/>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2" name="Shape 10"/>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3" name="Shape 11"/>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4" name="Text 12"/>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5" name="Text 13"/>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16" name="Text 14"/>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17" name="Text 15"/>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1/25</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Giới thiệu</a:t>
            </a:r>
            <a:endParaRPr lang="en-US" sz="1820" dirty="0"/>
          </a:p>
        </p:txBody>
      </p:sp>
      <p:sp>
        <p:nvSpPr>
          <p:cNvPr id="4" name="Text 2"/>
          <p:cNvSpPr/>
          <p:nvPr/>
        </p:nvSpPr>
        <p:spPr>
          <a:xfrm>
            <a:off x="502920" y="603504"/>
            <a:ext cx="8138160" cy="219456"/>
          </a:xfrm>
          <a:prstGeom prst="rect">
            <a:avLst/>
          </a:prstGeom>
          <a:noFill/>
          <a:ln/>
        </p:spPr>
        <p:txBody>
          <a:bodyPr wrap="square" lIns="0" tIns="0" rIns="0" bIns="0" rtlCol="0" anchor="ctr">
            <a:normAutofit/>
          </a:bodyPr>
          <a:lstStyle/>
          <a:p>
            <a:pPr indent="0" marL="0">
              <a:lnSpc>
                <a:spcPct val="125000"/>
              </a:lnSpc>
              <a:buNone/>
            </a:pPr>
            <a:r>
              <a:rPr lang="en-US" sz="1260" b="1" dirty="0">
                <a:solidFill>
                  <a:srgbClr val="25194B"/>
                </a:solidFill>
                <a:latin typeface="Cambria" pitchFamily="34" charset="0"/>
                <a:ea typeface="Cambria" pitchFamily="34" charset="-122"/>
                <a:cs typeface="Cambria" pitchFamily="34" charset="-120"/>
              </a:rPr>
              <a:t>Bài toán</a:t>
            </a:r>
            <a:endParaRPr lang="en-US" sz="1260" dirty="0"/>
          </a:p>
        </p:txBody>
      </p:sp>
      <p:sp>
        <p:nvSpPr>
          <p:cNvPr id="5" name="Text 3"/>
          <p:cNvSpPr/>
          <p:nvPr/>
        </p:nvSpPr>
        <p:spPr>
          <a:xfrm>
            <a:off x="502920" y="896112"/>
            <a:ext cx="8138160" cy="566928"/>
          </a:xfrm>
          <a:prstGeom prst="rect">
            <a:avLst/>
          </a:prstGeom>
          <a:noFill/>
          <a:ln/>
        </p:spPr>
        <p:txBody>
          <a:bodyPr wrap="square" lIns="0" tIns="0" rIns="0" bIns="0" rtlCol="0" anchor="ctr">
            <a:normAutofit/>
          </a:bodyP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Từ trạng thái giao diện hiện tại, sinh một câu hướng dẫn để người dùng biết chính xác bước tiếp theo cần làm.</a:t>
            </a:r>
            <a:endParaRPr lang="en-US" sz="1700" dirty="0"/>
          </a:p>
        </p:txBody>
      </p:sp>
      <p:sp>
        <p:nvSpPr>
          <p:cNvPr id="6" name="Shape 4"/>
          <p:cNvSpPr/>
          <p:nvPr/>
        </p:nvSpPr>
        <p:spPr>
          <a:xfrm>
            <a:off x="594360" y="1847088"/>
            <a:ext cx="1874520" cy="868680"/>
          </a:xfrm>
          <a:prstGeom prst="roundRect">
            <a:avLst/>
          </a:prstGeom>
          <a:solidFill>
            <a:srgbClr val="F3F2F5"/>
          </a:solidFill>
          <a:ln w="12700">
            <a:solidFill>
              <a:srgbClr val="7A7099"/>
            </a:solidFill>
            <a:prstDash val="solid"/>
          </a:ln>
        </p:spPr>
      </p:sp>
      <p:sp>
        <p:nvSpPr>
          <p:cNvPr id="7" name="Text 5"/>
          <p:cNvSpPr/>
          <p:nvPr/>
        </p:nvSpPr>
        <p:spPr>
          <a:xfrm>
            <a:off x="594360" y="1847088"/>
            <a:ext cx="1874520" cy="868680"/>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Màn hình hiện tại</a:t>
            </a:r>
            <a:endParaRPr lang="en-US" sz="1600" dirty="0"/>
          </a:p>
        </p:txBody>
      </p:sp>
      <p:sp>
        <p:nvSpPr>
          <p:cNvPr id="8" name="Shape 6"/>
          <p:cNvSpPr/>
          <p:nvPr/>
        </p:nvSpPr>
        <p:spPr>
          <a:xfrm>
            <a:off x="2578608" y="2286000"/>
            <a:ext cx="438912" cy="0"/>
          </a:xfrm>
          <a:prstGeom prst="line">
            <a:avLst/>
          </a:prstGeom>
          <a:noFill/>
          <a:ln w="25400">
            <a:solidFill>
              <a:srgbClr val="4F417A"/>
            </a:solidFill>
            <a:prstDash val="solid"/>
            <a:tailEnd type="triangle"/>
          </a:ln>
        </p:spPr>
      </p:sp>
      <p:sp>
        <p:nvSpPr>
          <p:cNvPr id="9" name="Shape 7"/>
          <p:cNvSpPr/>
          <p:nvPr/>
        </p:nvSpPr>
        <p:spPr>
          <a:xfrm>
            <a:off x="3127248" y="1847088"/>
            <a:ext cx="1874520" cy="868680"/>
          </a:xfrm>
          <a:prstGeom prst="roundRect">
            <a:avLst/>
          </a:prstGeom>
          <a:solidFill>
            <a:srgbClr val="F3F2F5"/>
          </a:solidFill>
          <a:ln w="12700">
            <a:solidFill>
              <a:srgbClr val="25194B"/>
            </a:solidFill>
            <a:prstDash val="solid"/>
          </a:ln>
        </p:spPr>
      </p:sp>
      <p:sp>
        <p:nvSpPr>
          <p:cNvPr id="10" name="Text 8"/>
          <p:cNvSpPr/>
          <p:nvPr/>
        </p:nvSpPr>
        <p:spPr>
          <a:xfrm>
            <a:off x="3127248" y="1847088"/>
            <a:ext cx="1874520" cy="868680"/>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Mô hình sinh câu</a:t>
            </a:r>
            <a:endParaRPr lang="en-US" sz="1600" dirty="0"/>
          </a:p>
        </p:txBody>
      </p:sp>
      <p:sp>
        <p:nvSpPr>
          <p:cNvPr id="11" name="Shape 9"/>
          <p:cNvSpPr/>
          <p:nvPr/>
        </p:nvSpPr>
        <p:spPr>
          <a:xfrm>
            <a:off x="5111496" y="2286000"/>
            <a:ext cx="438912" cy="0"/>
          </a:xfrm>
          <a:prstGeom prst="line">
            <a:avLst/>
          </a:prstGeom>
          <a:noFill/>
          <a:ln w="25400">
            <a:solidFill>
              <a:srgbClr val="4F417A"/>
            </a:solidFill>
            <a:prstDash val="solid"/>
            <a:tailEnd type="triangle"/>
          </a:ln>
        </p:spPr>
      </p:sp>
      <p:sp>
        <p:nvSpPr>
          <p:cNvPr id="12" name="Shape 10"/>
          <p:cNvSpPr/>
          <p:nvPr/>
        </p:nvSpPr>
        <p:spPr>
          <a:xfrm>
            <a:off x="5669280" y="1719072"/>
            <a:ext cx="2697480" cy="1115568"/>
          </a:xfrm>
          <a:prstGeom prst="roundRect">
            <a:avLst/>
          </a:prstGeom>
          <a:solidFill>
            <a:srgbClr val="F3F2F5"/>
          </a:solidFill>
          <a:ln w="12700">
            <a:solidFill>
              <a:srgbClr val="4F417A"/>
            </a:solidFill>
            <a:prstDash val="solid"/>
          </a:ln>
        </p:spPr>
      </p:sp>
      <p:sp>
        <p:nvSpPr>
          <p:cNvPr id="13" name="Text 11"/>
          <p:cNvSpPr/>
          <p:nvPr/>
        </p:nvSpPr>
        <p:spPr>
          <a:xfrm>
            <a:off x="5669280" y="1719072"/>
            <a:ext cx="2697480" cy="1115568"/>
          </a:xfrm>
          <a:prstGeom prst="rect">
            <a:avLst/>
          </a:prstGeom>
          <a:noFill/>
          <a:ln/>
        </p:spPr>
        <p:txBody>
          <a:bodyPr wrap="square" lIns="0" tIns="0" rIns="0" bIns="0" rtlCol="0" anchor="ctr">
            <a:normAutofit/>
          </a:bodyPr>
          <a:lstStyle/>
          <a:p>
            <a:pPr algn="ctr" indent="0" marL="0">
              <a:lnSpc>
                <a:spcPct val="125000"/>
              </a:lnSpc>
              <a:buNone/>
            </a:pPr>
            <a:r>
              <a:rPr lang="en-US" sz="1700" b="1" dirty="0">
                <a:solidFill>
                  <a:srgbClr val="1A1A1A"/>
                </a:solidFill>
                <a:latin typeface="Cambria" pitchFamily="34" charset="0"/>
                <a:ea typeface="Cambria" pitchFamily="34" charset="-122"/>
                <a:cs typeface="Cambria" pitchFamily="34" charset="-120"/>
              </a:rPr>
              <a:t>“Chạm vào Not now”</a:t>
            </a:r>
            <a:endParaRPr lang="en-US" sz="1700" dirty="0"/>
          </a:p>
        </p:txBody>
      </p:sp>
      <p:sp>
        <p:nvSpPr>
          <p:cNvPr id="14" name="Text 12"/>
          <p:cNvSpPr/>
          <p:nvPr/>
        </p:nvSpPr>
        <p:spPr>
          <a:xfrm>
            <a:off x="502920" y="3383280"/>
            <a:ext cx="1005840" cy="320040"/>
          </a:xfrm>
          <a:prstGeom prst="rect">
            <a:avLst/>
          </a:prstGeom>
          <a:noFill/>
          <a:ln/>
        </p:spPr>
        <p:txBody>
          <a:bodyPr wrap="square" lIns="0" tIns="0" rIns="0" bIns="0" rtlCol="0" anchor="ctr"/>
          <a:lstStyle/>
          <a:p>
            <a:pPr indent="0" marL="0">
              <a:lnSpc>
                <a:spcPct val="125000"/>
              </a:lnSpc>
              <a:buNone/>
            </a:pPr>
            <a:r>
              <a:rPr lang="en-US" sz="1700" b="1" dirty="0">
                <a:solidFill>
                  <a:srgbClr val="25194B"/>
                </a:solidFill>
                <a:latin typeface="Cambria" pitchFamily="34" charset="0"/>
                <a:ea typeface="Cambria" pitchFamily="34" charset="-122"/>
                <a:cs typeface="Cambria" pitchFamily="34" charset="-120"/>
              </a:rPr>
              <a:t>Đầu vào</a:t>
            </a:r>
            <a:endParaRPr lang="en-US" sz="1700" dirty="0"/>
          </a:p>
        </p:txBody>
      </p:sp>
      <p:sp>
        <p:nvSpPr>
          <p:cNvPr id="15" name="Shape 13"/>
          <p:cNvSpPr/>
          <p:nvPr/>
        </p:nvSpPr>
        <p:spPr>
          <a:xfrm>
            <a:off x="521208" y="3886200"/>
            <a:ext cx="64008" cy="64008"/>
          </a:xfrm>
          <a:prstGeom prst="ellipse">
            <a:avLst/>
          </a:prstGeom>
          <a:solidFill>
            <a:srgbClr val="4F417A"/>
          </a:solidFill>
          <a:ln w="12700">
            <a:solidFill>
              <a:srgbClr val="4F417A">
                <a:alpha val="0"/>
              </a:srgbClr>
            </a:solidFill>
            <a:prstDash val="solid"/>
          </a:ln>
        </p:spPr>
      </p:sp>
      <p:sp>
        <p:nvSpPr>
          <p:cNvPr id="16" name="Text 14"/>
          <p:cNvSpPr/>
          <p:nvPr/>
        </p:nvSpPr>
        <p:spPr>
          <a:xfrm>
            <a:off x="713232" y="3749040"/>
            <a:ext cx="3675888" cy="420624"/>
          </a:xfrm>
          <a:prstGeom prst="rect">
            <a:avLst/>
          </a:prstGeom>
          <a:noFill/>
          <a:ln/>
        </p:spPr>
        <p:txBody>
          <a:bodyPr wrap="square" lIns="0" tIns="0" rIns="0" bIns="0" rtlCol="0" anchor="t">
            <a:normAutofit/>
          </a:bodyPr>
          <a:lstStyle/>
          <a:p>
            <a:pPr indent="0" marL="0">
              <a:lnSpc>
                <a:spcPct val="125000"/>
              </a:lnSpc>
              <a:buNone/>
            </a:pPr>
            <a:r>
              <a:rPr lang="en-US" sz="1450" dirty="0">
                <a:solidFill>
                  <a:srgbClr val="1A1A1A"/>
                </a:solidFill>
                <a:latin typeface="Cambria" pitchFamily="34" charset="0"/>
                <a:ea typeface="Cambria" pitchFamily="34" charset="-122"/>
                <a:cs typeface="Cambria" pitchFamily="34" charset="-120"/>
              </a:rPr>
              <a:t>Ảnh màn hình hiện tại</a:t>
            </a:r>
            <a:endParaRPr lang="en-US" sz="1450" dirty="0"/>
          </a:p>
        </p:txBody>
      </p:sp>
      <p:sp>
        <p:nvSpPr>
          <p:cNvPr id="17" name="Shape 15"/>
          <p:cNvSpPr/>
          <p:nvPr/>
        </p:nvSpPr>
        <p:spPr>
          <a:xfrm>
            <a:off x="521208" y="4389120"/>
            <a:ext cx="64008" cy="64008"/>
          </a:xfrm>
          <a:prstGeom prst="ellipse">
            <a:avLst/>
          </a:prstGeom>
          <a:solidFill>
            <a:srgbClr val="4F417A"/>
          </a:solidFill>
          <a:ln w="12700">
            <a:solidFill>
              <a:srgbClr val="4F417A">
                <a:alpha val="0"/>
              </a:srgbClr>
            </a:solidFill>
            <a:prstDash val="solid"/>
          </a:ln>
        </p:spPr>
      </p:sp>
      <p:sp>
        <p:nvSpPr>
          <p:cNvPr id="18" name="Text 16"/>
          <p:cNvSpPr/>
          <p:nvPr/>
        </p:nvSpPr>
        <p:spPr>
          <a:xfrm>
            <a:off x="713232" y="4251960"/>
            <a:ext cx="3675888" cy="420624"/>
          </a:xfrm>
          <a:prstGeom prst="rect">
            <a:avLst/>
          </a:prstGeom>
          <a:noFill/>
          <a:ln/>
        </p:spPr>
        <p:txBody>
          <a:bodyPr wrap="square" lIns="0" tIns="0" rIns="0" bIns="0" rtlCol="0" anchor="t">
            <a:normAutofit/>
          </a:bodyPr>
          <a:lstStyle/>
          <a:p>
            <a:pPr indent="0" marL="0">
              <a:lnSpc>
                <a:spcPct val="125000"/>
              </a:lnSpc>
              <a:buNone/>
            </a:pPr>
            <a:r>
              <a:rPr lang="en-US" sz="1450" dirty="0">
                <a:solidFill>
                  <a:srgbClr val="1A1A1A"/>
                </a:solidFill>
                <a:latin typeface="Cambria" pitchFamily="34" charset="0"/>
                <a:ea typeface="Cambria" pitchFamily="34" charset="-122"/>
                <a:cs typeface="Cambria" pitchFamily="34" charset="-120"/>
              </a:rPr>
              <a:t>Mục tiêu người dùng</a:t>
            </a:r>
            <a:endParaRPr lang="en-US" sz="1450" dirty="0"/>
          </a:p>
        </p:txBody>
      </p:sp>
      <p:sp>
        <p:nvSpPr>
          <p:cNvPr id="19" name="Shape 17"/>
          <p:cNvSpPr/>
          <p:nvPr/>
        </p:nvSpPr>
        <p:spPr>
          <a:xfrm>
            <a:off x="521208" y="4892040"/>
            <a:ext cx="64008" cy="64008"/>
          </a:xfrm>
          <a:prstGeom prst="ellipse">
            <a:avLst/>
          </a:prstGeom>
          <a:solidFill>
            <a:srgbClr val="4F417A"/>
          </a:solidFill>
          <a:ln w="12700">
            <a:solidFill>
              <a:srgbClr val="4F417A">
                <a:alpha val="0"/>
              </a:srgbClr>
            </a:solidFill>
            <a:prstDash val="solid"/>
          </a:ln>
        </p:spPr>
      </p:sp>
      <p:sp>
        <p:nvSpPr>
          <p:cNvPr id="20" name="Text 18"/>
          <p:cNvSpPr/>
          <p:nvPr/>
        </p:nvSpPr>
        <p:spPr>
          <a:xfrm>
            <a:off x="713232" y="4754880"/>
            <a:ext cx="3675888" cy="420624"/>
          </a:xfrm>
          <a:prstGeom prst="rect">
            <a:avLst/>
          </a:prstGeom>
          <a:noFill/>
          <a:ln/>
        </p:spPr>
        <p:txBody>
          <a:bodyPr wrap="square" lIns="0" tIns="0" rIns="0" bIns="0" rtlCol="0" anchor="t">
            <a:normAutofit/>
          </a:bodyPr>
          <a:lstStyle/>
          <a:p>
            <a:pPr indent="0" marL="0">
              <a:lnSpc>
                <a:spcPct val="125000"/>
              </a:lnSpc>
              <a:buNone/>
            </a:pPr>
            <a:r>
              <a:rPr lang="en-US" sz="1450" dirty="0">
                <a:solidFill>
                  <a:srgbClr val="1A1A1A"/>
                </a:solidFill>
                <a:latin typeface="Cambria" pitchFamily="34" charset="0"/>
                <a:ea typeface="Cambria" pitchFamily="34" charset="-122"/>
                <a:cs typeface="Cambria" pitchFamily="34" charset="-120"/>
              </a:rPr>
              <a:t>Lịch sử thao tác trước đó</a:t>
            </a:r>
            <a:endParaRPr lang="en-US" sz="1450" dirty="0"/>
          </a:p>
        </p:txBody>
      </p:sp>
      <p:sp>
        <p:nvSpPr>
          <p:cNvPr id="21" name="Shape 19"/>
          <p:cNvSpPr/>
          <p:nvPr/>
        </p:nvSpPr>
        <p:spPr>
          <a:xfrm>
            <a:off x="521208" y="5394960"/>
            <a:ext cx="64008" cy="64008"/>
          </a:xfrm>
          <a:prstGeom prst="ellipse">
            <a:avLst/>
          </a:prstGeom>
          <a:solidFill>
            <a:srgbClr val="4F417A"/>
          </a:solidFill>
          <a:ln w="12700">
            <a:solidFill>
              <a:srgbClr val="4F417A">
                <a:alpha val="0"/>
              </a:srgbClr>
            </a:solidFill>
            <a:prstDash val="solid"/>
          </a:ln>
        </p:spPr>
      </p:sp>
      <p:sp>
        <p:nvSpPr>
          <p:cNvPr id="22" name="Text 20"/>
          <p:cNvSpPr/>
          <p:nvPr/>
        </p:nvSpPr>
        <p:spPr>
          <a:xfrm>
            <a:off x="713232" y="5257800"/>
            <a:ext cx="3675888" cy="420624"/>
          </a:xfrm>
          <a:prstGeom prst="rect">
            <a:avLst/>
          </a:prstGeom>
          <a:noFill/>
          <a:ln/>
        </p:spPr>
        <p:txBody>
          <a:bodyPr wrap="square" lIns="0" tIns="0" rIns="0" bIns="0" rtlCol="0" anchor="t">
            <a:normAutofit/>
          </a:bodyPr>
          <a:lstStyle/>
          <a:p>
            <a:pPr indent="0" marL="0">
              <a:lnSpc>
                <a:spcPct val="125000"/>
              </a:lnSpc>
              <a:buNone/>
            </a:pPr>
            <a:r>
              <a:rPr lang="en-US" sz="1450" dirty="0">
                <a:solidFill>
                  <a:srgbClr val="1A1A1A"/>
                </a:solidFill>
                <a:latin typeface="Cambria" pitchFamily="34" charset="0"/>
                <a:ea typeface="Cambria" pitchFamily="34" charset="-122"/>
                <a:cs typeface="Cambria" pitchFamily="34" charset="-120"/>
              </a:rPr>
              <a:t>Thông tin OCR trên giao diện</a:t>
            </a:r>
            <a:endParaRPr lang="en-US" sz="1450" dirty="0"/>
          </a:p>
        </p:txBody>
      </p:sp>
      <p:sp>
        <p:nvSpPr>
          <p:cNvPr id="23" name="Shape 21"/>
          <p:cNvSpPr/>
          <p:nvPr/>
        </p:nvSpPr>
        <p:spPr>
          <a:xfrm>
            <a:off x="4709160" y="3456432"/>
            <a:ext cx="3840480" cy="1645920"/>
          </a:xfrm>
          <a:prstGeom prst="roundRect">
            <a:avLst/>
          </a:prstGeom>
          <a:solidFill>
            <a:srgbClr val="F3F2F5"/>
          </a:solidFill>
          <a:ln w="12700">
            <a:solidFill>
              <a:srgbClr val="7A7099"/>
            </a:solidFill>
            <a:prstDash val="solid"/>
          </a:ln>
        </p:spPr>
      </p:sp>
      <p:sp>
        <p:nvSpPr>
          <p:cNvPr id="24" name="Text 22"/>
          <p:cNvSpPr/>
          <p:nvPr/>
        </p:nvSpPr>
        <p:spPr>
          <a:xfrm>
            <a:off x="4937760" y="3703320"/>
            <a:ext cx="3383280" cy="32004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Đầu ra</a:t>
            </a:r>
            <a:endParaRPr lang="en-US" sz="1700" dirty="0"/>
          </a:p>
        </p:txBody>
      </p:sp>
      <p:sp>
        <p:nvSpPr>
          <p:cNvPr id="25" name="Text 23"/>
          <p:cNvSpPr/>
          <p:nvPr/>
        </p:nvSpPr>
        <p:spPr>
          <a:xfrm>
            <a:off x="4983480" y="4160520"/>
            <a:ext cx="3291840" cy="658368"/>
          </a:xfrm>
          <a:prstGeom prst="rect">
            <a:avLst/>
          </a:prstGeom>
          <a:noFill/>
          <a:ln/>
        </p:spPr>
        <p:txBody>
          <a:bodyPr wrap="square" lIns="0" tIns="0" rIns="0" bIns="0" rtlCol="0" anchor="ctr"/>
          <a:lstStyle/>
          <a:p>
            <a:pPr algn="ctr" indent="0" marL="0">
              <a:lnSpc>
                <a:spcPct val="125000"/>
              </a:lnSpc>
              <a:buNone/>
            </a:pPr>
            <a:r>
              <a:rPr lang="en-US" sz="1800" b="1" dirty="0">
                <a:solidFill>
                  <a:srgbClr val="1A1A1A"/>
                </a:solidFill>
                <a:latin typeface="Cambria" pitchFamily="34" charset="0"/>
                <a:ea typeface="Cambria" pitchFamily="34" charset="-122"/>
                <a:cs typeface="Cambria" pitchFamily="34" charset="-120"/>
              </a:rPr>
              <a:t>Một câu hướng dẫn cho</a:t>
            </a:r>
            <a:endParaRPr lang="en-US" sz="1800" dirty="0"/>
          </a:p>
          <a:p>
            <a:pPr algn="ctr" indent="0" marL="0">
              <a:lnSpc>
                <a:spcPct val="125000"/>
              </a:lnSpc>
              <a:buNone/>
            </a:pPr>
            <a:r>
              <a:rPr lang="en-US" sz="1800" b="1" dirty="0">
                <a:solidFill>
                  <a:srgbClr val="1A1A1A"/>
                </a:solidFill>
                <a:latin typeface="Cambria" pitchFamily="34" charset="0"/>
                <a:ea typeface="Cambria" pitchFamily="34" charset="-122"/>
                <a:cs typeface="Cambria" pitchFamily="34" charset="-120"/>
              </a:rPr>
              <a:t>bước tiếp theo</a:t>
            </a:r>
            <a:endParaRPr lang="en-US" sz="1800" dirty="0"/>
          </a:p>
        </p:txBody>
      </p:sp>
      <p:sp>
        <p:nvSpPr>
          <p:cNvPr id="26" name="Text 24"/>
          <p:cNvSpPr/>
          <p:nvPr/>
        </p:nvSpPr>
        <p:spPr>
          <a:xfrm>
            <a:off x="502920" y="5559552"/>
            <a:ext cx="8138160" cy="411480"/>
          </a:xfrm>
          <a:prstGeom prst="rect">
            <a:avLst/>
          </a:prstGeom>
          <a:noFill/>
          <a:ln/>
        </p:spPr>
        <p:txBody>
          <a:bodyPr wrap="square" lIns="0" tIns="0" rIns="0" bIns="0" rtlCol="0" anchor="ctr">
            <a:normAutofit/>
          </a:bodyPr>
          <a:lstStyle/>
          <a:p>
            <a:pPr algn="ctr" indent="0" marL="0">
              <a:lnSpc>
                <a:spcPct val="125000"/>
              </a:lnSpc>
              <a:buNone/>
            </a:pPr>
            <a:r>
              <a:rPr lang="en-US" sz="1450" b="1" dirty="0">
                <a:solidFill>
                  <a:srgbClr val="25194B"/>
                </a:solidFill>
                <a:latin typeface="Cambria" pitchFamily="34" charset="0"/>
                <a:ea typeface="Cambria" pitchFamily="34" charset="-122"/>
                <a:cs typeface="Cambria" pitchFamily="34" charset="-120"/>
              </a:rPr>
              <a:t>Đầu ra của luận văn là câu hướng dẫn cho người dùng, không phải tọa độ để agent tự thao tác.</a:t>
            </a:r>
            <a:endParaRPr lang="en-US" sz="1450" dirty="0"/>
          </a:p>
        </p:txBody>
      </p:sp>
      <p:sp>
        <p:nvSpPr>
          <p:cNvPr id="27" name="Text 25"/>
          <p:cNvSpPr/>
          <p:nvPr/>
        </p:nvSpPr>
        <p:spPr>
          <a:xfrm>
            <a:off x="502920" y="6327648"/>
            <a:ext cx="8138160" cy="137160"/>
          </a:xfrm>
          <a:prstGeom prst="rect">
            <a:avLst/>
          </a:prstGeom>
          <a:noFill/>
          <a:ln/>
        </p:spPr>
        <p:txBody>
          <a:bodyPr wrap="square" lIns="0" tIns="0" rIns="0" bIns="0" rtlCol="0" anchor="ctr"/>
          <a:lstStyle/>
          <a:p>
            <a:pPr algn="r" indent="0" marL="0">
              <a:lnSpc>
                <a:spcPct val="125000"/>
              </a:lnSpc>
              <a:buNone/>
            </a:pPr>
            <a:r>
              <a:rPr lang="en-US" sz="800" i="1" dirty="0">
                <a:solidFill>
                  <a:srgbClr val="5A5A66"/>
                </a:solidFill>
                <a:latin typeface="Cambria" pitchFamily="34" charset="0"/>
                <a:ea typeface="Cambria" pitchFamily="34" charset="-122"/>
                <a:cs typeface="Cambria" pitchFamily="34" charset="-120"/>
              </a:rPr>
              <a:t>Luận văn §1.2–§1.3</a:t>
            </a:r>
            <a:endParaRPr lang="en-US" sz="800" dirty="0"/>
          </a:p>
        </p:txBody>
      </p:sp>
      <p:sp>
        <p:nvSpPr>
          <p:cNvPr id="28" name="Shape 26"/>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9" name="Shape 27"/>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30" name="Shape 28"/>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31" name="Shape 29"/>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32" name="Text 30"/>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3" name="Text 31"/>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4" name="Text 32"/>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5" name="Text 33"/>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2/25</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Giới thiệu</a:t>
            </a:r>
            <a:endParaRPr lang="en-US" sz="1820" dirty="0"/>
          </a:p>
        </p:txBody>
      </p:sp>
      <p:sp>
        <p:nvSpPr>
          <p:cNvPr id="4" name="Text 2"/>
          <p:cNvSpPr/>
          <p:nvPr/>
        </p:nvSpPr>
        <p:spPr>
          <a:xfrm>
            <a:off x="502920" y="603504"/>
            <a:ext cx="8138160" cy="219456"/>
          </a:xfrm>
          <a:prstGeom prst="rect">
            <a:avLst/>
          </a:prstGeom>
          <a:noFill/>
          <a:ln/>
        </p:spPr>
        <p:txBody>
          <a:bodyPr wrap="square" lIns="0" tIns="0" rIns="0" bIns="0" rtlCol="0" anchor="ctr">
            <a:normAutofit/>
          </a:bodyPr>
          <a:lstStyle/>
          <a:p>
            <a:pPr indent="0" marL="0">
              <a:lnSpc>
                <a:spcPct val="125000"/>
              </a:lnSpc>
              <a:buNone/>
            </a:pPr>
            <a:r>
              <a:rPr lang="en-US" sz="1260" b="1" dirty="0">
                <a:solidFill>
                  <a:srgbClr val="25194B"/>
                </a:solidFill>
                <a:latin typeface="Cambria" pitchFamily="34" charset="0"/>
                <a:ea typeface="Cambria" pitchFamily="34" charset="-122"/>
                <a:cs typeface="Cambria" pitchFamily="34" charset="-120"/>
              </a:rPr>
              <a:t>Yêu cầu của câu hướng dẫn</a:t>
            </a:r>
            <a:endParaRPr lang="en-US" sz="1260" dirty="0"/>
          </a:p>
        </p:txBody>
      </p:sp>
      <p:sp>
        <p:nvSpPr>
          <p:cNvPr id="5" name="Text 3"/>
          <p:cNvSpPr/>
          <p:nvPr/>
        </p:nvSpPr>
        <p:spPr>
          <a:xfrm>
            <a:off x="502920" y="914400"/>
            <a:ext cx="8138160" cy="530352"/>
          </a:xfrm>
          <a:prstGeom prst="rect">
            <a:avLst/>
          </a:prstGeom>
          <a:noFill/>
          <a:ln/>
        </p:spPr>
        <p:txBody>
          <a:bodyPr wrap="square" lIns="0" tIns="0" rIns="0" bIns="0" rtlCol="0" anchor="ctr">
            <a:normAutofit/>
          </a:bodyP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Một câu nghe hoàn toàn tự nhiên vẫn có thể không đủ thông tin để người dùng chọn đúng phần tử.</a:t>
            </a:r>
            <a:endParaRPr lang="en-US" sz="1700" dirty="0"/>
          </a:p>
        </p:txBody>
      </p:sp>
      <p:sp>
        <p:nvSpPr>
          <p:cNvPr id="6" name="Shape 4"/>
          <p:cNvSpPr/>
          <p:nvPr/>
        </p:nvSpPr>
        <p:spPr>
          <a:xfrm>
            <a:off x="502920" y="1783080"/>
            <a:ext cx="3794760" cy="2514600"/>
          </a:xfrm>
          <a:prstGeom prst="roundRect">
            <a:avLst/>
          </a:prstGeom>
          <a:solidFill>
            <a:srgbClr val="F3F2F5"/>
          </a:solidFill>
          <a:ln w="12700">
            <a:solidFill>
              <a:srgbClr val="7A7099"/>
            </a:solidFill>
            <a:prstDash val="solid"/>
          </a:ln>
        </p:spPr>
      </p:sp>
      <p:sp>
        <p:nvSpPr>
          <p:cNvPr id="7" name="Text 5"/>
          <p:cNvSpPr/>
          <p:nvPr/>
        </p:nvSpPr>
        <p:spPr>
          <a:xfrm>
            <a:off x="685800" y="2011680"/>
            <a:ext cx="3429000" cy="32004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Câu mơ hồ</a:t>
            </a:r>
            <a:endParaRPr lang="en-US" sz="1700" dirty="0"/>
          </a:p>
        </p:txBody>
      </p:sp>
      <p:sp>
        <p:nvSpPr>
          <p:cNvPr id="8" name="Text 6"/>
          <p:cNvSpPr/>
          <p:nvPr/>
        </p:nvSpPr>
        <p:spPr>
          <a:xfrm>
            <a:off x="731520" y="2743200"/>
            <a:ext cx="3337560" cy="438912"/>
          </a:xfrm>
          <a:prstGeom prst="rect">
            <a:avLst/>
          </a:prstGeom>
          <a:noFill/>
          <a:ln/>
        </p:spPr>
        <p:txBody>
          <a:bodyPr wrap="square" lIns="0" tIns="0" rIns="0" bIns="0" rtlCol="0" anchor="ctr"/>
          <a:lstStyle/>
          <a:p>
            <a:pPr algn="ctr" indent="0" marL="0">
              <a:lnSpc>
                <a:spcPct val="125000"/>
              </a:lnSpc>
              <a:buNone/>
            </a:pPr>
            <a:r>
              <a:rPr lang="en-US" sz="1900" i="1" dirty="0">
                <a:solidFill>
                  <a:srgbClr val="7A7099"/>
                </a:solidFill>
                <a:latin typeface="Cambria" pitchFamily="34" charset="0"/>
                <a:ea typeface="Cambria" pitchFamily="34" charset="-122"/>
                <a:cs typeface="Cambria" pitchFamily="34" charset="-120"/>
              </a:rPr>
              <a:t>“Tap the button.”</a:t>
            </a:r>
            <a:endParaRPr lang="en-US" sz="1900" dirty="0"/>
          </a:p>
        </p:txBody>
      </p:sp>
      <p:sp>
        <p:nvSpPr>
          <p:cNvPr id="9" name="Text 7"/>
          <p:cNvSpPr/>
          <p:nvPr/>
        </p:nvSpPr>
        <p:spPr>
          <a:xfrm>
            <a:off x="777240" y="3429000"/>
            <a:ext cx="3246120" cy="640080"/>
          </a:xfrm>
          <a:prstGeom prst="rect">
            <a:avLst/>
          </a:prstGeom>
          <a:noFill/>
          <a:ln/>
        </p:spPr>
        <p:txBody>
          <a:bodyPr wrap="square" lIns="0" tIns="0" rIns="0" bIns="0" rtlCol="0" anchor="ctr">
            <a:normAutofit/>
          </a:bodyPr>
          <a:lstStyle/>
          <a:p>
            <a:pPr algn="ctr" indent="0" marL="0">
              <a:lnSpc>
                <a:spcPct val="125000"/>
              </a:lnSpc>
              <a:buNone/>
            </a:pPr>
            <a:r>
              <a:rPr lang="en-US" sz="1500" dirty="0">
                <a:solidFill>
                  <a:srgbClr val="1A1A1A"/>
                </a:solidFill>
                <a:latin typeface="Cambria" pitchFamily="34" charset="0"/>
                <a:ea typeface="Cambria" pitchFamily="34" charset="-122"/>
                <a:cs typeface="Cambria" pitchFamily="34" charset="-120"/>
              </a:rPr>
              <a:t>Không biết phải chạm nút nào khi màn hình có nhiều nút.</a:t>
            </a:r>
            <a:endParaRPr lang="en-US" sz="1500" dirty="0"/>
          </a:p>
        </p:txBody>
      </p:sp>
      <p:sp>
        <p:nvSpPr>
          <p:cNvPr id="10" name="Shape 8"/>
          <p:cNvSpPr/>
          <p:nvPr/>
        </p:nvSpPr>
        <p:spPr>
          <a:xfrm>
            <a:off x="4846320" y="1783080"/>
            <a:ext cx="3794760" cy="2514600"/>
          </a:xfrm>
          <a:prstGeom prst="roundRect">
            <a:avLst/>
          </a:prstGeom>
          <a:solidFill>
            <a:srgbClr val="F3F2F5"/>
          </a:solidFill>
          <a:ln w="12700">
            <a:solidFill>
              <a:srgbClr val="4F417A"/>
            </a:solidFill>
            <a:prstDash val="solid"/>
          </a:ln>
        </p:spPr>
      </p:sp>
      <p:sp>
        <p:nvSpPr>
          <p:cNvPr id="11" name="Text 9"/>
          <p:cNvSpPr/>
          <p:nvPr/>
        </p:nvSpPr>
        <p:spPr>
          <a:xfrm>
            <a:off x="5029200" y="2011680"/>
            <a:ext cx="3429000" cy="32004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Câu đủ rõ</a:t>
            </a:r>
            <a:endParaRPr lang="en-US" sz="1700" dirty="0"/>
          </a:p>
        </p:txBody>
      </p:sp>
      <p:sp>
        <p:nvSpPr>
          <p:cNvPr id="12" name="Text 10"/>
          <p:cNvSpPr/>
          <p:nvPr/>
        </p:nvSpPr>
        <p:spPr>
          <a:xfrm>
            <a:off x="5074920" y="2743200"/>
            <a:ext cx="3337560" cy="438912"/>
          </a:xfrm>
          <a:prstGeom prst="rect">
            <a:avLst/>
          </a:prstGeom>
          <a:noFill/>
          <a:ln/>
        </p:spPr>
        <p:txBody>
          <a:bodyPr wrap="square" lIns="0" tIns="0" rIns="0" bIns="0" rtlCol="0" anchor="ctr"/>
          <a:lstStyle/>
          <a:p>
            <a:pPr algn="ctr" indent="0" marL="0">
              <a:lnSpc>
                <a:spcPct val="125000"/>
              </a:lnSpc>
              <a:buNone/>
            </a:pPr>
            <a:r>
              <a:rPr lang="en-US" sz="1900" i="1" dirty="0">
                <a:solidFill>
                  <a:srgbClr val="4F417A"/>
                </a:solidFill>
                <a:latin typeface="Cambria" pitchFamily="34" charset="0"/>
                <a:ea typeface="Cambria" pitchFamily="34" charset="-122"/>
                <a:cs typeface="Cambria" pitchFamily="34" charset="-120"/>
              </a:rPr>
              <a:t>“Tap Not now.”</a:t>
            </a:r>
            <a:endParaRPr lang="en-US" sz="1900" dirty="0"/>
          </a:p>
        </p:txBody>
      </p:sp>
      <p:sp>
        <p:nvSpPr>
          <p:cNvPr id="13" name="Text 11"/>
          <p:cNvSpPr/>
          <p:nvPr/>
        </p:nvSpPr>
        <p:spPr>
          <a:xfrm>
            <a:off x="5120640" y="3429000"/>
            <a:ext cx="3246120" cy="640080"/>
          </a:xfrm>
          <a:prstGeom prst="rect">
            <a:avLst/>
          </a:prstGeom>
          <a:noFill/>
          <a:ln/>
        </p:spPr>
        <p:txBody>
          <a:bodyPr wrap="square" lIns="0" tIns="0" rIns="0" bIns="0" rtlCol="0" anchor="ct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Chỉ ra đúng phần tử cần thao tác.</a:t>
            </a:r>
            <a:endParaRPr lang="en-US" sz="1500" dirty="0"/>
          </a:p>
        </p:txBody>
      </p:sp>
      <p:sp>
        <p:nvSpPr>
          <p:cNvPr id="14" name="Text 12"/>
          <p:cNvSpPr/>
          <p:nvPr/>
        </p:nvSpPr>
        <p:spPr>
          <a:xfrm>
            <a:off x="502920" y="4864608"/>
            <a:ext cx="8138160" cy="640080"/>
          </a:xfrm>
          <a:prstGeom prst="rect">
            <a:avLst/>
          </a:prstGeom>
          <a:noFill/>
          <a:ln/>
        </p:spPr>
        <p:txBody>
          <a:bodyPr wrap="square" lIns="0" tIns="0" rIns="0" bIns="0" rtlCol="0" anchor="ctr">
            <a:normAutofit/>
          </a:bodyPr>
          <a:lstStyle/>
          <a:p>
            <a:pPr algn="ctr" indent="0" marL="0">
              <a:lnSpc>
                <a:spcPct val="125000"/>
              </a:lnSpc>
              <a:buNone/>
            </a:pPr>
            <a:r>
              <a:rPr lang="en-US" sz="1550" b="1" dirty="0">
                <a:solidFill>
                  <a:srgbClr val="25194B"/>
                </a:solidFill>
                <a:latin typeface="Cambria" pitchFamily="34" charset="0"/>
                <a:ea typeface="Cambria" pitchFamily="34" charset="-122"/>
                <a:cs typeface="Cambria" pitchFamily="34" charset="-120"/>
              </a:rPr>
              <a:t>Vì vậy, câu hướng dẫn không chỉ cần đúng nội dung mà còn phải phân biệt được đúng phần tử cần thao tác.</a:t>
            </a:r>
            <a:endParaRPr lang="en-US" sz="1550" dirty="0"/>
          </a:p>
        </p:txBody>
      </p:sp>
      <p:sp>
        <p:nvSpPr>
          <p:cNvPr id="15" name="Text 13"/>
          <p:cNvSpPr/>
          <p:nvPr/>
        </p:nvSpPr>
        <p:spPr>
          <a:xfrm>
            <a:off x="502920" y="6327648"/>
            <a:ext cx="8138160" cy="137160"/>
          </a:xfrm>
          <a:prstGeom prst="rect">
            <a:avLst/>
          </a:prstGeom>
          <a:noFill/>
          <a:ln/>
        </p:spPr>
        <p:txBody>
          <a:bodyPr wrap="square" lIns="0" tIns="0" rIns="0" bIns="0" rtlCol="0" anchor="ctr"/>
          <a:lstStyle/>
          <a:p>
            <a:pPr algn="r" indent="0" marL="0">
              <a:lnSpc>
                <a:spcPct val="125000"/>
              </a:lnSpc>
              <a:buNone/>
            </a:pPr>
            <a:r>
              <a:rPr lang="en-US" sz="800" i="1" dirty="0">
                <a:solidFill>
                  <a:srgbClr val="5A5A66"/>
                </a:solidFill>
                <a:latin typeface="Cambria" pitchFamily="34" charset="0"/>
                <a:ea typeface="Cambria" pitchFamily="34" charset="-122"/>
                <a:cs typeface="Cambria" pitchFamily="34" charset="-120"/>
              </a:rPr>
              <a:t>Luận văn Chương 1</a:t>
            </a:r>
            <a:endParaRPr lang="en-US" sz="800" dirty="0"/>
          </a:p>
        </p:txBody>
      </p:sp>
      <p:sp>
        <p:nvSpPr>
          <p:cNvPr id="16" name="Shape 14"/>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7" name="Shape 15"/>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8" name="Shape 16"/>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9" name="Shape 17"/>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0" name="Text 18"/>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1" name="Text 19"/>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2" name="Text 20"/>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3" name="Text 21"/>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3/25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Tổng quan</a:t>
            </a:r>
            <a:endParaRPr lang="en-US" sz="1820" dirty="0"/>
          </a:p>
        </p:txBody>
      </p:sp>
      <p:sp>
        <p:nvSpPr>
          <p:cNvPr id="4" name="Text 2"/>
          <p:cNvSpPr/>
          <p:nvPr/>
        </p:nvSpPr>
        <p:spPr>
          <a:xfrm>
            <a:off x="502920" y="603504"/>
            <a:ext cx="8138160" cy="219456"/>
          </a:xfrm>
          <a:prstGeom prst="rect">
            <a:avLst/>
          </a:prstGeom>
          <a:noFill/>
          <a:ln/>
        </p:spPr>
        <p:txBody>
          <a:bodyPr wrap="square" lIns="0" tIns="0" rIns="0" bIns="0" rtlCol="0" anchor="ctr">
            <a:normAutofit/>
          </a:bodyPr>
          <a:lstStyle/>
          <a:p>
            <a:pPr indent="0" marL="0">
              <a:lnSpc>
                <a:spcPct val="125000"/>
              </a:lnSpc>
              <a:buNone/>
            </a:pPr>
            <a:r>
              <a:rPr lang="en-US" sz="1260" b="1" dirty="0">
                <a:solidFill>
                  <a:srgbClr val="25194B"/>
                </a:solidFill>
                <a:latin typeface="Cambria" pitchFamily="34" charset="0"/>
                <a:ea typeface="Cambria" pitchFamily="34" charset="-122"/>
                <a:cs typeface="Cambria" pitchFamily="34" charset="-120"/>
              </a:rPr>
              <a:t>Hạn chế của độ tương đồng</a:t>
            </a:r>
            <a:endParaRPr lang="en-US" sz="1260" dirty="0"/>
          </a:p>
        </p:txBody>
      </p:sp>
      <p:sp>
        <p:nvSpPr>
          <p:cNvPr id="5" name="Text 3"/>
          <p:cNvSpPr/>
          <p:nvPr/>
        </p:nvSpPr>
        <p:spPr>
          <a:xfrm>
            <a:off x="502920" y="914400"/>
            <a:ext cx="8138160" cy="50292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Các thước đo dựa trên câu chuẩn và executability phản ánh hai khía cạnh bổ sung cho nhau.</a:t>
            </a:r>
            <a:endParaRPr lang="en-US" sz="1700" dirty="0"/>
          </a:p>
        </p:txBody>
      </p:sp>
      <p:sp>
        <p:nvSpPr>
          <p:cNvPr id="6" name="Shape 4"/>
          <p:cNvSpPr/>
          <p:nvPr/>
        </p:nvSpPr>
        <p:spPr>
          <a:xfrm>
            <a:off x="640080" y="1874520"/>
            <a:ext cx="2331720" cy="1097280"/>
          </a:xfrm>
          <a:prstGeom prst="roundRect">
            <a:avLst/>
          </a:prstGeom>
          <a:solidFill>
            <a:srgbClr val="F3F2F5"/>
          </a:solidFill>
          <a:ln w="12700">
            <a:solidFill>
              <a:srgbClr val="7A7099"/>
            </a:solidFill>
            <a:prstDash val="solid"/>
          </a:ln>
        </p:spPr>
      </p:sp>
      <p:sp>
        <p:nvSpPr>
          <p:cNvPr id="7" name="Text 5"/>
          <p:cNvSpPr/>
          <p:nvPr/>
        </p:nvSpPr>
        <p:spPr>
          <a:xfrm>
            <a:off x="640080" y="1874520"/>
            <a:ext cx="2331720" cy="1097280"/>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BLEU / ROUGE</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Đo mức giống câu chuẩn</a:t>
            </a:r>
            <a:endParaRPr lang="en-US" sz="1500" dirty="0"/>
          </a:p>
        </p:txBody>
      </p:sp>
      <p:sp>
        <p:nvSpPr>
          <p:cNvPr id="8" name="Shape 6"/>
          <p:cNvSpPr/>
          <p:nvPr/>
        </p:nvSpPr>
        <p:spPr>
          <a:xfrm>
            <a:off x="3401568" y="1874520"/>
            <a:ext cx="2331720" cy="1097280"/>
          </a:xfrm>
          <a:prstGeom prst="roundRect">
            <a:avLst/>
          </a:prstGeom>
          <a:solidFill>
            <a:srgbClr val="F3F2F5"/>
          </a:solidFill>
          <a:ln w="12700">
            <a:solidFill>
              <a:srgbClr val="7A7099"/>
            </a:solidFill>
            <a:prstDash val="solid"/>
          </a:ln>
        </p:spPr>
      </p:sp>
      <p:sp>
        <p:nvSpPr>
          <p:cNvPr id="9" name="Text 7"/>
          <p:cNvSpPr/>
          <p:nvPr/>
        </p:nvSpPr>
        <p:spPr>
          <a:xfrm>
            <a:off x="3401568" y="1874520"/>
            <a:ext cx="2331720" cy="1097280"/>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SPICE / CIDEr</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Đo tương đồng nội dung</a:t>
            </a:r>
            <a:endParaRPr lang="en-US" sz="1500" dirty="0"/>
          </a:p>
        </p:txBody>
      </p:sp>
      <p:sp>
        <p:nvSpPr>
          <p:cNvPr id="10" name="Shape 8"/>
          <p:cNvSpPr/>
          <p:nvPr/>
        </p:nvSpPr>
        <p:spPr>
          <a:xfrm>
            <a:off x="6172200" y="1691640"/>
            <a:ext cx="2331720" cy="1463040"/>
          </a:xfrm>
          <a:prstGeom prst="roundRect">
            <a:avLst/>
          </a:prstGeom>
          <a:solidFill>
            <a:srgbClr val="F3F2F5"/>
          </a:solidFill>
          <a:ln w="12700">
            <a:solidFill>
              <a:srgbClr val="4F417A"/>
            </a:solidFill>
            <a:prstDash val="solid"/>
          </a:ln>
        </p:spPr>
      </p:sp>
      <p:sp>
        <p:nvSpPr>
          <p:cNvPr id="11" name="Text 9"/>
          <p:cNvSpPr/>
          <p:nvPr/>
        </p:nvSpPr>
        <p:spPr>
          <a:xfrm>
            <a:off x="6172200" y="1691640"/>
            <a:ext cx="2331720" cy="1463040"/>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Executability</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Xác định đúng phần tử</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và đúng loại thao tác</a:t>
            </a:r>
            <a:endParaRPr lang="en-US" sz="1500" dirty="0"/>
          </a:p>
        </p:txBody>
      </p:sp>
      <p:sp>
        <p:nvSpPr>
          <p:cNvPr id="12" name="Text 10"/>
          <p:cNvSpPr/>
          <p:nvPr/>
        </p:nvSpPr>
        <p:spPr>
          <a:xfrm>
            <a:off x="502920" y="4160520"/>
            <a:ext cx="8138160" cy="640080"/>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25194B"/>
                </a:solidFill>
                <a:latin typeface="Cambria" pitchFamily="34" charset="0"/>
                <a:ea typeface="Cambria" pitchFamily="34" charset="-122"/>
                <a:cs typeface="Cambria" pitchFamily="34" charset="-120"/>
              </a:rPr>
              <a:t>Do đó, luận văn đánh giá cả mức tương đồng với câu chuẩn và khả năng xác định đúng phần tử, đúng loại thao tác.</a:t>
            </a:r>
            <a:endParaRPr lang="en-US" sz="1600" dirty="0"/>
          </a:p>
        </p:txBody>
      </p:sp>
      <p:sp>
        <p:nvSpPr>
          <p:cNvPr id="13" name="Text 11"/>
          <p:cNvSpPr/>
          <p:nvPr/>
        </p:nvSpPr>
        <p:spPr>
          <a:xfrm>
            <a:off x="502920" y="6327648"/>
            <a:ext cx="8138160" cy="137160"/>
          </a:xfrm>
          <a:prstGeom prst="rect">
            <a:avLst/>
          </a:prstGeom>
          <a:noFill/>
          <a:ln/>
        </p:spPr>
        <p:txBody>
          <a:bodyPr wrap="square" lIns="0" tIns="0" rIns="0" bIns="0" rtlCol="0" anchor="ctr"/>
          <a:lstStyle/>
          <a:p>
            <a:pPr algn="r" indent="0" marL="0">
              <a:lnSpc>
                <a:spcPct val="125000"/>
              </a:lnSpc>
              <a:buNone/>
            </a:pPr>
            <a:r>
              <a:rPr lang="en-US" sz="800" i="1" dirty="0">
                <a:solidFill>
                  <a:srgbClr val="5A5A66"/>
                </a:solidFill>
                <a:latin typeface="Cambria" pitchFamily="34" charset="0"/>
                <a:ea typeface="Cambria" pitchFamily="34" charset="-122"/>
                <a:cs typeface="Cambria" pitchFamily="34" charset="-120"/>
              </a:rPr>
              <a:t>Luận văn Chương 5</a:t>
            </a:r>
            <a:endParaRPr lang="en-US" sz="800" dirty="0"/>
          </a:p>
        </p:txBody>
      </p:sp>
      <p:sp>
        <p:nvSpPr>
          <p:cNvPr id="14" name="Shape 12"/>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5" name="Shape 13"/>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6" name="Shape 14"/>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7" name="Shape 15"/>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8" name="Text 16"/>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9" name="Text 17"/>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0" name="Text 18"/>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1" name="Text 19"/>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4/25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Giới thiệu</a:t>
            </a:r>
            <a:endParaRPr lang="en-US" sz="1820" dirty="0"/>
          </a:p>
        </p:txBody>
      </p:sp>
      <p:sp>
        <p:nvSpPr>
          <p:cNvPr id="4" name="Text 2"/>
          <p:cNvSpPr/>
          <p:nvPr/>
        </p:nvSpPr>
        <p:spPr>
          <a:xfrm>
            <a:off x="502920" y="603504"/>
            <a:ext cx="8138160" cy="219456"/>
          </a:xfrm>
          <a:prstGeom prst="rect">
            <a:avLst/>
          </a:prstGeom>
          <a:noFill/>
          <a:ln/>
        </p:spPr>
        <p:txBody>
          <a:bodyPr wrap="square" lIns="0" tIns="0" rIns="0" bIns="0" rtlCol="0" anchor="ctr">
            <a:normAutofit/>
          </a:bodyPr>
          <a:lstStyle/>
          <a:p>
            <a:pPr indent="0" marL="0">
              <a:lnSpc>
                <a:spcPct val="125000"/>
              </a:lnSpc>
              <a:buNone/>
            </a:pPr>
            <a:r>
              <a:rPr lang="en-US" sz="1260" b="1" dirty="0">
                <a:solidFill>
                  <a:srgbClr val="25194B"/>
                </a:solidFill>
                <a:latin typeface="Cambria" pitchFamily="34" charset="0"/>
                <a:ea typeface="Cambria" pitchFamily="34" charset="-122"/>
                <a:cs typeface="Cambria" pitchFamily="34" charset="-120"/>
              </a:rPr>
              <a:t>Đóng góp chính</a:t>
            </a:r>
            <a:endParaRPr lang="en-US" sz="1260" dirty="0"/>
          </a:p>
        </p:txBody>
      </p:sp>
      <p:sp>
        <p:nvSpPr>
          <p:cNvPr id="5" name="Shape 3"/>
          <p:cNvSpPr/>
          <p:nvPr/>
        </p:nvSpPr>
        <p:spPr>
          <a:xfrm>
            <a:off x="502920" y="960120"/>
            <a:ext cx="2514600" cy="2971800"/>
          </a:xfrm>
          <a:prstGeom prst="roundRect">
            <a:avLst/>
          </a:prstGeom>
          <a:solidFill>
            <a:srgbClr val="F3F2F5"/>
          </a:solidFill>
          <a:ln w="12700">
            <a:solidFill>
              <a:srgbClr val="25194B"/>
            </a:solidFill>
            <a:prstDash val="solid"/>
          </a:ln>
        </p:spPr>
      </p:sp>
      <p:sp>
        <p:nvSpPr>
          <p:cNvPr id="6" name="Text 4"/>
          <p:cNvSpPr/>
          <p:nvPr/>
        </p:nvSpPr>
        <p:spPr>
          <a:xfrm>
            <a:off x="640080" y="1225296"/>
            <a:ext cx="2240280" cy="384048"/>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1 · Phương pháp</a:t>
            </a:r>
            <a:endParaRPr lang="en-US" sz="1700" dirty="0"/>
          </a:p>
        </p:txBody>
      </p:sp>
      <p:sp>
        <p:nvSpPr>
          <p:cNvPr id="7" name="Text 5"/>
          <p:cNvSpPr/>
          <p:nvPr/>
        </p:nvSpPr>
        <p:spPr>
          <a:xfrm>
            <a:off x="722376" y="1847088"/>
            <a:ext cx="2075688" cy="1463040"/>
          </a:xfrm>
          <a:prstGeom prst="rect">
            <a:avLst/>
          </a:prstGeom>
          <a:noFill/>
          <a:ln/>
        </p:spPr>
        <p:txBody>
          <a:bodyPr wrap="square" lIns="0" tIns="0" rIns="0" bIns="0" rtlCol="0" anchor="ctr">
            <a:normAutofit/>
          </a:bodyPr>
          <a:lstStyle/>
          <a:p>
            <a:pPr algn="ctr" indent="0" marL="0">
              <a:lnSpc>
                <a:spcPct val="125000"/>
              </a:lnSpc>
              <a:buNone/>
            </a:pPr>
            <a:r>
              <a:rPr lang="en-US" sz="1400" dirty="0">
                <a:solidFill>
                  <a:srgbClr val="1A1A1A"/>
                </a:solidFill>
                <a:latin typeface="Cambria" pitchFamily="34" charset="0"/>
                <a:ea typeface="Cambria" pitchFamily="34" charset="-122"/>
                <a:cs typeface="Cambria" pitchFamily="34" charset="-120"/>
              </a:rPr>
              <a:t>GRPO-SPICE tối ưu trực tiếp câu hướng dẫn. ACE tiếp tục cải thiện chất lượng câu mà vẫn giữ executability.</a:t>
            </a:r>
            <a:endParaRPr lang="en-US" sz="1400" dirty="0"/>
          </a:p>
        </p:txBody>
      </p:sp>
      <p:sp>
        <p:nvSpPr>
          <p:cNvPr id="8" name="Shape 6"/>
          <p:cNvSpPr/>
          <p:nvPr/>
        </p:nvSpPr>
        <p:spPr>
          <a:xfrm>
            <a:off x="3319272" y="960120"/>
            <a:ext cx="2514600" cy="2971800"/>
          </a:xfrm>
          <a:prstGeom prst="roundRect">
            <a:avLst/>
          </a:prstGeom>
          <a:solidFill>
            <a:srgbClr val="F3F2F5"/>
          </a:solidFill>
          <a:ln w="12700">
            <a:solidFill>
              <a:srgbClr val="4F417A"/>
            </a:solidFill>
            <a:prstDash val="solid"/>
          </a:ln>
        </p:spPr>
      </p:sp>
      <p:sp>
        <p:nvSpPr>
          <p:cNvPr id="9" name="Text 7"/>
          <p:cNvSpPr/>
          <p:nvPr/>
        </p:nvSpPr>
        <p:spPr>
          <a:xfrm>
            <a:off x="3456432" y="1225296"/>
            <a:ext cx="2240280" cy="384048"/>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2 · Executability</a:t>
            </a:r>
            <a:endParaRPr lang="en-US" sz="1700" dirty="0"/>
          </a:p>
        </p:txBody>
      </p:sp>
      <p:sp>
        <p:nvSpPr>
          <p:cNvPr id="10" name="Text 8"/>
          <p:cNvSpPr/>
          <p:nvPr/>
        </p:nvSpPr>
        <p:spPr>
          <a:xfrm>
            <a:off x="3566160" y="1847088"/>
            <a:ext cx="2029968" cy="1463040"/>
          </a:xfrm>
          <a:prstGeom prst="rect">
            <a:avLst/>
          </a:prstGeom>
          <a:noFill/>
          <a:ln/>
        </p:spPr>
        <p:txBody>
          <a:bodyPr wrap="square" lIns="0" tIns="0" rIns="0" bIns="0" rtlCol="0" anchor="ctr">
            <a:normAutofit/>
          </a:bodyPr>
          <a:lstStyle/>
          <a:p>
            <a:pPr algn="ctr" indent="0" marL="0">
              <a:lnSpc>
                <a:spcPct val="125000"/>
              </a:lnSpc>
              <a:buNone/>
            </a:pPr>
            <a:r>
              <a:rPr lang="en-US" sz="1400" dirty="0">
                <a:solidFill>
                  <a:srgbClr val="1A1A1A"/>
                </a:solidFill>
                <a:latin typeface="Cambria" pitchFamily="34" charset="0"/>
                <a:ea typeface="Cambria" pitchFamily="34" charset="-122"/>
                <a:cs typeface="Cambria" pitchFamily="34" charset="-120"/>
              </a:rPr>
              <a:t>Một mô hình định vị tách biệt kiểm tra câu có dẫn tới đúng phần tử và đúng loại thao tác hay không.</a:t>
            </a:r>
            <a:endParaRPr lang="en-US" sz="1400" dirty="0"/>
          </a:p>
        </p:txBody>
      </p:sp>
      <p:sp>
        <p:nvSpPr>
          <p:cNvPr id="11" name="Shape 9"/>
          <p:cNvSpPr/>
          <p:nvPr/>
        </p:nvSpPr>
        <p:spPr>
          <a:xfrm>
            <a:off x="6126480" y="960120"/>
            <a:ext cx="2514600" cy="2971800"/>
          </a:xfrm>
          <a:prstGeom prst="roundRect">
            <a:avLst/>
          </a:prstGeom>
          <a:solidFill>
            <a:srgbClr val="F3F2F5"/>
          </a:solidFill>
          <a:ln w="12700">
            <a:solidFill>
              <a:srgbClr val="7A7099"/>
            </a:solidFill>
            <a:prstDash val="solid"/>
          </a:ln>
        </p:spPr>
      </p:sp>
      <p:sp>
        <p:nvSpPr>
          <p:cNvPr id="12" name="Text 10"/>
          <p:cNvSpPr/>
          <p:nvPr/>
        </p:nvSpPr>
        <p:spPr>
          <a:xfrm>
            <a:off x="6254496" y="1170432"/>
            <a:ext cx="2267712" cy="502920"/>
          </a:xfrm>
          <a:prstGeom prst="rect">
            <a:avLst/>
          </a:prstGeom>
          <a:noFill/>
          <a:ln/>
        </p:spPr>
        <p:txBody>
          <a:bodyPr wrap="square" lIns="0" tIns="0" rIns="0" bIns="0" rtlCol="0" anchor="ctr">
            <a:normAutofit/>
          </a:bodyPr>
          <a:lstStyle/>
          <a:p>
            <a:pPr algn="ctr" indent="0" marL="0">
              <a:lnSpc>
                <a:spcPct val="125000"/>
              </a:lnSpc>
              <a:buNone/>
            </a:pPr>
            <a:r>
              <a:rPr lang="en-US" sz="1630" b="1" dirty="0">
                <a:solidFill>
                  <a:srgbClr val="25194B"/>
                </a:solidFill>
                <a:latin typeface="Cambria" pitchFamily="34" charset="0"/>
                <a:ea typeface="Cambria" pitchFamily="34" charset="-122"/>
                <a:cs typeface="Cambria" pitchFamily="34" charset="-120"/>
              </a:rPr>
              <a:t>3 · Phân tích thực nghiệm</a:t>
            </a:r>
            <a:endParaRPr lang="en-US" sz="1630" dirty="0"/>
          </a:p>
        </p:txBody>
      </p:sp>
      <p:sp>
        <p:nvSpPr>
          <p:cNvPr id="13" name="Text 11"/>
          <p:cNvSpPr/>
          <p:nvPr/>
        </p:nvSpPr>
        <p:spPr>
          <a:xfrm>
            <a:off x="6355080" y="1847088"/>
            <a:ext cx="2057400" cy="1463040"/>
          </a:xfrm>
          <a:prstGeom prst="rect">
            <a:avLst/>
          </a:prstGeom>
          <a:noFill/>
          <a:ln/>
        </p:spPr>
        <p:txBody>
          <a:bodyPr wrap="square" lIns="0" tIns="0" rIns="0" bIns="0" rtlCol="0" anchor="ctr">
            <a:normAutofit/>
          </a:bodyPr>
          <a:lstStyle/>
          <a:p>
            <a:pPr algn="ctr" indent="0" marL="0">
              <a:lnSpc>
                <a:spcPct val="125000"/>
              </a:lnSpc>
              <a:buNone/>
            </a:pPr>
            <a:r>
              <a:rPr lang="en-US" sz="1400" dirty="0">
                <a:solidFill>
                  <a:srgbClr val="1A1A1A"/>
                </a:solidFill>
                <a:latin typeface="Cambria" pitchFamily="34" charset="0"/>
                <a:ea typeface="Cambria" pitchFamily="34" charset="-122"/>
                <a:cs typeface="Cambria" pitchFamily="34" charset="-120"/>
              </a:rPr>
              <a:t>Nhánh đối chứng, nhiều lượt chạy và nhiều điều kiện đánh giá được dùng để kiểm tra độ ổn định của kết quả.</a:t>
            </a:r>
            <a:endParaRPr lang="en-US" sz="1400" dirty="0"/>
          </a:p>
        </p:txBody>
      </p:sp>
      <p:sp>
        <p:nvSpPr>
          <p:cNvPr id="14" name="Text 12"/>
          <p:cNvSpPr/>
          <p:nvPr/>
        </p:nvSpPr>
        <p:spPr>
          <a:xfrm>
            <a:off x="731520" y="4370832"/>
            <a:ext cx="233172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+1,55</a:t>
            </a:r>
            <a:endParaRPr lang="en-US" sz="2400" dirty="0"/>
          </a:p>
        </p:txBody>
      </p:sp>
      <p:sp>
        <p:nvSpPr>
          <p:cNvPr id="15" name="Text 13"/>
          <p:cNvSpPr/>
          <p:nvPr/>
        </p:nvSpPr>
        <p:spPr>
          <a:xfrm>
            <a:off x="731520" y="4901184"/>
            <a:ext cx="233172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điểm trên tập kiểm chính</a:t>
            </a:r>
            <a:endParaRPr lang="en-US" sz="1250" dirty="0"/>
          </a:p>
        </p:txBody>
      </p:sp>
      <p:sp>
        <p:nvSpPr>
          <p:cNvPr id="16" name="Text 14"/>
          <p:cNvSpPr/>
          <p:nvPr/>
        </p:nvSpPr>
        <p:spPr>
          <a:xfrm>
            <a:off x="3401568" y="4370832"/>
            <a:ext cx="233172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+4,58</a:t>
            </a:r>
            <a:endParaRPr lang="en-US" sz="2400" dirty="0"/>
          </a:p>
        </p:txBody>
      </p:sp>
      <p:sp>
        <p:nvSpPr>
          <p:cNvPr id="17" name="Text 15"/>
          <p:cNvSpPr/>
          <p:nvPr/>
        </p:nvSpPr>
        <p:spPr>
          <a:xfrm>
            <a:off x="3401568" y="4901184"/>
            <a:ext cx="233172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điểm trên tác vụ chưa có trong tập dạy S1</a:t>
            </a:r>
            <a:endParaRPr lang="en-US" sz="1250" dirty="0"/>
          </a:p>
        </p:txBody>
      </p:sp>
      <p:sp>
        <p:nvSpPr>
          <p:cNvPr id="18" name="Text 16"/>
          <p:cNvSpPr/>
          <p:nvPr/>
        </p:nvSpPr>
        <p:spPr>
          <a:xfrm>
            <a:off x="6080760" y="4370832"/>
            <a:ext cx="233172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7/7</a:t>
            </a:r>
            <a:endParaRPr lang="en-US" sz="2400" dirty="0"/>
          </a:p>
        </p:txBody>
      </p:sp>
      <p:sp>
        <p:nvSpPr>
          <p:cNvPr id="19" name="Text 17"/>
          <p:cNvSpPr/>
          <p:nvPr/>
        </p:nvSpPr>
        <p:spPr>
          <a:xfrm>
            <a:off x="6080760" y="4901184"/>
            <a:ext cx="233172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chỉ số câu tăng sau ACE</a:t>
            </a:r>
            <a:endParaRPr lang="en-US" sz="1250" dirty="0"/>
          </a:p>
        </p:txBody>
      </p:sp>
      <p:sp>
        <p:nvSpPr>
          <p:cNvPr id="20" name="Text 18"/>
          <p:cNvSpPr/>
          <p:nvPr/>
        </p:nvSpPr>
        <p:spPr>
          <a:xfrm>
            <a:off x="502920" y="6327648"/>
            <a:ext cx="8138160" cy="137160"/>
          </a:xfrm>
          <a:prstGeom prst="rect">
            <a:avLst/>
          </a:prstGeom>
          <a:noFill/>
          <a:ln/>
        </p:spPr>
        <p:txBody>
          <a:bodyPr wrap="square" lIns="0" tIns="0" rIns="0" bIns="0" rtlCol="0" anchor="ctr"/>
          <a:lstStyle/>
          <a:p>
            <a:pPr algn="r" indent="0" marL="0">
              <a:lnSpc>
                <a:spcPct val="125000"/>
              </a:lnSpc>
              <a:buNone/>
            </a:pPr>
            <a:r>
              <a:rPr lang="en-US" sz="800" i="1" dirty="0">
                <a:solidFill>
                  <a:srgbClr val="5A5A66"/>
                </a:solidFill>
                <a:latin typeface="Cambria" pitchFamily="34" charset="0"/>
                <a:ea typeface="Cambria" pitchFamily="34" charset="-122"/>
                <a:cs typeface="Cambria" pitchFamily="34" charset="-120"/>
              </a:rPr>
              <a:t>Luận văn §1.6, Chương 6</a:t>
            </a:r>
            <a:endParaRPr lang="en-US" sz="800" dirty="0"/>
          </a:p>
        </p:txBody>
      </p:sp>
      <p:sp>
        <p:nvSpPr>
          <p:cNvPr id="21" name="Shape 19"/>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2" name="Shape 20"/>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3" name="Shape 21"/>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4" name="Shape 22"/>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5" name="Text 23"/>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6" name="Text 24"/>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7" name="Text 25"/>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8" name="Text 26"/>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5/25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Xây dựng bộ dữ liệu</a:t>
            </a:r>
            <a:endParaRPr lang="en-US" sz="1820" dirty="0"/>
          </a:p>
        </p:txBody>
      </p:sp>
      <p:sp>
        <p:nvSpPr>
          <p:cNvPr id="4" name="Text 2"/>
          <p:cNvSpPr/>
          <p:nvPr/>
        </p:nvSpPr>
        <p:spPr>
          <a:xfrm>
            <a:off x="502920" y="603504"/>
            <a:ext cx="8138160" cy="219456"/>
          </a:xfrm>
          <a:prstGeom prst="rect">
            <a:avLst/>
          </a:prstGeom>
          <a:noFill/>
          <a:ln/>
        </p:spPr>
        <p:txBody>
          <a:bodyPr wrap="square" lIns="0" tIns="0" rIns="0" bIns="0" rtlCol="0" anchor="ctr">
            <a:normAutofit/>
          </a:bodyPr>
          <a:lstStyle/>
          <a:p>
            <a:pPr indent="0" marL="0">
              <a:lnSpc>
                <a:spcPct val="125000"/>
              </a:lnSpc>
              <a:buNone/>
            </a:pPr>
            <a:r>
              <a:rPr lang="en-US" sz="1260" b="1" dirty="0">
                <a:solidFill>
                  <a:srgbClr val="25194B"/>
                </a:solidFill>
                <a:latin typeface="Cambria" pitchFamily="34" charset="0"/>
                <a:ea typeface="Cambria" pitchFamily="34" charset="-122"/>
                <a:cs typeface="Cambria" pitchFamily="34" charset="-120"/>
              </a:rPr>
              <a:t>Dữ liệu và cách chia tập</a:t>
            </a:r>
            <a:endParaRPr lang="en-US" sz="1260" dirty="0"/>
          </a:p>
        </p:txBody>
      </p:sp>
      <p:sp>
        <p:nvSpPr>
          <p:cNvPr id="5" name="Text 3"/>
          <p:cNvSpPr/>
          <p:nvPr/>
        </p:nvSpPr>
        <p:spPr>
          <a:xfrm>
            <a:off x="502920" y="877824"/>
            <a:ext cx="8138160" cy="502920"/>
          </a:xfrm>
          <a:prstGeom prst="rect">
            <a:avLst/>
          </a:prstGeom>
          <a:noFill/>
          <a:ln/>
        </p:spPr>
        <p:txBody>
          <a:bodyPr wrap="square" lIns="0" tIns="0" rIns="0" bIns="0" rtlCol="0" anchor="ctr">
            <a:normAutofit/>
          </a:bodyPr>
          <a:lstStyle/>
          <a:p>
            <a:pPr algn="ctr" indent="0" marL="0">
              <a:lnSpc>
                <a:spcPct val="125000"/>
              </a:lnSpc>
              <a:buNone/>
            </a:pPr>
            <a:r>
              <a:rPr lang="en-US" sz="1650" b="1" dirty="0">
                <a:solidFill>
                  <a:srgbClr val="25194B"/>
                </a:solidFill>
                <a:latin typeface="Cambria" pitchFamily="34" charset="0"/>
                <a:ea typeface="Cambria" pitchFamily="34" charset="-122"/>
                <a:cs typeface="Cambria" pitchFamily="34" charset="-120"/>
              </a:rPr>
              <a:t>Tập huấn luyện và tập kiểm tra chính được tách theo tác vụ; không có tác vụ xuất hiện ở cả hai phía.</a:t>
            </a:r>
            <a:endParaRPr lang="en-US" sz="1650" dirty="0"/>
          </a:p>
        </p:txBody>
      </p:sp>
      <p:sp>
        <p:nvSpPr>
          <p:cNvPr id="6" name="Shape 4"/>
          <p:cNvSpPr/>
          <p:nvPr/>
        </p:nvSpPr>
        <p:spPr>
          <a:xfrm>
            <a:off x="502920" y="1572768"/>
            <a:ext cx="8138160" cy="420624"/>
          </a:xfrm>
          <a:prstGeom prst="rect">
            <a:avLst/>
          </a:prstGeom>
          <a:solidFill>
            <a:srgbClr val="25194B"/>
          </a:solidFill>
          <a:ln w="12700">
            <a:solidFill>
              <a:srgbClr val="25194B">
                <a:alpha val="0"/>
              </a:srgbClr>
            </a:solidFill>
            <a:prstDash val="solid"/>
          </a:ln>
        </p:spPr>
      </p:sp>
      <p:sp>
        <p:nvSpPr>
          <p:cNvPr id="7" name="Text 5"/>
          <p:cNvSpPr/>
          <p:nvPr/>
        </p:nvSpPr>
        <p:spPr>
          <a:xfrm>
            <a:off x="502920" y="1572768"/>
            <a:ext cx="2514600" cy="420624"/>
          </a:xfrm>
          <a:prstGeom prst="rect">
            <a:avLst/>
          </a:prstGeom>
          <a:noFill/>
          <a:ln/>
        </p:spPr>
        <p:txBody>
          <a:bodyPr wrap="square" lIns="0" tIns="0" rIns="0" bIns="0" rtlCol="0" anchor="ctr">
            <a:normAutofit/>
          </a:bodyPr>
          <a:lstStyle/>
          <a:p>
            <a:pPr algn="l" indent="0" marL="0">
              <a:lnSpc>
                <a:spcPct val="125000"/>
              </a:lnSpc>
              <a:buNone/>
            </a:pPr>
            <a:endParaRPr lang="en-US" sz="1340" dirty="0"/>
          </a:p>
        </p:txBody>
      </p:sp>
      <p:sp>
        <p:nvSpPr>
          <p:cNvPr id="8" name="Text 6"/>
          <p:cNvSpPr/>
          <p:nvPr/>
        </p:nvSpPr>
        <p:spPr>
          <a:xfrm>
            <a:off x="3017520" y="1572768"/>
            <a:ext cx="1691640" cy="420624"/>
          </a:xfrm>
          <a:prstGeom prst="rect">
            <a:avLst/>
          </a:prstGeom>
          <a:noFill/>
          <a:ln/>
        </p:spPr>
        <p:txBody>
          <a:bodyPr wrap="square" lIns="0" tIns="0" rIns="0" bIns="0" rtlCol="0" anchor="ctr">
            <a:normAutofit/>
          </a:bodyPr>
          <a:lstStyle/>
          <a:p>
            <a:pPr algn="ctr" indent="0" marL="0">
              <a:lnSpc>
                <a:spcPct val="125000"/>
              </a:lnSpc>
              <a:buNone/>
            </a:pPr>
            <a:r>
              <a:rPr lang="en-US" sz="1340" b="1" dirty="0">
                <a:solidFill>
                  <a:srgbClr val="FFFFFF"/>
                </a:solidFill>
                <a:latin typeface="Cambria" pitchFamily="34" charset="0"/>
                <a:ea typeface="Cambria" pitchFamily="34" charset="-122"/>
                <a:cs typeface="Cambria" pitchFamily="34" charset="-120"/>
              </a:rPr>
              <a:t>Huấn luyện</a:t>
            </a:r>
            <a:endParaRPr lang="en-US" sz="1340" dirty="0"/>
          </a:p>
        </p:txBody>
      </p:sp>
      <p:sp>
        <p:nvSpPr>
          <p:cNvPr id="9" name="Text 7"/>
          <p:cNvSpPr/>
          <p:nvPr/>
        </p:nvSpPr>
        <p:spPr>
          <a:xfrm>
            <a:off x="4709160" y="1572768"/>
            <a:ext cx="1691640" cy="420624"/>
          </a:xfrm>
          <a:prstGeom prst="rect">
            <a:avLst/>
          </a:prstGeom>
          <a:noFill/>
          <a:ln/>
        </p:spPr>
        <p:txBody>
          <a:bodyPr wrap="square" lIns="0" tIns="0" rIns="0" bIns="0" rtlCol="0" anchor="ctr">
            <a:normAutofit/>
          </a:bodyPr>
          <a:lstStyle/>
          <a:p>
            <a:pPr algn="ctr" indent="0" marL="0">
              <a:lnSpc>
                <a:spcPct val="125000"/>
              </a:lnSpc>
              <a:buNone/>
            </a:pPr>
            <a:r>
              <a:rPr lang="en-US" sz="1340" b="1" dirty="0">
                <a:solidFill>
                  <a:srgbClr val="FFFFFF"/>
                </a:solidFill>
                <a:latin typeface="Cambria" pitchFamily="34" charset="0"/>
                <a:ea typeface="Cambria" pitchFamily="34" charset="-122"/>
                <a:cs typeface="Cambria" pitchFamily="34" charset="-120"/>
              </a:rPr>
              <a:t>Kiểm tra chính</a:t>
            </a:r>
            <a:endParaRPr lang="en-US" sz="1340" dirty="0"/>
          </a:p>
        </p:txBody>
      </p:sp>
      <p:sp>
        <p:nvSpPr>
          <p:cNvPr id="10" name="Text 8"/>
          <p:cNvSpPr/>
          <p:nvPr/>
        </p:nvSpPr>
        <p:spPr>
          <a:xfrm>
            <a:off x="6400800" y="1572768"/>
            <a:ext cx="2240280" cy="420624"/>
          </a:xfrm>
          <a:prstGeom prst="rect">
            <a:avLst/>
          </a:prstGeom>
          <a:noFill/>
          <a:ln/>
        </p:spPr>
        <p:txBody>
          <a:bodyPr wrap="square" lIns="0" tIns="0" rIns="0" bIns="0" rtlCol="0" anchor="ctr">
            <a:normAutofit/>
          </a:bodyPr>
          <a:lstStyle/>
          <a:p>
            <a:pPr algn="l" indent="0" marL="0">
              <a:lnSpc>
                <a:spcPct val="125000"/>
              </a:lnSpc>
              <a:buNone/>
            </a:pPr>
            <a:r>
              <a:rPr lang="en-US" sz="1340" b="1" dirty="0">
                <a:solidFill>
                  <a:srgbClr val="FFFFFF"/>
                </a:solidFill>
                <a:latin typeface="Cambria" pitchFamily="34" charset="0"/>
                <a:ea typeface="Cambria" pitchFamily="34" charset="-122"/>
                <a:cs typeface="Cambria" pitchFamily="34" charset="-120"/>
              </a:rPr>
              <a:t>Ghi chú</a:t>
            </a:r>
            <a:endParaRPr lang="en-US" sz="1340" dirty="0"/>
          </a:p>
        </p:txBody>
      </p:sp>
      <p:sp>
        <p:nvSpPr>
          <p:cNvPr id="11" name="Text 9"/>
          <p:cNvSpPr/>
          <p:nvPr/>
        </p:nvSpPr>
        <p:spPr>
          <a:xfrm>
            <a:off x="502920" y="1993392"/>
            <a:ext cx="2514600" cy="493776"/>
          </a:xfrm>
          <a:prstGeom prst="rect">
            <a:avLst/>
          </a:prstGeom>
          <a:noFill/>
          <a:ln/>
        </p:spPr>
        <p:txBody>
          <a:bodyPr wrap="square" lIns="0" tIns="0" rIns="0" bIns="0" rtlCol="0" anchor="ctr">
            <a:normAutofit/>
          </a:bodyPr>
          <a:lstStyle/>
          <a:p>
            <a:pPr algn="l" indent="0" marL="0">
              <a:lnSpc>
                <a:spcPct val="125000"/>
              </a:lnSpc>
              <a:buNone/>
            </a:pPr>
            <a:r>
              <a:rPr lang="en-US" sz="1340" dirty="0">
                <a:solidFill>
                  <a:srgbClr val="1A1A1A"/>
                </a:solidFill>
                <a:latin typeface="Cambria" pitchFamily="34" charset="0"/>
                <a:ea typeface="Cambria" pitchFamily="34" charset="-122"/>
                <a:cs typeface="Cambria" pitchFamily="34" charset="-120"/>
              </a:rPr>
              <a:t>Số bước</a:t>
            </a:r>
            <a:endParaRPr lang="en-US" sz="1340" dirty="0"/>
          </a:p>
        </p:txBody>
      </p:sp>
      <p:sp>
        <p:nvSpPr>
          <p:cNvPr id="12" name="Text 10"/>
          <p:cNvSpPr/>
          <p:nvPr/>
        </p:nvSpPr>
        <p:spPr>
          <a:xfrm>
            <a:off x="3017520" y="1993392"/>
            <a:ext cx="1691640" cy="493776"/>
          </a:xfrm>
          <a:prstGeom prst="rect">
            <a:avLst/>
          </a:prstGeom>
          <a:noFill/>
          <a:ln/>
        </p:spPr>
        <p:txBody>
          <a:bodyPr wrap="square" lIns="0" tIns="0" rIns="0" bIns="0" rtlCol="0" anchor="ctr">
            <a:normAutofit/>
          </a:bodyPr>
          <a:lstStyle/>
          <a:p>
            <a:pPr algn="ctr" indent="0" marL="0">
              <a:lnSpc>
                <a:spcPct val="125000"/>
              </a:lnSpc>
              <a:buNone/>
            </a:pPr>
            <a:r>
              <a:rPr lang="en-US" sz="1340" dirty="0">
                <a:solidFill>
                  <a:srgbClr val="1A1A1A"/>
                </a:solidFill>
                <a:latin typeface="Cambria" pitchFamily="34" charset="0"/>
                <a:ea typeface="Cambria" pitchFamily="34" charset="-122"/>
                <a:cs typeface="Cambria" pitchFamily="34" charset="-120"/>
              </a:rPr>
              <a:t>64.567</a:t>
            </a:r>
            <a:endParaRPr lang="en-US" sz="1340" dirty="0"/>
          </a:p>
        </p:txBody>
      </p:sp>
      <p:sp>
        <p:nvSpPr>
          <p:cNvPr id="13" name="Text 11"/>
          <p:cNvSpPr/>
          <p:nvPr/>
        </p:nvSpPr>
        <p:spPr>
          <a:xfrm>
            <a:off x="4709160" y="1993392"/>
            <a:ext cx="1691640" cy="493776"/>
          </a:xfrm>
          <a:prstGeom prst="rect">
            <a:avLst/>
          </a:prstGeom>
          <a:noFill/>
          <a:ln/>
        </p:spPr>
        <p:txBody>
          <a:bodyPr wrap="square" lIns="0" tIns="0" rIns="0" bIns="0" rtlCol="0" anchor="ctr">
            <a:normAutofit/>
          </a:bodyPr>
          <a:lstStyle/>
          <a:p>
            <a:pPr algn="ctr" indent="0" marL="0">
              <a:lnSpc>
                <a:spcPct val="125000"/>
              </a:lnSpc>
              <a:buNone/>
            </a:pPr>
            <a:r>
              <a:rPr lang="en-US" sz="1340" dirty="0">
                <a:solidFill>
                  <a:srgbClr val="1A1A1A"/>
                </a:solidFill>
                <a:latin typeface="Cambria" pitchFamily="34" charset="0"/>
                <a:ea typeface="Cambria" pitchFamily="34" charset="-122"/>
                <a:cs typeface="Cambria" pitchFamily="34" charset="-120"/>
              </a:rPr>
              <a:t>6.958</a:t>
            </a:r>
            <a:endParaRPr lang="en-US" sz="1340" dirty="0"/>
          </a:p>
        </p:txBody>
      </p:sp>
      <p:sp>
        <p:nvSpPr>
          <p:cNvPr id="14" name="Text 12"/>
          <p:cNvSpPr/>
          <p:nvPr/>
        </p:nvSpPr>
        <p:spPr>
          <a:xfrm>
            <a:off x="6400800" y="1993392"/>
            <a:ext cx="2240280" cy="493776"/>
          </a:xfrm>
          <a:prstGeom prst="rect">
            <a:avLst/>
          </a:prstGeom>
          <a:noFill/>
          <a:ln/>
        </p:spPr>
        <p:txBody>
          <a:bodyPr wrap="square" lIns="0" tIns="0" rIns="0" bIns="0" rtlCol="0" anchor="ctr">
            <a:normAutofit/>
          </a:bodyPr>
          <a:lstStyle/>
          <a:p>
            <a:pPr algn="l" indent="0" marL="0">
              <a:lnSpc>
                <a:spcPct val="125000"/>
              </a:lnSpc>
              <a:buNone/>
            </a:pPr>
            <a:r>
              <a:rPr lang="en-US" sz="1340" dirty="0">
                <a:solidFill>
                  <a:srgbClr val="1A1A1A"/>
                </a:solidFill>
                <a:latin typeface="Cambria" pitchFamily="34" charset="0"/>
                <a:ea typeface="Cambria" pitchFamily="34" charset="-122"/>
                <a:cs typeface="Cambria" pitchFamily="34" charset="-120"/>
              </a:rPr>
              <a:t>chia theo tác vụ</a:t>
            </a:r>
            <a:endParaRPr lang="en-US" sz="1340" dirty="0"/>
          </a:p>
        </p:txBody>
      </p:sp>
      <p:sp>
        <p:nvSpPr>
          <p:cNvPr id="15" name="Shape 13"/>
          <p:cNvSpPr/>
          <p:nvPr/>
        </p:nvSpPr>
        <p:spPr>
          <a:xfrm>
            <a:off x="502920" y="2487168"/>
            <a:ext cx="8138160" cy="0"/>
          </a:xfrm>
          <a:prstGeom prst="line">
            <a:avLst/>
          </a:prstGeom>
          <a:noFill/>
          <a:ln w="12700">
            <a:solidFill>
              <a:srgbClr val="D9D6DF"/>
            </a:solidFill>
            <a:prstDash val="solid"/>
            <a:tailEnd type="none"/>
          </a:ln>
        </p:spPr>
      </p:sp>
      <p:sp>
        <p:nvSpPr>
          <p:cNvPr id="16" name="Text 14"/>
          <p:cNvSpPr/>
          <p:nvPr/>
        </p:nvSpPr>
        <p:spPr>
          <a:xfrm>
            <a:off x="502920" y="2487168"/>
            <a:ext cx="2514600" cy="493776"/>
          </a:xfrm>
          <a:prstGeom prst="rect">
            <a:avLst/>
          </a:prstGeom>
          <a:noFill/>
          <a:ln/>
        </p:spPr>
        <p:txBody>
          <a:bodyPr wrap="square" lIns="0" tIns="0" rIns="0" bIns="0" rtlCol="0" anchor="ctr">
            <a:normAutofit/>
          </a:bodyPr>
          <a:lstStyle/>
          <a:p>
            <a:pPr algn="l" indent="0" marL="0">
              <a:lnSpc>
                <a:spcPct val="125000"/>
              </a:lnSpc>
              <a:buNone/>
            </a:pPr>
            <a:r>
              <a:rPr lang="en-US" sz="1340" dirty="0">
                <a:solidFill>
                  <a:srgbClr val="1A1A1A"/>
                </a:solidFill>
                <a:latin typeface="Cambria" pitchFamily="34" charset="0"/>
                <a:ea typeface="Cambria" pitchFamily="34" charset="-122"/>
                <a:cs typeface="Cambria" pitchFamily="34" charset="-120"/>
              </a:rPr>
              <a:t>Bước có thao tác chạm</a:t>
            </a:r>
            <a:endParaRPr lang="en-US" sz="1340" dirty="0"/>
          </a:p>
        </p:txBody>
      </p:sp>
      <p:sp>
        <p:nvSpPr>
          <p:cNvPr id="17" name="Text 15"/>
          <p:cNvSpPr/>
          <p:nvPr/>
        </p:nvSpPr>
        <p:spPr>
          <a:xfrm>
            <a:off x="3017520" y="2487168"/>
            <a:ext cx="1691640" cy="493776"/>
          </a:xfrm>
          <a:prstGeom prst="rect">
            <a:avLst/>
          </a:prstGeom>
          <a:noFill/>
          <a:ln/>
        </p:spPr>
        <p:txBody>
          <a:bodyPr wrap="square" lIns="0" tIns="0" rIns="0" bIns="0" rtlCol="0" anchor="ctr">
            <a:normAutofit/>
          </a:bodyPr>
          <a:lstStyle/>
          <a:p>
            <a:pPr algn="ctr" indent="0" marL="0">
              <a:lnSpc>
                <a:spcPct val="125000"/>
              </a:lnSpc>
              <a:buNone/>
            </a:pPr>
            <a:r>
              <a:rPr lang="en-US" sz="1340" dirty="0">
                <a:solidFill>
                  <a:srgbClr val="1A1A1A"/>
                </a:solidFill>
                <a:latin typeface="Cambria" pitchFamily="34" charset="0"/>
                <a:ea typeface="Cambria" pitchFamily="34" charset="-122"/>
                <a:cs typeface="Cambria" pitchFamily="34" charset="-120"/>
              </a:rPr>
              <a:t>41.191</a:t>
            </a:r>
            <a:endParaRPr lang="en-US" sz="1340" dirty="0"/>
          </a:p>
        </p:txBody>
      </p:sp>
      <p:sp>
        <p:nvSpPr>
          <p:cNvPr id="18" name="Text 16"/>
          <p:cNvSpPr/>
          <p:nvPr/>
        </p:nvSpPr>
        <p:spPr>
          <a:xfrm>
            <a:off x="4709160" y="2487168"/>
            <a:ext cx="1691640" cy="493776"/>
          </a:xfrm>
          <a:prstGeom prst="rect">
            <a:avLst/>
          </a:prstGeom>
          <a:noFill/>
          <a:ln/>
        </p:spPr>
        <p:txBody>
          <a:bodyPr wrap="square" lIns="0" tIns="0" rIns="0" bIns="0" rtlCol="0" anchor="ctr">
            <a:normAutofit/>
          </a:bodyPr>
          <a:lstStyle/>
          <a:p>
            <a:pPr algn="ctr" indent="0" marL="0">
              <a:lnSpc>
                <a:spcPct val="125000"/>
              </a:lnSpc>
              <a:buNone/>
            </a:pPr>
            <a:r>
              <a:rPr lang="en-US" sz="1340" dirty="0">
                <a:solidFill>
                  <a:srgbClr val="1A1A1A"/>
                </a:solidFill>
                <a:latin typeface="Cambria" pitchFamily="34" charset="0"/>
                <a:ea typeface="Cambria" pitchFamily="34" charset="-122"/>
                <a:cs typeface="Cambria" pitchFamily="34" charset="-120"/>
              </a:rPr>
              <a:t>4.463</a:t>
            </a:r>
            <a:endParaRPr lang="en-US" sz="1340" dirty="0"/>
          </a:p>
        </p:txBody>
      </p:sp>
      <p:sp>
        <p:nvSpPr>
          <p:cNvPr id="19" name="Text 17"/>
          <p:cNvSpPr/>
          <p:nvPr/>
        </p:nvSpPr>
        <p:spPr>
          <a:xfrm>
            <a:off x="6400800" y="2487168"/>
            <a:ext cx="2240280" cy="493776"/>
          </a:xfrm>
          <a:prstGeom prst="rect">
            <a:avLst/>
          </a:prstGeom>
          <a:noFill/>
          <a:ln/>
        </p:spPr>
        <p:txBody>
          <a:bodyPr wrap="square" lIns="0" tIns="0" rIns="0" bIns="0" rtlCol="0" anchor="ctr">
            <a:normAutofit/>
          </a:bodyPr>
          <a:lstStyle/>
          <a:p>
            <a:pPr algn="l" indent="0" marL="0">
              <a:lnSpc>
                <a:spcPct val="125000"/>
              </a:lnSpc>
              <a:buNone/>
            </a:pPr>
            <a:r>
              <a:rPr lang="en-US" sz="1340" dirty="0">
                <a:solidFill>
                  <a:srgbClr val="1A1A1A"/>
                </a:solidFill>
                <a:latin typeface="Cambria" pitchFamily="34" charset="0"/>
                <a:ea typeface="Cambria" pitchFamily="34" charset="-122"/>
                <a:cs typeface="Cambria" pitchFamily="34" charset="-120"/>
              </a:rPr>
              <a:t>tập chính của executability</a:t>
            </a:r>
            <a:endParaRPr lang="en-US" sz="1340" dirty="0"/>
          </a:p>
        </p:txBody>
      </p:sp>
      <p:sp>
        <p:nvSpPr>
          <p:cNvPr id="20" name="Shape 18"/>
          <p:cNvSpPr/>
          <p:nvPr/>
        </p:nvSpPr>
        <p:spPr>
          <a:xfrm>
            <a:off x="502920" y="2980944"/>
            <a:ext cx="8138160" cy="0"/>
          </a:xfrm>
          <a:prstGeom prst="line">
            <a:avLst/>
          </a:prstGeom>
          <a:noFill/>
          <a:ln w="12700">
            <a:solidFill>
              <a:srgbClr val="D9D6DF"/>
            </a:solidFill>
            <a:prstDash val="solid"/>
            <a:tailEnd type="none"/>
          </a:ln>
        </p:spPr>
      </p:sp>
      <p:sp>
        <p:nvSpPr>
          <p:cNvPr id="21" name="Text 19"/>
          <p:cNvSpPr/>
          <p:nvPr/>
        </p:nvSpPr>
        <p:spPr>
          <a:xfrm>
            <a:off x="502920" y="2980944"/>
            <a:ext cx="2514600" cy="493776"/>
          </a:xfrm>
          <a:prstGeom prst="rect">
            <a:avLst/>
          </a:prstGeom>
          <a:noFill/>
          <a:ln/>
        </p:spPr>
        <p:txBody>
          <a:bodyPr wrap="square" lIns="0" tIns="0" rIns="0" bIns="0" rtlCol="0" anchor="ctr">
            <a:normAutofit/>
          </a:bodyPr>
          <a:lstStyle/>
          <a:p>
            <a:pPr algn="l" indent="0" marL="0">
              <a:lnSpc>
                <a:spcPct val="125000"/>
              </a:lnSpc>
              <a:buNone/>
            </a:pPr>
            <a:r>
              <a:rPr lang="en-US" sz="1340" dirty="0">
                <a:solidFill>
                  <a:srgbClr val="1A1A1A"/>
                </a:solidFill>
                <a:latin typeface="Cambria" pitchFamily="34" charset="0"/>
                <a:ea typeface="Cambria" pitchFamily="34" charset="-122"/>
                <a:cs typeface="Cambria" pitchFamily="34" charset="-120"/>
              </a:rPr>
              <a:t>Số tác vụ</a:t>
            </a:r>
            <a:endParaRPr lang="en-US" sz="1340" dirty="0"/>
          </a:p>
        </p:txBody>
      </p:sp>
      <p:sp>
        <p:nvSpPr>
          <p:cNvPr id="22" name="Text 20"/>
          <p:cNvSpPr/>
          <p:nvPr/>
        </p:nvSpPr>
        <p:spPr>
          <a:xfrm>
            <a:off x="3017520" y="2980944"/>
            <a:ext cx="1691640" cy="493776"/>
          </a:xfrm>
          <a:prstGeom prst="rect">
            <a:avLst/>
          </a:prstGeom>
          <a:noFill/>
          <a:ln/>
        </p:spPr>
        <p:txBody>
          <a:bodyPr wrap="square" lIns="0" tIns="0" rIns="0" bIns="0" rtlCol="0" anchor="ctr">
            <a:normAutofit/>
          </a:bodyPr>
          <a:lstStyle/>
          <a:p>
            <a:pPr algn="ctr" indent="0" marL="0">
              <a:lnSpc>
                <a:spcPct val="125000"/>
              </a:lnSpc>
              <a:buNone/>
            </a:pPr>
            <a:r>
              <a:rPr lang="en-US" sz="1340" dirty="0">
                <a:solidFill>
                  <a:srgbClr val="1A1A1A"/>
                </a:solidFill>
                <a:latin typeface="Cambria" pitchFamily="34" charset="0"/>
                <a:ea typeface="Cambria" pitchFamily="34" charset="-122"/>
                <a:cs typeface="Cambria" pitchFamily="34" charset="-120"/>
              </a:rPr>
              <a:t>12.895</a:t>
            </a:r>
            <a:endParaRPr lang="en-US" sz="1340" dirty="0"/>
          </a:p>
        </p:txBody>
      </p:sp>
      <p:sp>
        <p:nvSpPr>
          <p:cNvPr id="23" name="Text 21"/>
          <p:cNvSpPr/>
          <p:nvPr/>
        </p:nvSpPr>
        <p:spPr>
          <a:xfrm>
            <a:off x="4709160" y="2980944"/>
            <a:ext cx="1691640" cy="493776"/>
          </a:xfrm>
          <a:prstGeom prst="rect">
            <a:avLst/>
          </a:prstGeom>
          <a:noFill/>
          <a:ln/>
        </p:spPr>
        <p:txBody>
          <a:bodyPr wrap="square" lIns="0" tIns="0" rIns="0" bIns="0" rtlCol="0" anchor="ctr">
            <a:normAutofit/>
          </a:bodyPr>
          <a:lstStyle/>
          <a:p>
            <a:pPr algn="ctr" indent="0" marL="0">
              <a:lnSpc>
                <a:spcPct val="125000"/>
              </a:lnSpc>
              <a:buNone/>
            </a:pPr>
            <a:r>
              <a:rPr lang="en-US" sz="1340" dirty="0">
                <a:solidFill>
                  <a:srgbClr val="1A1A1A"/>
                </a:solidFill>
                <a:latin typeface="Cambria" pitchFamily="34" charset="0"/>
                <a:ea typeface="Cambria" pitchFamily="34" charset="-122"/>
                <a:cs typeface="Cambria" pitchFamily="34" charset="-120"/>
              </a:rPr>
              <a:t>1.432</a:t>
            </a:r>
            <a:endParaRPr lang="en-US" sz="1340" dirty="0"/>
          </a:p>
        </p:txBody>
      </p:sp>
      <p:sp>
        <p:nvSpPr>
          <p:cNvPr id="24" name="Text 22"/>
          <p:cNvSpPr/>
          <p:nvPr/>
        </p:nvSpPr>
        <p:spPr>
          <a:xfrm>
            <a:off x="6400800" y="2980944"/>
            <a:ext cx="2240280" cy="493776"/>
          </a:xfrm>
          <a:prstGeom prst="rect">
            <a:avLst/>
          </a:prstGeom>
          <a:noFill/>
          <a:ln/>
        </p:spPr>
        <p:txBody>
          <a:bodyPr wrap="square" lIns="0" tIns="0" rIns="0" bIns="0" rtlCol="0" anchor="ctr">
            <a:normAutofit/>
          </a:bodyPr>
          <a:lstStyle/>
          <a:p>
            <a:pPr algn="l" indent="0" marL="0">
              <a:lnSpc>
                <a:spcPct val="125000"/>
              </a:lnSpc>
              <a:buNone/>
            </a:pPr>
            <a:r>
              <a:rPr lang="en-US" sz="1340" dirty="0">
                <a:solidFill>
                  <a:srgbClr val="1A1A1A"/>
                </a:solidFill>
                <a:latin typeface="Cambria" pitchFamily="34" charset="0"/>
                <a:ea typeface="Cambria" pitchFamily="34" charset="-122"/>
                <a:cs typeface="Cambria" pitchFamily="34" charset="-120"/>
              </a:rPr>
              <a:t>không trùng tác vụ</a:t>
            </a:r>
            <a:endParaRPr lang="en-US" sz="1340" dirty="0"/>
          </a:p>
        </p:txBody>
      </p:sp>
      <p:sp>
        <p:nvSpPr>
          <p:cNvPr id="25" name="Shape 23"/>
          <p:cNvSpPr/>
          <p:nvPr/>
        </p:nvSpPr>
        <p:spPr>
          <a:xfrm>
            <a:off x="502920" y="3840480"/>
            <a:ext cx="8138160" cy="1261872"/>
          </a:xfrm>
          <a:prstGeom prst="roundRect">
            <a:avLst/>
          </a:prstGeom>
          <a:solidFill>
            <a:srgbClr val="F3F2F5"/>
          </a:solidFill>
          <a:ln w="12700">
            <a:solidFill>
              <a:srgbClr val="7A7099"/>
            </a:solidFill>
            <a:prstDash val="solid"/>
          </a:ln>
        </p:spPr>
      </p:sp>
      <p:sp>
        <p:nvSpPr>
          <p:cNvPr id="26" name="Text 24"/>
          <p:cNvSpPr/>
          <p:nvPr/>
        </p:nvSpPr>
        <p:spPr>
          <a:xfrm>
            <a:off x="704088" y="3968496"/>
            <a:ext cx="2560320" cy="502920"/>
          </a:xfrm>
          <a:prstGeom prst="rect">
            <a:avLst/>
          </a:prstGeom>
          <a:noFill/>
          <a:ln/>
        </p:spPr>
        <p:txBody>
          <a:bodyPr wrap="square" lIns="0" tIns="0" rIns="0" bIns="0" rtlCol="0" anchor="ctr">
            <a:normAutofit/>
          </a:bodyPr>
          <a:lstStyle/>
          <a:p>
            <a:pPr indent="0" marL="0">
              <a:lnSpc>
                <a:spcPct val="125000"/>
              </a:lnSpc>
              <a:buNone/>
            </a:pPr>
            <a:r>
              <a:rPr lang="en-US" sz="1420" b="1" dirty="0">
                <a:solidFill>
                  <a:srgbClr val="25194B"/>
                </a:solidFill>
                <a:latin typeface="Cambria" pitchFamily="34" charset="0"/>
                <a:ea typeface="Cambria" pitchFamily="34" charset="-122"/>
                <a:cs typeface="Cambria" pitchFamily="34" charset="-120"/>
              </a:rPr>
              <a:t>Đánh giá tổng quát hóa bổ sung</a:t>
            </a:r>
            <a:endParaRPr lang="en-US" sz="1420" dirty="0"/>
          </a:p>
        </p:txBody>
      </p:sp>
      <p:sp>
        <p:nvSpPr>
          <p:cNvPr id="27" name="Text 25"/>
          <p:cNvSpPr/>
          <p:nvPr/>
        </p:nvSpPr>
        <p:spPr>
          <a:xfrm>
            <a:off x="2990088" y="3913632"/>
            <a:ext cx="5376672" cy="786384"/>
          </a:xfrm>
          <a:prstGeom prst="rect">
            <a:avLst/>
          </a:prstGeom>
          <a:noFill/>
          <a:ln/>
        </p:spPr>
        <p:txBody>
          <a:bodyPr wrap="square" lIns="0" tIns="0" rIns="0" bIns="0" rtlCol="0" anchor="ctr">
            <a:normAutofit/>
          </a:bodyPr>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ACU gồm 1.484 bước thuộc các tác vụ chưa có trong tập huấn luyện. AitZ dùng để kiểm tra khi đổi miền dữ liệu.</a:t>
            </a:r>
            <a:endParaRPr lang="en-US" sz="1350" dirty="0"/>
          </a:p>
        </p:txBody>
      </p:sp>
      <p:sp>
        <p:nvSpPr>
          <p:cNvPr id="28" name="Text 26"/>
          <p:cNvSpPr/>
          <p:nvPr/>
        </p:nvSpPr>
        <p:spPr>
          <a:xfrm>
            <a:off x="502920" y="6327648"/>
            <a:ext cx="8138160" cy="137160"/>
          </a:xfrm>
          <a:prstGeom prst="rect">
            <a:avLst/>
          </a:prstGeom>
          <a:noFill/>
          <a:ln/>
        </p:spPr>
        <p:txBody>
          <a:bodyPr wrap="square" lIns="0" tIns="0" rIns="0" bIns="0" rtlCol="0" anchor="ctr"/>
          <a:lstStyle/>
          <a:p>
            <a:pPr algn="r" indent="0" marL="0">
              <a:lnSpc>
                <a:spcPct val="125000"/>
              </a:lnSpc>
              <a:buNone/>
            </a:pPr>
            <a:r>
              <a:rPr lang="en-US" sz="800" i="1" dirty="0">
                <a:solidFill>
                  <a:srgbClr val="5A5A66"/>
                </a:solidFill>
                <a:latin typeface="Cambria" pitchFamily="34" charset="0"/>
                <a:ea typeface="Cambria" pitchFamily="34" charset="-122"/>
                <a:cs typeface="Cambria" pitchFamily="34" charset="-120"/>
              </a:rPr>
              <a:t>Luận văn Chương 3, §6.8</a:t>
            </a:r>
            <a:endParaRPr lang="en-US" sz="800" dirty="0"/>
          </a:p>
        </p:txBody>
      </p:sp>
      <p:sp>
        <p:nvSpPr>
          <p:cNvPr id="29" name="Shape 27"/>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30" name="Shape 28"/>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31" name="Shape 29"/>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32" name="Shape 30"/>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33" name="Text 31"/>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4" name="Text 32"/>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5" name="Text 33"/>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6" name="Text 34"/>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6/25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02920" y="603504"/>
            <a:ext cx="8138160" cy="219456"/>
          </a:xfrm>
          <a:prstGeom prst="rect">
            <a:avLst/>
          </a:prstGeom>
          <a:noFill/>
          <a:ln/>
        </p:spPr>
        <p:txBody>
          <a:bodyPr wrap="square" lIns="0" tIns="0" rIns="0" bIns="0" rtlCol="0" anchor="ctr">
            <a:normAutofit/>
          </a:bodyPr>
          <a:lstStyle/>
          <a:p>
            <a:pPr indent="0" marL="0">
              <a:lnSpc>
                <a:spcPct val="125000"/>
              </a:lnSpc>
              <a:buNone/>
            </a:pPr>
            <a:r>
              <a:rPr lang="en-US" sz="1260" b="1" dirty="0">
                <a:solidFill>
                  <a:srgbClr val="25194B"/>
                </a:solidFill>
                <a:latin typeface="Cambria" pitchFamily="34" charset="0"/>
                <a:ea typeface="Cambria" pitchFamily="34" charset="-122"/>
                <a:cs typeface="Cambria" pitchFamily="34" charset="-120"/>
              </a:rPr>
              <a:t>So sánh 3B sau tinh chỉnh với 7B prompting</a:t>
            </a:r>
            <a:endParaRPr lang="en-US" sz="1260" dirty="0"/>
          </a:p>
        </p:txBody>
      </p:sp>
      <p:sp>
        <p:nvSpPr>
          <p:cNvPr id="5" name="Text 3"/>
          <p:cNvSpPr/>
          <p:nvPr/>
        </p:nvSpPr>
        <p:spPr>
          <a:xfrm>
            <a:off x="566928" y="1325880"/>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47,59%</a:t>
            </a:r>
            <a:endParaRPr lang="en-US" sz="2400" dirty="0"/>
          </a:p>
        </p:txBody>
      </p:sp>
      <p:sp>
        <p:nvSpPr>
          <p:cNvPr id="6" name="Text 4"/>
          <p:cNvSpPr/>
          <p:nvPr/>
        </p:nvSpPr>
        <p:spPr>
          <a:xfrm>
            <a:off x="566928" y="1856232"/>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3B · chưa tinh chỉnh</a:t>
            </a:r>
            <a:endParaRPr lang="en-US" sz="1250" dirty="0"/>
          </a:p>
        </p:txBody>
      </p:sp>
      <p:sp>
        <p:nvSpPr>
          <p:cNvPr id="7" name="Text 5"/>
          <p:cNvSpPr/>
          <p:nvPr/>
        </p:nvSpPr>
        <p:spPr>
          <a:xfrm>
            <a:off x="2633472" y="1325880"/>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51,51%</a:t>
            </a:r>
            <a:endParaRPr lang="en-US" sz="2400" dirty="0"/>
          </a:p>
        </p:txBody>
      </p:sp>
      <p:sp>
        <p:nvSpPr>
          <p:cNvPr id="8" name="Text 6"/>
          <p:cNvSpPr/>
          <p:nvPr/>
        </p:nvSpPr>
        <p:spPr>
          <a:xfrm>
            <a:off x="2633472" y="1856232"/>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7B · prompting</a:t>
            </a:r>
            <a:endParaRPr lang="en-US" sz="1250" dirty="0"/>
          </a:p>
        </p:txBody>
      </p:sp>
      <p:sp>
        <p:nvSpPr>
          <p:cNvPr id="9" name="Text 7"/>
          <p:cNvSpPr/>
          <p:nvPr/>
        </p:nvSpPr>
        <p:spPr>
          <a:xfrm>
            <a:off x="4700016" y="1325880"/>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59,11%</a:t>
            </a:r>
            <a:endParaRPr lang="en-US" sz="2400" dirty="0"/>
          </a:p>
        </p:txBody>
      </p:sp>
      <p:sp>
        <p:nvSpPr>
          <p:cNvPr id="10" name="Text 8"/>
          <p:cNvSpPr/>
          <p:nvPr/>
        </p:nvSpPr>
        <p:spPr>
          <a:xfrm>
            <a:off x="4700016" y="1856232"/>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3B · S1</a:t>
            </a:r>
            <a:endParaRPr lang="en-US" sz="1250" dirty="0"/>
          </a:p>
        </p:txBody>
      </p:sp>
      <p:sp>
        <p:nvSpPr>
          <p:cNvPr id="11" name="Text 9"/>
          <p:cNvSpPr/>
          <p:nvPr/>
        </p:nvSpPr>
        <p:spPr>
          <a:xfrm>
            <a:off x="6766560" y="1325880"/>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60,65%</a:t>
            </a:r>
            <a:endParaRPr lang="en-US" sz="2400" dirty="0"/>
          </a:p>
        </p:txBody>
      </p:sp>
      <p:sp>
        <p:nvSpPr>
          <p:cNvPr id="12" name="Text 10"/>
          <p:cNvSpPr/>
          <p:nvPr/>
        </p:nvSpPr>
        <p:spPr>
          <a:xfrm>
            <a:off x="6766560" y="1856232"/>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3B · GRPO-SPICE</a:t>
            </a:r>
            <a:endParaRPr lang="en-US" sz="1250" dirty="0"/>
          </a:p>
        </p:txBody>
      </p:sp>
      <p:sp>
        <p:nvSpPr>
          <p:cNvPr id="13" name="Shape 11"/>
          <p:cNvSpPr/>
          <p:nvPr/>
        </p:nvSpPr>
        <p:spPr>
          <a:xfrm>
            <a:off x="502920" y="2788920"/>
            <a:ext cx="8138160" cy="0"/>
          </a:xfrm>
          <a:prstGeom prst="line">
            <a:avLst/>
          </a:prstGeom>
          <a:noFill/>
          <a:ln w="12700">
            <a:solidFill>
              <a:srgbClr val="D9D6DF"/>
            </a:solidFill>
            <a:prstDash val="solid"/>
            <a:tailEnd type="none"/>
          </a:ln>
        </p:spPr>
      </p:sp>
      <p:sp>
        <p:nvSpPr>
          <p:cNvPr id="14" name="Shape 12"/>
          <p:cNvSpPr/>
          <p:nvPr/>
        </p:nvSpPr>
        <p:spPr>
          <a:xfrm>
            <a:off x="777240" y="3200400"/>
            <a:ext cx="3520440" cy="1298448"/>
          </a:xfrm>
          <a:prstGeom prst="roundRect">
            <a:avLst/>
          </a:prstGeom>
          <a:solidFill>
            <a:srgbClr val="F3F2F5"/>
          </a:solidFill>
          <a:ln w="12700">
            <a:solidFill>
              <a:srgbClr val="7A7099"/>
            </a:solidFill>
            <a:prstDash val="solid"/>
          </a:ln>
        </p:spPr>
      </p:sp>
      <p:sp>
        <p:nvSpPr>
          <p:cNvPr id="15" name="Text 13"/>
          <p:cNvSpPr/>
          <p:nvPr/>
        </p:nvSpPr>
        <p:spPr>
          <a:xfrm>
            <a:off x="960120" y="3429000"/>
            <a:ext cx="3154680" cy="320040"/>
          </a:xfrm>
          <a:prstGeom prst="rect">
            <a:avLst/>
          </a:prstGeom>
          <a:noFill/>
          <a:ln/>
        </p:spPr>
        <p:txBody>
          <a:bodyPr wrap="square" lIns="0" tIns="0" rIns="0" bIns="0" rtlCol="0" anchor="ctr"/>
          <a:lstStyle/>
          <a:p>
            <a:pPr algn="ctr" indent="0" marL="0">
              <a:lnSpc>
                <a:spcPct val="125000"/>
              </a:lnSpc>
              <a:buNone/>
            </a:pPr>
            <a:r>
              <a:rPr lang="en-US" sz="1450" b="1" dirty="0">
                <a:solidFill>
                  <a:srgbClr val="25194B"/>
                </a:solidFill>
                <a:latin typeface="Cambria" pitchFamily="34" charset="0"/>
                <a:ea typeface="Cambria" pitchFamily="34" charset="-122"/>
                <a:cs typeface="Cambria" pitchFamily="34" charset="-120"/>
              </a:rPr>
              <a:t>7B hơn 3B gốc</a:t>
            </a:r>
            <a:endParaRPr lang="en-US" sz="1450" dirty="0"/>
          </a:p>
        </p:txBody>
      </p:sp>
      <p:sp>
        <p:nvSpPr>
          <p:cNvPr id="16" name="Text 14"/>
          <p:cNvSpPr/>
          <p:nvPr/>
        </p:nvSpPr>
        <p:spPr>
          <a:xfrm>
            <a:off x="960120" y="3822192"/>
            <a:ext cx="3154680" cy="411480"/>
          </a:xfrm>
          <a:prstGeom prst="rect">
            <a:avLst/>
          </a:prstGeom>
          <a:noFill/>
          <a:ln/>
        </p:spPr>
        <p:txBody>
          <a:bodyPr wrap="square" lIns="0" tIns="0" rIns="0" bIns="0" rtlCol="0" anchor="ctr"/>
          <a:lstStyle/>
          <a:p>
            <a:pPr algn="ctr" indent="0" marL="0">
              <a:lnSpc>
                <a:spcPct val="125000"/>
              </a:lnSpc>
              <a:buNone/>
            </a:pPr>
            <a:r>
              <a:rPr lang="en-US" sz="2100" b="1" dirty="0">
                <a:solidFill>
                  <a:srgbClr val="7A7099"/>
                </a:solidFill>
                <a:latin typeface="Cambria" pitchFamily="34" charset="0"/>
                <a:ea typeface="Cambria" pitchFamily="34" charset="-122"/>
                <a:cs typeface="Cambria" pitchFamily="34" charset="-120"/>
              </a:rPr>
              <a:t>+3,92 điểm</a:t>
            </a:r>
            <a:endParaRPr lang="en-US" sz="2100" dirty="0"/>
          </a:p>
        </p:txBody>
      </p:sp>
      <p:sp>
        <p:nvSpPr>
          <p:cNvPr id="17" name="Shape 15"/>
          <p:cNvSpPr/>
          <p:nvPr/>
        </p:nvSpPr>
        <p:spPr>
          <a:xfrm>
            <a:off x="4846320" y="3200400"/>
            <a:ext cx="3520440" cy="1298448"/>
          </a:xfrm>
          <a:prstGeom prst="roundRect">
            <a:avLst/>
          </a:prstGeom>
          <a:solidFill>
            <a:srgbClr val="F3F2F5"/>
          </a:solidFill>
          <a:ln w="12700">
            <a:solidFill>
              <a:srgbClr val="4F417A"/>
            </a:solidFill>
            <a:prstDash val="solid"/>
          </a:ln>
        </p:spPr>
      </p:sp>
      <p:sp>
        <p:nvSpPr>
          <p:cNvPr id="18" name="Text 16"/>
          <p:cNvSpPr/>
          <p:nvPr/>
        </p:nvSpPr>
        <p:spPr>
          <a:xfrm>
            <a:off x="5029200" y="3383280"/>
            <a:ext cx="3154680" cy="475488"/>
          </a:xfrm>
          <a:prstGeom prst="rect">
            <a:avLst/>
          </a:prstGeom>
          <a:noFill/>
          <a:ln/>
        </p:spPr>
        <p:txBody>
          <a:bodyPr wrap="square" lIns="0" tIns="0" rIns="0" bIns="0" rtlCol="0" anchor="ctr">
            <a:normAutofit/>
          </a:bodyPr>
          <a:lstStyle/>
          <a:p>
            <a:pPr algn="ctr" indent="0" marL="0">
              <a:lnSpc>
                <a:spcPct val="125000"/>
              </a:lnSpc>
              <a:buNone/>
            </a:pPr>
            <a:r>
              <a:rPr lang="en-US" sz="1360" b="1" dirty="0">
                <a:solidFill>
                  <a:srgbClr val="25194B"/>
                </a:solidFill>
                <a:latin typeface="Cambria" pitchFamily="34" charset="0"/>
                <a:ea typeface="Cambria" pitchFamily="34" charset="-122"/>
                <a:cs typeface="Cambria" pitchFamily="34" charset="-120"/>
              </a:rPr>
              <a:t>3B sau GRPO-SPICE hơn 7B prompting</a:t>
            </a:r>
            <a:endParaRPr lang="en-US" sz="1360" dirty="0"/>
          </a:p>
        </p:txBody>
      </p:sp>
      <p:sp>
        <p:nvSpPr>
          <p:cNvPr id="19" name="Text 17"/>
          <p:cNvSpPr/>
          <p:nvPr/>
        </p:nvSpPr>
        <p:spPr>
          <a:xfrm>
            <a:off x="5029200" y="3822192"/>
            <a:ext cx="3154680" cy="411480"/>
          </a:xfrm>
          <a:prstGeom prst="rect">
            <a:avLst/>
          </a:prstGeom>
          <a:noFill/>
          <a:ln/>
        </p:spPr>
        <p:txBody>
          <a:bodyPr wrap="square" lIns="0" tIns="0" rIns="0" bIns="0" rtlCol="0" anchor="ctr"/>
          <a:lstStyle/>
          <a:p>
            <a:pPr algn="ctr" indent="0" marL="0">
              <a:lnSpc>
                <a:spcPct val="125000"/>
              </a:lnSpc>
              <a:buNone/>
            </a:pPr>
            <a:r>
              <a:rPr lang="en-US" sz="2100" b="1" dirty="0">
                <a:solidFill>
                  <a:srgbClr val="4F417A"/>
                </a:solidFill>
                <a:latin typeface="Cambria" pitchFamily="34" charset="0"/>
                <a:ea typeface="Cambria" pitchFamily="34" charset="-122"/>
                <a:cs typeface="Cambria" pitchFamily="34" charset="-120"/>
              </a:rPr>
              <a:t>+9,14 điểm</a:t>
            </a:r>
            <a:endParaRPr lang="en-US" sz="2100" dirty="0"/>
          </a:p>
        </p:txBody>
      </p:sp>
      <p:sp>
        <p:nvSpPr>
          <p:cNvPr id="20" name="Text 18"/>
          <p:cNvSpPr/>
          <p:nvPr/>
        </p:nvSpPr>
        <p:spPr>
          <a:xfrm>
            <a:off x="502920" y="5074920"/>
            <a:ext cx="8138160" cy="502920"/>
          </a:xfrm>
          <a:prstGeom prst="rect">
            <a:avLst/>
          </a:prstGeom>
          <a:noFill/>
          <a:ln/>
        </p:spPr>
        <p:txBody>
          <a:bodyPr wrap="square" lIns="0" tIns="0" rIns="0" bIns="0" rtlCol="0" anchor="ctr">
            <a:normAutofit/>
          </a:bodyPr>
          <a:lstStyle/>
          <a:p>
            <a:pPr algn="ctr" indent="0" marL="0">
              <a:lnSpc>
                <a:spcPct val="125000"/>
              </a:lnSpc>
              <a:buNone/>
            </a:pPr>
            <a:r>
              <a:rPr lang="en-US" sz="1380" b="1" dirty="0">
                <a:solidFill>
                  <a:srgbClr val="25194B"/>
                </a:solidFill>
                <a:latin typeface="Cambria" pitchFamily="34" charset="0"/>
                <a:ea typeface="Cambria" pitchFamily="34" charset="-122"/>
                <a:cs typeface="Cambria" pitchFamily="34" charset="-120"/>
              </a:rPr>
              <a:t>So sánh này chỉ áp dụng cho thiết lập prompting đã thử. 7B không được tối ưu prompt riêng.</a:t>
            </a:r>
            <a:endParaRPr lang="en-US" sz="1380" dirty="0"/>
          </a:p>
        </p:txBody>
      </p:sp>
      <p:sp>
        <p:nvSpPr>
          <p:cNvPr id="21" name="Text 19"/>
          <p:cNvSpPr/>
          <p:nvPr/>
        </p:nvSpPr>
        <p:spPr>
          <a:xfrm>
            <a:off x="502920" y="6327648"/>
            <a:ext cx="8138160" cy="137160"/>
          </a:xfrm>
          <a:prstGeom prst="rect">
            <a:avLst/>
          </a:prstGeom>
          <a:noFill/>
          <a:ln/>
        </p:spPr>
        <p:txBody>
          <a:bodyPr wrap="square" lIns="0" tIns="0" rIns="0" bIns="0" rtlCol="0" anchor="ctr"/>
          <a:lstStyle/>
          <a:p>
            <a:pPr algn="r" indent="0" marL="0">
              <a:lnSpc>
                <a:spcPct val="125000"/>
              </a:lnSpc>
              <a:buNone/>
            </a:pPr>
            <a:r>
              <a:rPr lang="en-US" sz="800" i="1" dirty="0">
                <a:solidFill>
                  <a:srgbClr val="5A5A66"/>
                </a:solidFill>
                <a:latin typeface="Cambria" pitchFamily="34" charset="0"/>
                <a:ea typeface="Cambria" pitchFamily="34" charset="-122"/>
                <a:cs typeface="Cambria" pitchFamily="34" charset="-120"/>
              </a:rPr>
              <a:t>Luận văn §6.2</a:t>
            </a:r>
            <a:endParaRPr lang="en-US" sz="800" dirty="0"/>
          </a:p>
        </p:txBody>
      </p:sp>
      <p:sp>
        <p:nvSpPr>
          <p:cNvPr id="22" name="Shape 20"/>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3" name="Shape 21"/>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4" name="Shape 22"/>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5" name="Shape 23"/>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6" name="Text 24"/>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7" name="Text 25"/>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8" name="Text 26"/>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9" name="Text 27"/>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7/25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Độ đo khả năng thực hiện theo hướng dẫn</a:t>
            </a:r>
            <a:endParaRPr lang="en-US" sz="1820" dirty="0"/>
          </a:p>
        </p:txBody>
      </p:sp>
      <p:sp>
        <p:nvSpPr>
          <p:cNvPr id="4" name="Text 2"/>
          <p:cNvSpPr/>
          <p:nvPr/>
        </p:nvSpPr>
        <p:spPr>
          <a:xfrm>
            <a:off x="502920" y="603504"/>
            <a:ext cx="8138160" cy="219456"/>
          </a:xfrm>
          <a:prstGeom prst="rect">
            <a:avLst/>
          </a:prstGeom>
          <a:noFill/>
          <a:ln/>
        </p:spPr>
        <p:txBody>
          <a:bodyPr wrap="square" lIns="0" tIns="0" rIns="0" bIns="0" rtlCol="0" anchor="ctr">
            <a:normAutofit/>
          </a:bodyPr>
          <a:lstStyle/>
          <a:p>
            <a:pPr indent="0" marL="0">
              <a:lnSpc>
                <a:spcPct val="125000"/>
              </a:lnSpc>
              <a:buNone/>
            </a:pPr>
            <a:r>
              <a:rPr lang="en-US" sz="1260" b="1" dirty="0">
                <a:solidFill>
                  <a:srgbClr val="25194B"/>
                </a:solidFill>
                <a:latin typeface="Cambria" pitchFamily="34" charset="0"/>
                <a:ea typeface="Cambria" pitchFamily="34" charset="-122"/>
                <a:cs typeface="Cambria" pitchFamily="34" charset="-120"/>
              </a:rPr>
              <a:t>Executability</a:t>
            </a:r>
            <a:endParaRPr lang="en-US" sz="1260" dirty="0"/>
          </a:p>
        </p:txBody>
      </p:sp>
      <p:sp>
        <p:nvSpPr>
          <p:cNvPr id="5" name="Shape 3"/>
          <p:cNvSpPr/>
          <p:nvPr/>
        </p:nvSpPr>
        <p:spPr>
          <a:xfrm>
            <a:off x="594360" y="1572768"/>
            <a:ext cx="1737360" cy="841248"/>
          </a:xfrm>
          <a:prstGeom prst="roundRect">
            <a:avLst/>
          </a:prstGeom>
          <a:solidFill>
            <a:srgbClr val="FFFFFF"/>
          </a:solidFill>
          <a:ln w="12700">
            <a:solidFill>
              <a:srgbClr val="7A7099"/>
            </a:solidFill>
            <a:prstDash val="solid"/>
          </a:ln>
        </p:spPr>
      </p:sp>
      <p:sp>
        <p:nvSpPr>
          <p:cNvPr id="6" name="Text 4"/>
          <p:cNvSpPr/>
          <p:nvPr/>
        </p:nvSpPr>
        <p:spPr>
          <a:xfrm>
            <a:off x="594360" y="1572768"/>
            <a:ext cx="1737360" cy="841248"/>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Câu hướng dẫn</a:t>
            </a:r>
            <a:endParaRPr lang="en-US" sz="1600" dirty="0"/>
          </a:p>
        </p:txBody>
      </p:sp>
      <p:sp>
        <p:nvSpPr>
          <p:cNvPr id="7" name="Shape 5"/>
          <p:cNvSpPr/>
          <p:nvPr/>
        </p:nvSpPr>
        <p:spPr>
          <a:xfrm>
            <a:off x="2441448" y="1993392"/>
            <a:ext cx="365760" cy="0"/>
          </a:xfrm>
          <a:prstGeom prst="line">
            <a:avLst/>
          </a:prstGeom>
          <a:noFill/>
          <a:ln w="25400">
            <a:solidFill>
              <a:srgbClr val="4F417A"/>
            </a:solidFill>
            <a:prstDash val="solid"/>
            <a:tailEnd type="triangle"/>
          </a:ln>
        </p:spPr>
      </p:sp>
      <p:sp>
        <p:nvSpPr>
          <p:cNvPr id="8" name="Shape 6"/>
          <p:cNvSpPr/>
          <p:nvPr/>
        </p:nvSpPr>
        <p:spPr>
          <a:xfrm>
            <a:off x="2907792" y="1444752"/>
            <a:ext cx="2057400" cy="1097280"/>
          </a:xfrm>
          <a:prstGeom prst="roundRect">
            <a:avLst/>
          </a:prstGeom>
          <a:solidFill>
            <a:srgbClr val="F3F2F5"/>
          </a:solidFill>
          <a:ln w="12700">
            <a:solidFill>
              <a:srgbClr val="25194B"/>
            </a:solidFill>
            <a:prstDash val="solid"/>
          </a:ln>
        </p:spPr>
      </p:sp>
      <p:sp>
        <p:nvSpPr>
          <p:cNvPr id="9" name="Text 7"/>
          <p:cNvSpPr/>
          <p:nvPr/>
        </p:nvSpPr>
        <p:spPr>
          <a:xfrm>
            <a:off x="2907792" y="1444752"/>
            <a:ext cx="2057400" cy="1097280"/>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Mô hình định vị</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tách biệt</a:t>
            </a:r>
            <a:endParaRPr lang="en-US" sz="1500" dirty="0"/>
          </a:p>
        </p:txBody>
      </p:sp>
      <p:sp>
        <p:nvSpPr>
          <p:cNvPr id="10" name="Shape 8"/>
          <p:cNvSpPr/>
          <p:nvPr/>
        </p:nvSpPr>
        <p:spPr>
          <a:xfrm>
            <a:off x="5074920" y="1993392"/>
            <a:ext cx="365760" cy="0"/>
          </a:xfrm>
          <a:prstGeom prst="line">
            <a:avLst/>
          </a:prstGeom>
          <a:noFill/>
          <a:ln w="25400">
            <a:solidFill>
              <a:srgbClr val="4F417A"/>
            </a:solidFill>
            <a:prstDash val="solid"/>
            <a:tailEnd type="triangle"/>
          </a:ln>
        </p:spPr>
      </p:sp>
      <p:sp>
        <p:nvSpPr>
          <p:cNvPr id="11" name="Shape 9"/>
          <p:cNvSpPr/>
          <p:nvPr/>
        </p:nvSpPr>
        <p:spPr>
          <a:xfrm>
            <a:off x="5541264" y="1572768"/>
            <a:ext cx="1188720" cy="841248"/>
          </a:xfrm>
          <a:prstGeom prst="roundRect">
            <a:avLst/>
          </a:prstGeom>
          <a:solidFill>
            <a:srgbClr val="FFFFFF"/>
          </a:solidFill>
          <a:ln w="12700">
            <a:solidFill>
              <a:srgbClr val="7A7099"/>
            </a:solidFill>
            <a:prstDash val="solid"/>
          </a:ln>
        </p:spPr>
      </p:sp>
      <p:sp>
        <p:nvSpPr>
          <p:cNvPr id="12" name="Text 10"/>
          <p:cNvSpPr/>
          <p:nvPr/>
        </p:nvSpPr>
        <p:spPr>
          <a:xfrm>
            <a:off x="5541264" y="1572768"/>
            <a:ext cx="1188720" cy="841248"/>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Điểm (x,y)</a:t>
            </a:r>
            <a:endParaRPr lang="en-US" sz="1400" dirty="0"/>
          </a:p>
        </p:txBody>
      </p:sp>
      <p:sp>
        <p:nvSpPr>
          <p:cNvPr id="13" name="Shape 11"/>
          <p:cNvSpPr/>
          <p:nvPr/>
        </p:nvSpPr>
        <p:spPr>
          <a:xfrm>
            <a:off x="6839712" y="1993392"/>
            <a:ext cx="365760" cy="0"/>
          </a:xfrm>
          <a:prstGeom prst="line">
            <a:avLst/>
          </a:prstGeom>
          <a:noFill/>
          <a:ln w="25400">
            <a:solidFill>
              <a:srgbClr val="4F417A"/>
            </a:solidFill>
            <a:prstDash val="solid"/>
            <a:tailEnd type="triangle"/>
          </a:ln>
        </p:spPr>
      </p:sp>
      <p:sp>
        <p:nvSpPr>
          <p:cNvPr id="14" name="Shape 12"/>
          <p:cNvSpPr/>
          <p:nvPr/>
        </p:nvSpPr>
        <p:spPr>
          <a:xfrm>
            <a:off x="7296912" y="1371600"/>
            <a:ext cx="1261872" cy="1243584"/>
          </a:xfrm>
          <a:prstGeom prst="roundRect">
            <a:avLst/>
          </a:prstGeom>
          <a:solidFill>
            <a:srgbClr val="F3F2F5"/>
          </a:solidFill>
          <a:ln w="12700">
            <a:solidFill>
              <a:srgbClr val="4F417A"/>
            </a:solidFill>
            <a:prstDash val="solid"/>
          </a:ln>
        </p:spPr>
      </p:sp>
      <p:sp>
        <p:nvSpPr>
          <p:cNvPr id="15" name="Text 13"/>
          <p:cNvSpPr/>
          <p:nvPr/>
        </p:nvSpPr>
        <p:spPr>
          <a:xfrm>
            <a:off x="7296912" y="1371600"/>
            <a:ext cx="1261872" cy="1243584"/>
          </a:xfrm>
          <a:prstGeom prst="rect">
            <a:avLst/>
          </a:prstGeom>
          <a:noFill/>
          <a:ln/>
        </p:spPr>
        <p:txBody>
          <a:bodyPr wrap="square" lIns="0" tIns="0" rIns="0" bIns="0" rtlCol="0" anchor="ctr">
            <a:normAutofit/>
          </a:bodyPr>
          <a:lstStyle/>
          <a:p>
            <a:pPr algn="ctr" indent="0" marL="0">
              <a:lnSpc>
                <a:spcPct val="125000"/>
              </a:lnSpc>
              <a:buNone/>
            </a:pPr>
            <a:r>
              <a:rPr lang="en-US" sz="1320" b="1" dirty="0">
                <a:solidFill>
                  <a:srgbClr val="1A1A1A"/>
                </a:solidFill>
                <a:latin typeface="Cambria" pitchFamily="34" charset="0"/>
                <a:ea typeface="Cambria" pitchFamily="34" charset="-122"/>
                <a:cs typeface="Cambria" pitchFamily="34" charset="-120"/>
              </a:rPr>
              <a:t>Kiểm tra</a:t>
            </a:r>
            <a:endParaRPr lang="en-US" sz="1320" dirty="0"/>
          </a:p>
          <a:p>
            <a:pPr algn="ctr" indent="0" marL="0">
              <a:lnSpc>
                <a:spcPct val="125000"/>
              </a:lnSpc>
              <a:buNone/>
            </a:pPr>
            <a:r>
              <a:rPr lang="en-US" sz="1320" b="1" dirty="0">
                <a:solidFill>
                  <a:srgbClr val="1A1A1A"/>
                </a:solidFill>
                <a:latin typeface="Cambria" pitchFamily="34" charset="0"/>
                <a:ea typeface="Cambria" pitchFamily="34" charset="-122"/>
                <a:cs typeface="Cambria" pitchFamily="34" charset="-120"/>
              </a:rPr>
              <a:t>phần tử + thao tác</a:t>
            </a:r>
            <a:endParaRPr lang="en-US" sz="1320" dirty="0"/>
          </a:p>
        </p:txBody>
      </p:sp>
      <p:sp>
        <p:nvSpPr>
          <p:cNvPr id="16" name="Text 14"/>
          <p:cNvSpPr/>
          <p:nvPr/>
        </p:nvSpPr>
        <p:spPr>
          <a:xfrm>
            <a:off x="502920" y="3182112"/>
            <a:ext cx="3246120" cy="502920"/>
          </a:xfrm>
          <a:prstGeom prst="rect">
            <a:avLst/>
          </a:prstGeom>
          <a:noFill/>
          <a:ln/>
        </p:spPr>
        <p:txBody>
          <a:bodyPr wrap="square" lIns="0" tIns="0" rIns="0" bIns="0" rtlCol="0" anchor="ctr">
            <a:normAutofit/>
          </a:bodyPr>
          <a:lstStyle/>
          <a:p>
            <a:pPr indent="0" marL="0">
              <a:lnSpc>
                <a:spcPct val="125000"/>
              </a:lnSpc>
              <a:buNone/>
            </a:pPr>
            <a:r>
              <a:rPr lang="en-US" sz="1550" b="1" dirty="0">
                <a:solidFill>
                  <a:srgbClr val="25194B"/>
                </a:solidFill>
                <a:latin typeface="Cambria" pitchFamily="34" charset="0"/>
                <a:ea typeface="Cambria" pitchFamily="34" charset="-122"/>
                <a:cs typeface="Cambria" pitchFamily="34" charset="-120"/>
              </a:rPr>
              <a:t>Một bước được tính đúng khi đồng thời:</a:t>
            </a:r>
            <a:endParaRPr lang="en-US" sz="1550" dirty="0"/>
          </a:p>
        </p:txBody>
      </p:sp>
      <p:sp>
        <p:nvSpPr>
          <p:cNvPr id="17" name="Shape 15"/>
          <p:cNvSpPr/>
          <p:nvPr/>
        </p:nvSpPr>
        <p:spPr>
          <a:xfrm>
            <a:off x="521208" y="3813048"/>
            <a:ext cx="64008" cy="64008"/>
          </a:xfrm>
          <a:prstGeom prst="ellipse">
            <a:avLst/>
          </a:prstGeom>
          <a:solidFill>
            <a:srgbClr val="4F417A"/>
          </a:solidFill>
          <a:ln w="12700">
            <a:solidFill>
              <a:srgbClr val="4F417A">
                <a:alpha val="0"/>
              </a:srgbClr>
            </a:solidFill>
            <a:prstDash val="solid"/>
          </a:ln>
        </p:spPr>
      </p:sp>
      <p:sp>
        <p:nvSpPr>
          <p:cNvPr id="18" name="Text 16"/>
          <p:cNvSpPr/>
          <p:nvPr/>
        </p:nvSpPr>
        <p:spPr>
          <a:xfrm>
            <a:off x="713232" y="3675888"/>
            <a:ext cx="7927848" cy="475488"/>
          </a:xfrm>
          <a:prstGeom prst="rect">
            <a:avLst/>
          </a:prstGeom>
          <a:noFill/>
          <a:ln/>
        </p:spPr>
        <p:txBody>
          <a:bodyPr wrap="square" lIns="0" tIns="0" rIns="0" bIns="0" rtlCol="0" anchor="t">
            <a:normAutofit/>
          </a:bodyPr>
          <a:lstStyle/>
          <a:p>
            <a:pPr indent="0" marL="0">
              <a:lnSpc>
                <a:spcPct val="125000"/>
              </a:lnSpc>
              <a:buNone/>
            </a:pPr>
            <a:r>
              <a:rPr lang="en-US" sz="1500" dirty="0">
                <a:solidFill>
                  <a:srgbClr val="1A1A1A"/>
                </a:solidFill>
                <a:latin typeface="Cambria" pitchFamily="34" charset="0"/>
                <a:ea typeface="Cambria" pitchFamily="34" charset="-122"/>
                <a:cs typeface="Cambria" pitchFamily="34" charset="-120"/>
              </a:rPr>
              <a:t>đúng loại thao tác</a:t>
            </a:r>
            <a:endParaRPr lang="en-US" sz="1500" dirty="0"/>
          </a:p>
        </p:txBody>
      </p:sp>
      <p:sp>
        <p:nvSpPr>
          <p:cNvPr id="19" name="Shape 17"/>
          <p:cNvSpPr/>
          <p:nvPr/>
        </p:nvSpPr>
        <p:spPr>
          <a:xfrm>
            <a:off x="521208" y="4379976"/>
            <a:ext cx="64008" cy="64008"/>
          </a:xfrm>
          <a:prstGeom prst="ellipse">
            <a:avLst/>
          </a:prstGeom>
          <a:solidFill>
            <a:srgbClr val="4F417A"/>
          </a:solidFill>
          <a:ln w="12700">
            <a:solidFill>
              <a:srgbClr val="4F417A">
                <a:alpha val="0"/>
              </a:srgbClr>
            </a:solidFill>
            <a:prstDash val="solid"/>
          </a:ln>
        </p:spPr>
      </p:sp>
      <p:sp>
        <p:nvSpPr>
          <p:cNvPr id="20" name="Text 18"/>
          <p:cNvSpPr/>
          <p:nvPr/>
        </p:nvSpPr>
        <p:spPr>
          <a:xfrm>
            <a:off x="713232" y="4242816"/>
            <a:ext cx="7927848" cy="475488"/>
          </a:xfrm>
          <a:prstGeom prst="rect">
            <a:avLst/>
          </a:prstGeom>
          <a:noFill/>
          <a:ln/>
        </p:spPr>
        <p:txBody>
          <a:bodyPr wrap="square" lIns="0" tIns="0" rIns="0" bIns="0" rtlCol="0" anchor="t">
            <a:normAutofit/>
          </a:bodyPr>
          <a:lstStyle/>
          <a:p>
            <a:pPr indent="0" marL="0">
              <a:lnSpc>
                <a:spcPct val="125000"/>
              </a:lnSpc>
              <a:buNone/>
            </a:pPr>
            <a:r>
              <a:rPr lang="en-US" sz="1500" dirty="0">
                <a:solidFill>
                  <a:srgbClr val="1A1A1A"/>
                </a:solidFill>
                <a:latin typeface="Cambria" pitchFamily="34" charset="0"/>
                <a:ea typeface="Cambria" pitchFamily="34" charset="-122"/>
                <a:cs typeface="Cambria" pitchFamily="34" charset="-120"/>
              </a:rPr>
              <a:t>không diễn đạt ngược thao tác cần làm</a:t>
            </a:r>
            <a:endParaRPr lang="en-US" sz="1500" dirty="0"/>
          </a:p>
        </p:txBody>
      </p:sp>
      <p:sp>
        <p:nvSpPr>
          <p:cNvPr id="21" name="Shape 19"/>
          <p:cNvSpPr/>
          <p:nvPr/>
        </p:nvSpPr>
        <p:spPr>
          <a:xfrm>
            <a:off x="521208" y="4946904"/>
            <a:ext cx="64008" cy="64008"/>
          </a:xfrm>
          <a:prstGeom prst="ellipse">
            <a:avLst/>
          </a:prstGeom>
          <a:solidFill>
            <a:srgbClr val="4F417A"/>
          </a:solidFill>
          <a:ln w="12700">
            <a:solidFill>
              <a:srgbClr val="4F417A">
                <a:alpha val="0"/>
              </a:srgbClr>
            </a:solidFill>
            <a:prstDash val="solid"/>
          </a:ln>
        </p:spPr>
      </p:sp>
      <p:sp>
        <p:nvSpPr>
          <p:cNvPr id="22" name="Text 20"/>
          <p:cNvSpPr/>
          <p:nvPr/>
        </p:nvSpPr>
        <p:spPr>
          <a:xfrm>
            <a:off x="713232" y="4809744"/>
            <a:ext cx="7927848" cy="475488"/>
          </a:xfrm>
          <a:prstGeom prst="rect">
            <a:avLst/>
          </a:prstGeom>
          <a:noFill/>
          <a:ln/>
        </p:spPr>
        <p:txBody>
          <a:bodyPr wrap="square" lIns="0" tIns="0" rIns="0" bIns="0" rtlCol="0" anchor="t">
            <a:normAutofit/>
          </a:bodyPr>
          <a:lstStyle/>
          <a:p>
            <a:pPr indent="0" marL="0">
              <a:lnSpc>
                <a:spcPct val="125000"/>
              </a:lnSpc>
              <a:buNone/>
            </a:pPr>
            <a:r>
              <a:rPr lang="en-US" sz="1500" dirty="0">
                <a:solidFill>
                  <a:srgbClr val="1A1A1A"/>
                </a:solidFill>
                <a:latin typeface="Cambria" pitchFamily="34" charset="0"/>
                <a:ea typeface="Cambria" pitchFamily="34" charset="-122"/>
                <a:cs typeface="Cambria" pitchFamily="34" charset="-120"/>
              </a:rPr>
              <a:t>điểm định vị thuộc vùng của phần tử cần chạm</a:t>
            </a:r>
            <a:endParaRPr lang="en-US" sz="1500" dirty="0"/>
          </a:p>
        </p:txBody>
      </p:sp>
      <p:sp>
        <p:nvSpPr>
          <p:cNvPr id="23" name="Text 21"/>
          <p:cNvSpPr/>
          <p:nvPr/>
        </p:nvSpPr>
        <p:spPr>
          <a:xfrm>
            <a:off x="502920" y="5468112"/>
            <a:ext cx="8138160" cy="411480"/>
          </a:xfrm>
          <a:prstGeom prst="rect">
            <a:avLst/>
          </a:prstGeom>
          <a:noFill/>
          <a:ln/>
        </p:spPr>
        <p:txBody>
          <a:bodyPr wrap="square" lIns="0" tIns="0" rIns="0" bIns="0" rtlCol="0" anchor="ctr"/>
          <a:lstStyle/>
          <a:p>
            <a:pPr algn="ctr" indent="0" marL="0">
              <a:lnSpc>
                <a:spcPct val="125000"/>
              </a:lnSpc>
              <a:buNone/>
            </a:pPr>
            <a:r>
              <a:rPr lang="en-US" sz="1400" b="1" dirty="0">
                <a:solidFill>
                  <a:srgbClr val="25194B"/>
                </a:solidFill>
                <a:latin typeface="Cambria" pitchFamily="34" charset="0"/>
                <a:ea typeface="Cambria" pitchFamily="34" charset="-122"/>
                <a:cs typeface="Cambria" pitchFamily="34" charset="-120"/>
              </a:rPr>
              <a:t>Mô hình định vị không tham gia huấn luyện phương pháp và không biết tọa độ đáp án.</a:t>
            </a:r>
            <a:endParaRPr lang="en-US" sz="1400" dirty="0"/>
          </a:p>
        </p:txBody>
      </p:sp>
      <p:sp>
        <p:nvSpPr>
          <p:cNvPr id="24" name="Text 22"/>
          <p:cNvSpPr/>
          <p:nvPr/>
        </p:nvSpPr>
        <p:spPr>
          <a:xfrm>
            <a:off x="502920" y="6327648"/>
            <a:ext cx="8138160" cy="137160"/>
          </a:xfrm>
          <a:prstGeom prst="rect">
            <a:avLst/>
          </a:prstGeom>
          <a:noFill/>
          <a:ln/>
        </p:spPr>
        <p:txBody>
          <a:bodyPr wrap="square" lIns="0" tIns="0" rIns="0" bIns="0" rtlCol="0" anchor="ctr"/>
          <a:lstStyle/>
          <a:p>
            <a:pPr algn="r" indent="0" marL="0">
              <a:lnSpc>
                <a:spcPct val="125000"/>
              </a:lnSpc>
              <a:buNone/>
            </a:pPr>
            <a:r>
              <a:rPr lang="en-US" sz="800" i="1" dirty="0">
                <a:solidFill>
                  <a:srgbClr val="5A5A66"/>
                </a:solidFill>
                <a:latin typeface="Cambria" pitchFamily="34" charset="0"/>
                <a:ea typeface="Cambria" pitchFamily="34" charset="-122"/>
                <a:cs typeface="Cambria" pitchFamily="34" charset="-120"/>
              </a:rPr>
              <a:t>Luận văn Chương 5</a:t>
            </a:r>
            <a:endParaRPr lang="en-US" sz="800" dirty="0"/>
          </a:p>
        </p:txBody>
      </p:sp>
      <p:sp>
        <p:nvSpPr>
          <p:cNvPr id="25" name="Shape 23"/>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6" name="Shape 24"/>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7" name="Shape 25"/>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8" name="Shape 26"/>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9" name="Text 27"/>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0" name="Text 28"/>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1" name="Text 29"/>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2" name="Text 30"/>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8/25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Độ đo khả năng thực hiện theo hướng dẫn</a:t>
            </a:r>
            <a:endParaRPr lang="en-US" sz="1820" dirty="0"/>
          </a:p>
        </p:txBody>
      </p:sp>
      <p:sp>
        <p:nvSpPr>
          <p:cNvPr id="4" name="Text 2"/>
          <p:cNvSpPr/>
          <p:nvPr/>
        </p:nvSpPr>
        <p:spPr>
          <a:xfrm>
            <a:off x="502920" y="603504"/>
            <a:ext cx="8138160" cy="219456"/>
          </a:xfrm>
          <a:prstGeom prst="rect">
            <a:avLst/>
          </a:prstGeom>
          <a:noFill/>
          <a:ln/>
        </p:spPr>
        <p:txBody>
          <a:bodyPr wrap="square" lIns="0" tIns="0" rIns="0" bIns="0" rtlCol="0" anchor="ctr">
            <a:normAutofit/>
          </a:bodyPr>
          <a:lstStyle/>
          <a:p>
            <a:pPr indent="0" marL="0">
              <a:lnSpc>
                <a:spcPct val="125000"/>
              </a:lnSpc>
              <a:buNone/>
            </a:pPr>
            <a:r>
              <a:rPr lang="en-US" sz="1260" b="1" dirty="0">
                <a:solidFill>
                  <a:srgbClr val="25194B"/>
                </a:solidFill>
                <a:latin typeface="Cambria" pitchFamily="34" charset="0"/>
                <a:ea typeface="Cambria" pitchFamily="34" charset="-122"/>
                <a:cs typeface="Cambria" pitchFamily="34" charset="-120"/>
              </a:rPr>
              <a:t>Kiểm tra độ tin cậy của executability</a:t>
            </a:r>
            <a:endParaRPr lang="en-US" sz="1260" dirty="0"/>
          </a:p>
        </p:txBody>
      </p:sp>
      <p:sp>
        <p:nvSpPr>
          <p:cNvPr id="5" name="Text 3"/>
          <p:cNvSpPr/>
          <p:nvPr/>
        </p:nvSpPr>
        <p:spPr>
          <a:xfrm>
            <a:off x="640080" y="1097280"/>
            <a:ext cx="214884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75,7%</a:t>
            </a:r>
            <a:endParaRPr lang="en-US" sz="2400" dirty="0"/>
          </a:p>
        </p:txBody>
      </p:sp>
      <p:sp>
        <p:nvSpPr>
          <p:cNvPr id="6" name="Text 4"/>
          <p:cNvSpPr/>
          <p:nvPr/>
        </p:nvSpPr>
        <p:spPr>
          <a:xfrm>
            <a:off x="640080" y="1627632"/>
            <a:ext cx="214884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câu chuẩn</a:t>
            </a:r>
            <a:endParaRPr lang="en-US" sz="1250" dirty="0"/>
          </a:p>
        </p:txBody>
      </p:sp>
      <p:sp>
        <p:nvSpPr>
          <p:cNvPr id="7" name="Text 5"/>
          <p:cNvSpPr/>
          <p:nvPr/>
        </p:nvSpPr>
        <p:spPr>
          <a:xfrm>
            <a:off x="3493008" y="1097280"/>
            <a:ext cx="214884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12,0%</a:t>
            </a:r>
            <a:endParaRPr lang="en-US" sz="2400" dirty="0"/>
          </a:p>
        </p:txBody>
      </p:sp>
      <p:sp>
        <p:nvSpPr>
          <p:cNvPr id="8" name="Text 6"/>
          <p:cNvSpPr/>
          <p:nvPr/>
        </p:nvSpPr>
        <p:spPr>
          <a:xfrm>
            <a:off x="3493008" y="1627632"/>
            <a:ext cx="214884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“Tap the button.”</a:t>
            </a:r>
            <a:endParaRPr lang="en-US" sz="1250" dirty="0"/>
          </a:p>
        </p:txBody>
      </p:sp>
      <p:sp>
        <p:nvSpPr>
          <p:cNvPr id="9" name="Text 7"/>
          <p:cNvSpPr/>
          <p:nvPr/>
        </p:nvSpPr>
        <p:spPr>
          <a:xfrm>
            <a:off x="6345936" y="1097280"/>
            <a:ext cx="214884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6,1%</a:t>
            </a:r>
            <a:endParaRPr lang="en-US" sz="2400" dirty="0"/>
          </a:p>
        </p:txBody>
      </p:sp>
      <p:sp>
        <p:nvSpPr>
          <p:cNvPr id="10" name="Text 8"/>
          <p:cNvSpPr/>
          <p:nvPr/>
        </p:nvSpPr>
        <p:spPr>
          <a:xfrm>
            <a:off x="6345936" y="1627632"/>
            <a:ext cx="214884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câu của màn hình khác</a:t>
            </a:r>
            <a:endParaRPr lang="en-US" sz="1250" dirty="0"/>
          </a:p>
        </p:txBody>
      </p:sp>
      <p:sp>
        <p:nvSpPr>
          <p:cNvPr id="11" name="Text 9"/>
          <p:cNvSpPr/>
          <p:nvPr/>
        </p:nvSpPr>
        <p:spPr>
          <a:xfrm>
            <a:off x="502920" y="2395728"/>
            <a:ext cx="8138160" cy="274320"/>
          </a:xfrm>
          <a:prstGeom prst="rect">
            <a:avLst/>
          </a:prstGeom>
          <a:noFill/>
          <a:ln/>
        </p:spPr>
        <p:txBody>
          <a:bodyPr wrap="square" lIns="0" tIns="0" rIns="0" bIns="0" rtlCol="0" anchor="ctr"/>
          <a:lstStyle/>
          <a:p>
            <a:pPr algn="ctr" indent="0" marL="0">
              <a:lnSpc>
                <a:spcPct val="125000"/>
              </a:lnSpc>
              <a:buNone/>
            </a:pPr>
            <a:r>
              <a:rPr lang="en-US" sz="1250" dirty="0">
                <a:solidFill>
                  <a:srgbClr val="5A5A66"/>
                </a:solidFill>
                <a:latin typeface="Cambria" pitchFamily="34" charset="0"/>
                <a:ea typeface="Cambria" pitchFamily="34" charset="-122"/>
                <a:cs typeface="Cambria" pitchFamily="34" charset="-120"/>
              </a:rPr>
              <a:t>Ba mốc được tính trên cùng mẫu 800 bước.</a:t>
            </a:r>
            <a:endParaRPr lang="en-US" sz="1250" dirty="0"/>
          </a:p>
        </p:txBody>
      </p:sp>
      <p:sp>
        <p:nvSpPr>
          <p:cNvPr id="12" name="Shape 10"/>
          <p:cNvSpPr/>
          <p:nvPr/>
        </p:nvSpPr>
        <p:spPr>
          <a:xfrm>
            <a:off x="502920" y="2761488"/>
            <a:ext cx="8138160" cy="0"/>
          </a:xfrm>
          <a:prstGeom prst="line">
            <a:avLst/>
          </a:prstGeom>
          <a:noFill/>
          <a:ln w="12700">
            <a:solidFill>
              <a:srgbClr val="D9D6DF"/>
            </a:solidFill>
            <a:prstDash val="solid"/>
            <a:tailEnd type="none"/>
          </a:ln>
        </p:spPr>
      </p:sp>
      <p:sp>
        <p:nvSpPr>
          <p:cNvPr id="13" name="Shape 11"/>
          <p:cNvSpPr/>
          <p:nvPr/>
        </p:nvSpPr>
        <p:spPr>
          <a:xfrm>
            <a:off x="502920" y="3127248"/>
            <a:ext cx="8138160" cy="1417320"/>
          </a:xfrm>
          <a:prstGeom prst="roundRect">
            <a:avLst/>
          </a:prstGeom>
          <a:solidFill>
            <a:srgbClr val="F3F2F5"/>
          </a:solidFill>
          <a:ln w="12700">
            <a:solidFill>
              <a:srgbClr val="7A7099"/>
            </a:solidFill>
            <a:prstDash val="solid"/>
          </a:ln>
        </p:spPr>
      </p:sp>
      <p:sp>
        <p:nvSpPr>
          <p:cNvPr id="14" name="Text 12"/>
          <p:cNvSpPr/>
          <p:nvPr/>
        </p:nvSpPr>
        <p:spPr>
          <a:xfrm>
            <a:off x="704088" y="3346704"/>
            <a:ext cx="2057400" cy="310896"/>
          </a:xfrm>
          <a:prstGeom prst="rect">
            <a:avLst/>
          </a:prstGeom>
          <a:noFill/>
          <a:ln/>
        </p:spPr>
        <p:txBody>
          <a:bodyPr wrap="square" lIns="0" tIns="0" rIns="0" bIns="0" rtlCol="0" anchor="ctr"/>
          <a:lstStyle/>
          <a:p>
            <a:pPr indent="0" marL="0">
              <a:lnSpc>
                <a:spcPct val="125000"/>
              </a:lnSpc>
              <a:buNone/>
            </a:pPr>
            <a:r>
              <a:rPr lang="en-US" sz="1500" b="1" dirty="0">
                <a:solidFill>
                  <a:srgbClr val="25194B"/>
                </a:solidFill>
                <a:latin typeface="Cambria" pitchFamily="34" charset="0"/>
                <a:ea typeface="Cambria" pitchFamily="34" charset="-122"/>
                <a:cs typeface="Cambria" pitchFamily="34" charset="-120"/>
              </a:rPr>
              <a:t>Đổi công cụ đánh giá</a:t>
            </a:r>
            <a:endParaRPr lang="en-US" sz="1500" dirty="0"/>
          </a:p>
        </p:txBody>
      </p:sp>
      <p:sp>
        <p:nvSpPr>
          <p:cNvPr id="15" name="Text 13"/>
          <p:cNvSpPr/>
          <p:nvPr/>
        </p:nvSpPr>
        <p:spPr>
          <a:xfrm>
            <a:off x="2560320" y="3182112"/>
            <a:ext cx="5806440" cy="841248"/>
          </a:xfrm>
          <a:prstGeom prst="rect">
            <a:avLst/>
          </a:prstGeom>
          <a:noFill/>
          <a:ln/>
        </p:spPr>
        <p:txBody>
          <a:bodyPr wrap="square" lIns="0" tIns="0" rIns="0" bIns="0" rtlCol="0" anchor="ctr">
            <a:normAutofit/>
          </a:bodyPr>
          <a:lstStyle/>
          <a:p>
            <a:pPr indent="0" marL="0">
              <a:lnSpc>
                <a:spcPct val="125000"/>
              </a:lnSpc>
              <a:buNone/>
            </a:pPr>
            <a:r>
              <a:rPr lang="en-US" sz="1400" dirty="0">
                <a:solidFill>
                  <a:srgbClr val="1A1A1A"/>
                </a:solidFill>
                <a:latin typeface="Cambria" pitchFamily="34" charset="0"/>
                <a:ea typeface="Cambria" pitchFamily="34" charset="-122"/>
                <a:cs typeface="Cambria" pitchFamily="34" charset="-120"/>
              </a:rPr>
              <a:t>Chiều cải thiện của GRPO-SPICE so với S1 được giữ dưới UGround, UI-Venus, Phi-Ground và Phi-4. Hai công cụ sau nằm ngoài họ Qwen.</a:t>
            </a:r>
            <a:endParaRPr lang="en-US" sz="1400" dirty="0"/>
          </a:p>
        </p:txBody>
      </p:sp>
      <p:sp>
        <p:nvSpPr>
          <p:cNvPr id="16" name="Text 14"/>
          <p:cNvSpPr/>
          <p:nvPr/>
        </p:nvSpPr>
        <p:spPr>
          <a:xfrm>
            <a:off x="502920" y="5074920"/>
            <a:ext cx="8138160" cy="457200"/>
          </a:xfrm>
          <a:prstGeom prst="rect">
            <a:avLst/>
          </a:prstGeom>
          <a:noFill/>
          <a:ln/>
        </p:spPr>
        <p:txBody>
          <a:bodyPr wrap="square" lIns="0" tIns="0" rIns="0" bIns="0" rtlCol="0" anchor="ctr"/>
          <a:lstStyle/>
          <a:p>
            <a:pPr algn="ctr" indent="0" marL="0">
              <a:lnSpc>
                <a:spcPct val="125000"/>
              </a:lnSpc>
              <a:buNone/>
            </a:pPr>
            <a:r>
              <a:rPr lang="en-US" sz="1500" b="1" dirty="0">
                <a:solidFill>
                  <a:srgbClr val="25194B"/>
                </a:solidFill>
                <a:latin typeface="Cambria" pitchFamily="34" charset="0"/>
                <a:ea typeface="Cambria" pitchFamily="34" charset="-122"/>
                <a:cs typeface="Cambria" pitchFamily="34" charset="-120"/>
              </a:rPr>
              <a:t>Kết luận chính không phụ thuộc vào một công cụ đánh giá duy nhất.</a:t>
            </a:r>
            <a:endParaRPr lang="en-US" sz="1500" dirty="0"/>
          </a:p>
        </p:txBody>
      </p:sp>
      <p:sp>
        <p:nvSpPr>
          <p:cNvPr id="17" name="Text 15"/>
          <p:cNvSpPr/>
          <p:nvPr/>
        </p:nvSpPr>
        <p:spPr>
          <a:xfrm>
            <a:off x="502920" y="6327648"/>
            <a:ext cx="8138160" cy="137160"/>
          </a:xfrm>
          <a:prstGeom prst="rect">
            <a:avLst/>
          </a:prstGeom>
          <a:noFill/>
          <a:ln/>
        </p:spPr>
        <p:txBody>
          <a:bodyPr wrap="square" lIns="0" tIns="0" rIns="0" bIns="0" rtlCol="0" anchor="ctr"/>
          <a:lstStyle/>
          <a:p>
            <a:pPr algn="r" indent="0" marL="0">
              <a:lnSpc>
                <a:spcPct val="125000"/>
              </a:lnSpc>
              <a:buNone/>
            </a:pPr>
            <a:r>
              <a:rPr lang="en-US" sz="800" i="1" dirty="0">
                <a:solidFill>
                  <a:srgbClr val="5A5A66"/>
                </a:solidFill>
                <a:latin typeface="Cambria" pitchFamily="34" charset="0"/>
                <a:ea typeface="Cambria" pitchFamily="34" charset="-122"/>
                <a:cs typeface="Cambria" pitchFamily="34" charset="-120"/>
              </a:rPr>
              <a:t>Luận văn §5.5–§5.10, §6.7.3</a:t>
            </a:r>
            <a:endParaRPr lang="en-US" sz="800" dirty="0"/>
          </a:p>
        </p:txBody>
      </p:sp>
      <p:sp>
        <p:nvSpPr>
          <p:cNvPr id="18" name="Shape 16"/>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9" name="Shape 17"/>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0" name="Shape 18"/>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1" name="Shape 19"/>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2" name="Text 20"/>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3" name="Text 21"/>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4" name="Text 22"/>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5" name="Text 23"/>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9/25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Phương pháp đề xuất</a:t>
            </a:r>
            <a:endParaRPr lang="en-US" sz="1820" dirty="0"/>
          </a:p>
        </p:txBody>
      </p:sp>
      <p:sp>
        <p:nvSpPr>
          <p:cNvPr id="4" name="Text 2"/>
          <p:cNvSpPr/>
          <p:nvPr/>
        </p:nvSpPr>
        <p:spPr>
          <a:xfrm>
            <a:off x="502920" y="603504"/>
            <a:ext cx="8138160" cy="219456"/>
          </a:xfrm>
          <a:prstGeom prst="rect">
            <a:avLst/>
          </a:prstGeom>
          <a:noFill/>
          <a:ln/>
        </p:spPr>
        <p:txBody>
          <a:bodyPr wrap="square" lIns="0" tIns="0" rIns="0" bIns="0" rtlCol="0" anchor="ctr">
            <a:normAutofit/>
          </a:bodyPr>
          <a:lstStyle/>
          <a:p>
            <a:pPr indent="0" marL="0">
              <a:lnSpc>
                <a:spcPct val="125000"/>
              </a:lnSpc>
              <a:buNone/>
            </a:pPr>
            <a:r>
              <a:rPr lang="en-US" sz="1260" b="1" dirty="0">
                <a:solidFill>
                  <a:srgbClr val="25194B"/>
                </a:solidFill>
                <a:latin typeface="Cambria" pitchFamily="34" charset="0"/>
                <a:ea typeface="Cambria" pitchFamily="34" charset="-122"/>
                <a:cs typeface="Cambria" pitchFamily="34" charset="-120"/>
              </a:rPr>
              <a:t>Quy trình tổng thể</a:t>
            </a:r>
            <a:endParaRPr lang="en-US" sz="1260" dirty="0"/>
          </a:p>
        </p:txBody>
      </p:sp>
      <p:sp>
        <p:nvSpPr>
          <p:cNvPr id="5" name="Shape 3"/>
          <p:cNvSpPr/>
          <p:nvPr/>
        </p:nvSpPr>
        <p:spPr>
          <a:xfrm>
            <a:off x="502920" y="1234440"/>
            <a:ext cx="868680" cy="822960"/>
          </a:xfrm>
          <a:prstGeom prst="roundRect">
            <a:avLst/>
          </a:prstGeom>
          <a:solidFill>
            <a:srgbClr val="FFFFFF"/>
          </a:solidFill>
          <a:ln w="12700">
            <a:solidFill>
              <a:srgbClr val="7A7099"/>
            </a:solidFill>
            <a:prstDash val="solid"/>
          </a:ln>
        </p:spPr>
      </p:sp>
      <p:sp>
        <p:nvSpPr>
          <p:cNvPr id="6" name="Text 4"/>
          <p:cNvSpPr/>
          <p:nvPr/>
        </p:nvSpPr>
        <p:spPr>
          <a:xfrm>
            <a:off x="502920" y="1234440"/>
            <a:ext cx="868680" cy="822960"/>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S1</a:t>
            </a:r>
            <a:endParaRPr lang="en-US" sz="1600" dirty="0"/>
          </a:p>
        </p:txBody>
      </p:sp>
      <p:sp>
        <p:nvSpPr>
          <p:cNvPr id="7" name="Shape 5"/>
          <p:cNvSpPr/>
          <p:nvPr/>
        </p:nvSpPr>
        <p:spPr>
          <a:xfrm>
            <a:off x="1481328" y="1645920"/>
            <a:ext cx="320040" cy="0"/>
          </a:xfrm>
          <a:prstGeom prst="line">
            <a:avLst/>
          </a:prstGeom>
          <a:noFill/>
          <a:ln w="25400">
            <a:solidFill>
              <a:srgbClr val="4F417A"/>
            </a:solidFill>
            <a:prstDash val="solid"/>
            <a:tailEnd type="triangle"/>
          </a:ln>
        </p:spPr>
      </p:sp>
      <p:sp>
        <p:nvSpPr>
          <p:cNvPr id="8" name="Shape 6"/>
          <p:cNvSpPr/>
          <p:nvPr/>
        </p:nvSpPr>
        <p:spPr>
          <a:xfrm>
            <a:off x="1901952" y="1143000"/>
            <a:ext cx="1965960" cy="1005840"/>
          </a:xfrm>
          <a:prstGeom prst="roundRect">
            <a:avLst/>
          </a:prstGeom>
          <a:solidFill>
            <a:srgbClr val="F3F2F5"/>
          </a:solidFill>
          <a:ln w="12700">
            <a:solidFill>
              <a:srgbClr val="25194B"/>
            </a:solidFill>
            <a:prstDash val="solid"/>
          </a:ln>
        </p:spPr>
      </p:sp>
      <p:sp>
        <p:nvSpPr>
          <p:cNvPr id="9" name="Text 7"/>
          <p:cNvSpPr/>
          <p:nvPr/>
        </p:nvSpPr>
        <p:spPr>
          <a:xfrm>
            <a:off x="1901952" y="1143000"/>
            <a:ext cx="1965960" cy="1005840"/>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GRPO-SPICE</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sinh câu ban đầu</a:t>
            </a:r>
            <a:endParaRPr lang="en-US" sz="1500" dirty="0"/>
          </a:p>
        </p:txBody>
      </p:sp>
      <p:sp>
        <p:nvSpPr>
          <p:cNvPr id="10" name="Shape 8"/>
          <p:cNvSpPr/>
          <p:nvPr/>
        </p:nvSpPr>
        <p:spPr>
          <a:xfrm>
            <a:off x="3977640" y="1645920"/>
            <a:ext cx="320040" cy="0"/>
          </a:xfrm>
          <a:prstGeom prst="line">
            <a:avLst/>
          </a:prstGeom>
          <a:noFill/>
          <a:ln w="25400">
            <a:solidFill>
              <a:srgbClr val="4F417A"/>
            </a:solidFill>
            <a:prstDash val="solid"/>
            <a:tailEnd type="triangle"/>
          </a:ln>
        </p:spPr>
      </p:sp>
      <p:sp>
        <p:nvSpPr>
          <p:cNvPr id="11" name="Shape 9"/>
          <p:cNvSpPr/>
          <p:nvPr/>
        </p:nvSpPr>
        <p:spPr>
          <a:xfrm>
            <a:off x="4407408" y="1143000"/>
            <a:ext cx="1965960" cy="1005840"/>
          </a:xfrm>
          <a:prstGeom prst="roundRect">
            <a:avLst/>
          </a:prstGeom>
          <a:solidFill>
            <a:srgbClr val="F3F2F5"/>
          </a:solidFill>
          <a:ln w="12700">
            <a:solidFill>
              <a:srgbClr val="4F417A"/>
            </a:solidFill>
            <a:prstDash val="solid"/>
          </a:ln>
        </p:spPr>
      </p:sp>
      <p:sp>
        <p:nvSpPr>
          <p:cNvPr id="12" name="Text 10"/>
          <p:cNvSpPr/>
          <p:nvPr/>
        </p:nvSpPr>
        <p:spPr>
          <a:xfrm>
            <a:off x="4407408" y="1143000"/>
            <a:ext cx="1965960" cy="1005840"/>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ACE</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hiệu chỉnh có chọn lọc</a:t>
            </a:r>
            <a:endParaRPr lang="en-US" sz="1500" dirty="0"/>
          </a:p>
        </p:txBody>
      </p:sp>
      <p:sp>
        <p:nvSpPr>
          <p:cNvPr id="13" name="Shape 11"/>
          <p:cNvSpPr/>
          <p:nvPr/>
        </p:nvSpPr>
        <p:spPr>
          <a:xfrm>
            <a:off x="6492240" y="1645920"/>
            <a:ext cx="320040" cy="0"/>
          </a:xfrm>
          <a:prstGeom prst="line">
            <a:avLst/>
          </a:prstGeom>
          <a:noFill/>
          <a:ln w="25400">
            <a:solidFill>
              <a:srgbClr val="4F417A"/>
            </a:solidFill>
            <a:prstDash val="solid"/>
            <a:tailEnd type="triangle"/>
          </a:ln>
        </p:spPr>
      </p:sp>
      <p:sp>
        <p:nvSpPr>
          <p:cNvPr id="14" name="Shape 12"/>
          <p:cNvSpPr/>
          <p:nvPr/>
        </p:nvSpPr>
        <p:spPr>
          <a:xfrm>
            <a:off x="6922008" y="1143000"/>
            <a:ext cx="1719072" cy="1005840"/>
          </a:xfrm>
          <a:prstGeom prst="roundRect">
            <a:avLst/>
          </a:prstGeom>
          <a:solidFill>
            <a:srgbClr val="FFFFFF"/>
          </a:solidFill>
          <a:ln w="12700">
            <a:solidFill>
              <a:srgbClr val="7A7099"/>
            </a:solidFill>
            <a:prstDash val="solid"/>
          </a:ln>
        </p:spPr>
      </p:sp>
      <p:sp>
        <p:nvSpPr>
          <p:cNvPr id="15" name="Text 13"/>
          <p:cNvSpPr/>
          <p:nvPr/>
        </p:nvSpPr>
        <p:spPr>
          <a:xfrm>
            <a:off x="6922008" y="1143000"/>
            <a:ext cx="1719072" cy="1005840"/>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Câu hướng dẫn</a:t>
            </a:r>
            <a:endParaRPr lang="en-US" sz="1400" dirty="0"/>
          </a:p>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cuối</a:t>
            </a:r>
            <a:endParaRPr lang="en-US" sz="1400" dirty="0"/>
          </a:p>
        </p:txBody>
      </p:sp>
      <p:sp>
        <p:nvSpPr>
          <p:cNvPr id="16" name="Text 14"/>
          <p:cNvSpPr/>
          <p:nvPr/>
        </p:nvSpPr>
        <p:spPr>
          <a:xfrm>
            <a:off x="502920" y="3127248"/>
            <a:ext cx="1965960" cy="365760"/>
          </a:xfrm>
          <a:prstGeom prst="rect">
            <a:avLst/>
          </a:prstGeom>
          <a:noFill/>
          <a:ln/>
        </p:spPr>
        <p:txBody>
          <a:bodyPr wrap="square" lIns="0" tIns="0" rIns="0" bIns="0" rtlCol="0" anchor="ctr"/>
          <a:lstStyle/>
          <a:p>
            <a:pPr indent="0" marL="0">
              <a:lnSpc>
                <a:spcPct val="125000"/>
              </a:lnSpc>
              <a:buNone/>
            </a:pPr>
            <a:r>
              <a:rPr lang="en-US" sz="1700" b="1" dirty="0">
                <a:solidFill>
                  <a:srgbClr val="25194B"/>
                </a:solidFill>
                <a:latin typeface="Cambria" pitchFamily="34" charset="0"/>
                <a:ea typeface="Cambria" pitchFamily="34" charset="-122"/>
                <a:cs typeface="Cambria" pitchFamily="34" charset="-120"/>
              </a:rPr>
              <a:t>GRPO-SPICE</a:t>
            </a:r>
            <a:endParaRPr lang="en-US" sz="1700" dirty="0"/>
          </a:p>
        </p:txBody>
      </p:sp>
      <p:sp>
        <p:nvSpPr>
          <p:cNvPr id="17" name="Shape 15"/>
          <p:cNvSpPr/>
          <p:nvPr/>
        </p:nvSpPr>
        <p:spPr>
          <a:xfrm>
            <a:off x="521208" y="3721608"/>
            <a:ext cx="64008" cy="64008"/>
          </a:xfrm>
          <a:prstGeom prst="ellipse">
            <a:avLst/>
          </a:prstGeom>
          <a:solidFill>
            <a:srgbClr val="4F417A"/>
          </a:solidFill>
          <a:ln w="12700">
            <a:solidFill>
              <a:srgbClr val="4F417A">
                <a:alpha val="0"/>
              </a:srgbClr>
            </a:solidFill>
            <a:prstDash val="solid"/>
          </a:ln>
        </p:spPr>
      </p:sp>
      <p:sp>
        <p:nvSpPr>
          <p:cNvPr id="18" name="Text 16"/>
          <p:cNvSpPr/>
          <p:nvPr/>
        </p:nvSpPr>
        <p:spPr>
          <a:xfrm>
            <a:off x="713232" y="3584448"/>
            <a:ext cx="3584448" cy="548640"/>
          </a:xfrm>
          <a:prstGeom prst="rect">
            <a:avLst/>
          </a:prstGeom>
          <a:noFill/>
          <a:ln/>
        </p:spPr>
        <p:txBody>
          <a:bodyPr wrap="square" lIns="0" tIns="0" rIns="0" bIns="0" rtlCol="0" anchor="t">
            <a:normAutofit/>
          </a:bodyPr>
          <a:lstStyle/>
          <a:p>
            <a:pPr indent="0" marL="0">
              <a:lnSpc>
                <a:spcPct val="125000"/>
              </a:lnSpc>
              <a:buNone/>
            </a:pPr>
            <a:r>
              <a:rPr lang="en-US" sz="1460" dirty="0">
                <a:solidFill>
                  <a:srgbClr val="1A1A1A"/>
                </a:solidFill>
                <a:latin typeface="Cambria" pitchFamily="34" charset="0"/>
                <a:ea typeface="Cambria" pitchFamily="34" charset="-122"/>
                <a:cs typeface="Cambria" pitchFamily="34" charset="-120"/>
              </a:rPr>
              <a:t>Sinh 8 câu cho cùng đầu vào.</a:t>
            </a:r>
            <a:endParaRPr lang="en-US" sz="1460" dirty="0"/>
          </a:p>
        </p:txBody>
      </p:sp>
      <p:sp>
        <p:nvSpPr>
          <p:cNvPr id="19" name="Shape 17"/>
          <p:cNvSpPr/>
          <p:nvPr/>
        </p:nvSpPr>
        <p:spPr>
          <a:xfrm>
            <a:off x="521208" y="4379976"/>
            <a:ext cx="64008" cy="64008"/>
          </a:xfrm>
          <a:prstGeom prst="ellipse">
            <a:avLst/>
          </a:prstGeom>
          <a:solidFill>
            <a:srgbClr val="4F417A"/>
          </a:solidFill>
          <a:ln w="12700">
            <a:solidFill>
              <a:srgbClr val="4F417A">
                <a:alpha val="0"/>
              </a:srgbClr>
            </a:solidFill>
            <a:prstDash val="solid"/>
          </a:ln>
        </p:spPr>
      </p:sp>
      <p:sp>
        <p:nvSpPr>
          <p:cNvPr id="20" name="Text 18"/>
          <p:cNvSpPr/>
          <p:nvPr/>
        </p:nvSpPr>
        <p:spPr>
          <a:xfrm>
            <a:off x="713232" y="4242816"/>
            <a:ext cx="3584448" cy="548640"/>
          </a:xfrm>
          <a:prstGeom prst="rect">
            <a:avLst/>
          </a:prstGeom>
          <a:noFill/>
          <a:ln/>
        </p:spPr>
        <p:txBody>
          <a:bodyPr wrap="square" lIns="0" tIns="0" rIns="0" bIns="0" rtlCol="0" anchor="t">
            <a:normAutofit/>
          </a:bodyPr>
          <a:lstStyle/>
          <a:p>
            <a:pPr indent="0" marL="0">
              <a:lnSpc>
                <a:spcPct val="125000"/>
              </a:lnSpc>
              <a:buNone/>
            </a:pPr>
            <a:r>
              <a:rPr lang="en-US" sz="1460" dirty="0">
                <a:solidFill>
                  <a:srgbClr val="1A1A1A"/>
                </a:solidFill>
                <a:latin typeface="Cambria" pitchFamily="34" charset="0"/>
                <a:ea typeface="Cambria" pitchFamily="34" charset="-122"/>
                <a:cs typeface="Cambria" pitchFamily="34" charset="-120"/>
              </a:rPr>
              <a:t>SPICE + phạt độ dài làm tín hiệu cập nhật.</a:t>
            </a:r>
            <a:endParaRPr lang="en-US" sz="1460" dirty="0"/>
          </a:p>
        </p:txBody>
      </p:sp>
      <p:sp>
        <p:nvSpPr>
          <p:cNvPr id="21" name="Text 19"/>
          <p:cNvSpPr/>
          <p:nvPr/>
        </p:nvSpPr>
        <p:spPr>
          <a:xfrm>
            <a:off x="4617720" y="3127248"/>
            <a:ext cx="1097280" cy="365760"/>
          </a:xfrm>
          <a:prstGeom prst="rect">
            <a:avLst/>
          </a:prstGeom>
          <a:noFill/>
          <a:ln/>
        </p:spPr>
        <p:txBody>
          <a:bodyPr wrap="square" lIns="0" tIns="0" rIns="0" bIns="0" rtlCol="0" anchor="ctr"/>
          <a:lstStyle/>
          <a:p>
            <a:pPr indent="0" marL="0">
              <a:lnSpc>
                <a:spcPct val="125000"/>
              </a:lnSpc>
              <a:buNone/>
            </a:pPr>
            <a:r>
              <a:rPr lang="en-US" sz="1700" b="1" dirty="0">
                <a:solidFill>
                  <a:srgbClr val="25194B"/>
                </a:solidFill>
                <a:latin typeface="Cambria" pitchFamily="34" charset="0"/>
                <a:ea typeface="Cambria" pitchFamily="34" charset="-122"/>
                <a:cs typeface="Cambria" pitchFamily="34" charset="-120"/>
              </a:rPr>
              <a:t>ACE</a:t>
            </a:r>
            <a:endParaRPr lang="en-US" sz="1700" dirty="0"/>
          </a:p>
        </p:txBody>
      </p:sp>
      <p:sp>
        <p:nvSpPr>
          <p:cNvPr id="22" name="Shape 20"/>
          <p:cNvSpPr/>
          <p:nvPr/>
        </p:nvSpPr>
        <p:spPr>
          <a:xfrm>
            <a:off x="4636008" y="3721608"/>
            <a:ext cx="64008" cy="64008"/>
          </a:xfrm>
          <a:prstGeom prst="ellipse">
            <a:avLst/>
          </a:prstGeom>
          <a:solidFill>
            <a:srgbClr val="4F417A"/>
          </a:solidFill>
          <a:ln w="12700">
            <a:solidFill>
              <a:srgbClr val="4F417A">
                <a:alpha val="0"/>
              </a:srgbClr>
            </a:solidFill>
            <a:prstDash val="solid"/>
          </a:ln>
        </p:spPr>
      </p:sp>
      <p:sp>
        <p:nvSpPr>
          <p:cNvPr id="23" name="Text 21"/>
          <p:cNvSpPr/>
          <p:nvPr/>
        </p:nvSpPr>
        <p:spPr>
          <a:xfrm>
            <a:off x="4828032" y="3584448"/>
            <a:ext cx="3767328" cy="548640"/>
          </a:xfrm>
          <a:prstGeom prst="rect">
            <a:avLst/>
          </a:prstGeom>
          <a:noFill/>
          <a:ln/>
        </p:spPr>
        <p:txBody>
          <a:bodyPr wrap="square" lIns="0" tIns="0" rIns="0" bIns="0" rtlCol="0" anchor="t">
            <a:normAutofit/>
          </a:bodyPr>
          <a:lstStyle/>
          <a:p>
            <a:pPr indent="0" marL="0">
              <a:lnSpc>
                <a:spcPct val="125000"/>
              </a:lnSpc>
              <a:buNone/>
            </a:pPr>
            <a:r>
              <a:rPr lang="en-US" sz="1460" dirty="0">
                <a:solidFill>
                  <a:srgbClr val="1A1A1A"/>
                </a:solidFill>
                <a:latin typeface="Cambria" pitchFamily="34" charset="0"/>
                <a:ea typeface="Cambria" pitchFamily="34" charset="-122"/>
                <a:cs typeface="Cambria" pitchFamily="34" charset="-120"/>
              </a:rPr>
              <a:t>Truy hồi 4 câu ví dụ từ tập dạy.</a:t>
            </a:r>
            <a:endParaRPr lang="en-US" sz="1460" dirty="0"/>
          </a:p>
        </p:txBody>
      </p:sp>
      <p:sp>
        <p:nvSpPr>
          <p:cNvPr id="24" name="Shape 22"/>
          <p:cNvSpPr/>
          <p:nvPr/>
        </p:nvSpPr>
        <p:spPr>
          <a:xfrm>
            <a:off x="4636008" y="4379976"/>
            <a:ext cx="64008" cy="64008"/>
          </a:xfrm>
          <a:prstGeom prst="ellipse">
            <a:avLst/>
          </a:prstGeom>
          <a:solidFill>
            <a:srgbClr val="4F417A"/>
          </a:solidFill>
          <a:ln w="12700">
            <a:solidFill>
              <a:srgbClr val="4F417A">
                <a:alpha val="0"/>
              </a:srgbClr>
            </a:solidFill>
            <a:prstDash val="solid"/>
          </a:ln>
        </p:spPr>
      </p:sp>
      <p:sp>
        <p:nvSpPr>
          <p:cNvPr id="25" name="Text 23"/>
          <p:cNvSpPr/>
          <p:nvPr/>
        </p:nvSpPr>
        <p:spPr>
          <a:xfrm>
            <a:off x="4828032" y="4242816"/>
            <a:ext cx="3767328" cy="548640"/>
          </a:xfrm>
          <a:prstGeom prst="rect">
            <a:avLst/>
          </a:prstGeom>
          <a:noFill/>
          <a:ln/>
        </p:spPr>
        <p:txBody>
          <a:bodyPr wrap="square" lIns="0" tIns="0" rIns="0" bIns="0" rtlCol="0" anchor="t">
            <a:normAutofit/>
          </a:bodyPr>
          <a:lstStyle/>
          <a:p>
            <a:pPr indent="0" marL="0">
              <a:lnSpc>
                <a:spcPct val="125000"/>
              </a:lnSpc>
              <a:buNone/>
            </a:pPr>
            <a:r>
              <a:rPr lang="en-US" sz="1460" dirty="0">
                <a:solidFill>
                  <a:srgbClr val="1A1A1A"/>
                </a:solidFill>
                <a:latin typeface="Cambria" pitchFamily="34" charset="0"/>
                <a:ea typeface="Cambria" pitchFamily="34" charset="-122"/>
                <a:cs typeface="Cambria" pitchFamily="34" charset="-120"/>
              </a:rPr>
              <a:t>Chỉ thay câu ban đầu khi thỏa điều kiện chọn lọc.</a:t>
            </a:r>
            <a:endParaRPr lang="en-US" sz="1460" dirty="0"/>
          </a:p>
        </p:txBody>
      </p:sp>
      <p:sp>
        <p:nvSpPr>
          <p:cNvPr id="26" name="Text 24"/>
          <p:cNvSpPr/>
          <p:nvPr/>
        </p:nvSpPr>
        <p:spPr>
          <a:xfrm>
            <a:off x="502920" y="5321808"/>
            <a:ext cx="8138160" cy="438912"/>
          </a:xfrm>
          <a:prstGeom prst="rect">
            <a:avLst/>
          </a:prstGeom>
          <a:noFill/>
          <a:ln/>
        </p:spPr>
        <p:txBody>
          <a:bodyPr wrap="square" lIns="0" tIns="0" rIns="0" bIns="0" rtlCol="0" anchor="ctr"/>
          <a:lstStyle/>
          <a:p>
            <a:pPr algn="ctr" indent="0" marL="0">
              <a:lnSpc>
                <a:spcPct val="125000"/>
              </a:lnSpc>
              <a:buNone/>
            </a:pPr>
            <a:r>
              <a:rPr lang="en-US" sz="1420" b="1" dirty="0">
                <a:solidFill>
                  <a:srgbClr val="25194B"/>
                </a:solidFill>
                <a:latin typeface="Cambria" pitchFamily="34" charset="0"/>
                <a:ea typeface="Cambria" pitchFamily="34" charset="-122"/>
                <a:cs typeface="Cambria" pitchFamily="34" charset="-120"/>
              </a:rPr>
              <a:t>UGround không nằm trong hàm thưởng và không tham gia vào quá trình sinh câu.</a:t>
            </a:r>
            <a:endParaRPr lang="en-US" sz="1420" dirty="0"/>
          </a:p>
        </p:txBody>
      </p:sp>
      <p:sp>
        <p:nvSpPr>
          <p:cNvPr id="27" name="Text 25"/>
          <p:cNvSpPr/>
          <p:nvPr/>
        </p:nvSpPr>
        <p:spPr>
          <a:xfrm>
            <a:off x="502920" y="6327648"/>
            <a:ext cx="8138160" cy="137160"/>
          </a:xfrm>
          <a:prstGeom prst="rect">
            <a:avLst/>
          </a:prstGeom>
          <a:noFill/>
          <a:ln/>
        </p:spPr>
        <p:txBody>
          <a:bodyPr wrap="square" lIns="0" tIns="0" rIns="0" bIns="0" rtlCol="0" anchor="ctr"/>
          <a:lstStyle/>
          <a:p>
            <a:pPr algn="r" indent="0" marL="0">
              <a:lnSpc>
                <a:spcPct val="125000"/>
              </a:lnSpc>
              <a:buNone/>
            </a:pPr>
            <a:r>
              <a:rPr lang="en-US" sz="800" i="1" dirty="0">
                <a:solidFill>
                  <a:srgbClr val="5A5A66"/>
                </a:solidFill>
                <a:latin typeface="Cambria" pitchFamily="34" charset="0"/>
                <a:ea typeface="Cambria" pitchFamily="34" charset="-122"/>
                <a:cs typeface="Cambria" pitchFamily="34" charset="-120"/>
              </a:rPr>
              <a:t>Luận văn Chương 4</a:t>
            </a:r>
            <a:endParaRPr lang="en-US" sz="800" dirty="0"/>
          </a:p>
        </p:txBody>
      </p:sp>
      <p:sp>
        <p:nvSpPr>
          <p:cNvPr id="28" name="Shape 26"/>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9" name="Shape 27"/>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30" name="Shape 28"/>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31" name="Shape 29"/>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32" name="Text 30"/>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3" name="Text 31"/>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4" name="Text 32"/>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5" name="Text 33"/>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10/25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Phương pháp đề xuất</a:t>
            </a:r>
            <a:endParaRPr lang="en-US" sz="1820" dirty="0"/>
          </a:p>
        </p:txBody>
      </p:sp>
      <p:sp>
        <p:nvSpPr>
          <p:cNvPr id="4" name="Text 2"/>
          <p:cNvSpPr/>
          <p:nvPr/>
        </p:nvSpPr>
        <p:spPr>
          <a:xfrm>
            <a:off x="502920" y="603504"/>
            <a:ext cx="8138160" cy="219456"/>
          </a:xfrm>
          <a:prstGeom prst="rect">
            <a:avLst/>
          </a:prstGeom>
          <a:noFill/>
          <a:ln/>
        </p:spPr>
        <p:txBody>
          <a:bodyPr wrap="square" lIns="0" tIns="0" rIns="0" bIns="0" rtlCol="0" anchor="ctr">
            <a:normAutofit/>
          </a:bodyPr>
          <a:lstStyle/>
          <a:p>
            <a:pPr indent="0" marL="0">
              <a:lnSpc>
                <a:spcPct val="125000"/>
              </a:lnSpc>
              <a:buNone/>
            </a:pPr>
            <a:r>
              <a:rPr lang="en-US" sz="1260" b="1" dirty="0">
                <a:solidFill>
                  <a:srgbClr val="25194B"/>
                </a:solidFill>
                <a:latin typeface="Cambria" pitchFamily="34" charset="0"/>
                <a:ea typeface="Cambria" pitchFamily="34" charset="-122"/>
                <a:cs typeface="Cambria" pitchFamily="34" charset="-120"/>
              </a:rPr>
              <a:t>Thành phần thứ nhất: GRPO-SPICE</a:t>
            </a:r>
            <a:endParaRPr lang="en-US" sz="1260" dirty="0"/>
          </a:p>
        </p:txBody>
      </p:sp>
      <p:sp>
        <p:nvSpPr>
          <p:cNvPr id="5" name="Shape 3"/>
          <p:cNvSpPr/>
          <p:nvPr/>
        </p:nvSpPr>
        <p:spPr>
          <a:xfrm>
            <a:off x="548640" y="1691640"/>
            <a:ext cx="1417320" cy="841248"/>
          </a:xfrm>
          <a:prstGeom prst="roundRect">
            <a:avLst/>
          </a:prstGeom>
          <a:solidFill>
            <a:srgbClr val="F3F2F5"/>
          </a:solidFill>
          <a:ln w="12700">
            <a:solidFill>
              <a:srgbClr val="7A7099"/>
            </a:solidFill>
            <a:prstDash val="solid"/>
          </a:ln>
        </p:spPr>
      </p:sp>
      <p:sp>
        <p:nvSpPr>
          <p:cNvPr id="6" name="Text 4"/>
          <p:cNvSpPr/>
          <p:nvPr/>
        </p:nvSpPr>
        <p:spPr>
          <a:xfrm>
            <a:off x="548640" y="1691640"/>
            <a:ext cx="1417320" cy="841248"/>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1 đầu vào</a:t>
            </a:r>
            <a:endParaRPr lang="en-US" sz="1600" dirty="0"/>
          </a:p>
        </p:txBody>
      </p:sp>
      <p:sp>
        <p:nvSpPr>
          <p:cNvPr id="7" name="Shape 5"/>
          <p:cNvSpPr/>
          <p:nvPr/>
        </p:nvSpPr>
        <p:spPr>
          <a:xfrm>
            <a:off x="2084832" y="2112264"/>
            <a:ext cx="384048" cy="0"/>
          </a:xfrm>
          <a:prstGeom prst="line">
            <a:avLst/>
          </a:prstGeom>
          <a:noFill/>
          <a:ln w="25400">
            <a:solidFill>
              <a:srgbClr val="4F417A"/>
            </a:solidFill>
            <a:prstDash val="solid"/>
            <a:tailEnd type="triangle"/>
          </a:ln>
        </p:spPr>
      </p:sp>
      <p:sp>
        <p:nvSpPr>
          <p:cNvPr id="8" name="Shape 6"/>
          <p:cNvSpPr/>
          <p:nvPr/>
        </p:nvSpPr>
        <p:spPr>
          <a:xfrm>
            <a:off x="2578608" y="1517904"/>
            <a:ext cx="1600200" cy="1188720"/>
          </a:xfrm>
          <a:prstGeom prst="roundRect">
            <a:avLst/>
          </a:prstGeom>
          <a:solidFill>
            <a:srgbClr val="F3F2F5"/>
          </a:solidFill>
          <a:ln w="12700">
            <a:solidFill>
              <a:srgbClr val="25194B"/>
            </a:solidFill>
            <a:prstDash val="solid"/>
          </a:ln>
        </p:spPr>
      </p:sp>
      <p:sp>
        <p:nvSpPr>
          <p:cNvPr id="9" name="Text 7"/>
          <p:cNvSpPr/>
          <p:nvPr/>
        </p:nvSpPr>
        <p:spPr>
          <a:xfrm>
            <a:off x="2578608" y="1517904"/>
            <a:ext cx="1600200" cy="1188720"/>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8 câu</a:t>
            </a:r>
            <a:endParaRPr lang="en-US" sz="1600" dirty="0"/>
          </a:p>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hướng dẫn</a:t>
            </a:r>
            <a:endParaRPr lang="en-US" sz="1600" dirty="0"/>
          </a:p>
        </p:txBody>
      </p:sp>
      <p:sp>
        <p:nvSpPr>
          <p:cNvPr id="10" name="Shape 8"/>
          <p:cNvSpPr/>
          <p:nvPr/>
        </p:nvSpPr>
        <p:spPr>
          <a:xfrm>
            <a:off x="4297680" y="2112264"/>
            <a:ext cx="384048" cy="0"/>
          </a:xfrm>
          <a:prstGeom prst="line">
            <a:avLst/>
          </a:prstGeom>
          <a:noFill/>
          <a:ln w="25400">
            <a:solidFill>
              <a:srgbClr val="4F417A"/>
            </a:solidFill>
            <a:prstDash val="solid"/>
            <a:tailEnd type="triangle"/>
          </a:ln>
        </p:spPr>
      </p:sp>
      <p:sp>
        <p:nvSpPr>
          <p:cNvPr id="11" name="Shape 9"/>
          <p:cNvSpPr/>
          <p:nvPr/>
        </p:nvSpPr>
        <p:spPr>
          <a:xfrm>
            <a:off x="4791456" y="1517904"/>
            <a:ext cx="1645920" cy="1188720"/>
          </a:xfrm>
          <a:prstGeom prst="roundRect">
            <a:avLst/>
          </a:prstGeom>
          <a:solidFill>
            <a:srgbClr val="F3F2F5"/>
          </a:solidFill>
          <a:ln w="12700">
            <a:solidFill>
              <a:srgbClr val="4F417A"/>
            </a:solidFill>
            <a:prstDash val="solid"/>
          </a:ln>
        </p:spPr>
      </p:sp>
      <p:sp>
        <p:nvSpPr>
          <p:cNvPr id="12" name="Text 10"/>
          <p:cNvSpPr/>
          <p:nvPr/>
        </p:nvSpPr>
        <p:spPr>
          <a:xfrm>
            <a:off x="4791456" y="1517904"/>
            <a:ext cx="1645920" cy="1188720"/>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SPICE</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 phạt độ dài</a:t>
            </a:r>
            <a:endParaRPr lang="en-US" sz="1500" dirty="0"/>
          </a:p>
        </p:txBody>
      </p:sp>
      <p:sp>
        <p:nvSpPr>
          <p:cNvPr id="13" name="Shape 11"/>
          <p:cNvSpPr/>
          <p:nvPr/>
        </p:nvSpPr>
        <p:spPr>
          <a:xfrm>
            <a:off x="6556248" y="2112264"/>
            <a:ext cx="384048" cy="0"/>
          </a:xfrm>
          <a:prstGeom prst="line">
            <a:avLst/>
          </a:prstGeom>
          <a:noFill/>
          <a:ln w="25400">
            <a:solidFill>
              <a:srgbClr val="4F417A"/>
            </a:solidFill>
            <a:prstDash val="solid"/>
            <a:tailEnd type="triangle"/>
          </a:ln>
        </p:spPr>
      </p:sp>
      <p:sp>
        <p:nvSpPr>
          <p:cNvPr id="14" name="Shape 12"/>
          <p:cNvSpPr/>
          <p:nvPr/>
        </p:nvSpPr>
        <p:spPr>
          <a:xfrm>
            <a:off x="7050024" y="1463040"/>
            <a:ext cx="1554480" cy="1298448"/>
          </a:xfrm>
          <a:prstGeom prst="roundRect">
            <a:avLst/>
          </a:prstGeom>
          <a:solidFill>
            <a:srgbClr val="F3F2F5"/>
          </a:solidFill>
          <a:ln w="12700">
            <a:solidFill>
              <a:srgbClr val="7A7099"/>
            </a:solidFill>
            <a:prstDash val="solid"/>
          </a:ln>
        </p:spPr>
      </p:sp>
      <p:sp>
        <p:nvSpPr>
          <p:cNvPr id="15" name="Text 13"/>
          <p:cNvSpPr/>
          <p:nvPr/>
        </p:nvSpPr>
        <p:spPr>
          <a:xfrm>
            <a:off x="7050024" y="1463040"/>
            <a:ext cx="1554480" cy="1298448"/>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Cập nhật</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GRPO</a:t>
            </a:r>
            <a:endParaRPr lang="en-US" sz="1500" dirty="0"/>
          </a:p>
        </p:txBody>
      </p:sp>
      <p:sp>
        <p:nvSpPr>
          <p:cNvPr id="16" name="Shape 14"/>
          <p:cNvSpPr/>
          <p:nvPr/>
        </p:nvSpPr>
        <p:spPr>
          <a:xfrm>
            <a:off x="502920" y="3337560"/>
            <a:ext cx="8138160" cy="1572768"/>
          </a:xfrm>
          <a:prstGeom prst="roundRect">
            <a:avLst/>
          </a:prstGeom>
          <a:solidFill>
            <a:srgbClr val="F3F2F5"/>
          </a:solidFill>
          <a:ln w="12700">
            <a:solidFill>
              <a:srgbClr val="7A7099"/>
            </a:solidFill>
            <a:prstDash val="solid"/>
          </a:ln>
        </p:spPr>
      </p:sp>
      <p:sp>
        <p:nvSpPr>
          <p:cNvPr id="17" name="Text 15"/>
          <p:cNvSpPr/>
          <p:nvPr/>
        </p:nvSpPr>
        <p:spPr>
          <a:xfrm>
            <a:off x="704088" y="3566160"/>
            <a:ext cx="1965960" cy="320040"/>
          </a:xfrm>
          <a:prstGeom prst="rect">
            <a:avLst/>
          </a:prstGeom>
          <a:noFill/>
          <a:ln/>
        </p:spPr>
        <p:txBody>
          <a:bodyPr wrap="square" lIns="0" tIns="0" rIns="0" bIns="0" rtlCol="0" anchor="ctr"/>
          <a:lstStyle/>
          <a:p>
            <a:pPr indent="0" marL="0">
              <a:lnSpc>
                <a:spcPct val="125000"/>
              </a:lnSpc>
              <a:buNone/>
            </a:pPr>
            <a:r>
              <a:rPr lang="en-US" sz="1550" b="1" dirty="0">
                <a:solidFill>
                  <a:srgbClr val="25194B"/>
                </a:solidFill>
                <a:latin typeface="Cambria" pitchFamily="34" charset="0"/>
                <a:ea typeface="Cambria" pitchFamily="34" charset="-122"/>
                <a:cs typeface="Cambria" pitchFamily="34" charset="-120"/>
              </a:rPr>
              <a:t>Vai trò của SPICE</a:t>
            </a:r>
            <a:endParaRPr lang="en-US" sz="1550" dirty="0"/>
          </a:p>
        </p:txBody>
      </p:sp>
      <p:sp>
        <p:nvSpPr>
          <p:cNvPr id="18" name="Text 16"/>
          <p:cNvSpPr/>
          <p:nvPr/>
        </p:nvSpPr>
        <p:spPr>
          <a:xfrm>
            <a:off x="2441448" y="3429000"/>
            <a:ext cx="5943600" cy="804672"/>
          </a:xfrm>
          <a:prstGeom prst="rect">
            <a:avLst/>
          </a:prstGeom>
          <a:noFill/>
          <a:ln/>
        </p:spPr>
        <p:txBody>
          <a:bodyPr wrap="square" lIns="0" tIns="0" rIns="0" bIns="0" rtlCol="0" anchor="ctr">
            <a:normAutofit/>
          </a:bodyPr>
          <a:lstStyle/>
          <a:p>
            <a:pPr indent="0" marL="0">
              <a:lnSpc>
                <a:spcPct val="125000"/>
              </a:lnSpc>
              <a:buNone/>
            </a:pPr>
            <a:r>
              <a:rPr lang="en-US" sz="1400" dirty="0">
                <a:solidFill>
                  <a:srgbClr val="1A1A1A"/>
                </a:solidFill>
                <a:latin typeface="Cambria" pitchFamily="34" charset="0"/>
                <a:ea typeface="Cambria" pitchFamily="34" charset="-122"/>
                <a:cs typeface="Cambria" pitchFamily="34" charset="-120"/>
              </a:rPr>
              <a:t>SPICE ưu tiên mức đúng về nội dung thay vì chỉ mức giống nhau về câu chữ. Nhờ đó, tín hiệu huấn luyện tập trung hơn vào đối tượng và quan hệ cần mô tả.</a:t>
            </a:r>
            <a:endParaRPr lang="en-US" sz="1400" dirty="0"/>
          </a:p>
        </p:txBody>
      </p:sp>
      <p:sp>
        <p:nvSpPr>
          <p:cNvPr id="19" name="Text 17"/>
          <p:cNvSpPr/>
          <p:nvPr/>
        </p:nvSpPr>
        <p:spPr>
          <a:xfrm>
            <a:off x="502920" y="5321808"/>
            <a:ext cx="8138160" cy="393192"/>
          </a:xfrm>
          <a:prstGeom prst="rect">
            <a:avLst/>
          </a:prstGeom>
          <a:noFill/>
          <a:ln/>
        </p:spPr>
        <p:txBody>
          <a:bodyPr wrap="square" lIns="0" tIns="0" rIns="0" bIns="0" rtlCol="0" anchor="ctr"/>
          <a:lstStyle/>
          <a:p>
            <a:pPr algn="ctr" indent="0" marL="0">
              <a:lnSpc>
                <a:spcPct val="125000"/>
              </a:lnSpc>
              <a:buNone/>
            </a:pPr>
            <a:r>
              <a:rPr lang="en-US" sz="1360" b="1" dirty="0">
                <a:solidFill>
                  <a:srgbClr val="25194B"/>
                </a:solidFill>
                <a:latin typeface="Cambria" pitchFamily="34" charset="0"/>
                <a:ea typeface="Cambria" pitchFamily="34" charset="-122"/>
                <a:cs typeface="Cambria" pitchFamily="34" charset="-120"/>
              </a:rPr>
              <a:t>500 bước cập nhật từ S1 · nhánh đối chứng dùng cùng cấu hình huấn luyện.</a:t>
            </a:r>
            <a:endParaRPr lang="en-US" sz="1360" dirty="0"/>
          </a:p>
        </p:txBody>
      </p:sp>
      <p:sp>
        <p:nvSpPr>
          <p:cNvPr id="20" name="Text 18"/>
          <p:cNvSpPr/>
          <p:nvPr/>
        </p:nvSpPr>
        <p:spPr>
          <a:xfrm>
            <a:off x="502920" y="6327648"/>
            <a:ext cx="8138160" cy="137160"/>
          </a:xfrm>
          <a:prstGeom prst="rect">
            <a:avLst/>
          </a:prstGeom>
          <a:noFill/>
          <a:ln/>
        </p:spPr>
        <p:txBody>
          <a:bodyPr wrap="square" lIns="0" tIns="0" rIns="0" bIns="0" rtlCol="0" anchor="ctr"/>
          <a:lstStyle/>
          <a:p>
            <a:pPr algn="r" indent="0" marL="0">
              <a:lnSpc>
                <a:spcPct val="125000"/>
              </a:lnSpc>
              <a:buNone/>
            </a:pPr>
            <a:r>
              <a:rPr lang="en-US" sz="800" i="1" dirty="0">
                <a:solidFill>
                  <a:srgbClr val="5A5A66"/>
                </a:solidFill>
                <a:latin typeface="Cambria" pitchFamily="34" charset="0"/>
                <a:ea typeface="Cambria" pitchFamily="34" charset="-122"/>
                <a:cs typeface="Cambria" pitchFamily="34" charset="-120"/>
              </a:rPr>
              <a:t>Luận văn §4.5</a:t>
            </a:r>
            <a:endParaRPr lang="en-US" sz="800" dirty="0"/>
          </a:p>
        </p:txBody>
      </p:sp>
      <p:sp>
        <p:nvSpPr>
          <p:cNvPr id="21" name="Shape 19"/>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2" name="Shape 20"/>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3" name="Shape 21"/>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4" name="Shape 22"/>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5" name="Text 23"/>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6" name="Text 24"/>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7" name="Text 25"/>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8" name="Text 26"/>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11/25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02920" y="603504"/>
            <a:ext cx="8138160" cy="219456"/>
          </a:xfrm>
          <a:prstGeom prst="rect">
            <a:avLst/>
          </a:prstGeom>
          <a:noFill/>
          <a:ln/>
        </p:spPr>
        <p:txBody>
          <a:bodyPr wrap="square" lIns="0" tIns="0" rIns="0" bIns="0" rtlCol="0" anchor="ctr">
            <a:normAutofit/>
          </a:bodyPr>
          <a:lstStyle/>
          <a:p>
            <a:pPr indent="0" marL="0">
              <a:lnSpc>
                <a:spcPct val="125000"/>
              </a:lnSpc>
              <a:buNone/>
            </a:pPr>
            <a:r>
              <a:rPr lang="en-US" sz="1260" b="1" dirty="0">
                <a:solidFill>
                  <a:srgbClr val="25194B"/>
                </a:solidFill>
                <a:latin typeface="Cambria" pitchFamily="34" charset="0"/>
                <a:ea typeface="Cambria" pitchFamily="34" charset="-122"/>
                <a:cs typeface="Cambria" pitchFamily="34" charset="-120"/>
              </a:rPr>
              <a:t>Vai trò của tín hiệu SPICE</a:t>
            </a:r>
            <a:endParaRPr lang="en-US" sz="1260" dirty="0"/>
          </a:p>
        </p:txBody>
      </p:sp>
      <p:sp>
        <p:nvSpPr>
          <p:cNvPr id="5" name="Text 3"/>
          <p:cNvSpPr/>
          <p:nvPr/>
        </p:nvSpPr>
        <p:spPr>
          <a:xfrm>
            <a:off x="502920" y="868680"/>
            <a:ext cx="8138160" cy="502920"/>
          </a:xfrm>
          <a:prstGeom prst="rect">
            <a:avLst/>
          </a:prstGeom>
          <a:noFill/>
          <a:ln/>
        </p:spPr>
        <p:txBody>
          <a:bodyPr wrap="square" lIns="0" tIns="0" rIns="0" bIns="0" rtlCol="0" anchor="ctr">
            <a:normAutofit/>
          </a:bodyPr>
          <a:lstStyle/>
          <a:p>
            <a:pPr algn="ctr" indent="0" marL="0">
              <a:lnSpc>
                <a:spcPct val="125000"/>
              </a:lnSpc>
              <a:buNone/>
            </a:pPr>
            <a:r>
              <a:rPr lang="en-US" sz="1630" b="1" dirty="0">
                <a:solidFill>
                  <a:srgbClr val="25194B"/>
                </a:solidFill>
                <a:latin typeface="Cambria" pitchFamily="34" charset="0"/>
                <a:ea typeface="Cambria" pitchFamily="34" charset="-122"/>
                <a:cs typeface="Cambria" pitchFamily="34" charset="-120"/>
              </a:rPr>
              <a:t>Nhánh đối chứng dùng cùng cấu hình huấn luyện nhưng không giữ đúng tín hiệu SPICE.</a:t>
            </a:r>
            <a:endParaRPr lang="en-US" sz="1630" dirty="0"/>
          </a:p>
        </p:txBody>
      </p:sp>
      <p:sp>
        <p:nvSpPr>
          <p:cNvPr id="6" name="Text 4"/>
          <p:cNvSpPr/>
          <p:nvPr/>
        </p:nvSpPr>
        <p:spPr>
          <a:xfrm>
            <a:off x="713232" y="166420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59,11%</a:t>
            </a:r>
            <a:endParaRPr lang="en-US" sz="2400" dirty="0"/>
          </a:p>
        </p:txBody>
      </p:sp>
      <p:sp>
        <p:nvSpPr>
          <p:cNvPr id="7" name="Text 5"/>
          <p:cNvSpPr/>
          <p:nvPr/>
        </p:nvSpPr>
        <p:spPr>
          <a:xfrm>
            <a:off x="713232" y="219456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S1</a:t>
            </a:r>
            <a:endParaRPr lang="en-US" sz="1250" dirty="0"/>
          </a:p>
        </p:txBody>
      </p:sp>
      <p:sp>
        <p:nvSpPr>
          <p:cNvPr id="8" name="Text 6"/>
          <p:cNvSpPr/>
          <p:nvPr/>
        </p:nvSpPr>
        <p:spPr>
          <a:xfrm>
            <a:off x="3456432" y="166420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59,11%</a:t>
            </a:r>
            <a:endParaRPr lang="en-US" sz="2400" dirty="0"/>
          </a:p>
        </p:txBody>
      </p:sp>
      <p:sp>
        <p:nvSpPr>
          <p:cNvPr id="9" name="Text 7"/>
          <p:cNvSpPr/>
          <p:nvPr/>
        </p:nvSpPr>
        <p:spPr>
          <a:xfrm>
            <a:off x="3456432" y="219456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GRPO · đối chứng</a:t>
            </a:r>
            <a:endParaRPr lang="en-US" sz="1250" dirty="0"/>
          </a:p>
        </p:txBody>
      </p:sp>
      <p:sp>
        <p:nvSpPr>
          <p:cNvPr id="10" name="Text 8"/>
          <p:cNvSpPr/>
          <p:nvPr/>
        </p:nvSpPr>
        <p:spPr>
          <a:xfrm>
            <a:off x="6199632" y="166420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60,65%</a:t>
            </a:r>
            <a:endParaRPr lang="en-US" sz="2400" dirty="0"/>
          </a:p>
        </p:txBody>
      </p:sp>
      <p:sp>
        <p:nvSpPr>
          <p:cNvPr id="11" name="Text 9"/>
          <p:cNvSpPr/>
          <p:nvPr/>
        </p:nvSpPr>
        <p:spPr>
          <a:xfrm>
            <a:off x="6199632" y="219456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GRPO-SPICE</a:t>
            </a:r>
            <a:endParaRPr lang="en-US" sz="1250" dirty="0"/>
          </a:p>
        </p:txBody>
      </p:sp>
      <p:sp>
        <p:nvSpPr>
          <p:cNvPr id="12" name="Shape 10"/>
          <p:cNvSpPr/>
          <p:nvPr/>
        </p:nvSpPr>
        <p:spPr>
          <a:xfrm>
            <a:off x="502920" y="3063240"/>
            <a:ext cx="8138160" cy="0"/>
          </a:xfrm>
          <a:prstGeom prst="line">
            <a:avLst/>
          </a:prstGeom>
          <a:noFill/>
          <a:ln w="12700">
            <a:solidFill>
              <a:srgbClr val="D9D6DF"/>
            </a:solidFill>
            <a:prstDash val="solid"/>
            <a:tailEnd type="none"/>
          </a:ln>
        </p:spPr>
      </p:sp>
      <p:sp>
        <p:nvSpPr>
          <p:cNvPr id="13" name="Shape 11"/>
          <p:cNvSpPr/>
          <p:nvPr/>
        </p:nvSpPr>
        <p:spPr>
          <a:xfrm>
            <a:off x="502920" y="3401568"/>
            <a:ext cx="8138160" cy="1170432"/>
          </a:xfrm>
          <a:prstGeom prst="roundRect">
            <a:avLst/>
          </a:prstGeom>
          <a:solidFill>
            <a:srgbClr val="F3F2F5"/>
          </a:solidFill>
          <a:ln w="12700">
            <a:solidFill>
              <a:srgbClr val="4F417A"/>
            </a:solidFill>
            <a:prstDash val="solid"/>
          </a:ln>
        </p:spPr>
      </p:sp>
      <p:sp>
        <p:nvSpPr>
          <p:cNvPr id="14" name="Text 12"/>
          <p:cNvSpPr/>
          <p:nvPr/>
        </p:nvSpPr>
        <p:spPr>
          <a:xfrm>
            <a:off x="685800" y="3566160"/>
            <a:ext cx="7772400" cy="384048"/>
          </a:xfrm>
          <a:prstGeom prst="rect">
            <a:avLst/>
          </a:prstGeom>
          <a:noFill/>
          <a:ln/>
        </p:spPr>
        <p:txBody>
          <a:bodyPr wrap="square" lIns="0" tIns="0" rIns="0" bIns="0" rtlCol="0" anchor="ctr"/>
          <a:lstStyle/>
          <a:p>
            <a:pPr algn="ctr" indent="0" marL="0">
              <a:lnSpc>
                <a:spcPct val="125000"/>
              </a:lnSpc>
              <a:buNone/>
            </a:pPr>
            <a:r>
              <a:rPr lang="en-US" sz="1900" b="1" dirty="0">
                <a:solidFill>
                  <a:srgbClr val="25194B"/>
                </a:solidFill>
                <a:latin typeface="Cambria" pitchFamily="34" charset="0"/>
                <a:ea typeface="Cambria" pitchFamily="34" charset="-122"/>
                <a:cs typeface="Cambria" pitchFamily="34" charset="-120"/>
              </a:rPr>
              <a:t>GRPO-SPICE cao hơn đối chứng +1,55 điểm</a:t>
            </a:r>
            <a:endParaRPr lang="en-US" sz="1900" dirty="0"/>
          </a:p>
        </p:txBody>
      </p:sp>
      <p:sp>
        <p:nvSpPr>
          <p:cNvPr id="15" name="Text 13"/>
          <p:cNvSpPr/>
          <p:nvPr/>
        </p:nvSpPr>
        <p:spPr>
          <a:xfrm>
            <a:off x="685800" y="4005072"/>
            <a:ext cx="7772400" cy="329184"/>
          </a:xfrm>
          <a:prstGeom prst="rect">
            <a:avLst/>
          </a:prstGeom>
          <a:noFill/>
          <a:ln/>
        </p:spPr>
        <p:txBody>
          <a:bodyPr wrap="square" lIns="0" tIns="0" rIns="0" bIns="0" rtlCol="0" anchor="ctr"/>
          <a:lstStyle/>
          <a:p>
            <a:pPr algn="ctr" indent="0" marL="0">
              <a:lnSpc>
                <a:spcPct val="125000"/>
              </a:lnSpc>
              <a:buNone/>
            </a:pPr>
            <a:r>
              <a:rPr lang="en-US" sz="1450" b="1" dirty="0">
                <a:solidFill>
                  <a:srgbClr val="4F417A"/>
                </a:solidFill>
                <a:latin typeface="Cambria" pitchFamily="34" charset="0"/>
                <a:ea typeface="Cambria" pitchFamily="34" charset="-122"/>
                <a:cs typeface="Cambria" pitchFamily="34" charset="-120"/>
              </a:rPr>
              <a:t>KTC 95% [+0,81; +2,30] · p = 2×10⁻⁵</a:t>
            </a:r>
            <a:endParaRPr lang="en-US" sz="1450" dirty="0"/>
          </a:p>
        </p:txBody>
      </p:sp>
      <p:sp>
        <p:nvSpPr>
          <p:cNvPr id="16" name="Text 14"/>
          <p:cNvSpPr/>
          <p:nvPr/>
        </p:nvSpPr>
        <p:spPr>
          <a:xfrm>
            <a:off x="502920" y="5047488"/>
            <a:ext cx="8138160" cy="457200"/>
          </a:xfrm>
          <a:prstGeom prst="rect">
            <a:avLst/>
          </a:prstGeom>
          <a:noFill/>
          <a:ln/>
        </p:spPr>
        <p:txBody>
          <a:bodyPr wrap="square" lIns="0" tIns="0" rIns="0" bIns="0" rtlCol="0" anchor="ctr"/>
          <a:lstStyle/>
          <a:p>
            <a:pPr algn="ctr" indent="0" marL="0">
              <a:lnSpc>
                <a:spcPct val="125000"/>
              </a:lnSpc>
              <a:buNone/>
            </a:pPr>
            <a:r>
              <a:rPr lang="en-US" sz="1430" b="1" dirty="0">
                <a:solidFill>
                  <a:srgbClr val="25194B"/>
                </a:solidFill>
                <a:latin typeface="Cambria" pitchFamily="34" charset="0"/>
                <a:ea typeface="Cambria" pitchFamily="34" charset="-122"/>
                <a:cs typeface="Cambria" pitchFamily="34" charset="-120"/>
              </a:rPr>
              <a:t>6/6 chỉ số chất lượng câu có KTC đều tăng so với đối chứng.</a:t>
            </a:r>
            <a:endParaRPr lang="en-US" sz="1430" dirty="0"/>
          </a:p>
        </p:txBody>
      </p:sp>
      <p:sp>
        <p:nvSpPr>
          <p:cNvPr id="17" name="Text 15"/>
          <p:cNvSpPr/>
          <p:nvPr/>
        </p:nvSpPr>
        <p:spPr>
          <a:xfrm>
            <a:off x="502920" y="6327648"/>
            <a:ext cx="8138160" cy="137160"/>
          </a:xfrm>
          <a:prstGeom prst="rect">
            <a:avLst/>
          </a:prstGeom>
          <a:noFill/>
          <a:ln/>
        </p:spPr>
        <p:txBody>
          <a:bodyPr wrap="square" lIns="0" tIns="0" rIns="0" bIns="0" rtlCol="0" anchor="ctr"/>
          <a:lstStyle/>
          <a:p>
            <a:pPr algn="r" indent="0" marL="0">
              <a:lnSpc>
                <a:spcPct val="125000"/>
              </a:lnSpc>
              <a:buNone/>
            </a:pPr>
            <a:r>
              <a:rPr lang="en-US" sz="800" i="1" dirty="0">
                <a:solidFill>
                  <a:srgbClr val="5A5A66"/>
                </a:solidFill>
                <a:latin typeface="Cambria" pitchFamily="34" charset="0"/>
                <a:ea typeface="Cambria" pitchFamily="34" charset="-122"/>
                <a:cs typeface="Cambria" pitchFamily="34" charset="-120"/>
              </a:rPr>
              <a:t>Luận văn §6.2–§6.5</a:t>
            </a:r>
            <a:endParaRPr lang="en-US" sz="800" dirty="0"/>
          </a:p>
        </p:txBody>
      </p:sp>
      <p:sp>
        <p:nvSpPr>
          <p:cNvPr id="18" name="Shape 16"/>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9" name="Shape 17"/>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0" name="Shape 18"/>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1" name="Shape 19"/>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2" name="Text 20"/>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3" name="Text 21"/>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4" name="Text 22"/>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5" name="Text 23"/>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12/25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02920" y="603504"/>
            <a:ext cx="8138160" cy="219456"/>
          </a:xfrm>
          <a:prstGeom prst="rect">
            <a:avLst/>
          </a:prstGeom>
          <a:noFill/>
          <a:ln/>
        </p:spPr>
        <p:txBody>
          <a:bodyPr wrap="square" lIns="0" tIns="0" rIns="0" bIns="0" rtlCol="0" anchor="ctr">
            <a:normAutofit/>
          </a:bodyPr>
          <a:lstStyle/>
          <a:p>
            <a:pPr indent="0" marL="0">
              <a:lnSpc>
                <a:spcPct val="125000"/>
              </a:lnSpc>
              <a:buNone/>
            </a:pPr>
            <a:r>
              <a:rPr lang="en-US" sz="1260" b="1" dirty="0">
                <a:solidFill>
                  <a:srgbClr val="25194B"/>
                </a:solidFill>
                <a:latin typeface="Cambria" pitchFamily="34" charset="0"/>
                <a:ea typeface="Cambria" pitchFamily="34" charset="-122"/>
                <a:cs typeface="Cambria" pitchFamily="34" charset="-120"/>
              </a:rPr>
              <a:t>Kết quả trên tập kiểm chính</a:t>
            </a:r>
            <a:endParaRPr lang="en-US" sz="1260" dirty="0"/>
          </a:p>
        </p:txBody>
      </p:sp>
      <p:sp>
        <p:nvSpPr>
          <p:cNvPr id="5" name="Text 3"/>
          <p:cNvSpPr/>
          <p:nvPr/>
        </p:nvSpPr>
        <p:spPr>
          <a:xfrm>
            <a:off x="502920" y="868680"/>
            <a:ext cx="8138160" cy="475488"/>
          </a:xfrm>
          <a:prstGeom prst="rect">
            <a:avLst/>
          </a:prstGeom>
          <a:noFill/>
          <a:ln/>
        </p:spPr>
        <p:txBody>
          <a:bodyPr wrap="square" lIns="0" tIns="0" rIns="0" bIns="0" rtlCol="0" anchor="ctr"/>
          <a:lstStyle/>
          <a:p>
            <a:pPr algn="ctr" indent="0" marL="0">
              <a:lnSpc>
                <a:spcPct val="125000"/>
              </a:lnSpc>
              <a:buNone/>
            </a:pPr>
            <a:r>
              <a:rPr lang="en-US" sz="1680" b="1" dirty="0">
                <a:solidFill>
                  <a:srgbClr val="25194B"/>
                </a:solidFill>
                <a:latin typeface="Cambria" pitchFamily="34" charset="0"/>
                <a:ea typeface="Cambria" pitchFamily="34" charset="-122"/>
                <a:cs typeface="Cambria" pitchFamily="34" charset="-120"/>
              </a:rPr>
              <a:t>So với S1, GRPO-SPICE cao hơn ở toàn bộ 13 độ đo được báo cáo.</a:t>
            </a:r>
            <a:endParaRPr lang="en-US" sz="1680" dirty="0"/>
          </a:p>
        </p:txBody>
      </p:sp>
      <p:sp>
        <p:nvSpPr>
          <p:cNvPr id="6" name="Text 4"/>
          <p:cNvSpPr/>
          <p:nvPr/>
        </p:nvSpPr>
        <p:spPr>
          <a:xfrm>
            <a:off x="566928" y="1572768"/>
            <a:ext cx="20574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+1,55</a:t>
            </a:r>
            <a:endParaRPr lang="en-US" sz="2400" dirty="0"/>
          </a:p>
        </p:txBody>
      </p:sp>
      <p:sp>
        <p:nvSpPr>
          <p:cNvPr id="7" name="Text 5"/>
          <p:cNvSpPr/>
          <p:nvPr/>
        </p:nvSpPr>
        <p:spPr>
          <a:xfrm>
            <a:off x="566928" y="2103120"/>
            <a:ext cx="20574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Executability</a:t>
            </a:r>
            <a:endParaRPr lang="en-US" sz="1250" dirty="0"/>
          </a:p>
        </p:txBody>
      </p:sp>
      <p:sp>
        <p:nvSpPr>
          <p:cNvPr id="8" name="Text 6"/>
          <p:cNvSpPr/>
          <p:nvPr/>
        </p:nvSpPr>
        <p:spPr>
          <a:xfrm>
            <a:off x="2706624" y="1572768"/>
            <a:ext cx="20574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+1,52</a:t>
            </a:r>
            <a:endParaRPr lang="en-US" sz="2400" dirty="0"/>
          </a:p>
        </p:txBody>
      </p:sp>
      <p:sp>
        <p:nvSpPr>
          <p:cNvPr id="9" name="Text 7"/>
          <p:cNvSpPr/>
          <p:nvPr/>
        </p:nvSpPr>
        <p:spPr>
          <a:xfrm>
            <a:off x="2706624" y="2103120"/>
            <a:ext cx="20574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Hộp phần tử</a:t>
            </a:r>
            <a:endParaRPr lang="en-US" sz="1250" dirty="0"/>
          </a:p>
        </p:txBody>
      </p:sp>
      <p:sp>
        <p:nvSpPr>
          <p:cNvPr id="10" name="Text 8"/>
          <p:cNvSpPr/>
          <p:nvPr/>
        </p:nvSpPr>
        <p:spPr>
          <a:xfrm>
            <a:off x="4846320" y="1572768"/>
            <a:ext cx="20574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+1,88</a:t>
            </a:r>
            <a:endParaRPr lang="en-US" sz="2400" dirty="0"/>
          </a:p>
        </p:txBody>
      </p:sp>
      <p:sp>
        <p:nvSpPr>
          <p:cNvPr id="11" name="Text 9"/>
          <p:cNvSpPr/>
          <p:nvPr/>
        </p:nvSpPr>
        <p:spPr>
          <a:xfrm>
            <a:off x="4846320" y="2103120"/>
            <a:ext cx="20574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AitW đầy đủ</a:t>
            </a:r>
            <a:endParaRPr lang="en-US" sz="1250" dirty="0"/>
          </a:p>
        </p:txBody>
      </p:sp>
      <p:sp>
        <p:nvSpPr>
          <p:cNvPr id="12" name="Text 10"/>
          <p:cNvSpPr/>
          <p:nvPr/>
        </p:nvSpPr>
        <p:spPr>
          <a:xfrm>
            <a:off x="6986016" y="1572768"/>
            <a:ext cx="1627632"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7/7</a:t>
            </a:r>
            <a:endParaRPr lang="en-US" sz="2400" dirty="0"/>
          </a:p>
        </p:txBody>
      </p:sp>
      <p:sp>
        <p:nvSpPr>
          <p:cNvPr id="13" name="Text 11"/>
          <p:cNvSpPr/>
          <p:nvPr/>
        </p:nvSpPr>
        <p:spPr>
          <a:xfrm>
            <a:off x="6986016" y="2103120"/>
            <a:ext cx="1627632"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chỉ số câu tăng</a:t>
            </a:r>
            <a:endParaRPr lang="en-US" sz="1250" dirty="0"/>
          </a:p>
        </p:txBody>
      </p:sp>
      <p:sp>
        <p:nvSpPr>
          <p:cNvPr id="14" name="Shape 12"/>
          <p:cNvSpPr/>
          <p:nvPr/>
        </p:nvSpPr>
        <p:spPr>
          <a:xfrm>
            <a:off x="502920" y="3090672"/>
            <a:ext cx="8138160" cy="1353312"/>
          </a:xfrm>
          <a:prstGeom prst="roundRect">
            <a:avLst/>
          </a:prstGeom>
          <a:solidFill>
            <a:srgbClr val="F3F2F5"/>
          </a:solidFill>
          <a:ln w="12700">
            <a:solidFill>
              <a:srgbClr val="7A7099"/>
            </a:solidFill>
            <a:prstDash val="solid"/>
          </a:ln>
        </p:spPr>
      </p:sp>
      <p:sp>
        <p:nvSpPr>
          <p:cNvPr id="15" name="Text 13"/>
          <p:cNvSpPr/>
          <p:nvPr/>
        </p:nvSpPr>
        <p:spPr>
          <a:xfrm>
            <a:off x="704088" y="3346704"/>
            <a:ext cx="7726680" cy="384048"/>
          </a:xfrm>
          <a:prstGeom prst="rect">
            <a:avLst/>
          </a:prstGeom>
          <a:noFill/>
          <a:ln/>
        </p:spPr>
        <p:txBody>
          <a:bodyPr wrap="square" lIns="0" tIns="0" rIns="0" bIns="0" rtlCol="0" anchor="ctr"/>
          <a:lstStyle/>
          <a:p>
            <a:pPr algn="ctr" indent="0" marL="0">
              <a:lnSpc>
                <a:spcPct val="125000"/>
              </a:lnSpc>
              <a:buNone/>
            </a:pPr>
            <a:r>
              <a:rPr lang="en-US" sz="1900" b="1" dirty="0">
                <a:solidFill>
                  <a:srgbClr val="25194B"/>
                </a:solidFill>
                <a:latin typeface="Cambria" pitchFamily="34" charset="0"/>
                <a:ea typeface="Cambria" pitchFamily="34" charset="-122"/>
                <a:cs typeface="Cambria" pitchFamily="34" charset="-120"/>
              </a:rPr>
              <a:t>12/12 độ đo có khoảng tin cậy đều nằm trên 0</a:t>
            </a:r>
            <a:endParaRPr lang="en-US" sz="1900" dirty="0"/>
          </a:p>
        </p:txBody>
      </p:sp>
      <p:sp>
        <p:nvSpPr>
          <p:cNvPr id="16" name="Text 14"/>
          <p:cNvSpPr/>
          <p:nvPr/>
        </p:nvSpPr>
        <p:spPr>
          <a:xfrm>
            <a:off x="777240" y="3822192"/>
            <a:ext cx="7589520" cy="347472"/>
          </a:xfrm>
          <a:prstGeom prst="rect">
            <a:avLst/>
          </a:prstGeom>
          <a:noFill/>
          <a:ln/>
        </p:spPr>
        <p:txBody>
          <a:bodyPr wrap="square" lIns="0" tIns="0" rIns="0" bIns="0" rtlCol="0" anchor="ctr">
            <a:normAutofit/>
          </a:bodyPr>
          <a:lstStyle/>
          <a:p>
            <a:pPr algn="ctr" indent="0" marL="0">
              <a:lnSpc>
                <a:spcPct val="125000"/>
              </a:lnSpc>
              <a:buNone/>
            </a:pPr>
            <a:r>
              <a:rPr lang="en-US" sz="1320" dirty="0">
                <a:solidFill>
                  <a:srgbClr val="5A5A66"/>
                </a:solidFill>
                <a:latin typeface="Cambria" pitchFamily="34" charset="0"/>
                <a:ea typeface="Cambria" pitchFamily="34" charset="-122"/>
                <a:cs typeface="Cambria" pitchFamily="34" charset="-120"/>
              </a:rPr>
              <a:t>METEOR tăng +1,13 điểm nhưng chưa có KTC trong thiết lập đánh giá hiện tại.</a:t>
            </a:r>
            <a:endParaRPr lang="en-US" sz="1320" dirty="0"/>
          </a:p>
        </p:txBody>
      </p:sp>
      <p:sp>
        <p:nvSpPr>
          <p:cNvPr id="17" name="Text 15"/>
          <p:cNvSpPr/>
          <p:nvPr/>
        </p:nvSpPr>
        <p:spPr>
          <a:xfrm>
            <a:off x="502920" y="4919472"/>
            <a:ext cx="8138160" cy="658368"/>
          </a:xfrm>
          <a:prstGeom prst="rect">
            <a:avLst/>
          </a:prstGeom>
          <a:noFill/>
          <a:ln/>
        </p:spPr>
        <p:txBody>
          <a:bodyPr wrap="square" lIns="0" tIns="0" rIns="0" bIns="0" rtlCol="0" anchor="ctr">
            <a:normAutofit/>
          </a:bodyPr>
          <a:lstStyle/>
          <a:p>
            <a:pPr algn="ctr" indent="0" marL="0">
              <a:lnSpc>
                <a:spcPct val="125000"/>
              </a:lnSpc>
              <a:buNone/>
            </a:pPr>
            <a:r>
              <a:rPr lang="en-US" sz="1280" b="1" dirty="0">
                <a:solidFill>
                  <a:srgbClr val="25194B"/>
                </a:solidFill>
                <a:latin typeface="Cambria" pitchFamily="34" charset="0"/>
                <a:ea typeface="Cambria" pitchFamily="34" charset="-122"/>
                <a:cs typeface="Cambria" pitchFamily="34" charset="-120"/>
              </a:rPr>
              <a:t>Lượt GRPO-SPICE thứ hai vẫn cao hơn S1 lượt đầu +0,83 điểm.</a:t>
            </a:r>
            <a:endParaRPr lang="en-US" sz="1280" dirty="0"/>
          </a:p>
        </p:txBody>
      </p:sp>
      <p:sp>
        <p:nvSpPr>
          <p:cNvPr id="18" name="Text 16"/>
          <p:cNvSpPr/>
          <p:nvPr/>
        </p:nvSpPr>
        <p:spPr>
          <a:xfrm>
            <a:off x="502920" y="6327648"/>
            <a:ext cx="8138160" cy="137160"/>
          </a:xfrm>
          <a:prstGeom prst="rect">
            <a:avLst/>
          </a:prstGeom>
          <a:noFill/>
          <a:ln/>
        </p:spPr>
        <p:txBody>
          <a:bodyPr wrap="square" lIns="0" tIns="0" rIns="0" bIns="0" rtlCol="0" anchor="ctr"/>
          <a:lstStyle/>
          <a:p>
            <a:pPr algn="r" indent="0" marL="0">
              <a:lnSpc>
                <a:spcPct val="125000"/>
              </a:lnSpc>
              <a:buNone/>
            </a:pPr>
            <a:r>
              <a:rPr lang="en-US" sz="800" i="1" dirty="0">
                <a:solidFill>
                  <a:srgbClr val="5A5A66"/>
                </a:solidFill>
                <a:latin typeface="Cambria" pitchFamily="34" charset="0"/>
                <a:ea typeface="Cambria" pitchFamily="34" charset="-122"/>
                <a:cs typeface="Cambria" pitchFamily="34" charset="-120"/>
              </a:rPr>
              <a:t>Luận văn §6.2, §6.5–§6.7</a:t>
            </a:r>
            <a:endParaRPr lang="en-US" sz="800" dirty="0"/>
          </a:p>
        </p:txBody>
      </p:sp>
      <p:sp>
        <p:nvSpPr>
          <p:cNvPr id="19" name="Shape 17"/>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0" name="Shape 18"/>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1" name="Shape 19"/>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2" name="Shape 20"/>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3" name="Text 21"/>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4" name="Text 22"/>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5" name="Text 23"/>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6" name="Text 24"/>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13/25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02920" y="603504"/>
            <a:ext cx="8138160" cy="219456"/>
          </a:xfrm>
          <a:prstGeom prst="rect">
            <a:avLst/>
          </a:prstGeom>
          <a:noFill/>
          <a:ln/>
        </p:spPr>
        <p:txBody>
          <a:bodyPr wrap="square" lIns="0" tIns="0" rIns="0" bIns="0" rtlCol="0" anchor="ctr">
            <a:normAutofit/>
          </a:bodyPr>
          <a:lstStyle/>
          <a:p>
            <a:pPr indent="0" marL="0">
              <a:lnSpc>
                <a:spcPct val="125000"/>
              </a:lnSpc>
              <a:buNone/>
            </a:pPr>
            <a:r>
              <a:rPr lang="en-US" sz="1260" b="1" dirty="0">
                <a:solidFill>
                  <a:srgbClr val="25194B"/>
                </a:solidFill>
                <a:latin typeface="Cambria" pitchFamily="34" charset="0"/>
                <a:ea typeface="Cambria" pitchFamily="34" charset="-122"/>
                <a:cs typeface="Cambria" pitchFamily="34" charset="-120"/>
              </a:rPr>
              <a:t>Kết quả trên tác vụ mới (ACU)</a:t>
            </a:r>
            <a:endParaRPr lang="en-US" sz="1260" dirty="0"/>
          </a:p>
        </p:txBody>
      </p:sp>
      <p:sp>
        <p:nvSpPr>
          <p:cNvPr id="5" name="Text 3"/>
          <p:cNvSpPr/>
          <p:nvPr/>
        </p:nvSpPr>
        <p:spPr>
          <a:xfrm>
            <a:off x="502920" y="868680"/>
            <a:ext cx="8138160" cy="457200"/>
          </a:xfrm>
          <a:prstGeom prst="rect">
            <a:avLst/>
          </a:prstGeom>
          <a:noFill/>
          <a:ln/>
        </p:spPr>
        <p:txBody>
          <a:bodyPr wrap="square" lIns="0" tIns="0" rIns="0" bIns="0" rtlCol="0" anchor="ctr"/>
          <a:lstStyle/>
          <a:p>
            <a:pPr algn="ctr" indent="0" marL="0">
              <a:lnSpc>
                <a:spcPct val="125000"/>
              </a:lnSpc>
              <a:buNone/>
            </a:pPr>
            <a:r>
              <a:rPr lang="en-US" sz="1600" b="1" dirty="0">
                <a:solidFill>
                  <a:srgbClr val="25194B"/>
                </a:solidFill>
                <a:latin typeface="Cambria" pitchFamily="34" charset="0"/>
                <a:ea typeface="Cambria" pitchFamily="34" charset="-122"/>
                <a:cs typeface="Cambria" pitchFamily="34" charset="-120"/>
              </a:rPr>
              <a:t>ACU gồm 1.484 bước thuộc các tác vụ không xuất hiện trong tập huấn luyện của S1.</a:t>
            </a:r>
            <a:endParaRPr lang="en-US" sz="1600" dirty="0"/>
          </a:p>
        </p:txBody>
      </p:sp>
      <p:sp>
        <p:nvSpPr>
          <p:cNvPr id="6" name="Text 4"/>
          <p:cNvSpPr/>
          <p:nvPr/>
        </p:nvSpPr>
        <p:spPr>
          <a:xfrm>
            <a:off x="731520" y="1572768"/>
            <a:ext cx="22860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+4,58</a:t>
            </a:r>
            <a:endParaRPr lang="en-US" sz="2400" dirty="0"/>
          </a:p>
        </p:txBody>
      </p:sp>
      <p:sp>
        <p:nvSpPr>
          <p:cNvPr id="7" name="Text 5"/>
          <p:cNvSpPr/>
          <p:nvPr/>
        </p:nvSpPr>
        <p:spPr>
          <a:xfrm>
            <a:off x="731520" y="2103120"/>
            <a:ext cx="22860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GRPO-SPICE − S1</a:t>
            </a:r>
            <a:endParaRPr lang="en-US" sz="1250" dirty="0"/>
          </a:p>
        </p:txBody>
      </p:sp>
      <p:sp>
        <p:nvSpPr>
          <p:cNvPr id="8" name="Text 6"/>
          <p:cNvSpPr/>
          <p:nvPr/>
        </p:nvSpPr>
        <p:spPr>
          <a:xfrm>
            <a:off x="3429000" y="1572768"/>
            <a:ext cx="22860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+4,04</a:t>
            </a:r>
            <a:endParaRPr lang="en-US" sz="2400" dirty="0"/>
          </a:p>
        </p:txBody>
      </p:sp>
      <p:sp>
        <p:nvSpPr>
          <p:cNvPr id="9" name="Text 7"/>
          <p:cNvSpPr/>
          <p:nvPr/>
        </p:nvSpPr>
        <p:spPr>
          <a:xfrm>
            <a:off x="3429000" y="2103120"/>
            <a:ext cx="22860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lượt GRPO thứ hai − S1</a:t>
            </a:r>
            <a:endParaRPr lang="en-US" sz="1250" dirty="0"/>
          </a:p>
        </p:txBody>
      </p:sp>
      <p:sp>
        <p:nvSpPr>
          <p:cNvPr id="10" name="Text 8"/>
          <p:cNvSpPr/>
          <p:nvPr/>
        </p:nvSpPr>
        <p:spPr>
          <a:xfrm>
            <a:off x="6126480" y="1572768"/>
            <a:ext cx="22860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+4,85</a:t>
            </a:r>
            <a:endParaRPr lang="en-US" sz="2400" dirty="0"/>
          </a:p>
        </p:txBody>
      </p:sp>
      <p:sp>
        <p:nvSpPr>
          <p:cNvPr id="11" name="Text 9"/>
          <p:cNvSpPr/>
          <p:nvPr/>
        </p:nvSpPr>
        <p:spPr>
          <a:xfrm>
            <a:off x="6126480" y="2103120"/>
            <a:ext cx="22860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ACE − S1</a:t>
            </a:r>
            <a:endParaRPr lang="en-US" sz="1250" dirty="0"/>
          </a:p>
        </p:txBody>
      </p:sp>
      <p:sp>
        <p:nvSpPr>
          <p:cNvPr id="12" name="Text 10"/>
          <p:cNvSpPr/>
          <p:nvPr/>
        </p:nvSpPr>
        <p:spPr>
          <a:xfrm>
            <a:off x="502920" y="2907792"/>
            <a:ext cx="8138160" cy="566928"/>
          </a:xfrm>
          <a:prstGeom prst="rect">
            <a:avLst/>
          </a:prstGeom>
          <a:noFill/>
          <a:ln/>
        </p:spPr>
        <p:txBody>
          <a:bodyPr wrap="square" lIns="0" tIns="0" rIns="0" bIns="0" rtlCol="0" anchor="ctr">
            <a:normAutofit/>
          </a:bodyPr>
          <a:lstStyle/>
          <a:p>
            <a:pPr algn="ctr" indent="0" marL="0">
              <a:lnSpc>
                <a:spcPct val="125000"/>
              </a:lnSpc>
              <a:buNone/>
            </a:pPr>
            <a:r>
              <a:rPr lang="en-US" sz="1420" b="1" dirty="0">
                <a:solidFill>
                  <a:srgbClr val="25194B"/>
                </a:solidFill>
                <a:latin typeface="Cambria" pitchFamily="34" charset="0"/>
                <a:ea typeface="Cambria" pitchFamily="34" charset="-122"/>
                <a:cs typeface="Cambria" pitchFamily="34" charset="-120"/>
              </a:rPr>
              <a:t>Cả ba mức tăng đều có khoảng tin cậy nằm trên 0.</a:t>
            </a:r>
            <a:endParaRPr lang="en-US" sz="1420" dirty="0"/>
          </a:p>
        </p:txBody>
      </p:sp>
      <p:sp>
        <p:nvSpPr>
          <p:cNvPr id="13" name="Shape 11"/>
          <p:cNvSpPr/>
          <p:nvPr/>
        </p:nvSpPr>
        <p:spPr>
          <a:xfrm>
            <a:off x="502920" y="3730752"/>
            <a:ext cx="8138160" cy="1207008"/>
          </a:xfrm>
          <a:prstGeom prst="roundRect">
            <a:avLst/>
          </a:prstGeom>
          <a:solidFill>
            <a:srgbClr val="F3F2F5"/>
          </a:solidFill>
          <a:ln w="12700">
            <a:solidFill>
              <a:srgbClr val="7A7099"/>
            </a:solidFill>
            <a:prstDash val="solid"/>
          </a:ln>
        </p:spPr>
      </p:sp>
      <p:sp>
        <p:nvSpPr>
          <p:cNvPr id="14" name="Text 12"/>
          <p:cNvSpPr/>
          <p:nvPr/>
        </p:nvSpPr>
        <p:spPr>
          <a:xfrm>
            <a:off x="704088" y="3877056"/>
            <a:ext cx="3108960" cy="475488"/>
          </a:xfrm>
          <a:prstGeom prst="rect">
            <a:avLst/>
          </a:prstGeom>
          <a:noFill/>
          <a:ln/>
        </p:spPr>
        <p:txBody>
          <a:bodyPr wrap="square" lIns="0" tIns="0" rIns="0" bIns="0" rtlCol="0" anchor="ctr">
            <a:normAutofit/>
          </a:bodyPr>
          <a:lstStyle/>
          <a:p>
            <a:pPr indent="0" marL="0">
              <a:lnSpc>
                <a:spcPct val="125000"/>
              </a:lnSpc>
              <a:buNone/>
            </a:pPr>
            <a:r>
              <a:rPr lang="en-US" sz="1370" b="1" dirty="0">
                <a:solidFill>
                  <a:srgbClr val="25194B"/>
                </a:solidFill>
                <a:latin typeface="Cambria" pitchFamily="34" charset="0"/>
                <a:ea typeface="Cambria" pitchFamily="34" charset="-122"/>
                <a:cs typeface="Cambria" pitchFamily="34" charset="-120"/>
              </a:rPr>
              <a:t>Gộp tập kiểm chính + ACU = 5.947 bước</a:t>
            </a:r>
            <a:endParaRPr lang="en-US" sz="1370" dirty="0"/>
          </a:p>
        </p:txBody>
      </p:sp>
      <p:sp>
        <p:nvSpPr>
          <p:cNvPr id="15" name="Text 13"/>
          <p:cNvSpPr/>
          <p:nvPr/>
        </p:nvSpPr>
        <p:spPr>
          <a:xfrm>
            <a:off x="3703320" y="3895344"/>
            <a:ext cx="4663440" cy="438912"/>
          </a:xfrm>
          <a:prstGeom prst="rect">
            <a:avLst/>
          </a:prstGeom>
          <a:noFill/>
          <a:ln/>
        </p:spPr>
        <p:txBody>
          <a:bodyPr wrap="square" lIns="0" tIns="0" rIns="0" bIns="0" rtlCol="0" anchor="ctr"/>
          <a:lstStyle/>
          <a:p>
            <a:pPr algn="ctr" indent="0" marL="0">
              <a:lnSpc>
                <a:spcPct val="125000"/>
              </a:lnSpc>
              <a:buNone/>
            </a:pPr>
            <a:r>
              <a:rPr lang="en-US" sz="1720" b="1" dirty="0">
                <a:solidFill>
                  <a:srgbClr val="4F417A"/>
                </a:solidFill>
                <a:latin typeface="Cambria" pitchFamily="34" charset="0"/>
                <a:ea typeface="Cambria" pitchFamily="34" charset="-122"/>
                <a:cs typeface="Cambria" pitchFamily="34" charset="-120"/>
              </a:rPr>
              <a:t>GRPO-SPICE − S1 = +2,30  [ +1,62; +2,99 ]</a:t>
            </a:r>
            <a:endParaRPr lang="en-US" sz="1720" dirty="0"/>
          </a:p>
        </p:txBody>
      </p:sp>
      <p:sp>
        <p:nvSpPr>
          <p:cNvPr id="16" name="Text 14"/>
          <p:cNvSpPr/>
          <p:nvPr/>
        </p:nvSpPr>
        <p:spPr>
          <a:xfrm>
            <a:off x="502920" y="5230368"/>
            <a:ext cx="8138160" cy="457200"/>
          </a:xfrm>
          <a:prstGeom prst="rect">
            <a:avLst/>
          </a:prstGeom>
          <a:noFill/>
          <a:ln/>
        </p:spPr>
        <p:txBody>
          <a:bodyPr wrap="square" lIns="0" tIns="0" rIns="0" bIns="0" rtlCol="0" anchor="ctr"/>
          <a:lstStyle/>
          <a:p>
            <a:pPr algn="ctr" indent="0" marL="0">
              <a:lnSpc>
                <a:spcPct val="125000"/>
              </a:lnSpc>
              <a:buNone/>
            </a:pPr>
            <a:r>
              <a:rPr lang="en-US" sz="1380" b="1" dirty="0">
                <a:solidFill>
                  <a:srgbClr val="25194B"/>
                </a:solidFill>
                <a:latin typeface="Cambria" pitchFamily="34" charset="0"/>
                <a:ea typeface="Cambria" pitchFamily="34" charset="-122"/>
                <a:cs typeface="Cambria" pitchFamily="34" charset="-120"/>
              </a:rPr>
              <a:t>Trên ACU, 6/6 chỉ số chất lượng câu có KTC đều tăng.</a:t>
            </a:r>
            <a:endParaRPr lang="en-US" sz="1380" dirty="0"/>
          </a:p>
        </p:txBody>
      </p:sp>
      <p:sp>
        <p:nvSpPr>
          <p:cNvPr id="17" name="Text 15"/>
          <p:cNvSpPr/>
          <p:nvPr/>
        </p:nvSpPr>
        <p:spPr>
          <a:xfrm>
            <a:off x="502920" y="5705856"/>
            <a:ext cx="8138160" cy="274320"/>
          </a:xfrm>
          <a:prstGeom prst="rect">
            <a:avLst/>
          </a:prstGeom>
          <a:noFill/>
          <a:ln/>
        </p:spPr>
        <p:txBody>
          <a:bodyPr wrap="square" lIns="0" tIns="0" rIns="0" bIns="0" rtlCol="0" anchor="ctr">
            <a:normAutofit/>
          </a:bodyPr>
          <a:lstStyle/>
          <a:p>
            <a:pPr algn="ctr" indent="0" marL="0">
              <a:lnSpc>
                <a:spcPct val="125000"/>
              </a:lnSpc>
              <a:buNone/>
            </a:pPr>
            <a:r>
              <a:rPr lang="en-US" sz="1080" dirty="0">
                <a:solidFill>
                  <a:srgbClr val="5A5A66"/>
                </a:solidFill>
                <a:latin typeface="Cambria" pitchFamily="34" charset="0"/>
                <a:ea typeface="Cambria" pitchFamily="34" charset="-122"/>
                <a:cs typeface="Cambria" pitchFamily="34" charset="-120"/>
              </a:rPr>
              <a:t>ACU dùng để kiểm tra khả năng tổng quát hóa sang tác vụ mới.</a:t>
            </a:r>
            <a:endParaRPr lang="en-US" sz="1080" dirty="0"/>
          </a:p>
        </p:txBody>
      </p:sp>
      <p:sp>
        <p:nvSpPr>
          <p:cNvPr id="18" name="Text 16"/>
          <p:cNvSpPr/>
          <p:nvPr/>
        </p:nvSpPr>
        <p:spPr>
          <a:xfrm>
            <a:off x="502920" y="6327648"/>
            <a:ext cx="8138160" cy="137160"/>
          </a:xfrm>
          <a:prstGeom prst="rect">
            <a:avLst/>
          </a:prstGeom>
          <a:noFill/>
          <a:ln/>
        </p:spPr>
        <p:txBody>
          <a:bodyPr wrap="square" lIns="0" tIns="0" rIns="0" bIns="0" rtlCol="0" anchor="ctr"/>
          <a:lstStyle/>
          <a:p>
            <a:pPr algn="r" indent="0" marL="0">
              <a:lnSpc>
                <a:spcPct val="125000"/>
              </a:lnSpc>
              <a:buNone/>
            </a:pPr>
            <a:r>
              <a:rPr lang="en-US" sz="800" i="1" dirty="0">
                <a:solidFill>
                  <a:srgbClr val="5A5A66"/>
                </a:solidFill>
                <a:latin typeface="Cambria" pitchFamily="34" charset="0"/>
                <a:ea typeface="Cambria" pitchFamily="34" charset="-122"/>
                <a:cs typeface="Cambria" pitchFamily="34" charset="-120"/>
              </a:rPr>
              <a:t>Luận văn §6.8</a:t>
            </a:r>
            <a:endParaRPr lang="en-US" sz="800" dirty="0"/>
          </a:p>
        </p:txBody>
      </p:sp>
      <p:sp>
        <p:nvSpPr>
          <p:cNvPr id="19" name="Shape 17"/>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0" name="Shape 18"/>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1" name="Shape 19"/>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2" name="Shape 20"/>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3" name="Text 21"/>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4" name="Text 22"/>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5" name="Text 23"/>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6" name="Text 24"/>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14/25</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Phương pháp đề xuất</a:t>
            </a:r>
            <a:endParaRPr lang="en-US" sz="1820" dirty="0"/>
          </a:p>
        </p:txBody>
      </p:sp>
      <p:sp>
        <p:nvSpPr>
          <p:cNvPr id="4" name="Text 2"/>
          <p:cNvSpPr/>
          <p:nvPr/>
        </p:nvSpPr>
        <p:spPr>
          <a:xfrm>
            <a:off x="502920" y="603504"/>
            <a:ext cx="8138160" cy="219456"/>
          </a:xfrm>
          <a:prstGeom prst="rect">
            <a:avLst/>
          </a:prstGeom>
          <a:noFill/>
          <a:ln/>
        </p:spPr>
        <p:txBody>
          <a:bodyPr wrap="square" lIns="0" tIns="0" rIns="0" bIns="0" rtlCol="0" anchor="ctr">
            <a:normAutofit/>
          </a:bodyPr>
          <a:lstStyle/>
          <a:p>
            <a:pPr indent="0" marL="0">
              <a:lnSpc>
                <a:spcPct val="125000"/>
              </a:lnSpc>
              <a:buNone/>
            </a:pPr>
            <a:r>
              <a:rPr lang="en-US" sz="1260" b="1" dirty="0">
                <a:solidFill>
                  <a:srgbClr val="25194B"/>
                </a:solidFill>
                <a:latin typeface="Cambria" pitchFamily="34" charset="0"/>
                <a:ea typeface="Cambria" pitchFamily="34" charset="-122"/>
                <a:cs typeface="Cambria" pitchFamily="34" charset="-120"/>
              </a:rPr>
              <a:t>Thành phần thứ hai: ACE</a:t>
            </a:r>
            <a:endParaRPr lang="en-US" sz="1260" dirty="0"/>
          </a:p>
        </p:txBody>
      </p:sp>
      <p:sp>
        <p:nvSpPr>
          <p:cNvPr id="5" name="Shape 3"/>
          <p:cNvSpPr/>
          <p:nvPr/>
        </p:nvSpPr>
        <p:spPr>
          <a:xfrm>
            <a:off x="411480" y="1143000"/>
            <a:ext cx="1508760" cy="868680"/>
          </a:xfrm>
          <a:prstGeom prst="roundRect">
            <a:avLst/>
          </a:prstGeom>
          <a:solidFill>
            <a:srgbClr val="FFFFFF"/>
          </a:solidFill>
          <a:ln w="12700">
            <a:solidFill>
              <a:srgbClr val="7A7099"/>
            </a:solidFill>
            <a:prstDash val="solid"/>
          </a:ln>
        </p:spPr>
      </p:sp>
      <p:sp>
        <p:nvSpPr>
          <p:cNvPr id="6" name="Text 4"/>
          <p:cNvSpPr/>
          <p:nvPr/>
        </p:nvSpPr>
        <p:spPr>
          <a:xfrm>
            <a:off x="411480" y="1143000"/>
            <a:ext cx="1508760" cy="868680"/>
          </a:xfrm>
          <a:prstGeom prst="rect">
            <a:avLst/>
          </a:prstGeom>
          <a:noFill/>
          <a:ln/>
        </p:spPr>
        <p:txBody>
          <a:bodyPr wrap="square" lIns="0" tIns="0" rIns="0" bIns="0" rtlCol="0" anchor="ctr">
            <a:normAutofit/>
          </a:bodyPr>
          <a:lstStyle/>
          <a:p>
            <a:pPr algn="ctr" indent="0" marL="0">
              <a:lnSpc>
                <a:spcPct val="125000"/>
              </a:lnSpc>
              <a:buNone/>
            </a:pPr>
            <a:r>
              <a:rPr lang="en-US" sz="1450" b="1" dirty="0">
                <a:solidFill>
                  <a:srgbClr val="1A1A1A"/>
                </a:solidFill>
                <a:latin typeface="Cambria" pitchFamily="34" charset="0"/>
                <a:ea typeface="Cambria" pitchFamily="34" charset="-122"/>
                <a:cs typeface="Cambria" pitchFamily="34" charset="-120"/>
              </a:rPr>
              <a:t>Câu ban đầu</a:t>
            </a:r>
            <a:endParaRPr lang="en-US" sz="1450" dirty="0"/>
          </a:p>
        </p:txBody>
      </p:sp>
      <p:sp>
        <p:nvSpPr>
          <p:cNvPr id="7" name="Shape 5"/>
          <p:cNvSpPr/>
          <p:nvPr/>
        </p:nvSpPr>
        <p:spPr>
          <a:xfrm>
            <a:off x="2011680" y="1581912"/>
            <a:ext cx="347472" cy="0"/>
          </a:xfrm>
          <a:prstGeom prst="line">
            <a:avLst/>
          </a:prstGeom>
          <a:noFill/>
          <a:ln w="25400">
            <a:solidFill>
              <a:srgbClr val="4F417A"/>
            </a:solidFill>
            <a:prstDash val="solid"/>
            <a:tailEnd type="triangle"/>
          </a:ln>
        </p:spPr>
      </p:sp>
      <p:sp>
        <p:nvSpPr>
          <p:cNvPr id="8" name="Shape 6"/>
          <p:cNvSpPr/>
          <p:nvPr/>
        </p:nvSpPr>
        <p:spPr>
          <a:xfrm>
            <a:off x="2450592" y="1051560"/>
            <a:ext cx="1737360" cy="1051560"/>
          </a:xfrm>
          <a:prstGeom prst="roundRect">
            <a:avLst/>
          </a:prstGeom>
          <a:solidFill>
            <a:srgbClr val="F3F2F5"/>
          </a:solidFill>
          <a:ln w="12700">
            <a:solidFill>
              <a:srgbClr val="25194B"/>
            </a:solidFill>
            <a:prstDash val="solid"/>
          </a:ln>
        </p:spPr>
      </p:sp>
      <p:sp>
        <p:nvSpPr>
          <p:cNvPr id="9" name="Text 7"/>
          <p:cNvSpPr/>
          <p:nvPr/>
        </p:nvSpPr>
        <p:spPr>
          <a:xfrm>
            <a:off x="2450592" y="1051560"/>
            <a:ext cx="1737360" cy="1051560"/>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Truy hồi 4 câu</a:t>
            </a:r>
            <a:endParaRPr lang="en-US" sz="1400" dirty="0"/>
          </a:p>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ví dụ từ train</a:t>
            </a:r>
            <a:endParaRPr lang="en-US" sz="1400" dirty="0"/>
          </a:p>
        </p:txBody>
      </p:sp>
      <p:sp>
        <p:nvSpPr>
          <p:cNvPr id="10" name="Shape 8"/>
          <p:cNvSpPr/>
          <p:nvPr/>
        </p:nvSpPr>
        <p:spPr>
          <a:xfrm>
            <a:off x="4279392" y="1581912"/>
            <a:ext cx="347472" cy="0"/>
          </a:xfrm>
          <a:prstGeom prst="line">
            <a:avLst/>
          </a:prstGeom>
          <a:noFill/>
          <a:ln w="25400">
            <a:solidFill>
              <a:srgbClr val="4F417A"/>
            </a:solidFill>
            <a:prstDash val="solid"/>
            <a:tailEnd type="triangle"/>
          </a:ln>
        </p:spPr>
      </p:sp>
      <p:sp>
        <p:nvSpPr>
          <p:cNvPr id="11" name="Shape 9"/>
          <p:cNvSpPr/>
          <p:nvPr/>
        </p:nvSpPr>
        <p:spPr>
          <a:xfrm>
            <a:off x="4718304" y="1051560"/>
            <a:ext cx="1417320" cy="1051560"/>
          </a:xfrm>
          <a:prstGeom prst="roundRect">
            <a:avLst/>
          </a:prstGeom>
          <a:solidFill>
            <a:srgbClr val="F3F2F5"/>
          </a:solidFill>
          <a:ln w="12700">
            <a:solidFill>
              <a:srgbClr val="4F417A"/>
            </a:solidFill>
            <a:prstDash val="solid"/>
          </a:ln>
        </p:spPr>
      </p:sp>
      <p:sp>
        <p:nvSpPr>
          <p:cNvPr id="12" name="Text 10"/>
          <p:cNvSpPr/>
          <p:nvPr/>
        </p:nvSpPr>
        <p:spPr>
          <a:xfrm>
            <a:off x="4718304" y="1051560"/>
            <a:ext cx="1417320" cy="1051560"/>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Sinh câu</a:t>
            </a:r>
            <a:endParaRPr lang="en-US" sz="1400" dirty="0"/>
          </a:p>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ứng viên</a:t>
            </a:r>
            <a:endParaRPr lang="en-US" sz="1400" dirty="0"/>
          </a:p>
        </p:txBody>
      </p:sp>
      <p:sp>
        <p:nvSpPr>
          <p:cNvPr id="13" name="Shape 11"/>
          <p:cNvSpPr/>
          <p:nvPr/>
        </p:nvSpPr>
        <p:spPr>
          <a:xfrm>
            <a:off x="6227064" y="1581912"/>
            <a:ext cx="347472" cy="0"/>
          </a:xfrm>
          <a:prstGeom prst="line">
            <a:avLst/>
          </a:prstGeom>
          <a:noFill/>
          <a:ln w="25400">
            <a:solidFill>
              <a:srgbClr val="4F417A"/>
            </a:solidFill>
            <a:prstDash val="solid"/>
            <a:tailEnd type="triangle"/>
          </a:ln>
        </p:spPr>
      </p:sp>
      <p:sp>
        <p:nvSpPr>
          <p:cNvPr id="14" name="Shape 12"/>
          <p:cNvSpPr/>
          <p:nvPr/>
        </p:nvSpPr>
        <p:spPr>
          <a:xfrm>
            <a:off x="6665976" y="960120"/>
            <a:ext cx="2011680" cy="1234440"/>
          </a:xfrm>
          <a:prstGeom prst="roundRect">
            <a:avLst/>
          </a:prstGeom>
          <a:solidFill>
            <a:srgbClr val="F3F2F5"/>
          </a:solidFill>
          <a:ln w="12700">
            <a:solidFill>
              <a:srgbClr val="7A7099"/>
            </a:solidFill>
            <a:prstDash val="solid"/>
          </a:ln>
        </p:spPr>
      </p:sp>
      <p:sp>
        <p:nvSpPr>
          <p:cNvPr id="15" name="Text 13"/>
          <p:cNvSpPr/>
          <p:nvPr/>
        </p:nvSpPr>
        <p:spPr>
          <a:xfrm>
            <a:off x="6665976" y="960120"/>
            <a:ext cx="2011680" cy="1234440"/>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Kiểm tra</a:t>
            </a:r>
            <a:endParaRPr lang="en-US" sz="1400" dirty="0"/>
          </a:p>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2 điều kiện chọn lọc</a:t>
            </a:r>
            <a:endParaRPr lang="en-US" sz="1400" dirty="0"/>
          </a:p>
        </p:txBody>
      </p:sp>
      <p:sp>
        <p:nvSpPr>
          <p:cNvPr id="16" name="Shape 14"/>
          <p:cNvSpPr/>
          <p:nvPr/>
        </p:nvSpPr>
        <p:spPr>
          <a:xfrm>
            <a:off x="502920" y="3127248"/>
            <a:ext cx="3840480" cy="1078992"/>
          </a:xfrm>
          <a:prstGeom prst="roundRect">
            <a:avLst/>
          </a:prstGeom>
          <a:solidFill>
            <a:srgbClr val="F3F2F5"/>
          </a:solidFill>
          <a:ln w="12700">
            <a:solidFill>
              <a:srgbClr val="4F417A"/>
            </a:solidFill>
            <a:prstDash val="solid"/>
          </a:ln>
        </p:spPr>
      </p:sp>
      <p:sp>
        <p:nvSpPr>
          <p:cNvPr id="17" name="Text 15"/>
          <p:cNvSpPr/>
          <p:nvPr/>
        </p:nvSpPr>
        <p:spPr>
          <a:xfrm>
            <a:off x="667512" y="3127248"/>
            <a:ext cx="3511296" cy="1078992"/>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1 · Câu ứng viên phải giống hoàn toàn một trong bốn câu ví dụ được truy hồi.</a:t>
            </a:r>
            <a:endParaRPr lang="en-US" sz="1400" dirty="0"/>
          </a:p>
        </p:txBody>
      </p:sp>
      <p:sp>
        <p:nvSpPr>
          <p:cNvPr id="18" name="Shape 16"/>
          <p:cNvSpPr/>
          <p:nvPr/>
        </p:nvSpPr>
        <p:spPr>
          <a:xfrm>
            <a:off x="4800600" y="3127248"/>
            <a:ext cx="3840480" cy="1078992"/>
          </a:xfrm>
          <a:prstGeom prst="roundRect">
            <a:avLst/>
          </a:prstGeom>
          <a:solidFill>
            <a:srgbClr val="F3F2F5"/>
          </a:solidFill>
          <a:ln w="12700">
            <a:solidFill>
              <a:srgbClr val="4F417A"/>
            </a:solidFill>
            <a:prstDash val="solid"/>
          </a:ln>
        </p:spPr>
      </p:sp>
      <p:sp>
        <p:nvSpPr>
          <p:cNvPr id="19" name="Text 17"/>
          <p:cNvSpPr/>
          <p:nvPr/>
        </p:nvSpPr>
        <p:spPr>
          <a:xfrm>
            <a:off x="4965192" y="3127248"/>
            <a:ext cx="3511296" cy="1078992"/>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2 · Động từ đầu câu phải cùng lớp thao tác với câu ban đầu.</a:t>
            </a:r>
            <a:endParaRPr lang="en-US" sz="1400" dirty="0"/>
          </a:p>
        </p:txBody>
      </p:sp>
      <p:sp>
        <p:nvSpPr>
          <p:cNvPr id="20" name="Shape 18"/>
          <p:cNvSpPr/>
          <p:nvPr/>
        </p:nvSpPr>
        <p:spPr>
          <a:xfrm>
            <a:off x="1645920" y="4663440"/>
            <a:ext cx="2560320" cy="749808"/>
          </a:xfrm>
          <a:prstGeom prst="roundRect">
            <a:avLst/>
          </a:prstGeom>
          <a:solidFill>
            <a:srgbClr val="F3F2F5"/>
          </a:solidFill>
          <a:ln w="12700">
            <a:solidFill>
              <a:srgbClr val="4F417A"/>
            </a:solidFill>
            <a:prstDash val="solid"/>
          </a:ln>
        </p:spPr>
      </p:sp>
      <p:sp>
        <p:nvSpPr>
          <p:cNvPr id="21" name="Text 19"/>
          <p:cNvSpPr/>
          <p:nvPr/>
        </p:nvSpPr>
        <p:spPr>
          <a:xfrm>
            <a:off x="1645920" y="4663440"/>
            <a:ext cx="2560320" cy="749808"/>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Đủ điều kiện → dùng câu mới</a:t>
            </a:r>
            <a:endParaRPr lang="en-US" sz="1400" dirty="0"/>
          </a:p>
        </p:txBody>
      </p:sp>
      <p:sp>
        <p:nvSpPr>
          <p:cNvPr id="22" name="Shape 20"/>
          <p:cNvSpPr/>
          <p:nvPr/>
        </p:nvSpPr>
        <p:spPr>
          <a:xfrm>
            <a:off x="4937760" y="4663440"/>
            <a:ext cx="2560320" cy="749808"/>
          </a:xfrm>
          <a:prstGeom prst="roundRect">
            <a:avLst/>
          </a:prstGeom>
          <a:solidFill>
            <a:srgbClr val="FFFFFF"/>
          </a:solidFill>
          <a:ln w="12700">
            <a:solidFill>
              <a:srgbClr val="7A7099"/>
            </a:solidFill>
            <a:prstDash val="solid"/>
          </a:ln>
        </p:spPr>
      </p:sp>
      <p:sp>
        <p:nvSpPr>
          <p:cNvPr id="23" name="Text 21"/>
          <p:cNvSpPr/>
          <p:nvPr/>
        </p:nvSpPr>
        <p:spPr>
          <a:xfrm>
            <a:off x="4937760" y="4663440"/>
            <a:ext cx="2560320" cy="749808"/>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Không đủ → giữ câu ban đầu</a:t>
            </a:r>
            <a:endParaRPr lang="en-US" sz="1400" dirty="0"/>
          </a:p>
        </p:txBody>
      </p:sp>
      <p:sp>
        <p:nvSpPr>
          <p:cNvPr id="24" name="Text 22"/>
          <p:cNvSpPr/>
          <p:nvPr/>
        </p:nvSpPr>
        <p:spPr>
          <a:xfrm>
            <a:off x="502920" y="6327648"/>
            <a:ext cx="8138160" cy="137160"/>
          </a:xfrm>
          <a:prstGeom prst="rect">
            <a:avLst/>
          </a:prstGeom>
          <a:noFill/>
          <a:ln/>
        </p:spPr>
        <p:txBody>
          <a:bodyPr wrap="square" lIns="0" tIns="0" rIns="0" bIns="0" rtlCol="0" anchor="ctr"/>
          <a:lstStyle/>
          <a:p>
            <a:pPr algn="r" indent="0" marL="0">
              <a:lnSpc>
                <a:spcPct val="125000"/>
              </a:lnSpc>
              <a:buNone/>
            </a:pPr>
            <a:r>
              <a:rPr lang="en-US" sz="800" i="1" dirty="0">
                <a:solidFill>
                  <a:srgbClr val="5A5A66"/>
                </a:solidFill>
                <a:latin typeface="Cambria" pitchFamily="34" charset="0"/>
                <a:ea typeface="Cambria" pitchFamily="34" charset="-122"/>
                <a:cs typeface="Cambria" pitchFamily="34" charset="-120"/>
              </a:rPr>
              <a:t>Luận văn §4.6</a:t>
            </a:r>
            <a:endParaRPr lang="en-US" sz="800" dirty="0"/>
          </a:p>
        </p:txBody>
      </p:sp>
      <p:sp>
        <p:nvSpPr>
          <p:cNvPr id="25" name="Shape 23"/>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6" name="Shape 24"/>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7" name="Shape 25"/>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8" name="Shape 26"/>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9" name="Text 27"/>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0" name="Text 28"/>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1" name="Text 29"/>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2" name="Text 30"/>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15/25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02920" y="603504"/>
            <a:ext cx="8138160" cy="219456"/>
          </a:xfrm>
          <a:prstGeom prst="rect">
            <a:avLst/>
          </a:prstGeom>
          <a:noFill/>
          <a:ln/>
        </p:spPr>
        <p:txBody>
          <a:bodyPr wrap="square" lIns="0" tIns="0" rIns="0" bIns="0" rtlCol="0" anchor="ctr">
            <a:normAutofit/>
          </a:bodyPr>
          <a:lstStyle/>
          <a:p>
            <a:pPr indent="0" marL="0">
              <a:lnSpc>
                <a:spcPct val="125000"/>
              </a:lnSpc>
              <a:buNone/>
            </a:pPr>
            <a:r>
              <a:rPr lang="en-US" sz="1260" b="1" dirty="0">
                <a:solidFill>
                  <a:srgbClr val="25194B"/>
                </a:solidFill>
                <a:latin typeface="Cambria" pitchFamily="34" charset="0"/>
                <a:ea typeface="Cambria" pitchFamily="34" charset="-122"/>
                <a:cs typeface="Cambria" pitchFamily="34" charset="-120"/>
              </a:rPr>
              <a:t>Kết quả sau ACE</a:t>
            </a:r>
            <a:endParaRPr lang="en-US" sz="1260" dirty="0"/>
          </a:p>
        </p:txBody>
      </p:sp>
      <p:sp>
        <p:nvSpPr>
          <p:cNvPr id="5" name="Text 3"/>
          <p:cNvSpPr/>
          <p:nvPr/>
        </p:nvSpPr>
        <p:spPr>
          <a:xfrm>
            <a:off x="749808" y="859536"/>
            <a:ext cx="17830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60,68%</a:t>
            </a:r>
            <a:endParaRPr lang="en-US" sz="2400" dirty="0"/>
          </a:p>
        </p:txBody>
      </p:sp>
      <p:sp>
        <p:nvSpPr>
          <p:cNvPr id="6" name="Text 4"/>
          <p:cNvSpPr/>
          <p:nvPr/>
        </p:nvSpPr>
        <p:spPr>
          <a:xfrm>
            <a:off x="749808" y="1389888"/>
            <a:ext cx="17830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Executability</a:t>
            </a:r>
            <a:endParaRPr lang="en-US" sz="1250" dirty="0"/>
          </a:p>
        </p:txBody>
      </p:sp>
      <p:sp>
        <p:nvSpPr>
          <p:cNvPr id="7" name="Text 5"/>
          <p:cNvSpPr/>
          <p:nvPr/>
        </p:nvSpPr>
        <p:spPr>
          <a:xfrm>
            <a:off x="2743200" y="859536"/>
            <a:ext cx="17830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+0,02</a:t>
            </a:r>
            <a:endParaRPr lang="en-US" sz="2400" dirty="0"/>
          </a:p>
        </p:txBody>
      </p:sp>
      <p:sp>
        <p:nvSpPr>
          <p:cNvPr id="8" name="Text 6"/>
          <p:cNvSpPr/>
          <p:nvPr/>
        </p:nvSpPr>
        <p:spPr>
          <a:xfrm>
            <a:off x="2743200" y="1389888"/>
            <a:ext cx="17830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so với GRPO-SPICE</a:t>
            </a:r>
            <a:endParaRPr lang="en-US" sz="1250" dirty="0"/>
          </a:p>
        </p:txBody>
      </p:sp>
      <p:sp>
        <p:nvSpPr>
          <p:cNvPr id="9" name="Text 7"/>
          <p:cNvSpPr/>
          <p:nvPr/>
        </p:nvSpPr>
        <p:spPr>
          <a:xfrm>
            <a:off x="4736592" y="859536"/>
            <a:ext cx="17830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7/7</a:t>
            </a:r>
            <a:endParaRPr lang="en-US" sz="2400" dirty="0"/>
          </a:p>
        </p:txBody>
      </p:sp>
      <p:sp>
        <p:nvSpPr>
          <p:cNvPr id="10" name="Text 8"/>
          <p:cNvSpPr/>
          <p:nvPr/>
        </p:nvSpPr>
        <p:spPr>
          <a:xfrm>
            <a:off x="4736592" y="1389888"/>
            <a:ext cx="17830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chỉ số câu tăng</a:t>
            </a:r>
            <a:endParaRPr lang="en-US" sz="1250" dirty="0"/>
          </a:p>
        </p:txBody>
      </p:sp>
      <p:sp>
        <p:nvSpPr>
          <p:cNvPr id="11" name="Text 9"/>
          <p:cNvSpPr/>
          <p:nvPr/>
        </p:nvSpPr>
        <p:spPr>
          <a:xfrm>
            <a:off x="6729984" y="859536"/>
            <a:ext cx="17830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6/6</a:t>
            </a:r>
            <a:endParaRPr lang="en-US" sz="2400" dirty="0"/>
          </a:p>
        </p:txBody>
      </p:sp>
      <p:sp>
        <p:nvSpPr>
          <p:cNvPr id="12" name="Text 10"/>
          <p:cNvSpPr/>
          <p:nvPr/>
        </p:nvSpPr>
        <p:spPr>
          <a:xfrm>
            <a:off x="6729984" y="1389888"/>
            <a:ext cx="17830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KTC &gt; 0</a:t>
            </a:r>
            <a:endParaRPr lang="en-US" sz="1250" dirty="0"/>
          </a:p>
        </p:txBody>
      </p:sp>
      <p:sp>
        <p:nvSpPr>
          <p:cNvPr id="13" name="Shape 11"/>
          <p:cNvSpPr/>
          <p:nvPr/>
        </p:nvSpPr>
        <p:spPr>
          <a:xfrm>
            <a:off x="658368" y="2103120"/>
            <a:ext cx="8037576" cy="365760"/>
          </a:xfrm>
          <a:prstGeom prst="rect">
            <a:avLst/>
          </a:prstGeom>
          <a:solidFill>
            <a:srgbClr val="25194B"/>
          </a:solidFill>
          <a:ln w="12700">
            <a:solidFill>
              <a:srgbClr val="25194B">
                <a:alpha val="0"/>
              </a:srgbClr>
            </a:solidFill>
            <a:prstDash val="solid"/>
          </a:ln>
        </p:spPr>
      </p:sp>
      <p:sp>
        <p:nvSpPr>
          <p:cNvPr id="14" name="Text 12"/>
          <p:cNvSpPr/>
          <p:nvPr/>
        </p:nvSpPr>
        <p:spPr>
          <a:xfrm>
            <a:off x="658368" y="2103120"/>
            <a:ext cx="1508760" cy="365760"/>
          </a:xfrm>
          <a:prstGeom prst="rect">
            <a:avLst/>
          </a:prstGeom>
          <a:noFill/>
          <a:ln/>
        </p:spPr>
        <p:txBody>
          <a:bodyPr wrap="square" lIns="0" tIns="0" rIns="0" bIns="0" rtlCol="0" anchor="ctr">
            <a:normAutofit/>
          </a:bodyPr>
          <a:lstStyle/>
          <a:p>
            <a:pPr algn="l" indent="0" marL="0">
              <a:lnSpc>
                <a:spcPct val="125000"/>
              </a:lnSpc>
              <a:buNone/>
            </a:pPr>
            <a:r>
              <a:rPr lang="en-US" sz="1160" b="1" dirty="0">
                <a:solidFill>
                  <a:srgbClr val="FFFFFF"/>
                </a:solidFill>
                <a:latin typeface="Cambria" pitchFamily="34" charset="0"/>
                <a:ea typeface="Cambria" pitchFamily="34" charset="-122"/>
                <a:cs typeface="Cambria" pitchFamily="34" charset="-120"/>
              </a:rPr>
              <a:t>Chỉ số</a:t>
            </a:r>
            <a:endParaRPr lang="en-US" sz="1160" dirty="0"/>
          </a:p>
        </p:txBody>
      </p:sp>
      <p:sp>
        <p:nvSpPr>
          <p:cNvPr id="15" name="Text 13"/>
          <p:cNvSpPr/>
          <p:nvPr/>
        </p:nvSpPr>
        <p:spPr>
          <a:xfrm>
            <a:off x="2167128" y="2103120"/>
            <a:ext cx="1389888" cy="365760"/>
          </a:xfrm>
          <a:prstGeom prst="rect">
            <a:avLst/>
          </a:prstGeom>
          <a:noFill/>
          <a:ln/>
        </p:spPr>
        <p:txBody>
          <a:bodyPr wrap="square" lIns="0" tIns="0" rIns="0" bIns="0" rtlCol="0" anchor="ctr">
            <a:normAutofit/>
          </a:bodyPr>
          <a:lstStyle/>
          <a:p>
            <a:pPr algn="ctr" indent="0" marL="0">
              <a:lnSpc>
                <a:spcPct val="125000"/>
              </a:lnSpc>
              <a:buNone/>
            </a:pPr>
            <a:r>
              <a:rPr lang="en-US" sz="1160" b="1" dirty="0">
                <a:solidFill>
                  <a:srgbClr val="FFFFFF"/>
                </a:solidFill>
                <a:latin typeface="Cambria" pitchFamily="34" charset="0"/>
                <a:ea typeface="Cambria" pitchFamily="34" charset="-122"/>
                <a:cs typeface="Cambria" pitchFamily="34" charset="-120"/>
              </a:rPr>
              <a:t>GRPO-SPICE</a:t>
            </a:r>
            <a:endParaRPr lang="en-US" sz="1160" dirty="0"/>
          </a:p>
        </p:txBody>
      </p:sp>
      <p:sp>
        <p:nvSpPr>
          <p:cNvPr id="16" name="Text 14"/>
          <p:cNvSpPr/>
          <p:nvPr/>
        </p:nvSpPr>
        <p:spPr>
          <a:xfrm>
            <a:off x="3557016" y="2103120"/>
            <a:ext cx="1261872" cy="365760"/>
          </a:xfrm>
          <a:prstGeom prst="rect">
            <a:avLst/>
          </a:prstGeom>
          <a:noFill/>
          <a:ln/>
        </p:spPr>
        <p:txBody>
          <a:bodyPr wrap="square" lIns="0" tIns="0" rIns="0" bIns="0" rtlCol="0" anchor="ctr">
            <a:normAutofit/>
          </a:bodyPr>
          <a:lstStyle/>
          <a:p>
            <a:pPr algn="ctr" indent="0" marL="0">
              <a:lnSpc>
                <a:spcPct val="125000"/>
              </a:lnSpc>
              <a:buNone/>
            </a:pPr>
            <a:r>
              <a:rPr lang="en-US" sz="1160" b="1" dirty="0">
                <a:solidFill>
                  <a:srgbClr val="FFFFFF"/>
                </a:solidFill>
                <a:latin typeface="Cambria" pitchFamily="34" charset="0"/>
                <a:ea typeface="Cambria" pitchFamily="34" charset="-122"/>
                <a:cs typeface="Cambria" pitchFamily="34" charset="-120"/>
              </a:rPr>
              <a:t>ACE</a:t>
            </a:r>
            <a:endParaRPr lang="en-US" sz="1160" dirty="0"/>
          </a:p>
        </p:txBody>
      </p:sp>
      <p:sp>
        <p:nvSpPr>
          <p:cNvPr id="17" name="Text 15"/>
          <p:cNvSpPr/>
          <p:nvPr/>
        </p:nvSpPr>
        <p:spPr>
          <a:xfrm>
            <a:off x="4818888" y="2103120"/>
            <a:ext cx="1115568" cy="365760"/>
          </a:xfrm>
          <a:prstGeom prst="rect">
            <a:avLst/>
          </a:prstGeom>
          <a:noFill/>
          <a:ln/>
        </p:spPr>
        <p:txBody>
          <a:bodyPr wrap="square" lIns="0" tIns="0" rIns="0" bIns="0" rtlCol="0" anchor="ctr">
            <a:normAutofit/>
          </a:bodyPr>
          <a:lstStyle/>
          <a:p>
            <a:pPr algn="ctr" indent="0" marL="0">
              <a:lnSpc>
                <a:spcPct val="125000"/>
              </a:lnSpc>
              <a:buNone/>
            </a:pPr>
            <a:r>
              <a:rPr lang="en-US" sz="1160" b="1" dirty="0">
                <a:solidFill>
                  <a:srgbClr val="FFFFFF"/>
                </a:solidFill>
                <a:latin typeface="Cambria" pitchFamily="34" charset="0"/>
                <a:ea typeface="Cambria" pitchFamily="34" charset="-122"/>
                <a:cs typeface="Cambria" pitchFamily="34" charset="-120"/>
              </a:rPr>
              <a:t>Δ ACE</a:t>
            </a:r>
            <a:endParaRPr lang="en-US" sz="1160" dirty="0"/>
          </a:p>
        </p:txBody>
      </p:sp>
      <p:sp>
        <p:nvSpPr>
          <p:cNvPr id="18" name="Text 16"/>
          <p:cNvSpPr/>
          <p:nvPr/>
        </p:nvSpPr>
        <p:spPr>
          <a:xfrm>
            <a:off x="5934456" y="2103120"/>
            <a:ext cx="2761488" cy="365760"/>
          </a:xfrm>
          <a:prstGeom prst="rect">
            <a:avLst/>
          </a:prstGeom>
          <a:noFill/>
          <a:ln/>
        </p:spPr>
        <p:txBody>
          <a:bodyPr wrap="square" lIns="0" tIns="0" rIns="0" bIns="0" rtlCol="0" anchor="ctr">
            <a:normAutofit/>
          </a:bodyPr>
          <a:lstStyle/>
          <a:p>
            <a:pPr algn="ctr" indent="0" marL="0">
              <a:lnSpc>
                <a:spcPct val="125000"/>
              </a:lnSpc>
              <a:buNone/>
            </a:pPr>
            <a:r>
              <a:rPr lang="en-US" sz="1160" b="1" dirty="0">
                <a:solidFill>
                  <a:srgbClr val="FFFFFF"/>
                </a:solidFill>
                <a:latin typeface="Cambria" pitchFamily="34" charset="0"/>
                <a:ea typeface="Cambria" pitchFamily="34" charset="-122"/>
                <a:cs typeface="Cambria" pitchFamily="34" charset="-120"/>
              </a:rPr>
              <a:t>KTC 95%</a:t>
            </a:r>
            <a:endParaRPr lang="en-US" sz="1160" dirty="0"/>
          </a:p>
        </p:txBody>
      </p:sp>
      <p:sp>
        <p:nvSpPr>
          <p:cNvPr id="19" name="Text 17"/>
          <p:cNvSpPr/>
          <p:nvPr/>
        </p:nvSpPr>
        <p:spPr>
          <a:xfrm>
            <a:off x="658368" y="2468880"/>
            <a:ext cx="1508760" cy="384048"/>
          </a:xfrm>
          <a:prstGeom prst="rect">
            <a:avLst/>
          </a:prstGeom>
          <a:noFill/>
          <a:ln/>
        </p:spPr>
        <p:txBody>
          <a:bodyPr wrap="square" lIns="0" tIns="0" rIns="0" bIns="0" rtlCol="0" anchor="ctr">
            <a:normAutofit/>
          </a:bodyPr>
          <a:lstStyle/>
          <a:p>
            <a:pPr algn="l" indent="0" marL="0">
              <a:lnSpc>
                <a:spcPct val="125000"/>
              </a:lnSpc>
              <a:buNone/>
            </a:pPr>
            <a:r>
              <a:rPr lang="en-US" sz="1140" dirty="0">
                <a:solidFill>
                  <a:srgbClr val="1A1A1A"/>
                </a:solidFill>
                <a:latin typeface="Cambria" pitchFamily="34" charset="0"/>
                <a:ea typeface="Cambria" pitchFamily="34" charset="-122"/>
                <a:cs typeface="Cambria" pitchFamily="34" charset="-120"/>
              </a:rPr>
              <a:t>BLEU-4</a:t>
            </a:r>
            <a:endParaRPr lang="en-US" sz="1140" dirty="0"/>
          </a:p>
        </p:txBody>
      </p:sp>
      <p:sp>
        <p:nvSpPr>
          <p:cNvPr id="20" name="Text 18"/>
          <p:cNvSpPr/>
          <p:nvPr/>
        </p:nvSpPr>
        <p:spPr>
          <a:xfrm>
            <a:off x="2167128" y="2468880"/>
            <a:ext cx="13898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52,36</a:t>
            </a:r>
            <a:endParaRPr lang="en-US" sz="1140" dirty="0"/>
          </a:p>
        </p:txBody>
      </p:sp>
      <p:sp>
        <p:nvSpPr>
          <p:cNvPr id="21" name="Text 19"/>
          <p:cNvSpPr/>
          <p:nvPr/>
        </p:nvSpPr>
        <p:spPr>
          <a:xfrm>
            <a:off x="3557016" y="2468880"/>
            <a:ext cx="1261872" cy="384048"/>
          </a:xfrm>
          <a:prstGeom prst="rect">
            <a:avLst/>
          </a:prstGeom>
          <a:noFill/>
          <a:ln/>
        </p:spPr>
        <p:txBody>
          <a:bodyPr wrap="square" lIns="0" tIns="0" rIns="0" bIns="0" rtlCol="0" anchor="ctr">
            <a:normAutofit/>
          </a:bodyPr>
          <a:lstStyle/>
          <a:p>
            <a:pPr algn="ctr" indent="0" marL="0">
              <a:lnSpc>
                <a:spcPct val="125000"/>
              </a:lnSpc>
              <a:buNone/>
            </a:pPr>
            <a:r>
              <a:rPr lang="en-US" sz="1140" b="1" dirty="0">
                <a:solidFill>
                  <a:srgbClr val="1A1A1A"/>
                </a:solidFill>
                <a:latin typeface="Cambria" pitchFamily="34" charset="0"/>
                <a:ea typeface="Cambria" pitchFamily="34" charset="-122"/>
                <a:cs typeface="Cambria" pitchFamily="34" charset="-120"/>
              </a:rPr>
              <a:t>53,47</a:t>
            </a:r>
            <a:endParaRPr lang="en-US" sz="1140" dirty="0"/>
          </a:p>
        </p:txBody>
      </p:sp>
      <p:sp>
        <p:nvSpPr>
          <p:cNvPr id="22" name="Text 20"/>
          <p:cNvSpPr/>
          <p:nvPr/>
        </p:nvSpPr>
        <p:spPr>
          <a:xfrm>
            <a:off x="4818888" y="2468880"/>
            <a:ext cx="111556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+1,11</a:t>
            </a:r>
            <a:endParaRPr lang="en-US" sz="1140" dirty="0"/>
          </a:p>
        </p:txBody>
      </p:sp>
      <p:sp>
        <p:nvSpPr>
          <p:cNvPr id="23" name="Text 21"/>
          <p:cNvSpPr/>
          <p:nvPr/>
        </p:nvSpPr>
        <p:spPr>
          <a:xfrm>
            <a:off x="5934456" y="2468880"/>
            <a:ext cx="27614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[+0,78; +1,42]</a:t>
            </a:r>
            <a:endParaRPr lang="en-US" sz="1140" dirty="0"/>
          </a:p>
        </p:txBody>
      </p:sp>
      <p:sp>
        <p:nvSpPr>
          <p:cNvPr id="24" name="Shape 22"/>
          <p:cNvSpPr/>
          <p:nvPr/>
        </p:nvSpPr>
        <p:spPr>
          <a:xfrm>
            <a:off x="658368" y="2852928"/>
            <a:ext cx="8037576" cy="0"/>
          </a:xfrm>
          <a:prstGeom prst="line">
            <a:avLst/>
          </a:prstGeom>
          <a:noFill/>
          <a:ln w="12700">
            <a:solidFill>
              <a:srgbClr val="D9D6DF"/>
            </a:solidFill>
            <a:prstDash val="solid"/>
            <a:tailEnd type="none"/>
          </a:ln>
        </p:spPr>
      </p:sp>
      <p:sp>
        <p:nvSpPr>
          <p:cNvPr id="25" name="Text 23"/>
          <p:cNvSpPr/>
          <p:nvPr/>
        </p:nvSpPr>
        <p:spPr>
          <a:xfrm>
            <a:off x="658368" y="2852928"/>
            <a:ext cx="1508760" cy="384048"/>
          </a:xfrm>
          <a:prstGeom prst="rect">
            <a:avLst/>
          </a:prstGeom>
          <a:noFill/>
          <a:ln/>
        </p:spPr>
        <p:txBody>
          <a:bodyPr wrap="square" lIns="0" tIns="0" rIns="0" bIns="0" rtlCol="0" anchor="ctr">
            <a:normAutofit/>
          </a:bodyPr>
          <a:lstStyle/>
          <a:p>
            <a:pPr algn="l" indent="0" marL="0">
              <a:lnSpc>
                <a:spcPct val="125000"/>
              </a:lnSpc>
              <a:buNone/>
            </a:pPr>
            <a:r>
              <a:rPr lang="en-US" sz="1140" dirty="0">
                <a:solidFill>
                  <a:srgbClr val="1A1A1A"/>
                </a:solidFill>
                <a:latin typeface="Cambria" pitchFamily="34" charset="0"/>
                <a:ea typeface="Cambria" pitchFamily="34" charset="-122"/>
                <a:cs typeface="Cambria" pitchFamily="34" charset="-120"/>
              </a:rPr>
              <a:t>METEOR</a:t>
            </a:r>
            <a:endParaRPr lang="en-US" sz="1140" dirty="0"/>
          </a:p>
        </p:txBody>
      </p:sp>
      <p:sp>
        <p:nvSpPr>
          <p:cNvPr id="26" name="Text 24"/>
          <p:cNvSpPr/>
          <p:nvPr/>
        </p:nvSpPr>
        <p:spPr>
          <a:xfrm>
            <a:off x="2167128" y="2852928"/>
            <a:ext cx="13898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37,92</a:t>
            </a:r>
            <a:endParaRPr lang="en-US" sz="1140" dirty="0"/>
          </a:p>
        </p:txBody>
      </p:sp>
      <p:sp>
        <p:nvSpPr>
          <p:cNvPr id="27" name="Text 25"/>
          <p:cNvSpPr/>
          <p:nvPr/>
        </p:nvSpPr>
        <p:spPr>
          <a:xfrm>
            <a:off x="3557016" y="2852928"/>
            <a:ext cx="1261872" cy="384048"/>
          </a:xfrm>
          <a:prstGeom prst="rect">
            <a:avLst/>
          </a:prstGeom>
          <a:noFill/>
          <a:ln/>
        </p:spPr>
        <p:txBody>
          <a:bodyPr wrap="square" lIns="0" tIns="0" rIns="0" bIns="0" rtlCol="0" anchor="ctr">
            <a:normAutofit/>
          </a:bodyPr>
          <a:lstStyle/>
          <a:p>
            <a:pPr algn="ctr" indent="0" marL="0">
              <a:lnSpc>
                <a:spcPct val="125000"/>
              </a:lnSpc>
              <a:buNone/>
            </a:pPr>
            <a:r>
              <a:rPr lang="en-US" sz="1140" b="1" dirty="0">
                <a:solidFill>
                  <a:srgbClr val="1A1A1A"/>
                </a:solidFill>
                <a:latin typeface="Cambria" pitchFamily="34" charset="0"/>
                <a:ea typeface="Cambria" pitchFamily="34" charset="-122"/>
                <a:cs typeface="Cambria" pitchFamily="34" charset="-120"/>
              </a:rPr>
              <a:t>38,37</a:t>
            </a:r>
            <a:endParaRPr lang="en-US" sz="1140" dirty="0"/>
          </a:p>
        </p:txBody>
      </p:sp>
      <p:sp>
        <p:nvSpPr>
          <p:cNvPr id="28" name="Text 26"/>
          <p:cNvSpPr/>
          <p:nvPr/>
        </p:nvSpPr>
        <p:spPr>
          <a:xfrm>
            <a:off x="4818888" y="2852928"/>
            <a:ext cx="111556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+0,45</a:t>
            </a:r>
            <a:endParaRPr lang="en-US" sz="1140" dirty="0"/>
          </a:p>
        </p:txBody>
      </p:sp>
      <p:sp>
        <p:nvSpPr>
          <p:cNvPr id="29" name="Text 27"/>
          <p:cNvSpPr/>
          <p:nvPr/>
        </p:nvSpPr>
        <p:spPr>
          <a:xfrm>
            <a:off x="5934456" y="2852928"/>
            <a:ext cx="27614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a:t>
            </a:r>
            <a:endParaRPr lang="en-US" sz="1140" dirty="0"/>
          </a:p>
        </p:txBody>
      </p:sp>
      <p:sp>
        <p:nvSpPr>
          <p:cNvPr id="30" name="Shape 28"/>
          <p:cNvSpPr/>
          <p:nvPr/>
        </p:nvSpPr>
        <p:spPr>
          <a:xfrm>
            <a:off x="658368" y="3236976"/>
            <a:ext cx="8037576" cy="0"/>
          </a:xfrm>
          <a:prstGeom prst="line">
            <a:avLst/>
          </a:prstGeom>
          <a:noFill/>
          <a:ln w="12700">
            <a:solidFill>
              <a:srgbClr val="D9D6DF"/>
            </a:solidFill>
            <a:prstDash val="solid"/>
            <a:tailEnd type="none"/>
          </a:ln>
        </p:spPr>
      </p:sp>
      <p:sp>
        <p:nvSpPr>
          <p:cNvPr id="31" name="Text 29"/>
          <p:cNvSpPr/>
          <p:nvPr/>
        </p:nvSpPr>
        <p:spPr>
          <a:xfrm>
            <a:off x="658368" y="3236976"/>
            <a:ext cx="1508760" cy="384048"/>
          </a:xfrm>
          <a:prstGeom prst="rect">
            <a:avLst/>
          </a:prstGeom>
          <a:noFill/>
          <a:ln/>
        </p:spPr>
        <p:txBody>
          <a:bodyPr wrap="square" lIns="0" tIns="0" rIns="0" bIns="0" rtlCol="0" anchor="ctr">
            <a:normAutofit/>
          </a:bodyPr>
          <a:lstStyle/>
          <a:p>
            <a:pPr algn="l" indent="0" marL="0">
              <a:lnSpc>
                <a:spcPct val="125000"/>
              </a:lnSpc>
              <a:buNone/>
            </a:pPr>
            <a:r>
              <a:rPr lang="en-US" sz="1140" dirty="0">
                <a:solidFill>
                  <a:srgbClr val="1A1A1A"/>
                </a:solidFill>
                <a:latin typeface="Cambria" pitchFamily="34" charset="0"/>
                <a:ea typeface="Cambria" pitchFamily="34" charset="-122"/>
                <a:cs typeface="Cambria" pitchFamily="34" charset="-120"/>
              </a:rPr>
              <a:t>ROUGE-L</a:t>
            </a:r>
            <a:endParaRPr lang="en-US" sz="1140" dirty="0"/>
          </a:p>
        </p:txBody>
      </p:sp>
      <p:sp>
        <p:nvSpPr>
          <p:cNvPr id="32" name="Text 30"/>
          <p:cNvSpPr/>
          <p:nvPr/>
        </p:nvSpPr>
        <p:spPr>
          <a:xfrm>
            <a:off x="2167128" y="3236976"/>
            <a:ext cx="13898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68,36</a:t>
            </a:r>
            <a:endParaRPr lang="en-US" sz="1140" dirty="0"/>
          </a:p>
        </p:txBody>
      </p:sp>
      <p:sp>
        <p:nvSpPr>
          <p:cNvPr id="33" name="Text 31"/>
          <p:cNvSpPr/>
          <p:nvPr/>
        </p:nvSpPr>
        <p:spPr>
          <a:xfrm>
            <a:off x="3557016" y="3236976"/>
            <a:ext cx="1261872" cy="384048"/>
          </a:xfrm>
          <a:prstGeom prst="rect">
            <a:avLst/>
          </a:prstGeom>
          <a:noFill/>
          <a:ln/>
        </p:spPr>
        <p:txBody>
          <a:bodyPr wrap="square" lIns="0" tIns="0" rIns="0" bIns="0" rtlCol="0" anchor="ctr">
            <a:normAutofit/>
          </a:bodyPr>
          <a:lstStyle/>
          <a:p>
            <a:pPr algn="ctr" indent="0" marL="0">
              <a:lnSpc>
                <a:spcPct val="125000"/>
              </a:lnSpc>
              <a:buNone/>
            </a:pPr>
            <a:r>
              <a:rPr lang="en-US" sz="1140" b="1" dirty="0">
                <a:solidFill>
                  <a:srgbClr val="1A1A1A"/>
                </a:solidFill>
                <a:latin typeface="Cambria" pitchFamily="34" charset="0"/>
                <a:ea typeface="Cambria" pitchFamily="34" charset="-122"/>
                <a:cs typeface="Cambria" pitchFamily="34" charset="-120"/>
              </a:rPr>
              <a:t>69,11</a:t>
            </a:r>
            <a:endParaRPr lang="en-US" sz="1140" dirty="0"/>
          </a:p>
        </p:txBody>
      </p:sp>
      <p:sp>
        <p:nvSpPr>
          <p:cNvPr id="34" name="Text 32"/>
          <p:cNvSpPr/>
          <p:nvPr/>
        </p:nvSpPr>
        <p:spPr>
          <a:xfrm>
            <a:off x="4818888" y="3236976"/>
            <a:ext cx="111556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+0,74</a:t>
            </a:r>
            <a:endParaRPr lang="en-US" sz="1140" dirty="0"/>
          </a:p>
        </p:txBody>
      </p:sp>
      <p:sp>
        <p:nvSpPr>
          <p:cNvPr id="35" name="Text 33"/>
          <p:cNvSpPr/>
          <p:nvPr/>
        </p:nvSpPr>
        <p:spPr>
          <a:xfrm>
            <a:off x="5934456" y="3236976"/>
            <a:ext cx="27614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[+0,54; +0,94]</a:t>
            </a:r>
            <a:endParaRPr lang="en-US" sz="1140" dirty="0"/>
          </a:p>
        </p:txBody>
      </p:sp>
      <p:sp>
        <p:nvSpPr>
          <p:cNvPr id="36" name="Shape 34"/>
          <p:cNvSpPr/>
          <p:nvPr/>
        </p:nvSpPr>
        <p:spPr>
          <a:xfrm>
            <a:off x="658368" y="3621024"/>
            <a:ext cx="8037576" cy="0"/>
          </a:xfrm>
          <a:prstGeom prst="line">
            <a:avLst/>
          </a:prstGeom>
          <a:noFill/>
          <a:ln w="12700">
            <a:solidFill>
              <a:srgbClr val="D9D6DF"/>
            </a:solidFill>
            <a:prstDash val="solid"/>
            <a:tailEnd type="none"/>
          </a:ln>
        </p:spPr>
      </p:sp>
      <p:sp>
        <p:nvSpPr>
          <p:cNvPr id="37" name="Text 35"/>
          <p:cNvSpPr/>
          <p:nvPr/>
        </p:nvSpPr>
        <p:spPr>
          <a:xfrm>
            <a:off x="658368" y="3621024"/>
            <a:ext cx="1508760" cy="384048"/>
          </a:xfrm>
          <a:prstGeom prst="rect">
            <a:avLst/>
          </a:prstGeom>
          <a:noFill/>
          <a:ln/>
        </p:spPr>
        <p:txBody>
          <a:bodyPr wrap="square" lIns="0" tIns="0" rIns="0" bIns="0" rtlCol="0" anchor="ctr">
            <a:normAutofit/>
          </a:bodyPr>
          <a:lstStyle/>
          <a:p>
            <a:pPr algn="l" indent="0" marL="0">
              <a:lnSpc>
                <a:spcPct val="125000"/>
              </a:lnSpc>
              <a:buNone/>
            </a:pPr>
            <a:r>
              <a:rPr lang="en-US" sz="1140" dirty="0">
                <a:solidFill>
                  <a:srgbClr val="1A1A1A"/>
                </a:solidFill>
                <a:latin typeface="Cambria" pitchFamily="34" charset="0"/>
                <a:ea typeface="Cambria" pitchFamily="34" charset="-122"/>
                <a:cs typeface="Cambria" pitchFamily="34" charset="-120"/>
              </a:rPr>
              <a:t>CIDEr-D</a:t>
            </a:r>
            <a:endParaRPr lang="en-US" sz="1140" dirty="0"/>
          </a:p>
        </p:txBody>
      </p:sp>
      <p:sp>
        <p:nvSpPr>
          <p:cNvPr id="38" name="Text 36"/>
          <p:cNvSpPr/>
          <p:nvPr/>
        </p:nvSpPr>
        <p:spPr>
          <a:xfrm>
            <a:off x="2167128" y="3621024"/>
            <a:ext cx="13898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430,05</a:t>
            </a:r>
            <a:endParaRPr lang="en-US" sz="1140" dirty="0"/>
          </a:p>
        </p:txBody>
      </p:sp>
      <p:sp>
        <p:nvSpPr>
          <p:cNvPr id="39" name="Text 37"/>
          <p:cNvSpPr/>
          <p:nvPr/>
        </p:nvSpPr>
        <p:spPr>
          <a:xfrm>
            <a:off x="3557016" y="3621024"/>
            <a:ext cx="1261872" cy="384048"/>
          </a:xfrm>
          <a:prstGeom prst="rect">
            <a:avLst/>
          </a:prstGeom>
          <a:noFill/>
          <a:ln/>
        </p:spPr>
        <p:txBody>
          <a:bodyPr wrap="square" lIns="0" tIns="0" rIns="0" bIns="0" rtlCol="0" anchor="ctr">
            <a:normAutofit/>
          </a:bodyPr>
          <a:lstStyle/>
          <a:p>
            <a:pPr algn="ctr" indent="0" marL="0">
              <a:lnSpc>
                <a:spcPct val="125000"/>
              </a:lnSpc>
              <a:buNone/>
            </a:pPr>
            <a:r>
              <a:rPr lang="en-US" sz="1140" b="1" dirty="0">
                <a:solidFill>
                  <a:srgbClr val="1A1A1A"/>
                </a:solidFill>
                <a:latin typeface="Cambria" pitchFamily="34" charset="0"/>
                <a:ea typeface="Cambria" pitchFamily="34" charset="-122"/>
                <a:cs typeface="Cambria" pitchFamily="34" charset="-120"/>
              </a:rPr>
              <a:t>442,02</a:t>
            </a:r>
            <a:endParaRPr lang="en-US" sz="1140" dirty="0"/>
          </a:p>
        </p:txBody>
      </p:sp>
      <p:sp>
        <p:nvSpPr>
          <p:cNvPr id="40" name="Text 38"/>
          <p:cNvSpPr/>
          <p:nvPr/>
        </p:nvSpPr>
        <p:spPr>
          <a:xfrm>
            <a:off x="4818888" y="3621024"/>
            <a:ext cx="111556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+11,97</a:t>
            </a:r>
            <a:endParaRPr lang="en-US" sz="1140" dirty="0"/>
          </a:p>
        </p:txBody>
      </p:sp>
      <p:sp>
        <p:nvSpPr>
          <p:cNvPr id="41" name="Text 39"/>
          <p:cNvSpPr/>
          <p:nvPr/>
        </p:nvSpPr>
        <p:spPr>
          <a:xfrm>
            <a:off x="5934456" y="3621024"/>
            <a:ext cx="27614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[+8,24; +15,34]</a:t>
            </a:r>
            <a:endParaRPr lang="en-US" sz="1140" dirty="0"/>
          </a:p>
        </p:txBody>
      </p:sp>
      <p:sp>
        <p:nvSpPr>
          <p:cNvPr id="42" name="Shape 40"/>
          <p:cNvSpPr/>
          <p:nvPr/>
        </p:nvSpPr>
        <p:spPr>
          <a:xfrm>
            <a:off x="658368" y="4005072"/>
            <a:ext cx="8037576" cy="0"/>
          </a:xfrm>
          <a:prstGeom prst="line">
            <a:avLst/>
          </a:prstGeom>
          <a:noFill/>
          <a:ln w="12700">
            <a:solidFill>
              <a:srgbClr val="D9D6DF"/>
            </a:solidFill>
            <a:prstDash val="solid"/>
            <a:tailEnd type="none"/>
          </a:ln>
        </p:spPr>
      </p:sp>
      <p:sp>
        <p:nvSpPr>
          <p:cNvPr id="43" name="Text 41"/>
          <p:cNvSpPr/>
          <p:nvPr/>
        </p:nvSpPr>
        <p:spPr>
          <a:xfrm>
            <a:off x="658368" y="4005072"/>
            <a:ext cx="1508760" cy="384048"/>
          </a:xfrm>
          <a:prstGeom prst="rect">
            <a:avLst/>
          </a:prstGeom>
          <a:noFill/>
          <a:ln/>
        </p:spPr>
        <p:txBody>
          <a:bodyPr wrap="square" lIns="0" tIns="0" rIns="0" bIns="0" rtlCol="0" anchor="ctr">
            <a:normAutofit/>
          </a:bodyPr>
          <a:lstStyle/>
          <a:p>
            <a:pPr algn="l" indent="0" marL="0">
              <a:lnSpc>
                <a:spcPct val="125000"/>
              </a:lnSpc>
              <a:buNone/>
            </a:pPr>
            <a:r>
              <a:rPr lang="en-US" sz="1140" dirty="0">
                <a:solidFill>
                  <a:srgbClr val="1A1A1A"/>
                </a:solidFill>
                <a:latin typeface="Cambria" pitchFamily="34" charset="0"/>
                <a:ea typeface="Cambria" pitchFamily="34" charset="-122"/>
                <a:cs typeface="Cambria" pitchFamily="34" charset="-120"/>
              </a:rPr>
              <a:t>SPICE</a:t>
            </a:r>
            <a:endParaRPr lang="en-US" sz="1140" dirty="0"/>
          </a:p>
        </p:txBody>
      </p:sp>
      <p:sp>
        <p:nvSpPr>
          <p:cNvPr id="44" name="Text 42"/>
          <p:cNvSpPr/>
          <p:nvPr/>
        </p:nvSpPr>
        <p:spPr>
          <a:xfrm>
            <a:off x="2167128" y="4005072"/>
            <a:ext cx="13898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45,79</a:t>
            </a:r>
            <a:endParaRPr lang="en-US" sz="1140" dirty="0"/>
          </a:p>
        </p:txBody>
      </p:sp>
      <p:sp>
        <p:nvSpPr>
          <p:cNvPr id="45" name="Text 43"/>
          <p:cNvSpPr/>
          <p:nvPr/>
        </p:nvSpPr>
        <p:spPr>
          <a:xfrm>
            <a:off x="3557016" y="4005072"/>
            <a:ext cx="1261872" cy="384048"/>
          </a:xfrm>
          <a:prstGeom prst="rect">
            <a:avLst/>
          </a:prstGeom>
          <a:noFill/>
          <a:ln/>
        </p:spPr>
        <p:txBody>
          <a:bodyPr wrap="square" lIns="0" tIns="0" rIns="0" bIns="0" rtlCol="0" anchor="ctr">
            <a:normAutofit/>
          </a:bodyPr>
          <a:lstStyle/>
          <a:p>
            <a:pPr algn="ctr" indent="0" marL="0">
              <a:lnSpc>
                <a:spcPct val="125000"/>
              </a:lnSpc>
              <a:buNone/>
            </a:pPr>
            <a:r>
              <a:rPr lang="en-US" sz="1140" b="1" dirty="0">
                <a:solidFill>
                  <a:srgbClr val="1A1A1A"/>
                </a:solidFill>
                <a:latin typeface="Cambria" pitchFamily="34" charset="0"/>
                <a:ea typeface="Cambria" pitchFamily="34" charset="-122"/>
                <a:cs typeface="Cambria" pitchFamily="34" charset="-120"/>
              </a:rPr>
              <a:t>47,13</a:t>
            </a:r>
            <a:endParaRPr lang="en-US" sz="1140" dirty="0"/>
          </a:p>
        </p:txBody>
      </p:sp>
      <p:sp>
        <p:nvSpPr>
          <p:cNvPr id="46" name="Text 44"/>
          <p:cNvSpPr/>
          <p:nvPr/>
        </p:nvSpPr>
        <p:spPr>
          <a:xfrm>
            <a:off x="4818888" y="4005072"/>
            <a:ext cx="111556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+1,33</a:t>
            </a:r>
            <a:endParaRPr lang="en-US" sz="1140" dirty="0"/>
          </a:p>
        </p:txBody>
      </p:sp>
      <p:sp>
        <p:nvSpPr>
          <p:cNvPr id="47" name="Text 45"/>
          <p:cNvSpPr/>
          <p:nvPr/>
        </p:nvSpPr>
        <p:spPr>
          <a:xfrm>
            <a:off x="5934456" y="4005072"/>
            <a:ext cx="27614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[+0,92; +1,75]</a:t>
            </a:r>
            <a:endParaRPr lang="en-US" sz="1140" dirty="0"/>
          </a:p>
        </p:txBody>
      </p:sp>
      <p:sp>
        <p:nvSpPr>
          <p:cNvPr id="48" name="Shape 46"/>
          <p:cNvSpPr/>
          <p:nvPr/>
        </p:nvSpPr>
        <p:spPr>
          <a:xfrm>
            <a:off x="658368" y="4389120"/>
            <a:ext cx="8037576" cy="0"/>
          </a:xfrm>
          <a:prstGeom prst="line">
            <a:avLst/>
          </a:prstGeom>
          <a:noFill/>
          <a:ln w="12700">
            <a:solidFill>
              <a:srgbClr val="D9D6DF"/>
            </a:solidFill>
            <a:prstDash val="solid"/>
            <a:tailEnd type="none"/>
          </a:ln>
        </p:spPr>
      </p:sp>
      <p:sp>
        <p:nvSpPr>
          <p:cNvPr id="49" name="Text 47"/>
          <p:cNvSpPr/>
          <p:nvPr/>
        </p:nvSpPr>
        <p:spPr>
          <a:xfrm>
            <a:off x="658368" y="4389120"/>
            <a:ext cx="1508760" cy="384048"/>
          </a:xfrm>
          <a:prstGeom prst="rect">
            <a:avLst/>
          </a:prstGeom>
          <a:noFill/>
          <a:ln/>
        </p:spPr>
        <p:txBody>
          <a:bodyPr wrap="square" lIns="0" tIns="0" rIns="0" bIns="0" rtlCol="0" anchor="ctr">
            <a:normAutofit/>
          </a:bodyPr>
          <a:lstStyle/>
          <a:p>
            <a:pPr algn="l" indent="0" marL="0">
              <a:lnSpc>
                <a:spcPct val="125000"/>
              </a:lnSpc>
              <a:buNone/>
            </a:pPr>
            <a:r>
              <a:rPr lang="en-US" sz="1140" dirty="0">
                <a:solidFill>
                  <a:srgbClr val="1A1A1A"/>
                </a:solidFill>
                <a:latin typeface="Cambria" pitchFamily="34" charset="0"/>
                <a:ea typeface="Cambria" pitchFamily="34" charset="-122"/>
                <a:cs typeface="Cambria" pitchFamily="34" charset="-120"/>
              </a:rPr>
              <a:t>chrF</a:t>
            </a:r>
            <a:endParaRPr lang="en-US" sz="1140" dirty="0"/>
          </a:p>
        </p:txBody>
      </p:sp>
      <p:sp>
        <p:nvSpPr>
          <p:cNvPr id="50" name="Text 48"/>
          <p:cNvSpPr/>
          <p:nvPr/>
        </p:nvSpPr>
        <p:spPr>
          <a:xfrm>
            <a:off x="2167128" y="4389120"/>
            <a:ext cx="13898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62,87</a:t>
            </a:r>
            <a:endParaRPr lang="en-US" sz="1140" dirty="0"/>
          </a:p>
        </p:txBody>
      </p:sp>
      <p:sp>
        <p:nvSpPr>
          <p:cNvPr id="51" name="Text 49"/>
          <p:cNvSpPr/>
          <p:nvPr/>
        </p:nvSpPr>
        <p:spPr>
          <a:xfrm>
            <a:off x="3557016" y="4389120"/>
            <a:ext cx="1261872" cy="384048"/>
          </a:xfrm>
          <a:prstGeom prst="rect">
            <a:avLst/>
          </a:prstGeom>
          <a:noFill/>
          <a:ln/>
        </p:spPr>
        <p:txBody>
          <a:bodyPr wrap="square" lIns="0" tIns="0" rIns="0" bIns="0" rtlCol="0" anchor="ctr">
            <a:normAutofit/>
          </a:bodyPr>
          <a:lstStyle/>
          <a:p>
            <a:pPr algn="ctr" indent="0" marL="0">
              <a:lnSpc>
                <a:spcPct val="125000"/>
              </a:lnSpc>
              <a:buNone/>
            </a:pPr>
            <a:r>
              <a:rPr lang="en-US" sz="1140" b="1" dirty="0">
                <a:solidFill>
                  <a:srgbClr val="1A1A1A"/>
                </a:solidFill>
                <a:latin typeface="Cambria" pitchFamily="34" charset="0"/>
                <a:ea typeface="Cambria" pitchFamily="34" charset="-122"/>
                <a:cs typeface="Cambria" pitchFamily="34" charset="-120"/>
              </a:rPr>
              <a:t>63,44</a:t>
            </a:r>
            <a:endParaRPr lang="en-US" sz="1140" dirty="0"/>
          </a:p>
        </p:txBody>
      </p:sp>
      <p:sp>
        <p:nvSpPr>
          <p:cNvPr id="52" name="Text 50"/>
          <p:cNvSpPr/>
          <p:nvPr/>
        </p:nvSpPr>
        <p:spPr>
          <a:xfrm>
            <a:off x="4818888" y="4389120"/>
            <a:ext cx="111556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+0,58</a:t>
            </a:r>
            <a:endParaRPr lang="en-US" sz="1140" dirty="0"/>
          </a:p>
        </p:txBody>
      </p:sp>
      <p:sp>
        <p:nvSpPr>
          <p:cNvPr id="53" name="Text 51"/>
          <p:cNvSpPr/>
          <p:nvPr/>
        </p:nvSpPr>
        <p:spPr>
          <a:xfrm>
            <a:off x="5934456" y="4389120"/>
            <a:ext cx="27614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[+0,37; +0,80]</a:t>
            </a:r>
            <a:endParaRPr lang="en-US" sz="1140" dirty="0"/>
          </a:p>
        </p:txBody>
      </p:sp>
      <p:sp>
        <p:nvSpPr>
          <p:cNvPr id="54" name="Shape 52"/>
          <p:cNvSpPr/>
          <p:nvPr/>
        </p:nvSpPr>
        <p:spPr>
          <a:xfrm>
            <a:off x="658368" y="4773168"/>
            <a:ext cx="8037576" cy="0"/>
          </a:xfrm>
          <a:prstGeom prst="line">
            <a:avLst/>
          </a:prstGeom>
          <a:noFill/>
          <a:ln w="12700">
            <a:solidFill>
              <a:srgbClr val="D9D6DF"/>
            </a:solidFill>
            <a:prstDash val="solid"/>
            <a:tailEnd type="none"/>
          </a:ln>
        </p:spPr>
      </p:sp>
      <p:sp>
        <p:nvSpPr>
          <p:cNvPr id="55" name="Text 53"/>
          <p:cNvSpPr/>
          <p:nvPr/>
        </p:nvSpPr>
        <p:spPr>
          <a:xfrm>
            <a:off x="658368" y="4773168"/>
            <a:ext cx="1508760" cy="384048"/>
          </a:xfrm>
          <a:prstGeom prst="rect">
            <a:avLst/>
          </a:prstGeom>
          <a:noFill/>
          <a:ln/>
        </p:spPr>
        <p:txBody>
          <a:bodyPr wrap="square" lIns="0" tIns="0" rIns="0" bIns="0" rtlCol="0" anchor="ctr">
            <a:normAutofit/>
          </a:bodyPr>
          <a:lstStyle/>
          <a:p>
            <a:pPr algn="l" indent="0" marL="0">
              <a:lnSpc>
                <a:spcPct val="125000"/>
              </a:lnSpc>
              <a:buNone/>
            </a:pPr>
            <a:r>
              <a:rPr lang="en-US" sz="1140" dirty="0">
                <a:solidFill>
                  <a:srgbClr val="1A1A1A"/>
                </a:solidFill>
                <a:latin typeface="Cambria" pitchFamily="34" charset="0"/>
                <a:ea typeface="Cambria" pitchFamily="34" charset="-122"/>
                <a:cs typeface="Cambria" pitchFamily="34" charset="-120"/>
              </a:rPr>
              <a:t>BERTScore</a:t>
            </a:r>
            <a:endParaRPr lang="en-US" sz="1140" dirty="0"/>
          </a:p>
        </p:txBody>
      </p:sp>
      <p:sp>
        <p:nvSpPr>
          <p:cNvPr id="56" name="Text 54"/>
          <p:cNvSpPr/>
          <p:nvPr/>
        </p:nvSpPr>
        <p:spPr>
          <a:xfrm>
            <a:off x="2167128" y="4773168"/>
            <a:ext cx="13898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67,07</a:t>
            </a:r>
            <a:endParaRPr lang="en-US" sz="1140" dirty="0"/>
          </a:p>
        </p:txBody>
      </p:sp>
      <p:sp>
        <p:nvSpPr>
          <p:cNvPr id="57" name="Text 55"/>
          <p:cNvSpPr/>
          <p:nvPr/>
        </p:nvSpPr>
        <p:spPr>
          <a:xfrm>
            <a:off x="3557016" y="4773168"/>
            <a:ext cx="1261872" cy="384048"/>
          </a:xfrm>
          <a:prstGeom prst="rect">
            <a:avLst/>
          </a:prstGeom>
          <a:noFill/>
          <a:ln/>
        </p:spPr>
        <p:txBody>
          <a:bodyPr wrap="square" lIns="0" tIns="0" rIns="0" bIns="0" rtlCol="0" anchor="ctr">
            <a:normAutofit/>
          </a:bodyPr>
          <a:lstStyle/>
          <a:p>
            <a:pPr algn="ctr" indent="0" marL="0">
              <a:lnSpc>
                <a:spcPct val="125000"/>
              </a:lnSpc>
              <a:buNone/>
            </a:pPr>
            <a:r>
              <a:rPr lang="en-US" sz="1140" b="1" dirty="0">
                <a:solidFill>
                  <a:srgbClr val="1A1A1A"/>
                </a:solidFill>
                <a:latin typeface="Cambria" pitchFamily="34" charset="0"/>
                <a:ea typeface="Cambria" pitchFamily="34" charset="-122"/>
                <a:cs typeface="Cambria" pitchFamily="34" charset="-120"/>
              </a:rPr>
              <a:t>67,73</a:t>
            </a:r>
            <a:endParaRPr lang="en-US" sz="1140" dirty="0"/>
          </a:p>
        </p:txBody>
      </p:sp>
      <p:sp>
        <p:nvSpPr>
          <p:cNvPr id="58" name="Text 56"/>
          <p:cNvSpPr/>
          <p:nvPr/>
        </p:nvSpPr>
        <p:spPr>
          <a:xfrm>
            <a:off x="4818888" y="4773168"/>
            <a:ext cx="111556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+0,66</a:t>
            </a:r>
            <a:endParaRPr lang="en-US" sz="1140" dirty="0"/>
          </a:p>
        </p:txBody>
      </p:sp>
      <p:sp>
        <p:nvSpPr>
          <p:cNvPr id="59" name="Text 57"/>
          <p:cNvSpPr/>
          <p:nvPr/>
        </p:nvSpPr>
        <p:spPr>
          <a:xfrm>
            <a:off x="5934456" y="4773168"/>
            <a:ext cx="27614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[+0,46; +0,86]</a:t>
            </a:r>
            <a:endParaRPr lang="en-US" sz="1140" dirty="0"/>
          </a:p>
        </p:txBody>
      </p:sp>
      <p:sp>
        <p:nvSpPr>
          <p:cNvPr id="60" name="Text 58"/>
          <p:cNvSpPr/>
          <p:nvPr/>
        </p:nvSpPr>
        <p:spPr>
          <a:xfrm>
            <a:off x="502920" y="5440680"/>
            <a:ext cx="8138160" cy="402336"/>
          </a:xfrm>
          <a:prstGeom prst="rect">
            <a:avLst/>
          </a:prstGeom>
          <a:noFill/>
          <a:ln/>
        </p:spPr>
        <p:txBody>
          <a:bodyPr wrap="square" lIns="0" tIns="0" rIns="0" bIns="0" rtlCol="0" anchor="ctr">
            <a:normAutofit/>
          </a:bodyPr>
          <a:lstStyle/>
          <a:p>
            <a:pPr algn="ctr" indent="0" marL="0">
              <a:lnSpc>
                <a:spcPct val="125000"/>
              </a:lnSpc>
              <a:buNone/>
            </a:pPr>
            <a:r>
              <a:rPr lang="en-US" sz="1300" b="1" dirty="0">
                <a:solidFill>
                  <a:srgbClr val="25194B"/>
                </a:solidFill>
                <a:latin typeface="Cambria" pitchFamily="34" charset="0"/>
                <a:ea typeface="Cambria" pitchFamily="34" charset="-122"/>
                <a:cs typeface="Cambria" pitchFamily="34" charset="-120"/>
              </a:rPr>
              <a:t>ACE cao hơn GRPO-SPICE ở toàn bộ 7 chỉ số chất lượng câu.</a:t>
            </a:r>
            <a:endParaRPr lang="en-US" sz="1300" dirty="0"/>
          </a:p>
        </p:txBody>
      </p:sp>
      <p:sp>
        <p:nvSpPr>
          <p:cNvPr id="61" name="Text 59"/>
          <p:cNvSpPr/>
          <p:nvPr/>
        </p:nvSpPr>
        <p:spPr>
          <a:xfrm>
            <a:off x="502920" y="6327648"/>
            <a:ext cx="8138160" cy="137160"/>
          </a:xfrm>
          <a:prstGeom prst="rect">
            <a:avLst/>
          </a:prstGeom>
          <a:noFill/>
          <a:ln/>
        </p:spPr>
        <p:txBody>
          <a:bodyPr wrap="square" lIns="0" tIns="0" rIns="0" bIns="0" rtlCol="0" anchor="ctr"/>
          <a:lstStyle/>
          <a:p>
            <a:pPr algn="r" indent="0" marL="0">
              <a:lnSpc>
                <a:spcPct val="125000"/>
              </a:lnSpc>
              <a:buNone/>
            </a:pPr>
            <a:r>
              <a:rPr lang="en-US" sz="800" i="1" dirty="0">
                <a:solidFill>
                  <a:srgbClr val="5A5A66"/>
                </a:solidFill>
                <a:latin typeface="Cambria" pitchFamily="34" charset="0"/>
                <a:ea typeface="Cambria" pitchFamily="34" charset="-122"/>
                <a:cs typeface="Cambria" pitchFamily="34" charset="-120"/>
              </a:rPr>
              <a:t>Luận văn §6.4–§6.5</a:t>
            </a:r>
            <a:endParaRPr lang="en-US" sz="800" dirty="0"/>
          </a:p>
        </p:txBody>
      </p:sp>
      <p:sp>
        <p:nvSpPr>
          <p:cNvPr id="62" name="Shape 60"/>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63" name="Shape 61"/>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64" name="Shape 62"/>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65" name="Shape 63"/>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66" name="Text 64"/>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67" name="Text 65"/>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68" name="Text 66"/>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69" name="Text 67"/>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16/25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02920" y="603504"/>
            <a:ext cx="8138160" cy="219456"/>
          </a:xfrm>
          <a:prstGeom prst="rect">
            <a:avLst/>
          </a:prstGeom>
          <a:noFill/>
          <a:ln/>
        </p:spPr>
        <p:txBody>
          <a:bodyPr wrap="square" lIns="0" tIns="0" rIns="0" bIns="0" rtlCol="0" anchor="ctr">
            <a:normAutofit/>
          </a:bodyPr>
          <a:lstStyle/>
          <a:p>
            <a:pPr indent="0" marL="0">
              <a:lnSpc>
                <a:spcPct val="125000"/>
              </a:lnSpc>
              <a:buNone/>
            </a:pPr>
            <a:r>
              <a:rPr lang="en-US" sz="1260" b="1" dirty="0">
                <a:solidFill>
                  <a:srgbClr val="25194B"/>
                </a:solidFill>
                <a:latin typeface="Cambria" pitchFamily="34" charset="0"/>
                <a:ea typeface="Cambria" pitchFamily="34" charset="-122"/>
                <a:cs typeface="Cambria" pitchFamily="34" charset="-120"/>
              </a:rPr>
              <a:t>Đối chiếu với bốn công cụ đánh giá</a:t>
            </a:r>
            <a:endParaRPr lang="en-US" sz="1260" dirty="0"/>
          </a:p>
        </p:txBody>
      </p:sp>
      <p:sp>
        <p:nvSpPr>
          <p:cNvPr id="5" name="Text 3"/>
          <p:cNvSpPr/>
          <p:nvPr/>
        </p:nvSpPr>
        <p:spPr>
          <a:xfrm>
            <a:off x="502920" y="896112"/>
            <a:ext cx="8138160" cy="365760"/>
          </a:xfrm>
          <a:prstGeom prst="rect">
            <a:avLst/>
          </a:prstGeom>
          <a:noFill/>
          <a:ln/>
        </p:spPr>
        <p:txBody>
          <a:bodyPr wrap="square" lIns="0" tIns="0" rIns="0" bIns="0" rtlCol="0" anchor="ctr"/>
          <a:lstStyle/>
          <a:p>
            <a:pPr algn="ctr" indent="0" marL="0">
              <a:lnSpc>
                <a:spcPct val="125000"/>
              </a:lnSpc>
              <a:buNone/>
            </a:pPr>
            <a:r>
              <a:rPr lang="en-US" sz="1650" b="1" dirty="0">
                <a:solidFill>
                  <a:srgbClr val="25194B"/>
                </a:solidFill>
                <a:latin typeface="Cambria" pitchFamily="34" charset="0"/>
                <a:ea typeface="Cambria" pitchFamily="34" charset="-122"/>
                <a:cs typeface="Cambria" pitchFamily="34" charset="-120"/>
              </a:rPr>
              <a:t>Chênh lệch GRPO-SPICE − S1</a:t>
            </a:r>
            <a:endParaRPr lang="en-US" sz="1650" dirty="0"/>
          </a:p>
        </p:txBody>
      </p:sp>
      <p:sp>
        <p:nvSpPr>
          <p:cNvPr id="6" name="Text 4"/>
          <p:cNvSpPr/>
          <p:nvPr/>
        </p:nvSpPr>
        <p:spPr>
          <a:xfrm>
            <a:off x="594360" y="1572768"/>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+1,55</a:t>
            </a:r>
            <a:endParaRPr lang="en-US" sz="2400" dirty="0"/>
          </a:p>
        </p:txBody>
      </p:sp>
      <p:sp>
        <p:nvSpPr>
          <p:cNvPr id="7" name="Text 5"/>
          <p:cNvSpPr/>
          <p:nvPr/>
        </p:nvSpPr>
        <p:spPr>
          <a:xfrm>
            <a:off x="594360" y="2103120"/>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UGround</a:t>
            </a:r>
            <a:endParaRPr lang="en-US" sz="1250" dirty="0"/>
          </a:p>
        </p:txBody>
      </p:sp>
      <p:sp>
        <p:nvSpPr>
          <p:cNvPr id="8" name="Text 6"/>
          <p:cNvSpPr/>
          <p:nvPr/>
        </p:nvSpPr>
        <p:spPr>
          <a:xfrm>
            <a:off x="2670048" y="1572768"/>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+1,55</a:t>
            </a:r>
            <a:endParaRPr lang="en-US" sz="2400" dirty="0"/>
          </a:p>
        </p:txBody>
      </p:sp>
      <p:sp>
        <p:nvSpPr>
          <p:cNvPr id="9" name="Text 7"/>
          <p:cNvSpPr/>
          <p:nvPr/>
        </p:nvSpPr>
        <p:spPr>
          <a:xfrm>
            <a:off x="2670048" y="2103120"/>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UI-Venus</a:t>
            </a:r>
            <a:endParaRPr lang="en-US" sz="1250" dirty="0"/>
          </a:p>
        </p:txBody>
      </p:sp>
      <p:sp>
        <p:nvSpPr>
          <p:cNvPr id="10" name="Text 8"/>
          <p:cNvSpPr/>
          <p:nvPr/>
        </p:nvSpPr>
        <p:spPr>
          <a:xfrm>
            <a:off x="4745736" y="1572768"/>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+0,78</a:t>
            </a:r>
            <a:endParaRPr lang="en-US" sz="2400" dirty="0"/>
          </a:p>
        </p:txBody>
      </p:sp>
      <p:sp>
        <p:nvSpPr>
          <p:cNvPr id="11" name="Text 9"/>
          <p:cNvSpPr/>
          <p:nvPr/>
        </p:nvSpPr>
        <p:spPr>
          <a:xfrm>
            <a:off x="4745736" y="2103120"/>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Phi-Ground</a:t>
            </a:r>
            <a:endParaRPr lang="en-US" sz="1250" dirty="0"/>
          </a:p>
        </p:txBody>
      </p:sp>
      <p:sp>
        <p:nvSpPr>
          <p:cNvPr id="12" name="Text 10"/>
          <p:cNvSpPr/>
          <p:nvPr/>
        </p:nvSpPr>
        <p:spPr>
          <a:xfrm>
            <a:off x="6821424" y="1572768"/>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+0,69</a:t>
            </a:r>
            <a:endParaRPr lang="en-US" sz="2400" dirty="0"/>
          </a:p>
        </p:txBody>
      </p:sp>
      <p:sp>
        <p:nvSpPr>
          <p:cNvPr id="13" name="Text 11"/>
          <p:cNvSpPr/>
          <p:nvPr/>
        </p:nvSpPr>
        <p:spPr>
          <a:xfrm>
            <a:off x="6821424" y="2103120"/>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Phi-4</a:t>
            </a:r>
            <a:endParaRPr lang="en-US" sz="1250" dirty="0"/>
          </a:p>
        </p:txBody>
      </p:sp>
      <p:sp>
        <p:nvSpPr>
          <p:cNvPr id="14" name="Shape 12"/>
          <p:cNvSpPr/>
          <p:nvPr/>
        </p:nvSpPr>
        <p:spPr>
          <a:xfrm>
            <a:off x="502920" y="3072384"/>
            <a:ext cx="8138160" cy="1335024"/>
          </a:xfrm>
          <a:prstGeom prst="roundRect">
            <a:avLst/>
          </a:prstGeom>
          <a:solidFill>
            <a:srgbClr val="F3F2F5"/>
          </a:solidFill>
          <a:ln w="12700">
            <a:solidFill>
              <a:srgbClr val="7A7099"/>
            </a:solidFill>
            <a:prstDash val="solid"/>
          </a:ln>
        </p:spPr>
      </p:sp>
      <p:sp>
        <p:nvSpPr>
          <p:cNvPr id="15" name="Text 13"/>
          <p:cNvSpPr/>
          <p:nvPr/>
        </p:nvSpPr>
        <p:spPr>
          <a:xfrm>
            <a:off x="685800" y="3310128"/>
            <a:ext cx="7772400" cy="347472"/>
          </a:xfrm>
          <a:prstGeom prst="rect">
            <a:avLst/>
          </a:prstGeom>
          <a:noFill/>
          <a:ln/>
        </p:spPr>
        <p:txBody>
          <a:bodyPr wrap="square" lIns="0" tIns="0" rIns="0" bIns="0" rtlCol="0" anchor="ctr"/>
          <a:lstStyle/>
          <a:p>
            <a:pPr algn="ctr" indent="0" marL="0">
              <a:lnSpc>
                <a:spcPct val="125000"/>
              </a:lnSpc>
              <a:buNone/>
            </a:pPr>
            <a:r>
              <a:rPr lang="en-US" sz="1800" b="1" dirty="0">
                <a:solidFill>
                  <a:srgbClr val="25194B"/>
                </a:solidFill>
                <a:latin typeface="Cambria" pitchFamily="34" charset="0"/>
                <a:ea typeface="Cambria" pitchFamily="34" charset="-122"/>
                <a:cs typeface="Cambria" pitchFamily="34" charset="-120"/>
              </a:rPr>
              <a:t>KTC của cả bốn chênh lệch đều nằm trên 0.</a:t>
            </a:r>
            <a:endParaRPr lang="en-US" sz="1800" dirty="0"/>
          </a:p>
        </p:txBody>
      </p:sp>
      <p:sp>
        <p:nvSpPr>
          <p:cNvPr id="16" name="Text 14"/>
          <p:cNvSpPr/>
          <p:nvPr/>
        </p:nvSpPr>
        <p:spPr>
          <a:xfrm>
            <a:off x="758952" y="3767328"/>
            <a:ext cx="7626096" cy="347472"/>
          </a:xfrm>
          <a:prstGeom prst="rect">
            <a:avLst/>
          </a:prstGeom>
          <a:noFill/>
          <a:ln/>
        </p:spPr>
        <p:txBody>
          <a:bodyPr wrap="square" lIns="0" tIns="0" rIns="0" bIns="0" rtlCol="0" anchor="ctr"/>
          <a:lstStyle/>
          <a:p>
            <a:pPr algn="ctr" indent="0" marL="0">
              <a:lnSpc>
                <a:spcPct val="125000"/>
              </a:lnSpc>
              <a:buNone/>
            </a:pPr>
            <a:r>
              <a:rPr lang="en-US" sz="1350" dirty="0">
                <a:solidFill>
                  <a:srgbClr val="5A5A66"/>
                </a:solidFill>
                <a:latin typeface="Cambria" pitchFamily="34" charset="0"/>
                <a:ea typeface="Cambria" pitchFamily="34" charset="-122"/>
                <a:cs typeface="Cambria" pitchFamily="34" charset="-120"/>
              </a:rPr>
              <a:t>Phi-Ground và Phi-4 nằm ngoài họ Qwen; mức tăng nhỏ hơn nhưng vẫn giữ cùng chiều.</a:t>
            </a:r>
            <a:endParaRPr lang="en-US" sz="1350" dirty="0"/>
          </a:p>
        </p:txBody>
      </p:sp>
      <p:sp>
        <p:nvSpPr>
          <p:cNvPr id="17" name="Text 15"/>
          <p:cNvSpPr/>
          <p:nvPr/>
        </p:nvSpPr>
        <p:spPr>
          <a:xfrm>
            <a:off x="502920" y="5074920"/>
            <a:ext cx="8138160" cy="475488"/>
          </a:xfrm>
          <a:prstGeom prst="rect">
            <a:avLst/>
          </a:prstGeom>
          <a:noFill/>
          <a:ln/>
        </p:spPr>
        <p:txBody>
          <a:bodyPr wrap="square" lIns="0" tIns="0" rIns="0" bIns="0" rtlCol="0" anchor="ctr"/>
          <a:lstStyle/>
          <a:p>
            <a:pPr algn="ctr" indent="0" marL="0">
              <a:lnSpc>
                <a:spcPct val="125000"/>
              </a:lnSpc>
              <a:buNone/>
            </a:pPr>
            <a:r>
              <a:rPr lang="en-US" sz="1440" b="1" dirty="0">
                <a:solidFill>
                  <a:srgbClr val="25194B"/>
                </a:solidFill>
                <a:latin typeface="Cambria" pitchFamily="34" charset="0"/>
                <a:ea typeface="Cambria" pitchFamily="34" charset="-122"/>
                <a:cs typeface="Cambria" pitchFamily="34" charset="-120"/>
              </a:rPr>
              <a:t>Quan hệ S1 &lt; GRPO-SPICE ≈ ACE được giữ ở cả bốn công cụ đánh giá.</a:t>
            </a:r>
            <a:endParaRPr lang="en-US" sz="1440" dirty="0"/>
          </a:p>
        </p:txBody>
      </p:sp>
      <p:sp>
        <p:nvSpPr>
          <p:cNvPr id="18" name="Text 16"/>
          <p:cNvSpPr/>
          <p:nvPr/>
        </p:nvSpPr>
        <p:spPr>
          <a:xfrm>
            <a:off x="502920" y="6327648"/>
            <a:ext cx="8138160" cy="137160"/>
          </a:xfrm>
          <a:prstGeom prst="rect">
            <a:avLst/>
          </a:prstGeom>
          <a:noFill/>
          <a:ln/>
        </p:spPr>
        <p:txBody>
          <a:bodyPr wrap="square" lIns="0" tIns="0" rIns="0" bIns="0" rtlCol="0" anchor="ctr"/>
          <a:lstStyle/>
          <a:p>
            <a:pPr algn="r" indent="0" marL="0">
              <a:lnSpc>
                <a:spcPct val="125000"/>
              </a:lnSpc>
              <a:buNone/>
            </a:pPr>
            <a:r>
              <a:rPr lang="en-US" sz="800" i="1" dirty="0">
                <a:solidFill>
                  <a:srgbClr val="5A5A66"/>
                </a:solidFill>
                <a:latin typeface="Cambria" pitchFamily="34" charset="0"/>
                <a:ea typeface="Cambria" pitchFamily="34" charset="-122"/>
                <a:cs typeface="Cambria" pitchFamily="34" charset="-120"/>
              </a:rPr>
              <a:t>Luận văn §6.7.3</a:t>
            </a:r>
            <a:endParaRPr lang="en-US" sz="800" dirty="0"/>
          </a:p>
        </p:txBody>
      </p:sp>
      <p:sp>
        <p:nvSpPr>
          <p:cNvPr id="19" name="Shape 17"/>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0" name="Shape 18"/>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1" name="Shape 19"/>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2" name="Shape 20"/>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3" name="Text 21"/>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4" name="Text 22"/>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5" name="Text 23"/>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6" name="Text 24"/>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17/25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02920" y="603504"/>
            <a:ext cx="8138160" cy="219456"/>
          </a:xfrm>
          <a:prstGeom prst="rect">
            <a:avLst/>
          </a:prstGeom>
          <a:noFill/>
          <a:ln/>
        </p:spPr>
        <p:txBody>
          <a:bodyPr wrap="square" lIns="0" tIns="0" rIns="0" bIns="0" rtlCol="0" anchor="ctr">
            <a:normAutofit/>
          </a:bodyPr>
          <a:lstStyle/>
          <a:p>
            <a:pPr indent="0" marL="0">
              <a:lnSpc>
                <a:spcPct val="125000"/>
              </a:lnSpc>
              <a:buNone/>
            </a:pPr>
            <a:r>
              <a:rPr lang="en-US" sz="1260" b="1" dirty="0">
                <a:solidFill>
                  <a:srgbClr val="25194B"/>
                </a:solidFill>
                <a:latin typeface="Cambria" pitchFamily="34" charset="0"/>
                <a:ea typeface="Cambria" pitchFamily="34" charset="-122"/>
                <a:cs typeface="Cambria" pitchFamily="34" charset="-120"/>
              </a:rPr>
              <a:t>Lịch sử do mô hình tự sinh</a:t>
            </a:r>
            <a:endParaRPr lang="en-US" sz="1260" dirty="0"/>
          </a:p>
        </p:txBody>
      </p:sp>
      <p:sp>
        <p:nvSpPr>
          <p:cNvPr id="5" name="Text 3"/>
          <p:cNvSpPr/>
          <p:nvPr/>
        </p:nvSpPr>
        <p:spPr>
          <a:xfrm>
            <a:off x="502920" y="877824"/>
            <a:ext cx="8138160" cy="566928"/>
          </a:xfrm>
          <a:prstGeom prst="rect">
            <a:avLst/>
          </a:prstGeom>
          <a:noFill/>
          <a:ln/>
        </p:spPr>
        <p:txBody>
          <a:bodyPr wrap="square" lIns="0" tIns="0" rIns="0" bIns="0" rtlCol="0" anchor="ctr">
            <a:normAutofit/>
          </a:bodyPr>
          <a:lstStyle/>
          <a:p>
            <a:pPr algn="ctr" indent="0" marL="0">
              <a:lnSpc>
                <a:spcPct val="125000"/>
              </a:lnSpc>
              <a:buNone/>
            </a:pPr>
            <a:r>
              <a:rPr lang="en-US" sz="1580" b="1" dirty="0">
                <a:solidFill>
                  <a:srgbClr val="25194B"/>
                </a:solidFill>
                <a:latin typeface="Cambria" pitchFamily="34" charset="0"/>
                <a:ea typeface="Cambria" pitchFamily="34" charset="-122"/>
                <a:cs typeface="Cambria" pitchFamily="34" charset="-120"/>
              </a:rPr>
              <a:t>Khi dùng lịch sử do chính mô hình sinh, cả hai nhánh đều giảm điểm nhưng GRPO-SPICE vẫn cao hơn S1.</a:t>
            </a:r>
            <a:endParaRPr lang="en-US" sz="1580" dirty="0"/>
          </a:p>
        </p:txBody>
      </p:sp>
      <p:sp>
        <p:nvSpPr>
          <p:cNvPr id="6" name="Text 4"/>
          <p:cNvSpPr/>
          <p:nvPr/>
        </p:nvSpPr>
        <p:spPr>
          <a:xfrm>
            <a:off x="658368" y="166420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54,96%</a:t>
            </a:r>
            <a:endParaRPr lang="en-US" sz="2400" dirty="0"/>
          </a:p>
        </p:txBody>
      </p:sp>
      <p:sp>
        <p:nvSpPr>
          <p:cNvPr id="7" name="Text 5"/>
          <p:cNvSpPr/>
          <p:nvPr/>
        </p:nvSpPr>
        <p:spPr>
          <a:xfrm>
            <a:off x="658368" y="219456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S1 · lịch sử tự sinh</a:t>
            </a:r>
            <a:endParaRPr lang="en-US" sz="1250" dirty="0"/>
          </a:p>
        </p:txBody>
      </p:sp>
      <p:sp>
        <p:nvSpPr>
          <p:cNvPr id="8" name="Text 6"/>
          <p:cNvSpPr/>
          <p:nvPr/>
        </p:nvSpPr>
        <p:spPr>
          <a:xfrm>
            <a:off x="3456432" y="166420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56,44%</a:t>
            </a:r>
            <a:endParaRPr lang="en-US" sz="2400" dirty="0"/>
          </a:p>
        </p:txBody>
      </p:sp>
      <p:sp>
        <p:nvSpPr>
          <p:cNvPr id="9" name="Text 7"/>
          <p:cNvSpPr/>
          <p:nvPr/>
        </p:nvSpPr>
        <p:spPr>
          <a:xfrm>
            <a:off x="3456432" y="219456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GRPO-SPICE · lịch sử tự sinh</a:t>
            </a:r>
            <a:endParaRPr lang="en-US" sz="1250" dirty="0"/>
          </a:p>
        </p:txBody>
      </p:sp>
      <p:sp>
        <p:nvSpPr>
          <p:cNvPr id="10" name="Text 8"/>
          <p:cNvSpPr/>
          <p:nvPr/>
        </p:nvSpPr>
        <p:spPr>
          <a:xfrm>
            <a:off x="6245352" y="166420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+1,48</a:t>
            </a:r>
            <a:endParaRPr lang="en-US" sz="2400" dirty="0"/>
          </a:p>
        </p:txBody>
      </p:sp>
      <p:sp>
        <p:nvSpPr>
          <p:cNvPr id="11" name="Text 9"/>
          <p:cNvSpPr/>
          <p:nvPr/>
        </p:nvSpPr>
        <p:spPr>
          <a:xfrm>
            <a:off x="6245352" y="219456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GRPO-SPICE − S1</a:t>
            </a:r>
            <a:endParaRPr lang="en-US" sz="1250" dirty="0"/>
          </a:p>
        </p:txBody>
      </p:sp>
      <p:sp>
        <p:nvSpPr>
          <p:cNvPr id="12" name="Shape 10"/>
          <p:cNvSpPr/>
          <p:nvPr/>
        </p:nvSpPr>
        <p:spPr>
          <a:xfrm>
            <a:off x="502920" y="3154680"/>
            <a:ext cx="8138160" cy="1261872"/>
          </a:xfrm>
          <a:prstGeom prst="roundRect">
            <a:avLst/>
          </a:prstGeom>
          <a:solidFill>
            <a:srgbClr val="F3F2F5"/>
          </a:solidFill>
          <a:ln w="12700">
            <a:solidFill>
              <a:srgbClr val="4F417A"/>
            </a:solidFill>
            <a:prstDash val="solid"/>
          </a:ln>
        </p:spPr>
      </p:sp>
      <p:sp>
        <p:nvSpPr>
          <p:cNvPr id="13" name="Text 11"/>
          <p:cNvSpPr/>
          <p:nvPr/>
        </p:nvSpPr>
        <p:spPr>
          <a:xfrm>
            <a:off x="704088" y="3383280"/>
            <a:ext cx="7726680" cy="365760"/>
          </a:xfrm>
          <a:prstGeom prst="rect">
            <a:avLst/>
          </a:prstGeom>
          <a:noFill/>
          <a:ln/>
        </p:spPr>
        <p:txBody>
          <a:bodyPr wrap="square" lIns="0" tIns="0" rIns="0" bIns="0" rtlCol="0" anchor="ctr"/>
          <a:lstStyle/>
          <a:p>
            <a:pPr algn="ctr" indent="0" marL="0">
              <a:lnSpc>
                <a:spcPct val="125000"/>
              </a:lnSpc>
              <a:buNone/>
            </a:pPr>
            <a:r>
              <a:rPr lang="en-US" sz="1800" b="1" dirty="0">
                <a:solidFill>
                  <a:srgbClr val="25194B"/>
                </a:solidFill>
                <a:latin typeface="Cambria" pitchFamily="34" charset="0"/>
                <a:ea typeface="Cambria" pitchFamily="34" charset="-122"/>
                <a:cs typeface="Cambria" pitchFamily="34" charset="-120"/>
              </a:rPr>
              <a:t>KTC 95% của chênh lệch: [+0,54; +2,43]</a:t>
            </a:r>
            <a:endParaRPr lang="en-US" sz="1800" dirty="0"/>
          </a:p>
        </p:txBody>
      </p:sp>
      <p:sp>
        <p:nvSpPr>
          <p:cNvPr id="14" name="Text 12"/>
          <p:cNvSpPr/>
          <p:nvPr/>
        </p:nvSpPr>
        <p:spPr>
          <a:xfrm>
            <a:off x="777240" y="3858768"/>
            <a:ext cx="7589520" cy="329184"/>
          </a:xfrm>
          <a:prstGeom prst="rect">
            <a:avLst/>
          </a:prstGeom>
          <a:noFill/>
          <a:ln/>
        </p:spPr>
        <p:txBody>
          <a:bodyPr wrap="square" lIns="0" tIns="0" rIns="0" bIns="0" rtlCol="0" anchor="ctr">
            <a:normAutofit/>
          </a:bodyPr>
          <a:lstStyle/>
          <a:p>
            <a:pPr algn="ctr" indent="0" marL="0">
              <a:lnSpc>
                <a:spcPct val="125000"/>
              </a:lnSpc>
              <a:buNone/>
            </a:pPr>
            <a:endParaRPr lang="en-US" sz="1330" dirty="0"/>
          </a:p>
        </p:txBody>
      </p:sp>
      <p:sp>
        <p:nvSpPr>
          <p:cNvPr id="15" name="Text 13"/>
          <p:cNvSpPr/>
          <p:nvPr/>
        </p:nvSpPr>
        <p:spPr>
          <a:xfrm>
            <a:off x="502920" y="5074920"/>
            <a:ext cx="8138160" cy="475488"/>
          </a:xfrm>
          <a:prstGeom prst="rect">
            <a:avLst/>
          </a:prstGeom>
          <a:noFill/>
          <a:ln/>
        </p:spPr>
        <p:txBody>
          <a:bodyPr wrap="square" lIns="0" tIns="0" rIns="0" bIns="0" rtlCol="0" anchor="ctr"/>
          <a:lstStyle/>
          <a:p>
            <a:pPr algn="ctr" indent="0" marL="0">
              <a:lnSpc>
                <a:spcPct val="125000"/>
              </a:lnSpc>
              <a:buNone/>
            </a:pPr>
            <a:r>
              <a:rPr lang="en-US" sz="1450" b="1" dirty="0">
                <a:solidFill>
                  <a:srgbClr val="25194B"/>
                </a:solidFill>
                <a:latin typeface="Cambria" pitchFamily="34" charset="0"/>
                <a:ea typeface="Cambria" pitchFamily="34" charset="-122"/>
                <a:cs typeface="Cambria" pitchFamily="34" charset="-120"/>
              </a:rPr>
              <a:t>Ưu thế của GRPO-SPICE vẫn được giữ khi lịch sử không còn là câu chuẩn.</a:t>
            </a:r>
            <a:endParaRPr lang="en-US" sz="1450" dirty="0"/>
          </a:p>
        </p:txBody>
      </p:sp>
      <p:sp>
        <p:nvSpPr>
          <p:cNvPr id="16" name="Text 14"/>
          <p:cNvSpPr/>
          <p:nvPr/>
        </p:nvSpPr>
        <p:spPr>
          <a:xfrm>
            <a:off x="502920" y="6327648"/>
            <a:ext cx="8138160" cy="137160"/>
          </a:xfrm>
          <a:prstGeom prst="rect">
            <a:avLst/>
          </a:prstGeom>
          <a:noFill/>
          <a:ln/>
        </p:spPr>
        <p:txBody>
          <a:bodyPr wrap="square" lIns="0" tIns="0" rIns="0" bIns="0" rtlCol="0" anchor="ctr"/>
          <a:lstStyle/>
          <a:p>
            <a:pPr algn="r" indent="0" marL="0">
              <a:lnSpc>
                <a:spcPct val="125000"/>
              </a:lnSpc>
              <a:buNone/>
            </a:pPr>
            <a:r>
              <a:rPr lang="en-US" sz="800" i="1" dirty="0">
                <a:solidFill>
                  <a:srgbClr val="5A5A66"/>
                </a:solidFill>
                <a:latin typeface="Cambria" pitchFamily="34" charset="0"/>
                <a:ea typeface="Cambria" pitchFamily="34" charset="-122"/>
                <a:cs typeface="Cambria" pitchFamily="34" charset="-120"/>
              </a:rPr>
              <a:t>Luận văn §6.8 · lịch sử tự sinh</a:t>
            </a:r>
            <a:endParaRPr lang="en-US" sz="800" dirty="0"/>
          </a:p>
        </p:txBody>
      </p:sp>
      <p:sp>
        <p:nvSpPr>
          <p:cNvPr id="17" name="Shape 15"/>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8" name="Shape 16"/>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9" name="Shape 17"/>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0" name="Shape 18"/>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1" name="Text 19"/>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2" name="Text 20"/>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3" name="Text 21"/>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4" name="Text 22"/>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18/25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02920" y="603504"/>
            <a:ext cx="8138160" cy="219456"/>
          </a:xfrm>
          <a:prstGeom prst="rect">
            <a:avLst/>
          </a:prstGeom>
          <a:noFill/>
          <a:ln/>
        </p:spPr>
        <p:txBody>
          <a:bodyPr wrap="square" lIns="0" tIns="0" rIns="0" bIns="0" rtlCol="0" anchor="ctr">
            <a:normAutofit/>
          </a:bodyPr>
          <a:lstStyle/>
          <a:p>
            <a:pPr indent="0" marL="0">
              <a:lnSpc>
                <a:spcPct val="125000"/>
              </a:lnSpc>
              <a:buNone/>
            </a:pPr>
            <a:r>
              <a:rPr lang="en-US" sz="1260" b="1" dirty="0">
                <a:solidFill>
                  <a:srgbClr val="25194B"/>
                </a:solidFill>
                <a:latin typeface="Cambria" pitchFamily="34" charset="0"/>
                <a:ea typeface="Cambria" pitchFamily="34" charset="-122"/>
                <a:cs typeface="Cambria" pitchFamily="34" charset="-120"/>
              </a:rPr>
              <a:t>Chuyển miền sang AitZ</a:t>
            </a:r>
            <a:endParaRPr lang="en-US" sz="1260" dirty="0"/>
          </a:p>
        </p:txBody>
      </p:sp>
      <p:sp>
        <p:nvSpPr>
          <p:cNvPr id="5" name="Text 3"/>
          <p:cNvSpPr/>
          <p:nvPr/>
        </p:nvSpPr>
        <p:spPr>
          <a:xfrm>
            <a:off x="502920" y="877824"/>
            <a:ext cx="8138160" cy="512064"/>
          </a:xfrm>
          <a:prstGeom prst="rect">
            <a:avLst/>
          </a:prstGeom>
          <a:noFill/>
          <a:ln/>
        </p:spPr>
        <p:txBody>
          <a:bodyPr wrap="square" lIns="0" tIns="0" rIns="0" bIns="0" rtlCol="0" anchor="ctr">
            <a:normAutofit/>
          </a:bodyPr>
          <a:lstStyle/>
          <a:p>
            <a:pPr algn="ctr" indent="0" marL="0">
              <a:lnSpc>
                <a:spcPct val="125000"/>
              </a:lnSpc>
              <a:buNone/>
            </a:pPr>
            <a:r>
              <a:rPr lang="en-US" sz="1550" b="1" dirty="0">
                <a:solidFill>
                  <a:srgbClr val="25194B"/>
                </a:solidFill>
                <a:latin typeface="Cambria" pitchFamily="34" charset="0"/>
                <a:ea typeface="Cambria" pitchFamily="34" charset="-122"/>
                <a:cs typeface="Cambria" pitchFamily="34" charset="-120"/>
              </a:rPr>
              <a:t>AitZ dùng phân phối câu chuẩn khác AndroidControl để kiểm tra khả năng chuyển miền.</a:t>
            </a:r>
            <a:endParaRPr lang="en-US" sz="1550" dirty="0"/>
          </a:p>
        </p:txBody>
      </p:sp>
      <p:sp>
        <p:nvSpPr>
          <p:cNvPr id="6" name="Text 4"/>
          <p:cNvSpPr/>
          <p:nvPr/>
        </p:nvSpPr>
        <p:spPr>
          <a:xfrm>
            <a:off x="658368" y="157276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34,50%</a:t>
            </a:r>
            <a:endParaRPr lang="en-US" sz="2400" dirty="0"/>
          </a:p>
        </p:txBody>
      </p:sp>
      <p:sp>
        <p:nvSpPr>
          <p:cNvPr id="7" name="Text 5"/>
          <p:cNvSpPr/>
          <p:nvPr/>
        </p:nvSpPr>
        <p:spPr>
          <a:xfrm>
            <a:off x="658368" y="210312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Base</a:t>
            </a:r>
            <a:endParaRPr lang="en-US" sz="1250" dirty="0"/>
          </a:p>
        </p:txBody>
      </p:sp>
      <p:sp>
        <p:nvSpPr>
          <p:cNvPr id="8" name="Text 6"/>
          <p:cNvSpPr/>
          <p:nvPr/>
        </p:nvSpPr>
        <p:spPr>
          <a:xfrm>
            <a:off x="3456432" y="157276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37,79%</a:t>
            </a:r>
            <a:endParaRPr lang="en-US" sz="2400" dirty="0"/>
          </a:p>
        </p:txBody>
      </p:sp>
      <p:sp>
        <p:nvSpPr>
          <p:cNvPr id="9" name="Text 7"/>
          <p:cNvSpPr/>
          <p:nvPr/>
        </p:nvSpPr>
        <p:spPr>
          <a:xfrm>
            <a:off x="3456432" y="210312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S1</a:t>
            </a:r>
            <a:endParaRPr lang="en-US" sz="1250" dirty="0"/>
          </a:p>
        </p:txBody>
      </p:sp>
      <p:sp>
        <p:nvSpPr>
          <p:cNvPr id="10" name="Text 8"/>
          <p:cNvSpPr/>
          <p:nvPr/>
        </p:nvSpPr>
        <p:spPr>
          <a:xfrm>
            <a:off x="6245352" y="157276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37,28%</a:t>
            </a:r>
            <a:endParaRPr lang="en-US" sz="2400" dirty="0"/>
          </a:p>
        </p:txBody>
      </p:sp>
      <p:sp>
        <p:nvSpPr>
          <p:cNvPr id="11" name="Text 9"/>
          <p:cNvSpPr/>
          <p:nvPr/>
        </p:nvSpPr>
        <p:spPr>
          <a:xfrm>
            <a:off x="6245352" y="210312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GRPO-SPICE</a:t>
            </a:r>
            <a:endParaRPr lang="en-US" sz="1250" dirty="0"/>
          </a:p>
        </p:txBody>
      </p:sp>
      <p:sp>
        <p:nvSpPr>
          <p:cNvPr id="12" name="Shape 10"/>
          <p:cNvSpPr/>
          <p:nvPr/>
        </p:nvSpPr>
        <p:spPr>
          <a:xfrm>
            <a:off x="502920" y="2971800"/>
            <a:ext cx="3822192" cy="1353312"/>
          </a:xfrm>
          <a:prstGeom prst="roundRect">
            <a:avLst/>
          </a:prstGeom>
          <a:solidFill>
            <a:srgbClr val="F3F2F5"/>
          </a:solidFill>
          <a:ln w="12700">
            <a:solidFill>
              <a:srgbClr val="25194B"/>
            </a:solidFill>
            <a:prstDash val="solid"/>
          </a:ln>
        </p:spPr>
      </p:sp>
      <p:sp>
        <p:nvSpPr>
          <p:cNvPr id="13" name="Text 11"/>
          <p:cNvSpPr/>
          <p:nvPr/>
        </p:nvSpPr>
        <p:spPr>
          <a:xfrm>
            <a:off x="667512" y="3182112"/>
            <a:ext cx="3493008" cy="310896"/>
          </a:xfrm>
          <a:prstGeom prst="rect">
            <a:avLst/>
          </a:prstGeom>
          <a:noFill/>
          <a:ln/>
        </p:spPr>
        <p:txBody>
          <a:bodyPr wrap="square" lIns="0" tIns="0" rIns="0" bIns="0" rtlCol="0" anchor="ctr"/>
          <a:lstStyle/>
          <a:p>
            <a:pPr algn="ctr" indent="0" marL="0">
              <a:lnSpc>
                <a:spcPct val="125000"/>
              </a:lnSpc>
              <a:buNone/>
            </a:pPr>
            <a:r>
              <a:rPr lang="en-US" sz="1450" b="1" dirty="0">
                <a:solidFill>
                  <a:srgbClr val="25194B"/>
                </a:solidFill>
                <a:latin typeface="Cambria" pitchFamily="34" charset="0"/>
                <a:ea typeface="Cambria" pitchFamily="34" charset="-122"/>
                <a:cs typeface="Cambria" pitchFamily="34" charset="-120"/>
              </a:rPr>
              <a:t>S1 − Base</a:t>
            </a:r>
            <a:endParaRPr lang="en-US" sz="1450" dirty="0"/>
          </a:p>
        </p:txBody>
      </p:sp>
      <p:sp>
        <p:nvSpPr>
          <p:cNvPr id="14" name="Text 12"/>
          <p:cNvSpPr/>
          <p:nvPr/>
        </p:nvSpPr>
        <p:spPr>
          <a:xfrm>
            <a:off x="667512" y="3584448"/>
            <a:ext cx="3493008" cy="384048"/>
          </a:xfrm>
          <a:prstGeom prst="rect">
            <a:avLst/>
          </a:prstGeom>
          <a:noFill/>
          <a:ln/>
        </p:spPr>
        <p:txBody>
          <a:bodyPr wrap="square" lIns="0" tIns="0" rIns="0" bIns="0" rtlCol="0" anchor="ctr"/>
          <a:lstStyle/>
          <a:p>
            <a:pPr algn="ctr" indent="0" marL="0">
              <a:lnSpc>
                <a:spcPct val="125000"/>
              </a:lnSpc>
              <a:buNone/>
            </a:pPr>
            <a:r>
              <a:rPr lang="en-US" sz="1900" b="1" dirty="0">
                <a:solidFill>
                  <a:srgbClr val="25194B"/>
                </a:solidFill>
                <a:latin typeface="Cambria" pitchFamily="34" charset="0"/>
                <a:ea typeface="Cambria" pitchFamily="34" charset="-122"/>
                <a:cs typeface="Cambria" pitchFamily="34" charset="-120"/>
              </a:rPr>
              <a:t>+3,29  [+1,51; +5,03]</a:t>
            </a:r>
            <a:endParaRPr lang="en-US" sz="1900" dirty="0"/>
          </a:p>
        </p:txBody>
      </p:sp>
      <p:sp>
        <p:nvSpPr>
          <p:cNvPr id="15" name="Shape 13"/>
          <p:cNvSpPr/>
          <p:nvPr/>
        </p:nvSpPr>
        <p:spPr>
          <a:xfrm>
            <a:off x="4818888" y="2971800"/>
            <a:ext cx="3822192" cy="1353312"/>
          </a:xfrm>
          <a:prstGeom prst="roundRect">
            <a:avLst/>
          </a:prstGeom>
          <a:solidFill>
            <a:srgbClr val="F3F2F5"/>
          </a:solidFill>
          <a:ln w="12700">
            <a:solidFill>
              <a:srgbClr val="7A7099"/>
            </a:solidFill>
            <a:prstDash val="solid"/>
          </a:ln>
        </p:spPr>
      </p:sp>
      <p:sp>
        <p:nvSpPr>
          <p:cNvPr id="16" name="Text 14"/>
          <p:cNvSpPr/>
          <p:nvPr/>
        </p:nvSpPr>
        <p:spPr>
          <a:xfrm>
            <a:off x="4983480" y="3182112"/>
            <a:ext cx="3493008" cy="310896"/>
          </a:xfrm>
          <a:prstGeom prst="rect">
            <a:avLst/>
          </a:prstGeom>
          <a:noFill/>
          <a:ln/>
        </p:spPr>
        <p:txBody>
          <a:bodyPr wrap="square" lIns="0" tIns="0" rIns="0" bIns="0" rtlCol="0" anchor="ctr"/>
          <a:lstStyle/>
          <a:p>
            <a:pPr algn="ctr" indent="0" marL="0">
              <a:lnSpc>
                <a:spcPct val="125000"/>
              </a:lnSpc>
              <a:buNone/>
            </a:pPr>
            <a:r>
              <a:rPr lang="en-US" sz="1450" b="1" dirty="0">
                <a:solidFill>
                  <a:srgbClr val="25194B"/>
                </a:solidFill>
                <a:latin typeface="Cambria" pitchFamily="34" charset="0"/>
                <a:ea typeface="Cambria" pitchFamily="34" charset="-122"/>
                <a:cs typeface="Cambria" pitchFamily="34" charset="-120"/>
              </a:rPr>
              <a:t>GRPO-SPICE − S1</a:t>
            </a:r>
            <a:endParaRPr lang="en-US" sz="1450" dirty="0"/>
          </a:p>
        </p:txBody>
      </p:sp>
      <p:sp>
        <p:nvSpPr>
          <p:cNvPr id="17" name="Text 15"/>
          <p:cNvSpPr/>
          <p:nvPr/>
        </p:nvSpPr>
        <p:spPr>
          <a:xfrm>
            <a:off x="4983480" y="3584448"/>
            <a:ext cx="3493008" cy="384048"/>
          </a:xfrm>
          <a:prstGeom prst="rect">
            <a:avLst/>
          </a:prstGeom>
          <a:noFill/>
          <a:ln/>
        </p:spPr>
        <p:txBody>
          <a:bodyPr wrap="square" lIns="0" tIns="0" rIns="0" bIns="0" rtlCol="0" anchor="ctr"/>
          <a:lstStyle/>
          <a:p>
            <a:pPr algn="ctr" indent="0" marL="0">
              <a:lnSpc>
                <a:spcPct val="125000"/>
              </a:lnSpc>
              <a:buNone/>
            </a:pPr>
            <a:r>
              <a:rPr lang="en-US" sz="1900" b="1" dirty="0">
                <a:solidFill>
                  <a:srgbClr val="7A7099"/>
                </a:solidFill>
                <a:latin typeface="Cambria" pitchFamily="34" charset="0"/>
                <a:ea typeface="Cambria" pitchFamily="34" charset="-122"/>
                <a:cs typeface="Cambria" pitchFamily="34" charset="-120"/>
              </a:rPr>
              <a:t>−0,51  [−1,39; +0,36]</a:t>
            </a:r>
            <a:endParaRPr lang="en-US" sz="1900" dirty="0"/>
          </a:p>
        </p:txBody>
      </p:sp>
      <p:sp>
        <p:nvSpPr>
          <p:cNvPr id="18" name="Text 16"/>
          <p:cNvSpPr/>
          <p:nvPr/>
        </p:nvSpPr>
        <p:spPr>
          <a:xfrm>
            <a:off x="502920" y="4736592"/>
            <a:ext cx="8138160" cy="475488"/>
          </a:xfrm>
          <a:prstGeom prst="rect">
            <a:avLst/>
          </a:prstGeom>
          <a:noFill/>
          <a:ln/>
        </p:spPr>
        <p:txBody>
          <a:bodyPr wrap="square" lIns="0" tIns="0" rIns="0" bIns="0" rtlCol="0" anchor="ctr">
            <a:normAutofit/>
          </a:bodyPr>
          <a:lstStyle/>
          <a:p>
            <a:pPr algn="ctr" indent="0" marL="0">
              <a:lnSpc>
                <a:spcPct val="125000"/>
              </a:lnSpc>
              <a:buNone/>
            </a:pPr>
            <a:endParaRPr lang="en-US" sz="1370" dirty="0"/>
          </a:p>
        </p:txBody>
      </p:sp>
      <p:sp>
        <p:nvSpPr>
          <p:cNvPr id="19" name="Text 17"/>
          <p:cNvSpPr/>
          <p:nvPr/>
        </p:nvSpPr>
        <p:spPr>
          <a:xfrm>
            <a:off x="502920" y="5349240"/>
            <a:ext cx="8138160" cy="438912"/>
          </a:xfrm>
          <a:prstGeom prst="rect">
            <a:avLst/>
          </a:prstGeom>
          <a:noFill/>
          <a:ln/>
        </p:spPr>
        <p:txBody>
          <a:bodyPr wrap="square" lIns="0" tIns="0" rIns="0" bIns="0" rtlCol="0" anchor="ctr"/>
          <a:lstStyle/>
          <a:p>
            <a:pPr algn="ctr" indent="0" marL="0">
              <a:lnSpc>
                <a:spcPct val="125000"/>
              </a:lnSpc>
              <a:buNone/>
            </a:pPr>
            <a:r>
              <a:rPr lang="en-US" sz="1500" b="1" dirty="0">
                <a:solidFill>
                  <a:srgbClr val="25194B"/>
                </a:solidFill>
                <a:latin typeface="Cambria" pitchFamily="34" charset="0"/>
                <a:ea typeface="Cambria" pitchFamily="34" charset="-122"/>
                <a:cs typeface="Cambria" pitchFamily="34" charset="-120"/>
              </a:rPr>
              <a:t>Trên AitZ, S1 vẫn chuyển miền tốt nhưng GRPO-SPICE không còn hơn rõ S1.</a:t>
            </a:r>
            <a:endParaRPr lang="en-US" sz="1500" dirty="0"/>
          </a:p>
        </p:txBody>
      </p:sp>
      <p:sp>
        <p:nvSpPr>
          <p:cNvPr id="20" name="Text 18"/>
          <p:cNvSpPr/>
          <p:nvPr/>
        </p:nvSpPr>
        <p:spPr>
          <a:xfrm>
            <a:off x="502920" y="6327648"/>
            <a:ext cx="8138160" cy="137160"/>
          </a:xfrm>
          <a:prstGeom prst="rect">
            <a:avLst/>
          </a:prstGeom>
          <a:noFill/>
          <a:ln/>
        </p:spPr>
        <p:txBody>
          <a:bodyPr wrap="square" lIns="0" tIns="0" rIns="0" bIns="0" rtlCol="0" anchor="ctr"/>
          <a:lstStyle/>
          <a:p>
            <a:pPr algn="r" indent="0" marL="0">
              <a:lnSpc>
                <a:spcPct val="125000"/>
              </a:lnSpc>
              <a:buNone/>
            </a:pPr>
            <a:r>
              <a:rPr lang="en-US" sz="800" i="1" dirty="0">
                <a:solidFill>
                  <a:srgbClr val="5A5A66"/>
                </a:solidFill>
                <a:latin typeface="Cambria" pitchFamily="34" charset="0"/>
                <a:ea typeface="Cambria" pitchFamily="34" charset="-122"/>
                <a:cs typeface="Cambria" pitchFamily="34" charset="-120"/>
              </a:rPr>
              <a:t>Luận văn §6.8 · AitZ</a:t>
            </a:r>
            <a:endParaRPr lang="en-US" sz="800" dirty="0"/>
          </a:p>
        </p:txBody>
      </p:sp>
      <p:sp>
        <p:nvSpPr>
          <p:cNvPr id="21" name="Shape 19"/>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2" name="Shape 20"/>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3" name="Shape 21"/>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4" name="Shape 22"/>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5" name="Text 23"/>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6" name="Text 24"/>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7" name="Text 25"/>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8" name="Text 26"/>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19/25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02920" y="603504"/>
            <a:ext cx="8138160" cy="219456"/>
          </a:xfrm>
          <a:prstGeom prst="rect">
            <a:avLst/>
          </a:prstGeom>
          <a:noFill/>
          <a:ln/>
        </p:spPr>
        <p:txBody>
          <a:bodyPr wrap="square" lIns="0" tIns="0" rIns="0" bIns="0" rtlCol="0" anchor="ctr">
            <a:normAutofit/>
          </a:bodyPr>
          <a:lstStyle/>
          <a:p>
            <a:pPr indent="0" marL="0">
              <a:lnSpc>
                <a:spcPct val="125000"/>
              </a:lnSpc>
              <a:buNone/>
            </a:pPr>
            <a:r>
              <a:rPr lang="en-US" sz="1260" b="1" dirty="0">
                <a:solidFill>
                  <a:srgbClr val="25194B"/>
                </a:solidFill>
                <a:latin typeface="Cambria" pitchFamily="34" charset="0"/>
                <a:ea typeface="Cambria" pitchFamily="34" charset="-122"/>
                <a:cs typeface="Cambria" pitchFamily="34" charset="-120"/>
              </a:rPr>
              <a:t>Ví dụ định tính</a:t>
            </a:r>
            <a:endParaRPr lang="en-US" sz="1260" dirty="0"/>
          </a:p>
        </p:txBody>
      </p:sp>
      <p:pic>
        <p:nvPicPr>
          <p:cNvPr id="5" name="Image 0" descr="/mnt/d/Master/Thesis/thesis/figures/fig_vidu_spice.png">    </p:cNvPr>
          <p:cNvPicPr>
            <a:picLocks noChangeAspect="1"/>
          </p:cNvPicPr>
          <p:nvPr/>
        </p:nvPicPr>
        <p:blipFill>
          <a:blip r:embed="rId1"/>
          <a:stretch>
            <a:fillRect/>
          </a:stretch>
        </p:blipFill>
        <p:spPr>
          <a:xfrm>
            <a:off x="594360" y="868680"/>
            <a:ext cx="3886200" cy="4489704"/>
          </a:xfrm>
          <a:prstGeom prst="rect">
            <a:avLst/>
          </a:prstGeom>
        </p:spPr>
      </p:pic>
      <p:sp>
        <p:nvSpPr>
          <p:cNvPr id="6" name="Text 3"/>
          <p:cNvSpPr/>
          <p:nvPr/>
        </p:nvSpPr>
        <p:spPr>
          <a:xfrm>
            <a:off x="4828032" y="987552"/>
            <a:ext cx="3611880" cy="310896"/>
          </a:xfrm>
          <a:prstGeom prst="rect">
            <a:avLst/>
          </a:prstGeom>
          <a:noFill/>
          <a:ln/>
        </p:spPr>
        <p:txBody>
          <a:bodyPr wrap="square" lIns="0" tIns="0" rIns="0" bIns="0" rtlCol="0" anchor="ctr"/>
          <a:lstStyle/>
          <a:p>
            <a:pPr algn="ctr" indent="0" marL="0">
              <a:lnSpc>
                <a:spcPct val="125000"/>
              </a:lnSpc>
              <a:buNone/>
            </a:pPr>
            <a:r>
              <a:rPr lang="en-US" sz="1550" b="1" dirty="0">
                <a:solidFill>
                  <a:srgbClr val="25194B"/>
                </a:solidFill>
                <a:latin typeface="Cambria" pitchFamily="34" charset="0"/>
                <a:ea typeface="Cambria" pitchFamily="34" charset="-122"/>
                <a:cs typeface="Cambria" pitchFamily="34" charset="-120"/>
              </a:rPr>
              <a:t>Bước cần thực hiện</a:t>
            </a:r>
            <a:endParaRPr lang="en-US" sz="1550" dirty="0"/>
          </a:p>
        </p:txBody>
      </p:sp>
      <p:sp>
        <p:nvSpPr>
          <p:cNvPr id="7" name="Shape 4"/>
          <p:cNvSpPr/>
          <p:nvPr/>
        </p:nvSpPr>
        <p:spPr>
          <a:xfrm>
            <a:off x="4983480" y="1389888"/>
            <a:ext cx="3310128" cy="658368"/>
          </a:xfrm>
          <a:prstGeom prst="roundRect">
            <a:avLst/>
          </a:prstGeom>
          <a:solidFill>
            <a:srgbClr val="F3F2F5"/>
          </a:solidFill>
          <a:ln w="12700">
            <a:solidFill>
              <a:srgbClr val="25194B"/>
            </a:solidFill>
            <a:prstDash val="solid"/>
          </a:ln>
        </p:spPr>
      </p:sp>
      <p:sp>
        <p:nvSpPr>
          <p:cNvPr id="8" name="Text 5"/>
          <p:cNvSpPr/>
          <p:nvPr/>
        </p:nvSpPr>
        <p:spPr>
          <a:xfrm>
            <a:off x="4983480" y="1389888"/>
            <a:ext cx="3310128" cy="658368"/>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Chạm nút “Not now”</a:t>
            </a:r>
            <a:endParaRPr lang="en-US" sz="1600" dirty="0"/>
          </a:p>
        </p:txBody>
      </p:sp>
      <p:sp>
        <p:nvSpPr>
          <p:cNvPr id="9" name="Text 6"/>
          <p:cNvSpPr/>
          <p:nvPr/>
        </p:nvSpPr>
        <p:spPr>
          <a:xfrm>
            <a:off x="4828032" y="2468880"/>
            <a:ext cx="3611880" cy="292608"/>
          </a:xfrm>
          <a:prstGeom prst="rect">
            <a:avLst/>
          </a:prstGeom>
          <a:noFill/>
          <a:ln/>
        </p:spPr>
        <p:txBody>
          <a:bodyPr wrap="square" lIns="0" tIns="0" rIns="0" bIns="0" rtlCol="0" anchor="ctr"/>
          <a:lstStyle/>
          <a:p>
            <a:pPr algn="ctr" indent="0" marL="0">
              <a:lnSpc>
                <a:spcPct val="125000"/>
              </a:lnSpc>
              <a:buNone/>
            </a:pPr>
            <a:r>
              <a:rPr lang="en-US" sz="1550" b="1" dirty="0">
                <a:solidFill>
                  <a:srgbClr val="7A7099"/>
                </a:solidFill>
                <a:latin typeface="Cambria" pitchFamily="34" charset="0"/>
                <a:ea typeface="Cambria" pitchFamily="34" charset="-122"/>
                <a:cs typeface="Cambria" pitchFamily="34" charset="-120"/>
              </a:rPr>
              <a:t>S1</a:t>
            </a:r>
            <a:endParaRPr lang="en-US" sz="1550" dirty="0"/>
          </a:p>
        </p:txBody>
      </p:sp>
      <p:sp>
        <p:nvSpPr>
          <p:cNvPr id="10" name="Shape 7"/>
          <p:cNvSpPr/>
          <p:nvPr/>
        </p:nvSpPr>
        <p:spPr>
          <a:xfrm>
            <a:off x="4983480" y="2816352"/>
            <a:ext cx="3310128" cy="841248"/>
          </a:xfrm>
          <a:prstGeom prst="roundRect">
            <a:avLst/>
          </a:prstGeom>
          <a:solidFill>
            <a:srgbClr val="FFFFFF"/>
          </a:solidFill>
          <a:ln w="12700">
            <a:solidFill>
              <a:srgbClr val="7A7099"/>
            </a:solidFill>
            <a:prstDash val="solid"/>
          </a:ln>
        </p:spPr>
      </p:sp>
      <p:sp>
        <p:nvSpPr>
          <p:cNvPr id="11" name="Text 8"/>
          <p:cNvSpPr/>
          <p:nvPr/>
        </p:nvSpPr>
        <p:spPr>
          <a:xfrm>
            <a:off x="4983480" y="2816352"/>
            <a:ext cx="3310128" cy="841248"/>
          </a:xfrm>
          <a:prstGeom prst="rect">
            <a:avLst/>
          </a:prstGeom>
          <a:noFill/>
          <a:ln/>
        </p:spPr>
        <p:txBody>
          <a:bodyPr wrap="square" lIns="0" tIns="0" rIns="0" bIns="0" rtlCol="0" anchor="ctr">
            <a:normAutofit/>
          </a:bodyPr>
          <a:lstStyle/>
          <a:p>
            <a:pPr algn="ctr" indent="0" marL="0">
              <a:lnSpc>
                <a:spcPct val="125000"/>
              </a:lnSpc>
              <a:buNone/>
            </a:pPr>
            <a:r>
              <a:rPr lang="en-US" sz="1450" b="1" dirty="0">
                <a:solidFill>
                  <a:srgbClr val="1A1A1A"/>
                </a:solidFill>
                <a:latin typeface="Cambria" pitchFamily="34" charset="0"/>
                <a:ea typeface="Cambria" pitchFamily="34" charset="-122"/>
                <a:cs typeface="Cambria" pitchFamily="34" charset="-120"/>
              </a:rPr>
              <a:t>Gọi nhầm “Allow”</a:t>
            </a:r>
            <a:endParaRPr lang="en-US" sz="1450" dirty="0"/>
          </a:p>
          <a:p>
            <a:pPr algn="ctr" indent="0" marL="0">
              <a:lnSpc>
                <a:spcPct val="125000"/>
              </a:lnSpc>
              <a:buNone/>
            </a:pPr>
            <a:r>
              <a:rPr lang="en-US" sz="1450" b="1" dirty="0">
                <a:solidFill>
                  <a:srgbClr val="1A1A1A"/>
                </a:solidFill>
                <a:latin typeface="Cambria" pitchFamily="34" charset="0"/>
                <a:ea typeface="Cambria" pitchFamily="34" charset="-122"/>
                <a:cs typeface="Cambria" pitchFamily="34" charset="-120"/>
              </a:rPr>
              <a:t>→ định vị sai phần tử</a:t>
            </a:r>
            <a:endParaRPr lang="en-US" sz="1450" dirty="0"/>
          </a:p>
        </p:txBody>
      </p:sp>
      <p:sp>
        <p:nvSpPr>
          <p:cNvPr id="12" name="Text 9"/>
          <p:cNvSpPr/>
          <p:nvPr/>
        </p:nvSpPr>
        <p:spPr>
          <a:xfrm>
            <a:off x="4828032" y="4041648"/>
            <a:ext cx="3611880" cy="292608"/>
          </a:xfrm>
          <a:prstGeom prst="rect">
            <a:avLst/>
          </a:prstGeom>
          <a:noFill/>
          <a:ln/>
        </p:spPr>
        <p:txBody>
          <a:bodyPr wrap="square" lIns="0" tIns="0" rIns="0" bIns="0" rtlCol="0" anchor="ctr"/>
          <a:lstStyle/>
          <a:p>
            <a:pPr algn="ctr" indent="0" marL="0">
              <a:lnSpc>
                <a:spcPct val="125000"/>
              </a:lnSpc>
              <a:buNone/>
            </a:pPr>
            <a:r>
              <a:rPr lang="en-US" sz="1550" b="1" dirty="0">
                <a:solidFill>
                  <a:srgbClr val="4F417A"/>
                </a:solidFill>
                <a:latin typeface="Cambria" pitchFamily="34" charset="0"/>
                <a:ea typeface="Cambria" pitchFamily="34" charset="-122"/>
                <a:cs typeface="Cambria" pitchFamily="34" charset="-120"/>
              </a:rPr>
              <a:t>GRPO-SPICE</a:t>
            </a:r>
            <a:endParaRPr lang="en-US" sz="1550" dirty="0"/>
          </a:p>
        </p:txBody>
      </p:sp>
      <p:sp>
        <p:nvSpPr>
          <p:cNvPr id="13" name="Shape 10"/>
          <p:cNvSpPr/>
          <p:nvPr/>
        </p:nvSpPr>
        <p:spPr>
          <a:xfrm>
            <a:off x="4983480" y="4389120"/>
            <a:ext cx="3310128" cy="841248"/>
          </a:xfrm>
          <a:prstGeom prst="roundRect">
            <a:avLst/>
          </a:prstGeom>
          <a:solidFill>
            <a:srgbClr val="F3F2F5"/>
          </a:solidFill>
          <a:ln w="12700">
            <a:solidFill>
              <a:srgbClr val="4F417A"/>
            </a:solidFill>
            <a:prstDash val="solid"/>
          </a:ln>
        </p:spPr>
      </p:sp>
      <p:sp>
        <p:nvSpPr>
          <p:cNvPr id="14" name="Text 11"/>
          <p:cNvSpPr/>
          <p:nvPr/>
        </p:nvSpPr>
        <p:spPr>
          <a:xfrm>
            <a:off x="4983480" y="4389120"/>
            <a:ext cx="3310128" cy="841248"/>
          </a:xfrm>
          <a:prstGeom prst="rect">
            <a:avLst/>
          </a:prstGeom>
          <a:noFill/>
          <a:ln/>
        </p:spPr>
        <p:txBody>
          <a:bodyPr wrap="square" lIns="0" tIns="0" rIns="0" bIns="0" rtlCol="0" anchor="ctr">
            <a:normAutofit/>
          </a:bodyPr>
          <a:lstStyle/>
          <a:p>
            <a:pPr algn="ctr" indent="0" marL="0">
              <a:lnSpc>
                <a:spcPct val="125000"/>
              </a:lnSpc>
              <a:buNone/>
            </a:pPr>
            <a:r>
              <a:rPr lang="en-US" sz="1450" b="1" dirty="0">
                <a:solidFill>
                  <a:srgbClr val="1A1A1A"/>
                </a:solidFill>
                <a:latin typeface="Cambria" pitchFamily="34" charset="0"/>
                <a:ea typeface="Cambria" pitchFamily="34" charset="-122"/>
                <a:cs typeface="Cambria" pitchFamily="34" charset="-120"/>
              </a:rPr>
              <a:t>Gọi đúng “Not now”</a:t>
            </a:r>
            <a:endParaRPr lang="en-US" sz="1450" dirty="0"/>
          </a:p>
          <a:p>
            <a:pPr algn="ctr" indent="0" marL="0">
              <a:lnSpc>
                <a:spcPct val="125000"/>
              </a:lnSpc>
              <a:buNone/>
            </a:pPr>
            <a:r>
              <a:rPr lang="en-US" sz="1450" b="1" dirty="0">
                <a:solidFill>
                  <a:srgbClr val="1A1A1A"/>
                </a:solidFill>
                <a:latin typeface="Cambria" pitchFamily="34" charset="0"/>
                <a:ea typeface="Cambria" pitchFamily="34" charset="-122"/>
                <a:cs typeface="Cambria" pitchFamily="34" charset="-120"/>
              </a:rPr>
              <a:t>→ định vị đúng phần tử</a:t>
            </a:r>
            <a:endParaRPr lang="en-US" sz="1450" dirty="0"/>
          </a:p>
        </p:txBody>
      </p:sp>
      <p:sp>
        <p:nvSpPr>
          <p:cNvPr id="15" name="Text 12"/>
          <p:cNvSpPr/>
          <p:nvPr/>
        </p:nvSpPr>
        <p:spPr>
          <a:xfrm>
            <a:off x="502920" y="5596128"/>
            <a:ext cx="8138160" cy="438912"/>
          </a:xfrm>
          <a:prstGeom prst="rect">
            <a:avLst/>
          </a:prstGeom>
          <a:noFill/>
          <a:ln/>
        </p:spPr>
        <p:txBody>
          <a:bodyPr wrap="square" lIns="0" tIns="0" rIns="0" bIns="0" rtlCol="0" anchor="ctr">
            <a:normAutofit/>
          </a:bodyPr>
          <a:lstStyle/>
          <a:p>
            <a:pPr algn="ctr" indent="0" marL="0">
              <a:lnSpc>
                <a:spcPct val="125000"/>
              </a:lnSpc>
              <a:buNone/>
            </a:pPr>
            <a:r>
              <a:rPr lang="en-US" sz="1380" b="1" dirty="0">
                <a:solidFill>
                  <a:srgbClr val="25194B"/>
                </a:solidFill>
                <a:latin typeface="Cambria" pitchFamily="34" charset="0"/>
                <a:ea typeface="Cambria" pitchFamily="34" charset="-122"/>
                <a:cs typeface="Cambria" pitchFamily="34" charset="-120"/>
              </a:rPr>
              <a:t>Ví dụ minh họa trực tiếp ý nghĩa của executability: câu chuyển từ quy chiếu sai nút sang đúng nút cần chạm.</a:t>
            </a:r>
            <a:endParaRPr lang="en-US" sz="1380" dirty="0"/>
          </a:p>
        </p:txBody>
      </p:sp>
      <p:sp>
        <p:nvSpPr>
          <p:cNvPr id="16" name="Text 13"/>
          <p:cNvSpPr/>
          <p:nvPr/>
        </p:nvSpPr>
        <p:spPr>
          <a:xfrm>
            <a:off x="502920" y="6327648"/>
            <a:ext cx="8138160" cy="137160"/>
          </a:xfrm>
          <a:prstGeom prst="rect">
            <a:avLst/>
          </a:prstGeom>
          <a:noFill/>
          <a:ln/>
        </p:spPr>
        <p:txBody>
          <a:bodyPr wrap="square" lIns="0" tIns="0" rIns="0" bIns="0" rtlCol="0" anchor="ctr"/>
          <a:lstStyle/>
          <a:p>
            <a:pPr algn="r" indent="0" marL="0">
              <a:lnSpc>
                <a:spcPct val="125000"/>
              </a:lnSpc>
              <a:buNone/>
            </a:pPr>
            <a:r>
              <a:rPr lang="en-US" sz="800" i="1" dirty="0">
                <a:solidFill>
                  <a:srgbClr val="5A5A66"/>
                </a:solidFill>
                <a:latin typeface="Cambria" pitchFamily="34" charset="0"/>
                <a:ea typeface="Cambria" pitchFamily="34" charset="-122"/>
                <a:cs typeface="Cambria" pitchFamily="34" charset="-120"/>
              </a:rPr>
              <a:t>Luận văn Hình 6.1</a:t>
            </a:r>
            <a:endParaRPr lang="en-US" sz="800" dirty="0"/>
          </a:p>
        </p:txBody>
      </p:sp>
      <p:sp>
        <p:nvSpPr>
          <p:cNvPr id="17" name="Shape 14"/>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8" name="Shape 15"/>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9" name="Shape 16"/>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0" name="Shape 17"/>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1" name="Text 18"/>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2" name="Text 19"/>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3" name="Text 20"/>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4" name="Text 21"/>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20/25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02920" y="603504"/>
            <a:ext cx="8138160" cy="219456"/>
          </a:xfrm>
          <a:prstGeom prst="rect">
            <a:avLst/>
          </a:prstGeom>
          <a:noFill/>
          <a:ln/>
        </p:spPr>
        <p:txBody>
          <a:bodyPr wrap="square" lIns="0" tIns="0" rIns="0" bIns="0" rtlCol="0" anchor="ctr">
            <a:normAutofit/>
          </a:bodyPr>
          <a:lstStyle/>
          <a:p>
            <a:pPr indent="0" marL="0">
              <a:lnSpc>
                <a:spcPct val="125000"/>
              </a:lnSpc>
              <a:buNone/>
            </a:pPr>
            <a:r>
              <a:rPr lang="en-US" sz="1260" b="1" dirty="0">
                <a:solidFill>
                  <a:srgbClr val="25194B"/>
                </a:solidFill>
                <a:latin typeface="Cambria" pitchFamily="34" charset="0"/>
                <a:ea typeface="Cambria" pitchFamily="34" charset="-122"/>
                <a:cs typeface="Cambria" pitchFamily="34" charset="-120"/>
              </a:rPr>
              <a:t>Kiểm tra độ ổn định của kết quả</a:t>
            </a:r>
            <a:endParaRPr lang="en-US" sz="1260" dirty="0"/>
          </a:p>
        </p:txBody>
      </p:sp>
      <p:sp>
        <p:nvSpPr>
          <p:cNvPr id="5" name="Shape 3"/>
          <p:cNvSpPr/>
          <p:nvPr/>
        </p:nvSpPr>
        <p:spPr>
          <a:xfrm>
            <a:off x="502920" y="1207008"/>
            <a:ext cx="4023360" cy="1627632"/>
          </a:xfrm>
          <a:prstGeom prst="roundRect">
            <a:avLst/>
          </a:prstGeom>
          <a:solidFill>
            <a:srgbClr val="F3F2F5"/>
          </a:solidFill>
          <a:ln w="12700">
            <a:solidFill>
              <a:srgbClr val="4F417A"/>
            </a:solidFill>
            <a:prstDash val="solid"/>
          </a:ln>
        </p:spPr>
      </p:sp>
      <p:sp>
        <p:nvSpPr>
          <p:cNvPr id="6" name="Text 4"/>
          <p:cNvSpPr/>
          <p:nvPr/>
        </p:nvSpPr>
        <p:spPr>
          <a:xfrm>
            <a:off x="649224" y="1353312"/>
            <a:ext cx="438912" cy="438912"/>
          </a:xfrm>
          <a:prstGeom prst="rect">
            <a:avLst/>
          </a:prstGeom>
          <a:noFill/>
          <a:ln/>
        </p:spPr>
        <p:txBody>
          <a:bodyPr wrap="square" lIns="0" tIns="0" rIns="0" bIns="0" rtlCol="0" anchor="ctr"/>
          <a:lstStyle/>
          <a:p>
            <a:pPr algn="ctr" indent="0" marL="0">
              <a:lnSpc>
                <a:spcPct val="125000"/>
              </a:lnSpc>
              <a:buNone/>
            </a:pPr>
            <a:r>
              <a:rPr lang="en-US" sz="2200" b="1" dirty="0">
                <a:solidFill>
                  <a:srgbClr val="25194B"/>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1161288" y="1371600"/>
            <a:ext cx="3154680" cy="347472"/>
          </a:xfrm>
          <a:prstGeom prst="rect">
            <a:avLst/>
          </a:prstGeom>
          <a:noFill/>
          <a:ln/>
        </p:spPr>
        <p:txBody>
          <a:bodyPr wrap="square" lIns="0" tIns="0" rIns="0" bIns="0" rtlCol="0" anchor="ctr"/>
          <a:lstStyle/>
          <a:p>
            <a:pPr indent="0" marL="0">
              <a:lnSpc>
                <a:spcPct val="125000"/>
              </a:lnSpc>
              <a:buNone/>
            </a:pPr>
            <a:r>
              <a:rPr lang="en-US" sz="1440" b="1" dirty="0">
                <a:solidFill>
                  <a:srgbClr val="25194B"/>
                </a:solidFill>
                <a:latin typeface="Cambria" pitchFamily="34" charset="0"/>
                <a:ea typeface="Cambria" pitchFamily="34" charset="-122"/>
                <a:cs typeface="Cambria" pitchFamily="34" charset="-120"/>
              </a:rPr>
              <a:t>Cùng số bước huấn luyện</a:t>
            </a:r>
            <a:endParaRPr lang="en-US" sz="1440" dirty="0"/>
          </a:p>
        </p:txBody>
      </p:sp>
      <p:sp>
        <p:nvSpPr>
          <p:cNvPr id="8" name="Text 6"/>
          <p:cNvSpPr/>
          <p:nvPr/>
        </p:nvSpPr>
        <p:spPr>
          <a:xfrm>
            <a:off x="1161288" y="1828800"/>
            <a:ext cx="3108960" cy="777240"/>
          </a:xfrm>
          <a:prstGeom prst="rect">
            <a:avLst/>
          </a:prstGeom>
          <a:noFill/>
          <a:ln/>
        </p:spPr>
        <p:txBody>
          <a:bodyPr wrap="square" lIns="0" tIns="0" rIns="0" bIns="0" rtlCol="0" anchor="ctr">
            <a:normAutofit/>
          </a:bodyPr>
          <a:lstStyle/>
          <a:p>
            <a:pPr indent="0" marL="0">
              <a:lnSpc>
                <a:spcPct val="125000"/>
              </a:lnSpc>
              <a:buNone/>
            </a:pPr>
            <a:r>
              <a:rPr lang="en-US" sz="1320" dirty="0">
                <a:solidFill>
                  <a:srgbClr val="1A1A1A"/>
                </a:solidFill>
                <a:latin typeface="Cambria" pitchFamily="34" charset="0"/>
                <a:ea typeface="Cambria" pitchFamily="34" charset="-122"/>
                <a:cs typeface="Cambria" pitchFamily="34" charset="-120"/>
              </a:rPr>
              <a:t>Đối chứng cùng 500 bước vẫn ở mức S1.</a:t>
            </a:r>
            <a:endParaRPr lang="en-US" sz="1320" dirty="0"/>
          </a:p>
        </p:txBody>
      </p:sp>
      <p:sp>
        <p:nvSpPr>
          <p:cNvPr id="9" name="Shape 7"/>
          <p:cNvSpPr/>
          <p:nvPr/>
        </p:nvSpPr>
        <p:spPr>
          <a:xfrm>
            <a:off x="4617720" y="1207008"/>
            <a:ext cx="4023360" cy="1627632"/>
          </a:xfrm>
          <a:prstGeom prst="roundRect">
            <a:avLst/>
          </a:prstGeom>
          <a:solidFill>
            <a:srgbClr val="F3F2F5"/>
          </a:solidFill>
          <a:ln w="12700">
            <a:solidFill>
              <a:srgbClr val="4F417A"/>
            </a:solidFill>
            <a:prstDash val="solid"/>
          </a:ln>
        </p:spPr>
      </p:sp>
      <p:sp>
        <p:nvSpPr>
          <p:cNvPr id="10" name="Text 8"/>
          <p:cNvSpPr/>
          <p:nvPr/>
        </p:nvSpPr>
        <p:spPr>
          <a:xfrm>
            <a:off x="4764024" y="1353312"/>
            <a:ext cx="438912" cy="438912"/>
          </a:xfrm>
          <a:prstGeom prst="rect">
            <a:avLst/>
          </a:prstGeom>
          <a:noFill/>
          <a:ln/>
        </p:spPr>
        <p:txBody>
          <a:bodyPr wrap="square" lIns="0" tIns="0" rIns="0" bIns="0" rtlCol="0" anchor="ctr"/>
          <a:lstStyle/>
          <a:p>
            <a:pPr algn="ctr" indent="0" marL="0">
              <a:lnSpc>
                <a:spcPct val="125000"/>
              </a:lnSpc>
              <a:buNone/>
            </a:pPr>
            <a:r>
              <a:rPr lang="en-US" sz="2200" b="1" dirty="0">
                <a:solidFill>
                  <a:srgbClr val="25194B"/>
                </a:solidFill>
                <a:latin typeface="Cambria" pitchFamily="34" charset="0"/>
                <a:ea typeface="Cambria" pitchFamily="34" charset="-122"/>
                <a:cs typeface="Cambria" pitchFamily="34" charset="-120"/>
              </a:rPr>
              <a:t>2</a:t>
            </a:r>
            <a:endParaRPr lang="en-US" sz="2200" dirty="0"/>
          </a:p>
        </p:txBody>
      </p:sp>
      <p:sp>
        <p:nvSpPr>
          <p:cNvPr id="11" name="Text 9"/>
          <p:cNvSpPr/>
          <p:nvPr/>
        </p:nvSpPr>
        <p:spPr>
          <a:xfrm>
            <a:off x="5276088" y="1371600"/>
            <a:ext cx="3154680" cy="347472"/>
          </a:xfrm>
          <a:prstGeom prst="rect">
            <a:avLst/>
          </a:prstGeom>
          <a:noFill/>
          <a:ln/>
        </p:spPr>
        <p:txBody>
          <a:bodyPr wrap="square" lIns="0" tIns="0" rIns="0" bIns="0" rtlCol="0" anchor="ctr"/>
          <a:lstStyle/>
          <a:p>
            <a:pPr indent="0" marL="0">
              <a:lnSpc>
                <a:spcPct val="125000"/>
              </a:lnSpc>
              <a:buNone/>
            </a:pPr>
            <a:r>
              <a:rPr lang="en-US" sz="1440" b="1" dirty="0">
                <a:solidFill>
                  <a:srgbClr val="25194B"/>
                </a:solidFill>
                <a:latin typeface="Cambria" pitchFamily="34" charset="0"/>
                <a:ea typeface="Cambria" pitchFamily="34" charset="-122"/>
                <a:cs typeface="Cambria" pitchFamily="34" charset="-120"/>
              </a:rPr>
              <a:t>Không chỉ một lượt huấn luyện</a:t>
            </a:r>
            <a:endParaRPr lang="en-US" sz="1440" dirty="0"/>
          </a:p>
        </p:txBody>
      </p:sp>
      <p:sp>
        <p:nvSpPr>
          <p:cNvPr id="12" name="Text 10"/>
          <p:cNvSpPr/>
          <p:nvPr/>
        </p:nvSpPr>
        <p:spPr>
          <a:xfrm>
            <a:off x="5276088" y="1828800"/>
            <a:ext cx="3108960" cy="777240"/>
          </a:xfrm>
          <a:prstGeom prst="rect">
            <a:avLst/>
          </a:prstGeom>
          <a:noFill/>
          <a:ln/>
        </p:spPr>
        <p:txBody>
          <a:bodyPr wrap="square" lIns="0" tIns="0" rIns="0" bIns="0" rtlCol="0" anchor="ctr">
            <a:normAutofit/>
          </a:bodyPr>
          <a:lstStyle/>
          <a:p>
            <a:pPr indent="0" marL="0">
              <a:lnSpc>
                <a:spcPct val="125000"/>
              </a:lnSpc>
              <a:buNone/>
            </a:pPr>
            <a:r>
              <a:rPr lang="en-US" sz="1320" dirty="0">
                <a:solidFill>
                  <a:srgbClr val="1A1A1A"/>
                </a:solidFill>
                <a:latin typeface="Cambria" pitchFamily="34" charset="0"/>
                <a:ea typeface="Cambria" pitchFamily="34" charset="-122"/>
                <a:cs typeface="Cambria" pitchFamily="34" charset="-120"/>
              </a:rPr>
              <a:t>Hai lượt GRPO đều cao hơn S1.</a:t>
            </a:r>
            <a:endParaRPr lang="en-US" sz="1320" dirty="0"/>
          </a:p>
        </p:txBody>
      </p:sp>
      <p:sp>
        <p:nvSpPr>
          <p:cNvPr id="13" name="Shape 11"/>
          <p:cNvSpPr/>
          <p:nvPr/>
        </p:nvSpPr>
        <p:spPr>
          <a:xfrm>
            <a:off x="502920" y="3172968"/>
            <a:ext cx="4023360" cy="1627632"/>
          </a:xfrm>
          <a:prstGeom prst="roundRect">
            <a:avLst/>
          </a:prstGeom>
          <a:solidFill>
            <a:srgbClr val="F3F2F5"/>
          </a:solidFill>
          <a:ln w="12700">
            <a:solidFill>
              <a:srgbClr val="7A7099"/>
            </a:solidFill>
            <a:prstDash val="solid"/>
          </a:ln>
        </p:spPr>
      </p:sp>
      <p:sp>
        <p:nvSpPr>
          <p:cNvPr id="14" name="Text 12"/>
          <p:cNvSpPr/>
          <p:nvPr/>
        </p:nvSpPr>
        <p:spPr>
          <a:xfrm>
            <a:off x="649224" y="3319272"/>
            <a:ext cx="438912" cy="438912"/>
          </a:xfrm>
          <a:prstGeom prst="rect">
            <a:avLst/>
          </a:prstGeom>
          <a:noFill/>
          <a:ln/>
        </p:spPr>
        <p:txBody>
          <a:bodyPr wrap="square" lIns="0" tIns="0" rIns="0" bIns="0" rtlCol="0" anchor="ctr"/>
          <a:lstStyle/>
          <a:p>
            <a:pPr algn="ctr" indent="0" marL="0">
              <a:lnSpc>
                <a:spcPct val="125000"/>
              </a:lnSpc>
              <a:buNone/>
            </a:pPr>
            <a:r>
              <a:rPr lang="en-US" sz="2200" b="1" dirty="0">
                <a:solidFill>
                  <a:srgbClr val="25194B"/>
                </a:solidFill>
                <a:latin typeface="Cambria" pitchFamily="34" charset="0"/>
                <a:ea typeface="Cambria" pitchFamily="34" charset="-122"/>
                <a:cs typeface="Cambria" pitchFamily="34" charset="-120"/>
              </a:rPr>
              <a:t>3</a:t>
            </a:r>
            <a:endParaRPr lang="en-US" sz="2200" dirty="0"/>
          </a:p>
        </p:txBody>
      </p:sp>
      <p:sp>
        <p:nvSpPr>
          <p:cNvPr id="15" name="Text 13"/>
          <p:cNvSpPr/>
          <p:nvPr/>
        </p:nvSpPr>
        <p:spPr>
          <a:xfrm>
            <a:off x="1161288" y="3337560"/>
            <a:ext cx="3154680" cy="347472"/>
          </a:xfrm>
          <a:prstGeom prst="rect">
            <a:avLst/>
          </a:prstGeom>
          <a:noFill/>
          <a:ln/>
        </p:spPr>
        <p:txBody>
          <a:bodyPr wrap="square" lIns="0" tIns="0" rIns="0" bIns="0" rtlCol="0" anchor="ctr"/>
          <a:lstStyle/>
          <a:p>
            <a:pPr indent="0" marL="0">
              <a:lnSpc>
                <a:spcPct val="125000"/>
              </a:lnSpc>
              <a:buNone/>
            </a:pPr>
            <a:r>
              <a:rPr lang="en-US" sz="1440" b="1" dirty="0">
                <a:solidFill>
                  <a:srgbClr val="25194B"/>
                </a:solidFill>
                <a:latin typeface="Cambria" pitchFamily="34" charset="0"/>
                <a:ea typeface="Cambria" pitchFamily="34" charset="-122"/>
                <a:cs typeface="Cambria" pitchFamily="34" charset="-120"/>
              </a:rPr>
              <a:t>Bốn công cụ đánh giá</a:t>
            </a:r>
            <a:endParaRPr lang="en-US" sz="1440" dirty="0"/>
          </a:p>
        </p:txBody>
      </p:sp>
      <p:sp>
        <p:nvSpPr>
          <p:cNvPr id="16" name="Text 14"/>
          <p:cNvSpPr/>
          <p:nvPr/>
        </p:nvSpPr>
        <p:spPr>
          <a:xfrm>
            <a:off x="1161288" y="3794760"/>
            <a:ext cx="3108960" cy="777240"/>
          </a:xfrm>
          <a:prstGeom prst="rect">
            <a:avLst/>
          </a:prstGeom>
          <a:noFill/>
          <a:ln/>
        </p:spPr>
        <p:txBody>
          <a:bodyPr wrap="square" lIns="0" tIns="0" rIns="0" bIns="0" rtlCol="0" anchor="ctr">
            <a:normAutofit/>
          </a:bodyPr>
          <a:lstStyle/>
          <a:p>
            <a:pPr indent="0" marL="0">
              <a:lnSpc>
                <a:spcPct val="125000"/>
              </a:lnSpc>
              <a:buNone/>
            </a:pPr>
            <a:r>
              <a:rPr lang="en-US" sz="1320" dirty="0">
                <a:solidFill>
                  <a:srgbClr val="1A1A1A"/>
                </a:solidFill>
                <a:latin typeface="Cambria" pitchFamily="34" charset="0"/>
                <a:ea typeface="Cambria" pitchFamily="34" charset="-122"/>
                <a:cs typeface="Cambria" pitchFamily="34" charset="-120"/>
              </a:rPr>
              <a:t>Cả 4 công cụ đều giữ cùng chiều tăng.</a:t>
            </a:r>
            <a:endParaRPr lang="en-US" sz="1320" dirty="0"/>
          </a:p>
        </p:txBody>
      </p:sp>
      <p:sp>
        <p:nvSpPr>
          <p:cNvPr id="17" name="Shape 15"/>
          <p:cNvSpPr/>
          <p:nvPr/>
        </p:nvSpPr>
        <p:spPr>
          <a:xfrm>
            <a:off x="4617720" y="3172968"/>
            <a:ext cx="4023360" cy="1627632"/>
          </a:xfrm>
          <a:prstGeom prst="roundRect">
            <a:avLst/>
          </a:prstGeom>
          <a:solidFill>
            <a:srgbClr val="F3F2F5"/>
          </a:solidFill>
          <a:ln w="12700">
            <a:solidFill>
              <a:srgbClr val="7A7099"/>
            </a:solidFill>
            <a:prstDash val="solid"/>
          </a:ln>
        </p:spPr>
      </p:sp>
      <p:sp>
        <p:nvSpPr>
          <p:cNvPr id="18" name="Text 16"/>
          <p:cNvSpPr/>
          <p:nvPr/>
        </p:nvSpPr>
        <p:spPr>
          <a:xfrm>
            <a:off x="4764024" y="3319272"/>
            <a:ext cx="438912" cy="438912"/>
          </a:xfrm>
          <a:prstGeom prst="rect">
            <a:avLst/>
          </a:prstGeom>
          <a:noFill/>
          <a:ln/>
        </p:spPr>
        <p:txBody>
          <a:bodyPr wrap="square" lIns="0" tIns="0" rIns="0" bIns="0" rtlCol="0" anchor="ctr"/>
          <a:lstStyle/>
          <a:p>
            <a:pPr algn="ctr" indent="0" marL="0">
              <a:lnSpc>
                <a:spcPct val="125000"/>
              </a:lnSpc>
              <a:buNone/>
            </a:pPr>
            <a:r>
              <a:rPr lang="en-US" sz="2200" b="1" dirty="0">
                <a:solidFill>
                  <a:srgbClr val="25194B"/>
                </a:solidFill>
                <a:latin typeface="Cambria" pitchFamily="34" charset="0"/>
                <a:ea typeface="Cambria" pitchFamily="34" charset="-122"/>
                <a:cs typeface="Cambria" pitchFamily="34" charset="-120"/>
              </a:rPr>
              <a:t>4</a:t>
            </a:r>
            <a:endParaRPr lang="en-US" sz="2200" dirty="0"/>
          </a:p>
        </p:txBody>
      </p:sp>
      <p:sp>
        <p:nvSpPr>
          <p:cNvPr id="19" name="Text 17"/>
          <p:cNvSpPr/>
          <p:nvPr/>
        </p:nvSpPr>
        <p:spPr>
          <a:xfrm>
            <a:off x="5276088" y="3337560"/>
            <a:ext cx="3154680" cy="347472"/>
          </a:xfrm>
          <a:prstGeom prst="rect">
            <a:avLst/>
          </a:prstGeom>
          <a:noFill/>
          <a:ln/>
        </p:spPr>
        <p:txBody>
          <a:bodyPr wrap="square" lIns="0" tIns="0" rIns="0" bIns="0" rtlCol="0" anchor="ctr"/>
          <a:lstStyle/>
          <a:p>
            <a:pPr indent="0" marL="0">
              <a:lnSpc>
                <a:spcPct val="125000"/>
              </a:lnSpc>
              <a:buNone/>
            </a:pPr>
            <a:r>
              <a:rPr lang="en-US" sz="1440" b="1" dirty="0">
                <a:solidFill>
                  <a:srgbClr val="25194B"/>
                </a:solidFill>
                <a:latin typeface="Cambria" pitchFamily="34" charset="0"/>
                <a:ea typeface="Cambria" pitchFamily="34" charset="-122"/>
                <a:cs typeface="Cambria" pitchFamily="34" charset="-120"/>
              </a:rPr>
              <a:t>Giữ trên tác vụ mới</a:t>
            </a:r>
            <a:endParaRPr lang="en-US" sz="1440" dirty="0"/>
          </a:p>
        </p:txBody>
      </p:sp>
      <p:sp>
        <p:nvSpPr>
          <p:cNvPr id="20" name="Text 18"/>
          <p:cNvSpPr/>
          <p:nvPr/>
        </p:nvSpPr>
        <p:spPr>
          <a:xfrm>
            <a:off x="5276088" y="3794760"/>
            <a:ext cx="3108960" cy="777240"/>
          </a:xfrm>
          <a:prstGeom prst="rect">
            <a:avLst/>
          </a:prstGeom>
          <a:noFill/>
          <a:ln/>
        </p:spPr>
        <p:txBody>
          <a:bodyPr wrap="square" lIns="0" tIns="0" rIns="0" bIns="0" rtlCol="0" anchor="ctr">
            <a:normAutofit/>
          </a:bodyPr>
          <a:lstStyle/>
          <a:p>
            <a:pPr indent="0" marL="0">
              <a:lnSpc>
                <a:spcPct val="125000"/>
              </a:lnSpc>
              <a:buNone/>
            </a:pPr>
            <a:r>
              <a:rPr lang="en-US" sz="1320" dirty="0">
                <a:solidFill>
                  <a:srgbClr val="1A1A1A"/>
                </a:solidFill>
                <a:latin typeface="Cambria" pitchFamily="34" charset="0"/>
                <a:ea typeface="Cambria" pitchFamily="34" charset="-122"/>
                <a:cs typeface="Cambria" pitchFamily="34" charset="-120"/>
              </a:rPr>
              <a:t>ACU: +4,58 điểm trên tác vụ mới.</a:t>
            </a:r>
            <a:endParaRPr lang="en-US" sz="1320" dirty="0"/>
          </a:p>
        </p:txBody>
      </p:sp>
      <p:sp>
        <p:nvSpPr>
          <p:cNvPr id="21" name="Text 19"/>
          <p:cNvSpPr/>
          <p:nvPr/>
        </p:nvSpPr>
        <p:spPr>
          <a:xfrm>
            <a:off x="502920" y="5321808"/>
            <a:ext cx="8138160" cy="457200"/>
          </a:xfrm>
          <a:prstGeom prst="rect">
            <a:avLst/>
          </a:prstGeom>
          <a:noFill/>
          <a:ln/>
        </p:spPr>
        <p:txBody>
          <a:bodyPr wrap="square" lIns="0" tIns="0" rIns="0" bIns="0" rtlCol="0" anchor="ctr">
            <a:normAutofit/>
          </a:bodyPr>
          <a:lstStyle/>
          <a:p>
            <a:pPr algn="ctr" indent="0" marL="0">
              <a:lnSpc>
                <a:spcPct val="125000"/>
              </a:lnSpc>
              <a:buNone/>
            </a:pPr>
            <a:r>
              <a:rPr lang="en-US" sz="1360" b="1" dirty="0">
                <a:solidFill>
                  <a:srgbClr val="25194B"/>
                </a:solidFill>
                <a:latin typeface="Cambria" pitchFamily="34" charset="0"/>
                <a:ea typeface="Cambria" pitchFamily="34" charset="-122"/>
                <a:cs typeface="Cambria" pitchFamily="34" charset="-120"/>
              </a:rPr>
              <a:t>Kết quả được giữ khi thay lượt chạy, công cụ đánh giá và tập tác vụ.</a:t>
            </a:r>
            <a:endParaRPr lang="en-US" sz="1360" dirty="0"/>
          </a:p>
        </p:txBody>
      </p:sp>
      <p:sp>
        <p:nvSpPr>
          <p:cNvPr id="22" name="Text 20"/>
          <p:cNvSpPr/>
          <p:nvPr/>
        </p:nvSpPr>
        <p:spPr>
          <a:xfrm>
            <a:off x="502920" y="6327648"/>
            <a:ext cx="8138160" cy="137160"/>
          </a:xfrm>
          <a:prstGeom prst="rect">
            <a:avLst/>
          </a:prstGeom>
          <a:noFill/>
          <a:ln/>
        </p:spPr>
        <p:txBody>
          <a:bodyPr wrap="square" lIns="0" tIns="0" rIns="0" bIns="0" rtlCol="0" anchor="ctr"/>
          <a:lstStyle/>
          <a:p>
            <a:pPr algn="r" indent="0" marL="0">
              <a:lnSpc>
                <a:spcPct val="125000"/>
              </a:lnSpc>
              <a:buNone/>
            </a:pPr>
            <a:r>
              <a:rPr lang="en-US" sz="800" i="1" dirty="0">
                <a:solidFill>
                  <a:srgbClr val="5A5A66"/>
                </a:solidFill>
                <a:latin typeface="Cambria" pitchFamily="34" charset="0"/>
                <a:ea typeface="Cambria" pitchFamily="34" charset="-122"/>
                <a:cs typeface="Cambria" pitchFamily="34" charset="-120"/>
              </a:rPr>
              <a:t>Luận văn Chương 6</a:t>
            </a:r>
            <a:endParaRPr lang="en-US" sz="800" dirty="0"/>
          </a:p>
        </p:txBody>
      </p:sp>
      <p:sp>
        <p:nvSpPr>
          <p:cNvPr id="23" name="Shape 21"/>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4" name="Shape 22"/>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5" name="Shape 23"/>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6" name="Shape 24"/>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7" name="Text 25"/>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8" name="Text 26"/>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9" name="Text 27"/>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0" name="Text 28"/>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21/25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Kết luận</a:t>
            </a:r>
            <a:endParaRPr lang="en-US" sz="1820" dirty="0"/>
          </a:p>
        </p:txBody>
      </p:sp>
      <p:sp>
        <p:nvSpPr>
          <p:cNvPr id="4" name="Text 2"/>
          <p:cNvSpPr/>
          <p:nvPr/>
        </p:nvSpPr>
        <p:spPr>
          <a:xfrm>
            <a:off x="502920" y="603504"/>
            <a:ext cx="8138160" cy="219456"/>
          </a:xfrm>
          <a:prstGeom prst="rect">
            <a:avLst/>
          </a:prstGeom>
          <a:noFill/>
          <a:ln/>
        </p:spPr>
        <p:txBody>
          <a:bodyPr wrap="square" lIns="0" tIns="0" rIns="0" bIns="0" rtlCol="0" anchor="ctr">
            <a:normAutofit/>
          </a:bodyPr>
          <a:lstStyle/>
          <a:p>
            <a:pPr indent="0" marL="0">
              <a:lnSpc>
                <a:spcPct val="125000"/>
              </a:lnSpc>
              <a:buNone/>
            </a:pPr>
            <a:r>
              <a:rPr lang="en-US" sz="1260" b="1" dirty="0">
                <a:solidFill>
                  <a:srgbClr val="25194B"/>
                </a:solidFill>
                <a:latin typeface="Cambria" pitchFamily="34" charset="0"/>
                <a:ea typeface="Cambria" pitchFamily="34" charset="-122"/>
                <a:cs typeface="Cambria" pitchFamily="34" charset="-120"/>
              </a:rPr>
              <a:t>Phạm vi và hướng phát triển</a:t>
            </a:r>
            <a:endParaRPr lang="en-US" sz="1260" dirty="0"/>
          </a:p>
        </p:txBody>
      </p:sp>
      <p:sp>
        <p:nvSpPr>
          <p:cNvPr id="5" name="Text 3"/>
          <p:cNvSpPr/>
          <p:nvPr/>
        </p:nvSpPr>
        <p:spPr>
          <a:xfrm>
            <a:off x="502920" y="868680"/>
            <a:ext cx="1828800" cy="320040"/>
          </a:xfrm>
          <a:prstGeom prst="rect">
            <a:avLst/>
          </a:prstGeom>
          <a:noFill/>
          <a:ln/>
        </p:spPr>
        <p:txBody>
          <a:bodyPr wrap="square" lIns="0" tIns="0" rIns="0" bIns="0" rtlCol="0" anchor="ctr"/>
          <a:lstStyle/>
          <a:p>
            <a:pPr indent="0" marL="0">
              <a:lnSpc>
                <a:spcPct val="125000"/>
              </a:lnSpc>
              <a:buNone/>
            </a:pPr>
            <a:r>
              <a:rPr lang="en-US" sz="1700" b="1" dirty="0">
                <a:solidFill>
                  <a:srgbClr val="25194B"/>
                </a:solidFill>
                <a:latin typeface="Cambria" pitchFamily="34" charset="0"/>
                <a:ea typeface="Cambria" pitchFamily="34" charset="-122"/>
                <a:cs typeface="Cambria" pitchFamily="34" charset="-120"/>
              </a:rPr>
              <a:t>Phạm vi hiện tại</a:t>
            </a:r>
            <a:endParaRPr lang="en-US" sz="1700" dirty="0"/>
          </a:p>
        </p:txBody>
      </p:sp>
      <p:sp>
        <p:nvSpPr>
          <p:cNvPr id="6" name="Shape 4"/>
          <p:cNvSpPr/>
          <p:nvPr/>
        </p:nvSpPr>
        <p:spPr>
          <a:xfrm>
            <a:off x="521208" y="1380744"/>
            <a:ext cx="64008" cy="64008"/>
          </a:xfrm>
          <a:prstGeom prst="ellipse">
            <a:avLst/>
          </a:prstGeom>
          <a:solidFill>
            <a:srgbClr val="4F417A"/>
          </a:solidFill>
          <a:ln w="12700">
            <a:solidFill>
              <a:srgbClr val="4F417A">
                <a:alpha val="0"/>
              </a:srgbClr>
            </a:solidFill>
            <a:prstDash val="solid"/>
          </a:ln>
        </p:spPr>
      </p:sp>
      <p:sp>
        <p:nvSpPr>
          <p:cNvPr id="7" name="Text 5"/>
          <p:cNvSpPr/>
          <p:nvPr/>
        </p:nvSpPr>
        <p:spPr>
          <a:xfrm>
            <a:off x="713232" y="1243584"/>
            <a:ext cx="7927848" cy="512064"/>
          </a:xfrm>
          <a:prstGeom prst="rect">
            <a:avLst/>
          </a:prstGeom>
          <a:noFill/>
          <a:ln/>
        </p:spPr>
        <p:txBody>
          <a:bodyPr wrap="square" lIns="0" tIns="0" rIns="0" bIns="0" rtlCol="0" anchor="t">
            <a:normAutofit/>
          </a:bodyPr>
          <a:lstStyle/>
          <a:p>
            <a:pPr indent="0" marL="0">
              <a:lnSpc>
                <a:spcPct val="125000"/>
              </a:lnSpc>
              <a:buNone/>
            </a:pPr>
            <a:r>
              <a:rPr lang="en-US" sz="1360" dirty="0">
                <a:solidFill>
                  <a:srgbClr val="1A1A1A"/>
                </a:solidFill>
                <a:latin typeface="Cambria" pitchFamily="34" charset="0"/>
                <a:ea typeface="Cambria" pitchFamily="34" charset="-122"/>
                <a:cs typeface="Cambria" pitchFamily="34" charset="-120"/>
              </a:rPr>
              <a:t>Executability hiện tập trung vào các bước có thao tác chạm.</a:t>
            </a:r>
            <a:endParaRPr lang="en-US" sz="1360" dirty="0"/>
          </a:p>
        </p:txBody>
      </p:sp>
      <p:sp>
        <p:nvSpPr>
          <p:cNvPr id="8" name="Shape 6"/>
          <p:cNvSpPr/>
          <p:nvPr/>
        </p:nvSpPr>
        <p:spPr>
          <a:xfrm>
            <a:off x="521208" y="2002536"/>
            <a:ext cx="64008" cy="64008"/>
          </a:xfrm>
          <a:prstGeom prst="ellipse">
            <a:avLst/>
          </a:prstGeom>
          <a:solidFill>
            <a:srgbClr val="4F417A"/>
          </a:solidFill>
          <a:ln w="12700">
            <a:solidFill>
              <a:srgbClr val="4F417A">
                <a:alpha val="0"/>
              </a:srgbClr>
            </a:solidFill>
            <a:prstDash val="solid"/>
          </a:ln>
        </p:spPr>
      </p:sp>
      <p:sp>
        <p:nvSpPr>
          <p:cNvPr id="9" name="Text 7"/>
          <p:cNvSpPr/>
          <p:nvPr/>
        </p:nvSpPr>
        <p:spPr>
          <a:xfrm>
            <a:off x="713232" y="1865376"/>
            <a:ext cx="7927848" cy="512064"/>
          </a:xfrm>
          <a:prstGeom prst="rect">
            <a:avLst/>
          </a:prstGeom>
          <a:noFill/>
          <a:ln/>
        </p:spPr>
        <p:txBody>
          <a:bodyPr wrap="square" lIns="0" tIns="0" rIns="0" bIns="0" rtlCol="0" anchor="t">
            <a:normAutofit/>
          </a:bodyPr>
          <a:lstStyle/>
          <a:p>
            <a:pPr indent="0" marL="0">
              <a:lnSpc>
                <a:spcPct val="125000"/>
              </a:lnSpc>
              <a:buNone/>
            </a:pPr>
            <a:r>
              <a:rPr lang="en-US" sz="1360" dirty="0">
                <a:solidFill>
                  <a:srgbClr val="1A1A1A"/>
                </a:solidFill>
                <a:latin typeface="Cambria" pitchFamily="34" charset="0"/>
                <a:ea typeface="Cambria" pitchFamily="34" charset="-122"/>
                <a:cs typeface="Cambria" pitchFamily="34" charset="-120"/>
              </a:rPr>
              <a:t>Thực nghiệm chính dùng AndroidControl tiếng Anh và Qwen2.5-VL-3B.</a:t>
            </a:r>
            <a:endParaRPr lang="en-US" sz="1360" dirty="0"/>
          </a:p>
        </p:txBody>
      </p:sp>
      <p:sp>
        <p:nvSpPr>
          <p:cNvPr id="10" name="Shape 8"/>
          <p:cNvSpPr/>
          <p:nvPr/>
        </p:nvSpPr>
        <p:spPr>
          <a:xfrm>
            <a:off x="521208" y="2624328"/>
            <a:ext cx="64008" cy="64008"/>
          </a:xfrm>
          <a:prstGeom prst="ellipse">
            <a:avLst/>
          </a:prstGeom>
          <a:solidFill>
            <a:srgbClr val="4F417A"/>
          </a:solidFill>
          <a:ln w="12700">
            <a:solidFill>
              <a:srgbClr val="4F417A">
                <a:alpha val="0"/>
              </a:srgbClr>
            </a:solidFill>
            <a:prstDash val="solid"/>
          </a:ln>
        </p:spPr>
      </p:sp>
      <p:sp>
        <p:nvSpPr>
          <p:cNvPr id="11" name="Text 9"/>
          <p:cNvSpPr/>
          <p:nvPr/>
        </p:nvSpPr>
        <p:spPr>
          <a:xfrm>
            <a:off x="713232" y="2487168"/>
            <a:ext cx="7927848" cy="512064"/>
          </a:xfrm>
          <a:prstGeom prst="rect">
            <a:avLst/>
          </a:prstGeom>
          <a:noFill/>
          <a:ln/>
        </p:spPr>
        <p:txBody>
          <a:bodyPr wrap="square" lIns="0" tIns="0" rIns="0" bIns="0" rtlCol="0" anchor="t">
            <a:normAutofit/>
          </a:bodyPr>
          <a:lstStyle/>
          <a:p>
            <a:pPr indent="0" marL="0">
              <a:lnSpc>
                <a:spcPct val="125000"/>
              </a:lnSpc>
              <a:buNone/>
            </a:pPr>
            <a:r>
              <a:rPr lang="en-US" sz="1360" dirty="0">
                <a:solidFill>
                  <a:srgbClr val="1A1A1A"/>
                </a:solidFill>
                <a:latin typeface="Cambria" pitchFamily="34" charset="0"/>
                <a:ea typeface="Cambria" pitchFamily="34" charset="-122"/>
                <a:cs typeface="Cambria" pitchFamily="34" charset="-120"/>
              </a:rPr>
              <a:t>AitZ cho thấy lợi ích bổ sung của GRPO-SPICE giảm khi đổi miền.</a:t>
            </a:r>
            <a:endParaRPr lang="en-US" sz="1360" dirty="0"/>
          </a:p>
        </p:txBody>
      </p:sp>
      <p:sp>
        <p:nvSpPr>
          <p:cNvPr id="12" name="Text 10"/>
          <p:cNvSpPr/>
          <p:nvPr/>
        </p:nvSpPr>
        <p:spPr>
          <a:xfrm>
            <a:off x="502920" y="3429000"/>
            <a:ext cx="1828800" cy="320040"/>
          </a:xfrm>
          <a:prstGeom prst="rect">
            <a:avLst/>
          </a:prstGeom>
          <a:noFill/>
          <a:ln/>
        </p:spPr>
        <p:txBody>
          <a:bodyPr wrap="square" lIns="0" tIns="0" rIns="0" bIns="0" rtlCol="0" anchor="ctr"/>
          <a:lstStyle/>
          <a:p>
            <a:pPr indent="0" marL="0">
              <a:lnSpc>
                <a:spcPct val="125000"/>
              </a:lnSpc>
              <a:buNone/>
            </a:pPr>
            <a:r>
              <a:rPr lang="en-US" sz="1700" b="1" dirty="0">
                <a:solidFill>
                  <a:srgbClr val="25194B"/>
                </a:solidFill>
                <a:latin typeface="Cambria" pitchFamily="34" charset="0"/>
                <a:ea typeface="Cambria" pitchFamily="34" charset="-122"/>
                <a:cs typeface="Cambria" pitchFamily="34" charset="-120"/>
              </a:rPr>
              <a:t>Hướng mở rộng</a:t>
            </a:r>
            <a:endParaRPr lang="en-US" sz="1700" dirty="0"/>
          </a:p>
        </p:txBody>
      </p:sp>
      <p:sp>
        <p:nvSpPr>
          <p:cNvPr id="13" name="Shape 11"/>
          <p:cNvSpPr/>
          <p:nvPr/>
        </p:nvSpPr>
        <p:spPr>
          <a:xfrm>
            <a:off x="521208" y="3977640"/>
            <a:ext cx="64008" cy="64008"/>
          </a:xfrm>
          <a:prstGeom prst="ellipse">
            <a:avLst/>
          </a:prstGeom>
          <a:solidFill>
            <a:srgbClr val="4F417A"/>
          </a:solidFill>
          <a:ln w="12700">
            <a:solidFill>
              <a:srgbClr val="4F417A">
                <a:alpha val="0"/>
              </a:srgbClr>
            </a:solidFill>
            <a:prstDash val="solid"/>
          </a:ln>
        </p:spPr>
      </p:sp>
      <p:sp>
        <p:nvSpPr>
          <p:cNvPr id="14" name="Text 12"/>
          <p:cNvSpPr/>
          <p:nvPr/>
        </p:nvSpPr>
        <p:spPr>
          <a:xfrm>
            <a:off x="713232" y="3840480"/>
            <a:ext cx="7927848" cy="621792"/>
          </a:xfrm>
          <a:prstGeom prst="rect">
            <a:avLst/>
          </a:prstGeom>
          <a:noFill/>
          <a:ln/>
        </p:spPr>
        <p:txBody>
          <a:bodyPr wrap="square" lIns="0" tIns="0" rIns="0" bIns="0" rtlCol="0" anchor="t">
            <a:normAutofit/>
          </a:bodyPr>
          <a:lstStyle/>
          <a:p>
            <a:pPr indent="0" marL="0">
              <a:lnSpc>
                <a:spcPct val="125000"/>
              </a:lnSpc>
              <a:buNone/>
            </a:pPr>
            <a:r>
              <a:rPr lang="en-US" sz="1420" dirty="0">
                <a:solidFill>
                  <a:srgbClr val="1A1A1A"/>
                </a:solidFill>
                <a:latin typeface="Cambria" pitchFamily="34" charset="0"/>
                <a:ea typeface="Cambria" pitchFamily="34" charset="-122"/>
                <a:cs typeface="Cambria" pitchFamily="34" charset="-120"/>
              </a:rPr>
              <a:t>Mở rộng sang nhiều miền giao diện và dữ liệu tiếng Việt.</a:t>
            </a:r>
            <a:endParaRPr lang="en-US" sz="1420" dirty="0"/>
          </a:p>
        </p:txBody>
      </p:sp>
      <p:sp>
        <p:nvSpPr>
          <p:cNvPr id="15" name="Shape 13"/>
          <p:cNvSpPr/>
          <p:nvPr/>
        </p:nvSpPr>
        <p:spPr>
          <a:xfrm>
            <a:off x="521208" y="4782312"/>
            <a:ext cx="64008" cy="64008"/>
          </a:xfrm>
          <a:prstGeom prst="ellipse">
            <a:avLst/>
          </a:prstGeom>
          <a:solidFill>
            <a:srgbClr val="4F417A"/>
          </a:solidFill>
          <a:ln w="12700">
            <a:solidFill>
              <a:srgbClr val="4F417A">
                <a:alpha val="0"/>
              </a:srgbClr>
            </a:solidFill>
            <a:prstDash val="solid"/>
          </a:ln>
        </p:spPr>
      </p:sp>
      <p:sp>
        <p:nvSpPr>
          <p:cNvPr id="16" name="Text 14"/>
          <p:cNvSpPr/>
          <p:nvPr/>
        </p:nvSpPr>
        <p:spPr>
          <a:xfrm>
            <a:off x="713232" y="4645152"/>
            <a:ext cx="7927848" cy="621792"/>
          </a:xfrm>
          <a:prstGeom prst="rect">
            <a:avLst/>
          </a:prstGeom>
          <a:noFill/>
          <a:ln/>
        </p:spPr>
        <p:txBody>
          <a:bodyPr wrap="square" lIns="0" tIns="0" rIns="0" bIns="0" rtlCol="0" anchor="t">
            <a:normAutofit/>
          </a:bodyPr>
          <a:lstStyle/>
          <a:p>
            <a:pPr indent="0" marL="0">
              <a:lnSpc>
                <a:spcPct val="125000"/>
              </a:lnSpc>
              <a:buNone/>
            </a:pPr>
            <a:r>
              <a:rPr lang="en-US" sz="1420" dirty="0">
                <a:solidFill>
                  <a:srgbClr val="1A1A1A"/>
                </a:solidFill>
                <a:latin typeface="Cambria" pitchFamily="34" charset="0"/>
                <a:ea typeface="Cambria" pitchFamily="34" charset="-122"/>
                <a:cs typeface="Cambria" pitchFamily="34" charset="-120"/>
              </a:rPr>
              <a:t>Mở rộng executability cho thao tác ngoài chạm và chuỗi nhiều màn hình.</a:t>
            </a:r>
            <a:endParaRPr lang="en-US" sz="1420" dirty="0"/>
          </a:p>
        </p:txBody>
      </p:sp>
      <p:sp>
        <p:nvSpPr>
          <p:cNvPr id="17" name="Text 15"/>
          <p:cNvSpPr/>
          <p:nvPr/>
        </p:nvSpPr>
        <p:spPr>
          <a:xfrm>
            <a:off x="502920" y="6327648"/>
            <a:ext cx="8138160" cy="137160"/>
          </a:xfrm>
          <a:prstGeom prst="rect">
            <a:avLst/>
          </a:prstGeom>
          <a:noFill/>
          <a:ln/>
        </p:spPr>
        <p:txBody>
          <a:bodyPr wrap="square" lIns="0" tIns="0" rIns="0" bIns="0" rtlCol="0" anchor="ctr"/>
          <a:lstStyle/>
          <a:p>
            <a:pPr algn="r" indent="0" marL="0">
              <a:lnSpc>
                <a:spcPct val="125000"/>
              </a:lnSpc>
              <a:buNone/>
            </a:pPr>
            <a:r>
              <a:rPr lang="en-US" sz="800" i="1" dirty="0">
                <a:solidFill>
                  <a:srgbClr val="5A5A66"/>
                </a:solidFill>
                <a:latin typeface="Cambria" pitchFamily="34" charset="0"/>
                <a:ea typeface="Cambria" pitchFamily="34" charset="-122"/>
                <a:cs typeface="Cambria" pitchFamily="34" charset="-120"/>
              </a:rPr>
              <a:t>Luận văn §7.2–§7.4</a:t>
            </a:r>
            <a:endParaRPr lang="en-US" sz="800" dirty="0"/>
          </a:p>
        </p:txBody>
      </p:sp>
      <p:sp>
        <p:nvSpPr>
          <p:cNvPr id="18" name="Shape 16"/>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9" name="Shape 17"/>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0" name="Shape 18"/>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1" name="Shape 19"/>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2" name="Text 20"/>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3" name="Text 21"/>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4" name="Text 22"/>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5" name="Text 23"/>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22/25</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Kết luận</a:t>
            </a:r>
            <a:endParaRPr lang="en-US" sz="1820" dirty="0"/>
          </a:p>
        </p:txBody>
      </p:sp>
      <p:sp>
        <p:nvSpPr>
          <p:cNvPr id="4" name="Text 2"/>
          <p:cNvSpPr/>
          <p:nvPr/>
        </p:nvSpPr>
        <p:spPr>
          <a:xfrm>
            <a:off x="502920" y="603504"/>
            <a:ext cx="8138160" cy="219456"/>
          </a:xfrm>
          <a:prstGeom prst="rect">
            <a:avLst/>
          </a:prstGeom>
          <a:noFill/>
          <a:ln/>
        </p:spPr>
        <p:txBody>
          <a:bodyPr wrap="square" lIns="0" tIns="0" rIns="0" bIns="0" rtlCol="0" anchor="ctr">
            <a:normAutofit/>
          </a:bodyPr>
          <a:lstStyle/>
          <a:p>
            <a:pPr indent="0" marL="0">
              <a:lnSpc>
                <a:spcPct val="125000"/>
              </a:lnSpc>
              <a:buNone/>
            </a:pPr>
            <a:r>
              <a:rPr lang="en-US" sz="1260" b="1" dirty="0">
                <a:solidFill>
                  <a:srgbClr val="25194B"/>
                </a:solidFill>
                <a:latin typeface="Cambria" pitchFamily="34" charset="0"/>
                <a:ea typeface="Cambria" pitchFamily="34" charset="-122"/>
                <a:cs typeface="Cambria" pitchFamily="34" charset="-120"/>
              </a:rPr>
              <a:t>Đóng góp chính</a:t>
            </a:r>
            <a:endParaRPr lang="en-US" sz="1260" dirty="0"/>
          </a:p>
        </p:txBody>
      </p:sp>
      <p:sp>
        <p:nvSpPr>
          <p:cNvPr id="5" name="Shape 3"/>
          <p:cNvSpPr/>
          <p:nvPr/>
        </p:nvSpPr>
        <p:spPr>
          <a:xfrm>
            <a:off x="502920" y="1097280"/>
            <a:ext cx="2487168" cy="3310128"/>
          </a:xfrm>
          <a:prstGeom prst="roundRect">
            <a:avLst/>
          </a:prstGeom>
          <a:solidFill>
            <a:srgbClr val="F3F2F5"/>
          </a:solidFill>
          <a:ln w="12700">
            <a:solidFill>
              <a:srgbClr val="25194B"/>
            </a:solidFill>
            <a:prstDash val="solid"/>
          </a:ln>
        </p:spPr>
      </p:sp>
      <p:sp>
        <p:nvSpPr>
          <p:cNvPr id="6" name="Text 4"/>
          <p:cNvSpPr/>
          <p:nvPr/>
        </p:nvSpPr>
        <p:spPr>
          <a:xfrm>
            <a:off x="640080" y="1371600"/>
            <a:ext cx="2212848" cy="36576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Phương pháp</a:t>
            </a:r>
            <a:endParaRPr lang="en-US" sz="1700" dirty="0"/>
          </a:p>
        </p:txBody>
      </p:sp>
      <p:sp>
        <p:nvSpPr>
          <p:cNvPr id="7" name="Text 5"/>
          <p:cNvSpPr/>
          <p:nvPr/>
        </p:nvSpPr>
        <p:spPr>
          <a:xfrm>
            <a:off x="731520" y="2011680"/>
            <a:ext cx="2029968" cy="1234440"/>
          </a:xfrm>
          <a:prstGeom prst="rect">
            <a:avLst/>
          </a:prstGeom>
          <a:noFill/>
          <a:ln/>
        </p:spPr>
        <p:txBody>
          <a:bodyPr wrap="square" lIns="0" tIns="0" rIns="0" bIns="0" rtlCol="0" anchor="ctr">
            <a:normAutofit/>
          </a:bodyPr>
          <a:lstStyle/>
          <a:p>
            <a:pPr algn="ctr" indent="0" marL="0">
              <a:lnSpc>
                <a:spcPct val="125000"/>
              </a:lnSpc>
              <a:buNone/>
            </a:pPr>
            <a:r>
              <a:rPr lang="en-US" sz="1420" dirty="0">
                <a:solidFill>
                  <a:srgbClr val="1A1A1A"/>
                </a:solidFill>
                <a:latin typeface="Cambria" pitchFamily="34" charset="0"/>
                <a:ea typeface="Cambria" pitchFamily="34" charset="-122"/>
                <a:cs typeface="Cambria" pitchFamily="34" charset="-120"/>
              </a:rPr>
              <a:t>GRPO-SPICE tạo phần lớn mức tăng. ACE cải thiện chất lượng câu và giữ executability.</a:t>
            </a:r>
            <a:endParaRPr lang="en-US" sz="1420" dirty="0"/>
          </a:p>
        </p:txBody>
      </p:sp>
      <p:sp>
        <p:nvSpPr>
          <p:cNvPr id="8" name="Shape 6"/>
          <p:cNvSpPr/>
          <p:nvPr/>
        </p:nvSpPr>
        <p:spPr>
          <a:xfrm>
            <a:off x="3328416" y="1097280"/>
            <a:ext cx="2487168" cy="3310128"/>
          </a:xfrm>
          <a:prstGeom prst="roundRect">
            <a:avLst/>
          </a:prstGeom>
          <a:solidFill>
            <a:srgbClr val="F3F2F5"/>
          </a:solidFill>
          <a:ln w="12700">
            <a:solidFill>
              <a:srgbClr val="4F417A"/>
            </a:solidFill>
            <a:prstDash val="solid"/>
          </a:ln>
        </p:spPr>
      </p:sp>
      <p:sp>
        <p:nvSpPr>
          <p:cNvPr id="9" name="Text 7"/>
          <p:cNvSpPr/>
          <p:nvPr/>
        </p:nvSpPr>
        <p:spPr>
          <a:xfrm>
            <a:off x="3465576" y="1371600"/>
            <a:ext cx="2212848" cy="36576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Độ đo</a:t>
            </a:r>
            <a:endParaRPr lang="en-US" sz="1700" dirty="0"/>
          </a:p>
        </p:txBody>
      </p:sp>
      <p:sp>
        <p:nvSpPr>
          <p:cNvPr id="10" name="Text 8"/>
          <p:cNvSpPr/>
          <p:nvPr/>
        </p:nvSpPr>
        <p:spPr>
          <a:xfrm>
            <a:off x="3557016" y="1965960"/>
            <a:ext cx="2029968" cy="1371600"/>
          </a:xfrm>
          <a:prstGeom prst="rect">
            <a:avLst/>
          </a:prstGeom>
          <a:noFill/>
          <a:ln/>
        </p:spPr>
        <p:txBody>
          <a:bodyPr wrap="square" lIns="0" tIns="0" rIns="0" bIns="0" rtlCol="0" anchor="ctr">
            <a:normAutofit/>
          </a:bodyPr>
          <a:lstStyle/>
          <a:p>
            <a:pPr algn="ctr" indent="0" marL="0">
              <a:lnSpc>
                <a:spcPct val="125000"/>
              </a:lnSpc>
              <a:buNone/>
            </a:pPr>
            <a:r>
              <a:rPr lang="en-US" sz="1400" dirty="0">
                <a:solidFill>
                  <a:srgbClr val="1A1A1A"/>
                </a:solidFill>
                <a:latin typeface="Cambria" pitchFamily="34" charset="0"/>
                <a:ea typeface="Cambria" pitchFamily="34" charset="-122"/>
                <a:cs typeface="Cambria" pitchFamily="34" charset="-120"/>
              </a:rPr>
              <a:t>Executability đo trực tiếp khả năng xác định đúng phần tử và thao tác.</a:t>
            </a:r>
            <a:endParaRPr lang="en-US" sz="1400" dirty="0"/>
          </a:p>
        </p:txBody>
      </p:sp>
      <p:sp>
        <p:nvSpPr>
          <p:cNvPr id="11" name="Shape 9"/>
          <p:cNvSpPr/>
          <p:nvPr/>
        </p:nvSpPr>
        <p:spPr>
          <a:xfrm>
            <a:off x="6144768" y="1097280"/>
            <a:ext cx="2487168" cy="3310128"/>
          </a:xfrm>
          <a:prstGeom prst="roundRect">
            <a:avLst/>
          </a:prstGeom>
          <a:solidFill>
            <a:srgbClr val="F3F2F5"/>
          </a:solidFill>
          <a:ln w="12700">
            <a:solidFill>
              <a:srgbClr val="7A7099"/>
            </a:solidFill>
            <a:prstDash val="solid"/>
          </a:ln>
        </p:spPr>
      </p:sp>
      <p:sp>
        <p:nvSpPr>
          <p:cNvPr id="12" name="Text 10"/>
          <p:cNvSpPr/>
          <p:nvPr/>
        </p:nvSpPr>
        <p:spPr>
          <a:xfrm>
            <a:off x="6281928" y="1371600"/>
            <a:ext cx="2212848" cy="36576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Bằng chứng</a:t>
            </a:r>
            <a:endParaRPr lang="en-US" sz="1700" dirty="0"/>
          </a:p>
        </p:txBody>
      </p:sp>
      <p:sp>
        <p:nvSpPr>
          <p:cNvPr id="13" name="Text 11"/>
          <p:cNvSpPr/>
          <p:nvPr/>
        </p:nvSpPr>
        <p:spPr>
          <a:xfrm>
            <a:off x="6373368" y="1965960"/>
            <a:ext cx="2029968" cy="1371600"/>
          </a:xfrm>
          <a:prstGeom prst="rect">
            <a:avLst/>
          </a:prstGeom>
          <a:noFill/>
          <a:ln/>
        </p:spPr>
        <p:txBody>
          <a:bodyPr wrap="square" lIns="0" tIns="0" rIns="0" bIns="0" rtlCol="0" anchor="ctr">
            <a:normAutofit/>
          </a:bodyPr>
          <a:lstStyle/>
          <a:p>
            <a:pPr algn="ctr" indent="0" marL="0">
              <a:lnSpc>
                <a:spcPct val="125000"/>
              </a:lnSpc>
              <a:buNone/>
            </a:pPr>
            <a:r>
              <a:rPr lang="en-US" sz="1400" dirty="0">
                <a:solidFill>
                  <a:srgbClr val="1A1A1A"/>
                </a:solidFill>
                <a:latin typeface="Cambria" pitchFamily="34" charset="0"/>
                <a:ea typeface="Cambria" pitchFamily="34" charset="-122"/>
                <a:cs typeface="Cambria" pitchFamily="34" charset="-120"/>
              </a:rPr>
              <a:t>Nhiều lượt chạy, công cụ đánh giá và tập bổ sung kiểm tra độ ổn định và giới hạn của kết quả.</a:t>
            </a:r>
            <a:endParaRPr lang="en-US" sz="1400" dirty="0"/>
          </a:p>
        </p:txBody>
      </p:sp>
      <p:sp>
        <p:nvSpPr>
          <p:cNvPr id="14" name="Text 12"/>
          <p:cNvSpPr/>
          <p:nvPr/>
        </p:nvSpPr>
        <p:spPr>
          <a:xfrm>
            <a:off x="502920" y="4956048"/>
            <a:ext cx="8138160" cy="594360"/>
          </a:xfrm>
          <a:prstGeom prst="rect">
            <a:avLst/>
          </a:prstGeom>
          <a:noFill/>
          <a:ln/>
        </p:spPr>
        <p:txBody>
          <a:bodyPr wrap="square" lIns="0" tIns="0" rIns="0" bIns="0" rtlCol="0" anchor="ctr">
            <a:normAutofit/>
          </a:bodyPr>
          <a:lstStyle/>
          <a:p>
            <a:pPr algn="ctr" indent="0" marL="0">
              <a:lnSpc>
                <a:spcPct val="125000"/>
              </a:lnSpc>
              <a:buNone/>
            </a:pPr>
            <a:r>
              <a:rPr lang="en-US" sz="1550" b="1" dirty="0">
                <a:solidFill>
                  <a:srgbClr val="25194B"/>
                </a:solidFill>
                <a:latin typeface="Cambria" pitchFamily="34" charset="0"/>
                <a:ea typeface="Cambria" pitchFamily="34" charset="-122"/>
                <a:cs typeface="Cambria" pitchFamily="34" charset="-120"/>
              </a:rPr>
              <a:t>Ba đóng góp chính: phương pháp, độ đo và bằng chứng thực nghiệm.</a:t>
            </a:r>
            <a:endParaRPr lang="en-US" sz="1550" dirty="0"/>
          </a:p>
        </p:txBody>
      </p:sp>
      <p:sp>
        <p:nvSpPr>
          <p:cNvPr id="15" name="Text 13"/>
          <p:cNvSpPr/>
          <p:nvPr/>
        </p:nvSpPr>
        <p:spPr>
          <a:xfrm>
            <a:off x="502920" y="6327648"/>
            <a:ext cx="8138160" cy="137160"/>
          </a:xfrm>
          <a:prstGeom prst="rect">
            <a:avLst/>
          </a:prstGeom>
          <a:noFill/>
          <a:ln/>
        </p:spPr>
        <p:txBody>
          <a:bodyPr wrap="square" lIns="0" tIns="0" rIns="0" bIns="0" rtlCol="0" anchor="ctr"/>
          <a:lstStyle/>
          <a:p>
            <a:pPr algn="r" indent="0" marL="0">
              <a:lnSpc>
                <a:spcPct val="125000"/>
              </a:lnSpc>
              <a:buNone/>
            </a:pPr>
            <a:r>
              <a:rPr lang="en-US" sz="800" i="1" dirty="0">
                <a:solidFill>
                  <a:srgbClr val="5A5A66"/>
                </a:solidFill>
                <a:latin typeface="Cambria" pitchFamily="34" charset="0"/>
                <a:ea typeface="Cambria" pitchFamily="34" charset="-122"/>
                <a:cs typeface="Cambria" pitchFamily="34" charset="-120"/>
              </a:rPr>
              <a:t>Luận văn Chương 7</a:t>
            </a:r>
            <a:endParaRPr lang="en-US" sz="800" dirty="0"/>
          </a:p>
        </p:txBody>
      </p:sp>
      <p:sp>
        <p:nvSpPr>
          <p:cNvPr id="16" name="Shape 14"/>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7" name="Shape 15"/>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8" name="Shape 16"/>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9" name="Shape 17"/>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0" name="Text 18"/>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1" name="Text 19"/>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2" name="Text 20"/>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3" name="Text 21"/>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23/25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Kết luận</a:t>
            </a:r>
            <a:endParaRPr lang="en-US" sz="1820" dirty="0"/>
          </a:p>
        </p:txBody>
      </p:sp>
      <p:sp>
        <p:nvSpPr>
          <p:cNvPr id="4" name="Text 2"/>
          <p:cNvSpPr/>
          <p:nvPr/>
        </p:nvSpPr>
        <p:spPr>
          <a:xfrm>
            <a:off x="502920" y="603504"/>
            <a:ext cx="8138160" cy="219456"/>
          </a:xfrm>
          <a:prstGeom prst="rect">
            <a:avLst/>
          </a:prstGeom>
          <a:noFill/>
          <a:ln/>
        </p:spPr>
        <p:txBody>
          <a:bodyPr wrap="square" lIns="0" tIns="0" rIns="0" bIns="0" rtlCol="0" anchor="ctr">
            <a:normAutofit/>
          </a:bodyPr>
          <a:lstStyle/>
          <a:p>
            <a:pPr indent="0" marL="0">
              <a:lnSpc>
                <a:spcPct val="125000"/>
              </a:lnSpc>
              <a:buNone/>
            </a:pPr>
            <a:r>
              <a:rPr lang="en-US" sz="1260" b="1" dirty="0">
                <a:solidFill>
                  <a:srgbClr val="25194B"/>
                </a:solidFill>
                <a:latin typeface="Cambria" pitchFamily="34" charset="0"/>
                <a:ea typeface="Cambria" pitchFamily="34" charset="-122"/>
                <a:cs typeface="Cambria" pitchFamily="34" charset="-120"/>
              </a:rPr>
              <a:t>Kết luận chung</a:t>
            </a:r>
            <a:endParaRPr lang="en-US" sz="1260" dirty="0"/>
          </a:p>
        </p:txBody>
      </p:sp>
      <p:sp>
        <p:nvSpPr>
          <p:cNvPr id="5" name="Text 3"/>
          <p:cNvSpPr/>
          <p:nvPr/>
        </p:nvSpPr>
        <p:spPr>
          <a:xfrm>
            <a:off x="594360" y="960120"/>
            <a:ext cx="237744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+1,55</a:t>
            </a:r>
            <a:endParaRPr lang="en-US" sz="2400" dirty="0"/>
          </a:p>
        </p:txBody>
      </p:sp>
      <p:sp>
        <p:nvSpPr>
          <p:cNvPr id="6" name="Text 4"/>
          <p:cNvSpPr/>
          <p:nvPr/>
        </p:nvSpPr>
        <p:spPr>
          <a:xfrm>
            <a:off x="594360" y="1490472"/>
            <a:ext cx="237744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tập kiểm chính</a:t>
            </a:r>
            <a:endParaRPr lang="en-US" sz="1250" dirty="0"/>
          </a:p>
        </p:txBody>
      </p:sp>
      <p:sp>
        <p:nvSpPr>
          <p:cNvPr id="7" name="Text 5"/>
          <p:cNvSpPr/>
          <p:nvPr/>
        </p:nvSpPr>
        <p:spPr>
          <a:xfrm>
            <a:off x="3383280" y="960120"/>
            <a:ext cx="237744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+4,58</a:t>
            </a:r>
            <a:endParaRPr lang="en-US" sz="2400" dirty="0"/>
          </a:p>
        </p:txBody>
      </p:sp>
      <p:sp>
        <p:nvSpPr>
          <p:cNvPr id="8" name="Text 6"/>
          <p:cNvSpPr/>
          <p:nvPr/>
        </p:nvSpPr>
        <p:spPr>
          <a:xfrm>
            <a:off x="3383280" y="1490472"/>
            <a:ext cx="237744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tác vụ chưa có trong tập dạy S1</a:t>
            </a:r>
            <a:endParaRPr lang="en-US" sz="1250" dirty="0"/>
          </a:p>
        </p:txBody>
      </p:sp>
      <p:sp>
        <p:nvSpPr>
          <p:cNvPr id="9" name="Text 7"/>
          <p:cNvSpPr/>
          <p:nvPr/>
        </p:nvSpPr>
        <p:spPr>
          <a:xfrm>
            <a:off x="6172200" y="960120"/>
            <a:ext cx="237744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+9,14</a:t>
            </a:r>
            <a:endParaRPr lang="en-US" sz="2400" dirty="0"/>
          </a:p>
        </p:txBody>
      </p:sp>
      <p:sp>
        <p:nvSpPr>
          <p:cNvPr id="10" name="Text 8"/>
          <p:cNvSpPr/>
          <p:nvPr/>
        </p:nvSpPr>
        <p:spPr>
          <a:xfrm>
            <a:off x="6172200" y="1490472"/>
            <a:ext cx="237744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so với 7B prompting</a:t>
            </a:r>
            <a:endParaRPr lang="en-US" sz="1250" dirty="0"/>
          </a:p>
        </p:txBody>
      </p:sp>
      <p:sp>
        <p:nvSpPr>
          <p:cNvPr id="11" name="Shape 9"/>
          <p:cNvSpPr/>
          <p:nvPr/>
        </p:nvSpPr>
        <p:spPr>
          <a:xfrm>
            <a:off x="502920" y="2487168"/>
            <a:ext cx="8138160" cy="0"/>
          </a:xfrm>
          <a:prstGeom prst="line">
            <a:avLst/>
          </a:prstGeom>
          <a:noFill/>
          <a:ln w="12700">
            <a:solidFill>
              <a:srgbClr val="D9D6DF"/>
            </a:solidFill>
            <a:prstDash val="solid"/>
            <a:tailEnd type="none"/>
          </a:ln>
        </p:spPr>
      </p:sp>
      <p:sp>
        <p:nvSpPr>
          <p:cNvPr id="12" name="Shape 10"/>
          <p:cNvSpPr/>
          <p:nvPr/>
        </p:nvSpPr>
        <p:spPr>
          <a:xfrm>
            <a:off x="521208" y="3017520"/>
            <a:ext cx="64008" cy="64008"/>
          </a:xfrm>
          <a:prstGeom prst="ellipse">
            <a:avLst/>
          </a:prstGeom>
          <a:solidFill>
            <a:srgbClr val="4F417A"/>
          </a:solidFill>
          <a:ln w="12700">
            <a:solidFill>
              <a:srgbClr val="4F417A">
                <a:alpha val="0"/>
              </a:srgbClr>
            </a:solidFill>
            <a:prstDash val="solid"/>
          </a:ln>
        </p:spPr>
      </p:sp>
      <p:sp>
        <p:nvSpPr>
          <p:cNvPr id="13" name="Text 11"/>
          <p:cNvSpPr/>
          <p:nvPr/>
        </p:nvSpPr>
        <p:spPr>
          <a:xfrm>
            <a:off x="713232" y="2880360"/>
            <a:ext cx="7927848" cy="621792"/>
          </a:xfrm>
          <a:prstGeom prst="rect">
            <a:avLst/>
          </a:prstGeom>
          <a:noFill/>
          <a:ln/>
        </p:spPr>
        <p:txBody>
          <a:bodyPr wrap="square" lIns="0" tIns="0" rIns="0" bIns="0" rtlCol="0" anchor="t">
            <a:normAutofit/>
          </a:bodyPr>
          <a:lstStyle/>
          <a:p>
            <a:pPr indent="0" marL="0">
              <a:lnSpc>
                <a:spcPct val="125000"/>
              </a:lnSpc>
              <a:buNone/>
            </a:pPr>
            <a:r>
              <a:rPr lang="en-US" sz="1420" dirty="0">
                <a:solidFill>
                  <a:srgbClr val="1A1A1A"/>
                </a:solidFill>
                <a:latin typeface="Cambria" pitchFamily="34" charset="0"/>
                <a:ea typeface="Cambria" pitchFamily="34" charset="-122"/>
                <a:cs typeface="Cambria" pitchFamily="34" charset="-120"/>
              </a:rPr>
              <a:t>GRPO-SPICE tăng +1,55 điểm trên tập kiểm chính và +4,58 điểm trên ACU.</a:t>
            </a:r>
            <a:endParaRPr lang="en-US" sz="1420" dirty="0"/>
          </a:p>
        </p:txBody>
      </p:sp>
      <p:sp>
        <p:nvSpPr>
          <p:cNvPr id="14" name="Shape 12"/>
          <p:cNvSpPr/>
          <p:nvPr/>
        </p:nvSpPr>
        <p:spPr>
          <a:xfrm>
            <a:off x="521208" y="3822192"/>
            <a:ext cx="64008" cy="64008"/>
          </a:xfrm>
          <a:prstGeom prst="ellipse">
            <a:avLst/>
          </a:prstGeom>
          <a:solidFill>
            <a:srgbClr val="4F417A"/>
          </a:solidFill>
          <a:ln w="12700">
            <a:solidFill>
              <a:srgbClr val="4F417A">
                <a:alpha val="0"/>
              </a:srgbClr>
            </a:solidFill>
            <a:prstDash val="solid"/>
          </a:ln>
        </p:spPr>
      </p:sp>
      <p:sp>
        <p:nvSpPr>
          <p:cNvPr id="15" name="Text 13"/>
          <p:cNvSpPr/>
          <p:nvPr/>
        </p:nvSpPr>
        <p:spPr>
          <a:xfrm>
            <a:off x="713232" y="3685032"/>
            <a:ext cx="7927848" cy="621792"/>
          </a:xfrm>
          <a:prstGeom prst="rect">
            <a:avLst/>
          </a:prstGeom>
          <a:noFill/>
          <a:ln/>
        </p:spPr>
        <p:txBody>
          <a:bodyPr wrap="square" lIns="0" tIns="0" rIns="0" bIns="0" rtlCol="0" anchor="t">
            <a:normAutofit/>
          </a:bodyPr>
          <a:lstStyle/>
          <a:p>
            <a:pPr indent="0" marL="0">
              <a:lnSpc>
                <a:spcPct val="125000"/>
              </a:lnSpc>
              <a:buNone/>
            </a:pPr>
            <a:r>
              <a:rPr lang="en-US" sz="1420" dirty="0">
                <a:solidFill>
                  <a:srgbClr val="1A1A1A"/>
                </a:solidFill>
                <a:latin typeface="Cambria" pitchFamily="34" charset="0"/>
                <a:ea typeface="Cambria" pitchFamily="34" charset="-122"/>
                <a:cs typeface="Cambria" pitchFamily="34" charset="-120"/>
              </a:rPr>
              <a:t>ACE giữ executability ở 60,68% và tăng cả 7 chỉ số chất lượng câu.</a:t>
            </a:r>
            <a:endParaRPr lang="en-US" sz="1420" dirty="0"/>
          </a:p>
        </p:txBody>
      </p:sp>
      <p:sp>
        <p:nvSpPr>
          <p:cNvPr id="16" name="Shape 14"/>
          <p:cNvSpPr/>
          <p:nvPr/>
        </p:nvSpPr>
        <p:spPr>
          <a:xfrm>
            <a:off x="521208" y="4626864"/>
            <a:ext cx="64008" cy="64008"/>
          </a:xfrm>
          <a:prstGeom prst="ellipse">
            <a:avLst/>
          </a:prstGeom>
          <a:solidFill>
            <a:srgbClr val="4F417A"/>
          </a:solidFill>
          <a:ln w="12700">
            <a:solidFill>
              <a:srgbClr val="4F417A">
                <a:alpha val="0"/>
              </a:srgbClr>
            </a:solidFill>
            <a:prstDash val="solid"/>
          </a:ln>
        </p:spPr>
      </p:sp>
      <p:sp>
        <p:nvSpPr>
          <p:cNvPr id="17" name="Text 15"/>
          <p:cNvSpPr/>
          <p:nvPr/>
        </p:nvSpPr>
        <p:spPr>
          <a:xfrm>
            <a:off x="713232" y="4489704"/>
            <a:ext cx="7927848" cy="621792"/>
          </a:xfrm>
          <a:prstGeom prst="rect">
            <a:avLst/>
          </a:prstGeom>
          <a:noFill/>
          <a:ln/>
        </p:spPr>
        <p:txBody>
          <a:bodyPr wrap="square" lIns="0" tIns="0" rIns="0" bIns="0" rtlCol="0" anchor="t">
            <a:normAutofit/>
          </a:bodyPr>
          <a:lstStyle/>
          <a:p>
            <a:pPr indent="0" marL="0">
              <a:lnSpc>
                <a:spcPct val="125000"/>
              </a:lnSpc>
              <a:buNone/>
            </a:pPr>
            <a:r>
              <a:rPr lang="en-US" sz="1420" dirty="0">
                <a:solidFill>
                  <a:srgbClr val="1A1A1A"/>
                </a:solidFill>
                <a:latin typeface="Cambria" pitchFamily="34" charset="0"/>
                <a:ea typeface="Cambria" pitchFamily="34" charset="-122"/>
                <a:cs typeface="Cambria" pitchFamily="34" charset="-120"/>
              </a:rPr>
              <a:t>AitZ cho thấy lợi ích bổ sung của GRPO-SPICE giảm khi đổi miền.</a:t>
            </a:r>
            <a:endParaRPr lang="en-US" sz="1420" dirty="0"/>
          </a:p>
        </p:txBody>
      </p:sp>
      <p:sp>
        <p:nvSpPr>
          <p:cNvPr id="18" name="Shape 16"/>
          <p:cNvSpPr/>
          <p:nvPr/>
        </p:nvSpPr>
        <p:spPr>
          <a:xfrm>
            <a:off x="1005840" y="5577840"/>
            <a:ext cx="7132320" cy="530352"/>
          </a:xfrm>
          <a:prstGeom prst="roundRect">
            <a:avLst/>
          </a:prstGeom>
          <a:solidFill>
            <a:srgbClr val="F3F2F5"/>
          </a:solidFill>
          <a:ln w="12700">
            <a:solidFill>
              <a:srgbClr val="7A7099"/>
            </a:solidFill>
            <a:prstDash val="solid"/>
          </a:ln>
        </p:spPr>
      </p:sp>
      <p:sp>
        <p:nvSpPr>
          <p:cNvPr id="19" name="Text 17"/>
          <p:cNvSpPr/>
          <p:nvPr/>
        </p:nvSpPr>
        <p:spPr>
          <a:xfrm>
            <a:off x="1170432" y="5577840"/>
            <a:ext cx="6803136" cy="530352"/>
          </a:xfrm>
          <a:prstGeom prst="rect">
            <a:avLst/>
          </a:prstGeom>
          <a:noFill/>
          <a:ln/>
        </p:spPr>
        <p:txBody>
          <a:bodyPr wrap="square" lIns="0" tIns="0" rIns="0" bIns="0" rtlCol="0" anchor="ctr">
            <a:normAutofit/>
          </a:bodyPr>
          <a:lstStyle/>
          <a:p>
            <a:pPr algn="ctr" indent="0" marL="0">
              <a:lnSpc>
                <a:spcPct val="125000"/>
              </a:lnSpc>
              <a:buNone/>
            </a:pPr>
            <a:r>
              <a:rPr lang="en-US" sz="1320" b="1" dirty="0">
                <a:solidFill>
                  <a:srgbClr val="25194B"/>
                </a:solidFill>
                <a:latin typeface="Cambria" pitchFamily="34" charset="0"/>
                <a:ea typeface="Cambria" pitchFamily="34" charset="-122"/>
                <a:cs typeface="Cambria" pitchFamily="34" charset="-120"/>
              </a:rPr>
              <a:t>Kết luận chính: trong thiết lập AndroidControl, GRPO-SPICE làm tăng đồng thời chất lượng câu và executability.</a:t>
            </a:r>
            <a:endParaRPr lang="en-US" sz="1320" dirty="0"/>
          </a:p>
        </p:txBody>
      </p:sp>
      <p:sp>
        <p:nvSpPr>
          <p:cNvPr id="20" name="Text 18"/>
          <p:cNvSpPr/>
          <p:nvPr/>
        </p:nvSpPr>
        <p:spPr>
          <a:xfrm>
            <a:off x="502920" y="6327648"/>
            <a:ext cx="8138160" cy="137160"/>
          </a:xfrm>
          <a:prstGeom prst="rect">
            <a:avLst/>
          </a:prstGeom>
          <a:noFill/>
          <a:ln/>
        </p:spPr>
        <p:txBody>
          <a:bodyPr wrap="square" lIns="0" tIns="0" rIns="0" bIns="0" rtlCol="0" anchor="ctr"/>
          <a:lstStyle/>
          <a:p>
            <a:pPr algn="r" indent="0" marL="0">
              <a:lnSpc>
                <a:spcPct val="125000"/>
              </a:lnSpc>
              <a:buNone/>
            </a:pPr>
            <a:r>
              <a:rPr lang="en-US" sz="800" i="1" dirty="0">
                <a:solidFill>
                  <a:srgbClr val="5A5A66"/>
                </a:solidFill>
                <a:latin typeface="Cambria" pitchFamily="34" charset="0"/>
                <a:ea typeface="Cambria" pitchFamily="34" charset="-122"/>
                <a:cs typeface="Cambria" pitchFamily="34" charset="-120"/>
              </a:rPr>
              <a:t>Luận văn Chương 7</a:t>
            </a:r>
            <a:endParaRPr lang="en-US" sz="800" dirty="0"/>
          </a:p>
        </p:txBody>
      </p:sp>
      <p:sp>
        <p:nvSpPr>
          <p:cNvPr id="21" name="Shape 19"/>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2" name="Shape 20"/>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3" name="Shape 21"/>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4" name="Shape 22"/>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5" name="Text 23"/>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6" name="Text 24"/>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7" name="Text 25"/>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8" name="Text 26"/>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24/25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514600"/>
            <a:ext cx="7589520" cy="1051560"/>
          </a:xfrm>
          <a:prstGeom prst="rect">
            <a:avLst/>
          </a:prstGeom>
          <a:noFill/>
          <a:ln/>
        </p:spPr>
        <p:txBody>
          <a:bodyPr wrap="square" lIns="0" tIns="0" rIns="0" bIns="0" rtlCol="0" anchor="ctr">
            <a:normAutofit/>
          </a:bodyPr>
          <a:lstStyle/>
          <a:p>
            <a:pPr algn="ctr" indent="0" marL="0">
              <a:lnSpc>
                <a:spcPct val="125000"/>
              </a:lnSpc>
              <a:buNone/>
            </a:pPr>
            <a:r>
              <a:rPr lang="en-US" sz="2700" b="1" dirty="0">
                <a:solidFill>
                  <a:srgbClr val="25194B"/>
                </a:solidFill>
                <a:latin typeface="Cambria" pitchFamily="34" charset="0"/>
                <a:ea typeface="Cambria" pitchFamily="34" charset="-122"/>
                <a:cs typeface="Cambria" pitchFamily="34" charset="-120"/>
              </a:rPr>
              <a:t>Trân trọng cảm ơn Quý thầy cô đã lắng nghe.</a:t>
            </a:r>
            <a:endParaRPr lang="en-US" sz="2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Định nghĩa executability</a:t>
            </a:r>
            <a:endParaRPr lang="en-US" sz="1820" dirty="0"/>
          </a:p>
        </p:txBody>
      </p:sp>
      <p:sp>
        <p:nvSpPr>
          <p:cNvPr id="4" name="Text 2"/>
          <p:cNvSpPr/>
          <p:nvPr/>
        </p:nvSpPr>
        <p:spPr>
          <a:xfrm>
            <a:off x="502920" y="896112"/>
            <a:ext cx="3291840" cy="502920"/>
          </a:xfrm>
          <a:prstGeom prst="rect">
            <a:avLst/>
          </a:prstGeom>
          <a:noFill/>
          <a:ln/>
        </p:spPr>
        <p:txBody>
          <a:bodyPr wrap="square" lIns="0" tIns="0" rIns="0" bIns="0" rtlCol="0" anchor="ctr"/>
          <a:lstStyle/>
          <a:p>
            <a:pPr indent="0" marL="0">
              <a:lnSpc>
                <a:spcPct val="125000"/>
              </a:lnSpc>
              <a:buNone/>
            </a:pPr>
            <a:r>
              <a:rPr lang="en-US" sz="1700" b="1" dirty="0">
                <a:solidFill>
                  <a:srgbClr val="25194B"/>
                </a:solidFill>
                <a:latin typeface="Cambria" pitchFamily="34" charset="0"/>
                <a:ea typeface="Cambria" pitchFamily="34" charset="-122"/>
                <a:cs typeface="Cambria" pitchFamily="34" charset="-120"/>
              </a:rPr>
              <a:t>Một bước đúng khi đồng thời:</a:t>
            </a:r>
            <a:endParaRPr lang="en-US" sz="1700" dirty="0"/>
          </a:p>
        </p:txBody>
      </p:sp>
      <p:sp>
        <p:nvSpPr>
          <p:cNvPr id="5" name="Shape 3"/>
          <p:cNvSpPr/>
          <p:nvPr/>
        </p:nvSpPr>
        <p:spPr>
          <a:xfrm>
            <a:off x="521208" y="1508760"/>
            <a:ext cx="64008" cy="64008"/>
          </a:xfrm>
          <a:prstGeom prst="ellipse">
            <a:avLst/>
          </a:prstGeom>
          <a:solidFill>
            <a:srgbClr val="4F417A"/>
          </a:solidFill>
          <a:ln w="12700">
            <a:solidFill>
              <a:srgbClr val="4F417A">
                <a:alpha val="0"/>
              </a:srgbClr>
            </a:solidFill>
            <a:prstDash val="solid"/>
          </a:ln>
        </p:spPr>
      </p:sp>
      <p:sp>
        <p:nvSpPr>
          <p:cNvPr id="6" name="Text 4"/>
          <p:cNvSpPr/>
          <p:nvPr/>
        </p:nvSpPr>
        <p:spPr>
          <a:xfrm>
            <a:off x="713232" y="1371600"/>
            <a:ext cx="7927848" cy="612648"/>
          </a:xfrm>
          <a:prstGeom prst="rect">
            <a:avLst/>
          </a:prstGeom>
          <a:noFill/>
          <a:ln/>
        </p:spPr>
        <p:txBody>
          <a:bodyPr wrap="square" lIns="0" tIns="0" rIns="0" bIns="0" rtlCol="0" anchor="t">
            <a:normAutofit/>
          </a:bodyPr>
          <a:lstStyle/>
          <a:p>
            <a:pPr indent="0" marL="0">
              <a:lnSpc>
                <a:spcPct val="125000"/>
              </a:lnSpc>
              <a:buNone/>
            </a:pPr>
            <a:r>
              <a:rPr lang="en-US" sz="1550" dirty="0">
                <a:solidFill>
                  <a:srgbClr val="1A1A1A"/>
                </a:solidFill>
                <a:latin typeface="Cambria" pitchFamily="34" charset="0"/>
                <a:ea typeface="Cambria" pitchFamily="34" charset="-122"/>
                <a:cs typeface="Cambria" pitchFamily="34" charset="-120"/>
              </a:rPr>
              <a:t>Đúng loại thao tác.</a:t>
            </a:r>
            <a:endParaRPr lang="en-US" sz="1550" dirty="0"/>
          </a:p>
        </p:txBody>
      </p:sp>
      <p:sp>
        <p:nvSpPr>
          <p:cNvPr id="7" name="Shape 5"/>
          <p:cNvSpPr/>
          <p:nvPr/>
        </p:nvSpPr>
        <p:spPr>
          <a:xfrm>
            <a:off x="521208" y="2258568"/>
            <a:ext cx="64008" cy="64008"/>
          </a:xfrm>
          <a:prstGeom prst="ellipse">
            <a:avLst/>
          </a:prstGeom>
          <a:solidFill>
            <a:srgbClr val="4F417A"/>
          </a:solidFill>
          <a:ln w="12700">
            <a:solidFill>
              <a:srgbClr val="4F417A">
                <a:alpha val="0"/>
              </a:srgbClr>
            </a:solidFill>
            <a:prstDash val="solid"/>
          </a:ln>
        </p:spPr>
      </p:sp>
      <p:sp>
        <p:nvSpPr>
          <p:cNvPr id="8" name="Text 6"/>
          <p:cNvSpPr/>
          <p:nvPr/>
        </p:nvSpPr>
        <p:spPr>
          <a:xfrm>
            <a:off x="713232" y="2121408"/>
            <a:ext cx="7927848" cy="612648"/>
          </a:xfrm>
          <a:prstGeom prst="rect">
            <a:avLst/>
          </a:prstGeom>
          <a:noFill/>
          <a:ln/>
        </p:spPr>
        <p:txBody>
          <a:bodyPr wrap="square" lIns="0" tIns="0" rIns="0" bIns="0" rtlCol="0" anchor="t">
            <a:normAutofit/>
          </a:bodyPr>
          <a:lstStyle/>
          <a:p>
            <a:pPr indent="0" marL="0">
              <a:lnSpc>
                <a:spcPct val="125000"/>
              </a:lnSpc>
              <a:buNone/>
            </a:pPr>
            <a:r>
              <a:rPr lang="en-US" sz="1550" dirty="0">
                <a:solidFill>
                  <a:srgbClr val="1A1A1A"/>
                </a:solidFill>
                <a:latin typeface="Cambria" pitchFamily="34" charset="0"/>
                <a:ea typeface="Cambria" pitchFamily="34" charset="-122"/>
                <a:cs typeface="Cambria" pitchFamily="34" charset="-120"/>
              </a:rPr>
              <a:t>Không mô tả thao tác theo nghĩa ngược.</a:t>
            </a:r>
            <a:endParaRPr lang="en-US" sz="1550" dirty="0"/>
          </a:p>
        </p:txBody>
      </p:sp>
      <p:sp>
        <p:nvSpPr>
          <p:cNvPr id="9" name="Shape 7"/>
          <p:cNvSpPr/>
          <p:nvPr/>
        </p:nvSpPr>
        <p:spPr>
          <a:xfrm>
            <a:off x="521208" y="3008376"/>
            <a:ext cx="64008" cy="64008"/>
          </a:xfrm>
          <a:prstGeom prst="ellipse">
            <a:avLst/>
          </a:prstGeom>
          <a:solidFill>
            <a:srgbClr val="4F417A"/>
          </a:solidFill>
          <a:ln w="12700">
            <a:solidFill>
              <a:srgbClr val="4F417A">
                <a:alpha val="0"/>
              </a:srgbClr>
            </a:solidFill>
            <a:prstDash val="solid"/>
          </a:ln>
        </p:spPr>
      </p:sp>
      <p:sp>
        <p:nvSpPr>
          <p:cNvPr id="10" name="Text 8"/>
          <p:cNvSpPr/>
          <p:nvPr/>
        </p:nvSpPr>
        <p:spPr>
          <a:xfrm>
            <a:off x="713232" y="2871216"/>
            <a:ext cx="7927848" cy="612648"/>
          </a:xfrm>
          <a:prstGeom prst="rect">
            <a:avLst/>
          </a:prstGeom>
          <a:noFill/>
          <a:ln/>
        </p:spPr>
        <p:txBody>
          <a:bodyPr wrap="square" lIns="0" tIns="0" rIns="0" bIns="0" rtlCol="0" anchor="t">
            <a:normAutofit/>
          </a:bodyPr>
          <a:lstStyle/>
          <a:p>
            <a:pPr indent="0" marL="0">
              <a:lnSpc>
                <a:spcPct val="125000"/>
              </a:lnSpc>
              <a:buNone/>
            </a:pPr>
            <a:r>
              <a:rPr lang="en-US" sz="1550" dirty="0">
                <a:solidFill>
                  <a:srgbClr val="1A1A1A"/>
                </a:solidFill>
                <a:latin typeface="Cambria" pitchFamily="34" charset="0"/>
                <a:ea typeface="Cambria" pitchFamily="34" charset="-122"/>
                <a:cs typeface="Cambria" pitchFamily="34" charset="-120"/>
              </a:rPr>
              <a:t>|px−gx| ≤ 0,14W; |py−gy| ≤ 0,14H.</a:t>
            </a:r>
            <a:endParaRPr lang="en-US" sz="1550" dirty="0"/>
          </a:p>
        </p:txBody>
      </p:sp>
      <p:sp>
        <p:nvSpPr>
          <p:cNvPr id="11" name="Shape 9"/>
          <p:cNvSpPr/>
          <p:nvPr/>
        </p:nvSpPr>
        <p:spPr>
          <a:xfrm>
            <a:off x="521208" y="3758184"/>
            <a:ext cx="64008" cy="64008"/>
          </a:xfrm>
          <a:prstGeom prst="ellipse">
            <a:avLst/>
          </a:prstGeom>
          <a:solidFill>
            <a:srgbClr val="4F417A"/>
          </a:solidFill>
          <a:ln w="12700">
            <a:solidFill>
              <a:srgbClr val="4F417A">
                <a:alpha val="0"/>
              </a:srgbClr>
            </a:solidFill>
            <a:prstDash val="solid"/>
          </a:ln>
        </p:spPr>
      </p:sp>
      <p:sp>
        <p:nvSpPr>
          <p:cNvPr id="12" name="Text 10"/>
          <p:cNvSpPr/>
          <p:nvPr/>
        </p:nvSpPr>
        <p:spPr>
          <a:xfrm>
            <a:off x="713232" y="3621024"/>
            <a:ext cx="7927848" cy="612648"/>
          </a:xfrm>
          <a:prstGeom prst="rect">
            <a:avLst/>
          </a:prstGeom>
          <a:noFill/>
          <a:ln/>
        </p:spPr>
        <p:txBody>
          <a:bodyPr wrap="square" lIns="0" tIns="0" rIns="0" bIns="0" rtlCol="0" anchor="t">
            <a:normAutofit/>
          </a:bodyPr>
          <a:lstStyle/>
          <a:p>
            <a:pPr indent="0" marL="0">
              <a:lnSpc>
                <a:spcPct val="125000"/>
              </a:lnSpc>
              <a:buNone/>
            </a:pPr>
            <a:r>
              <a:rPr lang="en-US" sz="1550" dirty="0">
                <a:solidFill>
                  <a:srgbClr val="1A1A1A"/>
                </a:solidFill>
                <a:latin typeface="Cambria" pitchFamily="34" charset="0"/>
                <a:ea typeface="Cambria" pitchFamily="34" charset="-122"/>
                <a:cs typeface="Cambria" pitchFamily="34" charset="-120"/>
              </a:rPr>
              <a:t>Điểm p nằm trong ô Voronoi của phần tử cần chạm.</a:t>
            </a:r>
            <a:endParaRPr lang="en-US" sz="1550" dirty="0"/>
          </a:p>
        </p:txBody>
      </p:sp>
      <p:sp>
        <p:nvSpPr>
          <p:cNvPr id="13" name="Text 11"/>
          <p:cNvSpPr/>
          <p:nvPr/>
        </p:nvSpPr>
        <p:spPr>
          <a:xfrm>
            <a:off x="502920" y="4800600"/>
            <a:ext cx="8138160" cy="45720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Executability = số bước đúng / tổng số bước chạm.</a:t>
            </a:r>
            <a:endParaRPr lang="en-US" sz="1700" dirty="0"/>
          </a:p>
        </p:txBody>
      </p:sp>
      <p:sp>
        <p:nvSpPr>
          <p:cNvPr id="14" name="Shape 12"/>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5" name="Shape 13"/>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6" name="Shape 14"/>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7" name="Shape 15"/>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8" name="Text 16"/>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9" name="Text 17"/>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0" name="Text 18"/>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1" name="Text 19"/>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Toàn bộ thước đo</a:t>
            </a:r>
            <a:endParaRPr lang="en-US" sz="1820" dirty="0"/>
          </a:p>
        </p:txBody>
      </p:sp>
      <p:sp>
        <p:nvSpPr>
          <p:cNvPr id="4" name="Shape 2"/>
          <p:cNvSpPr/>
          <p:nvPr/>
        </p:nvSpPr>
        <p:spPr>
          <a:xfrm>
            <a:off x="502920" y="804672"/>
            <a:ext cx="7955280" cy="384048"/>
          </a:xfrm>
          <a:prstGeom prst="rect">
            <a:avLst/>
          </a:prstGeom>
          <a:solidFill>
            <a:srgbClr val="25194B"/>
          </a:solidFill>
          <a:ln w="12700">
            <a:solidFill>
              <a:srgbClr val="25194B">
                <a:alpha val="0"/>
              </a:srgbClr>
            </a:solidFill>
            <a:prstDash val="solid"/>
          </a:ln>
        </p:spPr>
      </p:sp>
      <p:sp>
        <p:nvSpPr>
          <p:cNvPr id="5" name="Text 3"/>
          <p:cNvSpPr/>
          <p:nvPr/>
        </p:nvSpPr>
        <p:spPr>
          <a:xfrm>
            <a:off x="502920" y="804672"/>
            <a:ext cx="2148840" cy="384048"/>
          </a:xfrm>
          <a:prstGeom prst="rect">
            <a:avLst/>
          </a:prstGeom>
          <a:noFill/>
          <a:ln/>
        </p:spPr>
        <p:txBody>
          <a:bodyPr wrap="square" lIns="0" tIns="0" rIns="0" bIns="0" rtlCol="0" anchor="ctr">
            <a:normAutofit/>
          </a:bodyPr>
          <a:lstStyle/>
          <a:p>
            <a:pPr algn="l" indent="0" marL="0">
              <a:lnSpc>
                <a:spcPct val="125000"/>
              </a:lnSpc>
              <a:buNone/>
            </a:pPr>
            <a:r>
              <a:rPr lang="en-US" sz="1200" b="1" dirty="0">
                <a:solidFill>
                  <a:srgbClr val="FFFFFF"/>
                </a:solidFill>
                <a:latin typeface="Cambria" pitchFamily="34" charset="0"/>
                <a:ea typeface="Cambria" pitchFamily="34" charset="-122"/>
                <a:cs typeface="Cambria" pitchFamily="34" charset="-120"/>
              </a:rPr>
              <a:t>Metric</a:t>
            </a:r>
            <a:endParaRPr lang="en-US" sz="1200" dirty="0"/>
          </a:p>
        </p:txBody>
      </p:sp>
      <p:sp>
        <p:nvSpPr>
          <p:cNvPr id="6" name="Text 4"/>
          <p:cNvSpPr/>
          <p:nvPr/>
        </p:nvSpPr>
        <p:spPr>
          <a:xfrm>
            <a:off x="2651760" y="804672"/>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200" b="1" dirty="0">
                <a:solidFill>
                  <a:srgbClr val="FFFFFF"/>
                </a:solidFill>
                <a:latin typeface="Cambria" pitchFamily="34" charset="0"/>
                <a:ea typeface="Cambria" pitchFamily="34" charset="-122"/>
                <a:cs typeface="Cambria" pitchFamily="34" charset="-120"/>
              </a:rPr>
              <a:t>Base</a:t>
            </a:r>
            <a:endParaRPr lang="en-US" sz="1200" dirty="0"/>
          </a:p>
        </p:txBody>
      </p:sp>
      <p:sp>
        <p:nvSpPr>
          <p:cNvPr id="7" name="Text 5"/>
          <p:cNvSpPr/>
          <p:nvPr/>
        </p:nvSpPr>
        <p:spPr>
          <a:xfrm>
            <a:off x="3749040" y="804672"/>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200" b="1" dirty="0">
                <a:solidFill>
                  <a:srgbClr val="FFFFFF"/>
                </a:solidFill>
                <a:latin typeface="Cambria" pitchFamily="34" charset="0"/>
                <a:ea typeface="Cambria" pitchFamily="34" charset="-122"/>
                <a:cs typeface="Cambria" pitchFamily="34" charset="-120"/>
              </a:rPr>
              <a:t>S1</a:t>
            </a:r>
            <a:endParaRPr lang="en-US" sz="1200" dirty="0"/>
          </a:p>
        </p:txBody>
      </p:sp>
      <p:sp>
        <p:nvSpPr>
          <p:cNvPr id="8" name="Text 6"/>
          <p:cNvSpPr/>
          <p:nvPr/>
        </p:nvSpPr>
        <p:spPr>
          <a:xfrm>
            <a:off x="4846320" y="804672"/>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200" b="1" dirty="0">
                <a:solidFill>
                  <a:srgbClr val="FFFFFF"/>
                </a:solidFill>
                <a:latin typeface="Cambria" pitchFamily="34" charset="0"/>
                <a:ea typeface="Cambria" pitchFamily="34" charset="-122"/>
                <a:cs typeface="Cambria" pitchFamily="34" charset="-120"/>
              </a:rPr>
              <a:t>GRPO</a:t>
            </a:r>
            <a:endParaRPr lang="en-US" sz="1200" dirty="0"/>
          </a:p>
        </p:txBody>
      </p:sp>
      <p:sp>
        <p:nvSpPr>
          <p:cNvPr id="9" name="Text 7"/>
          <p:cNvSpPr/>
          <p:nvPr/>
        </p:nvSpPr>
        <p:spPr>
          <a:xfrm>
            <a:off x="6080760" y="804672"/>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200" b="1" dirty="0">
                <a:solidFill>
                  <a:srgbClr val="FFFFFF"/>
                </a:solidFill>
                <a:latin typeface="Cambria" pitchFamily="34" charset="0"/>
                <a:ea typeface="Cambria" pitchFamily="34" charset="-122"/>
                <a:cs typeface="Cambria" pitchFamily="34" charset="-120"/>
              </a:rPr>
              <a:t>Đề xuất</a:t>
            </a:r>
            <a:endParaRPr lang="en-US" sz="1200" dirty="0"/>
          </a:p>
        </p:txBody>
      </p:sp>
      <p:sp>
        <p:nvSpPr>
          <p:cNvPr id="10" name="Text 8"/>
          <p:cNvSpPr/>
          <p:nvPr/>
        </p:nvSpPr>
        <p:spPr>
          <a:xfrm>
            <a:off x="7315200" y="804672"/>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200" b="1" dirty="0">
                <a:solidFill>
                  <a:srgbClr val="FFFFFF"/>
                </a:solidFill>
                <a:latin typeface="Cambria" pitchFamily="34" charset="0"/>
                <a:ea typeface="Cambria" pitchFamily="34" charset="-122"/>
                <a:cs typeface="Cambria" pitchFamily="34" charset="-120"/>
              </a:rPr>
              <a:t>Δ ACE</a:t>
            </a:r>
            <a:endParaRPr lang="en-US" sz="1200" dirty="0"/>
          </a:p>
        </p:txBody>
      </p:sp>
      <p:sp>
        <p:nvSpPr>
          <p:cNvPr id="11" name="Text 9"/>
          <p:cNvSpPr/>
          <p:nvPr/>
        </p:nvSpPr>
        <p:spPr>
          <a:xfrm>
            <a:off x="502920" y="1188720"/>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Executability</a:t>
            </a:r>
            <a:endParaRPr lang="en-US" sz="1170" dirty="0"/>
          </a:p>
        </p:txBody>
      </p:sp>
      <p:sp>
        <p:nvSpPr>
          <p:cNvPr id="12" name="Text 10"/>
          <p:cNvSpPr/>
          <p:nvPr/>
        </p:nvSpPr>
        <p:spPr>
          <a:xfrm>
            <a:off x="2651760" y="1188720"/>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47,59</a:t>
            </a:r>
            <a:endParaRPr lang="en-US" sz="1170" dirty="0"/>
          </a:p>
        </p:txBody>
      </p:sp>
      <p:sp>
        <p:nvSpPr>
          <p:cNvPr id="13" name="Text 11"/>
          <p:cNvSpPr/>
          <p:nvPr/>
        </p:nvSpPr>
        <p:spPr>
          <a:xfrm>
            <a:off x="3749040" y="1188720"/>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59,11</a:t>
            </a:r>
            <a:endParaRPr lang="en-US" sz="1170" dirty="0"/>
          </a:p>
        </p:txBody>
      </p:sp>
      <p:sp>
        <p:nvSpPr>
          <p:cNvPr id="14" name="Text 12"/>
          <p:cNvSpPr/>
          <p:nvPr/>
        </p:nvSpPr>
        <p:spPr>
          <a:xfrm>
            <a:off x="4846320" y="1188720"/>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60,65</a:t>
            </a:r>
            <a:endParaRPr lang="en-US" sz="1170" dirty="0"/>
          </a:p>
        </p:txBody>
      </p:sp>
      <p:sp>
        <p:nvSpPr>
          <p:cNvPr id="15" name="Text 13"/>
          <p:cNvSpPr/>
          <p:nvPr/>
        </p:nvSpPr>
        <p:spPr>
          <a:xfrm>
            <a:off x="6080760" y="1188720"/>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60,68</a:t>
            </a:r>
            <a:endParaRPr lang="en-US" sz="1170" dirty="0"/>
          </a:p>
        </p:txBody>
      </p:sp>
      <p:sp>
        <p:nvSpPr>
          <p:cNvPr id="16" name="Text 14"/>
          <p:cNvSpPr/>
          <p:nvPr/>
        </p:nvSpPr>
        <p:spPr>
          <a:xfrm>
            <a:off x="7315200" y="1188720"/>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+0,02</a:t>
            </a:r>
            <a:endParaRPr lang="en-US" sz="1170" dirty="0"/>
          </a:p>
        </p:txBody>
      </p:sp>
      <p:sp>
        <p:nvSpPr>
          <p:cNvPr id="17" name="Shape 15"/>
          <p:cNvSpPr/>
          <p:nvPr/>
        </p:nvSpPr>
        <p:spPr>
          <a:xfrm>
            <a:off x="502920" y="1572768"/>
            <a:ext cx="7955280" cy="0"/>
          </a:xfrm>
          <a:prstGeom prst="line">
            <a:avLst/>
          </a:prstGeom>
          <a:noFill/>
          <a:ln w="12700">
            <a:solidFill>
              <a:srgbClr val="D9D6DF"/>
            </a:solidFill>
            <a:prstDash val="solid"/>
            <a:tailEnd type="none"/>
          </a:ln>
        </p:spPr>
      </p:sp>
      <p:sp>
        <p:nvSpPr>
          <p:cNvPr id="18" name="Text 16"/>
          <p:cNvSpPr/>
          <p:nvPr/>
        </p:nvSpPr>
        <p:spPr>
          <a:xfrm>
            <a:off x="502920" y="1572768"/>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Hộp phần tử</a:t>
            </a:r>
            <a:endParaRPr lang="en-US" sz="1170" dirty="0"/>
          </a:p>
        </p:txBody>
      </p:sp>
      <p:sp>
        <p:nvSpPr>
          <p:cNvPr id="19" name="Text 17"/>
          <p:cNvSpPr/>
          <p:nvPr/>
        </p:nvSpPr>
        <p:spPr>
          <a:xfrm>
            <a:off x="2651760" y="1572768"/>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53,60</a:t>
            </a:r>
            <a:endParaRPr lang="en-US" sz="1170" dirty="0"/>
          </a:p>
        </p:txBody>
      </p:sp>
      <p:sp>
        <p:nvSpPr>
          <p:cNvPr id="20" name="Text 18"/>
          <p:cNvSpPr/>
          <p:nvPr/>
        </p:nvSpPr>
        <p:spPr>
          <a:xfrm>
            <a:off x="3749040" y="1572768"/>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65,49</a:t>
            </a:r>
            <a:endParaRPr lang="en-US" sz="1170" dirty="0"/>
          </a:p>
        </p:txBody>
      </p:sp>
      <p:sp>
        <p:nvSpPr>
          <p:cNvPr id="21" name="Text 19"/>
          <p:cNvSpPr/>
          <p:nvPr/>
        </p:nvSpPr>
        <p:spPr>
          <a:xfrm>
            <a:off x="4846320" y="1572768"/>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67,02</a:t>
            </a:r>
            <a:endParaRPr lang="en-US" sz="1170" dirty="0"/>
          </a:p>
        </p:txBody>
      </p:sp>
      <p:sp>
        <p:nvSpPr>
          <p:cNvPr id="22" name="Text 20"/>
          <p:cNvSpPr/>
          <p:nvPr/>
        </p:nvSpPr>
        <p:spPr>
          <a:xfrm>
            <a:off x="6080760" y="1572768"/>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67,11</a:t>
            </a:r>
            <a:endParaRPr lang="en-US" sz="1170" dirty="0"/>
          </a:p>
        </p:txBody>
      </p:sp>
      <p:sp>
        <p:nvSpPr>
          <p:cNvPr id="23" name="Text 21"/>
          <p:cNvSpPr/>
          <p:nvPr/>
        </p:nvSpPr>
        <p:spPr>
          <a:xfrm>
            <a:off x="7315200" y="1572768"/>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+0,09</a:t>
            </a:r>
            <a:endParaRPr lang="en-US" sz="1170" dirty="0"/>
          </a:p>
        </p:txBody>
      </p:sp>
      <p:sp>
        <p:nvSpPr>
          <p:cNvPr id="24" name="Shape 22"/>
          <p:cNvSpPr/>
          <p:nvPr/>
        </p:nvSpPr>
        <p:spPr>
          <a:xfrm>
            <a:off x="502920" y="1956816"/>
            <a:ext cx="7955280" cy="0"/>
          </a:xfrm>
          <a:prstGeom prst="line">
            <a:avLst/>
          </a:prstGeom>
          <a:noFill/>
          <a:ln w="12700">
            <a:solidFill>
              <a:srgbClr val="D9D6DF"/>
            </a:solidFill>
            <a:prstDash val="solid"/>
            <a:tailEnd type="none"/>
          </a:ln>
        </p:spPr>
      </p:sp>
      <p:sp>
        <p:nvSpPr>
          <p:cNvPr id="25" name="Text 23"/>
          <p:cNvSpPr/>
          <p:nvPr/>
        </p:nvSpPr>
        <p:spPr>
          <a:xfrm>
            <a:off x="502920" y="1956816"/>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AitW đầy đủ</a:t>
            </a:r>
            <a:endParaRPr lang="en-US" sz="1170" dirty="0"/>
          </a:p>
        </p:txBody>
      </p:sp>
      <p:sp>
        <p:nvSpPr>
          <p:cNvPr id="26" name="Text 24"/>
          <p:cNvSpPr/>
          <p:nvPr/>
        </p:nvSpPr>
        <p:spPr>
          <a:xfrm>
            <a:off x="2651760" y="1956816"/>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63,39</a:t>
            </a:r>
            <a:endParaRPr lang="en-US" sz="1170" dirty="0"/>
          </a:p>
        </p:txBody>
      </p:sp>
      <p:sp>
        <p:nvSpPr>
          <p:cNvPr id="27" name="Text 25"/>
          <p:cNvSpPr/>
          <p:nvPr/>
        </p:nvSpPr>
        <p:spPr>
          <a:xfrm>
            <a:off x="3749040" y="1956816"/>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74,37</a:t>
            </a:r>
            <a:endParaRPr lang="en-US" sz="1170" dirty="0"/>
          </a:p>
        </p:txBody>
      </p:sp>
      <p:sp>
        <p:nvSpPr>
          <p:cNvPr id="28" name="Text 26"/>
          <p:cNvSpPr/>
          <p:nvPr/>
        </p:nvSpPr>
        <p:spPr>
          <a:xfrm>
            <a:off x="4846320" y="1956816"/>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76,25</a:t>
            </a:r>
            <a:endParaRPr lang="en-US" sz="1170" dirty="0"/>
          </a:p>
        </p:txBody>
      </p:sp>
      <p:sp>
        <p:nvSpPr>
          <p:cNvPr id="29" name="Text 27"/>
          <p:cNvSpPr/>
          <p:nvPr/>
        </p:nvSpPr>
        <p:spPr>
          <a:xfrm>
            <a:off x="6080760" y="1956816"/>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76,32</a:t>
            </a:r>
            <a:endParaRPr lang="en-US" sz="1170" dirty="0"/>
          </a:p>
        </p:txBody>
      </p:sp>
      <p:sp>
        <p:nvSpPr>
          <p:cNvPr id="30" name="Text 28"/>
          <p:cNvSpPr/>
          <p:nvPr/>
        </p:nvSpPr>
        <p:spPr>
          <a:xfrm>
            <a:off x="7315200" y="1956816"/>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+0,07</a:t>
            </a:r>
            <a:endParaRPr lang="en-US" sz="1170" dirty="0"/>
          </a:p>
        </p:txBody>
      </p:sp>
      <p:sp>
        <p:nvSpPr>
          <p:cNvPr id="31" name="Shape 29"/>
          <p:cNvSpPr/>
          <p:nvPr/>
        </p:nvSpPr>
        <p:spPr>
          <a:xfrm>
            <a:off x="502920" y="2340864"/>
            <a:ext cx="7955280" cy="0"/>
          </a:xfrm>
          <a:prstGeom prst="line">
            <a:avLst/>
          </a:prstGeom>
          <a:noFill/>
          <a:ln w="12700">
            <a:solidFill>
              <a:srgbClr val="D9D6DF"/>
            </a:solidFill>
            <a:prstDash val="solid"/>
            <a:tailEnd type="none"/>
          </a:ln>
        </p:spPr>
      </p:sp>
      <p:sp>
        <p:nvSpPr>
          <p:cNvPr id="32" name="Text 30"/>
          <p:cNvSpPr/>
          <p:nvPr/>
        </p:nvSpPr>
        <p:spPr>
          <a:xfrm>
            <a:off x="502920" y="2340864"/>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BLEU-4</a:t>
            </a:r>
            <a:endParaRPr lang="en-US" sz="1170" dirty="0"/>
          </a:p>
        </p:txBody>
      </p:sp>
      <p:sp>
        <p:nvSpPr>
          <p:cNvPr id="33" name="Text 31"/>
          <p:cNvSpPr/>
          <p:nvPr/>
        </p:nvSpPr>
        <p:spPr>
          <a:xfrm>
            <a:off x="2651760" y="2340864"/>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15,30</a:t>
            </a:r>
            <a:endParaRPr lang="en-US" sz="1170" dirty="0"/>
          </a:p>
        </p:txBody>
      </p:sp>
      <p:sp>
        <p:nvSpPr>
          <p:cNvPr id="34" name="Text 32"/>
          <p:cNvSpPr/>
          <p:nvPr/>
        </p:nvSpPr>
        <p:spPr>
          <a:xfrm>
            <a:off x="3749040" y="2340864"/>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51,56</a:t>
            </a:r>
            <a:endParaRPr lang="en-US" sz="1170" dirty="0"/>
          </a:p>
        </p:txBody>
      </p:sp>
      <p:sp>
        <p:nvSpPr>
          <p:cNvPr id="35" name="Text 33"/>
          <p:cNvSpPr/>
          <p:nvPr/>
        </p:nvSpPr>
        <p:spPr>
          <a:xfrm>
            <a:off x="4846320" y="2340864"/>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52,36</a:t>
            </a:r>
            <a:endParaRPr lang="en-US" sz="1170" dirty="0"/>
          </a:p>
        </p:txBody>
      </p:sp>
      <p:sp>
        <p:nvSpPr>
          <p:cNvPr id="36" name="Text 34"/>
          <p:cNvSpPr/>
          <p:nvPr/>
        </p:nvSpPr>
        <p:spPr>
          <a:xfrm>
            <a:off x="6080760" y="2340864"/>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53,47</a:t>
            </a:r>
            <a:endParaRPr lang="en-US" sz="1170" dirty="0"/>
          </a:p>
        </p:txBody>
      </p:sp>
      <p:sp>
        <p:nvSpPr>
          <p:cNvPr id="37" name="Text 35"/>
          <p:cNvSpPr/>
          <p:nvPr/>
        </p:nvSpPr>
        <p:spPr>
          <a:xfrm>
            <a:off x="7315200" y="2340864"/>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+1,11</a:t>
            </a:r>
            <a:endParaRPr lang="en-US" sz="1170" dirty="0"/>
          </a:p>
        </p:txBody>
      </p:sp>
      <p:sp>
        <p:nvSpPr>
          <p:cNvPr id="38" name="Shape 36"/>
          <p:cNvSpPr/>
          <p:nvPr/>
        </p:nvSpPr>
        <p:spPr>
          <a:xfrm>
            <a:off x="502920" y="2724912"/>
            <a:ext cx="7955280" cy="0"/>
          </a:xfrm>
          <a:prstGeom prst="line">
            <a:avLst/>
          </a:prstGeom>
          <a:noFill/>
          <a:ln w="12700">
            <a:solidFill>
              <a:srgbClr val="D9D6DF"/>
            </a:solidFill>
            <a:prstDash val="solid"/>
            <a:tailEnd type="none"/>
          </a:ln>
        </p:spPr>
      </p:sp>
      <p:sp>
        <p:nvSpPr>
          <p:cNvPr id="39" name="Text 37"/>
          <p:cNvSpPr/>
          <p:nvPr/>
        </p:nvSpPr>
        <p:spPr>
          <a:xfrm>
            <a:off x="502920" y="2724912"/>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METEOR</a:t>
            </a:r>
            <a:endParaRPr lang="en-US" sz="1170" dirty="0"/>
          </a:p>
        </p:txBody>
      </p:sp>
      <p:sp>
        <p:nvSpPr>
          <p:cNvPr id="40" name="Text 38"/>
          <p:cNvSpPr/>
          <p:nvPr/>
        </p:nvSpPr>
        <p:spPr>
          <a:xfrm>
            <a:off x="2651760" y="2724912"/>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24,60</a:t>
            </a:r>
            <a:endParaRPr lang="en-US" sz="1170" dirty="0"/>
          </a:p>
        </p:txBody>
      </p:sp>
      <p:sp>
        <p:nvSpPr>
          <p:cNvPr id="41" name="Text 39"/>
          <p:cNvSpPr/>
          <p:nvPr/>
        </p:nvSpPr>
        <p:spPr>
          <a:xfrm>
            <a:off x="3749040" y="2724912"/>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36,79</a:t>
            </a:r>
            <a:endParaRPr lang="en-US" sz="1170" dirty="0"/>
          </a:p>
        </p:txBody>
      </p:sp>
      <p:sp>
        <p:nvSpPr>
          <p:cNvPr id="42" name="Text 40"/>
          <p:cNvSpPr/>
          <p:nvPr/>
        </p:nvSpPr>
        <p:spPr>
          <a:xfrm>
            <a:off x="4846320" y="2724912"/>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37,92</a:t>
            </a:r>
            <a:endParaRPr lang="en-US" sz="1170" dirty="0"/>
          </a:p>
        </p:txBody>
      </p:sp>
      <p:sp>
        <p:nvSpPr>
          <p:cNvPr id="43" name="Text 41"/>
          <p:cNvSpPr/>
          <p:nvPr/>
        </p:nvSpPr>
        <p:spPr>
          <a:xfrm>
            <a:off x="6080760" y="2724912"/>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38,37</a:t>
            </a:r>
            <a:endParaRPr lang="en-US" sz="1170" dirty="0"/>
          </a:p>
        </p:txBody>
      </p:sp>
      <p:sp>
        <p:nvSpPr>
          <p:cNvPr id="44" name="Text 42"/>
          <p:cNvSpPr/>
          <p:nvPr/>
        </p:nvSpPr>
        <p:spPr>
          <a:xfrm>
            <a:off x="7315200" y="2724912"/>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+0,45</a:t>
            </a:r>
            <a:endParaRPr lang="en-US" sz="1170" dirty="0"/>
          </a:p>
        </p:txBody>
      </p:sp>
      <p:sp>
        <p:nvSpPr>
          <p:cNvPr id="45" name="Shape 43"/>
          <p:cNvSpPr/>
          <p:nvPr/>
        </p:nvSpPr>
        <p:spPr>
          <a:xfrm>
            <a:off x="502920" y="3108960"/>
            <a:ext cx="7955280" cy="0"/>
          </a:xfrm>
          <a:prstGeom prst="line">
            <a:avLst/>
          </a:prstGeom>
          <a:noFill/>
          <a:ln w="12700">
            <a:solidFill>
              <a:srgbClr val="D9D6DF"/>
            </a:solidFill>
            <a:prstDash val="solid"/>
            <a:tailEnd type="none"/>
          </a:ln>
        </p:spPr>
      </p:sp>
      <p:sp>
        <p:nvSpPr>
          <p:cNvPr id="46" name="Text 44"/>
          <p:cNvSpPr/>
          <p:nvPr/>
        </p:nvSpPr>
        <p:spPr>
          <a:xfrm>
            <a:off x="502920" y="3108960"/>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ROUGE-L</a:t>
            </a:r>
            <a:endParaRPr lang="en-US" sz="1170" dirty="0"/>
          </a:p>
        </p:txBody>
      </p:sp>
      <p:sp>
        <p:nvSpPr>
          <p:cNvPr id="47" name="Text 45"/>
          <p:cNvSpPr/>
          <p:nvPr/>
        </p:nvSpPr>
        <p:spPr>
          <a:xfrm>
            <a:off x="2651760" y="3108960"/>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42,30</a:t>
            </a:r>
            <a:endParaRPr lang="en-US" sz="1170" dirty="0"/>
          </a:p>
        </p:txBody>
      </p:sp>
      <p:sp>
        <p:nvSpPr>
          <p:cNvPr id="48" name="Text 46"/>
          <p:cNvSpPr/>
          <p:nvPr/>
        </p:nvSpPr>
        <p:spPr>
          <a:xfrm>
            <a:off x="3749040" y="3108960"/>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67,35</a:t>
            </a:r>
            <a:endParaRPr lang="en-US" sz="1170" dirty="0"/>
          </a:p>
        </p:txBody>
      </p:sp>
      <p:sp>
        <p:nvSpPr>
          <p:cNvPr id="49" name="Text 47"/>
          <p:cNvSpPr/>
          <p:nvPr/>
        </p:nvSpPr>
        <p:spPr>
          <a:xfrm>
            <a:off x="4846320" y="3108960"/>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68,36</a:t>
            </a:r>
            <a:endParaRPr lang="en-US" sz="1170" dirty="0"/>
          </a:p>
        </p:txBody>
      </p:sp>
      <p:sp>
        <p:nvSpPr>
          <p:cNvPr id="50" name="Text 48"/>
          <p:cNvSpPr/>
          <p:nvPr/>
        </p:nvSpPr>
        <p:spPr>
          <a:xfrm>
            <a:off x="6080760" y="3108960"/>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69,11</a:t>
            </a:r>
            <a:endParaRPr lang="en-US" sz="1170" dirty="0"/>
          </a:p>
        </p:txBody>
      </p:sp>
      <p:sp>
        <p:nvSpPr>
          <p:cNvPr id="51" name="Text 49"/>
          <p:cNvSpPr/>
          <p:nvPr/>
        </p:nvSpPr>
        <p:spPr>
          <a:xfrm>
            <a:off x="7315200" y="3108960"/>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+0,74</a:t>
            </a:r>
            <a:endParaRPr lang="en-US" sz="1170" dirty="0"/>
          </a:p>
        </p:txBody>
      </p:sp>
      <p:sp>
        <p:nvSpPr>
          <p:cNvPr id="52" name="Shape 50"/>
          <p:cNvSpPr/>
          <p:nvPr/>
        </p:nvSpPr>
        <p:spPr>
          <a:xfrm>
            <a:off x="502920" y="3493008"/>
            <a:ext cx="7955280" cy="0"/>
          </a:xfrm>
          <a:prstGeom prst="line">
            <a:avLst/>
          </a:prstGeom>
          <a:noFill/>
          <a:ln w="12700">
            <a:solidFill>
              <a:srgbClr val="D9D6DF"/>
            </a:solidFill>
            <a:prstDash val="solid"/>
            <a:tailEnd type="none"/>
          </a:ln>
        </p:spPr>
      </p:sp>
      <p:sp>
        <p:nvSpPr>
          <p:cNvPr id="53" name="Text 51"/>
          <p:cNvSpPr/>
          <p:nvPr/>
        </p:nvSpPr>
        <p:spPr>
          <a:xfrm>
            <a:off x="502920" y="3493008"/>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CIDEr-D</a:t>
            </a:r>
            <a:endParaRPr lang="en-US" sz="1170" dirty="0"/>
          </a:p>
        </p:txBody>
      </p:sp>
      <p:sp>
        <p:nvSpPr>
          <p:cNvPr id="54" name="Text 52"/>
          <p:cNvSpPr/>
          <p:nvPr/>
        </p:nvSpPr>
        <p:spPr>
          <a:xfrm>
            <a:off x="2651760" y="3493008"/>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88,00</a:t>
            </a:r>
            <a:endParaRPr lang="en-US" sz="1170" dirty="0"/>
          </a:p>
        </p:txBody>
      </p:sp>
      <p:sp>
        <p:nvSpPr>
          <p:cNvPr id="55" name="Text 53"/>
          <p:cNvSpPr/>
          <p:nvPr/>
        </p:nvSpPr>
        <p:spPr>
          <a:xfrm>
            <a:off x="3749040" y="3493008"/>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416,12</a:t>
            </a:r>
            <a:endParaRPr lang="en-US" sz="1170" dirty="0"/>
          </a:p>
        </p:txBody>
      </p:sp>
      <p:sp>
        <p:nvSpPr>
          <p:cNvPr id="56" name="Text 54"/>
          <p:cNvSpPr/>
          <p:nvPr/>
        </p:nvSpPr>
        <p:spPr>
          <a:xfrm>
            <a:off x="4846320" y="3493008"/>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430,05</a:t>
            </a:r>
            <a:endParaRPr lang="en-US" sz="1170" dirty="0"/>
          </a:p>
        </p:txBody>
      </p:sp>
      <p:sp>
        <p:nvSpPr>
          <p:cNvPr id="57" name="Text 55"/>
          <p:cNvSpPr/>
          <p:nvPr/>
        </p:nvSpPr>
        <p:spPr>
          <a:xfrm>
            <a:off x="6080760" y="3493008"/>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442,02</a:t>
            </a:r>
            <a:endParaRPr lang="en-US" sz="1170" dirty="0"/>
          </a:p>
        </p:txBody>
      </p:sp>
      <p:sp>
        <p:nvSpPr>
          <p:cNvPr id="58" name="Text 56"/>
          <p:cNvSpPr/>
          <p:nvPr/>
        </p:nvSpPr>
        <p:spPr>
          <a:xfrm>
            <a:off x="7315200" y="3493008"/>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+11,97</a:t>
            </a:r>
            <a:endParaRPr lang="en-US" sz="1170" dirty="0"/>
          </a:p>
        </p:txBody>
      </p:sp>
      <p:sp>
        <p:nvSpPr>
          <p:cNvPr id="59" name="Shape 57"/>
          <p:cNvSpPr/>
          <p:nvPr/>
        </p:nvSpPr>
        <p:spPr>
          <a:xfrm>
            <a:off x="502920" y="3877056"/>
            <a:ext cx="7955280" cy="0"/>
          </a:xfrm>
          <a:prstGeom prst="line">
            <a:avLst/>
          </a:prstGeom>
          <a:noFill/>
          <a:ln w="12700">
            <a:solidFill>
              <a:srgbClr val="D9D6DF"/>
            </a:solidFill>
            <a:prstDash val="solid"/>
            <a:tailEnd type="none"/>
          </a:ln>
        </p:spPr>
      </p:sp>
      <p:sp>
        <p:nvSpPr>
          <p:cNvPr id="60" name="Text 58"/>
          <p:cNvSpPr/>
          <p:nvPr/>
        </p:nvSpPr>
        <p:spPr>
          <a:xfrm>
            <a:off x="502920" y="3877056"/>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SPICE</a:t>
            </a:r>
            <a:endParaRPr lang="en-US" sz="1170" dirty="0"/>
          </a:p>
        </p:txBody>
      </p:sp>
      <p:sp>
        <p:nvSpPr>
          <p:cNvPr id="61" name="Text 59"/>
          <p:cNvSpPr/>
          <p:nvPr/>
        </p:nvSpPr>
        <p:spPr>
          <a:xfrm>
            <a:off x="2651760" y="3877056"/>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18,50</a:t>
            </a:r>
            <a:endParaRPr lang="en-US" sz="1170" dirty="0"/>
          </a:p>
        </p:txBody>
      </p:sp>
      <p:sp>
        <p:nvSpPr>
          <p:cNvPr id="62" name="Text 60"/>
          <p:cNvSpPr/>
          <p:nvPr/>
        </p:nvSpPr>
        <p:spPr>
          <a:xfrm>
            <a:off x="3749040" y="3877056"/>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44,37</a:t>
            </a:r>
            <a:endParaRPr lang="en-US" sz="1170" dirty="0"/>
          </a:p>
        </p:txBody>
      </p:sp>
      <p:sp>
        <p:nvSpPr>
          <p:cNvPr id="63" name="Text 61"/>
          <p:cNvSpPr/>
          <p:nvPr/>
        </p:nvSpPr>
        <p:spPr>
          <a:xfrm>
            <a:off x="4846320" y="3877056"/>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45,79</a:t>
            </a:r>
            <a:endParaRPr lang="en-US" sz="1170" dirty="0"/>
          </a:p>
        </p:txBody>
      </p:sp>
      <p:sp>
        <p:nvSpPr>
          <p:cNvPr id="64" name="Text 62"/>
          <p:cNvSpPr/>
          <p:nvPr/>
        </p:nvSpPr>
        <p:spPr>
          <a:xfrm>
            <a:off x="6080760" y="3877056"/>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47,13</a:t>
            </a:r>
            <a:endParaRPr lang="en-US" sz="1170" dirty="0"/>
          </a:p>
        </p:txBody>
      </p:sp>
      <p:sp>
        <p:nvSpPr>
          <p:cNvPr id="65" name="Text 63"/>
          <p:cNvSpPr/>
          <p:nvPr/>
        </p:nvSpPr>
        <p:spPr>
          <a:xfrm>
            <a:off x="7315200" y="3877056"/>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+1,33</a:t>
            </a:r>
            <a:endParaRPr lang="en-US" sz="1170" dirty="0"/>
          </a:p>
        </p:txBody>
      </p:sp>
      <p:sp>
        <p:nvSpPr>
          <p:cNvPr id="66" name="Shape 64"/>
          <p:cNvSpPr/>
          <p:nvPr/>
        </p:nvSpPr>
        <p:spPr>
          <a:xfrm>
            <a:off x="502920" y="4261104"/>
            <a:ext cx="7955280" cy="0"/>
          </a:xfrm>
          <a:prstGeom prst="line">
            <a:avLst/>
          </a:prstGeom>
          <a:noFill/>
          <a:ln w="12700">
            <a:solidFill>
              <a:srgbClr val="D9D6DF"/>
            </a:solidFill>
            <a:prstDash val="solid"/>
            <a:tailEnd type="none"/>
          </a:ln>
        </p:spPr>
      </p:sp>
      <p:sp>
        <p:nvSpPr>
          <p:cNvPr id="67" name="Text 65"/>
          <p:cNvSpPr/>
          <p:nvPr/>
        </p:nvSpPr>
        <p:spPr>
          <a:xfrm>
            <a:off x="502920" y="4261104"/>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chrF</a:t>
            </a:r>
            <a:endParaRPr lang="en-US" sz="1170" dirty="0"/>
          </a:p>
        </p:txBody>
      </p:sp>
      <p:sp>
        <p:nvSpPr>
          <p:cNvPr id="68" name="Text 66"/>
          <p:cNvSpPr/>
          <p:nvPr/>
        </p:nvSpPr>
        <p:spPr>
          <a:xfrm>
            <a:off x="2651760" y="4261104"/>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40,20</a:t>
            </a:r>
            <a:endParaRPr lang="en-US" sz="1170" dirty="0"/>
          </a:p>
        </p:txBody>
      </p:sp>
      <p:sp>
        <p:nvSpPr>
          <p:cNvPr id="69" name="Text 67"/>
          <p:cNvSpPr/>
          <p:nvPr/>
        </p:nvSpPr>
        <p:spPr>
          <a:xfrm>
            <a:off x="3749040" y="4261104"/>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61,26</a:t>
            </a:r>
            <a:endParaRPr lang="en-US" sz="1170" dirty="0"/>
          </a:p>
        </p:txBody>
      </p:sp>
      <p:sp>
        <p:nvSpPr>
          <p:cNvPr id="70" name="Text 68"/>
          <p:cNvSpPr/>
          <p:nvPr/>
        </p:nvSpPr>
        <p:spPr>
          <a:xfrm>
            <a:off x="4846320" y="4261104"/>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62,87</a:t>
            </a:r>
            <a:endParaRPr lang="en-US" sz="1170" dirty="0"/>
          </a:p>
        </p:txBody>
      </p:sp>
      <p:sp>
        <p:nvSpPr>
          <p:cNvPr id="71" name="Text 69"/>
          <p:cNvSpPr/>
          <p:nvPr/>
        </p:nvSpPr>
        <p:spPr>
          <a:xfrm>
            <a:off x="6080760" y="4261104"/>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63,44</a:t>
            </a:r>
            <a:endParaRPr lang="en-US" sz="1170" dirty="0"/>
          </a:p>
        </p:txBody>
      </p:sp>
      <p:sp>
        <p:nvSpPr>
          <p:cNvPr id="72" name="Text 70"/>
          <p:cNvSpPr/>
          <p:nvPr/>
        </p:nvSpPr>
        <p:spPr>
          <a:xfrm>
            <a:off x="7315200" y="4261104"/>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+0,58</a:t>
            </a:r>
            <a:endParaRPr lang="en-US" sz="1170" dirty="0"/>
          </a:p>
        </p:txBody>
      </p:sp>
      <p:sp>
        <p:nvSpPr>
          <p:cNvPr id="73" name="Shape 71"/>
          <p:cNvSpPr/>
          <p:nvPr/>
        </p:nvSpPr>
        <p:spPr>
          <a:xfrm>
            <a:off x="502920" y="4645152"/>
            <a:ext cx="7955280" cy="0"/>
          </a:xfrm>
          <a:prstGeom prst="line">
            <a:avLst/>
          </a:prstGeom>
          <a:noFill/>
          <a:ln w="12700">
            <a:solidFill>
              <a:srgbClr val="D9D6DF"/>
            </a:solidFill>
            <a:prstDash val="solid"/>
            <a:tailEnd type="none"/>
          </a:ln>
        </p:spPr>
      </p:sp>
      <p:sp>
        <p:nvSpPr>
          <p:cNvPr id="74" name="Text 72"/>
          <p:cNvSpPr/>
          <p:nvPr/>
        </p:nvSpPr>
        <p:spPr>
          <a:xfrm>
            <a:off x="502920" y="4645152"/>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BERTScore</a:t>
            </a:r>
            <a:endParaRPr lang="en-US" sz="1170" dirty="0"/>
          </a:p>
        </p:txBody>
      </p:sp>
      <p:sp>
        <p:nvSpPr>
          <p:cNvPr id="75" name="Text 73"/>
          <p:cNvSpPr/>
          <p:nvPr/>
        </p:nvSpPr>
        <p:spPr>
          <a:xfrm>
            <a:off x="2651760" y="4645152"/>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40,10</a:t>
            </a:r>
            <a:endParaRPr lang="en-US" sz="1170" dirty="0"/>
          </a:p>
        </p:txBody>
      </p:sp>
      <p:sp>
        <p:nvSpPr>
          <p:cNvPr id="76" name="Text 74"/>
          <p:cNvSpPr/>
          <p:nvPr/>
        </p:nvSpPr>
        <p:spPr>
          <a:xfrm>
            <a:off x="3749040" y="4645152"/>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66,33</a:t>
            </a:r>
            <a:endParaRPr lang="en-US" sz="1170" dirty="0"/>
          </a:p>
        </p:txBody>
      </p:sp>
      <p:sp>
        <p:nvSpPr>
          <p:cNvPr id="77" name="Text 75"/>
          <p:cNvSpPr/>
          <p:nvPr/>
        </p:nvSpPr>
        <p:spPr>
          <a:xfrm>
            <a:off x="4846320" y="4645152"/>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67,07</a:t>
            </a:r>
            <a:endParaRPr lang="en-US" sz="1170" dirty="0"/>
          </a:p>
        </p:txBody>
      </p:sp>
      <p:sp>
        <p:nvSpPr>
          <p:cNvPr id="78" name="Text 76"/>
          <p:cNvSpPr/>
          <p:nvPr/>
        </p:nvSpPr>
        <p:spPr>
          <a:xfrm>
            <a:off x="6080760" y="4645152"/>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67,73</a:t>
            </a:r>
            <a:endParaRPr lang="en-US" sz="1170" dirty="0"/>
          </a:p>
        </p:txBody>
      </p:sp>
      <p:sp>
        <p:nvSpPr>
          <p:cNvPr id="79" name="Text 77"/>
          <p:cNvSpPr/>
          <p:nvPr/>
        </p:nvSpPr>
        <p:spPr>
          <a:xfrm>
            <a:off x="7315200" y="4645152"/>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+0,66</a:t>
            </a:r>
            <a:endParaRPr lang="en-US" sz="1170" dirty="0"/>
          </a:p>
        </p:txBody>
      </p:sp>
      <p:sp>
        <p:nvSpPr>
          <p:cNvPr id="80" name="Shape 78"/>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81" name="Shape 79"/>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82" name="Shape 80"/>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83" name="Shape 81"/>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84" name="Text 82"/>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85" name="Text 83"/>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86" name="Text 84"/>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87" name="Text 85"/>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Đối chiếu bằng bốn công cụ đánh giá</a:t>
            </a:r>
            <a:endParaRPr lang="en-US" sz="1820" dirty="0"/>
          </a:p>
        </p:txBody>
      </p:sp>
      <p:sp>
        <p:nvSpPr>
          <p:cNvPr id="4" name="Text 2"/>
          <p:cNvSpPr/>
          <p:nvPr/>
        </p:nvSpPr>
        <p:spPr>
          <a:xfrm>
            <a:off x="502920" y="868680"/>
            <a:ext cx="8138160" cy="411480"/>
          </a:xfrm>
          <a:prstGeom prst="rect">
            <a:avLst/>
          </a:prstGeom>
          <a:noFill/>
          <a:ln/>
        </p:spPr>
        <p:txBody>
          <a:bodyPr wrap="square" lIns="0" tIns="0" rIns="0" bIns="0" rtlCol="0" anchor="ctr"/>
          <a:lstStyle/>
          <a:p>
            <a:pPr algn="ctr" indent="0" marL="0">
              <a:lnSpc>
                <a:spcPct val="125000"/>
              </a:lnSpc>
              <a:buNone/>
            </a:pPr>
            <a:r>
              <a:rPr lang="en-US" sz="1650" b="1" dirty="0">
                <a:solidFill>
                  <a:srgbClr val="25194B"/>
                </a:solidFill>
                <a:latin typeface="Cambria" pitchFamily="34" charset="0"/>
                <a:ea typeface="Cambria" pitchFamily="34" charset="-122"/>
                <a:cs typeface="Cambria" pitchFamily="34" charset="-120"/>
              </a:rPr>
              <a:t>GRPO-SPICE − S1 trên cùng 4.463 bước</a:t>
            </a:r>
            <a:endParaRPr lang="en-US" sz="1650" dirty="0"/>
          </a:p>
        </p:txBody>
      </p:sp>
      <p:sp>
        <p:nvSpPr>
          <p:cNvPr id="5" name="Shape 3"/>
          <p:cNvSpPr/>
          <p:nvPr/>
        </p:nvSpPr>
        <p:spPr>
          <a:xfrm>
            <a:off x="960120" y="1508760"/>
            <a:ext cx="6903720" cy="420624"/>
          </a:xfrm>
          <a:prstGeom prst="rect">
            <a:avLst/>
          </a:prstGeom>
          <a:solidFill>
            <a:srgbClr val="25194B"/>
          </a:solidFill>
          <a:ln w="12700">
            <a:solidFill>
              <a:srgbClr val="25194B">
                <a:alpha val="0"/>
              </a:srgbClr>
            </a:solidFill>
            <a:prstDash val="solid"/>
          </a:ln>
        </p:spPr>
      </p:sp>
      <p:sp>
        <p:nvSpPr>
          <p:cNvPr id="6" name="Text 4"/>
          <p:cNvSpPr/>
          <p:nvPr/>
        </p:nvSpPr>
        <p:spPr>
          <a:xfrm>
            <a:off x="960120" y="1508760"/>
            <a:ext cx="2011680" cy="420624"/>
          </a:xfrm>
          <a:prstGeom prst="rect">
            <a:avLst/>
          </a:prstGeom>
          <a:noFill/>
          <a:ln/>
        </p:spPr>
        <p:txBody>
          <a:bodyPr wrap="square" lIns="0" tIns="0" rIns="0" bIns="0" rtlCol="0" anchor="ctr">
            <a:normAutofit/>
          </a:bodyPr>
          <a:lstStyle/>
          <a:p>
            <a:pPr algn="l" indent="0" marL="0">
              <a:lnSpc>
                <a:spcPct val="125000"/>
              </a:lnSpc>
              <a:buNone/>
            </a:pPr>
            <a:r>
              <a:rPr lang="en-US" sz="1300" b="1" dirty="0">
                <a:solidFill>
                  <a:srgbClr val="FFFFFF"/>
                </a:solidFill>
                <a:latin typeface="Cambria" pitchFamily="34" charset="0"/>
                <a:ea typeface="Cambria" pitchFamily="34" charset="-122"/>
                <a:cs typeface="Cambria" pitchFamily="34" charset="-120"/>
              </a:rPr>
              <a:t>Công cụ</a:t>
            </a:r>
            <a:endParaRPr lang="en-US" sz="1300" dirty="0"/>
          </a:p>
        </p:txBody>
      </p:sp>
      <p:sp>
        <p:nvSpPr>
          <p:cNvPr id="7" name="Text 5"/>
          <p:cNvSpPr/>
          <p:nvPr/>
        </p:nvSpPr>
        <p:spPr>
          <a:xfrm>
            <a:off x="2971800" y="1508760"/>
            <a:ext cx="1417320" cy="420624"/>
          </a:xfrm>
          <a:prstGeom prst="rect">
            <a:avLst/>
          </a:prstGeom>
          <a:noFill/>
          <a:ln/>
        </p:spPr>
        <p:txBody>
          <a:bodyPr wrap="square" lIns="0" tIns="0" rIns="0" bIns="0" rtlCol="0" anchor="ctr">
            <a:normAutofit/>
          </a:bodyPr>
          <a:lstStyle/>
          <a:p>
            <a:pPr algn="ctr" indent="0" marL="0">
              <a:lnSpc>
                <a:spcPct val="125000"/>
              </a:lnSpc>
              <a:buNone/>
            </a:pPr>
            <a:r>
              <a:rPr lang="en-US" sz="1300" b="1" dirty="0">
                <a:solidFill>
                  <a:srgbClr val="FFFFFF"/>
                </a:solidFill>
                <a:latin typeface="Cambria" pitchFamily="34" charset="0"/>
                <a:ea typeface="Cambria" pitchFamily="34" charset="-122"/>
                <a:cs typeface="Cambria" pitchFamily="34" charset="-120"/>
              </a:rPr>
              <a:t>Δ</a:t>
            </a:r>
            <a:endParaRPr lang="en-US" sz="1300" dirty="0"/>
          </a:p>
        </p:txBody>
      </p:sp>
      <p:sp>
        <p:nvSpPr>
          <p:cNvPr id="8" name="Text 6"/>
          <p:cNvSpPr/>
          <p:nvPr/>
        </p:nvSpPr>
        <p:spPr>
          <a:xfrm>
            <a:off x="4389120" y="1508760"/>
            <a:ext cx="3474720" cy="420624"/>
          </a:xfrm>
          <a:prstGeom prst="rect">
            <a:avLst/>
          </a:prstGeom>
          <a:noFill/>
          <a:ln/>
        </p:spPr>
        <p:txBody>
          <a:bodyPr wrap="square" lIns="0" tIns="0" rIns="0" bIns="0" rtlCol="0" anchor="ctr">
            <a:normAutofit/>
          </a:bodyPr>
          <a:lstStyle/>
          <a:p>
            <a:pPr algn="ctr" indent="0" marL="0">
              <a:lnSpc>
                <a:spcPct val="125000"/>
              </a:lnSpc>
              <a:buNone/>
            </a:pPr>
            <a:r>
              <a:rPr lang="en-US" sz="1300" b="1" dirty="0">
                <a:solidFill>
                  <a:srgbClr val="FFFFFF"/>
                </a:solidFill>
                <a:latin typeface="Cambria" pitchFamily="34" charset="0"/>
                <a:ea typeface="Cambria" pitchFamily="34" charset="-122"/>
                <a:cs typeface="Cambria" pitchFamily="34" charset="-120"/>
              </a:rPr>
              <a:t>KTC 95%</a:t>
            </a:r>
            <a:endParaRPr lang="en-US" sz="1300" dirty="0"/>
          </a:p>
        </p:txBody>
      </p:sp>
      <p:sp>
        <p:nvSpPr>
          <p:cNvPr id="9" name="Text 7"/>
          <p:cNvSpPr/>
          <p:nvPr/>
        </p:nvSpPr>
        <p:spPr>
          <a:xfrm>
            <a:off x="960120" y="1929384"/>
            <a:ext cx="2011680" cy="530352"/>
          </a:xfrm>
          <a:prstGeom prst="rect">
            <a:avLst/>
          </a:prstGeom>
          <a:noFill/>
          <a:ln/>
        </p:spPr>
        <p:txBody>
          <a:bodyPr wrap="square" lIns="0" tIns="0" rIns="0" bIns="0" rtlCol="0" anchor="ctr">
            <a:normAutofit/>
          </a:bodyPr>
          <a:lstStyle/>
          <a:p>
            <a:pPr algn="l" indent="0" marL="0">
              <a:lnSpc>
                <a:spcPct val="125000"/>
              </a:lnSpc>
              <a:buNone/>
            </a:pPr>
            <a:r>
              <a:rPr lang="en-US" sz="1300" dirty="0">
                <a:solidFill>
                  <a:srgbClr val="1A1A1A"/>
                </a:solidFill>
                <a:latin typeface="Cambria" pitchFamily="34" charset="0"/>
                <a:ea typeface="Cambria" pitchFamily="34" charset="-122"/>
                <a:cs typeface="Cambria" pitchFamily="34" charset="-120"/>
              </a:rPr>
              <a:t>UGround</a:t>
            </a:r>
            <a:endParaRPr lang="en-US" sz="1300" dirty="0"/>
          </a:p>
        </p:txBody>
      </p:sp>
      <p:sp>
        <p:nvSpPr>
          <p:cNvPr id="10" name="Text 8"/>
          <p:cNvSpPr/>
          <p:nvPr/>
        </p:nvSpPr>
        <p:spPr>
          <a:xfrm>
            <a:off x="2971800" y="1929384"/>
            <a:ext cx="14173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+1,55</a:t>
            </a:r>
            <a:endParaRPr lang="en-US" sz="1300" dirty="0"/>
          </a:p>
        </p:txBody>
      </p:sp>
      <p:sp>
        <p:nvSpPr>
          <p:cNvPr id="11" name="Text 9"/>
          <p:cNvSpPr/>
          <p:nvPr/>
        </p:nvSpPr>
        <p:spPr>
          <a:xfrm>
            <a:off x="4389120" y="1929384"/>
            <a:ext cx="34747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[+0,80; +2,33]</a:t>
            </a:r>
            <a:endParaRPr lang="en-US" sz="1300" dirty="0"/>
          </a:p>
        </p:txBody>
      </p:sp>
      <p:sp>
        <p:nvSpPr>
          <p:cNvPr id="12" name="Shape 10"/>
          <p:cNvSpPr/>
          <p:nvPr/>
        </p:nvSpPr>
        <p:spPr>
          <a:xfrm>
            <a:off x="960120" y="2459736"/>
            <a:ext cx="6903720" cy="0"/>
          </a:xfrm>
          <a:prstGeom prst="line">
            <a:avLst/>
          </a:prstGeom>
          <a:noFill/>
          <a:ln w="12700">
            <a:solidFill>
              <a:srgbClr val="D9D6DF"/>
            </a:solidFill>
            <a:prstDash val="solid"/>
            <a:tailEnd type="none"/>
          </a:ln>
        </p:spPr>
      </p:sp>
      <p:sp>
        <p:nvSpPr>
          <p:cNvPr id="13" name="Text 11"/>
          <p:cNvSpPr/>
          <p:nvPr/>
        </p:nvSpPr>
        <p:spPr>
          <a:xfrm>
            <a:off x="960120" y="2459736"/>
            <a:ext cx="2011680" cy="530352"/>
          </a:xfrm>
          <a:prstGeom prst="rect">
            <a:avLst/>
          </a:prstGeom>
          <a:noFill/>
          <a:ln/>
        </p:spPr>
        <p:txBody>
          <a:bodyPr wrap="square" lIns="0" tIns="0" rIns="0" bIns="0" rtlCol="0" anchor="ctr">
            <a:normAutofit/>
          </a:bodyPr>
          <a:lstStyle/>
          <a:p>
            <a:pPr algn="l" indent="0" marL="0">
              <a:lnSpc>
                <a:spcPct val="125000"/>
              </a:lnSpc>
              <a:buNone/>
            </a:pPr>
            <a:r>
              <a:rPr lang="en-US" sz="1300" dirty="0">
                <a:solidFill>
                  <a:srgbClr val="1A1A1A"/>
                </a:solidFill>
                <a:latin typeface="Cambria" pitchFamily="34" charset="0"/>
                <a:ea typeface="Cambria" pitchFamily="34" charset="-122"/>
                <a:cs typeface="Cambria" pitchFamily="34" charset="-120"/>
              </a:rPr>
              <a:t>UI-Venus</a:t>
            </a:r>
            <a:endParaRPr lang="en-US" sz="1300" dirty="0"/>
          </a:p>
        </p:txBody>
      </p:sp>
      <p:sp>
        <p:nvSpPr>
          <p:cNvPr id="14" name="Text 12"/>
          <p:cNvSpPr/>
          <p:nvPr/>
        </p:nvSpPr>
        <p:spPr>
          <a:xfrm>
            <a:off x="2971800" y="2459736"/>
            <a:ext cx="14173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+1,55</a:t>
            </a:r>
            <a:endParaRPr lang="en-US" sz="1300" dirty="0"/>
          </a:p>
        </p:txBody>
      </p:sp>
      <p:sp>
        <p:nvSpPr>
          <p:cNvPr id="15" name="Text 13"/>
          <p:cNvSpPr/>
          <p:nvPr/>
        </p:nvSpPr>
        <p:spPr>
          <a:xfrm>
            <a:off x="4389120" y="2459736"/>
            <a:ext cx="34747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[+0,82; +2,30]</a:t>
            </a:r>
            <a:endParaRPr lang="en-US" sz="1300" dirty="0"/>
          </a:p>
        </p:txBody>
      </p:sp>
      <p:sp>
        <p:nvSpPr>
          <p:cNvPr id="16" name="Shape 14"/>
          <p:cNvSpPr/>
          <p:nvPr/>
        </p:nvSpPr>
        <p:spPr>
          <a:xfrm>
            <a:off x="960120" y="2990088"/>
            <a:ext cx="6903720" cy="0"/>
          </a:xfrm>
          <a:prstGeom prst="line">
            <a:avLst/>
          </a:prstGeom>
          <a:noFill/>
          <a:ln w="12700">
            <a:solidFill>
              <a:srgbClr val="D9D6DF"/>
            </a:solidFill>
            <a:prstDash val="solid"/>
            <a:tailEnd type="none"/>
          </a:ln>
        </p:spPr>
      </p:sp>
      <p:sp>
        <p:nvSpPr>
          <p:cNvPr id="17" name="Text 15"/>
          <p:cNvSpPr/>
          <p:nvPr/>
        </p:nvSpPr>
        <p:spPr>
          <a:xfrm>
            <a:off x="960120" y="2990088"/>
            <a:ext cx="2011680" cy="530352"/>
          </a:xfrm>
          <a:prstGeom prst="rect">
            <a:avLst/>
          </a:prstGeom>
          <a:noFill/>
          <a:ln/>
        </p:spPr>
        <p:txBody>
          <a:bodyPr wrap="square" lIns="0" tIns="0" rIns="0" bIns="0" rtlCol="0" anchor="ctr">
            <a:normAutofit/>
          </a:bodyPr>
          <a:lstStyle/>
          <a:p>
            <a:pPr algn="l" indent="0" marL="0">
              <a:lnSpc>
                <a:spcPct val="125000"/>
              </a:lnSpc>
              <a:buNone/>
            </a:pPr>
            <a:r>
              <a:rPr lang="en-US" sz="1300" dirty="0">
                <a:solidFill>
                  <a:srgbClr val="1A1A1A"/>
                </a:solidFill>
                <a:latin typeface="Cambria" pitchFamily="34" charset="0"/>
                <a:ea typeface="Cambria" pitchFamily="34" charset="-122"/>
                <a:cs typeface="Cambria" pitchFamily="34" charset="-120"/>
              </a:rPr>
              <a:t>Phi-Ground</a:t>
            </a:r>
            <a:endParaRPr lang="en-US" sz="1300" dirty="0"/>
          </a:p>
        </p:txBody>
      </p:sp>
      <p:sp>
        <p:nvSpPr>
          <p:cNvPr id="18" name="Text 16"/>
          <p:cNvSpPr/>
          <p:nvPr/>
        </p:nvSpPr>
        <p:spPr>
          <a:xfrm>
            <a:off x="2971800" y="2990088"/>
            <a:ext cx="14173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+0,78</a:t>
            </a:r>
            <a:endParaRPr lang="en-US" sz="1300" dirty="0"/>
          </a:p>
        </p:txBody>
      </p:sp>
      <p:sp>
        <p:nvSpPr>
          <p:cNvPr id="19" name="Text 17"/>
          <p:cNvSpPr/>
          <p:nvPr/>
        </p:nvSpPr>
        <p:spPr>
          <a:xfrm>
            <a:off x="4389120" y="2990088"/>
            <a:ext cx="34747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[+0,05; +1,51]</a:t>
            </a:r>
            <a:endParaRPr lang="en-US" sz="1300" dirty="0"/>
          </a:p>
        </p:txBody>
      </p:sp>
      <p:sp>
        <p:nvSpPr>
          <p:cNvPr id="20" name="Shape 18"/>
          <p:cNvSpPr/>
          <p:nvPr/>
        </p:nvSpPr>
        <p:spPr>
          <a:xfrm>
            <a:off x="960120" y="3520440"/>
            <a:ext cx="6903720" cy="0"/>
          </a:xfrm>
          <a:prstGeom prst="line">
            <a:avLst/>
          </a:prstGeom>
          <a:noFill/>
          <a:ln w="12700">
            <a:solidFill>
              <a:srgbClr val="D9D6DF"/>
            </a:solidFill>
            <a:prstDash val="solid"/>
            <a:tailEnd type="none"/>
          </a:ln>
        </p:spPr>
      </p:sp>
      <p:sp>
        <p:nvSpPr>
          <p:cNvPr id="21" name="Text 19"/>
          <p:cNvSpPr/>
          <p:nvPr/>
        </p:nvSpPr>
        <p:spPr>
          <a:xfrm>
            <a:off x="960120" y="3520440"/>
            <a:ext cx="2011680" cy="530352"/>
          </a:xfrm>
          <a:prstGeom prst="rect">
            <a:avLst/>
          </a:prstGeom>
          <a:noFill/>
          <a:ln/>
        </p:spPr>
        <p:txBody>
          <a:bodyPr wrap="square" lIns="0" tIns="0" rIns="0" bIns="0" rtlCol="0" anchor="ctr">
            <a:normAutofit/>
          </a:bodyPr>
          <a:lstStyle/>
          <a:p>
            <a:pPr algn="l" indent="0" marL="0">
              <a:lnSpc>
                <a:spcPct val="125000"/>
              </a:lnSpc>
              <a:buNone/>
            </a:pPr>
            <a:r>
              <a:rPr lang="en-US" sz="1300" dirty="0">
                <a:solidFill>
                  <a:srgbClr val="1A1A1A"/>
                </a:solidFill>
                <a:latin typeface="Cambria" pitchFamily="34" charset="0"/>
                <a:ea typeface="Cambria" pitchFamily="34" charset="-122"/>
                <a:cs typeface="Cambria" pitchFamily="34" charset="-120"/>
              </a:rPr>
              <a:t>Phi-4</a:t>
            </a:r>
            <a:endParaRPr lang="en-US" sz="1300" dirty="0"/>
          </a:p>
        </p:txBody>
      </p:sp>
      <p:sp>
        <p:nvSpPr>
          <p:cNvPr id="22" name="Text 20"/>
          <p:cNvSpPr/>
          <p:nvPr/>
        </p:nvSpPr>
        <p:spPr>
          <a:xfrm>
            <a:off x="2971800" y="3520440"/>
            <a:ext cx="14173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+0,69</a:t>
            </a:r>
            <a:endParaRPr lang="en-US" sz="1300" dirty="0"/>
          </a:p>
        </p:txBody>
      </p:sp>
      <p:sp>
        <p:nvSpPr>
          <p:cNvPr id="23" name="Text 21"/>
          <p:cNvSpPr/>
          <p:nvPr/>
        </p:nvSpPr>
        <p:spPr>
          <a:xfrm>
            <a:off x="4389120" y="3520440"/>
            <a:ext cx="34747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[+0,02; +1,40]</a:t>
            </a:r>
            <a:endParaRPr lang="en-US" sz="1300" dirty="0"/>
          </a:p>
        </p:txBody>
      </p:sp>
      <p:sp>
        <p:nvSpPr>
          <p:cNvPr id="24" name="Text 22"/>
          <p:cNvSpPr/>
          <p:nvPr/>
        </p:nvSpPr>
        <p:spPr>
          <a:xfrm>
            <a:off x="502920" y="4343400"/>
            <a:ext cx="8138160" cy="594360"/>
          </a:xfrm>
          <a:prstGeom prst="rect">
            <a:avLst/>
          </a:prstGeom>
          <a:noFill/>
          <a:ln/>
        </p:spPr>
        <p:txBody>
          <a:bodyPr wrap="square" lIns="0" tIns="0" rIns="0" bIns="0" rtlCol="0" anchor="ctr">
            <a:normAutofit/>
          </a:bodyPr>
          <a:lstStyle/>
          <a:p>
            <a:pPr algn="ctr" indent="0" marL="0">
              <a:lnSpc>
                <a:spcPct val="125000"/>
              </a:lnSpc>
              <a:buNone/>
            </a:pPr>
            <a:r>
              <a:rPr lang="en-US" sz="1450" b="1" dirty="0">
                <a:solidFill>
                  <a:srgbClr val="25194B"/>
                </a:solidFill>
                <a:latin typeface="Cambria" pitchFamily="34" charset="0"/>
                <a:ea typeface="Cambria" pitchFamily="34" charset="-122"/>
                <a:cs typeface="Cambria" pitchFamily="34" charset="-120"/>
              </a:rPr>
              <a:t>Cả bốn khoảng tin cậy đều nằm trên 0. Phi-Ground và Phi-4 nằm ngoài họ Qwen.</a:t>
            </a:r>
            <a:endParaRPr lang="en-US" sz="1450" dirty="0"/>
          </a:p>
        </p:txBody>
      </p:sp>
      <p:sp>
        <p:nvSpPr>
          <p:cNvPr id="25" name="Shape 23"/>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6" name="Shape 24"/>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7" name="Shape 25"/>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8" name="Shape 26"/>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9" name="Text 27"/>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0" name="Text 28"/>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1" name="Text 29"/>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2" name="Text 30"/>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Cấu hình huấn luyện</a:t>
            </a:r>
            <a:endParaRPr lang="en-US" sz="1820" dirty="0"/>
          </a:p>
        </p:txBody>
      </p:sp>
      <p:sp>
        <p:nvSpPr>
          <p:cNvPr id="4" name="Shape 2"/>
          <p:cNvSpPr/>
          <p:nvPr/>
        </p:nvSpPr>
        <p:spPr>
          <a:xfrm>
            <a:off x="502920" y="914400"/>
            <a:ext cx="8046720" cy="402336"/>
          </a:xfrm>
          <a:prstGeom prst="rect">
            <a:avLst/>
          </a:prstGeom>
          <a:solidFill>
            <a:srgbClr val="25194B"/>
          </a:solidFill>
          <a:ln w="12700">
            <a:solidFill>
              <a:srgbClr val="25194B">
                <a:alpha val="0"/>
              </a:srgbClr>
            </a:solidFill>
            <a:prstDash val="solid"/>
          </a:ln>
        </p:spPr>
      </p:sp>
      <p:sp>
        <p:nvSpPr>
          <p:cNvPr id="5" name="Text 3"/>
          <p:cNvSpPr/>
          <p:nvPr/>
        </p:nvSpPr>
        <p:spPr>
          <a:xfrm>
            <a:off x="502920" y="914400"/>
            <a:ext cx="2743200" cy="402336"/>
          </a:xfrm>
          <a:prstGeom prst="rect">
            <a:avLst/>
          </a:prstGeom>
          <a:noFill/>
          <a:ln/>
        </p:spPr>
        <p:txBody>
          <a:bodyPr wrap="square" lIns="0" tIns="0" rIns="0" bIns="0" rtlCol="0" anchor="ctr">
            <a:normAutofit/>
          </a:bodyPr>
          <a:lstStyle/>
          <a:p>
            <a:pPr algn="l" indent="0" marL="0">
              <a:lnSpc>
                <a:spcPct val="125000"/>
              </a:lnSpc>
              <a:buNone/>
            </a:pPr>
            <a:r>
              <a:rPr lang="en-US" sz="1270" b="1" dirty="0">
                <a:solidFill>
                  <a:srgbClr val="FFFFFF"/>
                </a:solidFill>
                <a:latin typeface="Cambria" pitchFamily="34" charset="0"/>
                <a:ea typeface="Cambria" pitchFamily="34" charset="-122"/>
                <a:cs typeface="Cambria" pitchFamily="34" charset="-120"/>
              </a:rPr>
              <a:t>Hạng mục</a:t>
            </a:r>
            <a:endParaRPr lang="en-US" sz="1270" dirty="0"/>
          </a:p>
        </p:txBody>
      </p:sp>
      <p:sp>
        <p:nvSpPr>
          <p:cNvPr id="6" name="Text 4"/>
          <p:cNvSpPr/>
          <p:nvPr/>
        </p:nvSpPr>
        <p:spPr>
          <a:xfrm>
            <a:off x="3246120" y="914400"/>
            <a:ext cx="5303520" cy="402336"/>
          </a:xfrm>
          <a:prstGeom prst="rect">
            <a:avLst/>
          </a:prstGeom>
          <a:noFill/>
          <a:ln/>
        </p:spPr>
        <p:txBody>
          <a:bodyPr wrap="square" lIns="0" tIns="0" rIns="0" bIns="0" rtlCol="0" anchor="ctr">
            <a:normAutofit/>
          </a:bodyPr>
          <a:lstStyle/>
          <a:p>
            <a:pPr algn="l" indent="0" marL="0">
              <a:lnSpc>
                <a:spcPct val="125000"/>
              </a:lnSpc>
              <a:buNone/>
            </a:pPr>
            <a:r>
              <a:rPr lang="en-US" sz="1270" b="1" dirty="0">
                <a:solidFill>
                  <a:srgbClr val="FFFFFF"/>
                </a:solidFill>
                <a:latin typeface="Cambria" pitchFamily="34" charset="0"/>
                <a:ea typeface="Cambria" pitchFamily="34" charset="-122"/>
                <a:cs typeface="Cambria" pitchFamily="34" charset="-120"/>
              </a:rPr>
              <a:t>Giá trị</a:t>
            </a:r>
            <a:endParaRPr lang="en-US" sz="1270" dirty="0"/>
          </a:p>
        </p:txBody>
      </p:sp>
      <p:sp>
        <p:nvSpPr>
          <p:cNvPr id="7" name="Text 5"/>
          <p:cNvSpPr/>
          <p:nvPr/>
        </p:nvSpPr>
        <p:spPr>
          <a:xfrm>
            <a:off x="502920" y="1316736"/>
            <a:ext cx="274320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Backbone</a:t>
            </a:r>
            <a:endParaRPr lang="en-US" sz="1270" dirty="0"/>
          </a:p>
        </p:txBody>
      </p:sp>
      <p:sp>
        <p:nvSpPr>
          <p:cNvPr id="8" name="Text 6"/>
          <p:cNvSpPr/>
          <p:nvPr/>
        </p:nvSpPr>
        <p:spPr>
          <a:xfrm>
            <a:off x="3246120" y="1316736"/>
            <a:ext cx="530352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Qwen2.5-VL-3B-Instruct</a:t>
            </a:r>
            <a:endParaRPr lang="en-US" sz="1270" dirty="0"/>
          </a:p>
        </p:txBody>
      </p:sp>
      <p:sp>
        <p:nvSpPr>
          <p:cNvPr id="9" name="Shape 7"/>
          <p:cNvSpPr/>
          <p:nvPr/>
        </p:nvSpPr>
        <p:spPr>
          <a:xfrm>
            <a:off x="502920" y="1755648"/>
            <a:ext cx="8046720" cy="0"/>
          </a:xfrm>
          <a:prstGeom prst="line">
            <a:avLst/>
          </a:prstGeom>
          <a:noFill/>
          <a:ln w="12700">
            <a:solidFill>
              <a:srgbClr val="D9D6DF"/>
            </a:solidFill>
            <a:prstDash val="solid"/>
            <a:tailEnd type="none"/>
          </a:ln>
        </p:spPr>
      </p:sp>
      <p:sp>
        <p:nvSpPr>
          <p:cNvPr id="10" name="Text 8"/>
          <p:cNvSpPr/>
          <p:nvPr/>
        </p:nvSpPr>
        <p:spPr>
          <a:xfrm>
            <a:off x="502920" y="1755648"/>
            <a:ext cx="274320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Fine-tuning</a:t>
            </a:r>
            <a:endParaRPr lang="en-US" sz="1270" dirty="0"/>
          </a:p>
        </p:txBody>
      </p:sp>
      <p:sp>
        <p:nvSpPr>
          <p:cNvPr id="11" name="Text 9"/>
          <p:cNvSpPr/>
          <p:nvPr/>
        </p:nvSpPr>
        <p:spPr>
          <a:xfrm>
            <a:off x="3246120" y="1755648"/>
            <a:ext cx="530352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QLoRA NF4 4-bit, rank 8, alpha 16, dropout 0,05</a:t>
            </a:r>
            <a:endParaRPr lang="en-US" sz="1270" dirty="0"/>
          </a:p>
        </p:txBody>
      </p:sp>
      <p:sp>
        <p:nvSpPr>
          <p:cNvPr id="12" name="Shape 10"/>
          <p:cNvSpPr/>
          <p:nvPr/>
        </p:nvSpPr>
        <p:spPr>
          <a:xfrm>
            <a:off x="502920" y="2194560"/>
            <a:ext cx="8046720" cy="0"/>
          </a:xfrm>
          <a:prstGeom prst="line">
            <a:avLst/>
          </a:prstGeom>
          <a:noFill/>
          <a:ln w="12700">
            <a:solidFill>
              <a:srgbClr val="D9D6DF"/>
            </a:solidFill>
            <a:prstDash val="solid"/>
            <a:tailEnd type="none"/>
          </a:ln>
        </p:spPr>
      </p:sp>
      <p:sp>
        <p:nvSpPr>
          <p:cNvPr id="13" name="Text 11"/>
          <p:cNvSpPr/>
          <p:nvPr/>
        </p:nvSpPr>
        <p:spPr>
          <a:xfrm>
            <a:off x="502920" y="2194560"/>
            <a:ext cx="274320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SFT</a:t>
            </a:r>
            <a:endParaRPr lang="en-US" sz="1270" dirty="0"/>
          </a:p>
        </p:txBody>
      </p:sp>
      <p:sp>
        <p:nvSpPr>
          <p:cNvPr id="14" name="Text 12"/>
          <p:cNvSpPr/>
          <p:nvPr/>
        </p:nvSpPr>
        <p:spPr>
          <a:xfrm>
            <a:off x="3246120" y="2194560"/>
            <a:ext cx="530352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2 epochs = 8.072 steps, batch hiệu dụng 16, LR 1e−4</a:t>
            </a:r>
            <a:endParaRPr lang="en-US" sz="1270" dirty="0"/>
          </a:p>
        </p:txBody>
      </p:sp>
      <p:sp>
        <p:nvSpPr>
          <p:cNvPr id="15" name="Shape 13"/>
          <p:cNvSpPr/>
          <p:nvPr/>
        </p:nvSpPr>
        <p:spPr>
          <a:xfrm>
            <a:off x="502920" y="2633472"/>
            <a:ext cx="8046720" cy="0"/>
          </a:xfrm>
          <a:prstGeom prst="line">
            <a:avLst/>
          </a:prstGeom>
          <a:noFill/>
          <a:ln w="12700">
            <a:solidFill>
              <a:srgbClr val="D9D6DF"/>
            </a:solidFill>
            <a:prstDash val="solid"/>
            <a:tailEnd type="none"/>
          </a:ln>
        </p:spPr>
      </p:sp>
      <p:sp>
        <p:nvSpPr>
          <p:cNvPr id="16" name="Text 14"/>
          <p:cNvSpPr/>
          <p:nvPr/>
        </p:nvSpPr>
        <p:spPr>
          <a:xfrm>
            <a:off x="502920" y="2633472"/>
            <a:ext cx="274320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GRPO</a:t>
            </a:r>
            <a:endParaRPr lang="en-US" sz="1270" dirty="0"/>
          </a:p>
        </p:txBody>
      </p:sp>
      <p:sp>
        <p:nvSpPr>
          <p:cNvPr id="17" name="Text 15"/>
          <p:cNvSpPr/>
          <p:nvPr/>
        </p:nvSpPr>
        <p:spPr>
          <a:xfrm>
            <a:off x="3246120" y="2633472"/>
            <a:ext cx="530352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8 samples/prompt, 500 updates, LR 1e−5, KL β 0,04</a:t>
            </a:r>
            <a:endParaRPr lang="en-US" sz="1270" dirty="0"/>
          </a:p>
        </p:txBody>
      </p:sp>
      <p:sp>
        <p:nvSpPr>
          <p:cNvPr id="18" name="Shape 16"/>
          <p:cNvSpPr/>
          <p:nvPr/>
        </p:nvSpPr>
        <p:spPr>
          <a:xfrm>
            <a:off x="502920" y="3072384"/>
            <a:ext cx="8046720" cy="0"/>
          </a:xfrm>
          <a:prstGeom prst="line">
            <a:avLst/>
          </a:prstGeom>
          <a:noFill/>
          <a:ln w="12700">
            <a:solidFill>
              <a:srgbClr val="D9D6DF"/>
            </a:solidFill>
            <a:prstDash val="solid"/>
            <a:tailEnd type="none"/>
          </a:ln>
        </p:spPr>
      </p:sp>
      <p:sp>
        <p:nvSpPr>
          <p:cNvPr id="19" name="Text 17"/>
          <p:cNvSpPr/>
          <p:nvPr/>
        </p:nvSpPr>
        <p:spPr>
          <a:xfrm>
            <a:off x="502920" y="3072384"/>
            <a:ext cx="274320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Phần cứng</a:t>
            </a:r>
            <a:endParaRPr lang="en-US" sz="1270" dirty="0"/>
          </a:p>
        </p:txBody>
      </p:sp>
      <p:sp>
        <p:nvSpPr>
          <p:cNvPr id="20" name="Text 18"/>
          <p:cNvSpPr/>
          <p:nvPr/>
        </p:nvSpPr>
        <p:spPr>
          <a:xfrm>
            <a:off x="3246120" y="3072384"/>
            <a:ext cx="530352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1 × A100, vision tower không cập nhật tham số</a:t>
            </a:r>
            <a:endParaRPr lang="en-US" sz="1270" dirty="0"/>
          </a:p>
        </p:txBody>
      </p:sp>
      <p:sp>
        <p:nvSpPr>
          <p:cNvPr id="21" name="Shape 19"/>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2" name="Shape 20"/>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3" name="Shape 21"/>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4" name="Shape 22"/>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5" name="Text 23"/>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6" name="Text 24"/>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7" name="Text 25"/>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8" name="Text 26"/>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Các hướng đã khảo sát</a:t>
            </a:r>
            <a:endParaRPr lang="en-US" sz="1820" dirty="0"/>
          </a:p>
        </p:txBody>
      </p:sp>
      <p:sp>
        <p:nvSpPr>
          <p:cNvPr id="4" name="Shape 2"/>
          <p:cNvSpPr/>
          <p:nvPr/>
        </p:nvSpPr>
        <p:spPr>
          <a:xfrm>
            <a:off x="502920" y="960120"/>
            <a:ext cx="8138160" cy="420624"/>
          </a:xfrm>
          <a:prstGeom prst="rect">
            <a:avLst/>
          </a:prstGeom>
          <a:solidFill>
            <a:srgbClr val="25194B"/>
          </a:solidFill>
          <a:ln w="12700">
            <a:solidFill>
              <a:srgbClr val="25194B">
                <a:alpha val="0"/>
              </a:srgbClr>
            </a:solidFill>
            <a:prstDash val="solid"/>
          </a:ln>
        </p:spPr>
      </p:sp>
      <p:sp>
        <p:nvSpPr>
          <p:cNvPr id="5" name="Text 3"/>
          <p:cNvSpPr/>
          <p:nvPr/>
        </p:nvSpPr>
        <p:spPr>
          <a:xfrm>
            <a:off x="502920" y="960120"/>
            <a:ext cx="2514600" cy="420624"/>
          </a:xfrm>
          <a:prstGeom prst="rect">
            <a:avLst/>
          </a:prstGeom>
          <a:noFill/>
          <a:ln/>
        </p:spPr>
        <p:txBody>
          <a:bodyPr wrap="square" lIns="0" tIns="0" rIns="0" bIns="0" rtlCol="0" anchor="ctr">
            <a:normAutofit/>
          </a:bodyPr>
          <a:lstStyle/>
          <a:p>
            <a:pPr algn="l" indent="0" marL="0">
              <a:lnSpc>
                <a:spcPct val="125000"/>
              </a:lnSpc>
              <a:buNone/>
            </a:pPr>
            <a:r>
              <a:rPr lang="en-US" sz="1230" b="1" dirty="0">
                <a:solidFill>
                  <a:srgbClr val="FFFFFF"/>
                </a:solidFill>
                <a:latin typeface="Cambria" pitchFamily="34" charset="0"/>
                <a:ea typeface="Cambria" pitchFamily="34" charset="-122"/>
                <a:cs typeface="Cambria" pitchFamily="34" charset="-120"/>
              </a:rPr>
              <a:t>Hướng</a:t>
            </a:r>
            <a:endParaRPr lang="en-US" sz="1230" dirty="0"/>
          </a:p>
        </p:txBody>
      </p:sp>
      <p:sp>
        <p:nvSpPr>
          <p:cNvPr id="6" name="Text 4"/>
          <p:cNvSpPr/>
          <p:nvPr/>
        </p:nvSpPr>
        <p:spPr>
          <a:xfrm>
            <a:off x="3017520" y="960120"/>
            <a:ext cx="1097280" cy="420624"/>
          </a:xfrm>
          <a:prstGeom prst="rect">
            <a:avLst/>
          </a:prstGeom>
          <a:noFill/>
          <a:ln/>
        </p:spPr>
        <p:txBody>
          <a:bodyPr wrap="square" lIns="0" tIns="0" rIns="0" bIns="0" rtlCol="0" anchor="ctr">
            <a:normAutofit/>
          </a:bodyPr>
          <a:lstStyle/>
          <a:p>
            <a:pPr algn="ctr" indent="0" marL="0">
              <a:lnSpc>
                <a:spcPct val="125000"/>
              </a:lnSpc>
              <a:buNone/>
            </a:pPr>
            <a:r>
              <a:rPr lang="en-US" sz="1230" b="1" dirty="0">
                <a:solidFill>
                  <a:srgbClr val="FFFFFF"/>
                </a:solidFill>
                <a:latin typeface="Cambria" pitchFamily="34" charset="0"/>
                <a:ea typeface="Cambria" pitchFamily="34" charset="-122"/>
                <a:cs typeface="Cambria" pitchFamily="34" charset="-120"/>
              </a:rPr>
              <a:t>Exec.</a:t>
            </a:r>
            <a:endParaRPr lang="en-US" sz="1230" dirty="0"/>
          </a:p>
        </p:txBody>
      </p:sp>
      <p:sp>
        <p:nvSpPr>
          <p:cNvPr id="7" name="Text 5"/>
          <p:cNvSpPr/>
          <p:nvPr/>
        </p:nvSpPr>
        <p:spPr>
          <a:xfrm>
            <a:off x="4114800" y="960120"/>
            <a:ext cx="4526280" cy="420624"/>
          </a:xfrm>
          <a:prstGeom prst="rect">
            <a:avLst/>
          </a:prstGeom>
          <a:noFill/>
          <a:ln/>
        </p:spPr>
        <p:txBody>
          <a:bodyPr wrap="square" lIns="0" tIns="0" rIns="0" bIns="0" rtlCol="0" anchor="ctr">
            <a:normAutofit/>
          </a:bodyPr>
          <a:lstStyle/>
          <a:p>
            <a:pPr algn="l" indent="0" marL="0">
              <a:lnSpc>
                <a:spcPct val="125000"/>
              </a:lnSpc>
              <a:buNone/>
            </a:pPr>
            <a:r>
              <a:rPr lang="en-US" sz="1230" b="1" dirty="0">
                <a:solidFill>
                  <a:srgbClr val="FFFFFF"/>
                </a:solidFill>
                <a:latin typeface="Cambria" pitchFamily="34" charset="0"/>
                <a:ea typeface="Cambria" pitchFamily="34" charset="-122"/>
                <a:cs typeface="Cambria" pitchFamily="34" charset="-120"/>
              </a:rPr>
              <a:t>Điều rút ra</a:t>
            </a:r>
            <a:endParaRPr lang="en-US" sz="1230" dirty="0"/>
          </a:p>
        </p:txBody>
      </p:sp>
      <p:sp>
        <p:nvSpPr>
          <p:cNvPr id="8" name="Text 6"/>
          <p:cNvSpPr/>
          <p:nvPr/>
        </p:nvSpPr>
        <p:spPr>
          <a:xfrm>
            <a:off x="502920" y="1380744"/>
            <a:ext cx="251460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Mô tả phần tử trước câu</a:t>
            </a:r>
            <a:endParaRPr lang="en-US" sz="1210" dirty="0"/>
          </a:p>
        </p:txBody>
      </p:sp>
      <p:sp>
        <p:nvSpPr>
          <p:cNvPr id="9" name="Text 7"/>
          <p:cNvSpPr/>
          <p:nvPr/>
        </p:nvSpPr>
        <p:spPr>
          <a:xfrm>
            <a:off x="3017520" y="1380744"/>
            <a:ext cx="1097280" cy="585216"/>
          </a:xfrm>
          <a:prstGeom prst="rect">
            <a:avLst/>
          </a:prstGeom>
          <a:noFill/>
          <a:ln/>
        </p:spPr>
        <p:txBody>
          <a:bodyPr wrap="square" lIns="0" tIns="0" rIns="0" bIns="0" rtlCol="0" anchor="ctr">
            <a:normAutofit/>
          </a:bodyPr>
          <a:lstStyle/>
          <a:p>
            <a:pPr algn="ctr" indent="0" marL="0">
              <a:lnSpc>
                <a:spcPct val="125000"/>
              </a:lnSpc>
              <a:buNone/>
            </a:pPr>
            <a:r>
              <a:rPr lang="en-US" sz="1210" dirty="0">
                <a:solidFill>
                  <a:srgbClr val="1A1A1A"/>
                </a:solidFill>
                <a:latin typeface="Cambria" pitchFamily="34" charset="0"/>
                <a:ea typeface="Cambria" pitchFamily="34" charset="-122"/>
                <a:cs typeface="Cambria" pitchFamily="34" charset="-120"/>
              </a:rPr>
              <a:t>57,2</a:t>
            </a:r>
            <a:endParaRPr lang="en-US" sz="1210" dirty="0"/>
          </a:p>
        </p:txBody>
      </p:sp>
      <p:sp>
        <p:nvSpPr>
          <p:cNvPr id="10" name="Text 8"/>
          <p:cNvSpPr/>
          <p:nvPr/>
        </p:nvSpPr>
        <p:spPr>
          <a:xfrm>
            <a:off x="4114800" y="1380744"/>
            <a:ext cx="452628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Khi biểu diễn trung gian sai, câu cuối bị ảnh hưởng mạnh.</a:t>
            </a:r>
            <a:endParaRPr lang="en-US" sz="1210" dirty="0"/>
          </a:p>
        </p:txBody>
      </p:sp>
      <p:sp>
        <p:nvSpPr>
          <p:cNvPr id="11" name="Shape 9"/>
          <p:cNvSpPr/>
          <p:nvPr/>
        </p:nvSpPr>
        <p:spPr>
          <a:xfrm>
            <a:off x="502920" y="1965960"/>
            <a:ext cx="8138160" cy="0"/>
          </a:xfrm>
          <a:prstGeom prst="line">
            <a:avLst/>
          </a:prstGeom>
          <a:noFill/>
          <a:ln w="12700">
            <a:solidFill>
              <a:srgbClr val="D9D6DF"/>
            </a:solidFill>
            <a:prstDash val="solid"/>
            <a:tailEnd type="none"/>
          </a:ln>
        </p:spPr>
      </p:sp>
      <p:sp>
        <p:nvSpPr>
          <p:cNvPr id="12" name="Text 10"/>
          <p:cNvSpPr/>
          <p:nvPr/>
        </p:nvSpPr>
        <p:spPr>
          <a:xfrm>
            <a:off x="502920" y="1965960"/>
            <a:ext cx="251460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MIN-DESC</a:t>
            </a:r>
            <a:endParaRPr lang="en-US" sz="1210" dirty="0"/>
          </a:p>
        </p:txBody>
      </p:sp>
      <p:sp>
        <p:nvSpPr>
          <p:cNvPr id="13" name="Text 11"/>
          <p:cNvSpPr/>
          <p:nvPr/>
        </p:nvSpPr>
        <p:spPr>
          <a:xfrm>
            <a:off x="3017520" y="1965960"/>
            <a:ext cx="1097280" cy="585216"/>
          </a:xfrm>
          <a:prstGeom prst="rect">
            <a:avLst/>
          </a:prstGeom>
          <a:noFill/>
          <a:ln/>
        </p:spPr>
        <p:txBody>
          <a:bodyPr wrap="square" lIns="0" tIns="0" rIns="0" bIns="0" rtlCol="0" anchor="ctr">
            <a:normAutofit/>
          </a:bodyPr>
          <a:lstStyle/>
          <a:p>
            <a:pPr algn="ctr" indent="0" marL="0">
              <a:lnSpc>
                <a:spcPct val="125000"/>
              </a:lnSpc>
              <a:buNone/>
            </a:pPr>
            <a:r>
              <a:rPr lang="en-US" sz="1210" dirty="0">
                <a:solidFill>
                  <a:srgbClr val="1A1A1A"/>
                </a:solidFill>
                <a:latin typeface="Cambria" pitchFamily="34" charset="0"/>
                <a:ea typeface="Cambria" pitchFamily="34" charset="-122"/>
                <a:cs typeface="Cambria" pitchFamily="34" charset="-120"/>
              </a:rPr>
              <a:t>60,0</a:t>
            </a:r>
            <a:endParaRPr lang="en-US" sz="1210" dirty="0"/>
          </a:p>
        </p:txBody>
      </p:sp>
      <p:sp>
        <p:nvSpPr>
          <p:cNvPr id="14" name="Text 12"/>
          <p:cNvSpPr/>
          <p:nvPr/>
        </p:nvSpPr>
        <p:spPr>
          <a:xfrm>
            <a:off x="4114800" y="1965960"/>
            <a:ext cx="452628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Mục tiêu ưu tiên có đóng góp riêng +0,63 điểm so với học thêm có giám sát.</a:t>
            </a:r>
            <a:endParaRPr lang="en-US" sz="1210" dirty="0"/>
          </a:p>
        </p:txBody>
      </p:sp>
      <p:sp>
        <p:nvSpPr>
          <p:cNvPr id="15" name="Shape 13"/>
          <p:cNvSpPr/>
          <p:nvPr/>
        </p:nvSpPr>
        <p:spPr>
          <a:xfrm>
            <a:off x="502920" y="2551176"/>
            <a:ext cx="8138160" cy="0"/>
          </a:xfrm>
          <a:prstGeom prst="line">
            <a:avLst/>
          </a:prstGeom>
          <a:noFill/>
          <a:ln w="12700">
            <a:solidFill>
              <a:srgbClr val="D9D6DF"/>
            </a:solidFill>
            <a:prstDash val="solid"/>
            <a:tailEnd type="none"/>
          </a:ln>
        </p:spPr>
      </p:sp>
      <p:sp>
        <p:nvSpPr>
          <p:cNvPr id="16" name="Text 14"/>
          <p:cNvSpPr/>
          <p:nvPr/>
        </p:nvSpPr>
        <p:spPr>
          <a:xfrm>
            <a:off x="502920" y="2551176"/>
            <a:ext cx="251460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Phần thưởng tọa độ</a:t>
            </a:r>
            <a:endParaRPr lang="en-US" sz="1210" dirty="0"/>
          </a:p>
        </p:txBody>
      </p:sp>
      <p:sp>
        <p:nvSpPr>
          <p:cNvPr id="17" name="Text 15"/>
          <p:cNvSpPr/>
          <p:nvPr/>
        </p:nvSpPr>
        <p:spPr>
          <a:xfrm>
            <a:off x="3017520" y="2551176"/>
            <a:ext cx="1097280" cy="585216"/>
          </a:xfrm>
          <a:prstGeom prst="rect">
            <a:avLst/>
          </a:prstGeom>
          <a:noFill/>
          <a:ln/>
        </p:spPr>
        <p:txBody>
          <a:bodyPr wrap="square" lIns="0" tIns="0" rIns="0" bIns="0" rtlCol="0" anchor="ctr">
            <a:normAutofit/>
          </a:bodyPr>
          <a:lstStyle/>
          <a:p>
            <a:pPr algn="ctr" indent="0" marL="0">
              <a:lnSpc>
                <a:spcPct val="125000"/>
              </a:lnSpc>
              <a:buNone/>
            </a:pPr>
            <a:r>
              <a:rPr lang="en-US" sz="1210" dirty="0">
                <a:solidFill>
                  <a:srgbClr val="1A1A1A"/>
                </a:solidFill>
                <a:latin typeface="Cambria" pitchFamily="34" charset="0"/>
                <a:ea typeface="Cambria" pitchFamily="34" charset="-122"/>
                <a:cs typeface="Cambria" pitchFamily="34" charset="-120"/>
              </a:rPr>
              <a:t>60,1</a:t>
            </a:r>
            <a:endParaRPr lang="en-US" sz="1210" dirty="0"/>
          </a:p>
        </p:txBody>
      </p:sp>
      <p:sp>
        <p:nvSpPr>
          <p:cNvPr id="18" name="Text 16"/>
          <p:cNvSpPr/>
          <p:nvPr/>
        </p:nvSpPr>
        <p:spPr>
          <a:xfrm>
            <a:off x="4114800" y="2551176"/>
            <a:ext cx="452628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Biểu diễn tọa độ tốt hơn nhưng thay đổi ở câu cuối nhỏ hơn.</a:t>
            </a:r>
            <a:endParaRPr lang="en-US" sz="1210" dirty="0"/>
          </a:p>
        </p:txBody>
      </p:sp>
      <p:sp>
        <p:nvSpPr>
          <p:cNvPr id="19" name="Shape 17"/>
          <p:cNvSpPr/>
          <p:nvPr/>
        </p:nvSpPr>
        <p:spPr>
          <a:xfrm>
            <a:off x="502920" y="3136392"/>
            <a:ext cx="8138160" cy="0"/>
          </a:xfrm>
          <a:prstGeom prst="line">
            <a:avLst/>
          </a:prstGeom>
          <a:noFill/>
          <a:ln w="12700">
            <a:solidFill>
              <a:srgbClr val="D9D6DF"/>
            </a:solidFill>
            <a:prstDash val="solid"/>
            <a:tailEnd type="none"/>
          </a:ln>
        </p:spPr>
      </p:sp>
      <p:sp>
        <p:nvSpPr>
          <p:cNvPr id="20" name="Text 18"/>
          <p:cNvSpPr/>
          <p:nvPr/>
        </p:nvSpPr>
        <p:spPr>
          <a:xfrm>
            <a:off x="502920" y="3136392"/>
            <a:ext cx="251460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Chọn ứng viên</a:t>
            </a:r>
            <a:endParaRPr lang="en-US" sz="1210" dirty="0"/>
          </a:p>
        </p:txBody>
      </p:sp>
      <p:sp>
        <p:nvSpPr>
          <p:cNvPr id="21" name="Text 19"/>
          <p:cNvSpPr/>
          <p:nvPr/>
        </p:nvSpPr>
        <p:spPr>
          <a:xfrm>
            <a:off x="3017520" y="3136392"/>
            <a:ext cx="1097280" cy="585216"/>
          </a:xfrm>
          <a:prstGeom prst="rect">
            <a:avLst/>
          </a:prstGeom>
          <a:noFill/>
          <a:ln/>
        </p:spPr>
        <p:txBody>
          <a:bodyPr wrap="square" lIns="0" tIns="0" rIns="0" bIns="0" rtlCol="0" anchor="ctr">
            <a:normAutofit/>
          </a:bodyPr>
          <a:lstStyle/>
          <a:p>
            <a:pPr algn="ctr" indent="0" marL="0">
              <a:lnSpc>
                <a:spcPct val="125000"/>
              </a:lnSpc>
              <a:buNone/>
            </a:pPr>
            <a:r>
              <a:rPr lang="en-US" sz="1210" dirty="0">
                <a:solidFill>
                  <a:srgbClr val="1A1A1A"/>
                </a:solidFill>
                <a:latin typeface="Cambria" pitchFamily="34" charset="0"/>
                <a:ea typeface="Cambria" pitchFamily="34" charset="-122"/>
                <a:cs typeface="Cambria" pitchFamily="34" charset="-120"/>
              </a:rPr>
              <a:t>56,1</a:t>
            </a:r>
            <a:endParaRPr lang="en-US" sz="1210" dirty="0"/>
          </a:p>
        </p:txBody>
      </p:sp>
      <p:sp>
        <p:nvSpPr>
          <p:cNvPr id="22" name="Text 20"/>
          <p:cNvSpPr/>
          <p:nvPr/>
        </p:nvSpPr>
        <p:spPr>
          <a:xfrm>
            <a:off x="4114800" y="3136392"/>
            <a:ext cx="452628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Khi thực sự chọn, chất lượng khá tốt; vấn đề nằm ở quyết định từ chối chọn.</a:t>
            </a:r>
            <a:endParaRPr lang="en-US" sz="1210" dirty="0"/>
          </a:p>
        </p:txBody>
      </p:sp>
      <p:sp>
        <p:nvSpPr>
          <p:cNvPr id="23" name="Shape 21"/>
          <p:cNvSpPr/>
          <p:nvPr/>
        </p:nvSpPr>
        <p:spPr>
          <a:xfrm>
            <a:off x="502920" y="3721608"/>
            <a:ext cx="8138160" cy="0"/>
          </a:xfrm>
          <a:prstGeom prst="line">
            <a:avLst/>
          </a:prstGeom>
          <a:noFill/>
          <a:ln w="12700">
            <a:solidFill>
              <a:srgbClr val="D9D6DF"/>
            </a:solidFill>
            <a:prstDash val="solid"/>
            <a:tailEnd type="none"/>
          </a:ln>
        </p:spPr>
      </p:sp>
      <p:sp>
        <p:nvSpPr>
          <p:cNvPr id="24" name="Text 22"/>
          <p:cNvSpPr/>
          <p:nvPr/>
        </p:nvSpPr>
        <p:spPr>
          <a:xfrm>
            <a:off x="502920" y="3721608"/>
            <a:ext cx="251460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TAGE</a:t>
            </a:r>
            <a:endParaRPr lang="en-US" sz="1210" dirty="0"/>
          </a:p>
        </p:txBody>
      </p:sp>
      <p:sp>
        <p:nvSpPr>
          <p:cNvPr id="25" name="Text 23"/>
          <p:cNvSpPr/>
          <p:nvPr/>
        </p:nvSpPr>
        <p:spPr>
          <a:xfrm>
            <a:off x="3017520" y="3721608"/>
            <a:ext cx="1097280" cy="585216"/>
          </a:xfrm>
          <a:prstGeom prst="rect">
            <a:avLst/>
          </a:prstGeom>
          <a:noFill/>
          <a:ln/>
        </p:spPr>
        <p:txBody>
          <a:bodyPr wrap="square" lIns="0" tIns="0" rIns="0" bIns="0" rtlCol="0" anchor="ctr">
            <a:normAutofit/>
          </a:bodyPr>
          <a:lstStyle/>
          <a:p>
            <a:pPr algn="ctr" indent="0" marL="0">
              <a:lnSpc>
                <a:spcPct val="125000"/>
              </a:lnSpc>
              <a:buNone/>
            </a:pPr>
            <a:r>
              <a:rPr lang="en-US" sz="1210" dirty="0">
                <a:solidFill>
                  <a:srgbClr val="1A1A1A"/>
                </a:solidFill>
                <a:latin typeface="Cambria" pitchFamily="34" charset="0"/>
                <a:ea typeface="Cambria" pitchFamily="34" charset="-122"/>
                <a:cs typeface="Cambria" pitchFamily="34" charset="-120"/>
              </a:rPr>
              <a:t>60,2</a:t>
            </a:r>
            <a:endParaRPr lang="en-US" sz="1210" dirty="0"/>
          </a:p>
        </p:txBody>
      </p:sp>
      <p:sp>
        <p:nvSpPr>
          <p:cNvPr id="26" name="Text 24"/>
          <p:cNvSpPr/>
          <p:nvPr/>
        </p:nvSpPr>
        <p:spPr>
          <a:xfrm>
            <a:off x="4114800" y="3721608"/>
            <a:ext cx="452628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Bộ biên tập có ích khi vùng cắt đúng; khâu chọn vùng còn là điểm cần cải thiện.</a:t>
            </a:r>
            <a:endParaRPr lang="en-US" sz="1210" dirty="0"/>
          </a:p>
        </p:txBody>
      </p:sp>
      <p:sp>
        <p:nvSpPr>
          <p:cNvPr id="27" name="Shape 25"/>
          <p:cNvSpPr/>
          <p:nvPr/>
        </p:nvSpPr>
        <p:spPr>
          <a:xfrm>
            <a:off x="502920" y="4892040"/>
            <a:ext cx="8138160" cy="713232"/>
          </a:xfrm>
          <a:prstGeom prst="roundRect">
            <a:avLst/>
          </a:prstGeom>
          <a:solidFill>
            <a:srgbClr val="F3F2F5"/>
          </a:solidFill>
          <a:ln w="12700">
            <a:solidFill>
              <a:srgbClr val="7A7099"/>
            </a:solidFill>
            <a:prstDash val="solid"/>
          </a:ln>
        </p:spPr>
      </p:sp>
      <p:sp>
        <p:nvSpPr>
          <p:cNvPr id="28" name="Text 26"/>
          <p:cNvSpPr/>
          <p:nvPr/>
        </p:nvSpPr>
        <p:spPr>
          <a:xfrm>
            <a:off x="685800" y="4892040"/>
            <a:ext cx="7772400" cy="713232"/>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25194B"/>
                </a:solidFill>
                <a:latin typeface="Cambria" pitchFamily="34" charset="0"/>
                <a:ea typeface="Cambria" pitchFamily="34" charset="-122"/>
                <a:cs typeface="Cambria" pitchFamily="34" charset="-120"/>
              </a:rPr>
              <a:t>Các hướng trung gian giúp xác định rằng tối ưu trực tiếp câu cuối phù hợp hơn với mục tiêu chính.</a:t>
            </a:r>
            <a:endParaRPr lang="en-US" sz="1400" dirty="0"/>
          </a:p>
        </p:txBody>
      </p:sp>
      <p:sp>
        <p:nvSpPr>
          <p:cNvPr id="29" name="Shape 27"/>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30" name="Shape 28"/>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31" name="Shape 29"/>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32" name="Shape 30"/>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33" name="Text 31"/>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4" name="Text 32"/>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5" name="Text 33"/>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6" name="Text 34"/>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Phat sinh tu dong huong dan su dung phan mem dua tren LLM</dc:title>
  <dc:subject>Master thesis defense</dc:subject>
  <dc:creator>Le Doan Phuong Uyen</dc:creator>
  <cp:lastModifiedBy>Le Doan Phuong Uyen</cp:lastModifiedBy>
  <cp:revision>1</cp:revision>
  <dcterms:created xsi:type="dcterms:W3CDTF">2026-10-27T16:05:25Z</dcterms:created>
  <dcterms:modified xsi:type="dcterms:W3CDTF">2026-10-27T16:05:25Z</dcterms:modified>
</cp:coreProperties>
</file>