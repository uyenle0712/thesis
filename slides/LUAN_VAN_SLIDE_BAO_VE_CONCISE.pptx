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91132"/>
          </a:solidFill>
          <a:ln w="12700">
            <a:solidFill>
              <a:srgbClr val="191132">
                <a:alpha val="0"/>
              </a:srgbClr>
            </a:solidFill>
            <a:prstDash val="solid"/>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ĐẠI HỌC QUỐC GIA TP. HỒ CHÍ MINH  -  TRƯỜNG ĐẠI HỌC KHOA HỌC TỰ NHIÊN</a:t>
            </a:r>
            <a:endParaRPr lang="en-US" sz="1400" dirty="0"/>
          </a:p>
        </p:txBody>
      </p:sp>
      <p:sp>
        <p:nvSpPr>
          <p:cNvPr id="4" name="Shape 2"/>
          <p:cNvSpPr/>
          <p:nvPr/>
        </p:nvSpPr>
        <p:spPr>
          <a:xfrm>
            <a:off x="731520" y="1078992"/>
            <a:ext cx="7680960" cy="2286000"/>
          </a:xfrm>
          <a:prstGeom prst="roundRect">
            <a:avLst/>
          </a:prstGeom>
          <a:solidFill>
            <a:srgbClr val="25194B"/>
          </a:solidFill>
          <a:ln w="12700">
            <a:solidFill>
              <a:srgbClr val="25194B">
                <a:alpha val="0"/>
              </a:srgbClr>
            </a:solidFill>
            <a:prstDash val="solid"/>
          </a:ln>
        </p:spPr>
      </p:sp>
      <p:sp>
        <p:nvSpPr>
          <p:cNvPr id="5" name="Text 3"/>
          <p:cNvSpPr/>
          <p:nvPr/>
        </p:nvSpPr>
        <p:spPr>
          <a:xfrm>
            <a:off x="731520" y="1325880"/>
            <a:ext cx="76809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LUẬN VĂN THẠC SĨ  -  NGÀNH TRÍ TUỆ NHÂN TẠO</a:t>
            </a:r>
            <a:endParaRPr lang="en-US" sz="1400" dirty="0"/>
          </a:p>
        </p:txBody>
      </p:sp>
      <p:sp>
        <p:nvSpPr>
          <p:cNvPr id="6" name="Text 4"/>
          <p:cNvSpPr/>
          <p:nvPr/>
        </p:nvSpPr>
        <p:spPr>
          <a:xfrm>
            <a:off x="868680" y="1792224"/>
            <a:ext cx="7406640" cy="132588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Cambria" pitchFamily="34" charset="0"/>
                <a:ea typeface="Cambria" pitchFamily="34" charset="-122"/>
                <a:cs typeface="Cambria" pitchFamily="34" charset="-120"/>
              </a:rPr>
              <a:t>PHÁT SINH TỰ ĐỘNG HƯỚNG DẪN SỬ DỤNG PHẦN MỀM</a:t>
            </a:r>
            <a:endParaRPr lang="en-US" sz="2100" dirty="0"/>
          </a:p>
          <a:p>
            <a:pPr algn="ctr" indent="0" marL="0">
              <a:buNone/>
            </a:pPr>
            <a:r>
              <a:rPr lang="en-US" sz="2100" b="1" dirty="0">
                <a:solidFill>
                  <a:srgbClr val="FFFFFF"/>
                </a:solidFill>
                <a:latin typeface="Cambria" pitchFamily="34" charset="0"/>
                <a:ea typeface="Cambria" pitchFamily="34" charset="-122"/>
                <a:cs typeface="Cambria" pitchFamily="34" charset="-120"/>
              </a:rPr>
              <a:t>DỰA TRÊN LLM TỪ CÁC TRƯỜNG HỢP SỬ DỤNG</a:t>
            </a:r>
            <a:endParaRPr lang="en-US" sz="2100" dirty="0"/>
          </a:p>
          <a:p>
            <a:pPr algn="ctr" indent="0" marL="0">
              <a:buNone/>
            </a:pPr>
            <a:r>
              <a:rPr lang="en-US" sz="2100" b="1" dirty="0">
                <a:solidFill>
                  <a:srgbClr val="FFFFFF"/>
                </a:solidFill>
                <a:latin typeface="Cambria" pitchFamily="34" charset="0"/>
                <a:ea typeface="Cambria" pitchFamily="34" charset="-122"/>
                <a:cs typeface="Cambria" pitchFamily="34" charset="-120"/>
              </a:rPr>
              <a:t>VÀ GIAO DIỆN NGƯỜI DÙNG</a:t>
            </a:r>
            <a:endParaRPr lang="en-US" sz="2100" dirty="0"/>
          </a:p>
        </p:txBody>
      </p:sp>
      <p:sp>
        <p:nvSpPr>
          <p:cNvPr id="7" name="Text 5"/>
          <p:cNvSpPr/>
          <p:nvPr/>
        </p:nvSpPr>
        <p:spPr>
          <a:xfrm>
            <a:off x="731520" y="4160520"/>
            <a:ext cx="768096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Học viên thực hiện: Lê Đoàn Phương Uyên</a:t>
            </a:r>
            <a:endParaRPr lang="en-US" sz="1600" dirty="0"/>
          </a:p>
        </p:txBody>
      </p:sp>
      <p:sp>
        <p:nvSpPr>
          <p:cNvPr id="8" name="Text 6"/>
          <p:cNvSpPr/>
          <p:nvPr/>
        </p:nvSpPr>
        <p:spPr>
          <a:xfrm>
            <a:off x="731520" y="4572000"/>
            <a:ext cx="768096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Cambria" pitchFamily="34" charset="0"/>
                <a:ea typeface="Cambria" pitchFamily="34" charset="-122"/>
                <a:cs typeface="Cambria" pitchFamily="34" charset="-120"/>
              </a:rPr>
              <a:t>Giáo viên hướng dẫn: TS. Nguyễn Hồng Bửu Long</a:t>
            </a:r>
            <a:endParaRPr lang="en-US" sz="1600" dirty="0"/>
          </a:p>
        </p:txBody>
      </p:sp>
      <p:sp>
        <p:nvSpPr>
          <p:cNvPr id="9" name="Text 7"/>
          <p:cNvSpPr/>
          <p:nvPr/>
        </p:nvSpPr>
        <p:spPr>
          <a:xfrm>
            <a:off x="731520" y="5376672"/>
            <a:ext cx="7680960" cy="320040"/>
          </a:xfrm>
          <a:prstGeom prst="rect">
            <a:avLst/>
          </a:prstGeom>
          <a:noFill/>
          <a:ln/>
        </p:spPr>
        <p:txBody>
          <a:bodyPr wrap="square" lIns="0" tIns="0" rIns="0" bIns="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TP. Hồ Chí Minh - 2026</a:t>
            </a:r>
            <a:endParaRPr lang="en-US" sz="1300" dirty="0"/>
          </a:p>
        </p:txBody>
      </p:sp>
      <p:sp>
        <p:nvSpPr>
          <p:cNvPr id="10" name="Shape 8"/>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1" name="Shape 9"/>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2" name="Shape 10"/>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13" name="Shape 11"/>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14"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6"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 Bài toán</a:t>
            </a:r>
            <a:endParaRPr lang="en-US" sz="2000" dirty="0"/>
          </a:p>
        </p:txBody>
      </p:sp>
      <p:sp>
        <p:nvSpPr>
          <p:cNvPr id="4" name="Text 2"/>
          <p:cNvSpPr/>
          <p:nvPr/>
        </p:nvSpPr>
        <p:spPr>
          <a:xfrm>
            <a:off x="502920" y="896112"/>
            <a:ext cx="8138160" cy="566928"/>
          </a:xfrm>
          <a:prstGeom prst="rect">
            <a:avLst/>
          </a:prstGeom>
          <a:noFill/>
          <a:ln/>
        </p:spPr>
        <p:txBody>
          <a:bodyPr wrap="square" lIns="0" tIns="0" rIns="0" bIns="0" rtlCol="0" anchor="ctr">
            <a:normAutofit/>
          </a:bodyPr>
          <a:lstStyle/>
          <a:p>
            <a:pPr algn="ctr" indent="0" marL="0">
              <a:buNone/>
            </a:pPr>
            <a:r>
              <a:rPr lang="en-US" sz="1700" b="1" dirty="0">
                <a:solidFill>
                  <a:srgbClr val="25194B"/>
                </a:solidFill>
                <a:latin typeface="Cambria" pitchFamily="34" charset="0"/>
                <a:ea typeface="Cambria" pitchFamily="34" charset="-122"/>
                <a:cs typeface="Cambria" pitchFamily="34" charset="-120"/>
              </a:rPr>
              <a:t>Từ trạng thái giao diện hiện tại, sinh một câu hướng dẫn để người dùng biết chính xác bước tiếp theo cần làm.</a:t>
            </a:r>
            <a:endParaRPr lang="en-US" sz="1700" dirty="0"/>
          </a:p>
        </p:txBody>
      </p:sp>
      <p:sp>
        <p:nvSpPr>
          <p:cNvPr id="5" name="Shape 3"/>
          <p:cNvSpPr/>
          <p:nvPr/>
        </p:nvSpPr>
        <p:spPr>
          <a:xfrm>
            <a:off x="594360" y="1847088"/>
            <a:ext cx="1874520" cy="868680"/>
          </a:xfrm>
          <a:prstGeom prst="roundRect">
            <a:avLst/>
          </a:prstGeom>
          <a:solidFill>
            <a:srgbClr val="F3F2F5"/>
          </a:solidFill>
          <a:ln w="12700">
            <a:solidFill>
              <a:srgbClr val="7A7099"/>
            </a:solidFill>
            <a:prstDash val="solid"/>
          </a:ln>
        </p:spPr>
      </p:sp>
      <p:sp>
        <p:nvSpPr>
          <p:cNvPr id="6" name="Text 4"/>
          <p:cNvSpPr/>
          <p:nvPr/>
        </p:nvSpPr>
        <p:spPr>
          <a:xfrm>
            <a:off x="594360" y="1847088"/>
            <a:ext cx="1874520" cy="868680"/>
          </a:xfrm>
          <a:prstGeom prst="rect">
            <a:avLst/>
          </a:prstGeom>
          <a:noFill/>
          <a:ln/>
        </p:spPr>
        <p:txBody>
          <a:bodyPr wrap="square" lIns="0" tIns="0" rIns="0" bIns="0" rtlCol="0" anchor="ctr">
            <a:normAutofit/>
          </a:bodyPr>
          <a:lstStyle/>
          <a:p>
            <a:pPr algn="ctr" indent="0" marL="0">
              <a:buNone/>
            </a:pPr>
            <a:r>
              <a:rPr lang="en-US" sz="1600" b="1" dirty="0">
                <a:solidFill>
                  <a:srgbClr val="1A1A1A"/>
                </a:solidFill>
                <a:latin typeface="Cambria" pitchFamily="34" charset="0"/>
                <a:ea typeface="Cambria" pitchFamily="34" charset="-122"/>
                <a:cs typeface="Cambria" pitchFamily="34" charset="-120"/>
              </a:rPr>
              <a:t>Màn hình hiện tại</a:t>
            </a:r>
            <a:endParaRPr lang="en-US" sz="1600" dirty="0"/>
          </a:p>
        </p:txBody>
      </p:sp>
      <p:sp>
        <p:nvSpPr>
          <p:cNvPr id="7" name="Shape 5"/>
          <p:cNvSpPr/>
          <p:nvPr/>
        </p:nvSpPr>
        <p:spPr>
          <a:xfrm>
            <a:off x="2578608" y="2286000"/>
            <a:ext cx="438912" cy="0"/>
          </a:xfrm>
          <a:prstGeom prst="line">
            <a:avLst/>
          </a:prstGeom>
          <a:noFill/>
          <a:ln w="25400">
            <a:solidFill>
              <a:srgbClr val="4F417A"/>
            </a:solidFill>
            <a:prstDash val="solid"/>
            <a:tailEnd type="triangle"/>
          </a:ln>
        </p:spPr>
      </p:sp>
      <p:sp>
        <p:nvSpPr>
          <p:cNvPr id="8" name="Shape 6"/>
          <p:cNvSpPr/>
          <p:nvPr/>
        </p:nvSpPr>
        <p:spPr>
          <a:xfrm>
            <a:off x="3127248" y="1847088"/>
            <a:ext cx="1874520" cy="868680"/>
          </a:xfrm>
          <a:prstGeom prst="roundRect">
            <a:avLst/>
          </a:prstGeom>
          <a:solidFill>
            <a:srgbClr val="F3F2F5"/>
          </a:solidFill>
          <a:ln w="12700">
            <a:solidFill>
              <a:srgbClr val="25194B"/>
            </a:solidFill>
            <a:prstDash val="solid"/>
          </a:ln>
        </p:spPr>
      </p:sp>
      <p:sp>
        <p:nvSpPr>
          <p:cNvPr id="9" name="Text 7"/>
          <p:cNvSpPr/>
          <p:nvPr/>
        </p:nvSpPr>
        <p:spPr>
          <a:xfrm>
            <a:off x="3127248" y="1847088"/>
            <a:ext cx="1874520" cy="868680"/>
          </a:xfrm>
          <a:prstGeom prst="rect">
            <a:avLst/>
          </a:prstGeom>
          <a:noFill/>
          <a:ln/>
        </p:spPr>
        <p:txBody>
          <a:bodyPr wrap="square" lIns="0" tIns="0" rIns="0" bIns="0" rtlCol="0" anchor="ctr">
            <a:normAutofit/>
          </a:bodyPr>
          <a:lstStyle/>
          <a:p>
            <a:pPr algn="ctr" indent="0" marL="0">
              <a:buNone/>
            </a:pPr>
            <a:r>
              <a:rPr lang="en-US" sz="1600" b="1" dirty="0">
                <a:solidFill>
                  <a:srgbClr val="1A1A1A"/>
                </a:solidFill>
                <a:latin typeface="Cambria" pitchFamily="34" charset="0"/>
                <a:ea typeface="Cambria" pitchFamily="34" charset="-122"/>
                <a:cs typeface="Cambria" pitchFamily="34" charset="-120"/>
              </a:rPr>
              <a:t>Mô hình sinh câu</a:t>
            </a:r>
            <a:endParaRPr lang="en-US" sz="1600" dirty="0"/>
          </a:p>
        </p:txBody>
      </p:sp>
      <p:sp>
        <p:nvSpPr>
          <p:cNvPr id="10" name="Shape 8"/>
          <p:cNvSpPr/>
          <p:nvPr/>
        </p:nvSpPr>
        <p:spPr>
          <a:xfrm>
            <a:off x="5111496" y="2286000"/>
            <a:ext cx="438912" cy="0"/>
          </a:xfrm>
          <a:prstGeom prst="line">
            <a:avLst/>
          </a:prstGeom>
          <a:noFill/>
          <a:ln w="25400">
            <a:solidFill>
              <a:srgbClr val="4F417A"/>
            </a:solidFill>
            <a:prstDash val="solid"/>
            <a:tailEnd type="triangle"/>
          </a:ln>
        </p:spPr>
      </p:sp>
      <p:sp>
        <p:nvSpPr>
          <p:cNvPr id="11" name="Shape 9"/>
          <p:cNvSpPr/>
          <p:nvPr/>
        </p:nvSpPr>
        <p:spPr>
          <a:xfrm>
            <a:off x="5669280" y="1719072"/>
            <a:ext cx="2697480" cy="1115568"/>
          </a:xfrm>
          <a:prstGeom prst="roundRect">
            <a:avLst/>
          </a:prstGeom>
          <a:solidFill>
            <a:srgbClr val="F3F2F5"/>
          </a:solidFill>
          <a:ln w="12700">
            <a:solidFill>
              <a:srgbClr val="4F417A"/>
            </a:solidFill>
            <a:prstDash val="solid"/>
          </a:ln>
        </p:spPr>
      </p:sp>
      <p:sp>
        <p:nvSpPr>
          <p:cNvPr id="12" name="Text 10"/>
          <p:cNvSpPr/>
          <p:nvPr/>
        </p:nvSpPr>
        <p:spPr>
          <a:xfrm>
            <a:off x="5669280" y="1719072"/>
            <a:ext cx="2697480" cy="1115568"/>
          </a:xfrm>
          <a:prstGeom prst="rect">
            <a:avLst/>
          </a:prstGeom>
          <a:noFill/>
          <a:ln/>
        </p:spPr>
        <p:txBody>
          <a:bodyPr wrap="square" lIns="0" tIns="0" rIns="0" bIns="0" rtlCol="0" anchor="ctr">
            <a:normAutofit/>
          </a:bodyPr>
          <a:lstStyle/>
          <a:p>
            <a:pPr algn="ctr" indent="0" marL="0">
              <a:buNone/>
            </a:pPr>
            <a:r>
              <a:rPr lang="en-US" sz="1700" b="1" dirty="0">
                <a:solidFill>
                  <a:srgbClr val="1A1A1A"/>
                </a:solidFill>
                <a:latin typeface="Cambria" pitchFamily="34" charset="0"/>
                <a:ea typeface="Cambria" pitchFamily="34" charset="-122"/>
                <a:cs typeface="Cambria" pitchFamily="34" charset="-120"/>
              </a:rPr>
              <a:t>“Chạm vào Not now”</a:t>
            </a:r>
            <a:endParaRPr lang="en-US" sz="1700" dirty="0"/>
          </a:p>
        </p:txBody>
      </p:sp>
      <p:sp>
        <p:nvSpPr>
          <p:cNvPr id="13" name="Text 11"/>
          <p:cNvSpPr/>
          <p:nvPr/>
        </p:nvSpPr>
        <p:spPr>
          <a:xfrm>
            <a:off x="502920" y="3383280"/>
            <a:ext cx="1005840" cy="320040"/>
          </a:xfrm>
          <a:prstGeom prst="rect">
            <a:avLst/>
          </a:prstGeom>
          <a:noFill/>
          <a:ln/>
        </p:spPr>
        <p:txBody>
          <a:bodyPr wrap="square" lIns="0" tIns="0" rIns="0" bIns="0" rtlCol="0" anchor="ctr"/>
          <a:lstStyle/>
          <a:p>
            <a:pPr indent="0" marL="0">
              <a:buNone/>
            </a:pPr>
            <a:r>
              <a:rPr lang="en-US" sz="1700" b="1" dirty="0">
                <a:solidFill>
                  <a:srgbClr val="25194B"/>
                </a:solidFill>
                <a:latin typeface="Cambria" pitchFamily="34" charset="0"/>
                <a:ea typeface="Cambria" pitchFamily="34" charset="-122"/>
                <a:cs typeface="Cambria" pitchFamily="34" charset="-120"/>
              </a:rPr>
              <a:t>Đầu vào</a:t>
            </a:r>
            <a:endParaRPr lang="en-US" sz="1700" dirty="0"/>
          </a:p>
        </p:txBody>
      </p:sp>
      <p:sp>
        <p:nvSpPr>
          <p:cNvPr id="14" name="Shape 12"/>
          <p:cNvSpPr/>
          <p:nvPr/>
        </p:nvSpPr>
        <p:spPr>
          <a:xfrm>
            <a:off x="521208" y="3886200"/>
            <a:ext cx="64008" cy="64008"/>
          </a:xfrm>
          <a:prstGeom prst="ellipse">
            <a:avLst/>
          </a:prstGeom>
          <a:solidFill>
            <a:srgbClr val="4F417A"/>
          </a:solidFill>
          <a:ln w="12700">
            <a:solidFill>
              <a:srgbClr val="4F417A">
                <a:alpha val="0"/>
              </a:srgbClr>
            </a:solidFill>
            <a:prstDash val="solid"/>
          </a:ln>
        </p:spPr>
      </p:sp>
      <p:sp>
        <p:nvSpPr>
          <p:cNvPr id="15" name="Text 13"/>
          <p:cNvSpPr/>
          <p:nvPr/>
        </p:nvSpPr>
        <p:spPr>
          <a:xfrm>
            <a:off x="713232" y="3749040"/>
            <a:ext cx="3675888" cy="420624"/>
          </a:xfrm>
          <a:prstGeom prst="rect">
            <a:avLst/>
          </a:prstGeom>
          <a:noFill/>
          <a:ln/>
        </p:spPr>
        <p:txBody>
          <a:bodyPr wrap="square" lIns="0" tIns="0" rIns="0" bIns="0" rtlCol="0" anchor="t">
            <a:normAutofit/>
          </a:bodyPr>
          <a:lstStyle/>
          <a:p>
            <a:pPr indent="0" marL="0">
              <a:lnSpc>
                <a:spcPct val="112000"/>
              </a:lnSpc>
              <a:buNone/>
            </a:pPr>
            <a:r>
              <a:rPr lang="en-US" sz="1450" dirty="0">
                <a:solidFill>
                  <a:srgbClr val="1A1A1A"/>
                </a:solidFill>
                <a:latin typeface="Cambria" pitchFamily="34" charset="0"/>
                <a:ea typeface="Cambria" pitchFamily="34" charset="-122"/>
                <a:cs typeface="Cambria" pitchFamily="34" charset="-120"/>
              </a:rPr>
              <a:t>Ảnh màn hình hiện tại</a:t>
            </a:r>
            <a:endParaRPr lang="en-US" sz="1450" dirty="0"/>
          </a:p>
        </p:txBody>
      </p:sp>
      <p:sp>
        <p:nvSpPr>
          <p:cNvPr id="16" name="Shape 14"/>
          <p:cNvSpPr/>
          <p:nvPr/>
        </p:nvSpPr>
        <p:spPr>
          <a:xfrm>
            <a:off x="521208" y="4389120"/>
            <a:ext cx="64008" cy="64008"/>
          </a:xfrm>
          <a:prstGeom prst="ellipse">
            <a:avLst/>
          </a:prstGeom>
          <a:solidFill>
            <a:srgbClr val="4F417A"/>
          </a:solidFill>
          <a:ln w="12700">
            <a:solidFill>
              <a:srgbClr val="4F417A">
                <a:alpha val="0"/>
              </a:srgbClr>
            </a:solidFill>
            <a:prstDash val="solid"/>
          </a:ln>
        </p:spPr>
      </p:sp>
      <p:sp>
        <p:nvSpPr>
          <p:cNvPr id="17" name="Text 15"/>
          <p:cNvSpPr/>
          <p:nvPr/>
        </p:nvSpPr>
        <p:spPr>
          <a:xfrm>
            <a:off x="713232" y="4251960"/>
            <a:ext cx="3675888" cy="420624"/>
          </a:xfrm>
          <a:prstGeom prst="rect">
            <a:avLst/>
          </a:prstGeom>
          <a:noFill/>
          <a:ln/>
        </p:spPr>
        <p:txBody>
          <a:bodyPr wrap="square" lIns="0" tIns="0" rIns="0" bIns="0" rtlCol="0" anchor="t">
            <a:normAutofit/>
          </a:bodyPr>
          <a:lstStyle/>
          <a:p>
            <a:pPr indent="0" marL="0">
              <a:lnSpc>
                <a:spcPct val="112000"/>
              </a:lnSpc>
              <a:buNone/>
            </a:pPr>
            <a:r>
              <a:rPr lang="en-US" sz="1450" dirty="0">
                <a:solidFill>
                  <a:srgbClr val="1A1A1A"/>
                </a:solidFill>
                <a:latin typeface="Cambria" pitchFamily="34" charset="0"/>
                <a:ea typeface="Cambria" pitchFamily="34" charset="-122"/>
                <a:cs typeface="Cambria" pitchFamily="34" charset="-120"/>
              </a:rPr>
              <a:t>Mục tiêu người dùng</a:t>
            </a:r>
            <a:endParaRPr lang="en-US" sz="1450" dirty="0"/>
          </a:p>
        </p:txBody>
      </p:sp>
      <p:sp>
        <p:nvSpPr>
          <p:cNvPr id="18" name="Shape 16"/>
          <p:cNvSpPr/>
          <p:nvPr/>
        </p:nvSpPr>
        <p:spPr>
          <a:xfrm>
            <a:off x="521208" y="4892040"/>
            <a:ext cx="64008" cy="64008"/>
          </a:xfrm>
          <a:prstGeom prst="ellipse">
            <a:avLst/>
          </a:prstGeom>
          <a:solidFill>
            <a:srgbClr val="4F417A"/>
          </a:solidFill>
          <a:ln w="12700">
            <a:solidFill>
              <a:srgbClr val="4F417A">
                <a:alpha val="0"/>
              </a:srgbClr>
            </a:solidFill>
            <a:prstDash val="solid"/>
          </a:ln>
        </p:spPr>
      </p:sp>
      <p:sp>
        <p:nvSpPr>
          <p:cNvPr id="19" name="Text 17"/>
          <p:cNvSpPr/>
          <p:nvPr/>
        </p:nvSpPr>
        <p:spPr>
          <a:xfrm>
            <a:off x="713232" y="4754880"/>
            <a:ext cx="3675888" cy="420624"/>
          </a:xfrm>
          <a:prstGeom prst="rect">
            <a:avLst/>
          </a:prstGeom>
          <a:noFill/>
          <a:ln/>
        </p:spPr>
        <p:txBody>
          <a:bodyPr wrap="square" lIns="0" tIns="0" rIns="0" bIns="0" rtlCol="0" anchor="t">
            <a:normAutofit/>
          </a:bodyPr>
          <a:lstStyle/>
          <a:p>
            <a:pPr indent="0" marL="0">
              <a:lnSpc>
                <a:spcPct val="112000"/>
              </a:lnSpc>
              <a:buNone/>
            </a:pPr>
            <a:r>
              <a:rPr lang="en-US" sz="1450" dirty="0">
                <a:solidFill>
                  <a:srgbClr val="1A1A1A"/>
                </a:solidFill>
                <a:latin typeface="Cambria" pitchFamily="34" charset="0"/>
                <a:ea typeface="Cambria" pitchFamily="34" charset="-122"/>
                <a:cs typeface="Cambria" pitchFamily="34" charset="-120"/>
              </a:rPr>
              <a:t>Lịch sử thao tác trước đó</a:t>
            </a:r>
            <a:endParaRPr lang="en-US" sz="1450" dirty="0"/>
          </a:p>
        </p:txBody>
      </p:sp>
      <p:sp>
        <p:nvSpPr>
          <p:cNvPr id="20" name="Shape 18"/>
          <p:cNvSpPr/>
          <p:nvPr/>
        </p:nvSpPr>
        <p:spPr>
          <a:xfrm>
            <a:off x="521208" y="5394960"/>
            <a:ext cx="64008" cy="64008"/>
          </a:xfrm>
          <a:prstGeom prst="ellipse">
            <a:avLst/>
          </a:prstGeom>
          <a:solidFill>
            <a:srgbClr val="4F417A"/>
          </a:solidFill>
          <a:ln w="12700">
            <a:solidFill>
              <a:srgbClr val="4F417A">
                <a:alpha val="0"/>
              </a:srgbClr>
            </a:solidFill>
            <a:prstDash val="solid"/>
          </a:ln>
        </p:spPr>
      </p:sp>
      <p:sp>
        <p:nvSpPr>
          <p:cNvPr id="21" name="Text 19"/>
          <p:cNvSpPr/>
          <p:nvPr/>
        </p:nvSpPr>
        <p:spPr>
          <a:xfrm>
            <a:off x="713232" y="5257800"/>
            <a:ext cx="3675888" cy="420624"/>
          </a:xfrm>
          <a:prstGeom prst="rect">
            <a:avLst/>
          </a:prstGeom>
          <a:noFill/>
          <a:ln/>
        </p:spPr>
        <p:txBody>
          <a:bodyPr wrap="square" lIns="0" tIns="0" rIns="0" bIns="0" rtlCol="0" anchor="t">
            <a:normAutofit/>
          </a:bodyPr>
          <a:lstStyle/>
          <a:p>
            <a:pPr indent="0" marL="0">
              <a:lnSpc>
                <a:spcPct val="112000"/>
              </a:lnSpc>
              <a:buNone/>
            </a:pPr>
            <a:r>
              <a:rPr lang="en-US" sz="1450" dirty="0">
                <a:solidFill>
                  <a:srgbClr val="1A1A1A"/>
                </a:solidFill>
                <a:latin typeface="Cambria" pitchFamily="34" charset="0"/>
                <a:ea typeface="Cambria" pitchFamily="34" charset="-122"/>
                <a:cs typeface="Cambria" pitchFamily="34" charset="-120"/>
              </a:rPr>
              <a:t>Thông tin OCR trên giao diện</a:t>
            </a:r>
            <a:endParaRPr lang="en-US" sz="1450" dirty="0"/>
          </a:p>
        </p:txBody>
      </p:sp>
      <p:sp>
        <p:nvSpPr>
          <p:cNvPr id="22" name="Shape 20"/>
          <p:cNvSpPr/>
          <p:nvPr/>
        </p:nvSpPr>
        <p:spPr>
          <a:xfrm>
            <a:off x="4709160" y="3456432"/>
            <a:ext cx="3840480" cy="1645920"/>
          </a:xfrm>
          <a:prstGeom prst="roundRect">
            <a:avLst/>
          </a:prstGeom>
          <a:solidFill>
            <a:srgbClr val="F3F2F5"/>
          </a:solidFill>
          <a:ln w="12700">
            <a:solidFill>
              <a:srgbClr val="7A7099"/>
            </a:solidFill>
            <a:prstDash val="solid"/>
          </a:ln>
        </p:spPr>
      </p:sp>
      <p:sp>
        <p:nvSpPr>
          <p:cNvPr id="23" name="Text 21"/>
          <p:cNvSpPr/>
          <p:nvPr/>
        </p:nvSpPr>
        <p:spPr>
          <a:xfrm>
            <a:off x="4937760" y="3703320"/>
            <a:ext cx="3383280" cy="32004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Đầu ra</a:t>
            </a:r>
            <a:endParaRPr lang="en-US" sz="1700" dirty="0"/>
          </a:p>
        </p:txBody>
      </p:sp>
      <p:sp>
        <p:nvSpPr>
          <p:cNvPr id="24" name="Text 22"/>
          <p:cNvSpPr/>
          <p:nvPr/>
        </p:nvSpPr>
        <p:spPr>
          <a:xfrm>
            <a:off x="4983480" y="4160520"/>
            <a:ext cx="3291840" cy="658368"/>
          </a:xfrm>
          <a:prstGeom prst="rect">
            <a:avLst/>
          </a:prstGeom>
          <a:noFill/>
          <a:ln/>
        </p:spPr>
        <p:txBody>
          <a:bodyPr wrap="square" lIns="0" tIns="0" rIns="0" bIns="0" rtlCol="0" anchor="ctr"/>
          <a:lstStyle/>
          <a:p>
            <a:pPr algn="ctr" indent="0" marL="0">
              <a:buNone/>
            </a:pPr>
            <a:r>
              <a:rPr lang="en-US" sz="1800" b="1" dirty="0">
                <a:solidFill>
                  <a:srgbClr val="1A1A1A"/>
                </a:solidFill>
                <a:latin typeface="Cambria" pitchFamily="34" charset="0"/>
                <a:ea typeface="Cambria" pitchFamily="34" charset="-122"/>
                <a:cs typeface="Cambria" pitchFamily="34" charset="-120"/>
              </a:rPr>
              <a:t>Một câu hướng dẫn cho</a:t>
            </a:r>
            <a:endParaRPr lang="en-US" sz="1800" dirty="0"/>
          </a:p>
          <a:p>
            <a:pPr algn="ctr" indent="0" marL="0">
              <a:buNone/>
            </a:pPr>
            <a:r>
              <a:rPr lang="en-US" sz="1800" b="1" dirty="0">
                <a:solidFill>
                  <a:srgbClr val="1A1A1A"/>
                </a:solidFill>
                <a:latin typeface="Cambria" pitchFamily="34" charset="0"/>
                <a:ea typeface="Cambria" pitchFamily="34" charset="-122"/>
                <a:cs typeface="Cambria" pitchFamily="34" charset="-120"/>
              </a:rPr>
              <a:t>bước tiếp theo</a:t>
            </a:r>
            <a:endParaRPr lang="en-US" sz="1800" dirty="0"/>
          </a:p>
        </p:txBody>
      </p:sp>
      <p:sp>
        <p:nvSpPr>
          <p:cNvPr id="25" name="Text 23"/>
          <p:cNvSpPr/>
          <p:nvPr/>
        </p:nvSpPr>
        <p:spPr>
          <a:xfrm>
            <a:off x="502920" y="5559552"/>
            <a:ext cx="8138160" cy="411480"/>
          </a:xfrm>
          <a:prstGeom prst="rect">
            <a:avLst/>
          </a:prstGeom>
          <a:noFill/>
          <a:ln/>
        </p:spPr>
        <p:txBody>
          <a:bodyPr wrap="square" lIns="0" tIns="0" rIns="0" bIns="0" rtlCol="0" anchor="ctr">
            <a:normAutofit/>
          </a:bodyPr>
          <a:lstStyle/>
          <a:p>
            <a:pPr algn="ctr" indent="0" marL="0">
              <a:buNone/>
            </a:pPr>
            <a:r>
              <a:rPr lang="en-US" sz="1450" b="1" dirty="0">
                <a:solidFill>
                  <a:srgbClr val="25194B"/>
                </a:solidFill>
                <a:latin typeface="Cambria" pitchFamily="34" charset="0"/>
                <a:ea typeface="Cambria" pitchFamily="34" charset="-122"/>
                <a:cs typeface="Cambria" pitchFamily="34" charset="-120"/>
              </a:rPr>
              <a:t>Đầu ra của luận văn là câu hướng dẫn cho người dùng, không phải tọa độ để agent tự thao tác.</a:t>
            </a:r>
            <a:endParaRPr lang="en-US" sz="1450" dirty="0"/>
          </a:p>
        </p:txBody>
      </p:sp>
      <p:sp>
        <p:nvSpPr>
          <p:cNvPr id="26" name="Text 24"/>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§1.2–§1.3</a:t>
            </a:r>
            <a:endParaRPr lang="en-US" sz="800" dirty="0"/>
          </a:p>
        </p:txBody>
      </p:sp>
      <p:sp>
        <p:nvSpPr>
          <p:cNvPr id="27" name="Shape 25"/>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8" name="Shape 26"/>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9" name="Shape 27"/>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30" name="Shape 28"/>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31"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 Thách thức của câu hướng dẫn GUI</a:t>
            </a:r>
            <a:endParaRPr lang="en-US" sz="2000" dirty="0"/>
          </a:p>
        </p:txBody>
      </p:sp>
      <p:sp>
        <p:nvSpPr>
          <p:cNvPr id="4" name="Text 2"/>
          <p:cNvSpPr/>
          <p:nvPr/>
        </p:nvSpPr>
        <p:spPr>
          <a:xfrm>
            <a:off x="502920" y="914400"/>
            <a:ext cx="8138160" cy="530352"/>
          </a:xfrm>
          <a:prstGeom prst="rect">
            <a:avLst/>
          </a:prstGeom>
          <a:noFill/>
          <a:ln/>
        </p:spPr>
        <p:txBody>
          <a:bodyPr wrap="square" lIns="0" tIns="0" rIns="0" bIns="0" rtlCol="0" anchor="ctr">
            <a:normAutofit/>
          </a:bodyPr>
          <a:lstStyle/>
          <a:p>
            <a:pPr algn="ctr" indent="0" marL="0">
              <a:buNone/>
            </a:pPr>
            <a:r>
              <a:rPr lang="en-US" sz="1700" b="1" dirty="0">
                <a:solidFill>
                  <a:srgbClr val="25194B"/>
                </a:solidFill>
                <a:latin typeface="Cambria" pitchFamily="34" charset="0"/>
                <a:ea typeface="Cambria" pitchFamily="34" charset="-122"/>
                <a:cs typeface="Cambria" pitchFamily="34" charset="-120"/>
              </a:rPr>
              <a:t>Một câu nghe hoàn toàn tự nhiên vẫn có thể không đủ thông tin để người dùng chọn đúng phần tử.</a:t>
            </a:r>
            <a:endParaRPr lang="en-US" sz="1700" dirty="0"/>
          </a:p>
        </p:txBody>
      </p:sp>
      <p:sp>
        <p:nvSpPr>
          <p:cNvPr id="5" name="Shape 3"/>
          <p:cNvSpPr/>
          <p:nvPr/>
        </p:nvSpPr>
        <p:spPr>
          <a:xfrm>
            <a:off x="502920" y="1783080"/>
            <a:ext cx="3794760" cy="2514600"/>
          </a:xfrm>
          <a:prstGeom prst="roundRect">
            <a:avLst/>
          </a:prstGeom>
          <a:solidFill>
            <a:srgbClr val="F3F2F5"/>
          </a:solidFill>
          <a:ln w="12700">
            <a:solidFill>
              <a:srgbClr val="7A7099"/>
            </a:solidFill>
            <a:prstDash val="solid"/>
          </a:ln>
        </p:spPr>
      </p:sp>
      <p:sp>
        <p:nvSpPr>
          <p:cNvPr id="6" name="Text 4"/>
          <p:cNvSpPr/>
          <p:nvPr/>
        </p:nvSpPr>
        <p:spPr>
          <a:xfrm>
            <a:off x="685800" y="2011680"/>
            <a:ext cx="3429000" cy="32004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Câu mơ hồ</a:t>
            </a:r>
            <a:endParaRPr lang="en-US" sz="1700" dirty="0"/>
          </a:p>
        </p:txBody>
      </p:sp>
      <p:sp>
        <p:nvSpPr>
          <p:cNvPr id="7" name="Text 5"/>
          <p:cNvSpPr/>
          <p:nvPr/>
        </p:nvSpPr>
        <p:spPr>
          <a:xfrm>
            <a:off x="731520" y="2743200"/>
            <a:ext cx="3337560" cy="438912"/>
          </a:xfrm>
          <a:prstGeom prst="rect">
            <a:avLst/>
          </a:prstGeom>
          <a:noFill/>
          <a:ln/>
        </p:spPr>
        <p:txBody>
          <a:bodyPr wrap="square" lIns="0" tIns="0" rIns="0" bIns="0" rtlCol="0" anchor="ctr"/>
          <a:lstStyle/>
          <a:p>
            <a:pPr algn="ctr" indent="0" marL="0">
              <a:buNone/>
            </a:pPr>
            <a:r>
              <a:rPr lang="en-US" sz="1900" i="1" dirty="0">
                <a:solidFill>
                  <a:srgbClr val="7A7099"/>
                </a:solidFill>
                <a:latin typeface="Cambria" pitchFamily="34" charset="0"/>
                <a:ea typeface="Cambria" pitchFamily="34" charset="-122"/>
                <a:cs typeface="Cambria" pitchFamily="34" charset="-120"/>
              </a:rPr>
              <a:t>“Tap the button.”</a:t>
            </a:r>
            <a:endParaRPr lang="en-US" sz="1900" dirty="0"/>
          </a:p>
        </p:txBody>
      </p:sp>
      <p:sp>
        <p:nvSpPr>
          <p:cNvPr id="8" name="Text 6"/>
          <p:cNvSpPr/>
          <p:nvPr/>
        </p:nvSpPr>
        <p:spPr>
          <a:xfrm>
            <a:off x="777240" y="3429000"/>
            <a:ext cx="3246120" cy="640080"/>
          </a:xfrm>
          <a:prstGeom prst="rect">
            <a:avLst/>
          </a:prstGeom>
          <a:noFill/>
          <a:ln/>
        </p:spPr>
        <p:txBody>
          <a:bodyPr wrap="square" lIns="0" tIns="0" rIns="0" bIns="0" rtlCol="0" anchor="ctr">
            <a:normAutofit/>
          </a:bodyPr>
          <a:lstStyle/>
          <a:p>
            <a:pPr algn="ctr" indent="0" marL="0">
              <a:buNone/>
            </a:pPr>
            <a:r>
              <a:rPr lang="en-US" sz="1500" dirty="0">
                <a:solidFill>
                  <a:srgbClr val="1A1A1A"/>
                </a:solidFill>
                <a:latin typeface="Cambria" pitchFamily="34" charset="0"/>
                <a:ea typeface="Cambria" pitchFamily="34" charset="-122"/>
                <a:cs typeface="Cambria" pitchFamily="34" charset="-120"/>
              </a:rPr>
              <a:t>Không biết phải chạm nút nào khi màn hình có nhiều nút.</a:t>
            </a:r>
            <a:endParaRPr lang="en-US" sz="1500" dirty="0"/>
          </a:p>
        </p:txBody>
      </p:sp>
      <p:sp>
        <p:nvSpPr>
          <p:cNvPr id="9" name="Shape 7"/>
          <p:cNvSpPr/>
          <p:nvPr/>
        </p:nvSpPr>
        <p:spPr>
          <a:xfrm>
            <a:off x="4846320" y="1783080"/>
            <a:ext cx="3794760" cy="2514600"/>
          </a:xfrm>
          <a:prstGeom prst="roundRect">
            <a:avLst/>
          </a:prstGeom>
          <a:solidFill>
            <a:srgbClr val="F3F2F5"/>
          </a:solidFill>
          <a:ln w="12700">
            <a:solidFill>
              <a:srgbClr val="4F417A"/>
            </a:solidFill>
            <a:prstDash val="solid"/>
          </a:ln>
        </p:spPr>
      </p:sp>
      <p:sp>
        <p:nvSpPr>
          <p:cNvPr id="10" name="Text 8"/>
          <p:cNvSpPr/>
          <p:nvPr/>
        </p:nvSpPr>
        <p:spPr>
          <a:xfrm>
            <a:off x="5029200" y="2011680"/>
            <a:ext cx="3429000" cy="32004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Câu đủ rõ</a:t>
            </a:r>
            <a:endParaRPr lang="en-US" sz="1700" dirty="0"/>
          </a:p>
        </p:txBody>
      </p:sp>
      <p:sp>
        <p:nvSpPr>
          <p:cNvPr id="11" name="Text 9"/>
          <p:cNvSpPr/>
          <p:nvPr/>
        </p:nvSpPr>
        <p:spPr>
          <a:xfrm>
            <a:off x="5074920" y="2743200"/>
            <a:ext cx="3337560" cy="438912"/>
          </a:xfrm>
          <a:prstGeom prst="rect">
            <a:avLst/>
          </a:prstGeom>
          <a:noFill/>
          <a:ln/>
        </p:spPr>
        <p:txBody>
          <a:bodyPr wrap="square" lIns="0" tIns="0" rIns="0" bIns="0" rtlCol="0" anchor="ctr"/>
          <a:lstStyle/>
          <a:p>
            <a:pPr algn="ctr" indent="0" marL="0">
              <a:buNone/>
            </a:pPr>
            <a:r>
              <a:rPr lang="en-US" sz="1900" i="1" dirty="0">
                <a:solidFill>
                  <a:srgbClr val="4F417A"/>
                </a:solidFill>
                <a:latin typeface="Cambria" pitchFamily="34" charset="0"/>
                <a:ea typeface="Cambria" pitchFamily="34" charset="-122"/>
                <a:cs typeface="Cambria" pitchFamily="34" charset="-120"/>
              </a:rPr>
              <a:t>“Tap Not now.”</a:t>
            </a:r>
            <a:endParaRPr lang="en-US" sz="1900" dirty="0"/>
          </a:p>
        </p:txBody>
      </p:sp>
      <p:sp>
        <p:nvSpPr>
          <p:cNvPr id="12" name="Text 10"/>
          <p:cNvSpPr/>
          <p:nvPr/>
        </p:nvSpPr>
        <p:spPr>
          <a:xfrm>
            <a:off x="5120640" y="3429000"/>
            <a:ext cx="3246120" cy="640080"/>
          </a:xfrm>
          <a:prstGeom prst="rect">
            <a:avLst/>
          </a:prstGeom>
          <a:noFill/>
          <a:ln/>
        </p:spPr>
        <p:txBody>
          <a:bodyPr wrap="square" lIns="0" tIns="0" rIns="0" bIns="0"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Chỉ ra đúng phần tử cần thao tác.</a:t>
            </a:r>
            <a:endParaRPr lang="en-US" sz="1500" dirty="0"/>
          </a:p>
        </p:txBody>
      </p:sp>
      <p:sp>
        <p:nvSpPr>
          <p:cNvPr id="13" name="Text 11"/>
          <p:cNvSpPr/>
          <p:nvPr/>
        </p:nvSpPr>
        <p:spPr>
          <a:xfrm>
            <a:off x="502920" y="4864608"/>
            <a:ext cx="8138160" cy="640080"/>
          </a:xfrm>
          <a:prstGeom prst="rect">
            <a:avLst/>
          </a:prstGeom>
          <a:noFill/>
          <a:ln/>
        </p:spPr>
        <p:txBody>
          <a:bodyPr wrap="square" lIns="0" tIns="0" rIns="0" bIns="0" rtlCol="0" anchor="ctr">
            <a:normAutofit/>
          </a:bodyPr>
          <a:lstStyle/>
          <a:p>
            <a:pPr algn="ctr" indent="0" marL="0">
              <a:buNone/>
            </a:pPr>
            <a:r>
              <a:rPr lang="en-US" sz="1550" b="1" dirty="0">
                <a:solidFill>
                  <a:srgbClr val="25194B"/>
                </a:solidFill>
                <a:latin typeface="Cambria" pitchFamily="34" charset="0"/>
                <a:ea typeface="Cambria" pitchFamily="34" charset="-122"/>
                <a:cs typeface="Cambria" pitchFamily="34" charset="-120"/>
              </a:rPr>
              <a:t>Vì vậy, câu hướng dẫn không chỉ cần đúng nội dung mà còn phải phân biệt được đúng phần tử cần thao tác.</a:t>
            </a:r>
            <a:endParaRPr lang="en-US" sz="1550" dirty="0"/>
          </a:p>
        </p:txBody>
      </p:sp>
      <p:sp>
        <p:nvSpPr>
          <p:cNvPr id="14" name="Text 12"/>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1</a:t>
            </a:r>
            <a:endParaRPr lang="en-US" sz="800" dirty="0"/>
          </a:p>
        </p:txBody>
      </p:sp>
      <p:sp>
        <p:nvSpPr>
          <p:cNvPr id="15" name="Shape 13"/>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6" name="Shape 14"/>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7" name="Shape 15"/>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18" name="Shape 16"/>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19" name="Text 1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0" name="Text 1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1" name="Text 1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2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3/24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3. Khoảng trống đánh giá</a:t>
            </a:r>
            <a:endParaRPr lang="en-US" sz="2000" dirty="0"/>
          </a:p>
        </p:txBody>
      </p:sp>
      <p:sp>
        <p:nvSpPr>
          <p:cNvPr id="4" name="Text 2"/>
          <p:cNvSpPr/>
          <p:nvPr/>
        </p:nvSpPr>
        <p:spPr>
          <a:xfrm>
            <a:off x="502920" y="914400"/>
            <a:ext cx="8138160" cy="50292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Các thước đo so sánh câu chưa trực tiếp phản ánh điều người dùng thực sự cần.</a:t>
            </a:r>
            <a:endParaRPr lang="en-US" sz="1700" dirty="0"/>
          </a:p>
        </p:txBody>
      </p:sp>
      <p:sp>
        <p:nvSpPr>
          <p:cNvPr id="5" name="Shape 3"/>
          <p:cNvSpPr/>
          <p:nvPr/>
        </p:nvSpPr>
        <p:spPr>
          <a:xfrm>
            <a:off x="640080" y="1874520"/>
            <a:ext cx="2331720" cy="1097280"/>
          </a:xfrm>
          <a:prstGeom prst="roundRect">
            <a:avLst/>
          </a:prstGeom>
          <a:solidFill>
            <a:srgbClr val="F3F2F5"/>
          </a:solidFill>
          <a:ln w="12700">
            <a:solidFill>
              <a:srgbClr val="7A7099"/>
            </a:solidFill>
            <a:prstDash val="solid"/>
          </a:ln>
        </p:spPr>
      </p:sp>
      <p:sp>
        <p:nvSpPr>
          <p:cNvPr id="6" name="Text 4"/>
          <p:cNvSpPr/>
          <p:nvPr/>
        </p:nvSpPr>
        <p:spPr>
          <a:xfrm>
            <a:off x="640080" y="1874520"/>
            <a:ext cx="2331720" cy="1097280"/>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BLEU / ROUGE</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Câu giống câu chuẩn đến đâu?</a:t>
            </a:r>
            <a:endParaRPr lang="en-US" sz="1500" dirty="0"/>
          </a:p>
        </p:txBody>
      </p:sp>
      <p:sp>
        <p:nvSpPr>
          <p:cNvPr id="7" name="Shape 5"/>
          <p:cNvSpPr/>
          <p:nvPr/>
        </p:nvSpPr>
        <p:spPr>
          <a:xfrm>
            <a:off x="3401568" y="1874520"/>
            <a:ext cx="2331720" cy="1097280"/>
          </a:xfrm>
          <a:prstGeom prst="roundRect">
            <a:avLst/>
          </a:prstGeom>
          <a:solidFill>
            <a:srgbClr val="F3F2F5"/>
          </a:solidFill>
          <a:ln w="12700">
            <a:solidFill>
              <a:srgbClr val="7A7099"/>
            </a:solidFill>
            <a:prstDash val="solid"/>
          </a:ln>
        </p:spPr>
      </p:sp>
      <p:sp>
        <p:nvSpPr>
          <p:cNvPr id="8" name="Text 6"/>
          <p:cNvSpPr/>
          <p:nvPr/>
        </p:nvSpPr>
        <p:spPr>
          <a:xfrm>
            <a:off x="3401568" y="1874520"/>
            <a:ext cx="2331720" cy="1097280"/>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SPICE / CIDEr</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Nội dung có tương đồng?</a:t>
            </a:r>
            <a:endParaRPr lang="en-US" sz="1500" dirty="0"/>
          </a:p>
        </p:txBody>
      </p:sp>
      <p:sp>
        <p:nvSpPr>
          <p:cNvPr id="9" name="Shape 7"/>
          <p:cNvSpPr/>
          <p:nvPr/>
        </p:nvSpPr>
        <p:spPr>
          <a:xfrm>
            <a:off x="6172200" y="1691640"/>
            <a:ext cx="2331720" cy="1463040"/>
          </a:xfrm>
          <a:prstGeom prst="roundRect">
            <a:avLst/>
          </a:prstGeom>
          <a:solidFill>
            <a:srgbClr val="F3F2F5"/>
          </a:solidFill>
          <a:ln w="12700">
            <a:solidFill>
              <a:srgbClr val="4F417A"/>
            </a:solidFill>
            <a:prstDash val="solid"/>
          </a:ln>
        </p:spPr>
      </p:sp>
      <p:sp>
        <p:nvSpPr>
          <p:cNvPr id="10" name="Text 8"/>
          <p:cNvSpPr/>
          <p:nvPr/>
        </p:nvSpPr>
        <p:spPr>
          <a:xfrm>
            <a:off x="6172200" y="1691640"/>
            <a:ext cx="2331720" cy="1463040"/>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Điều cần biết</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Câu có giúp xác định đúng</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phần tử và thao tác?</a:t>
            </a:r>
            <a:endParaRPr lang="en-US" sz="1500" dirty="0"/>
          </a:p>
        </p:txBody>
      </p:sp>
      <p:sp>
        <p:nvSpPr>
          <p:cNvPr id="11" name="Text 9"/>
          <p:cNvSpPr/>
          <p:nvPr/>
        </p:nvSpPr>
        <p:spPr>
          <a:xfrm>
            <a:off x="502920" y="4160520"/>
            <a:ext cx="8138160" cy="640080"/>
          </a:xfrm>
          <a:prstGeom prst="rect">
            <a:avLst/>
          </a:prstGeom>
          <a:noFill/>
          <a:ln/>
        </p:spPr>
        <p:txBody>
          <a:bodyPr wrap="square" lIns="0" tIns="0" rIns="0" bIns="0" rtlCol="0" anchor="ctr">
            <a:normAutofit/>
          </a:bodyPr>
          <a:lstStyle/>
          <a:p>
            <a:pPr algn="ctr" indent="0" marL="0">
              <a:buNone/>
            </a:pPr>
            <a:r>
              <a:rPr lang="en-US" sz="1600" b="1" dirty="0">
                <a:solidFill>
                  <a:srgbClr val="25194B"/>
                </a:solidFill>
                <a:latin typeface="Cambria" pitchFamily="34" charset="0"/>
                <a:ea typeface="Cambria" pitchFamily="34" charset="-122"/>
                <a:cs typeface="Cambria" pitchFamily="34" charset="-120"/>
              </a:rPr>
              <a:t>Do đó, luận văn đánh giá cả mức tương đồng với câu chuẩn và khả năng xác định đúng phần tử, đúng loại thao tác.</a:t>
            </a:r>
            <a:endParaRPr lang="en-US" sz="1600" dirty="0"/>
          </a:p>
        </p:txBody>
      </p:sp>
      <p:sp>
        <p:nvSpPr>
          <p:cNvPr id="12" name="Text 10"/>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5</a:t>
            </a:r>
            <a:endParaRPr lang="en-US" sz="800" dirty="0"/>
          </a:p>
        </p:txBody>
      </p:sp>
      <p:sp>
        <p:nvSpPr>
          <p:cNvPr id="13" name="Shape 11"/>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4" name="Shape 12"/>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5" name="Shape 13"/>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16" name="Shape 14"/>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17"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9"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4/24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4. Đóng góp của luận văn</a:t>
            </a:r>
            <a:endParaRPr lang="en-US" sz="2000" dirty="0"/>
          </a:p>
        </p:txBody>
      </p:sp>
      <p:sp>
        <p:nvSpPr>
          <p:cNvPr id="4" name="Shape 2"/>
          <p:cNvSpPr/>
          <p:nvPr/>
        </p:nvSpPr>
        <p:spPr>
          <a:xfrm>
            <a:off x="502920" y="960120"/>
            <a:ext cx="2514600" cy="2971800"/>
          </a:xfrm>
          <a:prstGeom prst="roundRect">
            <a:avLst/>
          </a:prstGeom>
          <a:solidFill>
            <a:srgbClr val="F3F2F5"/>
          </a:solidFill>
          <a:ln w="12700">
            <a:solidFill>
              <a:srgbClr val="25194B"/>
            </a:solidFill>
            <a:prstDash val="solid"/>
          </a:ln>
        </p:spPr>
      </p:sp>
      <p:sp>
        <p:nvSpPr>
          <p:cNvPr id="5" name="Text 3"/>
          <p:cNvSpPr/>
          <p:nvPr/>
        </p:nvSpPr>
        <p:spPr>
          <a:xfrm>
            <a:off x="640080" y="1225296"/>
            <a:ext cx="2240280" cy="384048"/>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1 · Phương pháp</a:t>
            </a:r>
            <a:endParaRPr lang="en-US" sz="1700" dirty="0"/>
          </a:p>
        </p:txBody>
      </p:sp>
      <p:sp>
        <p:nvSpPr>
          <p:cNvPr id="6" name="Text 4"/>
          <p:cNvSpPr/>
          <p:nvPr/>
        </p:nvSpPr>
        <p:spPr>
          <a:xfrm>
            <a:off x="722376" y="1847088"/>
            <a:ext cx="2075688" cy="146304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Cambria" pitchFamily="34" charset="0"/>
                <a:ea typeface="Cambria" pitchFamily="34" charset="-122"/>
                <a:cs typeface="Cambria" pitchFamily="34" charset="-120"/>
              </a:rPr>
              <a:t>GRPO-SPICE cải thiện trực tiếp câu hướng dẫn; ACE hiệu chỉnh có chọn lọc để câu gần câu chuẩn hơn mà không đánh đổi khả năng định vị.</a:t>
            </a:r>
            <a:endParaRPr lang="en-US" sz="1400" dirty="0"/>
          </a:p>
        </p:txBody>
      </p:sp>
      <p:sp>
        <p:nvSpPr>
          <p:cNvPr id="7" name="Shape 5"/>
          <p:cNvSpPr/>
          <p:nvPr/>
        </p:nvSpPr>
        <p:spPr>
          <a:xfrm>
            <a:off x="3319272" y="960120"/>
            <a:ext cx="2514600" cy="2971800"/>
          </a:xfrm>
          <a:prstGeom prst="roundRect">
            <a:avLst/>
          </a:prstGeom>
          <a:solidFill>
            <a:srgbClr val="F3F2F5"/>
          </a:solidFill>
          <a:ln w="12700">
            <a:solidFill>
              <a:srgbClr val="4F417A"/>
            </a:solidFill>
            <a:prstDash val="solid"/>
          </a:ln>
        </p:spPr>
      </p:sp>
      <p:sp>
        <p:nvSpPr>
          <p:cNvPr id="8" name="Text 6"/>
          <p:cNvSpPr/>
          <p:nvPr/>
        </p:nvSpPr>
        <p:spPr>
          <a:xfrm>
            <a:off x="3456432" y="1225296"/>
            <a:ext cx="2240280" cy="384048"/>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2 · Executability</a:t>
            </a:r>
            <a:endParaRPr lang="en-US" sz="1700" dirty="0"/>
          </a:p>
        </p:txBody>
      </p:sp>
      <p:sp>
        <p:nvSpPr>
          <p:cNvPr id="9" name="Text 7"/>
          <p:cNvSpPr/>
          <p:nvPr/>
        </p:nvSpPr>
        <p:spPr>
          <a:xfrm>
            <a:off x="3566160" y="1847088"/>
            <a:ext cx="2029968" cy="146304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Cambria" pitchFamily="34" charset="0"/>
                <a:ea typeface="Cambria" pitchFamily="34" charset="-122"/>
                <a:cs typeface="Cambria" pitchFamily="34" charset="-120"/>
              </a:rPr>
              <a:t>Một mô hình định vị tách biệt kiểm tra câu có dẫn tới đúng phần tử và đúng loại thao tác hay không.</a:t>
            </a:r>
            <a:endParaRPr lang="en-US" sz="1400" dirty="0"/>
          </a:p>
        </p:txBody>
      </p:sp>
      <p:sp>
        <p:nvSpPr>
          <p:cNvPr id="10" name="Shape 8"/>
          <p:cNvSpPr/>
          <p:nvPr/>
        </p:nvSpPr>
        <p:spPr>
          <a:xfrm>
            <a:off x="6126480" y="960120"/>
            <a:ext cx="2514600" cy="2971800"/>
          </a:xfrm>
          <a:prstGeom prst="roundRect">
            <a:avLst/>
          </a:prstGeom>
          <a:solidFill>
            <a:srgbClr val="F3F2F5"/>
          </a:solidFill>
          <a:ln w="12700">
            <a:solidFill>
              <a:srgbClr val="7A7099"/>
            </a:solidFill>
            <a:prstDash val="solid"/>
          </a:ln>
        </p:spPr>
      </p:sp>
      <p:sp>
        <p:nvSpPr>
          <p:cNvPr id="11" name="Text 9"/>
          <p:cNvSpPr/>
          <p:nvPr/>
        </p:nvSpPr>
        <p:spPr>
          <a:xfrm>
            <a:off x="6254496" y="1170432"/>
            <a:ext cx="2267712" cy="502920"/>
          </a:xfrm>
          <a:prstGeom prst="rect">
            <a:avLst/>
          </a:prstGeom>
          <a:noFill/>
          <a:ln/>
        </p:spPr>
        <p:txBody>
          <a:bodyPr wrap="square" lIns="0" tIns="0" rIns="0" bIns="0" rtlCol="0" anchor="ctr">
            <a:normAutofit/>
          </a:bodyPr>
          <a:lstStyle/>
          <a:p>
            <a:pPr algn="ctr" indent="0" marL="0">
              <a:buNone/>
            </a:pPr>
            <a:r>
              <a:rPr lang="en-US" sz="1630" b="1" dirty="0">
                <a:solidFill>
                  <a:srgbClr val="25194B"/>
                </a:solidFill>
                <a:latin typeface="Cambria" pitchFamily="34" charset="0"/>
                <a:ea typeface="Cambria" pitchFamily="34" charset="-122"/>
                <a:cs typeface="Cambria" pitchFamily="34" charset="-120"/>
              </a:rPr>
              <a:t>3 · Phân tích thực nghiệm</a:t>
            </a:r>
            <a:endParaRPr lang="en-US" sz="1630" dirty="0"/>
          </a:p>
        </p:txBody>
      </p:sp>
      <p:sp>
        <p:nvSpPr>
          <p:cNvPr id="12" name="Text 10"/>
          <p:cNvSpPr/>
          <p:nvPr/>
        </p:nvSpPr>
        <p:spPr>
          <a:xfrm>
            <a:off x="6355080" y="1847088"/>
            <a:ext cx="2057400" cy="146304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Cambria" pitchFamily="34" charset="0"/>
                <a:ea typeface="Cambria" pitchFamily="34" charset="-122"/>
                <a:cs typeface="Cambria" pitchFamily="34" charset="-120"/>
              </a:rPr>
              <a:t>Đối chiếu nhánh xáo thưởng, nhiều công cụ đánh giá, tác vụ mới và miền dữ liệu khác để xác định phần cải thiện đến từ đâu.</a:t>
            </a:r>
            <a:endParaRPr lang="en-US" sz="1400" dirty="0"/>
          </a:p>
        </p:txBody>
      </p:sp>
      <p:sp>
        <p:nvSpPr>
          <p:cNvPr id="13" name="Text 11"/>
          <p:cNvSpPr/>
          <p:nvPr/>
        </p:nvSpPr>
        <p:spPr>
          <a:xfrm>
            <a:off x="731520" y="4370832"/>
            <a:ext cx="233172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+1,55</a:t>
            </a:r>
            <a:endParaRPr lang="en-US" sz="2400" dirty="0"/>
          </a:p>
        </p:txBody>
      </p:sp>
      <p:sp>
        <p:nvSpPr>
          <p:cNvPr id="14" name="Text 12"/>
          <p:cNvSpPr/>
          <p:nvPr/>
        </p:nvSpPr>
        <p:spPr>
          <a:xfrm>
            <a:off x="731520" y="4901184"/>
            <a:ext cx="233172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điểm trên tập kiểm chính</a:t>
            </a:r>
            <a:endParaRPr lang="en-US" sz="1250" dirty="0"/>
          </a:p>
        </p:txBody>
      </p:sp>
      <p:sp>
        <p:nvSpPr>
          <p:cNvPr id="15" name="Text 13"/>
          <p:cNvSpPr/>
          <p:nvPr/>
        </p:nvSpPr>
        <p:spPr>
          <a:xfrm>
            <a:off x="3401568" y="4370832"/>
            <a:ext cx="233172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+4,58</a:t>
            </a:r>
            <a:endParaRPr lang="en-US" sz="2400" dirty="0"/>
          </a:p>
        </p:txBody>
      </p:sp>
      <p:sp>
        <p:nvSpPr>
          <p:cNvPr id="16" name="Text 14"/>
          <p:cNvSpPr/>
          <p:nvPr/>
        </p:nvSpPr>
        <p:spPr>
          <a:xfrm>
            <a:off x="3401568" y="4901184"/>
            <a:ext cx="233172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điểm trên tác vụ chưa có trong tập dạy S1</a:t>
            </a:r>
            <a:endParaRPr lang="en-US" sz="1250" dirty="0"/>
          </a:p>
        </p:txBody>
      </p:sp>
      <p:sp>
        <p:nvSpPr>
          <p:cNvPr id="17" name="Text 15"/>
          <p:cNvSpPr/>
          <p:nvPr/>
        </p:nvSpPr>
        <p:spPr>
          <a:xfrm>
            <a:off x="6080760" y="4370832"/>
            <a:ext cx="233172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7/7</a:t>
            </a:r>
            <a:endParaRPr lang="en-US" sz="2400" dirty="0"/>
          </a:p>
        </p:txBody>
      </p:sp>
      <p:sp>
        <p:nvSpPr>
          <p:cNvPr id="18" name="Text 16"/>
          <p:cNvSpPr/>
          <p:nvPr/>
        </p:nvSpPr>
        <p:spPr>
          <a:xfrm>
            <a:off x="6080760" y="4901184"/>
            <a:ext cx="233172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thước chữ tăng sau ACE</a:t>
            </a:r>
            <a:endParaRPr lang="en-US" sz="1250" dirty="0"/>
          </a:p>
        </p:txBody>
      </p:sp>
      <p:sp>
        <p:nvSpPr>
          <p:cNvPr id="19" name="Text 17"/>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§1.6, Chương 6</a:t>
            </a:r>
            <a:endParaRPr lang="en-US" sz="800" dirty="0"/>
          </a:p>
        </p:txBody>
      </p:sp>
      <p:sp>
        <p:nvSpPr>
          <p:cNvPr id="20" name="Shape 18"/>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1" name="Shape 19"/>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2" name="Shape 20"/>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3" name="Shape 21"/>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4"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5"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6"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7"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5/24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5. Dữ liệu và cách chia tập</a:t>
            </a:r>
            <a:endParaRPr lang="en-US" sz="2000" dirty="0"/>
          </a:p>
        </p:txBody>
      </p:sp>
      <p:sp>
        <p:nvSpPr>
          <p:cNvPr id="4" name="Text 2"/>
          <p:cNvSpPr/>
          <p:nvPr/>
        </p:nvSpPr>
        <p:spPr>
          <a:xfrm>
            <a:off x="502920" y="877824"/>
            <a:ext cx="8138160" cy="502920"/>
          </a:xfrm>
          <a:prstGeom prst="rect">
            <a:avLst/>
          </a:prstGeom>
          <a:noFill/>
          <a:ln/>
        </p:spPr>
        <p:txBody>
          <a:bodyPr wrap="square" lIns="0" tIns="0" rIns="0" bIns="0" rtlCol="0" anchor="ctr">
            <a:normAutofit/>
          </a:bodyPr>
          <a:lstStyle/>
          <a:p>
            <a:pPr algn="ctr" indent="0" marL="0">
              <a:buNone/>
            </a:pPr>
            <a:r>
              <a:rPr lang="en-US" sz="1650" b="1" dirty="0">
                <a:solidFill>
                  <a:srgbClr val="25194B"/>
                </a:solidFill>
                <a:latin typeface="Cambria" pitchFamily="34" charset="0"/>
                <a:ea typeface="Cambria" pitchFamily="34" charset="-122"/>
                <a:cs typeface="Cambria" pitchFamily="34" charset="-120"/>
              </a:rPr>
              <a:t>Tập huấn luyện và tập kiểm tra chính được tách theo tác vụ; không có tác vụ xuất hiện ở cả hai phía.</a:t>
            </a:r>
            <a:endParaRPr lang="en-US" sz="1650" dirty="0"/>
          </a:p>
        </p:txBody>
      </p:sp>
      <p:sp>
        <p:nvSpPr>
          <p:cNvPr id="5" name="Shape 3"/>
          <p:cNvSpPr/>
          <p:nvPr/>
        </p:nvSpPr>
        <p:spPr>
          <a:xfrm>
            <a:off x="502920" y="1572768"/>
            <a:ext cx="8138160" cy="420624"/>
          </a:xfrm>
          <a:prstGeom prst="rect">
            <a:avLst/>
          </a:prstGeom>
          <a:solidFill>
            <a:srgbClr val="25194B"/>
          </a:solidFill>
          <a:ln w="12700">
            <a:solidFill>
              <a:srgbClr val="25194B">
                <a:alpha val="0"/>
              </a:srgbClr>
            </a:solidFill>
            <a:prstDash val="solid"/>
          </a:ln>
        </p:spPr>
      </p:sp>
      <p:sp>
        <p:nvSpPr>
          <p:cNvPr id="6" name="Text 4"/>
          <p:cNvSpPr/>
          <p:nvPr/>
        </p:nvSpPr>
        <p:spPr>
          <a:xfrm>
            <a:off x="502920" y="1572768"/>
            <a:ext cx="2514600" cy="420624"/>
          </a:xfrm>
          <a:prstGeom prst="rect">
            <a:avLst/>
          </a:prstGeom>
          <a:noFill/>
          <a:ln/>
        </p:spPr>
        <p:txBody>
          <a:bodyPr wrap="square" lIns="0" tIns="0" rIns="0" bIns="0" rtlCol="0" anchor="ctr">
            <a:normAutofit/>
          </a:bodyPr>
          <a:lstStyle/>
          <a:p>
            <a:pPr algn="l" indent="0" marL="0">
              <a:buNone/>
            </a:pPr>
            <a:endParaRPr lang="en-US" sz="1340" dirty="0"/>
          </a:p>
        </p:txBody>
      </p:sp>
      <p:sp>
        <p:nvSpPr>
          <p:cNvPr id="7" name="Text 5"/>
          <p:cNvSpPr/>
          <p:nvPr/>
        </p:nvSpPr>
        <p:spPr>
          <a:xfrm>
            <a:off x="3017520" y="1572768"/>
            <a:ext cx="1691640" cy="42062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Cambria" pitchFamily="34" charset="0"/>
                <a:ea typeface="Cambria" pitchFamily="34" charset="-122"/>
                <a:cs typeface="Cambria" pitchFamily="34" charset="-120"/>
              </a:rPr>
              <a:t>Huấn luyện</a:t>
            </a:r>
            <a:endParaRPr lang="en-US" sz="1340" dirty="0"/>
          </a:p>
        </p:txBody>
      </p:sp>
      <p:sp>
        <p:nvSpPr>
          <p:cNvPr id="8" name="Text 6"/>
          <p:cNvSpPr/>
          <p:nvPr/>
        </p:nvSpPr>
        <p:spPr>
          <a:xfrm>
            <a:off x="4709160" y="1572768"/>
            <a:ext cx="1691640" cy="42062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Cambria" pitchFamily="34" charset="0"/>
                <a:ea typeface="Cambria" pitchFamily="34" charset="-122"/>
                <a:cs typeface="Cambria" pitchFamily="34" charset="-120"/>
              </a:rPr>
              <a:t>Kiểm tra chính</a:t>
            </a:r>
            <a:endParaRPr lang="en-US" sz="1340" dirty="0"/>
          </a:p>
        </p:txBody>
      </p:sp>
      <p:sp>
        <p:nvSpPr>
          <p:cNvPr id="9" name="Text 7"/>
          <p:cNvSpPr/>
          <p:nvPr/>
        </p:nvSpPr>
        <p:spPr>
          <a:xfrm>
            <a:off x="6400800" y="1572768"/>
            <a:ext cx="2240280" cy="420624"/>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Cambria" pitchFamily="34" charset="0"/>
                <a:ea typeface="Cambria" pitchFamily="34" charset="-122"/>
                <a:cs typeface="Cambria" pitchFamily="34" charset="-120"/>
              </a:rPr>
              <a:t>Ghi chú</a:t>
            </a:r>
            <a:endParaRPr lang="en-US" sz="1340" dirty="0"/>
          </a:p>
        </p:txBody>
      </p:sp>
      <p:sp>
        <p:nvSpPr>
          <p:cNvPr id="10" name="Text 8"/>
          <p:cNvSpPr/>
          <p:nvPr/>
        </p:nvSpPr>
        <p:spPr>
          <a:xfrm>
            <a:off x="502920" y="1993392"/>
            <a:ext cx="2514600" cy="493776"/>
          </a:xfrm>
          <a:prstGeom prst="rect">
            <a:avLst/>
          </a:prstGeom>
          <a:noFill/>
          <a:ln/>
        </p:spPr>
        <p:txBody>
          <a:bodyPr wrap="square" lIns="0" tIns="0" rIns="0" bIns="0" rtlCol="0" anchor="ctr">
            <a:normAutofit/>
          </a:bodyPr>
          <a:lstStyle/>
          <a:p>
            <a:pPr algn="l" indent="0" marL="0">
              <a:buNone/>
            </a:pPr>
            <a:r>
              <a:rPr lang="en-US" sz="1340" dirty="0">
                <a:solidFill>
                  <a:srgbClr val="1A1A1A"/>
                </a:solidFill>
                <a:latin typeface="Cambria" pitchFamily="34" charset="0"/>
                <a:ea typeface="Cambria" pitchFamily="34" charset="-122"/>
                <a:cs typeface="Cambria" pitchFamily="34" charset="-120"/>
              </a:rPr>
              <a:t>Số bước</a:t>
            </a:r>
            <a:endParaRPr lang="en-US" sz="1340" dirty="0"/>
          </a:p>
        </p:txBody>
      </p:sp>
      <p:sp>
        <p:nvSpPr>
          <p:cNvPr id="11" name="Text 9"/>
          <p:cNvSpPr/>
          <p:nvPr/>
        </p:nvSpPr>
        <p:spPr>
          <a:xfrm>
            <a:off x="3017520" y="1993392"/>
            <a:ext cx="1691640" cy="493776"/>
          </a:xfrm>
          <a:prstGeom prst="rect">
            <a:avLst/>
          </a:prstGeom>
          <a:noFill/>
          <a:ln/>
        </p:spPr>
        <p:txBody>
          <a:bodyPr wrap="square" lIns="0" tIns="0" rIns="0" bIns="0" rtlCol="0" anchor="ctr">
            <a:normAutofit/>
          </a:bodyPr>
          <a:lstStyle/>
          <a:p>
            <a:pPr algn="ctr" indent="0" marL="0">
              <a:buNone/>
            </a:pPr>
            <a:r>
              <a:rPr lang="en-US" sz="1340" dirty="0">
                <a:solidFill>
                  <a:srgbClr val="1A1A1A"/>
                </a:solidFill>
                <a:latin typeface="Cambria" pitchFamily="34" charset="0"/>
                <a:ea typeface="Cambria" pitchFamily="34" charset="-122"/>
                <a:cs typeface="Cambria" pitchFamily="34" charset="-120"/>
              </a:rPr>
              <a:t>64.567</a:t>
            </a:r>
            <a:endParaRPr lang="en-US" sz="1340" dirty="0"/>
          </a:p>
        </p:txBody>
      </p:sp>
      <p:sp>
        <p:nvSpPr>
          <p:cNvPr id="12" name="Text 10"/>
          <p:cNvSpPr/>
          <p:nvPr/>
        </p:nvSpPr>
        <p:spPr>
          <a:xfrm>
            <a:off x="4709160" y="1993392"/>
            <a:ext cx="1691640" cy="493776"/>
          </a:xfrm>
          <a:prstGeom prst="rect">
            <a:avLst/>
          </a:prstGeom>
          <a:noFill/>
          <a:ln/>
        </p:spPr>
        <p:txBody>
          <a:bodyPr wrap="square" lIns="0" tIns="0" rIns="0" bIns="0" rtlCol="0" anchor="ctr">
            <a:normAutofit/>
          </a:bodyPr>
          <a:lstStyle/>
          <a:p>
            <a:pPr algn="ctr" indent="0" marL="0">
              <a:buNone/>
            </a:pPr>
            <a:r>
              <a:rPr lang="en-US" sz="1340" dirty="0">
                <a:solidFill>
                  <a:srgbClr val="1A1A1A"/>
                </a:solidFill>
                <a:latin typeface="Cambria" pitchFamily="34" charset="0"/>
                <a:ea typeface="Cambria" pitchFamily="34" charset="-122"/>
                <a:cs typeface="Cambria" pitchFamily="34" charset="-120"/>
              </a:rPr>
              <a:t>6.958</a:t>
            </a:r>
            <a:endParaRPr lang="en-US" sz="1340" dirty="0"/>
          </a:p>
        </p:txBody>
      </p:sp>
      <p:sp>
        <p:nvSpPr>
          <p:cNvPr id="13" name="Text 11"/>
          <p:cNvSpPr/>
          <p:nvPr/>
        </p:nvSpPr>
        <p:spPr>
          <a:xfrm>
            <a:off x="6400800" y="1993392"/>
            <a:ext cx="2240280" cy="493776"/>
          </a:xfrm>
          <a:prstGeom prst="rect">
            <a:avLst/>
          </a:prstGeom>
          <a:noFill/>
          <a:ln/>
        </p:spPr>
        <p:txBody>
          <a:bodyPr wrap="square" lIns="0" tIns="0" rIns="0" bIns="0" rtlCol="0" anchor="ctr">
            <a:normAutofit/>
          </a:bodyPr>
          <a:lstStyle/>
          <a:p>
            <a:pPr algn="l" indent="0" marL="0">
              <a:buNone/>
            </a:pPr>
            <a:r>
              <a:rPr lang="en-US" sz="1340" dirty="0">
                <a:solidFill>
                  <a:srgbClr val="1A1A1A"/>
                </a:solidFill>
                <a:latin typeface="Cambria" pitchFamily="34" charset="0"/>
                <a:ea typeface="Cambria" pitchFamily="34" charset="-122"/>
                <a:cs typeface="Cambria" pitchFamily="34" charset="-120"/>
              </a:rPr>
              <a:t>chia theo tác vụ</a:t>
            </a:r>
            <a:endParaRPr lang="en-US" sz="1340" dirty="0"/>
          </a:p>
        </p:txBody>
      </p:sp>
      <p:sp>
        <p:nvSpPr>
          <p:cNvPr id="14" name="Shape 12"/>
          <p:cNvSpPr/>
          <p:nvPr/>
        </p:nvSpPr>
        <p:spPr>
          <a:xfrm>
            <a:off x="502920" y="2487168"/>
            <a:ext cx="8138160" cy="0"/>
          </a:xfrm>
          <a:prstGeom prst="line">
            <a:avLst/>
          </a:prstGeom>
          <a:noFill/>
          <a:ln w="12700">
            <a:solidFill>
              <a:srgbClr val="D9D6DF"/>
            </a:solidFill>
            <a:prstDash val="solid"/>
            <a:tailEnd type="none"/>
          </a:ln>
        </p:spPr>
      </p:sp>
      <p:sp>
        <p:nvSpPr>
          <p:cNvPr id="15" name="Text 13"/>
          <p:cNvSpPr/>
          <p:nvPr/>
        </p:nvSpPr>
        <p:spPr>
          <a:xfrm>
            <a:off x="502920" y="2487168"/>
            <a:ext cx="2514600" cy="493776"/>
          </a:xfrm>
          <a:prstGeom prst="rect">
            <a:avLst/>
          </a:prstGeom>
          <a:noFill/>
          <a:ln/>
        </p:spPr>
        <p:txBody>
          <a:bodyPr wrap="square" lIns="0" tIns="0" rIns="0" bIns="0" rtlCol="0" anchor="ctr">
            <a:normAutofit/>
          </a:bodyPr>
          <a:lstStyle/>
          <a:p>
            <a:pPr algn="l" indent="0" marL="0">
              <a:buNone/>
            </a:pPr>
            <a:r>
              <a:rPr lang="en-US" sz="1340" dirty="0">
                <a:solidFill>
                  <a:srgbClr val="1A1A1A"/>
                </a:solidFill>
                <a:latin typeface="Cambria" pitchFamily="34" charset="0"/>
                <a:ea typeface="Cambria" pitchFamily="34" charset="-122"/>
                <a:cs typeface="Cambria" pitchFamily="34" charset="-120"/>
              </a:rPr>
              <a:t>Bước có thao tác chạm</a:t>
            </a:r>
            <a:endParaRPr lang="en-US" sz="1340" dirty="0"/>
          </a:p>
        </p:txBody>
      </p:sp>
      <p:sp>
        <p:nvSpPr>
          <p:cNvPr id="16" name="Text 14"/>
          <p:cNvSpPr/>
          <p:nvPr/>
        </p:nvSpPr>
        <p:spPr>
          <a:xfrm>
            <a:off x="3017520" y="2487168"/>
            <a:ext cx="1691640" cy="493776"/>
          </a:xfrm>
          <a:prstGeom prst="rect">
            <a:avLst/>
          </a:prstGeom>
          <a:noFill/>
          <a:ln/>
        </p:spPr>
        <p:txBody>
          <a:bodyPr wrap="square" lIns="0" tIns="0" rIns="0" bIns="0" rtlCol="0" anchor="ctr">
            <a:normAutofit/>
          </a:bodyPr>
          <a:lstStyle/>
          <a:p>
            <a:pPr algn="ctr" indent="0" marL="0">
              <a:buNone/>
            </a:pPr>
            <a:r>
              <a:rPr lang="en-US" sz="1340" dirty="0">
                <a:solidFill>
                  <a:srgbClr val="1A1A1A"/>
                </a:solidFill>
                <a:latin typeface="Cambria" pitchFamily="34" charset="0"/>
                <a:ea typeface="Cambria" pitchFamily="34" charset="-122"/>
                <a:cs typeface="Cambria" pitchFamily="34" charset="-120"/>
              </a:rPr>
              <a:t>41.191</a:t>
            </a:r>
            <a:endParaRPr lang="en-US" sz="1340" dirty="0"/>
          </a:p>
        </p:txBody>
      </p:sp>
      <p:sp>
        <p:nvSpPr>
          <p:cNvPr id="17" name="Text 15"/>
          <p:cNvSpPr/>
          <p:nvPr/>
        </p:nvSpPr>
        <p:spPr>
          <a:xfrm>
            <a:off x="4709160" y="2487168"/>
            <a:ext cx="1691640" cy="493776"/>
          </a:xfrm>
          <a:prstGeom prst="rect">
            <a:avLst/>
          </a:prstGeom>
          <a:noFill/>
          <a:ln/>
        </p:spPr>
        <p:txBody>
          <a:bodyPr wrap="square" lIns="0" tIns="0" rIns="0" bIns="0" rtlCol="0" anchor="ctr">
            <a:normAutofit/>
          </a:bodyPr>
          <a:lstStyle/>
          <a:p>
            <a:pPr algn="ctr" indent="0" marL="0">
              <a:buNone/>
            </a:pPr>
            <a:r>
              <a:rPr lang="en-US" sz="1340" dirty="0">
                <a:solidFill>
                  <a:srgbClr val="1A1A1A"/>
                </a:solidFill>
                <a:latin typeface="Cambria" pitchFamily="34" charset="0"/>
                <a:ea typeface="Cambria" pitchFamily="34" charset="-122"/>
                <a:cs typeface="Cambria" pitchFamily="34" charset="-120"/>
              </a:rPr>
              <a:t>4.463</a:t>
            </a:r>
            <a:endParaRPr lang="en-US" sz="1340" dirty="0"/>
          </a:p>
        </p:txBody>
      </p:sp>
      <p:sp>
        <p:nvSpPr>
          <p:cNvPr id="18" name="Text 16"/>
          <p:cNvSpPr/>
          <p:nvPr/>
        </p:nvSpPr>
        <p:spPr>
          <a:xfrm>
            <a:off x="6400800" y="2487168"/>
            <a:ext cx="2240280" cy="493776"/>
          </a:xfrm>
          <a:prstGeom prst="rect">
            <a:avLst/>
          </a:prstGeom>
          <a:noFill/>
          <a:ln/>
        </p:spPr>
        <p:txBody>
          <a:bodyPr wrap="square" lIns="0" tIns="0" rIns="0" bIns="0" rtlCol="0" anchor="ctr">
            <a:normAutofit/>
          </a:bodyPr>
          <a:lstStyle/>
          <a:p>
            <a:pPr algn="l" indent="0" marL="0">
              <a:buNone/>
            </a:pPr>
            <a:r>
              <a:rPr lang="en-US" sz="1340" dirty="0">
                <a:solidFill>
                  <a:srgbClr val="1A1A1A"/>
                </a:solidFill>
                <a:latin typeface="Cambria" pitchFamily="34" charset="0"/>
                <a:ea typeface="Cambria" pitchFamily="34" charset="-122"/>
                <a:cs typeface="Cambria" pitchFamily="34" charset="-120"/>
              </a:rPr>
              <a:t>tập chính của executability</a:t>
            </a:r>
            <a:endParaRPr lang="en-US" sz="1340" dirty="0"/>
          </a:p>
        </p:txBody>
      </p:sp>
      <p:sp>
        <p:nvSpPr>
          <p:cNvPr id="19" name="Shape 17"/>
          <p:cNvSpPr/>
          <p:nvPr/>
        </p:nvSpPr>
        <p:spPr>
          <a:xfrm>
            <a:off x="502920" y="2980944"/>
            <a:ext cx="8138160" cy="0"/>
          </a:xfrm>
          <a:prstGeom prst="line">
            <a:avLst/>
          </a:prstGeom>
          <a:noFill/>
          <a:ln w="12700">
            <a:solidFill>
              <a:srgbClr val="D9D6DF"/>
            </a:solidFill>
            <a:prstDash val="solid"/>
            <a:tailEnd type="none"/>
          </a:ln>
        </p:spPr>
      </p:sp>
      <p:sp>
        <p:nvSpPr>
          <p:cNvPr id="20" name="Text 18"/>
          <p:cNvSpPr/>
          <p:nvPr/>
        </p:nvSpPr>
        <p:spPr>
          <a:xfrm>
            <a:off x="502920" y="2980944"/>
            <a:ext cx="2514600" cy="493776"/>
          </a:xfrm>
          <a:prstGeom prst="rect">
            <a:avLst/>
          </a:prstGeom>
          <a:noFill/>
          <a:ln/>
        </p:spPr>
        <p:txBody>
          <a:bodyPr wrap="square" lIns="0" tIns="0" rIns="0" bIns="0" rtlCol="0" anchor="ctr">
            <a:normAutofit/>
          </a:bodyPr>
          <a:lstStyle/>
          <a:p>
            <a:pPr algn="l" indent="0" marL="0">
              <a:buNone/>
            </a:pPr>
            <a:r>
              <a:rPr lang="en-US" sz="1340" dirty="0">
                <a:solidFill>
                  <a:srgbClr val="1A1A1A"/>
                </a:solidFill>
                <a:latin typeface="Cambria" pitchFamily="34" charset="0"/>
                <a:ea typeface="Cambria" pitchFamily="34" charset="-122"/>
                <a:cs typeface="Cambria" pitchFamily="34" charset="-120"/>
              </a:rPr>
              <a:t>Số tác vụ</a:t>
            </a:r>
            <a:endParaRPr lang="en-US" sz="1340" dirty="0"/>
          </a:p>
        </p:txBody>
      </p:sp>
      <p:sp>
        <p:nvSpPr>
          <p:cNvPr id="21" name="Text 19"/>
          <p:cNvSpPr/>
          <p:nvPr/>
        </p:nvSpPr>
        <p:spPr>
          <a:xfrm>
            <a:off x="3017520" y="2980944"/>
            <a:ext cx="1691640" cy="493776"/>
          </a:xfrm>
          <a:prstGeom prst="rect">
            <a:avLst/>
          </a:prstGeom>
          <a:noFill/>
          <a:ln/>
        </p:spPr>
        <p:txBody>
          <a:bodyPr wrap="square" lIns="0" tIns="0" rIns="0" bIns="0" rtlCol="0" anchor="ctr">
            <a:normAutofit/>
          </a:bodyPr>
          <a:lstStyle/>
          <a:p>
            <a:pPr algn="ctr" indent="0" marL="0">
              <a:buNone/>
            </a:pPr>
            <a:r>
              <a:rPr lang="en-US" sz="1340" dirty="0">
                <a:solidFill>
                  <a:srgbClr val="1A1A1A"/>
                </a:solidFill>
                <a:latin typeface="Cambria" pitchFamily="34" charset="0"/>
                <a:ea typeface="Cambria" pitchFamily="34" charset="-122"/>
                <a:cs typeface="Cambria" pitchFamily="34" charset="-120"/>
              </a:rPr>
              <a:t>12.895</a:t>
            </a:r>
            <a:endParaRPr lang="en-US" sz="1340" dirty="0"/>
          </a:p>
        </p:txBody>
      </p:sp>
      <p:sp>
        <p:nvSpPr>
          <p:cNvPr id="22" name="Text 20"/>
          <p:cNvSpPr/>
          <p:nvPr/>
        </p:nvSpPr>
        <p:spPr>
          <a:xfrm>
            <a:off x="4709160" y="2980944"/>
            <a:ext cx="1691640" cy="493776"/>
          </a:xfrm>
          <a:prstGeom prst="rect">
            <a:avLst/>
          </a:prstGeom>
          <a:noFill/>
          <a:ln/>
        </p:spPr>
        <p:txBody>
          <a:bodyPr wrap="square" lIns="0" tIns="0" rIns="0" bIns="0" rtlCol="0" anchor="ctr">
            <a:normAutofit/>
          </a:bodyPr>
          <a:lstStyle/>
          <a:p>
            <a:pPr algn="ctr" indent="0" marL="0">
              <a:buNone/>
            </a:pPr>
            <a:r>
              <a:rPr lang="en-US" sz="1340" dirty="0">
                <a:solidFill>
                  <a:srgbClr val="1A1A1A"/>
                </a:solidFill>
                <a:latin typeface="Cambria" pitchFamily="34" charset="0"/>
                <a:ea typeface="Cambria" pitchFamily="34" charset="-122"/>
                <a:cs typeface="Cambria" pitchFamily="34" charset="-120"/>
              </a:rPr>
              <a:t>1.432</a:t>
            </a:r>
            <a:endParaRPr lang="en-US" sz="1340" dirty="0"/>
          </a:p>
        </p:txBody>
      </p:sp>
      <p:sp>
        <p:nvSpPr>
          <p:cNvPr id="23" name="Text 21"/>
          <p:cNvSpPr/>
          <p:nvPr/>
        </p:nvSpPr>
        <p:spPr>
          <a:xfrm>
            <a:off x="6400800" y="2980944"/>
            <a:ext cx="2240280" cy="493776"/>
          </a:xfrm>
          <a:prstGeom prst="rect">
            <a:avLst/>
          </a:prstGeom>
          <a:noFill/>
          <a:ln/>
        </p:spPr>
        <p:txBody>
          <a:bodyPr wrap="square" lIns="0" tIns="0" rIns="0" bIns="0" rtlCol="0" anchor="ctr">
            <a:normAutofit/>
          </a:bodyPr>
          <a:lstStyle/>
          <a:p>
            <a:pPr algn="l" indent="0" marL="0">
              <a:buNone/>
            </a:pPr>
            <a:r>
              <a:rPr lang="en-US" sz="1340" dirty="0">
                <a:solidFill>
                  <a:srgbClr val="1A1A1A"/>
                </a:solidFill>
                <a:latin typeface="Cambria" pitchFamily="34" charset="0"/>
                <a:ea typeface="Cambria" pitchFamily="34" charset="-122"/>
                <a:cs typeface="Cambria" pitchFamily="34" charset="-120"/>
              </a:rPr>
              <a:t>không trùng tác vụ</a:t>
            </a:r>
            <a:endParaRPr lang="en-US" sz="1340" dirty="0"/>
          </a:p>
        </p:txBody>
      </p:sp>
      <p:sp>
        <p:nvSpPr>
          <p:cNvPr id="24" name="Shape 22"/>
          <p:cNvSpPr/>
          <p:nvPr/>
        </p:nvSpPr>
        <p:spPr>
          <a:xfrm>
            <a:off x="502920" y="3840480"/>
            <a:ext cx="8138160" cy="1261872"/>
          </a:xfrm>
          <a:prstGeom prst="roundRect">
            <a:avLst/>
          </a:prstGeom>
          <a:solidFill>
            <a:srgbClr val="F3F2F5"/>
          </a:solidFill>
          <a:ln w="12700">
            <a:solidFill>
              <a:srgbClr val="7A7099"/>
            </a:solidFill>
            <a:prstDash val="solid"/>
          </a:ln>
        </p:spPr>
      </p:sp>
      <p:sp>
        <p:nvSpPr>
          <p:cNvPr id="25" name="Text 23"/>
          <p:cNvSpPr/>
          <p:nvPr/>
        </p:nvSpPr>
        <p:spPr>
          <a:xfrm>
            <a:off x="704088" y="3968496"/>
            <a:ext cx="2560320" cy="502920"/>
          </a:xfrm>
          <a:prstGeom prst="rect">
            <a:avLst/>
          </a:prstGeom>
          <a:noFill/>
          <a:ln/>
        </p:spPr>
        <p:txBody>
          <a:bodyPr wrap="square" lIns="0" tIns="0" rIns="0" bIns="0" rtlCol="0" anchor="ctr">
            <a:normAutofit/>
          </a:bodyPr>
          <a:lstStyle/>
          <a:p>
            <a:pPr indent="0" marL="0">
              <a:buNone/>
            </a:pPr>
            <a:r>
              <a:rPr lang="en-US" sz="1420" b="1" dirty="0">
                <a:solidFill>
                  <a:srgbClr val="25194B"/>
                </a:solidFill>
                <a:latin typeface="Cambria" pitchFamily="34" charset="0"/>
                <a:ea typeface="Cambria" pitchFamily="34" charset="-122"/>
                <a:cs typeface="Cambria" pitchFamily="34" charset="-120"/>
              </a:rPr>
              <a:t>Đánh giá tổng quát hóa bổ sung</a:t>
            </a:r>
            <a:endParaRPr lang="en-US" sz="1420" dirty="0"/>
          </a:p>
        </p:txBody>
      </p:sp>
      <p:sp>
        <p:nvSpPr>
          <p:cNvPr id="26" name="Text 24"/>
          <p:cNvSpPr/>
          <p:nvPr/>
        </p:nvSpPr>
        <p:spPr>
          <a:xfrm>
            <a:off x="2990088" y="3913632"/>
            <a:ext cx="5376672" cy="786384"/>
          </a:xfrm>
          <a:prstGeom prst="rect">
            <a:avLst/>
          </a:prstGeom>
          <a:noFill/>
          <a:ln/>
        </p:spPr>
        <p:txBody>
          <a:bodyPr wrap="square" lIns="0" tIns="0" rIns="0" bIns="0" rtlCol="0" anchor="ctr">
            <a:normAutofit/>
          </a:bodyPr>
          <a:lstStyle/>
          <a:p>
            <a:pPr algn="l" indent="0" marL="0">
              <a:buNone/>
            </a:pPr>
            <a:r>
              <a:rPr lang="en-US" sz="1400" dirty="0">
                <a:solidFill>
                  <a:srgbClr val="1A1A1A"/>
                </a:solidFill>
                <a:latin typeface="Cambria" pitchFamily="34" charset="0"/>
                <a:ea typeface="Cambria" pitchFamily="34" charset="-122"/>
                <a:cs typeface="Cambria" pitchFamily="34" charset="-120"/>
              </a:rPr>
              <a:t>Tập tác vụ bổ sung (ACU) gồm 1.484 bước thuộc các tác vụ không xuất hiện trong tập huấn luyện của S1. AitZ được dùng để kiểm tra khi đổi sang một phân phối câu chuẩn khác.</a:t>
            </a:r>
            <a:endParaRPr lang="en-US" sz="1400" dirty="0"/>
          </a:p>
        </p:txBody>
      </p:sp>
      <p:sp>
        <p:nvSpPr>
          <p:cNvPr id="27" name="Text 25"/>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3, §6.8</a:t>
            </a:r>
            <a:endParaRPr lang="en-US" sz="800" dirty="0"/>
          </a:p>
        </p:txBody>
      </p:sp>
      <p:sp>
        <p:nvSpPr>
          <p:cNvPr id="28" name="Shape 26"/>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9" name="Shape 27"/>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30" name="Shape 28"/>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31" name="Shape 29"/>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32" name="Text 3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3" name="Text 3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4" name="Text 3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5" name="Text 3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6/24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 Tinh chỉnh dữ liệu phù hợp quan trọng hơn chỉ tăng kích thước mô hình</a:t>
            </a:r>
            <a:endParaRPr lang="en-US" sz="2000" dirty="0"/>
          </a:p>
        </p:txBody>
      </p:sp>
      <p:sp>
        <p:nvSpPr>
          <p:cNvPr id="4" name="Text 2"/>
          <p:cNvSpPr/>
          <p:nvPr/>
        </p:nvSpPr>
        <p:spPr>
          <a:xfrm>
            <a:off x="566928" y="1325880"/>
            <a:ext cx="182880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47,59%</a:t>
            </a:r>
            <a:endParaRPr lang="en-US" sz="2400" dirty="0"/>
          </a:p>
        </p:txBody>
      </p:sp>
      <p:sp>
        <p:nvSpPr>
          <p:cNvPr id="5" name="Text 3"/>
          <p:cNvSpPr/>
          <p:nvPr/>
        </p:nvSpPr>
        <p:spPr>
          <a:xfrm>
            <a:off x="566928" y="1856232"/>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3B · chưa tinh chỉnh</a:t>
            </a:r>
            <a:endParaRPr lang="en-US" sz="1250" dirty="0"/>
          </a:p>
        </p:txBody>
      </p:sp>
      <p:sp>
        <p:nvSpPr>
          <p:cNvPr id="6" name="Text 4"/>
          <p:cNvSpPr/>
          <p:nvPr/>
        </p:nvSpPr>
        <p:spPr>
          <a:xfrm>
            <a:off x="2633472" y="1325880"/>
            <a:ext cx="182880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51,51%</a:t>
            </a:r>
            <a:endParaRPr lang="en-US" sz="2400" dirty="0"/>
          </a:p>
        </p:txBody>
      </p:sp>
      <p:sp>
        <p:nvSpPr>
          <p:cNvPr id="7" name="Text 5"/>
          <p:cNvSpPr/>
          <p:nvPr/>
        </p:nvSpPr>
        <p:spPr>
          <a:xfrm>
            <a:off x="2633472" y="1856232"/>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7B · prompting</a:t>
            </a:r>
            <a:endParaRPr lang="en-US" sz="1250" dirty="0"/>
          </a:p>
        </p:txBody>
      </p:sp>
      <p:sp>
        <p:nvSpPr>
          <p:cNvPr id="8" name="Text 6"/>
          <p:cNvSpPr/>
          <p:nvPr/>
        </p:nvSpPr>
        <p:spPr>
          <a:xfrm>
            <a:off x="4700016" y="1325880"/>
            <a:ext cx="182880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59,11%</a:t>
            </a:r>
            <a:endParaRPr lang="en-US" sz="2400" dirty="0"/>
          </a:p>
        </p:txBody>
      </p:sp>
      <p:sp>
        <p:nvSpPr>
          <p:cNvPr id="9" name="Text 7"/>
          <p:cNvSpPr/>
          <p:nvPr/>
        </p:nvSpPr>
        <p:spPr>
          <a:xfrm>
            <a:off x="4700016" y="1856232"/>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3B · S1</a:t>
            </a:r>
            <a:endParaRPr lang="en-US" sz="1250" dirty="0"/>
          </a:p>
        </p:txBody>
      </p:sp>
      <p:sp>
        <p:nvSpPr>
          <p:cNvPr id="10" name="Text 8"/>
          <p:cNvSpPr/>
          <p:nvPr/>
        </p:nvSpPr>
        <p:spPr>
          <a:xfrm>
            <a:off x="6766560" y="1325880"/>
            <a:ext cx="182880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60,65%</a:t>
            </a:r>
            <a:endParaRPr lang="en-US" sz="2400" dirty="0"/>
          </a:p>
        </p:txBody>
      </p:sp>
      <p:sp>
        <p:nvSpPr>
          <p:cNvPr id="11" name="Text 9"/>
          <p:cNvSpPr/>
          <p:nvPr/>
        </p:nvSpPr>
        <p:spPr>
          <a:xfrm>
            <a:off x="6766560" y="1856232"/>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3B · GRPO-SPICE</a:t>
            </a:r>
            <a:endParaRPr lang="en-US" sz="1250" dirty="0"/>
          </a:p>
        </p:txBody>
      </p:sp>
      <p:sp>
        <p:nvSpPr>
          <p:cNvPr id="12" name="Shape 10"/>
          <p:cNvSpPr/>
          <p:nvPr/>
        </p:nvSpPr>
        <p:spPr>
          <a:xfrm>
            <a:off x="502920" y="2788920"/>
            <a:ext cx="8138160" cy="0"/>
          </a:xfrm>
          <a:prstGeom prst="line">
            <a:avLst/>
          </a:prstGeom>
          <a:noFill/>
          <a:ln w="12700">
            <a:solidFill>
              <a:srgbClr val="D9D6DF"/>
            </a:solidFill>
            <a:prstDash val="solid"/>
            <a:tailEnd type="none"/>
          </a:ln>
        </p:spPr>
      </p:sp>
      <p:sp>
        <p:nvSpPr>
          <p:cNvPr id="13" name="Shape 11"/>
          <p:cNvSpPr/>
          <p:nvPr/>
        </p:nvSpPr>
        <p:spPr>
          <a:xfrm>
            <a:off x="777240" y="3200400"/>
            <a:ext cx="3520440" cy="1298448"/>
          </a:xfrm>
          <a:prstGeom prst="roundRect">
            <a:avLst/>
          </a:prstGeom>
          <a:solidFill>
            <a:srgbClr val="F3F2F5"/>
          </a:solidFill>
          <a:ln w="12700">
            <a:solidFill>
              <a:srgbClr val="7A7099"/>
            </a:solidFill>
            <a:prstDash val="solid"/>
          </a:ln>
        </p:spPr>
      </p:sp>
      <p:sp>
        <p:nvSpPr>
          <p:cNvPr id="14" name="Text 12"/>
          <p:cNvSpPr/>
          <p:nvPr/>
        </p:nvSpPr>
        <p:spPr>
          <a:xfrm>
            <a:off x="960120" y="3429000"/>
            <a:ext cx="3154680" cy="320040"/>
          </a:xfrm>
          <a:prstGeom prst="rect">
            <a:avLst/>
          </a:prstGeom>
          <a:noFill/>
          <a:ln/>
        </p:spPr>
        <p:txBody>
          <a:bodyPr wrap="square" lIns="0" tIns="0" rIns="0" bIns="0" rtlCol="0" anchor="ctr"/>
          <a:lstStyle/>
          <a:p>
            <a:pPr algn="ctr" indent="0" marL="0">
              <a:buNone/>
            </a:pPr>
            <a:r>
              <a:rPr lang="en-US" sz="1450" b="1" dirty="0">
                <a:solidFill>
                  <a:srgbClr val="25194B"/>
                </a:solidFill>
                <a:latin typeface="Cambria" pitchFamily="34" charset="0"/>
                <a:ea typeface="Cambria" pitchFamily="34" charset="-122"/>
                <a:cs typeface="Cambria" pitchFamily="34" charset="-120"/>
              </a:rPr>
              <a:t>7B hơn 3B gốc</a:t>
            </a:r>
            <a:endParaRPr lang="en-US" sz="1450" dirty="0"/>
          </a:p>
        </p:txBody>
      </p:sp>
      <p:sp>
        <p:nvSpPr>
          <p:cNvPr id="15" name="Text 13"/>
          <p:cNvSpPr/>
          <p:nvPr/>
        </p:nvSpPr>
        <p:spPr>
          <a:xfrm>
            <a:off x="960120" y="3822192"/>
            <a:ext cx="3154680" cy="411480"/>
          </a:xfrm>
          <a:prstGeom prst="rect">
            <a:avLst/>
          </a:prstGeom>
          <a:noFill/>
          <a:ln/>
        </p:spPr>
        <p:txBody>
          <a:bodyPr wrap="square" lIns="0" tIns="0" rIns="0" bIns="0" rtlCol="0" anchor="ctr"/>
          <a:lstStyle/>
          <a:p>
            <a:pPr algn="ctr" indent="0" marL="0">
              <a:buNone/>
            </a:pPr>
            <a:r>
              <a:rPr lang="en-US" sz="2100" b="1" dirty="0">
                <a:solidFill>
                  <a:srgbClr val="7A7099"/>
                </a:solidFill>
                <a:latin typeface="Cambria" pitchFamily="34" charset="0"/>
                <a:ea typeface="Cambria" pitchFamily="34" charset="-122"/>
                <a:cs typeface="Cambria" pitchFamily="34" charset="-120"/>
              </a:rPr>
              <a:t>+3,92 điểm</a:t>
            </a:r>
            <a:endParaRPr lang="en-US" sz="2100" dirty="0"/>
          </a:p>
        </p:txBody>
      </p:sp>
      <p:sp>
        <p:nvSpPr>
          <p:cNvPr id="16" name="Shape 14"/>
          <p:cNvSpPr/>
          <p:nvPr/>
        </p:nvSpPr>
        <p:spPr>
          <a:xfrm>
            <a:off x="4846320" y="3200400"/>
            <a:ext cx="3520440" cy="1298448"/>
          </a:xfrm>
          <a:prstGeom prst="roundRect">
            <a:avLst/>
          </a:prstGeom>
          <a:solidFill>
            <a:srgbClr val="F3F2F5"/>
          </a:solidFill>
          <a:ln w="12700">
            <a:solidFill>
              <a:srgbClr val="4F417A"/>
            </a:solidFill>
            <a:prstDash val="solid"/>
          </a:ln>
        </p:spPr>
      </p:sp>
      <p:sp>
        <p:nvSpPr>
          <p:cNvPr id="17" name="Text 15"/>
          <p:cNvSpPr/>
          <p:nvPr/>
        </p:nvSpPr>
        <p:spPr>
          <a:xfrm>
            <a:off x="5029200" y="3383280"/>
            <a:ext cx="3154680" cy="475488"/>
          </a:xfrm>
          <a:prstGeom prst="rect">
            <a:avLst/>
          </a:prstGeom>
          <a:noFill/>
          <a:ln/>
        </p:spPr>
        <p:txBody>
          <a:bodyPr wrap="square" lIns="0" tIns="0" rIns="0" bIns="0" rtlCol="0" anchor="ctr">
            <a:normAutofit/>
          </a:bodyPr>
          <a:lstStyle/>
          <a:p>
            <a:pPr algn="ctr" indent="0" marL="0">
              <a:buNone/>
            </a:pPr>
            <a:r>
              <a:rPr lang="en-US" sz="1360" b="1" dirty="0">
                <a:solidFill>
                  <a:srgbClr val="25194B"/>
                </a:solidFill>
                <a:latin typeface="Cambria" pitchFamily="34" charset="0"/>
                <a:ea typeface="Cambria" pitchFamily="34" charset="-122"/>
                <a:cs typeface="Cambria" pitchFamily="34" charset="-120"/>
              </a:rPr>
              <a:t>3B sau GRPO-SPICE hơn 7B prompting</a:t>
            </a:r>
            <a:endParaRPr lang="en-US" sz="1360" dirty="0"/>
          </a:p>
        </p:txBody>
      </p:sp>
      <p:sp>
        <p:nvSpPr>
          <p:cNvPr id="18" name="Text 16"/>
          <p:cNvSpPr/>
          <p:nvPr/>
        </p:nvSpPr>
        <p:spPr>
          <a:xfrm>
            <a:off x="5029200" y="3822192"/>
            <a:ext cx="3154680" cy="411480"/>
          </a:xfrm>
          <a:prstGeom prst="rect">
            <a:avLst/>
          </a:prstGeom>
          <a:noFill/>
          <a:ln/>
        </p:spPr>
        <p:txBody>
          <a:bodyPr wrap="square" lIns="0" tIns="0" rIns="0" bIns="0" rtlCol="0" anchor="ctr"/>
          <a:lstStyle/>
          <a:p>
            <a:pPr algn="ctr" indent="0" marL="0">
              <a:buNone/>
            </a:pPr>
            <a:r>
              <a:rPr lang="en-US" sz="2100" b="1" dirty="0">
                <a:solidFill>
                  <a:srgbClr val="4F417A"/>
                </a:solidFill>
                <a:latin typeface="Cambria" pitchFamily="34" charset="0"/>
                <a:ea typeface="Cambria" pitchFamily="34" charset="-122"/>
                <a:cs typeface="Cambria" pitchFamily="34" charset="-120"/>
              </a:rPr>
              <a:t>+9,14 điểm</a:t>
            </a:r>
            <a:endParaRPr lang="en-US" sz="2100" dirty="0"/>
          </a:p>
        </p:txBody>
      </p:sp>
      <p:sp>
        <p:nvSpPr>
          <p:cNvPr id="19" name="Text 17"/>
          <p:cNvSpPr/>
          <p:nvPr/>
        </p:nvSpPr>
        <p:spPr>
          <a:xfrm>
            <a:off x="502920" y="5074920"/>
            <a:ext cx="8138160" cy="502920"/>
          </a:xfrm>
          <a:prstGeom prst="rect">
            <a:avLst/>
          </a:prstGeom>
          <a:noFill/>
          <a:ln/>
        </p:spPr>
        <p:txBody>
          <a:bodyPr wrap="square" lIns="0" tIns="0" rIns="0" bIns="0" rtlCol="0" anchor="ctr">
            <a:normAutofit/>
          </a:bodyPr>
          <a:lstStyle/>
          <a:p>
            <a:pPr algn="ctr" indent="0" marL="0">
              <a:buNone/>
            </a:pPr>
            <a:r>
              <a:rPr lang="en-US" sz="1450" b="1" dirty="0">
                <a:solidFill>
                  <a:srgbClr val="25194B"/>
                </a:solidFill>
                <a:latin typeface="Cambria" pitchFamily="34" charset="0"/>
                <a:ea typeface="Cambria" pitchFamily="34" charset="-122"/>
                <a:cs typeface="Cambria" pitchFamily="34" charset="-120"/>
              </a:rPr>
              <a:t>Trong thiết lập đã thử, dữ liệu và cách tinh chỉnh đóng góp nhiều hơn việc chỉ đổi từ mô hình 3B sang 7B.</a:t>
            </a:r>
            <a:endParaRPr lang="en-US" sz="1450" dirty="0"/>
          </a:p>
        </p:txBody>
      </p:sp>
      <p:sp>
        <p:nvSpPr>
          <p:cNvPr id="20" name="Text 18"/>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§6.2</a:t>
            </a:r>
            <a:endParaRPr lang="en-US" sz="800" dirty="0"/>
          </a:p>
        </p:txBody>
      </p:sp>
      <p:sp>
        <p:nvSpPr>
          <p:cNvPr id="21" name="Shape 19"/>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2" name="Shape 20"/>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3" name="Shape 21"/>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4" name="Shape 22"/>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5" name="Text 2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6" name="Text 2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7" name="Text 2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7/24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7. Executability: câu có giúp tìm đúng phần tử cần thao tác không?</a:t>
            </a:r>
            <a:endParaRPr lang="en-US" sz="2000" dirty="0"/>
          </a:p>
        </p:txBody>
      </p:sp>
      <p:sp>
        <p:nvSpPr>
          <p:cNvPr id="4" name="Shape 2"/>
          <p:cNvSpPr/>
          <p:nvPr/>
        </p:nvSpPr>
        <p:spPr>
          <a:xfrm>
            <a:off x="594360" y="1572768"/>
            <a:ext cx="1737360" cy="841248"/>
          </a:xfrm>
          <a:prstGeom prst="roundRect">
            <a:avLst/>
          </a:prstGeom>
          <a:solidFill>
            <a:srgbClr val="FFFFFF"/>
          </a:solidFill>
          <a:ln w="12700">
            <a:solidFill>
              <a:srgbClr val="7A7099"/>
            </a:solidFill>
            <a:prstDash val="solid"/>
          </a:ln>
        </p:spPr>
      </p:sp>
      <p:sp>
        <p:nvSpPr>
          <p:cNvPr id="5" name="Text 3"/>
          <p:cNvSpPr/>
          <p:nvPr/>
        </p:nvSpPr>
        <p:spPr>
          <a:xfrm>
            <a:off x="594360" y="1572768"/>
            <a:ext cx="1737360" cy="841248"/>
          </a:xfrm>
          <a:prstGeom prst="rect">
            <a:avLst/>
          </a:prstGeom>
          <a:noFill/>
          <a:ln/>
        </p:spPr>
        <p:txBody>
          <a:bodyPr wrap="square" lIns="0" tIns="0" rIns="0" bIns="0" rtlCol="0" anchor="ctr">
            <a:normAutofit/>
          </a:bodyPr>
          <a:lstStyle/>
          <a:p>
            <a:pPr algn="ctr" indent="0" marL="0">
              <a:buNone/>
            </a:pPr>
            <a:r>
              <a:rPr lang="en-US" sz="1600" b="1" dirty="0">
                <a:solidFill>
                  <a:srgbClr val="1A1A1A"/>
                </a:solidFill>
                <a:latin typeface="Cambria" pitchFamily="34" charset="0"/>
                <a:ea typeface="Cambria" pitchFamily="34" charset="-122"/>
                <a:cs typeface="Cambria" pitchFamily="34" charset="-120"/>
              </a:rPr>
              <a:t>Câu hướng dẫn</a:t>
            </a:r>
            <a:endParaRPr lang="en-US" sz="1600" dirty="0"/>
          </a:p>
        </p:txBody>
      </p:sp>
      <p:sp>
        <p:nvSpPr>
          <p:cNvPr id="6" name="Shape 4"/>
          <p:cNvSpPr/>
          <p:nvPr/>
        </p:nvSpPr>
        <p:spPr>
          <a:xfrm>
            <a:off x="2441448" y="1993392"/>
            <a:ext cx="365760" cy="0"/>
          </a:xfrm>
          <a:prstGeom prst="line">
            <a:avLst/>
          </a:prstGeom>
          <a:noFill/>
          <a:ln w="25400">
            <a:solidFill>
              <a:srgbClr val="4F417A"/>
            </a:solidFill>
            <a:prstDash val="solid"/>
            <a:tailEnd type="triangle"/>
          </a:ln>
        </p:spPr>
      </p:sp>
      <p:sp>
        <p:nvSpPr>
          <p:cNvPr id="7" name="Shape 5"/>
          <p:cNvSpPr/>
          <p:nvPr/>
        </p:nvSpPr>
        <p:spPr>
          <a:xfrm>
            <a:off x="2907792" y="1444752"/>
            <a:ext cx="2057400" cy="1097280"/>
          </a:xfrm>
          <a:prstGeom prst="roundRect">
            <a:avLst/>
          </a:prstGeom>
          <a:solidFill>
            <a:srgbClr val="F3F2F5"/>
          </a:solidFill>
          <a:ln w="12700">
            <a:solidFill>
              <a:srgbClr val="25194B"/>
            </a:solidFill>
            <a:prstDash val="solid"/>
          </a:ln>
        </p:spPr>
      </p:sp>
      <p:sp>
        <p:nvSpPr>
          <p:cNvPr id="8" name="Text 6"/>
          <p:cNvSpPr/>
          <p:nvPr/>
        </p:nvSpPr>
        <p:spPr>
          <a:xfrm>
            <a:off x="2907792" y="1444752"/>
            <a:ext cx="2057400" cy="1097280"/>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Mô hình định vị</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tách biệt</a:t>
            </a:r>
            <a:endParaRPr lang="en-US" sz="1500" dirty="0"/>
          </a:p>
        </p:txBody>
      </p:sp>
      <p:sp>
        <p:nvSpPr>
          <p:cNvPr id="9" name="Shape 7"/>
          <p:cNvSpPr/>
          <p:nvPr/>
        </p:nvSpPr>
        <p:spPr>
          <a:xfrm>
            <a:off x="5074920" y="1993392"/>
            <a:ext cx="365760" cy="0"/>
          </a:xfrm>
          <a:prstGeom prst="line">
            <a:avLst/>
          </a:prstGeom>
          <a:noFill/>
          <a:ln w="25400">
            <a:solidFill>
              <a:srgbClr val="4F417A"/>
            </a:solidFill>
            <a:prstDash val="solid"/>
            <a:tailEnd type="triangle"/>
          </a:ln>
        </p:spPr>
      </p:sp>
      <p:sp>
        <p:nvSpPr>
          <p:cNvPr id="10" name="Shape 8"/>
          <p:cNvSpPr/>
          <p:nvPr/>
        </p:nvSpPr>
        <p:spPr>
          <a:xfrm>
            <a:off x="5541264" y="1572768"/>
            <a:ext cx="1188720" cy="841248"/>
          </a:xfrm>
          <a:prstGeom prst="roundRect">
            <a:avLst/>
          </a:prstGeom>
          <a:solidFill>
            <a:srgbClr val="FFFFFF"/>
          </a:solidFill>
          <a:ln w="12700">
            <a:solidFill>
              <a:srgbClr val="7A7099"/>
            </a:solidFill>
            <a:prstDash val="solid"/>
          </a:ln>
        </p:spPr>
      </p:sp>
      <p:sp>
        <p:nvSpPr>
          <p:cNvPr id="11" name="Text 9"/>
          <p:cNvSpPr/>
          <p:nvPr/>
        </p:nvSpPr>
        <p:spPr>
          <a:xfrm>
            <a:off x="5541264" y="1572768"/>
            <a:ext cx="1188720" cy="841248"/>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Điểm (x,y)</a:t>
            </a:r>
            <a:endParaRPr lang="en-US" sz="1400" dirty="0"/>
          </a:p>
        </p:txBody>
      </p:sp>
      <p:sp>
        <p:nvSpPr>
          <p:cNvPr id="12" name="Shape 10"/>
          <p:cNvSpPr/>
          <p:nvPr/>
        </p:nvSpPr>
        <p:spPr>
          <a:xfrm>
            <a:off x="6839712" y="1993392"/>
            <a:ext cx="365760" cy="0"/>
          </a:xfrm>
          <a:prstGeom prst="line">
            <a:avLst/>
          </a:prstGeom>
          <a:noFill/>
          <a:ln w="25400">
            <a:solidFill>
              <a:srgbClr val="4F417A"/>
            </a:solidFill>
            <a:prstDash val="solid"/>
            <a:tailEnd type="triangle"/>
          </a:ln>
        </p:spPr>
      </p:sp>
      <p:sp>
        <p:nvSpPr>
          <p:cNvPr id="13" name="Shape 11"/>
          <p:cNvSpPr/>
          <p:nvPr/>
        </p:nvSpPr>
        <p:spPr>
          <a:xfrm>
            <a:off x="7296912" y="1371600"/>
            <a:ext cx="1261872" cy="1243584"/>
          </a:xfrm>
          <a:prstGeom prst="roundRect">
            <a:avLst/>
          </a:prstGeom>
          <a:solidFill>
            <a:srgbClr val="F3F2F5"/>
          </a:solidFill>
          <a:ln w="12700">
            <a:solidFill>
              <a:srgbClr val="4F417A"/>
            </a:solidFill>
            <a:prstDash val="solid"/>
          </a:ln>
        </p:spPr>
      </p:sp>
      <p:sp>
        <p:nvSpPr>
          <p:cNvPr id="14" name="Text 12"/>
          <p:cNvSpPr/>
          <p:nvPr/>
        </p:nvSpPr>
        <p:spPr>
          <a:xfrm>
            <a:off x="7296912" y="1371600"/>
            <a:ext cx="1261872" cy="1243584"/>
          </a:xfrm>
          <a:prstGeom prst="rect">
            <a:avLst/>
          </a:prstGeom>
          <a:noFill/>
          <a:ln/>
        </p:spPr>
        <p:txBody>
          <a:bodyPr wrap="square" lIns="0" tIns="0" rIns="0" bIns="0" rtlCol="0" anchor="ctr">
            <a:normAutofit/>
          </a:bodyPr>
          <a:lstStyle/>
          <a:p>
            <a:pPr algn="ctr" indent="0" marL="0">
              <a:buNone/>
            </a:pPr>
            <a:r>
              <a:rPr lang="en-US" sz="1320" b="1" dirty="0">
                <a:solidFill>
                  <a:srgbClr val="1A1A1A"/>
                </a:solidFill>
                <a:latin typeface="Cambria" pitchFamily="34" charset="0"/>
                <a:ea typeface="Cambria" pitchFamily="34" charset="-122"/>
                <a:cs typeface="Cambria" pitchFamily="34" charset="-120"/>
              </a:rPr>
              <a:t>Đúng phần tử</a:t>
            </a:r>
            <a:endParaRPr lang="en-US" sz="1320" dirty="0"/>
          </a:p>
          <a:p>
            <a:pPr algn="ctr" indent="0" marL="0">
              <a:buNone/>
            </a:pPr>
            <a:r>
              <a:rPr lang="en-US" sz="1320" b="1" dirty="0">
                <a:solidFill>
                  <a:srgbClr val="1A1A1A"/>
                </a:solidFill>
                <a:latin typeface="Cambria" pitchFamily="34" charset="0"/>
                <a:ea typeface="Cambria" pitchFamily="34" charset="-122"/>
                <a:cs typeface="Cambria" pitchFamily="34" charset="-120"/>
              </a:rPr>
              <a:t>+ đúng thao tác?</a:t>
            </a:r>
            <a:endParaRPr lang="en-US" sz="1320" dirty="0"/>
          </a:p>
        </p:txBody>
      </p:sp>
      <p:sp>
        <p:nvSpPr>
          <p:cNvPr id="15" name="Text 13"/>
          <p:cNvSpPr/>
          <p:nvPr/>
        </p:nvSpPr>
        <p:spPr>
          <a:xfrm>
            <a:off x="502920" y="3182112"/>
            <a:ext cx="3246120" cy="502920"/>
          </a:xfrm>
          <a:prstGeom prst="rect">
            <a:avLst/>
          </a:prstGeom>
          <a:noFill/>
          <a:ln/>
        </p:spPr>
        <p:txBody>
          <a:bodyPr wrap="square" lIns="0" tIns="0" rIns="0" bIns="0" rtlCol="0" anchor="ctr">
            <a:normAutofit/>
          </a:bodyPr>
          <a:lstStyle/>
          <a:p>
            <a:pPr indent="0" marL="0">
              <a:buNone/>
            </a:pPr>
            <a:r>
              <a:rPr lang="en-US" sz="1550" b="1" dirty="0">
                <a:solidFill>
                  <a:srgbClr val="25194B"/>
                </a:solidFill>
                <a:latin typeface="Cambria" pitchFamily="34" charset="0"/>
                <a:ea typeface="Cambria" pitchFamily="34" charset="-122"/>
                <a:cs typeface="Cambria" pitchFamily="34" charset="-120"/>
              </a:rPr>
              <a:t>Một bước được tính đúng khi đồng thời:</a:t>
            </a:r>
            <a:endParaRPr lang="en-US" sz="1550" dirty="0"/>
          </a:p>
        </p:txBody>
      </p:sp>
      <p:sp>
        <p:nvSpPr>
          <p:cNvPr id="16" name="Shape 14"/>
          <p:cNvSpPr/>
          <p:nvPr/>
        </p:nvSpPr>
        <p:spPr>
          <a:xfrm>
            <a:off x="521208" y="3813048"/>
            <a:ext cx="64008" cy="64008"/>
          </a:xfrm>
          <a:prstGeom prst="ellipse">
            <a:avLst/>
          </a:prstGeom>
          <a:solidFill>
            <a:srgbClr val="4F417A"/>
          </a:solidFill>
          <a:ln w="12700">
            <a:solidFill>
              <a:srgbClr val="4F417A">
                <a:alpha val="0"/>
              </a:srgbClr>
            </a:solidFill>
            <a:prstDash val="solid"/>
          </a:ln>
        </p:spPr>
      </p:sp>
      <p:sp>
        <p:nvSpPr>
          <p:cNvPr id="17" name="Text 15"/>
          <p:cNvSpPr/>
          <p:nvPr/>
        </p:nvSpPr>
        <p:spPr>
          <a:xfrm>
            <a:off x="713232" y="3675888"/>
            <a:ext cx="7927848" cy="475488"/>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1A1A1A"/>
                </a:solidFill>
                <a:latin typeface="Cambria" pitchFamily="34" charset="0"/>
                <a:ea typeface="Cambria" pitchFamily="34" charset="-122"/>
                <a:cs typeface="Cambria" pitchFamily="34" charset="-120"/>
              </a:rPr>
              <a:t>đúng loại thao tác</a:t>
            </a:r>
            <a:endParaRPr lang="en-US" sz="1500" dirty="0"/>
          </a:p>
        </p:txBody>
      </p:sp>
      <p:sp>
        <p:nvSpPr>
          <p:cNvPr id="18" name="Shape 16"/>
          <p:cNvSpPr/>
          <p:nvPr/>
        </p:nvSpPr>
        <p:spPr>
          <a:xfrm>
            <a:off x="521208" y="4379976"/>
            <a:ext cx="64008" cy="64008"/>
          </a:xfrm>
          <a:prstGeom prst="ellipse">
            <a:avLst/>
          </a:prstGeom>
          <a:solidFill>
            <a:srgbClr val="4F417A"/>
          </a:solidFill>
          <a:ln w="12700">
            <a:solidFill>
              <a:srgbClr val="4F417A">
                <a:alpha val="0"/>
              </a:srgbClr>
            </a:solidFill>
            <a:prstDash val="solid"/>
          </a:ln>
        </p:spPr>
      </p:sp>
      <p:sp>
        <p:nvSpPr>
          <p:cNvPr id="19" name="Text 17"/>
          <p:cNvSpPr/>
          <p:nvPr/>
        </p:nvSpPr>
        <p:spPr>
          <a:xfrm>
            <a:off x="713232" y="4242816"/>
            <a:ext cx="7927848" cy="475488"/>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1A1A1A"/>
                </a:solidFill>
                <a:latin typeface="Cambria" pitchFamily="34" charset="0"/>
                <a:ea typeface="Cambria" pitchFamily="34" charset="-122"/>
                <a:cs typeface="Cambria" pitchFamily="34" charset="-120"/>
              </a:rPr>
              <a:t>không mô tả trạng thái theo nghĩa ngược</a:t>
            </a:r>
            <a:endParaRPr lang="en-US" sz="1500" dirty="0"/>
          </a:p>
        </p:txBody>
      </p:sp>
      <p:sp>
        <p:nvSpPr>
          <p:cNvPr id="20" name="Shape 18"/>
          <p:cNvSpPr/>
          <p:nvPr/>
        </p:nvSpPr>
        <p:spPr>
          <a:xfrm>
            <a:off x="521208" y="4946904"/>
            <a:ext cx="64008" cy="64008"/>
          </a:xfrm>
          <a:prstGeom prst="ellipse">
            <a:avLst/>
          </a:prstGeom>
          <a:solidFill>
            <a:srgbClr val="4F417A"/>
          </a:solidFill>
          <a:ln w="12700">
            <a:solidFill>
              <a:srgbClr val="4F417A">
                <a:alpha val="0"/>
              </a:srgbClr>
            </a:solidFill>
            <a:prstDash val="solid"/>
          </a:ln>
        </p:spPr>
      </p:sp>
      <p:sp>
        <p:nvSpPr>
          <p:cNvPr id="21" name="Text 19"/>
          <p:cNvSpPr/>
          <p:nvPr/>
        </p:nvSpPr>
        <p:spPr>
          <a:xfrm>
            <a:off x="713232" y="4809744"/>
            <a:ext cx="7927848" cy="475488"/>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1A1A1A"/>
                </a:solidFill>
                <a:latin typeface="Cambria" pitchFamily="34" charset="0"/>
                <a:ea typeface="Cambria" pitchFamily="34" charset="-122"/>
                <a:cs typeface="Cambria" pitchFamily="34" charset="-120"/>
              </a:rPr>
              <a:t>điểm định vị thuộc vùng của phần tử cần chạm</a:t>
            </a:r>
            <a:endParaRPr lang="en-US" sz="1500" dirty="0"/>
          </a:p>
        </p:txBody>
      </p:sp>
      <p:sp>
        <p:nvSpPr>
          <p:cNvPr id="22" name="Text 20"/>
          <p:cNvSpPr/>
          <p:nvPr/>
        </p:nvSpPr>
        <p:spPr>
          <a:xfrm>
            <a:off x="502920" y="5468112"/>
            <a:ext cx="8138160" cy="411480"/>
          </a:xfrm>
          <a:prstGeom prst="rect">
            <a:avLst/>
          </a:prstGeom>
          <a:noFill/>
          <a:ln/>
        </p:spPr>
        <p:txBody>
          <a:bodyPr wrap="square" lIns="0" tIns="0" rIns="0" bIns="0" rtlCol="0" anchor="ctr"/>
          <a:lstStyle/>
          <a:p>
            <a:pPr algn="ctr" indent="0" marL="0">
              <a:buNone/>
            </a:pPr>
            <a:r>
              <a:rPr lang="en-US" sz="1400" b="1" dirty="0">
                <a:solidFill>
                  <a:srgbClr val="25194B"/>
                </a:solidFill>
                <a:latin typeface="Cambria" pitchFamily="34" charset="0"/>
                <a:ea typeface="Cambria" pitchFamily="34" charset="-122"/>
                <a:cs typeface="Cambria" pitchFamily="34" charset="-120"/>
              </a:rPr>
              <a:t>Mô hình định vị không tham gia huấn luyện phương pháp và không biết tọa độ đáp án.</a:t>
            </a:r>
            <a:endParaRPr lang="en-US" sz="1400" dirty="0"/>
          </a:p>
        </p:txBody>
      </p:sp>
      <p:sp>
        <p:nvSpPr>
          <p:cNvPr id="23" name="Text 21"/>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5</a:t>
            </a:r>
            <a:endParaRPr lang="en-US" sz="800" dirty="0"/>
          </a:p>
        </p:txBody>
      </p:sp>
      <p:sp>
        <p:nvSpPr>
          <p:cNvPr id="24" name="Shape 22"/>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5" name="Shape 23"/>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6" name="Shape 24"/>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7" name="Shape 25"/>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8"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9"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0"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1"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8/24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8. Executability phản ứng đúng với câu rõ và câu mơ hồ</a:t>
            </a:r>
            <a:endParaRPr lang="en-US" sz="2000" dirty="0"/>
          </a:p>
        </p:txBody>
      </p:sp>
      <p:sp>
        <p:nvSpPr>
          <p:cNvPr id="4" name="Text 2"/>
          <p:cNvSpPr/>
          <p:nvPr/>
        </p:nvSpPr>
        <p:spPr>
          <a:xfrm>
            <a:off x="640080" y="1097280"/>
            <a:ext cx="214884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75,7%</a:t>
            </a:r>
            <a:endParaRPr lang="en-US" sz="2400" dirty="0"/>
          </a:p>
        </p:txBody>
      </p:sp>
      <p:sp>
        <p:nvSpPr>
          <p:cNvPr id="5" name="Text 3"/>
          <p:cNvSpPr/>
          <p:nvPr/>
        </p:nvSpPr>
        <p:spPr>
          <a:xfrm>
            <a:off x="640080" y="1627632"/>
            <a:ext cx="214884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câu chuẩn</a:t>
            </a:r>
            <a:endParaRPr lang="en-US" sz="1250" dirty="0"/>
          </a:p>
        </p:txBody>
      </p:sp>
      <p:sp>
        <p:nvSpPr>
          <p:cNvPr id="6" name="Text 4"/>
          <p:cNvSpPr/>
          <p:nvPr/>
        </p:nvSpPr>
        <p:spPr>
          <a:xfrm>
            <a:off x="3493008" y="1097280"/>
            <a:ext cx="214884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12,0%</a:t>
            </a:r>
            <a:endParaRPr lang="en-US" sz="2400" dirty="0"/>
          </a:p>
        </p:txBody>
      </p:sp>
      <p:sp>
        <p:nvSpPr>
          <p:cNvPr id="7" name="Text 5"/>
          <p:cNvSpPr/>
          <p:nvPr/>
        </p:nvSpPr>
        <p:spPr>
          <a:xfrm>
            <a:off x="3493008" y="1627632"/>
            <a:ext cx="214884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“Tap the button.”</a:t>
            </a:r>
            <a:endParaRPr lang="en-US" sz="1250" dirty="0"/>
          </a:p>
        </p:txBody>
      </p:sp>
      <p:sp>
        <p:nvSpPr>
          <p:cNvPr id="8" name="Text 6"/>
          <p:cNvSpPr/>
          <p:nvPr/>
        </p:nvSpPr>
        <p:spPr>
          <a:xfrm>
            <a:off x="6345936" y="1097280"/>
            <a:ext cx="214884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6,1%</a:t>
            </a:r>
            <a:endParaRPr lang="en-US" sz="2400" dirty="0"/>
          </a:p>
        </p:txBody>
      </p:sp>
      <p:sp>
        <p:nvSpPr>
          <p:cNvPr id="9" name="Text 7"/>
          <p:cNvSpPr/>
          <p:nvPr/>
        </p:nvSpPr>
        <p:spPr>
          <a:xfrm>
            <a:off x="6345936" y="1627632"/>
            <a:ext cx="214884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câu của màn hình khác</a:t>
            </a:r>
            <a:endParaRPr lang="en-US" sz="1250" dirty="0"/>
          </a:p>
        </p:txBody>
      </p:sp>
      <p:sp>
        <p:nvSpPr>
          <p:cNvPr id="10" name="Text 8"/>
          <p:cNvSpPr/>
          <p:nvPr/>
        </p:nvSpPr>
        <p:spPr>
          <a:xfrm>
            <a:off x="502920" y="2395728"/>
            <a:ext cx="8138160" cy="274320"/>
          </a:xfrm>
          <a:prstGeom prst="rect">
            <a:avLst/>
          </a:prstGeom>
          <a:noFill/>
          <a:ln/>
        </p:spPr>
        <p:txBody>
          <a:bodyPr wrap="square" lIns="0" tIns="0" rIns="0" bIns="0" rtlCol="0" anchor="ctr"/>
          <a:lstStyle/>
          <a:p>
            <a:pPr algn="ctr" indent="0" marL="0">
              <a:buNone/>
            </a:pPr>
            <a:r>
              <a:rPr lang="en-US" sz="1250" dirty="0">
                <a:solidFill>
                  <a:srgbClr val="5A5A66"/>
                </a:solidFill>
                <a:latin typeface="Cambria" pitchFamily="34" charset="0"/>
                <a:ea typeface="Cambria" pitchFamily="34" charset="-122"/>
                <a:cs typeface="Cambria" pitchFamily="34" charset="-120"/>
              </a:rPr>
              <a:t>Ba mốc được tính trên cùng mẫu 800 bước.</a:t>
            </a:r>
            <a:endParaRPr lang="en-US" sz="1250" dirty="0"/>
          </a:p>
        </p:txBody>
      </p:sp>
      <p:sp>
        <p:nvSpPr>
          <p:cNvPr id="11" name="Shape 9"/>
          <p:cNvSpPr/>
          <p:nvPr/>
        </p:nvSpPr>
        <p:spPr>
          <a:xfrm>
            <a:off x="502920" y="2761488"/>
            <a:ext cx="8138160" cy="0"/>
          </a:xfrm>
          <a:prstGeom prst="line">
            <a:avLst/>
          </a:prstGeom>
          <a:noFill/>
          <a:ln w="12700">
            <a:solidFill>
              <a:srgbClr val="D9D6DF"/>
            </a:solidFill>
            <a:prstDash val="solid"/>
            <a:tailEnd type="none"/>
          </a:ln>
        </p:spPr>
      </p:sp>
      <p:sp>
        <p:nvSpPr>
          <p:cNvPr id="12" name="Shape 10"/>
          <p:cNvSpPr/>
          <p:nvPr/>
        </p:nvSpPr>
        <p:spPr>
          <a:xfrm>
            <a:off x="502920" y="3127248"/>
            <a:ext cx="8138160" cy="1417320"/>
          </a:xfrm>
          <a:prstGeom prst="roundRect">
            <a:avLst/>
          </a:prstGeom>
          <a:solidFill>
            <a:srgbClr val="F3F2F5"/>
          </a:solidFill>
          <a:ln w="12700">
            <a:solidFill>
              <a:srgbClr val="7A7099"/>
            </a:solidFill>
            <a:prstDash val="solid"/>
          </a:ln>
        </p:spPr>
      </p:sp>
      <p:sp>
        <p:nvSpPr>
          <p:cNvPr id="13" name="Text 11"/>
          <p:cNvSpPr/>
          <p:nvPr/>
        </p:nvSpPr>
        <p:spPr>
          <a:xfrm>
            <a:off x="704088" y="3346704"/>
            <a:ext cx="2057400" cy="310896"/>
          </a:xfrm>
          <a:prstGeom prst="rect">
            <a:avLst/>
          </a:prstGeom>
          <a:noFill/>
          <a:ln/>
        </p:spPr>
        <p:txBody>
          <a:bodyPr wrap="square" lIns="0" tIns="0" rIns="0" bIns="0" rtlCol="0" anchor="ctr"/>
          <a:lstStyle/>
          <a:p>
            <a:pPr indent="0" marL="0">
              <a:buNone/>
            </a:pPr>
            <a:r>
              <a:rPr lang="en-US" sz="1500" b="1" dirty="0">
                <a:solidFill>
                  <a:srgbClr val="25194B"/>
                </a:solidFill>
                <a:latin typeface="Cambria" pitchFamily="34" charset="0"/>
                <a:ea typeface="Cambria" pitchFamily="34" charset="-122"/>
                <a:cs typeface="Cambria" pitchFamily="34" charset="-120"/>
              </a:rPr>
              <a:t>Đổi công cụ đánh giá</a:t>
            </a:r>
            <a:endParaRPr lang="en-US" sz="1500" dirty="0"/>
          </a:p>
        </p:txBody>
      </p:sp>
      <p:sp>
        <p:nvSpPr>
          <p:cNvPr id="14" name="Text 12"/>
          <p:cNvSpPr/>
          <p:nvPr/>
        </p:nvSpPr>
        <p:spPr>
          <a:xfrm>
            <a:off x="2560320" y="3182112"/>
            <a:ext cx="5806440" cy="841248"/>
          </a:xfrm>
          <a:prstGeom prst="rect">
            <a:avLst/>
          </a:prstGeom>
          <a:noFill/>
          <a:ln/>
        </p:spPr>
        <p:txBody>
          <a:bodyPr wrap="square" lIns="0" tIns="0" rIns="0" bIns="0" rtlCol="0" anchor="ctr">
            <a:normAutofit/>
          </a:bodyPr>
          <a:lstStyle/>
          <a:p>
            <a:pPr indent="0" marL="0">
              <a:buNone/>
            </a:pPr>
            <a:r>
              <a:rPr lang="en-US" sz="1400" dirty="0">
                <a:solidFill>
                  <a:srgbClr val="1A1A1A"/>
                </a:solidFill>
                <a:latin typeface="Cambria" pitchFamily="34" charset="0"/>
                <a:ea typeface="Cambria" pitchFamily="34" charset="-122"/>
                <a:cs typeface="Cambria" pitchFamily="34" charset="-120"/>
              </a:rPr>
              <a:t>Chiều cải thiện của GRPO-SPICE so với S1 được giữ dưới UGround, UI-Venus, Phi-Ground và Phi-4. Hai công cụ sau nằm ngoài họ Qwen.</a:t>
            </a:r>
            <a:endParaRPr lang="en-US" sz="1400" dirty="0"/>
          </a:p>
        </p:txBody>
      </p:sp>
      <p:sp>
        <p:nvSpPr>
          <p:cNvPr id="15" name="Text 13"/>
          <p:cNvSpPr/>
          <p:nvPr/>
        </p:nvSpPr>
        <p:spPr>
          <a:xfrm>
            <a:off x="502920" y="5074920"/>
            <a:ext cx="8138160" cy="457200"/>
          </a:xfrm>
          <a:prstGeom prst="rect">
            <a:avLst/>
          </a:prstGeom>
          <a:noFill/>
          <a:ln/>
        </p:spPr>
        <p:txBody>
          <a:bodyPr wrap="square" lIns="0" tIns="0" rIns="0" bIns="0" rtlCol="0" anchor="ctr"/>
          <a:lstStyle/>
          <a:p>
            <a:pPr algn="ctr" indent="0" marL="0">
              <a:buNone/>
            </a:pPr>
            <a:r>
              <a:rPr lang="en-US" sz="1500" b="1" dirty="0">
                <a:solidFill>
                  <a:srgbClr val="25194B"/>
                </a:solidFill>
                <a:latin typeface="Cambria" pitchFamily="34" charset="0"/>
                <a:ea typeface="Cambria" pitchFamily="34" charset="-122"/>
                <a:cs typeface="Cambria" pitchFamily="34" charset="-120"/>
              </a:rPr>
              <a:t>Vì vậy kết luận chính không dựa vào một bộ chấm duy nhất.</a:t>
            </a:r>
            <a:endParaRPr lang="en-US" sz="1500" dirty="0"/>
          </a:p>
        </p:txBody>
      </p:sp>
      <p:sp>
        <p:nvSpPr>
          <p:cNvPr id="16" name="Text 14"/>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§5.5–§5.10, §6.7.3</a:t>
            </a:r>
            <a:endParaRPr lang="en-US" sz="800" dirty="0"/>
          </a:p>
        </p:txBody>
      </p:sp>
      <p:sp>
        <p:nvSpPr>
          <p:cNvPr id="17" name="Shape 15"/>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8" name="Shape 16"/>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9" name="Shape 17"/>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0" name="Shape 18"/>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1"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3"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9/24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9. Phương pháp đề xuất</a:t>
            </a:r>
            <a:endParaRPr lang="en-US" sz="2000" dirty="0"/>
          </a:p>
        </p:txBody>
      </p:sp>
      <p:sp>
        <p:nvSpPr>
          <p:cNvPr id="4" name="Shape 2"/>
          <p:cNvSpPr/>
          <p:nvPr/>
        </p:nvSpPr>
        <p:spPr>
          <a:xfrm>
            <a:off x="502920" y="1234440"/>
            <a:ext cx="868680" cy="822960"/>
          </a:xfrm>
          <a:prstGeom prst="roundRect">
            <a:avLst/>
          </a:prstGeom>
          <a:solidFill>
            <a:srgbClr val="FFFFFF"/>
          </a:solidFill>
          <a:ln w="12700">
            <a:solidFill>
              <a:srgbClr val="7A7099"/>
            </a:solidFill>
            <a:prstDash val="solid"/>
          </a:ln>
        </p:spPr>
      </p:sp>
      <p:sp>
        <p:nvSpPr>
          <p:cNvPr id="5" name="Text 3"/>
          <p:cNvSpPr/>
          <p:nvPr/>
        </p:nvSpPr>
        <p:spPr>
          <a:xfrm>
            <a:off x="502920" y="1234440"/>
            <a:ext cx="868680" cy="822960"/>
          </a:xfrm>
          <a:prstGeom prst="rect">
            <a:avLst/>
          </a:prstGeom>
          <a:noFill/>
          <a:ln/>
        </p:spPr>
        <p:txBody>
          <a:bodyPr wrap="square" lIns="0" tIns="0" rIns="0" bIns="0" rtlCol="0" anchor="ctr">
            <a:normAutofit/>
          </a:bodyPr>
          <a:lstStyle/>
          <a:p>
            <a:pPr algn="ctr" indent="0" marL="0">
              <a:buNone/>
            </a:pPr>
            <a:r>
              <a:rPr lang="en-US" sz="1600" b="1" dirty="0">
                <a:solidFill>
                  <a:srgbClr val="1A1A1A"/>
                </a:solidFill>
                <a:latin typeface="Cambria" pitchFamily="34" charset="0"/>
                <a:ea typeface="Cambria" pitchFamily="34" charset="-122"/>
                <a:cs typeface="Cambria" pitchFamily="34" charset="-120"/>
              </a:rPr>
              <a:t>S1</a:t>
            </a:r>
            <a:endParaRPr lang="en-US" sz="1600" dirty="0"/>
          </a:p>
        </p:txBody>
      </p:sp>
      <p:sp>
        <p:nvSpPr>
          <p:cNvPr id="6" name="Shape 4"/>
          <p:cNvSpPr/>
          <p:nvPr/>
        </p:nvSpPr>
        <p:spPr>
          <a:xfrm>
            <a:off x="1481328" y="1645920"/>
            <a:ext cx="320040" cy="0"/>
          </a:xfrm>
          <a:prstGeom prst="line">
            <a:avLst/>
          </a:prstGeom>
          <a:noFill/>
          <a:ln w="25400">
            <a:solidFill>
              <a:srgbClr val="4F417A"/>
            </a:solidFill>
            <a:prstDash val="solid"/>
            <a:tailEnd type="triangle"/>
          </a:ln>
        </p:spPr>
      </p:sp>
      <p:sp>
        <p:nvSpPr>
          <p:cNvPr id="7" name="Shape 5"/>
          <p:cNvSpPr/>
          <p:nvPr/>
        </p:nvSpPr>
        <p:spPr>
          <a:xfrm>
            <a:off x="1901952" y="1143000"/>
            <a:ext cx="1965960" cy="1005840"/>
          </a:xfrm>
          <a:prstGeom prst="roundRect">
            <a:avLst/>
          </a:prstGeom>
          <a:solidFill>
            <a:srgbClr val="F3F2F5"/>
          </a:solidFill>
          <a:ln w="12700">
            <a:solidFill>
              <a:srgbClr val="25194B"/>
            </a:solidFill>
            <a:prstDash val="solid"/>
          </a:ln>
        </p:spPr>
      </p:sp>
      <p:sp>
        <p:nvSpPr>
          <p:cNvPr id="8" name="Text 6"/>
          <p:cNvSpPr/>
          <p:nvPr/>
        </p:nvSpPr>
        <p:spPr>
          <a:xfrm>
            <a:off x="1901952" y="1143000"/>
            <a:ext cx="1965960" cy="1005840"/>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GRPO-SPICE</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sinh câu ban đầu</a:t>
            </a:r>
            <a:endParaRPr lang="en-US" sz="1500" dirty="0"/>
          </a:p>
        </p:txBody>
      </p:sp>
      <p:sp>
        <p:nvSpPr>
          <p:cNvPr id="9" name="Shape 7"/>
          <p:cNvSpPr/>
          <p:nvPr/>
        </p:nvSpPr>
        <p:spPr>
          <a:xfrm>
            <a:off x="3977640" y="1645920"/>
            <a:ext cx="320040" cy="0"/>
          </a:xfrm>
          <a:prstGeom prst="line">
            <a:avLst/>
          </a:prstGeom>
          <a:noFill/>
          <a:ln w="25400">
            <a:solidFill>
              <a:srgbClr val="4F417A"/>
            </a:solidFill>
            <a:prstDash val="solid"/>
            <a:tailEnd type="triangle"/>
          </a:ln>
        </p:spPr>
      </p:sp>
      <p:sp>
        <p:nvSpPr>
          <p:cNvPr id="10" name="Shape 8"/>
          <p:cNvSpPr/>
          <p:nvPr/>
        </p:nvSpPr>
        <p:spPr>
          <a:xfrm>
            <a:off x="4407408" y="1143000"/>
            <a:ext cx="1965960" cy="1005840"/>
          </a:xfrm>
          <a:prstGeom prst="roundRect">
            <a:avLst/>
          </a:prstGeom>
          <a:solidFill>
            <a:srgbClr val="F3F2F5"/>
          </a:solidFill>
          <a:ln w="12700">
            <a:solidFill>
              <a:srgbClr val="4F417A"/>
            </a:solidFill>
            <a:prstDash val="solid"/>
          </a:ln>
        </p:spPr>
      </p:sp>
      <p:sp>
        <p:nvSpPr>
          <p:cNvPr id="11" name="Text 9"/>
          <p:cNvSpPr/>
          <p:nvPr/>
        </p:nvSpPr>
        <p:spPr>
          <a:xfrm>
            <a:off x="4407408" y="1143000"/>
            <a:ext cx="1965960" cy="1005840"/>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ACE</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hiệu chỉnh có chọn lọc</a:t>
            </a:r>
            <a:endParaRPr lang="en-US" sz="1500" dirty="0"/>
          </a:p>
        </p:txBody>
      </p:sp>
      <p:sp>
        <p:nvSpPr>
          <p:cNvPr id="12" name="Shape 10"/>
          <p:cNvSpPr/>
          <p:nvPr/>
        </p:nvSpPr>
        <p:spPr>
          <a:xfrm>
            <a:off x="6492240" y="1645920"/>
            <a:ext cx="320040" cy="0"/>
          </a:xfrm>
          <a:prstGeom prst="line">
            <a:avLst/>
          </a:prstGeom>
          <a:noFill/>
          <a:ln w="25400">
            <a:solidFill>
              <a:srgbClr val="4F417A"/>
            </a:solidFill>
            <a:prstDash val="solid"/>
            <a:tailEnd type="triangle"/>
          </a:ln>
        </p:spPr>
      </p:sp>
      <p:sp>
        <p:nvSpPr>
          <p:cNvPr id="13" name="Shape 11"/>
          <p:cNvSpPr/>
          <p:nvPr/>
        </p:nvSpPr>
        <p:spPr>
          <a:xfrm>
            <a:off x="6922008" y="1143000"/>
            <a:ext cx="1719072" cy="1005840"/>
          </a:xfrm>
          <a:prstGeom prst="roundRect">
            <a:avLst/>
          </a:prstGeom>
          <a:solidFill>
            <a:srgbClr val="FFFFFF"/>
          </a:solidFill>
          <a:ln w="12700">
            <a:solidFill>
              <a:srgbClr val="7A7099"/>
            </a:solidFill>
            <a:prstDash val="solid"/>
          </a:ln>
        </p:spPr>
      </p:sp>
      <p:sp>
        <p:nvSpPr>
          <p:cNvPr id="14" name="Text 12"/>
          <p:cNvSpPr/>
          <p:nvPr/>
        </p:nvSpPr>
        <p:spPr>
          <a:xfrm>
            <a:off x="6922008" y="1143000"/>
            <a:ext cx="1719072" cy="1005840"/>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Câu hướng dẫn</a:t>
            </a:r>
            <a:endParaRPr lang="en-US" sz="1400" dirty="0"/>
          </a:p>
          <a:p>
            <a:pPr algn="ctr" indent="0" marL="0">
              <a:buNone/>
            </a:pPr>
            <a:r>
              <a:rPr lang="en-US" sz="1400" b="1" dirty="0">
                <a:solidFill>
                  <a:srgbClr val="1A1A1A"/>
                </a:solidFill>
                <a:latin typeface="Cambria" pitchFamily="34" charset="0"/>
                <a:ea typeface="Cambria" pitchFamily="34" charset="-122"/>
                <a:cs typeface="Cambria" pitchFamily="34" charset="-120"/>
              </a:rPr>
              <a:t>cuối</a:t>
            </a:r>
            <a:endParaRPr lang="en-US" sz="1400" dirty="0"/>
          </a:p>
        </p:txBody>
      </p:sp>
      <p:sp>
        <p:nvSpPr>
          <p:cNvPr id="15" name="Text 13"/>
          <p:cNvSpPr/>
          <p:nvPr/>
        </p:nvSpPr>
        <p:spPr>
          <a:xfrm>
            <a:off x="502920" y="3127248"/>
            <a:ext cx="1965960" cy="365760"/>
          </a:xfrm>
          <a:prstGeom prst="rect">
            <a:avLst/>
          </a:prstGeom>
          <a:noFill/>
          <a:ln/>
        </p:spPr>
        <p:txBody>
          <a:bodyPr wrap="square" lIns="0" tIns="0" rIns="0" bIns="0" rtlCol="0" anchor="ctr"/>
          <a:lstStyle/>
          <a:p>
            <a:pPr indent="0" marL="0">
              <a:buNone/>
            </a:pPr>
            <a:r>
              <a:rPr lang="en-US" sz="1700" b="1" dirty="0">
                <a:solidFill>
                  <a:srgbClr val="25194B"/>
                </a:solidFill>
                <a:latin typeface="Cambria" pitchFamily="34" charset="0"/>
                <a:ea typeface="Cambria" pitchFamily="34" charset="-122"/>
                <a:cs typeface="Cambria" pitchFamily="34" charset="-120"/>
              </a:rPr>
              <a:t>GRPO-SPICE</a:t>
            </a:r>
            <a:endParaRPr lang="en-US" sz="1700" dirty="0"/>
          </a:p>
        </p:txBody>
      </p:sp>
      <p:sp>
        <p:nvSpPr>
          <p:cNvPr id="16" name="Shape 14"/>
          <p:cNvSpPr/>
          <p:nvPr/>
        </p:nvSpPr>
        <p:spPr>
          <a:xfrm>
            <a:off x="521208" y="3721608"/>
            <a:ext cx="64008" cy="64008"/>
          </a:xfrm>
          <a:prstGeom prst="ellipse">
            <a:avLst/>
          </a:prstGeom>
          <a:solidFill>
            <a:srgbClr val="4F417A"/>
          </a:solidFill>
          <a:ln w="12700">
            <a:solidFill>
              <a:srgbClr val="4F417A">
                <a:alpha val="0"/>
              </a:srgbClr>
            </a:solidFill>
            <a:prstDash val="solid"/>
          </a:ln>
        </p:spPr>
      </p:sp>
      <p:sp>
        <p:nvSpPr>
          <p:cNvPr id="17" name="Text 15"/>
          <p:cNvSpPr/>
          <p:nvPr/>
        </p:nvSpPr>
        <p:spPr>
          <a:xfrm>
            <a:off x="713232" y="3584448"/>
            <a:ext cx="3584448" cy="548640"/>
          </a:xfrm>
          <a:prstGeom prst="rect">
            <a:avLst/>
          </a:prstGeom>
          <a:noFill/>
          <a:ln/>
        </p:spPr>
        <p:txBody>
          <a:bodyPr wrap="square" lIns="0" tIns="0" rIns="0" bIns="0" rtlCol="0" anchor="t">
            <a:normAutofit/>
          </a:bodyPr>
          <a:lstStyle/>
          <a:p>
            <a:pPr indent="0" marL="0">
              <a:lnSpc>
                <a:spcPct val="112000"/>
              </a:lnSpc>
              <a:buNone/>
            </a:pPr>
            <a:r>
              <a:rPr lang="en-US" sz="1460" dirty="0">
                <a:solidFill>
                  <a:srgbClr val="1A1A1A"/>
                </a:solidFill>
                <a:latin typeface="Cambria" pitchFamily="34" charset="0"/>
                <a:ea typeface="Cambria" pitchFamily="34" charset="-122"/>
                <a:cs typeface="Cambria" pitchFamily="34" charset="-120"/>
              </a:rPr>
              <a:t>Sinh 8 câu cho cùng đầu vào.</a:t>
            </a:r>
            <a:endParaRPr lang="en-US" sz="1460" dirty="0"/>
          </a:p>
        </p:txBody>
      </p:sp>
      <p:sp>
        <p:nvSpPr>
          <p:cNvPr id="18" name="Shape 16"/>
          <p:cNvSpPr/>
          <p:nvPr/>
        </p:nvSpPr>
        <p:spPr>
          <a:xfrm>
            <a:off x="521208" y="4379976"/>
            <a:ext cx="64008" cy="64008"/>
          </a:xfrm>
          <a:prstGeom prst="ellipse">
            <a:avLst/>
          </a:prstGeom>
          <a:solidFill>
            <a:srgbClr val="4F417A"/>
          </a:solidFill>
          <a:ln w="12700">
            <a:solidFill>
              <a:srgbClr val="4F417A">
                <a:alpha val="0"/>
              </a:srgbClr>
            </a:solidFill>
            <a:prstDash val="solid"/>
          </a:ln>
        </p:spPr>
      </p:sp>
      <p:sp>
        <p:nvSpPr>
          <p:cNvPr id="19" name="Text 17"/>
          <p:cNvSpPr/>
          <p:nvPr/>
        </p:nvSpPr>
        <p:spPr>
          <a:xfrm>
            <a:off x="713232" y="4242816"/>
            <a:ext cx="3584448" cy="548640"/>
          </a:xfrm>
          <a:prstGeom prst="rect">
            <a:avLst/>
          </a:prstGeom>
          <a:noFill/>
          <a:ln/>
        </p:spPr>
        <p:txBody>
          <a:bodyPr wrap="square" lIns="0" tIns="0" rIns="0" bIns="0" rtlCol="0" anchor="t">
            <a:normAutofit/>
          </a:bodyPr>
          <a:lstStyle/>
          <a:p>
            <a:pPr indent="0" marL="0">
              <a:lnSpc>
                <a:spcPct val="112000"/>
              </a:lnSpc>
              <a:buNone/>
            </a:pPr>
            <a:r>
              <a:rPr lang="en-US" sz="1460" dirty="0">
                <a:solidFill>
                  <a:srgbClr val="1A1A1A"/>
                </a:solidFill>
                <a:latin typeface="Cambria" pitchFamily="34" charset="0"/>
                <a:ea typeface="Cambria" pitchFamily="34" charset="-122"/>
                <a:cs typeface="Cambria" pitchFamily="34" charset="-120"/>
              </a:rPr>
              <a:t>SPICE + phạt độ dài làm tín hiệu cập nhật.</a:t>
            </a:r>
            <a:endParaRPr lang="en-US" sz="1460" dirty="0"/>
          </a:p>
        </p:txBody>
      </p:sp>
      <p:sp>
        <p:nvSpPr>
          <p:cNvPr id="20" name="Text 18"/>
          <p:cNvSpPr/>
          <p:nvPr/>
        </p:nvSpPr>
        <p:spPr>
          <a:xfrm>
            <a:off x="4617720" y="3127248"/>
            <a:ext cx="1097280" cy="365760"/>
          </a:xfrm>
          <a:prstGeom prst="rect">
            <a:avLst/>
          </a:prstGeom>
          <a:noFill/>
          <a:ln/>
        </p:spPr>
        <p:txBody>
          <a:bodyPr wrap="square" lIns="0" tIns="0" rIns="0" bIns="0" rtlCol="0" anchor="ctr"/>
          <a:lstStyle/>
          <a:p>
            <a:pPr indent="0" marL="0">
              <a:buNone/>
            </a:pPr>
            <a:r>
              <a:rPr lang="en-US" sz="1700" b="1" dirty="0">
                <a:solidFill>
                  <a:srgbClr val="25194B"/>
                </a:solidFill>
                <a:latin typeface="Cambria" pitchFamily="34" charset="0"/>
                <a:ea typeface="Cambria" pitchFamily="34" charset="-122"/>
                <a:cs typeface="Cambria" pitchFamily="34" charset="-120"/>
              </a:rPr>
              <a:t>ACE</a:t>
            </a:r>
            <a:endParaRPr lang="en-US" sz="1700" dirty="0"/>
          </a:p>
        </p:txBody>
      </p:sp>
      <p:sp>
        <p:nvSpPr>
          <p:cNvPr id="21" name="Shape 19"/>
          <p:cNvSpPr/>
          <p:nvPr/>
        </p:nvSpPr>
        <p:spPr>
          <a:xfrm>
            <a:off x="4636008" y="3721608"/>
            <a:ext cx="64008" cy="64008"/>
          </a:xfrm>
          <a:prstGeom prst="ellipse">
            <a:avLst/>
          </a:prstGeom>
          <a:solidFill>
            <a:srgbClr val="4F417A"/>
          </a:solidFill>
          <a:ln w="12700">
            <a:solidFill>
              <a:srgbClr val="4F417A">
                <a:alpha val="0"/>
              </a:srgbClr>
            </a:solidFill>
            <a:prstDash val="solid"/>
          </a:ln>
        </p:spPr>
      </p:sp>
      <p:sp>
        <p:nvSpPr>
          <p:cNvPr id="22" name="Text 20"/>
          <p:cNvSpPr/>
          <p:nvPr/>
        </p:nvSpPr>
        <p:spPr>
          <a:xfrm>
            <a:off x="4828032" y="3584448"/>
            <a:ext cx="3767328" cy="548640"/>
          </a:xfrm>
          <a:prstGeom prst="rect">
            <a:avLst/>
          </a:prstGeom>
          <a:noFill/>
          <a:ln/>
        </p:spPr>
        <p:txBody>
          <a:bodyPr wrap="square" lIns="0" tIns="0" rIns="0" bIns="0" rtlCol="0" anchor="t">
            <a:normAutofit/>
          </a:bodyPr>
          <a:lstStyle/>
          <a:p>
            <a:pPr indent="0" marL="0">
              <a:lnSpc>
                <a:spcPct val="112000"/>
              </a:lnSpc>
              <a:buNone/>
            </a:pPr>
            <a:r>
              <a:rPr lang="en-US" sz="1460" dirty="0">
                <a:solidFill>
                  <a:srgbClr val="1A1A1A"/>
                </a:solidFill>
                <a:latin typeface="Cambria" pitchFamily="34" charset="0"/>
                <a:ea typeface="Cambria" pitchFamily="34" charset="-122"/>
                <a:cs typeface="Cambria" pitchFamily="34" charset="-120"/>
              </a:rPr>
              <a:t>Truy hồi 4 câu ví dụ từ tập dạy.</a:t>
            </a:r>
            <a:endParaRPr lang="en-US" sz="1460" dirty="0"/>
          </a:p>
        </p:txBody>
      </p:sp>
      <p:sp>
        <p:nvSpPr>
          <p:cNvPr id="23" name="Shape 21"/>
          <p:cNvSpPr/>
          <p:nvPr/>
        </p:nvSpPr>
        <p:spPr>
          <a:xfrm>
            <a:off x="4636008" y="4379976"/>
            <a:ext cx="64008" cy="64008"/>
          </a:xfrm>
          <a:prstGeom prst="ellipse">
            <a:avLst/>
          </a:prstGeom>
          <a:solidFill>
            <a:srgbClr val="4F417A"/>
          </a:solidFill>
          <a:ln w="12700">
            <a:solidFill>
              <a:srgbClr val="4F417A">
                <a:alpha val="0"/>
              </a:srgbClr>
            </a:solidFill>
            <a:prstDash val="solid"/>
          </a:ln>
        </p:spPr>
      </p:sp>
      <p:sp>
        <p:nvSpPr>
          <p:cNvPr id="24" name="Text 22"/>
          <p:cNvSpPr/>
          <p:nvPr/>
        </p:nvSpPr>
        <p:spPr>
          <a:xfrm>
            <a:off x="4828032" y="4242816"/>
            <a:ext cx="3767328" cy="548640"/>
          </a:xfrm>
          <a:prstGeom prst="rect">
            <a:avLst/>
          </a:prstGeom>
          <a:noFill/>
          <a:ln/>
        </p:spPr>
        <p:txBody>
          <a:bodyPr wrap="square" lIns="0" tIns="0" rIns="0" bIns="0" rtlCol="0" anchor="t">
            <a:normAutofit/>
          </a:bodyPr>
          <a:lstStyle/>
          <a:p>
            <a:pPr indent="0" marL="0">
              <a:lnSpc>
                <a:spcPct val="112000"/>
              </a:lnSpc>
              <a:buNone/>
            </a:pPr>
            <a:r>
              <a:rPr lang="en-US" sz="1460" dirty="0">
                <a:solidFill>
                  <a:srgbClr val="1A1A1A"/>
                </a:solidFill>
                <a:latin typeface="Cambria" pitchFamily="34" charset="0"/>
                <a:ea typeface="Cambria" pitchFamily="34" charset="-122"/>
                <a:cs typeface="Cambria" pitchFamily="34" charset="-120"/>
              </a:rPr>
              <a:t>Chỉ thay câu ban đầu khi thỏa điều kiện chọn lọc.</a:t>
            </a:r>
            <a:endParaRPr lang="en-US" sz="1460" dirty="0"/>
          </a:p>
        </p:txBody>
      </p:sp>
      <p:sp>
        <p:nvSpPr>
          <p:cNvPr id="25" name="Text 23"/>
          <p:cNvSpPr/>
          <p:nvPr/>
        </p:nvSpPr>
        <p:spPr>
          <a:xfrm>
            <a:off x="502920" y="5321808"/>
            <a:ext cx="8138160" cy="438912"/>
          </a:xfrm>
          <a:prstGeom prst="rect">
            <a:avLst/>
          </a:prstGeom>
          <a:noFill/>
          <a:ln/>
        </p:spPr>
        <p:txBody>
          <a:bodyPr wrap="square" lIns="0" tIns="0" rIns="0" bIns="0" rtlCol="0" anchor="ctr"/>
          <a:lstStyle/>
          <a:p>
            <a:pPr algn="ctr" indent="0" marL="0">
              <a:buNone/>
            </a:pPr>
            <a:r>
              <a:rPr lang="en-US" sz="1420" b="1" dirty="0">
                <a:solidFill>
                  <a:srgbClr val="25194B"/>
                </a:solidFill>
                <a:latin typeface="Cambria" pitchFamily="34" charset="0"/>
                <a:ea typeface="Cambria" pitchFamily="34" charset="-122"/>
                <a:cs typeface="Cambria" pitchFamily="34" charset="-120"/>
              </a:rPr>
              <a:t>UGround không nằm trong hàm thưởng và không tham gia vào quá trình sinh câu.</a:t>
            </a:r>
            <a:endParaRPr lang="en-US" sz="1420" dirty="0"/>
          </a:p>
        </p:txBody>
      </p:sp>
      <p:sp>
        <p:nvSpPr>
          <p:cNvPr id="26" name="Text 24"/>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4</a:t>
            </a:r>
            <a:endParaRPr lang="en-US" sz="800" dirty="0"/>
          </a:p>
        </p:txBody>
      </p:sp>
      <p:sp>
        <p:nvSpPr>
          <p:cNvPr id="27" name="Shape 25"/>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8" name="Shape 26"/>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9" name="Shape 27"/>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30" name="Shape 28"/>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31"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10/24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10. GRPO-SPICE học trực tiếp từ chất lượng câu hướng dẫn</a:t>
            </a:r>
            <a:endParaRPr lang="en-US" sz="2000" dirty="0"/>
          </a:p>
        </p:txBody>
      </p:sp>
      <p:sp>
        <p:nvSpPr>
          <p:cNvPr id="4" name="Shape 2"/>
          <p:cNvSpPr/>
          <p:nvPr/>
        </p:nvSpPr>
        <p:spPr>
          <a:xfrm>
            <a:off x="548640" y="1691640"/>
            <a:ext cx="1417320" cy="841248"/>
          </a:xfrm>
          <a:prstGeom prst="roundRect">
            <a:avLst/>
          </a:prstGeom>
          <a:solidFill>
            <a:srgbClr val="F3F2F5"/>
          </a:solidFill>
          <a:ln w="12700">
            <a:solidFill>
              <a:srgbClr val="7A7099"/>
            </a:solidFill>
            <a:prstDash val="solid"/>
          </a:ln>
        </p:spPr>
      </p:sp>
      <p:sp>
        <p:nvSpPr>
          <p:cNvPr id="5" name="Text 3"/>
          <p:cNvSpPr/>
          <p:nvPr/>
        </p:nvSpPr>
        <p:spPr>
          <a:xfrm>
            <a:off x="548640" y="1691640"/>
            <a:ext cx="1417320" cy="841248"/>
          </a:xfrm>
          <a:prstGeom prst="rect">
            <a:avLst/>
          </a:prstGeom>
          <a:noFill/>
          <a:ln/>
        </p:spPr>
        <p:txBody>
          <a:bodyPr wrap="square" lIns="0" tIns="0" rIns="0" bIns="0" rtlCol="0" anchor="ctr">
            <a:normAutofit/>
          </a:bodyPr>
          <a:lstStyle/>
          <a:p>
            <a:pPr algn="ctr" indent="0" marL="0">
              <a:buNone/>
            </a:pPr>
            <a:r>
              <a:rPr lang="en-US" sz="1600" b="1" dirty="0">
                <a:solidFill>
                  <a:srgbClr val="1A1A1A"/>
                </a:solidFill>
                <a:latin typeface="Cambria" pitchFamily="34" charset="0"/>
                <a:ea typeface="Cambria" pitchFamily="34" charset="-122"/>
                <a:cs typeface="Cambria" pitchFamily="34" charset="-120"/>
              </a:rPr>
              <a:t>1 đầu vào</a:t>
            </a:r>
            <a:endParaRPr lang="en-US" sz="1600" dirty="0"/>
          </a:p>
        </p:txBody>
      </p:sp>
      <p:sp>
        <p:nvSpPr>
          <p:cNvPr id="6" name="Shape 4"/>
          <p:cNvSpPr/>
          <p:nvPr/>
        </p:nvSpPr>
        <p:spPr>
          <a:xfrm>
            <a:off x="2084832" y="2112264"/>
            <a:ext cx="384048" cy="0"/>
          </a:xfrm>
          <a:prstGeom prst="line">
            <a:avLst/>
          </a:prstGeom>
          <a:noFill/>
          <a:ln w="25400">
            <a:solidFill>
              <a:srgbClr val="4F417A"/>
            </a:solidFill>
            <a:prstDash val="solid"/>
            <a:tailEnd type="triangle"/>
          </a:ln>
        </p:spPr>
      </p:sp>
      <p:sp>
        <p:nvSpPr>
          <p:cNvPr id="7" name="Shape 5"/>
          <p:cNvSpPr/>
          <p:nvPr/>
        </p:nvSpPr>
        <p:spPr>
          <a:xfrm>
            <a:off x="2578608" y="1517904"/>
            <a:ext cx="1600200" cy="1188720"/>
          </a:xfrm>
          <a:prstGeom prst="roundRect">
            <a:avLst/>
          </a:prstGeom>
          <a:solidFill>
            <a:srgbClr val="F3F2F5"/>
          </a:solidFill>
          <a:ln w="12700">
            <a:solidFill>
              <a:srgbClr val="25194B"/>
            </a:solidFill>
            <a:prstDash val="solid"/>
          </a:ln>
        </p:spPr>
      </p:sp>
      <p:sp>
        <p:nvSpPr>
          <p:cNvPr id="8" name="Text 6"/>
          <p:cNvSpPr/>
          <p:nvPr/>
        </p:nvSpPr>
        <p:spPr>
          <a:xfrm>
            <a:off x="2578608" y="1517904"/>
            <a:ext cx="1600200" cy="1188720"/>
          </a:xfrm>
          <a:prstGeom prst="rect">
            <a:avLst/>
          </a:prstGeom>
          <a:noFill/>
          <a:ln/>
        </p:spPr>
        <p:txBody>
          <a:bodyPr wrap="square" lIns="0" tIns="0" rIns="0" bIns="0" rtlCol="0" anchor="ctr">
            <a:normAutofit/>
          </a:bodyPr>
          <a:lstStyle/>
          <a:p>
            <a:pPr algn="ctr" indent="0" marL="0">
              <a:buNone/>
            </a:pPr>
            <a:r>
              <a:rPr lang="en-US" sz="1600" b="1" dirty="0">
                <a:solidFill>
                  <a:srgbClr val="1A1A1A"/>
                </a:solidFill>
                <a:latin typeface="Cambria" pitchFamily="34" charset="0"/>
                <a:ea typeface="Cambria" pitchFamily="34" charset="-122"/>
                <a:cs typeface="Cambria" pitchFamily="34" charset="-120"/>
              </a:rPr>
              <a:t>8 câu</a:t>
            </a:r>
            <a:endParaRPr lang="en-US" sz="1600" dirty="0"/>
          </a:p>
          <a:p>
            <a:pPr algn="ctr" indent="0" marL="0">
              <a:buNone/>
            </a:pPr>
            <a:r>
              <a:rPr lang="en-US" sz="1600" b="1" dirty="0">
                <a:solidFill>
                  <a:srgbClr val="1A1A1A"/>
                </a:solidFill>
                <a:latin typeface="Cambria" pitchFamily="34" charset="0"/>
                <a:ea typeface="Cambria" pitchFamily="34" charset="-122"/>
                <a:cs typeface="Cambria" pitchFamily="34" charset="-120"/>
              </a:rPr>
              <a:t>hướng dẫn</a:t>
            </a:r>
            <a:endParaRPr lang="en-US" sz="1600" dirty="0"/>
          </a:p>
        </p:txBody>
      </p:sp>
      <p:sp>
        <p:nvSpPr>
          <p:cNvPr id="9" name="Shape 7"/>
          <p:cNvSpPr/>
          <p:nvPr/>
        </p:nvSpPr>
        <p:spPr>
          <a:xfrm>
            <a:off x="4297680" y="2112264"/>
            <a:ext cx="384048" cy="0"/>
          </a:xfrm>
          <a:prstGeom prst="line">
            <a:avLst/>
          </a:prstGeom>
          <a:noFill/>
          <a:ln w="25400">
            <a:solidFill>
              <a:srgbClr val="4F417A"/>
            </a:solidFill>
            <a:prstDash val="solid"/>
            <a:tailEnd type="triangle"/>
          </a:ln>
        </p:spPr>
      </p:sp>
      <p:sp>
        <p:nvSpPr>
          <p:cNvPr id="10" name="Shape 8"/>
          <p:cNvSpPr/>
          <p:nvPr/>
        </p:nvSpPr>
        <p:spPr>
          <a:xfrm>
            <a:off x="4791456" y="1517904"/>
            <a:ext cx="1645920" cy="1188720"/>
          </a:xfrm>
          <a:prstGeom prst="roundRect">
            <a:avLst/>
          </a:prstGeom>
          <a:solidFill>
            <a:srgbClr val="F3F2F5"/>
          </a:solidFill>
          <a:ln w="12700">
            <a:solidFill>
              <a:srgbClr val="4F417A"/>
            </a:solidFill>
            <a:prstDash val="solid"/>
          </a:ln>
        </p:spPr>
      </p:sp>
      <p:sp>
        <p:nvSpPr>
          <p:cNvPr id="11" name="Text 9"/>
          <p:cNvSpPr/>
          <p:nvPr/>
        </p:nvSpPr>
        <p:spPr>
          <a:xfrm>
            <a:off x="4791456" y="1517904"/>
            <a:ext cx="1645920" cy="1188720"/>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SPICE</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 phạt độ dài</a:t>
            </a:r>
            <a:endParaRPr lang="en-US" sz="1500" dirty="0"/>
          </a:p>
        </p:txBody>
      </p:sp>
      <p:sp>
        <p:nvSpPr>
          <p:cNvPr id="12" name="Shape 10"/>
          <p:cNvSpPr/>
          <p:nvPr/>
        </p:nvSpPr>
        <p:spPr>
          <a:xfrm>
            <a:off x="6556248" y="2112264"/>
            <a:ext cx="384048" cy="0"/>
          </a:xfrm>
          <a:prstGeom prst="line">
            <a:avLst/>
          </a:prstGeom>
          <a:noFill/>
          <a:ln w="25400">
            <a:solidFill>
              <a:srgbClr val="4F417A"/>
            </a:solidFill>
            <a:prstDash val="solid"/>
            <a:tailEnd type="triangle"/>
          </a:ln>
        </p:spPr>
      </p:sp>
      <p:sp>
        <p:nvSpPr>
          <p:cNvPr id="13" name="Shape 11"/>
          <p:cNvSpPr/>
          <p:nvPr/>
        </p:nvSpPr>
        <p:spPr>
          <a:xfrm>
            <a:off x="7050024" y="1463040"/>
            <a:ext cx="1554480" cy="1298448"/>
          </a:xfrm>
          <a:prstGeom prst="roundRect">
            <a:avLst/>
          </a:prstGeom>
          <a:solidFill>
            <a:srgbClr val="F3F2F5"/>
          </a:solidFill>
          <a:ln w="12700">
            <a:solidFill>
              <a:srgbClr val="7A7099"/>
            </a:solidFill>
            <a:prstDash val="solid"/>
          </a:ln>
        </p:spPr>
      </p:sp>
      <p:sp>
        <p:nvSpPr>
          <p:cNvPr id="14" name="Text 12"/>
          <p:cNvSpPr/>
          <p:nvPr/>
        </p:nvSpPr>
        <p:spPr>
          <a:xfrm>
            <a:off x="7050024" y="1463040"/>
            <a:ext cx="1554480" cy="1298448"/>
          </a:xfrm>
          <a:prstGeom prst="rect">
            <a:avLst/>
          </a:prstGeom>
          <a:noFill/>
          <a:ln/>
        </p:spPr>
        <p:txBody>
          <a:bodyPr wrap="square" lIns="0" tIns="0" rIns="0" bIns="0" rtlCol="0" anchor="ctr">
            <a:normAutofit/>
          </a:bodyPr>
          <a:lstStyle/>
          <a:p>
            <a:pPr algn="ctr" indent="0" marL="0">
              <a:buNone/>
            </a:pPr>
            <a:r>
              <a:rPr lang="en-US" sz="1500" b="1" dirty="0">
                <a:solidFill>
                  <a:srgbClr val="1A1A1A"/>
                </a:solidFill>
                <a:latin typeface="Cambria" pitchFamily="34" charset="0"/>
                <a:ea typeface="Cambria" pitchFamily="34" charset="-122"/>
                <a:cs typeface="Cambria" pitchFamily="34" charset="-120"/>
              </a:rPr>
              <a:t>Cập nhật</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GRPO</a:t>
            </a:r>
            <a:endParaRPr lang="en-US" sz="1500" dirty="0"/>
          </a:p>
        </p:txBody>
      </p:sp>
      <p:sp>
        <p:nvSpPr>
          <p:cNvPr id="15" name="Shape 13"/>
          <p:cNvSpPr/>
          <p:nvPr/>
        </p:nvSpPr>
        <p:spPr>
          <a:xfrm>
            <a:off x="502920" y="3337560"/>
            <a:ext cx="8138160" cy="1572768"/>
          </a:xfrm>
          <a:prstGeom prst="roundRect">
            <a:avLst/>
          </a:prstGeom>
          <a:solidFill>
            <a:srgbClr val="F3F2F5"/>
          </a:solidFill>
          <a:ln w="12700">
            <a:solidFill>
              <a:srgbClr val="7A7099"/>
            </a:solidFill>
            <a:prstDash val="solid"/>
          </a:ln>
        </p:spPr>
      </p:sp>
      <p:sp>
        <p:nvSpPr>
          <p:cNvPr id="16" name="Text 14"/>
          <p:cNvSpPr/>
          <p:nvPr/>
        </p:nvSpPr>
        <p:spPr>
          <a:xfrm>
            <a:off x="704088" y="3566160"/>
            <a:ext cx="1965960" cy="320040"/>
          </a:xfrm>
          <a:prstGeom prst="rect">
            <a:avLst/>
          </a:prstGeom>
          <a:noFill/>
          <a:ln/>
        </p:spPr>
        <p:txBody>
          <a:bodyPr wrap="square" lIns="0" tIns="0" rIns="0" bIns="0" rtlCol="0" anchor="ctr"/>
          <a:lstStyle/>
          <a:p>
            <a:pPr indent="0" marL="0">
              <a:buNone/>
            </a:pPr>
            <a:r>
              <a:rPr lang="en-US" sz="1550" b="1" dirty="0">
                <a:solidFill>
                  <a:srgbClr val="25194B"/>
                </a:solidFill>
                <a:latin typeface="Cambria" pitchFamily="34" charset="0"/>
                <a:ea typeface="Cambria" pitchFamily="34" charset="-122"/>
                <a:cs typeface="Cambria" pitchFamily="34" charset="-120"/>
              </a:rPr>
              <a:t>Tại sao dùng SPICE?</a:t>
            </a:r>
            <a:endParaRPr lang="en-US" sz="1550" dirty="0"/>
          </a:p>
        </p:txBody>
      </p:sp>
      <p:sp>
        <p:nvSpPr>
          <p:cNvPr id="17" name="Text 15"/>
          <p:cNvSpPr/>
          <p:nvPr/>
        </p:nvSpPr>
        <p:spPr>
          <a:xfrm>
            <a:off x="2441448" y="3429000"/>
            <a:ext cx="5943600" cy="804672"/>
          </a:xfrm>
          <a:prstGeom prst="rect">
            <a:avLst/>
          </a:prstGeom>
          <a:noFill/>
          <a:ln/>
        </p:spPr>
        <p:txBody>
          <a:bodyPr wrap="square" lIns="0" tIns="0" rIns="0" bIns="0" rtlCol="0" anchor="ctr">
            <a:normAutofit/>
          </a:bodyPr>
          <a:lstStyle/>
          <a:p>
            <a:pPr indent="0" marL="0">
              <a:buNone/>
            </a:pPr>
            <a:r>
              <a:rPr lang="en-US" sz="1400" dirty="0">
                <a:solidFill>
                  <a:srgbClr val="1A1A1A"/>
                </a:solidFill>
                <a:latin typeface="Cambria" pitchFamily="34" charset="0"/>
                <a:ea typeface="Cambria" pitchFamily="34" charset="-122"/>
                <a:cs typeface="Cambria" pitchFamily="34" charset="-120"/>
              </a:rPr>
              <a:t>SPICE so sánh các thành phần nội dung của câu thay vì chỉ dựa vào mức giống nhau của chuỗi từ. Mục tiêu là ưu tiên câu mô tả đúng đối tượng và quan hệ cần thiết để người dùng nhận ra phần tử.</a:t>
            </a:r>
            <a:endParaRPr lang="en-US" sz="1400" dirty="0"/>
          </a:p>
        </p:txBody>
      </p:sp>
      <p:sp>
        <p:nvSpPr>
          <p:cNvPr id="18" name="Text 16"/>
          <p:cNvSpPr/>
          <p:nvPr/>
        </p:nvSpPr>
        <p:spPr>
          <a:xfrm>
            <a:off x="502920" y="5321808"/>
            <a:ext cx="8138160" cy="393192"/>
          </a:xfrm>
          <a:prstGeom prst="rect">
            <a:avLst/>
          </a:prstGeom>
          <a:noFill/>
          <a:ln/>
        </p:spPr>
        <p:txBody>
          <a:bodyPr wrap="square" lIns="0" tIns="0" rIns="0" bIns="0" rtlCol="0" anchor="ctr"/>
          <a:lstStyle/>
          <a:p>
            <a:pPr algn="ctr" indent="0" marL="0">
              <a:buNone/>
            </a:pPr>
            <a:r>
              <a:rPr lang="en-US" sz="1360" b="1" dirty="0">
                <a:solidFill>
                  <a:srgbClr val="25194B"/>
                </a:solidFill>
                <a:latin typeface="Cambria" pitchFamily="34" charset="0"/>
                <a:ea typeface="Cambria" pitchFamily="34" charset="-122"/>
                <a:cs typeface="Cambria" pitchFamily="34" charset="-120"/>
              </a:rPr>
              <a:t>500 bước cập nhật từ S1 · cùng một cấu hình được dùng cho nhánh xáo thưởng.</a:t>
            </a:r>
            <a:endParaRPr lang="en-US" sz="1360" dirty="0"/>
          </a:p>
        </p:txBody>
      </p:sp>
      <p:sp>
        <p:nvSpPr>
          <p:cNvPr id="19" name="Text 17"/>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§4.5</a:t>
            </a:r>
            <a:endParaRPr lang="en-US" sz="800" dirty="0"/>
          </a:p>
        </p:txBody>
      </p:sp>
      <p:sp>
        <p:nvSpPr>
          <p:cNvPr id="20" name="Shape 18"/>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1" name="Shape 19"/>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2" name="Shape 20"/>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3" name="Shape 21"/>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4"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5"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6"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7"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11/24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11. Mức tăng không xuất hiện khi phần thưởng SPICE bị xáo</a:t>
            </a:r>
            <a:endParaRPr lang="en-US" sz="2000" dirty="0"/>
          </a:p>
        </p:txBody>
      </p:sp>
      <p:sp>
        <p:nvSpPr>
          <p:cNvPr id="4" name="Text 2"/>
          <p:cNvSpPr/>
          <p:nvPr/>
        </p:nvSpPr>
        <p:spPr>
          <a:xfrm>
            <a:off x="502920" y="868680"/>
            <a:ext cx="8138160" cy="502920"/>
          </a:xfrm>
          <a:prstGeom prst="rect">
            <a:avLst/>
          </a:prstGeom>
          <a:noFill/>
          <a:ln/>
        </p:spPr>
        <p:txBody>
          <a:bodyPr wrap="square" lIns="0" tIns="0" rIns="0" bIns="0" rtlCol="0" anchor="ctr">
            <a:normAutofit/>
          </a:bodyPr>
          <a:lstStyle/>
          <a:p>
            <a:pPr algn="ctr" indent="0" marL="0">
              <a:buNone/>
            </a:pPr>
            <a:r>
              <a:rPr lang="en-US" sz="1630" b="1" dirty="0">
                <a:solidFill>
                  <a:srgbClr val="25194B"/>
                </a:solidFill>
                <a:latin typeface="Cambria" pitchFamily="34" charset="0"/>
                <a:ea typeface="Cambria" pitchFamily="34" charset="-122"/>
                <a:cs typeface="Cambria" pitchFamily="34" charset="-120"/>
              </a:rPr>
              <a:t>Nhánh kiểm tra chạy cùng 500 bước GRPO nhưng phần thưởng SPICE bị xáo giữa các mẫu.</a:t>
            </a:r>
            <a:endParaRPr lang="en-US" sz="1630" dirty="0"/>
          </a:p>
        </p:txBody>
      </p:sp>
      <p:sp>
        <p:nvSpPr>
          <p:cNvPr id="5" name="Text 3"/>
          <p:cNvSpPr/>
          <p:nvPr/>
        </p:nvSpPr>
        <p:spPr>
          <a:xfrm>
            <a:off x="713232" y="1664208"/>
            <a:ext cx="224028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59,11%</a:t>
            </a:r>
            <a:endParaRPr lang="en-US" sz="2400" dirty="0"/>
          </a:p>
        </p:txBody>
      </p:sp>
      <p:sp>
        <p:nvSpPr>
          <p:cNvPr id="6" name="Text 4"/>
          <p:cNvSpPr/>
          <p:nvPr/>
        </p:nvSpPr>
        <p:spPr>
          <a:xfrm>
            <a:off x="713232" y="2194560"/>
            <a:ext cx="224028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S1</a:t>
            </a:r>
            <a:endParaRPr lang="en-US" sz="1250" dirty="0"/>
          </a:p>
        </p:txBody>
      </p:sp>
      <p:sp>
        <p:nvSpPr>
          <p:cNvPr id="7" name="Text 5"/>
          <p:cNvSpPr/>
          <p:nvPr/>
        </p:nvSpPr>
        <p:spPr>
          <a:xfrm>
            <a:off x="3456432" y="1664208"/>
            <a:ext cx="224028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59,11%</a:t>
            </a:r>
            <a:endParaRPr lang="en-US" sz="2400" dirty="0"/>
          </a:p>
        </p:txBody>
      </p:sp>
      <p:sp>
        <p:nvSpPr>
          <p:cNvPr id="8" name="Text 6"/>
          <p:cNvSpPr/>
          <p:nvPr/>
        </p:nvSpPr>
        <p:spPr>
          <a:xfrm>
            <a:off x="3456432" y="2194560"/>
            <a:ext cx="224028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GRPO · thưởng xáo</a:t>
            </a:r>
            <a:endParaRPr lang="en-US" sz="1250" dirty="0"/>
          </a:p>
        </p:txBody>
      </p:sp>
      <p:sp>
        <p:nvSpPr>
          <p:cNvPr id="9" name="Text 7"/>
          <p:cNvSpPr/>
          <p:nvPr/>
        </p:nvSpPr>
        <p:spPr>
          <a:xfrm>
            <a:off x="6199632" y="1664208"/>
            <a:ext cx="224028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60,65%</a:t>
            </a:r>
            <a:endParaRPr lang="en-US" sz="2400" dirty="0"/>
          </a:p>
        </p:txBody>
      </p:sp>
      <p:sp>
        <p:nvSpPr>
          <p:cNvPr id="10" name="Text 8"/>
          <p:cNvSpPr/>
          <p:nvPr/>
        </p:nvSpPr>
        <p:spPr>
          <a:xfrm>
            <a:off x="6199632" y="2194560"/>
            <a:ext cx="224028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GRPO-SPICE</a:t>
            </a:r>
            <a:endParaRPr lang="en-US" sz="1250" dirty="0"/>
          </a:p>
        </p:txBody>
      </p:sp>
      <p:sp>
        <p:nvSpPr>
          <p:cNvPr id="11" name="Shape 9"/>
          <p:cNvSpPr/>
          <p:nvPr/>
        </p:nvSpPr>
        <p:spPr>
          <a:xfrm>
            <a:off x="502920" y="3063240"/>
            <a:ext cx="8138160" cy="0"/>
          </a:xfrm>
          <a:prstGeom prst="line">
            <a:avLst/>
          </a:prstGeom>
          <a:noFill/>
          <a:ln w="12700">
            <a:solidFill>
              <a:srgbClr val="D9D6DF"/>
            </a:solidFill>
            <a:prstDash val="solid"/>
            <a:tailEnd type="none"/>
          </a:ln>
        </p:spPr>
      </p:sp>
      <p:sp>
        <p:nvSpPr>
          <p:cNvPr id="12" name="Shape 10"/>
          <p:cNvSpPr/>
          <p:nvPr/>
        </p:nvSpPr>
        <p:spPr>
          <a:xfrm>
            <a:off x="502920" y="3401568"/>
            <a:ext cx="8138160" cy="1170432"/>
          </a:xfrm>
          <a:prstGeom prst="roundRect">
            <a:avLst/>
          </a:prstGeom>
          <a:solidFill>
            <a:srgbClr val="F3F2F5"/>
          </a:solidFill>
          <a:ln w="12700">
            <a:solidFill>
              <a:srgbClr val="4F417A"/>
            </a:solidFill>
            <a:prstDash val="solid"/>
          </a:ln>
        </p:spPr>
      </p:sp>
      <p:sp>
        <p:nvSpPr>
          <p:cNvPr id="13" name="Text 11"/>
          <p:cNvSpPr/>
          <p:nvPr/>
        </p:nvSpPr>
        <p:spPr>
          <a:xfrm>
            <a:off x="685800" y="3566160"/>
            <a:ext cx="7772400" cy="384048"/>
          </a:xfrm>
          <a:prstGeom prst="rect">
            <a:avLst/>
          </a:prstGeom>
          <a:noFill/>
          <a:ln/>
        </p:spPr>
        <p:txBody>
          <a:bodyPr wrap="square" lIns="0" tIns="0" rIns="0" bIns="0" rtlCol="0" anchor="ctr"/>
          <a:lstStyle/>
          <a:p>
            <a:pPr algn="ctr" indent="0" marL="0">
              <a:buNone/>
            </a:pPr>
            <a:r>
              <a:rPr lang="en-US" sz="1900" b="1" dirty="0">
                <a:solidFill>
                  <a:srgbClr val="25194B"/>
                </a:solidFill>
                <a:latin typeface="Cambria" pitchFamily="34" charset="0"/>
                <a:ea typeface="Cambria" pitchFamily="34" charset="-122"/>
                <a:cs typeface="Cambria" pitchFamily="34" charset="-120"/>
              </a:rPr>
              <a:t>GRPO-SPICE cao hơn nhánh thưởng xáo +1,55 điểm</a:t>
            </a:r>
            <a:endParaRPr lang="en-US" sz="1900" dirty="0"/>
          </a:p>
        </p:txBody>
      </p:sp>
      <p:sp>
        <p:nvSpPr>
          <p:cNvPr id="14" name="Text 12"/>
          <p:cNvSpPr/>
          <p:nvPr/>
        </p:nvSpPr>
        <p:spPr>
          <a:xfrm>
            <a:off x="685800" y="4005072"/>
            <a:ext cx="7772400" cy="329184"/>
          </a:xfrm>
          <a:prstGeom prst="rect">
            <a:avLst/>
          </a:prstGeom>
          <a:noFill/>
          <a:ln/>
        </p:spPr>
        <p:txBody>
          <a:bodyPr wrap="square" lIns="0" tIns="0" rIns="0" bIns="0" rtlCol="0" anchor="ctr"/>
          <a:lstStyle/>
          <a:p>
            <a:pPr algn="ctr" indent="0" marL="0">
              <a:buNone/>
            </a:pPr>
            <a:r>
              <a:rPr lang="en-US" sz="1450" b="1" dirty="0">
                <a:solidFill>
                  <a:srgbClr val="4F417A"/>
                </a:solidFill>
                <a:latin typeface="Cambria" pitchFamily="34" charset="0"/>
                <a:ea typeface="Cambria" pitchFamily="34" charset="-122"/>
                <a:cs typeface="Cambria" pitchFamily="34" charset="-120"/>
              </a:rPr>
              <a:t>KTC 95% [+0,81; +2,30] · p = 2×10⁻⁵</a:t>
            </a:r>
            <a:endParaRPr lang="en-US" sz="1450" dirty="0"/>
          </a:p>
        </p:txBody>
      </p:sp>
      <p:sp>
        <p:nvSpPr>
          <p:cNvPr id="15" name="Text 13"/>
          <p:cNvSpPr/>
          <p:nvPr/>
        </p:nvSpPr>
        <p:spPr>
          <a:xfrm>
            <a:off x="502920" y="5047488"/>
            <a:ext cx="8138160" cy="457200"/>
          </a:xfrm>
          <a:prstGeom prst="rect">
            <a:avLst/>
          </a:prstGeom>
          <a:noFill/>
          <a:ln/>
        </p:spPr>
        <p:txBody>
          <a:bodyPr wrap="square" lIns="0" tIns="0" rIns="0" bIns="0" rtlCol="0" anchor="ctr"/>
          <a:lstStyle/>
          <a:p>
            <a:pPr algn="ctr" indent="0" marL="0">
              <a:buNone/>
            </a:pPr>
            <a:r>
              <a:rPr lang="en-US" sz="1430" b="1" dirty="0">
                <a:solidFill>
                  <a:srgbClr val="25194B"/>
                </a:solidFill>
                <a:latin typeface="Cambria" pitchFamily="34" charset="0"/>
                <a:ea typeface="Cambria" pitchFamily="34" charset="-122"/>
                <a:cs typeface="Cambria" pitchFamily="34" charset="-120"/>
              </a:rPr>
              <a:t>Cả 6 thước chữ có KTC cũng tăng khi so GRPO-SPICE với nhánh thưởng xáo.</a:t>
            </a:r>
            <a:endParaRPr lang="en-US" sz="1430" dirty="0"/>
          </a:p>
        </p:txBody>
      </p:sp>
      <p:sp>
        <p:nvSpPr>
          <p:cNvPr id="16" name="Text 14"/>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§6.2–§6.5</a:t>
            </a:r>
            <a:endParaRPr lang="en-US" sz="800" dirty="0"/>
          </a:p>
        </p:txBody>
      </p:sp>
      <p:sp>
        <p:nvSpPr>
          <p:cNvPr id="17" name="Shape 15"/>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8" name="Shape 16"/>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9" name="Shape 17"/>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0" name="Shape 18"/>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1"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3"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12/24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12. Trên tập kiểm chính, GRPO-SPICE cải thiện nhất quán</a:t>
            </a:r>
            <a:endParaRPr lang="en-US" sz="2000" dirty="0"/>
          </a:p>
        </p:txBody>
      </p:sp>
      <p:sp>
        <p:nvSpPr>
          <p:cNvPr id="4" name="Text 2"/>
          <p:cNvSpPr/>
          <p:nvPr/>
        </p:nvSpPr>
        <p:spPr>
          <a:xfrm>
            <a:off x="502920" y="868680"/>
            <a:ext cx="8138160" cy="475488"/>
          </a:xfrm>
          <a:prstGeom prst="rect">
            <a:avLst/>
          </a:prstGeom>
          <a:noFill/>
          <a:ln/>
        </p:spPr>
        <p:txBody>
          <a:bodyPr wrap="square" lIns="0" tIns="0" rIns="0" bIns="0" rtlCol="0" anchor="ctr"/>
          <a:lstStyle/>
          <a:p>
            <a:pPr algn="ctr" indent="0" marL="0">
              <a:buNone/>
            </a:pPr>
            <a:r>
              <a:rPr lang="en-US" sz="1680" b="1" dirty="0">
                <a:solidFill>
                  <a:srgbClr val="25194B"/>
                </a:solidFill>
                <a:latin typeface="Cambria" pitchFamily="34" charset="0"/>
                <a:ea typeface="Cambria" pitchFamily="34" charset="-122"/>
                <a:cs typeface="Cambria" pitchFamily="34" charset="-120"/>
              </a:rPr>
              <a:t>So với S1, GRPO-SPICE cao hơn ở toàn bộ 13 độ đo được báo cáo.</a:t>
            </a:r>
            <a:endParaRPr lang="en-US" sz="1680" dirty="0"/>
          </a:p>
        </p:txBody>
      </p:sp>
      <p:sp>
        <p:nvSpPr>
          <p:cNvPr id="5" name="Text 3"/>
          <p:cNvSpPr/>
          <p:nvPr/>
        </p:nvSpPr>
        <p:spPr>
          <a:xfrm>
            <a:off x="566928" y="1572768"/>
            <a:ext cx="205740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+1,55</a:t>
            </a:r>
            <a:endParaRPr lang="en-US" sz="2400" dirty="0"/>
          </a:p>
        </p:txBody>
      </p:sp>
      <p:sp>
        <p:nvSpPr>
          <p:cNvPr id="6" name="Text 4"/>
          <p:cNvSpPr/>
          <p:nvPr/>
        </p:nvSpPr>
        <p:spPr>
          <a:xfrm>
            <a:off x="566928" y="2103120"/>
            <a:ext cx="20574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Executability</a:t>
            </a:r>
            <a:endParaRPr lang="en-US" sz="1250" dirty="0"/>
          </a:p>
        </p:txBody>
      </p:sp>
      <p:sp>
        <p:nvSpPr>
          <p:cNvPr id="7" name="Text 5"/>
          <p:cNvSpPr/>
          <p:nvPr/>
        </p:nvSpPr>
        <p:spPr>
          <a:xfrm>
            <a:off x="2706624" y="1572768"/>
            <a:ext cx="205740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+1,52</a:t>
            </a:r>
            <a:endParaRPr lang="en-US" sz="2400" dirty="0"/>
          </a:p>
        </p:txBody>
      </p:sp>
      <p:sp>
        <p:nvSpPr>
          <p:cNvPr id="8" name="Text 6"/>
          <p:cNvSpPr/>
          <p:nvPr/>
        </p:nvSpPr>
        <p:spPr>
          <a:xfrm>
            <a:off x="2706624" y="2103120"/>
            <a:ext cx="20574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Hộp phần tử</a:t>
            </a:r>
            <a:endParaRPr lang="en-US" sz="1250" dirty="0"/>
          </a:p>
        </p:txBody>
      </p:sp>
      <p:sp>
        <p:nvSpPr>
          <p:cNvPr id="9" name="Text 7"/>
          <p:cNvSpPr/>
          <p:nvPr/>
        </p:nvSpPr>
        <p:spPr>
          <a:xfrm>
            <a:off x="4846320" y="1572768"/>
            <a:ext cx="205740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+1,88</a:t>
            </a:r>
            <a:endParaRPr lang="en-US" sz="2400" dirty="0"/>
          </a:p>
        </p:txBody>
      </p:sp>
      <p:sp>
        <p:nvSpPr>
          <p:cNvPr id="10" name="Text 8"/>
          <p:cNvSpPr/>
          <p:nvPr/>
        </p:nvSpPr>
        <p:spPr>
          <a:xfrm>
            <a:off x="4846320" y="2103120"/>
            <a:ext cx="20574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AitW đầy đủ</a:t>
            </a:r>
            <a:endParaRPr lang="en-US" sz="1250" dirty="0"/>
          </a:p>
        </p:txBody>
      </p:sp>
      <p:sp>
        <p:nvSpPr>
          <p:cNvPr id="11" name="Text 9"/>
          <p:cNvSpPr/>
          <p:nvPr/>
        </p:nvSpPr>
        <p:spPr>
          <a:xfrm>
            <a:off x="6986016" y="1572768"/>
            <a:ext cx="1627632"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7/7</a:t>
            </a:r>
            <a:endParaRPr lang="en-US" sz="2400" dirty="0"/>
          </a:p>
        </p:txBody>
      </p:sp>
      <p:sp>
        <p:nvSpPr>
          <p:cNvPr id="12" name="Text 10"/>
          <p:cNvSpPr/>
          <p:nvPr/>
        </p:nvSpPr>
        <p:spPr>
          <a:xfrm>
            <a:off x="6986016" y="2103120"/>
            <a:ext cx="1627632"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thước chữ tăng</a:t>
            </a:r>
            <a:endParaRPr lang="en-US" sz="1250" dirty="0"/>
          </a:p>
        </p:txBody>
      </p:sp>
      <p:sp>
        <p:nvSpPr>
          <p:cNvPr id="13" name="Shape 11"/>
          <p:cNvSpPr/>
          <p:nvPr/>
        </p:nvSpPr>
        <p:spPr>
          <a:xfrm>
            <a:off x="502920" y="3090672"/>
            <a:ext cx="8138160" cy="1353312"/>
          </a:xfrm>
          <a:prstGeom prst="roundRect">
            <a:avLst/>
          </a:prstGeom>
          <a:solidFill>
            <a:srgbClr val="F3F2F5"/>
          </a:solidFill>
          <a:ln w="12700">
            <a:solidFill>
              <a:srgbClr val="7A7099"/>
            </a:solidFill>
            <a:prstDash val="solid"/>
          </a:ln>
        </p:spPr>
      </p:sp>
      <p:sp>
        <p:nvSpPr>
          <p:cNvPr id="14" name="Text 12"/>
          <p:cNvSpPr/>
          <p:nvPr/>
        </p:nvSpPr>
        <p:spPr>
          <a:xfrm>
            <a:off x="704088" y="3346704"/>
            <a:ext cx="7726680" cy="384048"/>
          </a:xfrm>
          <a:prstGeom prst="rect">
            <a:avLst/>
          </a:prstGeom>
          <a:noFill/>
          <a:ln/>
        </p:spPr>
        <p:txBody>
          <a:bodyPr wrap="square" lIns="0" tIns="0" rIns="0" bIns="0" rtlCol="0" anchor="ctr"/>
          <a:lstStyle/>
          <a:p>
            <a:pPr algn="ctr" indent="0" marL="0">
              <a:buNone/>
            </a:pPr>
            <a:r>
              <a:rPr lang="en-US" sz="1900" b="1" dirty="0">
                <a:solidFill>
                  <a:srgbClr val="25194B"/>
                </a:solidFill>
                <a:latin typeface="Cambria" pitchFamily="34" charset="0"/>
                <a:ea typeface="Cambria" pitchFamily="34" charset="-122"/>
                <a:cs typeface="Cambria" pitchFamily="34" charset="-120"/>
              </a:rPr>
              <a:t>12/12 độ đo có khoảng tin cậy đều nằm trên 0</a:t>
            </a:r>
            <a:endParaRPr lang="en-US" sz="1900" dirty="0"/>
          </a:p>
        </p:txBody>
      </p:sp>
      <p:sp>
        <p:nvSpPr>
          <p:cNvPr id="15" name="Text 13"/>
          <p:cNvSpPr/>
          <p:nvPr/>
        </p:nvSpPr>
        <p:spPr>
          <a:xfrm>
            <a:off x="777240" y="3822192"/>
            <a:ext cx="7589520" cy="347472"/>
          </a:xfrm>
          <a:prstGeom prst="rect">
            <a:avLst/>
          </a:prstGeom>
          <a:noFill/>
          <a:ln/>
        </p:spPr>
        <p:txBody>
          <a:bodyPr wrap="square" lIns="0" tIns="0" rIns="0" bIns="0" rtlCol="0" anchor="ctr">
            <a:normAutofit/>
          </a:bodyPr>
          <a:lstStyle/>
          <a:p>
            <a:pPr algn="ctr" indent="0" marL="0">
              <a:buNone/>
            </a:pPr>
            <a:r>
              <a:rPr lang="en-US" sz="1320" dirty="0">
                <a:solidFill>
                  <a:srgbClr val="5A5A66"/>
                </a:solidFill>
                <a:latin typeface="Cambria" pitchFamily="34" charset="0"/>
                <a:ea typeface="Cambria" pitchFamily="34" charset="-122"/>
                <a:cs typeface="Cambria" pitchFamily="34" charset="-120"/>
              </a:rPr>
              <a:t>METEOR tăng +1,13 điểm nhưng bộ chấm hiện chỉ cung cấp số mức kho, nên không có KTC.</a:t>
            </a:r>
            <a:endParaRPr lang="en-US" sz="1320" dirty="0"/>
          </a:p>
        </p:txBody>
      </p:sp>
      <p:sp>
        <p:nvSpPr>
          <p:cNvPr id="16" name="Text 14"/>
          <p:cNvSpPr/>
          <p:nvPr/>
        </p:nvSpPr>
        <p:spPr>
          <a:xfrm>
            <a:off x="502920" y="5010912"/>
            <a:ext cx="8138160" cy="512064"/>
          </a:xfrm>
          <a:prstGeom prst="rect">
            <a:avLst/>
          </a:prstGeom>
          <a:noFill/>
          <a:ln/>
        </p:spPr>
        <p:txBody>
          <a:bodyPr wrap="square" lIns="0" tIns="0" rIns="0" bIns="0" rtlCol="0" anchor="ctr">
            <a:normAutofit/>
          </a:bodyPr>
          <a:lstStyle/>
          <a:p>
            <a:pPr algn="ctr" indent="0" marL="0">
              <a:buNone/>
            </a:pPr>
            <a:r>
              <a:rPr lang="en-US" sz="1420" b="1" dirty="0">
                <a:solidFill>
                  <a:srgbClr val="25194B"/>
                </a:solidFill>
                <a:latin typeface="Cambria" pitchFamily="34" charset="0"/>
                <a:ea typeface="Cambria" pitchFamily="34" charset="-122"/>
                <a:cs typeface="Cambria" pitchFamily="34" charset="-120"/>
              </a:rPr>
              <a:t>Lượt GRPO thứ hai cũng cao hơn S1 về executability (+0,83) và 6/6 thước chữ có KTC.</a:t>
            </a:r>
            <a:endParaRPr lang="en-US" sz="1420" dirty="0"/>
          </a:p>
        </p:txBody>
      </p:sp>
      <p:sp>
        <p:nvSpPr>
          <p:cNvPr id="17" name="Text 15"/>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§6.2, §6.5–§6.7</a:t>
            </a:r>
            <a:endParaRPr lang="en-US" sz="800" dirty="0"/>
          </a:p>
        </p:txBody>
      </p:sp>
      <p:sp>
        <p:nvSpPr>
          <p:cNvPr id="18" name="Shape 16"/>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9" name="Shape 17"/>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0" name="Shape 18"/>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1" name="Shape 19"/>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2"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3"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4"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5"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13/24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13. Trên các tác vụ chưa có trong tập dạy S1, mức tăng lớn hơn</a:t>
            </a:r>
            <a:endParaRPr lang="en-US" sz="2000" dirty="0"/>
          </a:p>
        </p:txBody>
      </p:sp>
      <p:sp>
        <p:nvSpPr>
          <p:cNvPr id="4" name="Text 2"/>
          <p:cNvSpPr/>
          <p:nvPr/>
        </p:nvSpPr>
        <p:spPr>
          <a:xfrm>
            <a:off x="502920" y="868680"/>
            <a:ext cx="8138160" cy="457200"/>
          </a:xfrm>
          <a:prstGeom prst="rect">
            <a:avLst/>
          </a:prstGeom>
          <a:noFill/>
          <a:ln/>
        </p:spPr>
        <p:txBody>
          <a:bodyPr wrap="square" lIns="0" tIns="0" rIns="0" bIns="0" rtlCol="0" anchor="ctr"/>
          <a:lstStyle/>
          <a:p>
            <a:pPr algn="ctr" indent="0" marL="0">
              <a:buNone/>
            </a:pPr>
            <a:r>
              <a:rPr lang="en-US" sz="1600" b="1" dirty="0">
                <a:solidFill>
                  <a:srgbClr val="25194B"/>
                </a:solidFill>
                <a:latin typeface="Cambria" pitchFamily="34" charset="0"/>
                <a:ea typeface="Cambria" pitchFamily="34" charset="-122"/>
                <a:cs typeface="Cambria" pitchFamily="34" charset="-120"/>
              </a:rPr>
              <a:t>ACU gồm 1.484 bước thuộc các tác vụ không xuất hiện trong tập huấn luyện của S1.</a:t>
            </a:r>
            <a:endParaRPr lang="en-US" sz="1600" dirty="0"/>
          </a:p>
        </p:txBody>
      </p:sp>
      <p:sp>
        <p:nvSpPr>
          <p:cNvPr id="5" name="Text 3"/>
          <p:cNvSpPr/>
          <p:nvPr/>
        </p:nvSpPr>
        <p:spPr>
          <a:xfrm>
            <a:off x="731520" y="1572768"/>
            <a:ext cx="228600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+4,58</a:t>
            </a:r>
            <a:endParaRPr lang="en-US" sz="2400" dirty="0"/>
          </a:p>
        </p:txBody>
      </p:sp>
      <p:sp>
        <p:nvSpPr>
          <p:cNvPr id="6" name="Text 4"/>
          <p:cNvSpPr/>
          <p:nvPr/>
        </p:nvSpPr>
        <p:spPr>
          <a:xfrm>
            <a:off x="731520" y="2103120"/>
            <a:ext cx="22860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GRPO-SPICE − S1</a:t>
            </a:r>
            <a:endParaRPr lang="en-US" sz="1250" dirty="0"/>
          </a:p>
        </p:txBody>
      </p:sp>
      <p:sp>
        <p:nvSpPr>
          <p:cNvPr id="7" name="Text 5"/>
          <p:cNvSpPr/>
          <p:nvPr/>
        </p:nvSpPr>
        <p:spPr>
          <a:xfrm>
            <a:off x="3429000" y="1572768"/>
            <a:ext cx="228600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+4,04</a:t>
            </a:r>
            <a:endParaRPr lang="en-US" sz="2400" dirty="0"/>
          </a:p>
        </p:txBody>
      </p:sp>
      <p:sp>
        <p:nvSpPr>
          <p:cNvPr id="8" name="Text 6"/>
          <p:cNvSpPr/>
          <p:nvPr/>
        </p:nvSpPr>
        <p:spPr>
          <a:xfrm>
            <a:off x="3429000" y="2103120"/>
            <a:ext cx="22860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lượt GRPO thứ hai − S1</a:t>
            </a:r>
            <a:endParaRPr lang="en-US" sz="1250" dirty="0"/>
          </a:p>
        </p:txBody>
      </p:sp>
      <p:sp>
        <p:nvSpPr>
          <p:cNvPr id="9" name="Text 7"/>
          <p:cNvSpPr/>
          <p:nvPr/>
        </p:nvSpPr>
        <p:spPr>
          <a:xfrm>
            <a:off x="6126480" y="1572768"/>
            <a:ext cx="228600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+4,85</a:t>
            </a:r>
            <a:endParaRPr lang="en-US" sz="2400" dirty="0"/>
          </a:p>
        </p:txBody>
      </p:sp>
      <p:sp>
        <p:nvSpPr>
          <p:cNvPr id="10" name="Text 8"/>
          <p:cNvSpPr/>
          <p:nvPr/>
        </p:nvSpPr>
        <p:spPr>
          <a:xfrm>
            <a:off x="6126480" y="2103120"/>
            <a:ext cx="22860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ACE − S1</a:t>
            </a:r>
            <a:endParaRPr lang="en-US" sz="1250" dirty="0"/>
          </a:p>
        </p:txBody>
      </p:sp>
      <p:sp>
        <p:nvSpPr>
          <p:cNvPr id="11" name="Text 9"/>
          <p:cNvSpPr/>
          <p:nvPr/>
        </p:nvSpPr>
        <p:spPr>
          <a:xfrm>
            <a:off x="502920" y="2907792"/>
            <a:ext cx="8138160" cy="566928"/>
          </a:xfrm>
          <a:prstGeom prst="rect">
            <a:avLst/>
          </a:prstGeom>
          <a:noFill/>
          <a:ln/>
        </p:spPr>
        <p:txBody>
          <a:bodyPr wrap="square" lIns="0" tIns="0" rIns="0" bIns="0" rtlCol="0" anchor="ctr">
            <a:normAutofit/>
          </a:bodyPr>
          <a:lstStyle/>
          <a:p>
            <a:pPr algn="ctr" indent="0" marL="0">
              <a:buNone/>
            </a:pPr>
            <a:r>
              <a:rPr lang="en-US" sz="1420" b="1" dirty="0">
                <a:solidFill>
                  <a:srgbClr val="25194B"/>
                </a:solidFill>
                <a:latin typeface="Cambria" pitchFamily="34" charset="0"/>
                <a:ea typeface="Cambria" pitchFamily="34" charset="-122"/>
                <a:cs typeface="Cambria" pitchFamily="34" charset="-120"/>
              </a:rPr>
              <a:t>Cả ba mức tăng đều có khoảng tin cậy nằm trên 0 và lớn hơn mức tăng quan sát được trên tập kiểm chính.</a:t>
            </a:r>
            <a:endParaRPr lang="en-US" sz="1420" dirty="0"/>
          </a:p>
        </p:txBody>
      </p:sp>
      <p:sp>
        <p:nvSpPr>
          <p:cNvPr id="12" name="Shape 10"/>
          <p:cNvSpPr/>
          <p:nvPr/>
        </p:nvSpPr>
        <p:spPr>
          <a:xfrm>
            <a:off x="502920" y="3730752"/>
            <a:ext cx="8138160" cy="1207008"/>
          </a:xfrm>
          <a:prstGeom prst="roundRect">
            <a:avLst/>
          </a:prstGeom>
          <a:solidFill>
            <a:srgbClr val="F3F2F5"/>
          </a:solidFill>
          <a:ln w="12700">
            <a:solidFill>
              <a:srgbClr val="7A7099"/>
            </a:solidFill>
            <a:prstDash val="solid"/>
          </a:ln>
        </p:spPr>
      </p:sp>
      <p:sp>
        <p:nvSpPr>
          <p:cNvPr id="13" name="Text 11"/>
          <p:cNvSpPr/>
          <p:nvPr/>
        </p:nvSpPr>
        <p:spPr>
          <a:xfrm>
            <a:off x="704088" y="3877056"/>
            <a:ext cx="3108960" cy="475488"/>
          </a:xfrm>
          <a:prstGeom prst="rect">
            <a:avLst/>
          </a:prstGeom>
          <a:noFill/>
          <a:ln/>
        </p:spPr>
        <p:txBody>
          <a:bodyPr wrap="square" lIns="0" tIns="0" rIns="0" bIns="0" rtlCol="0" anchor="ctr">
            <a:normAutofit/>
          </a:bodyPr>
          <a:lstStyle/>
          <a:p>
            <a:pPr indent="0" marL="0">
              <a:buNone/>
            </a:pPr>
            <a:r>
              <a:rPr lang="en-US" sz="1370" b="1" dirty="0">
                <a:solidFill>
                  <a:srgbClr val="25194B"/>
                </a:solidFill>
                <a:latin typeface="Cambria" pitchFamily="34" charset="0"/>
                <a:ea typeface="Cambria" pitchFamily="34" charset="-122"/>
                <a:cs typeface="Cambria" pitchFamily="34" charset="-120"/>
              </a:rPr>
              <a:t>Gộp tập kiểm chính + ACU = 5.947 bước</a:t>
            </a:r>
            <a:endParaRPr lang="en-US" sz="1370" dirty="0"/>
          </a:p>
        </p:txBody>
      </p:sp>
      <p:sp>
        <p:nvSpPr>
          <p:cNvPr id="14" name="Text 12"/>
          <p:cNvSpPr/>
          <p:nvPr/>
        </p:nvSpPr>
        <p:spPr>
          <a:xfrm>
            <a:off x="3703320" y="3895344"/>
            <a:ext cx="4663440" cy="438912"/>
          </a:xfrm>
          <a:prstGeom prst="rect">
            <a:avLst/>
          </a:prstGeom>
          <a:noFill/>
          <a:ln/>
        </p:spPr>
        <p:txBody>
          <a:bodyPr wrap="square" lIns="0" tIns="0" rIns="0" bIns="0" rtlCol="0" anchor="ctr"/>
          <a:lstStyle/>
          <a:p>
            <a:pPr algn="ctr" indent="0" marL="0">
              <a:buNone/>
            </a:pPr>
            <a:r>
              <a:rPr lang="en-US" sz="1720" b="1" dirty="0">
                <a:solidFill>
                  <a:srgbClr val="4F417A"/>
                </a:solidFill>
                <a:latin typeface="Cambria" pitchFamily="34" charset="0"/>
                <a:ea typeface="Cambria" pitchFamily="34" charset="-122"/>
                <a:cs typeface="Cambria" pitchFamily="34" charset="-120"/>
              </a:rPr>
              <a:t>GRPO-SPICE − S1 = +2,30  [ +1,62; +2,99 ]</a:t>
            </a:r>
            <a:endParaRPr lang="en-US" sz="1720" dirty="0"/>
          </a:p>
        </p:txBody>
      </p:sp>
      <p:sp>
        <p:nvSpPr>
          <p:cNvPr id="15" name="Text 13"/>
          <p:cNvSpPr/>
          <p:nvPr/>
        </p:nvSpPr>
        <p:spPr>
          <a:xfrm>
            <a:off x="502920" y="5230368"/>
            <a:ext cx="8138160" cy="457200"/>
          </a:xfrm>
          <a:prstGeom prst="rect">
            <a:avLst/>
          </a:prstGeom>
          <a:noFill/>
          <a:ln/>
        </p:spPr>
        <p:txBody>
          <a:bodyPr wrap="square" lIns="0" tIns="0" rIns="0" bIns="0" rtlCol="0" anchor="ctr"/>
          <a:lstStyle/>
          <a:p>
            <a:pPr algn="ctr" indent="0" marL="0">
              <a:buNone/>
            </a:pPr>
            <a:r>
              <a:rPr lang="en-US" sz="1380" b="1" dirty="0">
                <a:solidFill>
                  <a:srgbClr val="25194B"/>
                </a:solidFill>
                <a:latin typeface="Cambria" pitchFamily="34" charset="0"/>
                <a:ea typeface="Cambria" pitchFamily="34" charset="-122"/>
                <a:cs typeface="Cambria" pitchFamily="34" charset="-120"/>
              </a:rPr>
              <a:t>Trên ACU, 6/6 thước chữ có KTC cũng tăng; CIDEr-D +26,73 và SPICE +2,51.</a:t>
            </a:r>
            <a:endParaRPr lang="en-US" sz="1380" dirty="0"/>
          </a:p>
        </p:txBody>
      </p:sp>
      <p:sp>
        <p:nvSpPr>
          <p:cNvPr id="16" name="Text 14"/>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§6.8</a:t>
            </a:r>
            <a:endParaRPr lang="en-US" sz="800" dirty="0"/>
          </a:p>
        </p:txBody>
      </p:sp>
      <p:sp>
        <p:nvSpPr>
          <p:cNvPr id="17" name="Shape 15"/>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8" name="Shape 16"/>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9" name="Shape 17"/>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0" name="Shape 18"/>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1"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3"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14/24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14. ACE chỉ hiệu chỉnh khi câu ví dụ đủ phù hợp</a:t>
            </a:r>
            <a:endParaRPr lang="en-US" sz="2000" dirty="0"/>
          </a:p>
        </p:txBody>
      </p:sp>
      <p:sp>
        <p:nvSpPr>
          <p:cNvPr id="4" name="Shape 2"/>
          <p:cNvSpPr/>
          <p:nvPr/>
        </p:nvSpPr>
        <p:spPr>
          <a:xfrm>
            <a:off x="411480" y="1143000"/>
            <a:ext cx="1508760" cy="868680"/>
          </a:xfrm>
          <a:prstGeom prst="roundRect">
            <a:avLst/>
          </a:prstGeom>
          <a:solidFill>
            <a:srgbClr val="FFFFFF"/>
          </a:solidFill>
          <a:ln w="12700">
            <a:solidFill>
              <a:srgbClr val="7A7099"/>
            </a:solidFill>
            <a:prstDash val="solid"/>
          </a:ln>
        </p:spPr>
      </p:sp>
      <p:sp>
        <p:nvSpPr>
          <p:cNvPr id="5" name="Text 3"/>
          <p:cNvSpPr/>
          <p:nvPr/>
        </p:nvSpPr>
        <p:spPr>
          <a:xfrm>
            <a:off x="411480" y="1143000"/>
            <a:ext cx="1508760" cy="868680"/>
          </a:xfrm>
          <a:prstGeom prst="rect">
            <a:avLst/>
          </a:prstGeom>
          <a:noFill/>
          <a:ln/>
        </p:spPr>
        <p:txBody>
          <a:bodyPr wrap="square" lIns="0" tIns="0" rIns="0" bIns="0" rtlCol="0" anchor="ctr">
            <a:normAutofit/>
          </a:bodyPr>
          <a:lstStyle/>
          <a:p>
            <a:pPr algn="ctr" indent="0" marL="0">
              <a:buNone/>
            </a:pPr>
            <a:r>
              <a:rPr lang="en-US" sz="1450" b="1" dirty="0">
                <a:solidFill>
                  <a:srgbClr val="1A1A1A"/>
                </a:solidFill>
                <a:latin typeface="Cambria" pitchFamily="34" charset="0"/>
                <a:ea typeface="Cambria" pitchFamily="34" charset="-122"/>
                <a:cs typeface="Cambria" pitchFamily="34" charset="-120"/>
              </a:rPr>
              <a:t>Câu ban đầu</a:t>
            </a:r>
            <a:endParaRPr lang="en-US" sz="1450" dirty="0"/>
          </a:p>
        </p:txBody>
      </p:sp>
      <p:sp>
        <p:nvSpPr>
          <p:cNvPr id="6" name="Shape 4"/>
          <p:cNvSpPr/>
          <p:nvPr/>
        </p:nvSpPr>
        <p:spPr>
          <a:xfrm>
            <a:off x="2011680" y="1581912"/>
            <a:ext cx="347472" cy="0"/>
          </a:xfrm>
          <a:prstGeom prst="line">
            <a:avLst/>
          </a:prstGeom>
          <a:noFill/>
          <a:ln w="25400">
            <a:solidFill>
              <a:srgbClr val="4F417A"/>
            </a:solidFill>
            <a:prstDash val="solid"/>
            <a:tailEnd type="triangle"/>
          </a:ln>
        </p:spPr>
      </p:sp>
      <p:sp>
        <p:nvSpPr>
          <p:cNvPr id="7" name="Shape 5"/>
          <p:cNvSpPr/>
          <p:nvPr/>
        </p:nvSpPr>
        <p:spPr>
          <a:xfrm>
            <a:off x="2450592" y="1051560"/>
            <a:ext cx="1737360" cy="1051560"/>
          </a:xfrm>
          <a:prstGeom prst="roundRect">
            <a:avLst/>
          </a:prstGeom>
          <a:solidFill>
            <a:srgbClr val="F3F2F5"/>
          </a:solidFill>
          <a:ln w="12700">
            <a:solidFill>
              <a:srgbClr val="25194B"/>
            </a:solidFill>
            <a:prstDash val="solid"/>
          </a:ln>
        </p:spPr>
      </p:sp>
      <p:sp>
        <p:nvSpPr>
          <p:cNvPr id="8" name="Text 6"/>
          <p:cNvSpPr/>
          <p:nvPr/>
        </p:nvSpPr>
        <p:spPr>
          <a:xfrm>
            <a:off x="2450592" y="1051560"/>
            <a:ext cx="1737360" cy="1051560"/>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Truy hồi 4 câu</a:t>
            </a:r>
            <a:endParaRPr lang="en-US" sz="1400" dirty="0"/>
          </a:p>
          <a:p>
            <a:pPr algn="ctr" indent="0" marL="0">
              <a:buNone/>
            </a:pPr>
            <a:r>
              <a:rPr lang="en-US" sz="1400" b="1" dirty="0">
                <a:solidFill>
                  <a:srgbClr val="1A1A1A"/>
                </a:solidFill>
                <a:latin typeface="Cambria" pitchFamily="34" charset="0"/>
                <a:ea typeface="Cambria" pitchFamily="34" charset="-122"/>
                <a:cs typeface="Cambria" pitchFamily="34" charset="-120"/>
              </a:rPr>
              <a:t>ví dụ từ train</a:t>
            </a:r>
            <a:endParaRPr lang="en-US" sz="1400" dirty="0"/>
          </a:p>
        </p:txBody>
      </p:sp>
      <p:sp>
        <p:nvSpPr>
          <p:cNvPr id="9" name="Shape 7"/>
          <p:cNvSpPr/>
          <p:nvPr/>
        </p:nvSpPr>
        <p:spPr>
          <a:xfrm>
            <a:off x="4279392" y="1581912"/>
            <a:ext cx="347472" cy="0"/>
          </a:xfrm>
          <a:prstGeom prst="line">
            <a:avLst/>
          </a:prstGeom>
          <a:noFill/>
          <a:ln w="25400">
            <a:solidFill>
              <a:srgbClr val="4F417A"/>
            </a:solidFill>
            <a:prstDash val="solid"/>
            <a:tailEnd type="triangle"/>
          </a:ln>
        </p:spPr>
      </p:sp>
      <p:sp>
        <p:nvSpPr>
          <p:cNvPr id="10" name="Shape 8"/>
          <p:cNvSpPr/>
          <p:nvPr/>
        </p:nvSpPr>
        <p:spPr>
          <a:xfrm>
            <a:off x="4718304" y="1051560"/>
            <a:ext cx="1417320" cy="1051560"/>
          </a:xfrm>
          <a:prstGeom prst="roundRect">
            <a:avLst/>
          </a:prstGeom>
          <a:solidFill>
            <a:srgbClr val="F3F2F5"/>
          </a:solidFill>
          <a:ln w="12700">
            <a:solidFill>
              <a:srgbClr val="4F417A"/>
            </a:solidFill>
            <a:prstDash val="solid"/>
          </a:ln>
        </p:spPr>
      </p:sp>
      <p:sp>
        <p:nvSpPr>
          <p:cNvPr id="11" name="Text 9"/>
          <p:cNvSpPr/>
          <p:nvPr/>
        </p:nvSpPr>
        <p:spPr>
          <a:xfrm>
            <a:off x="4718304" y="1051560"/>
            <a:ext cx="1417320" cy="1051560"/>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Sinh câu</a:t>
            </a:r>
            <a:endParaRPr lang="en-US" sz="1400" dirty="0"/>
          </a:p>
          <a:p>
            <a:pPr algn="ctr" indent="0" marL="0">
              <a:buNone/>
            </a:pPr>
            <a:r>
              <a:rPr lang="en-US" sz="1400" b="1" dirty="0">
                <a:solidFill>
                  <a:srgbClr val="1A1A1A"/>
                </a:solidFill>
                <a:latin typeface="Cambria" pitchFamily="34" charset="0"/>
                <a:ea typeface="Cambria" pitchFamily="34" charset="-122"/>
                <a:cs typeface="Cambria" pitchFamily="34" charset="-120"/>
              </a:rPr>
              <a:t>ứng viên</a:t>
            </a:r>
            <a:endParaRPr lang="en-US" sz="1400" dirty="0"/>
          </a:p>
        </p:txBody>
      </p:sp>
      <p:sp>
        <p:nvSpPr>
          <p:cNvPr id="12" name="Shape 10"/>
          <p:cNvSpPr/>
          <p:nvPr/>
        </p:nvSpPr>
        <p:spPr>
          <a:xfrm>
            <a:off x="6227064" y="1581912"/>
            <a:ext cx="347472" cy="0"/>
          </a:xfrm>
          <a:prstGeom prst="line">
            <a:avLst/>
          </a:prstGeom>
          <a:noFill/>
          <a:ln w="25400">
            <a:solidFill>
              <a:srgbClr val="4F417A"/>
            </a:solidFill>
            <a:prstDash val="solid"/>
            <a:tailEnd type="triangle"/>
          </a:ln>
        </p:spPr>
      </p:sp>
      <p:sp>
        <p:nvSpPr>
          <p:cNvPr id="13" name="Shape 11"/>
          <p:cNvSpPr/>
          <p:nvPr/>
        </p:nvSpPr>
        <p:spPr>
          <a:xfrm>
            <a:off x="6665976" y="960120"/>
            <a:ext cx="2011680" cy="1234440"/>
          </a:xfrm>
          <a:prstGeom prst="roundRect">
            <a:avLst/>
          </a:prstGeom>
          <a:solidFill>
            <a:srgbClr val="F3F2F5"/>
          </a:solidFill>
          <a:ln w="12700">
            <a:solidFill>
              <a:srgbClr val="7A7099"/>
            </a:solidFill>
            <a:prstDash val="solid"/>
          </a:ln>
        </p:spPr>
      </p:sp>
      <p:sp>
        <p:nvSpPr>
          <p:cNvPr id="14" name="Text 12"/>
          <p:cNvSpPr/>
          <p:nvPr/>
        </p:nvSpPr>
        <p:spPr>
          <a:xfrm>
            <a:off x="6665976" y="960120"/>
            <a:ext cx="2011680" cy="1234440"/>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Kiểm tra</a:t>
            </a:r>
            <a:endParaRPr lang="en-US" sz="1400" dirty="0"/>
          </a:p>
          <a:p>
            <a:pPr algn="ctr" indent="0" marL="0">
              <a:buNone/>
            </a:pPr>
            <a:r>
              <a:rPr lang="en-US" sz="1400" b="1" dirty="0">
                <a:solidFill>
                  <a:srgbClr val="1A1A1A"/>
                </a:solidFill>
                <a:latin typeface="Cambria" pitchFamily="34" charset="0"/>
                <a:ea typeface="Cambria" pitchFamily="34" charset="-122"/>
                <a:cs typeface="Cambria" pitchFamily="34" charset="-120"/>
              </a:rPr>
              <a:t>2 điều kiện chọn lọc</a:t>
            </a:r>
            <a:endParaRPr lang="en-US" sz="1400" dirty="0"/>
          </a:p>
        </p:txBody>
      </p:sp>
      <p:sp>
        <p:nvSpPr>
          <p:cNvPr id="15" name="Shape 13"/>
          <p:cNvSpPr/>
          <p:nvPr/>
        </p:nvSpPr>
        <p:spPr>
          <a:xfrm>
            <a:off x="502920" y="3127248"/>
            <a:ext cx="3840480" cy="1078992"/>
          </a:xfrm>
          <a:prstGeom prst="roundRect">
            <a:avLst/>
          </a:prstGeom>
          <a:solidFill>
            <a:srgbClr val="F3F2F5"/>
          </a:solidFill>
          <a:ln w="12700">
            <a:solidFill>
              <a:srgbClr val="4F417A"/>
            </a:solidFill>
            <a:prstDash val="solid"/>
          </a:ln>
        </p:spPr>
      </p:sp>
      <p:sp>
        <p:nvSpPr>
          <p:cNvPr id="16" name="Text 14"/>
          <p:cNvSpPr/>
          <p:nvPr/>
        </p:nvSpPr>
        <p:spPr>
          <a:xfrm>
            <a:off x="667512" y="3127248"/>
            <a:ext cx="3511296" cy="1078992"/>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1 · Câu ứng viên phải đúng bằng một trong bốn câu ví dụ được truy hồi.</a:t>
            </a:r>
            <a:endParaRPr lang="en-US" sz="1400" dirty="0"/>
          </a:p>
        </p:txBody>
      </p:sp>
      <p:sp>
        <p:nvSpPr>
          <p:cNvPr id="17" name="Shape 15"/>
          <p:cNvSpPr/>
          <p:nvPr/>
        </p:nvSpPr>
        <p:spPr>
          <a:xfrm>
            <a:off x="4800600" y="3127248"/>
            <a:ext cx="3840480" cy="1078992"/>
          </a:xfrm>
          <a:prstGeom prst="roundRect">
            <a:avLst/>
          </a:prstGeom>
          <a:solidFill>
            <a:srgbClr val="F3F2F5"/>
          </a:solidFill>
          <a:ln w="12700">
            <a:solidFill>
              <a:srgbClr val="4F417A"/>
            </a:solidFill>
            <a:prstDash val="solid"/>
          </a:ln>
        </p:spPr>
      </p:sp>
      <p:sp>
        <p:nvSpPr>
          <p:cNvPr id="18" name="Text 16"/>
          <p:cNvSpPr/>
          <p:nvPr/>
        </p:nvSpPr>
        <p:spPr>
          <a:xfrm>
            <a:off x="4965192" y="3127248"/>
            <a:ext cx="3511296" cy="1078992"/>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2 · Động từ đầu câu phải cùng lớp thao tác với câu ban đầu.</a:t>
            </a:r>
            <a:endParaRPr lang="en-US" sz="1400" dirty="0"/>
          </a:p>
        </p:txBody>
      </p:sp>
      <p:sp>
        <p:nvSpPr>
          <p:cNvPr id="19" name="Shape 17"/>
          <p:cNvSpPr/>
          <p:nvPr/>
        </p:nvSpPr>
        <p:spPr>
          <a:xfrm>
            <a:off x="1645920" y="4663440"/>
            <a:ext cx="2560320" cy="749808"/>
          </a:xfrm>
          <a:prstGeom prst="roundRect">
            <a:avLst/>
          </a:prstGeom>
          <a:solidFill>
            <a:srgbClr val="F3F2F5"/>
          </a:solidFill>
          <a:ln w="12700">
            <a:solidFill>
              <a:srgbClr val="4F417A"/>
            </a:solidFill>
            <a:prstDash val="solid"/>
          </a:ln>
        </p:spPr>
      </p:sp>
      <p:sp>
        <p:nvSpPr>
          <p:cNvPr id="20" name="Text 18"/>
          <p:cNvSpPr/>
          <p:nvPr/>
        </p:nvSpPr>
        <p:spPr>
          <a:xfrm>
            <a:off x="1645920" y="4663440"/>
            <a:ext cx="2560320" cy="749808"/>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Đủ điều kiện → dùng câu mới</a:t>
            </a:r>
            <a:endParaRPr lang="en-US" sz="1400" dirty="0"/>
          </a:p>
        </p:txBody>
      </p:sp>
      <p:sp>
        <p:nvSpPr>
          <p:cNvPr id="21" name="Shape 19"/>
          <p:cNvSpPr/>
          <p:nvPr/>
        </p:nvSpPr>
        <p:spPr>
          <a:xfrm>
            <a:off x="4937760" y="4663440"/>
            <a:ext cx="2560320" cy="749808"/>
          </a:xfrm>
          <a:prstGeom prst="roundRect">
            <a:avLst/>
          </a:prstGeom>
          <a:solidFill>
            <a:srgbClr val="FFFFFF"/>
          </a:solidFill>
          <a:ln w="12700">
            <a:solidFill>
              <a:srgbClr val="7A7099"/>
            </a:solidFill>
            <a:prstDash val="solid"/>
          </a:ln>
        </p:spPr>
      </p:sp>
      <p:sp>
        <p:nvSpPr>
          <p:cNvPr id="22" name="Text 20"/>
          <p:cNvSpPr/>
          <p:nvPr/>
        </p:nvSpPr>
        <p:spPr>
          <a:xfrm>
            <a:off x="4937760" y="4663440"/>
            <a:ext cx="2560320" cy="749808"/>
          </a:xfrm>
          <a:prstGeom prst="rect">
            <a:avLst/>
          </a:prstGeom>
          <a:noFill/>
          <a:ln/>
        </p:spPr>
        <p:txBody>
          <a:bodyPr wrap="square" lIns="0" tIns="0" rIns="0" bIns="0" rtlCol="0" anchor="ctr">
            <a:normAutofit/>
          </a:bodyPr>
          <a:lstStyle/>
          <a:p>
            <a:pPr algn="ctr" indent="0" marL="0">
              <a:buNone/>
            </a:pPr>
            <a:r>
              <a:rPr lang="en-US" sz="1400" b="1" dirty="0">
                <a:solidFill>
                  <a:srgbClr val="1A1A1A"/>
                </a:solidFill>
                <a:latin typeface="Cambria" pitchFamily="34" charset="0"/>
                <a:ea typeface="Cambria" pitchFamily="34" charset="-122"/>
                <a:cs typeface="Cambria" pitchFamily="34" charset="-120"/>
              </a:rPr>
              <a:t>Không đủ → giữ câu ban đầu</a:t>
            </a:r>
            <a:endParaRPr lang="en-US" sz="1400" dirty="0"/>
          </a:p>
        </p:txBody>
      </p:sp>
      <p:sp>
        <p:nvSpPr>
          <p:cNvPr id="23" name="Text 21"/>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§4.6</a:t>
            </a:r>
            <a:endParaRPr lang="en-US" sz="800" dirty="0"/>
          </a:p>
        </p:txBody>
      </p:sp>
      <p:sp>
        <p:nvSpPr>
          <p:cNvPr id="24" name="Shape 22"/>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5" name="Shape 23"/>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6" name="Shape 24"/>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7" name="Shape 25"/>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8"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9"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0"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1"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15/24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15. ACE nâng chất lượng câu mà giữ nguyên khả năng định vị</a:t>
            </a:r>
            <a:endParaRPr lang="en-US" sz="2000" dirty="0"/>
          </a:p>
        </p:txBody>
      </p:sp>
      <p:sp>
        <p:nvSpPr>
          <p:cNvPr id="4" name="Text 2"/>
          <p:cNvSpPr/>
          <p:nvPr/>
        </p:nvSpPr>
        <p:spPr>
          <a:xfrm>
            <a:off x="749808" y="859536"/>
            <a:ext cx="178308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60,68%</a:t>
            </a:r>
            <a:endParaRPr lang="en-US" sz="2400" dirty="0"/>
          </a:p>
        </p:txBody>
      </p:sp>
      <p:sp>
        <p:nvSpPr>
          <p:cNvPr id="5" name="Text 3"/>
          <p:cNvSpPr/>
          <p:nvPr/>
        </p:nvSpPr>
        <p:spPr>
          <a:xfrm>
            <a:off x="749808" y="1389888"/>
            <a:ext cx="178308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Executability</a:t>
            </a:r>
            <a:endParaRPr lang="en-US" sz="1250" dirty="0"/>
          </a:p>
        </p:txBody>
      </p:sp>
      <p:sp>
        <p:nvSpPr>
          <p:cNvPr id="6" name="Text 4"/>
          <p:cNvSpPr/>
          <p:nvPr/>
        </p:nvSpPr>
        <p:spPr>
          <a:xfrm>
            <a:off x="2743200" y="859536"/>
            <a:ext cx="178308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+0,02</a:t>
            </a:r>
            <a:endParaRPr lang="en-US" sz="2400" dirty="0"/>
          </a:p>
        </p:txBody>
      </p:sp>
      <p:sp>
        <p:nvSpPr>
          <p:cNvPr id="7" name="Text 5"/>
          <p:cNvSpPr/>
          <p:nvPr/>
        </p:nvSpPr>
        <p:spPr>
          <a:xfrm>
            <a:off x="2743200" y="1389888"/>
            <a:ext cx="178308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so với GRPO-SPICE</a:t>
            </a:r>
            <a:endParaRPr lang="en-US" sz="1250" dirty="0"/>
          </a:p>
        </p:txBody>
      </p:sp>
      <p:sp>
        <p:nvSpPr>
          <p:cNvPr id="8" name="Text 6"/>
          <p:cNvSpPr/>
          <p:nvPr/>
        </p:nvSpPr>
        <p:spPr>
          <a:xfrm>
            <a:off x="4736592" y="859536"/>
            <a:ext cx="178308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7/7</a:t>
            </a:r>
            <a:endParaRPr lang="en-US" sz="2400" dirty="0"/>
          </a:p>
        </p:txBody>
      </p:sp>
      <p:sp>
        <p:nvSpPr>
          <p:cNvPr id="9" name="Text 7"/>
          <p:cNvSpPr/>
          <p:nvPr/>
        </p:nvSpPr>
        <p:spPr>
          <a:xfrm>
            <a:off x="4736592" y="1389888"/>
            <a:ext cx="178308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thước chữ tăng</a:t>
            </a:r>
            <a:endParaRPr lang="en-US" sz="1250" dirty="0"/>
          </a:p>
        </p:txBody>
      </p:sp>
      <p:sp>
        <p:nvSpPr>
          <p:cNvPr id="10" name="Text 8"/>
          <p:cNvSpPr/>
          <p:nvPr/>
        </p:nvSpPr>
        <p:spPr>
          <a:xfrm>
            <a:off x="6729984" y="859536"/>
            <a:ext cx="178308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6/6</a:t>
            </a:r>
            <a:endParaRPr lang="en-US" sz="2400" dirty="0"/>
          </a:p>
        </p:txBody>
      </p:sp>
      <p:sp>
        <p:nvSpPr>
          <p:cNvPr id="11" name="Text 9"/>
          <p:cNvSpPr/>
          <p:nvPr/>
        </p:nvSpPr>
        <p:spPr>
          <a:xfrm>
            <a:off x="6729984" y="1389888"/>
            <a:ext cx="178308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KTC chữ &gt; 0</a:t>
            </a:r>
            <a:endParaRPr lang="en-US" sz="1250" dirty="0"/>
          </a:p>
        </p:txBody>
      </p:sp>
      <p:sp>
        <p:nvSpPr>
          <p:cNvPr id="12" name="Shape 10"/>
          <p:cNvSpPr/>
          <p:nvPr/>
        </p:nvSpPr>
        <p:spPr>
          <a:xfrm>
            <a:off x="658368" y="2103120"/>
            <a:ext cx="8037576" cy="365760"/>
          </a:xfrm>
          <a:prstGeom prst="rect">
            <a:avLst/>
          </a:prstGeom>
          <a:solidFill>
            <a:srgbClr val="25194B"/>
          </a:solidFill>
          <a:ln w="12700">
            <a:solidFill>
              <a:srgbClr val="25194B">
                <a:alpha val="0"/>
              </a:srgbClr>
            </a:solidFill>
            <a:prstDash val="solid"/>
          </a:ln>
        </p:spPr>
      </p:sp>
      <p:sp>
        <p:nvSpPr>
          <p:cNvPr id="13" name="Text 11"/>
          <p:cNvSpPr/>
          <p:nvPr/>
        </p:nvSpPr>
        <p:spPr>
          <a:xfrm>
            <a:off x="658368" y="2103120"/>
            <a:ext cx="1508760" cy="365760"/>
          </a:xfrm>
          <a:prstGeom prst="rect">
            <a:avLst/>
          </a:prstGeom>
          <a:noFill/>
          <a:ln/>
        </p:spPr>
        <p:txBody>
          <a:bodyPr wrap="square" lIns="0" tIns="0" rIns="0" bIns="0" rtlCol="0" anchor="ctr">
            <a:normAutofit/>
          </a:bodyPr>
          <a:lstStyle/>
          <a:p>
            <a:pPr algn="l" indent="0" marL="0">
              <a:buNone/>
            </a:pPr>
            <a:r>
              <a:rPr lang="en-US" sz="1160" b="1" dirty="0">
                <a:solidFill>
                  <a:srgbClr val="FFFFFF"/>
                </a:solidFill>
                <a:latin typeface="Cambria" pitchFamily="34" charset="0"/>
                <a:ea typeface="Cambria" pitchFamily="34" charset="-122"/>
                <a:cs typeface="Cambria" pitchFamily="34" charset="-120"/>
              </a:rPr>
              <a:t>Thước</a:t>
            </a:r>
            <a:endParaRPr lang="en-US" sz="1160" dirty="0"/>
          </a:p>
        </p:txBody>
      </p:sp>
      <p:sp>
        <p:nvSpPr>
          <p:cNvPr id="14" name="Text 12"/>
          <p:cNvSpPr/>
          <p:nvPr/>
        </p:nvSpPr>
        <p:spPr>
          <a:xfrm>
            <a:off x="2167128" y="2103120"/>
            <a:ext cx="1389888" cy="365760"/>
          </a:xfrm>
          <a:prstGeom prst="rect">
            <a:avLst/>
          </a:prstGeom>
          <a:noFill/>
          <a:ln/>
        </p:spPr>
        <p:txBody>
          <a:bodyPr wrap="square" lIns="0" tIns="0" rIns="0" bIns="0" rtlCol="0" anchor="ctr">
            <a:normAutofit/>
          </a:bodyPr>
          <a:lstStyle/>
          <a:p>
            <a:pPr algn="ctr" indent="0" marL="0">
              <a:buNone/>
            </a:pPr>
            <a:r>
              <a:rPr lang="en-US" sz="1160" b="1" dirty="0">
                <a:solidFill>
                  <a:srgbClr val="FFFFFF"/>
                </a:solidFill>
                <a:latin typeface="Cambria" pitchFamily="34" charset="0"/>
                <a:ea typeface="Cambria" pitchFamily="34" charset="-122"/>
                <a:cs typeface="Cambria" pitchFamily="34" charset="-120"/>
              </a:rPr>
              <a:t>GRPO-SPICE</a:t>
            </a:r>
            <a:endParaRPr lang="en-US" sz="1160" dirty="0"/>
          </a:p>
        </p:txBody>
      </p:sp>
      <p:sp>
        <p:nvSpPr>
          <p:cNvPr id="15" name="Text 13"/>
          <p:cNvSpPr/>
          <p:nvPr/>
        </p:nvSpPr>
        <p:spPr>
          <a:xfrm>
            <a:off x="3557016" y="2103120"/>
            <a:ext cx="1261872" cy="365760"/>
          </a:xfrm>
          <a:prstGeom prst="rect">
            <a:avLst/>
          </a:prstGeom>
          <a:noFill/>
          <a:ln/>
        </p:spPr>
        <p:txBody>
          <a:bodyPr wrap="square" lIns="0" tIns="0" rIns="0" bIns="0" rtlCol="0" anchor="ctr">
            <a:normAutofit/>
          </a:bodyPr>
          <a:lstStyle/>
          <a:p>
            <a:pPr algn="ctr" indent="0" marL="0">
              <a:buNone/>
            </a:pPr>
            <a:r>
              <a:rPr lang="en-US" sz="1160" b="1" dirty="0">
                <a:solidFill>
                  <a:srgbClr val="FFFFFF"/>
                </a:solidFill>
                <a:latin typeface="Cambria" pitchFamily="34" charset="0"/>
                <a:ea typeface="Cambria" pitchFamily="34" charset="-122"/>
                <a:cs typeface="Cambria" pitchFamily="34" charset="-120"/>
              </a:rPr>
              <a:t>ACE</a:t>
            </a:r>
            <a:endParaRPr lang="en-US" sz="1160" dirty="0"/>
          </a:p>
        </p:txBody>
      </p:sp>
      <p:sp>
        <p:nvSpPr>
          <p:cNvPr id="16" name="Text 14"/>
          <p:cNvSpPr/>
          <p:nvPr/>
        </p:nvSpPr>
        <p:spPr>
          <a:xfrm>
            <a:off x="4818888" y="2103120"/>
            <a:ext cx="1115568" cy="365760"/>
          </a:xfrm>
          <a:prstGeom prst="rect">
            <a:avLst/>
          </a:prstGeom>
          <a:noFill/>
          <a:ln/>
        </p:spPr>
        <p:txBody>
          <a:bodyPr wrap="square" lIns="0" tIns="0" rIns="0" bIns="0" rtlCol="0" anchor="ctr">
            <a:normAutofit/>
          </a:bodyPr>
          <a:lstStyle/>
          <a:p>
            <a:pPr algn="ctr" indent="0" marL="0">
              <a:buNone/>
            </a:pPr>
            <a:r>
              <a:rPr lang="en-US" sz="1160" b="1" dirty="0">
                <a:solidFill>
                  <a:srgbClr val="FFFFFF"/>
                </a:solidFill>
                <a:latin typeface="Cambria" pitchFamily="34" charset="0"/>
                <a:ea typeface="Cambria" pitchFamily="34" charset="-122"/>
                <a:cs typeface="Cambria" pitchFamily="34" charset="-120"/>
              </a:rPr>
              <a:t>Δ ACE</a:t>
            </a:r>
            <a:endParaRPr lang="en-US" sz="1160" dirty="0"/>
          </a:p>
        </p:txBody>
      </p:sp>
      <p:sp>
        <p:nvSpPr>
          <p:cNvPr id="17" name="Text 15"/>
          <p:cNvSpPr/>
          <p:nvPr/>
        </p:nvSpPr>
        <p:spPr>
          <a:xfrm>
            <a:off x="5934456" y="2103120"/>
            <a:ext cx="2761488" cy="365760"/>
          </a:xfrm>
          <a:prstGeom prst="rect">
            <a:avLst/>
          </a:prstGeom>
          <a:noFill/>
          <a:ln/>
        </p:spPr>
        <p:txBody>
          <a:bodyPr wrap="square" lIns="0" tIns="0" rIns="0" bIns="0" rtlCol="0" anchor="ctr">
            <a:normAutofit/>
          </a:bodyPr>
          <a:lstStyle/>
          <a:p>
            <a:pPr algn="ctr" indent="0" marL="0">
              <a:buNone/>
            </a:pPr>
            <a:r>
              <a:rPr lang="en-US" sz="1160" b="1" dirty="0">
                <a:solidFill>
                  <a:srgbClr val="FFFFFF"/>
                </a:solidFill>
                <a:latin typeface="Cambria" pitchFamily="34" charset="0"/>
                <a:ea typeface="Cambria" pitchFamily="34" charset="-122"/>
                <a:cs typeface="Cambria" pitchFamily="34" charset="-120"/>
              </a:rPr>
              <a:t>KTC 95%</a:t>
            </a:r>
            <a:endParaRPr lang="en-US" sz="1160" dirty="0"/>
          </a:p>
        </p:txBody>
      </p:sp>
      <p:sp>
        <p:nvSpPr>
          <p:cNvPr id="18" name="Text 16"/>
          <p:cNvSpPr/>
          <p:nvPr/>
        </p:nvSpPr>
        <p:spPr>
          <a:xfrm>
            <a:off x="658368" y="2468880"/>
            <a:ext cx="1508760" cy="384048"/>
          </a:xfrm>
          <a:prstGeom prst="rect">
            <a:avLst/>
          </a:prstGeom>
          <a:noFill/>
          <a:ln/>
        </p:spPr>
        <p:txBody>
          <a:bodyPr wrap="square" lIns="0" tIns="0" rIns="0" bIns="0" rtlCol="0" anchor="ctr">
            <a:normAutofit/>
          </a:bodyPr>
          <a:lstStyle/>
          <a:p>
            <a:pPr algn="l" indent="0" marL="0">
              <a:buNone/>
            </a:pPr>
            <a:r>
              <a:rPr lang="en-US" sz="1140" dirty="0">
                <a:solidFill>
                  <a:srgbClr val="1A1A1A"/>
                </a:solidFill>
                <a:latin typeface="Cambria" pitchFamily="34" charset="0"/>
                <a:ea typeface="Cambria" pitchFamily="34" charset="-122"/>
                <a:cs typeface="Cambria" pitchFamily="34" charset="-120"/>
              </a:rPr>
              <a:t>BLEU-4</a:t>
            </a:r>
            <a:endParaRPr lang="en-US" sz="1140" dirty="0"/>
          </a:p>
        </p:txBody>
      </p:sp>
      <p:sp>
        <p:nvSpPr>
          <p:cNvPr id="19" name="Text 17"/>
          <p:cNvSpPr/>
          <p:nvPr/>
        </p:nvSpPr>
        <p:spPr>
          <a:xfrm>
            <a:off x="2167128" y="2468880"/>
            <a:ext cx="13898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52,36</a:t>
            </a:r>
            <a:endParaRPr lang="en-US" sz="1140" dirty="0"/>
          </a:p>
        </p:txBody>
      </p:sp>
      <p:sp>
        <p:nvSpPr>
          <p:cNvPr id="20" name="Text 18"/>
          <p:cNvSpPr/>
          <p:nvPr/>
        </p:nvSpPr>
        <p:spPr>
          <a:xfrm>
            <a:off x="3557016" y="2468880"/>
            <a:ext cx="1261872"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53,47</a:t>
            </a:r>
            <a:endParaRPr lang="en-US" sz="1140" dirty="0"/>
          </a:p>
        </p:txBody>
      </p:sp>
      <p:sp>
        <p:nvSpPr>
          <p:cNvPr id="21" name="Text 19"/>
          <p:cNvSpPr/>
          <p:nvPr/>
        </p:nvSpPr>
        <p:spPr>
          <a:xfrm>
            <a:off x="4818888" y="2468880"/>
            <a:ext cx="111556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+1,11</a:t>
            </a:r>
            <a:endParaRPr lang="en-US" sz="1140" dirty="0"/>
          </a:p>
        </p:txBody>
      </p:sp>
      <p:sp>
        <p:nvSpPr>
          <p:cNvPr id="22" name="Text 20"/>
          <p:cNvSpPr/>
          <p:nvPr/>
        </p:nvSpPr>
        <p:spPr>
          <a:xfrm>
            <a:off x="5934456" y="2468880"/>
            <a:ext cx="27614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[+0,78; +1,42]</a:t>
            </a:r>
            <a:endParaRPr lang="en-US" sz="1140" dirty="0"/>
          </a:p>
        </p:txBody>
      </p:sp>
      <p:sp>
        <p:nvSpPr>
          <p:cNvPr id="23" name="Shape 21"/>
          <p:cNvSpPr/>
          <p:nvPr/>
        </p:nvSpPr>
        <p:spPr>
          <a:xfrm>
            <a:off x="658368" y="2852928"/>
            <a:ext cx="8037576" cy="0"/>
          </a:xfrm>
          <a:prstGeom prst="line">
            <a:avLst/>
          </a:prstGeom>
          <a:noFill/>
          <a:ln w="12700">
            <a:solidFill>
              <a:srgbClr val="D9D6DF"/>
            </a:solidFill>
            <a:prstDash val="solid"/>
            <a:tailEnd type="none"/>
          </a:ln>
        </p:spPr>
      </p:sp>
      <p:sp>
        <p:nvSpPr>
          <p:cNvPr id="24" name="Text 22"/>
          <p:cNvSpPr/>
          <p:nvPr/>
        </p:nvSpPr>
        <p:spPr>
          <a:xfrm>
            <a:off x="658368" y="2852928"/>
            <a:ext cx="1508760" cy="384048"/>
          </a:xfrm>
          <a:prstGeom prst="rect">
            <a:avLst/>
          </a:prstGeom>
          <a:noFill/>
          <a:ln/>
        </p:spPr>
        <p:txBody>
          <a:bodyPr wrap="square" lIns="0" tIns="0" rIns="0" bIns="0" rtlCol="0" anchor="ctr">
            <a:normAutofit/>
          </a:bodyPr>
          <a:lstStyle/>
          <a:p>
            <a:pPr algn="l" indent="0" marL="0">
              <a:buNone/>
            </a:pPr>
            <a:r>
              <a:rPr lang="en-US" sz="1140" dirty="0">
                <a:solidFill>
                  <a:srgbClr val="1A1A1A"/>
                </a:solidFill>
                <a:latin typeface="Cambria" pitchFamily="34" charset="0"/>
                <a:ea typeface="Cambria" pitchFamily="34" charset="-122"/>
                <a:cs typeface="Cambria" pitchFamily="34" charset="-120"/>
              </a:rPr>
              <a:t>METEOR</a:t>
            </a:r>
            <a:endParaRPr lang="en-US" sz="1140" dirty="0"/>
          </a:p>
        </p:txBody>
      </p:sp>
      <p:sp>
        <p:nvSpPr>
          <p:cNvPr id="25" name="Text 23"/>
          <p:cNvSpPr/>
          <p:nvPr/>
        </p:nvSpPr>
        <p:spPr>
          <a:xfrm>
            <a:off x="2167128" y="2852928"/>
            <a:ext cx="13898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37,92</a:t>
            </a:r>
            <a:endParaRPr lang="en-US" sz="1140" dirty="0"/>
          </a:p>
        </p:txBody>
      </p:sp>
      <p:sp>
        <p:nvSpPr>
          <p:cNvPr id="26" name="Text 24"/>
          <p:cNvSpPr/>
          <p:nvPr/>
        </p:nvSpPr>
        <p:spPr>
          <a:xfrm>
            <a:off x="3557016" y="2852928"/>
            <a:ext cx="1261872"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38,37</a:t>
            </a:r>
            <a:endParaRPr lang="en-US" sz="1140" dirty="0"/>
          </a:p>
        </p:txBody>
      </p:sp>
      <p:sp>
        <p:nvSpPr>
          <p:cNvPr id="27" name="Text 25"/>
          <p:cNvSpPr/>
          <p:nvPr/>
        </p:nvSpPr>
        <p:spPr>
          <a:xfrm>
            <a:off x="4818888" y="2852928"/>
            <a:ext cx="111556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+0,45</a:t>
            </a:r>
            <a:endParaRPr lang="en-US" sz="1140" dirty="0"/>
          </a:p>
        </p:txBody>
      </p:sp>
      <p:sp>
        <p:nvSpPr>
          <p:cNvPr id="28" name="Text 26"/>
          <p:cNvSpPr/>
          <p:nvPr/>
        </p:nvSpPr>
        <p:spPr>
          <a:xfrm>
            <a:off x="5934456" y="2852928"/>
            <a:ext cx="27614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a:t>
            </a:r>
            <a:endParaRPr lang="en-US" sz="1140" dirty="0"/>
          </a:p>
        </p:txBody>
      </p:sp>
      <p:sp>
        <p:nvSpPr>
          <p:cNvPr id="29" name="Shape 27"/>
          <p:cNvSpPr/>
          <p:nvPr/>
        </p:nvSpPr>
        <p:spPr>
          <a:xfrm>
            <a:off x="658368" y="3236976"/>
            <a:ext cx="8037576" cy="0"/>
          </a:xfrm>
          <a:prstGeom prst="line">
            <a:avLst/>
          </a:prstGeom>
          <a:noFill/>
          <a:ln w="12700">
            <a:solidFill>
              <a:srgbClr val="D9D6DF"/>
            </a:solidFill>
            <a:prstDash val="solid"/>
            <a:tailEnd type="none"/>
          </a:ln>
        </p:spPr>
      </p:sp>
      <p:sp>
        <p:nvSpPr>
          <p:cNvPr id="30" name="Text 28"/>
          <p:cNvSpPr/>
          <p:nvPr/>
        </p:nvSpPr>
        <p:spPr>
          <a:xfrm>
            <a:off x="658368" y="3236976"/>
            <a:ext cx="1508760" cy="384048"/>
          </a:xfrm>
          <a:prstGeom prst="rect">
            <a:avLst/>
          </a:prstGeom>
          <a:noFill/>
          <a:ln/>
        </p:spPr>
        <p:txBody>
          <a:bodyPr wrap="square" lIns="0" tIns="0" rIns="0" bIns="0" rtlCol="0" anchor="ctr">
            <a:normAutofit/>
          </a:bodyPr>
          <a:lstStyle/>
          <a:p>
            <a:pPr algn="l" indent="0" marL="0">
              <a:buNone/>
            </a:pPr>
            <a:r>
              <a:rPr lang="en-US" sz="1140" dirty="0">
                <a:solidFill>
                  <a:srgbClr val="1A1A1A"/>
                </a:solidFill>
                <a:latin typeface="Cambria" pitchFamily="34" charset="0"/>
                <a:ea typeface="Cambria" pitchFamily="34" charset="-122"/>
                <a:cs typeface="Cambria" pitchFamily="34" charset="-120"/>
              </a:rPr>
              <a:t>ROUGE-L</a:t>
            </a:r>
            <a:endParaRPr lang="en-US" sz="1140" dirty="0"/>
          </a:p>
        </p:txBody>
      </p:sp>
      <p:sp>
        <p:nvSpPr>
          <p:cNvPr id="31" name="Text 29"/>
          <p:cNvSpPr/>
          <p:nvPr/>
        </p:nvSpPr>
        <p:spPr>
          <a:xfrm>
            <a:off x="2167128" y="3236976"/>
            <a:ext cx="13898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68,36</a:t>
            </a:r>
            <a:endParaRPr lang="en-US" sz="1140" dirty="0"/>
          </a:p>
        </p:txBody>
      </p:sp>
      <p:sp>
        <p:nvSpPr>
          <p:cNvPr id="32" name="Text 30"/>
          <p:cNvSpPr/>
          <p:nvPr/>
        </p:nvSpPr>
        <p:spPr>
          <a:xfrm>
            <a:off x="3557016" y="3236976"/>
            <a:ext cx="1261872"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69,11</a:t>
            </a:r>
            <a:endParaRPr lang="en-US" sz="1140" dirty="0"/>
          </a:p>
        </p:txBody>
      </p:sp>
      <p:sp>
        <p:nvSpPr>
          <p:cNvPr id="33" name="Text 31"/>
          <p:cNvSpPr/>
          <p:nvPr/>
        </p:nvSpPr>
        <p:spPr>
          <a:xfrm>
            <a:off x="4818888" y="3236976"/>
            <a:ext cx="111556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+0,74</a:t>
            </a:r>
            <a:endParaRPr lang="en-US" sz="1140" dirty="0"/>
          </a:p>
        </p:txBody>
      </p:sp>
      <p:sp>
        <p:nvSpPr>
          <p:cNvPr id="34" name="Text 32"/>
          <p:cNvSpPr/>
          <p:nvPr/>
        </p:nvSpPr>
        <p:spPr>
          <a:xfrm>
            <a:off x="5934456" y="3236976"/>
            <a:ext cx="27614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[+0,54; +0,94]</a:t>
            </a:r>
            <a:endParaRPr lang="en-US" sz="1140" dirty="0"/>
          </a:p>
        </p:txBody>
      </p:sp>
      <p:sp>
        <p:nvSpPr>
          <p:cNvPr id="35" name="Shape 33"/>
          <p:cNvSpPr/>
          <p:nvPr/>
        </p:nvSpPr>
        <p:spPr>
          <a:xfrm>
            <a:off x="658368" y="3621024"/>
            <a:ext cx="8037576" cy="0"/>
          </a:xfrm>
          <a:prstGeom prst="line">
            <a:avLst/>
          </a:prstGeom>
          <a:noFill/>
          <a:ln w="12700">
            <a:solidFill>
              <a:srgbClr val="D9D6DF"/>
            </a:solidFill>
            <a:prstDash val="solid"/>
            <a:tailEnd type="none"/>
          </a:ln>
        </p:spPr>
      </p:sp>
      <p:sp>
        <p:nvSpPr>
          <p:cNvPr id="36" name="Text 34"/>
          <p:cNvSpPr/>
          <p:nvPr/>
        </p:nvSpPr>
        <p:spPr>
          <a:xfrm>
            <a:off x="658368" y="3621024"/>
            <a:ext cx="1508760" cy="384048"/>
          </a:xfrm>
          <a:prstGeom prst="rect">
            <a:avLst/>
          </a:prstGeom>
          <a:noFill/>
          <a:ln/>
        </p:spPr>
        <p:txBody>
          <a:bodyPr wrap="square" lIns="0" tIns="0" rIns="0" bIns="0" rtlCol="0" anchor="ctr">
            <a:normAutofit/>
          </a:bodyPr>
          <a:lstStyle/>
          <a:p>
            <a:pPr algn="l" indent="0" marL="0">
              <a:buNone/>
            </a:pPr>
            <a:r>
              <a:rPr lang="en-US" sz="1140" dirty="0">
                <a:solidFill>
                  <a:srgbClr val="1A1A1A"/>
                </a:solidFill>
                <a:latin typeface="Cambria" pitchFamily="34" charset="0"/>
                <a:ea typeface="Cambria" pitchFamily="34" charset="-122"/>
                <a:cs typeface="Cambria" pitchFamily="34" charset="-120"/>
              </a:rPr>
              <a:t>CIDEr-D</a:t>
            </a:r>
            <a:endParaRPr lang="en-US" sz="1140" dirty="0"/>
          </a:p>
        </p:txBody>
      </p:sp>
      <p:sp>
        <p:nvSpPr>
          <p:cNvPr id="37" name="Text 35"/>
          <p:cNvSpPr/>
          <p:nvPr/>
        </p:nvSpPr>
        <p:spPr>
          <a:xfrm>
            <a:off x="2167128" y="3621024"/>
            <a:ext cx="13898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430,05</a:t>
            </a:r>
            <a:endParaRPr lang="en-US" sz="1140" dirty="0"/>
          </a:p>
        </p:txBody>
      </p:sp>
      <p:sp>
        <p:nvSpPr>
          <p:cNvPr id="38" name="Text 36"/>
          <p:cNvSpPr/>
          <p:nvPr/>
        </p:nvSpPr>
        <p:spPr>
          <a:xfrm>
            <a:off x="3557016" y="3621024"/>
            <a:ext cx="1261872"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442,02</a:t>
            </a:r>
            <a:endParaRPr lang="en-US" sz="1140" dirty="0"/>
          </a:p>
        </p:txBody>
      </p:sp>
      <p:sp>
        <p:nvSpPr>
          <p:cNvPr id="39" name="Text 37"/>
          <p:cNvSpPr/>
          <p:nvPr/>
        </p:nvSpPr>
        <p:spPr>
          <a:xfrm>
            <a:off x="4818888" y="3621024"/>
            <a:ext cx="111556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+11,97</a:t>
            </a:r>
            <a:endParaRPr lang="en-US" sz="1140" dirty="0"/>
          </a:p>
        </p:txBody>
      </p:sp>
      <p:sp>
        <p:nvSpPr>
          <p:cNvPr id="40" name="Text 38"/>
          <p:cNvSpPr/>
          <p:nvPr/>
        </p:nvSpPr>
        <p:spPr>
          <a:xfrm>
            <a:off x="5934456" y="3621024"/>
            <a:ext cx="27614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[+8,24; +15,34]</a:t>
            </a:r>
            <a:endParaRPr lang="en-US" sz="1140" dirty="0"/>
          </a:p>
        </p:txBody>
      </p:sp>
      <p:sp>
        <p:nvSpPr>
          <p:cNvPr id="41" name="Shape 39"/>
          <p:cNvSpPr/>
          <p:nvPr/>
        </p:nvSpPr>
        <p:spPr>
          <a:xfrm>
            <a:off x="658368" y="4005072"/>
            <a:ext cx="8037576" cy="0"/>
          </a:xfrm>
          <a:prstGeom prst="line">
            <a:avLst/>
          </a:prstGeom>
          <a:noFill/>
          <a:ln w="12700">
            <a:solidFill>
              <a:srgbClr val="D9D6DF"/>
            </a:solidFill>
            <a:prstDash val="solid"/>
            <a:tailEnd type="none"/>
          </a:ln>
        </p:spPr>
      </p:sp>
      <p:sp>
        <p:nvSpPr>
          <p:cNvPr id="42" name="Text 40"/>
          <p:cNvSpPr/>
          <p:nvPr/>
        </p:nvSpPr>
        <p:spPr>
          <a:xfrm>
            <a:off x="658368" y="4005072"/>
            <a:ext cx="1508760" cy="384048"/>
          </a:xfrm>
          <a:prstGeom prst="rect">
            <a:avLst/>
          </a:prstGeom>
          <a:noFill/>
          <a:ln/>
        </p:spPr>
        <p:txBody>
          <a:bodyPr wrap="square" lIns="0" tIns="0" rIns="0" bIns="0" rtlCol="0" anchor="ctr">
            <a:normAutofit/>
          </a:bodyPr>
          <a:lstStyle/>
          <a:p>
            <a:pPr algn="l" indent="0" marL="0">
              <a:buNone/>
            </a:pPr>
            <a:r>
              <a:rPr lang="en-US" sz="1140" dirty="0">
                <a:solidFill>
                  <a:srgbClr val="1A1A1A"/>
                </a:solidFill>
                <a:latin typeface="Cambria" pitchFamily="34" charset="0"/>
                <a:ea typeface="Cambria" pitchFamily="34" charset="-122"/>
                <a:cs typeface="Cambria" pitchFamily="34" charset="-120"/>
              </a:rPr>
              <a:t>SPICE</a:t>
            </a:r>
            <a:endParaRPr lang="en-US" sz="1140" dirty="0"/>
          </a:p>
        </p:txBody>
      </p:sp>
      <p:sp>
        <p:nvSpPr>
          <p:cNvPr id="43" name="Text 41"/>
          <p:cNvSpPr/>
          <p:nvPr/>
        </p:nvSpPr>
        <p:spPr>
          <a:xfrm>
            <a:off x="2167128" y="4005072"/>
            <a:ext cx="13898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45,79</a:t>
            </a:r>
            <a:endParaRPr lang="en-US" sz="1140" dirty="0"/>
          </a:p>
        </p:txBody>
      </p:sp>
      <p:sp>
        <p:nvSpPr>
          <p:cNvPr id="44" name="Text 42"/>
          <p:cNvSpPr/>
          <p:nvPr/>
        </p:nvSpPr>
        <p:spPr>
          <a:xfrm>
            <a:off x="3557016" y="4005072"/>
            <a:ext cx="1261872"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47,13</a:t>
            </a:r>
            <a:endParaRPr lang="en-US" sz="1140" dirty="0"/>
          </a:p>
        </p:txBody>
      </p:sp>
      <p:sp>
        <p:nvSpPr>
          <p:cNvPr id="45" name="Text 43"/>
          <p:cNvSpPr/>
          <p:nvPr/>
        </p:nvSpPr>
        <p:spPr>
          <a:xfrm>
            <a:off x="4818888" y="4005072"/>
            <a:ext cx="111556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+1,33</a:t>
            </a:r>
            <a:endParaRPr lang="en-US" sz="1140" dirty="0"/>
          </a:p>
        </p:txBody>
      </p:sp>
      <p:sp>
        <p:nvSpPr>
          <p:cNvPr id="46" name="Text 44"/>
          <p:cNvSpPr/>
          <p:nvPr/>
        </p:nvSpPr>
        <p:spPr>
          <a:xfrm>
            <a:off x="5934456" y="4005072"/>
            <a:ext cx="27614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[+0,92; +1,75]</a:t>
            </a:r>
            <a:endParaRPr lang="en-US" sz="1140" dirty="0"/>
          </a:p>
        </p:txBody>
      </p:sp>
      <p:sp>
        <p:nvSpPr>
          <p:cNvPr id="47" name="Shape 45"/>
          <p:cNvSpPr/>
          <p:nvPr/>
        </p:nvSpPr>
        <p:spPr>
          <a:xfrm>
            <a:off x="658368" y="4389120"/>
            <a:ext cx="8037576" cy="0"/>
          </a:xfrm>
          <a:prstGeom prst="line">
            <a:avLst/>
          </a:prstGeom>
          <a:noFill/>
          <a:ln w="12700">
            <a:solidFill>
              <a:srgbClr val="D9D6DF"/>
            </a:solidFill>
            <a:prstDash val="solid"/>
            <a:tailEnd type="none"/>
          </a:ln>
        </p:spPr>
      </p:sp>
      <p:sp>
        <p:nvSpPr>
          <p:cNvPr id="48" name="Text 46"/>
          <p:cNvSpPr/>
          <p:nvPr/>
        </p:nvSpPr>
        <p:spPr>
          <a:xfrm>
            <a:off x="658368" y="4389120"/>
            <a:ext cx="1508760" cy="384048"/>
          </a:xfrm>
          <a:prstGeom prst="rect">
            <a:avLst/>
          </a:prstGeom>
          <a:noFill/>
          <a:ln/>
        </p:spPr>
        <p:txBody>
          <a:bodyPr wrap="square" lIns="0" tIns="0" rIns="0" bIns="0" rtlCol="0" anchor="ctr">
            <a:normAutofit/>
          </a:bodyPr>
          <a:lstStyle/>
          <a:p>
            <a:pPr algn="l" indent="0" marL="0">
              <a:buNone/>
            </a:pPr>
            <a:r>
              <a:rPr lang="en-US" sz="1140" dirty="0">
                <a:solidFill>
                  <a:srgbClr val="1A1A1A"/>
                </a:solidFill>
                <a:latin typeface="Cambria" pitchFamily="34" charset="0"/>
                <a:ea typeface="Cambria" pitchFamily="34" charset="-122"/>
                <a:cs typeface="Cambria" pitchFamily="34" charset="-120"/>
              </a:rPr>
              <a:t>chrF</a:t>
            </a:r>
            <a:endParaRPr lang="en-US" sz="1140" dirty="0"/>
          </a:p>
        </p:txBody>
      </p:sp>
      <p:sp>
        <p:nvSpPr>
          <p:cNvPr id="49" name="Text 47"/>
          <p:cNvSpPr/>
          <p:nvPr/>
        </p:nvSpPr>
        <p:spPr>
          <a:xfrm>
            <a:off x="2167128" y="4389120"/>
            <a:ext cx="13898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62,87</a:t>
            </a:r>
            <a:endParaRPr lang="en-US" sz="1140" dirty="0"/>
          </a:p>
        </p:txBody>
      </p:sp>
      <p:sp>
        <p:nvSpPr>
          <p:cNvPr id="50" name="Text 48"/>
          <p:cNvSpPr/>
          <p:nvPr/>
        </p:nvSpPr>
        <p:spPr>
          <a:xfrm>
            <a:off x="3557016" y="4389120"/>
            <a:ext cx="1261872"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63,44</a:t>
            </a:r>
            <a:endParaRPr lang="en-US" sz="1140" dirty="0"/>
          </a:p>
        </p:txBody>
      </p:sp>
      <p:sp>
        <p:nvSpPr>
          <p:cNvPr id="51" name="Text 49"/>
          <p:cNvSpPr/>
          <p:nvPr/>
        </p:nvSpPr>
        <p:spPr>
          <a:xfrm>
            <a:off x="4818888" y="4389120"/>
            <a:ext cx="111556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+0,58</a:t>
            </a:r>
            <a:endParaRPr lang="en-US" sz="1140" dirty="0"/>
          </a:p>
        </p:txBody>
      </p:sp>
      <p:sp>
        <p:nvSpPr>
          <p:cNvPr id="52" name="Text 50"/>
          <p:cNvSpPr/>
          <p:nvPr/>
        </p:nvSpPr>
        <p:spPr>
          <a:xfrm>
            <a:off x="5934456" y="4389120"/>
            <a:ext cx="27614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[+0,37; +0,80]</a:t>
            </a:r>
            <a:endParaRPr lang="en-US" sz="1140" dirty="0"/>
          </a:p>
        </p:txBody>
      </p:sp>
      <p:sp>
        <p:nvSpPr>
          <p:cNvPr id="53" name="Shape 51"/>
          <p:cNvSpPr/>
          <p:nvPr/>
        </p:nvSpPr>
        <p:spPr>
          <a:xfrm>
            <a:off x="658368" y="4773168"/>
            <a:ext cx="8037576" cy="0"/>
          </a:xfrm>
          <a:prstGeom prst="line">
            <a:avLst/>
          </a:prstGeom>
          <a:noFill/>
          <a:ln w="12700">
            <a:solidFill>
              <a:srgbClr val="D9D6DF"/>
            </a:solidFill>
            <a:prstDash val="solid"/>
            <a:tailEnd type="none"/>
          </a:ln>
        </p:spPr>
      </p:sp>
      <p:sp>
        <p:nvSpPr>
          <p:cNvPr id="54" name="Text 52"/>
          <p:cNvSpPr/>
          <p:nvPr/>
        </p:nvSpPr>
        <p:spPr>
          <a:xfrm>
            <a:off x="658368" y="4773168"/>
            <a:ext cx="1508760" cy="384048"/>
          </a:xfrm>
          <a:prstGeom prst="rect">
            <a:avLst/>
          </a:prstGeom>
          <a:noFill/>
          <a:ln/>
        </p:spPr>
        <p:txBody>
          <a:bodyPr wrap="square" lIns="0" tIns="0" rIns="0" bIns="0" rtlCol="0" anchor="ctr">
            <a:normAutofit/>
          </a:bodyPr>
          <a:lstStyle/>
          <a:p>
            <a:pPr algn="l" indent="0" marL="0">
              <a:buNone/>
            </a:pPr>
            <a:r>
              <a:rPr lang="en-US" sz="1140" dirty="0">
                <a:solidFill>
                  <a:srgbClr val="1A1A1A"/>
                </a:solidFill>
                <a:latin typeface="Cambria" pitchFamily="34" charset="0"/>
                <a:ea typeface="Cambria" pitchFamily="34" charset="-122"/>
                <a:cs typeface="Cambria" pitchFamily="34" charset="-120"/>
              </a:rPr>
              <a:t>BERTScore</a:t>
            </a:r>
            <a:endParaRPr lang="en-US" sz="1140" dirty="0"/>
          </a:p>
        </p:txBody>
      </p:sp>
      <p:sp>
        <p:nvSpPr>
          <p:cNvPr id="55" name="Text 53"/>
          <p:cNvSpPr/>
          <p:nvPr/>
        </p:nvSpPr>
        <p:spPr>
          <a:xfrm>
            <a:off x="2167128" y="4773168"/>
            <a:ext cx="13898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67,07</a:t>
            </a:r>
            <a:endParaRPr lang="en-US" sz="1140" dirty="0"/>
          </a:p>
        </p:txBody>
      </p:sp>
      <p:sp>
        <p:nvSpPr>
          <p:cNvPr id="56" name="Text 54"/>
          <p:cNvSpPr/>
          <p:nvPr/>
        </p:nvSpPr>
        <p:spPr>
          <a:xfrm>
            <a:off x="3557016" y="4773168"/>
            <a:ext cx="1261872"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67,73</a:t>
            </a:r>
            <a:endParaRPr lang="en-US" sz="1140" dirty="0"/>
          </a:p>
        </p:txBody>
      </p:sp>
      <p:sp>
        <p:nvSpPr>
          <p:cNvPr id="57" name="Text 55"/>
          <p:cNvSpPr/>
          <p:nvPr/>
        </p:nvSpPr>
        <p:spPr>
          <a:xfrm>
            <a:off x="4818888" y="4773168"/>
            <a:ext cx="111556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+0,66</a:t>
            </a:r>
            <a:endParaRPr lang="en-US" sz="1140" dirty="0"/>
          </a:p>
        </p:txBody>
      </p:sp>
      <p:sp>
        <p:nvSpPr>
          <p:cNvPr id="58" name="Text 56"/>
          <p:cNvSpPr/>
          <p:nvPr/>
        </p:nvSpPr>
        <p:spPr>
          <a:xfrm>
            <a:off x="5934456" y="4773168"/>
            <a:ext cx="2761488" cy="384048"/>
          </a:xfrm>
          <a:prstGeom prst="rect">
            <a:avLst/>
          </a:prstGeom>
          <a:noFill/>
          <a:ln/>
        </p:spPr>
        <p:txBody>
          <a:bodyPr wrap="square" lIns="0" tIns="0" rIns="0" bIns="0" rtlCol="0" anchor="ctr">
            <a:normAutofit/>
          </a:bodyPr>
          <a:lstStyle/>
          <a:p>
            <a:pPr algn="ctr" indent="0" marL="0">
              <a:buNone/>
            </a:pPr>
            <a:r>
              <a:rPr lang="en-US" sz="1140" dirty="0">
                <a:solidFill>
                  <a:srgbClr val="1A1A1A"/>
                </a:solidFill>
                <a:latin typeface="Cambria" pitchFamily="34" charset="0"/>
                <a:ea typeface="Cambria" pitchFamily="34" charset="-122"/>
                <a:cs typeface="Cambria" pitchFamily="34" charset="-120"/>
              </a:rPr>
              <a:t>[+0,46; +0,86]</a:t>
            </a:r>
            <a:endParaRPr lang="en-US" sz="1140" dirty="0"/>
          </a:p>
        </p:txBody>
      </p:sp>
      <p:sp>
        <p:nvSpPr>
          <p:cNvPr id="59" name="Text 57"/>
          <p:cNvSpPr/>
          <p:nvPr/>
        </p:nvSpPr>
        <p:spPr>
          <a:xfrm>
            <a:off x="502920" y="5440680"/>
            <a:ext cx="8138160" cy="402336"/>
          </a:xfrm>
          <a:prstGeom prst="rect">
            <a:avLst/>
          </a:prstGeom>
          <a:noFill/>
          <a:ln/>
        </p:spPr>
        <p:txBody>
          <a:bodyPr wrap="square" lIns="0" tIns="0" rIns="0" bIns="0" rtlCol="0" anchor="ctr">
            <a:normAutofit/>
          </a:bodyPr>
          <a:lstStyle/>
          <a:p>
            <a:pPr algn="ctr" indent="0" marL="0">
              <a:buNone/>
            </a:pPr>
            <a:r>
              <a:rPr lang="en-US" sz="1300" b="1" dirty="0">
                <a:solidFill>
                  <a:srgbClr val="25194B"/>
                </a:solidFill>
                <a:latin typeface="Cambria" pitchFamily="34" charset="0"/>
                <a:ea typeface="Cambria" pitchFamily="34" charset="-122"/>
                <a:cs typeface="Cambria" pitchFamily="34" charset="-120"/>
              </a:rPr>
              <a:t>METEOR cũng tăng nhưng chưa có KTC. Sáu thước còn lại đều có khoảng tăng nằm trên 0.</a:t>
            </a:r>
            <a:endParaRPr lang="en-US" sz="1300" dirty="0"/>
          </a:p>
        </p:txBody>
      </p:sp>
      <p:sp>
        <p:nvSpPr>
          <p:cNvPr id="60" name="Text 58"/>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§6.4–§6.5</a:t>
            </a:r>
            <a:endParaRPr lang="en-US" sz="800" dirty="0"/>
          </a:p>
        </p:txBody>
      </p:sp>
      <p:sp>
        <p:nvSpPr>
          <p:cNvPr id="61" name="Shape 59"/>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62" name="Shape 60"/>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63" name="Shape 61"/>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64" name="Shape 62"/>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65" name="Text 6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66" name="Text 6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67" name="Text 6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68" name="Text 6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16/24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16. Hướng tăng được giữ dưới bốn công cụ đánh giá</a:t>
            </a:r>
            <a:endParaRPr lang="en-US" sz="2000" dirty="0"/>
          </a:p>
        </p:txBody>
      </p:sp>
      <p:sp>
        <p:nvSpPr>
          <p:cNvPr id="4" name="Text 2"/>
          <p:cNvSpPr/>
          <p:nvPr/>
        </p:nvSpPr>
        <p:spPr>
          <a:xfrm>
            <a:off x="502920" y="896112"/>
            <a:ext cx="8138160" cy="365760"/>
          </a:xfrm>
          <a:prstGeom prst="rect">
            <a:avLst/>
          </a:prstGeom>
          <a:noFill/>
          <a:ln/>
        </p:spPr>
        <p:txBody>
          <a:bodyPr wrap="square" lIns="0" tIns="0" rIns="0" bIns="0" rtlCol="0" anchor="ctr"/>
          <a:lstStyle/>
          <a:p>
            <a:pPr algn="ctr" indent="0" marL="0">
              <a:buNone/>
            </a:pPr>
            <a:r>
              <a:rPr lang="en-US" sz="1650" b="1" dirty="0">
                <a:solidFill>
                  <a:srgbClr val="25194B"/>
                </a:solidFill>
                <a:latin typeface="Cambria" pitchFamily="34" charset="0"/>
                <a:ea typeface="Cambria" pitchFamily="34" charset="-122"/>
                <a:cs typeface="Cambria" pitchFamily="34" charset="-120"/>
              </a:rPr>
              <a:t>Chênh lệch GRPO-SPICE − S1</a:t>
            </a:r>
            <a:endParaRPr lang="en-US" sz="1650" dirty="0"/>
          </a:p>
        </p:txBody>
      </p:sp>
      <p:sp>
        <p:nvSpPr>
          <p:cNvPr id="5" name="Text 3"/>
          <p:cNvSpPr/>
          <p:nvPr/>
        </p:nvSpPr>
        <p:spPr>
          <a:xfrm>
            <a:off x="594360" y="1572768"/>
            <a:ext cx="182880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+1,55</a:t>
            </a:r>
            <a:endParaRPr lang="en-US" sz="2400" dirty="0"/>
          </a:p>
        </p:txBody>
      </p:sp>
      <p:sp>
        <p:nvSpPr>
          <p:cNvPr id="6" name="Text 4"/>
          <p:cNvSpPr/>
          <p:nvPr/>
        </p:nvSpPr>
        <p:spPr>
          <a:xfrm>
            <a:off x="594360" y="2103120"/>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UGround</a:t>
            </a:r>
            <a:endParaRPr lang="en-US" sz="1250" dirty="0"/>
          </a:p>
        </p:txBody>
      </p:sp>
      <p:sp>
        <p:nvSpPr>
          <p:cNvPr id="7" name="Text 5"/>
          <p:cNvSpPr/>
          <p:nvPr/>
        </p:nvSpPr>
        <p:spPr>
          <a:xfrm>
            <a:off x="2670048" y="1572768"/>
            <a:ext cx="182880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+1,55</a:t>
            </a:r>
            <a:endParaRPr lang="en-US" sz="2400" dirty="0"/>
          </a:p>
        </p:txBody>
      </p:sp>
      <p:sp>
        <p:nvSpPr>
          <p:cNvPr id="8" name="Text 6"/>
          <p:cNvSpPr/>
          <p:nvPr/>
        </p:nvSpPr>
        <p:spPr>
          <a:xfrm>
            <a:off x="2670048" y="2103120"/>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UI-Venus</a:t>
            </a:r>
            <a:endParaRPr lang="en-US" sz="1250" dirty="0"/>
          </a:p>
        </p:txBody>
      </p:sp>
      <p:sp>
        <p:nvSpPr>
          <p:cNvPr id="9" name="Text 7"/>
          <p:cNvSpPr/>
          <p:nvPr/>
        </p:nvSpPr>
        <p:spPr>
          <a:xfrm>
            <a:off x="4745736" y="1572768"/>
            <a:ext cx="182880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+0,78</a:t>
            </a:r>
            <a:endParaRPr lang="en-US" sz="2400" dirty="0"/>
          </a:p>
        </p:txBody>
      </p:sp>
      <p:sp>
        <p:nvSpPr>
          <p:cNvPr id="10" name="Text 8"/>
          <p:cNvSpPr/>
          <p:nvPr/>
        </p:nvSpPr>
        <p:spPr>
          <a:xfrm>
            <a:off x="4745736" y="2103120"/>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Phi-Ground</a:t>
            </a:r>
            <a:endParaRPr lang="en-US" sz="1250" dirty="0"/>
          </a:p>
        </p:txBody>
      </p:sp>
      <p:sp>
        <p:nvSpPr>
          <p:cNvPr id="11" name="Text 9"/>
          <p:cNvSpPr/>
          <p:nvPr/>
        </p:nvSpPr>
        <p:spPr>
          <a:xfrm>
            <a:off x="6821424" y="1572768"/>
            <a:ext cx="182880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+0,69</a:t>
            </a:r>
            <a:endParaRPr lang="en-US" sz="2400" dirty="0"/>
          </a:p>
        </p:txBody>
      </p:sp>
      <p:sp>
        <p:nvSpPr>
          <p:cNvPr id="12" name="Text 10"/>
          <p:cNvSpPr/>
          <p:nvPr/>
        </p:nvSpPr>
        <p:spPr>
          <a:xfrm>
            <a:off x="6821424" y="2103120"/>
            <a:ext cx="182880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Phi-4</a:t>
            </a:r>
            <a:endParaRPr lang="en-US" sz="1250" dirty="0"/>
          </a:p>
        </p:txBody>
      </p:sp>
      <p:sp>
        <p:nvSpPr>
          <p:cNvPr id="13" name="Shape 11"/>
          <p:cNvSpPr/>
          <p:nvPr/>
        </p:nvSpPr>
        <p:spPr>
          <a:xfrm>
            <a:off x="502920" y="3072384"/>
            <a:ext cx="8138160" cy="1335024"/>
          </a:xfrm>
          <a:prstGeom prst="roundRect">
            <a:avLst/>
          </a:prstGeom>
          <a:solidFill>
            <a:srgbClr val="F3F2F5"/>
          </a:solidFill>
          <a:ln w="12700">
            <a:solidFill>
              <a:srgbClr val="7A7099"/>
            </a:solidFill>
            <a:prstDash val="solid"/>
          </a:ln>
        </p:spPr>
      </p:sp>
      <p:sp>
        <p:nvSpPr>
          <p:cNvPr id="14" name="Text 12"/>
          <p:cNvSpPr/>
          <p:nvPr/>
        </p:nvSpPr>
        <p:spPr>
          <a:xfrm>
            <a:off x="685800" y="3310128"/>
            <a:ext cx="7772400" cy="347472"/>
          </a:xfrm>
          <a:prstGeom prst="rect">
            <a:avLst/>
          </a:prstGeom>
          <a:noFill/>
          <a:ln/>
        </p:spPr>
        <p:txBody>
          <a:bodyPr wrap="square" lIns="0" tIns="0" rIns="0" bIns="0" rtlCol="0" anchor="ctr"/>
          <a:lstStyle/>
          <a:p>
            <a:pPr algn="ctr" indent="0" marL="0">
              <a:buNone/>
            </a:pPr>
            <a:r>
              <a:rPr lang="en-US" sz="1800" b="1" dirty="0">
                <a:solidFill>
                  <a:srgbClr val="25194B"/>
                </a:solidFill>
                <a:latin typeface="Cambria" pitchFamily="34" charset="0"/>
                <a:ea typeface="Cambria" pitchFamily="34" charset="-122"/>
                <a:cs typeface="Cambria" pitchFamily="34" charset="-120"/>
              </a:rPr>
              <a:t>KTC của cả bốn chênh lệch đều nằm trên 0.</a:t>
            </a:r>
            <a:endParaRPr lang="en-US" sz="1800" dirty="0"/>
          </a:p>
        </p:txBody>
      </p:sp>
      <p:sp>
        <p:nvSpPr>
          <p:cNvPr id="15" name="Text 13"/>
          <p:cNvSpPr/>
          <p:nvPr/>
        </p:nvSpPr>
        <p:spPr>
          <a:xfrm>
            <a:off x="758952" y="3767328"/>
            <a:ext cx="7626096" cy="347472"/>
          </a:xfrm>
          <a:prstGeom prst="rect">
            <a:avLst/>
          </a:prstGeom>
          <a:noFill/>
          <a:ln/>
        </p:spPr>
        <p:txBody>
          <a:bodyPr wrap="square" lIns="0" tIns="0" rIns="0" bIns="0" rtlCol="0" anchor="ctr"/>
          <a:lstStyle/>
          <a:p>
            <a:pPr algn="ctr" indent="0" marL="0">
              <a:buNone/>
            </a:pPr>
            <a:r>
              <a:rPr lang="en-US" sz="1350" dirty="0">
                <a:solidFill>
                  <a:srgbClr val="5A5A66"/>
                </a:solidFill>
                <a:latin typeface="Cambria" pitchFamily="34" charset="0"/>
                <a:ea typeface="Cambria" pitchFamily="34" charset="-122"/>
                <a:cs typeface="Cambria" pitchFamily="34" charset="-120"/>
              </a:rPr>
              <a:t>Phi-Ground và Phi-4 nằm ngoài họ Qwen; mức tăng nhỏ hơn nhưng vẫn giữ cùng chiều.</a:t>
            </a:r>
            <a:endParaRPr lang="en-US" sz="1350" dirty="0"/>
          </a:p>
        </p:txBody>
      </p:sp>
      <p:sp>
        <p:nvSpPr>
          <p:cNvPr id="16" name="Text 14"/>
          <p:cNvSpPr/>
          <p:nvPr/>
        </p:nvSpPr>
        <p:spPr>
          <a:xfrm>
            <a:off x="502920" y="5074920"/>
            <a:ext cx="8138160" cy="475488"/>
          </a:xfrm>
          <a:prstGeom prst="rect">
            <a:avLst/>
          </a:prstGeom>
          <a:noFill/>
          <a:ln/>
        </p:spPr>
        <p:txBody>
          <a:bodyPr wrap="square" lIns="0" tIns="0" rIns="0" bIns="0" rtlCol="0" anchor="ctr"/>
          <a:lstStyle/>
          <a:p>
            <a:pPr algn="ctr" indent="0" marL="0">
              <a:buNone/>
            </a:pPr>
            <a:r>
              <a:rPr lang="en-US" sz="1440" b="1" dirty="0">
                <a:solidFill>
                  <a:srgbClr val="25194B"/>
                </a:solidFill>
                <a:latin typeface="Cambria" pitchFamily="34" charset="0"/>
                <a:ea typeface="Cambria" pitchFamily="34" charset="-122"/>
                <a:cs typeface="Cambria" pitchFamily="34" charset="-120"/>
              </a:rPr>
              <a:t>Thứ tự chung Base &lt; S1 &lt; GRPO-SPICE ≈ ACE &lt; câu chuẩn được giữ qua các công cụ.</a:t>
            </a:r>
            <a:endParaRPr lang="en-US" sz="1440" dirty="0"/>
          </a:p>
        </p:txBody>
      </p:sp>
      <p:sp>
        <p:nvSpPr>
          <p:cNvPr id="17" name="Text 15"/>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§6.7.3</a:t>
            </a:r>
            <a:endParaRPr lang="en-US" sz="800" dirty="0"/>
          </a:p>
        </p:txBody>
      </p:sp>
      <p:sp>
        <p:nvSpPr>
          <p:cNvPr id="18" name="Shape 16"/>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9" name="Shape 17"/>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0" name="Shape 18"/>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1" name="Shape 19"/>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2"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3"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4"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5"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17/24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17. Kiểm tra khi thay điều kiện đầu vào và miền dữ liệu</a:t>
            </a:r>
            <a:endParaRPr lang="en-US" sz="2000" dirty="0"/>
          </a:p>
        </p:txBody>
      </p:sp>
      <p:sp>
        <p:nvSpPr>
          <p:cNvPr id="4" name="Shape 2"/>
          <p:cNvSpPr/>
          <p:nvPr/>
        </p:nvSpPr>
        <p:spPr>
          <a:xfrm>
            <a:off x="502920" y="1051560"/>
            <a:ext cx="3794760" cy="4206240"/>
          </a:xfrm>
          <a:prstGeom prst="roundRect">
            <a:avLst/>
          </a:prstGeom>
          <a:solidFill>
            <a:srgbClr val="F3F2F5"/>
          </a:solidFill>
          <a:ln w="12700">
            <a:solidFill>
              <a:srgbClr val="4F417A"/>
            </a:solidFill>
            <a:prstDash val="solid"/>
          </a:ln>
        </p:spPr>
      </p:sp>
      <p:sp>
        <p:nvSpPr>
          <p:cNvPr id="5" name="Text 3"/>
          <p:cNvSpPr/>
          <p:nvPr/>
        </p:nvSpPr>
        <p:spPr>
          <a:xfrm>
            <a:off x="685800" y="1298448"/>
            <a:ext cx="3429000" cy="365760"/>
          </a:xfrm>
          <a:prstGeom prst="rect">
            <a:avLst/>
          </a:prstGeom>
          <a:noFill/>
          <a:ln/>
        </p:spPr>
        <p:txBody>
          <a:bodyPr wrap="square" lIns="0" tIns="0" rIns="0" bIns="0" rtlCol="0" anchor="ctr"/>
          <a:lstStyle/>
          <a:p>
            <a:pPr algn="ctr" indent="0" marL="0">
              <a:buNone/>
            </a:pPr>
            <a:r>
              <a:rPr lang="en-US" sz="1600" b="1" dirty="0">
                <a:solidFill>
                  <a:srgbClr val="25194B"/>
                </a:solidFill>
                <a:latin typeface="Cambria" pitchFamily="34" charset="0"/>
                <a:ea typeface="Cambria" pitchFamily="34" charset="-122"/>
                <a:cs typeface="Cambria" pitchFamily="34" charset="-120"/>
              </a:rPr>
              <a:t>Lịch sử do mô hình tự sinh</a:t>
            </a:r>
            <a:endParaRPr lang="en-US" sz="1600" dirty="0"/>
          </a:p>
        </p:txBody>
      </p:sp>
      <p:sp>
        <p:nvSpPr>
          <p:cNvPr id="6" name="Text 4"/>
          <p:cNvSpPr/>
          <p:nvPr/>
        </p:nvSpPr>
        <p:spPr>
          <a:xfrm>
            <a:off x="1005840" y="1874520"/>
            <a:ext cx="278892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+1,48</a:t>
            </a:r>
            <a:endParaRPr lang="en-US" sz="2400" dirty="0"/>
          </a:p>
        </p:txBody>
      </p:sp>
      <p:sp>
        <p:nvSpPr>
          <p:cNvPr id="7" name="Text 5"/>
          <p:cNvSpPr/>
          <p:nvPr/>
        </p:nvSpPr>
        <p:spPr>
          <a:xfrm>
            <a:off x="1005840" y="2404872"/>
            <a:ext cx="278892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GRPO-SPICE − S1</a:t>
            </a:r>
            <a:endParaRPr lang="en-US" sz="1250" dirty="0"/>
          </a:p>
        </p:txBody>
      </p:sp>
      <p:sp>
        <p:nvSpPr>
          <p:cNvPr id="8" name="Text 6"/>
          <p:cNvSpPr/>
          <p:nvPr/>
        </p:nvSpPr>
        <p:spPr>
          <a:xfrm>
            <a:off x="914400" y="3090672"/>
            <a:ext cx="2971800" cy="292608"/>
          </a:xfrm>
          <a:prstGeom prst="rect">
            <a:avLst/>
          </a:prstGeom>
          <a:noFill/>
          <a:ln/>
        </p:spPr>
        <p:txBody>
          <a:bodyPr wrap="square" lIns="0" tIns="0" rIns="0" bIns="0" rtlCol="0" anchor="ctr"/>
          <a:lstStyle/>
          <a:p>
            <a:pPr algn="ctr" indent="0" marL="0">
              <a:buNone/>
            </a:pPr>
            <a:r>
              <a:rPr lang="en-US" sz="1320" b="1" dirty="0">
                <a:solidFill>
                  <a:srgbClr val="25194B"/>
                </a:solidFill>
                <a:latin typeface="Cambria" pitchFamily="34" charset="0"/>
                <a:ea typeface="Cambria" pitchFamily="34" charset="-122"/>
                <a:cs typeface="Cambria" pitchFamily="34" charset="-120"/>
              </a:rPr>
              <a:t>KTC 95% [+0,54; +2,43]</a:t>
            </a:r>
            <a:endParaRPr lang="en-US" sz="1320" dirty="0"/>
          </a:p>
        </p:txBody>
      </p:sp>
      <p:sp>
        <p:nvSpPr>
          <p:cNvPr id="9" name="Text 7"/>
          <p:cNvSpPr/>
          <p:nvPr/>
        </p:nvSpPr>
        <p:spPr>
          <a:xfrm>
            <a:off x="822960" y="3703320"/>
            <a:ext cx="3154680" cy="960120"/>
          </a:xfrm>
          <a:prstGeom prst="rect">
            <a:avLst/>
          </a:prstGeom>
          <a:noFill/>
          <a:ln/>
        </p:spPr>
        <p:txBody>
          <a:bodyPr wrap="square" lIns="0" tIns="0" rIns="0" bIns="0" rtlCol="0" anchor="ctr">
            <a:normAutofit/>
          </a:bodyPr>
          <a:lstStyle/>
          <a:p>
            <a:pPr algn="ctr" indent="0" marL="0">
              <a:buNone/>
            </a:pPr>
            <a:r>
              <a:rPr lang="en-US" sz="1350" dirty="0">
                <a:solidFill>
                  <a:srgbClr val="1A1A1A"/>
                </a:solidFill>
                <a:latin typeface="Cambria" pitchFamily="34" charset="0"/>
                <a:ea typeface="Cambria" pitchFamily="34" charset="-122"/>
                <a:cs typeface="Cambria" pitchFamily="34" charset="-120"/>
              </a:rPr>
              <a:t>Ưu thế về executability vẫn giữ khi lịch sử các bước trước không còn là câu chuẩn.</a:t>
            </a:r>
            <a:endParaRPr lang="en-US" sz="1350" dirty="0"/>
          </a:p>
        </p:txBody>
      </p:sp>
      <p:sp>
        <p:nvSpPr>
          <p:cNvPr id="10" name="Shape 8"/>
          <p:cNvSpPr/>
          <p:nvPr/>
        </p:nvSpPr>
        <p:spPr>
          <a:xfrm>
            <a:off x="4846320" y="1051560"/>
            <a:ext cx="3794760" cy="4206240"/>
          </a:xfrm>
          <a:prstGeom prst="roundRect">
            <a:avLst/>
          </a:prstGeom>
          <a:solidFill>
            <a:srgbClr val="F3F2F5"/>
          </a:solidFill>
          <a:ln w="12700">
            <a:solidFill>
              <a:srgbClr val="7A7099"/>
            </a:solidFill>
            <a:prstDash val="solid"/>
          </a:ln>
        </p:spPr>
      </p:sp>
      <p:sp>
        <p:nvSpPr>
          <p:cNvPr id="11" name="Text 9"/>
          <p:cNvSpPr/>
          <p:nvPr/>
        </p:nvSpPr>
        <p:spPr>
          <a:xfrm>
            <a:off x="5029200" y="1298448"/>
            <a:ext cx="3429000" cy="365760"/>
          </a:xfrm>
          <a:prstGeom prst="rect">
            <a:avLst/>
          </a:prstGeom>
          <a:noFill/>
          <a:ln/>
        </p:spPr>
        <p:txBody>
          <a:bodyPr wrap="square" lIns="0" tIns="0" rIns="0" bIns="0" rtlCol="0" anchor="ctr"/>
          <a:lstStyle/>
          <a:p>
            <a:pPr algn="ctr" indent="0" marL="0">
              <a:buNone/>
            </a:pPr>
            <a:r>
              <a:rPr lang="en-US" sz="1600" b="1" dirty="0">
                <a:solidFill>
                  <a:srgbClr val="25194B"/>
                </a:solidFill>
                <a:latin typeface="Cambria" pitchFamily="34" charset="0"/>
                <a:ea typeface="Cambria" pitchFamily="34" charset="-122"/>
                <a:cs typeface="Cambria" pitchFamily="34" charset="-120"/>
              </a:rPr>
              <a:t>Đổi miền sang AitZ</a:t>
            </a:r>
            <a:endParaRPr lang="en-US" sz="1600" dirty="0"/>
          </a:p>
        </p:txBody>
      </p:sp>
      <p:sp>
        <p:nvSpPr>
          <p:cNvPr id="12" name="Text 10"/>
          <p:cNvSpPr/>
          <p:nvPr/>
        </p:nvSpPr>
        <p:spPr>
          <a:xfrm>
            <a:off x="5349240" y="1874520"/>
            <a:ext cx="278892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+3,29</a:t>
            </a:r>
            <a:endParaRPr lang="en-US" sz="2400" dirty="0"/>
          </a:p>
        </p:txBody>
      </p:sp>
      <p:sp>
        <p:nvSpPr>
          <p:cNvPr id="13" name="Text 11"/>
          <p:cNvSpPr/>
          <p:nvPr/>
        </p:nvSpPr>
        <p:spPr>
          <a:xfrm>
            <a:off x="5349240" y="2404872"/>
            <a:ext cx="278892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S1 − Base</a:t>
            </a:r>
            <a:endParaRPr lang="en-US" sz="1250" dirty="0"/>
          </a:p>
        </p:txBody>
      </p:sp>
      <p:sp>
        <p:nvSpPr>
          <p:cNvPr id="14" name="Text 12"/>
          <p:cNvSpPr/>
          <p:nvPr/>
        </p:nvSpPr>
        <p:spPr>
          <a:xfrm>
            <a:off x="5166360" y="3017520"/>
            <a:ext cx="3154680" cy="621792"/>
          </a:xfrm>
          <a:prstGeom prst="rect">
            <a:avLst/>
          </a:prstGeom>
          <a:noFill/>
          <a:ln/>
        </p:spPr>
        <p:txBody>
          <a:bodyPr wrap="square" lIns="0" tIns="0" rIns="0" bIns="0" rtlCol="0" anchor="ctr">
            <a:normAutofit/>
          </a:bodyPr>
          <a:lstStyle/>
          <a:p>
            <a:pPr algn="ctr" indent="0" marL="0">
              <a:buNone/>
            </a:pPr>
            <a:r>
              <a:rPr lang="en-US" sz="1320" b="1" dirty="0">
                <a:solidFill>
                  <a:srgbClr val="7A7099"/>
                </a:solidFill>
                <a:latin typeface="Cambria" pitchFamily="34" charset="0"/>
                <a:ea typeface="Cambria" pitchFamily="34" charset="-122"/>
                <a:cs typeface="Cambria" pitchFamily="34" charset="-120"/>
              </a:rPr>
              <a:t>GRPO-SPICE và S1 tương đương về executability: −0,51 [−1,39; +0,36].</a:t>
            </a:r>
            <a:endParaRPr lang="en-US" sz="1320" dirty="0"/>
          </a:p>
        </p:txBody>
      </p:sp>
      <p:sp>
        <p:nvSpPr>
          <p:cNvPr id="15" name="Text 13"/>
          <p:cNvSpPr/>
          <p:nvPr/>
        </p:nvSpPr>
        <p:spPr>
          <a:xfrm>
            <a:off x="5166360" y="3840480"/>
            <a:ext cx="3154680" cy="914400"/>
          </a:xfrm>
          <a:prstGeom prst="rect">
            <a:avLst/>
          </a:prstGeom>
          <a:noFill/>
          <a:ln/>
        </p:spPr>
        <p:txBody>
          <a:bodyPr wrap="square" lIns="0" tIns="0" rIns="0" bIns="0" rtlCol="0" anchor="ctr">
            <a:normAutofit/>
          </a:bodyPr>
          <a:lstStyle/>
          <a:p>
            <a:pPr algn="ctr" indent="0" marL="0">
              <a:buNone/>
            </a:pPr>
            <a:r>
              <a:rPr lang="en-US" sz="1310" dirty="0">
                <a:solidFill>
                  <a:srgbClr val="1A1A1A"/>
                </a:solidFill>
                <a:latin typeface="Cambria" pitchFamily="34" charset="0"/>
                <a:ea typeface="Cambria" pitchFamily="34" charset="-122"/>
                <a:cs typeface="Cambria" pitchFamily="34" charset="-120"/>
              </a:rPr>
              <a:t>GRPO-SPICE vẫn cao hơn S1 ở 6/7 điểm thước chữ; SPICE, chrF và BLEU-4 có KTC nằm trên 0.</a:t>
            </a:r>
            <a:endParaRPr lang="en-US" sz="1310" dirty="0"/>
          </a:p>
        </p:txBody>
      </p:sp>
      <p:sp>
        <p:nvSpPr>
          <p:cNvPr id="16" name="Text 14"/>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§6.8 · AitZ</a:t>
            </a:r>
            <a:endParaRPr lang="en-US" sz="800" dirty="0"/>
          </a:p>
        </p:txBody>
      </p:sp>
      <p:sp>
        <p:nvSpPr>
          <p:cNvPr id="17" name="Shape 15"/>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8" name="Shape 16"/>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9" name="Shape 17"/>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0" name="Shape 18"/>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1"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3"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18/24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18. Các hướng đã khảo sát cho thấy nên tác động trực tiếp vào câu</a:t>
            </a:r>
            <a:endParaRPr lang="en-US" sz="2000" dirty="0"/>
          </a:p>
        </p:txBody>
      </p:sp>
      <p:sp>
        <p:nvSpPr>
          <p:cNvPr id="4" name="Shape 2"/>
          <p:cNvSpPr/>
          <p:nvPr/>
        </p:nvSpPr>
        <p:spPr>
          <a:xfrm>
            <a:off x="502920" y="960120"/>
            <a:ext cx="8138160" cy="420624"/>
          </a:xfrm>
          <a:prstGeom prst="rect">
            <a:avLst/>
          </a:prstGeom>
          <a:solidFill>
            <a:srgbClr val="25194B"/>
          </a:solidFill>
          <a:ln w="12700">
            <a:solidFill>
              <a:srgbClr val="25194B">
                <a:alpha val="0"/>
              </a:srgbClr>
            </a:solidFill>
            <a:prstDash val="solid"/>
          </a:ln>
        </p:spPr>
      </p:sp>
      <p:sp>
        <p:nvSpPr>
          <p:cNvPr id="5" name="Text 3"/>
          <p:cNvSpPr/>
          <p:nvPr/>
        </p:nvSpPr>
        <p:spPr>
          <a:xfrm>
            <a:off x="502920" y="960120"/>
            <a:ext cx="2514600" cy="420624"/>
          </a:xfrm>
          <a:prstGeom prst="rect">
            <a:avLst/>
          </a:prstGeom>
          <a:noFill/>
          <a:ln/>
        </p:spPr>
        <p:txBody>
          <a:bodyPr wrap="square" lIns="0" tIns="0" rIns="0" bIns="0" rtlCol="0" anchor="ctr">
            <a:normAutofit/>
          </a:bodyPr>
          <a:lstStyle/>
          <a:p>
            <a:pPr algn="l" indent="0" marL="0">
              <a:buNone/>
            </a:pPr>
            <a:r>
              <a:rPr lang="en-US" sz="1230" b="1" dirty="0">
                <a:solidFill>
                  <a:srgbClr val="FFFFFF"/>
                </a:solidFill>
                <a:latin typeface="Cambria" pitchFamily="34" charset="0"/>
                <a:ea typeface="Cambria" pitchFamily="34" charset="-122"/>
                <a:cs typeface="Cambria" pitchFamily="34" charset="-120"/>
              </a:rPr>
              <a:t>Hướng</a:t>
            </a:r>
            <a:endParaRPr lang="en-US" sz="1230" dirty="0"/>
          </a:p>
        </p:txBody>
      </p:sp>
      <p:sp>
        <p:nvSpPr>
          <p:cNvPr id="6" name="Text 4"/>
          <p:cNvSpPr/>
          <p:nvPr/>
        </p:nvSpPr>
        <p:spPr>
          <a:xfrm>
            <a:off x="3017520" y="960120"/>
            <a:ext cx="1097280" cy="420624"/>
          </a:xfrm>
          <a:prstGeom prst="rect">
            <a:avLst/>
          </a:prstGeom>
          <a:noFill/>
          <a:ln/>
        </p:spPr>
        <p:txBody>
          <a:bodyPr wrap="square" lIns="0" tIns="0" rIns="0" bIns="0" rtlCol="0" anchor="ctr">
            <a:normAutofit/>
          </a:bodyPr>
          <a:lstStyle/>
          <a:p>
            <a:pPr algn="ctr" indent="0" marL="0">
              <a:buNone/>
            </a:pPr>
            <a:r>
              <a:rPr lang="en-US" sz="1230" b="1" dirty="0">
                <a:solidFill>
                  <a:srgbClr val="FFFFFF"/>
                </a:solidFill>
                <a:latin typeface="Cambria" pitchFamily="34" charset="0"/>
                <a:ea typeface="Cambria" pitchFamily="34" charset="-122"/>
                <a:cs typeface="Cambria" pitchFamily="34" charset="-120"/>
              </a:rPr>
              <a:t>Exec.</a:t>
            </a:r>
            <a:endParaRPr lang="en-US" sz="1230" dirty="0"/>
          </a:p>
        </p:txBody>
      </p:sp>
      <p:sp>
        <p:nvSpPr>
          <p:cNvPr id="7" name="Text 5"/>
          <p:cNvSpPr/>
          <p:nvPr/>
        </p:nvSpPr>
        <p:spPr>
          <a:xfrm>
            <a:off x="4114800" y="960120"/>
            <a:ext cx="4526280" cy="420624"/>
          </a:xfrm>
          <a:prstGeom prst="rect">
            <a:avLst/>
          </a:prstGeom>
          <a:noFill/>
          <a:ln/>
        </p:spPr>
        <p:txBody>
          <a:bodyPr wrap="square" lIns="0" tIns="0" rIns="0" bIns="0" rtlCol="0" anchor="ctr">
            <a:normAutofit/>
          </a:bodyPr>
          <a:lstStyle/>
          <a:p>
            <a:pPr algn="l" indent="0" marL="0">
              <a:buNone/>
            </a:pPr>
            <a:r>
              <a:rPr lang="en-US" sz="1230" b="1" dirty="0">
                <a:solidFill>
                  <a:srgbClr val="FFFFFF"/>
                </a:solidFill>
                <a:latin typeface="Cambria" pitchFamily="34" charset="0"/>
                <a:ea typeface="Cambria" pitchFamily="34" charset="-122"/>
                <a:cs typeface="Cambria" pitchFamily="34" charset="-120"/>
              </a:rPr>
              <a:t>Điều rút ra</a:t>
            </a:r>
            <a:endParaRPr lang="en-US" sz="1230" dirty="0"/>
          </a:p>
        </p:txBody>
      </p:sp>
      <p:sp>
        <p:nvSpPr>
          <p:cNvPr id="8" name="Text 6"/>
          <p:cNvSpPr/>
          <p:nvPr/>
        </p:nvSpPr>
        <p:spPr>
          <a:xfrm>
            <a:off x="502920" y="1380744"/>
            <a:ext cx="251460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Mô tả phần tử trước câu</a:t>
            </a:r>
            <a:endParaRPr lang="en-US" sz="1210" dirty="0"/>
          </a:p>
        </p:txBody>
      </p:sp>
      <p:sp>
        <p:nvSpPr>
          <p:cNvPr id="9" name="Text 7"/>
          <p:cNvSpPr/>
          <p:nvPr/>
        </p:nvSpPr>
        <p:spPr>
          <a:xfrm>
            <a:off x="3017520" y="1380744"/>
            <a:ext cx="1097280" cy="585216"/>
          </a:xfrm>
          <a:prstGeom prst="rect">
            <a:avLst/>
          </a:prstGeom>
          <a:noFill/>
          <a:ln/>
        </p:spPr>
        <p:txBody>
          <a:bodyPr wrap="square" lIns="0" tIns="0" rIns="0" bIns="0" rtlCol="0" anchor="ctr">
            <a:normAutofit/>
          </a:bodyPr>
          <a:lstStyle/>
          <a:p>
            <a:pPr algn="ctr" indent="0" marL="0">
              <a:buNone/>
            </a:pPr>
            <a:r>
              <a:rPr lang="en-US" sz="1210" dirty="0">
                <a:solidFill>
                  <a:srgbClr val="1A1A1A"/>
                </a:solidFill>
                <a:latin typeface="Cambria" pitchFamily="34" charset="0"/>
                <a:ea typeface="Cambria" pitchFamily="34" charset="-122"/>
                <a:cs typeface="Cambria" pitchFamily="34" charset="-120"/>
              </a:rPr>
              <a:t>57,2</a:t>
            </a:r>
            <a:endParaRPr lang="en-US" sz="1210" dirty="0"/>
          </a:p>
        </p:txBody>
      </p:sp>
      <p:sp>
        <p:nvSpPr>
          <p:cNvPr id="10" name="Text 8"/>
          <p:cNvSpPr/>
          <p:nvPr/>
        </p:nvSpPr>
        <p:spPr>
          <a:xfrm>
            <a:off x="4114800" y="1380744"/>
            <a:ext cx="452628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Khi biểu diễn trung gian sai, câu cuối bị ảnh hưởng mạnh.</a:t>
            </a:r>
            <a:endParaRPr lang="en-US" sz="1210" dirty="0"/>
          </a:p>
        </p:txBody>
      </p:sp>
      <p:sp>
        <p:nvSpPr>
          <p:cNvPr id="11" name="Shape 9"/>
          <p:cNvSpPr/>
          <p:nvPr/>
        </p:nvSpPr>
        <p:spPr>
          <a:xfrm>
            <a:off x="502920" y="1965960"/>
            <a:ext cx="8138160" cy="0"/>
          </a:xfrm>
          <a:prstGeom prst="line">
            <a:avLst/>
          </a:prstGeom>
          <a:noFill/>
          <a:ln w="12700">
            <a:solidFill>
              <a:srgbClr val="D9D6DF"/>
            </a:solidFill>
            <a:prstDash val="solid"/>
            <a:tailEnd type="none"/>
          </a:ln>
        </p:spPr>
      </p:sp>
      <p:sp>
        <p:nvSpPr>
          <p:cNvPr id="12" name="Text 10"/>
          <p:cNvSpPr/>
          <p:nvPr/>
        </p:nvSpPr>
        <p:spPr>
          <a:xfrm>
            <a:off x="502920" y="1965960"/>
            <a:ext cx="251460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MIN-DESC</a:t>
            </a:r>
            <a:endParaRPr lang="en-US" sz="1210" dirty="0"/>
          </a:p>
        </p:txBody>
      </p:sp>
      <p:sp>
        <p:nvSpPr>
          <p:cNvPr id="13" name="Text 11"/>
          <p:cNvSpPr/>
          <p:nvPr/>
        </p:nvSpPr>
        <p:spPr>
          <a:xfrm>
            <a:off x="3017520" y="1965960"/>
            <a:ext cx="1097280" cy="585216"/>
          </a:xfrm>
          <a:prstGeom prst="rect">
            <a:avLst/>
          </a:prstGeom>
          <a:noFill/>
          <a:ln/>
        </p:spPr>
        <p:txBody>
          <a:bodyPr wrap="square" lIns="0" tIns="0" rIns="0" bIns="0" rtlCol="0" anchor="ctr">
            <a:normAutofit/>
          </a:bodyPr>
          <a:lstStyle/>
          <a:p>
            <a:pPr algn="ctr" indent="0" marL="0">
              <a:buNone/>
            </a:pPr>
            <a:r>
              <a:rPr lang="en-US" sz="1210" dirty="0">
                <a:solidFill>
                  <a:srgbClr val="1A1A1A"/>
                </a:solidFill>
                <a:latin typeface="Cambria" pitchFamily="34" charset="0"/>
                <a:ea typeface="Cambria" pitchFamily="34" charset="-122"/>
                <a:cs typeface="Cambria" pitchFamily="34" charset="-120"/>
              </a:rPr>
              <a:t>60,0</a:t>
            </a:r>
            <a:endParaRPr lang="en-US" sz="1210" dirty="0"/>
          </a:p>
        </p:txBody>
      </p:sp>
      <p:sp>
        <p:nvSpPr>
          <p:cNvPr id="14" name="Text 12"/>
          <p:cNvSpPr/>
          <p:nvPr/>
        </p:nvSpPr>
        <p:spPr>
          <a:xfrm>
            <a:off x="4114800" y="1965960"/>
            <a:ext cx="452628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Mục tiêu ưu tiên có đóng góp riêng +0,63 điểm so với học thêm có giám sát.</a:t>
            </a:r>
            <a:endParaRPr lang="en-US" sz="1210" dirty="0"/>
          </a:p>
        </p:txBody>
      </p:sp>
      <p:sp>
        <p:nvSpPr>
          <p:cNvPr id="15" name="Shape 13"/>
          <p:cNvSpPr/>
          <p:nvPr/>
        </p:nvSpPr>
        <p:spPr>
          <a:xfrm>
            <a:off x="502920" y="2551176"/>
            <a:ext cx="8138160" cy="0"/>
          </a:xfrm>
          <a:prstGeom prst="line">
            <a:avLst/>
          </a:prstGeom>
          <a:noFill/>
          <a:ln w="12700">
            <a:solidFill>
              <a:srgbClr val="D9D6DF"/>
            </a:solidFill>
            <a:prstDash val="solid"/>
            <a:tailEnd type="none"/>
          </a:ln>
        </p:spPr>
      </p:sp>
      <p:sp>
        <p:nvSpPr>
          <p:cNvPr id="16" name="Text 14"/>
          <p:cNvSpPr/>
          <p:nvPr/>
        </p:nvSpPr>
        <p:spPr>
          <a:xfrm>
            <a:off x="502920" y="2551176"/>
            <a:ext cx="251460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Phần thưởng tọa độ</a:t>
            </a:r>
            <a:endParaRPr lang="en-US" sz="1210" dirty="0"/>
          </a:p>
        </p:txBody>
      </p:sp>
      <p:sp>
        <p:nvSpPr>
          <p:cNvPr id="17" name="Text 15"/>
          <p:cNvSpPr/>
          <p:nvPr/>
        </p:nvSpPr>
        <p:spPr>
          <a:xfrm>
            <a:off x="3017520" y="2551176"/>
            <a:ext cx="1097280" cy="585216"/>
          </a:xfrm>
          <a:prstGeom prst="rect">
            <a:avLst/>
          </a:prstGeom>
          <a:noFill/>
          <a:ln/>
        </p:spPr>
        <p:txBody>
          <a:bodyPr wrap="square" lIns="0" tIns="0" rIns="0" bIns="0" rtlCol="0" anchor="ctr">
            <a:normAutofit/>
          </a:bodyPr>
          <a:lstStyle/>
          <a:p>
            <a:pPr algn="ctr" indent="0" marL="0">
              <a:buNone/>
            </a:pPr>
            <a:r>
              <a:rPr lang="en-US" sz="1210" dirty="0">
                <a:solidFill>
                  <a:srgbClr val="1A1A1A"/>
                </a:solidFill>
                <a:latin typeface="Cambria" pitchFamily="34" charset="0"/>
                <a:ea typeface="Cambria" pitchFamily="34" charset="-122"/>
                <a:cs typeface="Cambria" pitchFamily="34" charset="-120"/>
              </a:rPr>
              <a:t>60,1</a:t>
            </a:r>
            <a:endParaRPr lang="en-US" sz="1210" dirty="0"/>
          </a:p>
        </p:txBody>
      </p:sp>
      <p:sp>
        <p:nvSpPr>
          <p:cNvPr id="18" name="Text 16"/>
          <p:cNvSpPr/>
          <p:nvPr/>
        </p:nvSpPr>
        <p:spPr>
          <a:xfrm>
            <a:off x="4114800" y="2551176"/>
            <a:ext cx="452628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Biểu diễn tọa độ tốt hơn nhưng thay đổi ở câu cuối nhỏ hơn.</a:t>
            </a:r>
            <a:endParaRPr lang="en-US" sz="1210" dirty="0"/>
          </a:p>
        </p:txBody>
      </p:sp>
      <p:sp>
        <p:nvSpPr>
          <p:cNvPr id="19" name="Shape 17"/>
          <p:cNvSpPr/>
          <p:nvPr/>
        </p:nvSpPr>
        <p:spPr>
          <a:xfrm>
            <a:off x="502920" y="3136392"/>
            <a:ext cx="8138160" cy="0"/>
          </a:xfrm>
          <a:prstGeom prst="line">
            <a:avLst/>
          </a:prstGeom>
          <a:noFill/>
          <a:ln w="12700">
            <a:solidFill>
              <a:srgbClr val="D9D6DF"/>
            </a:solidFill>
            <a:prstDash val="solid"/>
            <a:tailEnd type="none"/>
          </a:ln>
        </p:spPr>
      </p:sp>
      <p:sp>
        <p:nvSpPr>
          <p:cNvPr id="20" name="Text 18"/>
          <p:cNvSpPr/>
          <p:nvPr/>
        </p:nvSpPr>
        <p:spPr>
          <a:xfrm>
            <a:off x="502920" y="3136392"/>
            <a:ext cx="251460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Chọn ứng viên</a:t>
            </a:r>
            <a:endParaRPr lang="en-US" sz="1210" dirty="0"/>
          </a:p>
        </p:txBody>
      </p:sp>
      <p:sp>
        <p:nvSpPr>
          <p:cNvPr id="21" name="Text 19"/>
          <p:cNvSpPr/>
          <p:nvPr/>
        </p:nvSpPr>
        <p:spPr>
          <a:xfrm>
            <a:off x="3017520" y="3136392"/>
            <a:ext cx="1097280" cy="585216"/>
          </a:xfrm>
          <a:prstGeom prst="rect">
            <a:avLst/>
          </a:prstGeom>
          <a:noFill/>
          <a:ln/>
        </p:spPr>
        <p:txBody>
          <a:bodyPr wrap="square" lIns="0" tIns="0" rIns="0" bIns="0" rtlCol="0" anchor="ctr">
            <a:normAutofit/>
          </a:bodyPr>
          <a:lstStyle/>
          <a:p>
            <a:pPr algn="ctr" indent="0" marL="0">
              <a:buNone/>
            </a:pPr>
            <a:r>
              <a:rPr lang="en-US" sz="1210" dirty="0">
                <a:solidFill>
                  <a:srgbClr val="1A1A1A"/>
                </a:solidFill>
                <a:latin typeface="Cambria" pitchFamily="34" charset="0"/>
                <a:ea typeface="Cambria" pitchFamily="34" charset="-122"/>
                <a:cs typeface="Cambria" pitchFamily="34" charset="-120"/>
              </a:rPr>
              <a:t>56,1</a:t>
            </a:r>
            <a:endParaRPr lang="en-US" sz="1210" dirty="0"/>
          </a:p>
        </p:txBody>
      </p:sp>
      <p:sp>
        <p:nvSpPr>
          <p:cNvPr id="22" name="Text 20"/>
          <p:cNvSpPr/>
          <p:nvPr/>
        </p:nvSpPr>
        <p:spPr>
          <a:xfrm>
            <a:off x="4114800" y="3136392"/>
            <a:ext cx="452628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Khi thực sự chọn, chất lượng khá tốt; vấn đề nằm ở quyết định từ chối chọn.</a:t>
            </a:r>
            <a:endParaRPr lang="en-US" sz="1210" dirty="0"/>
          </a:p>
        </p:txBody>
      </p:sp>
      <p:sp>
        <p:nvSpPr>
          <p:cNvPr id="23" name="Shape 21"/>
          <p:cNvSpPr/>
          <p:nvPr/>
        </p:nvSpPr>
        <p:spPr>
          <a:xfrm>
            <a:off x="502920" y="3721608"/>
            <a:ext cx="8138160" cy="0"/>
          </a:xfrm>
          <a:prstGeom prst="line">
            <a:avLst/>
          </a:prstGeom>
          <a:noFill/>
          <a:ln w="12700">
            <a:solidFill>
              <a:srgbClr val="D9D6DF"/>
            </a:solidFill>
            <a:prstDash val="solid"/>
            <a:tailEnd type="none"/>
          </a:ln>
        </p:spPr>
      </p:sp>
      <p:sp>
        <p:nvSpPr>
          <p:cNvPr id="24" name="Text 22"/>
          <p:cNvSpPr/>
          <p:nvPr/>
        </p:nvSpPr>
        <p:spPr>
          <a:xfrm>
            <a:off x="502920" y="3721608"/>
            <a:ext cx="251460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TAGE</a:t>
            </a:r>
            <a:endParaRPr lang="en-US" sz="1210" dirty="0"/>
          </a:p>
        </p:txBody>
      </p:sp>
      <p:sp>
        <p:nvSpPr>
          <p:cNvPr id="25" name="Text 23"/>
          <p:cNvSpPr/>
          <p:nvPr/>
        </p:nvSpPr>
        <p:spPr>
          <a:xfrm>
            <a:off x="3017520" y="3721608"/>
            <a:ext cx="1097280" cy="585216"/>
          </a:xfrm>
          <a:prstGeom prst="rect">
            <a:avLst/>
          </a:prstGeom>
          <a:noFill/>
          <a:ln/>
        </p:spPr>
        <p:txBody>
          <a:bodyPr wrap="square" lIns="0" tIns="0" rIns="0" bIns="0" rtlCol="0" anchor="ctr">
            <a:normAutofit/>
          </a:bodyPr>
          <a:lstStyle/>
          <a:p>
            <a:pPr algn="ctr" indent="0" marL="0">
              <a:buNone/>
            </a:pPr>
            <a:r>
              <a:rPr lang="en-US" sz="1210" dirty="0">
                <a:solidFill>
                  <a:srgbClr val="1A1A1A"/>
                </a:solidFill>
                <a:latin typeface="Cambria" pitchFamily="34" charset="0"/>
                <a:ea typeface="Cambria" pitchFamily="34" charset="-122"/>
                <a:cs typeface="Cambria" pitchFamily="34" charset="-120"/>
              </a:rPr>
              <a:t>60,2</a:t>
            </a:r>
            <a:endParaRPr lang="en-US" sz="1210" dirty="0"/>
          </a:p>
        </p:txBody>
      </p:sp>
      <p:sp>
        <p:nvSpPr>
          <p:cNvPr id="26" name="Text 24"/>
          <p:cNvSpPr/>
          <p:nvPr/>
        </p:nvSpPr>
        <p:spPr>
          <a:xfrm>
            <a:off x="4114800" y="3721608"/>
            <a:ext cx="4526280" cy="585216"/>
          </a:xfrm>
          <a:prstGeom prst="rect">
            <a:avLst/>
          </a:prstGeom>
          <a:noFill/>
          <a:ln/>
        </p:spPr>
        <p:txBody>
          <a:bodyPr wrap="square" lIns="0" tIns="0" rIns="0" bIns="0" rtlCol="0" anchor="ctr">
            <a:normAutofit/>
          </a:bodyPr>
          <a:lstStyle/>
          <a:p>
            <a:pPr algn="l" indent="0" marL="0">
              <a:buNone/>
            </a:pPr>
            <a:r>
              <a:rPr lang="en-US" sz="1210" dirty="0">
                <a:solidFill>
                  <a:srgbClr val="1A1A1A"/>
                </a:solidFill>
                <a:latin typeface="Cambria" pitchFamily="34" charset="0"/>
                <a:ea typeface="Cambria" pitchFamily="34" charset="-122"/>
                <a:cs typeface="Cambria" pitchFamily="34" charset="-120"/>
              </a:rPr>
              <a:t>Bộ biên tập có ích khi vùng cắt đúng; khâu chọn vùng còn là điểm cần cải thiện.</a:t>
            </a:r>
            <a:endParaRPr lang="en-US" sz="1210" dirty="0"/>
          </a:p>
        </p:txBody>
      </p:sp>
      <p:sp>
        <p:nvSpPr>
          <p:cNvPr id="27" name="Shape 25"/>
          <p:cNvSpPr/>
          <p:nvPr/>
        </p:nvSpPr>
        <p:spPr>
          <a:xfrm>
            <a:off x="502920" y="4892040"/>
            <a:ext cx="8138160" cy="713232"/>
          </a:xfrm>
          <a:prstGeom prst="roundRect">
            <a:avLst/>
          </a:prstGeom>
          <a:solidFill>
            <a:srgbClr val="F3F2F5"/>
          </a:solidFill>
          <a:ln w="12700">
            <a:solidFill>
              <a:srgbClr val="7A7099"/>
            </a:solidFill>
            <a:prstDash val="solid"/>
          </a:ln>
        </p:spPr>
      </p:sp>
      <p:sp>
        <p:nvSpPr>
          <p:cNvPr id="28" name="Text 26"/>
          <p:cNvSpPr/>
          <p:nvPr/>
        </p:nvSpPr>
        <p:spPr>
          <a:xfrm>
            <a:off x="685800" y="4892040"/>
            <a:ext cx="7772400" cy="713232"/>
          </a:xfrm>
          <a:prstGeom prst="rect">
            <a:avLst/>
          </a:prstGeom>
          <a:noFill/>
          <a:ln/>
        </p:spPr>
        <p:txBody>
          <a:bodyPr wrap="square" lIns="0" tIns="0" rIns="0" bIns="0" rtlCol="0" anchor="ctr">
            <a:normAutofit/>
          </a:bodyPr>
          <a:lstStyle/>
          <a:p>
            <a:pPr algn="ctr" indent="0" marL="0">
              <a:buNone/>
            </a:pPr>
            <a:r>
              <a:rPr lang="en-US" sz="1400" b="1" dirty="0">
                <a:solidFill>
                  <a:srgbClr val="25194B"/>
                </a:solidFill>
                <a:latin typeface="Cambria" pitchFamily="34" charset="0"/>
                <a:ea typeface="Cambria" pitchFamily="34" charset="-122"/>
                <a:cs typeface="Cambria" pitchFamily="34" charset="-120"/>
              </a:rPr>
              <a:t>Bài học thiết kế: tối ưu trực tiếp câu cuối và chỉ dùng bước trung gian khi có cơ chế chọn lọc rõ ràng.</a:t>
            </a:r>
            <a:endParaRPr lang="en-US" sz="1400" dirty="0"/>
          </a:p>
        </p:txBody>
      </p:sp>
      <p:sp>
        <p:nvSpPr>
          <p:cNvPr id="29" name="Text 27"/>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§6.10, Phụ lục A</a:t>
            </a:r>
            <a:endParaRPr lang="en-US" sz="800" dirty="0"/>
          </a:p>
        </p:txBody>
      </p:sp>
      <p:sp>
        <p:nvSpPr>
          <p:cNvPr id="30" name="Shape 28"/>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31" name="Shape 29"/>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32" name="Shape 30"/>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33" name="Shape 31"/>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34" name="Text 3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5" name="Text 3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6" name="Text 3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7" name="Text 3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19/24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19. Vì sao có thể tin mức cải thiện quan sát được?</a:t>
            </a:r>
            <a:endParaRPr lang="en-US" sz="2000" dirty="0"/>
          </a:p>
        </p:txBody>
      </p:sp>
      <p:sp>
        <p:nvSpPr>
          <p:cNvPr id="4" name="Shape 2"/>
          <p:cNvSpPr/>
          <p:nvPr/>
        </p:nvSpPr>
        <p:spPr>
          <a:xfrm>
            <a:off x="502920" y="1207008"/>
            <a:ext cx="4023360" cy="1627632"/>
          </a:xfrm>
          <a:prstGeom prst="roundRect">
            <a:avLst/>
          </a:prstGeom>
          <a:solidFill>
            <a:srgbClr val="F3F2F5"/>
          </a:solidFill>
          <a:ln w="12700">
            <a:solidFill>
              <a:srgbClr val="4F417A"/>
            </a:solidFill>
            <a:prstDash val="solid"/>
          </a:ln>
        </p:spPr>
      </p:sp>
      <p:sp>
        <p:nvSpPr>
          <p:cNvPr id="5" name="Text 3"/>
          <p:cNvSpPr/>
          <p:nvPr/>
        </p:nvSpPr>
        <p:spPr>
          <a:xfrm>
            <a:off x="649224" y="1353312"/>
            <a:ext cx="438912" cy="438912"/>
          </a:xfrm>
          <a:prstGeom prst="rect">
            <a:avLst/>
          </a:prstGeom>
          <a:noFill/>
          <a:ln/>
        </p:spPr>
        <p:txBody>
          <a:bodyPr wrap="square" lIns="0" tIns="0" rIns="0" bIns="0" rtlCol="0" anchor="ctr"/>
          <a:lstStyle/>
          <a:p>
            <a:pPr algn="ctr" indent="0" marL="0">
              <a:buNone/>
            </a:pPr>
            <a:r>
              <a:rPr lang="en-US" sz="2200" b="1" dirty="0">
                <a:solidFill>
                  <a:srgbClr val="25194B"/>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161288" y="1371600"/>
            <a:ext cx="3154680" cy="347472"/>
          </a:xfrm>
          <a:prstGeom prst="rect">
            <a:avLst/>
          </a:prstGeom>
          <a:noFill/>
          <a:ln/>
        </p:spPr>
        <p:txBody>
          <a:bodyPr wrap="square" lIns="0" tIns="0" rIns="0" bIns="0" rtlCol="0" anchor="ctr"/>
          <a:lstStyle/>
          <a:p>
            <a:pPr indent="0" marL="0">
              <a:buNone/>
            </a:pPr>
            <a:r>
              <a:rPr lang="en-US" sz="1440" b="1" dirty="0">
                <a:solidFill>
                  <a:srgbClr val="25194B"/>
                </a:solidFill>
                <a:latin typeface="Cambria" pitchFamily="34" charset="0"/>
                <a:ea typeface="Cambria" pitchFamily="34" charset="-122"/>
                <a:cs typeface="Cambria" pitchFamily="34" charset="-120"/>
              </a:rPr>
              <a:t>Cùng số bước huấn luyện</a:t>
            </a:r>
            <a:endParaRPr lang="en-US" sz="1440" dirty="0"/>
          </a:p>
        </p:txBody>
      </p:sp>
      <p:sp>
        <p:nvSpPr>
          <p:cNvPr id="7" name="Text 5"/>
          <p:cNvSpPr/>
          <p:nvPr/>
        </p:nvSpPr>
        <p:spPr>
          <a:xfrm>
            <a:off x="1161288" y="1828800"/>
            <a:ext cx="3108960" cy="777240"/>
          </a:xfrm>
          <a:prstGeom prst="rect">
            <a:avLst/>
          </a:prstGeom>
          <a:noFill/>
          <a:ln/>
        </p:spPr>
        <p:txBody>
          <a:bodyPr wrap="square" lIns="0" tIns="0" rIns="0" bIns="0" rtlCol="0" anchor="ctr">
            <a:normAutofit/>
          </a:bodyPr>
          <a:lstStyle/>
          <a:p>
            <a:pPr indent="0" marL="0">
              <a:buNone/>
            </a:pPr>
            <a:r>
              <a:rPr lang="en-US" sz="1320" dirty="0">
                <a:solidFill>
                  <a:srgbClr val="1A1A1A"/>
                </a:solidFill>
                <a:latin typeface="Cambria" pitchFamily="34" charset="0"/>
                <a:ea typeface="Cambria" pitchFamily="34" charset="-122"/>
                <a:cs typeface="Cambria" pitchFamily="34" charset="-120"/>
              </a:rPr>
              <a:t>Nhánh thưởng xáo chạy cùng 500 bước nhưng quay về mức S1.</a:t>
            </a:r>
            <a:endParaRPr lang="en-US" sz="1320" dirty="0"/>
          </a:p>
        </p:txBody>
      </p:sp>
      <p:sp>
        <p:nvSpPr>
          <p:cNvPr id="8" name="Shape 6"/>
          <p:cNvSpPr/>
          <p:nvPr/>
        </p:nvSpPr>
        <p:spPr>
          <a:xfrm>
            <a:off x="4617720" y="1207008"/>
            <a:ext cx="4023360" cy="1627632"/>
          </a:xfrm>
          <a:prstGeom prst="roundRect">
            <a:avLst/>
          </a:prstGeom>
          <a:solidFill>
            <a:srgbClr val="F3F2F5"/>
          </a:solidFill>
          <a:ln w="12700">
            <a:solidFill>
              <a:srgbClr val="4F417A"/>
            </a:solidFill>
            <a:prstDash val="solid"/>
          </a:ln>
        </p:spPr>
      </p:sp>
      <p:sp>
        <p:nvSpPr>
          <p:cNvPr id="9" name="Text 7"/>
          <p:cNvSpPr/>
          <p:nvPr/>
        </p:nvSpPr>
        <p:spPr>
          <a:xfrm>
            <a:off x="4764024" y="1353312"/>
            <a:ext cx="438912" cy="438912"/>
          </a:xfrm>
          <a:prstGeom prst="rect">
            <a:avLst/>
          </a:prstGeom>
          <a:noFill/>
          <a:ln/>
        </p:spPr>
        <p:txBody>
          <a:bodyPr wrap="square" lIns="0" tIns="0" rIns="0" bIns="0" rtlCol="0" anchor="ctr"/>
          <a:lstStyle/>
          <a:p>
            <a:pPr algn="ctr" indent="0" marL="0">
              <a:buNone/>
            </a:pPr>
            <a:r>
              <a:rPr lang="en-US" sz="2200" b="1" dirty="0">
                <a:solidFill>
                  <a:srgbClr val="25194B"/>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5276088" y="1371600"/>
            <a:ext cx="3154680" cy="347472"/>
          </a:xfrm>
          <a:prstGeom prst="rect">
            <a:avLst/>
          </a:prstGeom>
          <a:noFill/>
          <a:ln/>
        </p:spPr>
        <p:txBody>
          <a:bodyPr wrap="square" lIns="0" tIns="0" rIns="0" bIns="0" rtlCol="0" anchor="ctr"/>
          <a:lstStyle/>
          <a:p>
            <a:pPr indent="0" marL="0">
              <a:buNone/>
            </a:pPr>
            <a:r>
              <a:rPr lang="en-US" sz="1440" b="1" dirty="0">
                <a:solidFill>
                  <a:srgbClr val="25194B"/>
                </a:solidFill>
                <a:latin typeface="Cambria" pitchFamily="34" charset="0"/>
                <a:ea typeface="Cambria" pitchFamily="34" charset="-122"/>
                <a:cs typeface="Cambria" pitchFamily="34" charset="-120"/>
              </a:rPr>
              <a:t>Không chỉ một lượt huấn luyện</a:t>
            </a:r>
            <a:endParaRPr lang="en-US" sz="1440" dirty="0"/>
          </a:p>
        </p:txBody>
      </p:sp>
      <p:sp>
        <p:nvSpPr>
          <p:cNvPr id="11" name="Text 9"/>
          <p:cNvSpPr/>
          <p:nvPr/>
        </p:nvSpPr>
        <p:spPr>
          <a:xfrm>
            <a:off x="5276088" y="1828800"/>
            <a:ext cx="3108960" cy="777240"/>
          </a:xfrm>
          <a:prstGeom prst="rect">
            <a:avLst/>
          </a:prstGeom>
          <a:noFill/>
          <a:ln/>
        </p:spPr>
        <p:txBody>
          <a:bodyPr wrap="square" lIns="0" tIns="0" rIns="0" bIns="0" rtlCol="0" anchor="ctr">
            <a:normAutofit/>
          </a:bodyPr>
          <a:lstStyle/>
          <a:p>
            <a:pPr indent="0" marL="0">
              <a:buNone/>
            </a:pPr>
            <a:r>
              <a:rPr lang="en-US" sz="1320" dirty="0">
                <a:solidFill>
                  <a:srgbClr val="1A1A1A"/>
                </a:solidFill>
                <a:latin typeface="Cambria" pitchFamily="34" charset="0"/>
                <a:ea typeface="Cambria" pitchFamily="34" charset="-122"/>
                <a:cs typeface="Cambria" pitchFamily="34" charset="-120"/>
              </a:rPr>
              <a:t>Hai lượt GRPO cùng cao hơn S1; trên ACU cả hai tăng khoảng 4 điểm.</a:t>
            </a:r>
            <a:endParaRPr lang="en-US" sz="1320" dirty="0"/>
          </a:p>
        </p:txBody>
      </p:sp>
      <p:sp>
        <p:nvSpPr>
          <p:cNvPr id="12" name="Shape 10"/>
          <p:cNvSpPr/>
          <p:nvPr/>
        </p:nvSpPr>
        <p:spPr>
          <a:xfrm>
            <a:off x="502920" y="3172968"/>
            <a:ext cx="4023360" cy="1627632"/>
          </a:xfrm>
          <a:prstGeom prst="roundRect">
            <a:avLst/>
          </a:prstGeom>
          <a:solidFill>
            <a:srgbClr val="F3F2F5"/>
          </a:solidFill>
          <a:ln w="12700">
            <a:solidFill>
              <a:srgbClr val="7A7099"/>
            </a:solidFill>
            <a:prstDash val="solid"/>
          </a:ln>
        </p:spPr>
      </p:sp>
      <p:sp>
        <p:nvSpPr>
          <p:cNvPr id="13" name="Text 11"/>
          <p:cNvSpPr/>
          <p:nvPr/>
        </p:nvSpPr>
        <p:spPr>
          <a:xfrm>
            <a:off x="649224" y="3319272"/>
            <a:ext cx="438912" cy="438912"/>
          </a:xfrm>
          <a:prstGeom prst="rect">
            <a:avLst/>
          </a:prstGeom>
          <a:noFill/>
          <a:ln/>
        </p:spPr>
        <p:txBody>
          <a:bodyPr wrap="square" lIns="0" tIns="0" rIns="0" bIns="0" rtlCol="0" anchor="ctr"/>
          <a:lstStyle/>
          <a:p>
            <a:pPr algn="ctr" indent="0" marL="0">
              <a:buNone/>
            </a:pPr>
            <a:r>
              <a:rPr lang="en-US" sz="2200" b="1" dirty="0">
                <a:solidFill>
                  <a:srgbClr val="25194B"/>
                </a:solidFill>
                <a:latin typeface="Cambria" pitchFamily="34" charset="0"/>
                <a:ea typeface="Cambria" pitchFamily="34" charset="-122"/>
                <a:cs typeface="Cambria" pitchFamily="34" charset="-120"/>
              </a:rPr>
              <a:t>3</a:t>
            </a:r>
            <a:endParaRPr lang="en-US" sz="2200" dirty="0"/>
          </a:p>
        </p:txBody>
      </p:sp>
      <p:sp>
        <p:nvSpPr>
          <p:cNvPr id="14" name="Text 12"/>
          <p:cNvSpPr/>
          <p:nvPr/>
        </p:nvSpPr>
        <p:spPr>
          <a:xfrm>
            <a:off x="1161288" y="3337560"/>
            <a:ext cx="3154680" cy="347472"/>
          </a:xfrm>
          <a:prstGeom prst="rect">
            <a:avLst/>
          </a:prstGeom>
          <a:noFill/>
          <a:ln/>
        </p:spPr>
        <p:txBody>
          <a:bodyPr wrap="square" lIns="0" tIns="0" rIns="0" bIns="0" rtlCol="0" anchor="ctr"/>
          <a:lstStyle/>
          <a:p>
            <a:pPr indent="0" marL="0">
              <a:buNone/>
            </a:pPr>
            <a:r>
              <a:rPr lang="en-US" sz="1440" b="1" dirty="0">
                <a:solidFill>
                  <a:srgbClr val="25194B"/>
                </a:solidFill>
                <a:latin typeface="Cambria" pitchFamily="34" charset="0"/>
                <a:ea typeface="Cambria" pitchFamily="34" charset="-122"/>
                <a:cs typeface="Cambria" pitchFamily="34" charset="-120"/>
              </a:rPr>
              <a:t>Không phải một bộ chấm</a:t>
            </a:r>
            <a:endParaRPr lang="en-US" sz="1440" dirty="0"/>
          </a:p>
        </p:txBody>
      </p:sp>
      <p:sp>
        <p:nvSpPr>
          <p:cNvPr id="15" name="Text 13"/>
          <p:cNvSpPr/>
          <p:nvPr/>
        </p:nvSpPr>
        <p:spPr>
          <a:xfrm>
            <a:off x="1161288" y="3794760"/>
            <a:ext cx="3108960" cy="777240"/>
          </a:xfrm>
          <a:prstGeom prst="rect">
            <a:avLst/>
          </a:prstGeom>
          <a:noFill/>
          <a:ln/>
        </p:spPr>
        <p:txBody>
          <a:bodyPr wrap="square" lIns="0" tIns="0" rIns="0" bIns="0" rtlCol="0" anchor="ctr">
            <a:normAutofit/>
          </a:bodyPr>
          <a:lstStyle/>
          <a:p>
            <a:pPr indent="0" marL="0">
              <a:buNone/>
            </a:pPr>
            <a:r>
              <a:rPr lang="en-US" sz="1320" dirty="0">
                <a:solidFill>
                  <a:srgbClr val="1A1A1A"/>
                </a:solidFill>
                <a:latin typeface="Cambria" pitchFamily="34" charset="0"/>
                <a:ea typeface="Cambria" pitchFamily="34" charset="-122"/>
                <a:cs typeface="Cambria" pitchFamily="34" charset="-120"/>
              </a:rPr>
              <a:t>Chiều tăng giữ dưới 4 công cụ và nhiều luật đánh giá.</a:t>
            </a:r>
            <a:endParaRPr lang="en-US" sz="1320" dirty="0"/>
          </a:p>
        </p:txBody>
      </p:sp>
      <p:sp>
        <p:nvSpPr>
          <p:cNvPr id="16" name="Shape 14"/>
          <p:cNvSpPr/>
          <p:nvPr/>
        </p:nvSpPr>
        <p:spPr>
          <a:xfrm>
            <a:off x="4617720" y="3172968"/>
            <a:ext cx="4023360" cy="1627632"/>
          </a:xfrm>
          <a:prstGeom prst="roundRect">
            <a:avLst/>
          </a:prstGeom>
          <a:solidFill>
            <a:srgbClr val="F3F2F5"/>
          </a:solidFill>
          <a:ln w="12700">
            <a:solidFill>
              <a:srgbClr val="7A7099"/>
            </a:solidFill>
            <a:prstDash val="solid"/>
          </a:ln>
        </p:spPr>
      </p:sp>
      <p:sp>
        <p:nvSpPr>
          <p:cNvPr id="17" name="Text 15"/>
          <p:cNvSpPr/>
          <p:nvPr/>
        </p:nvSpPr>
        <p:spPr>
          <a:xfrm>
            <a:off x="4764024" y="3319272"/>
            <a:ext cx="438912" cy="438912"/>
          </a:xfrm>
          <a:prstGeom prst="rect">
            <a:avLst/>
          </a:prstGeom>
          <a:noFill/>
          <a:ln/>
        </p:spPr>
        <p:txBody>
          <a:bodyPr wrap="square" lIns="0" tIns="0" rIns="0" bIns="0" rtlCol="0" anchor="ctr"/>
          <a:lstStyle/>
          <a:p>
            <a:pPr algn="ctr" indent="0" marL="0">
              <a:buNone/>
            </a:pPr>
            <a:r>
              <a:rPr lang="en-US" sz="2200" b="1" dirty="0">
                <a:solidFill>
                  <a:srgbClr val="25194B"/>
                </a:solidFill>
                <a:latin typeface="Cambria" pitchFamily="34" charset="0"/>
                <a:ea typeface="Cambria" pitchFamily="34" charset="-122"/>
                <a:cs typeface="Cambria" pitchFamily="34" charset="-120"/>
              </a:rPr>
              <a:t>4</a:t>
            </a:r>
            <a:endParaRPr lang="en-US" sz="2200" dirty="0"/>
          </a:p>
        </p:txBody>
      </p:sp>
      <p:sp>
        <p:nvSpPr>
          <p:cNvPr id="18" name="Text 16"/>
          <p:cNvSpPr/>
          <p:nvPr/>
        </p:nvSpPr>
        <p:spPr>
          <a:xfrm>
            <a:off x="5276088" y="3337560"/>
            <a:ext cx="3154680" cy="347472"/>
          </a:xfrm>
          <a:prstGeom prst="rect">
            <a:avLst/>
          </a:prstGeom>
          <a:noFill/>
          <a:ln/>
        </p:spPr>
        <p:txBody>
          <a:bodyPr wrap="square" lIns="0" tIns="0" rIns="0" bIns="0" rtlCol="0" anchor="ctr"/>
          <a:lstStyle/>
          <a:p>
            <a:pPr indent="0" marL="0">
              <a:buNone/>
            </a:pPr>
            <a:r>
              <a:rPr lang="en-US" sz="1440" b="1" dirty="0">
                <a:solidFill>
                  <a:srgbClr val="25194B"/>
                </a:solidFill>
                <a:latin typeface="Cambria" pitchFamily="34" charset="0"/>
                <a:ea typeface="Cambria" pitchFamily="34" charset="-122"/>
                <a:cs typeface="Cambria" pitchFamily="34" charset="-120"/>
              </a:rPr>
              <a:t>Giữ trên tác vụ mới</a:t>
            </a:r>
            <a:endParaRPr lang="en-US" sz="1440" dirty="0"/>
          </a:p>
        </p:txBody>
      </p:sp>
      <p:sp>
        <p:nvSpPr>
          <p:cNvPr id="19" name="Text 17"/>
          <p:cNvSpPr/>
          <p:nvPr/>
        </p:nvSpPr>
        <p:spPr>
          <a:xfrm>
            <a:off x="5276088" y="3794760"/>
            <a:ext cx="3108960" cy="777240"/>
          </a:xfrm>
          <a:prstGeom prst="rect">
            <a:avLst/>
          </a:prstGeom>
          <a:noFill/>
          <a:ln/>
        </p:spPr>
        <p:txBody>
          <a:bodyPr wrap="square" lIns="0" tIns="0" rIns="0" bIns="0" rtlCol="0" anchor="ctr">
            <a:normAutofit/>
          </a:bodyPr>
          <a:lstStyle/>
          <a:p>
            <a:pPr indent="0" marL="0">
              <a:buNone/>
            </a:pPr>
            <a:r>
              <a:rPr lang="en-US" sz="1320" dirty="0">
                <a:solidFill>
                  <a:srgbClr val="1A1A1A"/>
                </a:solidFill>
                <a:latin typeface="Cambria" pitchFamily="34" charset="0"/>
                <a:ea typeface="Cambria" pitchFamily="34" charset="-122"/>
                <a:cs typeface="Cambria" pitchFamily="34" charset="-120"/>
              </a:rPr>
              <a:t>ACU: +4,58 điểm trên các tác vụ không có trong tập dạy S1.</a:t>
            </a:r>
            <a:endParaRPr lang="en-US" sz="1320" dirty="0"/>
          </a:p>
        </p:txBody>
      </p:sp>
      <p:sp>
        <p:nvSpPr>
          <p:cNvPr id="20" name="Text 18"/>
          <p:cNvSpPr/>
          <p:nvPr/>
        </p:nvSpPr>
        <p:spPr>
          <a:xfrm>
            <a:off x="502920" y="5321808"/>
            <a:ext cx="8138160" cy="457200"/>
          </a:xfrm>
          <a:prstGeom prst="rect">
            <a:avLst/>
          </a:prstGeom>
          <a:noFill/>
          <a:ln/>
        </p:spPr>
        <p:txBody>
          <a:bodyPr wrap="square" lIns="0" tIns="0" rIns="0" bIns="0" rtlCol="0" anchor="ctr">
            <a:normAutofit/>
          </a:bodyPr>
          <a:lstStyle/>
          <a:p>
            <a:pPr algn="ctr" indent="0" marL="0">
              <a:buNone/>
            </a:pPr>
            <a:r>
              <a:rPr lang="en-US" sz="1360" b="1" dirty="0">
                <a:solidFill>
                  <a:srgbClr val="25194B"/>
                </a:solidFill>
                <a:latin typeface="Cambria" pitchFamily="34" charset="0"/>
                <a:ea typeface="Cambria" pitchFamily="34" charset="-122"/>
                <a:cs typeface="Cambria" pitchFamily="34" charset="-120"/>
              </a:rPr>
              <a:t>Chuỗi kết quả này bổ sung bằng chứng rằng mức tăng trên AndroidControl gắn với tín hiệu SPICE và được giữ khi thay điều kiện đánh giá.</a:t>
            </a:r>
            <a:endParaRPr lang="en-US" sz="1360" dirty="0"/>
          </a:p>
        </p:txBody>
      </p:sp>
      <p:sp>
        <p:nvSpPr>
          <p:cNvPr id="21" name="Text 19"/>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6</a:t>
            </a:r>
            <a:endParaRPr lang="en-US" sz="800" dirty="0"/>
          </a:p>
        </p:txBody>
      </p:sp>
      <p:sp>
        <p:nvSpPr>
          <p:cNvPr id="22" name="Shape 20"/>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3" name="Shape 21"/>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4" name="Shape 22"/>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5" name="Shape 23"/>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6" name="Text 2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7" name="Text 2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8" name="Text 2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9" name="Text 2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20/24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20. Phạm vi kết luận và hướng mở rộng</a:t>
            </a:r>
            <a:endParaRPr lang="en-US" sz="2000" dirty="0"/>
          </a:p>
        </p:txBody>
      </p:sp>
      <p:sp>
        <p:nvSpPr>
          <p:cNvPr id="4" name="Text 2"/>
          <p:cNvSpPr/>
          <p:nvPr/>
        </p:nvSpPr>
        <p:spPr>
          <a:xfrm>
            <a:off x="502920" y="868680"/>
            <a:ext cx="1828800" cy="320040"/>
          </a:xfrm>
          <a:prstGeom prst="rect">
            <a:avLst/>
          </a:prstGeom>
          <a:noFill/>
          <a:ln/>
        </p:spPr>
        <p:txBody>
          <a:bodyPr wrap="square" lIns="0" tIns="0" rIns="0" bIns="0" rtlCol="0" anchor="ctr"/>
          <a:lstStyle/>
          <a:p>
            <a:pPr indent="0" marL="0">
              <a:buNone/>
            </a:pPr>
            <a:r>
              <a:rPr lang="en-US" sz="1700" b="1" dirty="0">
                <a:solidFill>
                  <a:srgbClr val="25194B"/>
                </a:solidFill>
                <a:latin typeface="Cambria" pitchFamily="34" charset="0"/>
                <a:ea typeface="Cambria" pitchFamily="34" charset="-122"/>
                <a:cs typeface="Cambria" pitchFamily="34" charset="-120"/>
              </a:rPr>
              <a:t>Phạm vi hiện tại</a:t>
            </a:r>
            <a:endParaRPr lang="en-US" sz="1700" dirty="0"/>
          </a:p>
        </p:txBody>
      </p:sp>
      <p:sp>
        <p:nvSpPr>
          <p:cNvPr id="5" name="Shape 3"/>
          <p:cNvSpPr/>
          <p:nvPr/>
        </p:nvSpPr>
        <p:spPr>
          <a:xfrm>
            <a:off x="521208" y="1417320"/>
            <a:ext cx="64008" cy="64008"/>
          </a:xfrm>
          <a:prstGeom prst="ellipse">
            <a:avLst/>
          </a:prstGeom>
          <a:solidFill>
            <a:srgbClr val="4F417A"/>
          </a:solidFill>
          <a:ln w="12700">
            <a:solidFill>
              <a:srgbClr val="4F417A">
                <a:alpha val="0"/>
              </a:srgbClr>
            </a:solidFill>
            <a:prstDash val="solid"/>
          </a:ln>
        </p:spPr>
      </p:sp>
      <p:sp>
        <p:nvSpPr>
          <p:cNvPr id="6" name="Text 4"/>
          <p:cNvSpPr/>
          <p:nvPr/>
        </p:nvSpPr>
        <p:spPr>
          <a:xfrm>
            <a:off x="713232" y="1280160"/>
            <a:ext cx="7927848" cy="548640"/>
          </a:xfrm>
          <a:prstGeom prst="rect">
            <a:avLst/>
          </a:prstGeom>
          <a:noFill/>
          <a:ln/>
        </p:spPr>
        <p:txBody>
          <a:bodyPr wrap="square" lIns="0" tIns="0" rIns="0" bIns="0" rtlCol="0" anchor="t">
            <a:normAutofit/>
          </a:bodyPr>
          <a:lstStyle/>
          <a:p>
            <a:pPr indent="0" marL="0">
              <a:lnSpc>
                <a:spcPct val="112000"/>
              </a:lnSpc>
              <a:buNone/>
            </a:pPr>
            <a:r>
              <a:rPr lang="en-US" sz="1380" dirty="0">
                <a:solidFill>
                  <a:srgbClr val="1A1A1A"/>
                </a:solidFill>
                <a:latin typeface="Cambria" pitchFamily="34" charset="0"/>
                <a:ea typeface="Cambria" pitchFamily="34" charset="-122"/>
                <a:cs typeface="Cambria" pitchFamily="34" charset="-120"/>
              </a:rPr>
              <a:t>Kết luận chính về executability tập trung vào các bước có thao tác chạm.</a:t>
            </a:r>
            <a:endParaRPr lang="en-US" sz="1380" dirty="0"/>
          </a:p>
        </p:txBody>
      </p:sp>
      <p:sp>
        <p:nvSpPr>
          <p:cNvPr id="7" name="Shape 5"/>
          <p:cNvSpPr/>
          <p:nvPr/>
        </p:nvSpPr>
        <p:spPr>
          <a:xfrm>
            <a:off x="521208" y="2075688"/>
            <a:ext cx="64008" cy="64008"/>
          </a:xfrm>
          <a:prstGeom prst="ellipse">
            <a:avLst/>
          </a:prstGeom>
          <a:solidFill>
            <a:srgbClr val="4F417A"/>
          </a:solidFill>
          <a:ln w="12700">
            <a:solidFill>
              <a:srgbClr val="4F417A">
                <a:alpha val="0"/>
              </a:srgbClr>
            </a:solidFill>
            <a:prstDash val="solid"/>
          </a:ln>
        </p:spPr>
      </p:sp>
      <p:sp>
        <p:nvSpPr>
          <p:cNvPr id="8" name="Text 6"/>
          <p:cNvSpPr/>
          <p:nvPr/>
        </p:nvSpPr>
        <p:spPr>
          <a:xfrm>
            <a:off x="713232" y="1938528"/>
            <a:ext cx="7927848" cy="548640"/>
          </a:xfrm>
          <a:prstGeom prst="rect">
            <a:avLst/>
          </a:prstGeom>
          <a:noFill/>
          <a:ln/>
        </p:spPr>
        <p:txBody>
          <a:bodyPr wrap="square" lIns="0" tIns="0" rIns="0" bIns="0" rtlCol="0" anchor="t">
            <a:normAutofit/>
          </a:bodyPr>
          <a:lstStyle/>
          <a:p>
            <a:pPr indent="0" marL="0">
              <a:lnSpc>
                <a:spcPct val="112000"/>
              </a:lnSpc>
              <a:buNone/>
            </a:pPr>
            <a:r>
              <a:rPr lang="en-US" sz="1380" dirty="0">
                <a:solidFill>
                  <a:srgbClr val="1A1A1A"/>
                </a:solidFill>
                <a:latin typeface="Cambria" pitchFamily="34" charset="0"/>
                <a:ea typeface="Cambria" pitchFamily="34" charset="-122"/>
                <a:cs typeface="Cambria" pitchFamily="34" charset="-120"/>
              </a:rPr>
              <a:t>Thực nghiệm chính dùng AndroidControl tiếng Anh và backbone Qwen2.5-VL-3B.</a:t>
            </a:r>
            <a:endParaRPr lang="en-US" sz="1380" dirty="0"/>
          </a:p>
        </p:txBody>
      </p:sp>
      <p:sp>
        <p:nvSpPr>
          <p:cNvPr id="9" name="Shape 7"/>
          <p:cNvSpPr/>
          <p:nvPr/>
        </p:nvSpPr>
        <p:spPr>
          <a:xfrm>
            <a:off x="521208" y="2734056"/>
            <a:ext cx="64008" cy="64008"/>
          </a:xfrm>
          <a:prstGeom prst="ellipse">
            <a:avLst/>
          </a:prstGeom>
          <a:solidFill>
            <a:srgbClr val="4F417A"/>
          </a:solidFill>
          <a:ln w="12700">
            <a:solidFill>
              <a:srgbClr val="4F417A">
                <a:alpha val="0"/>
              </a:srgbClr>
            </a:solidFill>
            <a:prstDash val="solid"/>
          </a:ln>
        </p:spPr>
      </p:sp>
      <p:sp>
        <p:nvSpPr>
          <p:cNvPr id="10" name="Text 8"/>
          <p:cNvSpPr/>
          <p:nvPr/>
        </p:nvSpPr>
        <p:spPr>
          <a:xfrm>
            <a:off x="713232" y="2596896"/>
            <a:ext cx="7927848" cy="548640"/>
          </a:xfrm>
          <a:prstGeom prst="rect">
            <a:avLst/>
          </a:prstGeom>
          <a:noFill/>
          <a:ln/>
        </p:spPr>
        <p:txBody>
          <a:bodyPr wrap="square" lIns="0" tIns="0" rIns="0" bIns="0" rtlCol="0" anchor="t">
            <a:normAutofit/>
          </a:bodyPr>
          <a:lstStyle/>
          <a:p>
            <a:pPr indent="0" marL="0">
              <a:lnSpc>
                <a:spcPct val="112000"/>
              </a:lnSpc>
              <a:buNone/>
            </a:pPr>
            <a:r>
              <a:rPr lang="en-US" sz="1380" dirty="0">
                <a:solidFill>
                  <a:srgbClr val="1A1A1A"/>
                </a:solidFill>
                <a:latin typeface="Cambria" pitchFamily="34" charset="0"/>
                <a:ea typeface="Cambria" pitchFamily="34" charset="-122"/>
                <a:cs typeface="Cambria" pitchFamily="34" charset="-120"/>
              </a:rPr>
              <a:t>AitZ cho thấy lợi ích bổ sung của SPICE phụ thuộc vào phân phối câu chuẩn.</a:t>
            </a:r>
            <a:endParaRPr lang="en-US" sz="1380" dirty="0"/>
          </a:p>
        </p:txBody>
      </p:sp>
      <p:sp>
        <p:nvSpPr>
          <p:cNvPr id="11" name="Text 9"/>
          <p:cNvSpPr/>
          <p:nvPr/>
        </p:nvSpPr>
        <p:spPr>
          <a:xfrm>
            <a:off x="502920" y="3429000"/>
            <a:ext cx="1828800" cy="320040"/>
          </a:xfrm>
          <a:prstGeom prst="rect">
            <a:avLst/>
          </a:prstGeom>
          <a:noFill/>
          <a:ln/>
        </p:spPr>
        <p:txBody>
          <a:bodyPr wrap="square" lIns="0" tIns="0" rIns="0" bIns="0" rtlCol="0" anchor="ctr"/>
          <a:lstStyle/>
          <a:p>
            <a:pPr indent="0" marL="0">
              <a:buNone/>
            </a:pPr>
            <a:r>
              <a:rPr lang="en-US" sz="1700" b="1" dirty="0">
                <a:solidFill>
                  <a:srgbClr val="25194B"/>
                </a:solidFill>
                <a:latin typeface="Cambria" pitchFamily="34" charset="0"/>
                <a:ea typeface="Cambria" pitchFamily="34" charset="-122"/>
                <a:cs typeface="Cambria" pitchFamily="34" charset="-120"/>
              </a:rPr>
              <a:t>Hướng mở rộng</a:t>
            </a:r>
            <a:endParaRPr lang="en-US" sz="1700" dirty="0"/>
          </a:p>
        </p:txBody>
      </p:sp>
      <p:sp>
        <p:nvSpPr>
          <p:cNvPr id="12" name="Shape 10"/>
          <p:cNvSpPr/>
          <p:nvPr/>
        </p:nvSpPr>
        <p:spPr>
          <a:xfrm>
            <a:off x="521208" y="3977640"/>
            <a:ext cx="64008" cy="64008"/>
          </a:xfrm>
          <a:prstGeom prst="ellipse">
            <a:avLst/>
          </a:prstGeom>
          <a:solidFill>
            <a:srgbClr val="4F417A"/>
          </a:solidFill>
          <a:ln w="12700">
            <a:solidFill>
              <a:srgbClr val="4F417A">
                <a:alpha val="0"/>
              </a:srgbClr>
            </a:solidFill>
            <a:prstDash val="solid"/>
          </a:ln>
        </p:spPr>
      </p:sp>
      <p:sp>
        <p:nvSpPr>
          <p:cNvPr id="13" name="Text 11"/>
          <p:cNvSpPr/>
          <p:nvPr/>
        </p:nvSpPr>
        <p:spPr>
          <a:xfrm>
            <a:off x="713232" y="3840480"/>
            <a:ext cx="7927848" cy="548640"/>
          </a:xfrm>
          <a:prstGeom prst="rect">
            <a:avLst/>
          </a:prstGeom>
          <a:noFill/>
          <a:ln/>
        </p:spPr>
        <p:txBody>
          <a:bodyPr wrap="square" lIns="0" tIns="0" rIns="0" bIns="0" rtlCol="0" anchor="t">
            <a:normAutofit/>
          </a:bodyPr>
          <a:lstStyle/>
          <a:p>
            <a:pPr indent="0" marL="0">
              <a:lnSpc>
                <a:spcPct val="112000"/>
              </a:lnSpc>
              <a:buNone/>
            </a:pPr>
            <a:r>
              <a:rPr lang="en-US" sz="1380" dirty="0">
                <a:solidFill>
                  <a:srgbClr val="1A1A1A"/>
                </a:solidFill>
                <a:latin typeface="Cambria" pitchFamily="34" charset="0"/>
                <a:ea typeface="Cambria" pitchFamily="34" charset="-122"/>
                <a:cs typeface="Cambria" pitchFamily="34" charset="-120"/>
              </a:rPr>
              <a:t>Mở rộng sang nhiều miền giao diện, câu chuẩn do người viết và giao diện tiếng Việt.</a:t>
            </a:r>
            <a:endParaRPr lang="en-US" sz="1380" dirty="0"/>
          </a:p>
        </p:txBody>
      </p:sp>
      <p:sp>
        <p:nvSpPr>
          <p:cNvPr id="14" name="Shape 12"/>
          <p:cNvSpPr/>
          <p:nvPr/>
        </p:nvSpPr>
        <p:spPr>
          <a:xfrm>
            <a:off x="521208" y="4636008"/>
            <a:ext cx="64008" cy="64008"/>
          </a:xfrm>
          <a:prstGeom prst="ellipse">
            <a:avLst/>
          </a:prstGeom>
          <a:solidFill>
            <a:srgbClr val="4F417A"/>
          </a:solidFill>
          <a:ln w="12700">
            <a:solidFill>
              <a:srgbClr val="4F417A">
                <a:alpha val="0"/>
              </a:srgbClr>
            </a:solidFill>
            <a:prstDash val="solid"/>
          </a:ln>
        </p:spPr>
      </p:sp>
      <p:sp>
        <p:nvSpPr>
          <p:cNvPr id="15" name="Text 13"/>
          <p:cNvSpPr/>
          <p:nvPr/>
        </p:nvSpPr>
        <p:spPr>
          <a:xfrm>
            <a:off x="713232" y="4498848"/>
            <a:ext cx="7927848" cy="548640"/>
          </a:xfrm>
          <a:prstGeom prst="rect">
            <a:avLst/>
          </a:prstGeom>
          <a:noFill/>
          <a:ln/>
        </p:spPr>
        <p:txBody>
          <a:bodyPr wrap="square" lIns="0" tIns="0" rIns="0" bIns="0" rtlCol="0" anchor="t">
            <a:normAutofit/>
          </a:bodyPr>
          <a:lstStyle/>
          <a:p>
            <a:pPr indent="0" marL="0">
              <a:lnSpc>
                <a:spcPct val="112000"/>
              </a:lnSpc>
              <a:buNone/>
            </a:pPr>
            <a:r>
              <a:rPr lang="en-US" sz="1380" dirty="0">
                <a:solidFill>
                  <a:srgbClr val="1A1A1A"/>
                </a:solidFill>
                <a:latin typeface="Cambria" pitchFamily="34" charset="0"/>
                <a:ea typeface="Cambria" pitchFamily="34" charset="-122"/>
                <a:cs typeface="Cambria" pitchFamily="34" charset="-120"/>
              </a:rPr>
              <a:t>Tăng độ bao phủ cho thao tác ngoài thao tác chạm và chuỗi nhiều màn hình.</a:t>
            </a:r>
            <a:endParaRPr lang="en-US" sz="1380" dirty="0"/>
          </a:p>
        </p:txBody>
      </p:sp>
      <p:sp>
        <p:nvSpPr>
          <p:cNvPr id="16" name="Shape 14"/>
          <p:cNvSpPr/>
          <p:nvPr/>
        </p:nvSpPr>
        <p:spPr>
          <a:xfrm>
            <a:off x="521208" y="5294376"/>
            <a:ext cx="64008" cy="64008"/>
          </a:xfrm>
          <a:prstGeom prst="ellipse">
            <a:avLst/>
          </a:prstGeom>
          <a:solidFill>
            <a:srgbClr val="4F417A"/>
          </a:solidFill>
          <a:ln w="12700">
            <a:solidFill>
              <a:srgbClr val="4F417A">
                <a:alpha val="0"/>
              </a:srgbClr>
            </a:solidFill>
            <a:prstDash val="solid"/>
          </a:ln>
        </p:spPr>
      </p:sp>
      <p:sp>
        <p:nvSpPr>
          <p:cNvPr id="17" name="Text 15"/>
          <p:cNvSpPr/>
          <p:nvPr/>
        </p:nvSpPr>
        <p:spPr>
          <a:xfrm>
            <a:off x="713232" y="5157216"/>
            <a:ext cx="7927848" cy="548640"/>
          </a:xfrm>
          <a:prstGeom prst="rect">
            <a:avLst/>
          </a:prstGeom>
          <a:noFill/>
          <a:ln/>
        </p:spPr>
        <p:txBody>
          <a:bodyPr wrap="square" lIns="0" tIns="0" rIns="0" bIns="0" rtlCol="0" anchor="t">
            <a:normAutofit/>
          </a:bodyPr>
          <a:lstStyle/>
          <a:p>
            <a:pPr indent="0" marL="0">
              <a:lnSpc>
                <a:spcPct val="112000"/>
              </a:lnSpc>
              <a:buNone/>
            </a:pPr>
            <a:r>
              <a:rPr lang="en-US" sz="1380" dirty="0">
                <a:solidFill>
                  <a:srgbClr val="1A1A1A"/>
                </a:solidFill>
                <a:latin typeface="Cambria" pitchFamily="34" charset="0"/>
                <a:ea typeface="Cambria" pitchFamily="34" charset="-122"/>
                <a:cs typeface="Cambria" pitchFamily="34" charset="-120"/>
              </a:rPr>
              <a:t>Lặp thêm lượt huấn luyện để ước lượng chính xác hơn độ biến thiên của mức tăng.</a:t>
            </a:r>
            <a:endParaRPr lang="en-US" sz="1380" dirty="0"/>
          </a:p>
        </p:txBody>
      </p:sp>
      <p:sp>
        <p:nvSpPr>
          <p:cNvPr id="18" name="Text 16"/>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§7.2–§7.4</a:t>
            </a:r>
            <a:endParaRPr lang="en-US" sz="800" dirty="0"/>
          </a:p>
        </p:txBody>
      </p:sp>
      <p:sp>
        <p:nvSpPr>
          <p:cNvPr id="19" name="Shape 17"/>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0" name="Shape 18"/>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1" name="Shape 19"/>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2" name="Shape 20"/>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3"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4"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5"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21/24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21. Ba đóng góp chính</a:t>
            </a:r>
            <a:endParaRPr lang="en-US" sz="2000" dirty="0"/>
          </a:p>
        </p:txBody>
      </p:sp>
      <p:sp>
        <p:nvSpPr>
          <p:cNvPr id="4" name="Shape 2"/>
          <p:cNvSpPr/>
          <p:nvPr/>
        </p:nvSpPr>
        <p:spPr>
          <a:xfrm>
            <a:off x="502920" y="1097280"/>
            <a:ext cx="2487168" cy="3310128"/>
          </a:xfrm>
          <a:prstGeom prst="roundRect">
            <a:avLst/>
          </a:prstGeom>
          <a:solidFill>
            <a:srgbClr val="F3F2F5"/>
          </a:solidFill>
          <a:ln w="12700">
            <a:solidFill>
              <a:srgbClr val="25194B"/>
            </a:solidFill>
            <a:prstDash val="solid"/>
          </a:ln>
        </p:spPr>
      </p:sp>
      <p:sp>
        <p:nvSpPr>
          <p:cNvPr id="5" name="Text 3"/>
          <p:cNvSpPr/>
          <p:nvPr/>
        </p:nvSpPr>
        <p:spPr>
          <a:xfrm>
            <a:off x="640080" y="1371600"/>
            <a:ext cx="2212848" cy="36576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Phương pháp</a:t>
            </a:r>
            <a:endParaRPr lang="en-US" sz="1700" dirty="0"/>
          </a:p>
        </p:txBody>
      </p:sp>
      <p:sp>
        <p:nvSpPr>
          <p:cNvPr id="6" name="Text 4"/>
          <p:cNvSpPr/>
          <p:nvPr/>
        </p:nvSpPr>
        <p:spPr>
          <a:xfrm>
            <a:off x="731520" y="2011680"/>
            <a:ext cx="2029968" cy="1234440"/>
          </a:xfrm>
          <a:prstGeom prst="rect">
            <a:avLst/>
          </a:prstGeom>
          <a:noFill/>
          <a:ln/>
        </p:spPr>
        <p:txBody>
          <a:bodyPr wrap="square" lIns="0" tIns="0" rIns="0" bIns="0" rtlCol="0" anchor="ctr">
            <a:normAutofit/>
          </a:bodyPr>
          <a:lstStyle/>
          <a:p>
            <a:pPr algn="ctr" indent="0" marL="0">
              <a:buNone/>
            </a:pPr>
            <a:r>
              <a:rPr lang="en-US" sz="1420" dirty="0">
                <a:solidFill>
                  <a:srgbClr val="1A1A1A"/>
                </a:solidFill>
                <a:latin typeface="Cambria" pitchFamily="34" charset="0"/>
                <a:ea typeface="Cambria" pitchFamily="34" charset="-122"/>
                <a:cs typeface="Cambria" pitchFamily="34" charset="-120"/>
              </a:rPr>
              <a:t>GRPO-SPICE tạo phần lớn mức tăng; ACE nâng chất lượng câu mà giữ executability.</a:t>
            </a:r>
            <a:endParaRPr lang="en-US" sz="1420" dirty="0"/>
          </a:p>
        </p:txBody>
      </p:sp>
      <p:sp>
        <p:nvSpPr>
          <p:cNvPr id="7" name="Shape 5"/>
          <p:cNvSpPr/>
          <p:nvPr/>
        </p:nvSpPr>
        <p:spPr>
          <a:xfrm>
            <a:off x="3328416" y="1097280"/>
            <a:ext cx="2487168" cy="3310128"/>
          </a:xfrm>
          <a:prstGeom prst="roundRect">
            <a:avLst/>
          </a:prstGeom>
          <a:solidFill>
            <a:srgbClr val="F3F2F5"/>
          </a:solidFill>
          <a:ln w="12700">
            <a:solidFill>
              <a:srgbClr val="4F417A"/>
            </a:solidFill>
            <a:prstDash val="solid"/>
          </a:ln>
        </p:spPr>
      </p:sp>
      <p:sp>
        <p:nvSpPr>
          <p:cNvPr id="8" name="Text 6"/>
          <p:cNvSpPr/>
          <p:nvPr/>
        </p:nvSpPr>
        <p:spPr>
          <a:xfrm>
            <a:off x="3465576" y="1371600"/>
            <a:ext cx="2212848" cy="36576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Độ đo</a:t>
            </a:r>
            <a:endParaRPr lang="en-US" sz="1700" dirty="0"/>
          </a:p>
        </p:txBody>
      </p:sp>
      <p:sp>
        <p:nvSpPr>
          <p:cNvPr id="9" name="Text 7"/>
          <p:cNvSpPr/>
          <p:nvPr/>
        </p:nvSpPr>
        <p:spPr>
          <a:xfrm>
            <a:off x="3557016" y="1965960"/>
            <a:ext cx="2029968" cy="13716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Cambria" pitchFamily="34" charset="0"/>
                <a:ea typeface="Cambria" pitchFamily="34" charset="-122"/>
                <a:cs typeface="Cambria" pitchFamily="34" charset="-120"/>
              </a:rPr>
              <a:t>Executability đánh giá trực tiếp khả năng xác định đúng phần tử và thao tác, có các kiểm tra độ tin cậy đi kèm.</a:t>
            </a:r>
            <a:endParaRPr lang="en-US" sz="1400" dirty="0"/>
          </a:p>
        </p:txBody>
      </p:sp>
      <p:sp>
        <p:nvSpPr>
          <p:cNvPr id="10" name="Shape 8"/>
          <p:cNvSpPr/>
          <p:nvPr/>
        </p:nvSpPr>
        <p:spPr>
          <a:xfrm>
            <a:off x="6144768" y="1097280"/>
            <a:ext cx="2487168" cy="3310128"/>
          </a:xfrm>
          <a:prstGeom prst="roundRect">
            <a:avLst/>
          </a:prstGeom>
          <a:solidFill>
            <a:srgbClr val="F3F2F5"/>
          </a:solidFill>
          <a:ln w="12700">
            <a:solidFill>
              <a:srgbClr val="7A7099"/>
            </a:solidFill>
            <a:prstDash val="solid"/>
          </a:ln>
        </p:spPr>
      </p:sp>
      <p:sp>
        <p:nvSpPr>
          <p:cNvPr id="11" name="Text 9"/>
          <p:cNvSpPr/>
          <p:nvPr/>
        </p:nvSpPr>
        <p:spPr>
          <a:xfrm>
            <a:off x="6281928" y="1371600"/>
            <a:ext cx="2212848" cy="36576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Bằng chứng</a:t>
            </a:r>
            <a:endParaRPr lang="en-US" sz="1700" dirty="0"/>
          </a:p>
        </p:txBody>
      </p:sp>
      <p:sp>
        <p:nvSpPr>
          <p:cNvPr id="12" name="Text 10"/>
          <p:cNvSpPr/>
          <p:nvPr/>
        </p:nvSpPr>
        <p:spPr>
          <a:xfrm>
            <a:off x="6373368" y="1965960"/>
            <a:ext cx="2029968" cy="13716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Cambria" pitchFamily="34" charset="0"/>
                <a:ea typeface="Cambria" pitchFamily="34" charset="-122"/>
                <a:cs typeface="Cambria" pitchFamily="34" charset="-120"/>
              </a:rPr>
              <a:t>Nhánh thưởng xáo, 2 lượt GRPO, 4 công cụ đánh giá, ACU, lịch sử tự sinh và AitZ cùng làm rõ phạm vi tác dụng.</a:t>
            </a:r>
            <a:endParaRPr lang="en-US" sz="1400" dirty="0"/>
          </a:p>
        </p:txBody>
      </p:sp>
      <p:sp>
        <p:nvSpPr>
          <p:cNvPr id="13" name="Text 11"/>
          <p:cNvSpPr/>
          <p:nvPr/>
        </p:nvSpPr>
        <p:spPr>
          <a:xfrm>
            <a:off x="502920" y="4956048"/>
            <a:ext cx="8138160" cy="594360"/>
          </a:xfrm>
          <a:prstGeom prst="rect">
            <a:avLst/>
          </a:prstGeom>
          <a:noFill/>
          <a:ln/>
        </p:spPr>
        <p:txBody>
          <a:bodyPr wrap="square" lIns="0" tIns="0" rIns="0" bIns="0" rtlCol="0" anchor="ctr">
            <a:normAutofit/>
          </a:bodyPr>
          <a:lstStyle/>
          <a:p>
            <a:pPr algn="ctr" indent="0" marL="0">
              <a:buNone/>
            </a:pPr>
            <a:r>
              <a:rPr lang="en-US" sz="1550" b="1" dirty="0">
                <a:solidFill>
                  <a:srgbClr val="25194B"/>
                </a:solidFill>
                <a:latin typeface="Cambria" pitchFamily="34" charset="0"/>
                <a:ea typeface="Cambria" pitchFamily="34" charset="-122"/>
                <a:cs typeface="Cambria" pitchFamily="34" charset="-120"/>
              </a:rPr>
              <a:t>Điểm mạnh của luận văn không chỉ là một con số, mà là chuỗi bằng chứng giải thích được con số đó.</a:t>
            </a:r>
            <a:endParaRPr lang="en-US" sz="1550" dirty="0"/>
          </a:p>
        </p:txBody>
      </p:sp>
      <p:sp>
        <p:nvSpPr>
          <p:cNvPr id="14" name="Text 12"/>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7</a:t>
            </a:r>
            <a:endParaRPr lang="en-US" sz="800" dirty="0"/>
          </a:p>
        </p:txBody>
      </p:sp>
      <p:sp>
        <p:nvSpPr>
          <p:cNvPr id="15" name="Shape 13"/>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6" name="Shape 14"/>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7" name="Shape 15"/>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18" name="Shape 16"/>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19" name="Text 1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0" name="Text 1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1" name="Text 1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2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22/24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22. Kết luận</a:t>
            </a:r>
            <a:endParaRPr lang="en-US" sz="2000" dirty="0"/>
          </a:p>
        </p:txBody>
      </p:sp>
      <p:sp>
        <p:nvSpPr>
          <p:cNvPr id="4" name="Text 2"/>
          <p:cNvSpPr/>
          <p:nvPr/>
        </p:nvSpPr>
        <p:spPr>
          <a:xfrm>
            <a:off x="594360" y="960120"/>
            <a:ext cx="2377440" cy="502920"/>
          </a:xfrm>
          <a:prstGeom prst="rect">
            <a:avLst/>
          </a:prstGeom>
          <a:noFill/>
          <a:ln/>
        </p:spPr>
        <p:txBody>
          <a:bodyPr wrap="square" lIns="0" tIns="0" rIns="0" bIns="0" rtlCol="0" anchor="ctr"/>
          <a:lstStyle/>
          <a:p>
            <a:pPr algn="ctr" indent="0" marL="0">
              <a:buNone/>
            </a:pPr>
            <a:r>
              <a:rPr lang="en-US" sz="2400" b="1" dirty="0">
                <a:solidFill>
                  <a:srgbClr val="25194B"/>
                </a:solidFill>
                <a:latin typeface="Cambria" pitchFamily="34" charset="0"/>
                <a:ea typeface="Cambria" pitchFamily="34" charset="-122"/>
                <a:cs typeface="Cambria" pitchFamily="34" charset="-120"/>
              </a:rPr>
              <a:t>+1,55</a:t>
            </a:r>
            <a:endParaRPr lang="en-US" sz="2400" dirty="0"/>
          </a:p>
        </p:txBody>
      </p:sp>
      <p:sp>
        <p:nvSpPr>
          <p:cNvPr id="5" name="Text 3"/>
          <p:cNvSpPr/>
          <p:nvPr/>
        </p:nvSpPr>
        <p:spPr>
          <a:xfrm>
            <a:off x="594360" y="1490472"/>
            <a:ext cx="237744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tập kiểm chính</a:t>
            </a:r>
            <a:endParaRPr lang="en-US" sz="1250" dirty="0"/>
          </a:p>
        </p:txBody>
      </p:sp>
      <p:sp>
        <p:nvSpPr>
          <p:cNvPr id="6" name="Text 4"/>
          <p:cNvSpPr/>
          <p:nvPr/>
        </p:nvSpPr>
        <p:spPr>
          <a:xfrm>
            <a:off x="3383280" y="960120"/>
            <a:ext cx="2377440" cy="502920"/>
          </a:xfrm>
          <a:prstGeom prst="rect">
            <a:avLst/>
          </a:prstGeom>
          <a:noFill/>
          <a:ln/>
        </p:spPr>
        <p:txBody>
          <a:bodyPr wrap="square" lIns="0" tIns="0" rIns="0" bIns="0" rtlCol="0" anchor="ctr"/>
          <a:lstStyle/>
          <a:p>
            <a:pPr algn="ctr" indent="0" marL="0">
              <a:buNone/>
            </a:pPr>
            <a:r>
              <a:rPr lang="en-US" sz="2400" b="1" dirty="0">
                <a:solidFill>
                  <a:srgbClr val="4F417A"/>
                </a:solidFill>
                <a:latin typeface="Cambria" pitchFamily="34" charset="0"/>
                <a:ea typeface="Cambria" pitchFamily="34" charset="-122"/>
                <a:cs typeface="Cambria" pitchFamily="34" charset="-120"/>
              </a:rPr>
              <a:t>+4,58</a:t>
            </a:r>
            <a:endParaRPr lang="en-US" sz="2400" dirty="0"/>
          </a:p>
        </p:txBody>
      </p:sp>
      <p:sp>
        <p:nvSpPr>
          <p:cNvPr id="7" name="Text 5"/>
          <p:cNvSpPr/>
          <p:nvPr/>
        </p:nvSpPr>
        <p:spPr>
          <a:xfrm>
            <a:off x="3383280" y="1490472"/>
            <a:ext cx="237744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tác vụ chưa có trong tập dạy S1</a:t>
            </a:r>
            <a:endParaRPr lang="en-US" sz="1250" dirty="0"/>
          </a:p>
        </p:txBody>
      </p:sp>
      <p:sp>
        <p:nvSpPr>
          <p:cNvPr id="8" name="Text 6"/>
          <p:cNvSpPr/>
          <p:nvPr/>
        </p:nvSpPr>
        <p:spPr>
          <a:xfrm>
            <a:off x="6172200" y="960120"/>
            <a:ext cx="2377440" cy="502920"/>
          </a:xfrm>
          <a:prstGeom prst="rect">
            <a:avLst/>
          </a:prstGeom>
          <a:noFill/>
          <a:ln/>
        </p:spPr>
        <p:txBody>
          <a:bodyPr wrap="square" lIns="0" tIns="0" rIns="0" bIns="0" rtlCol="0" anchor="ctr"/>
          <a:lstStyle/>
          <a:p>
            <a:pPr algn="ctr" indent="0" marL="0">
              <a:buNone/>
            </a:pPr>
            <a:r>
              <a:rPr lang="en-US" sz="2400" b="1" dirty="0">
                <a:solidFill>
                  <a:srgbClr val="7A7099"/>
                </a:solidFill>
                <a:latin typeface="Cambria" pitchFamily="34" charset="0"/>
                <a:ea typeface="Cambria" pitchFamily="34" charset="-122"/>
                <a:cs typeface="Cambria" pitchFamily="34" charset="-120"/>
              </a:rPr>
              <a:t>+9,14</a:t>
            </a:r>
            <a:endParaRPr lang="en-US" sz="2400" dirty="0"/>
          </a:p>
        </p:txBody>
      </p:sp>
      <p:sp>
        <p:nvSpPr>
          <p:cNvPr id="9" name="Text 7"/>
          <p:cNvSpPr/>
          <p:nvPr/>
        </p:nvSpPr>
        <p:spPr>
          <a:xfrm>
            <a:off x="6172200" y="1490472"/>
            <a:ext cx="2377440" cy="475488"/>
          </a:xfrm>
          <a:prstGeom prst="rect">
            <a:avLst/>
          </a:prstGeom>
          <a:noFill/>
          <a:ln/>
        </p:spPr>
        <p:txBody>
          <a:bodyPr wrap="square" lIns="0" tIns="0" rIns="0" bIns="0" rtlCol="0" anchor="ctr">
            <a:normAutofit/>
          </a:bodyPr>
          <a:lstStyle/>
          <a:p>
            <a:pPr algn="ctr" indent="0" marL="0">
              <a:buNone/>
            </a:pPr>
            <a:r>
              <a:rPr lang="en-US" sz="1250" b="1" dirty="0">
                <a:solidFill>
                  <a:srgbClr val="1A1A1A"/>
                </a:solidFill>
                <a:latin typeface="Cambria" pitchFamily="34" charset="0"/>
                <a:ea typeface="Cambria" pitchFamily="34" charset="-122"/>
                <a:cs typeface="Cambria" pitchFamily="34" charset="-120"/>
              </a:rPr>
              <a:t>so với 7B prompting</a:t>
            </a:r>
            <a:endParaRPr lang="en-US" sz="1250" dirty="0"/>
          </a:p>
        </p:txBody>
      </p:sp>
      <p:sp>
        <p:nvSpPr>
          <p:cNvPr id="10" name="Shape 8"/>
          <p:cNvSpPr/>
          <p:nvPr/>
        </p:nvSpPr>
        <p:spPr>
          <a:xfrm>
            <a:off x="502920" y="2487168"/>
            <a:ext cx="8138160" cy="0"/>
          </a:xfrm>
          <a:prstGeom prst="line">
            <a:avLst/>
          </a:prstGeom>
          <a:noFill/>
          <a:ln w="12700">
            <a:solidFill>
              <a:srgbClr val="D9D6DF"/>
            </a:solidFill>
            <a:prstDash val="solid"/>
            <a:tailEnd type="none"/>
          </a:ln>
        </p:spPr>
      </p:sp>
      <p:sp>
        <p:nvSpPr>
          <p:cNvPr id="11" name="Shape 9"/>
          <p:cNvSpPr/>
          <p:nvPr/>
        </p:nvSpPr>
        <p:spPr>
          <a:xfrm>
            <a:off x="521208" y="3017520"/>
            <a:ext cx="64008" cy="64008"/>
          </a:xfrm>
          <a:prstGeom prst="ellipse">
            <a:avLst/>
          </a:prstGeom>
          <a:solidFill>
            <a:srgbClr val="4F417A"/>
          </a:solidFill>
          <a:ln w="12700">
            <a:solidFill>
              <a:srgbClr val="4F417A">
                <a:alpha val="0"/>
              </a:srgbClr>
            </a:solidFill>
            <a:prstDash val="solid"/>
          </a:ln>
        </p:spPr>
      </p:sp>
      <p:sp>
        <p:nvSpPr>
          <p:cNvPr id="12" name="Text 10"/>
          <p:cNvSpPr/>
          <p:nvPr/>
        </p:nvSpPr>
        <p:spPr>
          <a:xfrm>
            <a:off x="713232" y="2880360"/>
            <a:ext cx="7927848" cy="548640"/>
          </a:xfrm>
          <a:prstGeom prst="rect">
            <a:avLst/>
          </a:prstGeom>
          <a:noFill/>
          <a:ln/>
        </p:spPr>
        <p:txBody>
          <a:bodyPr wrap="square" lIns="0" tIns="0" rIns="0" bIns="0" rtlCol="0" anchor="t">
            <a:normAutofit/>
          </a:bodyPr>
          <a:lstStyle/>
          <a:p>
            <a:pPr indent="0" marL="0">
              <a:lnSpc>
                <a:spcPct val="112000"/>
              </a:lnSpc>
              <a:buNone/>
            </a:pPr>
            <a:r>
              <a:rPr lang="en-US" sz="1360" dirty="0">
                <a:solidFill>
                  <a:srgbClr val="1A1A1A"/>
                </a:solidFill>
                <a:latin typeface="Cambria" pitchFamily="34" charset="0"/>
                <a:ea typeface="Cambria" pitchFamily="34" charset="-122"/>
                <a:cs typeface="Cambria" pitchFamily="34" charset="-120"/>
              </a:rPr>
              <a:t>Nhánh thưởng xáo bằng S1 bổ sung bằng chứng rằng mức tăng gắn với tín hiệu SPICE, không chỉ với số bước huấn luyện thêm.</a:t>
            </a:r>
            <a:endParaRPr lang="en-US" sz="1360" dirty="0"/>
          </a:p>
        </p:txBody>
      </p:sp>
      <p:sp>
        <p:nvSpPr>
          <p:cNvPr id="13" name="Shape 11"/>
          <p:cNvSpPr/>
          <p:nvPr/>
        </p:nvSpPr>
        <p:spPr>
          <a:xfrm>
            <a:off x="521208" y="3675888"/>
            <a:ext cx="64008" cy="64008"/>
          </a:xfrm>
          <a:prstGeom prst="ellipse">
            <a:avLst/>
          </a:prstGeom>
          <a:solidFill>
            <a:srgbClr val="4F417A"/>
          </a:solidFill>
          <a:ln w="12700">
            <a:solidFill>
              <a:srgbClr val="4F417A">
                <a:alpha val="0"/>
              </a:srgbClr>
            </a:solidFill>
            <a:prstDash val="solid"/>
          </a:ln>
        </p:spPr>
      </p:sp>
      <p:sp>
        <p:nvSpPr>
          <p:cNvPr id="14" name="Text 12"/>
          <p:cNvSpPr/>
          <p:nvPr/>
        </p:nvSpPr>
        <p:spPr>
          <a:xfrm>
            <a:off x="713232" y="3538728"/>
            <a:ext cx="7927848" cy="548640"/>
          </a:xfrm>
          <a:prstGeom prst="rect">
            <a:avLst/>
          </a:prstGeom>
          <a:noFill/>
          <a:ln/>
        </p:spPr>
        <p:txBody>
          <a:bodyPr wrap="square" lIns="0" tIns="0" rIns="0" bIns="0" rtlCol="0" anchor="t">
            <a:normAutofit/>
          </a:bodyPr>
          <a:lstStyle/>
          <a:p>
            <a:pPr indent="0" marL="0">
              <a:lnSpc>
                <a:spcPct val="112000"/>
              </a:lnSpc>
              <a:buNone/>
            </a:pPr>
            <a:r>
              <a:rPr lang="en-US" sz="1360" dirty="0">
                <a:solidFill>
                  <a:srgbClr val="1A1A1A"/>
                </a:solidFill>
                <a:latin typeface="Cambria" pitchFamily="34" charset="0"/>
                <a:ea typeface="Cambria" pitchFamily="34" charset="-122"/>
                <a:cs typeface="Cambria" pitchFamily="34" charset="-120"/>
              </a:rPr>
              <a:t>GRPO-SPICE cải thiện nhất quán trên tập kiểm chính và mạnh hơn trên ACU; chiều tăng giữ qua bốn công cụ đánh giá.</a:t>
            </a:r>
            <a:endParaRPr lang="en-US" sz="1360" dirty="0"/>
          </a:p>
        </p:txBody>
      </p:sp>
      <p:sp>
        <p:nvSpPr>
          <p:cNvPr id="15" name="Shape 13"/>
          <p:cNvSpPr/>
          <p:nvPr/>
        </p:nvSpPr>
        <p:spPr>
          <a:xfrm>
            <a:off x="521208" y="4334256"/>
            <a:ext cx="64008" cy="64008"/>
          </a:xfrm>
          <a:prstGeom prst="ellipse">
            <a:avLst/>
          </a:prstGeom>
          <a:solidFill>
            <a:srgbClr val="4F417A"/>
          </a:solidFill>
          <a:ln w="12700">
            <a:solidFill>
              <a:srgbClr val="4F417A">
                <a:alpha val="0"/>
              </a:srgbClr>
            </a:solidFill>
            <a:prstDash val="solid"/>
          </a:ln>
        </p:spPr>
      </p:sp>
      <p:sp>
        <p:nvSpPr>
          <p:cNvPr id="16" name="Text 14"/>
          <p:cNvSpPr/>
          <p:nvPr/>
        </p:nvSpPr>
        <p:spPr>
          <a:xfrm>
            <a:off x="713232" y="4197096"/>
            <a:ext cx="7927848" cy="548640"/>
          </a:xfrm>
          <a:prstGeom prst="rect">
            <a:avLst/>
          </a:prstGeom>
          <a:noFill/>
          <a:ln/>
        </p:spPr>
        <p:txBody>
          <a:bodyPr wrap="square" lIns="0" tIns="0" rIns="0" bIns="0" rtlCol="0" anchor="t">
            <a:normAutofit/>
          </a:bodyPr>
          <a:lstStyle/>
          <a:p>
            <a:pPr indent="0" marL="0">
              <a:lnSpc>
                <a:spcPct val="112000"/>
              </a:lnSpc>
              <a:buNone/>
            </a:pPr>
            <a:r>
              <a:rPr lang="en-US" sz="1360" dirty="0">
                <a:solidFill>
                  <a:srgbClr val="1A1A1A"/>
                </a:solidFill>
                <a:latin typeface="Cambria" pitchFamily="34" charset="0"/>
                <a:ea typeface="Cambria" pitchFamily="34" charset="-122"/>
                <a:cs typeface="Cambria" pitchFamily="34" charset="-120"/>
              </a:rPr>
              <a:t>ACE đạt 60,68% executability, đồng thời nâng cả 7 thước chữ; 6/6 thước có KTC đều nằm trên 0.</a:t>
            </a:r>
            <a:endParaRPr lang="en-US" sz="1360" dirty="0"/>
          </a:p>
        </p:txBody>
      </p:sp>
      <p:sp>
        <p:nvSpPr>
          <p:cNvPr id="17" name="Shape 15"/>
          <p:cNvSpPr/>
          <p:nvPr/>
        </p:nvSpPr>
        <p:spPr>
          <a:xfrm>
            <a:off x="521208" y="4992624"/>
            <a:ext cx="64008" cy="64008"/>
          </a:xfrm>
          <a:prstGeom prst="ellipse">
            <a:avLst/>
          </a:prstGeom>
          <a:solidFill>
            <a:srgbClr val="4F417A"/>
          </a:solidFill>
          <a:ln w="12700">
            <a:solidFill>
              <a:srgbClr val="4F417A">
                <a:alpha val="0"/>
              </a:srgbClr>
            </a:solidFill>
            <a:prstDash val="solid"/>
          </a:ln>
        </p:spPr>
      </p:sp>
      <p:sp>
        <p:nvSpPr>
          <p:cNvPr id="18" name="Text 16"/>
          <p:cNvSpPr/>
          <p:nvPr/>
        </p:nvSpPr>
        <p:spPr>
          <a:xfrm>
            <a:off x="713232" y="4855464"/>
            <a:ext cx="7927848" cy="548640"/>
          </a:xfrm>
          <a:prstGeom prst="rect">
            <a:avLst/>
          </a:prstGeom>
          <a:noFill/>
          <a:ln/>
        </p:spPr>
        <p:txBody>
          <a:bodyPr wrap="square" lIns="0" tIns="0" rIns="0" bIns="0" rtlCol="0" anchor="t">
            <a:normAutofit/>
          </a:bodyPr>
          <a:lstStyle/>
          <a:p>
            <a:pPr indent="0" marL="0">
              <a:lnSpc>
                <a:spcPct val="112000"/>
              </a:lnSpc>
              <a:buNone/>
            </a:pPr>
            <a:r>
              <a:rPr lang="en-US" sz="1360" dirty="0">
                <a:solidFill>
                  <a:srgbClr val="1A1A1A"/>
                </a:solidFill>
                <a:latin typeface="Cambria" pitchFamily="34" charset="0"/>
                <a:ea typeface="Cambria" pitchFamily="34" charset="-122"/>
                <a:cs typeface="Cambria" pitchFamily="34" charset="-120"/>
              </a:rPr>
              <a:t>Khi đổi miền sang AitZ, S1 vẫn cao hơn Base; GRPO-SPICE và S1 tương đương về executability, giúp xác định rõ phạm vi của phần thưởng.</a:t>
            </a:r>
            <a:endParaRPr lang="en-US" sz="1360" dirty="0"/>
          </a:p>
        </p:txBody>
      </p:sp>
      <p:sp>
        <p:nvSpPr>
          <p:cNvPr id="19" name="Shape 17"/>
          <p:cNvSpPr/>
          <p:nvPr/>
        </p:nvSpPr>
        <p:spPr>
          <a:xfrm>
            <a:off x="1005840" y="5577840"/>
            <a:ext cx="7132320" cy="530352"/>
          </a:xfrm>
          <a:prstGeom prst="roundRect">
            <a:avLst/>
          </a:prstGeom>
          <a:solidFill>
            <a:srgbClr val="F3F2F5"/>
          </a:solidFill>
          <a:ln w="12700">
            <a:solidFill>
              <a:srgbClr val="7A7099"/>
            </a:solidFill>
            <a:prstDash val="solid"/>
          </a:ln>
        </p:spPr>
      </p:sp>
      <p:sp>
        <p:nvSpPr>
          <p:cNvPr id="20" name="Text 18"/>
          <p:cNvSpPr/>
          <p:nvPr/>
        </p:nvSpPr>
        <p:spPr>
          <a:xfrm>
            <a:off x="1170432" y="5577840"/>
            <a:ext cx="6803136" cy="530352"/>
          </a:xfrm>
          <a:prstGeom prst="rect">
            <a:avLst/>
          </a:prstGeom>
          <a:noFill/>
          <a:ln/>
        </p:spPr>
        <p:txBody>
          <a:bodyPr wrap="square" lIns="0" tIns="0" rIns="0" bIns="0" rtlCol="0" anchor="ctr">
            <a:normAutofit/>
          </a:bodyPr>
          <a:lstStyle/>
          <a:p>
            <a:pPr algn="ctr" indent="0" marL="0">
              <a:buNone/>
            </a:pPr>
            <a:r>
              <a:rPr lang="en-US" sz="1320" b="1" dirty="0">
                <a:solidFill>
                  <a:srgbClr val="25194B"/>
                </a:solidFill>
                <a:latin typeface="Cambria" pitchFamily="34" charset="0"/>
                <a:ea typeface="Cambria" pitchFamily="34" charset="-122"/>
                <a:cs typeface="Cambria" pitchFamily="34" charset="-120"/>
              </a:rPr>
              <a:t>Kết luận chính: tối ưu trực tiếp chất lượng câu giúp tăng khả năng người dùng xác định đúng phần tử cần thao tác.</a:t>
            </a:r>
            <a:endParaRPr lang="en-US" sz="1320" dirty="0"/>
          </a:p>
        </p:txBody>
      </p:sp>
      <p:sp>
        <p:nvSpPr>
          <p:cNvPr id="21" name="Text 19"/>
          <p:cNvSpPr/>
          <p:nvPr/>
        </p:nvSpPr>
        <p:spPr>
          <a:xfrm>
            <a:off x="502920" y="6327648"/>
            <a:ext cx="8138160" cy="137160"/>
          </a:xfrm>
          <a:prstGeom prst="rect">
            <a:avLst/>
          </a:prstGeom>
          <a:noFill/>
          <a:ln/>
        </p:spPr>
        <p:txBody>
          <a:bodyPr wrap="square" lIns="0" tIns="0" rIns="0" bIns="0" rtlCol="0" anchor="ctr"/>
          <a:lstStyle/>
          <a:p>
            <a:pPr algn="r" indent="0" marL="0">
              <a:buNone/>
            </a:pPr>
            <a:r>
              <a:rPr lang="en-US" sz="800" i="1" dirty="0">
                <a:solidFill>
                  <a:srgbClr val="5A5A66"/>
                </a:solidFill>
                <a:latin typeface="Cambria" pitchFamily="34" charset="0"/>
                <a:ea typeface="Cambria" pitchFamily="34" charset="-122"/>
                <a:cs typeface="Cambria" pitchFamily="34" charset="-120"/>
              </a:rPr>
              <a:t>Luận văn Chương 7</a:t>
            </a:r>
            <a:endParaRPr lang="en-US" sz="800" dirty="0"/>
          </a:p>
        </p:txBody>
      </p:sp>
      <p:sp>
        <p:nvSpPr>
          <p:cNvPr id="22" name="Shape 20"/>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3" name="Shape 21"/>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4" name="Shape 22"/>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5" name="Shape 23"/>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6" name="Text 2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7" name="Text 2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8" name="Text 2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9" name="Text 2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23/24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14600"/>
            <a:ext cx="7589520" cy="1051560"/>
          </a:xfrm>
          <a:prstGeom prst="rect">
            <a:avLst/>
          </a:prstGeom>
          <a:noFill/>
          <a:ln/>
        </p:spPr>
        <p:txBody>
          <a:bodyPr wrap="square" lIns="0" tIns="0" rIns="0" bIns="0" rtlCol="0" anchor="ctr">
            <a:normAutofit/>
          </a:bodyPr>
          <a:lstStyle/>
          <a:p>
            <a:pPr algn="ctr" indent="0" marL="0">
              <a:buNone/>
            </a:pPr>
            <a:r>
              <a:rPr lang="en-US" sz="2700" b="1" dirty="0">
                <a:solidFill>
                  <a:srgbClr val="25194B"/>
                </a:solidFill>
                <a:latin typeface="Cambria" pitchFamily="34" charset="0"/>
                <a:ea typeface="Cambria" pitchFamily="34" charset="-122"/>
                <a:cs typeface="Cambria" pitchFamily="34" charset="-120"/>
              </a:rPr>
              <a:t>Trân trọng cảm ơn Quý thầy cô đã lắng nghe.</a:t>
            </a:r>
            <a:endParaRPr lang="en-US" sz="2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Định nghĩa executability</a:t>
            </a:r>
            <a:endParaRPr lang="en-US" sz="2000" dirty="0"/>
          </a:p>
        </p:txBody>
      </p:sp>
      <p:sp>
        <p:nvSpPr>
          <p:cNvPr id="4" name="Text 2"/>
          <p:cNvSpPr/>
          <p:nvPr/>
        </p:nvSpPr>
        <p:spPr>
          <a:xfrm>
            <a:off x="502920" y="896112"/>
            <a:ext cx="3291840" cy="502920"/>
          </a:xfrm>
          <a:prstGeom prst="rect">
            <a:avLst/>
          </a:prstGeom>
          <a:noFill/>
          <a:ln/>
        </p:spPr>
        <p:txBody>
          <a:bodyPr wrap="square" lIns="0" tIns="0" rIns="0" bIns="0" rtlCol="0" anchor="ctr"/>
          <a:lstStyle/>
          <a:p>
            <a:pPr indent="0" marL="0">
              <a:buNone/>
            </a:pPr>
            <a:r>
              <a:rPr lang="en-US" sz="1700" b="1" dirty="0">
                <a:solidFill>
                  <a:srgbClr val="25194B"/>
                </a:solidFill>
                <a:latin typeface="Cambria" pitchFamily="34" charset="0"/>
                <a:ea typeface="Cambria" pitchFamily="34" charset="-122"/>
                <a:cs typeface="Cambria" pitchFamily="34" charset="-120"/>
              </a:rPr>
              <a:t>Một bước đúng khi đồng thời:</a:t>
            </a:r>
            <a:endParaRPr lang="en-US" sz="1700" dirty="0"/>
          </a:p>
        </p:txBody>
      </p:sp>
      <p:sp>
        <p:nvSpPr>
          <p:cNvPr id="5" name="Shape 3"/>
          <p:cNvSpPr/>
          <p:nvPr/>
        </p:nvSpPr>
        <p:spPr>
          <a:xfrm>
            <a:off x="521208" y="1508760"/>
            <a:ext cx="64008" cy="64008"/>
          </a:xfrm>
          <a:prstGeom prst="ellipse">
            <a:avLst/>
          </a:prstGeom>
          <a:solidFill>
            <a:srgbClr val="4F417A"/>
          </a:solidFill>
          <a:ln w="12700">
            <a:solidFill>
              <a:srgbClr val="4F417A">
                <a:alpha val="0"/>
              </a:srgbClr>
            </a:solidFill>
            <a:prstDash val="solid"/>
          </a:ln>
        </p:spPr>
      </p:sp>
      <p:sp>
        <p:nvSpPr>
          <p:cNvPr id="6" name="Text 4"/>
          <p:cNvSpPr/>
          <p:nvPr/>
        </p:nvSpPr>
        <p:spPr>
          <a:xfrm>
            <a:off x="713232" y="1371600"/>
            <a:ext cx="7927848" cy="612648"/>
          </a:xfrm>
          <a:prstGeom prst="rect">
            <a:avLst/>
          </a:prstGeom>
          <a:noFill/>
          <a:ln/>
        </p:spPr>
        <p:txBody>
          <a:bodyPr wrap="square" lIns="0" tIns="0" rIns="0" bIns="0" rtlCol="0" anchor="t">
            <a:normAutofit/>
          </a:bodyPr>
          <a:lstStyle/>
          <a:p>
            <a:pPr indent="0" marL="0">
              <a:lnSpc>
                <a:spcPct val="112000"/>
              </a:lnSpc>
              <a:buNone/>
            </a:pPr>
            <a:r>
              <a:rPr lang="en-US" sz="1550" dirty="0">
                <a:solidFill>
                  <a:srgbClr val="1A1A1A"/>
                </a:solidFill>
                <a:latin typeface="Cambria" pitchFamily="34" charset="0"/>
                <a:ea typeface="Cambria" pitchFamily="34" charset="-122"/>
                <a:cs typeface="Cambria" pitchFamily="34" charset="-120"/>
              </a:rPr>
              <a:t>Đúng loại thao tác.</a:t>
            </a:r>
            <a:endParaRPr lang="en-US" sz="1550" dirty="0"/>
          </a:p>
        </p:txBody>
      </p:sp>
      <p:sp>
        <p:nvSpPr>
          <p:cNvPr id="7" name="Shape 5"/>
          <p:cNvSpPr/>
          <p:nvPr/>
        </p:nvSpPr>
        <p:spPr>
          <a:xfrm>
            <a:off x="521208" y="2258568"/>
            <a:ext cx="64008" cy="64008"/>
          </a:xfrm>
          <a:prstGeom prst="ellipse">
            <a:avLst/>
          </a:prstGeom>
          <a:solidFill>
            <a:srgbClr val="4F417A"/>
          </a:solidFill>
          <a:ln w="12700">
            <a:solidFill>
              <a:srgbClr val="4F417A">
                <a:alpha val="0"/>
              </a:srgbClr>
            </a:solidFill>
            <a:prstDash val="solid"/>
          </a:ln>
        </p:spPr>
      </p:sp>
      <p:sp>
        <p:nvSpPr>
          <p:cNvPr id="8" name="Text 6"/>
          <p:cNvSpPr/>
          <p:nvPr/>
        </p:nvSpPr>
        <p:spPr>
          <a:xfrm>
            <a:off x="713232" y="2121408"/>
            <a:ext cx="7927848" cy="612648"/>
          </a:xfrm>
          <a:prstGeom prst="rect">
            <a:avLst/>
          </a:prstGeom>
          <a:noFill/>
          <a:ln/>
        </p:spPr>
        <p:txBody>
          <a:bodyPr wrap="square" lIns="0" tIns="0" rIns="0" bIns="0" rtlCol="0" anchor="t">
            <a:normAutofit/>
          </a:bodyPr>
          <a:lstStyle/>
          <a:p>
            <a:pPr indent="0" marL="0">
              <a:lnSpc>
                <a:spcPct val="112000"/>
              </a:lnSpc>
              <a:buNone/>
            </a:pPr>
            <a:r>
              <a:rPr lang="en-US" sz="1550" dirty="0">
                <a:solidFill>
                  <a:srgbClr val="1A1A1A"/>
                </a:solidFill>
                <a:latin typeface="Cambria" pitchFamily="34" charset="0"/>
                <a:ea typeface="Cambria" pitchFamily="34" charset="-122"/>
                <a:cs typeface="Cambria" pitchFamily="34" charset="-120"/>
              </a:rPr>
              <a:t>Không mô tả thao tác theo nghĩa ngược.</a:t>
            </a:r>
            <a:endParaRPr lang="en-US" sz="1550" dirty="0"/>
          </a:p>
        </p:txBody>
      </p:sp>
      <p:sp>
        <p:nvSpPr>
          <p:cNvPr id="9" name="Shape 7"/>
          <p:cNvSpPr/>
          <p:nvPr/>
        </p:nvSpPr>
        <p:spPr>
          <a:xfrm>
            <a:off x="521208" y="3008376"/>
            <a:ext cx="64008" cy="64008"/>
          </a:xfrm>
          <a:prstGeom prst="ellipse">
            <a:avLst/>
          </a:prstGeom>
          <a:solidFill>
            <a:srgbClr val="4F417A"/>
          </a:solidFill>
          <a:ln w="12700">
            <a:solidFill>
              <a:srgbClr val="4F417A">
                <a:alpha val="0"/>
              </a:srgbClr>
            </a:solidFill>
            <a:prstDash val="solid"/>
          </a:ln>
        </p:spPr>
      </p:sp>
      <p:sp>
        <p:nvSpPr>
          <p:cNvPr id="10" name="Text 8"/>
          <p:cNvSpPr/>
          <p:nvPr/>
        </p:nvSpPr>
        <p:spPr>
          <a:xfrm>
            <a:off x="713232" y="2871216"/>
            <a:ext cx="7927848" cy="612648"/>
          </a:xfrm>
          <a:prstGeom prst="rect">
            <a:avLst/>
          </a:prstGeom>
          <a:noFill/>
          <a:ln/>
        </p:spPr>
        <p:txBody>
          <a:bodyPr wrap="square" lIns="0" tIns="0" rIns="0" bIns="0" rtlCol="0" anchor="t">
            <a:normAutofit/>
          </a:bodyPr>
          <a:lstStyle/>
          <a:p>
            <a:pPr indent="0" marL="0">
              <a:lnSpc>
                <a:spcPct val="112000"/>
              </a:lnSpc>
              <a:buNone/>
            </a:pPr>
            <a:r>
              <a:rPr lang="en-US" sz="1550" dirty="0">
                <a:solidFill>
                  <a:srgbClr val="1A1A1A"/>
                </a:solidFill>
                <a:latin typeface="Cambria" pitchFamily="34" charset="0"/>
                <a:ea typeface="Cambria" pitchFamily="34" charset="-122"/>
                <a:cs typeface="Cambria" pitchFamily="34" charset="-120"/>
              </a:rPr>
              <a:t>|px−gx| ≤ 0,14W; |py−gy| ≤ 0,14H.</a:t>
            </a:r>
            <a:endParaRPr lang="en-US" sz="1550" dirty="0"/>
          </a:p>
        </p:txBody>
      </p:sp>
      <p:sp>
        <p:nvSpPr>
          <p:cNvPr id="11" name="Shape 9"/>
          <p:cNvSpPr/>
          <p:nvPr/>
        </p:nvSpPr>
        <p:spPr>
          <a:xfrm>
            <a:off x="521208" y="3758184"/>
            <a:ext cx="64008" cy="64008"/>
          </a:xfrm>
          <a:prstGeom prst="ellipse">
            <a:avLst/>
          </a:prstGeom>
          <a:solidFill>
            <a:srgbClr val="4F417A"/>
          </a:solidFill>
          <a:ln w="12700">
            <a:solidFill>
              <a:srgbClr val="4F417A">
                <a:alpha val="0"/>
              </a:srgbClr>
            </a:solidFill>
            <a:prstDash val="solid"/>
          </a:ln>
        </p:spPr>
      </p:sp>
      <p:sp>
        <p:nvSpPr>
          <p:cNvPr id="12" name="Text 10"/>
          <p:cNvSpPr/>
          <p:nvPr/>
        </p:nvSpPr>
        <p:spPr>
          <a:xfrm>
            <a:off x="713232" y="3621024"/>
            <a:ext cx="7927848" cy="612648"/>
          </a:xfrm>
          <a:prstGeom prst="rect">
            <a:avLst/>
          </a:prstGeom>
          <a:noFill/>
          <a:ln/>
        </p:spPr>
        <p:txBody>
          <a:bodyPr wrap="square" lIns="0" tIns="0" rIns="0" bIns="0" rtlCol="0" anchor="t">
            <a:normAutofit/>
          </a:bodyPr>
          <a:lstStyle/>
          <a:p>
            <a:pPr indent="0" marL="0">
              <a:lnSpc>
                <a:spcPct val="112000"/>
              </a:lnSpc>
              <a:buNone/>
            </a:pPr>
            <a:r>
              <a:rPr lang="en-US" sz="1550" dirty="0">
                <a:solidFill>
                  <a:srgbClr val="1A1A1A"/>
                </a:solidFill>
                <a:latin typeface="Cambria" pitchFamily="34" charset="0"/>
                <a:ea typeface="Cambria" pitchFamily="34" charset="-122"/>
                <a:cs typeface="Cambria" pitchFamily="34" charset="-120"/>
              </a:rPr>
              <a:t>Điểm p nằm trong ô Voronoi của phần tử cần chạm.</a:t>
            </a:r>
            <a:endParaRPr lang="en-US" sz="1550" dirty="0"/>
          </a:p>
        </p:txBody>
      </p:sp>
      <p:sp>
        <p:nvSpPr>
          <p:cNvPr id="13" name="Text 11"/>
          <p:cNvSpPr/>
          <p:nvPr/>
        </p:nvSpPr>
        <p:spPr>
          <a:xfrm>
            <a:off x="502920" y="4800600"/>
            <a:ext cx="8138160" cy="457200"/>
          </a:xfrm>
          <a:prstGeom prst="rect">
            <a:avLst/>
          </a:prstGeom>
          <a:noFill/>
          <a:ln/>
        </p:spPr>
        <p:txBody>
          <a:bodyPr wrap="square" lIns="0" tIns="0" rIns="0" bIns="0" rtlCol="0" anchor="ctr"/>
          <a:lstStyle/>
          <a:p>
            <a:pPr algn="ctr" indent="0" marL="0">
              <a:buNone/>
            </a:pPr>
            <a:r>
              <a:rPr lang="en-US" sz="1700" b="1" dirty="0">
                <a:solidFill>
                  <a:srgbClr val="25194B"/>
                </a:solidFill>
                <a:latin typeface="Cambria" pitchFamily="34" charset="0"/>
                <a:ea typeface="Cambria" pitchFamily="34" charset="-122"/>
                <a:cs typeface="Cambria" pitchFamily="34" charset="-120"/>
              </a:rPr>
              <a:t>Executability = số bước đúng / tổng số bước chạm.</a:t>
            </a:r>
            <a:endParaRPr lang="en-US" sz="1700" dirty="0"/>
          </a:p>
        </p:txBody>
      </p:sp>
      <p:sp>
        <p:nvSpPr>
          <p:cNvPr id="14" name="Shape 12"/>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15" name="Shape 13"/>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16" name="Shape 14"/>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17" name="Shape 15"/>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18"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9"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0"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9"/>
          <p:cNvSpPr/>
          <p:nvPr/>
        </p:nvSpPr>
        <p:spPr>
          <a:xfrm>
            <a:off x="7863840" y="6620256"/>
            <a:ext cx="1280160" cy="237744"/>
          </a:xfrm>
          <a:prstGeom prst="rect">
            <a:avLst/>
          </a:prstGeom>
          <a:noFill/>
          <a:ln/>
        </p:spPr>
        <p:txBody>
          <a:bodyPr wrap="square" lIns="0" tIns="0" rIns="0" bIns="0" rtlCol="0" anchor="ctr"/>
          <a:lstStyle/>
          <a:p>
            <a:pPr algn="ctr" indent="0" marL="0">
              <a:buNone/>
            </a:pP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Toàn bộ thước đo</a:t>
            </a:r>
            <a:endParaRPr lang="en-US" sz="2000" dirty="0"/>
          </a:p>
        </p:txBody>
      </p:sp>
      <p:sp>
        <p:nvSpPr>
          <p:cNvPr id="4" name="Shape 2"/>
          <p:cNvSpPr/>
          <p:nvPr/>
        </p:nvSpPr>
        <p:spPr>
          <a:xfrm>
            <a:off x="502920" y="804672"/>
            <a:ext cx="7955280" cy="384048"/>
          </a:xfrm>
          <a:prstGeom prst="rect">
            <a:avLst/>
          </a:prstGeom>
          <a:solidFill>
            <a:srgbClr val="25194B"/>
          </a:solidFill>
          <a:ln w="12700">
            <a:solidFill>
              <a:srgbClr val="25194B">
                <a:alpha val="0"/>
              </a:srgbClr>
            </a:solidFill>
            <a:prstDash val="solid"/>
          </a:ln>
        </p:spPr>
      </p:sp>
      <p:sp>
        <p:nvSpPr>
          <p:cNvPr id="5" name="Text 3"/>
          <p:cNvSpPr/>
          <p:nvPr/>
        </p:nvSpPr>
        <p:spPr>
          <a:xfrm>
            <a:off x="502920" y="804672"/>
            <a:ext cx="21488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Cambria" pitchFamily="34" charset="0"/>
                <a:ea typeface="Cambria" pitchFamily="34" charset="-122"/>
                <a:cs typeface="Cambria" pitchFamily="34" charset="-120"/>
              </a:rPr>
              <a:t>Metric</a:t>
            </a:r>
            <a:endParaRPr lang="en-US" sz="1200" dirty="0"/>
          </a:p>
        </p:txBody>
      </p:sp>
      <p:sp>
        <p:nvSpPr>
          <p:cNvPr id="6" name="Text 4"/>
          <p:cNvSpPr/>
          <p:nvPr/>
        </p:nvSpPr>
        <p:spPr>
          <a:xfrm>
            <a:off x="2651760" y="804672"/>
            <a:ext cx="1097280"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Base</a:t>
            </a:r>
            <a:endParaRPr lang="en-US" sz="1200" dirty="0"/>
          </a:p>
        </p:txBody>
      </p:sp>
      <p:sp>
        <p:nvSpPr>
          <p:cNvPr id="7" name="Text 5"/>
          <p:cNvSpPr/>
          <p:nvPr/>
        </p:nvSpPr>
        <p:spPr>
          <a:xfrm>
            <a:off x="3749040" y="804672"/>
            <a:ext cx="1097280"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S1</a:t>
            </a:r>
            <a:endParaRPr lang="en-US" sz="1200" dirty="0"/>
          </a:p>
        </p:txBody>
      </p:sp>
      <p:sp>
        <p:nvSpPr>
          <p:cNvPr id="8" name="Text 6"/>
          <p:cNvSpPr/>
          <p:nvPr/>
        </p:nvSpPr>
        <p:spPr>
          <a:xfrm>
            <a:off x="4846320" y="804672"/>
            <a:ext cx="1234440"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GRPO</a:t>
            </a:r>
            <a:endParaRPr lang="en-US" sz="1200" dirty="0"/>
          </a:p>
        </p:txBody>
      </p:sp>
      <p:sp>
        <p:nvSpPr>
          <p:cNvPr id="9" name="Text 7"/>
          <p:cNvSpPr/>
          <p:nvPr/>
        </p:nvSpPr>
        <p:spPr>
          <a:xfrm>
            <a:off x="6080760" y="804672"/>
            <a:ext cx="1234440"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Đề xuất</a:t>
            </a:r>
            <a:endParaRPr lang="en-US" sz="1200" dirty="0"/>
          </a:p>
        </p:txBody>
      </p:sp>
      <p:sp>
        <p:nvSpPr>
          <p:cNvPr id="10" name="Text 8"/>
          <p:cNvSpPr/>
          <p:nvPr/>
        </p:nvSpPr>
        <p:spPr>
          <a:xfrm>
            <a:off x="7315200" y="804672"/>
            <a:ext cx="1143000" cy="38404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mbria" pitchFamily="34" charset="0"/>
                <a:ea typeface="Cambria" pitchFamily="34" charset="-122"/>
                <a:cs typeface="Cambria" pitchFamily="34" charset="-120"/>
              </a:rPr>
              <a:t>Δ ACE</a:t>
            </a:r>
            <a:endParaRPr lang="en-US" sz="1200" dirty="0"/>
          </a:p>
        </p:txBody>
      </p:sp>
      <p:sp>
        <p:nvSpPr>
          <p:cNvPr id="11" name="Text 9"/>
          <p:cNvSpPr/>
          <p:nvPr/>
        </p:nvSpPr>
        <p:spPr>
          <a:xfrm>
            <a:off x="502920" y="1188720"/>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Executability</a:t>
            </a:r>
            <a:endParaRPr lang="en-US" sz="1170" dirty="0"/>
          </a:p>
        </p:txBody>
      </p:sp>
      <p:sp>
        <p:nvSpPr>
          <p:cNvPr id="12" name="Text 10"/>
          <p:cNvSpPr/>
          <p:nvPr/>
        </p:nvSpPr>
        <p:spPr>
          <a:xfrm>
            <a:off x="2651760" y="1188720"/>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47,59</a:t>
            </a:r>
            <a:endParaRPr lang="en-US" sz="1170" dirty="0"/>
          </a:p>
        </p:txBody>
      </p:sp>
      <p:sp>
        <p:nvSpPr>
          <p:cNvPr id="13" name="Text 11"/>
          <p:cNvSpPr/>
          <p:nvPr/>
        </p:nvSpPr>
        <p:spPr>
          <a:xfrm>
            <a:off x="3749040" y="1188720"/>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59,11</a:t>
            </a:r>
            <a:endParaRPr lang="en-US" sz="1170" dirty="0"/>
          </a:p>
        </p:txBody>
      </p:sp>
      <p:sp>
        <p:nvSpPr>
          <p:cNvPr id="14" name="Text 12"/>
          <p:cNvSpPr/>
          <p:nvPr/>
        </p:nvSpPr>
        <p:spPr>
          <a:xfrm>
            <a:off x="4846320" y="1188720"/>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60,65</a:t>
            </a:r>
            <a:endParaRPr lang="en-US" sz="1170" dirty="0"/>
          </a:p>
        </p:txBody>
      </p:sp>
      <p:sp>
        <p:nvSpPr>
          <p:cNvPr id="15" name="Text 13"/>
          <p:cNvSpPr/>
          <p:nvPr/>
        </p:nvSpPr>
        <p:spPr>
          <a:xfrm>
            <a:off x="6080760" y="1188720"/>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60,68</a:t>
            </a:r>
            <a:endParaRPr lang="en-US" sz="1170" dirty="0"/>
          </a:p>
        </p:txBody>
      </p:sp>
      <p:sp>
        <p:nvSpPr>
          <p:cNvPr id="16" name="Text 14"/>
          <p:cNvSpPr/>
          <p:nvPr/>
        </p:nvSpPr>
        <p:spPr>
          <a:xfrm>
            <a:off x="7315200" y="1188720"/>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+0,02</a:t>
            </a:r>
            <a:endParaRPr lang="en-US" sz="1170" dirty="0"/>
          </a:p>
        </p:txBody>
      </p:sp>
      <p:sp>
        <p:nvSpPr>
          <p:cNvPr id="17" name="Shape 15"/>
          <p:cNvSpPr/>
          <p:nvPr/>
        </p:nvSpPr>
        <p:spPr>
          <a:xfrm>
            <a:off x="502920" y="1572768"/>
            <a:ext cx="7955280" cy="0"/>
          </a:xfrm>
          <a:prstGeom prst="line">
            <a:avLst/>
          </a:prstGeom>
          <a:noFill/>
          <a:ln w="12700">
            <a:solidFill>
              <a:srgbClr val="D9D6DF"/>
            </a:solidFill>
            <a:prstDash val="solid"/>
            <a:tailEnd type="none"/>
          </a:ln>
        </p:spPr>
      </p:sp>
      <p:sp>
        <p:nvSpPr>
          <p:cNvPr id="18" name="Text 16"/>
          <p:cNvSpPr/>
          <p:nvPr/>
        </p:nvSpPr>
        <p:spPr>
          <a:xfrm>
            <a:off x="502920" y="1572768"/>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Hộp phần tử</a:t>
            </a:r>
            <a:endParaRPr lang="en-US" sz="1170" dirty="0"/>
          </a:p>
        </p:txBody>
      </p:sp>
      <p:sp>
        <p:nvSpPr>
          <p:cNvPr id="19" name="Text 17"/>
          <p:cNvSpPr/>
          <p:nvPr/>
        </p:nvSpPr>
        <p:spPr>
          <a:xfrm>
            <a:off x="2651760" y="1572768"/>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53,60</a:t>
            </a:r>
            <a:endParaRPr lang="en-US" sz="1170" dirty="0"/>
          </a:p>
        </p:txBody>
      </p:sp>
      <p:sp>
        <p:nvSpPr>
          <p:cNvPr id="20" name="Text 18"/>
          <p:cNvSpPr/>
          <p:nvPr/>
        </p:nvSpPr>
        <p:spPr>
          <a:xfrm>
            <a:off x="3749040" y="1572768"/>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65,49</a:t>
            </a:r>
            <a:endParaRPr lang="en-US" sz="1170" dirty="0"/>
          </a:p>
        </p:txBody>
      </p:sp>
      <p:sp>
        <p:nvSpPr>
          <p:cNvPr id="21" name="Text 19"/>
          <p:cNvSpPr/>
          <p:nvPr/>
        </p:nvSpPr>
        <p:spPr>
          <a:xfrm>
            <a:off x="4846320" y="1572768"/>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67,02</a:t>
            </a:r>
            <a:endParaRPr lang="en-US" sz="1170" dirty="0"/>
          </a:p>
        </p:txBody>
      </p:sp>
      <p:sp>
        <p:nvSpPr>
          <p:cNvPr id="22" name="Text 20"/>
          <p:cNvSpPr/>
          <p:nvPr/>
        </p:nvSpPr>
        <p:spPr>
          <a:xfrm>
            <a:off x="6080760" y="1572768"/>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67,11</a:t>
            </a:r>
            <a:endParaRPr lang="en-US" sz="1170" dirty="0"/>
          </a:p>
        </p:txBody>
      </p:sp>
      <p:sp>
        <p:nvSpPr>
          <p:cNvPr id="23" name="Text 21"/>
          <p:cNvSpPr/>
          <p:nvPr/>
        </p:nvSpPr>
        <p:spPr>
          <a:xfrm>
            <a:off x="7315200" y="1572768"/>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+0,09</a:t>
            </a:r>
            <a:endParaRPr lang="en-US" sz="1170" dirty="0"/>
          </a:p>
        </p:txBody>
      </p:sp>
      <p:sp>
        <p:nvSpPr>
          <p:cNvPr id="24" name="Shape 22"/>
          <p:cNvSpPr/>
          <p:nvPr/>
        </p:nvSpPr>
        <p:spPr>
          <a:xfrm>
            <a:off x="502920" y="1956816"/>
            <a:ext cx="7955280" cy="0"/>
          </a:xfrm>
          <a:prstGeom prst="line">
            <a:avLst/>
          </a:prstGeom>
          <a:noFill/>
          <a:ln w="12700">
            <a:solidFill>
              <a:srgbClr val="D9D6DF"/>
            </a:solidFill>
            <a:prstDash val="solid"/>
            <a:tailEnd type="none"/>
          </a:ln>
        </p:spPr>
      </p:sp>
      <p:sp>
        <p:nvSpPr>
          <p:cNvPr id="25" name="Text 23"/>
          <p:cNvSpPr/>
          <p:nvPr/>
        </p:nvSpPr>
        <p:spPr>
          <a:xfrm>
            <a:off x="502920" y="1956816"/>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AitW đầy đủ</a:t>
            </a:r>
            <a:endParaRPr lang="en-US" sz="1170" dirty="0"/>
          </a:p>
        </p:txBody>
      </p:sp>
      <p:sp>
        <p:nvSpPr>
          <p:cNvPr id="26" name="Text 24"/>
          <p:cNvSpPr/>
          <p:nvPr/>
        </p:nvSpPr>
        <p:spPr>
          <a:xfrm>
            <a:off x="2651760" y="1956816"/>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63,39</a:t>
            </a:r>
            <a:endParaRPr lang="en-US" sz="1170" dirty="0"/>
          </a:p>
        </p:txBody>
      </p:sp>
      <p:sp>
        <p:nvSpPr>
          <p:cNvPr id="27" name="Text 25"/>
          <p:cNvSpPr/>
          <p:nvPr/>
        </p:nvSpPr>
        <p:spPr>
          <a:xfrm>
            <a:off x="3749040" y="1956816"/>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74,37</a:t>
            </a:r>
            <a:endParaRPr lang="en-US" sz="1170" dirty="0"/>
          </a:p>
        </p:txBody>
      </p:sp>
      <p:sp>
        <p:nvSpPr>
          <p:cNvPr id="28" name="Text 26"/>
          <p:cNvSpPr/>
          <p:nvPr/>
        </p:nvSpPr>
        <p:spPr>
          <a:xfrm>
            <a:off x="4846320" y="1956816"/>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76,25</a:t>
            </a:r>
            <a:endParaRPr lang="en-US" sz="1170" dirty="0"/>
          </a:p>
        </p:txBody>
      </p:sp>
      <p:sp>
        <p:nvSpPr>
          <p:cNvPr id="29" name="Text 27"/>
          <p:cNvSpPr/>
          <p:nvPr/>
        </p:nvSpPr>
        <p:spPr>
          <a:xfrm>
            <a:off x="6080760" y="1956816"/>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76,32</a:t>
            </a:r>
            <a:endParaRPr lang="en-US" sz="1170" dirty="0"/>
          </a:p>
        </p:txBody>
      </p:sp>
      <p:sp>
        <p:nvSpPr>
          <p:cNvPr id="30" name="Text 28"/>
          <p:cNvSpPr/>
          <p:nvPr/>
        </p:nvSpPr>
        <p:spPr>
          <a:xfrm>
            <a:off x="7315200" y="1956816"/>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+0,07</a:t>
            </a:r>
            <a:endParaRPr lang="en-US" sz="1170" dirty="0"/>
          </a:p>
        </p:txBody>
      </p:sp>
      <p:sp>
        <p:nvSpPr>
          <p:cNvPr id="31" name="Shape 29"/>
          <p:cNvSpPr/>
          <p:nvPr/>
        </p:nvSpPr>
        <p:spPr>
          <a:xfrm>
            <a:off x="502920" y="2340864"/>
            <a:ext cx="7955280" cy="0"/>
          </a:xfrm>
          <a:prstGeom prst="line">
            <a:avLst/>
          </a:prstGeom>
          <a:noFill/>
          <a:ln w="12700">
            <a:solidFill>
              <a:srgbClr val="D9D6DF"/>
            </a:solidFill>
            <a:prstDash val="solid"/>
            <a:tailEnd type="none"/>
          </a:ln>
        </p:spPr>
      </p:sp>
      <p:sp>
        <p:nvSpPr>
          <p:cNvPr id="32" name="Text 30"/>
          <p:cNvSpPr/>
          <p:nvPr/>
        </p:nvSpPr>
        <p:spPr>
          <a:xfrm>
            <a:off x="502920" y="2340864"/>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BLEU-4</a:t>
            </a:r>
            <a:endParaRPr lang="en-US" sz="1170" dirty="0"/>
          </a:p>
        </p:txBody>
      </p:sp>
      <p:sp>
        <p:nvSpPr>
          <p:cNvPr id="33" name="Text 31"/>
          <p:cNvSpPr/>
          <p:nvPr/>
        </p:nvSpPr>
        <p:spPr>
          <a:xfrm>
            <a:off x="2651760" y="2340864"/>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15,30</a:t>
            </a:r>
            <a:endParaRPr lang="en-US" sz="1170" dirty="0"/>
          </a:p>
        </p:txBody>
      </p:sp>
      <p:sp>
        <p:nvSpPr>
          <p:cNvPr id="34" name="Text 32"/>
          <p:cNvSpPr/>
          <p:nvPr/>
        </p:nvSpPr>
        <p:spPr>
          <a:xfrm>
            <a:off x="3749040" y="2340864"/>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51,56</a:t>
            </a:r>
            <a:endParaRPr lang="en-US" sz="1170" dirty="0"/>
          </a:p>
        </p:txBody>
      </p:sp>
      <p:sp>
        <p:nvSpPr>
          <p:cNvPr id="35" name="Text 33"/>
          <p:cNvSpPr/>
          <p:nvPr/>
        </p:nvSpPr>
        <p:spPr>
          <a:xfrm>
            <a:off x="4846320" y="2340864"/>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52,36</a:t>
            </a:r>
            <a:endParaRPr lang="en-US" sz="1170" dirty="0"/>
          </a:p>
        </p:txBody>
      </p:sp>
      <p:sp>
        <p:nvSpPr>
          <p:cNvPr id="36" name="Text 34"/>
          <p:cNvSpPr/>
          <p:nvPr/>
        </p:nvSpPr>
        <p:spPr>
          <a:xfrm>
            <a:off x="6080760" y="2340864"/>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53,47</a:t>
            </a:r>
            <a:endParaRPr lang="en-US" sz="1170" dirty="0"/>
          </a:p>
        </p:txBody>
      </p:sp>
      <p:sp>
        <p:nvSpPr>
          <p:cNvPr id="37" name="Text 35"/>
          <p:cNvSpPr/>
          <p:nvPr/>
        </p:nvSpPr>
        <p:spPr>
          <a:xfrm>
            <a:off x="7315200" y="2340864"/>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+1,11</a:t>
            </a:r>
            <a:endParaRPr lang="en-US" sz="1170" dirty="0"/>
          </a:p>
        </p:txBody>
      </p:sp>
      <p:sp>
        <p:nvSpPr>
          <p:cNvPr id="38" name="Shape 36"/>
          <p:cNvSpPr/>
          <p:nvPr/>
        </p:nvSpPr>
        <p:spPr>
          <a:xfrm>
            <a:off x="502920" y="2724912"/>
            <a:ext cx="7955280" cy="0"/>
          </a:xfrm>
          <a:prstGeom prst="line">
            <a:avLst/>
          </a:prstGeom>
          <a:noFill/>
          <a:ln w="12700">
            <a:solidFill>
              <a:srgbClr val="D9D6DF"/>
            </a:solidFill>
            <a:prstDash val="solid"/>
            <a:tailEnd type="none"/>
          </a:ln>
        </p:spPr>
      </p:sp>
      <p:sp>
        <p:nvSpPr>
          <p:cNvPr id="39" name="Text 37"/>
          <p:cNvSpPr/>
          <p:nvPr/>
        </p:nvSpPr>
        <p:spPr>
          <a:xfrm>
            <a:off x="502920" y="2724912"/>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METEOR</a:t>
            </a:r>
            <a:endParaRPr lang="en-US" sz="1170" dirty="0"/>
          </a:p>
        </p:txBody>
      </p:sp>
      <p:sp>
        <p:nvSpPr>
          <p:cNvPr id="40" name="Text 38"/>
          <p:cNvSpPr/>
          <p:nvPr/>
        </p:nvSpPr>
        <p:spPr>
          <a:xfrm>
            <a:off x="2651760" y="2724912"/>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24,60</a:t>
            </a:r>
            <a:endParaRPr lang="en-US" sz="1170" dirty="0"/>
          </a:p>
        </p:txBody>
      </p:sp>
      <p:sp>
        <p:nvSpPr>
          <p:cNvPr id="41" name="Text 39"/>
          <p:cNvSpPr/>
          <p:nvPr/>
        </p:nvSpPr>
        <p:spPr>
          <a:xfrm>
            <a:off x="3749040" y="2724912"/>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36,79</a:t>
            </a:r>
            <a:endParaRPr lang="en-US" sz="1170" dirty="0"/>
          </a:p>
        </p:txBody>
      </p:sp>
      <p:sp>
        <p:nvSpPr>
          <p:cNvPr id="42" name="Text 40"/>
          <p:cNvSpPr/>
          <p:nvPr/>
        </p:nvSpPr>
        <p:spPr>
          <a:xfrm>
            <a:off x="4846320" y="2724912"/>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37,92</a:t>
            </a:r>
            <a:endParaRPr lang="en-US" sz="1170" dirty="0"/>
          </a:p>
        </p:txBody>
      </p:sp>
      <p:sp>
        <p:nvSpPr>
          <p:cNvPr id="43" name="Text 41"/>
          <p:cNvSpPr/>
          <p:nvPr/>
        </p:nvSpPr>
        <p:spPr>
          <a:xfrm>
            <a:off x="6080760" y="2724912"/>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38,37</a:t>
            </a:r>
            <a:endParaRPr lang="en-US" sz="1170" dirty="0"/>
          </a:p>
        </p:txBody>
      </p:sp>
      <p:sp>
        <p:nvSpPr>
          <p:cNvPr id="44" name="Text 42"/>
          <p:cNvSpPr/>
          <p:nvPr/>
        </p:nvSpPr>
        <p:spPr>
          <a:xfrm>
            <a:off x="7315200" y="2724912"/>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+0,45</a:t>
            </a:r>
            <a:endParaRPr lang="en-US" sz="1170" dirty="0"/>
          </a:p>
        </p:txBody>
      </p:sp>
      <p:sp>
        <p:nvSpPr>
          <p:cNvPr id="45" name="Shape 43"/>
          <p:cNvSpPr/>
          <p:nvPr/>
        </p:nvSpPr>
        <p:spPr>
          <a:xfrm>
            <a:off x="502920" y="3108960"/>
            <a:ext cx="7955280" cy="0"/>
          </a:xfrm>
          <a:prstGeom prst="line">
            <a:avLst/>
          </a:prstGeom>
          <a:noFill/>
          <a:ln w="12700">
            <a:solidFill>
              <a:srgbClr val="D9D6DF"/>
            </a:solidFill>
            <a:prstDash val="solid"/>
            <a:tailEnd type="none"/>
          </a:ln>
        </p:spPr>
      </p:sp>
      <p:sp>
        <p:nvSpPr>
          <p:cNvPr id="46" name="Text 44"/>
          <p:cNvSpPr/>
          <p:nvPr/>
        </p:nvSpPr>
        <p:spPr>
          <a:xfrm>
            <a:off x="502920" y="3108960"/>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ROUGE-L</a:t>
            </a:r>
            <a:endParaRPr lang="en-US" sz="1170" dirty="0"/>
          </a:p>
        </p:txBody>
      </p:sp>
      <p:sp>
        <p:nvSpPr>
          <p:cNvPr id="47" name="Text 45"/>
          <p:cNvSpPr/>
          <p:nvPr/>
        </p:nvSpPr>
        <p:spPr>
          <a:xfrm>
            <a:off x="2651760" y="3108960"/>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42,30</a:t>
            </a:r>
            <a:endParaRPr lang="en-US" sz="1170" dirty="0"/>
          </a:p>
        </p:txBody>
      </p:sp>
      <p:sp>
        <p:nvSpPr>
          <p:cNvPr id="48" name="Text 46"/>
          <p:cNvSpPr/>
          <p:nvPr/>
        </p:nvSpPr>
        <p:spPr>
          <a:xfrm>
            <a:off x="3749040" y="3108960"/>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67,35</a:t>
            </a:r>
            <a:endParaRPr lang="en-US" sz="1170" dirty="0"/>
          </a:p>
        </p:txBody>
      </p:sp>
      <p:sp>
        <p:nvSpPr>
          <p:cNvPr id="49" name="Text 47"/>
          <p:cNvSpPr/>
          <p:nvPr/>
        </p:nvSpPr>
        <p:spPr>
          <a:xfrm>
            <a:off x="4846320" y="3108960"/>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68,36</a:t>
            </a:r>
            <a:endParaRPr lang="en-US" sz="1170" dirty="0"/>
          </a:p>
        </p:txBody>
      </p:sp>
      <p:sp>
        <p:nvSpPr>
          <p:cNvPr id="50" name="Text 48"/>
          <p:cNvSpPr/>
          <p:nvPr/>
        </p:nvSpPr>
        <p:spPr>
          <a:xfrm>
            <a:off x="6080760" y="3108960"/>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69,11</a:t>
            </a:r>
            <a:endParaRPr lang="en-US" sz="1170" dirty="0"/>
          </a:p>
        </p:txBody>
      </p:sp>
      <p:sp>
        <p:nvSpPr>
          <p:cNvPr id="51" name="Text 49"/>
          <p:cNvSpPr/>
          <p:nvPr/>
        </p:nvSpPr>
        <p:spPr>
          <a:xfrm>
            <a:off x="7315200" y="3108960"/>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+0,74</a:t>
            </a:r>
            <a:endParaRPr lang="en-US" sz="1170" dirty="0"/>
          </a:p>
        </p:txBody>
      </p:sp>
      <p:sp>
        <p:nvSpPr>
          <p:cNvPr id="52" name="Shape 50"/>
          <p:cNvSpPr/>
          <p:nvPr/>
        </p:nvSpPr>
        <p:spPr>
          <a:xfrm>
            <a:off x="502920" y="3493008"/>
            <a:ext cx="7955280" cy="0"/>
          </a:xfrm>
          <a:prstGeom prst="line">
            <a:avLst/>
          </a:prstGeom>
          <a:noFill/>
          <a:ln w="12700">
            <a:solidFill>
              <a:srgbClr val="D9D6DF"/>
            </a:solidFill>
            <a:prstDash val="solid"/>
            <a:tailEnd type="none"/>
          </a:ln>
        </p:spPr>
      </p:sp>
      <p:sp>
        <p:nvSpPr>
          <p:cNvPr id="53" name="Text 51"/>
          <p:cNvSpPr/>
          <p:nvPr/>
        </p:nvSpPr>
        <p:spPr>
          <a:xfrm>
            <a:off x="502920" y="3493008"/>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CIDEr-D</a:t>
            </a:r>
            <a:endParaRPr lang="en-US" sz="1170" dirty="0"/>
          </a:p>
        </p:txBody>
      </p:sp>
      <p:sp>
        <p:nvSpPr>
          <p:cNvPr id="54" name="Text 52"/>
          <p:cNvSpPr/>
          <p:nvPr/>
        </p:nvSpPr>
        <p:spPr>
          <a:xfrm>
            <a:off x="2651760" y="3493008"/>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88,00</a:t>
            </a:r>
            <a:endParaRPr lang="en-US" sz="1170" dirty="0"/>
          </a:p>
        </p:txBody>
      </p:sp>
      <p:sp>
        <p:nvSpPr>
          <p:cNvPr id="55" name="Text 53"/>
          <p:cNvSpPr/>
          <p:nvPr/>
        </p:nvSpPr>
        <p:spPr>
          <a:xfrm>
            <a:off x="3749040" y="3493008"/>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416,12</a:t>
            </a:r>
            <a:endParaRPr lang="en-US" sz="1170" dirty="0"/>
          </a:p>
        </p:txBody>
      </p:sp>
      <p:sp>
        <p:nvSpPr>
          <p:cNvPr id="56" name="Text 54"/>
          <p:cNvSpPr/>
          <p:nvPr/>
        </p:nvSpPr>
        <p:spPr>
          <a:xfrm>
            <a:off x="4846320" y="3493008"/>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430,05</a:t>
            </a:r>
            <a:endParaRPr lang="en-US" sz="1170" dirty="0"/>
          </a:p>
        </p:txBody>
      </p:sp>
      <p:sp>
        <p:nvSpPr>
          <p:cNvPr id="57" name="Text 55"/>
          <p:cNvSpPr/>
          <p:nvPr/>
        </p:nvSpPr>
        <p:spPr>
          <a:xfrm>
            <a:off x="6080760" y="3493008"/>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442,02</a:t>
            </a:r>
            <a:endParaRPr lang="en-US" sz="1170" dirty="0"/>
          </a:p>
        </p:txBody>
      </p:sp>
      <p:sp>
        <p:nvSpPr>
          <p:cNvPr id="58" name="Text 56"/>
          <p:cNvSpPr/>
          <p:nvPr/>
        </p:nvSpPr>
        <p:spPr>
          <a:xfrm>
            <a:off x="7315200" y="3493008"/>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+11,97</a:t>
            </a:r>
            <a:endParaRPr lang="en-US" sz="1170" dirty="0"/>
          </a:p>
        </p:txBody>
      </p:sp>
      <p:sp>
        <p:nvSpPr>
          <p:cNvPr id="59" name="Shape 57"/>
          <p:cNvSpPr/>
          <p:nvPr/>
        </p:nvSpPr>
        <p:spPr>
          <a:xfrm>
            <a:off x="502920" y="3877056"/>
            <a:ext cx="7955280" cy="0"/>
          </a:xfrm>
          <a:prstGeom prst="line">
            <a:avLst/>
          </a:prstGeom>
          <a:noFill/>
          <a:ln w="12700">
            <a:solidFill>
              <a:srgbClr val="D9D6DF"/>
            </a:solidFill>
            <a:prstDash val="solid"/>
            <a:tailEnd type="none"/>
          </a:ln>
        </p:spPr>
      </p:sp>
      <p:sp>
        <p:nvSpPr>
          <p:cNvPr id="60" name="Text 58"/>
          <p:cNvSpPr/>
          <p:nvPr/>
        </p:nvSpPr>
        <p:spPr>
          <a:xfrm>
            <a:off x="502920" y="3877056"/>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SPICE</a:t>
            </a:r>
            <a:endParaRPr lang="en-US" sz="1170" dirty="0"/>
          </a:p>
        </p:txBody>
      </p:sp>
      <p:sp>
        <p:nvSpPr>
          <p:cNvPr id="61" name="Text 59"/>
          <p:cNvSpPr/>
          <p:nvPr/>
        </p:nvSpPr>
        <p:spPr>
          <a:xfrm>
            <a:off x="2651760" y="3877056"/>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18,50</a:t>
            </a:r>
            <a:endParaRPr lang="en-US" sz="1170" dirty="0"/>
          </a:p>
        </p:txBody>
      </p:sp>
      <p:sp>
        <p:nvSpPr>
          <p:cNvPr id="62" name="Text 60"/>
          <p:cNvSpPr/>
          <p:nvPr/>
        </p:nvSpPr>
        <p:spPr>
          <a:xfrm>
            <a:off x="3749040" y="3877056"/>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44,37</a:t>
            </a:r>
            <a:endParaRPr lang="en-US" sz="1170" dirty="0"/>
          </a:p>
        </p:txBody>
      </p:sp>
      <p:sp>
        <p:nvSpPr>
          <p:cNvPr id="63" name="Text 61"/>
          <p:cNvSpPr/>
          <p:nvPr/>
        </p:nvSpPr>
        <p:spPr>
          <a:xfrm>
            <a:off x="4846320" y="3877056"/>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45,79</a:t>
            </a:r>
            <a:endParaRPr lang="en-US" sz="1170" dirty="0"/>
          </a:p>
        </p:txBody>
      </p:sp>
      <p:sp>
        <p:nvSpPr>
          <p:cNvPr id="64" name="Text 62"/>
          <p:cNvSpPr/>
          <p:nvPr/>
        </p:nvSpPr>
        <p:spPr>
          <a:xfrm>
            <a:off x="6080760" y="3877056"/>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47,13</a:t>
            </a:r>
            <a:endParaRPr lang="en-US" sz="1170" dirty="0"/>
          </a:p>
        </p:txBody>
      </p:sp>
      <p:sp>
        <p:nvSpPr>
          <p:cNvPr id="65" name="Text 63"/>
          <p:cNvSpPr/>
          <p:nvPr/>
        </p:nvSpPr>
        <p:spPr>
          <a:xfrm>
            <a:off x="7315200" y="3877056"/>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+1,33</a:t>
            </a:r>
            <a:endParaRPr lang="en-US" sz="1170" dirty="0"/>
          </a:p>
        </p:txBody>
      </p:sp>
      <p:sp>
        <p:nvSpPr>
          <p:cNvPr id="66" name="Shape 64"/>
          <p:cNvSpPr/>
          <p:nvPr/>
        </p:nvSpPr>
        <p:spPr>
          <a:xfrm>
            <a:off x="502920" y="4261104"/>
            <a:ext cx="7955280" cy="0"/>
          </a:xfrm>
          <a:prstGeom prst="line">
            <a:avLst/>
          </a:prstGeom>
          <a:noFill/>
          <a:ln w="12700">
            <a:solidFill>
              <a:srgbClr val="D9D6DF"/>
            </a:solidFill>
            <a:prstDash val="solid"/>
            <a:tailEnd type="none"/>
          </a:ln>
        </p:spPr>
      </p:sp>
      <p:sp>
        <p:nvSpPr>
          <p:cNvPr id="67" name="Text 65"/>
          <p:cNvSpPr/>
          <p:nvPr/>
        </p:nvSpPr>
        <p:spPr>
          <a:xfrm>
            <a:off x="502920" y="4261104"/>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chrF</a:t>
            </a:r>
            <a:endParaRPr lang="en-US" sz="1170" dirty="0"/>
          </a:p>
        </p:txBody>
      </p:sp>
      <p:sp>
        <p:nvSpPr>
          <p:cNvPr id="68" name="Text 66"/>
          <p:cNvSpPr/>
          <p:nvPr/>
        </p:nvSpPr>
        <p:spPr>
          <a:xfrm>
            <a:off x="2651760" y="4261104"/>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40,20</a:t>
            </a:r>
            <a:endParaRPr lang="en-US" sz="1170" dirty="0"/>
          </a:p>
        </p:txBody>
      </p:sp>
      <p:sp>
        <p:nvSpPr>
          <p:cNvPr id="69" name="Text 67"/>
          <p:cNvSpPr/>
          <p:nvPr/>
        </p:nvSpPr>
        <p:spPr>
          <a:xfrm>
            <a:off x="3749040" y="4261104"/>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61,26</a:t>
            </a:r>
            <a:endParaRPr lang="en-US" sz="1170" dirty="0"/>
          </a:p>
        </p:txBody>
      </p:sp>
      <p:sp>
        <p:nvSpPr>
          <p:cNvPr id="70" name="Text 68"/>
          <p:cNvSpPr/>
          <p:nvPr/>
        </p:nvSpPr>
        <p:spPr>
          <a:xfrm>
            <a:off x="4846320" y="4261104"/>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62,87</a:t>
            </a:r>
            <a:endParaRPr lang="en-US" sz="1170" dirty="0"/>
          </a:p>
        </p:txBody>
      </p:sp>
      <p:sp>
        <p:nvSpPr>
          <p:cNvPr id="71" name="Text 69"/>
          <p:cNvSpPr/>
          <p:nvPr/>
        </p:nvSpPr>
        <p:spPr>
          <a:xfrm>
            <a:off x="6080760" y="4261104"/>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63,44</a:t>
            </a:r>
            <a:endParaRPr lang="en-US" sz="1170" dirty="0"/>
          </a:p>
        </p:txBody>
      </p:sp>
      <p:sp>
        <p:nvSpPr>
          <p:cNvPr id="72" name="Text 70"/>
          <p:cNvSpPr/>
          <p:nvPr/>
        </p:nvSpPr>
        <p:spPr>
          <a:xfrm>
            <a:off x="7315200" y="4261104"/>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+0,58</a:t>
            </a:r>
            <a:endParaRPr lang="en-US" sz="1170" dirty="0"/>
          </a:p>
        </p:txBody>
      </p:sp>
      <p:sp>
        <p:nvSpPr>
          <p:cNvPr id="73" name="Shape 71"/>
          <p:cNvSpPr/>
          <p:nvPr/>
        </p:nvSpPr>
        <p:spPr>
          <a:xfrm>
            <a:off x="502920" y="4645152"/>
            <a:ext cx="7955280" cy="0"/>
          </a:xfrm>
          <a:prstGeom prst="line">
            <a:avLst/>
          </a:prstGeom>
          <a:noFill/>
          <a:ln w="12700">
            <a:solidFill>
              <a:srgbClr val="D9D6DF"/>
            </a:solidFill>
            <a:prstDash val="solid"/>
            <a:tailEnd type="none"/>
          </a:ln>
        </p:spPr>
      </p:sp>
      <p:sp>
        <p:nvSpPr>
          <p:cNvPr id="74" name="Text 72"/>
          <p:cNvSpPr/>
          <p:nvPr/>
        </p:nvSpPr>
        <p:spPr>
          <a:xfrm>
            <a:off x="502920" y="4645152"/>
            <a:ext cx="2148840" cy="384048"/>
          </a:xfrm>
          <a:prstGeom prst="rect">
            <a:avLst/>
          </a:prstGeom>
          <a:noFill/>
          <a:ln/>
        </p:spPr>
        <p:txBody>
          <a:bodyPr wrap="square" lIns="0" tIns="0" rIns="0" bIns="0" rtlCol="0" anchor="ctr">
            <a:normAutofit/>
          </a:bodyPr>
          <a:lstStyle/>
          <a:p>
            <a:pPr algn="l" indent="0" marL="0">
              <a:buNone/>
            </a:pPr>
            <a:r>
              <a:rPr lang="en-US" sz="1170" dirty="0">
                <a:solidFill>
                  <a:srgbClr val="1A1A1A"/>
                </a:solidFill>
                <a:latin typeface="Cambria" pitchFamily="34" charset="0"/>
                <a:ea typeface="Cambria" pitchFamily="34" charset="-122"/>
                <a:cs typeface="Cambria" pitchFamily="34" charset="-120"/>
              </a:rPr>
              <a:t>BERTScore</a:t>
            </a:r>
            <a:endParaRPr lang="en-US" sz="1170" dirty="0"/>
          </a:p>
        </p:txBody>
      </p:sp>
      <p:sp>
        <p:nvSpPr>
          <p:cNvPr id="75" name="Text 73"/>
          <p:cNvSpPr/>
          <p:nvPr/>
        </p:nvSpPr>
        <p:spPr>
          <a:xfrm>
            <a:off x="2651760" y="4645152"/>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40,10</a:t>
            </a:r>
            <a:endParaRPr lang="en-US" sz="1170" dirty="0"/>
          </a:p>
        </p:txBody>
      </p:sp>
      <p:sp>
        <p:nvSpPr>
          <p:cNvPr id="76" name="Text 74"/>
          <p:cNvSpPr/>
          <p:nvPr/>
        </p:nvSpPr>
        <p:spPr>
          <a:xfrm>
            <a:off x="3749040" y="4645152"/>
            <a:ext cx="109728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66,33</a:t>
            </a:r>
            <a:endParaRPr lang="en-US" sz="1170" dirty="0"/>
          </a:p>
        </p:txBody>
      </p:sp>
      <p:sp>
        <p:nvSpPr>
          <p:cNvPr id="77" name="Text 75"/>
          <p:cNvSpPr/>
          <p:nvPr/>
        </p:nvSpPr>
        <p:spPr>
          <a:xfrm>
            <a:off x="4846320" y="4645152"/>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67,07</a:t>
            </a:r>
            <a:endParaRPr lang="en-US" sz="1170" dirty="0"/>
          </a:p>
        </p:txBody>
      </p:sp>
      <p:sp>
        <p:nvSpPr>
          <p:cNvPr id="78" name="Text 76"/>
          <p:cNvSpPr/>
          <p:nvPr/>
        </p:nvSpPr>
        <p:spPr>
          <a:xfrm>
            <a:off x="6080760" y="4645152"/>
            <a:ext cx="123444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67,73</a:t>
            </a:r>
            <a:endParaRPr lang="en-US" sz="1170" dirty="0"/>
          </a:p>
        </p:txBody>
      </p:sp>
      <p:sp>
        <p:nvSpPr>
          <p:cNvPr id="79" name="Text 77"/>
          <p:cNvSpPr/>
          <p:nvPr/>
        </p:nvSpPr>
        <p:spPr>
          <a:xfrm>
            <a:off x="7315200" y="4645152"/>
            <a:ext cx="1143000" cy="384048"/>
          </a:xfrm>
          <a:prstGeom prst="rect">
            <a:avLst/>
          </a:prstGeom>
          <a:noFill/>
          <a:ln/>
        </p:spPr>
        <p:txBody>
          <a:bodyPr wrap="square" lIns="0" tIns="0" rIns="0" bIns="0" rtlCol="0" anchor="ctr">
            <a:normAutofit/>
          </a:bodyPr>
          <a:lstStyle/>
          <a:p>
            <a:pPr algn="ctr" indent="0" marL="0">
              <a:buNone/>
            </a:pPr>
            <a:r>
              <a:rPr lang="en-US" sz="1170" dirty="0">
                <a:solidFill>
                  <a:srgbClr val="1A1A1A"/>
                </a:solidFill>
                <a:latin typeface="Cambria" pitchFamily="34" charset="0"/>
                <a:ea typeface="Cambria" pitchFamily="34" charset="-122"/>
                <a:cs typeface="Cambria" pitchFamily="34" charset="-120"/>
              </a:rPr>
              <a:t>+0,66</a:t>
            </a:r>
            <a:endParaRPr lang="en-US" sz="1170" dirty="0"/>
          </a:p>
        </p:txBody>
      </p:sp>
      <p:sp>
        <p:nvSpPr>
          <p:cNvPr id="80" name="Shape 78"/>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81" name="Shape 79"/>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82" name="Shape 80"/>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83" name="Shape 81"/>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84" name="Text 8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85" name="Text 8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86" name="Text 8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87" name="Text 85"/>
          <p:cNvSpPr/>
          <p:nvPr/>
        </p:nvSpPr>
        <p:spPr>
          <a:xfrm>
            <a:off x="7863840" y="6620256"/>
            <a:ext cx="1280160" cy="237744"/>
          </a:xfrm>
          <a:prstGeom prst="rect">
            <a:avLst/>
          </a:prstGeom>
          <a:noFill/>
          <a:ln/>
        </p:spPr>
        <p:txBody>
          <a:bodyPr wrap="square" lIns="0" tIns="0" rIns="0" bIns="0" rtlCol="0" anchor="ctr"/>
          <a:lstStyle/>
          <a:p>
            <a:pPr algn="ctr" indent="0" marL="0">
              <a:buNone/>
            </a:pP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Đối chiếu bằng bốn công cụ đánh giá</a:t>
            </a:r>
            <a:endParaRPr lang="en-US" sz="2000" dirty="0"/>
          </a:p>
        </p:txBody>
      </p:sp>
      <p:sp>
        <p:nvSpPr>
          <p:cNvPr id="4" name="Text 2"/>
          <p:cNvSpPr/>
          <p:nvPr/>
        </p:nvSpPr>
        <p:spPr>
          <a:xfrm>
            <a:off x="502920" y="868680"/>
            <a:ext cx="8138160" cy="411480"/>
          </a:xfrm>
          <a:prstGeom prst="rect">
            <a:avLst/>
          </a:prstGeom>
          <a:noFill/>
          <a:ln/>
        </p:spPr>
        <p:txBody>
          <a:bodyPr wrap="square" lIns="0" tIns="0" rIns="0" bIns="0" rtlCol="0" anchor="ctr"/>
          <a:lstStyle/>
          <a:p>
            <a:pPr algn="ctr" indent="0" marL="0">
              <a:buNone/>
            </a:pPr>
            <a:r>
              <a:rPr lang="en-US" sz="1650" b="1" dirty="0">
                <a:solidFill>
                  <a:srgbClr val="25194B"/>
                </a:solidFill>
                <a:latin typeface="Cambria" pitchFamily="34" charset="0"/>
                <a:ea typeface="Cambria" pitchFamily="34" charset="-122"/>
                <a:cs typeface="Cambria" pitchFamily="34" charset="-120"/>
              </a:rPr>
              <a:t>GRPO-SPICE − S1 trên cùng 4.463 bước</a:t>
            </a:r>
            <a:endParaRPr lang="en-US" sz="1650" dirty="0"/>
          </a:p>
        </p:txBody>
      </p:sp>
      <p:sp>
        <p:nvSpPr>
          <p:cNvPr id="5" name="Shape 3"/>
          <p:cNvSpPr/>
          <p:nvPr/>
        </p:nvSpPr>
        <p:spPr>
          <a:xfrm>
            <a:off x="960120" y="1508760"/>
            <a:ext cx="6903720" cy="420624"/>
          </a:xfrm>
          <a:prstGeom prst="rect">
            <a:avLst/>
          </a:prstGeom>
          <a:solidFill>
            <a:srgbClr val="25194B"/>
          </a:solidFill>
          <a:ln w="12700">
            <a:solidFill>
              <a:srgbClr val="25194B">
                <a:alpha val="0"/>
              </a:srgbClr>
            </a:solidFill>
            <a:prstDash val="solid"/>
          </a:ln>
        </p:spPr>
      </p:sp>
      <p:sp>
        <p:nvSpPr>
          <p:cNvPr id="6" name="Text 4"/>
          <p:cNvSpPr/>
          <p:nvPr/>
        </p:nvSpPr>
        <p:spPr>
          <a:xfrm>
            <a:off x="960120" y="1508760"/>
            <a:ext cx="2011680" cy="42062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Cambria" pitchFamily="34" charset="0"/>
                <a:ea typeface="Cambria" pitchFamily="34" charset="-122"/>
                <a:cs typeface="Cambria" pitchFamily="34" charset="-120"/>
              </a:rPr>
              <a:t>Công cụ</a:t>
            </a:r>
            <a:endParaRPr lang="en-US" sz="1300" dirty="0"/>
          </a:p>
        </p:txBody>
      </p:sp>
      <p:sp>
        <p:nvSpPr>
          <p:cNvPr id="7" name="Text 5"/>
          <p:cNvSpPr/>
          <p:nvPr/>
        </p:nvSpPr>
        <p:spPr>
          <a:xfrm>
            <a:off x="2971800" y="1508760"/>
            <a:ext cx="1417320" cy="42062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Δ</a:t>
            </a:r>
            <a:endParaRPr lang="en-US" sz="1300" dirty="0"/>
          </a:p>
        </p:txBody>
      </p:sp>
      <p:sp>
        <p:nvSpPr>
          <p:cNvPr id="8" name="Text 6"/>
          <p:cNvSpPr/>
          <p:nvPr/>
        </p:nvSpPr>
        <p:spPr>
          <a:xfrm>
            <a:off x="4389120" y="1508760"/>
            <a:ext cx="3474720" cy="42062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KTC 95%</a:t>
            </a:r>
            <a:endParaRPr lang="en-US" sz="1300" dirty="0"/>
          </a:p>
        </p:txBody>
      </p:sp>
      <p:sp>
        <p:nvSpPr>
          <p:cNvPr id="9" name="Text 7"/>
          <p:cNvSpPr/>
          <p:nvPr/>
        </p:nvSpPr>
        <p:spPr>
          <a:xfrm>
            <a:off x="960120" y="1929384"/>
            <a:ext cx="2011680" cy="530352"/>
          </a:xfrm>
          <a:prstGeom prst="rect">
            <a:avLst/>
          </a:prstGeom>
          <a:noFill/>
          <a:ln/>
        </p:spPr>
        <p:txBody>
          <a:bodyPr wrap="square" lIns="0" tIns="0" rIns="0" bIns="0" rtlCol="0" anchor="ctr">
            <a:normAutofit/>
          </a:bodyPr>
          <a:lstStyle/>
          <a:p>
            <a:pPr algn="l" indent="0" marL="0">
              <a:buNone/>
            </a:pPr>
            <a:r>
              <a:rPr lang="en-US" sz="1300" dirty="0">
                <a:solidFill>
                  <a:srgbClr val="1A1A1A"/>
                </a:solidFill>
                <a:latin typeface="Cambria" pitchFamily="34" charset="0"/>
                <a:ea typeface="Cambria" pitchFamily="34" charset="-122"/>
                <a:cs typeface="Cambria" pitchFamily="34" charset="-120"/>
              </a:rPr>
              <a:t>UGround</a:t>
            </a:r>
            <a:endParaRPr lang="en-US" sz="1300" dirty="0"/>
          </a:p>
        </p:txBody>
      </p:sp>
      <p:sp>
        <p:nvSpPr>
          <p:cNvPr id="10" name="Text 8"/>
          <p:cNvSpPr/>
          <p:nvPr/>
        </p:nvSpPr>
        <p:spPr>
          <a:xfrm>
            <a:off x="2971800" y="1929384"/>
            <a:ext cx="14173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+1,55</a:t>
            </a:r>
            <a:endParaRPr lang="en-US" sz="1300" dirty="0"/>
          </a:p>
        </p:txBody>
      </p:sp>
      <p:sp>
        <p:nvSpPr>
          <p:cNvPr id="11" name="Text 9"/>
          <p:cNvSpPr/>
          <p:nvPr/>
        </p:nvSpPr>
        <p:spPr>
          <a:xfrm>
            <a:off x="4389120" y="1929384"/>
            <a:ext cx="34747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[+0,80; +2,33]</a:t>
            </a:r>
            <a:endParaRPr lang="en-US" sz="1300" dirty="0"/>
          </a:p>
        </p:txBody>
      </p:sp>
      <p:sp>
        <p:nvSpPr>
          <p:cNvPr id="12" name="Shape 10"/>
          <p:cNvSpPr/>
          <p:nvPr/>
        </p:nvSpPr>
        <p:spPr>
          <a:xfrm>
            <a:off x="960120" y="2459736"/>
            <a:ext cx="6903720" cy="0"/>
          </a:xfrm>
          <a:prstGeom prst="line">
            <a:avLst/>
          </a:prstGeom>
          <a:noFill/>
          <a:ln w="12700">
            <a:solidFill>
              <a:srgbClr val="D9D6DF"/>
            </a:solidFill>
            <a:prstDash val="solid"/>
            <a:tailEnd type="none"/>
          </a:ln>
        </p:spPr>
      </p:sp>
      <p:sp>
        <p:nvSpPr>
          <p:cNvPr id="13" name="Text 11"/>
          <p:cNvSpPr/>
          <p:nvPr/>
        </p:nvSpPr>
        <p:spPr>
          <a:xfrm>
            <a:off x="960120" y="2459736"/>
            <a:ext cx="2011680" cy="530352"/>
          </a:xfrm>
          <a:prstGeom prst="rect">
            <a:avLst/>
          </a:prstGeom>
          <a:noFill/>
          <a:ln/>
        </p:spPr>
        <p:txBody>
          <a:bodyPr wrap="square" lIns="0" tIns="0" rIns="0" bIns="0" rtlCol="0" anchor="ctr">
            <a:normAutofit/>
          </a:bodyPr>
          <a:lstStyle/>
          <a:p>
            <a:pPr algn="l" indent="0" marL="0">
              <a:buNone/>
            </a:pPr>
            <a:r>
              <a:rPr lang="en-US" sz="1300" dirty="0">
                <a:solidFill>
                  <a:srgbClr val="1A1A1A"/>
                </a:solidFill>
                <a:latin typeface="Cambria" pitchFamily="34" charset="0"/>
                <a:ea typeface="Cambria" pitchFamily="34" charset="-122"/>
                <a:cs typeface="Cambria" pitchFamily="34" charset="-120"/>
              </a:rPr>
              <a:t>UI-Venus</a:t>
            </a:r>
            <a:endParaRPr lang="en-US" sz="1300" dirty="0"/>
          </a:p>
        </p:txBody>
      </p:sp>
      <p:sp>
        <p:nvSpPr>
          <p:cNvPr id="14" name="Text 12"/>
          <p:cNvSpPr/>
          <p:nvPr/>
        </p:nvSpPr>
        <p:spPr>
          <a:xfrm>
            <a:off x="2971800" y="2459736"/>
            <a:ext cx="14173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+1,55</a:t>
            </a:r>
            <a:endParaRPr lang="en-US" sz="1300" dirty="0"/>
          </a:p>
        </p:txBody>
      </p:sp>
      <p:sp>
        <p:nvSpPr>
          <p:cNvPr id="15" name="Text 13"/>
          <p:cNvSpPr/>
          <p:nvPr/>
        </p:nvSpPr>
        <p:spPr>
          <a:xfrm>
            <a:off x="4389120" y="2459736"/>
            <a:ext cx="34747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[+0,82; +2,30]</a:t>
            </a:r>
            <a:endParaRPr lang="en-US" sz="1300" dirty="0"/>
          </a:p>
        </p:txBody>
      </p:sp>
      <p:sp>
        <p:nvSpPr>
          <p:cNvPr id="16" name="Shape 14"/>
          <p:cNvSpPr/>
          <p:nvPr/>
        </p:nvSpPr>
        <p:spPr>
          <a:xfrm>
            <a:off x="960120" y="2990088"/>
            <a:ext cx="6903720" cy="0"/>
          </a:xfrm>
          <a:prstGeom prst="line">
            <a:avLst/>
          </a:prstGeom>
          <a:noFill/>
          <a:ln w="12700">
            <a:solidFill>
              <a:srgbClr val="D9D6DF"/>
            </a:solidFill>
            <a:prstDash val="solid"/>
            <a:tailEnd type="none"/>
          </a:ln>
        </p:spPr>
      </p:sp>
      <p:sp>
        <p:nvSpPr>
          <p:cNvPr id="17" name="Text 15"/>
          <p:cNvSpPr/>
          <p:nvPr/>
        </p:nvSpPr>
        <p:spPr>
          <a:xfrm>
            <a:off x="960120" y="2990088"/>
            <a:ext cx="2011680" cy="530352"/>
          </a:xfrm>
          <a:prstGeom prst="rect">
            <a:avLst/>
          </a:prstGeom>
          <a:noFill/>
          <a:ln/>
        </p:spPr>
        <p:txBody>
          <a:bodyPr wrap="square" lIns="0" tIns="0" rIns="0" bIns="0" rtlCol="0" anchor="ctr">
            <a:normAutofit/>
          </a:bodyPr>
          <a:lstStyle/>
          <a:p>
            <a:pPr algn="l" indent="0" marL="0">
              <a:buNone/>
            </a:pPr>
            <a:r>
              <a:rPr lang="en-US" sz="1300" dirty="0">
                <a:solidFill>
                  <a:srgbClr val="1A1A1A"/>
                </a:solidFill>
                <a:latin typeface="Cambria" pitchFamily="34" charset="0"/>
                <a:ea typeface="Cambria" pitchFamily="34" charset="-122"/>
                <a:cs typeface="Cambria" pitchFamily="34" charset="-120"/>
              </a:rPr>
              <a:t>Phi-Ground</a:t>
            </a:r>
            <a:endParaRPr lang="en-US" sz="1300" dirty="0"/>
          </a:p>
        </p:txBody>
      </p:sp>
      <p:sp>
        <p:nvSpPr>
          <p:cNvPr id="18" name="Text 16"/>
          <p:cNvSpPr/>
          <p:nvPr/>
        </p:nvSpPr>
        <p:spPr>
          <a:xfrm>
            <a:off x="2971800" y="2990088"/>
            <a:ext cx="14173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+0,78</a:t>
            </a:r>
            <a:endParaRPr lang="en-US" sz="1300" dirty="0"/>
          </a:p>
        </p:txBody>
      </p:sp>
      <p:sp>
        <p:nvSpPr>
          <p:cNvPr id="19" name="Text 17"/>
          <p:cNvSpPr/>
          <p:nvPr/>
        </p:nvSpPr>
        <p:spPr>
          <a:xfrm>
            <a:off x="4389120" y="2990088"/>
            <a:ext cx="34747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[+0,05; +1,51]</a:t>
            </a:r>
            <a:endParaRPr lang="en-US" sz="1300" dirty="0"/>
          </a:p>
        </p:txBody>
      </p:sp>
      <p:sp>
        <p:nvSpPr>
          <p:cNvPr id="20" name="Shape 18"/>
          <p:cNvSpPr/>
          <p:nvPr/>
        </p:nvSpPr>
        <p:spPr>
          <a:xfrm>
            <a:off x="960120" y="3520440"/>
            <a:ext cx="6903720" cy="0"/>
          </a:xfrm>
          <a:prstGeom prst="line">
            <a:avLst/>
          </a:prstGeom>
          <a:noFill/>
          <a:ln w="12700">
            <a:solidFill>
              <a:srgbClr val="D9D6DF"/>
            </a:solidFill>
            <a:prstDash val="solid"/>
            <a:tailEnd type="none"/>
          </a:ln>
        </p:spPr>
      </p:sp>
      <p:sp>
        <p:nvSpPr>
          <p:cNvPr id="21" name="Text 19"/>
          <p:cNvSpPr/>
          <p:nvPr/>
        </p:nvSpPr>
        <p:spPr>
          <a:xfrm>
            <a:off x="960120" y="3520440"/>
            <a:ext cx="2011680" cy="530352"/>
          </a:xfrm>
          <a:prstGeom prst="rect">
            <a:avLst/>
          </a:prstGeom>
          <a:noFill/>
          <a:ln/>
        </p:spPr>
        <p:txBody>
          <a:bodyPr wrap="square" lIns="0" tIns="0" rIns="0" bIns="0" rtlCol="0" anchor="ctr">
            <a:normAutofit/>
          </a:bodyPr>
          <a:lstStyle/>
          <a:p>
            <a:pPr algn="l" indent="0" marL="0">
              <a:buNone/>
            </a:pPr>
            <a:r>
              <a:rPr lang="en-US" sz="1300" dirty="0">
                <a:solidFill>
                  <a:srgbClr val="1A1A1A"/>
                </a:solidFill>
                <a:latin typeface="Cambria" pitchFamily="34" charset="0"/>
                <a:ea typeface="Cambria" pitchFamily="34" charset="-122"/>
                <a:cs typeface="Cambria" pitchFamily="34" charset="-120"/>
              </a:rPr>
              <a:t>Phi-4</a:t>
            </a:r>
            <a:endParaRPr lang="en-US" sz="1300" dirty="0"/>
          </a:p>
        </p:txBody>
      </p:sp>
      <p:sp>
        <p:nvSpPr>
          <p:cNvPr id="22" name="Text 20"/>
          <p:cNvSpPr/>
          <p:nvPr/>
        </p:nvSpPr>
        <p:spPr>
          <a:xfrm>
            <a:off x="2971800" y="3520440"/>
            <a:ext cx="14173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+0,69</a:t>
            </a:r>
            <a:endParaRPr lang="en-US" sz="1300" dirty="0"/>
          </a:p>
        </p:txBody>
      </p:sp>
      <p:sp>
        <p:nvSpPr>
          <p:cNvPr id="23" name="Text 21"/>
          <p:cNvSpPr/>
          <p:nvPr/>
        </p:nvSpPr>
        <p:spPr>
          <a:xfrm>
            <a:off x="4389120" y="3520440"/>
            <a:ext cx="3474720" cy="530352"/>
          </a:xfrm>
          <a:prstGeom prst="rect">
            <a:avLst/>
          </a:prstGeom>
          <a:noFill/>
          <a:ln/>
        </p:spPr>
        <p:txBody>
          <a:bodyPr wrap="square" lIns="0" tIns="0" rIns="0" bIns="0" rtlCol="0" anchor="ctr">
            <a:normAutofit/>
          </a:bodyPr>
          <a:lstStyle/>
          <a:p>
            <a:pPr algn="ctr" indent="0" marL="0">
              <a:buNone/>
            </a:pPr>
            <a:r>
              <a:rPr lang="en-US" sz="1300" dirty="0">
                <a:solidFill>
                  <a:srgbClr val="1A1A1A"/>
                </a:solidFill>
                <a:latin typeface="Cambria" pitchFamily="34" charset="0"/>
                <a:ea typeface="Cambria" pitchFamily="34" charset="-122"/>
                <a:cs typeface="Cambria" pitchFamily="34" charset="-120"/>
              </a:rPr>
              <a:t>[+0,02; +1,40]</a:t>
            </a:r>
            <a:endParaRPr lang="en-US" sz="1300" dirty="0"/>
          </a:p>
        </p:txBody>
      </p:sp>
      <p:sp>
        <p:nvSpPr>
          <p:cNvPr id="24" name="Text 22"/>
          <p:cNvSpPr/>
          <p:nvPr/>
        </p:nvSpPr>
        <p:spPr>
          <a:xfrm>
            <a:off x="502920" y="4343400"/>
            <a:ext cx="8138160" cy="594360"/>
          </a:xfrm>
          <a:prstGeom prst="rect">
            <a:avLst/>
          </a:prstGeom>
          <a:noFill/>
          <a:ln/>
        </p:spPr>
        <p:txBody>
          <a:bodyPr wrap="square" lIns="0" tIns="0" rIns="0" bIns="0" rtlCol="0" anchor="ctr">
            <a:normAutofit/>
          </a:bodyPr>
          <a:lstStyle/>
          <a:p>
            <a:pPr algn="ctr" indent="0" marL="0">
              <a:buNone/>
            </a:pPr>
            <a:r>
              <a:rPr lang="en-US" sz="1450" b="1" dirty="0">
                <a:solidFill>
                  <a:srgbClr val="25194B"/>
                </a:solidFill>
                <a:latin typeface="Cambria" pitchFamily="34" charset="0"/>
                <a:ea typeface="Cambria" pitchFamily="34" charset="-122"/>
                <a:cs typeface="Cambria" pitchFamily="34" charset="-120"/>
              </a:rPr>
              <a:t>Cả bốn khoảng tin cậy đều nằm trên 0. Phi-Ground và Phi-4 nằm ngoài họ Qwen.</a:t>
            </a:r>
            <a:endParaRPr lang="en-US" sz="1450" dirty="0"/>
          </a:p>
        </p:txBody>
      </p:sp>
      <p:sp>
        <p:nvSpPr>
          <p:cNvPr id="25" name="Shape 23"/>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6" name="Shape 24"/>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7" name="Shape 25"/>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8" name="Shape 26"/>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9" name="Text 2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30"/>
          <p:cNvSpPr/>
          <p:nvPr/>
        </p:nvSpPr>
        <p:spPr>
          <a:xfrm>
            <a:off x="7863840" y="6620256"/>
            <a:ext cx="1280160" cy="237744"/>
          </a:xfrm>
          <a:prstGeom prst="rect">
            <a:avLst/>
          </a:prstGeom>
          <a:noFill/>
          <a:ln/>
        </p:spPr>
        <p:txBody>
          <a:bodyPr wrap="square" lIns="0" tIns="0" rIns="0" bIns="0" rtlCol="0" anchor="ctr"/>
          <a:lstStyle/>
          <a:p>
            <a:pPr algn="ctr" indent="0" marL="0">
              <a:buNone/>
            </a:pP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5194B"/>
          </a:solidFill>
          <a:ln w="12700">
            <a:solidFill>
              <a:srgbClr val="25194B">
                <a:alpha val="0"/>
              </a:srgbClr>
            </a:solidFill>
            <a:prstDash val="solid"/>
          </a:ln>
        </p:spPr>
      </p:sp>
      <p:sp>
        <p:nvSpPr>
          <p:cNvPr id="3" name="Text 1"/>
          <p:cNvSpPr/>
          <p:nvPr/>
        </p:nvSpPr>
        <p:spPr>
          <a:xfrm>
            <a:off x="201168" y="0"/>
            <a:ext cx="8741664"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Cấu hình huấn luyện</a:t>
            </a:r>
            <a:endParaRPr lang="en-US" sz="2000" dirty="0"/>
          </a:p>
        </p:txBody>
      </p:sp>
      <p:sp>
        <p:nvSpPr>
          <p:cNvPr id="4" name="Shape 2"/>
          <p:cNvSpPr/>
          <p:nvPr/>
        </p:nvSpPr>
        <p:spPr>
          <a:xfrm>
            <a:off x="502920" y="914400"/>
            <a:ext cx="8046720" cy="402336"/>
          </a:xfrm>
          <a:prstGeom prst="rect">
            <a:avLst/>
          </a:prstGeom>
          <a:solidFill>
            <a:srgbClr val="25194B"/>
          </a:solidFill>
          <a:ln w="12700">
            <a:solidFill>
              <a:srgbClr val="25194B">
                <a:alpha val="0"/>
              </a:srgbClr>
            </a:solidFill>
            <a:prstDash val="solid"/>
          </a:ln>
        </p:spPr>
      </p:sp>
      <p:sp>
        <p:nvSpPr>
          <p:cNvPr id="5" name="Text 3"/>
          <p:cNvSpPr/>
          <p:nvPr/>
        </p:nvSpPr>
        <p:spPr>
          <a:xfrm>
            <a:off x="502920" y="914400"/>
            <a:ext cx="2743200" cy="402336"/>
          </a:xfrm>
          <a:prstGeom prst="rect">
            <a:avLst/>
          </a:prstGeom>
          <a:noFill/>
          <a:ln/>
        </p:spPr>
        <p:txBody>
          <a:bodyPr wrap="square" lIns="0" tIns="0" rIns="0" bIns="0" rtlCol="0" anchor="ctr">
            <a:normAutofit/>
          </a:bodyPr>
          <a:lstStyle/>
          <a:p>
            <a:pPr algn="l" indent="0" marL="0">
              <a:buNone/>
            </a:pPr>
            <a:r>
              <a:rPr lang="en-US" sz="1270" b="1" dirty="0">
                <a:solidFill>
                  <a:srgbClr val="FFFFFF"/>
                </a:solidFill>
                <a:latin typeface="Cambria" pitchFamily="34" charset="0"/>
                <a:ea typeface="Cambria" pitchFamily="34" charset="-122"/>
                <a:cs typeface="Cambria" pitchFamily="34" charset="-120"/>
              </a:rPr>
              <a:t>Hạng mục</a:t>
            </a:r>
            <a:endParaRPr lang="en-US" sz="1270" dirty="0"/>
          </a:p>
        </p:txBody>
      </p:sp>
      <p:sp>
        <p:nvSpPr>
          <p:cNvPr id="6" name="Text 4"/>
          <p:cNvSpPr/>
          <p:nvPr/>
        </p:nvSpPr>
        <p:spPr>
          <a:xfrm>
            <a:off x="3246120" y="914400"/>
            <a:ext cx="5303520" cy="402336"/>
          </a:xfrm>
          <a:prstGeom prst="rect">
            <a:avLst/>
          </a:prstGeom>
          <a:noFill/>
          <a:ln/>
        </p:spPr>
        <p:txBody>
          <a:bodyPr wrap="square" lIns="0" tIns="0" rIns="0" bIns="0" rtlCol="0" anchor="ctr">
            <a:normAutofit/>
          </a:bodyPr>
          <a:lstStyle/>
          <a:p>
            <a:pPr algn="l" indent="0" marL="0">
              <a:buNone/>
            </a:pPr>
            <a:r>
              <a:rPr lang="en-US" sz="1270" b="1" dirty="0">
                <a:solidFill>
                  <a:srgbClr val="FFFFFF"/>
                </a:solidFill>
                <a:latin typeface="Cambria" pitchFamily="34" charset="0"/>
                <a:ea typeface="Cambria" pitchFamily="34" charset="-122"/>
                <a:cs typeface="Cambria" pitchFamily="34" charset="-120"/>
              </a:rPr>
              <a:t>Giá trị</a:t>
            </a:r>
            <a:endParaRPr lang="en-US" sz="1270" dirty="0"/>
          </a:p>
        </p:txBody>
      </p:sp>
      <p:sp>
        <p:nvSpPr>
          <p:cNvPr id="7" name="Text 5"/>
          <p:cNvSpPr/>
          <p:nvPr/>
        </p:nvSpPr>
        <p:spPr>
          <a:xfrm>
            <a:off x="502920" y="1316736"/>
            <a:ext cx="274320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Backbone</a:t>
            </a:r>
            <a:endParaRPr lang="en-US" sz="1270" dirty="0"/>
          </a:p>
        </p:txBody>
      </p:sp>
      <p:sp>
        <p:nvSpPr>
          <p:cNvPr id="8" name="Text 6"/>
          <p:cNvSpPr/>
          <p:nvPr/>
        </p:nvSpPr>
        <p:spPr>
          <a:xfrm>
            <a:off x="3246120" y="1316736"/>
            <a:ext cx="530352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Qwen2.5-VL-3B-Instruct</a:t>
            </a:r>
            <a:endParaRPr lang="en-US" sz="1270" dirty="0"/>
          </a:p>
        </p:txBody>
      </p:sp>
      <p:sp>
        <p:nvSpPr>
          <p:cNvPr id="9" name="Shape 7"/>
          <p:cNvSpPr/>
          <p:nvPr/>
        </p:nvSpPr>
        <p:spPr>
          <a:xfrm>
            <a:off x="502920" y="1755648"/>
            <a:ext cx="8046720" cy="0"/>
          </a:xfrm>
          <a:prstGeom prst="line">
            <a:avLst/>
          </a:prstGeom>
          <a:noFill/>
          <a:ln w="12700">
            <a:solidFill>
              <a:srgbClr val="D9D6DF"/>
            </a:solidFill>
            <a:prstDash val="solid"/>
            <a:tailEnd type="none"/>
          </a:ln>
        </p:spPr>
      </p:sp>
      <p:sp>
        <p:nvSpPr>
          <p:cNvPr id="10" name="Text 8"/>
          <p:cNvSpPr/>
          <p:nvPr/>
        </p:nvSpPr>
        <p:spPr>
          <a:xfrm>
            <a:off x="502920" y="1755648"/>
            <a:ext cx="274320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Fine-tuning</a:t>
            </a:r>
            <a:endParaRPr lang="en-US" sz="1270" dirty="0"/>
          </a:p>
        </p:txBody>
      </p:sp>
      <p:sp>
        <p:nvSpPr>
          <p:cNvPr id="11" name="Text 9"/>
          <p:cNvSpPr/>
          <p:nvPr/>
        </p:nvSpPr>
        <p:spPr>
          <a:xfrm>
            <a:off x="3246120" y="1755648"/>
            <a:ext cx="530352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QLoRA NF4 4-bit, rank 8, alpha 16, dropout 0,05</a:t>
            </a:r>
            <a:endParaRPr lang="en-US" sz="1270" dirty="0"/>
          </a:p>
        </p:txBody>
      </p:sp>
      <p:sp>
        <p:nvSpPr>
          <p:cNvPr id="12" name="Shape 10"/>
          <p:cNvSpPr/>
          <p:nvPr/>
        </p:nvSpPr>
        <p:spPr>
          <a:xfrm>
            <a:off x="502920" y="2194560"/>
            <a:ext cx="8046720" cy="0"/>
          </a:xfrm>
          <a:prstGeom prst="line">
            <a:avLst/>
          </a:prstGeom>
          <a:noFill/>
          <a:ln w="12700">
            <a:solidFill>
              <a:srgbClr val="D9D6DF"/>
            </a:solidFill>
            <a:prstDash val="solid"/>
            <a:tailEnd type="none"/>
          </a:ln>
        </p:spPr>
      </p:sp>
      <p:sp>
        <p:nvSpPr>
          <p:cNvPr id="13" name="Text 11"/>
          <p:cNvSpPr/>
          <p:nvPr/>
        </p:nvSpPr>
        <p:spPr>
          <a:xfrm>
            <a:off x="502920" y="2194560"/>
            <a:ext cx="274320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SFT</a:t>
            </a:r>
            <a:endParaRPr lang="en-US" sz="1270" dirty="0"/>
          </a:p>
        </p:txBody>
      </p:sp>
      <p:sp>
        <p:nvSpPr>
          <p:cNvPr id="14" name="Text 12"/>
          <p:cNvSpPr/>
          <p:nvPr/>
        </p:nvSpPr>
        <p:spPr>
          <a:xfrm>
            <a:off x="3246120" y="2194560"/>
            <a:ext cx="530352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2 epochs = 8.072 steps, batch hiệu dụng 16, LR 1e−4</a:t>
            </a:r>
            <a:endParaRPr lang="en-US" sz="1270" dirty="0"/>
          </a:p>
        </p:txBody>
      </p:sp>
      <p:sp>
        <p:nvSpPr>
          <p:cNvPr id="15" name="Shape 13"/>
          <p:cNvSpPr/>
          <p:nvPr/>
        </p:nvSpPr>
        <p:spPr>
          <a:xfrm>
            <a:off x="502920" y="2633472"/>
            <a:ext cx="8046720" cy="0"/>
          </a:xfrm>
          <a:prstGeom prst="line">
            <a:avLst/>
          </a:prstGeom>
          <a:noFill/>
          <a:ln w="12700">
            <a:solidFill>
              <a:srgbClr val="D9D6DF"/>
            </a:solidFill>
            <a:prstDash val="solid"/>
            <a:tailEnd type="none"/>
          </a:ln>
        </p:spPr>
      </p:sp>
      <p:sp>
        <p:nvSpPr>
          <p:cNvPr id="16" name="Text 14"/>
          <p:cNvSpPr/>
          <p:nvPr/>
        </p:nvSpPr>
        <p:spPr>
          <a:xfrm>
            <a:off x="502920" y="2633472"/>
            <a:ext cx="274320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GRPO</a:t>
            </a:r>
            <a:endParaRPr lang="en-US" sz="1270" dirty="0"/>
          </a:p>
        </p:txBody>
      </p:sp>
      <p:sp>
        <p:nvSpPr>
          <p:cNvPr id="17" name="Text 15"/>
          <p:cNvSpPr/>
          <p:nvPr/>
        </p:nvSpPr>
        <p:spPr>
          <a:xfrm>
            <a:off x="3246120" y="2633472"/>
            <a:ext cx="530352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8 samples/prompt, 500 updates, LR 1e−5, KL β 0,04</a:t>
            </a:r>
            <a:endParaRPr lang="en-US" sz="1270" dirty="0"/>
          </a:p>
        </p:txBody>
      </p:sp>
      <p:sp>
        <p:nvSpPr>
          <p:cNvPr id="18" name="Shape 16"/>
          <p:cNvSpPr/>
          <p:nvPr/>
        </p:nvSpPr>
        <p:spPr>
          <a:xfrm>
            <a:off x="502920" y="3072384"/>
            <a:ext cx="8046720" cy="0"/>
          </a:xfrm>
          <a:prstGeom prst="line">
            <a:avLst/>
          </a:prstGeom>
          <a:noFill/>
          <a:ln w="12700">
            <a:solidFill>
              <a:srgbClr val="D9D6DF"/>
            </a:solidFill>
            <a:prstDash val="solid"/>
            <a:tailEnd type="none"/>
          </a:ln>
        </p:spPr>
      </p:sp>
      <p:sp>
        <p:nvSpPr>
          <p:cNvPr id="19" name="Text 17"/>
          <p:cNvSpPr/>
          <p:nvPr/>
        </p:nvSpPr>
        <p:spPr>
          <a:xfrm>
            <a:off x="502920" y="3072384"/>
            <a:ext cx="274320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Phần cứng</a:t>
            </a:r>
            <a:endParaRPr lang="en-US" sz="1270" dirty="0"/>
          </a:p>
        </p:txBody>
      </p:sp>
      <p:sp>
        <p:nvSpPr>
          <p:cNvPr id="20" name="Text 18"/>
          <p:cNvSpPr/>
          <p:nvPr/>
        </p:nvSpPr>
        <p:spPr>
          <a:xfrm>
            <a:off x="3246120" y="3072384"/>
            <a:ext cx="5303520" cy="438912"/>
          </a:xfrm>
          <a:prstGeom prst="rect">
            <a:avLst/>
          </a:prstGeom>
          <a:noFill/>
          <a:ln/>
        </p:spPr>
        <p:txBody>
          <a:bodyPr wrap="square" lIns="0" tIns="0" rIns="0" bIns="0" rtlCol="0" anchor="ctr">
            <a:normAutofit/>
          </a:bodyPr>
          <a:lstStyle/>
          <a:p>
            <a:pPr algn="l" indent="0" marL="0">
              <a:buNone/>
            </a:pPr>
            <a:r>
              <a:rPr lang="en-US" sz="1270" dirty="0">
                <a:solidFill>
                  <a:srgbClr val="1A1A1A"/>
                </a:solidFill>
                <a:latin typeface="Cambria" pitchFamily="34" charset="0"/>
                <a:ea typeface="Cambria" pitchFamily="34" charset="-122"/>
                <a:cs typeface="Cambria" pitchFamily="34" charset="-120"/>
              </a:rPr>
              <a:t>1 × A100, vision tower không cập nhật tham số</a:t>
            </a:r>
            <a:endParaRPr lang="en-US" sz="1270" dirty="0"/>
          </a:p>
        </p:txBody>
      </p:sp>
      <p:sp>
        <p:nvSpPr>
          <p:cNvPr id="21" name="Shape 19"/>
          <p:cNvSpPr/>
          <p:nvPr/>
        </p:nvSpPr>
        <p:spPr>
          <a:xfrm>
            <a:off x="0" y="6620256"/>
            <a:ext cx="2743200" cy="237744"/>
          </a:xfrm>
          <a:prstGeom prst="rect">
            <a:avLst/>
          </a:prstGeom>
          <a:solidFill>
            <a:srgbClr val="191132"/>
          </a:solidFill>
          <a:ln w="12700">
            <a:solidFill>
              <a:srgbClr val="191132">
                <a:alpha val="0"/>
              </a:srgbClr>
            </a:solidFill>
            <a:prstDash val="solid"/>
          </a:ln>
        </p:spPr>
      </p:sp>
      <p:sp>
        <p:nvSpPr>
          <p:cNvPr id="22" name="Shape 20"/>
          <p:cNvSpPr/>
          <p:nvPr/>
        </p:nvSpPr>
        <p:spPr>
          <a:xfrm>
            <a:off x="2743200" y="6620256"/>
            <a:ext cx="3383280" cy="237744"/>
          </a:xfrm>
          <a:prstGeom prst="rect">
            <a:avLst/>
          </a:prstGeom>
          <a:solidFill>
            <a:srgbClr val="25194B"/>
          </a:solidFill>
          <a:ln w="12700">
            <a:solidFill>
              <a:srgbClr val="25194B">
                <a:alpha val="0"/>
              </a:srgbClr>
            </a:solidFill>
            <a:prstDash val="solid"/>
          </a:ln>
        </p:spPr>
      </p:sp>
      <p:sp>
        <p:nvSpPr>
          <p:cNvPr id="23" name="Shape 21"/>
          <p:cNvSpPr/>
          <p:nvPr/>
        </p:nvSpPr>
        <p:spPr>
          <a:xfrm>
            <a:off x="6126480" y="6620256"/>
            <a:ext cx="1737360" cy="237744"/>
          </a:xfrm>
          <a:prstGeom prst="rect">
            <a:avLst/>
          </a:prstGeom>
          <a:solidFill>
            <a:srgbClr val="4F417A"/>
          </a:solidFill>
          <a:ln w="12700">
            <a:solidFill>
              <a:srgbClr val="4F417A">
                <a:alpha val="0"/>
              </a:srgbClr>
            </a:solidFill>
            <a:prstDash val="solid"/>
          </a:ln>
        </p:spPr>
      </p:sp>
      <p:sp>
        <p:nvSpPr>
          <p:cNvPr id="24" name="Shape 22"/>
          <p:cNvSpPr/>
          <p:nvPr/>
        </p:nvSpPr>
        <p:spPr>
          <a:xfrm>
            <a:off x="7863840" y="6620256"/>
            <a:ext cx="1280160" cy="237744"/>
          </a:xfrm>
          <a:prstGeom prst="rect">
            <a:avLst/>
          </a:prstGeom>
          <a:solidFill>
            <a:srgbClr val="7A7099"/>
          </a:solidFill>
          <a:ln w="12700">
            <a:solidFill>
              <a:srgbClr val="7A7099">
                <a:alpha val="0"/>
              </a:srgbClr>
            </a:solidFill>
            <a:prstDash val="solid"/>
          </a:ln>
        </p:spPr>
      </p:sp>
      <p:sp>
        <p:nvSpPr>
          <p:cNvPr id="25" name="Text 2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6" name="Text 2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7" name="Text 2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6"/>
          <p:cNvSpPr/>
          <p:nvPr/>
        </p:nvSpPr>
        <p:spPr>
          <a:xfrm>
            <a:off x="7863840" y="6620256"/>
            <a:ext cx="1280160" cy="237744"/>
          </a:xfrm>
          <a:prstGeom prst="rect">
            <a:avLst/>
          </a:prstGeom>
          <a:noFill/>
          <a:ln/>
        </p:spPr>
        <p:txBody>
          <a:bodyPr wrap="square" lIns="0" tIns="0" rIns="0" bIns="0" rtlCol="0" anchor="ctr"/>
          <a:lstStyle/>
          <a:p>
            <a:pPr algn="ctr" indent="0" marL="0">
              <a:buNone/>
            </a:pP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Phat sinh tu dong huong dan su dung phan mem dua tren LLM</dc:title>
  <dc:subject>Master thesis defense</dc:subject>
  <dc:creator>Le Doan Phuong Uyen</dc:creator>
  <cp:lastModifiedBy>Le Doan Phuong Uyen</cp:lastModifiedBy>
  <cp:revision>1</cp:revision>
  <dcterms:created xsi:type="dcterms:W3CDTF">2026-10-27T03:17:38Z</dcterms:created>
  <dcterms:modified xsi:type="dcterms:W3CDTF">2026-10-27T03:17:38Z</dcterms:modified>
</cp:coreProperties>
</file>