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ĐẠI HỌC QUỐC GIA TP. HỒ CHÍ MINH  -  TRƯỜNG ĐẠI HỌC KHOA HỌC TỰ NHIÊN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078992"/>
            <a:ext cx="7680960" cy="2286000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THẠC SĨ  -  NGÀNH TRÍ TUỆ NHÂN TẠO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792224"/>
            <a:ext cx="7406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</a:t>
            </a:r>
            <a:endParaRPr lang="en-US" sz="2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DỰA TRÊN LLM TỪ CÁC TRƯỜNG HỢP SỬ DỤNG</a:t>
            </a:r>
            <a:endParaRPr lang="en-US" sz="2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GIAO DIỆN NGƯỜI DÙNG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4160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 thực hiện: Lê Đoàn Phương Uyên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Giáo viên hướng dẫn: TS. Nguyễn Hồng Bửu Long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37667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TP. Hồ Chí Minh - 2026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Giới thiệu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Từ trạng thái giao diện hiện tại, sinh một câu hướng dẫn để người dùng biết chính xác bước tiếp theo cần làm.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847088"/>
            <a:ext cx="18745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4708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Màn hình hiện tại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78608" y="2286000"/>
            <a:ext cx="43891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127248" y="1847088"/>
            <a:ext cx="18745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27248" y="184708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sinh câu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11496" y="2286000"/>
            <a:ext cx="43891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669280" y="1719072"/>
            <a:ext cx="2697480" cy="11155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1719072"/>
            <a:ext cx="2697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“Chạm vào Not now”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0292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vào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21208" y="388620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74904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Ảnh màn hình hiện tại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21208" y="43891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25196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người dùng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21208" y="48920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75488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sử thao tác trước đó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21208" y="53949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25780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Thông tin OCR trên giao diện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709160" y="3456432"/>
            <a:ext cx="3840480" cy="16459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983480" y="41605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hướng dẫn cho</a:t>
            </a:r>
            <a:endParaRPr lang="en-US" sz="1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tiếp theo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2920" y="555955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 của luận văn là câu hướng dẫn cho người dùng, không phải tọa độ để agent tự thao tác.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2/25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Giới thiệu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nghe hoàn toàn tự nhiên vẫn có thể không đủ thông tin để người dùng chọn đúng phần tử.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mơ hồ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the button.”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biết phải chạm nút nào khi màn hình có nhiều nút.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463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đủ rõ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749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Not now.”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1206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ra đúng phần tử cần thao tác.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486460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vậy, câu hướng dẫn không chỉ cần đúng nội dung mà còn phải phân biệt được đúng phần tử cần thao tác.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3/25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Giới thiệu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thước đo dựa trên câu chuẩn và executability phản ánh hai khía cạnh bổ sung cho nhau.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 / ROUGE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Đo mức giống câu chuẩn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01568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01568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/ CIDEr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Đo tương đồng nội dung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2331720" cy="14630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16916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Xác định đúng phần tử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đúng loại thao tác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đó, luận văn đánh giá cả mức tương đồng với câu chuẩn và khả năng xác định đúng phần tử, đúng loại thao tác.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4/25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Giới thiệu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2529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Phương pháp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22376" y="1847088"/>
            <a:ext cx="20756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tối ưu câu hướng dẫn. ACE cải thiện câu sau sinh nhưng vẫn giữ executability.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319272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6432" y="122529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Executability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66160" y="1847088"/>
            <a:ext cx="20299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tách biệt kiểm tra câu có dẫn tới đúng phần tử và đúng thao tác.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6126480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54496" y="117043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Phân tích thực nghiệm</a:t>
            </a:r>
            <a:endParaRPr lang="en-US" sz="1630" dirty="0"/>
          </a:p>
        </p:txBody>
      </p:sp>
      <p:sp>
        <p:nvSpPr>
          <p:cNvPr id="12" name="Text 10"/>
          <p:cNvSpPr/>
          <p:nvPr/>
        </p:nvSpPr>
        <p:spPr>
          <a:xfrm>
            <a:off x="6355080" y="1847088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chứng, lặp huấn luyện và nhiều điều kiện đánh giá được dùng để kiểm tra độ ổn định.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trên tập kiểm chính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01568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01568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trên tác vụ chưa có trong tập dạy S1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80760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số câu tăng sau ACE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5/25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và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huấn luyện và tập kiểm tra chính được tách theo tác vụ; không có tác vụ xuất hiện ở cả hai phía.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8138160" cy="49377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36192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endParaRPr lang="en-US" sz="1370" dirty="0"/>
          </a:p>
        </p:txBody>
      </p:sp>
      <p:sp>
        <p:nvSpPr>
          <p:cNvPr id="7" name="Text 5"/>
          <p:cNvSpPr/>
          <p:nvPr/>
        </p:nvSpPr>
        <p:spPr>
          <a:xfrm>
            <a:off x="3017520" y="153619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</a:t>
            </a:r>
            <a:endParaRPr lang="en-US" sz="1370" dirty="0"/>
          </a:p>
        </p:txBody>
      </p:sp>
      <p:sp>
        <p:nvSpPr>
          <p:cNvPr id="8" name="Text 6"/>
          <p:cNvSpPr/>
          <p:nvPr/>
        </p:nvSpPr>
        <p:spPr>
          <a:xfrm>
            <a:off x="4709160" y="153619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chính</a:t>
            </a:r>
            <a:endParaRPr lang="en-US" sz="1370" dirty="0"/>
          </a:p>
        </p:txBody>
      </p:sp>
      <p:sp>
        <p:nvSpPr>
          <p:cNvPr id="9" name="Text 7"/>
          <p:cNvSpPr/>
          <p:nvPr/>
        </p:nvSpPr>
        <p:spPr>
          <a:xfrm>
            <a:off x="6400800" y="1536192"/>
            <a:ext cx="2240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Ghi chú</a:t>
            </a:r>
            <a:endParaRPr lang="en-US" sz="137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bước</a:t>
            </a:r>
            <a:endParaRPr lang="en-US" sz="1420" dirty="0"/>
          </a:p>
        </p:txBody>
      </p:sp>
      <p:sp>
        <p:nvSpPr>
          <p:cNvPr id="11" name="Text 9"/>
          <p:cNvSpPr/>
          <p:nvPr/>
        </p:nvSpPr>
        <p:spPr>
          <a:xfrm>
            <a:off x="3017520" y="2029968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64.567</a:t>
            </a:r>
            <a:endParaRPr lang="en-US" sz="1420" dirty="0"/>
          </a:p>
        </p:txBody>
      </p:sp>
      <p:sp>
        <p:nvSpPr>
          <p:cNvPr id="12" name="Text 10"/>
          <p:cNvSpPr/>
          <p:nvPr/>
        </p:nvSpPr>
        <p:spPr>
          <a:xfrm>
            <a:off x="4709160" y="2029968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6.958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6400800" y="2029968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 theo tác vụ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502920" y="2615184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502920" y="2615184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có thao tác chạm</a:t>
            </a:r>
            <a:endParaRPr lang="en-US" sz="1420" dirty="0"/>
          </a:p>
        </p:txBody>
      </p:sp>
      <p:sp>
        <p:nvSpPr>
          <p:cNvPr id="16" name="Text 14"/>
          <p:cNvSpPr/>
          <p:nvPr/>
        </p:nvSpPr>
        <p:spPr>
          <a:xfrm>
            <a:off x="3017520" y="261518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41.191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4709160" y="261518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</a:t>
            </a:r>
            <a:endParaRPr lang="en-US" sz="1420" dirty="0"/>
          </a:p>
        </p:txBody>
      </p:sp>
      <p:sp>
        <p:nvSpPr>
          <p:cNvPr id="18" name="Text 16"/>
          <p:cNvSpPr/>
          <p:nvPr/>
        </p:nvSpPr>
        <p:spPr>
          <a:xfrm>
            <a:off x="6400800" y="26151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chính của executability</a:t>
            </a:r>
            <a:endParaRPr lang="en-US" sz="1420" dirty="0"/>
          </a:p>
        </p:txBody>
      </p:sp>
      <p:sp>
        <p:nvSpPr>
          <p:cNvPr id="19" name="Shape 17"/>
          <p:cNvSpPr/>
          <p:nvPr/>
        </p:nvSpPr>
        <p:spPr>
          <a:xfrm>
            <a:off x="502920" y="320040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3200400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tác vụ</a:t>
            </a:r>
            <a:endParaRPr lang="en-US" sz="1420" dirty="0"/>
          </a:p>
        </p:txBody>
      </p:sp>
      <p:sp>
        <p:nvSpPr>
          <p:cNvPr id="21" name="Text 19"/>
          <p:cNvSpPr/>
          <p:nvPr/>
        </p:nvSpPr>
        <p:spPr>
          <a:xfrm>
            <a:off x="3017520" y="3200400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12.895</a:t>
            </a:r>
            <a:endParaRPr lang="en-US" sz="1420" dirty="0"/>
          </a:p>
        </p:txBody>
      </p:sp>
      <p:sp>
        <p:nvSpPr>
          <p:cNvPr id="22" name="Text 20"/>
          <p:cNvSpPr/>
          <p:nvPr/>
        </p:nvSpPr>
        <p:spPr>
          <a:xfrm>
            <a:off x="4709160" y="3200400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1.432</a:t>
            </a:r>
            <a:endParaRPr lang="en-US" sz="1420" dirty="0"/>
          </a:p>
        </p:txBody>
      </p:sp>
      <p:sp>
        <p:nvSpPr>
          <p:cNvPr id="23" name="Text 21"/>
          <p:cNvSpPr/>
          <p:nvPr/>
        </p:nvSpPr>
        <p:spPr>
          <a:xfrm>
            <a:off x="6400800" y="3200400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trùng tác vụ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502920" y="398678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tổng quát hóa bổ sung</a:t>
            </a:r>
            <a:endParaRPr lang="en-US" sz="1520" dirty="0"/>
          </a:p>
        </p:txBody>
      </p:sp>
      <p:sp>
        <p:nvSpPr>
          <p:cNvPr id="25" name="Shape 23"/>
          <p:cNvSpPr/>
          <p:nvPr/>
        </p:nvSpPr>
        <p:spPr>
          <a:xfrm>
            <a:off x="502920" y="4498848"/>
            <a:ext cx="3886200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" y="46451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44752" y="4553712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1.484 bước từ các tác vụ chưa có trong tập huấn luyện</a:t>
            </a:r>
            <a:endParaRPr lang="en-US" sz="1410" dirty="0"/>
          </a:p>
        </p:txBody>
      </p:sp>
      <p:sp>
        <p:nvSpPr>
          <p:cNvPr id="28" name="Shape 26"/>
          <p:cNvSpPr/>
          <p:nvPr/>
        </p:nvSpPr>
        <p:spPr>
          <a:xfrm>
            <a:off x="4754880" y="4498848"/>
            <a:ext cx="3886200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9472" y="46451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687568" y="4553712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khả năng chuyển miền sang phân phối dữ liệu khác</a:t>
            </a:r>
            <a:endParaRPr lang="en-US" sz="1410" dirty="0"/>
          </a:p>
        </p:txBody>
      </p:sp>
      <p:sp>
        <p:nvSpPr>
          <p:cNvPr id="31" name="Shape 2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6/25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và đánh giá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173736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72768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441448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07792" y="1444752"/>
            <a:ext cx="205740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07792" y="14447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tách biệt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74920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541264" y="1572768"/>
            <a:ext cx="1188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41264" y="1572768"/>
            <a:ext cx="1188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(x,y)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39712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296912" y="1371600"/>
            <a:ext cx="1261872" cy="1243584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6912" y="1371600"/>
            <a:ext cx="12618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3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tử + thao tác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502920" y="3182112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được tính đúng khi đồng thời: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521208" y="38130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675888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21208" y="43799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242816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diễn đạt ngược thao tác cần làm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21208" y="494690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809744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định vị thuộc vùng của phần tử cần chạm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546811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không tham gia huấn luyện phương pháp và không biết tọa độ đáp án.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7/25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và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giảm mạnh khi câu mất thông tin cần thiết để xác định đúng phần tử.</a:t>
            </a:r>
            <a:endParaRPr lang="en-US" sz="1660" dirty="0"/>
          </a:p>
        </p:txBody>
      </p:sp>
      <p:sp>
        <p:nvSpPr>
          <p:cNvPr id="5" name="Text 3"/>
          <p:cNvSpPr/>
          <p:nvPr/>
        </p:nvSpPr>
        <p:spPr>
          <a:xfrm>
            <a:off x="960120" y="161848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chuẩn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3108960" y="169164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691640"/>
            <a:ext cx="3867672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42632" y="160934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75,7%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60120" y="244144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the button.”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3108960" y="251460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2514600"/>
            <a:ext cx="613105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42632" y="243230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12,0%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60120" y="326440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của màn hình khác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3108960" y="333756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3337560"/>
            <a:ext cx="31166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42632" y="325526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6,1%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502920" y="431596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mẫu 800 bước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51560" y="4773168"/>
            <a:ext cx="7040880" cy="71323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61872" y="4773168"/>
            <a:ext cx="6620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phản ứng đúng theo mức thông tin của câu hướng dẫn.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8/25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đề xuất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686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34440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481328" y="1645920"/>
            <a:ext cx="32004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901952" y="1143000"/>
            <a:ext cx="1965960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01952" y="11430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 ban đầu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977640" y="1645920"/>
            <a:ext cx="32004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07408" y="1143000"/>
            <a:ext cx="1965960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7408" y="11430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hiệu chỉnh có chọn lọc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92240" y="1645920"/>
            <a:ext cx="32004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922008" y="1143000"/>
            <a:ext cx="1719072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22008" y="114300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cuối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312724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21208" y="3721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584448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8 câu cho cùng đầu vào.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521208" y="44165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279392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SPICE + phạt độ dài để cập nhật mô hình.</a:t>
            </a:r>
            <a:endParaRPr lang="en-US" sz="1520" dirty="0"/>
          </a:p>
        </p:txBody>
      </p:sp>
      <p:sp>
        <p:nvSpPr>
          <p:cNvPr id="20" name="Text 18"/>
          <p:cNvSpPr/>
          <p:nvPr/>
        </p:nvSpPr>
        <p:spPr>
          <a:xfrm>
            <a:off x="4617720" y="31272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636008" y="3721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8032" y="3584448"/>
            <a:ext cx="3767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câu ví dụ từ tập dạy.</a:t>
            </a:r>
            <a:endParaRPr lang="en-US" sz="1520" dirty="0"/>
          </a:p>
        </p:txBody>
      </p:sp>
      <p:sp>
        <p:nvSpPr>
          <p:cNvPr id="23" name="Shape 21"/>
          <p:cNvSpPr/>
          <p:nvPr/>
        </p:nvSpPr>
        <p:spPr>
          <a:xfrm>
            <a:off x="4636008" y="44165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4279392"/>
            <a:ext cx="3767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thay câu ban đầu khi qua 2 điều kiện chọn lọc.</a:t>
            </a:r>
            <a:endParaRPr lang="en-US" sz="1520" dirty="0"/>
          </a:p>
        </p:txBody>
      </p:sp>
      <p:sp>
        <p:nvSpPr>
          <p:cNvPr id="25" name="Text 23"/>
          <p:cNvSpPr/>
          <p:nvPr/>
        </p:nvSpPr>
        <p:spPr>
          <a:xfrm>
            <a:off x="502920" y="532180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 không nằm trong hàm thưởng và không tham gia vào quá trình sinh câu.</a:t>
            </a:r>
            <a:endParaRPr lang="en-US" sz="142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9/25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đề xuất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417320" cy="8412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đầu vào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84832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78608" y="1517904"/>
            <a:ext cx="160020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78608" y="1517904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câu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dẫn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91456" y="1517904"/>
            <a:ext cx="164592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91456" y="1517904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phạt độ dài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556248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050024" y="1463040"/>
            <a:ext cx="1554480" cy="12984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50024" y="1463040"/>
            <a:ext cx="1554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Cập nhật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3337560"/>
            <a:ext cx="8138160" cy="15727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566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Vai trò của SPICE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441448" y="3401568"/>
            <a:ext cx="5943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ưu tiên đúng nội dung hơn mức giống câu chữ.</a:t>
            </a:r>
            <a:endParaRPr lang="en-US" sz="15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Tín hiệu huấn luyện tập trung vào đối tượng và quan hệ cần mô tả.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502920" y="5303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 bước cập nhật từ S1 · nhánh đối chứng dùng cùng cấu hình huấn luyện.</a:t>
            </a:r>
            <a:endParaRPr lang="en-US" sz="144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10/25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 đề xuất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411480" y="1143000"/>
            <a:ext cx="15087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ban đầu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2011680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50592" y="1051560"/>
            <a:ext cx="1737360" cy="10515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50592" y="10515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câu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từ train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79392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18304" y="1051560"/>
            <a:ext cx="1417320" cy="10515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0515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ứng viên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27064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65976" y="960120"/>
            <a:ext cx="2011680" cy="12344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65976" y="9601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điều kiện chọn lọc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127248"/>
            <a:ext cx="3840480" cy="107899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3127248"/>
            <a:ext cx="35112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Câu ứng viên phải giống hoàn toàn một trong bốn câu ví dụ được truy hồi.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00600" y="3127248"/>
            <a:ext cx="3840480" cy="107899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65192" y="3127248"/>
            <a:ext cx="35112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Động từ đầu câu phải cùng lớp thao tác với câu ban đầu.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645920" y="4663440"/>
            <a:ext cx="2560320" cy="74980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45920" y="466344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Đủ điều kiện → dùng câu mới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4663440"/>
            <a:ext cx="2560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466344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đủ → giữ câu ban đầu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11/25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trên tập kiểm chính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68680" y="1408176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chưa tinh chỉnh</a:t>
            </a:r>
            <a:endParaRPr lang="en-US" sz="1390" dirty="0"/>
          </a:p>
        </p:txBody>
      </p:sp>
      <p:sp>
        <p:nvSpPr>
          <p:cNvPr id="6" name="Shape 4"/>
          <p:cNvSpPr/>
          <p:nvPr/>
        </p:nvSpPr>
        <p:spPr>
          <a:xfrm>
            <a:off x="3108960" y="1481328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481328"/>
            <a:ext cx="300597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60920" y="139903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47,59%</a:t>
            </a:r>
            <a:endParaRPr lang="en-US" sz="1390" dirty="0"/>
          </a:p>
        </p:txBody>
      </p:sp>
      <p:sp>
        <p:nvSpPr>
          <p:cNvPr id="9" name="Text 7"/>
          <p:cNvSpPr/>
          <p:nvPr/>
        </p:nvSpPr>
        <p:spPr>
          <a:xfrm>
            <a:off x="868680" y="2121408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7B · prompting</a:t>
            </a:r>
            <a:endParaRPr lang="en-US" sz="1390" dirty="0"/>
          </a:p>
        </p:txBody>
      </p:sp>
      <p:sp>
        <p:nvSpPr>
          <p:cNvPr id="10" name="Shape 8"/>
          <p:cNvSpPr/>
          <p:nvPr/>
        </p:nvSpPr>
        <p:spPr>
          <a:xfrm>
            <a:off x="3108960" y="2194560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2194560"/>
            <a:ext cx="3253574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211226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51,51%</a:t>
            </a:r>
            <a:endParaRPr lang="en-US" sz="1390" dirty="0"/>
          </a:p>
        </p:txBody>
      </p:sp>
      <p:sp>
        <p:nvSpPr>
          <p:cNvPr id="13" name="Text 11"/>
          <p:cNvSpPr/>
          <p:nvPr/>
        </p:nvSpPr>
        <p:spPr>
          <a:xfrm>
            <a:off x="868680" y="2834640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S1</a:t>
            </a:r>
            <a:endParaRPr lang="en-US" sz="1390" dirty="0"/>
          </a:p>
        </p:txBody>
      </p:sp>
      <p:sp>
        <p:nvSpPr>
          <p:cNvPr id="14" name="Shape 12"/>
          <p:cNvSpPr/>
          <p:nvPr/>
        </p:nvSpPr>
        <p:spPr>
          <a:xfrm>
            <a:off x="3108960" y="2907792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2907792"/>
            <a:ext cx="3733620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28254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1390" dirty="0"/>
          </a:p>
        </p:txBody>
      </p:sp>
      <p:sp>
        <p:nvSpPr>
          <p:cNvPr id="17" name="Text 15"/>
          <p:cNvSpPr/>
          <p:nvPr/>
        </p:nvSpPr>
        <p:spPr>
          <a:xfrm>
            <a:off x="868680" y="3547872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GRPO-SPICE</a:t>
            </a:r>
            <a:endParaRPr lang="en-US" sz="1390" dirty="0"/>
          </a:p>
        </p:txBody>
      </p:sp>
      <p:sp>
        <p:nvSpPr>
          <p:cNvPr id="18" name="Shape 16"/>
          <p:cNvSpPr/>
          <p:nvPr/>
        </p:nvSpPr>
        <p:spPr>
          <a:xfrm>
            <a:off x="3108960" y="3621024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08960" y="3621024"/>
            <a:ext cx="3830893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60920" y="3538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60,65%</a:t>
            </a:r>
            <a:endParaRPr lang="en-US" sz="1390" dirty="0"/>
          </a:p>
        </p:txBody>
      </p:sp>
      <p:sp>
        <p:nvSpPr>
          <p:cNvPr id="21" name="Shape 19"/>
          <p:cNvSpPr/>
          <p:nvPr/>
        </p:nvSpPr>
        <p:spPr>
          <a:xfrm>
            <a:off x="960120" y="4498848"/>
            <a:ext cx="7223760" cy="786384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498848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+ GRPO-SPICE cao hơn 7B prompting  +9,14 điểm</a:t>
            </a:r>
            <a:endParaRPr lang="en-US" sz="1720" dirty="0"/>
          </a:p>
        </p:txBody>
      </p:sp>
      <p:sp>
        <p:nvSpPr>
          <p:cNvPr id="23" name="Text 21"/>
          <p:cNvSpPr/>
          <p:nvPr/>
        </p:nvSpPr>
        <p:spPr>
          <a:xfrm>
            <a:off x="502920" y="554126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7B dùng cùng prompt của Base và không được tối ưu prompt riêng.</a:t>
            </a:r>
            <a:endParaRPr lang="en-US" sz="1260" dirty="0"/>
          </a:p>
        </p:txBody>
      </p:sp>
      <p:sp>
        <p:nvSpPr>
          <p:cNvPr id="24" name="Shape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12/25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500 bước huấn luyện, chỉ nhánh dùng đúng tín hiệu SPICE tăng điểm.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32688" y="1563624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2898648" y="1636776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98648" y="1636776"/>
            <a:ext cx="4023736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33488" y="15544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32688" y="2368296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· đối chứng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2898648" y="2441448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98648" y="2441448"/>
            <a:ext cx="4023736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3488" y="23591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32688" y="3172968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2898648" y="3246120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8648" y="3246120"/>
            <a:ext cx="4128567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3348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60,65%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1005840" y="4224528"/>
            <a:ext cx="71323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0" y="4224528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 điểm so với đối chứng   ·   KTC 95% [+0,81; +2,30]</a:t>
            </a:r>
            <a:endParaRPr lang="en-US" sz="1660" dirty="0"/>
          </a:p>
        </p:txBody>
      </p:sp>
      <p:sp>
        <p:nvSpPr>
          <p:cNvPr id="19" name="Text 17"/>
          <p:cNvSpPr/>
          <p:nvPr/>
        </p:nvSpPr>
        <p:spPr>
          <a:xfrm>
            <a:off x="502920" y="54681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 chỉ số chất lượng câu có KTC đều tăng so với đối chứng.</a:t>
            </a:r>
            <a:endParaRPr lang="en-US" sz="1340" dirty="0"/>
          </a:p>
        </p:txBody>
      </p:sp>
      <p:sp>
        <p:nvSpPr>
          <p:cNvPr id="20" name="Shape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13/25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50392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7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đạt kết quả tốt nhất trên các độ đo chính.</a:t>
            </a:r>
            <a:endParaRPr lang="en-US" sz="1670" dirty="0"/>
          </a:p>
        </p:txBody>
      </p:sp>
      <p:sp>
        <p:nvSpPr>
          <p:cNvPr id="5" name="Shape 3"/>
          <p:cNvSpPr/>
          <p:nvPr/>
        </p:nvSpPr>
        <p:spPr>
          <a:xfrm>
            <a:off x="585216" y="3108960"/>
            <a:ext cx="7973568" cy="658368"/>
          </a:xfrm>
          <a:prstGeom prst="rect">
            <a:avLst/>
          </a:prstGeom>
          <a:solidFill>
            <a:srgbClr val="F0EEF5"/>
          </a:solidFill>
          <a:ln w="12700">
            <a:solidFill>
              <a:srgbClr val="F0EEF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" y="1389888"/>
            <a:ext cx="7964424" cy="51206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389888"/>
            <a:ext cx="1847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340" dirty="0"/>
          </a:p>
        </p:txBody>
      </p:sp>
      <p:sp>
        <p:nvSpPr>
          <p:cNvPr id="8" name="Text 6"/>
          <p:cNvSpPr/>
          <p:nvPr/>
        </p:nvSpPr>
        <p:spPr>
          <a:xfrm>
            <a:off x="2432304" y="1389888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340" dirty="0"/>
          </a:p>
        </p:txBody>
      </p:sp>
      <p:sp>
        <p:nvSpPr>
          <p:cNvPr id="9" name="Text 7"/>
          <p:cNvSpPr/>
          <p:nvPr/>
        </p:nvSpPr>
        <p:spPr>
          <a:xfrm>
            <a:off x="3511296" y="1389888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</a:t>
            </a:r>
            <a:endParaRPr lang="en-US" sz="1340" dirty="0"/>
          </a:p>
        </p:txBody>
      </p:sp>
      <p:sp>
        <p:nvSpPr>
          <p:cNvPr id="10" name="Text 8"/>
          <p:cNvSpPr/>
          <p:nvPr/>
        </p:nvSpPr>
        <p:spPr>
          <a:xfrm>
            <a:off x="4590288" y="1389888"/>
            <a:ext cx="1078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</a:t>
            </a:r>
            <a:endParaRPr lang="en-US" sz="1340" dirty="0"/>
          </a:p>
        </p:txBody>
      </p:sp>
      <p:sp>
        <p:nvSpPr>
          <p:cNvPr id="11" name="Text 9"/>
          <p:cNvSpPr/>
          <p:nvPr/>
        </p:nvSpPr>
        <p:spPr>
          <a:xfrm>
            <a:off x="5669280" y="138988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340" dirty="0"/>
          </a:p>
        </p:txBody>
      </p:sp>
      <p:sp>
        <p:nvSpPr>
          <p:cNvPr id="12" name="Text 10"/>
          <p:cNvSpPr/>
          <p:nvPr/>
        </p:nvSpPr>
        <p:spPr>
          <a:xfrm>
            <a:off x="6903720" y="1389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340" dirty="0"/>
          </a:p>
        </p:txBody>
      </p:sp>
      <p:sp>
        <p:nvSpPr>
          <p:cNvPr id="13" name="Text 11"/>
          <p:cNvSpPr/>
          <p:nvPr/>
        </p:nvSpPr>
        <p:spPr>
          <a:xfrm>
            <a:off x="585216" y="1901952"/>
            <a:ext cx="1847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32304" y="1901952"/>
            <a:ext cx="107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11296" y="1901952"/>
            <a:ext cx="107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1901952"/>
            <a:ext cx="107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63,39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669280" y="1901952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03720" y="190195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85216" y="2505456"/>
            <a:ext cx="796442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85216" y="2505456"/>
            <a:ext cx="1847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432304" y="2505456"/>
            <a:ext cx="107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11296" y="2505456"/>
            <a:ext cx="107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90288" y="2505456"/>
            <a:ext cx="107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0" y="2505456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903720" y="250545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85216" y="3108960"/>
            <a:ext cx="796442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585216" y="3108960"/>
            <a:ext cx="1847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432304" y="3108960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11296" y="3108960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90288" y="3108960"/>
            <a:ext cx="1078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669280" y="3108960"/>
            <a:ext cx="1234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03720" y="310896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87552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987552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520440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+1,52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3520440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053328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+1,88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6053328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02920" y="548640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 độ đo có KTC nằm trên 0; METEOR tăng nhưng chưa có KTC.</a:t>
            </a:r>
            <a:endParaRPr lang="en-US" sz="1360" dirty="0"/>
          </a:p>
        </p:txBody>
      </p:sp>
      <p:sp>
        <p:nvSpPr>
          <p:cNvPr id="40" name="Shape 3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14/25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59536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tăng so với S1 trên 1.484 bước thuộc tác vụ mới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32688" y="1563624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3172968" y="1636776"/>
            <a:ext cx="40599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72968" y="1636776"/>
            <a:ext cx="3575867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79208" y="15544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32688" y="2386584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· lượt 2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3172968" y="2459736"/>
            <a:ext cx="40599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72968" y="2459736"/>
            <a:ext cx="3154258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79208" y="23774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+4,04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32688" y="3209544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3172968" y="3282696"/>
            <a:ext cx="40599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72968" y="3282696"/>
            <a:ext cx="3786671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79208" y="32004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+4,85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502920" y="418795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ba khoảng tin cậy đều nằm trên 0.</a:t>
            </a:r>
            <a:endParaRPr lang="en-US" sz="1370" dirty="0"/>
          </a:p>
        </p:txBody>
      </p:sp>
      <p:sp>
        <p:nvSpPr>
          <p:cNvPr id="18" name="Shape 16"/>
          <p:cNvSpPr/>
          <p:nvPr/>
        </p:nvSpPr>
        <p:spPr>
          <a:xfrm>
            <a:off x="960120" y="4700016"/>
            <a:ext cx="7223760" cy="80467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700016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kiểm chính + ACU: GRPO-SPICE − S1 = +2,30  [ +1,62; +2,99 ]</a:t>
            </a:r>
            <a:endParaRPr lang="en-US" sz="1480" dirty="0"/>
          </a:p>
        </p:txBody>
      </p:sp>
      <p:sp>
        <p:nvSpPr>
          <p:cNvPr id="20" name="Shape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15/25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84124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60,68%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4124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9300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49300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GRPO-SPICE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14476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4476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số câu tăng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184708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 độ đo có KTC nằm trên 0; METEOR chưa có KTC.</a:t>
            </a:r>
            <a:endParaRPr lang="en-US" sz="1360" dirty="0"/>
          </a:p>
        </p:txBody>
      </p:sp>
      <p:sp>
        <p:nvSpPr>
          <p:cNvPr id="11" name="Shape 9"/>
          <p:cNvSpPr/>
          <p:nvPr/>
        </p:nvSpPr>
        <p:spPr>
          <a:xfrm>
            <a:off x="960120" y="2340864"/>
            <a:ext cx="7269480" cy="45720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34086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số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108960" y="23408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ACE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83480" y="234086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60120" y="279806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330" dirty="0"/>
          </a:p>
        </p:txBody>
      </p:sp>
      <p:sp>
        <p:nvSpPr>
          <p:cNvPr id="16" name="Text 14"/>
          <p:cNvSpPr/>
          <p:nvPr/>
        </p:nvSpPr>
        <p:spPr>
          <a:xfrm>
            <a:off x="3108960" y="27980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+1,11</a:t>
            </a:r>
            <a:endParaRPr lang="en-US" sz="1330" dirty="0"/>
          </a:p>
        </p:txBody>
      </p:sp>
      <p:sp>
        <p:nvSpPr>
          <p:cNvPr id="17" name="Text 15"/>
          <p:cNvSpPr/>
          <p:nvPr/>
        </p:nvSpPr>
        <p:spPr>
          <a:xfrm>
            <a:off x="4983480" y="279806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[+0,78; +1,42]</a:t>
            </a:r>
            <a:endParaRPr lang="en-US" sz="1330" dirty="0"/>
          </a:p>
        </p:txBody>
      </p:sp>
      <p:sp>
        <p:nvSpPr>
          <p:cNvPr id="18" name="Shape 16"/>
          <p:cNvSpPr/>
          <p:nvPr/>
        </p:nvSpPr>
        <p:spPr>
          <a:xfrm>
            <a:off x="960120" y="3255264"/>
            <a:ext cx="72694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60120" y="325526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330" dirty="0"/>
          </a:p>
        </p:txBody>
      </p:sp>
      <p:sp>
        <p:nvSpPr>
          <p:cNvPr id="20" name="Text 18"/>
          <p:cNvSpPr/>
          <p:nvPr/>
        </p:nvSpPr>
        <p:spPr>
          <a:xfrm>
            <a:off x="3108960" y="32552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+0,45</a:t>
            </a:r>
            <a:endParaRPr lang="en-US" sz="1330" dirty="0"/>
          </a:p>
        </p:txBody>
      </p:sp>
      <p:sp>
        <p:nvSpPr>
          <p:cNvPr id="21" name="Text 19"/>
          <p:cNvSpPr/>
          <p:nvPr/>
        </p:nvSpPr>
        <p:spPr>
          <a:xfrm>
            <a:off x="4983480" y="325526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30" dirty="0"/>
          </a:p>
        </p:txBody>
      </p:sp>
      <p:sp>
        <p:nvSpPr>
          <p:cNvPr id="22" name="Shape 20"/>
          <p:cNvSpPr/>
          <p:nvPr/>
        </p:nvSpPr>
        <p:spPr>
          <a:xfrm>
            <a:off x="960120" y="3712464"/>
            <a:ext cx="72694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960120" y="371246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330" dirty="0"/>
          </a:p>
        </p:txBody>
      </p:sp>
      <p:sp>
        <p:nvSpPr>
          <p:cNvPr id="24" name="Text 22"/>
          <p:cNvSpPr/>
          <p:nvPr/>
        </p:nvSpPr>
        <p:spPr>
          <a:xfrm>
            <a:off x="3108960" y="37124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+0,74</a:t>
            </a:r>
            <a:endParaRPr lang="en-US" sz="1330" dirty="0"/>
          </a:p>
        </p:txBody>
      </p:sp>
      <p:sp>
        <p:nvSpPr>
          <p:cNvPr id="25" name="Text 23"/>
          <p:cNvSpPr/>
          <p:nvPr/>
        </p:nvSpPr>
        <p:spPr>
          <a:xfrm>
            <a:off x="4983480" y="371246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[+0,54; +0,94]</a:t>
            </a:r>
            <a:endParaRPr lang="en-US" sz="1330" dirty="0"/>
          </a:p>
        </p:txBody>
      </p:sp>
      <p:sp>
        <p:nvSpPr>
          <p:cNvPr id="26" name="Shape 24"/>
          <p:cNvSpPr/>
          <p:nvPr/>
        </p:nvSpPr>
        <p:spPr>
          <a:xfrm>
            <a:off x="960120" y="4169664"/>
            <a:ext cx="72694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960120" y="416966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330" dirty="0"/>
          </a:p>
        </p:txBody>
      </p:sp>
      <p:sp>
        <p:nvSpPr>
          <p:cNvPr id="28" name="Text 26"/>
          <p:cNvSpPr/>
          <p:nvPr/>
        </p:nvSpPr>
        <p:spPr>
          <a:xfrm>
            <a:off x="3108960" y="41696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+11,97</a:t>
            </a:r>
            <a:endParaRPr lang="en-US" sz="1330" dirty="0"/>
          </a:p>
        </p:txBody>
      </p:sp>
      <p:sp>
        <p:nvSpPr>
          <p:cNvPr id="29" name="Text 27"/>
          <p:cNvSpPr/>
          <p:nvPr/>
        </p:nvSpPr>
        <p:spPr>
          <a:xfrm>
            <a:off x="4983480" y="416966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[+8,24; +15,34]</a:t>
            </a:r>
            <a:endParaRPr lang="en-US" sz="1330" dirty="0"/>
          </a:p>
        </p:txBody>
      </p:sp>
      <p:sp>
        <p:nvSpPr>
          <p:cNvPr id="30" name="Shape 28"/>
          <p:cNvSpPr/>
          <p:nvPr/>
        </p:nvSpPr>
        <p:spPr>
          <a:xfrm>
            <a:off x="960120" y="4626864"/>
            <a:ext cx="72694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960120" y="462686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330" dirty="0"/>
          </a:p>
        </p:txBody>
      </p:sp>
      <p:sp>
        <p:nvSpPr>
          <p:cNvPr id="32" name="Text 30"/>
          <p:cNvSpPr/>
          <p:nvPr/>
        </p:nvSpPr>
        <p:spPr>
          <a:xfrm>
            <a:off x="3108960" y="46268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+1,33</a:t>
            </a:r>
            <a:endParaRPr lang="en-US" sz="1330" dirty="0"/>
          </a:p>
        </p:txBody>
      </p:sp>
      <p:sp>
        <p:nvSpPr>
          <p:cNvPr id="33" name="Text 31"/>
          <p:cNvSpPr/>
          <p:nvPr/>
        </p:nvSpPr>
        <p:spPr>
          <a:xfrm>
            <a:off x="4983480" y="462686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[+0,92; +1,75]</a:t>
            </a:r>
            <a:endParaRPr lang="en-US" sz="1330" dirty="0"/>
          </a:p>
        </p:txBody>
      </p:sp>
      <p:sp>
        <p:nvSpPr>
          <p:cNvPr id="34" name="Shape 32"/>
          <p:cNvSpPr/>
          <p:nvPr/>
        </p:nvSpPr>
        <p:spPr>
          <a:xfrm>
            <a:off x="960120" y="5084064"/>
            <a:ext cx="72694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5" name="Text 33"/>
          <p:cNvSpPr/>
          <p:nvPr/>
        </p:nvSpPr>
        <p:spPr>
          <a:xfrm>
            <a:off x="960120" y="508406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330" dirty="0"/>
          </a:p>
        </p:txBody>
      </p:sp>
      <p:sp>
        <p:nvSpPr>
          <p:cNvPr id="36" name="Text 34"/>
          <p:cNvSpPr/>
          <p:nvPr/>
        </p:nvSpPr>
        <p:spPr>
          <a:xfrm>
            <a:off x="3108960" y="50840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+0,58</a:t>
            </a:r>
            <a:endParaRPr lang="en-US" sz="1330" dirty="0"/>
          </a:p>
        </p:txBody>
      </p:sp>
      <p:sp>
        <p:nvSpPr>
          <p:cNvPr id="37" name="Text 35"/>
          <p:cNvSpPr/>
          <p:nvPr/>
        </p:nvSpPr>
        <p:spPr>
          <a:xfrm>
            <a:off x="4983480" y="508406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[+0,37; +0,80]</a:t>
            </a:r>
            <a:endParaRPr lang="en-US" sz="1330" dirty="0"/>
          </a:p>
        </p:txBody>
      </p:sp>
      <p:sp>
        <p:nvSpPr>
          <p:cNvPr id="38" name="Shape 36"/>
          <p:cNvSpPr/>
          <p:nvPr/>
        </p:nvSpPr>
        <p:spPr>
          <a:xfrm>
            <a:off x="960120" y="5541264"/>
            <a:ext cx="72694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960120" y="554126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330" dirty="0"/>
          </a:p>
        </p:txBody>
      </p:sp>
      <p:sp>
        <p:nvSpPr>
          <p:cNvPr id="40" name="Text 38"/>
          <p:cNvSpPr/>
          <p:nvPr/>
        </p:nvSpPr>
        <p:spPr>
          <a:xfrm>
            <a:off x="3108960" y="55412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+0,66</a:t>
            </a:r>
            <a:endParaRPr lang="en-US" sz="1330" dirty="0"/>
          </a:p>
        </p:txBody>
      </p:sp>
      <p:sp>
        <p:nvSpPr>
          <p:cNvPr id="41" name="Text 39"/>
          <p:cNvSpPr/>
          <p:nvPr/>
        </p:nvSpPr>
        <p:spPr>
          <a:xfrm>
            <a:off x="4983480" y="554126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[+0,46; +0,86]</a:t>
            </a:r>
            <a:endParaRPr lang="en-US" sz="1330" dirty="0"/>
          </a:p>
        </p:txBody>
      </p:sp>
      <p:sp>
        <p:nvSpPr>
          <p:cNvPr id="42" name="Shape 4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16/25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Chênh lệch executability: GRPO-SPICE − S1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60120" y="1499616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34640" y="1572768"/>
            <a:ext cx="442569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1572768"/>
            <a:ext cx="4035193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06640" y="149047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2185416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834640" y="2258568"/>
            <a:ext cx="442569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34640" y="2258568"/>
            <a:ext cx="4035193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06640" y="217627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2871216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Phi-Ground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834640" y="2944368"/>
            <a:ext cx="442569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34640" y="2944368"/>
            <a:ext cx="2030613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0" y="286207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3557016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834640" y="3630168"/>
            <a:ext cx="442569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4640" y="3630168"/>
            <a:ext cx="179631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0" y="354787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+0,69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60120" y="4462272"/>
            <a:ext cx="7223760" cy="768096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462272"/>
            <a:ext cx="6766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của cả 4 chênh lệch đều nằm trên 0</a:t>
            </a:r>
            <a:endParaRPr lang="en-US" sz="1680" dirty="0"/>
          </a:p>
        </p:txBody>
      </p:sp>
      <p:sp>
        <p:nvSpPr>
          <p:cNvPr id="23" name="Text 21"/>
          <p:cNvSpPr/>
          <p:nvPr/>
        </p:nvSpPr>
        <p:spPr>
          <a:xfrm>
            <a:off x="502920" y="5532120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Phi-Ground và Phi-4 nằm ngoài họ Qwen.</a:t>
            </a:r>
            <a:endParaRPr lang="en-US" sz="1280" dirty="0"/>
          </a:p>
        </p:txBody>
      </p:sp>
      <p:sp>
        <p:nvSpPr>
          <p:cNvPr id="24" name="Shape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17/25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lịch sử do chính mô hình sinh, GRPO-SPICE vẫn cao hơn S1.</a:t>
            </a:r>
            <a:endParaRPr lang="en-US" sz="1630" dirty="0"/>
          </a:p>
        </p:txBody>
      </p:sp>
      <p:sp>
        <p:nvSpPr>
          <p:cNvPr id="5" name="Text 3"/>
          <p:cNvSpPr/>
          <p:nvPr/>
        </p:nvSpPr>
        <p:spPr>
          <a:xfrm>
            <a:off x="960120" y="1618488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440" dirty="0"/>
          </a:p>
        </p:txBody>
      </p:sp>
      <p:sp>
        <p:nvSpPr>
          <p:cNvPr id="6" name="Shape 4"/>
          <p:cNvSpPr/>
          <p:nvPr/>
        </p:nvSpPr>
        <p:spPr>
          <a:xfrm>
            <a:off x="2926080" y="1691640"/>
            <a:ext cx="424281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0" y="1691640"/>
            <a:ext cx="3886419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0" y="160934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4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54,96%</a:t>
            </a:r>
            <a:endParaRPr lang="en-US" sz="1440" dirty="0"/>
          </a:p>
        </p:txBody>
      </p:sp>
      <p:sp>
        <p:nvSpPr>
          <p:cNvPr id="9" name="Text 7"/>
          <p:cNvSpPr/>
          <p:nvPr/>
        </p:nvSpPr>
        <p:spPr>
          <a:xfrm>
            <a:off x="960120" y="2551176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4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40" dirty="0"/>
          </a:p>
        </p:txBody>
      </p:sp>
      <p:sp>
        <p:nvSpPr>
          <p:cNvPr id="10" name="Shape 8"/>
          <p:cNvSpPr/>
          <p:nvPr/>
        </p:nvSpPr>
        <p:spPr>
          <a:xfrm>
            <a:off x="2926080" y="2624328"/>
            <a:ext cx="424281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26080" y="2624328"/>
            <a:ext cx="3991076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54203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56,44%</a:t>
            </a:r>
            <a:endParaRPr lang="en-US" sz="1440" dirty="0"/>
          </a:p>
        </p:txBody>
      </p:sp>
      <p:sp>
        <p:nvSpPr>
          <p:cNvPr id="13" name="Shape 11"/>
          <p:cNvSpPr/>
          <p:nvPr/>
        </p:nvSpPr>
        <p:spPr>
          <a:xfrm>
            <a:off x="1005840" y="3886200"/>
            <a:ext cx="7132320" cy="93268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3886200"/>
            <a:ext cx="6675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+1,48 điểm   ·   KTC 95% [+0,54; +2,43]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2920" y="52852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Ưu thế vẫn được giữ khi lịch sử không còn là câu chuẩn.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18/25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khi đổi sang phân phối AitZ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32688" y="1490472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2898648" y="1563624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98648" y="1563624"/>
            <a:ext cx="369886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33488" y="14813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34,50%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32688" y="2276856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2898648" y="2350008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98648" y="2350008"/>
            <a:ext cx="4051594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3488" y="2267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37,79%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32688" y="306324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2898648" y="3136392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8648" y="3136392"/>
            <a:ext cx="3996916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33488" y="30540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37,28%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960120" y="3931920"/>
            <a:ext cx="722376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9319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3246120" y="3931920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Chênh lệch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5212080" y="3931920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960120" y="43525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S1 − Base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3246120" y="4352544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+3,29</a:t>
            </a:r>
            <a:endParaRPr lang="en-US" sz="1260" dirty="0"/>
          </a:p>
        </p:txBody>
      </p:sp>
      <p:sp>
        <p:nvSpPr>
          <p:cNvPr id="23" name="Text 21"/>
          <p:cNvSpPr/>
          <p:nvPr/>
        </p:nvSpPr>
        <p:spPr>
          <a:xfrm>
            <a:off x="5212080" y="435254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[+1,51; +5,03]</a:t>
            </a:r>
            <a:endParaRPr lang="en-US" sz="1260" dirty="0"/>
          </a:p>
        </p:txBody>
      </p:sp>
      <p:sp>
        <p:nvSpPr>
          <p:cNvPr id="24" name="Shape 22"/>
          <p:cNvSpPr/>
          <p:nvPr/>
        </p:nvSpPr>
        <p:spPr>
          <a:xfrm>
            <a:off x="960120" y="4864608"/>
            <a:ext cx="72237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0120" y="48646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− S1</a:t>
            </a:r>
            <a:endParaRPr lang="en-US" sz="1260" dirty="0"/>
          </a:p>
        </p:txBody>
      </p:sp>
      <p:sp>
        <p:nvSpPr>
          <p:cNvPr id="26" name="Text 24"/>
          <p:cNvSpPr/>
          <p:nvPr/>
        </p:nvSpPr>
        <p:spPr>
          <a:xfrm>
            <a:off x="3246120" y="4864608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−0,51</a:t>
            </a:r>
            <a:endParaRPr lang="en-US" sz="1260" dirty="0"/>
          </a:p>
        </p:txBody>
      </p:sp>
      <p:sp>
        <p:nvSpPr>
          <p:cNvPr id="27" name="Text 25"/>
          <p:cNvSpPr/>
          <p:nvPr/>
        </p:nvSpPr>
        <p:spPr>
          <a:xfrm>
            <a:off x="5212080" y="486460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[−1,39; +0,36]</a:t>
            </a:r>
            <a:endParaRPr lang="en-US" sz="1260" dirty="0"/>
          </a:p>
        </p:txBody>
      </p:sp>
      <p:sp>
        <p:nvSpPr>
          <p:cNvPr id="28" name="Text 26"/>
          <p:cNvSpPr/>
          <p:nvPr/>
        </p:nvSpPr>
        <p:spPr>
          <a:xfrm>
            <a:off x="502920" y="553212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chuyển miền tốt; GRPO-SPICE không còn hơn rõ S1.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19/25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pic>
        <p:nvPicPr>
          <p:cNvPr id="4" name="Image 0" descr="/mnt/d/Master/Thesis/thesis/figures/fig_vidu_sp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868680"/>
            <a:ext cx="3886200" cy="44897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28032" y="98755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cần thực hiện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4983480" y="1389888"/>
            <a:ext cx="3310128" cy="6583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83480" y="1389888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Chạm nút “Not now”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828032" y="2468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4983480" y="2816352"/>
            <a:ext cx="331012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2816352"/>
            <a:ext cx="33101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Gọi nhầm “Allow”</a:t>
            </a:r>
            <a:endParaRPr lang="en-US" sz="14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định vị sai phần tử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828032" y="404164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4983480" y="4389120"/>
            <a:ext cx="3310128" cy="8412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4389120"/>
            <a:ext cx="33101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Gọi đúng “Not now”</a:t>
            </a:r>
            <a:endParaRPr lang="en-US" sz="14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định vị đúng phần tử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502920" y="559612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minh họa trực tiếp ý nghĩa của executability: câu chuyển từ quy chiếu sai nút sang đúng nút cần chạm.</a:t>
            </a:r>
            <a:endParaRPr lang="en-US" sz="1380" dirty="0"/>
          </a:p>
        </p:txBody>
      </p:sp>
      <p:sp>
        <p:nvSpPr>
          <p:cNvPr id="15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20/25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Bốn kiểm tra độc lập đều giữ cùng hướng kết quả.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58368" y="1481328"/>
            <a:ext cx="7818120" cy="45720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4813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260" dirty="0"/>
          </a:p>
        </p:txBody>
      </p:sp>
      <p:sp>
        <p:nvSpPr>
          <p:cNvPr id="7" name="Text 5"/>
          <p:cNvSpPr/>
          <p:nvPr/>
        </p:nvSpPr>
        <p:spPr>
          <a:xfrm>
            <a:off x="2990088" y="148132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Bằng chứng</a:t>
            </a:r>
            <a:endParaRPr lang="en-US" sz="1260" dirty="0"/>
          </a:p>
        </p:txBody>
      </p:sp>
      <p:sp>
        <p:nvSpPr>
          <p:cNvPr id="8" name="Text 6"/>
          <p:cNvSpPr/>
          <p:nvPr/>
        </p:nvSpPr>
        <p:spPr>
          <a:xfrm>
            <a:off x="6967728" y="148132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</a:t>
            </a:r>
            <a:endParaRPr lang="en-US" sz="1260" dirty="0"/>
          </a:p>
        </p:txBody>
      </p:sp>
      <p:sp>
        <p:nvSpPr>
          <p:cNvPr id="9" name="Text 7"/>
          <p:cNvSpPr/>
          <p:nvPr/>
        </p:nvSpPr>
        <p:spPr>
          <a:xfrm>
            <a:off x="658368" y="193852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số bước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2990088" y="1938528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chứng cùng 500 bước vẫn ở mức S1.</a:t>
            </a:r>
            <a:endParaRPr lang="en-US" sz="1280" dirty="0"/>
          </a:p>
        </p:txBody>
      </p:sp>
      <p:sp>
        <p:nvSpPr>
          <p:cNvPr id="11" name="Text 9"/>
          <p:cNvSpPr/>
          <p:nvPr/>
        </p:nvSpPr>
        <p:spPr>
          <a:xfrm>
            <a:off x="6967728" y="1938528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658368" y="2596896"/>
            <a:ext cx="78181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658368" y="2596896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Lặp huấn luyện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2990088" y="2596896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lượt GRPO đều cao hơn S1.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6967728" y="2596896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658368" y="3255264"/>
            <a:ext cx="78181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658368" y="325526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Đổi công cụ đánh giá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2990088" y="3255264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4 công cụ đều cho chênh lệch dương.</a:t>
            </a:r>
            <a:endParaRPr lang="en-US" sz="1280" dirty="0"/>
          </a:p>
        </p:txBody>
      </p:sp>
      <p:sp>
        <p:nvSpPr>
          <p:cNvPr id="19" name="Text 17"/>
          <p:cNvSpPr/>
          <p:nvPr/>
        </p:nvSpPr>
        <p:spPr>
          <a:xfrm>
            <a:off x="6967728" y="3255264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</a:t>
            </a:r>
            <a:endParaRPr lang="en-US" sz="1280" dirty="0"/>
          </a:p>
        </p:txBody>
      </p:sp>
      <p:sp>
        <p:nvSpPr>
          <p:cNvPr id="20" name="Shape 18"/>
          <p:cNvSpPr/>
          <p:nvPr/>
        </p:nvSpPr>
        <p:spPr>
          <a:xfrm>
            <a:off x="658368" y="3913632"/>
            <a:ext cx="78181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658368" y="39136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 vụ mới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2990088" y="39136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ACU: GRPO-SPICE − S1 = +4,58 điểm.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6967728" y="3913632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</a:t>
            </a:r>
            <a:endParaRPr lang="en-US" sz="1280" dirty="0"/>
          </a:p>
        </p:txBody>
      </p:sp>
      <p:sp>
        <p:nvSpPr>
          <p:cNvPr id="24" name="Shape 22"/>
          <p:cNvSpPr/>
          <p:nvPr/>
        </p:nvSpPr>
        <p:spPr>
          <a:xfrm>
            <a:off x="1005840" y="4919472"/>
            <a:ext cx="7132320" cy="768096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07008" y="4919472"/>
            <a:ext cx="67299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tăng không chỉ xuất hiện ở một lượt chạy hay một công cụ đánh giá.</a:t>
            </a:r>
            <a:endParaRPr lang="en-US" sz="152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21/25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 hiện tại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38074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43584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hiện tập trung vào các bước có thao tác chạm.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21208" y="20939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956816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chính dùng AndroidControl tiếng Anh và Qwen2.5-VL-3B.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21208" y="28072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670048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 cho thấy lợi ích bổ sung của GRPO-SPICE giảm khi đổi miền.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mở rộng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21208" y="42519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114800"/>
            <a:ext cx="79278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rộng sang nhiều miền giao diện và dữ liệu tiếng Việt.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521208" y="51846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5047488"/>
            <a:ext cx="79278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rộng executability cho thao tác ngoài chạm và chuỗi nhiều màn hình.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993392"/>
            <a:ext cx="2029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tạo phần lớn mức tăng. ACE tiếp tục cải thiện chất lượng câu.</a:t>
            </a:r>
            <a:endParaRPr lang="en-US" sz="1530" dirty="0"/>
          </a:p>
        </p:txBody>
      </p:sp>
      <p:sp>
        <p:nvSpPr>
          <p:cNvPr id="7" name="Shape 5"/>
          <p:cNvSpPr/>
          <p:nvPr/>
        </p:nvSpPr>
        <p:spPr>
          <a:xfrm>
            <a:off x="3328416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65576" y="137160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Độ đo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57016" y="196596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kiểm tra khả năng xác định đúng phần tử và đúng thao tác.</a:t>
            </a:r>
            <a:endParaRPr lang="en-US" sz="1530" dirty="0"/>
          </a:p>
        </p:txBody>
      </p:sp>
      <p:sp>
        <p:nvSpPr>
          <p:cNvPr id="10" name="Shape 8"/>
          <p:cNvSpPr/>
          <p:nvPr/>
        </p:nvSpPr>
        <p:spPr>
          <a:xfrm>
            <a:off x="6144768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81928" y="137160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Bằng chứng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373368" y="196596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chứng, lặp huấn luyện, nhiều công cụ đánh giá và tập bổ sung.</a:t>
            </a:r>
            <a:endParaRPr lang="en-US" sz="1530" dirty="0"/>
          </a:p>
        </p:txBody>
      </p:sp>
      <p:sp>
        <p:nvSpPr>
          <p:cNvPr id="13" name="Text 11"/>
          <p:cNvSpPr/>
          <p:nvPr/>
        </p:nvSpPr>
        <p:spPr>
          <a:xfrm>
            <a:off x="502920" y="495604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đóng góp chính: phương pháp, độ đo và bằng chứng thực nghiệm.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23/25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9436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kiểm chính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38328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38328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 vụ mới (ACU)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17220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+9,14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7220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7B prompting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521208" y="30175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880360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tăng +1,55 điểm trên tập kiểm chính và +4,58 điểm trên ACU.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1208" y="38587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721608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giữ executability ở 60,68% và tăng cả 7 chỉ số chất lượng câu.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21208" y="470001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562856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 cho thấy lợi ích bổ sung của GRPO-SPICE giảm khi đổi miền.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" y="5468112"/>
            <a:ext cx="7315200" cy="71323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" y="5468112"/>
            <a:ext cx="6876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thiết lập AndroidControl, GRPO-SPICE làm tăng đồng thời chất lượng câu và executability.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24/25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514600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Trân trọng cảm ơn Quý thầy cô đã lắng nghe.</a:t>
            </a:r>
            <a:endParaRPr lang="en-US" sz="2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Định nghĩa executability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đúng khi đồng thời: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508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71600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21208" y="2258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121408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mô tả thao tác theo nghĩa ngược.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21208" y="30083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871216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|px−gx| ≤ 0,14W; |py−gy| ≤ 0,14H.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21208" y="375818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621024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p nằm trong ô Voronoi của phần tử cần chạm.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02920" y="4800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= số bước đúng / tổng số bước chạm.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Toàn bộ thước đo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804672"/>
            <a:ext cx="7955280" cy="384048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046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74904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8076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8046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ACE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11887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170" dirty="0"/>
          </a:p>
        </p:txBody>
      </p:sp>
      <p:sp>
        <p:nvSpPr>
          <p:cNvPr id="12" name="Text 10"/>
          <p:cNvSpPr/>
          <p:nvPr/>
        </p:nvSpPr>
        <p:spPr>
          <a:xfrm>
            <a:off x="265176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170" dirty="0"/>
          </a:p>
        </p:txBody>
      </p:sp>
      <p:sp>
        <p:nvSpPr>
          <p:cNvPr id="13" name="Text 11"/>
          <p:cNvSpPr/>
          <p:nvPr/>
        </p:nvSpPr>
        <p:spPr>
          <a:xfrm>
            <a:off x="374904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170" dirty="0"/>
          </a:p>
        </p:txBody>
      </p:sp>
      <p:sp>
        <p:nvSpPr>
          <p:cNvPr id="14" name="Text 12"/>
          <p:cNvSpPr/>
          <p:nvPr/>
        </p:nvSpPr>
        <p:spPr>
          <a:xfrm>
            <a:off x="484632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170" dirty="0"/>
          </a:p>
        </p:txBody>
      </p:sp>
      <p:sp>
        <p:nvSpPr>
          <p:cNvPr id="15" name="Text 13"/>
          <p:cNvSpPr/>
          <p:nvPr/>
        </p:nvSpPr>
        <p:spPr>
          <a:xfrm>
            <a:off x="608076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</a:t>
            </a:r>
            <a:endParaRPr lang="en-US" sz="1170" dirty="0"/>
          </a:p>
        </p:txBody>
      </p:sp>
      <p:sp>
        <p:nvSpPr>
          <p:cNvPr id="16" name="Text 14"/>
          <p:cNvSpPr/>
          <p:nvPr/>
        </p:nvSpPr>
        <p:spPr>
          <a:xfrm>
            <a:off x="7315200" y="1188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1170" dirty="0"/>
          </a:p>
        </p:txBody>
      </p:sp>
      <p:sp>
        <p:nvSpPr>
          <p:cNvPr id="17" name="Shape 15"/>
          <p:cNvSpPr/>
          <p:nvPr/>
        </p:nvSpPr>
        <p:spPr>
          <a:xfrm>
            <a:off x="502920" y="157276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502920" y="15727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170" dirty="0"/>
          </a:p>
        </p:txBody>
      </p:sp>
      <p:sp>
        <p:nvSpPr>
          <p:cNvPr id="19" name="Text 17"/>
          <p:cNvSpPr/>
          <p:nvPr/>
        </p:nvSpPr>
        <p:spPr>
          <a:xfrm>
            <a:off x="265176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170" dirty="0"/>
          </a:p>
        </p:txBody>
      </p:sp>
      <p:sp>
        <p:nvSpPr>
          <p:cNvPr id="20" name="Text 18"/>
          <p:cNvSpPr/>
          <p:nvPr/>
        </p:nvSpPr>
        <p:spPr>
          <a:xfrm>
            <a:off x="374904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170" dirty="0"/>
          </a:p>
        </p:txBody>
      </p:sp>
      <p:sp>
        <p:nvSpPr>
          <p:cNvPr id="21" name="Text 19"/>
          <p:cNvSpPr/>
          <p:nvPr/>
        </p:nvSpPr>
        <p:spPr>
          <a:xfrm>
            <a:off x="484632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170" dirty="0"/>
          </a:p>
        </p:txBody>
      </p:sp>
      <p:sp>
        <p:nvSpPr>
          <p:cNvPr id="22" name="Text 20"/>
          <p:cNvSpPr/>
          <p:nvPr/>
        </p:nvSpPr>
        <p:spPr>
          <a:xfrm>
            <a:off x="608076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67,11</a:t>
            </a:r>
            <a:endParaRPr lang="en-US" sz="1170" dirty="0"/>
          </a:p>
        </p:txBody>
      </p:sp>
      <p:sp>
        <p:nvSpPr>
          <p:cNvPr id="23" name="Text 21"/>
          <p:cNvSpPr/>
          <p:nvPr/>
        </p:nvSpPr>
        <p:spPr>
          <a:xfrm>
            <a:off x="7315200" y="157276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+0,09</a:t>
            </a:r>
            <a:endParaRPr lang="en-US" sz="1170" dirty="0"/>
          </a:p>
        </p:txBody>
      </p:sp>
      <p:sp>
        <p:nvSpPr>
          <p:cNvPr id="24" name="Shape 22"/>
          <p:cNvSpPr/>
          <p:nvPr/>
        </p:nvSpPr>
        <p:spPr>
          <a:xfrm>
            <a:off x="502920" y="195681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502920" y="195681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170" dirty="0"/>
          </a:p>
        </p:txBody>
      </p:sp>
      <p:sp>
        <p:nvSpPr>
          <p:cNvPr id="26" name="Text 24"/>
          <p:cNvSpPr/>
          <p:nvPr/>
        </p:nvSpPr>
        <p:spPr>
          <a:xfrm>
            <a:off x="265176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63,39</a:t>
            </a:r>
            <a:endParaRPr lang="en-US" sz="1170" dirty="0"/>
          </a:p>
        </p:txBody>
      </p:sp>
      <p:sp>
        <p:nvSpPr>
          <p:cNvPr id="27" name="Text 25"/>
          <p:cNvSpPr/>
          <p:nvPr/>
        </p:nvSpPr>
        <p:spPr>
          <a:xfrm>
            <a:off x="374904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170" dirty="0"/>
          </a:p>
        </p:txBody>
      </p:sp>
      <p:sp>
        <p:nvSpPr>
          <p:cNvPr id="28" name="Text 26"/>
          <p:cNvSpPr/>
          <p:nvPr/>
        </p:nvSpPr>
        <p:spPr>
          <a:xfrm>
            <a:off x="484632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170" dirty="0"/>
          </a:p>
        </p:txBody>
      </p:sp>
      <p:sp>
        <p:nvSpPr>
          <p:cNvPr id="29" name="Text 27"/>
          <p:cNvSpPr/>
          <p:nvPr/>
        </p:nvSpPr>
        <p:spPr>
          <a:xfrm>
            <a:off x="608076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76,32</a:t>
            </a:r>
            <a:endParaRPr lang="en-US" sz="1170" dirty="0"/>
          </a:p>
        </p:txBody>
      </p:sp>
      <p:sp>
        <p:nvSpPr>
          <p:cNvPr id="30" name="Text 28"/>
          <p:cNvSpPr/>
          <p:nvPr/>
        </p:nvSpPr>
        <p:spPr>
          <a:xfrm>
            <a:off x="7315200" y="195681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+0,07</a:t>
            </a:r>
            <a:endParaRPr lang="en-US" sz="1170" dirty="0"/>
          </a:p>
        </p:txBody>
      </p:sp>
      <p:sp>
        <p:nvSpPr>
          <p:cNvPr id="31" name="Shape 29"/>
          <p:cNvSpPr/>
          <p:nvPr/>
        </p:nvSpPr>
        <p:spPr>
          <a:xfrm>
            <a:off x="502920" y="234086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502920" y="234086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170" dirty="0"/>
          </a:p>
        </p:txBody>
      </p:sp>
      <p:sp>
        <p:nvSpPr>
          <p:cNvPr id="33" name="Text 31"/>
          <p:cNvSpPr/>
          <p:nvPr/>
        </p:nvSpPr>
        <p:spPr>
          <a:xfrm>
            <a:off x="265176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15,30</a:t>
            </a:r>
            <a:endParaRPr lang="en-US" sz="1170" dirty="0"/>
          </a:p>
        </p:txBody>
      </p:sp>
      <p:sp>
        <p:nvSpPr>
          <p:cNvPr id="34" name="Text 32"/>
          <p:cNvSpPr/>
          <p:nvPr/>
        </p:nvSpPr>
        <p:spPr>
          <a:xfrm>
            <a:off x="374904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170" dirty="0"/>
          </a:p>
        </p:txBody>
      </p:sp>
      <p:sp>
        <p:nvSpPr>
          <p:cNvPr id="35" name="Text 33"/>
          <p:cNvSpPr/>
          <p:nvPr/>
        </p:nvSpPr>
        <p:spPr>
          <a:xfrm>
            <a:off x="484632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170" dirty="0"/>
          </a:p>
        </p:txBody>
      </p:sp>
      <p:sp>
        <p:nvSpPr>
          <p:cNvPr id="36" name="Text 34"/>
          <p:cNvSpPr/>
          <p:nvPr/>
        </p:nvSpPr>
        <p:spPr>
          <a:xfrm>
            <a:off x="608076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170" dirty="0"/>
          </a:p>
        </p:txBody>
      </p:sp>
      <p:sp>
        <p:nvSpPr>
          <p:cNvPr id="37" name="Text 35"/>
          <p:cNvSpPr/>
          <p:nvPr/>
        </p:nvSpPr>
        <p:spPr>
          <a:xfrm>
            <a:off x="7315200" y="23408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+1,11</a:t>
            </a:r>
            <a:endParaRPr lang="en-US" sz="1170" dirty="0"/>
          </a:p>
        </p:txBody>
      </p:sp>
      <p:sp>
        <p:nvSpPr>
          <p:cNvPr id="38" name="Shape 36"/>
          <p:cNvSpPr/>
          <p:nvPr/>
        </p:nvSpPr>
        <p:spPr>
          <a:xfrm>
            <a:off x="502920" y="272491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02920" y="272491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170" dirty="0"/>
          </a:p>
        </p:txBody>
      </p:sp>
      <p:sp>
        <p:nvSpPr>
          <p:cNvPr id="40" name="Text 38"/>
          <p:cNvSpPr/>
          <p:nvPr/>
        </p:nvSpPr>
        <p:spPr>
          <a:xfrm>
            <a:off x="265176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24,60</a:t>
            </a:r>
            <a:endParaRPr lang="en-US" sz="1170" dirty="0"/>
          </a:p>
        </p:txBody>
      </p:sp>
      <p:sp>
        <p:nvSpPr>
          <p:cNvPr id="41" name="Text 39"/>
          <p:cNvSpPr/>
          <p:nvPr/>
        </p:nvSpPr>
        <p:spPr>
          <a:xfrm>
            <a:off x="374904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170" dirty="0"/>
          </a:p>
        </p:txBody>
      </p:sp>
      <p:sp>
        <p:nvSpPr>
          <p:cNvPr id="42" name="Text 40"/>
          <p:cNvSpPr/>
          <p:nvPr/>
        </p:nvSpPr>
        <p:spPr>
          <a:xfrm>
            <a:off x="484632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170" dirty="0"/>
          </a:p>
        </p:txBody>
      </p:sp>
      <p:sp>
        <p:nvSpPr>
          <p:cNvPr id="43" name="Text 41"/>
          <p:cNvSpPr/>
          <p:nvPr/>
        </p:nvSpPr>
        <p:spPr>
          <a:xfrm>
            <a:off x="608076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170" dirty="0"/>
          </a:p>
        </p:txBody>
      </p:sp>
      <p:sp>
        <p:nvSpPr>
          <p:cNvPr id="44" name="Text 42"/>
          <p:cNvSpPr/>
          <p:nvPr/>
        </p:nvSpPr>
        <p:spPr>
          <a:xfrm>
            <a:off x="7315200" y="27249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+0,45</a:t>
            </a:r>
            <a:endParaRPr lang="en-US" sz="1170" dirty="0"/>
          </a:p>
        </p:txBody>
      </p:sp>
      <p:sp>
        <p:nvSpPr>
          <p:cNvPr id="45" name="Shape 43"/>
          <p:cNvSpPr/>
          <p:nvPr/>
        </p:nvSpPr>
        <p:spPr>
          <a:xfrm>
            <a:off x="502920" y="3108960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502920" y="31089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170" dirty="0"/>
          </a:p>
        </p:txBody>
      </p:sp>
      <p:sp>
        <p:nvSpPr>
          <p:cNvPr id="47" name="Text 45"/>
          <p:cNvSpPr/>
          <p:nvPr/>
        </p:nvSpPr>
        <p:spPr>
          <a:xfrm>
            <a:off x="265176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42,30</a:t>
            </a:r>
            <a:endParaRPr lang="en-US" sz="1170" dirty="0"/>
          </a:p>
        </p:txBody>
      </p:sp>
      <p:sp>
        <p:nvSpPr>
          <p:cNvPr id="48" name="Text 46"/>
          <p:cNvSpPr/>
          <p:nvPr/>
        </p:nvSpPr>
        <p:spPr>
          <a:xfrm>
            <a:off x="374904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170" dirty="0"/>
          </a:p>
        </p:txBody>
      </p:sp>
      <p:sp>
        <p:nvSpPr>
          <p:cNvPr id="49" name="Text 47"/>
          <p:cNvSpPr/>
          <p:nvPr/>
        </p:nvSpPr>
        <p:spPr>
          <a:xfrm>
            <a:off x="484632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170" dirty="0"/>
          </a:p>
        </p:txBody>
      </p:sp>
      <p:sp>
        <p:nvSpPr>
          <p:cNvPr id="50" name="Text 48"/>
          <p:cNvSpPr/>
          <p:nvPr/>
        </p:nvSpPr>
        <p:spPr>
          <a:xfrm>
            <a:off x="608076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69,11</a:t>
            </a:r>
            <a:endParaRPr lang="en-US" sz="1170" dirty="0"/>
          </a:p>
        </p:txBody>
      </p:sp>
      <p:sp>
        <p:nvSpPr>
          <p:cNvPr id="51" name="Text 49"/>
          <p:cNvSpPr/>
          <p:nvPr/>
        </p:nvSpPr>
        <p:spPr>
          <a:xfrm>
            <a:off x="7315200" y="3108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+0,74</a:t>
            </a:r>
            <a:endParaRPr lang="en-US" sz="1170" dirty="0"/>
          </a:p>
        </p:txBody>
      </p:sp>
      <p:sp>
        <p:nvSpPr>
          <p:cNvPr id="52" name="Shape 50"/>
          <p:cNvSpPr/>
          <p:nvPr/>
        </p:nvSpPr>
        <p:spPr>
          <a:xfrm>
            <a:off x="502920" y="349300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53" name="Text 51"/>
          <p:cNvSpPr/>
          <p:nvPr/>
        </p:nvSpPr>
        <p:spPr>
          <a:xfrm>
            <a:off x="502920" y="34930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70" dirty="0"/>
          </a:p>
        </p:txBody>
      </p:sp>
      <p:sp>
        <p:nvSpPr>
          <p:cNvPr id="54" name="Text 52"/>
          <p:cNvSpPr/>
          <p:nvPr/>
        </p:nvSpPr>
        <p:spPr>
          <a:xfrm>
            <a:off x="265176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170" dirty="0"/>
          </a:p>
        </p:txBody>
      </p:sp>
      <p:sp>
        <p:nvSpPr>
          <p:cNvPr id="55" name="Text 53"/>
          <p:cNvSpPr/>
          <p:nvPr/>
        </p:nvSpPr>
        <p:spPr>
          <a:xfrm>
            <a:off x="374904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170" dirty="0"/>
          </a:p>
        </p:txBody>
      </p:sp>
      <p:sp>
        <p:nvSpPr>
          <p:cNvPr id="56" name="Text 54"/>
          <p:cNvSpPr/>
          <p:nvPr/>
        </p:nvSpPr>
        <p:spPr>
          <a:xfrm>
            <a:off x="484632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170" dirty="0"/>
          </a:p>
        </p:txBody>
      </p:sp>
      <p:sp>
        <p:nvSpPr>
          <p:cNvPr id="57" name="Text 55"/>
          <p:cNvSpPr/>
          <p:nvPr/>
        </p:nvSpPr>
        <p:spPr>
          <a:xfrm>
            <a:off x="608076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170" dirty="0"/>
          </a:p>
        </p:txBody>
      </p:sp>
      <p:sp>
        <p:nvSpPr>
          <p:cNvPr id="58" name="Text 56"/>
          <p:cNvSpPr/>
          <p:nvPr/>
        </p:nvSpPr>
        <p:spPr>
          <a:xfrm>
            <a:off x="7315200" y="349300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+11,97</a:t>
            </a:r>
            <a:endParaRPr lang="en-US" sz="1170" dirty="0"/>
          </a:p>
        </p:txBody>
      </p:sp>
      <p:sp>
        <p:nvSpPr>
          <p:cNvPr id="59" name="Shape 57"/>
          <p:cNvSpPr/>
          <p:nvPr/>
        </p:nvSpPr>
        <p:spPr>
          <a:xfrm>
            <a:off x="502920" y="387705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0" name="Text 58"/>
          <p:cNvSpPr/>
          <p:nvPr/>
        </p:nvSpPr>
        <p:spPr>
          <a:xfrm>
            <a:off x="502920" y="387705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70" dirty="0"/>
          </a:p>
        </p:txBody>
      </p:sp>
      <p:sp>
        <p:nvSpPr>
          <p:cNvPr id="61" name="Text 59"/>
          <p:cNvSpPr/>
          <p:nvPr/>
        </p:nvSpPr>
        <p:spPr>
          <a:xfrm>
            <a:off x="265176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170" dirty="0"/>
          </a:p>
        </p:txBody>
      </p:sp>
      <p:sp>
        <p:nvSpPr>
          <p:cNvPr id="62" name="Text 60"/>
          <p:cNvSpPr/>
          <p:nvPr/>
        </p:nvSpPr>
        <p:spPr>
          <a:xfrm>
            <a:off x="374904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170" dirty="0"/>
          </a:p>
        </p:txBody>
      </p:sp>
      <p:sp>
        <p:nvSpPr>
          <p:cNvPr id="63" name="Text 61"/>
          <p:cNvSpPr/>
          <p:nvPr/>
        </p:nvSpPr>
        <p:spPr>
          <a:xfrm>
            <a:off x="484632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170" dirty="0"/>
          </a:p>
        </p:txBody>
      </p:sp>
      <p:sp>
        <p:nvSpPr>
          <p:cNvPr id="64" name="Text 62"/>
          <p:cNvSpPr/>
          <p:nvPr/>
        </p:nvSpPr>
        <p:spPr>
          <a:xfrm>
            <a:off x="608076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170" dirty="0"/>
          </a:p>
        </p:txBody>
      </p:sp>
      <p:sp>
        <p:nvSpPr>
          <p:cNvPr id="65" name="Text 63"/>
          <p:cNvSpPr/>
          <p:nvPr/>
        </p:nvSpPr>
        <p:spPr>
          <a:xfrm>
            <a:off x="7315200" y="387705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+1,33</a:t>
            </a:r>
            <a:endParaRPr lang="en-US" sz="1170" dirty="0"/>
          </a:p>
        </p:txBody>
      </p:sp>
      <p:sp>
        <p:nvSpPr>
          <p:cNvPr id="66" name="Shape 64"/>
          <p:cNvSpPr/>
          <p:nvPr/>
        </p:nvSpPr>
        <p:spPr>
          <a:xfrm>
            <a:off x="502920" y="426110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7" name="Text 65"/>
          <p:cNvSpPr/>
          <p:nvPr/>
        </p:nvSpPr>
        <p:spPr>
          <a:xfrm>
            <a:off x="502920" y="4261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170" dirty="0"/>
          </a:p>
        </p:txBody>
      </p:sp>
      <p:sp>
        <p:nvSpPr>
          <p:cNvPr id="68" name="Text 66"/>
          <p:cNvSpPr/>
          <p:nvPr/>
        </p:nvSpPr>
        <p:spPr>
          <a:xfrm>
            <a:off x="265176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40,20</a:t>
            </a:r>
            <a:endParaRPr lang="en-US" sz="1170" dirty="0"/>
          </a:p>
        </p:txBody>
      </p:sp>
      <p:sp>
        <p:nvSpPr>
          <p:cNvPr id="69" name="Text 67"/>
          <p:cNvSpPr/>
          <p:nvPr/>
        </p:nvSpPr>
        <p:spPr>
          <a:xfrm>
            <a:off x="374904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170" dirty="0"/>
          </a:p>
        </p:txBody>
      </p:sp>
      <p:sp>
        <p:nvSpPr>
          <p:cNvPr id="70" name="Text 68"/>
          <p:cNvSpPr/>
          <p:nvPr/>
        </p:nvSpPr>
        <p:spPr>
          <a:xfrm>
            <a:off x="484632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170" dirty="0"/>
          </a:p>
        </p:txBody>
      </p:sp>
      <p:sp>
        <p:nvSpPr>
          <p:cNvPr id="71" name="Text 69"/>
          <p:cNvSpPr/>
          <p:nvPr/>
        </p:nvSpPr>
        <p:spPr>
          <a:xfrm>
            <a:off x="608076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63,44</a:t>
            </a:r>
            <a:endParaRPr lang="en-US" sz="1170" dirty="0"/>
          </a:p>
        </p:txBody>
      </p:sp>
      <p:sp>
        <p:nvSpPr>
          <p:cNvPr id="72" name="Text 70"/>
          <p:cNvSpPr/>
          <p:nvPr/>
        </p:nvSpPr>
        <p:spPr>
          <a:xfrm>
            <a:off x="7315200" y="426110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+0,58</a:t>
            </a:r>
            <a:endParaRPr lang="en-US" sz="1170" dirty="0"/>
          </a:p>
        </p:txBody>
      </p:sp>
      <p:sp>
        <p:nvSpPr>
          <p:cNvPr id="73" name="Shape 71"/>
          <p:cNvSpPr/>
          <p:nvPr/>
        </p:nvSpPr>
        <p:spPr>
          <a:xfrm>
            <a:off x="502920" y="464515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74" name="Text 72"/>
          <p:cNvSpPr/>
          <p:nvPr/>
        </p:nvSpPr>
        <p:spPr>
          <a:xfrm>
            <a:off x="502920" y="464515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170" dirty="0"/>
          </a:p>
        </p:txBody>
      </p:sp>
      <p:sp>
        <p:nvSpPr>
          <p:cNvPr id="75" name="Text 73"/>
          <p:cNvSpPr/>
          <p:nvPr/>
        </p:nvSpPr>
        <p:spPr>
          <a:xfrm>
            <a:off x="265176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40,10</a:t>
            </a:r>
            <a:endParaRPr lang="en-US" sz="1170" dirty="0"/>
          </a:p>
        </p:txBody>
      </p:sp>
      <p:sp>
        <p:nvSpPr>
          <p:cNvPr id="76" name="Text 74"/>
          <p:cNvSpPr/>
          <p:nvPr/>
        </p:nvSpPr>
        <p:spPr>
          <a:xfrm>
            <a:off x="374904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170" dirty="0"/>
          </a:p>
        </p:txBody>
      </p:sp>
      <p:sp>
        <p:nvSpPr>
          <p:cNvPr id="77" name="Text 75"/>
          <p:cNvSpPr/>
          <p:nvPr/>
        </p:nvSpPr>
        <p:spPr>
          <a:xfrm>
            <a:off x="484632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170" dirty="0"/>
          </a:p>
        </p:txBody>
      </p:sp>
      <p:sp>
        <p:nvSpPr>
          <p:cNvPr id="78" name="Text 76"/>
          <p:cNvSpPr/>
          <p:nvPr/>
        </p:nvSpPr>
        <p:spPr>
          <a:xfrm>
            <a:off x="608076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170" dirty="0"/>
          </a:p>
        </p:txBody>
      </p:sp>
      <p:sp>
        <p:nvSpPr>
          <p:cNvPr id="79" name="Text 77"/>
          <p:cNvSpPr/>
          <p:nvPr/>
        </p:nvSpPr>
        <p:spPr>
          <a:xfrm>
            <a:off x="7315200" y="464515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+0,66</a:t>
            </a:r>
            <a:endParaRPr lang="en-US" sz="1170" dirty="0"/>
          </a:p>
        </p:txBody>
      </p:sp>
      <p:sp>
        <p:nvSpPr>
          <p:cNvPr id="80" name="Shape 7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chiếu bằng bốn công cụ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− S1 trên cùng 4.463 bước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60120" y="1508760"/>
            <a:ext cx="690372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5087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cụ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71800" y="150876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89120" y="1508760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92938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71800" y="1929384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89120" y="192938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[+0,80; +2,33]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2459736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960120" y="245973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71800" y="2459736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89120" y="245973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[+0,82; +2,30]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60120" y="2990088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60120" y="29900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Phi-Ground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71800" y="2990088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299008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[+0,05; +1,51]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60120" y="3520440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60120" y="352044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971800" y="352044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+0,69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89120" y="3520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[+0,02; +1,40]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43434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bốn khoảng tin cậy đều nằm trên 0. Phi-Ground và Phi-4 nằm ngoài họ Qwen.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Cấu hình huấn luyện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8046720" cy="40233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Hạng mục</a:t>
            </a:r>
            <a:endParaRPr lang="en-US" sz="1270" dirty="0"/>
          </a:p>
        </p:txBody>
      </p:sp>
      <p:sp>
        <p:nvSpPr>
          <p:cNvPr id="6" name="Text 4"/>
          <p:cNvSpPr/>
          <p:nvPr/>
        </p:nvSpPr>
        <p:spPr>
          <a:xfrm>
            <a:off x="3246120" y="91440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 trị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502920" y="131673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Backbone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3246120" y="1316736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502920" y="175564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</a:t>
            </a:r>
            <a:endParaRPr lang="en-US" sz="1270" dirty="0"/>
          </a:p>
        </p:txBody>
      </p:sp>
      <p:sp>
        <p:nvSpPr>
          <p:cNvPr id="11" name="Text 9"/>
          <p:cNvSpPr/>
          <p:nvPr/>
        </p:nvSpPr>
        <p:spPr>
          <a:xfrm>
            <a:off x="3246120" y="175564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QLoRA NF4 4-bit, rank 8, alpha 16, dropout 0,05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SFT</a:t>
            </a:r>
            <a:endParaRPr lang="en-US" sz="1270" dirty="0"/>
          </a:p>
        </p:txBody>
      </p:sp>
      <p:sp>
        <p:nvSpPr>
          <p:cNvPr id="14" name="Text 12"/>
          <p:cNvSpPr/>
          <p:nvPr/>
        </p:nvSpPr>
        <p:spPr>
          <a:xfrm>
            <a:off x="3246120" y="2194560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epochs = 8.072 steps, batch hiệu dụng 16, LR 1e−4</a:t>
            </a:r>
            <a:endParaRPr lang="en-US" sz="127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70" dirty="0"/>
          </a:p>
        </p:txBody>
      </p:sp>
      <p:sp>
        <p:nvSpPr>
          <p:cNvPr id="17" name="Text 15"/>
          <p:cNvSpPr/>
          <p:nvPr/>
        </p:nvSpPr>
        <p:spPr>
          <a:xfrm>
            <a:off x="3246120" y="2633472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samples/prompt, 500 updates, LR 1e−5, KL β 0,04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502920" y="3072384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502920" y="30723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cứng</a:t>
            </a:r>
            <a:endParaRPr lang="en-US" sz="1270" dirty="0"/>
          </a:p>
        </p:txBody>
      </p:sp>
      <p:sp>
        <p:nvSpPr>
          <p:cNvPr id="20" name="Text 18"/>
          <p:cNvSpPr/>
          <p:nvPr/>
        </p:nvSpPr>
        <p:spPr>
          <a:xfrm>
            <a:off x="3246120" y="3072384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× A100, vision tower không cập nhật tham số</a:t>
            </a:r>
            <a:endParaRPr lang="en-US" sz="1270" dirty="0"/>
          </a:p>
        </p:txBody>
      </p:sp>
      <p:sp>
        <p:nvSpPr>
          <p:cNvPr id="21" name="Shape 1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hướng đã khảo sát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6012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</a:t>
            </a:r>
            <a:endParaRPr lang="en-US" sz="1230" dirty="0"/>
          </a:p>
        </p:txBody>
      </p:sp>
      <p:sp>
        <p:nvSpPr>
          <p:cNvPr id="6" name="Text 4"/>
          <p:cNvSpPr/>
          <p:nvPr/>
        </p:nvSpPr>
        <p:spPr>
          <a:xfrm>
            <a:off x="3017520" y="9601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4114800" y="960120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Điều rút ra</a:t>
            </a:r>
            <a:endParaRPr lang="en-US" sz="1230" dirty="0"/>
          </a:p>
        </p:txBody>
      </p:sp>
      <p:sp>
        <p:nvSpPr>
          <p:cNvPr id="8" name="Text 6"/>
          <p:cNvSpPr/>
          <p:nvPr/>
        </p:nvSpPr>
        <p:spPr>
          <a:xfrm>
            <a:off x="502920" y="1380744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tả phần tử trước câu</a:t>
            </a:r>
            <a:endParaRPr lang="en-US" sz="1210" dirty="0"/>
          </a:p>
        </p:txBody>
      </p:sp>
      <p:sp>
        <p:nvSpPr>
          <p:cNvPr id="9" name="Text 7"/>
          <p:cNvSpPr/>
          <p:nvPr/>
        </p:nvSpPr>
        <p:spPr>
          <a:xfrm>
            <a:off x="3017520" y="1380744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57,2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4114800" y="1380744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biểu diễn trung gian sai, câu cuối bị ảnh hưởng mạnh.</a:t>
            </a:r>
            <a:endParaRPr lang="en-US" sz="121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02920" y="1965960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MIN-DESC</a:t>
            </a:r>
            <a:endParaRPr lang="en-US" sz="1210" dirty="0"/>
          </a:p>
        </p:txBody>
      </p:sp>
      <p:sp>
        <p:nvSpPr>
          <p:cNvPr id="13" name="Text 11"/>
          <p:cNvSpPr/>
          <p:nvPr/>
        </p:nvSpPr>
        <p:spPr>
          <a:xfrm>
            <a:off x="3017520" y="1965960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60,0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4114800" y="1965960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ưu tiên có đóng góp riêng +0,63 điểm so với học thêm có giám sát.</a:t>
            </a:r>
            <a:endParaRPr lang="en-US" sz="1210" dirty="0"/>
          </a:p>
        </p:txBody>
      </p:sp>
      <p:sp>
        <p:nvSpPr>
          <p:cNvPr id="15" name="Shape 13"/>
          <p:cNvSpPr/>
          <p:nvPr/>
        </p:nvSpPr>
        <p:spPr>
          <a:xfrm>
            <a:off x="502920" y="2551176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551176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thưởng tọa độ</a:t>
            </a:r>
            <a:endParaRPr lang="en-US" sz="1210" dirty="0"/>
          </a:p>
        </p:txBody>
      </p:sp>
      <p:sp>
        <p:nvSpPr>
          <p:cNvPr id="17" name="Text 15"/>
          <p:cNvSpPr/>
          <p:nvPr/>
        </p:nvSpPr>
        <p:spPr>
          <a:xfrm>
            <a:off x="3017520" y="2551176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60,1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4114800" y="2551176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Biểu diễn tọa độ tốt hơn nhưng thay đổi ở câu cuối nhỏ hơn.</a:t>
            </a:r>
            <a:endParaRPr lang="en-US" sz="1210" dirty="0"/>
          </a:p>
        </p:txBody>
      </p:sp>
      <p:sp>
        <p:nvSpPr>
          <p:cNvPr id="19" name="Shape 17"/>
          <p:cNvSpPr/>
          <p:nvPr/>
        </p:nvSpPr>
        <p:spPr>
          <a:xfrm>
            <a:off x="502920" y="3136392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3136392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ứng viên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3017520" y="3136392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56,1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4114800" y="3136392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thực sự chọn, chất lượng khá tốt; vấn đề nằm ở quyết định từ chối chọn.</a:t>
            </a:r>
            <a:endParaRPr lang="en-US" sz="1210" dirty="0"/>
          </a:p>
        </p:txBody>
      </p:sp>
      <p:sp>
        <p:nvSpPr>
          <p:cNvPr id="23" name="Shape 21"/>
          <p:cNvSpPr/>
          <p:nvPr/>
        </p:nvSpPr>
        <p:spPr>
          <a:xfrm>
            <a:off x="502920" y="3721608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02920" y="3721608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TAGE</a:t>
            </a:r>
            <a:endParaRPr lang="en-US" sz="1210" dirty="0"/>
          </a:p>
        </p:txBody>
      </p:sp>
      <p:sp>
        <p:nvSpPr>
          <p:cNvPr id="25" name="Text 23"/>
          <p:cNvSpPr/>
          <p:nvPr/>
        </p:nvSpPr>
        <p:spPr>
          <a:xfrm>
            <a:off x="3017520" y="3721608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60,2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4114800" y="3721608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biên tập có ích khi vùng cắt đúng; khâu chọn vùng còn là điểm cần cải thiện.</a:t>
            </a:r>
            <a:endParaRPr lang="en-US" sz="1210" dirty="0"/>
          </a:p>
        </p:txBody>
      </p:sp>
      <p:sp>
        <p:nvSpPr>
          <p:cNvPr id="27" name="Shape 25"/>
          <p:cNvSpPr/>
          <p:nvPr/>
        </p:nvSpPr>
        <p:spPr>
          <a:xfrm>
            <a:off x="502920" y="4892040"/>
            <a:ext cx="8138160" cy="71323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92040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hướng trung gian giúp xác định rằng tối ưu trực tiếp câu cuối phù hợp hơn với mục tiêu chính.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Phat sinh tu dong huong dan su dung phan mem dua tren LLM</dc:title>
  <dc:subject>Master thesis defense</dc:subject>
  <dc:creator>Le Doan Phuong Uyen</dc:creator>
  <cp:lastModifiedBy>Le Doan Phuong Uyen</cp:lastModifiedBy>
  <cp:revision>1</cp:revision>
  <dcterms:created xsi:type="dcterms:W3CDTF">2026-10-27T23:49:06Z</dcterms:created>
  <dcterms:modified xsi:type="dcterms:W3CDTF">2026-10-27T23:49:06Z</dcterms:modified>
</cp:coreProperties>
</file>