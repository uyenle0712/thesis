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Tổng quan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27248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11496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0" y="1719072"/>
            <a:ext cx="2697480" cy="11155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719072"/>
            <a:ext cx="2697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 Not now”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38862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4904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21208" y="43891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25196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75488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thao tác trước đó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21208" y="5394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5780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Văn bản hiển thị trên giao diện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709160" y="3456432"/>
            <a:ext cx="3840480" cy="16459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83480" y="41605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55595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agent tự thao tác.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Yêu cầu của câu hướng dẫn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nghe hoàn toàn tự nhiên vẫn có thể không đủ thông tin để người dùng chọn đúng phần tử.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vậy, câu hướng dẫn không chỉ cần đúng nội dung mà còn phải phân biệt được đúng phần tử cần thao tác.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Hạn chế của độ tương đồng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độ đo chất lượng câu và khả năng làm theo phản ánh hai khía cạnh bổ sung cho nhau.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mức giống câu chuẩn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tương đồng nội dung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Xác định đúng phần tử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đúng loại thao tác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đó, luận văn đánh giá cả mức tương đồng với câu chuẩn và khả năng xác định đúng phần tử, đúng loại thao tác.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Đóng góp chính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22376" y="1847088"/>
            <a:ext cx="207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câu hướng dẫn. ACE tiếp tục hiệu chỉnh câu ban đầu để cải thiện chất lượng mà vẫn giữ executability.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319272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66160" y="1847088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tách biệt kiểm tra câu có dẫn tới đúng phần tử và đúng thao tác.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4496" y="11704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Bằng chứng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55080" y="184708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kiểm tra bằng cùng số bước huấn luyện, nhiều mô hình định vị, tác vụ mới và chuyển miền.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tập kiểm chính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01568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01568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tác vụ chưa có trong huấn luyện có giám sát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8076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 · CIDEr-D · SPICE · 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huấn luyện và tập kiểm tra chính được tách theo tác vụ. Không có tác vụ xuất hiện ở cả hai phía.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8138160" cy="49377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361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endParaRPr lang="en-US" sz="1370" dirty="0"/>
          </a:p>
        </p:txBody>
      </p:sp>
      <p:sp>
        <p:nvSpPr>
          <p:cNvPr id="7" name="Text 5"/>
          <p:cNvSpPr/>
          <p:nvPr/>
        </p:nvSpPr>
        <p:spPr>
          <a:xfrm>
            <a:off x="301752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70" dirty="0"/>
          </a:p>
        </p:txBody>
      </p:sp>
      <p:sp>
        <p:nvSpPr>
          <p:cNvPr id="8" name="Text 6"/>
          <p:cNvSpPr/>
          <p:nvPr/>
        </p:nvSpPr>
        <p:spPr>
          <a:xfrm>
            <a:off x="470916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chính</a:t>
            </a:r>
            <a:endParaRPr lang="en-US" sz="1370" dirty="0"/>
          </a:p>
        </p:txBody>
      </p:sp>
      <p:sp>
        <p:nvSpPr>
          <p:cNvPr id="9" name="Text 7"/>
          <p:cNvSpPr/>
          <p:nvPr/>
        </p:nvSpPr>
        <p:spPr>
          <a:xfrm>
            <a:off x="6400800" y="1536192"/>
            <a:ext cx="2240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301752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470916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6400800" y="2029968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502920" y="261518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61518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có thao tác chạm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301752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470916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6400800" y="26151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chính của executability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502920" y="320040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20040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301752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470916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6400800" y="3200400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trùng tác vụ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502920" y="39867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tổng quát hóa bổ sung</a:t>
            </a:r>
            <a:endParaRPr lang="en-US" sz="1520" dirty="0"/>
          </a:p>
        </p:txBody>
      </p:sp>
      <p:sp>
        <p:nvSpPr>
          <p:cNvPr id="25" name="Shape 23"/>
          <p:cNvSpPr/>
          <p:nvPr/>
        </p:nvSpPr>
        <p:spPr>
          <a:xfrm>
            <a:off x="50292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5994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460" dirty="0"/>
          </a:p>
        </p:txBody>
      </p:sp>
      <p:sp>
        <p:nvSpPr>
          <p:cNvPr id="27" name="Text 25"/>
          <p:cNvSpPr/>
          <p:nvPr/>
        </p:nvSpPr>
        <p:spPr>
          <a:xfrm>
            <a:off x="1920240" y="455371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1.484 bước từ các tác vụ chưa có trong tập huấn luyện</a:t>
            </a:r>
            <a:endParaRPr lang="en-US" sz="1380" dirty="0"/>
          </a:p>
        </p:txBody>
      </p:sp>
      <p:sp>
        <p:nvSpPr>
          <p:cNvPr id="28" name="Shape 26"/>
          <p:cNvSpPr/>
          <p:nvPr/>
        </p:nvSpPr>
        <p:spPr>
          <a:xfrm>
            <a:off x="475488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45994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Chuyển miền (AitZ)</a:t>
            </a:r>
            <a:endParaRPr lang="en-US" sz="1460" dirty="0"/>
          </a:p>
        </p:txBody>
      </p:sp>
      <p:sp>
        <p:nvSpPr>
          <p:cNvPr id="30" name="Text 28"/>
          <p:cNvSpPr/>
          <p:nvPr/>
        </p:nvSpPr>
        <p:spPr>
          <a:xfrm>
            <a:off x="6263640" y="455371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 giao diện khác để kiểm tra khả năng chuyển miền</a:t>
            </a:r>
            <a:endParaRPr lang="en-US" sz="1380" dirty="0"/>
          </a:p>
        </p:txBody>
      </p:sp>
      <p:sp>
        <p:nvSpPr>
          <p:cNvPr id="31" name="Shape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2.1. Executability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7373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72768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41448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07792" y="1444752"/>
            <a:ext cx="205740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07792" y="14447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tách biệt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541264" y="1572768"/>
            <a:ext cx="1188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41264" y="1572768"/>
            <a:ext cx="1188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(x,y)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39712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96912" y="1371600"/>
            <a:ext cx="1261872" cy="12435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371600"/>
            <a:ext cx="12618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+ thao tác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thời: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21208" y="38130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75888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21208" y="4379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42816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diễn đạt ngược thao tác cần làm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" y="494690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09744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định vị thuộc vùng của phần tử cần chạm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5468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tham gia huấn luyện phương pháp và không biết tọa độ đáp án.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2.2. Kiểm tra độ tin cậy của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321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cùng một nhóm bước, câu càng thiếu thông tin để xác định đúng phần tử thì executability càng thấp.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 (đầy đủ thông tin)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08960" y="169164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691640"/>
            <a:ext cx="3826798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42632" y="160934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74,9%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60120" y="244144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hồ: “Tap the button.”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08960" y="251460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514600"/>
            <a:ext cx="613105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42632" y="243230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60120" y="326440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sai màn hình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08960" y="333756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337560"/>
            <a:ext cx="3116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25526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1051560" y="4498848"/>
            <a:ext cx="7040880" cy="85953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61872" y="4498848"/>
            <a:ext cx="6620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đúng kỳ vọng: 74,9% → 12,0% → 6,1%. Khi câu mơ hồ hoặc sai ngữ cảnh, executability giảm mạnh.</a:t>
            </a:r>
            <a:endParaRPr lang="en-US" sz="154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33856"/>
            <a:ext cx="138988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33856"/>
            <a:ext cx="13898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8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(đã được SFT)</a:t>
            </a:r>
            <a:endParaRPr lang="en-US" sz="1380" dirty="0"/>
          </a:p>
        </p:txBody>
      </p:sp>
      <p:sp>
        <p:nvSpPr>
          <p:cNvPr id="6" name="Shape 4"/>
          <p:cNvSpPr/>
          <p:nvPr/>
        </p:nvSpPr>
        <p:spPr>
          <a:xfrm>
            <a:off x="1874520" y="1645920"/>
            <a:ext cx="1828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21408" y="1143000"/>
            <a:ext cx="1901952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ban đầu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33088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1143000"/>
            <a:ext cx="1901952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hiệu chỉnh có chọn lọc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39712" y="1143000"/>
            <a:ext cx="1810512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9712" y="1143000"/>
            <a:ext cx="1810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58444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8 câu cho cùng đầu vào.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5212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79392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+ phạt độ dài để cập nhật mô hình.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4617720" y="31272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584448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 từ tập dạy.</a:t>
            </a:r>
            <a:endParaRPr lang="en-US" sz="1520" dirty="0"/>
          </a:p>
        </p:txBody>
      </p:sp>
      <p:sp>
        <p:nvSpPr>
          <p:cNvPr id="23" name="Shape 21"/>
          <p:cNvSpPr/>
          <p:nvPr/>
        </p:nvSpPr>
        <p:spPr>
          <a:xfrm>
            <a:off x="46360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279392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qua 2 điều kiện chọn lọc.</a:t>
            </a:r>
            <a:endParaRPr lang="en-US" sz="1520" dirty="0"/>
          </a:p>
        </p:txBody>
      </p:sp>
      <p:sp>
        <p:nvSpPr>
          <p:cNvPr id="25" name="Text 23"/>
          <p:cNvSpPr/>
          <p:nvPr/>
        </p:nvSpPr>
        <p:spPr>
          <a:xfrm>
            <a:off x="502920" y="532180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chỉ được dùng để đánh giá câu hướng dẫn. Mô hình này không tham gia sinh câu hay cập nhật mô hình.</a:t>
            </a:r>
            <a:endParaRPr lang="en-US" sz="14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3.1. Thành phần thứ nhất: GRPO-SPICE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417320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đầu vào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84832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78608" y="1517904"/>
            <a:ext cx="160020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1517904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91456" y="1517904"/>
            <a:ext cx="164592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517904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56248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50024" y="1463040"/>
            <a:ext cx="1554480" cy="12984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1463040"/>
            <a:ext cx="1554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Cập nhật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337560"/>
            <a:ext cx="8138160" cy="15727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trò của SPICE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441448" y="3401568"/>
            <a:ext cx="5943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ưu tiên đúng nội dung hơn mức giống câu chữ.</a:t>
            </a:r>
            <a:endParaRPr lang="en-US" sz="15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Tín hiệu huấn luyện tập trung vào đối tượng và quan hệ cần mô tả.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502920" y="5303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trực tiếp câu hướng dẫn bằng tín hiệu SPICE.</a:t>
            </a:r>
            <a:endParaRPr lang="en-US" sz="146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3.2. Thành phần thứ hai: ACE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từ tập huấn luyện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viên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trùng với một trong bốn câu ví dụ được truy hồi.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phải cùng lớp thao tác với câu ban đầu.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4663440"/>
            <a:ext cx="2560320" cy="74980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4663440"/>
            <a:ext cx="2560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trên tập kiểm chính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68680" y="1408176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</a:t>
            </a:r>
            <a:endParaRPr lang="en-US" sz="1390" dirty="0"/>
          </a:p>
        </p:txBody>
      </p:sp>
      <p:sp>
        <p:nvSpPr>
          <p:cNvPr id="6" name="Shape 4"/>
          <p:cNvSpPr/>
          <p:nvPr/>
        </p:nvSpPr>
        <p:spPr>
          <a:xfrm>
            <a:off x="3108960" y="1481328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481328"/>
            <a:ext cx="300597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3990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47,59%</a:t>
            </a:r>
            <a:endParaRPr lang="en-US" sz="1390" dirty="0"/>
          </a:p>
        </p:txBody>
      </p:sp>
      <p:sp>
        <p:nvSpPr>
          <p:cNvPr id="9" name="Text 7"/>
          <p:cNvSpPr/>
          <p:nvPr/>
        </p:nvSpPr>
        <p:spPr>
          <a:xfrm>
            <a:off x="868680" y="2121408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· Base</a:t>
            </a:r>
            <a:endParaRPr lang="en-US" sz="1390" dirty="0"/>
          </a:p>
        </p:txBody>
      </p:sp>
      <p:sp>
        <p:nvSpPr>
          <p:cNvPr id="10" name="Shape 8"/>
          <p:cNvSpPr/>
          <p:nvPr/>
        </p:nvSpPr>
        <p:spPr>
          <a:xfrm>
            <a:off x="3108960" y="2194560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194560"/>
            <a:ext cx="3253574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11226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51,51%</a:t>
            </a:r>
            <a:endParaRPr lang="en-US" sz="1390" dirty="0"/>
          </a:p>
        </p:txBody>
      </p:sp>
      <p:sp>
        <p:nvSpPr>
          <p:cNvPr id="13" name="Text 11"/>
          <p:cNvSpPr/>
          <p:nvPr/>
        </p:nvSpPr>
        <p:spPr>
          <a:xfrm>
            <a:off x="868680" y="2834640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baseline S1</a:t>
            </a:r>
            <a:endParaRPr lang="en-US" sz="1390" dirty="0"/>
          </a:p>
        </p:txBody>
      </p:sp>
      <p:sp>
        <p:nvSpPr>
          <p:cNvPr id="14" name="Shape 12"/>
          <p:cNvSpPr/>
          <p:nvPr/>
        </p:nvSpPr>
        <p:spPr>
          <a:xfrm>
            <a:off x="3108960" y="2907792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2907792"/>
            <a:ext cx="3733620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8254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390" dirty="0"/>
          </a:p>
        </p:txBody>
      </p:sp>
      <p:sp>
        <p:nvSpPr>
          <p:cNvPr id="17" name="Text 15"/>
          <p:cNvSpPr/>
          <p:nvPr/>
        </p:nvSpPr>
        <p:spPr>
          <a:xfrm>
            <a:off x="868680" y="3547872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GRPO-SPICE</a:t>
            </a:r>
            <a:endParaRPr lang="en-US" sz="1390" dirty="0"/>
          </a:p>
        </p:txBody>
      </p:sp>
      <p:sp>
        <p:nvSpPr>
          <p:cNvPr id="18" name="Shape 16"/>
          <p:cNvSpPr/>
          <p:nvPr/>
        </p:nvSpPr>
        <p:spPr>
          <a:xfrm>
            <a:off x="3108960" y="3621024"/>
            <a:ext cx="410565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08960" y="3621024"/>
            <a:ext cx="3830893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3538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3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1390" dirty="0"/>
          </a:p>
        </p:txBody>
      </p:sp>
      <p:sp>
        <p:nvSpPr>
          <p:cNvPr id="21" name="Shape 19"/>
          <p:cNvSpPr/>
          <p:nvPr/>
        </p:nvSpPr>
        <p:spPr>
          <a:xfrm>
            <a:off x="960120" y="4498848"/>
            <a:ext cx="7223760" cy="7863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49884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+ GRPO-SPICE cao hơn 7B Base +9,14 điểm</a:t>
            </a:r>
            <a:endParaRPr lang="en-US" sz="1720" dirty="0"/>
          </a:p>
        </p:txBody>
      </p:sp>
      <p:sp>
        <p:nvSpPr>
          <p:cNvPr id="23" name="Text 21"/>
          <p:cNvSpPr/>
          <p:nvPr/>
        </p:nvSpPr>
        <p:spPr>
          <a:xfrm>
            <a:off x="502920" y="554126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dùng cùng prompt của Base và không được tối ưu prompt riêng.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Vai trò của tín hiệu SPICE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500 bước GRPO, nhánh dùng SPICE từ mẫu khác vẫn ở mức S1. GRPO-SPICE tăng +1,55 điểm.</a:t>
            </a:r>
            <a:endParaRPr lang="en-US" sz="1580" dirty="0"/>
          </a:p>
        </p:txBody>
      </p:sp>
      <p:sp>
        <p:nvSpPr>
          <p:cNvPr id="5" name="Shape 3"/>
          <p:cNvSpPr/>
          <p:nvPr/>
        </p:nvSpPr>
        <p:spPr>
          <a:xfrm>
            <a:off x="749808" y="1627632"/>
            <a:ext cx="781812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5584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SPICE từ mẫu khác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6188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5584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6188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78608" y="3090672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Ở cột giữa, điểm SPICE được lấy từ một mẫu khác.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1005840" y="4041648"/>
            <a:ext cx="7132320" cy="89611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041648"/>
            <a:ext cx="6766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nhánh dùng SPICE từ mẫu khác +1,55 điểm · KTC 95% từ +0,81 đến +2,30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541324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chất lượng câu có KTC đều tăng trong cùng phép so sánh.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Kết quả trên tập kiểm chính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039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7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baseline S1 trên các độ đo chính.</a:t>
            </a:r>
            <a:endParaRPr lang="en-US" sz="1670" dirty="0"/>
          </a:p>
        </p:txBody>
      </p:sp>
      <p:sp>
        <p:nvSpPr>
          <p:cNvPr id="5" name="Shape 3"/>
          <p:cNvSpPr/>
          <p:nvPr/>
        </p:nvSpPr>
        <p:spPr>
          <a:xfrm>
            <a:off x="585216" y="3108960"/>
            <a:ext cx="7973568" cy="658368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1389888"/>
            <a:ext cx="7973568" cy="56692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8988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2432304" y="13898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3849624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5111496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373368" y="138988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7333488" y="1389888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585216" y="1956816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2432304" y="195681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3849624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5111496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6373368" y="1956816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340" dirty="0"/>
          </a:p>
        </p:txBody>
      </p:sp>
      <p:sp>
        <p:nvSpPr>
          <p:cNvPr id="18" name="Text 16"/>
          <p:cNvSpPr/>
          <p:nvPr/>
        </p:nvSpPr>
        <p:spPr>
          <a:xfrm>
            <a:off x="7333488" y="1956816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585216" y="2560320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85216" y="2560320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40" dirty="0"/>
          </a:p>
        </p:txBody>
      </p:sp>
      <p:sp>
        <p:nvSpPr>
          <p:cNvPr id="21" name="Text 19"/>
          <p:cNvSpPr/>
          <p:nvPr/>
        </p:nvSpPr>
        <p:spPr>
          <a:xfrm>
            <a:off x="2432304" y="256032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40" dirty="0"/>
          </a:p>
        </p:txBody>
      </p:sp>
      <p:sp>
        <p:nvSpPr>
          <p:cNvPr id="22" name="Text 20"/>
          <p:cNvSpPr/>
          <p:nvPr/>
        </p:nvSpPr>
        <p:spPr>
          <a:xfrm>
            <a:off x="3849624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340" dirty="0"/>
          </a:p>
        </p:txBody>
      </p:sp>
      <p:sp>
        <p:nvSpPr>
          <p:cNvPr id="23" name="Text 21"/>
          <p:cNvSpPr/>
          <p:nvPr/>
        </p:nvSpPr>
        <p:spPr>
          <a:xfrm>
            <a:off x="5111496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340" dirty="0"/>
          </a:p>
        </p:txBody>
      </p:sp>
      <p:sp>
        <p:nvSpPr>
          <p:cNvPr id="24" name="Text 22"/>
          <p:cNvSpPr/>
          <p:nvPr/>
        </p:nvSpPr>
        <p:spPr>
          <a:xfrm>
            <a:off x="6373368" y="2560320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40" dirty="0"/>
          </a:p>
        </p:txBody>
      </p:sp>
      <p:sp>
        <p:nvSpPr>
          <p:cNvPr id="25" name="Text 23"/>
          <p:cNvSpPr/>
          <p:nvPr/>
        </p:nvSpPr>
        <p:spPr>
          <a:xfrm>
            <a:off x="7333488" y="2560320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40" dirty="0"/>
          </a:p>
        </p:txBody>
      </p:sp>
      <p:sp>
        <p:nvSpPr>
          <p:cNvPr id="26" name="Shape 24"/>
          <p:cNvSpPr/>
          <p:nvPr/>
        </p:nvSpPr>
        <p:spPr>
          <a:xfrm>
            <a:off x="585216" y="3163824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85216" y="3163824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40" dirty="0"/>
          </a:p>
        </p:txBody>
      </p:sp>
      <p:sp>
        <p:nvSpPr>
          <p:cNvPr id="28" name="Text 26"/>
          <p:cNvSpPr/>
          <p:nvPr/>
        </p:nvSpPr>
        <p:spPr>
          <a:xfrm>
            <a:off x="2432304" y="316382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40" dirty="0"/>
          </a:p>
        </p:txBody>
      </p:sp>
      <p:sp>
        <p:nvSpPr>
          <p:cNvPr id="29" name="Text 27"/>
          <p:cNvSpPr/>
          <p:nvPr/>
        </p:nvSpPr>
        <p:spPr>
          <a:xfrm>
            <a:off x="3849624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340" dirty="0"/>
          </a:p>
        </p:txBody>
      </p:sp>
      <p:sp>
        <p:nvSpPr>
          <p:cNvPr id="30" name="Text 28"/>
          <p:cNvSpPr/>
          <p:nvPr/>
        </p:nvSpPr>
        <p:spPr>
          <a:xfrm>
            <a:off x="5111496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340" dirty="0"/>
          </a:p>
        </p:txBody>
      </p:sp>
      <p:sp>
        <p:nvSpPr>
          <p:cNvPr id="31" name="Text 29"/>
          <p:cNvSpPr/>
          <p:nvPr/>
        </p:nvSpPr>
        <p:spPr>
          <a:xfrm>
            <a:off x="6373368" y="316382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40" dirty="0"/>
          </a:p>
        </p:txBody>
      </p:sp>
      <p:sp>
        <p:nvSpPr>
          <p:cNvPr id="32" name="Text 30"/>
          <p:cNvSpPr/>
          <p:nvPr/>
        </p:nvSpPr>
        <p:spPr>
          <a:xfrm>
            <a:off x="7333488" y="3163824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40" dirty="0"/>
          </a:p>
        </p:txBody>
      </p:sp>
      <p:sp>
        <p:nvSpPr>
          <p:cNvPr id="33" name="Text 31"/>
          <p:cNvSpPr/>
          <p:nvPr/>
        </p:nvSpPr>
        <p:spPr>
          <a:xfrm>
            <a:off x="987552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87552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20440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+1,52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520440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053328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+1,88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053328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02920" y="54864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độ đo có KTC nằm trên 0. METEOR tăng nhưng chưa có KTC.</a:t>
            </a:r>
            <a:endParaRPr lang="en-US" sz="1360" dirty="0"/>
          </a:p>
        </p:txBody>
      </p:sp>
      <p:sp>
        <p:nvSpPr>
          <p:cNvPr id="40" name="Shape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Kết quả trên tác vụ mới (ACU)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 gồm 1.484 bước từ các tác vụ không xuất hiện trong huấn luyện SFT. Các số dưới đây là mức tăng so với baseline S1.</a:t>
            </a:r>
            <a:endParaRPr lang="en-US" sz="1540" dirty="0"/>
          </a:p>
        </p:txBody>
      </p:sp>
      <p:sp>
        <p:nvSpPr>
          <p:cNvPr id="5" name="Text 3"/>
          <p:cNvSpPr/>
          <p:nvPr/>
        </p:nvSpPr>
        <p:spPr>
          <a:xfrm>
            <a:off x="932688" y="156362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72968" y="163677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2968" y="1636776"/>
            <a:ext cx="3575867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79208" y="1554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38658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Chạy lại GRPO-SPICE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72968" y="245973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2968" y="2459736"/>
            <a:ext cx="3154258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79208" y="23774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+4,04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209544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72968" y="3282696"/>
            <a:ext cx="40599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2968" y="3282696"/>
            <a:ext cx="3786671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32004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+4,85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502920" y="418795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ba khoảng tin cậy đều nằm trên 0.</a:t>
            </a:r>
            <a:endParaRPr lang="en-US" sz="1370" dirty="0"/>
          </a:p>
        </p:txBody>
      </p:sp>
      <p:sp>
        <p:nvSpPr>
          <p:cNvPr id="18" name="Shape 16"/>
          <p:cNvSpPr/>
          <p:nvPr/>
        </p:nvSpPr>
        <p:spPr>
          <a:xfrm>
            <a:off x="960120" y="4700016"/>
            <a:ext cx="7223760" cy="80467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70001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 + ACU: GRPO-SPICE − S1 = +2,30 · KTC 95% từ +1,62 đến +2,99</a:t>
            </a:r>
            <a:endParaRPr lang="en-US" sz="1480" dirty="0"/>
          </a:p>
        </p:txBody>
      </p:sp>
      <p:sp>
        <p:nvSpPr>
          <p:cNvPr id="20" name="Shape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4.4. Kết quả sau ACE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84124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4124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9300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9300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GRPO-SPICE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4476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4476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 · CIDEr-D · SPICE · …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105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mức tương đương GRPO-SPICE và tiếp tục tăng các độ đo dựa trên câu chuẩn.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97296" y="2313432"/>
            <a:ext cx="1874520" cy="3511296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313432"/>
            <a:ext cx="7388352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3134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160" dirty="0"/>
          </a:p>
        </p:txBody>
      </p:sp>
      <p:sp>
        <p:nvSpPr>
          <p:cNvPr id="14" name="Text 12"/>
          <p:cNvSpPr/>
          <p:nvPr/>
        </p:nvSpPr>
        <p:spPr>
          <a:xfrm>
            <a:off x="2066544" y="231343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3255264" y="231343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160" dirty="0"/>
          </a:p>
        </p:txBody>
      </p:sp>
      <p:sp>
        <p:nvSpPr>
          <p:cNvPr id="16" name="Text 14"/>
          <p:cNvSpPr/>
          <p:nvPr/>
        </p:nvSpPr>
        <p:spPr>
          <a:xfrm>
            <a:off x="4681728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6291072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160" dirty="0"/>
          </a:p>
        </p:txBody>
      </p:sp>
      <p:sp>
        <p:nvSpPr>
          <p:cNvPr id="18" name="Text 16"/>
          <p:cNvSpPr/>
          <p:nvPr/>
        </p:nvSpPr>
        <p:spPr>
          <a:xfrm>
            <a:off x="512064" y="27523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90" dirty="0"/>
          </a:p>
        </p:txBody>
      </p:sp>
      <p:sp>
        <p:nvSpPr>
          <p:cNvPr id="19" name="Text 17"/>
          <p:cNvSpPr/>
          <p:nvPr/>
        </p:nvSpPr>
        <p:spPr>
          <a:xfrm>
            <a:off x="2066544" y="27523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15,34</a:t>
            </a:r>
            <a:endParaRPr lang="en-US" sz="1190" dirty="0"/>
          </a:p>
        </p:txBody>
      </p:sp>
      <p:sp>
        <p:nvSpPr>
          <p:cNvPr id="20" name="Text 18"/>
          <p:cNvSpPr/>
          <p:nvPr/>
        </p:nvSpPr>
        <p:spPr>
          <a:xfrm>
            <a:off x="3255264" y="275234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90" dirty="0"/>
          </a:p>
        </p:txBody>
      </p:sp>
      <p:sp>
        <p:nvSpPr>
          <p:cNvPr id="21" name="Text 19"/>
          <p:cNvSpPr/>
          <p:nvPr/>
        </p:nvSpPr>
        <p:spPr>
          <a:xfrm>
            <a:off x="4681728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90" dirty="0"/>
          </a:p>
        </p:txBody>
      </p:sp>
      <p:sp>
        <p:nvSpPr>
          <p:cNvPr id="22" name="Text 20"/>
          <p:cNvSpPr/>
          <p:nvPr/>
        </p:nvSpPr>
        <p:spPr>
          <a:xfrm>
            <a:off x="6291072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90" dirty="0"/>
          </a:p>
        </p:txBody>
      </p:sp>
      <p:sp>
        <p:nvSpPr>
          <p:cNvPr id="23" name="Shape 21"/>
          <p:cNvSpPr/>
          <p:nvPr/>
        </p:nvSpPr>
        <p:spPr>
          <a:xfrm>
            <a:off x="512064" y="319125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12064" y="319125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90" dirty="0"/>
          </a:p>
        </p:txBody>
      </p:sp>
      <p:sp>
        <p:nvSpPr>
          <p:cNvPr id="25" name="Text 23"/>
          <p:cNvSpPr/>
          <p:nvPr/>
        </p:nvSpPr>
        <p:spPr>
          <a:xfrm>
            <a:off x="2066544" y="319125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24,58</a:t>
            </a:r>
            <a:endParaRPr lang="en-US" sz="1190" dirty="0"/>
          </a:p>
        </p:txBody>
      </p:sp>
      <p:sp>
        <p:nvSpPr>
          <p:cNvPr id="26" name="Text 24"/>
          <p:cNvSpPr/>
          <p:nvPr/>
        </p:nvSpPr>
        <p:spPr>
          <a:xfrm>
            <a:off x="3255264" y="319125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90" dirty="0"/>
          </a:p>
        </p:txBody>
      </p:sp>
      <p:sp>
        <p:nvSpPr>
          <p:cNvPr id="27" name="Text 25"/>
          <p:cNvSpPr/>
          <p:nvPr/>
        </p:nvSpPr>
        <p:spPr>
          <a:xfrm>
            <a:off x="4681728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90" dirty="0"/>
          </a:p>
        </p:txBody>
      </p:sp>
      <p:sp>
        <p:nvSpPr>
          <p:cNvPr id="28" name="Text 26"/>
          <p:cNvSpPr/>
          <p:nvPr/>
        </p:nvSpPr>
        <p:spPr>
          <a:xfrm>
            <a:off x="6291072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90" dirty="0"/>
          </a:p>
        </p:txBody>
      </p:sp>
      <p:sp>
        <p:nvSpPr>
          <p:cNvPr id="29" name="Shape 27"/>
          <p:cNvSpPr/>
          <p:nvPr/>
        </p:nvSpPr>
        <p:spPr>
          <a:xfrm>
            <a:off x="512064" y="3630168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512064" y="3630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90" dirty="0"/>
          </a:p>
        </p:txBody>
      </p:sp>
      <p:sp>
        <p:nvSpPr>
          <p:cNvPr id="31" name="Text 29"/>
          <p:cNvSpPr/>
          <p:nvPr/>
        </p:nvSpPr>
        <p:spPr>
          <a:xfrm>
            <a:off x="2066544" y="36301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42,31</a:t>
            </a:r>
            <a:endParaRPr lang="en-US" sz="1190" dirty="0"/>
          </a:p>
        </p:txBody>
      </p:sp>
      <p:sp>
        <p:nvSpPr>
          <p:cNvPr id="32" name="Text 30"/>
          <p:cNvSpPr/>
          <p:nvPr/>
        </p:nvSpPr>
        <p:spPr>
          <a:xfrm>
            <a:off x="3255264" y="363016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90" dirty="0"/>
          </a:p>
        </p:txBody>
      </p:sp>
      <p:sp>
        <p:nvSpPr>
          <p:cNvPr id="33" name="Text 31"/>
          <p:cNvSpPr/>
          <p:nvPr/>
        </p:nvSpPr>
        <p:spPr>
          <a:xfrm>
            <a:off x="4681728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90" dirty="0"/>
          </a:p>
        </p:txBody>
      </p:sp>
      <p:sp>
        <p:nvSpPr>
          <p:cNvPr id="34" name="Text 32"/>
          <p:cNvSpPr/>
          <p:nvPr/>
        </p:nvSpPr>
        <p:spPr>
          <a:xfrm>
            <a:off x="6291072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90" dirty="0"/>
          </a:p>
        </p:txBody>
      </p:sp>
      <p:sp>
        <p:nvSpPr>
          <p:cNvPr id="35" name="Shape 33"/>
          <p:cNvSpPr/>
          <p:nvPr/>
        </p:nvSpPr>
        <p:spPr>
          <a:xfrm>
            <a:off x="512064" y="4069080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512064" y="406908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90" dirty="0"/>
          </a:p>
        </p:txBody>
      </p:sp>
      <p:sp>
        <p:nvSpPr>
          <p:cNvPr id="37" name="Text 35"/>
          <p:cNvSpPr/>
          <p:nvPr/>
        </p:nvSpPr>
        <p:spPr>
          <a:xfrm>
            <a:off x="2066544" y="40690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88,01</a:t>
            </a:r>
            <a:endParaRPr lang="en-US" sz="1190" dirty="0"/>
          </a:p>
        </p:txBody>
      </p:sp>
      <p:sp>
        <p:nvSpPr>
          <p:cNvPr id="38" name="Text 36"/>
          <p:cNvSpPr/>
          <p:nvPr/>
        </p:nvSpPr>
        <p:spPr>
          <a:xfrm>
            <a:off x="3255264" y="4069080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90" dirty="0"/>
          </a:p>
        </p:txBody>
      </p:sp>
      <p:sp>
        <p:nvSpPr>
          <p:cNvPr id="39" name="Text 37"/>
          <p:cNvSpPr/>
          <p:nvPr/>
        </p:nvSpPr>
        <p:spPr>
          <a:xfrm>
            <a:off x="4681728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90" dirty="0"/>
          </a:p>
        </p:txBody>
      </p:sp>
      <p:sp>
        <p:nvSpPr>
          <p:cNvPr id="40" name="Text 38"/>
          <p:cNvSpPr/>
          <p:nvPr/>
        </p:nvSpPr>
        <p:spPr>
          <a:xfrm>
            <a:off x="6291072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90" dirty="0"/>
          </a:p>
        </p:txBody>
      </p:sp>
      <p:sp>
        <p:nvSpPr>
          <p:cNvPr id="41" name="Shape 39"/>
          <p:cNvSpPr/>
          <p:nvPr/>
        </p:nvSpPr>
        <p:spPr>
          <a:xfrm>
            <a:off x="512064" y="4507992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512064" y="450799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90" dirty="0"/>
          </a:p>
        </p:txBody>
      </p:sp>
      <p:sp>
        <p:nvSpPr>
          <p:cNvPr id="43" name="Text 41"/>
          <p:cNvSpPr/>
          <p:nvPr/>
        </p:nvSpPr>
        <p:spPr>
          <a:xfrm>
            <a:off x="2066544" y="450799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18,48</a:t>
            </a:r>
            <a:endParaRPr lang="en-US" sz="1190" dirty="0"/>
          </a:p>
        </p:txBody>
      </p:sp>
      <p:sp>
        <p:nvSpPr>
          <p:cNvPr id="44" name="Text 42"/>
          <p:cNvSpPr/>
          <p:nvPr/>
        </p:nvSpPr>
        <p:spPr>
          <a:xfrm>
            <a:off x="3255264" y="450799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90" dirty="0"/>
          </a:p>
        </p:txBody>
      </p:sp>
      <p:sp>
        <p:nvSpPr>
          <p:cNvPr id="45" name="Text 43"/>
          <p:cNvSpPr/>
          <p:nvPr/>
        </p:nvSpPr>
        <p:spPr>
          <a:xfrm>
            <a:off x="4681728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90" dirty="0"/>
          </a:p>
        </p:txBody>
      </p:sp>
      <p:sp>
        <p:nvSpPr>
          <p:cNvPr id="46" name="Text 44"/>
          <p:cNvSpPr/>
          <p:nvPr/>
        </p:nvSpPr>
        <p:spPr>
          <a:xfrm>
            <a:off x="6291072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90" dirty="0"/>
          </a:p>
        </p:txBody>
      </p:sp>
      <p:sp>
        <p:nvSpPr>
          <p:cNvPr id="47" name="Shape 45"/>
          <p:cNvSpPr/>
          <p:nvPr/>
        </p:nvSpPr>
        <p:spPr>
          <a:xfrm>
            <a:off x="512064" y="4946904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8" name="Text 46"/>
          <p:cNvSpPr/>
          <p:nvPr/>
        </p:nvSpPr>
        <p:spPr>
          <a:xfrm>
            <a:off x="512064" y="494690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90" dirty="0"/>
          </a:p>
        </p:txBody>
      </p:sp>
      <p:sp>
        <p:nvSpPr>
          <p:cNvPr id="49" name="Text 47"/>
          <p:cNvSpPr/>
          <p:nvPr/>
        </p:nvSpPr>
        <p:spPr>
          <a:xfrm>
            <a:off x="2066544" y="494690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40,18</a:t>
            </a:r>
            <a:endParaRPr lang="en-US" sz="1190" dirty="0"/>
          </a:p>
        </p:txBody>
      </p:sp>
      <p:sp>
        <p:nvSpPr>
          <p:cNvPr id="50" name="Text 48"/>
          <p:cNvSpPr/>
          <p:nvPr/>
        </p:nvSpPr>
        <p:spPr>
          <a:xfrm>
            <a:off x="3255264" y="494690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90" dirty="0"/>
          </a:p>
        </p:txBody>
      </p:sp>
      <p:sp>
        <p:nvSpPr>
          <p:cNvPr id="51" name="Text 49"/>
          <p:cNvSpPr/>
          <p:nvPr/>
        </p:nvSpPr>
        <p:spPr>
          <a:xfrm>
            <a:off x="4681728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90" dirty="0"/>
          </a:p>
        </p:txBody>
      </p:sp>
      <p:sp>
        <p:nvSpPr>
          <p:cNvPr id="52" name="Text 50"/>
          <p:cNvSpPr/>
          <p:nvPr/>
        </p:nvSpPr>
        <p:spPr>
          <a:xfrm>
            <a:off x="6291072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90" dirty="0"/>
          </a:p>
        </p:txBody>
      </p:sp>
      <p:sp>
        <p:nvSpPr>
          <p:cNvPr id="53" name="Shape 51"/>
          <p:cNvSpPr/>
          <p:nvPr/>
        </p:nvSpPr>
        <p:spPr>
          <a:xfrm>
            <a:off x="512064" y="538581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4" name="Text 52"/>
          <p:cNvSpPr/>
          <p:nvPr/>
        </p:nvSpPr>
        <p:spPr>
          <a:xfrm>
            <a:off x="512064" y="53858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90" dirty="0"/>
          </a:p>
        </p:txBody>
      </p:sp>
      <p:sp>
        <p:nvSpPr>
          <p:cNvPr id="55" name="Text 53"/>
          <p:cNvSpPr/>
          <p:nvPr/>
        </p:nvSpPr>
        <p:spPr>
          <a:xfrm>
            <a:off x="2066544" y="538581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90" dirty="0"/>
          </a:p>
        </p:txBody>
      </p:sp>
      <p:sp>
        <p:nvSpPr>
          <p:cNvPr id="56" name="Text 54"/>
          <p:cNvSpPr/>
          <p:nvPr/>
        </p:nvSpPr>
        <p:spPr>
          <a:xfrm>
            <a:off x="3255264" y="538581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90" dirty="0"/>
          </a:p>
        </p:txBody>
      </p:sp>
      <p:sp>
        <p:nvSpPr>
          <p:cNvPr id="57" name="Text 55"/>
          <p:cNvSpPr/>
          <p:nvPr/>
        </p:nvSpPr>
        <p:spPr>
          <a:xfrm>
            <a:off x="4681728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90" dirty="0"/>
          </a:p>
        </p:txBody>
      </p:sp>
      <p:sp>
        <p:nvSpPr>
          <p:cNvPr id="58" name="Text 56"/>
          <p:cNvSpPr/>
          <p:nvPr/>
        </p:nvSpPr>
        <p:spPr>
          <a:xfrm>
            <a:off x="6291072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90" dirty="0"/>
          </a:p>
        </p:txBody>
      </p:sp>
      <p:sp>
        <p:nvSpPr>
          <p:cNvPr id="59" name="Text 57"/>
          <p:cNvSpPr/>
          <p:nvPr/>
        </p:nvSpPr>
        <p:spPr>
          <a:xfrm>
            <a:off x="502920" y="587959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có KTC nằm trên 0. METEOR chưa có KTC.</a:t>
            </a:r>
            <a:endParaRPr lang="en-US" sz="1280" dirty="0"/>
          </a:p>
        </p:txBody>
      </p:sp>
      <p:sp>
        <p:nvSpPr>
          <p:cNvPr id="60" name="Shape 5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4.5. Đối chiếu với bốn mô hình định vị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được tính lại bằng bốn mô hình định vị để kiểm tra độ ổn định của kết quả.</a:t>
            </a:r>
            <a:endParaRPr lang="en-US" sz="152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7680960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8132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40" dirty="0"/>
          </a:p>
        </p:txBody>
      </p:sp>
      <p:sp>
        <p:nvSpPr>
          <p:cNvPr id="7" name="Text 5"/>
          <p:cNvSpPr/>
          <p:nvPr/>
        </p:nvSpPr>
        <p:spPr>
          <a:xfrm>
            <a:off x="2578608" y="14813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240" dirty="0"/>
          </a:p>
        </p:txBody>
      </p:sp>
      <p:sp>
        <p:nvSpPr>
          <p:cNvPr id="8" name="Text 6"/>
          <p:cNvSpPr/>
          <p:nvPr/>
        </p:nvSpPr>
        <p:spPr>
          <a:xfrm>
            <a:off x="3995928" y="14813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240" dirty="0"/>
          </a:p>
        </p:txBody>
      </p:sp>
      <p:sp>
        <p:nvSpPr>
          <p:cNvPr id="9" name="Text 7"/>
          <p:cNvSpPr/>
          <p:nvPr/>
        </p:nvSpPr>
        <p:spPr>
          <a:xfrm>
            <a:off x="5413248" y="14813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240" dirty="0"/>
          </a:p>
        </p:txBody>
      </p:sp>
      <p:sp>
        <p:nvSpPr>
          <p:cNvPr id="10" name="Text 8"/>
          <p:cNvSpPr/>
          <p:nvPr/>
        </p:nvSpPr>
        <p:spPr>
          <a:xfrm>
            <a:off x="6830568" y="14813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240" dirty="0"/>
          </a:p>
        </p:txBody>
      </p:sp>
      <p:sp>
        <p:nvSpPr>
          <p:cNvPr id="11" name="Text 9"/>
          <p:cNvSpPr/>
          <p:nvPr/>
        </p:nvSpPr>
        <p:spPr>
          <a:xfrm>
            <a:off x="566928" y="1993392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2578608" y="199339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3995928" y="199339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413248" y="199339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40,80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6830568" y="199339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38,23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566928" y="2615184"/>
            <a:ext cx="76809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66928" y="261518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2578608" y="26151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3995928" y="26151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54,51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5413248" y="26151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46,96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6830568" y="26151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44,63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566928" y="3236976"/>
            <a:ext cx="76809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566928" y="323697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2578608" y="32369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3995928" y="32369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56,06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5413248" y="32369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47,75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6830568" y="32369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45,33</a:t>
            </a:r>
            <a:endParaRPr lang="en-US" sz="1320" dirty="0"/>
          </a:p>
        </p:txBody>
      </p:sp>
      <p:sp>
        <p:nvSpPr>
          <p:cNvPr id="28" name="Shape 26"/>
          <p:cNvSpPr/>
          <p:nvPr/>
        </p:nvSpPr>
        <p:spPr>
          <a:xfrm>
            <a:off x="566928" y="3895344"/>
            <a:ext cx="76809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566928" y="3895344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S1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2578608" y="389534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3995928" y="389534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5413248" y="389534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6830568" y="389534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20" dirty="0"/>
          </a:p>
        </p:txBody>
      </p:sp>
      <p:sp>
        <p:nvSpPr>
          <p:cNvPr id="34" name="Text 32"/>
          <p:cNvSpPr/>
          <p:nvPr/>
        </p:nvSpPr>
        <p:spPr>
          <a:xfrm>
            <a:off x="502920" y="4846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của bốn mức tăng đều nằm trên 0. Dấu —: chưa có kết quả Base đầy đủ.</a:t>
            </a:r>
            <a:endParaRPr lang="en-US" sz="1320" dirty="0"/>
          </a:p>
        </p:txBody>
      </p:sp>
      <p:sp>
        <p:nvSpPr>
          <p:cNvPr id="35" name="Shape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4.6. Lịch sử do mô hình tự sinh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lịch sử do chính mô hình sinh, GRPO-SPICE vẫn cao hơn S1.</a:t>
            </a:r>
            <a:endParaRPr lang="en-US" sz="1630" dirty="0"/>
          </a:p>
        </p:txBody>
      </p:sp>
      <p:sp>
        <p:nvSpPr>
          <p:cNvPr id="5" name="Shape 3"/>
          <p:cNvSpPr/>
          <p:nvPr/>
        </p:nvSpPr>
        <p:spPr>
          <a:xfrm>
            <a:off x="1051560" y="1627632"/>
            <a:ext cx="3017520" cy="1874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3317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54,96%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074920" y="1627632"/>
            <a:ext cx="3017520" cy="18745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1901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57800" y="23317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56,44%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005840" y="3977640"/>
            <a:ext cx="7132320" cy="93268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977640"/>
            <a:ext cx="6675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+1,48 điểm · KTC 95% từ +0,54 đến +2,43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534009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 vẫn còn khi các bước trước do chính mô hình tạo ra, gần hơn với tình huống sử dụng thực tế.</a:t>
            </a:r>
            <a:endParaRPr lang="en-US" sz="138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4.7. Chuyển miền sang AitZ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321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là bộ dữ liệu giao diện khác, dùng để kiểm tra khả năng chuyển miền.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32688" y="1490472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2898648" y="1563624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98648" y="1563624"/>
            <a:ext cx="36988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33488" y="14813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34,50%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32688" y="2276856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2898648" y="2350008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98648" y="2350008"/>
            <a:ext cx="4051594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3488" y="2267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37,79%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32688" y="306324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2898648" y="3136392"/>
            <a:ext cx="4288536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8648" y="3136392"/>
            <a:ext cx="3996916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33488" y="30540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960120" y="3931920"/>
            <a:ext cx="72237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9319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246120" y="393192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Chênh lệch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212080" y="393192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60120" y="43525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S1 − Base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3246120" y="4352544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+3,29</a:t>
            </a:r>
            <a:endParaRPr lang="en-US" sz="1260" dirty="0"/>
          </a:p>
        </p:txBody>
      </p:sp>
      <p:sp>
        <p:nvSpPr>
          <p:cNvPr id="23" name="Text 21"/>
          <p:cNvSpPr/>
          <p:nvPr/>
        </p:nvSpPr>
        <p:spPr>
          <a:xfrm>
            <a:off x="5212080" y="435254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+1,51 đến +5,03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960120" y="4864608"/>
            <a:ext cx="72237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60120" y="48646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baseline S1</a:t>
            </a:r>
            <a:endParaRPr lang="en-US" sz="1260" dirty="0"/>
          </a:p>
        </p:txBody>
      </p:sp>
      <p:sp>
        <p:nvSpPr>
          <p:cNvPr id="26" name="Text 24"/>
          <p:cNvSpPr/>
          <p:nvPr/>
        </p:nvSpPr>
        <p:spPr>
          <a:xfrm>
            <a:off x="3246120" y="4864608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260" dirty="0"/>
          </a:p>
        </p:txBody>
      </p:sp>
      <p:sp>
        <p:nvSpPr>
          <p:cNvPr id="27" name="Text 25"/>
          <p:cNvSpPr/>
          <p:nvPr/>
        </p:nvSpPr>
        <p:spPr>
          <a:xfrm>
            <a:off x="5212080" y="486460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−1,39 đến +0,36</a:t>
            </a:r>
            <a:endParaRPr lang="en-US" sz="1260" dirty="0"/>
          </a:p>
        </p:txBody>
      </p:sp>
      <p:sp>
        <p:nvSpPr>
          <p:cNvPr id="28" name="Text 26"/>
          <p:cNvSpPr/>
          <p:nvPr/>
        </p:nvSpPr>
        <p:spPr>
          <a:xfrm>
            <a:off x="502920" y="553212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vẫn cao hơn Base. GRPO-SPICE không khác rõ S1 về executability.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4.8. Ví dụ định tính</a:t>
            </a:r>
            <a:endParaRPr lang="en-US" sz="1820" dirty="0"/>
          </a:p>
        </p:txBody>
      </p:sp>
      <p:pic>
        <p:nvPicPr>
          <p:cNvPr id="4" name="Image 0" descr="/mnt/d/Master/Thesis/thesis/figures/fig_vidu_sp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68680"/>
            <a:ext cx="3886200" cy="44897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28032" y="987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cần thực hiện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4983480" y="1389888"/>
            <a:ext cx="3310128" cy="6583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83480" y="1389888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Chạm nút “Not now”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828032" y="2468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983480" y="2816352"/>
            <a:ext cx="331012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2816352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nhầm “Allow”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sai phần tử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828032" y="40416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4983480" y="4389120"/>
            <a:ext cx="3310128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389120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đúng “Not now”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đúng phần tử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02920" y="559612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minh họa trực tiếp ý nghĩa của executability: câu chuyển từ quy chiếu sai nút sang đúng nút cần chạm.</a:t>
            </a:r>
            <a:endParaRPr lang="en-US" sz="1380" dirty="0"/>
          </a:p>
        </p:txBody>
      </p:sp>
      <p:sp>
        <p:nvSpPr>
          <p:cNvPr id="15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4.9. Biến thiên giữa hai seed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baseline S1 ở cả hai seed. Độ lớn mức tăng thay đổi theo seed.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572768"/>
            <a:ext cx="7763256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7276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90" dirty="0"/>
          </a:p>
        </p:txBody>
      </p:sp>
      <p:sp>
        <p:nvSpPr>
          <p:cNvPr id="7" name="Text 5"/>
          <p:cNvSpPr/>
          <p:nvPr/>
        </p:nvSpPr>
        <p:spPr>
          <a:xfrm>
            <a:off x="3611880" y="15727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101</a:t>
            </a:r>
            <a:endParaRPr lang="en-US" sz="1290" dirty="0"/>
          </a:p>
        </p:txBody>
      </p:sp>
      <p:sp>
        <p:nvSpPr>
          <p:cNvPr id="8" name="Text 6"/>
          <p:cNvSpPr/>
          <p:nvPr/>
        </p:nvSpPr>
        <p:spPr>
          <a:xfrm>
            <a:off x="5184648" y="15727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202</a:t>
            </a:r>
            <a:endParaRPr lang="en-US" sz="1290" dirty="0"/>
          </a:p>
        </p:txBody>
      </p:sp>
      <p:sp>
        <p:nvSpPr>
          <p:cNvPr id="9" name="Text 7"/>
          <p:cNvSpPr/>
          <p:nvPr/>
        </p:nvSpPr>
        <p:spPr>
          <a:xfrm>
            <a:off x="6757416" y="157276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(202 − 101)</a:t>
            </a:r>
            <a:endParaRPr lang="en-US" sz="1290" dirty="0"/>
          </a:p>
        </p:txBody>
      </p:sp>
      <p:sp>
        <p:nvSpPr>
          <p:cNvPr id="10" name="Text 8"/>
          <p:cNvSpPr/>
          <p:nvPr/>
        </p:nvSpPr>
        <p:spPr>
          <a:xfrm>
            <a:off x="822960" y="2084832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20848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84648" y="20848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57416" y="208483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2798064"/>
            <a:ext cx="7763256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822960" y="279806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11880" y="2798064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184648" y="2798064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59,94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57416" y="279806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−0,72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3511296"/>
            <a:ext cx="7763256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22960" y="3511296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GRPO-SPICE − S1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3611880" y="3511296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5184648" y="3511296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+0,31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6757416" y="3511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420" dirty="0"/>
          </a:p>
        </p:txBody>
      </p:sp>
      <p:sp>
        <p:nvSpPr>
          <p:cNvPr id="24" name="Shape 22"/>
          <p:cNvSpPr/>
          <p:nvPr/>
        </p:nvSpPr>
        <p:spPr>
          <a:xfrm>
            <a:off x="1005840" y="4663440"/>
            <a:ext cx="7132320" cy="87782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25296" y="4663440"/>
            <a:ext cx="6693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hai seed đều cùng hướng so với baseline S1. Seed thứ hai cho mức tăng nhỏ hơn.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 hiện tại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807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43584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hiện tập trung vào các bước có thao tác chạm.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093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56816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dùng AndroidControl tiếng Anh và Qwen2.5-VL-3B.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1208" y="28072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70048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mở rộng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21208" y="4251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114800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nhiều miền giao diện và dữ liệu tiếng Việt.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521208" y="5184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5047488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executability cho thao tác ngoài chạm và chuỗi nhiều màn hình.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5.1. Đóng góp chính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993392"/>
            <a:ext cx="2029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tạo phần lớn mức tăng. ACE tiếp tục cải thiện chất lượng câu.</a:t>
            </a:r>
            <a:endParaRPr lang="en-US" sz="1530" dirty="0"/>
          </a:p>
        </p:txBody>
      </p:sp>
      <p:sp>
        <p:nvSpPr>
          <p:cNvPr id="7" name="Shape 5"/>
          <p:cNvSpPr/>
          <p:nvPr/>
        </p:nvSpPr>
        <p:spPr>
          <a:xfrm>
            <a:off x="3328416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5576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57016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kiểm tra khả năng xác định đúng phần tử và đúng thao tác.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6144768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81928" y="1335024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chứng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73368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giữ khi đổi công cụ định vị, chạy lại mô hình, xét tác vụ mới và lịch sử tự sinh.</a:t>
            </a:r>
            <a:endParaRPr lang="en-US" sz="1510" dirty="0"/>
          </a:p>
        </p:txBody>
      </p:sp>
      <p:sp>
        <p:nvSpPr>
          <p:cNvPr id="13" name="Text 11"/>
          <p:cNvSpPr/>
          <p:nvPr/>
        </p:nvSpPr>
        <p:spPr>
          <a:xfrm>
            <a:off x="502920" y="49560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đóng góp chính: phương pháp, độ đo và bằng chứng thực nghiệm.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5.2. Kết luận chung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38328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7220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7220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7B prompting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0175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80360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tăng +1,55 điểm trên tập kiểm chính và +4,58 điểm trên ACU.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1208" y="38587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721608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60,68% và tăng cả 7 chỉ số chất lượng câu.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21208" y="470001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562856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5468112"/>
            <a:ext cx="731520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5468112"/>
            <a:ext cx="6876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thiết lập AndroidControl, GRPO-SPICE làm tăng đồng thời chất lượng câu và executability.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 và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thước đo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+0,45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+11,97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+1,33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bằng bốn công cụ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 trên cùng 4.463 bước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60120" y="1508760"/>
            <a:ext cx="6903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08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cụ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50876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1929384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192938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+0,80 đến +2,33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459736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45973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71800" y="2459736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45973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+0,82 đến +2,30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2990088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29900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71800" y="2990088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+0,05 đến +1,51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0120" y="3520440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6012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71800" y="35204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 đến +1,40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bốn khoảng tin cậy đều nằm trên 0. Phi-Ground và Phi-4 nằm ngoài họ Qwen.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đã khảo sát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3017520" y="9601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4114800" y="96012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502920" y="138074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10" dirty="0"/>
          </a:p>
        </p:txBody>
      </p:sp>
      <p:sp>
        <p:nvSpPr>
          <p:cNvPr id="9" name="Text 7"/>
          <p:cNvSpPr/>
          <p:nvPr/>
        </p:nvSpPr>
        <p:spPr>
          <a:xfrm>
            <a:off x="3017520" y="13807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4114800" y="138074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biểu diễn trung gian sai, câu cuối bị ảnh hưởng mạnh.</a:t>
            </a:r>
            <a:endParaRPr lang="en-US" sz="121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6596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MIN-DESC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4114800" y="196596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ưu tiên có đóng góp riêng +0,63 điểm so với học thêm có giám sát.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51176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3017520" y="255117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4114800" y="25511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Biểu diễn tọa độ tốt hơn nhưng thay đổi ở câu cuối nhỏ hơn.</a:t>
            </a:r>
            <a:endParaRPr lang="en-US" sz="1210" dirty="0"/>
          </a:p>
        </p:txBody>
      </p:sp>
      <p:sp>
        <p:nvSpPr>
          <p:cNvPr id="19" name="Shape 17"/>
          <p:cNvSpPr/>
          <p:nvPr/>
        </p:nvSpPr>
        <p:spPr>
          <a:xfrm>
            <a:off x="502920" y="313639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136392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3017520" y="313639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4114800" y="3136392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thực sự chọn, chất lượng khá tốt. Vấn đề nằm ở quyết định từ chối chọn.</a:t>
            </a:r>
            <a:endParaRPr lang="en-US" sz="1210" dirty="0"/>
          </a:p>
        </p:txBody>
      </p:sp>
      <p:sp>
        <p:nvSpPr>
          <p:cNvPr id="23" name="Shape 21"/>
          <p:cNvSpPr/>
          <p:nvPr/>
        </p:nvSpPr>
        <p:spPr>
          <a:xfrm>
            <a:off x="502920" y="372160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3017520" y="372160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4114800" y="372160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biên tập có ích khi vùng cắt đúng. Khâu chọn vùng còn là điểm cần cải thiện.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502920" y="4892040"/>
            <a:ext cx="813816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920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trung gian giúp xác định rằng tối ưu trực tiếp câu cuối phù hợp hơn với mục tiêu chính.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2026-10-28T12:20:02Z</dcterms:created>
  <dcterms:modified xsi:type="dcterms:W3CDTF">2026-10-28T12:20:02Z</dcterms:modified>
</cp:coreProperties>
</file>