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Tổng quan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nhận trạng thái tác vụ và giao diện hiện tại, rồi sinh một câu hướng dẫn cho bước tiếp theo.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713232" y="1591056"/>
            <a:ext cx="2423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nhận vào</a:t>
            </a:r>
            <a:endParaRPr lang="en-US" sz="1640" dirty="0"/>
          </a:p>
        </p:txBody>
      </p:sp>
      <p:sp>
        <p:nvSpPr>
          <p:cNvPr id="6" name="Shape 4"/>
          <p:cNvSpPr/>
          <p:nvPr/>
        </p:nvSpPr>
        <p:spPr>
          <a:xfrm>
            <a:off x="713232" y="1975104"/>
            <a:ext cx="2423160" cy="0"/>
          </a:xfrm>
          <a:prstGeom prst="line">
            <a:avLst/>
          </a:prstGeom>
          <a:noFill/>
          <a:ln w="15240">
            <a:solidFill>
              <a:srgbClr val="7A7099"/>
            </a:solidFill>
            <a:prstDash val="solid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731520" y="23591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2221992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731520" y="299008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2852928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40" dirty="0"/>
          </a:p>
        </p:txBody>
      </p:sp>
      <p:sp>
        <p:nvSpPr>
          <p:cNvPr id="11" name="Shape 9"/>
          <p:cNvSpPr/>
          <p:nvPr/>
        </p:nvSpPr>
        <p:spPr>
          <a:xfrm>
            <a:off x="731520" y="362102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3483864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bước đã thực hiện trước đó</a:t>
            </a:r>
            <a:endParaRPr lang="en-US" sz="1440" dirty="0"/>
          </a:p>
        </p:txBody>
      </p:sp>
      <p:sp>
        <p:nvSpPr>
          <p:cNvPr id="13" name="Shape 11"/>
          <p:cNvSpPr/>
          <p:nvPr/>
        </p:nvSpPr>
        <p:spPr>
          <a:xfrm>
            <a:off x="731520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" y="4114800"/>
            <a:ext cx="24048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Văn bản hiển thị trên giao diện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3456432" y="1572768"/>
            <a:ext cx="0" cy="338328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3822192" y="2395728"/>
            <a:ext cx="1536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2192" y="2395728"/>
            <a:ext cx="153619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68112" y="2980944"/>
            <a:ext cx="50292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199632" y="1591056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ra</a:t>
            </a:r>
            <a:endParaRPr lang="en-US" sz="1640" dirty="0"/>
          </a:p>
        </p:txBody>
      </p:sp>
      <p:sp>
        <p:nvSpPr>
          <p:cNvPr id="20" name="Shape 18"/>
          <p:cNvSpPr/>
          <p:nvPr/>
        </p:nvSpPr>
        <p:spPr>
          <a:xfrm>
            <a:off x="6199632" y="1975104"/>
            <a:ext cx="2148840" cy="0"/>
          </a:xfrm>
          <a:prstGeom prst="line">
            <a:avLst/>
          </a:prstGeom>
          <a:noFill/>
          <a:ln w="15240">
            <a:solidFill>
              <a:srgbClr val="7A7099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6199632" y="2404872"/>
            <a:ext cx="2148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</a:t>
            </a:r>
            <a:endParaRPr lang="en-US" sz="19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bước tiếp theo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13232" y="5230368"/>
            <a:ext cx="7635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hệ thống tự thao tác.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Yêu cầu của câu hướng dẫn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tự nhiên vẫn có thể chưa đủ rõ để người dùng chọn đúng phần tử.</a:t>
            </a:r>
            <a:endParaRPr lang="en-US" sz="1680" dirty="0"/>
          </a:p>
        </p:txBody>
      </p:sp>
      <p:sp>
        <p:nvSpPr>
          <p:cNvPr id="5" name="Shape 3"/>
          <p:cNvSpPr/>
          <p:nvPr/>
        </p:nvSpPr>
        <p:spPr>
          <a:xfrm>
            <a:off x="841248" y="1536192"/>
            <a:ext cx="749808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536192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1536192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4825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90288" y="204825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889504"/>
            <a:ext cx="74980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841248" y="2889504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cần chạm nút nào khi màn hình có nhiều nút.</a:t>
            </a:r>
            <a:endParaRPr lang="en-US" sz="1460" dirty="0"/>
          </a:p>
        </p:txBody>
      </p:sp>
      <p:sp>
        <p:nvSpPr>
          <p:cNvPr id="12" name="Text 10"/>
          <p:cNvSpPr/>
          <p:nvPr/>
        </p:nvSpPr>
        <p:spPr>
          <a:xfrm>
            <a:off x="4590288" y="2889504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được phần tử cần thao tác.</a:t>
            </a:r>
            <a:endParaRPr lang="en-US" sz="1460" dirty="0"/>
          </a:p>
        </p:txBody>
      </p:sp>
      <p:sp>
        <p:nvSpPr>
          <p:cNvPr id="13" name="Shape 11"/>
          <p:cNvSpPr/>
          <p:nvPr/>
        </p:nvSpPr>
        <p:spPr>
          <a:xfrm>
            <a:off x="841248" y="4352544"/>
            <a:ext cx="74980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87552" y="4681728"/>
            <a:ext cx="716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Yêu cầu của bài toán không chỉ là sinh câu đúng nội dung, mà còn phải giúp phân biệt đúng phần tử cần thao tác.</a:t>
            </a:r>
            <a:endParaRPr lang="en-US" sz="1540" dirty="0"/>
          </a:p>
        </p:txBody>
      </p:sp>
      <p:sp>
        <p:nvSpPr>
          <p:cNvPr id="15" name="Shape 1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Cách đánh giá câu hướng dẫn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dùng hai góc nhìn bổ sung nhau: chất lượng câu và khả năng làm theo câu hướng dẫn.</a:t>
            </a:r>
            <a:endParaRPr lang="en-US" sz="1640" dirty="0"/>
          </a:p>
        </p:txBody>
      </p:sp>
      <p:sp>
        <p:nvSpPr>
          <p:cNvPr id="5" name="Shape 3"/>
          <p:cNvSpPr/>
          <p:nvPr/>
        </p:nvSpPr>
        <p:spPr>
          <a:xfrm>
            <a:off x="658368" y="1481328"/>
            <a:ext cx="78181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813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Nhóm chỉ số</a:t>
            </a:r>
            <a:endParaRPr lang="en-US" sz="1340" dirty="0"/>
          </a:p>
        </p:txBody>
      </p:sp>
      <p:sp>
        <p:nvSpPr>
          <p:cNvPr id="7" name="Text 5"/>
          <p:cNvSpPr/>
          <p:nvPr/>
        </p:nvSpPr>
        <p:spPr>
          <a:xfrm>
            <a:off x="2715768" y="148132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gì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5641848" y="148132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658368" y="201168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2715768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độ giống cách diễn đạt với câu chuẩn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5641848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cách viết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658368" y="2834640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58368" y="283464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2715768" y="2834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độ giống về nội dung</a:t>
            </a:r>
            <a:endParaRPr lang="en-US" sz="1380" dirty="0"/>
          </a:p>
        </p:txBody>
      </p:sp>
      <p:sp>
        <p:nvSpPr>
          <p:cNvPr id="15" name="Text 13"/>
          <p:cNvSpPr/>
          <p:nvPr/>
        </p:nvSpPr>
        <p:spPr>
          <a:xfrm>
            <a:off x="5641848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nội dung câu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658368" y="3657600"/>
            <a:ext cx="78181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8368" y="3657600"/>
            <a:ext cx="2057400" cy="859536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57600"/>
            <a:ext cx="205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380" dirty="0"/>
          </a:p>
        </p:txBody>
      </p:sp>
      <p:sp>
        <p:nvSpPr>
          <p:cNvPr id="19" name="Shape 17"/>
          <p:cNvSpPr/>
          <p:nvPr/>
        </p:nvSpPr>
        <p:spPr>
          <a:xfrm>
            <a:off x="2715768" y="3657600"/>
            <a:ext cx="2926080" cy="859536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15768" y="3657600"/>
            <a:ext cx="2926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phần tử và đúng loại thao tác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641848" y="3657600"/>
            <a:ext cx="2834640" cy="859536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41848" y="365760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khả năng làm theo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841248" y="4901184"/>
            <a:ext cx="7461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nhóm chỉ số được báo cùng nhau vì một câu có thể giống câu chuẩn nhưng vẫn chưa đủ rõ để thực hiện.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Đóng góp chính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của luận văn được tóm tắt dưới đây.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809244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14600" y="1371600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0" y="1371600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tiêu biểu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90195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360" dirty="0"/>
          </a:p>
        </p:txBody>
      </p:sp>
      <p:sp>
        <p:nvSpPr>
          <p:cNvPr id="10" name="Text 8"/>
          <p:cNvSpPr/>
          <p:nvPr/>
        </p:nvSpPr>
        <p:spPr>
          <a:xfrm>
            <a:off x="2514600" y="1901952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trực tiếp câu hướng dẫn. ACE hiệu chỉnh có chọn lọc.</a:t>
            </a:r>
            <a:endParaRPr lang="en-US" sz="1360" dirty="0"/>
          </a:p>
        </p:txBody>
      </p:sp>
      <p:sp>
        <p:nvSpPr>
          <p:cNvPr id="11" name="Shape 9"/>
          <p:cNvSpPr/>
          <p:nvPr/>
        </p:nvSpPr>
        <p:spPr>
          <a:xfrm>
            <a:off x="6858000" y="1901952"/>
            <a:ext cx="1874520" cy="100584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190195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60" dirty="0"/>
          </a:p>
        </p:txBody>
      </p:sp>
      <p:sp>
        <p:nvSpPr>
          <p:cNvPr id="13" name="Shape 11"/>
          <p:cNvSpPr/>
          <p:nvPr/>
        </p:nvSpPr>
        <p:spPr>
          <a:xfrm>
            <a:off x="640080" y="2907792"/>
            <a:ext cx="809244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640080" y="290779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360" dirty="0"/>
          </a:p>
        </p:txBody>
      </p:sp>
      <p:sp>
        <p:nvSpPr>
          <p:cNvPr id="15" name="Text 13"/>
          <p:cNvSpPr/>
          <p:nvPr/>
        </p:nvSpPr>
        <p:spPr>
          <a:xfrm>
            <a:off x="2514600" y="2907792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 executability để đánh giá khả năng làm theo câu hướng dẫn.</a:t>
            </a:r>
            <a:endParaRPr lang="en-US" sz="1360" dirty="0"/>
          </a:p>
        </p:txBody>
      </p:sp>
      <p:sp>
        <p:nvSpPr>
          <p:cNvPr id="16" name="Shape 14"/>
          <p:cNvSpPr/>
          <p:nvPr/>
        </p:nvSpPr>
        <p:spPr>
          <a:xfrm>
            <a:off x="6858000" y="2907792"/>
            <a:ext cx="1874520" cy="100584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2907792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360" dirty="0"/>
          </a:p>
        </p:txBody>
      </p:sp>
      <p:sp>
        <p:nvSpPr>
          <p:cNvPr id="18" name="Shape 16"/>
          <p:cNvSpPr/>
          <p:nvPr/>
        </p:nvSpPr>
        <p:spPr>
          <a:xfrm>
            <a:off x="640080" y="3913632"/>
            <a:ext cx="809244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640080" y="3913632"/>
            <a:ext cx="1874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Bằng chứng thực nghiệm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2514600" y="3913632"/>
            <a:ext cx="4343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trên tác vụ mới, nhiều mô hình định vị, các bước trước do mô hình tạo và AitZ.</a:t>
            </a:r>
            <a:endParaRPr lang="en-US" sz="1330" dirty="0"/>
          </a:p>
        </p:txBody>
      </p:sp>
      <p:sp>
        <p:nvSpPr>
          <p:cNvPr id="21" name="Shape 19"/>
          <p:cNvSpPr/>
          <p:nvPr/>
        </p:nvSpPr>
        <p:spPr>
          <a:xfrm>
            <a:off x="6858000" y="3913632"/>
            <a:ext cx="1874520" cy="107899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0" y="3913632"/>
            <a:ext cx="1874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841248" y="5212080"/>
            <a:ext cx="7461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ACE, cả 7 chỉ số chất lượng câu đều tăng so với GRPO-SPICE.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AndroidControl là bộ dữ liệu thao tác trên giao diện Android do Google DeepMind công bố.</a:t>
            </a:r>
            <a:endParaRPr lang="en-US" sz="1620" dirty="0"/>
          </a:p>
        </p:txBody>
      </p:sp>
      <p:sp>
        <p:nvSpPr>
          <p:cNvPr id="5" name="Text 3"/>
          <p:cNvSpPr/>
          <p:nvPr/>
        </p:nvSpPr>
        <p:spPr>
          <a:xfrm>
            <a:off x="768096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15.283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55264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thật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742432" y="1408176"/>
            <a:ext cx="2487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1975104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chuỗi thao tác</a:t>
            </a:r>
            <a:endParaRPr lang="en-US" sz="1280" dirty="0"/>
          </a:p>
        </p:txBody>
      </p:sp>
      <p:sp>
        <p:nvSpPr>
          <p:cNvPr id="9" name="Text 7"/>
          <p:cNvSpPr/>
          <p:nvPr/>
        </p:nvSpPr>
        <p:spPr>
          <a:xfrm>
            <a:off x="3255264" y="1975104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hiện các chuỗi thao tác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5742432" y="1975104"/>
            <a:ext cx="248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nhãn thủ công bổ sung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768096" y="2615184"/>
            <a:ext cx="74615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68096" y="28803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Thông tin có ở mỗi bước</a:t>
            </a:r>
            <a:endParaRPr lang="en-US" sz="1540" dirty="0"/>
          </a:p>
        </p:txBody>
      </p:sp>
      <p:sp>
        <p:nvSpPr>
          <p:cNvPr id="13" name="Shape 11"/>
          <p:cNvSpPr/>
          <p:nvPr/>
        </p:nvSpPr>
        <p:spPr>
          <a:xfrm>
            <a:off x="768096" y="3310128"/>
            <a:ext cx="7461504" cy="566928"/>
          </a:xfrm>
          <a:prstGeom prst="rect">
            <a:avLst/>
          </a:prstGeom>
          <a:solidFill>
            <a:srgbClr val="F3F2F5"/>
          </a:solidFill>
          <a:ln w="12700">
            <a:solidFill>
              <a:srgbClr val="F3F2F5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3101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2596896" y="33101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Thao tác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4425696" y="33101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Tọa độ chạm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6254496" y="3310128"/>
            <a:ext cx="1975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340" dirty="0"/>
          </a:p>
        </p:txBody>
      </p:sp>
      <p:sp>
        <p:nvSpPr>
          <p:cNvPr id="18" name="Text 16"/>
          <p:cNvSpPr/>
          <p:nvPr/>
        </p:nvSpPr>
        <p:spPr>
          <a:xfrm>
            <a:off x="768096" y="3877056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Trạng thái giao diện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2596896" y="3877056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Loại thao tác thực hiện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4425696" y="3877056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Vị trí tương tác nếu có</a:t>
            </a:r>
            <a:endParaRPr lang="en-US" sz="1280" dirty="0"/>
          </a:p>
        </p:txBody>
      </p:sp>
      <p:sp>
        <p:nvSpPr>
          <p:cNvPr id="21" name="Text 19"/>
          <p:cNvSpPr/>
          <p:nvPr/>
        </p:nvSpPr>
        <p:spPr>
          <a:xfrm>
            <a:off x="6254496" y="3877056"/>
            <a:ext cx="1975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người thực hiện viết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768096" y="4937760"/>
            <a:ext cx="7461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AndroidControl dùng câu hướng dẫn để dự đoán thao tác. Luận văn dùng dữ liệu theo chiều ngược lại để sinh câu hướng dẫn cho bước tiếp theo.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2.1. Cách chia dữ liệu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 và kiểm tra chính được tách theo tác vụ.</a:t>
            </a:r>
            <a:endParaRPr lang="en-US" sz="1620" dirty="0"/>
          </a:p>
        </p:txBody>
      </p:sp>
      <p:sp>
        <p:nvSpPr>
          <p:cNvPr id="5" name="Shape 3"/>
          <p:cNvSpPr/>
          <p:nvPr/>
        </p:nvSpPr>
        <p:spPr>
          <a:xfrm>
            <a:off x="1024128" y="1353312"/>
            <a:ext cx="722376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35331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340" dirty="0"/>
          </a:p>
        </p:txBody>
      </p:sp>
      <p:sp>
        <p:nvSpPr>
          <p:cNvPr id="7" name="Text 5"/>
          <p:cNvSpPr/>
          <p:nvPr/>
        </p:nvSpPr>
        <p:spPr>
          <a:xfrm>
            <a:off x="4224528" y="13533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6236208" y="135331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1024128" y="1883664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24528" y="18836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36208" y="188366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4128" y="2505456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024128" y="2505456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24528" y="250545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36208" y="250545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024128" y="3127248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024128" y="312724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24528" y="31272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36208" y="312724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4128" y="3621024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có tác vụ nào xuất hiện ở cả tập huấn luyện và tập kiểm tra chính.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1024128" y="4169664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tập bổ sung để kiểm tra khả năng khái quát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024128" y="4590288"/>
            <a:ext cx="2240280" cy="62179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4590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3264408" y="4590288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không xuất hiện trong tập huấn luyện có giám sát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1024128" y="5212080"/>
            <a:ext cx="72237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024128" y="5212080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khác (AitZ)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3264408" y="5212080"/>
            <a:ext cx="4983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giao diện khác để kiểm tra khả năng áp dụng ngoài AndroidControl</a:t>
            </a:r>
            <a:endParaRPr lang="en-US" sz="1320" dirty="0"/>
          </a:p>
        </p:txBody>
      </p:sp>
      <p:sp>
        <p:nvSpPr>
          <p:cNvPr id="28" name="Shape 2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Executability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2.3. Kiểm tra độ tin cậy của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cùng một nhóm bước, câu càng thiếu thông tin để xác định đúng phần tử thì executability càng thấp.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 (đầy đủ thông tin)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26798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hồ: 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sai màn hình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51560" y="4498848"/>
            <a:ext cx="7040880" cy="859536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4498848"/>
            <a:ext cx="6620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đúng kỳ vọng: 74,9% → 12,0% → 6,1%. Khi câu mơ hồ hoặc sai ngữ cảnh, executability giảm mạnh.</a:t>
            </a:r>
            <a:endParaRPr lang="en-US" sz="15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078992"/>
            <a:ext cx="157276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78992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2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sau tinh chỉnh</a:t>
            </a:r>
            <a:endParaRPr lang="en-US" sz="12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9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 giám sát</a:t>
            </a:r>
            <a:endParaRPr lang="en-US" sz="1290" dirty="0"/>
          </a:p>
        </p:txBody>
      </p:sp>
      <p:sp>
        <p:nvSpPr>
          <p:cNvPr id="6" name="Shape 4"/>
          <p:cNvSpPr/>
          <p:nvPr/>
        </p:nvSpPr>
        <p:spPr>
          <a:xfrm>
            <a:off x="1874520" y="1645920"/>
            <a:ext cx="1828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21408" y="1143000"/>
            <a:ext cx="1901952" cy="1005840"/>
          </a:xfrm>
          <a:prstGeom prst="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33088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1143000"/>
            <a:ext cx="1901952" cy="1005840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39712" y="1143000"/>
            <a:ext cx="181051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9712" y="1143000"/>
            <a:ext cx="1810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Tìm 4 câu ví dụ phù hợp trong tập huấn luyện.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chỉ được dùng để đánh giá câu hướng dẫn. Mô hình này không tham gia sinh câu hay cập nhật mô hình.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3.1. Thành phần thứ nhất: GRPO-SPICE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mẫu huấn luyện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độ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trực tiếp câu hướng dẫn bằng tín hiệu SPICE.</a:t>
            </a:r>
            <a:endParaRPr lang="en-US" sz="146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3.2. Thành phần thứ hai: ACE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Tìm 4 câu ví dụ phù hợp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tập huấn luyện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trùng với một trong bốn câu ví dụ đã tìm.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một prompt, tinh chỉnh 3B cho mức tăng lớn hơn việc chỉ tăng kích chỉ số mô hình lên 7B.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868680" y="1508760"/>
            <a:ext cx="71323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86200" y="150876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52160" y="15087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7B 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391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3886200" y="203911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5852160" y="20391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−3,92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868680" y="2697480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68680" y="26974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Base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3886200" y="26974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</a:t>
            </a:r>
            <a:endParaRPr lang="en-US" sz="1380" dirty="0"/>
          </a:p>
        </p:txBody>
      </p:sp>
      <p:sp>
        <p:nvSpPr>
          <p:cNvPr id="15" name="Text 13"/>
          <p:cNvSpPr/>
          <p:nvPr/>
        </p:nvSpPr>
        <p:spPr>
          <a:xfrm>
            <a:off x="5852160" y="269748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868680" y="3355848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868680" y="33558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Baseline S1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3886200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5852160" y="33558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+7,60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868680" y="4014216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868680" y="401421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80" dirty="0"/>
          </a:p>
        </p:txBody>
      </p:sp>
      <p:sp>
        <p:nvSpPr>
          <p:cNvPr id="22" name="Shape 20"/>
          <p:cNvSpPr/>
          <p:nvPr/>
        </p:nvSpPr>
        <p:spPr>
          <a:xfrm>
            <a:off x="3886200" y="4014216"/>
            <a:ext cx="1965960" cy="71323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86200" y="4014216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5852160" y="401421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1380" dirty="0"/>
          </a:p>
        </p:txBody>
      </p:sp>
      <p:sp>
        <p:nvSpPr>
          <p:cNvPr id="25" name="Text 23"/>
          <p:cNvSpPr/>
          <p:nvPr/>
        </p:nvSpPr>
        <p:spPr>
          <a:xfrm>
            <a:off x="502920" y="5138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Base dùng cùng prompt của 3B Base và không được tối ưu prompt riêng.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Vai trò của tín hiệu SPICE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04672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1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nguyên số bước cập nhật GRPO, chỉ cấu hình dùng đúng điểm SPICE cho câu được sinh mới làm executability tăng.</a:t>
            </a:r>
            <a:endParaRPr lang="en-US" sz="1610" dirty="0"/>
          </a:p>
        </p:txBody>
      </p:sp>
      <p:sp>
        <p:nvSpPr>
          <p:cNvPr id="5" name="Shape 3"/>
          <p:cNvSpPr/>
          <p:nvPr/>
        </p:nvSpPr>
        <p:spPr>
          <a:xfrm>
            <a:off x="960120" y="1481328"/>
            <a:ext cx="726948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4813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lập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4206240" y="1481328"/>
            <a:ext cx="1874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6080760" y="14813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Thay đổi so với S1</a:t>
            </a:r>
            <a:endParaRPr lang="en-US" sz="1280" dirty="0"/>
          </a:p>
        </p:txBody>
      </p:sp>
      <p:sp>
        <p:nvSpPr>
          <p:cNvPr id="9" name="Text 7"/>
          <p:cNvSpPr/>
          <p:nvPr/>
        </p:nvSpPr>
        <p:spPr>
          <a:xfrm>
            <a:off x="960120" y="2011680"/>
            <a:ext cx="32461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06240" y="2011680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80760" y="2011680"/>
            <a:ext cx="2148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2706624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706624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với SPICE không đúng câu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206240" y="2706624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80760" y="270662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60120" y="3456432"/>
            <a:ext cx="7269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3456432"/>
            <a:ext cx="3246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3456432"/>
            <a:ext cx="1874520" cy="786384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06240" y="3456432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0760" y="3456432"/>
            <a:ext cx="2148840" cy="786384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3456432"/>
            <a:ext cx="2148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51560" y="4315968"/>
            <a:ext cx="7040880" cy="932688"/>
          </a:xfrm>
          <a:prstGeom prst="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80160" y="4315968"/>
            <a:ext cx="65836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cho thấy mức tăng gắn với tín hiệu SPICE, không chỉ với việc chạy thêm GRPO.</a:t>
            </a:r>
            <a:endParaRPr lang="en-US" sz="1520" dirty="0"/>
          </a:p>
        </p:txBody>
      </p:sp>
      <p:sp>
        <p:nvSpPr>
          <p:cNvPr id="24" name="Text 22"/>
          <p:cNvSpPr/>
          <p:nvPr/>
        </p:nvSpPr>
        <p:spPr>
          <a:xfrm>
            <a:off x="502920" y="54498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cấu hình kiểm tra +1,55 điểm · KTC 95% từ +0,81 đến +2,30.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Kết quả trên tập kiểm chính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73568" cy="56692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849624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5111496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373368" y="13898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7333488" y="1389888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585216" y="195681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2432304" y="195681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3849624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5111496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6373368" y="1956816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340" dirty="0"/>
          </a:p>
        </p:txBody>
      </p:sp>
      <p:sp>
        <p:nvSpPr>
          <p:cNvPr id="18" name="Text 16"/>
          <p:cNvSpPr/>
          <p:nvPr/>
        </p:nvSpPr>
        <p:spPr>
          <a:xfrm>
            <a:off x="7333488" y="1956816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585216" y="2560320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60320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40" dirty="0"/>
          </a:p>
        </p:txBody>
      </p:sp>
      <p:sp>
        <p:nvSpPr>
          <p:cNvPr id="21" name="Text 19"/>
          <p:cNvSpPr/>
          <p:nvPr/>
        </p:nvSpPr>
        <p:spPr>
          <a:xfrm>
            <a:off x="2432304" y="256032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40" dirty="0"/>
          </a:p>
        </p:txBody>
      </p:sp>
      <p:sp>
        <p:nvSpPr>
          <p:cNvPr id="22" name="Text 20"/>
          <p:cNvSpPr/>
          <p:nvPr/>
        </p:nvSpPr>
        <p:spPr>
          <a:xfrm>
            <a:off x="3849624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40" dirty="0"/>
          </a:p>
        </p:txBody>
      </p:sp>
      <p:sp>
        <p:nvSpPr>
          <p:cNvPr id="23" name="Text 21"/>
          <p:cNvSpPr/>
          <p:nvPr/>
        </p:nvSpPr>
        <p:spPr>
          <a:xfrm>
            <a:off x="5111496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6373368" y="2560320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40" dirty="0"/>
          </a:p>
        </p:txBody>
      </p:sp>
      <p:sp>
        <p:nvSpPr>
          <p:cNvPr id="25" name="Text 23"/>
          <p:cNvSpPr/>
          <p:nvPr/>
        </p:nvSpPr>
        <p:spPr>
          <a:xfrm>
            <a:off x="7333488" y="2560320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40" dirty="0"/>
          </a:p>
        </p:txBody>
      </p:sp>
      <p:sp>
        <p:nvSpPr>
          <p:cNvPr id="26" name="Shape 24"/>
          <p:cNvSpPr/>
          <p:nvPr/>
        </p:nvSpPr>
        <p:spPr>
          <a:xfrm>
            <a:off x="585216" y="3163824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63824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40" dirty="0"/>
          </a:p>
        </p:txBody>
      </p:sp>
      <p:sp>
        <p:nvSpPr>
          <p:cNvPr id="28" name="Shape 26"/>
          <p:cNvSpPr/>
          <p:nvPr/>
        </p:nvSpPr>
        <p:spPr>
          <a:xfrm>
            <a:off x="2432304" y="3163824"/>
            <a:ext cx="1417320" cy="65836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32304" y="316382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3849624" y="3163824"/>
            <a:ext cx="1261872" cy="65836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9624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40" dirty="0"/>
          </a:p>
        </p:txBody>
      </p:sp>
      <p:sp>
        <p:nvSpPr>
          <p:cNvPr id="32" name="Shape 30"/>
          <p:cNvSpPr/>
          <p:nvPr/>
        </p:nvSpPr>
        <p:spPr>
          <a:xfrm>
            <a:off x="5111496" y="3163824"/>
            <a:ext cx="1261872" cy="65836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11496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40" dirty="0"/>
          </a:p>
        </p:txBody>
      </p:sp>
      <p:sp>
        <p:nvSpPr>
          <p:cNvPr id="34" name="Shape 32"/>
          <p:cNvSpPr/>
          <p:nvPr/>
        </p:nvSpPr>
        <p:spPr>
          <a:xfrm>
            <a:off x="6373368" y="3163824"/>
            <a:ext cx="960120" cy="65836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73368" y="316382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40" dirty="0"/>
          </a:p>
        </p:txBody>
      </p:sp>
      <p:sp>
        <p:nvSpPr>
          <p:cNvPr id="36" name="Shape 34"/>
          <p:cNvSpPr/>
          <p:nvPr/>
        </p:nvSpPr>
        <p:spPr>
          <a:xfrm>
            <a:off x="7333488" y="3163824"/>
            <a:ext cx="1225296" cy="65836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3163824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40" dirty="0"/>
          </a:p>
        </p:txBody>
      </p:sp>
      <p:sp>
        <p:nvSpPr>
          <p:cNvPr id="38" name="Text 36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0. METEOR tăng nhưng chưa có KTC.</a:t>
            </a:r>
            <a:endParaRPr lang="en-US" sz="1360" dirty="0"/>
          </a:p>
        </p:txBody>
      </p:sp>
      <p:sp>
        <p:nvSpPr>
          <p:cNvPr id="45" name="Shape 4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Kết quả trên tác vụ mới (ACU)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 gồm 1.484 bước từ các tác vụ không xuất hiện trong huấn luyện S1.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658368" y="1572768"/>
            <a:ext cx="8001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7276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3081528" y="157276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4498848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</a:t>
            </a:r>
            <a:endParaRPr lang="en-US" sz="1270" dirty="0"/>
          </a:p>
        </p:txBody>
      </p:sp>
      <p:sp>
        <p:nvSpPr>
          <p:cNvPr id="9" name="Text 7"/>
          <p:cNvSpPr/>
          <p:nvPr/>
        </p:nvSpPr>
        <p:spPr>
          <a:xfrm>
            <a:off x="6190488" y="1572768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658368" y="2103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3081528" y="2103120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49,80</a:t>
            </a:r>
            <a:endParaRPr lang="en-US" sz="1320" dirty="0"/>
          </a:p>
        </p:txBody>
      </p:sp>
      <p:sp>
        <p:nvSpPr>
          <p:cNvPr id="12" name="Text 10"/>
          <p:cNvSpPr/>
          <p:nvPr/>
        </p:nvSpPr>
        <p:spPr>
          <a:xfrm>
            <a:off x="4498848" y="21031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190488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658368" y="2761488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658368" y="276148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3081528" y="276148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52,16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4498848" y="276148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6190488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658368" y="3419856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58368" y="3419856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3081528" y="341985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56,74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4498848" y="34198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6190488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+3,17 đến +6,05</a:t>
            </a:r>
            <a:endParaRPr lang="en-US" sz="1320" dirty="0"/>
          </a:p>
        </p:txBody>
      </p:sp>
      <p:sp>
        <p:nvSpPr>
          <p:cNvPr id="24" name="Shape 22"/>
          <p:cNvSpPr/>
          <p:nvPr/>
        </p:nvSpPr>
        <p:spPr>
          <a:xfrm>
            <a:off x="658368" y="4078224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658368" y="4078224"/>
            <a:ext cx="2423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320" dirty="0"/>
          </a:p>
        </p:txBody>
      </p:sp>
      <p:sp>
        <p:nvSpPr>
          <p:cNvPr id="26" name="Shape 24"/>
          <p:cNvSpPr/>
          <p:nvPr/>
        </p:nvSpPr>
        <p:spPr>
          <a:xfrm>
            <a:off x="3081528" y="4078224"/>
            <a:ext cx="1417320" cy="694944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81528" y="4078224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57,01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4498848" y="4078224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190488" y="4078224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+3,43 đến +6,32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868680" y="51206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tập gộp 5.947 bước, GRPO-SPICE cao hơn S1 +2,30 điểm với KTC 95% từ +1,62 đến +2,99.</a:t>
            </a:r>
            <a:endParaRPr lang="en-US" sz="136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4.4. Kết quả sau ACE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chất lượng câu tăng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mức tương đương GRPO-SPICE và tiếp tục tăng các độ đo dựa trên câu chuẩn.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313432"/>
            <a:ext cx="1874520" cy="3511296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313432"/>
            <a:ext cx="7388352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313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2066544" y="231343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3255264" y="231343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160" dirty="0"/>
          </a:p>
        </p:txBody>
      </p:sp>
      <p:sp>
        <p:nvSpPr>
          <p:cNvPr id="16" name="Text 14"/>
          <p:cNvSpPr/>
          <p:nvPr/>
        </p:nvSpPr>
        <p:spPr>
          <a:xfrm>
            <a:off x="4681728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291072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160" dirty="0"/>
          </a:p>
        </p:txBody>
      </p:sp>
      <p:sp>
        <p:nvSpPr>
          <p:cNvPr id="18" name="Text 16"/>
          <p:cNvSpPr/>
          <p:nvPr/>
        </p:nvSpPr>
        <p:spPr>
          <a:xfrm>
            <a:off x="512064" y="27523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90" dirty="0"/>
          </a:p>
        </p:txBody>
      </p:sp>
      <p:sp>
        <p:nvSpPr>
          <p:cNvPr id="19" name="Text 17"/>
          <p:cNvSpPr/>
          <p:nvPr/>
        </p:nvSpPr>
        <p:spPr>
          <a:xfrm>
            <a:off x="2066544" y="27523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15,34</a:t>
            </a:r>
            <a:endParaRPr lang="en-US" sz="1190" dirty="0"/>
          </a:p>
        </p:txBody>
      </p:sp>
      <p:sp>
        <p:nvSpPr>
          <p:cNvPr id="20" name="Text 18"/>
          <p:cNvSpPr/>
          <p:nvPr/>
        </p:nvSpPr>
        <p:spPr>
          <a:xfrm>
            <a:off x="3255264" y="27523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90" dirty="0"/>
          </a:p>
        </p:txBody>
      </p:sp>
      <p:sp>
        <p:nvSpPr>
          <p:cNvPr id="21" name="Text 19"/>
          <p:cNvSpPr/>
          <p:nvPr/>
        </p:nvSpPr>
        <p:spPr>
          <a:xfrm>
            <a:off x="4681728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90" dirty="0"/>
          </a:p>
        </p:txBody>
      </p:sp>
      <p:sp>
        <p:nvSpPr>
          <p:cNvPr id="22" name="Shape 20"/>
          <p:cNvSpPr/>
          <p:nvPr/>
        </p:nvSpPr>
        <p:spPr>
          <a:xfrm>
            <a:off x="6291072" y="2752344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1072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90" dirty="0"/>
          </a:p>
        </p:txBody>
      </p:sp>
      <p:sp>
        <p:nvSpPr>
          <p:cNvPr id="24" name="Shape 22"/>
          <p:cNvSpPr/>
          <p:nvPr/>
        </p:nvSpPr>
        <p:spPr>
          <a:xfrm>
            <a:off x="512064" y="319125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12064" y="319125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90" dirty="0"/>
          </a:p>
        </p:txBody>
      </p:sp>
      <p:sp>
        <p:nvSpPr>
          <p:cNvPr id="26" name="Text 24"/>
          <p:cNvSpPr/>
          <p:nvPr/>
        </p:nvSpPr>
        <p:spPr>
          <a:xfrm>
            <a:off x="2066544" y="319125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24,58</a:t>
            </a:r>
            <a:endParaRPr lang="en-US" sz="1190" dirty="0"/>
          </a:p>
        </p:txBody>
      </p:sp>
      <p:sp>
        <p:nvSpPr>
          <p:cNvPr id="27" name="Text 25"/>
          <p:cNvSpPr/>
          <p:nvPr/>
        </p:nvSpPr>
        <p:spPr>
          <a:xfrm>
            <a:off x="3255264" y="319125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90" dirty="0"/>
          </a:p>
        </p:txBody>
      </p:sp>
      <p:sp>
        <p:nvSpPr>
          <p:cNvPr id="28" name="Text 26"/>
          <p:cNvSpPr/>
          <p:nvPr/>
        </p:nvSpPr>
        <p:spPr>
          <a:xfrm>
            <a:off x="4681728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90" dirty="0"/>
          </a:p>
        </p:txBody>
      </p:sp>
      <p:sp>
        <p:nvSpPr>
          <p:cNvPr id="29" name="Shape 27"/>
          <p:cNvSpPr/>
          <p:nvPr/>
        </p:nvSpPr>
        <p:spPr>
          <a:xfrm>
            <a:off x="6291072" y="3191256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1072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90" dirty="0"/>
          </a:p>
        </p:txBody>
      </p:sp>
      <p:sp>
        <p:nvSpPr>
          <p:cNvPr id="31" name="Shape 29"/>
          <p:cNvSpPr/>
          <p:nvPr/>
        </p:nvSpPr>
        <p:spPr>
          <a:xfrm>
            <a:off x="512064" y="3630168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12064" y="3630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90" dirty="0"/>
          </a:p>
        </p:txBody>
      </p:sp>
      <p:sp>
        <p:nvSpPr>
          <p:cNvPr id="33" name="Text 31"/>
          <p:cNvSpPr/>
          <p:nvPr/>
        </p:nvSpPr>
        <p:spPr>
          <a:xfrm>
            <a:off x="2066544" y="36301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42,31</a:t>
            </a:r>
            <a:endParaRPr lang="en-US" sz="1190" dirty="0"/>
          </a:p>
        </p:txBody>
      </p:sp>
      <p:sp>
        <p:nvSpPr>
          <p:cNvPr id="34" name="Text 32"/>
          <p:cNvSpPr/>
          <p:nvPr/>
        </p:nvSpPr>
        <p:spPr>
          <a:xfrm>
            <a:off x="3255264" y="363016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90" dirty="0"/>
          </a:p>
        </p:txBody>
      </p:sp>
      <p:sp>
        <p:nvSpPr>
          <p:cNvPr id="35" name="Text 33"/>
          <p:cNvSpPr/>
          <p:nvPr/>
        </p:nvSpPr>
        <p:spPr>
          <a:xfrm>
            <a:off x="4681728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90" dirty="0"/>
          </a:p>
        </p:txBody>
      </p:sp>
      <p:sp>
        <p:nvSpPr>
          <p:cNvPr id="36" name="Shape 34"/>
          <p:cNvSpPr/>
          <p:nvPr/>
        </p:nvSpPr>
        <p:spPr>
          <a:xfrm>
            <a:off x="6291072" y="3630168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91072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90" dirty="0"/>
          </a:p>
        </p:txBody>
      </p:sp>
      <p:sp>
        <p:nvSpPr>
          <p:cNvPr id="38" name="Shape 36"/>
          <p:cNvSpPr/>
          <p:nvPr/>
        </p:nvSpPr>
        <p:spPr>
          <a:xfrm>
            <a:off x="512064" y="4069080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12064" y="40690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90" dirty="0"/>
          </a:p>
        </p:txBody>
      </p:sp>
      <p:sp>
        <p:nvSpPr>
          <p:cNvPr id="40" name="Text 38"/>
          <p:cNvSpPr/>
          <p:nvPr/>
        </p:nvSpPr>
        <p:spPr>
          <a:xfrm>
            <a:off x="2066544" y="40690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88,01</a:t>
            </a:r>
            <a:endParaRPr lang="en-US" sz="1190" dirty="0"/>
          </a:p>
        </p:txBody>
      </p:sp>
      <p:sp>
        <p:nvSpPr>
          <p:cNvPr id="41" name="Text 39"/>
          <p:cNvSpPr/>
          <p:nvPr/>
        </p:nvSpPr>
        <p:spPr>
          <a:xfrm>
            <a:off x="3255264" y="40690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90" dirty="0"/>
          </a:p>
        </p:txBody>
      </p:sp>
      <p:sp>
        <p:nvSpPr>
          <p:cNvPr id="42" name="Text 40"/>
          <p:cNvSpPr/>
          <p:nvPr/>
        </p:nvSpPr>
        <p:spPr>
          <a:xfrm>
            <a:off x="4681728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90" dirty="0"/>
          </a:p>
        </p:txBody>
      </p:sp>
      <p:sp>
        <p:nvSpPr>
          <p:cNvPr id="43" name="Shape 41"/>
          <p:cNvSpPr/>
          <p:nvPr/>
        </p:nvSpPr>
        <p:spPr>
          <a:xfrm>
            <a:off x="6291072" y="4069080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91072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90" dirty="0"/>
          </a:p>
        </p:txBody>
      </p:sp>
      <p:sp>
        <p:nvSpPr>
          <p:cNvPr id="45" name="Shape 43"/>
          <p:cNvSpPr/>
          <p:nvPr/>
        </p:nvSpPr>
        <p:spPr>
          <a:xfrm>
            <a:off x="512064" y="4507992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12064" y="450799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90" dirty="0"/>
          </a:p>
        </p:txBody>
      </p:sp>
      <p:sp>
        <p:nvSpPr>
          <p:cNvPr id="47" name="Text 45"/>
          <p:cNvSpPr/>
          <p:nvPr/>
        </p:nvSpPr>
        <p:spPr>
          <a:xfrm>
            <a:off x="2066544" y="450799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18,48</a:t>
            </a:r>
            <a:endParaRPr lang="en-US" sz="1190" dirty="0"/>
          </a:p>
        </p:txBody>
      </p:sp>
      <p:sp>
        <p:nvSpPr>
          <p:cNvPr id="48" name="Text 46"/>
          <p:cNvSpPr/>
          <p:nvPr/>
        </p:nvSpPr>
        <p:spPr>
          <a:xfrm>
            <a:off x="3255264" y="450799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90" dirty="0"/>
          </a:p>
        </p:txBody>
      </p:sp>
      <p:sp>
        <p:nvSpPr>
          <p:cNvPr id="49" name="Text 47"/>
          <p:cNvSpPr/>
          <p:nvPr/>
        </p:nvSpPr>
        <p:spPr>
          <a:xfrm>
            <a:off x="4681728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90" dirty="0"/>
          </a:p>
        </p:txBody>
      </p:sp>
      <p:sp>
        <p:nvSpPr>
          <p:cNvPr id="50" name="Shape 48"/>
          <p:cNvSpPr/>
          <p:nvPr/>
        </p:nvSpPr>
        <p:spPr>
          <a:xfrm>
            <a:off x="6291072" y="4507992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91072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90" dirty="0"/>
          </a:p>
        </p:txBody>
      </p:sp>
      <p:sp>
        <p:nvSpPr>
          <p:cNvPr id="52" name="Shape 50"/>
          <p:cNvSpPr/>
          <p:nvPr/>
        </p:nvSpPr>
        <p:spPr>
          <a:xfrm>
            <a:off x="512064" y="4946904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12064" y="494690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90" dirty="0"/>
          </a:p>
        </p:txBody>
      </p:sp>
      <p:sp>
        <p:nvSpPr>
          <p:cNvPr id="54" name="Text 52"/>
          <p:cNvSpPr/>
          <p:nvPr/>
        </p:nvSpPr>
        <p:spPr>
          <a:xfrm>
            <a:off x="2066544" y="494690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40,18</a:t>
            </a:r>
            <a:endParaRPr lang="en-US" sz="1190" dirty="0"/>
          </a:p>
        </p:txBody>
      </p:sp>
      <p:sp>
        <p:nvSpPr>
          <p:cNvPr id="55" name="Text 53"/>
          <p:cNvSpPr/>
          <p:nvPr/>
        </p:nvSpPr>
        <p:spPr>
          <a:xfrm>
            <a:off x="3255264" y="494690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90" dirty="0"/>
          </a:p>
        </p:txBody>
      </p:sp>
      <p:sp>
        <p:nvSpPr>
          <p:cNvPr id="56" name="Text 54"/>
          <p:cNvSpPr/>
          <p:nvPr/>
        </p:nvSpPr>
        <p:spPr>
          <a:xfrm>
            <a:off x="4681728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90" dirty="0"/>
          </a:p>
        </p:txBody>
      </p:sp>
      <p:sp>
        <p:nvSpPr>
          <p:cNvPr id="57" name="Shape 55"/>
          <p:cNvSpPr/>
          <p:nvPr/>
        </p:nvSpPr>
        <p:spPr>
          <a:xfrm>
            <a:off x="6291072" y="4946904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91072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63,45</a:t>
            </a:r>
            <a:endParaRPr lang="en-US" sz="1190" dirty="0"/>
          </a:p>
        </p:txBody>
      </p:sp>
      <p:sp>
        <p:nvSpPr>
          <p:cNvPr id="59" name="Shape 57"/>
          <p:cNvSpPr/>
          <p:nvPr/>
        </p:nvSpPr>
        <p:spPr>
          <a:xfrm>
            <a:off x="512064" y="538581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12064" y="53858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90" dirty="0"/>
          </a:p>
        </p:txBody>
      </p:sp>
      <p:sp>
        <p:nvSpPr>
          <p:cNvPr id="61" name="Text 59"/>
          <p:cNvSpPr/>
          <p:nvPr/>
        </p:nvSpPr>
        <p:spPr>
          <a:xfrm>
            <a:off x="2066544" y="538581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90" dirty="0"/>
          </a:p>
        </p:txBody>
      </p:sp>
      <p:sp>
        <p:nvSpPr>
          <p:cNvPr id="62" name="Text 60"/>
          <p:cNvSpPr/>
          <p:nvPr/>
        </p:nvSpPr>
        <p:spPr>
          <a:xfrm>
            <a:off x="3255264" y="538581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90" dirty="0"/>
          </a:p>
        </p:txBody>
      </p:sp>
      <p:sp>
        <p:nvSpPr>
          <p:cNvPr id="63" name="Text 61"/>
          <p:cNvSpPr/>
          <p:nvPr/>
        </p:nvSpPr>
        <p:spPr>
          <a:xfrm>
            <a:off x="4681728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90" dirty="0"/>
          </a:p>
        </p:txBody>
      </p:sp>
      <p:sp>
        <p:nvSpPr>
          <p:cNvPr id="64" name="Shape 62"/>
          <p:cNvSpPr/>
          <p:nvPr/>
        </p:nvSpPr>
        <p:spPr>
          <a:xfrm>
            <a:off x="6291072" y="5385816"/>
            <a:ext cx="1609344" cy="43891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291072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90" dirty="0"/>
          </a:p>
        </p:txBody>
      </p:sp>
      <p:sp>
        <p:nvSpPr>
          <p:cNvPr id="66" name="Text 64"/>
          <p:cNvSpPr/>
          <p:nvPr/>
        </p:nvSpPr>
        <p:spPr>
          <a:xfrm>
            <a:off x="502920" y="587959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0. METEOR chưa có KTC.</a:t>
            </a:r>
            <a:endParaRPr lang="en-US" sz="1280" dirty="0"/>
          </a:p>
        </p:txBody>
      </p:sp>
      <p:sp>
        <p:nvSpPr>
          <p:cNvPr id="67" name="Shape 6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4.5. Toàn bộ chỉ số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78638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trên 4.463 bước có thao tác chạm. Giá trị cao nhất trong bốn cấu hình được in đậm.</a:t>
            </a:r>
            <a:endParaRPr lang="en-US" sz="1340" dirty="0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7918704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6187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160" dirty="0"/>
          </a:p>
        </p:txBody>
      </p:sp>
      <p:sp>
        <p:nvSpPr>
          <p:cNvPr id="7" name="Text 5"/>
          <p:cNvSpPr/>
          <p:nvPr/>
        </p:nvSpPr>
        <p:spPr>
          <a:xfrm>
            <a:off x="2761488" y="1261872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60" dirty="0"/>
          </a:p>
        </p:txBody>
      </p:sp>
      <p:sp>
        <p:nvSpPr>
          <p:cNvPr id="8" name="Text 6"/>
          <p:cNvSpPr/>
          <p:nvPr/>
        </p:nvSpPr>
        <p:spPr>
          <a:xfrm>
            <a:off x="4005072" y="12618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160" dirty="0"/>
          </a:p>
        </p:txBody>
      </p:sp>
      <p:sp>
        <p:nvSpPr>
          <p:cNvPr id="9" name="Text 7"/>
          <p:cNvSpPr/>
          <p:nvPr/>
        </p:nvSpPr>
        <p:spPr>
          <a:xfrm>
            <a:off x="5468112" y="1261872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160" dirty="0"/>
          </a:p>
        </p:txBody>
      </p:sp>
      <p:sp>
        <p:nvSpPr>
          <p:cNvPr id="10" name="Text 8"/>
          <p:cNvSpPr/>
          <p:nvPr/>
        </p:nvSpPr>
        <p:spPr>
          <a:xfrm>
            <a:off x="6967728" y="1261872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160" dirty="0"/>
          </a:p>
        </p:txBody>
      </p:sp>
      <p:sp>
        <p:nvSpPr>
          <p:cNvPr id="11" name="Text 9"/>
          <p:cNvSpPr/>
          <p:nvPr/>
        </p:nvSpPr>
        <p:spPr>
          <a:xfrm>
            <a:off x="548640" y="168249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761488" y="168249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005072" y="1682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68112" y="16824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967728" y="168249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6824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04825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48640" y="204825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61488" y="204825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005072" y="20482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68112" y="20482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967728" y="204825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67728" y="20482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241401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48640" y="241401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 + 14%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761488" y="241401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49,76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05072" y="24140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61,73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68112" y="241401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63,25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967728" y="241401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67728" y="241401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63,28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77977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48640" y="27797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761488" y="277977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005072" y="27797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68112" y="277977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967728" y="277977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67728" y="277977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314553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48640" y="314553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61488" y="3145536"/>
            <a:ext cx="1243584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61488" y="314553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96,5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005072" y="31455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94,35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468112" y="314553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95,97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967728" y="314553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95,97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351129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48640" y="351129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761488" y="351129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15,34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4005072" y="35112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468112" y="35112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967728" y="351129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67728" y="35112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387705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48640" y="387705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761488" y="387705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24,58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4005072" y="38770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5468112" y="38770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67728" y="387705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67728" y="38770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548640" y="424281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48640" y="424281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2761488" y="424281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4005072" y="424281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5468112" y="424281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6967728" y="424281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67728" y="424281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548640" y="460857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48640" y="460857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2761488" y="460857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88,01</a:t>
            </a:r>
            <a:endParaRPr lang="en-US" sz="1150" dirty="0"/>
          </a:p>
        </p:txBody>
      </p:sp>
      <p:sp>
        <p:nvSpPr>
          <p:cNvPr id="69" name="Text 67"/>
          <p:cNvSpPr/>
          <p:nvPr/>
        </p:nvSpPr>
        <p:spPr>
          <a:xfrm>
            <a:off x="4005072" y="46085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5468112" y="460857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967728" y="460857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967728" y="460857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50" dirty="0"/>
          </a:p>
        </p:txBody>
      </p:sp>
      <p:sp>
        <p:nvSpPr>
          <p:cNvPr id="73" name="Shape 71"/>
          <p:cNvSpPr/>
          <p:nvPr/>
        </p:nvSpPr>
        <p:spPr>
          <a:xfrm>
            <a:off x="548640" y="497433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48640" y="497433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2761488" y="497433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18,48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005072" y="497433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50" dirty="0"/>
          </a:p>
        </p:txBody>
      </p:sp>
      <p:sp>
        <p:nvSpPr>
          <p:cNvPr id="77" name="Text 75"/>
          <p:cNvSpPr/>
          <p:nvPr/>
        </p:nvSpPr>
        <p:spPr>
          <a:xfrm>
            <a:off x="5468112" y="497433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6967728" y="497433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67728" y="497433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548640" y="534009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81" name="Text 79"/>
          <p:cNvSpPr/>
          <p:nvPr/>
        </p:nvSpPr>
        <p:spPr>
          <a:xfrm>
            <a:off x="548640" y="534009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50" dirty="0"/>
          </a:p>
        </p:txBody>
      </p:sp>
      <p:sp>
        <p:nvSpPr>
          <p:cNvPr id="82" name="Text 80"/>
          <p:cNvSpPr/>
          <p:nvPr/>
        </p:nvSpPr>
        <p:spPr>
          <a:xfrm>
            <a:off x="2761488" y="534009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40,18</a:t>
            </a:r>
            <a:endParaRPr lang="en-US" sz="1150" dirty="0"/>
          </a:p>
        </p:txBody>
      </p:sp>
      <p:sp>
        <p:nvSpPr>
          <p:cNvPr id="83" name="Text 81"/>
          <p:cNvSpPr/>
          <p:nvPr/>
        </p:nvSpPr>
        <p:spPr>
          <a:xfrm>
            <a:off x="4005072" y="53400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5468112" y="53400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6967728" y="534009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67728" y="534009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63,45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548640" y="5705856"/>
            <a:ext cx="7918704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88" name="Text 86"/>
          <p:cNvSpPr/>
          <p:nvPr/>
        </p:nvSpPr>
        <p:spPr>
          <a:xfrm>
            <a:off x="548640" y="5705856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2761488" y="5705856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4005072" y="57058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5468112" y="57058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50" dirty="0"/>
          </a:p>
        </p:txBody>
      </p:sp>
      <p:sp>
        <p:nvSpPr>
          <p:cNvPr id="92" name="Shape 90"/>
          <p:cNvSpPr/>
          <p:nvPr/>
        </p:nvSpPr>
        <p:spPr>
          <a:xfrm>
            <a:off x="6967728" y="5705856"/>
            <a:ext cx="1499616" cy="36576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67728" y="5705856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4.6. Đối chiếu với bốn mô hình định vị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được tính lại bằng bốn mô hình định vị để kiểm tra độ ổn định của kết quả.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530352" y="1353312"/>
            <a:ext cx="7662672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53312"/>
            <a:ext cx="19933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52374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394106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535838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77570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530352" y="1847088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252374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394106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535838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40,80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677570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38,23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530352" y="2395728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30352" y="2395728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252374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394106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54,51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535838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46,96</a:t>
            </a:r>
            <a:endParaRPr lang="en-US" sz="1280" dirty="0"/>
          </a:p>
        </p:txBody>
      </p:sp>
      <p:sp>
        <p:nvSpPr>
          <p:cNvPr id="21" name="Text 19"/>
          <p:cNvSpPr/>
          <p:nvPr/>
        </p:nvSpPr>
        <p:spPr>
          <a:xfrm>
            <a:off x="677570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44,63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530352" y="2944368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530352" y="2944368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252374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280" dirty="0"/>
          </a:p>
        </p:txBody>
      </p:sp>
      <p:sp>
        <p:nvSpPr>
          <p:cNvPr id="25" name="Text 23"/>
          <p:cNvSpPr/>
          <p:nvPr/>
        </p:nvSpPr>
        <p:spPr>
          <a:xfrm>
            <a:off x="394106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56,06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5358384" y="2944368"/>
            <a:ext cx="1417320" cy="56692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5838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47,75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6775704" y="2944368"/>
            <a:ext cx="1417320" cy="56692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7570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45,33</a:t>
            </a:r>
            <a:endParaRPr lang="en-US" sz="1280" dirty="0"/>
          </a:p>
        </p:txBody>
      </p:sp>
      <p:sp>
        <p:nvSpPr>
          <p:cNvPr id="30" name="Shape 28"/>
          <p:cNvSpPr/>
          <p:nvPr/>
        </p:nvSpPr>
        <p:spPr>
          <a:xfrm>
            <a:off x="530352" y="3511296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530352" y="3511296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280" dirty="0"/>
          </a:p>
        </p:txBody>
      </p:sp>
      <p:sp>
        <p:nvSpPr>
          <p:cNvPr id="32" name="Shape 30"/>
          <p:cNvSpPr/>
          <p:nvPr/>
        </p:nvSpPr>
        <p:spPr>
          <a:xfrm>
            <a:off x="2523744" y="3511296"/>
            <a:ext cx="1417320" cy="56692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374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280" dirty="0"/>
          </a:p>
        </p:txBody>
      </p:sp>
      <p:sp>
        <p:nvSpPr>
          <p:cNvPr id="34" name="Shape 32"/>
          <p:cNvSpPr/>
          <p:nvPr/>
        </p:nvSpPr>
        <p:spPr>
          <a:xfrm>
            <a:off x="3941064" y="3511296"/>
            <a:ext cx="1417320" cy="56692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4106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56,20</a:t>
            </a:r>
            <a:endParaRPr lang="en-US" sz="1280" dirty="0"/>
          </a:p>
        </p:txBody>
      </p:sp>
      <p:sp>
        <p:nvSpPr>
          <p:cNvPr id="36" name="Text 34"/>
          <p:cNvSpPr/>
          <p:nvPr/>
        </p:nvSpPr>
        <p:spPr>
          <a:xfrm>
            <a:off x="535838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47,73</a:t>
            </a:r>
            <a:endParaRPr lang="en-US" sz="1280" dirty="0"/>
          </a:p>
        </p:txBody>
      </p:sp>
      <p:sp>
        <p:nvSpPr>
          <p:cNvPr id="37" name="Shape 35"/>
          <p:cNvSpPr/>
          <p:nvPr/>
        </p:nvSpPr>
        <p:spPr>
          <a:xfrm>
            <a:off x="6775704" y="3511296"/>
            <a:ext cx="1417320" cy="566928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7570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45,33</a:t>
            </a:r>
            <a:endParaRPr lang="en-US" sz="1280" dirty="0"/>
          </a:p>
        </p:txBody>
      </p:sp>
      <p:sp>
        <p:nvSpPr>
          <p:cNvPr id="39" name="Shape 37"/>
          <p:cNvSpPr/>
          <p:nvPr/>
        </p:nvSpPr>
        <p:spPr>
          <a:xfrm>
            <a:off x="530352" y="4078224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530352" y="407822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260" dirty="0"/>
          </a:p>
        </p:txBody>
      </p:sp>
      <p:sp>
        <p:nvSpPr>
          <p:cNvPr id="41" name="Text 39"/>
          <p:cNvSpPr/>
          <p:nvPr/>
        </p:nvSpPr>
        <p:spPr>
          <a:xfrm>
            <a:off x="252374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260" dirty="0"/>
          </a:p>
        </p:txBody>
      </p:sp>
      <p:sp>
        <p:nvSpPr>
          <p:cNvPr id="42" name="Text 40"/>
          <p:cNvSpPr/>
          <p:nvPr/>
        </p:nvSpPr>
        <p:spPr>
          <a:xfrm>
            <a:off x="394106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260" dirty="0"/>
          </a:p>
        </p:txBody>
      </p:sp>
      <p:sp>
        <p:nvSpPr>
          <p:cNvPr id="43" name="Text 41"/>
          <p:cNvSpPr/>
          <p:nvPr/>
        </p:nvSpPr>
        <p:spPr>
          <a:xfrm>
            <a:off x="535838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260" dirty="0"/>
          </a:p>
        </p:txBody>
      </p:sp>
      <p:sp>
        <p:nvSpPr>
          <p:cNvPr id="44" name="Text 42"/>
          <p:cNvSpPr/>
          <p:nvPr/>
        </p:nvSpPr>
        <p:spPr>
          <a:xfrm>
            <a:off x="677570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260" dirty="0"/>
          </a:p>
        </p:txBody>
      </p:sp>
      <p:sp>
        <p:nvSpPr>
          <p:cNvPr id="45" name="Shape 4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4.7. Khi các bước trước do mô hình tạo ra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các bước trước cũng do chính mô hình tạo ra, GRPO-SPICE vẫn cao hơn Baseline S1.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960120" y="1572768"/>
            <a:ext cx="6858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727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40" dirty="0"/>
          </a:p>
        </p:txBody>
      </p:sp>
      <p:sp>
        <p:nvSpPr>
          <p:cNvPr id="7" name="Text 5"/>
          <p:cNvSpPr/>
          <p:nvPr/>
        </p:nvSpPr>
        <p:spPr>
          <a:xfrm>
            <a:off x="3794760" y="1572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bước trước từ dữ liệu gốc</a:t>
            </a:r>
            <a:endParaRPr lang="en-US" sz="1240" dirty="0"/>
          </a:p>
        </p:txBody>
      </p:sp>
      <p:sp>
        <p:nvSpPr>
          <p:cNvPr id="8" name="Text 6"/>
          <p:cNvSpPr/>
          <p:nvPr/>
        </p:nvSpPr>
        <p:spPr>
          <a:xfrm>
            <a:off x="5806440" y="1572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bước trước do mô hình tạo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960120" y="2103120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9476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2816352"/>
            <a:ext cx="6858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816352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816352"/>
            <a:ext cx="2011680" cy="71323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4760" y="28163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06440" y="28163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0120" y="3529584"/>
            <a:ext cx="6858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60120" y="35295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94760" y="352958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806440" y="352958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1830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khi các bước trước do mô hình tạo: +0,54 đến +2,43.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502920" y="523036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hai mô hình đều giảm khoảng 4 điểm khi không dùng các bước trước từ dữ liệu gốc.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4.8. Kết quả trên AitZ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là bộ dữ liệu giao diện khác, dùng để kiểm tra khả năng áp dụng ngoài AndroidControl.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841248" y="1444752"/>
            <a:ext cx="795528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44475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3355848" y="1444752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4864608" y="144475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</a:t>
            </a:r>
            <a:endParaRPr lang="en-US" sz="1270" dirty="0"/>
          </a:p>
        </p:txBody>
      </p:sp>
      <p:sp>
        <p:nvSpPr>
          <p:cNvPr id="9" name="Text 7"/>
          <p:cNvSpPr/>
          <p:nvPr/>
        </p:nvSpPr>
        <p:spPr>
          <a:xfrm>
            <a:off x="6647688" y="1444752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841248" y="195681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55848" y="195681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95681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−3,29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47688" y="1956816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−5,03 đến −1,51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41248" y="25786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41248" y="257860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55848" y="2578608"/>
            <a:ext cx="1508760" cy="621792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257860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64608" y="257860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47688" y="2578608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" y="320040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841248" y="3200400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55848" y="320040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64608" y="320040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47688" y="3200400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−1,39 đến +0,36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41248" y="382219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841248" y="3822192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355848" y="38221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64608" y="382219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47688" y="3822192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−1,39 đến +0,36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506577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vẫn cao hơn Base. GRPO-SPICE và ACE không khác rõ S1 về executability.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4.9. Độ ổn định giữa hai lần chạy GRPO-SPICE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lần chạy GRPO-SPICE dùng cùng điểm khởi tạo và cùng cấu hình. Chỉ seed của giai đoạn GRPO thay đổi.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841248" y="1664208"/>
            <a:ext cx="7589520" cy="548640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66420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67328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99048" y="1664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giữa hai lần chạy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41248" y="2212848"/>
            <a:ext cx="2926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67328" y="221284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99048" y="2212848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1248" y="2926080"/>
            <a:ext cx="75895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41248" y="292608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7328" y="2926080"/>
            <a:ext cx="2331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 / 59,94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48" y="2926080"/>
            <a:ext cx="2331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−0,72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78992" y="4005072"/>
            <a:ext cx="6986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3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hai lần chạy đều cao hơn Baseline S1. Kết quả thứ hai thấp hơn kết quả chính 0,72 điểm.</a:t>
            </a:r>
            <a:endParaRPr lang="en-US" sz="1430" dirty="0"/>
          </a:p>
        </p:txBody>
      </p:sp>
      <p:sp>
        <p:nvSpPr>
          <p:cNvPr id="17" name="Text 15"/>
          <p:cNvSpPr/>
          <p:nvPr/>
        </p:nvSpPr>
        <p:spPr>
          <a:xfrm>
            <a:off x="502920" y="50109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cho Δ giữa hai lần chạy: −1,27 đến −0,16.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AitZ, lợi ích bổ sung của GRPO-SPICE không còn rõ như trên AndroidControl.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5.1. Kết luận chung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749808" y="87782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chính</a:t>
            </a:r>
            <a:endParaRPr lang="en-US" sz="1640" dirty="0"/>
          </a:p>
        </p:txBody>
      </p:sp>
      <p:sp>
        <p:nvSpPr>
          <p:cNvPr id="5" name="Shape 3"/>
          <p:cNvSpPr/>
          <p:nvPr/>
        </p:nvSpPr>
        <p:spPr>
          <a:xfrm>
            <a:off x="749808" y="1298448"/>
            <a:ext cx="786384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29844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84448" y="12984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Mức tăng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596128" y="129844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Ý nghĩa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181051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vs Baseline S1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584448" y="1810512"/>
            <a:ext cx="2011680" cy="64008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4448" y="18105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596128" y="18105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9808" y="2450592"/>
            <a:ext cx="786384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749808" y="24505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vs Baseline S1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584448" y="2450592"/>
            <a:ext cx="2011680" cy="64008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4505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596128" y="245059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49808" y="3090672"/>
            <a:ext cx="786384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749808" y="309067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vs 7B Base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584448" y="3090672"/>
            <a:ext cx="2011680" cy="640080"/>
          </a:xfrm>
          <a:prstGeom prst="rect">
            <a:avLst/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84448" y="30906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596128" y="309067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prompt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49808" y="38404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</a:t>
            </a:r>
            <a:endParaRPr lang="en-US" sz="1640" dirty="0"/>
          </a:p>
        </p:txBody>
      </p:sp>
      <p:sp>
        <p:nvSpPr>
          <p:cNvPr id="24" name="Shape 22"/>
          <p:cNvSpPr/>
          <p:nvPr/>
        </p:nvSpPr>
        <p:spPr>
          <a:xfrm>
            <a:off x="768096" y="439826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4261104"/>
            <a:ext cx="74340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460" dirty="0"/>
          </a:p>
        </p:txBody>
      </p:sp>
      <p:sp>
        <p:nvSpPr>
          <p:cNvPr id="26" name="Shape 24"/>
          <p:cNvSpPr/>
          <p:nvPr/>
        </p:nvSpPr>
        <p:spPr>
          <a:xfrm>
            <a:off x="768096" y="5001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4864608"/>
            <a:ext cx="74340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AitZ, lợi ích bổ sung của GRPO-SPICE không còn rõ như trên AndroidControl.</a:t>
            </a:r>
            <a:endParaRPr lang="en-US" sz="1460" dirty="0"/>
          </a:p>
        </p:txBody>
      </p:sp>
      <p:sp>
        <p:nvSpPr>
          <p:cNvPr id="28" name="Shape 26"/>
          <p:cNvSpPr/>
          <p:nvPr/>
        </p:nvSpPr>
        <p:spPr>
          <a:xfrm>
            <a:off x="768096" y="560527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5468112"/>
            <a:ext cx="743407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 và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+0,80 đến +2,33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+0,82 đến +2,30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+0,05 đến +1,51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 đến +1,40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câu/prompt, 500 bước cập nhật,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tốt.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đúng.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2026-10-28T13:53:52Z</dcterms:created>
  <dcterms:modified xsi:type="dcterms:W3CDTF">2026-10-28T13:53:52Z</dcterms:modified>
</cp:coreProperties>
</file>