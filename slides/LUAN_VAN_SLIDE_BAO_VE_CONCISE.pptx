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0" y="0"/>
            <a:ext cx="91440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ĐẠI HỌC QUỐC GIA TP. HỒ CHÍ MINH  -  TRƯỜNG ĐẠI HỌC KHOA HỌC TỰ NHIÊN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1078992"/>
            <a:ext cx="7680960" cy="2286000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2588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LUẬN VĂN THẠC SĨ  -  NGÀNH TRÍ TUỆ NHÂN TẠO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1792224"/>
            <a:ext cx="7406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LLM TỪ CÁC TRƯỜNG HỢP SỬ DỤNG</a:t>
            </a:r>
            <a:endParaRPr lang="en-US" sz="21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GIAO DIỆN NGƯỜI DÙNG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41605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Học viên thực hiện: Lê Đoàn Phương Uyên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4572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Giáo viên hướng dẫn: TS. Nguyễn Hồng Bửu Long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53766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TP. Hồ Chí Minh - 2026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1/25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Tổng quan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trạng thái giao diện hiện tại, sinh một câu hướng dẫn để người dùng biết chính xác bước tiếp theo cần làm.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94360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Màn hình hiện tại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578608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127248" y="1847088"/>
            <a:ext cx="1874520" cy="8686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27248" y="184708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sinh câu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111496" y="2286000"/>
            <a:ext cx="43891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669280" y="1719072"/>
            <a:ext cx="2697480" cy="11155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0" y="1719072"/>
            <a:ext cx="26974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“Chạm vào Not now”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02920" y="3383280"/>
            <a:ext cx="1005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vào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21208" y="388620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374904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Ảnh màn hình hiện tại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21208" y="43891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425196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người dùng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521208" y="489204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75488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thao tác trước đó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521208" y="5394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5257800"/>
            <a:ext cx="3675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Văn bản hiển thị trên giao diện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4709160" y="3456432"/>
            <a:ext cx="3840480" cy="16459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7033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4983480" y="4160520"/>
            <a:ext cx="3291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hướng dẫn cho</a:t>
            </a:r>
            <a:endParaRPr lang="en-US" sz="1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tiếp theo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502920" y="555955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Đầu ra của luận văn là câu hướng dẫn cho người dùng, không phải tọa độ để agent tự thao tác.</a:t>
            </a:r>
            <a:endParaRPr lang="en-US" sz="145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2/25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1.1. Yêu cầu của câu hướng dẫn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câu nghe hoàn toàn tự nhiên vẫn có thể không đủ thông tin để người dùng chọn đúng phần tử.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the button.”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7772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biết phải chạm nút nào khi màn hình có nhiều nút.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846320" y="1783080"/>
            <a:ext cx="3794760" cy="25146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2011680"/>
            <a:ext cx="3429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đủ rõ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074920" y="27432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900" i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“Tap Not now.”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120640" y="34290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ra đúng phần tử cần thao tác.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02920" y="486460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Vì vậy, câu hướng dẫn không chỉ cần đúng nội dung mà còn phải phân biệt được đúng phần tử cần thao tác.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3/25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1.2. Hạn chế của độ tương đồng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914400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độ đo chất lượng câu và khả năng làm theo phản ánh hai khía cạnh bổ sung cho nhau.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 / ROUGE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mức giống câu chuẩn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401568" y="1874520"/>
            <a:ext cx="233172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01568" y="187452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/ CIDEr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Đo tương đồng nội dung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172200" y="1691640"/>
            <a:ext cx="2331720" cy="14630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72200" y="1691640"/>
            <a:ext cx="2331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Xác định đúng phần tử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và đúng loại thao tác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4160520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đó, luận văn đánh giá cả mức tương đồng với câu chuẩn và khả năng xác định đúng phần tử, đúng loại thao tác.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4/25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1.3. Đóng góp chính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22376" y="1847088"/>
            <a:ext cx="207568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câu hướng dẫn. ACE tiếp tục hiệu chỉnh câu ban đầu để cải thiện chất lượng mà vẫn giữ executability.</a:t>
            </a:r>
            <a:endParaRPr lang="en-US" sz="1510" dirty="0"/>
          </a:p>
        </p:txBody>
      </p:sp>
      <p:sp>
        <p:nvSpPr>
          <p:cNvPr id="7" name="Shape 5"/>
          <p:cNvSpPr/>
          <p:nvPr/>
        </p:nvSpPr>
        <p:spPr>
          <a:xfrm>
            <a:off x="3319272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6432" y="1225296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Executability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66160" y="1847088"/>
            <a:ext cx="20299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tách biệt kiểm tra câu có dẫn tới đúng phần tử và đúng thao tác.</a:t>
            </a:r>
            <a:endParaRPr lang="en-US" sz="1510" dirty="0"/>
          </a:p>
        </p:txBody>
      </p:sp>
      <p:sp>
        <p:nvSpPr>
          <p:cNvPr id="10" name="Shape 8"/>
          <p:cNvSpPr/>
          <p:nvPr/>
        </p:nvSpPr>
        <p:spPr>
          <a:xfrm>
            <a:off x="6126480" y="960120"/>
            <a:ext cx="2514600" cy="297180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54496" y="1170432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Bằng chứng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55080" y="1847088"/>
            <a:ext cx="2057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kiểm tra bằng cùng số bước huấn luyện, nhiều mô hình định vị, tác vụ mới và chuyển miền.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152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3152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tập kiểm chính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01568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3401568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trên tác vụ chưa có trong huấn luyện có giám sát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080760" y="4370832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080760" y="4901184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 · CIDEr-D · SPICE · …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5/25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Dữ liệu và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77824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huấn luyện và tập kiểm tra chính được tách theo tác vụ. Không có tác vụ xuất hiện ở cả hai phía.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502920" y="1536192"/>
            <a:ext cx="8138160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endParaRPr lang="en-US" sz="1370" dirty="0"/>
          </a:p>
        </p:txBody>
      </p:sp>
      <p:sp>
        <p:nvSpPr>
          <p:cNvPr id="7" name="Text 5"/>
          <p:cNvSpPr/>
          <p:nvPr/>
        </p:nvSpPr>
        <p:spPr>
          <a:xfrm>
            <a:off x="301752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Huấn luyện</a:t>
            </a:r>
            <a:endParaRPr lang="en-US" sz="1370" dirty="0"/>
          </a:p>
        </p:txBody>
      </p:sp>
      <p:sp>
        <p:nvSpPr>
          <p:cNvPr id="8" name="Text 6"/>
          <p:cNvSpPr/>
          <p:nvPr/>
        </p:nvSpPr>
        <p:spPr>
          <a:xfrm>
            <a:off x="4709160" y="1536192"/>
            <a:ext cx="169164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 chính</a:t>
            </a:r>
            <a:endParaRPr lang="en-US" sz="1370" dirty="0"/>
          </a:p>
        </p:txBody>
      </p:sp>
      <p:sp>
        <p:nvSpPr>
          <p:cNvPr id="9" name="Text 7"/>
          <p:cNvSpPr/>
          <p:nvPr/>
        </p:nvSpPr>
        <p:spPr>
          <a:xfrm>
            <a:off x="6400800" y="1536192"/>
            <a:ext cx="2240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Ghi chú</a:t>
            </a:r>
            <a:endParaRPr lang="en-US" sz="137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bước</a:t>
            </a:r>
            <a:endParaRPr lang="en-US" sz="1420" dirty="0"/>
          </a:p>
        </p:txBody>
      </p:sp>
      <p:sp>
        <p:nvSpPr>
          <p:cNvPr id="11" name="Text 9"/>
          <p:cNvSpPr/>
          <p:nvPr/>
        </p:nvSpPr>
        <p:spPr>
          <a:xfrm>
            <a:off x="301752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64.567</a:t>
            </a:r>
            <a:endParaRPr lang="en-US" sz="1420" dirty="0"/>
          </a:p>
        </p:txBody>
      </p:sp>
      <p:sp>
        <p:nvSpPr>
          <p:cNvPr id="12" name="Text 10"/>
          <p:cNvSpPr/>
          <p:nvPr/>
        </p:nvSpPr>
        <p:spPr>
          <a:xfrm>
            <a:off x="4709160" y="202996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6.958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6400800" y="2029968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chia theo tác vụ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502920" y="2615184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502920" y="261518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có thao tác chạm</a:t>
            </a:r>
            <a:endParaRPr lang="en-US" sz="1420" dirty="0"/>
          </a:p>
        </p:txBody>
      </p:sp>
      <p:sp>
        <p:nvSpPr>
          <p:cNvPr id="16" name="Text 14"/>
          <p:cNvSpPr/>
          <p:nvPr/>
        </p:nvSpPr>
        <p:spPr>
          <a:xfrm>
            <a:off x="301752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41.191</a:t>
            </a:r>
            <a:endParaRPr lang="en-US" sz="1420" dirty="0"/>
          </a:p>
        </p:txBody>
      </p:sp>
      <p:sp>
        <p:nvSpPr>
          <p:cNvPr id="17" name="Text 15"/>
          <p:cNvSpPr/>
          <p:nvPr/>
        </p:nvSpPr>
        <p:spPr>
          <a:xfrm>
            <a:off x="4709160" y="26151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4.463</a:t>
            </a:r>
            <a:endParaRPr lang="en-US" sz="1420" dirty="0"/>
          </a:p>
        </p:txBody>
      </p:sp>
      <p:sp>
        <p:nvSpPr>
          <p:cNvPr id="18" name="Text 16"/>
          <p:cNvSpPr/>
          <p:nvPr/>
        </p:nvSpPr>
        <p:spPr>
          <a:xfrm>
            <a:off x="6400800" y="2615184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chính của executability</a:t>
            </a:r>
            <a:endParaRPr lang="en-US" sz="1420" dirty="0"/>
          </a:p>
        </p:txBody>
      </p:sp>
      <p:sp>
        <p:nvSpPr>
          <p:cNvPr id="19" name="Shape 17"/>
          <p:cNvSpPr/>
          <p:nvPr/>
        </p:nvSpPr>
        <p:spPr>
          <a:xfrm>
            <a:off x="502920" y="320040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20040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Số tác vụ</a:t>
            </a:r>
            <a:endParaRPr lang="en-US" sz="1420" dirty="0"/>
          </a:p>
        </p:txBody>
      </p:sp>
      <p:sp>
        <p:nvSpPr>
          <p:cNvPr id="21" name="Text 19"/>
          <p:cNvSpPr/>
          <p:nvPr/>
        </p:nvSpPr>
        <p:spPr>
          <a:xfrm>
            <a:off x="301752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12.895</a:t>
            </a:r>
            <a:endParaRPr lang="en-US" sz="1420" dirty="0"/>
          </a:p>
        </p:txBody>
      </p:sp>
      <p:sp>
        <p:nvSpPr>
          <p:cNvPr id="22" name="Text 20"/>
          <p:cNvSpPr/>
          <p:nvPr/>
        </p:nvSpPr>
        <p:spPr>
          <a:xfrm>
            <a:off x="4709160" y="32004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1.432</a:t>
            </a:r>
            <a:endParaRPr lang="en-US" sz="1420" dirty="0"/>
          </a:p>
        </p:txBody>
      </p:sp>
      <p:sp>
        <p:nvSpPr>
          <p:cNvPr id="23" name="Text 21"/>
          <p:cNvSpPr/>
          <p:nvPr/>
        </p:nvSpPr>
        <p:spPr>
          <a:xfrm>
            <a:off x="6400800" y="3200400"/>
            <a:ext cx="2240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trùng tác vụ</a:t>
            </a:r>
            <a:endParaRPr lang="en-US" sz="1420" dirty="0"/>
          </a:p>
        </p:txBody>
      </p:sp>
      <p:sp>
        <p:nvSpPr>
          <p:cNvPr id="24" name="Text 22"/>
          <p:cNvSpPr/>
          <p:nvPr/>
        </p:nvSpPr>
        <p:spPr>
          <a:xfrm>
            <a:off x="502920" y="3986784"/>
            <a:ext cx="8138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Đánh giá tổng quát hóa bổ sung</a:t>
            </a:r>
            <a:endParaRPr lang="en-US" sz="1520" dirty="0"/>
          </a:p>
        </p:txBody>
      </p:sp>
      <p:sp>
        <p:nvSpPr>
          <p:cNvPr id="25" name="Shape 23"/>
          <p:cNvSpPr/>
          <p:nvPr/>
        </p:nvSpPr>
        <p:spPr>
          <a:xfrm>
            <a:off x="50292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" y="4599432"/>
            <a:ext cx="1417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460" dirty="0"/>
          </a:p>
        </p:txBody>
      </p:sp>
      <p:sp>
        <p:nvSpPr>
          <p:cNvPr id="27" name="Text 25"/>
          <p:cNvSpPr/>
          <p:nvPr/>
        </p:nvSpPr>
        <p:spPr>
          <a:xfrm>
            <a:off x="1920240" y="4553712"/>
            <a:ext cx="2286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1.484 bước từ các tác vụ chưa có trong tập huấn luyện</a:t>
            </a:r>
            <a:endParaRPr lang="en-US" sz="1380" dirty="0"/>
          </a:p>
        </p:txBody>
      </p:sp>
      <p:sp>
        <p:nvSpPr>
          <p:cNvPr id="28" name="Shape 26"/>
          <p:cNvSpPr/>
          <p:nvPr/>
        </p:nvSpPr>
        <p:spPr>
          <a:xfrm>
            <a:off x="4754880" y="4498848"/>
            <a:ext cx="3886200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64608" y="4599432"/>
            <a:ext cx="1508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Chuyển miền (AitZ)</a:t>
            </a:r>
            <a:endParaRPr lang="en-US" sz="1460" dirty="0"/>
          </a:p>
        </p:txBody>
      </p:sp>
      <p:sp>
        <p:nvSpPr>
          <p:cNvPr id="30" name="Text 28"/>
          <p:cNvSpPr/>
          <p:nvPr/>
        </p:nvSpPr>
        <p:spPr>
          <a:xfrm>
            <a:off x="6263640" y="4553712"/>
            <a:ext cx="21762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dữ liệu giao diện khác để kiểm tra khả năng chuyển miền</a:t>
            </a:r>
            <a:endParaRPr lang="en-US" sz="1380" dirty="0"/>
          </a:p>
        </p:txBody>
      </p:sp>
      <p:sp>
        <p:nvSpPr>
          <p:cNvPr id="31" name="Shape 2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6/25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2.1. Executability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94360" y="1572768"/>
            <a:ext cx="173736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572768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441448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907792" y="1444752"/>
            <a:ext cx="2057400" cy="109728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07792" y="1444752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tách biệt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74920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5541264" y="1572768"/>
            <a:ext cx="118872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41264" y="1572768"/>
            <a:ext cx="11887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(x,y)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839712" y="1993392"/>
            <a:ext cx="36576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296912" y="1371600"/>
            <a:ext cx="1261872" cy="1243584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296912" y="1371600"/>
            <a:ext cx="1261872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tử + thao tác</a:t>
            </a:r>
            <a:endParaRPr lang="en-US" sz="1320" dirty="0"/>
          </a:p>
        </p:txBody>
      </p:sp>
      <p:sp>
        <p:nvSpPr>
          <p:cNvPr id="15" name="Text 13"/>
          <p:cNvSpPr/>
          <p:nvPr/>
        </p:nvSpPr>
        <p:spPr>
          <a:xfrm>
            <a:off x="502920" y="3182112"/>
            <a:ext cx="4343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được tính đúng khi đồng thời:</a:t>
            </a:r>
            <a:endParaRPr lang="en-US" sz="1550" dirty="0"/>
          </a:p>
        </p:txBody>
      </p:sp>
      <p:sp>
        <p:nvSpPr>
          <p:cNvPr id="16" name="Shape 14"/>
          <p:cNvSpPr/>
          <p:nvPr/>
        </p:nvSpPr>
        <p:spPr>
          <a:xfrm>
            <a:off x="521208" y="38130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675888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521208" y="4379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42816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diễn đạt ngược thao tác cần làm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521208" y="494690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3232" y="4809744"/>
            <a:ext cx="792784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định vị thuộc vùng của phần tử cần chạm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" y="5468112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không tham gia huấn luyện phương pháp và không biết tọa độ đáp án.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7/25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2.2. Kiểm tra độ tin cậy của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32104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cùng một nhóm bước, câu càng thiếu thông tin để xác định đúng phần tử thì executability càng thấp.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60120" y="161848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chuẩn (đầy đủ thông tin)</a:t>
            </a:r>
            <a:endParaRPr lang="en-US" sz="1420" dirty="0"/>
          </a:p>
        </p:txBody>
      </p:sp>
      <p:sp>
        <p:nvSpPr>
          <p:cNvPr id="6" name="Shape 4"/>
          <p:cNvSpPr/>
          <p:nvPr/>
        </p:nvSpPr>
        <p:spPr>
          <a:xfrm>
            <a:off x="3108960" y="169164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08960" y="1691640"/>
            <a:ext cx="3826798" cy="256032"/>
          </a:xfrm>
          <a:prstGeom prst="round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42632" y="160934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74,9%</a:t>
            </a:r>
            <a:endParaRPr lang="en-US" sz="1420" dirty="0"/>
          </a:p>
        </p:txBody>
      </p:sp>
      <p:sp>
        <p:nvSpPr>
          <p:cNvPr id="9" name="Text 7"/>
          <p:cNvSpPr/>
          <p:nvPr/>
        </p:nvSpPr>
        <p:spPr>
          <a:xfrm>
            <a:off x="960120" y="244144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mơ hồ: “Tap the button.”</a:t>
            </a:r>
            <a:endParaRPr lang="en-US" sz="1420" dirty="0"/>
          </a:p>
        </p:txBody>
      </p:sp>
      <p:sp>
        <p:nvSpPr>
          <p:cNvPr id="10" name="Shape 8"/>
          <p:cNvSpPr/>
          <p:nvPr/>
        </p:nvSpPr>
        <p:spPr>
          <a:xfrm>
            <a:off x="3108960" y="251460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108960" y="2514600"/>
            <a:ext cx="613105" cy="256032"/>
          </a:xfrm>
          <a:prstGeom prst="round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42632" y="243230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12,0%</a:t>
            </a:r>
            <a:endParaRPr lang="en-US" sz="1420" dirty="0"/>
          </a:p>
        </p:txBody>
      </p:sp>
      <p:sp>
        <p:nvSpPr>
          <p:cNvPr id="13" name="Text 11"/>
          <p:cNvSpPr/>
          <p:nvPr/>
        </p:nvSpPr>
        <p:spPr>
          <a:xfrm>
            <a:off x="960120" y="3264408"/>
            <a:ext cx="2039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sai màn hình</a:t>
            </a:r>
            <a:endParaRPr lang="en-US" sz="1420" dirty="0"/>
          </a:p>
        </p:txBody>
      </p:sp>
      <p:sp>
        <p:nvSpPr>
          <p:cNvPr id="14" name="Shape 12"/>
          <p:cNvSpPr/>
          <p:nvPr/>
        </p:nvSpPr>
        <p:spPr>
          <a:xfrm>
            <a:off x="3108960" y="3337560"/>
            <a:ext cx="4087368" cy="256032"/>
          </a:xfrm>
          <a:prstGeom prst="roundRect">
            <a:avLst/>
          </a:prstGeom>
          <a:solidFill>
            <a:srgbClr val="ECEAF0"/>
          </a:solidFill>
          <a:ln w="12700">
            <a:solidFill>
              <a:srgbClr val="ECEAF0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108960" y="3337560"/>
            <a:ext cx="311662" cy="256032"/>
          </a:xfrm>
          <a:prstGeom prst="round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42632" y="3255264"/>
            <a:ext cx="8412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6,1%</a:t>
            </a:r>
            <a:endParaRPr lang="en-US" sz="1420" dirty="0"/>
          </a:p>
        </p:txBody>
      </p:sp>
      <p:sp>
        <p:nvSpPr>
          <p:cNvPr id="17" name="Shape 15"/>
          <p:cNvSpPr/>
          <p:nvPr/>
        </p:nvSpPr>
        <p:spPr>
          <a:xfrm>
            <a:off x="1051560" y="4498848"/>
            <a:ext cx="7040880" cy="859536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61872" y="4498848"/>
            <a:ext cx="662025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đúng kỳ vọng: 74,9% → 12,0% → 6,1%. Khi câu mơ hồ hoặc sai ngữ cảnh, executability giảm mạnh.</a:t>
            </a:r>
            <a:endParaRPr lang="en-US" sz="154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8/25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Phương pháp đề xuất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33856"/>
            <a:ext cx="1389888" cy="10241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33856"/>
            <a:ext cx="13898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8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(đã được SFT)</a:t>
            </a:r>
            <a:endParaRPr lang="en-US" sz="1380" dirty="0"/>
          </a:p>
        </p:txBody>
      </p:sp>
      <p:sp>
        <p:nvSpPr>
          <p:cNvPr id="6" name="Shape 4"/>
          <p:cNvSpPr/>
          <p:nvPr/>
        </p:nvSpPr>
        <p:spPr>
          <a:xfrm>
            <a:off x="1874520" y="1645920"/>
            <a:ext cx="182880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121408" y="1143000"/>
            <a:ext cx="1901952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21408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 ban đầu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133088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80560" y="1143000"/>
            <a:ext cx="1901952" cy="10058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0560" y="1143000"/>
            <a:ext cx="190195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hiệu chỉnh có chọn lọc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92240" y="1645920"/>
            <a:ext cx="25603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39712" y="1143000"/>
            <a:ext cx="1810512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39712" y="1143000"/>
            <a:ext cx="18105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hướng dẫn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cuối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02920" y="312724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5212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" y="3584448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8 câu cho cùng đầu vào.</a:t>
            </a:r>
            <a:endParaRPr lang="en-US" sz="1520" dirty="0"/>
          </a:p>
        </p:txBody>
      </p:sp>
      <p:sp>
        <p:nvSpPr>
          <p:cNvPr id="18" name="Shape 16"/>
          <p:cNvSpPr/>
          <p:nvPr/>
        </p:nvSpPr>
        <p:spPr>
          <a:xfrm>
            <a:off x="5212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4279392"/>
            <a:ext cx="35844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Dùng SPICE + phạt độ dài để cập nhật mô hình.</a:t>
            </a:r>
            <a:endParaRPr lang="en-US" sz="1520" dirty="0"/>
          </a:p>
        </p:txBody>
      </p:sp>
      <p:sp>
        <p:nvSpPr>
          <p:cNvPr id="20" name="Text 18"/>
          <p:cNvSpPr/>
          <p:nvPr/>
        </p:nvSpPr>
        <p:spPr>
          <a:xfrm>
            <a:off x="4617720" y="312724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4636008" y="37216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8032" y="3584448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 ví dụ từ tập dạy.</a:t>
            </a:r>
            <a:endParaRPr lang="en-US" sz="1520" dirty="0"/>
          </a:p>
        </p:txBody>
      </p:sp>
      <p:sp>
        <p:nvSpPr>
          <p:cNvPr id="23" name="Shape 21"/>
          <p:cNvSpPr/>
          <p:nvPr/>
        </p:nvSpPr>
        <p:spPr>
          <a:xfrm>
            <a:off x="4636008" y="4416552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8032" y="4279392"/>
            <a:ext cx="37673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thay câu ban đầu khi qua 2 điều kiện chọn lọc.</a:t>
            </a:r>
            <a:endParaRPr lang="en-US" sz="1520" dirty="0"/>
          </a:p>
        </p:txBody>
      </p:sp>
      <p:sp>
        <p:nvSpPr>
          <p:cNvPr id="25" name="Text 23"/>
          <p:cNvSpPr/>
          <p:nvPr/>
        </p:nvSpPr>
        <p:spPr>
          <a:xfrm>
            <a:off x="502920" y="532180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 định vị chỉ được dùng để đánh giá câu hướng dẫn. Mô hình này không tham gia sinh câu hay cập nhật mô hình.</a:t>
            </a:r>
            <a:endParaRPr lang="en-US" sz="1420" dirty="0"/>
          </a:p>
        </p:txBody>
      </p:sp>
      <p:sp>
        <p:nvSpPr>
          <p:cNvPr id="26" name="Shape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9/25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3.1. Thành phần thứ nhất: GRPO-SPICE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417320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691640"/>
            <a:ext cx="14173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đầu vào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2084832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578608" y="1517904"/>
            <a:ext cx="160020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78608" y="1517904"/>
            <a:ext cx="1600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câu</a:t>
            </a:r>
            <a:endParaRPr lang="en-US" sz="16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dẫn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297680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91456" y="1517904"/>
            <a:ext cx="1645920" cy="118872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91456" y="1517904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 phạt độ dài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56248" y="2112264"/>
            <a:ext cx="384048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050024" y="1463040"/>
            <a:ext cx="1554480" cy="12984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050024" y="1463040"/>
            <a:ext cx="1554480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Cập nhật</a:t>
            </a:r>
            <a:endParaRPr lang="en-US" sz="15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3337560"/>
            <a:ext cx="8138160" cy="15727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4088" y="3566160"/>
            <a:ext cx="1965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Vai trò của SPICE</a:t>
            </a:r>
            <a:endParaRPr lang="en-US" sz="1550" dirty="0"/>
          </a:p>
        </p:txBody>
      </p:sp>
      <p:sp>
        <p:nvSpPr>
          <p:cNvPr id="17" name="Text 15"/>
          <p:cNvSpPr/>
          <p:nvPr/>
        </p:nvSpPr>
        <p:spPr>
          <a:xfrm>
            <a:off x="2441448" y="3401568"/>
            <a:ext cx="5943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 ưu tiên đúng nội dung hơn mức giống câu chữ.</a:t>
            </a:r>
            <a:endParaRPr lang="en-US" sz="156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5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Tín hiệu huấn luyện tập trung vào đối tượng và quan hệ cần mô tả.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502920" y="53035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6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tối ưu trực tiếp câu hướng dẫn bằng tín hiệu SPICE.</a:t>
            </a:r>
            <a:endParaRPr lang="en-US" sz="146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10/25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3.2. Thành phần thứ hai: ACE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411480" y="1143000"/>
            <a:ext cx="1508760" cy="868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11480" y="1143000"/>
            <a:ext cx="1508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Câu ban đầu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2011680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2450592" y="1051560"/>
            <a:ext cx="173736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50592" y="1051560"/>
            <a:ext cx="1737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Truy hồi 4 câu</a:t>
            </a:r>
            <a:endParaRPr lang="en-US" sz="132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32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từ tập huấn luyện</a:t>
            </a:r>
            <a:endParaRPr lang="en-US" sz="1320" dirty="0"/>
          </a:p>
        </p:txBody>
      </p:sp>
      <p:sp>
        <p:nvSpPr>
          <p:cNvPr id="9" name="Shape 7"/>
          <p:cNvSpPr/>
          <p:nvPr/>
        </p:nvSpPr>
        <p:spPr>
          <a:xfrm>
            <a:off x="4279392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718304" y="1051560"/>
            <a:ext cx="1417320" cy="105156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718304" y="1051560"/>
            <a:ext cx="1417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Sinh câu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ứng viên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227064" y="1581912"/>
            <a:ext cx="347472" cy="0"/>
          </a:xfrm>
          <a:prstGeom prst="line">
            <a:avLst/>
          </a:prstGeom>
          <a:noFill/>
          <a:ln w="25400">
            <a:solidFill>
              <a:srgbClr val="4F417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5976" y="960120"/>
            <a:ext cx="2011680" cy="1234440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65976" y="960120"/>
            <a:ext cx="20116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Kiểm tra</a:t>
            </a:r>
            <a:endParaRPr lang="en-US" sz="1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điều kiện chọn lọc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0292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Câu ứng viên phải trùng với một trong bốn câu ví dụ được truy hồi.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3127248"/>
            <a:ext cx="3840480" cy="107899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65192" y="3127248"/>
            <a:ext cx="3511296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Động từ đầu câu phải cùng lớp thao tác với câu ban đầu.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45920" y="4663440"/>
            <a:ext cx="2560320" cy="74980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64592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Đủ điều kiện → dùng câu mới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937760" y="4663440"/>
            <a:ext cx="2560320" cy="7498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937760" y="4663440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đủ → giữ câu ban đầu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11/25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Thực nghiệm và kết quả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một prompt, tinh chỉnh 3B cho mức tăng lớn hơn việc chỉ tăng kích thước mô hình lên 7B.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868680" y="1508760"/>
            <a:ext cx="71323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1508760"/>
            <a:ext cx="3017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886200" y="1508760"/>
            <a:ext cx="1965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52160" y="1508760"/>
            <a:ext cx="21488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7B Base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039112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</a:t>
            </a:r>
            <a:endParaRPr lang="en-US" sz="1380" dirty="0"/>
          </a:p>
        </p:txBody>
      </p:sp>
      <p:sp>
        <p:nvSpPr>
          <p:cNvPr id="10" name="Text 8"/>
          <p:cNvSpPr/>
          <p:nvPr/>
        </p:nvSpPr>
        <p:spPr>
          <a:xfrm>
            <a:off x="3886200" y="2039112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80" dirty="0"/>
          </a:p>
        </p:txBody>
      </p:sp>
      <p:sp>
        <p:nvSpPr>
          <p:cNvPr id="11" name="Text 9"/>
          <p:cNvSpPr/>
          <p:nvPr/>
        </p:nvSpPr>
        <p:spPr>
          <a:xfrm>
            <a:off x="5852160" y="2039112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−3,92</a:t>
            </a:r>
            <a:endParaRPr lang="en-US" sz="1380" dirty="0"/>
          </a:p>
        </p:txBody>
      </p:sp>
      <p:sp>
        <p:nvSpPr>
          <p:cNvPr id="12" name="Shape 10"/>
          <p:cNvSpPr/>
          <p:nvPr/>
        </p:nvSpPr>
        <p:spPr>
          <a:xfrm>
            <a:off x="868680" y="2697480"/>
            <a:ext cx="7132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868680" y="2697480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· Base</a:t>
            </a:r>
            <a:endParaRPr lang="en-US" sz="1380" dirty="0"/>
          </a:p>
        </p:txBody>
      </p:sp>
      <p:sp>
        <p:nvSpPr>
          <p:cNvPr id="14" name="Text 12"/>
          <p:cNvSpPr/>
          <p:nvPr/>
        </p:nvSpPr>
        <p:spPr>
          <a:xfrm>
            <a:off x="3886200" y="2697480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51,51</a:t>
            </a:r>
            <a:endParaRPr lang="en-US" sz="1380" dirty="0"/>
          </a:p>
        </p:txBody>
      </p:sp>
      <p:sp>
        <p:nvSpPr>
          <p:cNvPr id="15" name="Text 13"/>
          <p:cNvSpPr/>
          <p:nvPr/>
        </p:nvSpPr>
        <p:spPr>
          <a:xfrm>
            <a:off x="5852160" y="2697480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868680" y="3355848"/>
            <a:ext cx="7132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868680" y="3355848"/>
            <a:ext cx="3017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Baseline S1</a:t>
            </a:r>
            <a:endParaRPr lang="en-US" sz="1380" dirty="0"/>
          </a:p>
        </p:txBody>
      </p:sp>
      <p:sp>
        <p:nvSpPr>
          <p:cNvPr id="18" name="Text 16"/>
          <p:cNvSpPr/>
          <p:nvPr/>
        </p:nvSpPr>
        <p:spPr>
          <a:xfrm>
            <a:off x="3886200" y="3355848"/>
            <a:ext cx="19659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80" dirty="0"/>
          </a:p>
        </p:txBody>
      </p:sp>
      <p:sp>
        <p:nvSpPr>
          <p:cNvPr id="19" name="Text 17"/>
          <p:cNvSpPr/>
          <p:nvPr/>
        </p:nvSpPr>
        <p:spPr>
          <a:xfrm>
            <a:off x="5852160" y="3355848"/>
            <a:ext cx="21488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+7,60</a:t>
            </a:r>
            <a:endParaRPr lang="en-US" sz="1380" dirty="0"/>
          </a:p>
        </p:txBody>
      </p:sp>
      <p:sp>
        <p:nvSpPr>
          <p:cNvPr id="20" name="Shape 18"/>
          <p:cNvSpPr/>
          <p:nvPr/>
        </p:nvSpPr>
        <p:spPr>
          <a:xfrm>
            <a:off x="868680" y="4014216"/>
            <a:ext cx="71323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868680" y="4014216"/>
            <a:ext cx="30175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3B · GRPO-SPICE</a:t>
            </a:r>
            <a:endParaRPr lang="en-US" sz="1380" dirty="0"/>
          </a:p>
        </p:txBody>
      </p:sp>
      <p:sp>
        <p:nvSpPr>
          <p:cNvPr id="22" name="Text 20"/>
          <p:cNvSpPr/>
          <p:nvPr/>
        </p:nvSpPr>
        <p:spPr>
          <a:xfrm>
            <a:off x="3886200" y="4014216"/>
            <a:ext cx="1965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80" dirty="0"/>
          </a:p>
        </p:txBody>
      </p:sp>
      <p:sp>
        <p:nvSpPr>
          <p:cNvPr id="23" name="Text 21"/>
          <p:cNvSpPr/>
          <p:nvPr/>
        </p:nvSpPr>
        <p:spPr>
          <a:xfrm>
            <a:off x="5852160" y="4014216"/>
            <a:ext cx="2148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1380" dirty="0"/>
          </a:p>
        </p:txBody>
      </p:sp>
      <p:sp>
        <p:nvSpPr>
          <p:cNvPr id="24" name="Text 22"/>
          <p:cNvSpPr/>
          <p:nvPr/>
        </p:nvSpPr>
        <p:spPr>
          <a:xfrm>
            <a:off x="502920" y="5138928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7B Base dùng cùng prompt của 3B Base và không được tối ưu prompt riêng.</a:t>
            </a:r>
            <a:endParaRPr lang="en-US" sz="128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12/25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4.1. Vai trò của tín hiệu SPICE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Cùng 500 bước GRPO, nhánh dùng SPICE từ mẫu khác vẫn ở mức S1. GRPO-SPICE tăng +1,55 điểm.</a:t>
            </a:r>
            <a:endParaRPr lang="en-US" sz="1580" dirty="0"/>
          </a:p>
        </p:txBody>
      </p:sp>
      <p:sp>
        <p:nvSpPr>
          <p:cNvPr id="5" name="Shape 3"/>
          <p:cNvSpPr/>
          <p:nvPr/>
        </p:nvSpPr>
        <p:spPr>
          <a:xfrm>
            <a:off x="749808" y="1627632"/>
            <a:ext cx="781812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35584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 + điểm SPICE từ mẫu khác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61888" y="162763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4980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335584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59,11%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961888" y="2157984"/>
            <a:ext cx="26060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60,65%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578608" y="3090672"/>
            <a:ext cx="398678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Ở cột giữa, điểm SPICE được lấy từ một mẫu khác.</a:t>
            </a:r>
            <a:endParaRPr lang="en-US" sz="1340" dirty="0"/>
          </a:p>
        </p:txBody>
      </p:sp>
      <p:sp>
        <p:nvSpPr>
          <p:cNvPr id="13" name="Shape 11"/>
          <p:cNvSpPr/>
          <p:nvPr/>
        </p:nvSpPr>
        <p:spPr>
          <a:xfrm>
            <a:off x="1005840" y="4041648"/>
            <a:ext cx="7132320" cy="89611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4041648"/>
            <a:ext cx="676656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nhánh dùng SPICE từ mẫu khác +1,55 điểm · KTC 95% từ +0,81 đến +2,30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2920" y="5413248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chất lượng câu có KTC đều tăng trong cùng phép so sánh.</a:t>
            </a:r>
            <a:endParaRPr lang="en-US" sz="138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13/25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4.2. Kết quả trên tập kiểm chính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0392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7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cao hơn baseline S1 trên các độ đo chính.</a:t>
            </a:r>
            <a:endParaRPr lang="en-US" sz="1670" dirty="0"/>
          </a:p>
        </p:txBody>
      </p:sp>
      <p:sp>
        <p:nvSpPr>
          <p:cNvPr id="5" name="Shape 3"/>
          <p:cNvSpPr/>
          <p:nvPr/>
        </p:nvSpPr>
        <p:spPr>
          <a:xfrm>
            <a:off x="585216" y="3108960"/>
            <a:ext cx="7973568" cy="658368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85216" y="1389888"/>
            <a:ext cx="7973568" cy="56692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85216" y="1389888"/>
            <a:ext cx="18470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180" dirty="0"/>
          </a:p>
        </p:txBody>
      </p:sp>
      <p:sp>
        <p:nvSpPr>
          <p:cNvPr id="8" name="Text 6"/>
          <p:cNvSpPr/>
          <p:nvPr/>
        </p:nvSpPr>
        <p:spPr>
          <a:xfrm>
            <a:off x="2432304" y="138988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80" dirty="0"/>
          </a:p>
        </p:txBody>
      </p:sp>
      <p:sp>
        <p:nvSpPr>
          <p:cNvPr id="9" name="Text 7"/>
          <p:cNvSpPr/>
          <p:nvPr/>
        </p:nvSpPr>
        <p:spPr>
          <a:xfrm>
            <a:off x="3849624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80" dirty="0"/>
          </a:p>
        </p:txBody>
      </p:sp>
      <p:sp>
        <p:nvSpPr>
          <p:cNvPr id="10" name="Text 8"/>
          <p:cNvSpPr/>
          <p:nvPr/>
        </p:nvSpPr>
        <p:spPr>
          <a:xfrm>
            <a:off x="5111496" y="1389888"/>
            <a:ext cx="12618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80" dirty="0"/>
          </a:p>
        </p:txBody>
      </p:sp>
      <p:sp>
        <p:nvSpPr>
          <p:cNvPr id="11" name="Text 9"/>
          <p:cNvSpPr/>
          <p:nvPr/>
        </p:nvSpPr>
        <p:spPr>
          <a:xfrm>
            <a:off x="6373368" y="1389888"/>
            <a:ext cx="960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80" dirty="0"/>
          </a:p>
        </p:txBody>
      </p:sp>
      <p:sp>
        <p:nvSpPr>
          <p:cNvPr id="12" name="Text 10"/>
          <p:cNvSpPr/>
          <p:nvPr/>
        </p:nvSpPr>
        <p:spPr>
          <a:xfrm>
            <a:off x="7333488" y="1389888"/>
            <a:ext cx="12252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8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80" dirty="0"/>
          </a:p>
        </p:txBody>
      </p:sp>
      <p:sp>
        <p:nvSpPr>
          <p:cNvPr id="13" name="Text 11"/>
          <p:cNvSpPr/>
          <p:nvPr/>
        </p:nvSpPr>
        <p:spPr>
          <a:xfrm>
            <a:off x="585216" y="1956816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40" dirty="0"/>
          </a:p>
        </p:txBody>
      </p:sp>
      <p:sp>
        <p:nvSpPr>
          <p:cNvPr id="14" name="Text 12"/>
          <p:cNvSpPr/>
          <p:nvPr/>
        </p:nvSpPr>
        <p:spPr>
          <a:xfrm>
            <a:off x="2432304" y="1956816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340" dirty="0"/>
          </a:p>
        </p:txBody>
      </p:sp>
      <p:sp>
        <p:nvSpPr>
          <p:cNvPr id="15" name="Text 13"/>
          <p:cNvSpPr/>
          <p:nvPr/>
        </p:nvSpPr>
        <p:spPr>
          <a:xfrm>
            <a:off x="3849624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340" dirty="0"/>
          </a:p>
        </p:txBody>
      </p:sp>
      <p:sp>
        <p:nvSpPr>
          <p:cNvPr id="16" name="Text 14"/>
          <p:cNvSpPr/>
          <p:nvPr/>
        </p:nvSpPr>
        <p:spPr>
          <a:xfrm>
            <a:off x="5111496" y="1956816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340" dirty="0"/>
          </a:p>
        </p:txBody>
      </p:sp>
      <p:sp>
        <p:nvSpPr>
          <p:cNvPr id="17" name="Text 15"/>
          <p:cNvSpPr/>
          <p:nvPr/>
        </p:nvSpPr>
        <p:spPr>
          <a:xfrm>
            <a:off x="6373368" y="1956816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340" dirty="0"/>
          </a:p>
        </p:txBody>
      </p:sp>
      <p:sp>
        <p:nvSpPr>
          <p:cNvPr id="18" name="Text 16"/>
          <p:cNvSpPr/>
          <p:nvPr/>
        </p:nvSpPr>
        <p:spPr>
          <a:xfrm>
            <a:off x="7333488" y="1956816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340" dirty="0"/>
          </a:p>
        </p:txBody>
      </p:sp>
      <p:sp>
        <p:nvSpPr>
          <p:cNvPr id="19" name="Shape 17"/>
          <p:cNvSpPr/>
          <p:nvPr/>
        </p:nvSpPr>
        <p:spPr>
          <a:xfrm>
            <a:off x="585216" y="2560320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85216" y="2560320"/>
            <a:ext cx="184708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40" dirty="0"/>
          </a:p>
        </p:txBody>
      </p:sp>
      <p:sp>
        <p:nvSpPr>
          <p:cNvPr id="21" name="Text 19"/>
          <p:cNvSpPr/>
          <p:nvPr/>
        </p:nvSpPr>
        <p:spPr>
          <a:xfrm>
            <a:off x="2432304" y="2560320"/>
            <a:ext cx="14173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40" dirty="0"/>
          </a:p>
        </p:txBody>
      </p:sp>
      <p:sp>
        <p:nvSpPr>
          <p:cNvPr id="22" name="Text 20"/>
          <p:cNvSpPr/>
          <p:nvPr/>
        </p:nvSpPr>
        <p:spPr>
          <a:xfrm>
            <a:off x="3849624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340" dirty="0"/>
          </a:p>
        </p:txBody>
      </p:sp>
      <p:sp>
        <p:nvSpPr>
          <p:cNvPr id="23" name="Text 21"/>
          <p:cNvSpPr/>
          <p:nvPr/>
        </p:nvSpPr>
        <p:spPr>
          <a:xfrm>
            <a:off x="5111496" y="2560320"/>
            <a:ext cx="12618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340" dirty="0"/>
          </a:p>
        </p:txBody>
      </p:sp>
      <p:sp>
        <p:nvSpPr>
          <p:cNvPr id="24" name="Text 22"/>
          <p:cNvSpPr/>
          <p:nvPr/>
        </p:nvSpPr>
        <p:spPr>
          <a:xfrm>
            <a:off x="6373368" y="2560320"/>
            <a:ext cx="9601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340" dirty="0"/>
          </a:p>
        </p:txBody>
      </p:sp>
      <p:sp>
        <p:nvSpPr>
          <p:cNvPr id="25" name="Text 23"/>
          <p:cNvSpPr/>
          <p:nvPr/>
        </p:nvSpPr>
        <p:spPr>
          <a:xfrm>
            <a:off x="7333488" y="2560320"/>
            <a:ext cx="122529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340" dirty="0"/>
          </a:p>
        </p:txBody>
      </p:sp>
      <p:sp>
        <p:nvSpPr>
          <p:cNvPr id="26" name="Shape 24"/>
          <p:cNvSpPr/>
          <p:nvPr/>
        </p:nvSpPr>
        <p:spPr>
          <a:xfrm>
            <a:off x="585216" y="3163824"/>
            <a:ext cx="7973568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585216" y="3163824"/>
            <a:ext cx="18470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4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40" dirty="0"/>
          </a:p>
        </p:txBody>
      </p:sp>
      <p:sp>
        <p:nvSpPr>
          <p:cNvPr id="28" name="Text 26"/>
          <p:cNvSpPr/>
          <p:nvPr/>
        </p:nvSpPr>
        <p:spPr>
          <a:xfrm>
            <a:off x="2432304" y="316382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40" dirty="0"/>
          </a:p>
        </p:txBody>
      </p:sp>
      <p:sp>
        <p:nvSpPr>
          <p:cNvPr id="29" name="Text 27"/>
          <p:cNvSpPr/>
          <p:nvPr/>
        </p:nvSpPr>
        <p:spPr>
          <a:xfrm>
            <a:off x="3849624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340" dirty="0"/>
          </a:p>
        </p:txBody>
      </p:sp>
      <p:sp>
        <p:nvSpPr>
          <p:cNvPr id="30" name="Text 28"/>
          <p:cNvSpPr/>
          <p:nvPr/>
        </p:nvSpPr>
        <p:spPr>
          <a:xfrm>
            <a:off x="5111496" y="3163824"/>
            <a:ext cx="126187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340" dirty="0"/>
          </a:p>
        </p:txBody>
      </p:sp>
      <p:sp>
        <p:nvSpPr>
          <p:cNvPr id="31" name="Text 29"/>
          <p:cNvSpPr/>
          <p:nvPr/>
        </p:nvSpPr>
        <p:spPr>
          <a:xfrm>
            <a:off x="6373368" y="3163824"/>
            <a:ext cx="9601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340" dirty="0"/>
          </a:p>
        </p:txBody>
      </p:sp>
      <p:sp>
        <p:nvSpPr>
          <p:cNvPr id="32" name="Text 30"/>
          <p:cNvSpPr/>
          <p:nvPr/>
        </p:nvSpPr>
        <p:spPr>
          <a:xfrm>
            <a:off x="7333488" y="3163824"/>
            <a:ext cx="12252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4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340" dirty="0"/>
          </a:p>
        </p:txBody>
      </p:sp>
      <p:sp>
        <p:nvSpPr>
          <p:cNvPr id="33" name="Text 31"/>
          <p:cNvSpPr/>
          <p:nvPr/>
        </p:nvSpPr>
        <p:spPr>
          <a:xfrm>
            <a:off x="987552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34" name="Text 32"/>
          <p:cNvSpPr/>
          <p:nvPr/>
        </p:nvSpPr>
        <p:spPr>
          <a:xfrm>
            <a:off x="987552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520440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+1,52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3520440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6053328" y="4096512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+1,88</a:t>
            </a:r>
            <a:endParaRPr lang="en-US" sz="2400" dirty="0"/>
          </a:p>
        </p:txBody>
      </p:sp>
      <p:sp>
        <p:nvSpPr>
          <p:cNvPr id="38" name="Text 36"/>
          <p:cNvSpPr/>
          <p:nvPr/>
        </p:nvSpPr>
        <p:spPr>
          <a:xfrm>
            <a:off x="6053328" y="4626864"/>
            <a:ext cx="21031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502920" y="5486400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12/12 độ đo có KTC nằm trên 0. METEOR tăng nhưng chưa có KTC.</a:t>
            </a:r>
            <a:endParaRPr lang="en-US" sz="1360" dirty="0"/>
          </a:p>
        </p:txBody>
      </p:sp>
      <p:sp>
        <p:nvSpPr>
          <p:cNvPr id="40" name="Shape 3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14/25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4.3. Kết quả trên tác vụ mới (ACU)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ACU gồm 1.484 bước từ các tác vụ không xuất hiện trong huấn luyện S1.</a:t>
            </a:r>
            <a:endParaRPr lang="en-US" sz="1540" dirty="0"/>
          </a:p>
        </p:txBody>
      </p:sp>
      <p:sp>
        <p:nvSpPr>
          <p:cNvPr id="5" name="Shape 3"/>
          <p:cNvSpPr/>
          <p:nvPr/>
        </p:nvSpPr>
        <p:spPr>
          <a:xfrm>
            <a:off x="658368" y="1417320"/>
            <a:ext cx="8001000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417320"/>
            <a:ext cx="2423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3081528" y="1417320"/>
            <a:ext cx="1417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4498848" y="1417320"/>
            <a:ext cx="16916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S1</a:t>
            </a:r>
            <a:endParaRPr lang="en-US" sz="1270" dirty="0"/>
          </a:p>
        </p:txBody>
      </p:sp>
      <p:sp>
        <p:nvSpPr>
          <p:cNvPr id="9" name="Text 7"/>
          <p:cNvSpPr/>
          <p:nvPr/>
        </p:nvSpPr>
        <p:spPr>
          <a:xfrm>
            <a:off x="6190488" y="1417320"/>
            <a:ext cx="2468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70" dirty="0"/>
          </a:p>
        </p:txBody>
      </p:sp>
      <p:sp>
        <p:nvSpPr>
          <p:cNvPr id="10" name="Text 8"/>
          <p:cNvSpPr/>
          <p:nvPr/>
        </p:nvSpPr>
        <p:spPr>
          <a:xfrm>
            <a:off x="658368" y="1929384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081528" y="192938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49,80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98848" y="192938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190488" y="1929384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2514600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658368" y="2514600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081528" y="2514600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52,16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98848" y="251460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190488" y="2514600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58368" y="3099816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658368" y="3099816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· seed 202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081528" y="3099816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56,20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98848" y="309981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+4,04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190488" y="3099816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+2,66 đến +5,48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58368" y="3685032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658368" y="3685032"/>
            <a:ext cx="2423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081528" y="3685032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56,74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498848" y="3685032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190488" y="3685032"/>
            <a:ext cx="2468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+3,17 đến +6,05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58368" y="4270248"/>
            <a:ext cx="8001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658368" y="4270248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081528" y="4270248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57,01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498848" y="427024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+4,85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190488" y="427024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+3,43 đến +6,32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5257800"/>
            <a:ext cx="7406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6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Trên tập gộp 5.947 bước, GRPO-SPICE cao hơn S1 +2,30 điểm với KTC 95% từ +1,62 đến +2,99.</a:t>
            </a:r>
            <a:endParaRPr lang="en-US" sz="1360" dirty="0"/>
          </a:p>
        </p:txBody>
      </p:sp>
      <p:sp>
        <p:nvSpPr>
          <p:cNvPr id="35" name="Shape 3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15/25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4.4. Kết quả sau ACE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84124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60,68%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4124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9300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49300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GRPO-SPICE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44768" y="877824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7/7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44768" y="1408176"/>
            <a:ext cx="2148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 · CIDEr-D · SPICE · …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02920" y="1810512"/>
            <a:ext cx="8138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mức tương đương GRPO-SPICE và tiếp tục tăng các độ đo dựa trên câu chuẩn.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797296" y="2313432"/>
            <a:ext cx="1874520" cy="3511296"/>
          </a:xfrm>
          <a:prstGeom prst="rect">
            <a:avLst/>
          </a:prstGeom>
          <a:solidFill>
            <a:srgbClr val="F0EEF5"/>
          </a:solidFill>
          <a:ln w="12700">
            <a:solidFill>
              <a:srgbClr val="F0EEF5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313432"/>
            <a:ext cx="7388352" cy="43891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" y="231343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Chỉ số</a:t>
            </a:r>
            <a:endParaRPr lang="en-US" sz="1160" dirty="0"/>
          </a:p>
        </p:txBody>
      </p:sp>
      <p:sp>
        <p:nvSpPr>
          <p:cNvPr id="14" name="Text 12"/>
          <p:cNvSpPr/>
          <p:nvPr/>
        </p:nvSpPr>
        <p:spPr>
          <a:xfrm>
            <a:off x="2066544" y="231343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160" dirty="0"/>
          </a:p>
        </p:txBody>
      </p:sp>
      <p:sp>
        <p:nvSpPr>
          <p:cNvPr id="15" name="Text 13"/>
          <p:cNvSpPr/>
          <p:nvPr/>
        </p:nvSpPr>
        <p:spPr>
          <a:xfrm>
            <a:off x="3255264" y="231343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160" dirty="0"/>
          </a:p>
        </p:txBody>
      </p:sp>
      <p:sp>
        <p:nvSpPr>
          <p:cNvPr id="16" name="Text 14"/>
          <p:cNvSpPr/>
          <p:nvPr/>
        </p:nvSpPr>
        <p:spPr>
          <a:xfrm>
            <a:off x="4681728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160" dirty="0"/>
          </a:p>
        </p:txBody>
      </p:sp>
      <p:sp>
        <p:nvSpPr>
          <p:cNvPr id="17" name="Text 15"/>
          <p:cNvSpPr/>
          <p:nvPr/>
        </p:nvSpPr>
        <p:spPr>
          <a:xfrm>
            <a:off x="6291072" y="231343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6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160" dirty="0"/>
          </a:p>
        </p:txBody>
      </p:sp>
      <p:sp>
        <p:nvSpPr>
          <p:cNvPr id="18" name="Text 16"/>
          <p:cNvSpPr/>
          <p:nvPr/>
        </p:nvSpPr>
        <p:spPr>
          <a:xfrm>
            <a:off x="512064" y="275234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90" dirty="0"/>
          </a:p>
        </p:txBody>
      </p:sp>
      <p:sp>
        <p:nvSpPr>
          <p:cNvPr id="19" name="Text 17"/>
          <p:cNvSpPr/>
          <p:nvPr/>
        </p:nvSpPr>
        <p:spPr>
          <a:xfrm>
            <a:off x="2066544" y="275234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15,34</a:t>
            </a:r>
            <a:endParaRPr lang="en-US" sz="1190" dirty="0"/>
          </a:p>
        </p:txBody>
      </p:sp>
      <p:sp>
        <p:nvSpPr>
          <p:cNvPr id="20" name="Text 18"/>
          <p:cNvSpPr/>
          <p:nvPr/>
        </p:nvSpPr>
        <p:spPr>
          <a:xfrm>
            <a:off x="3255264" y="275234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90" dirty="0"/>
          </a:p>
        </p:txBody>
      </p:sp>
      <p:sp>
        <p:nvSpPr>
          <p:cNvPr id="21" name="Text 19"/>
          <p:cNvSpPr/>
          <p:nvPr/>
        </p:nvSpPr>
        <p:spPr>
          <a:xfrm>
            <a:off x="4681728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90" dirty="0"/>
          </a:p>
        </p:txBody>
      </p:sp>
      <p:sp>
        <p:nvSpPr>
          <p:cNvPr id="22" name="Text 20"/>
          <p:cNvSpPr/>
          <p:nvPr/>
        </p:nvSpPr>
        <p:spPr>
          <a:xfrm>
            <a:off x="6291072" y="275234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90" dirty="0"/>
          </a:p>
        </p:txBody>
      </p:sp>
      <p:sp>
        <p:nvSpPr>
          <p:cNvPr id="23" name="Shape 21"/>
          <p:cNvSpPr/>
          <p:nvPr/>
        </p:nvSpPr>
        <p:spPr>
          <a:xfrm>
            <a:off x="512064" y="319125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12064" y="319125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90" dirty="0"/>
          </a:p>
        </p:txBody>
      </p:sp>
      <p:sp>
        <p:nvSpPr>
          <p:cNvPr id="25" name="Text 23"/>
          <p:cNvSpPr/>
          <p:nvPr/>
        </p:nvSpPr>
        <p:spPr>
          <a:xfrm>
            <a:off x="2066544" y="319125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24,58</a:t>
            </a:r>
            <a:endParaRPr lang="en-US" sz="1190" dirty="0"/>
          </a:p>
        </p:txBody>
      </p:sp>
      <p:sp>
        <p:nvSpPr>
          <p:cNvPr id="26" name="Text 24"/>
          <p:cNvSpPr/>
          <p:nvPr/>
        </p:nvSpPr>
        <p:spPr>
          <a:xfrm>
            <a:off x="3255264" y="319125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90" dirty="0"/>
          </a:p>
        </p:txBody>
      </p:sp>
      <p:sp>
        <p:nvSpPr>
          <p:cNvPr id="27" name="Text 25"/>
          <p:cNvSpPr/>
          <p:nvPr/>
        </p:nvSpPr>
        <p:spPr>
          <a:xfrm>
            <a:off x="4681728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90" dirty="0"/>
          </a:p>
        </p:txBody>
      </p:sp>
      <p:sp>
        <p:nvSpPr>
          <p:cNvPr id="28" name="Text 26"/>
          <p:cNvSpPr/>
          <p:nvPr/>
        </p:nvSpPr>
        <p:spPr>
          <a:xfrm>
            <a:off x="6291072" y="319125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90" dirty="0"/>
          </a:p>
        </p:txBody>
      </p:sp>
      <p:sp>
        <p:nvSpPr>
          <p:cNvPr id="29" name="Shape 27"/>
          <p:cNvSpPr/>
          <p:nvPr/>
        </p:nvSpPr>
        <p:spPr>
          <a:xfrm>
            <a:off x="512064" y="3630168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512064" y="3630168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90" dirty="0"/>
          </a:p>
        </p:txBody>
      </p:sp>
      <p:sp>
        <p:nvSpPr>
          <p:cNvPr id="31" name="Text 29"/>
          <p:cNvSpPr/>
          <p:nvPr/>
        </p:nvSpPr>
        <p:spPr>
          <a:xfrm>
            <a:off x="2066544" y="3630168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42,31</a:t>
            </a:r>
            <a:endParaRPr lang="en-US" sz="1190" dirty="0"/>
          </a:p>
        </p:txBody>
      </p:sp>
      <p:sp>
        <p:nvSpPr>
          <p:cNvPr id="32" name="Text 30"/>
          <p:cNvSpPr/>
          <p:nvPr/>
        </p:nvSpPr>
        <p:spPr>
          <a:xfrm>
            <a:off x="3255264" y="3630168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90" dirty="0"/>
          </a:p>
        </p:txBody>
      </p:sp>
      <p:sp>
        <p:nvSpPr>
          <p:cNvPr id="33" name="Text 31"/>
          <p:cNvSpPr/>
          <p:nvPr/>
        </p:nvSpPr>
        <p:spPr>
          <a:xfrm>
            <a:off x="4681728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90" dirty="0"/>
          </a:p>
        </p:txBody>
      </p:sp>
      <p:sp>
        <p:nvSpPr>
          <p:cNvPr id="34" name="Text 32"/>
          <p:cNvSpPr/>
          <p:nvPr/>
        </p:nvSpPr>
        <p:spPr>
          <a:xfrm>
            <a:off x="6291072" y="3630168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90" dirty="0"/>
          </a:p>
        </p:txBody>
      </p:sp>
      <p:sp>
        <p:nvSpPr>
          <p:cNvPr id="35" name="Shape 33"/>
          <p:cNvSpPr/>
          <p:nvPr/>
        </p:nvSpPr>
        <p:spPr>
          <a:xfrm>
            <a:off x="512064" y="4069080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512064" y="4069080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90" dirty="0"/>
          </a:p>
        </p:txBody>
      </p:sp>
      <p:sp>
        <p:nvSpPr>
          <p:cNvPr id="37" name="Text 35"/>
          <p:cNvSpPr/>
          <p:nvPr/>
        </p:nvSpPr>
        <p:spPr>
          <a:xfrm>
            <a:off x="2066544" y="4069080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88,01</a:t>
            </a:r>
            <a:endParaRPr lang="en-US" sz="1190" dirty="0"/>
          </a:p>
        </p:txBody>
      </p:sp>
      <p:sp>
        <p:nvSpPr>
          <p:cNvPr id="38" name="Text 36"/>
          <p:cNvSpPr/>
          <p:nvPr/>
        </p:nvSpPr>
        <p:spPr>
          <a:xfrm>
            <a:off x="3255264" y="4069080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90" dirty="0"/>
          </a:p>
        </p:txBody>
      </p:sp>
      <p:sp>
        <p:nvSpPr>
          <p:cNvPr id="39" name="Text 37"/>
          <p:cNvSpPr/>
          <p:nvPr/>
        </p:nvSpPr>
        <p:spPr>
          <a:xfrm>
            <a:off x="4681728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90" dirty="0"/>
          </a:p>
        </p:txBody>
      </p:sp>
      <p:sp>
        <p:nvSpPr>
          <p:cNvPr id="40" name="Text 38"/>
          <p:cNvSpPr/>
          <p:nvPr/>
        </p:nvSpPr>
        <p:spPr>
          <a:xfrm>
            <a:off x="6291072" y="4069080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90" dirty="0"/>
          </a:p>
        </p:txBody>
      </p:sp>
      <p:sp>
        <p:nvSpPr>
          <p:cNvPr id="41" name="Shape 39"/>
          <p:cNvSpPr/>
          <p:nvPr/>
        </p:nvSpPr>
        <p:spPr>
          <a:xfrm>
            <a:off x="512064" y="4507992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512064" y="4507992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90" dirty="0"/>
          </a:p>
        </p:txBody>
      </p:sp>
      <p:sp>
        <p:nvSpPr>
          <p:cNvPr id="43" name="Text 41"/>
          <p:cNvSpPr/>
          <p:nvPr/>
        </p:nvSpPr>
        <p:spPr>
          <a:xfrm>
            <a:off x="2066544" y="4507992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18,48</a:t>
            </a:r>
            <a:endParaRPr lang="en-US" sz="1190" dirty="0"/>
          </a:p>
        </p:txBody>
      </p:sp>
      <p:sp>
        <p:nvSpPr>
          <p:cNvPr id="44" name="Text 42"/>
          <p:cNvSpPr/>
          <p:nvPr/>
        </p:nvSpPr>
        <p:spPr>
          <a:xfrm>
            <a:off x="3255264" y="4507992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90" dirty="0"/>
          </a:p>
        </p:txBody>
      </p:sp>
      <p:sp>
        <p:nvSpPr>
          <p:cNvPr id="45" name="Text 43"/>
          <p:cNvSpPr/>
          <p:nvPr/>
        </p:nvSpPr>
        <p:spPr>
          <a:xfrm>
            <a:off x="4681728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90" dirty="0"/>
          </a:p>
        </p:txBody>
      </p:sp>
      <p:sp>
        <p:nvSpPr>
          <p:cNvPr id="46" name="Text 44"/>
          <p:cNvSpPr/>
          <p:nvPr/>
        </p:nvSpPr>
        <p:spPr>
          <a:xfrm>
            <a:off x="6291072" y="4507992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90" dirty="0"/>
          </a:p>
        </p:txBody>
      </p:sp>
      <p:sp>
        <p:nvSpPr>
          <p:cNvPr id="47" name="Shape 45"/>
          <p:cNvSpPr/>
          <p:nvPr/>
        </p:nvSpPr>
        <p:spPr>
          <a:xfrm>
            <a:off x="512064" y="4946904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8" name="Text 46"/>
          <p:cNvSpPr/>
          <p:nvPr/>
        </p:nvSpPr>
        <p:spPr>
          <a:xfrm>
            <a:off x="512064" y="4946904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90" dirty="0"/>
          </a:p>
        </p:txBody>
      </p:sp>
      <p:sp>
        <p:nvSpPr>
          <p:cNvPr id="49" name="Text 47"/>
          <p:cNvSpPr/>
          <p:nvPr/>
        </p:nvSpPr>
        <p:spPr>
          <a:xfrm>
            <a:off x="2066544" y="4946904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40,18</a:t>
            </a:r>
            <a:endParaRPr lang="en-US" sz="1190" dirty="0"/>
          </a:p>
        </p:txBody>
      </p:sp>
      <p:sp>
        <p:nvSpPr>
          <p:cNvPr id="50" name="Text 48"/>
          <p:cNvSpPr/>
          <p:nvPr/>
        </p:nvSpPr>
        <p:spPr>
          <a:xfrm>
            <a:off x="3255264" y="4946904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90" dirty="0"/>
          </a:p>
        </p:txBody>
      </p:sp>
      <p:sp>
        <p:nvSpPr>
          <p:cNvPr id="51" name="Text 49"/>
          <p:cNvSpPr/>
          <p:nvPr/>
        </p:nvSpPr>
        <p:spPr>
          <a:xfrm>
            <a:off x="4681728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90" dirty="0"/>
          </a:p>
        </p:txBody>
      </p:sp>
      <p:sp>
        <p:nvSpPr>
          <p:cNvPr id="52" name="Text 50"/>
          <p:cNvSpPr/>
          <p:nvPr/>
        </p:nvSpPr>
        <p:spPr>
          <a:xfrm>
            <a:off x="6291072" y="4946904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90" dirty="0"/>
          </a:p>
        </p:txBody>
      </p:sp>
      <p:sp>
        <p:nvSpPr>
          <p:cNvPr id="53" name="Shape 51"/>
          <p:cNvSpPr/>
          <p:nvPr/>
        </p:nvSpPr>
        <p:spPr>
          <a:xfrm>
            <a:off x="512064" y="5385816"/>
            <a:ext cx="738835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4" name="Text 52"/>
          <p:cNvSpPr/>
          <p:nvPr/>
        </p:nvSpPr>
        <p:spPr>
          <a:xfrm>
            <a:off x="512064" y="5385816"/>
            <a:ext cx="1554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90" dirty="0"/>
          </a:p>
        </p:txBody>
      </p:sp>
      <p:sp>
        <p:nvSpPr>
          <p:cNvPr id="55" name="Text 53"/>
          <p:cNvSpPr/>
          <p:nvPr/>
        </p:nvSpPr>
        <p:spPr>
          <a:xfrm>
            <a:off x="2066544" y="5385816"/>
            <a:ext cx="1188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90" dirty="0"/>
          </a:p>
        </p:txBody>
      </p:sp>
      <p:sp>
        <p:nvSpPr>
          <p:cNvPr id="56" name="Text 54"/>
          <p:cNvSpPr/>
          <p:nvPr/>
        </p:nvSpPr>
        <p:spPr>
          <a:xfrm>
            <a:off x="3255264" y="5385816"/>
            <a:ext cx="142646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90" dirty="0"/>
          </a:p>
        </p:txBody>
      </p:sp>
      <p:sp>
        <p:nvSpPr>
          <p:cNvPr id="57" name="Text 55"/>
          <p:cNvSpPr/>
          <p:nvPr/>
        </p:nvSpPr>
        <p:spPr>
          <a:xfrm>
            <a:off x="4681728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90" dirty="0"/>
          </a:p>
        </p:txBody>
      </p:sp>
      <p:sp>
        <p:nvSpPr>
          <p:cNvPr id="58" name="Text 56"/>
          <p:cNvSpPr/>
          <p:nvPr/>
        </p:nvSpPr>
        <p:spPr>
          <a:xfrm>
            <a:off x="6291072" y="5385816"/>
            <a:ext cx="16093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9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90" dirty="0"/>
          </a:p>
        </p:txBody>
      </p:sp>
      <p:sp>
        <p:nvSpPr>
          <p:cNvPr id="59" name="Text 57"/>
          <p:cNvSpPr/>
          <p:nvPr/>
        </p:nvSpPr>
        <p:spPr>
          <a:xfrm>
            <a:off x="502920" y="5879592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6/6 độ đo có KTC nằm trên 0. METEOR chưa có KTC.</a:t>
            </a:r>
            <a:endParaRPr lang="en-US" sz="1280" dirty="0"/>
          </a:p>
        </p:txBody>
      </p:sp>
      <p:sp>
        <p:nvSpPr>
          <p:cNvPr id="60" name="Shape 5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67" name="Text 6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16/25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4.5. Đối chiếu với bốn mô hình định vị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được tính lại bằng bốn mô hình định vị để kiểm tra độ ổn định của kết quả.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530352" y="1353312"/>
            <a:ext cx="7662672" cy="49377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353312"/>
            <a:ext cx="19933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252374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394106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230" dirty="0"/>
          </a:p>
        </p:txBody>
      </p:sp>
      <p:sp>
        <p:nvSpPr>
          <p:cNvPr id="9" name="Text 7"/>
          <p:cNvSpPr/>
          <p:nvPr/>
        </p:nvSpPr>
        <p:spPr>
          <a:xfrm>
            <a:off x="535838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6775704" y="1353312"/>
            <a:ext cx="14173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230" dirty="0"/>
          </a:p>
        </p:txBody>
      </p:sp>
      <p:sp>
        <p:nvSpPr>
          <p:cNvPr id="11" name="Text 9"/>
          <p:cNvSpPr/>
          <p:nvPr/>
        </p:nvSpPr>
        <p:spPr>
          <a:xfrm>
            <a:off x="530352" y="1847088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80" dirty="0"/>
          </a:p>
        </p:txBody>
      </p:sp>
      <p:sp>
        <p:nvSpPr>
          <p:cNvPr id="12" name="Text 10"/>
          <p:cNvSpPr/>
          <p:nvPr/>
        </p:nvSpPr>
        <p:spPr>
          <a:xfrm>
            <a:off x="252374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280" dirty="0"/>
          </a:p>
        </p:txBody>
      </p:sp>
      <p:sp>
        <p:nvSpPr>
          <p:cNvPr id="13" name="Text 11"/>
          <p:cNvSpPr/>
          <p:nvPr/>
        </p:nvSpPr>
        <p:spPr>
          <a:xfrm>
            <a:off x="394106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280" dirty="0"/>
          </a:p>
        </p:txBody>
      </p:sp>
      <p:sp>
        <p:nvSpPr>
          <p:cNvPr id="14" name="Text 12"/>
          <p:cNvSpPr/>
          <p:nvPr/>
        </p:nvSpPr>
        <p:spPr>
          <a:xfrm>
            <a:off x="535838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40,80</a:t>
            </a:r>
            <a:endParaRPr lang="en-US" sz="1280" dirty="0"/>
          </a:p>
        </p:txBody>
      </p:sp>
      <p:sp>
        <p:nvSpPr>
          <p:cNvPr id="15" name="Text 13"/>
          <p:cNvSpPr/>
          <p:nvPr/>
        </p:nvSpPr>
        <p:spPr>
          <a:xfrm>
            <a:off x="6775704" y="184708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38,23</a:t>
            </a:r>
            <a:endParaRPr lang="en-US" sz="1280" dirty="0"/>
          </a:p>
        </p:txBody>
      </p:sp>
      <p:sp>
        <p:nvSpPr>
          <p:cNvPr id="16" name="Shape 14"/>
          <p:cNvSpPr/>
          <p:nvPr/>
        </p:nvSpPr>
        <p:spPr>
          <a:xfrm>
            <a:off x="530352" y="2395728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530352" y="2395728"/>
            <a:ext cx="1993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280" dirty="0"/>
          </a:p>
        </p:txBody>
      </p:sp>
      <p:sp>
        <p:nvSpPr>
          <p:cNvPr id="18" name="Text 16"/>
          <p:cNvSpPr/>
          <p:nvPr/>
        </p:nvSpPr>
        <p:spPr>
          <a:xfrm>
            <a:off x="252374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280" dirty="0"/>
          </a:p>
        </p:txBody>
      </p:sp>
      <p:sp>
        <p:nvSpPr>
          <p:cNvPr id="19" name="Text 17"/>
          <p:cNvSpPr/>
          <p:nvPr/>
        </p:nvSpPr>
        <p:spPr>
          <a:xfrm>
            <a:off x="394106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54,51</a:t>
            </a:r>
            <a:endParaRPr lang="en-US" sz="1280" dirty="0"/>
          </a:p>
        </p:txBody>
      </p:sp>
      <p:sp>
        <p:nvSpPr>
          <p:cNvPr id="20" name="Text 18"/>
          <p:cNvSpPr/>
          <p:nvPr/>
        </p:nvSpPr>
        <p:spPr>
          <a:xfrm>
            <a:off x="535838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46,96</a:t>
            </a:r>
            <a:endParaRPr lang="en-US" sz="1280" dirty="0"/>
          </a:p>
        </p:txBody>
      </p:sp>
      <p:sp>
        <p:nvSpPr>
          <p:cNvPr id="21" name="Text 19"/>
          <p:cNvSpPr/>
          <p:nvPr/>
        </p:nvSpPr>
        <p:spPr>
          <a:xfrm>
            <a:off x="6775704" y="2395728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44,63</a:t>
            </a:r>
            <a:endParaRPr lang="en-US" sz="1280" dirty="0"/>
          </a:p>
        </p:txBody>
      </p:sp>
      <p:sp>
        <p:nvSpPr>
          <p:cNvPr id="22" name="Shape 20"/>
          <p:cNvSpPr/>
          <p:nvPr/>
        </p:nvSpPr>
        <p:spPr>
          <a:xfrm>
            <a:off x="530352" y="2944368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530352" y="2944368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280" dirty="0"/>
          </a:p>
        </p:txBody>
      </p:sp>
      <p:sp>
        <p:nvSpPr>
          <p:cNvPr id="24" name="Text 22"/>
          <p:cNvSpPr/>
          <p:nvPr/>
        </p:nvSpPr>
        <p:spPr>
          <a:xfrm>
            <a:off x="252374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280" dirty="0"/>
          </a:p>
        </p:txBody>
      </p:sp>
      <p:sp>
        <p:nvSpPr>
          <p:cNvPr id="25" name="Text 23"/>
          <p:cNvSpPr/>
          <p:nvPr/>
        </p:nvSpPr>
        <p:spPr>
          <a:xfrm>
            <a:off x="394106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56,06</a:t>
            </a:r>
            <a:endParaRPr lang="en-US" sz="1280" dirty="0"/>
          </a:p>
        </p:txBody>
      </p:sp>
      <p:sp>
        <p:nvSpPr>
          <p:cNvPr id="26" name="Text 24"/>
          <p:cNvSpPr/>
          <p:nvPr/>
        </p:nvSpPr>
        <p:spPr>
          <a:xfrm>
            <a:off x="535838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47,75</a:t>
            </a:r>
            <a:endParaRPr lang="en-US" sz="1280" dirty="0"/>
          </a:p>
        </p:txBody>
      </p:sp>
      <p:sp>
        <p:nvSpPr>
          <p:cNvPr id="27" name="Text 25"/>
          <p:cNvSpPr/>
          <p:nvPr/>
        </p:nvSpPr>
        <p:spPr>
          <a:xfrm>
            <a:off x="6775704" y="2944368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45,33</a:t>
            </a:r>
            <a:endParaRPr lang="en-US" sz="1280" dirty="0"/>
          </a:p>
        </p:txBody>
      </p:sp>
      <p:sp>
        <p:nvSpPr>
          <p:cNvPr id="28" name="Shape 26"/>
          <p:cNvSpPr/>
          <p:nvPr/>
        </p:nvSpPr>
        <p:spPr>
          <a:xfrm>
            <a:off x="530352" y="3511296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530352" y="3511296"/>
            <a:ext cx="19933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280" dirty="0"/>
          </a:p>
        </p:txBody>
      </p:sp>
      <p:sp>
        <p:nvSpPr>
          <p:cNvPr id="30" name="Text 28"/>
          <p:cNvSpPr/>
          <p:nvPr/>
        </p:nvSpPr>
        <p:spPr>
          <a:xfrm>
            <a:off x="252374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280" dirty="0"/>
          </a:p>
        </p:txBody>
      </p:sp>
      <p:sp>
        <p:nvSpPr>
          <p:cNvPr id="31" name="Text 29"/>
          <p:cNvSpPr/>
          <p:nvPr/>
        </p:nvSpPr>
        <p:spPr>
          <a:xfrm>
            <a:off x="394106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56,20</a:t>
            </a:r>
            <a:endParaRPr lang="en-US" sz="1280" dirty="0"/>
          </a:p>
        </p:txBody>
      </p:sp>
      <p:sp>
        <p:nvSpPr>
          <p:cNvPr id="32" name="Text 30"/>
          <p:cNvSpPr/>
          <p:nvPr/>
        </p:nvSpPr>
        <p:spPr>
          <a:xfrm>
            <a:off x="535838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47,73</a:t>
            </a:r>
            <a:endParaRPr lang="en-US" sz="1280" dirty="0"/>
          </a:p>
        </p:txBody>
      </p:sp>
      <p:sp>
        <p:nvSpPr>
          <p:cNvPr id="33" name="Text 31"/>
          <p:cNvSpPr/>
          <p:nvPr/>
        </p:nvSpPr>
        <p:spPr>
          <a:xfrm>
            <a:off x="6775704" y="3511296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45,33</a:t>
            </a:r>
            <a:endParaRPr lang="en-US" sz="1280" dirty="0"/>
          </a:p>
        </p:txBody>
      </p:sp>
      <p:sp>
        <p:nvSpPr>
          <p:cNvPr id="34" name="Shape 32"/>
          <p:cNvSpPr/>
          <p:nvPr/>
        </p:nvSpPr>
        <p:spPr>
          <a:xfrm>
            <a:off x="530352" y="4078224"/>
            <a:ext cx="7662672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5" name="Text 33"/>
          <p:cNvSpPr/>
          <p:nvPr/>
        </p:nvSpPr>
        <p:spPr>
          <a:xfrm>
            <a:off x="530352" y="4078224"/>
            <a:ext cx="19933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6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GRPO-SPICE − S1</a:t>
            </a:r>
            <a:endParaRPr lang="en-US" sz="1260" dirty="0"/>
          </a:p>
        </p:txBody>
      </p:sp>
      <p:sp>
        <p:nvSpPr>
          <p:cNvPr id="36" name="Text 34"/>
          <p:cNvSpPr/>
          <p:nvPr/>
        </p:nvSpPr>
        <p:spPr>
          <a:xfrm>
            <a:off x="252374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260" dirty="0"/>
          </a:p>
        </p:txBody>
      </p:sp>
      <p:sp>
        <p:nvSpPr>
          <p:cNvPr id="37" name="Text 35"/>
          <p:cNvSpPr/>
          <p:nvPr/>
        </p:nvSpPr>
        <p:spPr>
          <a:xfrm>
            <a:off x="394106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260" dirty="0"/>
          </a:p>
        </p:txBody>
      </p:sp>
      <p:sp>
        <p:nvSpPr>
          <p:cNvPr id="38" name="Text 36"/>
          <p:cNvSpPr/>
          <p:nvPr/>
        </p:nvSpPr>
        <p:spPr>
          <a:xfrm>
            <a:off x="535838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260" dirty="0"/>
          </a:p>
        </p:txBody>
      </p:sp>
      <p:sp>
        <p:nvSpPr>
          <p:cNvPr id="39" name="Text 37"/>
          <p:cNvSpPr/>
          <p:nvPr/>
        </p:nvSpPr>
        <p:spPr>
          <a:xfrm>
            <a:off x="6775704" y="4078224"/>
            <a:ext cx="141732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6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260" dirty="0"/>
          </a:p>
        </p:txBody>
      </p:sp>
      <p:sp>
        <p:nvSpPr>
          <p:cNvPr id="40" name="Text 38"/>
          <p:cNvSpPr/>
          <p:nvPr/>
        </p:nvSpPr>
        <p:spPr>
          <a:xfrm>
            <a:off x="502920" y="5047488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9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của bốn mức tăng đều nằm trên 0. Dấu —: chưa có kết quả Base đầy đủ.</a:t>
            </a:r>
            <a:endParaRPr lang="en-US" sz="1290" dirty="0"/>
          </a:p>
        </p:txBody>
      </p:sp>
      <p:sp>
        <p:nvSpPr>
          <p:cNvPr id="41" name="Shape 3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17/25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4.6. Lịch sử do mô hình tự sinh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59536"/>
            <a:ext cx="8138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lịch sử các bước trước do chính mô hình sinh, mức tăng của GRPO-SPICE vẫn được giữ.</a:t>
            </a:r>
            <a:endParaRPr lang="en-US" sz="1540" dirty="0"/>
          </a:p>
        </p:txBody>
      </p:sp>
      <p:sp>
        <p:nvSpPr>
          <p:cNvPr id="5" name="Shape 3"/>
          <p:cNvSpPr/>
          <p:nvPr/>
        </p:nvSpPr>
        <p:spPr>
          <a:xfrm>
            <a:off x="960120" y="1572768"/>
            <a:ext cx="6858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72768"/>
            <a:ext cx="28346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794760" y="1572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chuẩn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06440" y="157276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Lịch sử tự sinh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2103120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794760" y="210312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806440" y="2103120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54,96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60120" y="2816352"/>
            <a:ext cx="6858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816352"/>
            <a:ext cx="2834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794760" y="28163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806440" y="2816352"/>
            <a:ext cx="2011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56,44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960120" y="3529584"/>
            <a:ext cx="685800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3529584"/>
            <a:ext cx="28346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GRPO-SPICE − S1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794760" y="352958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806440" y="3529584"/>
            <a:ext cx="20116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+1,48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02920" y="4718304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với lịch sử tự sinh: +0,54 đến +2,43.</a:t>
            </a:r>
            <a:endParaRPr lang="en-US" sz="1320" dirty="0"/>
          </a:p>
        </p:txBody>
      </p:sp>
      <p:sp>
        <p:nvSpPr>
          <p:cNvPr id="21" name="Text 19"/>
          <p:cNvSpPr/>
          <p:nvPr/>
        </p:nvSpPr>
        <p:spPr>
          <a:xfrm>
            <a:off x="502920" y="5230368"/>
            <a:ext cx="8138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2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mô hình đều giảm khoảng 4 điểm khi chuyển từ lịch sử chuẩn sang lịch sử tự sinh.</a:t>
            </a:r>
            <a:endParaRPr lang="en-US" sz="1320" dirty="0"/>
          </a:p>
        </p:txBody>
      </p:sp>
      <p:sp>
        <p:nvSpPr>
          <p:cNvPr id="22" name="Shape 20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18/25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4.7. Chuyển miền sang AitZ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4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là bộ dữ liệu giao diện khác, dùng để kiểm tra khả năng chuyển miền.</a:t>
            </a:r>
            <a:endParaRPr lang="en-US" sz="1540" dirty="0"/>
          </a:p>
        </p:txBody>
      </p:sp>
      <p:sp>
        <p:nvSpPr>
          <p:cNvPr id="5" name="Shape 3"/>
          <p:cNvSpPr/>
          <p:nvPr/>
        </p:nvSpPr>
        <p:spPr>
          <a:xfrm>
            <a:off x="841248" y="1444752"/>
            <a:ext cx="7955280" cy="51206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444752"/>
            <a:ext cx="25146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hình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3355848" y="1444752"/>
            <a:ext cx="1508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4864608" y="1444752"/>
            <a:ext cx="1783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S1</a:t>
            </a:r>
            <a:endParaRPr lang="en-US" sz="1270" dirty="0"/>
          </a:p>
        </p:txBody>
      </p:sp>
      <p:sp>
        <p:nvSpPr>
          <p:cNvPr id="9" name="Text 7"/>
          <p:cNvSpPr/>
          <p:nvPr/>
        </p:nvSpPr>
        <p:spPr>
          <a:xfrm>
            <a:off x="6647688" y="1444752"/>
            <a:ext cx="21488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270" dirty="0"/>
          </a:p>
        </p:txBody>
      </p:sp>
      <p:sp>
        <p:nvSpPr>
          <p:cNvPr id="10" name="Text 8"/>
          <p:cNvSpPr/>
          <p:nvPr/>
        </p:nvSpPr>
        <p:spPr>
          <a:xfrm>
            <a:off x="841248" y="1956816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355848" y="1956816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34,50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864608" y="1956816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−3,29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47688" y="1956816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−5,03 đến −1,51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41248" y="25786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841248" y="2578608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55848" y="2578608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37,79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64608" y="2578608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647688" y="2578608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41248" y="320040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841248" y="3200400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355848" y="3200400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864608" y="3200400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647688" y="3200400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−1,39 đến +0,36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41248" y="382219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841248" y="3822192"/>
            <a:ext cx="2514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355848" y="3822192"/>
            <a:ext cx="15087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37,28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64608" y="3822192"/>
            <a:ext cx="17830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−0,51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647688" y="3822192"/>
            <a:ext cx="2148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−1,39 đến +0,36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02920" y="5065776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 vẫn cao hơn Base. GRPO-SPICE và ACE không khác rõ S1 về executability.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19/25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4.8. Ví dụ định tính</a:t>
            </a:r>
            <a:endParaRPr lang="en-US" sz="1820" dirty="0"/>
          </a:p>
        </p:txBody>
      </p:sp>
      <p:pic>
        <p:nvPicPr>
          <p:cNvPr id="4" name="Image 0" descr="/mnt/d/Master/Thesis/thesis/figures/fig_vidu_sp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868680"/>
            <a:ext cx="3886200" cy="448970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828032" y="987552"/>
            <a:ext cx="3611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Bước cần thực hiện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4983480" y="1389888"/>
            <a:ext cx="3310128" cy="65836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983480" y="1389888"/>
            <a:ext cx="33101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Chạm nút “Not now”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828032" y="2468880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4983480" y="2816352"/>
            <a:ext cx="3310128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983480" y="2816352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nhầm “Allow”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sai phần tử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828032" y="4041648"/>
            <a:ext cx="3611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550" dirty="0"/>
          </a:p>
        </p:txBody>
      </p:sp>
      <p:sp>
        <p:nvSpPr>
          <p:cNvPr id="12" name="Shape 9"/>
          <p:cNvSpPr/>
          <p:nvPr/>
        </p:nvSpPr>
        <p:spPr>
          <a:xfrm>
            <a:off x="4983480" y="4389120"/>
            <a:ext cx="3310128" cy="84124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389120"/>
            <a:ext cx="3310128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Gọi đúng “Not now”</a:t>
            </a:r>
            <a:endParaRPr lang="en-US" sz="14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→ định vị đúng phần tử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502920" y="5596128"/>
            <a:ext cx="8138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8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 dụ minh họa trực tiếp ý nghĩa của executability: câu chuyển từ quy chiếu sai nút sang đúng nút cần chạm.</a:t>
            </a:r>
            <a:endParaRPr lang="en-US" sz="1380" dirty="0"/>
          </a:p>
        </p:txBody>
      </p:sp>
      <p:sp>
        <p:nvSpPr>
          <p:cNvPr id="15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20/25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4.9. Biến thiên giữa hai seed GRPO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41248"/>
            <a:ext cx="81381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Hai lượt GRPO-SPICE dùng cùng điểm khởi tạo S1/101 và chỉ khác seed của giai đoạn GRPO.</a:t>
            </a:r>
            <a:endParaRPr lang="en-US" sz="1520" dirty="0"/>
          </a:p>
        </p:txBody>
      </p:sp>
      <p:sp>
        <p:nvSpPr>
          <p:cNvPr id="5" name="Shape 3"/>
          <p:cNvSpPr/>
          <p:nvPr/>
        </p:nvSpPr>
        <p:spPr>
          <a:xfrm>
            <a:off x="658368" y="1536192"/>
            <a:ext cx="841248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536192"/>
            <a:ext cx="2514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Lượt chạy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172968" y="153619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24528" y="1536192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41848" y="1536192"/>
            <a:ext cx="1600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S1/101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242048" y="1536192"/>
            <a:ext cx="1828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so với seed 101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" y="2066544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 S1/101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172968" y="2066544"/>
            <a:ext cx="1051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224528" y="2066544"/>
            <a:ext cx="1417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641848" y="2066544"/>
            <a:ext cx="1600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242048" y="2066544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" y="2706624"/>
            <a:ext cx="8412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658368" y="2706624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172968" y="2706624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224528" y="2706624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641848" y="2706624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242048" y="2706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—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58368" y="3364992"/>
            <a:ext cx="84124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3" name="Text 21"/>
          <p:cNvSpPr/>
          <p:nvPr/>
        </p:nvSpPr>
        <p:spPr>
          <a:xfrm>
            <a:off x="658368" y="3364992"/>
            <a:ext cx="2514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172968" y="3364992"/>
            <a:ext cx="1051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224528" y="3364992"/>
            <a:ext cx="1417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59,94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641848" y="3364992"/>
            <a:ext cx="1600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+0,83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242048" y="336499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−0,72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932688" y="4617720"/>
            <a:ext cx="7278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2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Seed 202 vẫn cao hơn S1/101 +0,83 điểm, nhưng thấp hơn lượt seed 101 0,72 điểm.</a:t>
            </a:r>
            <a:endParaRPr lang="en-US" sz="1420" dirty="0"/>
          </a:p>
        </p:txBody>
      </p:sp>
      <p:sp>
        <p:nvSpPr>
          <p:cNvPr id="29" name="Text 27"/>
          <p:cNvSpPr/>
          <p:nvPr/>
        </p:nvSpPr>
        <p:spPr>
          <a:xfrm>
            <a:off x="502920" y="5449824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80" dirty="0">
                <a:solidFill>
                  <a:srgbClr val="5A5A6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 cho chênh lệch seed 202 − seed 101: −1,27 đến −0,16.</a:t>
            </a:r>
            <a:endParaRPr lang="en-US" sz="1280" dirty="0"/>
          </a:p>
        </p:txBody>
      </p:sp>
      <p:sp>
        <p:nvSpPr>
          <p:cNvPr id="30" name="Shape 2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21/25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 Kết luận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Phạm vi hiện tại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38074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243584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hiện tập trung vào các bước có thao tác chạm.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21208" y="20939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1956816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Thực nghiệm chính dùng AndroidControl tiếng Anh và Qwen2.5-VL-3B.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21208" y="280720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670048"/>
            <a:ext cx="79278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02920" y="3657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 mở rộng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21208" y="42519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114800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sang nhiều miền giao diện và dữ liệu tiếng Việt.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21208" y="518464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13232" y="5047488"/>
            <a:ext cx="792784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2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Mở rộng executability cho thao tác ngoài chạm và chuỗi nhiều màn hình.</a:t>
            </a:r>
            <a:endParaRPr lang="en-US" sz="1520" dirty="0"/>
          </a:p>
        </p:txBody>
      </p:sp>
      <p:sp>
        <p:nvSpPr>
          <p:cNvPr id="16" name="Shape 14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5.1. Đóng góp chính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25194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Phương pháp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93392"/>
            <a:ext cx="2029968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tạo phần lớn mức tăng. ACE tiếp tục cải thiện chất lượng câu.</a:t>
            </a:r>
            <a:endParaRPr lang="en-US" sz="1530" dirty="0"/>
          </a:p>
        </p:txBody>
      </p:sp>
      <p:sp>
        <p:nvSpPr>
          <p:cNvPr id="7" name="Shape 5"/>
          <p:cNvSpPr/>
          <p:nvPr/>
        </p:nvSpPr>
        <p:spPr>
          <a:xfrm>
            <a:off x="3328416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4F417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65576" y="1371600"/>
            <a:ext cx="22128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Độ đo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557016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3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kiểm tra khả năng xác định đúng phần tử và đúng thao tác.</a:t>
            </a:r>
            <a:endParaRPr lang="en-US" sz="1530" dirty="0"/>
          </a:p>
        </p:txBody>
      </p:sp>
      <p:sp>
        <p:nvSpPr>
          <p:cNvPr id="10" name="Shape 8"/>
          <p:cNvSpPr/>
          <p:nvPr/>
        </p:nvSpPr>
        <p:spPr>
          <a:xfrm>
            <a:off x="6144768" y="1097280"/>
            <a:ext cx="2487168" cy="3310128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81928" y="1335024"/>
            <a:ext cx="22128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3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Bằng chứng thực nghiệm</a:t>
            </a:r>
            <a:endParaRPr lang="en-US" sz="1630" dirty="0"/>
          </a:p>
        </p:txBody>
      </p:sp>
      <p:sp>
        <p:nvSpPr>
          <p:cNvPr id="12" name="Text 10"/>
          <p:cNvSpPr/>
          <p:nvPr/>
        </p:nvSpPr>
        <p:spPr>
          <a:xfrm>
            <a:off x="6373368" y="1965960"/>
            <a:ext cx="20299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Kết quả được giữ khi đổi công cụ định vị, chạy lại mô hình, xét tác vụ mới và lịch sử tự sinh.</a:t>
            </a:r>
            <a:endParaRPr lang="en-US" sz="1510" dirty="0"/>
          </a:p>
        </p:txBody>
      </p:sp>
      <p:sp>
        <p:nvSpPr>
          <p:cNvPr id="13" name="Text 11"/>
          <p:cNvSpPr/>
          <p:nvPr/>
        </p:nvSpPr>
        <p:spPr>
          <a:xfrm>
            <a:off x="502920" y="495604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 đóng góp chính: phương pháp, độ đo và bằng chứng thực nghiệm.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23/25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5.2. Kết luận chung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9436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59436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Tập kiểm chính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38328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4F41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+4,58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338328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Tác vụ mới (ACU)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172200" y="9601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7A70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+9,14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172200" y="1490472"/>
            <a:ext cx="2377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 với 7B Base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48716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521208" y="301752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2880360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tăng +1,55 điểm trên tập kiểm chính và +4,58 điểm trên ACU.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21208" y="38587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" y="3721608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ACE giữ executability ở 60,68% và tăng cả 7 chỉ số chất lượng câu.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21208" y="470001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13232" y="4562856"/>
            <a:ext cx="79278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AitZ cho thấy lợi ích bổ sung của GRPO-SPICE giảm khi đổi miền.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914400" y="5468112"/>
            <a:ext cx="731520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5468112"/>
            <a:ext cx="687628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Trong thiết lập AndroidControl, GRPO-SPICE làm tăng đồng thời chất lượng câu và executability.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24/25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514600"/>
            <a:ext cx="75895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Trân trọng cảm ơn Quý thầy cô đã lắng nghe.</a:t>
            </a:r>
            <a:endParaRPr lang="en-US" sz="2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Định nghĩa executability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96112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Một bước đúng khi đồng thời: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21208" y="1508760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371600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Đúng loại thao tác.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521208" y="2258568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3232" y="2121408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Không mô tả thao tác theo nghĩa ngược.</a:t>
            </a:r>
            <a:endParaRPr lang="en-US" sz="1550" dirty="0"/>
          </a:p>
        </p:txBody>
      </p:sp>
      <p:sp>
        <p:nvSpPr>
          <p:cNvPr id="9" name="Shape 7"/>
          <p:cNvSpPr/>
          <p:nvPr/>
        </p:nvSpPr>
        <p:spPr>
          <a:xfrm>
            <a:off x="521208" y="3008376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3232" y="2871216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|px−gx| ≤ 0,14W và |py−gy| ≤ 0,14H.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521208" y="3758184"/>
            <a:ext cx="64008" cy="64008"/>
          </a:xfrm>
          <a:prstGeom prst="ellipse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" y="3621024"/>
            <a:ext cx="7927848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55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Điểm p nằm trong ô Voronoi của phần tử cần chạm.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502920" y="48006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 = số bước đúng / tổng số bước chạm.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Toàn bộ thước đo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804672"/>
            <a:ext cx="7955280" cy="384048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80467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65176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749040" y="80467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84632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080760" y="80467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Đề xuất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0" y="80467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 ACE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118872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Executability</a:t>
            </a:r>
            <a:endParaRPr lang="en-US" sz="1170" dirty="0"/>
          </a:p>
        </p:txBody>
      </p:sp>
      <p:sp>
        <p:nvSpPr>
          <p:cNvPr id="12" name="Text 10"/>
          <p:cNvSpPr/>
          <p:nvPr/>
        </p:nvSpPr>
        <p:spPr>
          <a:xfrm>
            <a:off x="265176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47,59</a:t>
            </a:r>
            <a:endParaRPr lang="en-US" sz="1170" dirty="0"/>
          </a:p>
        </p:txBody>
      </p:sp>
      <p:sp>
        <p:nvSpPr>
          <p:cNvPr id="13" name="Text 11"/>
          <p:cNvSpPr/>
          <p:nvPr/>
        </p:nvSpPr>
        <p:spPr>
          <a:xfrm>
            <a:off x="3749040" y="118872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59,11</a:t>
            </a:r>
            <a:endParaRPr lang="en-US" sz="1170" dirty="0"/>
          </a:p>
        </p:txBody>
      </p:sp>
      <p:sp>
        <p:nvSpPr>
          <p:cNvPr id="14" name="Text 12"/>
          <p:cNvSpPr/>
          <p:nvPr/>
        </p:nvSpPr>
        <p:spPr>
          <a:xfrm>
            <a:off x="484632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60,65</a:t>
            </a:r>
            <a:endParaRPr lang="en-US" sz="1170" dirty="0"/>
          </a:p>
        </p:txBody>
      </p:sp>
      <p:sp>
        <p:nvSpPr>
          <p:cNvPr id="15" name="Text 13"/>
          <p:cNvSpPr/>
          <p:nvPr/>
        </p:nvSpPr>
        <p:spPr>
          <a:xfrm>
            <a:off x="6080760" y="118872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60,68</a:t>
            </a:r>
            <a:endParaRPr lang="en-US" sz="1170" dirty="0"/>
          </a:p>
        </p:txBody>
      </p:sp>
      <p:sp>
        <p:nvSpPr>
          <p:cNvPr id="16" name="Text 14"/>
          <p:cNvSpPr/>
          <p:nvPr/>
        </p:nvSpPr>
        <p:spPr>
          <a:xfrm>
            <a:off x="7315200" y="118872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</a:t>
            </a:r>
            <a:endParaRPr lang="en-US" sz="1170" dirty="0"/>
          </a:p>
        </p:txBody>
      </p:sp>
      <p:sp>
        <p:nvSpPr>
          <p:cNvPr id="17" name="Shape 15"/>
          <p:cNvSpPr/>
          <p:nvPr/>
        </p:nvSpPr>
        <p:spPr>
          <a:xfrm>
            <a:off x="502920" y="157276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502920" y="157276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Hộp phần tử</a:t>
            </a:r>
            <a:endParaRPr lang="en-US" sz="1170" dirty="0"/>
          </a:p>
        </p:txBody>
      </p:sp>
      <p:sp>
        <p:nvSpPr>
          <p:cNvPr id="19" name="Text 17"/>
          <p:cNvSpPr/>
          <p:nvPr/>
        </p:nvSpPr>
        <p:spPr>
          <a:xfrm>
            <a:off x="265176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53,60</a:t>
            </a:r>
            <a:endParaRPr lang="en-US" sz="1170" dirty="0"/>
          </a:p>
        </p:txBody>
      </p:sp>
      <p:sp>
        <p:nvSpPr>
          <p:cNvPr id="20" name="Text 18"/>
          <p:cNvSpPr/>
          <p:nvPr/>
        </p:nvSpPr>
        <p:spPr>
          <a:xfrm>
            <a:off x="3749040" y="157276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65,49</a:t>
            </a:r>
            <a:endParaRPr lang="en-US" sz="1170" dirty="0"/>
          </a:p>
        </p:txBody>
      </p:sp>
      <p:sp>
        <p:nvSpPr>
          <p:cNvPr id="21" name="Text 19"/>
          <p:cNvSpPr/>
          <p:nvPr/>
        </p:nvSpPr>
        <p:spPr>
          <a:xfrm>
            <a:off x="484632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67,02</a:t>
            </a:r>
            <a:endParaRPr lang="en-US" sz="1170" dirty="0"/>
          </a:p>
        </p:txBody>
      </p:sp>
      <p:sp>
        <p:nvSpPr>
          <p:cNvPr id="22" name="Text 20"/>
          <p:cNvSpPr/>
          <p:nvPr/>
        </p:nvSpPr>
        <p:spPr>
          <a:xfrm>
            <a:off x="6080760" y="157276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67,11</a:t>
            </a:r>
            <a:endParaRPr lang="en-US" sz="1170" dirty="0"/>
          </a:p>
        </p:txBody>
      </p:sp>
      <p:sp>
        <p:nvSpPr>
          <p:cNvPr id="23" name="Text 21"/>
          <p:cNvSpPr/>
          <p:nvPr/>
        </p:nvSpPr>
        <p:spPr>
          <a:xfrm>
            <a:off x="7315200" y="157276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+0,09</a:t>
            </a:r>
            <a:endParaRPr lang="en-US" sz="1170" dirty="0"/>
          </a:p>
        </p:txBody>
      </p:sp>
      <p:sp>
        <p:nvSpPr>
          <p:cNvPr id="24" name="Shape 22"/>
          <p:cNvSpPr/>
          <p:nvPr/>
        </p:nvSpPr>
        <p:spPr>
          <a:xfrm>
            <a:off x="502920" y="195681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502920" y="195681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AitW đầy đủ</a:t>
            </a:r>
            <a:endParaRPr lang="en-US" sz="1170" dirty="0"/>
          </a:p>
        </p:txBody>
      </p:sp>
      <p:sp>
        <p:nvSpPr>
          <p:cNvPr id="26" name="Text 24"/>
          <p:cNvSpPr/>
          <p:nvPr/>
        </p:nvSpPr>
        <p:spPr>
          <a:xfrm>
            <a:off x="265176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63,39</a:t>
            </a:r>
            <a:endParaRPr lang="en-US" sz="1170" dirty="0"/>
          </a:p>
        </p:txBody>
      </p:sp>
      <p:sp>
        <p:nvSpPr>
          <p:cNvPr id="27" name="Text 25"/>
          <p:cNvSpPr/>
          <p:nvPr/>
        </p:nvSpPr>
        <p:spPr>
          <a:xfrm>
            <a:off x="3749040" y="195681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74,37</a:t>
            </a:r>
            <a:endParaRPr lang="en-US" sz="1170" dirty="0"/>
          </a:p>
        </p:txBody>
      </p:sp>
      <p:sp>
        <p:nvSpPr>
          <p:cNvPr id="28" name="Text 26"/>
          <p:cNvSpPr/>
          <p:nvPr/>
        </p:nvSpPr>
        <p:spPr>
          <a:xfrm>
            <a:off x="484632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76,25</a:t>
            </a:r>
            <a:endParaRPr lang="en-US" sz="1170" dirty="0"/>
          </a:p>
        </p:txBody>
      </p:sp>
      <p:sp>
        <p:nvSpPr>
          <p:cNvPr id="29" name="Text 27"/>
          <p:cNvSpPr/>
          <p:nvPr/>
        </p:nvSpPr>
        <p:spPr>
          <a:xfrm>
            <a:off x="6080760" y="195681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76,32</a:t>
            </a:r>
            <a:endParaRPr lang="en-US" sz="1170" dirty="0"/>
          </a:p>
        </p:txBody>
      </p:sp>
      <p:sp>
        <p:nvSpPr>
          <p:cNvPr id="30" name="Text 28"/>
          <p:cNvSpPr/>
          <p:nvPr/>
        </p:nvSpPr>
        <p:spPr>
          <a:xfrm>
            <a:off x="7315200" y="195681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+0,07</a:t>
            </a:r>
            <a:endParaRPr lang="en-US" sz="1170" dirty="0"/>
          </a:p>
        </p:txBody>
      </p:sp>
      <p:sp>
        <p:nvSpPr>
          <p:cNvPr id="31" name="Shape 29"/>
          <p:cNvSpPr/>
          <p:nvPr/>
        </p:nvSpPr>
        <p:spPr>
          <a:xfrm>
            <a:off x="502920" y="234086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502920" y="234086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BLEU-4</a:t>
            </a:r>
            <a:endParaRPr lang="en-US" sz="1170" dirty="0"/>
          </a:p>
        </p:txBody>
      </p:sp>
      <p:sp>
        <p:nvSpPr>
          <p:cNvPr id="33" name="Text 31"/>
          <p:cNvSpPr/>
          <p:nvPr/>
        </p:nvSpPr>
        <p:spPr>
          <a:xfrm>
            <a:off x="265176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15,30</a:t>
            </a:r>
            <a:endParaRPr lang="en-US" sz="1170" dirty="0"/>
          </a:p>
        </p:txBody>
      </p:sp>
      <p:sp>
        <p:nvSpPr>
          <p:cNvPr id="34" name="Text 32"/>
          <p:cNvSpPr/>
          <p:nvPr/>
        </p:nvSpPr>
        <p:spPr>
          <a:xfrm>
            <a:off x="3749040" y="234086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51,56</a:t>
            </a:r>
            <a:endParaRPr lang="en-US" sz="1170" dirty="0"/>
          </a:p>
        </p:txBody>
      </p:sp>
      <p:sp>
        <p:nvSpPr>
          <p:cNvPr id="35" name="Text 33"/>
          <p:cNvSpPr/>
          <p:nvPr/>
        </p:nvSpPr>
        <p:spPr>
          <a:xfrm>
            <a:off x="484632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52,36</a:t>
            </a:r>
            <a:endParaRPr lang="en-US" sz="1170" dirty="0"/>
          </a:p>
        </p:txBody>
      </p:sp>
      <p:sp>
        <p:nvSpPr>
          <p:cNvPr id="36" name="Text 34"/>
          <p:cNvSpPr/>
          <p:nvPr/>
        </p:nvSpPr>
        <p:spPr>
          <a:xfrm>
            <a:off x="6080760" y="234086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53,47</a:t>
            </a:r>
            <a:endParaRPr lang="en-US" sz="1170" dirty="0"/>
          </a:p>
        </p:txBody>
      </p:sp>
      <p:sp>
        <p:nvSpPr>
          <p:cNvPr id="37" name="Text 35"/>
          <p:cNvSpPr/>
          <p:nvPr/>
        </p:nvSpPr>
        <p:spPr>
          <a:xfrm>
            <a:off x="7315200" y="23408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+1,11</a:t>
            </a:r>
            <a:endParaRPr lang="en-US" sz="1170" dirty="0"/>
          </a:p>
        </p:txBody>
      </p:sp>
      <p:sp>
        <p:nvSpPr>
          <p:cNvPr id="38" name="Shape 36"/>
          <p:cNvSpPr/>
          <p:nvPr/>
        </p:nvSpPr>
        <p:spPr>
          <a:xfrm>
            <a:off x="502920" y="272491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39" name="Text 37"/>
          <p:cNvSpPr/>
          <p:nvPr/>
        </p:nvSpPr>
        <p:spPr>
          <a:xfrm>
            <a:off x="502920" y="272491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METEOR</a:t>
            </a:r>
            <a:endParaRPr lang="en-US" sz="1170" dirty="0"/>
          </a:p>
        </p:txBody>
      </p:sp>
      <p:sp>
        <p:nvSpPr>
          <p:cNvPr id="40" name="Text 38"/>
          <p:cNvSpPr/>
          <p:nvPr/>
        </p:nvSpPr>
        <p:spPr>
          <a:xfrm>
            <a:off x="265176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24,60</a:t>
            </a:r>
            <a:endParaRPr lang="en-US" sz="1170" dirty="0"/>
          </a:p>
        </p:txBody>
      </p:sp>
      <p:sp>
        <p:nvSpPr>
          <p:cNvPr id="41" name="Text 39"/>
          <p:cNvSpPr/>
          <p:nvPr/>
        </p:nvSpPr>
        <p:spPr>
          <a:xfrm>
            <a:off x="3749040" y="272491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36,79</a:t>
            </a:r>
            <a:endParaRPr lang="en-US" sz="1170" dirty="0"/>
          </a:p>
        </p:txBody>
      </p:sp>
      <p:sp>
        <p:nvSpPr>
          <p:cNvPr id="42" name="Text 40"/>
          <p:cNvSpPr/>
          <p:nvPr/>
        </p:nvSpPr>
        <p:spPr>
          <a:xfrm>
            <a:off x="484632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37,92</a:t>
            </a:r>
            <a:endParaRPr lang="en-US" sz="1170" dirty="0"/>
          </a:p>
        </p:txBody>
      </p:sp>
      <p:sp>
        <p:nvSpPr>
          <p:cNvPr id="43" name="Text 41"/>
          <p:cNvSpPr/>
          <p:nvPr/>
        </p:nvSpPr>
        <p:spPr>
          <a:xfrm>
            <a:off x="6080760" y="272491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38,37</a:t>
            </a:r>
            <a:endParaRPr lang="en-US" sz="1170" dirty="0"/>
          </a:p>
        </p:txBody>
      </p:sp>
      <p:sp>
        <p:nvSpPr>
          <p:cNvPr id="44" name="Text 42"/>
          <p:cNvSpPr/>
          <p:nvPr/>
        </p:nvSpPr>
        <p:spPr>
          <a:xfrm>
            <a:off x="7315200" y="272491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+0,45</a:t>
            </a:r>
            <a:endParaRPr lang="en-US" sz="1170" dirty="0"/>
          </a:p>
        </p:txBody>
      </p:sp>
      <p:sp>
        <p:nvSpPr>
          <p:cNvPr id="45" name="Shape 43"/>
          <p:cNvSpPr/>
          <p:nvPr/>
        </p:nvSpPr>
        <p:spPr>
          <a:xfrm>
            <a:off x="502920" y="3108960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502920" y="310896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ROUGE-L</a:t>
            </a:r>
            <a:endParaRPr lang="en-US" sz="1170" dirty="0"/>
          </a:p>
        </p:txBody>
      </p:sp>
      <p:sp>
        <p:nvSpPr>
          <p:cNvPr id="47" name="Text 45"/>
          <p:cNvSpPr/>
          <p:nvPr/>
        </p:nvSpPr>
        <p:spPr>
          <a:xfrm>
            <a:off x="265176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42,30</a:t>
            </a:r>
            <a:endParaRPr lang="en-US" sz="1170" dirty="0"/>
          </a:p>
        </p:txBody>
      </p:sp>
      <p:sp>
        <p:nvSpPr>
          <p:cNvPr id="48" name="Text 46"/>
          <p:cNvSpPr/>
          <p:nvPr/>
        </p:nvSpPr>
        <p:spPr>
          <a:xfrm>
            <a:off x="3749040" y="3108960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67,35</a:t>
            </a:r>
            <a:endParaRPr lang="en-US" sz="1170" dirty="0"/>
          </a:p>
        </p:txBody>
      </p:sp>
      <p:sp>
        <p:nvSpPr>
          <p:cNvPr id="49" name="Text 47"/>
          <p:cNvSpPr/>
          <p:nvPr/>
        </p:nvSpPr>
        <p:spPr>
          <a:xfrm>
            <a:off x="484632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68,36</a:t>
            </a:r>
            <a:endParaRPr lang="en-US" sz="1170" dirty="0"/>
          </a:p>
        </p:txBody>
      </p:sp>
      <p:sp>
        <p:nvSpPr>
          <p:cNvPr id="50" name="Text 48"/>
          <p:cNvSpPr/>
          <p:nvPr/>
        </p:nvSpPr>
        <p:spPr>
          <a:xfrm>
            <a:off x="6080760" y="3108960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69,11</a:t>
            </a:r>
            <a:endParaRPr lang="en-US" sz="1170" dirty="0"/>
          </a:p>
        </p:txBody>
      </p:sp>
      <p:sp>
        <p:nvSpPr>
          <p:cNvPr id="51" name="Text 49"/>
          <p:cNvSpPr/>
          <p:nvPr/>
        </p:nvSpPr>
        <p:spPr>
          <a:xfrm>
            <a:off x="7315200" y="310896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+0,74</a:t>
            </a:r>
            <a:endParaRPr lang="en-US" sz="1170" dirty="0"/>
          </a:p>
        </p:txBody>
      </p:sp>
      <p:sp>
        <p:nvSpPr>
          <p:cNvPr id="52" name="Shape 50"/>
          <p:cNvSpPr/>
          <p:nvPr/>
        </p:nvSpPr>
        <p:spPr>
          <a:xfrm>
            <a:off x="502920" y="3493008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53" name="Text 51"/>
          <p:cNvSpPr/>
          <p:nvPr/>
        </p:nvSpPr>
        <p:spPr>
          <a:xfrm>
            <a:off x="502920" y="3493008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CIDEr-D</a:t>
            </a:r>
            <a:endParaRPr lang="en-US" sz="1170" dirty="0"/>
          </a:p>
        </p:txBody>
      </p:sp>
      <p:sp>
        <p:nvSpPr>
          <p:cNvPr id="54" name="Text 52"/>
          <p:cNvSpPr/>
          <p:nvPr/>
        </p:nvSpPr>
        <p:spPr>
          <a:xfrm>
            <a:off x="265176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88,00</a:t>
            </a:r>
            <a:endParaRPr lang="en-US" sz="1170" dirty="0"/>
          </a:p>
        </p:txBody>
      </p:sp>
      <p:sp>
        <p:nvSpPr>
          <p:cNvPr id="55" name="Text 53"/>
          <p:cNvSpPr/>
          <p:nvPr/>
        </p:nvSpPr>
        <p:spPr>
          <a:xfrm>
            <a:off x="3749040" y="3493008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416,12</a:t>
            </a:r>
            <a:endParaRPr lang="en-US" sz="1170" dirty="0"/>
          </a:p>
        </p:txBody>
      </p:sp>
      <p:sp>
        <p:nvSpPr>
          <p:cNvPr id="56" name="Text 54"/>
          <p:cNvSpPr/>
          <p:nvPr/>
        </p:nvSpPr>
        <p:spPr>
          <a:xfrm>
            <a:off x="484632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430,05</a:t>
            </a:r>
            <a:endParaRPr lang="en-US" sz="1170" dirty="0"/>
          </a:p>
        </p:txBody>
      </p:sp>
      <p:sp>
        <p:nvSpPr>
          <p:cNvPr id="57" name="Text 55"/>
          <p:cNvSpPr/>
          <p:nvPr/>
        </p:nvSpPr>
        <p:spPr>
          <a:xfrm>
            <a:off x="6080760" y="3493008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442,02</a:t>
            </a:r>
            <a:endParaRPr lang="en-US" sz="1170" dirty="0"/>
          </a:p>
        </p:txBody>
      </p:sp>
      <p:sp>
        <p:nvSpPr>
          <p:cNvPr id="58" name="Text 56"/>
          <p:cNvSpPr/>
          <p:nvPr/>
        </p:nvSpPr>
        <p:spPr>
          <a:xfrm>
            <a:off x="7315200" y="349300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+11,97</a:t>
            </a:r>
            <a:endParaRPr lang="en-US" sz="1170" dirty="0"/>
          </a:p>
        </p:txBody>
      </p:sp>
      <p:sp>
        <p:nvSpPr>
          <p:cNvPr id="59" name="Shape 57"/>
          <p:cNvSpPr/>
          <p:nvPr/>
        </p:nvSpPr>
        <p:spPr>
          <a:xfrm>
            <a:off x="502920" y="3877056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502920" y="3877056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SPICE</a:t>
            </a:r>
            <a:endParaRPr lang="en-US" sz="1170" dirty="0"/>
          </a:p>
        </p:txBody>
      </p:sp>
      <p:sp>
        <p:nvSpPr>
          <p:cNvPr id="61" name="Text 59"/>
          <p:cNvSpPr/>
          <p:nvPr/>
        </p:nvSpPr>
        <p:spPr>
          <a:xfrm>
            <a:off x="265176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18,50</a:t>
            </a:r>
            <a:endParaRPr lang="en-US" sz="1170" dirty="0"/>
          </a:p>
        </p:txBody>
      </p:sp>
      <p:sp>
        <p:nvSpPr>
          <p:cNvPr id="62" name="Text 60"/>
          <p:cNvSpPr/>
          <p:nvPr/>
        </p:nvSpPr>
        <p:spPr>
          <a:xfrm>
            <a:off x="3749040" y="3877056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44,37</a:t>
            </a:r>
            <a:endParaRPr lang="en-US" sz="1170" dirty="0"/>
          </a:p>
        </p:txBody>
      </p:sp>
      <p:sp>
        <p:nvSpPr>
          <p:cNvPr id="63" name="Text 61"/>
          <p:cNvSpPr/>
          <p:nvPr/>
        </p:nvSpPr>
        <p:spPr>
          <a:xfrm>
            <a:off x="484632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45,79</a:t>
            </a:r>
            <a:endParaRPr lang="en-US" sz="1170" dirty="0"/>
          </a:p>
        </p:txBody>
      </p:sp>
      <p:sp>
        <p:nvSpPr>
          <p:cNvPr id="64" name="Text 62"/>
          <p:cNvSpPr/>
          <p:nvPr/>
        </p:nvSpPr>
        <p:spPr>
          <a:xfrm>
            <a:off x="6080760" y="3877056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47,13</a:t>
            </a:r>
            <a:endParaRPr lang="en-US" sz="1170" dirty="0"/>
          </a:p>
        </p:txBody>
      </p:sp>
      <p:sp>
        <p:nvSpPr>
          <p:cNvPr id="65" name="Text 63"/>
          <p:cNvSpPr/>
          <p:nvPr/>
        </p:nvSpPr>
        <p:spPr>
          <a:xfrm>
            <a:off x="7315200" y="3877056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+1,33</a:t>
            </a:r>
            <a:endParaRPr lang="en-US" sz="1170" dirty="0"/>
          </a:p>
        </p:txBody>
      </p:sp>
      <p:sp>
        <p:nvSpPr>
          <p:cNvPr id="66" name="Shape 64"/>
          <p:cNvSpPr/>
          <p:nvPr/>
        </p:nvSpPr>
        <p:spPr>
          <a:xfrm>
            <a:off x="502920" y="4261104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67" name="Text 65"/>
          <p:cNvSpPr/>
          <p:nvPr/>
        </p:nvSpPr>
        <p:spPr>
          <a:xfrm>
            <a:off x="502920" y="4261104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chrF</a:t>
            </a:r>
            <a:endParaRPr lang="en-US" sz="1170" dirty="0"/>
          </a:p>
        </p:txBody>
      </p:sp>
      <p:sp>
        <p:nvSpPr>
          <p:cNvPr id="68" name="Text 66"/>
          <p:cNvSpPr/>
          <p:nvPr/>
        </p:nvSpPr>
        <p:spPr>
          <a:xfrm>
            <a:off x="265176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40,20</a:t>
            </a:r>
            <a:endParaRPr lang="en-US" sz="1170" dirty="0"/>
          </a:p>
        </p:txBody>
      </p:sp>
      <p:sp>
        <p:nvSpPr>
          <p:cNvPr id="69" name="Text 67"/>
          <p:cNvSpPr/>
          <p:nvPr/>
        </p:nvSpPr>
        <p:spPr>
          <a:xfrm>
            <a:off x="3749040" y="426110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61,26</a:t>
            </a:r>
            <a:endParaRPr lang="en-US" sz="1170" dirty="0"/>
          </a:p>
        </p:txBody>
      </p:sp>
      <p:sp>
        <p:nvSpPr>
          <p:cNvPr id="70" name="Text 68"/>
          <p:cNvSpPr/>
          <p:nvPr/>
        </p:nvSpPr>
        <p:spPr>
          <a:xfrm>
            <a:off x="484632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62,87</a:t>
            </a:r>
            <a:endParaRPr lang="en-US" sz="1170" dirty="0"/>
          </a:p>
        </p:txBody>
      </p:sp>
      <p:sp>
        <p:nvSpPr>
          <p:cNvPr id="71" name="Text 69"/>
          <p:cNvSpPr/>
          <p:nvPr/>
        </p:nvSpPr>
        <p:spPr>
          <a:xfrm>
            <a:off x="6080760" y="4261104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63,44</a:t>
            </a:r>
            <a:endParaRPr lang="en-US" sz="1170" dirty="0"/>
          </a:p>
        </p:txBody>
      </p:sp>
      <p:sp>
        <p:nvSpPr>
          <p:cNvPr id="72" name="Text 70"/>
          <p:cNvSpPr/>
          <p:nvPr/>
        </p:nvSpPr>
        <p:spPr>
          <a:xfrm>
            <a:off x="7315200" y="426110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+0,58</a:t>
            </a:r>
            <a:endParaRPr lang="en-US" sz="1170" dirty="0"/>
          </a:p>
        </p:txBody>
      </p:sp>
      <p:sp>
        <p:nvSpPr>
          <p:cNvPr id="73" name="Shape 71"/>
          <p:cNvSpPr/>
          <p:nvPr/>
        </p:nvSpPr>
        <p:spPr>
          <a:xfrm>
            <a:off x="502920" y="4645152"/>
            <a:ext cx="795528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74" name="Text 72"/>
          <p:cNvSpPr/>
          <p:nvPr/>
        </p:nvSpPr>
        <p:spPr>
          <a:xfrm>
            <a:off x="502920" y="4645152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BERTScore</a:t>
            </a:r>
            <a:endParaRPr lang="en-US" sz="1170" dirty="0"/>
          </a:p>
        </p:txBody>
      </p:sp>
      <p:sp>
        <p:nvSpPr>
          <p:cNvPr id="75" name="Text 73"/>
          <p:cNvSpPr/>
          <p:nvPr/>
        </p:nvSpPr>
        <p:spPr>
          <a:xfrm>
            <a:off x="265176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40,10</a:t>
            </a:r>
            <a:endParaRPr lang="en-US" sz="1170" dirty="0"/>
          </a:p>
        </p:txBody>
      </p:sp>
      <p:sp>
        <p:nvSpPr>
          <p:cNvPr id="76" name="Text 74"/>
          <p:cNvSpPr/>
          <p:nvPr/>
        </p:nvSpPr>
        <p:spPr>
          <a:xfrm>
            <a:off x="3749040" y="464515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66,33</a:t>
            </a:r>
            <a:endParaRPr lang="en-US" sz="1170" dirty="0"/>
          </a:p>
        </p:txBody>
      </p:sp>
      <p:sp>
        <p:nvSpPr>
          <p:cNvPr id="77" name="Text 75"/>
          <p:cNvSpPr/>
          <p:nvPr/>
        </p:nvSpPr>
        <p:spPr>
          <a:xfrm>
            <a:off x="484632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67,07</a:t>
            </a:r>
            <a:endParaRPr lang="en-US" sz="1170" dirty="0"/>
          </a:p>
        </p:txBody>
      </p:sp>
      <p:sp>
        <p:nvSpPr>
          <p:cNvPr id="78" name="Text 76"/>
          <p:cNvSpPr/>
          <p:nvPr/>
        </p:nvSpPr>
        <p:spPr>
          <a:xfrm>
            <a:off x="6080760" y="4645152"/>
            <a:ext cx="1234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67,73</a:t>
            </a:r>
            <a:endParaRPr lang="en-US" sz="1170" dirty="0"/>
          </a:p>
        </p:txBody>
      </p:sp>
      <p:sp>
        <p:nvSpPr>
          <p:cNvPr id="79" name="Text 77"/>
          <p:cNvSpPr/>
          <p:nvPr/>
        </p:nvSpPr>
        <p:spPr>
          <a:xfrm>
            <a:off x="7315200" y="464515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+0,66</a:t>
            </a:r>
            <a:endParaRPr lang="en-US" sz="1170" dirty="0"/>
          </a:p>
        </p:txBody>
      </p:sp>
      <p:sp>
        <p:nvSpPr>
          <p:cNvPr id="80" name="Shape 78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86" name="Text 84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87" name="Text 85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Đối chiếu bằng bốn công cụ đánh giá</a:t>
            </a:r>
            <a:endParaRPr lang="en-US" sz="1820" dirty="0"/>
          </a:p>
        </p:txBody>
      </p:sp>
      <p:sp>
        <p:nvSpPr>
          <p:cNvPr id="4" name="Text 2"/>
          <p:cNvSpPr/>
          <p:nvPr/>
        </p:nvSpPr>
        <p:spPr>
          <a:xfrm>
            <a:off x="502920" y="86868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6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GRPO-SPICE − S1 trên cùng 4.463 bước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960120" y="1508760"/>
            <a:ext cx="690372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50876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Công cụ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971800" y="1508760"/>
            <a:ext cx="1417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389120" y="1508760"/>
            <a:ext cx="3474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KTC 95%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1929384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UGround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1929384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389120" y="1929384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+0,80 đến +2,33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960120" y="2459736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960120" y="2459736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UI-Venus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71800" y="2459736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+1,55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389120" y="2459736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+0,82 đến +2,30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60120" y="2990088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960120" y="2990088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Phi-Ground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71800" y="2990088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+0,78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389120" y="2990088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+0,05 đến +1,51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60120" y="3520440"/>
            <a:ext cx="6903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960120" y="3520440"/>
            <a:ext cx="20116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Phi-4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971800" y="3520440"/>
            <a:ext cx="14173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389120" y="3520440"/>
            <a:ext cx="3474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+0,02 đến +1,40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02920" y="4343400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Cả bốn khoảng tin cậy đều nằm trên 0. Phi-Ground và Phi-4 nằm ngoài họ Qwen.</a:t>
            </a:r>
            <a:endParaRPr lang="en-US" sz="1450" dirty="0"/>
          </a:p>
        </p:txBody>
      </p:sp>
      <p:sp>
        <p:nvSpPr>
          <p:cNvPr id="25" name="Shape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Cấu hình huấn luyện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14400"/>
            <a:ext cx="8046720" cy="402336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14400"/>
            <a:ext cx="2743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Hạng mục</a:t>
            </a:r>
            <a:endParaRPr lang="en-US" sz="1270" dirty="0"/>
          </a:p>
        </p:txBody>
      </p:sp>
      <p:sp>
        <p:nvSpPr>
          <p:cNvPr id="6" name="Text 4"/>
          <p:cNvSpPr/>
          <p:nvPr/>
        </p:nvSpPr>
        <p:spPr>
          <a:xfrm>
            <a:off x="3246120" y="914400"/>
            <a:ext cx="5303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Giá trị</a:t>
            </a:r>
            <a:endParaRPr lang="en-US" sz="1270" dirty="0"/>
          </a:p>
        </p:txBody>
      </p:sp>
      <p:sp>
        <p:nvSpPr>
          <p:cNvPr id="7" name="Text 5"/>
          <p:cNvSpPr/>
          <p:nvPr/>
        </p:nvSpPr>
        <p:spPr>
          <a:xfrm>
            <a:off x="502920" y="1316736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Backbone</a:t>
            </a:r>
            <a:endParaRPr lang="en-US" sz="1270" dirty="0"/>
          </a:p>
        </p:txBody>
      </p:sp>
      <p:sp>
        <p:nvSpPr>
          <p:cNvPr id="8" name="Text 6"/>
          <p:cNvSpPr/>
          <p:nvPr/>
        </p:nvSpPr>
        <p:spPr>
          <a:xfrm>
            <a:off x="3246120" y="1316736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Qwen2.5-VL-3B-Instruct</a:t>
            </a:r>
            <a:endParaRPr lang="en-US" sz="127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502920" y="175564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Fine-tuning</a:t>
            </a:r>
            <a:endParaRPr lang="en-US" sz="1270" dirty="0"/>
          </a:p>
        </p:txBody>
      </p:sp>
      <p:sp>
        <p:nvSpPr>
          <p:cNvPr id="11" name="Text 9"/>
          <p:cNvSpPr/>
          <p:nvPr/>
        </p:nvSpPr>
        <p:spPr>
          <a:xfrm>
            <a:off x="3246120" y="1755648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QLoRA NF4 4-bit, rank 8, alpha 16, dropout 0,05</a:t>
            </a:r>
            <a:endParaRPr lang="en-US" sz="1270" dirty="0"/>
          </a:p>
        </p:txBody>
      </p:sp>
      <p:sp>
        <p:nvSpPr>
          <p:cNvPr id="12" name="Shape 10"/>
          <p:cNvSpPr/>
          <p:nvPr/>
        </p:nvSpPr>
        <p:spPr>
          <a:xfrm>
            <a:off x="502920" y="2194560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02920" y="2194560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SFT</a:t>
            </a:r>
            <a:endParaRPr lang="en-US" sz="1270" dirty="0"/>
          </a:p>
        </p:txBody>
      </p:sp>
      <p:sp>
        <p:nvSpPr>
          <p:cNvPr id="14" name="Text 12"/>
          <p:cNvSpPr/>
          <p:nvPr/>
        </p:nvSpPr>
        <p:spPr>
          <a:xfrm>
            <a:off x="3246120" y="2194560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epochs = 8.072 steps, batch hiệu dụng 16, LR 1e−4</a:t>
            </a:r>
            <a:endParaRPr lang="en-US" sz="127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GRPO</a:t>
            </a:r>
            <a:endParaRPr lang="en-US" sz="1270" dirty="0"/>
          </a:p>
        </p:txBody>
      </p:sp>
      <p:sp>
        <p:nvSpPr>
          <p:cNvPr id="17" name="Text 15"/>
          <p:cNvSpPr/>
          <p:nvPr/>
        </p:nvSpPr>
        <p:spPr>
          <a:xfrm>
            <a:off x="3246120" y="2633472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samples/prompt, 500 updates, LR 1e−5, KL β 0,04</a:t>
            </a:r>
            <a:endParaRPr lang="en-US" sz="1270" dirty="0"/>
          </a:p>
        </p:txBody>
      </p:sp>
      <p:sp>
        <p:nvSpPr>
          <p:cNvPr id="18" name="Shape 16"/>
          <p:cNvSpPr/>
          <p:nvPr/>
        </p:nvSpPr>
        <p:spPr>
          <a:xfrm>
            <a:off x="502920" y="3072384"/>
            <a:ext cx="804672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502920" y="3072384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cứng</a:t>
            </a:r>
            <a:endParaRPr lang="en-US" sz="1270" dirty="0"/>
          </a:p>
        </p:txBody>
      </p:sp>
      <p:sp>
        <p:nvSpPr>
          <p:cNvPr id="20" name="Text 18"/>
          <p:cNvSpPr/>
          <p:nvPr/>
        </p:nvSpPr>
        <p:spPr>
          <a:xfrm>
            <a:off x="3246120" y="3072384"/>
            <a:ext cx="5303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7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× A100, vision tower không cập nhật tham số</a:t>
            </a:r>
            <a:endParaRPr lang="en-US" sz="1270" dirty="0"/>
          </a:p>
        </p:txBody>
      </p:sp>
      <p:sp>
        <p:nvSpPr>
          <p:cNvPr id="21" name="Shape 19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30352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0"/>
            <a:ext cx="8595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182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đã khảo sát</a:t>
            </a:r>
            <a:endParaRPr lang="en-US" sz="182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42062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960120"/>
            <a:ext cx="2514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Hướng</a:t>
            </a:r>
            <a:endParaRPr lang="en-US" sz="1230" dirty="0"/>
          </a:p>
        </p:txBody>
      </p:sp>
      <p:sp>
        <p:nvSpPr>
          <p:cNvPr id="6" name="Text 4"/>
          <p:cNvSpPr/>
          <p:nvPr/>
        </p:nvSpPr>
        <p:spPr>
          <a:xfrm>
            <a:off x="3017520" y="960120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Exec.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4114800" y="960120"/>
            <a:ext cx="4526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3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Điều rút ra</a:t>
            </a:r>
            <a:endParaRPr lang="en-US" sz="1230" dirty="0"/>
          </a:p>
        </p:txBody>
      </p:sp>
      <p:sp>
        <p:nvSpPr>
          <p:cNvPr id="8" name="Text 6"/>
          <p:cNvSpPr/>
          <p:nvPr/>
        </p:nvSpPr>
        <p:spPr>
          <a:xfrm>
            <a:off x="502920" y="1380744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Mô tả phần tử trước câu</a:t>
            </a:r>
            <a:endParaRPr lang="en-US" sz="1210" dirty="0"/>
          </a:p>
        </p:txBody>
      </p:sp>
      <p:sp>
        <p:nvSpPr>
          <p:cNvPr id="9" name="Text 7"/>
          <p:cNvSpPr/>
          <p:nvPr/>
        </p:nvSpPr>
        <p:spPr>
          <a:xfrm>
            <a:off x="3017520" y="1380744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57,2</a:t>
            </a:r>
            <a:endParaRPr lang="en-US" sz="1210" dirty="0"/>
          </a:p>
        </p:txBody>
      </p:sp>
      <p:sp>
        <p:nvSpPr>
          <p:cNvPr id="10" name="Text 8"/>
          <p:cNvSpPr/>
          <p:nvPr/>
        </p:nvSpPr>
        <p:spPr>
          <a:xfrm>
            <a:off x="4114800" y="1380744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biểu diễn trung gian sai, câu cuối bị ảnh hưởng mạnh.</a:t>
            </a:r>
            <a:endParaRPr lang="en-US" sz="1210" dirty="0"/>
          </a:p>
        </p:txBody>
      </p:sp>
      <p:sp>
        <p:nvSpPr>
          <p:cNvPr id="11" name="Shape 9"/>
          <p:cNvSpPr/>
          <p:nvPr/>
        </p:nvSpPr>
        <p:spPr>
          <a:xfrm>
            <a:off x="502920" y="1965960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02920" y="1965960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MIN-DESC</a:t>
            </a:r>
            <a:endParaRPr lang="en-US" sz="1210" dirty="0"/>
          </a:p>
        </p:txBody>
      </p:sp>
      <p:sp>
        <p:nvSpPr>
          <p:cNvPr id="13" name="Text 11"/>
          <p:cNvSpPr/>
          <p:nvPr/>
        </p:nvSpPr>
        <p:spPr>
          <a:xfrm>
            <a:off x="3017520" y="1965960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60,0</a:t>
            </a:r>
            <a:endParaRPr lang="en-US" sz="1210" dirty="0"/>
          </a:p>
        </p:txBody>
      </p:sp>
      <p:sp>
        <p:nvSpPr>
          <p:cNvPr id="14" name="Text 12"/>
          <p:cNvSpPr/>
          <p:nvPr/>
        </p:nvSpPr>
        <p:spPr>
          <a:xfrm>
            <a:off x="4114800" y="1965960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Mục tiêu ưu tiên có đóng góp riêng +0,63 điểm so với học thêm có giám sát.</a:t>
            </a:r>
            <a:endParaRPr lang="en-US" sz="1210" dirty="0"/>
          </a:p>
        </p:txBody>
      </p:sp>
      <p:sp>
        <p:nvSpPr>
          <p:cNvPr id="15" name="Shape 13"/>
          <p:cNvSpPr/>
          <p:nvPr/>
        </p:nvSpPr>
        <p:spPr>
          <a:xfrm>
            <a:off x="502920" y="2551176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502920" y="2551176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Phần thưởng tọa độ</a:t>
            </a:r>
            <a:endParaRPr lang="en-US" sz="1210" dirty="0"/>
          </a:p>
        </p:txBody>
      </p:sp>
      <p:sp>
        <p:nvSpPr>
          <p:cNvPr id="17" name="Text 15"/>
          <p:cNvSpPr/>
          <p:nvPr/>
        </p:nvSpPr>
        <p:spPr>
          <a:xfrm>
            <a:off x="3017520" y="2551176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60,1</a:t>
            </a:r>
            <a:endParaRPr lang="en-US" sz="1210" dirty="0"/>
          </a:p>
        </p:txBody>
      </p:sp>
      <p:sp>
        <p:nvSpPr>
          <p:cNvPr id="18" name="Text 16"/>
          <p:cNvSpPr/>
          <p:nvPr/>
        </p:nvSpPr>
        <p:spPr>
          <a:xfrm>
            <a:off x="4114800" y="2551176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Biểu diễn tọa độ tốt hơn nhưng thay đổi ở câu cuối nhỏ hơn.</a:t>
            </a:r>
            <a:endParaRPr lang="en-US" sz="1210" dirty="0"/>
          </a:p>
        </p:txBody>
      </p:sp>
      <p:sp>
        <p:nvSpPr>
          <p:cNvPr id="19" name="Shape 17"/>
          <p:cNvSpPr/>
          <p:nvPr/>
        </p:nvSpPr>
        <p:spPr>
          <a:xfrm>
            <a:off x="502920" y="3136392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0" name="Text 18"/>
          <p:cNvSpPr/>
          <p:nvPr/>
        </p:nvSpPr>
        <p:spPr>
          <a:xfrm>
            <a:off x="502920" y="3136392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Chọn ứng viên</a:t>
            </a:r>
            <a:endParaRPr lang="en-US" sz="1210" dirty="0"/>
          </a:p>
        </p:txBody>
      </p:sp>
      <p:sp>
        <p:nvSpPr>
          <p:cNvPr id="21" name="Text 19"/>
          <p:cNvSpPr/>
          <p:nvPr/>
        </p:nvSpPr>
        <p:spPr>
          <a:xfrm>
            <a:off x="3017520" y="3136392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56,1</a:t>
            </a:r>
            <a:endParaRPr lang="en-US" sz="1210" dirty="0"/>
          </a:p>
        </p:txBody>
      </p:sp>
      <p:sp>
        <p:nvSpPr>
          <p:cNvPr id="22" name="Text 20"/>
          <p:cNvSpPr/>
          <p:nvPr/>
        </p:nvSpPr>
        <p:spPr>
          <a:xfrm>
            <a:off x="4114800" y="3136392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Khi thực sự chọn, chất lượng khá tốt. Vấn đề nằm ở quyết định từ chối chọn.</a:t>
            </a:r>
            <a:endParaRPr lang="en-US" sz="1210" dirty="0"/>
          </a:p>
        </p:txBody>
      </p:sp>
      <p:sp>
        <p:nvSpPr>
          <p:cNvPr id="23" name="Shape 21"/>
          <p:cNvSpPr/>
          <p:nvPr/>
        </p:nvSpPr>
        <p:spPr>
          <a:xfrm>
            <a:off x="502920" y="3721608"/>
            <a:ext cx="8138160" cy="0"/>
          </a:xfrm>
          <a:prstGeom prst="line">
            <a:avLst/>
          </a:prstGeom>
          <a:noFill/>
          <a:ln w="12700">
            <a:solidFill>
              <a:srgbClr val="D9D6DF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25146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TAGE</a:t>
            </a:r>
            <a:endParaRPr lang="en-US" sz="1210" dirty="0"/>
          </a:p>
        </p:txBody>
      </p:sp>
      <p:sp>
        <p:nvSpPr>
          <p:cNvPr id="25" name="Text 23"/>
          <p:cNvSpPr/>
          <p:nvPr/>
        </p:nvSpPr>
        <p:spPr>
          <a:xfrm>
            <a:off x="3017520" y="3721608"/>
            <a:ext cx="1097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60,2</a:t>
            </a:r>
            <a:endParaRPr lang="en-US" sz="1210" dirty="0"/>
          </a:p>
        </p:txBody>
      </p:sp>
      <p:sp>
        <p:nvSpPr>
          <p:cNvPr id="26" name="Text 24"/>
          <p:cNvSpPr/>
          <p:nvPr/>
        </p:nvSpPr>
        <p:spPr>
          <a:xfrm>
            <a:off x="4114800" y="3721608"/>
            <a:ext cx="4526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210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Bộ biên tập có ích khi vùng cắt đúng. Khâu chọn vùng còn là điểm cần cải thiện.</a:t>
            </a:r>
            <a:endParaRPr lang="en-US" sz="1210" dirty="0"/>
          </a:p>
        </p:txBody>
      </p:sp>
      <p:sp>
        <p:nvSpPr>
          <p:cNvPr id="27" name="Shape 25"/>
          <p:cNvSpPr/>
          <p:nvPr/>
        </p:nvSpPr>
        <p:spPr>
          <a:xfrm>
            <a:off x="502920" y="4892040"/>
            <a:ext cx="8138160" cy="713232"/>
          </a:xfrm>
          <a:prstGeom prst="roundRect">
            <a:avLst/>
          </a:prstGeom>
          <a:solidFill>
            <a:srgbClr val="F3F2F5"/>
          </a:solidFill>
          <a:ln w="12700">
            <a:solidFill>
              <a:srgbClr val="7A7099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4892040"/>
            <a:ext cx="77724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400" b="1" dirty="0">
                <a:solidFill>
                  <a:srgbClr val="2519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 hướng trung gian giúp xác định rằng tối ưu trực tiếp câu cuối phù hợp hơn với mục tiêu chính.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solidFill>
            <a:srgbClr val="191132"/>
          </a:solidFill>
          <a:ln w="12700">
            <a:solidFill>
              <a:srgbClr val="191132">
                <a:alpha val="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solidFill>
            <a:srgbClr val="25194B"/>
          </a:solidFill>
          <a:ln w="12700">
            <a:solidFill>
              <a:srgbClr val="25194B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solidFill>
            <a:srgbClr val="4F417A"/>
          </a:solidFill>
          <a:ln w="12700">
            <a:solidFill>
              <a:srgbClr val="4F417A">
                <a:alpha val="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solidFill>
            <a:srgbClr val="7A7099"/>
          </a:solidFill>
          <a:ln w="12700">
            <a:solidFill>
              <a:srgbClr val="7A7099">
                <a:alpha val="0"/>
              </a:srgbClr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0" y="662025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Luận văn thạc sĩ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743200" y="6620256"/>
            <a:ext cx="3383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Phát sinh tự động hướng dẫn sử dụng phần mềm dựa trên LLM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126480" y="6620256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Đoàn Phương Uyên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7863840" y="6620256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Phat sinh tu dong huong dan su dung phan mem dua tren LLM</dc:title>
  <dc:subject>Master thesis defense</dc:subject>
  <dc:creator>Le Doan Phuong Uyen</dc:creator>
  <cp:lastModifiedBy>Le Doan Phuong Uyen</cp:lastModifiedBy>
  <cp:revision>1</cp:revision>
  <dcterms:created xsi:type="dcterms:W3CDTF">2026-10-28T12:25:25Z</dcterms:created>
  <dcterms:modified xsi:type="dcterms:W3CDTF">2026-10-28T12:25:25Z</dcterms:modified>
</cp:coreProperties>
</file>