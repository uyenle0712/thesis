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Bài toán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27248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11496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0" y="1719072"/>
            <a:ext cx="2697480" cy="11155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719072"/>
            <a:ext cx="2697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 Not now”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38862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4904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21208" y="43891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25196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75488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thao tác trước đó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21208" y="5394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5780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Thông tin OCR trên giao diện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709160" y="3456432"/>
            <a:ext cx="3840480" cy="16459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83480" y="41605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55595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agent tự thao tác.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§1.2–§1.3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Thách thức của câu hướng dẫn GUI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nghe hoàn toàn tự nhiên vẫn có thể không đủ thông tin để người dùng chọn đúng phần tử.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vậy, câu hướng dẫn không chỉ cần đúng nội dung mà còn phải phân biệt được đúng phần tử cần thao tác.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Khoảng trống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thước đo so sánh câu chưa trực tiếp phản ánh điều người dùng thực sự cần.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giống reference đến đâu?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có tương đồng?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cần biết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giúp xác định đúng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và thao tác?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đó, luận văn đánh giá cả mức tương đồng với câu tham chiếu và khả năng xác định đúng phần tử, đúng loại thao tác.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Đóng góp của luận văn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2514600" cy="30632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0759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 đề xuất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thành phần nối tiếp: GRPO + SPICE sinh câu ban đầu; ACE chỉ hiệu chỉnh khi câu ví dụ thỏa điều kiện chọn lọc.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3319272" y="1051560"/>
            <a:ext cx="2514600" cy="30632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3533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47872" y="19202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một mô hình định vị tách biệt để kiểm tra câu có giúp xác định đúng phần tử và đúng loại thao tác hay không.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126480" y="1051560"/>
            <a:ext cx="2514600" cy="30632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30759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Phân tích thực nghiệm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355080" y="19202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các phương án đã thử để làm rõ vì sao cải thiện ở bước trung gian chưa chắc tạo ra câu hướng dẫn tốt hơn.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502920" y="4407408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Bên cạnh ba đóng góp chính, luận văn còn xây dựng tự động tập giám sát từ AndroidControl để phục vụ huấn luyện và đánh giá.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502920" y="5138928"/>
            <a:ext cx="8138160" cy="6217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5138928"/>
            <a:ext cx="78089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chính: 60,7% Executability, cao hơn S1/101 1,57 điểm; KTC 95% [+0,86; +2,31].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§1.6, §6.2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Tổng quan phương pháp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731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344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25880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37360" y="1234440"/>
            <a:ext cx="169164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37360" y="1234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886200" y="1097280"/>
            <a:ext cx="1600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09728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 đầu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57784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0" y="1234440"/>
            <a:ext cx="82296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23760" y="1097280"/>
            <a:ext cx="1417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109728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0292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21208" y="3794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657600"/>
            <a:ext cx="36758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nhiều câu cho cùng một tình huống.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407408"/>
            <a:ext cx="36758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kèm phạt độ dài làm tín hiệu cập nhật.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177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636008" y="3794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3657600"/>
            <a:ext cx="38130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 và sinh một câu ứng viên.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6360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28032" y="4407408"/>
            <a:ext cx="38130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đủ điều kiện chọn lọc.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Dữ liệu AndroidControl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chia dữ liệu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5331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971800" y="1353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00600" y="1353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629400" y="1353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177393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71800" y="177393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00600" y="177393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17739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224942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24942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chạm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971800" y="22494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00600" y="22494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29400" y="22494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để tính Executability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272491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272491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971800" y="27249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00600" y="27249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629400" y="272491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trùng tác vụ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cần lưu ý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21208" y="394106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803904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Train/test của đề tài không trùng tác vụ; không tương đương cách chia kiểm tra chính thức của AndroidControl.</a:t>
            </a:r>
            <a:endParaRPr lang="en-US" sz="1380" dirty="0"/>
          </a:p>
        </p:txBody>
      </p:sp>
      <p:sp>
        <p:nvSpPr>
          <p:cNvPr id="27" name="Shape 25"/>
          <p:cNvSpPr/>
          <p:nvPr/>
        </p:nvSpPr>
        <p:spPr>
          <a:xfrm>
            <a:off x="521208" y="45811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4443984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45,0% bước test xác định được tên ứng dụng; trong phần này, 95,6% thuộc ứng dụng đã xuất hiện trong train.</a:t>
            </a:r>
            <a:endParaRPr lang="en-US" sz="1380" dirty="0"/>
          </a:p>
        </p:txBody>
      </p:sp>
      <p:sp>
        <p:nvSpPr>
          <p:cNvPr id="29" name="Shape 27"/>
          <p:cNvSpPr/>
          <p:nvPr/>
        </p:nvSpPr>
        <p:spPr>
          <a:xfrm>
            <a:off x="521208" y="522122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5084064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45,5% câu tham chiếu ở test xuất hiện nguyên câu trong train; 77,7% có ít nhất một cụm 4 token đã thấy.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3, §6.8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Mô hình nền S1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nền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 + QLoRA 4-bit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8620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gốc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66160" y="28620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S1 - seed 101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355080" y="28620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S1 - seed 202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 đã tạo ra bước nhảy lớn; phương pháp đề xuất tiếp tục tối ưu từ S1.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Tháp thị giác và tầng chiếu đa phương thức được đóng băng; khoảng 15 triệu tham số được huấn luyện.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§4.3, §6.1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Khung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xem xét theo ba nhóm thước đo.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giúp xác định đúng phần tử và đúng loại thao tác?</a:t>
            </a:r>
            <a:endParaRPr lang="en-US" sz="1470" dirty="0"/>
          </a:p>
        </p:txBody>
      </p:sp>
      <p:sp>
        <p:nvSpPr>
          <p:cNvPr id="8" name="Shape 6"/>
          <p:cNvSpPr/>
          <p:nvPr/>
        </p:nvSpPr>
        <p:spPr>
          <a:xfrm>
            <a:off x="3364992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Thước đo vị trí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93592" y="27432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tắc hộp phần tử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Khoảng cách Euclid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126480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Thước đo văn bản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55080" y="260604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BLEU, METEOR, ROUGE-L,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CIDEr-D, SPICE, chrF, BERTScore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5074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chính dựa trên Executability; các nhóm còn lại bổ sung góc nhìn về vị trí và mức tương đồng với câu tham chiếu.</a:t>
            </a:r>
            <a:endParaRPr lang="en-US" sz="1520" dirty="0"/>
          </a:p>
        </p:txBody>
      </p:sp>
      <p:sp>
        <p:nvSpPr>
          <p:cNvPr id="15" name="Text 1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5–6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 Executability - ý nghĩa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kiểm tra liệu câu hướng dẫn có giúp xác định đúng phần tử, đồng thời mô tả đúng loại thao tác cần thực hiện hay không.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20116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24912" y="2697480"/>
            <a:ext cx="45720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10128" y="2240280"/>
            <a:ext cx="2011680" cy="914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128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40680" y="2697480"/>
            <a:ext cx="45720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16752" y="2240280"/>
            <a:ext cx="2011680" cy="914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6752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22592" y="3291840"/>
            <a:ext cx="0" cy="50292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897880" y="3977640"/>
            <a:ext cx="224028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39776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đúng “Not now”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138928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trên minh họa phần định vị; khi tính điểm còn phải đúng loại thao tác và không gọi trạng thái đối nghịch.</a:t>
            </a:r>
            <a:endParaRPr lang="en-US" sz="1480" dirty="0"/>
          </a:p>
        </p:txBody>
      </p:sp>
      <p:sp>
        <p:nvSpPr>
          <p:cNvPr id="17" name="Text 15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Executability - cách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 thỏa ba điều kiện.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221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5204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20440" y="2221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gọi trạng thái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nghịch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636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63640" y="222199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rơi thuộc đúng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cần chạm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703320"/>
            <a:ext cx="8138160" cy="11430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136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tiết kỹ thuật của điều kiện 3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31520" y="434340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phải nằm trong dung sai ±14% theo hai trục và trong vùng Voronoi của phần tử đúng.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53949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biết tọa độ đáp án và không tham gia huấn luyện phương pháp.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§5.2–§5.4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 Độ tin cậy của Executability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74,9%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17647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tham chiếu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61188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11880" y="17647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3796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17647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từ màn hình khác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mốc trên được tính trên cùng mẫu ngẫu nhiên 800 bước.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502920" y="278892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21208" y="32278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090672"/>
            <a:ext cx="7927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biến đổi giữ nguyên nghĩa chỉ làm thay đổi kết quả ở 30/1.139 câu; hiệu ròng +0,35 điểm, KTC chứa 0.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521208" y="39593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822192"/>
            <a:ext cx="7927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đổi sang UI-Venus, phương pháp đề xuất vẫn cao hơn cả hai seed của S1; ACE gần như không đổi so với thành phần thứ nhất.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521208" y="469087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553712"/>
            <a:ext cx="7927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 vẫn giữ rõ chênh lệch S1 − Base, nhưng không tách được phương pháp đề xuất khỏi S1 seed 202.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502920" y="5376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 phản ứng rõ khi mất thông tin quy chiếu, nhưng kết quả vẫn cần được đọc cùng giới hạn của mô hình đánh giá.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§5.5–§5.10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 Cách GRPO hoạt động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cùng một tình huống, mô hình sinh nhiều câu hướng dẫn rồi học từ phần thưởng dựa trên SPICE trong từng nhóm.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137160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tình huống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8483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0604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0604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7939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80060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7395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9516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học từ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trong nhóm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điểm cao hơn trong cùng nhóm được tăng ưu tiên; câu có điểm thấp hơn bị giảm ưu tiên.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 Kết quả GRPO + SPICE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4206240" cy="4343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70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Cần chạm: Not 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S1: “Click on the Allow button …”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9992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sai phần tử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SPICE: “Click on Not now …”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069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đúng phần tử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914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Lượt 1 · toàn tập kiểm tra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892040" y="1508760"/>
            <a:ext cx="3703320" cy="41148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12648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6092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89204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12648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6092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892040" y="2450592"/>
            <a:ext cx="3703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489204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2648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6092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892040" y="2980944"/>
            <a:ext cx="3703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89204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12648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6092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983480" y="3886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 điểm Executability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800600" y="459028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Lượt huấn luyện thứ hai đạt 59,94% Exec. (+0,83 so với S1/101) và không khác S1/202 có ý nghĩa → chiều tăng giữ, độ lớn chưa ổn định.</a:t>
            </a:r>
            <a:endParaRPr lang="en-US" sz="1190" dirty="0"/>
          </a:p>
        </p:txBody>
      </p:sp>
      <p:sp>
        <p:nvSpPr>
          <p:cNvPr id="29" name="Text 27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§6.3, §6.7.2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 Động lực của 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mới có thể giống bước đã thấy trong tập huấn luyện, nhưng dùng lại câu không chọn lọc dễ dẫn tới sai thao tác.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794760" cy="2331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3317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hội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mới có thể rất giống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đã thấy trong tập huấn luyện.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46320" y="2057400"/>
            <a:ext cx="3794760" cy="2331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23317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120640" y="29718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gần giống nhưng khác thao tác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dùng lại câu có thể làm sai kết quả.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4892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 ACE không dùng câu truy hồi ở mọi bước; câu ban đầu chỉ được thay khi thỏa điều kiện chọn lọc.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 Quy trình ACE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tương tự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sinh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câu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điều kiện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02920" y="3246120"/>
            <a:ext cx="384048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3246120"/>
            <a:ext cx="3511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là một trong bốn câu ví dụ được truy hồi.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4800600" y="3246120"/>
            <a:ext cx="384048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3246120"/>
            <a:ext cx="3511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thuộc cùng lớp thao tác với câu hướng dẫn ban đầu.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783080" y="4709160"/>
            <a:ext cx="2331720" cy="731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83080" y="47091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0" y="4709160"/>
            <a:ext cx="23317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47091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 Bằng chứng cho điều kiện chọn lọc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167335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được ACE thay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520440" y="11430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520440" y="167335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số bước chạm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355080" y="11430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−1,25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355080" y="167335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Exec. nếu luôn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câu mô hình sinh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291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15468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402 câu được thay: 15 bước chuyển từ sai sang đúng, 14 bước theo chiều ngược lại.</a:t>
            </a:r>
            <a:endParaRPr lang="en-US" sz="1460" dirty="0"/>
          </a:p>
        </p:txBody>
      </p:sp>
      <p:sp>
        <p:nvSpPr>
          <p:cNvPr id="13" name="Shape 11"/>
          <p:cNvSpPr/>
          <p:nvPr/>
        </p:nvSpPr>
        <p:spPr>
          <a:xfrm>
            <a:off x="521208" y="4041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90448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ACE, Executability gần như không đổi: +0,02 điểm, KTC 95% [−0,21; +0,26].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521208" y="479145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65429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quan sát của cả 7 thước đo dựa trên câu tham chiếu đều tăng.</a:t>
            </a:r>
            <a:endParaRPr lang="en-US" sz="1460" dirty="0"/>
          </a:p>
        </p:txBody>
      </p:sp>
      <p:sp>
        <p:nvSpPr>
          <p:cNvPr id="17" name="Text 15"/>
          <p:cNvSpPr/>
          <p:nvPr/>
        </p:nvSpPr>
        <p:spPr>
          <a:xfrm>
            <a:off x="502920" y="532180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chỉ can thiệp ở 9,0% số bước: giữ gần như nguyên khả năng thao tác, đồng thời làm đầu ra gần câu tham chiếu hơn theo các thước đo văn bản.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§6.4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17/24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Thiết lập thực nghiệm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435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98448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 + QLoRA 4-bit.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148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epochs, batch hiệu dụng 16, tốc độ học 1e−4.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1772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36008" y="1435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29844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 cho mỗi đầu vào, 500 bước cập nhật.</a:t>
            </a:r>
            <a:endParaRPr lang="en-US" sz="1460" dirty="0"/>
          </a:p>
        </p:txBody>
      </p:sp>
      <p:sp>
        <p:nvSpPr>
          <p:cNvPr id="12" name="Shape 10"/>
          <p:cNvSpPr/>
          <p:nvPr/>
        </p:nvSpPr>
        <p:spPr>
          <a:xfrm>
            <a:off x="4636008" y="2148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2011680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thưởng: SPICE − phạt độ dài; tốc độ học 1e−5, KL β = 0,04.</a:t>
            </a:r>
            <a:endParaRPr lang="en-US" sz="1460" dirty="0"/>
          </a:p>
        </p:txBody>
      </p:sp>
      <p:sp>
        <p:nvSpPr>
          <p:cNvPr id="14" name="Shape 12"/>
          <p:cNvSpPr/>
          <p:nvPr/>
        </p:nvSpPr>
        <p:spPr>
          <a:xfrm>
            <a:off x="502920" y="299923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33101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8313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94176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 ứng viên học tiếp 250 bước trên 3.991 bước có ảnh.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5212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407408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Suy luận: truy hồi 4 ví dụ; kho không chứa tác vụ của tập kiểm định nội bộ hoặc tập kiểm tra.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4617720" y="33101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8313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694176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 bước chạm.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6360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40740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và kiểm định cặp cho các so sánh chính.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§4.3–§4.6, Chương 6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 Kết quả khả năng thao tác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7543800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60" dirty="0"/>
          </a:p>
        </p:txBody>
      </p:sp>
      <p:sp>
        <p:nvSpPr>
          <p:cNvPr id="6" name="Text 4"/>
          <p:cNvSpPr/>
          <p:nvPr/>
        </p:nvSpPr>
        <p:spPr>
          <a:xfrm>
            <a:off x="32461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60" dirty="0"/>
          </a:p>
        </p:txBody>
      </p:sp>
      <p:sp>
        <p:nvSpPr>
          <p:cNvPr id="7" name="Text 5"/>
          <p:cNvSpPr/>
          <p:nvPr/>
        </p:nvSpPr>
        <p:spPr>
          <a:xfrm>
            <a:off x="48463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60" dirty="0"/>
          </a:p>
        </p:txBody>
      </p:sp>
      <p:sp>
        <p:nvSpPr>
          <p:cNvPr id="8" name="Text 6"/>
          <p:cNvSpPr/>
          <p:nvPr/>
        </p:nvSpPr>
        <p:spPr>
          <a:xfrm>
            <a:off x="64465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</a:t>
            </a:r>
            <a:endParaRPr lang="en-US" sz="1260" dirty="0"/>
          </a:p>
        </p:txBody>
      </p:sp>
      <p:sp>
        <p:nvSpPr>
          <p:cNvPr id="9" name="Text 7"/>
          <p:cNvSpPr/>
          <p:nvPr/>
        </p:nvSpPr>
        <p:spPr>
          <a:xfrm>
            <a:off x="502920" y="13990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gốc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32461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47,60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48463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4465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63,40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502920" y="1892808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502920" y="189280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32461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48463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64465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502920" y="2386584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238658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32461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48463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64465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502920" y="2880360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28803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32461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48463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64465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320" dirty="0"/>
          </a:p>
        </p:txBody>
      </p:sp>
      <p:sp>
        <p:nvSpPr>
          <p:cNvPr id="28" name="Shape 26"/>
          <p:cNvSpPr/>
          <p:nvPr/>
        </p:nvSpPr>
        <p:spPr>
          <a:xfrm>
            <a:off x="502920" y="3410712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502920" y="341071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tham chiếu (mốc)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32461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75,70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48463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64465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33" name="Shape 31"/>
          <p:cNvSpPr/>
          <p:nvPr/>
        </p:nvSpPr>
        <p:spPr>
          <a:xfrm>
            <a:off x="502920" y="4315968"/>
            <a:ext cx="813816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16552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 − S1/101 = +1,57 điểm Executability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[+0,86; +2,31], p &lt; 0,001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 bước chạm · Luận văn §6.2, §6.6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19/24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 Kết quả các thước đo dựa trên câu tham chiếu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ACE, điểm quan sát của cả 7 thước đo dựa trên câu tham chiếu đều tăng so với GRPO + SPICE.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7662672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898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Thước đo</a:t>
            </a:r>
            <a:endParaRPr lang="en-US" sz="1180" dirty="0"/>
          </a:p>
        </p:txBody>
      </p:sp>
      <p:sp>
        <p:nvSpPr>
          <p:cNvPr id="7" name="Text 5"/>
          <p:cNvSpPr/>
          <p:nvPr/>
        </p:nvSpPr>
        <p:spPr>
          <a:xfrm>
            <a:off x="2194560" y="138988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3218688" y="138988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4242816" y="1389888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5541264" y="138988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931152" y="138988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502920" y="1773936"/>
            <a:ext cx="1691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90" dirty="0"/>
          </a:p>
        </p:txBody>
      </p:sp>
      <p:sp>
        <p:nvSpPr>
          <p:cNvPr id="13" name="Text 11"/>
          <p:cNvSpPr/>
          <p:nvPr/>
        </p:nvSpPr>
        <p:spPr>
          <a:xfrm>
            <a:off x="2194560" y="1773936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90" dirty="0"/>
          </a:p>
        </p:txBody>
      </p:sp>
      <p:sp>
        <p:nvSpPr>
          <p:cNvPr id="14" name="Text 12"/>
          <p:cNvSpPr/>
          <p:nvPr/>
        </p:nvSpPr>
        <p:spPr>
          <a:xfrm>
            <a:off x="3218688" y="1773936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90" dirty="0"/>
          </a:p>
        </p:txBody>
      </p:sp>
      <p:sp>
        <p:nvSpPr>
          <p:cNvPr id="15" name="Text 13"/>
          <p:cNvSpPr/>
          <p:nvPr/>
        </p:nvSpPr>
        <p:spPr>
          <a:xfrm>
            <a:off x="4242816" y="1773936"/>
            <a:ext cx="12984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90" dirty="0"/>
          </a:p>
        </p:txBody>
      </p:sp>
      <p:sp>
        <p:nvSpPr>
          <p:cNvPr id="16" name="Text 14"/>
          <p:cNvSpPr/>
          <p:nvPr/>
        </p:nvSpPr>
        <p:spPr>
          <a:xfrm>
            <a:off x="5541264" y="1773936"/>
            <a:ext cx="13898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90" dirty="0"/>
          </a:p>
        </p:txBody>
      </p:sp>
      <p:sp>
        <p:nvSpPr>
          <p:cNvPr id="17" name="Text 15"/>
          <p:cNvSpPr/>
          <p:nvPr/>
        </p:nvSpPr>
        <p:spPr>
          <a:xfrm>
            <a:off x="6931152" y="1773936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90" dirty="0"/>
          </a:p>
        </p:txBody>
      </p:sp>
      <p:sp>
        <p:nvSpPr>
          <p:cNvPr id="18" name="Shape 16"/>
          <p:cNvSpPr/>
          <p:nvPr/>
        </p:nvSpPr>
        <p:spPr>
          <a:xfrm>
            <a:off x="502920" y="2203704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2203704"/>
            <a:ext cx="1691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90" dirty="0"/>
          </a:p>
        </p:txBody>
      </p:sp>
      <p:sp>
        <p:nvSpPr>
          <p:cNvPr id="20" name="Text 18"/>
          <p:cNvSpPr/>
          <p:nvPr/>
        </p:nvSpPr>
        <p:spPr>
          <a:xfrm>
            <a:off x="2194560" y="2203704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90" dirty="0"/>
          </a:p>
        </p:txBody>
      </p:sp>
      <p:sp>
        <p:nvSpPr>
          <p:cNvPr id="21" name="Text 19"/>
          <p:cNvSpPr/>
          <p:nvPr/>
        </p:nvSpPr>
        <p:spPr>
          <a:xfrm>
            <a:off x="3218688" y="2203704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90" dirty="0"/>
          </a:p>
        </p:txBody>
      </p:sp>
      <p:sp>
        <p:nvSpPr>
          <p:cNvPr id="22" name="Text 20"/>
          <p:cNvSpPr/>
          <p:nvPr/>
        </p:nvSpPr>
        <p:spPr>
          <a:xfrm>
            <a:off x="4242816" y="2203704"/>
            <a:ext cx="12984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90" dirty="0"/>
          </a:p>
        </p:txBody>
      </p:sp>
      <p:sp>
        <p:nvSpPr>
          <p:cNvPr id="23" name="Text 21"/>
          <p:cNvSpPr/>
          <p:nvPr/>
        </p:nvSpPr>
        <p:spPr>
          <a:xfrm>
            <a:off x="5541264" y="2203704"/>
            <a:ext cx="13898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90" dirty="0"/>
          </a:p>
        </p:txBody>
      </p:sp>
      <p:sp>
        <p:nvSpPr>
          <p:cNvPr id="24" name="Text 22"/>
          <p:cNvSpPr/>
          <p:nvPr/>
        </p:nvSpPr>
        <p:spPr>
          <a:xfrm>
            <a:off x="6931152" y="2203704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+0,46</a:t>
            </a:r>
            <a:endParaRPr lang="en-US" sz="1190" dirty="0"/>
          </a:p>
        </p:txBody>
      </p:sp>
      <p:sp>
        <p:nvSpPr>
          <p:cNvPr id="25" name="Shape 23"/>
          <p:cNvSpPr/>
          <p:nvPr/>
        </p:nvSpPr>
        <p:spPr>
          <a:xfrm>
            <a:off x="502920" y="2633472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502920" y="2633472"/>
            <a:ext cx="1691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90" dirty="0"/>
          </a:p>
        </p:txBody>
      </p:sp>
      <p:sp>
        <p:nvSpPr>
          <p:cNvPr id="27" name="Text 25"/>
          <p:cNvSpPr/>
          <p:nvPr/>
        </p:nvSpPr>
        <p:spPr>
          <a:xfrm>
            <a:off x="2194560" y="2633472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90" dirty="0"/>
          </a:p>
        </p:txBody>
      </p:sp>
      <p:sp>
        <p:nvSpPr>
          <p:cNvPr id="28" name="Text 26"/>
          <p:cNvSpPr/>
          <p:nvPr/>
        </p:nvSpPr>
        <p:spPr>
          <a:xfrm>
            <a:off x="3218688" y="2633472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90" dirty="0"/>
          </a:p>
        </p:txBody>
      </p:sp>
      <p:sp>
        <p:nvSpPr>
          <p:cNvPr id="29" name="Text 27"/>
          <p:cNvSpPr/>
          <p:nvPr/>
        </p:nvSpPr>
        <p:spPr>
          <a:xfrm>
            <a:off x="4242816" y="2633472"/>
            <a:ext cx="12984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90" dirty="0"/>
          </a:p>
        </p:txBody>
      </p:sp>
      <p:sp>
        <p:nvSpPr>
          <p:cNvPr id="30" name="Text 28"/>
          <p:cNvSpPr/>
          <p:nvPr/>
        </p:nvSpPr>
        <p:spPr>
          <a:xfrm>
            <a:off x="5541264" y="2633472"/>
            <a:ext cx="13898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69,08</a:t>
            </a:r>
            <a:endParaRPr lang="en-US" sz="1190" dirty="0"/>
          </a:p>
        </p:txBody>
      </p:sp>
      <p:sp>
        <p:nvSpPr>
          <p:cNvPr id="31" name="Text 29"/>
          <p:cNvSpPr/>
          <p:nvPr/>
        </p:nvSpPr>
        <p:spPr>
          <a:xfrm>
            <a:off x="6931152" y="2633472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90" dirty="0"/>
          </a:p>
        </p:txBody>
      </p:sp>
      <p:sp>
        <p:nvSpPr>
          <p:cNvPr id="32" name="Shape 30"/>
          <p:cNvSpPr/>
          <p:nvPr/>
        </p:nvSpPr>
        <p:spPr>
          <a:xfrm>
            <a:off x="502920" y="3063240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502920" y="3063240"/>
            <a:ext cx="1691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90" dirty="0"/>
          </a:p>
        </p:txBody>
      </p:sp>
      <p:sp>
        <p:nvSpPr>
          <p:cNvPr id="34" name="Text 32"/>
          <p:cNvSpPr/>
          <p:nvPr/>
        </p:nvSpPr>
        <p:spPr>
          <a:xfrm>
            <a:off x="2194560" y="3063240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90" dirty="0"/>
          </a:p>
        </p:txBody>
      </p:sp>
      <p:sp>
        <p:nvSpPr>
          <p:cNvPr id="35" name="Text 33"/>
          <p:cNvSpPr/>
          <p:nvPr/>
        </p:nvSpPr>
        <p:spPr>
          <a:xfrm>
            <a:off x="3218688" y="3063240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90" dirty="0"/>
          </a:p>
        </p:txBody>
      </p:sp>
      <p:sp>
        <p:nvSpPr>
          <p:cNvPr id="36" name="Text 34"/>
          <p:cNvSpPr/>
          <p:nvPr/>
        </p:nvSpPr>
        <p:spPr>
          <a:xfrm>
            <a:off x="4242816" y="3063240"/>
            <a:ext cx="12984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90" dirty="0"/>
          </a:p>
        </p:txBody>
      </p:sp>
      <p:sp>
        <p:nvSpPr>
          <p:cNvPr id="37" name="Text 35"/>
          <p:cNvSpPr/>
          <p:nvPr/>
        </p:nvSpPr>
        <p:spPr>
          <a:xfrm>
            <a:off x="5541264" y="3063240"/>
            <a:ext cx="13898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90" dirty="0"/>
          </a:p>
        </p:txBody>
      </p:sp>
      <p:sp>
        <p:nvSpPr>
          <p:cNvPr id="38" name="Text 36"/>
          <p:cNvSpPr/>
          <p:nvPr/>
        </p:nvSpPr>
        <p:spPr>
          <a:xfrm>
            <a:off x="6931152" y="3063240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+11,98</a:t>
            </a:r>
            <a:endParaRPr lang="en-US" sz="1190" dirty="0"/>
          </a:p>
        </p:txBody>
      </p:sp>
      <p:sp>
        <p:nvSpPr>
          <p:cNvPr id="39" name="Shape 37"/>
          <p:cNvSpPr/>
          <p:nvPr/>
        </p:nvSpPr>
        <p:spPr>
          <a:xfrm>
            <a:off x="502920" y="3493008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502920" y="3493008"/>
            <a:ext cx="1691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90" dirty="0"/>
          </a:p>
        </p:txBody>
      </p:sp>
      <p:sp>
        <p:nvSpPr>
          <p:cNvPr id="41" name="Text 39"/>
          <p:cNvSpPr/>
          <p:nvPr/>
        </p:nvSpPr>
        <p:spPr>
          <a:xfrm>
            <a:off x="2194560" y="3493008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90" dirty="0"/>
          </a:p>
        </p:txBody>
      </p:sp>
      <p:sp>
        <p:nvSpPr>
          <p:cNvPr id="42" name="Text 40"/>
          <p:cNvSpPr/>
          <p:nvPr/>
        </p:nvSpPr>
        <p:spPr>
          <a:xfrm>
            <a:off x="3218688" y="3493008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90" dirty="0"/>
          </a:p>
        </p:txBody>
      </p:sp>
      <p:sp>
        <p:nvSpPr>
          <p:cNvPr id="43" name="Text 41"/>
          <p:cNvSpPr/>
          <p:nvPr/>
        </p:nvSpPr>
        <p:spPr>
          <a:xfrm>
            <a:off x="4242816" y="3493008"/>
            <a:ext cx="12984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90" dirty="0"/>
          </a:p>
        </p:txBody>
      </p:sp>
      <p:sp>
        <p:nvSpPr>
          <p:cNvPr id="44" name="Text 42"/>
          <p:cNvSpPr/>
          <p:nvPr/>
        </p:nvSpPr>
        <p:spPr>
          <a:xfrm>
            <a:off x="5541264" y="3493008"/>
            <a:ext cx="13898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90" dirty="0"/>
          </a:p>
        </p:txBody>
      </p:sp>
      <p:sp>
        <p:nvSpPr>
          <p:cNvPr id="45" name="Text 43"/>
          <p:cNvSpPr/>
          <p:nvPr/>
        </p:nvSpPr>
        <p:spPr>
          <a:xfrm>
            <a:off x="6931152" y="3493008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+1,34</a:t>
            </a:r>
            <a:endParaRPr lang="en-US" sz="1190" dirty="0"/>
          </a:p>
        </p:txBody>
      </p:sp>
      <p:sp>
        <p:nvSpPr>
          <p:cNvPr id="46" name="Shape 44"/>
          <p:cNvSpPr/>
          <p:nvPr/>
        </p:nvSpPr>
        <p:spPr>
          <a:xfrm>
            <a:off x="502920" y="3922776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7" name="Text 45"/>
          <p:cNvSpPr/>
          <p:nvPr/>
        </p:nvSpPr>
        <p:spPr>
          <a:xfrm>
            <a:off x="502920" y="3922776"/>
            <a:ext cx="1691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90" dirty="0"/>
          </a:p>
        </p:txBody>
      </p:sp>
      <p:sp>
        <p:nvSpPr>
          <p:cNvPr id="48" name="Text 46"/>
          <p:cNvSpPr/>
          <p:nvPr/>
        </p:nvSpPr>
        <p:spPr>
          <a:xfrm>
            <a:off x="2194560" y="3922776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90" dirty="0"/>
          </a:p>
        </p:txBody>
      </p:sp>
      <p:sp>
        <p:nvSpPr>
          <p:cNvPr id="49" name="Text 47"/>
          <p:cNvSpPr/>
          <p:nvPr/>
        </p:nvSpPr>
        <p:spPr>
          <a:xfrm>
            <a:off x="3218688" y="3922776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90" dirty="0"/>
          </a:p>
        </p:txBody>
      </p:sp>
      <p:sp>
        <p:nvSpPr>
          <p:cNvPr id="50" name="Text 48"/>
          <p:cNvSpPr/>
          <p:nvPr/>
        </p:nvSpPr>
        <p:spPr>
          <a:xfrm>
            <a:off x="4242816" y="3922776"/>
            <a:ext cx="12984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90" dirty="0"/>
          </a:p>
        </p:txBody>
      </p:sp>
      <p:sp>
        <p:nvSpPr>
          <p:cNvPr id="51" name="Text 49"/>
          <p:cNvSpPr/>
          <p:nvPr/>
        </p:nvSpPr>
        <p:spPr>
          <a:xfrm>
            <a:off x="5541264" y="3922776"/>
            <a:ext cx="13898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90" dirty="0"/>
          </a:p>
        </p:txBody>
      </p:sp>
      <p:sp>
        <p:nvSpPr>
          <p:cNvPr id="52" name="Text 50"/>
          <p:cNvSpPr/>
          <p:nvPr/>
        </p:nvSpPr>
        <p:spPr>
          <a:xfrm>
            <a:off x="6931152" y="3922776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90" dirty="0"/>
          </a:p>
        </p:txBody>
      </p:sp>
      <p:sp>
        <p:nvSpPr>
          <p:cNvPr id="53" name="Shape 51"/>
          <p:cNvSpPr/>
          <p:nvPr/>
        </p:nvSpPr>
        <p:spPr>
          <a:xfrm>
            <a:off x="502920" y="4352544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4" name="Text 52"/>
          <p:cNvSpPr/>
          <p:nvPr/>
        </p:nvSpPr>
        <p:spPr>
          <a:xfrm>
            <a:off x="502920" y="4352544"/>
            <a:ext cx="1691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90" dirty="0"/>
          </a:p>
        </p:txBody>
      </p:sp>
      <p:sp>
        <p:nvSpPr>
          <p:cNvPr id="55" name="Text 53"/>
          <p:cNvSpPr/>
          <p:nvPr/>
        </p:nvSpPr>
        <p:spPr>
          <a:xfrm>
            <a:off x="2194560" y="4352544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90" dirty="0"/>
          </a:p>
        </p:txBody>
      </p:sp>
      <p:sp>
        <p:nvSpPr>
          <p:cNvPr id="56" name="Text 54"/>
          <p:cNvSpPr/>
          <p:nvPr/>
        </p:nvSpPr>
        <p:spPr>
          <a:xfrm>
            <a:off x="3218688" y="4352544"/>
            <a:ext cx="10241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90" dirty="0"/>
          </a:p>
        </p:txBody>
      </p:sp>
      <p:sp>
        <p:nvSpPr>
          <p:cNvPr id="57" name="Text 55"/>
          <p:cNvSpPr/>
          <p:nvPr/>
        </p:nvSpPr>
        <p:spPr>
          <a:xfrm>
            <a:off x="4242816" y="4352544"/>
            <a:ext cx="12984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90" dirty="0"/>
          </a:p>
        </p:txBody>
      </p:sp>
      <p:sp>
        <p:nvSpPr>
          <p:cNvPr id="58" name="Text 56"/>
          <p:cNvSpPr/>
          <p:nvPr/>
        </p:nvSpPr>
        <p:spPr>
          <a:xfrm>
            <a:off x="5541264" y="4352544"/>
            <a:ext cx="13898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90" dirty="0"/>
          </a:p>
        </p:txBody>
      </p:sp>
      <p:sp>
        <p:nvSpPr>
          <p:cNvPr id="59" name="Text 57"/>
          <p:cNvSpPr/>
          <p:nvPr/>
        </p:nvSpPr>
        <p:spPr>
          <a:xfrm>
            <a:off x="6931152" y="4352544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90" dirty="0"/>
          </a:p>
        </p:txBody>
      </p:sp>
      <p:sp>
        <p:nvSpPr>
          <p:cNvPr id="60" name="Shape 58"/>
          <p:cNvSpPr/>
          <p:nvPr/>
        </p:nvSpPr>
        <p:spPr>
          <a:xfrm>
            <a:off x="502920" y="5010912"/>
            <a:ext cx="8138160" cy="74980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67512" y="5010912"/>
            <a:ext cx="78089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làm cả 7 thước đo văn bản tăng; Executability gần như giữ nguyên: +0,02 điểm, KTC 95% [−0,21; +0,26].</a:t>
            </a:r>
            <a:endParaRPr lang="en-US" sz="1340" dirty="0"/>
          </a:p>
        </p:txBody>
      </p:sp>
      <p:sp>
        <p:nvSpPr>
          <p:cNvPr id="62" name="Text 60"/>
          <p:cNvSpPr/>
          <p:nvPr/>
        </p:nvSpPr>
        <p:spPr>
          <a:xfrm>
            <a:off x="502920" y="58795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ý: các mức tăng của 7 thước đo văn bản hiện chưa có khoảng tin cậy.</a:t>
            </a:r>
            <a:endParaRPr lang="en-US" sz="1080" dirty="0"/>
          </a:p>
        </p:txBody>
      </p:sp>
      <p:sp>
        <p:nvSpPr>
          <p:cNvPr id="63" name="Text 61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§6.4, §6.6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20/24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 Một số hướng đã thử và bài học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389120" y="914400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3350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46120" y="1335024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89120" y="1335024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trung gian đúng thì giúp; sai thì làm câu giảm mạnh.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90195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019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190195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89120" y="1901952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Vị trí tốt hơn nhưng câu gần như không đổi.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viên*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246120" y="246888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89120" y="246888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trường hợp được chọn có chất lượng tốt, nhưng tỷ lệ từ chối quá cao.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03580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0358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 crop editor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46120" y="303580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303580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sửa câu không vượt câu hướng dẫn ban đầu.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4370832"/>
            <a:ext cx="813816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370832"/>
            <a:ext cx="7772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chung của các thử nghiệm này là cải thiện ở bước trung gian không bảo đảm câu hướng dẫn cuối tốt hơn. Vì vậy phương pháp cuối tác động trực tiếp lên câu được sinh.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523036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Cấu hình chọn ứng viên khác ba yếu tố thiết lập, nên chỉ so sánh trực tiếp được với Base.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§6.10, Phụ lục 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 Hạn chế và hướng phát triển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6245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25296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của GRPO + SPICE chưa ổn định giữa hai lượt huấn luyện; thiết lập sinh của S1 và GRPO cũng chưa hoàn toàn đồng nhất.</a:t>
            </a:r>
            <a:endParaRPr lang="en-US" sz="1340" dirty="0"/>
          </a:p>
        </p:txBody>
      </p:sp>
      <p:sp>
        <p:nvSpPr>
          <p:cNvPr id="7" name="Shape 5"/>
          <p:cNvSpPr/>
          <p:nvPr/>
        </p:nvSpPr>
        <p:spPr>
          <a:xfrm>
            <a:off x="521208" y="202082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883664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vẫn là thước đo gián tiếp qua mô hình định vị và chưa được đối chiếu với đánh giá người dùng trên tập đủ lớn.</a:t>
            </a:r>
            <a:endParaRPr lang="en-US" sz="1340" dirty="0"/>
          </a:p>
        </p:txBody>
      </p:sp>
      <p:sp>
        <p:nvSpPr>
          <p:cNvPr id="9" name="Shape 7"/>
          <p:cNvSpPr/>
          <p:nvPr/>
        </p:nvSpPr>
        <p:spPr>
          <a:xfrm>
            <a:off x="521208" y="267919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542032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2.495 bước không chạm, GRPO + SPICE làm tỉ lệ đúng loại thao tác giảm 1,68 điểm; 7 thước đo văn bản của ACE hiện chưa có KTC.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521208" y="33375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00400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mới dùng AndroidControl tiếng Anh, một backbone 3B và lịch sử thao tác tham chiếu.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475488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617720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Executability với đánh giá của người dùng và đồng nhất chặt hơn thiết lập giữa các mô hình.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521208" y="54132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5276088"/>
            <a:ext cx="7927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tập kiểm tra chính thức, bộ dữ liệu thứ hai, bước không chạm và giao diện tiếng Việt.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§7.2–§7.4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22/24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 Kết luận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21208" y="11887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051560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 gồm hai thành phần: GRPO + SPICE sinh câu ban đầu; ACE chỉ hiệu chỉnh có chọn lọc.</a:t>
            </a:r>
            <a:endParaRPr lang="en-US" sz="1440" dirty="0"/>
          </a:p>
        </p:txBody>
      </p:sp>
      <p:sp>
        <p:nvSpPr>
          <p:cNvPr id="6" name="Shape 4"/>
          <p:cNvSpPr/>
          <p:nvPr/>
        </p:nvSpPr>
        <p:spPr>
          <a:xfrm>
            <a:off x="521208" y="21214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84248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Lượt GRPO dùng trong phương pháp tạo phần lớn mức tăng Executability; ACE làm cả 7 thước đo dựa trên câu tham chiếu tăng và gần như giữ nguyên Executability.</a:t>
            </a:r>
            <a:endParaRPr lang="en-US" sz="1440" dirty="0"/>
          </a:p>
        </p:txBody>
      </p:sp>
      <p:sp>
        <p:nvSpPr>
          <p:cNvPr id="8" name="Shape 6"/>
          <p:cNvSpPr/>
          <p:nvPr/>
        </p:nvSpPr>
        <p:spPr>
          <a:xfrm>
            <a:off x="521208" y="305409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916936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đạt 60,7% Executability, cao hơn S1/101 1,57 điểm; KTC 95% [+0,86; +2,31].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521208" y="39867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49624"/>
            <a:ext cx="7927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lặp lại GRPO + SPICE với seed khác, chiều cải thiện vẫn giữ nhưng độ lớn giảm; vì vậy +1,55 chưa được xem là mức tăng ổn định của phương pháp.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97280" y="5047488"/>
            <a:ext cx="6949440" cy="6583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5047488"/>
            <a:ext cx="6547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là thước đo chính cho khả năng xác định đúng phần tử và thao tác; các thước đo khác bổ sung góc nhìn về vị trí và câu tham chiếu.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23/24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0,14W;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thước đo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47,60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63,40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+0,46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69,08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+11,98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+1,34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Cross-listener validation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777240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Phép so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03320" y="10972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89320" y="10972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1790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S1 − Base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15179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+10,35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89320" y="15179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+9,68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048256"/>
            <a:ext cx="77724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204825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 (S2) − S1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20482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−1,93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89320" y="20482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−1,21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578608"/>
            <a:ext cx="77724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7860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03320" y="257860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9320" y="257860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 giữ rõ chênh lệch S1 − Base, nhưng không tách được phương pháp đề xuất khỏi S1 seed 202.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2026-10-25T10:45:57Z</dcterms:created>
  <dcterms:modified xsi:type="dcterms:W3CDTF">2026-10-25T10:45:57Z</dcterms:modified>
</cp:coreProperties>
</file>