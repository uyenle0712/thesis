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ĐẠI HỌC QUỐC GIA TP. HỒ CHÍ MINH  -  TRƯỜNG ĐẠI HỌC KHOA HỌC TỰ NHIÊN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078992"/>
            <a:ext cx="7680960" cy="2286000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THẠC SĨ  -  NGÀNH TRÍ TUỆ NHÂN TẠO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792224"/>
            <a:ext cx="7406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DỰA TRÊN LLM TỪ CÁC TRƯỜNG HỢP SỬ DỤNG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GIAO DIỆN NGƯỜI DÙNG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4160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 thực hiện: Lê Đoàn Phương Uyên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Giáo viên hướng dẫn: TS. Nguyễn Hồng Bửu Long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37667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TP. Hồ Chí Minh - 2026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Bài toán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Từ trạng thái giao diện hiện tại, sinh một câu hướng dẫn để người dùng biết chính xác bước tiếp theo cần làm.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847088"/>
            <a:ext cx="18745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4708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Màn hình hiện tại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78608" y="2286000"/>
            <a:ext cx="43891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127248" y="1847088"/>
            <a:ext cx="18745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27248" y="184708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sinh câu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11496" y="2286000"/>
            <a:ext cx="43891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669280" y="1719072"/>
            <a:ext cx="2697480" cy="11155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1719072"/>
            <a:ext cx="2697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“Chạm vào Not now”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0292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vào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21208" y="388620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74904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Ảnh màn hình hiện tại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21208" y="43891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25196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người dùng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21208" y="48920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75488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sử thao tác trước đó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21208" y="53949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25780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Thông tin OCR trên giao diện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709160" y="3456432"/>
            <a:ext cx="3840480" cy="16459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983480" y="41605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hướng dẫn cho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tiếp theo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2920" y="555955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 của luận văn là câu hướng dẫn cho người dùng, không phải tọa độ để agent tự thao tác.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§1.2–§1.3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2/24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Thách thức của câu hướng dẫn GUI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nghe hoàn toàn tự nhiên vẫn có thể không đủ thông tin để người dùng chọn đúng phần tử.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mơ hồ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the button.”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biết phải chạm nút nào khi màn hình có nhiều nút.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463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đủ rõ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749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Not now.”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1206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ra đúng phần tử cần thao tác.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486460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vậy, câu hướng dẫn không chỉ cần đúng nội dung mà còn phải phân biệt được đúng phần tử cần thao tác.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1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3/24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Khoảng trống đánh giá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thước đo so sánh câu chưa trực tiếp phản ánh điều người dùng thực sự cần.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 / ROUGE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giống reference đến đâu?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01568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01568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/ CIDEr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 có tương đồng?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2331720" cy="14630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16916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Điều cần biết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có giúp xác định đúng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tử và thao tác?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đó, luận văn đánh giá cả mức tương đồng với câu tham chiếu và khả năng xác định đúng phần tử, đúng loại thao tác.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4/24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Đóng góp của luận văn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2514600" cy="30632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0759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Phương pháp đề xuất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31520" y="1938528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thành phần nối tiếp: GRPO + SPICE sinh câu ban đầu; ACE chỉ hiệu chỉnh khi câu ví dụ thỏa điều kiện chọn lọc.</a:t>
            </a:r>
            <a:endParaRPr lang="en-US" sz="1420" dirty="0"/>
          </a:p>
        </p:txBody>
      </p:sp>
      <p:sp>
        <p:nvSpPr>
          <p:cNvPr id="7" name="Shape 5"/>
          <p:cNvSpPr/>
          <p:nvPr/>
        </p:nvSpPr>
        <p:spPr>
          <a:xfrm>
            <a:off x="3319272" y="1051560"/>
            <a:ext cx="2514600" cy="30632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6432" y="13533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Executability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47872" y="19202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một mô hình định vị tách biệt để kiểm tra câu có giúp xác định đúng phần tử và đúng loại thao tác hay không.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6126480" y="1051560"/>
            <a:ext cx="2514600" cy="30632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30759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Phân tích thực nghiệm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355080" y="19202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tích các phương án đã thử để làm rõ vì sao cải thiện ở bước trung gian chưa chắc tạo ra câu hướng dẫn tốt hơn.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502920" y="4407408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Bên cạnh ba đóng góp chính, luận văn còn xây dựng tự động tập giám sát từ AndroidControl để phục vụ huấn luyện và đánh giá.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502920" y="5138928"/>
            <a:ext cx="8138160" cy="62179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5138928"/>
            <a:ext cx="78089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chính: 60,7% Executability, cao hơn S1/101 1,57 điểm; KTC 95% [+0,86; +2,31].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§1.6, §6.2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5/24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Tổng quan phương pháp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731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3444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25880" y="1645920"/>
            <a:ext cx="32004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37360" y="1234440"/>
            <a:ext cx="1691640" cy="8229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37360" y="1234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520440" y="1645920"/>
            <a:ext cx="27432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886200" y="1097280"/>
            <a:ext cx="16002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86200" y="109728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 đầu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577840" y="1645920"/>
            <a:ext cx="27432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943600" y="1234440"/>
            <a:ext cx="822960" cy="8229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1234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0" y="1645920"/>
            <a:ext cx="27432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23760" y="1097280"/>
            <a:ext cx="14173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0" y="109728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cuối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02920" y="3154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21208" y="3794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3657600"/>
            <a:ext cx="36758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nhiều câu cho cùng một tình huống.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21208" y="4544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4407408"/>
            <a:ext cx="36758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SPICE kèm phạt độ dài làm tín hiệu cập nhật.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1772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636008" y="3794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28032" y="3657600"/>
            <a:ext cx="38130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câu ví dụ và sinh một câu ứng viên.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636008" y="4544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28032" y="4407408"/>
            <a:ext cx="38130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thay câu ban đầu khi đủ điều kiện chọn lọc.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4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6/24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Dữ liệu AndroidControl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chia dữ liệu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813816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53312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971800" y="13533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00600" y="13533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629400" y="135331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Ghi chú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02920" y="1773936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bước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971800" y="177393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64.567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800600" y="177393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6.958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629400" y="17739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 theo tác vụ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2249424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502920" y="2249424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chạm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971800" y="224942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41.191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800600" y="224942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629400" y="22494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để tính Executability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2724912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272491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tác vụ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971800" y="272491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12.895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800600" y="272491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1.432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629400" y="272491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trùng tác vụ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3429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cần lưu ý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21208" y="394106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803904"/>
            <a:ext cx="7927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Train/test của đề tài không trùng tác vụ; không tương đương cách chia kiểm tra chính thức của AndroidControl.</a:t>
            </a:r>
            <a:endParaRPr lang="en-US" sz="1380" dirty="0"/>
          </a:p>
        </p:txBody>
      </p:sp>
      <p:sp>
        <p:nvSpPr>
          <p:cNvPr id="27" name="Shape 25"/>
          <p:cNvSpPr/>
          <p:nvPr/>
        </p:nvSpPr>
        <p:spPr>
          <a:xfrm>
            <a:off x="521208" y="458114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4443984"/>
            <a:ext cx="7927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45,0% bước test xác định được tên ứng dụng; trong phần này, 95,6% thuộc ứng dụng đã xuất hiện trong train.</a:t>
            </a:r>
            <a:endParaRPr lang="en-US" sz="1380" dirty="0"/>
          </a:p>
        </p:txBody>
      </p:sp>
      <p:sp>
        <p:nvSpPr>
          <p:cNvPr id="29" name="Shape 27"/>
          <p:cNvSpPr/>
          <p:nvPr/>
        </p:nvSpPr>
        <p:spPr>
          <a:xfrm>
            <a:off x="521208" y="522122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5084064"/>
            <a:ext cx="7927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45,5% câu tham chiếu ở test xuất hiện nguyên câu trong train; 77,7% có ít nhất một cụm 4 token đã thấy.</a:t>
            </a:r>
            <a:endParaRPr lang="en-US" sz="1380" dirty="0"/>
          </a:p>
        </p:txBody>
      </p:sp>
      <p:sp>
        <p:nvSpPr>
          <p:cNvPr id="31" name="Text 29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3, §6.8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7/24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 Mô hình nền S1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nền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 + QLoRA 4-bit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47,6%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28620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gốc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566160" y="2331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66160" y="28620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S1 - seed 101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55080" y="2331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355080" y="28620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S1 - seed 202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SFT đã tạo ra bước nhảy lớn; phương pháp đề xuất tiếp tục tối ưu từ S1.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486460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Tháp thị giác và tầng chiếu đa phương thức được đóng băng; khoảng 15 triệu tham số được huấn luyện.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§4.3, §6.1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8/24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Khung đánh giá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được xem xét theo ba nhóm thước đo.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2423160" cy="28803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9339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có giúp xác định đúng phần tử và đúng loại thao tác?</a:t>
            </a:r>
            <a:endParaRPr lang="en-US" sz="1470" dirty="0"/>
          </a:p>
        </p:txBody>
      </p:sp>
      <p:sp>
        <p:nvSpPr>
          <p:cNvPr id="8" name="Shape 6"/>
          <p:cNvSpPr/>
          <p:nvPr/>
        </p:nvSpPr>
        <p:spPr>
          <a:xfrm>
            <a:off x="3364992" y="1691640"/>
            <a:ext cx="2423160" cy="28803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99339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Thước đo vị trí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93592" y="27432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 tắc hộp phần tử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Khoảng cách Euclid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126480" y="1691640"/>
            <a:ext cx="2423160" cy="28803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99339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Thước đo văn bản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55080" y="260604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BLEU, METEOR, ROUGE-L,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CIDEr-D, SPICE, chrF, BERTScore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5074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chính dựa trên Executability; các nhóm còn lại bổ sung góc nhìn về vị trí và mức tương đồng với câu tham chiếu.</a:t>
            </a:r>
            <a:endParaRPr lang="en-US" sz="1520" dirty="0"/>
          </a:p>
        </p:txBody>
      </p:sp>
      <p:sp>
        <p:nvSpPr>
          <p:cNvPr id="15" name="Text 13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5–6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9/24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 Executability - ý nghĩa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kiểm tra liệu câu hướng dẫn có giúp xác định đúng phần tử, đồng thời mô tả đúng loại thao tác cần thực hiện hay không.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94360" y="2240280"/>
            <a:ext cx="20116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240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Not now”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24912" y="2697480"/>
            <a:ext cx="45720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10128" y="2240280"/>
            <a:ext cx="2011680" cy="9144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128" y="2240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Màn hình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40680" y="2697480"/>
            <a:ext cx="45720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16752" y="2240280"/>
            <a:ext cx="2011680" cy="9144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6752" y="2240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022592" y="3291840"/>
            <a:ext cx="0" cy="50292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897880" y="3977640"/>
            <a:ext cx="2240280" cy="8229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97880" y="39776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đúng “Not now”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5138928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trên minh họa phần định vị; khi tính điểm còn phải đúng loại thao tác và không gọi trạng thái đối nghịch.</a:t>
            </a:r>
            <a:endParaRPr lang="en-US" sz="1480" dirty="0"/>
          </a:p>
        </p:txBody>
      </p:sp>
      <p:sp>
        <p:nvSpPr>
          <p:cNvPr id="17" name="Text 15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10/24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Executability - cách đánh giá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được tính đúng khi đồng thời thỏa ba điều kiện.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77240" y="222199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520440" y="1691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520440" y="222199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gọi trạng thái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nghịch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263640" y="1691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63640" y="222199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rơi thuộc đúng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tử cần chạm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703320"/>
            <a:ext cx="8138160" cy="11430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91363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tiết kỹ thuật của điều kiện 3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31520" y="434340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phải nằm trong dung sai ±14% theo hai trục và trong vùng Voronoi của phần tử đúng.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53949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không biết tọa độ đáp án và không tham gia huấn luyện phương pháp.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§5.2–§5.4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11/24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 Độ tin cậy của Executability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74,9%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17647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tham chiếu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611880" y="12344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12,0%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611880" y="17647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the button.”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37960" y="12344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6,1%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37960" y="17647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từ màn hình khác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4688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mốc trên được tính trên cùng mẫu ngẫu nhiên 800 bước.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502920" y="278892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21208" y="322783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090672"/>
            <a:ext cx="7927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biến đổi giữ nguyên nghĩa chỉ làm thay đổi kết quả ở 30/1.139 câu; hiệu ròng +0,35 điểm, KTC chứa 0.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521208" y="39593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822192"/>
            <a:ext cx="7927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đổi sang UI-Venus, phương pháp đề xuất vẫn cao hơn cả hai seed của S1; ACE gần như không đổi so với thành phần thứ nhất.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521208" y="469087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553712"/>
            <a:ext cx="7927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 vẫn giữ rõ chênh lệch S1 − Base, nhưng không tách được phương pháp đề xuất khỏi S1 seed 202.</a:t>
            </a:r>
            <a:endParaRPr lang="en-US" sz="1380" dirty="0"/>
          </a:p>
        </p:txBody>
      </p:sp>
      <p:sp>
        <p:nvSpPr>
          <p:cNvPr id="18" name="Text 16"/>
          <p:cNvSpPr/>
          <p:nvPr/>
        </p:nvSpPr>
        <p:spPr>
          <a:xfrm>
            <a:off x="502920" y="53766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Độ đo phản ứng rõ khi mất thông tin quy chiếu, nhưng kết quả vẫn cần được đọc cùng giới hạn của mô hình đánh giá.</a:t>
            </a:r>
            <a:endParaRPr lang="en-US" sz="1380" dirty="0"/>
          </a:p>
        </p:txBody>
      </p:sp>
      <p:sp>
        <p:nvSpPr>
          <p:cNvPr id="19" name="Text 17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§5.5–§5.10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12/24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 Cách GRPO hoạt động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Với cùng một tình huống, mô hình sinh nhiều câu hướng dẫn rồi học từ phần thưởng dựa trên SPICE trong từng nhóm.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2148840"/>
            <a:ext cx="1371600" cy="8229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tình huống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084832" y="2560320"/>
            <a:ext cx="41148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606040" y="1965960"/>
            <a:ext cx="155448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06040" y="19659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câu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dẫn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79392" y="2560320"/>
            <a:ext cx="41148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800600" y="1965960"/>
            <a:ext cx="155448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9659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phạt độ dài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73952" y="2560320"/>
            <a:ext cx="41148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995160" y="1965960"/>
            <a:ext cx="155448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95160" y="19659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học từ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trong nhóm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42519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có điểm cao hơn trong cùng nhóm được tăng ưu tiên; câu có điểm thấp hơn bị giảm ưu tiên.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13/24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 Kết quả GRPO + SPICE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4206240" cy="43434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704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Cần chạm: Not 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S1: “Click on the Allow button …”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99923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sai phần tử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5844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SPICE: “Click on Not now …”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069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đúng phần tử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914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Lượt 1 · toàn tập kiểm tra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892040" y="1508760"/>
            <a:ext cx="3703320" cy="41148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5087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126480" y="15087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360920" y="15087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892040" y="1920240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126480" y="1920240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360920" y="1920240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892040" y="2450592"/>
            <a:ext cx="37033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4892040" y="2450592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26480" y="2450592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360920" y="2450592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892040" y="2980944"/>
            <a:ext cx="37033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892040" y="298094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126480" y="298094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360920" y="298094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983480" y="38862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 điểm Executability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800600" y="4590288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Lượt huấn luyện thứ hai đạt 59,94% Exec. (+0,83 so với S1/101) và không khác S1/202 có ý nghĩa → chiều tăng giữ, độ lớn chưa ổn định.</a:t>
            </a:r>
            <a:endParaRPr lang="en-US" sz="1190" dirty="0"/>
          </a:p>
        </p:txBody>
      </p:sp>
      <p:sp>
        <p:nvSpPr>
          <p:cNvPr id="29" name="Text 27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§6.3, §6.7.2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14/24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 Động lực của ACE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mới có thể giống bước đã thấy trong tập huấn luyện, nhưng dùng lại câu không chọn lọc dễ dẫn tới sai thao tác.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794760" cy="2331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33172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hội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9718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mới có thể rất giống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đã thấy trong tập huấn luyện.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46320" y="2057400"/>
            <a:ext cx="3794760" cy="2331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233172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Rủi ro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120640" y="29718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gần giống nhưng khác thao tác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dùng lại câu có thể làm sai kết quả.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" y="4892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vậy ACE không dùng câu truy hồi ở mọi bước; câu ban đầu chỉ được thay khi thỏa điều kiện chọn lọc.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§4.6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15/24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 Quy trình ACE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1143000"/>
            <a:ext cx="15087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 đầu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2011680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50592" y="1051560"/>
            <a:ext cx="1737360" cy="10515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50592" y="10515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câu ví dụ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tương tự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79392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18304" y="1051560"/>
            <a:ext cx="1417320" cy="10515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0515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sinh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 câu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27064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65976" y="960120"/>
            <a:ext cx="2011680" cy="12344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65976" y="9601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điều kiện chọn lọc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điều kiện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02920" y="3246120"/>
            <a:ext cx="3840480" cy="9601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" y="3246120"/>
            <a:ext cx="3511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Câu ứng viên phải là một trong bốn câu ví dụ được truy hồi.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4800600" y="3246120"/>
            <a:ext cx="3840480" cy="9601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65192" y="3246120"/>
            <a:ext cx="3511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Động từ đầu câu thuộc cùng lớp thao tác với câu hướng dẫn ban đầu.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783080" y="4709160"/>
            <a:ext cx="2331720" cy="7315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783080" y="47091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Đủ điều kiện → dùng câu mới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0" y="4709160"/>
            <a:ext cx="23317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0" y="47091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đủ → giữ câu ban đầu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§4.6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16/24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 Bằng chứng cho điều kiện chọn lọc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11430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167335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được ACE thay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520440" y="11430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9,0%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520440" y="167335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tổng số bước chạm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355080" y="11430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−1,25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355080" y="167335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Exec. nếu luôn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câu mô hình sinh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521208" y="32918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154680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402 câu được thay: 15 bước chuyển từ sai sang đúng, 14 bước theo chiều ngược lại.</a:t>
            </a:r>
            <a:endParaRPr lang="en-US" sz="1460" dirty="0"/>
          </a:p>
        </p:txBody>
      </p:sp>
      <p:sp>
        <p:nvSpPr>
          <p:cNvPr id="13" name="Shape 11"/>
          <p:cNvSpPr/>
          <p:nvPr/>
        </p:nvSpPr>
        <p:spPr>
          <a:xfrm>
            <a:off x="521208" y="40416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904488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ACE, Executability gần như không đổi: +0,02 điểm, KTC 95% [−0,21; +0,26].</a:t>
            </a:r>
            <a:endParaRPr lang="en-US" sz="1460" dirty="0"/>
          </a:p>
        </p:txBody>
      </p:sp>
      <p:sp>
        <p:nvSpPr>
          <p:cNvPr id="15" name="Shape 13"/>
          <p:cNvSpPr/>
          <p:nvPr/>
        </p:nvSpPr>
        <p:spPr>
          <a:xfrm>
            <a:off x="521208" y="479145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654296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quan sát của cả 7 thước đo dựa trên câu tham chiếu đều tăng.</a:t>
            </a:r>
            <a:endParaRPr lang="en-US" sz="1460" dirty="0"/>
          </a:p>
        </p:txBody>
      </p:sp>
      <p:sp>
        <p:nvSpPr>
          <p:cNvPr id="17" name="Text 15"/>
          <p:cNvSpPr/>
          <p:nvPr/>
        </p:nvSpPr>
        <p:spPr>
          <a:xfrm>
            <a:off x="502920" y="532180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chỉ can thiệp ở 9,0% số bước: giữ gần như nguyên khả năng thao tác, đồng thời làm đầu ra gần câu tham chiếu hơn theo các thước đo văn bản.</a:t>
            </a:r>
            <a:endParaRPr lang="en-US" sz="1380" dirty="0"/>
          </a:p>
        </p:txBody>
      </p:sp>
      <p:sp>
        <p:nvSpPr>
          <p:cNvPr id="18" name="Text 16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§6.4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17/24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 Thiết lập thực nghiệm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435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98448"/>
            <a:ext cx="35387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 + QLoRA 4-bit.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21208" y="21488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011680"/>
            <a:ext cx="35387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epochs, batch hiệu dụng 16, tốc độ học 1e−4.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1772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636008" y="1435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28032" y="1298448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câu cho mỗi đầu vào, 500 bước cập nhật.</a:t>
            </a:r>
            <a:endParaRPr lang="en-US" sz="1460" dirty="0"/>
          </a:p>
        </p:txBody>
      </p:sp>
      <p:sp>
        <p:nvSpPr>
          <p:cNvPr id="12" name="Shape 10"/>
          <p:cNvSpPr/>
          <p:nvPr/>
        </p:nvSpPr>
        <p:spPr>
          <a:xfrm>
            <a:off x="4636008" y="21488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28032" y="2011680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thưởng: SPICE − phạt độ dài; tốc độ học 1e−5, KL β = 0,04.</a:t>
            </a:r>
            <a:endParaRPr lang="en-US" sz="1460" dirty="0"/>
          </a:p>
        </p:txBody>
      </p:sp>
      <p:sp>
        <p:nvSpPr>
          <p:cNvPr id="14" name="Shape 12"/>
          <p:cNvSpPr/>
          <p:nvPr/>
        </p:nvSpPr>
        <p:spPr>
          <a:xfrm>
            <a:off x="502920" y="2999232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502920" y="33101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21208" y="383133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694176"/>
            <a:ext cx="35387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sinh câu ứng viên học tiếp 250 bước trên 3.991 bước có ảnh.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521208" y="4544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407408"/>
            <a:ext cx="35387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Suy luận: truy hồi 4 ví dụ; kho không chứa tác vụ của tập kiểm định nội bộ hoặc tập kiểm tra.</a:t>
            </a:r>
            <a:endParaRPr lang="en-US" sz="1420" dirty="0"/>
          </a:p>
        </p:txBody>
      </p:sp>
      <p:sp>
        <p:nvSpPr>
          <p:cNvPr id="20" name="Text 18"/>
          <p:cNvSpPr/>
          <p:nvPr/>
        </p:nvSpPr>
        <p:spPr>
          <a:xfrm>
            <a:off x="4617720" y="33101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636008" y="383133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8032" y="3694176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 bước chạm.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636008" y="4544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4407408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 và kiểm định cặp cho các so sánh chính.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§4.3–§4.6, Chương 6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18/24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 Kết quả khả năng thao tác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7543800" cy="43891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601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260" dirty="0"/>
          </a:p>
        </p:txBody>
      </p:sp>
      <p:sp>
        <p:nvSpPr>
          <p:cNvPr id="6" name="Text 4"/>
          <p:cNvSpPr/>
          <p:nvPr/>
        </p:nvSpPr>
        <p:spPr>
          <a:xfrm>
            <a:off x="3246120" y="96012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60" dirty="0"/>
          </a:p>
        </p:txBody>
      </p:sp>
      <p:sp>
        <p:nvSpPr>
          <p:cNvPr id="7" name="Text 5"/>
          <p:cNvSpPr/>
          <p:nvPr/>
        </p:nvSpPr>
        <p:spPr>
          <a:xfrm>
            <a:off x="4846320" y="96012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260" dirty="0"/>
          </a:p>
        </p:txBody>
      </p:sp>
      <p:sp>
        <p:nvSpPr>
          <p:cNvPr id="8" name="Text 6"/>
          <p:cNvSpPr/>
          <p:nvPr/>
        </p:nvSpPr>
        <p:spPr>
          <a:xfrm>
            <a:off x="6446520" y="96012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Euclid</a:t>
            </a:r>
            <a:endParaRPr lang="en-US" sz="1260" dirty="0"/>
          </a:p>
        </p:txBody>
      </p:sp>
      <p:sp>
        <p:nvSpPr>
          <p:cNvPr id="9" name="Text 7"/>
          <p:cNvSpPr/>
          <p:nvPr/>
        </p:nvSpPr>
        <p:spPr>
          <a:xfrm>
            <a:off x="502920" y="13990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gốc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3246120" y="139903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47,60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4846320" y="139903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446520" y="139903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63,40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502920" y="1892808"/>
            <a:ext cx="75438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502920" y="189280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3246120" y="189280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4846320" y="189280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6446520" y="189280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502920" y="2386584"/>
            <a:ext cx="75438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502920" y="238658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</a:t>
            </a:r>
            <a:endParaRPr lang="en-US" sz="1320" dirty="0"/>
          </a:p>
        </p:txBody>
      </p:sp>
      <p:sp>
        <p:nvSpPr>
          <p:cNvPr id="20" name="Text 18"/>
          <p:cNvSpPr/>
          <p:nvPr/>
        </p:nvSpPr>
        <p:spPr>
          <a:xfrm>
            <a:off x="3246120" y="238658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4846320" y="238658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320" dirty="0"/>
          </a:p>
        </p:txBody>
      </p:sp>
      <p:sp>
        <p:nvSpPr>
          <p:cNvPr id="22" name="Text 20"/>
          <p:cNvSpPr/>
          <p:nvPr/>
        </p:nvSpPr>
        <p:spPr>
          <a:xfrm>
            <a:off x="6446520" y="238658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320" dirty="0"/>
          </a:p>
        </p:txBody>
      </p:sp>
      <p:sp>
        <p:nvSpPr>
          <p:cNvPr id="23" name="Shape 21"/>
          <p:cNvSpPr/>
          <p:nvPr/>
        </p:nvSpPr>
        <p:spPr>
          <a:xfrm>
            <a:off x="502920" y="2880360"/>
            <a:ext cx="75438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02920" y="288036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đề xuất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3246120" y="2880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4846320" y="2880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67,11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6446520" y="2880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76,32</a:t>
            </a:r>
            <a:endParaRPr lang="en-US" sz="1320" dirty="0"/>
          </a:p>
        </p:txBody>
      </p:sp>
      <p:sp>
        <p:nvSpPr>
          <p:cNvPr id="28" name="Shape 26"/>
          <p:cNvSpPr/>
          <p:nvPr/>
        </p:nvSpPr>
        <p:spPr>
          <a:xfrm>
            <a:off x="502920" y="3410712"/>
            <a:ext cx="75438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502920" y="341071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tham chiếu (mốc)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3246120" y="34107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75,70</a:t>
            </a:r>
            <a:endParaRPr lang="en-US" sz="1320" dirty="0"/>
          </a:p>
        </p:txBody>
      </p:sp>
      <p:sp>
        <p:nvSpPr>
          <p:cNvPr id="31" name="Text 29"/>
          <p:cNvSpPr/>
          <p:nvPr/>
        </p:nvSpPr>
        <p:spPr>
          <a:xfrm>
            <a:off x="4846320" y="34107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20" dirty="0"/>
          </a:p>
        </p:txBody>
      </p:sp>
      <p:sp>
        <p:nvSpPr>
          <p:cNvPr id="32" name="Text 30"/>
          <p:cNvSpPr/>
          <p:nvPr/>
        </p:nvSpPr>
        <p:spPr>
          <a:xfrm>
            <a:off x="6446520" y="34107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20" dirty="0"/>
          </a:p>
        </p:txBody>
      </p:sp>
      <p:sp>
        <p:nvSpPr>
          <p:cNvPr id="33" name="Shape 31"/>
          <p:cNvSpPr/>
          <p:nvPr/>
        </p:nvSpPr>
        <p:spPr>
          <a:xfrm>
            <a:off x="502920" y="4315968"/>
            <a:ext cx="8138160" cy="9601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16552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đề xuất − S1/101 = +1,57 điểm Executability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 [+0,86; +2,31], p &lt; 0,001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 bước chạm · Luận văn §6.2, §6.6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19/24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 Kết quả các thước đo dựa trên câu tham chiếu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3268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GRPO + SPICE, sau ACE điểm quan sát của cả 7 thước đo dựa trên câu tham chiếu đều tăng.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+11,98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77240" y="240487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547872" y="18745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+1,34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547872" y="240487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309360" y="18745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+0,66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309360" y="240487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60120" y="3383280"/>
            <a:ext cx="7223760" cy="9601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3383280"/>
            <a:ext cx="680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BLEU-4, METEOR, ROUGE-L và chrF cũng tăng → 7/7 thước đo dựa trên câu tham chiếu đều tăng.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02920" y="4828032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chỉ thay đổi +0,02 điểm [−0,21; +0,26]. Các mức tăng của 7 thước đo văn bản hiện chưa có khoảng tin cậy.</a:t>
            </a:r>
            <a:endParaRPr lang="en-US" sz="1460" dirty="0"/>
          </a:p>
        </p:txBody>
      </p:sp>
      <p:sp>
        <p:nvSpPr>
          <p:cNvPr id="14" name="Text 12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Bảng đầy đủ ở slide bổ sung · Luận văn §6.4, §6.6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20/24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 Một số hướng đã thử và bài học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804672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46120" y="914400"/>
            <a:ext cx="1143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389120" y="914400"/>
            <a:ext cx="4160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Điều rút ra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3350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tả phần tử trước câu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246120" y="1335024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57,2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389120" y="1335024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trung gian đúng thì giúp; sai thì làm câu giảm mạnh.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901952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02920" y="190195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thưởng tọa độ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246120" y="190195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60,1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389120" y="1901952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Vị trí tốt hơn nhưng câu gần như không đổi.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4688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ứng viên*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246120" y="246888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389120" y="246888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trường hợp được chọn có chất lượng tốt, nhưng tỷ lệ từ chối quá cao.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3035808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30358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TAGE crop editor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246120" y="303580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60,2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89120" y="3035808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sửa câu không vượt câu hướng dẫn ban đầu.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02920" y="4370832"/>
            <a:ext cx="8138160" cy="107899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370832"/>
            <a:ext cx="7772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chung của các thử nghiệm này là cải thiện ở bước trung gian không bảo đảm câu hướng dẫn cuối tốt hơn. Vì vậy phương pháp cuối tác động trực tiếp lên câu được sinh.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523036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 Cấu hình chọn ứng viên khác ba yếu tố thiết lập, nên chỉ so sánh trực tiếp được với Base.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§6.10, Phụ lục 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21/24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 Hạn chế và hướng phát triển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36245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25296"/>
            <a:ext cx="7927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tăng của GRPO + SPICE chưa ổn định giữa hai lượt huấn luyện; thiết lập sinh của S1 và GRPO cũng chưa hoàn toàn đồng nhất.</a:t>
            </a:r>
            <a:endParaRPr lang="en-US" sz="1340" dirty="0"/>
          </a:p>
        </p:txBody>
      </p:sp>
      <p:sp>
        <p:nvSpPr>
          <p:cNvPr id="7" name="Shape 5"/>
          <p:cNvSpPr/>
          <p:nvPr/>
        </p:nvSpPr>
        <p:spPr>
          <a:xfrm>
            <a:off x="521208" y="202082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883664"/>
            <a:ext cx="7927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vẫn là thước đo gián tiếp qua mô hình định vị và chưa được đối chiếu với đánh giá người dùng trên tập đủ lớn.</a:t>
            </a:r>
            <a:endParaRPr lang="en-US" sz="1340" dirty="0"/>
          </a:p>
        </p:txBody>
      </p:sp>
      <p:sp>
        <p:nvSpPr>
          <p:cNvPr id="9" name="Shape 7"/>
          <p:cNvSpPr/>
          <p:nvPr/>
        </p:nvSpPr>
        <p:spPr>
          <a:xfrm>
            <a:off x="521208" y="267919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542032"/>
            <a:ext cx="7927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Trên 2.495 bước không chạm, GRPO + SPICE làm tỉ lệ đúng loại thao tác giảm 1,68 điểm; 7 thước đo văn bản của ACE hiện chưa có KTC.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521208" y="33375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200400"/>
            <a:ext cx="7927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chính mới dùng AndroidControl tiếng Anh, một backbone 3B và lịch sử thao tác tham chiếu.</a:t>
            </a:r>
            <a:endParaRPr lang="en-US" sz="1340" dirty="0"/>
          </a:p>
        </p:txBody>
      </p:sp>
      <p:sp>
        <p:nvSpPr>
          <p:cNvPr id="13" name="Text 11"/>
          <p:cNvSpPr/>
          <p:nvPr/>
        </p:nvSpPr>
        <p:spPr>
          <a:xfrm>
            <a:off x="502920" y="4224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21208" y="475488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4617720"/>
            <a:ext cx="7927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chiếu Executability với đánh giá của người dùng và đồng nhất chặt hơn thiết lập giữa các mô hình.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521208" y="54132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5276088"/>
            <a:ext cx="7927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rộng sang tập kiểm tra chính thức, bộ dữ liệu thứ hai, bước không chạm và giao diện tiếng Việt.</a:t>
            </a:r>
            <a:endParaRPr lang="en-US" sz="1380" dirty="0"/>
          </a:p>
        </p:txBody>
      </p:sp>
      <p:sp>
        <p:nvSpPr>
          <p:cNvPr id="18" name="Text 16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§7.2–§7.4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22/24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 Kết luận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21208" y="11887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051560"/>
            <a:ext cx="7927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đề xuất gồm hai thành phần: GRPO + SPICE sinh câu ban đầu; ACE chỉ hiệu chỉnh có chọn lọc.</a:t>
            </a:r>
            <a:endParaRPr lang="en-US" sz="1440" dirty="0"/>
          </a:p>
        </p:txBody>
      </p:sp>
      <p:sp>
        <p:nvSpPr>
          <p:cNvPr id="6" name="Shape 4"/>
          <p:cNvSpPr/>
          <p:nvPr/>
        </p:nvSpPr>
        <p:spPr>
          <a:xfrm>
            <a:off x="521208" y="21214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984248"/>
            <a:ext cx="7927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Lượt GRPO dùng trong phương pháp tạo phần lớn mức tăng Executability; ACE làm cả 7 thước đo dựa trên câu tham chiếu tăng và gần như giữ nguyên Executability.</a:t>
            </a:r>
            <a:endParaRPr lang="en-US" sz="1440" dirty="0"/>
          </a:p>
        </p:txBody>
      </p:sp>
      <p:sp>
        <p:nvSpPr>
          <p:cNvPr id="8" name="Shape 6"/>
          <p:cNvSpPr/>
          <p:nvPr/>
        </p:nvSpPr>
        <p:spPr>
          <a:xfrm>
            <a:off x="521208" y="305409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916936"/>
            <a:ext cx="7927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đạt 60,7% Executability, cao hơn S1/101 1,57 điểm; KTC 95% [+0,86; +2,31].</a:t>
            </a:r>
            <a:endParaRPr lang="en-US" sz="1440" dirty="0"/>
          </a:p>
        </p:txBody>
      </p:sp>
      <p:sp>
        <p:nvSpPr>
          <p:cNvPr id="10" name="Shape 8"/>
          <p:cNvSpPr/>
          <p:nvPr/>
        </p:nvSpPr>
        <p:spPr>
          <a:xfrm>
            <a:off x="521208" y="398678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849624"/>
            <a:ext cx="7927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lặp lại GRPO + SPICE với seed khác, chiều cải thiện vẫn giữ nhưng độ lớn giảm; vì vậy +1,55 chưa được xem là mức tăng ổn định của phương pháp.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1097280" y="5047488"/>
            <a:ext cx="6949440" cy="6583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8448" y="5047488"/>
            <a:ext cx="6547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là thước đo chính cho khả năng xác định đúng phần tử và thao tác; các thước đo khác bổ sung góc nhìn về vị trí và câu tham chiếu.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7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23/24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514600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Trân trọng cảm ơn Quý thầy cô đã lắng nghe.</a:t>
            </a:r>
            <a:endParaRPr lang="en-US" sz="2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Định nghĩa Executability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đúng khi đồng thời: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508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71600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21208" y="2258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121408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mô tả thao tác theo nghĩa ngược.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21208" y="30083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871216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|px−gx| ≤ 0,14W; |py−gy| ≤ 0,14H.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21208" y="375818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621024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p nằm trong ô Voronoi của phần tử cần chạm.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02920" y="4800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= số bước đúng / tổng số bước chạm.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Toàn bộ thước đo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804672"/>
            <a:ext cx="7955280" cy="384048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046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74904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8076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8046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ACE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11887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170" dirty="0"/>
          </a:p>
        </p:txBody>
      </p:sp>
      <p:sp>
        <p:nvSpPr>
          <p:cNvPr id="12" name="Text 10"/>
          <p:cNvSpPr/>
          <p:nvPr/>
        </p:nvSpPr>
        <p:spPr>
          <a:xfrm>
            <a:off x="265176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47,60</a:t>
            </a:r>
            <a:endParaRPr lang="en-US" sz="1170" dirty="0"/>
          </a:p>
        </p:txBody>
      </p:sp>
      <p:sp>
        <p:nvSpPr>
          <p:cNvPr id="13" name="Text 11"/>
          <p:cNvSpPr/>
          <p:nvPr/>
        </p:nvSpPr>
        <p:spPr>
          <a:xfrm>
            <a:off x="374904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170" dirty="0"/>
          </a:p>
        </p:txBody>
      </p:sp>
      <p:sp>
        <p:nvSpPr>
          <p:cNvPr id="14" name="Text 12"/>
          <p:cNvSpPr/>
          <p:nvPr/>
        </p:nvSpPr>
        <p:spPr>
          <a:xfrm>
            <a:off x="484632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170" dirty="0"/>
          </a:p>
        </p:txBody>
      </p:sp>
      <p:sp>
        <p:nvSpPr>
          <p:cNvPr id="15" name="Text 13"/>
          <p:cNvSpPr/>
          <p:nvPr/>
        </p:nvSpPr>
        <p:spPr>
          <a:xfrm>
            <a:off x="608076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</a:t>
            </a:r>
            <a:endParaRPr lang="en-US" sz="1170" dirty="0"/>
          </a:p>
        </p:txBody>
      </p:sp>
      <p:sp>
        <p:nvSpPr>
          <p:cNvPr id="16" name="Text 14"/>
          <p:cNvSpPr/>
          <p:nvPr/>
        </p:nvSpPr>
        <p:spPr>
          <a:xfrm>
            <a:off x="7315200" y="1188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1170" dirty="0"/>
          </a:p>
        </p:txBody>
      </p:sp>
      <p:sp>
        <p:nvSpPr>
          <p:cNvPr id="17" name="Shape 15"/>
          <p:cNvSpPr/>
          <p:nvPr/>
        </p:nvSpPr>
        <p:spPr>
          <a:xfrm>
            <a:off x="502920" y="157276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502920" y="15727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</a:t>
            </a:r>
            <a:endParaRPr lang="en-US" sz="1170" dirty="0"/>
          </a:p>
        </p:txBody>
      </p:sp>
      <p:sp>
        <p:nvSpPr>
          <p:cNvPr id="19" name="Text 17"/>
          <p:cNvSpPr/>
          <p:nvPr/>
        </p:nvSpPr>
        <p:spPr>
          <a:xfrm>
            <a:off x="265176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170" dirty="0"/>
          </a:p>
        </p:txBody>
      </p:sp>
      <p:sp>
        <p:nvSpPr>
          <p:cNvPr id="20" name="Text 18"/>
          <p:cNvSpPr/>
          <p:nvPr/>
        </p:nvSpPr>
        <p:spPr>
          <a:xfrm>
            <a:off x="374904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170" dirty="0"/>
          </a:p>
        </p:txBody>
      </p:sp>
      <p:sp>
        <p:nvSpPr>
          <p:cNvPr id="21" name="Text 19"/>
          <p:cNvSpPr/>
          <p:nvPr/>
        </p:nvSpPr>
        <p:spPr>
          <a:xfrm>
            <a:off x="484632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170" dirty="0"/>
          </a:p>
        </p:txBody>
      </p:sp>
      <p:sp>
        <p:nvSpPr>
          <p:cNvPr id="22" name="Text 20"/>
          <p:cNvSpPr/>
          <p:nvPr/>
        </p:nvSpPr>
        <p:spPr>
          <a:xfrm>
            <a:off x="608076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67,11</a:t>
            </a:r>
            <a:endParaRPr lang="en-US" sz="1170" dirty="0"/>
          </a:p>
        </p:txBody>
      </p:sp>
      <p:sp>
        <p:nvSpPr>
          <p:cNvPr id="23" name="Text 21"/>
          <p:cNvSpPr/>
          <p:nvPr/>
        </p:nvSpPr>
        <p:spPr>
          <a:xfrm>
            <a:off x="7315200" y="157276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+0,09</a:t>
            </a:r>
            <a:endParaRPr lang="en-US" sz="1170" dirty="0"/>
          </a:p>
        </p:txBody>
      </p:sp>
      <p:sp>
        <p:nvSpPr>
          <p:cNvPr id="24" name="Shape 22"/>
          <p:cNvSpPr/>
          <p:nvPr/>
        </p:nvSpPr>
        <p:spPr>
          <a:xfrm>
            <a:off x="502920" y="195681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502920" y="195681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Euclid</a:t>
            </a:r>
            <a:endParaRPr lang="en-US" sz="1170" dirty="0"/>
          </a:p>
        </p:txBody>
      </p:sp>
      <p:sp>
        <p:nvSpPr>
          <p:cNvPr id="26" name="Text 24"/>
          <p:cNvSpPr/>
          <p:nvPr/>
        </p:nvSpPr>
        <p:spPr>
          <a:xfrm>
            <a:off x="265176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63,40</a:t>
            </a:r>
            <a:endParaRPr lang="en-US" sz="1170" dirty="0"/>
          </a:p>
        </p:txBody>
      </p:sp>
      <p:sp>
        <p:nvSpPr>
          <p:cNvPr id="27" name="Text 25"/>
          <p:cNvSpPr/>
          <p:nvPr/>
        </p:nvSpPr>
        <p:spPr>
          <a:xfrm>
            <a:off x="374904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170" dirty="0"/>
          </a:p>
        </p:txBody>
      </p:sp>
      <p:sp>
        <p:nvSpPr>
          <p:cNvPr id="28" name="Text 26"/>
          <p:cNvSpPr/>
          <p:nvPr/>
        </p:nvSpPr>
        <p:spPr>
          <a:xfrm>
            <a:off x="484632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170" dirty="0"/>
          </a:p>
        </p:txBody>
      </p:sp>
      <p:sp>
        <p:nvSpPr>
          <p:cNvPr id="29" name="Text 27"/>
          <p:cNvSpPr/>
          <p:nvPr/>
        </p:nvSpPr>
        <p:spPr>
          <a:xfrm>
            <a:off x="608076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76,32</a:t>
            </a:r>
            <a:endParaRPr lang="en-US" sz="1170" dirty="0"/>
          </a:p>
        </p:txBody>
      </p:sp>
      <p:sp>
        <p:nvSpPr>
          <p:cNvPr id="30" name="Text 28"/>
          <p:cNvSpPr/>
          <p:nvPr/>
        </p:nvSpPr>
        <p:spPr>
          <a:xfrm>
            <a:off x="7315200" y="195681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+0,07</a:t>
            </a:r>
            <a:endParaRPr lang="en-US" sz="1170" dirty="0"/>
          </a:p>
        </p:txBody>
      </p:sp>
      <p:sp>
        <p:nvSpPr>
          <p:cNvPr id="31" name="Shape 29"/>
          <p:cNvSpPr/>
          <p:nvPr/>
        </p:nvSpPr>
        <p:spPr>
          <a:xfrm>
            <a:off x="502920" y="234086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502920" y="234086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170" dirty="0"/>
          </a:p>
        </p:txBody>
      </p:sp>
      <p:sp>
        <p:nvSpPr>
          <p:cNvPr id="33" name="Text 31"/>
          <p:cNvSpPr/>
          <p:nvPr/>
        </p:nvSpPr>
        <p:spPr>
          <a:xfrm>
            <a:off x="265176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15,30</a:t>
            </a:r>
            <a:endParaRPr lang="en-US" sz="1170" dirty="0"/>
          </a:p>
        </p:txBody>
      </p:sp>
      <p:sp>
        <p:nvSpPr>
          <p:cNvPr id="34" name="Text 32"/>
          <p:cNvSpPr/>
          <p:nvPr/>
        </p:nvSpPr>
        <p:spPr>
          <a:xfrm>
            <a:off x="374904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170" dirty="0"/>
          </a:p>
        </p:txBody>
      </p:sp>
      <p:sp>
        <p:nvSpPr>
          <p:cNvPr id="35" name="Text 33"/>
          <p:cNvSpPr/>
          <p:nvPr/>
        </p:nvSpPr>
        <p:spPr>
          <a:xfrm>
            <a:off x="484632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170" dirty="0"/>
          </a:p>
        </p:txBody>
      </p:sp>
      <p:sp>
        <p:nvSpPr>
          <p:cNvPr id="36" name="Text 34"/>
          <p:cNvSpPr/>
          <p:nvPr/>
        </p:nvSpPr>
        <p:spPr>
          <a:xfrm>
            <a:off x="608076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170" dirty="0"/>
          </a:p>
        </p:txBody>
      </p:sp>
      <p:sp>
        <p:nvSpPr>
          <p:cNvPr id="37" name="Text 35"/>
          <p:cNvSpPr/>
          <p:nvPr/>
        </p:nvSpPr>
        <p:spPr>
          <a:xfrm>
            <a:off x="7315200" y="23408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+1,11</a:t>
            </a:r>
            <a:endParaRPr lang="en-US" sz="1170" dirty="0"/>
          </a:p>
        </p:txBody>
      </p:sp>
      <p:sp>
        <p:nvSpPr>
          <p:cNvPr id="38" name="Shape 36"/>
          <p:cNvSpPr/>
          <p:nvPr/>
        </p:nvSpPr>
        <p:spPr>
          <a:xfrm>
            <a:off x="502920" y="272491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02920" y="272491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170" dirty="0"/>
          </a:p>
        </p:txBody>
      </p:sp>
      <p:sp>
        <p:nvSpPr>
          <p:cNvPr id="40" name="Text 38"/>
          <p:cNvSpPr/>
          <p:nvPr/>
        </p:nvSpPr>
        <p:spPr>
          <a:xfrm>
            <a:off x="265176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24,60</a:t>
            </a:r>
            <a:endParaRPr lang="en-US" sz="1170" dirty="0"/>
          </a:p>
        </p:txBody>
      </p:sp>
      <p:sp>
        <p:nvSpPr>
          <p:cNvPr id="41" name="Text 39"/>
          <p:cNvSpPr/>
          <p:nvPr/>
        </p:nvSpPr>
        <p:spPr>
          <a:xfrm>
            <a:off x="374904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170" dirty="0"/>
          </a:p>
        </p:txBody>
      </p:sp>
      <p:sp>
        <p:nvSpPr>
          <p:cNvPr id="42" name="Text 40"/>
          <p:cNvSpPr/>
          <p:nvPr/>
        </p:nvSpPr>
        <p:spPr>
          <a:xfrm>
            <a:off x="484632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170" dirty="0"/>
          </a:p>
        </p:txBody>
      </p:sp>
      <p:sp>
        <p:nvSpPr>
          <p:cNvPr id="43" name="Text 41"/>
          <p:cNvSpPr/>
          <p:nvPr/>
        </p:nvSpPr>
        <p:spPr>
          <a:xfrm>
            <a:off x="608076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170" dirty="0"/>
          </a:p>
        </p:txBody>
      </p:sp>
      <p:sp>
        <p:nvSpPr>
          <p:cNvPr id="44" name="Text 42"/>
          <p:cNvSpPr/>
          <p:nvPr/>
        </p:nvSpPr>
        <p:spPr>
          <a:xfrm>
            <a:off x="7315200" y="27249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+0,46</a:t>
            </a:r>
            <a:endParaRPr lang="en-US" sz="1170" dirty="0"/>
          </a:p>
        </p:txBody>
      </p:sp>
      <p:sp>
        <p:nvSpPr>
          <p:cNvPr id="45" name="Shape 43"/>
          <p:cNvSpPr/>
          <p:nvPr/>
        </p:nvSpPr>
        <p:spPr>
          <a:xfrm>
            <a:off x="502920" y="3108960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502920" y="31089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170" dirty="0"/>
          </a:p>
        </p:txBody>
      </p:sp>
      <p:sp>
        <p:nvSpPr>
          <p:cNvPr id="47" name="Text 45"/>
          <p:cNvSpPr/>
          <p:nvPr/>
        </p:nvSpPr>
        <p:spPr>
          <a:xfrm>
            <a:off x="265176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42,30</a:t>
            </a:r>
            <a:endParaRPr lang="en-US" sz="1170" dirty="0"/>
          </a:p>
        </p:txBody>
      </p:sp>
      <p:sp>
        <p:nvSpPr>
          <p:cNvPr id="48" name="Text 46"/>
          <p:cNvSpPr/>
          <p:nvPr/>
        </p:nvSpPr>
        <p:spPr>
          <a:xfrm>
            <a:off x="374904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170" dirty="0"/>
          </a:p>
        </p:txBody>
      </p:sp>
      <p:sp>
        <p:nvSpPr>
          <p:cNvPr id="49" name="Text 47"/>
          <p:cNvSpPr/>
          <p:nvPr/>
        </p:nvSpPr>
        <p:spPr>
          <a:xfrm>
            <a:off x="484632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170" dirty="0"/>
          </a:p>
        </p:txBody>
      </p:sp>
      <p:sp>
        <p:nvSpPr>
          <p:cNvPr id="50" name="Text 48"/>
          <p:cNvSpPr/>
          <p:nvPr/>
        </p:nvSpPr>
        <p:spPr>
          <a:xfrm>
            <a:off x="608076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69,08</a:t>
            </a:r>
            <a:endParaRPr lang="en-US" sz="1170" dirty="0"/>
          </a:p>
        </p:txBody>
      </p:sp>
      <p:sp>
        <p:nvSpPr>
          <p:cNvPr id="51" name="Text 49"/>
          <p:cNvSpPr/>
          <p:nvPr/>
        </p:nvSpPr>
        <p:spPr>
          <a:xfrm>
            <a:off x="7315200" y="3108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+0,74</a:t>
            </a:r>
            <a:endParaRPr lang="en-US" sz="1170" dirty="0"/>
          </a:p>
        </p:txBody>
      </p:sp>
      <p:sp>
        <p:nvSpPr>
          <p:cNvPr id="52" name="Shape 50"/>
          <p:cNvSpPr/>
          <p:nvPr/>
        </p:nvSpPr>
        <p:spPr>
          <a:xfrm>
            <a:off x="502920" y="349300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53" name="Text 51"/>
          <p:cNvSpPr/>
          <p:nvPr/>
        </p:nvSpPr>
        <p:spPr>
          <a:xfrm>
            <a:off x="502920" y="34930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70" dirty="0"/>
          </a:p>
        </p:txBody>
      </p:sp>
      <p:sp>
        <p:nvSpPr>
          <p:cNvPr id="54" name="Text 52"/>
          <p:cNvSpPr/>
          <p:nvPr/>
        </p:nvSpPr>
        <p:spPr>
          <a:xfrm>
            <a:off x="265176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170" dirty="0"/>
          </a:p>
        </p:txBody>
      </p:sp>
      <p:sp>
        <p:nvSpPr>
          <p:cNvPr id="55" name="Text 53"/>
          <p:cNvSpPr/>
          <p:nvPr/>
        </p:nvSpPr>
        <p:spPr>
          <a:xfrm>
            <a:off x="374904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170" dirty="0"/>
          </a:p>
        </p:txBody>
      </p:sp>
      <p:sp>
        <p:nvSpPr>
          <p:cNvPr id="56" name="Text 54"/>
          <p:cNvSpPr/>
          <p:nvPr/>
        </p:nvSpPr>
        <p:spPr>
          <a:xfrm>
            <a:off x="484632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170" dirty="0"/>
          </a:p>
        </p:txBody>
      </p:sp>
      <p:sp>
        <p:nvSpPr>
          <p:cNvPr id="57" name="Text 55"/>
          <p:cNvSpPr/>
          <p:nvPr/>
        </p:nvSpPr>
        <p:spPr>
          <a:xfrm>
            <a:off x="608076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170" dirty="0"/>
          </a:p>
        </p:txBody>
      </p:sp>
      <p:sp>
        <p:nvSpPr>
          <p:cNvPr id="58" name="Text 56"/>
          <p:cNvSpPr/>
          <p:nvPr/>
        </p:nvSpPr>
        <p:spPr>
          <a:xfrm>
            <a:off x="7315200" y="349300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+11,98</a:t>
            </a:r>
            <a:endParaRPr lang="en-US" sz="1170" dirty="0"/>
          </a:p>
        </p:txBody>
      </p:sp>
      <p:sp>
        <p:nvSpPr>
          <p:cNvPr id="59" name="Shape 57"/>
          <p:cNvSpPr/>
          <p:nvPr/>
        </p:nvSpPr>
        <p:spPr>
          <a:xfrm>
            <a:off x="502920" y="387705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0" name="Text 58"/>
          <p:cNvSpPr/>
          <p:nvPr/>
        </p:nvSpPr>
        <p:spPr>
          <a:xfrm>
            <a:off x="502920" y="387705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70" dirty="0"/>
          </a:p>
        </p:txBody>
      </p:sp>
      <p:sp>
        <p:nvSpPr>
          <p:cNvPr id="61" name="Text 59"/>
          <p:cNvSpPr/>
          <p:nvPr/>
        </p:nvSpPr>
        <p:spPr>
          <a:xfrm>
            <a:off x="265176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170" dirty="0"/>
          </a:p>
        </p:txBody>
      </p:sp>
      <p:sp>
        <p:nvSpPr>
          <p:cNvPr id="62" name="Text 60"/>
          <p:cNvSpPr/>
          <p:nvPr/>
        </p:nvSpPr>
        <p:spPr>
          <a:xfrm>
            <a:off x="374904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170" dirty="0"/>
          </a:p>
        </p:txBody>
      </p:sp>
      <p:sp>
        <p:nvSpPr>
          <p:cNvPr id="63" name="Text 61"/>
          <p:cNvSpPr/>
          <p:nvPr/>
        </p:nvSpPr>
        <p:spPr>
          <a:xfrm>
            <a:off x="484632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170" dirty="0"/>
          </a:p>
        </p:txBody>
      </p:sp>
      <p:sp>
        <p:nvSpPr>
          <p:cNvPr id="64" name="Text 62"/>
          <p:cNvSpPr/>
          <p:nvPr/>
        </p:nvSpPr>
        <p:spPr>
          <a:xfrm>
            <a:off x="608076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170" dirty="0"/>
          </a:p>
        </p:txBody>
      </p:sp>
      <p:sp>
        <p:nvSpPr>
          <p:cNvPr id="65" name="Text 63"/>
          <p:cNvSpPr/>
          <p:nvPr/>
        </p:nvSpPr>
        <p:spPr>
          <a:xfrm>
            <a:off x="7315200" y="387705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+1,34</a:t>
            </a:r>
            <a:endParaRPr lang="en-US" sz="1170" dirty="0"/>
          </a:p>
        </p:txBody>
      </p:sp>
      <p:sp>
        <p:nvSpPr>
          <p:cNvPr id="66" name="Shape 64"/>
          <p:cNvSpPr/>
          <p:nvPr/>
        </p:nvSpPr>
        <p:spPr>
          <a:xfrm>
            <a:off x="502920" y="426110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7" name="Text 65"/>
          <p:cNvSpPr/>
          <p:nvPr/>
        </p:nvSpPr>
        <p:spPr>
          <a:xfrm>
            <a:off x="502920" y="4261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170" dirty="0"/>
          </a:p>
        </p:txBody>
      </p:sp>
      <p:sp>
        <p:nvSpPr>
          <p:cNvPr id="68" name="Text 66"/>
          <p:cNvSpPr/>
          <p:nvPr/>
        </p:nvSpPr>
        <p:spPr>
          <a:xfrm>
            <a:off x="265176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40,20</a:t>
            </a:r>
            <a:endParaRPr lang="en-US" sz="1170" dirty="0"/>
          </a:p>
        </p:txBody>
      </p:sp>
      <p:sp>
        <p:nvSpPr>
          <p:cNvPr id="69" name="Text 67"/>
          <p:cNvSpPr/>
          <p:nvPr/>
        </p:nvSpPr>
        <p:spPr>
          <a:xfrm>
            <a:off x="374904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170" dirty="0"/>
          </a:p>
        </p:txBody>
      </p:sp>
      <p:sp>
        <p:nvSpPr>
          <p:cNvPr id="70" name="Text 68"/>
          <p:cNvSpPr/>
          <p:nvPr/>
        </p:nvSpPr>
        <p:spPr>
          <a:xfrm>
            <a:off x="484632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170" dirty="0"/>
          </a:p>
        </p:txBody>
      </p:sp>
      <p:sp>
        <p:nvSpPr>
          <p:cNvPr id="71" name="Text 69"/>
          <p:cNvSpPr/>
          <p:nvPr/>
        </p:nvSpPr>
        <p:spPr>
          <a:xfrm>
            <a:off x="608076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63,44</a:t>
            </a:r>
            <a:endParaRPr lang="en-US" sz="1170" dirty="0"/>
          </a:p>
        </p:txBody>
      </p:sp>
      <p:sp>
        <p:nvSpPr>
          <p:cNvPr id="72" name="Text 70"/>
          <p:cNvSpPr/>
          <p:nvPr/>
        </p:nvSpPr>
        <p:spPr>
          <a:xfrm>
            <a:off x="7315200" y="426110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+0,58</a:t>
            </a:r>
            <a:endParaRPr lang="en-US" sz="1170" dirty="0"/>
          </a:p>
        </p:txBody>
      </p:sp>
      <p:sp>
        <p:nvSpPr>
          <p:cNvPr id="73" name="Shape 71"/>
          <p:cNvSpPr/>
          <p:nvPr/>
        </p:nvSpPr>
        <p:spPr>
          <a:xfrm>
            <a:off x="502920" y="464515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74" name="Text 72"/>
          <p:cNvSpPr/>
          <p:nvPr/>
        </p:nvSpPr>
        <p:spPr>
          <a:xfrm>
            <a:off x="502920" y="464515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170" dirty="0"/>
          </a:p>
        </p:txBody>
      </p:sp>
      <p:sp>
        <p:nvSpPr>
          <p:cNvPr id="75" name="Text 73"/>
          <p:cNvSpPr/>
          <p:nvPr/>
        </p:nvSpPr>
        <p:spPr>
          <a:xfrm>
            <a:off x="265176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40,10</a:t>
            </a:r>
            <a:endParaRPr lang="en-US" sz="1170" dirty="0"/>
          </a:p>
        </p:txBody>
      </p:sp>
      <p:sp>
        <p:nvSpPr>
          <p:cNvPr id="76" name="Text 74"/>
          <p:cNvSpPr/>
          <p:nvPr/>
        </p:nvSpPr>
        <p:spPr>
          <a:xfrm>
            <a:off x="374904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170" dirty="0"/>
          </a:p>
        </p:txBody>
      </p:sp>
      <p:sp>
        <p:nvSpPr>
          <p:cNvPr id="77" name="Text 75"/>
          <p:cNvSpPr/>
          <p:nvPr/>
        </p:nvSpPr>
        <p:spPr>
          <a:xfrm>
            <a:off x="484632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170" dirty="0"/>
          </a:p>
        </p:txBody>
      </p:sp>
      <p:sp>
        <p:nvSpPr>
          <p:cNvPr id="78" name="Text 76"/>
          <p:cNvSpPr/>
          <p:nvPr/>
        </p:nvSpPr>
        <p:spPr>
          <a:xfrm>
            <a:off x="608076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170" dirty="0"/>
          </a:p>
        </p:txBody>
      </p:sp>
      <p:sp>
        <p:nvSpPr>
          <p:cNvPr id="79" name="Text 77"/>
          <p:cNvSpPr/>
          <p:nvPr/>
        </p:nvSpPr>
        <p:spPr>
          <a:xfrm>
            <a:off x="7315200" y="464515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+0,66</a:t>
            </a:r>
            <a:endParaRPr lang="en-US" sz="1170" dirty="0"/>
          </a:p>
        </p:txBody>
      </p:sp>
      <p:sp>
        <p:nvSpPr>
          <p:cNvPr id="80" name="Shape 7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Cross-listener validation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777240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9728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Phép so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703320" y="10972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89320" y="10972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51790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S1 − Base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03320" y="151790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+10,35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89320" y="151790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+9,68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048256"/>
            <a:ext cx="77724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02920" y="204825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tả phần tử trước câu (S2) − S1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204825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−1,93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89320" y="204825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−1,21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2578608"/>
            <a:ext cx="77724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57860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chuẩn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03320" y="257860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89320" y="257860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39776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 giữ rõ chênh lệch S1 − Base, nhưng không tách được phương pháp đề xuất khỏi S1 seed 202.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Cấu hình huấn luyện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8046720" cy="40233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Hạng mục</a:t>
            </a:r>
            <a:endParaRPr lang="en-US" sz="1270" dirty="0"/>
          </a:p>
        </p:txBody>
      </p:sp>
      <p:sp>
        <p:nvSpPr>
          <p:cNvPr id="6" name="Text 4"/>
          <p:cNvSpPr/>
          <p:nvPr/>
        </p:nvSpPr>
        <p:spPr>
          <a:xfrm>
            <a:off x="3246120" y="91440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 trị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502920" y="131673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Backbone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3246120" y="1316736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502920" y="175564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</a:t>
            </a:r>
            <a:endParaRPr lang="en-US" sz="1270" dirty="0"/>
          </a:p>
        </p:txBody>
      </p:sp>
      <p:sp>
        <p:nvSpPr>
          <p:cNvPr id="11" name="Text 9"/>
          <p:cNvSpPr/>
          <p:nvPr/>
        </p:nvSpPr>
        <p:spPr>
          <a:xfrm>
            <a:off x="3246120" y="175564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QLoRA NF4 4-bit, rank 8, alpha 16, dropout 0,05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SFT</a:t>
            </a:r>
            <a:endParaRPr lang="en-US" sz="1270" dirty="0"/>
          </a:p>
        </p:txBody>
      </p:sp>
      <p:sp>
        <p:nvSpPr>
          <p:cNvPr id="14" name="Text 12"/>
          <p:cNvSpPr/>
          <p:nvPr/>
        </p:nvSpPr>
        <p:spPr>
          <a:xfrm>
            <a:off x="3246120" y="2194560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epochs = 8.072 steps, batch hiệu dụng 16, LR 1e−4</a:t>
            </a:r>
            <a:endParaRPr lang="en-US" sz="127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70" dirty="0"/>
          </a:p>
        </p:txBody>
      </p:sp>
      <p:sp>
        <p:nvSpPr>
          <p:cNvPr id="17" name="Text 15"/>
          <p:cNvSpPr/>
          <p:nvPr/>
        </p:nvSpPr>
        <p:spPr>
          <a:xfrm>
            <a:off x="3246120" y="2633472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samples/prompt, 500 updates, LR 1e−5, KL β 0,04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502920" y="3072384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502920" y="30723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cứng</a:t>
            </a:r>
            <a:endParaRPr lang="en-US" sz="1270" dirty="0"/>
          </a:p>
        </p:txBody>
      </p:sp>
      <p:sp>
        <p:nvSpPr>
          <p:cNvPr id="20" name="Text 18"/>
          <p:cNvSpPr/>
          <p:nvPr/>
        </p:nvSpPr>
        <p:spPr>
          <a:xfrm>
            <a:off x="3246120" y="3072384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× A100, vision tower không cập nhật tham số</a:t>
            </a:r>
            <a:endParaRPr lang="en-US" sz="1270" dirty="0"/>
          </a:p>
        </p:txBody>
      </p:sp>
      <p:sp>
        <p:nvSpPr>
          <p:cNvPr id="21" name="Shape 1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Phat sinh tu dong huong dan su dung phan mem dua tren LLM</dc:title>
  <dc:subject>Master thesis defense</dc:subject>
  <dc:creator>Le Doan Phuong Uyen</dc:creator>
  <cp:lastModifiedBy>Le Doan Phuong Uyen</cp:lastModifiedBy>
  <cp:revision>1</cp:revision>
  <dcterms:created xsi:type="dcterms:W3CDTF">2026-10-25T10:02:17Z</dcterms:created>
  <dcterms:modified xsi:type="dcterms:W3CDTF">2026-10-25T10:02:17Z</dcterms:modified>
</cp:coreProperties>
</file>