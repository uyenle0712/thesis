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03504"/>
          </a:xfrm>
          <a:prstGeom prst="rect">
            <a:avLst/>
          </a:prstGeom>
          <a:solidFill>
            <a:srgbClr val="191132"/>
          </a:solidFill>
          <a:ln w="12700">
            <a:solidFill>
              <a:srgbClr val="191132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ĐẠI HỌC QUỐC GIA TP. HỒ CHÍ MINH  -  TRƯỜNG ĐẠI HỌC KHOA HỌC TỰ NHIÊN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078992"/>
            <a:ext cx="7680960" cy="2286000"/>
          </a:xfrm>
          <a:prstGeom prst="round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258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LUẬN VĂN THẠC SĨ  -  NGÀNH TRÍ TUỆ NHÂN TẠO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1792224"/>
            <a:ext cx="7406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</a:t>
            </a:r>
            <a:endParaRPr lang="en-US" sz="2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DỰA TRÊN LLM TỪ CÁC TRƯỜNG HỢP SỬ DỤNG</a:t>
            </a:r>
            <a:endParaRPr lang="en-US" sz="2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VÀ GIAO DIỆN NGƯỜI DÙNG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41605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Học viên thực hiện: Lê Đoàn Phương Uyên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Giáo viên hướng dẫn: TS. Nguyễn Hồng Bửu Long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5376672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TP. Hồ Chí Minh - 2026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solidFill>
            <a:srgbClr val="191132"/>
          </a:solidFill>
          <a:ln w="12700">
            <a:solidFill>
              <a:srgbClr val="191132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Luận văn thạc sĩ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 dựa trên LLM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Đoàn Phương Uyên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1/25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Tổng quan</a:t>
            </a:r>
            <a:endParaRPr lang="en-US" sz="1820" dirty="0"/>
          </a:p>
        </p:txBody>
      </p:sp>
      <p:sp>
        <p:nvSpPr>
          <p:cNvPr id="4" name="Text 2"/>
          <p:cNvSpPr/>
          <p:nvPr/>
        </p:nvSpPr>
        <p:spPr>
          <a:xfrm>
            <a:off x="502920" y="89611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Từ trạng thái giao diện hiện tại, sinh một câu hướng dẫn để người dùng biết chính xác bước tiếp theo cần làm.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94360" y="1847088"/>
            <a:ext cx="1874520" cy="868680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7A70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847088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Màn hình hiện tại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578608" y="2286000"/>
            <a:ext cx="438912" cy="0"/>
          </a:xfrm>
          <a:prstGeom prst="line">
            <a:avLst/>
          </a:prstGeom>
          <a:noFill/>
          <a:ln w="25400">
            <a:solidFill>
              <a:srgbClr val="4F417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127248" y="1847088"/>
            <a:ext cx="1874520" cy="868680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2519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27248" y="1847088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Mô hình sinh câu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111496" y="2286000"/>
            <a:ext cx="438912" cy="0"/>
          </a:xfrm>
          <a:prstGeom prst="line">
            <a:avLst/>
          </a:prstGeom>
          <a:noFill/>
          <a:ln w="25400">
            <a:solidFill>
              <a:srgbClr val="4F417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669280" y="1719072"/>
            <a:ext cx="2697480" cy="1115568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4F41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0" y="1719072"/>
            <a:ext cx="26974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“Chạm vào Not now”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02920" y="33832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Đầu vào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21208" y="3886200"/>
            <a:ext cx="64008" cy="64008"/>
          </a:xfrm>
          <a:prstGeom prst="ellipse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749040"/>
            <a:ext cx="3675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Ảnh màn hình hiện tại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21208" y="4389120"/>
            <a:ext cx="64008" cy="64008"/>
          </a:xfrm>
          <a:prstGeom prst="ellipse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4251960"/>
            <a:ext cx="3675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Mục tiêu người dùng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21208" y="4892040"/>
            <a:ext cx="64008" cy="64008"/>
          </a:xfrm>
          <a:prstGeom prst="ellipse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4754880"/>
            <a:ext cx="3675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Lịch sử thao tác trước đó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21208" y="5394960"/>
            <a:ext cx="64008" cy="64008"/>
          </a:xfrm>
          <a:prstGeom prst="ellipse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5257800"/>
            <a:ext cx="3675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Văn bản hiển thị trên giao diện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4709160" y="3456432"/>
            <a:ext cx="3840480" cy="1645920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7A70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3703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Đầu ra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983480" y="416052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Một câu hướng dẫn cho</a:t>
            </a:r>
            <a:endParaRPr lang="en-US" sz="18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bước tiếp theo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02920" y="555955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Đầu ra của luận văn là câu hướng dẫn cho người dùng, không phải tọa độ để agent tự thao tác.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solidFill>
            <a:srgbClr val="191132"/>
          </a:solidFill>
          <a:ln w="12700">
            <a:solidFill>
              <a:srgbClr val="191132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Luận văn thạc sĩ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 dựa trên LLM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Đoàn Phương Uyên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2/25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1.1. Yêu cầu của câu hướng dẫn</a:t>
            </a:r>
            <a:endParaRPr lang="en-US" sz="182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Một câu nghe hoàn toàn tự nhiên vẫn có thể không đủ thông tin để người dùng chọn đúng phần tử.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3794760" cy="2514600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7A70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01168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Câu mơ hồ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900" i="1" dirty="0">
                <a:solidFill>
                  <a:srgbClr val="7A70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“Tap the button.”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77240" y="342900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Không biết phải chạm nút nào khi màn hình có nhiều nút.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846320" y="1783080"/>
            <a:ext cx="3794760" cy="2514600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4F41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201168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Câu đủ rõ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074920" y="2743200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900" i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“Tap Not now.”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5120640" y="342900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Chỉ ra đúng phần tử cần thao tác.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" y="4864608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Vì vậy, câu hướng dẫn không chỉ cần đúng nội dung mà còn phải phân biệt được đúng phần tử cần thao tác.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solidFill>
            <a:srgbClr val="191132"/>
          </a:solidFill>
          <a:ln w="12700">
            <a:solidFill>
              <a:srgbClr val="191132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Luận văn thạc sĩ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 dựa trên LLM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Đoàn Phương Uyên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3/25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1.2. Hạn chế của độ tương đồng</a:t>
            </a:r>
            <a:endParaRPr lang="en-US" sz="182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Các độ đo chất lượng câu và khả năng làm theo phản ánh hai khía cạnh bổ sung cho nhau.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2331720" cy="1097280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7A70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7452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BLEU / ROUGE</a:t>
            </a:r>
            <a:endParaRPr lang="en-US" sz="15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Đo mức giống câu chuẩn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401568" y="1874520"/>
            <a:ext cx="2331720" cy="1097280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7A70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01568" y="187452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SPICE / CIDEr</a:t>
            </a:r>
            <a:endParaRPr lang="en-US" sz="15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Đo tương đồng nội dung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72200" y="1691640"/>
            <a:ext cx="2331720" cy="1463040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4F41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72200" y="169164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Executability</a:t>
            </a:r>
            <a:endParaRPr lang="en-US" sz="15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Xác định đúng phần tử</a:t>
            </a:r>
            <a:endParaRPr lang="en-US" sz="15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và đúng loại thao tác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" y="416052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đó, luận văn đánh giá cả mức tương đồng với câu chuẩn và khả năng xác định đúng phần tử, đúng loại thao tác.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solidFill>
            <a:srgbClr val="191132"/>
          </a:solidFill>
          <a:ln w="12700">
            <a:solidFill>
              <a:srgbClr val="191132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Luận văn thạc sĩ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 dựa trên LLM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Đoàn Phương Uyên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4/25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1.3. Đóng góp chính</a:t>
            </a:r>
            <a:endParaRPr lang="en-US" sz="182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2514600" cy="2971800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2519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25296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Phương pháp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22376" y="1847088"/>
            <a:ext cx="20756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1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GRPO-SPICE tối ưu câu hướng dẫn. ACE tiếp tục hiệu chỉnh câu ban đầu để cải thiện chất lượng mà vẫn giữ executability.</a:t>
            </a:r>
            <a:endParaRPr lang="en-US" sz="1510" dirty="0"/>
          </a:p>
        </p:txBody>
      </p:sp>
      <p:sp>
        <p:nvSpPr>
          <p:cNvPr id="7" name="Shape 5"/>
          <p:cNvSpPr/>
          <p:nvPr/>
        </p:nvSpPr>
        <p:spPr>
          <a:xfrm>
            <a:off x="3319272" y="960120"/>
            <a:ext cx="2514600" cy="2971800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4F41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56432" y="1225296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Executability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566160" y="1847088"/>
            <a:ext cx="202996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1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Mô hình định vị tách biệt kiểm tra câu có dẫn tới đúng phần tử và đúng thao tác.</a:t>
            </a:r>
            <a:endParaRPr lang="en-US" sz="1510" dirty="0"/>
          </a:p>
        </p:txBody>
      </p:sp>
      <p:sp>
        <p:nvSpPr>
          <p:cNvPr id="10" name="Shape 8"/>
          <p:cNvSpPr/>
          <p:nvPr/>
        </p:nvSpPr>
        <p:spPr>
          <a:xfrm>
            <a:off x="6126480" y="960120"/>
            <a:ext cx="2514600" cy="2971800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7A70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54496" y="1170432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3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Bằng chứng thực nghiệm</a:t>
            </a:r>
            <a:endParaRPr lang="en-US" sz="1630" dirty="0"/>
          </a:p>
        </p:txBody>
      </p:sp>
      <p:sp>
        <p:nvSpPr>
          <p:cNvPr id="12" name="Text 10"/>
          <p:cNvSpPr/>
          <p:nvPr/>
        </p:nvSpPr>
        <p:spPr>
          <a:xfrm>
            <a:off x="6355080" y="1847088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quả được kiểm tra bằng cùng số bước huấn luyện, nhiều mô hình định vị, tác vụ mới và chuyển miền.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1520" y="437083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+1,55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31520" y="4901184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điểm trên tập kiểm chính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401568" y="437083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+4,58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401568" y="4901184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điểm trên tác vụ chưa có trong huấn luyện có giám sát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080760" y="437083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7A70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7/7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080760" y="4901184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BLEU-4 · CIDEr-D · SPICE · …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solidFill>
            <a:srgbClr val="191132"/>
          </a:solidFill>
          <a:ln w="12700">
            <a:solidFill>
              <a:srgbClr val="191132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Luận văn thạc sĩ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 dựa trên LLM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Đoàn Phương Uyên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5/25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Dữ liệu và đánh giá</a:t>
            </a:r>
            <a:endParaRPr lang="en-US" sz="1820" dirty="0"/>
          </a:p>
        </p:txBody>
      </p:sp>
      <p:sp>
        <p:nvSpPr>
          <p:cNvPr id="4" name="Text 2"/>
          <p:cNvSpPr/>
          <p:nvPr/>
        </p:nvSpPr>
        <p:spPr>
          <a:xfrm>
            <a:off x="502920" y="877824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Tập huấn luyện và tập kiểm tra chính được tách theo tác vụ; không có tác vụ xuất hiện ở cả hai phía.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02920" y="1536192"/>
            <a:ext cx="8138160" cy="493776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536192"/>
            <a:ext cx="2514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endParaRPr lang="en-US" sz="1370" dirty="0"/>
          </a:p>
        </p:txBody>
      </p:sp>
      <p:sp>
        <p:nvSpPr>
          <p:cNvPr id="7" name="Text 5"/>
          <p:cNvSpPr/>
          <p:nvPr/>
        </p:nvSpPr>
        <p:spPr>
          <a:xfrm>
            <a:off x="3017520" y="1536192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7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Huấn luyện</a:t>
            </a:r>
            <a:endParaRPr lang="en-US" sz="1370" dirty="0"/>
          </a:p>
        </p:txBody>
      </p:sp>
      <p:sp>
        <p:nvSpPr>
          <p:cNvPr id="8" name="Text 6"/>
          <p:cNvSpPr/>
          <p:nvPr/>
        </p:nvSpPr>
        <p:spPr>
          <a:xfrm>
            <a:off x="4709160" y="1536192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7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Kiểm tra chính</a:t>
            </a:r>
            <a:endParaRPr lang="en-US" sz="1370" dirty="0"/>
          </a:p>
        </p:txBody>
      </p:sp>
      <p:sp>
        <p:nvSpPr>
          <p:cNvPr id="9" name="Text 7"/>
          <p:cNvSpPr/>
          <p:nvPr/>
        </p:nvSpPr>
        <p:spPr>
          <a:xfrm>
            <a:off x="6400800" y="1536192"/>
            <a:ext cx="2240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7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Ghi chú</a:t>
            </a:r>
            <a:endParaRPr lang="en-US" sz="1370" dirty="0"/>
          </a:p>
        </p:txBody>
      </p:sp>
      <p:sp>
        <p:nvSpPr>
          <p:cNvPr id="10" name="Text 8"/>
          <p:cNvSpPr/>
          <p:nvPr/>
        </p:nvSpPr>
        <p:spPr>
          <a:xfrm>
            <a:off x="502920" y="2029968"/>
            <a:ext cx="2514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2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Số bước</a:t>
            </a:r>
            <a:endParaRPr lang="en-US" sz="1420" dirty="0"/>
          </a:p>
        </p:txBody>
      </p:sp>
      <p:sp>
        <p:nvSpPr>
          <p:cNvPr id="11" name="Text 9"/>
          <p:cNvSpPr/>
          <p:nvPr/>
        </p:nvSpPr>
        <p:spPr>
          <a:xfrm>
            <a:off x="3017520" y="2029968"/>
            <a:ext cx="1691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2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64.567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4709160" y="2029968"/>
            <a:ext cx="1691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2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6.958</a:t>
            </a:r>
            <a:endParaRPr lang="en-US" sz="1420" dirty="0"/>
          </a:p>
        </p:txBody>
      </p:sp>
      <p:sp>
        <p:nvSpPr>
          <p:cNvPr id="13" name="Text 11"/>
          <p:cNvSpPr/>
          <p:nvPr/>
        </p:nvSpPr>
        <p:spPr>
          <a:xfrm>
            <a:off x="6400800" y="2029968"/>
            <a:ext cx="2240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2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chia theo tác vụ</a:t>
            </a:r>
            <a:endParaRPr lang="en-US" sz="1420" dirty="0"/>
          </a:p>
        </p:txBody>
      </p:sp>
      <p:sp>
        <p:nvSpPr>
          <p:cNvPr id="14" name="Shape 12"/>
          <p:cNvSpPr/>
          <p:nvPr/>
        </p:nvSpPr>
        <p:spPr>
          <a:xfrm>
            <a:off x="502920" y="2615184"/>
            <a:ext cx="8138160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502920" y="2615184"/>
            <a:ext cx="2514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2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Bước có thao tác chạm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3017520" y="2615184"/>
            <a:ext cx="1691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2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41.191</a:t>
            </a:r>
            <a:endParaRPr lang="en-US" sz="1420" dirty="0"/>
          </a:p>
        </p:txBody>
      </p:sp>
      <p:sp>
        <p:nvSpPr>
          <p:cNvPr id="17" name="Text 15"/>
          <p:cNvSpPr/>
          <p:nvPr/>
        </p:nvSpPr>
        <p:spPr>
          <a:xfrm>
            <a:off x="4709160" y="2615184"/>
            <a:ext cx="1691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2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4.463</a:t>
            </a:r>
            <a:endParaRPr lang="en-US" sz="1420" dirty="0"/>
          </a:p>
        </p:txBody>
      </p:sp>
      <p:sp>
        <p:nvSpPr>
          <p:cNvPr id="18" name="Text 16"/>
          <p:cNvSpPr/>
          <p:nvPr/>
        </p:nvSpPr>
        <p:spPr>
          <a:xfrm>
            <a:off x="6400800" y="2615184"/>
            <a:ext cx="2240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2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tập chính của executability</a:t>
            </a:r>
            <a:endParaRPr lang="en-US" sz="1420" dirty="0"/>
          </a:p>
        </p:txBody>
      </p:sp>
      <p:sp>
        <p:nvSpPr>
          <p:cNvPr id="19" name="Shape 17"/>
          <p:cNvSpPr/>
          <p:nvPr/>
        </p:nvSpPr>
        <p:spPr>
          <a:xfrm>
            <a:off x="502920" y="3200400"/>
            <a:ext cx="8138160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502920" y="3200400"/>
            <a:ext cx="2514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2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Số tác vụ</a:t>
            </a:r>
            <a:endParaRPr lang="en-US" sz="1420" dirty="0"/>
          </a:p>
        </p:txBody>
      </p:sp>
      <p:sp>
        <p:nvSpPr>
          <p:cNvPr id="21" name="Text 19"/>
          <p:cNvSpPr/>
          <p:nvPr/>
        </p:nvSpPr>
        <p:spPr>
          <a:xfrm>
            <a:off x="3017520" y="3200400"/>
            <a:ext cx="1691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2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12.895</a:t>
            </a:r>
            <a:endParaRPr lang="en-US" sz="1420" dirty="0"/>
          </a:p>
        </p:txBody>
      </p:sp>
      <p:sp>
        <p:nvSpPr>
          <p:cNvPr id="22" name="Text 20"/>
          <p:cNvSpPr/>
          <p:nvPr/>
        </p:nvSpPr>
        <p:spPr>
          <a:xfrm>
            <a:off x="4709160" y="3200400"/>
            <a:ext cx="1691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2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1.432</a:t>
            </a:r>
            <a:endParaRPr lang="en-US" sz="1420" dirty="0"/>
          </a:p>
        </p:txBody>
      </p:sp>
      <p:sp>
        <p:nvSpPr>
          <p:cNvPr id="23" name="Text 21"/>
          <p:cNvSpPr/>
          <p:nvPr/>
        </p:nvSpPr>
        <p:spPr>
          <a:xfrm>
            <a:off x="6400800" y="3200400"/>
            <a:ext cx="2240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2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không trùng tác vụ</a:t>
            </a:r>
            <a:endParaRPr lang="en-US" sz="1420" dirty="0"/>
          </a:p>
        </p:txBody>
      </p:sp>
      <p:sp>
        <p:nvSpPr>
          <p:cNvPr id="24" name="Text 22"/>
          <p:cNvSpPr/>
          <p:nvPr/>
        </p:nvSpPr>
        <p:spPr>
          <a:xfrm>
            <a:off x="502920" y="3986784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2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Đánh giá tổng quát hóa bổ sung</a:t>
            </a:r>
            <a:endParaRPr lang="en-US" sz="1520" dirty="0"/>
          </a:p>
        </p:txBody>
      </p:sp>
      <p:sp>
        <p:nvSpPr>
          <p:cNvPr id="25" name="Shape 23"/>
          <p:cNvSpPr/>
          <p:nvPr/>
        </p:nvSpPr>
        <p:spPr>
          <a:xfrm>
            <a:off x="502920" y="4498848"/>
            <a:ext cx="3886200" cy="1005840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4F41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" y="459943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6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Tác vụ mới (ACU)</a:t>
            </a:r>
            <a:endParaRPr lang="en-US" sz="1460" dirty="0"/>
          </a:p>
        </p:txBody>
      </p:sp>
      <p:sp>
        <p:nvSpPr>
          <p:cNvPr id="27" name="Text 25"/>
          <p:cNvSpPr/>
          <p:nvPr/>
        </p:nvSpPr>
        <p:spPr>
          <a:xfrm>
            <a:off x="1920240" y="455371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8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1.484 bước từ các tác vụ chưa có trong tập huấn luyện</a:t>
            </a:r>
            <a:endParaRPr lang="en-US" sz="1380" dirty="0"/>
          </a:p>
        </p:txBody>
      </p:sp>
      <p:sp>
        <p:nvSpPr>
          <p:cNvPr id="28" name="Shape 26"/>
          <p:cNvSpPr/>
          <p:nvPr/>
        </p:nvSpPr>
        <p:spPr>
          <a:xfrm>
            <a:off x="4754880" y="4498848"/>
            <a:ext cx="3886200" cy="1005840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7A70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64608" y="459943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6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Chuyển miền (AitZ)</a:t>
            </a:r>
            <a:endParaRPr lang="en-US" sz="1460" dirty="0"/>
          </a:p>
        </p:txBody>
      </p:sp>
      <p:sp>
        <p:nvSpPr>
          <p:cNvPr id="30" name="Text 28"/>
          <p:cNvSpPr/>
          <p:nvPr/>
        </p:nvSpPr>
        <p:spPr>
          <a:xfrm>
            <a:off x="6263640" y="4553712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8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Bộ dữ liệu giao diện khác để kiểm tra khả năng chuyển miền</a:t>
            </a:r>
            <a:endParaRPr lang="en-US" sz="1380" dirty="0"/>
          </a:p>
        </p:txBody>
      </p:sp>
      <p:sp>
        <p:nvSpPr>
          <p:cNvPr id="31" name="Shape 29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solidFill>
            <a:srgbClr val="191132"/>
          </a:solidFill>
          <a:ln w="12700">
            <a:solidFill>
              <a:srgbClr val="191132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Luận văn thạc sĩ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 dựa trên LLM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Đoàn Phương Uyên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6/25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2.1. Executability</a:t>
            </a:r>
            <a:endParaRPr lang="en-US" sz="1820" dirty="0"/>
          </a:p>
        </p:txBody>
      </p:sp>
      <p:sp>
        <p:nvSpPr>
          <p:cNvPr id="4" name="Shape 2"/>
          <p:cNvSpPr/>
          <p:nvPr/>
        </p:nvSpPr>
        <p:spPr>
          <a:xfrm>
            <a:off x="594360" y="1572768"/>
            <a:ext cx="173736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A70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572768"/>
            <a:ext cx="1737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Câu hướng dẫn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441448" y="1993392"/>
            <a:ext cx="365760" cy="0"/>
          </a:xfrm>
          <a:prstGeom prst="line">
            <a:avLst/>
          </a:prstGeom>
          <a:noFill/>
          <a:ln w="25400">
            <a:solidFill>
              <a:srgbClr val="4F417A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907792" y="1444752"/>
            <a:ext cx="2057400" cy="1097280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2519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07792" y="1444752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Mô hình định vị</a:t>
            </a:r>
            <a:endParaRPr lang="en-US" sz="15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tách biệt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74920" y="1993392"/>
            <a:ext cx="365760" cy="0"/>
          </a:xfrm>
          <a:prstGeom prst="line">
            <a:avLst/>
          </a:prstGeom>
          <a:noFill/>
          <a:ln w="25400">
            <a:solidFill>
              <a:srgbClr val="4F417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541264" y="1572768"/>
            <a:ext cx="118872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A70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41264" y="1572768"/>
            <a:ext cx="1188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Điểm (x,y)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39712" y="1993392"/>
            <a:ext cx="365760" cy="0"/>
          </a:xfrm>
          <a:prstGeom prst="line">
            <a:avLst/>
          </a:prstGeom>
          <a:noFill/>
          <a:ln w="25400">
            <a:solidFill>
              <a:srgbClr val="4F417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296912" y="1371600"/>
            <a:ext cx="1261872" cy="1243584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4F41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96912" y="1371600"/>
            <a:ext cx="1261872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2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Kiểm tra</a:t>
            </a:r>
            <a:endParaRPr lang="en-US" sz="132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2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phần tử + thao tác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502920" y="3182112"/>
            <a:ext cx="4343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Một bước được tính đúng khi đồng thời: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521208" y="3813048"/>
            <a:ext cx="64008" cy="64008"/>
          </a:xfrm>
          <a:prstGeom prst="ellipse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675888"/>
            <a:ext cx="7927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đúng loại thao tác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21208" y="4379976"/>
            <a:ext cx="64008" cy="64008"/>
          </a:xfrm>
          <a:prstGeom prst="ellipse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4242816"/>
            <a:ext cx="7927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không diễn đạt ngược thao tác cần làm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21208" y="4946904"/>
            <a:ext cx="64008" cy="64008"/>
          </a:xfrm>
          <a:prstGeom prst="ellipse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4809744"/>
            <a:ext cx="7927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điểm định vị thuộc vùng của phần tử cần chạm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02920" y="5468112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Mô hình định vị không tham gia huấn luyện phương pháp và không biết tọa độ đáp án.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solidFill>
            <a:srgbClr val="191132"/>
          </a:solidFill>
          <a:ln w="12700">
            <a:solidFill>
              <a:srgbClr val="191132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Luận văn thạc sĩ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 dựa trên LLM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Đoàn Phương Uyên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7/25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2.2. Kiểm tra độ tin cậy của executability</a:t>
            </a:r>
            <a:endParaRPr lang="en-US" sz="1820" dirty="0"/>
          </a:p>
        </p:txBody>
      </p:sp>
      <p:sp>
        <p:nvSpPr>
          <p:cNvPr id="4" name="Text 2"/>
          <p:cNvSpPr/>
          <p:nvPr/>
        </p:nvSpPr>
        <p:spPr>
          <a:xfrm>
            <a:off x="502920" y="832104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Trên cùng một nhóm bước, câu càng thiếu thông tin để xác định đúng phần tử thì executability càng thấp.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60120" y="1618488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2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Câu chuẩn (đầy đủ thông tin)</a:t>
            </a:r>
            <a:endParaRPr lang="en-US" sz="1420" dirty="0"/>
          </a:p>
        </p:txBody>
      </p:sp>
      <p:sp>
        <p:nvSpPr>
          <p:cNvPr id="6" name="Shape 4"/>
          <p:cNvSpPr/>
          <p:nvPr/>
        </p:nvSpPr>
        <p:spPr>
          <a:xfrm>
            <a:off x="3108960" y="1691640"/>
            <a:ext cx="4087368" cy="256032"/>
          </a:xfrm>
          <a:prstGeom prst="roundRect">
            <a:avLst/>
          </a:prstGeom>
          <a:solidFill>
            <a:srgbClr val="ECEAF0"/>
          </a:solidFill>
          <a:ln w="12700">
            <a:solidFill>
              <a:srgbClr val="ECEAF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08960" y="1691640"/>
            <a:ext cx="3826798" cy="256032"/>
          </a:xfrm>
          <a:prstGeom prst="round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42632" y="1609344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42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74,9%</a:t>
            </a:r>
            <a:endParaRPr lang="en-US" sz="1420" dirty="0"/>
          </a:p>
        </p:txBody>
      </p:sp>
      <p:sp>
        <p:nvSpPr>
          <p:cNvPr id="9" name="Text 7"/>
          <p:cNvSpPr/>
          <p:nvPr/>
        </p:nvSpPr>
        <p:spPr>
          <a:xfrm>
            <a:off x="960120" y="2441448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2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Câu mơ hồ: “Tap the button.”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3108960" y="2514600"/>
            <a:ext cx="4087368" cy="256032"/>
          </a:xfrm>
          <a:prstGeom prst="roundRect">
            <a:avLst/>
          </a:prstGeom>
          <a:solidFill>
            <a:srgbClr val="ECEAF0"/>
          </a:solidFill>
          <a:ln w="12700">
            <a:solidFill>
              <a:srgbClr val="ECEAF0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8960" y="2514600"/>
            <a:ext cx="613105" cy="256032"/>
          </a:xfrm>
          <a:prstGeom prst="round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42632" y="2432304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42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12,0%</a:t>
            </a:r>
            <a:endParaRPr lang="en-US" sz="1420" dirty="0"/>
          </a:p>
        </p:txBody>
      </p:sp>
      <p:sp>
        <p:nvSpPr>
          <p:cNvPr id="13" name="Text 11"/>
          <p:cNvSpPr/>
          <p:nvPr/>
        </p:nvSpPr>
        <p:spPr>
          <a:xfrm>
            <a:off x="960120" y="3264408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2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Câu sai màn hình</a:t>
            </a:r>
            <a:endParaRPr lang="en-US" sz="1420" dirty="0"/>
          </a:p>
        </p:txBody>
      </p:sp>
      <p:sp>
        <p:nvSpPr>
          <p:cNvPr id="14" name="Shape 12"/>
          <p:cNvSpPr/>
          <p:nvPr/>
        </p:nvSpPr>
        <p:spPr>
          <a:xfrm>
            <a:off x="3108960" y="3337560"/>
            <a:ext cx="4087368" cy="256032"/>
          </a:xfrm>
          <a:prstGeom prst="roundRect">
            <a:avLst/>
          </a:prstGeom>
          <a:solidFill>
            <a:srgbClr val="ECEAF0"/>
          </a:solidFill>
          <a:ln w="12700">
            <a:solidFill>
              <a:srgbClr val="ECEAF0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08960" y="3337560"/>
            <a:ext cx="311662" cy="256032"/>
          </a:xfrm>
          <a:prstGeom prst="round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42632" y="3255264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420" b="1" dirty="0">
                <a:solidFill>
                  <a:srgbClr val="7A70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6,1%</a:t>
            </a:r>
            <a:endParaRPr lang="en-US" sz="1420" dirty="0"/>
          </a:p>
        </p:txBody>
      </p:sp>
      <p:sp>
        <p:nvSpPr>
          <p:cNvPr id="17" name="Shape 15"/>
          <p:cNvSpPr/>
          <p:nvPr/>
        </p:nvSpPr>
        <p:spPr>
          <a:xfrm>
            <a:off x="1051560" y="4498848"/>
            <a:ext cx="7040880" cy="859536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4F41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61872" y="4498848"/>
            <a:ext cx="662025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4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quả đúng kỳ vọng: 74,9% → 12,0% → 6,1%. Khi câu mơ hồ hoặc sai ngữ cảnh, executability giảm mạnh.</a:t>
            </a:r>
            <a:endParaRPr lang="en-US" sz="1540" dirty="0"/>
          </a:p>
        </p:txBody>
      </p:sp>
      <p:sp>
        <p:nvSpPr>
          <p:cNvPr id="19" name="Shape 17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solidFill>
            <a:srgbClr val="191132"/>
          </a:solidFill>
          <a:ln w="12700">
            <a:solidFill>
              <a:srgbClr val="191132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Luận văn thạc sĩ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 dựa trên LLM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Đoàn Phương Uyên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8/25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Phương pháp đề xuất</a:t>
            </a:r>
            <a:endParaRPr lang="en-US" sz="1820" dirty="0"/>
          </a:p>
        </p:txBody>
      </p:sp>
      <p:sp>
        <p:nvSpPr>
          <p:cNvPr id="4" name="Shape 2"/>
          <p:cNvSpPr/>
          <p:nvPr/>
        </p:nvSpPr>
        <p:spPr>
          <a:xfrm>
            <a:off x="411480" y="1133856"/>
            <a:ext cx="1389888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A70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133856"/>
            <a:ext cx="138988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8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S1</a:t>
            </a:r>
            <a:endParaRPr lang="en-US" sz="138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8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(đã được SFT)</a:t>
            </a:r>
            <a:endParaRPr lang="en-US" sz="1380" dirty="0"/>
          </a:p>
        </p:txBody>
      </p:sp>
      <p:sp>
        <p:nvSpPr>
          <p:cNvPr id="6" name="Shape 4"/>
          <p:cNvSpPr/>
          <p:nvPr/>
        </p:nvSpPr>
        <p:spPr>
          <a:xfrm>
            <a:off x="1874520" y="1645920"/>
            <a:ext cx="182880" cy="0"/>
          </a:xfrm>
          <a:prstGeom prst="line">
            <a:avLst/>
          </a:prstGeom>
          <a:noFill/>
          <a:ln w="25400">
            <a:solidFill>
              <a:srgbClr val="4F417A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121408" y="1143000"/>
            <a:ext cx="1901952" cy="1005840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2519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21408" y="1143000"/>
            <a:ext cx="1901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GRPO-SPICE</a:t>
            </a:r>
            <a:endParaRPr lang="en-US" sz="15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sinh câu ban đầu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133088" y="1645920"/>
            <a:ext cx="256032" cy="0"/>
          </a:xfrm>
          <a:prstGeom prst="line">
            <a:avLst/>
          </a:prstGeom>
          <a:noFill/>
          <a:ln w="25400">
            <a:solidFill>
              <a:srgbClr val="4F417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480560" y="1143000"/>
            <a:ext cx="1901952" cy="1005840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4F41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1143000"/>
            <a:ext cx="1901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ACE</a:t>
            </a:r>
            <a:endParaRPr lang="en-US" sz="15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hiệu chỉnh có chọn lọc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92240" y="1645920"/>
            <a:ext cx="256032" cy="0"/>
          </a:xfrm>
          <a:prstGeom prst="line">
            <a:avLst/>
          </a:prstGeom>
          <a:noFill/>
          <a:ln w="25400">
            <a:solidFill>
              <a:srgbClr val="4F417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839712" y="1143000"/>
            <a:ext cx="1810512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A70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39712" y="1143000"/>
            <a:ext cx="18105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Câu hướng dẫn</a:t>
            </a:r>
            <a:endParaRPr lang="en-US" sz="1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cuối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" y="3127248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GRPO-SPICE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21208" y="3721608"/>
            <a:ext cx="64008" cy="64008"/>
          </a:xfrm>
          <a:prstGeom prst="ellipse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584448"/>
            <a:ext cx="3584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2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Sinh 8 câu cho cùng đầu vào.</a:t>
            </a:r>
            <a:endParaRPr lang="en-US" sz="1520" dirty="0"/>
          </a:p>
        </p:txBody>
      </p:sp>
      <p:sp>
        <p:nvSpPr>
          <p:cNvPr id="18" name="Shape 16"/>
          <p:cNvSpPr/>
          <p:nvPr/>
        </p:nvSpPr>
        <p:spPr>
          <a:xfrm>
            <a:off x="521208" y="4416552"/>
            <a:ext cx="64008" cy="64008"/>
          </a:xfrm>
          <a:prstGeom prst="ellipse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4279392"/>
            <a:ext cx="3584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2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Dùng SPICE + phạt độ dài để cập nhật mô hình.</a:t>
            </a:r>
            <a:endParaRPr lang="en-US" sz="1520" dirty="0"/>
          </a:p>
        </p:txBody>
      </p:sp>
      <p:sp>
        <p:nvSpPr>
          <p:cNvPr id="20" name="Text 18"/>
          <p:cNvSpPr/>
          <p:nvPr/>
        </p:nvSpPr>
        <p:spPr>
          <a:xfrm>
            <a:off x="4617720" y="312724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ACE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4636008" y="3721608"/>
            <a:ext cx="64008" cy="64008"/>
          </a:xfrm>
          <a:prstGeom prst="ellipse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28032" y="3584448"/>
            <a:ext cx="3767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2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Truy hồi 4 câu ví dụ từ tập dạy.</a:t>
            </a:r>
            <a:endParaRPr lang="en-US" sz="1520" dirty="0"/>
          </a:p>
        </p:txBody>
      </p:sp>
      <p:sp>
        <p:nvSpPr>
          <p:cNvPr id="23" name="Shape 21"/>
          <p:cNvSpPr/>
          <p:nvPr/>
        </p:nvSpPr>
        <p:spPr>
          <a:xfrm>
            <a:off x="4636008" y="4416552"/>
            <a:ext cx="64008" cy="64008"/>
          </a:xfrm>
          <a:prstGeom prst="ellipse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28032" y="4279392"/>
            <a:ext cx="3767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2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Chỉ thay câu ban đầu khi qua 2 điều kiện chọn lọc.</a:t>
            </a:r>
            <a:endParaRPr lang="en-US" sz="1520" dirty="0"/>
          </a:p>
        </p:txBody>
      </p:sp>
      <p:sp>
        <p:nvSpPr>
          <p:cNvPr id="25" name="Text 23"/>
          <p:cNvSpPr/>
          <p:nvPr/>
        </p:nvSpPr>
        <p:spPr>
          <a:xfrm>
            <a:off x="502920" y="532180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2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Mô hình định vị chỉ được dùng để đánh giá câu hướng dẫn; không tham gia sinh câu hay cập nhật mô hình.</a:t>
            </a:r>
            <a:endParaRPr lang="en-US" sz="1420" dirty="0"/>
          </a:p>
        </p:txBody>
      </p:sp>
      <p:sp>
        <p:nvSpPr>
          <p:cNvPr id="26" name="Shape 24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solidFill>
            <a:srgbClr val="191132"/>
          </a:solidFill>
          <a:ln w="12700">
            <a:solidFill>
              <a:srgbClr val="191132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Luận văn thạc sĩ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 dựa trên LLM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Đoàn Phương Uyên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9/25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3.1. Thành phần thứ nhất: GRPO-SPICE</a:t>
            </a:r>
            <a:endParaRPr lang="en-US" sz="182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417320" cy="841248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7A70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91640"/>
            <a:ext cx="14173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đầu vào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084832" y="2112264"/>
            <a:ext cx="384048" cy="0"/>
          </a:xfrm>
          <a:prstGeom prst="line">
            <a:avLst/>
          </a:prstGeom>
          <a:noFill/>
          <a:ln w="25400">
            <a:solidFill>
              <a:srgbClr val="4F417A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578608" y="1517904"/>
            <a:ext cx="1600200" cy="1188720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2519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78608" y="1517904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câu</a:t>
            </a:r>
            <a:endParaRPr lang="en-US" sz="16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hướng dẫn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97680" y="2112264"/>
            <a:ext cx="384048" cy="0"/>
          </a:xfrm>
          <a:prstGeom prst="line">
            <a:avLst/>
          </a:prstGeom>
          <a:noFill/>
          <a:ln w="25400">
            <a:solidFill>
              <a:srgbClr val="4F417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791456" y="1517904"/>
            <a:ext cx="1645920" cy="1188720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4F41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91456" y="1517904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SPICE</a:t>
            </a:r>
            <a:endParaRPr lang="en-US" sz="15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 phạt độ dài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56248" y="2112264"/>
            <a:ext cx="384048" cy="0"/>
          </a:xfrm>
          <a:prstGeom prst="line">
            <a:avLst/>
          </a:prstGeom>
          <a:noFill/>
          <a:ln w="25400">
            <a:solidFill>
              <a:srgbClr val="4F417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050024" y="1463040"/>
            <a:ext cx="1554480" cy="1298448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7A70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50024" y="1463040"/>
            <a:ext cx="15544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Cập nhật</a:t>
            </a:r>
            <a:endParaRPr lang="en-US" sz="15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GRPO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2920" y="3337560"/>
            <a:ext cx="8138160" cy="1572768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7A70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" y="35661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Vai trò của SPICE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2441448" y="3401568"/>
            <a:ext cx="5943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6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SPICE ưu tiên đúng nội dung hơn mức giống câu chữ.</a:t>
            </a:r>
            <a:endParaRPr lang="en-US" sz="156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6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Tín hiệu huấn luyện tập trung vào đối tượng và quan hệ cần mô tả.</a:t>
            </a:r>
            <a:endParaRPr lang="en-US" sz="1560" dirty="0"/>
          </a:p>
        </p:txBody>
      </p:sp>
      <p:sp>
        <p:nvSpPr>
          <p:cNvPr id="18" name="Text 16"/>
          <p:cNvSpPr/>
          <p:nvPr/>
        </p:nvSpPr>
        <p:spPr>
          <a:xfrm>
            <a:off x="502920" y="530352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6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GRPO-SPICE tối ưu trực tiếp câu hướng dẫn bằng tín hiệu SPICE.</a:t>
            </a:r>
            <a:endParaRPr lang="en-US" sz="1460" dirty="0"/>
          </a:p>
        </p:txBody>
      </p:sp>
      <p:sp>
        <p:nvSpPr>
          <p:cNvPr id="19" name="Shape 17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solidFill>
            <a:srgbClr val="191132"/>
          </a:solidFill>
          <a:ln w="12700">
            <a:solidFill>
              <a:srgbClr val="191132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Luận văn thạc sĩ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 dựa trên LLM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Đoàn Phương Uyên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10/25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3.2. Thành phần thứ hai: ACE</a:t>
            </a:r>
            <a:endParaRPr lang="en-US" sz="1820" dirty="0"/>
          </a:p>
        </p:txBody>
      </p:sp>
      <p:sp>
        <p:nvSpPr>
          <p:cNvPr id="4" name="Shape 2"/>
          <p:cNvSpPr/>
          <p:nvPr/>
        </p:nvSpPr>
        <p:spPr>
          <a:xfrm>
            <a:off x="411480" y="1143000"/>
            <a:ext cx="15087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A70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143000"/>
            <a:ext cx="1508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Câu ban đầu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2011680" y="1581912"/>
            <a:ext cx="347472" cy="0"/>
          </a:xfrm>
          <a:prstGeom prst="line">
            <a:avLst/>
          </a:prstGeom>
          <a:noFill/>
          <a:ln w="25400">
            <a:solidFill>
              <a:srgbClr val="4F417A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450592" y="1051560"/>
            <a:ext cx="1737360" cy="1051560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2519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50592" y="105156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2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Truy hồi 4 câu</a:t>
            </a:r>
            <a:endParaRPr lang="en-US" sz="132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32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ví dụ từ tập huấn luyện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4279392" y="1581912"/>
            <a:ext cx="347472" cy="0"/>
          </a:xfrm>
          <a:prstGeom prst="line">
            <a:avLst/>
          </a:prstGeom>
          <a:noFill/>
          <a:ln w="25400">
            <a:solidFill>
              <a:srgbClr val="4F417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718304" y="1051560"/>
            <a:ext cx="1417320" cy="1051560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4F41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18304" y="1051560"/>
            <a:ext cx="1417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Sinh câu</a:t>
            </a:r>
            <a:endParaRPr lang="en-US" sz="1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ứng viên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27064" y="1581912"/>
            <a:ext cx="347472" cy="0"/>
          </a:xfrm>
          <a:prstGeom prst="line">
            <a:avLst/>
          </a:prstGeom>
          <a:noFill/>
          <a:ln w="25400">
            <a:solidFill>
              <a:srgbClr val="4F417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665976" y="960120"/>
            <a:ext cx="2011680" cy="1234440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7A70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65976" y="960120"/>
            <a:ext cx="2011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Kiểm tra</a:t>
            </a:r>
            <a:endParaRPr lang="en-US" sz="1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điều kiện chọn lọc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3127248"/>
            <a:ext cx="3840480" cy="1078992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4F41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" y="3127248"/>
            <a:ext cx="351129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Câu ứng viên phải trùng với một trong bốn câu ví dụ được truy hồi.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800600" y="3127248"/>
            <a:ext cx="3840480" cy="1078992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4F41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65192" y="3127248"/>
            <a:ext cx="351129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Động từ đầu câu phải cùng lớp thao tác với câu ban đầu.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645920" y="4663440"/>
            <a:ext cx="2560320" cy="749808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4F41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45920" y="4663440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Đủ điều kiện → dùng câu mới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937760" y="4663440"/>
            <a:ext cx="25603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A70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4663440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Không đủ → giữ câu ban đầu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solidFill>
            <a:srgbClr val="191132"/>
          </a:solidFill>
          <a:ln w="12700">
            <a:solidFill>
              <a:srgbClr val="191132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Luận văn thạc sĩ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 dựa trên LLM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Đoàn Phương Uyên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11/25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Thực nghiệm và kết quả</a:t>
            </a:r>
            <a:endParaRPr lang="en-US" sz="182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Executability trên tập kiểm chính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868680" y="1408176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39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3B · chưa tinh chỉnh</a:t>
            </a:r>
            <a:endParaRPr lang="en-US" sz="1390" dirty="0"/>
          </a:p>
        </p:txBody>
      </p:sp>
      <p:sp>
        <p:nvSpPr>
          <p:cNvPr id="6" name="Shape 4"/>
          <p:cNvSpPr/>
          <p:nvPr/>
        </p:nvSpPr>
        <p:spPr>
          <a:xfrm>
            <a:off x="3108960" y="1481328"/>
            <a:ext cx="4105656" cy="256032"/>
          </a:xfrm>
          <a:prstGeom prst="roundRect">
            <a:avLst/>
          </a:prstGeom>
          <a:solidFill>
            <a:srgbClr val="ECEAF0"/>
          </a:solidFill>
          <a:ln w="12700">
            <a:solidFill>
              <a:srgbClr val="ECEAF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08960" y="1481328"/>
            <a:ext cx="3005972" cy="256032"/>
          </a:xfrm>
          <a:prstGeom prst="round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60920" y="139903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90" b="1" dirty="0">
                <a:solidFill>
                  <a:srgbClr val="7A70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47,59%</a:t>
            </a:r>
            <a:endParaRPr lang="en-US" sz="1390" dirty="0"/>
          </a:p>
        </p:txBody>
      </p:sp>
      <p:sp>
        <p:nvSpPr>
          <p:cNvPr id="9" name="Text 7"/>
          <p:cNvSpPr/>
          <p:nvPr/>
        </p:nvSpPr>
        <p:spPr>
          <a:xfrm>
            <a:off x="868680" y="2121408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39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7B · prompting</a:t>
            </a:r>
            <a:endParaRPr lang="en-US" sz="1390" dirty="0"/>
          </a:p>
        </p:txBody>
      </p:sp>
      <p:sp>
        <p:nvSpPr>
          <p:cNvPr id="10" name="Shape 8"/>
          <p:cNvSpPr/>
          <p:nvPr/>
        </p:nvSpPr>
        <p:spPr>
          <a:xfrm>
            <a:off x="3108960" y="2194560"/>
            <a:ext cx="4105656" cy="256032"/>
          </a:xfrm>
          <a:prstGeom prst="roundRect">
            <a:avLst/>
          </a:prstGeom>
          <a:solidFill>
            <a:srgbClr val="ECEAF0"/>
          </a:solidFill>
          <a:ln w="12700">
            <a:solidFill>
              <a:srgbClr val="ECEAF0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8960" y="2194560"/>
            <a:ext cx="3253574" cy="256032"/>
          </a:xfrm>
          <a:prstGeom prst="round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60920" y="2112264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90" b="1" dirty="0">
                <a:solidFill>
                  <a:srgbClr val="7A70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51,51%</a:t>
            </a:r>
            <a:endParaRPr lang="en-US" sz="1390" dirty="0"/>
          </a:p>
        </p:txBody>
      </p:sp>
      <p:sp>
        <p:nvSpPr>
          <p:cNvPr id="13" name="Text 11"/>
          <p:cNvSpPr/>
          <p:nvPr/>
        </p:nvSpPr>
        <p:spPr>
          <a:xfrm>
            <a:off x="868680" y="2834640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39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3B · baseline S1</a:t>
            </a:r>
            <a:endParaRPr lang="en-US" sz="1390" dirty="0"/>
          </a:p>
        </p:txBody>
      </p:sp>
      <p:sp>
        <p:nvSpPr>
          <p:cNvPr id="14" name="Shape 12"/>
          <p:cNvSpPr/>
          <p:nvPr/>
        </p:nvSpPr>
        <p:spPr>
          <a:xfrm>
            <a:off x="3108960" y="2907792"/>
            <a:ext cx="4105656" cy="256032"/>
          </a:xfrm>
          <a:prstGeom prst="roundRect">
            <a:avLst/>
          </a:prstGeom>
          <a:solidFill>
            <a:srgbClr val="ECEAF0"/>
          </a:solidFill>
          <a:ln w="12700">
            <a:solidFill>
              <a:srgbClr val="ECEAF0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08960" y="2907792"/>
            <a:ext cx="3733620" cy="256032"/>
          </a:xfrm>
          <a:prstGeom prst="round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60920" y="2825496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9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59,11%</a:t>
            </a:r>
            <a:endParaRPr lang="en-US" sz="1390" dirty="0"/>
          </a:p>
        </p:txBody>
      </p:sp>
      <p:sp>
        <p:nvSpPr>
          <p:cNvPr id="17" name="Text 15"/>
          <p:cNvSpPr/>
          <p:nvPr/>
        </p:nvSpPr>
        <p:spPr>
          <a:xfrm>
            <a:off x="868680" y="3547872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39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3B · GRPO-SPICE</a:t>
            </a:r>
            <a:endParaRPr lang="en-US" sz="1390" dirty="0"/>
          </a:p>
        </p:txBody>
      </p:sp>
      <p:sp>
        <p:nvSpPr>
          <p:cNvPr id="18" name="Shape 16"/>
          <p:cNvSpPr/>
          <p:nvPr/>
        </p:nvSpPr>
        <p:spPr>
          <a:xfrm>
            <a:off x="3108960" y="3621024"/>
            <a:ext cx="4105656" cy="256032"/>
          </a:xfrm>
          <a:prstGeom prst="roundRect">
            <a:avLst/>
          </a:prstGeom>
          <a:solidFill>
            <a:srgbClr val="ECEAF0"/>
          </a:solidFill>
          <a:ln w="12700">
            <a:solidFill>
              <a:srgbClr val="ECEAF0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08960" y="3621024"/>
            <a:ext cx="3830893" cy="256032"/>
          </a:xfrm>
          <a:prstGeom prst="round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60920" y="353872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39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60,65%</a:t>
            </a:r>
            <a:endParaRPr lang="en-US" sz="1390" dirty="0"/>
          </a:p>
        </p:txBody>
      </p:sp>
      <p:sp>
        <p:nvSpPr>
          <p:cNvPr id="21" name="Shape 19"/>
          <p:cNvSpPr/>
          <p:nvPr/>
        </p:nvSpPr>
        <p:spPr>
          <a:xfrm>
            <a:off x="960120" y="4498848"/>
            <a:ext cx="7223760" cy="786384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4F41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88720" y="4498848"/>
            <a:ext cx="67665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2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3B + GRPO-SPICE cao hơn 7B prompting  +9,14 điểm</a:t>
            </a:r>
            <a:endParaRPr lang="en-US" sz="1720" dirty="0"/>
          </a:p>
        </p:txBody>
      </p:sp>
      <p:sp>
        <p:nvSpPr>
          <p:cNvPr id="23" name="Text 21"/>
          <p:cNvSpPr/>
          <p:nvPr/>
        </p:nvSpPr>
        <p:spPr>
          <a:xfrm>
            <a:off x="502920" y="5541264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60" dirty="0">
                <a:solidFill>
                  <a:srgbClr val="5A5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7B dùng cùng prompt của Base và không được tối ưu prompt riêng.</a:t>
            </a:r>
            <a:endParaRPr lang="en-US" sz="1260" dirty="0"/>
          </a:p>
        </p:txBody>
      </p:sp>
      <p:sp>
        <p:nvSpPr>
          <p:cNvPr id="24" name="Shape 22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solidFill>
            <a:srgbClr val="191132"/>
          </a:solidFill>
          <a:ln w="12700">
            <a:solidFill>
              <a:srgbClr val="191132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Luận văn thạc sĩ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 dựa trên LLM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Đoàn Phương Uyên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12/25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4.1. Vai trò của tín hiệu SPICE</a:t>
            </a:r>
            <a:endParaRPr lang="en-US" sz="182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8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Cùng 500 bước GRPO, nhánh dùng SPICE từ mẫu khác vẫn ở mức S1; GRPO-SPICE tăng +1,55 điểm.</a:t>
            </a:r>
            <a:endParaRPr lang="en-US" sz="1580" dirty="0"/>
          </a:p>
        </p:txBody>
      </p:sp>
      <p:sp>
        <p:nvSpPr>
          <p:cNvPr id="5" name="Shape 3"/>
          <p:cNvSpPr/>
          <p:nvPr/>
        </p:nvSpPr>
        <p:spPr>
          <a:xfrm>
            <a:off x="749808" y="1627632"/>
            <a:ext cx="7818120" cy="530352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627632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S1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355848" y="1627632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GRPO + SPICE từ mẫu khác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961888" y="1627632"/>
            <a:ext cx="2606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GRPO-SPICE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49808" y="2157984"/>
            <a:ext cx="2606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59,11%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355848" y="2157984"/>
            <a:ext cx="2606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59,11%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961888" y="2157984"/>
            <a:ext cx="2606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60,65%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578608" y="3090672"/>
            <a:ext cx="39867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40" dirty="0">
                <a:solidFill>
                  <a:srgbClr val="5A5A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Ở cột giữa, điểm SPICE được lấy từ một mẫu khác.</a:t>
            </a:r>
            <a:endParaRPr lang="en-US" sz="1340" dirty="0"/>
          </a:p>
        </p:txBody>
      </p:sp>
      <p:sp>
        <p:nvSpPr>
          <p:cNvPr id="13" name="Shape 11"/>
          <p:cNvSpPr/>
          <p:nvPr/>
        </p:nvSpPr>
        <p:spPr>
          <a:xfrm>
            <a:off x="1005840" y="4041648"/>
            <a:ext cx="7132320" cy="896112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4F41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4041648"/>
            <a:ext cx="67665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GRPO-SPICE cao hơn nhánh dùng SPICE từ mẫu khác +1,55 điểm · KTC 95% [+0,81; +2,30]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" y="5413248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8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6/6 độ đo chất lượng câu có KTC đều tăng trong cùng phép so sánh.</a:t>
            </a:r>
            <a:endParaRPr lang="en-US" sz="1380" dirty="0"/>
          </a:p>
        </p:txBody>
      </p:sp>
      <p:sp>
        <p:nvSpPr>
          <p:cNvPr id="16" name="Shape 14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solidFill>
            <a:srgbClr val="191132"/>
          </a:solidFill>
          <a:ln w="12700">
            <a:solidFill>
              <a:srgbClr val="191132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Luận văn thạc sĩ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 dựa trên LLM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Đoàn Phương Uyên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13/25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4.2. Kết quả trên tập kiểm chính</a:t>
            </a:r>
            <a:endParaRPr lang="en-US" sz="1820" dirty="0"/>
          </a:p>
        </p:txBody>
      </p:sp>
      <p:sp>
        <p:nvSpPr>
          <p:cNvPr id="4" name="Text 2"/>
          <p:cNvSpPr/>
          <p:nvPr/>
        </p:nvSpPr>
        <p:spPr>
          <a:xfrm>
            <a:off x="502920" y="85039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7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GRPO-SPICE cao hơn baseline S1 trên các độ đo chính.</a:t>
            </a:r>
            <a:endParaRPr lang="en-US" sz="1670" dirty="0"/>
          </a:p>
        </p:txBody>
      </p:sp>
      <p:sp>
        <p:nvSpPr>
          <p:cNvPr id="5" name="Shape 3"/>
          <p:cNvSpPr/>
          <p:nvPr/>
        </p:nvSpPr>
        <p:spPr>
          <a:xfrm>
            <a:off x="585216" y="3108960"/>
            <a:ext cx="7973568" cy="658368"/>
          </a:xfrm>
          <a:prstGeom prst="rect">
            <a:avLst/>
          </a:prstGeom>
          <a:solidFill>
            <a:srgbClr val="F0EEF5"/>
          </a:solidFill>
          <a:ln w="12700">
            <a:solidFill>
              <a:srgbClr val="F0EEF5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5216" y="1389888"/>
            <a:ext cx="7973568" cy="566928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389888"/>
            <a:ext cx="1847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Mô hình</a:t>
            </a:r>
            <a:endParaRPr lang="en-US" sz="1180" dirty="0"/>
          </a:p>
        </p:txBody>
      </p:sp>
      <p:sp>
        <p:nvSpPr>
          <p:cNvPr id="8" name="Text 6"/>
          <p:cNvSpPr/>
          <p:nvPr/>
        </p:nvSpPr>
        <p:spPr>
          <a:xfrm>
            <a:off x="2432304" y="138988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Executability</a:t>
            </a:r>
            <a:endParaRPr lang="en-US" sz="1180" dirty="0"/>
          </a:p>
        </p:txBody>
      </p:sp>
      <p:sp>
        <p:nvSpPr>
          <p:cNvPr id="9" name="Text 7"/>
          <p:cNvSpPr/>
          <p:nvPr/>
        </p:nvSpPr>
        <p:spPr>
          <a:xfrm>
            <a:off x="3849624" y="1389888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Hộp phần tử</a:t>
            </a:r>
            <a:endParaRPr lang="en-US" sz="1180" dirty="0"/>
          </a:p>
        </p:txBody>
      </p:sp>
      <p:sp>
        <p:nvSpPr>
          <p:cNvPr id="10" name="Text 8"/>
          <p:cNvSpPr/>
          <p:nvPr/>
        </p:nvSpPr>
        <p:spPr>
          <a:xfrm>
            <a:off x="5111496" y="1389888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AitW đầy đủ</a:t>
            </a:r>
            <a:endParaRPr lang="en-US" sz="1180" dirty="0"/>
          </a:p>
        </p:txBody>
      </p:sp>
      <p:sp>
        <p:nvSpPr>
          <p:cNvPr id="11" name="Text 9"/>
          <p:cNvSpPr/>
          <p:nvPr/>
        </p:nvSpPr>
        <p:spPr>
          <a:xfrm>
            <a:off x="6373368" y="138988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SPICE</a:t>
            </a:r>
            <a:endParaRPr lang="en-US" sz="1180" dirty="0"/>
          </a:p>
        </p:txBody>
      </p:sp>
      <p:sp>
        <p:nvSpPr>
          <p:cNvPr id="12" name="Text 10"/>
          <p:cNvSpPr/>
          <p:nvPr/>
        </p:nvSpPr>
        <p:spPr>
          <a:xfrm>
            <a:off x="7333488" y="1389888"/>
            <a:ext cx="1225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CIDEr-D</a:t>
            </a:r>
            <a:endParaRPr lang="en-US" sz="1180" dirty="0"/>
          </a:p>
        </p:txBody>
      </p:sp>
      <p:sp>
        <p:nvSpPr>
          <p:cNvPr id="13" name="Text 11"/>
          <p:cNvSpPr/>
          <p:nvPr/>
        </p:nvSpPr>
        <p:spPr>
          <a:xfrm>
            <a:off x="585216" y="1956816"/>
            <a:ext cx="18470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4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</a:t>
            </a:r>
            <a:endParaRPr lang="en-US" sz="1340" dirty="0"/>
          </a:p>
        </p:txBody>
      </p:sp>
      <p:sp>
        <p:nvSpPr>
          <p:cNvPr id="14" name="Text 12"/>
          <p:cNvSpPr/>
          <p:nvPr/>
        </p:nvSpPr>
        <p:spPr>
          <a:xfrm>
            <a:off x="2432304" y="1956816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4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47,59</a:t>
            </a:r>
            <a:endParaRPr lang="en-US" sz="1340" dirty="0"/>
          </a:p>
        </p:txBody>
      </p:sp>
      <p:sp>
        <p:nvSpPr>
          <p:cNvPr id="15" name="Text 13"/>
          <p:cNvSpPr/>
          <p:nvPr/>
        </p:nvSpPr>
        <p:spPr>
          <a:xfrm>
            <a:off x="3849624" y="1956816"/>
            <a:ext cx="12618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4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53,60</a:t>
            </a:r>
            <a:endParaRPr lang="en-US" sz="1340" dirty="0"/>
          </a:p>
        </p:txBody>
      </p:sp>
      <p:sp>
        <p:nvSpPr>
          <p:cNvPr id="16" name="Text 14"/>
          <p:cNvSpPr/>
          <p:nvPr/>
        </p:nvSpPr>
        <p:spPr>
          <a:xfrm>
            <a:off x="5111496" y="1956816"/>
            <a:ext cx="12618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4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63,39</a:t>
            </a:r>
            <a:endParaRPr lang="en-US" sz="1340" dirty="0"/>
          </a:p>
        </p:txBody>
      </p:sp>
      <p:sp>
        <p:nvSpPr>
          <p:cNvPr id="17" name="Text 15"/>
          <p:cNvSpPr/>
          <p:nvPr/>
        </p:nvSpPr>
        <p:spPr>
          <a:xfrm>
            <a:off x="6373368" y="1956816"/>
            <a:ext cx="960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4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18,50</a:t>
            </a:r>
            <a:endParaRPr lang="en-US" sz="1340" dirty="0"/>
          </a:p>
        </p:txBody>
      </p:sp>
      <p:sp>
        <p:nvSpPr>
          <p:cNvPr id="18" name="Text 16"/>
          <p:cNvSpPr/>
          <p:nvPr/>
        </p:nvSpPr>
        <p:spPr>
          <a:xfrm>
            <a:off x="7333488" y="1956816"/>
            <a:ext cx="12252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4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88,00</a:t>
            </a:r>
            <a:endParaRPr lang="en-US" sz="1340" dirty="0"/>
          </a:p>
        </p:txBody>
      </p:sp>
      <p:sp>
        <p:nvSpPr>
          <p:cNvPr id="19" name="Shape 17"/>
          <p:cNvSpPr/>
          <p:nvPr/>
        </p:nvSpPr>
        <p:spPr>
          <a:xfrm>
            <a:off x="585216" y="2560320"/>
            <a:ext cx="7973568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585216" y="2560320"/>
            <a:ext cx="18470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4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S1</a:t>
            </a:r>
            <a:endParaRPr lang="en-US" sz="1340" dirty="0"/>
          </a:p>
        </p:txBody>
      </p:sp>
      <p:sp>
        <p:nvSpPr>
          <p:cNvPr id="21" name="Text 19"/>
          <p:cNvSpPr/>
          <p:nvPr/>
        </p:nvSpPr>
        <p:spPr>
          <a:xfrm>
            <a:off x="2432304" y="2560320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4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59,11</a:t>
            </a:r>
            <a:endParaRPr lang="en-US" sz="1340" dirty="0"/>
          </a:p>
        </p:txBody>
      </p:sp>
      <p:sp>
        <p:nvSpPr>
          <p:cNvPr id="22" name="Text 20"/>
          <p:cNvSpPr/>
          <p:nvPr/>
        </p:nvSpPr>
        <p:spPr>
          <a:xfrm>
            <a:off x="3849624" y="2560320"/>
            <a:ext cx="12618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4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65,49</a:t>
            </a:r>
            <a:endParaRPr lang="en-US" sz="1340" dirty="0"/>
          </a:p>
        </p:txBody>
      </p:sp>
      <p:sp>
        <p:nvSpPr>
          <p:cNvPr id="23" name="Text 21"/>
          <p:cNvSpPr/>
          <p:nvPr/>
        </p:nvSpPr>
        <p:spPr>
          <a:xfrm>
            <a:off x="5111496" y="2560320"/>
            <a:ext cx="126187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4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74,37</a:t>
            </a:r>
            <a:endParaRPr lang="en-US" sz="1340" dirty="0"/>
          </a:p>
        </p:txBody>
      </p:sp>
      <p:sp>
        <p:nvSpPr>
          <p:cNvPr id="24" name="Text 22"/>
          <p:cNvSpPr/>
          <p:nvPr/>
        </p:nvSpPr>
        <p:spPr>
          <a:xfrm>
            <a:off x="6373368" y="2560320"/>
            <a:ext cx="960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4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44,37</a:t>
            </a:r>
            <a:endParaRPr lang="en-US" sz="1340" dirty="0"/>
          </a:p>
        </p:txBody>
      </p:sp>
      <p:sp>
        <p:nvSpPr>
          <p:cNvPr id="25" name="Text 23"/>
          <p:cNvSpPr/>
          <p:nvPr/>
        </p:nvSpPr>
        <p:spPr>
          <a:xfrm>
            <a:off x="7333488" y="2560320"/>
            <a:ext cx="122529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4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416,12</a:t>
            </a:r>
            <a:endParaRPr lang="en-US" sz="1340" dirty="0"/>
          </a:p>
        </p:txBody>
      </p:sp>
      <p:sp>
        <p:nvSpPr>
          <p:cNvPr id="26" name="Shape 24"/>
          <p:cNvSpPr/>
          <p:nvPr/>
        </p:nvSpPr>
        <p:spPr>
          <a:xfrm>
            <a:off x="585216" y="3163824"/>
            <a:ext cx="7973568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27" name="Text 25"/>
          <p:cNvSpPr/>
          <p:nvPr/>
        </p:nvSpPr>
        <p:spPr>
          <a:xfrm>
            <a:off x="585216" y="3163824"/>
            <a:ext cx="18470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4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GRPO-SPICE</a:t>
            </a:r>
            <a:endParaRPr lang="en-US" sz="1340" dirty="0"/>
          </a:p>
        </p:txBody>
      </p:sp>
      <p:sp>
        <p:nvSpPr>
          <p:cNvPr id="28" name="Text 26"/>
          <p:cNvSpPr/>
          <p:nvPr/>
        </p:nvSpPr>
        <p:spPr>
          <a:xfrm>
            <a:off x="2432304" y="3163824"/>
            <a:ext cx="1417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4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60,65</a:t>
            </a:r>
            <a:endParaRPr lang="en-US" sz="1340" dirty="0"/>
          </a:p>
        </p:txBody>
      </p:sp>
      <p:sp>
        <p:nvSpPr>
          <p:cNvPr id="29" name="Text 27"/>
          <p:cNvSpPr/>
          <p:nvPr/>
        </p:nvSpPr>
        <p:spPr>
          <a:xfrm>
            <a:off x="3849624" y="3163824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4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67,02</a:t>
            </a:r>
            <a:endParaRPr lang="en-US" sz="1340" dirty="0"/>
          </a:p>
        </p:txBody>
      </p:sp>
      <p:sp>
        <p:nvSpPr>
          <p:cNvPr id="30" name="Text 28"/>
          <p:cNvSpPr/>
          <p:nvPr/>
        </p:nvSpPr>
        <p:spPr>
          <a:xfrm>
            <a:off x="5111496" y="3163824"/>
            <a:ext cx="1261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4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76,25</a:t>
            </a:r>
            <a:endParaRPr lang="en-US" sz="1340" dirty="0"/>
          </a:p>
        </p:txBody>
      </p:sp>
      <p:sp>
        <p:nvSpPr>
          <p:cNvPr id="31" name="Text 29"/>
          <p:cNvSpPr/>
          <p:nvPr/>
        </p:nvSpPr>
        <p:spPr>
          <a:xfrm>
            <a:off x="6373368" y="3163824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4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45,79</a:t>
            </a:r>
            <a:endParaRPr lang="en-US" sz="1340" dirty="0"/>
          </a:p>
        </p:txBody>
      </p:sp>
      <p:sp>
        <p:nvSpPr>
          <p:cNvPr id="32" name="Text 30"/>
          <p:cNvSpPr/>
          <p:nvPr/>
        </p:nvSpPr>
        <p:spPr>
          <a:xfrm>
            <a:off x="7333488" y="3163824"/>
            <a:ext cx="1225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4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430,05</a:t>
            </a:r>
            <a:endParaRPr lang="en-US" sz="1340" dirty="0"/>
          </a:p>
        </p:txBody>
      </p:sp>
      <p:sp>
        <p:nvSpPr>
          <p:cNvPr id="33" name="Text 31"/>
          <p:cNvSpPr/>
          <p:nvPr/>
        </p:nvSpPr>
        <p:spPr>
          <a:xfrm>
            <a:off x="987552" y="409651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+1,55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987552" y="462686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Executability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3520440" y="409651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+1,52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3520440" y="462686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Hộp phần tử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6053328" y="409651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+1,88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6053328" y="462686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AitW đầy đủ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502920" y="548640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6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12/12 độ đo có KTC nằm trên 0; METEOR tăng nhưng chưa có KTC.</a:t>
            </a:r>
            <a:endParaRPr lang="en-US" sz="1360" dirty="0"/>
          </a:p>
        </p:txBody>
      </p:sp>
      <p:sp>
        <p:nvSpPr>
          <p:cNvPr id="40" name="Shape 38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solidFill>
            <a:srgbClr val="191132"/>
          </a:solidFill>
          <a:ln w="12700">
            <a:solidFill>
              <a:srgbClr val="191132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Luận văn thạc sĩ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 dựa trên LLM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Đoàn Phương Uyên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14/25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4.3. Kết quả trên tác vụ mới (ACU)</a:t>
            </a:r>
            <a:endParaRPr lang="en-US" sz="182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8138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4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ACU gồm 1.484 bước từ các tác vụ không xuất hiện trong huấn luyện SFT. Các số dưới đây là mức tăng so với baseline S1.</a:t>
            </a:r>
            <a:endParaRPr lang="en-US" sz="1540" dirty="0"/>
          </a:p>
        </p:txBody>
      </p:sp>
      <p:sp>
        <p:nvSpPr>
          <p:cNvPr id="5" name="Text 3"/>
          <p:cNvSpPr/>
          <p:nvPr/>
        </p:nvSpPr>
        <p:spPr>
          <a:xfrm>
            <a:off x="932688" y="1563624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2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GRPO-SPICE</a:t>
            </a:r>
            <a:endParaRPr lang="en-US" sz="1420" dirty="0"/>
          </a:p>
        </p:txBody>
      </p:sp>
      <p:sp>
        <p:nvSpPr>
          <p:cNvPr id="6" name="Shape 4"/>
          <p:cNvSpPr/>
          <p:nvPr/>
        </p:nvSpPr>
        <p:spPr>
          <a:xfrm>
            <a:off x="3172968" y="1636776"/>
            <a:ext cx="4059936" cy="256032"/>
          </a:xfrm>
          <a:prstGeom prst="roundRect">
            <a:avLst/>
          </a:prstGeom>
          <a:solidFill>
            <a:srgbClr val="ECEAF0"/>
          </a:solidFill>
          <a:ln w="12700">
            <a:solidFill>
              <a:srgbClr val="ECEAF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72968" y="1636776"/>
            <a:ext cx="3575867" cy="256032"/>
          </a:xfrm>
          <a:prstGeom prst="round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79208" y="155448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42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+4,58</a:t>
            </a:r>
            <a:endParaRPr lang="en-US" sz="1420" dirty="0"/>
          </a:p>
        </p:txBody>
      </p:sp>
      <p:sp>
        <p:nvSpPr>
          <p:cNvPr id="9" name="Text 7"/>
          <p:cNvSpPr/>
          <p:nvPr/>
        </p:nvSpPr>
        <p:spPr>
          <a:xfrm>
            <a:off x="932688" y="2386584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2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Chạy lại GRPO-SPICE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3172968" y="2459736"/>
            <a:ext cx="4059936" cy="256032"/>
          </a:xfrm>
          <a:prstGeom prst="roundRect">
            <a:avLst/>
          </a:prstGeom>
          <a:solidFill>
            <a:srgbClr val="ECEAF0"/>
          </a:solidFill>
          <a:ln w="12700">
            <a:solidFill>
              <a:srgbClr val="ECEAF0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72968" y="2459736"/>
            <a:ext cx="3154258" cy="256032"/>
          </a:xfrm>
          <a:prstGeom prst="round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79208" y="237744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42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+4,04</a:t>
            </a:r>
            <a:endParaRPr lang="en-US" sz="1420" dirty="0"/>
          </a:p>
        </p:txBody>
      </p:sp>
      <p:sp>
        <p:nvSpPr>
          <p:cNvPr id="13" name="Text 11"/>
          <p:cNvSpPr/>
          <p:nvPr/>
        </p:nvSpPr>
        <p:spPr>
          <a:xfrm>
            <a:off x="932688" y="3209544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2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ACE</a:t>
            </a:r>
            <a:endParaRPr lang="en-US" sz="1420" dirty="0"/>
          </a:p>
        </p:txBody>
      </p:sp>
      <p:sp>
        <p:nvSpPr>
          <p:cNvPr id="14" name="Shape 12"/>
          <p:cNvSpPr/>
          <p:nvPr/>
        </p:nvSpPr>
        <p:spPr>
          <a:xfrm>
            <a:off x="3172968" y="3282696"/>
            <a:ext cx="4059936" cy="256032"/>
          </a:xfrm>
          <a:prstGeom prst="roundRect">
            <a:avLst/>
          </a:prstGeom>
          <a:solidFill>
            <a:srgbClr val="ECEAF0"/>
          </a:solidFill>
          <a:ln w="12700">
            <a:solidFill>
              <a:srgbClr val="ECEAF0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72968" y="3282696"/>
            <a:ext cx="3786671" cy="256032"/>
          </a:xfrm>
          <a:prstGeom prst="round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79208" y="32004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42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+4,85</a:t>
            </a:r>
            <a:endParaRPr lang="en-US" sz="1420" dirty="0"/>
          </a:p>
        </p:txBody>
      </p:sp>
      <p:sp>
        <p:nvSpPr>
          <p:cNvPr id="17" name="Text 15"/>
          <p:cNvSpPr/>
          <p:nvPr/>
        </p:nvSpPr>
        <p:spPr>
          <a:xfrm>
            <a:off x="502920" y="418795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7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Cả ba khoảng tin cậy đều nằm trên 0.</a:t>
            </a:r>
            <a:endParaRPr lang="en-US" sz="1370" dirty="0"/>
          </a:p>
        </p:txBody>
      </p:sp>
      <p:sp>
        <p:nvSpPr>
          <p:cNvPr id="18" name="Shape 16"/>
          <p:cNvSpPr/>
          <p:nvPr/>
        </p:nvSpPr>
        <p:spPr>
          <a:xfrm>
            <a:off x="960120" y="4700016"/>
            <a:ext cx="7223760" cy="804672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7A70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70432" y="4700016"/>
            <a:ext cx="68031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8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Tập kiểm chính + ACU: GRPO-SPICE − S1 = +2,30  [ +1,62; +2,99 ]</a:t>
            </a:r>
            <a:endParaRPr lang="en-US" sz="1480" dirty="0"/>
          </a:p>
        </p:txBody>
      </p:sp>
      <p:sp>
        <p:nvSpPr>
          <p:cNvPr id="20" name="Shape 18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solidFill>
            <a:srgbClr val="191132"/>
          </a:solidFill>
          <a:ln w="12700">
            <a:solidFill>
              <a:srgbClr val="191132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Luận văn thạc sĩ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 dựa trên LLM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Đoàn Phương Uyên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15/25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4.4. Kết quả sau ACE</a:t>
            </a:r>
            <a:endParaRPr lang="en-US" sz="1820" dirty="0"/>
          </a:p>
        </p:txBody>
      </p:sp>
      <p:sp>
        <p:nvSpPr>
          <p:cNvPr id="4" name="Text 2"/>
          <p:cNvSpPr/>
          <p:nvPr/>
        </p:nvSpPr>
        <p:spPr>
          <a:xfrm>
            <a:off x="841248" y="877824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60,68%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41248" y="1408176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Executability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493008" y="877824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7A70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+0,02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493008" y="1408176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với GRPO-SPICE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144768" y="877824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7/7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144768" y="1408176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BLEU-4 · CIDEr-D · SPICE · …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181051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ACE giữ executability ở mức tương đương GRPO-SPICE và tiếp tục tăng các độ đo dựa trên câu chuẩn.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797296" y="2313432"/>
            <a:ext cx="1874520" cy="3511296"/>
          </a:xfrm>
          <a:prstGeom prst="rect">
            <a:avLst/>
          </a:prstGeom>
          <a:solidFill>
            <a:srgbClr val="F0EEF5"/>
          </a:solidFill>
          <a:ln w="12700">
            <a:solidFill>
              <a:srgbClr val="F0EEF5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" y="2313432"/>
            <a:ext cx="7013448" cy="438912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313432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Chỉ số</a:t>
            </a:r>
            <a:endParaRPr lang="en-US" sz="1280" dirty="0"/>
          </a:p>
        </p:txBody>
      </p:sp>
      <p:sp>
        <p:nvSpPr>
          <p:cNvPr id="14" name="Text 12"/>
          <p:cNvSpPr/>
          <p:nvPr/>
        </p:nvSpPr>
        <p:spPr>
          <a:xfrm>
            <a:off x="2441448" y="2313432"/>
            <a:ext cx="1481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</a:t>
            </a:r>
            <a:endParaRPr lang="en-US" sz="1280" dirty="0"/>
          </a:p>
        </p:txBody>
      </p:sp>
      <p:sp>
        <p:nvSpPr>
          <p:cNvPr id="15" name="Text 13"/>
          <p:cNvSpPr/>
          <p:nvPr/>
        </p:nvSpPr>
        <p:spPr>
          <a:xfrm>
            <a:off x="3922776" y="2313432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GRPO-SPICE</a:t>
            </a:r>
            <a:endParaRPr lang="en-US" sz="1280" dirty="0"/>
          </a:p>
        </p:txBody>
      </p:sp>
      <p:sp>
        <p:nvSpPr>
          <p:cNvPr id="16" name="Text 14"/>
          <p:cNvSpPr/>
          <p:nvPr/>
        </p:nvSpPr>
        <p:spPr>
          <a:xfrm>
            <a:off x="5797296" y="2313432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ACE</a:t>
            </a:r>
            <a:endParaRPr lang="en-US" sz="1280" dirty="0"/>
          </a:p>
        </p:txBody>
      </p:sp>
      <p:sp>
        <p:nvSpPr>
          <p:cNvPr id="17" name="Text 15"/>
          <p:cNvSpPr/>
          <p:nvPr/>
        </p:nvSpPr>
        <p:spPr>
          <a:xfrm>
            <a:off x="658368" y="2752344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8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BLEU-4</a:t>
            </a:r>
            <a:endParaRPr lang="en-US" sz="1280" dirty="0"/>
          </a:p>
        </p:txBody>
      </p:sp>
      <p:sp>
        <p:nvSpPr>
          <p:cNvPr id="18" name="Text 16"/>
          <p:cNvSpPr/>
          <p:nvPr/>
        </p:nvSpPr>
        <p:spPr>
          <a:xfrm>
            <a:off x="2441448" y="2752344"/>
            <a:ext cx="1481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8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51,56</a:t>
            </a:r>
            <a:endParaRPr lang="en-US" sz="1280" dirty="0"/>
          </a:p>
        </p:txBody>
      </p:sp>
      <p:sp>
        <p:nvSpPr>
          <p:cNvPr id="19" name="Text 17"/>
          <p:cNvSpPr/>
          <p:nvPr/>
        </p:nvSpPr>
        <p:spPr>
          <a:xfrm>
            <a:off x="3922776" y="2752344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8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52,36</a:t>
            </a:r>
            <a:endParaRPr lang="en-US" sz="1280" dirty="0"/>
          </a:p>
        </p:txBody>
      </p:sp>
      <p:sp>
        <p:nvSpPr>
          <p:cNvPr id="20" name="Text 18"/>
          <p:cNvSpPr/>
          <p:nvPr/>
        </p:nvSpPr>
        <p:spPr>
          <a:xfrm>
            <a:off x="5797296" y="2752344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8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53,47</a:t>
            </a:r>
            <a:endParaRPr lang="en-US" sz="1280" dirty="0"/>
          </a:p>
        </p:txBody>
      </p:sp>
      <p:sp>
        <p:nvSpPr>
          <p:cNvPr id="21" name="Shape 19"/>
          <p:cNvSpPr/>
          <p:nvPr/>
        </p:nvSpPr>
        <p:spPr>
          <a:xfrm>
            <a:off x="658368" y="3191256"/>
            <a:ext cx="7013448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22" name="Text 20"/>
          <p:cNvSpPr/>
          <p:nvPr/>
        </p:nvSpPr>
        <p:spPr>
          <a:xfrm>
            <a:off x="658368" y="3191256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8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METEOR</a:t>
            </a:r>
            <a:endParaRPr lang="en-US" sz="1280" dirty="0"/>
          </a:p>
        </p:txBody>
      </p:sp>
      <p:sp>
        <p:nvSpPr>
          <p:cNvPr id="23" name="Text 21"/>
          <p:cNvSpPr/>
          <p:nvPr/>
        </p:nvSpPr>
        <p:spPr>
          <a:xfrm>
            <a:off x="2441448" y="3191256"/>
            <a:ext cx="1481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8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36,79</a:t>
            </a:r>
            <a:endParaRPr lang="en-US" sz="1280" dirty="0"/>
          </a:p>
        </p:txBody>
      </p:sp>
      <p:sp>
        <p:nvSpPr>
          <p:cNvPr id="24" name="Text 22"/>
          <p:cNvSpPr/>
          <p:nvPr/>
        </p:nvSpPr>
        <p:spPr>
          <a:xfrm>
            <a:off x="3922776" y="3191256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8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37,92</a:t>
            </a:r>
            <a:endParaRPr lang="en-US" sz="1280" dirty="0"/>
          </a:p>
        </p:txBody>
      </p:sp>
      <p:sp>
        <p:nvSpPr>
          <p:cNvPr id="25" name="Text 23"/>
          <p:cNvSpPr/>
          <p:nvPr/>
        </p:nvSpPr>
        <p:spPr>
          <a:xfrm>
            <a:off x="5797296" y="3191256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8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38,37</a:t>
            </a:r>
            <a:endParaRPr lang="en-US" sz="1280" dirty="0"/>
          </a:p>
        </p:txBody>
      </p:sp>
      <p:sp>
        <p:nvSpPr>
          <p:cNvPr id="26" name="Shape 24"/>
          <p:cNvSpPr/>
          <p:nvPr/>
        </p:nvSpPr>
        <p:spPr>
          <a:xfrm>
            <a:off x="658368" y="3630168"/>
            <a:ext cx="7013448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27" name="Text 25"/>
          <p:cNvSpPr/>
          <p:nvPr/>
        </p:nvSpPr>
        <p:spPr>
          <a:xfrm>
            <a:off x="658368" y="3630168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8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ROUGE-L</a:t>
            </a:r>
            <a:endParaRPr lang="en-US" sz="1280" dirty="0"/>
          </a:p>
        </p:txBody>
      </p:sp>
      <p:sp>
        <p:nvSpPr>
          <p:cNvPr id="28" name="Text 26"/>
          <p:cNvSpPr/>
          <p:nvPr/>
        </p:nvSpPr>
        <p:spPr>
          <a:xfrm>
            <a:off x="2441448" y="3630168"/>
            <a:ext cx="1481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8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67,35</a:t>
            </a:r>
            <a:endParaRPr lang="en-US" sz="1280" dirty="0"/>
          </a:p>
        </p:txBody>
      </p:sp>
      <p:sp>
        <p:nvSpPr>
          <p:cNvPr id="29" name="Text 27"/>
          <p:cNvSpPr/>
          <p:nvPr/>
        </p:nvSpPr>
        <p:spPr>
          <a:xfrm>
            <a:off x="3922776" y="3630168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8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68,36</a:t>
            </a:r>
            <a:endParaRPr lang="en-US" sz="1280" dirty="0"/>
          </a:p>
        </p:txBody>
      </p:sp>
      <p:sp>
        <p:nvSpPr>
          <p:cNvPr id="30" name="Text 28"/>
          <p:cNvSpPr/>
          <p:nvPr/>
        </p:nvSpPr>
        <p:spPr>
          <a:xfrm>
            <a:off x="5797296" y="3630168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8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69,11</a:t>
            </a:r>
            <a:endParaRPr lang="en-US" sz="1280" dirty="0"/>
          </a:p>
        </p:txBody>
      </p:sp>
      <p:sp>
        <p:nvSpPr>
          <p:cNvPr id="31" name="Shape 29"/>
          <p:cNvSpPr/>
          <p:nvPr/>
        </p:nvSpPr>
        <p:spPr>
          <a:xfrm>
            <a:off x="658368" y="4069080"/>
            <a:ext cx="7013448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32" name="Text 30"/>
          <p:cNvSpPr/>
          <p:nvPr/>
        </p:nvSpPr>
        <p:spPr>
          <a:xfrm>
            <a:off x="658368" y="4069080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8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CIDEr-D</a:t>
            </a:r>
            <a:endParaRPr lang="en-US" sz="1280" dirty="0"/>
          </a:p>
        </p:txBody>
      </p:sp>
      <p:sp>
        <p:nvSpPr>
          <p:cNvPr id="33" name="Text 31"/>
          <p:cNvSpPr/>
          <p:nvPr/>
        </p:nvSpPr>
        <p:spPr>
          <a:xfrm>
            <a:off x="2441448" y="4069080"/>
            <a:ext cx="1481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8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416,12</a:t>
            </a:r>
            <a:endParaRPr lang="en-US" sz="1280" dirty="0"/>
          </a:p>
        </p:txBody>
      </p:sp>
      <p:sp>
        <p:nvSpPr>
          <p:cNvPr id="34" name="Text 32"/>
          <p:cNvSpPr/>
          <p:nvPr/>
        </p:nvSpPr>
        <p:spPr>
          <a:xfrm>
            <a:off x="3922776" y="4069080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8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430,05</a:t>
            </a:r>
            <a:endParaRPr lang="en-US" sz="1280" dirty="0"/>
          </a:p>
        </p:txBody>
      </p:sp>
      <p:sp>
        <p:nvSpPr>
          <p:cNvPr id="35" name="Text 33"/>
          <p:cNvSpPr/>
          <p:nvPr/>
        </p:nvSpPr>
        <p:spPr>
          <a:xfrm>
            <a:off x="5797296" y="4069080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8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442,02</a:t>
            </a:r>
            <a:endParaRPr lang="en-US" sz="1280" dirty="0"/>
          </a:p>
        </p:txBody>
      </p:sp>
      <p:sp>
        <p:nvSpPr>
          <p:cNvPr id="36" name="Shape 34"/>
          <p:cNvSpPr/>
          <p:nvPr/>
        </p:nvSpPr>
        <p:spPr>
          <a:xfrm>
            <a:off x="658368" y="4507992"/>
            <a:ext cx="7013448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37" name="Text 35"/>
          <p:cNvSpPr/>
          <p:nvPr/>
        </p:nvSpPr>
        <p:spPr>
          <a:xfrm>
            <a:off x="658368" y="4507992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8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SPICE</a:t>
            </a:r>
            <a:endParaRPr lang="en-US" sz="1280" dirty="0"/>
          </a:p>
        </p:txBody>
      </p:sp>
      <p:sp>
        <p:nvSpPr>
          <p:cNvPr id="38" name="Text 36"/>
          <p:cNvSpPr/>
          <p:nvPr/>
        </p:nvSpPr>
        <p:spPr>
          <a:xfrm>
            <a:off x="2441448" y="4507992"/>
            <a:ext cx="1481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8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44,37</a:t>
            </a:r>
            <a:endParaRPr lang="en-US" sz="1280" dirty="0"/>
          </a:p>
        </p:txBody>
      </p:sp>
      <p:sp>
        <p:nvSpPr>
          <p:cNvPr id="39" name="Text 37"/>
          <p:cNvSpPr/>
          <p:nvPr/>
        </p:nvSpPr>
        <p:spPr>
          <a:xfrm>
            <a:off x="3922776" y="4507992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8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45,79</a:t>
            </a:r>
            <a:endParaRPr lang="en-US" sz="1280" dirty="0"/>
          </a:p>
        </p:txBody>
      </p:sp>
      <p:sp>
        <p:nvSpPr>
          <p:cNvPr id="40" name="Text 38"/>
          <p:cNvSpPr/>
          <p:nvPr/>
        </p:nvSpPr>
        <p:spPr>
          <a:xfrm>
            <a:off x="5797296" y="4507992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8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47,13</a:t>
            </a:r>
            <a:endParaRPr lang="en-US" sz="1280" dirty="0"/>
          </a:p>
        </p:txBody>
      </p:sp>
      <p:sp>
        <p:nvSpPr>
          <p:cNvPr id="41" name="Shape 39"/>
          <p:cNvSpPr/>
          <p:nvPr/>
        </p:nvSpPr>
        <p:spPr>
          <a:xfrm>
            <a:off x="658368" y="4946904"/>
            <a:ext cx="7013448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42" name="Text 40"/>
          <p:cNvSpPr/>
          <p:nvPr/>
        </p:nvSpPr>
        <p:spPr>
          <a:xfrm>
            <a:off x="658368" y="4946904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8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chrF</a:t>
            </a:r>
            <a:endParaRPr lang="en-US" sz="1280" dirty="0"/>
          </a:p>
        </p:txBody>
      </p:sp>
      <p:sp>
        <p:nvSpPr>
          <p:cNvPr id="43" name="Text 41"/>
          <p:cNvSpPr/>
          <p:nvPr/>
        </p:nvSpPr>
        <p:spPr>
          <a:xfrm>
            <a:off x="2441448" y="4946904"/>
            <a:ext cx="1481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8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61,26</a:t>
            </a:r>
            <a:endParaRPr lang="en-US" sz="1280" dirty="0"/>
          </a:p>
        </p:txBody>
      </p:sp>
      <p:sp>
        <p:nvSpPr>
          <p:cNvPr id="44" name="Text 42"/>
          <p:cNvSpPr/>
          <p:nvPr/>
        </p:nvSpPr>
        <p:spPr>
          <a:xfrm>
            <a:off x="3922776" y="4946904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8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62,87</a:t>
            </a:r>
            <a:endParaRPr lang="en-US" sz="1280" dirty="0"/>
          </a:p>
        </p:txBody>
      </p:sp>
      <p:sp>
        <p:nvSpPr>
          <p:cNvPr id="45" name="Text 43"/>
          <p:cNvSpPr/>
          <p:nvPr/>
        </p:nvSpPr>
        <p:spPr>
          <a:xfrm>
            <a:off x="5797296" y="4946904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8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63,44</a:t>
            </a:r>
            <a:endParaRPr lang="en-US" sz="1280" dirty="0"/>
          </a:p>
        </p:txBody>
      </p:sp>
      <p:sp>
        <p:nvSpPr>
          <p:cNvPr id="46" name="Shape 44"/>
          <p:cNvSpPr/>
          <p:nvPr/>
        </p:nvSpPr>
        <p:spPr>
          <a:xfrm>
            <a:off x="658368" y="5385816"/>
            <a:ext cx="7013448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47" name="Text 45"/>
          <p:cNvSpPr/>
          <p:nvPr/>
        </p:nvSpPr>
        <p:spPr>
          <a:xfrm>
            <a:off x="658368" y="5385816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8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BERTScore</a:t>
            </a:r>
            <a:endParaRPr lang="en-US" sz="1280" dirty="0"/>
          </a:p>
        </p:txBody>
      </p:sp>
      <p:sp>
        <p:nvSpPr>
          <p:cNvPr id="48" name="Text 46"/>
          <p:cNvSpPr/>
          <p:nvPr/>
        </p:nvSpPr>
        <p:spPr>
          <a:xfrm>
            <a:off x="2441448" y="5385816"/>
            <a:ext cx="14813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8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66,33</a:t>
            </a:r>
            <a:endParaRPr lang="en-US" sz="1280" dirty="0"/>
          </a:p>
        </p:txBody>
      </p:sp>
      <p:sp>
        <p:nvSpPr>
          <p:cNvPr id="49" name="Text 47"/>
          <p:cNvSpPr/>
          <p:nvPr/>
        </p:nvSpPr>
        <p:spPr>
          <a:xfrm>
            <a:off x="3922776" y="5385816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8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67,07</a:t>
            </a:r>
            <a:endParaRPr lang="en-US" sz="1280" dirty="0"/>
          </a:p>
        </p:txBody>
      </p:sp>
      <p:sp>
        <p:nvSpPr>
          <p:cNvPr id="50" name="Text 48"/>
          <p:cNvSpPr/>
          <p:nvPr/>
        </p:nvSpPr>
        <p:spPr>
          <a:xfrm>
            <a:off x="5797296" y="5385816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8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67,73</a:t>
            </a:r>
            <a:endParaRPr lang="en-US" sz="1280" dirty="0"/>
          </a:p>
        </p:txBody>
      </p:sp>
      <p:sp>
        <p:nvSpPr>
          <p:cNvPr id="51" name="Text 49"/>
          <p:cNvSpPr/>
          <p:nvPr/>
        </p:nvSpPr>
        <p:spPr>
          <a:xfrm>
            <a:off x="502920" y="587959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8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6/6 độ đo có KTC nằm trên 0; METEOR chưa có KTC.</a:t>
            </a:r>
            <a:endParaRPr lang="en-US" sz="1280" dirty="0"/>
          </a:p>
        </p:txBody>
      </p:sp>
      <p:sp>
        <p:nvSpPr>
          <p:cNvPr id="52" name="Shape 50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solidFill>
            <a:srgbClr val="191132"/>
          </a:solidFill>
          <a:ln w="12700">
            <a:solidFill>
              <a:srgbClr val="191132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Luận văn thạc sĩ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 dựa trên LLM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Đoàn Phương Uyên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16/25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4.5. Đối chiếu với bốn mô hình định vị</a:t>
            </a:r>
            <a:endParaRPr lang="en-US" sz="1820" dirty="0"/>
          </a:p>
        </p:txBody>
      </p:sp>
      <p:sp>
        <p:nvSpPr>
          <p:cNvPr id="4" name="Text 2"/>
          <p:cNvSpPr/>
          <p:nvPr/>
        </p:nvSpPr>
        <p:spPr>
          <a:xfrm>
            <a:off x="502920" y="82296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2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Để kiểm tra kết quả không phụ thuộc vào một mô hình định vị duy nhất, executability được tính lại bằng 4 mô hình: UGround, UI-Venus, Phi-Ground và Phi-4.</a:t>
            </a:r>
            <a:endParaRPr lang="en-US" sz="1520" dirty="0"/>
          </a:p>
        </p:txBody>
      </p:sp>
      <p:sp>
        <p:nvSpPr>
          <p:cNvPr id="5" name="Shape 3"/>
          <p:cNvSpPr/>
          <p:nvPr/>
        </p:nvSpPr>
        <p:spPr>
          <a:xfrm>
            <a:off x="1051560" y="1572768"/>
            <a:ext cx="7040880" cy="502920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57276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Mô hình định vị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3886200" y="157276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GRPO-SPICE − baseline S1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5715000" y="15727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KTC 95%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1051560" y="2075688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UGround</a:t>
            </a:r>
            <a:endParaRPr lang="en-US" sz="1370" dirty="0"/>
          </a:p>
        </p:txBody>
      </p:sp>
      <p:sp>
        <p:nvSpPr>
          <p:cNvPr id="10" name="Text 8"/>
          <p:cNvSpPr/>
          <p:nvPr/>
        </p:nvSpPr>
        <p:spPr>
          <a:xfrm>
            <a:off x="3886200" y="207568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7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+1,55</a:t>
            </a:r>
            <a:endParaRPr lang="en-US" sz="1370" dirty="0"/>
          </a:p>
        </p:txBody>
      </p:sp>
      <p:sp>
        <p:nvSpPr>
          <p:cNvPr id="11" name="Text 9"/>
          <p:cNvSpPr/>
          <p:nvPr/>
        </p:nvSpPr>
        <p:spPr>
          <a:xfrm>
            <a:off x="5715000" y="2075688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[+0,80; +2,33]</a:t>
            </a:r>
            <a:endParaRPr lang="en-US" sz="1370" dirty="0"/>
          </a:p>
        </p:txBody>
      </p:sp>
      <p:sp>
        <p:nvSpPr>
          <p:cNvPr id="12" name="Shape 10"/>
          <p:cNvSpPr/>
          <p:nvPr/>
        </p:nvSpPr>
        <p:spPr>
          <a:xfrm>
            <a:off x="1051560" y="2697480"/>
            <a:ext cx="7040880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1051560" y="2697480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UI-Venus</a:t>
            </a:r>
            <a:endParaRPr lang="en-US" sz="1370" dirty="0"/>
          </a:p>
        </p:txBody>
      </p:sp>
      <p:sp>
        <p:nvSpPr>
          <p:cNvPr id="14" name="Text 12"/>
          <p:cNvSpPr/>
          <p:nvPr/>
        </p:nvSpPr>
        <p:spPr>
          <a:xfrm>
            <a:off x="3886200" y="269748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7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+1,55</a:t>
            </a:r>
            <a:endParaRPr lang="en-US" sz="1370" dirty="0"/>
          </a:p>
        </p:txBody>
      </p:sp>
      <p:sp>
        <p:nvSpPr>
          <p:cNvPr id="15" name="Text 13"/>
          <p:cNvSpPr/>
          <p:nvPr/>
        </p:nvSpPr>
        <p:spPr>
          <a:xfrm>
            <a:off x="5715000" y="269748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[+0,82; +2,30]</a:t>
            </a:r>
            <a:endParaRPr lang="en-US" sz="1370" dirty="0"/>
          </a:p>
        </p:txBody>
      </p:sp>
      <p:sp>
        <p:nvSpPr>
          <p:cNvPr id="16" name="Shape 14"/>
          <p:cNvSpPr/>
          <p:nvPr/>
        </p:nvSpPr>
        <p:spPr>
          <a:xfrm>
            <a:off x="1051560" y="3319272"/>
            <a:ext cx="7040880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1051560" y="3319272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Phi-Ground</a:t>
            </a:r>
            <a:endParaRPr lang="en-US" sz="1370" dirty="0"/>
          </a:p>
        </p:txBody>
      </p:sp>
      <p:sp>
        <p:nvSpPr>
          <p:cNvPr id="18" name="Text 16"/>
          <p:cNvSpPr/>
          <p:nvPr/>
        </p:nvSpPr>
        <p:spPr>
          <a:xfrm>
            <a:off x="3886200" y="3319272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7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+0,78</a:t>
            </a:r>
            <a:endParaRPr lang="en-US" sz="1370" dirty="0"/>
          </a:p>
        </p:txBody>
      </p:sp>
      <p:sp>
        <p:nvSpPr>
          <p:cNvPr id="19" name="Text 17"/>
          <p:cNvSpPr/>
          <p:nvPr/>
        </p:nvSpPr>
        <p:spPr>
          <a:xfrm>
            <a:off x="5715000" y="3319272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[+0,05; +1,51]</a:t>
            </a:r>
            <a:endParaRPr lang="en-US" sz="1370" dirty="0"/>
          </a:p>
        </p:txBody>
      </p:sp>
      <p:sp>
        <p:nvSpPr>
          <p:cNvPr id="20" name="Shape 18"/>
          <p:cNvSpPr/>
          <p:nvPr/>
        </p:nvSpPr>
        <p:spPr>
          <a:xfrm>
            <a:off x="1051560" y="3941064"/>
            <a:ext cx="7040880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1051560" y="3941064"/>
            <a:ext cx="2834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Phi-4</a:t>
            </a:r>
            <a:endParaRPr lang="en-US" sz="1370" dirty="0"/>
          </a:p>
        </p:txBody>
      </p:sp>
      <p:sp>
        <p:nvSpPr>
          <p:cNvPr id="22" name="Text 20"/>
          <p:cNvSpPr/>
          <p:nvPr/>
        </p:nvSpPr>
        <p:spPr>
          <a:xfrm>
            <a:off x="3886200" y="3941064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7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+0,69</a:t>
            </a:r>
            <a:endParaRPr lang="en-US" sz="1370" dirty="0"/>
          </a:p>
        </p:txBody>
      </p:sp>
      <p:sp>
        <p:nvSpPr>
          <p:cNvPr id="23" name="Text 21"/>
          <p:cNvSpPr/>
          <p:nvPr/>
        </p:nvSpPr>
        <p:spPr>
          <a:xfrm>
            <a:off x="5715000" y="3941064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[+0,02; +1,40]</a:t>
            </a:r>
            <a:endParaRPr lang="en-US" sz="1370" dirty="0"/>
          </a:p>
        </p:txBody>
      </p:sp>
      <p:sp>
        <p:nvSpPr>
          <p:cNvPr id="24" name="Shape 22"/>
          <p:cNvSpPr/>
          <p:nvPr/>
        </p:nvSpPr>
        <p:spPr>
          <a:xfrm>
            <a:off x="1005840" y="4663440"/>
            <a:ext cx="7132320" cy="768096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4F41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07008" y="4663440"/>
            <a:ext cx="672998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Cả 4 khoảng tin cậy đều nằm trên 0 → mức tăng không chỉ xuất hiện với một mô hình định vị.</a:t>
            </a:r>
            <a:endParaRPr lang="en-US" sz="1550" dirty="0"/>
          </a:p>
        </p:txBody>
      </p:sp>
      <p:sp>
        <p:nvSpPr>
          <p:cNvPr id="26" name="Shape 24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solidFill>
            <a:srgbClr val="191132"/>
          </a:solidFill>
          <a:ln w="12700">
            <a:solidFill>
              <a:srgbClr val="191132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Luận văn thạc sĩ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 dựa trên LLM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Đoàn Phương Uyên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17/25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4.6. Lịch sử do mô hình tự sinh</a:t>
            </a:r>
            <a:endParaRPr lang="en-US" sz="1820" dirty="0"/>
          </a:p>
        </p:txBody>
      </p:sp>
      <p:sp>
        <p:nvSpPr>
          <p:cNvPr id="4" name="Text 2"/>
          <p:cNvSpPr/>
          <p:nvPr/>
        </p:nvSpPr>
        <p:spPr>
          <a:xfrm>
            <a:off x="502920" y="877824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3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Khi lịch sử do chính mô hình sinh, GRPO-SPICE vẫn cao hơn S1.</a:t>
            </a:r>
            <a:endParaRPr lang="en-US" sz="1630" dirty="0"/>
          </a:p>
        </p:txBody>
      </p:sp>
      <p:sp>
        <p:nvSpPr>
          <p:cNvPr id="5" name="Shape 3"/>
          <p:cNvSpPr/>
          <p:nvPr/>
        </p:nvSpPr>
        <p:spPr>
          <a:xfrm>
            <a:off x="1051560" y="1627632"/>
            <a:ext cx="3017520" cy="1874520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7A70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19019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7A70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S1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34440" y="233172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7A70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54,96%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074920" y="1627632"/>
            <a:ext cx="3017520" cy="1874520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4F41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57800" y="19019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GRPO-SPICE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257800" y="2331720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56,44%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1005840" y="3977640"/>
            <a:ext cx="7132320" cy="932688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4F41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4440" y="3977640"/>
            <a:ext cx="66751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+1,48 điểm   ·   KTC 95% [+0,54; +2,43]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2920" y="5340096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8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Mức tăng vẫn còn khi các bước trước do chính mô hình tạo ra, gần hơn với tình huống sử dụng thực tế.</a:t>
            </a:r>
            <a:endParaRPr lang="en-US" sz="1380" dirty="0"/>
          </a:p>
        </p:txBody>
      </p:sp>
      <p:sp>
        <p:nvSpPr>
          <p:cNvPr id="14" name="Shape 12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solidFill>
            <a:srgbClr val="191132"/>
          </a:solidFill>
          <a:ln w="12700">
            <a:solidFill>
              <a:srgbClr val="191132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Luận văn thạc sĩ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 dựa trên LLM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Đoàn Phương Uyên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18/25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4.7. Chuyển miền sang AitZ</a:t>
            </a:r>
            <a:endParaRPr lang="en-US" sz="1820" dirty="0"/>
          </a:p>
        </p:txBody>
      </p:sp>
      <p:sp>
        <p:nvSpPr>
          <p:cNvPr id="4" name="Text 2"/>
          <p:cNvSpPr/>
          <p:nvPr/>
        </p:nvSpPr>
        <p:spPr>
          <a:xfrm>
            <a:off x="502920" y="832104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AitZ là bộ dữ liệu giao diện khác, dùng để kiểm tra khả năng chuyển miền.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32688" y="1490472"/>
            <a:ext cx="185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2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</a:t>
            </a:r>
            <a:endParaRPr lang="en-US" sz="1420" dirty="0"/>
          </a:p>
        </p:txBody>
      </p:sp>
      <p:sp>
        <p:nvSpPr>
          <p:cNvPr id="6" name="Shape 4"/>
          <p:cNvSpPr/>
          <p:nvPr/>
        </p:nvSpPr>
        <p:spPr>
          <a:xfrm>
            <a:off x="2898648" y="1563624"/>
            <a:ext cx="4288536" cy="256032"/>
          </a:xfrm>
          <a:prstGeom prst="roundRect">
            <a:avLst/>
          </a:prstGeom>
          <a:solidFill>
            <a:srgbClr val="ECEAF0"/>
          </a:solidFill>
          <a:ln w="12700">
            <a:solidFill>
              <a:srgbClr val="ECEAF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98648" y="1563624"/>
            <a:ext cx="3698862" cy="256032"/>
          </a:xfrm>
          <a:prstGeom prst="round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33488" y="148132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420" b="1" dirty="0">
                <a:solidFill>
                  <a:srgbClr val="7A70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34,50%</a:t>
            </a:r>
            <a:endParaRPr lang="en-US" sz="1420" dirty="0"/>
          </a:p>
        </p:txBody>
      </p:sp>
      <p:sp>
        <p:nvSpPr>
          <p:cNvPr id="9" name="Text 7"/>
          <p:cNvSpPr/>
          <p:nvPr/>
        </p:nvSpPr>
        <p:spPr>
          <a:xfrm>
            <a:off x="932688" y="2276856"/>
            <a:ext cx="185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2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2898648" y="2350008"/>
            <a:ext cx="4288536" cy="256032"/>
          </a:xfrm>
          <a:prstGeom prst="roundRect">
            <a:avLst/>
          </a:prstGeom>
          <a:solidFill>
            <a:srgbClr val="ECEAF0"/>
          </a:solidFill>
          <a:ln w="12700">
            <a:solidFill>
              <a:srgbClr val="ECEAF0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98648" y="2350008"/>
            <a:ext cx="4051594" cy="256032"/>
          </a:xfrm>
          <a:prstGeom prst="round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33488" y="226771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42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37,79%</a:t>
            </a:r>
            <a:endParaRPr lang="en-US" sz="1420" dirty="0"/>
          </a:p>
        </p:txBody>
      </p:sp>
      <p:sp>
        <p:nvSpPr>
          <p:cNvPr id="13" name="Text 11"/>
          <p:cNvSpPr/>
          <p:nvPr/>
        </p:nvSpPr>
        <p:spPr>
          <a:xfrm>
            <a:off x="932688" y="3063240"/>
            <a:ext cx="1856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42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GRPO-SPICE</a:t>
            </a:r>
            <a:endParaRPr lang="en-US" sz="1420" dirty="0"/>
          </a:p>
        </p:txBody>
      </p:sp>
      <p:sp>
        <p:nvSpPr>
          <p:cNvPr id="14" name="Shape 12"/>
          <p:cNvSpPr/>
          <p:nvPr/>
        </p:nvSpPr>
        <p:spPr>
          <a:xfrm>
            <a:off x="2898648" y="3136392"/>
            <a:ext cx="4288536" cy="256032"/>
          </a:xfrm>
          <a:prstGeom prst="roundRect">
            <a:avLst/>
          </a:prstGeom>
          <a:solidFill>
            <a:srgbClr val="ECEAF0"/>
          </a:solidFill>
          <a:ln w="12700">
            <a:solidFill>
              <a:srgbClr val="ECEAF0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98648" y="3136392"/>
            <a:ext cx="3996916" cy="256032"/>
          </a:xfrm>
          <a:prstGeom prst="round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33488" y="3054096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42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37,28%</a:t>
            </a:r>
            <a:endParaRPr lang="en-US" sz="1420" dirty="0"/>
          </a:p>
        </p:txBody>
      </p:sp>
      <p:sp>
        <p:nvSpPr>
          <p:cNvPr id="17" name="Shape 15"/>
          <p:cNvSpPr/>
          <p:nvPr/>
        </p:nvSpPr>
        <p:spPr>
          <a:xfrm>
            <a:off x="960120" y="3931920"/>
            <a:ext cx="7223760" cy="42062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393192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sánh</a:t>
            </a:r>
            <a:endParaRPr lang="en-US" sz="1240" dirty="0"/>
          </a:p>
        </p:txBody>
      </p:sp>
      <p:sp>
        <p:nvSpPr>
          <p:cNvPr id="19" name="Text 17"/>
          <p:cNvSpPr/>
          <p:nvPr/>
        </p:nvSpPr>
        <p:spPr>
          <a:xfrm>
            <a:off x="3246120" y="3931920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Chênh lệch</a:t>
            </a:r>
            <a:endParaRPr lang="en-US" sz="1240" dirty="0"/>
          </a:p>
        </p:txBody>
      </p:sp>
      <p:sp>
        <p:nvSpPr>
          <p:cNvPr id="20" name="Text 18"/>
          <p:cNvSpPr/>
          <p:nvPr/>
        </p:nvSpPr>
        <p:spPr>
          <a:xfrm>
            <a:off x="5212080" y="3931920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4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KTC 95%</a:t>
            </a:r>
            <a:endParaRPr lang="en-US" sz="1240" dirty="0"/>
          </a:p>
        </p:txBody>
      </p:sp>
      <p:sp>
        <p:nvSpPr>
          <p:cNvPr id="21" name="Text 19"/>
          <p:cNvSpPr/>
          <p:nvPr/>
        </p:nvSpPr>
        <p:spPr>
          <a:xfrm>
            <a:off x="960120" y="4352544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6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S1 − Base</a:t>
            </a:r>
            <a:endParaRPr lang="en-US" sz="1260" dirty="0"/>
          </a:p>
        </p:txBody>
      </p:sp>
      <p:sp>
        <p:nvSpPr>
          <p:cNvPr id="22" name="Text 20"/>
          <p:cNvSpPr/>
          <p:nvPr/>
        </p:nvSpPr>
        <p:spPr>
          <a:xfrm>
            <a:off x="3246120" y="4352544"/>
            <a:ext cx="1965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6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+3,29</a:t>
            </a:r>
            <a:endParaRPr lang="en-US" sz="1260" dirty="0"/>
          </a:p>
        </p:txBody>
      </p:sp>
      <p:sp>
        <p:nvSpPr>
          <p:cNvPr id="23" name="Text 21"/>
          <p:cNvSpPr/>
          <p:nvPr/>
        </p:nvSpPr>
        <p:spPr>
          <a:xfrm>
            <a:off x="5212080" y="4352544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6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[+1,51; +5,03]</a:t>
            </a:r>
            <a:endParaRPr lang="en-US" sz="1260" dirty="0"/>
          </a:p>
        </p:txBody>
      </p:sp>
      <p:sp>
        <p:nvSpPr>
          <p:cNvPr id="24" name="Shape 22"/>
          <p:cNvSpPr/>
          <p:nvPr/>
        </p:nvSpPr>
        <p:spPr>
          <a:xfrm>
            <a:off x="960120" y="4864608"/>
            <a:ext cx="7223760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960120" y="4864608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6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GRPO-SPICE − baseline S1</a:t>
            </a:r>
            <a:endParaRPr lang="en-US" sz="1260" dirty="0"/>
          </a:p>
        </p:txBody>
      </p:sp>
      <p:sp>
        <p:nvSpPr>
          <p:cNvPr id="26" name="Text 24"/>
          <p:cNvSpPr/>
          <p:nvPr/>
        </p:nvSpPr>
        <p:spPr>
          <a:xfrm>
            <a:off x="3246120" y="4864608"/>
            <a:ext cx="1965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60" b="1" dirty="0">
                <a:solidFill>
                  <a:srgbClr val="7A70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−0,51</a:t>
            </a:r>
            <a:endParaRPr lang="en-US" sz="1260" dirty="0"/>
          </a:p>
        </p:txBody>
      </p:sp>
      <p:sp>
        <p:nvSpPr>
          <p:cNvPr id="27" name="Text 25"/>
          <p:cNvSpPr/>
          <p:nvPr/>
        </p:nvSpPr>
        <p:spPr>
          <a:xfrm>
            <a:off x="5212080" y="4864608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6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[−1,39; +0,36]</a:t>
            </a:r>
            <a:endParaRPr lang="en-US" sz="1260" dirty="0"/>
          </a:p>
        </p:txBody>
      </p:sp>
      <p:sp>
        <p:nvSpPr>
          <p:cNvPr id="28" name="Text 26"/>
          <p:cNvSpPr/>
          <p:nvPr/>
        </p:nvSpPr>
        <p:spPr>
          <a:xfrm>
            <a:off x="502920" y="553212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 vẫn cao hơn Base; GRPO-SPICE không khác rõ S1 về executability.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solidFill>
            <a:srgbClr val="191132"/>
          </a:solidFill>
          <a:ln w="12700">
            <a:solidFill>
              <a:srgbClr val="191132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Luận văn thạc sĩ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 dựa trên LLM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Đoàn Phương Uyên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19/25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4.8. Ví dụ định tính</a:t>
            </a:r>
            <a:endParaRPr lang="en-US" sz="1820" dirty="0"/>
          </a:p>
        </p:txBody>
      </p:sp>
      <p:pic>
        <p:nvPicPr>
          <p:cNvPr id="4" name="Image 0" descr="/mnt/d/Master/Thesis/thesis/figures/fig_vidu_sp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868680"/>
            <a:ext cx="3886200" cy="44897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828032" y="98755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Bước cần thực hiện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4983480" y="1389888"/>
            <a:ext cx="3310128" cy="658368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25194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983480" y="1389888"/>
            <a:ext cx="33101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Chạm nút “Not now”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828032" y="246888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7A70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4983480" y="2816352"/>
            <a:ext cx="331012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A709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983480" y="2816352"/>
            <a:ext cx="33101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Gọi nhầm “Allow”</a:t>
            </a:r>
            <a:endParaRPr lang="en-US" sz="14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định vị sai phần tử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4828032" y="4041648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GRPO-SPICE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4983480" y="4389120"/>
            <a:ext cx="3310128" cy="841248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4F417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83480" y="4389120"/>
            <a:ext cx="33101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Gọi đúng “Not now”</a:t>
            </a:r>
            <a:endParaRPr lang="en-US" sz="14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định vị đúng phần tử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502920" y="559612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8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Ví dụ minh họa trực tiếp ý nghĩa của executability: câu chuyển từ quy chiếu sai nút sang đúng nút cần chạm.</a:t>
            </a:r>
            <a:endParaRPr lang="en-US" sz="1380" dirty="0"/>
          </a:p>
        </p:txBody>
      </p:sp>
      <p:sp>
        <p:nvSpPr>
          <p:cNvPr id="15" name="Shape 12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solidFill>
            <a:srgbClr val="191132"/>
          </a:solidFill>
          <a:ln w="12700">
            <a:solidFill>
              <a:srgbClr val="191132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Luận văn thạc sĩ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 dựa trên LLM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Đoàn Phương Uyên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20/25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4.9. Biến thiên giữa hai seed</a:t>
            </a:r>
            <a:endParaRPr lang="en-US" sz="182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GRPO-SPICE cao hơn baseline S1 ở cả hai seed, nhưng độ lớn mức tăng thay đổi theo seed.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1572768"/>
            <a:ext cx="7763256" cy="51206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72768"/>
            <a:ext cx="2788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9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Mô hình</a:t>
            </a:r>
            <a:endParaRPr lang="en-US" sz="1290" dirty="0"/>
          </a:p>
        </p:txBody>
      </p:sp>
      <p:sp>
        <p:nvSpPr>
          <p:cNvPr id="7" name="Text 5"/>
          <p:cNvSpPr/>
          <p:nvPr/>
        </p:nvSpPr>
        <p:spPr>
          <a:xfrm>
            <a:off x="3611880" y="1572768"/>
            <a:ext cx="15727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9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Seed 101</a:t>
            </a:r>
            <a:endParaRPr lang="en-US" sz="1290" dirty="0"/>
          </a:p>
        </p:txBody>
      </p:sp>
      <p:sp>
        <p:nvSpPr>
          <p:cNvPr id="8" name="Text 6"/>
          <p:cNvSpPr/>
          <p:nvPr/>
        </p:nvSpPr>
        <p:spPr>
          <a:xfrm>
            <a:off x="5184648" y="1572768"/>
            <a:ext cx="15727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9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Seed 202</a:t>
            </a:r>
            <a:endParaRPr lang="en-US" sz="1290" dirty="0"/>
          </a:p>
        </p:txBody>
      </p:sp>
      <p:sp>
        <p:nvSpPr>
          <p:cNvPr id="9" name="Text 7"/>
          <p:cNvSpPr/>
          <p:nvPr/>
        </p:nvSpPr>
        <p:spPr>
          <a:xfrm>
            <a:off x="6757416" y="157276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9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 (202 − 101)</a:t>
            </a:r>
            <a:endParaRPr lang="en-US" sz="1290" dirty="0"/>
          </a:p>
        </p:txBody>
      </p:sp>
      <p:sp>
        <p:nvSpPr>
          <p:cNvPr id="10" name="Text 8"/>
          <p:cNvSpPr/>
          <p:nvPr/>
        </p:nvSpPr>
        <p:spPr>
          <a:xfrm>
            <a:off x="822960" y="2084832"/>
            <a:ext cx="2788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S1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11880" y="2084832"/>
            <a:ext cx="1572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59,11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84648" y="2084832"/>
            <a:ext cx="1572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59,62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757416" y="2084832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7A70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+0,52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2798064"/>
            <a:ext cx="7763256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822960" y="2798064"/>
            <a:ext cx="2788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GRPO-SPICE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11880" y="2798064"/>
            <a:ext cx="1572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60,65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184648" y="2798064"/>
            <a:ext cx="15727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59,94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757416" y="2798064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−0,72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22960" y="3511296"/>
            <a:ext cx="7763256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822960" y="3511296"/>
            <a:ext cx="2788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2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 GRPO-SPICE − S1</a:t>
            </a:r>
            <a:endParaRPr lang="en-US" sz="1420" dirty="0"/>
          </a:p>
        </p:txBody>
      </p:sp>
      <p:sp>
        <p:nvSpPr>
          <p:cNvPr id="21" name="Text 19"/>
          <p:cNvSpPr/>
          <p:nvPr/>
        </p:nvSpPr>
        <p:spPr>
          <a:xfrm>
            <a:off x="3611880" y="3511296"/>
            <a:ext cx="1572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2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+1,55</a:t>
            </a:r>
            <a:endParaRPr lang="en-US" sz="1420" dirty="0"/>
          </a:p>
        </p:txBody>
      </p:sp>
      <p:sp>
        <p:nvSpPr>
          <p:cNvPr id="22" name="Text 20"/>
          <p:cNvSpPr/>
          <p:nvPr/>
        </p:nvSpPr>
        <p:spPr>
          <a:xfrm>
            <a:off x="5184648" y="3511296"/>
            <a:ext cx="1572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2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+0,31</a:t>
            </a:r>
            <a:endParaRPr lang="en-US" sz="1420" dirty="0"/>
          </a:p>
        </p:txBody>
      </p:sp>
      <p:sp>
        <p:nvSpPr>
          <p:cNvPr id="23" name="Text 21"/>
          <p:cNvSpPr/>
          <p:nvPr/>
        </p:nvSpPr>
        <p:spPr>
          <a:xfrm>
            <a:off x="6757416" y="3511296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2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—</a:t>
            </a:r>
            <a:endParaRPr lang="en-US" sz="1420" dirty="0"/>
          </a:p>
        </p:txBody>
      </p:sp>
      <p:sp>
        <p:nvSpPr>
          <p:cNvPr id="24" name="Shape 22"/>
          <p:cNvSpPr/>
          <p:nvPr/>
        </p:nvSpPr>
        <p:spPr>
          <a:xfrm>
            <a:off x="1005840" y="4663440"/>
            <a:ext cx="7132320" cy="877824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4F41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25296" y="4663440"/>
            <a:ext cx="66934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3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Cả hai seed đều cùng hướng so với baseline S1; seed thứ hai cho mức tăng nhỏ hơn.</a:t>
            </a:r>
            <a:endParaRPr lang="en-US" sz="1530" dirty="0"/>
          </a:p>
        </p:txBody>
      </p:sp>
      <p:sp>
        <p:nvSpPr>
          <p:cNvPr id="26" name="Shape 24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solidFill>
            <a:srgbClr val="191132"/>
          </a:solidFill>
          <a:ln w="12700">
            <a:solidFill>
              <a:srgbClr val="191132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Luận văn thạc sĩ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 dựa trên LLM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Đoàn Phương Uyên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21/25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Kết luận</a:t>
            </a:r>
            <a:endParaRPr lang="en-US" sz="182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Phạm vi hiện tại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21208" y="1380744"/>
            <a:ext cx="64008" cy="64008"/>
          </a:xfrm>
          <a:prstGeom prst="ellipse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243584"/>
            <a:ext cx="79278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Executability hiện tập trung vào các bước có thao tác chạm.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21208" y="2093976"/>
            <a:ext cx="64008" cy="64008"/>
          </a:xfrm>
          <a:prstGeom prst="ellipse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956816"/>
            <a:ext cx="79278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Thực nghiệm chính dùng AndroidControl tiếng Anh và Qwen2.5-VL-3B.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21208" y="2807208"/>
            <a:ext cx="64008" cy="64008"/>
          </a:xfrm>
          <a:prstGeom prst="ellipse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670048"/>
            <a:ext cx="79278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AitZ cho thấy lợi ích bổ sung của GRPO-SPICE giảm khi đổi miền.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" y="3657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Hướng mở rộng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21208" y="4251960"/>
            <a:ext cx="64008" cy="64008"/>
          </a:xfrm>
          <a:prstGeom prst="ellipse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4114800"/>
            <a:ext cx="79278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2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Mở rộng sang nhiều miền giao diện và dữ liệu tiếng Việt.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521208" y="5184648"/>
            <a:ext cx="64008" cy="64008"/>
          </a:xfrm>
          <a:prstGeom prst="ellipse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5047488"/>
            <a:ext cx="79278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2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Mở rộng executability cho thao tác ngoài chạm và chuỗi nhiều màn hình.</a:t>
            </a:r>
            <a:endParaRPr lang="en-US" sz="1520" dirty="0"/>
          </a:p>
        </p:txBody>
      </p:sp>
      <p:sp>
        <p:nvSpPr>
          <p:cNvPr id="16" name="Shape 14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solidFill>
            <a:srgbClr val="191132"/>
          </a:solidFill>
          <a:ln w="12700">
            <a:solidFill>
              <a:srgbClr val="191132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Luận văn thạc sĩ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 dựa trên LLM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Đoàn Phương Uyên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22/25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5.1. Đóng góp chính</a:t>
            </a:r>
            <a:endParaRPr lang="en-US" sz="182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2487168" cy="3310128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2519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Phương pháp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1993392"/>
            <a:ext cx="202996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3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GRPO-SPICE tạo phần lớn mức tăng. ACE tiếp tục cải thiện chất lượng câu.</a:t>
            </a:r>
            <a:endParaRPr lang="en-US" sz="1530" dirty="0"/>
          </a:p>
        </p:txBody>
      </p:sp>
      <p:sp>
        <p:nvSpPr>
          <p:cNvPr id="7" name="Shape 5"/>
          <p:cNvSpPr/>
          <p:nvPr/>
        </p:nvSpPr>
        <p:spPr>
          <a:xfrm>
            <a:off x="3328416" y="1097280"/>
            <a:ext cx="2487168" cy="3310128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4F41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65576" y="137160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Độ đo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557016" y="1965960"/>
            <a:ext cx="20299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3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Executability kiểm tra khả năng xác định đúng phần tử và đúng thao tác.</a:t>
            </a:r>
            <a:endParaRPr lang="en-US" sz="1530" dirty="0"/>
          </a:p>
        </p:txBody>
      </p:sp>
      <p:sp>
        <p:nvSpPr>
          <p:cNvPr id="10" name="Shape 8"/>
          <p:cNvSpPr/>
          <p:nvPr/>
        </p:nvSpPr>
        <p:spPr>
          <a:xfrm>
            <a:off x="6144768" y="1097280"/>
            <a:ext cx="2487168" cy="3310128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7A70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81928" y="1335024"/>
            <a:ext cx="2212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3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Bằng chứng thực nghiệm</a:t>
            </a:r>
            <a:endParaRPr lang="en-US" sz="1630" dirty="0"/>
          </a:p>
        </p:txBody>
      </p:sp>
      <p:sp>
        <p:nvSpPr>
          <p:cNvPr id="12" name="Text 10"/>
          <p:cNvSpPr/>
          <p:nvPr/>
        </p:nvSpPr>
        <p:spPr>
          <a:xfrm>
            <a:off x="6373368" y="1965960"/>
            <a:ext cx="202996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1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Kết quả được giữ khi đổi công cụ định vị, chạy lại mô hình, xét tác vụ mới và lịch sử tự sinh.</a:t>
            </a:r>
            <a:endParaRPr lang="en-US" sz="1510" dirty="0"/>
          </a:p>
        </p:txBody>
      </p:sp>
      <p:sp>
        <p:nvSpPr>
          <p:cNvPr id="13" name="Text 11"/>
          <p:cNvSpPr/>
          <p:nvPr/>
        </p:nvSpPr>
        <p:spPr>
          <a:xfrm>
            <a:off x="502920" y="4956048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 đóng góp chính: phương pháp, độ đo và bằng chứng thực nghiệm.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solidFill>
            <a:srgbClr val="191132"/>
          </a:solidFill>
          <a:ln w="12700">
            <a:solidFill>
              <a:srgbClr val="191132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Luận văn thạc sĩ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 dựa trên LLM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Đoàn Phương Uyên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23/25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5.2. Kết luận chung</a:t>
            </a:r>
            <a:endParaRPr lang="en-US" sz="1820" dirty="0"/>
          </a:p>
        </p:txBody>
      </p:sp>
      <p:sp>
        <p:nvSpPr>
          <p:cNvPr id="4" name="Text 2"/>
          <p:cNvSpPr/>
          <p:nvPr/>
        </p:nvSpPr>
        <p:spPr>
          <a:xfrm>
            <a:off x="594360" y="9601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+1,55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49047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Tập kiểm chính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383280" y="9601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4F41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+4,58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383280" y="149047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Tác vụ mới (ACU)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172200" y="9601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7A70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+9,14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172200" y="149047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với 7B prompting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487168"/>
            <a:ext cx="8138160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521208" y="3017520"/>
            <a:ext cx="64008" cy="64008"/>
          </a:xfrm>
          <a:prstGeom prst="ellipse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880360"/>
            <a:ext cx="7927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GRPO-SPICE tăng +1,55 điểm trên tập kiểm chính và +4,58 điểm trên ACU.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21208" y="3858768"/>
            <a:ext cx="64008" cy="64008"/>
          </a:xfrm>
          <a:prstGeom prst="ellipse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721608"/>
            <a:ext cx="7927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ACE giữ executability ở 60,68% và tăng cả 7 chỉ số chất lượng câu.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21208" y="4700016"/>
            <a:ext cx="64008" cy="64008"/>
          </a:xfrm>
          <a:prstGeom prst="ellipse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4562856"/>
            <a:ext cx="7927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AitZ cho thấy lợi ích bổ sung của GRPO-SPICE giảm khi đổi miền.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14400" y="5468112"/>
            <a:ext cx="7315200" cy="713232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7A70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33856" y="5468112"/>
            <a:ext cx="68762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Trong thiết lập AndroidControl, GRPO-SPICE làm tăng đồng thời chất lượng câu và executability.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solidFill>
            <a:srgbClr val="191132"/>
          </a:solidFill>
          <a:ln w="12700">
            <a:solidFill>
              <a:srgbClr val="191132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Luận văn thạc sĩ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 dựa trên LLM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Đoàn Phương Uyên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24/25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14600"/>
            <a:ext cx="7589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70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Trân trọng cảm ơn Quý thầy cô đã lắng nghe.</a:t>
            </a:r>
            <a:endParaRPr lang="en-US" sz="2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Định nghĩa executability</a:t>
            </a:r>
            <a:endParaRPr lang="en-US" sz="1820" dirty="0"/>
          </a:p>
        </p:txBody>
      </p:sp>
      <p:sp>
        <p:nvSpPr>
          <p:cNvPr id="4" name="Text 2"/>
          <p:cNvSpPr/>
          <p:nvPr/>
        </p:nvSpPr>
        <p:spPr>
          <a:xfrm>
            <a:off x="502920" y="89611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Một bước đúng khi đồng thời: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21208" y="1508760"/>
            <a:ext cx="64008" cy="64008"/>
          </a:xfrm>
          <a:prstGeom prst="ellipse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371600"/>
            <a:ext cx="792784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Đúng loại thao tác.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21208" y="2258568"/>
            <a:ext cx="64008" cy="64008"/>
          </a:xfrm>
          <a:prstGeom prst="ellipse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2121408"/>
            <a:ext cx="792784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Không mô tả thao tác theo nghĩa ngược.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21208" y="3008376"/>
            <a:ext cx="64008" cy="64008"/>
          </a:xfrm>
          <a:prstGeom prst="ellipse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871216"/>
            <a:ext cx="792784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|px−gx| ≤ 0,14W; |py−gy| ≤ 0,14H.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521208" y="3758184"/>
            <a:ext cx="64008" cy="64008"/>
          </a:xfrm>
          <a:prstGeom prst="ellipse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3621024"/>
            <a:ext cx="7927848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Điểm p nằm trong ô Voronoi của phần tử cần chạm.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502920" y="48006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Executability = số bước đúng / tổng số bước chạm.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solidFill>
            <a:srgbClr val="191132"/>
          </a:solidFill>
          <a:ln w="12700">
            <a:solidFill>
              <a:srgbClr val="191132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Luận văn thạc sĩ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 dựa trên LLM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Đoàn Phương Uyên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Toàn bộ thước đo</a:t>
            </a:r>
            <a:endParaRPr lang="en-US" sz="1820" dirty="0"/>
          </a:p>
        </p:txBody>
      </p:sp>
      <p:sp>
        <p:nvSpPr>
          <p:cNvPr id="4" name="Shape 2"/>
          <p:cNvSpPr/>
          <p:nvPr/>
        </p:nvSpPr>
        <p:spPr>
          <a:xfrm>
            <a:off x="502920" y="804672"/>
            <a:ext cx="7955280" cy="384048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0467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651760" y="80467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749040" y="80467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0" y="80467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GRPO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80760" y="80467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Đề xuất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0" y="80467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 ACE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118872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Executability</a:t>
            </a:r>
            <a:endParaRPr lang="en-US" sz="1170" dirty="0"/>
          </a:p>
        </p:txBody>
      </p:sp>
      <p:sp>
        <p:nvSpPr>
          <p:cNvPr id="12" name="Text 10"/>
          <p:cNvSpPr/>
          <p:nvPr/>
        </p:nvSpPr>
        <p:spPr>
          <a:xfrm>
            <a:off x="2651760" y="118872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47,59</a:t>
            </a:r>
            <a:endParaRPr lang="en-US" sz="1170" dirty="0"/>
          </a:p>
        </p:txBody>
      </p:sp>
      <p:sp>
        <p:nvSpPr>
          <p:cNvPr id="13" name="Text 11"/>
          <p:cNvSpPr/>
          <p:nvPr/>
        </p:nvSpPr>
        <p:spPr>
          <a:xfrm>
            <a:off x="3749040" y="118872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59,11</a:t>
            </a:r>
            <a:endParaRPr lang="en-US" sz="1170" dirty="0"/>
          </a:p>
        </p:txBody>
      </p:sp>
      <p:sp>
        <p:nvSpPr>
          <p:cNvPr id="14" name="Text 12"/>
          <p:cNvSpPr/>
          <p:nvPr/>
        </p:nvSpPr>
        <p:spPr>
          <a:xfrm>
            <a:off x="4846320" y="11887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60,65</a:t>
            </a:r>
            <a:endParaRPr lang="en-US" sz="1170" dirty="0"/>
          </a:p>
        </p:txBody>
      </p:sp>
      <p:sp>
        <p:nvSpPr>
          <p:cNvPr id="15" name="Text 13"/>
          <p:cNvSpPr/>
          <p:nvPr/>
        </p:nvSpPr>
        <p:spPr>
          <a:xfrm>
            <a:off x="6080760" y="11887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60,68</a:t>
            </a:r>
            <a:endParaRPr lang="en-US" sz="1170" dirty="0"/>
          </a:p>
        </p:txBody>
      </p:sp>
      <p:sp>
        <p:nvSpPr>
          <p:cNvPr id="16" name="Text 14"/>
          <p:cNvSpPr/>
          <p:nvPr/>
        </p:nvSpPr>
        <p:spPr>
          <a:xfrm>
            <a:off x="7315200" y="118872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+0,02</a:t>
            </a:r>
            <a:endParaRPr lang="en-US" sz="1170" dirty="0"/>
          </a:p>
        </p:txBody>
      </p:sp>
      <p:sp>
        <p:nvSpPr>
          <p:cNvPr id="17" name="Shape 15"/>
          <p:cNvSpPr/>
          <p:nvPr/>
        </p:nvSpPr>
        <p:spPr>
          <a:xfrm>
            <a:off x="502920" y="1572768"/>
            <a:ext cx="7955280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502920" y="157276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Hộp phần tử</a:t>
            </a:r>
            <a:endParaRPr lang="en-US" sz="1170" dirty="0"/>
          </a:p>
        </p:txBody>
      </p:sp>
      <p:sp>
        <p:nvSpPr>
          <p:cNvPr id="19" name="Text 17"/>
          <p:cNvSpPr/>
          <p:nvPr/>
        </p:nvSpPr>
        <p:spPr>
          <a:xfrm>
            <a:off x="2651760" y="157276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53,60</a:t>
            </a:r>
            <a:endParaRPr lang="en-US" sz="1170" dirty="0"/>
          </a:p>
        </p:txBody>
      </p:sp>
      <p:sp>
        <p:nvSpPr>
          <p:cNvPr id="20" name="Text 18"/>
          <p:cNvSpPr/>
          <p:nvPr/>
        </p:nvSpPr>
        <p:spPr>
          <a:xfrm>
            <a:off x="3749040" y="157276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65,49</a:t>
            </a:r>
            <a:endParaRPr lang="en-US" sz="1170" dirty="0"/>
          </a:p>
        </p:txBody>
      </p:sp>
      <p:sp>
        <p:nvSpPr>
          <p:cNvPr id="21" name="Text 19"/>
          <p:cNvSpPr/>
          <p:nvPr/>
        </p:nvSpPr>
        <p:spPr>
          <a:xfrm>
            <a:off x="4846320" y="157276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67,02</a:t>
            </a:r>
            <a:endParaRPr lang="en-US" sz="1170" dirty="0"/>
          </a:p>
        </p:txBody>
      </p:sp>
      <p:sp>
        <p:nvSpPr>
          <p:cNvPr id="22" name="Text 20"/>
          <p:cNvSpPr/>
          <p:nvPr/>
        </p:nvSpPr>
        <p:spPr>
          <a:xfrm>
            <a:off x="6080760" y="157276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67,11</a:t>
            </a:r>
            <a:endParaRPr lang="en-US" sz="1170" dirty="0"/>
          </a:p>
        </p:txBody>
      </p:sp>
      <p:sp>
        <p:nvSpPr>
          <p:cNvPr id="23" name="Text 21"/>
          <p:cNvSpPr/>
          <p:nvPr/>
        </p:nvSpPr>
        <p:spPr>
          <a:xfrm>
            <a:off x="7315200" y="157276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+0,09</a:t>
            </a:r>
            <a:endParaRPr lang="en-US" sz="1170" dirty="0"/>
          </a:p>
        </p:txBody>
      </p:sp>
      <p:sp>
        <p:nvSpPr>
          <p:cNvPr id="24" name="Shape 22"/>
          <p:cNvSpPr/>
          <p:nvPr/>
        </p:nvSpPr>
        <p:spPr>
          <a:xfrm>
            <a:off x="502920" y="1956816"/>
            <a:ext cx="7955280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502920" y="1956816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AitW đầy đủ</a:t>
            </a:r>
            <a:endParaRPr lang="en-US" sz="1170" dirty="0"/>
          </a:p>
        </p:txBody>
      </p:sp>
      <p:sp>
        <p:nvSpPr>
          <p:cNvPr id="26" name="Text 24"/>
          <p:cNvSpPr/>
          <p:nvPr/>
        </p:nvSpPr>
        <p:spPr>
          <a:xfrm>
            <a:off x="2651760" y="195681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63,39</a:t>
            </a:r>
            <a:endParaRPr lang="en-US" sz="1170" dirty="0"/>
          </a:p>
        </p:txBody>
      </p:sp>
      <p:sp>
        <p:nvSpPr>
          <p:cNvPr id="27" name="Text 25"/>
          <p:cNvSpPr/>
          <p:nvPr/>
        </p:nvSpPr>
        <p:spPr>
          <a:xfrm>
            <a:off x="3749040" y="195681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74,37</a:t>
            </a:r>
            <a:endParaRPr lang="en-US" sz="1170" dirty="0"/>
          </a:p>
        </p:txBody>
      </p:sp>
      <p:sp>
        <p:nvSpPr>
          <p:cNvPr id="28" name="Text 26"/>
          <p:cNvSpPr/>
          <p:nvPr/>
        </p:nvSpPr>
        <p:spPr>
          <a:xfrm>
            <a:off x="4846320" y="195681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76,25</a:t>
            </a:r>
            <a:endParaRPr lang="en-US" sz="1170" dirty="0"/>
          </a:p>
        </p:txBody>
      </p:sp>
      <p:sp>
        <p:nvSpPr>
          <p:cNvPr id="29" name="Text 27"/>
          <p:cNvSpPr/>
          <p:nvPr/>
        </p:nvSpPr>
        <p:spPr>
          <a:xfrm>
            <a:off x="6080760" y="195681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76,32</a:t>
            </a:r>
            <a:endParaRPr lang="en-US" sz="1170" dirty="0"/>
          </a:p>
        </p:txBody>
      </p:sp>
      <p:sp>
        <p:nvSpPr>
          <p:cNvPr id="30" name="Text 28"/>
          <p:cNvSpPr/>
          <p:nvPr/>
        </p:nvSpPr>
        <p:spPr>
          <a:xfrm>
            <a:off x="7315200" y="1956816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+0,07</a:t>
            </a:r>
            <a:endParaRPr lang="en-US" sz="1170" dirty="0"/>
          </a:p>
        </p:txBody>
      </p:sp>
      <p:sp>
        <p:nvSpPr>
          <p:cNvPr id="31" name="Shape 29"/>
          <p:cNvSpPr/>
          <p:nvPr/>
        </p:nvSpPr>
        <p:spPr>
          <a:xfrm>
            <a:off x="502920" y="2340864"/>
            <a:ext cx="7955280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32" name="Text 30"/>
          <p:cNvSpPr/>
          <p:nvPr/>
        </p:nvSpPr>
        <p:spPr>
          <a:xfrm>
            <a:off x="502920" y="2340864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BLEU-4</a:t>
            </a:r>
            <a:endParaRPr lang="en-US" sz="1170" dirty="0"/>
          </a:p>
        </p:txBody>
      </p:sp>
      <p:sp>
        <p:nvSpPr>
          <p:cNvPr id="33" name="Text 31"/>
          <p:cNvSpPr/>
          <p:nvPr/>
        </p:nvSpPr>
        <p:spPr>
          <a:xfrm>
            <a:off x="2651760" y="234086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15,30</a:t>
            </a:r>
            <a:endParaRPr lang="en-US" sz="1170" dirty="0"/>
          </a:p>
        </p:txBody>
      </p:sp>
      <p:sp>
        <p:nvSpPr>
          <p:cNvPr id="34" name="Text 32"/>
          <p:cNvSpPr/>
          <p:nvPr/>
        </p:nvSpPr>
        <p:spPr>
          <a:xfrm>
            <a:off x="3749040" y="234086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51,56</a:t>
            </a:r>
            <a:endParaRPr lang="en-US" sz="1170" dirty="0"/>
          </a:p>
        </p:txBody>
      </p:sp>
      <p:sp>
        <p:nvSpPr>
          <p:cNvPr id="35" name="Text 33"/>
          <p:cNvSpPr/>
          <p:nvPr/>
        </p:nvSpPr>
        <p:spPr>
          <a:xfrm>
            <a:off x="4846320" y="234086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52,36</a:t>
            </a:r>
            <a:endParaRPr lang="en-US" sz="1170" dirty="0"/>
          </a:p>
        </p:txBody>
      </p:sp>
      <p:sp>
        <p:nvSpPr>
          <p:cNvPr id="36" name="Text 34"/>
          <p:cNvSpPr/>
          <p:nvPr/>
        </p:nvSpPr>
        <p:spPr>
          <a:xfrm>
            <a:off x="6080760" y="234086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53,47</a:t>
            </a:r>
            <a:endParaRPr lang="en-US" sz="1170" dirty="0"/>
          </a:p>
        </p:txBody>
      </p:sp>
      <p:sp>
        <p:nvSpPr>
          <p:cNvPr id="37" name="Text 35"/>
          <p:cNvSpPr/>
          <p:nvPr/>
        </p:nvSpPr>
        <p:spPr>
          <a:xfrm>
            <a:off x="7315200" y="2340864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+1,11</a:t>
            </a:r>
            <a:endParaRPr lang="en-US" sz="1170" dirty="0"/>
          </a:p>
        </p:txBody>
      </p:sp>
      <p:sp>
        <p:nvSpPr>
          <p:cNvPr id="38" name="Shape 36"/>
          <p:cNvSpPr/>
          <p:nvPr/>
        </p:nvSpPr>
        <p:spPr>
          <a:xfrm>
            <a:off x="502920" y="2724912"/>
            <a:ext cx="7955280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39" name="Text 37"/>
          <p:cNvSpPr/>
          <p:nvPr/>
        </p:nvSpPr>
        <p:spPr>
          <a:xfrm>
            <a:off x="502920" y="272491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METEOR</a:t>
            </a:r>
            <a:endParaRPr lang="en-US" sz="1170" dirty="0"/>
          </a:p>
        </p:txBody>
      </p:sp>
      <p:sp>
        <p:nvSpPr>
          <p:cNvPr id="40" name="Text 38"/>
          <p:cNvSpPr/>
          <p:nvPr/>
        </p:nvSpPr>
        <p:spPr>
          <a:xfrm>
            <a:off x="2651760" y="272491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24,60</a:t>
            </a:r>
            <a:endParaRPr lang="en-US" sz="1170" dirty="0"/>
          </a:p>
        </p:txBody>
      </p:sp>
      <p:sp>
        <p:nvSpPr>
          <p:cNvPr id="41" name="Text 39"/>
          <p:cNvSpPr/>
          <p:nvPr/>
        </p:nvSpPr>
        <p:spPr>
          <a:xfrm>
            <a:off x="3749040" y="272491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36,79</a:t>
            </a:r>
            <a:endParaRPr lang="en-US" sz="1170" dirty="0"/>
          </a:p>
        </p:txBody>
      </p:sp>
      <p:sp>
        <p:nvSpPr>
          <p:cNvPr id="42" name="Text 40"/>
          <p:cNvSpPr/>
          <p:nvPr/>
        </p:nvSpPr>
        <p:spPr>
          <a:xfrm>
            <a:off x="4846320" y="272491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37,92</a:t>
            </a:r>
            <a:endParaRPr lang="en-US" sz="1170" dirty="0"/>
          </a:p>
        </p:txBody>
      </p:sp>
      <p:sp>
        <p:nvSpPr>
          <p:cNvPr id="43" name="Text 41"/>
          <p:cNvSpPr/>
          <p:nvPr/>
        </p:nvSpPr>
        <p:spPr>
          <a:xfrm>
            <a:off x="6080760" y="272491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38,37</a:t>
            </a:r>
            <a:endParaRPr lang="en-US" sz="1170" dirty="0"/>
          </a:p>
        </p:txBody>
      </p:sp>
      <p:sp>
        <p:nvSpPr>
          <p:cNvPr id="44" name="Text 42"/>
          <p:cNvSpPr/>
          <p:nvPr/>
        </p:nvSpPr>
        <p:spPr>
          <a:xfrm>
            <a:off x="7315200" y="272491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+0,45</a:t>
            </a:r>
            <a:endParaRPr lang="en-US" sz="1170" dirty="0"/>
          </a:p>
        </p:txBody>
      </p:sp>
      <p:sp>
        <p:nvSpPr>
          <p:cNvPr id="45" name="Shape 43"/>
          <p:cNvSpPr/>
          <p:nvPr/>
        </p:nvSpPr>
        <p:spPr>
          <a:xfrm>
            <a:off x="502920" y="3108960"/>
            <a:ext cx="7955280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46" name="Text 44"/>
          <p:cNvSpPr/>
          <p:nvPr/>
        </p:nvSpPr>
        <p:spPr>
          <a:xfrm>
            <a:off x="502920" y="3108960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ROUGE-L</a:t>
            </a:r>
            <a:endParaRPr lang="en-US" sz="1170" dirty="0"/>
          </a:p>
        </p:txBody>
      </p:sp>
      <p:sp>
        <p:nvSpPr>
          <p:cNvPr id="47" name="Text 45"/>
          <p:cNvSpPr/>
          <p:nvPr/>
        </p:nvSpPr>
        <p:spPr>
          <a:xfrm>
            <a:off x="2651760" y="310896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42,30</a:t>
            </a:r>
            <a:endParaRPr lang="en-US" sz="1170" dirty="0"/>
          </a:p>
        </p:txBody>
      </p:sp>
      <p:sp>
        <p:nvSpPr>
          <p:cNvPr id="48" name="Text 46"/>
          <p:cNvSpPr/>
          <p:nvPr/>
        </p:nvSpPr>
        <p:spPr>
          <a:xfrm>
            <a:off x="3749040" y="310896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67,35</a:t>
            </a:r>
            <a:endParaRPr lang="en-US" sz="1170" dirty="0"/>
          </a:p>
        </p:txBody>
      </p:sp>
      <p:sp>
        <p:nvSpPr>
          <p:cNvPr id="49" name="Text 47"/>
          <p:cNvSpPr/>
          <p:nvPr/>
        </p:nvSpPr>
        <p:spPr>
          <a:xfrm>
            <a:off x="4846320" y="310896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68,36</a:t>
            </a:r>
            <a:endParaRPr lang="en-US" sz="1170" dirty="0"/>
          </a:p>
        </p:txBody>
      </p:sp>
      <p:sp>
        <p:nvSpPr>
          <p:cNvPr id="50" name="Text 48"/>
          <p:cNvSpPr/>
          <p:nvPr/>
        </p:nvSpPr>
        <p:spPr>
          <a:xfrm>
            <a:off x="6080760" y="310896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69,11</a:t>
            </a:r>
            <a:endParaRPr lang="en-US" sz="1170" dirty="0"/>
          </a:p>
        </p:txBody>
      </p:sp>
      <p:sp>
        <p:nvSpPr>
          <p:cNvPr id="51" name="Text 49"/>
          <p:cNvSpPr/>
          <p:nvPr/>
        </p:nvSpPr>
        <p:spPr>
          <a:xfrm>
            <a:off x="7315200" y="310896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+0,74</a:t>
            </a:r>
            <a:endParaRPr lang="en-US" sz="1170" dirty="0"/>
          </a:p>
        </p:txBody>
      </p:sp>
      <p:sp>
        <p:nvSpPr>
          <p:cNvPr id="52" name="Shape 50"/>
          <p:cNvSpPr/>
          <p:nvPr/>
        </p:nvSpPr>
        <p:spPr>
          <a:xfrm>
            <a:off x="502920" y="3493008"/>
            <a:ext cx="7955280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53" name="Text 51"/>
          <p:cNvSpPr/>
          <p:nvPr/>
        </p:nvSpPr>
        <p:spPr>
          <a:xfrm>
            <a:off x="502920" y="349300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CIDEr-D</a:t>
            </a:r>
            <a:endParaRPr lang="en-US" sz="1170" dirty="0"/>
          </a:p>
        </p:txBody>
      </p:sp>
      <p:sp>
        <p:nvSpPr>
          <p:cNvPr id="54" name="Text 52"/>
          <p:cNvSpPr/>
          <p:nvPr/>
        </p:nvSpPr>
        <p:spPr>
          <a:xfrm>
            <a:off x="2651760" y="349300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88,00</a:t>
            </a:r>
            <a:endParaRPr lang="en-US" sz="1170" dirty="0"/>
          </a:p>
        </p:txBody>
      </p:sp>
      <p:sp>
        <p:nvSpPr>
          <p:cNvPr id="55" name="Text 53"/>
          <p:cNvSpPr/>
          <p:nvPr/>
        </p:nvSpPr>
        <p:spPr>
          <a:xfrm>
            <a:off x="3749040" y="349300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416,12</a:t>
            </a:r>
            <a:endParaRPr lang="en-US" sz="1170" dirty="0"/>
          </a:p>
        </p:txBody>
      </p:sp>
      <p:sp>
        <p:nvSpPr>
          <p:cNvPr id="56" name="Text 54"/>
          <p:cNvSpPr/>
          <p:nvPr/>
        </p:nvSpPr>
        <p:spPr>
          <a:xfrm>
            <a:off x="4846320" y="349300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430,05</a:t>
            </a:r>
            <a:endParaRPr lang="en-US" sz="1170" dirty="0"/>
          </a:p>
        </p:txBody>
      </p:sp>
      <p:sp>
        <p:nvSpPr>
          <p:cNvPr id="57" name="Text 55"/>
          <p:cNvSpPr/>
          <p:nvPr/>
        </p:nvSpPr>
        <p:spPr>
          <a:xfrm>
            <a:off x="6080760" y="349300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442,02</a:t>
            </a:r>
            <a:endParaRPr lang="en-US" sz="1170" dirty="0"/>
          </a:p>
        </p:txBody>
      </p:sp>
      <p:sp>
        <p:nvSpPr>
          <p:cNvPr id="58" name="Text 56"/>
          <p:cNvSpPr/>
          <p:nvPr/>
        </p:nvSpPr>
        <p:spPr>
          <a:xfrm>
            <a:off x="7315200" y="349300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+11,97</a:t>
            </a:r>
            <a:endParaRPr lang="en-US" sz="1170" dirty="0"/>
          </a:p>
        </p:txBody>
      </p:sp>
      <p:sp>
        <p:nvSpPr>
          <p:cNvPr id="59" name="Shape 57"/>
          <p:cNvSpPr/>
          <p:nvPr/>
        </p:nvSpPr>
        <p:spPr>
          <a:xfrm>
            <a:off x="502920" y="3877056"/>
            <a:ext cx="7955280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60" name="Text 58"/>
          <p:cNvSpPr/>
          <p:nvPr/>
        </p:nvSpPr>
        <p:spPr>
          <a:xfrm>
            <a:off x="502920" y="3877056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SPICE</a:t>
            </a:r>
            <a:endParaRPr lang="en-US" sz="1170" dirty="0"/>
          </a:p>
        </p:txBody>
      </p:sp>
      <p:sp>
        <p:nvSpPr>
          <p:cNvPr id="61" name="Text 59"/>
          <p:cNvSpPr/>
          <p:nvPr/>
        </p:nvSpPr>
        <p:spPr>
          <a:xfrm>
            <a:off x="2651760" y="387705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18,50</a:t>
            </a:r>
            <a:endParaRPr lang="en-US" sz="1170" dirty="0"/>
          </a:p>
        </p:txBody>
      </p:sp>
      <p:sp>
        <p:nvSpPr>
          <p:cNvPr id="62" name="Text 60"/>
          <p:cNvSpPr/>
          <p:nvPr/>
        </p:nvSpPr>
        <p:spPr>
          <a:xfrm>
            <a:off x="3749040" y="387705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44,37</a:t>
            </a:r>
            <a:endParaRPr lang="en-US" sz="1170" dirty="0"/>
          </a:p>
        </p:txBody>
      </p:sp>
      <p:sp>
        <p:nvSpPr>
          <p:cNvPr id="63" name="Text 61"/>
          <p:cNvSpPr/>
          <p:nvPr/>
        </p:nvSpPr>
        <p:spPr>
          <a:xfrm>
            <a:off x="4846320" y="387705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45,79</a:t>
            </a:r>
            <a:endParaRPr lang="en-US" sz="1170" dirty="0"/>
          </a:p>
        </p:txBody>
      </p:sp>
      <p:sp>
        <p:nvSpPr>
          <p:cNvPr id="64" name="Text 62"/>
          <p:cNvSpPr/>
          <p:nvPr/>
        </p:nvSpPr>
        <p:spPr>
          <a:xfrm>
            <a:off x="6080760" y="387705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47,13</a:t>
            </a:r>
            <a:endParaRPr lang="en-US" sz="1170" dirty="0"/>
          </a:p>
        </p:txBody>
      </p:sp>
      <p:sp>
        <p:nvSpPr>
          <p:cNvPr id="65" name="Text 63"/>
          <p:cNvSpPr/>
          <p:nvPr/>
        </p:nvSpPr>
        <p:spPr>
          <a:xfrm>
            <a:off x="7315200" y="3877056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+1,33</a:t>
            </a:r>
            <a:endParaRPr lang="en-US" sz="1170" dirty="0"/>
          </a:p>
        </p:txBody>
      </p:sp>
      <p:sp>
        <p:nvSpPr>
          <p:cNvPr id="66" name="Shape 64"/>
          <p:cNvSpPr/>
          <p:nvPr/>
        </p:nvSpPr>
        <p:spPr>
          <a:xfrm>
            <a:off x="502920" y="4261104"/>
            <a:ext cx="7955280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67" name="Text 65"/>
          <p:cNvSpPr/>
          <p:nvPr/>
        </p:nvSpPr>
        <p:spPr>
          <a:xfrm>
            <a:off x="502920" y="4261104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chrF</a:t>
            </a:r>
            <a:endParaRPr lang="en-US" sz="1170" dirty="0"/>
          </a:p>
        </p:txBody>
      </p:sp>
      <p:sp>
        <p:nvSpPr>
          <p:cNvPr id="68" name="Text 66"/>
          <p:cNvSpPr/>
          <p:nvPr/>
        </p:nvSpPr>
        <p:spPr>
          <a:xfrm>
            <a:off x="2651760" y="426110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40,20</a:t>
            </a:r>
            <a:endParaRPr lang="en-US" sz="1170" dirty="0"/>
          </a:p>
        </p:txBody>
      </p:sp>
      <p:sp>
        <p:nvSpPr>
          <p:cNvPr id="69" name="Text 67"/>
          <p:cNvSpPr/>
          <p:nvPr/>
        </p:nvSpPr>
        <p:spPr>
          <a:xfrm>
            <a:off x="3749040" y="426110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61,26</a:t>
            </a:r>
            <a:endParaRPr lang="en-US" sz="1170" dirty="0"/>
          </a:p>
        </p:txBody>
      </p:sp>
      <p:sp>
        <p:nvSpPr>
          <p:cNvPr id="70" name="Text 68"/>
          <p:cNvSpPr/>
          <p:nvPr/>
        </p:nvSpPr>
        <p:spPr>
          <a:xfrm>
            <a:off x="4846320" y="426110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62,87</a:t>
            </a:r>
            <a:endParaRPr lang="en-US" sz="1170" dirty="0"/>
          </a:p>
        </p:txBody>
      </p:sp>
      <p:sp>
        <p:nvSpPr>
          <p:cNvPr id="71" name="Text 69"/>
          <p:cNvSpPr/>
          <p:nvPr/>
        </p:nvSpPr>
        <p:spPr>
          <a:xfrm>
            <a:off x="6080760" y="426110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63,44</a:t>
            </a:r>
            <a:endParaRPr lang="en-US" sz="1170" dirty="0"/>
          </a:p>
        </p:txBody>
      </p:sp>
      <p:sp>
        <p:nvSpPr>
          <p:cNvPr id="72" name="Text 70"/>
          <p:cNvSpPr/>
          <p:nvPr/>
        </p:nvSpPr>
        <p:spPr>
          <a:xfrm>
            <a:off x="7315200" y="4261104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+0,58</a:t>
            </a:r>
            <a:endParaRPr lang="en-US" sz="1170" dirty="0"/>
          </a:p>
        </p:txBody>
      </p:sp>
      <p:sp>
        <p:nvSpPr>
          <p:cNvPr id="73" name="Shape 71"/>
          <p:cNvSpPr/>
          <p:nvPr/>
        </p:nvSpPr>
        <p:spPr>
          <a:xfrm>
            <a:off x="502920" y="4645152"/>
            <a:ext cx="7955280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74" name="Text 72"/>
          <p:cNvSpPr/>
          <p:nvPr/>
        </p:nvSpPr>
        <p:spPr>
          <a:xfrm>
            <a:off x="502920" y="464515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BERTScore</a:t>
            </a:r>
            <a:endParaRPr lang="en-US" sz="1170" dirty="0"/>
          </a:p>
        </p:txBody>
      </p:sp>
      <p:sp>
        <p:nvSpPr>
          <p:cNvPr id="75" name="Text 73"/>
          <p:cNvSpPr/>
          <p:nvPr/>
        </p:nvSpPr>
        <p:spPr>
          <a:xfrm>
            <a:off x="2651760" y="464515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40,10</a:t>
            </a:r>
            <a:endParaRPr lang="en-US" sz="1170" dirty="0"/>
          </a:p>
        </p:txBody>
      </p:sp>
      <p:sp>
        <p:nvSpPr>
          <p:cNvPr id="76" name="Text 74"/>
          <p:cNvSpPr/>
          <p:nvPr/>
        </p:nvSpPr>
        <p:spPr>
          <a:xfrm>
            <a:off x="3749040" y="464515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66,33</a:t>
            </a:r>
            <a:endParaRPr lang="en-US" sz="1170" dirty="0"/>
          </a:p>
        </p:txBody>
      </p:sp>
      <p:sp>
        <p:nvSpPr>
          <p:cNvPr id="77" name="Text 75"/>
          <p:cNvSpPr/>
          <p:nvPr/>
        </p:nvSpPr>
        <p:spPr>
          <a:xfrm>
            <a:off x="4846320" y="464515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67,07</a:t>
            </a:r>
            <a:endParaRPr lang="en-US" sz="1170" dirty="0"/>
          </a:p>
        </p:txBody>
      </p:sp>
      <p:sp>
        <p:nvSpPr>
          <p:cNvPr id="78" name="Text 76"/>
          <p:cNvSpPr/>
          <p:nvPr/>
        </p:nvSpPr>
        <p:spPr>
          <a:xfrm>
            <a:off x="6080760" y="464515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67,73</a:t>
            </a:r>
            <a:endParaRPr lang="en-US" sz="1170" dirty="0"/>
          </a:p>
        </p:txBody>
      </p:sp>
      <p:sp>
        <p:nvSpPr>
          <p:cNvPr id="79" name="Text 77"/>
          <p:cNvSpPr/>
          <p:nvPr/>
        </p:nvSpPr>
        <p:spPr>
          <a:xfrm>
            <a:off x="7315200" y="464515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+0,66</a:t>
            </a:r>
            <a:endParaRPr lang="en-US" sz="1170" dirty="0"/>
          </a:p>
        </p:txBody>
      </p:sp>
      <p:sp>
        <p:nvSpPr>
          <p:cNvPr id="80" name="Shape 78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solidFill>
            <a:srgbClr val="191132"/>
          </a:solidFill>
          <a:ln w="12700">
            <a:solidFill>
              <a:srgbClr val="191132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Luận văn thạc sĩ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 dựa trên LLM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Đoàn Phương Uyên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Đối chiếu bằng bốn công cụ đánh giá</a:t>
            </a:r>
            <a:endParaRPr lang="en-US" sz="1820" dirty="0"/>
          </a:p>
        </p:txBody>
      </p:sp>
      <p:sp>
        <p:nvSpPr>
          <p:cNvPr id="4" name="Text 2"/>
          <p:cNvSpPr/>
          <p:nvPr/>
        </p:nvSpPr>
        <p:spPr>
          <a:xfrm>
            <a:off x="502920" y="86868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GRPO-SPICE − S1 trên cùng 4.463 bước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960120" y="1508760"/>
            <a:ext cx="6903720" cy="42062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50876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Công cụ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971800" y="1508760"/>
            <a:ext cx="1417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0" y="1508760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KTC 95%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929384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UGround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971800" y="1929384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+1,55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89120" y="1929384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[+0,80; +2,33]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60120" y="2459736"/>
            <a:ext cx="6903720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960120" y="2459736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UI-Venus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971800" y="2459736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+1,55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89120" y="2459736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[+0,82; +2,30]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60120" y="2990088"/>
            <a:ext cx="6903720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960120" y="299008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Phi-Ground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71800" y="2990088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+0,78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89120" y="2990088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[+0,05; +1,51]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60120" y="3520440"/>
            <a:ext cx="6903720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960120" y="352044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Phi-4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971800" y="3520440"/>
            <a:ext cx="1417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+0,69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89120" y="3520440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[+0,02; +1,40]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4343400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Cả bốn khoảng tin cậy đều nằm trên 0. Phi-Ground và Phi-4 nằm ngoài họ Qwen.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solidFill>
            <a:srgbClr val="191132"/>
          </a:solidFill>
          <a:ln w="12700">
            <a:solidFill>
              <a:srgbClr val="191132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Luận văn thạc sĩ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 dựa trên LLM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Đoàn Phương Uyên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Cấu hình huấn luyện</a:t>
            </a:r>
            <a:endParaRPr lang="en-US" sz="1820" dirty="0"/>
          </a:p>
        </p:txBody>
      </p:sp>
      <p:sp>
        <p:nvSpPr>
          <p:cNvPr id="4" name="Shape 2"/>
          <p:cNvSpPr/>
          <p:nvPr/>
        </p:nvSpPr>
        <p:spPr>
          <a:xfrm>
            <a:off x="502920" y="914400"/>
            <a:ext cx="8046720" cy="402336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1440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7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Hạng mục</a:t>
            </a:r>
            <a:endParaRPr lang="en-US" sz="1270" dirty="0"/>
          </a:p>
        </p:txBody>
      </p:sp>
      <p:sp>
        <p:nvSpPr>
          <p:cNvPr id="6" name="Text 4"/>
          <p:cNvSpPr/>
          <p:nvPr/>
        </p:nvSpPr>
        <p:spPr>
          <a:xfrm>
            <a:off x="3246120" y="914400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7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Giá trị</a:t>
            </a:r>
            <a:endParaRPr lang="en-US" sz="1270" dirty="0"/>
          </a:p>
        </p:txBody>
      </p:sp>
      <p:sp>
        <p:nvSpPr>
          <p:cNvPr id="7" name="Text 5"/>
          <p:cNvSpPr/>
          <p:nvPr/>
        </p:nvSpPr>
        <p:spPr>
          <a:xfrm>
            <a:off x="502920" y="1316736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Backbone</a:t>
            </a:r>
            <a:endParaRPr lang="en-US" sz="1270" dirty="0"/>
          </a:p>
        </p:txBody>
      </p:sp>
      <p:sp>
        <p:nvSpPr>
          <p:cNvPr id="8" name="Text 6"/>
          <p:cNvSpPr/>
          <p:nvPr/>
        </p:nvSpPr>
        <p:spPr>
          <a:xfrm>
            <a:off x="3246120" y="1316736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Qwen2.5-VL-3B-Instruct</a:t>
            </a:r>
            <a:endParaRPr lang="en-US" sz="1270" dirty="0"/>
          </a:p>
        </p:txBody>
      </p:sp>
      <p:sp>
        <p:nvSpPr>
          <p:cNvPr id="9" name="Shape 7"/>
          <p:cNvSpPr/>
          <p:nvPr/>
        </p:nvSpPr>
        <p:spPr>
          <a:xfrm>
            <a:off x="502920" y="1755648"/>
            <a:ext cx="8046720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502920" y="175564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Fine-tuning</a:t>
            </a:r>
            <a:endParaRPr lang="en-US" sz="1270" dirty="0"/>
          </a:p>
        </p:txBody>
      </p:sp>
      <p:sp>
        <p:nvSpPr>
          <p:cNvPr id="11" name="Text 9"/>
          <p:cNvSpPr/>
          <p:nvPr/>
        </p:nvSpPr>
        <p:spPr>
          <a:xfrm>
            <a:off x="3246120" y="1755648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QLoRA NF4 4-bit, rank 8, alpha 16, dropout 0,05</a:t>
            </a:r>
            <a:endParaRPr lang="en-US" sz="1270" dirty="0"/>
          </a:p>
        </p:txBody>
      </p:sp>
      <p:sp>
        <p:nvSpPr>
          <p:cNvPr id="12" name="Shape 10"/>
          <p:cNvSpPr/>
          <p:nvPr/>
        </p:nvSpPr>
        <p:spPr>
          <a:xfrm>
            <a:off x="502920" y="2194560"/>
            <a:ext cx="8046720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502920" y="219456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SFT</a:t>
            </a:r>
            <a:endParaRPr lang="en-US" sz="1270" dirty="0"/>
          </a:p>
        </p:txBody>
      </p:sp>
      <p:sp>
        <p:nvSpPr>
          <p:cNvPr id="14" name="Text 12"/>
          <p:cNvSpPr/>
          <p:nvPr/>
        </p:nvSpPr>
        <p:spPr>
          <a:xfrm>
            <a:off x="3246120" y="2194560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epochs = 8.072 steps, batch hiệu dụng 16, LR 1e−4</a:t>
            </a:r>
            <a:endParaRPr lang="en-US" sz="1270" dirty="0"/>
          </a:p>
        </p:txBody>
      </p:sp>
      <p:sp>
        <p:nvSpPr>
          <p:cNvPr id="15" name="Shape 13"/>
          <p:cNvSpPr/>
          <p:nvPr/>
        </p:nvSpPr>
        <p:spPr>
          <a:xfrm>
            <a:off x="502920" y="2633472"/>
            <a:ext cx="8046720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502920" y="263347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GRPO</a:t>
            </a:r>
            <a:endParaRPr lang="en-US" sz="1270" dirty="0"/>
          </a:p>
        </p:txBody>
      </p:sp>
      <p:sp>
        <p:nvSpPr>
          <p:cNvPr id="17" name="Text 15"/>
          <p:cNvSpPr/>
          <p:nvPr/>
        </p:nvSpPr>
        <p:spPr>
          <a:xfrm>
            <a:off x="3246120" y="2633472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samples/prompt, 500 updates, LR 1e−5, KL β 0,04</a:t>
            </a:r>
            <a:endParaRPr lang="en-US" sz="1270" dirty="0"/>
          </a:p>
        </p:txBody>
      </p:sp>
      <p:sp>
        <p:nvSpPr>
          <p:cNvPr id="18" name="Shape 16"/>
          <p:cNvSpPr/>
          <p:nvPr/>
        </p:nvSpPr>
        <p:spPr>
          <a:xfrm>
            <a:off x="502920" y="3072384"/>
            <a:ext cx="8046720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502920" y="3072384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Phần cứng</a:t>
            </a:r>
            <a:endParaRPr lang="en-US" sz="1270" dirty="0"/>
          </a:p>
        </p:txBody>
      </p:sp>
      <p:sp>
        <p:nvSpPr>
          <p:cNvPr id="20" name="Text 18"/>
          <p:cNvSpPr/>
          <p:nvPr/>
        </p:nvSpPr>
        <p:spPr>
          <a:xfrm>
            <a:off x="3246120" y="3072384"/>
            <a:ext cx="5303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7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× A100, vision tower không cập nhật tham số</a:t>
            </a:r>
            <a:endParaRPr lang="en-US" sz="1270" dirty="0"/>
          </a:p>
        </p:txBody>
      </p:sp>
      <p:sp>
        <p:nvSpPr>
          <p:cNvPr id="21" name="Shape 19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solidFill>
            <a:srgbClr val="191132"/>
          </a:solidFill>
          <a:ln w="12700">
            <a:solidFill>
              <a:srgbClr val="191132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Luận văn thạc sĩ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 dựa trên LLM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Đoàn Phương Uyên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18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Các hướng đã khảo sát</a:t>
            </a:r>
            <a:endParaRPr lang="en-US" sz="1820" dirty="0"/>
          </a:p>
        </p:txBody>
      </p:sp>
      <p:sp>
        <p:nvSpPr>
          <p:cNvPr id="4" name="Shape 2"/>
          <p:cNvSpPr/>
          <p:nvPr/>
        </p:nvSpPr>
        <p:spPr>
          <a:xfrm>
            <a:off x="502920" y="960120"/>
            <a:ext cx="8138160" cy="42062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60120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Hướng</a:t>
            </a:r>
            <a:endParaRPr lang="en-US" sz="1230" dirty="0"/>
          </a:p>
        </p:txBody>
      </p:sp>
      <p:sp>
        <p:nvSpPr>
          <p:cNvPr id="6" name="Text 4"/>
          <p:cNvSpPr/>
          <p:nvPr/>
        </p:nvSpPr>
        <p:spPr>
          <a:xfrm>
            <a:off x="3017520" y="96012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Exec.</a:t>
            </a:r>
            <a:endParaRPr lang="en-US" sz="1230" dirty="0"/>
          </a:p>
        </p:txBody>
      </p:sp>
      <p:sp>
        <p:nvSpPr>
          <p:cNvPr id="7" name="Text 5"/>
          <p:cNvSpPr/>
          <p:nvPr/>
        </p:nvSpPr>
        <p:spPr>
          <a:xfrm>
            <a:off x="4114800" y="960120"/>
            <a:ext cx="4526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3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Điều rút ra</a:t>
            </a:r>
            <a:endParaRPr lang="en-US" sz="1230" dirty="0"/>
          </a:p>
        </p:txBody>
      </p:sp>
      <p:sp>
        <p:nvSpPr>
          <p:cNvPr id="8" name="Text 6"/>
          <p:cNvSpPr/>
          <p:nvPr/>
        </p:nvSpPr>
        <p:spPr>
          <a:xfrm>
            <a:off x="502920" y="1380744"/>
            <a:ext cx="2514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1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Mô tả phần tử trước câu</a:t>
            </a:r>
            <a:endParaRPr lang="en-US" sz="1210" dirty="0"/>
          </a:p>
        </p:txBody>
      </p:sp>
      <p:sp>
        <p:nvSpPr>
          <p:cNvPr id="9" name="Text 7"/>
          <p:cNvSpPr/>
          <p:nvPr/>
        </p:nvSpPr>
        <p:spPr>
          <a:xfrm>
            <a:off x="3017520" y="1380744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1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57,2</a:t>
            </a:r>
            <a:endParaRPr lang="en-US" sz="1210" dirty="0"/>
          </a:p>
        </p:txBody>
      </p:sp>
      <p:sp>
        <p:nvSpPr>
          <p:cNvPr id="10" name="Text 8"/>
          <p:cNvSpPr/>
          <p:nvPr/>
        </p:nvSpPr>
        <p:spPr>
          <a:xfrm>
            <a:off x="4114800" y="1380744"/>
            <a:ext cx="4526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1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Khi biểu diễn trung gian sai, câu cuối bị ảnh hưởng mạnh.</a:t>
            </a:r>
            <a:endParaRPr lang="en-US" sz="1210" dirty="0"/>
          </a:p>
        </p:txBody>
      </p:sp>
      <p:sp>
        <p:nvSpPr>
          <p:cNvPr id="11" name="Shape 9"/>
          <p:cNvSpPr/>
          <p:nvPr/>
        </p:nvSpPr>
        <p:spPr>
          <a:xfrm>
            <a:off x="502920" y="1965960"/>
            <a:ext cx="8138160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502920" y="1965960"/>
            <a:ext cx="2514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1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MIN-DESC</a:t>
            </a:r>
            <a:endParaRPr lang="en-US" sz="1210" dirty="0"/>
          </a:p>
        </p:txBody>
      </p:sp>
      <p:sp>
        <p:nvSpPr>
          <p:cNvPr id="13" name="Text 11"/>
          <p:cNvSpPr/>
          <p:nvPr/>
        </p:nvSpPr>
        <p:spPr>
          <a:xfrm>
            <a:off x="3017520" y="1965960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1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60,0</a:t>
            </a:r>
            <a:endParaRPr lang="en-US" sz="1210" dirty="0"/>
          </a:p>
        </p:txBody>
      </p:sp>
      <p:sp>
        <p:nvSpPr>
          <p:cNvPr id="14" name="Text 12"/>
          <p:cNvSpPr/>
          <p:nvPr/>
        </p:nvSpPr>
        <p:spPr>
          <a:xfrm>
            <a:off x="4114800" y="1965960"/>
            <a:ext cx="4526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1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Mục tiêu ưu tiên có đóng góp riêng +0,63 điểm so với học thêm có giám sát.</a:t>
            </a:r>
            <a:endParaRPr lang="en-US" sz="1210" dirty="0"/>
          </a:p>
        </p:txBody>
      </p:sp>
      <p:sp>
        <p:nvSpPr>
          <p:cNvPr id="15" name="Shape 13"/>
          <p:cNvSpPr/>
          <p:nvPr/>
        </p:nvSpPr>
        <p:spPr>
          <a:xfrm>
            <a:off x="502920" y="2551176"/>
            <a:ext cx="8138160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16" name="Text 14"/>
          <p:cNvSpPr/>
          <p:nvPr/>
        </p:nvSpPr>
        <p:spPr>
          <a:xfrm>
            <a:off x="502920" y="2551176"/>
            <a:ext cx="2514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1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Phần thưởng tọa độ</a:t>
            </a:r>
            <a:endParaRPr lang="en-US" sz="1210" dirty="0"/>
          </a:p>
        </p:txBody>
      </p:sp>
      <p:sp>
        <p:nvSpPr>
          <p:cNvPr id="17" name="Text 15"/>
          <p:cNvSpPr/>
          <p:nvPr/>
        </p:nvSpPr>
        <p:spPr>
          <a:xfrm>
            <a:off x="3017520" y="2551176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1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60,1</a:t>
            </a:r>
            <a:endParaRPr lang="en-US" sz="1210" dirty="0"/>
          </a:p>
        </p:txBody>
      </p:sp>
      <p:sp>
        <p:nvSpPr>
          <p:cNvPr id="18" name="Text 16"/>
          <p:cNvSpPr/>
          <p:nvPr/>
        </p:nvSpPr>
        <p:spPr>
          <a:xfrm>
            <a:off x="4114800" y="2551176"/>
            <a:ext cx="4526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1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Biểu diễn tọa độ tốt hơn nhưng thay đổi ở câu cuối nhỏ hơn.</a:t>
            </a:r>
            <a:endParaRPr lang="en-US" sz="1210" dirty="0"/>
          </a:p>
        </p:txBody>
      </p:sp>
      <p:sp>
        <p:nvSpPr>
          <p:cNvPr id="19" name="Shape 17"/>
          <p:cNvSpPr/>
          <p:nvPr/>
        </p:nvSpPr>
        <p:spPr>
          <a:xfrm>
            <a:off x="502920" y="3136392"/>
            <a:ext cx="8138160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502920" y="3136392"/>
            <a:ext cx="2514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1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Chọn ứng viên</a:t>
            </a:r>
            <a:endParaRPr lang="en-US" sz="1210" dirty="0"/>
          </a:p>
        </p:txBody>
      </p:sp>
      <p:sp>
        <p:nvSpPr>
          <p:cNvPr id="21" name="Text 19"/>
          <p:cNvSpPr/>
          <p:nvPr/>
        </p:nvSpPr>
        <p:spPr>
          <a:xfrm>
            <a:off x="3017520" y="3136392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1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56,1</a:t>
            </a:r>
            <a:endParaRPr lang="en-US" sz="1210" dirty="0"/>
          </a:p>
        </p:txBody>
      </p:sp>
      <p:sp>
        <p:nvSpPr>
          <p:cNvPr id="22" name="Text 20"/>
          <p:cNvSpPr/>
          <p:nvPr/>
        </p:nvSpPr>
        <p:spPr>
          <a:xfrm>
            <a:off x="4114800" y="3136392"/>
            <a:ext cx="4526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1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Khi thực sự chọn, chất lượng khá tốt; vấn đề nằm ở quyết định từ chối chọn.</a:t>
            </a:r>
            <a:endParaRPr lang="en-US" sz="1210" dirty="0"/>
          </a:p>
        </p:txBody>
      </p:sp>
      <p:sp>
        <p:nvSpPr>
          <p:cNvPr id="23" name="Shape 21"/>
          <p:cNvSpPr/>
          <p:nvPr/>
        </p:nvSpPr>
        <p:spPr>
          <a:xfrm>
            <a:off x="502920" y="3721608"/>
            <a:ext cx="8138160" cy="0"/>
          </a:xfrm>
          <a:prstGeom prst="line">
            <a:avLst/>
          </a:prstGeom>
          <a:noFill/>
          <a:ln w="12700">
            <a:solidFill>
              <a:srgbClr val="D9D6DF"/>
            </a:solidFill>
            <a:prstDash val="solid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502920" y="3721608"/>
            <a:ext cx="2514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1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TAGE</a:t>
            </a:r>
            <a:endParaRPr lang="en-US" sz="1210" dirty="0"/>
          </a:p>
        </p:txBody>
      </p:sp>
      <p:sp>
        <p:nvSpPr>
          <p:cNvPr id="25" name="Text 23"/>
          <p:cNvSpPr/>
          <p:nvPr/>
        </p:nvSpPr>
        <p:spPr>
          <a:xfrm>
            <a:off x="3017520" y="3721608"/>
            <a:ext cx="1097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1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60,2</a:t>
            </a:r>
            <a:endParaRPr lang="en-US" sz="1210" dirty="0"/>
          </a:p>
        </p:txBody>
      </p:sp>
      <p:sp>
        <p:nvSpPr>
          <p:cNvPr id="26" name="Text 24"/>
          <p:cNvSpPr/>
          <p:nvPr/>
        </p:nvSpPr>
        <p:spPr>
          <a:xfrm>
            <a:off x="4114800" y="3721608"/>
            <a:ext cx="4526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1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Bộ biên tập có ích khi vùng cắt đúng; khâu chọn vùng còn là điểm cần cải thiện.</a:t>
            </a:r>
            <a:endParaRPr lang="en-US" sz="1210" dirty="0"/>
          </a:p>
        </p:txBody>
      </p:sp>
      <p:sp>
        <p:nvSpPr>
          <p:cNvPr id="27" name="Shape 25"/>
          <p:cNvSpPr/>
          <p:nvPr/>
        </p:nvSpPr>
        <p:spPr>
          <a:xfrm>
            <a:off x="502920" y="4892040"/>
            <a:ext cx="8138160" cy="713232"/>
          </a:xfrm>
          <a:prstGeom prst="roundRect">
            <a:avLst/>
          </a:prstGeom>
          <a:solidFill>
            <a:srgbClr val="F3F2F5"/>
          </a:solidFill>
          <a:ln w="12700">
            <a:solidFill>
              <a:srgbClr val="7A70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89204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251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Các hướng trung gian giúp xác định rằng tối ưu trực tiếp câu cuối phù hợp hơn với mục tiêu chính.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solidFill>
            <a:srgbClr val="191132"/>
          </a:solidFill>
          <a:ln w="12700">
            <a:solidFill>
              <a:srgbClr val="191132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solidFill>
            <a:srgbClr val="25194B"/>
          </a:solidFill>
          <a:ln w="12700">
            <a:solidFill>
              <a:srgbClr val="25194B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solidFill>
            <a:srgbClr val="4F417A"/>
          </a:solidFill>
          <a:ln w="12700">
            <a:solidFill>
              <a:srgbClr val="4F417A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solidFill>
            <a:srgbClr val="7A7099"/>
          </a:solidFill>
          <a:ln w="12700">
            <a:solidFill>
              <a:srgbClr val="7A7099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0" y="662025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Luận văn thạc sĩ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743200" y="662025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Phát sinh tự động hướng dẫn sử dụng phần mềm dựa trên LLM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126480" y="66202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Lê Đoàn Phương Uyên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863840" y="66202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Phat sinh tu dong huong dan su dung phan mem dua tren LLM</dc:title>
  <dc:subject>Master thesis defense</dc:subject>
  <dc:creator>Le Doan Phuong Uyen</dc:creator>
  <cp:lastModifiedBy>Le Doan Phuong Uyen</cp:lastModifiedBy>
  <cp:revision>1</cp:revision>
  <dcterms:created xsi:type="dcterms:W3CDTF">2026-10-28T10:53:00Z</dcterms:created>
  <dcterms:modified xsi:type="dcterms:W3CDTF">2026-10-28T10:53:00Z</dcterms:modified>
</cp:coreProperties>
</file>