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ĐẠI HỌC QUỐC GIA TP. HỒ CHÍ MINH  -  TRƯỜNG ĐẠI HỌC KHOA HỌC TỰ NHIÊN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2286000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LUẬN VĂN THẠC SĨ  -  NGÀNH TRÍ TUỆ NHÂN TẠO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792224"/>
            <a:ext cx="7406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</a:t>
            </a:r>
            <a:endParaRPr lang="en-US" sz="2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DỰA TRÊN LLM TỪ CÁC TRƯỜNG HỢP SỬ DỤNG</a:t>
            </a:r>
            <a:endParaRPr lang="en-US" sz="2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 GIAO DIỆN NGƯỜI DÙNG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Học viên thực hiện: Lê Đoàn Phương Uyên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Giáo viên hướng dẫn: TS. Nguyễn Hồng Bửu Long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3766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TP. Hồ Chí Minh - 2026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Tổng quan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trạng thái giao diện hiện tại, sinh một câu hướng dẫn để người dùng biết chính xác bước tiếp theo cần làm.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847088"/>
            <a:ext cx="1874520" cy="8686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4708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Màn hình hiện tại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78608" y="2286000"/>
            <a:ext cx="43891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27248" y="1847088"/>
            <a:ext cx="1874520" cy="8686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7248" y="184708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sinh câu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11496" y="2286000"/>
            <a:ext cx="43891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0" y="1719072"/>
            <a:ext cx="2697480" cy="111556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719072"/>
            <a:ext cx="2697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“Chạm vào Not now”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 vào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21208" y="388620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74904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Ảnh màn hình hiện tại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21208" y="438912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5196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người dùng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21208" y="489204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75488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Lịch sử thao tác trước đó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21208" y="539496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25780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Văn bản hiển thị trên giao diện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709160" y="3456432"/>
            <a:ext cx="3840480" cy="16459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 ra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983480" y="41605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câu hướng dẫn cho</a:t>
            </a:r>
            <a:endParaRPr lang="en-US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tiếp theo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2920" y="55595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 ra của luận văn là câu hướng dẫn cho người dùng, không phải tọa độ để agent tự thao tác.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1.1. Yêu cầu của câu hướng dẫn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câu nghe hoàn toàn tự nhiên vẫn có thể không đủ thông tin để người dùng chọn đúng phần tử.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794760" cy="25146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mơ hồ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“Tap the button.”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biết phải chạm nút nào khi màn hình có nhiều nút.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1783080"/>
            <a:ext cx="3794760" cy="25146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011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đủ rõ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74920" y="27432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“Tap Not now.”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120640" y="3429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ra đúng phần tử cần thao tác.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4864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vậy, câu hướng dẫn không chỉ cần đúng nội dung mà còn phải phân biệt được đúng phần tử cần thao tác.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1.2. Hạn chế của độ tương đồng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độ đo chất lượng câu và khả năng làm theo phản ánh hai khía cạnh bổ sung cho nhau.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331720" cy="10972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 / ROUGE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Đo mức giống câu chuẩn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01568" y="1874520"/>
            <a:ext cx="2331720" cy="10972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18745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 / CIDEr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Đo tương đồng nội dung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2331720" cy="14630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6916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định đúng phần tử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 đúng loại thao tác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41605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đó, luận văn đánh giá cả mức tương đồng với câu chuẩn và khả năng xác định đúng phần tử, đúng loại thao tác.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1.3. Đóng góp chính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2514600" cy="29718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252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Phương pháp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22376" y="1847088"/>
            <a:ext cx="207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tối ưu câu hướng dẫn. ACE tiếp tục hiệu chỉnh câu ban đầu để cải thiện chất lượng mà vẫn giữ executability.</a:t>
            </a:r>
            <a:endParaRPr lang="en-US" sz="1510" dirty="0"/>
          </a:p>
        </p:txBody>
      </p:sp>
      <p:sp>
        <p:nvSpPr>
          <p:cNvPr id="7" name="Shape 5"/>
          <p:cNvSpPr/>
          <p:nvPr/>
        </p:nvSpPr>
        <p:spPr>
          <a:xfrm>
            <a:off x="3319272" y="960120"/>
            <a:ext cx="2514600" cy="29718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2252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Executability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66160" y="1847088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định vị tách biệt kiểm tra câu có dẫn tới đúng phần tử và đúng thao tác.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514600" cy="29718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1704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3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Bằng chứng thực nghiệm</a:t>
            </a:r>
            <a:endParaRPr lang="en-US" sz="1630" dirty="0"/>
          </a:p>
        </p:txBody>
      </p:sp>
      <p:sp>
        <p:nvSpPr>
          <p:cNvPr id="12" name="Text 10"/>
          <p:cNvSpPr/>
          <p:nvPr/>
        </p:nvSpPr>
        <p:spPr>
          <a:xfrm>
            <a:off x="6355080" y="1847088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được kiểm tra bằng cùng số bước huấn luyện, nhiều mô hình định vị, tác vụ mới và chuyển miền.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370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" y="49011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trên tập kiểm chính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01568" y="4370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+4,58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01568" y="49011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trên tác vụ chưa có trong huấn luyện có giám sát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80760" y="4370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80760" y="49011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BLEU-4 · CIDEr-D · SPICE · …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Dữ liệu và đánh giá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Tập huấn luyện và tập kiểm tra chính được tách theo tác vụ. Không có tác vụ xuất hiện ở cả hai phía.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8138160" cy="493776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3619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endParaRPr lang="en-US" sz="1370" dirty="0"/>
          </a:p>
        </p:txBody>
      </p:sp>
      <p:sp>
        <p:nvSpPr>
          <p:cNvPr id="7" name="Text 5"/>
          <p:cNvSpPr/>
          <p:nvPr/>
        </p:nvSpPr>
        <p:spPr>
          <a:xfrm>
            <a:off x="3017520" y="153619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Huấn luyện</a:t>
            </a:r>
            <a:endParaRPr lang="en-US" sz="1370" dirty="0"/>
          </a:p>
        </p:txBody>
      </p:sp>
      <p:sp>
        <p:nvSpPr>
          <p:cNvPr id="8" name="Text 6"/>
          <p:cNvSpPr/>
          <p:nvPr/>
        </p:nvSpPr>
        <p:spPr>
          <a:xfrm>
            <a:off x="4709160" y="153619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 chính</a:t>
            </a:r>
            <a:endParaRPr lang="en-US" sz="1370" dirty="0"/>
          </a:p>
        </p:txBody>
      </p:sp>
      <p:sp>
        <p:nvSpPr>
          <p:cNvPr id="9" name="Text 7"/>
          <p:cNvSpPr/>
          <p:nvPr/>
        </p:nvSpPr>
        <p:spPr>
          <a:xfrm>
            <a:off x="6400800" y="1536192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Ghi chú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Số bước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3017520" y="202996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64.567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709160" y="202996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6.958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6400800" y="2029968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chia theo tác vụ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502920" y="2615184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502920" y="2615184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có thao tác chạm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3017520" y="2615184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41.191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4709160" y="2615184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4.463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6400800" y="2615184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tập chính của executability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02920" y="3200400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Số tác vụ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3017520" y="3200400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12.895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4709160" y="3200400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1.432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6400800" y="3200400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trùng tác vụ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502920" y="398678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 tổng quát hóa bổ sung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502920" y="4498848"/>
            <a:ext cx="3886200" cy="10058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45994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6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 vụ mới (ACU)</a:t>
            </a:r>
            <a:endParaRPr lang="en-US" sz="1460" dirty="0"/>
          </a:p>
        </p:txBody>
      </p:sp>
      <p:sp>
        <p:nvSpPr>
          <p:cNvPr id="27" name="Text 25"/>
          <p:cNvSpPr/>
          <p:nvPr/>
        </p:nvSpPr>
        <p:spPr>
          <a:xfrm>
            <a:off x="1920240" y="45537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1.484 bước từ các tác vụ chưa có trong tập huấn luyện</a:t>
            </a:r>
            <a:endParaRPr lang="en-US" sz="1380" dirty="0"/>
          </a:p>
        </p:txBody>
      </p:sp>
      <p:sp>
        <p:nvSpPr>
          <p:cNvPr id="28" name="Shape 26"/>
          <p:cNvSpPr/>
          <p:nvPr/>
        </p:nvSpPr>
        <p:spPr>
          <a:xfrm>
            <a:off x="4754880" y="4498848"/>
            <a:ext cx="3886200" cy="10058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45994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6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Chuyển miền (AitZ)</a:t>
            </a:r>
            <a:endParaRPr lang="en-US" sz="1460" dirty="0"/>
          </a:p>
        </p:txBody>
      </p:sp>
      <p:sp>
        <p:nvSpPr>
          <p:cNvPr id="30" name="Text 28"/>
          <p:cNvSpPr/>
          <p:nvPr/>
        </p:nvSpPr>
        <p:spPr>
          <a:xfrm>
            <a:off x="6263640" y="455371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dữ liệu giao diện khác để kiểm tra khả năng chuyển miền</a:t>
            </a:r>
            <a:endParaRPr lang="en-US" sz="1380" dirty="0"/>
          </a:p>
        </p:txBody>
      </p:sp>
      <p:sp>
        <p:nvSpPr>
          <p:cNvPr id="31" name="Shape 29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2.1. Executability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1737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7276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hướng dẫn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41448" y="1993392"/>
            <a:ext cx="365760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07792" y="1444752"/>
            <a:ext cx="2057400" cy="10972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144475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định vị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tách biệt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74920" y="1993392"/>
            <a:ext cx="365760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41264" y="1572768"/>
            <a:ext cx="1188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264" y="1572768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(x,y)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39712" y="1993392"/>
            <a:ext cx="365760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96912" y="1371600"/>
            <a:ext cx="1261872" cy="1243584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96912" y="1371600"/>
            <a:ext cx="126187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</a:t>
            </a:r>
            <a:endParaRPr lang="en-US" sz="132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tử + thao tác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bước được tính đúng khi đồng thời: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21208" y="381304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675888"/>
            <a:ext cx="7927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đúng loại thao tác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21208" y="4379976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242816"/>
            <a:ext cx="7927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diễn đạt ngược thao tác cần làm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21208" y="4946904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809744"/>
            <a:ext cx="7927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định vị thuộc vùng của phần tử cần chạm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54681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định vị không tham gia huấn luyện phương pháp và không biết tọa độ đáp án.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7/25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2.2. Kiểm tra độ tin cậy của executability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Trên cùng một nhóm bước, câu càng thiếu thông tin để xác định đúng phần tử thì executability càng thấp.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61848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chuẩn (đầy đủ thông tin)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3108960" y="1691640"/>
            <a:ext cx="4087368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691640"/>
            <a:ext cx="3826798" cy="256032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42632" y="160934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74,9%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mơ hồ: “Tap the button.”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3108960" y="2514600"/>
            <a:ext cx="4087368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514600"/>
            <a:ext cx="613105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42632" y="243230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12,0%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960120" y="326440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sai màn hình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3108960" y="3337560"/>
            <a:ext cx="4087368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3337560"/>
            <a:ext cx="311662" cy="256032"/>
          </a:xfrm>
          <a:prstGeom prst="round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2632" y="325526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6,1%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1051560" y="4498848"/>
            <a:ext cx="7040880" cy="859536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4498848"/>
            <a:ext cx="66202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4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đúng kỳ vọng: 74,9% → 12,0% → 6,1%. Khi câu mơ hồ hoặc sai ngữ cảnh, executability giảm mạnh.</a:t>
            </a:r>
            <a:endParaRPr lang="en-US" sz="1540" dirty="0"/>
          </a:p>
        </p:txBody>
      </p:sp>
      <p:sp>
        <p:nvSpPr>
          <p:cNvPr id="19" name="Shape 1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8/25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Phương pháp đề xuất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411480" y="1133856"/>
            <a:ext cx="138988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33856"/>
            <a:ext cx="1389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38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(đã được SFT)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1874520" y="1645920"/>
            <a:ext cx="182880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21408" y="1143000"/>
            <a:ext cx="1901952" cy="10058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21408" y="114300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câu ban đầu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33088" y="1645920"/>
            <a:ext cx="25603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80560" y="1143000"/>
            <a:ext cx="1901952" cy="10058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4300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hiệu chỉnh có chọn lọc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1645920"/>
            <a:ext cx="25603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39712" y="1143000"/>
            <a:ext cx="18105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11430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hướng dẫn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cuối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1272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21208" y="372160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584448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8 câu cho cùng đầu vào.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521208" y="4416552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279392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Dùng SPICE + phạt độ dài để cập nhật mô hình.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4617720" y="3127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636008" y="372160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584448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 hồi 4 câu ví dụ từ tập dạy.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4636008" y="4416552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4279392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thay câu ban đầu khi qua 2 điều kiện chọn lọc.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502920" y="532180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định vị chỉ được dùng để đánh giá câu hướng dẫn. Mô hình này không tham gia sinh câu hay cập nhật mô hình.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9/25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3.1. Thành phần thứ nhất: GRPO-SPICE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17320" cy="84124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đầu vào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84832" y="2112264"/>
            <a:ext cx="384048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78608" y="1517904"/>
            <a:ext cx="1600200" cy="11887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517904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câu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dẫn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2112264"/>
            <a:ext cx="384048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91456" y="1517904"/>
            <a:ext cx="1645920" cy="11887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51790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phạt độ dài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56248" y="2112264"/>
            <a:ext cx="384048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50024" y="1463040"/>
            <a:ext cx="1554480" cy="129844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0024" y="1463040"/>
            <a:ext cx="1554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Cập nhật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8138160" cy="157276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566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trò của SPICE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441448" y="3401568"/>
            <a:ext cx="594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 ưu tiên đúng nội dung hơn mức giống câu chữ.</a:t>
            </a:r>
            <a:endParaRPr lang="en-US" sz="15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Tín hiệu huấn luyện tập trung vào đối tượng và quan hệ cần mô tả.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502920" y="53035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6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tối ưu trực tiếp câu hướng dẫn bằng tín hiệu SPICE.</a:t>
            </a:r>
            <a:endParaRPr lang="en-US" sz="1460" dirty="0"/>
          </a:p>
        </p:txBody>
      </p:sp>
      <p:sp>
        <p:nvSpPr>
          <p:cNvPr id="19" name="Shape 1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10/25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3.2. Thành phần thứ hai: ACE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ban đầu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011680" y="1581912"/>
            <a:ext cx="34747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50592" y="1051560"/>
            <a:ext cx="1737360" cy="105156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0515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 hồi 4 câu</a:t>
            </a:r>
            <a:endParaRPr lang="en-US" sz="132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 từ tập huấn luyện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279392" y="1581912"/>
            <a:ext cx="34747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18304" y="1051560"/>
            <a:ext cx="1417320" cy="105156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0515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câu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ứng viên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27064" y="1581912"/>
            <a:ext cx="34747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65976" y="960120"/>
            <a:ext cx="2011680" cy="12344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9601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điều kiện chọn lọc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127248"/>
            <a:ext cx="3840480" cy="107899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127248"/>
            <a:ext cx="35112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Câu ứng viên phải trùng với một trong bốn câu ví dụ được truy hồi.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3127248"/>
            <a:ext cx="3840480" cy="107899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127248"/>
            <a:ext cx="35112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Động từ đầu câu phải cùng lớp thao tác với câu ban đầu.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45920" y="4663440"/>
            <a:ext cx="2560320" cy="74980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46634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Đủ điều kiện → dùng câu mới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4663440"/>
            <a:ext cx="2560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6634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đủ → giữ câu ban đầu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11/25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Thực nghiệm và kết quả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 trên tập kiểm chính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68680" y="1408176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· Base</a:t>
            </a:r>
            <a:endParaRPr lang="en-US" sz="1390" dirty="0"/>
          </a:p>
        </p:txBody>
      </p:sp>
      <p:sp>
        <p:nvSpPr>
          <p:cNvPr id="6" name="Shape 4"/>
          <p:cNvSpPr/>
          <p:nvPr/>
        </p:nvSpPr>
        <p:spPr>
          <a:xfrm>
            <a:off x="3108960" y="1481328"/>
            <a:ext cx="410565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481328"/>
            <a:ext cx="3005972" cy="256032"/>
          </a:xfrm>
          <a:prstGeom prst="round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13990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90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47,59%</a:t>
            </a:r>
            <a:endParaRPr lang="en-US" sz="1390" dirty="0"/>
          </a:p>
        </p:txBody>
      </p:sp>
      <p:sp>
        <p:nvSpPr>
          <p:cNvPr id="9" name="Text 7"/>
          <p:cNvSpPr/>
          <p:nvPr/>
        </p:nvSpPr>
        <p:spPr>
          <a:xfrm>
            <a:off x="868680" y="212140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7B · Base</a:t>
            </a:r>
            <a:endParaRPr lang="en-US" sz="1390" dirty="0"/>
          </a:p>
        </p:txBody>
      </p:sp>
      <p:sp>
        <p:nvSpPr>
          <p:cNvPr id="10" name="Shape 8"/>
          <p:cNvSpPr/>
          <p:nvPr/>
        </p:nvSpPr>
        <p:spPr>
          <a:xfrm>
            <a:off x="3108960" y="2194560"/>
            <a:ext cx="410565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94560"/>
            <a:ext cx="3253574" cy="256032"/>
          </a:xfrm>
          <a:prstGeom prst="round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21122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90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51,51%</a:t>
            </a:r>
            <a:endParaRPr lang="en-US" sz="1390" dirty="0"/>
          </a:p>
        </p:txBody>
      </p:sp>
      <p:sp>
        <p:nvSpPr>
          <p:cNvPr id="13" name="Text 11"/>
          <p:cNvSpPr/>
          <p:nvPr/>
        </p:nvSpPr>
        <p:spPr>
          <a:xfrm>
            <a:off x="868680" y="283464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· baseline S1</a:t>
            </a:r>
            <a:endParaRPr lang="en-US" sz="1390" dirty="0"/>
          </a:p>
        </p:txBody>
      </p:sp>
      <p:sp>
        <p:nvSpPr>
          <p:cNvPr id="14" name="Shape 12"/>
          <p:cNvSpPr/>
          <p:nvPr/>
        </p:nvSpPr>
        <p:spPr>
          <a:xfrm>
            <a:off x="3108960" y="2907792"/>
            <a:ext cx="410565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2907792"/>
            <a:ext cx="3733620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28254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90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59,11%</a:t>
            </a:r>
            <a:endParaRPr lang="en-US" sz="1390" dirty="0"/>
          </a:p>
        </p:txBody>
      </p:sp>
      <p:sp>
        <p:nvSpPr>
          <p:cNvPr id="17" name="Text 15"/>
          <p:cNvSpPr/>
          <p:nvPr/>
        </p:nvSpPr>
        <p:spPr>
          <a:xfrm>
            <a:off x="868680" y="3547872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9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· GRPO-SPICE</a:t>
            </a:r>
            <a:endParaRPr lang="en-US" sz="1390" dirty="0"/>
          </a:p>
        </p:txBody>
      </p:sp>
      <p:sp>
        <p:nvSpPr>
          <p:cNvPr id="18" name="Shape 16"/>
          <p:cNvSpPr/>
          <p:nvPr/>
        </p:nvSpPr>
        <p:spPr>
          <a:xfrm>
            <a:off x="3108960" y="3621024"/>
            <a:ext cx="410565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3621024"/>
            <a:ext cx="3830893" cy="256032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5387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9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60,65%</a:t>
            </a:r>
            <a:endParaRPr lang="en-US" sz="1390" dirty="0"/>
          </a:p>
        </p:txBody>
      </p:sp>
      <p:sp>
        <p:nvSpPr>
          <p:cNvPr id="21" name="Shape 19"/>
          <p:cNvSpPr/>
          <p:nvPr/>
        </p:nvSpPr>
        <p:spPr>
          <a:xfrm>
            <a:off x="960120" y="4498848"/>
            <a:ext cx="7223760" cy="786384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49884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+ GRPO-SPICE cao hơn 7B Base +9,14 điểm</a:t>
            </a:r>
            <a:endParaRPr lang="en-US" sz="1720" dirty="0"/>
          </a:p>
        </p:txBody>
      </p:sp>
      <p:sp>
        <p:nvSpPr>
          <p:cNvPr id="23" name="Text 21"/>
          <p:cNvSpPr/>
          <p:nvPr/>
        </p:nvSpPr>
        <p:spPr>
          <a:xfrm>
            <a:off x="502920" y="554126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5A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7B dùng cùng prompt của Base và không được tối ưu prompt riêng.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12/25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4.1. Vai trò của tín hiệu SPICE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8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Cùng 500 bước GRPO, nhánh dùng SPICE từ mẫu khác vẫn ở mức S1. GRPO-SPICE tăng +1,55 điểm.</a:t>
            </a:r>
            <a:endParaRPr lang="en-US" sz="1580" dirty="0"/>
          </a:p>
        </p:txBody>
      </p:sp>
      <p:sp>
        <p:nvSpPr>
          <p:cNvPr id="5" name="Shape 3"/>
          <p:cNvSpPr/>
          <p:nvPr/>
        </p:nvSpPr>
        <p:spPr>
          <a:xfrm>
            <a:off x="749808" y="1627632"/>
            <a:ext cx="781812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2763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55848" y="162763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 + SPICE từ mẫu khác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61888" y="162763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157984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55848" y="2157984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61888" y="2157984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78608" y="3090672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5A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Ở cột giữa, điểm SPICE được lấy từ một mẫu khác.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1005840" y="4041648"/>
            <a:ext cx="7132320" cy="89611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041648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cao hơn nhánh dùng SPICE từ mẫu khác +1,55 điểm · KTC 95% từ +0,81 đến +2,30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541324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 độ đo chất lượng câu có KTC đều tăng trong cùng phép so sánh.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13/25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4.2. Kết quả trên tập kiểm chính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7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cao hơn baseline S1 trên các độ đo chính.</a:t>
            </a:r>
            <a:endParaRPr lang="en-US" sz="1670" dirty="0"/>
          </a:p>
        </p:txBody>
      </p:sp>
      <p:sp>
        <p:nvSpPr>
          <p:cNvPr id="5" name="Shape 3"/>
          <p:cNvSpPr/>
          <p:nvPr/>
        </p:nvSpPr>
        <p:spPr>
          <a:xfrm>
            <a:off x="585216" y="3108960"/>
            <a:ext cx="7973568" cy="658368"/>
          </a:xfrm>
          <a:prstGeom prst="rect">
            <a:avLst/>
          </a:prstGeom>
          <a:solidFill>
            <a:srgbClr val="F0EEF5"/>
          </a:solidFill>
          <a:ln w="12700">
            <a:solidFill>
              <a:srgbClr val="F0EE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389888"/>
            <a:ext cx="7973568" cy="566928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38988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2432304" y="138988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3849624" y="138988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Hộp phần tử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5111496" y="138988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AitW đầy đủ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373368" y="138988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333488" y="1389888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CIDEr-D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85216" y="1956816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2432304" y="1956816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47,59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3849624" y="1956816"/>
            <a:ext cx="1261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53,60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5111496" y="1956816"/>
            <a:ext cx="1261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63,39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6373368" y="1956816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18,50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7333488" y="1956816"/>
            <a:ext cx="1225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88,00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585216" y="2560320"/>
            <a:ext cx="7973568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85216" y="2560320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2432304" y="256032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3849624" y="2560320"/>
            <a:ext cx="1261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65,49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5111496" y="2560320"/>
            <a:ext cx="1261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74,37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6373368" y="256032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44,37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7333488" y="2560320"/>
            <a:ext cx="1225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416,12</a:t>
            </a:r>
            <a:endParaRPr lang="en-US" sz="1340" dirty="0"/>
          </a:p>
        </p:txBody>
      </p:sp>
      <p:sp>
        <p:nvSpPr>
          <p:cNvPr id="26" name="Shape 24"/>
          <p:cNvSpPr/>
          <p:nvPr/>
        </p:nvSpPr>
        <p:spPr>
          <a:xfrm>
            <a:off x="585216" y="3163824"/>
            <a:ext cx="7973568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85216" y="3163824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2432304" y="316382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3849624" y="3163824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67,02</a:t>
            </a:r>
            <a:endParaRPr lang="en-US" sz="1340" dirty="0"/>
          </a:p>
        </p:txBody>
      </p:sp>
      <p:sp>
        <p:nvSpPr>
          <p:cNvPr id="30" name="Text 28"/>
          <p:cNvSpPr/>
          <p:nvPr/>
        </p:nvSpPr>
        <p:spPr>
          <a:xfrm>
            <a:off x="5111496" y="3163824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76,25</a:t>
            </a:r>
            <a:endParaRPr lang="en-US" sz="1340" dirty="0"/>
          </a:p>
        </p:txBody>
      </p:sp>
      <p:sp>
        <p:nvSpPr>
          <p:cNvPr id="31" name="Text 29"/>
          <p:cNvSpPr/>
          <p:nvPr/>
        </p:nvSpPr>
        <p:spPr>
          <a:xfrm>
            <a:off x="6373368" y="316382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45,79</a:t>
            </a:r>
            <a:endParaRPr lang="en-US" sz="1340" dirty="0"/>
          </a:p>
        </p:txBody>
      </p:sp>
      <p:sp>
        <p:nvSpPr>
          <p:cNvPr id="32" name="Text 30"/>
          <p:cNvSpPr/>
          <p:nvPr/>
        </p:nvSpPr>
        <p:spPr>
          <a:xfrm>
            <a:off x="7333488" y="3163824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430,05</a:t>
            </a:r>
            <a:endParaRPr lang="en-US" sz="1340" dirty="0"/>
          </a:p>
        </p:txBody>
      </p:sp>
      <p:sp>
        <p:nvSpPr>
          <p:cNvPr id="33" name="Text 31"/>
          <p:cNvSpPr/>
          <p:nvPr/>
        </p:nvSpPr>
        <p:spPr>
          <a:xfrm>
            <a:off x="987552" y="40965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87552" y="46268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520440" y="40965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+1,52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520440" y="46268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Hộp phần tử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053328" y="40965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+1,88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053328" y="46268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AitW đầy đủ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" y="54864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6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 độ đo có KTC nằm trên 0. METEOR tăng nhưng chưa có KTC.</a:t>
            </a:r>
            <a:endParaRPr lang="en-US" sz="1360" dirty="0"/>
          </a:p>
        </p:txBody>
      </p:sp>
      <p:sp>
        <p:nvSpPr>
          <p:cNvPr id="40" name="Shape 3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14/25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4.3. Kết quả trên tác vụ mới (ACU)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4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 gồm 1.484 bước từ các tác vụ không xuất hiện trong huấn luyện SFT. Các số dưới đây là mức tăng so với baseline S1.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932688" y="156362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3172968" y="1636776"/>
            <a:ext cx="40599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72968" y="1636776"/>
            <a:ext cx="3575867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79208" y="15544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+4,58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932688" y="238658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Chạy lại GRPO-SPICE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3172968" y="2459736"/>
            <a:ext cx="40599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2459736"/>
            <a:ext cx="3154258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9208" y="23774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+4,04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932688" y="320954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3172968" y="3282696"/>
            <a:ext cx="40599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2968" y="3282696"/>
            <a:ext cx="3786671" cy="256032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9208" y="3200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+4,85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502920" y="41879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ba khoảng tin cậy đều nằm trên 0.</a:t>
            </a:r>
            <a:endParaRPr lang="en-US" sz="1370" dirty="0"/>
          </a:p>
        </p:txBody>
      </p:sp>
      <p:sp>
        <p:nvSpPr>
          <p:cNvPr id="18" name="Shape 16"/>
          <p:cNvSpPr/>
          <p:nvPr/>
        </p:nvSpPr>
        <p:spPr>
          <a:xfrm>
            <a:off x="960120" y="4700016"/>
            <a:ext cx="7223760" cy="80467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700016"/>
            <a:ext cx="6803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8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Tập kiểm chính + ACU: GRPO-SPICE − S1 = +2,30 · KTC 95% từ +1,62 đến +2,99</a:t>
            </a:r>
            <a:endParaRPr lang="en-US" sz="1480" dirty="0"/>
          </a:p>
        </p:txBody>
      </p:sp>
      <p:sp>
        <p:nvSpPr>
          <p:cNvPr id="20" name="Shape 1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15/25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4.4. Kết quả sau ACE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841248" y="8778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60,68%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" y="14081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93008" y="8778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493008" y="14081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với GRPO-SPICE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44768" y="8778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144768" y="14081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BLEU-4 · CIDEr-D · SPICE · …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18105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 giữ executability ở mức tương đương GRPO-SPICE và tiếp tục tăng các độ đo dựa trên câu chuẩn.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97296" y="2313432"/>
            <a:ext cx="1874520" cy="3511296"/>
          </a:xfrm>
          <a:prstGeom prst="rect">
            <a:avLst/>
          </a:prstGeom>
          <a:solidFill>
            <a:srgbClr val="F0EEF5"/>
          </a:solidFill>
          <a:ln w="12700">
            <a:solidFill>
              <a:srgbClr val="F0EE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313432"/>
            <a:ext cx="7388352" cy="43891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31343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số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2066544" y="23134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3255264" y="2313432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4681728" y="231343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6291072" y="231343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512064" y="275234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BLEU-4</a:t>
            </a:r>
            <a:endParaRPr lang="en-US" sz="1190" dirty="0"/>
          </a:p>
        </p:txBody>
      </p:sp>
      <p:sp>
        <p:nvSpPr>
          <p:cNvPr id="19" name="Text 17"/>
          <p:cNvSpPr/>
          <p:nvPr/>
        </p:nvSpPr>
        <p:spPr>
          <a:xfrm>
            <a:off x="2066544" y="275234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15,34</a:t>
            </a:r>
            <a:endParaRPr lang="en-US" sz="1190" dirty="0"/>
          </a:p>
        </p:txBody>
      </p:sp>
      <p:sp>
        <p:nvSpPr>
          <p:cNvPr id="20" name="Text 18"/>
          <p:cNvSpPr/>
          <p:nvPr/>
        </p:nvSpPr>
        <p:spPr>
          <a:xfrm>
            <a:off x="3255264" y="2752344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51,56</a:t>
            </a:r>
            <a:endParaRPr lang="en-US" sz="1190" dirty="0"/>
          </a:p>
        </p:txBody>
      </p:sp>
      <p:sp>
        <p:nvSpPr>
          <p:cNvPr id="21" name="Text 19"/>
          <p:cNvSpPr/>
          <p:nvPr/>
        </p:nvSpPr>
        <p:spPr>
          <a:xfrm>
            <a:off x="4681728" y="2752344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52,36</a:t>
            </a:r>
            <a:endParaRPr lang="en-US" sz="1190" dirty="0"/>
          </a:p>
        </p:txBody>
      </p:sp>
      <p:sp>
        <p:nvSpPr>
          <p:cNvPr id="22" name="Text 20"/>
          <p:cNvSpPr/>
          <p:nvPr/>
        </p:nvSpPr>
        <p:spPr>
          <a:xfrm>
            <a:off x="6291072" y="2752344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53,47</a:t>
            </a:r>
            <a:endParaRPr lang="en-US" sz="1190" dirty="0"/>
          </a:p>
        </p:txBody>
      </p:sp>
      <p:sp>
        <p:nvSpPr>
          <p:cNvPr id="23" name="Shape 21"/>
          <p:cNvSpPr/>
          <p:nvPr/>
        </p:nvSpPr>
        <p:spPr>
          <a:xfrm>
            <a:off x="512064" y="3191256"/>
            <a:ext cx="7388352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12064" y="319125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METEOR</a:t>
            </a:r>
            <a:endParaRPr lang="en-US" sz="1190" dirty="0"/>
          </a:p>
        </p:txBody>
      </p:sp>
      <p:sp>
        <p:nvSpPr>
          <p:cNvPr id="25" name="Text 23"/>
          <p:cNvSpPr/>
          <p:nvPr/>
        </p:nvSpPr>
        <p:spPr>
          <a:xfrm>
            <a:off x="2066544" y="31912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24,58</a:t>
            </a:r>
            <a:endParaRPr lang="en-US" sz="1190" dirty="0"/>
          </a:p>
        </p:txBody>
      </p:sp>
      <p:sp>
        <p:nvSpPr>
          <p:cNvPr id="26" name="Text 24"/>
          <p:cNvSpPr/>
          <p:nvPr/>
        </p:nvSpPr>
        <p:spPr>
          <a:xfrm>
            <a:off x="3255264" y="3191256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36,79</a:t>
            </a:r>
            <a:endParaRPr lang="en-US" sz="1190" dirty="0"/>
          </a:p>
        </p:txBody>
      </p:sp>
      <p:sp>
        <p:nvSpPr>
          <p:cNvPr id="27" name="Text 25"/>
          <p:cNvSpPr/>
          <p:nvPr/>
        </p:nvSpPr>
        <p:spPr>
          <a:xfrm>
            <a:off x="4681728" y="319125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37,92</a:t>
            </a:r>
            <a:endParaRPr lang="en-US" sz="1190" dirty="0"/>
          </a:p>
        </p:txBody>
      </p:sp>
      <p:sp>
        <p:nvSpPr>
          <p:cNvPr id="28" name="Text 26"/>
          <p:cNvSpPr/>
          <p:nvPr/>
        </p:nvSpPr>
        <p:spPr>
          <a:xfrm>
            <a:off x="6291072" y="319125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38,37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512064" y="3630168"/>
            <a:ext cx="7388352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512064" y="36301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ROUGE-L</a:t>
            </a:r>
            <a:endParaRPr lang="en-US" sz="1190" dirty="0"/>
          </a:p>
        </p:txBody>
      </p:sp>
      <p:sp>
        <p:nvSpPr>
          <p:cNvPr id="31" name="Text 29"/>
          <p:cNvSpPr/>
          <p:nvPr/>
        </p:nvSpPr>
        <p:spPr>
          <a:xfrm>
            <a:off x="2066544" y="36301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42,31</a:t>
            </a:r>
            <a:endParaRPr lang="en-US" sz="1190" dirty="0"/>
          </a:p>
        </p:txBody>
      </p:sp>
      <p:sp>
        <p:nvSpPr>
          <p:cNvPr id="32" name="Text 30"/>
          <p:cNvSpPr/>
          <p:nvPr/>
        </p:nvSpPr>
        <p:spPr>
          <a:xfrm>
            <a:off x="3255264" y="363016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67,35</a:t>
            </a:r>
            <a:endParaRPr lang="en-US" sz="1190" dirty="0"/>
          </a:p>
        </p:txBody>
      </p:sp>
      <p:sp>
        <p:nvSpPr>
          <p:cNvPr id="33" name="Text 31"/>
          <p:cNvSpPr/>
          <p:nvPr/>
        </p:nvSpPr>
        <p:spPr>
          <a:xfrm>
            <a:off x="4681728" y="363016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68,36</a:t>
            </a:r>
            <a:endParaRPr lang="en-US" sz="1190" dirty="0"/>
          </a:p>
        </p:txBody>
      </p:sp>
      <p:sp>
        <p:nvSpPr>
          <p:cNvPr id="34" name="Text 32"/>
          <p:cNvSpPr/>
          <p:nvPr/>
        </p:nvSpPr>
        <p:spPr>
          <a:xfrm>
            <a:off x="6291072" y="363016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69,11</a:t>
            </a:r>
            <a:endParaRPr lang="en-US" sz="1190" dirty="0"/>
          </a:p>
        </p:txBody>
      </p:sp>
      <p:sp>
        <p:nvSpPr>
          <p:cNvPr id="35" name="Shape 33"/>
          <p:cNvSpPr/>
          <p:nvPr/>
        </p:nvSpPr>
        <p:spPr>
          <a:xfrm>
            <a:off x="512064" y="4069080"/>
            <a:ext cx="7388352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512064" y="40690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CIDEr-D</a:t>
            </a:r>
            <a:endParaRPr lang="en-US" sz="1190" dirty="0"/>
          </a:p>
        </p:txBody>
      </p:sp>
      <p:sp>
        <p:nvSpPr>
          <p:cNvPr id="37" name="Text 35"/>
          <p:cNvSpPr/>
          <p:nvPr/>
        </p:nvSpPr>
        <p:spPr>
          <a:xfrm>
            <a:off x="2066544" y="40690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88,01</a:t>
            </a:r>
            <a:endParaRPr lang="en-US" sz="1190" dirty="0"/>
          </a:p>
        </p:txBody>
      </p:sp>
      <p:sp>
        <p:nvSpPr>
          <p:cNvPr id="38" name="Text 36"/>
          <p:cNvSpPr/>
          <p:nvPr/>
        </p:nvSpPr>
        <p:spPr>
          <a:xfrm>
            <a:off x="3255264" y="406908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416,12</a:t>
            </a:r>
            <a:endParaRPr lang="en-US" sz="1190" dirty="0"/>
          </a:p>
        </p:txBody>
      </p:sp>
      <p:sp>
        <p:nvSpPr>
          <p:cNvPr id="39" name="Text 37"/>
          <p:cNvSpPr/>
          <p:nvPr/>
        </p:nvSpPr>
        <p:spPr>
          <a:xfrm>
            <a:off x="4681728" y="406908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430,05</a:t>
            </a:r>
            <a:endParaRPr lang="en-US" sz="1190" dirty="0"/>
          </a:p>
        </p:txBody>
      </p:sp>
      <p:sp>
        <p:nvSpPr>
          <p:cNvPr id="40" name="Text 38"/>
          <p:cNvSpPr/>
          <p:nvPr/>
        </p:nvSpPr>
        <p:spPr>
          <a:xfrm>
            <a:off x="6291072" y="406908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442,02</a:t>
            </a:r>
            <a:endParaRPr lang="en-US" sz="1190" dirty="0"/>
          </a:p>
        </p:txBody>
      </p:sp>
      <p:sp>
        <p:nvSpPr>
          <p:cNvPr id="41" name="Shape 39"/>
          <p:cNvSpPr/>
          <p:nvPr/>
        </p:nvSpPr>
        <p:spPr>
          <a:xfrm>
            <a:off x="512064" y="4507992"/>
            <a:ext cx="7388352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512064" y="45079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</a:t>
            </a:r>
            <a:endParaRPr lang="en-US" sz="1190" dirty="0"/>
          </a:p>
        </p:txBody>
      </p:sp>
      <p:sp>
        <p:nvSpPr>
          <p:cNvPr id="43" name="Text 41"/>
          <p:cNvSpPr/>
          <p:nvPr/>
        </p:nvSpPr>
        <p:spPr>
          <a:xfrm>
            <a:off x="2066544" y="450799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18,48</a:t>
            </a:r>
            <a:endParaRPr lang="en-US" sz="1190" dirty="0"/>
          </a:p>
        </p:txBody>
      </p:sp>
      <p:sp>
        <p:nvSpPr>
          <p:cNvPr id="44" name="Text 42"/>
          <p:cNvSpPr/>
          <p:nvPr/>
        </p:nvSpPr>
        <p:spPr>
          <a:xfrm>
            <a:off x="3255264" y="4507992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44,37</a:t>
            </a:r>
            <a:endParaRPr lang="en-US" sz="1190" dirty="0"/>
          </a:p>
        </p:txBody>
      </p:sp>
      <p:sp>
        <p:nvSpPr>
          <p:cNvPr id="45" name="Text 43"/>
          <p:cNvSpPr/>
          <p:nvPr/>
        </p:nvSpPr>
        <p:spPr>
          <a:xfrm>
            <a:off x="4681728" y="450799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45,79</a:t>
            </a:r>
            <a:endParaRPr lang="en-US" sz="1190" dirty="0"/>
          </a:p>
        </p:txBody>
      </p:sp>
      <p:sp>
        <p:nvSpPr>
          <p:cNvPr id="46" name="Text 44"/>
          <p:cNvSpPr/>
          <p:nvPr/>
        </p:nvSpPr>
        <p:spPr>
          <a:xfrm>
            <a:off x="6291072" y="450799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47,13</a:t>
            </a:r>
            <a:endParaRPr lang="en-US" sz="1190" dirty="0"/>
          </a:p>
        </p:txBody>
      </p:sp>
      <p:sp>
        <p:nvSpPr>
          <p:cNvPr id="47" name="Shape 45"/>
          <p:cNvSpPr/>
          <p:nvPr/>
        </p:nvSpPr>
        <p:spPr>
          <a:xfrm>
            <a:off x="512064" y="4946904"/>
            <a:ext cx="7388352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512064" y="49469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chrF</a:t>
            </a:r>
            <a:endParaRPr lang="en-US" sz="1190" dirty="0"/>
          </a:p>
        </p:txBody>
      </p:sp>
      <p:sp>
        <p:nvSpPr>
          <p:cNvPr id="49" name="Text 47"/>
          <p:cNvSpPr/>
          <p:nvPr/>
        </p:nvSpPr>
        <p:spPr>
          <a:xfrm>
            <a:off x="2066544" y="494690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40,18</a:t>
            </a:r>
            <a:endParaRPr lang="en-US" sz="1190" dirty="0"/>
          </a:p>
        </p:txBody>
      </p:sp>
      <p:sp>
        <p:nvSpPr>
          <p:cNvPr id="50" name="Text 48"/>
          <p:cNvSpPr/>
          <p:nvPr/>
        </p:nvSpPr>
        <p:spPr>
          <a:xfrm>
            <a:off x="3255264" y="4946904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61,26</a:t>
            </a:r>
            <a:endParaRPr lang="en-US" sz="1190" dirty="0"/>
          </a:p>
        </p:txBody>
      </p:sp>
      <p:sp>
        <p:nvSpPr>
          <p:cNvPr id="51" name="Text 49"/>
          <p:cNvSpPr/>
          <p:nvPr/>
        </p:nvSpPr>
        <p:spPr>
          <a:xfrm>
            <a:off x="4681728" y="4946904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62,87</a:t>
            </a:r>
            <a:endParaRPr lang="en-US" sz="1190" dirty="0"/>
          </a:p>
        </p:txBody>
      </p:sp>
      <p:sp>
        <p:nvSpPr>
          <p:cNvPr id="52" name="Text 50"/>
          <p:cNvSpPr/>
          <p:nvPr/>
        </p:nvSpPr>
        <p:spPr>
          <a:xfrm>
            <a:off x="6291072" y="4946904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63,44</a:t>
            </a:r>
            <a:endParaRPr lang="en-US" sz="1190" dirty="0"/>
          </a:p>
        </p:txBody>
      </p:sp>
      <p:sp>
        <p:nvSpPr>
          <p:cNvPr id="53" name="Shape 51"/>
          <p:cNvSpPr/>
          <p:nvPr/>
        </p:nvSpPr>
        <p:spPr>
          <a:xfrm>
            <a:off x="512064" y="5385816"/>
            <a:ext cx="7388352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54" name="Text 52"/>
          <p:cNvSpPr/>
          <p:nvPr/>
        </p:nvSpPr>
        <p:spPr>
          <a:xfrm>
            <a:off x="512064" y="53858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BERTScore</a:t>
            </a:r>
            <a:endParaRPr lang="en-US" sz="1190" dirty="0"/>
          </a:p>
        </p:txBody>
      </p:sp>
      <p:sp>
        <p:nvSpPr>
          <p:cNvPr id="55" name="Text 53"/>
          <p:cNvSpPr/>
          <p:nvPr/>
        </p:nvSpPr>
        <p:spPr>
          <a:xfrm>
            <a:off x="2066544" y="538581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40,10</a:t>
            </a:r>
            <a:endParaRPr lang="en-US" sz="1190" dirty="0"/>
          </a:p>
        </p:txBody>
      </p:sp>
      <p:sp>
        <p:nvSpPr>
          <p:cNvPr id="56" name="Text 54"/>
          <p:cNvSpPr/>
          <p:nvPr/>
        </p:nvSpPr>
        <p:spPr>
          <a:xfrm>
            <a:off x="3255264" y="5385816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66,33</a:t>
            </a:r>
            <a:endParaRPr lang="en-US" sz="1190" dirty="0"/>
          </a:p>
        </p:txBody>
      </p:sp>
      <p:sp>
        <p:nvSpPr>
          <p:cNvPr id="57" name="Text 55"/>
          <p:cNvSpPr/>
          <p:nvPr/>
        </p:nvSpPr>
        <p:spPr>
          <a:xfrm>
            <a:off x="4681728" y="538581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67,07</a:t>
            </a:r>
            <a:endParaRPr lang="en-US" sz="1190" dirty="0"/>
          </a:p>
        </p:txBody>
      </p:sp>
      <p:sp>
        <p:nvSpPr>
          <p:cNvPr id="58" name="Text 56"/>
          <p:cNvSpPr/>
          <p:nvPr/>
        </p:nvSpPr>
        <p:spPr>
          <a:xfrm>
            <a:off x="6291072" y="538581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67,73</a:t>
            </a:r>
            <a:endParaRPr lang="en-US" sz="1190" dirty="0"/>
          </a:p>
        </p:txBody>
      </p:sp>
      <p:sp>
        <p:nvSpPr>
          <p:cNvPr id="59" name="Text 57"/>
          <p:cNvSpPr/>
          <p:nvPr/>
        </p:nvSpPr>
        <p:spPr>
          <a:xfrm>
            <a:off x="502920" y="58795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 độ đo có KTC nằm trên 0. METEOR chưa có KTC.</a:t>
            </a:r>
            <a:endParaRPr lang="en-US" sz="1280" dirty="0"/>
          </a:p>
        </p:txBody>
      </p:sp>
      <p:sp>
        <p:nvSpPr>
          <p:cNvPr id="60" name="Shape 5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16/25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4.5. Đối chiếu với bốn mô hình định vị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 được tính lại bằng bốn mô hình định vị để kiểm tra độ ổn định của kết quả.</a:t>
            </a:r>
            <a:endParaRPr lang="en-US" sz="152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7680960" cy="51206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8132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2578608" y="148132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UGround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3995928" y="148132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UI-Venus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5413248" y="148132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Phi-Ground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6830568" y="148132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Phi-4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566928" y="19933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578608" y="199339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47,59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995928" y="199339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413248" y="199339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40,80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830568" y="199339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38,23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566928" y="2615184"/>
            <a:ext cx="76809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66928" y="26151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2578608" y="261518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3995928" y="261518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54,51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5413248" y="261518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46,96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830568" y="261518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44,63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566928" y="3236976"/>
            <a:ext cx="76809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566928" y="32369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2578608" y="323697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3995928" y="323697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56,06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5413248" y="323697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47,75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830568" y="323697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45,33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566928" y="3895344"/>
            <a:ext cx="76809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566928" y="389534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so với S1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2578608" y="389534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3995928" y="389534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5413248" y="389534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+0,78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6830568" y="389534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+0,69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502920" y="48920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6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KTC 95% của bốn mức tăng đều nằm trên 0.</a:t>
            </a:r>
            <a:endParaRPr lang="en-US" sz="1360" dirty="0"/>
          </a:p>
        </p:txBody>
      </p:sp>
      <p:sp>
        <p:nvSpPr>
          <p:cNvPr id="35" name="Shape 33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17/25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4.6. Lịch sử do mô hình tự sinh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3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lịch sử do chính mô hình sinh, GRPO-SPICE vẫn cao hơn S1.</a:t>
            </a:r>
            <a:endParaRPr lang="en-US" sz="1630" dirty="0"/>
          </a:p>
        </p:txBody>
      </p:sp>
      <p:sp>
        <p:nvSpPr>
          <p:cNvPr id="5" name="Shape 3"/>
          <p:cNvSpPr/>
          <p:nvPr/>
        </p:nvSpPr>
        <p:spPr>
          <a:xfrm>
            <a:off x="1051560" y="1627632"/>
            <a:ext cx="3017520" cy="18745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901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3317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54,96%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74920" y="1627632"/>
            <a:ext cx="3017520" cy="18745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1901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257800" y="23317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56,44%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005840" y="3977640"/>
            <a:ext cx="7132320" cy="93268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977640"/>
            <a:ext cx="6675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+1,48 điểm · KTC 95% từ +0,54 đến +2,43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53400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Mức tăng vẫn còn khi các bước trước do chính mô hình tạo ra, gần hơn với tình huống sử dụng thực tế.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18/25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4.7. Chuyển miền sang AitZ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AitZ là bộ dữ liệu giao diện khác, dùng để kiểm tra khả năng chuyển miền.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" y="149047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2898648" y="1563624"/>
            <a:ext cx="42885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98648" y="1563624"/>
            <a:ext cx="3698862" cy="256032"/>
          </a:xfrm>
          <a:prstGeom prst="round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33488" y="14813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34,50%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932688" y="2276856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2898648" y="2350008"/>
            <a:ext cx="42885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98648" y="2350008"/>
            <a:ext cx="4051594" cy="256032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3488" y="2267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37,79%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932688" y="30632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2898648" y="3136392"/>
            <a:ext cx="42885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8648" y="3136392"/>
            <a:ext cx="3996916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3488" y="30540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37,28%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960120" y="3931920"/>
            <a:ext cx="7223760" cy="42062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9319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246120" y="39319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Chênh lệch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5212080" y="393192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KTC 95%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960120" y="43525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S1 − Base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3246120" y="435254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+3,29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5212080" y="435254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KTC +1,51 đến +5,03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960120" y="4864608"/>
            <a:ext cx="72237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0120" y="486460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− baseline S1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3246120" y="486460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−0,51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5212080" y="486460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KTC −1,39 đến +0,36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502920" y="55321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vẫn cao hơn Base. GRPO-SPICE không khác rõ S1 về executability.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19/25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4.8. Ví dụ định tính</a:t>
            </a:r>
            <a:endParaRPr lang="en-US" sz="1820" dirty="0"/>
          </a:p>
        </p:txBody>
      </p:sp>
      <p:pic>
        <p:nvPicPr>
          <p:cNvPr id="4" name="Image 0" descr="/mnt/d/Master/Thesis/thesis/figures/fig_vidu_sp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68680"/>
            <a:ext cx="3886200" cy="44897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28032" y="98755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cần thực hiện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4983480" y="1389888"/>
            <a:ext cx="3310128" cy="65836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83480" y="1389888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Chạm nút “Not now”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28032" y="24688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983480" y="2816352"/>
            <a:ext cx="331012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2816352"/>
            <a:ext cx="33101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Gọi nhầm “Allow”</a:t>
            </a:r>
            <a:endParaRPr lang="en-US" sz="14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định vị sai phần tử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828032" y="404164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4983480" y="4389120"/>
            <a:ext cx="3310128" cy="84124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4389120"/>
            <a:ext cx="33101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Gọi đúng “Not now”</a:t>
            </a:r>
            <a:endParaRPr lang="en-US" sz="14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định vị đúng phần tử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559612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 minh họa trực tiếp ý nghĩa của executability: câu chuyển từ quy chiếu sai nút sang đúng nút cần chạm.</a:t>
            </a:r>
            <a:endParaRPr lang="en-US" sz="1380" dirty="0"/>
          </a:p>
        </p:txBody>
      </p:sp>
      <p:sp>
        <p:nvSpPr>
          <p:cNvPr id="15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20/25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4.9. Biến thiên giữa hai seed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cao hơn baseline S1 ở cả hai seed. Độ lớn mức tăng thay đổi theo seed.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572768"/>
            <a:ext cx="7763256" cy="51206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</a:t>
            </a:r>
            <a:endParaRPr lang="en-US" sz="1290" dirty="0"/>
          </a:p>
        </p:txBody>
      </p:sp>
      <p:sp>
        <p:nvSpPr>
          <p:cNvPr id="7" name="Text 5"/>
          <p:cNvSpPr/>
          <p:nvPr/>
        </p:nvSpPr>
        <p:spPr>
          <a:xfrm>
            <a:off x="3611880" y="15727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101</a:t>
            </a:r>
            <a:endParaRPr lang="en-US" sz="1290" dirty="0"/>
          </a:p>
        </p:txBody>
      </p:sp>
      <p:sp>
        <p:nvSpPr>
          <p:cNvPr id="8" name="Text 6"/>
          <p:cNvSpPr/>
          <p:nvPr/>
        </p:nvSpPr>
        <p:spPr>
          <a:xfrm>
            <a:off x="5184648" y="15727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202</a:t>
            </a:r>
            <a:endParaRPr lang="en-US" sz="1290" dirty="0"/>
          </a:p>
        </p:txBody>
      </p:sp>
      <p:sp>
        <p:nvSpPr>
          <p:cNvPr id="9" name="Text 7"/>
          <p:cNvSpPr/>
          <p:nvPr/>
        </p:nvSpPr>
        <p:spPr>
          <a:xfrm>
            <a:off x="6757416" y="15727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(202 − 101)</a:t>
            </a:r>
            <a:endParaRPr lang="en-US" sz="129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0848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84648" y="20848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59,62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57416" y="20848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+0,52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798064"/>
            <a:ext cx="7763256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22960" y="2798064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2798064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84648" y="2798064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59,94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57416" y="279806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−0,72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3511296"/>
            <a:ext cx="7763256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22960" y="351129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GRPO-SPICE − S1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3611880" y="3511296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5184648" y="3511296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+0,31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6757416" y="351129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1005840" y="4663440"/>
            <a:ext cx="7132320" cy="877824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5296" y="4663440"/>
            <a:ext cx="6693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3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hai seed đều cùng hướng so với baseline S1. Seed thứ hai cho mức tăng nhỏ hơn.</a:t>
            </a:r>
            <a:endParaRPr lang="en-US" sz="153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21/25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Kết luận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vi hiện tại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21208" y="1380744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43584"/>
            <a:ext cx="7927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 hiện tập trung vào các bước có thao tác chạm.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2093976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956816"/>
            <a:ext cx="7927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Thực nghiệm chính dùng AndroidControl tiếng Anh và Qwen2.5-VL-3B.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21208" y="280720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70048"/>
            <a:ext cx="7927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AitZ cho thấy lợi ích bổ sung của GRPO-SPICE giảm khi đổi miền.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mở rộng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21208" y="425196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114800"/>
            <a:ext cx="7927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rộng sang nhiều miền giao diện và dữ liệu tiếng Việt.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21208" y="518464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5047488"/>
            <a:ext cx="7927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rộng executability cho thao tác ngoài chạm và chuỗi nhiều màn hình.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22/25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5.1. Đóng góp chính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487168" cy="331012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pháp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2029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3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tạo phần lớn mức tăng. ACE tiếp tục cải thiện chất lượng câu.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3328416" y="1097280"/>
            <a:ext cx="2487168" cy="331012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65576" y="13716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Độ đo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57016" y="196596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3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 kiểm tra khả năng xác định đúng phần tử và đúng thao tác.</a:t>
            </a:r>
            <a:endParaRPr lang="en-US" sz="1530" dirty="0"/>
          </a:p>
        </p:txBody>
      </p:sp>
      <p:sp>
        <p:nvSpPr>
          <p:cNvPr id="10" name="Shape 8"/>
          <p:cNvSpPr/>
          <p:nvPr/>
        </p:nvSpPr>
        <p:spPr>
          <a:xfrm>
            <a:off x="6144768" y="1097280"/>
            <a:ext cx="2487168" cy="331012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1335024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3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Bằng chứng thực nghiệm</a:t>
            </a:r>
            <a:endParaRPr lang="en-US" sz="1630" dirty="0"/>
          </a:p>
        </p:txBody>
      </p:sp>
      <p:sp>
        <p:nvSpPr>
          <p:cNvPr id="12" name="Text 10"/>
          <p:cNvSpPr/>
          <p:nvPr/>
        </p:nvSpPr>
        <p:spPr>
          <a:xfrm>
            <a:off x="6373368" y="196596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được giữ khi đổi công cụ định vị, chạy lại mô hình, xét tác vụ mới và lịch sử tự sinh.</a:t>
            </a:r>
            <a:endParaRPr lang="en-US" sz="1510" dirty="0"/>
          </a:p>
        </p:txBody>
      </p:sp>
      <p:sp>
        <p:nvSpPr>
          <p:cNvPr id="13" name="Text 11"/>
          <p:cNvSpPr/>
          <p:nvPr/>
        </p:nvSpPr>
        <p:spPr>
          <a:xfrm>
            <a:off x="502920" y="495604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đóng góp chính: phương pháp, độ đo và bằng chứng thực nghiệm.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23/25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5.2. Kết luận chung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490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Tập kiểm chính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83280" y="960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+4,58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383280" y="1490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 vụ mới (ACU)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72200" y="960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+9,14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172200" y="1490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với 7B prompting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21208" y="301752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80360"/>
            <a:ext cx="7927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tăng +1,55 điểm trên tập kiểm chính và +4,58 điểm trên ACU.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1208" y="385876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21608"/>
            <a:ext cx="7927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 giữ executability ở 60,68% và tăng cả 7 chỉ số chất lượng câu.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21208" y="4700016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562856"/>
            <a:ext cx="7927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AitZ cho thấy lợi ích bổ sung của GRPO-SPICE giảm khi đổi miền.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5468112"/>
            <a:ext cx="7315200" cy="71323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5468112"/>
            <a:ext cx="6876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 thiết lập AndroidControl, GRPO-SPICE làm tăng đồng thời chất lượng câu và executability.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24/25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146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Trân trọng cảm ơn Quý thầy cô đã lắng nghe.</a:t>
            </a:r>
            <a:endParaRPr lang="en-US" sz="2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Định nghĩa executability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bước đúng khi đồng thời: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21208" y="150876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7927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Đúng loại thao tác.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1208" y="225856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21408"/>
            <a:ext cx="7927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mô tả thao tác theo nghĩa ngược.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1208" y="3008376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871216"/>
            <a:ext cx="7927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|px−gx| ≤ 0,14W và |py−gy| ≤ 0,14H.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1208" y="3758184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621024"/>
            <a:ext cx="7927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p nằm trong ô Voronoi của phần tử cần chạm.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02920" y="4800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 = số bước đúng / tổng số bước chạm.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Toàn bộ thước đo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7955280" cy="384048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04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046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8046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804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0760" y="804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 xuất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80467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651760" y="11887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47,59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3749040" y="11887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4846320" y="1188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6080760" y="1188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60,68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7315200" y="11887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+0,02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502920" y="1572768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502920" y="15727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Hộp phần tử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2651760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53,60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3749040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65,49</a:t>
            </a:r>
            <a:endParaRPr lang="en-US" sz="1170" dirty="0"/>
          </a:p>
        </p:txBody>
      </p:sp>
      <p:sp>
        <p:nvSpPr>
          <p:cNvPr id="21" name="Text 19"/>
          <p:cNvSpPr/>
          <p:nvPr/>
        </p:nvSpPr>
        <p:spPr>
          <a:xfrm>
            <a:off x="4846320" y="1572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67,02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6080760" y="1572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67,11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315200" y="157276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+0,09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502920" y="1956816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502920" y="19568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AitW đầy đủ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2651760" y="1956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63,39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3749040" y="1956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74,37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4846320" y="19568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76,25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6080760" y="19568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76,32</a:t>
            </a:r>
            <a:endParaRPr lang="en-US" sz="1170" dirty="0"/>
          </a:p>
        </p:txBody>
      </p:sp>
      <p:sp>
        <p:nvSpPr>
          <p:cNvPr id="30" name="Text 28"/>
          <p:cNvSpPr/>
          <p:nvPr/>
        </p:nvSpPr>
        <p:spPr>
          <a:xfrm>
            <a:off x="7315200" y="195681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+0,07</a:t>
            </a:r>
            <a:endParaRPr lang="en-US" sz="1170" dirty="0"/>
          </a:p>
        </p:txBody>
      </p:sp>
      <p:sp>
        <p:nvSpPr>
          <p:cNvPr id="31" name="Shape 29"/>
          <p:cNvSpPr/>
          <p:nvPr/>
        </p:nvSpPr>
        <p:spPr>
          <a:xfrm>
            <a:off x="502920" y="2340864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502920" y="23408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BLEU-4</a:t>
            </a:r>
            <a:endParaRPr lang="en-US" sz="1170" dirty="0"/>
          </a:p>
        </p:txBody>
      </p:sp>
      <p:sp>
        <p:nvSpPr>
          <p:cNvPr id="33" name="Text 31"/>
          <p:cNvSpPr/>
          <p:nvPr/>
        </p:nvSpPr>
        <p:spPr>
          <a:xfrm>
            <a:off x="2651760" y="23408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15,30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3749040" y="23408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51,56</a:t>
            </a:r>
            <a:endParaRPr lang="en-US" sz="1170" dirty="0"/>
          </a:p>
        </p:txBody>
      </p:sp>
      <p:sp>
        <p:nvSpPr>
          <p:cNvPr id="35" name="Text 33"/>
          <p:cNvSpPr/>
          <p:nvPr/>
        </p:nvSpPr>
        <p:spPr>
          <a:xfrm>
            <a:off x="4846320" y="23408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52,36</a:t>
            </a:r>
            <a:endParaRPr lang="en-US" sz="1170" dirty="0"/>
          </a:p>
        </p:txBody>
      </p:sp>
      <p:sp>
        <p:nvSpPr>
          <p:cNvPr id="36" name="Text 34"/>
          <p:cNvSpPr/>
          <p:nvPr/>
        </p:nvSpPr>
        <p:spPr>
          <a:xfrm>
            <a:off x="6080760" y="23408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53,47</a:t>
            </a:r>
            <a:endParaRPr lang="en-US" sz="1170" dirty="0"/>
          </a:p>
        </p:txBody>
      </p:sp>
      <p:sp>
        <p:nvSpPr>
          <p:cNvPr id="37" name="Text 35"/>
          <p:cNvSpPr/>
          <p:nvPr/>
        </p:nvSpPr>
        <p:spPr>
          <a:xfrm>
            <a:off x="7315200" y="234086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+1,11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502920" y="2724912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502920" y="27249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METEOR</a:t>
            </a:r>
            <a:endParaRPr lang="en-US" sz="1170" dirty="0"/>
          </a:p>
        </p:txBody>
      </p:sp>
      <p:sp>
        <p:nvSpPr>
          <p:cNvPr id="40" name="Text 38"/>
          <p:cNvSpPr/>
          <p:nvPr/>
        </p:nvSpPr>
        <p:spPr>
          <a:xfrm>
            <a:off x="2651760" y="27249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24,60</a:t>
            </a:r>
            <a:endParaRPr lang="en-US" sz="1170" dirty="0"/>
          </a:p>
        </p:txBody>
      </p:sp>
      <p:sp>
        <p:nvSpPr>
          <p:cNvPr id="41" name="Text 39"/>
          <p:cNvSpPr/>
          <p:nvPr/>
        </p:nvSpPr>
        <p:spPr>
          <a:xfrm>
            <a:off x="3749040" y="27249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36,79</a:t>
            </a:r>
            <a:endParaRPr lang="en-US" sz="1170" dirty="0"/>
          </a:p>
        </p:txBody>
      </p:sp>
      <p:sp>
        <p:nvSpPr>
          <p:cNvPr id="42" name="Text 40"/>
          <p:cNvSpPr/>
          <p:nvPr/>
        </p:nvSpPr>
        <p:spPr>
          <a:xfrm>
            <a:off x="4846320" y="27249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37,92</a:t>
            </a:r>
            <a:endParaRPr lang="en-US" sz="1170" dirty="0"/>
          </a:p>
        </p:txBody>
      </p:sp>
      <p:sp>
        <p:nvSpPr>
          <p:cNvPr id="43" name="Text 41"/>
          <p:cNvSpPr/>
          <p:nvPr/>
        </p:nvSpPr>
        <p:spPr>
          <a:xfrm>
            <a:off x="6080760" y="27249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38,37</a:t>
            </a:r>
            <a:endParaRPr lang="en-US" sz="1170" dirty="0"/>
          </a:p>
        </p:txBody>
      </p:sp>
      <p:sp>
        <p:nvSpPr>
          <p:cNvPr id="44" name="Text 42"/>
          <p:cNvSpPr/>
          <p:nvPr/>
        </p:nvSpPr>
        <p:spPr>
          <a:xfrm>
            <a:off x="7315200" y="27249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+0,45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502920" y="3108960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502920" y="31089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ROUGE-L</a:t>
            </a:r>
            <a:endParaRPr lang="en-US" sz="1170" dirty="0"/>
          </a:p>
        </p:txBody>
      </p:sp>
      <p:sp>
        <p:nvSpPr>
          <p:cNvPr id="47" name="Text 45"/>
          <p:cNvSpPr/>
          <p:nvPr/>
        </p:nvSpPr>
        <p:spPr>
          <a:xfrm>
            <a:off x="2651760" y="3108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42,30</a:t>
            </a:r>
            <a:endParaRPr lang="en-US" sz="1170" dirty="0"/>
          </a:p>
        </p:txBody>
      </p:sp>
      <p:sp>
        <p:nvSpPr>
          <p:cNvPr id="48" name="Text 46"/>
          <p:cNvSpPr/>
          <p:nvPr/>
        </p:nvSpPr>
        <p:spPr>
          <a:xfrm>
            <a:off x="3749040" y="3108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67,35</a:t>
            </a:r>
            <a:endParaRPr lang="en-US" sz="1170" dirty="0"/>
          </a:p>
        </p:txBody>
      </p:sp>
      <p:sp>
        <p:nvSpPr>
          <p:cNvPr id="49" name="Text 47"/>
          <p:cNvSpPr/>
          <p:nvPr/>
        </p:nvSpPr>
        <p:spPr>
          <a:xfrm>
            <a:off x="4846320" y="3108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68,36</a:t>
            </a:r>
            <a:endParaRPr lang="en-US" sz="1170" dirty="0"/>
          </a:p>
        </p:txBody>
      </p:sp>
      <p:sp>
        <p:nvSpPr>
          <p:cNvPr id="50" name="Text 48"/>
          <p:cNvSpPr/>
          <p:nvPr/>
        </p:nvSpPr>
        <p:spPr>
          <a:xfrm>
            <a:off x="6080760" y="3108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69,11</a:t>
            </a:r>
            <a:endParaRPr lang="en-US" sz="1170" dirty="0"/>
          </a:p>
        </p:txBody>
      </p:sp>
      <p:sp>
        <p:nvSpPr>
          <p:cNvPr id="51" name="Text 49"/>
          <p:cNvSpPr/>
          <p:nvPr/>
        </p:nvSpPr>
        <p:spPr>
          <a:xfrm>
            <a:off x="7315200" y="3108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+0,74</a:t>
            </a:r>
            <a:endParaRPr lang="en-US" sz="1170" dirty="0"/>
          </a:p>
        </p:txBody>
      </p:sp>
      <p:sp>
        <p:nvSpPr>
          <p:cNvPr id="52" name="Shape 50"/>
          <p:cNvSpPr/>
          <p:nvPr/>
        </p:nvSpPr>
        <p:spPr>
          <a:xfrm>
            <a:off x="502920" y="3493008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53" name="Text 51"/>
          <p:cNvSpPr/>
          <p:nvPr/>
        </p:nvSpPr>
        <p:spPr>
          <a:xfrm>
            <a:off x="502920" y="34930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CIDEr-D</a:t>
            </a:r>
            <a:endParaRPr lang="en-US" sz="1170" dirty="0"/>
          </a:p>
        </p:txBody>
      </p:sp>
      <p:sp>
        <p:nvSpPr>
          <p:cNvPr id="54" name="Text 52"/>
          <p:cNvSpPr/>
          <p:nvPr/>
        </p:nvSpPr>
        <p:spPr>
          <a:xfrm>
            <a:off x="2651760" y="3493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88,00</a:t>
            </a:r>
            <a:endParaRPr lang="en-US" sz="1170" dirty="0"/>
          </a:p>
        </p:txBody>
      </p:sp>
      <p:sp>
        <p:nvSpPr>
          <p:cNvPr id="55" name="Text 53"/>
          <p:cNvSpPr/>
          <p:nvPr/>
        </p:nvSpPr>
        <p:spPr>
          <a:xfrm>
            <a:off x="3749040" y="3493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416,12</a:t>
            </a:r>
            <a:endParaRPr lang="en-US" sz="1170" dirty="0"/>
          </a:p>
        </p:txBody>
      </p:sp>
      <p:sp>
        <p:nvSpPr>
          <p:cNvPr id="56" name="Text 54"/>
          <p:cNvSpPr/>
          <p:nvPr/>
        </p:nvSpPr>
        <p:spPr>
          <a:xfrm>
            <a:off x="4846320" y="34930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430,05</a:t>
            </a:r>
            <a:endParaRPr lang="en-US" sz="1170" dirty="0"/>
          </a:p>
        </p:txBody>
      </p:sp>
      <p:sp>
        <p:nvSpPr>
          <p:cNvPr id="57" name="Text 55"/>
          <p:cNvSpPr/>
          <p:nvPr/>
        </p:nvSpPr>
        <p:spPr>
          <a:xfrm>
            <a:off x="6080760" y="34930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442,02</a:t>
            </a:r>
            <a:endParaRPr lang="en-US" sz="1170" dirty="0"/>
          </a:p>
        </p:txBody>
      </p:sp>
      <p:sp>
        <p:nvSpPr>
          <p:cNvPr id="58" name="Text 56"/>
          <p:cNvSpPr/>
          <p:nvPr/>
        </p:nvSpPr>
        <p:spPr>
          <a:xfrm>
            <a:off x="7315200" y="349300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+11,97</a:t>
            </a:r>
            <a:endParaRPr lang="en-US" sz="1170" dirty="0"/>
          </a:p>
        </p:txBody>
      </p:sp>
      <p:sp>
        <p:nvSpPr>
          <p:cNvPr id="59" name="Shape 57"/>
          <p:cNvSpPr/>
          <p:nvPr/>
        </p:nvSpPr>
        <p:spPr>
          <a:xfrm>
            <a:off x="502920" y="3877056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60" name="Text 58"/>
          <p:cNvSpPr/>
          <p:nvPr/>
        </p:nvSpPr>
        <p:spPr>
          <a:xfrm>
            <a:off x="502920" y="38770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</a:t>
            </a:r>
            <a:endParaRPr lang="en-US" sz="1170" dirty="0"/>
          </a:p>
        </p:txBody>
      </p:sp>
      <p:sp>
        <p:nvSpPr>
          <p:cNvPr id="61" name="Text 59"/>
          <p:cNvSpPr/>
          <p:nvPr/>
        </p:nvSpPr>
        <p:spPr>
          <a:xfrm>
            <a:off x="2651760" y="38770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18,50</a:t>
            </a:r>
            <a:endParaRPr lang="en-US" sz="1170" dirty="0"/>
          </a:p>
        </p:txBody>
      </p:sp>
      <p:sp>
        <p:nvSpPr>
          <p:cNvPr id="62" name="Text 60"/>
          <p:cNvSpPr/>
          <p:nvPr/>
        </p:nvSpPr>
        <p:spPr>
          <a:xfrm>
            <a:off x="3749040" y="38770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44,37</a:t>
            </a:r>
            <a:endParaRPr lang="en-US" sz="1170" dirty="0"/>
          </a:p>
        </p:txBody>
      </p:sp>
      <p:sp>
        <p:nvSpPr>
          <p:cNvPr id="63" name="Text 61"/>
          <p:cNvSpPr/>
          <p:nvPr/>
        </p:nvSpPr>
        <p:spPr>
          <a:xfrm>
            <a:off x="4846320" y="38770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45,79</a:t>
            </a:r>
            <a:endParaRPr lang="en-US" sz="1170" dirty="0"/>
          </a:p>
        </p:txBody>
      </p:sp>
      <p:sp>
        <p:nvSpPr>
          <p:cNvPr id="64" name="Text 62"/>
          <p:cNvSpPr/>
          <p:nvPr/>
        </p:nvSpPr>
        <p:spPr>
          <a:xfrm>
            <a:off x="6080760" y="38770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47,13</a:t>
            </a:r>
            <a:endParaRPr lang="en-US" sz="1170" dirty="0"/>
          </a:p>
        </p:txBody>
      </p:sp>
      <p:sp>
        <p:nvSpPr>
          <p:cNvPr id="65" name="Text 63"/>
          <p:cNvSpPr/>
          <p:nvPr/>
        </p:nvSpPr>
        <p:spPr>
          <a:xfrm>
            <a:off x="7315200" y="387705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+1,33</a:t>
            </a:r>
            <a:endParaRPr lang="en-US" sz="1170" dirty="0"/>
          </a:p>
        </p:txBody>
      </p:sp>
      <p:sp>
        <p:nvSpPr>
          <p:cNvPr id="66" name="Shape 64"/>
          <p:cNvSpPr/>
          <p:nvPr/>
        </p:nvSpPr>
        <p:spPr>
          <a:xfrm>
            <a:off x="502920" y="4261104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67" name="Text 65"/>
          <p:cNvSpPr/>
          <p:nvPr/>
        </p:nvSpPr>
        <p:spPr>
          <a:xfrm>
            <a:off x="502920" y="426110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chrF</a:t>
            </a:r>
            <a:endParaRPr lang="en-US" sz="1170" dirty="0"/>
          </a:p>
        </p:txBody>
      </p:sp>
      <p:sp>
        <p:nvSpPr>
          <p:cNvPr id="68" name="Text 66"/>
          <p:cNvSpPr/>
          <p:nvPr/>
        </p:nvSpPr>
        <p:spPr>
          <a:xfrm>
            <a:off x="2651760" y="42611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40,20</a:t>
            </a:r>
            <a:endParaRPr lang="en-US" sz="1170" dirty="0"/>
          </a:p>
        </p:txBody>
      </p:sp>
      <p:sp>
        <p:nvSpPr>
          <p:cNvPr id="69" name="Text 67"/>
          <p:cNvSpPr/>
          <p:nvPr/>
        </p:nvSpPr>
        <p:spPr>
          <a:xfrm>
            <a:off x="3749040" y="42611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61,26</a:t>
            </a:r>
            <a:endParaRPr lang="en-US" sz="1170" dirty="0"/>
          </a:p>
        </p:txBody>
      </p:sp>
      <p:sp>
        <p:nvSpPr>
          <p:cNvPr id="70" name="Text 68"/>
          <p:cNvSpPr/>
          <p:nvPr/>
        </p:nvSpPr>
        <p:spPr>
          <a:xfrm>
            <a:off x="4846320" y="42611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62,87</a:t>
            </a:r>
            <a:endParaRPr lang="en-US" sz="1170" dirty="0"/>
          </a:p>
        </p:txBody>
      </p:sp>
      <p:sp>
        <p:nvSpPr>
          <p:cNvPr id="71" name="Text 69"/>
          <p:cNvSpPr/>
          <p:nvPr/>
        </p:nvSpPr>
        <p:spPr>
          <a:xfrm>
            <a:off x="6080760" y="42611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63,44</a:t>
            </a:r>
            <a:endParaRPr lang="en-US" sz="1170" dirty="0"/>
          </a:p>
        </p:txBody>
      </p:sp>
      <p:sp>
        <p:nvSpPr>
          <p:cNvPr id="72" name="Text 70"/>
          <p:cNvSpPr/>
          <p:nvPr/>
        </p:nvSpPr>
        <p:spPr>
          <a:xfrm>
            <a:off x="7315200" y="42611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+0,58</a:t>
            </a:r>
            <a:endParaRPr lang="en-US" sz="1170" dirty="0"/>
          </a:p>
        </p:txBody>
      </p:sp>
      <p:sp>
        <p:nvSpPr>
          <p:cNvPr id="73" name="Shape 71"/>
          <p:cNvSpPr/>
          <p:nvPr/>
        </p:nvSpPr>
        <p:spPr>
          <a:xfrm>
            <a:off x="502920" y="4645152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74" name="Text 72"/>
          <p:cNvSpPr/>
          <p:nvPr/>
        </p:nvSpPr>
        <p:spPr>
          <a:xfrm>
            <a:off x="502920" y="46451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BERTScore</a:t>
            </a:r>
            <a:endParaRPr lang="en-US" sz="1170" dirty="0"/>
          </a:p>
        </p:txBody>
      </p:sp>
      <p:sp>
        <p:nvSpPr>
          <p:cNvPr id="75" name="Text 73"/>
          <p:cNvSpPr/>
          <p:nvPr/>
        </p:nvSpPr>
        <p:spPr>
          <a:xfrm>
            <a:off x="2651760" y="4645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40,10</a:t>
            </a:r>
            <a:endParaRPr lang="en-US" sz="1170" dirty="0"/>
          </a:p>
        </p:txBody>
      </p:sp>
      <p:sp>
        <p:nvSpPr>
          <p:cNvPr id="76" name="Text 74"/>
          <p:cNvSpPr/>
          <p:nvPr/>
        </p:nvSpPr>
        <p:spPr>
          <a:xfrm>
            <a:off x="3749040" y="4645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66,33</a:t>
            </a:r>
            <a:endParaRPr lang="en-US" sz="1170" dirty="0"/>
          </a:p>
        </p:txBody>
      </p:sp>
      <p:sp>
        <p:nvSpPr>
          <p:cNvPr id="77" name="Text 75"/>
          <p:cNvSpPr/>
          <p:nvPr/>
        </p:nvSpPr>
        <p:spPr>
          <a:xfrm>
            <a:off x="4846320" y="46451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67,07</a:t>
            </a:r>
            <a:endParaRPr lang="en-US" sz="1170" dirty="0"/>
          </a:p>
        </p:txBody>
      </p:sp>
      <p:sp>
        <p:nvSpPr>
          <p:cNvPr id="78" name="Text 76"/>
          <p:cNvSpPr/>
          <p:nvPr/>
        </p:nvSpPr>
        <p:spPr>
          <a:xfrm>
            <a:off x="6080760" y="46451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67,73</a:t>
            </a:r>
            <a:endParaRPr lang="en-US" sz="1170" dirty="0"/>
          </a:p>
        </p:txBody>
      </p:sp>
      <p:sp>
        <p:nvSpPr>
          <p:cNvPr id="79" name="Text 77"/>
          <p:cNvSpPr/>
          <p:nvPr/>
        </p:nvSpPr>
        <p:spPr>
          <a:xfrm>
            <a:off x="7315200" y="464515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+0,66</a:t>
            </a:r>
            <a:endParaRPr lang="en-US" sz="1170" dirty="0"/>
          </a:p>
        </p:txBody>
      </p:sp>
      <p:sp>
        <p:nvSpPr>
          <p:cNvPr id="80" name="Shape 7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 chiếu bằng bốn công cụ đánh giá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− S1 trên cùng 4.463 bước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60120" y="1508760"/>
            <a:ext cx="6903720" cy="42062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087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cụ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150876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5087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KTC 95%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293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UGround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1929384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192938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+0,80 đến +2,33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2459736"/>
            <a:ext cx="6903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960120" y="245973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UI-Venus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245973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245973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+0,82 đến +2,30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2990088"/>
            <a:ext cx="6903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60120" y="29900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Phi-Ground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71800" y="299008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299008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+0,05 đến +1,51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" y="3520440"/>
            <a:ext cx="6903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60120" y="35204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Phi-4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71800" y="352044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+0,69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3520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+0,02 đến +1,40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bốn khoảng tin cậy đều nằm trên 0. Phi-Ground và Phi-4 nằm ngoài họ Qwen.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hình huấn luyện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8046720" cy="402336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Hạng mục</a:t>
            </a:r>
            <a:endParaRPr lang="en-US" sz="1270" dirty="0"/>
          </a:p>
        </p:txBody>
      </p:sp>
      <p:sp>
        <p:nvSpPr>
          <p:cNvPr id="6" name="Text 4"/>
          <p:cNvSpPr/>
          <p:nvPr/>
        </p:nvSpPr>
        <p:spPr>
          <a:xfrm>
            <a:off x="3246120" y="91440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 trị</a:t>
            </a:r>
            <a:endParaRPr lang="en-US" sz="1270" dirty="0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3246120" y="131673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Qwen2.5-VL-3B-Instruct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046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502920" y="17556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</a:t>
            </a:r>
            <a:endParaRPr lang="en-US" sz="1270" dirty="0"/>
          </a:p>
        </p:txBody>
      </p:sp>
      <p:sp>
        <p:nvSpPr>
          <p:cNvPr id="11" name="Text 9"/>
          <p:cNvSpPr/>
          <p:nvPr/>
        </p:nvSpPr>
        <p:spPr>
          <a:xfrm>
            <a:off x="3246120" y="175564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 NF4 4-bit, rank 8, alpha 16, dropout 0,05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8046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SFT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3246120" y="219456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epochs = 8.072 steps, batch hiệu dụng 16, LR 1e−4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8046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</a:t>
            </a:r>
            <a:endParaRPr lang="en-US" sz="1270" dirty="0"/>
          </a:p>
        </p:txBody>
      </p:sp>
      <p:sp>
        <p:nvSpPr>
          <p:cNvPr id="17" name="Text 15"/>
          <p:cNvSpPr/>
          <p:nvPr/>
        </p:nvSpPr>
        <p:spPr>
          <a:xfrm>
            <a:off x="3246120" y="2633472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samples/prompt, 500 updates, LR 1e−5, KL β 0,04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502920" y="3072384"/>
            <a:ext cx="8046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502920" y="30723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cứng</a:t>
            </a:r>
            <a:endParaRPr lang="en-US" sz="1270" dirty="0"/>
          </a:p>
        </p:txBody>
      </p:sp>
      <p:sp>
        <p:nvSpPr>
          <p:cNvPr id="20" name="Text 18"/>
          <p:cNvSpPr/>
          <p:nvPr/>
        </p:nvSpPr>
        <p:spPr>
          <a:xfrm>
            <a:off x="3246120" y="3072384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× A100, vision tower không cập nhật tham số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hướng đã khảo sát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42062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3017520" y="9601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Exec.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4114800" y="96012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Điều rút ra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502920" y="1380744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tả phần tử trước câu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3017520" y="138074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57,2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4114800" y="1380744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biểu diễn trung gian sai, câu cuối bị ảnh hưởng mạnh.</a:t>
            </a:r>
            <a:endParaRPr lang="en-US" sz="1210" dirty="0"/>
          </a:p>
        </p:txBody>
      </p:sp>
      <p:sp>
        <p:nvSpPr>
          <p:cNvPr id="11" name="Shape 9"/>
          <p:cNvSpPr/>
          <p:nvPr/>
        </p:nvSpPr>
        <p:spPr>
          <a:xfrm>
            <a:off x="502920" y="1965960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502920" y="1965960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MIN-DESC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3017520" y="196596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4114800" y="1965960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ưu tiên có đóng góp riêng +0,63 điểm so với học thêm có giám sát.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502920" y="2551176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02920" y="2551176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thưởng tọa độ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3017520" y="255117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60,1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4114800" y="2551176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Biểu diễn tọa độ tốt hơn nhưng thay đổi ở câu cuối nhỏ hơn.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502920" y="3136392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02920" y="3136392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ứng viên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3017520" y="313639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56,1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4114800" y="313639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thực sự chọn, chất lượng khá tốt. Vấn đề nằm ở quyết định từ chối chọn.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502920" y="3721608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02920" y="3721608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TAGE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3017520" y="372160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60,2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4114800" y="3721608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biên tập có ích khi vùng cắt đúng. Khâu chọn vùng còn là điểm cần cải thiện.</a:t>
            </a:r>
            <a:endParaRPr lang="en-US" sz="1210" dirty="0"/>
          </a:p>
        </p:txBody>
      </p:sp>
      <p:sp>
        <p:nvSpPr>
          <p:cNvPr id="27" name="Shape 25"/>
          <p:cNvSpPr/>
          <p:nvPr/>
        </p:nvSpPr>
        <p:spPr>
          <a:xfrm>
            <a:off x="502920" y="4892040"/>
            <a:ext cx="8138160" cy="71323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89204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hướng trung gian giúp xác định rằng tối ưu trực tiếp câu cuối phù hợp hơn với mục tiêu chính.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Phat sinh tu dong huong dan su dung phan mem dua tren LLM</dc:title>
  <dc:subject>Master thesis defense</dc:subject>
  <dc:creator>Le Doan Phuong Uyen</dc:creator>
  <cp:lastModifiedBy>Le Doan Phuong Uyen</cp:lastModifiedBy>
  <cp:revision>1</cp:revision>
  <dcterms:created xsi:type="dcterms:W3CDTF">2026-10-28T12:18:16Z</dcterms:created>
  <dcterms:modified xsi:type="dcterms:W3CDTF">2026-10-28T12:18:16Z</dcterms:modified>
</cp:coreProperties>
</file>