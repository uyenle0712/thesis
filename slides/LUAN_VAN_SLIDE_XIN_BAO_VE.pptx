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giây)
Em chào thầy. Hôm nay em báo cáo nội dung luận văn đã hoàn chỉnh: bài toán, thước đo, phương pháp đề xuất và kết quả. Phần trình bày khoảng mười lăm phút. Cuối buổi em xin ý kiến thầy về việc bảo vệ ở đợt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phút 15)
Câu sinh ra được đưa cho UGround, một mô hình định vị không biết đáp án. UGround trả về một điểm. Bước được tính đúng khi ba điều kiện cùng đạt: câu gọi đúng loại thao tác; điểm nằm trong dung sai 0,14 quanh điểm người dùng đã chạm; và điểm rơi vào ô Voronoi của điểm chạm, tức gần điểm chạm hơn mọi phần tử bấm được khác.
Điều kiện thứ ba để loại các câu chỉ sai nút bên cạnh: với những câu đó, luật dung sai đơn thuần vẫn cho điểm 84,3% số ca, còn Voronoi chỉ còn 2,8%.
Ví dụ bên phải là màn hình thật: câu của S1 dẫn tới đúng ô Birthday, câu của mô hình gốc dẫn sang ô Gender.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phút 15)
Đây là sơ đồ tổng quan. Điểm xuất phát là S1. Phương pháp cải thiện câu của S1 bằng hai cách bổ sung cho nhau.
Thành phần một cho S1 học tiếp bằng học tăng cường, thưởng là điểm SPICE. Kết quả là một mô hình viết một câu nháp cho mỗi bước.
Thành phần hai tên là ACE. Tập huấn luyện có hơn sáu mươi nghìn câu chuẩn, nhiều bước mới rất giống một bước cũ. ACE tìm bốn câu chuẩn của các bước giống nhất, cho một bộ sinh xem, rồi chỉ thay câu nháp bằng câu của bộ sinh khi câu ấy chép nguyên văn một câu ví dụ và cùng loại thao tác với câu nháp. Ở phần lớn các bước câu nháp vẫn được giữ.
Hai điều cần nhớ: không thành phần nào thấy câu chuẩn của bước đang xét, và mô hình định vị dùng chấm không tham gia vào huấn luyện hay chọn câu.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phút)
Học có giám sát dạy mô hình chép lại câu chuẩn, nhưng không cho biết trong những câu nó có thể viết, câu nào tốt hơn. Học tăng cường bổ sung điều đó, theo cách đã dùng trong sinh chú thích ảnh với CIDEr và SPIDEr.
Bốn bước: một, với mỗi bước mô hình viết tám câu khác nhau. Hai, mỗi câu được chấm SPICE so với câu chuẩn, trừ một khoản nhỏ nếu dài hơn câu chuẩn quá ba từ để mô hình không kể thêm chi tiết thừa. Ba, so điểm từng câu với trung bình của cả nhóm tám câu: cao hơn thì được khuyến khích. Bốn, cập nhật mô hình, có thêm một số hạng phạt độ lệch KL để mô hình không đi quá xa S1.
SPICE chấm theo đối tượng, thuộc tính, quan hệ nên hai câu cùng nói tới một nút vẫn được điểm cao dù khác từ. Ví dụ bên phải: S1 gọi nút Allow, mô hình học với thưởng SPICE gọi đúng nút Not Now.
Mô hình định vị dùng để chấm không có trong phần thưởng, nên thước vẫn độc lập với mục tiêu huấn luyện. Tiền lệ là SCST và SPIDEr trong chú thích ảnh; điểm em nhận là hẹp: áp dụng và đo cho bài toán này, không nhận mới ở thuật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phút)
Nhiều tác vụ trong bộ dữ liệu lặp lại với thay đổi nhỏ, ví dụ cùng một việc trên hai ứng dụng nhắn tin. Vì vậy câu chuẩn của một bước cũ đôi khi dùng được nguyên văn cho bước mới. Nhưng lúc nào cũng chép thì sai nhiều hơn đúng, nên ACE phải quyết định khi nào chép.
Với mỗi bước, ACE tìm bốn bước giống nhất trong tập huấn luyện, chỉ so bằng văn bản. Câu chuẩn của bốn bước ấy là bốn câu ví dụ. Bộ sinh nhận thêm khối ví dụ này. Luật đồng thuận chỉ thay câu nháp khi câu của bộ sinh chép nguyên văn một câu ví dụ và cùng loại thao tác với câu nháp.
Ví dụ một: nháp là "Click on the first image", bộ sinh chép "Select the second photo", cùng là chạm nên nhận, và câu này trùng câu chuẩn. Ví dụ hai: bộ sinh chép "Swipe up" nhưng nháp là thao tác chạm, nên giữ nháp, và nháp mới đúng.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phút)
Đây là các thước em dùng để đặt phương pháp cạnh S1. Nhóm trên là ba thước theo vị trí, đều do mô hình định vị chấm: executability, luật hộp phần tử gốc của AndroidControl và luật khoảng cách của AitW. Nhóm dưới là bảy thước so câu chữ với câu chuẩn mà các bài chú thích giao diện như Widget Captioning và Screen2Words vẫn dùng.
Trong ba cột này phương pháp đề xuất cao nhất ở mọi hàng. Điểm đáng nói: phần thưởng chỉ là SPICE nhưng mức tăng không dừng ở SPICE, và các thước vị trí dùng mô hình định vị không hề có trong phần thưởng cũng tăng.
Em xin khai thêm: với các mô hình chênh nhau dưới hai điểm executability, nhóm thước so câu có thể xếp thứ tự khác, nên phép so giữa các mô hình em vẫn đọc trên executability.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322164"/>
          </a:solidFill>
          <a:ln/>
        </p:spPr>
      </p:sp>
      <p:sp>
        <p:nvSpPr>
          <p:cNvPr id="3" name="Text 1"/>
          <p:cNvSpPr/>
          <p:nvPr/>
        </p:nvSpPr>
        <p:spPr>
          <a:xfrm>
            <a:off x="0" y="0"/>
            <a:ext cx="9144000"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ĐẠI HỌC QUỐC GIA TP. HỒ CHÍ MINH  -  TRƯỜNG ĐẠI HỌC KHOA HỌC TỰ NHIÊN</a:t>
            </a:r>
            <a:endParaRPr lang="en-US" sz="1400" dirty="0"/>
          </a:p>
        </p:txBody>
      </p:sp>
      <p:sp>
        <p:nvSpPr>
          <p:cNvPr id="4" name="Shape 2"/>
          <p:cNvSpPr/>
          <p:nvPr/>
        </p:nvSpPr>
        <p:spPr>
          <a:xfrm>
            <a:off x="731520" y="1097280"/>
            <a:ext cx="7680960" cy="2240280"/>
          </a:xfrm>
          <a:prstGeom prst="roundRect">
            <a:avLst>
              <a:gd name="adj" fmla="val 3673"/>
            </a:avLst>
          </a:prstGeom>
          <a:solidFill>
            <a:srgbClr val="322164"/>
          </a:solidFill>
          <a:ln/>
          <a:effectLst>
            <a:outerShdw sx="100000" sy="100000" kx="0" ky="0" algn="bl" rotWithShape="0" blurRad="63500" dist="31750" dir="2700000">
              <a:srgbClr val="8C8C99">
                <a:alpha val="45000"/>
              </a:srgbClr>
            </a:outerShdw>
          </a:effectLst>
        </p:spPr>
      </p:sp>
      <p:sp>
        <p:nvSpPr>
          <p:cNvPr id="5" name="Text 3"/>
          <p:cNvSpPr/>
          <p:nvPr/>
        </p:nvSpPr>
        <p:spPr>
          <a:xfrm>
            <a:off x="731520" y="1371600"/>
            <a:ext cx="7680960"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Cambria" pitchFamily="34" charset="0"/>
                <a:ea typeface="Cambria" pitchFamily="34" charset="-122"/>
                <a:cs typeface="Cambria" pitchFamily="34" charset="-120"/>
              </a:rPr>
              <a:t>Luận văn thạc sĩ  -  Ngành Trí tuệ nhân tạo</a:t>
            </a:r>
            <a:endParaRPr lang="en-US" sz="1500" dirty="0"/>
          </a:p>
        </p:txBody>
      </p:sp>
      <p:sp>
        <p:nvSpPr>
          <p:cNvPr id="6" name="Text 4"/>
          <p:cNvSpPr/>
          <p:nvPr/>
        </p:nvSpPr>
        <p:spPr>
          <a:xfrm>
            <a:off x="731520" y="1783080"/>
            <a:ext cx="7680960" cy="1463040"/>
          </a:xfrm>
          <a:prstGeom prst="rect">
            <a:avLst/>
          </a:prstGeom>
          <a:noFill/>
          <a:ln/>
        </p:spPr>
        <p:txBody>
          <a:bodyPr wrap="square" lIns="0" tIns="0" rIns="0" bIns="0" rtlCol="0" anchor="t"/>
          <a:lstStyle/>
          <a:p>
            <a:pPr algn="ctr" indent="0" marL="0">
              <a:lnSpc>
                <a:spcPct val="125000"/>
              </a:lnSpc>
              <a:buNone/>
            </a:pPr>
            <a:r>
              <a:rPr lang="en-US" sz="2100" b="1" dirty="0">
                <a:solidFill>
                  <a:srgbClr val="FFFFFF"/>
                </a:solidFill>
                <a:latin typeface="Cambria" pitchFamily="34" charset="0"/>
                <a:ea typeface="Cambria" pitchFamily="34" charset="-122"/>
                <a:cs typeface="Cambria" pitchFamily="34" charset="-120"/>
              </a:rPr>
              <a:t>PHÁT SINH TỰ ĐỘNG HƯỚNG DẪN SỬ DỤNG PHẦN MỀM</a:t>
            </a:r>
            <a:endParaRPr lang="en-US" sz="2100" dirty="0"/>
          </a:p>
          <a:p>
            <a:pPr algn="ctr" indent="0" marL="0">
              <a:lnSpc>
                <a:spcPct val="125000"/>
              </a:lnSpc>
              <a:buNone/>
            </a:pPr>
            <a:r>
              <a:rPr lang="en-US" sz="2100" b="1" dirty="0">
                <a:solidFill>
                  <a:srgbClr val="FFFFFF"/>
                </a:solidFill>
                <a:latin typeface="Cambria" pitchFamily="34" charset="0"/>
                <a:ea typeface="Cambria" pitchFamily="34" charset="-122"/>
                <a:cs typeface="Cambria" pitchFamily="34" charset="-120"/>
              </a:rPr>
              <a:t>DỰA TRÊN LLM TỪ CÁC TRƯỜNG HỢP SỬ DỤNG</a:t>
            </a:r>
            <a:endParaRPr lang="en-US" sz="2100" dirty="0"/>
          </a:p>
          <a:p>
            <a:pPr algn="ctr" indent="0" marL="0">
              <a:lnSpc>
                <a:spcPct val="125000"/>
              </a:lnSpc>
              <a:buNone/>
            </a:pPr>
            <a:r>
              <a:rPr lang="en-US" sz="2100" b="1" dirty="0">
                <a:solidFill>
                  <a:srgbClr val="FFFFFF"/>
                </a:solidFill>
                <a:latin typeface="Cambria" pitchFamily="34" charset="0"/>
                <a:ea typeface="Cambria" pitchFamily="34" charset="-122"/>
                <a:cs typeface="Cambria" pitchFamily="34" charset="-120"/>
              </a:rPr>
              <a:t>VÀ GIAO DIỆN NGƯỜI DÙNG</a:t>
            </a:r>
            <a:endParaRPr lang="en-US" sz="2100" dirty="0"/>
          </a:p>
        </p:txBody>
      </p:sp>
      <p:sp>
        <p:nvSpPr>
          <p:cNvPr id="7" name="Text 5"/>
          <p:cNvSpPr/>
          <p:nvPr/>
        </p:nvSpPr>
        <p:spPr>
          <a:xfrm>
            <a:off x="731520" y="3429000"/>
            <a:ext cx="7680960" cy="320040"/>
          </a:xfrm>
          <a:prstGeom prst="rect">
            <a:avLst/>
          </a:prstGeom>
          <a:noFill/>
          <a:ln/>
        </p:spPr>
        <p:txBody>
          <a:bodyPr wrap="square" lIns="0" tIns="0" rIns="0" bIns="0" rtlCol="0" anchor="t"/>
          <a:lstStyle/>
          <a:p>
            <a:pPr algn="ctr" indent="0" marL="0">
              <a:buNone/>
            </a:pPr>
            <a:r>
              <a:rPr lang="en-US" sz="1200" i="1" dirty="0">
                <a:solidFill>
                  <a:srgbClr val="5A5A66"/>
                </a:solidFill>
                <a:latin typeface="Cambria" pitchFamily="34" charset="0"/>
                <a:ea typeface="Cambria" pitchFamily="34" charset="-122"/>
                <a:cs typeface="Cambria" pitchFamily="34" charset="-120"/>
              </a:rPr>
              <a:t>LLM-Based Automatic Generation of Software User Guides from Use Cases and Front-End Structures</a:t>
            </a:r>
            <a:endParaRPr lang="en-US" sz="1200" dirty="0"/>
          </a:p>
        </p:txBody>
      </p:sp>
      <p:sp>
        <p:nvSpPr>
          <p:cNvPr id="8" name="Text 6"/>
          <p:cNvSpPr/>
          <p:nvPr/>
        </p:nvSpPr>
        <p:spPr>
          <a:xfrm>
            <a:off x="731520" y="3931920"/>
            <a:ext cx="7680960" cy="365760"/>
          </a:xfrm>
          <a:prstGeom prst="rect">
            <a:avLst/>
          </a:prstGeom>
          <a:noFill/>
          <a:ln/>
        </p:spPr>
        <p:txBody>
          <a:bodyPr wrap="square" lIns="0" tIns="0" rIns="0" bIns="0" rtlCol="0" anchor="t"/>
          <a:lstStyle/>
          <a:p>
            <a:pPr algn="ctr" indent="0" marL="0">
              <a:buNone/>
            </a:pPr>
            <a:r>
              <a:rPr lang="en-US" sz="1600" b="1" dirty="0">
                <a:solidFill>
                  <a:srgbClr val="006666"/>
                </a:solidFill>
                <a:latin typeface="Cambria" pitchFamily="34" charset="0"/>
                <a:ea typeface="Cambria" pitchFamily="34" charset="-122"/>
                <a:cs typeface="Cambria" pitchFamily="34" charset="-120"/>
              </a:rPr>
              <a:t>Báo cáo luận văn trước thầy hướng dẫn</a:t>
            </a:r>
            <a:endParaRPr lang="en-US" sz="1600" dirty="0"/>
          </a:p>
        </p:txBody>
      </p:sp>
      <p:sp>
        <p:nvSpPr>
          <p:cNvPr id="9" name="Text 7"/>
          <p:cNvSpPr/>
          <p:nvPr/>
        </p:nvSpPr>
        <p:spPr>
          <a:xfrm>
            <a:off x="731520" y="4434840"/>
            <a:ext cx="7680960" cy="365760"/>
          </a:xfrm>
          <a:prstGeom prst="rect">
            <a:avLst/>
          </a:prstGeom>
          <a:noFill/>
          <a:ln/>
        </p:spPr>
        <p:txBody>
          <a:bodyPr wrap="square" lIns="0" tIns="0" rIns="0" bIns="0" rtlCol="0" anchor="t"/>
          <a:lstStyle/>
          <a:p>
            <a:pPr algn="ctr" indent="0" marL="0">
              <a:buNone/>
            </a:pPr>
            <a:r>
              <a:rPr lang="en-US" sz="1500" b="1" dirty="0">
                <a:solidFill>
                  <a:srgbClr val="1A1A1A"/>
                </a:solidFill>
                <a:latin typeface="Cambria" pitchFamily="34" charset="0"/>
                <a:ea typeface="Cambria" pitchFamily="34" charset="-122"/>
                <a:cs typeface="Cambria" pitchFamily="34" charset="-120"/>
              </a:rPr>
              <a:t>Học viên thực hiện:   Lê Đoàn Phương Uyên</a:t>
            </a:r>
            <a:endParaRPr lang="en-US" sz="1500" dirty="0"/>
          </a:p>
        </p:txBody>
      </p:sp>
      <p:sp>
        <p:nvSpPr>
          <p:cNvPr id="10" name="Text 8"/>
          <p:cNvSpPr/>
          <p:nvPr/>
        </p:nvSpPr>
        <p:spPr>
          <a:xfrm>
            <a:off x="731520" y="4846320"/>
            <a:ext cx="7680960" cy="365760"/>
          </a:xfrm>
          <a:prstGeom prst="rect">
            <a:avLst/>
          </a:prstGeom>
          <a:noFill/>
          <a:ln/>
        </p:spPr>
        <p:txBody>
          <a:bodyPr wrap="square" lIns="0" tIns="0" rIns="0" bIns="0" rtlCol="0" anchor="t"/>
          <a:lstStyle/>
          <a:p>
            <a:pPr algn="ctr" indent="0" marL="0">
              <a:buNone/>
            </a:pPr>
            <a:r>
              <a:rPr lang="en-US" sz="1500" b="1" dirty="0">
                <a:solidFill>
                  <a:srgbClr val="1A1A1A"/>
                </a:solidFill>
                <a:latin typeface="Cambria" pitchFamily="34" charset="0"/>
                <a:ea typeface="Cambria" pitchFamily="34" charset="-122"/>
                <a:cs typeface="Cambria" pitchFamily="34" charset="-120"/>
              </a:rPr>
              <a:t>Giáo viên hướng dẫn:   TS. Nguyễn Hồng Bửu Long</a:t>
            </a:r>
            <a:endParaRPr lang="en-US" sz="1500" dirty="0"/>
          </a:p>
        </p:txBody>
      </p:sp>
      <p:sp>
        <p:nvSpPr>
          <p:cNvPr id="11" name="Text 9"/>
          <p:cNvSpPr/>
          <p:nvPr/>
        </p:nvSpPr>
        <p:spPr>
          <a:xfrm>
            <a:off x="731520" y="5532120"/>
            <a:ext cx="7680960" cy="320040"/>
          </a:xfrm>
          <a:prstGeom prst="rect">
            <a:avLst/>
          </a:prstGeom>
          <a:noFill/>
          <a:ln/>
        </p:spPr>
        <p:txBody>
          <a:bodyPr wrap="square" lIns="0" tIns="0" rIns="0" bIns="0" rtlCol="0" anchor="t"/>
          <a:lstStyle/>
          <a:p>
            <a:pPr algn="ctr" indent="0" marL="0">
              <a:buNone/>
            </a:pPr>
            <a:r>
              <a:rPr lang="en-US" sz="1200" dirty="0">
                <a:solidFill>
                  <a:srgbClr val="1A1A1A"/>
                </a:solidFill>
                <a:latin typeface="Cambria" pitchFamily="34" charset="0"/>
                <a:ea typeface="Cambria" pitchFamily="34" charset="-122"/>
                <a:cs typeface="Cambria" pitchFamily="34" charset="-120"/>
              </a:rPr>
              <a:t>TP. Hồ Chí Minh  -  Tháng 10 năm 2026</a:t>
            </a:r>
            <a:endParaRPr lang="en-US" sz="1200" dirty="0"/>
          </a:p>
        </p:txBody>
      </p:sp>
      <p:sp>
        <p:nvSpPr>
          <p:cNvPr id="13" name="Shape 10"/>
          <p:cNvSpPr/>
          <p:nvPr/>
        </p:nvSpPr>
        <p:spPr>
          <a:xfrm>
            <a:off x="0" y="6620256"/>
            <a:ext cx="2743200" cy="237744"/>
          </a:xfrm>
          <a:prstGeom prst="rect">
            <a:avLst/>
          </a:prstGeom>
          <a:solidFill>
            <a:srgbClr val="191132"/>
          </a:solidFill>
          <a:ln/>
        </p:spPr>
      </p:sp>
      <p:sp>
        <p:nvSpPr>
          <p:cNvPr id="14" name="Shape 11"/>
          <p:cNvSpPr/>
          <p:nvPr/>
        </p:nvSpPr>
        <p:spPr>
          <a:xfrm>
            <a:off x="2743200" y="6620256"/>
            <a:ext cx="3383280" cy="237744"/>
          </a:xfrm>
          <a:prstGeom prst="rect">
            <a:avLst/>
          </a:prstGeom>
          <a:solidFill>
            <a:srgbClr val="25194B"/>
          </a:solidFill>
          <a:ln/>
        </p:spPr>
      </p:sp>
      <p:sp>
        <p:nvSpPr>
          <p:cNvPr id="15" name="Shape 12"/>
          <p:cNvSpPr/>
          <p:nvPr/>
        </p:nvSpPr>
        <p:spPr>
          <a:xfrm>
            <a:off x="6126480" y="6620256"/>
            <a:ext cx="1737360" cy="237744"/>
          </a:xfrm>
          <a:prstGeom prst="rect">
            <a:avLst/>
          </a:prstGeom>
          <a:solidFill>
            <a:srgbClr val="4F417A"/>
          </a:solidFill>
          <a:ln/>
        </p:spPr>
      </p:sp>
      <p:sp>
        <p:nvSpPr>
          <p:cNvPr id="16" name="Shape 13"/>
          <p:cNvSpPr/>
          <p:nvPr/>
        </p:nvSpPr>
        <p:spPr>
          <a:xfrm>
            <a:off x="7863840" y="6620256"/>
            <a:ext cx="1280160" cy="237744"/>
          </a:xfrm>
          <a:prstGeom prst="rect">
            <a:avLst/>
          </a:prstGeom>
          <a:solidFill>
            <a:srgbClr val="7A7099"/>
          </a:solidFill>
          <a:ln/>
        </p:spPr>
      </p:sp>
      <p:sp>
        <p:nvSpPr>
          <p:cNvPr id="17" name="Text 1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8" name="Text 1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19" name="Text 1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0" name="Text 1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Thước đo executability</a:t>
            </a:r>
            <a:endParaRPr lang="en-US" sz="1900" dirty="0"/>
          </a:p>
        </p:txBody>
      </p:sp>
      <p:sp>
        <p:nvSpPr>
          <p:cNvPr id="4" name="Shape 2"/>
          <p:cNvSpPr/>
          <p:nvPr/>
        </p:nvSpPr>
        <p:spPr>
          <a:xfrm>
            <a:off x="457200" y="822960"/>
            <a:ext cx="1600200" cy="868680"/>
          </a:xfrm>
          <a:prstGeom prst="roundRect">
            <a:avLst>
              <a:gd name="adj" fmla="val 6316"/>
            </a:avLst>
          </a:prstGeom>
          <a:solidFill>
            <a:srgbClr val="FFFFFF"/>
          </a:solidFill>
          <a:ln w="15240">
            <a:solidFill>
              <a:srgbClr val="6E6890"/>
            </a:solidFill>
            <a:prstDash val="solid"/>
          </a:ln>
        </p:spPr>
      </p:sp>
      <p:sp>
        <p:nvSpPr>
          <p:cNvPr id="5" name="Text 3"/>
          <p:cNvSpPr/>
          <p:nvPr/>
        </p:nvSpPr>
        <p:spPr>
          <a:xfrm>
            <a:off x="457200" y="822960"/>
            <a:ext cx="1600200" cy="868680"/>
          </a:xfrm>
          <a:prstGeom prst="rect">
            <a:avLst/>
          </a:prstGeom>
          <a:noFill/>
          <a:ln/>
        </p:spPr>
        <p:txBody>
          <a:bodyPr wrap="square" lIns="38100" tIns="38100" rIns="38100" bIns="38100" rtlCol="0" anchor="ctr"/>
          <a:lstStyle/>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câu do mô hình</a:t>
            </a:r>
            <a:endParaRPr lang="en-US" sz="1150" dirty="0"/>
          </a:p>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sinh ra</a:t>
            </a:r>
            <a:endParaRPr lang="en-US" sz="1150" dirty="0"/>
          </a:p>
        </p:txBody>
      </p:sp>
      <p:sp>
        <p:nvSpPr>
          <p:cNvPr id="6" name="Shape 4"/>
          <p:cNvSpPr/>
          <p:nvPr/>
        </p:nvSpPr>
        <p:spPr>
          <a:xfrm>
            <a:off x="2103120" y="1257300"/>
            <a:ext cx="320040" cy="0"/>
          </a:xfrm>
          <a:prstGeom prst="line">
            <a:avLst/>
          </a:prstGeom>
          <a:noFill/>
          <a:ln w="25400">
            <a:solidFill>
              <a:srgbClr val="4F417A"/>
            </a:solidFill>
            <a:prstDash val="solid"/>
            <a:tailEnd type="triangle"/>
          </a:ln>
        </p:spPr>
      </p:sp>
      <p:sp>
        <p:nvSpPr>
          <p:cNvPr id="7" name="Shape 5"/>
          <p:cNvSpPr/>
          <p:nvPr/>
        </p:nvSpPr>
        <p:spPr>
          <a:xfrm>
            <a:off x="2468880" y="822960"/>
            <a:ext cx="1737360" cy="868680"/>
          </a:xfrm>
          <a:prstGeom prst="roundRect">
            <a:avLst>
              <a:gd name="adj" fmla="val 6316"/>
            </a:avLst>
          </a:prstGeom>
          <a:solidFill>
            <a:srgbClr val="EEEAF6"/>
          </a:solidFill>
          <a:ln w="15240">
            <a:solidFill>
              <a:srgbClr val="322164"/>
            </a:solidFill>
            <a:prstDash val="solid"/>
          </a:ln>
        </p:spPr>
      </p:sp>
      <p:sp>
        <p:nvSpPr>
          <p:cNvPr id="8" name="Text 6"/>
          <p:cNvSpPr/>
          <p:nvPr/>
        </p:nvSpPr>
        <p:spPr>
          <a:xfrm>
            <a:off x="2468880" y="822960"/>
            <a:ext cx="1737360" cy="86868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mô hình định vị</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UGround-V1-2B</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(không biết đáp án)</a:t>
            </a:r>
            <a:endParaRPr lang="en-US" sz="1050" dirty="0"/>
          </a:p>
        </p:txBody>
      </p:sp>
      <p:sp>
        <p:nvSpPr>
          <p:cNvPr id="9" name="Shape 7"/>
          <p:cNvSpPr/>
          <p:nvPr/>
        </p:nvSpPr>
        <p:spPr>
          <a:xfrm>
            <a:off x="4251960" y="1257300"/>
            <a:ext cx="320040" cy="0"/>
          </a:xfrm>
          <a:prstGeom prst="line">
            <a:avLst/>
          </a:prstGeom>
          <a:noFill/>
          <a:ln w="25400">
            <a:solidFill>
              <a:srgbClr val="4F417A"/>
            </a:solidFill>
            <a:prstDash val="solid"/>
            <a:tailEnd type="triangle"/>
          </a:ln>
        </p:spPr>
      </p:sp>
      <p:sp>
        <p:nvSpPr>
          <p:cNvPr id="10" name="Shape 8"/>
          <p:cNvSpPr/>
          <p:nvPr/>
        </p:nvSpPr>
        <p:spPr>
          <a:xfrm>
            <a:off x="4617720" y="822960"/>
            <a:ext cx="1143000" cy="868680"/>
          </a:xfrm>
          <a:prstGeom prst="roundRect">
            <a:avLst>
              <a:gd name="adj" fmla="val 6316"/>
            </a:avLst>
          </a:prstGeom>
          <a:solidFill>
            <a:srgbClr val="FFFFFF"/>
          </a:solidFill>
          <a:ln w="15240">
            <a:solidFill>
              <a:srgbClr val="6E6890"/>
            </a:solidFill>
            <a:prstDash val="solid"/>
          </a:ln>
        </p:spPr>
      </p:sp>
      <p:sp>
        <p:nvSpPr>
          <p:cNvPr id="11" name="Text 9"/>
          <p:cNvSpPr/>
          <p:nvPr/>
        </p:nvSpPr>
        <p:spPr>
          <a:xfrm>
            <a:off x="4617720" y="822960"/>
            <a:ext cx="1143000" cy="868680"/>
          </a:xfrm>
          <a:prstGeom prst="rect">
            <a:avLst/>
          </a:prstGeom>
          <a:noFill/>
          <a:ln/>
        </p:spPr>
        <p:txBody>
          <a:bodyPr wrap="square" lIns="38100" tIns="38100" rIns="38100" bIns="38100" rtlCol="0" anchor="ctr"/>
          <a:lstStyle/>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một điểm</a:t>
            </a:r>
            <a:endParaRPr lang="en-US" sz="1150" dirty="0"/>
          </a:p>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(x, y)</a:t>
            </a:r>
            <a:endParaRPr lang="en-US" sz="1150" dirty="0"/>
          </a:p>
        </p:txBody>
      </p:sp>
      <p:sp>
        <p:nvSpPr>
          <p:cNvPr id="12" name="Shape 10"/>
          <p:cNvSpPr/>
          <p:nvPr/>
        </p:nvSpPr>
        <p:spPr>
          <a:xfrm>
            <a:off x="457200" y="1965960"/>
            <a:ext cx="4846320" cy="2514600"/>
          </a:xfrm>
          <a:prstGeom prst="roundRect">
            <a:avLst>
              <a:gd name="adj" fmla="val 2182"/>
            </a:avLst>
          </a:prstGeom>
          <a:solidFill>
            <a:srgbClr val="E9E8EC"/>
          </a:solidFill>
          <a:ln/>
          <a:effectLst>
            <a:outerShdw sx="100000" sy="100000" kx="0" ky="0" algn="bl" rotWithShape="0" blurRad="63500" dist="31750" dir="2700000">
              <a:srgbClr val="8C8C99">
                <a:alpha val="45000"/>
              </a:srgbClr>
            </a:outerShdw>
          </a:effectLst>
        </p:spPr>
      </p:sp>
      <p:sp>
        <p:nvSpPr>
          <p:cNvPr id="13" name="Text 11"/>
          <p:cNvSpPr/>
          <p:nvPr/>
        </p:nvSpPr>
        <p:spPr>
          <a:xfrm>
            <a:off x="640080" y="2057400"/>
            <a:ext cx="4572000" cy="32004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Một bước được tính là đúng khi đồng thời</a:t>
            </a:r>
            <a:endParaRPr lang="en-US" sz="1350" dirty="0"/>
          </a:p>
        </p:txBody>
      </p:sp>
      <p:sp>
        <p:nvSpPr>
          <p:cNvPr id="14" name="Text 12"/>
          <p:cNvSpPr/>
          <p:nvPr/>
        </p:nvSpPr>
        <p:spPr>
          <a:xfrm>
            <a:off x="640080" y="2468880"/>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5" name="Text 13"/>
          <p:cNvSpPr/>
          <p:nvPr/>
        </p:nvSpPr>
        <p:spPr>
          <a:xfrm>
            <a:off x="868680" y="2468880"/>
            <a:ext cx="4297680" cy="603504"/>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câu gọi đúng loại thao tác (chạm, cuộn, gõ chữ, quay lại...);</a:t>
            </a:r>
            <a:endParaRPr lang="en-US" sz="1250" dirty="0"/>
          </a:p>
        </p:txBody>
      </p:sp>
      <p:sp>
        <p:nvSpPr>
          <p:cNvPr id="16" name="Text 14"/>
          <p:cNvSpPr/>
          <p:nvPr/>
        </p:nvSpPr>
        <p:spPr>
          <a:xfrm>
            <a:off x="640080" y="3090672"/>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7" name="Text 15"/>
          <p:cNvSpPr/>
          <p:nvPr/>
        </p:nvSpPr>
        <p:spPr>
          <a:xfrm>
            <a:off x="868680" y="3090672"/>
            <a:ext cx="4297680" cy="603504"/>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điểm nằm trong dung sai 0,14 bề rộng và bề cao màn quanh điểm người dùng đã chạm;</a:t>
            </a:r>
            <a:endParaRPr lang="en-US" sz="1250" dirty="0"/>
          </a:p>
        </p:txBody>
      </p:sp>
      <p:sp>
        <p:nvSpPr>
          <p:cNvPr id="18" name="Text 16"/>
          <p:cNvSpPr/>
          <p:nvPr/>
        </p:nvSpPr>
        <p:spPr>
          <a:xfrm>
            <a:off x="640080" y="3712464"/>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9" name="Text 17"/>
          <p:cNvSpPr/>
          <p:nvPr/>
        </p:nvSpPr>
        <p:spPr>
          <a:xfrm>
            <a:off x="868680" y="3712464"/>
            <a:ext cx="4297680" cy="603504"/>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điểm rơi vào ô Voronoi của điểm chạm, tức gần điểm chạm hơn mọi phần tử bấm được khác trên màn.</a:t>
            </a:r>
            <a:endParaRPr lang="en-US" sz="1250" dirty="0"/>
          </a:p>
        </p:txBody>
      </p:sp>
      <p:sp>
        <p:nvSpPr>
          <p:cNvPr id="20" name="Text 18"/>
          <p:cNvSpPr/>
          <p:nvPr/>
        </p:nvSpPr>
        <p:spPr>
          <a:xfrm>
            <a:off x="457200" y="4572000"/>
            <a:ext cx="4846320" cy="822960"/>
          </a:xfrm>
          <a:prstGeom prst="rect">
            <a:avLst/>
          </a:prstGeom>
          <a:noFill/>
          <a:ln/>
        </p:spPr>
        <p:txBody>
          <a:bodyPr wrap="square" lIns="0" tIns="0" rIns="0" bIns="0" rtlCol="0" anchor="t"/>
          <a:lstStyle/>
          <a:p>
            <a:pPr algn="l" indent="0" marL="0">
              <a:lnSpc>
                <a:spcPct val="120000"/>
              </a:lnSpc>
              <a:buNone/>
            </a:pPr>
            <a:r>
              <a:rPr lang="en-US" sz="1200" dirty="0">
                <a:solidFill>
                  <a:srgbClr val="1A1A1A"/>
                </a:solidFill>
                <a:latin typeface="Cambria" pitchFamily="34" charset="0"/>
                <a:ea typeface="Cambria" pitchFamily="34" charset="-122"/>
                <a:cs typeface="Cambria" pitchFamily="34" charset="-120"/>
              </a:rPr>
              <a:t>Tập kiểm: 6.958 bước, trong đó 4.463 bước chạm (1.432 tác vụ), không trùng tác vụ nào với tập dạy 64.567 bước. Điểm của một hệ thống là tỉ lệ bước đúng trên 4.463 bước chạm này.</a:t>
            </a:r>
            <a:endParaRPr lang="en-US" sz="1200" dirty="0"/>
          </a:p>
        </p:txBody>
      </p:sp>
      <p:sp>
        <p:nvSpPr>
          <p:cNvPr id="21" name="Text 19"/>
          <p:cNvSpPr/>
          <p:nvPr/>
        </p:nvSpPr>
        <p:spPr>
          <a:xfrm>
            <a:off x="457200" y="5257800"/>
            <a:ext cx="4846320" cy="548640"/>
          </a:xfrm>
          <a:prstGeom prst="rect">
            <a:avLst/>
          </a:prstGeom>
          <a:noFill/>
          <a:ln/>
        </p:spPr>
        <p:txBody>
          <a:bodyPr wrap="square" lIns="0" tIns="0" rIns="0" bIns="0" rtlCol="0" anchor="t"/>
          <a:lstStyle/>
          <a:p>
            <a:pPr algn="l" indent="0" marL="0">
              <a:lnSpc>
                <a:spcPct val="120000"/>
              </a:lnSpc>
              <a:buNone/>
            </a:pPr>
            <a:r>
              <a:rPr lang="en-US" sz="1250" i="1" dirty="0">
                <a:solidFill>
                  <a:srgbClr val="5A5A66"/>
                </a:solidFill>
                <a:latin typeface="Cambria" pitchFamily="34" charset="0"/>
                <a:ea typeface="Cambria" pitchFamily="34" charset="-122"/>
                <a:cs typeface="Cambria" pitchFamily="34" charset="-120"/>
              </a:rPr>
              <a:t>Mô hình định vị không nằm trong vòng huấn luyện của bất kỳ nhánh nào.</a:t>
            </a:r>
            <a:endParaRPr lang="en-US" sz="1250" dirty="0"/>
          </a:p>
        </p:txBody>
      </p:sp>
      <p:pic>
        <p:nvPicPr>
          <p:cNvPr id="22" name="Image 0" descr="/mnt/d/Master/Thesis/thesis/figures/fig_voronoi.png">    </p:cNvPr>
          <p:cNvPicPr>
            <a:picLocks noChangeAspect="1"/>
          </p:cNvPicPr>
          <p:nvPr/>
        </p:nvPicPr>
        <p:blipFill>
          <a:blip r:embed="rId1"/>
          <a:stretch>
            <a:fillRect/>
          </a:stretch>
        </p:blipFill>
        <p:spPr>
          <a:xfrm>
            <a:off x="5486400" y="2058247"/>
            <a:ext cx="3200400" cy="2192867"/>
          </a:xfrm>
          <a:prstGeom prst="rect">
            <a:avLst/>
          </a:prstGeom>
        </p:spPr>
      </p:pic>
      <p:sp>
        <p:nvSpPr>
          <p:cNvPr id="23" name="Text 20"/>
          <p:cNvSpPr/>
          <p:nvPr/>
        </p:nvSpPr>
        <p:spPr>
          <a:xfrm>
            <a:off x="5486400" y="4480560"/>
            <a:ext cx="3246120" cy="1097280"/>
          </a:xfrm>
          <a:prstGeom prst="rect">
            <a:avLst/>
          </a:prstGeom>
          <a:noFill/>
          <a:ln/>
        </p:spPr>
        <p:txBody>
          <a:bodyPr wrap="square" lIns="0" tIns="0" rIns="0" bIns="0" rtlCol="0" anchor="t"/>
          <a:lstStyle/>
          <a:p>
            <a:pPr algn="l" indent="0" marL="0">
              <a:lnSpc>
                <a:spcPct val="120000"/>
              </a:lnSpc>
              <a:buNone/>
            </a:pPr>
            <a:r>
              <a:rPr lang="en-US" sz="1050" i="1" dirty="0">
                <a:solidFill>
                  <a:srgbClr val="5A5A66"/>
                </a:solidFill>
                <a:latin typeface="Cambria" pitchFamily="34" charset="0"/>
                <a:ea typeface="Cambria" pitchFamily="34" charset="-122"/>
                <a:cs typeface="Cambria" pitchFamily="34" charset="-120"/>
              </a:rPr>
              <a:t>Màn hình thật trong tập kiểm. Câu của S1 dẫn tới đúng ô Birthday, câu của mô hình gốc dẫn sang ô Gender ngay phía trên.</a:t>
            </a:r>
            <a:endParaRPr lang="en-US" sz="1050" dirty="0"/>
          </a:p>
        </p:txBody>
      </p:sp>
      <p:sp>
        <p:nvSpPr>
          <p:cNvPr id="25" name="Shape 21"/>
          <p:cNvSpPr/>
          <p:nvPr/>
        </p:nvSpPr>
        <p:spPr>
          <a:xfrm>
            <a:off x="0" y="6620256"/>
            <a:ext cx="2743200" cy="237744"/>
          </a:xfrm>
          <a:prstGeom prst="rect">
            <a:avLst/>
          </a:prstGeom>
          <a:solidFill>
            <a:srgbClr val="191132"/>
          </a:solidFill>
          <a:ln/>
        </p:spPr>
      </p:sp>
      <p:sp>
        <p:nvSpPr>
          <p:cNvPr id="26" name="Shape 22"/>
          <p:cNvSpPr/>
          <p:nvPr/>
        </p:nvSpPr>
        <p:spPr>
          <a:xfrm>
            <a:off x="2743200" y="6620256"/>
            <a:ext cx="3383280" cy="237744"/>
          </a:xfrm>
          <a:prstGeom prst="rect">
            <a:avLst/>
          </a:prstGeom>
          <a:solidFill>
            <a:srgbClr val="25194B"/>
          </a:solidFill>
          <a:ln/>
        </p:spPr>
      </p:sp>
      <p:sp>
        <p:nvSpPr>
          <p:cNvPr id="27" name="Shape 23"/>
          <p:cNvSpPr/>
          <p:nvPr/>
        </p:nvSpPr>
        <p:spPr>
          <a:xfrm>
            <a:off x="6126480" y="6620256"/>
            <a:ext cx="1737360" cy="237744"/>
          </a:xfrm>
          <a:prstGeom prst="rect">
            <a:avLst/>
          </a:prstGeom>
          <a:solidFill>
            <a:srgbClr val="4F417A"/>
          </a:solidFill>
          <a:ln/>
        </p:spPr>
      </p:sp>
      <p:sp>
        <p:nvSpPr>
          <p:cNvPr id="28" name="Shape 24"/>
          <p:cNvSpPr/>
          <p:nvPr/>
        </p:nvSpPr>
        <p:spPr>
          <a:xfrm>
            <a:off x="7863840" y="6620256"/>
            <a:ext cx="1280160" cy="237744"/>
          </a:xfrm>
          <a:prstGeom prst="rect">
            <a:avLst/>
          </a:prstGeom>
          <a:solidFill>
            <a:srgbClr val="7A7099"/>
          </a:solidFill>
          <a:ln/>
        </p:spPr>
      </p:sp>
      <p:sp>
        <p:nvSpPr>
          <p:cNvPr id="29" name="Text 2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0" name="Text 2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1" name="Text 2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2" name="Text 2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Phương pháp đề xuất: hai thành phần nối tiếp</a:t>
            </a:r>
            <a:endParaRPr lang="en-US" sz="1900" dirty="0"/>
          </a:p>
        </p:txBody>
      </p:sp>
      <p:sp>
        <p:nvSpPr>
          <p:cNvPr id="4" name="Shape 2"/>
          <p:cNvSpPr/>
          <p:nvPr/>
        </p:nvSpPr>
        <p:spPr>
          <a:xfrm>
            <a:off x="457200" y="868680"/>
            <a:ext cx="1920240" cy="1005840"/>
          </a:xfrm>
          <a:prstGeom prst="roundRect">
            <a:avLst>
              <a:gd name="adj" fmla="val 5455"/>
            </a:avLst>
          </a:prstGeom>
          <a:solidFill>
            <a:srgbClr val="FFFFFF"/>
          </a:solidFill>
          <a:ln w="15240">
            <a:solidFill>
              <a:srgbClr val="6E6890"/>
            </a:solidFill>
            <a:prstDash val="solid"/>
          </a:ln>
        </p:spPr>
      </p:sp>
      <p:sp>
        <p:nvSpPr>
          <p:cNvPr id="5" name="Text 3"/>
          <p:cNvSpPr/>
          <p:nvPr/>
        </p:nvSpPr>
        <p:spPr>
          <a:xfrm>
            <a:off x="457200" y="868680"/>
            <a:ext cx="1920240" cy="100584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đầu vào của bước:</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ảnh, mục tiêu,</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lịch sử, chữ OCR</a:t>
            </a:r>
            <a:endParaRPr lang="en-US" sz="1050" dirty="0"/>
          </a:p>
        </p:txBody>
      </p:sp>
      <p:sp>
        <p:nvSpPr>
          <p:cNvPr id="6" name="Shape 4"/>
          <p:cNvSpPr/>
          <p:nvPr/>
        </p:nvSpPr>
        <p:spPr>
          <a:xfrm>
            <a:off x="2395728" y="1371600"/>
            <a:ext cx="274320" cy="0"/>
          </a:xfrm>
          <a:prstGeom prst="line">
            <a:avLst/>
          </a:prstGeom>
          <a:noFill/>
          <a:ln w="25400">
            <a:solidFill>
              <a:srgbClr val="4F417A"/>
            </a:solidFill>
            <a:prstDash val="solid"/>
            <a:tailEnd type="triangle"/>
          </a:ln>
        </p:spPr>
      </p:sp>
      <p:sp>
        <p:nvSpPr>
          <p:cNvPr id="7" name="Shape 5"/>
          <p:cNvSpPr/>
          <p:nvPr/>
        </p:nvSpPr>
        <p:spPr>
          <a:xfrm>
            <a:off x="2697480" y="868680"/>
            <a:ext cx="2103120" cy="1005840"/>
          </a:xfrm>
          <a:prstGeom prst="roundRect">
            <a:avLst>
              <a:gd name="adj" fmla="val 5455"/>
            </a:avLst>
          </a:prstGeom>
          <a:solidFill>
            <a:srgbClr val="EEEAF6"/>
          </a:solidFill>
          <a:ln w="20320">
            <a:solidFill>
              <a:srgbClr val="322164"/>
            </a:solidFill>
            <a:prstDash val="solid"/>
          </a:ln>
        </p:spPr>
      </p:sp>
      <p:sp>
        <p:nvSpPr>
          <p:cNvPr id="8" name="Text 6"/>
          <p:cNvSpPr/>
          <p:nvPr/>
        </p:nvSpPr>
        <p:spPr>
          <a:xfrm>
            <a:off x="2697480" y="868680"/>
            <a:ext cx="2103120" cy="1005840"/>
          </a:xfrm>
          <a:prstGeom prst="rect">
            <a:avLst/>
          </a:prstGeom>
          <a:noFill/>
          <a:ln/>
        </p:spPr>
        <p:txBody>
          <a:bodyPr wrap="square" lIns="38100" tIns="38100" rIns="38100" bIns="38100" rtlCol="0" anchor="ctr"/>
          <a:lstStyle/>
          <a:p>
            <a:pPr algn="ctr" indent="0" marL="0">
              <a:lnSpc>
                <a:spcPct val="115000"/>
              </a:lnSpc>
              <a:buNone/>
            </a:pPr>
            <a:r>
              <a:rPr lang="en-US" sz="1050" b="1" dirty="0">
                <a:solidFill>
                  <a:srgbClr val="1A1A1A"/>
                </a:solidFill>
                <a:latin typeface="Cambria" pitchFamily="34" charset="0"/>
                <a:ea typeface="Cambria" pitchFamily="34" charset="-122"/>
                <a:cs typeface="Cambria" pitchFamily="34" charset="-120"/>
              </a:rPr>
              <a:t>Thành phần 1</a:t>
            </a:r>
            <a:endParaRPr lang="en-US" sz="1050" dirty="0"/>
          </a:p>
          <a:p>
            <a:pPr algn="ctr" indent="0" marL="0">
              <a:lnSpc>
                <a:spcPct val="115000"/>
              </a:lnSpc>
              <a:buNone/>
            </a:pPr>
            <a:r>
              <a:rPr lang="en-US" sz="1050" b="1" dirty="0">
                <a:solidFill>
                  <a:srgbClr val="1A1A1A"/>
                </a:solidFill>
                <a:latin typeface="Cambria" pitchFamily="34" charset="0"/>
                <a:ea typeface="Cambria" pitchFamily="34" charset="-122"/>
                <a:cs typeface="Cambria" pitchFamily="34" charset="-120"/>
              </a:rPr>
              <a:t>S1 học tiếp bằng</a:t>
            </a:r>
            <a:endParaRPr lang="en-US" sz="1050" dirty="0"/>
          </a:p>
          <a:p>
            <a:pPr algn="ctr" indent="0" marL="0">
              <a:lnSpc>
                <a:spcPct val="115000"/>
              </a:lnSpc>
              <a:buNone/>
            </a:pPr>
            <a:r>
              <a:rPr lang="en-US" sz="1050" b="1" dirty="0">
                <a:solidFill>
                  <a:srgbClr val="1A1A1A"/>
                </a:solidFill>
                <a:latin typeface="Cambria" pitchFamily="34" charset="0"/>
                <a:ea typeface="Cambria" pitchFamily="34" charset="-122"/>
                <a:cs typeface="Cambria" pitchFamily="34" charset="-120"/>
              </a:rPr>
              <a:t>học tăng cường, thưởng SPICE</a:t>
            </a:r>
            <a:endParaRPr lang="en-US" sz="1050" dirty="0"/>
          </a:p>
        </p:txBody>
      </p:sp>
      <p:sp>
        <p:nvSpPr>
          <p:cNvPr id="9" name="Shape 7"/>
          <p:cNvSpPr/>
          <p:nvPr/>
        </p:nvSpPr>
        <p:spPr>
          <a:xfrm>
            <a:off x="4818888" y="1371600"/>
            <a:ext cx="137160" cy="0"/>
          </a:xfrm>
          <a:prstGeom prst="line">
            <a:avLst/>
          </a:prstGeom>
          <a:noFill/>
          <a:ln w="25400">
            <a:solidFill>
              <a:srgbClr val="4F417A"/>
            </a:solidFill>
            <a:prstDash val="solid"/>
            <a:tailEnd type="triangle"/>
          </a:ln>
        </p:spPr>
      </p:sp>
      <p:sp>
        <p:nvSpPr>
          <p:cNvPr id="10" name="Shape 8"/>
          <p:cNvSpPr/>
          <p:nvPr/>
        </p:nvSpPr>
        <p:spPr>
          <a:xfrm>
            <a:off x="5029200" y="868680"/>
            <a:ext cx="2103120" cy="1005840"/>
          </a:xfrm>
          <a:prstGeom prst="roundRect">
            <a:avLst>
              <a:gd name="adj" fmla="val 5455"/>
            </a:avLst>
          </a:prstGeom>
          <a:solidFill>
            <a:srgbClr val="FFFFFF"/>
          </a:solidFill>
          <a:ln w="15240">
            <a:solidFill>
              <a:srgbClr val="6E6890"/>
            </a:solidFill>
            <a:prstDash val="solid"/>
          </a:ln>
        </p:spPr>
      </p:sp>
      <p:sp>
        <p:nvSpPr>
          <p:cNvPr id="11" name="Text 9"/>
          <p:cNvSpPr/>
          <p:nvPr/>
        </p:nvSpPr>
        <p:spPr>
          <a:xfrm>
            <a:off x="5029200" y="868680"/>
            <a:ext cx="2103120" cy="1005840"/>
          </a:xfrm>
          <a:prstGeom prst="rect">
            <a:avLst/>
          </a:prstGeom>
          <a:noFill/>
          <a:ln/>
        </p:spPr>
        <p:txBody>
          <a:bodyPr wrap="square" lIns="38100" tIns="38100" rIns="38100" bIns="38100" rtlCol="0" anchor="ctr"/>
          <a:lstStyle/>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câu nháp</a:t>
            </a:r>
            <a:endParaRPr lang="en-US" sz="1150" dirty="0"/>
          </a:p>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(giải mã tham lam)</a:t>
            </a:r>
            <a:endParaRPr lang="en-US" sz="1150" dirty="0"/>
          </a:p>
        </p:txBody>
      </p:sp>
      <p:sp>
        <p:nvSpPr>
          <p:cNvPr id="12" name="Shape 10"/>
          <p:cNvSpPr/>
          <p:nvPr/>
        </p:nvSpPr>
        <p:spPr>
          <a:xfrm>
            <a:off x="457200" y="2606040"/>
            <a:ext cx="1920240" cy="1005840"/>
          </a:xfrm>
          <a:prstGeom prst="roundRect">
            <a:avLst>
              <a:gd name="adj" fmla="val 5455"/>
            </a:avLst>
          </a:prstGeom>
          <a:solidFill>
            <a:srgbClr val="FFFFFF"/>
          </a:solidFill>
          <a:ln w="15240">
            <a:solidFill>
              <a:srgbClr val="6E6890"/>
            </a:solidFill>
            <a:prstDash val="solid"/>
          </a:ln>
        </p:spPr>
      </p:sp>
      <p:sp>
        <p:nvSpPr>
          <p:cNvPr id="13" name="Text 11"/>
          <p:cNvSpPr/>
          <p:nvPr/>
        </p:nvSpPr>
        <p:spPr>
          <a:xfrm>
            <a:off x="457200" y="2606040"/>
            <a:ext cx="1920240" cy="100584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tìm 4 câu chuẩn của</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các bước giống nhất</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trong tập dạy</a:t>
            </a:r>
            <a:endParaRPr lang="en-US" sz="1050" dirty="0"/>
          </a:p>
        </p:txBody>
      </p:sp>
      <p:sp>
        <p:nvSpPr>
          <p:cNvPr id="14" name="Shape 12"/>
          <p:cNvSpPr/>
          <p:nvPr/>
        </p:nvSpPr>
        <p:spPr>
          <a:xfrm>
            <a:off x="2395728" y="3108960"/>
            <a:ext cx="274320" cy="0"/>
          </a:xfrm>
          <a:prstGeom prst="line">
            <a:avLst/>
          </a:prstGeom>
          <a:noFill/>
          <a:ln w="25400">
            <a:solidFill>
              <a:srgbClr val="4F417A"/>
            </a:solidFill>
            <a:prstDash val="solid"/>
            <a:tailEnd type="triangle"/>
          </a:ln>
        </p:spPr>
      </p:sp>
      <p:sp>
        <p:nvSpPr>
          <p:cNvPr id="15" name="Shape 13"/>
          <p:cNvSpPr/>
          <p:nvPr/>
        </p:nvSpPr>
        <p:spPr>
          <a:xfrm>
            <a:off x="2697480" y="2606040"/>
            <a:ext cx="2103120" cy="1005840"/>
          </a:xfrm>
          <a:prstGeom prst="roundRect">
            <a:avLst>
              <a:gd name="adj" fmla="val 5455"/>
            </a:avLst>
          </a:prstGeom>
          <a:solidFill>
            <a:srgbClr val="EEEAF6"/>
          </a:solidFill>
          <a:ln w="20320">
            <a:solidFill>
              <a:srgbClr val="322164"/>
            </a:solidFill>
            <a:prstDash val="solid"/>
          </a:ln>
        </p:spPr>
      </p:sp>
      <p:sp>
        <p:nvSpPr>
          <p:cNvPr id="16" name="Text 14"/>
          <p:cNvSpPr/>
          <p:nvPr/>
        </p:nvSpPr>
        <p:spPr>
          <a:xfrm>
            <a:off x="2697480" y="2606040"/>
            <a:ext cx="2103120" cy="1005840"/>
          </a:xfrm>
          <a:prstGeom prst="rect">
            <a:avLst/>
          </a:prstGeom>
          <a:noFill/>
          <a:ln/>
        </p:spPr>
        <p:txBody>
          <a:bodyPr wrap="square" lIns="38100" tIns="38100" rIns="38100" bIns="38100" rtlCol="0" anchor="ctr"/>
          <a:lstStyle/>
          <a:p>
            <a:pPr algn="ctr" indent="0" marL="0">
              <a:lnSpc>
                <a:spcPct val="115000"/>
              </a:lnSpc>
              <a:buNone/>
            </a:pPr>
            <a:r>
              <a:rPr lang="en-US" sz="1050" b="1" dirty="0">
                <a:solidFill>
                  <a:srgbClr val="1A1A1A"/>
                </a:solidFill>
                <a:latin typeface="Cambria" pitchFamily="34" charset="0"/>
                <a:ea typeface="Cambria" pitchFamily="34" charset="-122"/>
                <a:cs typeface="Cambria" pitchFamily="34" charset="-120"/>
              </a:rPr>
              <a:t>Thành phần 2 (ACE)</a:t>
            </a:r>
            <a:endParaRPr lang="en-US" sz="1050" dirty="0"/>
          </a:p>
          <a:p>
            <a:pPr algn="ctr" indent="0" marL="0">
              <a:lnSpc>
                <a:spcPct val="115000"/>
              </a:lnSpc>
              <a:buNone/>
            </a:pPr>
            <a:r>
              <a:rPr lang="en-US" sz="1050" b="1" dirty="0">
                <a:solidFill>
                  <a:srgbClr val="1A1A1A"/>
                </a:solidFill>
                <a:latin typeface="Cambria" pitchFamily="34" charset="0"/>
                <a:ea typeface="Cambria" pitchFamily="34" charset="-122"/>
                <a:cs typeface="Cambria" pitchFamily="34" charset="-120"/>
              </a:rPr>
              <a:t>bộ sinh xem 4 câu ví dụ,</a:t>
            </a:r>
            <a:endParaRPr lang="en-US" sz="1050" dirty="0"/>
          </a:p>
          <a:p>
            <a:pPr algn="ctr" indent="0" marL="0">
              <a:lnSpc>
                <a:spcPct val="115000"/>
              </a:lnSpc>
              <a:buNone/>
            </a:pPr>
            <a:r>
              <a:rPr lang="en-US" sz="1050" b="1" dirty="0">
                <a:solidFill>
                  <a:srgbClr val="1A1A1A"/>
                </a:solidFill>
                <a:latin typeface="Cambria" pitchFamily="34" charset="0"/>
                <a:ea typeface="Cambria" pitchFamily="34" charset="-122"/>
                <a:cs typeface="Cambria" pitchFamily="34" charset="-120"/>
              </a:rPr>
              <a:t>chép hoặc tự viết</a:t>
            </a:r>
            <a:endParaRPr lang="en-US" sz="1050" dirty="0"/>
          </a:p>
        </p:txBody>
      </p:sp>
      <p:sp>
        <p:nvSpPr>
          <p:cNvPr id="17" name="Shape 15"/>
          <p:cNvSpPr/>
          <p:nvPr/>
        </p:nvSpPr>
        <p:spPr>
          <a:xfrm>
            <a:off x="4818888" y="3108960"/>
            <a:ext cx="137160" cy="0"/>
          </a:xfrm>
          <a:prstGeom prst="line">
            <a:avLst/>
          </a:prstGeom>
          <a:noFill/>
          <a:ln w="25400">
            <a:solidFill>
              <a:srgbClr val="4F417A"/>
            </a:solidFill>
            <a:prstDash val="solid"/>
            <a:tailEnd type="triangle"/>
          </a:ln>
        </p:spPr>
      </p:sp>
      <p:sp>
        <p:nvSpPr>
          <p:cNvPr id="18" name="Shape 16"/>
          <p:cNvSpPr/>
          <p:nvPr/>
        </p:nvSpPr>
        <p:spPr>
          <a:xfrm>
            <a:off x="5029200" y="2606040"/>
            <a:ext cx="2103120" cy="1005840"/>
          </a:xfrm>
          <a:prstGeom prst="roundRect">
            <a:avLst>
              <a:gd name="adj" fmla="val 5455"/>
            </a:avLst>
          </a:prstGeom>
          <a:solidFill>
            <a:srgbClr val="FFFFFF"/>
          </a:solidFill>
          <a:ln w="15240">
            <a:solidFill>
              <a:srgbClr val="6E6890"/>
            </a:solidFill>
            <a:prstDash val="solid"/>
          </a:ln>
        </p:spPr>
      </p:sp>
      <p:sp>
        <p:nvSpPr>
          <p:cNvPr id="19" name="Text 17"/>
          <p:cNvSpPr/>
          <p:nvPr/>
        </p:nvSpPr>
        <p:spPr>
          <a:xfrm>
            <a:off x="5029200" y="2606040"/>
            <a:ext cx="2103120" cy="100584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luật đồng thuận:</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chép nguyên văn</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và cùng loại thao tác</a:t>
            </a:r>
            <a:endParaRPr lang="en-US" sz="1050" dirty="0"/>
          </a:p>
        </p:txBody>
      </p:sp>
      <p:sp>
        <p:nvSpPr>
          <p:cNvPr id="20" name="Shape 18"/>
          <p:cNvSpPr/>
          <p:nvPr/>
        </p:nvSpPr>
        <p:spPr>
          <a:xfrm>
            <a:off x="6080760" y="1892808"/>
            <a:ext cx="0" cy="694944"/>
          </a:xfrm>
          <a:prstGeom prst="line">
            <a:avLst/>
          </a:prstGeom>
          <a:noFill/>
          <a:ln w="25400">
            <a:solidFill>
              <a:srgbClr val="4F417A"/>
            </a:solidFill>
            <a:prstDash val="solid"/>
            <a:tailEnd type="triangle"/>
          </a:ln>
        </p:spPr>
      </p:sp>
      <p:sp>
        <p:nvSpPr>
          <p:cNvPr id="21" name="Shape 19"/>
          <p:cNvSpPr/>
          <p:nvPr/>
        </p:nvSpPr>
        <p:spPr>
          <a:xfrm>
            <a:off x="7150608" y="3108960"/>
            <a:ext cx="274320" cy="0"/>
          </a:xfrm>
          <a:prstGeom prst="line">
            <a:avLst/>
          </a:prstGeom>
          <a:noFill/>
          <a:ln w="25400">
            <a:solidFill>
              <a:srgbClr val="4F417A"/>
            </a:solidFill>
            <a:prstDash val="solid"/>
            <a:tailEnd type="triangle"/>
          </a:ln>
        </p:spPr>
      </p:sp>
      <p:sp>
        <p:nvSpPr>
          <p:cNvPr id="22" name="Shape 20"/>
          <p:cNvSpPr/>
          <p:nvPr/>
        </p:nvSpPr>
        <p:spPr>
          <a:xfrm>
            <a:off x="7452360" y="2606040"/>
            <a:ext cx="1234440" cy="1005840"/>
          </a:xfrm>
          <a:prstGeom prst="roundRect">
            <a:avLst>
              <a:gd name="adj" fmla="val 5455"/>
            </a:avLst>
          </a:prstGeom>
          <a:solidFill>
            <a:srgbClr val="FFFFFF"/>
          </a:solidFill>
          <a:ln w="20320">
            <a:solidFill>
              <a:srgbClr val="322164"/>
            </a:solidFill>
            <a:prstDash val="solid"/>
          </a:ln>
        </p:spPr>
      </p:sp>
      <p:sp>
        <p:nvSpPr>
          <p:cNvPr id="23" name="Text 21"/>
          <p:cNvSpPr/>
          <p:nvPr/>
        </p:nvSpPr>
        <p:spPr>
          <a:xfrm>
            <a:off x="7452360" y="2606040"/>
            <a:ext cx="1234440" cy="1005840"/>
          </a:xfrm>
          <a:prstGeom prst="rect">
            <a:avLst/>
          </a:prstGeom>
          <a:noFill/>
          <a:ln/>
        </p:spPr>
        <p:txBody>
          <a:bodyPr wrap="square" lIns="38100" tIns="38100" rIns="38100" bIns="38100" rtlCol="0" anchor="ctr"/>
          <a:lstStyle/>
          <a:p>
            <a:pPr algn="ctr" indent="0" marL="0">
              <a:lnSpc>
                <a:spcPct val="115000"/>
              </a:lnSpc>
              <a:buNone/>
            </a:pPr>
            <a:r>
              <a:rPr lang="en-US" sz="1150" b="1" dirty="0">
                <a:solidFill>
                  <a:srgbClr val="1A1A1A"/>
                </a:solidFill>
                <a:latin typeface="Cambria" pitchFamily="34" charset="0"/>
                <a:ea typeface="Cambria" pitchFamily="34" charset="-122"/>
                <a:cs typeface="Cambria" pitchFamily="34" charset="-120"/>
              </a:rPr>
              <a:t>câu</a:t>
            </a:r>
            <a:endParaRPr lang="en-US" sz="1150" dirty="0"/>
          </a:p>
          <a:p>
            <a:pPr algn="ctr" indent="0" marL="0">
              <a:lnSpc>
                <a:spcPct val="115000"/>
              </a:lnSpc>
              <a:buNone/>
            </a:pPr>
            <a:r>
              <a:rPr lang="en-US" sz="1150" b="1" dirty="0">
                <a:solidFill>
                  <a:srgbClr val="1A1A1A"/>
                </a:solidFill>
                <a:latin typeface="Cambria" pitchFamily="34" charset="0"/>
                <a:ea typeface="Cambria" pitchFamily="34" charset="-122"/>
                <a:cs typeface="Cambria" pitchFamily="34" charset="-120"/>
              </a:rPr>
              <a:t>cuối cùng</a:t>
            </a:r>
            <a:endParaRPr lang="en-US" sz="1150" dirty="0"/>
          </a:p>
        </p:txBody>
      </p:sp>
      <p:sp>
        <p:nvSpPr>
          <p:cNvPr id="24" name="Shape 22"/>
          <p:cNvSpPr/>
          <p:nvPr/>
        </p:nvSpPr>
        <p:spPr>
          <a:xfrm>
            <a:off x="457200" y="3931920"/>
            <a:ext cx="8229600" cy="2377440"/>
          </a:xfrm>
          <a:prstGeom prst="roundRect">
            <a:avLst>
              <a:gd name="adj" fmla="val 2308"/>
            </a:avLst>
          </a:prstGeom>
          <a:solidFill>
            <a:srgbClr val="E9E8EC"/>
          </a:solidFill>
          <a:ln/>
          <a:effectLst>
            <a:outerShdw sx="100000" sy="100000" kx="0" ky="0" algn="bl" rotWithShape="0" blurRad="63500" dist="31750" dir="2700000">
              <a:srgbClr val="8C8C99">
                <a:alpha val="45000"/>
              </a:srgbClr>
            </a:outerShdw>
          </a:effectLst>
        </p:spPr>
      </p:sp>
      <p:sp>
        <p:nvSpPr>
          <p:cNvPr id="25" name="Text 23"/>
          <p:cNvSpPr/>
          <p:nvPr/>
        </p:nvSpPr>
        <p:spPr>
          <a:xfrm>
            <a:off x="640080" y="4069080"/>
            <a:ext cx="201168" cy="71323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6" name="Text 24"/>
          <p:cNvSpPr/>
          <p:nvPr/>
        </p:nvSpPr>
        <p:spPr>
          <a:xfrm>
            <a:off x="868680" y="4069080"/>
            <a:ext cx="7635240" cy="694944"/>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Thành phần 1 dạy mô hình viết câu hay hơn: viết nhiều câu cho cùng một bước, câu nào giống câu chuẩn hơn theo SPICE thì được khuyến khích.</a:t>
            </a:r>
            <a:endParaRPr lang="en-US" sz="1250" dirty="0"/>
          </a:p>
        </p:txBody>
      </p:sp>
      <p:sp>
        <p:nvSpPr>
          <p:cNvPr id="27" name="Text 25"/>
          <p:cNvSpPr/>
          <p:nvPr/>
        </p:nvSpPr>
        <p:spPr>
          <a:xfrm>
            <a:off x="640080" y="4782312"/>
            <a:ext cx="201168" cy="71323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28" name="Text 26"/>
          <p:cNvSpPr/>
          <p:nvPr/>
        </p:nvSpPr>
        <p:spPr>
          <a:xfrm>
            <a:off x="868680" y="4782312"/>
            <a:ext cx="7635240" cy="694944"/>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Thành phần 2 tận dụng việc nhiều bước mới rất giống một bước đã có câu chuẩn: mượn nguyên văn câu ấy, nhưng chỉ khi luật đồng thuận cho phép.</a:t>
            </a:r>
            <a:endParaRPr lang="en-US" sz="1250" dirty="0"/>
          </a:p>
        </p:txBody>
      </p:sp>
      <p:sp>
        <p:nvSpPr>
          <p:cNvPr id="29" name="Text 27"/>
          <p:cNvSpPr/>
          <p:nvPr/>
        </p:nvSpPr>
        <p:spPr>
          <a:xfrm>
            <a:off x="640080" y="5495544"/>
            <a:ext cx="201168" cy="71323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30" name="Text 28"/>
          <p:cNvSpPr/>
          <p:nvPr/>
        </p:nvSpPr>
        <p:spPr>
          <a:xfrm>
            <a:off x="868680" y="5495544"/>
            <a:ext cx="7635240" cy="694944"/>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Lúc sinh câu không thành phần nào thấy câu chuẩn của bước đang xét, và mô hình định vị dùng để chấm không tham gia huấn luyện hay chọn câu.</a:t>
            </a:r>
            <a:endParaRPr lang="en-US" sz="1250" dirty="0"/>
          </a:p>
        </p:txBody>
      </p:sp>
      <p:sp>
        <p:nvSpPr>
          <p:cNvPr id="32" name="Shape 29"/>
          <p:cNvSpPr/>
          <p:nvPr/>
        </p:nvSpPr>
        <p:spPr>
          <a:xfrm>
            <a:off x="0" y="6620256"/>
            <a:ext cx="2743200" cy="237744"/>
          </a:xfrm>
          <a:prstGeom prst="rect">
            <a:avLst/>
          </a:prstGeom>
          <a:solidFill>
            <a:srgbClr val="191132"/>
          </a:solidFill>
          <a:ln/>
        </p:spPr>
      </p:sp>
      <p:sp>
        <p:nvSpPr>
          <p:cNvPr id="33" name="Shape 30"/>
          <p:cNvSpPr/>
          <p:nvPr/>
        </p:nvSpPr>
        <p:spPr>
          <a:xfrm>
            <a:off x="2743200" y="6620256"/>
            <a:ext cx="3383280" cy="237744"/>
          </a:xfrm>
          <a:prstGeom prst="rect">
            <a:avLst/>
          </a:prstGeom>
          <a:solidFill>
            <a:srgbClr val="25194B"/>
          </a:solidFill>
          <a:ln/>
        </p:spPr>
      </p:sp>
      <p:sp>
        <p:nvSpPr>
          <p:cNvPr id="34" name="Shape 31"/>
          <p:cNvSpPr/>
          <p:nvPr/>
        </p:nvSpPr>
        <p:spPr>
          <a:xfrm>
            <a:off x="6126480" y="6620256"/>
            <a:ext cx="1737360" cy="237744"/>
          </a:xfrm>
          <a:prstGeom prst="rect">
            <a:avLst/>
          </a:prstGeom>
          <a:solidFill>
            <a:srgbClr val="4F417A"/>
          </a:solidFill>
          <a:ln/>
        </p:spPr>
      </p:sp>
      <p:sp>
        <p:nvSpPr>
          <p:cNvPr id="35" name="Shape 32"/>
          <p:cNvSpPr/>
          <p:nvPr/>
        </p:nvSpPr>
        <p:spPr>
          <a:xfrm>
            <a:off x="7863840" y="6620256"/>
            <a:ext cx="1280160" cy="237744"/>
          </a:xfrm>
          <a:prstGeom prst="rect">
            <a:avLst/>
          </a:prstGeom>
          <a:solidFill>
            <a:srgbClr val="7A7099"/>
          </a:solidFill>
          <a:ln/>
        </p:spPr>
      </p:sp>
      <p:sp>
        <p:nvSpPr>
          <p:cNvPr id="36" name="Text 33"/>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7" name="Text 34"/>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8" name="Text 3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9" name="Text 36"/>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3/6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Thành phần 1: học qua việc tự viết nhiều câu rồi chấm điểm</a:t>
            </a:r>
            <a:endParaRPr lang="en-US" sz="1900" dirty="0"/>
          </a:p>
        </p:txBody>
      </p:sp>
      <p:sp>
        <p:nvSpPr>
          <p:cNvPr id="4" name="Shape 2"/>
          <p:cNvSpPr/>
          <p:nvPr/>
        </p:nvSpPr>
        <p:spPr>
          <a:xfrm>
            <a:off x="457200" y="850392"/>
            <a:ext cx="384048" cy="384048"/>
          </a:xfrm>
          <a:prstGeom prst="roundRect">
            <a:avLst>
              <a:gd name="adj" fmla="val 47619"/>
            </a:avLst>
          </a:prstGeom>
          <a:solidFill>
            <a:srgbClr val="322164"/>
          </a:solidFill>
          <a:ln/>
        </p:spPr>
      </p:sp>
      <p:sp>
        <p:nvSpPr>
          <p:cNvPr id="5" name="Text 3"/>
          <p:cNvSpPr/>
          <p:nvPr/>
        </p:nvSpPr>
        <p:spPr>
          <a:xfrm>
            <a:off x="457200" y="8503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960120" y="777240"/>
            <a:ext cx="4754880" cy="29260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Viết</a:t>
            </a:r>
            <a:endParaRPr lang="en-US" sz="1350" dirty="0"/>
          </a:p>
        </p:txBody>
      </p:sp>
      <p:sp>
        <p:nvSpPr>
          <p:cNvPr id="7" name="Text 5"/>
          <p:cNvSpPr/>
          <p:nvPr/>
        </p:nvSpPr>
        <p:spPr>
          <a:xfrm>
            <a:off x="960120" y="1088136"/>
            <a:ext cx="4754880" cy="640080"/>
          </a:xfrm>
          <a:prstGeom prst="rect">
            <a:avLst/>
          </a:prstGeom>
          <a:noFill/>
          <a:ln/>
        </p:spPr>
        <p:txBody>
          <a:bodyPr wrap="square" lIns="0" tIns="0" rIns="0" bIns="0" rtlCol="0" anchor="t"/>
          <a:lstStyle/>
          <a:p>
            <a:pPr algn="l" indent="0" marL="0">
              <a:lnSpc>
                <a:spcPct val="120000"/>
              </a:lnSpc>
              <a:buNone/>
            </a:pPr>
            <a:r>
              <a:rPr lang="en-US" sz="1250" dirty="0">
                <a:solidFill>
                  <a:srgbClr val="1A1A1A"/>
                </a:solidFill>
                <a:latin typeface="Cambria" pitchFamily="34" charset="0"/>
                <a:ea typeface="Cambria" pitchFamily="34" charset="-122"/>
                <a:cs typeface="Cambria" pitchFamily="34" charset="-120"/>
              </a:rPr>
              <a:t>Với mỗi bước, mô hình viết 8 câu khác nhau bằng lấy mẫu ngẫu nhiên.</a:t>
            </a:r>
            <a:endParaRPr lang="en-US" sz="1250" dirty="0"/>
          </a:p>
        </p:txBody>
      </p:sp>
      <p:sp>
        <p:nvSpPr>
          <p:cNvPr id="8" name="Shape 6"/>
          <p:cNvSpPr/>
          <p:nvPr/>
        </p:nvSpPr>
        <p:spPr>
          <a:xfrm>
            <a:off x="457200" y="1874520"/>
            <a:ext cx="384048" cy="384048"/>
          </a:xfrm>
          <a:prstGeom prst="roundRect">
            <a:avLst>
              <a:gd name="adj" fmla="val 47619"/>
            </a:avLst>
          </a:prstGeom>
          <a:solidFill>
            <a:srgbClr val="322164"/>
          </a:solidFill>
          <a:ln/>
        </p:spPr>
      </p:sp>
      <p:sp>
        <p:nvSpPr>
          <p:cNvPr id="9" name="Text 7"/>
          <p:cNvSpPr/>
          <p:nvPr/>
        </p:nvSpPr>
        <p:spPr>
          <a:xfrm>
            <a:off x="457200" y="1874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960120" y="1801368"/>
            <a:ext cx="4754880" cy="29260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Chấm</a:t>
            </a:r>
            <a:endParaRPr lang="en-US" sz="1350" dirty="0"/>
          </a:p>
        </p:txBody>
      </p:sp>
      <p:sp>
        <p:nvSpPr>
          <p:cNvPr id="11" name="Text 9"/>
          <p:cNvSpPr/>
          <p:nvPr/>
        </p:nvSpPr>
        <p:spPr>
          <a:xfrm>
            <a:off x="960120" y="2112264"/>
            <a:ext cx="4754880" cy="640080"/>
          </a:xfrm>
          <a:prstGeom prst="rect">
            <a:avLst/>
          </a:prstGeom>
          <a:noFill/>
          <a:ln/>
        </p:spPr>
        <p:txBody>
          <a:bodyPr wrap="square" lIns="0" tIns="0" rIns="0" bIns="0" rtlCol="0" anchor="t"/>
          <a:lstStyle/>
          <a:p>
            <a:pPr algn="l" indent="0" marL="0">
              <a:lnSpc>
                <a:spcPct val="120000"/>
              </a:lnSpc>
              <a:buNone/>
            </a:pPr>
            <a:r>
              <a:rPr lang="en-US" sz="1250" dirty="0">
                <a:solidFill>
                  <a:srgbClr val="1A1A1A"/>
                </a:solidFill>
                <a:latin typeface="Cambria" pitchFamily="34" charset="0"/>
                <a:ea typeface="Cambria" pitchFamily="34" charset="-122"/>
                <a:cs typeface="Cambria" pitchFamily="34" charset="-120"/>
              </a:rPr>
              <a:t>Mỗi câu được chấm SPICE so với câu chuẩn, trừ điểm nếu dài hơn câu chuẩn quá ba từ.</a:t>
            </a:r>
            <a:endParaRPr lang="en-US" sz="1250" dirty="0"/>
          </a:p>
        </p:txBody>
      </p:sp>
      <p:sp>
        <p:nvSpPr>
          <p:cNvPr id="12" name="Shape 10"/>
          <p:cNvSpPr/>
          <p:nvPr/>
        </p:nvSpPr>
        <p:spPr>
          <a:xfrm>
            <a:off x="457200" y="2898648"/>
            <a:ext cx="384048" cy="384048"/>
          </a:xfrm>
          <a:prstGeom prst="roundRect">
            <a:avLst>
              <a:gd name="adj" fmla="val 47619"/>
            </a:avLst>
          </a:prstGeom>
          <a:solidFill>
            <a:srgbClr val="322164"/>
          </a:solidFill>
          <a:ln/>
        </p:spPr>
      </p:sp>
      <p:sp>
        <p:nvSpPr>
          <p:cNvPr id="13" name="Text 11"/>
          <p:cNvSpPr/>
          <p:nvPr/>
        </p:nvSpPr>
        <p:spPr>
          <a:xfrm>
            <a:off x="457200" y="2898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p:nvPr/>
        </p:nvSpPr>
        <p:spPr>
          <a:xfrm>
            <a:off x="960120" y="2825496"/>
            <a:ext cx="4754880" cy="29260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So trong nhóm</a:t>
            </a:r>
            <a:endParaRPr lang="en-US" sz="1350" dirty="0"/>
          </a:p>
        </p:txBody>
      </p:sp>
      <p:sp>
        <p:nvSpPr>
          <p:cNvPr id="15" name="Text 13"/>
          <p:cNvSpPr/>
          <p:nvPr/>
        </p:nvSpPr>
        <p:spPr>
          <a:xfrm>
            <a:off x="960120" y="3136392"/>
            <a:ext cx="4754880" cy="640080"/>
          </a:xfrm>
          <a:prstGeom prst="rect">
            <a:avLst/>
          </a:prstGeom>
          <a:noFill/>
          <a:ln/>
        </p:spPr>
        <p:txBody>
          <a:bodyPr wrap="square" lIns="0" tIns="0" rIns="0" bIns="0" rtlCol="0" anchor="t"/>
          <a:lstStyle/>
          <a:p>
            <a:pPr algn="l" indent="0" marL="0">
              <a:lnSpc>
                <a:spcPct val="120000"/>
              </a:lnSpc>
              <a:buNone/>
            </a:pPr>
            <a:r>
              <a:rPr lang="en-US" sz="1250" dirty="0">
                <a:solidFill>
                  <a:srgbClr val="1A1A1A"/>
                </a:solidFill>
                <a:latin typeface="Cambria" pitchFamily="34" charset="0"/>
                <a:ea typeface="Cambria" pitchFamily="34" charset="-122"/>
                <a:cs typeface="Cambria" pitchFamily="34" charset="-120"/>
              </a:rPr>
              <a:t>Câu cao hơn trung bình của cả tám câu được khuyến khích, câu thấp hơn bị giảm.</a:t>
            </a:r>
            <a:endParaRPr lang="en-US" sz="1250" dirty="0"/>
          </a:p>
        </p:txBody>
      </p:sp>
      <p:sp>
        <p:nvSpPr>
          <p:cNvPr id="16" name="Shape 14"/>
          <p:cNvSpPr/>
          <p:nvPr/>
        </p:nvSpPr>
        <p:spPr>
          <a:xfrm>
            <a:off x="457200" y="3922776"/>
            <a:ext cx="384048" cy="384048"/>
          </a:xfrm>
          <a:prstGeom prst="roundRect">
            <a:avLst>
              <a:gd name="adj" fmla="val 47619"/>
            </a:avLst>
          </a:prstGeom>
          <a:solidFill>
            <a:srgbClr val="322164"/>
          </a:solidFill>
          <a:ln/>
        </p:spPr>
      </p:sp>
      <p:sp>
        <p:nvSpPr>
          <p:cNvPr id="17" name="Text 15"/>
          <p:cNvSpPr/>
          <p:nvPr/>
        </p:nvSpPr>
        <p:spPr>
          <a:xfrm>
            <a:off x="457200" y="39227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p:nvPr/>
        </p:nvSpPr>
        <p:spPr>
          <a:xfrm>
            <a:off x="960120" y="3849624"/>
            <a:ext cx="4754880" cy="29260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Cập nhật</a:t>
            </a:r>
            <a:endParaRPr lang="en-US" sz="1350" dirty="0"/>
          </a:p>
        </p:txBody>
      </p:sp>
      <p:sp>
        <p:nvSpPr>
          <p:cNvPr id="19" name="Text 17"/>
          <p:cNvSpPr/>
          <p:nvPr/>
        </p:nvSpPr>
        <p:spPr>
          <a:xfrm>
            <a:off x="960120" y="4160520"/>
            <a:ext cx="4754880" cy="640080"/>
          </a:xfrm>
          <a:prstGeom prst="rect">
            <a:avLst/>
          </a:prstGeom>
          <a:noFill/>
          <a:ln/>
        </p:spPr>
        <p:txBody>
          <a:bodyPr wrap="square" lIns="0" tIns="0" rIns="0" bIns="0" rtlCol="0" anchor="t"/>
          <a:lstStyle/>
          <a:p>
            <a:pPr algn="l" indent="0" marL="0">
              <a:lnSpc>
                <a:spcPct val="120000"/>
              </a:lnSpc>
              <a:buNone/>
            </a:pPr>
            <a:r>
              <a:rPr lang="en-US" sz="1250" dirty="0">
                <a:solidFill>
                  <a:srgbClr val="1A1A1A"/>
                </a:solidFill>
                <a:latin typeface="Cambria" pitchFamily="34" charset="0"/>
                <a:ea typeface="Cambria" pitchFamily="34" charset="-122"/>
                <a:cs typeface="Cambria" pitchFamily="34" charset="-120"/>
              </a:rPr>
              <a:t>Mô hình viết các câu được khuyến khích thường xuyên hơn, nhưng không đi quá xa S1.</a:t>
            </a:r>
            <a:endParaRPr lang="en-US" sz="1250" dirty="0"/>
          </a:p>
        </p:txBody>
      </p:sp>
      <p:pic>
        <p:nvPicPr>
          <p:cNvPr id="20" name="Image 0" descr="/mnt/d/Master/Thesis/thesis/figures/fig_vidu_spice.png">    </p:cNvPr>
          <p:cNvPicPr>
            <a:picLocks noChangeAspect="1"/>
          </p:cNvPicPr>
          <p:nvPr/>
        </p:nvPicPr>
        <p:blipFill>
          <a:blip r:embed="rId1"/>
          <a:stretch>
            <a:fillRect/>
          </a:stretch>
        </p:blipFill>
        <p:spPr>
          <a:xfrm>
            <a:off x="5989320" y="729386"/>
            <a:ext cx="2697480" cy="2985211"/>
          </a:xfrm>
          <a:prstGeom prst="rect">
            <a:avLst/>
          </a:prstGeom>
        </p:spPr>
      </p:pic>
      <p:sp>
        <p:nvSpPr>
          <p:cNvPr id="21" name="Text 18"/>
          <p:cNvSpPr/>
          <p:nvPr/>
        </p:nvSpPr>
        <p:spPr>
          <a:xfrm>
            <a:off x="5852160" y="3749040"/>
            <a:ext cx="2926080" cy="868680"/>
          </a:xfrm>
          <a:prstGeom prst="rect">
            <a:avLst/>
          </a:prstGeom>
          <a:noFill/>
          <a:ln/>
        </p:spPr>
        <p:txBody>
          <a:bodyPr wrap="square" lIns="0" tIns="0" rIns="0" bIns="0" rtlCol="0" anchor="t"/>
          <a:lstStyle/>
          <a:p>
            <a:pPr algn="l" indent="0" marL="0">
              <a:lnSpc>
                <a:spcPct val="115000"/>
              </a:lnSpc>
              <a:buNone/>
            </a:pPr>
            <a:r>
              <a:rPr lang="en-US" sz="1000" i="1" dirty="0">
                <a:solidFill>
                  <a:srgbClr val="5A5A66"/>
                </a:solidFill>
                <a:latin typeface="Cambria" pitchFamily="34" charset="0"/>
                <a:ea typeface="Cambria" pitchFamily="34" charset="-122"/>
                <a:cs typeface="Cambria" pitchFamily="34" charset="-120"/>
              </a:rPr>
              <a:t>Màn hình thật trong tập kiểm. S1 gọi nút Allow (sai), mô hình học với thưởng SPICE gọi đúng nút Not Now ở cuối màn.</a:t>
            </a:r>
            <a:endParaRPr lang="en-US" sz="1000" dirty="0"/>
          </a:p>
        </p:txBody>
      </p:sp>
      <p:sp>
        <p:nvSpPr>
          <p:cNvPr id="22" name="Shape 19"/>
          <p:cNvSpPr/>
          <p:nvPr/>
        </p:nvSpPr>
        <p:spPr>
          <a:xfrm>
            <a:off x="457200" y="4846320"/>
            <a:ext cx="8229600" cy="1463040"/>
          </a:xfrm>
          <a:prstGeom prst="roundRect">
            <a:avLst>
              <a:gd name="adj" fmla="val 3750"/>
            </a:avLst>
          </a:prstGeom>
          <a:solidFill>
            <a:srgbClr val="E9E8EC"/>
          </a:solidFill>
          <a:ln/>
          <a:effectLst>
            <a:outerShdw sx="100000" sy="100000" kx="0" ky="0" algn="bl" rotWithShape="0" blurRad="63500" dist="31750" dir="2700000">
              <a:srgbClr val="8C8C99">
                <a:alpha val="45000"/>
              </a:srgbClr>
            </a:outerShdw>
          </a:effectLst>
        </p:spPr>
      </p:sp>
      <p:sp>
        <p:nvSpPr>
          <p:cNvPr id="23" name="Text 20"/>
          <p:cNvSpPr/>
          <p:nvPr/>
        </p:nvSpPr>
        <p:spPr>
          <a:xfrm>
            <a:off x="640080" y="4919472"/>
            <a:ext cx="7863840" cy="1325880"/>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SPICE so hai câu theo đối tượng, thuộc tính và quan hệ mà cả hai cùng nêu ra, nên hai câu cùng nói tới một nút vẫn được điểm cao dù dùng từ khác. Mô hình định vị không có mặt trong phần thưởng. Lượt học gồm 500 lần cập nhật, xuất phát từ S1.</a:t>
            </a:r>
            <a:endParaRPr lang="en-US" sz="1250" dirty="0"/>
          </a:p>
        </p:txBody>
      </p:sp>
      <p:sp>
        <p:nvSpPr>
          <p:cNvPr id="25" name="Shape 21"/>
          <p:cNvSpPr/>
          <p:nvPr/>
        </p:nvSpPr>
        <p:spPr>
          <a:xfrm>
            <a:off x="0" y="6620256"/>
            <a:ext cx="2743200" cy="237744"/>
          </a:xfrm>
          <a:prstGeom prst="rect">
            <a:avLst/>
          </a:prstGeom>
          <a:solidFill>
            <a:srgbClr val="191132"/>
          </a:solidFill>
          <a:ln/>
        </p:spPr>
      </p:sp>
      <p:sp>
        <p:nvSpPr>
          <p:cNvPr id="26" name="Shape 22"/>
          <p:cNvSpPr/>
          <p:nvPr/>
        </p:nvSpPr>
        <p:spPr>
          <a:xfrm>
            <a:off x="2743200" y="6620256"/>
            <a:ext cx="3383280" cy="237744"/>
          </a:xfrm>
          <a:prstGeom prst="rect">
            <a:avLst/>
          </a:prstGeom>
          <a:solidFill>
            <a:srgbClr val="25194B"/>
          </a:solidFill>
          <a:ln/>
        </p:spPr>
      </p:sp>
      <p:sp>
        <p:nvSpPr>
          <p:cNvPr id="27" name="Shape 23"/>
          <p:cNvSpPr/>
          <p:nvPr/>
        </p:nvSpPr>
        <p:spPr>
          <a:xfrm>
            <a:off x="6126480" y="6620256"/>
            <a:ext cx="1737360" cy="237744"/>
          </a:xfrm>
          <a:prstGeom prst="rect">
            <a:avLst/>
          </a:prstGeom>
          <a:solidFill>
            <a:srgbClr val="4F417A"/>
          </a:solidFill>
          <a:ln/>
        </p:spPr>
      </p:sp>
      <p:sp>
        <p:nvSpPr>
          <p:cNvPr id="28" name="Shape 24"/>
          <p:cNvSpPr/>
          <p:nvPr/>
        </p:nvSpPr>
        <p:spPr>
          <a:xfrm>
            <a:off x="7863840" y="6620256"/>
            <a:ext cx="1280160" cy="237744"/>
          </a:xfrm>
          <a:prstGeom prst="rect">
            <a:avLst/>
          </a:prstGeom>
          <a:solidFill>
            <a:srgbClr val="7A7099"/>
          </a:solidFill>
          <a:ln/>
        </p:spPr>
      </p:sp>
      <p:sp>
        <p:nvSpPr>
          <p:cNvPr id="29" name="Text 2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0" name="Text 2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1" name="Text 2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2" name="Text 2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4/6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Thành phần 2 (ACE): mượn câu của bước giống khi chắc chắn</a:t>
            </a:r>
            <a:endParaRPr lang="en-US" sz="1900" dirty="0"/>
          </a:p>
        </p:txBody>
      </p:sp>
      <p:sp>
        <p:nvSpPr>
          <p:cNvPr id="4" name="Shape 2"/>
          <p:cNvSpPr/>
          <p:nvPr/>
        </p:nvSpPr>
        <p:spPr>
          <a:xfrm>
            <a:off x="457200" y="777240"/>
            <a:ext cx="2286000" cy="868680"/>
          </a:xfrm>
          <a:prstGeom prst="roundRect">
            <a:avLst>
              <a:gd name="adj" fmla="val 6316"/>
            </a:avLst>
          </a:prstGeom>
          <a:solidFill>
            <a:srgbClr val="FFFFFF"/>
          </a:solidFill>
          <a:ln w="15240">
            <a:solidFill>
              <a:srgbClr val="6E6890"/>
            </a:solidFill>
            <a:prstDash val="solid"/>
          </a:ln>
        </p:spPr>
      </p:sp>
      <p:sp>
        <p:nvSpPr>
          <p:cNvPr id="5" name="Text 3"/>
          <p:cNvSpPr/>
          <p:nvPr/>
        </p:nvSpPr>
        <p:spPr>
          <a:xfrm>
            <a:off x="457200" y="777240"/>
            <a:ext cx="2286000" cy="868680"/>
          </a:xfrm>
          <a:prstGeom prst="rect">
            <a:avLst/>
          </a:prstGeom>
          <a:noFill/>
          <a:ln/>
        </p:spPr>
        <p:txBody>
          <a:bodyPr wrap="square" lIns="38100" tIns="38100" rIns="38100" bIns="38100" rtlCol="0" anchor="ctr"/>
          <a:lstStyle/>
          <a:p>
            <a:pPr algn="ctr" indent="0" marL="0">
              <a:lnSpc>
                <a:spcPct val="115000"/>
              </a:lnSpc>
              <a:buNone/>
            </a:pPr>
            <a:r>
              <a:rPr lang="en-US" sz="1200" dirty="0">
                <a:solidFill>
                  <a:srgbClr val="1A1A1A"/>
                </a:solidFill>
                <a:latin typeface="Cambria" pitchFamily="34" charset="0"/>
                <a:ea typeface="Cambria" pitchFamily="34" charset="-122"/>
                <a:cs typeface="Cambria" pitchFamily="34" charset="-120"/>
              </a:rPr>
              <a:t>bước đang xét</a:t>
            </a:r>
            <a:endParaRPr lang="en-US" sz="1200" dirty="0"/>
          </a:p>
        </p:txBody>
      </p:sp>
      <p:sp>
        <p:nvSpPr>
          <p:cNvPr id="6" name="Shape 4"/>
          <p:cNvSpPr/>
          <p:nvPr/>
        </p:nvSpPr>
        <p:spPr>
          <a:xfrm>
            <a:off x="2788920" y="1211580"/>
            <a:ext cx="365760" cy="0"/>
          </a:xfrm>
          <a:prstGeom prst="line">
            <a:avLst/>
          </a:prstGeom>
          <a:noFill/>
          <a:ln w="25400">
            <a:solidFill>
              <a:srgbClr val="4F417A"/>
            </a:solidFill>
            <a:prstDash val="solid"/>
            <a:tailEnd type="triangle"/>
          </a:ln>
        </p:spPr>
      </p:sp>
      <p:sp>
        <p:nvSpPr>
          <p:cNvPr id="7" name="Shape 5"/>
          <p:cNvSpPr/>
          <p:nvPr/>
        </p:nvSpPr>
        <p:spPr>
          <a:xfrm>
            <a:off x="3200400" y="777240"/>
            <a:ext cx="2743200" cy="868680"/>
          </a:xfrm>
          <a:prstGeom prst="roundRect">
            <a:avLst>
              <a:gd name="adj" fmla="val 6316"/>
            </a:avLst>
          </a:prstGeom>
          <a:solidFill>
            <a:srgbClr val="FFFFFF"/>
          </a:solidFill>
          <a:ln w="15240">
            <a:solidFill>
              <a:srgbClr val="6E6890"/>
            </a:solidFill>
            <a:prstDash val="solid"/>
          </a:ln>
        </p:spPr>
      </p:sp>
      <p:sp>
        <p:nvSpPr>
          <p:cNvPr id="8" name="Text 6"/>
          <p:cNvSpPr/>
          <p:nvPr/>
        </p:nvSpPr>
        <p:spPr>
          <a:xfrm>
            <a:off x="3200400" y="777240"/>
            <a:ext cx="2743200" cy="86868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tìm 4 bước giống nhất trong 62.880 bước dạy</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(so mục tiêu và câu trước)</a:t>
            </a:r>
            <a:endParaRPr lang="en-US" sz="1050" dirty="0"/>
          </a:p>
        </p:txBody>
      </p:sp>
      <p:sp>
        <p:nvSpPr>
          <p:cNvPr id="9" name="Shape 7"/>
          <p:cNvSpPr/>
          <p:nvPr/>
        </p:nvSpPr>
        <p:spPr>
          <a:xfrm>
            <a:off x="5989320" y="1211580"/>
            <a:ext cx="365760" cy="0"/>
          </a:xfrm>
          <a:prstGeom prst="line">
            <a:avLst/>
          </a:prstGeom>
          <a:noFill/>
          <a:ln w="25400">
            <a:solidFill>
              <a:srgbClr val="4F417A"/>
            </a:solidFill>
            <a:prstDash val="solid"/>
            <a:tailEnd type="triangle"/>
          </a:ln>
        </p:spPr>
      </p:sp>
      <p:sp>
        <p:nvSpPr>
          <p:cNvPr id="10" name="Shape 8"/>
          <p:cNvSpPr/>
          <p:nvPr/>
        </p:nvSpPr>
        <p:spPr>
          <a:xfrm>
            <a:off x="6400800" y="777240"/>
            <a:ext cx="2286000" cy="868680"/>
          </a:xfrm>
          <a:prstGeom prst="roundRect">
            <a:avLst>
              <a:gd name="adj" fmla="val 6316"/>
            </a:avLst>
          </a:prstGeom>
          <a:solidFill>
            <a:srgbClr val="EEEAF6"/>
          </a:solidFill>
          <a:ln w="15240">
            <a:solidFill>
              <a:srgbClr val="322164"/>
            </a:solidFill>
            <a:prstDash val="solid"/>
          </a:ln>
        </p:spPr>
      </p:sp>
      <p:sp>
        <p:nvSpPr>
          <p:cNvPr id="11" name="Text 9"/>
          <p:cNvSpPr/>
          <p:nvPr/>
        </p:nvSpPr>
        <p:spPr>
          <a:xfrm>
            <a:off x="6400800" y="777240"/>
            <a:ext cx="2286000" cy="86868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bộ sinh xem 4 câu ví dụ,</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chép hoặc tự viết</a:t>
            </a:r>
            <a:endParaRPr lang="en-US" sz="1050" dirty="0"/>
          </a:p>
        </p:txBody>
      </p:sp>
      <p:sp>
        <p:nvSpPr>
          <p:cNvPr id="12" name="Shape 10"/>
          <p:cNvSpPr/>
          <p:nvPr/>
        </p:nvSpPr>
        <p:spPr>
          <a:xfrm>
            <a:off x="457200" y="1874520"/>
            <a:ext cx="8229600" cy="1234440"/>
          </a:xfrm>
          <a:prstGeom prst="roundRect">
            <a:avLst>
              <a:gd name="adj" fmla="val 4444"/>
            </a:avLst>
          </a:prstGeom>
          <a:solidFill>
            <a:srgbClr val="EEEAF6"/>
          </a:solidFill>
          <a:ln w="19050">
            <a:solidFill>
              <a:srgbClr val="322164"/>
            </a:solidFill>
            <a:prstDash val="solid"/>
          </a:ln>
        </p:spPr>
      </p:sp>
      <p:sp>
        <p:nvSpPr>
          <p:cNvPr id="13" name="Text 11"/>
          <p:cNvSpPr/>
          <p:nvPr/>
        </p:nvSpPr>
        <p:spPr>
          <a:xfrm>
            <a:off x="640080" y="1938528"/>
            <a:ext cx="7863840" cy="320040"/>
          </a:xfrm>
          <a:prstGeom prst="rect">
            <a:avLst/>
          </a:prstGeom>
          <a:noFill/>
          <a:ln/>
        </p:spPr>
        <p:txBody>
          <a:bodyPr wrap="square" lIns="0" tIns="0" rIns="0" bIns="0" rtlCol="0" anchor="t"/>
          <a:lstStyle/>
          <a:p>
            <a:pPr algn="l" indent="0" marL="0">
              <a:buNone/>
            </a:pPr>
            <a:r>
              <a:rPr lang="en-US" sz="1300" b="1" dirty="0">
                <a:solidFill>
                  <a:srgbClr val="322164"/>
                </a:solidFill>
                <a:latin typeface="Cambria" pitchFamily="34" charset="0"/>
                <a:ea typeface="Cambria" pitchFamily="34" charset="-122"/>
                <a:cs typeface="Cambria" pitchFamily="34" charset="-120"/>
              </a:rPr>
              <a:t>Luật đồng thuận: chỉ thay câu nháp khi cả hai điều kiện cùng đúng</a:t>
            </a:r>
            <a:endParaRPr lang="en-US" sz="1300" dirty="0"/>
          </a:p>
        </p:txBody>
      </p:sp>
      <p:sp>
        <p:nvSpPr>
          <p:cNvPr id="14" name="Text 12"/>
          <p:cNvSpPr/>
          <p:nvPr/>
        </p:nvSpPr>
        <p:spPr>
          <a:xfrm>
            <a:off x="640080" y="2304288"/>
            <a:ext cx="7863840" cy="731520"/>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1.  câu của bộ sinh trùng nguyên văn một trong bốn câu ví dụ (bộ sinh chủ động chọn, không tự bịa);</a:t>
            </a:r>
            <a:endParaRPr lang="en-US" sz="1200" dirty="0"/>
          </a:p>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2.  câu ấy cùng loại thao tác với câu nháp (câu ví dụ đến từ bước khác nên có thể sai thao tác).</a:t>
            </a:r>
            <a:endParaRPr lang="en-US" sz="1200" dirty="0"/>
          </a:p>
        </p:txBody>
      </p:sp>
      <p:sp>
        <p:nvSpPr>
          <p:cNvPr id="15" name="Shape 13"/>
          <p:cNvSpPr/>
          <p:nvPr/>
        </p:nvSpPr>
        <p:spPr>
          <a:xfrm>
            <a:off x="457200" y="3337560"/>
            <a:ext cx="4023360" cy="2971800"/>
          </a:xfrm>
          <a:prstGeom prst="roundRect">
            <a:avLst>
              <a:gd name="adj" fmla="val 1846"/>
            </a:avLst>
          </a:prstGeom>
          <a:solidFill>
            <a:srgbClr val="E3F1EA"/>
          </a:solidFill>
          <a:ln/>
          <a:effectLst>
            <a:outerShdw sx="100000" sy="100000" kx="0" ky="0" algn="bl" rotWithShape="0" blurRad="63500" dist="31750" dir="2700000">
              <a:srgbClr val="8C8C99">
                <a:alpha val="45000"/>
              </a:srgbClr>
            </a:outerShdw>
          </a:effectLst>
        </p:spPr>
      </p:sp>
      <p:sp>
        <p:nvSpPr>
          <p:cNvPr id="16" name="Text 14"/>
          <p:cNvSpPr/>
          <p:nvPr/>
        </p:nvSpPr>
        <p:spPr>
          <a:xfrm>
            <a:off x="640080" y="3401568"/>
            <a:ext cx="3657600" cy="292608"/>
          </a:xfrm>
          <a:prstGeom prst="rect">
            <a:avLst/>
          </a:prstGeom>
          <a:noFill/>
          <a:ln/>
        </p:spPr>
        <p:txBody>
          <a:bodyPr wrap="square" lIns="0" tIns="0" rIns="0" bIns="0" rtlCol="0" anchor="t"/>
          <a:lstStyle/>
          <a:p>
            <a:pPr algn="l" indent="0" marL="0">
              <a:buNone/>
            </a:pPr>
            <a:r>
              <a:rPr lang="en-US" sz="1300" b="1" dirty="0">
                <a:solidFill>
                  <a:srgbClr val="1B8A5A"/>
                </a:solidFill>
                <a:latin typeface="Cambria" pitchFamily="34" charset="0"/>
                <a:ea typeface="Cambria" pitchFamily="34" charset="-122"/>
                <a:cs typeface="Cambria" pitchFamily="34" charset="-120"/>
              </a:rPr>
              <a:t>Ví dụ 1: nhận câu chép</a:t>
            </a:r>
            <a:endParaRPr lang="en-US" sz="1300" dirty="0"/>
          </a:p>
        </p:txBody>
      </p:sp>
      <p:sp>
        <p:nvSpPr>
          <p:cNvPr id="17" name="Text 15"/>
          <p:cNvSpPr/>
          <p:nvPr/>
        </p:nvSpPr>
        <p:spPr>
          <a:xfrm>
            <a:off x="640080" y="3730752"/>
            <a:ext cx="3703320" cy="457200"/>
          </a:xfrm>
          <a:prstGeom prst="rect">
            <a:avLst/>
          </a:prstGeom>
          <a:noFill/>
          <a:ln/>
        </p:spPr>
        <p:txBody>
          <a:bodyPr wrap="square" lIns="0" tIns="0" rIns="0" bIns="0" rtlCol="0" anchor="t"/>
          <a:lstStyle/>
          <a:p>
            <a:pPr algn="l" indent="0" marL="0">
              <a:lnSpc>
                <a:spcPct val="115000"/>
              </a:lnSpc>
              <a:buNone/>
            </a:pPr>
            <a:r>
              <a:rPr lang="en-US" sz="1100" i="1" dirty="0">
                <a:solidFill>
                  <a:srgbClr val="5A5A66"/>
                </a:solidFill>
                <a:latin typeface="Cambria" pitchFamily="34" charset="0"/>
                <a:ea typeface="Cambria" pitchFamily="34" charset="-122"/>
                <a:cs typeface="Cambria" pitchFamily="34" charset="-120"/>
              </a:rPr>
              <a:t>Tác vụ: gửi tấm ảnh thứ hai cho một người bạn trên Skype.</a:t>
            </a:r>
            <a:endParaRPr lang="en-US" sz="1100" dirty="0"/>
          </a:p>
        </p:txBody>
      </p:sp>
      <p:sp>
        <p:nvSpPr>
          <p:cNvPr id="18" name="Text 16"/>
          <p:cNvSpPr/>
          <p:nvPr/>
        </p:nvSpPr>
        <p:spPr>
          <a:xfrm>
            <a:off x="640080" y="4224528"/>
            <a:ext cx="3703320" cy="2011680"/>
          </a:xfrm>
          <a:prstGeom prst="rect">
            <a:avLst/>
          </a:prstGeom>
          <a:noFill/>
          <a:ln/>
        </p:spPr>
        <p:txBody>
          <a:bodyPr wrap="square" lIns="0" tIns="0" rIns="0" bIns="0" rtlCol="0" anchor="t"/>
          <a:lstStyle/>
          <a:p>
            <a:pPr algn="l" indent="0" marL="0">
              <a:lnSpc>
                <a:spcPct val="130000"/>
              </a:lnSpc>
              <a:buNone/>
            </a:pPr>
            <a:r>
              <a:rPr lang="en-US" sz="1150" dirty="0">
                <a:solidFill>
                  <a:srgbClr val="1A1A1A"/>
                </a:solidFill>
                <a:latin typeface="Cambria" pitchFamily="34" charset="0"/>
                <a:ea typeface="Cambria" pitchFamily="34" charset="-122"/>
                <a:cs typeface="Cambria" pitchFamily="34" charset="-120"/>
              </a:rPr>
              <a:t>Câu nháp:  “Click on the first image.”</a:t>
            </a:r>
            <a:endParaRPr lang="en-US" sz="1150" dirty="0"/>
          </a:p>
          <a:p>
            <a:pPr algn="l" indent="0" marL="0">
              <a:lnSpc>
                <a:spcPct val="130000"/>
              </a:lnSpc>
              <a:buNone/>
            </a:pPr>
            <a:r>
              <a:rPr lang="en-US" sz="1150" dirty="0">
                <a:solidFill>
                  <a:srgbClr val="1A1A1A"/>
                </a:solidFill>
                <a:latin typeface="Cambria" pitchFamily="34" charset="0"/>
                <a:ea typeface="Cambria" pitchFamily="34" charset="-122"/>
                <a:cs typeface="Cambria" pitchFamily="34" charset="-120"/>
              </a:rPr>
              <a:t>Bộ sinh chép:  “Select the second photo.”</a:t>
            </a:r>
            <a:endParaRPr lang="en-US" sz="1150" dirty="0"/>
          </a:p>
          <a:p>
            <a:pPr algn="l" indent="0" marL="0">
              <a:lnSpc>
                <a:spcPct val="130000"/>
              </a:lnSpc>
              <a:buNone/>
            </a:pPr>
            <a:r>
              <a:rPr lang="en-US" sz="1150" dirty="0">
                <a:solidFill>
                  <a:srgbClr val="1A1A1A"/>
                </a:solidFill>
                <a:latin typeface="Cambria" pitchFamily="34" charset="0"/>
                <a:ea typeface="Cambria" pitchFamily="34" charset="-122"/>
                <a:cs typeface="Cambria" pitchFamily="34" charset="-120"/>
              </a:rPr>
              <a:t>Cả hai đều là thao tác chạm, luật nhận câu chép. Câu này trùng câu chuẩn của bước.</a:t>
            </a:r>
            <a:endParaRPr lang="en-US" sz="1150" dirty="0"/>
          </a:p>
        </p:txBody>
      </p:sp>
      <p:sp>
        <p:nvSpPr>
          <p:cNvPr id="19" name="Shape 17"/>
          <p:cNvSpPr/>
          <p:nvPr/>
        </p:nvSpPr>
        <p:spPr>
          <a:xfrm>
            <a:off x="4663440" y="3337560"/>
            <a:ext cx="4023360" cy="2971800"/>
          </a:xfrm>
          <a:prstGeom prst="roundRect">
            <a:avLst>
              <a:gd name="adj" fmla="val 1846"/>
            </a:avLst>
          </a:prstGeom>
          <a:solidFill>
            <a:srgbClr val="F6E6E6"/>
          </a:solidFill>
          <a:ln/>
          <a:effectLst>
            <a:outerShdw sx="100000" sy="100000" kx="0" ky="0" algn="bl" rotWithShape="0" blurRad="63500" dist="31750" dir="2700000">
              <a:srgbClr val="8C8C99">
                <a:alpha val="45000"/>
              </a:srgbClr>
            </a:outerShdw>
          </a:effectLst>
        </p:spPr>
      </p:sp>
      <p:sp>
        <p:nvSpPr>
          <p:cNvPr id="20" name="Text 18"/>
          <p:cNvSpPr/>
          <p:nvPr/>
        </p:nvSpPr>
        <p:spPr>
          <a:xfrm>
            <a:off x="4846320" y="3401568"/>
            <a:ext cx="3657600" cy="292608"/>
          </a:xfrm>
          <a:prstGeom prst="rect">
            <a:avLst/>
          </a:prstGeom>
          <a:noFill/>
          <a:ln/>
        </p:spPr>
        <p:txBody>
          <a:bodyPr wrap="square" lIns="0" tIns="0" rIns="0" bIns="0" rtlCol="0" anchor="t"/>
          <a:lstStyle/>
          <a:p>
            <a:pPr algn="l" indent="0" marL="0">
              <a:buNone/>
            </a:pPr>
            <a:r>
              <a:rPr lang="en-US" sz="1300" b="1" dirty="0">
                <a:solidFill>
                  <a:srgbClr val="B22222"/>
                </a:solidFill>
                <a:latin typeface="Cambria" pitchFamily="34" charset="0"/>
                <a:ea typeface="Cambria" pitchFamily="34" charset="-122"/>
                <a:cs typeface="Cambria" pitchFamily="34" charset="-120"/>
              </a:rPr>
              <a:t>Ví dụ 2: từ chối câu chép</a:t>
            </a:r>
            <a:endParaRPr lang="en-US" sz="1300" dirty="0"/>
          </a:p>
        </p:txBody>
      </p:sp>
      <p:sp>
        <p:nvSpPr>
          <p:cNvPr id="21" name="Text 19"/>
          <p:cNvSpPr/>
          <p:nvPr/>
        </p:nvSpPr>
        <p:spPr>
          <a:xfrm>
            <a:off x="4846320" y="3730752"/>
            <a:ext cx="3703320" cy="457200"/>
          </a:xfrm>
          <a:prstGeom prst="rect">
            <a:avLst/>
          </a:prstGeom>
          <a:noFill/>
          <a:ln/>
        </p:spPr>
        <p:txBody>
          <a:bodyPr wrap="square" lIns="0" tIns="0" rIns="0" bIns="0" rtlCol="0" anchor="t"/>
          <a:lstStyle/>
          <a:p>
            <a:pPr algn="l" indent="0" marL="0">
              <a:lnSpc>
                <a:spcPct val="115000"/>
              </a:lnSpc>
              <a:buNone/>
            </a:pPr>
            <a:r>
              <a:rPr lang="en-US" sz="1100" i="1" dirty="0">
                <a:solidFill>
                  <a:srgbClr val="5A5A66"/>
                </a:solidFill>
                <a:latin typeface="Cambria" pitchFamily="34" charset="0"/>
                <a:ea typeface="Cambria" pitchFamily="34" charset="-122"/>
                <a:cs typeface="Cambria" pitchFamily="34" charset="-120"/>
              </a:rPr>
              <a:t>Câu ví dụ lấy từ một bước khác, thuộc loại cuộn.</a:t>
            </a:r>
            <a:endParaRPr lang="en-US" sz="1100" dirty="0"/>
          </a:p>
        </p:txBody>
      </p:sp>
      <p:sp>
        <p:nvSpPr>
          <p:cNvPr id="22" name="Text 20"/>
          <p:cNvSpPr/>
          <p:nvPr/>
        </p:nvSpPr>
        <p:spPr>
          <a:xfrm>
            <a:off x="4846320" y="4224528"/>
            <a:ext cx="3703320" cy="2011680"/>
          </a:xfrm>
          <a:prstGeom prst="rect">
            <a:avLst/>
          </a:prstGeom>
          <a:noFill/>
          <a:ln/>
        </p:spPr>
        <p:txBody>
          <a:bodyPr wrap="square" lIns="0" tIns="0" rIns="0" bIns="0" rtlCol="0" anchor="t"/>
          <a:lstStyle/>
          <a:p>
            <a:pPr algn="l" indent="0" marL="0">
              <a:lnSpc>
                <a:spcPct val="130000"/>
              </a:lnSpc>
              <a:buNone/>
            </a:pPr>
            <a:r>
              <a:rPr lang="en-US" sz="1150" dirty="0">
                <a:solidFill>
                  <a:srgbClr val="1A1A1A"/>
                </a:solidFill>
                <a:latin typeface="Cambria" pitchFamily="34" charset="0"/>
                <a:ea typeface="Cambria" pitchFamily="34" charset="-122"/>
                <a:cs typeface="Cambria" pitchFamily="34" charset="-120"/>
              </a:rPr>
              <a:t>Câu nháp:  “Click on the close icon”</a:t>
            </a:r>
            <a:endParaRPr lang="en-US" sz="1150" dirty="0"/>
          </a:p>
          <a:p>
            <a:pPr algn="l" indent="0" marL="0">
              <a:lnSpc>
                <a:spcPct val="130000"/>
              </a:lnSpc>
              <a:buNone/>
            </a:pPr>
            <a:r>
              <a:rPr lang="en-US" sz="1150" dirty="0">
                <a:solidFill>
                  <a:srgbClr val="1A1A1A"/>
                </a:solidFill>
                <a:latin typeface="Cambria" pitchFamily="34" charset="0"/>
                <a:ea typeface="Cambria" pitchFamily="34" charset="-122"/>
                <a:cs typeface="Cambria" pitchFamily="34" charset="-120"/>
              </a:rPr>
              <a:t>Bộ sinh chép:  “Swipe up”</a:t>
            </a:r>
            <a:endParaRPr lang="en-US" sz="1150" dirty="0"/>
          </a:p>
          <a:p>
            <a:pPr algn="l" indent="0" marL="0">
              <a:lnSpc>
                <a:spcPct val="130000"/>
              </a:lnSpc>
              <a:buNone/>
            </a:pPr>
            <a:r>
              <a:rPr lang="en-US" sz="1150" dirty="0">
                <a:solidFill>
                  <a:srgbClr val="1A1A1A"/>
                </a:solidFill>
                <a:latin typeface="Cambria" pitchFamily="34" charset="0"/>
                <a:ea typeface="Cambria" pitchFamily="34" charset="-122"/>
                <a:cs typeface="Cambria" pitchFamily="34" charset="-120"/>
              </a:rPr>
              <a:t>Bộ sinh chép đúng nguyên văn nhưng khác loại thao tác với câu nháp, nên luật giữ câu nháp, và câu nháp mới là câu đúng.</a:t>
            </a:r>
            <a:endParaRPr lang="en-US" sz="1150" dirty="0"/>
          </a:p>
        </p:txBody>
      </p:sp>
      <p:sp>
        <p:nvSpPr>
          <p:cNvPr id="24" name="Shape 21"/>
          <p:cNvSpPr/>
          <p:nvPr/>
        </p:nvSpPr>
        <p:spPr>
          <a:xfrm>
            <a:off x="0" y="6620256"/>
            <a:ext cx="2743200" cy="237744"/>
          </a:xfrm>
          <a:prstGeom prst="rect">
            <a:avLst/>
          </a:prstGeom>
          <a:solidFill>
            <a:srgbClr val="191132"/>
          </a:solidFill>
          <a:ln/>
        </p:spPr>
      </p:sp>
      <p:sp>
        <p:nvSpPr>
          <p:cNvPr id="25" name="Shape 22"/>
          <p:cNvSpPr/>
          <p:nvPr/>
        </p:nvSpPr>
        <p:spPr>
          <a:xfrm>
            <a:off x="2743200" y="6620256"/>
            <a:ext cx="3383280" cy="237744"/>
          </a:xfrm>
          <a:prstGeom prst="rect">
            <a:avLst/>
          </a:prstGeom>
          <a:solidFill>
            <a:srgbClr val="25194B"/>
          </a:solidFill>
          <a:ln/>
        </p:spPr>
      </p:sp>
      <p:sp>
        <p:nvSpPr>
          <p:cNvPr id="26" name="Shape 23"/>
          <p:cNvSpPr/>
          <p:nvPr/>
        </p:nvSpPr>
        <p:spPr>
          <a:xfrm>
            <a:off x="6126480" y="6620256"/>
            <a:ext cx="1737360" cy="237744"/>
          </a:xfrm>
          <a:prstGeom prst="rect">
            <a:avLst/>
          </a:prstGeom>
          <a:solidFill>
            <a:srgbClr val="4F417A"/>
          </a:solidFill>
          <a:ln/>
        </p:spPr>
      </p:sp>
      <p:sp>
        <p:nvSpPr>
          <p:cNvPr id="27" name="Shape 24"/>
          <p:cNvSpPr/>
          <p:nvPr/>
        </p:nvSpPr>
        <p:spPr>
          <a:xfrm>
            <a:off x="7863840" y="6620256"/>
            <a:ext cx="1280160" cy="237744"/>
          </a:xfrm>
          <a:prstGeom prst="rect">
            <a:avLst/>
          </a:prstGeom>
          <a:solidFill>
            <a:srgbClr val="7A7099"/>
          </a:solidFill>
          <a:ln/>
        </p:spPr>
      </p:sp>
      <p:sp>
        <p:nvSpPr>
          <p:cNvPr id="28" name="Text 2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9" name="Text 2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0" name="Text 2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1" name="Text 2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5/6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Bảng số trên tập kiểm: phương pháp đề xuất so với S1</a:t>
            </a:r>
            <a:endParaRPr lang="en-US" sz="1900" dirty="0"/>
          </a:p>
        </p:txBody>
      </p:sp>
      <p:sp>
        <p:nvSpPr>
          <p:cNvPr id="4" name="Shape 2"/>
          <p:cNvSpPr/>
          <p:nvPr/>
        </p:nvSpPr>
        <p:spPr>
          <a:xfrm>
            <a:off x="457200" y="777240"/>
            <a:ext cx="8229600" cy="365760"/>
          </a:xfrm>
          <a:prstGeom prst="rect">
            <a:avLst/>
          </a:prstGeom>
          <a:solidFill>
            <a:srgbClr val="322164"/>
          </a:solidFill>
          <a:ln/>
        </p:spPr>
      </p:sp>
      <p:sp>
        <p:nvSpPr>
          <p:cNvPr id="5" name="Text 3"/>
          <p:cNvSpPr/>
          <p:nvPr/>
        </p:nvSpPr>
        <p:spPr>
          <a:xfrm>
            <a:off x="457200" y="777240"/>
            <a:ext cx="2743200" cy="365760"/>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Thước</a:t>
            </a:r>
            <a:endParaRPr lang="en-US" sz="1200" dirty="0"/>
          </a:p>
        </p:txBody>
      </p:sp>
      <p:sp>
        <p:nvSpPr>
          <p:cNvPr id="6" name="Text 4"/>
          <p:cNvSpPr/>
          <p:nvPr/>
        </p:nvSpPr>
        <p:spPr>
          <a:xfrm>
            <a:off x="3200400" y="777240"/>
            <a:ext cx="1234440" cy="36576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Mô hình gốc</a:t>
            </a:r>
            <a:endParaRPr lang="en-US" sz="1200" dirty="0"/>
          </a:p>
        </p:txBody>
      </p:sp>
      <p:sp>
        <p:nvSpPr>
          <p:cNvPr id="7" name="Text 5"/>
          <p:cNvSpPr/>
          <p:nvPr/>
        </p:nvSpPr>
        <p:spPr>
          <a:xfrm>
            <a:off x="4434840" y="777240"/>
            <a:ext cx="1234440" cy="36576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S1</a:t>
            </a:r>
            <a:endParaRPr lang="en-US" sz="1200" dirty="0"/>
          </a:p>
        </p:txBody>
      </p:sp>
      <p:sp>
        <p:nvSpPr>
          <p:cNvPr id="8" name="Text 6"/>
          <p:cNvSpPr/>
          <p:nvPr/>
        </p:nvSpPr>
        <p:spPr>
          <a:xfrm>
            <a:off x="5669280" y="777240"/>
            <a:ext cx="1463040" cy="36576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Thưởng SPICE</a:t>
            </a:r>
            <a:endParaRPr lang="en-US" sz="1200" dirty="0"/>
          </a:p>
        </p:txBody>
      </p:sp>
      <p:sp>
        <p:nvSpPr>
          <p:cNvPr id="9" name="Text 7"/>
          <p:cNvSpPr/>
          <p:nvPr/>
        </p:nvSpPr>
        <p:spPr>
          <a:xfrm>
            <a:off x="7132320" y="777240"/>
            <a:ext cx="1554480" cy="36576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Đề xuất (cả hai)</a:t>
            </a:r>
            <a:endParaRPr lang="en-US" sz="1200" dirty="0"/>
          </a:p>
        </p:txBody>
      </p:sp>
      <p:sp>
        <p:nvSpPr>
          <p:cNvPr id="10" name="Shape 8"/>
          <p:cNvSpPr/>
          <p:nvPr/>
        </p:nvSpPr>
        <p:spPr>
          <a:xfrm>
            <a:off x="457200" y="1143000"/>
            <a:ext cx="8229600" cy="274320"/>
          </a:xfrm>
          <a:prstGeom prst="rect">
            <a:avLst/>
          </a:prstGeom>
          <a:solidFill>
            <a:srgbClr val="E9E8EC"/>
          </a:solidFill>
          <a:ln/>
        </p:spPr>
      </p:sp>
      <p:sp>
        <p:nvSpPr>
          <p:cNvPr id="11" name="Text 9"/>
          <p:cNvSpPr/>
          <p:nvPr/>
        </p:nvSpPr>
        <p:spPr>
          <a:xfrm>
            <a:off x="484632" y="1143000"/>
            <a:ext cx="8174736" cy="274320"/>
          </a:xfrm>
          <a:prstGeom prst="rect">
            <a:avLst/>
          </a:prstGeom>
          <a:noFill/>
          <a:ln/>
        </p:spPr>
        <p:txBody>
          <a:bodyPr wrap="square" lIns="38100" tIns="38100" rIns="38100" bIns="38100" rtlCol="0" anchor="ctr"/>
          <a:lstStyle/>
          <a:p>
            <a:pPr algn="l" indent="0" marL="0">
              <a:buNone/>
            </a:pPr>
            <a:r>
              <a:rPr lang="en-US" sz="1100" b="1" dirty="0">
                <a:solidFill>
                  <a:srgbClr val="322164"/>
                </a:solidFill>
                <a:latin typeface="Cambria" pitchFamily="34" charset="0"/>
                <a:ea typeface="Cambria" pitchFamily="34" charset="-122"/>
                <a:cs typeface="Cambria" pitchFamily="34" charset="-120"/>
              </a:rPr>
              <a:t>Theo vị trí (mô hình định vị chấm)</a:t>
            </a:r>
            <a:endParaRPr lang="en-US" sz="1100" dirty="0"/>
          </a:p>
        </p:txBody>
      </p:sp>
      <p:sp>
        <p:nvSpPr>
          <p:cNvPr id="12" name="Text 10"/>
          <p:cNvSpPr/>
          <p:nvPr/>
        </p:nvSpPr>
        <p:spPr>
          <a:xfrm>
            <a:off x="457200" y="1417320"/>
            <a:ext cx="2743200" cy="329184"/>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Executability</a:t>
            </a:r>
            <a:endParaRPr lang="en-US" sz="1200" dirty="0"/>
          </a:p>
        </p:txBody>
      </p:sp>
      <p:sp>
        <p:nvSpPr>
          <p:cNvPr id="13" name="Text 11"/>
          <p:cNvSpPr/>
          <p:nvPr/>
        </p:nvSpPr>
        <p:spPr>
          <a:xfrm>
            <a:off x="3200400" y="1417320"/>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47,6</a:t>
            </a:r>
            <a:endParaRPr lang="en-US" sz="1200" dirty="0"/>
          </a:p>
        </p:txBody>
      </p:sp>
      <p:sp>
        <p:nvSpPr>
          <p:cNvPr id="14" name="Text 12"/>
          <p:cNvSpPr/>
          <p:nvPr/>
        </p:nvSpPr>
        <p:spPr>
          <a:xfrm>
            <a:off x="4434840" y="1417320"/>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59,11</a:t>
            </a:r>
            <a:endParaRPr lang="en-US" sz="1200" dirty="0"/>
          </a:p>
        </p:txBody>
      </p:sp>
      <p:sp>
        <p:nvSpPr>
          <p:cNvPr id="15" name="Text 13"/>
          <p:cNvSpPr/>
          <p:nvPr/>
        </p:nvSpPr>
        <p:spPr>
          <a:xfrm>
            <a:off x="5669280" y="1417320"/>
            <a:ext cx="14630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60,65</a:t>
            </a:r>
            <a:endParaRPr lang="en-US" sz="1200" dirty="0"/>
          </a:p>
        </p:txBody>
      </p:sp>
      <p:sp>
        <p:nvSpPr>
          <p:cNvPr id="16" name="Text 14"/>
          <p:cNvSpPr/>
          <p:nvPr/>
        </p:nvSpPr>
        <p:spPr>
          <a:xfrm>
            <a:off x="7132320" y="1417320"/>
            <a:ext cx="1554480" cy="329184"/>
          </a:xfrm>
          <a:prstGeom prst="rect">
            <a:avLst/>
          </a:prstGeom>
          <a:noFill/>
          <a:ln/>
        </p:spPr>
        <p:txBody>
          <a:bodyPr wrap="square" lIns="38100" tIns="38100" rIns="38100" bIns="3810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60,68</a:t>
            </a:r>
            <a:endParaRPr lang="en-US" sz="1200" dirty="0"/>
          </a:p>
        </p:txBody>
      </p:sp>
      <p:sp>
        <p:nvSpPr>
          <p:cNvPr id="17" name="Shape 15"/>
          <p:cNvSpPr/>
          <p:nvPr/>
        </p:nvSpPr>
        <p:spPr>
          <a:xfrm>
            <a:off x="457200" y="1746504"/>
            <a:ext cx="8229600" cy="0"/>
          </a:xfrm>
          <a:prstGeom prst="line">
            <a:avLst/>
          </a:prstGeom>
          <a:noFill/>
          <a:ln w="12700">
            <a:solidFill>
              <a:srgbClr val="9A94AE"/>
            </a:solidFill>
            <a:prstDash val="solid"/>
          </a:ln>
        </p:spPr>
      </p:sp>
      <p:sp>
        <p:nvSpPr>
          <p:cNvPr id="18" name="Text 16"/>
          <p:cNvSpPr/>
          <p:nvPr/>
        </p:nvSpPr>
        <p:spPr>
          <a:xfrm>
            <a:off x="457200" y="1746504"/>
            <a:ext cx="2743200" cy="329184"/>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Luật hộp phần tử (AndroidControl)</a:t>
            </a:r>
            <a:endParaRPr lang="en-US" sz="1200" dirty="0"/>
          </a:p>
        </p:txBody>
      </p:sp>
      <p:sp>
        <p:nvSpPr>
          <p:cNvPr id="19" name="Text 17"/>
          <p:cNvSpPr/>
          <p:nvPr/>
        </p:nvSpPr>
        <p:spPr>
          <a:xfrm>
            <a:off x="3200400" y="1746504"/>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53,6</a:t>
            </a:r>
            <a:endParaRPr lang="en-US" sz="1200" dirty="0"/>
          </a:p>
        </p:txBody>
      </p:sp>
      <p:sp>
        <p:nvSpPr>
          <p:cNvPr id="20" name="Text 18"/>
          <p:cNvSpPr/>
          <p:nvPr/>
        </p:nvSpPr>
        <p:spPr>
          <a:xfrm>
            <a:off x="4434840" y="1746504"/>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65,49</a:t>
            </a:r>
            <a:endParaRPr lang="en-US" sz="1200" dirty="0"/>
          </a:p>
        </p:txBody>
      </p:sp>
      <p:sp>
        <p:nvSpPr>
          <p:cNvPr id="21" name="Text 19"/>
          <p:cNvSpPr/>
          <p:nvPr/>
        </p:nvSpPr>
        <p:spPr>
          <a:xfrm>
            <a:off x="5669280" y="1746504"/>
            <a:ext cx="14630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67,02</a:t>
            </a:r>
            <a:endParaRPr lang="en-US" sz="1200" dirty="0"/>
          </a:p>
        </p:txBody>
      </p:sp>
      <p:sp>
        <p:nvSpPr>
          <p:cNvPr id="22" name="Text 20"/>
          <p:cNvSpPr/>
          <p:nvPr/>
        </p:nvSpPr>
        <p:spPr>
          <a:xfrm>
            <a:off x="7132320" y="1746504"/>
            <a:ext cx="1554480" cy="329184"/>
          </a:xfrm>
          <a:prstGeom prst="rect">
            <a:avLst/>
          </a:prstGeom>
          <a:noFill/>
          <a:ln/>
        </p:spPr>
        <p:txBody>
          <a:bodyPr wrap="square" lIns="38100" tIns="38100" rIns="38100" bIns="3810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67,11</a:t>
            </a:r>
            <a:endParaRPr lang="en-US" sz="1200" dirty="0"/>
          </a:p>
        </p:txBody>
      </p:sp>
      <p:sp>
        <p:nvSpPr>
          <p:cNvPr id="23" name="Shape 21"/>
          <p:cNvSpPr/>
          <p:nvPr/>
        </p:nvSpPr>
        <p:spPr>
          <a:xfrm>
            <a:off x="457200" y="2075688"/>
            <a:ext cx="8229600" cy="0"/>
          </a:xfrm>
          <a:prstGeom prst="line">
            <a:avLst/>
          </a:prstGeom>
          <a:noFill/>
          <a:ln w="12700">
            <a:solidFill>
              <a:srgbClr val="9A94AE"/>
            </a:solidFill>
            <a:prstDash val="solid"/>
          </a:ln>
        </p:spPr>
      </p:sp>
      <p:sp>
        <p:nvSpPr>
          <p:cNvPr id="24" name="Text 22"/>
          <p:cNvSpPr/>
          <p:nvPr/>
        </p:nvSpPr>
        <p:spPr>
          <a:xfrm>
            <a:off x="457200" y="2075688"/>
            <a:ext cx="2743200" cy="329184"/>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Luật khoảng cách Euclid (AitW)</a:t>
            </a:r>
            <a:endParaRPr lang="en-US" sz="1200" dirty="0"/>
          </a:p>
        </p:txBody>
      </p:sp>
      <p:sp>
        <p:nvSpPr>
          <p:cNvPr id="25" name="Text 23"/>
          <p:cNvSpPr/>
          <p:nvPr/>
        </p:nvSpPr>
        <p:spPr>
          <a:xfrm>
            <a:off x="3200400" y="2075688"/>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63,4</a:t>
            </a:r>
            <a:endParaRPr lang="en-US" sz="1200" dirty="0"/>
          </a:p>
        </p:txBody>
      </p:sp>
      <p:sp>
        <p:nvSpPr>
          <p:cNvPr id="26" name="Text 24"/>
          <p:cNvSpPr/>
          <p:nvPr/>
        </p:nvSpPr>
        <p:spPr>
          <a:xfrm>
            <a:off x="4434840" y="2075688"/>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74,37</a:t>
            </a:r>
            <a:endParaRPr lang="en-US" sz="1200" dirty="0"/>
          </a:p>
        </p:txBody>
      </p:sp>
      <p:sp>
        <p:nvSpPr>
          <p:cNvPr id="27" name="Text 25"/>
          <p:cNvSpPr/>
          <p:nvPr/>
        </p:nvSpPr>
        <p:spPr>
          <a:xfrm>
            <a:off x="5669280" y="2075688"/>
            <a:ext cx="14630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76,25</a:t>
            </a:r>
            <a:endParaRPr lang="en-US" sz="1200" dirty="0"/>
          </a:p>
        </p:txBody>
      </p:sp>
      <p:sp>
        <p:nvSpPr>
          <p:cNvPr id="28" name="Text 26"/>
          <p:cNvSpPr/>
          <p:nvPr/>
        </p:nvSpPr>
        <p:spPr>
          <a:xfrm>
            <a:off x="7132320" y="2075688"/>
            <a:ext cx="1554480" cy="329184"/>
          </a:xfrm>
          <a:prstGeom prst="rect">
            <a:avLst/>
          </a:prstGeom>
          <a:noFill/>
          <a:ln/>
        </p:spPr>
        <p:txBody>
          <a:bodyPr wrap="square" lIns="38100" tIns="38100" rIns="38100" bIns="3810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76,32</a:t>
            </a:r>
            <a:endParaRPr lang="en-US" sz="1200" dirty="0"/>
          </a:p>
        </p:txBody>
      </p:sp>
      <p:sp>
        <p:nvSpPr>
          <p:cNvPr id="29" name="Shape 27"/>
          <p:cNvSpPr/>
          <p:nvPr/>
        </p:nvSpPr>
        <p:spPr>
          <a:xfrm>
            <a:off x="457200" y="2404872"/>
            <a:ext cx="8229600" cy="0"/>
          </a:xfrm>
          <a:prstGeom prst="line">
            <a:avLst/>
          </a:prstGeom>
          <a:noFill/>
          <a:ln w="12700">
            <a:solidFill>
              <a:srgbClr val="9A94AE"/>
            </a:solidFill>
            <a:prstDash val="solid"/>
          </a:ln>
        </p:spPr>
      </p:sp>
      <p:sp>
        <p:nvSpPr>
          <p:cNvPr id="30" name="Shape 28"/>
          <p:cNvSpPr/>
          <p:nvPr/>
        </p:nvSpPr>
        <p:spPr>
          <a:xfrm>
            <a:off x="457200" y="2404872"/>
            <a:ext cx="8229600" cy="274320"/>
          </a:xfrm>
          <a:prstGeom prst="rect">
            <a:avLst/>
          </a:prstGeom>
          <a:solidFill>
            <a:srgbClr val="E9E8EC"/>
          </a:solidFill>
          <a:ln/>
        </p:spPr>
      </p:sp>
      <p:sp>
        <p:nvSpPr>
          <p:cNvPr id="31" name="Text 29"/>
          <p:cNvSpPr/>
          <p:nvPr/>
        </p:nvSpPr>
        <p:spPr>
          <a:xfrm>
            <a:off x="484632" y="2404872"/>
            <a:ext cx="8174736" cy="274320"/>
          </a:xfrm>
          <a:prstGeom prst="rect">
            <a:avLst/>
          </a:prstGeom>
          <a:noFill/>
          <a:ln/>
        </p:spPr>
        <p:txBody>
          <a:bodyPr wrap="square" lIns="38100" tIns="38100" rIns="38100" bIns="38100" rtlCol="0" anchor="ctr"/>
          <a:lstStyle/>
          <a:p>
            <a:pPr algn="l" indent="0" marL="0">
              <a:buNone/>
            </a:pPr>
            <a:r>
              <a:rPr lang="en-US" sz="1100" b="1" dirty="0">
                <a:solidFill>
                  <a:srgbClr val="322164"/>
                </a:solidFill>
                <a:latin typeface="Cambria" pitchFamily="34" charset="0"/>
                <a:ea typeface="Cambria" pitchFamily="34" charset="-122"/>
                <a:cs typeface="Cambria" pitchFamily="34" charset="-120"/>
              </a:rPr>
              <a:t>So với câu chuẩn (bộ chấm COCO và các thước khác)</a:t>
            </a:r>
            <a:endParaRPr lang="en-US" sz="1100" dirty="0"/>
          </a:p>
        </p:txBody>
      </p:sp>
      <p:sp>
        <p:nvSpPr>
          <p:cNvPr id="32" name="Text 30"/>
          <p:cNvSpPr/>
          <p:nvPr/>
        </p:nvSpPr>
        <p:spPr>
          <a:xfrm>
            <a:off x="457200" y="2679192"/>
            <a:ext cx="2743200" cy="329184"/>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BLEU-4</a:t>
            </a:r>
            <a:endParaRPr lang="en-US" sz="1200" dirty="0"/>
          </a:p>
        </p:txBody>
      </p:sp>
      <p:sp>
        <p:nvSpPr>
          <p:cNvPr id="33" name="Text 31"/>
          <p:cNvSpPr/>
          <p:nvPr/>
        </p:nvSpPr>
        <p:spPr>
          <a:xfrm>
            <a:off x="3200400" y="2679192"/>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15,3</a:t>
            </a:r>
            <a:endParaRPr lang="en-US" sz="1200" dirty="0"/>
          </a:p>
        </p:txBody>
      </p:sp>
      <p:sp>
        <p:nvSpPr>
          <p:cNvPr id="34" name="Text 32"/>
          <p:cNvSpPr/>
          <p:nvPr/>
        </p:nvSpPr>
        <p:spPr>
          <a:xfrm>
            <a:off x="4434840" y="2679192"/>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51,56</a:t>
            </a:r>
            <a:endParaRPr lang="en-US" sz="1200" dirty="0"/>
          </a:p>
        </p:txBody>
      </p:sp>
      <p:sp>
        <p:nvSpPr>
          <p:cNvPr id="35" name="Text 33"/>
          <p:cNvSpPr/>
          <p:nvPr/>
        </p:nvSpPr>
        <p:spPr>
          <a:xfrm>
            <a:off x="5669280" y="2679192"/>
            <a:ext cx="14630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52,36</a:t>
            </a:r>
            <a:endParaRPr lang="en-US" sz="1200" dirty="0"/>
          </a:p>
        </p:txBody>
      </p:sp>
      <p:sp>
        <p:nvSpPr>
          <p:cNvPr id="36" name="Text 34"/>
          <p:cNvSpPr/>
          <p:nvPr/>
        </p:nvSpPr>
        <p:spPr>
          <a:xfrm>
            <a:off x="7132320" y="2679192"/>
            <a:ext cx="1554480" cy="329184"/>
          </a:xfrm>
          <a:prstGeom prst="rect">
            <a:avLst/>
          </a:prstGeom>
          <a:noFill/>
          <a:ln/>
        </p:spPr>
        <p:txBody>
          <a:bodyPr wrap="square" lIns="38100" tIns="38100" rIns="38100" bIns="3810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53,47</a:t>
            </a:r>
            <a:endParaRPr lang="en-US" sz="1200" dirty="0"/>
          </a:p>
        </p:txBody>
      </p:sp>
      <p:sp>
        <p:nvSpPr>
          <p:cNvPr id="37" name="Shape 35"/>
          <p:cNvSpPr/>
          <p:nvPr/>
        </p:nvSpPr>
        <p:spPr>
          <a:xfrm>
            <a:off x="457200" y="3008376"/>
            <a:ext cx="8229600" cy="0"/>
          </a:xfrm>
          <a:prstGeom prst="line">
            <a:avLst/>
          </a:prstGeom>
          <a:noFill/>
          <a:ln w="12700">
            <a:solidFill>
              <a:srgbClr val="9A94AE"/>
            </a:solidFill>
            <a:prstDash val="solid"/>
          </a:ln>
        </p:spPr>
      </p:sp>
      <p:sp>
        <p:nvSpPr>
          <p:cNvPr id="38" name="Text 36"/>
          <p:cNvSpPr/>
          <p:nvPr/>
        </p:nvSpPr>
        <p:spPr>
          <a:xfrm>
            <a:off x="457200" y="3008376"/>
            <a:ext cx="2743200" cy="329184"/>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METEOR</a:t>
            </a:r>
            <a:endParaRPr lang="en-US" sz="1200" dirty="0"/>
          </a:p>
        </p:txBody>
      </p:sp>
      <p:sp>
        <p:nvSpPr>
          <p:cNvPr id="39" name="Text 37"/>
          <p:cNvSpPr/>
          <p:nvPr/>
        </p:nvSpPr>
        <p:spPr>
          <a:xfrm>
            <a:off x="3200400" y="3008376"/>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24,6</a:t>
            </a:r>
            <a:endParaRPr lang="en-US" sz="1200" dirty="0"/>
          </a:p>
        </p:txBody>
      </p:sp>
      <p:sp>
        <p:nvSpPr>
          <p:cNvPr id="40" name="Text 38"/>
          <p:cNvSpPr/>
          <p:nvPr/>
        </p:nvSpPr>
        <p:spPr>
          <a:xfrm>
            <a:off x="4434840" y="3008376"/>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36,79</a:t>
            </a:r>
            <a:endParaRPr lang="en-US" sz="1200" dirty="0"/>
          </a:p>
        </p:txBody>
      </p:sp>
      <p:sp>
        <p:nvSpPr>
          <p:cNvPr id="41" name="Text 39"/>
          <p:cNvSpPr/>
          <p:nvPr/>
        </p:nvSpPr>
        <p:spPr>
          <a:xfrm>
            <a:off x="5669280" y="3008376"/>
            <a:ext cx="14630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37,92</a:t>
            </a:r>
            <a:endParaRPr lang="en-US" sz="1200" dirty="0"/>
          </a:p>
        </p:txBody>
      </p:sp>
      <p:sp>
        <p:nvSpPr>
          <p:cNvPr id="42" name="Text 40"/>
          <p:cNvSpPr/>
          <p:nvPr/>
        </p:nvSpPr>
        <p:spPr>
          <a:xfrm>
            <a:off x="7132320" y="3008376"/>
            <a:ext cx="1554480" cy="329184"/>
          </a:xfrm>
          <a:prstGeom prst="rect">
            <a:avLst/>
          </a:prstGeom>
          <a:noFill/>
          <a:ln/>
        </p:spPr>
        <p:txBody>
          <a:bodyPr wrap="square" lIns="38100" tIns="38100" rIns="38100" bIns="3810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38,37</a:t>
            </a:r>
            <a:endParaRPr lang="en-US" sz="1200" dirty="0"/>
          </a:p>
        </p:txBody>
      </p:sp>
      <p:sp>
        <p:nvSpPr>
          <p:cNvPr id="43" name="Shape 41"/>
          <p:cNvSpPr/>
          <p:nvPr/>
        </p:nvSpPr>
        <p:spPr>
          <a:xfrm>
            <a:off x="457200" y="3337560"/>
            <a:ext cx="8229600" cy="0"/>
          </a:xfrm>
          <a:prstGeom prst="line">
            <a:avLst/>
          </a:prstGeom>
          <a:noFill/>
          <a:ln w="12700">
            <a:solidFill>
              <a:srgbClr val="9A94AE"/>
            </a:solidFill>
            <a:prstDash val="solid"/>
          </a:ln>
        </p:spPr>
      </p:sp>
      <p:sp>
        <p:nvSpPr>
          <p:cNvPr id="44" name="Text 42"/>
          <p:cNvSpPr/>
          <p:nvPr/>
        </p:nvSpPr>
        <p:spPr>
          <a:xfrm>
            <a:off x="457200" y="3337560"/>
            <a:ext cx="2743200" cy="329184"/>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ROUGE-L</a:t>
            </a:r>
            <a:endParaRPr lang="en-US" sz="1200" dirty="0"/>
          </a:p>
        </p:txBody>
      </p:sp>
      <p:sp>
        <p:nvSpPr>
          <p:cNvPr id="45" name="Text 43"/>
          <p:cNvSpPr/>
          <p:nvPr/>
        </p:nvSpPr>
        <p:spPr>
          <a:xfrm>
            <a:off x="3200400" y="3337560"/>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42,3</a:t>
            </a:r>
            <a:endParaRPr lang="en-US" sz="1200" dirty="0"/>
          </a:p>
        </p:txBody>
      </p:sp>
      <p:sp>
        <p:nvSpPr>
          <p:cNvPr id="46" name="Text 44"/>
          <p:cNvSpPr/>
          <p:nvPr/>
        </p:nvSpPr>
        <p:spPr>
          <a:xfrm>
            <a:off x="4434840" y="3337560"/>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67,35</a:t>
            </a:r>
            <a:endParaRPr lang="en-US" sz="1200" dirty="0"/>
          </a:p>
        </p:txBody>
      </p:sp>
      <p:sp>
        <p:nvSpPr>
          <p:cNvPr id="47" name="Text 45"/>
          <p:cNvSpPr/>
          <p:nvPr/>
        </p:nvSpPr>
        <p:spPr>
          <a:xfrm>
            <a:off x="5669280" y="3337560"/>
            <a:ext cx="14630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68,36</a:t>
            </a:r>
            <a:endParaRPr lang="en-US" sz="1200" dirty="0"/>
          </a:p>
        </p:txBody>
      </p:sp>
      <p:sp>
        <p:nvSpPr>
          <p:cNvPr id="48" name="Text 46"/>
          <p:cNvSpPr/>
          <p:nvPr/>
        </p:nvSpPr>
        <p:spPr>
          <a:xfrm>
            <a:off x="7132320" y="3337560"/>
            <a:ext cx="1554480" cy="329184"/>
          </a:xfrm>
          <a:prstGeom prst="rect">
            <a:avLst/>
          </a:prstGeom>
          <a:noFill/>
          <a:ln/>
        </p:spPr>
        <p:txBody>
          <a:bodyPr wrap="square" lIns="38100" tIns="38100" rIns="38100" bIns="3810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69,08</a:t>
            </a:r>
            <a:endParaRPr lang="en-US" sz="1200" dirty="0"/>
          </a:p>
        </p:txBody>
      </p:sp>
      <p:sp>
        <p:nvSpPr>
          <p:cNvPr id="49" name="Shape 47"/>
          <p:cNvSpPr/>
          <p:nvPr/>
        </p:nvSpPr>
        <p:spPr>
          <a:xfrm>
            <a:off x="457200" y="3666744"/>
            <a:ext cx="8229600" cy="0"/>
          </a:xfrm>
          <a:prstGeom prst="line">
            <a:avLst/>
          </a:prstGeom>
          <a:noFill/>
          <a:ln w="12700">
            <a:solidFill>
              <a:srgbClr val="9A94AE"/>
            </a:solidFill>
            <a:prstDash val="solid"/>
          </a:ln>
        </p:spPr>
      </p:sp>
      <p:sp>
        <p:nvSpPr>
          <p:cNvPr id="50" name="Text 48"/>
          <p:cNvSpPr/>
          <p:nvPr/>
        </p:nvSpPr>
        <p:spPr>
          <a:xfrm>
            <a:off x="457200" y="3666744"/>
            <a:ext cx="2743200" cy="329184"/>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CIDEr-D</a:t>
            </a:r>
            <a:endParaRPr lang="en-US" sz="1200" dirty="0"/>
          </a:p>
        </p:txBody>
      </p:sp>
      <p:sp>
        <p:nvSpPr>
          <p:cNvPr id="51" name="Text 49"/>
          <p:cNvSpPr/>
          <p:nvPr/>
        </p:nvSpPr>
        <p:spPr>
          <a:xfrm>
            <a:off x="3200400" y="3666744"/>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88,0</a:t>
            </a:r>
            <a:endParaRPr lang="en-US" sz="1200" dirty="0"/>
          </a:p>
        </p:txBody>
      </p:sp>
      <p:sp>
        <p:nvSpPr>
          <p:cNvPr id="52" name="Text 50"/>
          <p:cNvSpPr/>
          <p:nvPr/>
        </p:nvSpPr>
        <p:spPr>
          <a:xfrm>
            <a:off x="4434840" y="3666744"/>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416,1</a:t>
            </a:r>
            <a:endParaRPr lang="en-US" sz="1200" dirty="0"/>
          </a:p>
        </p:txBody>
      </p:sp>
      <p:sp>
        <p:nvSpPr>
          <p:cNvPr id="53" name="Text 51"/>
          <p:cNvSpPr/>
          <p:nvPr/>
        </p:nvSpPr>
        <p:spPr>
          <a:xfrm>
            <a:off x="5669280" y="3666744"/>
            <a:ext cx="14630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430,0</a:t>
            </a:r>
            <a:endParaRPr lang="en-US" sz="1200" dirty="0"/>
          </a:p>
        </p:txBody>
      </p:sp>
      <p:sp>
        <p:nvSpPr>
          <p:cNvPr id="54" name="Text 52"/>
          <p:cNvSpPr/>
          <p:nvPr/>
        </p:nvSpPr>
        <p:spPr>
          <a:xfrm>
            <a:off x="7132320" y="3666744"/>
            <a:ext cx="1554480" cy="329184"/>
          </a:xfrm>
          <a:prstGeom prst="rect">
            <a:avLst/>
          </a:prstGeom>
          <a:noFill/>
          <a:ln/>
        </p:spPr>
        <p:txBody>
          <a:bodyPr wrap="square" lIns="38100" tIns="38100" rIns="38100" bIns="3810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442,0</a:t>
            </a:r>
            <a:endParaRPr lang="en-US" sz="1200" dirty="0"/>
          </a:p>
        </p:txBody>
      </p:sp>
      <p:sp>
        <p:nvSpPr>
          <p:cNvPr id="55" name="Shape 53"/>
          <p:cNvSpPr/>
          <p:nvPr/>
        </p:nvSpPr>
        <p:spPr>
          <a:xfrm>
            <a:off x="457200" y="3995928"/>
            <a:ext cx="8229600" cy="0"/>
          </a:xfrm>
          <a:prstGeom prst="line">
            <a:avLst/>
          </a:prstGeom>
          <a:noFill/>
          <a:ln w="12700">
            <a:solidFill>
              <a:srgbClr val="9A94AE"/>
            </a:solidFill>
            <a:prstDash val="solid"/>
          </a:ln>
        </p:spPr>
      </p:sp>
      <p:sp>
        <p:nvSpPr>
          <p:cNvPr id="56" name="Text 54"/>
          <p:cNvSpPr/>
          <p:nvPr/>
        </p:nvSpPr>
        <p:spPr>
          <a:xfrm>
            <a:off x="457200" y="3995928"/>
            <a:ext cx="2743200" cy="329184"/>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SPICE</a:t>
            </a:r>
            <a:endParaRPr lang="en-US" sz="1200" dirty="0"/>
          </a:p>
        </p:txBody>
      </p:sp>
      <p:sp>
        <p:nvSpPr>
          <p:cNvPr id="57" name="Text 55"/>
          <p:cNvSpPr/>
          <p:nvPr/>
        </p:nvSpPr>
        <p:spPr>
          <a:xfrm>
            <a:off x="3200400" y="3995928"/>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18,5</a:t>
            </a:r>
            <a:endParaRPr lang="en-US" sz="1200" dirty="0"/>
          </a:p>
        </p:txBody>
      </p:sp>
      <p:sp>
        <p:nvSpPr>
          <p:cNvPr id="58" name="Text 56"/>
          <p:cNvSpPr/>
          <p:nvPr/>
        </p:nvSpPr>
        <p:spPr>
          <a:xfrm>
            <a:off x="4434840" y="3995928"/>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44,37</a:t>
            </a:r>
            <a:endParaRPr lang="en-US" sz="1200" dirty="0"/>
          </a:p>
        </p:txBody>
      </p:sp>
      <p:sp>
        <p:nvSpPr>
          <p:cNvPr id="59" name="Text 57"/>
          <p:cNvSpPr/>
          <p:nvPr/>
        </p:nvSpPr>
        <p:spPr>
          <a:xfrm>
            <a:off x="5669280" y="3995928"/>
            <a:ext cx="14630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45,79</a:t>
            </a:r>
            <a:endParaRPr lang="en-US" sz="1200" dirty="0"/>
          </a:p>
        </p:txBody>
      </p:sp>
      <p:sp>
        <p:nvSpPr>
          <p:cNvPr id="60" name="Text 58"/>
          <p:cNvSpPr/>
          <p:nvPr/>
        </p:nvSpPr>
        <p:spPr>
          <a:xfrm>
            <a:off x="7132320" y="3995928"/>
            <a:ext cx="1554480" cy="329184"/>
          </a:xfrm>
          <a:prstGeom prst="rect">
            <a:avLst/>
          </a:prstGeom>
          <a:noFill/>
          <a:ln/>
        </p:spPr>
        <p:txBody>
          <a:bodyPr wrap="square" lIns="38100" tIns="38100" rIns="38100" bIns="3810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47,13</a:t>
            </a:r>
            <a:endParaRPr lang="en-US" sz="1200" dirty="0"/>
          </a:p>
        </p:txBody>
      </p:sp>
      <p:sp>
        <p:nvSpPr>
          <p:cNvPr id="61" name="Shape 59"/>
          <p:cNvSpPr/>
          <p:nvPr/>
        </p:nvSpPr>
        <p:spPr>
          <a:xfrm>
            <a:off x="457200" y="4325112"/>
            <a:ext cx="8229600" cy="0"/>
          </a:xfrm>
          <a:prstGeom prst="line">
            <a:avLst/>
          </a:prstGeom>
          <a:noFill/>
          <a:ln w="12700">
            <a:solidFill>
              <a:srgbClr val="9A94AE"/>
            </a:solidFill>
            <a:prstDash val="solid"/>
          </a:ln>
        </p:spPr>
      </p:sp>
      <p:sp>
        <p:nvSpPr>
          <p:cNvPr id="62" name="Text 60"/>
          <p:cNvSpPr/>
          <p:nvPr/>
        </p:nvSpPr>
        <p:spPr>
          <a:xfrm>
            <a:off x="457200" y="4325112"/>
            <a:ext cx="2743200" cy="329184"/>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chrF</a:t>
            </a:r>
            <a:endParaRPr lang="en-US" sz="1200" dirty="0"/>
          </a:p>
        </p:txBody>
      </p:sp>
      <p:sp>
        <p:nvSpPr>
          <p:cNvPr id="63" name="Text 61"/>
          <p:cNvSpPr/>
          <p:nvPr/>
        </p:nvSpPr>
        <p:spPr>
          <a:xfrm>
            <a:off x="3200400" y="4325112"/>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40,2</a:t>
            </a:r>
            <a:endParaRPr lang="en-US" sz="1200" dirty="0"/>
          </a:p>
        </p:txBody>
      </p:sp>
      <p:sp>
        <p:nvSpPr>
          <p:cNvPr id="64" name="Text 62"/>
          <p:cNvSpPr/>
          <p:nvPr/>
        </p:nvSpPr>
        <p:spPr>
          <a:xfrm>
            <a:off x="4434840" y="4325112"/>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61,26</a:t>
            </a:r>
            <a:endParaRPr lang="en-US" sz="1200" dirty="0"/>
          </a:p>
        </p:txBody>
      </p:sp>
      <p:sp>
        <p:nvSpPr>
          <p:cNvPr id="65" name="Text 63"/>
          <p:cNvSpPr/>
          <p:nvPr/>
        </p:nvSpPr>
        <p:spPr>
          <a:xfrm>
            <a:off x="5669280" y="4325112"/>
            <a:ext cx="14630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62,86</a:t>
            </a:r>
            <a:endParaRPr lang="en-US" sz="1200" dirty="0"/>
          </a:p>
        </p:txBody>
      </p:sp>
      <p:sp>
        <p:nvSpPr>
          <p:cNvPr id="66" name="Text 64"/>
          <p:cNvSpPr/>
          <p:nvPr/>
        </p:nvSpPr>
        <p:spPr>
          <a:xfrm>
            <a:off x="7132320" y="4325112"/>
            <a:ext cx="1554480" cy="329184"/>
          </a:xfrm>
          <a:prstGeom prst="rect">
            <a:avLst/>
          </a:prstGeom>
          <a:noFill/>
          <a:ln/>
        </p:spPr>
        <p:txBody>
          <a:bodyPr wrap="square" lIns="38100" tIns="38100" rIns="38100" bIns="3810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63,44</a:t>
            </a:r>
            <a:endParaRPr lang="en-US" sz="1200" dirty="0"/>
          </a:p>
        </p:txBody>
      </p:sp>
      <p:sp>
        <p:nvSpPr>
          <p:cNvPr id="67" name="Shape 65"/>
          <p:cNvSpPr/>
          <p:nvPr/>
        </p:nvSpPr>
        <p:spPr>
          <a:xfrm>
            <a:off x="457200" y="4654296"/>
            <a:ext cx="8229600" cy="0"/>
          </a:xfrm>
          <a:prstGeom prst="line">
            <a:avLst/>
          </a:prstGeom>
          <a:noFill/>
          <a:ln w="12700">
            <a:solidFill>
              <a:srgbClr val="9A94AE"/>
            </a:solidFill>
            <a:prstDash val="solid"/>
          </a:ln>
        </p:spPr>
      </p:sp>
      <p:sp>
        <p:nvSpPr>
          <p:cNvPr id="68" name="Text 66"/>
          <p:cNvSpPr/>
          <p:nvPr/>
        </p:nvSpPr>
        <p:spPr>
          <a:xfrm>
            <a:off x="457200" y="4654296"/>
            <a:ext cx="2743200" cy="329184"/>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BERTScore</a:t>
            </a:r>
            <a:endParaRPr lang="en-US" sz="1200" dirty="0"/>
          </a:p>
        </p:txBody>
      </p:sp>
      <p:sp>
        <p:nvSpPr>
          <p:cNvPr id="69" name="Text 67"/>
          <p:cNvSpPr/>
          <p:nvPr/>
        </p:nvSpPr>
        <p:spPr>
          <a:xfrm>
            <a:off x="3200400" y="4654296"/>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40,1</a:t>
            </a:r>
            <a:endParaRPr lang="en-US" sz="1200" dirty="0"/>
          </a:p>
        </p:txBody>
      </p:sp>
      <p:sp>
        <p:nvSpPr>
          <p:cNvPr id="70" name="Text 68"/>
          <p:cNvSpPr/>
          <p:nvPr/>
        </p:nvSpPr>
        <p:spPr>
          <a:xfrm>
            <a:off x="4434840" y="4654296"/>
            <a:ext cx="12344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66,33</a:t>
            </a:r>
            <a:endParaRPr lang="en-US" sz="1200" dirty="0"/>
          </a:p>
        </p:txBody>
      </p:sp>
      <p:sp>
        <p:nvSpPr>
          <p:cNvPr id="71" name="Text 69"/>
          <p:cNvSpPr/>
          <p:nvPr/>
        </p:nvSpPr>
        <p:spPr>
          <a:xfrm>
            <a:off x="5669280" y="4654296"/>
            <a:ext cx="1463040" cy="329184"/>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67,07</a:t>
            </a:r>
            <a:endParaRPr lang="en-US" sz="1200" dirty="0"/>
          </a:p>
        </p:txBody>
      </p:sp>
      <p:sp>
        <p:nvSpPr>
          <p:cNvPr id="72" name="Text 70"/>
          <p:cNvSpPr/>
          <p:nvPr/>
        </p:nvSpPr>
        <p:spPr>
          <a:xfrm>
            <a:off x="7132320" y="4654296"/>
            <a:ext cx="1554480" cy="329184"/>
          </a:xfrm>
          <a:prstGeom prst="rect">
            <a:avLst/>
          </a:prstGeom>
          <a:noFill/>
          <a:ln/>
        </p:spPr>
        <p:txBody>
          <a:bodyPr wrap="square" lIns="38100" tIns="38100" rIns="38100" bIns="3810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67,73</a:t>
            </a:r>
            <a:endParaRPr lang="en-US" sz="1200" dirty="0"/>
          </a:p>
        </p:txBody>
      </p:sp>
      <p:sp>
        <p:nvSpPr>
          <p:cNvPr id="73" name="Text 71"/>
          <p:cNvSpPr/>
          <p:nvPr/>
        </p:nvSpPr>
        <p:spPr>
          <a:xfrm>
            <a:off x="457200" y="5120640"/>
            <a:ext cx="8229600" cy="1097280"/>
          </a:xfrm>
          <a:prstGeom prst="rect">
            <a:avLst/>
          </a:prstGeom>
          <a:noFill/>
          <a:ln/>
        </p:spPr>
        <p:txBody>
          <a:bodyPr wrap="square" lIns="0" tIns="0" rIns="0" bIns="0" rtlCol="0" anchor="t"/>
          <a:lstStyle/>
          <a:p>
            <a:pPr algn="l" indent="0" marL="0">
              <a:lnSpc>
                <a:spcPct val="120000"/>
              </a:lnSpc>
              <a:buNone/>
            </a:pPr>
            <a:r>
              <a:rPr lang="en-US" sz="1150" i="1" dirty="0">
                <a:solidFill>
                  <a:srgbClr val="5A5A66"/>
                </a:solidFill>
                <a:latin typeface="Cambria" pitchFamily="34" charset="0"/>
                <a:ea typeface="Cambria" pitchFamily="34" charset="-122"/>
                <a:cs typeface="Cambria" pitchFamily="34" charset="-120"/>
              </a:rPr>
              <a:t>Mọi số trong bảng tính trên 4.463 bước chạm của tập kiểm. CIDEr-D vượt 100 vì mỗi bước chỉ có một câu chuẩn, nên chỉ so được giữa các hàng. Mô hình gốc là Qwen2.5-VL-3B chưa tinh chỉnh; S1 là mô hình tinh chỉnh có giám sát. Câu chuẩn đạt 75,7 theo executability. Executability của phương pháp đề xuất hơn S1 1,57 điểm, KTC 95% [+0,86; +2,31].</a:t>
            </a:r>
            <a:endParaRPr lang="en-US" sz="1150" dirty="0"/>
          </a:p>
        </p:txBody>
      </p:sp>
      <p:sp>
        <p:nvSpPr>
          <p:cNvPr id="75" name="Shape 72"/>
          <p:cNvSpPr/>
          <p:nvPr/>
        </p:nvSpPr>
        <p:spPr>
          <a:xfrm>
            <a:off x="0" y="6620256"/>
            <a:ext cx="2743200" cy="237744"/>
          </a:xfrm>
          <a:prstGeom prst="rect">
            <a:avLst/>
          </a:prstGeom>
          <a:solidFill>
            <a:srgbClr val="191132"/>
          </a:solidFill>
          <a:ln/>
        </p:spPr>
      </p:sp>
      <p:sp>
        <p:nvSpPr>
          <p:cNvPr id="76" name="Shape 73"/>
          <p:cNvSpPr/>
          <p:nvPr/>
        </p:nvSpPr>
        <p:spPr>
          <a:xfrm>
            <a:off x="2743200" y="6620256"/>
            <a:ext cx="3383280" cy="237744"/>
          </a:xfrm>
          <a:prstGeom prst="rect">
            <a:avLst/>
          </a:prstGeom>
          <a:solidFill>
            <a:srgbClr val="25194B"/>
          </a:solidFill>
          <a:ln/>
        </p:spPr>
      </p:sp>
      <p:sp>
        <p:nvSpPr>
          <p:cNvPr id="77" name="Shape 74"/>
          <p:cNvSpPr/>
          <p:nvPr/>
        </p:nvSpPr>
        <p:spPr>
          <a:xfrm>
            <a:off x="6126480" y="6620256"/>
            <a:ext cx="1737360" cy="237744"/>
          </a:xfrm>
          <a:prstGeom prst="rect">
            <a:avLst/>
          </a:prstGeom>
          <a:solidFill>
            <a:srgbClr val="4F417A"/>
          </a:solidFill>
          <a:ln/>
        </p:spPr>
      </p:sp>
      <p:sp>
        <p:nvSpPr>
          <p:cNvPr id="78" name="Shape 75"/>
          <p:cNvSpPr/>
          <p:nvPr/>
        </p:nvSpPr>
        <p:spPr>
          <a:xfrm>
            <a:off x="7863840" y="6620256"/>
            <a:ext cx="1280160" cy="237744"/>
          </a:xfrm>
          <a:prstGeom prst="rect">
            <a:avLst/>
          </a:prstGeom>
          <a:solidFill>
            <a:srgbClr val="7A7099"/>
          </a:solidFill>
          <a:ln/>
        </p:spPr>
      </p:sp>
      <p:sp>
        <p:nvSpPr>
          <p:cNvPr id="79" name="Text 7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80" name="Text 7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81" name="Text 7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82" name="Text 7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6/6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Phat sinh tu dong huong dan su dung phan mem dua tren LLM - bao cao truoc khi bao ve</dc:title>
  <dc:subject>PptxGenJS Presentation</dc:subject>
  <dc:creator>Le Doan Phuong Uyen</dc:creator>
  <cp:lastModifiedBy>Le Doan Phuong Uyen</cp:lastModifiedBy>
  <cp:revision>1</cp:revision>
  <dcterms:created xsi:type="dcterms:W3CDTF">2026-10-14T13:27:38Z</dcterms:created>
  <dcterms:modified xsi:type="dcterms:W3CDTF">2026-10-14T13:27:38Z</dcterms:modified>
</cp:coreProperties>
</file>