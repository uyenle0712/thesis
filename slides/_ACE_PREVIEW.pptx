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 HỌC QUỐC GIA TP. HỒ CHÍ MINH  -  TRƯỜNG ĐẠI HỌC KHOA HỌC TỰ NHIÊN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2286000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LUẬN VĂN THẠC SĨ  -  NGÀNH TRÍ TUỆ NHÂN TẠO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92224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DỰA TRÊN LLM TỪ CÁC TRƯỜNG HỢP SỬ DỤNG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GIAO DIỆN NGƯỜI DÙNG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 thực hiện: Lê Đoàn Phương Uyên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Giáo viên hướng dẫn: TS. Nguyễn Hồng Bửu Long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76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TP. Hồ Chí Minh - 2026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Tổng quan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trạng thái giao diện hiện tại, sinh một câu hướng dẫn để người dùng biết chính xác bước tiếp theo cần làm.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Màn hình hiện tại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27248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sinh câu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11496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719072"/>
            <a:ext cx="2697480" cy="11155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19072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“Chạm vào Not now”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1208" y="388620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4904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Ảnh màn hình hiện tại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21208" y="43891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5196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người dùng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21208" y="489204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75488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sử thao tác trước đó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1208" y="5394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5780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Văn bản hiển thị trên giao diện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709160" y="3456432"/>
            <a:ext cx="3840480" cy="16459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hướng dẫn cho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55595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 của luận văn là câu hướng dẫn cho người dùng, không phải tọa độ để agent tự thao tác.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1.1. Yêu cầu của câu hướng dẫn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nghe hoàn toàn tự nhiên vẫn có thể không đủ thông tin để người dùng chọn đúng phần tử.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the button.”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phải chạm nút nào khi màn hình có nhiều nút.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đủ rõ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Not now.”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206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ra đúng phần tử cần thao tác.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864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vậy, câu hướng dẫn không chỉ cần đúng nội dung mà còn phải phân biệt được đúng phần tử cần thao tác.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1.2. Hạn chế của độ tương đồng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độ đo chất lượng câu và khả năng làm theo phản ánh hai khía cạnh bổ sung cho nhau.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/ ROUGE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mức giống câu chuẩn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/ CIDEr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tương đồng nội dung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2331720" cy="14630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91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đúng phần tử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đúng loại thao tác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đó, luận văn đánh giá cả mức tương đồng với câu chuẩn và khả năng xác định đúng phần tử, đúng loại thao tác.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2376" y="1847088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câu hướng dẫn. ACE tiếp tục hiệu chỉnh câu ban đầu để cải thiện chất lượng mà vẫn giữ executability.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3319272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Executability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1847088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tách biệt kiểm tra câu có dẫn tới đúng phần tử và đúng thao tác.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704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kiểm tra bằng cùng số bước huấn luyện, nhiều mô hình định vị, tác vụ mới và chuyển miền.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tập kiểm chính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01568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tác vụ chưa có trong huấn luyện có giám sát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076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Dữ liệu và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huấn luyện và tập kiểm tra chính được tách theo tác vụ; không có tác vụ xuất hiện ở cả hai phía.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8138160" cy="49377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Huấn luyện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470916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chính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400800" y="153619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chú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bước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01752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64.567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70916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6.958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400800" y="2029968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theo tác vụ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có thao tác chạm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01752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41.191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70916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4.463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400800" y="261518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chính của executability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tác vụ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01752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12.895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70916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1.432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trùng tác vụ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02920" y="3986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tổng quát hóa bổ sung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599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1920240" y="45537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1.484 bước từ các tác vụ chưa có trong tập huấn luyện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475488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4599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miền (AitZ)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6263640" y="455371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 giao diện khác để kiểm tra khả năng chuyển miền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2.1. Executability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41448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07792" y="1444752"/>
            <a:ext cx="205740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4447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biệt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74920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1264" y="1572768"/>
            <a:ext cx="1188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572768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(x,y)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39712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96912" y="1371600"/>
            <a:ext cx="1261872" cy="12435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371600"/>
            <a:ext cx="12618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tử + thao tác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được tính đúng khi đồng thời: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1208" y="38130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75888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1208" y="4379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42816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diễn đạt ngược thao tác cần làm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" y="494690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09744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định vị thuộc vùng của phần tử cần chạm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4681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không tham gia huấn luyện phương pháp và không biết tọa độ đáp án.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2.2. Kiểm tra độ tin cậy của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cùng một nhóm bước, câu càng thiếu thông tin để xác định đúng phần tử thì executability càng thấp.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184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chuẩn (đầy đủ thông tin)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08960" y="169164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691640"/>
            <a:ext cx="3826798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2632" y="160934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74,9%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hồ: “Tap the button.”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08960" y="251460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514600"/>
            <a:ext cx="613105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243230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60120" y="326440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sai màn hình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08960" y="333756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337560"/>
            <a:ext cx="3116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325526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051560" y="4498848"/>
            <a:ext cx="7040880" cy="859536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498848"/>
            <a:ext cx="6620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đúng kỳ vọng: 74,9% → 12,0% → 6,1%. Khi câu mơ hồ hoặc sai ngữ cảnh, executability giảm mạnh.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Phương pháp đề xuất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33856"/>
            <a:ext cx="138988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8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(đã được SFT)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1874520" y="1645920"/>
            <a:ext cx="18288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21408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 ban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33088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chỉnh có chọn lọc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39712" y="1143000"/>
            <a:ext cx="18105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1430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cuối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212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8444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8 câu cho cùng đầu vào.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79392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Dùng SPICE + phạt độ dài để cập nhật mô hình.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61772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360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584448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 ví dụ từ tập dạy.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46360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27939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thay câu ban đầu khi qua 2 điều kiện chọn lọc.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502920" y="53218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chỉ được dùng để đánh giá câu hướng dẫn; không tham gia sinh câu hay cập nhật mô hình.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3.1. Thành phần thứ nhất: GRPO-SPICE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đầu vào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84832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8608" y="1517904"/>
            <a:ext cx="160020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51790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câu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91456" y="1517904"/>
            <a:ext cx="164592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5179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phạt độ dài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56248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50024" y="1463040"/>
            <a:ext cx="1554480" cy="12984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1463040"/>
            <a:ext cx="1554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8138160" cy="15727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SPICE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441448" y="3401568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ưu tiên đúng nội dung hơn mức giống câu chữ.</a:t>
            </a:r>
            <a:endParaRPr lang="en-US" sz="1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 hiệu huấn luyện tập trung vào đối tượng và quan hệ cần mô tả.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502920" y="5303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trực tiếp câu hướng dẫn bằng tín hiệu SPICE.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3.2. Thành phần thứ hai: ACE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ban đầu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011680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0592" y="1051560"/>
            <a:ext cx="173736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51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từ tập huấn luyện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279392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18304" y="1051560"/>
            <a:ext cx="141732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0515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viên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7064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65976" y="960120"/>
            <a:ext cx="2011680" cy="12344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9601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điều kiện chọn lọc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Câu ứng viên phải trùng với một trong bốn câu ví dụ được truy hồi.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Động từ đầu câu phải cùng lớp thao tác với câu ban đầu.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4663440"/>
            <a:ext cx="2560320" cy="74980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Đủ điều kiện → dùng câu mới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4663440"/>
            <a:ext cx="2560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đủ → giữ câu ban đầu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Thực nghiệm và kết quả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trên tập kiểm chính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68680" y="140817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Base</a:t>
            </a:r>
            <a:endParaRPr lang="en-US" sz="1390" dirty="0"/>
          </a:p>
        </p:txBody>
      </p:sp>
      <p:sp>
        <p:nvSpPr>
          <p:cNvPr id="6" name="Shape 4"/>
          <p:cNvSpPr/>
          <p:nvPr/>
        </p:nvSpPr>
        <p:spPr>
          <a:xfrm>
            <a:off x="3108960" y="1481328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81328"/>
            <a:ext cx="300597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399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47,59%</a:t>
            </a:r>
            <a:endParaRPr lang="en-US" sz="139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· Base</a:t>
            </a:r>
            <a:endParaRPr lang="en-US" sz="1390" dirty="0"/>
          </a:p>
        </p:txBody>
      </p:sp>
      <p:sp>
        <p:nvSpPr>
          <p:cNvPr id="10" name="Shape 8"/>
          <p:cNvSpPr/>
          <p:nvPr/>
        </p:nvSpPr>
        <p:spPr>
          <a:xfrm>
            <a:off x="3108960" y="2194560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94560"/>
            <a:ext cx="3253574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112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51,51%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baseline S1</a:t>
            </a:r>
            <a:endParaRPr lang="en-US" sz="1390" dirty="0"/>
          </a:p>
        </p:txBody>
      </p:sp>
      <p:sp>
        <p:nvSpPr>
          <p:cNvPr id="14" name="Shape 12"/>
          <p:cNvSpPr/>
          <p:nvPr/>
        </p:nvSpPr>
        <p:spPr>
          <a:xfrm>
            <a:off x="3108960" y="2907792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907792"/>
            <a:ext cx="3733620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8254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868680" y="3547872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GRPO-SPICE</a:t>
            </a:r>
            <a:endParaRPr lang="en-US" sz="1390" dirty="0"/>
          </a:p>
        </p:txBody>
      </p:sp>
      <p:sp>
        <p:nvSpPr>
          <p:cNvPr id="18" name="Shape 16"/>
          <p:cNvSpPr/>
          <p:nvPr/>
        </p:nvSpPr>
        <p:spPr>
          <a:xfrm>
            <a:off x="3108960" y="3621024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621024"/>
            <a:ext cx="3830893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38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960120" y="4498848"/>
            <a:ext cx="7223760" cy="7863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49884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+ GRPO-SPICE cao hơn 7B Base +9,14 điểm</a:t>
            </a:r>
            <a:endParaRPr lang="en-US" sz="1720" dirty="0"/>
          </a:p>
        </p:txBody>
      </p:sp>
      <p:sp>
        <p:nvSpPr>
          <p:cNvPr id="23" name="Text 21"/>
          <p:cNvSpPr/>
          <p:nvPr/>
        </p:nvSpPr>
        <p:spPr>
          <a:xfrm>
            <a:off x="502920" y="554126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dùng cùng prompt của Base và không được tối ưu prompt riêng.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4.1. Vai trò của tín hiệu SPICE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500 bước GRPO, nhánh dùng SPICE từ mẫu khác vẫn ở mức S1; GRPO-SPICE tăng +1,55 điểm.</a:t>
            </a:r>
            <a:endParaRPr lang="en-US" sz="158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781812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5584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 + SPICE từ mẫu khác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6188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6188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8608" y="3090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Ở cột giữa, điểm SPICE được lấy từ một mẫu khác.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1005840" y="4041648"/>
            <a:ext cx="7132320" cy="89611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041648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nhánh dùng SPICE từ mẫu khác +1,55 điểm · KTC 95% [+0,81; +2,30]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41324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chất lượng câu có KTC đều tăng trong cùng phép so sánh.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4.2. Kết quả trên tập kiểm chính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7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trên các độ đo chính.</a:t>
            </a:r>
            <a:endParaRPr lang="en-US" sz="1670" dirty="0"/>
          </a:p>
        </p:txBody>
      </p:sp>
      <p:sp>
        <p:nvSpPr>
          <p:cNvPr id="5" name="Shape 3"/>
          <p:cNvSpPr/>
          <p:nvPr/>
        </p:nvSpPr>
        <p:spPr>
          <a:xfrm>
            <a:off x="585216" y="3108960"/>
            <a:ext cx="7973568" cy="658368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389888"/>
            <a:ext cx="7973568" cy="56692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8988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2432304" y="13898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849624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111496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73368" y="13898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333488" y="138988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432304" y="19568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849624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5111496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373368" y="1956816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7333488" y="1956816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85216" y="2560320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85216" y="256032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432304" y="25603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3849624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5111496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373368" y="2560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7333488" y="2560320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585216" y="3163824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85216" y="316382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2432304" y="31638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3849624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5111496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6373368" y="316382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7333488" y="316382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987552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+1,52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520440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053328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+1,88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053328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5486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độ đo có KTC nằm trên 0; METEOR tăng nhưng chưa có KTC.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4.3. Kết quả trên tác vụ mới (ACU)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 gồm 1.484 bước từ các tác vụ không xuất hiện trong huấn luyện SFT. Các số dưới đây là mức tăng so với baseline S1.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932688" y="156362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72968" y="163677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2968" y="1636776"/>
            <a:ext cx="3575867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79208" y="1554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lại GRPO-SPICE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72968" y="245973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459736"/>
            <a:ext cx="3154258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9208" y="2377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+4,04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2095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72968" y="328269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3282696"/>
            <a:ext cx="3786671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+4,85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ba khoảng tin cậy đều nằm trên 0.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960120" y="4700016"/>
            <a:ext cx="7223760" cy="80467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700016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 + ACU: GRPO-SPICE − S1 = +2,30  [ +1,62; +2,99 ]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4.4. Kết quả sau ACE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84124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9300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9300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GRPO-SPICE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4476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4476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mức tương đương GRPO-SPICE và tiếp tục tăng các độ đo dựa trên câu chuẩn.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97296" y="2313432"/>
            <a:ext cx="1874520" cy="3511296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313432"/>
            <a:ext cx="7388352" cy="43891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313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2066544" y="2313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3255264" y="231343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81728" y="2313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291072" y="2313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12064" y="27523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2066544" y="27523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15,34</a:t>
            </a:r>
            <a:endParaRPr lang="en-US" sz="1190" dirty="0"/>
          </a:p>
        </p:txBody>
      </p:sp>
      <p:sp>
        <p:nvSpPr>
          <p:cNvPr id="20" name="Text 18"/>
          <p:cNvSpPr/>
          <p:nvPr/>
        </p:nvSpPr>
        <p:spPr>
          <a:xfrm>
            <a:off x="3255264" y="275234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4681728" y="275234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190" dirty="0"/>
          </a:p>
        </p:txBody>
      </p:sp>
      <p:sp>
        <p:nvSpPr>
          <p:cNvPr id="22" name="Text 20"/>
          <p:cNvSpPr/>
          <p:nvPr/>
        </p:nvSpPr>
        <p:spPr>
          <a:xfrm>
            <a:off x="6291072" y="275234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512064" y="3191256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12064" y="31912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190" dirty="0"/>
          </a:p>
        </p:txBody>
      </p:sp>
      <p:sp>
        <p:nvSpPr>
          <p:cNvPr id="25" name="Text 23"/>
          <p:cNvSpPr/>
          <p:nvPr/>
        </p:nvSpPr>
        <p:spPr>
          <a:xfrm>
            <a:off x="2066544" y="31912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24,58</a:t>
            </a:r>
            <a:endParaRPr lang="en-US" sz="1190" dirty="0"/>
          </a:p>
        </p:txBody>
      </p:sp>
      <p:sp>
        <p:nvSpPr>
          <p:cNvPr id="26" name="Text 24"/>
          <p:cNvSpPr/>
          <p:nvPr/>
        </p:nvSpPr>
        <p:spPr>
          <a:xfrm>
            <a:off x="3255264" y="31912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190" dirty="0"/>
          </a:p>
        </p:txBody>
      </p:sp>
      <p:sp>
        <p:nvSpPr>
          <p:cNvPr id="27" name="Text 25"/>
          <p:cNvSpPr/>
          <p:nvPr/>
        </p:nvSpPr>
        <p:spPr>
          <a:xfrm>
            <a:off x="4681728" y="319125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6291072" y="319125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512064" y="3630168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512064" y="3630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190" dirty="0"/>
          </a:p>
        </p:txBody>
      </p:sp>
      <p:sp>
        <p:nvSpPr>
          <p:cNvPr id="31" name="Text 29"/>
          <p:cNvSpPr/>
          <p:nvPr/>
        </p:nvSpPr>
        <p:spPr>
          <a:xfrm>
            <a:off x="2066544" y="3630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42,31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3255264" y="363016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190" dirty="0"/>
          </a:p>
        </p:txBody>
      </p:sp>
      <p:sp>
        <p:nvSpPr>
          <p:cNvPr id="33" name="Text 31"/>
          <p:cNvSpPr/>
          <p:nvPr/>
        </p:nvSpPr>
        <p:spPr>
          <a:xfrm>
            <a:off x="4681728" y="363016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190" dirty="0"/>
          </a:p>
        </p:txBody>
      </p:sp>
      <p:sp>
        <p:nvSpPr>
          <p:cNvPr id="34" name="Text 32"/>
          <p:cNvSpPr/>
          <p:nvPr/>
        </p:nvSpPr>
        <p:spPr>
          <a:xfrm>
            <a:off x="6291072" y="363016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190" dirty="0"/>
          </a:p>
        </p:txBody>
      </p:sp>
      <p:sp>
        <p:nvSpPr>
          <p:cNvPr id="35" name="Shape 33"/>
          <p:cNvSpPr/>
          <p:nvPr/>
        </p:nvSpPr>
        <p:spPr>
          <a:xfrm>
            <a:off x="512064" y="4069080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12064" y="40690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90" dirty="0"/>
          </a:p>
        </p:txBody>
      </p:sp>
      <p:sp>
        <p:nvSpPr>
          <p:cNvPr id="37" name="Text 35"/>
          <p:cNvSpPr/>
          <p:nvPr/>
        </p:nvSpPr>
        <p:spPr>
          <a:xfrm>
            <a:off x="2066544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88,01</a:t>
            </a:r>
            <a:endParaRPr lang="en-US" sz="1190" dirty="0"/>
          </a:p>
        </p:txBody>
      </p:sp>
      <p:sp>
        <p:nvSpPr>
          <p:cNvPr id="38" name="Text 36"/>
          <p:cNvSpPr/>
          <p:nvPr/>
        </p:nvSpPr>
        <p:spPr>
          <a:xfrm>
            <a:off x="3255264" y="406908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190" dirty="0"/>
          </a:p>
        </p:txBody>
      </p:sp>
      <p:sp>
        <p:nvSpPr>
          <p:cNvPr id="39" name="Text 37"/>
          <p:cNvSpPr/>
          <p:nvPr/>
        </p:nvSpPr>
        <p:spPr>
          <a:xfrm>
            <a:off x="4681728" y="406908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190" dirty="0"/>
          </a:p>
        </p:txBody>
      </p:sp>
      <p:sp>
        <p:nvSpPr>
          <p:cNvPr id="40" name="Text 38"/>
          <p:cNvSpPr/>
          <p:nvPr/>
        </p:nvSpPr>
        <p:spPr>
          <a:xfrm>
            <a:off x="6291072" y="406908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512064" y="4507992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512064" y="4507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90" dirty="0"/>
          </a:p>
        </p:txBody>
      </p:sp>
      <p:sp>
        <p:nvSpPr>
          <p:cNvPr id="43" name="Text 41"/>
          <p:cNvSpPr/>
          <p:nvPr/>
        </p:nvSpPr>
        <p:spPr>
          <a:xfrm>
            <a:off x="2066544" y="4507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18,48</a:t>
            </a:r>
            <a:endParaRPr lang="en-US" sz="1190" dirty="0"/>
          </a:p>
        </p:txBody>
      </p:sp>
      <p:sp>
        <p:nvSpPr>
          <p:cNvPr id="44" name="Text 42"/>
          <p:cNvSpPr/>
          <p:nvPr/>
        </p:nvSpPr>
        <p:spPr>
          <a:xfrm>
            <a:off x="3255264" y="450799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190" dirty="0"/>
          </a:p>
        </p:txBody>
      </p:sp>
      <p:sp>
        <p:nvSpPr>
          <p:cNvPr id="45" name="Text 43"/>
          <p:cNvSpPr/>
          <p:nvPr/>
        </p:nvSpPr>
        <p:spPr>
          <a:xfrm>
            <a:off x="4681728" y="4507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190" dirty="0"/>
          </a:p>
        </p:txBody>
      </p:sp>
      <p:sp>
        <p:nvSpPr>
          <p:cNvPr id="46" name="Text 44"/>
          <p:cNvSpPr/>
          <p:nvPr/>
        </p:nvSpPr>
        <p:spPr>
          <a:xfrm>
            <a:off x="6291072" y="4507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512064" y="4946904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512064" y="4946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190" dirty="0"/>
          </a:p>
        </p:txBody>
      </p:sp>
      <p:sp>
        <p:nvSpPr>
          <p:cNvPr id="49" name="Text 47"/>
          <p:cNvSpPr/>
          <p:nvPr/>
        </p:nvSpPr>
        <p:spPr>
          <a:xfrm>
            <a:off x="2066544" y="49469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40,18</a:t>
            </a:r>
            <a:endParaRPr lang="en-US" sz="1190" dirty="0"/>
          </a:p>
        </p:txBody>
      </p:sp>
      <p:sp>
        <p:nvSpPr>
          <p:cNvPr id="50" name="Text 48"/>
          <p:cNvSpPr/>
          <p:nvPr/>
        </p:nvSpPr>
        <p:spPr>
          <a:xfrm>
            <a:off x="3255264" y="494690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190" dirty="0"/>
          </a:p>
        </p:txBody>
      </p:sp>
      <p:sp>
        <p:nvSpPr>
          <p:cNvPr id="51" name="Text 49"/>
          <p:cNvSpPr/>
          <p:nvPr/>
        </p:nvSpPr>
        <p:spPr>
          <a:xfrm>
            <a:off x="4681728" y="49469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190" dirty="0"/>
          </a:p>
        </p:txBody>
      </p:sp>
      <p:sp>
        <p:nvSpPr>
          <p:cNvPr id="52" name="Text 50"/>
          <p:cNvSpPr/>
          <p:nvPr/>
        </p:nvSpPr>
        <p:spPr>
          <a:xfrm>
            <a:off x="6291072" y="49469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512064" y="5385816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512064" y="5385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190" dirty="0"/>
          </a:p>
        </p:txBody>
      </p:sp>
      <p:sp>
        <p:nvSpPr>
          <p:cNvPr id="55" name="Text 53"/>
          <p:cNvSpPr/>
          <p:nvPr/>
        </p:nvSpPr>
        <p:spPr>
          <a:xfrm>
            <a:off x="2066544" y="53858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40,10</a:t>
            </a:r>
            <a:endParaRPr lang="en-US" sz="1190" dirty="0"/>
          </a:p>
        </p:txBody>
      </p:sp>
      <p:sp>
        <p:nvSpPr>
          <p:cNvPr id="56" name="Text 54"/>
          <p:cNvSpPr/>
          <p:nvPr/>
        </p:nvSpPr>
        <p:spPr>
          <a:xfrm>
            <a:off x="3255264" y="5385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190" dirty="0"/>
          </a:p>
        </p:txBody>
      </p:sp>
      <p:sp>
        <p:nvSpPr>
          <p:cNvPr id="57" name="Text 55"/>
          <p:cNvSpPr/>
          <p:nvPr/>
        </p:nvSpPr>
        <p:spPr>
          <a:xfrm>
            <a:off x="4681728" y="5385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190" dirty="0"/>
          </a:p>
        </p:txBody>
      </p:sp>
      <p:sp>
        <p:nvSpPr>
          <p:cNvPr id="58" name="Text 56"/>
          <p:cNvSpPr/>
          <p:nvPr/>
        </p:nvSpPr>
        <p:spPr>
          <a:xfrm>
            <a:off x="6291072" y="5385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190" dirty="0"/>
          </a:p>
        </p:txBody>
      </p:sp>
      <p:sp>
        <p:nvSpPr>
          <p:cNvPr id="59" name="Text 57"/>
          <p:cNvSpPr/>
          <p:nvPr/>
        </p:nvSpPr>
        <p:spPr>
          <a:xfrm>
            <a:off x="502920" y="5879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có KTC nằm trên 0; METEOR chưa có KTC.</a:t>
            </a:r>
            <a:endParaRPr lang="en-US" sz="1280" dirty="0"/>
          </a:p>
        </p:txBody>
      </p:sp>
      <p:sp>
        <p:nvSpPr>
          <p:cNvPr id="60" name="Shape 5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4.5. Đối chiếu với bốn mô hình định vị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Để kiểm tra kết quả không phụ thuộc vào một mô hình định vị duy nhất, executability được tính lại bằng 4 mô hình: UGround, UI-Venus, Phi-Ground và Phi-4.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1051560" y="1572768"/>
            <a:ext cx="7040880" cy="502920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88620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baseline S1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71500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3886200" y="20756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5715000" y="20756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[+0,80; +2,33]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1051560" y="2697480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51560" y="2697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3886200" y="26974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5715000" y="26974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[+0,82; +2,30]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1051560" y="3319272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51560" y="331927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3886200" y="33192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5715000" y="33192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[+0,05; +1,51]</a:t>
            </a:r>
            <a:endParaRPr lang="en-US" sz="1370" dirty="0"/>
          </a:p>
        </p:txBody>
      </p:sp>
      <p:sp>
        <p:nvSpPr>
          <p:cNvPr id="20" name="Shape 18"/>
          <p:cNvSpPr/>
          <p:nvPr/>
        </p:nvSpPr>
        <p:spPr>
          <a:xfrm>
            <a:off x="1051560" y="3941064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51560" y="39410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886200" y="394106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5715000" y="3941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[+0,02; +1,40]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1005840" y="4663440"/>
            <a:ext cx="7132320" cy="768096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663440"/>
            <a:ext cx="6729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4 khoảng tin cậy đều nằm trên 0 → mức tăng không chỉ xuất hiện với một mô hình định vị.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 Lịch sử do mô hình tự sinh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lịch sử do chính mô hình sinh, GRPO-SPICE vẫn cao hơn S1.</a:t>
            </a:r>
            <a:endParaRPr lang="en-US" sz="1630" dirty="0"/>
          </a:p>
        </p:txBody>
      </p:sp>
      <p:sp>
        <p:nvSpPr>
          <p:cNvPr id="5" name="Shape 3"/>
          <p:cNvSpPr/>
          <p:nvPr/>
        </p:nvSpPr>
        <p:spPr>
          <a:xfrm>
            <a:off x="105156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54,96%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7492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5780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56,44%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7132320" cy="93268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77640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+1,48 điểm   ·   KTC 95% [+0,54; +2,43]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3400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tăng vẫn còn khi các bước trước do chính mô hình tạo ra, gần hơn với tình huống sử dụng thực tế.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4.7. Chuyển miền sang AitZ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là bộ dữ liệu giao diện khác, dùng để kiểm tra khả năng chuyển miền.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49047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2898648" y="1563624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1563624"/>
            <a:ext cx="36988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3488" y="1481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34,50%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27685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898648" y="2350008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350008"/>
            <a:ext cx="4051594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2267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37,79%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0632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2898648" y="3136392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3136392"/>
            <a:ext cx="3996916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3054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37,28%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60120" y="3931920"/>
            <a:ext cx="72237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246120" y="3931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Chênh lệch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212080" y="39319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S1 − Base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3246120" y="43525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+3,29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212080" y="43525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[+1,51; +5,03]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60120" y="4864608"/>
            <a:ext cx="72237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0120" y="4864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baseline S1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246120" y="486460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−0,51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212080" y="486460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[−1,39; +0,36]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502920" y="55321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vẫn cao hơn Base; GRPO-SPICE không khác rõ S1 về executability.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4.8. Ví dụ định tính</a:t>
            </a:r>
            <a:endParaRPr lang="en-US" sz="1820" dirty="0"/>
          </a:p>
        </p:txBody>
      </p:sp>
      <p:pic>
        <p:nvPicPr>
          <p:cNvPr id="4" name="Image 0" descr="/mnt/d/Master/Thesis/thesis/figures/fig_vidu_sp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3886200" cy="4489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8032" y="987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cần thực hiện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983480" y="1389888"/>
            <a:ext cx="3310128" cy="6583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38988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nút “Not now”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28032" y="2468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983480" y="2816352"/>
            <a:ext cx="331012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2816352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nhầm “Allow”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sai phần tử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28032" y="40416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983480" y="4389120"/>
            <a:ext cx="3310128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4389120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đúng “Not now”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đúng phần tử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559612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minh họa trực tiếp ý nghĩa của executability: câu chuyển từ quy chiếu sai nút sang đúng nút cần chạm.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4.9. Biến thiên giữa hai seed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ở cả hai seed, nhưng độ lớn mức tăng thay đổi theo seed.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7763256" cy="51206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290" dirty="0"/>
          </a:p>
        </p:txBody>
      </p:sp>
      <p:sp>
        <p:nvSpPr>
          <p:cNvPr id="7" name="Text 5"/>
          <p:cNvSpPr/>
          <p:nvPr/>
        </p:nvSpPr>
        <p:spPr>
          <a:xfrm>
            <a:off x="3611880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101</a:t>
            </a:r>
            <a:endParaRPr lang="en-US" sz="1290" dirty="0"/>
          </a:p>
        </p:txBody>
      </p:sp>
      <p:sp>
        <p:nvSpPr>
          <p:cNvPr id="8" name="Text 6"/>
          <p:cNvSpPr/>
          <p:nvPr/>
        </p:nvSpPr>
        <p:spPr>
          <a:xfrm>
            <a:off x="5184648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202</a:t>
            </a:r>
            <a:endParaRPr lang="en-US" sz="1290" dirty="0"/>
          </a:p>
        </p:txBody>
      </p:sp>
      <p:sp>
        <p:nvSpPr>
          <p:cNvPr id="9" name="Text 7"/>
          <p:cNvSpPr/>
          <p:nvPr/>
        </p:nvSpPr>
        <p:spPr>
          <a:xfrm>
            <a:off x="6757416" y="15727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(202 − 101)</a:t>
            </a:r>
            <a:endParaRPr lang="en-US" sz="129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4648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59,62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57416" y="20848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798064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22960" y="27980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4648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7416" y="279806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−0,72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511296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22960" y="35112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GRPO-SPICE − S1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611880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184648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+0,31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757416" y="3511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1005840" y="4663440"/>
            <a:ext cx="7132320" cy="87782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4663440"/>
            <a:ext cx="6693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hai seed đều cùng hướng so với baseline S1; seed thứ hai cho mức tăng nhỏ hơn.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Kết luận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hiện tại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38074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43584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hiện tập trung vào các bước có thao tác chạm.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2093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56816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nghiệm chính dùng AndroidControl tiếng Anh và Qwen2.5-VL-3B.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" y="28072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70048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mở rộng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1208" y="4251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114800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sang nhiều miền giao diện và dữ liệu tiếng Việt.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" y="51846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047488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executability cho thao tác ngoài chạm và chuỗi nhiều màn hình.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2029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tạo phần lớn mức tăng. ACE tiếp tục cải thiện chất lượng câu.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3328416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016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kiểm tra khả năng xác định đúng phần tử và đúng thao tác.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6144768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33502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giữ khi đổi công cụ định vị, chạy lại mô hình, xét tác vụ mới và lịch sử tự sinh.</a:t>
            </a:r>
            <a:endParaRPr lang="en-US" sz="1510" dirty="0"/>
          </a:p>
        </p:txBody>
      </p:sp>
      <p:sp>
        <p:nvSpPr>
          <p:cNvPr id="13" name="Text 11"/>
          <p:cNvSpPr/>
          <p:nvPr/>
        </p:nvSpPr>
        <p:spPr>
          <a:xfrm>
            <a:off x="502920" y="49560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đóng góp chính: phương pháp, độ đo và bằng chứng thực nghiệm.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5.2. Kết luận chung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8328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7220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7B prompting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21208" y="30175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0360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tăng +1,55 điểm trên tập kiểm chính và +4,58 điểm trên ACU.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" y="38587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21608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60,68% và tăng cả 7 chỉ số chất lượng câu.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1208" y="470001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562856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468112"/>
            <a:ext cx="731520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5468112"/>
            <a:ext cx="6876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thiết lập AndroidControl, GRPO-SPICE làm tăng đồng thời chất lượng câu và executability.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146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Trân trọng cảm ơn Quý thầy cô đã lắng nghe.</a:t>
            </a:r>
            <a:endParaRPr lang="en-US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đúng khi đồng thời: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5087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1208" y="22585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21408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mô tả thao tác theo nghĩa ngược.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1208" y="30083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71216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|px−gx| ≤ 0,14W; |py−gy| ≤ 0,14H.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1208" y="375818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21024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p nằm trong ô Voronoi của phần tử cần chạm.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= số bước đúng / tổng số bước chạm.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bộ thước đo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955280" cy="38404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65176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08076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7315200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502920" y="157276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0292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265176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374904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484632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608076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67,11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315200" y="15727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+0,09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502920" y="195681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02920" y="19568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65176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374904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484632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76,32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7315200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+0,07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502920" y="234086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02920" y="23408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265176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15,30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374904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484632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08076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7315200" y="23408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+1,11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502920" y="272491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02920" y="2724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265176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24,60</a:t>
            </a:r>
            <a:endParaRPr lang="en-US" sz="1170" dirty="0"/>
          </a:p>
        </p:txBody>
      </p:sp>
      <p:sp>
        <p:nvSpPr>
          <p:cNvPr id="41" name="Text 39"/>
          <p:cNvSpPr/>
          <p:nvPr/>
        </p:nvSpPr>
        <p:spPr>
          <a:xfrm>
            <a:off x="374904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484632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608076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7315200" y="27249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+0,45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502920" y="3108960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02920" y="3108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265176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42,30</a:t>
            </a:r>
            <a:endParaRPr lang="en-US" sz="1170" dirty="0"/>
          </a:p>
        </p:txBody>
      </p:sp>
      <p:sp>
        <p:nvSpPr>
          <p:cNvPr id="48" name="Text 46"/>
          <p:cNvSpPr/>
          <p:nvPr/>
        </p:nvSpPr>
        <p:spPr>
          <a:xfrm>
            <a:off x="374904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170" dirty="0"/>
          </a:p>
        </p:txBody>
      </p:sp>
      <p:sp>
        <p:nvSpPr>
          <p:cNvPr id="49" name="Text 47"/>
          <p:cNvSpPr/>
          <p:nvPr/>
        </p:nvSpPr>
        <p:spPr>
          <a:xfrm>
            <a:off x="484632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608076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170" dirty="0"/>
          </a:p>
        </p:txBody>
      </p:sp>
      <p:sp>
        <p:nvSpPr>
          <p:cNvPr id="51" name="Text 49"/>
          <p:cNvSpPr/>
          <p:nvPr/>
        </p:nvSpPr>
        <p:spPr>
          <a:xfrm>
            <a:off x="7315200" y="3108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+0,74</a:t>
            </a:r>
            <a:endParaRPr lang="en-US" sz="1170" dirty="0"/>
          </a:p>
        </p:txBody>
      </p:sp>
      <p:sp>
        <p:nvSpPr>
          <p:cNvPr id="52" name="Shape 50"/>
          <p:cNvSpPr/>
          <p:nvPr/>
        </p:nvSpPr>
        <p:spPr>
          <a:xfrm>
            <a:off x="502920" y="349300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02920" y="34930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70" dirty="0"/>
          </a:p>
        </p:txBody>
      </p:sp>
      <p:sp>
        <p:nvSpPr>
          <p:cNvPr id="54" name="Text 52"/>
          <p:cNvSpPr/>
          <p:nvPr/>
        </p:nvSpPr>
        <p:spPr>
          <a:xfrm>
            <a:off x="265176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170" dirty="0"/>
          </a:p>
        </p:txBody>
      </p:sp>
      <p:sp>
        <p:nvSpPr>
          <p:cNvPr id="55" name="Text 53"/>
          <p:cNvSpPr/>
          <p:nvPr/>
        </p:nvSpPr>
        <p:spPr>
          <a:xfrm>
            <a:off x="374904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170" dirty="0"/>
          </a:p>
        </p:txBody>
      </p:sp>
      <p:sp>
        <p:nvSpPr>
          <p:cNvPr id="56" name="Text 54"/>
          <p:cNvSpPr/>
          <p:nvPr/>
        </p:nvSpPr>
        <p:spPr>
          <a:xfrm>
            <a:off x="484632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170" dirty="0"/>
          </a:p>
        </p:txBody>
      </p:sp>
      <p:sp>
        <p:nvSpPr>
          <p:cNvPr id="57" name="Text 55"/>
          <p:cNvSpPr/>
          <p:nvPr/>
        </p:nvSpPr>
        <p:spPr>
          <a:xfrm>
            <a:off x="608076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170" dirty="0"/>
          </a:p>
        </p:txBody>
      </p:sp>
      <p:sp>
        <p:nvSpPr>
          <p:cNvPr id="58" name="Text 56"/>
          <p:cNvSpPr/>
          <p:nvPr/>
        </p:nvSpPr>
        <p:spPr>
          <a:xfrm>
            <a:off x="7315200" y="34930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+11,97</a:t>
            </a:r>
            <a:endParaRPr lang="en-US" sz="1170" dirty="0"/>
          </a:p>
        </p:txBody>
      </p:sp>
      <p:sp>
        <p:nvSpPr>
          <p:cNvPr id="59" name="Shape 57"/>
          <p:cNvSpPr/>
          <p:nvPr/>
        </p:nvSpPr>
        <p:spPr>
          <a:xfrm>
            <a:off x="502920" y="387705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502920" y="38770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265176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170" dirty="0"/>
          </a:p>
        </p:txBody>
      </p:sp>
      <p:sp>
        <p:nvSpPr>
          <p:cNvPr id="62" name="Text 60"/>
          <p:cNvSpPr/>
          <p:nvPr/>
        </p:nvSpPr>
        <p:spPr>
          <a:xfrm>
            <a:off x="374904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170" dirty="0"/>
          </a:p>
        </p:txBody>
      </p:sp>
      <p:sp>
        <p:nvSpPr>
          <p:cNvPr id="63" name="Text 61"/>
          <p:cNvSpPr/>
          <p:nvPr/>
        </p:nvSpPr>
        <p:spPr>
          <a:xfrm>
            <a:off x="484632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170" dirty="0"/>
          </a:p>
        </p:txBody>
      </p:sp>
      <p:sp>
        <p:nvSpPr>
          <p:cNvPr id="64" name="Text 62"/>
          <p:cNvSpPr/>
          <p:nvPr/>
        </p:nvSpPr>
        <p:spPr>
          <a:xfrm>
            <a:off x="608076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7315200" y="387705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+1,33</a:t>
            </a:r>
            <a:endParaRPr lang="en-US" sz="1170" dirty="0"/>
          </a:p>
        </p:txBody>
      </p:sp>
      <p:sp>
        <p:nvSpPr>
          <p:cNvPr id="66" name="Shape 64"/>
          <p:cNvSpPr/>
          <p:nvPr/>
        </p:nvSpPr>
        <p:spPr>
          <a:xfrm>
            <a:off x="502920" y="426110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502920" y="42611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170" dirty="0"/>
          </a:p>
        </p:txBody>
      </p:sp>
      <p:sp>
        <p:nvSpPr>
          <p:cNvPr id="68" name="Text 66"/>
          <p:cNvSpPr/>
          <p:nvPr/>
        </p:nvSpPr>
        <p:spPr>
          <a:xfrm>
            <a:off x="265176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40,20</a:t>
            </a:r>
            <a:endParaRPr lang="en-US" sz="1170" dirty="0"/>
          </a:p>
        </p:txBody>
      </p:sp>
      <p:sp>
        <p:nvSpPr>
          <p:cNvPr id="69" name="Text 67"/>
          <p:cNvSpPr/>
          <p:nvPr/>
        </p:nvSpPr>
        <p:spPr>
          <a:xfrm>
            <a:off x="374904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170" dirty="0"/>
          </a:p>
        </p:txBody>
      </p:sp>
      <p:sp>
        <p:nvSpPr>
          <p:cNvPr id="70" name="Text 68"/>
          <p:cNvSpPr/>
          <p:nvPr/>
        </p:nvSpPr>
        <p:spPr>
          <a:xfrm>
            <a:off x="484632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170" dirty="0"/>
          </a:p>
        </p:txBody>
      </p:sp>
      <p:sp>
        <p:nvSpPr>
          <p:cNvPr id="71" name="Text 69"/>
          <p:cNvSpPr/>
          <p:nvPr/>
        </p:nvSpPr>
        <p:spPr>
          <a:xfrm>
            <a:off x="608076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170" dirty="0"/>
          </a:p>
        </p:txBody>
      </p:sp>
      <p:sp>
        <p:nvSpPr>
          <p:cNvPr id="72" name="Text 70"/>
          <p:cNvSpPr/>
          <p:nvPr/>
        </p:nvSpPr>
        <p:spPr>
          <a:xfrm>
            <a:off x="7315200" y="42611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+0,58</a:t>
            </a:r>
            <a:endParaRPr lang="en-US" sz="1170" dirty="0"/>
          </a:p>
        </p:txBody>
      </p:sp>
      <p:sp>
        <p:nvSpPr>
          <p:cNvPr id="73" name="Shape 71"/>
          <p:cNvSpPr/>
          <p:nvPr/>
        </p:nvSpPr>
        <p:spPr>
          <a:xfrm>
            <a:off x="502920" y="464515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502920" y="4645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170" dirty="0"/>
          </a:p>
        </p:txBody>
      </p:sp>
      <p:sp>
        <p:nvSpPr>
          <p:cNvPr id="75" name="Text 73"/>
          <p:cNvSpPr/>
          <p:nvPr/>
        </p:nvSpPr>
        <p:spPr>
          <a:xfrm>
            <a:off x="265176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40,10</a:t>
            </a:r>
            <a:endParaRPr lang="en-US" sz="1170" dirty="0"/>
          </a:p>
        </p:txBody>
      </p:sp>
      <p:sp>
        <p:nvSpPr>
          <p:cNvPr id="76" name="Text 74"/>
          <p:cNvSpPr/>
          <p:nvPr/>
        </p:nvSpPr>
        <p:spPr>
          <a:xfrm>
            <a:off x="374904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170" dirty="0"/>
          </a:p>
        </p:txBody>
      </p:sp>
      <p:sp>
        <p:nvSpPr>
          <p:cNvPr id="77" name="Text 75"/>
          <p:cNvSpPr/>
          <p:nvPr/>
        </p:nvSpPr>
        <p:spPr>
          <a:xfrm>
            <a:off x="484632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170" dirty="0"/>
          </a:p>
        </p:txBody>
      </p:sp>
      <p:sp>
        <p:nvSpPr>
          <p:cNvPr id="78" name="Text 76"/>
          <p:cNvSpPr/>
          <p:nvPr/>
        </p:nvSpPr>
        <p:spPr>
          <a:xfrm>
            <a:off x="608076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170" dirty="0"/>
          </a:p>
        </p:txBody>
      </p:sp>
      <p:sp>
        <p:nvSpPr>
          <p:cNvPr id="79" name="Text 77"/>
          <p:cNvSpPr/>
          <p:nvPr/>
        </p:nvSpPr>
        <p:spPr>
          <a:xfrm>
            <a:off x="7315200" y="46451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+0,66</a:t>
            </a:r>
            <a:endParaRPr lang="en-US" sz="1170" dirty="0"/>
          </a:p>
        </p:txBody>
      </p:sp>
      <p:sp>
        <p:nvSpPr>
          <p:cNvPr id="80" name="Shape 7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bằng bốn công cụ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S1 trên cùng 4.463 bước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690372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192938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929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[+0,80; +2,33]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459736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60120" y="24597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45973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4597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[+0,82; +2,30]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990088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60120" y="29900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299008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[+0,05; +1,51]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520440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0120" y="3520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[+0,02; +1,40]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bốn khoảng tin cậy đều nằm trên 0. Phi-Ground và Phi-4 nằm ngoài họ Qwen.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hình huấn luyện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046720" cy="40233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Hạng mục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3246120" y="9144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3246120" y="13167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Qwen2.5-VL-3B-Instruct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NF4 4-bit, rank 8, alpha 16, dropout 0,05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epochs = 8.072 steps, batch hiệu dụng 16, LR 1e−4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3246120" y="263347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samples/prompt, 500 updates, LR 1e−5, KL β 0,04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cứng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3246120" y="307238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A100, vision tower không cập nhật tham số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đã khảo sát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Exec.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4114800" y="9601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rút ra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502920" y="138074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tả phần tử trước câu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017520" y="138074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4114800" y="138074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biểu diễn trung gian sai, câu cuối bị ảnh hưởng mạnh.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MIN-DESC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017520" y="196596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ưu tiên có đóng góp riêng +0,63 điểm so với học thêm có giám sát.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55117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tọa độ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3017520" y="255117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60,1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4114800" y="255117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diễn tọa độ tốt hơn nhưng thay đổi ở câu cuối nhỏ hơn.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502920" y="3136392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ứng viên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3017520" y="313639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56,1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4114800" y="313639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thực sự chọn, chất lượng khá tốt; vấn đề nằm ở quyết định từ chối chọn.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502920" y="372160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02920" y="372160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TAGE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3017520" y="37216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60,2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114800" y="372160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biên tập có ích khi vùng cắt đúng; khâu chọn vùng còn là điểm cần cải thiện.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813816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920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trung gian giúp xác định rằng tối ưu trực tiếp câu cuối phù hợp hơn với mục tiêu chính.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Phat sinh tu dong huong dan su dung phan mem dua tren LLM</dc:title>
  <dc:subject>Master thesis defense</dc:subject>
  <dc:creator>Le Doan Phuong Uyen</dc:creator>
  <cp:lastModifiedBy>Le Doan Phuong Uyen</cp:lastModifiedBy>
  <cp:revision>1</cp:revision>
  <dcterms:created xsi:type="dcterms:W3CDTF">2026-10-28T11:02:26Z</dcterms:created>
  <dcterms:modified xsi:type="dcterms:W3CDTF">2026-10-28T11:02:26Z</dcterms:modified>
</cp:coreProperties>
</file>