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giây] Kính thưa quý vị, tôi là Lê Đoàn Phương Uyên, Khoa Công nghệ Thông tin, Trường Đại học Khoa học Tự nhiên, Đại học Quốc gia Thành phố Hồ Chí Minh. Báo cáo này là công trình chung với thầy Nguyễn Hồng Bửu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giây] Bài toán ở đây là từ ảnh chụp màn hình và mục tiêu người dùng, viết ra một câu đủ để người đọc biết phải chạm vào đâu. Tôi sẽ dành nhiều thời gian nhất cho cách dựng nhãn và các kiểm định chất lượng, vì đó là hai phần mà một bộ ngữ liệu tự động cần chứng minh nhiều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giây] Một tác tử điều khiển giao diện nhận câu chỉ dẫn rồi trả về toạ độ để máy tự bấm. Chúng tôi làm chiều ngược lại: hệ thống nhận ảnh và mục tiêu, còn câu chỉ dẫn chính là thứ phải viết ra, cho người đọc chứ không cho máy.
Về mặt ngôn ngữ học, đây đúng là bài toán sinh biểu thức quy chiếu theo phát biểu của Dale và Reiter: câu sinh ra phải đủ để người nghe nhận ra đúng một đối tượng, không lẫn với những đối tượng khác cùng có mặt.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giây] Điểm làm miền giao diện khác hẳn ảnh tự nhiên nằm ở ba con số này. Đo trên 120 màn lấy ngẫu nhiên từ 99.131 màn của cây trợ năng, chỉ 12,6% phần tử có nhãn văn bản, và 22 trong 120 màn ấy không có phần tử nào được đặt tên. Trên 41.099 nhãn đã dựng, 22% phần tử cần chạm không có tên, 7,6% trùng tên. Hai nhóm này rời nhau nên gộp lại là 29,6% số bước.
Ở ảnh tự nhiên, đối tượng nào cũng có danh từ để gọi, nên quan hệ chỉ là phương án bổ sung. Ở đây, gần một phần ba số trường hợp, quan hệ với chữ lân cận là phương tiện quy chiếu duy nhất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giây] Khung khái niệm chúng tôi dùng lại nguyên từ dòng sinh biểu thức quy chiếu, gồm cả cách mô tả bằng quan hệ của Dale và Haddock. Phần thêm vào là đo phân bố nhãn trong một miền mà phương tiện gọi tên gần như không có sẵn.
So với Widget Captioning, nhãn của chúng tôi dựng bằng quy tắc chứ không do người viết. So với chính bài AndroidControl, câu chỉ dẫn theo bước của họ là đầu vào, còn ở đây là đầu ra mong đợi. Chúng tôi không dùng chữ đầu tiên cho ý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giây] Không bản phát hành công khai nào của AndroidControl mang đủ ba thành phần chúng tôi cần, nên phải ghép hai bản theo khoá episode và step.
Ghép lệch một bước là loại lỗi nguy hiểm nhất, vì số dòng vẫn đủ, huấn luyện vẫn hội tụ, mọi khâu vẫn chạy, trong khi mô hình học ảnh của bước này với câu của bước kia. Chúng tôi kiểm bằng cách chạy OCR ngay tại điểm chạm đáp án rồi xem chuỗi đọc được có nằm trong câu chỉ dẫn không. Ghép đúng cho 48,3%, đối chứng cố ý ghép lệch chỉ 19,6%. Bản thân 48% không nói lên điều gì; kết luận nằm ở khoảng cách giữa hai con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giây] Cây trợ năng lẽ ra là nguồn tên tự nhiên nhất, nhưng một màn có trung vị 86 phần tử mà chỉ 12,6% có nhãn. Vì vậy toàn bộ ảnh được đưa qua OCR. Hệ quả là trong hơn 32 nghìn tên lấy được, tỉ lệ giữa cây trợ năng và OCR vào khoảng một trên hai phẩy bảy.
Chúng tôi quan sát được hai dạng sai sót. Biểu tượng bị đọc thành ký tự nguy hiểm hơn, vì sinh ra chuỗi trông như tên thật. Nguyên tắc chúng tôi theo là với dữ liệu huấn luyện, lỗi bỏ sót ít tốn kém hơn hẳn lỗi gán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giây] Đây là dòng nhãn mà mô hình phải học để sinh ra, gồm bốn ô: vai trò, tên, toạ độ, và dấu hiệu phân biệt. Nhãn chỉ dựng cho bước chạm, và phần tử cần chạm xác định bằng hộp bao nhỏ nhất chứa điểm chạm của đáp án, vì cây trợ năng lồng nhiều tầng nên một điểm chạm nằm trong hàng chục hộp cùng lúc.
Hình dưới là một bước thật thuộc trường hợp khó, khi phần tử cần chạm không có tên. Bốn biểu tượng cùng vai trò, không cái nào có tên. Chương trình lấy chuỗi OCR gần nhất nằm ngoài hộp bao, ở đây là chữ Gmail cách tâm 114,5 px, làm mỏ neo. Đáng chú ý là câu của người chú thích cho cùng bước cũng quy chiếu qua đúng chữ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giây] Hai bộ lọc này không có trong thiết kế ban đầu; chúng tôi thêm sau khi đọc tay mẫu thử và thấy nhãn bị nhiễu, nên bài nêu đúng theo thứ tự thời gian đó.
Bộ lọc thứ nhất loại những chuỗi đúng cú pháp nhưng người dùng không dựa vào được để tìm ra nút. Bộ lọc thứ hai chỉ cho lấy tên từ OCR khi hộp chiếm dưới một phần tư màn. Điểm chung là khi tên không kiểm chứng được thì để ô tên trống, chứ không điền một chuỗi phỏng đoán.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giây] Đây là phần chúng tôi phải làm lại từ đầu. Bản đầu của ô thứ tư chỉ giải quyết được 7,3% số trường hợp, còn 85,8% là mệnh đề đếm số lượng, kiểu một trong bảy phần tử cùng loại. Mệnh đề như vậy đúng về mặt sự kiện, nhưng chỉ nêu rằng có mơ hồ chứ không giúp chọn ra phần tử nào.
Chúng tôi sắp xếp lại quy tắc theo tiêu chí mệnh đề có giải quyết được mơ hồ hay không, và bổ sung mỏ neo chữ. Trên cùng mẫu thử, tỉ lệ đi từ 7,3% lên 75,9%; trên toàn bộ ngữ liệu là 75,3%. Cách dựng chỉ bảo đảm hướng đúng, chưa bảo đảm mệnh đề hữu 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Bảng này phân loại toàn bộ 41.099 dấu hiệu theo tầng tên của phần tử cần chạm. Dòng tổng được 75,3%, nhưng con số gộp che mất chênh lệch giữa ba tầng, và chênh lệch ấy đi theo hướng bất lợi.
Tầng tên rõ ràng, tức tầng mà bản thân cái tên đã đủ quy chiếu, đạt 80,1%. Tầng chỉ có ký hiệu, nơi dấu hiệu gần như là phương tiện duy nhất còn lại, chỉ đạt 37,5%. Nguyên nhân là cơ học: mỏ neo cần một chuỗi OCR đủ gần, mà vùng dày biểu tượng không nhãn cũng thường là vùng thưa chữ. Hướng mỏ neo lệch theo trục ngang, đó là hệ quả của quy ước bố cục Android.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giây] Câu hỏi đặt ra là việc phân biệt có phải bài toán thật hay không, và chúng tôi trả lời bằng ba số đo từ hai phía.
Phía màn hình, 55,6% số bước có sẵn ít nhất một phần tử cạnh tranh đủ gần, và 91,6% có phần tử cùng vai trò, trung vị tám phần tử một màn. Phía ngôn ngữ, trong hơn 41 nghìn câu của người chú thích, 32,5% phải dùng tới từ chỉ vị trí hoặc thứ tự, còn quy trình tự động cho 67,2% dấu hiệu là quan hệ với chữ lân cận.
Khác biệt còn lại là người chú thích nhìn thấy hình dạng của biểu tượng rồi đặt tên, còn quy trình thì chỉ đọc được chữ.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giây] Về quy mô, tập huấn luyện có 64.567 bước với 41.191 bước chạm, tập kiểm tra có 6.958 bước. Bộ ngữ liệu chúng tôi đặt tên là GUIRefCorpus, gồm 41.099 dòng và 4.448 dòng.
Tập chia theo tác vụ, và kiểm rò rỉ chạy trên toàn bộ ngữ liệu cho kết quả không tác vụ nào trùng. Nhưng cách chia ấy chỉ bảo đảm đúng một điều đó. Nó không tách được cách diễn đạt, không biến tập kiểm tra thành tập ứng dụng chưa từng thấy, và hơn một nửa số bước không quy được về ứng dụng nào. Chúng tôi nêu cả ba để không ai đọc kết quả rộng hơn mức dữ liệu cho phép.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giây] Đây là chỗ dựa chính của bài. Một bộ ngữ liệu dựng bằng quy tắc có điểm yếu cố hữu: mọi số đo tính từ chính bộ quy tắc chỉ cho biết quy tắc chạy đúng như đã viết, chứ không cho biết nhãn có đúng hay không.
Quy trình dựng nhãn không đọc câu chỉ dẫn ở bất kỳ khâu nào, nên khi ô tên trùng chữ người chú thích dùng, đó là so sánh với nguồn bên ngoài. Trên 3.505 nhãn có tên, 53,5% ô tên xuất hiện nguyên văn trong câu của người. Đối chứng đầu có thể bị chê là quá dễ, nên chúng tôi làm chặt hơn, chỉ ghép với bước liền sau trong cùng một chuỗi thao tác, tức hai màn rất giống nhau; tỉ lệ khớp nhầm là 7,6% và tỉ số vẫn bảy lần. Con số 53,5% là một chặn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giây] Ba hạn chế chúng tôi nêu rõ. Thứ nhất, 24,7% dấu hiệu vẫn chưa giải quyết được mơ hồ; nguyên nhân đã xác định được nên chỗ này sửa được, hướng trước tiên là mở rộng nguồn neo sang các phần tử cùng vai trò.
Thứ hai, so sánh với nguồn bên ngoài mới chạm được một trong bốn ô; cách kiểm đúng nhất cho ô dấu hiệu là hỏi thẳng người dùng, và chúng tôi chưa làm được. Thứ ba là hai giới hạn đến từ chính bản phát hành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giây] Tóm lại, bài trình bày một quy trình hoàn toàn tự động chuyển AndroidControl thành bộ ngữ liệu GUIRefCorpus. Chữ hoàn toàn tự động nói về khâu dán nhãn: người vẫn tham gia nhưng chỉ ở khâu kiểm định, và mỗi lần thấy nhãn sai thì thứ được sửa là bộ quy tắc rồi dựng lại từ đầu.
Chỗ dựa chính là phép đối chiếu ngoại sinh, 53,5% so với 7,6% ở đối chứng khó. Và nguyên tắc chúng tôi rút ra là phải tìm cho ra cơ chế sinh ra một tỉ số bất thường trước khi lấy tỉ số ấy làm căn cứ đổi thiết kế.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giây] Tôi xin kết thúc ở đây. Cảm ơn quý vị đã lắng nghe, và rất mong nhận được câu hỏi cùng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về việc chất lượng nhãn ở mẫu thử có còn giữ được khi dựng cho toàn bộ ngữ liệu hay không. Sáu chỉ số lệch không quá 1,6 điểm phần trăm giữa hai quy mô, mà mẫu thử nhỏ hơn 38 lần. Slide này cũng có tỉ lệ 1 trên 2,7 giữa hai nguồn tên.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vì sao vẫn ưu tiên cây trợ năng trước OCR, dù OCR cho nhiều tên hơn. Đây là chỗ chúng tôi suýt đổi thiết kế vì một tỉ số 3,2 lần, rồi truy ra tỉ số ấy chỉ dựng trên 6,7% mẫu thử và cơ chế sinh ra nó là chuyện lọc chuỗi, không phải chuyện thứ tự.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bộ ngữ liệu được dùng như thế nào, hoặc làm sao bảo đảm bốn nhánh chỉ khác nhau đúng ở phần nhãn. Điểm cần nhấn là bất biến thứ nhất: câu được chấm giống hệt nhau từng byte ở cả bốn nhánh.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về việc dựng nhãn tự động thì làm sao biết nhãn đúng. Bốn lỗi này đều xảy ra trong lúc mọi khâu vẫn chạy bình thường, nên chỉ có kiểm định mới lộ ra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về chất lượng đầu vào, cụ thể là chuỗi mục tiêu của tác vụ. Cần nói rõ phần thiếu mất ngay từ bản phát hành gốc, và bốn nhánh dùng chung chuỗi đã bị cắt nên không tạo chênh lệch giữa chúng.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về giấy phép, quyền riêng tư, hoặc ý nghĩa của công trình với người dùng trợ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liệu mô hình có học được lối tắt nào từ cách dựng dữ liệu hay không. Quy tắc cứ chọn vế dài hơn chỉ đoán đúng 43,2%, thấp hơn cả mức ngẫu nhiên.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về kết quả huấn luyện. Phần đó thuộc bài đồng hành đang bình duyệt, nên ở đây chỉ nêu một quan sát liên quan tới giả định của ô dấu hiệu phân biệt, cùng cách dựng cặp quy chiếu trong dải 80 đến 350 px.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nhãn trông thế nào, hoặc nhãn tự động khác câu của người ra sao. Hai trường hợp đầu là chỗ nhãn làm được việc, hai trường hợp cuối là chỗ nhãn mới chỉ báo rằng có mơ hồ.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vì sao không nhờ một mô hình sinh nhãn cho tự nhiên hơn. Lập luận chính: nhãn quy tắc dựng lại được và kiểm định lại được, còn nhãn gán sai thì dạy mô hình gọi phần tử bằng chuỗi không tồn tại. Cũng nói thẳng chỗ yếu: nghèo hơn về chất lượng ngôn ngữ, và chúng tôi chưa định lượng được khoảng cách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con số 75,3% được tính ra sao, hoặc bốn nhóm dấu hiệu là gì. Điểm cần nói rõ: phép khớp là tất định vì khuôn do chính quy tắc sinh, nhưng cũng vì vậy nó chỉ đếm loại mệnh đề chứ không xác nhận mệnh đề hữu 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vì sao ngữ liệu là tiếng Anh, hoặc quy trình có chuyển sang tiếng Việt được không. Phải phân định rõ phần đã kiểm là việc đổi khuôn mẫu nhãn chỉ là thay đổi từ vựng, còn phần chưa đo là chạy quy trình trên giao diện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khi có câu hỏi bộ ngữ liệu gồm những trường gì, hoặc về giấy phép và ảnh đi kèm. Không hứa ngày phát hành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HỘI THẢO QUỐC GIA LẦN 4 VỀ NGÔN NGỮ HỌC TÍNH TOÁN  -  VCL 2026</a:t>
            </a:r>
            <a:endParaRPr lang="en-US" sz="1400" dirty="0"/>
          </a:p>
        </p:txBody>
      </p:sp>
      <p:sp>
        <p:nvSpPr>
          <p:cNvPr id="4" name="Shape 2"/>
          <p:cNvSpPr/>
          <p:nvPr/>
        </p:nvSpPr>
        <p:spPr>
          <a:xfrm>
            <a:off x="548640" y="1051560"/>
            <a:ext cx="8046720" cy="2468880"/>
          </a:xfrm>
          <a:prstGeom prst="roundRect">
            <a:avLst>
              <a:gd name="adj" fmla="val 3333"/>
            </a:avLst>
          </a:prstGeom>
          <a:solidFill>
            <a:srgbClr val="322164"/>
          </a:solidFill>
          <a:ln/>
          <a:effectLst>
            <a:outerShdw sx="100000" sy="100000" kx="0" ky="0" algn="bl" rotWithShape="0" blurRad="63500" dist="31750" dir="2700000">
              <a:srgbClr val="8C8C99">
                <a:alpha val="45000"/>
              </a:srgbClr>
            </a:outerShdw>
          </a:effectLst>
        </p:spPr>
      </p:sp>
      <p:sp>
        <p:nvSpPr>
          <p:cNvPr id="5" name="Text 3"/>
          <p:cNvSpPr/>
          <p:nvPr/>
        </p:nvSpPr>
        <p:spPr>
          <a:xfrm>
            <a:off x="685800" y="1325880"/>
            <a:ext cx="7772400" cy="1005840"/>
          </a:xfrm>
          <a:prstGeom prst="rect">
            <a:avLst/>
          </a:prstGeom>
          <a:noFill/>
          <a:ln/>
        </p:spPr>
        <p:txBody>
          <a:bodyPr wrap="square" lIns="0" tIns="0" rIns="0" bIns="0" rtlCol="0" anchor="t"/>
          <a:lstStyle/>
          <a:p>
            <a:pPr algn="ctr" indent="0" marL="0">
              <a:lnSpc>
                <a:spcPct val="125000"/>
              </a:lnSpc>
              <a:buNone/>
            </a:pPr>
            <a:r>
              <a:rPr lang="en-US" sz="2000" b="1" dirty="0">
                <a:solidFill>
                  <a:srgbClr val="FFFFFF"/>
                </a:solidFill>
                <a:latin typeface="Cambria" pitchFamily="34" charset="0"/>
                <a:ea typeface="Cambria" pitchFamily="34" charset="-122"/>
                <a:cs typeface="Cambria" pitchFamily="34" charset="-120"/>
              </a:rPr>
              <a:t>SINH HƯỚNG DẪN SỬ DỤNG PHẦN MỀM</a:t>
            </a:r>
            <a:endParaRPr lang="en-US" sz="2000" dirty="0"/>
          </a:p>
          <a:p>
            <a:pPr algn="ctr" indent="0" marL="0">
              <a:lnSpc>
                <a:spcPct val="125000"/>
              </a:lnSpc>
              <a:buNone/>
            </a:pPr>
            <a:r>
              <a:rPr lang="en-US" sz="2000" b="1" dirty="0">
                <a:solidFill>
                  <a:srgbClr val="FFFFFF"/>
                </a:solidFill>
                <a:latin typeface="Cambria" pitchFamily="34" charset="0"/>
                <a:ea typeface="Cambria" pitchFamily="34" charset="-122"/>
                <a:cs typeface="Cambria" pitchFamily="34" charset="-120"/>
              </a:rPr>
              <a:t>TỪ ẢNH CHỤP MÀN HÌNH VÀ MỤC TIÊU NGƯỜI DÙNG</a:t>
            </a:r>
            <a:endParaRPr lang="en-US" sz="2000" dirty="0"/>
          </a:p>
        </p:txBody>
      </p:sp>
      <p:sp>
        <p:nvSpPr>
          <p:cNvPr id="6" name="Text 4"/>
          <p:cNvSpPr/>
          <p:nvPr/>
        </p:nvSpPr>
        <p:spPr>
          <a:xfrm>
            <a:off x="685800" y="2423160"/>
            <a:ext cx="7772400" cy="914400"/>
          </a:xfrm>
          <a:prstGeom prst="rect">
            <a:avLst/>
          </a:prstGeom>
          <a:noFill/>
          <a:ln/>
        </p:spPr>
        <p:txBody>
          <a:bodyPr wrap="square" lIns="0" tIns="0" rIns="0" bIns="0" rtlCol="0" anchor="t"/>
          <a:lstStyle/>
          <a:p>
            <a:pPr algn="ctr" indent="0" marL="0">
              <a:lnSpc>
                <a:spcPct val="130000"/>
              </a:lnSpc>
              <a:buNone/>
            </a:pPr>
            <a:r>
              <a:rPr lang="en-US" sz="1700" dirty="0">
                <a:solidFill>
                  <a:srgbClr val="FFFFFF"/>
                </a:solidFill>
                <a:latin typeface="Cambria" pitchFamily="34" charset="0"/>
                <a:ea typeface="Cambria" pitchFamily="34" charset="-122"/>
                <a:cs typeface="Cambria" pitchFamily="34" charset="-120"/>
              </a:rPr>
              <a:t>Xây dựng ngữ liệu quy chiếu tự động</a:t>
            </a:r>
            <a:endParaRPr lang="en-US" sz="1700" dirty="0"/>
          </a:p>
          <a:p>
            <a:pPr algn="ctr" indent="0" marL="0">
              <a:lnSpc>
                <a:spcPct val="130000"/>
              </a:lnSpc>
              <a:buNone/>
            </a:pPr>
            <a:r>
              <a:rPr lang="en-US" sz="1700" dirty="0">
                <a:solidFill>
                  <a:srgbClr val="FFFFFF"/>
                </a:solidFill>
                <a:latin typeface="Cambria" pitchFamily="34" charset="0"/>
                <a:ea typeface="Cambria" pitchFamily="34" charset="-122"/>
                <a:cs typeface="Cambria" pitchFamily="34" charset="-120"/>
              </a:rPr>
              <a:t>khi phần tử giao diện không có tên cụ thể</a:t>
            </a:r>
            <a:endParaRPr lang="en-US" sz="1700" dirty="0"/>
          </a:p>
        </p:txBody>
      </p:sp>
      <p:sp>
        <p:nvSpPr>
          <p:cNvPr id="7" name="Text 5"/>
          <p:cNvSpPr/>
          <p:nvPr/>
        </p:nvSpPr>
        <p:spPr>
          <a:xfrm>
            <a:off x="548640" y="3886200"/>
            <a:ext cx="8046720" cy="365760"/>
          </a:xfrm>
          <a:prstGeom prst="rect">
            <a:avLst/>
          </a:prstGeom>
          <a:noFill/>
          <a:ln/>
        </p:spPr>
        <p:txBody>
          <a:bodyPr wrap="square" lIns="0" tIns="0" rIns="0" bIns="0" rtlCol="0" anchor="t"/>
          <a:lstStyle/>
          <a:p>
            <a:pPr algn="ctr" indent="0" marL="0">
              <a:buNone/>
            </a:pPr>
            <a:r>
              <a:rPr lang="en-US" sz="1600" b="1" dirty="0">
                <a:solidFill>
                  <a:srgbClr val="1A1A1A"/>
                </a:solidFill>
                <a:latin typeface="Cambria" pitchFamily="34" charset="0"/>
                <a:ea typeface="Cambria" pitchFamily="34" charset="-122"/>
                <a:cs typeface="Cambria" pitchFamily="34" charset="-120"/>
              </a:rPr>
              <a:t>Lê Đoàn Phương Uyên   ·   Nguyễn Hồng Bửu Long</a:t>
            </a:r>
            <a:endParaRPr lang="en-US" sz="1600" dirty="0"/>
          </a:p>
        </p:txBody>
      </p:sp>
      <p:sp>
        <p:nvSpPr>
          <p:cNvPr id="8" name="Text 6"/>
          <p:cNvSpPr/>
          <p:nvPr/>
        </p:nvSpPr>
        <p:spPr>
          <a:xfrm>
            <a:off x="548640" y="4297680"/>
            <a:ext cx="8046720" cy="320040"/>
          </a:xfrm>
          <a:prstGeom prst="rect">
            <a:avLst/>
          </a:prstGeom>
          <a:noFill/>
          <a:ln/>
        </p:spPr>
        <p:txBody>
          <a:bodyPr wrap="square" lIns="0" tIns="0" rIns="0" bIns="0" rtlCol="0" anchor="t"/>
          <a:lstStyle/>
          <a:p>
            <a:pPr algn="ctr" indent="0" marL="0">
              <a:buNone/>
            </a:pPr>
            <a:r>
              <a:rPr lang="en-US" sz="1300" dirty="0">
                <a:solidFill>
                  <a:srgbClr val="5A5A66"/>
                </a:solidFill>
                <a:latin typeface="Cambria" pitchFamily="34" charset="0"/>
                <a:ea typeface="Cambria" pitchFamily="34" charset="-122"/>
                <a:cs typeface="Cambria" pitchFamily="34" charset="-120"/>
              </a:rPr>
              <a:t>Khoa Công nghệ Thông tin, Trường Đại học Khoa học Tự nhiên, ĐHQG-HCM</a:t>
            </a:r>
            <a:endParaRPr lang="en-US" sz="1300" dirty="0"/>
          </a:p>
        </p:txBody>
      </p:sp>
      <p:sp>
        <p:nvSpPr>
          <p:cNvPr id="9" name="Shape 7"/>
          <p:cNvSpPr/>
          <p:nvPr/>
        </p:nvSpPr>
        <p:spPr>
          <a:xfrm>
            <a:off x="1828800" y="4892040"/>
            <a:ext cx="5486400" cy="685800"/>
          </a:xfrm>
          <a:prstGeom prst="roundRect">
            <a:avLst>
              <a:gd name="adj" fmla="val 8000"/>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1828800" y="4892040"/>
            <a:ext cx="5486400" cy="685800"/>
          </a:xfrm>
          <a:prstGeom prst="rect">
            <a:avLst/>
          </a:prstGeom>
          <a:noFill/>
          <a:ln/>
        </p:spPr>
        <p:txBody>
          <a:bodyPr wrap="square" lIns="0" tIns="0" rIns="0" bIns="0" rtlCol="0" anchor="ctr"/>
          <a:lstStyle/>
          <a:p>
            <a:pPr algn="ctr" indent="0" marL="0">
              <a:buNone/>
            </a:pPr>
            <a:r>
              <a:rPr lang="en-US" sz="1350" b="1" dirty="0">
                <a:solidFill>
                  <a:srgbClr val="322164"/>
                </a:solidFill>
                <a:latin typeface="Cambria" pitchFamily="34" charset="0"/>
                <a:ea typeface="Cambria" pitchFamily="34" charset="-122"/>
                <a:cs typeface="Cambria" pitchFamily="34" charset="-120"/>
              </a:rPr>
              <a:t>Bộ ngữ liệu GUIRefCorpus  ·  41.099 nhãn dựng hoàn toàn bằng quy tắc</a:t>
            </a:r>
            <a:endParaRPr lang="en-US" sz="1350" dirty="0"/>
          </a:p>
        </p:txBody>
      </p:sp>
      <p:sp>
        <p:nvSpPr>
          <p:cNvPr id="12" name="Shape 9"/>
          <p:cNvSpPr/>
          <p:nvPr/>
        </p:nvSpPr>
        <p:spPr>
          <a:xfrm>
            <a:off x="0" y="6620256"/>
            <a:ext cx="2743200" cy="237744"/>
          </a:xfrm>
          <a:prstGeom prst="rect">
            <a:avLst/>
          </a:prstGeom>
          <a:solidFill>
            <a:srgbClr val="191132"/>
          </a:solidFill>
          <a:ln/>
        </p:spPr>
      </p:sp>
      <p:sp>
        <p:nvSpPr>
          <p:cNvPr id="13" name="Shape 10"/>
          <p:cNvSpPr/>
          <p:nvPr/>
        </p:nvSpPr>
        <p:spPr>
          <a:xfrm>
            <a:off x="2743200" y="6620256"/>
            <a:ext cx="3383280" cy="237744"/>
          </a:xfrm>
          <a:prstGeom prst="rect">
            <a:avLst/>
          </a:prstGeom>
          <a:solidFill>
            <a:srgbClr val="25194B"/>
          </a:solidFill>
          <a:ln/>
        </p:spPr>
      </p:sp>
      <p:sp>
        <p:nvSpPr>
          <p:cNvPr id="14" name="Shape 11"/>
          <p:cNvSpPr/>
          <p:nvPr/>
        </p:nvSpPr>
        <p:spPr>
          <a:xfrm>
            <a:off x="6126480" y="6620256"/>
            <a:ext cx="1737360" cy="237744"/>
          </a:xfrm>
          <a:prstGeom prst="rect">
            <a:avLst/>
          </a:prstGeom>
          <a:solidFill>
            <a:srgbClr val="4F417A"/>
          </a:solidFill>
          <a:ln/>
        </p:spPr>
      </p:sp>
      <p:sp>
        <p:nvSpPr>
          <p:cNvPr id="15" name="Shape 12"/>
          <p:cNvSpPr/>
          <p:nvPr/>
        </p:nvSpPr>
        <p:spPr>
          <a:xfrm>
            <a:off x="7863840" y="6620256"/>
            <a:ext cx="1280160" cy="237744"/>
          </a:xfrm>
          <a:prstGeom prst="rect">
            <a:avLst/>
          </a:prstGeom>
          <a:solidFill>
            <a:srgbClr val="7A7099"/>
          </a:solidFill>
          <a:ln/>
        </p:spPr>
      </p:sp>
      <p:sp>
        <p:nvSpPr>
          <p:cNvPr id="16" name="Text 1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17" name="Text 1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18" name="Text 1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9" name="Text 1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Nội dung trình bày</a:t>
            </a:r>
            <a:endParaRPr lang="en-US" sz="1900" dirty="0"/>
          </a:p>
        </p:txBody>
      </p:sp>
      <p:sp>
        <p:nvSpPr>
          <p:cNvPr id="4" name="Shape 2"/>
          <p:cNvSpPr/>
          <p:nvPr/>
        </p:nvSpPr>
        <p:spPr>
          <a:xfrm>
            <a:off x="502920" y="777240"/>
            <a:ext cx="8138160" cy="731520"/>
          </a:xfrm>
          <a:prstGeom prst="roundRect">
            <a:avLst>
              <a:gd name="adj" fmla="val 75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777240"/>
            <a:ext cx="7680960" cy="731520"/>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Vào:  </a:t>
            </a:r>
            <a:pPr algn="l" indent="0" marL="0">
              <a:buNone/>
            </a:pPr>
            <a:r>
              <a:rPr lang="en-US" sz="1400" b="1" dirty="0">
                <a:solidFill>
                  <a:srgbClr val="322164"/>
                </a:solidFill>
                <a:latin typeface="Cambria" pitchFamily="34" charset="0"/>
                <a:ea typeface="Cambria" pitchFamily="34" charset="-122"/>
                <a:cs typeface="Cambria" pitchFamily="34" charset="-120"/>
              </a:rPr>
              <a:t>ảnh màn hình và mục tiêu người dùng.     </a:t>
            </a:r>
            <a:pPr algn="l" indent="0" marL="0">
              <a:buNone/>
            </a:pPr>
            <a:r>
              <a:rPr lang="en-US" sz="1400" b="1" dirty="0">
                <a:solidFill>
                  <a:srgbClr val="B22222"/>
                </a:solidFill>
                <a:latin typeface="Cambria" pitchFamily="34" charset="0"/>
                <a:ea typeface="Cambria" pitchFamily="34" charset="-122"/>
                <a:cs typeface="Cambria" pitchFamily="34" charset="-120"/>
              </a:rPr>
              <a:t>Ra:  </a:t>
            </a:r>
            <a:pPr algn="l" indent="0" marL="0">
              <a:buNone/>
            </a:pPr>
            <a:r>
              <a:rPr lang="en-US" sz="1400" b="1" dirty="0">
                <a:solidFill>
                  <a:srgbClr val="322164"/>
                </a:solidFill>
                <a:latin typeface="Cambria" pitchFamily="34" charset="0"/>
                <a:ea typeface="Cambria" pitchFamily="34" charset="-122"/>
                <a:cs typeface="Cambria" pitchFamily="34" charset="-120"/>
              </a:rPr>
              <a:t>một câu đủ để người đọc biết chạm vào đâu.</a:t>
            </a:r>
            <a:endParaRPr lang="en-US" sz="1400" dirty="0"/>
          </a:p>
        </p:txBody>
      </p:sp>
      <p:sp>
        <p:nvSpPr>
          <p:cNvPr id="6" name="Text 4"/>
          <p:cNvSpPr/>
          <p:nvPr/>
        </p:nvSpPr>
        <p:spPr>
          <a:xfrm>
            <a:off x="1234440" y="1783080"/>
            <a:ext cx="7132320" cy="411480"/>
          </a:xfrm>
          <a:prstGeom prst="rect">
            <a:avLst/>
          </a:prstGeom>
          <a:noFill/>
          <a:ln/>
        </p:spPr>
        <p:txBody>
          <a:bodyPr wrap="square" lIns="0" tIns="0" rIns="0" bIns="0" rtlCol="0" anchor="t"/>
          <a:lstStyle/>
          <a:p>
            <a:pPr algn="l" indent="0" marL="0">
              <a:buNone/>
            </a:pPr>
            <a:r>
              <a:rPr lang="en-US" sz="1600" b="1" dirty="0">
                <a:solidFill>
                  <a:srgbClr val="006666"/>
                </a:solidFill>
                <a:latin typeface="Cambria" pitchFamily="34" charset="0"/>
                <a:ea typeface="Cambria" pitchFamily="34" charset="-122"/>
                <a:cs typeface="Cambria" pitchFamily="34" charset="-120"/>
              </a:rPr>
              <a:t>1.</a:t>
            </a:r>
            <a:pPr algn="l" indent="0" marL="0">
              <a:buNone/>
            </a:pPr>
            <a:r>
              <a:rPr lang="en-US" sz="1600" b="1" dirty="0">
                <a:solidFill>
                  <a:srgbClr val="322164"/>
                </a:solidFill>
                <a:latin typeface="Cambria" pitchFamily="34" charset="0"/>
                <a:ea typeface="Cambria" pitchFamily="34" charset="-122"/>
                <a:cs typeface="Cambria" pitchFamily="34" charset="-120"/>
              </a:rPr>
              <a:t>   Bài toán quy chiếu trong miền giao diện</a:t>
            </a:r>
            <a:endParaRPr lang="en-US" sz="1600" dirty="0"/>
          </a:p>
        </p:txBody>
      </p:sp>
      <p:sp>
        <p:nvSpPr>
          <p:cNvPr id="7" name="Text 5"/>
          <p:cNvSpPr/>
          <p:nvPr/>
        </p:nvSpPr>
        <p:spPr>
          <a:xfrm>
            <a:off x="1234440" y="2331720"/>
            <a:ext cx="7132320" cy="411480"/>
          </a:xfrm>
          <a:prstGeom prst="rect">
            <a:avLst/>
          </a:prstGeom>
          <a:noFill/>
          <a:ln/>
        </p:spPr>
        <p:txBody>
          <a:bodyPr wrap="square" lIns="0" tIns="0" rIns="0" bIns="0" rtlCol="0" anchor="t"/>
          <a:lstStyle/>
          <a:p>
            <a:pPr algn="l" indent="0" marL="0">
              <a:buNone/>
            </a:pPr>
            <a:r>
              <a:rPr lang="en-US" sz="1600" b="1" dirty="0">
                <a:solidFill>
                  <a:srgbClr val="006666"/>
                </a:solidFill>
                <a:latin typeface="Cambria" pitchFamily="34" charset="0"/>
                <a:ea typeface="Cambria" pitchFamily="34" charset="-122"/>
                <a:cs typeface="Cambria" pitchFamily="34" charset="-120"/>
              </a:rPr>
              <a:t>2.</a:t>
            </a:r>
            <a:pPr algn="l" indent="0" marL="0">
              <a:buNone/>
            </a:pPr>
            <a:r>
              <a:rPr lang="en-US" sz="1600" b="1" dirty="0">
                <a:solidFill>
                  <a:srgbClr val="322164"/>
                </a:solidFill>
                <a:latin typeface="Cambria" pitchFamily="34" charset="0"/>
                <a:ea typeface="Cambria" pitchFamily="34" charset="-122"/>
                <a:cs typeface="Cambria" pitchFamily="34" charset="-120"/>
              </a:rPr>
              <a:t>   Quy trình dựng nhãn tự động cho 41.099 bước</a:t>
            </a:r>
            <a:endParaRPr lang="en-US" sz="1600" dirty="0"/>
          </a:p>
        </p:txBody>
      </p:sp>
      <p:sp>
        <p:nvSpPr>
          <p:cNvPr id="8" name="Text 6"/>
          <p:cNvSpPr/>
          <p:nvPr/>
        </p:nvSpPr>
        <p:spPr>
          <a:xfrm>
            <a:off x="1234440" y="2880360"/>
            <a:ext cx="7132320" cy="411480"/>
          </a:xfrm>
          <a:prstGeom prst="rect">
            <a:avLst/>
          </a:prstGeom>
          <a:noFill/>
          <a:ln/>
        </p:spPr>
        <p:txBody>
          <a:bodyPr wrap="square" lIns="0" tIns="0" rIns="0" bIns="0" rtlCol="0" anchor="t"/>
          <a:lstStyle/>
          <a:p>
            <a:pPr algn="l" indent="0" marL="0">
              <a:buNone/>
            </a:pPr>
            <a:r>
              <a:rPr lang="en-US" sz="1600" b="1" dirty="0">
                <a:solidFill>
                  <a:srgbClr val="006666"/>
                </a:solidFill>
                <a:latin typeface="Cambria" pitchFamily="34" charset="0"/>
                <a:ea typeface="Cambria" pitchFamily="34" charset="-122"/>
                <a:cs typeface="Cambria" pitchFamily="34" charset="-120"/>
              </a:rPr>
              <a:t>3.</a:t>
            </a:r>
            <a:pPr algn="l" indent="0" marL="0">
              <a:buNone/>
            </a:pPr>
            <a:r>
              <a:rPr lang="en-US" sz="1600" b="1" dirty="0">
                <a:solidFill>
                  <a:srgbClr val="322164"/>
                </a:solidFill>
                <a:latin typeface="Cambria" pitchFamily="34" charset="0"/>
                <a:ea typeface="Cambria" pitchFamily="34" charset="-122"/>
                <a:cs typeface="Cambria" pitchFamily="34" charset="-120"/>
              </a:rPr>
              <a:t>   Chiến lược quy chiếu của nhãn và của người chú thích</a:t>
            </a:r>
            <a:endParaRPr lang="en-US" sz="1600" dirty="0"/>
          </a:p>
        </p:txBody>
      </p:sp>
      <p:sp>
        <p:nvSpPr>
          <p:cNvPr id="9" name="Text 7"/>
          <p:cNvSpPr/>
          <p:nvPr/>
        </p:nvSpPr>
        <p:spPr>
          <a:xfrm>
            <a:off x="1234440" y="3429000"/>
            <a:ext cx="7132320" cy="411480"/>
          </a:xfrm>
          <a:prstGeom prst="rect">
            <a:avLst/>
          </a:prstGeom>
          <a:noFill/>
          <a:ln/>
        </p:spPr>
        <p:txBody>
          <a:bodyPr wrap="square" lIns="0" tIns="0" rIns="0" bIns="0" rtlCol="0" anchor="t"/>
          <a:lstStyle/>
          <a:p>
            <a:pPr algn="l" indent="0" marL="0">
              <a:buNone/>
            </a:pPr>
            <a:r>
              <a:rPr lang="en-US" sz="1600" b="1" dirty="0">
                <a:solidFill>
                  <a:srgbClr val="006666"/>
                </a:solidFill>
                <a:latin typeface="Cambria" pitchFamily="34" charset="0"/>
                <a:ea typeface="Cambria" pitchFamily="34" charset="-122"/>
                <a:cs typeface="Cambria" pitchFamily="34" charset="-120"/>
              </a:rPr>
              <a:t>4.</a:t>
            </a:r>
            <a:pPr algn="l" indent="0" marL="0">
              <a:buNone/>
            </a:pPr>
            <a:r>
              <a:rPr lang="en-US" sz="1600" b="1" dirty="0">
                <a:solidFill>
                  <a:srgbClr val="322164"/>
                </a:solidFill>
                <a:latin typeface="Cambria" pitchFamily="34" charset="0"/>
                <a:ea typeface="Cambria" pitchFamily="34" charset="-122"/>
                <a:cs typeface="Cambria" pitchFamily="34" charset="-120"/>
              </a:rPr>
              <a:t>   Kiểm định chất lượng, trong đó có một nguồn ngoài quy trình</a:t>
            </a:r>
            <a:endParaRPr lang="en-US" sz="1600" dirty="0"/>
          </a:p>
        </p:txBody>
      </p:sp>
      <p:sp>
        <p:nvSpPr>
          <p:cNvPr id="10" name="Text 8"/>
          <p:cNvSpPr/>
          <p:nvPr/>
        </p:nvSpPr>
        <p:spPr>
          <a:xfrm>
            <a:off x="1234440" y="3977640"/>
            <a:ext cx="7132320" cy="411480"/>
          </a:xfrm>
          <a:prstGeom prst="rect">
            <a:avLst/>
          </a:prstGeom>
          <a:noFill/>
          <a:ln/>
        </p:spPr>
        <p:txBody>
          <a:bodyPr wrap="square" lIns="0" tIns="0" rIns="0" bIns="0" rtlCol="0" anchor="t"/>
          <a:lstStyle/>
          <a:p>
            <a:pPr algn="l" indent="0" marL="0">
              <a:buNone/>
            </a:pPr>
            <a:r>
              <a:rPr lang="en-US" sz="1600" b="1" dirty="0">
                <a:solidFill>
                  <a:srgbClr val="006666"/>
                </a:solidFill>
                <a:latin typeface="Cambria" pitchFamily="34" charset="0"/>
                <a:ea typeface="Cambria" pitchFamily="34" charset="-122"/>
                <a:cs typeface="Cambria" pitchFamily="34" charset="-120"/>
              </a:rPr>
              <a:t>5.</a:t>
            </a:r>
            <a:pPr algn="l" indent="0" marL="0">
              <a:buNone/>
            </a:pPr>
            <a:r>
              <a:rPr lang="en-US" sz="1600" b="1" dirty="0">
                <a:solidFill>
                  <a:srgbClr val="322164"/>
                </a:solidFill>
                <a:latin typeface="Cambria" pitchFamily="34" charset="0"/>
                <a:ea typeface="Cambria" pitchFamily="34" charset="-122"/>
                <a:cs typeface="Cambria" pitchFamily="34" charset="-120"/>
              </a:rPr>
              <a:t>   Hạn chế và kết luận</a:t>
            </a:r>
            <a:endParaRPr lang="en-US" sz="1600" dirty="0"/>
          </a:p>
        </p:txBody>
      </p:sp>
      <p:sp>
        <p:nvSpPr>
          <p:cNvPr id="11" name="Text 9"/>
          <p:cNvSpPr/>
          <p:nvPr/>
        </p:nvSpPr>
        <p:spPr>
          <a:xfrm>
            <a:off x="502920" y="4663440"/>
            <a:ext cx="8138160" cy="292608"/>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Ba đóng góp của bài</a:t>
            </a:r>
            <a:endParaRPr lang="en-US" sz="1400" dirty="0"/>
          </a:p>
        </p:txBody>
      </p:sp>
      <p:sp>
        <p:nvSpPr>
          <p:cNvPr id="12" name="Text 10"/>
          <p:cNvSpPr/>
          <p:nvPr/>
        </p:nvSpPr>
        <p:spPr>
          <a:xfrm>
            <a:off x="594360" y="4983480"/>
            <a:ext cx="201168" cy="38404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13" name="Text 11"/>
          <p:cNvSpPr/>
          <p:nvPr/>
        </p:nvSpPr>
        <p:spPr>
          <a:xfrm>
            <a:off x="822960" y="4983480"/>
            <a:ext cx="7726680" cy="365760"/>
          </a:xfrm>
          <a:prstGeom prst="rect">
            <a:avLst/>
          </a:prstGeom>
          <a:noFill/>
          <a:ln/>
        </p:spPr>
        <p:txBody>
          <a:bodyPr wrap="square" lIns="0" tIns="0" rIns="0" bIns="0" rtlCol="0" anchor="t"/>
          <a:lstStyle/>
          <a:p>
            <a:pPr algn="l" indent="0" marL="0">
              <a:lnSpc>
                <a:spcPct val="115000"/>
              </a:lnSpc>
              <a:buNone/>
            </a:pPr>
            <a:r>
              <a:rPr lang="en-US" sz="1200" dirty="0">
                <a:solidFill>
                  <a:srgbClr val="1A1A1A"/>
                </a:solidFill>
                <a:latin typeface="Cambria" pitchFamily="34" charset="0"/>
                <a:ea typeface="Cambria" pitchFamily="34" charset="-122"/>
                <a:cs typeface="Cambria" pitchFamily="34" charset="-120"/>
              </a:rPr>
              <a:t>Quy trình tự động dựng nhãn mô tả có cấu trúc, kèm hai bộ lọc thêm vào sau khi đo thấy nhãn bị nhiễu</a:t>
            </a:r>
            <a:endParaRPr lang="en-US" sz="1200" dirty="0"/>
          </a:p>
        </p:txBody>
      </p:sp>
      <p:sp>
        <p:nvSpPr>
          <p:cNvPr id="14" name="Text 12"/>
          <p:cNvSpPr/>
          <p:nvPr/>
        </p:nvSpPr>
        <p:spPr>
          <a:xfrm>
            <a:off x="594360" y="5367528"/>
            <a:ext cx="201168" cy="38404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15" name="Text 13"/>
          <p:cNvSpPr/>
          <p:nvPr/>
        </p:nvSpPr>
        <p:spPr>
          <a:xfrm>
            <a:off x="822960" y="5367528"/>
            <a:ext cx="7726680" cy="365760"/>
          </a:xfrm>
          <a:prstGeom prst="rect">
            <a:avLst/>
          </a:prstGeom>
          <a:noFill/>
          <a:ln/>
        </p:spPr>
        <p:txBody>
          <a:bodyPr wrap="square" lIns="0" tIns="0" rIns="0" bIns="0" rtlCol="0" anchor="t"/>
          <a:lstStyle/>
          <a:p>
            <a:pPr algn="l" indent="0" marL="0">
              <a:lnSpc>
                <a:spcPct val="115000"/>
              </a:lnSpc>
              <a:buNone/>
            </a:pPr>
            <a:r>
              <a:rPr lang="en-US" sz="1200" dirty="0">
                <a:solidFill>
                  <a:srgbClr val="1A1A1A"/>
                </a:solidFill>
                <a:latin typeface="Cambria" pitchFamily="34" charset="0"/>
                <a:ea typeface="Cambria" pitchFamily="34" charset="-122"/>
                <a:cs typeface="Cambria" pitchFamily="34" charset="-120"/>
              </a:rPr>
              <a:t>Quy trình kiểm định chất lượng dùng lại được: đối chứng ghép sai, chín bất biến, kiểm rò rỉ, đối chiếu với câu của người</a:t>
            </a:r>
            <a:endParaRPr lang="en-US" sz="1200" dirty="0"/>
          </a:p>
        </p:txBody>
      </p:sp>
      <p:sp>
        <p:nvSpPr>
          <p:cNvPr id="16" name="Text 14"/>
          <p:cNvSpPr/>
          <p:nvPr/>
        </p:nvSpPr>
        <p:spPr>
          <a:xfrm>
            <a:off x="594360" y="5751576"/>
            <a:ext cx="201168" cy="38404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17" name="Text 15"/>
          <p:cNvSpPr/>
          <p:nvPr/>
        </p:nvSpPr>
        <p:spPr>
          <a:xfrm>
            <a:off x="822960" y="5751576"/>
            <a:ext cx="7726680" cy="365760"/>
          </a:xfrm>
          <a:prstGeom prst="rect">
            <a:avLst/>
          </a:prstGeom>
          <a:noFill/>
          <a:ln/>
        </p:spPr>
        <p:txBody>
          <a:bodyPr wrap="square" lIns="0" tIns="0" rIns="0" bIns="0" rtlCol="0" anchor="t"/>
          <a:lstStyle/>
          <a:p>
            <a:pPr algn="l" indent="0" marL="0">
              <a:lnSpc>
                <a:spcPct val="115000"/>
              </a:lnSpc>
              <a:buNone/>
            </a:pPr>
            <a:r>
              <a:rPr lang="en-US" sz="1200" dirty="0">
                <a:solidFill>
                  <a:srgbClr val="1A1A1A"/>
                </a:solidFill>
                <a:latin typeface="Cambria" pitchFamily="34" charset="0"/>
                <a:ea typeface="Cambria" pitchFamily="34" charset="-122"/>
                <a:cs typeface="Cambria" pitchFamily="34" charset="-120"/>
              </a:rPr>
              <a:t>Phân tích chiến lược quy chiếu trên 41.099 nhãn và 41.084 câu của người chú thích</a:t>
            </a:r>
            <a:endParaRPr lang="en-US" sz="1200" dirty="0"/>
          </a:p>
        </p:txBody>
      </p:sp>
      <p:sp>
        <p:nvSpPr>
          <p:cNvPr id="19" name="Shape 16"/>
          <p:cNvSpPr/>
          <p:nvPr/>
        </p:nvSpPr>
        <p:spPr>
          <a:xfrm>
            <a:off x="0" y="6620256"/>
            <a:ext cx="2743200" cy="237744"/>
          </a:xfrm>
          <a:prstGeom prst="rect">
            <a:avLst/>
          </a:prstGeom>
          <a:solidFill>
            <a:srgbClr val="191132"/>
          </a:solidFill>
          <a:ln/>
        </p:spPr>
      </p:sp>
      <p:sp>
        <p:nvSpPr>
          <p:cNvPr id="20" name="Shape 17"/>
          <p:cNvSpPr/>
          <p:nvPr/>
        </p:nvSpPr>
        <p:spPr>
          <a:xfrm>
            <a:off x="2743200" y="6620256"/>
            <a:ext cx="3383280" cy="237744"/>
          </a:xfrm>
          <a:prstGeom prst="rect">
            <a:avLst/>
          </a:prstGeom>
          <a:solidFill>
            <a:srgbClr val="25194B"/>
          </a:solidFill>
          <a:ln/>
        </p:spPr>
      </p:sp>
      <p:sp>
        <p:nvSpPr>
          <p:cNvPr id="21" name="Shape 18"/>
          <p:cNvSpPr/>
          <p:nvPr/>
        </p:nvSpPr>
        <p:spPr>
          <a:xfrm>
            <a:off x="6126480" y="6620256"/>
            <a:ext cx="1737360" cy="237744"/>
          </a:xfrm>
          <a:prstGeom prst="rect">
            <a:avLst/>
          </a:prstGeom>
          <a:solidFill>
            <a:srgbClr val="4F417A"/>
          </a:solidFill>
          <a:ln/>
        </p:spPr>
      </p:sp>
      <p:sp>
        <p:nvSpPr>
          <p:cNvPr id="22" name="Shape 19"/>
          <p:cNvSpPr/>
          <p:nvPr/>
        </p:nvSpPr>
        <p:spPr>
          <a:xfrm>
            <a:off x="7863840" y="6620256"/>
            <a:ext cx="1280160" cy="237744"/>
          </a:xfrm>
          <a:prstGeom prst="rect">
            <a:avLst/>
          </a:prstGeom>
          <a:solidFill>
            <a:srgbClr val="7A7099"/>
          </a:solidFill>
          <a:ln/>
        </p:spPr>
      </p:sp>
      <p:sp>
        <p:nvSpPr>
          <p:cNvPr id="23"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4"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5"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 · Bài toán: viết câu để người khác trỏ đúng một phần tử</a:t>
            </a:r>
            <a:endParaRPr lang="en-US" sz="1900" dirty="0"/>
          </a:p>
        </p:txBody>
      </p:sp>
      <p:sp>
        <p:nvSpPr>
          <p:cNvPr id="4" name="Shape 2"/>
          <p:cNvSpPr/>
          <p:nvPr/>
        </p:nvSpPr>
        <p:spPr>
          <a:xfrm>
            <a:off x="502920" y="77724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868680"/>
            <a:ext cx="7680960" cy="457200"/>
          </a:xfrm>
          <a:prstGeom prst="rect">
            <a:avLst/>
          </a:prstGeom>
          <a:noFill/>
          <a:ln/>
        </p:spPr>
        <p:txBody>
          <a:bodyPr wrap="square" lIns="0" tIns="0" rIns="0" bIns="0" rtlCol="0" anchor="t"/>
          <a:lstStyle/>
          <a:p>
            <a:pPr algn="l" indent="0" marL="0">
              <a:buNone/>
            </a:pPr>
            <a:r>
              <a:rPr lang="en-US" sz="1450" b="1" dirty="0">
                <a:solidFill>
                  <a:srgbClr val="1414BE"/>
                </a:solidFill>
                <a:latin typeface="Cambria" pitchFamily="34" charset="0"/>
                <a:ea typeface="Cambria" pitchFamily="34" charset="-122"/>
                <a:cs typeface="Cambria" pitchFamily="34" charset="-120"/>
              </a:rPr>
              <a:t>Vào.  </a:t>
            </a:r>
            <a:pPr algn="l" indent="0" marL="0">
              <a:buNone/>
            </a:pPr>
            <a:r>
              <a:rPr lang="en-US" sz="1450" i="1" dirty="0">
                <a:solidFill>
                  <a:srgbClr val="1A1A1A"/>
                </a:solidFill>
                <a:latin typeface="Cambria" pitchFamily="34" charset="0"/>
                <a:ea typeface="Cambria" pitchFamily="34" charset="-122"/>
                <a:cs typeface="Cambria" pitchFamily="34" charset="-120"/>
              </a:rPr>
              <a:t>ảnh màn hình  +  mục tiêu “Chia sẻ playlist này cho bạn tôi”</a:t>
            </a:r>
            <a:endParaRPr lang="en-US" sz="1450" dirty="0"/>
          </a:p>
        </p:txBody>
      </p:sp>
      <p:sp>
        <p:nvSpPr>
          <p:cNvPr id="6" name="Text 4"/>
          <p:cNvSpPr/>
          <p:nvPr/>
        </p:nvSpPr>
        <p:spPr>
          <a:xfrm>
            <a:off x="731520" y="1481328"/>
            <a:ext cx="7680960" cy="457200"/>
          </a:xfrm>
          <a:prstGeom prst="rect">
            <a:avLst/>
          </a:prstGeom>
          <a:noFill/>
          <a:ln/>
        </p:spPr>
        <p:txBody>
          <a:bodyPr wrap="square" lIns="0" tIns="0" rIns="0" bIns="0" rtlCol="0" anchor="t"/>
          <a:lstStyle/>
          <a:p>
            <a:pPr algn="l" indent="0" marL="0">
              <a:buNone/>
            </a:pPr>
            <a:r>
              <a:rPr lang="en-US" sz="1450" b="1" dirty="0">
                <a:solidFill>
                  <a:srgbClr val="1414BE"/>
                </a:solidFill>
                <a:latin typeface="Cambria" pitchFamily="34" charset="0"/>
                <a:ea typeface="Cambria" pitchFamily="34" charset="-122"/>
                <a:cs typeface="Cambria" pitchFamily="34" charset="-120"/>
              </a:rPr>
              <a:t>Ra.  </a:t>
            </a:r>
            <a:pPr algn="l" indent="0" marL="0">
              <a:buNone/>
            </a:pPr>
            <a:r>
              <a:rPr lang="en-US" sz="1450" i="1" dirty="0">
                <a:solidFill>
                  <a:srgbClr val="1A1A1A"/>
                </a:solidFill>
                <a:latin typeface="Cambria" pitchFamily="34" charset="0"/>
                <a:ea typeface="Cambria" pitchFamily="34" charset="-122"/>
                <a:cs typeface="Cambria" pitchFamily="34" charset="-120"/>
              </a:rPr>
              <a:t>“chạm vào biểu tượng bút chì ở góc trên bên phải của ghi chú”</a:t>
            </a:r>
            <a:endParaRPr lang="en-US" sz="1450" dirty="0"/>
          </a:p>
        </p:txBody>
      </p:sp>
      <p:sp>
        <p:nvSpPr>
          <p:cNvPr id="7" name="Text 5"/>
          <p:cNvSpPr/>
          <p:nvPr/>
        </p:nvSpPr>
        <p:spPr>
          <a:xfrm>
            <a:off x="502920" y="2377440"/>
            <a:ext cx="3977640" cy="320040"/>
          </a:xfrm>
          <a:prstGeom prst="rect">
            <a:avLst/>
          </a:prstGeom>
          <a:noFill/>
          <a:ln/>
        </p:spPr>
        <p:txBody>
          <a:bodyPr wrap="square" lIns="0" tIns="0" rIns="0" bIns="0" rtlCol="0" anchor="t"/>
          <a:lstStyle/>
          <a:p>
            <a:pPr algn="ctr" indent="0" marL="0">
              <a:buNone/>
            </a:pPr>
            <a:r>
              <a:rPr lang="en-US" sz="1450" b="1" dirty="0">
                <a:solidFill>
                  <a:srgbClr val="322164"/>
                </a:solidFill>
                <a:latin typeface="Cambria" pitchFamily="34" charset="0"/>
                <a:ea typeface="Cambria" pitchFamily="34" charset="-122"/>
                <a:cs typeface="Cambria" pitchFamily="34" charset="-120"/>
              </a:rPr>
              <a:t>Tác tử điều khiển giao diện</a:t>
            </a:r>
            <a:endParaRPr lang="en-US" sz="1450" dirty="0"/>
          </a:p>
        </p:txBody>
      </p:sp>
      <p:sp>
        <p:nvSpPr>
          <p:cNvPr id="8" name="Text 6"/>
          <p:cNvSpPr/>
          <p:nvPr/>
        </p:nvSpPr>
        <p:spPr>
          <a:xfrm>
            <a:off x="4663440" y="2377440"/>
            <a:ext cx="3977640" cy="320040"/>
          </a:xfrm>
          <a:prstGeom prst="rect">
            <a:avLst/>
          </a:prstGeom>
          <a:noFill/>
          <a:ln/>
        </p:spPr>
        <p:txBody>
          <a:bodyPr wrap="square" lIns="0" tIns="0" rIns="0" bIns="0" rtlCol="0" anchor="t"/>
          <a:lstStyle/>
          <a:p>
            <a:pPr algn="ctr" indent="0" marL="0">
              <a:buNone/>
            </a:pPr>
            <a:r>
              <a:rPr lang="en-US" sz="1450" b="1" dirty="0">
                <a:solidFill>
                  <a:srgbClr val="B22222"/>
                </a:solidFill>
                <a:latin typeface="Cambria" pitchFamily="34" charset="0"/>
                <a:ea typeface="Cambria" pitchFamily="34" charset="-122"/>
                <a:cs typeface="Cambria" pitchFamily="34" charset="-120"/>
              </a:rPr>
              <a:t>Bài toán của chúng tôi</a:t>
            </a:r>
            <a:endParaRPr lang="en-US" sz="1450" dirty="0"/>
          </a:p>
        </p:txBody>
      </p:sp>
      <p:sp>
        <p:nvSpPr>
          <p:cNvPr id="9" name="Shape 7"/>
          <p:cNvSpPr/>
          <p:nvPr/>
        </p:nvSpPr>
        <p:spPr>
          <a:xfrm>
            <a:off x="502920" y="2743200"/>
            <a:ext cx="3977640" cy="1463040"/>
          </a:xfrm>
          <a:prstGeom prst="roundRect">
            <a:avLst>
              <a:gd name="adj" fmla="val 3750"/>
            </a:avLst>
          </a:prstGeom>
          <a:solidFill>
            <a:srgbClr val="E9E8EC"/>
          </a:solidFill>
          <a:ln/>
          <a:effectLst>
            <a:outerShdw sx="100000" sy="100000" kx="0" ky="0" algn="bl" rotWithShape="0" blurRad="63500" dist="31750" dir="2700000">
              <a:srgbClr val="8C8C99">
                <a:alpha val="45000"/>
              </a:srgbClr>
            </a:outerShdw>
          </a:effectLst>
        </p:spPr>
      </p:sp>
      <p:sp>
        <p:nvSpPr>
          <p:cNvPr id="10" name="Shape 8"/>
          <p:cNvSpPr/>
          <p:nvPr/>
        </p:nvSpPr>
        <p:spPr>
          <a:xfrm>
            <a:off x="4663440" y="2743200"/>
            <a:ext cx="3977640" cy="1463040"/>
          </a:xfrm>
          <a:prstGeom prst="roundRect">
            <a:avLst>
              <a:gd name="adj" fmla="val 375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31520" y="2926080"/>
            <a:ext cx="3566160" cy="1097280"/>
          </a:xfrm>
          <a:prstGeom prst="rect">
            <a:avLst/>
          </a:prstGeom>
          <a:noFill/>
          <a:ln/>
        </p:spPr>
        <p:txBody>
          <a:bodyPr wrap="square" lIns="0" tIns="0" rIns="0" bIns="0" rtlCol="0" anchor="t"/>
          <a:lstStyle/>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Nhận câu chỉ dẫn, trả về toạ độ</a:t>
            </a: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thao tác tương ứng.</a:t>
            </a:r>
            <a:endParaRPr lang="en-US" sz="1400" dirty="0"/>
          </a:p>
        </p:txBody>
      </p:sp>
      <p:sp>
        <p:nvSpPr>
          <p:cNvPr id="12" name="Text 10"/>
          <p:cNvSpPr/>
          <p:nvPr/>
        </p:nvSpPr>
        <p:spPr>
          <a:xfrm>
            <a:off x="4892040" y="2926080"/>
            <a:ext cx="3566160" cy="1097280"/>
          </a:xfrm>
          <a:prstGeom prst="rect">
            <a:avLst/>
          </a:prstGeom>
          <a:noFill/>
          <a:ln/>
        </p:spPr>
        <p:txBody>
          <a:bodyPr wrap="square" lIns="0" tIns="0" rIns="0" bIns="0" rtlCol="0" anchor="t"/>
          <a:lstStyle/>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Nhận ảnh và mục tiêu, phải viết ra</a:t>
            </a: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chính câu chỉ dẫn ấy.</a:t>
            </a:r>
            <a:endParaRPr lang="en-US" sz="1400" dirty="0"/>
          </a:p>
        </p:txBody>
      </p:sp>
      <p:sp>
        <p:nvSpPr>
          <p:cNvPr id="13" name="Shape 11"/>
          <p:cNvSpPr/>
          <p:nvPr/>
        </p:nvSpPr>
        <p:spPr>
          <a:xfrm>
            <a:off x="502920" y="443484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731520" y="4434840"/>
            <a:ext cx="7680960" cy="1234440"/>
          </a:xfrm>
          <a:prstGeom prst="rect">
            <a:avLst/>
          </a:prstGeom>
          <a:noFill/>
          <a:ln/>
        </p:spPr>
        <p:txBody>
          <a:bodyPr wrap="square" lIns="0" tIns="0" rIns="0" bIns="0" rtlCol="0" anchor="ctr"/>
          <a:lstStyle/>
          <a:p>
            <a:pPr algn="l" indent="0" marL="0">
              <a:lnSpc>
                <a:spcPct val="135000"/>
              </a:lnSpc>
              <a:buNone/>
            </a:pPr>
            <a:r>
              <a:rPr lang="en-US" sz="1400" b="1" dirty="0">
                <a:solidFill>
                  <a:srgbClr val="322164"/>
                </a:solidFill>
                <a:latin typeface="Cambria" pitchFamily="34" charset="0"/>
                <a:ea typeface="Cambria" pitchFamily="34" charset="-122"/>
                <a:cs typeface="Cambria" pitchFamily="34" charset="-120"/>
              </a:rPr>
              <a:t>Về mặt ngôn ngữ, đây là bài toán sinh biểu thức quy chiếu. </a:t>
            </a:r>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Câu sinh ra phải đủ để người nghe nhận ra đúng một đối tượng, không lẫn với những đối tượng khác cùng có mặt (Dale &amp; Reiter, 1995).</a:t>
            </a:r>
            <a:endParaRPr lang="en-US" sz="1400" dirty="0"/>
          </a:p>
        </p:txBody>
      </p:sp>
      <p:sp>
        <p:nvSpPr>
          <p:cNvPr id="16" name="Shape 13"/>
          <p:cNvSpPr/>
          <p:nvPr/>
        </p:nvSpPr>
        <p:spPr>
          <a:xfrm>
            <a:off x="0" y="6620256"/>
            <a:ext cx="2743200" cy="237744"/>
          </a:xfrm>
          <a:prstGeom prst="rect">
            <a:avLst/>
          </a:prstGeom>
          <a:solidFill>
            <a:srgbClr val="191132"/>
          </a:solidFill>
          <a:ln/>
        </p:spPr>
      </p:sp>
      <p:sp>
        <p:nvSpPr>
          <p:cNvPr id="17" name="Shape 14"/>
          <p:cNvSpPr/>
          <p:nvPr/>
        </p:nvSpPr>
        <p:spPr>
          <a:xfrm>
            <a:off x="2743200" y="6620256"/>
            <a:ext cx="3383280" cy="237744"/>
          </a:xfrm>
          <a:prstGeom prst="rect">
            <a:avLst/>
          </a:prstGeom>
          <a:solidFill>
            <a:srgbClr val="25194B"/>
          </a:solidFill>
          <a:ln/>
        </p:spPr>
      </p:sp>
      <p:sp>
        <p:nvSpPr>
          <p:cNvPr id="18" name="Shape 15"/>
          <p:cNvSpPr/>
          <p:nvPr/>
        </p:nvSpPr>
        <p:spPr>
          <a:xfrm>
            <a:off x="6126480" y="6620256"/>
            <a:ext cx="1737360" cy="237744"/>
          </a:xfrm>
          <a:prstGeom prst="rect">
            <a:avLst/>
          </a:prstGeom>
          <a:solidFill>
            <a:srgbClr val="4F417A"/>
          </a:solidFill>
          <a:ln/>
        </p:spPr>
      </p:sp>
      <p:sp>
        <p:nvSpPr>
          <p:cNvPr id="19" name="Shape 16"/>
          <p:cNvSpPr/>
          <p:nvPr/>
        </p:nvSpPr>
        <p:spPr>
          <a:xfrm>
            <a:off x="7863840" y="6620256"/>
            <a:ext cx="1280160" cy="237744"/>
          </a:xfrm>
          <a:prstGeom prst="rect">
            <a:avLst/>
          </a:prstGeom>
          <a:solidFill>
            <a:srgbClr val="7A7099"/>
          </a:solidFill>
          <a:ln/>
        </p:spPr>
      </p:sp>
      <p:sp>
        <p:nvSpPr>
          <p:cNvPr id="20" name="Text 1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1" name="Text 1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2" name="Text 1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3" name="Text 2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3/17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 · Miền giao diện đảo ngược thứ tự ưu tiên của quy chiếu</a:t>
            </a:r>
            <a:endParaRPr lang="en-US" sz="1900" dirty="0"/>
          </a:p>
        </p:txBody>
      </p:sp>
      <p:sp>
        <p:nvSpPr>
          <p:cNvPr id="4" name="Text 2"/>
          <p:cNvSpPr/>
          <p:nvPr/>
        </p:nvSpPr>
        <p:spPr>
          <a:xfrm>
            <a:off x="502920" y="777240"/>
            <a:ext cx="8138160" cy="320040"/>
          </a:xfrm>
          <a:prstGeom prst="rect">
            <a:avLst/>
          </a:prstGeom>
          <a:noFill/>
          <a:ln/>
        </p:spPr>
        <p:txBody>
          <a:bodyPr wrap="square" lIns="0" tIns="0" rIns="0" bIns="0" rtlCol="0" anchor="t"/>
          <a:lstStyle/>
          <a:p>
            <a:pPr algn="l" indent="0" marL="0">
              <a:buNone/>
            </a:pPr>
            <a:r>
              <a:rPr lang="en-US" sz="1350" i="1" dirty="0">
                <a:solidFill>
                  <a:srgbClr val="5A5A66"/>
                </a:solidFill>
                <a:latin typeface="Cambria" pitchFamily="34" charset="0"/>
                <a:ea typeface="Cambria" pitchFamily="34" charset="-122"/>
                <a:cs typeface="Cambria" pitchFamily="34" charset="-120"/>
              </a:rPr>
              <a:t>Đo trên 120 màn lấy ngẫu nhiên từ 99.131 màn của cây trợ năng</a:t>
            </a:r>
            <a:endParaRPr lang="en-US" sz="1350" dirty="0"/>
          </a:p>
        </p:txBody>
      </p:sp>
      <p:sp>
        <p:nvSpPr>
          <p:cNvPr id="5" name="Shape 3"/>
          <p:cNvSpPr/>
          <p:nvPr/>
        </p:nvSpPr>
        <p:spPr>
          <a:xfrm>
            <a:off x="502920" y="1188720"/>
            <a:ext cx="8138160" cy="841248"/>
          </a:xfrm>
          <a:prstGeom prst="roundRect">
            <a:avLst>
              <a:gd name="adj" fmla="val 6522"/>
            </a:avLst>
          </a:prstGeom>
          <a:solidFill>
            <a:srgbClr val="E9E8EC"/>
          </a:solidFill>
          <a:ln/>
          <a:effectLst>
            <a:outerShdw sx="100000" sy="100000" kx="0" ky="0" algn="bl" rotWithShape="0" blurRad="63500" dist="31750" dir="2700000">
              <a:srgbClr val="8C8C99">
                <a:alpha val="45000"/>
              </a:srgbClr>
            </a:outerShdw>
          </a:effectLst>
        </p:spPr>
      </p:sp>
      <p:sp>
        <p:nvSpPr>
          <p:cNvPr id="6" name="Text 4"/>
          <p:cNvSpPr/>
          <p:nvPr/>
        </p:nvSpPr>
        <p:spPr>
          <a:xfrm>
            <a:off x="685800" y="1188720"/>
            <a:ext cx="1188720" cy="841248"/>
          </a:xfrm>
          <a:prstGeom prst="rect">
            <a:avLst/>
          </a:prstGeom>
          <a:noFill/>
          <a:ln/>
        </p:spPr>
        <p:txBody>
          <a:bodyPr wrap="square" lIns="0" tIns="0" rIns="0" bIns="0" rtlCol="0" anchor="ctr"/>
          <a:lstStyle/>
          <a:p>
            <a:pPr algn="ctr" indent="0" marL="0">
              <a:buNone/>
            </a:pPr>
            <a:r>
              <a:rPr lang="en-US" sz="2200" b="1" dirty="0">
                <a:solidFill>
                  <a:srgbClr val="006666"/>
                </a:solidFill>
                <a:latin typeface="Cambria" pitchFamily="34" charset="0"/>
                <a:ea typeface="Cambria" pitchFamily="34" charset="-122"/>
                <a:cs typeface="Cambria" pitchFamily="34" charset="-120"/>
              </a:rPr>
              <a:t>12,6%</a:t>
            </a:r>
            <a:endParaRPr lang="en-US" sz="2200" dirty="0"/>
          </a:p>
        </p:txBody>
      </p:sp>
      <p:sp>
        <p:nvSpPr>
          <p:cNvPr id="7" name="Text 5"/>
          <p:cNvSpPr/>
          <p:nvPr/>
        </p:nvSpPr>
        <p:spPr>
          <a:xfrm>
            <a:off x="1965960" y="1307592"/>
            <a:ext cx="6035040" cy="347472"/>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phần tử có nhãn văn bản trong cây trợ năng</a:t>
            </a:r>
            <a:endParaRPr lang="en-US" sz="1450" dirty="0"/>
          </a:p>
        </p:txBody>
      </p:sp>
      <p:sp>
        <p:nvSpPr>
          <p:cNvPr id="8" name="Text 6"/>
          <p:cNvSpPr/>
          <p:nvPr/>
        </p:nvSpPr>
        <p:spPr>
          <a:xfrm>
            <a:off x="1965960" y="1645920"/>
            <a:ext cx="6035040" cy="320040"/>
          </a:xfrm>
          <a:prstGeom prst="rect">
            <a:avLst/>
          </a:prstGeom>
          <a:noFill/>
          <a:ln/>
        </p:spPr>
        <p:txBody>
          <a:bodyPr wrap="square" lIns="0" tIns="0" rIns="0" bIns="0" rtlCol="0" anchor="t"/>
          <a:lstStyle/>
          <a:p>
            <a:pPr algn="l" indent="0" marL="0">
              <a:buNone/>
            </a:pPr>
            <a:r>
              <a:rPr lang="en-US" sz="1250" i="1" dirty="0">
                <a:solidFill>
                  <a:srgbClr val="5A5A66"/>
                </a:solidFill>
                <a:latin typeface="Cambria" pitchFamily="34" charset="0"/>
                <a:ea typeface="Cambria" pitchFamily="34" charset="-122"/>
                <a:cs typeface="Cambria" pitchFamily="34" charset="-120"/>
              </a:rPr>
              <a:t>22 trong 120 màn ấy không có phần tử nào được đặt tên</a:t>
            </a:r>
            <a:endParaRPr lang="en-US" sz="1250" dirty="0"/>
          </a:p>
        </p:txBody>
      </p:sp>
      <p:sp>
        <p:nvSpPr>
          <p:cNvPr id="9" name="Shape 7"/>
          <p:cNvSpPr/>
          <p:nvPr/>
        </p:nvSpPr>
        <p:spPr>
          <a:xfrm>
            <a:off x="502920" y="2148840"/>
            <a:ext cx="8138160" cy="841248"/>
          </a:xfrm>
          <a:prstGeom prst="roundRect">
            <a:avLst>
              <a:gd name="adj" fmla="val 6522"/>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685800" y="2148840"/>
            <a:ext cx="1188720" cy="841248"/>
          </a:xfrm>
          <a:prstGeom prst="rect">
            <a:avLst/>
          </a:prstGeom>
          <a:noFill/>
          <a:ln/>
        </p:spPr>
        <p:txBody>
          <a:bodyPr wrap="square" lIns="0" tIns="0" rIns="0" bIns="0" rtlCol="0" anchor="ctr"/>
          <a:lstStyle/>
          <a:p>
            <a:pPr algn="ctr" indent="0" marL="0">
              <a:buNone/>
            </a:pPr>
            <a:r>
              <a:rPr lang="en-US" sz="2200" b="1" dirty="0">
                <a:solidFill>
                  <a:srgbClr val="B22222"/>
                </a:solidFill>
                <a:latin typeface="Cambria" pitchFamily="34" charset="0"/>
                <a:ea typeface="Cambria" pitchFamily="34" charset="-122"/>
                <a:cs typeface="Cambria" pitchFamily="34" charset="-120"/>
              </a:rPr>
              <a:t>22,0%</a:t>
            </a:r>
            <a:endParaRPr lang="en-US" sz="2200" dirty="0"/>
          </a:p>
        </p:txBody>
      </p:sp>
      <p:sp>
        <p:nvSpPr>
          <p:cNvPr id="11" name="Text 9"/>
          <p:cNvSpPr/>
          <p:nvPr/>
        </p:nvSpPr>
        <p:spPr>
          <a:xfrm>
            <a:off x="1965960" y="2267712"/>
            <a:ext cx="6035040" cy="347472"/>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phần tử cần chạm không có tên cụ thể</a:t>
            </a:r>
            <a:endParaRPr lang="en-US" sz="1450" dirty="0"/>
          </a:p>
        </p:txBody>
      </p:sp>
      <p:sp>
        <p:nvSpPr>
          <p:cNvPr id="12" name="Text 10"/>
          <p:cNvSpPr/>
          <p:nvPr/>
        </p:nvSpPr>
        <p:spPr>
          <a:xfrm>
            <a:off x="1965960" y="2606040"/>
            <a:ext cx="6035040" cy="320040"/>
          </a:xfrm>
          <a:prstGeom prst="rect">
            <a:avLst/>
          </a:prstGeom>
          <a:noFill/>
          <a:ln/>
        </p:spPr>
        <p:txBody>
          <a:bodyPr wrap="square" lIns="0" tIns="0" rIns="0" bIns="0" rtlCol="0" anchor="t"/>
          <a:lstStyle/>
          <a:p>
            <a:pPr algn="l" indent="0" marL="0">
              <a:buNone/>
            </a:pPr>
            <a:r>
              <a:rPr lang="en-US" sz="1250" i="1" dirty="0">
                <a:solidFill>
                  <a:srgbClr val="5A5A66"/>
                </a:solidFill>
                <a:latin typeface="Cambria" pitchFamily="34" charset="0"/>
                <a:ea typeface="Cambria" pitchFamily="34" charset="-122"/>
                <a:cs typeface="Cambria" pitchFamily="34" charset="-120"/>
              </a:rPr>
              <a:t>trên 41.099 nhãn đã dựng</a:t>
            </a:r>
            <a:endParaRPr lang="en-US" sz="1250" dirty="0"/>
          </a:p>
        </p:txBody>
      </p:sp>
      <p:sp>
        <p:nvSpPr>
          <p:cNvPr id="13" name="Shape 11"/>
          <p:cNvSpPr/>
          <p:nvPr/>
        </p:nvSpPr>
        <p:spPr>
          <a:xfrm>
            <a:off x="502920" y="3108960"/>
            <a:ext cx="8138160" cy="841248"/>
          </a:xfrm>
          <a:prstGeom prst="roundRect">
            <a:avLst>
              <a:gd name="adj" fmla="val 6522"/>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685800" y="3108960"/>
            <a:ext cx="1188720" cy="841248"/>
          </a:xfrm>
          <a:prstGeom prst="rect">
            <a:avLst/>
          </a:prstGeom>
          <a:noFill/>
          <a:ln/>
        </p:spPr>
        <p:txBody>
          <a:bodyPr wrap="square" lIns="0" tIns="0" rIns="0" bIns="0" rtlCol="0" anchor="ctr"/>
          <a:lstStyle/>
          <a:p>
            <a:pPr algn="ctr" indent="0" marL="0">
              <a:buNone/>
            </a:pPr>
            <a:r>
              <a:rPr lang="en-US" sz="2200" b="1" dirty="0">
                <a:solidFill>
                  <a:srgbClr val="B22222"/>
                </a:solidFill>
                <a:latin typeface="Cambria" pitchFamily="34" charset="0"/>
                <a:ea typeface="Cambria" pitchFamily="34" charset="-122"/>
                <a:cs typeface="Cambria" pitchFamily="34" charset="-120"/>
              </a:rPr>
              <a:t>7,6%</a:t>
            </a:r>
            <a:endParaRPr lang="en-US" sz="2200" dirty="0"/>
          </a:p>
        </p:txBody>
      </p:sp>
      <p:sp>
        <p:nvSpPr>
          <p:cNvPr id="15" name="Text 13"/>
          <p:cNvSpPr/>
          <p:nvPr/>
        </p:nvSpPr>
        <p:spPr>
          <a:xfrm>
            <a:off x="1965960" y="3227832"/>
            <a:ext cx="6035040" cy="347472"/>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trùng tên với ít nhất một phần tử khác trên cùng màn</a:t>
            </a:r>
            <a:endParaRPr lang="en-US" sz="1450" dirty="0"/>
          </a:p>
        </p:txBody>
      </p:sp>
      <p:sp>
        <p:nvSpPr>
          <p:cNvPr id="16" name="Text 14"/>
          <p:cNvSpPr/>
          <p:nvPr/>
        </p:nvSpPr>
        <p:spPr>
          <a:xfrm>
            <a:off x="1965960" y="3566160"/>
            <a:ext cx="6035040" cy="320040"/>
          </a:xfrm>
          <a:prstGeom prst="rect">
            <a:avLst/>
          </a:prstGeom>
          <a:noFill/>
          <a:ln/>
        </p:spPr>
        <p:txBody>
          <a:bodyPr wrap="square" lIns="0" tIns="0" rIns="0" bIns="0" rtlCol="0" anchor="t"/>
          <a:lstStyle/>
          <a:p>
            <a:pPr algn="l" indent="0" marL="0">
              <a:buNone/>
            </a:pPr>
            <a:r>
              <a:rPr lang="en-US" sz="1250" i="1" dirty="0">
                <a:solidFill>
                  <a:srgbClr val="5A5A66"/>
                </a:solidFill>
                <a:latin typeface="Cambria" pitchFamily="34" charset="0"/>
                <a:ea typeface="Cambria" pitchFamily="34" charset="-122"/>
                <a:cs typeface="Cambria" pitchFamily="34" charset="-120"/>
              </a:rPr>
              <a:t>hai nhóm không có phần tử chung</a:t>
            </a:r>
            <a:endParaRPr lang="en-US" sz="1250" dirty="0"/>
          </a:p>
        </p:txBody>
      </p:sp>
      <p:sp>
        <p:nvSpPr>
          <p:cNvPr id="17" name="Shape 15"/>
          <p:cNvSpPr/>
          <p:nvPr/>
        </p:nvSpPr>
        <p:spPr>
          <a:xfrm>
            <a:off x="502920" y="4160520"/>
            <a:ext cx="8138160" cy="658368"/>
          </a:xfrm>
          <a:prstGeom prst="roundRect">
            <a:avLst>
              <a:gd name="adj" fmla="val 8333"/>
            </a:avLst>
          </a:prstGeom>
          <a:solidFill>
            <a:srgbClr val="322164"/>
          </a:solidFill>
          <a:ln/>
        </p:spPr>
      </p:sp>
      <p:sp>
        <p:nvSpPr>
          <p:cNvPr id="18" name="Text 16"/>
          <p:cNvSpPr/>
          <p:nvPr/>
        </p:nvSpPr>
        <p:spPr>
          <a:xfrm>
            <a:off x="502920" y="4160520"/>
            <a:ext cx="813816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Gộp hai nhóm: 12.162 / 41.099 = 29,6% số bước không quy chiếu được bằng tên</a:t>
            </a:r>
            <a:endParaRPr lang="en-US" sz="1500" dirty="0"/>
          </a:p>
        </p:txBody>
      </p:sp>
      <p:sp>
        <p:nvSpPr>
          <p:cNvPr id="19" name="Text 17"/>
          <p:cNvSpPr/>
          <p:nvPr/>
        </p:nvSpPr>
        <p:spPr>
          <a:xfrm>
            <a:off x="594360" y="4983480"/>
            <a:ext cx="7955280" cy="731520"/>
          </a:xfrm>
          <a:prstGeom prst="rect">
            <a:avLst/>
          </a:prstGeom>
          <a:noFill/>
          <a:ln/>
        </p:spPr>
        <p:txBody>
          <a:bodyPr wrap="square" lIns="0" tIns="0" rIns="0" bIns="0" rtlCol="0" anchor="t"/>
          <a:lstStyle/>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Ảnh tự nhiên: đối tượng nào cũng có danh từ để gọi, quan hệ chỉ là phương án bổ sung.</a:t>
            </a:r>
            <a:endParaRPr lang="en-US" sz="1350" dirty="0"/>
          </a:p>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Giao diện: ở gần một phần ba số trường hợp, quan hệ với chữ lân cận là phương tiện quy chiếu duy nhất còn lại.</a:t>
            </a:r>
            <a:endParaRPr lang="en-US" sz="1350" dirty="0"/>
          </a:p>
        </p:txBody>
      </p:sp>
      <p:sp>
        <p:nvSpPr>
          <p:cNvPr id="21" name="Shape 18"/>
          <p:cNvSpPr/>
          <p:nvPr/>
        </p:nvSpPr>
        <p:spPr>
          <a:xfrm>
            <a:off x="0" y="6620256"/>
            <a:ext cx="2743200" cy="237744"/>
          </a:xfrm>
          <a:prstGeom prst="rect">
            <a:avLst/>
          </a:prstGeom>
          <a:solidFill>
            <a:srgbClr val="191132"/>
          </a:solidFill>
          <a:ln/>
        </p:spPr>
      </p:sp>
      <p:sp>
        <p:nvSpPr>
          <p:cNvPr id="22" name="Shape 19"/>
          <p:cNvSpPr/>
          <p:nvPr/>
        </p:nvSpPr>
        <p:spPr>
          <a:xfrm>
            <a:off x="2743200" y="6620256"/>
            <a:ext cx="338328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6"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4/17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 · Vị trí của bài so với các dòng nghiên cứu liên quan</a:t>
            </a:r>
            <a:endParaRPr lang="en-US" sz="1900" dirty="0"/>
          </a:p>
        </p:txBody>
      </p:sp>
      <p:sp>
        <p:nvSpPr>
          <p:cNvPr id="4" name="Shape 2"/>
          <p:cNvSpPr/>
          <p:nvPr/>
        </p:nvSpPr>
        <p:spPr>
          <a:xfrm>
            <a:off x="502920" y="868680"/>
            <a:ext cx="8138160" cy="411480"/>
          </a:xfrm>
          <a:prstGeom prst="rect">
            <a:avLst/>
          </a:prstGeom>
          <a:solidFill>
            <a:srgbClr val="322164"/>
          </a:solidFill>
          <a:ln/>
        </p:spPr>
      </p:sp>
      <p:sp>
        <p:nvSpPr>
          <p:cNvPr id="5" name="Text 3"/>
          <p:cNvSpPr/>
          <p:nvPr/>
        </p:nvSpPr>
        <p:spPr>
          <a:xfrm>
            <a:off x="502920" y="868680"/>
            <a:ext cx="2743200" cy="411480"/>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Công trình</a:t>
            </a:r>
            <a:endParaRPr lang="en-US" sz="1300" dirty="0"/>
          </a:p>
        </p:txBody>
      </p:sp>
      <p:sp>
        <p:nvSpPr>
          <p:cNvPr id="6" name="Text 4"/>
          <p:cNvSpPr/>
          <p:nvPr/>
        </p:nvSpPr>
        <p:spPr>
          <a:xfrm>
            <a:off x="3246120" y="868680"/>
            <a:ext cx="2697480" cy="411480"/>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Họ làm gì</a:t>
            </a:r>
            <a:endParaRPr lang="en-US" sz="1300" dirty="0"/>
          </a:p>
        </p:txBody>
      </p:sp>
      <p:sp>
        <p:nvSpPr>
          <p:cNvPr id="7" name="Text 5"/>
          <p:cNvSpPr/>
          <p:nvPr/>
        </p:nvSpPr>
        <p:spPr>
          <a:xfrm>
            <a:off x="5943600" y="868680"/>
            <a:ext cx="2697480" cy="411480"/>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Bài này khác đi</a:t>
            </a:r>
            <a:endParaRPr lang="en-US" sz="1300" dirty="0"/>
          </a:p>
        </p:txBody>
      </p:sp>
      <p:sp>
        <p:nvSpPr>
          <p:cNvPr id="8" name="Text 6"/>
          <p:cNvSpPr/>
          <p:nvPr/>
        </p:nvSpPr>
        <p:spPr>
          <a:xfrm>
            <a:off x="502920" y="1280160"/>
            <a:ext cx="274320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Dale &amp; Reiter 1995</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Dale &amp; Haddock 1991</a:t>
            </a:r>
            <a:endParaRPr lang="en-US" sz="1200" dirty="0"/>
          </a:p>
        </p:txBody>
      </p:sp>
      <p:sp>
        <p:nvSpPr>
          <p:cNvPr id="9" name="Text 7"/>
          <p:cNvSpPr/>
          <p:nvPr/>
        </p:nvSpPr>
        <p:spPr>
          <a:xfrm>
            <a:off x="3246120" y="1280160"/>
            <a:ext cx="269748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Chọn thuộc tính đủ tách đối tượng; mô tả bằng quan hệ khi thuộc tính không đủ</a:t>
            </a:r>
            <a:endParaRPr lang="en-US" sz="1200" dirty="0"/>
          </a:p>
        </p:txBody>
      </p:sp>
      <p:sp>
        <p:nvSpPr>
          <p:cNvPr id="10" name="Text 8"/>
          <p:cNvSpPr/>
          <p:nvPr/>
        </p:nvSpPr>
        <p:spPr>
          <a:xfrm>
            <a:off x="5943600" y="1280160"/>
            <a:ext cx="269748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Đo phân bố nhãn trong miền mà tên gọi gần như không có sẵn</a:t>
            </a:r>
            <a:endParaRPr lang="en-US" sz="1200" dirty="0"/>
          </a:p>
        </p:txBody>
      </p:sp>
      <p:sp>
        <p:nvSpPr>
          <p:cNvPr id="11" name="Shape 9"/>
          <p:cNvSpPr/>
          <p:nvPr/>
        </p:nvSpPr>
        <p:spPr>
          <a:xfrm>
            <a:off x="502920" y="2194560"/>
            <a:ext cx="8138160" cy="0"/>
          </a:xfrm>
          <a:prstGeom prst="line">
            <a:avLst/>
          </a:prstGeom>
          <a:noFill/>
          <a:ln w="12700">
            <a:solidFill>
              <a:srgbClr val="9A94AE"/>
            </a:solidFill>
            <a:prstDash val="solid"/>
          </a:ln>
        </p:spPr>
      </p:sp>
      <p:sp>
        <p:nvSpPr>
          <p:cNvPr id="12" name="Text 10"/>
          <p:cNvSpPr/>
          <p:nvPr/>
        </p:nvSpPr>
        <p:spPr>
          <a:xfrm>
            <a:off x="502920" y="2194560"/>
            <a:ext cx="274320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Mao 2016 · Luo 2017</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Yu 2017</a:t>
            </a:r>
            <a:endParaRPr lang="en-US" sz="1200" dirty="0"/>
          </a:p>
        </p:txBody>
      </p:sp>
      <p:sp>
        <p:nvSpPr>
          <p:cNvPr id="13" name="Text 11"/>
          <p:cNvSpPr/>
          <p:nvPr/>
        </p:nvSpPr>
        <p:spPr>
          <a:xfrm>
            <a:off x="3246120" y="2194560"/>
            <a:ext cx="269748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Đưa tiêu chí phân biệt vào cách huấn luyện, trên ảnh tự nhiên</a:t>
            </a:r>
            <a:endParaRPr lang="en-US" sz="1200" dirty="0"/>
          </a:p>
        </p:txBody>
      </p:sp>
      <p:sp>
        <p:nvSpPr>
          <p:cNvPr id="14" name="Text 12"/>
          <p:cNvSpPr/>
          <p:nvPr/>
        </p:nvSpPr>
        <p:spPr>
          <a:xfrm>
            <a:off x="5943600" y="2194560"/>
            <a:ext cx="269748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Chuyển khung ấy sang miền giao diện, nơi 22,0% phần tử không có tên</a:t>
            </a:r>
            <a:endParaRPr lang="en-US" sz="1200" dirty="0"/>
          </a:p>
        </p:txBody>
      </p:sp>
      <p:sp>
        <p:nvSpPr>
          <p:cNvPr id="15" name="Shape 13"/>
          <p:cNvSpPr/>
          <p:nvPr/>
        </p:nvSpPr>
        <p:spPr>
          <a:xfrm>
            <a:off x="502920" y="3108960"/>
            <a:ext cx="8138160" cy="0"/>
          </a:xfrm>
          <a:prstGeom prst="line">
            <a:avLst/>
          </a:prstGeom>
          <a:noFill/>
          <a:ln w="12700">
            <a:solidFill>
              <a:srgbClr val="9A94AE"/>
            </a:solidFill>
            <a:prstDash val="solid"/>
          </a:ln>
        </p:spPr>
      </p:sp>
      <p:sp>
        <p:nvSpPr>
          <p:cNvPr id="16" name="Text 14"/>
          <p:cNvSpPr/>
          <p:nvPr/>
        </p:nvSpPr>
        <p:spPr>
          <a:xfrm>
            <a:off x="502920" y="3108960"/>
            <a:ext cx="274320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Widget Captioning</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Y. Li và cộng sự 2020b</a:t>
            </a:r>
            <a:endParaRPr lang="en-US" sz="1200" dirty="0"/>
          </a:p>
        </p:txBody>
      </p:sp>
      <p:sp>
        <p:nvSpPr>
          <p:cNvPr id="17" name="Text 15"/>
          <p:cNvSpPr/>
          <p:nvPr/>
        </p:nvSpPr>
        <p:spPr>
          <a:xfrm>
            <a:off x="3246120" y="3108960"/>
            <a:ext cx="269748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Sinh mô tả cho phần tử giao diện, nhãn do người viết</a:t>
            </a:r>
            <a:endParaRPr lang="en-US" sz="1200" dirty="0"/>
          </a:p>
        </p:txBody>
      </p:sp>
      <p:sp>
        <p:nvSpPr>
          <p:cNvPr id="18" name="Text 16"/>
          <p:cNvSpPr/>
          <p:nvPr/>
        </p:nvSpPr>
        <p:spPr>
          <a:xfrm>
            <a:off x="5943600" y="3108960"/>
            <a:ext cx="2697480" cy="9144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Nhãn dựng bằng quy tắc; tính phân biệt là thuộc tính của cặp phần tử và màn hình</a:t>
            </a:r>
            <a:endParaRPr lang="en-US" sz="1200" dirty="0"/>
          </a:p>
        </p:txBody>
      </p:sp>
      <p:sp>
        <p:nvSpPr>
          <p:cNvPr id="19" name="Shape 17"/>
          <p:cNvSpPr/>
          <p:nvPr/>
        </p:nvSpPr>
        <p:spPr>
          <a:xfrm>
            <a:off x="502920" y="4023360"/>
            <a:ext cx="8138160" cy="0"/>
          </a:xfrm>
          <a:prstGeom prst="line">
            <a:avLst/>
          </a:prstGeom>
          <a:noFill/>
          <a:ln w="12700">
            <a:solidFill>
              <a:srgbClr val="9A94AE"/>
            </a:solidFill>
            <a:prstDash val="solid"/>
          </a:ln>
        </p:spPr>
      </p:sp>
      <p:sp>
        <p:nvSpPr>
          <p:cNvPr id="20" name="Text 18"/>
          <p:cNvSpPr/>
          <p:nvPr/>
        </p:nvSpPr>
        <p:spPr>
          <a:xfrm>
            <a:off x="502920" y="4023360"/>
            <a:ext cx="274320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Chen và cộng sự 2020</a:t>
            </a:r>
            <a:endParaRPr lang="en-US" sz="1200" dirty="0"/>
          </a:p>
        </p:txBody>
      </p:sp>
      <p:sp>
        <p:nvSpPr>
          <p:cNvPr id="21" name="Text 19"/>
          <p:cNvSpPr/>
          <p:nvPr/>
        </p:nvSpPr>
        <p:spPr>
          <a:xfrm>
            <a:off x="3246120" y="4023360"/>
            <a:ext cx="269748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Dự đoán nhãn trợ năng còn thiếu</a:t>
            </a:r>
            <a:endParaRPr lang="en-US" sz="1200" dirty="0"/>
          </a:p>
        </p:txBody>
      </p:sp>
      <p:sp>
        <p:nvSpPr>
          <p:cNvPr id="22" name="Text 20"/>
          <p:cNvSpPr/>
          <p:nvPr/>
        </p:nvSpPr>
        <p:spPr>
          <a:xfrm>
            <a:off x="5943600" y="4023360"/>
            <a:ext cx="269748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Chấp nhận nhãn thiếu, chuyển việc quy chiếu sang quan hệ với chữ lân cận</a:t>
            </a:r>
            <a:endParaRPr lang="en-US" sz="1200" dirty="0"/>
          </a:p>
        </p:txBody>
      </p:sp>
      <p:sp>
        <p:nvSpPr>
          <p:cNvPr id="23" name="Shape 21"/>
          <p:cNvSpPr/>
          <p:nvPr/>
        </p:nvSpPr>
        <p:spPr>
          <a:xfrm>
            <a:off x="502920" y="4800600"/>
            <a:ext cx="8138160" cy="0"/>
          </a:xfrm>
          <a:prstGeom prst="line">
            <a:avLst/>
          </a:prstGeom>
          <a:noFill/>
          <a:ln w="12700">
            <a:solidFill>
              <a:srgbClr val="9A94AE"/>
            </a:solidFill>
            <a:prstDash val="solid"/>
          </a:ln>
        </p:spPr>
      </p:sp>
      <p:sp>
        <p:nvSpPr>
          <p:cNvPr id="24" name="Text 22"/>
          <p:cNvSpPr/>
          <p:nvPr/>
        </p:nvSpPr>
        <p:spPr>
          <a:xfrm>
            <a:off x="502920" y="4800600"/>
            <a:ext cx="2743200" cy="65836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AndroidControl</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W. Li và cộng sự 2024</a:t>
            </a:r>
            <a:endParaRPr lang="en-US" sz="1200" dirty="0"/>
          </a:p>
        </p:txBody>
      </p:sp>
      <p:sp>
        <p:nvSpPr>
          <p:cNvPr id="25" name="Text 23"/>
          <p:cNvSpPr/>
          <p:nvPr/>
        </p:nvSpPr>
        <p:spPr>
          <a:xfrm>
            <a:off x="3246120" y="4800600"/>
            <a:ext cx="2697480" cy="65836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Câu chỉ dẫn theo bước là đầu vào</a:t>
            </a:r>
            <a:endParaRPr lang="en-US" sz="1200" dirty="0"/>
          </a:p>
        </p:txBody>
      </p:sp>
      <p:sp>
        <p:nvSpPr>
          <p:cNvPr id="26" name="Text 24"/>
          <p:cNvSpPr/>
          <p:nvPr/>
        </p:nvSpPr>
        <p:spPr>
          <a:xfrm>
            <a:off x="5943600" y="4800600"/>
            <a:ext cx="2697480" cy="65836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Chính câu đó là đầu ra mong đợi</a:t>
            </a:r>
            <a:endParaRPr lang="en-US" sz="1200" dirty="0"/>
          </a:p>
        </p:txBody>
      </p:sp>
      <p:sp>
        <p:nvSpPr>
          <p:cNvPr id="27" name="Shape 25"/>
          <p:cNvSpPr/>
          <p:nvPr/>
        </p:nvSpPr>
        <p:spPr>
          <a:xfrm>
            <a:off x="502920" y="5532120"/>
            <a:ext cx="8138160" cy="548640"/>
          </a:xfrm>
          <a:prstGeom prst="roundRect">
            <a:avLst>
              <a:gd name="adj" fmla="val 10000"/>
            </a:avLst>
          </a:prstGeom>
          <a:solidFill>
            <a:srgbClr val="E9E8EC"/>
          </a:solidFill>
          <a:ln/>
          <a:effectLst>
            <a:outerShdw sx="100000" sy="100000" kx="0" ky="0" algn="bl" rotWithShape="0" blurRad="63500" dist="31750" dir="2700000">
              <a:srgbClr val="8C8C99">
                <a:alpha val="45000"/>
              </a:srgbClr>
            </a:outerShdw>
          </a:effectLst>
        </p:spPr>
      </p:sp>
      <p:sp>
        <p:nvSpPr>
          <p:cNvPr id="28" name="Text 26"/>
          <p:cNvSpPr/>
          <p:nvPr/>
        </p:nvSpPr>
        <p:spPr>
          <a:xfrm>
            <a:off x="731520" y="5532120"/>
            <a:ext cx="7680960" cy="548640"/>
          </a:xfrm>
          <a:prstGeom prst="rect">
            <a:avLst/>
          </a:prstGeom>
          <a:noFill/>
          <a:ln/>
        </p:spPr>
        <p:txBody>
          <a:bodyPr wrap="square" lIns="0" tIns="0" rIns="0" bIns="0" rtlCol="0" anchor="ctr"/>
          <a:lstStyle/>
          <a:p>
            <a:pPr algn="l" indent="0" marL="0">
              <a:buNone/>
            </a:pPr>
            <a:r>
              <a:rPr lang="en-US" sz="1250" b="1" dirty="0">
                <a:solidFill>
                  <a:srgbClr val="B22222"/>
                </a:solidFill>
                <a:latin typeface="Cambria" pitchFamily="34" charset="0"/>
                <a:ea typeface="Cambria" pitchFamily="34" charset="-122"/>
                <a:cs typeface="Cambria" pitchFamily="34" charset="-120"/>
              </a:rPr>
              <a:t>Bài không dùng chữ “đầu tiên” cho ý này: dòng sinh biểu thức quy chiếu đã có từ năm 1995.</a:t>
            </a:r>
            <a:endParaRPr lang="en-US" sz="1250" dirty="0"/>
          </a:p>
        </p:txBody>
      </p:sp>
      <p:sp>
        <p:nvSpPr>
          <p:cNvPr id="30" name="Shape 27"/>
          <p:cNvSpPr/>
          <p:nvPr/>
        </p:nvSpPr>
        <p:spPr>
          <a:xfrm>
            <a:off x="0" y="6620256"/>
            <a:ext cx="2743200" cy="237744"/>
          </a:xfrm>
          <a:prstGeom prst="rect">
            <a:avLst/>
          </a:prstGeom>
          <a:solidFill>
            <a:srgbClr val="191132"/>
          </a:solidFill>
          <a:ln/>
        </p:spPr>
      </p:sp>
      <p:sp>
        <p:nvSpPr>
          <p:cNvPr id="31" name="Shape 28"/>
          <p:cNvSpPr/>
          <p:nvPr/>
        </p:nvSpPr>
        <p:spPr>
          <a:xfrm>
            <a:off x="2743200" y="6620256"/>
            <a:ext cx="338328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35" name="Text 3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5/17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 · Không bản phát hành nào có đủ ba thành phần cần dùng</a:t>
            </a:r>
            <a:endParaRPr lang="en-US" sz="1900" dirty="0"/>
          </a:p>
        </p:txBody>
      </p:sp>
      <p:sp>
        <p:nvSpPr>
          <p:cNvPr id="4" name="Text 2"/>
          <p:cNvSpPr/>
          <p:nvPr/>
        </p:nvSpPr>
        <p:spPr>
          <a:xfrm>
            <a:off x="502920" y="749808"/>
            <a:ext cx="8138160" cy="292608"/>
          </a:xfrm>
          <a:prstGeom prst="rect">
            <a:avLst/>
          </a:prstGeom>
          <a:noFill/>
          <a:ln/>
        </p:spPr>
        <p:txBody>
          <a:bodyPr wrap="square" lIns="0" tIns="0" rIns="0" bIns="0" rtlCol="0" anchor="t"/>
          <a:lstStyle/>
          <a:p>
            <a:pPr algn="l" indent="0" marL="0">
              <a:buNone/>
            </a:pPr>
            <a:r>
              <a:rPr lang="en-US" sz="1350" i="1" dirty="0">
                <a:solidFill>
                  <a:srgbClr val="5A5A66"/>
                </a:solidFill>
                <a:latin typeface="Cambria" pitchFamily="34" charset="0"/>
                <a:ea typeface="Cambria" pitchFamily="34" charset="-122"/>
                <a:cs typeface="Cambria" pitchFamily="34" charset="-120"/>
              </a:rPr>
              <a:t>Mỗi bước cần: câu chỉ dẫn của người chú thích  ·  ảnh màn hình  ·  cây trợ năng</a:t>
            </a:r>
            <a:endParaRPr lang="en-US" sz="1350" dirty="0"/>
          </a:p>
        </p:txBody>
      </p:sp>
      <p:sp>
        <p:nvSpPr>
          <p:cNvPr id="5" name="Shape 3"/>
          <p:cNvSpPr/>
          <p:nvPr/>
        </p:nvSpPr>
        <p:spPr>
          <a:xfrm>
            <a:off x="502920" y="1097280"/>
            <a:ext cx="8138160" cy="384048"/>
          </a:xfrm>
          <a:prstGeom prst="rect">
            <a:avLst/>
          </a:prstGeom>
          <a:solidFill>
            <a:srgbClr val="322164"/>
          </a:solidFill>
          <a:ln/>
        </p:spPr>
      </p:sp>
      <p:sp>
        <p:nvSpPr>
          <p:cNvPr id="6" name="Text 4"/>
          <p:cNvSpPr/>
          <p:nvPr/>
        </p:nvSpPr>
        <p:spPr>
          <a:xfrm>
            <a:off x="502920" y="1097280"/>
            <a:ext cx="32004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Bản phát hành trên Hugging Face</a:t>
            </a:r>
            <a:endParaRPr lang="en-US" sz="1250" dirty="0"/>
          </a:p>
        </p:txBody>
      </p:sp>
      <p:sp>
        <p:nvSpPr>
          <p:cNvPr id="7" name="Text 5"/>
          <p:cNvSpPr/>
          <p:nvPr/>
        </p:nvSpPr>
        <p:spPr>
          <a:xfrm>
            <a:off x="3703320" y="1097280"/>
            <a:ext cx="246888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Có</a:t>
            </a:r>
            <a:endParaRPr lang="en-US" sz="1250" dirty="0"/>
          </a:p>
        </p:txBody>
      </p:sp>
      <p:sp>
        <p:nvSpPr>
          <p:cNvPr id="8" name="Text 6"/>
          <p:cNvSpPr/>
          <p:nvPr/>
        </p:nvSpPr>
        <p:spPr>
          <a:xfrm>
            <a:off x="6172200" y="1097280"/>
            <a:ext cx="246888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Thiếu</a:t>
            </a:r>
            <a:endParaRPr lang="en-US" sz="1250" dirty="0"/>
          </a:p>
        </p:txBody>
      </p:sp>
      <p:sp>
        <p:nvSpPr>
          <p:cNvPr id="9" name="Text 7"/>
          <p:cNvSpPr/>
          <p:nvPr/>
        </p:nvSpPr>
        <p:spPr>
          <a:xfrm>
            <a:off x="502920" y="1481328"/>
            <a:ext cx="320040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HarrytheOrange/</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parsed_AndroidControl</a:t>
            </a:r>
            <a:endParaRPr lang="en-US" sz="1200" dirty="0"/>
          </a:p>
        </p:txBody>
      </p:sp>
      <p:sp>
        <p:nvSpPr>
          <p:cNvPr id="10" name="Text 8"/>
          <p:cNvSpPr/>
          <p:nvPr/>
        </p:nvSpPr>
        <p:spPr>
          <a:xfrm>
            <a:off x="3703320" y="1481328"/>
            <a:ext cx="246888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câu chỉ dẫn đủ 15.283 chuỗi;</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cây trợ năng 99.131 màn</a:t>
            </a:r>
            <a:endParaRPr lang="en-US" sz="1200" dirty="0"/>
          </a:p>
        </p:txBody>
      </p:sp>
      <p:sp>
        <p:nvSpPr>
          <p:cNvPr id="11" name="Text 9"/>
          <p:cNvSpPr/>
          <p:nvPr/>
        </p:nvSpPr>
        <p:spPr>
          <a:xfrm>
            <a:off x="6172200" y="1481328"/>
            <a:ext cx="246888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không có ảnh</a:t>
            </a:r>
            <a:endParaRPr lang="en-US" sz="1200" dirty="0"/>
          </a:p>
        </p:txBody>
      </p:sp>
      <p:sp>
        <p:nvSpPr>
          <p:cNvPr id="12" name="Shape 10"/>
          <p:cNvSpPr/>
          <p:nvPr/>
        </p:nvSpPr>
        <p:spPr>
          <a:xfrm>
            <a:off x="502920" y="2258568"/>
            <a:ext cx="8138160" cy="0"/>
          </a:xfrm>
          <a:prstGeom prst="line">
            <a:avLst/>
          </a:prstGeom>
          <a:noFill/>
          <a:ln w="12700">
            <a:solidFill>
              <a:srgbClr val="9A94AE"/>
            </a:solidFill>
            <a:prstDash val="solid"/>
          </a:ln>
        </p:spPr>
      </p:sp>
      <p:sp>
        <p:nvSpPr>
          <p:cNvPr id="13" name="Text 11"/>
          <p:cNvSpPr/>
          <p:nvPr/>
        </p:nvSpPr>
        <p:spPr>
          <a:xfrm>
            <a:off x="502920" y="2258568"/>
            <a:ext cx="3200400" cy="8229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ckg/AndroidControl</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ParsedWithImages-20k</a:t>
            </a:r>
            <a:endParaRPr lang="en-US" sz="1200" dirty="0"/>
          </a:p>
        </p:txBody>
      </p:sp>
      <p:sp>
        <p:nvSpPr>
          <p:cNvPr id="14" name="Text 12"/>
          <p:cNvSpPr/>
          <p:nvPr/>
        </p:nvSpPr>
        <p:spPr>
          <a:xfrm>
            <a:off x="3703320" y="2258568"/>
            <a:ext cx="2468880" cy="8229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ảnh màn hình</a:t>
            </a:r>
            <a:endParaRPr lang="en-US" sz="1200" dirty="0"/>
          </a:p>
        </p:txBody>
      </p:sp>
      <p:sp>
        <p:nvSpPr>
          <p:cNvPr id="15" name="Text 13"/>
          <p:cNvSpPr/>
          <p:nvPr/>
        </p:nvSpPr>
        <p:spPr>
          <a:xfrm>
            <a:off x="6172200" y="2258568"/>
            <a:ext cx="2468880" cy="8229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đã chuyển sang định dạng tác tử nên mất câu chỉ dẫn theo bước</a:t>
            </a:r>
            <a:endParaRPr lang="en-US" sz="1200" dirty="0"/>
          </a:p>
        </p:txBody>
      </p:sp>
      <p:sp>
        <p:nvSpPr>
          <p:cNvPr id="16" name="Text 14"/>
          <p:cNvSpPr/>
          <p:nvPr/>
        </p:nvSpPr>
        <p:spPr>
          <a:xfrm>
            <a:off x="502920" y="2880360"/>
            <a:ext cx="8138160" cy="731520"/>
          </a:xfrm>
          <a:prstGeom prst="rect">
            <a:avLst/>
          </a:prstGeom>
          <a:noFill/>
          <a:ln/>
        </p:spPr>
        <p:txBody>
          <a:bodyPr wrap="square" lIns="0" tIns="0" rIns="0" bIns="0" rtlCol="0" anchor="t"/>
          <a:lstStyle/>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Ghép theo khoá (episode_id, step_id). Ghép lệch một bước là loại lỗi nguy hiểm nhất: số dòng vẫn đủ, huấn luyện vẫn hội tụ, mọi khâu vẫn chạy, mà mô hình học ảnh của bước A với câu của bước B.</a:t>
            </a:r>
            <a:endParaRPr lang="en-US" sz="1350" dirty="0"/>
          </a:p>
        </p:txBody>
      </p:sp>
      <p:sp>
        <p:nvSpPr>
          <p:cNvPr id="17" name="Text 15"/>
          <p:cNvSpPr/>
          <p:nvPr/>
        </p:nvSpPr>
        <p:spPr>
          <a:xfrm>
            <a:off x="502920" y="3611880"/>
            <a:ext cx="813816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Kiểm định ghép: chạy OCR tại điểm chạm đáp án, xem chuỗi đọc được có nằm trong câu chỉ dẫn không</a:t>
            </a:r>
            <a:endParaRPr lang="en-US" sz="1350" dirty="0"/>
          </a:p>
        </p:txBody>
      </p:sp>
      <p:sp>
        <p:nvSpPr>
          <p:cNvPr id="18" name="Shape 16"/>
          <p:cNvSpPr/>
          <p:nvPr/>
        </p:nvSpPr>
        <p:spPr>
          <a:xfrm>
            <a:off x="960120" y="3977640"/>
            <a:ext cx="7863840" cy="365760"/>
          </a:xfrm>
          <a:prstGeom prst="rect">
            <a:avLst/>
          </a:prstGeom>
          <a:solidFill>
            <a:srgbClr val="322164"/>
          </a:solidFill>
          <a:ln/>
        </p:spPr>
      </p:sp>
      <p:sp>
        <p:nvSpPr>
          <p:cNvPr id="19" name="Text 17"/>
          <p:cNvSpPr/>
          <p:nvPr/>
        </p:nvSpPr>
        <p:spPr>
          <a:xfrm>
            <a:off x="960120" y="3977640"/>
            <a:ext cx="3931920" cy="365760"/>
          </a:xfrm>
          <a:prstGeom prst="rect">
            <a:avLst/>
          </a:prstGeom>
          <a:noFill/>
          <a:ln/>
        </p:spPr>
        <p:txBody>
          <a:bodyPr wrap="square" lIns="38100" tIns="38100" rIns="38100" bIns="38100" rtlCol="0" anchor="ctr"/>
          <a:lstStyle/>
          <a:p>
            <a:pPr algn="l" indent="0" marL="0">
              <a:buNone/>
            </a:pPr>
            <a:endParaRPr lang="en-US" sz="1200" dirty="0"/>
          </a:p>
        </p:txBody>
      </p:sp>
      <p:sp>
        <p:nvSpPr>
          <p:cNvPr id="20" name="Text 18"/>
          <p:cNvSpPr/>
          <p:nvPr/>
        </p:nvSpPr>
        <p:spPr>
          <a:xfrm>
            <a:off x="4892040" y="3977640"/>
            <a:ext cx="210312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Tỉ lệ khớp</a:t>
            </a:r>
            <a:endParaRPr lang="en-US" sz="1200" dirty="0"/>
          </a:p>
        </p:txBody>
      </p:sp>
      <p:sp>
        <p:nvSpPr>
          <p:cNvPr id="21" name="Text 19"/>
          <p:cNvSpPr/>
          <p:nvPr/>
        </p:nvSpPr>
        <p:spPr>
          <a:xfrm>
            <a:off x="6995160" y="3977640"/>
            <a:ext cx="182880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Khoảng tin cậy 95%</a:t>
            </a:r>
            <a:endParaRPr lang="en-US" sz="1200" dirty="0"/>
          </a:p>
        </p:txBody>
      </p:sp>
      <p:sp>
        <p:nvSpPr>
          <p:cNvPr id="22" name="Text 20"/>
          <p:cNvSpPr/>
          <p:nvPr/>
        </p:nvSpPr>
        <p:spPr>
          <a:xfrm>
            <a:off x="960120" y="4343400"/>
            <a:ext cx="3931920" cy="502920"/>
          </a:xfrm>
          <a:prstGeom prst="rect">
            <a:avLst/>
          </a:prstGeom>
          <a:noFill/>
          <a:ln/>
        </p:spPr>
        <p:txBody>
          <a:bodyPr wrap="square" lIns="38100" tIns="38100" rIns="38100" bIns="38100" rtlCol="0" anchor="ctr"/>
          <a:lstStyle/>
          <a:p>
            <a:pPr algn="l" indent="0" marL="0">
              <a:buNone/>
            </a:pPr>
            <a:r>
              <a:rPr lang="en-US" sz="1300" b="1" dirty="0">
                <a:solidFill>
                  <a:srgbClr val="006666"/>
                </a:solidFill>
                <a:latin typeface="Cambria" pitchFamily="34" charset="0"/>
                <a:ea typeface="Cambria" pitchFamily="34" charset="-122"/>
                <a:cs typeface="Cambria" pitchFamily="34" charset="-120"/>
              </a:rPr>
              <a:t>Ghép đúng  (400 bước)</a:t>
            </a:r>
            <a:endParaRPr lang="en-US" sz="1300" dirty="0"/>
          </a:p>
        </p:txBody>
      </p:sp>
      <p:sp>
        <p:nvSpPr>
          <p:cNvPr id="23" name="Text 21"/>
          <p:cNvSpPr/>
          <p:nvPr/>
        </p:nvSpPr>
        <p:spPr>
          <a:xfrm>
            <a:off x="4892040" y="4343400"/>
            <a:ext cx="2103120" cy="502920"/>
          </a:xfrm>
          <a:prstGeom prst="rect">
            <a:avLst/>
          </a:prstGeom>
          <a:noFill/>
          <a:ln/>
        </p:spPr>
        <p:txBody>
          <a:bodyPr wrap="square" lIns="38100" tIns="38100" rIns="38100" bIns="38100" rtlCol="0" anchor="ctr"/>
          <a:lstStyle/>
          <a:p>
            <a:pPr algn="ctr" indent="0" marL="0">
              <a:buNone/>
            </a:pPr>
            <a:r>
              <a:rPr lang="en-US" sz="1500" b="1" dirty="0">
                <a:solidFill>
                  <a:srgbClr val="006666"/>
                </a:solidFill>
                <a:latin typeface="Cambria" pitchFamily="34" charset="0"/>
                <a:ea typeface="Cambria" pitchFamily="34" charset="-122"/>
                <a:cs typeface="Cambria" pitchFamily="34" charset="-120"/>
              </a:rPr>
              <a:t>48,3%</a:t>
            </a:r>
            <a:endParaRPr lang="en-US" sz="1500" dirty="0"/>
          </a:p>
        </p:txBody>
      </p:sp>
      <p:sp>
        <p:nvSpPr>
          <p:cNvPr id="24" name="Text 22"/>
          <p:cNvSpPr/>
          <p:nvPr/>
        </p:nvSpPr>
        <p:spPr>
          <a:xfrm>
            <a:off x="6995160" y="4343400"/>
            <a:ext cx="1828800" cy="502920"/>
          </a:xfrm>
          <a:prstGeom prst="rect">
            <a:avLst/>
          </a:prstGeom>
          <a:noFill/>
          <a:ln/>
        </p:spPr>
        <p:txBody>
          <a:bodyPr wrap="square" lIns="38100" tIns="38100" rIns="38100" bIns="38100" rtlCol="0" anchor="ctr"/>
          <a:lstStyle/>
          <a:p>
            <a:pPr algn="ctr" indent="0" marL="0">
              <a:buNone/>
            </a:pPr>
            <a:r>
              <a:rPr lang="en-US" sz="1300" b="1" dirty="0">
                <a:solidFill>
                  <a:srgbClr val="006666"/>
                </a:solidFill>
                <a:latin typeface="Cambria" pitchFamily="34" charset="0"/>
                <a:ea typeface="Cambria" pitchFamily="34" charset="-122"/>
                <a:cs typeface="Cambria" pitchFamily="34" charset="-120"/>
              </a:rPr>
              <a:t>[43,4 ; 53,1]</a:t>
            </a:r>
            <a:endParaRPr lang="en-US" sz="1300" dirty="0"/>
          </a:p>
        </p:txBody>
      </p:sp>
      <p:sp>
        <p:nvSpPr>
          <p:cNvPr id="25" name="Shape 23"/>
          <p:cNvSpPr/>
          <p:nvPr/>
        </p:nvSpPr>
        <p:spPr>
          <a:xfrm>
            <a:off x="960120" y="4846320"/>
            <a:ext cx="7863840" cy="0"/>
          </a:xfrm>
          <a:prstGeom prst="line">
            <a:avLst/>
          </a:prstGeom>
          <a:noFill/>
          <a:ln w="12700">
            <a:solidFill>
              <a:srgbClr val="9A94AE"/>
            </a:solidFill>
            <a:prstDash val="solid"/>
          </a:ln>
        </p:spPr>
      </p:sp>
      <p:sp>
        <p:nvSpPr>
          <p:cNvPr id="26" name="Text 24"/>
          <p:cNvSpPr/>
          <p:nvPr/>
        </p:nvSpPr>
        <p:spPr>
          <a:xfrm>
            <a:off x="960120" y="4846320"/>
            <a:ext cx="3931920" cy="502920"/>
          </a:xfrm>
          <a:prstGeom prst="rect">
            <a:avLst/>
          </a:prstGeom>
          <a:noFill/>
          <a:ln/>
        </p:spPr>
        <p:txBody>
          <a:bodyPr wrap="square" lIns="38100" tIns="38100" rIns="38100" bIns="38100" rtlCol="0" anchor="ctr"/>
          <a:lstStyle/>
          <a:p>
            <a:pPr algn="l" indent="0" marL="0">
              <a:buNone/>
            </a:pPr>
            <a:r>
              <a:rPr lang="en-US" sz="1300" b="1" dirty="0">
                <a:solidFill>
                  <a:srgbClr val="B22222"/>
                </a:solidFill>
                <a:latin typeface="Cambria" pitchFamily="34" charset="0"/>
                <a:ea typeface="Cambria" pitchFamily="34" charset="-122"/>
                <a:cs typeface="Cambria" pitchFamily="34" charset="-120"/>
              </a:rPr>
              <a:t>Đối chứng ghép lệch một bước  (311 bước)</a:t>
            </a:r>
            <a:endParaRPr lang="en-US" sz="1300" dirty="0"/>
          </a:p>
        </p:txBody>
      </p:sp>
      <p:sp>
        <p:nvSpPr>
          <p:cNvPr id="27" name="Text 25"/>
          <p:cNvSpPr/>
          <p:nvPr/>
        </p:nvSpPr>
        <p:spPr>
          <a:xfrm>
            <a:off x="4892040" y="4846320"/>
            <a:ext cx="2103120" cy="502920"/>
          </a:xfrm>
          <a:prstGeom prst="rect">
            <a:avLst/>
          </a:prstGeom>
          <a:noFill/>
          <a:ln/>
        </p:spPr>
        <p:txBody>
          <a:bodyPr wrap="square" lIns="38100" tIns="38100" rIns="38100" bIns="38100" rtlCol="0" anchor="ctr"/>
          <a:lstStyle/>
          <a:p>
            <a:pPr algn="ctr" indent="0" marL="0">
              <a:buNone/>
            </a:pPr>
            <a:r>
              <a:rPr lang="en-US" sz="1500" b="1" dirty="0">
                <a:solidFill>
                  <a:srgbClr val="B22222"/>
                </a:solidFill>
                <a:latin typeface="Cambria" pitchFamily="34" charset="0"/>
                <a:ea typeface="Cambria" pitchFamily="34" charset="-122"/>
                <a:cs typeface="Cambria" pitchFamily="34" charset="-120"/>
              </a:rPr>
              <a:t>19,6%</a:t>
            </a:r>
            <a:endParaRPr lang="en-US" sz="1500" dirty="0"/>
          </a:p>
        </p:txBody>
      </p:sp>
      <p:sp>
        <p:nvSpPr>
          <p:cNvPr id="28" name="Text 26"/>
          <p:cNvSpPr/>
          <p:nvPr/>
        </p:nvSpPr>
        <p:spPr>
          <a:xfrm>
            <a:off x="6995160" y="4846320"/>
            <a:ext cx="1828800" cy="502920"/>
          </a:xfrm>
          <a:prstGeom prst="rect">
            <a:avLst/>
          </a:prstGeom>
          <a:noFill/>
          <a:ln/>
        </p:spPr>
        <p:txBody>
          <a:bodyPr wrap="square" lIns="38100" tIns="38100" rIns="38100" bIns="38100" rtlCol="0" anchor="ctr"/>
          <a:lstStyle/>
          <a:p>
            <a:pPr algn="ctr" indent="0" marL="0">
              <a:buNone/>
            </a:pPr>
            <a:r>
              <a:rPr lang="en-US" sz="1300" b="1" dirty="0">
                <a:solidFill>
                  <a:srgbClr val="B22222"/>
                </a:solidFill>
                <a:latin typeface="Cambria" pitchFamily="34" charset="0"/>
                <a:ea typeface="Cambria" pitchFamily="34" charset="-122"/>
                <a:cs typeface="Cambria" pitchFamily="34" charset="-120"/>
              </a:rPr>
              <a:t>[15,6 ; 24,4]</a:t>
            </a:r>
            <a:endParaRPr lang="en-US" sz="1300" dirty="0"/>
          </a:p>
        </p:txBody>
      </p:sp>
      <p:sp>
        <p:nvSpPr>
          <p:cNvPr id="29" name="Text 27"/>
          <p:cNvSpPr/>
          <p:nvPr/>
        </p:nvSpPr>
        <p:spPr>
          <a:xfrm>
            <a:off x="502920" y="5440680"/>
            <a:ext cx="8138160" cy="68580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Con số 48% tự nó không nói lên điều gì, vì OCR có lỗi và người chú thích không nhất thiết nhắc lại chữ in trên nút. Kết luận rút ra từ khoảng cách giữa hai con số: 2,5 lần, hai khoảng tin cậy cách nhau 19 điểm phần trăm.</a:t>
            </a:r>
            <a:endParaRPr lang="en-US" sz="1250" dirty="0"/>
          </a:p>
        </p:txBody>
      </p:sp>
      <p:sp>
        <p:nvSpPr>
          <p:cNvPr id="31" name="Shape 28"/>
          <p:cNvSpPr/>
          <p:nvPr/>
        </p:nvSpPr>
        <p:spPr>
          <a:xfrm>
            <a:off x="0" y="6620256"/>
            <a:ext cx="2743200" cy="237744"/>
          </a:xfrm>
          <a:prstGeom prst="rect">
            <a:avLst/>
          </a:prstGeom>
          <a:solidFill>
            <a:srgbClr val="191132"/>
          </a:solidFill>
          <a:ln/>
        </p:spPr>
      </p:sp>
      <p:sp>
        <p:nvSpPr>
          <p:cNvPr id="32" name="Shape 29"/>
          <p:cNvSpPr/>
          <p:nvPr/>
        </p:nvSpPr>
        <p:spPr>
          <a:xfrm>
            <a:off x="2743200" y="6620256"/>
            <a:ext cx="3383280" cy="237744"/>
          </a:xfrm>
          <a:prstGeom prst="rect">
            <a:avLst/>
          </a:prstGeom>
          <a:solidFill>
            <a:srgbClr val="25194B"/>
          </a:solidFill>
          <a:ln/>
        </p:spPr>
      </p:sp>
      <p:sp>
        <p:nvSpPr>
          <p:cNvPr id="33" name="Shape 30"/>
          <p:cNvSpPr/>
          <p:nvPr/>
        </p:nvSpPr>
        <p:spPr>
          <a:xfrm>
            <a:off x="6126480" y="6620256"/>
            <a:ext cx="1737360" cy="237744"/>
          </a:xfrm>
          <a:prstGeom prst="rect">
            <a:avLst/>
          </a:prstGeom>
          <a:solidFill>
            <a:srgbClr val="4F417A"/>
          </a:solidFill>
          <a:ln/>
        </p:spPr>
      </p:sp>
      <p:sp>
        <p:nvSpPr>
          <p:cNvPr id="34" name="Shape 31"/>
          <p:cNvSpPr/>
          <p:nvPr/>
        </p:nvSpPr>
        <p:spPr>
          <a:xfrm>
            <a:off x="7863840" y="6620256"/>
            <a:ext cx="1280160" cy="237744"/>
          </a:xfrm>
          <a:prstGeom prst="rect">
            <a:avLst/>
          </a:prstGeom>
          <a:solidFill>
            <a:srgbClr val="7A7099"/>
          </a:solidFill>
          <a:ln/>
        </p:spPr>
      </p:sp>
      <p:sp>
        <p:nvSpPr>
          <p:cNvPr id="35" name="Text 3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36" name="Text 3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37" name="Text 3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8" name="Text 3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6/17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 · Cây trợ năng không đủ, nên chữ trên màn phải đọc bằng OCR</a:t>
            </a:r>
            <a:endParaRPr lang="en-US" sz="1900" dirty="0"/>
          </a:p>
        </p:txBody>
      </p:sp>
      <p:sp>
        <p:nvSpPr>
          <p:cNvPr id="4" name="Shape 2"/>
          <p:cNvSpPr/>
          <p:nvPr/>
        </p:nvSpPr>
        <p:spPr>
          <a:xfrm>
            <a:off x="502920" y="777240"/>
            <a:ext cx="3977640" cy="1463040"/>
          </a:xfrm>
          <a:prstGeom prst="roundRect">
            <a:avLst>
              <a:gd name="adj" fmla="val 375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85800" y="868680"/>
            <a:ext cx="3566160" cy="292608"/>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Cây trợ năng</a:t>
            </a:r>
            <a:endParaRPr lang="en-US" sz="1400" dirty="0"/>
          </a:p>
        </p:txBody>
      </p:sp>
      <p:sp>
        <p:nvSpPr>
          <p:cNvPr id="6" name="Text 4"/>
          <p:cNvSpPr/>
          <p:nvPr/>
        </p:nvSpPr>
        <p:spPr>
          <a:xfrm>
            <a:off x="685800" y="1188720"/>
            <a:ext cx="35661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Trung vị 86 phần tử một màn, nhưng chỉ 12,6% có nhãn văn bản. Bản kết xuất còn lẫn cả trường mô tả dành cho trình đọc màn hình.</a:t>
            </a:r>
            <a:endParaRPr lang="en-US" sz="1250" dirty="0"/>
          </a:p>
        </p:txBody>
      </p:sp>
      <p:sp>
        <p:nvSpPr>
          <p:cNvPr id="7" name="Shape 5"/>
          <p:cNvSpPr/>
          <p:nvPr/>
        </p:nvSpPr>
        <p:spPr>
          <a:xfrm>
            <a:off x="4663440" y="777240"/>
            <a:ext cx="3977640" cy="1463040"/>
          </a:xfrm>
          <a:prstGeom prst="roundRect">
            <a:avLst>
              <a:gd name="adj" fmla="val 375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4846320" y="868680"/>
            <a:ext cx="3566160" cy="292608"/>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OCR toàn bộ ảnh</a:t>
            </a:r>
            <a:endParaRPr lang="en-US" sz="1400" dirty="0"/>
          </a:p>
        </p:txBody>
      </p:sp>
      <p:sp>
        <p:nvSpPr>
          <p:cNvPr id="9" name="Text 7"/>
          <p:cNvSpPr/>
          <p:nvPr/>
        </p:nvSpPr>
        <p:spPr>
          <a:xfrm>
            <a:off x="4846320" y="1188720"/>
            <a:ext cx="35661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RapidOCR bản ONNX chạy trên CPU. Thu được 64.567 bản ghi cho tập huấn luyện và 6.958 cho tập kiểm tra, phủ 100%.</a:t>
            </a:r>
            <a:endParaRPr lang="en-US" sz="1250" dirty="0"/>
          </a:p>
        </p:txBody>
      </p:sp>
      <p:sp>
        <p:nvSpPr>
          <p:cNvPr id="10" name="Text 8"/>
          <p:cNvSpPr/>
          <p:nvPr/>
        </p:nvSpPr>
        <p:spPr>
          <a:xfrm>
            <a:off x="502920" y="2377440"/>
            <a:ext cx="8138160" cy="320040"/>
          </a:xfrm>
          <a:prstGeom prst="rect">
            <a:avLst/>
          </a:prstGeom>
          <a:noFill/>
          <a:ln/>
        </p:spPr>
        <p:txBody>
          <a:bodyPr wrap="square" lIns="0" tIns="0" rIns="0" bIns="0" rtlCol="0" anchor="t"/>
          <a:lstStyle/>
          <a:p>
            <a:pPr algn="l" indent="0" marL="0">
              <a:buNone/>
            </a:pPr>
            <a:r>
              <a:rPr lang="en-US" sz="1400" b="1" dirty="0">
                <a:solidFill>
                  <a:srgbClr val="006666"/>
                </a:solidFill>
                <a:latin typeface="Cambria" pitchFamily="34" charset="0"/>
                <a:ea typeface="Cambria" pitchFamily="34" charset="-122"/>
                <a:cs typeface="Cambria" pitchFamily="34" charset="-120"/>
              </a:rPr>
              <a:t>Trong 32.061 tên lấy được, 8.581 đến từ cây trợ năng và 23.480 đến từ OCR, tỉ lệ khoảng 1 : 2,7</a:t>
            </a:r>
            <a:endParaRPr lang="en-US" sz="1400" dirty="0"/>
          </a:p>
        </p:txBody>
      </p:sp>
      <p:sp>
        <p:nvSpPr>
          <p:cNvPr id="11" name="Text 9"/>
          <p:cNvSpPr/>
          <p:nvPr/>
        </p:nvSpPr>
        <p:spPr>
          <a:xfrm>
            <a:off x="502920" y="2788920"/>
            <a:ext cx="81381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Hai dạng sai sót quan sát được, và cách xử lý khác nhau cho mỗi dạng</a:t>
            </a:r>
            <a:endParaRPr lang="en-US" sz="1350" dirty="0"/>
          </a:p>
        </p:txBody>
      </p:sp>
      <p:sp>
        <p:nvSpPr>
          <p:cNvPr id="12" name="Text 10"/>
          <p:cNvSpPr/>
          <p:nvPr/>
        </p:nvSpPr>
        <p:spPr>
          <a:xfrm>
            <a:off x="594360" y="3154680"/>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3" name="Text 11"/>
          <p:cNvSpPr/>
          <p:nvPr/>
        </p:nvSpPr>
        <p:spPr>
          <a:xfrm>
            <a:off x="822960" y="3154680"/>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Biểu tượng bị đọc thành ký tự: nguy hiểm hơn, vì sinh ra một chuỗi trông như tên thật. Không có nhãn chuẩn nên tần suất không đo trực tiếp được</a:t>
            </a:r>
            <a:endParaRPr lang="en-US" sz="1300" dirty="0"/>
          </a:p>
        </p:txBody>
      </p:sp>
      <p:sp>
        <p:nvSpPr>
          <p:cNvPr id="14" name="Text 12"/>
          <p:cNvSpPr/>
          <p:nvPr/>
        </p:nvSpPr>
        <p:spPr>
          <a:xfrm>
            <a:off x="594360" y="3813048"/>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5" name="Text 13"/>
          <p:cNvSpPr/>
          <p:nvPr/>
        </p:nvSpPr>
        <p:spPr>
          <a:xfrm>
            <a:off x="822960" y="3813048"/>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Mất khoảng trắng giữa hai từ, cho ra chuỗi dính liền như Turnon: chỉ đẩy phần tử xuống nhóm không có tên, nhãn vẫn không chứa thông tin sai</a:t>
            </a:r>
            <a:endParaRPr lang="en-US" sz="1300" dirty="0"/>
          </a:p>
        </p:txBody>
      </p:sp>
      <p:sp>
        <p:nvSpPr>
          <p:cNvPr id="16" name="Shape 14"/>
          <p:cNvSpPr/>
          <p:nvPr/>
        </p:nvSpPr>
        <p:spPr>
          <a:xfrm>
            <a:off x="502920" y="457200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17" name="Text 15"/>
          <p:cNvSpPr/>
          <p:nvPr/>
        </p:nvSpPr>
        <p:spPr>
          <a:xfrm>
            <a:off x="731520" y="4572000"/>
            <a:ext cx="7680960" cy="1097280"/>
          </a:xfrm>
          <a:prstGeom prst="rect">
            <a:avLst/>
          </a:prstGeom>
          <a:noFill/>
          <a:ln/>
        </p:spPr>
        <p:txBody>
          <a:bodyPr wrap="square" lIns="0" tIns="0" rIns="0" bIns="0" rtlCol="0" anchor="ctr"/>
          <a:lstStyle/>
          <a:p>
            <a:pPr algn="l" indent="0" marL="0">
              <a:lnSpc>
                <a:spcPct val="135000"/>
              </a:lnSpc>
              <a:buNone/>
            </a:pPr>
            <a:r>
              <a:rPr lang="en-US" sz="1350" b="1" dirty="0">
                <a:solidFill>
                  <a:srgbClr val="B22222"/>
                </a:solidFill>
                <a:latin typeface="Cambria" pitchFamily="34" charset="0"/>
                <a:ea typeface="Cambria" pitchFamily="34" charset="-122"/>
                <a:cs typeface="Cambria" pitchFamily="34" charset="-120"/>
              </a:rPr>
              <a:t>Với dữ liệu huấn luyện, lỗi bỏ sót ít tốn kém hơn hẳn lỗi gán sai. </a:t>
            </a:r>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Nhãn để trống chỉ làm mô hình mất một mẫu học, còn nhãn ghi tên sai thì dạy mô hình gọi phần tử bằng một chuỗi không tồn tại trên màn hình.</a:t>
            </a:r>
            <a:endParaRPr lang="en-US" sz="1350" dirty="0"/>
          </a:p>
        </p:txBody>
      </p:sp>
      <p:sp>
        <p:nvSpPr>
          <p:cNvPr id="18" name="Text 16"/>
          <p:cNvSpPr/>
          <p:nvPr/>
        </p:nvSpPr>
        <p:spPr>
          <a:xfrm>
            <a:off x="502920" y="5760720"/>
            <a:ext cx="8138160" cy="548640"/>
          </a:xfrm>
          <a:prstGeom prst="rect">
            <a:avLst/>
          </a:prstGeom>
          <a:noFill/>
          <a:ln/>
        </p:spPr>
        <p:txBody>
          <a:bodyPr wrap="square" lIns="0" tIns="0" rIns="0" bIns="0" rtlCol="0" anchor="t"/>
          <a:lstStyle/>
          <a:p>
            <a:pPr algn="l" indent="0" marL="0">
              <a:lnSpc>
                <a:spcPct val="125000"/>
              </a:lnSpc>
              <a:buNone/>
            </a:pPr>
            <a:r>
              <a:rPr lang="en-US" sz="1150" i="1" dirty="0">
                <a:solidFill>
                  <a:srgbClr val="5A5A66"/>
                </a:solidFill>
                <a:latin typeface="Cambria" pitchFamily="34" charset="0"/>
                <a:ea typeface="Cambria" pitchFamily="34" charset="-122"/>
                <a:cs typeface="Cambria" pitchFamily="34" charset="-120"/>
              </a:rPr>
              <a:t>Chạy lại trên hai máy khác nhau, cách nhau năm ngày, kết quả trùng nhau. Vì AndroidControl không có nhãn chuẩn cho chữ trên màn, bài không tuyên bố độ chính xác OCR.</a:t>
            </a:r>
            <a:endParaRPr lang="en-US" sz="1150" dirty="0"/>
          </a:p>
        </p:txBody>
      </p:sp>
      <p:sp>
        <p:nvSpPr>
          <p:cNvPr id="20" name="Shape 17"/>
          <p:cNvSpPr/>
          <p:nvPr/>
        </p:nvSpPr>
        <p:spPr>
          <a:xfrm>
            <a:off x="0" y="6620256"/>
            <a:ext cx="2743200" cy="237744"/>
          </a:xfrm>
          <a:prstGeom prst="rect">
            <a:avLst/>
          </a:prstGeom>
          <a:solidFill>
            <a:srgbClr val="191132"/>
          </a:solidFill>
          <a:ln/>
        </p:spPr>
      </p:sp>
      <p:sp>
        <p:nvSpPr>
          <p:cNvPr id="21" name="Shape 18"/>
          <p:cNvSpPr/>
          <p:nvPr/>
        </p:nvSpPr>
        <p:spPr>
          <a:xfrm>
            <a:off x="2743200" y="6620256"/>
            <a:ext cx="3383280" cy="237744"/>
          </a:xfrm>
          <a:prstGeom prst="rect">
            <a:avLst/>
          </a:prstGeom>
          <a:solidFill>
            <a:srgbClr val="25194B"/>
          </a:solidFill>
          <a:ln/>
        </p:spPr>
      </p:sp>
      <p:sp>
        <p:nvSpPr>
          <p:cNvPr id="22" name="Shape 19"/>
          <p:cNvSpPr/>
          <p:nvPr/>
        </p:nvSpPr>
        <p:spPr>
          <a:xfrm>
            <a:off x="6126480" y="6620256"/>
            <a:ext cx="1737360" cy="237744"/>
          </a:xfrm>
          <a:prstGeom prst="rect">
            <a:avLst/>
          </a:prstGeom>
          <a:solidFill>
            <a:srgbClr val="4F417A"/>
          </a:solidFill>
          <a:ln/>
        </p:spPr>
      </p:sp>
      <p:sp>
        <p:nvSpPr>
          <p:cNvPr id="23" name="Shape 20"/>
          <p:cNvSpPr/>
          <p:nvPr/>
        </p:nvSpPr>
        <p:spPr>
          <a:xfrm>
            <a:off x="7863840" y="6620256"/>
            <a:ext cx="1280160" cy="237744"/>
          </a:xfrm>
          <a:prstGeom prst="rect">
            <a:avLst/>
          </a:prstGeom>
          <a:solidFill>
            <a:srgbClr val="7A7099"/>
          </a:solidFill>
          <a:ln/>
        </p:spPr>
      </p:sp>
      <p:sp>
        <p:nvSpPr>
          <p:cNvPr id="24"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5"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6"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7"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7/17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 · Dòng nhãn bốn ô, dựng hoàn toàn bằng quy tắc</a:t>
            </a:r>
            <a:endParaRPr lang="en-US" sz="1900" dirty="0"/>
          </a:p>
        </p:txBody>
      </p:sp>
      <p:sp>
        <p:nvSpPr>
          <p:cNvPr id="4" name="Shape 2"/>
          <p:cNvSpPr/>
          <p:nvPr/>
        </p:nvSpPr>
        <p:spPr>
          <a:xfrm>
            <a:off x="502920" y="777240"/>
            <a:ext cx="1956816" cy="1371600"/>
          </a:xfrm>
          <a:prstGeom prst="roundRect">
            <a:avLst>
              <a:gd name="adj" fmla="val 3333"/>
            </a:avLst>
          </a:prstGeom>
          <a:solidFill>
            <a:srgbClr val="E9E8EC"/>
          </a:solidFill>
          <a:ln/>
        </p:spPr>
      </p:sp>
      <p:sp>
        <p:nvSpPr>
          <p:cNvPr id="5" name="Text 3"/>
          <p:cNvSpPr/>
          <p:nvPr/>
        </p:nvSpPr>
        <p:spPr>
          <a:xfrm>
            <a:off x="594360" y="850392"/>
            <a:ext cx="1773936" cy="320040"/>
          </a:xfrm>
          <a:prstGeom prst="rect">
            <a:avLst/>
          </a:prstGeom>
          <a:noFill/>
          <a:ln/>
        </p:spPr>
        <p:txBody>
          <a:bodyPr wrap="square" lIns="0" tIns="0" rIns="0" bIns="0" rtlCol="0" anchor="t"/>
          <a:lstStyle/>
          <a:p>
            <a:pPr algn="ctr" indent="0" marL="0">
              <a:buNone/>
            </a:pPr>
            <a:r>
              <a:rPr lang="en-US" sz="1350" b="1" dirty="0">
                <a:solidFill>
                  <a:srgbClr val="006666"/>
                </a:solidFill>
                <a:latin typeface="Cambria" pitchFamily="34" charset="0"/>
                <a:ea typeface="Cambria" pitchFamily="34" charset="-122"/>
                <a:cs typeface="Cambria" pitchFamily="34" charset="-120"/>
              </a:rPr>
              <a:t>vai trò</a:t>
            </a:r>
            <a:endParaRPr lang="en-US" sz="1350" dirty="0"/>
          </a:p>
        </p:txBody>
      </p:sp>
      <p:sp>
        <p:nvSpPr>
          <p:cNvPr id="6" name="Text 4"/>
          <p:cNvSpPr/>
          <p:nvPr/>
        </p:nvSpPr>
        <p:spPr>
          <a:xfrm>
            <a:off x="612648" y="1188720"/>
            <a:ext cx="1737360" cy="868680"/>
          </a:xfrm>
          <a:prstGeom prst="rect">
            <a:avLst/>
          </a:prstGeom>
          <a:noFill/>
          <a:ln/>
        </p:spPr>
        <p:txBody>
          <a:bodyPr wrap="square" lIns="0" tIns="0" rIns="0" bIns="0" rtlCol="0" anchor="t"/>
          <a:lstStyle/>
          <a:p>
            <a:pPr algn="ctr" indent="0" marL="0">
              <a:lnSpc>
                <a:spcPct val="125000"/>
              </a:lnSpc>
              <a:buNone/>
            </a:pPr>
            <a:r>
              <a:rPr lang="en-US" sz="1150" dirty="0">
                <a:solidFill>
                  <a:srgbClr val="1A1A1A"/>
                </a:solidFill>
                <a:latin typeface="Cambria" pitchFamily="34" charset="0"/>
                <a:ea typeface="Cambria" pitchFamily="34" charset="-122"/>
                <a:cs typeface="Cambria" pitchFamily="34" charset="-120"/>
              </a:rPr>
              <a:t>tên lớp Android rút về một từ</a:t>
            </a:r>
            <a:endParaRPr lang="en-US" sz="1150" dirty="0"/>
          </a:p>
        </p:txBody>
      </p:sp>
      <p:sp>
        <p:nvSpPr>
          <p:cNvPr id="7" name="Shape 5"/>
          <p:cNvSpPr/>
          <p:nvPr/>
        </p:nvSpPr>
        <p:spPr>
          <a:xfrm>
            <a:off x="2551176" y="777240"/>
            <a:ext cx="1956816" cy="1371600"/>
          </a:xfrm>
          <a:prstGeom prst="roundRect">
            <a:avLst>
              <a:gd name="adj" fmla="val 3333"/>
            </a:avLst>
          </a:prstGeom>
          <a:solidFill>
            <a:srgbClr val="E9E8EC"/>
          </a:solidFill>
          <a:ln/>
        </p:spPr>
      </p:sp>
      <p:sp>
        <p:nvSpPr>
          <p:cNvPr id="8" name="Text 6"/>
          <p:cNvSpPr/>
          <p:nvPr/>
        </p:nvSpPr>
        <p:spPr>
          <a:xfrm>
            <a:off x="2642616" y="850392"/>
            <a:ext cx="1773936" cy="320040"/>
          </a:xfrm>
          <a:prstGeom prst="rect">
            <a:avLst/>
          </a:prstGeom>
          <a:noFill/>
          <a:ln/>
        </p:spPr>
        <p:txBody>
          <a:bodyPr wrap="square" lIns="0" tIns="0" rIns="0" bIns="0" rtlCol="0" anchor="t"/>
          <a:lstStyle/>
          <a:p>
            <a:pPr algn="ctr" indent="0" marL="0">
              <a:buNone/>
            </a:pPr>
            <a:r>
              <a:rPr lang="en-US" sz="1350" b="1" dirty="0">
                <a:solidFill>
                  <a:srgbClr val="1414BE"/>
                </a:solidFill>
                <a:latin typeface="Cambria" pitchFamily="34" charset="0"/>
                <a:ea typeface="Cambria" pitchFamily="34" charset="-122"/>
                <a:cs typeface="Cambria" pitchFamily="34" charset="-120"/>
              </a:rPr>
              <a:t>tên</a:t>
            </a:r>
            <a:endParaRPr lang="en-US" sz="1350" dirty="0"/>
          </a:p>
        </p:txBody>
      </p:sp>
      <p:sp>
        <p:nvSpPr>
          <p:cNvPr id="9" name="Text 7"/>
          <p:cNvSpPr/>
          <p:nvPr/>
        </p:nvSpPr>
        <p:spPr>
          <a:xfrm>
            <a:off x="2660904" y="1188720"/>
            <a:ext cx="1737360" cy="868680"/>
          </a:xfrm>
          <a:prstGeom prst="rect">
            <a:avLst/>
          </a:prstGeom>
          <a:noFill/>
          <a:ln/>
        </p:spPr>
        <p:txBody>
          <a:bodyPr wrap="square" lIns="0" tIns="0" rIns="0" bIns="0" rtlCol="0" anchor="t"/>
          <a:lstStyle/>
          <a:p>
            <a:pPr algn="ctr" indent="0" marL="0">
              <a:lnSpc>
                <a:spcPct val="125000"/>
              </a:lnSpc>
              <a:buNone/>
            </a:pPr>
            <a:r>
              <a:rPr lang="en-US" sz="1150" dirty="0">
                <a:solidFill>
                  <a:srgbClr val="1A1A1A"/>
                </a:solidFill>
                <a:latin typeface="Cambria" pitchFamily="34" charset="0"/>
                <a:ea typeface="Cambria" pitchFamily="34" charset="-122"/>
                <a:cs typeface="Cambria" pitchFamily="34" charset="-120"/>
              </a:rPr>
              <a:t>chữ hiển thị; cây trợ năng trước, OCR sau</a:t>
            </a:r>
            <a:endParaRPr lang="en-US" sz="1150" dirty="0"/>
          </a:p>
        </p:txBody>
      </p:sp>
      <p:sp>
        <p:nvSpPr>
          <p:cNvPr id="10" name="Shape 8"/>
          <p:cNvSpPr/>
          <p:nvPr/>
        </p:nvSpPr>
        <p:spPr>
          <a:xfrm>
            <a:off x="4599432" y="777240"/>
            <a:ext cx="1956816" cy="1371600"/>
          </a:xfrm>
          <a:prstGeom prst="roundRect">
            <a:avLst>
              <a:gd name="adj" fmla="val 3333"/>
            </a:avLst>
          </a:prstGeom>
          <a:solidFill>
            <a:srgbClr val="E9E8EC"/>
          </a:solidFill>
          <a:ln/>
        </p:spPr>
      </p:sp>
      <p:sp>
        <p:nvSpPr>
          <p:cNvPr id="11" name="Text 9"/>
          <p:cNvSpPr/>
          <p:nvPr/>
        </p:nvSpPr>
        <p:spPr>
          <a:xfrm>
            <a:off x="4690872" y="850392"/>
            <a:ext cx="1773936" cy="320040"/>
          </a:xfrm>
          <a:prstGeom prst="rect">
            <a:avLst/>
          </a:prstGeom>
          <a:noFill/>
          <a:ln/>
        </p:spPr>
        <p:txBody>
          <a:bodyPr wrap="square" lIns="0" tIns="0" rIns="0" bIns="0" rtlCol="0" anchor="t"/>
          <a:lstStyle/>
          <a:p>
            <a:pPr algn="ctr" indent="0" marL="0">
              <a:buNone/>
            </a:pPr>
            <a:r>
              <a:rPr lang="en-US" sz="1350" b="1" dirty="0">
                <a:solidFill>
                  <a:srgbClr val="5A5A66"/>
                </a:solidFill>
                <a:latin typeface="Cambria" pitchFamily="34" charset="0"/>
                <a:ea typeface="Cambria" pitchFamily="34" charset="-122"/>
                <a:cs typeface="Cambria" pitchFamily="34" charset="-120"/>
              </a:rPr>
              <a:t>toạ độ</a:t>
            </a:r>
            <a:endParaRPr lang="en-US" sz="1350" dirty="0"/>
          </a:p>
        </p:txBody>
      </p:sp>
      <p:sp>
        <p:nvSpPr>
          <p:cNvPr id="12" name="Text 10"/>
          <p:cNvSpPr/>
          <p:nvPr/>
        </p:nvSpPr>
        <p:spPr>
          <a:xfrm>
            <a:off x="4709160" y="1188720"/>
            <a:ext cx="1737360" cy="868680"/>
          </a:xfrm>
          <a:prstGeom prst="rect">
            <a:avLst/>
          </a:prstGeom>
          <a:noFill/>
          <a:ln/>
        </p:spPr>
        <p:txBody>
          <a:bodyPr wrap="square" lIns="0" tIns="0" rIns="0" bIns="0" rtlCol="0" anchor="t"/>
          <a:lstStyle/>
          <a:p>
            <a:pPr algn="ctr" indent="0" marL="0">
              <a:lnSpc>
                <a:spcPct val="125000"/>
              </a:lnSpc>
              <a:buNone/>
            </a:pPr>
            <a:r>
              <a:rPr lang="en-US" sz="1150" dirty="0">
                <a:solidFill>
                  <a:srgbClr val="1A1A1A"/>
                </a:solidFill>
                <a:latin typeface="Cambria" pitchFamily="34" charset="0"/>
                <a:ea typeface="Cambria" pitchFamily="34" charset="-122"/>
                <a:cs typeface="Cambria" pitchFamily="34" charset="-120"/>
              </a:rPr>
              <a:t>điểm chạm quy về thang 0 đến 1.000</a:t>
            </a:r>
            <a:endParaRPr lang="en-US" sz="1150" dirty="0"/>
          </a:p>
        </p:txBody>
      </p:sp>
      <p:sp>
        <p:nvSpPr>
          <p:cNvPr id="13" name="Shape 11"/>
          <p:cNvSpPr/>
          <p:nvPr/>
        </p:nvSpPr>
        <p:spPr>
          <a:xfrm>
            <a:off x="6647688" y="777240"/>
            <a:ext cx="1956816" cy="1371600"/>
          </a:xfrm>
          <a:prstGeom prst="roundRect">
            <a:avLst>
              <a:gd name="adj" fmla="val 3333"/>
            </a:avLst>
          </a:prstGeom>
          <a:solidFill>
            <a:srgbClr val="E9E8EC"/>
          </a:solidFill>
          <a:ln/>
        </p:spPr>
      </p:sp>
      <p:sp>
        <p:nvSpPr>
          <p:cNvPr id="14" name="Text 12"/>
          <p:cNvSpPr/>
          <p:nvPr/>
        </p:nvSpPr>
        <p:spPr>
          <a:xfrm>
            <a:off x="6739128" y="850392"/>
            <a:ext cx="1773936" cy="320040"/>
          </a:xfrm>
          <a:prstGeom prst="rect">
            <a:avLst/>
          </a:prstGeom>
          <a:noFill/>
          <a:ln/>
        </p:spPr>
        <p:txBody>
          <a:bodyPr wrap="square" lIns="0" tIns="0" rIns="0" bIns="0" rtlCol="0" anchor="t"/>
          <a:lstStyle/>
          <a:p>
            <a:pPr algn="ctr" indent="0" marL="0">
              <a:buNone/>
            </a:pPr>
            <a:r>
              <a:rPr lang="en-US" sz="1350" b="1" dirty="0">
                <a:solidFill>
                  <a:srgbClr val="B22222"/>
                </a:solidFill>
                <a:latin typeface="Cambria" pitchFamily="34" charset="0"/>
                <a:ea typeface="Cambria" pitchFamily="34" charset="-122"/>
                <a:cs typeface="Cambria" pitchFamily="34" charset="-120"/>
              </a:rPr>
              <a:t>dấu hiệu phân biệt</a:t>
            </a:r>
            <a:endParaRPr lang="en-US" sz="1350" dirty="0"/>
          </a:p>
        </p:txBody>
      </p:sp>
      <p:sp>
        <p:nvSpPr>
          <p:cNvPr id="15" name="Text 13"/>
          <p:cNvSpPr/>
          <p:nvPr/>
        </p:nvSpPr>
        <p:spPr>
          <a:xfrm>
            <a:off x="6757416" y="1188720"/>
            <a:ext cx="1737360" cy="868680"/>
          </a:xfrm>
          <a:prstGeom prst="rect">
            <a:avLst/>
          </a:prstGeom>
          <a:noFill/>
          <a:ln/>
        </p:spPr>
        <p:txBody>
          <a:bodyPr wrap="square" lIns="0" tIns="0" rIns="0" bIns="0" rtlCol="0" anchor="t"/>
          <a:lstStyle/>
          <a:p>
            <a:pPr algn="ctr" indent="0" marL="0">
              <a:lnSpc>
                <a:spcPct val="125000"/>
              </a:lnSpc>
              <a:buNone/>
            </a:pPr>
            <a:r>
              <a:rPr lang="en-US" sz="1150" dirty="0">
                <a:solidFill>
                  <a:srgbClr val="1A1A1A"/>
                </a:solidFill>
                <a:latin typeface="Cambria" pitchFamily="34" charset="0"/>
                <a:ea typeface="Cambria" pitchFamily="34" charset="-122"/>
                <a:cs typeface="Cambria" pitchFamily="34" charset="-120"/>
              </a:rPr>
              <a:t>mệnh đề tách phần tử khỏi những phần tử giống nó</a:t>
            </a:r>
            <a:endParaRPr lang="en-US" sz="1150" dirty="0"/>
          </a:p>
        </p:txBody>
      </p:sp>
      <p:sp>
        <p:nvSpPr>
          <p:cNvPr id="16" name="Text 14"/>
          <p:cNvSpPr/>
          <p:nvPr/>
        </p:nvSpPr>
        <p:spPr>
          <a:xfrm>
            <a:off x="502920" y="2240280"/>
            <a:ext cx="8138160" cy="548640"/>
          </a:xfrm>
          <a:prstGeom prst="rect">
            <a:avLst/>
          </a:prstGeom>
          <a:noFill/>
          <a:ln/>
        </p:spPr>
        <p:txBody>
          <a:bodyPr wrap="square" lIns="0" tIns="0" rIns="0" bIns="0" rtlCol="0" anchor="t"/>
          <a:lstStyle/>
          <a:p>
            <a:pPr algn="l" indent="0" marL="0">
              <a:lnSpc>
                <a:spcPct val="130000"/>
              </a:lnSpc>
              <a:buNone/>
            </a:pPr>
            <a:r>
              <a:rPr lang="en-US" sz="1250" i="1" dirty="0">
                <a:solidFill>
                  <a:srgbClr val="5A5A66"/>
                </a:solidFill>
                <a:latin typeface="Cambria" pitchFamily="34" charset="0"/>
                <a:ea typeface="Cambria" pitchFamily="34" charset="-122"/>
                <a:cs typeface="Cambria" pitchFamily="34" charset="-120"/>
              </a:rPr>
              <a:t>Nhãn chỉ dựng cho bước chạm, tức bước mà thao tác đúng là một cú chạm lên màn hình. Phần tử cần chạm xác định bằng hộp bao nhỏ nhất chứa điểm chạm của đáp án.</a:t>
            </a:r>
            <a:endParaRPr lang="en-US" sz="1250" dirty="0"/>
          </a:p>
        </p:txBody>
      </p:sp>
      <p:pic>
        <p:nvPicPr>
          <p:cNvPr id="17" name="Image 0" descr="../../paper/vcl2026/hinh/fig_moneo.png">    </p:cNvPr>
          <p:cNvPicPr>
            <a:picLocks noChangeAspect="1"/>
          </p:cNvPicPr>
          <p:nvPr/>
        </p:nvPicPr>
        <p:blipFill>
          <a:blip r:embed="rId1"/>
          <a:stretch>
            <a:fillRect/>
          </a:stretch>
        </p:blipFill>
        <p:spPr>
          <a:xfrm>
            <a:off x="502920" y="2788920"/>
            <a:ext cx="8138160" cy="2679192"/>
          </a:xfrm>
          <a:prstGeom prst="rect">
            <a:avLst/>
          </a:prstGeom>
        </p:spPr>
      </p:pic>
      <p:sp>
        <p:nvSpPr>
          <p:cNvPr id="18" name="Text 15"/>
          <p:cNvSpPr/>
          <p:nvPr/>
        </p:nvSpPr>
        <p:spPr>
          <a:xfrm>
            <a:off x="502920" y="5486400"/>
            <a:ext cx="8138160" cy="320040"/>
          </a:xfrm>
          <a:prstGeom prst="rect">
            <a:avLst/>
          </a:prstGeom>
          <a:noFill/>
          <a:ln/>
        </p:spPr>
        <p:txBody>
          <a:bodyPr wrap="square" lIns="0" tIns="0" rIns="0" bIns="0" rtlCol="0" anchor="t"/>
          <a:lstStyle/>
          <a:p>
            <a:pPr algn="ctr" indent="0" marL="0">
              <a:buNone/>
            </a:pPr>
            <a:r>
              <a:rPr lang="en-US" sz="1200" dirty="0">
                <a:solidFill>
                  <a:srgbClr val="322164"/>
                </a:solidFill>
                <a:latin typeface="Consolas" pitchFamily="34" charset="0"/>
                <a:ea typeface="Consolas" pitchFamily="34" charset="-122"/>
                <a:cs typeface="Consolas" pitchFamily="34" charset="-120"/>
              </a:rPr>
              <a:t>&lt;desc&gt;icon | (no name) | &lt;point&gt;111,903&lt;/point&gt; | just above the text “Gmail”&lt;/desc&gt;</a:t>
            </a:r>
            <a:endParaRPr lang="en-US" sz="1200" dirty="0"/>
          </a:p>
        </p:txBody>
      </p:sp>
      <p:sp>
        <p:nvSpPr>
          <p:cNvPr id="19" name="Text 16"/>
          <p:cNvSpPr/>
          <p:nvPr/>
        </p:nvSpPr>
        <p:spPr>
          <a:xfrm>
            <a:off x="502920" y="5806440"/>
            <a:ext cx="8138160" cy="548640"/>
          </a:xfrm>
          <a:prstGeom prst="rect">
            <a:avLst/>
          </a:prstGeom>
          <a:noFill/>
          <a:ln/>
        </p:spPr>
        <p:txBody>
          <a:bodyPr wrap="square" lIns="0" tIns="0" rIns="0" bIns="0" rtlCol="0" anchor="t"/>
          <a:lstStyle/>
          <a:p>
            <a:pPr algn="ctr" indent="0" marL="0">
              <a:lnSpc>
                <a:spcPct val="125000"/>
              </a:lnSpc>
              <a:buNone/>
            </a:pPr>
            <a:r>
              <a:rPr lang="en-US" sz="1150" i="1" dirty="0">
                <a:solidFill>
                  <a:srgbClr val="5A5A66"/>
                </a:solidFill>
                <a:latin typeface="Cambria" pitchFamily="34" charset="0"/>
                <a:ea typeface="Cambria" pitchFamily="34" charset="-122"/>
                <a:cs typeface="Cambria" pitchFamily="34" charset="-120"/>
              </a:rPr>
              <a:t>Bốn biểu tượng cùng vai trò, không cái nào có tên. Chuỗi OCR gần nhất nằm ngoài hộp bao, cách tâm 114,5 px, được lấy làm mỏ neo. Câu của người chú thích cho cùng bước là “Click on the gmail option”, cũng quy chiếu qua chữ Gmail.</a:t>
            </a:r>
            <a:endParaRPr lang="en-US" sz="1150" dirty="0"/>
          </a:p>
        </p:txBody>
      </p:sp>
      <p:sp>
        <p:nvSpPr>
          <p:cNvPr id="21" name="Shape 17"/>
          <p:cNvSpPr/>
          <p:nvPr/>
        </p:nvSpPr>
        <p:spPr>
          <a:xfrm>
            <a:off x="0" y="6620256"/>
            <a:ext cx="2743200" cy="237744"/>
          </a:xfrm>
          <a:prstGeom prst="rect">
            <a:avLst/>
          </a:prstGeom>
          <a:solidFill>
            <a:srgbClr val="191132"/>
          </a:solidFill>
          <a:ln/>
        </p:spPr>
      </p:sp>
      <p:sp>
        <p:nvSpPr>
          <p:cNvPr id="22" name="Shape 18"/>
          <p:cNvSpPr/>
          <p:nvPr/>
        </p:nvSpPr>
        <p:spPr>
          <a:xfrm>
            <a:off x="2743200" y="6620256"/>
            <a:ext cx="3383280" cy="237744"/>
          </a:xfrm>
          <a:prstGeom prst="rect">
            <a:avLst/>
          </a:prstGeom>
          <a:solidFill>
            <a:srgbClr val="25194B"/>
          </a:solidFill>
          <a:ln/>
        </p:spPr>
      </p:sp>
      <p:sp>
        <p:nvSpPr>
          <p:cNvPr id="23" name="Shape 19"/>
          <p:cNvSpPr/>
          <p:nvPr/>
        </p:nvSpPr>
        <p:spPr>
          <a:xfrm>
            <a:off x="6126480" y="6620256"/>
            <a:ext cx="1737360" cy="237744"/>
          </a:xfrm>
          <a:prstGeom prst="rect">
            <a:avLst/>
          </a:prstGeom>
          <a:solidFill>
            <a:srgbClr val="4F417A"/>
          </a:solidFill>
          <a:ln/>
        </p:spPr>
      </p:sp>
      <p:sp>
        <p:nvSpPr>
          <p:cNvPr id="24" name="Shape 20"/>
          <p:cNvSpPr/>
          <p:nvPr/>
        </p:nvSpPr>
        <p:spPr>
          <a:xfrm>
            <a:off x="7863840" y="6620256"/>
            <a:ext cx="1280160" cy="237744"/>
          </a:xfrm>
          <a:prstGeom prst="rect">
            <a:avLst/>
          </a:prstGeom>
          <a:solidFill>
            <a:srgbClr val="7A7099"/>
          </a:solidFill>
          <a:ln/>
        </p:spPr>
      </p:sp>
      <p:sp>
        <p:nvSpPr>
          <p:cNvPr id="25"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6"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7"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8/17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 · Hai bộ lọc, mỗi bộ thêm vào sau khi đo thấy nhãn bị nhiễu</a:t>
            </a:r>
            <a:endParaRPr lang="en-US" sz="1900" dirty="0"/>
          </a:p>
        </p:txBody>
      </p:sp>
      <p:sp>
        <p:nvSpPr>
          <p:cNvPr id="4" name="Text 2"/>
          <p:cNvSpPr/>
          <p:nvPr/>
        </p:nvSpPr>
        <p:spPr>
          <a:xfrm>
            <a:off x="502920" y="777240"/>
            <a:ext cx="8138160" cy="320040"/>
          </a:xfrm>
          <a:prstGeom prst="rect">
            <a:avLst/>
          </a:prstGeom>
          <a:noFill/>
          <a:ln/>
        </p:spPr>
        <p:txBody>
          <a:bodyPr wrap="square" lIns="0" tIns="0" rIns="0" bIns="0" rtlCol="0" anchor="t"/>
          <a:lstStyle/>
          <a:p>
            <a:pPr algn="l" indent="0" marL="0">
              <a:buNone/>
            </a:pPr>
            <a:r>
              <a:rPr lang="en-US" sz="1350" i="1" dirty="0">
                <a:solidFill>
                  <a:srgbClr val="5A5A66"/>
                </a:solidFill>
                <a:latin typeface="Cambria" pitchFamily="34" charset="0"/>
                <a:ea typeface="Cambria" pitchFamily="34" charset="-122"/>
                <a:cs typeface="Cambria" pitchFamily="34" charset="-120"/>
              </a:rPr>
              <a:t>Cả hai đều không có trong thiết kế ban đầu, và bài nêu đúng theo thứ tự thời gian đó.</a:t>
            </a:r>
            <a:endParaRPr lang="en-US" sz="1350" dirty="0"/>
          </a:p>
        </p:txBody>
      </p:sp>
      <p:sp>
        <p:nvSpPr>
          <p:cNvPr id="5" name="Shape 3"/>
          <p:cNvSpPr/>
          <p:nvPr/>
        </p:nvSpPr>
        <p:spPr>
          <a:xfrm>
            <a:off x="502920" y="1143000"/>
            <a:ext cx="8138160" cy="1920240"/>
          </a:xfrm>
          <a:prstGeom prst="roundRect">
            <a:avLst>
              <a:gd name="adj" fmla="val 2857"/>
            </a:avLst>
          </a:prstGeom>
          <a:solidFill>
            <a:srgbClr val="E9E8EC"/>
          </a:solidFill>
          <a:ln/>
          <a:effectLst>
            <a:outerShdw sx="100000" sy="100000" kx="0" ky="0" algn="bl" rotWithShape="0" blurRad="63500" dist="31750" dir="2700000">
              <a:srgbClr val="8C8C99">
                <a:alpha val="45000"/>
              </a:srgbClr>
            </a:outerShdw>
          </a:effectLst>
        </p:spPr>
      </p:sp>
      <p:sp>
        <p:nvSpPr>
          <p:cNvPr id="6" name="Text 4"/>
          <p:cNvSpPr/>
          <p:nvPr/>
        </p:nvSpPr>
        <p:spPr>
          <a:xfrm>
            <a:off x="731520" y="1234440"/>
            <a:ext cx="7680960" cy="320040"/>
          </a:xfrm>
          <a:prstGeom prst="rect">
            <a:avLst/>
          </a:prstGeom>
          <a:noFill/>
          <a:ln/>
        </p:spPr>
        <p:txBody>
          <a:bodyPr wrap="square" lIns="0" tIns="0" rIns="0" bIns="0" rtlCol="0" anchor="t"/>
          <a:lstStyle/>
          <a:p>
            <a:pPr algn="l" indent="0" marL="0">
              <a:buNone/>
            </a:pPr>
            <a:r>
              <a:rPr lang="en-US" sz="1500" b="1" dirty="0">
                <a:solidFill>
                  <a:srgbClr val="322164"/>
                </a:solidFill>
                <a:latin typeface="Cambria" pitchFamily="34" charset="0"/>
                <a:ea typeface="Cambria" pitchFamily="34" charset="-122"/>
                <a:cs typeface="Cambria" pitchFamily="34" charset="-120"/>
              </a:rPr>
              <a:t>Bộ lọc nhãn trợ năng</a:t>
            </a:r>
            <a:endParaRPr lang="en-US" sz="1500" dirty="0"/>
          </a:p>
        </p:txBody>
      </p:sp>
      <p:sp>
        <p:nvSpPr>
          <p:cNvPr id="7" name="Text 5"/>
          <p:cNvSpPr/>
          <p:nvPr/>
        </p:nvSpPr>
        <p:spPr>
          <a:xfrm>
            <a:off x="731520" y="1572768"/>
            <a:ext cx="7680960" cy="82296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Loại bốn loại chuỗi hợp lệ về cú pháp nhưng không dùng được cho việc quy chiếu: định danh lấy từ mã nguồn, chuỗi số dài, hậu tố dành cho trình đọc màn hình, và chuỗi báo rằng phần tử không hề có nhãn, chẳng hạn No label specified.</a:t>
            </a:r>
            <a:endParaRPr lang="en-US" sz="1300" dirty="0"/>
          </a:p>
        </p:txBody>
      </p:sp>
      <p:sp>
        <p:nvSpPr>
          <p:cNvPr id="8" name="Text 6"/>
          <p:cNvSpPr/>
          <p:nvPr/>
        </p:nvSpPr>
        <p:spPr>
          <a:xfrm>
            <a:off x="731520" y="2423160"/>
            <a:ext cx="7680960" cy="548640"/>
          </a:xfrm>
          <a:prstGeom prst="rect">
            <a:avLst/>
          </a:prstGeom>
          <a:noFill/>
          <a:ln/>
        </p:spPr>
        <p:txBody>
          <a:bodyPr wrap="square" lIns="0" tIns="0" rIns="0" bIns="0" rtlCol="0" anchor="t"/>
          <a:lstStyle/>
          <a:p>
            <a:pPr algn="l" indent="0" marL="0">
              <a:lnSpc>
                <a:spcPct val="125000"/>
              </a:lnSpc>
              <a:buNone/>
            </a:pPr>
            <a:r>
              <a:rPr lang="en-US" sz="1250" b="1" dirty="0">
                <a:solidFill>
                  <a:srgbClr val="006666"/>
                </a:solidFill>
                <a:latin typeface="Cambria" pitchFamily="34" charset="0"/>
                <a:ea typeface="Cambria" pitchFamily="34" charset="-122"/>
                <a:cs typeface="Cambria" pitchFamily="34" charset="-120"/>
              </a:rPr>
              <a:t>Phạm vi:  </a:t>
            </a:r>
            <a:pPr algn="l" indent="0" marL="0">
              <a:lnSpc>
                <a:spcPct val="125000"/>
              </a:lnSpc>
              <a:buNone/>
            </a:pPr>
            <a:r>
              <a:rPr lang="en-US" sz="1250" dirty="0">
                <a:solidFill>
                  <a:srgbClr val="006666"/>
                </a:solidFill>
                <a:latin typeface="Cambria" pitchFamily="34" charset="0"/>
                <a:ea typeface="Cambria" pitchFamily="34" charset="-122"/>
                <a:cs typeface="Cambria" pitchFamily="34" charset="-120"/>
              </a:rPr>
              <a:t>14,7% nhãn tại phần tử cần chạm trên mẫu thử 1.074 nhãn   ·   347 / 8.928 = 3,9% ứng viên lấy từ cây trên toàn bộ ngữ liệu</a:t>
            </a:r>
            <a:endParaRPr lang="en-US" sz="1250" dirty="0"/>
          </a:p>
        </p:txBody>
      </p:sp>
      <p:sp>
        <p:nvSpPr>
          <p:cNvPr id="9" name="Shape 7"/>
          <p:cNvSpPr/>
          <p:nvPr/>
        </p:nvSpPr>
        <p:spPr>
          <a:xfrm>
            <a:off x="502920" y="3200400"/>
            <a:ext cx="8138160" cy="1691640"/>
          </a:xfrm>
          <a:prstGeom prst="roundRect">
            <a:avLst>
              <a:gd name="adj" fmla="val 3243"/>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731520" y="3291840"/>
            <a:ext cx="7680960" cy="320040"/>
          </a:xfrm>
          <a:prstGeom prst="rect">
            <a:avLst/>
          </a:prstGeom>
          <a:noFill/>
          <a:ln/>
        </p:spPr>
        <p:txBody>
          <a:bodyPr wrap="square" lIns="0" tIns="0" rIns="0" bIns="0" rtlCol="0" anchor="t"/>
          <a:lstStyle/>
          <a:p>
            <a:pPr algn="l" indent="0" marL="0">
              <a:buNone/>
            </a:pPr>
            <a:r>
              <a:rPr lang="en-US" sz="1500" b="1" dirty="0">
                <a:solidFill>
                  <a:srgbClr val="322164"/>
                </a:solidFill>
                <a:latin typeface="Cambria" pitchFamily="34" charset="0"/>
                <a:ea typeface="Cambria" pitchFamily="34" charset="-122"/>
                <a:cs typeface="Cambria" pitchFamily="34" charset="-120"/>
              </a:rPr>
              <a:t>Bộ lọc hình học</a:t>
            </a:r>
            <a:endParaRPr lang="en-US" sz="1500" dirty="0"/>
          </a:p>
        </p:txBody>
      </p:sp>
      <p:sp>
        <p:nvSpPr>
          <p:cNvPr id="11" name="Text 9"/>
          <p:cNvSpPr/>
          <p:nvPr/>
        </p:nvSpPr>
        <p:spPr>
          <a:xfrm>
            <a:off x="731520" y="3630168"/>
            <a:ext cx="7680960" cy="82296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Chỉ cho phép lấy tên từ OCR khi hộp chiếm dưới 25% diện tích màn. Hộp quá lớn thì chữ đọc được bên trong không còn quy chiếu về phần tử cần chạm nữa: một hộp phủ 95% màn cho chuỗi THEFELLOWSHIPOF THE RING.</a:t>
            </a:r>
            <a:endParaRPr lang="en-US" sz="1300" dirty="0"/>
          </a:p>
        </p:txBody>
      </p:sp>
      <p:sp>
        <p:nvSpPr>
          <p:cNvPr id="12" name="Text 10"/>
          <p:cNvSpPr/>
          <p:nvPr/>
        </p:nvSpPr>
        <p:spPr>
          <a:xfrm>
            <a:off x="731520" y="4434840"/>
            <a:ext cx="7680960" cy="3657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Phạm vi:  </a:t>
            </a:r>
            <a:pPr algn="l" indent="0" marL="0">
              <a:buNone/>
            </a:pPr>
            <a:r>
              <a:rPr lang="en-US" sz="1250" dirty="0">
                <a:solidFill>
                  <a:srgbClr val="006666"/>
                </a:solidFill>
                <a:latin typeface="Cambria" pitchFamily="34" charset="0"/>
                <a:ea typeface="Cambria" pitchFamily="34" charset="-122"/>
                <a:cs typeface="Cambria" pitchFamily="34" charset="-120"/>
              </a:rPr>
              <a:t>căn cứ chỉ dựa trên 25 trường hợp ở mẫu thử   ·   912 / 41.099 = 2,2% số bước trên toàn bộ ngữ liệu</a:t>
            </a:r>
            <a:endParaRPr lang="en-US" sz="1250" dirty="0"/>
          </a:p>
        </p:txBody>
      </p:sp>
      <p:sp>
        <p:nvSpPr>
          <p:cNvPr id="13" name="Shape 11"/>
          <p:cNvSpPr/>
          <p:nvPr/>
        </p:nvSpPr>
        <p:spPr>
          <a:xfrm>
            <a:off x="502920" y="5029200"/>
            <a:ext cx="8138160" cy="658368"/>
          </a:xfrm>
          <a:prstGeom prst="roundRect">
            <a:avLst>
              <a:gd name="adj" fmla="val 8333"/>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731520" y="5029200"/>
            <a:ext cx="7680960" cy="658368"/>
          </a:xfrm>
          <a:prstGeom prst="rect">
            <a:avLst/>
          </a:prstGeom>
          <a:noFill/>
          <a:ln/>
        </p:spPr>
        <p:txBody>
          <a:bodyPr wrap="square" lIns="0" tIns="0" rIns="0" bIns="0" rtlCol="0" anchor="ctr"/>
          <a:lstStyle/>
          <a:p>
            <a:pPr algn="l" indent="0" marL="0">
              <a:buNone/>
            </a:pPr>
            <a:r>
              <a:rPr lang="en-US" sz="1350" b="1" dirty="0">
                <a:solidFill>
                  <a:srgbClr val="B22222"/>
                </a:solidFill>
                <a:latin typeface="Cambria" pitchFamily="34" charset="0"/>
                <a:ea typeface="Cambria" pitchFamily="34" charset="-122"/>
                <a:cs typeface="Cambria" pitchFamily="34" charset="-120"/>
              </a:rPr>
              <a:t>Khi tên không kiểm chứng được, hai bộ lọc để ô tên trống thay vì điền một chuỗi phỏng đoán.</a:t>
            </a:r>
            <a:endParaRPr lang="en-US" sz="1350" dirty="0"/>
          </a:p>
        </p:txBody>
      </p:sp>
      <p:sp>
        <p:nvSpPr>
          <p:cNvPr id="16" name="Shape 13"/>
          <p:cNvSpPr/>
          <p:nvPr/>
        </p:nvSpPr>
        <p:spPr>
          <a:xfrm>
            <a:off x="0" y="6620256"/>
            <a:ext cx="2743200" cy="237744"/>
          </a:xfrm>
          <a:prstGeom prst="rect">
            <a:avLst/>
          </a:prstGeom>
          <a:solidFill>
            <a:srgbClr val="191132"/>
          </a:solidFill>
          <a:ln/>
        </p:spPr>
      </p:sp>
      <p:sp>
        <p:nvSpPr>
          <p:cNvPr id="17" name="Shape 14"/>
          <p:cNvSpPr/>
          <p:nvPr/>
        </p:nvSpPr>
        <p:spPr>
          <a:xfrm>
            <a:off x="2743200" y="6620256"/>
            <a:ext cx="3383280" cy="237744"/>
          </a:xfrm>
          <a:prstGeom prst="rect">
            <a:avLst/>
          </a:prstGeom>
          <a:solidFill>
            <a:srgbClr val="25194B"/>
          </a:solidFill>
          <a:ln/>
        </p:spPr>
      </p:sp>
      <p:sp>
        <p:nvSpPr>
          <p:cNvPr id="18" name="Shape 15"/>
          <p:cNvSpPr/>
          <p:nvPr/>
        </p:nvSpPr>
        <p:spPr>
          <a:xfrm>
            <a:off x="6126480" y="6620256"/>
            <a:ext cx="1737360" cy="237744"/>
          </a:xfrm>
          <a:prstGeom prst="rect">
            <a:avLst/>
          </a:prstGeom>
          <a:solidFill>
            <a:srgbClr val="4F417A"/>
          </a:solidFill>
          <a:ln/>
        </p:spPr>
      </p:sp>
      <p:sp>
        <p:nvSpPr>
          <p:cNvPr id="19" name="Shape 16"/>
          <p:cNvSpPr/>
          <p:nvPr/>
        </p:nvSpPr>
        <p:spPr>
          <a:xfrm>
            <a:off x="7863840" y="6620256"/>
            <a:ext cx="1280160" cy="237744"/>
          </a:xfrm>
          <a:prstGeom prst="rect">
            <a:avLst/>
          </a:prstGeom>
          <a:solidFill>
            <a:srgbClr val="7A7099"/>
          </a:solidFill>
          <a:ln/>
        </p:spPr>
      </p:sp>
      <p:sp>
        <p:nvSpPr>
          <p:cNvPr id="20" name="Text 1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1" name="Text 1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2" name="Text 1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3" name="Text 2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9/17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 · Ô dấu hiệu phân biệt: từ 7,3% lên 75,9% sau khi làm lại</a:t>
            </a:r>
            <a:endParaRPr lang="en-US" sz="1900" dirty="0"/>
          </a:p>
        </p:txBody>
      </p:sp>
      <p:sp>
        <p:nvSpPr>
          <p:cNvPr id="4" name="Text 2"/>
          <p:cNvSpPr/>
          <p:nvPr/>
        </p:nvSpPr>
        <p:spPr>
          <a:xfrm>
            <a:off x="502920" y="777240"/>
            <a:ext cx="81381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Bản đầu của ô thứ tư gần như không dùng được, và điều đó chỉ lộ ra khi đem đọc thủ công mẫu thử 1.074 nhãn.</a:t>
            </a:r>
            <a:endParaRPr lang="en-US" sz="1350" dirty="0"/>
          </a:p>
        </p:txBody>
      </p:sp>
      <p:sp>
        <p:nvSpPr>
          <p:cNvPr id="5" name="Shape 3"/>
          <p:cNvSpPr/>
          <p:nvPr/>
        </p:nvSpPr>
        <p:spPr>
          <a:xfrm>
            <a:off x="502920" y="1188720"/>
            <a:ext cx="3977640" cy="2011680"/>
          </a:xfrm>
          <a:prstGeom prst="roundRect">
            <a:avLst>
              <a:gd name="adj" fmla="val 2727"/>
            </a:avLst>
          </a:prstGeom>
          <a:solidFill>
            <a:srgbClr val="E9E8EC"/>
          </a:solidFill>
          <a:ln/>
          <a:effectLst>
            <a:outerShdw sx="100000" sy="100000" kx="0" ky="0" algn="bl" rotWithShape="0" blurRad="63500" dist="31750" dir="2700000">
              <a:srgbClr val="8C8C99">
                <a:alpha val="45000"/>
              </a:srgbClr>
            </a:outerShdw>
          </a:effectLst>
        </p:spPr>
      </p:sp>
      <p:sp>
        <p:nvSpPr>
          <p:cNvPr id="6" name="Text 4"/>
          <p:cNvSpPr/>
          <p:nvPr/>
        </p:nvSpPr>
        <p:spPr>
          <a:xfrm>
            <a:off x="685800" y="1280160"/>
            <a:ext cx="3566160" cy="292608"/>
          </a:xfrm>
          <a:prstGeom prst="rect">
            <a:avLst/>
          </a:prstGeom>
          <a:noFill/>
          <a:ln/>
        </p:spPr>
        <p:txBody>
          <a:bodyPr wrap="square" lIns="0" tIns="0" rIns="0" bIns="0" rtlCol="0" anchor="t"/>
          <a:lstStyle/>
          <a:p>
            <a:pPr algn="l" indent="0" marL="0">
              <a:buNone/>
            </a:pPr>
            <a:r>
              <a:rPr lang="en-US" sz="1450" b="1" dirty="0">
                <a:solidFill>
                  <a:srgbClr val="B22222"/>
                </a:solidFill>
                <a:latin typeface="Cambria" pitchFamily="34" charset="0"/>
                <a:ea typeface="Cambria" pitchFamily="34" charset="-122"/>
                <a:cs typeface="Cambria" pitchFamily="34" charset="-120"/>
              </a:rPr>
              <a:t>Bản đầu</a:t>
            </a:r>
            <a:endParaRPr lang="en-US" sz="1450" dirty="0"/>
          </a:p>
        </p:txBody>
      </p:sp>
      <p:sp>
        <p:nvSpPr>
          <p:cNvPr id="7" name="Text 5"/>
          <p:cNvSpPr/>
          <p:nvPr/>
        </p:nvSpPr>
        <p:spPr>
          <a:xfrm>
            <a:off x="685800" y="1600200"/>
            <a:ext cx="3566160" cy="457200"/>
          </a:xfrm>
          <a:prstGeom prst="rect">
            <a:avLst/>
          </a:prstGeom>
          <a:noFill/>
          <a:ln/>
        </p:spPr>
        <p:txBody>
          <a:bodyPr wrap="square" lIns="0" tIns="0" rIns="0" bIns="0" rtlCol="0" anchor="t"/>
          <a:lstStyle/>
          <a:p>
            <a:pPr algn="ctr" indent="0" marL="0">
              <a:buNone/>
            </a:pPr>
            <a:r>
              <a:rPr lang="en-US" sz="2600" b="1" dirty="0">
                <a:solidFill>
                  <a:srgbClr val="B22222"/>
                </a:solidFill>
                <a:latin typeface="Cambria" pitchFamily="34" charset="0"/>
                <a:ea typeface="Cambria" pitchFamily="34" charset="-122"/>
                <a:cs typeface="Cambria" pitchFamily="34" charset="-120"/>
              </a:rPr>
              <a:t>7,3%</a:t>
            </a:r>
            <a:endParaRPr lang="en-US" sz="2600" dirty="0"/>
          </a:p>
        </p:txBody>
      </p:sp>
      <p:sp>
        <p:nvSpPr>
          <p:cNvPr id="8" name="Text 6"/>
          <p:cNvSpPr/>
          <p:nvPr/>
        </p:nvSpPr>
        <p:spPr>
          <a:xfrm>
            <a:off x="685800" y="2103120"/>
            <a:ext cx="35661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giải quyết được mơ hồ, còn 85,8% chỉ là mệnh đề đếm số lượng, kiểu “một trong bảy phần tử cùng loại”.</a:t>
            </a:r>
            <a:endParaRPr lang="en-US" sz="1250" dirty="0"/>
          </a:p>
        </p:txBody>
      </p:sp>
      <p:sp>
        <p:nvSpPr>
          <p:cNvPr id="9" name="Shape 7"/>
          <p:cNvSpPr/>
          <p:nvPr/>
        </p:nvSpPr>
        <p:spPr>
          <a:xfrm>
            <a:off x="4663440" y="1188720"/>
            <a:ext cx="3977640" cy="2011680"/>
          </a:xfrm>
          <a:prstGeom prst="roundRect">
            <a:avLst>
              <a:gd name="adj" fmla="val 2727"/>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4846320" y="1280160"/>
            <a:ext cx="3566160" cy="292608"/>
          </a:xfrm>
          <a:prstGeom prst="rect">
            <a:avLst/>
          </a:prstGeom>
          <a:noFill/>
          <a:ln/>
        </p:spPr>
        <p:txBody>
          <a:bodyPr wrap="square" lIns="0" tIns="0" rIns="0" bIns="0" rtlCol="0" anchor="t"/>
          <a:lstStyle/>
          <a:p>
            <a:pPr algn="l" indent="0" marL="0">
              <a:buNone/>
            </a:pPr>
            <a:r>
              <a:rPr lang="en-US" sz="1450" b="1" dirty="0">
                <a:solidFill>
                  <a:srgbClr val="006666"/>
                </a:solidFill>
                <a:latin typeface="Cambria" pitchFamily="34" charset="0"/>
                <a:ea typeface="Cambria" pitchFamily="34" charset="-122"/>
                <a:cs typeface="Cambria" pitchFamily="34" charset="-120"/>
              </a:rPr>
              <a:t>Sau khi sắp xếp lại quy tắc</a:t>
            </a:r>
            <a:endParaRPr lang="en-US" sz="1450" dirty="0"/>
          </a:p>
        </p:txBody>
      </p:sp>
      <p:sp>
        <p:nvSpPr>
          <p:cNvPr id="11" name="Text 9"/>
          <p:cNvSpPr/>
          <p:nvPr/>
        </p:nvSpPr>
        <p:spPr>
          <a:xfrm>
            <a:off x="4846320" y="1600200"/>
            <a:ext cx="3566160" cy="457200"/>
          </a:xfrm>
          <a:prstGeom prst="rect">
            <a:avLst/>
          </a:prstGeom>
          <a:noFill/>
          <a:ln/>
        </p:spPr>
        <p:txBody>
          <a:bodyPr wrap="square" lIns="0" tIns="0" rIns="0" bIns="0" rtlCol="0" anchor="t"/>
          <a:lstStyle/>
          <a:p>
            <a:pPr algn="ctr" indent="0" marL="0">
              <a:buNone/>
            </a:pPr>
            <a:r>
              <a:rPr lang="en-US" sz="2600" b="1" dirty="0">
                <a:solidFill>
                  <a:srgbClr val="006666"/>
                </a:solidFill>
                <a:latin typeface="Cambria" pitchFamily="34" charset="0"/>
                <a:ea typeface="Cambria" pitchFamily="34" charset="-122"/>
                <a:cs typeface="Cambria" pitchFamily="34" charset="-120"/>
              </a:rPr>
              <a:t>75,9%</a:t>
            </a:r>
            <a:endParaRPr lang="en-US" sz="2600" dirty="0"/>
          </a:p>
        </p:txBody>
      </p:sp>
      <p:sp>
        <p:nvSpPr>
          <p:cNvPr id="12" name="Text 10"/>
          <p:cNvSpPr/>
          <p:nvPr/>
        </p:nvSpPr>
        <p:spPr>
          <a:xfrm>
            <a:off x="4846320" y="2103120"/>
            <a:ext cx="35661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trên cùng mẫu thử và cùng bảng phân loại; trên toàn bộ 41.099 nhãn là 75,3%, lệch 0,6 điểm phần trăm.</a:t>
            </a:r>
            <a:endParaRPr lang="en-US" sz="1250" dirty="0"/>
          </a:p>
        </p:txBody>
      </p:sp>
      <p:sp>
        <p:nvSpPr>
          <p:cNvPr id="13" name="Text 11"/>
          <p:cNvSpPr/>
          <p:nvPr/>
        </p:nvSpPr>
        <p:spPr>
          <a:xfrm>
            <a:off x="502920" y="3337560"/>
            <a:ext cx="8138160" cy="292608"/>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Hai thay đổi</a:t>
            </a:r>
            <a:endParaRPr lang="en-US" sz="1400" dirty="0"/>
          </a:p>
        </p:txBody>
      </p:sp>
      <p:sp>
        <p:nvSpPr>
          <p:cNvPr id="14" name="Text 12"/>
          <p:cNvSpPr/>
          <p:nvPr/>
        </p:nvSpPr>
        <p:spPr>
          <a:xfrm>
            <a:off x="594360" y="3703320"/>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5" name="Text 13"/>
          <p:cNvSpPr/>
          <p:nvPr/>
        </p:nvSpPr>
        <p:spPr>
          <a:xfrm>
            <a:off x="822960" y="3703320"/>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Sắp xếp lại quy tắc theo tiêu chí mệnh đề có giải quyết được mơ hồ hay không, thay vì theo thứ tự dễ tính trước</a:t>
            </a:r>
            <a:endParaRPr lang="en-US" sz="1300" dirty="0"/>
          </a:p>
        </p:txBody>
      </p:sp>
      <p:sp>
        <p:nvSpPr>
          <p:cNvPr id="16" name="Text 14"/>
          <p:cNvSpPr/>
          <p:nvPr/>
        </p:nvSpPr>
        <p:spPr>
          <a:xfrm>
            <a:off x="594360" y="4361688"/>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7" name="Text 15"/>
          <p:cNvSpPr/>
          <p:nvPr/>
        </p:nvSpPr>
        <p:spPr>
          <a:xfrm>
            <a:off x="822960" y="4361688"/>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Bổ sung mỏ neo chữ: chuỗi OCR gần nhất nằm ngoài hộp bao, cách tâm không quá 350 px, kèm hướng (just above, to the left of)</a:t>
            </a:r>
            <a:endParaRPr lang="en-US" sz="1300" dirty="0"/>
          </a:p>
        </p:txBody>
      </p:sp>
      <p:sp>
        <p:nvSpPr>
          <p:cNvPr id="18" name="Shape 16"/>
          <p:cNvSpPr/>
          <p:nvPr/>
        </p:nvSpPr>
        <p:spPr>
          <a:xfrm>
            <a:off x="502920" y="5074920"/>
            <a:ext cx="8138160" cy="685800"/>
          </a:xfrm>
          <a:prstGeom prst="roundRect">
            <a:avLst>
              <a:gd name="adj" fmla="val 8000"/>
            </a:avLst>
          </a:prstGeom>
          <a:solidFill>
            <a:srgbClr val="E9E8EC"/>
          </a:solidFill>
          <a:ln/>
          <a:effectLst>
            <a:outerShdw sx="100000" sy="100000" kx="0" ky="0" algn="bl" rotWithShape="0" blurRad="63500" dist="31750" dir="2700000">
              <a:srgbClr val="8C8C99">
                <a:alpha val="45000"/>
              </a:srgbClr>
            </a:outerShdw>
          </a:effectLst>
        </p:spPr>
      </p:sp>
      <p:sp>
        <p:nvSpPr>
          <p:cNvPr id="19" name="Text 17"/>
          <p:cNvSpPr/>
          <p:nvPr/>
        </p:nvSpPr>
        <p:spPr>
          <a:xfrm>
            <a:off x="731520" y="5074920"/>
            <a:ext cx="7680960" cy="6858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Mỏ neo đúng chiều ở 737/737 trường hợp của mẫu thử, nhưng cách dựng chỉ bảo đảm hướng đúng, không bảo đảm mệnh đề hữu ích.</a:t>
            </a:r>
            <a:endParaRPr lang="en-US" sz="1300" dirty="0"/>
          </a:p>
        </p:txBody>
      </p:sp>
      <p:sp>
        <p:nvSpPr>
          <p:cNvPr id="21" name="Shape 18"/>
          <p:cNvSpPr/>
          <p:nvPr/>
        </p:nvSpPr>
        <p:spPr>
          <a:xfrm>
            <a:off x="0" y="6620256"/>
            <a:ext cx="2743200" cy="237744"/>
          </a:xfrm>
          <a:prstGeom prst="rect">
            <a:avLst/>
          </a:prstGeom>
          <a:solidFill>
            <a:srgbClr val="191132"/>
          </a:solidFill>
          <a:ln/>
        </p:spPr>
      </p:sp>
      <p:sp>
        <p:nvSpPr>
          <p:cNvPr id="22" name="Shape 19"/>
          <p:cNvSpPr/>
          <p:nvPr/>
        </p:nvSpPr>
        <p:spPr>
          <a:xfrm>
            <a:off x="2743200" y="6620256"/>
            <a:ext cx="338328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6"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10/17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 · Độ phủ của dấu hiệu lệch theo hướng bất lợi</a:t>
            </a:r>
            <a:endParaRPr lang="en-US" sz="1900" dirty="0"/>
          </a:p>
        </p:txBody>
      </p:sp>
      <p:sp>
        <p:nvSpPr>
          <p:cNvPr id="4" name="Shape 2"/>
          <p:cNvSpPr/>
          <p:nvPr/>
        </p:nvSpPr>
        <p:spPr>
          <a:xfrm>
            <a:off x="502920" y="804672"/>
            <a:ext cx="8138160" cy="502920"/>
          </a:xfrm>
          <a:prstGeom prst="rect">
            <a:avLst/>
          </a:prstGeom>
          <a:solidFill>
            <a:srgbClr val="322164"/>
          </a:solidFill>
          <a:ln/>
        </p:spPr>
      </p:sp>
      <p:sp>
        <p:nvSpPr>
          <p:cNvPr id="5" name="Text 3"/>
          <p:cNvSpPr/>
          <p:nvPr/>
        </p:nvSpPr>
        <p:spPr>
          <a:xfrm>
            <a:off x="502920" y="804672"/>
            <a:ext cx="2011680" cy="502920"/>
          </a:xfrm>
          <a:prstGeom prst="rect">
            <a:avLst/>
          </a:prstGeom>
          <a:noFill/>
          <a:ln/>
        </p:spPr>
        <p:txBody>
          <a:bodyPr wrap="square" lIns="38100" tIns="38100" rIns="38100" bIns="38100" rtlCol="0" anchor="ctr"/>
          <a:lstStyle/>
          <a:p>
            <a:pPr algn="l" indent="0" marL="0">
              <a:buNone/>
            </a:pPr>
            <a:r>
              <a:rPr lang="en-US" sz="1100" b="1" dirty="0">
                <a:solidFill>
                  <a:srgbClr val="FFFFFF"/>
                </a:solidFill>
                <a:latin typeface="Cambria" pitchFamily="34" charset="0"/>
                <a:ea typeface="Cambria" pitchFamily="34" charset="-122"/>
                <a:cs typeface="Cambria" pitchFamily="34" charset="-120"/>
              </a:rPr>
              <a:t>Tầng tên</a:t>
            </a:r>
            <a:endParaRPr lang="en-US" sz="1100" dirty="0"/>
          </a:p>
        </p:txBody>
      </p:sp>
      <p:sp>
        <p:nvSpPr>
          <p:cNvPr id="6" name="Text 4"/>
          <p:cNvSpPr/>
          <p:nvPr/>
        </p:nvSpPr>
        <p:spPr>
          <a:xfrm>
            <a:off x="2514600" y="804672"/>
            <a:ext cx="868680" cy="502920"/>
          </a:xfrm>
          <a:prstGeom prst="rect">
            <a:avLst/>
          </a:prstGeom>
          <a:noFill/>
          <a:ln/>
        </p:spPr>
        <p:txBody>
          <a:bodyPr wrap="square" lIns="38100" tIns="38100" rIns="38100" bIns="38100" rtlCol="0" anchor="ctr"/>
          <a:lstStyle/>
          <a:p>
            <a:pPr algn="r" indent="0" marL="0">
              <a:buNone/>
            </a:pPr>
            <a:r>
              <a:rPr lang="en-US" sz="1100" b="1" dirty="0">
                <a:solidFill>
                  <a:srgbClr val="FFFFFF"/>
                </a:solidFill>
                <a:latin typeface="Cambria" pitchFamily="34" charset="0"/>
                <a:ea typeface="Cambria" pitchFamily="34" charset="-122"/>
                <a:cs typeface="Cambria" pitchFamily="34" charset="-120"/>
              </a:rPr>
              <a:t>n</a:t>
            </a:r>
            <a:endParaRPr lang="en-US" sz="1100" dirty="0"/>
          </a:p>
        </p:txBody>
      </p:sp>
      <p:sp>
        <p:nvSpPr>
          <p:cNvPr id="7" name="Text 5"/>
          <p:cNvSpPr/>
          <p:nvPr/>
        </p:nvSpPr>
        <p:spPr>
          <a:xfrm>
            <a:off x="3383280" y="804672"/>
            <a:ext cx="1143000" cy="502920"/>
          </a:xfrm>
          <a:prstGeom prst="rect">
            <a:avLst/>
          </a:prstGeom>
          <a:noFill/>
          <a:ln/>
        </p:spPr>
        <p:txBody>
          <a:bodyPr wrap="square" lIns="38100" tIns="38100" rIns="38100" bIns="38100" rtlCol="0" anchor="ctr"/>
          <a:lstStyle/>
          <a:p>
            <a:pPr algn="r" indent="0" marL="0">
              <a:buNone/>
            </a:pPr>
            <a:r>
              <a:rPr lang="en-US" sz="1100" b="1" dirty="0">
                <a:solidFill>
                  <a:srgbClr val="FFFFFF"/>
                </a:solidFill>
                <a:latin typeface="Cambria" pitchFamily="34" charset="0"/>
                <a:ea typeface="Cambria" pitchFamily="34" charset="-122"/>
                <a:cs typeface="Cambria" pitchFamily="34" charset="-120"/>
              </a:rPr>
              <a:t>Mỏ neo chữ</a:t>
            </a:r>
            <a:endParaRPr lang="en-US" sz="1100" dirty="0"/>
          </a:p>
        </p:txBody>
      </p:sp>
      <p:sp>
        <p:nvSpPr>
          <p:cNvPr id="8" name="Text 6"/>
          <p:cNvSpPr/>
          <p:nvPr/>
        </p:nvSpPr>
        <p:spPr>
          <a:xfrm>
            <a:off x="4526280" y="804672"/>
            <a:ext cx="914400" cy="502920"/>
          </a:xfrm>
          <a:prstGeom prst="rect">
            <a:avLst/>
          </a:prstGeom>
          <a:noFill/>
          <a:ln/>
        </p:spPr>
        <p:txBody>
          <a:bodyPr wrap="square" lIns="38100" tIns="38100" rIns="38100" bIns="38100" rtlCol="0" anchor="ctr"/>
          <a:lstStyle/>
          <a:p>
            <a:pPr algn="r" indent="0" marL="0">
              <a:buNone/>
            </a:pPr>
            <a:r>
              <a:rPr lang="en-US" sz="1100" b="1" dirty="0">
                <a:solidFill>
                  <a:srgbClr val="FFFFFF"/>
                </a:solidFill>
                <a:latin typeface="Cambria" pitchFamily="34" charset="0"/>
                <a:ea typeface="Cambria" pitchFamily="34" charset="-122"/>
                <a:cs typeface="Cambria" pitchFamily="34" charset="-120"/>
              </a:rPr>
              <a:t>Duy nhất</a:t>
            </a:r>
            <a:endParaRPr lang="en-US" sz="1100" dirty="0"/>
          </a:p>
        </p:txBody>
      </p:sp>
      <p:sp>
        <p:nvSpPr>
          <p:cNvPr id="9" name="Text 7"/>
          <p:cNvSpPr/>
          <p:nvPr/>
        </p:nvSpPr>
        <p:spPr>
          <a:xfrm>
            <a:off x="5440680" y="804672"/>
            <a:ext cx="1143000" cy="502920"/>
          </a:xfrm>
          <a:prstGeom prst="rect">
            <a:avLst/>
          </a:prstGeom>
          <a:noFill/>
          <a:ln/>
        </p:spPr>
        <p:txBody>
          <a:bodyPr wrap="square" lIns="38100" tIns="38100" rIns="38100" bIns="38100" rtlCol="0" anchor="ctr"/>
          <a:lstStyle/>
          <a:p>
            <a:pPr algn="r" indent="0" marL="0">
              <a:buNone/>
            </a:pPr>
            <a:r>
              <a:rPr lang="en-US" sz="1100" b="1" dirty="0">
                <a:solidFill>
                  <a:srgbClr val="FFFFFF"/>
                </a:solidFill>
                <a:latin typeface="Cambria" pitchFamily="34" charset="0"/>
                <a:ea typeface="Cambria" pitchFamily="34" charset="-122"/>
                <a:cs typeface="Cambria" pitchFamily="34" charset="-120"/>
              </a:rPr>
              <a:t>Nêu trùng tên</a:t>
            </a:r>
            <a:endParaRPr lang="en-US" sz="1100" dirty="0"/>
          </a:p>
        </p:txBody>
      </p:sp>
      <p:sp>
        <p:nvSpPr>
          <p:cNvPr id="10" name="Text 8"/>
          <p:cNvSpPr/>
          <p:nvPr/>
        </p:nvSpPr>
        <p:spPr>
          <a:xfrm>
            <a:off x="6583680" y="804672"/>
            <a:ext cx="868680" cy="502920"/>
          </a:xfrm>
          <a:prstGeom prst="rect">
            <a:avLst/>
          </a:prstGeom>
          <a:noFill/>
          <a:ln/>
        </p:spPr>
        <p:txBody>
          <a:bodyPr wrap="square" lIns="38100" tIns="38100" rIns="38100" bIns="38100" rtlCol="0" anchor="ctr"/>
          <a:lstStyle/>
          <a:p>
            <a:pPr algn="r" indent="0" marL="0">
              <a:buNone/>
            </a:pPr>
            <a:r>
              <a:rPr lang="en-US" sz="1100" b="1" dirty="0">
                <a:solidFill>
                  <a:srgbClr val="FFFFFF"/>
                </a:solidFill>
                <a:latin typeface="Cambria" pitchFamily="34" charset="0"/>
                <a:ea typeface="Cambria" pitchFamily="34" charset="-122"/>
                <a:cs typeface="Cambria" pitchFamily="34" charset="-120"/>
              </a:rPr>
              <a:t>Chỉ đếm</a:t>
            </a:r>
            <a:endParaRPr lang="en-US" sz="1100" dirty="0"/>
          </a:p>
        </p:txBody>
      </p:sp>
      <p:sp>
        <p:nvSpPr>
          <p:cNvPr id="11" name="Text 9"/>
          <p:cNvSpPr/>
          <p:nvPr/>
        </p:nvSpPr>
        <p:spPr>
          <a:xfrm>
            <a:off x="7452360" y="804672"/>
            <a:ext cx="1188720" cy="502920"/>
          </a:xfrm>
          <a:prstGeom prst="rect">
            <a:avLst/>
          </a:prstGeom>
          <a:noFill/>
          <a:ln/>
        </p:spPr>
        <p:txBody>
          <a:bodyPr wrap="square" lIns="38100" tIns="38100" rIns="38100" bIns="38100" rtlCol="0" anchor="ctr"/>
          <a:lstStyle/>
          <a:p>
            <a:pPr algn="r" indent="0" marL="0">
              <a:buNone/>
            </a:pPr>
            <a:r>
              <a:rPr lang="en-US" sz="1100" b="1" dirty="0">
                <a:solidFill>
                  <a:srgbClr val="FFFFFF"/>
                </a:solidFill>
                <a:latin typeface="Cambria" pitchFamily="34" charset="0"/>
                <a:ea typeface="Cambria" pitchFamily="34" charset="-122"/>
                <a:cs typeface="Cambria" pitchFamily="34" charset="-120"/>
              </a:rPr>
              <a:t>Giải quyết được</a:t>
            </a:r>
            <a:endParaRPr lang="en-US" sz="1100" dirty="0"/>
          </a:p>
        </p:txBody>
      </p:sp>
      <p:sp>
        <p:nvSpPr>
          <p:cNvPr id="12" name="Text 10"/>
          <p:cNvSpPr/>
          <p:nvPr/>
        </p:nvSpPr>
        <p:spPr>
          <a:xfrm>
            <a:off x="502920" y="1307592"/>
            <a:ext cx="2011680" cy="42062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Tên rõ ràng</a:t>
            </a:r>
            <a:endParaRPr lang="en-US" sz="1200" dirty="0"/>
          </a:p>
        </p:txBody>
      </p:sp>
      <p:sp>
        <p:nvSpPr>
          <p:cNvPr id="13" name="Text 11"/>
          <p:cNvSpPr/>
          <p:nvPr/>
        </p:nvSpPr>
        <p:spPr>
          <a:xfrm>
            <a:off x="2514600" y="1307592"/>
            <a:ext cx="86868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30.252</a:t>
            </a:r>
            <a:endParaRPr lang="en-US" sz="1200" dirty="0"/>
          </a:p>
        </p:txBody>
      </p:sp>
      <p:sp>
        <p:nvSpPr>
          <p:cNvPr id="14" name="Text 12"/>
          <p:cNvSpPr/>
          <p:nvPr/>
        </p:nvSpPr>
        <p:spPr>
          <a:xfrm>
            <a:off x="3383280" y="1307592"/>
            <a:ext cx="11430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72,2%</a:t>
            </a:r>
            <a:endParaRPr lang="en-US" sz="1200" dirty="0"/>
          </a:p>
        </p:txBody>
      </p:sp>
      <p:sp>
        <p:nvSpPr>
          <p:cNvPr id="15" name="Text 13"/>
          <p:cNvSpPr/>
          <p:nvPr/>
        </p:nvSpPr>
        <p:spPr>
          <a:xfrm>
            <a:off x="4526280" y="1307592"/>
            <a:ext cx="9144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7,9%</a:t>
            </a:r>
            <a:endParaRPr lang="en-US" sz="1200" dirty="0"/>
          </a:p>
        </p:txBody>
      </p:sp>
      <p:sp>
        <p:nvSpPr>
          <p:cNvPr id="16" name="Text 14"/>
          <p:cNvSpPr/>
          <p:nvPr/>
        </p:nvSpPr>
        <p:spPr>
          <a:xfrm>
            <a:off x="5440680" y="1307592"/>
            <a:ext cx="11430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1,7%</a:t>
            </a:r>
            <a:endParaRPr lang="en-US" sz="1200" dirty="0"/>
          </a:p>
        </p:txBody>
      </p:sp>
      <p:sp>
        <p:nvSpPr>
          <p:cNvPr id="17" name="Text 15"/>
          <p:cNvSpPr/>
          <p:nvPr/>
        </p:nvSpPr>
        <p:spPr>
          <a:xfrm>
            <a:off x="6583680" y="1307592"/>
            <a:ext cx="86868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18,2%</a:t>
            </a:r>
            <a:endParaRPr lang="en-US" sz="1200" dirty="0"/>
          </a:p>
        </p:txBody>
      </p:sp>
      <p:sp>
        <p:nvSpPr>
          <p:cNvPr id="18" name="Text 16"/>
          <p:cNvSpPr/>
          <p:nvPr/>
        </p:nvSpPr>
        <p:spPr>
          <a:xfrm>
            <a:off x="7452360" y="1307592"/>
            <a:ext cx="1188720" cy="420624"/>
          </a:xfrm>
          <a:prstGeom prst="rect">
            <a:avLst/>
          </a:prstGeom>
          <a:noFill/>
          <a:ln/>
        </p:spPr>
        <p:txBody>
          <a:bodyPr wrap="square" lIns="38100" tIns="38100" rIns="38100" bIns="38100" rtlCol="0" anchor="ctr"/>
          <a:lstStyle/>
          <a:p>
            <a:pPr algn="r" indent="0" marL="0">
              <a:buNone/>
            </a:pPr>
            <a:r>
              <a:rPr lang="en-US" sz="1200" b="1" dirty="0">
                <a:solidFill>
                  <a:srgbClr val="006666"/>
                </a:solidFill>
                <a:latin typeface="Cambria" pitchFamily="34" charset="0"/>
                <a:ea typeface="Cambria" pitchFamily="34" charset="-122"/>
                <a:cs typeface="Cambria" pitchFamily="34" charset="-120"/>
              </a:rPr>
              <a:t>80,1%</a:t>
            </a:r>
            <a:endParaRPr lang="en-US" sz="1200" dirty="0"/>
          </a:p>
        </p:txBody>
      </p:sp>
      <p:sp>
        <p:nvSpPr>
          <p:cNvPr id="19" name="Shape 17"/>
          <p:cNvSpPr/>
          <p:nvPr/>
        </p:nvSpPr>
        <p:spPr>
          <a:xfrm>
            <a:off x="502920" y="1728216"/>
            <a:ext cx="8138160" cy="0"/>
          </a:xfrm>
          <a:prstGeom prst="line">
            <a:avLst/>
          </a:prstGeom>
          <a:noFill/>
          <a:ln w="12700">
            <a:solidFill>
              <a:srgbClr val="9A94AE"/>
            </a:solidFill>
            <a:prstDash val="solid"/>
          </a:ln>
        </p:spPr>
      </p:sp>
      <p:sp>
        <p:nvSpPr>
          <p:cNvPr id="20" name="Text 18"/>
          <p:cNvSpPr/>
          <p:nvPr/>
        </p:nvSpPr>
        <p:spPr>
          <a:xfrm>
            <a:off x="502920" y="1728216"/>
            <a:ext cx="2011680" cy="42062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Chỉ có ký hiệu</a:t>
            </a:r>
            <a:endParaRPr lang="en-US" sz="1200" dirty="0"/>
          </a:p>
        </p:txBody>
      </p:sp>
      <p:sp>
        <p:nvSpPr>
          <p:cNvPr id="21" name="Text 19"/>
          <p:cNvSpPr/>
          <p:nvPr/>
        </p:nvSpPr>
        <p:spPr>
          <a:xfrm>
            <a:off x="2514600" y="1728216"/>
            <a:ext cx="86868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1.809</a:t>
            </a:r>
            <a:endParaRPr lang="en-US" sz="1200" dirty="0"/>
          </a:p>
        </p:txBody>
      </p:sp>
      <p:sp>
        <p:nvSpPr>
          <p:cNvPr id="22" name="Text 20"/>
          <p:cNvSpPr/>
          <p:nvPr/>
        </p:nvSpPr>
        <p:spPr>
          <a:xfrm>
            <a:off x="3383280" y="1728216"/>
            <a:ext cx="11430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32,7%</a:t>
            </a:r>
            <a:endParaRPr lang="en-US" sz="1200" dirty="0"/>
          </a:p>
        </p:txBody>
      </p:sp>
      <p:sp>
        <p:nvSpPr>
          <p:cNvPr id="23" name="Text 21"/>
          <p:cNvSpPr/>
          <p:nvPr/>
        </p:nvSpPr>
        <p:spPr>
          <a:xfrm>
            <a:off x="4526280" y="1728216"/>
            <a:ext cx="9144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4,8%</a:t>
            </a:r>
            <a:endParaRPr lang="en-US" sz="1200" dirty="0"/>
          </a:p>
        </p:txBody>
      </p:sp>
      <p:sp>
        <p:nvSpPr>
          <p:cNvPr id="24" name="Text 22"/>
          <p:cNvSpPr/>
          <p:nvPr/>
        </p:nvSpPr>
        <p:spPr>
          <a:xfrm>
            <a:off x="5440680" y="1728216"/>
            <a:ext cx="11430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31,3%</a:t>
            </a:r>
            <a:endParaRPr lang="en-US" sz="1200" dirty="0"/>
          </a:p>
        </p:txBody>
      </p:sp>
      <p:sp>
        <p:nvSpPr>
          <p:cNvPr id="25" name="Text 23"/>
          <p:cNvSpPr/>
          <p:nvPr/>
        </p:nvSpPr>
        <p:spPr>
          <a:xfrm>
            <a:off x="6583680" y="1728216"/>
            <a:ext cx="86868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31,2%</a:t>
            </a:r>
            <a:endParaRPr lang="en-US" sz="1200" dirty="0"/>
          </a:p>
        </p:txBody>
      </p:sp>
      <p:sp>
        <p:nvSpPr>
          <p:cNvPr id="26" name="Text 24"/>
          <p:cNvSpPr/>
          <p:nvPr/>
        </p:nvSpPr>
        <p:spPr>
          <a:xfrm>
            <a:off x="7452360" y="1728216"/>
            <a:ext cx="1188720" cy="420624"/>
          </a:xfrm>
          <a:prstGeom prst="rect">
            <a:avLst/>
          </a:prstGeom>
          <a:noFill/>
          <a:ln/>
        </p:spPr>
        <p:txBody>
          <a:bodyPr wrap="square" lIns="38100" tIns="38100" rIns="38100" bIns="38100" rtlCol="0" anchor="ctr"/>
          <a:lstStyle/>
          <a:p>
            <a:pPr algn="r" indent="0" marL="0">
              <a:buNone/>
            </a:pPr>
            <a:r>
              <a:rPr lang="en-US" sz="1200" b="1" dirty="0">
                <a:solidFill>
                  <a:srgbClr val="B22222"/>
                </a:solidFill>
                <a:latin typeface="Cambria" pitchFamily="34" charset="0"/>
                <a:ea typeface="Cambria" pitchFamily="34" charset="-122"/>
                <a:cs typeface="Cambria" pitchFamily="34" charset="-120"/>
              </a:rPr>
              <a:t>37,5%</a:t>
            </a:r>
            <a:endParaRPr lang="en-US" sz="1200" dirty="0"/>
          </a:p>
        </p:txBody>
      </p:sp>
      <p:sp>
        <p:nvSpPr>
          <p:cNvPr id="27" name="Shape 25"/>
          <p:cNvSpPr/>
          <p:nvPr/>
        </p:nvSpPr>
        <p:spPr>
          <a:xfrm>
            <a:off x="502920" y="2148840"/>
            <a:ext cx="8138160" cy="0"/>
          </a:xfrm>
          <a:prstGeom prst="line">
            <a:avLst/>
          </a:prstGeom>
          <a:noFill/>
          <a:ln w="12700">
            <a:solidFill>
              <a:srgbClr val="9A94AE"/>
            </a:solidFill>
            <a:prstDash val="solid"/>
          </a:ln>
        </p:spPr>
      </p:sp>
      <p:sp>
        <p:nvSpPr>
          <p:cNvPr id="28" name="Text 26"/>
          <p:cNvSpPr/>
          <p:nvPr/>
        </p:nvSpPr>
        <p:spPr>
          <a:xfrm>
            <a:off x="502920" y="2148840"/>
            <a:ext cx="2011680" cy="42062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Không có tên</a:t>
            </a:r>
            <a:endParaRPr lang="en-US" sz="1200" dirty="0"/>
          </a:p>
        </p:txBody>
      </p:sp>
      <p:sp>
        <p:nvSpPr>
          <p:cNvPr id="29" name="Text 27"/>
          <p:cNvSpPr/>
          <p:nvPr/>
        </p:nvSpPr>
        <p:spPr>
          <a:xfrm>
            <a:off x="2514600" y="2148840"/>
            <a:ext cx="86868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9.038</a:t>
            </a:r>
            <a:endParaRPr lang="en-US" sz="1200" dirty="0"/>
          </a:p>
        </p:txBody>
      </p:sp>
      <p:sp>
        <p:nvSpPr>
          <p:cNvPr id="30" name="Text 28"/>
          <p:cNvSpPr/>
          <p:nvPr/>
        </p:nvSpPr>
        <p:spPr>
          <a:xfrm>
            <a:off x="3383280" y="2148840"/>
            <a:ext cx="11430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57,5%</a:t>
            </a:r>
            <a:endParaRPr lang="en-US" sz="1200" dirty="0"/>
          </a:p>
        </p:txBody>
      </p:sp>
      <p:sp>
        <p:nvSpPr>
          <p:cNvPr id="31" name="Text 29"/>
          <p:cNvSpPr/>
          <p:nvPr/>
        </p:nvSpPr>
        <p:spPr>
          <a:xfrm>
            <a:off x="4526280" y="2148840"/>
            <a:ext cx="9144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9,2%</a:t>
            </a:r>
            <a:endParaRPr lang="en-US" sz="1200" dirty="0"/>
          </a:p>
        </p:txBody>
      </p:sp>
      <p:sp>
        <p:nvSpPr>
          <p:cNvPr id="32" name="Text 30"/>
          <p:cNvSpPr/>
          <p:nvPr/>
        </p:nvSpPr>
        <p:spPr>
          <a:xfrm>
            <a:off x="5440680" y="2148840"/>
            <a:ext cx="114300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a:t>
            </a:r>
            <a:endParaRPr lang="en-US" sz="1200" dirty="0"/>
          </a:p>
        </p:txBody>
      </p:sp>
      <p:sp>
        <p:nvSpPr>
          <p:cNvPr id="33" name="Text 31"/>
          <p:cNvSpPr/>
          <p:nvPr/>
        </p:nvSpPr>
        <p:spPr>
          <a:xfrm>
            <a:off x="6583680" y="2148840"/>
            <a:ext cx="868680" cy="420624"/>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33,3%</a:t>
            </a:r>
            <a:endParaRPr lang="en-US" sz="1200" dirty="0"/>
          </a:p>
        </p:txBody>
      </p:sp>
      <p:sp>
        <p:nvSpPr>
          <p:cNvPr id="34" name="Text 32"/>
          <p:cNvSpPr/>
          <p:nvPr/>
        </p:nvSpPr>
        <p:spPr>
          <a:xfrm>
            <a:off x="7452360" y="2148840"/>
            <a:ext cx="1188720" cy="420624"/>
          </a:xfrm>
          <a:prstGeom prst="rect">
            <a:avLst/>
          </a:prstGeom>
          <a:noFill/>
          <a:ln/>
        </p:spPr>
        <p:txBody>
          <a:bodyPr wrap="square" lIns="38100" tIns="38100" rIns="38100" bIns="38100" rtlCol="0" anchor="ctr"/>
          <a:lstStyle/>
          <a:p>
            <a:pPr algn="r" indent="0" marL="0">
              <a:buNone/>
            </a:pPr>
            <a:r>
              <a:rPr lang="en-US" sz="1200" b="1" dirty="0">
                <a:solidFill>
                  <a:srgbClr val="990000"/>
                </a:solidFill>
                <a:latin typeface="Cambria" pitchFamily="34" charset="0"/>
                <a:ea typeface="Cambria" pitchFamily="34" charset="-122"/>
                <a:cs typeface="Cambria" pitchFamily="34" charset="-120"/>
              </a:rPr>
              <a:t>66,7%</a:t>
            </a:r>
            <a:endParaRPr lang="en-US" sz="1200" dirty="0"/>
          </a:p>
        </p:txBody>
      </p:sp>
      <p:sp>
        <p:nvSpPr>
          <p:cNvPr id="35" name="Shape 33"/>
          <p:cNvSpPr/>
          <p:nvPr/>
        </p:nvSpPr>
        <p:spPr>
          <a:xfrm>
            <a:off x="502920" y="2569464"/>
            <a:ext cx="8138160" cy="0"/>
          </a:xfrm>
          <a:prstGeom prst="line">
            <a:avLst/>
          </a:prstGeom>
          <a:noFill/>
          <a:ln w="12700">
            <a:solidFill>
              <a:srgbClr val="9A94AE"/>
            </a:solidFill>
            <a:prstDash val="solid"/>
          </a:ln>
        </p:spPr>
      </p:sp>
      <p:sp>
        <p:nvSpPr>
          <p:cNvPr id="36" name="Text 34"/>
          <p:cNvSpPr/>
          <p:nvPr/>
        </p:nvSpPr>
        <p:spPr>
          <a:xfrm>
            <a:off x="502920" y="2569464"/>
            <a:ext cx="2011680" cy="420624"/>
          </a:xfrm>
          <a:prstGeom prst="rect">
            <a:avLst/>
          </a:prstGeom>
          <a:noFill/>
          <a:ln/>
        </p:spPr>
        <p:txBody>
          <a:bodyPr wrap="square" lIns="38100" tIns="38100" rIns="38100" bIns="38100" rtlCol="0" anchor="ctr"/>
          <a:lstStyle/>
          <a:p>
            <a:pPr algn="l" indent="0" marL="0">
              <a:buNone/>
            </a:pPr>
            <a:r>
              <a:rPr lang="en-US" sz="1200" b="1" dirty="0">
                <a:solidFill>
                  <a:srgbClr val="1A1A1A"/>
                </a:solidFill>
                <a:latin typeface="Cambria" pitchFamily="34" charset="0"/>
                <a:ea typeface="Cambria" pitchFamily="34" charset="-122"/>
                <a:cs typeface="Cambria" pitchFamily="34" charset="-120"/>
              </a:rPr>
              <a:t>Toàn bộ</a:t>
            </a:r>
            <a:endParaRPr lang="en-US" sz="1200" dirty="0"/>
          </a:p>
        </p:txBody>
      </p:sp>
      <p:sp>
        <p:nvSpPr>
          <p:cNvPr id="37" name="Text 35"/>
          <p:cNvSpPr/>
          <p:nvPr/>
        </p:nvSpPr>
        <p:spPr>
          <a:xfrm>
            <a:off x="2514600" y="2569464"/>
            <a:ext cx="868680" cy="420624"/>
          </a:xfrm>
          <a:prstGeom prst="rect">
            <a:avLst/>
          </a:prstGeom>
          <a:noFill/>
          <a:ln/>
        </p:spPr>
        <p:txBody>
          <a:bodyPr wrap="square" lIns="38100" tIns="38100" rIns="38100" bIns="38100" rtlCol="0" anchor="ctr"/>
          <a:lstStyle/>
          <a:p>
            <a:pPr algn="r" indent="0" marL="0">
              <a:buNone/>
            </a:pPr>
            <a:r>
              <a:rPr lang="en-US" sz="1200" b="1" dirty="0">
                <a:solidFill>
                  <a:srgbClr val="1A1A1A"/>
                </a:solidFill>
                <a:latin typeface="Cambria" pitchFamily="34" charset="0"/>
                <a:ea typeface="Cambria" pitchFamily="34" charset="-122"/>
                <a:cs typeface="Cambria" pitchFamily="34" charset="-120"/>
              </a:rPr>
              <a:t>41.099</a:t>
            </a:r>
            <a:endParaRPr lang="en-US" sz="1200" dirty="0"/>
          </a:p>
        </p:txBody>
      </p:sp>
      <p:sp>
        <p:nvSpPr>
          <p:cNvPr id="38" name="Text 36"/>
          <p:cNvSpPr/>
          <p:nvPr/>
        </p:nvSpPr>
        <p:spPr>
          <a:xfrm>
            <a:off x="3383280" y="2569464"/>
            <a:ext cx="1143000" cy="420624"/>
          </a:xfrm>
          <a:prstGeom prst="rect">
            <a:avLst/>
          </a:prstGeom>
          <a:noFill/>
          <a:ln/>
        </p:spPr>
        <p:txBody>
          <a:bodyPr wrap="square" lIns="38100" tIns="38100" rIns="38100" bIns="38100" rtlCol="0" anchor="ctr"/>
          <a:lstStyle/>
          <a:p>
            <a:pPr algn="r" indent="0" marL="0">
              <a:buNone/>
            </a:pPr>
            <a:r>
              <a:rPr lang="en-US" sz="1200" b="1" dirty="0">
                <a:solidFill>
                  <a:srgbClr val="1A1A1A"/>
                </a:solidFill>
                <a:latin typeface="Cambria" pitchFamily="34" charset="0"/>
                <a:ea typeface="Cambria" pitchFamily="34" charset="-122"/>
                <a:cs typeface="Cambria" pitchFamily="34" charset="-120"/>
              </a:rPr>
              <a:t>67,2%</a:t>
            </a:r>
            <a:endParaRPr lang="en-US" sz="1200" dirty="0"/>
          </a:p>
        </p:txBody>
      </p:sp>
      <p:sp>
        <p:nvSpPr>
          <p:cNvPr id="39" name="Text 37"/>
          <p:cNvSpPr/>
          <p:nvPr/>
        </p:nvSpPr>
        <p:spPr>
          <a:xfrm>
            <a:off x="4526280" y="2569464"/>
            <a:ext cx="914400" cy="420624"/>
          </a:xfrm>
          <a:prstGeom prst="rect">
            <a:avLst/>
          </a:prstGeom>
          <a:noFill/>
          <a:ln/>
        </p:spPr>
        <p:txBody>
          <a:bodyPr wrap="square" lIns="38100" tIns="38100" rIns="38100" bIns="38100" rtlCol="0" anchor="ctr"/>
          <a:lstStyle/>
          <a:p>
            <a:pPr algn="r" indent="0" marL="0">
              <a:buNone/>
            </a:pPr>
            <a:r>
              <a:rPr lang="en-US" sz="1200" b="1" dirty="0">
                <a:solidFill>
                  <a:srgbClr val="1A1A1A"/>
                </a:solidFill>
                <a:latin typeface="Cambria" pitchFamily="34" charset="0"/>
                <a:ea typeface="Cambria" pitchFamily="34" charset="-122"/>
                <a:cs typeface="Cambria" pitchFamily="34" charset="-120"/>
              </a:rPr>
              <a:t>8,1%</a:t>
            </a:r>
            <a:endParaRPr lang="en-US" sz="1200" dirty="0"/>
          </a:p>
        </p:txBody>
      </p:sp>
      <p:sp>
        <p:nvSpPr>
          <p:cNvPr id="40" name="Text 38"/>
          <p:cNvSpPr/>
          <p:nvPr/>
        </p:nvSpPr>
        <p:spPr>
          <a:xfrm>
            <a:off x="5440680" y="2569464"/>
            <a:ext cx="1143000" cy="420624"/>
          </a:xfrm>
          <a:prstGeom prst="rect">
            <a:avLst/>
          </a:prstGeom>
          <a:noFill/>
          <a:ln/>
        </p:spPr>
        <p:txBody>
          <a:bodyPr wrap="square" lIns="38100" tIns="38100" rIns="38100" bIns="38100" rtlCol="0" anchor="ctr"/>
          <a:lstStyle/>
          <a:p>
            <a:pPr algn="r" indent="0" marL="0">
              <a:buNone/>
            </a:pPr>
            <a:r>
              <a:rPr lang="en-US" sz="1200" b="1" dirty="0">
                <a:solidFill>
                  <a:srgbClr val="1A1A1A"/>
                </a:solidFill>
                <a:latin typeface="Cambria" pitchFamily="34" charset="0"/>
                <a:ea typeface="Cambria" pitchFamily="34" charset="-122"/>
                <a:cs typeface="Cambria" pitchFamily="34" charset="-120"/>
              </a:rPr>
              <a:t>2,6%</a:t>
            </a:r>
            <a:endParaRPr lang="en-US" sz="1200" dirty="0"/>
          </a:p>
        </p:txBody>
      </p:sp>
      <p:sp>
        <p:nvSpPr>
          <p:cNvPr id="41" name="Text 39"/>
          <p:cNvSpPr/>
          <p:nvPr/>
        </p:nvSpPr>
        <p:spPr>
          <a:xfrm>
            <a:off x="6583680" y="2569464"/>
            <a:ext cx="868680" cy="420624"/>
          </a:xfrm>
          <a:prstGeom prst="rect">
            <a:avLst/>
          </a:prstGeom>
          <a:noFill/>
          <a:ln/>
        </p:spPr>
        <p:txBody>
          <a:bodyPr wrap="square" lIns="38100" tIns="38100" rIns="38100" bIns="38100" rtlCol="0" anchor="ctr"/>
          <a:lstStyle/>
          <a:p>
            <a:pPr algn="r" indent="0" marL="0">
              <a:buNone/>
            </a:pPr>
            <a:r>
              <a:rPr lang="en-US" sz="1200" b="1" dirty="0">
                <a:solidFill>
                  <a:srgbClr val="1A1A1A"/>
                </a:solidFill>
                <a:latin typeface="Cambria" pitchFamily="34" charset="0"/>
                <a:ea typeface="Cambria" pitchFamily="34" charset="-122"/>
                <a:cs typeface="Cambria" pitchFamily="34" charset="-120"/>
              </a:rPr>
              <a:t>22,1%</a:t>
            </a:r>
            <a:endParaRPr lang="en-US" sz="1200" dirty="0"/>
          </a:p>
        </p:txBody>
      </p:sp>
      <p:sp>
        <p:nvSpPr>
          <p:cNvPr id="42" name="Text 40"/>
          <p:cNvSpPr/>
          <p:nvPr/>
        </p:nvSpPr>
        <p:spPr>
          <a:xfrm>
            <a:off x="7452360" y="2569464"/>
            <a:ext cx="1188720" cy="420624"/>
          </a:xfrm>
          <a:prstGeom prst="rect">
            <a:avLst/>
          </a:prstGeom>
          <a:noFill/>
          <a:ln/>
        </p:spPr>
        <p:txBody>
          <a:bodyPr wrap="square" lIns="38100" tIns="38100" rIns="38100" bIns="38100" rtlCol="0" anchor="ctr"/>
          <a:lstStyle/>
          <a:p>
            <a:pPr algn="r" indent="0" marL="0">
              <a:buNone/>
            </a:pPr>
            <a:r>
              <a:rPr lang="en-US" sz="1200" b="1" dirty="0">
                <a:solidFill>
                  <a:srgbClr val="1A1A1A"/>
                </a:solidFill>
                <a:latin typeface="Cambria" pitchFamily="34" charset="0"/>
                <a:ea typeface="Cambria" pitchFamily="34" charset="-122"/>
                <a:cs typeface="Cambria" pitchFamily="34" charset="-120"/>
              </a:rPr>
              <a:t>75,3%</a:t>
            </a:r>
            <a:endParaRPr lang="en-US" sz="1200" dirty="0"/>
          </a:p>
        </p:txBody>
      </p:sp>
      <p:sp>
        <p:nvSpPr>
          <p:cNvPr id="43" name="Text 41"/>
          <p:cNvSpPr/>
          <p:nvPr/>
        </p:nvSpPr>
        <p:spPr>
          <a:xfrm>
            <a:off x="502920" y="3017520"/>
            <a:ext cx="8138160" cy="274320"/>
          </a:xfrm>
          <a:prstGeom prst="rect">
            <a:avLst/>
          </a:prstGeom>
          <a:noFill/>
          <a:ln/>
        </p:spPr>
        <p:txBody>
          <a:bodyPr wrap="square" lIns="0" tIns="0" rIns="0" bIns="0" rtlCol="0" anchor="t"/>
          <a:lstStyle/>
          <a:p>
            <a:pPr algn="l" indent="0" marL="0">
              <a:buNone/>
            </a:pPr>
            <a:r>
              <a:rPr lang="en-US" sz="1150" i="1" dirty="0">
                <a:solidFill>
                  <a:srgbClr val="5A5A66"/>
                </a:solidFill>
                <a:latin typeface="Cambria" pitchFamily="34" charset="0"/>
                <a:ea typeface="Cambria" pitchFamily="34" charset="-122"/>
                <a:cs typeface="Cambria" pitchFamily="34" charset="-120"/>
              </a:rPr>
              <a:t>Hai cột giữa giải quyết được mơ hồ, hai cột sau chỉ nêu rằng có mơ hồ mà không giúp chọn.</a:t>
            </a:r>
            <a:endParaRPr lang="en-US" sz="1150" dirty="0"/>
          </a:p>
        </p:txBody>
      </p:sp>
      <p:sp>
        <p:nvSpPr>
          <p:cNvPr id="44" name="Shape 42"/>
          <p:cNvSpPr/>
          <p:nvPr/>
        </p:nvSpPr>
        <p:spPr>
          <a:xfrm>
            <a:off x="502920" y="333756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45" name="Text 43"/>
          <p:cNvSpPr/>
          <p:nvPr/>
        </p:nvSpPr>
        <p:spPr>
          <a:xfrm>
            <a:off x="731520" y="3337560"/>
            <a:ext cx="7680960" cy="1097280"/>
          </a:xfrm>
          <a:prstGeom prst="rect">
            <a:avLst/>
          </a:prstGeom>
          <a:noFill/>
          <a:ln/>
        </p:spPr>
        <p:txBody>
          <a:bodyPr wrap="square" lIns="0" tIns="0" rIns="0" bIns="0" rtlCol="0" anchor="ctr"/>
          <a:lstStyle/>
          <a:p>
            <a:pPr algn="l" indent="0" marL="0">
              <a:lnSpc>
                <a:spcPct val="132000"/>
              </a:lnSpc>
              <a:buNone/>
            </a:pPr>
            <a:r>
              <a:rPr lang="en-US" sz="1300" b="1" dirty="0">
                <a:solidFill>
                  <a:srgbClr val="B22222"/>
                </a:solidFill>
                <a:latin typeface="Cambria" pitchFamily="34" charset="0"/>
                <a:ea typeface="Cambria" pitchFamily="34" charset="-122"/>
                <a:cs typeface="Cambria" pitchFamily="34" charset="-120"/>
              </a:rPr>
              <a:t>Những phần tử cần dấu hiệu phân biệt nhất lại là những phần tử có tỉ lệ giải quyết được thấp nhất. </a:t>
            </a:r>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Tầng tên rõ ràng, nơi bản thân cái tên đã đủ quy chiếu, đạt 80,1%. Tầng chỉ có ký hiệu, nơi dấu hiệu là phương tiện duy nhất còn lại, chỉ đạt 37,5%.</a:t>
            </a:r>
            <a:endParaRPr lang="en-US" sz="1300" dirty="0"/>
          </a:p>
        </p:txBody>
      </p:sp>
      <p:sp>
        <p:nvSpPr>
          <p:cNvPr id="46" name="Text 44"/>
          <p:cNvSpPr/>
          <p:nvPr/>
        </p:nvSpPr>
        <p:spPr>
          <a:xfrm>
            <a:off x="502920" y="4553712"/>
            <a:ext cx="81381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Nguyên nhân là cơ học chứ không phải khái niệm</a:t>
            </a:r>
            <a:endParaRPr lang="en-US" sz="1350" dirty="0"/>
          </a:p>
        </p:txBody>
      </p:sp>
      <p:sp>
        <p:nvSpPr>
          <p:cNvPr id="47" name="Text 45"/>
          <p:cNvSpPr/>
          <p:nvPr/>
        </p:nvSpPr>
        <p:spPr>
          <a:xfrm>
            <a:off x="594360" y="4864608"/>
            <a:ext cx="201168" cy="4572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48" name="Text 46"/>
          <p:cNvSpPr/>
          <p:nvPr/>
        </p:nvSpPr>
        <p:spPr>
          <a:xfrm>
            <a:off x="822960" y="4864608"/>
            <a:ext cx="7726680" cy="438912"/>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Mỏ neo chữ cần một chuỗi OCR nằm ngoài hộp và đủ gần, mà vùng dày biểu tượng không nhãn cũng thường là vùng thưa chữ</a:t>
            </a:r>
            <a:endParaRPr lang="en-US" sz="1250" dirty="0"/>
          </a:p>
        </p:txBody>
      </p:sp>
      <p:sp>
        <p:nvSpPr>
          <p:cNvPr id="49" name="Text 47"/>
          <p:cNvSpPr/>
          <p:nvPr/>
        </p:nvSpPr>
        <p:spPr>
          <a:xfrm>
            <a:off x="594360" y="5321808"/>
            <a:ext cx="201168" cy="4572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50" name="Text 48"/>
          <p:cNvSpPr/>
          <p:nvPr/>
        </p:nvSpPr>
        <p:spPr>
          <a:xfrm>
            <a:off x="822960" y="5321808"/>
            <a:ext cx="7726680" cy="438912"/>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Trong 3.124 trường hợp trùng tên, 65,7% nhận được mỏ neo, còn 34,3% chỉ được báo là trùng tên</a:t>
            </a:r>
            <a:endParaRPr lang="en-US" sz="1250" dirty="0"/>
          </a:p>
        </p:txBody>
      </p:sp>
      <p:sp>
        <p:nvSpPr>
          <p:cNvPr id="51" name="Text 49"/>
          <p:cNvSpPr/>
          <p:nvPr/>
        </p:nvSpPr>
        <p:spPr>
          <a:xfrm>
            <a:off x="594360" y="5779008"/>
            <a:ext cx="201168" cy="4572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52" name="Text 50"/>
          <p:cNvSpPr/>
          <p:nvPr/>
        </p:nvSpPr>
        <p:spPr>
          <a:xfrm>
            <a:off x="822960" y="5779008"/>
            <a:ext cx="7726680" cy="438912"/>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Hướng mỏ neo lệch theo trục ngang: trong 27.628 mỏ neo, to the right of có 8.382 còn to the left of chỉ 2.033, vì nhãn văn bản trên Android thường đặt bên trái phần tử thao tác</a:t>
            </a:r>
            <a:endParaRPr lang="en-US" sz="1250" dirty="0"/>
          </a:p>
        </p:txBody>
      </p:sp>
      <p:sp>
        <p:nvSpPr>
          <p:cNvPr id="54" name="Shape 51"/>
          <p:cNvSpPr/>
          <p:nvPr/>
        </p:nvSpPr>
        <p:spPr>
          <a:xfrm>
            <a:off x="0" y="6620256"/>
            <a:ext cx="2743200" cy="237744"/>
          </a:xfrm>
          <a:prstGeom prst="rect">
            <a:avLst/>
          </a:prstGeom>
          <a:solidFill>
            <a:srgbClr val="191132"/>
          </a:solidFill>
          <a:ln/>
        </p:spPr>
      </p:sp>
      <p:sp>
        <p:nvSpPr>
          <p:cNvPr id="55" name="Shape 52"/>
          <p:cNvSpPr/>
          <p:nvPr/>
        </p:nvSpPr>
        <p:spPr>
          <a:xfrm>
            <a:off x="2743200" y="6620256"/>
            <a:ext cx="3383280" cy="237744"/>
          </a:xfrm>
          <a:prstGeom prst="rect">
            <a:avLst/>
          </a:prstGeom>
          <a:solidFill>
            <a:srgbClr val="25194B"/>
          </a:solidFill>
          <a:ln/>
        </p:spPr>
      </p:sp>
      <p:sp>
        <p:nvSpPr>
          <p:cNvPr id="56" name="Shape 53"/>
          <p:cNvSpPr/>
          <p:nvPr/>
        </p:nvSpPr>
        <p:spPr>
          <a:xfrm>
            <a:off x="6126480" y="6620256"/>
            <a:ext cx="1737360" cy="237744"/>
          </a:xfrm>
          <a:prstGeom prst="rect">
            <a:avLst/>
          </a:prstGeom>
          <a:solidFill>
            <a:srgbClr val="4F417A"/>
          </a:solidFill>
          <a:ln/>
        </p:spPr>
      </p:sp>
      <p:sp>
        <p:nvSpPr>
          <p:cNvPr id="57" name="Shape 54"/>
          <p:cNvSpPr/>
          <p:nvPr/>
        </p:nvSpPr>
        <p:spPr>
          <a:xfrm>
            <a:off x="7863840" y="6620256"/>
            <a:ext cx="1280160" cy="237744"/>
          </a:xfrm>
          <a:prstGeom prst="rect">
            <a:avLst/>
          </a:prstGeom>
          <a:solidFill>
            <a:srgbClr val="7A7099"/>
          </a:solidFill>
          <a:ln/>
        </p:spPr>
      </p:sp>
      <p:sp>
        <p:nvSpPr>
          <p:cNvPr id="58" name="Text 5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59" name="Text 5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60" name="Text 5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61" name="Text 5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11/17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 · Người chú thích và quy trình tự động chọn cùng một chiến lược</a:t>
            </a:r>
            <a:endParaRPr lang="en-US" sz="1900" dirty="0"/>
          </a:p>
        </p:txBody>
      </p:sp>
      <p:sp>
        <p:nvSpPr>
          <p:cNvPr id="4" name="Text 2"/>
          <p:cNvSpPr/>
          <p:nvPr/>
        </p:nvSpPr>
        <p:spPr>
          <a:xfrm>
            <a:off x="502920" y="777240"/>
            <a:ext cx="81381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Ba số đo đặt cạnh nhau cùng chỉ về một hiện tượng: bên viết câu phải bỏ lối gọi tên mà chuyển sang lối định vị.</a:t>
            </a:r>
            <a:endParaRPr lang="en-US" sz="1350" dirty="0"/>
          </a:p>
        </p:txBody>
      </p:sp>
      <p:sp>
        <p:nvSpPr>
          <p:cNvPr id="5" name="Text 3"/>
          <p:cNvSpPr/>
          <p:nvPr/>
        </p:nvSpPr>
        <p:spPr>
          <a:xfrm>
            <a:off x="502920" y="1188720"/>
            <a:ext cx="3977640" cy="292608"/>
          </a:xfrm>
          <a:prstGeom prst="rect">
            <a:avLst/>
          </a:prstGeom>
          <a:noFill/>
          <a:ln/>
        </p:spPr>
        <p:txBody>
          <a:bodyPr wrap="square" lIns="0" tIns="0" rIns="0" bIns="0" rtlCol="0" anchor="t"/>
          <a:lstStyle/>
          <a:p>
            <a:pPr algn="ctr" indent="0" marL="0">
              <a:buNone/>
            </a:pPr>
            <a:r>
              <a:rPr lang="en-US" sz="1400" b="1" dirty="0">
                <a:solidFill>
                  <a:srgbClr val="322164"/>
                </a:solidFill>
                <a:latin typeface="Cambria" pitchFamily="34" charset="0"/>
                <a:ea typeface="Cambria" pitchFamily="34" charset="-122"/>
                <a:cs typeface="Cambria" pitchFamily="34" charset="-120"/>
              </a:rPr>
              <a:t>Phía màn hình</a:t>
            </a:r>
            <a:endParaRPr lang="en-US" sz="1400" dirty="0"/>
          </a:p>
        </p:txBody>
      </p:sp>
      <p:sp>
        <p:nvSpPr>
          <p:cNvPr id="6" name="Text 4"/>
          <p:cNvSpPr/>
          <p:nvPr/>
        </p:nvSpPr>
        <p:spPr>
          <a:xfrm>
            <a:off x="4663440" y="1188720"/>
            <a:ext cx="3977640" cy="292608"/>
          </a:xfrm>
          <a:prstGeom prst="rect">
            <a:avLst/>
          </a:prstGeom>
          <a:noFill/>
          <a:ln/>
        </p:spPr>
        <p:txBody>
          <a:bodyPr wrap="square" lIns="0" tIns="0" rIns="0" bIns="0" rtlCol="0" anchor="t"/>
          <a:lstStyle/>
          <a:p>
            <a:pPr algn="ctr" indent="0" marL="0">
              <a:buNone/>
            </a:pPr>
            <a:r>
              <a:rPr lang="en-US" sz="1400" b="1" dirty="0">
                <a:solidFill>
                  <a:srgbClr val="322164"/>
                </a:solidFill>
                <a:latin typeface="Cambria" pitchFamily="34" charset="0"/>
                <a:ea typeface="Cambria" pitchFamily="34" charset="-122"/>
                <a:cs typeface="Cambria" pitchFamily="34" charset="-120"/>
              </a:rPr>
              <a:t>Phía ngôn ngữ</a:t>
            </a:r>
            <a:endParaRPr lang="en-US" sz="1400" dirty="0"/>
          </a:p>
        </p:txBody>
      </p:sp>
      <p:sp>
        <p:nvSpPr>
          <p:cNvPr id="7" name="Shape 5"/>
          <p:cNvSpPr/>
          <p:nvPr/>
        </p:nvSpPr>
        <p:spPr>
          <a:xfrm>
            <a:off x="502920" y="1536192"/>
            <a:ext cx="3977640" cy="2286000"/>
          </a:xfrm>
          <a:prstGeom prst="roundRect">
            <a:avLst>
              <a:gd name="adj" fmla="val 2400"/>
            </a:avLst>
          </a:prstGeom>
          <a:solidFill>
            <a:srgbClr val="E9E8EC"/>
          </a:solidFill>
          <a:ln/>
          <a:effectLst>
            <a:outerShdw sx="100000" sy="100000" kx="0" ky="0" algn="bl" rotWithShape="0" blurRad="63500" dist="31750" dir="2700000">
              <a:srgbClr val="8C8C99">
                <a:alpha val="45000"/>
              </a:srgbClr>
            </a:outerShdw>
          </a:effectLst>
        </p:spPr>
      </p:sp>
      <p:sp>
        <p:nvSpPr>
          <p:cNvPr id="8" name="Shape 6"/>
          <p:cNvSpPr/>
          <p:nvPr/>
        </p:nvSpPr>
        <p:spPr>
          <a:xfrm>
            <a:off x="4663440" y="1536192"/>
            <a:ext cx="3977640" cy="2286000"/>
          </a:xfrm>
          <a:prstGeom prst="roundRect">
            <a:avLst>
              <a:gd name="adj" fmla="val 2400"/>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685800" y="1691640"/>
            <a:ext cx="201168" cy="10515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914400" y="1691640"/>
            <a:ext cx="3383280" cy="1005840"/>
          </a:xfrm>
          <a:prstGeom prst="rect">
            <a:avLst/>
          </a:prstGeom>
          <a:noFill/>
          <a:ln/>
        </p:spPr>
        <p:txBody>
          <a:bodyPr wrap="square" lIns="0" tIns="0" rIns="0" bIns="0" rtlCol="0" anchor="t"/>
          <a:lstStyle/>
          <a:p>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55,6%</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số bước có sẵn ít nhất một phần tử cạnh tranh trong dải 80 đến 350 px quanh phần tử cần chạm</a:t>
            </a:r>
            <a:endParaRPr lang="en-US" sz="1250" dirty="0"/>
          </a:p>
        </p:txBody>
      </p:sp>
      <p:sp>
        <p:nvSpPr>
          <p:cNvPr id="11" name="Text 9"/>
          <p:cNvSpPr/>
          <p:nvPr/>
        </p:nvSpPr>
        <p:spPr>
          <a:xfrm>
            <a:off x="685800" y="2743200"/>
            <a:ext cx="201168" cy="10515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2" name="Text 10"/>
          <p:cNvSpPr/>
          <p:nvPr/>
        </p:nvSpPr>
        <p:spPr>
          <a:xfrm>
            <a:off x="914400" y="2743200"/>
            <a:ext cx="3383280" cy="1005840"/>
          </a:xfrm>
          <a:prstGeom prst="rect">
            <a:avLst/>
          </a:prstGeom>
          <a:noFill/>
          <a:ln/>
        </p:spPr>
        <p:txBody>
          <a:bodyPr wrap="square" lIns="0" tIns="0" rIns="0" bIns="0" rtlCol="0" anchor="t"/>
          <a:lstStyle/>
          <a:p>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91,6%</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số bước có ít nhất một phần tử cùng vai trò, trung vị 8 phần tử một màn</a:t>
            </a:r>
            <a:endParaRPr lang="en-US" sz="1250" dirty="0"/>
          </a:p>
        </p:txBody>
      </p:sp>
      <p:sp>
        <p:nvSpPr>
          <p:cNvPr id="13" name="Text 11"/>
          <p:cNvSpPr/>
          <p:nvPr/>
        </p:nvSpPr>
        <p:spPr>
          <a:xfrm>
            <a:off x="4846320" y="1691640"/>
            <a:ext cx="201168" cy="10515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4" name="Text 12"/>
          <p:cNvSpPr/>
          <p:nvPr/>
        </p:nvSpPr>
        <p:spPr>
          <a:xfrm>
            <a:off x="5074920" y="1691640"/>
            <a:ext cx="3383280" cy="1005840"/>
          </a:xfrm>
          <a:prstGeom prst="rect">
            <a:avLst/>
          </a:prstGeom>
          <a:noFill/>
          <a:ln/>
        </p:spPr>
        <p:txBody>
          <a:bodyPr wrap="square" lIns="0" tIns="0" rIns="0" bIns="0" rtlCol="0" anchor="t"/>
          <a:lstStyle/>
          <a:p>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32,5%</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trong 41.084 câu của người chú thích chứa ít nhất một từ chỉ vị trí hoặc thứ tự: top, left, corner, above, first…</a:t>
            </a:r>
            <a:endParaRPr lang="en-US" sz="1250" dirty="0"/>
          </a:p>
        </p:txBody>
      </p:sp>
      <p:sp>
        <p:nvSpPr>
          <p:cNvPr id="15" name="Text 13"/>
          <p:cNvSpPr/>
          <p:nvPr/>
        </p:nvSpPr>
        <p:spPr>
          <a:xfrm>
            <a:off x="4846320" y="2743200"/>
            <a:ext cx="201168" cy="10515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5074920" y="2743200"/>
            <a:ext cx="3383280" cy="1005840"/>
          </a:xfrm>
          <a:prstGeom prst="rect">
            <a:avLst/>
          </a:prstGeom>
          <a:noFill/>
          <a:ln/>
        </p:spPr>
        <p:txBody>
          <a:bodyPr wrap="square" lIns="0" tIns="0" rIns="0" bIns="0" rtlCol="0" anchor="t"/>
          <a:lstStyle/>
          <a:p>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67,2%</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dấu hiệu của quy trình tự động là quan hệ với chữ lân cận; riêng nhóm không có tên vẫn là 57,5%</a:t>
            </a:r>
            <a:endParaRPr lang="en-US" sz="1250" dirty="0"/>
          </a:p>
        </p:txBody>
      </p:sp>
      <p:sp>
        <p:nvSpPr>
          <p:cNvPr id="17" name="Shape 15"/>
          <p:cNvSpPr/>
          <p:nvPr/>
        </p:nvSpPr>
        <p:spPr>
          <a:xfrm>
            <a:off x="502920" y="397764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18" name="Text 16"/>
          <p:cNvSpPr/>
          <p:nvPr/>
        </p:nvSpPr>
        <p:spPr>
          <a:xfrm>
            <a:off x="731520" y="3977640"/>
            <a:ext cx="7680960" cy="914400"/>
          </a:xfrm>
          <a:prstGeom prst="rect">
            <a:avLst/>
          </a:prstGeom>
          <a:noFill/>
          <a:ln/>
        </p:spPr>
        <p:txBody>
          <a:bodyPr wrap="square" lIns="0" tIns="0" rIns="0" bIns="0" rtlCol="0" anchor="ctr"/>
          <a:lstStyle/>
          <a:p>
            <a:pPr algn="l" indent="0" marL="0">
              <a:buNone/>
            </a:pPr>
            <a:r>
              <a:rPr lang="en-US" sz="1450" b="1" dirty="0">
                <a:solidFill>
                  <a:srgbClr val="322164"/>
                </a:solidFill>
                <a:latin typeface="Cambria" pitchFamily="34" charset="0"/>
                <a:ea typeface="Cambria" pitchFamily="34" charset="-122"/>
                <a:cs typeface="Cambria" pitchFamily="34" charset="-120"/>
              </a:rPr>
              <a:t>Việc phân biệt là bài toán thật của miền này, không phải một yêu cầu chúng tôi tự đặt ra.</a:t>
            </a:r>
            <a:endParaRPr lang="en-US" sz="1450" dirty="0"/>
          </a:p>
        </p:txBody>
      </p:sp>
      <p:sp>
        <p:nvSpPr>
          <p:cNvPr id="19" name="Text 17"/>
          <p:cNvSpPr/>
          <p:nvPr/>
        </p:nvSpPr>
        <p:spPr>
          <a:xfrm>
            <a:off x="502920" y="5029200"/>
            <a:ext cx="8138160" cy="91440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Khác biệt còn lại giữa hai bên: người chú thích nhìn thấy hình dạng của biểu tượng rồi đặt tên cho nó, chẳng hạn gọi thẳng search icon hay Right arrow key, còn quy trình dựng bằng quy tắc thì chỉ đọc được chữ. Chỗ nào tên phải suy ra từ hình vẽ thì nhãn tự động không dựng được, và đó cũng là chỗ một mô hình thị giác về sau phải tự bổ sung.</a:t>
            </a:r>
            <a:endParaRPr lang="en-US" sz="1250" dirty="0"/>
          </a:p>
        </p:txBody>
      </p:sp>
      <p:sp>
        <p:nvSpPr>
          <p:cNvPr id="21" name="Shape 18"/>
          <p:cNvSpPr/>
          <p:nvPr/>
        </p:nvSpPr>
        <p:spPr>
          <a:xfrm>
            <a:off x="0" y="6620256"/>
            <a:ext cx="2743200" cy="237744"/>
          </a:xfrm>
          <a:prstGeom prst="rect">
            <a:avLst/>
          </a:prstGeom>
          <a:solidFill>
            <a:srgbClr val="191132"/>
          </a:solidFill>
          <a:ln/>
        </p:spPr>
      </p:sp>
      <p:sp>
        <p:nvSpPr>
          <p:cNvPr id="22" name="Shape 19"/>
          <p:cNvSpPr/>
          <p:nvPr/>
        </p:nvSpPr>
        <p:spPr>
          <a:xfrm>
            <a:off x="2743200" y="6620256"/>
            <a:ext cx="338328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6"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12/17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 · Quy mô, cách chia tập và ba điều cách chia không bảo đảm</a:t>
            </a:r>
            <a:endParaRPr lang="en-US" sz="1900" dirty="0"/>
          </a:p>
        </p:txBody>
      </p:sp>
      <p:sp>
        <p:nvSpPr>
          <p:cNvPr id="4" name="Shape 2"/>
          <p:cNvSpPr/>
          <p:nvPr/>
        </p:nvSpPr>
        <p:spPr>
          <a:xfrm>
            <a:off x="502920" y="822960"/>
            <a:ext cx="8138160" cy="365760"/>
          </a:xfrm>
          <a:prstGeom prst="rect">
            <a:avLst/>
          </a:prstGeom>
          <a:solidFill>
            <a:srgbClr val="322164"/>
          </a:solidFill>
          <a:ln/>
        </p:spPr>
      </p:sp>
      <p:sp>
        <p:nvSpPr>
          <p:cNvPr id="5" name="Text 3"/>
          <p:cNvSpPr/>
          <p:nvPr/>
        </p:nvSpPr>
        <p:spPr>
          <a:xfrm>
            <a:off x="502920" y="822960"/>
            <a:ext cx="4206240" cy="365760"/>
          </a:xfrm>
          <a:prstGeom prst="rect">
            <a:avLst/>
          </a:prstGeom>
          <a:noFill/>
          <a:ln/>
        </p:spPr>
        <p:txBody>
          <a:bodyPr wrap="square" lIns="38100" tIns="38100" rIns="38100" bIns="38100" rtlCol="0" anchor="ctr"/>
          <a:lstStyle/>
          <a:p>
            <a:pPr algn="l" indent="0" marL="0">
              <a:buNone/>
            </a:pPr>
            <a:endParaRPr lang="en-US" sz="1250" dirty="0"/>
          </a:p>
        </p:txBody>
      </p:sp>
      <p:sp>
        <p:nvSpPr>
          <p:cNvPr id="6" name="Text 4"/>
          <p:cNvSpPr/>
          <p:nvPr/>
        </p:nvSpPr>
        <p:spPr>
          <a:xfrm>
            <a:off x="4709160" y="822960"/>
            <a:ext cx="1965960" cy="365760"/>
          </a:xfrm>
          <a:prstGeom prst="rect">
            <a:avLst/>
          </a:prstGeom>
          <a:noFill/>
          <a:ln/>
        </p:spPr>
        <p:txBody>
          <a:bodyPr wrap="square" lIns="38100" tIns="38100" rIns="38100" bIns="38100" rtlCol="0" anchor="ctr"/>
          <a:lstStyle/>
          <a:p>
            <a:pPr algn="r" indent="0" marL="0">
              <a:buNone/>
            </a:pPr>
            <a:r>
              <a:rPr lang="en-US" sz="1250" b="1" dirty="0">
                <a:solidFill>
                  <a:srgbClr val="FFFFFF"/>
                </a:solidFill>
                <a:latin typeface="Cambria" pitchFamily="34" charset="0"/>
                <a:ea typeface="Cambria" pitchFamily="34" charset="-122"/>
                <a:cs typeface="Cambria" pitchFamily="34" charset="-120"/>
              </a:rPr>
              <a:t>Tập huấn luyện</a:t>
            </a:r>
            <a:endParaRPr lang="en-US" sz="1250" dirty="0"/>
          </a:p>
        </p:txBody>
      </p:sp>
      <p:sp>
        <p:nvSpPr>
          <p:cNvPr id="7" name="Text 5"/>
          <p:cNvSpPr/>
          <p:nvPr/>
        </p:nvSpPr>
        <p:spPr>
          <a:xfrm>
            <a:off x="6675120" y="822960"/>
            <a:ext cx="1965960" cy="365760"/>
          </a:xfrm>
          <a:prstGeom prst="rect">
            <a:avLst/>
          </a:prstGeom>
          <a:noFill/>
          <a:ln/>
        </p:spPr>
        <p:txBody>
          <a:bodyPr wrap="square" lIns="38100" tIns="38100" rIns="38100" bIns="38100" rtlCol="0" anchor="ctr"/>
          <a:lstStyle/>
          <a:p>
            <a:pPr algn="r" indent="0" marL="0">
              <a:buNone/>
            </a:pPr>
            <a:r>
              <a:rPr lang="en-US" sz="1250" b="1" dirty="0">
                <a:solidFill>
                  <a:srgbClr val="FFFFFF"/>
                </a:solidFill>
                <a:latin typeface="Cambria" pitchFamily="34" charset="0"/>
                <a:ea typeface="Cambria" pitchFamily="34" charset="-122"/>
                <a:cs typeface="Cambria" pitchFamily="34" charset="-120"/>
              </a:rPr>
              <a:t>Tập kiểm tra</a:t>
            </a:r>
            <a:endParaRPr lang="en-US" sz="1250" dirty="0"/>
          </a:p>
        </p:txBody>
      </p:sp>
      <p:sp>
        <p:nvSpPr>
          <p:cNvPr id="8" name="Text 6"/>
          <p:cNvSpPr/>
          <p:nvPr/>
        </p:nvSpPr>
        <p:spPr>
          <a:xfrm>
            <a:off x="502920" y="1188720"/>
            <a:ext cx="4206240" cy="32918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Số bước</a:t>
            </a:r>
            <a:endParaRPr lang="en-US" sz="1250" dirty="0"/>
          </a:p>
        </p:txBody>
      </p:sp>
      <p:sp>
        <p:nvSpPr>
          <p:cNvPr id="9" name="Text 7"/>
          <p:cNvSpPr/>
          <p:nvPr/>
        </p:nvSpPr>
        <p:spPr>
          <a:xfrm>
            <a:off x="4709160" y="1188720"/>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64.567</a:t>
            </a:r>
            <a:endParaRPr lang="en-US" sz="1250" dirty="0"/>
          </a:p>
        </p:txBody>
      </p:sp>
      <p:sp>
        <p:nvSpPr>
          <p:cNvPr id="10" name="Text 8"/>
          <p:cNvSpPr/>
          <p:nvPr/>
        </p:nvSpPr>
        <p:spPr>
          <a:xfrm>
            <a:off x="6675120" y="1188720"/>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6.958</a:t>
            </a:r>
            <a:endParaRPr lang="en-US" sz="1250" dirty="0"/>
          </a:p>
        </p:txBody>
      </p:sp>
      <p:sp>
        <p:nvSpPr>
          <p:cNvPr id="11" name="Shape 9"/>
          <p:cNvSpPr/>
          <p:nvPr/>
        </p:nvSpPr>
        <p:spPr>
          <a:xfrm>
            <a:off x="502920" y="1517904"/>
            <a:ext cx="8138160" cy="0"/>
          </a:xfrm>
          <a:prstGeom prst="line">
            <a:avLst/>
          </a:prstGeom>
          <a:noFill/>
          <a:ln w="12700">
            <a:solidFill>
              <a:srgbClr val="9A94AE"/>
            </a:solidFill>
            <a:prstDash val="solid"/>
          </a:ln>
        </p:spPr>
      </p:sp>
      <p:sp>
        <p:nvSpPr>
          <p:cNvPr id="12" name="Text 10"/>
          <p:cNvSpPr/>
          <p:nvPr/>
        </p:nvSpPr>
        <p:spPr>
          <a:xfrm>
            <a:off x="502920" y="1517904"/>
            <a:ext cx="4206240" cy="32918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Bước chạm</a:t>
            </a:r>
            <a:endParaRPr lang="en-US" sz="1250" dirty="0"/>
          </a:p>
        </p:txBody>
      </p:sp>
      <p:sp>
        <p:nvSpPr>
          <p:cNvPr id="13" name="Text 11"/>
          <p:cNvSpPr/>
          <p:nvPr/>
        </p:nvSpPr>
        <p:spPr>
          <a:xfrm>
            <a:off x="4709160" y="1517904"/>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41.191  (63,8%)</a:t>
            </a:r>
            <a:endParaRPr lang="en-US" sz="1250" dirty="0"/>
          </a:p>
        </p:txBody>
      </p:sp>
      <p:sp>
        <p:nvSpPr>
          <p:cNvPr id="14" name="Text 12"/>
          <p:cNvSpPr/>
          <p:nvPr/>
        </p:nvSpPr>
        <p:spPr>
          <a:xfrm>
            <a:off x="6675120" y="1517904"/>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4.463  (64,1%)</a:t>
            </a:r>
            <a:endParaRPr lang="en-US" sz="1250" dirty="0"/>
          </a:p>
        </p:txBody>
      </p:sp>
      <p:sp>
        <p:nvSpPr>
          <p:cNvPr id="15" name="Shape 13"/>
          <p:cNvSpPr/>
          <p:nvPr/>
        </p:nvSpPr>
        <p:spPr>
          <a:xfrm>
            <a:off x="502920" y="1847088"/>
            <a:ext cx="8138160" cy="0"/>
          </a:xfrm>
          <a:prstGeom prst="line">
            <a:avLst/>
          </a:prstGeom>
          <a:noFill/>
          <a:ln w="12700">
            <a:solidFill>
              <a:srgbClr val="9A94AE"/>
            </a:solidFill>
            <a:prstDash val="solid"/>
          </a:ln>
        </p:spPr>
      </p:sp>
      <p:sp>
        <p:nvSpPr>
          <p:cNvPr id="16" name="Text 14"/>
          <p:cNvSpPr/>
          <p:nvPr/>
        </p:nvSpPr>
        <p:spPr>
          <a:xfrm>
            <a:off x="502920" y="1847088"/>
            <a:ext cx="4206240" cy="32918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Số tác vụ</a:t>
            </a:r>
            <a:endParaRPr lang="en-US" sz="1250" dirty="0"/>
          </a:p>
        </p:txBody>
      </p:sp>
      <p:sp>
        <p:nvSpPr>
          <p:cNvPr id="17" name="Text 15"/>
          <p:cNvSpPr/>
          <p:nvPr/>
        </p:nvSpPr>
        <p:spPr>
          <a:xfrm>
            <a:off x="4709160" y="1847088"/>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12.895</a:t>
            </a:r>
            <a:endParaRPr lang="en-US" sz="1250" dirty="0"/>
          </a:p>
        </p:txBody>
      </p:sp>
      <p:sp>
        <p:nvSpPr>
          <p:cNvPr id="18" name="Text 16"/>
          <p:cNvSpPr/>
          <p:nvPr/>
        </p:nvSpPr>
        <p:spPr>
          <a:xfrm>
            <a:off x="6675120" y="1847088"/>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1.432</a:t>
            </a:r>
            <a:endParaRPr lang="en-US" sz="1250" dirty="0"/>
          </a:p>
        </p:txBody>
      </p:sp>
      <p:sp>
        <p:nvSpPr>
          <p:cNvPr id="19" name="Shape 17"/>
          <p:cNvSpPr/>
          <p:nvPr/>
        </p:nvSpPr>
        <p:spPr>
          <a:xfrm>
            <a:off x="502920" y="2176272"/>
            <a:ext cx="8138160" cy="0"/>
          </a:xfrm>
          <a:prstGeom prst="line">
            <a:avLst/>
          </a:prstGeom>
          <a:noFill/>
          <a:ln w="12700">
            <a:solidFill>
              <a:srgbClr val="9A94AE"/>
            </a:solidFill>
            <a:prstDash val="solid"/>
          </a:ln>
        </p:spPr>
      </p:sp>
      <p:sp>
        <p:nvSpPr>
          <p:cNvPr id="20" name="Text 18"/>
          <p:cNvSpPr/>
          <p:nvPr/>
        </p:nvSpPr>
        <p:spPr>
          <a:xfrm>
            <a:off x="502920" y="2176272"/>
            <a:ext cx="4206240" cy="32918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Độ phủ OCR</a:t>
            </a:r>
            <a:endParaRPr lang="en-US" sz="1250" dirty="0"/>
          </a:p>
        </p:txBody>
      </p:sp>
      <p:sp>
        <p:nvSpPr>
          <p:cNvPr id="21" name="Text 19"/>
          <p:cNvSpPr/>
          <p:nvPr/>
        </p:nvSpPr>
        <p:spPr>
          <a:xfrm>
            <a:off x="4709160" y="2176272"/>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100%</a:t>
            </a:r>
            <a:endParaRPr lang="en-US" sz="1250" dirty="0"/>
          </a:p>
        </p:txBody>
      </p:sp>
      <p:sp>
        <p:nvSpPr>
          <p:cNvPr id="22" name="Text 20"/>
          <p:cNvSpPr/>
          <p:nvPr/>
        </p:nvSpPr>
        <p:spPr>
          <a:xfrm>
            <a:off x="6675120" y="2176272"/>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100%</a:t>
            </a:r>
            <a:endParaRPr lang="en-US" sz="1250" dirty="0"/>
          </a:p>
        </p:txBody>
      </p:sp>
      <p:sp>
        <p:nvSpPr>
          <p:cNvPr id="23" name="Shape 21"/>
          <p:cNvSpPr/>
          <p:nvPr/>
        </p:nvSpPr>
        <p:spPr>
          <a:xfrm>
            <a:off x="502920" y="2505456"/>
            <a:ext cx="8138160" cy="0"/>
          </a:xfrm>
          <a:prstGeom prst="line">
            <a:avLst/>
          </a:prstGeom>
          <a:noFill/>
          <a:ln w="12700">
            <a:solidFill>
              <a:srgbClr val="9A94AE"/>
            </a:solidFill>
            <a:prstDash val="solid"/>
          </a:ln>
        </p:spPr>
      </p:sp>
      <p:sp>
        <p:nvSpPr>
          <p:cNvPr id="24" name="Text 22"/>
          <p:cNvSpPr/>
          <p:nvPr/>
        </p:nvSpPr>
        <p:spPr>
          <a:xfrm>
            <a:off x="502920" y="2505456"/>
            <a:ext cx="4206240" cy="32918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Độ phủ nhãn mô tả trên bước chạm</a:t>
            </a:r>
            <a:endParaRPr lang="en-US" sz="1250" dirty="0"/>
          </a:p>
        </p:txBody>
      </p:sp>
      <p:sp>
        <p:nvSpPr>
          <p:cNvPr id="25" name="Text 23"/>
          <p:cNvSpPr/>
          <p:nvPr/>
        </p:nvSpPr>
        <p:spPr>
          <a:xfrm>
            <a:off x="4709160" y="2505456"/>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99,8%</a:t>
            </a:r>
            <a:endParaRPr lang="en-US" sz="1250" dirty="0"/>
          </a:p>
        </p:txBody>
      </p:sp>
      <p:sp>
        <p:nvSpPr>
          <p:cNvPr id="26" name="Text 24"/>
          <p:cNvSpPr/>
          <p:nvPr/>
        </p:nvSpPr>
        <p:spPr>
          <a:xfrm>
            <a:off x="6675120" y="2505456"/>
            <a:ext cx="1965960" cy="329184"/>
          </a:xfrm>
          <a:prstGeom prst="rect">
            <a:avLst/>
          </a:prstGeom>
          <a:noFill/>
          <a:ln/>
        </p:spPr>
        <p:txBody>
          <a:bodyPr wrap="square" lIns="38100" tIns="38100" rIns="38100" bIns="38100" rtlCol="0" anchor="ctr"/>
          <a:lstStyle/>
          <a:p>
            <a:pPr algn="r" indent="0" marL="0">
              <a:buNone/>
            </a:pPr>
            <a:r>
              <a:rPr lang="en-US" sz="1250" dirty="0">
                <a:solidFill>
                  <a:srgbClr val="1A1A1A"/>
                </a:solidFill>
                <a:latin typeface="Cambria" pitchFamily="34" charset="0"/>
                <a:ea typeface="Cambria" pitchFamily="34" charset="-122"/>
                <a:cs typeface="Cambria" pitchFamily="34" charset="-120"/>
              </a:rPr>
              <a:t>99,7%</a:t>
            </a:r>
            <a:endParaRPr lang="en-US" sz="1250" dirty="0"/>
          </a:p>
        </p:txBody>
      </p:sp>
      <p:sp>
        <p:nvSpPr>
          <p:cNvPr id="27" name="Text 25"/>
          <p:cNvSpPr/>
          <p:nvPr/>
        </p:nvSpPr>
        <p:spPr>
          <a:xfrm>
            <a:off x="502920" y="2880360"/>
            <a:ext cx="8138160" cy="7772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GUIRefCorpus: 41.099 dòng ở tập huấn luyện và 4.448 dòng ở tập kiểm tra, mỗi dòng một bản ghi JSON, mang khoá (episode_id, step_id) để nối ngược về bước gốc. Chia theo tác vụ, không chia ngẫu nhiên theo dòng. Kiểm rò rỉ chạy trên toàn bộ ngữ liệu: không tác vụ nào trùng giữa hai tập.</a:t>
            </a:r>
            <a:endParaRPr lang="en-US" sz="1250" dirty="0"/>
          </a:p>
        </p:txBody>
      </p:sp>
      <p:sp>
        <p:nvSpPr>
          <p:cNvPr id="28" name="Text 26"/>
          <p:cNvSpPr/>
          <p:nvPr/>
        </p:nvSpPr>
        <p:spPr>
          <a:xfrm>
            <a:off x="502920" y="3703320"/>
            <a:ext cx="8138160" cy="292608"/>
          </a:xfrm>
          <a:prstGeom prst="rect">
            <a:avLst/>
          </a:prstGeom>
          <a:noFill/>
          <a:ln/>
        </p:spPr>
        <p:txBody>
          <a:bodyPr wrap="square" lIns="0" tIns="0" rIns="0" bIns="0" rtlCol="0" anchor="t"/>
          <a:lstStyle/>
          <a:p>
            <a:pPr algn="l" indent="0" marL="0">
              <a:buNone/>
            </a:pPr>
            <a:r>
              <a:rPr lang="en-US" sz="1350" b="1" dirty="0">
                <a:solidFill>
                  <a:srgbClr val="B22222"/>
                </a:solidFill>
                <a:latin typeface="Cambria" pitchFamily="34" charset="0"/>
                <a:ea typeface="Cambria" pitchFamily="34" charset="-122"/>
                <a:cs typeface="Cambria" pitchFamily="34" charset="-120"/>
              </a:rPr>
              <a:t>Ba điều cách chia này không bảo đảm, và cả ba đều dễ bị diễn giải rộng hơn mức dữ liệu cho phép</a:t>
            </a:r>
            <a:endParaRPr lang="en-US" sz="1350" dirty="0"/>
          </a:p>
        </p:txBody>
      </p:sp>
      <p:sp>
        <p:nvSpPr>
          <p:cNvPr id="29" name="Text 27"/>
          <p:cNvSpPr/>
          <p:nvPr/>
        </p:nvSpPr>
        <p:spPr>
          <a:xfrm>
            <a:off x="594360" y="4069080"/>
            <a:ext cx="201168" cy="56692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0" name="Text 28"/>
          <p:cNvSpPr/>
          <p:nvPr/>
        </p:nvSpPr>
        <p:spPr>
          <a:xfrm>
            <a:off x="822960" y="4069080"/>
            <a:ext cx="7726680" cy="548640"/>
          </a:xfrm>
          <a:prstGeom prst="rect">
            <a:avLst/>
          </a:prstGeom>
          <a:noFill/>
          <a:ln/>
        </p:spPr>
        <p:txBody>
          <a:bodyPr wrap="square" lIns="0" tIns="0" rIns="0" bIns="0" rtlCol="0" anchor="t"/>
          <a:lstStyle/>
          <a:p>
            <a:pPr algn="l" indent="0" marL="0">
              <a:lnSpc>
                <a:spcPct val="120000"/>
              </a:lnSpc>
              <a:buNone/>
            </a:pPr>
            <a:r>
              <a:rPr lang="en-US" sz="1200" dirty="0">
                <a:solidFill>
                  <a:srgbClr val="1A1A1A"/>
                </a:solidFill>
                <a:latin typeface="Cambria" pitchFamily="34" charset="0"/>
                <a:ea typeface="Cambria" pitchFamily="34" charset="-122"/>
                <a:cs typeface="Cambria" pitchFamily="34" charset="-120"/>
              </a:rPr>
              <a:t>Tách theo tác vụ không phải tách theo cách diễn đạt: 17,3% câu ở bước chạm của tập kiểm tra xuất hiện nguyên văn trong một mẫu chỉ bằng 2,6% tập huấn luyện, và 63,9% có chung ít nhất một cụm bốn từ liên tiếp</a:t>
            </a:r>
            <a:endParaRPr lang="en-US" sz="1200" dirty="0"/>
          </a:p>
        </p:txBody>
      </p:sp>
      <p:sp>
        <p:nvSpPr>
          <p:cNvPr id="31" name="Text 29"/>
          <p:cNvSpPr/>
          <p:nvPr/>
        </p:nvSpPr>
        <p:spPr>
          <a:xfrm>
            <a:off x="594360" y="4636008"/>
            <a:ext cx="201168" cy="56692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2" name="Text 30"/>
          <p:cNvSpPr/>
          <p:nvPr/>
        </p:nvSpPr>
        <p:spPr>
          <a:xfrm>
            <a:off x="822960" y="4636008"/>
            <a:ext cx="7726680" cy="548640"/>
          </a:xfrm>
          <a:prstGeom prst="rect">
            <a:avLst/>
          </a:prstGeom>
          <a:noFill/>
          <a:ln/>
        </p:spPr>
        <p:txBody>
          <a:bodyPr wrap="square" lIns="0" tIns="0" rIns="0" bIns="0" rtlCol="0" anchor="t"/>
          <a:lstStyle/>
          <a:p>
            <a:pPr algn="l" indent="0" marL="0">
              <a:lnSpc>
                <a:spcPct val="120000"/>
              </a:lnSpc>
              <a:buNone/>
            </a:pPr>
            <a:r>
              <a:rPr lang="en-US" sz="1200" dirty="0">
                <a:solidFill>
                  <a:srgbClr val="1A1A1A"/>
                </a:solidFill>
                <a:latin typeface="Cambria" pitchFamily="34" charset="0"/>
                <a:ea typeface="Cambria" pitchFamily="34" charset="-122"/>
                <a:cs typeface="Cambria" pitchFamily="34" charset="-120"/>
              </a:rPr>
              <a:t>Tập kiểm tra không phải tập ứng dụng chưa từng thấy: trong các bước quy được về một ứng dụng có tên, 95,6% thuộc ứng dụng cũng có ở tập huấn luyện</a:t>
            </a:r>
            <a:endParaRPr lang="en-US" sz="1200" dirty="0"/>
          </a:p>
        </p:txBody>
      </p:sp>
      <p:sp>
        <p:nvSpPr>
          <p:cNvPr id="33" name="Text 31"/>
          <p:cNvSpPr/>
          <p:nvPr/>
        </p:nvSpPr>
        <p:spPr>
          <a:xfrm>
            <a:off x="594360" y="5202936"/>
            <a:ext cx="201168" cy="56692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4" name="Text 32"/>
          <p:cNvSpPr/>
          <p:nvPr/>
        </p:nvSpPr>
        <p:spPr>
          <a:xfrm>
            <a:off x="822960" y="5202936"/>
            <a:ext cx="7726680" cy="548640"/>
          </a:xfrm>
          <a:prstGeom prst="rect">
            <a:avLst/>
          </a:prstGeom>
          <a:noFill/>
          <a:ln/>
        </p:spPr>
        <p:txBody>
          <a:bodyPr wrap="square" lIns="0" tIns="0" rIns="0" bIns="0" rtlCol="0" anchor="t"/>
          <a:lstStyle/>
          <a:p>
            <a:pPr algn="l" indent="0" marL="0">
              <a:lnSpc>
                <a:spcPct val="120000"/>
              </a:lnSpc>
              <a:buNone/>
            </a:pPr>
            <a:r>
              <a:rPr lang="en-US" sz="1200" dirty="0">
                <a:solidFill>
                  <a:srgbClr val="1A1A1A"/>
                </a:solidFill>
                <a:latin typeface="Cambria" pitchFamily="34" charset="0"/>
                <a:ea typeface="Cambria" pitchFamily="34" charset="-122"/>
                <a:cs typeface="Cambria" pitchFamily="34" charset="-120"/>
              </a:rPr>
              <a:t>Chỉ 45,0% số bước tập kiểm gán được tên ứng dụng; 3.828 bước còn lại mang nhãn không biết, mà không biết khác hẳn chưa thấy</a:t>
            </a:r>
            <a:endParaRPr lang="en-US" sz="1200" dirty="0"/>
          </a:p>
        </p:txBody>
      </p:sp>
      <p:sp>
        <p:nvSpPr>
          <p:cNvPr id="36" name="Shape 33"/>
          <p:cNvSpPr/>
          <p:nvPr/>
        </p:nvSpPr>
        <p:spPr>
          <a:xfrm>
            <a:off x="0" y="6620256"/>
            <a:ext cx="2743200" cy="237744"/>
          </a:xfrm>
          <a:prstGeom prst="rect">
            <a:avLst/>
          </a:prstGeom>
          <a:solidFill>
            <a:srgbClr val="191132"/>
          </a:solidFill>
          <a:ln/>
        </p:spPr>
      </p:sp>
      <p:sp>
        <p:nvSpPr>
          <p:cNvPr id="37" name="Shape 34"/>
          <p:cNvSpPr/>
          <p:nvPr/>
        </p:nvSpPr>
        <p:spPr>
          <a:xfrm>
            <a:off x="2743200" y="6620256"/>
            <a:ext cx="3383280" cy="237744"/>
          </a:xfrm>
          <a:prstGeom prst="rect">
            <a:avLst/>
          </a:prstGeom>
          <a:solidFill>
            <a:srgbClr val="25194B"/>
          </a:solidFill>
          <a:ln/>
        </p:spPr>
      </p:sp>
      <p:sp>
        <p:nvSpPr>
          <p:cNvPr id="38" name="Shape 35"/>
          <p:cNvSpPr/>
          <p:nvPr/>
        </p:nvSpPr>
        <p:spPr>
          <a:xfrm>
            <a:off x="6126480" y="6620256"/>
            <a:ext cx="1737360" cy="237744"/>
          </a:xfrm>
          <a:prstGeom prst="rect">
            <a:avLst/>
          </a:prstGeom>
          <a:solidFill>
            <a:srgbClr val="4F417A"/>
          </a:solidFill>
          <a:ln/>
        </p:spPr>
      </p:sp>
      <p:sp>
        <p:nvSpPr>
          <p:cNvPr id="39" name="Shape 36"/>
          <p:cNvSpPr/>
          <p:nvPr/>
        </p:nvSpPr>
        <p:spPr>
          <a:xfrm>
            <a:off x="7863840" y="6620256"/>
            <a:ext cx="1280160" cy="237744"/>
          </a:xfrm>
          <a:prstGeom prst="rect">
            <a:avLst/>
          </a:prstGeom>
          <a:solidFill>
            <a:srgbClr val="7A7099"/>
          </a:solidFill>
          <a:ln/>
        </p:spPr>
      </p:sp>
      <p:sp>
        <p:nvSpPr>
          <p:cNvPr id="40" name="Text 3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41" name="Text 3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42" name="Text 3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3" name="Text 4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13/17</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 · Phép so với một nguồn nằm ngoài quy trình</a:t>
            </a:r>
            <a:endParaRPr lang="en-US" sz="1900" dirty="0"/>
          </a:p>
        </p:txBody>
      </p:sp>
      <p:sp>
        <p:nvSpPr>
          <p:cNvPr id="4" name="Text 2"/>
          <p:cNvSpPr/>
          <p:nvPr/>
        </p:nvSpPr>
        <p:spPr>
          <a:xfrm>
            <a:off x="502920" y="777240"/>
            <a:ext cx="8138160" cy="68580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Quy trình dựng nhãn không đọc câu chỉ dẫn ở bất kỳ khâu nào: vai trò, tên, toạ độ và dấu hiệu đều tính từ cây trợ năng, hộp bao và kết quả OCR. Vì vậy khi ô tên trùng với chữ người chú thích dùng, đó là so với nguồn bên ngoài chứ không phải phép tự kiểm.</a:t>
            </a:r>
            <a:endParaRPr lang="en-US" sz="1300" dirty="0"/>
          </a:p>
        </p:txBody>
      </p:sp>
      <p:sp>
        <p:nvSpPr>
          <p:cNvPr id="5" name="Shape 3"/>
          <p:cNvSpPr/>
          <p:nvPr/>
        </p:nvSpPr>
        <p:spPr>
          <a:xfrm>
            <a:off x="777240" y="1600200"/>
            <a:ext cx="8046720" cy="411480"/>
          </a:xfrm>
          <a:prstGeom prst="rect">
            <a:avLst/>
          </a:prstGeom>
          <a:solidFill>
            <a:srgbClr val="322164"/>
          </a:solidFill>
          <a:ln/>
        </p:spPr>
      </p:sp>
      <p:sp>
        <p:nvSpPr>
          <p:cNvPr id="6" name="Text 4"/>
          <p:cNvSpPr/>
          <p:nvPr/>
        </p:nvSpPr>
        <p:spPr>
          <a:xfrm>
            <a:off x="777240" y="1600200"/>
            <a:ext cx="4572000" cy="41148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Trên 3.505 nhãn có tên của tập kiểm tra</a:t>
            </a:r>
            <a:endParaRPr lang="en-US" sz="1200" dirty="0"/>
          </a:p>
        </p:txBody>
      </p:sp>
      <p:sp>
        <p:nvSpPr>
          <p:cNvPr id="7" name="Text 5"/>
          <p:cNvSpPr/>
          <p:nvPr/>
        </p:nvSpPr>
        <p:spPr>
          <a:xfrm>
            <a:off x="5349240" y="1600200"/>
            <a:ext cx="173736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Tỉ lệ khớp</a:t>
            </a:r>
            <a:endParaRPr lang="en-US" sz="1200" dirty="0"/>
          </a:p>
        </p:txBody>
      </p:sp>
      <p:sp>
        <p:nvSpPr>
          <p:cNvPr id="8" name="Text 6"/>
          <p:cNvSpPr/>
          <p:nvPr/>
        </p:nvSpPr>
        <p:spPr>
          <a:xfrm>
            <a:off x="7086600" y="1600200"/>
            <a:ext cx="173736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Khoảng tin cậy</a:t>
            </a:r>
            <a:endParaRPr lang="en-US" sz="1200" dirty="0"/>
          </a:p>
        </p:txBody>
      </p:sp>
      <p:sp>
        <p:nvSpPr>
          <p:cNvPr id="9" name="Text 7"/>
          <p:cNvSpPr/>
          <p:nvPr/>
        </p:nvSpPr>
        <p:spPr>
          <a:xfrm>
            <a:off x="777240" y="2011680"/>
            <a:ext cx="4572000" cy="530352"/>
          </a:xfrm>
          <a:prstGeom prst="rect">
            <a:avLst/>
          </a:prstGeom>
          <a:noFill/>
          <a:ln/>
        </p:spPr>
        <p:txBody>
          <a:bodyPr wrap="square" lIns="38100" tIns="38100" rIns="38100" bIns="38100" rtlCol="0" anchor="ctr"/>
          <a:lstStyle/>
          <a:p>
            <a:pPr algn="l" indent="0" marL="0">
              <a:buNone/>
            </a:pPr>
            <a:r>
              <a:rPr lang="en-US" sz="1250" b="1" dirty="0">
                <a:solidFill>
                  <a:srgbClr val="006666"/>
                </a:solidFill>
                <a:latin typeface="Cambria" pitchFamily="34" charset="0"/>
                <a:ea typeface="Cambria" pitchFamily="34" charset="-122"/>
                <a:cs typeface="Cambria" pitchFamily="34" charset="-120"/>
              </a:rPr>
              <a:t>Ô tên xuất hiện nguyên văn trong câu của người</a:t>
            </a:r>
            <a:endParaRPr lang="en-US" sz="1250" dirty="0"/>
          </a:p>
        </p:txBody>
      </p:sp>
      <p:sp>
        <p:nvSpPr>
          <p:cNvPr id="10" name="Text 8"/>
          <p:cNvSpPr/>
          <p:nvPr/>
        </p:nvSpPr>
        <p:spPr>
          <a:xfrm>
            <a:off x="5349240" y="2011680"/>
            <a:ext cx="1737360" cy="530352"/>
          </a:xfrm>
          <a:prstGeom prst="rect">
            <a:avLst/>
          </a:prstGeom>
          <a:noFill/>
          <a:ln/>
        </p:spPr>
        <p:txBody>
          <a:bodyPr wrap="square" lIns="38100" tIns="38100" rIns="38100" bIns="38100" rtlCol="0" anchor="ctr"/>
          <a:lstStyle/>
          <a:p>
            <a:pPr algn="ctr" indent="0" marL="0">
              <a:buNone/>
            </a:pPr>
            <a:r>
              <a:rPr lang="en-US" sz="1600" b="1" dirty="0">
                <a:solidFill>
                  <a:srgbClr val="006666"/>
                </a:solidFill>
                <a:latin typeface="Cambria" pitchFamily="34" charset="0"/>
                <a:ea typeface="Cambria" pitchFamily="34" charset="-122"/>
                <a:cs typeface="Cambria" pitchFamily="34" charset="-120"/>
              </a:rPr>
              <a:t>53,5%</a:t>
            </a:r>
            <a:endParaRPr lang="en-US" sz="1600" dirty="0"/>
          </a:p>
        </p:txBody>
      </p:sp>
      <p:sp>
        <p:nvSpPr>
          <p:cNvPr id="11" name="Text 9"/>
          <p:cNvSpPr/>
          <p:nvPr/>
        </p:nvSpPr>
        <p:spPr>
          <a:xfrm>
            <a:off x="7086600" y="2011680"/>
            <a:ext cx="1737360" cy="530352"/>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[51,8 ; 55,1]</a:t>
            </a:r>
            <a:endParaRPr lang="en-US" sz="1250" dirty="0"/>
          </a:p>
        </p:txBody>
      </p:sp>
      <p:sp>
        <p:nvSpPr>
          <p:cNvPr id="12" name="Shape 10"/>
          <p:cNvSpPr/>
          <p:nvPr/>
        </p:nvSpPr>
        <p:spPr>
          <a:xfrm>
            <a:off x="777240" y="2542032"/>
            <a:ext cx="8046720" cy="0"/>
          </a:xfrm>
          <a:prstGeom prst="line">
            <a:avLst/>
          </a:prstGeom>
          <a:noFill/>
          <a:ln w="12700">
            <a:solidFill>
              <a:srgbClr val="9A94AE"/>
            </a:solidFill>
            <a:prstDash val="solid"/>
          </a:ln>
        </p:spPr>
      </p:sp>
      <p:sp>
        <p:nvSpPr>
          <p:cNvPr id="13" name="Text 11"/>
          <p:cNvSpPr/>
          <p:nvPr/>
        </p:nvSpPr>
        <p:spPr>
          <a:xfrm>
            <a:off x="777240" y="2542032"/>
            <a:ext cx="4572000" cy="530352"/>
          </a:xfrm>
          <a:prstGeom prst="rect">
            <a:avLst/>
          </a:prstGeom>
          <a:noFill/>
          <a:ln/>
        </p:spPr>
        <p:txBody>
          <a:bodyPr wrap="square" lIns="38100" tIns="38100" rIns="38100" bIns="38100" rtlCol="0" anchor="ctr"/>
          <a:lstStyle/>
          <a:p>
            <a:pPr algn="l" indent="0" marL="0">
              <a:buNone/>
            </a:pPr>
            <a:r>
              <a:rPr lang="en-US" sz="1250" b="1" dirty="0">
                <a:solidFill>
                  <a:srgbClr val="5A5A66"/>
                </a:solidFill>
                <a:latin typeface="Cambria" pitchFamily="34" charset="0"/>
                <a:ea typeface="Cambria" pitchFamily="34" charset="-122"/>
                <a:cs typeface="Cambria" pitchFamily="34" charset="-120"/>
              </a:rPr>
              <a:t>Đối chứng: ghép với câu của bước liền sau</a:t>
            </a:r>
            <a:endParaRPr lang="en-US" sz="1250" dirty="0"/>
          </a:p>
        </p:txBody>
      </p:sp>
      <p:sp>
        <p:nvSpPr>
          <p:cNvPr id="14" name="Text 12"/>
          <p:cNvSpPr/>
          <p:nvPr/>
        </p:nvSpPr>
        <p:spPr>
          <a:xfrm>
            <a:off x="5349240" y="2542032"/>
            <a:ext cx="1737360" cy="530352"/>
          </a:xfrm>
          <a:prstGeom prst="rect">
            <a:avLst/>
          </a:prstGeom>
          <a:noFill/>
          <a:ln/>
        </p:spPr>
        <p:txBody>
          <a:bodyPr wrap="square" lIns="38100" tIns="38100" rIns="38100" bIns="38100" rtlCol="0" anchor="ctr"/>
          <a:lstStyle/>
          <a:p>
            <a:pPr algn="ctr" indent="0" marL="0">
              <a:buNone/>
            </a:pPr>
            <a:r>
              <a:rPr lang="en-US" sz="1600" b="1" dirty="0">
                <a:solidFill>
                  <a:srgbClr val="5A5A66"/>
                </a:solidFill>
                <a:latin typeface="Cambria" pitchFamily="34" charset="0"/>
                <a:ea typeface="Cambria" pitchFamily="34" charset="-122"/>
                <a:cs typeface="Cambria" pitchFamily="34" charset="-120"/>
              </a:rPr>
              <a:t>5,4%</a:t>
            </a:r>
            <a:endParaRPr lang="en-US" sz="1600" dirty="0"/>
          </a:p>
        </p:txBody>
      </p:sp>
      <p:sp>
        <p:nvSpPr>
          <p:cNvPr id="15" name="Text 13"/>
          <p:cNvSpPr/>
          <p:nvPr/>
        </p:nvSpPr>
        <p:spPr>
          <a:xfrm>
            <a:off x="7086600" y="2542032"/>
            <a:ext cx="1737360" cy="530352"/>
          </a:xfrm>
          <a:prstGeom prst="rect">
            <a:avLst/>
          </a:prstGeom>
          <a:noFill/>
          <a:ln/>
        </p:spPr>
        <p:txBody>
          <a:bodyPr wrap="square" lIns="38100" tIns="38100" rIns="38100" bIns="38100" rtlCol="0" anchor="ctr"/>
          <a:lstStyle/>
          <a:p>
            <a:pPr algn="ctr" indent="0" marL="0">
              <a:buNone/>
            </a:pPr>
            <a:r>
              <a:rPr lang="en-US" sz="1250" b="1" dirty="0">
                <a:solidFill>
                  <a:srgbClr val="5A5A66"/>
                </a:solidFill>
                <a:latin typeface="Cambria" pitchFamily="34" charset="0"/>
                <a:ea typeface="Cambria" pitchFamily="34" charset="-122"/>
                <a:cs typeface="Cambria" pitchFamily="34" charset="-120"/>
              </a:rPr>
              <a:t>[4,7 ; 6,2]</a:t>
            </a:r>
            <a:endParaRPr lang="en-US" sz="1250" dirty="0"/>
          </a:p>
        </p:txBody>
      </p:sp>
      <p:sp>
        <p:nvSpPr>
          <p:cNvPr id="16" name="Shape 14"/>
          <p:cNvSpPr/>
          <p:nvPr/>
        </p:nvSpPr>
        <p:spPr>
          <a:xfrm>
            <a:off x="777240" y="3072384"/>
            <a:ext cx="8046720" cy="0"/>
          </a:xfrm>
          <a:prstGeom prst="line">
            <a:avLst/>
          </a:prstGeom>
          <a:noFill/>
          <a:ln w="12700">
            <a:solidFill>
              <a:srgbClr val="9A94AE"/>
            </a:solidFill>
            <a:prstDash val="solid"/>
          </a:ln>
        </p:spPr>
      </p:sp>
      <p:sp>
        <p:nvSpPr>
          <p:cNvPr id="17" name="Text 15"/>
          <p:cNvSpPr/>
          <p:nvPr/>
        </p:nvSpPr>
        <p:spPr>
          <a:xfrm>
            <a:off x="777240" y="3072384"/>
            <a:ext cx="4572000" cy="530352"/>
          </a:xfrm>
          <a:prstGeom prst="rect">
            <a:avLst/>
          </a:prstGeom>
          <a:noFill/>
          <a:ln/>
        </p:spPr>
        <p:txBody>
          <a:bodyPr wrap="square" lIns="38100" tIns="38100" rIns="38100" bIns="38100" rtlCol="0" anchor="ctr"/>
          <a:lstStyle/>
          <a:p>
            <a:pPr algn="l" indent="0" marL="0">
              <a:buNone/>
            </a:pPr>
            <a:r>
              <a:rPr lang="en-US" sz="1250" b="1" dirty="0">
                <a:solidFill>
                  <a:srgbClr val="B22222"/>
                </a:solidFill>
                <a:latin typeface="Cambria" pitchFamily="34" charset="0"/>
                <a:ea typeface="Cambria" pitchFamily="34" charset="-122"/>
                <a:cs typeface="Cambria" pitchFamily="34" charset="-120"/>
              </a:rPr>
              <a:t>Đối chứng chặt: bước liền sau trong cùng chuỗi thao tác</a:t>
            </a:r>
            <a:endParaRPr lang="en-US" sz="1250" dirty="0"/>
          </a:p>
        </p:txBody>
      </p:sp>
      <p:sp>
        <p:nvSpPr>
          <p:cNvPr id="18" name="Text 16"/>
          <p:cNvSpPr/>
          <p:nvPr/>
        </p:nvSpPr>
        <p:spPr>
          <a:xfrm>
            <a:off x="5349240" y="3072384"/>
            <a:ext cx="1737360" cy="530352"/>
          </a:xfrm>
          <a:prstGeom prst="rect">
            <a:avLst/>
          </a:prstGeom>
          <a:noFill/>
          <a:ln/>
        </p:spPr>
        <p:txBody>
          <a:bodyPr wrap="square" lIns="38100" tIns="38100" rIns="38100" bIns="38100" rtlCol="0" anchor="ctr"/>
          <a:lstStyle/>
          <a:p>
            <a:pPr algn="ctr" indent="0" marL="0">
              <a:buNone/>
            </a:pPr>
            <a:r>
              <a:rPr lang="en-US" sz="1600" b="1" dirty="0">
                <a:solidFill>
                  <a:srgbClr val="B22222"/>
                </a:solidFill>
                <a:latin typeface="Cambria" pitchFamily="34" charset="0"/>
                <a:ea typeface="Cambria" pitchFamily="34" charset="-122"/>
                <a:cs typeface="Cambria" pitchFamily="34" charset="-120"/>
              </a:rPr>
              <a:t>7,6%</a:t>
            </a:r>
            <a:endParaRPr lang="en-US" sz="1600" dirty="0"/>
          </a:p>
        </p:txBody>
      </p:sp>
      <p:sp>
        <p:nvSpPr>
          <p:cNvPr id="19" name="Text 17"/>
          <p:cNvSpPr/>
          <p:nvPr/>
        </p:nvSpPr>
        <p:spPr>
          <a:xfrm>
            <a:off x="7086600" y="3072384"/>
            <a:ext cx="1737360" cy="530352"/>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[6,5 ; 8,9]</a:t>
            </a:r>
            <a:endParaRPr lang="en-US" sz="1250" dirty="0"/>
          </a:p>
        </p:txBody>
      </p:sp>
      <p:sp>
        <p:nvSpPr>
          <p:cNvPr id="20" name="Text 18"/>
          <p:cNvSpPr/>
          <p:nvPr/>
        </p:nvSpPr>
        <p:spPr>
          <a:xfrm>
            <a:off x="502920" y="3749040"/>
            <a:ext cx="8138160" cy="73152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Đối chứng lỏng có thể bị phản bác là quá dễ, vì hai bước liền nhau trong tệp không nhất thiết cùng một chuỗi. Đối chứng chặt so hai màn hình liên tiếp trong cùng một chuỗi trên cùng ứng dụng, tức hai màn rất giống nhau, và tỉ số vẫn là bảy lần. Cả hai số đo chạy trên toàn tập, không phải trên mẫu thử.</a:t>
            </a:r>
            <a:endParaRPr lang="en-US" sz="1250" dirty="0"/>
          </a:p>
        </p:txBody>
      </p:sp>
      <p:sp>
        <p:nvSpPr>
          <p:cNvPr id="21" name="Shape 19"/>
          <p:cNvSpPr/>
          <p:nvPr/>
        </p:nvSpPr>
        <p:spPr>
          <a:xfrm>
            <a:off x="502920" y="4526280"/>
            <a:ext cx="3977640" cy="1188720"/>
          </a:xfrm>
          <a:prstGeom prst="roundRect">
            <a:avLst>
              <a:gd name="adj" fmla="val 4615"/>
            </a:avLst>
          </a:prstGeom>
          <a:solidFill>
            <a:srgbClr val="E9E8EC"/>
          </a:solidFill>
          <a:ln/>
          <a:effectLst>
            <a:outerShdw sx="100000" sy="100000" kx="0" ky="0" algn="bl" rotWithShape="0" blurRad="63500" dist="31750" dir="2700000">
              <a:srgbClr val="8C8C99">
                <a:alpha val="45000"/>
              </a:srgbClr>
            </a:outerShdw>
          </a:effectLst>
        </p:spPr>
      </p:sp>
      <p:sp>
        <p:nvSpPr>
          <p:cNvPr id="22" name="Text 20"/>
          <p:cNvSpPr/>
          <p:nvPr/>
        </p:nvSpPr>
        <p:spPr>
          <a:xfrm>
            <a:off x="685800" y="4526280"/>
            <a:ext cx="3611880" cy="1188720"/>
          </a:xfrm>
          <a:prstGeom prst="rect">
            <a:avLst/>
          </a:prstGeom>
          <a:noFill/>
          <a:ln/>
        </p:spPr>
        <p:txBody>
          <a:bodyPr wrap="square" lIns="0" tIns="0" rIns="0" bIns="0" rtlCol="0" anchor="ctr"/>
          <a:lstStyle/>
          <a:p>
            <a:pPr algn="l" indent="0" marL="0">
              <a:lnSpc>
                <a:spcPct val="130000"/>
              </a:lnSpc>
              <a:buNone/>
            </a:pPr>
            <a:r>
              <a:rPr lang="en-US" sz="1200" b="1" dirty="0">
                <a:solidFill>
                  <a:srgbClr val="322164"/>
                </a:solidFill>
                <a:latin typeface="Cambria" pitchFamily="34" charset="0"/>
                <a:ea typeface="Cambria" pitchFamily="34" charset="-122"/>
                <a:cs typeface="Cambria" pitchFamily="34" charset="-120"/>
              </a:rPr>
              <a:t>53,5% là một chặn dưới. </a:t>
            </a:r>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Người chú thích thường gọi phần tử bằng tên chủng loại, viết the search bar cho ô mang chữ Search here, mà cách so nguyên văn không tính là khớp.</a:t>
            </a:r>
            <a:endParaRPr lang="en-US" sz="1200" dirty="0"/>
          </a:p>
        </p:txBody>
      </p:sp>
      <p:sp>
        <p:nvSpPr>
          <p:cNvPr id="23" name="Shape 21"/>
          <p:cNvSpPr/>
          <p:nvPr/>
        </p:nvSpPr>
        <p:spPr>
          <a:xfrm>
            <a:off x="4663440" y="4526280"/>
            <a:ext cx="3977640" cy="1188720"/>
          </a:xfrm>
          <a:prstGeom prst="roundRect">
            <a:avLst>
              <a:gd name="adj" fmla="val 4615"/>
            </a:avLst>
          </a:prstGeom>
          <a:solidFill>
            <a:srgbClr val="E9E8EC"/>
          </a:solidFill>
          <a:ln/>
          <a:effectLst>
            <a:outerShdw sx="100000" sy="100000" kx="0" ky="0" algn="bl" rotWithShape="0" blurRad="63500" dist="31750" dir="2700000">
              <a:srgbClr val="8C8C99">
                <a:alpha val="45000"/>
              </a:srgbClr>
            </a:outerShdw>
          </a:effectLst>
        </p:spPr>
      </p:sp>
      <p:sp>
        <p:nvSpPr>
          <p:cNvPr id="24" name="Text 22"/>
          <p:cNvSpPr/>
          <p:nvPr/>
        </p:nvSpPr>
        <p:spPr>
          <a:xfrm>
            <a:off x="4846320" y="4526280"/>
            <a:ext cx="3611880" cy="1188720"/>
          </a:xfrm>
          <a:prstGeom prst="rect">
            <a:avLst/>
          </a:prstGeom>
          <a:noFill/>
          <a:ln/>
        </p:spPr>
        <p:txBody>
          <a:bodyPr wrap="square" lIns="0" tIns="0" rIns="0" bIns="0" rtlCol="0" anchor="ctr"/>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Chia theo tầng tên thì kết quả đi đúng hướng: </a:t>
            </a:r>
            <a:pPr algn="l" indent="0" marL="0">
              <a:lnSpc>
                <a:spcPct val="130000"/>
              </a:lnSpc>
              <a:buNone/>
            </a:pPr>
            <a:r>
              <a:rPr lang="en-US" sz="1200" b="1" dirty="0">
                <a:solidFill>
                  <a:srgbClr val="006666"/>
                </a:solidFill>
                <a:latin typeface="Cambria" pitchFamily="34" charset="0"/>
                <a:ea typeface="Cambria" pitchFamily="34" charset="-122"/>
                <a:cs typeface="Cambria" pitchFamily="34" charset="-120"/>
              </a:rPr>
              <a:t>55,3%</a:t>
            </a:r>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 ở tầng tên rõ ràng, còn tầng chỉ có ký hiệu chỉ </a:t>
            </a:r>
            <a:pPr algn="l" indent="0" marL="0">
              <a:lnSpc>
                <a:spcPct val="130000"/>
              </a:lnSpc>
              <a:buNone/>
            </a:pPr>
            <a:r>
              <a:rPr lang="en-US" sz="1200" b="1" dirty="0">
                <a:solidFill>
                  <a:srgbClr val="B22222"/>
                </a:solidFill>
                <a:latin typeface="Cambria" pitchFamily="34" charset="0"/>
                <a:ea typeface="Cambria" pitchFamily="34" charset="-122"/>
                <a:cs typeface="Cambria" pitchFamily="34" charset="-120"/>
              </a:rPr>
              <a:t>24,5%</a:t>
            </a:r>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a:t>
            </a:r>
            <a:endParaRPr lang="en-US" sz="1200" dirty="0"/>
          </a:p>
        </p:txBody>
      </p:sp>
      <p:sp>
        <p:nvSpPr>
          <p:cNvPr id="26" name="Shape 23"/>
          <p:cNvSpPr/>
          <p:nvPr/>
        </p:nvSpPr>
        <p:spPr>
          <a:xfrm>
            <a:off x="0" y="6620256"/>
            <a:ext cx="2743200" cy="237744"/>
          </a:xfrm>
          <a:prstGeom prst="rect">
            <a:avLst/>
          </a:prstGeom>
          <a:solidFill>
            <a:srgbClr val="191132"/>
          </a:solidFill>
          <a:ln/>
        </p:spPr>
      </p:sp>
      <p:sp>
        <p:nvSpPr>
          <p:cNvPr id="27" name="Shape 24"/>
          <p:cNvSpPr/>
          <p:nvPr/>
        </p:nvSpPr>
        <p:spPr>
          <a:xfrm>
            <a:off x="2743200" y="6620256"/>
            <a:ext cx="3383280" cy="237744"/>
          </a:xfrm>
          <a:prstGeom prst="rect">
            <a:avLst/>
          </a:prstGeom>
          <a:solidFill>
            <a:srgbClr val="25194B"/>
          </a:solidFill>
          <a:ln/>
        </p:spPr>
      </p:sp>
      <p:sp>
        <p:nvSpPr>
          <p:cNvPr id="28" name="Shape 25"/>
          <p:cNvSpPr/>
          <p:nvPr/>
        </p:nvSpPr>
        <p:spPr>
          <a:xfrm>
            <a:off x="6126480" y="6620256"/>
            <a:ext cx="1737360" cy="237744"/>
          </a:xfrm>
          <a:prstGeom prst="rect">
            <a:avLst/>
          </a:prstGeom>
          <a:solidFill>
            <a:srgbClr val="4F417A"/>
          </a:solidFill>
          <a:ln/>
        </p:spPr>
      </p:sp>
      <p:sp>
        <p:nvSpPr>
          <p:cNvPr id="29" name="Shape 26"/>
          <p:cNvSpPr/>
          <p:nvPr/>
        </p:nvSpPr>
        <p:spPr>
          <a:xfrm>
            <a:off x="7863840" y="6620256"/>
            <a:ext cx="1280160" cy="237744"/>
          </a:xfrm>
          <a:prstGeom prst="rect">
            <a:avLst/>
          </a:prstGeom>
          <a:solidFill>
            <a:srgbClr val="7A7099"/>
          </a:solidFill>
          <a:ln/>
        </p:spPr>
      </p:sp>
      <p:sp>
        <p:nvSpPr>
          <p:cNvPr id="30" name="Text 2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31" name="Text 2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32" name="Text 2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3" name="Text 3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14/17</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Hạn chế của bộ ngữ liệu</a:t>
            </a:r>
            <a:endParaRPr lang="en-US" sz="1900" dirty="0"/>
          </a:p>
        </p:txBody>
      </p:sp>
      <p:sp>
        <p:nvSpPr>
          <p:cNvPr id="4" name="Shape 2"/>
          <p:cNvSpPr/>
          <p:nvPr/>
        </p:nvSpPr>
        <p:spPr>
          <a:xfrm>
            <a:off x="502920" y="822960"/>
            <a:ext cx="8138160" cy="1481328"/>
          </a:xfrm>
          <a:prstGeom prst="roundRect">
            <a:avLst>
              <a:gd name="adj" fmla="val 370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914400"/>
            <a:ext cx="7680960" cy="320040"/>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24,7% dấu hiệu phân biệt chưa giải quyết được mơ hồ</a:t>
            </a:r>
            <a:endParaRPr lang="en-US" sz="1400" dirty="0"/>
          </a:p>
        </p:txBody>
      </p:sp>
      <p:sp>
        <p:nvSpPr>
          <p:cNvPr id="6" name="Text 4"/>
          <p:cNvSpPr/>
          <p:nvPr/>
        </p:nvSpPr>
        <p:spPr>
          <a:xfrm>
            <a:off x="731520" y="1252728"/>
            <a:ext cx="7680960" cy="96012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Đây là phần bù của 75,3%. Chừng ấy ô thứ tư chỉ đếm số lượng hoặc chỉ nêu rằng có trùng tên, nên với những bước đó nhãn thực chất chỉ còn ba ô định danh. Nguyên nhân đã xác định được nên chỗ này sửa được: hướng sửa trước tiên là mở rộng nguồn neo ra ngoài chuỗi OCR gần nhất, chẳng hạn dùng quan hệ với các phần tử cùng vai trò, vốn có ở 91,6% số bước.</a:t>
            </a:r>
            <a:endParaRPr lang="en-US" sz="1250" dirty="0"/>
          </a:p>
        </p:txBody>
      </p:sp>
      <p:sp>
        <p:nvSpPr>
          <p:cNvPr id="7" name="Shape 5"/>
          <p:cNvSpPr/>
          <p:nvPr/>
        </p:nvSpPr>
        <p:spPr>
          <a:xfrm>
            <a:off x="502920" y="2450592"/>
            <a:ext cx="8138160" cy="1481328"/>
          </a:xfrm>
          <a:prstGeom prst="roundRect">
            <a:avLst>
              <a:gd name="adj" fmla="val 3704"/>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31520" y="2542032"/>
            <a:ext cx="7680960" cy="320040"/>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So sánh với nguồn bên ngoài mới chạm được một trong bốn ô</a:t>
            </a:r>
            <a:endParaRPr lang="en-US" sz="1400" dirty="0"/>
          </a:p>
        </p:txBody>
      </p:sp>
      <p:sp>
        <p:nvSpPr>
          <p:cNvPr id="9" name="Text 7"/>
          <p:cNvSpPr/>
          <p:nvPr/>
        </p:nvSpPr>
        <p:spPr>
          <a:xfrm>
            <a:off x="731520" y="2880360"/>
            <a:ext cx="7680960" cy="96012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Ba ô còn lại, nhất là ô dấu hiệu phân biệt, chưa có nguồn nào bên ngoài để đối chiếu, nên 73,6%, 22,0% và 7,6% vẫn là thuộc tính của chính nhãn chứ không phải phán quyết của người dùng. Cách kiểm đúng nhất là hỏi thẳng người dùng rằng một nhãn có đủ để họ tìm ra phần tử trên ảnh hay không, và chúng tôi chưa làm được điều đó.</a:t>
            </a:r>
            <a:endParaRPr lang="en-US" sz="1250" dirty="0"/>
          </a:p>
        </p:txBody>
      </p:sp>
      <p:sp>
        <p:nvSpPr>
          <p:cNvPr id="10" name="Shape 8"/>
          <p:cNvSpPr/>
          <p:nvPr/>
        </p:nvSpPr>
        <p:spPr>
          <a:xfrm>
            <a:off x="502920" y="4078224"/>
            <a:ext cx="8138160" cy="1481328"/>
          </a:xfrm>
          <a:prstGeom prst="roundRect">
            <a:avLst>
              <a:gd name="adj" fmla="val 3704"/>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31520" y="4169664"/>
            <a:ext cx="7680960" cy="320040"/>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Hai giới hạn đến từ chính bản phát hành gốc</a:t>
            </a:r>
            <a:endParaRPr lang="en-US" sz="1400" dirty="0"/>
          </a:p>
        </p:txBody>
      </p:sp>
      <p:sp>
        <p:nvSpPr>
          <p:cNvPr id="12" name="Text 10"/>
          <p:cNvSpPr/>
          <p:nvPr/>
        </p:nvSpPr>
        <p:spPr>
          <a:xfrm>
            <a:off x="731520" y="4507992"/>
            <a:ext cx="7680960" cy="96012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AndroidControl không cung cấp nhãn chuẩn cho OCR, nên bài chỉ báo độ ổn định giữa hai lần chạy và hai dạng sai sót đã quan sát được. Gần như mọi chuỗi mục tiêu cũng bị cắt dở dang ngay từ nguồn.</a:t>
            </a:r>
            <a:endParaRPr lang="en-US" sz="1250" dirty="0"/>
          </a:p>
        </p:txBody>
      </p:sp>
      <p:sp>
        <p:nvSpPr>
          <p:cNvPr id="14" name="Shape 11"/>
          <p:cNvSpPr/>
          <p:nvPr/>
        </p:nvSpPr>
        <p:spPr>
          <a:xfrm>
            <a:off x="0" y="6620256"/>
            <a:ext cx="2743200" cy="237744"/>
          </a:xfrm>
          <a:prstGeom prst="rect">
            <a:avLst/>
          </a:prstGeom>
          <a:solidFill>
            <a:srgbClr val="191132"/>
          </a:solidFill>
          <a:ln/>
        </p:spPr>
      </p:sp>
      <p:sp>
        <p:nvSpPr>
          <p:cNvPr id="15" name="Shape 12"/>
          <p:cNvSpPr/>
          <p:nvPr/>
        </p:nvSpPr>
        <p:spPr>
          <a:xfrm>
            <a:off x="2743200" y="6620256"/>
            <a:ext cx="3383280" cy="237744"/>
          </a:xfrm>
          <a:prstGeom prst="rect">
            <a:avLst/>
          </a:prstGeom>
          <a:solidFill>
            <a:srgbClr val="25194B"/>
          </a:solidFill>
          <a:ln/>
        </p:spPr>
      </p:sp>
      <p:sp>
        <p:nvSpPr>
          <p:cNvPr id="16" name="Shape 13"/>
          <p:cNvSpPr/>
          <p:nvPr/>
        </p:nvSpPr>
        <p:spPr>
          <a:xfrm>
            <a:off x="6126480" y="6620256"/>
            <a:ext cx="1737360" cy="237744"/>
          </a:xfrm>
          <a:prstGeom prst="rect">
            <a:avLst/>
          </a:prstGeom>
          <a:solidFill>
            <a:srgbClr val="4F417A"/>
          </a:solidFill>
          <a:ln/>
        </p:spPr>
      </p:sp>
      <p:sp>
        <p:nvSpPr>
          <p:cNvPr id="17" name="Shape 14"/>
          <p:cNvSpPr/>
          <p:nvPr/>
        </p:nvSpPr>
        <p:spPr>
          <a:xfrm>
            <a:off x="7863840" y="6620256"/>
            <a:ext cx="1280160" cy="237744"/>
          </a:xfrm>
          <a:prstGeom prst="rect">
            <a:avLst/>
          </a:prstGeom>
          <a:solidFill>
            <a:srgbClr val="7A7099"/>
          </a:solidFill>
          <a:ln/>
        </p:spPr>
      </p:sp>
      <p:sp>
        <p:nvSpPr>
          <p:cNvPr id="18"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19"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0"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15/17</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Kết luận</a:t>
            </a:r>
            <a:endParaRPr lang="en-US" sz="1900" dirty="0"/>
          </a:p>
        </p:txBody>
      </p:sp>
      <p:sp>
        <p:nvSpPr>
          <p:cNvPr id="4" name="Text 2"/>
          <p:cNvSpPr/>
          <p:nvPr/>
        </p:nvSpPr>
        <p:spPr>
          <a:xfrm>
            <a:off x="594360" y="868680"/>
            <a:ext cx="201168" cy="141732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5" name="Text 3"/>
          <p:cNvSpPr/>
          <p:nvPr/>
        </p:nvSpPr>
        <p:spPr>
          <a:xfrm>
            <a:off x="822960" y="868680"/>
            <a:ext cx="7726680" cy="1371600"/>
          </a:xfrm>
          <a:prstGeom prst="rect">
            <a:avLst/>
          </a:prstGeom>
          <a:noFill/>
          <a:ln/>
        </p:spPr>
        <p:txBody>
          <a:bodyPr wrap="square" lIns="0" tIns="0" rIns="0" bIns="0" rtlCol="0" anchor="t"/>
          <a:lstStyle/>
          <a:p>
            <a:pPr algn="l" indent="0" marL="0">
              <a:lnSpc>
                <a:spcPct val="135000"/>
              </a:lnSpc>
              <a:buNone/>
            </a:pPr>
            <a:r>
              <a:rPr lang="en-US" sz="1300" b="1" dirty="0">
                <a:solidFill>
                  <a:srgbClr val="322164"/>
                </a:solidFill>
                <a:latin typeface="Cambria" pitchFamily="34" charset="0"/>
                <a:ea typeface="Cambria" pitchFamily="34" charset="-122"/>
                <a:cs typeface="Cambria" pitchFamily="34" charset="-120"/>
              </a:rPr>
              <a:t>Một quy trình hoàn toàn tự động </a:t>
            </a:r>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chuyển AndroidControl thành bộ ngữ liệu GUIRefCorpus: 41.099 nhãn ở tập huấn luyện và 4.448 ở tập kiểm tra. Không nhãn nào do người soạn, sửa hay chọn; mỗi lần đọc tay thấy sai thì thứ được sửa là bộ quy tắc, rồi dựng lại từ đầu.</a:t>
            </a:r>
            <a:endParaRPr lang="en-US" sz="1300" dirty="0"/>
          </a:p>
        </p:txBody>
      </p:sp>
      <p:sp>
        <p:nvSpPr>
          <p:cNvPr id="6" name="Text 4"/>
          <p:cNvSpPr/>
          <p:nvPr/>
        </p:nvSpPr>
        <p:spPr>
          <a:xfrm>
            <a:off x="594360" y="2286000"/>
            <a:ext cx="201168" cy="141732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822960" y="2286000"/>
            <a:ext cx="7726680" cy="1371600"/>
          </a:xfrm>
          <a:prstGeom prst="rect">
            <a:avLst/>
          </a:prstGeom>
          <a:noFill/>
          <a:ln/>
        </p:spPr>
        <p:txBody>
          <a:bodyPr wrap="square" lIns="0" tIns="0" rIns="0" bIns="0" rtlCol="0" anchor="t"/>
          <a:lstStyle/>
          <a:p>
            <a:pPr algn="l" indent="0" marL="0">
              <a:lnSpc>
                <a:spcPct val="135000"/>
              </a:lnSpc>
              <a:buNone/>
            </a:pPr>
            <a:r>
              <a:rPr lang="en-US" sz="1300" b="1" dirty="0">
                <a:solidFill>
                  <a:srgbClr val="322164"/>
                </a:solidFill>
                <a:latin typeface="Cambria" pitchFamily="34" charset="0"/>
                <a:ea typeface="Cambria" pitchFamily="34" charset="-122"/>
                <a:cs typeface="Cambria" pitchFamily="34" charset="-120"/>
              </a:rPr>
              <a:t>Đặc thù của miền buộc nhãn phải mang ô dấu hiệu phân biệt: </a:t>
            </a:r>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12,6% phần tử có tên trong cây trợ năng, 22,0% phần tử cần chạm không có tên, 7,6% trùng tên. Ô đó phải làm lại từ đầu sau khi đo thấy bản đầu chỉ giải quyết được 7,3%, và sau khi làm lại đạt 75,3%.</a:t>
            </a:r>
            <a:endParaRPr lang="en-US" sz="1300" dirty="0"/>
          </a:p>
        </p:txBody>
      </p:sp>
      <p:sp>
        <p:nvSpPr>
          <p:cNvPr id="8" name="Text 6"/>
          <p:cNvSpPr/>
          <p:nvPr/>
        </p:nvSpPr>
        <p:spPr>
          <a:xfrm>
            <a:off x="594360" y="3703320"/>
            <a:ext cx="201168" cy="141732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9" name="Text 7"/>
          <p:cNvSpPr/>
          <p:nvPr/>
        </p:nvSpPr>
        <p:spPr>
          <a:xfrm>
            <a:off x="822960" y="3703320"/>
            <a:ext cx="7726680" cy="1371600"/>
          </a:xfrm>
          <a:prstGeom prst="rect">
            <a:avLst/>
          </a:prstGeom>
          <a:noFill/>
          <a:ln/>
        </p:spPr>
        <p:txBody>
          <a:bodyPr wrap="square" lIns="0" tIns="0" rIns="0" bIns="0" rtlCol="0" anchor="t"/>
          <a:lstStyle/>
          <a:p>
            <a:pPr algn="l" indent="0" marL="0">
              <a:lnSpc>
                <a:spcPct val="135000"/>
              </a:lnSpc>
              <a:buNone/>
            </a:pPr>
            <a:r>
              <a:rPr lang="en-US" sz="1300" b="1" dirty="0">
                <a:solidFill>
                  <a:srgbClr val="322164"/>
                </a:solidFill>
                <a:latin typeface="Cambria" pitchFamily="34" charset="0"/>
                <a:ea typeface="Cambria" pitchFamily="34" charset="-122"/>
                <a:cs typeface="Cambria" pitchFamily="34" charset="-120"/>
              </a:rPr>
              <a:t>Chỗ dựa chính là phép đối chiếu với nguồn ngoài quy trình: </a:t>
            </a:r>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53,5% ô tên trùng nguyên văn câu của người chú thích, so với 7,6% ở đối chứng cố ý ghép sai trong cùng một chuỗi thao tác. Đặt cạnh 32,5% câu của người cũng dùng tới từ chỉ vị trí, hai bên đang chọn cùng một chiến lược quy chiếu.</a:t>
            </a:r>
            <a:endParaRPr lang="en-US" sz="1300" dirty="0"/>
          </a:p>
        </p:txBody>
      </p:sp>
      <p:sp>
        <p:nvSpPr>
          <p:cNvPr id="10" name="Shape 8"/>
          <p:cNvSpPr/>
          <p:nvPr/>
        </p:nvSpPr>
        <p:spPr>
          <a:xfrm>
            <a:off x="502920" y="5257800"/>
            <a:ext cx="813816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31520" y="5257800"/>
            <a:ext cx="7680960" cy="868680"/>
          </a:xfrm>
          <a:prstGeom prst="rect">
            <a:avLst/>
          </a:prstGeom>
          <a:noFill/>
          <a:ln/>
        </p:spPr>
        <p:txBody>
          <a:bodyPr wrap="square" lIns="0" tIns="0" rIns="0" bIns="0" rtlCol="0" anchor="ctr"/>
          <a:lstStyle/>
          <a:p>
            <a:pPr algn="l" indent="0" marL="0">
              <a:lnSpc>
                <a:spcPct val="132000"/>
              </a:lnSpc>
              <a:buNone/>
            </a:pPr>
            <a:r>
              <a:rPr lang="en-US" sz="1300" b="1" dirty="0">
                <a:solidFill>
                  <a:srgbClr val="B22222"/>
                </a:solidFill>
                <a:latin typeface="Cambria" pitchFamily="34" charset="0"/>
                <a:ea typeface="Cambria" pitchFamily="34" charset="-122"/>
                <a:cs typeface="Cambria" pitchFamily="34" charset="-120"/>
              </a:rPr>
              <a:t>Nguyên tắc làm việc dùng lại được:  </a:t>
            </a:r>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tìm cho ra cơ chế sinh ra một tỉ số bất thường trước khi lấy tỉ số ấy làm căn cứ đổi thiết kế. Bốn lỗi bắt được đều xảy ra trong lúc mọi khâu vẫn chạy bình thường.</a:t>
            </a:r>
            <a:endParaRPr lang="en-US" sz="13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16/17</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620256"/>
          </a:xfrm>
          <a:prstGeom prst="rect">
            <a:avLst/>
          </a:prstGeom>
          <a:solidFill>
            <a:srgbClr val="322164"/>
          </a:solidFill>
          <a:ln/>
        </p:spPr>
      </p:sp>
      <p:sp>
        <p:nvSpPr>
          <p:cNvPr id="3" name="Text 1"/>
          <p:cNvSpPr/>
          <p:nvPr/>
        </p:nvSpPr>
        <p:spPr>
          <a:xfrm>
            <a:off x="731520" y="2103120"/>
            <a:ext cx="7680960" cy="640080"/>
          </a:xfrm>
          <a:prstGeom prst="rect">
            <a:avLst/>
          </a:prstGeom>
          <a:noFill/>
          <a:ln/>
        </p:spPr>
        <p:txBody>
          <a:bodyPr wrap="square" lIns="0" tIns="0" rIns="0" bIns="0" rtlCol="0" anchor="t"/>
          <a:lstStyle/>
          <a:p>
            <a:pPr algn="ctr" indent="0" marL="0">
              <a:buNone/>
            </a:pPr>
            <a:r>
              <a:rPr lang="en-US" sz="2700" b="1" dirty="0">
                <a:solidFill>
                  <a:srgbClr val="FFFFFF"/>
                </a:solidFill>
                <a:latin typeface="Cambria" pitchFamily="34" charset="0"/>
                <a:ea typeface="Cambria" pitchFamily="34" charset="-122"/>
                <a:cs typeface="Cambria" pitchFamily="34" charset="-120"/>
              </a:rPr>
              <a:t>Xin cảm ơn hội thảo đã lắng nghe</a:t>
            </a:r>
            <a:endParaRPr lang="en-US" sz="2700" dirty="0"/>
          </a:p>
        </p:txBody>
      </p:sp>
      <p:sp>
        <p:nvSpPr>
          <p:cNvPr id="4" name="Text 2"/>
          <p:cNvSpPr/>
          <p:nvPr/>
        </p:nvSpPr>
        <p:spPr>
          <a:xfrm>
            <a:off x="731520" y="3017520"/>
            <a:ext cx="768096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mbria" pitchFamily="34" charset="0"/>
                <a:ea typeface="Cambria" pitchFamily="34" charset="-122"/>
                <a:cs typeface="Cambria" pitchFamily="34" charset="-120"/>
              </a:rPr>
              <a:t>Lê Đoàn Phương Uyên   ·   Nguyễn Hồng Bửu Long</a:t>
            </a:r>
            <a:endParaRPr lang="en-US" sz="1600" dirty="0"/>
          </a:p>
        </p:txBody>
      </p:sp>
      <p:sp>
        <p:nvSpPr>
          <p:cNvPr id="5" name="Text 3"/>
          <p:cNvSpPr/>
          <p:nvPr/>
        </p:nvSpPr>
        <p:spPr>
          <a:xfrm>
            <a:off x="731520" y="3429000"/>
            <a:ext cx="7680960" cy="365760"/>
          </a:xfrm>
          <a:prstGeom prst="rect">
            <a:avLst/>
          </a:prstGeom>
          <a:noFill/>
          <a:ln/>
        </p:spPr>
        <p:txBody>
          <a:bodyPr wrap="square" lIns="0" tIns="0" rIns="0" bIns="0" rtlCol="0" anchor="t"/>
          <a:lstStyle/>
          <a:p>
            <a:pPr algn="ctr" indent="0" marL="0">
              <a:buNone/>
            </a:pPr>
            <a:r>
              <a:rPr lang="en-US" sz="1300" dirty="0">
                <a:solidFill>
                  <a:srgbClr val="C9C3DC"/>
                </a:solidFill>
                <a:latin typeface="Cambria" pitchFamily="34" charset="0"/>
                <a:ea typeface="Cambria" pitchFamily="34" charset="-122"/>
                <a:cs typeface="Cambria" pitchFamily="34" charset="-120"/>
              </a:rPr>
              <a:t>Khoa Công nghệ Thông tin, Trường Đại học Khoa học Tự nhiên, ĐHQG-HCM</a:t>
            </a:r>
            <a:endParaRPr lang="en-US" sz="1300" dirty="0"/>
          </a:p>
        </p:txBody>
      </p:sp>
      <p:sp>
        <p:nvSpPr>
          <p:cNvPr id="6" name="Text 4"/>
          <p:cNvSpPr/>
          <p:nvPr/>
        </p:nvSpPr>
        <p:spPr>
          <a:xfrm>
            <a:off x="731520" y="4206240"/>
            <a:ext cx="76809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Bộ ngữ liệu GUIRefCorpus  ·  41.099 nhãn  ·  4.448 nhãn tập kiểm tra</a:t>
            </a:r>
            <a:endParaRPr lang="en-US" sz="1400" dirty="0"/>
          </a:p>
        </p:txBody>
      </p:sp>
      <p:sp>
        <p:nvSpPr>
          <p:cNvPr id="7" name="Text 5"/>
          <p:cNvSpPr/>
          <p:nvPr/>
        </p:nvSpPr>
        <p:spPr>
          <a:xfrm>
            <a:off x="731520" y="4709160"/>
            <a:ext cx="7680960" cy="365760"/>
          </a:xfrm>
          <a:prstGeom prst="rect">
            <a:avLst/>
          </a:prstGeom>
          <a:noFill/>
          <a:ln/>
        </p:spPr>
        <p:txBody>
          <a:bodyPr wrap="square" lIns="0" tIns="0" rIns="0" bIns="0" rtlCol="0" anchor="t"/>
          <a:lstStyle/>
          <a:p>
            <a:pPr algn="ctr" indent="0" marL="0">
              <a:buNone/>
            </a:pPr>
            <a:r>
              <a:rPr lang="en-US" sz="1400" i="1" dirty="0">
                <a:solidFill>
                  <a:srgbClr val="C9C3DC"/>
                </a:solidFill>
                <a:latin typeface="Cambria" pitchFamily="34" charset="0"/>
                <a:ea typeface="Cambria" pitchFamily="34" charset="-122"/>
                <a:cs typeface="Cambria" pitchFamily="34" charset="-120"/>
              </a:rPr>
              <a:t>Rất mong nhận được câu hỏi và góp ý</a:t>
            </a:r>
            <a:endParaRPr lang="en-US" sz="1400" dirty="0"/>
          </a:p>
        </p:txBody>
      </p:sp>
      <p:sp>
        <p:nvSpPr>
          <p:cNvPr id="9" name="Shape 6"/>
          <p:cNvSpPr/>
          <p:nvPr/>
        </p:nvSpPr>
        <p:spPr>
          <a:xfrm>
            <a:off x="0" y="6620256"/>
            <a:ext cx="2743200" cy="237744"/>
          </a:xfrm>
          <a:prstGeom prst="rect">
            <a:avLst/>
          </a:prstGeom>
          <a:solidFill>
            <a:srgbClr val="191132"/>
          </a:solidFill>
          <a:ln/>
        </p:spPr>
      </p:sp>
      <p:sp>
        <p:nvSpPr>
          <p:cNvPr id="10" name="Shape 7"/>
          <p:cNvSpPr/>
          <p:nvPr/>
        </p:nvSpPr>
        <p:spPr>
          <a:xfrm>
            <a:off x="2743200" y="6620256"/>
            <a:ext cx="3383280" cy="237744"/>
          </a:xfrm>
          <a:prstGeom prst="rect">
            <a:avLst/>
          </a:prstGeom>
          <a:solidFill>
            <a:srgbClr val="25194B"/>
          </a:solidFill>
          <a:ln/>
        </p:spPr>
      </p:sp>
      <p:sp>
        <p:nvSpPr>
          <p:cNvPr id="11" name="Shape 8"/>
          <p:cNvSpPr/>
          <p:nvPr/>
        </p:nvSpPr>
        <p:spPr>
          <a:xfrm>
            <a:off x="6126480" y="6620256"/>
            <a:ext cx="1737360" cy="237744"/>
          </a:xfrm>
          <a:prstGeom prst="rect">
            <a:avLst/>
          </a:prstGeom>
          <a:solidFill>
            <a:srgbClr val="4F417A"/>
          </a:solidFill>
          <a:ln/>
        </p:spPr>
      </p:sp>
      <p:sp>
        <p:nvSpPr>
          <p:cNvPr id="12" name="Shape 9"/>
          <p:cNvSpPr/>
          <p:nvPr/>
        </p:nvSpPr>
        <p:spPr>
          <a:xfrm>
            <a:off x="7863840" y="6620256"/>
            <a:ext cx="1280160" cy="237744"/>
          </a:xfrm>
          <a:prstGeom prst="rect">
            <a:avLst/>
          </a:prstGeom>
          <a:solidFill>
            <a:srgbClr val="7A7099"/>
          </a:solidFill>
          <a:ln/>
        </p:spPr>
      </p:sp>
      <p:sp>
        <p:nvSpPr>
          <p:cNvPr id="13" name="Text 1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14" name="Text 1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15" name="Text 1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6" name="Text 1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Chất lượng nhãn không suy giảm khi tăng quy mô</a:t>
            </a:r>
            <a:endParaRPr lang="en-US" sz="1900" dirty="0"/>
          </a:p>
        </p:txBody>
      </p:sp>
      <p:sp>
        <p:nvSpPr>
          <p:cNvPr id="4" name="Shape 2"/>
          <p:cNvSpPr/>
          <p:nvPr/>
        </p:nvSpPr>
        <p:spPr>
          <a:xfrm>
            <a:off x="1234440" y="914400"/>
            <a:ext cx="7498080" cy="411480"/>
          </a:xfrm>
          <a:prstGeom prst="rect">
            <a:avLst/>
          </a:prstGeom>
          <a:solidFill>
            <a:srgbClr val="322164"/>
          </a:solidFill>
          <a:ln/>
        </p:spPr>
      </p:sp>
      <p:sp>
        <p:nvSpPr>
          <p:cNvPr id="5" name="Text 3"/>
          <p:cNvSpPr/>
          <p:nvPr/>
        </p:nvSpPr>
        <p:spPr>
          <a:xfrm>
            <a:off x="1234440" y="914400"/>
            <a:ext cx="3840480" cy="41148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Chỉ số</a:t>
            </a:r>
            <a:endParaRPr lang="en-US" sz="1250" dirty="0"/>
          </a:p>
        </p:txBody>
      </p:sp>
      <p:sp>
        <p:nvSpPr>
          <p:cNvPr id="6" name="Text 4"/>
          <p:cNvSpPr/>
          <p:nvPr/>
        </p:nvSpPr>
        <p:spPr>
          <a:xfrm>
            <a:off x="5074920" y="914400"/>
            <a:ext cx="1828800" cy="411480"/>
          </a:xfrm>
          <a:prstGeom prst="rect">
            <a:avLst/>
          </a:prstGeom>
          <a:noFill/>
          <a:ln/>
        </p:spPr>
        <p:txBody>
          <a:bodyPr wrap="square" lIns="38100" tIns="38100" rIns="38100" bIns="38100" rtlCol="0" anchor="ctr"/>
          <a:lstStyle/>
          <a:p>
            <a:pPr algn="r" indent="0" marL="0">
              <a:buNone/>
            </a:pPr>
            <a:r>
              <a:rPr lang="en-US" sz="1250" b="1" dirty="0">
                <a:solidFill>
                  <a:srgbClr val="FFFFFF"/>
                </a:solidFill>
                <a:latin typeface="Cambria" pitchFamily="34" charset="0"/>
                <a:ea typeface="Cambria" pitchFamily="34" charset="-122"/>
                <a:cs typeface="Cambria" pitchFamily="34" charset="-120"/>
              </a:rPr>
              <a:t>Toàn bộ ngữ liệu</a:t>
            </a:r>
            <a:endParaRPr lang="en-US" sz="1250" dirty="0"/>
          </a:p>
        </p:txBody>
      </p:sp>
      <p:sp>
        <p:nvSpPr>
          <p:cNvPr id="7" name="Text 5"/>
          <p:cNvSpPr/>
          <p:nvPr/>
        </p:nvSpPr>
        <p:spPr>
          <a:xfrm>
            <a:off x="6903720" y="914400"/>
            <a:ext cx="1828800" cy="411480"/>
          </a:xfrm>
          <a:prstGeom prst="rect">
            <a:avLst/>
          </a:prstGeom>
          <a:noFill/>
          <a:ln/>
        </p:spPr>
        <p:txBody>
          <a:bodyPr wrap="square" lIns="38100" tIns="38100" rIns="38100" bIns="38100" rtlCol="0" anchor="ctr"/>
          <a:lstStyle/>
          <a:p>
            <a:pPr algn="r" indent="0" marL="0">
              <a:buNone/>
            </a:pPr>
            <a:r>
              <a:rPr lang="en-US" sz="1250" b="1" dirty="0">
                <a:solidFill>
                  <a:srgbClr val="FFFFFF"/>
                </a:solidFill>
                <a:latin typeface="Cambria" pitchFamily="34" charset="0"/>
                <a:ea typeface="Cambria" pitchFamily="34" charset="-122"/>
                <a:cs typeface="Cambria" pitchFamily="34" charset="-120"/>
              </a:rPr>
              <a:t>Mẫu thử (n = 1.074)</a:t>
            </a:r>
            <a:endParaRPr lang="en-US" sz="1250" dirty="0"/>
          </a:p>
        </p:txBody>
      </p:sp>
      <p:sp>
        <p:nvSpPr>
          <p:cNvPr id="8" name="Text 6"/>
          <p:cNvSpPr/>
          <p:nvPr/>
        </p:nvSpPr>
        <p:spPr>
          <a:xfrm>
            <a:off x="1234440" y="1325880"/>
            <a:ext cx="384048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Tên rõ ràng</a:t>
            </a:r>
            <a:endParaRPr lang="en-US" sz="1300" dirty="0"/>
          </a:p>
        </p:txBody>
      </p:sp>
      <p:sp>
        <p:nvSpPr>
          <p:cNvPr id="9" name="Text 7"/>
          <p:cNvSpPr/>
          <p:nvPr/>
        </p:nvSpPr>
        <p:spPr>
          <a:xfrm>
            <a:off x="5074920" y="1325880"/>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73,6%</a:t>
            </a:r>
            <a:endParaRPr lang="en-US" sz="1300" dirty="0"/>
          </a:p>
        </p:txBody>
      </p:sp>
      <p:sp>
        <p:nvSpPr>
          <p:cNvPr id="10" name="Text 8"/>
          <p:cNvSpPr/>
          <p:nvPr/>
        </p:nvSpPr>
        <p:spPr>
          <a:xfrm>
            <a:off x="6903720" y="1325880"/>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73,8%</a:t>
            </a:r>
            <a:endParaRPr lang="en-US" sz="1300" dirty="0"/>
          </a:p>
        </p:txBody>
      </p:sp>
      <p:sp>
        <p:nvSpPr>
          <p:cNvPr id="11" name="Shape 9"/>
          <p:cNvSpPr/>
          <p:nvPr/>
        </p:nvSpPr>
        <p:spPr>
          <a:xfrm>
            <a:off x="1234440" y="1709928"/>
            <a:ext cx="7498080" cy="0"/>
          </a:xfrm>
          <a:prstGeom prst="line">
            <a:avLst/>
          </a:prstGeom>
          <a:noFill/>
          <a:ln w="12700">
            <a:solidFill>
              <a:srgbClr val="9A94AE"/>
            </a:solidFill>
            <a:prstDash val="solid"/>
          </a:ln>
        </p:spPr>
      </p:sp>
      <p:sp>
        <p:nvSpPr>
          <p:cNvPr id="12" name="Text 10"/>
          <p:cNvSpPr/>
          <p:nvPr/>
        </p:nvSpPr>
        <p:spPr>
          <a:xfrm>
            <a:off x="1234440" y="1709928"/>
            <a:ext cx="384048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Chỉ có ký hiệu, không có chữ</a:t>
            </a:r>
            <a:endParaRPr lang="en-US" sz="1300" dirty="0"/>
          </a:p>
        </p:txBody>
      </p:sp>
      <p:sp>
        <p:nvSpPr>
          <p:cNvPr id="13" name="Text 11"/>
          <p:cNvSpPr/>
          <p:nvPr/>
        </p:nvSpPr>
        <p:spPr>
          <a:xfrm>
            <a:off x="5074920" y="1709928"/>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4,4%</a:t>
            </a:r>
            <a:endParaRPr lang="en-US" sz="1300" dirty="0"/>
          </a:p>
        </p:txBody>
      </p:sp>
      <p:sp>
        <p:nvSpPr>
          <p:cNvPr id="14" name="Text 12"/>
          <p:cNvSpPr/>
          <p:nvPr/>
        </p:nvSpPr>
        <p:spPr>
          <a:xfrm>
            <a:off x="6903720" y="1709928"/>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2,8%</a:t>
            </a:r>
            <a:endParaRPr lang="en-US" sz="1300" dirty="0"/>
          </a:p>
        </p:txBody>
      </p:sp>
      <p:sp>
        <p:nvSpPr>
          <p:cNvPr id="15" name="Shape 13"/>
          <p:cNvSpPr/>
          <p:nvPr/>
        </p:nvSpPr>
        <p:spPr>
          <a:xfrm>
            <a:off x="1234440" y="2093976"/>
            <a:ext cx="7498080" cy="0"/>
          </a:xfrm>
          <a:prstGeom prst="line">
            <a:avLst/>
          </a:prstGeom>
          <a:noFill/>
          <a:ln w="12700">
            <a:solidFill>
              <a:srgbClr val="9A94AE"/>
            </a:solidFill>
            <a:prstDash val="solid"/>
          </a:ln>
        </p:spPr>
      </p:sp>
      <p:sp>
        <p:nvSpPr>
          <p:cNvPr id="16" name="Text 14"/>
          <p:cNvSpPr/>
          <p:nvPr/>
        </p:nvSpPr>
        <p:spPr>
          <a:xfrm>
            <a:off x="1234440" y="2093976"/>
            <a:ext cx="384048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Không có tên</a:t>
            </a:r>
            <a:endParaRPr lang="en-US" sz="1300" dirty="0"/>
          </a:p>
        </p:txBody>
      </p:sp>
      <p:sp>
        <p:nvSpPr>
          <p:cNvPr id="17" name="Text 15"/>
          <p:cNvSpPr/>
          <p:nvPr/>
        </p:nvSpPr>
        <p:spPr>
          <a:xfrm>
            <a:off x="5074920" y="2093976"/>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22,0%</a:t>
            </a:r>
            <a:endParaRPr lang="en-US" sz="1300" dirty="0"/>
          </a:p>
        </p:txBody>
      </p:sp>
      <p:sp>
        <p:nvSpPr>
          <p:cNvPr id="18" name="Text 16"/>
          <p:cNvSpPr/>
          <p:nvPr/>
        </p:nvSpPr>
        <p:spPr>
          <a:xfrm>
            <a:off x="6903720" y="2093976"/>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23,4%</a:t>
            </a:r>
            <a:endParaRPr lang="en-US" sz="1300" dirty="0"/>
          </a:p>
        </p:txBody>
      </p:sp>
      <p:sp>
        <p:nvSpPr>
          <p:cNvPr id="19" name="Shape 17"/>
          <p:cNvSpPr/>
          <p:nvPr/>
        </p:nvSpPr>
        <p:spPr>
          <a:xfrm>
            <a:off x="1234440" y="2478024"/>
            <a:ext cx="7498080" cy="0"/>
          </a:xfrm>
          <a:prstGeom prst="line">
            <a:avLst/>
          </a:prstGeom>
          <a:noFill/>
          <a:ln w="12700">
            <a:solidFill>
              <a:srgbClr val="9A94AE"/>
            </a:solidFill>
            <a:prstDash val="solid"/>
          </a:ln>
        </p:spPr>
      </p:sp>
      <p:sp>
        <p:nvSpPr>
          <p:cNvPr id="20" name="Text 18"/>
          <p:cNvSpPr/>
          <p:nvPr/>
        </p:nvSpPr>
        <p:spPr>
          <a:xfrm>
            <a:off x="1234440" y="2478024"/>
            <a:ext cx="384048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Vai trò rõ ràng</a:t>
            </a:r>
            <a:endParaRPr lang="en-US" sz="1300" dirty="0"/>
          </a:p>
        </p:txBody>
      </p:sp>
      <p:sp>
        <p:nvSpPr>
          <p:cNvPr id="21" name="Text 19"/>
          <p:cNvSpPr/>
          <p:nvPr/>
        </p:nvSpPr>
        <p:spPr>
          <a:xfrm>
            <a:off x="5074920" y="2478024"/>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75,8%</a:t>
            </a:r>
            <a:endParaRPr lang="en-US" sz="1300" dirty="0"/>
          </a:p>
        </p:txBody>
      </p:sp>
      <p:sp>
        <p:nvSpPr>
          <p:cNvPr id="22" name="Text 20"/>
          <p:cNvSpPr/>
          <p:nvPr/>
        </p:nvSpPr>
        <p:spPr>
          <a:xfrm>
            <a:off x="6903720" y="2478024"/>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76,0%</a:t>
            </a:r>
            <a:endParaRPr lang="en-US" sz="1300" dirty="0"/>
          </a:p>
        </p:txBody>
      </p:sp>
      <p:sp>
        <p:nvSpPr>
          <p:cNvPr id="23" name="Shape 21"/>
          <p:cNvSpPr/>
          <p:nvPr/>
        </p:nvSpPr>
        <p:spPr>
          <a:xfrm>
            <a:off x="1234440" y="2862072"/>
            <a:ext cx="7498080" cy="0"/>
          </a:xfrm>
          <a:prstGeom prst="line">
            <a:avLst/>
          </a:prstGeom>
          <a:noFill/>
          <a:ln w="12700">
            <a:solidFill>
              <a:srgbClr val="9A94AE"/>
            </a:solidFill>
            <a:prstDash val="solid"/>
          </a:ln>
        </p:spPr>
      </p:sp>
      <p:sp>
        <p:nvSpPr>
          <p:cNvPr id="24" name="Text 22"/>
          <p:cNvSpPr/>
          <p:nvPr/>
        </p:nvSpPr>
        <p:spPr>
          <a:xfrm>
            <a:off x="1234440" y="2862072"/>
            <a:ext cx="384048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Trùng tên trên cùng màn</a:t>
            </a:r>
            <a:endParaRPr lang="en-US" sz="1300" dirty="0"/>
          </a:p>
        </p:txBody>
      </p:sp>
      <p:sp>
        <p:nvSpPr>
          <p:cNvPr id="25" name="Text 23"/>
          <p:cNvSpPr/>
          <p:nvPr/>
        </p:nvSpPr>
        <p:spPr>
          <a:xfrm>
            <a:off x="5074920" y="2862072"/>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7,6%</a:t>
            </a:r>
            <a:endParaRPr lang="en-US" sz="1300" dirty="0"/>
          </a:p>
        </p:txBody>
      </p:sp>
      <p:sp>
        <p:nvSpPr>
          <p:cNvPr id="26" name="Text 24"/>
          <p:cNvSpPr/>
          <p:nvPr/>
        </p:nvSpPr>
        <p:spPr>
          <a:xfrm>
            <a:off x="6903720" y="2862072"/>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7,0%</a:t>
            </a:r>
            <a:endParaRPr lang="en-US" sz="1300" dirty="0"/>
          </a:p>
        </p:txBody>
      </p:sp>
      <p:sp>
        <p:nvSpPr>
          <p:cNvPr id="27" name="Shape 25"/>
          <p:cNvSpPr/>
          <p:nvPr/>
        </p:nvSpPr>
        <p:spPr>
          <a:xfrm>
            <a:off x="1234440" y="3246120"/>
            <a:ext cx="7498080" cy="0"/>
          </a:xfrm>
          <a:prstGeom prst="line">
            <a:avLst/>
          </a:prstGeom>
          <a:noFill/>
          <a:ln w="12700">
            <a:solidFill>
              <a:srgbClr val="9A94AE"/>
            </a:solidFill>
            <a:prstDash val="solid"/>
          </a:ln>
        </p:spPr>
      </p:sp>
      <p:sp>
        <p:nvSpPr>
          <p:cNvPr id="28" name="Text 26"/>
          <p:cNvSpPr/>
          <p:nvPr/>
        </p:nvSpPr>
        <p:spPr>
          <a:xfrm>
            <a:off x="1234440" y="3246120"/>
            <a:ext cx="384048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Có phần tử cùng vai trò để so</a:t>
            </a:r>
            <a:endParaRPr lang="en-US" sz="1300" dirty="0"/>
          </a:p>
        </p:txBody>
      </p:sp>
      <p:sp>
        <p:nvSpPr>
          <p:cNvPr id="29" name="Text 27"/>
          <p:cNvSpPr/>
          <p:nvPr/>
        </p:nvSpPr>
        <p:spPr>
          <a:xfrm>
            <a:off x="5074920" y="3246120"/>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91,6%</a:t>
            </a:r>
            <a:endParaRPr lang="en-US" sz="1300" dirty="0"/>
          </a:p>
        </p:txBody>
      </p:sp>
      <p:sp>
        <p:nvSpPr>
          <p:cNvPr id="30" name="Text 28"/>
          <p:cNvSpPr/>
          <p:nvPr/>
        </p:nvSpPr>
        <p:spPr>
          <a:xfrm>
            <a:off x="6903720" y="3246120"/>
            <a:ext cx="1828800" cy="384048"/>
          </a:xfrm>
          <a:prstGeom prst="rect">
            <a:avLst/>
          </a:prstGeom>
          <a:noFill/>
          <a:ln/>
        </p:spPr>
        <p:txBody>
          <a:bodyPr wrap="square" lIns="38100" tIns="38100" rIns="38100" bIns="38100" rtlCol="0" anchor="ctr"/>
          <a:lstStyle/>
          <a:p>
            <a:pPr algn="r" indent="0" marL="0">
              <a:buNone/>
            </a:pPr>
            <a:r>
              <a:rPr lang="en-US" sz="1300" dirty="0">
                <a:solidFill>
                  <a:srgbClr val="1A1A1A"/>
                </a:solidFill>
                <a:latin typeface="Cambria" pitchFamily="34" charset="0"/>
                <a:ea typeface="Cambria" pitchFamily="34" charset="-122"/>
                <a:cs typeface="Cambria" pitchFamily="34" charset="-120"/>
              </a:rPr>
              <a:t>92,6%</a:t>
            </a:r>
            <a:endParaRPr lang="en-US" sz="1300" dirty="0"/>
          </a:p>
        </p:txBody>
      </p:sp>
      <p:sp>
        <p:nvSpPr>
          <p:cNvPr id="31" name="Shape 29"/>
          <p:cNvSpPr/>
          <p:nvPr/>
        </p:nvSpPr>
        <p:spPr>
          <a:xfrm>
            <a:off x="502920" y="3749040"/>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32" name="Text 30"/>
          <p:cNvSpPr/>
          <p:nvPr/>
        </p:nvSpPr>
        <p:spPr>
          <a:xfrm>
            <a:off x="731520" y="3749040"/>
            <a:ext cx="7680960" cy="777240"/>
          </a:xfrm>
          <a:prstGeom prst="rect">
            <a:avLst/>
          </a:prstGeom>
          <a:noFill/>
          <a:ln/>
        </p:spPr>
        <p:txBody>
          <a:bodyPr wrap="square" lIns="0" tIns="0" rIns="0" bIns="0" rtlCol="0" anchor="ctr"/>
          <a:lstStyle/>
          <a:p>
            <a:pPr algn="l" indent="0" marL="0">
              <a:buNone/>
            </a:pPr>
            <a:r>
              <a:rPr lang="en-US" sz="1350" b="1" dirty="0">
                <a:solidFill>
                  <a:srgbClr val="006666"/>
                </a:solidFill>
                <a:latin typeface="Cambria" pitchFamily="34" charset="0"/>
                <a:ea typeface="Cambria" pitchFamily="34" charset="-122"/>
                <a:cs typeface="Cambria" pitchFamily="34" charset="-120"/>
              </a:rPr>
              <a:t>Sáu chỉ số đều lệch không quá 1,6 điểm phần trăm giữa hai quy mô, mà mẫu thử nhỏ hơn 38 lần.</a:t>
            </a:r>
            <a:endParaRPr lang="en-US" sz="1350" dirty="0"/>
          </a:p>
        </p:txBody>
      </p:sp>
      <p:sp>
        <p:nvSpPr>
          <p:cNvPr id="33" name="Text 31"/>
          <p:cNvSpPr/>
          <p:nvPr/>
        </p:nvSpPr>
        <p:spPr>
          <a:xfrm>
            <a:off x="502920" y="4663440"/>
            <a:ext cx="8138160" cy="82296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Mẫu thử là 1.074 nhãn được đọc tay để chấm đúng sai, giữ vai trò của một bộ ngữ liệu vàng, khác ở chỗ chúng tôi không sửa nhãn nào. Trong 32.061 tên lấy được, 8.581 đến từ cây trợ năng và 23.480 từ OCR, tỉ lệ 1 : 2,7, là hệ quả trực tiếp của con số 12,6%.</a:t>
            </a:r>
            <a:endParaRPr lang="en-US" sz="1250" dirty="0"/>
          </a:p>
        </p:txBody>
      </p:sp>
      <p:sp>
        <p:nvSpPr>
          <p:cNvPr id="35" name="Shape 32"/>
          <p:cNvSpPr/>
          <p:nvPr/>
        </p:nvSpPr>
        <p:spPr>
          <a:xfrm>
            <a:off x="0" y="6620256"/>
            <a:ext cx="2743200" cy="237744"/>
          </a:xfrm>
          <a:prstGeom prst="rect">
            <a:avLst/>
          </a:prstGeom>
          <a:solidFill>
            <a:srgbClr val="191132"/>
          </a:solidFill>
          <a:ln/>
        </p:spPr>
      </p:sp>
      <p:sp>
        <p:nvSpPr>
          <p:cNvPr id="36" name="Shape 33"/>
          <p:cNvSpPr/>
          <p:nvPr/>
        </p:nvSpPr>
        <p:spPr>
          <a:xfrm>
            <a:off x="2743200" y="6620256"/>
            <a:ext cx="3383280" cy="237744"/>
          </a:xfrm>
          <a:prstGeom prst="rect">
            <a:avLst/>
          </a:prstGeom>
          <a:solidFill>
            <a:srgbClr val="25194B"/>
          </a:solidFill>
          <a:ln/>
        </p:spPr>
      </p:sp>
      <p:sp>
        <p:nvSpPr>
          <p:cNvPr id="37" name="Shape 34"/>
          <p:cNvSpPr/>
          <p:nvPr/>
        </p:nvSpPr>
        <p:spPr>
          <a:xfrm>
            <a:off x="6126480" y="6620256"/>
            <a:ext cx="1737360" cy="237744"/>
          </a:xfrm>
          <a:prstGeom prst="rect">
            <a:avLst/>
          </a:prstGeom>
          <a:solidFill>
            <a:srgbClr val="4F417A"/>
          </a:solidFill>
          <a:ln/>
        </p:spPr>
      </p:sp>
      <p:sp>
        <p:nvSpPr>
          <p:cNvPr id="38" name="Shape 35"/>
          <p:cNvSpPr/>
          <p:nvPr/>
        </p:nvSpPr>
        <p:spPr>
          <a:xfrm>
            <a:off x="7863840" y="6620256"/>
            <a:ext cx="1280160" cy="237744"/>
          </a:xfrm>
          <a:prstGeom prst="rect">
            <a:avLst/>
          </a:prstGeom>
          <a:solidFill>
            <a:srgbClr val="7A7099"/>
          </a:solidFill>
          <a:ln/>
        </p:spPr>
      </p:sp>
      <p:sp>
        <p:nvSpPr>
          <p:cNvPr id="39" name="Text 3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40" name="Text 3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41" name="Text 3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2" name="Text 3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Truy nguyên một tỉ số 3,2 lần</a:t>
            </a:r>
            <a:endParaRPr lang="en-US" sz="1900" dirty="0"/>
          </a:p>
        </p:txBody>
      </p:sp>
      <p:sp>
        <p:nvSpPr>
          <p:cNvPr id="4" name="Text 2"/>
          <p:cNvSpPr/>
          <p:nvPr/>
        </p:nvSpPr>
        <p:spPr>
          <a:xfrm>
            <a:off x="502920" y="822960"/>
            <a:ext cx="8138160" cy="502920"/>
          </a:xfrm>
          <a:prstGeom prst="rect">
            <a:avLst/>
          </a:prstGeom>
          <a:noFill/>
          <a:ln/>
        </p:spPr>
        <p:txBody>
          <a:bodyPr wrap="square" lIns="0" tIns="0" rIns="0" bIns="0" rtlCol="0" anchor="t"/>
          <a:lstStyle/>
          <a:p>
            <a:pPr algn="l" indent="0" marL="0">
              <a:lnSpc>
                <a:spcPct val="130000"/>
              </a:lnSpc>
              <a:buNone/>
            </a:pPr>
            <a:r>
              <a:rPr lang="en-US" sz="1350" dirty="0">
                <a:solidFill>
                  <a:srgbClr val="1A1A1A"/>
                </a:solidFill>
                <a:latin typeface="Cambria" pitchFamily="34" charset="0"/>
                <a:ea typeface="Cambria" pitchFamily="34" charset="-122"/>
                <a:cs typeface="Cambria" pitchFamily="34" charset="-120"/>
              </a:rPr>
              <a:t>Có giai đoạn chúng tôi đã định đảo thứ tự ưu tiên sang lấy tên từ OCR trước, vì đo thấy câu của người khớp với OCR gấp 3,2 lần khớp với nhãn trợ năng.</a:t>
            </a:r>
            <a:endParaRPr lang="en-US" sz="1350" dirty="0"/>
          </a:p>
        </p:txBody>
      </p:sp>
      <p:sp>
        <p:nvSpPr>
          <p:cNvPr id="5" name="Text 3"/>
          <p:cNvSpPr/>
          <p:nvPr/>
        </p:nvSpPr>
        <p:spPr>
          <a:xfrm>
            <a:off x="594360" y="1463040"/>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6" name="Text 4"/>
          <p:cNvSpPr/>
          <p:nvPr/>
        </p:nvSpPr>
        <p:spPr>
          <a:xfrm>
            <a:off x="822960" y="1463040"/>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Tỉ số ấy chỉ dựng trên 72 nhãn mà hai nguồn cho hai chuỗi khác nhau, bằng 72/1.074 = 6,7% mẫu thử</a:t>
            </a:r>
            <a:endParaRPr lang="en-US" sz="1300" dirty="0"/>
          </a:p>
        </p:txBody>
      </p:sp>
      <p:sp>
        <p:nvSpPr>
          <p:cNvPr id="7" name="Text 5"/>
          <p:cNvSpPr/>
          <p:nvPr/>
        </p:nvSpPr>
        <p:spPr>
          <a:xfrm>
            <a:off x="594360" y="2121408"/>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8" name="Text 6"/>
          <p:cNvSpPr/>
          <p:nvPr/>
        </p:nvSpPr>
        <p:spPr>
          <a:xfrm>
            <a:off x="822960" y="2121408"/>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Bỏ tiếp 32 nhãn mà chuỗi chữ vốn đã nằm sẵn trong chuỗi mục tiêu của tác vụ, vì ở đó cả hai bên cùng lặp lại chuỗi mục tiêu</a:t>
            </a:r>
            <a:endParaRPr lang="en-US" sz="1300" dirty="0"/>
          </a:p>
        </p:txBody>
      </p:sp>
      <p:sp>
        <p:nvSpPr>
          <p:cNvPr id="9" name="Text 7"/>
          <p:cNvSpPr/>
          <p:nvPr/>
        </p:nvSpPr>
        <p:spPr>
          <a:xfrm>
            <a:off x="594360" y="2779776"/>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0" name="Text 8"/>
          <p:cNvSpPr/>
          <p:nvPr/>
        </p:nvSpPr>
        <p:spPr>
          <a:xfrm>
            <a:off x="822960" y="2779776"/>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Còn 40 nhãn: câu của người khớp OCR ở 12 trường hợp, khớp nhãn trợ năng ở 3, và 25 trường hợp không dùng chuỗi của bên nào</a:t>
            </a:r>
            <a:endParaRPr lang="en-US" sz="1300" dirty="0"/>
          </a:p>
        </p:txBody>
      </p:sp>
      <p:sp>
        <p:nvSpPr>
          <p:cNvPr id="11" name="Text 9"/>
          <p:cNvSpPr/>
          <p:nvPr/>
        </p:nvSpPr>
        <p:spPr>
          <a:xfrm>
            <a:off x="594360" y="3438144"/>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2" name="Text 10"/>
          <p:cNvSpPr/>
          <p:nvPr/>
        </p:nvSpPr>
        <p:spPr>
          <a:xfrm>
            <a:off x="822960" y="3438144"/>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Trong 12 trường hợp nghiêng về OCR thì 11 là do nhãn trợ năng ở đó vốn là chuỗi không dùng được, đúng loại mà bộ lọc về sau loại bỏ</a:t>
            </a:r>
            <a:endParaRPr lang="en-US" sz="1300" dirty="0"/>
          </a:p>
        </p:txBody>
      </p:sp>
      <p:sp>
        <p:nvSpPr>
          <p:cNvPr id="13" name="Text 11"/>
          <p:cNvSpPr/>
          <p:nvPr/>
        </p:nvSpPr>
        <p:spPr>
          <a:xfrm>
            <a:off x="594360" y="4096512"/>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4" name="Text 12"/>
          <p:cNvSpPr/>
          <p:nvPr/>
        </p:nvSpPr>
        <p:spPr>
          <a:xfrm>
            <a:off x="822960" y="4096512"/>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Khi cả hai nguồn đều cho chuỗi dùng được thì chỉ còn 1 trường hợp nghiêng về OCR so với 3 nghiêng về nhãn trợ năng</a:t>
            </a:r>
            <a:endParaRPr lang="en-US" sz="1300" dirty="0"/>
          </a:p>
        </p:txBody>
      </p:sp>
      <p:sp>
        <p:nvSpPr>
          <p:cNvPr id="15" name="Shape 13"/>
          <p:cNvSpPr/>
          <p:nvPr/>
        </p:nvSpPr>
        <p:spPr>
          <a:xfrm>
            <a:off x="502920" y="4892040"/>
            <a:ext cx="813816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6" name="Text 14"/>
          <p:cNvSpPr/>
          <p:nvPr/>
        </p:nvSpPr>
        <p:spPr>
          <a:xfrm>
            <a:off x="731520" y="4892040"/>
            <a:ext cx="7680960" cy="868680"/>
          </a:xfrm>
          <a:prstGeom prst="rect">
            <a:avLst/>
          </a:prstGeom>
          <a:noFill/>
          <a:ln/>
        </p:spPr>
        <p:txBody>
          <a:bodyPr wrap="square" lIns="0" tIns="0" rIns="0" bIns="0" rtlCol="0" anchor="ctr"/>
          <a:lstStyle/>
          <a:p>
            <a:pPr algn="l" indent="0" marL="0">
              <a:lnSpc>
                <a:spcPct val="130000"/>
              </a:lnSpc>
              <a:buNone/>
            </a:pPr>
            <a:r>
              <a:rPr lang="en-US" sz="1350" b="1" dirty="0">
                <a:solidFill>
                  <a:srgbClr val="322164"/>
                </a:solidFill>
                <a:latin typeface="Cambria" pitchFamily="34" charset="0"/>
                <a:ea typeface="Cambria" pitchFamily="34" charset="-122"/>
                <a:cs typeface="Cambria" pitchFamily="34" charset="-120"/>
              </a:rPr>
              <a:t>Ưu thế của OCR là ưu thế của việc lọc chuỗi không dùng được, không phải của thứ tự ưu tiên. Chúng tôi giữ nguyên thứ tự và thêm bộ lọc nhãn trợ năng.</a:t>
            </a:r>
            <a:endParaRPr lang="en-US" sz="1350" dirty="0"/>
          </a:p>
        </p:txBody>
      </p:sp>
      <p:sp>
        <p:nvSpPr>
          <p:cNvPr id="18" name="Shape 15"/>
          <p:cNvSpPr/>
          <p:nvPr/>
        </p:nvSpPr>
        <p:spPr>
          <a:xfrm>
            <a:off x="0" y="6620256"/>
            <a:ext cx="2743200" cy="237744"/>
          </a:xfrm>
          <a:prstGeom prst="rect">
            <a:avLst/>
          </a:prstGeom>
          <a:solidFill>
            <a:srgbClr val="191132"/>
          </a:solidFill>
          <a:ln/>
        </p:spPr>
      </p:sp>
      <p:sp>
        <p:nvSpPr>
          <p:cNvPr id="19" name="Shape 16"/>
          <p:cNvSpPr/>
          <p:nvPr/>
        </p:nvSpPr>
        <p:spPr>
          <a:xfrm>
            <a:off x="2743200" y="6620256"/>
            <a:ext cx="3383280" cy="237744"/>
          </a:xfrm>
          <a:prstGeom prst="rect">
            <a:avLst/>
          </a:prstGeom>
          <a:solidFill>
            <a:srgbClr val="25194B"/>
          </a:solidFill>
          <a:ln/>
        </p:spPr>
      </p:sp>
      <p:sp>
        <p:nvSpPr>
          <p:cNvPr id="20" name="Shape 17"/>
          <p:cNvSpPr/>
          <p:nvPr/>
        </p:nvSpPr>
        <p:spPr>
          <a:xfrm>
            <a:off x="6126480" y="6620256"/>
            <a:ext cx="1737360" cy="237744"/>
          </a:xfrm>
          <a:prstGeom prst="rect">
            <a:avLst/>
          </a:prstGeom>
          <a:solidFill>
            <a:srgbClr val="4F417A"/>
          </a:solidFill>
          <a:ln/>
        </p:spPr>
      </p:sp>
      <p:sp>
        <p:nvSpPr>
          <p:cNvPr id="21" name="Shape 18"/>
          <p:cNvSpPr/>
          <p:nvPr/>
        </p:nvSpPr>
        <p:spPr>
          <a:xfrm>
            <a:off x="7863840" y="6620256"/>
            <a:ext cx="1280160" cy="237744"/>
          </a:xfrm>
          <a:prstGeom prst="rect">
            <a:avLst/>
          </a:prstGeom>
          <a:solidFill>
            <a:srgbClr val="7A7099"/>
          </a:solidFill>
          <a:ln/>
        </p:spPr>
      </p:sp>
      <p:sp>
        <p:nvSpPr>
          <p:cNvPr id="22"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3"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4"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5"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Bốn nhánh dữ liệu và chín bất biến cấu trúc</a:t>
            </a:r>
            <a:endParaRPr lang="en-US" sz="1900" dirty="0"/>
          </a:p>
        </p:txBody>
      </p:sp>
      <p:sp>
        <p:nvSpPr>
          <p:cNvPr id="4" name="Text 2"/>
          <p:cNvSpPr/>
          <p:nvPr/>
        </p:nvSpPr>
        <p:spPr>
          <a:xfrm>
            <a:off x="502920" y="804672"/>
            <a:ext cx="8138160" cy="365760"/>
          </a:xfrm>
          <a:prstGeom prst="rect">
            <a:avLst/>
          </a:prstGeom>
          <a:noFill/>
          <a:ln/>
        </p:spPr>
        <p:txBody>
          <a:bodyPr wrap="square" lIns="0" tIns="0" rIns="0" bIns="0" rtlCol="0" anchor="t"/>
          <a:lstStyle/>
          <a:p>
            <a:pPr algn="l" indent="0" marL="0">
              <a:buNone/>
            </a:pPr>
            <a:r>
              <a:rPr lang="en-US" sz="1300" dirty="0">
                <a:solidFill>
                  <a:srgbClr val="1A1A1A"/>
                </a:solidFill>
                <a:latin typeface="Cambria" pitchFamily="34" charset="0"/>
                <a:ea typeface="Cambria" pitchFamily="34" charset="-122"/>
                <a:cs typeface="Cambria" pitchFamily="34" charset="-120"/>
              </a:rPr>
              <a:t>Từ cùng một đầu vào, bốn tập chỉ khác nhau ở đầu ra mong đợi, tức phần văn bản mà mô hình phải học để sinh ra.</a:t>
            </a:r>
            <a:endParaRPr lang="en-US" sz="1300" dirty="0"/>
          </a:p>
        </p:txBody>
      </p:sp>
      <p:sp>
        <p:nvSpPr>
          <p:cNvPr id="5" name="Shape 3"/>
          <p:cNvSpPr/>
          <p:nvPr/>
        </p:nvSpPr>
        <p:spPr>
          <a:xfrm>
            <a:off x="502920" y="1234440"/>
            <a:ext cx="8138160" cy="365760"/>
          </a:xfrm>
          <a:prstGeom prst="rect">
            <a:avLst/>
          </a:prstGeom>
          <a:solidFill>
            <a:srgbClr val="322164"/>
          </a:solidFill>
          <a:ln/>
        </p:spPr>
      </p:sp>
      <p:sp>
        <p:nvSpPr>
          <p:cNvPr id="6" name="Text 4"/>
          <p:cNvSpPr/>
          <p:nvPr/>
        </p:nvSpPr>
        <p:spPr>
          <a:xfrm>
            <a:off x="502920" y="1234440"/>
            <a:ext cx="146304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Nhánh</a:t>
            </a:r>
            <a:endParaRPr lang="en-US" sz="1250" dirty="0"/>
          </a:p>
        </p:txBody>
      </p:sp>
      <p:sp>
        <p:nvSpPr>
          <p:cNvPr id="7" name="Text 5"/>
          <p:cNvSpPr/>
          <p:nvPr/>
        </p:nvSpPr>
        <p:spPr>
          <a:xfrm>
            <a:off x="1965960" y="1234440"/>
            <a:ext cx="667512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Đầu ra mong đợi</a:t>
            </a:r>
            <a:endParaRPr lang="en-US" sz="1250" dirty="0"/>
          </a:p>
        </p:txBody>
      </p:sp>
      <p:sp>
        <p:nvSpPr>
          <p:cNvPr id="8" name="Text 6"/>
          <p:cNvSpPr/>
          <p:nvPr/>
        </p:nvSpPr>
        <p:spPr>
          <a:xfrm>
            <a:off x="502920" y="1600200"/>
            <a:ext cx="1463040" cy="50292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s1</a:t>
            </a:r>
            <a:endParaRPr lang="en-US" sz="1250" dirty="0"/>
          </a:p>
        </p:txBody>
      </p:sp>
      <p:sp>
        <p:nvSpPr>
          <p:cNvPr id="9" name="Text 7"/>
          <p:cNvSpPr/>
          <p:nvPr/>
        </p:nvSpPr>
        <p:spPr>
          <a:xfrm>
            <a:off x="1965960" y="1600200"/>
            <a:ext cx="6675120" cy="50292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chỉ gồm câu chỉ dẫn; đây là nhánh đối chứng, ứng với cách huấn luyện thông thường</a:t>
            </a:r>
            <a:endParaRPr lang="en-US" sz="1250" dirty="0"/>
          </a:p>
        </p:txBody>
      </p:sp>
      <p:sp>
        <p:nvSpPr>
          <p:cNvPr id="10" name="Shape 8"/>
          <p:cNvSpPr/>
          <p:nvPr/>
        </p:nvSpPr>
        <p:spPr>
          <a:xfrm>
            <a:off x="502920" y="2103120"/>
            <a:ext cx="8138160" cy="0"/>
          </a:xfrm>
          <a:prstGeom prst="line">
            <a:avLst/>
          </a:prstGeom>
          <a:noFill/>
          <a:ln w="12700">
            <a:solidFill>
              <a:srgbClr val="9A94AE"/>
            </a:solidFill>
            <a:prstDash val="solid"/>
          </a:ln>
        </p:spPr>
      </p:sp>
      <p:sp>
        <p:nvSpPr>
          <p:cNvPr id="11" name="Text 9"/>
          <p:cNvSpPr/>
          <p:nvPr/>
        </p:nvSpPr>
        <p:spPr>
          <a:xfrm>
            <a:off x="502920" y="2103120"/>
            <a:ext cx="1463040" cy="50292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s2</a:t>
            </a:r>
            <a:endParaRPr lang="en-US" sz="1250" dirty="0"/>
          </a:p>
        </p:txBody>
      </p:sp>
      <p:sp>
        <p:nvSpPr>
          <p:cNvPr id="12" name="Text 10"/>
          <p:cNvSpPr/>
          <p:nvPr/>
        </p:nvSpPr>
        <p:spPr>
          <a:xfrm>
            <a:off x="1965960" y="2103120"/>
            <a:ext cx="6675120" cy="50292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dòng nhãn mô tả bốn ô đặt trước câu chỉ dẫn; đây là nhánh mà bộ ngữ liệu phục vụ</a:t>
            </a:r>
            <a:endParaRPr lang="en-US" sz="1250" dirty="0"/>
          </a:p>
        </p:txBody>
      </p:sp>
      <p:sp>
        <p:nvSpPr>
          <p:cNvPr id="13" name="Shape 11"/>
          <p:cNvSpPr/>
          <p:nvPr/>
        </p:nvSpPr>
        <p:spPr>
          <a:xfrm>
            <a:off x="502920" y="2606040"/>
            <a:ext cx="8138160" cy="0"/>
          </a:xfrm>
          <a:prstGeom prst="line">
            <a:avLst/>
          </a:prstGeom>
          <a:noFill/>
          <a:ln w="12700">
            <a:solidFill>
              <a:srgbClr val="9A94AE"/>
            </a:solidFill>
            <a:prstDash val="solid"/>
          </a:ln>
        </p:spPr>
      </p:sp>
      <p:sp>
        <p:nvSpPr>
          <p:cNvPr id="14" name="Text 12"/>
          <p:cNvSpPr/>
          <p:nvPr/>
        </p:nvSpPr>
        <p:spPr>
          <a:xfrm>
            <a:off x="502920" y="2606040"/>
            <a:ext cx="1463040" cy="50292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s2r</a:t>
            </a:r>
            <a:endParaRPr lang="en-US" sz="1250" dirty="0"/>
          </a:p>
        </p:txBody>
      </p:sp>
      <p:sp>
        <p:nvSpPr>
          <p:cNvPr id="15" name="Text 13"/>
          <p:cNvSpPr/>
          <p:nvPr/>
        </p:nvSpPr>
        <p:spPr>
          <a:xfrm>
            <a:off x="1965960" y="2606040"/>
            <a:ext cx="6675120" cy="50292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nhãn giả lấy từ màn hình khác, toạ độ ngẫu nhiên, chỉ giữ độ dài xấp xỉ nhãn thật</a:t>
            </a:r>
            <a:endParaRPr lang="en-US" sz="1250" dirty="0"/>
          </a:p>
        </p:txBody>
      </p:sp>
      <p:sp>
        <p:nvSpPr>
          <p:cNvPr id="16" name="Shape 14"/>
          <p:cNvSpPr/>
          <p:nvPr/>
        </p:nvSpPr>
        <p:spPr>
          <a:xfrm>
            <a:off x="502920" y="3108960"/>
            <a:ext cx="8138160" cy="0"/>
          </a:xfrm>
          <a:prstGeom prst="line">
            <a:avLst/>
          </a:prstGeom>
          <a:noFill/>
          <a:ln w="12700">
            <a:solidFill>
              <a:srgbClr val="9A94AE"/>
            </a:solidFill>
            <a:prstDash val="solid"/>
          </a:ln>
        </p:spPr>
      </p:sp>
      <p:sp>
        <p:nvSpPr>
          <p:cNvPr id="17" name="Text 15"/>
          <p:cNvSpPr/>
          <p:nvPr/>
        </p:nvSpPr>
        <p:spPr>
          <a:xfrm>
            <a:off x="502920" y="3108960"/>
            <a:ext cx="1463040" cy="41148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s2_nopoint</a:t>
            </a:r>
            <a:endParaRPr lang="en-US" sz="1250" dirty="0"/>
          </a:p>
        </p:txBody>
      </p:sp>
      <p:sp>
        <p:nvSpPr>
          <p:cNvPr id="18" name="Text 16"/>
          <p:cNvSpPr/>
          <p:nvPr/>
        </p:nvSpPr>
        <p:spPr>
          <a:xfrm>
            <a:off x="1965960" y="3108960"/>
            <a:ext cx="6675120" cy="41148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như s2 nhưng bỏ ô toạ độ</a:t>
            </a:r>
            <a:endParaRPr lang="en-US" sz="1250" dirty="0"/>
          </a:p>
        </p:txBody>
      </p:sp>
      <p:sp>
        <p:nvSpPr>
          <p:cNvPr id="19" name="Text 17"/>
          <p:cNvSpPr/>
          <p:nvPr/>
        </p:nvSpPr>
        <p:spPr>
          <a:xfrm>
            <a:off x="502920" y="3566160"/>
            <a:ext cx="81381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Nhánh s2r tồn tại để loại một cách giải thích thay thế: lợi ích của s2 chỉ đến từ việc đầu ra dài thêm. Bản ghép đầu khớp theo ký tự nên cho trung vị lệch 0 và trông như đã đạt, nhưng đo lại theo token thì chỉ 54% số cặp nằm trong hai token, biên độ trải từ −17 tới +14. Hàm mất mát tính trên token, nên phải làm lại theo token; sau đó 99,9% số cặp nằm trong hai token.</a:t>
            </a:r>
            <a:endParaRPr lang="en-US" sz="1250" dirty="0"/>
          </a:p>
        </p:txBody>
      </p:sp>
      <p:sp>
        <p:nvSpPr>
          <p:cNvPr id="20" name="Shape 18"/>
          <p:cNvSpPr/>
          <p:nvPr/>
        </p:nvSpPr>
        <p:spPr>
          <a:xfrm>
            <a:off x="502920" y="461772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21" name="Text 19"/>
          <p:cNvSpPr/>
          <p:nvPr/>
        </p:nvSpPr>
        <p:spPr>
          <a:xfrm>
            <a:off x="731520" y="4617720"/>
            <a:ext cx="7680960" cy="1097280"/>
          </a:xfrm>
          <a:prstGeom prst="rect">
            <a:avLst/>
          </a:prstGeom>
          <a:noFill/>
          <a:ln/>
        </p:spPr>
        <p:txBody>
          <a:bodyPr wrap="square" lIns="0" tIns="0" rIns="0" bIns="0" rtlCol="0" anchor="ctr"/>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Bất biến quan trọng nhất: câu được chấm giống hệt nhau từng byte ở cả bốn nhánh, trên toàn bộ 64.567 mẫu, nên mọi chênh lệch quan sát được về sau chỉ có thể quy về phần đứng trước câu.</a:t>
            </a:r>
            <a:endParaRPr lang="en-US" sz="1300" dirty="0"/>
          </a:p>
        </p:txBody>
      </p:sp>
      <p:sp>
        <p:nvSpPr>
          <p:cNvPr id="23" name="Shape 20"/>
          <p:cNvSpPr/>
          <p:nvPr/>
        </p:nvSpPr>
        <p:spPr>
          <a:xfrm>
            <a:off x="0" y="6620256"/>
            <a:ext cx="2743200" cy="237744"/>
          </a:xfrm>
          <a:prstGeom prst="rect">
            <a:avLst/>
          </a:prstGeom>
          <a:solidFill>
            <a:srgbClr val="191132"/>
          </a:solidFill>
          <a:ln/>
        </p:spPr>
      </p:sp>
      <p:sp>
        <p:nvSpPr>
          <p:cNvPr id="24" name="Shape 21"/>
          <p:cNvSpPr/>
          <p:nvPr/>
        </p:nvSpPr>
        <p:spPr>
          <a:xfrm>
            <a:off x="2743200" y="6620256"/>
            <a:ext cx="3383280" cy="237744"/>
          </a:xfrm>
          <a:prstGeom prst="rect">
            <a:avLst/>
          </a:prstGeom>
          <a:solidFill>
            <a:srgbClr val="25194B"/>
          </a:solidFill>
          <a:ln/>
        </p:spPr>
      </p:sp>
      <p:sp>
        <p:nvSpPr>
          <p:cNvPr id="25" name="Shape 22"/>
          <p:cNvSpPr/>
          <p:nvPr/>
        </p:nvSpPr>
        <p:spPr>
          <a:xfrm>
            <a:off x="6126480" y="6620256"/>
            <a:ext cx="1737360" cy="237744"/>
          </a:xfrm>
          <a:prstGeom prst="rect">
            <a:avLst/>
          </a:prstGeom>
          <a:solidFill>
            <a:srgbClr val="4F417A"/>
          </a:solidFill>
          <a:ln/>
        </p:spPr>
      </p:sp>
      <p:sp>
        <p:nvSpPr>
          <p:cNvPr id="26" name="Shape 23"/>
          <p:cNvSpPr/>
          <p:nvPr/>
        </p:nvSpPr>
        <p:spPr>
          <a:xfrm>
            <a:off x="7863840" y="6620256"/>
            <a:ext cx="1280160" cy="237744"/>
          </a:xfrm>
          <a:prstGeom prst="rect">
            <a:avLst/>
          </a:prstGeom>
          <a:solidFill>
            <a:srgbClr val="7A7099"/>
          </a:solidFill>
          <a:ln/>
        </p:spPr>
      </p:sp>
      <p:sp>
        <p:nvSpPr>
          <p:cNvPr id="27" name="Text 2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8" name="Text 2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9" name="Text 2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0" name="Text 2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3</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Bốn lỗi bắt được lúc dựng dữ liệu</a:t>
            </a:r>
            <a:endParaRPr lang="en-US" sz="1900" dirty="0"/>
          </a:p>
        </p:txBody>
      </p:sp>
      <p:sp>
        <p:nvSpPr>
          <p:cNvPr id="4" name="Text 2"/>
          <p:cNvSpPr/>
          <p:nvPr/>
        </p:nvSpPr>
        <p:spPr>
          <a:xfrm>
            <a:off x="502920" y="822960"/>
            <a:ext cx="8138160" cy="320040"/>
          </a:xfrm>
          <a:prstGeom prst="rect">
            <a:avLst/>
          </a:prstGeom>
          <a:noFill/>
          <a:ln/>
        </p:spPr>
        <p:txBody>
          <a:bodyPr wrap="square" lIns="0" tIns="0" rIns="0" bIns="0" rtlCol="0" anchor="t"/>
          <a:lstStyle/>
          <a:p>
            <a:pPr algn="l" indent="0" marL="0">
              <a:buNone/>
            </a:pPr>
            <a:r>
              <a:rPr lang="en-US" sz="1350" i="1" dirty="0">
                <a:solidFill>
                  <a:srgbClr val="5A5A66"/>
                </a:solidFill>
                <a:latin typeface="Cambria" pitchFamily="34" charset="0"/>
                <a:ea typeface="Cambria" pitchFamily="34" charset="-122"/>
                <a:cs typeface="Cambria" pitchFamily="34" charset="-120"/>
              </a:rPr>
              <a:t>Cả bốn đều xảy ra trong lúc mọi khâu vẫn chạy hết bình thường, chỉ có con số là sai.</a:t>
            </a:r>
            <a:endParaRPr lang="en-US" sz="1350" dirty="0"/>
          </a:p>
        </p:txBody>
      </p:sp>
      <p:sp>
        <p:nvSpPr>
          <p:cNvPr id="5" name="Shape 3"/>
          <p:cNvSpPr/>
          <p:nvPr/>
        </p:nvSpPr>
        <p:spPr>
          <a:xfrm>
            <a:off x="502920" y="1234440"/>
            <a:ext cx="8138160" cy="384048"/>
          </a:xfrm>
          <a:prstGeom prst="rect">
            <a:avLst/>
          </a:prstGeom>
          <a:solidFill>
            <a:srgbClr val="322164"/>
          </a:solidFill>
          <a:ln/>
        </p:spPr>
      </p:sp>
      <p:sp>
        <p:nvSpPr>
          <p:cNvPr id="6" name="Text 4"/>
          <p:cNvSpPr/>
          <p:nvPr/>
        </p:nvSpPr>
        <p:spPr>
          <a:xfrm>
            <a:off x="502920" y="1234440"/>
            <a:ext cx="402336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Lỗi</a:t>
            </a:r>
            <a:endParaRPr lang="en-US" sz="1250" dirty="0"/>
          </a:p>
        </p:txBody>
      </p:sp>
      <p:sp>
        <p:nvSpPr>
          <p:cNvPr id="7" name="Text 5"/>
          <p:cNvSpPr/>
          <p:nvPr/>
        </p:nvSpPr>
        <p:spPr>
          <a:xfrm>
            <a:off x="4526280" y="1234440"/>
            <a:ext cx="41148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Kiểm định nào bắt được</a:t>
            </a:r>
            <a:endParaRPr lang="en-US" sz="1250" dirty="0"/>
          </a:p>
        </p:txBody>
      </p:sp>
      <p:sp>
        <p:nvSpPr>
          <p:cNvPr id="8" name="Text 6"/>
          <p:cNvSpPr/>
          <p:nvPr/>
        </p:nvSpPr>
        <p:spPr>
          <a:xfrm>
            <a:off x="502920" y="1618488"/>
            <a:ext cx="4023360" cy="86868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Cây trợ năng lồng nhau đẩy chỉ số trùng tên lên 30%, trong khi giá trị thật trên mẫu thử là 7,0%</a:t>
            </a:r>
            <a:endParaRPr lang="en-US" sz="1200" dirty="0"/>
          </a:p>
        </p:txBody>
      </p:sp>
      <p:sp>
        <p:nvSpPr>
          <p:cNvPr id="9" name="Text 7"/>
          <p:cNvSpPr/>
          <p:nvPr/>
        </p:nvSpPr>
        <p:spPr>
          <a:xfrm>
            <a:off x="4526280" y="1618488"/>
            <a:ext cx="4114800" cy="86868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đọc tay mẫu thử: cùng một nút bị đếm nhiều lần ở nhiều tầng của cây</a:t>
            </a:r>
            <a:endParaRPr lang="en-US" sz="1200" dirty="0"/>
          </a:p>
        </p:txBody>
      </p:sp>
      <p:sp>
        <p:nvSpPr>
          <p:cNvPr id="10" name="Shape 8"/>
          <p:cNvSpPr/>
          <p:nvPr/>
        </p:nvSpPr>
        <p:spPr>
          <a:xfrm>
            <a:off x="502920" y="2487168"/>
            <a:ext cx="8138160" cy="0"/>
          </a:xfrm>
          <a:prstGeom prst="line">
            <a:avLst/>
          </a:prstGeom>
          <a:noFill/>
          <a:ln w="12700">
            <a:solidFill>
              <a:srgbClr val="9A94AE"/>
            </a:solidFill>
            <a:prstDash val="solid"/>
          </a:ln>
        </p:spPr>
      </p:sp>
      <p:sp>
        <p:nvSpPr>
          <p:cNvPr id="11" name="Text 9"/>
          <p:cNvSpPr/>
          <p:nvPr/>
        </p:nvSpPr>
        <p:spPr>
          <a:xfrm>
            <a:off x="502920" y="2487168"/>
            <a:ext cx="402336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Tên lớp Android android.widget.TextView lọt vào ô tên phần tử</a:t>
            </a:r>
            <a:endParaRPr lang="en-US" sz="1200" dirty="0"/>
          </a:p>
        </p:txBody>
      </p:sp>
      <p:sp>
        <p:nvSpPr>
          <p:cNvPr id="12" name="Text 10"/>
          <p:cNvSpPr/>
          <p:nvPr/>
        </p:nvSpPr>
        <p:spPr>
          <a:xfrm>
            <a:off x="4526280" y="2487168"/>
            <a:ext cx="4114800" cy="77724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đọc tay mẫu thử: chuỗi hợp lệ, đúng cú pháp, nhưng không hiển thị trên màn</a:t>
            </a:r>
            <a:endParaRPr lang="en-US" sz="1200" dirty="0"/>
          </a:p>
        </p:txBody>
      </p:sp>
      <p:sp>
        <p:nvSpPr>
          <p:cNvPr id="13" name="Shape 11"/>
          <p:cNvSpPr/>
          <p:nvPr/>
        </p:nvSpPr>
        <p:spPr>
          <a:xfrm>
            <a:off x="502920" y="3264408"/>
            <a:ext cx="8138160" cy="0"/>
          </a:xfrm>
          <a:prstGeom prst="line">
            <a:avLst/>
          </a:prstGeom>
          <a:noFill/>
          <a:ln w="12700">
            <a:solidFill>
              <a:srgbClr val="9A94AE"/>
            </a:solidFill>
            <a:prstDash val="solid"/>
          </a:ln>
        </p:spPr>
      </p:sp>
      <p:sp>
        <p:nvSpPr>
          <p:cNvPr id="14" name="Text 12"/>
          <p:cNvSpPr/>
          <p:nvPr/>
        </p:nvSpPr>
        <p:spPr>
          <a:xfrm>
            <a:off x="502920" y="3264408"/>
            <a:ext cx="4023360" cy="7315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Ô dấu hiệu bản đầu chỉ giải quyết được 7,3% số trường hợp</a:t>
            </a:r>
            <a:endParaRPr lang="en-US" sz="1200" dirty="0"/>
          </a:p>
        </p:txBody>
      </p:sp>
      <p:sp>
        <p:nvSpPr>
          <p:cNvPr id="15" name="Text 13"/>
          <p:cNvSpPr/>
          <p:nvPr/>
        </p:nvSpPr>
        <p:spPr>
          <a:xfrm>
            <a:off x="4526280" y="3264408"/>
            <a:ext cx="4114800" cy="7315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áp bảng phân loại bốn nhóm lên mẫu thử 1.074 nhãn</a:t>
            </a:r>
            <a:endParaRPr lang="en-US" sz="1200" dirty="0"/>
          </a:p>
        </p:txBody>
      </p:sp>
      <p:sp>
        <p:nvSpPr>
          <p:cNvPr id="16" name="Shape 14"/>
          <p:cNvSpPr/>
          <p:nvPr/>
        </p:nvSpPr>
        <p:spPr>
          <a:xfrm>
            <a:off x="502920" y="3995928"/>
            <a:ext cx="8138160" cy="0"/>
          </a:xfrm>
          <a:prstGeom prst="line">
            <a:avLst/>
          </a:prstGeom>
          <a:noFill/>
          <a:ln w="12700">
            <a:solidFill>
              <a:srgbClr val="9A94AE"/>
            </a:solidFill>
            <a:prstDash val="solid"/>
          </a:ln>
        </p:spPr>
      </p:sp>
      <p:sp>
        <p:nvSpPr>
          <p:cNvPr id="17" name="Text 15"/>
          <p:cNvSpPr/>
          <p:nvPr/>
        </p:nvSpPr>
        <p:spPr>
          <a:xfrm>
            <a:off x="502920" y="3995928"/>
            <a:ext cx="4023360" cy="7315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Nhãn giả của s2r khớp độ dài theo ký tự, lệch tới ±17 token</a:t>
            </a:r>
            <a:endParaRPr lang="en-US" sz="1200" dirty="0"/>
          </a:p>
        </p:txBody>
      </p:sp>
      <p:sp>
        <p:nvSpPr>
          <p:cNvPr id="18" name="Text 16"/>
          <p:cNvSpPr/>
          <p:nvPr/>
        </p:nvSpPr>
        <p:spPr>
          <a:xfrm>
            <a:off x="4526280" y="3995928"/>
            <a:ext cx="4114800" cy="7315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đo lại độ dài theo token, đúng đơn vị mà hàm mất mát dùng</a:t>
            </a:r>
            <a:endParaRPr lang="en-US" sz="1200" dirty="0"/>
          </a:p>
        </p:txBody>
      </p:sp>
      <p:sp>
        <p:nvSpPr>
          <p:cNvPr id="19" name="Shape 17"/>
          <p:cNvSpPr/>
          <p:nvPr/>
        </p:nvSpPr>
        <p:spPr>
          <a:xfrm>
            <a:off x="502920" y="5029200"/>
            <a:ext cx="8138160" cy="731520"/>
          </a:xfrm>
          <a:prstGeom prst="roundRect">
            <a:avLst>
              <a:gd name="adj" fmla="val 7500"/>
            </a:avLst>
          </a:prstGeom>
          <a:solidFill>
            <a:srgbClr val="E9E8EC"/>
          </a:solidFill>
          <a:ln/>
          <a:effectLst>
            <a:outerShdw sx="100000" sy="100000" kx="0" ky="0" algn="bl" rotWithShape="0" blurRad="63500" dist="31750" dir="2700000">
              <a:srgbClr val="8C8C99">
                <a:alpha val="45000"/>
              </a:srgbClr>
            </a:outerShdw>
          </a:effectLst>
        </p:spPr>
      </p:sp>
      <p:sp>
        <p:nvSpPr>
          <p:cNvPr id="20" name="Text 18"/>
          <p:cNvSpPr/>
          <p:nvPr/>
        </p:nvSpPr>
        <p:spPr>
          <a:xfrm>
            <a:off x="731520" y="5029200"/>
            <a:ext cx="7680960" cy="731520"/>
          </a:xfrm>
          <a:prstGeom prst="rect">
            <a:avLst/>
          </a:prstGeom>
          <a:noFill/>
          <a:ln/>
        </p:spPr>
        <p:txBody>
          <a:bodyPr wrap="square" lIns="0" tIns="0" rIns="0" bIns="0" rtlCol="0" anchor="ctr"/>
          <a:lstStyle/>
          <a:p>
            <a:pPr algn="l" indent="0" marL="0">
              <a:buNone/>
            </a:pPr>
            <a:r>
              <a:rPr lang="en-US" sz="1350" b="1" dirty="0">
                <a:solidFill>
                  <a:srgbClr val="B22222"/>
                </a:solidFill>
                <a:latin typeface="Cambria" pitchFamily="34" charset="0"/>
                <a:ea typeface="Cambria" pitchFamily="34" charset="-122"/>
                <a:cs typeface="Cambria" pitchFamily="34" charset="-120"/>
              </a:rPr>
              <a:t>Thiếu những kiểm định ấy thì bộ ngữ liệu vẫn dựng xong, nhưng sai lệch sẽ còn nguyên trong giá trị của từng ô.</a:t>
            </a:r>
            <a:endParaRPr lang="en-US" sz="1350" dirty="0"/>
          </a:p>
        </p:txBody>
      </p:sp>
      <p:sp>
        <p:nvSpPr>
          <p:cNvPr id="22" name="Shape 19"/>
          <p:cNvSpPr/>
          <p:nvPr/>
        </p:nvSpPr>
        <p:spPr>
          <a:xfrm>
            <a:off x="0" y="6620256"/>
            <a:ext cx="2743200" cy="237744"/>
          </a:xfrm>
          <a:prstGeom prst="rect">
            <a:avLst/>
          </a:prstGeom>
          <a:solidFill>
            <a:srgbClr val="191132"/>
          </a:solidFill>
          <a:ln/>
        </p:spPr>
      </p:sp>
      <p:sp>
        <p:nvSpPr>
          <p:cNvPr id="23" name="Shape 20"/>
          <p:cNvSpPr/>
          <p:nvPr/>
        </p:nvSpPr>
        <p:spPr>
          <a:xfrm>
            <a:off x="2743200" y="6620256"/>
            <a:ext cx="3383280" cy="237744"/>
          </a:xfrm>
          <a:prstGeom prst="rect">
            <a:avLst/>
          </a:prstGeom>
          <a:solidFill>
            <a:srgbClr val="25194B"/>
          </a:solidFill>
          <a:ln/>
        </p:spPr>
      </p:sp>
      <p:sp>
        <p:nvSpPr>
          <p:cNvPr id="24" name="Shape 21"/>
          <p:cNvSpPr/>
          <p:nvPr/>
        </p:nvSpPr>
        <p:spPr>
          <a:xfrm>
            <a:off x="6126480" y="6620256"/>
            <a:ext cx="1737360" cy="237744"/>
          </a:xfrm>
          <a:prstGeom prst="rect">
            <a:avLst/>
          </a:prstGeom>
          <a:solidFill>
            <a:srgbClr val="4F417A"/>
          </a:solidFill>
          <a:ln/>
        </p:spPr>
      </p:sp>
      <p:sp>
        <p:nvSpPr>
          <p:cNvPr id="25" name="Shape 22"/>
          <p:cNvSpPr/>
          <p:nvPr/>
        </p:nvSpPr>
        <p:spPr>
          <a:xfrm>
            <a:off x="7863840" y="6620256"/>
            <a:ext cx="1280160" cy="237744"/>
          </a:xfrm>
          <a:prstGeom prst="rect">
            <a:avLst/>
          </a:prstGeom>
          <a:solidFill>
            <a:srgbClr val="7A7099"/>
          </a:solidFill>
          <a:ln/>
        </p:spPr>
      </p:sp>
      <p:sp>
        <p:nvSpPr>
          <p:cNvPr id="26" name="Text 2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7" name="Text 2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8" name="Text 2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9" name="Text 2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Chuỗi mục tiêu bị cắt ngay từ bản phát hành gốc</a:t>
            </a:r>
            <a:endParaRPr lang="en-US" sz="1900" dirty="0"/>
          </a:p>
        </p:txBody>
      </p:sp>
      <p:sp>
        <p:nvSpPr>
          <p:cNvPr id="4" name="Text 2"/>
          <p:cNvSpPr/>
          <p:nvPr/>
        </p:nvSpPr>
        <p:spPr>
          <a:xfrm>
            <a:off x="502920" y="868680"/>
            <a:ext cx="81381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Chuỗi mục tiêu là câu mô tả mục tiêu chung của cả tác vụ, chẳng hạn ...look for Calvin Kle</a:t>
            </a:r>
            <a:endParaRPr lang="en-US" sz="1350" dirty="0"/>
          </a:p>
        </p:txBody>
      </p:sp>
      <p:sp>
        <p:nvSpPr>
          <p:cNvPr id="5" name="Shape 3"/>
          <p:cNvSpPr/>
          <p:nvPr/>
        </p:nvSpPr>
        <p:spPr>
          <a:xfrm>
            <a:off x="502920" y="141732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6" name="Text 4"/>
          <p:cNvSpPr/>
          <p:nvPr/>
        </p:nvSpPr>
        <p:spPr>
          <a:xfrm>
            <a:off x="685800" y="1417320"/>
            <a:ext cx="1371600" cy="914400"/>
          </a:xfrm>
          <a:prstGeom prst="rect">
            <a:avLst/>
          </a:prstGeom>
          <a:noFill/>
          <a:ln/>
        </p:spPr>
        <p:txBody>
          <a:bodyPr wrap="square" lIns="0" tIns="0" rIns="0" bIns="0" rtlCol="0" anchor="ctr"/>
          <a:lstStyle/>
          <a:p>
            <a:pPr algn="ctr" indent="0" marL="0">
              <a:buNone/>
            </a:pPr>
            <a:r>
              <a:rPr lang="en-US" sz="2200" b="1" dirty="0">
                <a:solidFill>
                  <a:srgbClr val="B22222"/>
                </a:solidFill>
                <a:latin typeface="Cambria" pitchFamily="34" charset="0"/>
                <a:ea typeface="Cambria" pitchFamily="34" charset="-122"/>
                <a:cs typeface="Cambria" pitchFamily="34" charset="-120"/>
              </a:rPr>
              <a:t>99,4%</a:t>
            </a:r>
            <a:endParaRPr lang="en-US" sz="2200" dirty="0"/>
          </a:p>
        </p:txBody>
      </p:sp>
      <p:sp>
        <p:nvSpPr>
          <p:cNvPr id="7" name="Text 5"/>
          <p:cNvSpPr/>
          <p:nvPr/>
        </p:nvSpPr>
        <p:spPr>
          <a:xfrm>
            <a:off x="2148840" y="1417320"/>
            <a:ext cx="603504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trong 1.424 mục tiêu khác nhau của tập kiểm tra không kết thúc bằng một dấu câu</a:t>
            </a:r>
            <a:endParaRPr lang="en-US" sz="1300" dirty="0"/>
          </a:p>
        </p:txBody>
      </p:sp>
      <p:sp>
        <p:nvSpPr>
          <p:cNvPr id="8" name="Shape 6"/>
          <p:cNvSpPr/>
          <p:nvPr/>
        </p:nvSpPr>
        <p:spPr>
          <a:xfrm>
            <a:off x="502920" y="246888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685800" y="2468880"/>
            <a:ext cx="1371600" cy="914400"/>
          </a:xfrm>
          <a:prstGeom prst="rect">
            <a:avLst/>
          </a:prstGeom>
          <a:noFill/>
          <a:ln/>
        </p:spPr>
        <p:txBody>
          <a:bodyPr wrap="square" lIns="0" tIns="0" rIns="0" bIns="0" rtlCol="0" anchor="ctr"/>
          <a:lstStyle/>
          <a:p>
            <a:pPr algn="ctr" indent="0" marL="0">
              <a:buNone/>
            </a:pPr>
            <a:r>
              <a:rPr lang="en-US" sz="2200" b="1" dirty="0">
                <a:solidFill>
                  <a:srgbClr val="B22222"/>
                </a:solidFill>
                <a:latin typeface="Cambria" pitchFamily="34" charset="0"/>
                <a:ea typeface="Cambria" pitchFamily="34" charset="-122"/>
                <a:cs typeface="Cambria" pitchFamily="34" charset="-120"/>
              </a:rPr>
              <a:t>71,3%</a:t>
            </a:r>
            <a:endParaRPr lang="en-US" sz="2200" dirty="0"/>
          </a:p>
        </p:txBody>
      </p:sp>
      <p:sp>
        <p:nvSpPr>
          <p:cNvPr id="10" name="Text 8"/>
          <p:cNvSpPr/>
          <p:nvPr/>
        </p:nvSpPr>
        <p:spPr>
          <a:xfrm>
            <a:off x="2148840" y="2468880"/>
            <a:ext cx="603504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là chặn dưới của tỉ lệ bị cắt ngay giữa một từ, nên chữ cuối chỉ còn là một mẩu không thành từ</a:t>
            </a:r>
            <a:endParaRPr lang="en-US" sz="1300" dirty="0"/>
          </a:p>
        </p:txBody>
      </p:sp>
      <p:sp>
        <p:nvSpPr>
          <p:cNvPr id="11" name="Text 9"/>
          <p:cNvSpPr/>
          <p:nvPr/>
        </p:nvSpPr>
        <p:spPr>
          <a:xfrm>
            <a:off x="502920" y="3611880"/>
            <a:ext cx="8138160" cy="640080"/>
          </a:xfrm>
          <a:prstGeom prst="rect">
            <a:avLst/>
          </a:prstGeom>
          <a:noFill/>
          <a:ln/>
        </p:spPr>
        <p:txBody>
          <a:bodyPr wrap="square" lIns="0" tIns="0" rIns="0" bIns="0" rtlCol="0" anchor="t"/>
          <a:lstStyle/>
          <a:p>
            <a:pPr algn="l" indent="0" marL="0">
              <a:lnSpc>
                <a:spcPct val="130000"/>
              </a:lnSpc>
              <a:buNone/>
            </a:pPr>
            <a:r>
              <a:rPr lang="en-US" sz="1250" i="1" dirty="0">
                <a:solidFill>
                  <a:srgbClr val="5A5A66"/>
                </a:solidFill>
                <a:latin typeface="Cambria" pitchFamily="34" charset="0"/>
                <a:ea typeface="Cambria" pitchFamily="34" charset="-122"/>
                <a:cs typeface="Cambria" pitchFamily="34" charset="-120"/>
              </a:rPr>
              <a:t>Chúng tôi nói “ít nhất” vì quy tắc đếm chỉ nhận những từ cuối không hề xuất hiện ở vị trí nào khác trong ngữ liệu, nên nó bỏ sót mọi trường hợp mà phần bị cắt tình cờ trùng một từ có thật.</a:t>
            </a:r>
            <a:endParaRPr lang="en-US" sz="1250" dirty="0"/>
          </a:p>
        </p:txBody>
      </p:sp>
      <p:sp>
        <p:nvSpPr>
          <p:cNvPr id="12" name="Shape 10"/>
          <p:cNvSpPr/>
          <p:nvPr/>
        </p:nvSpPr>
        <p:spPr>
          <a:xfrm>
            <a:off x="502920" y="434340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731520" y="4343400"/>
            <a:ext cx="7680960" cy="1325880"/>
          </a:xfrm>
          <a:prstGeom prst="rect">
            <a:avLst/>
          </a:prstGeom>
          <a:noFill/>
          <a:ln/>
        </p:spPr>
        <p:txBody>
          <a:bodyPr wrap="square" lIns="0" tIns="0" rIns="0" bIns="0" rtlCol="0" anchor="ctr"/>
          <a:lstStyle/>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Phần thiếu mất ngay từ bản phát hành gốc chứ không mất trong khâu xử lý của chúng tôi, nên chúng tôi không khôi phục được. Bốn nhánh dữ liệu đều dùng chung đúng chuỗi đã bị cắt ấy, nên phần bị cắt là như nhau ở cả bốn và không tạo ra chênh lệch nào giữa chúng.</a:t>
            </a:r>
            <a:endParaRPr lang="en-US" sz="1350" dirty="0"/>
          </a:p>
        </p:txBody>
      </p:sp>
      <p:sp>
        <p:nvSpPr>
          <p:cNvPr id="15" name="Shape 12"/>
          <p:cNvSpPr/>
          <p:nvPr/>
        </p:nvSpPr>
        <p:spPr>
          <a:xfrm>
            <a:off x="0" y="6620256"/>
            <a:ext cx="2743200" cy="237744"/>
          </a:xfrm>
          <a:prstGeom prst="rect">
            <a:avLst/>
          </a:prstGeom>
          <a:solidFill>
            <a:srgbClr val="191132"/>
          </a:solidFill>
          <a:ln/>
        </p:spPr>
      </p:sp>
      <p:sp>
        <p:nvSpPr>
          <p:cNvPr id="16" name="Shape 13"/>
          <p:cNvSpPr/>
          <p:nvPr/>
        </p:nvSpPr>
        <p:spPr>
          <a:xfrm>
            <a:off x="2743200" y="6620256"/>
            <a:ext cx="338328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0"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Nguồn, giấy phép và dữ liệu người dùng lẫn trong ảnh</a:t>
            </a:r>
            <a:endParaRPr lang="en-US" sz="1900" dirty="0"/>
          </a:p>
        </p:txBody>
      </p:sp>
      <p:sp>
        <p:nvSpPr>
          <p:cNvPr id="4" name="Text 2"/>
          <p:cNvSpPr/>
          <p:nvPr/>
        </p:nvSpPr>
        <p:spPr>
          <a:xfrm>
            <a:off x="594360" y="914400"/>
            <a:ext cx="201168" cy="77724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5" name="Text 3"/>
          <p:cNvSpPr/>
          <p:nvPr/>
        </p:nvSpPr>
        <p:spPr>
          <a:xfrm>
            <a:off x="822960" y="914400"/>
            <a:ext cx="7726680" cy="749808"/>
          </a:xfrm>
          <a:prstGeom prst="rect">
            <a:avLst/>
          </a:prstGeom>
          <a:noFill/>
          <a:ln/>
        </p:spPr>
        <p:txBody>
          <a:bodyPr wrap="square" lIns="0" tIns="0" rIns="0" bIns="0" rtlCol="0" anchor="t"/>
          <a:lstStyle/>
          <a:p>
            <a:pPr algn="l" indent="0" marL="0">
              <a:lnSpc>
                <a:spcPct val="132000"/>
              </a:lnSpc>
              <a:buNone/>
            </a:pPr>
            <a:r>
              <a:rPr lang="en-US" sz="1350" dirty="0">
                <a:solidFill>
                  <a:srgbClr val="1A1A1A"/>
                </a:solidFill>
                <a:latin typeface="Cambria" pitchFamily="34" charset="0"/>
                <a:ea typeface="Cambria" pitchFamily="34" charset="-122"/>
                <a:cs typeface="Cambria" pitchFamily="34" charset="-120"/>
              </a:rPr>
              <a:t>AndroidControl phát hành theo giấy phép CC0, và chúng tôi không thu thập màn hình mới, nên không phát sinh vấn đề riêng tư ngoài những gì bản gốc đã xử lý</a:t>
            </a:r>
            <a:endParaRPr lang="en-US" sz="1350" dirty="0"/>
          </a:p>
        </p:txBody>
      </p:sp>
      <p:sp>
        <p:nvSpPr>
          <p:cNvPr id="6" name="Text 4"/>
          <p:cNvSpPr/>
          <p:nvPr/>
        </p:nvSpPr>
        <p:spPr>
          <a:xfrm>
            <a:off x="594360" y="1691640"/>
            <a:ext cx="201168" cy="77724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7" name="Text 5"/>
          <p:cNvSpPr/>
          <p:nvPr/>
        </p:nvSpPr>
        <p:spPr>
          <a:xfrm>
            <a:off x="822960" y="1691640"/>
            <a:ext cx="7726680" cy="749808"/>
          </a:xfrm>
          <a:prstGeom prst="rect">
            <a:avLst/>
          </a:prstGeom>
          <a:noFill/>
          <a:ln/>
        </p:spPr>
        <p:txBody>
          <a:bodyPr wrap="square" lIns="0" tIns="0" rIns="0" bIns="0" rtlCol="0" anchor="t"/>
          <a:lstStyle/>
          <a:p>
            <a:pPr algn="l" indent="0" marL="0">
              <a:lnSpc>
                <a:spcPct val="132000"/>
              </a:lnSpc>
              <a:buNone/>
            </a:pPr>
            <a:r>
              <a:rPr lang="en-US" sz="1350" dirty="0">
                <a:solidFill>
                  <a:srgbClr val="1A1A1A"/>
                </a:solidFill>
                <a:latin typeface="Cambria" pitchFamily="34" charset="0"/>
                <a:ea typeface="Cambria" pitchFamily="34" charset="-122"/>
                <a:cs typeface="Cambria" pitchFamily="34" charset="-120"/>
              </a:rPr>
              <a:t>Ảnh được ghi trong lúc người thật đang thao tác, nên chứa cả nội dung do người đó nhập vào, chẳng hạn địa chỉ thư điện tử hay tên riêng</a:t>
            </a:r>
            <a:endParaRPr lang="en-US" sz="1350" dirty="0"/>
          </a:p>
        </p:txBody>
      </p:sp>
      <p:sp>
        <p:nvSpPr>
          <p:cNvPr id="8" name="Text 6"/>
          <p:cNvSpPr/>
          <p:nvPr/>
        </p:nvSpPr>
        <p:spPr>
          <a:xfrm>
            <a:off x="594360" y="2468880"/>
            <a:ext cx="201168" cy="77724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9" name="Text 7"/>
          <p:cNvSpPr/>
          <p:nvPr/>
        </p:nvSpPr>
        <p:spPr>
          <a:xfrm>
            <a:off x="822960" y="2468880"/>
            <a:ext cx="7726680" cy="749808"/>
          </a:xfrm>
          <a:prstGeom prst="rect">
            <a:avLst/>
          </a:prstGeom>
          <a:noFill/>
          <a:ln/>
        </p:spPr>
        <p:txBody>
          <a:bodyPr wrap="square" lIns="0" tIns="0" rIns="0" bIns="0" rtlCol="0" anchor="t"/>
          <a:lstStyle/>
          <a:p>
            <a:pPr algn="l" indent="0" marL="0">
              <a:lnSpc>
                <a:spcPct val="132000"/>
              </a:lnSpc>
              <a:buNone/>
            </a:pPr>
            <a:r>
              <a:rPr lang="en-US" sz="1350" dirty="0">
                <a:solidFill>
                  <a:srgbClr val="1A1A1A"/>
                </a:solidFill>
                <a:latin typeface="Cambria" pitchFamily="34" charset="0"/>
                <a:ea typeface="Cambria" pitchFamily="34" charset="-122"/>
                <a:cs typeface="Cambria" pitchFamily="34" charset="-120"/>
              </a:rPr>
              <a:t>Những chuỗi ấy đi qua OCR, mà OCR là nguồn của cả ô tên lẫn ô dấu hiệu, nên chúng có thể đi thẳng vào nhãn</a:t>
            </a:r>
            <a:endParaRPr lang="en-US" sz="1350" dirty="0"/>
          </a:p>
        </p:txBody>
      </p:sp>
      <p:sp>
        <p:nvSpPr>
          <p:cNvPr id="10" name="Text 8"/>
          <p:cNvSpPr/>
          <p:nvPr/>
        </p:nvSpPr>
        <p:spPr>
          <a:xfrm>
            <a:off x="594360" y="3246120"/>
            <a:ext cx="201168" cy="77724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1" name="Text 9"/>
          <p:cNvSpPr/>
          <p:nvPr/>
        </p:nvSpPr>
        <p:spPr>
          <a:xfrm>
            <a:off x="822960" y="3246120"/>
            <a:ext cx="7726680" cy="749808"/>
          </a:xfrm>
          <a:prstGeom prst="rect">
            <a:avLst/>
          </a:prstGeom>
          <a:noFill/>
          <a:ln/>
        </p:spPr>
        <p:txBody>
          <a:bodyPr wrap="square" lIns="0" tIns="0" rIns="0" bIns="0" rtlCol="0" anchor="t"/>
          <a:lstStyle/>
          <a:p>
            <a:pPr algn="l" indent="0" marL="0">
              <a:lnSpc>
                <a:spcPct val="132000"/>
              </a:lnSpc>
              <a:buNone/>
            </a:pPr>
            <a:r>
              <a:rPr lang="en-US" sz="1350" dirty="0">
                <a:solidFill>
                  <a:srgbClr val="1A1A1A"/>
                </a:solidFill>
                <a:latin typeface="Cambria" pitchFamily="34" charset="0"/>
                <a:ea typeface="Cambria" pitchFamily="34" charset="-122"/>
                <a:cs typeface="Cambria" pitchFamily="34" charset="-120"/>
              </a:rPr>
              <a:t>Chúng tôi giữ nguyên theo bản gốc thay vì tự lọc, vì mọi quy tắc lọc tự động ở đây đều sẽ xoá nhầm một phần chữ hợp lệ trên giao diện</a:t>
            </a:r>
            <a:endParaRPr lang="en-US" sz="1350" dirty="0"/>
          </a:p>
        </p:txBody>
      </p:sp>
      <p:sp>
        <p:nvSpPr>
          <p:cNvPr id="12" name="Shape 10"/>
          <p:cNvSpPr/>
          <p:nvPr/>
        </p:nvSpPr>
        <p:spPr>
          <a:xfrm>
            <a:off x="502920" y="4206240"/>
            <a:ext cx="8138160" cy="1463040"/>
          </a:xfrm>
          <a:prstGeom prst="roundRect">
            <a:avLst>
              <a:gd name="adj" fmla="val 3750"/>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731520" y="4206240"/>
            <a:ext cx="7680960" cy="1463040"/>
          </a:xfrm>
          <a:prstGeom prst="rect">
            <a:avLst/>
          </a:prstGeom>
          <a:noFill/>
          <a:ln/>
        </p:spPr>
        <p:txBody>
          <a:bodyPr wrap="square" lIns="0" tIns="0" rIns="0" bIns="0" rtlCol="0" anchor="ctr"/>
          <a:lstStyle/>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Phần tử không mang nhãn trợ năng vừa là khó khăn kỹ thuật của bài này, vừa là rào cản có thật với người dùng trình đọc màn hình. Trình đọc màn hình chỉ đọc được đúng 12,6% phần tử có nhãn, mà đây cũng là nhóm khó tự phát hiện mình đang bị chỉ sai nhất.</a:t>
            </a:r>
            <a:endParaRPr lang="en-US" sz="1350" dirty="0"/>
          </a:p>
        </p:txBody>
      </p:sp>
      <p:sp>
        <p:nvSpPr>
          <p:cNvPr id="15" name="Shape 12"/>
          <p:cNvSpPr/>
          <p:nvPr/>
        </p:nvSpPr>
        <p:spPr>
          <a:xfrm>
            <a:off x="0" y="6620256"/>
            <a:ext cx="2743200" cy="237744"/>
          </a:xfrm>
          <a:prstGeom prst="rect">
            <a:avLst/>
          </a:prstGeom>
          <a:solidFill>
            <a:srgbClr val="191132"/>
          </a:solidFill>
          <a:ln/>
        </p:spPr>
      </p:sp>
      <p:sp>
        <p:nvSpPr>
          <p:cNvPr id="16" name="Shape 13"/>
          <p:cNvSpPr/>
          <p:nvPr/>
        </p:nvSpPr>
        <p:spPr>
          <a:xfrm>
            <a:off x="2743200" y="6620256"/>
            <a:ext cx="338328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0"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Ba kiểm định nội bộ còn lại</a:t>
            </a:r>
            <a:endParaRPr lang="en-US" sz="1900" dirty="0"/>
          </a:p>
        </p:txBody>
      </p:sp>
      <p:sp>
        <p:nvSpPr>
          <p:cNvPr id="4" name="Shape 2"/>
          <p:cNvSpPr/>
          <p:nvPr/>
        </p:nvSpPr>
        <p:spPr>
          <a:xfrm>
            <a:off x="502920" y="86868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978408"/>
            <a:ext cx="76809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Lối tắt theo độ dài bị loại trừ ngay từ cách dựng</a:t>
            </a:r>
            <a:endParaRPr lang="en-US" sz="1400" dirty="0"/>
          </a:p>
        </p:txBody>
      </p:sp>
      <p:sp>
        <p:nvSpPr>
          <p:cNvPr id="6" name="Text 4"/>
          <p:cNvSpPr/>
          <p:nvPr/>
        </p:nvSpPr>
        <p:spPr>
          <a:xfrm>
            <a:off x="731520" y="1325880"/>
            <a:ext cx="7680960" cy="91440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Nếu nhãn thật luôn dài hơn nhãn của phần tử cạnh tranh thì mô hình có thể tách hai bên chỉ bằng cách đếm độ dài, không cần đọc nội dung và không cần nhìn ảnh. Quy tắc “cứ chọn vế dài hơn” đoán đúng 43,2%, thấp hơn cả mức ngẫu nhiên 50%.</a:t>
            </a:r>
            <a:endParaRPr lang="en-US" sz="1250" dirty="0"/>
          </a:p>
        </p:txBody>
      </p:sp>
      <p:sp>
        <p:nvSpPr>
          <p:cNvPr id="7" name="Shape 5"/>
          <p:cNvSpPr/>
          <p:nvPr/>
        </p:nvSpPr>
        <p:spPr>
          <a:xfrm>
            <a:off x="502920" y="2441448"/>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31520" y="2551176"/>
            <a:ext cx="76809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Quy trình không suy giảm khi tăng quy mô</a:t>
            </a:r>
            <a:endParaRPr lang="en-US" sz="1400" dirty="0"/>
          </a:p>
        </p:txBody>
      </p:sp>
      <p:sp>
        <p:nvSpPr>
          <p:cNvPr id="9" name="Text 7"/>
          <p:cNvSpPr/>
          <p:nvPr/>
        </p:nvSpPr>
        <p:spPr>
          <a:xfrm>
            <a:off x="731520" y="2898648"/>
            <a:ext cx="7680960" cy="91440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Sáu chỉ số chất lượng lệch không quá 1,6 điểm phần trăm giữa toàn bộ ngữ liệu và mẫu thử nhỏ hơn 38 lần.</a:t>
            </a:r>
            <a:endParaRPr lang="en-US" sz="1250" dirty="0"/>
          </a:p>
        </p:txBody>
      </p:sp>
      <p:sp>
        <p:nvSpPr>
          <p:cNvPr id="10" name="Shape 8"/>
          <p:cNvSpPr/>
          <p:nvPr/>
        </p:nvSpPr>
        <p:spPr>
          <a:xfrm>
            <a:off x="502920" y="4014216"/>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31520" y="4123944"/>
            <a:ext cx="76809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Đổi khuôn mẫu nhãn sang tiếng Anh chỉ là thay đổi từ vựng</a:t>
            </a:r>
            <a:endParaRPr lang="en-US" sz="1400" dirty="0"/>
          </a:p>
        </p:txBody>
      </p:sp>
      <p:sp>
        <p:nvSpPr>
          <p:cNvPr id="12" name="Text 10"/>
          <p:cNvSpPr/>
          <p:nvPr/>
        </p:nvSpPr>
        <p:spPr>
          <a:xfrm>
            <a:off x="731520" y="4471416"/>
            <a:ext cx="7680960" cy="91440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So tổng số phép tính của một lượt huấn luyện trên hai bản: hai con số lệch nhau 0,03%. Tổng số phép tính tỉ lệ với độ dài chuỗi, nên độ dài chuỗi không đổi.</a:t>
            </a:r>
            <a:endParaRPr lang="en-US" sz="1250" dirty="0"/>
          </a:p>
        </p:txBody>
      </p:sp>
      <p:sp>
        <p:nvSpPr>
          <p:cNvPr id="14" name="Shape 11"/>
          <p:cNvSpPr/>
          <p:nvPr/>
        </p:nvSpPr>
        <p:spPr>
          <a:xfrm>
            <a:off x="0" y="6620256"/>
            <a:ext cx="2743200" cy="237744"/>
          </a:xfrm>
          <a:prstGeom prst="rect">
            <a:avLst/>
          </a:prstGeom>
          <a:solidFill>
            <a:srgbClr val="191132"/>
          </a:solidFill>
          <a:ln/>
        </p:spPr>
      </p:sp>
      <p:sp>
        <p:nvSpPr>
          <p:cNvPr id="15" name="Shape 12"/>
          <p:cNvSpPr/>
          <p:nvPr/>
        </p:nvSpPr>
        <p:spPr>
          <a:xfrm>
            <a:off x="2743200" y="6620256"/>
            <a:ext cx="3383280" cy="237744"/>
          </a:xfrm>
          <a:prstGeom prst="rect">
            <a:avLst/>
          </a:prstGeom>
          <a:solidFill>
            <a:srgbClr val="25194B"/>
          </a:solidFill>
          <a:ln/>
        </p:spPr>
      </p:sp>
      <p:sp>
        <p:nvSpPr>
          <p:cNvPr id="16" name="Shape 13"/>
          <p:cNvSpPr/>
          <p:nvPr/>
        </p:nvSpPr>
        <p:spPr>
          <a:xfrm>
            <a:off x="6126480" y="6620256"/>
            <a:ext cx="1737360" cy="237744"/>
          </a:xfrm>
          <a:prstGeom prst="rect">
            <a:avLst/>
          </a:prstGeom>
          <a:solidFill>
            <a:srgbClr val="4F417A"/>
          </a:solidFill>
          <a:ln/>
        </p:spPr>
      </p:sp>
      <p:sp>
        <p:nvSpPr>
          <p:cNvPr id="17" name="Shape 14"/>
          <p:cNvSpPr/>
          <p:nvPr/>
        </p:nvSpPr>
        <p:spPr>
          <a:xfrm>
            <a:off x="7863840" y="6620256"/>
            <a:ext cx="1280160" cy="237744"/>
          </a:xfrm>
          <a:prstGeom prst="rect">
            <a:avLst/>
          </a:prstGeom>
          <a:solidFill>
            <a:srgbClr val="7A7099"/>
          </a:solidFill>
          <a:ln/>
        </p:spPr>
      </p:sp>
      <p:sp>
        <p:nvSpPr>
          <p:cNvPr id="18"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19"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0"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Phần nằm ngoài phạm vi bài này</a:t>
            </a:r>
            <a:endParaRPr lang="en-US" sz="1900" dirty="0"/>
          </a:p>
        </p:txBody>
      </p:sp>
      <p:sp>
        <p:nvSpPr>
          <p:cNvPr id="4" name="Text 2"/>
          <p:cNvSpPr/>
          <p:nvPr/>
        </p:nvSpPr>
        <p:spPr>
          <a:xfrm>
            <a:off x="502920" y="868680"/>
            <a:ext cx="8138160" cy="457200"/>
          </a:xfrm>
          <a:prstGeom prst="rect">
            <a:avLst/>
          </a:prstGeom>
          <a:noFill/>
          <a:ln/>
        </p:spPr>
        <p:txBody>
          <a:bodyPr wrap="square" lIns="0" tIns="0" rIns="0" bIns="0" rtlCol="0" anchor="t"/>
          <a:lstStyle/>
          <a:p>
            <a:pPr algn="l" indent="0" marL="0">
              <a:lnSpc>
                <a:spcPct val="130000"/>
              </a:lnSpc>
              <a:buNone/>
            </a:pPr>
            <a:r>
              <a:rPr lang="en-US" sz="1350" dirty="0">
                <a:solidFill>
                  <a:srgbClr val="1A1A1A"/>
                </a:solidFill>
                <a:latin typeface="Cambria" pitchFamily="34" charset="0"/>
                <a:ea typeface="Cambria" pitchFamily="34" charset="-122"/>
                <a:cs typeface="Cambria" pitchFamily="34" charset="-120"/>
              </a:rPr>
              <a:t>Kết quả huấn luyện và đánh giá mô hình trên bộ ngữ liệu này thuộc một bài đồng hành của cùng nhóm tác giả, hiện đang bình duyệt.</a:t>
            </a:r>
            <a:endParaRPr lang="en-US" sz="1350" dirty="0"/>
          </a:p>
        </p:txBody>
      </p:sp>
      <p:sp>
        <p:nvSpPr>
          <p:cNvPr id="5" name="Shape 3"/>
          <p:cNvSpPr/>
          <p:nvPr/>
        </p:nvSpPr>
        <p:spPr>
          <a:xfrm>
            <a:off x="502920" y="1463040"/>
            <a:ext cx="8138160" cy="1737360"/>
          </a:xfrm>
          <a:prstGeom prst="roundRect">
            <a:avLst>
              <a:gd name="adj" fmla="val 3158"/>
            </a:avLst>
          </a:prstGeom>
          <a:solidFill>
            <a:srgbClr val="E9E8EC"/>
          </a:solidFill>
          <a:ln/>
          <a:effectLst>
            <a:outerShdw sx="100000" sy="100000" kx="0" ky="0" algn="bl" rotWithShape="0" blurRad="63500" dist="31750" dir="2700000">
              <a:srgbClr val="8C8C99">
                <a:alpha val="45000"/>
              </a:srgbClr>
            </a:outerShdw>
          </a:effectLst>
        </p:spPr>
      </p:sp>
      <p:sp>
        <p:nvSpPr>
          <p:cNvPr id="6" name="Text 4"/>
          <p:cNvSpPr/>
          <p:nvPr/>
        </p:nvSpPr>
        <p:spPr>
          <a:xfrm>
            <a:off x="731520" y="1572768"/>
            <a:ext cx="768096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Một quan sát ở bài đó liên quan trực tiếp tới giả định mà ô dấu hiệu phân biệt dựa vào</a:t>
            </a:r>
            <a:endParaRPr lang="en-US" sz="1350" dirty="0"/>
          </a:p>
        </p:txBody>
      </p:sp>
      <p:sp>
        <p:nvSpPr>
          <p:cNvPr id="7" name="Text 5"/>
          <p:cNvSpPr/>
          <p:nvPr/>
        </p:nvSpPr>
        <p:spPr>
          <a:xfrm>
            <a:off x="731520" y="1965960"/>
            <a:ext cx="7680960" cy="685800"/>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Khi mô hình gọi sai tên phần tử, 76,5% số trường hợp có khoảng cách từ phần tử nó thực sự mô tả tới phần tử cần chạm nằm ngoài dải 80 đến 350 px đã dùng để dựng cặp quy chiếu.</a:t>
            </a:r>
            <a:endParaRPr lang="en-US" sz="1300" dirty="0"/>
          </a:p>
        </p:txBody>
      </p:sp>
      <p:sp>
        <p:nvSpPr>
          <p:cNvPr id="8" name="Text 6"/>
          <p:cNvSpPr/>
          <p:nvPr/>
        </p:nvSpPr>
        <p:spPr>
          <a:xfrm>
            <a:off x="731520" y="2651760"/>
            <a:ext cx="7680960" cy="502920"/>
          </a:xfrm>
          <a:prstGeom prst="rect">
            <a:avLst/>
          </a:prstGeom>
          <a:noFill/>
          <a:ln/>
        </p:spPr>
        <p:txBody>
          <a:bodyPr wrap="square" lIns="0" tIns="0" rIns="0" bIns="0" rtlCol="0" anchor="t"/>
          <a:lstStyle/>
          <a:p>
            <a:pPr algn="l" indent="0" marL="0">
              <a:lnSpc>
                <a:spcPct val="130000"/>
              </a:lnSpc>
              <a:buNone/>
            </a:pPr>
            <a:r>
              <a:rPr lang="en-US" sz="1300" b="1" dirty="0">
                <a:solidFill>
                  <a:srgbClr val="B22222"/>
                </a:solidFill>
                <a:latin typeface="Cambria" pitchFamily="34" charset="0"/>
                <a:ea typeface="Cambria" pitchFamily="34" charset="-122"/>
                <a:cs typeface="Cambria" pitchFamily="34" charset="-120"/>
              </a:rPr>
              <a:t>Với bài toán quy chiếu trên ngữ liệu này, phần khó không nằm ở việc phân biệt hai phần tử giống nhau, mà nằm ở chỗ nhiều phần tử không có sẵn chuỗi chữ nào để gọi tên.</a:t>
            </a:r>
            <a:endParaRPr lang="en-US" sz="1300" dirty="0"/>
          </a:p>
        </p:txBody>
      </p:sp>
      <p:sp>
        <p:nvSpPr>
          <p:cNvPr id="9" name="Text 7"/>
          <p:cNvSpPr/>
          <p:nvPr/>
        </p:nvSpPr>
        <p:spPr>
          <a:xfrm>
            <a:off x="502920" y="3429000"/>
            <a:ext cx="81381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Cặp quy chiếu và dải 80 đến 350 px</a:t>
            </a:r>
            <a:endParaRPr lang="en-US" sz="1350" dirty="0"/>
          </a:p>
        </p:txBody>
      </p:sp>
      <p:sp>
        <p:nvSpPr>
          <p:cNvPr id="10" name="Text 8"/>
          <p:cNvSpPr/>
          <p:nvPr/>
        </p:nvSpPr>
        <p:spPr>
          <a:xfrm>
            <a:off x="594360" y="3794760"/>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1" name="Text 9"/>
          <p:cNvSpPr/>
          <p:nvPr/>
        </p:nvSpPr>
        <p:spPr>
          <a:xfrm>
            <a:off x="822960" y="3794760"/>
            <a:ext cx="7726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Một bước có cặp quy chiếu khi nhãn của phần tử cần chạm và nhãn của phần tử cạnh tranh gần nó nhất khác nhau ở cả ô tên lẫn ô toạ độ, và khoảng cách nằm trong dải 80 đến 350 px</a:t>
            </a:r>
            <a:endParaRPr lang="en-US" sz="1250" dirty="0"/>
          </a:p>
        </p:txBody>
      </p:sp>
      <p:sp>
        <p:nvSpPr>
          <p:cNvPr id="12" name="Text 10"/>
          <p:cNvSpPr/>
          <p:nvPr/>
        </p:nvSpPr>
        <p:spPr>
          <a:xfrm>
            <a:off x="594360" y="4416552"/>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822960" y="4416552"/>
            <a:ext cx="7726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Mốc dưới đến từ khâu chấm điểm ở bài đồng hành, nơi hai phần tử cách nhau dưới 63 px trên màn rộng 1.080 px bị gộp làm một; 80 px là con số đó cộng một khoảng biên an toàn</a:t>
            </a:r>
            <a:endParaRPr lang="en-US" sz="1250" dirty="0"/>
          </a:p>
        </p:txBody>
      </p:sp>
      <p:sp>
        <p:nvSpPr>
          <p:cNvPr id="14" name="Text 12"/>
          <p:cNvSpPr/>
          <p:nvPr/>
        </p:nvSpPr>
        <p:spPr>
          <a:xfrm>
            <a:off x="594360" y="5038344"/>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5" name="Text 13"/>
          <p:cNvSpPr/>
          <p:nvPr/>
        </p:nvSpPr>
        <p:spPr>
          <a:xfrm>
            <a:off x="822960" y="5038344"/>
            <a:ext cx="7726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Mốc trên là bán kính tối đa của mỏ neo chữ. Đo trên 41.099 nhãn, 55,6% số bước có cặp quy chiếu</a:t>
            </a:r>
            <a:endParaRPr lang="en-US" sz="1250" dirty="0"/>
          </a:p>
        </p:txBody>
      </p:sp>
      <p:sp>
        <p:nvSpPr>
          <p:cNvPr id="17" name="Shape 14"/>
          <p:cNvSpPr/>
          <p:nvPr/>
        </p:nvSpPr>
        <p:spPr>
          <a:xfrm>
            <a:off x="0" y="6620256"/>
            <a:ext cx="2743200" cy="237744"/>
          </a:xfrm>
          <a:prstGeom prst="rect">
            <a:avLst/>
          </a:prstGeom>
          <a:solidFill>
            <a:srgbClr val="191132"/>
          </a:solidFill>
          <a:ln/>
        </p:spPr>
      </p:sp>
      <p:sp>
        <p:nvSpPr>
          <p:cNvPr id="18" name="Shape 15"/>
          <p:cNvSpPr/>
          <p:nvPr/>
        </p:nvSpPr>
        <p:spPr>
          <a:xfrm>
            <a:off x="2743200" y="6620256"/>
            <a:ext cx="3383280" cy="237744"/>
          </a:xfrm>
          <a:prstGeom prst="rect">
            <a:avLst/>
          </a:prstGeom>
          <a:solidFill>
            <a:srgbClr val="25194B"/>
          </a:solidFill>
          <a:ln/>
        </p:spPr>
      </p:sp>
      <p:sp>
        <p:nvSpPr>
          <p:cNvPr id="19" name="Shape 16"/>
          <p:cNvSpPr/>
          <p:nvPr/>
        </p:nvSpPr>
        <p:spPr>
          <a:xfrm>
            <a:off x="6126480" y="6620256"/>
            <a:ext cx="1737360" cy="237744"/>
          </a:xfrm>
          <a:prstGeom prst="rect">
            <a:avLst/>
          </a:prstGeom>
          <a:solidFill>
            <a:srgbClr val="4F417A"/>
          </a:solidFill>
          <a:ln/>
        </p:spPr>
      </p:sp>
      <p:sp>
        <p:nvSpPr>
          <p:cNvPr id="20" name="Shape 17"/>
          <p:cNvSpPr/>
          <p:nvPr/>
        </p:nvSpPr>
        <p:spPr>
          <a:xfrm>
            <a:off x="7863840" y="6620256"/>
            <a:ext cx="1280160" cy="237744"/>
          </a:xfrm>
          <a:prstGeom prst="rect">
            <a:avLst/>
          </a:prstGeom>
          <a:solidFill>
            <a:srgbClr val="7A7099"/>
          </a:solidFill>
          <a:ln/>
        </p:spPr>
      </p:sp>
      <p:sp>
        <p:nvSpPr>
          <p:cNvPr id="21" name="Text 1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2" name="Text 1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3" name="Text 2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Bốn nhãn thật, đặt cạnh câu của người chú thích</a:t>
            </a:r>
            <a:endParaRPr lang="en-US" sz="1900" dirty="0"/>
          </a:p>
        </p:txBody>
      </p:sp>
      <p:sp>
        <p:nvSpPr>
          <p:cNvPr id="4" name="Shape 2"/>
          <p:cNvSpPr/>
          <p:nvPr/>
        </p:nvSpPr>
        <p:spPr>
          <a:xfrm>
            <a:off x="502920" y="868680"/>
            <a:ext cx="8138160" cy="384048"/>
          </a:xfrm>
          <a:prstGeom prst="rect">
            <a:avLst/>
          </a:prstGeom>
          <a:solidFill>
            <a:srgbClr val="322164"/>
          </a:solidFill>
          <a:ln/>
        </p:spPr>
      </p:sp>
      <p:sp>
        <p:nvSpPr>
          <p:cNvPr id="5" name="Text 3"/>
          <p:cNvSpPr/>
          <p:nvPr/>
        </p:nvSpPr>
        <p:spPr>
          <a:xfrm>
            <a:off x="502920" y="868680"/>
            <a:ext cx="50292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Nhãn tự động</a:t>
            </a:r>
            <a:endParaRPr lang="en-US" sz="1250" dirty="0"/>
          </a:p>
        </p:txBody>
      </p:sp>
      <p:sp>
        <p:nvSpPr>
          <p:cNvPr id="6" name="Text 4"/>
          <p:cNvSpPr/>
          <p:nvPr/>
        </p:nvSpPr>
        <p:spPr>
          <a:xfrm>
            <a:off x="5532120" y="868680"/>
            <a:ext cx="310896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Câu của người chú thích</a:t>
            </a:r>
            <a:endParaRPr lang="en-US" sz="1250" dirty="0"/>
          </a:p>
        </p:txBody>
      </p:sp>
      <p:sp>
        <p:nvSpPr>
          <p:cNvPr id="7" name="Text 5"/>
          <p:cNvSpPr/>
          <p:nvPr/>
        </p:nvSpPr>
        <p:spPr>
          <a:xfrm>
            <a:off x="502920" y="1252728"/>
            <a:ext cx="5029200" cy="868680"/>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tappable text | Search here | &lt;point&gt;440,91&lt;/point&gt; |</a:t>
            </a:r>
            <a:endParaRPr lang="en-US" sz="1050" dirty="0"/>
          </a:p>
          <a:p>
            <a:pPr algn="l" indent="0" marL="0">
              <a:buNone/>
            </a:pPr>
            <a:r>
              <a:rPr lang="en-US" sz="1050" dirty="0">
                <a:solidFill>
                  <a:srgbClr val="1A1A1A"/>
                </a:solidFill>
                <a:latin typeface="Cambria" pitchFamily="34" charset="0"/>
                <a:ea typeface="Cambria" pitchFamily="34" charset="-122"/>
                <a:cs typeface="Cambria" pitchFamily="34" charset="-120"/>
              </a:rPr>
              <a:t>just above the text “Coffee”</a:t>
            </a:r>
            <a:endParaRPr lang="en-US" sz="1050" dirty="0"/>
          </a:p>
        </p:txBody>
      </p:sp>
      <p:sp>
        <p:nvSpPr>
          <p:cNvPr id="8" name="Text 6"/>
          <p:cNvSpPr/>
          <p:nvPr/>
        </p:nvSpPr>
        <p:spPr>
          <a:xfrm>
            <a:off x="5532120" y="1252728"/>
            <a:ext cx="3108960" cy="86868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Click on the search bar</a:t>
            </a:r>
            <a:endParaRPr lang="en-US" sz="1200" dirty="0"/>
          </a:p>
        </p:txBody>
      </p:sp>
      <p:sp>
        <p:nvSpPr>
          <p:cNvPr id="9" name="Shape 7"/>
          <p:cNvSpPr/>
          <p:nvPr/>
        </p:nvSpPr>
        <p:spPr>
          <a:xfrm>
            <a:off x="502920" y="2121408"/>
            <a:ext cx="8138160" cy="0"/>
          </a:xfrm>
          <a:prstGeom prst="line">
            <a:avLst/>
          </a:prstGeom>
          <a:noFill/>
          <a:ln w="12700">
            <a:solidFill>
              <a:srgbClr val="9A94AE"/>
            </a:solidFill>
            <a:prstDash val="solid"/>
          </a:ln>
        </p:spPr>
      </p:sp>
      <p:sp>
        <p:nvSpPr>
          <p:cNvPr id="10" name="Text 8"/>
          <p:cNvSpPr/>
          <p:nvPr/>
        </p:nvSpPr>
        <p:spPr>
          <a:xfrm>
            <a:off x="502920" y="2121408"/>
            <a:ext cx="5029200" cy="822960"/>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icon | (no name) | &lt;point&gt;256,524&lt;/point&gt; |</a:t>
            </a:r>
            <a:endParaRPr lang="en-US" sz="1050" dirty="0"/>
          </a:p>
          <a:p>
            <a:pPr algn="l" indent="0" marL="0">
              <a:buNone/>
            </a:pPr>
            <a:r>
              <a:rPr lang="en-US" sz="1050" dirty="0">
                <a:solidFill>
                  <a:srgbClr val="1A1A1A"/>
                </a:solidFill>
                <a:latin typeface="Cambria" pitchFamily="34" charset="0"/>
                <a:ea typeface="Cambria" pitchFamily="34" charset="-122"/>
                <a:cs typeface="Cambria" pitchFamily="34" charset="-120"/>
              </a:rPr>
              <a:t>just above the text “Leaf”</a:t>
            </a:r>
            <a:endParaRPr lang="en-US" sz="1050" dirty="0"/>
          </a:p>
        </p:txBody>
      </p:sp>
      <p:sp>
        <p:nvSpPr>
          <p:cNvPr id="11" name="Text 9"/>
          <p:cNvSpPr/>
          <p:nvPr/>
        </p:nvSpPr>
        <p:spPr>
          <a:xfrm>
            <a:off x="5532120" y="2121408"/>
            <a:ext cx="3108960" cy="8229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Choose the leaf option</a:t>
            </a:r>
            <a:endParaRPr lang="en-US" sz="1200" dirty="0"/>
          </a:p>
        </p:txBody>
      </p:sp>
      <p:sp>
        <p:nvSpPr>
          <p:cNvPr id="12" name="Shape 10"/>
          <p:cNvSpPr/>
          <p:nvPr/>
        </p:nvSpPr>
        <p:spPr>
          <a:xfrm>
            <a:off x="502920" y="2944368"/>
            <a:ext cx="8138160" cy="0"/>
          </a:xfrm>
          <a:prstGeom prst="line">
            <a:avLst/>
          </a:prstGeom>
          <a:noFill/>
          <a:ln w="12700">
            <a:solidFill>
              <a:srgbClr val="9A94AE"/>
            </a:solidFill>
            <a:prstDash val="solid"/>
          </a:ln>
        </p:spPr>
      </p:sp>
      <p:sp>
        <p:nvSpPr>
          <p:cNvPr id="13" name="Text 11"/>
          <p:cNvSpPr/>
          <p:nvPr/>
        </p:nvSpPr>
        <p:spPr>
          <a:xfrm>
            <a:off x="502920" y="2944368"/>
            <a:ext cx="5029200" cy="822960"/>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icon | Q | &lt;point&gt;920,899&lt;/point&gt; |</a:t>
            </a:r>
            <a:endParaRPr lang="en-US" sz="1050" dirty="0"/>
          </a:p>
          <a:p>
            <a:pPr algn="l" indent="0" marL="0">
              <a:buNone/>
            </a:pPr>
            <a:r>
              <a:rPr lang="en-US" sz="1050" dirty="0">
                <a:solidFill>
                  <a:srgbClr val="1A1A1A"/>
                </a:solidFill>
                <a:latin typeface="Cambria" pitchFamily="34" charset="0"/>
                <a:ea typeface="Cambria" pitchFamily="34" charset="-122"/>
                <a:cs typeface="Cambria" pitchFamily="34" charset="-120"/>
              </a:rPr>
              <a:t>shares a name with 1 other elements on screen</a:t>
            </a:r>
            <a:endParaRPr lang="en-US" sz="1050" dirty="0"/>
          </a:p>
        </p:txBody>
      </p:sp>
      <p:sp>
        <p:nvSpPr>
          <p:cNvPr id="14" name="Text 12"/>
          <p:cNvSpPr/>
          <p:nvPr/>
        </p:nvSpPr>
        <p:spPr>
          <a:xfrm>
            <a:off x="5532120" y="2944368"/>
            <a:ext cx="3108960" cy="8229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click on the search icon</a:t>
            </a:r>
            <a:endParaRPr lang="en-US" sz="1200" dirty="0"/>
          </a:p>
        </p:txBody>
      </p:sp>
      <p:sp>
        <p:nvSpPr>
          <p:cNvPr id="15" name="Shape 13"/>
          <p:cNvSpPr/>
          <p:nvPr/>
        </p:nvSpPr>
        <p:spPr>
          <a:xfrm>
            <a:off x="502920" y="3767328"/>
            <a:ext cx="8138160" cy="0"/>
          </a:xfrm>
          <a:prstGeom prst="line">
            <a:avLst/>
          </a:prstGeom>
          <a:noFill/>
          <a:ln w="12700">
            <a:solidFill>
              <a:srgbClr val="9A94AE"/>
            </a:solidFill>
            <a:prstDash val="solid"/>
          </a:ln>
        </p:spPr>
      </p:sp>
      <p:sp>
        <p:nvSpPr>
          <p:cNvPr id="16" name="Text 14"/>
          <p:cNvSpPr/>
          <p:nvPr/>
        </p:nvSpPr>
        <p:spPr>
          <a:xfrm>
            <a:off x="502920" y="3767328"/>
            <a:ext cx="5029200" cy="822960"/>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icon | (no name) | &lt;point&gt;920,904&lt;/point&gt; |</a:t>
            </a:r>
            <a:endParaRPr lang="en-US" sz="1050" dirty="0"/>
          </a:p>
          <a:p>
            <a:pPr algn="l" indent="0" marL="0">
              <a:buNone/>
            </a:pPr>
            <a:r>
              <a:rPr lang="en-US" sz="1050" dirty="0">
                <a:solidFill>
                  <a:srgbClr val="1A1A1A"/>
                </a:solidFill>
                <a:latin typeface="Cambria" pitchFamily="34" charset="0"/>
                <a:ea typeface="Cambria" pitchFamily="34" charset="-122"/>
                <a:cs typeface="Cambria" pitchFamily="34" charset="-120"/>
              </a:rPr>
              <a:t>many elements of the same kind on screen</a:t>
            </a:r>
            <a:endParaRPr lang="en-US" sz="1050" dirty="0"/>
          </a:p>
        </p:txBody>
      </p:sp>
      <p:sp>
        <p:nvSpPr>
          <p:cNvPr id="17" name="Text 15"/>
          <p:cNvSpPr/>
          <p:nvPr/>
        </p:nvSpPr>
        <p:spPr>
          <a:xfrm>
            <a:off x="5532120" y="3767328"/>
            <a:ext cx="3108960" cy="8229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Click on the Right arrow key</a:t>
            </a:r>
            <a:endParaRPr lang="en-US" sz="1200" dirty="0"/>
          </a:p>
        </p:txBody>
      </p:sp>
      <p:sp>
        <p:nvSpPr>
          <p:cNvPr id="18" name="Text 16"/>
          <p:cNvSpPr/>
          <p:nvPr/>
        </p:nvSpPr>
        <p:spPr>
          <a:xfrm>
            <a:off x="502920" y="4709160"/>
            <a:ext cx="8138160" cy="50292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Hai trường hợp đầu: mệnh đề ở ô thứ tư đủ chỉ ra phần tử nào là phần tử cần chạm, và người chú thích cũng chọn đúng chiến lược ấy khi gọi nó là leaf option.</a:t>
            </a:r>
            <a:endParaRPr lang="en-US" sz="1250" dirty="0"/>
          </a:p>
        </p:txBody>
      </p:sp>
      <p:sp>
        <p:nvSpPr>
          <p:cNvPr id="19" name="Text 17"/>
          <p:cNvSpPr/>
          <p:nvPr/>
        </p:nvSpPr>
        <p:spPr>
          <a:xfrm>
            <a:off x="502920" y="5212080"/>
            <a:ext cx="8138160" cy="548640"/>
          </a:xfrm>
          <a:prstGeom prst="rect">
            <a:avLst/>
          </a:prstGeom>
          <a:noFill/>
          <a:ln/>
        </p:spPr>
        <p:txBody>
          <a:bodyPr wrap="square" lIns="0" tIns="0" rIns="0" bIns="0" rtlCol="0" anchor="t"/>
          <a:lstStyle/>
          <a:p>
            <a:pPr algn="l" indent="0" marL="0">
              <a:lnSpc>
                <a:spcPct val="130000"/>
              </a:lnSpc>
              <a:buNone/>
            </a:pPr>
            <a:r>
              <a:rPr lang="en-US" sz="1250" dirty="0">
                <a:solidFill>
                  <a:srgbClr val="B22222"/>
                </a:solidFill>
                <a:latin typeface="Cambria" pitchFamily="34" charset="0"/>
                <a:ea typeface="Cambria" pitchFamily="34" charset="-122"/>
                <a:cs typeface="Cambria" pitchFamily="34" charset="-120"/>
              </a:rPr>
              <a:t>Hai trường hợp cuối: nhãn chỉ nói được rằng có mơ hồ, còn người chú thích gọi thẳng search icon và Right arrow key, vì họ nhìn thấy hình dạng của biểu tượng rồi đặt tên, còn quy trình chỉ đọc được chữ.</a:t>
            </a:r>
            <a:endParaRPr lang="en-US" sz="1250" dirty="0"/>
          </a:p>
        </p:txBody>
      </p:sp>
      <p:sp>
        <p:nvSpPr>
          <p:cNvPr id="21" name="Shape 18"/>
          <p:cNvSpPr/>
          <p:nvPr/>
        </p:nvSpPr>
        <p:spPr>
          <a:xfrm>
            <a:off x="0" y="6620256"/>
            <a:ext cx="2743200" cy="237744"/>
          </a:xfrm>
          <a:prstGeom prst="rect">
            <a:avLst/>
          </a:prstGeom>
          <a:solidFill>
            <a:srgbClr val="191132"/>
          </a:solidFill>
          <a:ln/>
        </p:spPr>
      </p:sp>
      <p:sp>
        <p:nvSpPr>
          <p:cNvPr id="22" name="Shape 19"/>
          <p:cNvSpPr/>
          <p:nvPr/>
        </p:nvSpPr>
        <p:spPr>
          <a:xfrm>
            <a:off x="2743200" y="6620256"/>
            <a:ext cx="338328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6"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9</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Vì sao dựng nhãn bằng quy tắc</a:t>
            </a:r>
            <a:endParaRPr lang="en-US" sz="1900" dirty="0"/>
          </a:p>
        </p:txBody>
      </p:sp>
      <p:sp>
        <p:nvSpPr>
          <p:cNvPr id="4" name="Text 2"/>
          <p:cNvSpPr/>
          <p:nvPr/>
        </p:nvSpPr>
        <p:spPr>
          <a:xfrm>
            <a:off x="594360" y="914400"/>
            <a:ext cx="201168" cy="86868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5" name="Text 3"/>
          <p:cNvSpPr/>
          <p:nvPr/>
        </p:nvSpPr>
        <p:spPr>
          <a:xfrm>
            <a:off x="822960" y="914400"/>
            <a:ext cx="7726680" cy="84124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Nhãn dựng bằng quy tắc kiểm định lại được và dựng lại được: mỗi lần đọc tay thấy nhãn sai, thứ được sửa là bộ quy tắc, rồi toàn bộ 41.099 nhãn dựng lại từ đầu, chứ chúng tôi không sửa tay từng nhãn</a:t>
            </a:r>
            <a:endParaRPr lang="en-US" sz="1300" dirty="0"/>
          </a:p>
        </p:txBody>
      </p:sp>
      <p:sp>
        <p:nvSpPr>
          <p:cNvPr id="6" name="Text 4"/>
          <p:cNvSpPr/>
          <p:nvPr/>
        </p:nvSpPr>
        <p:spPr>
          <a:xfrm>
            <a:off x="594360" y="1783080"/>
            <a:ext cx="201168" cy="86868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822960" y="1783080"/>
            <a:ext cx="7726680" cy="84124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Chi phí thấp hơn nhiều bậc so với nhãn do người viết qua thu thập cộng đồng, nên phủ được quy mô lớn hơn hẳn</a:t>
            </a:r>
            <a:endParaRPr lang="en-US" sz="1300" dirty="0"/>
          </a:p>
        </p:txBody>
      </p:sp>
      <p:sp>
        <p:nvSpPr>
          <p:cNvPr id="8" name="Text 6"/>
          <p:cNvSpPr/>
          <p:nvPr/>
        </p:nvSpPr>
        <p:spPr>
          <a:xfrm>
            <a:off x="594360" y="2651760"/>
            <a:ext cx="201168" cy="86868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9" name="Text 7"/>
          <p:cNvSpPr/>
          <p:nvPr/>
        </p:nvSpPr>
        <p:spPr>
          <a:xfrm>
            <a:off x="822960" y="2651760"/>
            <a:ext cx="7726680" cy="84124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Đổi lại thì nghèo hơn về chất lượng ngôn ngữ, mà khoảng cách ấy chúng tôi chưa định lượng được vì không có đánh giá bằng người</a:t>
            </a:r>
            <a:endParaRPr lang="en-US" sz="1300" dirty="0"/>
          </a:p>
        </p:txBody>
      </p:sp>
      <p:sp>
        <p:nvSpPr>
          <p:cNvPr id="10" name="Text 8"/>
          <p:cNvSpPr/>
          <p:nvPr/>
        </p:nvSpPr>
        <p:spPr>
          <a:xfrm>
            <a:off x="594360" y="3520440"/>
            <a:ext cx="201168" cy="86868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822960" y="3520440"/>
            <a:ext cx="7726680" cy="84124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Khi tên không kiểm chứng được, quy tắc để ô trống. Với dữ liệu huấn luyện, nhãn để trống chỉ làm mất một mẫu học, còn nhãn ghi tên sai thì dạy mô hình gọi phần tử bằng một chuỗi không tồn tại trên màn</a:t>
            </a:r>
            <a:endParaRPr lang="en-US" sz="1300" dirty="0"/>
          </a:p>
        </p:txBody>
      </p:sp>
      <p:sp>
        <p:nvSpPr>
          <p:cNvPr id="12" name="Shape 10"/>
          <p:cNvSpPr/>
          <p:nvPr/>
        </p:nvSpPr>
        <p:spPr>
          <a:xfrm>
            <a:off x="502920" y="4434840"/>
            <a:ext cx="8138160" cy="1280160"/>
          </a:xfrm>
          <a:prstGeom prst="roundRect">
            <a:avLst>
              <a:gd name="adj" fmla="val 4286"/>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731520" y="4434840"/>
            <a:ext cx="7680960" cy="1280160"/>
          </a:xfrm>
          <a:prstGeom prst="rect">
            <a:avLst/>
          </a:prstGeom>
          <a:noFill/>
          <a:ln/>
        </p:spPr>
        <p:txBody>
          <a:bodyPr wrap="square" lIns="0" tIns="0" rIns="0" bIns="0" rtlCol="0" anchor="ctr"/>
          <a:lstStyle/>
          <a:p>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Chen và cộng sự (2020) đi hướng ngược lại, dùng mô hình để bù nhãn trợ năng còn thiếu. Chúng tôi chấp nhận nhãn thiếu và chuyển nhiệm vụ quy chiếu sang quan hệ với chữ lân cận, nên chỗ nào không đọc được chữ thì nhãn nói rõ là không có tên, thay vì đoán một cái tên.</a:t>
            </a:r>
            <a:endParaRPr lang="en-US" sz="1300" dirty="0"/>
          </a:p>
        </p:txBody>
      </p:sp>
      <p:sp>
        <p:nvSpPr>
          <p:cNvPr id="15" name="Shape 12"/>
          <p:cNvSpPr/>
          <p:nvPr/>
        </p:nvSpPr>
        <p:spPr>
          <a:xfrm>
            <a:off x="0" y="6620256"/>
            <a:ext cx="2743200" cy="237744"/>
          </a:xfrm>
          <a:prstGeom prst="rect">
            <a:avLst/>
          </a:prstGeom>
          <a:solidFill>
            <a:srgbClr val="191132"/>
          </a:solidFill>
          <a:ln/>
        </p:spPr>
      </p:sp>
      <p:sp>
        <p:nvSpPr>
          <p:cNvPr id="16" name="Shape 13"/>
          <p:cNvSpPr/>
          <p:nvPr/>
        </p:nvSpPr>
        <p:spPr>
          <a:xfrm>
            <a:off x="2743200" y="6620256"/>
            <a:ext cx="338328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0"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10</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Bốn khuôn câu của ô dấu hiệu phân biệt</a:t>
            </a:r>
            <a:endParaRPr lang="en-US" sz="1900" dirty="0"/>
          </a:p>
        </p:txBody>
      </p:sp>
      <p:sp>
        <p:nvSpPr>
          <p:cNvPr id="4" name="Shape 2"/>
          <p:cNvSpPr/>
          <p:nvPr/>
        </p:nvSpPr>
        <p:spPr>
          <a:xfrm>
            <a:off x="502920" y="868680"/>
            <a:ext cx="8138160" cy="384048"/>
          </a:xfrm>
          <a:prstGeom prst="rect">
            <a:avLst/>
          </a:prstGeom>
          <a:solidFill>
            <a:srgbClr val="322164"/>
          </a:solidFill>
          <a:ln/>
        </p:spPr>
      </p:sp>
      <p:sp>
        <p:nvSpPr>
          <p:cNvPr id="5" name="Text 3"/>
          <p:cNvSpPr/>
          <p:nvPr/>
        </p:nvSpPr>
        <p:spPr>
          <a:xfrm>
            <a:off x="502920" y="868680"/>
            <a:ext cx="22860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Nhóm</a:t>
            </a:r>
            <a:endParaRPr lang="en-US" sz="1250" dirty="0"/>
          </a:p>
        </p:txBody>
      </p:sp>
      <p:sp>
        <p:nvSpPr>
          <p:cNvPr id="6" name="Text 4"/>
          <p:cNvSpPr/>
          <p:nvPr/>
        </p:nvSpPr>
        <p:spPr>
          <a:xfrm>
            <a:off x="2788920" y="868680"/>
            <a:ext cx="329184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Khuôn câu</a:t>
            </a:r>
            <a:endParaRPr lang="en-US" sz="1250" dirty="0"/>
          </a:p>
        </p:txBody>
      </p:sp>
      <p:sp>
        <p:nvSpPr>
          <p:cNvPr id="7" name="Text 5"/>
          <p:cNvSpPr/>
          <p:nvPr/>
        </p:nvSpPr>
        <p:spPr>
          <a:xfrm>
            <a:off x="6080760" y="868680"/>
            <a:ext cx="256032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Chức năng quy chiếu</a:t>
            </a:r>
            <a:endParaRPr lang="en-US" sz="1250" dirty="0"/>
          </a:p>
        </p:txBody>
      </p:sp>
      <p:sp>
        <p:nvSpPr>
          <p:cNvPr id="8" name="Text 6"/>
          <p:cNvSpPr/>
          <p:nvPr/>
        </p:nvSpPr>
        <p:spPr>
          <a:xfrm>
            <a:off x="502920" y="1252728"/>
            <a:ext cx="2286000" cy="6858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Mỏ neo chữ</a:t>
            </a:r>
            <a:endParaRPr lang="en-US" sz="1200" dirty="0"/>
          </a:p>
        </p:txBody>
      </p:sp>
      <p:sp>
        <p:nvSpPr>
          <p:cNvPr id="9" name="Text 7"/>
          <p:cNvSpPr/>
          <p:nvPr/>
        </p:nvSpPr>
        <p:spPr>
          <a:xfrm>
            <a:off x="2788920" y="1252728"/>
            <a:ext cx="3291840" cy="6858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just above / below,</a:t>
            </a:r>
            <a:endParaRPr lang="en-US" sz="1200" dirty="0"/>
          </a:p>
          <a:p>
            <a:pPr algn="l" indent="0" marL="0">
              <a:buNone/>
            </a:pPr>
            <a:r>
              <a:rPr lang="en-US" sz="1200" dirty="0">
                <a:solidFill>
                  <a:srgbClr val="1A1A1A"/>
                </a:solidFill>
                <a:latin typeface="Cambria" pitchFamily="34" charset="0"/>
                <a:ea typeface="Cambria" pitchFamily="34" charset="-122"/>
                <a:cs typeface="Cambria" pitchFamily="34" charset="-120"/>
              </a:rPr>
              <a:t>to the left / right of</a:t>
            </a:r>
            <a:endParaRPr lang="en-US" sz="1200" dirty="0"/>
          </a:p>
        </p:txBody>
      </p:sp>
      <p:sp>
        <p:nvSpPr>
          <p:cNvPr id="10" name="Text 8"/>
          <p:cNvSpPr/>
          <p:nvPr/>
        </p:nvSpPr>
        <p:spPr>
          <a:xfrm>
            <a:off x="6080760" y="1252728"/>
            <a:ext cx="2560320" cy="685800"/>
          </a:xfrm>
          <a:prstGeom prst="rect">
            <a:avLst/>
          </a:prstGeom>
          <a:noFill/>
          <a:ln/>
        </p:spPr>
        <p:txBody>
          <a:bodyPr wrap="square" lIns="38100" tIns="38100" rIns="38100" bIns="38100" rtlCol="0" anchor="ctr"/>
          <a:lstStyle/>
          <a:p>
            <a:pPr algn="l" indent="0" marL="0">
              <a:buNone/>
            </a:pPr>
            <a:r>
              <a:rPr lang="en-US" sz="1200" b="1" dirty="0">
                <a:solidFill>
                  <a:srgbClr val="006666"/>
                </a:solidFill>
                <a:latin typeface="Cambria" pitchFamily="34" charset="0"/>
                <a:ea typeface="Cambria" pitchFamily="34" charset="-122"/>
                <a:cs typeface="Cambria" pitchFamily="34" charset="-120"/>
              </a:rPr>
              <a:t>giải quyết được mơ hồ</a:t>
            </a:r>
            <a:endParaRPr lang="en-US" sz="1200" dirty="0"/>
          </a:p>
        </p:txBody>
      </p:sp>
      <p:sp>
        <p:nvSpPr>
          <p:cNvPr id="11" name="Shape 9"/>
          <p:cNvSpPr/>
          <p:nvPr/>
        </p:nvSpPr>
        <p:spPr>
          <a:xfrm>
            <a:off x="502920" y="1938528"/>
            <a:ext cx="8138160" cy="0"/>
          </a:xfrm>
          <a:prstGeom prst="line">
            <a:avLst/>
          </a:prstGeom>
          <a:noFill/>
          <a:ln w="12700">
            <a:solidFill>
              <a:srgbClr val="9A94AE"/>
            </a:solidFill>
            <a:prstDash val="solid"/>
          </a:ln>
        </p:spPr>
      </p:sp>
      <p:sp>
        <p:nvSpPr>
          <p:cNvPr id="12" name="Text 10"/>
          <p:cNvSpPr/>
          <p:nvPr/>
        </p:nvSpPr>
        <p:spPr>
          <a:xfrm>
            <a:off x="502920" y="1938528"/>
            <a:ext cx="2286000" cy="5029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Khẳng định duy nhất</a:t>
            </a:r>
            <a:endParaRPr lang="en-US" sz="1200" dirty="0"/>
          </a:p>
        </p:txBody>
      </p:sp>
      <p:sp>
        <p:nvSpPr>
          <p:cNvPr id="13" name="Text 11"/>
          <p:cNvSpPr/>
          <p:nvPr/>
        </p:nvSpPr>
        <p:spPr>
          <a:xfrm>
            <a:off x="2788920" y="1938528"/>
            <a:ext cx="3291840" cy="5029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the only … on screen</a:t>
            </a:r>
            <a:endParaRPr lang="en-US" sz="1200" dirty="0"/>
          </a:p>
        </p:txBody>
      </p:sp>
      <p:sp>
        <p:nvSpPr>
          <p:cNvPr id="14" name="Text 12"/>
          <p:cNvSpPr/>
          <p:nvPr/>
        </p:nvSpPr>
        <p:spPr>
          <a:xfrm>
            <a:off x="6080760" y="1938528"/>
            <a:ext cx="2560320" cy="502920"/>
          </a:xfrm>
          <a:prstGeom prst="rect">
            <a:avLst/>
          </a:prstGeom>
          <a:noFill/>
          <a:ln/>
        </p:spPr>
        <p:txBody>
          <a:bodyPr wrap="square" lIns="38100" tIns="38100" rIns="38100" bIns="38100" rtlCol="0" anchor="ctr"/>
          <a:lstStyle/>
          <a:p>
            <a:pPr algn="l" indent="0" marL="0">
              <a:buNone/>
            </a:pPr>
            <a:r>
              <a:rPr lang="en-US" sz="1200" b="1" dirty="0">
                <a:solidFill>
                  <a:srgbClr val="006666"/>
                </a:solidFill>
                <a:latin typeface="Cambria" pitchFamily="34" charset="0"/>
                <a:ea typeface="Cambria" pitchFamily="34" charset="-122"/>
                <a:cs typeface="Cambria" pitchFamily="34" charset="-120"/>
              </a:rPr>
              <a:t>giải quyết được mơ hồ</a:t>
            </a:r>
            <a:endParaRPr lang="en-US" sz="1200" dirty="0"/>
          </a:p>
        </p:txBody>
      </p:sp>
      <p:sp>
        <p:nvSpPr>
          <p:cNvPr id="15" name="Shape 13"/>
          <p:cNvSpPr/>
          <p:nvPr/>
        </p:nvSpPr>
        <p:spPr>
          <a:xfrm>
            <a:off x="502920" y="2441448"/>
            <a:ext cx="8138160" cy="0"/>
          </a:xfrm>
          <a:prstGeom prst="line">
            <a:avLst/>
          </a:prstGeom>
          <a:noFill/>
          <a:ln w="12700">
            <a:solidFill>
              <a:srgbClr val="9A94AE"/>
            </a:solidFill>
            <a:prstDash val="solid"/>
          </a:ln>
        </p:spPr>
      </p:sp>
      <p:sp>
        <p:nvSpPr>
          <p:cNvPr id="16" name="Text 14"/>
          <p:cNvSpPr/>
          <p:nvPr/>
        </p:nvSpPr>
        <p:spPr>
          <a:xfrm>
            <a:off x="502920" y="2441448"/>
            <a:ext cx="2286000" cy="5029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Nêu trùng tên</a:t>
            </a:r>
            <a:endParaRPr lang="en-US" sz="1200" dirty="0"/>
          </a:p>
        </p:txBody>
      </p:sp>
      <p:sp>
        <p:nvSpPr>
          <p:cNvPr id="17" name="Text 15"/>
          <p:cNvSpPr/>
          <p:nvPr/>
        </p:nvSpPr>
        <p:spPr>
          <a:xfrm>
            <a:off x="2788920" y="2441448"/>
            <a:ext cx="3291840" cy="5029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shares a name with …</a:t>
            </a:r>
            <a:endParaRPr lang="en-US" sz="1200" dirty="0"/>
          </a:p>
        </p:txBody>
      </p:sp>
      <p:sp>
        <p:nvSpPr>
          <p:cNvPr id="18" name="Text 16"/>
          <p:cNvSpPr/>
          <p:nvPr/>
        </p:nvSpPr>
        <p:spPr>
          <a:xfrm>
            <a:off x="6080760" y="2441448"/>
            <a:ext cx="2560320" cy="502920"/>
          </a:xfrm>
          <a:prstGeom prst="rect">
            <a:avLst/>
          </a:prstGeom>
          <a:noFill/>
          <a:ln/>
        </p:spPr>
        <p:txBody>
          <a:bodyPr wrap="square" lIns="38100" tIns="38100" rIns="38100" bIns="38100" rtlCol="0" anchor="ctr"/>
          <a:lstStyle/>
          <a:p>
            <a:pPr algn="l" indent="0" marL="0">
              <a:buNone/>
            </a:pPr>
            <a:r>
              <a:rPr lang="en-US" sz="1200" dirty="0">
                <a:solidFill>
                  <a:srgbClr val="B22222"/>
                </a:solidFill>
                <a:latin typeface="Cambria" pitchFamily="34" charset="0"/>
                <a:ea typeface="Cambria" pitchFamily="34" charset="-122"/>
                <a:cs typeface="Cambria" pitchFamily="34" charset="-120"/>
              </a:rPr>
              <a:t>chỉ nêu rằng có mơ hồ</a:t>
            </a:r>
            <a:endParaRPr lang="en-US" sz="1200" dirty="0"/>
          </a:p>
        </p:txBody>
      </p:sp>
      <p:sp>
        <p:nvSpPr>
          <p:cNvPr id="19" name="Shape 17"/>
          <p:cNvSpPr/>
          <p:nvPr/>
        </p:nvSpPr>
        <p:spPr>
          <a:xfrm>
            <a:off x="502920" y="2944368"/>
            <a:ext cx="8138160" cy="0"/>
          </a:xfrm>
          <a:prstGeom prst="line">
            <a:avLst/>
          </a:prstGeom>
          <a:noFill/>
          <a:ln w="12700">
            <a:solidFill>
              <a:srgbClr val="9A94AE"/>
            </a:solidFill>
            <a:prstDash val="solid"/>
          </a:ln>
        </p:spPr>
      </p:sp>
      <p:sp>
        <p:nvSpPr>
          <p:cNvPr id="20" name="Text 18"/>
          <p:cNvSpPr/>
          <p:nvPr/>
        </p:nvSpPr>
        <p:spPr>
          <a:xfrm>
            <a:off x="502920" y="2944368"/>
            <a:ext cx="2286000" cy="5029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Đếm số lượng</a:t>
            </a:r>
            <a:endParaRPr lang="en-US" sz="1200" dirty="0"/>
          </a:p>
        </p:txBody>
      </p:sp>
      <p:sp>
        <p:nvSpPr>
          <p:cNvPr id="21" name="Text 19"/>
          <p:cNvSpPr/>
          <p:nvPr/>
        </p:nvSpPr>
        <p:spPr>
          <a:xfrm>
            <a:off x="2788920" y="2944368"/>
            <a:ext cx="3291840" cy="50292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k of n elements of the same kind</a:t>
            </a:r>
            <a:endParaRPr lang="en-US" sz="1200" dirty="0"/>
          </a:p>
        </p:txBody>
      </p:sp>
      <p:sp>
        <p:nvSpPr>
          <p:cNvPr id="22" name="Text 20"/>
          <p:cNvSpPr/>
          <p:nvPr/>
        </p:nvSpPr>
        <p:spPr>
          <a:xfrm>
            <a:off x="6080760" y="2944368"/>
            <a:ext cx="2560320" cy="502920"/>
          </a:xfrm>
          <a:prstGeom prst="rect">
            <a:avLst/>
          </a:prstGeom>
          <a:noFill/>
          <a:ln/>
        </p:spPr>
        <p:txBody>
          <a:bodyPr wrap="square" lIns="38100" tIns="38100" rIns="38100" bIns="38100" rtlCol="0" anchor="ctr"/>
          <a:lstStyle/>
          <a:p>
            <a:pPr algn="l" indent="0" marL="0">
              <a:buNone/>
            </a:pPr>
            <a:r>
              <a:rPr lang="en-US" sz="1200" dirty="0">
                <a:solidFill>
                  <a:srgbClr val="B22222"/>
                </a:solidFill>
                <a:latin typeface="Cambria" pitchFamily="34" charset="0"/>
                <a:ea typeface="Cambria" pitchFamily="34" charset="-122"/>
                <a:cs typeface="Cambria" pitchFamily="34" charset="-120"/>
              </a:rPr>
              <a:t>chỉ nêu rằng có mơ hồ</a:t>
            </a:r>
            <a:endParaRPr lang="en-US" sz="1200" dirty="0"/>
          </a:p>
        </p:txBody>
      </p:sp>
      <p:sp>
        <p:nvSpPr>
          <p:cNvPr id="23" name="Text 21"/>
          <p:cNvSpPr/>
          <p:nvPr/>
        </p:nvSpPr>
        <p:spPr>
          <a:xfrm>
            <a:off x="502920" y="3566160"/>
            <a:ext cx="8138160" cy="73152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Vì bốn khuôn do chính quy tắc sinh nhãn tạo ra nên phép khớp là tất định, không có bước suy đoán nào. Nhưng cũng vì vậy, phép phân loại chỉ đếm loại mệnh đề mà quy tắc đã sinh, chứ tự nó không xác nhận mệnh đề ấy giúp một người dùng tìm ra phần tử.</a:t>
            </a:r>
            <a:endParaRPr lang="en-US" sz="1250" dirty="0"/>
          </a:p>
        </p:txBody>
      </p:sp>
      <p:sp>
        <p:nvSpPr>
          <p:cNvPr id="24" name="Text 22"/>
          <p:cNvSpPr/>
          <p:nvPr/>
        </p:nvSpPr>
        <p:spPr>
          <a:xfrm>
            <a:off x="502920" y="4343400"/>
            <a:ext cx="81381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Hướng của mỏ neo</a:t>
            </a:r>
            <a:endParaRPr lang="en-US" sz="1350" dirty="0"/>
          </a:p>
        </p:txBody>
      </p:sp>
      <p:sp>
        <p:nvSpPr>
          <p:cNvPr id="25" name="Text 23"/>
          <p:cNvSpPr/>
          <p:nvPr/>
        </p:nvSpPr>
        <p:spPr>
          <a:xfrm>
            <a:off x="594360" y="4663440"/>
            <a:ext cx="201168" cy="5486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6" name="Text 24"/>
          <p:cNvSpPr/>
          <p:nvPr/>
        </p:nvSpPr>
        <p:spPr>
          <a:xfrm>
            <a:off x="822960" y="4663440"/>
            <a:ext cx="7726680" cy="530352"/>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Trong 27.628 mỏ neo chia cho bốn hướng, to the right of chiếm 8.382 còn to the left of chỉ 2.033; theo trục dọc thì hai hướng gần cân nhau</a:t>
            </a:r>
            <a:endParaRPr lang="en-US" sz="1250" dirty="0"/>
          </a:p>
        </p:txBody>
      </p:sp>
      <p:sp>
        <p:nvSpPr>
          <p:cNvPr id="27" name="Text 25"/>
          <p:cNvSpPr/>
          <p:nvPr/>
        </p:nvSpPr>
        <p:spPr>
          <a:xfrm>
            <a:off x="594360" y="5212080"/>
            <a:ext cx="201168" cy="5486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822960" y="5212080"/>
            <a:ext cx="7726680" cy="530352"/>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Nhãn tả vị trí của phần tử cần chạm so với chữ neo, nên to the right of nghĩa là chữ dùng để neo nằm bên trái phần tử. Nhãn văn bản trên Android thường đặt bên trái phần tử thao tác, nên lệch này là hệ quả trực tiếp của quy ước bố cục</a:t>
            </a:r>
            <a:endParaRPr lang="en-US" sz="1250" dirty="0"/>
          </a:p>
        </p:txBody>
      </p:sp>
      <p:sp>
        <p:nvSpPr>
          <p:cNvPr id="30" name="Shape 27"/>
          <p:cNvSpPr/>
          <p:nvPr/>
        </p:nvSpPr>
        <p:spPr>
          <a:xfrm>
            <a:off x="0" y="6620256"/>
            <a:ext cx="2743200" cy="237744"/>
          </a:xfrm>
          <a:prstGeom prst="rect">
            <a:avLst/>
          </a:prstGeom>
          <a:solidFill>
            <a:srgbClr val="191132"/>
          </a:solidFill>
          <a:ln/>
        </p:spPr>
      </p:sp>
      <p:sp>
        <p:nvSpPr>
          <p:cNvPr id="31" name="Shape 28"/>
          <p:cNvSpPr/>
          <p:nvPr/>
        </p:nvSpPr>
        <p:spPr>
          <a:xfrm>
            <a:off x="2743200" y="6620256"/>
            <a:ext cx="338328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35" name="Text 3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11</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Ngôn ngữ của ngữ liệu và khả năng chuyển sang miền khác</a:t>
            </a:r>
            <a:endParaRPr lang="en-US" sz="1900" dirty="0"/>
          </a:p>
        </p:txBody>
      </p:sp>
      <p:sp>
        <p:nvSpPr>
          <p:cNvPr id="4" name="Text 2"/>
          <p:cNvSpPr/>
          <p:nvPr/>
        </p:nvSpPr>
        <p:spPr>
          <a:xfrm>
            <a:off x="594360" y="914400"/>
            <a:ext cx="201168" cy="96012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5" name="Text 3"/>
          <p:cNvSpPr/>
          <p:nvPr/>
        </p:nvSpPr>
        <p:spPr>
          <a:xfrm>
            <a:off x="822960" y="914400"/>
            <a:ext cx="7726680" cy="93268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Ngữ liệu gốc AndroidControl là tiếng Anh, cả câu chỉ dẫn của người chú thích lẫn chữ hiển thị trên màn, nên nhãn cũng ở tiếng Anh cho khớp</a:t>
            </a:r>
            <a:endParaRPr lang="en-US" sz="1300" dirty="0"/>
          </a:p>
        </p:txBody>
      </p:sp>
      <p:sp>
        <p:nvSpPr>
          <p:cNvPr id="6" name="Text 4"/>
          <p:cNvSpPr/>
          <p:nvPr/>
        </p:nvSpPr>
        <p:spPr>
          <a:xfrm>
            <a:off x="594360" y="1874520"/>
            <a:ext cx="201168" cy="96012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822960" y="1874520"/>
            <a:ext cx="7726680" cy="93268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Khuôn mẫu nhãn do quy tắc sinh nên đổi ngôn ngữ khuôn được. Chúng tôi từng dựng bản khuôn tiếng Việt rồi chuyển sang tiếng Anh, và kiểm rằng đó chỉ là thay đổi về từ vựng bằng cách so tổng số phép tính của một lượt huấn luyện trên hai bản: lệch 0,03%, mà tổng số phép tính tỉ lệ với độ dài chuỗi</a:t>
            </a:r>
            <a:endParaRPr lang="en-US" sz="1300" dirty="0"/>
          </a:p>
        </p:txBody>
      </p:sp>
      <p:sp>
        <p:nvSpPr>
          <p:cNvPr id="8" name="Text 6"/>
          <p:cNvSpPr/>
          <p:nvPr/>
        </p:nvSpPr>
        <p:spPr>
          <a:xfrm>
            <a:off x="594360" y="2834640"/>
            <a:ext cx="201168" cy="96012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9" name="Text 7"/>
          <p:cNvSpPr/>
          <p:nvPr/>
        </p:nvSpPr>
        <p:spPr>
          <a:xfrm>
            <a:off x="822960" y="2834640"/>
            <a:ext cx="7726680" cy="93268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Ô tên và ô dấu hiệu lấy từ chữ hiển thị trên màn, nên trên một giao diện tiếng Việt thì nhãn sẽ mang chữ tiếng Việt. Phần này chúng tôi chưa đo, vì chưa có ngữ liệu thao tác giao diện tiếng Việt có toạ độ chạm và câu chỉ dẫn theo bước</a:t>
            </a:r>
            <a:endParaRPr lang="en-US" sz="1300" dirty="0"/>
          </a:p>
        </p:txBody>
      </p:sp>
      <p:sp>
        <p:nvSpPr>
          <p:cNvPr id="10" name="Text 8"/>
          <p:cNvSpPr/>
          <p:nvPr/>
        </p:nvSpPr>
        <p:spPr>
          <a:xfrm>
            <a:off x="594360" y="3794760"/>
            <a:ext cx="201168" cy="96012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822960" y="3794760"/>
            <a:ext cx="7726680" cy="932688"/>
          </a:xfrm>
          <a:prstGeom prst="rect">
            <a:avLst/>
          </a:prstGeom>
          <a:noFill/>
          <a:ln/>
        </p:spPr>
        <p:txBody>
          <a:bodyPr wrap="square" lIns="0" tIns="0" rIns="0" bIns="0" rtlCol="0" anchor="t"/>
          <a:lstStyle/>
          <a:p>
            <a:pPr algn="l" indent="0" marL="0">
              <a:lnSpc>
                <a:spcPct val="132000"/>
              </a:lnSpc>
              <a:buNone/>
            </a:pPr>
            <a:r>
              <a:rPr lang="en-US" sz="1300" dirty="0">
                <a:solidFill>
                  <a:srgbClr val="1A1A1A"/>
                </a:solidFill>
                <a:latin typeface="Cambria" pitchFamily="34" charset="0"/>
                <a:ea typeface="Cambria" pitchFamily="34" charset="-122"/>
                <a:cs typeface="Cambria" pitchFamily="34" charset="-120"/>
              </a:rPr>
              <a:t>Quy trình không phụ thuộc vào ngôn ngữ nào ngoài công cụ OCR, nên chỗ cần thay khi chuyển miền là bộ nhận dạng chữ và bảng quy tên lớp về vai trò</a:t>
            </a:r>
            <a:endParaRPr lang="en-US" sz="1300" dirty="0"/>
          </a:p>
        </p:txBody>
      </p:sp>
      <p:sp>
        <p:nvSpPr>
          <p:cNvPr id="12" name="Shape 10"/>
          <p:cNvSpPr/>
          <p:nvPr/>
        </p:nvSpPr>
        <p:spPr>
          <a:xfrm>
            <a:off x="502920" y="4937760"/>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731520" y="4937760"/>
            <a:ext cx="7680960" cy="77724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Chỗ khó nhất khi chuyển miền không phải ngôn ngữ, mà là những phần tử không có sẵn chuỗi chữ nào để gọi tên, vì đó là chỗ nhãn phải suy từ hình vẽ.</a:t>
            </a:r>
            <a:endParaRPr lang="en-US" sz="1300" dirty="0"/>
          </a:p>
        </p:txBody>
      </p:sp>
      <p:sp>
        <p:nvSpPr>
          <p:cNvPr id="15" name="Shape 12"/>
          <p:cNvSpPr/>
          <p:nvPr/>
        </p:nvSpPr>
        <p:spPr>
          <a:xfrm>
            <a:off x="0" y="6620256"/>
            <a:ext cx="2743200" cy="237744"/>
          </a:xfrm>
          <a:prstGeom prst="rect">
            <a:avLst/>
          </a:prstGeom>
          <a:solidFill>
            <a:srgbClr val="191132"/>
          </a:solidFill>
          <a:ln/>
        </p:spPr>
      </p:sp>
      <p:sp>
        <p:nvSpPr>
          <p:cNvPr id="16" name="Shape 13"/>
          <p:cNvSpPr/>
          <p:nvPr/>
        </p:nvSpPr>
        <p:spPr>
          <a:xfrm>
            <a:off x="2743200" y="6620256"/>
            <a:ext cx="338328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0"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12</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Một bản ghi của GUIRefCorpus có gì</a:t>
            </a:r>
            <a:endParaRPr lang="en-US" sz="1900" dirty="0"/>
          </a:p>
        </p:txBody>
      </p:sp>
      <p:sp>
        <p:nvSpPr>
          <p:cNvPr id="4" name="Text 2"/>
          <p:cNvSpPr/>
          <p:nvPr/>
        </p:nvSpPr>
        <p:spPr>
          <a:xfrm>
            <a:off x="502920" y="822960"/>
            <a:ext cx="8138160" cy="457200"/>
          </a:xfrm>
          <a:prstGeom prst="rect">
            <a:avLst/>
          </a:prstGeom>
          <a:noFill/>
          <a:ln/>
        </p:spPr>
        <p:txBody>
          <a:bodyPr wrap="square" lIns="0" tIns="0" rIns="0" bIns="0" rtlCol="0" anchor="t"/>
          <a:lstStyle/>
          <a:p>
            <a:pPr algn="l" indent="0" marL="0">
              <a:lnSpc>
                <a:spcPct val="130000"/>
              </a:lnSpc>
              <a:buNone/>
            </a:pPr>
            <a:r>
              <a:rPr lang="en-US" sz="1350" dirty="0">
                <a:solidFill>
                  <a:srgbClr val="1A1A1A"/>
                </a:solidFill>
                <a:latin typeface="Cambria" pitchFamily="34" charset="0"/>
                <a:ea typeface="Cambria" pitchFamily="34" charset="-122"/>
                <a:cs typeface="Cambria" pitchFamily="34" charset="-120"/>
              </a:rPr>
              <a:t>41.099 dòng ở tập huấn luyện và 4.448 dòng ở tập kiểm tra, mỗi dòng ứng với một bước chạm, lưu ở dạng mỗi dòng một bản ghi JSON.</a:t>
            </a:r>
            <a:endParaRPr lang="en-US" sz="1350" dirty="0"/>
          </a:p>
        </p:txBody>
      </p:sp>
      <p:sp>
        <p:nvSpPr>
          <p:cNvPr id="5" name="Text 3"/>
          <p:cNvSpPr/>
          <p:nvPr/>
        </p:nvSpPr>
        <p:spPr>
          <a:xfrm>
            <a:off x="594360" y="1371600"/>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6" name="Text 4"/>
          <p:cNvSpPr/>
          <p:nvPr/>
        </p:nvSpPr>
        <p:spPr>
          <a:xfrm>
            <a:off x="822960" y="1371600"/>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Dòng nhãn bốn ô đã ghép sẵn, và riêng từng ô: vai trò, tên, nguồn của tên, tầng tên, toạ độ đã chuẩn hoá, hộp bao, dấu hiệu phân biệt</a:t>
            </a:r>
            <a:endParaRPr lang="en-US" sz="1300" dirty="0"/>
          </a:p>
        </p:txBody>
      </p:sp>
      <p:sp>
        <p:nvSpPr>
          <p:cNvPr id="7" name="Text 5"/>
          <p:cNvSpPr/>
          <p:nvPr/>
        </p:nvSpPr>
        <p:spPr>
          <a:xfrm>
            <a:off x="594360" y="2029968"/>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8" name="Text 6"/>
          <p:cNvSpPr/>
          <p:nvPr/>
        </p:nvSpPr>
        <p:spPr>
          <a:xfrm>
            <a:off x="822960" y="2029968"/>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Hai cờ cho biết phần tử có trùng tên hoặc trùng vai trò với phần tử khác trên cùng màn hay không</a:t>
            </a:r>
            <a:endParaRPr lang="en-US" sz="1300" dirty="0"/>
          </a:p>
        </p:txBody>
      </p:sp>
      <p:sp>
        <p:nvSpPr>
          <p:cNvPr id="9" name="Text 7"/>
          <p:cNvSpPr/>
          <p:nvPr/>
        </p:nvSpPr>
        <p:spPr>
          <a:xfrm>
            <a:off x="594360" y="2688336"/>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0" name="Text 8"/>
          <p:cNvSpPr/>
          <p:nvPr/>
        </p:nvSpPr>
        <p:spPr>
          <a:xfrm>
            <a:off x="822960" y="2688336"/>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Một nhãn đối chứng dựng trên phần tử hàng xóm, dùng cho các nhánh dữ liệu ở phụ lục</a:t>
            </a:r>
            <a:endParaRPr lang="en-US" sz="1300" dirty="0"/>
          </a:p>
        </p:txBody>
      </p:sp>
      <p:sp>
        <p:nvSpPr>
          <p:cNvPr id="11" name="Text 9"/>
          <p:cNvSpPr/>
          <p:nvPr/>
        </p:nvSpPr>
        <p:spPr>
          <a:xfrm>
            <a:off x="594360" y="3346704"/>
            <a:ext cx="201168" cy="65836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2" name="Text 10"/>
          <p:cNvSpPr/>
          <p:nvPr/>
        </p:nvSpPr>
        <p:spPr>
          <a:xfrm>
            <a:off x="822960" y="3346704"/>
            <a:ext cx="772668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Khoá episode_id và step_id để nối ngược về bước gốc của AndroidControl</a:t>
            </a:r>
            <a:endParaRPr lang="en-US" sz="1300" dirty="0"/>
          </a:p>
        </p:txBody>
      </p:sp>
      <p:sp>
        <p:nvSpPr>
          <p:cNvPr id="13" name="Shape 11"/>
          <p:cNvSpPr/>
          <p:nvPr/>
        </p:nvSpPr>
        <p:spPr>
          <a:xfrm>
            <a:off x="502920" y="4069080"/>
            <a:ext cx="8138160" cy="1600200"/>
          </a:xfrm>
          <a:prstGeom prst="roundRect">
            <a:avLst>
              <a:gd name="adj" fmla="val 3429"/>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731520" y="4069080"/>
            <a:ext cx="7680960" cy="1600200"/>
          </a:xfrm>
          <a:prstGeom prst="rect">
            <a:avLst/>
          </a:prstGeom>
          <a:noFill/>
          <a:ln/>
        </p:spPr>
        <p:txBody>
          <a:bodyPr wrap="square" lIns="0" tIns="0" rIns="0" bIns="0" rtlCol="0" anchor="ctr"/>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Ảnh màn hình không đi kèm bản ghi, vì bản phát hành AndroidControl đã cung cấp sẵn theo giấy phép CC0 và bản ghi nối về được bằng khoá. Ảnh được ghi trong lúc người thật thao tác nên có thể chứa nội dung do người đó nhập vào; chuỗi ấy đi qua OCR nên có thể vào nhãn, và chúng tôi giữ nguyên theo bản gốc thay vì tự lọc, bởi mọi quy tắc lọc tự động đều sẽ xoá nhầm một phần chữ hợp lệ trên giao diện.</a:t>
            </a:r>
            <a:endParaRPr lang="en-US" sz="1250" dirty="0"/>
          </a:p>
        </p:txBody>
      </p:sp>
      <p:sp>
        <p:nvSpPr>
          <p:cNvPr id="16" name="Shape 13"/>
          <p:cNvSpPr/>
          <p:nvPr/>
        </p:nvSpPr>
        <p:spPr>
          <a:xfrm>
            <a:off x="0" y="6620256"/>
            <a:ext cx="2743200" cy="237744"/>
          </a:xfrm>
          <a:prstGeom prst="rect">
            <a:avLst/>
          </a:prstGeom>
          <a:solidFill>
            <a:srgbClr val="191132"/>
          </a:solidFill>
          <a:ln/>
        </p:spPr>
      </p:sp>
      <p:sp>
        <p:nvSpPr>
          <p:cNvPr id="17" name="Shape 14"/>
          <p:cNvSpPr/>
          <p:nvPr/>
        </p:nvSpPr>
        <p:spPr>
          <a:xfrm>
            <a:off x="2743200" y="6620256"/>
            <a:ext cx="3383280" cy="237744"/>
          </a:xfrm>
          <a:prstGeom prst="rect">
            <a:avLst/>
          </a:prstGeom>
          <a:solidFill>
            <a:srgbClr val="25194B"/>
          </a:solidFill>
          <a:ln/>
        </p:spPr>
      </p:sp>
      <p:sp>
        <p:nvSpPr>
          <p:cNvPr id="18" name="Shape 15"/>
          <p:cNvSpPr/>
          <p:nvPr/>
        </p:nvSpPr>
        <p:spPr>
          <a:xfrm>
            <a:off x="6126480" y="6620256"/>
            <a:ext cx="1737360" cy="237744"/>
          </a:xfrm>
          <a:prstGeom prst="rect">
            <a:avLst/>
          </a:prstGeom>
          <a:solidFill>
            <a:srgbClr val="4F417A"/>
          </a:solidFill>
          <a:ln/>
        </p:spPr>
      </p:sp>
      <p:sp>
        <p:nvSpPr>
          <p:cNvPr id="19" name="Shape 16"/>
          <p:cNvSpPr/>
          <p:nvPr/>
        </p:nvSpPr>
        <p:spPr>
          <a:xfrm>
            <a:off x="7863840" y="6620256"/>
            <a:ext cx="1280160" cy="237744"/>
          </a:xfrm>
          <a:prstGeom prst="rect">
            <a:avLst/>
          </a:prstGeom>
          <a:solidFill>
            <a:srgbClr val="7A7099"/>
          </a:solidFill>
          <a:ln/>
        </p:spPr>
      </p:sp>
      <p:sp>
        <p:nvSpPr>
          <p:cNvPr id="20" name="Text 1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VCL2026  ·  HUFLIT  ·  27/11/2026</a:t>
            </a:r>
            <a:endParaRPr lang="en-US" sz="800" dirty="0"/>
          </a:p>
        </p:txBody>
      </p:sp>
      <p:sp>
        <p:nvSpPr>
          <p:cNvPr id="21" name="Text 1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Xây dựng ngữ liệu quy chiếu tự động cho phần tử giao diện</a:t>
            </a:r>
            <a:endParaRPr lang="en-US" sz="800" dirty="0"/>
          </a:p>
        </p:txBody>
      </p:sp>
      <p:sp>
        <p:nvSpPr>
          <p:cNvPr id="22" name="Text 1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3" name="Text 2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Xay dung ngu lieu quy chieu tu dong cho phan tu giao dien - VCL2026</dc:title>
  <dc:subject>PptxGenJS Presentation</dc:subject>
  <dc:creator>Le Doan Phuong Uyen</dc:creator>
  <cp:lastModifiedBy>Le Doan Phuong Uyen</cp:lastModifiedBy>
  <cp:revision>1</cp:revision>
  <dcterms:created xsi:type="dcterms:W3CDTF">2026-08-30T17:30:27Z</dcterms:created>
  <dcterms:modified xsi:type="dcterms:W3CDTF">2026-08-30T17:30:27Z</dcterms:modified>
</cp:coreProperties>
</file>