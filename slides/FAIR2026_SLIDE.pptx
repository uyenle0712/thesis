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Good morning. I am Le Doan Phuong Uyen, from the University of Science, VNU-HCM. This is joint work with Dr. Nguyen Hong Buu Long. The paper asks what descriptor-first supervision is worth for GUI instruction generation, and it reports a pre-registered ablation that we could not complete, together with the condition that governs when the component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Start from the input a GUI agent takes: a screenshot and a user goal. An agent turns that into a coordinate, so that a machine can click. We keep the input and change the consumer. The output is one sentence, addressed to a person who has to be told which element to touch. That is the setting of accessibility and user-support tools. The change of consumer is not cosmetic. A coordinate can be compared to a recorded coordinate. A sentence cannot be compared to a single reference, because many wordings identify the same button and no dataset enumerates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So this is a model paper that needs an instrument first. We use executability. The generated sentence, with any descriptor removed, goes to a separate grounding model that never sees the gold coordinate. The step counts as correct when that model lands in the cell of the element the user actually touched and the action class agrees. The rubric is a recorded human touch, not a model's opinion, so this is not LLM-as-judge. The grounder only contributes a localisation; geometry against the gold point decides, and the same grounder scores every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Four contributions. An instrument calibrated at both ends, with a measured ceiling and, less usually, a measured floor. A supervision pipeline that adds no annotation of its own, whose gain is measured at two seeds and replicated under a second grounder. A pre-registered ablation reported against its own reading rules, including the case where those rules refuse a conclusion. And a diagnosis of the condition under which the component pays. I will be explicit about the status of each: two are complete, one is permanently incomplete, and the last is exploratory.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The metric in one slide. Three conditions must hold together. The canonicalised action types agree. Polarity: the two sentences must not name opposite states of the same control. And localisation: the returned point is inside the conventional fourteen per cent tolerance, and no competing element centre is closer to it than the gold point itself. Two details are easy to get wrong, so I read them from the implementation. The tolerance region is a per-axis rectangle, not a disc: a hundred fifty-one pixels horizontally against three hundred thirty-six vertically. And the seed that generates the cell is the recorded touch point, not the centre of the element box. The figure is a real step where the two rules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The instrument is calibrated at both ends before any model claim. Human references reach seventy-five point seven, so every score in the paper is read against that and not against a hundred. A contentless sentence, tap the button everywhere, scores twelve. A genuine reference written for a different screen, right register, matched length, wrong content, scores six point one, below the contentless floor on disjoint intervals. That control matters most: a wrong sentence actively misleads the instrument where an empty one leaves it to a weak prior, and it disposes of the objection that the metric rewards annotator style, because style is exactly what it preserves. The cell condition was chosen from what it refuses: displace the answer to the nearest competing element and the tolerance rule still awards credit in eighty-four per cent of cases, the cell rule in under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What does the metric weigh? Keep the locative clause and replace the element name with the generic the item: minus twenty-eight point five points. Delete the locative clause and keep the name, on a near-identical population: minus three point five. Naming the element is worth roughly eight times saying where it is, which is what the title of this line of work should be about. In the other direction, meaning-preserving rewrites, verb substitution and fronting the locative clause, move the score by a third of a point with an interval containing zero. So the instrument is insensitive to phrasing and sensitive to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Supervision. We collect no new annotation and we do not label with another language model. The scored target is the per-step instruction the dataset already records, and the descriptor slots are derived by rule. Two public mirrors are joined on episode and step; because an off-by-one join would corrupt every label while leaving the pipeline functional, we test it: OCR text at the gold point appears in the reference on forty-eight per cent of sampled steps against twenty per cent under a deliberately shifted control. Four branches differ only in the generation target. The one invariant that matters here is that the scored sentence is byte-identical across branches on all sixty-four thousand examples, so a difference between branches is a difference in what precedes the sentence and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design was committed to version control before the first training run, and it fixes the reading of all four outcomes in advance, including the inconclusive one. The registered quantity averages two seeds per branch. The minimum detectable paired effect from instrument noise alone is two point two points, and a contrast across two training runs also carries the seed term. Twenty-seven amendments are recorded with dates, twenty-one of them before any executability score existed. And the sentence I would rather not have to say: the second seed of the treatment branch was never run, a budget decision, and it will not be. The registered estimand is permanently incomplete, and nothing later in the talk upgrades a single-seed comparison into the conclusion the two-seed rule would have licensed.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Here is the full table. Read the column against seventy-five point seven at the top and twelve at the bottom. The untuned model is at forty-seven point six. Plain sentence supervision is at fifty-nine point four over two seeds. The descriptor branch is at fifty-seven point two at its single seed. The two stage-two branches, at one seed each, are at fifty-nine point four and sixty. Everything below the line has one seed and is labelled exploratory throughout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The first question is whether supervision assembled this way works at all. It does. Forty-seven point six to fifty-nine point four, closing forty-two per cent of the distance to the human level, McNemar p below a thousandth at both seeds. The size to compare it against is retraining noise: rebuilding the same branch under a second seed moves the score by half a point, so the effect is about twenty-two times the noise. Three further readings. On the steps where the model does not reproduce the reference's content words, the gap is still eight point four points. There is no home advantage across seen, unseen and unattributable applications. And under a second grounder not trained on AndroidControl, the positive control retains ninety-four per cent of its size, so the explanation that fine-tuning merely teaches the annotator's register does not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The second question is whether naming the element before writing helps. Here the study cannot say. At the single seed available the treatment sits one point nine three points below its control, and against the two-seed control mean, minus two point one nine, inside the band declared inconclusive in advance. What the missing run could have changed is fixed by the same thresholds, and I would rather state it than let anyone infer a suppressed positive. To reach the weakly-positive edge it would have had to score sixty-five per cent, five points above the best checkpoint we ever measured. The remaining outcome space was inconclusive or negative. Two things do not depend on that seed: the branch is well above the untuned model, and it emits its coordinate slot accurately. Whatever the prefix costs, it does not cost the ability to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 This is the slide I would keep if I could keep only one. The branch emits its own descriptor, so its identification is scored against gold labels independently of the sentence. Cross name against coordinate. Where the model gets both right, the prefix is worth plus five point seven points and the branch exceeds the human level on those steps. Where it gets both wrong, on seven hundred thirty-eight steps, executability collapses to five point six. The cost of the design is commitment: having named the wrong element, the branch writes a sentence faithful to it, while the control, committed to nothing, still retrieves the right element on thirty per cent of them. The objection is that this conditions on a variable the treatment produces, so the failing row may just be the hard steps. The rightmost column is not conditioned on the treatment and answers it: the human references still reach sixty-six per cent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A third of the total difference sits in the seven point three per cent of steps where the branch emits no descriptor at all, a slice registered on nineteen August, before any treatment score existed. There the model misjudges the action class: the reference says click the close icon and the branch writes swipe up. The references score sixty-eight per cent there, so the steps are solvable and the instrument is not blind. And the failure is not created by the descriptor: the untuned model names the correct action class on eighty-three per cent of them, against fifty-five for the control and thirty-nine for the treatment. Fine-tuning damages the action prior and the descriptor target amplifies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 s] The diagnosis points at identification accuracy rather than at the prefix, so we ran the objective registered for exactly that. Minimal pairs: accepted and rejected sides carry the same sentence verbatim and differ only in the descriptor, so the preference term can be reduced only by choosing the right element. It adds plus zero point six three points over a matched control, inside the inconclusive band again. The number I want on the slide is the attribution. The stage gains two point eight seven points in total, but seventy-eight per cent belongs to the control, which is eight hundred further supervised updates with no preference term anywhere. Reporting the whole stage as the effect of the objective would overstate it fourfold. One registered variant never trained at all, stopped by a feasibility check at three point three per cent usable pairs against a threshold of twenty-five.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To close. On a scale calibrated at both ends, automatic supervision works and replicates. Whether the descriptor prefix adds anything is a question our own reading rules refuse to answer, and the run that would have answered it was never executed. But the mechanism is legible: the prefix is worth plus five point seven where identification succeeds and minus twenty-five where it fails, and the largest single locus of damage is an action-prior failure that fine-tuning introduces before any descriptor exists. So what descriptor-first supervision is worth is conditional on identification accuracy, and that is where the next experiment has to act.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Backup slides follow: alternative metrics, the second grounder, hit-rule robustness, the paraphrase checklist, the floor design, training cost, the status of all registered branches, the on-policy variant, the blind region, and three verbatim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why not BLEU/ROUGE/BERTScore. Key point: a reference-based score charges the branches unequally for register, and it scores the references 100 by construction, so it cannot locate the headroom. We follow Zhao et al. and make every claim at system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is the result an artefact of the grounder. The positive control keeps 94% of its size under a grounder not trained on AndroidControl. Not closed: both grounders are Qwen-family, and there is no human anchor.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did you pick the hit rule that flatters you. Five rules, the level moves 26 points, the ordering never does. Also the determinism check and the conditional kappa.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is the metric brittle to phrasing. Meaning-preserving rewrites move it by a third of a point; deleting the locative clause does cost, so it is not inert. Declared scope: we probed phrasing, not the referring expression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how do you know the floor is real, or does the metric reward annotator style. The wrong-screen control preserves style exactly and scores below the contentless floor on disjoint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training details, compute, reproducibility. One config serves every branch with four keys changing; L4 and A100 agree to three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what happened to the branches you registered. Say plainly which ones were cancelled and why, and that they are marked registered-but-not-run rather than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why did you use heuristic negatives instead of the model's own errors. The on-policy source was stopped by a feasibility check fixed in advance, and the error-distance distribution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limitations, split composition, or gaming the metric. The 89.5 against 3.3 pair bounds the write-for-the-grounder objection rather than excluding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if asked: show me an actual failure. Read (b) aloud: the sentence is fluent, faithful to its own descriptor, and unusable.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FAIR'2026  ·  Fundamental and Applied IT Research  ·  Natural Language Processing</a:t>
            </a:r>
            <a:endParaRPr lang="en-US" sz="1300" dirty="0"/>
          </a:p>
        </p:txBody>
      </p:sp>
      <p:sp>
        <p:nvSpPr>
          <p:cNvPr id="4" name="Shape 2"/>
          <p:cNvSpPr/>
          <p:nvPr/>
        </p:nvSpPr>
        <p:spPr>
          <a:xfrm>
            <a:off x="640080" y="1143000"/>
            <a:ext cx="7863840" cy="2468880"/>
          </a:xfrm>
          <a:prstGeom prst="roundRect">
            <a:avLst>
              <a:gd name="adj" fmla="val 3333"/>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731520" y="1417320"/>
            <a:ext cx="7680960" cy="1234440"/>
          </a:xfrm>
          <a:prstGeom prst="rect">
            <a:avLst/>
          </a:prstGeom>
          <a:noFill/>
          <a:ln/>
        </p:spPr>
        <p:txBody>
          <a:bodyPr wrap="square" lIns="0" tIns="0" rIns="0" bIns="0" rtlCol="0" anchor="t"/>
          <a:lstStyle/>
          <a:p>
            <a:pPr algn="ctr" indent="0" marL="0">
              <a:lnSpc>
                <a:spcPct val="122000"/>
              </a:lnSpc>
              <a:buNone/>
            </a:pPr>
            <a:r>
              <a:rPr lang="en-US" sz="2600" b="1" dirty="0">
                <a:solidFill>
                  <a:srgbClr val="FFFFFF"/>
                </a:solidFill>
                <a:latin typeface="Cambria" pitchFamily="34" charset="0"/>
                <a:ea typeface="Cambria" pitchFamily="34" charset="-122"/>
                <a:cs typeface="Cambria" pitchFamily="34" charset="-120"/>
              </a:rPr>
              <a:t>Descriptor-First Supervision for</a:t>
            </a:r>
            <a:endParaRPr lang="en-US" sz="2600" dirty="0"/>
          </a:p>
          <a:p>
            <a:pPr algn="ctr" indent="0" marL="0">
              <a:lnSpc>
                <a:spcPct val="122000"/>
              </a:lnSpc>
              <a:buNone/>
            </a:pPr>
            <a:r>
              <a:rPr lang="en-US" sz="2600" b="1" dirty="0">
                <a:solidFill>
                  <a:srgbClr val="FFFFFF"/>
                </a:solidFill>
                <a:latin typeface="Cambria" pitchFamily="34" charset="0"/>
                <a:ea typeface="Cambria" pitchFamily="34" charset="-122"/>
                <a:cs typeface="Cambria" pitchFamily="34" charset="-120"/>
              </a:rPr>
              <a:t>GUI Instruction Generation</a:t>
            </a:r>
            <a:endParaRPr lang="en-US" sz="2600" dirty="0"/>
          </a:p>
        </p:txBody>
      </p:sp>
      <p:sp>
        <p:nvSpPr>
          <p:cNvPr id="6" name="Shape 4"/>
          <p:cNvSpPr/>
          <p:nvPr/>
        </p:nvSpPr>
        <p:spPr>
          <a:xfrm>
            <a:off x="3566160" y="2788920"/>
            <a:ext cx="2011680" cy="0"/>
          </a:xfrm>
          <a:prstGeom prst="line">
            <a:avLst/>
          </a:prstGeom>
          <a:noFill/>
          <a:ln w="19050">
            <a:solidFill>
              <a:srgbClr val="9A94AE"/>
            </a:solidFill>
            <a:prstDash val="solid"/>
          </a:ln>
        </p:spPr>
      </p:sp>
      <p:sp>
        <p:nvSpPr>
          <p:cNvPr id="7" name="Text 5"/>
          <p:cNvSpPr/>
          <p:nvPr/>
        </p:nvSpPr>
        <p:spPr>
          <a:xfrm>
            <a:off x="731520" y="2926080"/>
            <a:ext cx="7680960" cy="548640"/>
          </a:xfrm>
          <a:prstGeom prst="rect">
            <a:avLst/>
          </a:prstGeom>
          <a:noFill/>
          <a:ln/>
        </p:spPr>
        <p:txBody>
          <a:bodyPr wrap="square" lIns="0" tIns="0" rIns="0" bIns="0" rtlCol="0" anchor="t"/>
          <a:lstStyle/>
          <a:p>
            <a:pPr algn="ctr" indent="0" marL="0">
              <a:lnSpc>
                <a:spcPct val="125000"/>
              </a:lnSpc>
              <a:buNone/>
            </a:pPr>
            <a:r>
              <a:rPr lang="en-US" sz="1500" i="1" dirty="0">
                <a:solidFill>
                  <a:srgbClr val="D8D4E6"/>
                </a:solidFill>
                <a:latin typeface="Cambria" pitchFamily="34" charset="0"/>
                <a:ea typeface="Cambria" pitchFamily="34" charset="-122"/>
                <a:cs typeface="Cambria" pitchFamily="34" charset="-120"/>
              </a:rPr>
              <a:t>A Pre-Registered Ablation and the Condition Under Which It Pays</a:t>
            </a:r>
            <a:endParaRPr lang="en-US" sz="1500" dirty="0"/>
          </a:p>
        </p:txBody>
      </p:sp>
      <p:sp>
        <p:nvSpPr>
          <p:cNvPr id="8" name="Text 6"/>
          <p:cNvSpPr/>
          <p:nvPr/>
        </p:nvSpPr>
        <p:spPr>
          <a:xfrm>
            <a:off x="731520" y="4023360"/>
            <a:ext cx="7680960" cy="365760"/>
          </a:xfrm>
          <a:prstGeom prst="rect">
            <a:avLst/>
          </a:prstGeom>
          <a:noFill/>
          <a:ln/>
        </p:spPr>
        <p:txBody>
          <a:bodyPr wrap="square" lIns="0" tIns="0" rIns="0" bIns="0" rtlCol="0" anchor="t"/>
          <a:lstStyle/>
          <a:p>
            <a:pPr algn="ctr" indent="0" marL="0">
              <a:buNone/>
            </a:pPr>
            <a:r>
              <a:rPr lang="en-US" sz="1600" b="1" dirty="0">
                <a:solidFill>
                  <a:srgbClr val="1A1A1A"/>
                </a:solidFill>
                <a:latin typeface="Cambria" pitchFamily="34" charset="0"/>
                <a:ea typeface="Cambria" pitchFamily="34" charset="-122"/>
                <a:cs typeface="Cambria" pitchFamily="34" charset="-120"/>
              </a:rPr>
              <a:t>Lê Đoàn Phương Uyên            Nguyễn Hồng Bửu Long</a:t>
            </a:r>
            <a:endParaRPr lang="en-US" sz="1600" dirty="0"/>
          </a:p>
        </p:txBody>
      </p:sp>
      <p:sp>
        <p:nvSpPr>
          <p:cNvPr id="9" name="Text 7"/>
          <p:cNvSpPr/>
          <p:nvPr/>
        </p:nvSpPr>
        <p:spPr>
          <a:xfrm>
            <a:off x="731520" y="4526280"/>
            <a:ext cx="7680960" cy="640080"/>
          </a:xfrm>
          <a:prstGeom prst="rect">
            <a:avLst/>
          </a:prstGeom>
          <a:noFill/>
          <a:ln/>
        </p:spPr>
        <p:txBody>
          <a:bodyPr wrap="square" lIns="0" tIns="0" rIns="0" bIns="0" rtlCol="0" anchor="t"/>
          <a:lstStyle/>
          <a:p>
            <a:pPr algn="ctr" indent="0" marL="0">
              <a:lnSpc>
                <a:spcPct val="135000"/>
              </a:lnSpc>
              <a:buNone/>
            </a:pPr>
            <a:r>
              <a:rPr lang="en-US" sz="1300" dirty="0">
                <a:solidFill>
                  <a:srgbClr val="5A5A66"/>
                </a:solidFill>
                <a:latin typeface="Cambria" pitchFamily="34" charset="0"/>
                <a:ea typeface="Cambria" pitchFamily="34" charset="-122"/>
                <a:cs typeface="Cambria" pitchFamily="34" charset="-120"/>
              </a:rPr>
              <a:t>Faculty of Information Technology,  University of Science, VNU-HCM</a:t>
            </a:r>
            <a:endParaRPr lang="en-US" sz="1300" dirty="0"/>
          </a:p>
          <a:p>
            <a:pPr algn="ctr" indent="0" marL="0">
              <a:lnSpc>
                <a:spcPct val="135000"/>
              </a:lnSpc>
              <a:buNone/>
            </a:pPr>
            <a:r>
              <a:rPr lang="en-US" sz="1300" dirty="0">
                <a:solidFill>
                  <a:srgbClr val="5A5A66"/>
                </a:solidFill>
                <a:latin typeface="Cambria" pitchFamily="34" charset="0"/>
                <a:ea typeface="Cambria" pitchFamily="34" charset="-122"/>
                <a:cs typeface="Cambria" pitchFamily="34" charset="-120"/>
              </a:rPr>
              <a:t>Ho Chi Minh City, Vietnam</a:t>
            </a:r>
            <a:endParaRPr lang="en-US" sz="1300" dirty="0"/>
          </a:p>
        </p:txBody>
      </p:sp>
      <p:sp>
        <p:nvSpPr>
          <p:cNvPr id="10" name="Shape 8"/>
          <p:cNvSpPr/>
          <p:nvPr/>
        </p:nvSpPr>
        <p:spPr>
          <a:xfrm>
            <a:off x="2148840" y="5349240"/>
            <a:ext cx="4846320" cy="548640"/>
          </a:xfrm>
          <a:prstGeom prst="roundRect">
            <a:avLst>
              <a:gd name="adj" fmla="val 100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2148840" y="5349240"/>
            <a:ext cx="4846320" cy="548640"/>
          </a:xfrm>
          <a:prstGeom prst="rect">
            <a:avLst/>
          </a:prstGeom>
          <a:noFill/>
          <a:ln/>
        </p:spPr>
        <p:txBody>
          <a:bodyPr wrap="square" lIns="0" tIns="0" rIns="0" bIns="0" rtlCol="0" anchor="ctr"/>
          <a:lstStyle/>
          <a:p>
            <a:pPr algn="ctr" indent="0" marL="0">
              <a:buNone/>
            </a:pPr>
            <a:r>
              <a:rPr lang="en-US" sz="1150" i="1" dirty="0">
                <a:solidFill>
                  <a:srgbClr val="322164"/>
                </a:solidFill>
                <a:latin typeface="Cambria" pitchFamily="34" charset="0"/>
                <a:ea typeface="Cambria" pitchFamily="34" charset="-122"/>
                <a:cs typeface="Cambria" pitchFamily="34" charset="-120"/>
              </a:rPr>
              <a:t>Code, pre-registration and amendment log are version-controlled.</a:t>
            </a:r>
            <a:endParaRPr lang="en-US" sz="1150" dirty="0"/>
          </a:p>
        </p:txBody>
      </p:sp>
      <p:sp>
        <p:nvSpPr>
          <p:cNvPr id="13" name="Shape 10"/>
          <p:cNvSpPr/>
          <p:nvPr/>
        </p:nvSpPr>
        <p:spPr>
          <a:xfrm>
            <a:off x="0" y="6620256"/>
            <a:ext cx="2194560" cy="237744"/>
          </a:xfrm>
          <a:prstGeom prst="rect">
            <a:avLst/>
          </a:prstGeom>
          <a:solidFill>
            <a:srgbClr val="191132"/>
          </a:solidFill>
          <a:ln/>
        </p:spPr>
      </p:sp>
      <p:sp>
        <p:nvSpPr>
          <p:cNvPr id="14" name="Shape 11"/>
          <p:cNvSpPr/>
          <p:nvPr/>
        </p:nvSpPr>
        <p:spPr>
          <a:xfrm>
            <a:off x="2194560" y="6620256"/>
            <a:ext cx="393192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18" name="Text 15"/>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A different consumer of the same input</a:t>
            </a:r>
            <a:endParaRPr lang="en-US" sz="1900" dirty="0"/>
          </a:p>
        </p:txBody>
      </p:sp>
      <p:sp>
        <p:nvSpPr>
          <p:cNvPr id="4" name="Shape 2"/>
          <p:cNvSpPr/>
          <p:nvPr/>
        </p:nvSpPr>
        <p:spPr>
          <a:xfrm>
            <a:off x="502920" y="822960"/>
            <a:ext cx="813816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822960"/>
            <a:ext cx="7680960" cy="868680"/>
          </a:xfrm>
          <a:prstGeom prst="rect">
            <a:avLst/>
          </a:prstGeom>
          <a:noFill/>
          <a:ln/>
        </p:spPr>
        <p:txBody>
          <a:bodyPr wrap="square" lIns="0" tIns="0" rIns="0" bIns="0" rtlCol="0" anchor="ctr"/>
          <a:lstStyle/>
          <a:p>
            <a:pPr algn="l" indent="0" marL="0">
              <a:buNone/>
            </a:pPr>
            <a:r>
              <a:rPr lang="en-US" sz="1450" b="1" dirty="0">
                <a:solidFill>
                  <a:srgbClr val="1414BE"/>
                </a:solidFill>
                <a:latin typeface="Cambria" pitchFamily="34" charset="0"/>
                <a:ea typeface="Cambria" pitchFamily="34" charset="-122"/>
                <a:cs typeface="Cambria" pitchFamily="34" charset="-120"/>
              </a:rPr>
              <a:t>Input.   </a:t>
            </a:r>
            <a:pPr algn="l" indent="0" marL="0">
              <a:buNone/>
            </a:pPr>
            <a:r>
              <a:rPr lang="en-US" sz="1450" i="1" dirty="0">
                <a:solidFill>
                  <a:srgbClr val="1A1A1A"/>
                </a:solidFill>
                <a:latin typeface="Cambria" pitchFamily="34" charset="0"/>
                <a:ea typeface="Cambria" pitchFamily="34" charset="-122"/>
                <a:cs typeface="Cambria" pitchFamily="34" charset="-120"/>
              </a:rPr>
              <a:t>one screenshot   +   a user goal, e.g. “Share this playlist with my friend”</a:t>
            </a:r>
            <a:endParaRPr lang="en-US" sz="1450" dirty="0"/>
          </a:p>
        </p:txBody>
      </p:sp>
      <p:sp>
        <p:nvSpPr>
          <p:cNvPr id="6" name="Text 4"/>
          <p:cNvSpPr/>
          <p:nvPr/>
        </p:nvSpPr>
        <p:spPr>
          <a:xfrm>
            <a:off x="502920" y="1920240"/>
            <a:ext cx="3977640" cy="365760"/>
          </a:xfrm>
          <a:prstGeom prst="rect">
            <a:avLst/>
          </a:prstGeom>
          <a:noFill/>
          <a:ln/>
        </p:spPr>
        <p:txBody>
          <a:bodyPr wrap="square" lIns="0" tIns="0" rIns="0" bIns="0" rtlCol="0" anchor="t"/>
          <a:lstStyle/>
          <a:p>
            <a:pPr algn="ctr" indent="0" marL="0">
              <a:buNone/>
            </a:pPr>
            <a:r>
              <a:rPr lang="en-US" sz="1500" b="1" dirty="0">
                <a:solidFill>
                  <a:srgbClr val="322164"/>
                </a:solidFill>
                <a:latin typeface="Cambria" pitchFamily="34" charset="0"/>
                <a:ea typeface="Cambria" pitchFamily="34" charset="-122"/>
                <a:cs typeface="Cambria" pitchFamily="34" charset="-120"/>
              </a:rPr>
              <a:t>GUI agent</a:t>
            </a:r>
            <a:endParaRPr lang="en-US" sz="1500" dirty="0"/>
          </a:p>
        </p:txBody>
      </p:sp>
      <p:sp>
        <p:nvSpPr>
          <p:cNvPr id="7" name="Text 5"/>
          <p:cNvSpPr/>
          <p:nvPr/>
        </p:nvSpPr>
        <p:spPr>
          <a:xfrm>
            <a:off x="4663440" y="1920240"/>
            <a:ext cx="3977640" cy="365760"/>
          </a:xfrm>
          <a:prstGeom prst="rect">
            <a:avLst/>
          </a:prstGeom>
          <a:noFill/>
          <a:ln/>
        </p:spPr>
        <p:txBody>
          <a:bodyPr wrap="square" lIns="0" tIns="0" rIns="0" bIns="0" rtlCol="0" anchor="t"/>
          <a:lstStyle/>
          <a:p>
            <a:pPr algn="ctr" indent="0" marL="0">
              <a:buNone/>
            </a:pPr>
            <a:r>
              <a:rPr lang="en-US" sz="1500" b="1" dirty="0">
                <a:solidFill>
                  <a:srgbClr val="B22222"/>
                </a:solidFill>
                <a:latin typeface="Cambria" pitchFamily="34" charset="0"/>
                <a:ea typeface="Cambria" pitchFamily="34" charset="-122"/>
                <a:cs typeface="Cambria" pitchFamily="34" charset="-120"/>
              </a:rPr>
              <a:t>This work</a:t>
            </a:r>
            <a:endParaRPr lang="en-US" sz="1500" dirty="0"/>
          </a:p>
        </p:txBody>
      </p:sp>
      <p:sp>
        <p:nvSpPr>
          <p:cNvPr id="8" name="Shape 6"/>
          <p:cNvSpPr/>
          <p:nvPr/>
        </p:nvSpPr>
        <p:spPr>
          <a:xfrm>
            <a:off x="502920" y="2331720"/>
            <a:ext cx="3977640" cy="2286000"/>
          </a:xfrm>
          <a:prstGeom prst="roundRect">
            <a:avLst>
              <a:gd name="adj" fmla="val 2400"/>
            </a:avLst>
          </a:prstGeom>
          <a:solidFill>
            <a:srgbClr val="E9E8EC"/>
          </a:solidFill>
          <a:ln/>
          <a:effectLst>
            <a:outerShdw sx="100000" sy="100000" kx="0" ky="0" algn="bl" rotWithShape="0" blurRad="63500" dist="31750" dir="2700000">
              <a:srgbClr val="8C8C99">
                <a:alpha val="45000"/>
              </a:srgbClr>
            </a:outerShdw>
          </a:effectLst>
        </p:spPr>
      </p:sp>
      <p:sp>
        <p:nvSpPr>
          <p:cNvPr id="9" name="Shape 7"/>
          <p:cNvSpPr/>
          <p:nvPr/>
        </p:nvSpPr>
        <p:spPr>
          <a:xfrm>
            <a:off x="4663440" y="2331720"/>
            <a:ext cx="3977640" cy="2286000"/>
          </a:xfrm>
          <a:prstGeom prst="roundRect">
            <a:avLst>
              <a:gd name="adj" fmla="val 2400"/>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731520" y="2560320"/>
            <a:ext cx="3566160" cy="1828800"/>
          </a:xfrm>
          <a:prstGeom prst="rect">
            <a:avLst/>
          </a:prstGeom>
          <a:noFill/>
          <a:ln/>
        </p:spPr>
        <p:txBody>
          <a:bodyPr wrap="square" lIns="0" tIns="0" rIns="0" bIns="0" rtlCol="0" anchor="t"/>
          <a:lstStyle/>
          <a:p>
            <a:pPr algn="l" indent="0" marL="0">
              <a:lnSpc>
                <a:spcPct val="145000"/>
              </a:lnSpc>
              <a:buNone/>
            </a:pPr>
            <a:r>
              <a:rPr lang="en-US" sz="1400" b="1" dirty="0">
                <a:solidFill>
                  <a:srgbClr val="1414BE"/>
                </a:solidFill>
                <a:latin typeface="Consolas" pitchFamily="34" charset="0"/>
                <a:ea typeface="Consolas" pitchFamily="34" charset="-122"/>
                <a:cs typeface="Consolas" pitchFamily="34" charset="-120"/>
              </a:rPr>
              <a:t>click(872, 141)</a:t>
            </a:r>
            <a:pPr algn="l" indent="0" marL="0">
              <a:lnSpc>
                <a:spcPct val="145000"/>
              </a:lnSpc>
              <a:buNone/>
            </a:pPr>
            <a:endParaRPr lang="en-US" sz="1400" dirty="0"/>
          </a:p>
          <a:p>
            <a:pPr algn="l" indent="0" marL="0">
              <a:lnSpc>
                <a:spcPct val="145000"/>
              </a:lnSpc>
              <a:buNone/>
            </a:pP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Consumer is a machine that clicks.</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The wording, if any, is never scored.</a:t>
            </a:r>
            <a:endParaRPr lang="en-US" sz="1400" dirty="0"/>
          </a:p>
        </p:txBody>
      </p:sp>
      <p:sp>
        <p:nvSpPr>
          <p:cNvPr id="11" name="Text 9"/>
          <p:cNvSpPr/>
          <p:nvPr/>
        </p:nvSpPr>
        <p:spPr>
          <a:xfrm>
            <a:off x="4892040" y="2560320"/>
            <a:ext cx="3566160" cy="1828800"/>
          </a:xfrm>
          <a:prstGeom prst="rect">
            <a:avLst/>
          </a:prstGeom>
          <a:noFill/>
          <a:ln/>
        </p:spPr>
        <p:txBody>
          <a:bodyPr wrap="square" lIns="0" tIns="0" rIns="0" bIns="0" rtlCol="0" anchor="t"/>
          <a:lstStyle/>
          <a:p>
            <a:pPr algn="l" indent="0" marL="0">
              <a:lnSpc>
                <a:spcPct val="145000"/>
              </a:lnSpc>
              <a:buNone/>
            </a:pPr>
            <a:r>
              <a:rPr lang="en-US" sz="1400" b="1" i="1" dirty="0">
                <a:solidFill>
                  <a:srgbClr val="B22222"/>
                </a:solidFill>
                <a:latin typeface="Cambria" pitchFamily="34" charset="0"/>
                <a:ea typeface="Cambria" pitchFamily="34" charset="-122"/>
                <a:cs typeface="Cambria" pitchFamily="34" charset="-120"/>
              </a:rPr>
              <a:t>“Tap the share icon at the</a:t>
            </a:r>
            <a:endParaRPr lang="en-US" sz="1400" dirty="0"/>
          </a:p>
          <a:p>
            <a:pPr algn="l" indent="0" marL="0">
              <a:lnSpc>
                <a:spcPct val="145000"/>
              </a:lnSpc>
              <a:buNone/>
            </a:pPr>
            <a:r>
              <a:rPr lang="en-US" sz="1400" b="1" i="1" dirty="0">
                <a:solidFill>
                  <a:srgbClr val="B22222"/>
                </a:solidFill>
                <a:latin typeface="Cambria" pitchFamily="34" charset="0"/>
                <a:ea typeface="Cambria" pitchFamily="34" charset="-122"/>
                <a:cs typeface="Cambria" pitchFamily="34" charset="-120"/>
              </a:rPr>
              <a:t>top right of the screen.”</a:t>
            </a:r>
            <a:endParaRPr lang="en-US" sz="1400" dirty="0"/>
          </a:p>
          <a:p>
            <a:pPr algn="l" indent="0" marL="0">
              <a:lnSpc>
                <a:spcPct val="145000"/>
              </a:lnSpc>
              <a:buNone/>
            </a:pPr>
            <a:endParaRPr lang="en-US" sz="1400" dirty="0"/>
          </a:p>
          <a:p>
            <a:pPr algn="l" indent="0" marL="0">
              <a:lnSpc>
                <a:spcPct val="145000"/>
              </a:lnSpc>
              <a:buNone/>
            </a:pP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Consumer is a person who must be told</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what to do. The sentence is the only</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scored output.</a:t>
            </a:r>
            <a:endParaRPr lang="en-US" sz="1400" dirty="0"/>
          </a:p>
        </p:txBody>
      </p:sp>
      <p:sp>
        <p:nvSpPr>
          <p:cNvPr id="12" name="Text 10"/>
          <p:cNvSpPr/>
          <p:nvPr/>
        </p:nvSpPr>
        <p:spPr>
          <a:xfrm>
            <a:off x="502920" y="4709160"/>
            <a:ext cx="3977640" cy="292608"/>
          </a:xfrm>
          <a:prstGeom prst="rect">
            <a:avLst/>
          </a:prstGeom>
          <a:noFill/>
          <a:ln/>
        </p:spPr>
        <p:txBody>
          <a:bodyPr wrap="square" lIns="0" tIns="0" rIns="0" bIns="0" rtlCol="0" anchor="t"/>
          <a:lstStyle/>
          <a:p>
            <a:pPr algn="ctr" indent="0" marL="0">
              <a:buNone/>
            </a:pPr>
            <a:r>
              <a:rPr lang="en-US" sz="1100" i="1" dirty="0">
                <a:solidFill>
                  <a:srgbClr val="5A5A66"/>
                </a:solidFill>
                <a:latin typeface="Cambria" pitchFamily="34" charset="0"/>
                <a:ea typeface="Cambria" pitchFamily="34" charset="-122"/>
                <a:cs typeface="Cambria" pitchFamily="34" charset="-120"/>
              </a:rPr>
              <a:t>SeeClick · OS-Atlas · Aguvis</a:t>
            </a:r>
            <a:endParaRPr lang="en-US" sz="1100" dirty="0"/>
          </a:p>
        </p:txBody>
      </p:sp>
      <p:sp>
        <p:nvSpPr>
          <p:cNvPr id="13" name="Text 11"/>
          <p:cNvSpPr/>
          <p:nvPr/>
        </p:nvSpPr>
        <p:spPr>
          <a:xfrm>
            <a:off x="4663440" y="4709160"/>
            <a:ext cx="3977640" cy="292608"/>
          </a:xfrm>
          <a:prstGeom prst="rect">
            <a:avLst/>
          </a:prstGeom>
          <a:noFill/>
          <a:ln/>
        </p:spPr>
        <p:txBody>
          <a:bodyPr wrap="square" lIns="0" tIns="0" rIns="0" bIns="0" rtlCol="0" anchor="t"/>
          <a:lstStyle/>
          <a:p>
            <a:pPr algn="ctr" indent="0" marL="0">
              <a:buNone/>
            </a:pPr>
            <a:r>
              <a:rPr lang="en-US" sz="1100" i="1" dirty="0">
                <a:solidFill>
                  <a:srgbClr val="5A5A66"/>
                </a:solidFill>
                <a:latin typeface="Cambria" pitchFamily="34" charset="0"/>
                <a:ea typeface="Cambria" pitchFamily="34" charset="-122"/>
                <a:cs typeface="Cambria" pitchFamily="34" charset="-120"/>
              </a:rPr>
              <a:t>accessibility and user-support settings</a:t>
            </a:r>
            <a:endParaRPr lang="en-US" sz="1100" dirty="0"/>
          </a:p>
        </p:txBody>
      </p:sp>
      <p:sp>
        <p:nvSpPr>
          <p:cNvPr id="14" name="Shape 12"/>
          <p:cNvSpPr/>
          <p:nvPr/>
        </p:nvSpPr>
        <p:spPr>
          <a:xfrm>
            <a:off x="502920" y="512064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15" name="Text 13"/>
          <p:cNvSpPr/>
          <p:nvPr/>
        </p:nvSpPr>
        <p:spPr>
          <a:xfrm>
            <a:off x="731520" y="5120640"/>
            <a:ext cx="7680960" cy="77724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A coordinate can be checked against a recorded coordinate. </a:t>
            </a:r>
            <a:pPr algn="l" indent="0" marL="0">
              <a:lnSpc>
                <a:spcPct val="135000"/>
              </a:lnSpc>
              <a:buNone/>
            </a:pPr>
            <a:r>
              <a:rPr lang="en-US" sz="1400" b="1" dirty="0">
                <a:solidFill>
                  <a:srgbClr val="B22222"/>
                </a:solidFill>
                <a:latin typeface="Cambria" pitchFamily="34" charset="0"/>
                <a:ea typeface="Cambria" pitchFamily="34" charset="-122"/>
                <a:cs typeface="Cambria" pitchFamily="34" charset="-120"/>
              </a:rPr>
              <a:t>A sentence cannot be checked against one reference.</a:t>
            </a:r>
            <a:endParaRPr lang="en-US" sz="1400" dirty="0"/>
          </a:p>
        </p:txBody>
      </p:sp>
      <p:sp>
        <p:nvSpPr>
          <p:cNvPr id="17" name="Shape 14"/>
          <p:cNvSpPr/>
          <p:nvPr/>
        </p:nvSpPr>
        <p:spPr>
          <a:xfrm>
            <a:off x="0" y="6620256"/>
            <a:ext cx="2194560" cy="237744"/>
          </a:xfrm>
          <a:prstGeom prst="rect">
            <a:avLst/>
          </a:prstGeom>
          <a:solidFill>
            <a:srgbClr val="191132"/>
          </a:solidFill>
          <a:ln/>
        </p:spPr>
      </p:sp>
      <p:sp>
        <p:nvSpPr>
          <p:cNvPr id="18" name="Shape 15"/>
          <p:cNvSpPr/>
          <p:nvPr/>
        </p:nvSpPr>
        <p:spPr>
          <a:xfrm>
            <a:off x="2194560" y="6620256"/>
            <a:ext cx="3931920" cy="237744"/>
          </a:xfrm>
          <a:prstGeom prst="rect">
            <a:avLst/>
          </a:prstGeom>
          <a:solidFill>
            <a:srgbClr val="25194B"/>
          </a:solidFill>
          <a:ln/>
        </p:spPr>
      </p:sp>
      <p:sp>
        <p:nvSpPr>
          <p:cNvPr id="19" name="Shape 16"/>
          <p:cNvSpPr/>
          <p:nvPr/>
        </p:nvSpPr>
        <p:spPr>
          <a:xfrm>
            <a:off x="6126480" y="6620256"/>
            <a:ext cx="1737360" cy="237744"/>
          </a:xfrm>
          <a:prstGeom prst="rect">
            <a:avLst/>
          </a:prstGeom>
          <a:solidFill>
            <a:srgbClr val="4F417A"/>
          </a:solidFill>
          <a:ln/>
        </p:spPr>
      </p:sp>
      <p:sp>
        <p:nvSpPr>
          <p:cNvPr id="20" name="Shape 17"/>
          <p:cNvSpPr/>
          <p:nvPr/>
        </p:nvSpPr>
        <p:spPr>
          <a:xfrm>
            <a:off x="7863840" y="6620256"/>
            <a:ext cx="1280160" cy="237744"/>
          </a:xfrm>
          <a:prstGeom prst="rect">
            <a:avLst/>
          </a:prstGeom>
          <a:solidFill>
            <a:srgbClr val="7A7099"/>
          </a:solidFill>
          <a:ln/>
        </p:spPr>
      </p:sp>
      <p:sp>
        <p:nvSpPr>
          <p:cNvPr id="21" name="Text 18"/>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22" name="Text 19"/>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23"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24"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A model paper needs an instrument first</a:t>
            </a:r>
            <a:endParaRPr lang="en-US" sz="1900" dirty="0"/>
          </a:p>
        </p:txBody>
      </p:sp>
      <p:sp>
        <p:nvSpPr>
          <p:cNvPr id="4" name="Text 2"/>
          <p:cNvSpPr/>
          <p:nvPr/>
        </p:nvSpPr>
        <p:spPr>
          <a:xfrm>
            <a:off x="502920" y="777240"/>
            <a:ext cx="4023360" cy="310896"/>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Why a reference-based score fails here</a:t>
            </a:r>
            <a:endParaRPr lang="en-US" sz="1400" dirty="0"/>
          </a:p>
        </p:txBody>
      </p:sp>
      <p:sp>
        <p:nvSpPr>
          <p:cNvPr id="5" name="Text 3"/>
          <p:cNvSpPr/>
          <p:nvPr/>
        </p:nvSpPr>
        <p:spPr>
          <a:xfrm>
            <a:off x="502920" y="118872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6" name="Text 4"/>
          <p:cNvSpPr/>
          <p:nvPr/>
        </p:nvSpPr>
        <p:spPr>
          <a:xfrm>
            <a:off x="731520" y="1188720"/>
            <a:ext cx="37947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Many wordings identify the same button, and no dataset enumerates them</a:t>
            </a:r>
            <a:endParaRPr lang="en-US" sz="1250" dirty="0"/>
          </a:p>
        </p:txBody>
      </p:sp>
      <p:sp>
        <p:nvSpPr>
          <p:cNvPr id="7" name="Text 5"/>
          <p:cNvSpPr/>
          <p:nvPr/>
        </p:nvSpPr>
        <p:spPr>
          <a:xfrm>
            <a:off x="502920" y="224028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8" name="Text 6"/>
          <p:cNvSpPr/>
          <p:nvPr/>
        </p:nvSpPr>
        <p:spPr>
          <a:xfrm>
            <a:off x="731520" y="2240280"/>
            <a:ext cx="37947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Content-word F1 charges the branches unequally for register: </a:t>
            </a:r>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52.8%</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of accepted untuned sentences fall below 0.5, against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13.9%</a:t>
            </a:r>
            <a:endParaRPr lang="en-US" sz="1250" dirty="0"/>
          </a:p>
        </p:txBody>
      </p:sp>
      <p:sp>
        <p:nvSpPr>
          <p:cNvPr id="9" name="Text 7"/>
          <p:cNvSpPr/>
          <p:nvPr/>
        </p:nvSpPr>
        <p:spPr>
          <a:xfrm>
            <a:off x="502920" y="3291840"/>
            <a:ext cx="201168" cy="105156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731520" y="3291840"/>
            <a:ext cx="3794760" cy="100584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BLEU-4 and ROUGE-L score the references 100 by construction, so neither can locate the remaining headroom</a:t>
            </a:r>
            <a:endParaRPr lang="en-US" sz="1250" dirty="0"/>
          </a:p>
        </p:txBody>
      </p:sp>
      <p:sp>
        <p:nvSpPr>
          <p:cNvPr id="11" name="Text 9"/>
          <p:cNvSpPr/>
          <p:nvPr/>
        </p:nvSpPr>
        <p:spPr>
          <a:xfrm>
            <a:off x="4663440" y="777240"/>
            <a:ext cx="3977640" cy="310896"/>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Executability, in one loop</a:t>
            </a:r>
            <a:endParaRPr lang="en-US" sz="1400" dirty="0"/>
          </a:p>
        </p:txBody>
      </p:sp>
      <p:sp>
        <p:nvSpPr>
          <p:cNvPr id="12" name="Shape 10"/>
          <p:cNvSpPr/>
          <p:nvPr/>
        </p:nvSpPr>
        <p:spPr>
          <a:xfrm>
            <a:off x="4663440" y="1188720"/>
            <a:ext cx="3977640" cy="841248"/>
          </a:xfrm>
          <a:prstGeom prst="roundRect">
            <a:avLst>
              <a:gd name="adj" fmla="val 5435"/>
            </a:avLst>
          </a:prstGeom>
          <a:solidFill>
            <a:srgbClr val="E9E8EC"/>
          </a:solidFill>
          <a:ln/>
        </p:spPr>
      </p:sp>
      <p:sp>
        <p:nvSpPr>
          <p:cNvPr id="13" name="Text 11"/>
          <p:cNvSpPr/>
          <p:nvPr/>
        </p:nvSpPr>
        <p:spPr>
          <a:xfrm>
            <a:off x="4800600" y="1261872"/>
            <a:ext cx="3703320" cy="292608"/>
          </a:xfrm>
          <a:prstGeom prst="rect">
            <a:avLst/>
          </a:prstGeom>
          <a:noFill/>
          <a:ln/>
        </p:spPr>
        <p:txBody>
          <a:bodyPr wrap="square" lIns="0" tIns="0" rIns="0" bIns="0" rtlCol="0" anchor="t"/>
          <a:lstStyle/>
          <a:p>
            <a:pPr algn="l" indent="0" marL="0">
              <a:buNone/>
            </a:pPr>
            <a:r>
              <a:rPr lang="en-US" sz="1350" b="1" dirty="0">
                <a:solidFill>
                  <a:srgbClr val="1A1A1A"/>
                </a:solidFill>
                <a:latin typeface="Cambria" pitchFamily="34" charset="0"/>
                <a:ea typeface="Cambria" pitchFamily="34" charset="-122"/>
                <a:cs typeface="Cambria" pitchFamily="34" charset="-120"/>
              </a:rPr>
              <a:t>generated sentence</a:t>
            </a:r>
            <a:endParaRPr lang="en-US" sz="1350" dirty="0"/>
          </a:p>
        </p:txBody>
      </p:sp>
      <p:sp>
        <p:nvSpPr>
          <p:cNvPr id="14" name="Text 12"/>
          <p:cNvSpPr/>
          <p:nvPr/>
        </p:nvSpPr>
        <p:spPr>
          <a:xfrm>
            <a:off x="4800600" y="1591056"/>
            <a:ext cx="3703320" cy="365760"/>
          </a:xfrm>
          <a:prstGeom prst="rect">
            <a:avLst/>
          </a:prstGeom>
          <a:noFill/>
          <a:ln/>
        </p:spPr>
        <p:txBody>
          <a:bodyPr wrap="square" lIns="0" tIns="0" rIns="0" bIns="0" rtlCol="0" anchor="t"/>
          <a:lstStyle/>
          <a:p>
            <a:pPr algn="l" indent="0" marL="0">
              <a:buNone/>
            </a:pPr>
            <a:r>
              <a:rPr lang="en-US" sz="1150" dirty="0">
                <a:solidFill>
                  <a:srgbClr val="5A5A66"/>
                </a:solidFill>
                <a:latin typeface="Cambria" pitchFamily="34" charset="0"/>
                <a:ea typeface="Cambria" pitchFamily="34" charset="-122"/>
                <a:cs typeface="Cambria" pitchFamily="34" charset="-120"/>
              </a:rPr>
              <a:t>descriptor stripped before scoring</a:t>
            </a:r>
            <a:endParaRPr lang="en-US" sz="1150" dirty="0"/>
          </a:p>
        </p:txBody>
      </p:sp>
      <p:sp>
        <p:nvSpPr>
          <p:cNvPr id="15" name="Text 13"/>
          <p:cNvSpPr/>
          <p:nvPr/>
        </p:nvSpPr>
        <p:spPr>
          <a:xfrm>
            <a:off x="4663440" y="2011680"/>
            <a:ext cx="3977640" cy="228600"/>
          </a:xfrm>
          <a:prstGeom prst="rect">
            <a:avLst/>
          </a:prstGeom>
          <a:noFill/>
          <a:ln/>
        </p:spPr>
        <p:txBody>
          <a:bodyPr wrap="square" lIns="0" tIns="0" rIns="0" bIns="0" rtlCol="0" anchor="t"/>
          <a:lstStyle/>
          <a:p>
            <a:pPr algn="ctr" indent="0" marL="0">
              <a:buNone/>
            </a:pPr>
            <a:r>
              <a:rPr lang="en-US" sz="1300" b="1" dirty="0">
                <a:solidFill>
                  <a:srgbClr val="4F417A"/>
                </a:solidFill>
                <a:latin typeface="Cambria" pitchFamily="34" charset="0"/>
                <a:ea typeface="Cambria" pitchFamily="34" charset="-122"/>
                <a:cs typeface="Cambria" pitchFamily="34" charset="-120"/>
              </a:rPr>
              <a:t>↓</a:t>
            </a:r>
            <a:endParaRPr lang="en-US" sz="1300" dirty="0"/>
          </a:p>
        </p:txBody>
      </p:sp>
      <p:sp>
        <p:nvSpPr>
          <p:cNvPr id="16" name="Shape 14"/>
          <p:cNvSpPr/>
          <p:nvPr/>
        </p:nvSpPr>
        <p:spPr>
          <a:xfrm>
            <a:off x="4663440" y="2240280"/>
            <a:ext cx="3977640" cy="841248"/>
          </a:xfrm>
          <a:prstGeom prst="roundRect">
            <a:avLst>
              <a:gd name="adj" fmla="val 5435"/>
            </a:avLst>
          </a:prstGeom>
          <a:solidFill>
            <a:srgbClr val="E9E8EC"/>
          </a:solidFill>
          <a:ln/>
        </p:spPr>
      </p:sp>
      <p:sp>
        <p:nvSpPr>
          <p:cNvPr id="17" name="Text 15"/>
          <p:cNvSpPr/>
          <p:nvPr/>
        </p:nvSpPr>
        <p:spPr>
          <a:xfrm>
            <a:off x="4800600" y="2313432"/>
            <a:ext cx="3703320" cy="292608"/>
          </a:xfrm>
          <a:prstGeom prst="rect">
            <a:avLst/>
          </a:prstGeom>
          <a:noFill/>
          <a:ln/>
        </p:spPr>
        <p:txBody>
          <a:bodyPr wrap="square" lIns="0" tIns="0" rIns="0" bIns="0" rtlCol="0" anchor="t"/>
          <a:lstStyle/>
          <a:p>
            <a:pPr algn="l" indent="0" marL="0">
              <a:buNone/>
            </a:pPr>
            <a:r>
              <a:rPr lang="en-US" sz="1350" b="1" dirty="0">
                <a:solidFill>
                  <a:srgbClr val="1A1A1A"/>
                </a:solidFill>
                <a:latin typeface="Cambria" pitchFamily="34" charset="0"/>
                <a:ea typeface="Cambria" pitchFamily="34" charset="-122"/>
                <a:cs typeface="Cambria" pitchFamily="34" charset="-120"/>
              </a:rPr>
              <a:t>independent grounding model</a:t>
            </a:r>
            <a:endParaRPr lang="en-US" sz="1350" dirty="0"/>
          </a:p>
        </p:txBody>
      </p:sp>
      <p:sp>
        <p:nvSpPr>
          <p:cNvPr id="18" name="Text 16"/>
          <p:cNvSpPr/>
          <p:nvPr/>
        </p:nvSpPr>
        <p:spPr>
          <a:xfrm>
            <a:off x="4800600" y="2642616"/>
            <a:ext cx="3703320" cy="365760"/>
          </a:xfrm>
          <a:prstGeom prst="rect">
            <a:avLst/>
          </a:prstGeom>
          <a:noFill/>
          <a:ln/>
        </p:spPr>
        <p:txBody>
          <a:bodyPr wrap="square" lIns="0" tIns="0" rIns="0" bIns="0" rtlCol="0" anchor="t"/>
          <a:lstStyle/>
          <a:p>
            <a:pPr algn="l" indent="0" marL="0">
              <a:buNone/>
            </a:pPr>
            <a:r>
              <a:rPr lang="en-US" sz="1150" dirty="0">
                <a:solidFill>
                  <a:srgbClr val="5A5A66"/>
                </a:solidFill>
                <a:latin typeface="Cambria" pitchFamily="34" charset="0"/>
                <a:ea typeface="Cambria" pitchFamily="34" charset="-122"/>
                <a:cs typeface="Cambria" pitchFamily="34" charset="-120"/>
              </a:rPr>
              <a:t>never sees the gold coordinate</a:t>
            </a:r>
            <a:endParaRPr lang="en-US" sz="1150" dirty="0"/>
          </a:p>
        </p:txBody>
      </p:sp>
      <p:sp>
        <p:nvSpPr>
          <p:cNvPr id="19" name="Text 17"/>
          <p:cNvSpPr/>
          <p:nvPr/>
        </p:nvSpPr>
        <p:spPr>
          <a:xfrm>
            <a:off x="4663440" y="3063240"/>
            <a:ext cx="3977640" cy="228600"/>
          </a:xfrm>
          <a:prstGeom prst="rect">
            <a:avLst/>
          </a:prstGeom>
          <a:noFill/>
          <a:ln/>
        </p:spPr>
        <p:txBody>
          <a:bodyPr wrap="square" lIns="0" tIns="0" rIns="0" bIns="0" rtlCol="0" anchor="t"/>
          <a:lstStyle/>
          <a:p>
            <a:pPr algn="ctr" indent="0" marL="0">
              <a:buNone/>
            </a:pPr>
            <a:r>
              <a:rPr lang="en-US" sz="1300" b="1" dirty="0">
                <a:solidFill>
                  <a:srgbClr val="4F417A"/>
                </a:solidFill>
                <a:latin typeface="Cambria" pitchFamily="34" charset="0"/>
                <a:ea typeface="Cambria" pitchFamily="34" charset="-122"/>
                <a:cs typeface="Cambria" pitchFamily="34" charset="-120"/>
              </a:rPr>
              <a:t>↓</a:t>
            </a:r>
            <a:endParaRPr lang="en-US" sz="1300" dirty="0"/>
          </a:p>
        </p:txBody>
      </p:sp>
      <p:sp>
        <p:nvSpPr>
          <p:cNvPr id="20" name="Shape 18"/>
          <p:cNvSpPr/>
          <p:nvPr/>
        </p:nvSpPr>
        <p:spPr>
          <a:xfrm>
            <a:off x="4663440" y="3291840"/>
            <a:ext cx="3977640" cy="841248"/>
          </a:xfrm>
          <a:prstGeom prst="roundRect">
            <a:avLst>
              <a:gd name="adj" fmla="val 5435"/>
            </a:avLst>
          </a:prstGeom>
          <a:solidFill>
            <a:srgbClr val="322164"/>
          </a:solidFill>
          <a:ln/>
          <a:effectLst>
            <a:outerShdw sx="100000" sy="100000" kx="0" ky="0" algn="bl" rotWithShape="0" blurRad="63500" dist="31750" dir="2700000">
              <a:srgbClr val="8C8C99">
                <a:alpha val="45000"/>
              </a:srgbClr>
            </a:outerShdw>
          </a:effectLst>
        </p:spPr>
      </p:sp>
      <p:sp>
        <p:nvSpPr>
          <p:cNvPr id="21" name="Text 19"/>
          <p:cNvSpPr/>
          <p:nvPr/>
        </p:nvSpPr>
        <p:spPr>
          <a:xfrm>
            <a:off x="4800600" y="3364992"/>
            <a:ext cx="3703320" cy="292608"/>
          </a:xfrm>
          <a:prstGeom prst="rect">
            <a:avLst/>
          </a:prstGeom>
          <a:noFill/>
          <a:ln/>
        </p:spPr>
        <p:txBody>
          <a:bodyPr wrap="square" lIns="0" tIns="0" rIns="0" bIns="0" rtlCol="0" anchor="t"/>
          <a:lstStyle/>
          <a:p>
            <a:pPr algn="l" indent="0" marL="0">
              <a:buNone/>
            </a:pPr>
            <a:r>
              <a:rPr lang="en-US" sz="1350" b="1" dirty="0">
                <a:solidFill>
                  <a:srgbClr val="FFFFFF"/>
                </a:solidFill>
                <a:latin typeface="Cambria" pitchFamily="34" charset="0"/>
                <a:ea typeface="Cambria" pitchFamily="34" charset="-122"/>
                <a:cs typeface="Cambria" pitchFamily="34" charset="-120"/>
              </a:rPr>
              <a:t>predicted point</a:t>
            </a:r>
            <a:endParaRPr lang="en-US" sz="1350" dirty="0"/>
          </a:p>
        </p:txBody>
      </p:sp>
      <p:sp>
        <p:nvSpPr>
          <p:cNvPr id="22" name="Text 20"/>
          <p:cNvSpPr/>
          <p:nvPr/>
        </p:nvSpPr>
        <p:spPr>
          <a:xfrm>
            <a:off x="4800600" y="3694176"/>
            <a:ext cx="3703320" cy="365760"/>
          </a:xfrm>
          <a:prstGeom prst="rect">
            <a:avLst/>
          </a:prstGeom>
          <a:noFill/>
          <a:ln/>
        </p:spPr>
        <p:txBody>
          <a:bodyPr wrap="square" lIns="0" tIns="0" rIns="0" bIns="0" rtlCol="0" anchor="t"/>
          <a:lstStyle/>
          <a:p>
            <a:pPr algn="l" indent="0" marL="0">
              <a:buNone/>
            </a:pPr>
            <a:r>
              <a:rPr lang="en-US" sz="1150" dirty="0">
                <a:solidFill>
                  <a:srgbClr val="D8D4E6"/>
                </a:solidFill>
                <a:latin typeface="Cambria" pitchFamily="34" charset="0"/>
                <a:ea typeface="Cambria" pitchFamily="34" charset="-122"/>
                <a:cs typeface="Cambria" pitchFamily="34" charset="-120"/>
              </a:rPr>
              <a:t>geometry against the recorded human touch</a:t>
            </a:r>
            <a:endParaRPr lang="en-US" sz="1150" dirty="0"/>
          </a:p>
        </p:txBody>
      </p:sp>
      <p:sp>
        <p:nvSpPr>
          <p:cNvPr id="23" name="Shape 21"/>
          <p:cNvSpPr/>
          <p:nvPr/>
        </p:nvSpPr>
        <p:spPr>
          <a:xfrm>
            <a:off x="502920" y="4617720"/>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24" name="Text 22"/>
          <p:cNvSpPr/>
          <p:nvPr/>
        </p:nvSpPr>
        <p:spPr>
          <a:xfrm>
            <a:off x="731520" y="4617720"/>
            <a:ext cx="7680960" cy="1051560"/>
          </a:xfrm>
          <a:prstGeom prst="rect">
            <a:avLst/>
          </a:prstGeom>
          <a:noFill/>
          <a:ln/>
        </p:spPr>
        <p:txBody>
          <a:bodyPr wrap="square" lIns="0" tIns="0" rIns="0" bIns="0" rtlCol="0" anchor="ctr"/>
          <a:lstStyle/>
          <a:p>
            <a:pPr algn="l" indent="0" marL="0">
              <a:lnSpc>
                <a:spcPct val="140000"/>
              </a:lnSpc>
              <a:buNone/>
            </a:pPr>
            <a:r>
              <a:rPr lang="en-US" sz="1350" b="1" dirty="0">
                <a:solidFill>
                  <a:srgbClr val="B22222"/>
                </a:solidFill>
                <a:latin typeface="Cambria" pitchFamily="34" charset="0"/>
                <a:ea typeface="Cambria" pitchFamily="34" charset="-122"/>
                <a:cs typeface="Cambria" pitchFamily="34" charset="-120"/>
              </a:rPr>
              <a:t>This is not LLM-as-judge.</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  The rubric is a coordinate a real person touched. The grounder contributes only a localisation, geometry decides, and the same grounder scores every branch.</a:t>
            </a:r>
            <a:endParaRPr lang="en-US" sz="1350" dirty="0"/>
          </a:p>
        </p:txBody>
      </p:sp>
      <p:sp>
        <p:nvSpPr>
          <p:cNvPr id="26" name="Shape 23"/>
          <p:cNvSpPr/>
          <p:nvPr/>
        </p:nvSpPr>
        <p:spPr>
          <a:xfrm>
            <a:off x="0" y="6620256"/>
            <a:ext cx="2194560" cy="237744"/>
          </a:xfrm>
          <a:prstGeom prst="rect">
            <a:avLst/>
          </a:prstGeom>
          <a:solidFill>
            <a:srgbClr val="191132"/>
          </a:solidFill>
          <a:ln/>
        </p:spPr>
      </p:sp>
      <p:sp>
        <p:nvSpPr>
          <p:cNvPr id="27" name="Shape 24"/>
          <p:cNvSpPr/>
          <p:nvPr/>
        </p:nvSpPr>
        <p:spPr>
          <a:xfrm>
            <a:off x="2194560" y="6620256"/>
            <a:ext cx="3931920" cy="237744"/>
          </a:xfrm>
          <a:prstGeom prst="rect">
            <a:avLst/>
          </a:prstGeom>
          <a:solidFill>
            <a:srgbClr val="25194B"/>
          </a:solidFill>
          <a:ln/>
        </p:spPr>
      </p:sp>
      <p:sp>
        <p:nvSpPr>
          <p:cNvPr id="28" name="Shape 25"/>
          <p:cNvSpPr/>
          <p:nvPr/>
        </p:nvSpPr>
        <p:spPr>
          <a:xfrm>
            <a:off x="6126480" y="6620256"/>
            <a:ext cx="1737360" cy="237744"/>
          </a:xfrm>
          <a:prstGeom prst="rect">
            <a:avLst/>
          </a:prstGeom>
          <a:solidFill>
            <a:srgbClr val="4F417A"/>
          </a:solidFill>
          <a:ln/>
        </p:spPr>
      </p:sp>
      <p:sp>
        <p:nvSpPr>
          <p:cNvPr id="29" name="Shape 26"/>
          <p:cNvSpPr/>
          <p:nvPr/>
        </p:nvSpPr>
        <p:spPr>
          <a:xfrm>
            <a:off x="7863840" y="6620256"/>
            <a:ext cx="1280160" cy="237744"/>
          </a:xfrm>
          <a:prstGeom prst="rect">
            <a:avLst/>
          </a:prstGeom>
          <a:solidFill>
            <a:srgbClr val="7A7099"/>
          </a:solidFill>
          <a:ln/>
        </p:spPr>
      </p:sp>
      <p:sp>
        <p:nvSpPr>
          <p:cNvPr id="30" name="Text 27"/>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1" name="Text 28"/>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2" name="Text 2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3" name="Text 3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3/17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Four contributions, and the honest status of each</a:t>
            </a:r>
            <a:endParaRPr lang="en-US" sz="1900" dirty="0"/>
          </a:p>
        </p:txBody>
      </p:sp>
      <p:sp>
        <p:nvSpPr>
          <p:cNvPr id="4" name="Shape 2"/>
          <p:cNvSpPr/>
          <p:nvPr/>
        </p:nvSpPr>
        <p:spPr>
          <a:xfrm>
            <a:off x="502920" y="868680"/>
            <a:ext cx="813816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12648" y="996696"/>
            <a:ext cx="502920" cy="411480"/>
          </a:xfrm>
          <a:prstGeom prst="rect">
            <a:avLst/>
          </a:prstGeom>
          <a:noFill/>
          <a:ln/>
        </p:spPr>
        <p:txBody>
          <a:bodyPr wrap="square" lIns="0" tIns="0" rIns="0" bIns="0" rtlCol="0" anchor="t"/>
          <a:lstStyle/>
          <a:p>
            <a:pPr algn="ctr" indent="0" marL="0">
              <a:buNone/>
            </a:pPr>
            <a:r>
              <a:rPr lang="en-US" sz="2000" b="1" i="1" dirty="0">
                <a:solidFill>
                  <a:srgbClr val="322164"/>
                </a:solidFill>
                <a:latin typeface="Cambria" pitchFamily="34" charset="0"/>
                <a:ea typeface="Cambria" pitchFamily="34" charset="-122"/>
                <a:cs typeface="Cambria" pitchFamily="34" charset="-120"/>
              </a:rPr>
              <a:t>i</a:t>
            </a:r>
            <a:endParaRPr lang="en-US" sz="2000" dirty="0"/>
          </a:p>
        </p:txBody>
      </p:sp>
      <p:sp>
        <p:nvSpPr>
          <p:cNvPr id="6" name="Text 4"/>
          <p:cNvSpPr/>
          <p:nvPr/>
        </p:nvSpPr>
        <p:spPr>
          <a:xfrm>
            <a:off x="1188720" y="978408"/>
            <a:ext cx="4754880" cy="384048"/>
          </a:xfrm>
          <a:prstGeom prst="rect">
            <a:avLst/>
          </a:prstGeom>
          <a:noFill/>
          <a:ln/>
        </p:spPr>
        <p:txBody>
          <a:bodyPr wrap="square" lIns="0" tIns="0" rIns="0" bIns="0" rtlCol="0" anchor="t"/>
          <a:lstStyle/>
          <a:p>
            <a:pPr algn="l" indent="0" marL="0">
              <a:lnSpc>
                <a:spcPct val="115000"/>
              </a:lnSpc>
              <a:buNone/>
            </a:pPr>
            <a:r>
              <a:rPr lang="en-US" sz="1400" b="1" dirty="0">
                <a:solidFill>
                  <a:srgbClr val="322164"/>
                </a:solidFill>
                <a:latin typeface="Cambria" pitchFamily="34" charset="0"/>
                <a:ea typeface="Cambria" pitchFamily="34" charset="-122"/>
                <a:cs typeface="Cambria" pitchFamily="34" charset="-120"/>
              </a:rPr>
              <a:t>An instrument calibrated at both ends</a:t>
            </a:r>
            <a:endParaRPr lang="en-US" sz="1400" dirty="0"/>
          </a:p>
        </p:txBody>
      </p:sp>
      <p:sp>
        <p:nvSpPr>
          <p:cNvPr id="7" name="Text 5"/>
          <p:cNvSpPr/>
          <p:nvPr/>
        </p:nvSpPr>
        <p:spPr>
          <a:xfrm>
            <a:off x="6080760" y="996696"/>
            <a:ext cx="2377440" cy="320040"/>
          </a:xfrm>
          <a:prstGeom prst="rect">
            <a:avLst/>
          </a:prstGeom>
          <a:noFill/>
          <a:ln/>
        </p:spPr>
        <p:txBody>
          <a:bodyPr wrap="square" lIns="0" tIns="0" rIns="0" bIns="0" rtlCol="0" anchor="t"/>
          <a:lstStyle/>
          <a:p>
            <a:pPr algn="r" indent="0" marL="0">
              <a:buNone/>
            </a:pPr>
            <a:r>
              <a:rPr lang="en-US" sz="1200" b="1" dirty="0">
                <a:solidFill>
                  <a:srgbClr val="006666"/>
                </a:solidFill>
                <a:latin typeface="Cambria" pitchFamily="34" charset="0"/>
                <a:ea typeface="Cambria" pitchFamily="34" charset="-122"/>
                <a:cs typeface="Cambria" pitchFamily="34" charset="-120"/>
              </a:rPr>
              <a:t>complete</a:t>
            </a:r>
            <a:endParaRPr lang="en-US" sz="1200" dirty="0"/>
          </a:p>
        </p:txBody>
      </p:sp>
      <p:sp>
        <p:nvSpPr>
          <p:cNvPr id="8" name="Text 6"/>
          <p:cNvSpPr/>
          <p:nvPr/>
        </p:nvSpPr>
        <p:spPr>
          <a:xfrm>
            <a:off x="1188720" y="1417320"/>
            <a:ext cx="7223760" cy="47548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Measured ceiling 75.7 and, less usually, a measured floor: 12.0 contentless, 6.1 wrong-screen.</a:t>
            </a:r>
            <a:endParaRPr lang="en-US" sz="1250" dirty="0"/>
          </a:p>
        </p:txBody>
      </p:sp>
      <p:sp>
        <p:nvSpPr>
          <p:cNvPr id="9" name="Shape 7"/>
          <p:cNvSpPr/>
          <p:nvPr/>
        </p:nvSpPr>
        <p:spPr>
          <a:xfrm>
            <a:off x="502920" y="2075688"/>
            <a:ext cx="813816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612648" y="2203704"/>
            <a:ext cx="502920" cy="411480"/>
          </a:xfrm>
          <a:prstGeom prst="rect">
            <a:avLst/>
          </a:prstGeom>
          <a:noFill/>
          <a:ln/>
        </p:spPr>
        <p:txBody>
          <a:bodyPr wrap="square" lIns="0" tIns="0" rIns="0" bIns="0" rtlCol="0" anchor="t"/>
          <a:lstStyle/>
          <a:p>
            <a:pPr algn="ctr" indent="0" marL="0">
              <a:buNone/>
            </a:pPr>
            <a:r>
              <a:rPr lang="en-US" sz="2000" b="1" i="1" dirty="0">
                <a:solidFill>
                  <a:srgbClr val="322164"/>
                </a:solidFill>
                <a:latin typeface="Cambria" pitchFamily="34" charset="0"/>
                <a:ea typeface="Cambria" pitchFamily="34" charset="-122"/>
                <a:cs typeface="Cambria" pitchFamily="34" charset="-120"/>
              </a:rPr>
              <a:t>ii</a:t>
            </a:r>
            <a:endParaRPr lang="en-US" sz="2000" dirty="0"/>
          </a:p>
        </p:txBody>
      </p:sp>
      <p:sp>
        <p:nvSpPr>
          <p:cNvPr id="11" name="Text 9"/>
          <p:cNvSpPr/>
          <p:nvPr/>
        </p:nvSpPr>
        <p:spPr>
          <a:xfrm>
            <a:off x="1188720" y="2185416"/>
            <a:ext cx="4754880" cy="384048"/>
          </a:xfrm>
          <a:prstGeom prst="rect">
            <a:avLst/>
          </a:prstGeom>
          <a:noFill/>
          <a:ln/>
        </p:spPr>
        <p:txBody>
          <a:bodyPr wrap="square" lIns="0" tIns="0" rIns="0" bIns="0" rtlCol="0" anchor="t"/>
          <a:lstStyle/>
          <a:p>
            <a:pPr algn="l" indent="0" marL="0">
              <a:lnSpc>
                <a:spcPct val="115000"/>
              </a:lnSpc>
              <a:buNone/>
            </a:pPr>
            <a:r>
              <a:rPr lang="en-US" sz="1400" b="1" dirty="0">
                <a:solidFill>
                  <a:srgbClr val="322164"/>
                </a:solidFill>
                <a:latin typeface="Cambria" pitchFamily="34" charset="0"/>
                <a:ea typeface="Cambria" pitchFamily="34" charset="-122"/>
                <a:cs typeface="Cambria" pitchFamily="34" charset="-120"/>
              </a:rPr>
              <a:t>Supervision that adds no annotation of its own</a:t>
            </a:r>
            <a:endParaRPr lang="en-US" sz="1400" dirty="0"/>
          </a:p>
        </p:txBody>
      </p:sp>
      <p:sp>
        <p:nvSpPr>
          <p:cNvPr id="12" name="Text 10"/>
          <p:cNvSpPr/>
          <p:nvPr/>
        </p:nvSpPr>
        <p:spPr>
          <a:xfrm>
            <a:off x="6080760" y="2203704"/>
            <a:ext cx="2377440" cy="320040"/>
          </a:xfrm>
          <a:prstGeom prst="rect">
            <a:avLst/>
          </a:prstGeom>
          <a:noFill/>
          <a:ln/>
        </p:spPr>
        <p:txBody>
          <a:bodyPr wrap="square" lIns="0" tIns="0" rIns="0" bIns="0" rtlCol="0" anchor="t"/>
          <a:lstStyle/>
          <a:p>
            <a:pPr algn="r" indent="0" marL="0">
              <a:buNone/>
            </a:pPr>
            <a:r>
              <a:rPr lang="en-US" sz="1200" b="1" dirty="0">
                <a:solidFill>
                  <a:srgbClr val="006666"/>
                </a:solidFill>
                <a:latin typeface="Cambria" pitchFamily="34" charset="0"/>
                <a:ea typeface="Cambria" pitchFamily="34" charset="-122"/>
                <a:cs typeface="Cambria" pitchFamily="34" charset="-120"/>
              </a:rPr>
              <a:t>complete</a:t>
            </a:r>
            <a:endParaRPr lang="en-US" sz="1200" dirty="0"/>
          </a:p>
        </p:txBody>
      </p:sp>
      <p:sp>
        <p:nvSpPr>
          <p:cNvPr id="13" name="Text 11"/>
          <p:cNvSpPr/>
          <p:nvPr/>
        </p:nvSpPr>
        <p:spPr>
          <a:xfrm>
            <a:off x="1188720" y="2624328"/>
            <a:ext cx="7223760" cy="47548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Gain measured at two seeds and replicated under a second, independently trained grounder.</a:t>
            </a:r>
            <a:endParaRPr lang="en-US" sz="1250" dirty="0"/>
          </a:p>
        </p:txBody>
      </p:sp>
      <p:sp>
        <p:nvSpPr>
          <p:cNvPr id="14" name="Shape 12"/>
          <p:cNvSpPr/>
          <p:nvPr/>
        </p:nvSpPr>
        <p:spPr>
          <a:xfrm>
            <a:off x="502920" y="3282696"/>
            <a:ext cx="813816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15" name="Text 13"/>
          <p:cNvSpPr/>
          <p:nvPr/>
        </p:nvSpPr>
        <p:spPr>
          <a:xfrm>
            <a:off x="612648" y="3410712"/>
            <a:ext cx="502920" cy="411480"/>
          </a:xfrm>
          <a:prstGeom prst="rect">
            <a:avLst/>
          </a:prstGeom>
          <a:noFill/>
          <a:ln/>
        </p:spPr>
        <p:txBody>
          <a:bodyPr wrap="square" lIns="0" tIns="0" rIns="0" bIns="0" rtlCol="0" anchor="t"/>
          <a:lstStyle/>
          <a:p>
            <a:pPr algn="ctr" indent="0" marL="0">
              <a:buNone/>
            </a:pPr>
            <a:r>
              <a:rPr lang="en-US" sz="2000" b="1" i="1" dirty="0">
                <a:solidFill>
                  <a:srgbClr val="322164"/>
                </a:solidFill>
                <a:latin typeface="Cambria" pitchFamily="34" charset="0"/>
                <a:ea typeface="Cambria" pitchFamily="34" charset="-122"/>
                <a:cs typeface="Cambria" pitchFamily="34" charset="-120"/>
              </a:rPr>
              <a:t>iii</a:t>
            </a:r>
            <a:endParaRPr lang="en-US" sz="2000" dirty="0"/>
          </a:p>
        </p:txBody>
      </p:sp>
      <p:sp>
        <p:nvSpPr>
          <p:cNvPr id="16" name="Text 14"/>
          <p:cNvSpPr/>
          <p:nvPr/>
        </p:nvSpPr>
        <p:spPr>
          <a:xfrm>
            <a:off x="1188720" y="3392424"/>
            <a:ext cx="4754880" cy="384048"/>
          </a:xfrm>
          <a:prstGeom prst="rect">
            <a:avLst/>
          </a:prstGeom>
          <a:noFill/>
          <a:ln/>
        </p:spPr>
        <p:txBody>
          <a:bodyPr wrap="square" lIns="0" tIns="0" rIns="0" bIns="0" rtlCol="0" anchor="t"/>
          <a:lstStyle/>
          <a:p>
            <a:pPr algn="l" indent="0" marL="0">
              <a:lnSpc>
                <a:spcPct val="115000"/>
              </a:lnSpc>
              <a:buNone/>
            </a:pPr>
            <a:r>
              <a:rPr lang="en-US" sz="1400" b="1" dirty="0">
                <a:solidFill>
                  <a:srgbClr val="322164"/>
                </a:solidFill>
                <a:latin typeface="Cambria" pitchFamily="34" charset="0"/>
                <a:ea typeface="Cambria" pitchFamily="34" charset="-122"/>
                <a:cs typeface="Cambria" pitchFamily="34" charset="-120"/>
              </a:rPr>
              <a:t>A pre-registered ablation of the descriptor prefix</a:t>
            </a:r>
            <a:endParaRPr lang="en-US" sz="1400" dirty="0"/>
          </a:p>
        </p:txBody>
      </p:sp>
      <p:sp>
        <p:nvSpPr>
          <p:cNvPr id="17" name="Text 15"/>
          <p:cNvSpPr/>
          <p:nvPr/>
        </p:nvSpPr>
        <p:spPr>
          <a:xfrm>
            <a:off x="6080760" y="3410712"/>
            <a:ext cx="2377440" cy="320040"/>
          </a:xfrm>
          <a:prstGeom prst="rect">
            <a:avLst/>
          </a:prstGeom>
          <a:noFill/>
          <a:ln/>
        </p:spPr>
        <p:txBody>
          <a:bodyPr wrap="square" lIns="0" tIns="0" rIns="0" bIns="0" rtlCol="0" anchor="t"/>
          <a:lstStyle/>
          <a:p>
            <a:pPr algn="r" indent="0" marL="0">
              <a:buNone/>
            </a:pPr>
            <a:r>
              <a:rPr lang="en-US" sz="1200" b="1" dirty="0">
                <a:solidFill>
                  <a:srgbClr val="B22222"/>
                </a:solidFill>
                <a:latin typeface="Cambria" pitchFamily="34" charset="0"/>
                <a:ea typeface="Cambria" pitchFamily="34" charset="-122"/>
                <a:cs typeface="Cambria" pitchFamily="34" charset="-120"/>
              </a:rPr>
              <a:t>permanently incomplete</a:t>
            </a:r>
            <a:endParaRPr lang="en-US" sz="1200" dirty="0"/>
          </a:p>
        </p:txBody>
      </p:sp>
      <p:sp>
        <p:nvSpPr>
          <p:cNvPr id="18" name="Text 16"/>
          <p:cNvSpPr/>
          <p:nvPr/>
        </p:nvSpPr>
        <p:spPr>
          <a:xfrm>
            <a:off x="1188720" y="3831336"/>
            <a:ext cx="7223760" cy="47548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One of four registered runs was never executed. Reported against the rules that refuse a conclusion.</a:t>
            </a:r>
            <a:endParaRPr lang="en-US" sz="1250" dirty="0"/>
          </a:p>
        </p:txBody>
      </p:sp>
      <p:sp>
        <p:nvSpPr>
          <p:cNvPr id="19" name="Shape 17"/>
          <p:cNvSpPr/>
          <p:nvPr/>
        </p:nvSpPr>
        <p:spPr>
          <a:xfrm>
            <a:off x="502920" y="4489704"/>
            <a:ext cx="813816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20" name="Text 18"/>
          <p:cNvSpPr/>
          <p:nvPr/>
        </p:nvSpPr>
        <p:spPr>
          <a:xfrm>
            <a:off x="612648" y="4617720"/>
            <a:ext cx="502920" cy="411480"/>
          </a:xfrm>
          <a:prstGeom prst="rect">
            <a:avLst/>
          </a:prstGeom>
          <a:noFill/>
          <a:ln/>
        </p:spPr>
        <p:txBody>
          <a:bodyPr wrap="square" lIns="0" tIns="0" rIns="0" bIns="0" rtlCol="0" anchor="t"/>
          <a:lstStyle/>
          <a:p>
            <a:pPr algn="ctr" indent="0" marL="0">
              <a:buNone/>
            </a:pPr>
            <a:r>
              <a:rPr lang="en-US" sz="2000" b="1" i="1" dirty="0">
                <a:solidFill>
                  <a:srgbClr val="322164"/>
                </a:solidFill>
                <a:latin typeface="Cambria" pitchFamily="34" charset="0"/>
                <a:ea typeface="Cambria" pitchFamily="34" charset="-122"/>
                <a:cs typeface="Cambria" pitchFamily="34" charset="-120"/>
              </a:rPr>
              <a:t>iv</a:t>
            </a:r>
            <a:endParaRPr lang="en-US" sz="2000" dirty="0"/>
          </a:p>
        </p:txBody>
      </p:sp>
      <p:sp>
        <p:nvSpPr>
          <p:cNvPr id="21" name="Text 19"/>
          <p:cNvSpPr/>
          <p:nvPr/>
        </p:nvSpPr>
        <p:spPr>
          <a:xfrm>
            <a:off x="1188720" y="4599432"/>
            <a:ext cx="4754880" cy="384048"/>
          </a:xfrm>
          <a:prstGeom prst="rect">
            <a:avLst/>
          </a:prstGeom>
          <a:noFill/>
          <a:ln/>
        </p:spPr>
        <p:txBody>
          <a:bodyPr wrap="square" lIns="0" tIns="0" rIns="0" bIns="0" rtlCol="0" anchor="t"/>
          <a:lstStyle/>
          <a:p>
            <a:pPr algn="l" indent="0" marL="0">
              <a:lnSpc>
                <a:spcPct val="115000"/>
              </a:lnSpc>
              <a:buNone/>
            </a:pPr>
            <a:r>
              <a:rPr lang="en-US" sz="1400" b="1" dirty="0">
                <a:solidFill>
                  <a:srgbClr val="322164"/>
                </a:solidFill>
                <a:latin typeface="Cambria" pitchFamily="34" charset="0"/>
                <a:ea typeface="Cambria" pitchFamily="34" charset="-122"/>
                <a:cs typeface="Cambria" pitchFamily="34" charset="-120"/>
              </a:rPr>
              <a:t>A diagnosis of when the component pays</a:t>
            </a:r>
            <a:endParaRPr lang="en-US" sz="1400" dirty="0"/>
          </a:p>
        </p:txBody>
      </p:sp>
      <p:sp>
        <p:nvSpPr>
          <p:cNvPr id="22" name="Text 20"/>
          <p:cNvSpPr/>
          <p:nvPr/>
        </p:nvSpPr>
        <p:spPr>
          <a:xfrm>
            <a:off x="6080760" y="4617720"/>
            <a:ext cx="2377440" cy="320040"/>
          </a:xfrm>
          <a:prstGeom prst="rect">
            <a:avLst/>
          </a:prstGeom>
          <a:noFill/>
          <a:ln/>
        </p:spPr>
        <p:txBody>
          <a:bodyPr wrap="square" lIns="0" tIns="0" rIns="0" bIns="0" rtlCol="0" anchor="t"/>
          <a:lstStyle/>
          <a:p>
            <a:pPr algn="r" indent="0" marL="0">
              <a:buNone/>
            </a:pPr>
            <a:r>
              <a:rPr lang="en-US" sz="1200" b="1" dirty="0">
                <a:solidFill>
                  <a:srgbClr val="990000"/>
                </a:solidFill>
                <a:latin typeface="Cambria" pitchFamily="34" charset="0"/>
                <a:ea typeface="Cambria" pitchFamily="34" charset="-122"/>
                <a:cs typeface="Cambria" pitchFamily="34" charset="-120"/>
              </a:rPr>
              <a:t>exploratory, one seed</a:t>
            </a:r>
            <a:endParaRPr lang="en-US" sz="1200" dirty="0"/>
          </a:p>
        </p:txBody>
      </p:sp>
      <p:sp>
        <p:nvSpPr>
          <p:cNvPr id="23" name="Text 21"/>
          <p:cNvSpPr/>
          <p:nvPr/>
        </p:nvSpPr>
        <p:spPr>
          <a:xfrm>
            <a:off x="1188720" y="5038344"/>
            <a:ext cx="7223760" cy="47548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The prefix is worth +5.7 points where identification succeeds and −25 where it fails.</a:t>
            </a:r>
            <a:endParaRPr lang="en-US" sz="1250" dirty="0"/>
          </a:p>
        </p:txBody>
      </p:sp>
      <p:sp>
        <p:nvSpPr>
          <p:cNvPr id="25" name="Shape 22"/>
          <p:cNvSpPr/>
          <p:nvPr/>
        </p:nvSpPr>
        <p:spPr>
          <a:xfrm>
            <a:off x="0" y="6620256"/>
            <a:ext cx="2194560" cy="237744"/>
          </a:xfrm>
          <a:prstGeom prst="rect">
            <a:avLst/>
          </a:prstGeom>
          <a:solidFill>
            <a:srgbClr val="191132"/>
          </a:solidFill>
          <a:ln/>
        </p:spPr>
      </p:sp>
      <p:sp>
        <p:nvSpPr>
          <p:cNvPr id="26" name="Shape 23"/>
          <p:cNvSpPr/>
          <p:nvPr/>
        </p:nvSpPr>
        <p:spPr>
          <a:xfrm>
            <a:off x="2194560" y="6620256"/>
            <a:ext cx="393192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0" name="Text 27"/>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4/17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Executability: three conditions, read from the implementation</a:t>
            </a:r>
            <a:endParaRPr lang="en-US" sz="1900" dirty="0"/>
          </a:p>
        </p:txBody>
      </p:sp>
      <p:sp>
        <p:nvSpPr>
          <p:cNvPr id="4" name="Shape 2"/>
          <p:cNvSpPr/>
          <p:nvPr/>
        </p:nvSpPr>
        <p:spPr>
          <a:xfrm>
            <a:off x="502920" y="822960"/>
            <a:ext cx="4206240" cy="1097280"/>
          </a:xfrm>
          <a:prstGeom prst="roundRect">
            <a:avLst>
              <a:gd name="adj" fmla="val 4167"/>
            </a:avLst>
          </a:prstGeom>
          <a:solidFill>
            <a:srgbClr val="E9E8EC"/>
          </a:solidFill>
          <a:ln/>
        </p:spPr>
      </p:sp>
      <p:sp>
        <p:nvSpPr>
          <p:cNvPr id="5" name="Text 3"/>
          <p:cNvSpPr/>
          <p:nvPr/>
        </p:nvSpPr>
        <p:spPr>
          <a:xfrm>
            <a:off x="612648" y="886968"/>
            <a:ext cx="50292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(i)</a:t>
            </a:r>
            <a:endParaRPr lang="en-US" sz="1250" dirty="0"/>
          </a:p>
        </p:txBody>
      </p:sp>
      <p:sp>
        <p:nvSpPr>
          <p:cNvPr id="6" name="Text 4"/>
          <p:cNvSpPr/>
          <p:nvPr/>
        </p:nvSpPr>
        <p:spPr>
          <a:xfrm>
            <a:off x="1106424" y="886968"/>
            <a:ext cx="347472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Action</a:t>
            </a:r>
            <a:endParaRPr lang="en-US" sz="1350" dirty="0"/>
          </a:p>
        </p:txBody>
      </p:sp>
      <p:sp>
        <p:nvSpPr>
          <p:cNvPr id="7" name="Text 5"/>
          <p:cNvSpPr/>
          <p:nvPr/>
        </p:nvSpPr>
        <p:spPr>
          <a:xfrm>
            <a:off x="649224" y="1207008"/>
            <a:ext cx="3913632" cy="676656"/>
          </a:xfrm>
          <a:prstGeom prst="rect">
            <a:avLst/>
          </a:prstGeom>
          <a:noFill/>
          <a:ln/>
        </p:spPr>
        <p:txBody>
          <a:bodyPr wrap="square" lIns="0" tIns="0" rIns="0" bIns="0" rtlCol="0" anchor="t"/>
          <a:lstStyle/>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Canonicalised action types agree. Twelve surface verbs map to one touch class; type, scroll, long-press and back stay distinct.</a:t>
            </a:r>
            <a:endParaRPr lang="en-US" sz="1150" dirty="0"/>
          </a:p>
        </p:txBody>
      </p:sp>
      <p:sp>
        <p:nvSpPr>
          <p:cNvPr id="8" name="Shape 6"/>
          <p:cNvSpPr/>
          <p:nvPr/>
        </p:nvSpPr>
        <p:spPr>
          <a:xfrm>
            <a:off x="502920" y="2029968"/>
            <a:ext cx="4206240" cy="1097280"/>
          </a:xfrm>
          <a:prstGeom prst="roundRect">
            <a:avLst>
              <a:gd name="adj" fmla="val 4167"/>
            </a:avLst>
          </a:prstGeom>
          <a:solidFill>
            <a:srgbClr val="E9E8EC"/>
          </a:solidFill>
          <a:ln/>
        </p:spPr>
      </p:sp>
      <p:sp>
        <p:nvSpPr>
          <p:cNvPr id="9" name="Text 7"/>
          <p:cNvSpPr/>
          <p:nvPr/>
        </p:nvSpPr>
        <p:spPr>
          <a:xfrm>
            <a:off x="612648" y="2093976"/>
            <a:ext cx="50292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(ii)</a:t>
            </a:r>
            <a:endParaRPr lang="en-US" sz="1250" dirty="0"/>
          </a:p>
        </p:txBody>
      </p:sp>
      <p:sp>
        <p:nvSpPr>
          <p:cNvPr id="10" name="Text 8"/>
          <p:cNvSpPr/>
          <p:nvPr/>
        </p:nvSpPr>
        <p:spPr>
          <a:xfrm>
            <a:off x="1106424" y="2093976"/>
            <a:ext cx="347472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Polarity</a:t>
            </a:r>
            <a:endParaRPr lang="en-US" sz="1350" dirty="0"/>
          </a:p>
        </p:txBody>
      </p:sp>
      <p:sp>
        <p:nvSpPr>
          <p:cNvPr id="11" name="Text 9"/>
          <p:cNvSpPr/>
          <p:nvPr/>
        </p:nvSpPr>
        <p:spPr>
          <a:xfrm>
            <a:off x="649224" y="2414016"/>
            <a:ext cx="3913632" cy="676656"/>
          </a:xfrm>
          <a:prstGeom prst="rect">
            <a:avLst/>
          </a:prstGeom>
          <a:noFill/>
          <a:ln/>
        </p:spPr>
        <p:txBody>
          <a:bodyPr wrap="square" lIns="0" tIns="0" rIns="0" bIns="0" rtlCol="0" anchor="t"/>
          <a:lstStyle/>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The two sentences do not name opposite states of the same control, checked against nine toggle pairs.</a:t>
            </a:r>
            <a:endParaRPr lang="en-US" sz="1150" dirty="0"/>
          </a:p>
        </p:txBody>
      </p:sp>
      <p:sp>
        <p:nvSpPr>
          <p:cNvPr id="12" name="Shape 10"/>
          <p:cNvSpPr/>
          <p:nvPr/>
        </p:nvSpPr>
        <p:spPr>
          <a:xfrm>
            <a:off x="502920" y="3236976"/>
            <a:ext cx="4206240" cy="1097280"/>
          </a:xfrm>
          <a:prstGeom prst="roundRect">
            <a:avLst>
              <a:gd name="adj" fmla="val 4167"/>
            </a:avLst>
          </a:prstGeom>
          <a:solidFill>
            <a:srgbClr val="E9E8EC"/>
          </a:solidFill>
          <a:ln/>
        </p:spPr>
      </p:sp>
      <p:sp>
        <p:nvSpPr>
          <p:cNvPr id="13" name="Text 11"/>
          <p:cNvSpPr/>
          <p:nvPr/>
        </p:nvSpPr>
        <p:spPr>
          <a:xfrm>
            <a:off x="612648" y="3300984"/>
            <a:ext cx="502920" cy="27432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(iii)</a:t>
            </a:r>
            <a:endParaRPr lang="en-US" sz="1250" dirty="0"/>
          </a:p>
        </p:txBody>
      </p:sp>
      <p:sp>
        <p:nvSpPr>
          <p:cNvPr id="14" name="Text 12"/>
          <p:cNvSpPr/>
          <p:nvPr/>
        </p:nvSpPr>
        <p:spPr>
          <a:xfrm>
            <a:off x="1106424" y="3300984"/>
            <a:ext cx="347472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Localisation</a:t>
            </a:r>
            <a:endParaRPr lang="en-US" sz="1350" dirty="0"/>
          </a:p>
        </p:txBody>
      </p:sp>
      <p:sp>
        <p:nvSpPr>
          <p:cNvPr id="15" name="Text 13"/>
          <p:cNvSpPr/>
          <p:nvPr/>
        </p:nvSpPr>
        <p:spPr>
          <a:xfrm>
            <a:off x="649224" y="3621024"/>
            <a:ext cx="3913632" cy="676656"/>
          </a:xfrm>
          <a:prstGeom prst="rect">
            <a:avLst/>
          </a:prstGeom>
          <a:noFill/>
          <a:ln/>
        </p:spPr>
        <p:txBody>
          <a:bodyPr wrap="square" lIns="0" tIns="0" rIns="0" bIns="0" rtlCol="0" anchor="t"/>
          <a:lstStyle/>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The returned point is inside the ±14% tolerance and no competing element centre is closer to it than the gold point.</a:t>
            </a:r>
            <a:endParaRPr lang="en-US" sz="1150" dirty="0"/>
          </a:p>
        </p:txBody>
      </p:sp>
      <p:pic>
        <p:nvPicPr>
          <p:cNvPr id="16" name="Image 0" descr="../../paper/fair2026/fig_voronoi.png">    </p:cNvPr>
          <p:cNvPicPr>
            <a:picLocks noChangeAspect="1"/>
          </p:cNvPicPr>
          <p:nvPr/>
        </p:nvPicPr>
        <p:blipFill>
          <a:blip r:embed="rId1"/>
          <a:stretch>
            <a:fillRect/>
          </a:stretch>
        </p:blipFill>
        <p:spPr>
          <a:xfrm>
            <a:off x="4892040" y="777240"/>
            <a:ext cx="3749040" cy="2532888"/>
          </a:xfrm>
          <a:prstGeom prst="rect">
            <a:avLst/>
          </a:prstGeom>
        </p:spPr>
      </p:pic>
      <p:sp>
        <p:nvSpPr>
          <p:cNvPr id="17" name="Text 14"/>
          <p:cNvSpPr/>
          <p:nvPr/>
        </p:nvSpPr>
        <p:spPr>
          <a:xfrm>
            <a:off x="4892040" y="3346704"/>
            <a:ext cx="3749040" cy="658368"/>
          </a:xfrm>
          <a:prstGeom prst="rect">
            <a:avLst/>
          </a:prstGeom>
          <a:noFill/>
          <a:ln/>
        </p:spPr>
        <p:txBody>
          <a:bodyPr wrap="square" lIns="0" tIns="0" rIns="0" bIns="0" rtlCol="0" anchor="t"/>
          <a:lstStyle/>
          <a:p>
            <a:pPr algn="ctr" indent="0" marL="0">
              <a:lnSpc>
                <a:spcPct val="125000"/>
              </a:lnSpc>
              <a:buNone/>
            </a:pPr>
            <a:r>
              <a:rPr lang="en-US" sz="1050" i="1" dirty="0">
                <a:solidFill>
                  <a:srgbClr val="5A5A66"/>
                </a:solidFill>
                <a:latin typeface="Cambria" pitchFamily="34" charset="0"/>
                <a:ea typeface="Cambria" pitchFamily="34" charset="-122"/>
                <a:cs typeface="Cambria" pitchFamily="34" charset="-120"/>
              </a:rPr>
              <a:t>The user touched the shaded row. The untuned model named the row above; the point lands 128 px away, inside the ±336 px vertical tolerance.</a:t>
            </a:r>
            <a:endParaRPr lang="en-US" sz="1050" dirty="0"/>
          </a:p>
        </p:txBody>
      </p:sp>
      <p:sp>
        <p:nvSpPr>
          <p:cNvPr id="18" name="Shape 15"/>
          <p:cNvSpPr/>
          <p:nvPr/>
        </p:nvSpPr>
        <p:spPr>
          <a:xfrm>
            <a:off x="4892040" y="4069080"/>
            <a:ext cx="3749040" cy="1280160"/>
          </a:xfrm>
          <a:prstGeom prst="roundRect">
            <a:avLst>
              <a:gd name="adj" fmla="val 4286"/>
            </a:avLst>
          </a:prstGeom>
          <a:solidFill>
            <a:srgbClr val="E9E8EC"/>
          </a:solidFill>
          <a:ln/>
          <a:effectLst>
            <a:outerShdw sx="100000" sy="100000" kx="0" ky="0" algn="bl" rotWithShape="0" blurRad="63500" dist="31750" dir="2700000">
              <a:srgbClr val="8C8C99">
                <a:alpha val="45000"/>
              </a:srgbClr>
            </a:outerShdw>
          </a:effectLst>
        </p:spPr>
      </p:sp>
      <p:sp>
        <p:nvSpPr>
          <p:cNvPr id="19" name="Text 16"/>
          <p:cNvSpPr/>
          <p:nvPr/>
        </p:nvSpPr>
        <p:spPr>
          <a:xfrm>
            <a:off x="4983480" y="4160520"/>
            <a:ext cx="201168" cy="566928"/>
          </a:xfrm>
          <a:prstGeom prst="rect">
            <a:avLst/>
          </a:prstGeom>
          <a:noFill/>
          <a:ln/>
        </p:spPr>
        <p:txBody>
          <a:bodyPr wrap="square" lIns="0" tIns="0" rIns="0" bIns="0" rtlCol="0" anchor="t"/>
          <a:lstStyle/>
          <a:p>
            <a:pPr algn="l" indent="0" marL="0">
              <a:buNone/>
            </a:pPr>
            <a:r>
              <a:rPr lang="en-US" sz="1100" b="1" dirty="0">
                <a:solidFill>
                  <a:srgbClr val="006666"/>
                </a:solidFill>
                <a:latin typeface="Cambria" pitchFamily="34" charset="0"/>
                <a:ea typeface="Cambria" pitchFamily="34" charset="-122"/>
                <a:cs typeface="Cambria" pitchFamily="34" charset="-120"/>
              </a:rPr>
              <a:t>•</a:t>
            </a:r>
            <a:endParaRPr lang="en-US" sz="1100" dirty="0"/>
          </a:p>
        </p:txBody>
      </p:sp>
      <p:sp>
        <p:nvSpPr>
          <p:cNvPr id="20" name="Text 17"/>
          <p:cNvSpPr/>
          <p:nvPr/>
        </p:nvSpPr>
        <p:spPr>
          <a:xfrm>
            <a:off x="5212080" y="4160520"/>
            <a:ext cx="3337560" cy="530352"/>
          </a:xfrm>
          <a:prstGeom prst="rect">
            <a:avLst/>
          </a:prstGeom>
          <a:noFill/>
          <a:ln/>
        </p:spPr>
        <p:txBody>
          <a:bodyPr wrap="square" lIns="0" tIns="0" rIns="0" bIns="0" rtlCol="0" anchor="t"/>
          <a:lstStyle/>
          <a:p>
            <a:pPr algn="l" indent="0" marL="0">
              <a:lnSpc>
                <a:spcPct val="125000"/>
              </a:lnSpc>
              <a:buNone/>
            </a:pPr>
            <a:r>
              <a:rPr lang="en-US" sz="1100" dirty="0">
                <a:solidFill>
                  <a:srgbClr val="1A1A1A"/>
                </a:solidFill>
                <a:latin typeface="Cambria" pitchFamily="34" charset="0"/>
                <a:ea typeface="Cambria" pitchFamily="34" charset="-122"/>
                <a:cs typeface="Cambria" pitchFamily="34" charset="-120"/>
              </a:rPr>
              <a:t>The tolerance region is a per-axis rectangle, not a disc: ±151 px against ±336 px</a:t>
            </a:r>
            <a:endParaRPr lang="en-US" sz="1100" dirty="0"/>
          </a:p>
        </p:txBody>
      </p:sp>
      <p:sp>
        <p:nvSpPr>
          <p:cNvPr id="21" name="Text 18"/>
          <p:cNvSpPr/>
          <p:nvPr/>
        </p:nvSpPr>
        <p:spPr>
          <a:xfrm>
            <a:off x="4983480" y="4727448"/>
            <a:ext cx="201168" cy="566928"/>
          </a:xfrm>
          <a:prstGeom prst="rect">
            <a:avLst/>
          </a:prstGeom>
          <a:noFill/>
          <a:ln/>
        </p:spPr>
        <p:txBody>
          <a:bodyPr wrap="square" lIns="0" tIns="0" rIns="0" bIns="0" rtlCol="0" anchor="t"/>
          <a:lstStyle/>
          <a:p>
            <a:pPr algn="l" indent="0" marL="0">
              <a:buNone/>
            </a:pPr>
            <a:r>
              <a:rPr lang="en-US" sz="1100" b="1" dirty="0">
                <a:solidFill>
                  <a:srgbClr val="006666"/>
                </a:solidFill>
                <a:latin typeface="Cambria" pitchFamily="34" charset="0"/>
                <a:ea typeface="Cambria" pitchFamily="34" charset="-122"/>
                <a:cs typeface="Cambria" pitchFamily="34" charset="-120"/>
              </a:rPr>
              <a:t>•</a:t>
            </a:r>
            <a:endParaRPr lang="en-US" sz="1100" dirty="0"/>
          </a:p>
        </p:txBody>
      </p:sp>
      <p:sp>
        <p:nvSpPr>
          <p:cNvPr id="22" name="Text 19"/>
          <p:cNvSpPr/>
          <p:nvPr/>
        </p:nvSpPr>
        <p:spPr>
          <a:xfrm>
            <a:off x="5212080" y="4727448"/>
            <a:ext cx="3337560" cy="530352"/>
          </a:xfrm>
          <a:prstGeom prst="rect">
            <a:avLst/>
          </a:prstGeom>
          <a:noFill/>
          <a:ln/>
        </p:spPr>
        <p:txBody>
          <a:bodyPr wrap="square" lIns="0" tIns="0" rIns="0" bIns="0" rtlCol="0" anchor="t"/>
          <a:lstStyle/>
          <a:p>
            <a:pPr algn="l" indent="0" marL="0">
              <a:lnSpc>
                <a:spcPct val="125000"/>
              </a:lnSpc>
              <a:buNone/>
            </a:pPr>
            <a:r>
              <a:rPr lang="en-US" sz="1100" dirty="0">
                <a:solidFill>
                  <a:srgbClr val="1A1A1A"/>
                </a:solidFill>
                <a:latin typeface="Cambria" pitchFamily="34" charset="0"/>
                <a:ea typeface="Cambria" pitchFamily="34" charset="-122"/>
                <a:cs typeface="Cambria" pitchFamily="34" charset="-120"/>
              </a:rPr>
              <a:t>The cell seed is the recorded touch point, not the box centre</a:t>
            </a:r>
            <a:endParaRPr lang="en-US" sz="1100" dirty="0"/>
          </a:p>
        </p:txBody>
      </p:sp>
      <p:sp>
        <p:nvSpPr>
          <p:cNvPr id="23" name="Text 20"/>
          <p:cNvSpPr/>
          <p:nvPr/>
        </p:nvSpPr>
        <p:spPr>
          <a:xfrm>
            <a:off x="502920" y="4526280"/>
            <a:ext cx="4206240" cy="822960"/>
          </a:xfrm>
          <a:prstGeom prst="rect">
            <a:avLst/>
          </a:prstGeom>
          <a:noFill/>
          <a:ln/>
        </p:spPr>
        <p:txBody>
          <a:bodyPr wrap="square" lIns="0" tIns="0" rIns="0" bIns="0" rtlCol="0" anchor="t"/>
          <a:lstStyle/>
          <a:p>
            <a:pPr algn="l" indent="0" marL="0">
              <a:lnSpc>
                <a:spcPct val="130000"/>
              </a:lnSpc>
              <a:buNone/>
            </a:pPr>
            <a:r>
              <a:rPr lang="en-US" sz="1200" i="1" dirty="0">
                <a:solidFill>
                  <a:srgbClr val="322164"/>
                </a:solidFill>
                <a:latin typeface="Cambria" pitchFamily="34" charset="0"/>
                <a:ea typeface="Cambria" pitchFamily="34" charset="-122"/>
                <a:cs typeface="Cambria" pitchFamily="34" charset="-120"/>
              </a:rPr>
              <a:t>Condition (iii) refines the tolerance test and never accepts a step that test rejects, so the two are not alternatives.</a:t>
            </a:r>
            <a:endParaRPr lang="en-US" sz="1200" dirty="0"/>
          </a:p>
        </p:txBody>
      </p:sp>
      <p:sp>
        <p:nvSpPr>
          <p:cNvPr id="25" name="Shape 21"/>
          <p:cNvSpPr/>
          <p:nvPr/>
        </p:nvSpPr>
        <p:spPr>
          <a:xfrm>
            <a:off x="0" y="6620256"/>
            <a:ext cx="2194560" cy="237744"/>
          </a:xfrm>
          <a:prstGeom prst="rect">
            <a:avLst/>
          </a:prstGeom>
          <a:solidFill>
            <a:srgbClr val="191132"/>
          </a:solidFill>
          <a:ln/>
        </p:spPr>
      </p:sp>
      <p:sp>
        <p:nvSpPr>
          <p:cNvPr id="26" name="Shape 22"/>
          <p:cNvSpPr/>
          <p:nvPr/>
        </p:nvSpPr>
        <p:spPr>
          <a:xfrm>
            <a:off x="2194560" y="6620256"/>
            <a:ext cx="3931920" cy="237744"/>
          </a:xfrm>
          <a:prstGeom prst="rect">
            <a:avLst/>
          </a:prstGeom>
          <a:solidFill>
            <a:srgbClr val="25194B"/>
          </a:solidFill>
          <a:ln/>
        </p:spPr>
      </p:sp>
      <p:sp>
        <p:nvSpPr>
          <p:cNvPr id="27" name="Shape 23"/>
          <p:cNvSpPr/>
          <p:nvPr/>
        </p:nvSpPr>
        <p:spPr>
          <a:xfrm>
            <a:off x="6126480" y="6620256"/>
            <a:ext cx="1737360" cy="237744"/>
          </a:xfrm>
          <a:prstGeom prst="rect">
            <a:avLst/>
          </a:prstGeom>
          <a:solidFill>
            <a:srgbClr val="4F417A"/>
          </a:solidFill>
          <a:ln/>
        </p:spPr>
      </p:sp>
      <p:sp>
        <p:nvSpPr>
          <p:cNvPr id="28" name="Shape 24"/>
          <p:cNvSpPr/>
          <p:nvPr/>
        </p:nvSpPr>
        <p:spPr>
          <a:xfrm>
            <a:off x="7863840" y="6620256"/>
            <a:ext cx="1280160" cy="237744"/>
          </a:xfrm>
          <a:prstGeom prst="rect">
            <a:avLst/>
          </a:prstGeom>
          <a:solidFill>
            <a:srgbClr val="7A7099"/>
          </a:solidFill>
          <a:ln/>
        </p:spPr>
      </p:sp>
      <p:sp>
        <p:nvSpPr>
          <p:cNvPr id="29" name="Text 25"/>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0" name="Text 26"/>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1"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2"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5/17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Calibrated at both ends before any model claim</a:t>
            </a:r>
            <a:endParaRPr lang="en-US" sz="1900" dirty="0"/>
          </a:p>
        </p:txBody>
      </p:sp>
      <p:sp>
        <p:nvSpPr>
          <p:cNvPr id="4" name="Text 2"/>
          <p:cNvSpPr/>
          <p:nvPr/>
        </p:nvSpPr>
        <p:spPr>
          <a:xfrm>
            <a:off x="502920" y="868680"/>
            <a:ext cx="3383280" cy="365760"/>
          </a:xfrm>
          <a:prstGeom prst="rect">
            <a:avLst/>
          </a:prstGeom>
          <a:noFill/>
          <a:ln/>
        </p:spPr>
        <p:txBody>
          <a:bodyPr wrap="square" lIns="0" tIns="0" rIns="0" bIns="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Human references  (ceiling)</a:t>
            </a:r>
            <a:endParaRPr lang="en-US" sz="1250" dirty="0"/>
          </a:p>
        </p:txBody>
      </p:sp>
      <p:sp>
        <p:nvSpPr>
          <p:cNvPr id="5" name="Shape 3"/>
          <p:cNvSpPr/>
          <p:nvPr/>
        </p:nvSpPr>
        <p:spPr>
          <a:xfrm>
            <a:off x="3977640" y="923544"/>
            <a:ext cx="3474720" cy="256032"/>
          </a:xfrm>
          <a:prstGeom prst="rect">
            <a:avLst/>
          </a:prstGeom>
          <a:solidFill>
            <a:srgbClr val="DCDAE4"/>
          </a:solidFill>
          <a:ln/>
        </p:spPr>
      </p:sp>
      <p:sp>
        <p:nvSpPr>
          <p:cNvPr id="6" name="Shape 4"/>
          <p:cNvSpPr/>
          <p:nvPr/>
        </p:nvSpPr>
        <p:spPr>
          <a:xfrm>
            <a:off x="3977640" y="923544"/>
            <a:ext cx="2630363" cy="256032"/>
          </a:xfrm>
          <a:prstGeom prst="rect">
            <a:avLst/>
          </a:prstGeom>
          <a:solidFill>
            <a:srgbClr val="006666"/>
          </a:solidFill>
          <a:ln/>
        </p:spPr>
      </p:sp>
      <p:sp>
        <p:nvSpPr>
          <p:cNvPr id="7" name="Text 5"/>
          <p:cNvSpPr/>
          <p:nvPr/>
        </p:nvSpPr>
        <p:spPr>
          <a:xfrm>
            <a:off x="7543800" y="868680"/>
            <a:ext cx="1097280" cy="365760"/>
          </a:xfrm>
          <a:prstGeom prst="rect">
            <a:avLst/>
          </a:prstGeom>
          <a:noFill/>
          <a:ln/>
        </p:spPr>
        <p:txBody>
          <a:bodyPr wrap="square" lIns="0" tIns="0" rIns="0" bIns="0" rtlCol="0" anchor="ctr"/>
          <a:lstStyle/>
          <a:p>
            <a:pPr algn="r" indent="0" marL="0">
              <a:buNone/>
            </a:pPr>
            <a:r>
              <a:rPr lang="en-US" sz="1500" b="1" dirty="0">
                <a:solidFill>
                  <a:srgbClr val="006666"/>
                </a:solidFill>
                <a:latin typeface="Cambria" pitchFamily="34" charset="0"/>
                <a:ea typeface="Cambria" pitchFamily="34" charset="-122"/>
                <a:cs typeface="Cambria" pitchFamily="34" charset="-120"/>
              </a:rPr>
              <a:t>75.7</a:t>
            </a:r>
            <a:endParaRPr lang="en-US" sz="1500" dirty="0"/>
          </a:p>
        </p:txBody>
      </p:sp>
      <p:sp>
        <p:nvSpPr>
          <p:cNvPr id="8" name="Text 6"/>
          <p:cNvSpPr/>
          <p:nvPr/>
        </p:nvSpPr>
        <p:spPr>
          <a:xfrm>
            <a:off x="502920" y="1527048"/>
            <a:ext cx="3383280" cy="365760"/>
          </a:xfrm>
          <a:prstGeom prst="rect">
            <a:avLst/>
          </a:prstGeom>
          <a:noFill/>
          <a:ln/>
        </p:spPr>
        <p:txBody>
          <a:bodyPr wrap="square" lIns="0" tIns="0" rIns="0" bIns="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Sentence supervision, two seeds</a:t>
            </a:r>
            <a:endParaRPr lang="en-US" sz="1250" dirty="0"/>
          </a:p>
        </p:txBody>
      </p:sp>
      <p:sp>
        <p:nvSpPr>
          <p:cNvPr id="9" name="Shape 7"/>
          <p:cNvSpPr/>
          <p:nvPr/>
        </p:nvSpPr>
        <p:spPr>
          <a:xfrm>
            <a:off x="3977640" y="1581912"/>
            <a:ext cx="3474720" cy="256032"/>
          </a:xfrm>
          <a:prstGeom prst="rect">
            <a:avLst/>
          </a:prstGeom>
          <a:solidFill>
            <a:srgbClr val="DCDAE4"/>
          </a:solidFill>
          <a:ln/>
        </p:spPr>
      </p:sp>
      <p:sp>
        <p:nvSpPr>
          <p:cNvPr id="10" name="Shape 8"/>
          <p:cNvSpPr/>
          <p:nvPr/>
        </p:nvSpPr>
        <p:spPr>
          <a:xfrm>
            <a:off x="3977640" y="1581912"/>
            <a:ext cx="2063984" cy="256032"/>
          </a:xfrm>
          <a:prstGeom prst="rect">
            <a:avLst/>
          </a:prstGeom>
          <a:solidFill>
            <a:srgbClr val="322164"/>
          </a:solidFill>
          <a:ln/>
        </p:spPr>
      </p:sp>
      <p:sp>
        <p:nvSpPr>
          <p:cNvPr id="11" name="Text 9"/>
          <p:cNvSpPr/>
          <p:nvPr/>
        </p:nvSpPr>
        <p:spPr>
          <a:xfrm>
            <a:off x="7543800" y="1527048"/>
            <a:ext cx="1097280" cy="365760"/>
          </a:xfrm>
          <a:prstGeom prst="rect">
            <a:avLst/>
          </a:prstGeom>
          <a:noFill/>
          <a:ln/>
        </p:spPr>
        <p:txBody>
          <a:bodyPr wrap="square" lIns="0" tIns="0" rIns="0" bIns="0" rtlCol="0" anchor="ctr"/>
          <a:lstStyle/>
          <a:p>
            <a:pPr algn="r" indent="0" marL="0">
              <a:buNone/>
            </a:pPr>
            <a:r>
              <a:rPr lang="en-US" sz="1500" b="1" dirty="0">
                <a:solidFill>
                  <a:srgbClr val="322164"/>
                </a:solidFill>
                <a:latin typeface="Cambria" pitchFamily="34" charset="0"/>
                <a:ea typeface="Cambria" pitchFamily="34" charset="-122"/>
                <a:cs typeface="Cambria" pitchFamily="34" charset="-120"/>
              </a:rPr>
              <a:t>59.4</a:t>
            </a:r>
            <a:endParaRPr lang="en-US" sz="1500" dirty="0"/>
          </a:p>
        </p:txBody>
      </p:sp>
      <p:sp>
        <p:nvSpPr>
          <p:cNvPr id="12" name="Text 10"/>
          <p:cNvSpPr/>
          <p:nvPr/>
        </p:nvSpPr>
        <p:spPr>
          <a:xfrm>
            <a:off x="502920" y="2185416"/>
            <a:ext cx="3383280" cy="365760"/>
          </a:xfrm>
          <a:prstGeom prst="rect">
            <a:avLst/>
          </a:prstGeom>
          <a:noFill/>
          <a:ln/>
        </p:spPr>
        <p:txBody>
          <a:bodyPr wrap="square" lIns="0" tIns="0" rIns="0" bIns="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Not fine-tuned</a:t>
            </a:r>
            <a:endParaRPr lang="en-US" sz="1250" dirty="0"/>
          </a:p>
        </p:txBody>
      </p:sp>
      <p:sp>
        <p:nvSpPr>
          <p:cNvPr id="13" name="Shape 11"/>
          <p:cNvSpPr/>
          <p:nvPr/>
        </p:nvSpPr>
        <p:spPr>
          <a:xfrm>
            <a:off x="3977640" y="2240280"/>
            <a:ext cx="3474720" cy="256032"/>
          </a:xfrm>
          <a:prstGeom prst="rect">
            <a:avLst/>
          </a:prstGeom>
          <a:solidFill>
            <a:srgbClr val="DCDAE4"/>
          </a:solidFill>
          <a:ln/>
        </p:spPr>
      </p:sp>
      <p:sp>
        <p:nvSpPr>
          <p:cNvPr id="14" name="Shape 12"/>
          <p:cNvSpPr/>
          <p:nvPr/>
        </p:nvSpPr>
        <p:spPr>
          <a:xfrm>
            <a:off x="3977640" y="2240280"/>
            <a:ext cx="1653967" cy="256032"/>
          </a:xfrm>
          <a:prstGeom prst="rect">
            <a:avLst/>
          </a:prstGeom>
          <a:solidFill>
            <a:srgbClr val="4F417A"/>
          </a:solidFill>
          <a:ln/>
        </p:spPr>
      </p:sp>
      <p:sp>
        <p:nvSpPr>
          <p:cNvPr id="15" name="Text 13"/>
          <p:cNvSpPr/>
          <p:nvPr/>
        </p:nvSpPr>
        <p:spPr>
          <a:xfrm>
            <a:off x="7543800" y="2185416"/>
            <a:ext cx="1097280" cy="365760"/>
          </a:xfrm>
          <a:prstGeom prst="rect">
            <a:avLst/>
          </a:prstGeom>
          <a:noFill/>
          <a:ln/>
        </p:spPr>
        <p:txBody>
          <a:bodyPr wrap="square" lIns="0" tIns="0" rIns="0" bIns="0" rtlCol="0" anchor="ctr"/>
          <a:lstStyle/>
          <a:p>
            <a:pPr algn="r" indent="0" marL="0">
              <a:buNone/>
            </a:pPr>
            <a:r>
              <a:rPr lang="en-US" sz="1500" b="1" dirty="0">
                <a:solidFill>
                  <a:srgbClr val="4F417A"/>
                </a:solidFill>
                <a:latin typeface="Cambria" pitchFamily="34" charset="0"/>
                <a:ea typeface="Cambria" pitchFamily="34" charset="-122"/>
                <a:cs typeface="Cambria" pitchFamily="34" charset="-120"/>
              </a:rPr>
              <a:t>47.6</a:t>
            </a:r>
            <a:endParaRPr lang="en-US" sz="1500" dirty="0"/>
          </a:p>
        </p:txBody>
      </p:sp>
      <p:sp>
        <p:nvSpPr>
          <p:cNvPr id="16" name="Text 14"/>
          <p:cNvSpPr/>
          <p:nvPr/>
        </p:nvSpPr>
        <p:spPr>
          <a:xfrm>
            <a:off x="502920" y="2843784"/>
            <a:ext cx="3383280" cy="365760"/>
          </a:xfrm>
          <a:prstGeom prst="rect">
            <a:avLst/>
          </a:prstGeom>
          <a:noFill/>
          <a:ln/>
        </p:spPr>
        <p:txBody>
          <a:bodyPr wrap="square" lIns="0" tIns="0" rIns="0" bIns="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Contentless: “tap the button”</a:t>
            </a:r>
            <a:endParaRPr lang="en-US" sz="1250" dirty="0"/>
          </a:p>
        </p:txBody>
      </p:sp>
      <p:sp>
        <p:nvSpPr>
          <p:cNvPr id="17" name="Shape 15"/>
          <p:cNvSpPr/>
          <p:nvPr/>
        </p:nvSpPr>
        <p:spPr>
          <a:xfrm>
            <a:off x="3977640" y="2898648"/>
            <a:ext cx="3474720" cy="256032"/>
          </a:xfrm>
          <a:prstGeom prst="rect">
            <a:avLst/>
          </a:prstGeom>
          <a:solidFill>
            <a:srgbClr val="DCDAE4"/>
          </a:solidFill>
          <a:ln/>
        </p:spPr>
      </p:sp>
      <p:sp>
        <p:nvSpPr>
          <p:cNvPr id="18" name="Shape 16"/>
          <p:cNvSpPr/>
          <p:nvPr/>
        </p:nvSpPr>
        <p:spPr>
          <a:xfrm>
            <a:off x="3977640" y="2898648"/>
            <a:ext cx="416966" cy="256032"/>
          </a:xfrm>
          <a:prstGeom prst="rect">
            <a:avLst/>
          </a:prstGeom>
          <a:solidFill>
            <a:srgbClr val="B22222"/>
          </a:solidFill>
          <a:ln/>
        </p:spPr>
      </p:sp>
      <p:sp>
        <p:nvSpPr>
          <p:cNvPr id="19" name="Text 17"/>
          <p:cNvSpPr/>
          <p:nvPr/>
        </p:nvSpPr>
        <p:spPr>
          <a:xfrm>
            <a:off x="7543800" y="2843784"/>
            <a:ext cx="1097280" cy="365760"/>
          </a:xfrm>
          <a:prstGeom prst="rect">
            <a:avLst/>
          </a:prstGeom>
          <a:noFill/>
          <a:ln/>
        </p:spPr>
        <p:txBody>
          <a:bodyPr wrap="square" lIns="0" tIns="0" rIns="0" bIns="0" rtlCol="0" anchor="ctr"/>
          <a:lstStyle/>
          <a:p>
            <a:pPr algn="r" indent="0" marL="0">
              <a:buNone/>
            </a:pPr>
            <a:r>
              <a:rPr lang="en-US" sz="1500" b="1" dirty="0">
                <a:solidFill>
                  <a:srgbClr val="B22222"/>
                </a:solidFill>
                <a:latin typeface="Cambria" pitchFamily="34" charset="0"/>
                <a:ea typeface="Cambria" pitchFamily="34" charset="-122"/>
                <a:cs typeface="Cambria" pitchFamily="34" charset="-120"/>
              </a:rPr>
              <a:t>12.0</a:t>
            </a:r>
            <a:endParaRPr lang="en-US" sz="1500" dirty="0"/>
          </a:p>
        </p:txBody>
      </p:sp>
      <p:sp>
        <p:nvSpPr>
          <p:cNvPr id="20" name="Text 18"/>
          <p:cNvSpPr/>
          <p:nvPr/>
        </p:nvSpPr>
        <p:spPr>
          <a:xfrm>
            <a:off x="502920" y="3502152"/>
            <a:ext cx="3383280" cy="365760"/>
          </a:xfrm>
          <a:prstGeom prst="rect">
            <a:avLst/>
          </a:prstGeom>
          <a:noFill/>
          <a:ln/>
        </p:spPr>
        <p:txBody>
          <a:bodyPr wrap="square" lIns="0" tIns="0" rIns="0" bIns="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Genuine sentence, wrong screen</a:t>
            </a:r>
            <a:endParaRPr lang="en-US" sz="1250" dirty="0"/>
          </a:p>
        </p:txBody>
      </p:sp>
      <p:sp>
        <p:nvSpPr>
          <p:cNvPr id="21" name="Shape 19"/>
          <p:cNvSpPr/>
          <p:nvPr/>
        </p:nvSpPr>
        <p:spPr>
          <a:xfrm>
            <a:off x="3977640" y="3557016"/>
            <a:ext cx="3474720" cy="256032"/>
          </a:xfrm>
          <a:prstGeom prst="rect">
            <a:avLst/>
          </a:prstGeom>
          <a:solidFill>
            <a:srgbClr val="DCDAE4"/>
          </a:solidFill>
          <a:ln/>
        </p:spPr>
      </p:sp>
      <p:sp>
        <p:nvSpPr>
          <p:cNvPr id="22" name="Shape 20"/>
          <p:cNvSpPr/>
          <p:nvPr/>
        </p:nvSpPr>
        <p:spPr>
          <a:xfrm>
            <a:off x="3977640" y="3557016"/>
            <a:ext cx="211958" cy="256032"/>
          </a:xfrm>
          <a:prstGeom prst="rect">
            <a:avLst/>
          </a:prstGeom>
          <a:solidFill>
            <a:srgbClr val="990000"/>
          </a:solidFill>
          <a:ln/>
        </p:spPr>
      </p:sp>
      <p:sp>
        <p:nvSpPr>
          <p:cNvPr id="23" name="Text 21"/>
          <p:cNvSpPr/>
          <p:nvPr/>
        </p:nvSpPr>
        <p:spPr>
          <a:xfrm>
            <a:off x="7543800" y="3502152"/>
            <a:ext cx="1097280" cy="365760"/>
          </a:xfrm>
          <a:prstGeom prst="rect">
            <a:avLst/>
          </a:prstGeom>
          <a:noFill/>
          <a:ln/>
        </p:spPr>
        <p:txBody>
          <a:bodyPr wrap="square" lIns="0" tIns="0" rIns="0" bIns="0" rtlCol="0" anchor="ctr"/>
          <a:lstStyle/>
          <a:p>
            <a:pPr algn="r" indent="0" marL="0">
              <a:buNone/>
            </a:pPr>
            <a:r>
              <a:rPr lang="en-US" sz="1500" b="1" dirty="0">
                <a:solidFill>
                  <a:srgbClr val="990000"/>
                </a:solidFill>
                <a:latin typeface="Cambria" pitchFamily="34" charset="0"/>
                <a:ea typeface="Cambria" pitchFamily="34" charset="-122"/>
                <a:cs typeface="Cambria" pitchFamily="34" charset="-120"/>
              </a:rPr>
              <a:t>6.1</a:t>
            </a:r>
            <a:endParaRPr lang="en-US" sz="1500" dirty="0"/>
          </a:p>
        </p:txBody>
      </p:sp>
      <p:sp>
        <p:nvSpPr>
          <p:cNvPr id="24" name="Shape 22"/>
          <p:cNvSpPr/>
          <p:nvPr/>
        </p:nvSpPr>
        <p:spPr>
          <a:xfrm>
            <a:off x="502920" y="4206240"/>
            <a:ext cx="813816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25" name="Text 23"/>
          <p:cNvSpPr/>
          <p:nvPr/>
        </p:nvSpPr>
        <p:spPr>
          <a:xfrm>
            <a:off x="731520" y="4206240"/>
            <a:ext cx="7680960" cy="868680"/>
          </a:xfrm>
          <a:prstGeom prst="rect">
            <a:avLst/>
          </a:prstGeom>
          <a:noFill/>
          <a:ln/>
        </p:spPr>
        <p:txBody>
          <a:bodyPr wrap="square" lIns="0" tIns="0" rIns="0" bIns="0" rtlCol="0" anchor="ctr"/>
          <a:lstStyle/>
          <a:p>
            <a:pPr algn="l" indent="0" marL="0">
              <a:lnSpc>
                <a:spcPct val="135000"/>
              </a:lnSpc>
              <a:buNone/>
            </a:pPr>
            <a:r>
              <a:rPr lang="en-US" sz="1300" b="1" dirty="0">
                <a:solidFill>
                  <a:srgbClr val="B22222"/>
                </a:solidFill>
                <a:latin typeface="Cambria" pitchFamily="34" charset="0"/>
                <a:ea typeface="Cambria" pitchFamily="34" charset="-122"/>
                <a:cs typeface="Cambria" pitchFamily="34" charset="-120"/>
              </a:rPr>
              <a:t>A correctly-styled sentence with wrong content scores below the contentless floor, on disjoint intervals.</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  So the grounder reads content, not register, and the usable range is 62.9 points.</a:t>
            </a:r>
            <a:endParaRPr lang="en-US" sz="1300" dirty="0"/>
          </a:p>
        </p:txBody>
      </p:sp>
      <p:sp>
        <p:nvSpPr>
          <p:cNvPr id="26" name="Text 24"/>
          <p:cNvSpPr/>
          <p:nvPr/>
        </p:nvSpPr>
        <p:spPr>
          <a:xfrm>
            <a:off x="502920" y="5212080"/>
            <a:ext cx="813816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The cell condition was chosen from what it refuses  (injection study, 250 steps)</a:t>
            </a:r>
            <a:endParaRPr lang="en-US" sz="1250" dirty="0"/>
          </a:p>
        </p:txBody>
      </p:sp>
      <p:sp>
        <p:nvSpPr>
          <p:cNvPr id="27" name="Text 25"/>
          <p:cNvSpPr/>
          <p:nvPr/>
        </p:nvSpPr>
        <p:spPr>
          <a:xfrm>
            <a:off x="777240" y="5504688"/>
            <a:ext cx="4206240" cy="329184"/>
          </a:xfrm>
          <a:prstGeom prst="rect">
            <a:avLst/>
          </a:prstGeom>
          <a:noFill/>
          <a:ln/>
        </p:spPr>
        <p:txBody>
          <a:bodyPr wrap="square" lIns="38100" tIns="38100" rIns="38100" bIns="38100" rtlCol="0" anchor="ctr"/>
          <a:lstStyle/>
          <a:p>
            <a:pPr algn="l" indent="0" marL="0">
              <a:buNone/>
            </a:pPr>
            <a:r>
              <a:rPr lang="en-US" sz="1200" b="1" dirty="0">
                <a:solidFill>
                  <a:srgbClr val="B22222"/>
                </a:solidFill>
                <a:latin typeface="Cambria" pitchFamily="34" charset="0"/>
                <a:ea typeface="Cambria" pitchFamily="34" charset="-122"/>
                <a:cs typeface="Cambria" pitchFamily="34" charset="-120"/>
              </a:rPr>
              <a:t>Answer displaced to the nearest competing element</a:t>
            </a:r>
            <a:endParaRPr lang="en-US" sz="1200" dirty="0"/>
          </a:p>
        </p:txBody>
      </p:sp>
      <p:sp>
        <p:nvSpPr>
          <p:cNvPr id="28" name="Text 26"/>
          <p:cNvSpPr/>
          <p:nvPr/>
        </p:nvSpPr>
        <p:spPr>
          <a:xfrm>
            <a:off x="4983480" y="5504688"/>
            <a:ext cx="1920240" cy="329184"/>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84.3% still credited</a:t>
            </a:r>
            <a:endParaRPr lang="en-US" sz="1250" dirty="0"/>
          </a:p>
        </p:txBody>
      </p:sp>
      <p:sp>
        <p:nvSpPr>
          <p:cNvPr id="29" name="Text 27"/>
          <p:cNvSpPr/>
          <p:nvPr/>
        </p:nvSpPr>
        <p:spPr>
          <a:xfrm>
            <a:off x="6903720" y="5504688"/>
            <a:ext cx="1463040" cy="329184"/>
          </a:xfrm>
          <a:prstGeom prst="rect">
            <a:avLst/>
          </a:prstGeom>
          <a:noFill/>
          <a:ln/>
        </p:spPr>
        <p:txBody>
          <a:bodyPr wrap="square" lIns="38100" tIns="38100" rIns="38100" bIns="38100" rtlCol="0" anchor="ctr"/>
          <a:lstStyle/>
          <a:p>
            <a:pPr algn="r" indent="0" marL="0">
              <a:buNone/>
            </a:pPr>
            <a:r>
              <a:rPr lang="en-US" sz="1200" b="1" dirty="0">
                <a:solidFill>
                  <a:srgbClr val="B22222"/>
                </a:solidFill>
                <a:latin typeface="Cambria" pitchFamily="34" charset="0"/>
                <a:ea typeface="Cambria" pitchFamily="34" charset="-122"/>
                <a:cs typeface="Cambria" pitchFamily="34" charset="-120"/>
              </a:rPr>
              <a:t>tolerance rule</a:t>
            </a:r>
            <a:endParaRPr lang="en-US" sz="1200" dirty="0"/>
          </a:p>
        </p:txBody>
      </p:sp>
      <p:sp>
        <p:nvSpPr>
          <p:cNvPr id="30" name="Shape 28"/>
          <p:cNvSpPr/>
          <p:nvPr/>
        </p:nvSpPr>
        <p:spPr>
          <a:xfrm>
            <a:off x="777240" y="5833872"/>
            <a:ext cx="7589520" cy="0"/>
          </a:xfrm>
          <a:prstGeom prst="line">
            <a:avLst/>
          </a:prstGeom>
          <a:noFill/>
          <a:ln w="12700">
            <a:solidFill>
              <a:srgbClr val="9A94AE"/>
            </a:solidFill>
            <a:prstDash val="solid"/>
          </a:ln>
        </p:spPr>
      </p:sp>
      <p:sp>
        <p:nvSpPr>
          <p:cNvPr id="31" name="Text 29"/>
          <p:cNvSpPr/>
          <p:nvPr/>
        </p:nvSpPr>
        <p:spPr>
          <a:xfrm>
            <a:off x="777240" y="5833872"/>
            <a:ext cx="4206240" cy="329184"/>
          </a:xfrm>
          <a:prstGeom prst="rect">
            <a:avLst/>
          </a:prstGeom>
          <a:noFill/>
          <a:ln/>
        </p:spPr>
        <p:txBody>
          <a:bodyPr wrap="square" lIns="38100" tIns="38100" rIns="38100" bIns="38100" rtlCol="0" anchor="ctr"/>
          <a:lstStyle/>
          <a:p>
            <a:pPr algn="l" indent="0" marL="0">
              <a:buNone/>
            </a:pPr>
            <a:r>
              <a:rPr lang="en-US" sz="1200" b="1" dirty="0">
                <a:solidFill>
                  <a:srgbClr val="006666"/>
                </a:solidFill>
                <a:latin typeface="Cambria" pitchFamily="34" charset="0"/>
                <a:ea typeface="Cambria" pitchFamily="34" charset="-122"/>
                <a:cs typeface="Cambria" pitchFamily="34" charset="-120"/>
              </a:rPr>
              <a:t>Same displacement, ceiling 99.7% under a 3% offset</a:t>
            </a:r>
            <a:endParaRPr lang="en-US" sz="1200" dirty="0"/>
          </a:p>
        </p:txBody>
      </p:sp>
      <p:sp>
        <p:nvSpPr>
          <p:cNvPr id="32" name="Text 30"/>
          <p:cNvSpPr/>
          <p:nvPr/>
        </p:nvSpPr>
        <p:spPr>
          <a:xfrm>
            <a:off x="4983480" y="5833872"/>
            <a:ext cx="1920240" cy="329184"/>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2.8% credited</a:t>
            </a:r>
            <a:endParaRPr lang="en-US" sz="1250" dirty="0"/>
          </a:p>
        </p:txBody>
      </p:sp>
      <p:sp>
        <p:nvSpPr>
          <p:cNvPr id="33" name="Text 31"/>
          <p:cNvSpPr/>
          <p:nvPr/>
        </p:nvSpPr>
        <p:spPr>
          <a:xfrm>
            <a:off x="6903720" y="5833872"/>
            <a:ext cx="1463040" cy="329184"/>
          </a:xfrm>
          <a:prstGeom prst="rect">
            <a:avLst/>
          </a:prstGeom>
          <a:noFill/>
          <a:ln/>
        </p:spPr>
        <p:txBody>
          <a:bodyPr wrap="square" lIns="38100" tIns="38100" rIns="38100" bIns="38100" rtlCol="0" anchor="ctr"/>
          <a:lstStyle/>
          <a:p>
            <a:pPr algn="r" indent="0" marL="0">
              <a:buNone/>
            </a:pPr>
            <a:r>
              <a:rPr lang="en-US" sz="1200" b="1" dirty="0">
                <a:solidFill>
                  <a:srgbClr val="006666"/>
                </a:solidFill>
                <a:latin typeface="Cambria" pitchFamily="34" charset="0"/>
                <a:ea typeface="Cambria" pitchFamily="34" charset="-122"/>
                <a:cs typeface="Cambria" pitchFamily="34" charset="-120"/>
              </a:rPr>
              <a:t>cell rule</a:t>
            </a:r>
            <a:endParaRPr lang="en-US" sz="1200" dirty="0"/>
          </a:p>
        </p:txBody>
      </p:sp>
      <p:sp>
        <p:nvSpPr>
          <p:cNvPr id="35" name="Shape 32"/>
          <p:cNvSpPr/>
          <p:nvPr/>
        </p:nvSpPr>
        <p:spPr>
          <a:xfrm>
            <a:off x="0" y="6620256"/>
            <a:ext cx="2194560" cy="237744"/>
          </a:xfrm>
          <a:prstGeom prst="rect">
            <a:avLst/>
          </a:prstGeom>
          <a:solidFill>
            <a:srgbClr val="191132"/>
          </a:solidFill>
          <a:ln/>
        </p:spPr>
      </p:sp>
      <p:sp>
        <p:nvSpPr>
          <p:cNvPr id="36" name="Shape 33"/>
          <p:cNvSpPr/>
          <p:nvPr/>
        </p:nvSpPr>
        <p:spPr>
          <a:xfrm>
            <a:off x="2194560" y="6620256"/>
            <a:ext cx="3931920" cy="237744"/>
          </a:xfrm>
          <a:prstGeom prst="rect">
            <a:avLst/>
          </a:prstGeom>
          <a:solidFill>
            <a:srgbClr val="25194B"/>
          </a:solidFill>
          <a:ln/>
        </p:spPr>
      </p:sp>
      <p:sp>
        <p:nvSpPr>
          <p:cNvPr id="37" name="Shape 34"/>
          <p:cNvSpPr/>
          <p:nvPr/>
        </p:nvSpPr>
        <p:spPr>
          <a:xfrm>
            <a:off x="6126480" y="6620256"/>
            <a:ext cx="1737360" cy="237744"/>
          </a:xfrm>
          <a:prstGeom prst="rect">
            <a:avLst/>
          </a:prstGeom>
          <a:solidFill>
            <a:srgbClr val="4F417A"/>
          </a:solidFill>
          <a:ln/>
        </p:spPr>
      </p:sp>
      <p:sp>
        <p:nvSpPr>
          <p:cNvPr id="38" name="Shape 35"/>
          <p:cNvSpPr/>
          <p:nvPr/>
        </p:nvSpPr>
        <p:spPr>
          <a:xfrm>
            <a:off x="7863840" y="6620256"/>
            <a:ext cx="1280160" cy="237744"/>
          </a:xfrm>
          <a:prstGeom prst="rect">
            <a:avLst/>
          </a:prstGeom>
          <a:solidFill>
            <a:srgbClr val="7A7099"/>
          </a:solidFill>
          <a:ln/>
        </p:spPr>
      </p:sp>
      <p:sp>
        <p:nvSpPr>
          <p:cNvPr id="39" name="Text 36"/>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40" name="Text 37"/>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41" name="Text 3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2" name="Text 3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6/17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What the instrument weighs, and what it ignores</a:t>
            </a:r>
            <a:endParaRPr lang="en-US" sz="1900" dirty="0"/>
          </a:p>
        </p:txBody>
      </p:sp>
      <p:sp>
        <p:nvSpPr>
          <p:cNvPr id="4" name="Text 2"/>
          <p:cNvSpPr/>
          <p:nvPr/>
        </p:nvSpPr>
        <p:spPr>
          <a:xfrm>
            <a:off x="502920" y="777240"/>
            <a:ext cx="8138160" cy="292608"/>
          </a:xfrm>
          <a:prstGeom prst="rect">
            <a:avLst/>
          </a:prstGeom>
          <a:noFill/>
          <a:ln/>
        </p:spPr>
        <p:txBody>
          <a:bodyPr wrap="square" lIns="0" tIns="0" rIns="0" bIns="0" rtlCol="0" anchor="t"/>
          <a:lstStyle/>
          <a:p>
            <a:pPr algn="l" indent="0" marL="0">
              <a:buNone/>
            </a:pPr>
            <a:r>
              <a:rPr lang="en-US" sz="1250" i="1" dirty="0">
                <a:solidFill>
                  <a:srgbClr val="5A5A66"/>
                </a:solidFill>
                <a:latin typeface="Cambria" pitchFamily="34" charset="0"/>
                <a:ea typeface="Cambria" pitchFamily="34" charset="-122"/>
                <a:cs typeface="Cambria" pitchFamily="34" charset="-120"/>
              </a:rPr>
              <a:t>Ablating the reference sentences themselves, on near-identical populations</a:t>
            </a:r>
            <a:endParaRPr lang="en-US" sz="1250" dirty="0"/>
          </a:p>
        </p:txBody>
      </p:sp>
      <p:sp>
        <p:nvSpPr>
          <p:cNvPr id="5" name="Shape 3"/>
          <p:cNvSpPr/>
          <p:nvPr/>
        </p:nvSpPr>
        <p:spPr>
          <a:xfrm>
            <a:off x="502920" y="1143000"/>
            <a:ext cx="8129016" cy="384048"/>
          </a:xfrm>
          <a:prstGeom prst="rect">
            <a:avLst/>
          </a:prstGeom>
          <a:solidFill>
            <a:srgbClr val="322164"/>
          </a:solidFill>
          <a:ln/>
        </p:spPr>
      </p:sp>
      <p:sp>
        <p:nvSpPr>
          <p:cNvPr id="6" name="Text 4"/>
          <p:cNvSpPr/>
          <p:nvPr/>
        </p:nvSpPr>
        <p:spPr>
          <a:xfrm>
            <a:off x="502920" y="1143000"/>
            <a:ext cx="36576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Edit applied to the human reference</a:t>
            </a:r>
            <a:endParaRPr lang="en-US" sz="1250" dirty="0"/>
          </a:p>
        </p:txBody>
      </p:sp>
      <p:sp>
        <p:nvSpPr>
          <p:cNvPr id="7" name="Text 5"/>
          <p:cNvSpPr/>
          <p:nvPr/>
        </p:nvSpPr>
        <p:spPr>
          <a:xfrm>
            <a:off x="4160520" y="1143000"/>
            <a:ext cx="137160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Steps</a:t>
            </a:r>
            <a:endParaRPr lang="en-US" sz="1250" dirty="0"/>
          </a:p>
        </p:txBody>
      </p:sp>
      <p:sp>
        <p:nvSpPr>
          <p:cNvPr id="8" name="Text 6"/>
          <p:cNvSpPr/>
          <p:nvPr/>
        </p:nvSpPr>
        <p:spPr>
          <a:xfrm>
            <a:off x="5532120" y="1143000"/>
            <a:ext cx="173736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Cost</a:t>
            </a:r>
            <a:endParaRPr lang="en-US" sz="1250" dirty="0"/>
          </a:p>
        </p:txBody>
      </p:sp>
      <p:sp>
        <p:nvSpPr>
          <p:cNvPr id="9" name="Text 7"/>
          <p:cNvSpPr/>
          <p:nvPr/>
        </p:nvSpPr>
        <p:spPr>
          <a:xfrm>
            <a:off x="7269480" y="1143000"/>
            <a:ext cx="1362456"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McNemar</a:t>
            </a:r>
            <a:endParaRPr lang="en-US" sz="1250" dirty="0"/>
          </a:p>
        </p:txBody>
      </p:sp>
      <p:sp>
        <p:nvSpPr>
          <p:cNvPr id="10" name="Text 8"/>
          <p:cNvSpPr/>
          <p:nvPr/>
        </p:nvSpPr>
        <p:spPr>
          <a:xfrm>
            <a:off x="502920" y="1527048"/>
            <a:ext cx="3657600" cy="457200"/>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Name → “the item”, keep the locative clause</a:t>
            </a:r>
            <a:endParaRPr lang="en-US" sz="1250" dirty="0"/>
          </a:p>
        </p:txBody>
      </p:sp>
      <p:sp>
        <p:nvSpPr>
          <p:cNvPr id="11" name="Text 9"/>
          <p:cNvSpPr/>
          <p:nvPr/>
        </p:nvSpPr>
        <p:spPr>
          <a:xfrm>
            <a:off x="4160520" y="1527048"/>
            <a:ext cx="137160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193</a:t>
            </a:r>
            <a:endParaRPr lang="en-US" sz="1250" dirty="0"/>
          </a:p>
        </p:txBody>
      </p:sp>
      <p:sp>
        <p:nvSpPr>
          <p:cNvPr id="12" name="Text 10"/>
          <p:cNvSpPr/>
          <p:nvPr/>
        </p:nvSpPr>
        <p:spPr>
          <a:xfrm>
            <a:off x="5532120" y="1527048"/>
            <a:ext cx="1737360" cy="457200"/>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−28.5 pts</a:t>
            </a:r>
            <a:endParaRPr lang="en-US" sz="1250" dirty="0"/>
          </a:p>
        </p:txBody>
      </p:sp>
      <p:sp>
        <p:nvSpPr>
          <p:cNvPr id="13" name="Text 11"/>
          <p:cNvSpPr/>
          <p:nvPr/>
        </p:nvSpPr>
        <p:spPr>
          <a:xfrm>
            <a:off x="7269480" y="1527048"/>
            <a:ext cx="1362456"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b=3, c=58,  p&lt;0.001</a:t>
            </a:r>
            <a:endParaRPr lang="en-US" sz="1250" dirty="0"/>
          </a:p>
        </p:txBody>
      </p:sp>
      <p:sp>
        <p:nvSpPr>
          <p:cNvPr id="14" name="Shape 12"/>
          <p:cNvSpPr/>
          <p:nvPr/>
        </p:nvSpPr>
        <p:spPr>
          <a:xfrm>
            <a:off x="502920" y="1984248"/>
            <a:ext cx="8129016" cy="0"/>
          </a:xfrm>
          <a:prstGeom prst="line">
            <a:avLst/>
          </a:prstGeom>
          <a:noFill/>
          <a:ln w="12700">
            <a:solidFill>
              <a:srgbClr val="9A94AE"/>
            </a:solidFill>
            <a:prstDash val="solid"/>
          </a:ln>
        </p:spPr>
      </p:sp>
      <p:sp>
        <p:nvSpPr>
          <p:cNvPr id="15" name="Text 13"/>
          <p:cNvSpPr/>
          <p:nvPr/>
        </p:nvSpPr>
        <p:spPr>
          <a:xfrm>
            <a:off x="502920" y="1984248"/>
            <a:ext cx="3657600" cy="45720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Delete the locative clause, keep the name</a:t>
            </a:r>
            <a:endParaRPr lang="en-US" sz="1250" dirty="0"/>
          </a:p>
        </p:txBody>
      </p:sp>
      <p:sp>
        <p:nvSpPr>
          <p:cNvPr id="16" name="Text 14"/>
          <p:cNvSpPr/>
          <p:nvPr/>
        </p:nvSpPr>
        <p:spPr>
          <a:xfrm>
            <a:off x="4160520" y="1984248"/>
            <a:ext cx="137160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198</a:t>
            </a:r>
            <a:endParaRPr lang="en-US" sz="1250" dirty="0"/>
          </a:p>
        </p:txBody>
      </p:sp>
      <p:sp>
        <p:nvSpPr>
          <p:cNvPr id="17" name="Text 15"/>
          <p:cNvSpPr/>
          <p:nvPr/>
        </p:nvSpPr>
        <p:spPr>
          <a:xfrm>
            <a:off x="5532120" y="1984248"/>
            <a:ext cx="1737360" cy="457200"/>
          </a:xfrm>
          <a:prstGeom prst="rect">
            <a:avLst/>
          </a:prstGeom>
          <a:noFill/>
          <a:ln/>
        </p:spPr>
        <p:txBody>
          <a:bodyPr wrap="square" lIns="38100" tIns="38100" rIns="38100" bIns="38100" rtlCol="0" anchor="ctr"/>
          <a:lstStyle/>
          <a:p>
            <a:pPr algn="ctr" indent="0" marL="0">
              <a:buNone/>
            </a:pPr>
            <a:r>
              <a:rPr lang="en-US" sz="1250" dirty="0">
                <a:solidFill>
                  <a:srgbClr val="990000"/>
                </a:solidFill>
                <a:latin typeface="Cambria" pitchFamily="34" charset="0"/>
                <a:ea typeface="Cambria" pitchFamily="34" charset="-122"/>
                <a:cs typeface="Cambria" pitchFamily="34" charset="-120"/>
              </a:rPr>
              <a:t>−3.5 pts</a:t>
            </a:r>
            <a:endParaRPr lang="en-US" sz="1250" dirty="0"/>
          </a:p>
        </p:txBody>
      </p:sp>
      <p:sp>
        <p:nvSpPr>
          <p:cNvPr id="18" name="Text 16"/>
          <p:cNvSpPr/>
          <p:nvPr/>
        </p:nvSpPr>
        <p:spPr>
          <a:xfrm>
            <a:off x="7269480" y="1984248"/>
            <a:ext cx="1362456"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b=1, c=8,  p=0.046</a:t>
            </a:r>
            <a:endParaRPr lang="en-US" sz="1250" dirty="0"/>
          </a:p>
        </p:txBody>
      </p:sp>
      <p:sp>
        <p:nvSpPr>
          <p:cNvPr id="19" name="Shape 17"/>
          <p:cNvSpPr/>
          <p:nvPr/>
        </p:nvSpPr>
        <p:spPr>
          <a:xfrm>
            <a:off x="502920" y="2606040"/>
            <a:ext cx="8138160" cy="640080"/>
          </a:xfrm>
          <a:prstGeom prst="roundRect">
            <a:avLst>
              <a:gd name="adj" fmla="val 8571"/>
            </a:avLst>
          </a:prstGeom>
          <a:solidFill>
            <a:srgbClr val="E9E8EC"/>
          </a:solidFill>
          <a:ln/>
          <a:effectLst>
            <a:outerShdw sx="100000" sy="100000" kx="0" ky="0" algn="bl" rotWithShape="0" blurRad="63500" dist="31750" dir="2700000">
              <a:srgbClr val="8C8C99">
                <a:alpha val="45000"/>
              </a:srgbClr>
            </a:outerShdw>
          </a:effectLst>
        </p:spPr>
      </p:sp>
      <p:sp>
        <p:nvSpPr>
          <p:cNvPr id="20" name="Text 18"/>
          <p:cNvSpPr/>
          <p:nvPr/>
        </p:nvSpPr>
        <p:spPr>
          <a:xfrm>
            <a:off x="731520" y="2606040"/>
            <a:ext cx="7680960" cy="640080"/>
          </a:xfrm>
          <a:prstGeom prst="rect">
            <a:avLst/>
          </a:prstGeom>
          <a:noFill/>
          <a:ln/>
        </p:spPr>
        <p:txBody>
          <a:bodyPr wrap="square" lIns="0" tIns="0" rIns="0" bIns="0" rtlCol="0" anchor="ctr"/>
          <a:lstStyle/>
          <a:p>
            <a:pPr algn="l" indent="0" marL="0">
              <a:buNone/>
            </a:pPr>
            <a:r>
              <a:rPr lang="en-US" sz="1450" b="1" dirty="0">
                <a:solidFill>
                  <a:srgbClr val="322164"/>
                </a:solidFill>
                <a:latin typeface="Cambria" pitchFamily="34" charset="0"/>
                <a:ea typeface="Cambria" pitchFamily="34" charset="-122"/>
                <a:cs typeface="Cambria" pitchFamily="34" charset="-120"/>
              </a:rPr>
              <a:t>Naming the element is worth roughly eight times saying where it is.</a:t>
            </a:r>
            <a:endParaRPr lang="en-US" sz="1450" dirty="0"/>
          </a:p>
        </p:txBody>
      </p:sp>
      <p:sp>
        <p:nvSpPr>
          <p:cNvPr id="21" name="Text 19"/>
          <p:cNvSpPr/>
          <p:nvPr/>
        </p:nvSpPr>
        <p:spPr>
          <a:xfrm>
            <a:off x="502920" y="3429000"/>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Insensitive to phrasing, sensitive to content</a:t>
            </a:r>
            <a:endParaRPr lang="en-US" sz="1350" dirty="0"/>
          </a:p>
        </p:txBody>
      </p:sp>
      <p:sp>
        <p:nvSpPr>
          <p:cNvPr id="22" name="Text 20"/>
          <p:cNvSpPr/>
          <p:nvPr/>
        </p:nvSpPr>
        <p:spPr>
          <a:xfrm>
            <a:off x="594360" y="3840480"/>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3" name="Text 21"/>
          <p:cNvSpPr/>
          <p:nvPr/>
        </p:nvSpPr>
        <p:spPr>
          <a:xfrm>
            <a:off x="822960" y="3840480"/>
            <a:ext cx="772668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Meaning-preserving rewrites of 1,139 references (verb substitution, fronting the locative clause) move the score by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+0.35 pp  [−0.59, +1.29]</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with 2.6% of steps changing verdict</a:t>
            </a:r>
            <a:endParaRPr lang="en-US" sz="1250" dirty="0"/>
          </a:p>
        </p:txBody>
      </p:sp>
      <p:sp>
        <p:nvSpPr>
          <p:cNvPr id="24" name="Text 22"/>
          <p:cNvSpPr/>
          <p:nvPr/>
        </p:nvSpPr>
        <p:spPr>
          <a:xfrm>
            <a:off x="594360" y="4498848"/>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5" name="Text 23"/>
          <p:cNvSpPr/>
          <p:nvPr/>
        </p:nvSpPr>
        <p:spPr>
          <a:xfrm>
            <a:off x="822960" y="4498848"/>
            <a:ext cx="772668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Five hit rules on 698 steps: absolute level moves by up to 26 points,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the ordering never does</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and the fine-tuning gain stays between +9.5 and +13.0</a:t>
            </a:r>
            <a:endParaRPr lang="en-US" sz="1250" dirty="0"/>
          </a:p>
        </p:txBody>
      </p:sp>
      <p:sp>
        <p:nvSpPr>
          <p:cNvPr id="26" name="Text 24"/>
          <p:cNvSpPr/>
          <p:nvPr/>
        </p:nvSpPr>
        <p:spPr>
          <a:xfrm>
            <a:off x="594360" y="5157216"/>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7" name="Text 25"/>
          <p:cNvSpPr/>
          <p:nvPr/>
        </p:nvSpPr>
        <p:spPr>
          <a:xfrm>
            <a:off x="822960" y="5157216"/>
            <a:ext cx="772668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Determinism: on 2,810 steps where two runs wrote byte-identical sentences, the grounder returned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identical verdicts on all 2,810</a:t>
            </a:r>
            <a:endParaRPr lang="en-US" sz="1250" dirty="0"/>
          </a:p>
        </p:txBody>
      </p:sp>
      <p:sp>
        <p:nvSpPr>
          <p:cNvPr id="28" name="Shape 26"/>
          <p:cNvSpPr/>
          <p:nvPr/>
        </p:nvSpPr>
        <p:spPr>
          <a:xfrm>
            <a:off x="502920" y="5852160"/>
            <a:ext cx="8138160" cy="658368"/>
          </a:xfrm>
          <a:prstGeom prst="roundRect">
            <a:avLst>
              <a:gd name="adj" fmla="val 8333"/>
            </a:avLst>
          </a:prstGeom>
          <a:solidFill>
            <a:srgbClr val="E9E8EC"/>
          </a:solidFill>
          <a:ln/>
          <a:effectLst>
            <a:outerShdw sx="100000" sy="100000" kx="0" ky="0" algn="bl" rotWithShape="0" blurRad="63500" dist="31750" dir="2700000">
              <a:srgbClr val="8C8C99">
                <a:alpha val="45000"/>
              </a:srgbClr>
            </a:outerShdw>
          </a:effectLst>
        </p:spPr>
      </p:sp>
      <p:sp>
        <p:nvSpPr>
          <p:cNvPr id="29" name="Text 27"/>
          <p:cNvSpPr/>
          <p:nvPr/>
        </p:nvSpPr>
        <p:spPr>
          <a:xfrm>
            <a:off x="731520" y="5852160"/>
            <a:ext cx="7680960" cy="658368"/>
          </a:xfrm>
          <a:prstGeom prst="rect">
            <a:avLst/>
          </a:prstGeom>
          <a:noFill/>
          <a:ln/>
        </p:spPr>
        <p:txBody>
          <a:bodyPr wrap="square" lIns="0" tIns="0" rIns="0" bIns="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Intervals are cluster bootstraps (10,000 resamples, G_eff = 454.3). Minimum detectable paired effect: 2.2 points.</a:t>
            </a:r>
            <a:endParaRPr lang="en-US" sz="1200" dirty="0"/>
          </a:p>
        </p:txBody>
      </p:sp>
      <p:sp>
        <p:nvSpPr>
          <p:cNvPr id="31" name="Shape 28"/>
          <p:cNvSpPr/>
          <p:nvPr/>
        </p:nvSpPr>
        <p:spPr>
          <a:xfrm>
            <a:off x="0" y="6620256"/>
            <a:ext cx="2194560" cy="237744"/>
          </a:xfrm>
          <a:prstGeom prst="rect">
            <a:avLst/>
          </a:prstGeom>
          <a:solidFill>
            <a:srgbClr val="191132"/>
          </a:solidFill>
          <a:ln/>
        </p:spPr>
      </p:sp>
      <p:sp>
        <p:nvSpPr>
          <p:cNvPr id="32" name="Shape 29"/>
          <p:cNvSpPr/>
          <p:nvPr/>
        </p:nvSpPr>
        <p:spPr>
          <a:xfrm>
            <a:off x="2194560" y="6620256"/>
            <a:ext cx="3931920" cy="237744"/>
          </a:xfrm>
          <a:prstGeom prst="rect">
            <a:avLst/>
          </a:prstGeom>
          <a:solidFill>
            <a:srgbClr val="25194B"/>
          </a:solidFill>
          <a:ln/>
        </p:spPr>
      </p:sp>
      <p:sp>
        <p:nvSpPr>
          <p:cNvPr id="33" name="Shape 30"/>
          <p:cNvSpPr/>
          <p:nvPr/>
        </p:nvSpPr>
        <p:spPr>
          <a:xfrm>
            <a:off x="6126480" y="6620256"/>
            <a:ext cx="1737360" cy="237744"/>
          </a:xfrm>
          <a:prstGeom prst="rect">
            <a:avLst/>
          </a:prstGeom>
          <a:solidFill>
            <a:srgbClr val="4F417A"/>
          </a:solidFill>
          <a:ln/>
        </p:spPr>
      </p:sp>
      <p:sp>
        <p:nvSpPr>
          <p:cNvPr id="34" name="Shape 31"/>
          <p:cNvSpPr/>
          <p:nvPr/>
        </p:nvSpPr>
        <p:spPr>
          <a:xfrm>
            <a:off x="7863840" y="6620256"/>
            <a:ext cx="1280160" cy="237744"/>
          </a:xfrm>
          <a:prstGeom prst="rect">
            <a:avLst/>
          </a:prstGeom>
          <a:solidFill>
            <a:srgbClr val="7A7099"/>
          </a:solidFill>
          <a:ln/>
        </p:spPr>
      </p:sp>
      <p:sp>
        <p:nvSpPr>
          <p:cNvPr id="35" name="Text 32"/>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6" name="Text 33"/>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7" name="Text 3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8" name="Text 3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7/17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Supervision assembled without new annotation</a:t>
            </a:r>
            <a:endParaRPr lang="en-US" sz="1900" dirty="0"/>
          </a:p>
        </p:txBody>
      </p:sp>
      <p:sp>
        <p:nvSpPr>
          <p:cNvPr id="4" name="Text 2"/>
          <p:cNvSpPr/>
          <p:nvPr/>
        </p:nvSpPr>
        <p:spPr>
          <a:xfrm>
            <a:off x="502920" y="749808"/>
            <a:ext cx="8138160" cy="566928"/>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No new labels collected, and no labels generated by another language model: the scored target is the per-step instruction the dataset already records, and the descriptor slots are derived by rule.</a:t>
            </a:r>
            <a:endParaRPr lang="en-US" sz="1250" dirty="0"/>
          </a:p>
        </p:txBody>
      </p:sp>
      <p:sp>
        <p:nvSpPr>
          <p:cNvPr id="5" name="Shape 3"/>
          <p:cNvSpPr/>
          <p:nvPr/>
        </p:nvSpPr>
        <p:spPr>
          <a:xfrm>
            <a:off x="1097280" y="1417320"/>
            <a:ext cx="7498080" cy="365760"/>
          </a:xfrm>
          <a:prstGeom prst="rect">
            <a:avLst/>
          </a:prstGeom>
          <a:solidFill>
            <a:srgbClr val="322164"/>
          </a:solidFill>
          <a:ln/>
        </p:spPr>
      </p:sp>
      <p:sp>
        <p:nvSpPr>
          <p:cNvPr id="6" name="Text 4"/>
          <p:cNvSpPr/>
          <p:nvPr/>
        </p:nvSpPr>
        <p:spPr>
          <a:xfrm>
            <a:off x="1097280" y="1417320"/>
            <a:ext cx="219456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Split</a:t>
            </a:r>
            <a:endParaRPr lang="en-US" sz="1250" dirty="0"/>
          </a:p>
        </p:txBody>
      </p:sp>
      <p:sp>
        <p:nvSpPr>
          <p:cNvPr id="7" name="Text 5"/>
          <p:cNvSpPr/>
          <p:nvPr/>
        </p:nvSpPr>
        <p:spPr>
          <a:xfrm>
            <a:off x="3291840" y="1417320"/>
            <a:ext cx="1920240" cy="36576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Steps</a:t>
            </a:r>
            <a:endParaRPr lang="en-US" sz="1250" dirty="0"/>
          </a:p>
        </p:txBody>
      </p:sp>
      <p:sp>
        <p:nvSpPr>
          <p:cNvPr id="8" name="Text 6"/>
          <p:cNvSpPr/>
          <p:nvPr/>
        </p:nvSpPr>
        <p:spPr>
          <a:xfrm>
            <a:off x="5212080" y="1417320"/>
            <a:ext cx="1920240" cy="36576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Touch steps</a:t>
            </a:r>
            <a:endParaRPr lang="en-US" sz="1250" dirty="0"/>
          </a:p>
        </p:txBody>
      </p:sp>
      <p:sp>
        <p:nvSpPr>
          <p:cNvPr id="9" name="Text 7"/>
          <p:cNvSpPr/>
          <p:nvPr/>
        </p:nvSpPr>
        <p:spPr>
          <a:xfrm>
            <a:off x="7132320" y="1417320"/>
            <a:ext cx="1463040" cy="365760"/>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Tasks</a:t>
            </a:r>
            <a:endParaRPr lang="en-US" sz="1250" dirty="0"/>
          </a:p>
        </p:txBody>
      </p:sp>
      <p:sp>
        <p:nvSpPr>
          <p:cNvPr id="10" name="Text 8"/>
          <p:cNvSpPr/>
          <p:nvPr/>
        </p:nvSpPr>
        <p:spPr>
          <a:xfrm>
            <a:off x="1097280" y="1783080"/>
            <a:ext cx="2194560" cy="365760"/>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Training</a:t>
            </a:r>
            <a:endParaRPr lang="en-US" sz="1300" dirty="0"/>
          </a:p>
        </p:txBody>
      </p:sp>
      <p:sp>
        <p:nvSpPr>
          <p:cNvPr id="11" name="Text 9"/>
          <p:cNvSpPr/>
          <p:nvPr/>
        </p:nvSpPr>
        <p:spPr>
          <a:xfrm>
            <a:off x="3291840" y="1783080"/>
            <a:ext cx="1920240" cy="36576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64,567</a:t>
            </a:r>
            <a:endParaRPr lang="en-US" sz="1300" dirty="0"/>
          </a:p>
        </p:txBody>
      </p:sp>
      <p:sp>
        <p:nvSpPr>
          <p:cNvPr id="12" name="Text 10"/>
          <p:cNvSpPr/>
          <p:nvPr/>
        </p:nvSpPr>
        <p:spPr>
          <a:xfrm>
            <a:off x="5212080" y="1783080"/>
            <a:ext cx="1920240" cy="36576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 64%</a:t>
            </a:r>
            <a:endParaRPr lang="en-US" sz="1300" dirty="0"/>
          </a:p>
        </p:txBody>
      </p:sp>
      <p:sp>
        <p:nvSpPr>
          <p:cNvPr id="13" name="Text 11"/>
          <p:cNvSpPr/>
          <p:nvPr/>
        </p:nvSpPr>
        <p:spPr>
          <a:xfrm>
            <a:off x="7132320" y="1783080"/>
            <a:ext cx="1463040" cy="365760"/>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12,895</a:t>
            </a:r>
            <a:endParaRPr lang="en-US" sz="1300" dirty="0"/>
          </a:p>
        </p:txBody>
      </p:sp>
      <p:sp>
        <p:nvSpPr>
          <p:cNvPr id="14" name="Shape 12"/>
          <p:cNvSpPr/>
          <p:nvPr/>
        </p:nvSpPr>
        <p:spPr>
          <a:xfrm>
            <a:off x="1097280" y="2148840"/>
            <a:ext cx="7498080" cy="0"/>
          </a:xfrm>
          <a:prstGeom prst="line">
            <a:avLst/>
          </a:prstGeom>
          <a:noFill/>
          <a:ln w="12700">
            <a:solidFill>
              <a:srgbClr val="9A94AE"/>
            </a:solidFill>
            <a:prstDash val="solid"/>
          </a:ln>
        </p:spPr>
      </p:sp>
      <p:sp>
        <p:nvSpPr>
          <p:cNvPr id="15" name="Text 13"/>
          <p:cNvSpPr/>
          <p:nvPr/>
        </p:nvSpPr>
        <p:spPr>
          <a:xfrm>
            <a:off x="1097280" y="2148840"/>
            <a:ext cx="2194560" cy="365760"/>
          </a:xfrm>
          <a:prstGeom prst="rect">
            <a:avLst/>
          </a:prstGeom>
          <a:noFill/>
          <a:ln/>
        </p:spPr>
        <p:txBody>
          <a:bodyPr wrap="square" lIns="38100" tIns="38100" rIns="38100" bIns="38100" rtlCol="0" anchor="ctr"/>
          <a:lstStyle/>
          <a:p>
            <a:pPr algn="l" indent="0" marL="0">
              <a:buNone/>
            </a:pPr>
            <a:r>
              <a:rPr lang="en-US" sz="1300" b="1" dirty="0">
                <a:solidFill>
                  <a:srgbClr val="1A1A1A"/>
                </a:solidFill>
                <a:latin typeface="Cambria" pitchFamily="34" charset="0"/>
                <a:ea typeface="Cambria" pitchFamily="34" charset="-122"/>
                <a:cs typeface="Cambria" pitchFamily="34" charset="-120"/>
              </a:rPr>
              <a:t>Test (scored)</a:t>
            </a:r>
            <a:endParaRPr lang="en-US" sz="1300" dirty="0"/>
          </a:p>
        </p:txBody>
      </p:sp>
      <p:sp>
        <p:nvSpPr>
          <p:cNvPr id="16" name="Text 14"/>
          <p:cNvSpPr/>
          <p:nvPr/>
        </p:nvSpPr>
        <p:spPr>
          <a:xfrm>
            <a:off x="3291840" y="2148840"/>
            <a:ext cx="1920240" cy="365760"/>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6,958</a:t>
            </a:r>
            <a:endParaRPr lang="en-US" sz="1300" dirty="0"/>
          </a:p>
        </p:txBody>
      </p:sp>
      <p:sp>
        <p:nvSpPr>
          <p:cNvPr id="17" name="Text 15"/>
          <p:cNvSpPr/>
          <p:nvPr/>
        </p:nvSpPr>
        <p:spPr>
          <a:xfrm>
            <a:off x="5212080" y="2148840"/>
            <a:ext cx="1920240" cy="365760"/>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4,463</a:t>
            </a:r>
            <a:endParaRPr lang="en-US" sz="1300" dirty="0"/>
          </a:p>
        </p:txBody>
      </p:sp>
      <p:sp>
        <p:nvSpPr>
          <p:cNvPr id="18" name="Text 16"/>
          <p:cNvSpPr/>
          <p:nvPr/>
        </p:nvSpPr>
        <p:spPr>
          <a:xfrm>
            <a:off x="7132320" y="2148840"/>
            <a:ext cx="1463040" cy="365760"/>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1,432</a:t>
            </a:r>
            <a:endParaRPr lang="en-US" sz="1300" dirty="0"/>
          </a:p>
        </p:txBody>
      </p:sp>
      <p:sp>
        <p:nvSpPr>
          <p:cNvPr id="19" name="Text 17"/>
          <p:cNvSpPr/>
          <p:nvPr/>
        </p:nvSpPr>
        <p:spPr>
          <a:xfrm>
            <a:off x="502920" y="2834640"/>
            <a:ext cx="201168" cy="8686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0" name="Text 18"/>
          <p:cNvSpPr/>
          <p:nvPr/>
        </p:nvSpPr>
        <p:spPr>
          <a:xfrm>
            <a:off x="731520" y="2834640"/>
            <a:ext cx="7909560" cy="82296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An off-by-one join would corrupt every label while leaving the pipeline functional, so we test it: OCR at the gold point appears in the reference on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48%</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of n=400 steps, against </a:t>
            </a:r>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20%</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under a shifted control</a:t>
            </a:r>
            <a:endParaRPr lang="en-US" sz="1250" dirty="0"/>
          </a:p>
        </p:txBody>
      </p:sp>
      <p:sp>
        <p:nvSpPr>
          <p:cNvPr id="21" name="Text 19"/>
          <p:cNvSpPr/>
          <p:nvPr/>
        </p:nvSpPr>
        <p:spPr>
          <a:xfrm>
            <a:off x="502920" y="3703320"/>
            <a:ext cx="201168" cy="8686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2" name="Text 20"/>
          <p:cNvSpPr/>
          <p:nvPr/>
        </p:nvSpPr>
        <p:spPr>
          <a:xfrm>
            <a:off x="731520" y="3703320"/>
            <a:ext cx="7909560" cy="82296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Held out by task, zero task overlap, verified at full scale. Only </a:t>
            </a:r>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12.6%</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of elements carry any name, so every screen goes through OCR</a:t>
            </a:r>
            <a:endParaRPr lang="en-US" sz="1250" dirty="0"/>
          </a:p>
        </p:txBody>
      </p:sp>
      <p:sp>
        <p:nvSpPr>
          <p:cNvPr id="23" name="Text 21"/>
          <p:cNvSpPr/>
          <p:nvPr/>
        </p:nvSpPr>
        <p:spPr>
          <a:xfrm>
            <a:off x="502920" y="4572000"/>
            <a:ext cx="8138160" cy="27432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Four branches, identical inputs, different generation target</a:t>
            </a:r>
            <a:endParaRPr lang="en-US" sz="1300" dirty="0"/>
          </a:p>
        </p:txBody>
      </p:sp>
      <p:sp>
        <p:nvSpPr>
          <p:cNvPr id="24" name="Shape 22"/>
          <p:cNvSpPr/>
          <p:nvPr/>
        </p:nvSpPr>
        <p:spPr>
          <a:xfrm>
            <a:off x="502920" y="4892040"/>
            <a:ext cx="8138160" cy="777240"/>
          </a:xfrm>
          <a:prstGeom prst="rect">
            <a:avLst/>
          </a:prstGeom>
          <a:solidFill>
            <a:srgbClr val="FFFFFF"/>
          </a:solidFill>
          <a:ln w="12700">
            <a:solidFill>
              <a:srgbClr val="9A94AE"/>
            </a:solidFill>
            <a:prstDash val="solid"/>
          </a:ln>
        </p:spPr>
      </p:sp>
      <p:sp>
        <p:nvSpPr>
          <p:cNvPr id="25" name="Text 23"/>
          <p:cNvSpPr/>
          <p:nvPr/>
        </p:nvSpPr>
        <p:spPr>
          <a:xfrm>
            <a:off x="685800" y="4956048"/>
            <a:ext cx="7772400" cy="31089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S1  </a:t>
            </a:r>
            <a:pPr algn="l" indent="0" marL="0">
              <a:buNone/>
            </a:pPr>
            <a:r>
              <a:rPr lang="en-US" sz="1250" dirty="0">
                <a:solidFill>
                  <a:srgbClr val="1A1A1A"/>
                </a:solidFill>
                <a:latin typeface="Cambria" pitchFamily="34" charset="0"/>
                <a:ea typeface="Cambria" pitchFamily="34" charset="-122"/>
                <a:cs typeface="Cambria" pitchFamily="34" charset="-120"/>
              </a:rPr>
              <a:t>sentence only</a:t>
            </a:r>
            <a:pPr algn="l" indent="0" marL="0">
              <a:buNone/>
            </a:pPr>
            <a:r>
              <a:rPr lang="en-US" sz="1250" b="1" dirty="0">
                <a:solidFill>
                  <a:srgbClr val="B22222"/>
                </a:solidFill>
                <a:latin typeface="Cambria" pitchFamily="34" charset="0"/>
                <a:ea typeface="Cambria" pitchFamily="34" charset="-122"/>
                <a:cs typeface="Cambria" pitchFamily="34" charset="-120"/>
              </a:rPr>
              <a:t>        S2  </a:t>
            </a:r>
            <a:pPr algn="l" indent="0" marL="0">
              <a:buNone/>
            </a:pPr>
            <a:r>
              <a:rPr lang="en-US" sz="1050" dirty="0">
                <a:solidFill>
                  <a:srgbClr val="1A1A1A"/>
                </a:solidFill>
                <a:latin typeface="Consolas" pitchFamily="34" charset="0"/>
                <a:ea typeface="Consolas" pitchFamily="34" charset="-122"/>
                <a:cs typeface="Consolas" pitchFamily="34" charset="-120"/>
              </a:rPr>
              <a:t>&lt;desc&gt;role | name | &lt;point&gt;x,y&lt;/point&gt; | cue&lt;/desc&gt; then the same sentence</a:t>
            </a:r>
            <a:endParaRPr lang="en-US" sz="1250" dirty="0"/>
          </a:p>
        </p:txBody>
      </p:sp>
      <p:sp>
        <p:nvSpPr>
          <p:cNvPr id="26" name="Text 24"/>
          <p:cNvSpPr/>
          <p:nvPr/>
        </p:nvSpPr>
        <p:spPr>
          <a:xfrm>
            <a:off x="685800" y="5303520"/>
            <a:ext cx="7772400" cy="310896"/>
          </a:xfrm>
          <a:prstGeom prst="rect">
            <a:avLst/>
          </a:prstGeom>
          <a:noFill/>
          <a:ln/>
        </p:spPr>
        <p:txBody>
          <a:bodyPr wrap="square" lIns="0" tIns="0" rIns="0" bIns="0" rtlCol="0" anchor="t"/>
          <a:lstStyle/>
          <a:p>
            <a:pPr algn="l" indent="0" marL="0">
              <a:buNone/>
            </a:pPr>
            <a:r>
              <a:rPr lang="en-US" sz="1150" b="1" dirty="0">
                <a:solidFill>
                  <a:srgbClr val="5A5A66"/>
                </a:solidFill>
                <a:latin typeface="Cambria" pitchFamily="34" charset="0"/>
                <a:ea typeface="Cambria" pitchFamily="34" charset="-122"/>
                <a:cs typeface="Cambria" pitchFamily="34" charset="-120"/>
              </a:rPr>
              <a:t>S2r  </a:t>
            </a:r>
            <a:pPr algn="l" indent="0" marL="0">
              <a:buNone/>
            </a:pPr>
            <a:r>
              <a:rPr lang="en-US" sz="1150" dirty="0">
                <a:solidFill>
                  <a:srgbClr val="5A5A66"/>
                </a:solidFill>
                <a:latin typeface="Cambria" pitchFamily="34" charset="0"/>
                <a:ea typeface="Cambria" pitchFamily="34" charset="-122"/>
                <a:cs typeface="Cambria" pitchFamily="34" charset="-120"/>
              </a:rPr>
              <a:t>false descriptor      </a:t>
            </a:r>
            <a:pPr algn="l" indent="0" marL="0">
              <a:buNone/>
            </a:pPr>
            <a:r>
              <a:rPr lang="en-US" sz="1150" b="1" dirty="0">
                <a:solidFill>
                  <a:srgbClr val="5A5A66"/>
                </a:solidFill>
                <a:latin typeface="Cambria" pitchFamily="34" charset="0"/>
                <a:ea typeface="Cambria" pitchFamily="34" charset="-122"/>
                <a:cs typeface="Cambria" pitchFamily="34" charset="-120"/>
              </a:rPr>
              <a:t>S2-nopoint  </a:t>
            </a:r>
            <a:pPr algn="l" indent="0" marL="0">
              <a:buNone/>
            </a:pPr>
            <a:r>
              <a:rPr lang="en-US" sz="1150" dirty="0">
                <a:solidFill>
                  <a:srgbClr val="5A5A66"/>
                </a:solidFill>
                <a:latin typeface="Cambria" pitchFamily="34" charset="0"/>
                <a:ea typeface="Cambria" pitchFamily="34" charset="-122"/>
                <a:cs typeface="Cambria" pitchFamily="34" charset="-120"/>
              </a:rPr>
              <a:t>no coordinate slot      </a:t>
            </a:r>
            <a:pPr algn="l" indent="0" marL="0">
              <a:buNone/>
            </a:pPr>
            <a:r>
              <a:rPr lang="en-US" sz="1150" i="1" dirty="0">
                <a:solidFill>
                  <a:srgbClr val="990000"/>
                </a:solidFill>
                <a:latin typeface="Cambria" pitchFamily="34" charset="0"/>
                <a:ea typeface="Cambria" pitchFamily="34" charset="-122"/>
                <a:cs typeface="Cambria" pitchFamily="34" charset="-120"/>
              </a:rPr>
              <a:t>registered, not run</a:t>
            </a:r>
            <a:endParaRPr lang="en-US" sz="1150" dirty="0"/>
          </a:p>
        </p:txBody>
      </p:sp>
      <p:sp>
        <p:nvSpPr>
          <p:cNvPr id="27" name="Shape 25"/>
          <p:cNvSpPr/>
          <p:nvPr/>
        </p:nvSpPr>
        <p:spPr>
          <a:xfrm>
            <a:off x="502920" y="5806440"/>
            <a:ext cx="8138160" cy="685800"/>
          </a:xfrm>
          <a:prstGeom prst="roundRect">
            <a:avLst>
              <a:gd name="adj" fmla="val 8000"/>
            </a:avLst>
          </a:prstGeom>
          <a:solidFill>
            <a:srgbClr val="E9E8EC"/>
          </a:solidFill>
          <a:ln/>
          <a:effectLst>
            <a:outerShdw sx="100000" sy="100000" kx="0" ky="0" algn="bl" rotWithShape="0" blurRad="63500" dist="31750" dir="2700000">
              <a:srgbClr val="8C8C99">
                <a:alpha val="45000"/>
              </a:srgbClr>
            </a:outerShdw>
          </a:effectLst>
        </p:spPr>
      </p:sp>
      <p:sp>
        <p:nvSpPr>
          <p:cNvPr id="28" name="Text 26"/>
          <p:cNvSpPr/>
          <p:nvPr/>
        </p:nvSpPr>
        <p:spPr>
          <a:xfrm>
            <a:off x="731520" y="5806440"/>
            <a:ext cx="7680960" cy="685800"/>
          </a:xfrm>
          <a:prstGeom prst="rect">
            <a:avLst/>
          </a:prstGeom>
          <a:noFill/>
          <a:ln/>
        </p:spPr>
        <p:txBody>
          <a:bodyPr wrap="square" lIns="0" tIns="0" rIns="0" bIns="0" rtlCol="0" anchor="ctr"/>
          <a:lstStyle/>
          <a:p>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The scored sentence is byte-identical across branches on all 64,567 examples.</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A difference between branches is a difference in what precedes the sentence, and nothing else.</a:t>
            </a:r>
            <a:endParaRPr lang="en-US" sz="1250" dirty="0"/>
          </a:p>
        </p:txBody>
      </p:sp>
      <p:sp>
        <p:nvSpPr>
          <p:cNvPr id="30" name="Shape 27"/>
          <p:cNvSpPr/>
          <p:nvPr/>
        </p:nvSpPr>
        <p:spPr>
          <a:xfrm>
            <a:off x="0" y="6620256"/>
            <a:ext cx="2194560" cy="237744"/>
          </a:xfrm>
          <a:prstGeom prst="rect">
            <a:avLst/>
          </a:prstGeom>
          <a:solidFill>
            <a:srgbClr val="191132"/>
          </a:solidFill>
          <a:ln/>
        </p:spPr>
      </p:sp>
      <p:sp>
        <p:nvSpPr>
          <p:cNvPr id="31" name="Shape 28"/>
          <p:cNvSpPr/>
          <p:nvPr/>
        </p:nvSpPr>
        <p:spPr>
          <a:xfrm>
            <a:off x="2194560" y="6620256"/>
            <a:ext cx="393192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5" name="Text 32"/>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8/17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The design was sealed before the first training run</a:t>
            </a:r>
            <a:endParaRPr lang="en-US" sz="1900" dirty="0"/>
          </a:p>
        </p:txBody>
      </p:sp>
      <p:sp>
        <p:nvSpPr>
          <p:cNvPr id="4" name="Text 2"/>
          <p:cNvSpPr/>
          <p:nvPr/>
        </p:nvSpPr>
        <p:spPr>
          <a:xfrm>
            <a:off x="502920" y="749808"/>
            <a:ext cx="8138160" cy="50292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Committed to version control before any executability score existed. Twenty-seven amendments, dated and appended, twenty-one of them before the first score.</a:t>
            </a:r>
            <a:endParaRPr lang="en-US" sz="1250" dirty="0"/>
          </a:p>
        </p:txBody>
      </p:sp>
      <p:sp>
        <p:nvSpPr>
          <p:cNvPr id="5" name="Shape 3"/>
          <p:cNvSpPr/>
          <p:nvPr/>
        </p:nvSpPr>
        <p:spPr>
          <a:xfrm>
            <a:off x="502920" y="1371600"/>
            <a:ext cx="4389120" cy="365760"/>
          </a:xfrm>
          <a:prstGeom prst="rect">
            <a:avLst/>
          </a:prstGeom>
          <a:solidFill>
            <a:srgbClr val="322164"/>
          </a:solidFill>
          <a:ln/>
        </p:spPr>
      </p:sp>
      <p:sp>
        <p:nvSpPr>
          <p:cNvPr id="6" name="Text 4"/>
          <p:cNvSpPr/>
          <p:nvPr/>
        </p:nvSpPr>
        <p:spPr>
          <a:xfrm>
            <a:off x="502920" y="1371600"/>
            <a:ext cx="210312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Outcome</a:t>
            </a:r>
            <a:endParaRPr lang="en-US" sz="1200" dirty="0"/>
          </a:p>
        </p:txBody>
      </p:sp>
      <p:sp>
        <p:nvSpPr>
          <p:cNvPr id="7" name="Text 5"/>
          <p:cNvSpPr/>
          <p:nvPr/>
        </p:nvSpPr>
        <p:spPr>
          <a:xfrm>
            <a:off x="2606040" y="1371600"/>
            <a:ext cx="228600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Reading rule fixed in advance</a:t>
            </a:r>
            <a:endParaRPr lang="en-US" sz="1200" dirty="0"/>
          </a:p>
        </p:txBody>
      </p:sp>
      <p:sp>
        <p:nvSpPr>
          <p:cNvPr id="8" name="Text 6"/>
          <p:cNvSpPr/>
          <p:nvPr/>
        </p:nvSpPr>
        <p:spPr>
          <a:xfrm>
            <a:off x="502920" y="1737360"/>
            <a:ext cx="2103120" cy="475488"/>
          </a:xfrm>
          <a:prstGeom prst="rect">
            <a:avLst/>
          </a:prstGeom>
          <a:noFill/>
          <a:ln/>
        </p:spPr>
        <p:txBody>
          <a:bodyPr wrap="square" lIns="38100" tIns="38100" rIns="38100" bIns="38100" rtlCol="0" anchor="ctr"/>
          <a:lstStyle/>
          <a:p>
            <a:pPr algn="l" indent="0" marL="0">
              <a:buNone/>
            </a:pPr>
            <a:r>
              <a:rPr lang="en-US" sz="1150" b="1" dirty="0">
                <a:solidFill>
                  <a:srgbClr val="006666"/>
                </a:solidFill>
                <a:latin typeface="Cambria" pitchFamily="34" charset="0"/>
                <a:ea typeface="Cambria" pitchFamily="34" charset="-122"/>
                <a:cs typeface="Cambria" pitchFamily="34" charset="-120"/>
              </a:rPr>
              <a:t>Positive</a:t>
            </a:r>
            <a:endParaRPr lang="en-US" sz="1150" dirty="0"/>
          </a:p>
        </p:txBody>
      </p:sp>
      <p:sp>
        <p:nvSpPr>
          <p:cNvPr id="9" name="Text 7"/>
          <p:cNvSpPr/>
          <p:nvPr/>
        </p:nvSpPr>
        <p:spPr>
          <a:xfrm>
            <a:off x="2606040" y="1737360"/>
            <a:ext cx="2286000" cy="475488"/>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interval excludes zero, above seed noise</a:t>
            </a:r>
            <a:endParaRPr lang="en-US" sz="1150" dirty="0"/>
          </a:p>
        </p:txBody>
      </p:sp>
      <p:sp>
        <p:nvSpPr>
          <p:cNvPr id="10" name="Shape 8"/>
          <p:cNvSpPr/>
          <p:nvPr/>
        </p:nvSpPr>
        <p:spPr>
          <a:xfrm>
            <a:off x="502920" y="2212848"/>
            <a:ext cx="4389120" cy="0"/>
          </a:xfrm>
          <a:prstGeom prst="line">
            <a:avLst/>
          </a:prstGeom>
          <a:noFill/>
          <a:ln w="12700">
            <a:solidFill>
              <a:srgbClr val="9A94AE"/>
            </a:solidFill>
            <a:prstDash val="solid"/>
          </a:ln>
        </p:spPr>
      </p:sp>
      <p:sp>
        <p:nvSpPr>
          <p:cNvPr id="11" name="Text 9"/>
          <p:cNvSpPr/>
          <p:nvPr/>
        </p:nvSpPr>
        <p:spPr>
          <a:xfrm>
            <a:off x="502920" y="2212848"/>
            <a:ext cx="2103120" cy="402336"/>
          </a:xfrm>
          <a:prstGeom prst="rect">
            <a:avLst/>
          </a:prstGeom>
          <a:noFill/>
          <a:ln/>
        </p:spPr>
        <p:txBody>
          <a:bodyPr wrap="square" lIns="38100" tIns="38100" rIns="38100" bIns="38100" rtlCol="0" anchor="ctr"/>
          <a:lstStyle/>
          <a:p>
            <a:pPr algn="l" indent="0" marL="0">
              <a:buNone/>
            </a:pPr>
            <a:r>
              <a:rPr lang="en-US" sz="1150" dirty="0">
                <a:solidFill>
                  <a:srgbClr val="006666"/>
                </a:solidFill>
                <a:latin typeface="Cambria" pitchFamily="34" charset="0"/>
                <a:ea typeface="Cambria" pitchFamily="34" charset="-122"/>
                <a:cs typeface="Cambria" pitchFamily="34" charset="-120"/>
              </a:rPr>
              <a:t>Trend</a:t>
            </a:r>
            <a:endParaRPr lang="en-US" sz="1150" dirty="0"/>
          </a:p>
        </p:txBody>
      </p:sp>
      <p:sp>
        <p:nvSpPr>
          <p:cNvPr id="12" name="Text 10"/>
          <p:cNvSpPr/>
          <p:nvPr/>
        </p:nvSpPr>
        <p:spPr>
          <a:xfrm>
            <a:off x="2606040" y="2212848"/>
            <a:ext cx="2286000" cy="402336"/>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interval touches zero</a:t>
            </a:r>
            <a:endParaRPr lang="en-US" sz="1150" dirty="0"/>
          </a:p>
        </p:txBody>
      </p:sp>
      <p:sp>
        <p:nvSpPr>
          <p:cNvPr id="13" name="Shape 11"/>
          <p:cNvSpPr/>
          <p:nvPr/>
        </p:nvSpPr>
        <p:spPr>
          <a:xfrm>
            <a:off x="502920" y="2615184"/>
            <a:ext cx="4389120" cy="0"/>
          </a:xfrm>
          <a:prstGeom prst="line">
            <a:avLst/>
          </a:prstGeom>
          <a:noFill/>
          <a:ln w="12700">
            <a:solidFill>
              <a:srgbClr val="9A94AE"/>
            </a:solidFill>
            <a:prstDash val="solid"/>
          </a:ln>
        </p:spPr>
      </p:sp>
      <p:sp>
        <p:nvSpPr>
          <p:cNvPr id="14" name="Text 12"/>
          <p:cNvSpPr/>
          <p:nvPr/>
        </p:nvSpPr>
        <p:spPr>
          <a:xfrm>
            <a:off x="502920" y="2615184"/>
            <a:ext cx="2103120" cy="457200"/>
          </a:xfrm>
          <a:prstGeom prst="rect">
            <a:avLst/>
          </a:prstGeom>
          <a:noFill/>
          <a:ln/>
        </p:spPr>
        <p:txBody>
          <a:bodyPr wrap="square" lIns="38100" tIns="38100" rIns="38100" bIns="38100" rtlCol="0" anchor="ctr"/>
          <a:lstStyle/>
          <a:p>
            <a:pPr algn="l" indent="0" marL="0">
              <a:buNone/>
            </a:pPr>
            <a:r>
              <a:rPr lang="en-US" sz="1150" b="1" dirty="0">
                <a:solidFill>
                  <a:srgbClr val="990000"/>
                </a:solidFill>
                <a:latin typeface="Cambria" pitchFamily="34" charset="0"/>
                <a:ea typeface="Cambria" pitchFamily="34" charset="-122"/>
                <a:cs typeface="Cambria" pitchFamily="34" charset="-120"/>
              </a:rPr>
              <a:t>Inconclusive</a:t>
            </a:r>
            <a:endParaRPr lang="en-US" sz="1150" dirty="0"/>
          </a:p>
        </p:txBody>
      </p:sp>
      <p:sp>
        <p:nvSpPr>
          <p:cNvPr id="15" name="Text 13"/>
          <p:cNvSpPr/>
          <p:nvPr/>
        </p:nvSpPr>
        <p:spPr>
          <a:xfrm>
            <a:off x="2606040" y="2615184"/>
            <a:ext cx="2286000" cy="45720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covers zero, |Δ| below detectable</a:t>
            </a:r>
            <a:endParaRPr lang="en-US" sz="1150" dirty="0"/>
          </a:p>
        </p:txBody>
      </p:sp>
      <p:sp>
        <p:nvSpPr>
          <p:cNvPr id="16" name="Shape 14"/>
          <p:cNvSpPr/>
          <p:nvPr/>
        </p:nvSpPr>
        <p:spPr>
          <a:xfrm>
            <a:off x="502920" y="3072384"/>
            <a:ext cx="4389120" cy="0"/>
          </a:xfrm>
          <a:prstGeom prst="line">
            <a:avLst/>
          </a:prstGeom>
          <a:noFill/>
          <a:ln w="12700">
            <a:solidFill>
              <a:srgbClr val="9A94AE"/>
            </a:solidFill>
            <a:prstDash val="solid"/>
          </a:ln>
        </p:spPr>
      </p:sp>
      <p:sp>
        <p:nvSpPr>
          <p:cNvPr id="17" name="Text 15"/>
          <p:cNvSpPr/>
          <p:nvPr/>
        </p:nvSpPr>
        <p:spPr>
          <a:xfrm>
            <a:off x="502920" y="3072384"/>
            <a:ext cx="2103120" cy="402336"/>
          </a:xfrm>
          <a:prstGeom prst="rect">
            <a:avLst/>
          </a:prstGeom>
          <a:noFill/>
          <a:ln/>
        </p:spPr>
        <p:txBody>
          <a:bodyPr wrap="square" lIns="38100" tIns="38100" rIns="38100" bIns="38100" rtlCol="0" anchor="ctr"/>
          <a:lstStyle/>
          <a:p>
            <a:pPr algn="l" indent="0" marL="0">
              <a:buNone/>
            </a:pPr>
            <a:r>
              <a:rPr lang="en-US" sz="1150" b="1" dirty="0">
                <a:solidFill>
                  <a:srgbClr val="B22222"/>
                </a:solidFill>
                <a:latin typeface="Cambria" pitchFamily="34" charset="0"/>
                <a:ea typeface="Cambria" pitchFamily="34" charset="-122"/>
                <a:cs typeface="Cambria" pitchFamily="34" charset="-120"/>
              </a:rPr>
              <a:t>Harm</a:t>
            </a:r>
            <a:endParaRPr lang="en-US" sz="1150" dirty="0"/>
          </a:p>
        </p:txBody>
      </p:sp>
      <p:sp>
        <p:nvSpPr>
          <p:cNvPr id="18" name="Text 16"/>
          <p:cNvSpPr/>
          <p:nvPr/>
        </p:nvSpPr>
        <p:spPr>
          <a:xfrm>
            <a:off x="2606040" y="3072384"/>
            <a:ext cx="2286000" cy="402336"/>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negative upper bound</a:t>
            </a:r>
            <a:endParaRPr lang="en-US" sz="1150" dirty="0"/>
          </a:p>
        </p:txBody>
      </p:sp>
      <p:sp>
        <p:nvSpPr>
          <p:cNvPr id="19" name="Text 17"/>
          <p:cNvSpPr/>
          <p:nvPr/>
        </p:nvSpPr>
        <p:spPr>
          <a:xfrm>
            <a:off x="4709160" y="141732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0" name="Text 18"/>
          <p:cNvSpPr/>
          <p:nvPr/>
        </p:nvSpPr>
        <p:spPr>
          <a:xfrm>
            <a:off x="4937760" y="1417320"/>
            <a:ext cx="370332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Registered quantity averages two seeds per branch</a:t>
            </a:r>
            <a:endParaRPr lang="en-US" sz="1200" dirty="0"/>
          </a:p>
        </p:txBody>
      </p:sp>
      <p:sp>
        <p:nvSpPr>
          <p:cNvPr id="21" name="Text 19"/>
          <p:cNvSpPr/>
          <p:nvPr/>
        </p:nvSpPr>
        <p:spPr>
          <a:xfrm>
            <a:off x="4709160" y="219456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2" name="Text 20"/>
          <p:cNvSpPr/>
          <p:nvPr/>
        </p:nvSpPr>
        <p:spPr>
          <a:xfrm>
            <a:off x="4937760" y="2194560"/>
            <a:ext cx="370332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Inconclusive band fixed at −2.8 … +1.7 pp</a:t>
            </a:r>
            <a:endParaRPr lang="en-US" sz="1200" dirty="0"/>
          </a:p>
        </p:txBody>
      </p:sp>
      <p:sp>
        <p:nvSpPr>
          <p:cNvPr id="23" name="Text 21"/>
          <p:cNvSpPr/>
          <p:nvPr/>
        </p:nvSpPr>
        <p:spPr>
          <a:xfrm>
            <a:off x="4709160" y="297180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4" name="Text 22"/>
          <p:cNvSpPr/>
          <p:nvPr/>
        </p:nvSpPr>
        <p:spPr>
          <a:xfrm>
            <a:off x="4937760" y="2971800"/>
            <a:ext cx="370332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Minimum detectable effect 2.2 pp, computed before any score</a:t>
            </a:r>
            <a:endParaRPr lang="en-US" sz="1200" dirty="0"/>
          </a:p>
        </p:txBody>
      </p:sp>
      <p:sp>
        <p:nvSpPr>
          <p:cNvPr id="25" name="Text 23"/>
          <p:cNvSpPr/>
          <p:nvPr/>
        </p:nvSpPr>
        <p:spPr>
          <a:xfrm>
            <a:off x="4709160" y="374904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6" name="Text 24"/>
          <p:cNvSpPr/>
          <p:nvPr/>
        </p:nvSpPr>
        <p:spPr>
          <a:xfrm>
            <a:off x="4937760" y="3749040"/>
            <a:ext cx="370332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Six later amendments each moved the headroom up and the threshold down; we flag rather than hide that pattern</a:t>
            </a:r>
            <a:endParaRPr lang="en-US" sz="1200" dirty="0"/>
          </a:p>
        </p:txBody>
      </p:sp>
      <p:sp>
        <p:nvSpPr>
          <p:cNvPr id="27" name="Shape 25"/>
          <p:cNvSpPr/>
          <p:nvPr/>
        </p:nvSpPr>
        <p:spPr>
          <a:xfrm>
            <a:off x="502920" y="4617720"/>
            <a:ext cx="8138160" cy="1051560"/>
          </a:xfrm>
          <a:prstGeom prst="rect">
            <a:avLst/>
          </a:prstGeom>
          <a:solidFill>
            <a:srgbClr val="FFFFFF"/>
          </a:solidFill>
          <a:ln w="19050">
            <a:solidFill>
              <a:srgbClr val="B22222"/>
            </a:solidFill>
            <a:prstDash val="solid"/>
          </a:ln>
        </p:spPr>
      </p:sp>
      <p:sp>
        <p:nvSpPr>
          <p:cNvPr id="28" name="Text 26"/>
          <p:cNvSpPr/>
          <p:nvPr/>
        </p:nvSpPr>
        <p:spPr>
          <a:xfrm>
            <a:off x="731520" y="4617720"/>
            <a:ext cx="7680960" cy="1051560"/>
          </a:xfrm>
          <a:prstGeom prst="rect">
            <a:avLst/>
          </a:prstGeom>
          <a:noFill/>
          <a:ln/>
        </p:spPr>
        <p:txBody>
          <a:bodyPr wrap="square" lIns="0" tIns="0" rIns="0" bIns="0" rtlCol="0" anchor="ctr"/>
          <a:lstStyle/>
          <a:p>
            <a:pPr algn="l" indent="0" marL="0">
              <a:lnSpc>
                <a:spcPct val="138000"/>
              </a:lnSpc>
              <a:buNone/>
            </a:pPr>
            <a:r>
              <a:rPr lang="en-US" sz="1300" b="1" dirty="0">
                <a:solidFill>
                  <a:srgbClr val="B22222"/>
                </a:solidFill>
                <a:latin typeface="Cambria" pitchFamily="34" charset="0"/>
                <a:ea typeface="Cambria" pitchFamily="34" charset="-122"/>
                <a:cs typeface="Cambria" pitchFamily="34" charset="-120"/>
              </a:rPr>
              <a:t>The second seed of the treatment branch was never run.</a:t>
            </a:r>
            <a:pPr algn="l" indent="0" marL="0">
              <a:lnSpc>
                <a:spcPct val="138000"/>
              </a:lnSpc>
              <a:buNone/>
            </a:pPr>
            <a:r>
              <a:rPr lang="en-US" sz="1300" dirty="0">
                <a:solidFill>
                  <a:srgbClr val="1A1A1A"/>
                </a:solidFill>
                <a:latin typeface="Cambria" pitchFamily="34" charset="0"/>
                <a:ea typeface="Cambria" pitchFamily="34" charset="-122"/>
                <a:cs typeface="Cambria" pitchFamily="34" charset="-120"/>
              </a:rPr>
              <a:t>  A budget decision taken on 23 August 2026, and it will not be. The registered estimand is permanently incomplete, and no later analysis upgrades a single-seed comparison into the conclusion the two-seed rule would have licensed.</a:t>
            </a:r>
            <a:endParaRPr lang="en-US" sz="1300" dirty="0"/>
          </a:p>
        </p:txBody>
      </p:sp>
      <p:sp>
        <p:nvSpPr>
          <p:cNvPr id="30" name="Shape 27"/>
          <p:cNvSpPr/>
          <p:nvPr/>
        </p:nvSpPr>
        <p:spPr>
          <a:xfrm>
            <a:off x="0" y="6620256"/>
            <a:ext cx="2194560" cy="237744"/>
          </a:xfrm>
          <a:prstGeom prst="rect">
            <a:avLst/>
          </a:prstGeom>
          <a:solidFill>
            <a:srgbClr val="191132"/>
          </a:solidFill>
          <a:ln/>
        </p:spPr>
      </p:sp>
      <p:sp>
        <p:nvSpPr>
          <p:cNvPr id="31" name="Shape 28"/>
          <p:cNvSpPr/>
          <p:nvPr/>
        </p:nvSpPr>
        <p:spPr>
          <a:xfrm>
            <a:off x="2194560" y="6620256"/>
            <a:ext cx="393192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5" name="Text 32"/>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9/17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Executability on the 4,463-step touch population</a:t>
            </a:r>
            <a:endParaRPr lang="en-US" sz="1900" dirty="0"/>
          </a:p>
        </p:txBody>
      </p:sp>
      <p:sp>
        <p:nvSpPr>
          <p:cNvPr id="4" name="Shape 2"/>
          <p:cNvSpPr/>
          <p:nvPr/>
        </p:nvSpPr>
        <p:spPr>
          <a:xfrm>
            <a:off x="502920" y="868680"/>
            <a:ext cx="8129016" cy="384048"/>
          </a:xfrm>
          <a:prstGeom prst="rect">
            <a:avLst/>
          </a:prstGeom>
          <a:solidFill>
            <a:srgbClr val="322164"/>
          </a:solidFill>
          <a:ln/>
        </p:spPr>
      </p:sp>
      <p:sp>
        <p:nvSpPr>
          <p:cNvPr id="5" name="Text 3"/>
          <p:cNvSpPr/>
          <p:nvPr/>
        </p:nvSpPr>
        <p:spPr>
          <a:xfrm>
            <a:off x="502920" y="868680"/>
            <a:ext cx="36576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Branch</a:t>
            </a:r>
            <a:endParaRPr lang="en-US" sz="1250" dirty="0"/>
          </a:p>
        </p:txBody>
      </p:sp>
      <p:sp>
        <p:nvSpPr>
          <p:cNvPr id="6" name="Text 4"/>
          <p:cNvSpPr/>
          <p:nvPr/>
        </p:nvSpPr>
        <p:spPr>
          <a:xfrm>
            <a:off x="4160520" y="868680"/>
            <a:ext cx="14630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Exec.</a:t>
            </a:r>
            <a:endParaRPr lang="en-US" sz="1250" dirty="0"/>
          </a:p>
        </p:txBody>
      </p:sp>
      <p:sp>
        <p:nvSpPr>
          <p:cNvPr id="7" name="Text 5"/>
          <p:cNvSpPr/>
          <p:nvPr/>
        </p:nvSpPr>
        <p:spPr>
          <a:xfrm>
            <a:off x="5623560" y="868680"/>
            <a:ext cx="201168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95% CI</a:t>
            </a:r>
            <a:endParaRPr lang="en-US" sz="1250" dirty="0"/>
          </a:p>
        </p:txBody>
      </p:sp>
      <p:sp>
        <p:nvSpPr>
          <p:cNvPr id="8" name="Text 6"/>
          <p:cNvSpPr/>
          <p:nvPr/>
        </p:nvSpPr>
        <p:spPr>
          <a:xfrm>
            <a:off x="7635240" y="868680"/>
            <a:ext cx="996696" cy="384048"/>
          </a:xfrm>
          <a:prstGeom prst="rect">
            <a:avLst/>
          </a:prstGeom>
          <a:noFill/>
          <a:ln/>
        </p:spPr>
        <p:txBody>
          <a:bodyPr wrap="square" lIns="38100" tIns="38100" rIns="38100" bIns="38100" rtlCol="0" anchor="ctr"/>
          <a:lstStyle/>
          <a:p>
            <a:pPr algn="ctr" indent="0" marL="0">
              <a:buNone/>
            </a:pPr>
            <a:endParaRPr lang="en-US" sz="1250" dirty="0"/>
          </a:p>
        </p:txBody>
      </p:sp>
      <p:sp>
        <p:nvSpPr>
          <p:cNvPr id="9" name="Text 7"/>
          <p:cNvSpPr/>
          <p:nvPr/>
        </p:nvSpPr>
        <p:spPr>
          <a:xfrm>
            <a:off x="502920" y="1252728"/>
            <a:ext cx="3657600" cy="420624"/>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Human references  (ceiling)</a:t>
            </a:r>
            <a:endParaRPr lang="en-US" sz="1300" dirty="0"/>
          </a:p>
        </p:txBody>
      </p:sp>
      <p:sp>
        <p:nvSpPr>
          <p:cNvPr id="10" name="Text 8"/>
          <p:cNvSpPr/>
          <p:nvPr/>
        </p:nvSpPr>
        <p:spPr>
          <a:xfrm>
            <a:off x="4160520" y="1252728"/>
            <a:ext cx="1463040" cy="420624"/>
          </a:xfrm>
          <a:prstGeom prst="rect">
            <a:avLst/>
          </a:prstGeom>
          <a:noFill/>
          <a:ln/>
        </p:spPr>
        <p:txBody>
          <a:bodyPr wrap="square" lIns="38100" tIns="38100" rIns="38100" bIns="38100" rtlCol="0" anchor="ctr"/>
          <a:lstStyle/>
          <a:p>
            <a:pPr algn="ctr" indent="0" marL="0">
              <a:buNone/>
            </a:pPr>
            <a:r>
              <a:rPr lang="en-US" sz="1300" b="1" dirty="0">
                <a:solidFill>
                  <a:srgbClr val="006666"/>
                </a:solidFill>
                <a:latin typeface="Cambria" pitchFamily="34" charset="0"/>
                <a:ea typeface="Cambria" pitchFamily="34" charset="-122"/>
                <a:cs typeface="Cambria" pitchFamily="34" charset="-120"/>
              </a:rPr>
              <a:t>75.7</a:t>
            </a:r>
            <a:endParaRPr lang="en-US" sz="1300" dirty="0"/>
          </a:p>
        </p:txBody>
      </p:sp>
      <p:sp>
        <p:nvSpPr>
          <p:cNvPr id="11" name="Text 9"/>
          <p:cNvSpPr/>
          <p:nvPr/>
        </p:nvSpPr>
        <p:spPr>
          <a:xfrm>
            <a:off x="5623560" y="1252728"/>
            <a:ext cx="2011680" cy="420624"/>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[74.1, 77.3]</a:t>
            </a:r>
            <a:endParaRPr lang="en-US" sz="1300" dirty="0"/>
          </a:p>
        </p:txBody>
      </p:sp>
      <p:sp>
        <p:nvSpPr>
          <p:cNvPr id="12" name="Text 10"/>
          <p:cNvSpPr/>
          <p:nvPr/>
        </p:nvSpPr>
        <p:spPr>
          <a:xfrm>
            <a:off x="7635240" y="1252728"/>
            <a:ext cx="996696" cy="420624"/>
          </a:xfrm>
          <a:prstGeom prst="rect">
            <a:avLst/>
          </a:prstGeom>
          <a:noFill/>
          <a:ln/>
        </p:spPr>
        <p:txBody>
          <a:bodyPr wrap="square" lIns="38100" tIns="38100" rIns="38100" bIns="38100" rtlCol="0" anchor="ctr"/>
          <a:lstStyle/>
          <a:p>
            <a:pPr algn="ctr" indent="0" marL="0">
              <a:buNone/>
            </a:pPr>
            <a:endParaRPr lang="en-US" sz="1300" dirty="0"/>
          </a:p>
        </p:txBody>
      </p:sp>
      <p:sp>
        <p:nvSpPr>
          <p:cNvPr id="13" name="Shape 11"/>
          <p:cNvSpPr/>
          <p:nvPr/>
        </p:nvSpPr>
        <p:spPr>
          <a:xfrm>
            <a:off x="502920" y="1673352"/>
            <a:ext cx="8129016" cy="0"/>
          </a:xfrm>
          <a:prstGeom prst="line">
            <a:avLst/>
          </a:prstGeom>
          <a:noFill/>
          <a:ln w="19050">
            <a:solidFill>
              <a:srgbClr val="322164"/>
            </a:solidFill>
            <a:prstDash val="solid"/>
          </a:ln>
        </p:spPr>
      </p:sp>
      <p:sp>
        <p:nvSpPr>
          <p:cNvPr id="14" name="Text 12"/>
          <p:cNvSpPr/>
          <p:nvPr/>
        </p:nvSpPr>
        <p:spPr>
          <a:xfrm>
            <a:off x="502920" y="1673352"/>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Base, not fine-tuned</a:t>
            </a:r>
            <a:endParaRPr lang="en-US" sz="1300" dirty="0"/>
          </a:p>
        </p:txBody>
      </p:sp>
      <p:sp>
        <p:nvSpPr>
          <p:cNvPr id="15" name="Text 13"/>
          <p:cNvSpPr/>
          <p:nvPr/>
        </p:nvSpPr>
        <p:spPr>
          <a:xfrm>
            <a:off x="4160520" y="1673352"/>
            <a:ext cx="146304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47.6</a:t>
            </a:r>
            <a:endParaRPr lang="en-US" sz="1300" dirty="0"/>
          </a:p>
        </p:txBody>
      </p:sp>
      <p:sp>
        <p:nvSpPr>
          <p:cNvPr id="16" name="Text 14"/>
          <p:cNvSpPr/>
          <p:nvPr/>
        </p:nvSpPr>
        <p:spPr>
          <a:xfrm>
            <a:off x="5623560" y="1673352"/>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[45.9, 49.3]</a:t>
            </a:r>
            <a:endParaRPr lang="en-US" sz="1300" dirty="0"/>
          </a:p>
        </p:txBody>
      </p:sp>
      <p:sp>
        <p:nvSpPr>
          <p:cNvPr id="17" name="Text 15"/>
          <p:cNvSpPr/>
          <p:nvPr/>
        </p:nvSpPr>
        <p:spPr>
          <a:xfrm>
            <a:off x="7635240" y="1673352"/>
            <a:ext cx="996696" cy="402336"/>
          </a:xfrm>
          <a:prstGeom prst="rect">
            <a:avLst/>
          </a:prstGeom>
          <a:noFill/>
          <a:ln/>
        </p:spPr>
        <p:txBody>
          <a:bodyPr wrap="square" lIns="38100" tIns="38100" rIns="38100" bIns="38100" rtlCol="0" anchor="ctr"/>
          <a:lstStyle/>
          <a:p>
            <a:pPr algn="ctr" indent="0" marL="0">
              <a:buNone/>
            </a:pPr>
            <a:endParaRPr lang="en-US" sz="1300" dirty="0"/>
          </a:p>
        </p:txBody>
      </p:sp>
      <p:sp>
        <p:nvSpPr>
          <p:cNvPr id="18" name="Shape 16"/>
          <p:cNvSpPr/>
          <p:nvPr/>
        </p:nvSpPr>
        <p:spPr>
          <a:xfrm>
            <a:off x="502920" y="2075688"/>
            <a:ext cx="8129016" cy="0"/>
          </a:xfrm>
          <a:prstGeom prst="line">
            <a:avLst/>
          </a:prstGeom>
          <a:noFill/>
          <a:ln w="12700">
            <a:solidFill>
              <a:srgbClr val="9A94AE"/>
            </a:solidFill>
            <a:prstDash val="solid"/>
          </a:ln>
        </p:spPr>
      </p:sp>
      <p:sp>
        <p:nvSpPr>
          <p:cNvPr id="19" name="Text 17"/>
          <p:cNvSpPr/>
          <p:nvPr/>
        </p:nvSpPr>
        <p:spPr>
          <a:xfrm>
            <a:off x="502920" y="2075688"/>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S1, sentence only, seed 101</a:t>
            </a:r>
            <a:endParaRPr lang="en-US" sz="1300" dirty="0"/>
          </a:p>
        </p:txBody>
      </p:sp>
      <p:sp>
        <p:nvSpPr>
          <p:cNvPr id="20" name="Text 18"/>
          <p:cNvSpPr/>
          <p:nvPr/>
        </p:nvSpPr>
        <p:spPr>
          <a:xfrm>
            <a:off x="4160520" y="2075688"/>
            <a:ext cx="146304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59.1</a:t>
            </a:r>
            <a:endParaRPr lang="en-US" sz="1300" dirty="0"/>
          </a:p>
        </p:txBody>
      </p:sp>
      <p:sp>
        <p:nvSpPr>
          <p:cNvPr id="21" name="Text 19"/>
          <p:cNvSpPr/>
          <p:nvPr/>
        </p:nvSpPr>
        <p:spPr>
          <a:xfrm>
            <a:off x="5623560" y="2075688"/>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[57.3, 60.8]</a:t>
            </a:r>
            <a:endParaRPr lang="en-US" sz="1300" dirty="0"/>
          </a:p>
        </p:txBody>
      </p:sp>
      <p:sp>
        <p:nvSpPr>
          <p:cNvPr id="22" name="Text 20"/>
          <p:cNvSpPr/>
          <p:nvPr/>
        </p:nvSpPr>
        <p:spPr>
          <a:xfrm>
            <a:off x="7635240" y="2075688"/>
            <a:ext cx="996696" cy="402336"/>
          </a:xfrm>
          <a:prstGeom prst="rect">
            <a:avLst/>
          </a:prstGeom>
          <a:noFill/>
          <a:ln/>
        </p:spPr>
        <p:txBody>
          <a:bodyPr wrap="square" lIns="38100" tIns="38100" rIns="38100" bIns="38100" rtlCol="0" anchor="ctr"/>
          <a:lstStyle/>
          <a:p>
            <a:pPr algn="ctr" indent="0" marL="0">
              <a:buNone/>
            </a:pPr>
            <a:endParaRPr lang="en-US" sz="1300" dirty="0"/>
          </a:p>
        </p:txBody>
      </p:sp>
      <p:sp>
        <p:nvSpPr>
          <p:cNvPr id="23" name="Shape 21"/>
          <p:cNvSpPr/>
          <p:nvPr/>
        </p:nvSpPr>
        <p:spPr>
          <a:xfrm>
            <a:off x="502920" y="2478024"/>
            <a:ext cx="8129016" cy="0"/>
          </a:xfrm>
          <a:prstGeom prst="line">
            <a:avLst/>
          </a:prstGeom>
          <a:noFill/>
          <a:ln w="12700">
            <a:solidFill>
              <a:srgbClr val="9A94AE"/>
            </a:solidFill>
            <a:prstDash val="solid"/>
          </a:ln>
        </p:spPr>
      </p:sp>
      <p:sp>
        <p:nvSpPr>
          <p:cNvPr id="24" name="Text 22"/>
          <p:cNvSpPr/>
          <p:nvPr/>
        </p:nvSpPr>
        <p:spPr>
          <a:xfrm>
            <a:off x="502920" y="2478024"/>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S1, sentence only, seed 202</a:t>
            </a:r>
            <a:endParaRPr lang="en-US" sz="1300" dirty="0"/>
          </a:p>
        </p:txBody>
      </p:sp>
      <p:sp>
        <p:nvSpPr>
          <p:cNvPr id="25" name="Text 23"/>
          <p:cNvSpPr/>
          <p:nvPr/>
        </p:nvSpPr>
        <p:spPr>
          <a:xfrm>
            <a:off x="4160520" y="2478024"/>
            <a:ext cx="146304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59.6</a:t>
            </a:r>
            <a:endParaRPr lang="en-US" sz="1300" dirty="0"/>
          </a:p>
        </p:txBody>
      </p:sp>
      <p:sp>
        <p:nvSpPr>
          <p:cNvPr id="26" name="Text 24"/>
          <p:cNvSpPr/>
          <p:nvPr/>
        </p:nvSpPr>
        <p:spPr>
          <a:xfrm>
            <a:off x="5623560" y="2478024"/>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[57.9, 61.3]</a:t>
            </a:r>
            <a:endParaRPr lang="en-US" sz="1300" dirty="0"/>
          </a:p>
        </p:txBody>
      </p:sp>
      <p:sp>
        <p:nvSpPr>
          <p:cNvPr id="27" name="Text 25"/>
          <p:cNvSpPr/>
          <p:nvPr/>
        </p:nvSpPr>
        <p:spPr>
          <a:xfrm>
            <a:off x="7635240" y="2478024"/>
            <a:ext cx="996696" cy="402336"/>
          </a:xfrm>
          <a:prstGeom prst="rect">
            <a:avLst/>
          </a:prstGeom>
          <a:noFill/>
          <a:ln/>
        </p:spPr>
        <p:txBody>
          <a:bodyPr wrap="square" lIns="38100" tIns="38100" rIns="38100" bIns="38100" rtlCol="0" anchor="ctr"/>
          <a:lstStyle/>
          <a:p>
            <a:pPr algn="ctr" indent="0" marL="0">
              <a:buNone/>
            </a:pPr>
            <a:endParaRPr lang="en-US" sz="1300" dirty="0"/>
          </a:p>
        </p:txBody>
      </p:sp>
      <p:sp>
        <p:nvSpPr>
          <p:cNvPr id="28" name="Shape 26"/>
          <p:cNvSpPr/>
          <p:nvPr/>
        </p:nvSpPr>
        <p:spPr>
          <a:xfrm>
            <a:off x="502920" y="2880360"/>
            <a:ext cx="8129016" cy="0"/>
          </a:xfrm>
          <a:prstGeom prst="line">
            <a:avLst/>
          </a:prstGeom>
          <a:noFill/>
          <a:ln w="12700">
            <a:solidFill>
              <a:srgbClr val="9A94AE"/>
            </a:solidFill>
            <a:prstDash val="solid"/>
          </a:ln>
        </p:spPr>
      </p:sp>
      <p:sp>
        <p:nvSpPr>
          <p:cNvPr id="29" name="Text 27"/>
          <p:cNvSpPr/>
          <p:nvPr/>
        </p:nvSpPr>
        <p:spPr>
          <a:xfrm>
            <a:off x="502920" y="2880360"/>
            <a:ext cx="3657600" cy="402336"/>
          </a:xfrm>
          <a:prstGeom prst="rect">
            <a:avLst/>
          </a:prstGeom>
          <a:noFill/>
          <a:ln/>
        </p:spPr>
        <p:txBody>
          <a:bodyPr wrap="square" lIns="38100" tIns="38100" rIns="38100" bIns="38100" rtlCol="0" anchor="ctr"/>
          <a:lstStyle/>
          <a:p>
            <a:pPr algn="l" indent="0" marL="0">
              <a:buNone/>
            </a:pPr>
            <a:r>
              <a:rPr lang="en-US" sz="1300" b="1" dirty="0">
                <a:solidFill>
                  <a:srgbClr val="1A1A1A"/>
                </a:solidFill>
                <a:latin typeface="Cambria" pitchFamily="34" charset="0"/>
                <a:ea typeface="Cambria" pitchFamily="34" charset="-122"/>
                <a:cs typeface="Cambria" pitchFamily="34" charset="-120"/>
              </a:rPr>
              <a:t>S1, mean of two seeds</a:t>
            </a:r>
            <a:endParaRPr lang="en-US" sz="1300" dirty="0"/>
          </a:p>
        </p:txBody>
      </p:sp>
      <p:sp>
        <p:nvSpPr>
          <p:cNvPr id="30" name="Text 28"/>
          <p:cNvSpPr/>
          <p:nvPr/>
        </p:nvSpPr>
        <p:spPr>
          <a:xfrm>
            <a:off x="4160520" y="2880360"/>
            <a:ext cx="1463040" cy="402336"/>
          </a:xfrm>
          <a:prstGeom prst="rect">
            <a:avLst/>
          </a:prstGeom>
          <a:noFill/>
          <a:ln/>
        </p:spPr>
        <p:txBody>
          <a:bodyPr wrap="square" lIns="38100" tIns="38100" rIns="38100" bIns="38100" rtlCol="0" anchor="ctr"/>
          <a:lstStyle/>
          <a:p>
            <a:pPr algn="ctr" indent="0" marL="0">
              <a:buNone/>
            </a:pPr>
            <a:r>
              <a:rPr lang="en-US" sz="1300" b="1" dirty="0">
                <a:solidFill>
                  <a:srgbClr val="322164"/>
                </a:solidFill>
                <a:latin typeface="Cambria" pitchFamily="34" charset="0"/>
                <a:ea typeface="Cambria" pitchFamily="34" charset="-122"/>
                <a:cs typeface="Cambria" pitchFamily="34" charset="-120"/>
              </a:rPr>
              <a:t>59.4</a:t>
            </a:r>
            <a:endParaRPr lang="en-US" sz="1300" dirty="0"/>
          </a:p>
        </p:txBody>
      </p:sp>
      <p:sp>
        <p:nvSpPr>
          <p:cNvPr id="31" name="Text 29"/>
          <p:cNvSpPr/>
          <p:nvPr/>
        </p:nvSpPr>
        <p:spPr>
          <a:xfrm>
            <a:off x="5623560" y="2880360"/>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a:t>
            </a:r>
            <a:endParaRPr lang="en-US" sz="1300" dirty="0"/>
          </a:p>
        </p:txBody>
      </p:sp>
      <p:sp>
        <p:nvSpPr>
          <p:cNvPr id="32" name="Text 30"/>
          <p:cNvSpPr/>
          <p:nvPr/>
        </p:nvSpPr>
        <p:spPr>
          <a:xfrm>
            <a:off x="7635240" y="2880360"/>
            <a:ext cx="996696" cy="402336"/>
          </a:xfrm>
          <a:prstGeom prst="rect">
            <a:avLst/>
          </a:prstGeom>
          <a:noFill/>
          <a:ln/>
        </p:spPr>
        <p:txBody>
          <a:bodyPr wrap="square" lIns="38100" tIns="38100" rIns="38100" bIns="38100" rtlCol="0" anchor="ctr"/>
          <a:lstStyle/>
          <a:p>
            <a:pPr algn="ctr" indent="0" marL="0">
              <a:buNone/>
            </a:pPr>
            <a:endParaRPr lang="en-US" sz="1300" dirty="0"/>
          </a:p>
        </p:txBody>
      </p:sp>
      <p:sp>
        <p:nvSpPr>
          <p:cNvPr id="33" name="Shape 31"/>
          <p:cNvSpPr/>
          <p:nvPr/>
        </p:nvSpPr>
        <p:spPr>
          <a:xfrm>
            <a:off x="502920" y="3282696"/>
            <a:ext cx="8129016" cy="0"/>
          </a:xfrm>
          <a:prstGeom prst="line">
            <a:avLst/>
          </a:prstGeom>
          <a:noFill/>
          <a:ln w="19050">
            <a:solidFill>
              <a:srgbClr val="322164"/>
            </a:solidFill>
            <a:prstDash val="solid"/>
          </a:ln>
        </p:spPr>
      </p:sp>
      <p:sp>
        <p:nvSpPr>
          <p:cNvPr id="34" name="Text 32"/>
          <p:cNvSpPr/>
          <p:nvPr/>
        </p:nvSpPr>
        <p:spPr>
          <a:xfrm>
            <a:off x="502920" y="3282696"/>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S2, descriptor first, seed 101</a:t>
            </a:r>
            <a:endParaRPr lang="en-US" sz="1300" dirty="0"/>
          </a:p>
        </p:txBody>
      </p:sp>
      <p:sp>
        <p:nvSpPr>
          <p:cNvPr id="35" name="Text 33"/>
          <p:cNvSpPr/>
          <p:nvPr/>
        </p:nvSpPr>
        <p:spPr>
          <a:xfrm>
            <a:off x="4160520" y="3282696"/>
            <a:ext cx="146304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57.2</a:t>
            </a:r>
            <a:endParaRPr lang="en-US" sz="1300" dirty="0"/>
          </a:p>
        </p:txBody>
      </p:sp>
      <p:sp>
        <p:nvSpPr>
          <p:cNvPr id="36" name="Text 34"/>
          <p:cNvSpPr/>
          <p:nvPr/>
        </p:nvSpPr>
        <p:spPr>
          <a:xfrm>
            <a:off x="5623560" y="3282696"/>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[55.4, 58.9]</a:t>
            </a:r>
            <a:endParaRPr lang="en-US" sz="1300" dirty="0"/>
          </a:p>
        </p:txBody>
      </p:sp>
      <p:sp>
        <p:nvSpPr>
          <p:cNvPr id="37" name="Text 35"/>
          <p:cNvSpPr/>
          <p:nvPr/>
        </p:nvSpPr>
        <p:spPr>
          <a:xfrm>
            <a:off x="7635240" y="3282696"/>
            <a:ext cx="996696" cy="402336"/>
          </a:xfrm>
          <a:prstGeom prst="rect">
            <a:avLst/>
          </a:prstGeom>
          <a:noFill/>
          <a:ln/>
        </p:spPr>
        <p:txBody>
          <a:bodyPr wrap="square" lIns="38100" tIns="38100" rIns="38100" bIns="38100" rtlCol="0" anchor="ctr"/>
          <a:lstStyle/>
          <a:p>
            <a:pPr algn="ctr" indent="0" marL="0">
              <a:buNone/>
            </a:pPr>
            <a:r>
              <a:rPr lang="en-US" sz="1300" dirty="0">
                <a:solidFill>
                  <a:srgbClr val="990000"/>
                </a:solidFill>
                <a:latin typeface="Cambria" pitchFamily="34" charset="0"/>
                <a:ea typeface="Cambria" pitchFamily="34" charset="-122"/>
                <a:cs typeface="Cambria" pitchFamily="34" charset="-120"/>
              </a:rPr>
              <a:t>exploratory</a:t>
            </a:r>
            <a:endParaRPr lang="en-US" sz="1300" dirty="0"/>
          </a:p>
        </p:txBody>
      </p:sp>
      <p:sp>
        <p:nvSpPr>
          <p:cNvPr id="38" name="Shape 36"/>
          <p:cNvSpPr/>
          <p:nvPr/>
        </p:nvSpPr>
        <p:spPr>
          <a:xfrm>
            <a:off x="502920" y="3685032"/>
            <a:ext cx="8129016" cy="0"/>
          </a:xfrm>
          <a:prstGeom prst="line">
            <a:avLst/>
          </a:prstGeom>
          <a:noFill/>
          <a:ln w="12700">
            <a:solidFill>
              <a:srgbClr val="9A94AE"/>
            </a:solidFill>
            <a:prstDash val="solid"/>
          </a:ln>
        </p:spPr>
      </p:sp>
      <p:sp>
        <p:nvSpPr>
          <p:cNvPr id="39" name="Text 37"/>
          <p:cNvSpPr/>
          <p:nvPr/>
        </p:nvSpPr>
        <p:spPr>
          <a:xfrm>
            <a:off x="502920" y="3685032"/>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CE2, stage-2 control</a:t>
            </a:r>
            <a:endParaRPr lang="en-US" sz="1300" dirty="0"/>
          </a:p>
        </p:txBody>
      </p:sp>
      <p:sp>
        <p:nvSpPr>
          <p:cNvPr id="40" name="Text 38"/>
          <p:cNvSpPr/>
          <p:nvPr/>
        </p:nvSpPr>
        <p:spPr>
          <a:xfrm>
            <a:off x="4160520" y="3685032"/>
            <a:ext cx="146304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59.4</a:t>
            </a:r>
            <a:endParaRPr lang="en-US" sz="1300" dirty="0"/>
          </a:p>
        </p:txBody>
      </p:sp>
      <p:sp>
        <p:nvSpPr>
          <p:cNvPr id="41" name="Text 39"/>
          <p:cNvSpPr/>
          <p:nvPr/>
        </p:nvSpPr>
        <p:spPr>
          <a:xfrm>
            <a:off x="5623560" y="3685032"/>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[57.7, 61.1]</a:t>
            </a:r>
            <a:endParaRPr lang="en-US" sz="1300" dirty="0"/>
          </a:p>
        </p:txBody>
      </p:sp>
      <p:sp>
        <p:nvSpPr>
          <p:cNvPr id="42" name="Text 40"/>
          <p:cNvSpPr/>
          <p:nvPr/>
        </p:nvSpPr>
        <p:spPr>
          <a:xfrm>
            <a:off x="7635240" y="3685032"/>
            <a:ext cx="996696" cy="402336"/>
          </a:xfrm>
          <a:prstGeom prst="rect">
            <a:avLst/>
          </a:prstGeom>
          <a:noFill/>
          <a:ln/>
        </p:spPr>
        <p:txBody>
          <a:bodyPr wrap="square" lIns="38100" tIns="38100" rIns="38100" bIns="38100" rtlCol="0" anchor="ctr"/>
          <a:lstStyle/>
          <a:p>
            <a:pPr algn="ctr" indent="0" marL="0">
              <a:buNone/>
            </a:pPr>
            <a:r>
              <a:rPr lang="en-US" sz="1300" dirty="0">
                <a:solidFill>
                  <a:srgbClr val="990000"/>
                </a:solidFill>
                <a:latin typeface="Cambria" pitchFamily="34" charset="0"/>
                <a:ea typeface="Cambria" pitchFamily="34" charset="-122"/>
                <a:cs typeface="Cambria" pitchFamily="34" charset="-120"/>
              </a:rPr>
              <a:t>exploratory</a:t>
            </a:r>
            <a:endParaRPr lang="en-US" sz="1300" dirty="0"/>
          </a:p>
        </p:txBody>
      </p:sp>
      <p:sp>
        <p:nvSpPr>
          <p:cNvPr id="43" name="Shape 41"/>
          <p:cNvSpPr/>
          <p:nvPr/>
        </p:nvSpPr>
        <p:spPr>
          <a:xfrm>
            <a:off x="502920" y="4087368"/>
            <a:ext cx="8129016" cy="0"/>
          </a:xfrm>
          <a:prstGeom prst="line">
            <a:avLst/>
          </a:prstGeom>
          <a:noFill/>
          <a:ln w="12700">
            <a:solidFill>
              <a:srgbClr val="9A94AE"/>
            </a:solidFill>
            <a:prstDash val="solid"/>
          </a:ln>
        </p:spPr>
      </p:sp>
      <p:sp>
        <p:nvSpPr>
          <p:cNvPr id="44" name="Text 42"/>
          <p:cNvSpPr/>
          <p:nvPr/>
        </p:nvSpPr>
        <p:spPr>
          <a:xfrm>
            <a:off x="502920" y="4087368"/>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MIN, stage-2 preference</a:t>
            </a:r>
            <a:endParaRPr lang="en-US" sz="1300" dirty="0"/>
          </a:p>
        </p:txBody>
      </p:sp>
      <p:sp>
        <p:nvSpPr>
          <p:cNvPr id="45" name="Text 43"/>
          <p:cNvSpPr/>
          <p:nvPr/>
        </p:nvSpPr>
        <p:spPr>
          <a:xfrm>
            <a:off x="4160520" y="4087368"/>
            <a:ext cx="1463040" cy="402336"/>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60.0</a:t>
            </a:r>
            <a:endParaRPr lang="en-US" sz="1300" dirty="0"/>
          </a:p>
        </p:txBody>
      </p:sp>
      <p:sp>
        <p:nvSpPr>
          <p:cNvPr id="46" name="Text 44"/>
          <p:cNvSpPr/>
          <p:nvPr/>
        </p:nvSpPr>
        <p:spPr>
          <a:xfrm>
            <a:off x="5623560" y="4087368"/>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[58.3, 61.8]</a:t>
            </a:r>
            <a:endParaRPr lang="en-US" sz="1300" dirty="0"/>
          </a:p>
        </p:txBody>
      </p:sp>
      <p:sp>
        <p:nvSpPr>
          <p:cNvPr id="47" name="Text 45"/>
          <p:cNvSpPr/>
          <p:nvPr/>
        </p:nvSpPr>
        <p:spPr>
          <a:xfrm>
            <a:off x="7635240" y="4087368"/>
            <a:ext cx="996696" cy="402336"/>
          </a:xfrm>
          <a:prstGeom prst="rect">
            <a:avLst/>
          </a:prstGeom>
          <a:noFill/>
          <a:ln/>
        </p:spPr>
        <p:txBody>
          <a:bodyPr wrap="square" lIns="38100" tIns="38100" rIns="38100" bIns="38100" rtlCol="0" anchor="ctr"/>
          <a:lstStyle/>
          <a:p>
            <a:pPr algn="ctr" indent="0" marL="0">
              <a:buNone/>
            </a:pPr>
            <a:r>
              <a:rPr lang="en-US" sz="1300" dirty="0">
                <a:solidFill>
                  <a:srgbClr val="990000"/>
                </a:solidFill>
                <a:latin typeface="Cambria" pitchFamily="34" charset="0"/>
                <a:ea typeface="Cambria" pitchFamily="34" charset="-122"/>
                <a:cs typeface="Cambria" pitchFamily="34" charset="-120"/>
              </a:rPr>
              <a:t>exploratory</a:t>
            </a:r>
            <a:endParaRPr lang="en-US" sz="1300" dirty="0"/>
          </a:p>
        </p:txBody>
      </p:sp>
      <p:sp>
        <p:nvSpPr>
          <p:cNvPr id="48" name="Shape 46"/>
          <p:cNvSpPr/>
          <p:nvPr/>
        </p:nvSpPr>
        <p:spPr>
          <a:xfrm>
            <a:off x="502920" y="4489704"/>
            <a:ext cx="8129016" cy="0"/>
          </a:xfrm>
          <a:prstGeom prst="line">
            <a:avLst/>
          </a:prstGeom>
          <a:noFill/>
          <a:ln w="12700">
            <a:solidFill>
              <a:srgbClr val="9A94AE"/>
            </a:solidFill>
            <a:prstDash val="solid"/>
          </a:ln>
        </p:spPr>
      </p:sp>
      <p:sp>
        <p:nvSpPr>
          <p:cNvPr id="49" name="Text 47"/>
          <p:cNvSpPr/>
          <p:nvPr/>
        </p:nvSpPr>
        <p:spPr>
          <a:xfrm>
            <a:off x="502920" y="4489704"/>
            <a:ext cx="365760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Contentless sentence</a:t>
            </a:r>
            <a:endParaRPr lang="en-US" sz="1300" dirty="0"/>
          </a:p>
        </p:txBody>
      </p:sp>
      <p:sp>
        <p:nvSpPr>
          <p:cNvPr id="50" name="Text 48"/>
          <p:cNvSpPr/>
          <p:nvPr/>
        </p:nvSpPr>
        <p:spPr>
          <a:xfrm>
            <a:off x="4160520" y="4489704"/>
            <a:ext cx="1463040" cy="402336"/>
          </a:xfrm>
          <a:prstGeom prst="rect">
            <a:avLst/>
          </a:prstGeom>
          <a:noFill/>
          <a:ln/>
        </p:spPr>
        <p:txBody>
          <a:bodyPr wrap="square" lIns="38100" tIns="38100" rIns="38100" bIns="38100" rtlCol="0" anchor="ctr"/>
          <a:lstStyle/>
          <a:p>
            <a:pPr algn="ctr" indent="0" marL="0">
              <a:buNone/>
            </a:pPr>
            <a:r>
              <a:rPr lang="en-US" sz="1300" dirty="0">
                <a:solidFill>
                  <a:srgbClr val="B22222"/>
                </a:solidFill>
                <a:latin typeface="Cambria" pitchFamily="34" charset="0"/>
                <a:ea typeface="Cambria" pitchFamily="34" charset="-122"/>
                <a:cs typeface="Cambria" pitchFamily="34" charset="-120"/>
              </a:rPr>
              <a:t>12.0</a:t>
            </a:r>
            <a:endParaRPr lang="en-US" sz="1300" dirty="0"/>
          </a:p>
        </p:txBody>
      </p:sp>
      <p:sp>
        <p:nvSpPr>
          <p:cNvPr id="51" name="Text 49"/>
          <p:cNvSpPr/>
          <p:nvPr/>
        </p:nvSpPr>
        <p:spPr>
          <a:xfrm>
            <a:off x="5623560" y="4489704"/>
            <a:ext cx="201168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[9.7, 14.4]</a:t>
            </a:r>
            <a:endParaRPr lang="en-US" sz="1300" dirty="0"/>
          </a:p>
        </p:txBody>
      </p:sp>
      <p:sp>
        <p:nvSpPr>
          <p:cNvPr id="52" name="Text 50"/>
          <p:cNvSpPr/>
          <p:nvPr/>
        </p:nvSpPr>
        <p:spPr>
          <a:xfrm>
            <a:off x="7635240" y="4489704"/>
            <a:ext cx="996696" cy="402336"/>
          </a:xfrm>
          <a:prstGeom prst="rect">
            <a:avLst/>
          </a:prstGeom>
          <a:noFill/>
          <a:ln/>
        </p:spPr>
        <p:txBody>
          <a:bodyPr wrap="square" lIns="38100" tIns="38100" rIns="38100" bIns="38100" rtlCol="0" anchor="ctr"/>
          <a:lstStyle/>
          <a:p>
            <a:pPr algn="ctr" indent="0" marL="0">
              <a:buNone/>
            </a:pPr>
            <a:r>
              <a:rPr lang="en-US" sz="1050" dirty="0">
                <a:solidFill>
                  <a:srgbClr val="5A5A66"/>
                </a:solidFill>
                <a:latin typeface="Cambria" pitchFamily="34" charset="0"/>
                <a:ea typeface="Cambria" pitchFamily="34" charset="-122"/>
                <a:cs typeface="Cambria" pitchFamily="34" charset="-120"/>
              </a:rPr>
              <a:t>800-step slice</a:t>
            </a:r>
            <a:endParaRPr lang="en-US" sz="1050" dirty="0"/>
          </a:p>
        </p:txBody>
      </p:sp>
      <p:sp>
        <p:nvSpPr>
          <p:cNvPr id="53" name="Text 51"/>
          <p:cNvSpPr/>
          <p:nvPr/>
        </p:nvSpPr>
        <p:spPr>
          <a:xfrm>
            <a:off x="502920" y="4983480"/>
            <a:ext cx="8138160" cy="274320"/>
          </a:xfrm>
          <a:prstGeom prst="rect">
            <a:avLst/>
          </a:prstGeom>
          <a:noFill/>
          <a:ln/>
        </p:spPr>
        <p:txBody>
          <a:bodyPr wrap="square" lIns="0" tIns="0" rIns="0" bIns="0" rtlCol="0" anchor="t"/>
          <a:lstStyle/>
          <a:p>
            <a:pPr algn="l" indent="0" marL="0">
              <a:buNone/>
            </a:pPr>
            <a:r>
              <a:rPr lang="en-US" sz="1150" i="1" dirty="0">
                <a:solidFill>
                  <a:srgbClr val="5A5A66"/>
                </a:solidFill>
                <a:latin typeface="Cambria" pitchFamily="34" charset="0"/>
                <a:ea typeface="Cambria" pitchFamily="34" charset="-122"/>
                <a:cs typeface="Cambria" pitchFamily="34" charset="-120"/>
              </a:rPr>
              <a:t>Every branch below the second rule carries one seed. Registered but not run: S2 seed 202, S2r, S2-nopoint.</a:t>
            </a:r>
            <a:endParaRPr lang="en-US" sz="1150" dirty="0"/>
          </a:p>
        </p:txBody>
      </p:sp>
      <p:sp>
        <p:nvSpPr>
          <p:cNvPr id="54" name="Shape 52"/>
          <p:cNvSpPr/>
          <p:nvPr/>
        </p:nvSpPr>
        <p:spPr>
          <a:xfrm>
            <a:off x="502920" y="5321808"/>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55" name="Text 53"/>
          <p:cNvSpPr/>
          <p:nvPr/>
        </p:nvSpPr>
        <p:spPr>
          <a:xfrm>
            <a:off x="731520" y="5321808"/>
            <a:ext cx="7680960" cy="777240"/>
          </a:xfrm>
          <a:prstGeom prst="rect">
            <a:avLst/>
          </a:prstGeom>
          <a:noFill/>
          <a:ln/>
        </p:spPr>
        <p:txBody>
          <a:bodyPr wrap="square" lIns="0" tIns="0" rIns="0" bIns="0" rtlCol="0" anchor="ctr"/>
          <a:lstStyle/>
          <a:p>
            <a:pPr algn="l" indent="0" marL="0">
              <a:lnSpc>
                <a:spcPct val="135000"/>
              </a:lnSpc>
              <a:buNone/>
            </a:pPr>
            <a:r>
              <a:rPr lang="en-US" sz="1300" b="1" dirty="0">
                <a:solidFill>
                  <a:srgbClr val="322164"/>
                </a:solidFill>
                <a:latin typeface="Cambria" pitchFamily="34" charset="0"/>
                <a:ea typeface="Cambria" pitchFamily="34" charset="-122"/>
                <a:cs typeface="Cambria" pitchFamily="34" charset="-120"/>
              </a:rPr>
              <a:t>Read every row against 75.7, not against 100.</a:t>
            </a:r>
            <a:pPr algn="l" indent="0" marL="0">
              <a:lnSpc>
                <a:spcPct val="135000"/>
              </a:lnSpc>
              <a:buNone/>
            </a:pPr>
            <a:r>
              <a:rPr lang="en-US" sz="1300" dirty="0">
                <a:solidFill>
                  <a:srgbClr val="1A1A1A"/>
                </a:solidFill>
                <a:latin typeface="Cambria" pitchFamily="34" charset="0"/>
                <a:ea typeface="Cambria" pitchFamily="34" charset="-122"/>
                <a:cs typeface="Cambria" pitchFamily="34" charset="-120"/>
              </a:rPr>
              <a:t>  Fine-tuning closes 42% of the distance to the human level; the intervals for Base, S1 and the ceiling are disjoint.</a:t>
            </a:r>
            <a:endParaRPr lang="en-US" sz="1300" dirty="0"/>
          </a:p>
        </p:txBody>
      </p:sp>
      <p:sp>
        <p:nvSpPr>
          <p:cNvPr id="57" name="Shape 54"/>
          <p:cNvSpPr/>
          <p:nvPr/>
        </p:nvSpPr>
        <p:spPr>
          <a:xfrm>
            <a:off x="0" y="6620256"/>
            <a:ext cx="2194560" cy="237744"/>
          </a:xfrm>
          <a:prstGeom prst="rect">
            <a:avLst/>
          </a:prstGeom>
          <a:solidFill>
            <a:srgbClr val="191132"/>
          </a:solidFill>
          <a:ln/>
        </p:spPr>
      </p:sp>
      <p:sp>
        <p:nvSpPr>
          <p:cNvPr id="58" name="Shape 55"/>
          <p:cNvSpPr/>
          <p:nvPr/>
        </p:nvSpPr>
        <p:spPr>
          <a:xfrm>
            <a:off x="2194560" y="6620256"/>
            <a:ext cx="3931920" cy="237744"/>
          </a:xfrm>
          <a:prstGeom prst="rect">
            <a:avLst/>
          </a:prstGeom>
          <a:solidFill>
            <a:srgbClr val="25194B"/>
          </a:solidFill>
          <a:ln/>
        </p:spPr>
      </p:sp>
      <p:sp>
        <p:nvSpPr>
          <p:cNvPr id="59" name="Shape 56"/>
          <p:cNvSpPr/>
          <p:nvPr/>
        </p:nvSpPr>
        <p:spPr>
          <a:xfrm>
            <a:off x="6126480" y="6620256"/>
            <a:ext cx="1737360" cy="237744"/>
          </a:xfrm>
          <a:prstGeom prst="rect">
            <a:avLst/>
          </a:prstGeom>
          <a:solidFill>
            <a:srgbClr val="4F417A"/>
          </a:solidFill>
          <a:ln/>
        </p:spPr>
      </p:sp>
      <p:sp>
        <p:nvSpPr>
          <p:cNvPr id="60" name="Shape 57"/>
          <p:cNvSpPr/>
          <p:nvPr/>
        </p:nvSpPr>
        <p:spPr>
          <a:xfrm>
            <a:off x="7863840" y="6620256"/>
            <a:ext cx="1280160" cy="237744"/>
          </a:xfrm>
          <a:prstGeom prst="rect">
            <a:avLst/>
          </a:prstGeom>
          <a:solidFill>
            <a:srgbClr val="7A7099"/>
          </a:solidFill>
          <a:ln/>
        </p:spPr>
      </p:sp>
      <p:sp>
        <p:nvSpPr>
          <p:cNvPr id="61" name="Text 58"/>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62" name="Text 59"/>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63" name="Text 6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64" name="Text 6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10/17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Q1  Automatic supervision works, and it replicates</a:t>
            </a:r>
            <a:endParaRPr lang="en-US" sz="1900" dirty="0"/>
          </a:p>
        </p:txBody>
      </p:sp>
      <p:sp>
        <p:nvSpPr>
          <p:cNvPr id="4" name="Shape 2"/>
          <p:cNvSpPr/>
          <p:nvPr/>
        </p:nvSpPr>
        <p:spPr>
          <a:xfrm>
            <a:off x="1051560" y="822960"/>
            <a:ext cx="182880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1051560" y="877824"/>
            <a:ext cx="1828800" cy="274320"/>
          </a:xfrm>
          <a:prstGeom prst="rect">
            <a:avLst/>
          </a:prstGeom>
          <a:noFill/>
          <a:ln/>
        </p:spPr>
        <p:txBody>
          <a:bodyPr wrap="square" lIns="0" tIns="0" rIns="0" bIns="0" rtlCol="0" anchor="t"/>
          <a:lstStyle/>
          <a:p>
            <a:pPr algn="ctr" indent="0" marL="0">
              <a:buNone/>
            </a:pPr>
            <a:r>
              <a:rPr lang="en-US" sz="1250" b="1" dirty="0">
                <a:solidFill>
                  <a:srgbClr val="322164"/>
                </a:solidFill>
                <a:latin typeface="Cambria" pitchFamily="34" charset="0"/>
                <a:ea typeface="Cambria" pitchFamily="34" charset="-122"/>
                <a:cs typeface="Cambria" pitchFamily="34" charset="-120"/>
              </a:rPr>
              <a:t>Base</a:t>
            </a:r>
            <a:endParaRPr lang="en-US" sz="1250" dirty="0"/>
          </a:p>
        </p:txBody>
      </p:sp>
      <p:sp>
        <p:nvSpPr>
          <p:cNvPr id="6" name="Text 4"/>
          <p:cNvSpPr/>
          <p:nvPr/>
        </p:nvSpPr>
        <p:spPr>
          <a:xfrm>
            <a:off x="1051560" y="1170432"/>
            <a:ext cx="1828800" cy="384048"/>
          </a:xfrm>
          <a:prstGeom prst="rect">
            <a:avLst/>
          </a:prstGeom>
          <a:noFill/>
          <a:ln/>
        </p:spPr>
        <p:txBody>
          <a:bodyPr wrap="square" lIns="0" tIns="0" rIns="0" bIns="0" rtlCol="0" anchor="t"/>
          <a:lstStyle/>
          <a:p>
            <a:pPr algn="ctr" indent="0" marL="0">
              <a:buNone/>
            </a:pPr>
            <a:r>
              <a:rPr lang="en-US" sz="1900" b="1" dirty="0">
                <a:solidFill>
                  <a:srgbClr val="1A1A1A"/>
                </a:solidFill>
                <a:latin typeface="Cambria" pitchFamily="34" charset="0"/>
                <a:ea typeface="Cambria" pitchFamily="34" charset="-122"/>
                <a:cs typeface="Cambria" pitchFamily="34" charset="-120"/>
              </a:rPr>
              <a:t>47.6</a:t>
            </a:r>
            <a:endParaRPr lang="en-US" sz="1900" dirty="0"/>
          </a:p>
        </p:txBody>
      </p:sp>
      <p:sp>
        <p:nvSpPr>
          <p:cNvPr id="7" name="Shape 5"/>
          <p:cNvSpPr/>
          <p:nvPr/>
        </p:nvSpPr>
        <p:spPr>
          <a:xfrm>
            <a:off x="2971800" y="1234440"/>
            <a:ext cx="640080" cy="0"/>
          </a:xfrm>
          <a:prstGeom prst="line">
            <a:avLst/>
          </a:prstGeom>
          <a:noFill/>
          <a:ln w="25400">
            <a:solidFill>
              <a:srgbClr val="4F417A"/>
            </a:solidFill>
            <a:prstDash val="solid"/>
            <a:tailEnd type="triangle"/>
          </a:ln>
        </p:spPr>
      </p:sp>
      <p:sp>
        <p:nvSpPr>
          <p:cNvPr id="8" name="Shape 6"/>
          <p:cNvSpPr/>
          <p:nvPr/>
        </p:nvSpPr>
        <p:spPr>
          <a:xfrm>
            <a:off x="3703320" y="822960"/>
            <a:ext cx="1828800" cy="822960"/>
          </a:xfrm>
          <a:prstGeom prst="roundRect">
            <a:avLst>
              <a:gd name="adj" fmla="val 6667"/>
            </a:avLst>
          </a:prstGeom>
          <a:solidFill>
            <a:srgbClr val="322164"/>
          </a:solidFill>
          <a:ln/>
          <a:effectLst>
            <a:outerShdw sx="100000" sy="100000" kx="0" ky="0" algn="bl" rotWithShape="0" blurRad="63500" dist="31750" dir="2700000">
              <a:srgbClr val="8C8C99">
                <a:alpha val="45000"/>
              </a:srgbClr>
            </a:outerShdw>
          </a:effectLst>
        </p:spPr>
      </p:sp>
      <p:sp>
        <p:nvSpPr>
          <p:cNvPr id="9" name="Text 7"/>
          <p:cNvSpPr/>
          <p:nvPr/>
        </p:nvSpPr>
        <p:spPr>
          <a:xfrm>
            <a:off x="3703320" y="877824"/>
            <a:ext cx="182880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S1  (2 seeds)</a:t>
            </a:r>
            <a:endParaRPr lang="en-US" sz="1250" dirty="0"/>
          </a:p>
        </p:txBody>
      </p:sp>
      <p:sp>
        <p:nvSpPr>
          <p:cNvPr id="10" name="Text 8"/>
          <p:cNvSpPr/>
          <p:nvPr/>
        </p:nvSpPr>
        <p:spPr>
          <a:xfrm>
            <a:off x="3703320" y="1170432"/>
            <a:ext cx="1828800" cy="384048"/>
          </a:xfrm>
          <a:prstGeom prst="rect">
            <a:avLst/>
          </a:prstGeom>
          <a:noFill/>
          <a:ln/>
        </p:spPr>
        <p:txBody>
          <a:bodyPr wrap="square" lIns="0" tIns="0" rIns="0" bIns="0" rtlCol="0" anchor="t"/>
          <a:lstStyle/>
          <a:p>
            <a:pPr algn="ctr" indent="0" marL="0">
              <a:buNone/>
            </a:pPr>
            <a:r>
              <a:rPr lang="en-US" sz="1900" b="1" dirty="0">
                <a:solidFill>
                  <a:srgbClr val="FFFFFF"/>
                </a:solidFill>
                <a:latin typeface="Cambria" pitchFamily="34" charset="0"/>
                <a:ea typeface="Cambria" pitchFamily="34" charset="-122"/>
                <a:cs typeface="Cambria" pitchFamily="34" charset="-120"/>
              </a:rPr>
              <a:t>59.4</a:t>
            </a:r>
            <a:endParaRPr lang="en-US" sz="1900" dirty="0"/>
          </a:p>
        </p:txBody>
      </p:sp>
      <p:sp>
        <p:nvSpPr>
          <p:cNvPr id="11" name="Shape 9"/>
          <p:cNvSpPr/>
          <p:nvPr/>
        </p:nvSpPr>
        <p:spPr>
          <a:xfrm>
            <a:off x="5623560" y="1234440"/>
            <a:ext cx="640080" cy="0"/>
          </a:xfrm>
          <a:prstGeom prst="line">
            <a:avLst/>
          </a:prstGeom>
          <a:noFill/>
          <a:ln w="25400">
            <a:solidFill>
              <a:srgbClr val="4F417A"/>
            </a:solidFill>
            <a:prstDash val="solid"/>
            <a:tailEnd type="triangle"/>
          </a:ln>
        </p:spPr>
      </p:sp>
      <p:sp>
        <p:nvSpPr>
          <p:cNvPr id="12" name="Shape 10"/>
          <p:cNvSpPr/>
          <p:nvPr/>
        </p:nvSpPr>
        <p:spPr>
          <a:xfrm>
            <a:off x="6355080" y="822960"/>
            <a:ext cx="182880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6355080" y="877824"/>
            <a:ext cx="1828800" cy="274320"/>
          </a:xfrm>
          <a:prstGeom prst="rect">
            <a:avLst/>
          </a:prstGeom>
          <a:noFill/>
          <a:ln/>
        </p:spPr>
        <p:txBody>
          <a:bodyPr wrap="square" lIns="0" tIns="0" rIns="0" bIns="0" rtlCol="0" anchor="t"/>
          <a:lstStyle/>
          <a:p>
            <a:pPr algn="ctr" indent="0" marL="0">
              <a:buNone/>
            </a:pPr>
            <a:r>
              <a:rPr lang="en-US" sz="1250" b="1" dirty="0">
                <a:solidFill>
                  <a:srgbClr val="322164"/>
                </a:solidFill>
                <a:latin typeface="Cambria" pitchFamily="34" charset="0"/>
                <a:ea typeface="Cambria" pitchFamily="34" charset="-122"/>
                <a:cs typeface="Cambria" pitchFamily="34" charset="-120"/>
              </a:rPr>
              <a:t>Human</a:t>
            </a:r>
            <a:endParaRPr lang="en-US" sz="1250" dirty="0"/>
          </a:p>
        </p:txBody>
      </p:sp>
      <p:sp>
        <p:nvSpPr>
          <p:cNvPr id="14" name="Text 12"/>
          <p:cNvSpPr/>
          <p:nvPr/>
        </p:nvSpPr>
        <p:spPr>
          <a:xfrm>
            <a:off x="6355080" y="1170432"/>
            <a:ext cx="1828800" cy="384048"/>
          </a:xfrm>
          <a:prstGeom prst="rect">
            <a:avLst/>
          </a:prstGeom>
          <a:noFill/>
          <a:ln/>
        </p:spPr>
        <p:txBody>
          <a:bodyPr wrap="square" lIns="0" tIns="0" rIns="0" bIns="0" rtlCol="0" anchor="t"/>
          <a:lstStyle/>
          <a:p>
            <a:pPr algn="ctr" indent="0" marL="0">
              <a:buNone/>
            </a:pPr>
            <a:r>
              <a:rPr lang="en-US" sz="1900" b="1" dirty="0">
                <a:solidFill>
                  <a:srgbClr val="006666"/>
                </a:solidFill>
                <a:latin typeface="Cambria" pitchFamily="34" charset="0"/>
                <a:ea typeface="Cambria" pitchFamily="34" charset="-122"/>
                <a:cs typeface="Cambria" pitchFamily="34" charset="-120"/>
              </a:rPr>
              <a:t>75.7</a:t>
            </a:r>
            <a:endParaRPr lang="en-US" sz="1900" dirty="0"/>
          </a:p>
        </p:txBody>
      </p:sp>
      <p:sp>
        <p:nvSpPr>
          <p:cNvPr id="15" name="Text 13"/>
          <p:cNvSpPr/>
          <p:nvPr/>
        </p:nvSpPr>
        <p:spPr>
          <a:xfrm>
            <a:off x="2880360" y="1691640"/>
            <a:ext cx="1828800" cy="274320"/>
          </a:xfrm>
          <a:prstGeom prst="rect">
            <a:avLst/>
          </a:prstGeom>
          <a:noFill/>
          <a:ln/>
        </p:spPr>
        <p:txBody>
          <a:bodyPr wrap="square" lIns="0" tIns="0" rIns="0" bIns="0" rtlCol="0" anchor="t"/>
          <a:lstStyle/>
          <a:p>
            <a:pPr algn="ctr" indent="0" marL="0">
              <a:buNone/>
            </a:pPr>
            <a:r>
              <a:rPr lang="en-US" sz="1150" dirty="0">
                <a:solidFill>
                  <a:srgbClr val="990000"/>
                </a:solidFill>
                <a:latin typeface="Cambria" pitchFamily="34" charset="0"/>
                <a:ea typeface="Cambria" pitchFamily="34" charset="-122"/>
                <a:cs typeface="Cambria" pitchFamily="34" charset="-120"/>
              </a:rPr>
              <a:t>paired +11.5 / +12.0</a:t>
            </a:r>
            <a:endParaRPr lang="en-US" sz="1150" dirty="0"/>
          </a:p>
        </p:txBody>
      </p:sp>
      <p:sp>
        <p:nvSpPr>
          <p:cNvPr id="16" name="Text 14"/>
          <p:cNvSpPr/>
          <p:nvPr/>
        </p:nvSpPr>
        <p:spPr>
          <a:xfrm>
            <a:off x="2880360" y="1691640"/>
            <a:ext cx="1828800" cy="566928"/>
          </a:xfrm>
          <a:prstGeom prst="rect">
            <a:avLst/>
          </a:prstGeom>
          <a:noFill/>
          <a:ln/>
        </p:spPr>
        <p:txBody>
          <a:bodyPr wrap="square" lIns="0" tIns="0" rIns="0" bIns="0" rtlCol="0" anchor="b"/>
          <a:lstStyle/>
          <a:p>
            <a:pPr algn="ctr" indent="0" marL="0">
              <a:buNone/>
            </a:pPr>
            <a:r>
              <a:rPr lang="en-US" sz="1100" dirty="0">
                <a:solidFill>
                  <a:srgbClr val="990000"/>
                </a:solidFill>
                <a:latin typeface="Cambria" pitchFamily="34" charset="0"/>
                <a:ea typeface="Cambria" pitchFamily="34" charset="-122"/>
                <a:cs typeface="Cambria" pitchFamily="34" charset="-120"/>
              </a:rPr>
              <a:t>42% of the gap closed</a:t>
            </a:r>
            <a:endParaRPr lang="en-US" sz="1100" dirty="0"/>
          </a:p>
        </p:txBody>
      </p:sp>
      <p:sp>
        <p:nvSpPr>
          <p:cNvPr id="17" name="Shape 15"/>
          <p:cNvSpPr/>
          <p:nvPr/>
        </p:nvSpPr>
        <p:spPr>
          <a:xfrm>
            <a:off x="502920" y="2331720"/>
            <a:ext cx="8129016" cy="365760"/>
          </a:xfrm>
          <a:prstGeom prst="rect">
            <a:avLst/>
          </a:prstGeom>
          <a:solidFill>
            <a:srgbClr val="322164"/>
          </a:solidFill>
          <a:ln/>
        </p:spPr>
      </p:sp>
      <p:sp>
        <p:nvSpPr>
          <p:cNvPr id="18" name="Text 16"/>
          <p:cNvSpPr/>
          <p:nvPr/>
        </p:nvSpPr>
        <p:spPr>
          <a:xfrm>
            <a:off x="502920" y="2331720"/>
            <a:ext cx="320040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Paired comparison (McNemar)</a:t>
            </a:r>
            <a:endParaRPr lang="en-US" sz="1200" dirty="0"/>
          </a:p>
        </p:txBody>
      </p:sp>
      <p:sp>
        <p:nvSpPr>
          <p:cNvPr id="19" name="Text 17"/>
          <p:cNvSpPr/>
          <p:nvPr/>
        </p:nvSpPr>
        <p:spPr>
          <a:xfrm>
            <a:off x="3703320" y="2331720"/>
            <a:ext cx="137160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Δ</a:t>
            </a:r>
            <a:endParaRPr lang="en-US" sz="1200" dirty="0"/>
          </a:p>
        </p:txBody>
      </p:sp>
      <p:sp>
        <p:nvSpPr>
          <p:cNvPr id="20" name="Text 18"/>
          <p:cNvSpPr/>
          <p:nvPr/>
        </p:nvSpPr>
        <p:spPr>
          <a:xfrm>
            <a:off x="5074920" y="2331720"/>
            <a:ext cx="201168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detail</a:t>
            </a:r>
            <a:endParaRPr lang="en-US" sz="1200" dirty="0"/>
          </a:p>
        </p:txBody>
      </p:sp>
      <p:sp>
        <p:nvSpPr>
          <p:cNvPr id="21" name="Text 19"/>
          <p:cNvSpPr/>
          <p:nvPr/>
        </p:nvSpPr>
        <p:spPr>
          <a:xfrm>
            <a:off x="7086600" y="2331720"/>
            <a:ext cx="1545336"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t>
            </a:r>
            <a:endParaRPr lang="en-US" sz="1200" dirty="0"/>
          </a:p>
        </p:txBody>
      </p:sp>
      <p:sp>
        <p:nvSpPr>
          <p:cNvPr id="22" name="Text 20"/>
          <p:cNvSpPr/>
          <p:nvPr/>
        </p:nvSpPr>
        <p:spPr>
          <a:xfrm>
            <a:off x="502920" y="2697480"/>
            <a:ext cx="3200400" cy="402336"/>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S1 − Base, seed 101</a:t>
            </a:r>
            <a:endParaRPr lang="en-US" sz="1250" dirty="0"/>
          </a:p>
        </p:txBody>
      </p:sp>
      <p:sp>
        <p:nvSpPr>
          <p:cNvPr id="23" name="Text 21"/>
          <p:cNvSpPr/>
          <p:nvPr/>
        </p:nvSpPr>
        <p:spPr>
          <a:xfrm>
            <a:off x="3703320" y="2697480"/>
            <a:ext cx="1371600" cy="402336"/>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+11.5</a:t>
            </a:r>
            <a:endParaRPr lang="en-US" sz="1250" dirty="0"/>
          </a:p>
        </p:txBody>
      </p:sp>
      <p:sp>
        <p:nvSpPr>
          <p:cNvPr id="24" name="Text 22"/>
          <p:cNvSpPr/>
          <p:nvPr/>
        </p:nvSpPr>
        <p:spPr>
          <a:xfrm>
            <a:off x="5074920" y="2697480"/>
            <a:ext cx="20116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b=284, c=798</a:t>
            </a:r>
            <a:endParaRPr lang="en-US" sz="1250" dirty="0"/>
          </a:p>
        </p:txBody>
      </p:sp>
      <p:sp>
        <p:nvSpPr>
          <p:cNvPr id="25" name="Text 23"/>
          <p:cNvSpPr/>
          <p:nvPr/>
        </p:nvSpPr>
        <p:spPr>
          <a:xfrm>
            <a:off x="7086600" y="2697480"/>
            <a:ext cx="154533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&lt;0.001</a:t>
            </a:r>
            <a:endParaRPr lang="en-US" sz="1250" dirty="0"/>
          </a:p>
        </p:txBody>
      </p:sp>
      <p:sp>
        <p:nvSpPr>
          <p:cNvPr id="26" name="Shape 24"/>
          <p:cNvSpPr/>
          <p:nvPr/>
        </p:nvSpPr>
        <p:spPr>
          <a:xfrm>
            <a:off x="502920" y="3099816"/>
            <a:ext cx="8129016" cy="0"/>
          </a:xfrm>
          <a:prstGeom prst="line">
            <a:avLst/>
          </a:prstGeom>
          <a:noFill/>
          <a:ln w="12700">
            <a:solidFill>
              <a:srgbClr val="9A94AE"/>
            </a:solidFill>
            <a:prstDash val="solid"/>
          </a:ln>
        </p:spPr>
      </p:sp>
      <p:sp>
        <p:nvSpPr>
          <p:cNvPr id="27" name="Text 25"/>
          <p:cNvSpPr/>
          <p:nvPr/>
        </p:nvSpPr>
        <p:spPr>
          <a:xfrm>
            <a:off x="502920" y="3099816"/>
            <a:ext cx="320040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S1 − Base, seed 202</a:t>
            </a:r>
            <a:endParaRPr lang="en-US" sz="1250" dirty="0"/>
          </a:p>
        </p:txBody>
      </p:sp>
      <p:sp>
        <p:nvSpPr>
          <p:cNvPr id="28" name="Text 26"/>
          <p:cNvSpPr/>
          <p:nvPr/>
        </p:nvSpPr>
        <p:spPr>
          <a:xfrm>
            <a:off x="3703320" y="3099816"/>
            <a:ext cx="137160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+12.0</a:t>
            </a:r>
            <a:endParaRPr lang="en-US" sz="1250" dirty="0"/>
          </a:p>
        </p:txBody>
      </p:sp>
      <p:sp>
        <p:nvSpPr>
          <p:cNvPr id="29" name="Text 27"/>
          <p:cNvSpPr/>
          <p:nvPr/>
        </p:nvSpPr>
        <p:spPr>
          <a:xfrm>
            <a:off x="5074920" y="3099816"/>
            <a:ext cx="201168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χ² = 243.2 at 101</a:t>
            </a:r>
            <a:endParaRPr lang="en-US" sz="1250" dirty="0"/>
          </a:p>
        </p:txBody>
      </p:sp>
      <p:sp>
        <p:nvSpPr>
          <p:cNvPr id="30" name="Text 28"/>
          <p:cNvSpPr/>
          <p:nvPr/>
        </p:nvSpPr>
        <p:spPr>
          <a:xfrm>
            <a:off x="7086600" y="3099816"/>
            <a:ext cx="154533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&lt;0.001</a:t>
            </a:r>
            <a:endParaRPr lang="en-US" sz="1250" dirty="0"/>
          </a:p>
        </p:txBody>
      </p:sp>
      <p:sp>
        <p:nvSpPr>
          <p:cNvPr id="31" name="Shape 29"/>
          <p:cNvSpPr/>
          <p:nvPr/>
        </p:nvSpPr>
        <p:spPr>
          <a:xfrm>
            <a:off x="502920" y="3483864"/>
            <a:ext cx="8129016" cy="0"/>
          </a:xfrm>
          <a:prstGeom prst="line">
            <a:avLst/>
          </a:prstGeom>
          <a:noFill/>
          <a:ln w="12700">
            <a:solidFill>
              <a:srgbClr val="9A94AE"/>
            </a:solidFill>
            <a:prstDash val="solid"/>
          </a:ln>
        </p:spPr>
      </p:sp>
      <p:sp>
        <p:nvSpPr>
          <p:cNvPr id="32" name="Text 30"/>
          <p:cNvSpPr/>
          <p:nvPr/>
        </p:nvSpPr>
        <p:spPr>
          <a:xfrm>
            <a:off x="502920" y="3483864"/>
            <a:ext cx="3200400" cy="38404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Retraining noise, seed 101 vs 202</a:t>
            </a:r>
            <a:endParaRPr lang="en-US" sz="1250" dirty="0"/>
          </a:p>
        </p:txBody>
      </p:sp>
      <p:sp>
        <p:nvSpPr>
          <p:cNvPr id="33" name="Text 31"/>
          <p:cNvSpPr/>
          <p:nvPr/>
        </p:nvSpPr>
        <p:spPr>
          <a:xfrm>
            <a:off x="3703320" y="3483864"/>
            <a:ext cx="137160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+0.52</a:t>
            </a:r>
            <a:endParaRPr lang="en-US" sz="1250" dirty="0"/>
          </a:p>
        </p:txBody>
      </p:sp>
      <p:sp>
        <p:nvSpPr>
          <p:cNvPr id="34" name="Text 32"/>
          <p:cNvSpPr/>
          <p:nvPr/>
        </p:nvSpPr>
        <p:spPr>
          <a:xfrm>
            <a:off x="5074920" y="3483864"/>
            <a:ext cx="201168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[−0.2, +1.3]</a:t>
            </a:r>
            <a:endParaRPr lang="en-US" sz="1250" dirty="0"/>
          </a:p>
        </p:txBody>
      </p:sp>
      <p:sp>
        <p:nvSpPr>
          <p:cNvPr id="35" name="Text 33"/>
          <p:cNvSpPr/>
          <p:nvPr/>
        </p:nvSpPr>
        <p:spPr>
          <a:xfrm>
            <a:off x="7086600" y="3483864"/>
            <a:ext cx="154533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0.19</a:t>
            </a:r>
            <a:endParaRPr lang="en-US" sz="1250" dirty="0"/>
          </a:p>
        </p:txBody>
      </p:sp>
      <p:sp>
        <p:nvSpPr>
          <p:cNvPr id="36" name="Text 34"/>
          <p:cNvSpPr/>
          <p:nvPr/>
        </p:nvSpPr>
        <p:spPr>
          <a:xfrm>
            <a:off x="502920" y="3977640"/>
            <a:ext cx="8138160" cy="310896"/>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The effect is 22 times the movement caused by rebuilding the same branch.</a:t>
            </a:r>
            <a:endParaRPr lang="en-US" sz="1350" dirty="0"/>
          </a:p>
        </p:txBody>
      </p:sp>
      <p:sp>
        <p:nvSpPr>
          <p:cNvPr id="37" name="Text 35"/>
          <p:cNvSpPr/>
          <p:nvPr/>
        </p:nvSpPr>
        <p:spPr>
          <a:xfrm>
            <a:off x="594360" y="4389120"/>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8" name="Text 36"/>
          <p:cNvSpPr/>
          <p:nvPr/>
        </p:nvSpPr>
        <p:spPr>
          <a:xfrm>
            <a:off x="822960" y="4389120"/>
            <a:ext cx="772668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Not memorisation: on the 3,367 steps where the model writes its own sentence, the gap is still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+8.4 points</a:t>
            </a:r>
            <a:endParaRPr lang="en-US" sz="1250" dirty="0"/>
          </a:p>
        </p:txBody>
      </p:sp>
      <p:sp>
        <p:nvSpPr>
          <p:cNvPr id="39" name="Text 37"/>
          <p:cNvSpPr/>
          <p:nvPr/>
        </p:nvSpPr>
        <p:spPr>
          <a:xfrm>
            <a:off x="594360" y="5047488"/>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40" name="Text 38"/>
          <p:cNvSpPr/>
          <p:nvPr/>
        </p:nvSpPr>
        <p:spPr>
          <a:xfrm>
            <a:off x="822960" y="5047488"/>
            <a:ext cx="772668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No home advantage: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59.1 / 59.0 / 59.2</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on seen, unseen and unattributable applications</a:t>
            </a:r>
            <a:endParaRPr lang="en-US" sz="1250" dirty="0"/>
          </a:p>
        </p:txBody>
      </p:sp>
      <p:sp>
        <p:nvSpPr>
          <p:cNvPr id="41" name="Text 39"/>
          <p:cNvSpPr/>
          <p:nvPr/>
        </p:nvSpPr>
        <p:spPr>
          <a:xfrm>
            <a:off x="594360" y="5705856"/>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42" name="Text 40"/>
          <p:cNvSpPr/>
          <p:nvPr/>
        </p:nvSpPr>
        <p:spPr>
          <a:xfrm>
            <a:off x="822960" y="5705856"/>
            <a:ext cx="7726680" cy="621792"/>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Second grounder, not trained on AndroidControl: the positive control keeps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94%</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of its size (+10.35 → +9.68), so “it only learnt the annotator's register” does not survive</a:t>
            </a:r>
            <a:endParaRPr lang="en-US" sz="1250" dirty="0"/>
          </a:p>
        </p:txBody>
      </p:sp>
      <p:sp>
        <p:nvSpPr>
          <p:cNvPr id="44" name="Shape 41"/>
          <p:cNvSpPr/>
          <p:nvPr/>
        </p:nvSpPr>
        <p:spPr>
          <a:xfrm>
            <a:off x="0" y="6620256"/>
            <a:ext cx="2194560" cy="237744"/>
          </a:xfrm>
          <a:prstGeom prst="rect">
            <a:avLst/>
          </a:prstGeom>
          <a:solidFill>
            <a:srgbClr val="191132"/>
          </a:solidFill>
          <a:ln/>
        </p:spPr>
      </p:sp>
      <p:sp>
        <p:nvSpPr>
          <p:cNvPr id="45" name="Shape 42"/>
          <p:cNvSpPr/>
          <p:nvPr/>
        </p:nvSpPr>
        <p:spPr>
          <a:xfrm>
            <a:off x="2194560" y="6620256"/>
            <a:ext cx="3931920" cy="237744"/>
          </a:xfrm>
          <a:prstGeom prst="rect">
            <a:avLst/>
          </a:prstGeom>
          <a:solidFill>
            <a:srgbClr val="25194B"/>
          </a:solidFill>
          <a:ln/>
        </p:spPr>
      </p:sp>
      <p:sp>
        <p:nvSpPr>
          <p:cNvPr id="46" name="Shape 43"/>
          <p:cNvSpPr/>
          <p:nvPr/>
        </p:nvSpPr>
        <p:spPr>
          <a:xfrm>
            <a:off x="6126480" y="6620256"/>
            <a:ext cx="1737360" cy="237744"/>
          </a:xfrm>
          <a:prstGeom prst="rect">
            <a:avLst/>
          </a:prstGeom>
          <a:solidFill>
            <a:srgbClr val="4F417A"/>
          </a:solidFill>
          <a:ln/>
        </p:spPr>
      </p:sp>
      <p:sp>
        <p:nvSpPr>
          <p:cNvPr id="47" name="Shape 44"/>
          <p:cNvSpPr/>
          <p:nvPr/>
        </p:nvSpPr>
        <p:spPr>
          <a:xfrm>
            <a:off x="7863840" y="6620256"/>
            <a:ext cx="1280160" cy="237744"/>
          </a:xfrm>
          <a:prstGeom prst="rect">
            <a:avLst/>
          </a:prstGeom>
          <a:solidFill>
            <a:srgbClr val="7A7099"/>
          </a:solidFill>
          <a:ln/>
        </p:spPr>
      </p:sp>
      <p:sp>
        <p:nvSpPr>
          <p:cNvPr id="48" name="Text 45"/>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49" name="Text 46"/>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50" name="Text 4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51" name="Text 4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11/17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Q2  The descriptor branch: our own rules refuse a conclusion</a:t>
            </a:r>
            <a:endParaRPr lang="en-US" sz="1900" dirty="0"/>
          </a:p>
        </p:txBody>
      </p:sp>
      <p:sp>
        <p:nvSpPr>
          <p:cNvPr id="4" name="Shape 2"/>
          <p:cNvSpPr/>
          <p:nvPr/>
        </p:nvSpPr>
        <p:spPr>
          <a:xfrm>
            <a:off x="502920" y="804672"/>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31520" y="804672"/>
            <a:ext cx="7680960" cy="777240"/>
          </a:xfrm>
          <a:prstGeom prst="rect">
            <a:avLst/>
          </a:prstGeom>
          <a:noFill/>
          <a:ln/>
        </p:spPr>
        <p:txBody>
          <a:bodyPr wrap="square" lIns="0" tIns="0" rIns="0" bIns="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S2 scores 57.2, which is 1.93 points below S1 at the same seed</a:t>
            </a:r>
            <a:pPr algn="l" indent="0" marL="0">
              <a:buNone/>
            </a:pPr>
            <a:r>
              <a:rPr lang="en-US" sz="1350" dirty="0">
                <a:solidFill>
                  <a:srgbClr val="1A1A1A"/>
                </a:solidFill>
                <a:latin typeface="Cambria" pitchFamily="34" charset="0"/>
                <a:ea typeface="Cambria" pitchFamily="34" charset="-122"/>
                <a:cs typeface="Cambria" pitchFamily="34" charset="-120"/>
              </a:rPr>
              <a:t>   (b = 254, c = 340, interval [−3.06, −0.75]).</a:t>
            </a:r>
            <a:endParaRPr lang="en-US" sz="1350" dirty="0"/>
          </a:p>
        </p:txBody>
      </p:sp>
      <p:sp>
        <p:nvSpPr>
          <p:cNvPr id="6" name="Text 4"/>
          <p:cNvSpPr/>
          <p:nvPr/>
        </p:nvSpPr>
        <p:spPr>
          <a:xfrm>
            <a:off x="502920" y="1737360"/>
            <a:ext cx="813816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Registered reading bands for Δ = mean(S2) − mean(S1)</a:t>
            </a:r>
            <a:endParaRPr lang="en-US" sz="1250" dirty="0"/>
          </a:p>
        </p:txBody>
      </p:sp>
      <p:sp>
        <p:nvSpPr>
          <p:cNvPr id="7" name="Shape 5"/>
          <p:cNvSpPr/>
          <p:nvPr/>
        </p:nvSpPr>
        <p:spPr>
          <a:xfrm>
            <a:off x="502920" y="2148840"/>
            <a:ext cx="8138160" cy="384048"/>
          </a:xfrm>
          <a:prstGeom prst="rect">
            <a:avLst/>
          </a:prstGeom>
          <a:solidFill>
            <a:srgbClr val="DCDAE4"/>
          </a:solidFill>
          <a:ln/>
        </p:spPr>
      </p:sp>
      <p:sp>
        <p:nvSpPr>
          <p:cNvPr id="8" name="Shape 6"/>
          <p:cNvSpPr/>
          <p:nvPr/>
        </p:nvSpPr>
        <p:spPr>
          <a:xfrm>
            <a:off x="1898033" y="2148840"/>
            <a:ext cx="5231674" cy="384048"/>
          </a:xfrm>
          <a:prstGeom prst="rect">
            <a:avLst/>
          </a:prstGeom>
          <a:solidFill>
            <a:srgbClr val="CFCADE"/>
          </a:solidFill>
          <a:ln/>
        </p:spPr>
      </p:sp>
      <p:sp>
        <p:nvSpPr>
          <p:cNvPr id="9" name="Shape 7"/>
          <p:cNvSpPr/>
          <p:nvPr/>
        </p:nvSpPr>
        <p:spPr>
          <a:xfrm>
            <a:off x="502920" y="2148840"/>
            <a:ext cx="1395113" cy="384048"/>
          </a:xfrm>
          <a:prstGeom prst="rect">
            <a:avLst/>
          </a:prstGeom>
          <a:solidFill>
            <a:srgbClr val="E8C9C9"/>
          </a:solidFill>
          <a:ln/>
        </p:spPr>
      </p:sp>
      <p:sp>
        <p:nvSpPr>
          <p:cNvPr id="10" name="Shape 8"/>
          <p:cNvSpPr/>
          <p:nvPr/>
        </p:nvSpPr>
        <p:spPr>
          <a:xfrm>
            <a:off x="7129707" y="2148840"/>
            <a:ext cx="1511373" cy="384048"/>
          </a:xfrm>
          <a:prstGeom prst="rect">
            <a:avLst/>
          </a:prstGeom>
          <a:solidFill>
            <a:srgbClr val="C9DED4"/>
          </a:solidFill>
          <a:ln/>
        </p:spPr>
      </p:sp>
      <p:sp>
        <p:nvSpPr>
          <p:cNvPr id="11" name="Text 9"/>
          <p:cNvSpPr/>
          <p:nvPr/>
        </p:nvSpPr>
        <p:spPr>
          <a:xfrm>
            <a:off x="502920" y="2148840"/>
            <a:ext cx="1395113" cy="384048"/>
          </a:xfrm>
          <a:prstGeom prst="rect">
            <a:avLst/>
          </a:prstGeom>
          <a:noFill/>
          <a:ln/>
        </p:spPr>
        <p:txBody>
          <a:bodyPr wrap="square" lIns="0" tIns="0" rIns="0" bIns="0" rtlCol="0" anchor="ctr"/>
          <a:lstStyle/>
          <a:p>
            <a:pPr algn="ctr" indent="0" marL="0">
              <a:buNone/>
            </a:pPr>
            <a:r>
              <a:rPr lang="en-US" sz="1100" b="1" dirty="0">
                <a:solidFill>
                  <a:srgbClr val="B22222"/>
                </a:solidFill>
                <a:latin typeface="Cambria" pitchFamily="34" charset="0"/>
                <a:ea typeface="Cambria" pitchFamily="34" charset="-122"/>
                <a:cs typeface="Cambria" pitchFamily="34" charset="-120"/>
              </a:rPr>
              <a:t>harm</a:t>
            </a:r>
            <a:endParaRPr lang="en-US" sz="1100" dirty="0"/>
          </a:p>
        </p:txBody>
      </p:sp>
      <p:sp>
        <p:nvSpPr>
          <p:cNvPr id="12" name="Text 10"/>
          <p:cNvSpPr/>
          <p:nvPr/>
        </p:nvSpPr>
        <p:spPr>
          <a:xfrm>
            <a:off x="1898033" y="2148840"/>
            <a:ext cx="5231674" cy="384048"/>
          </a:xfrm>
          <a:prstGeom prst="rect">
            <a:avLst/>
          </a:prstGeom>
          <a:noFill/>
          <a:ln/>
        </p:spPr>
        <p:txBody>
          <a:bodyPr wrap="square" lIns="0" tIns="0" rIns="0" bIns="0" rtlCol="0" anchor="ctr"/>
          <a:lstStyle/>
          <a:p>
            <a:pPr algn="ctr" indent="0" marL="0">
              <a:buNone/>
            </a:pPr>
            <a:r>
              <a:rPr lang="en-US" sz="1100" b="1" dirty="0">
                <a:solidFill>
                  <a:srgbClr val="322164"/>
                </a:solidFill>
                <a:latin typeface="Cambria" pitchFamily="34" charset="0"/>
                <a:ea typeface="Cambria" pitchFamily="34" charset="-122"/>
                <a:cs typeface="Cambria" pitchFamily="34" charset="-120"/>
              </a:rPr>
              <a:t>inconclusive band   −2.8 … +1.7</a:t>
            </a:r>
            <a:endParaRPr lang="en-US" sz="1100" dirty="0"/>
          </a:p>
        </p:txBody>
      </p:sp>
      <p:sp>
        <p:nvSpPr>
          <p:cNvPr id="13" name="Text 11"/>
          <p:cNvSpPr/>
          <p:nvPr/>
        </p:nvSpPr>
        <p:spPr>
          <a:xfrm>
            <a:off x="7129707" y="2148840"/>
            <a:ext cx="1511373" cy="384048"/>
          </a:xfrm>
          <a:prstGeom prst="rect">
            <a:avLst/>
          </a:prstGeom>
          <a:noFill/>
          <a:ln/>
        </p:spPr>
        <p:txBody>
          <a:bodyPr wrap="square" lIns="0" tIns="0" rIns="0" bIns="0" rtlCol="0" anchor="ctr"/>
          <a:lstStyle/>
          <a:p>
            <a:pPr algn="ctr" indent="0" marL="0">
              <a:buNone/>
            </a:pPr>
            <a:r>
              <a:rPr lang="en-US" sz="1100" b="1" dirty="0">
                <a:solidFill>
                  <a:srgbClr val="006666"/>
                </a:solidFill>
                <a:latin typeface="Cambria" pitchFamily="34" charset="0"/>
                <a:ea typeface="Cambria" pitchFamily="34" charset="-122"/>
                <a:cs typeface="Cambria" pitchFamily="34" charset="-120"/>
              </a:rPr>
              <a:t>positive</a:t>
            </a:r>
            <a:endParaRPr lang="en-US" sz="1100" dirty="0"/>
          </a:p>
        </p:txBody>
      </p:sp>
      <p:sp>
        <p:nvSpPr>
          <p:cNvPr id="14" name="Shape 12"/>
          <p:cNvSpPr/>
          <p:nvPr/>
        </p:nvSpPr>
        <p:spPr>
          <a:xfrm>
            <a:off x="2593500" y="2029968"/>
            <a:ext cx="27432" cy="621792"/>
          </a:xfrm>
          <a:prstGeom prst="rect">
            <a:avLst/>
          </a:prstGeom>
          <a:solidFill>
            <a:srgbClr val="B22222"/>
          </a:solidFill>
          <a:ln/>
        </p:spPr>
      </p:sp>
      <p:sp>
        <p:nvSpPr>
          <p:cNvPr id="15" name="Text 13"/>
          <p:cNvSpPr/>
          <p:nvPr/>
        </p:nvSpPr>
        <p:spPr>
          <a:xfrm>
            <a:off x="1692816" y="2670048"/>
            <a:ext cx="1828800" cy="274320"/>
          </a:xfrm>
          <a:prstGeom prst="rect">
            <a:avLst/>
          </a:prstGeom>
          <a:noFill/>
          <a:ln/>
        </p:spPr>
        <p:txBody>
          <a:bodyPr wrap="square" lIns="0" tIns="0" rIns="0" bIns="0" rtlCol="0" anchor="t"/>
          <a:lstStyle/>
          <a:p>
            <a:pPr algn="ctr" indent="0" marL="0">
              <a:buNone/>
            </a:pPr>
            <a:r>
              <a:rPr lang="en-US" sz="1150" b="1" dirty="0">
                <a:solidFill>
                  <a:srgbClr val="B22222"/>
                </a:solidFill>
                <a:latin typeface="Cambria" pitchFamily="34" charset="0"/>
                <a:ea typeface="Cambria" pitchFamily="34" charset="-122"/>
                <a:cs typeface="Cambria" pitchFamily="34" charset="-120"/>
              </a:rPr>
              <a:t>−2.19  measured</a:t>
            </a:r>
            <a:endParaRPr lang="en-US" sz="1150" dirty="0"/>
          </a:p>
        </p:txBody>
      </p:sp>
      <p:sp>
        <p:nvSpPr>
          <p:cNvPr id="16" name="Text 14"/>
          <p:cNvSpPr/>
          <p:nvPr/>
        </p:nvSpPr>
        <p:spPr>
          <a:xfrm>
            <a:off x="4970417" y="2670048"/>
            <a:ext cx="365760" cy="274320"/>
          </a:xfrm>
          <a:prstGeom prst="rect">
            <a:avLst/>
          </a:prstGeom>
          <a:noFill/>
          <a:ln/>
        </p:spPr>
        <p:txBody>
          <a:bodyPr wrap="square" lIns="0" tIns="0" rIns="0" bIns="0" rtlCol="0" anchor="t"/>
          <a:lstStyle/>
          <a:p>
            <a:pPr algn="ctr" indent="0" marL="0">
              <a:buNone/>
            </a:pPr>
            <a:r>
              <a:rPr lang="en-US" sz="1100" dirty="0">
                <a:solidFill>
                  <a:srgbClr val="5A5A66"/>
                </a:solidFill>
                <a:latin typeface="Cambria" pitchFamily="34" charset="0"/>
                <a:ea typeface="Cambria" pitchFamily="34" charset="-122"/>
                <a:cs typeface="Cambria" pitchFamily="34" charset="-120"/>
              </a:rPr>
              <a:t>0</a:t>
            </a:r>
            <a:endParaRPr lang="en-US" sz="1100" dirty="0"/>
          </a:p>
        </p:txBody>
      </p:sp>
      <p:sp>
        <p:nvSpPr>
          <p:cNvPr id="17" name="Text 15"/>
          <p:cNvSpPr/>
          <p:nvPr/>
        </p:nvSpPr>
        <p:spPr>
          <a:xfrm>
            <a:off x="502920" y="3154680"/>
            <a:ext cx="8138160" cy="27432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What the missing run could have changed, by the same thresholds</a:t>
            </a:r>
            <a:endParaRPr lang="en-US" sz="1250" dirty="0"/>
          </a:p>
        </p:txBody>
      </p:sp>
      <p:sp>
        <p:nvSpPr>
          <p:cNvPr id="18" name="Text 16"/>
          <p:cNvSpPr/>
          <p:nvPr/>
        </p:nvSpPr>
        <p:spPr>
          <a:xfrm>
            <a:off x="777240" y="3474720"/>
            <a:ext cx="393192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To reach the weakly-positive edge, Δ = +1.7</a:t>
            </a:r>
            <a:endParaRPr lang="en-US" sz="1200" dirty="0"/>
          </a:p>
        </p:txBody>
      </p:sp>
      <p:sp>
        <p:nvSpPr>
          <p:cNvPr id="19" name="Text 17"/>
          <p:cNvSpPr/>
          <p:nvPr/>
        </p:nvSpPr>
        <p:spPr>
          <a:xfrm>
            <a:off x="4709160" y="3474720"/>
            <a:ext cx="1828800" cy="384048"/>
          </a:xfrm>
          <a:prstGeom prst="rect">
            <a:avLst/>
          </a:prstGeom>
          <a:noFill/>
          <a:ln/>
        </p:spPr>
        <p:txBody>
          <a:bodyPr wrap="square" lIns="38100" tIns="38100" rIns="38100" bIns="38100" rtlCol="0" anchor="ctr"/>
          <a:lstStyle/>
          <a:p>
            <a:pPr algn="ctr" indent="0" marL="0">
              <a:buNone/>
            </a:pPr>
            <a:r>
              <a:rPr lang="en-US" sz="1200" b="1" dirty="0">
                <a:solidFill>
                  <a:srgbClr val="006666"/>
                </a:solidFill>
                <a:latin typeface="Cambria" pitchFamily="34" charset="0"/>
                <a:ea typeface="Cambria" pitchFamily="34" charset="-122"/>
                <a:cs typeface="Cambria" pitchFamily="34" charset="-120"/>
              </a:rPr>
              <a:t>65.0%</a:t>
            </a:r>
            <a:endParaRPr lang="en-US" sz="1200" dirty="0"/>
          </a:p>
        </p:txBody>
      </p:sp>
      <p:sp>
        <p:nvSpPr>
          <p:cNvPr id="20" name="Text 18"/>
          <p:cNvSpPr/>
          <p:nvPr/>
        </p:nvSpPr>
        <p:spPr>
          <a:xfrm>
            <a:off x="6537960" y="3474720"/>
            <a:ext cx="1828800" cy="384048"/>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16.9 seed-SDs away</a:t>
            </a:r>
            <a:endParaRPr lang="en-US" sz="1200" dirty="0"/>
          </a:p>
        </p:txBody>
      </p:sp>
      <p:sp>
        <p:nvSpPr>
          <p:cNvPr id="21" name="Shape 19"/>
          <p:cNvSpPr/>
          <p:nvPr/>
        </p:nvSpPr>
        <p:spPr>
          <a:xfrm>
            <a:off x="777240" y="3858768"/>
            <a:ext cx="7589520" cy="0"/>
          </a:xfrm>
          <a:prstGeom prst="line">
            <a:avLst/>
          </a:prstGeom>
          <a:noFill/>
          <a:ln w="12700">
            <a:solidFill>
              <a:srgbClr val="9A94AE"/>
            </a:solidFill>
            <a:prstDash val="solid"/>
          </a:ln>
        </p:spPr>
      </p:sp>
      <p:sp>
        <p:nvSpPr>
          <p:cNvPr id="22" name="Text 20"/>
          <p:cNvSpPr/>
          <p:nvPr/>
        </p:nvSpPr>
        <p:spPr>
          <a:xfrm>
            <a:off x="777240" y="3858768"/>
            <a:ext cx="393192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To reach the harm band</a:t>
            </a:r>
            <a:endParaRPr lang="en-US" sz="1200" dirty="0"/>
          </a:p>
        </p:txBody>
      </p:sp>
      <p:sp>
        <p:nvSpPr>
          <p:cNvPr id="23" name="Text 21"/>
          <p:cNvSpPr/>
          <p:nvPr/>
        </p:nvSpPr>
        <p:spPr>
          <a:xfrm>
            <a:off x="4709160" y="3858768"/>
            <a:ext cx="1828800" cy="384048"/>
          </a:xfrm>
          <a:prstGeom prst="rect">
            <a:avLst/>
          </a:prstGeom>
          <a:noFill/>
          <a:ln/>
        </p:spPr>
        <p:txBody>
          <a:bodyPr wrap="square" lIns="38100" tIns="38100" rIns="38100" bIns="38100" rtlCol="0" anchor="ctr"/>
          <a:lstStyle/>
          <a:p>
            <a:pPr algn="ctr" indent="0" marL="0">
              <a:buNone/>
            </a:pPr>
            <a:r>
              <a:rPr lang="en-US" sz="1200" b="1" dirty="0">
                <a:solidFill>
                  <a:srgbClr val="B22222"/>
                </a:solidFill>
                <a:latin typeface="Cambria" pitchFamily="34" charset="0"/>
                <a:ea typeface="Cambria" pitchFamily="34" charset="-122"/>
                <a:cs typeface="Cambria" pitchFamily="34" charset="-120"/>
              </a:rPr>
              <a:t>≤ 56.0%</a:t>
            </a:r>
            <a:endParaRPr lang="en-US" sz="1200" dirty="0"/>
          </a:p>
        </p:txBody>
      </p:sp>
      <p:sp>
        <p:nvSpPr>
          <p:cNvPr id="24" name="Text 22"/>
          <p:cNvSpPr/>
          <p:nvPr/>
        </p:nvSpPr>
        <p:spPr>
          <a:xfrm>
            <a:off x="6537960" y="3858768"/>
            <a:ext cx="1828800" cy="384048"/>
          </a:xfrm>
          <a:prstGeom prst="rect">
            <a:avLst/>
          </a:prstGeom>
          <a:noFill/>
          <a:ln/>
        </p:spPr>
        <p:txBody>
          <a:bodyPr wrap="square" lIns="38100" tIns="38100" rIns="38100" bIns="38100" rtlCol="0" anchor="ctr"/>
          <a:lstStyle/>
          <a:p>
            <a:pPr algn="r" indent="0" marL="0">
              <a:buNone/>
            </a:pPr>
            <a:r>
              <a:rPr lang="en-US" sz="1200" dirty="0">
                <a:solidFill>
                  <a:srgbClr val="1A1A1A"/>
                </a:solidFill>
                <a:latin typeface="Cambria" pitchFamily="34" charset="0"/>
                <a:ea typeface="Cambria" pitchFamily="34" charset="-122"/>
                <a:cs typeface="Cambria" pitchFamily="34" charset="-120"/>
              </a:rPr>
              <a:t>2.7 seed-SDs away</a:t>
            </a:r>
            <a:endParaRPr lang="en-US" sz="1200" dirty="0"/>
          </a:p>
        </p:txBody>
      </p:sp>
      <p:sp>
        <p:nvSpPr>
          <p:cNvPr id="25" name="Text 23"/>
          <p:cNvSpPr/>
          <p:nvPr/>
        </p:nvSpPr>
        <p:spPr>
          <a:xfrm>
            <a:off x="502920" y="4315968"/>
            <a:ext cx="8138160" cy="457200"/>
          </a:xfrm>
          <a:prstGeom prst="rect">
            <a:avLst/>
          </a:prstGeom>
          <a:noFill/>
          <a:ln/>
        </p:spPr>
        <p:txBody>
          <a:bodyPr wrap="square" lIns="0" tIns="0" rIns="0" bIns="0" rtlCol="0" anchor="t"/>
          <a:lstStyle/>
          <a:p>
            <a:pPr algn="l" indent="0" marL="0">
              <a:lnSpc>
                <a:spcPct val="130000"/>
              </a:lnSpc>
              <a:buNone/>
            </a:pPr>
            <a:r>
              <a:rPr lang="en-US" sz="1200" i="1" dirty="0">
                <a:solidFill>
                  <a:srgbClr val="990000"/>
                </a:solidFill>
                <a:latin typeface="Cambria" pitchFamily="34" charset="0"/>
                <a:ea typeface="Cambria" pitchFamily="34" charset="-122"/>
                <a:cs typeface="Cambria" pitchFamily="34" charset="-120"/>
              </a:rPr>
              <a:t>65.0% is 4.9 points above the best checkpoint we ever measured. The remaining outcome space was inconclusive or negative, so no positive result is being withheld.</a:t>
            </a:r>
            <a:endParaRPr lang="en-US" sz="1200" dirty="0"/>
          </a:p>
        </p:txBody>
      </p:sp>
      <p:sp>
        <p:nvSpPr>
          <p:cNvPr id="26" name="Shape 24"/>
          <p:cNvSpPr/>
          <p:nvPr/>
        </p:nvSpPr>
        <p:spPr>
          <a:xfrm>
            <a:off x="502920" y="4846320"/>
            <a:ext cx="813816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27" name="Text 25"/>
          <p:cNvSpPr/>
          <p:nvPr/>
        </p:nvSpPr>
        <p:spPr>
          <a:xfrm>
            <a:off x="731520" y="4846320"/>
            <a:ext cx="7680960" cy="822960"/>
          </a:xfrm>
          <a:prstGeom prst="rect">
            <a:avLst/>
          </a:prstGeom>
          <a:noFill/>
          <a:ln/>
        </p:spPr>
        <p:txBody>
          <a:bodyPr wrap="square" lIns="0" tIns="0" rIns="0" bIns="0" rtlCol="0" anchor="ctr"/>
          <a:lstStyle/>
          <a:p>
            <a:pPr algn="l" indent="0" marL="0">
              <a:lnSpc>
                <a:spcPct val="132000"/>
              </a:lnSpc>
              <a:buNone/>
            </a:pPr>
            <a:r>
              <a:rPr lang="en-US" sz="1200" b="1" dirty="0">
                <a:solidFill>
                  <a:srgbClr val="322164"/>
                </a:solidFill>
                <a:latin typeface="Cambria" pitchFamily="34" charset="0"/>
                <a:ea typeface="Cambria" pitchFamily="34" charset="-122"/>
                <a:cs typeface="Cambria" pitchFamily="34" charset="-120"/>
              </a:rPr>
              <a:t>Two things do not depend on the missing seed.</a:t>
            </a:r>
            <a:pPr algn="l" indent="0" marL="0">
              <a:lnSpc>
                <a:spcPct val="132000"/>
              </a:lnSpc>
              <a:buNone/>
            </a:pPr>
            <a:r>
              <a:rPr lang="en-US" sz="1200" dirty="0">
                <a:solidFill>
                  <a:srgbClr val="1A1A1A"/>
                </a:solidFill>
                <a:latin typeface="Cambria" pitchFamily="34" charset="0"/>
                <a:ea typeface="Cambria" pitchFamily="34" charset="-122"/>
                <a:cs typeface="Cambria" pitchFamily="34" charset="-120"/>
              </a:rPr>
              <a:t>  The branch is +9.6 points above the untuned model, so the descriptor target does not break fine-tuning; and it emits its coordinate slot well, 71.0% inside the window. Whatever the prefix costs, it does not cost the ability to point.</a:t>
            </a:r>
            <a:endParaRPr lang="en-US" sz="1200" dirty="0"/>
          </a:p>
        </p:txBody>
      </p:sp>
      <p:sp>
        <p:nvSpPr>
          <p:cNvPr id="29" name="Shape 26"/>
          <p:cNvSpPr/>
          <p:nvPr/>
        </p:nvSpPr>
        <p:spPr>
          <a:xfrm>
            <a:off x="0" y="6620256"/>
            <a:ext cx="2194560" cy="237744"/>
          </a:xfrm>
          <a:prstGeom prst="rect">
            <a:avLst/>
          </a:prstGeom>
          <a:solidFill>
            <a:srgbClr val="191132"/>
          </a:solidFill>
          <a:ln/>
        </p:spPr>
      </p:sp>
      <p:sp>
        <p:nvSpPr>
          <p:cNvPr id="30" name="Shape 27"/>
          <p:cNvSpPr/>
          <p:nvPr/>
        </p:nvSpPr>
        <p:spPr>
          <a:xfrm>
            <a:off x="2194560" y="6620256"/>
            <a:ext cx="3931920" cy="237744"/>
          </a:xfrm>
          <a:prstGeom prst="rect">
            <a:avLst/>
          </a:prstGeom>
          <a:solidFill>
            <a:srgbClr val="25194B"/>
          </a:solidFill>
          <a:ln/>
        </p:spPr>
      </p:sp>
      <p:sp>
        <p:nvSpPr>
          <p:cNvPr id="31" name="Shape 28"/>
          <p:cNvSpPr/>
          <p:nvPr/>
        </p:nvSpPr>
        <p:spPr>
          <a:xfrm>
            <a:off x="6126480" y="6620256"/>
            <a:ext cx="1737360" cy="237744"/>
          </a:xfrm>
          <a:prstGeom prst="rect">
            <a:avLst/>
          </a:prstGeom>
          <a:solidFill>
            <a:srgbClr val="4F417A"/>
          </a:solidFill>
          <a:ln/>
        </p:spPr>
      </p:sp>
      <p:sp>
        <p:nvSpPr>
          <p:cNvPr id="32" name="Shape 29"/>
          <p:cNvSpPr/>
          <p:nvPr/>
        </p:nvSpPr>
        <p:spPr>
          <a:xfrm>
            <a:off x="7863840" y="6620256"/>
            <a:ext cx="1280160" cy="237744"/>
          </a:xfrm>
          <a:prstGeom prst="rect">
            <a:avLst/>
          </a:prstGeom>
          <a:solidFill>
            <a:srgbClr val="7A7099"/>
          </a:solidFill>
          <a:ln/>
        </p:spPr>
      </p:sp>
      <p:sp>
        <p:nvSpPr>
          <p:cNvPr id="33" name="Text 30"/>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4" name="Text 31"/>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5" name="Text 3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6" name="Text 3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12/17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Where the prefix pays, and where it costs</a:t>
            </a:r>
            <a:endParaRPr lang="en-US" sz="1900" dirty="0"/>
          </a:p>
        </p:txBody>
      </p:sp>
      <p:sp>
        <p:nvSpPr>
          <p:cNvPr id="4" name="Text 2"/>
          <p:cNvSpPr/>
          <p:nvPr/>
        </p:nvSpPr>
        <p:spPr>
          <a:xfrm>
            <a:off x="502920" y="749808"/>
            <a:ext cx="8138160" cy="457200"/>
          </a:xfrm>
          <a:prstGeom prst="rect">
            <a:avLst/>
          </a:prstGeom>
          <a:noFill/>
          <a:ln/>
        </p:spPr>
        <p:txBody>
          <a:bodyPr wrap="square" lIns="0" tIns="0" rIns="0" bIns="0" rtlCol="0" anchor="t"/>
          <a:lstStyle/>
          <a:p>
            <a:pPr algn="l" indent="0" marL="0">
              <a:lnSpc>
                <a:spcPct val="128000"/>
              </a:lnSpc>
              <a:buNone/>
            </a:pPr>
            <a:r>
              <a:rPr lang="en-US" sz="1200" i="1" dirty="0">
                <a:solidFill>
                  <a:srgbClr val="5A5A66"/>
                </a:solidFill>
                <a:latin typeface="Cambria" pitchFamily="34" charset="0"/>
                <a:ea typeface="Cambria" pitchFamily="34" charset="-122"/>
                <a:cs typeface="Cambria" pitchFamily="34" charset="-120"/>
              </a:rPr>
              <a:t>The branch emits its own descriptor, so its identification is scored against gold labels independently of the sentence (3,245 steps with a gold name and a parsable descriptor).</a:t>
            </a:r>
            <a:endParaRPr lang="en-US" sz="1200" dirty="0"/>
          </a:p>
        </p:txBody>
      </p:sp>
      <p:sp>
        <p:nvSpPr>
          <p:cNvPr id="5" name="Shape 3"/>
          <p:cNvSpPr/>
          <p:nvPr/>
        </p:nvSpPr>
        <p:spPr>
          <a:xfrm>
            <a:off x="502920" y="1280160"/>
            <a:ext cx="8129016" cy="384048"/>
          </a:xfrm>
          <a:prstGeom prst="rect">
            <a:avLst/>
          </a:prstGeom>
          <a:solidFill>
            <a:srgbClr val="322164"/>
          </a:solidFill>
          <a:ln/>
        </p:spPr>
      </p:sp>
      <p:sp>
        <p:nvSpPr>
          <p:cNvPr id="6" name="Text 4"/>
          <p:cNvSpPr/>
          <p:nvPr/>
        </p:nvSpPr>
        <p:spPr>
          <a:xfrm>
            <a:off x="502920" y="1280160"/>
            <a:ext cx="137160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Name</a:t>
            </a:r>
            <a:endParaRPr lang="en-US" sz="1200" dirty="0"/>
          </a:p>
        </p:txBody>
      </p:sp>
      <p:sp>
        <p:nvSpPr>
          <p:cNvPr id="7" name="Text 5"/>
          <p:cNvSpPr/>
          <p:nvPr/>
        </p:nvSpPr>
        <p:spPr>
          <a:xfrm>
            <a:off x="1874520" y="1280160"/>
            <a:ext cx="128016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Point</a:t>
            </a:r>
            <a:endParaRPr lang="en-US" sz="1200" dirty="0"/>
          </a:p>
        </p:txBody>
      </p:sp>
      <p:sp>
        <p:nvSpPr>
          <p:cNvPr id="8" name="Text 6"/>
          <p:cNvSpPr/>
          <p:nvPr/>
        </p:nvSpPr>
        <p:spPr>
          <a:xfrm>
            <a:off x="3154680" y="1280160"/>
            <a:ext cx="100584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a:t>
            </a:r>
            <a:endParaRPr lang="en-US" sz="1200" dirty="0"/>
          </a:p>
        </p:txBody>
      </p:sp>
      <p:sp>
        <p:nvSpPr>
          <p:cNvPr id="9" name="Text 7"/>
          <p:cNvSpPr/>
          <p:nvPr/>
        </p:nvSpPr>
        <p:spPr>
          <a:xfrm>
            <a:off x="4160520" y="1280160"/>
            <a:ext cx="109728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Base</a:t>
            </a:r>
            <a:endParaRPr lang="en-US" sz="1200" dirty="0"/>
          </a:p>
        </p:txBody>
      </p:sp>
      <p:sp>
        <p:nvSpPr>
          <p:cNvPr id="10" name="Text 8"/>
          <p:cNvSpPr/>
          <p:nvPr/>
        </p:nvSpPr>
        <p:spPr>
          <a:xfrm>
            <a:off x="5257800" y="1280160"/>
            <a:ext cx="109728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S1</a:t>
            </a:r>
            <a:endParaRPr lang="en-US" sz="1200" dirty="0"/>
          </a:p>
        </p:txBody>
      </p:sp>
      <p:sp>
        <p:nvSpPr>
          <p:cNvPr id="11" name="Text 9"/>
          <p:cNvSpPr/>
          <p:nvPr/>
        </p:nvSpPr>
        <p:spPr>
          <a:xfrm>
            <a:off x="6355080" y="1280160"/>
            <a:ext cx="109728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S2</a:t>
            </a:r>
            <a:endParaRPr lang="en-US" sz="1200" dirty="0"/>
          </a:p>
        </p:txBody>
      </p:sp>
      <p:sp>
        <p:nvSpPr>
          <p:cNvPr id="12" name="Text 10"/>
          <p:cNvSpPr/>
          <p:nvPr/>
        </p:nvSpPr>
        <p:spPr>
          <a:xfrm>
            <a:off x="7452360" y="1280160"/>
            <a:ext cx="117957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Δ</a:t>
            </a:r>
            <a:endParaRPr lang="en-US" sz="1200" dirty="0"/>
          </a:p>
        </p:txBody>
      </p:sp>
      <p:sp>
        <p:nvSpPr>
          <p:cNvPr id="13" name="Text 11"/>
          <p:cNvSpPr/>
          <p:nvPr/>
        </p:nvSpPr>
        <p:spPr>
          <a:xfrm>
            <a:off x="502920" y="1664208"/>
            <a:ext cx="1371600" cy="457200"/>
          </a:xfrm>
          <a:prstGeom prst="rect">
            <a:avLst/>
          </a:prstGeom>
          <a:noFill/>
          <a:ln/>
        </p:spPr>
        <p:txBody>
          <a:bodyPr wrap="square" lIns="38100" tIns="38100" rIns="38100" bIns="38100" rtlCol="0" anchor="ctr"/>
          <a:lstStyle/>
          <a:p>
            <a:pPr algn="l" indent="0" marL="0">
              <a:buNone/>
            </a:pPr>
            <a:r>
              <a:rPr lang="en-US" sz="1250" b="1" dirty="0">
                <a:solidFill>
                  <a:srgbClr val="006666"/>
                </a:solidFill>
                <a:latin typeface="Cambria" pitchFamily="34" charset="0"/>
                <a:ea typeface="Cambria" pitchFamily="34" charset="-122"/>
                <a:cs typeface="Cambria" pitchFamily="34" charset="-120"/>
              </a:rPr>
              <a:t>correct</a:t>
            </a:r>
            <a:endParaRPr lang="en-US" sz="1250" dirty="0"/>
          </a:p>
        </p:txBody>
      </p:sp>
      <p:sp>
        <p:nvSpPr>
          <p:cNvPr id="14" name="Text 12"/>
          <p:cNvSpPr/>
          <p:nvPr/>
        </p:nvSpPr>
        <p:spPr>
          <a:xfrm>
            <a:off x="1874520" y="1664208"/>
            <a:ext cx="1280160" cy="457200"/>
          </a:xfrm>
          <a:prstGeom prst="rect">
            <a:avLst/>
          </a:prstGeom>
          <a:noFill/>
          <a:ln/>
        </p:spPr>
        <p:txBody>
          <a:bodyPr wrap="square" lIns="38100" tIns="38100" rIns="38100" bIns="38100" rtlCol="0" anchor="ctr"/>
          <a:lstStyle/>
          <a:p>
            <a:pPr algn="l" indent="0" marL="0">
              <a:buNone/>
            </a:pPr>
            <a:r>
              <a:rPr lang="en-US" sz="1250" b="1" dirty="0">
                <a:solidFill>
                  <a:srgbClr val="006666"/>
                </a:solidFill>
                <a:latin typeface="Cambria" pitchFamily="34" charset="0"/>
                <a:ea typeface="Cambria" pitchFamily="34" charset="-122"/>
                <a:cs typeface="Cambria" pitchFamily="34" charset="-120"/>
              </a:rPr>
              <a:t>inside</a:t>
            </a:r>
            <a:endParaRPr lang="en-US" sz="1250" dirty="0"/>
          </a:p>
        </p:txBody>
      </p:sp>
      <p:sp>
        <p:nvSpPr>
          <p:cNvPr id="15" name="Text 13"/>
          <p:cNvSpPr/>
          <p:nvPr/>
        </p:nvSpPr>
        <p:spPr>
          <a:xfrm>
            <a:off x="3154680" y="1664208"/>
            <a:ext cx="100584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1,871</a:t>
            </a:r>
            <a:endParaRPr lang="en-US" sz="1250" dirty="0"/>
          </a:p>
        </p:txBody>
      </p:sp>
      <p:sp>
        <p:nvSpPr>
          <p:cNvPr id="16" name="Text 14"/>
          <p:cNvSpPr/>
          <p:nvPr/>
        </p:nvSpPr>
        <p:spPr>
          <a:xfrm>
            <a:off x="4160520" y="1664208"/>
            <a:ext cx="109728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69.0</a:t>
            </a:r>
            <a:endParaRPr lang="en-US" sz="1250" dirty="0"/>
          </a:p>
        </p:txBody>
      </p:sp>
      <p:sp>
        <p:nvSpPr>
          <p:cNvPr id="17" name="Text 15"/>
          <p:cNvSpPr/>
          <p:nvPr/>
        </p:nvSpPr>
        <p:spPr>
          <a:xfrm>
            <a:off x="5257800" y="1664208"/>
            <a:ext cx="109728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81.4</a:t>
            </a:r>
            <a:endParaRPr lang="en-US" sz="1250" dirty="0"/>
          </a:p>
        </p:txBody>
      </p:sp>
      <p:sp>
        <p:nvSpPr>
          <p:cNvPr id="18" name="Text 16"/>
          <p:cNvSpPr/>
          <p:nvPr/>
        </p:nvSpPr>
        <p:spPr>
          <a:xfrm>
            <a:off x="6355080" y="1664208"/>
            <a:ext cx="1097280" cy="457200"/>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87.1</a:t>
            </a:r>
            <a:endParaRPr lang="en-US" sz="1250" dirty="0"/>
          </a:p>
        </p:txBody>
      </p:sp>
      <p:sp>
        <p:nvSpPr>
          <p:cNvPr id="19" name="Text 17"/>
          <p:cNvSpPr/>
          <p:nvPr/>
        </p:nvSpPr>
        <p:spPr>
          <a:xfrm>
            <a:off x="7452360" y="1664208"/>
            <a:ext cx="1179576" cy="457200"/>
          </a:xfrm>
          <a:prstGeom prst="rect">
            <a:avLst/>
          </a:prstGeom>
          <a:noFill/>
          <a:ln/>
        </p:spPr>
        <p:txBody>
          <a:bodyPr wrap="square" lIns="38100" tIns="38100" rIns="38100" bIns="38100" rtlCol="0" anchor="ctr"/>
          <a:lstStyle/>
          <a:p>
            <a:pPr algn="ctr" indent="0" marL="0">
              <a:buNone/>
            </a:pPr>
            <a:r>
              <a:rPr lang="en-US" sz="1250" b="1" dirty="0">
                <a:solidFill>
                  <a:srgbClr val="006666"/>
                </a:solidFill>
                <a:latin typeface="Cambria" pitchFamily="34" charset="0"/>
                <a:ea typeface="Cambria" pitchFamily="34" charset="-122"/>
                <a:cs typeface="Cambria" pitchFamily="34" charset="-120"/>
              </a:rPr>
              <a:t>+5.7</a:t>
            </a:r>
            <a:endParaRPr lang="en-US" sz="1250" dirty="0"/>
          </a:p>
        </p:txBody>
      </p:sp>
      <p:sp>
        <p:nvSpPr>
          <p:cNvPr id="20" name="Shape 18"/>
          <p:cNvSpPr/>
          <p:nvPr/>
        </p:nvSpPr>
        <p:spPr>
          <a:xfrm>
            <a:off x="502920" y="2121408"/>
            <a:ext cx="8129016" cy="0"/>
          </a:xfrm>
          <a:prstGeom prst="line">
            <a:avLst/>
          </a:prstGeom>
          <a:noFill/>
          <a:ln w="12700">
            <a:solidFill>
              <a:srgbClr val="9A94AE"/>
            </a:solidFill>
            <a:prstDash val="solid"/>
          </a:ln>
        </p:spPr>
      </p:sp>
      <p:sp>
        <p:nvSpPr>
          <p:cNvPr id="21" name="Text 19"/>
          <p:cNvSpPr/>
          <p:nvPr/>
        </p:nvSpPr>
        <p:spPr>
          <a:xfrm>
            <a:off x="502920" y="2121408"/>
            <a:ext cx="13716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correct</a:t>
            </a:r>
            <a:endParaRPr lang="en-US" sz="1250" dirty="0"/>
          </a:p>
        </p:txBody>
      </p:sp>
      <p:sp>
        <p:nvSpPr>
          <p:cNvPr id="22" name="Text 20"/>
          <p:cNvSpPr/>
          <p:nvPr/>
        </p:nvSpPr>
        <p:spPr>
          <a:xfrm>
            <a:off x="1874520" y="2121408"/>
            <a:ext cx="128016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outside</a:t>
            </a:r>
            <a:endParaRPr lang="en-US" sz="1250" dirty="0"/>
          </a:p>
        </p:txBody>
      </p:sp>
      <p:sp>
        <p:nvSpPr>
          <p:cNvPr id="23" name="Text 21"/>
          <p:cNvSpPr/>
          <p:nvPr/>
        </p:nvSpPr>
        <p:spPr>
          <a:xfrm>
            <a:off x="3154680" y="2121408"/>
            <a:ext cx="100584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184</a:t>
            </a:r>
            <a:endParaRPr lang="en-US" sz="1250" dirty="0"/>
          </a:p>
        </p:txBody>
      </p:sp>
      <p:sp>
        <p:nvSpPr>
          <p:cNvPr id="24" name="Text 22"/>
          <p:cNvSpPr/>
          <p:nvPr/>
        </p:nvSpPr>
        <p:spPr>
          <a:xfrm>
            <a:off x="4160520" y="2121408"/>
            <a:ext cx="10972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23.4</a:t>
            </a:r>
            <a:endParaRPr lang="en-US" sz="1250" dirty="0"/>
          </a:p>
        </p:txBody>
      </p:sp>
      <p:sp>
        <p:nvSpPr>
          <p:cNvPr id="25" name="Text 23"/>
          <p:cNvSpPr/>
          <p:nvPr/>
        </p:nvSpPr>
        <p:spPr>
          <a:xfrm>
            <a:off x="5257800" y="2121408"/>
            <a:ext cx="10972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25.5</a:t>
            </a:r>
            <a:endParaRPr lang="en-US" sz="1250" dirty="0"/>
          </a:p>
        </p:txBody>
      </p:sp>
      <p:sp>
        <p:nvSpPr>
          <p:cNvPr id="26" name="Text 24"/>
          <p:cNvSpPr/>
          <p:nvPr/>
        </p:nvSpPr>
        <p:spPr>
          <a:xfrm>
            <a:off x="6355080" y="2121408"/>
            <a:ext cx="10972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26.1</a:t>
            </a:r>
            <a:endParaRPr lang="en-US" sz="1250" dirty="0"/>
          </a:p>
        </p:txBody>
      </p:sp>
      <p:sp>
        <p:nvSpPr>
          <p:cNvPr id="27" name="Text 25"/>
          <p:cNvSpPr/>
          <p:nvPr/>
        </p:nvSpPr>
        <p:spPr>
          <a:xfrm>
            <a:off x="7452360" y="2121408"/>
            <a:ext cx="117957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+0.5</a:t>
            </a:r>
            <a:endParaRPr lang="en-US" sz="1250" dirty="0"/>
          </a:p>
        </p:txBody>
      </p:sp>
      <p:sp>
        <p:nvSpPr>
          <p:cNvPr id="28" name="Shape 26"/>
          <p:cNvSpPr/>
          <p:nvPr/>
        </p:nvSpPr>
        <p:spPr>
          <a:xfrm>
            <a:off x="502920" y="2523744"/>
            <a:ext cx="8129016" cy="0"/>
          </a:xfrm>
          <a:prstGeom prst="line">
            <a:avLst/>
          </a:prstGeom>
          <a:noFill/>
          <a:ln w="12700">
            <a:solidFill>
              <a:srgbClr val="9A94AE"/>
            </a:solidFill>
            <a:prstDash val="solid"/>
          </a:ln>
        </p:spPr>
      </p:sp>
      <p:sp>
        <p:nvSpPr>
          <p:cNvPr id="29" name="Text 27"/>
          <p:cNvSpPr/>
          <p:nvPr/>
        </p:nvSpPr>
        <p:spPr>
          <a:xfrm>
            <a:off x="502920" y="2523744"/>
            <a:ext cx="13716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wrong</a:t>
            </a:r>
            <a:endParaRPr lang="en-US" sz="1250" dirty="0"/>
          </a:p>
        </p:txBody>
      </p:sp>
      <p:sp>
        <p:nvSpPr>
          <p:cNvPr id="30" name="Text 28"/>
          <p:cNvSpPr/>
          <p:nvPr/>
        </p:nvSpPr>
        <p:spPr>
          <a:xfrm>
            <a:off x="1874520" y="2523744"/>
            <a:ext cx="128016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inside</a:t>
            </a:r>
            <a:endParaRPr lang="en-US" sz="1250" dirty="0"/>
          </a:p>
        </p:txBody>
      </p:sp>
      <p:sp>
        <p:nvSpPr>
          <p:cNvPr id="31" name="Text 29"/>
          <p:cNvSpPr/>
          <p:nvPr/>
        </p:nvSpPr>
        <p:spPr>
          <a:xfrm>
            <a:off x="3154680" y="2523744"/>
            <a:ext cx="100584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452</a:t>
            </a:r>
            <a:endParaRPr lang="en-US" sz="1250" dirty="0"/>
          </a:p>
        </p:txBody>
      </p:sp>
      <p:sp>
        <p:nvSpPr>
          <p:cNvPr id="32" name="Text 30"/>
          <p:cNvSpPr/>
          <p:nvPr/>
        </p:nvSpPr>
        <p:spPr>
          <a:xfrm>
            <a:off x="4160520" y="2523744"/>
            <a:ext cx="10972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41.4</a:t>
            </a:r>
            <a:endParaRPr lang="en-US" sz="1250" dirty="0"/>
          </a:p>
        </p:txBody>
      </p:sp>
      <p:sp>
        <p:nvSpPr>
          <p:cNvPr id="33" name="Text 31"/>
          <p:cNvSpPr/>
          <p:nvPr/>
        </p:nvSpPr>
        <p:spPr>
          <a:xfrm>
            <a:off x="5257800" y="2523744"/>
            <a:ext cx="10972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56.4</a:t>
            </a:r>
            <a:endParaRPr lang="en-US" sz="1250" dirty="0"/>
          </a:p>
        </p:txBody>
      </p:sp>
      <p:sp>
        <p:nvSpPr>
          <p:cNvPr id="34" name="Text 32"/>
          <p:cNvSpPr/>
          <p:nvPr/>
        </p:nvSpPr>
        <p:spPr>
          <a:xfrm>
            <a:off x="6355080" y="2523744"/>
            <a:ext cx="109728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57.5</a:t>
            </a:r>
            <a:endParaRPr lang="en-US" sz="1250" dirty="0"/>
          </a:p>
        </p:txBody>
      </p:sp>
      <p:sp>
        <p:nvSpPr>
          <p:cNvPr id="35" name="Text 33"/>
          <p:cNvSpPr/>
          <p:nvPr/>
        </p:nvSpPr>
        <p:spPr>
          <a:xfrm>
            <a:off x="7452360" y="2523744"/>
            <a:ext cx="117957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+1.1</a:t>
            </a:r>
            <a:endParaRPr lang="en-US" sz="1250" dirty="0"/>
          </a:p>
        </p:txBody>
      </p:sp>
      <p:sp>
        <p:nvSpPr>
          <p:cNvPr id="36" name="Shape 34"/>
          <p:cNvSpPr/>
          <p:nvPr/>
        </p:nvSpPr>
        <p:spPr>
          <a:xfrm>
            <a:off x="502920" y="2926080"/>
            <a:ext cx="8129016" cy="0"/>
          </a:xfrm>
          <a:prstGeom prst="line">
            <a:avLst/>
          </a:prstGeom>
          <a:noFill/>
          <a:ln w="12700">
            <a:solidFill>
              <a:srgbClr val="9A94AE"/>
            </a:solidFill>
            <a:prstDash val="solid"/>
          </a:ln>
        </p:spPr>
      </p:sp>
      <p:sp>
        <p:nvSpPr>
          <p:cNvPr id="37" name="Text 35"/>
          <p:cNvSpPr/>
          <p:nvPr/>
        </p:nvSpPr>
        <p:spPr>
          <a:xfrm>
            <a:off x="502920" y="2926080"/>
            <a:ext cx="1371600" cy="457200"/>
          </a:xfrm>
          <a:prstGeom prst="rect">
            <a:avLst/>
          </a:prstGeom>
          <a:noFill/>
          <a:ln/>
        </p:spPr>
        <p:txBody>
          <a:bodyPr wrap="square" lIns="38100" tIns="38100" rIns="38100" bIns="3810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wrong</a:t>
            </a:r>
            <a:endParaRPr lang="en-US" sz="1250" dirty="0"/>
          </a:p>
        </p:txBody>
      </p:sp>
      <p:sp>
        <p:nvSpPr>
          <p:cNvPr id="38" name="Text 36"/>
          <p:cNvSpPr/>
          <p:nvPr/>
        </p:nvSpPr>
        <p:spPr>
          <a:xfrm>
            <a:off x="1874520" y="2926080"/>
            <a:ext cx="1280160" cy="457200"/>
          </a:xfrm>
          <a:prstGeom prst="rect">
            <a:avLst/>
          </a:prstGeom>
          <a:noFill/>
          <a:ln/>
        </p:spPr>
        <p:txBody>
          <a:bodyPr wrap="square" lIns="38100" tIns="38100" rIns="38100" bIns="3810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outside</a:t>
            </a:r>
            <a:endParaRPr lang="en-US" sz="1250" dirty="0"/>
          </a:p>
        </p:txBody>
      </p:sp>
      <p:sp>
        <p:nvSpPr>
          <p:cNvPr id="39" name="Text 37"/>
          <p:cNvSpPr/>
          <p:nvPr/>
        </p:nvSpPr>
        <p:spPr>
          <a:xfrm>
            <a:off x="3154680" y="2926080"/>
            <a:ext cx="1005840" cy="457200"/>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738</a:t>
            </a:r>
            <a:endParaRPr lang="en-US" sz="1250" dirty="0"/>
          </a:p>
        </p:txBody>
      </p:sp>
      <p:sp>
        <p:nvSpPr>
          <p:cNvPr id="40" name="Text 38"/>
          <p:cNvSpPr/>
          <p:nvPr/>
        </p:nvSpPr>
        <p:spPr>
          <a:xfrm>
            <a:off x="4160520" y="2926080"/>
            <a:ext cx="109728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24.4</a:t>
            </a:r>
            <a:endParaRPr lang="en-US" sz="1250" dirty="0"/>
          </a:p>
        </p:txBody>
      </p:sp>
      <p:sp>
        <p:nvSpPr>
          <p:cNvPr id="41" name="Text 39"/>
          <p:cNvSpPr/>
          <p:nvPr/>
        </p:nvSpPr>
        <p:spPr>
          <a:xfrm>
            <a:off x="5257800" y="2926080"/>
            <a:ext cx="1097280"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30.8</a:t>
            </a:r>
            <a:endParaRPr lang="en-US" sz="1250" dirty="0"/>
          </a:p>
        </p:txBody>
      </p:sp>
      <p:sp>
        <p:nvSpPr>
          <p:cNvPr id="42" name="Text 40"/>
          <p:cNvSpPr/>
          <p:nvPr/>
        </p:nvSpPr>
        <p:spPr>
          <a:xfrm>
            <a:off x="6355080" y="2926080"/>
            <a:ext cx="1097280" cy="457200"/>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5.6</a:t>
            </a:r>
            <a:endParaRPr lang="en-US" sz="1250" dirty="0"/>
          </a:p>
        </p:txBody>
      </p:sp>
      <p:sp>
        <p:nvSpPr>
          <p:cNvPr id="43" name="Text 41"/>
          <p:cNvSpPr/>
          <p:nvPr/>
        </p:nvSpPr>
        <p:spPr>
          <a:xfrm>
            <a:off x="7452360" y="2926080"/>
            <a:ext cx="1179576" cy="457200"/>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−25.2</a:t>
            </a:r>
            <a:endParaRPr lang="en-US" sz="1250" dirty="0"/>
          </a:p>
        </p:txBody>
      </p:sp>
      <p:sp>
        <p:nvSpPr>
          <p:cNvPr id="44" name="Text 42"/>
          <p:cNvSpPr/>
          <p:nvPr/>
        </p:nvSpPr>
        <p:spPr>
          <a:xfrm>
            <a:off x="594360" y="3429000"/>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45" name="Text 43"/>
          <p:cNvSpPr/>
          <p:nvPr/>
        </p:nvSpPr>
        <p:spPr>
          <a:xfrm>
            <a:off x="822960" y="3429000"/>
            <a:ext cx="772668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The branch matches or exceeds the control in three of four rows. </a:t>
            </a:r>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All the damage sits in the fourth</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16.5% of the scored population</a:t>
            </a:r>
            <a:endParaRPr lang="en-US" sz="1250" dirty="0"/>
          </a:p>
        </p:txBody>
      </p:sp>
      <p:sp>
        <p:nvSpPr>
          <p:cNvPr id="46" name="Text 44"/>
          <p:cNvSpPr/>
          <p:nvPr/>
        </p:nvSpPr>
        <p:spPr>
          <a:xfrm>
            <a:off x="594360" y="4142232"/>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47" name="Text 45"/>
          <p:cNvSpPr/>
          <p:nvPr/>
        </p:nvSpPr>
        <p:spPr>
          <a:xfrm>
            <a:off x="822960" y="4142232"/>
            <a:ext cx="772668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The cost of the design is commitment: having named the wrong element, the branch writes a sentence faithful to it, while the control, committed to nothing, still retrieves the right element on 30.8% of them</a:t>
            </a:r>
            <a:endParaRPr lang="en-US" sz="1250" dirty="0"/>
          </a:p>
        </p:txBody>
      </p:sp>
      <p:sp>
        <p:nvSpPr>
          <p:cNvPr id="48" name="Shape 46"/>
          <p:cNvSpPr/>
          <p:nvPr/>
        </p:nvSpPr>
        <p:spPr>
          <a:xfrm>
            <a:off x="502920" y="4892040"/>
            <a:ext cx="8138160" cy="1280160"/>
          </a:xfrm>
          <a:prstGeom prst="rect">
            <a:avLst/>
          </a:prstGeom>
          <a:solidFill>
            <a:srgbClr val="FFFFFF"/>
          </a:solidFill>
          <a:ln w="12700">
            <a:solidFill>
              <a:srgbClr val="9A94AE"/>
            </a:solidFill>
            <a:prstDash val="solid"/>
          </a:ln>
        </p:spPr>
      </p:sp>
      <p:sp>
        <p:nvSpPr>
          <p:cNvPr id="49" name="Text 47"/>
          <p:cNvSpPr/>
          <p:nvPr/>
        </p:nvSpPr>
        <p:spPr>
          <a:xfrm>
            <a:off x="731520" y="4892040"/>
            <a:ext cx="7680960" cy="1280160"/>
          </a:xfrm>
          <a:prstGeom prst="rect">
            <a:avLst/>
          </a:prstGeom>
          <a:noFill/>
          <a:ln/>
        </p:spPr>
        <p:txBody>
          <a:bodyPr wrap="square" lIns="0" tIns="0" rIns="0" bIns="0" rtlCol="0" anchor="ctr"/>
          <a:lstStyle/>
          <a:p>
            <a:pPr algn="l" indent="0" marL="0">
              <a:lnSpc>
                <a:spcPct val="135000"/>
              </a:lnSpc>
              <a:buNone/>
            </a:pPr>
            <a:r>
              <a:rPr lang="en-US" sz="1200" b="1" dirty="0">
                <a:solidFill>
                  <a:srgbClr val="322164"/>
                </a:solidFill>
                <a:latin typeface="Cambria" pitchFamily="34" charset="0"/>
                <a:ea typeface="Cambria" pitchFamily="34" charset="-122"/>
                <a:cs typeface="Cambria" pitchFamily="34" charset="-120"/>
              </a:rPr>
              <a:t>The objection, and the column that answers it.</a:t>
            </a:r>
            <a:pPr algn="l" indent="0" marL="0">
              <a:lnSpc>
                <a:spcPct val="135000"/>
              </a:lnSpc>
              <a:buNone/>
            </a:pPr>
            <a:r>
              <a:rPr lang="en-US" sz="1200" dirty="0">
                <a:solidFill>
                  <a:srgbClr val="1A1A1A"/>
                </a:solidFill>
                <a:latin typeface="Cambria" pitchFamily="34" charset="0"/>
                <a:ea typeface="Cambria" pitchFamily="34" charset="-122"/>
                <a:cs typeface="Cambria" pitchFamily="34" charset="-120"/>
              </a:rPr>
              <a:t>  The stratification conditions on a variable the treatment produces, so the failing row could simply be the hard steps. The human references are not conditioned on the treatment and still reach </a:t>
            </a:r>
            <a:pPr algn="l" indent="0" marL="0">
              <a:lnSpc>
                <a:spcPct val="135000"/>
              </a:lnSpc>
              <a:buNone/>
            </a:pPr>
            <a:r>
              <a:rPr lang="en-US" sz="1200" b="1" dirty="0">
                <a:solidFill>
                  <a:srgbClr val="006666"/>
                </a:solidFill>
                <a:latin typeface="Cambria" pitchFamily="34" charset="0"/>
                <a:ea typeface="Cambria" pitchFamily="34" charset="-122"/>
                <a:cs typeface="Cambria" pitchFamily="34" charset="-120"/>
              </a:rPr>
              <a:t>66.3%</a:t>
            </a:r>
            <a:pPr algn="l" indent="0" marL="0">
              <a:lnSpc>
                <a:spcPct val="135000"/>
              </a:lnSpc>
              <a:buNone/>
            </a:pPr>
            <a:r>
              <a:rPr lang="en-US" sz="1200" dirty="0">
                <a:solidFill>
                  <a:srgbClr val="1A1A1A"/>
                </a:solidFill>
                <a:latin typeface="Cambria" pitchFamily="34" charset="0"/>
                <a:ea typeface="Cambria" pitchFamily="34" charset="-122"/>
                <a:cs typeface="Cambria" pitchFamily="34" charset="-120"/>
              </a:rPr>
              <a:t> there, against 5.6 for the treatment and 24.4 for the untuned model. The row is harder than average, and that does not account for the collapse. The confound is bounded, not removed.</a:t>
            </a:r>
            <a:endParaRPr lang="en-US" sz="1200" dirty="0"/>
          </a:p>
        </p:txBody>
      </p:sp>
      <p:sp>
        <p:nvSpPr>
          <p:cNvPr id="51" name="Shape 48"/>
          <p:cNvSpPr/>
          <p:nvPr/>
        </p:nvSpPr>
        <p:spPr>
          <a:xfrm>
            <a:off x="0" y="6620256"/>
            <a:ext cx="2194560" cy="237744"/>
          </a:xfrm>
          <a:prstGeom prst="rect">
            <a:avLst/>
          </a:prstGeom>
          <a:solidFill>
            <a:srgbClr val="191132"/>
          </a:solidFill>
          <a:ln/>
        </p:spPr>
      </p:sp>
      <p:sp>
        <p:nvSpPr>
          <p:cNvPr id="52" name="Shape 49"/>
          <p:cNvSpPr/>
          <p:nvPr/>
        </p:nvSpPr>
        <p:spPr>
          <a:xfrm>
            <a:off x="2194560" y="6620256"/>
            <a:ext cx="3931920" cy="237744"/>
          </a:xfrm>
          <a:prstGeom prst="rect">
            <a:avLst/>
          </a:prstGeom>
          <a:solidFill>
            <a:srgbClr val="25194B"/>
          </a:solidFill>
          <a:ln/>
        </p:spPr>
      </p:sp>
      <p:sp>
        <p:nvSpPr>
          <p:cNvPr id="53" name="Shape 50"/>
          <p:cNvSpPr/>
          <p:nvPr/>
        </p:nvSpPr>
        <p:spPr>
          <a:xfrm>
            <a:off x="6126480" y="6620256"/>
            <a:ext cx="1737360" cy="237744"/>
          </a:xfrm>
          <a:prstGeom prst="rect">
            <a:avLst/>
          </a:prstGeom>
          <a:solidFill>
            <a:srgbClr val="4F417A"/>
          </a:solidFill>
          <a:ln/>
        </p:spPr>
      </p:sp>
      <p:sp>
        <p:nvSpPr>
          <p:cNvPr id="54" name="Shape 51"/>
          <p:cNvSpPr/>
          <p:nvPr/>
        </p:nvSpPr>
        <p:spPr>
          <a:xfrm>
            <a:off x="7863840" y="6620256"/>
            <a:ext cx="1280160" cy="237744"/>
          </a:xfrm>
          <a:prstGeom prst="rect">
            <a:avLst/>
          </a:prstGeom>
          <a:solidFill>
            <a:srgbClr val="7A7099"/>
          </a:solidFill>
          <a:ln/>
        </p:spPr>
      </p:sp>
      <p:sp>
        <p:nvSpPr>
          <p:cNvPr id="55" name="Text 52"/>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56" name="Text 53"/>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57" name="Text 5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58" name="Text 5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13/17</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A third of the difference sits in 7.3% of the steps</a:t>
            </a:r>
            <a:endParaRPr lang="en-US" sz="1900" dirty="0"/>
          </a:p>
        </p:txBody>
      </p:sp>
      <p:sp>
        <p:nvSpPr>
          <p:cNvPr id="4" name="Text 2"/>
          <p:cNvSpPr/>
          <p:nvPr/>
        </p:nvSpPr>
        <p:spPr>
          <a:xfrm>
            <a:off x="502920" y="777240"/>
            <a:ext cx="8138160" cy="411480"/>
          </a:xfrm>
          <a:prstGeom prst="rect">
            <a:avLst/>
          </a:prstGeom>
          <a:noFill/>
          <a:ln/>
        </p:spPr>
        <p:txBody>
          <a:bodyPr wrap="square" lIns="0" tIns="0" rIns="0" bIns="0" rtlCol="0" anchor="t"/>
          <a:lstStyle/>
          <a:p>
            <a:pPr algn="l" indent="0" marL="0">
              <a:lnSpc>
                <a:spcPct val="128000"/>
              </a:lnSpc>
              <a:buNone/>
            </a:pPr>
            <a:r>
              <a:rPr lang="en-US" sz="1250" i="1" dirty="0">
                <a:solidFill>
                  <a:srgbClr val="5A5A66"/>
                </a:solidFill>
                <a:latin typeface="Cambria" pitchFamily="34" charset="0"/>
                <a:ea typeface="Cambria" pitchFamily="34" charset="-122"/>
                <a:cs typeface="Cambria" pitchFamily="34" charset="-120"/>
              </a:rPr>
              <a:t>Slice registered on 19 August, before any treatment score existed: steps where the branch emits a descriptor against steps where it emits none.</a:t>
            </a:r>
            <a:endParaRPr lang="en-US" sz="1250" dirty="0"/>
          </a:p>
        </p:txBody>
      </p:sp>
      <p:sp>
        <p:nvSpPr>
          <p:cNvPr id="5" name="Shape 3"/>
          <p:cNvSpPr/>
          <p:nvPr/>
        </p:nvSpPr>
        <p:spPr>
          <a:xfrm>
            <a:off x="502920" y="1280160"/>
            <a:ext cx="8138160" cy="384048"/>
          </a:xfrm>
          <a:prstGeom prst="rect">
            <a:avLst/>
          </a:prstGeom>
          <a:solidFill>
            <a:srgbClr val="322164"/>
          </a:solidFill>
          <a:ln/>
        </p:spPr>
      </p:sp>
      <p:sp>
        <p:nvSpPr>
          <p:cNvPr id="6" name="Text 4"/>
          <p:cNvSpPr/>
          <p:nvPr/>
        </p:nvSpPr>
        <p:spPr>
          <a:xfrm>
            <a:off x="502920" y="1280160"/>
            <a:ext cx="265176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Group</a:t>
            </a:r>
            <a:endParaRPr lang="en-US" sz="1250" dirty="0"/>
          </a:p>
        </p:txBody>
      </p:sp>
      <p:sp>
        <p:nvSpPr>
          <p:cNvPr id="7" name="Text 5"/>
          <p:cNvSpPr/>
          <p:nvPr/>
        </p:nvSpPr>
        <p:spPr>
          <a:xfrm>
            <a:off x="3154680" y="1280160"/>
            <a:ext cx="10058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n</a:t>
            </a:r>
            <a:endParaRPr lang="en-US" sz="1250" dirty="0"/>
          </a:p>
        </p:txBody>
      </p:sp>
      <p:sp>
        <p:nvSpPr>
          <p:cNvPr id="8" name="Text 6"/>
          <p:cNvSpPr/>
          <p:nvPr/>
        </p:nvSpPr>
        <p:spPr>
          <a:xfrm>
            <a:off x="4160520" y="1280160"/>
            <a:ext cx="10058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S1</a:t>
            </a:r>
            <a:endParaRPr lang="en-US" sz="1250" dirty="0"/>
          </a:p>
        </p:txBody>
      </p:sp>
      <p:sp>
        <p:nvSpPr>
          <p:cNvPr id="9" name="Text 7"/>
          <p:cNvSpPr/>
          <p:nvPr/>
        </p:nvSpPr>
        <p:spPr>
          <a:xfrm>
            <a:off x="5166360" y="1280160"/>
            <a:ext cx="10058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S2</a:t>
            </a:r>
            <a:endParaRPr lang="en-US" sz="1250" dirty="0"/>
          </a:p>
        </p:txBody>
      </p:sp>
      <p:sp>
        <p:nvSpPr>
          <p:cNvPr id="10" name="Text 8"/>
          <p:cNvSpPr/>
          <p:nvPr/>
        </p:nvSpPr>
        <p:spPr>
          <a:xfrm>
            <a:off x="6172200" y="1280160"/>
            <a:ext cx="246888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Δ</a:t>
            </a:r>
            <a:endParaRPr lang="en-US" sz="1250" dirty="0"/>
          </a:p>
        </p:txBody>
      </p:sp>
      <p:sp>
        <p:nvSpPr>
          <p:cNvPr id="11" name="Text 9"/>
          <p:cNvSpPr/>
          <p:nvPr/>
        </p:nvSpPr>
        <p:spPr>
          <a:xfrm>
            <a:off x="502920" y="1664208"/>
            <a:ext cx="2651760" cy="438912"/>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Descriptor emitted</a:t>
            </a:r>
            <a:endParaRPr lang="en-US" sz="1300" dirty="0"/>
          </a:p>
        </p:txBody>
      </p:sp>
      <p:sp>
        <p:nvSpPr>
          <p:cNvPr id="12" name="Text 10"/>
          <p:cNvSpPr/>
          <p:nvPr/>
        </p:nvSpPr>
        <p:spPr>
          <a:xfrm>
            <a:off x="3154680" y="1664208"/>
            <a:ext cx="1005840" cy="438912"/>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4,138</a:t>
            </a:r>
            <a:endParaRPr lang="en-US" sz="1300" dirty="0"/>
          </a:p>
        </p:txBody>
      </p:sp>
      <p:sp>
        <p:nvSpPr>
          <p:cNvPr id="13" name="Text 11"/>
          <p:cNvSpPr/>
          <p:nvPr/>
        </p:nvSpPr>
        <p:spPr>
          <a:xfrm>
            <a:off x="4160520" y="1664208"/>
            <a:ext cx="1005840" cy="438912"/>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62.2</a:t>
            </a:r>
            <a:endParaRPr lang="en-US" sz="1300" dirty="0"/>
          </a:p>
        </p:txBody>
      </p:sp>
      <p:sp>
        <p:nvSpPr>
          <p:cNvPr id="14" name="Text 12"/>
          <p:cNvSpPr/>
          <p:nvPr/>
        </p:nvSpPr>
        <p:spPr>
          <a:xfrm>
            <a:off x="5166360" y="1664208"/>
            <a:ext cx="1005840" cy="438912"/>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60.8</a:t>
            </a:r>
            <a:endParaRPr lang="en-US" sz="1300" dirty="0"/>
          </a:p>
        </p:txBody>
      </p:sp>
      <p:sp>
        <p:nvSpPr>
          <p:cNvPr id="15" name="Text 13"/>
          <p:cNvSpPr/>
          <p:nvPr/>
        </p:nvSpPr>
        <p:spPr>
          <a:xfrm>
            <a:off x="6172200" y="1664208"/>
            <a:ext cx="2468880" cy="43891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−1.38  [−2.54, −0.19]</a:t>
            </a:r>
            <a:endParaRPr lang="en-US" sz="1150" dirty="0"/>
          </a:p>
        </p:txBody>
      </p:sp>
      <p:sp>
        <p:nvSpPr>
          <p:cNvPr id="16" name="Shape 14"/>
          <p:cNvSpPr/>
          <p:nvPr/>
        </p:nvSpPr>
        <p:spPr>
          <a:xfrm>
            <a:off x="502920" y="2103120"/>
            <a:ext cx="8138160" cy="0"/>
          </a:xfrm>
          <a:prstGeom prst="line">
            <a:avLst/>
          </a:prstGeom>
          <a:noFill/>
          <a:ln w="12700">
            <a:solidFill>
              <a:srgbClr val="9A94AE"/>
            </a:solidFill>
            <a:prstDash val="solid"/>
          </a:ln>
        </p:spPr>
      </p:sp>
      <p:sp>
        <p:nvSpPr>
          <p:cNvPr id="17" name="Text 15"/>
          <p:cNvSpPr/>
          <p:nvPr/>
        </p:nvSpPr>
        <p:spPr>
          <a:xfrm>
            <a:off x="502920" y="2103120"/>
            <a:ext cx="2651760" cy="438912"/>
          </a:xfrm>
          <a:prstGeom prst="rect">
            <a:avLst/>
          </a:prstGeom>
          <a:noFill/>
          <a:ln/>
        </p:spPr>
        <p:txBody>
          <a:bodyPr wrap="square" lIns="38100" tIns="38100" rIns="38100" bIns="38100" rtlCol="0" anchor="ctr"/>
          <a:lstStyle/>
          <a:p>
            <a:pPr algn="l" indent="0" marL="0">
              <a:buNone/>
            </a:pPr>
            <a:r>
              <a:rPr lang="en-US" sz="1300" b="1" dirty="0">
                <a:solidFill>
                  <a:srgbClr val="B22222"/>
                </a:solidFill>
                <a:latin typeface="Cambria" pitchFamily="34" charset="0"/>
                <a:ea typeface="Cambria" pitchFamily="34" charset="-122"/>
                <a:cs typeface="Cambria" pitchFamily="34" charset="-120"/>
              </a:rPr>
              <a:t>No descriptor emitted</a:t>
            </a:r>
            <a:endParaRPr lang="en-US" sz="1300" dirty="0"/>
          </a:p>
        </p:txBody>
      </p:sp>
      <p:sp>
        <p:nvSpPr>
          <p:cNvPr id="18" name="Text 16"/>
          <p:cNvSpPr/>
          <p:nvPr/>
        </p:nvSpPr>
        <p:spPr>
          <a:xfrm>
            <a:off x="3154680" y="2103120"/>
            <a:ext cx="1005840" cy="438912"/>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325</a:t>
            </a:r>
            <a:endParaRPr lang="en-US" sz="1300" dirty="0"/>
          </a:p>
        </p:txBody>
      </p:sp>
      <p:sp>
        <p:nvSpPr>
          <p:cNvPr id="19" name="Text 17"/>
          <p:cNvSpPr/>
          <p:nvPr/>
        </p:nvSpPr>
        <p:spPr>
          <a:xfrm>
            <a:off x="4160520" y="2103120"/>
            <a:ext cx="1005840" cy="438912"/>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19.7</a:t>
            </a:r>
            <a:endParaRPr lang="en-US" sz="1300" dirty="0"/>
          </a:p>
        </p:txBody>
      </p:sp>
      <p:sp>
        <p:nvSpPr>
          <p:cNvPr id="20" name="Text 18"/>
          <p:cNvSpPr/>
          <p:nvPr/>
        </p:nvSpPr>
        <p:spPr>
          <a:xfrm>
            <a:off x="5166360" y="2103120"/>
            <a:ext cx="1005840" cy="438912"/>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10.8</a:t>
            </a:r>
            <a:endParaRPr lang="en-US" sz="1300" dirty="0"/>
          </a:p>
        </p:txBody>
      </p:sp>
      <p:sp>
        <p:nvSpPr>
          <p:cNvPr id="21" name="Text 19"/>
          <p:cNvSpPr/>
          <p:nvPr/>
        </p:nvSpPr>
        <p:spPr>
          <a:xfrm>
            <a:off x="6172200" y="2103120"/>
            <a:ext cx="2468880" cy="438912"/>
          </a:xfrm>
          <a:prstGeom prst="rect">
            <a:avLst/>
          </a:prstGeom>
          <a:noFill/>
          <a:ln/>
        </p:spPr>
        <p:txBody>
          <a:bodyPr wrap="square" lIns="38100" tIns="38100" rIns="38100" bIns="38100" rtlCol="0" anchor="ctr"/>
          <a:lstStyle/>
          <a:p>
            <a:pPr algn="ctr" indent="0" marL="0">
              <a:buNone/>
            </a:pPr>
            <a:r>
              <a:rPr lang="en-US" sz="1150" b="1" dirty="0">
                <a:solidFill>
                  <a:srgbClr val="B22222"/>
                </a:solidFill>
                <a:latin typeface="Cambria" pitchFamily="34" charset="0"/>
                <a:ea typeface="Cambria" pitchFamily="34" charset="-122"/>
                <a:cs typeface="Cambria" pitchFamily="34" charset="-120"/>
              </a:rPr>
              <a:t>−8.92  [−12.57, −5.25]</a:t>
            </a:r>
            <a:endParaRPr lang="en-US" sz="1150" dirty="0"/>
          </a:p>
        </p:txBody>
      </p:sp>
      <p:sp>
        <p:nvSpPr>
          <p:cNvPr id="22" name="Text 20"/>
          <p:cNvSpPr/>
          <p:nvPr/>
        </p:nvSpPr>
        <p:spPr>
          <a:xfrm>
            <a:off x="502920" y="2514600"/>
            <a:ext cx="813816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There the model misjudges the action class, not the element</a:t>
            </a:r>
            <a:endParaRPr lang="en-US" sz="1350" dirty="0"/>
          </a:p>
        </p:txBody>
      </p:sp>
      <p:sp>
        <p:nvSpPr>
          <p:cNvPr id="23" name="Shape 21"/>
          <p:cNvSpPr/>
          <p:nvPr/>
        </p:nvSpPr>
        <p:spPr>
          <a:xfrm>
            <a:off x="502920" y="2834640"/>
            <a:ext cx="8138160" cy="731520"/>
          </a:xfrm>
          <a:prstGeom prst="rect">
            <a:avLst/>
          </a:prstGeom>
          <a:solidFill>
            <a:srgbClr val="FFFFFF"/>
          </a:solidFill>
          <a:ln w="12700">
            <a:solidFill>
              <a:srgbClr val="9A94AE"/>
            </a:solidFill>
            <a:prstDash val="solid"/>
          </a:ln>
        </p:spPr>
      </p:sp>
      <p:sp>
        <p:nvSpPr>
          <p:cNvPr id="24" name="Text 22"/>
          <p:cNvSpPr/>
          <p:nvPr/>
        </p:nvSpPr>
        <p:spPr>
          <a:xfrm>
            <a:off x="731520" y="2834640"/>
            <a:ext cx="7680960" cy="731520"/>
          </a:xfrm>
          <a:prstGeom prst="rect">
            <a:avLst/>
          </a:prstGeom>
          <a:noFill/>
          <a:ln/>
        </p:spPr>
        <p:txBody>
          <a:bodyPr wrap="square" lIns="0" tIns="0" rIns="0" bIns="0" rtlCol="0" anchor="ctr"/>
          <a:lstStyle/>
          <a:p>
            <a:pPr algn="l" indent="0" marL="0">
              <a:buNone/>
            </a:pPr>
            <a:r>
              <a:rPr lang="en-US" sz="1300" dirty="0">
                <a:solidFill>
                  <a:srgbClr val="5A5A66"/>
                </a:solidFill>
                <a:latin typeface="Cambria" pitchFamily="34" charset="0"/>
                <a:ea typeface="Cambria" pitchFamily="34" charset="-122"/>
                <a:cs typeface="Cambria" pitchFamily="34" charset="-120"/>
              </a:rPr>
              <a:t>Reference:  </a:t>
            </a:r>
            <a:pPr algn="l" indent="0" marL="0">
              <a:buNone/>
            </a:pPr>
            <a:r>
              <a:rPr lang="en-US" sz="1300" i="1" dirty="0">
                <a:solidFill>
                  <a:srgbClr val="1A1A1A"/>
                </a:solidFill>
                <a:latin typeface="Cambria" pitchFamily="34" charset="0"/>
                <a:ea typeface="Cambria" pitchFamily="34" charset="-122"/>
                <a:cs typeface="Cambria" pitchFamily="34" charset="-120"/>
              </a:rPr>
              <a:t>“Click on the close icon.”</a:t>
            </a:r>
            <a:pPr algn="l" indent="0" marL="0">
              <a:buNone/>
            </a:pPr>
            <a:r>
              <a:rPr lang="en-US" sz="1300" dirty="0">
                <a:solidFill>
                  <a:srgbClr val="5A5A66"/>
                </a:solidFill>
                <a:latin typeface="Cambria" pitchFamily="34" charset="0"/>
                <a:ea typeface="Cambria" pitchFamily="34" charset="-122"/>
                <a:cs typeface="Cambria" pitchFamily="34" charset="-120"/>
              </a:rPr>
              <a:t>        S2:  </a:t>
            </a:r>
            <a:pPr algn="l" indent="0" marL="0">
              <a:buNone/>
            </a:pPr>
            <a:r>
              <a:rPr lang="en-US" sz="1300" b="1" i="1" dirty="0">
                <a:solidFill>
                  <a:srgbClr val="B22222"/>
                </a:solidFill>
                <a:latin typeface="Cambria" pitchFamily="34" charset="0"/>
                <a:ea typeface="Cambria" pitchFamily="34" charset="-122"/>
                <a:cs typeface="Cambria" pitchFamily="34" charset="-120"/>
              </a:rPr>
              <a:t>“Swipe up.”</a:t>
            </a:r>
            <a:endParaRPr lang="en-US" sz="1300" dirty="0"/>
          </a:p>
        </p:txBody>
      </p:sp>
      <p:sp>
        <p:nvSpPr>
          <p:cNvPr id="25" name="Text 23"/>
          <p:cNvSpPr/>
          <p:nvPr/>
        </p:nvSpPr>
        <p:spPr>
          <a:xfrm>
            <a:off x="594360" y="3749040"/>
            <a:ext cx="201168" cy="6858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822960" y="3749040"/>
            <a:ext cx="7726680" cy="6400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The steps are solvable and the instrument is not blind: the human references score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68.3%</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there</a:t>
            </a:r>
            <a:endParaRPr lang="en-US" sz="1250" dirty="0"/>
          </a:p>
        </p:txBody>
      </p:sp>
      <p:sp>
        <p:nvSpPr>
          <p:cNvPr id="27" name="Text 25"/>
          <p:cNvSpPr/>
          <p:nvPr/>
        </p:nvSpPr>
        <p:spPr>
          <a:xfrm>
            <a:off x="594360" y="4434840"/>
            <a:ext cx="201168" cy="6858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822960" y="4434840"/>
            <a:ext cx="7726680" cy="6400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The failure is not created by the descriptor. Correct action class on those steps: </a:t>
            </a:r>
            <a:pPr algn="l" indent="0" marL="0">
              <a:lnSpc>
                <a:spcPct val="130000"/>
              </a:lnSpc>
              <a:buNone/>
            </a:pPr>
            <a:r>
              <a:rPr lang="en-US" sz="1250" b="1" dirty="0">
                <a:solidFill>
                  <a:srgbClr val="006666"/>
                </a:solidFill>
                <a:latin typeface="Cambria" pitchFamily="34" charset="0"/>
                <a:ea typeface="Cambria" pitchFamily="34" charset="-122"/>
                <a:cs typeface="Cambria" pitchFamily="34" charset="-120"/>
              </a:rPr>
              <a:t>Base 83.4%</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vs  </a:t>
            </a:r>
            <a:pPr algn="l" indent="0" marL="0">
              <a:lnSpc>
                <a:spcPct val="130000"/>
              </a:lnSpc>
              <a:buNone/>
            </a:pPr>
            <a:r>
              <a:rPr lang="en-US" sz="1250" b="1" dirty="0">
                <a:solidFill>
                  <a:srgbClr val="990000"/>
                </a:solidFill>
                <a:latin typeface="Cambria" pitchFamily="34" charset="0"/>
                <a:ea typeface="Cambria" pitchFamily="34" charset="-122"/>
                <a:cs typeface="Cambria" pitchFamily="34" charset="-120"/>
              </a:rPr>
              <a:t>S1 55.1%</a:t>
            </a:r>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  vs  </a:t>
            </a:r>
            <a:pPr algn="l" indent="0" marL="0">
              <a:lnSpc>
                <a:spcPct val="130000"/>
              </a:lnSpc>
              <a:buNone/>
            </a:pPr>
            <a:r>
              <a:rPr lang="en-US" sz="1250" b="1" dirty="0">
                <a:solidFill>
                  <a:srgbClr val="B22222"/>
                </a:solidFill>
                <a:latin typeface="Cambria" pitchFamily="34" charset="0"/>
                <a:ea typeface="Cambria" pitchFamily="34" charset="-122"/>
                <a:cs typeface="Cambria" pitchFamily="34" charset="-120"/>
              </a:rPr>
              <a:t>S2 38.8%</a:t>
            </a:r>
            <a:endParaRPr lang="en-US" sz="1250" dirty="0"/>
          </a:p>
        </p:txBody>
      </p:sp>
      <p:sp>
        <p:nvSpPr>
          <p:cNvPr id="29" name="Text 27"/>
          <p:cNvSpPr/>
          <p:nvPr/>
        </p:nvSpPr>
        <p:spPr>
          <a:xfrm>
            <a:off x="594360" y="5120640"/>
            <a:ext cx="201168" cy="6858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0" name="Text 28"/>
          <p:cNvSpPr/>
          <p:nvPr/>
        </p:nvSpPr>
        <p:spPr>
          <a:xfrm>
            <a:off x="822960" y="5120640"/>
            <a:ext cx="7726680" cy="640080"/>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Fine-tuning damages the action prior; the descriptor target amplifies it. The branch registered to test the mechanism, S2-nopoint, is among the cancelled runs</a:t>
            </a:r>
            <a:endParaRPr lang="en-US" sz="1250" dirty="0"/>
          </a:p>
        </p:txBody>
      </p:sp>
      <p:sp>
        <p:nvSpPr>
          <p:cNvPr id="31" name="Shape 29"/>
          <p:cNvSpPr/>
          <p:nvPr/>
        </p:nvSpPr>
        <p:spPr>
          <a:xfrm>
            <a:off x="502920" y="5852160"/>
            <a:ext cx="8138160" cy="658368"/>
          </a:xfrm>
          <a:prstGeom prst="roundRect">
            <a:avLst>
              <a:gd name="adj" fmla="val 8333"/>
            </a:avLst>
          </a:prstGeom>
          <a:solidFill>
            <a:srgbClr val="E9E8EC"/>
          </a:solidFill>
          <a:ln/>
          <a:effectLst>
            <a:outerShdw sx="100000" sy="100000" kx="0" ky="0" algn="bl" rotWithShape="0" blurRad="63500" dist="31750" dir="2700000">
              <a:srgbClr val="8C8C99">
                <a:alpha val="45000"/>
              </a:srgbClr>
            </a:outerShdw>
          </a:effectLst>
        </p:spPr>
      </p:sp>
      <p:sp>
        <p:nvSpPr>
          <p:cNvPr id="32" name="Text 30"/>
          <p:cNvSpPr/>
          <p:nvPr/>
        </p:nvSpPr>
        <p:spPr>
          <a:xfrm>
            <a:off x="731520" y="5852160"/>
            <a:ext cx="7680960" cy="658368"/>
          </a:xfrm>
          <a:prstGeom prst="rect">
            <a:avLst/>
          </a:prstGeom>
          <a:noFill/>
          <a:ln/>
        </p:spPr>
        <p:txBody>
          <a:bodyPr wrap="square" lIns="0" tIns="0" rIns="0" bIns="0" rtlCol="0" anchor="ctr"/>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Declared limitation: the 325 steps are defined by the treatment's own behaviour. What is not definitional is that the control also scores only 19.7% there.</a:t>
            </a:r>
            <a:endParaRPr lang="en-US" sz="1200" dirty="0"/>
          </a:p>
        </p:txBody>
      </p:sp>
      <p:sp>
        <p:nvSpPr>
          <p:cNvPr id="34" name="Shape 31"/>
          <p:cNvSpPr/>
          <p:nvPr/>
        </p:nvSpPr>
        <p:spPr>
          <a:xfrm>
            <a:off x="0" y="6620256"/>
            <a:ext cx="2194560" cy="237744"/>
          </a:xfrm>
          <a:prstGeom prst="rect">
            <a:avLst/>
          </a:prstGeom>
          <a:solidFill>
            <a:srgbClr val="191132"/>
          </a:solidFill>
          <a:ln/>
        </p:spPr>
      </p:sp>
      <p:sp>
        <p:nvSpPr>
          <p:cNvPr id="35" name="Shape 32"/>
          <p:cNvSpPr/>
          <p:nvPr/>
        </p:nvSpPr>
        <p:spPr>
          <a:xfrm>
            <a:off x="2194560" y="6620256"/>
            <a:ext cx="3931920" cy="237744"/>
          </a:xfrm>
          <a:prstGeom prst="rect">
            <a:avLst/>
          </a:prstGeom>
          <a:solidFill>
            <a:srgbClr val="25194B"/>
          </a:solidFill>
          <a:ln/>
        </p:spPr>
      </p:sp>
      <p:sp>
        <p:nvSpPr>
          <p:cNvPr id="36" name="Shape 33"/>
          <p:cNvSpPr/>
          <p:nvPr/>
        </p:nvSpPr>
        <p:spPr>
          <a:xfrm>
            <a:off x="6126480" y="6620256"/>
            <a:ext cx="1737360" cy="237744"/>
          </a:xfrm>
          <a:prstGeom prst="rect">
            <a:avLst/>
          </a:prstGeom>
          <a:solidFill>
            <a:srgbClr val="4F417A"/>
          </a:solidFill>
          <a:ln/>
        </p:spPr>
      </p:sp>
      <p:sp>
        <p:nvSpPr>
          <p:cNvPr id="37" name="Shape 34"/>
          <p:cNvSpPr/>
          <p:nvPr/>
        </p:nvSpPr>
        <p:spPr>
          <a:xfrm>
            <a:off x="7863840" y="6620256"/>
            <a:ext cx="1280160" cy="237744"/>
          </a:xfrm>
          <a:prstGeom prst="rect">
            <a:avLst/>
          </a:prstGeom>
          <a:solidFill>
            <a:srgbClr val="7A7099"/>
          </a:solidFill>
          <a:ln/>
        </p:spPr>
      </p:sp>
      <p:sp>
        <p:nvSpPr>
          <p:cNvPr id="38" name="Text 35"/>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9" name="Text 36"/>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40" name="Text 3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1" name="Text 3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14/17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The objective this diagnosis specifies, and what it returned</a:t>
            </a:r>
            <a:endParaRPr lang="en-US" sz="1900" dirty="0"/>
          </a:p>
        </p:txBody>
      </p:sp>
      <p:sp>
        <p:nvSpPr>
          <p:cNvPr id="4" name="Shape 2"/>
          <p:cNvSpPr/>
          <p:nvPr/>
        </p:nvSpPr>
        <p:spPr>
          <a:xfrm>
            <a:off x="502920" y="777240"/>
            <a:ext cx="8138160" cy="868680"/>
          </a:xfrm>
          <a:prstGeom prst="rect">
            <a:avLst/>
          </a:prstGeom>
          <a:solidFill>
            <a:srgbClr val="FFFFFF"/>
          </a:solidFill>
          <a:ln w="12700">
            <a:solidFill>
              <a:srgbClr val="9A94AE"/>
            </a:solidFill>
            <a:prstDash val="solid"/>
          </a:ln>
        </p:spPr>
      </p:sp>
      <p:sp>
        <p:nvSpPr>
          <p:cNvPr id="5" name="Text 3"/>
          <p:cNvSpPr/>
          <p:nvPr/>
        </p:nvSpPr>
        <p:spPr>
          <a:xfrm>
            <a:off x="731520" y="841248"/>
            <a:ext cx="7680960" cy="34747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chosen     </a:t>
            </a:r>
            <a:pPr algn="l" indent="0" marL="0">
              <a:buNone/>
            </a:pPr>
            <a:r>
              <a:rPr lang="en-US" sz="1200" dirty="0">
                <a:solidFill>
                  <a:srgbClr val="1A1A1A"/>
                </a:solidFill>
                <a:latin typeface="Consolas" pitchFamily="34" charset="0"/>
                <a:ea typeface="Consolas" pitchFamily="34" charset="-122"/>
                <a:cs typeface="Consolas" pitchFamily="34" charset="-120"/>
              </a:rPr>
              <a:t>&lt;desc&gt;gold descriptor&lt;/desc&gt;  +  sentence</a:t>
            </a:r>
            <a:endParaRPr lang="en-US" sz="1200" dirty="0"/>
          </a:p>
        </p:txBody>
      </p:sp>
      <p:sp>
        <p:nvSpPr>
          <p:cNvPr id="6" name="Text 4"/>
          <p:cNvSpPr/>
          <p:nvPr/>
        </p:nvSpPr>
        <p:spPr>
          <a:xfrm>
            <a:off x="731520" y="1207008"/>
            <a:ext cx="7680960" cy="347472"/>
          </a:xfrm>
          <a:prstGeom prst="rect">
            <a:avLst/>
          </a:prstGeom>
          <a:noFill/>
          <a:ln/>
        </p:spPr>
        <p:txBody>
          <a:bodyPr wrap="square" lIns="0" tIns="0" rIns="0" bIns="0" rtlCol="0" anchor="t"/>
          <a:lstStyle/>
          <a:p>
            <a:pPr algn="l" indent="0" marL="0">
              <a:buNone/>
            </a:pPr>
            <a:r>
              <a:rPr lang="en-US" sz="1200" b="1" dirty="0">
                <a:solidFill>
                  <a:srgbClr val="B22222"/>
                </a:solidFill>
                <a:latin typeface="Cambria" pitchFamily="34" charset="0"/>
                <a:ea typeface="Cambria" pitchFamily="34" charset="-122"/>
                <a:cs typeface="Cambria" pitchFamily="34" charset="-120"/>
              </a:rPr>
              <a:t>rejected  </a:t>
            </a:r>
            <a:pPr algn="l" indent="0" marL="0">
              <a:buNone/>
            </a:pPr>
            <a:r>
              <a:rPr lang="en-US" sz="1200" dirty="0">
                <a:solidFill>
                  <a:srgbClr val="1A1A1A"/>
                </a:solidFill>
                <a:latin typeface="Consolas" pitchFamily="34" charset="0"/>
                <a:ea typeface="Consolas" pitchFamily="34" charset="-122"/>
                <a:cs typeface="Consolas" pitchFamily="34" charset="-120"/>
              </a:rPr>
              <a:t>&lt;desc&gt;wrong descriptor&lt;/desc&gt;  +  the same sentence, verbatim</a:t>
            </a:r>
            <a:endParaRPr lang="en-US" sz="1200" dirty="0"/>
          </a:p>
        </p:txBody>
      </p:sp>
      <p:sp>
        <p:nvSpPr>
          <p:cNvPr id="7" name="Text 5"/>
          <p:cNvSpPr/>
          <p:nvPr/>
        </p:nvSpPr>
        <p:spPr>
          <a:xfrm>
            <a:off x="502920" y="1755648"/>
            <a:ext cx="8138160" cy="274320"/>
          </a:xfrm>
          <a:prstGeom prst="rect">
            <a:avLst/>
          </a:prstGeom>
          <a:noFill/>
          <a:ln/>
        </p:spPr>
        <p:txBody>
          <a:bodyPr wrap="square" lIns="0" tIns="0" rIns="0" bIns="0" rtlCol="0" anchor="t"/>
          <a:lstStyle/>
          <a:p>
            <a:pPr algn="l" indent="0" marL="0">
              <a:buNone/>
            </a:pPr>
            <a:r>
              <a:rPr lang="en-US" sz="1250" i="1" dirty="0">
                <a:solidFill>
                  <a:srgbClr val="322164"/>
                </a:solidFill>
                <a:latin typeface="Cambria" pitchFamily="34" charset="0"/>
                <a:ea typeface="Cambria" pitchFamily="34" charset="-122"/>
                <a:cs typeface="Cambria" pitchFamily="34" charset="-120"/>
              </a:rPr>
              <a:t>The preference term can be reduced only by choosing the right element.</a:t>
            </a:r>
            <a:endParaRPr lang="en-US" sz="1250" dirty="0"/>
          </a:p>
        </p:txBody>
      </p:sp>
      <p:sp>
        <p:nvSpPr>
          <p:cNvPr id="8" name="Shape 6"/>
          <p:cNvSpPr/>
          <p:nvPr/>
        </p:nvSpPr>
        <p:spPr>
          <a:xfrm>
            <a:off x="960120" y="2148840"/>
            <a:ext cx="192024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960120" y="2203704"/>
            <a:ext cx="1920240" cy="274320"/>
          </a:xfrm>
          <a:prstGeom prst="rect">
            <a:avLst/>
          </a:prstGeom>
          <a:noFill/>
          <a:ln/>
        </p:spPr>
        <p:txBody>
          <a:bodyPr wrap="square" lIns="0" tIns="0" rIns="0" bIns="0" rtlCol="0" anchor="t"/>
          <a:lstStyle/>
          <a:p>
            <a:pPr algn="ctr" indent="0" marL="0">
              <a:buNone/>
            </a:pPr>
            <a:r>
              <a:rPr lang="en-US" sz="1250" b="1" dirty="0">
                <a:solidFill>
                  <a:srgbClr val="322164"/>
                </a:solidFill>
                <a:latin typeface="Cambria" pitchFamily="34" charset="0"/>
                <a:ea typeface="Cambria" pitchFamily="34" charset="-122"/>
                <a:cs typeface="Cambria" pitchFamily="34" charset="-120"/>
              </a:rPr>
              <a:t>S2</a:t>
            </a:r>
            <a:endParaRPr lang="en-US" sz="1250" dirty="0"/>
          </a:p>
        </p:txBody>
      </p:sp>
      <p:sp>
        <p:nvSpPr>
          <p:cNvPr id="10" name="Text 8"/>
          <p:cNvSpPr/>
          <p:nvPr/>
        </p:nvSpPr>
        <p:spPr>
          <a:xfrm>
            <a:off x="960120" y="2496312"/>
            <a:ext cx="1920240" cy="384048"/>
          </a:xfrm>
          <a:prstGeom prst="rect">
            <a:avLst/>
          </a:prstGeom>
          <a:noFill/>
          <a:ln/>
        </p:spPr>
        <p:txBody>
          <a:bodyPr wrap="square" lIns="0" tIns="0" rIns="0" bIns="0" rtlCol="0" anchor="t"/>
          <a:lstStyle/>
          <a:p>
            <a:pPr algn="ctr" indent="0" marL="0">
              <a:buNone/>
            </a:pPr>
            <a:r>
              <a:rPr lang="en-US" sz="1800" b="1" dirty="0">
                <a:solidFill>
                  <a:srgbClr val="1A1A1A"/>
                </a:solidFill>
                <a:latin typeface="Cambria" pitchFamily="34" charset="0"/>
                <a:ea typeface="Cambria" pitchFamily="34" charset="-122"/>
                <a:cs typeface="Cambria" pitchFamily="34" charset="-120"/>
              </a:rPr>
              <a:t>57.2</a:t>
            </a:r>
            <a:endParaRPr lang="en-US" sz="1800" dirty="0"/>
          </a:p>
        </p:txBody>
      </p:sp>
      <p:sp>
        <p:nvSpPr>
          <p:cNvPr id="11" name="Shape 9"/>
          <p:cNvSpPr/>
          <p:nvPr/>
        </p:nvSpPr>
        <p:spPr>
          <a:xfrm>
            <a:off x="2971800" y="2560320"/>
            <a:ext cx="594360" cy="0"/>
          </a:xfrm>
          <a:prstGeom prst="line">
            <a:avLst/>
          </a:prstGeom>
          <a:noFill/>
          <a:ln w="25400">
            <a:solidFill>
              <a:srgbClr val="4F417A"/>
            </a:solidFill>
            <a:prstDash val="solid"/>
            <a:tailEnd type="triangle"/>
          </a:ln>
        </p:spPr>
      </p:sp>
      <p:sp>
        <p:nvSpPr>
          <p:cNvPr id="12" name="Shape 10"/>
          <p:cNvSpPr/>
          <p:nvPr/>
        </p:nvSpPr>
        <p:spPr>
          <a:xfrm>
            <a:off x="3657600" y="2148840"/>
            <a:ext cx="192024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3657600" y="2203704"/>
            <a:ext cx="1920240" cy="274320"/>
          </a:xfrm>
          <a:prstGeom prst="rect">
            <a:avLst/>
          </a:prstGeom>
          <a:noFill/>
          <a:ln/>
        </p:spPr>
        <p:txBody>
          <a:bodyPr wrap="square" lIns="0" tIns="0" rIns="0" bIns="0" rtlCol="0" anchor="t"/>
          <a:lstStyle/>
          <a:p>
            <a:pPr algn="ctr" indent="0" marL="0">
              <a:buNone/>
            </a:pPr>
            <a:r>
              <a:rPr lang="en-US" sz="1250" b="1" dirty="0">
                <a:solidFill>
                  <a:srgbClr val="322164"/>
                </a:solidFill>
                <a:latin typeface="Cambria" pitchFamily="34" charset="0"/>
                <a:ea typeface="Cambria" pitchFamily="34" charset="-122"/>
                <a:cs typeface="Cambria" pitchFamily="34" charset="-120"/>
              </a:rPr>
              <a:t>CE2  control</a:t>
            </a:r>
            <a:endParaRPr lang="en-US" sz="1250" dirty="0"/>
          </a:p>
        </p:txBody>
      </p:sp>
      <p:sp>
        <p:nvSpPr>
          <p:cNvPr id="14" name="Text 12"/>
          <p:cNvSpPr/>
          <p:nvPr/>
        </p:nvSpPr>
        <p:spPr>
          <a:xfrm>
            <a:off x="3657600" y="2496312"/>
            <a:ext cx="1920240" cy="384048"/>
          </a:xfrm>
          <a:prstGeom prst="rect">
            <a:avLst/>
          </a:prstGeom>
          <a:noFill/>
          <a:ln/>
        </p:spPr>
        <p:txBody>
          <a:bodyPr wrap="square" lIns="0" tIns="0" rIns="0" bIns="0" rtlCol="0" anchor="t"/>
          <a:lstStyle/>
          <a:p>
            <a:pPr algn="ctr" indent="0" marL="0">
              <a:buNone/>
            </a:pPr>
            <a:r>
              <a:rPr lang="en-US" sz="1800" b="1" dirty="0">
                <a:solidFill>
                  <a:srgbClr val="1A1A1A"/>
                </a:solidFill>
                <a:latin typeface="Cambria" pitchFamily="34" charset="0"/>
                <a:ea typeface="Cambria" pitchFamily="34" charset="-122"/>
                <a:cs typeface="Cambria" pitchFamily="34" charset="-120"/>
              </a:rPr>
              <a:t>59.4</a:t>
            </a:r>
            <a:endParaRPr lang="en-US" sz="1800" dirty="0"/>
          </a:p>
        </p:txBody>
      </p:sp>
      <p:sp>
        <p:nvSpPr>
          <p:cNvPr id="15" name="Shape 13"/>
          <p:cNvSpPr/>
          <p:nvPr/>
        </p:nvSpPr>
        <p:spPr>
          <a:xfrm>
            <a:off x="5669280" y="2560320"/>
            <a:ext cx="594360" cy="0"/>
          </a:xfrm>
          <a:prstGeom prst="line">
            <a:avLst/>
          </a:prstGeom>
          <a:noFill/>
          <a:ln w="25400">
            <a:solidFill>
              <a:srgbClr val="4F417A"/>
            </a:solidFill>
            <a:prstDash val="solid"/>
            <a:tailEnd type="triangle"/>
          </a:ln>
        </p:spPr>
      </p:sp>
      <p:sp>
        <p:nvSpPr>
          <p:cNvPr id="16" name="Shape 14"/>
          <p:cNvSpPr/>
          <p:nvPr/>
        </p:nvSpPr>
        <p:spPr>
          <a:xfrm>
            <a:off x="6355080" y="2148840"/>
            <a:ext cx="1920240" cy="822960"/>
          </a:xfrm>
          <a:prstGeom prst="roundRect">
            <a:avLst>
              <a:gd name="adj" fmla="val 6667"/>
            </a:avLst>
          </a:prstGeom>
          <a:solidFill>
            <a:srgbClr val="322164"/>
          </a:solidFill>
          <a:ln/>
          <a:effectLst>
            <a:outerShdw sx="100000" sy="100000" kx="0" ky="0" algn="bl" rotWithShape="0" blurRad="63500" dist="31750" dir="2700000">
              <a:srgbClr val="8C8C99">
                <a:alpha val="45000"/>
              </a:srgbClr>
            </a:outerShdw>
          </a:effectLst>
        </p:spPr>
      </p:sp>
      <p:sp>
        <p:nvSpPr>
          <p:cNvPr id="17" name="Text 15"/>
          <p:cNvSpPr/>
          <p:nvPr/>
        </p:nvSpPr>
        <p:spPr>
          <a:xfrm>
            <a:off x="6355080" y="2203704"/>
            <a:ext cx="1920240" cy="27432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MIN  preference</a:t>
            </a:r>
            <a:endParaRPr lang="en-US" sz="1250" dirty="0"/>
          </a:p>
        </p:txBody>
      </p:sp>
      <p:sp>
        <p:nvSpPr>
          <p:cNvPr id="18" name="Text 16"/>
          <p:cNvSpPr/>
          <p:nvPr/>
        </p:nvSpPr>
        <p:spPr>
          <a:xfrm>
            <a:off x="6355080" y="2496312"/>
            <a:ext cx="1920240" cy="384048"/>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60.0</a:t>
            </a:r>
            <a:endParaRPr lang="en-US" sz="1800" dirty="0"/>
          </a:p>
        </p:txBody>
      </p:sp>
      <p:sp>
        <p:nvSpPr>
          <p:cNvPr id="19" name="Text 17"/>
          <p:cNvSpPr/>
          <p:nvPr/>
        </p:nvSpPr>
        <p:spPr>
          <a:xfrm>
            <a:off x="2880360" y="3017520"/>
            <a:ext cx="1920240" cy="685800"/>
          </a:xfrm>
          <a:prstGeom prst="rect">
            <a:avLst/>
          </a:prstGeom>
          <a:noFill/>
          <a:ln/>
        </p:spPr>
        <p:txBody>
          <a:bodyPr wrap="square" lIns="0" tIns="0" rIns="0" bIns="0" rtlCol="0" anchor="t"/>
          <a:lstStyle/>
          <a:p>
            <a:pPr algn="ctr" indent="0" marL="0">
              <a:lnSpc>
                <a:spcPct val="120000"/>
              </a:lnSpc>
              <a:buNone/>
            </a:pPr>
            <a:r>
              <a:rPr lang="en-US" sz="1100" dirty="0">
                <a:solidFill>
                  <a:srgbClr val="990000"/>
                </a:solidFill>
                <a:latin typeface="Cambria" pitchFamily="34" charset="0"/>
                <a:ea typeface="Cambria" pitchFamily="34" charset="-122"/>
                <a:cs typeface="Cambria" pitchFamily="34" charset="-120"/>
              </a:rPr>
              <a:t>+2.24</a:t>
            </a:r>
            <a:endParaRPr lang="en-US" sz="1100" dirty="0"/>
          </a:p>
          <a:p>
            <a:pPr algn="ctr" indent="0" marL="0">
              <a:lnSpc>
                <a:spcPct val="120000"/>
              </a:lnSpc>
              <a:buNone/>
            </a:pPr>
            <a:r>
              <a:rPr lang="en-US" sz="1100" dirty="0">
                <a:solidFill>
                  <a:srgbClr val="990000"/>
                </a:solidFill>
                <a:latin typeface="Cambria" pitchFamily="34" charset="0"/>
                <a:ea typeface="Cambria" pitchFamily="34" charset="-122"/>
                <a:cs typeface="Cambria" pitchFamily="34" charset="-120"/>
              </a:rPr>
              <a:t>800 supervised updates,</a:t>
            </a:r>
            <a:endParaRPr lang="en-US" sz="1100" dirty="0"/>
          </a:p>
          <a:p>
            <a:pPr algn="ctr" indent="0" marL="0">
              <a:lnSpc>
                <a:spcPct val="120000"/>
              </a:lnSpc>
              <a:buNone/>
            </a:pPr>
            <a:r>
              <a:rPr lang="en-US" sz="1100" dirty="0">
                <a:solidFill>
                  <a:srgbClr val="990000"/>
                </a:solidFill>
                <a:latin typeface="Cambria" pitchFamily="34" charset="0"/>
                <a:ea typeface="Cambria" pitchFamily="34" charset="-122"/>
                <a:cs typeface="Cambria" pitchFamily="34" charset="-120"/>
              </a:rPr>
              <a:t>no preference term</a:t>
            </a:r>
            <a:endParaRPr lang="en-US" sz="1100" dirty="0"/>
          </a:p>
        </p:txBody>
      </p:sp>
      <p:sp>
        <p:nvSpPr>
          <p:cNvPr id="20" name="Text 18"/>
          <p:cNvSpPr/>
          <p:nvPr/>
        </p:nvSpPr>
        <p:spPr>
          <a:xfrm>
            <a:off x="5577840" y="3017520"/>
            <a:ext cx="1920240" cy="685800"/>
          </a:xfrm>
          <a:prstGeom prst="rect">
            <a:avLst/>
          </a:prstGeom>
          <a:noFill/>
          <a:ln/>
        </p:spPr>
        <p:txBody>
          <a:bodyPr wrap="square" lIns="0" tIns="0" rIns="0" bIns="0" rtlCol="0" anchor="t"/>
          <a:lstStyle/>
          <a:p>
            <a:pPr algn="ctr" indent="0" marL="0">
              <a:lnSpc>
                <a:spcPct val="120000"/>
              </a:lnSpc>
              <a:buNone/>
            </a:pPr>
            <a:r>
              <a:rPr lang="en-US" sz="1100" dirty="0">
                <a:solidFill>
                  <a:srgbClr val="990000"/>
                </a:solidFill>
                <a:latin typeface="Cambria" pitchFamily="34" charset="0"/>
                <a:ea typeface="Cambria" pitchFamily="34" charset="-122"/>
                <a:cs typeface="Cambria" pitchFamily="34" charset="-120"/>
              </a:rPr>
              <a:t>+0.63</a:t>
            </a:r>
            <a:endParaRPr lang="en-US" sz="1100" dirty="0"/>
          </a:p>
          <a:p>
            <a:pPr algn="ctr" indent="0" marL="0">
              <a:lnSpc>
                <a:spcPct val="120000"/>
              </a:lnSpc>
              <a:buNone/>
            </a:pPr>
            <a:r>
              <a:rPr lang="en-US" sz="1100" dirty="0">
                <a:solidFill>
                  <a:srgbClr val="990000"/>
                </a:solidFill>
                <a:latin typeface="Cambria" pitchFamily="34" charset="0"/>
                <a:ea typeface="Cambria" pitchFamily="34" charset="-122"/>
                <a:cs typeface="Cambria" pitchFamily="34" charset="-120"/>
              </a:rPr>
              <a:t>the preference term</a:t>
            </a:r>
            <a:endParaRPr lang="en-US" sz="1100" dirty="0"/>
          </a:p>
          <a:p>
            <a:pPr algn="ctr" indent="0" marL="0">
              <a:lnSpc>
                <a:spcPct val="120000"/>
              </a:lnSpc>
              <a:buNone/>
            </a:pPr>
            <a:r>
              <a:rPr lang="en-US" sz="1100" dirty="0">
                <a:solidFill>
                  <a:srgbClr val="990000"/>
                </a:solidFill>
                <a:latin typeface="Cambria" pitchFamily="34" charset="0"/>
                <a:ea typeface="Cambria" pitchFamily="34" charset="-122"/>
                <a:cs typeface="Cambria" pitchFamily="34" charset="-120"/>
              </a:rPr>
              <a:t>itself</a:t>
            </a:r>
            <a:endParaRPr lang="en-US" sz="1100" dirty="0"/>
          </a:p>
        </p:txBody>
      </p:sp>
      <p:sp>
        <p:nvSpPr>
          <p:cNvPr id="21" name="Shape 19"/>
          <p:cNvSpPr/>
          <p:nvPr/>
        </p:nvSpPr>
        <p:spPr>
          <a:xfrm>
            <a:off x="502920" y="3840480"/>
            <a:ext cx="8138160" cy="658368"/>
          </a:xfrm>
          <a:prstGeom prst="roundRect">
            <a:avLst>
              <a:gd name="adj" fmla="val 8333"/>
            </a:avLst>
          </a:prstGeom>
          <a:solidFill>
            <a:srgbClr val="E9E8EC"/>
          </a:solidFill>
          <a:ln/>
          <a:effectLst>
            <a:outerShdw sx="100000" sy="100000" kx="0" ky="0" algn="bl" rotWithShape="0" blurRad="63500" dist="31750" dir="2700000">
              <a:srgbClr val="8C8C99">
                <a:alpha val="45000"/>
              </a:srgbClr>
            </a:outerShdw>
          </a:effectLst>
        </p:spPr>
      </p:sp>
      <p:sp>
        <p:nvSpPr>
          <p:cNvPr id="22" name="Text 20"/>
          <p:cNvSpPr/>
          <p:nvPr/>
        </p:nvSpPr>
        <p:spPr>
          <a:xfrm>
            <a:off x="731520" y="3840480"/>
            <a:ext cx="7680960" cy="658368"/>
          </a:xfrm>
          <a:prstGeom prst="rect">
            <a:avLst/>
          </a:prstGeom>
          <a:noFill/>
          <a:ln/>
        </p:spPr>
        <p:txBody>
          <a:bodyPr wrap="square" lIns="0" tIns="0" rIns="0" bIns="0" rtlCol="0" anchor="ctr"/>
          <a:lstStyle/>
          <a:p>
            <a:pPr algn="l" indent="0" marL="0">
              <a:buNone/>
            </a:pPr>
            <a:r>
              <a:rPr lang="en-US" sz="1350" b="1" dirty="0">
                <a:solidFill>
                  <a:srgbClr val="B22222"/>
                </a:solidFill>
                <a:latin typeface="Cambria" pitchFamily="34" charset="0"/>
                <a:ea typeface="Cambria" pitchFamily="34" charset="-122"/>
                <a:cs typeface="Cambria" pitchFamily="34" charset="-120"/>
              </a:rPr>
              <a:t>Of the +2.87 pp the stage gains in total, 78% belongs to the control. At the descriptor layer the split is 88/12.</a:t>
            </a:r>
            <a:endParaRPr lang="en-US" sz="1350" dirty="0"/>
          </a:p>
        </p:txBody>
      </p:sp>
      <p:sp>
        <p:nvSpPr>
          <p:cNvPr id="23" name="Shape 21"/>
          <p:cNvSpPr/>
          <p:nvPr/>
        </p:nvSpPr>
        <p:spPr>
          <a:xfrm>
            <a:off x="502920" y="4617720"/>
            <a:ext cx="8129016" cy="347472"/>
          </a:xfrm>
          <a:prstGeom prst="rect">
            <a:avLst/>
          </a:prstGeom>
          <a:solidFill>
            <a:srgbClr val="322164"/>
          </a:solidFill>
          <a:ln/>
        </p:spPr>
      </p:sp>
      <p:sp>
        <p:nvSpPr>
          <p:cNvPr id="24" name="Text 22"/>
          <p:cNvSpPr/>
          <p:nvPr/>
        </p:nvSpPr>
        <p:spPr>
          <a:xfrm>
            <a:off x="502920" y="4617720"/>
            <a:ext cx="3291840" cy="347472"/>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Registered contrast</a:t>
            </a:r>
            <a:endParaRPr lang="en-US" sz="1200" dirty="0"/>
          </a:p>
        </p:txBody>
      </p:sp>
      <p:sp>
        <p:nvSpPr>
          <p:cNvPr id="25" name="Text 23"/>
          <p:cNvSpPr/>
          <p:nvPr/>
        </p:nvSpPr>
        <p:spPr>
          <a:xfrm>
            <a:off x="3794760" y="4617720"/>
            <a:ext cx="1371600" cy="347472"/>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Δ</a:t>
            </a:r>
            <a:endParaRPr lang="en-US" sz="1200" dirty="0"/>
          </a:p>
        </p:txBody>
      </p:sp>
      <p:sp>
        <p:nvSpPr>
          <p:cNvPr id="26" name="Text 24"/>
          <p:cNvSpPr/>
          <p:nvPr/>
        </p:nvSpPr>
        <p:spPr>
          <a:xfrm>
            <a:off x="5166360" y="4617720"/>
            <a:ext cx="2011680" cy="347472"/>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95% CI</a:t>
            </a:r>
            <a:endParaRPr lang="en-US" sz="1200" dirty="0"/>
          </a:p>
        </p:txBody>
      </p:sp>
      <p:sp>
        <p:nvSpPr>
          <p:cNvPr id="27" name="Text 25"/>
          <p:cNvSpPr/>
          <p:nvPr/>
        </p:nvSpPr>
        <p:spPr>
          <a:xfrm>
            <a:off x="7178040" y="4617720"/>
            <a:ext cx="1453896" cy="347472"/>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t>
            </a:r>
            <a:endParaRPr lang="en-US" sz="1200" dirty="0"/>
          </a:p>
        </p:txBody>
      </p:sp>
      <p:sp>
        <p:nvSpPr>
          <p:cNvPr id="28" name="Text 26"/>
          <p:cNvSpPr/>
          <p:nvPr/>
        </p:nvSpPr>
        <p:spPr>
          <a:xfrm>
            <a:off x="502920" y="4965192"/>
            <a:ext cx="3291840" cy="384048"/>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MIN − CE2  (primary)</a:t>
            </a:r>
            <a:endParaRPr lang="en-US" sz="1250" dirty="0"/>
          </a:p>
        </p:txBody>
      </p:sp>
      <p:sp>
        <p:nvSpPr>
          <p:cNvPr id="29" name="Text 27"/>
          <p:cNvSpPr/>
          <p:nvPr/>
        </p:nvSpPr>
        <p:spPr>
          <a:xfrm>
            <a:off x="3794760" y="4965192"/>
            <a:ext cx="1371600" cy="384048"/>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+0.63</a:t>
            </a:r>
            <a:endParaRPr lang="en-US" sz="1250" dirty="0"/>
          </a:p>
        </p:txBody>
      </p:sp>
      <p:sp>
        <p:nvSpPr>
          <p:cNvPr id="30" name="Text 28"/>
          <p:cNvSpPr/>
          <p:nvPr/>
        </p:nvSpPr>
        <p:spPr>
          <a:xfrm>
            <a:off x="5166360" y="4965192"/>
            <a:ext cx="2011680"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[+0.16, +1.10]</a:t>
            </a:r>
            <a:endParaRPr lang="en-US" sz="1250" dirty="0"/>
          </a:p>
        </p:txBody>
      </p:sp>
      <p:sp>
        <p:nvSpPr>
          <p:cNvPr id="31" name="Text 29"/>
          <p:cNvSpPr/>
          <p:nvPr/>
        </p:nvSpPr>
        <p:spPr>
          <a:xfrm>
            <a:off x="7178040" y="4965192"/>
            <a:ext cx="1453896" cy="384048"/>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0.011</a:t>
            </a:r>
            <a:endParaRPr lang="en-US" sz="1250" dirty="0"/>
          </a:p>
        </p:txBody>
      </p:sp>
      <p:sp>
        <p:nvSpPr>
          <p:cNvPr id="32" name="Shape 30"/>
          <p:cNvSpPr/>
          <p:nvPr/>
        </p:nvSpPr>
        <p:spPr>
          <a:xfrm>
            <a:off x="502920" y="5349240"/>
            <a:ext cx="8129016" cy="0"/>
          </a:xfrm>
          <a:prstGeom prst="line">
            <a:avLst/>
          </a:prstGeom>
          <a:noFill/>
          <a:ln w="12700">
            <a:solidFill>
              <a:srgbClr val="9A94AE"/>
            </a:solidFill>
            <a:prstDash val="solid"/>
          </a:ln>
        </p:spPr>
      </p:sp>
      <p:sp>
        <p:nvSpPr>
          <p:cNvPr id="33" name="Text 31"/>
          <p:cNvSpPr/>
          <p:nvPr/>
        </p:nvSpPr>
        <p:spPr>
          <a:xfrm>
            <a:off x="502920" y="5349240"/>
            <a:ext cx="329184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MIN − S1</a:t>
            </a:r>
            <a:endParaRPr lang="en-US" sz="1250" dirty="0"/>
          </a:p>
        </p:txBody>
      </p:sp>
      <p:sp>
        <p:nvSpPr>
          <p:cNvPr id="34" name="Text 32"/>
          <p:cNvSpPr/>
          <p:nvPr/>
        </p:nvSpPr>
        <p:spPr>
          <a:xfrm>
            <a:off x="3794760" y="5349240"/>
            <a:ext cx="137160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+0.94</a:t>
            </a:r>
            <a:endParaRPr lang="en-US" sz="1250" dirty="0"/>
          </a:p>
        </p:txBody>
      </p:sp>
      <p:sp>
        <p:nvSpPr>
          <p:cNvPr id="35" name="Text 33"/>
          <p:cNvSpPr/>
          <p:nvPr/>
        </p:nvSpPr>
        <p:spPr>
          <a:xfrm>
            <a:off x="5166360" y="5349240"/>
            <a:ext cx="201168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[−0.09, +2.05]</a:t>
            </a:r>
            <a:endParaRPr lang="en-US" sz="1250" dirty="0"/>
          </a:p>
        </p:txBody>
      </p:sp>
      <p:sp>
        <p:nvSpPr>
          <p:cNvPr id="36" name="Text 34"/>
          <p:cNvSpPr/>
          <p:nvPr/>
        </p:nvSpPr>
        <p:spPr>
          <a:xfrm>
            <a:off x="7178040" y="5349240"/>
            <a:ext cx="1453896"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0.11</a:t>
            </a:r>
            <a:endParaRPr lang="en-US" sz="1250" dirty="0"/>
          </a:p>
        </p:txBody>
      </p:sp>
      <p:sp>
        <p:nvSpPr>
          <p:cNvPr id="37" name="Shape 35"/>
          <p:cNvSpPr/>
          <p:nvPr/>
        </p:nvSpPr>
        <p:spPr>
          <a:xfrm>
            <a:off x="502920" y="5779008"/>
            <a:ext cx="8138160" cy="731520"/>
          </a:xfrm>
          <a:prstGeom prst="roundRect">
            <a:avLst>
              <a:gd name="adj" fmla="val 7500"/>
            </a:avLst>
          </a:prstGeom>
          <a:solidFill>
            <a:srgbClr val="E9E8EC"/>
          </a:solidFill>
          <a:ln/>
          <a:effectLst>
            <a:outerShdw sx="100000" sy="100000" kx="0" ky="0" algn="bl" rotWithShape="0" blurRad="63500" dist="31750" dir="2700000">
              <a:srgbClr val="8C8C99">
                <a:alpha val="45000"/>
              </a:srgbClr>
            </a:outerShdw>
          </a:effectLst>
        </p:spPr>
      </p:sp>
      <p:sp>
        <p:nvSpPr>
          <p:cNvPr id="38" name="Text 36"/>
          <p:cNvSpPr/>
          <p:nvPr/>
        </p:nvSpPr>
        <p:spPr>
          <a:xfrm>
            <a:off x="731520" y="5779008"/>
            <a:ext cx="7680960" cy="731520"/>
          </a:xfrm>
          <a:prstGeom prst="rect">
            <a:avLst/>
          </a:prstGeom>
          <a:noFill/>
          <a:ln/>
        </p:spPr>
        <p:txBody>
          <a:bodyPr wrap="square" lIns="0" tIns="0" rIns="0" bIns="0" rtlCol="0" anchor="ctr"/>
          <a:lstStyle/>
          <a:p>
            <a:pPr algn="l" indent="0" marL="0">
              <a:lnSpc>
                <a:spcPct val="130000"/>
              </a:lnSpc>
              <a:buNone/>
            </a:pPr>
            <a:r>
              <a:rPr lang="en-US" sz="1200" b="1" dirty="0">
                <a:solidFill>
                  <a:srgbClr val="990000"/>
                </a:solidFill>
                <a:latin typeface="Cambria" pitchFamily="34" charset="0"/>
                <a:ea typeface="Cambria" pitchFamily="34" charset="-122"/>
                <a:cs typeface="Cambria" pitchFamily="34" charset="-120"/>
              </a:rPr>
              <a:t>Inconclusive again:</a:t>
            </a:r>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  +0.63 sits below the 2.11 pp detectable effect for a one-seed design and is 1.4× the seed term. A registered on-policy variant never trained at all, stopped by its feasibility check at 3.3% usable pairs against a 25% threshold.</a:t>
            </a:r>
            <a:endParaRPr lang="en-US" sz="1200" dirty="0"/>
          </a:p>
        </p:txBody>
      </p:sp>
      <p:sp>
        <p:nvSpPr>
          <p:cNvPr id="40" name="Shape 37"/>
          <p:cNvSpPr/>
          <p:nvPr/>
        </p:nvSpPr>
        <p:spPr>
          <a:xfrm>
            <a:off x="0" y="6620256"/>
            <a:ext cx="2194560" cy="237744"/>
          </a:xfrm>
          <a:prstGeom prst="rect">
            <a:avLst/>
          </a:prstGeom>
          <a:solidFill>
            <a:srgbClr val="191132"/>
          </a:solidFill>
          <a:ln/>
        </p:spPr>
      </p:sp>
      <p:sp>
        <p:nvSpPr>
          <p:cNvPr id="41" name="Shape 38"/>
          <p:cNvSpPr/>
          <p:nvPr/>
        </p:nvSpPr>
        <p:spPr>
          <a:xfrm>
            <a:off x="2194560" y="6620256"/>
            <a:ext cx="3931920" cy="237744"/>
          </a:xfrm>
          <a:prstGeom prst="rect">
            <a:avLst/>
          </a:prstGeom>
          <a:solidFill>
            <a:srgbClr val="25194B"/>
          </a:solidFill>
          <a:ln/>
        </p:spPr>
      </p:sp>
      <p:sp>
        <p:nvSpPr>
          <p:cNvPr id="42" name="Shape 39"/>
          <p:cNvSpPr/>
          <p:nvPr/>
        </p:nvSpPr>
        <p:spPr>
          <a:xfrm>
            <a:off x="6126480" y="6620256"/>
            <a:ext cx="1737360" cy="237744"/>
          </a:xfrm>
          <a:prstGeom prst="rect">
            <a:avLst/>
          </a:prstGeom>
          <a:solidFill>
            <a:srgbClr val="4F417A"/>
          </a:solidFill>
          <a:ln/>
        </p:spPr>
      </p:sp>
      <p:sp>
        <p:nvSpPr>
          <p:cNvPr id="43" name="Shape 40"/>
          <p:cNvSpPr/>
          <p:nvPr/>
        </p:nvSpPr>
        <p:spPr>
          <a:xfrm>
            <a:off x="7863840" y="6620256"/>
            <a:ext cx="1280160" cy="237744"/>
          </a:xfrm>
          <a:prstGeom prst="rect">
            <a:avLst/>
          </a:prstGeom>
          <a:solidFill>
            <a:srgbClr val="7A7099"/>
          </a:solidFill>
          <a:ln/>
        </p:spPr>
      </p:sp>
      <p:sp>
        <p:nvSpPr>
          <p:cNvPr id="44" name="Text 41"/>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45" name="Text 42"/>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46" name="Text 4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7" name="Text 4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15/17</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Conclusion</a:t>
            </a:r>
            <a:endParaRPr lang="en-US" sz="1900" dirty="0"/>
          </a:p>
        </p:txBody>
      </p:sp>
      <p:sp>
        <p:nvSpPr>
          <p:cNvPr id="4" name="Shape 2"/>
          <p:cNvSpPr/>
          <p:nvPr/>
        </p:nvSpPr>
        <p:spPr>
          <a:xfrm>
            <a:off x="502920" y="868680"/>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960120"/>
            <a:ext cx="1828800" cy="292608"/>
          </a:xfrm>
          <a:prstGeom prst="rect">
            <a:avLst/>
          </a:prstGeom>
          <a:noFill/>
          <a:ln/>
        </p:spPr>
        <p:txBody>
          <a:bodyPr wrap="square" lIns="0" tIns="0" rIns="0" bIns="0" rtlCol="0" anchor="t"/>
          <a:lstStyle/>
          <a:p>
            <a:pPr algn="l" indent="0" marL="0">
              <a:buNone/>
            </a:pPr>
            <a:r>
              <a:rPr lang="en-US" sz="1400" b="1" dirty="0">
                <a:solidFill>
                  <a:srgbClr val="006666"/>
                </a:solidFill>
                <a:latin typeface="Cambria" pitchFamily="34" charset="0"/>
                <a:ea typeface="Cambria" pitchFamily="34" charset="-122"/>
                <a:cs typeface="Cambria" pitchFamily="34" charset="-120"/>
              </a:rPr>
              <a:t>Instrument</a:t>
            </a:r>
            <a:endParaRPr lang="en-US" sz="1400" dirty="0"/>
          </a:p>
        </p:txBody>
      </p:sp>
      <p:sp>
        <p:nvSpPr>
          <p:cNvPr id="6" name="Text 4"/>
          <p:cNvSpPr/>
          <p:nvPr/>
        </p:nvSpPr>
        <p:spPr>
          <a:xfrm>
            <a:off x="685800" y="1289304"/>
            <a:ext cx="7772400" cy="566928"/>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Executability, calibrated at both ends: a measured ceiling of 75.7 and a measured floor of 12.0, with a wrong-screen control at 6.1 on disjoint intervals.</a:t>
            </a:r>
            <a:endParaRPr lang="en-US" sz="1250" dirty="0"/>
          </a:p>
        </p:txBody>
      </p:sp>
      <p:sp>
        <p:nvSpPr>
          <p:cNvPr id="7" name="Shape 5"/>
          <p:cNvSpPr/>
          <p:nvPr/>
        </p:nvSpPr>
        <p:spPr>
          <a:xfrm>
            <a:off x="502920" y="2039112"/>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685800" y="2130552"/>
            <a:ext cx="1828800" cy="292608"/>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Result</a:t>
            </a:r>
            <a:endParaRPr lang="en-US" sz="1400" dirty="0"/>
          </a:p>
        </p:txBody>
      </p:sp>
      <p:sp>
        <p:nvSpPr>
          <p:cNvPr id="9" name="Text 7"/>
          <p:cNvSpPr/>
          <p:nvPr/>
        </p:nvSpPr>
        <p:spPr>
          <a:xfrm>
            <a:off x="685800" y="2459736"/>
            <a:ext cx="7772400" cy="566928"/>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Supervision assembled without new annotation moves the model 47.6 → 59.4 over two seeds, 22 times the seed noise, and the sign holds under a second grounder.</a:t>
            </a:r>
            <a:endParaRPr lang="en-US" sz="1250" dirty="0"/>
          </a:p>
        </p:txBody>
      </p:sp>
      <p:sp>
        <p:nvSpPr>
          <p:cNvPr id="10" name="Shape 8"/>
          <p:cNvSpPr/>
          <p:nvPr/>
        </p:nvSpPr>
        <p:spPr>
          <a:xfrm>
            <a:off x="502920" y="3209544"/>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685800" y="3300984"/>
            <a:ext cx="1828800" cy="292608"/>
          </a:xfrm>
          <a:prstGeom prst="rect">
            <a:avLst/>
          </a:prstGeom>
          <a:noFill/>
          <a:ln/>
        </p:spPr>
        <p:txBody>
          <a:bodyPr wrap="square" lIns="0" tIns="0" rIns="0" bIns="0" rtlCol="0" anchor="t"/>
          <a:lstStyle/>
          <a:p>
            <a:pPr algn="l" indent="0" marL="0">
              <a:buNone/>
            </a:pPr>
            <a:r>
              <a:rPr lang="en-US" sz="1400" b="1" dirty="0">
                <a:solidFill>
                  <a:srgbClr val="990000"/>
                </a:solidFill>
                <a:latin typeface="Cambria" pitchFamily="34" charset="0"/>
                <a:ea typeface="Cambria" pitchFamily="34" charset="-122"/>
                <a:cs typeface="Cambria" pitchFamily="34" charset="-120"/>
              </a:rPr>
              <a:t>Ablation</a:t>
            </a:r>
            <a:endParaRPr lang="en-US" sz="1400" dirty="0"/>
          </a:p>
        </p:txBody>
      </p:sp>
      <p:sp>
        <p:nvSpPr>
          <p:cNvPr id="12" name="Text 10"/>
          <p:cNvSpPr/>
          <p:nvPr/>
        </p:nvSpPr>
        <p:spPr>
          <a:xfrm>
            <a:off x="685800" y="3630168"/>
            <a:ext cx="7772400" cy="566928"/>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Whether the descriptor prefix helps is a question our own reading rules refuse to answer, and the run that would have answered it was never executed.</a:t>
            </a:r>
            <a:endParaRPr lang="en-US" sz="1250" dirty="0"/>
          </a:p>
        </p:txBody>
      </p:sp>
      <p:sp>
        <p:nvSpPr>
          <p:cNvPr id="13" name="Shape 11"/>
          <p:cNvSpPr/>
          <p:nvPr/>
        </p:nvSpPr>
        <p:spPr>
          <a:xfrm>
            <a:off x="502920" y="4379976"/>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685800" y="4471416"/>
            <a:ext cx="1828800" cy="292608"/>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Condition</a:t>
            </a:r>
            <a:endParaRPr lang="en-US" sz="1400" dirty="0"/>
          </a:p>
        </p:txBody>
      </p:sp>
      <p:sp>
        <p:nvSpPr>
          <p:cNvPr id="15" name="Text 13"/>
          <p:cNvSpPr/>
          <p:nvPr/>
        </p:nvSpPr>
        <p:spPr>
          <a:xfrm>
            <a:off x="685800" y="4800600"/>
            <a:ext cx="7772400" cy="566928"/>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The prefix is worth +5.7 points where identification succeeds and −25 where it fails. What it is worth is conditional on identification accuracy.</a:t>
            </a:r>
            <a:endParaRPr lang="en-US" sz="1250" dirty="0"/>
          </a:p>
        </p:txBody>
      </p:sp>
      <p:sp>
        <p:nvSpPr>
          <p:cNvPr id="16" name="Shape 14"/>
          <p:cNvSpPr/>
          <p:nvPr/>
        </p:nvSpPr>
        <p:spPr>
          <a:xfrm>
            <a:off x="502920" y="5623560"/>
            <a:ext cx="8138160" cy="777240"/>
          </a:xfrm>
          <a:prstGeom prst="roundRect">
            <a:avLst>
              <a:gd name="adj" fmla="val 7059"/>
            </a:avLst>
          </a:prstGeom>
          <a:solidFill>
            <a:srgbClr val="E9E8EC"/>
          </a:solidFill>
          <a:ln/>
          <a:effectLst>
            <a:outerShdw sx="100000" sy="100000" kx="0" ky="0" algn="bl" rotWithShape="0" blurRad="63500" dist="31750" dir="2700000">
              <a:srgbClr val="8C8C99">
                <a:alpha val="45000"/>
              </a:srgbClr>
            </a:outerShdw>
          </a:effectLst>
        </p:spPr>
      </p:sp>
      <p:sp>
        <p:nvSpPr>
          <p:cNvPr id="17" name="Text 15"/>
          <p:cNvSpPr/>
          <p:nvPr/>
        </p:nvSpPr>
        <p:spPr>
          <a:xfrm>
            <a:off x="731520" y="5623560"/>
            <a:ext cx="7680960" cy="777240"/>
          </a:xfrm>
          <a:prstGeom prst="rect">
            <a:avLst/>
          </a:prstGeom>
          <a:noFill/>
          <a:ln/>
        </p:spPr>
        <p:txBody>
          <a:bodyPr wrap="square" lIns="0" tIns="0" rIns="0" bIns="0" rtlCol="0" anchor="ctr"/>
          <a:lstStyle/>
          <a:p>
            <a:pPr algn="l" indent="0" marL="0">
              <a:lnSpc>
                <a:spcPct val="135000"/>
              </a:lnSpc>
              <a:buNone/>
            </a:pPr>
            <a:r>
              <a:rPr lang="en-US" sz="1250" b="1" dirty="0">
                <a:solidFill>
                  <a:srgbClr val="322164"/>
                </a:solidFill>
                <a:latin typeface="Cambria" pitchFamily="34" charset="0"/>
                <a:ea typeface="Cambria" pitchFamily="34" charset="-122"/>
                <a:cs typeface="Cambria" pitchFamily="34" charset="-120"/>
              </a:rPr>
              <a:t>Where the next experiment has to act:</a:t>
            </a:r>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  lifting the failing row to the control's own level on those 738 steps would be worth 4.2 points, the size of effect this study set out to detect.</a:t>
            </a:r>
            <a:endParaRPr lang="en-US" sz="1250" dirty="0"/>
          </a:p>
        </p:txBody>
      </p:sp>
      <p:sp>
        <p:nvSpPr>
          <p:cNvPr id="19" name="Shape 16"/>
          <p:cNvSpPr/>
          <p:nvPr/>
        </p:nvSpPr>
        <p:spPr>
          <a:xfrm>
            <a:off x="0" y="6620256"/>
            <a:ext cx="2194560" cy="237744"/>
          </a:xfrm>
          <a:prstGeom prst="rect">
            <a:avLst/>
          </a:prstGeom>
          <a:solidFill>
            <a:srgbClr val="191132"/>
          </a:solidFill>
          <a:ln/>
        </p:spPr>
      </p:sp>
      <p:sp>
        <p:nvSpPr>
          <p:cNvPr id="20" name="Shape 17"/>
          <p:cNvSpPr/>
          <p:nvPr/>
        </p:nvSpPr>
        <p:spPr>
          <a:xfrm>
            <a:off x="2194560" y="6620256"/>
            <a:ext cx="393192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24" name="Text 21"/>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16/17</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322164"/>
          </a:solidFill>
          <a:ln/>
        </p:spPr>
      </p:sp>
      <p:sp>
        <p:nvSpPr>
          <p:cNvPr id="3" name="Text 1"/>
          <p:cNvSpPr/>
          <p:nvPr/>
        </p:nvSpPr>
        <p:spPr>
          <a:xfrm>
            <a:off x="731520" y="2286000"/>
            <a:ext cx="7680960" cy="731520"/>
          </a:xfrm>
          <a:prstGeom prst="rect">
            <a:avLst/>
          </a:prstGeom>
          <a:noFill/>
          <a:ln/>
        </p:spPr>
        <p:txBody>
          <a:bodyPr wrap="square" lIns="0" tIns="0" rIns="0" bIns="0" rtlCol="0" anchor="t"/>
          <a:lstStyle/>
          <a:p>
            <a:pPr algn="ct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4" name="Text 2"/>
          <p:cNvSpPr/>
          <p:nvPr/>
        </p:nvSpPr>
        <p:spPr>
          <a:xfrm>
            <a:off x="731520" y="3108960"/>
            <a:ext cx="7680960" cy="457200"/>
          </a:xfrm>
          <a:prstGeom prst="rect">
            <a:avLst/>
          </a:prstGeom>
          <a:noFill/>
          <a:ln/>
        </p:spPr>
        <p:txBody>
          <a:bodyPr wrap="square" lIns="0" tIns="0" rIns="0" bIns="0" rtlCol="0" anchor="t"/>
          <a:lstStyle/>
          <a:p>
            <a:pPr algn="ctr" indent="0" marL="0">
              <a:buNone/>
            </a:pPr>
            <a:r>
              <a:rPr lang="en-US" sz="1600" dirty="0">
                <a:solidFill>
                  <a:srgbClr val="D8D4E6"/>
                </a:solidFill>
                <a:latin typeface="Cambria" pitchFamily="34" charset="0"/>
                <a:ea typeface="Cambria" pitchFamily="34" charset="-122"/>
                <a:cs typeface="Cambria" pitchFamily="34" charset="-120"/>
              </a:rPr>
              <a:t>Questions welcome</a:t>
            </a:r>
            <a:endParaRPr lang="en-US" sz="1600" dirty="0"/>
          </a:p>
        </p:txBody>
      </p:sp>
      <p:sp>
        <p:nvSpPr>
          <p:cNvPr id="5" name="Shape 3"/>
          <p:cNvSpPr/>
          <p:nvPr/>
        </p:nvSpPr>
        <p:spPr>
          <a:xfrm>
            <a:off x="3291840" y="3886200"/>
            <a:ext cx="2560320" cy="0"/>
          </a:xfrm>
          <a:prstGeom prst="line">
            <a:avLst/>
          </a:prstGeom>
          <a:noFill/>
          <a:ln w="19050">
            <a:solidFill>
              <a:srgbClr val="7A7099"/>
            </a:solidFill>
            <a:prstDash val="solid"/>
          </a:ln>
        </p:spPr>
      </p:sp>
      <p:sp>
        <p:nvSpPr>
          <p:cNvPr id="6" name="Text 4"/>
          <p:cNvSpPr/>
          <p:nvPr/>
        </p:nvSpPr>
        <p:spPr>
          <a:xfrm>
            <a:off x="731520" y="4160520"/>
            <a:ext cx="7680960" cy="1005840"/>
          </a:xfrm>
          <a:prstGeom prst="rect">
            <a:avLst/>
          </a:prstGeom>
          <a:noFill/>
          <a:ln/>
        </p:spPr>
        <p:txBody>
          <a:bodyPr wrap="square" lIns="0" tIns="0" rIns="0" bIns="0" rtlCol="0" anchor="t"/>
          <a:lstStyle/>
          <a:p>
            <a:pPr algn="ctr" indent="0" marL="0">
              <a:lnSpc>
                <a:spcPct val="145000"/>
              </a:lnSpc>
              <a:buNone/>
            </a:pPr>
            <a:r>
              <a:rPr lang="en-US" sz="1300" dirty="0">
                <a:solidFill>
                  <a:srgbClr val="D8D4E6"/>
                </a:solidFill>
                <a:latin typeface="Cambria" pitchFamily="34" charset="0"/>
                <a:ea typeface="Cambria" pitchFamily="34" charset="-122"/>
                <a:cs typeface="Cambria" pitchFamily="34" charset="-120"/>
              </a:rPr>
              <a:t>Lê Đoàn Phương Uyên   ·   24C15039@student.hcmus.edu.vn</a:t>
            </a:r>
            <a:endParaRPr lang="en-US" sz="1300" dirty="0"/>
          </a:p>
          <a:p>
            <a:pPr algn="ctr" indent="0" marL="0">
              <a:lnSpc>
                <a:spcPct val="145000"/>
              </a:lnSpc>
              <a:buNone/>
            </a:pPr>
            <a:r>
              <a:rPr lang="en-US" sz="1300" dirty="0">
                <a:solidFill>
                  <a:srgbClr val="D8D4E6"/>
                </a:solidFill>
                <a:latin typeface="Cambria" pitchFamily="34" charset="0"/>
                <a:ea typeface="Cambria" pitchFamily="34" charset="-122"/>
                <a:cs typeface="Cambria" pitchFamily="34" charset="-120"/>
              </a:rPr>
              <a:t>Nguyễn Hồng Bửu Long   ·   nhblong@fit.hcmus.edu.vn</a:t>
            </a:r>
            <a:endParaRPr lang="en-US" sz="1300" dirty="0"/>
          </a:p>
          <a:p>
            <a:pPr algn="ctr" indent="0" marL="0">
              <a:lnSpc>
                <a:spcPct val="145000"/>
              </a:lnSpc>
              <a:buNone/>
            </a:pPr>
            <a:r>
              <a:rPr lang="en-US" sz="1300" dirty="0">
                <a:solidFill>
                  <a:srgbClr val="D8D4E6"/>
                </a:solidFill>
                <a:latin typeface="Cambria" pitchFamily="34" charset="0"/>
                <a:ea typeface="Cambria" pitchFamily="34" charset="-122"/>
                <a:cs typeface="Cambria" pitchFamily="34" charset="-120"/>
              </a:rPr>
              <a:t>Faculty of Information Technology, University of Science, VNU-HCM</a:t>
            </a:r>
            <a:endParaRPr lang="en-US" sz="1300" dirty="0"/>
          </a:p>
        </p:txBody>
      </p:sp>
      <p:sp>
        <p:nvSpPr>
          <p:cNvPr id="8" name="Shape 5"/>
          <p:cNvSpPr/>
          <p:nvPr/>
        </p:nvSpPr>
        <p:spPr>
          <a:xfrm>
            <a:off x="0" y="6620256"/>
            <a:ext cx="2194560" cy="237744"/>
          </a:xfrm>
          <a:prstGeom prst="rect">
            <a:avLst/>
          </a:prstGeom>
          <a:solidFill>
            <a:srgbClr val="191132"/>
          </a:solidFill>
          <a:ln/>
        </p:spPr>
      </p:sp>
      <p:sp>
        <p:nvSpPr>
          <p:cNvPr id="9" name="Shape 6"/>
          <p:cNvSpPr/>
          <p:nvPr/>
        </p:nvSpPr>
        <p:spPr>
          <a:xfrm>
            <a:off x="2194560" y="6620256"/>
            <a:ext cx="3931920" cy="237744"/>
          </a:xfrm>
          <a:prstGeom prst="rect">
            <a:avLst/>
          </a:prstGeom>
          <a:solidFill>
            <a:srgbClr val="25194B"/>
          </a:solidFill>
          <a:ln/>
        </p:spPr>
      </p:sp>
      <p:sp>
        <p:nvSpPr>
          <p:cNvPr id="10" name="Shape 7"/>
          <p:cNvSpPr/>
          <p:nvPr/>
        </p:nvSpPr>
        <p:spPr>
          <a:xfrm>
            <a:off x="6126480" y="6620256"/>
            <a:ext cx="1737360" cy="237744"/>
          </a:xfrm>
          <a:prstGeom prst="rect">
            <a:avLst/>
          </a:prstGeom>
          <a:solidFill>
            <a:srgbClr val="4F417A"/>
          </a:solidFill>
          <a:ln/>
        </p:spPr>
      </p:sp>
      <p:sp>
        <p:nvSpPr>
          <p:cNvPr id="11" name="Shape 8"/>
          <p:cNvSpPr/>
          <p:nvPr/>
        </p:nvSpPr>
        <p:spPr>
          <a:xfrm>
            <a:off x="7863840" y="6620256"/>
            <a:ext cx="1280160" cy="237744"/>
          </a:xfrm>
          <a:prstGeom prst="rect">
            <a:avLst/>
          </a:prstGeom>
          <a:solidFill>
            <a:srgbClr val="7A7099"/>
          </a:solidFill>
          <a:ln/>
        </p:spPr>
      </p:sp>
      <p:sp>
        <p:nvSpPr>
          <p:cNvPr id="12" name="Text 9"/>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13" name="Text 10"/>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14" name="Text 1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15" name="Text 1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Why not BLEU, ROUGE, or an embedding score</a:t>
            </a:r>
            <a:endParaRPr lang="en-US" sz="1900" dirty="0"/>
          </a:p>
        </p:txBody>
      </p:sp>
      <p:sp>
        <p:nvSpPr>
          <p:cNvPr id="4" name="Shape 2"/>
          <p:cNvSpPr/>
          <p:nvPr/>
        </p:nvSpPr>
        <p:spPr>
          <a:xfrm>
            <a:off x="502920" y="960120"/>
            <a:ext cx="8138160" cy="384048"/>
          </a:xfrm>
          <a:prstGeom prst="rect">
            <a:avLst/>
          </a:prstGeom>
          <a:solidFill>
            <a:srgbClr val="322164"/>
          </a:solidFill>
          <a:ln/>
        </p:spPr>
      </p:sp>
      <p:sp>
        <p:nvSpPr>
          <p:cNvPr id="5" name="Text 3"/>
          <p:cNvSpPr/>
          <p:nvPr/>
        </p:nvSpPr>
        <p:spPr>
          <a:xfrm>
            <a:off x="502920" y="960120"/>
            <a:ext cx="310896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Branch</a:t>
            </a:r>
            <a:endParaRPr lang="en-US" sz="1250" dirty="0"/>
          </a:p>
        </p:txBody>
      </p:sp>
      <p:sp>
        <p:nvSpPr>
          <p:cNvPr id="6" name="Text 4"/>
          <p:cNvSpPr/>
          <p:nvPr/>
        </p:nvSpPr>
        <p:spPr>
          <a:xfrm>
            <a:off x="3611880" y="960120"/>
            <a:ext cx="182880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Executability</a:t>
            </a:r>
            <a:endParaRPr lang="en-US" sz="1250" dirty="0"/>
          </a:p>
        </p:txBody>
      </p:sp>
      <p:sp>
        <p:nvSpPr>
          <p:cNvPr id="7" name="Text 5"/>
          <p:cNvSpPr/>
          <p:nvPr/>
        </p:nvSpPr>
        <p:spPr>
          <a:xfrm>
            <a:off x="5440680" y="960120"/>
            <a:ext cx="160020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BLEU-4</a:t>
            </a:r>
            <a:endParaRPr lang="en-US" sz="1250" dirty="0"/>
          </a:p>
        </p:txBody>
      </p:sp>
      <p:sp>
        <p:nvSpPr>
          <p:cNvPr id="8" name="Text 6"/>
          <p:cNvSpPr/>
          <p:nvPr/>
        </p:nvSpPr>
        <p:spPr>
          <a:xfrm>
            <a:off x="7040880" y="960120"/>
            <a:ext cx="160020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ROUGE-L</a:t>
            </a:r>
            <a:endParaRPr lang="en-US" sz="1250" dirty="0"/>
          </a:p>
        </p:txBody>
      </p:sp>
      <p:sp>
        <p:nvSpPr>
          <p:cNvPr id="9" name="Text 7"/>
          <p:cNvSpPr/>
          <p:nvPr/>
        </p:nvSpPr>
        <p:spPr>
          <a:xfrm>
            <a:off x="502920" y="1344168"/>
            <a:ext cx="310896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Base</a:t>
            </a:r>
            <a:endParaRPr lang="en-US" sz="1300" dirty="0"/>
          </a:p>
        </p:txBody>
      </p:sp>
      <p:sp>
        <p:nvSpPr>
          <p:cNvPr id="10" name="Text 8"/>
          <p:cNvSpPr/>
          <p:nvPr/>
        </p:nvSpPr>
        <p:spPr>
          <a:xfrm>
            <a:off x="3611880" y="1344168"/>
            <a:ext cx="182880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47.6</a:t>
            </a:r>
            <a:endParaRPr lang="en-US" sz="1300" dirty="0"/>
          </a:p>
        </p:txBody>
      </p:sp>
      <p:sp>
        <p:nvSpPr>
          <p:cNvPr id="11" name="Text 9"/>
          <p:cNvSpPr/>
          <p:nvPr/>
        </p:nvSpPr>
        <p:spPr>
          <a:xfrm>
            <a:off x="5440680" y="1344168"/>
            <a:ext cx="160020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9.7</a:t>
            </a:r>
            <a:endParaRPr lang="en-US" sz="1300" dirty="0"/>
          </a:p>
        </p:txBody>
      </p:sp>
      <p:sp>
        <p:nvSpPr>
          <p:cNvPr id="12" name="Text 10"/>
          <p:cNvSpPr/>
          <p:nvPr/>
        </p:nvSpPr>
        <p:spPr>
          <a:xfrm>
            <a:off x="7040880" y="1344168"/>
            <a:ext cx="160020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40.3</a:t>
            </a:r>
            <a:endParaRPr lang="en-US" sz="1300" dirty="0"/>
          </a:p>
        </p:txBody>
      </p:sp>
      <p:sp>
        <p:nvSpPr>
          <p:cNvPr id="13" name="Shape 11"/>
          <p:cNvSpPr/>
          <p:nvPr/>
        </p:nvSpPr>
        <p:spPr>
          <a:xfrm>
            <a:off x="502920" y="1746504"/>
            <a:ext cx="8138160" cy="0"/>
          </a:xfrm>
          <a:prstGeom prst="line">
            <a:avLst/>
          </a:prstGeom>
          <a:noFill/>
          <a:ln w="12700">
            <a:solidFill>
              <a:srgbClr val="9A94AE"/>
            </a:solidFill>
            <a:prstDash val="solid"/>
          </a:ln>
        </p:spPr>
      </p:sp>
      <p:sp>
        <p:nvSpPr>
          <p:cNvPr id="14" name="Text 12"/>
          <p:cNvSpPr/>
          <p:nvPr/>
        </p:nvSpPr>
        <p:spPr>
          <a:xfrm>
            <a:off x="502920" y="1746504"/>
            <a:ext cx="310896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S1</a:t>
            </a:r>
            <a:endParaRPr lang="en-US" sz="1300" dirty="0"/>
          </a:p>
        </p:txBody>
      </p:sp>
      <p:sp>
        <p:nvSpPr>
          <p:cNvPr id="15" name="Text 13"/>
          <p:cNvSpPr/>
          <p:nvPr/>
        </p:nvSpPr>
        <p:spPr>
          <a:xfrm>
            <a:off x="3611880" y="1746504"/>
            <a:ext cx="182880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59.1</a:t>
            </a:r>
            <a:endParaRPr lang="en-US" sz="1300" dirty="0"/>
          </a:p>
        </p:txBody>
      </p:sp>
      <p:sp>
        <p:nvSpPr>
          <p:cNvPr id="16" name="Text 14"/>
          <p:cNvSpPr/>
          <p:nvPr/>
        </p:nvSpPr>
        <p:spPr>
          <a:xfrm>
            <a:off x="5440680" y="1746504"/>
            <a:ext cx="160020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38.7</a:t>
            </a:r>
            <a:endParaRPr lang="en-US" sz="1300" dirty="0"/>
          </a:p>
        </p:txBody>
      </p:sp>
      <p:sp>
        <p:nvSpPr>
          <p:cNvPr id="17" name="Text 15"/>
          <p:cNvSpPr/>
          <p:nvPr/>
        </p:nvSpPr>
        <p:spPr>
          <a:xfrm>
            <a:off x="7040880" y="1746504"/>
            <a:ext cx="1600200" cy="402336"/>
          </a:xfrm>
          <a:prstGeom prst="rect">
            <a:avLst/>
          </a:prstGeom>
          <a:noFill/>
          <a:ln/>
        </p:spPr>
        <p:txBody>
          <a:bodyPr wrap="square" lIns="38100" tIns="38100" rIns="38100" bIns="38100" rtlCol="0" anchor="ctr"/>
          <a:lstStyle/>
          <a:p>
            <a:pPr algn="ctr" indent="0" marL="0">
              <a:buNone/>
            </a:pPr>
            <a:r>
              <a:rPr lang="en-US" sz="1300" dirty="0">
                <a:solidFill>
                  <a:srgbClr val="1A1A1A"/>
                </a:solidFill>
                <a:latin typeface="Cambria" pitchFamily="34" charset="0"/>
                <a:ea typeface="Cambria" pitchFamily="34" charset="-122"/>
                <a:cs typeface="Cambria" pitchFamily="34" charset="-120"/>
              </a:rPr>
              <a:t>67.3</a:t>
            </a:r>
            <a:endParaRPr lang="en-US" sz="1300" dirty="0"/>
          </a:p>
        </p:txBody>
      </p:sp>
      <p:sp>
        <p:nvSpPr>
          <p:cNvPr id="18" name="Shape 16"/>
          <p:cNvSpPr/>
          <p:nvPr/>
        </p:nvSpPr>
        <p:spPr>
          <a:xfrm>
            <a:off x="502920" y="2148840"/>
            <a:ext cx="8138160" cy="0"/>
          </a:xfrm>
          <a:prstGeom prst="line">
            <a:avLst/>
          </a:prstGeom>
          <a:noFill/>
          <a:ln w="12700">
            <a:solidFill>
              <a:srgbClr val="9A94AE"/>
            </a:solidFill>
            <a:prstDash val="solid"/>
          </a:ln>
        </p:spPr>
      </p:sp>
      <p:sp>
        <p:nvSpPr>
          <p:cNvPr id="19" name="Text 17"/>
          <p:cNvSpPr/>
          <p:nvPr/>
        </p:nvSpPr>
        <p:spPr>
          <a:xfrm>
            <a:off x="502920" y="2148840"/>
            <a:ext cx="3108960" cy="402336"/>
          </a:xfrm>
          <a:prstGeom prst="rect">
            <a:avLst/>
          </a:prstGeom>
          <a:noFill/>
          <a:ln/>
        </p:spPr>
        <p:txBody>
          <a:bodyPr wrap="square" lIns="38100" tIns="38100" rIns="38100" bIns="3810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Human references</a:t>
            </a:r>
            <a:endParaRPr lang="en-US" sz="1300" dirty="0"/>
          </a:p>
        </p:txBody>
      </p:sp>
      <p:sp>
        <p:nvSpPr>
          <p:cNvPr id="20" name="Text 18"/>
          <p:cNvSpPr/>
          <p:nvPr/>
        </p:nvSpPr>
        <p:spPr>
          <a:xfrm>
            <a:off x="3611880" y="2148840"/>
            <a:ext cx="1828800" cy="402336"/>
          </a:xfrm>
          <a:prstGeom prst="rect">
            <a:avLst/>
          </a:prstGeom>
          <a:noFill/>
          <a:ln/>
        </p:spPr>
        <p:txBody>
          <a:bodyPr wrap="square" lIns="38100" tIns="38100" rIns="38100" bIns="38100" rtlCol="0" anchor="ctr"/>
          <a:lstStyle/>
          <a:p>
            <a:pPr algn="ctr" indent="0" marL="0">
              <a:buNone/>
            </a:pPr>
            <a:r>
              <a:rPr lang="en-US" sz="1300" b="1" dirty="0">
                <a:solidFill>
                  <a:srgbClr val="1A1A1A"/>
                </a:solidFill>
                <a:latin typeface="Cambria" pitchFamily="34" charset="0"/>
                <a:ea typeface="Cambria" pitchFamily="34" charset="-122"/>
                <a:cs typeface="Cambria" pitchFamily="34" charset="-120"/>
              </a:rPr>
              <a:t>75.7</a:t>
            </a:r>
            <a:endParaRPr lang="en-US" sz="1300" dirty="0"/>
          </a:p>
        </p:txBody>
      </p:sp>
      <p:sp>
        <p:nvSpPr>
          <p:cNvPr id="21" name="Text 19"/>
          <p:cNvSpPr/>
          <p:nvPr/>
        </p:nvSpPr>
        <p:spPr>
          <a:xfrm>
            <a:off x="5440680" y="2148840"/>
            <a:ext cx="1600200" cy="402336"/>
          </a:xfrm>
          <a:prstGeom prst="rect">
            <a:avLst/>
          </a:prstGeom>
          <a:noFill/>
          <a:ln/>
        </p:spPr>
        <p:txBody>
          <a:bodyPr wrap="square" lIns="38100" tIns="38100" rIns="38100" bIns="38100" rtlCol="0" anchor="ctr"/>
          <a:lstStyle/>
          <a:p>
            <a:pPr algn="ctr" indent="0" marL="0">
              <a:buNone/>
            </a:pPr>
            <a:r>
              <a:rPr lang="en-US" sz="1300" dirty="0">
                <a:solidFill>
                  <a:srgbClr val="5A5A66"/>
                </a:solidFill>
                <a:latin typeface="Cambria" pitchFamily="34" charset="0"/>
                <a:ea typeface="Cambria" pitchFamily="34" charset="-122"/>
                <a:cs typeface="Cambria" pitchFamily="34" charset="-120"/>
              </a:rPr>
              <a:t>96.1</a:t>
            </a:r>
            <a:endParaRPr lang="en-US" sz="1300" dirty="0"/>
          </a:p>
        </p:txBody>
      </p:sp>
      <p:sp>
        <p:nvSpPr>
          <p:cNvPr id="22" name="Text 20"/>
          <p:cNvSpPr/>
          <p:nvPr/>
        </p:nvSpPr>
        <p:spPr>
          <a:xfrm>
            <a:off x="7040880" y="2148840"/>
            <a:ext cx="1600200" cy="402336"/>
          </a:xfrm>
          <a:prstGeom prst="rect">
            <a:avLst/>
          </a:prstGeom>
          <a:noFill/>
          <a:ln/>
        </p:spPr>
        <p:txBody>
          <a:bodyPr wrap="square" lIns="38100" tIns="38100" rIns="38100" bIns="38100" rtlCol="0" anchor="ctr"/>
          <a:lstStyle/>
          <a:p>
            <a:pPr algn="ctr" indent="0" marL="0">
              <a:buNone/>
            </a:pPr>
            <a:r>
              <a:rPr lang="en-US" sz="1300" dirty="0">
                <a:solidFill>
                  <a:srgbClr val="5A5A66"/>
                </a:solidFill>
                <a:latin typeface="Cambria" pitchFamily="34" charset="0"/>
                <a:ea typeface="Cambria" pitchFamily="34" charset="-122"/>
                <a:cs typeface="Cambria" pitchFamily="34" charset="-120"/>
              </a:rPr>
              <a:t>100.0</a:t>
            </a:r>
            <a:endParaRPr lang="en-US" sz="1300" dirty="0"/>
          </a:p>
        </p:txBody>
      </p:sp>
      <p:sp>
        <p:nvSpPr>
          <p:cNvPr id="23" name="Text 21"/>
          <p:cNvSpPr/>
          <p:nvPr/>
        </p:nvSpPr>
        <p:spPr>
          <a:xfrm>
            <a:off x="502920" y="2606040"/>
            <a:ext cx="8138160" cy="274320"/>
          </a:xfrm>
          <a:prstGeom prst="rect">
            <a:avLst/>
          </a:prstGeom>
          <a:noFill/>
          <a:ln/>
        </p:spPr>
        <p:txBody>
          <a:bodyPr wrap="square" lIns="0" tIns="0" rIns="0" bIns="0" rtlCol="0" anchor="t"/>
          <a:lstStyle/>
          <a:p>
            <a:pPr algn="l" indent="0" marL="0">
              <a:buNone/>
            </a:pPr>
            <a:r>
              <a:rPr lang="en-US" sz="1100" i="1" dirty="0">
                <a:solidFill>
                  <a:srgbClr val="5A5A66"/>
                </a:solidFill>
                <a:latin typeface="Cambria" pitchFamily="34" charset="0"/>
                <a:ea typeface="Cambria" pitchFamily="34" charset="-122"/>
                <a:cs typeface="Cambria" pitchFamily="34" charset="-120"/>
              </a:rPr>
              <a:t>BLEU-4 and ROUGE-L figures come from the thesis version; the submitted paper states only the ordering.</a:t>
            </a:r>
            <a:endParaRPr lang="en-US" sz="1100" dirty="0"/>
          </a:p>
        </p:txBody>
      </p:sp>
      <p:sp>
        <p:nvSpPr>
          <p:cNvPr id="24" name="Text 22"/>
          <p:cNvSpPr/>
          <p:nvPr/>
        </p:nvSpPr>
        <p:spPr>
          <a:xfrm>
            <a:off x="502920" y="3017520"/>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5" name="Text 23"/>
          <p:cNvSpPr/>
          <p:nvPr/>
        </p:nvSpPr>
        <p:spPr>
          <a:xfrm>
            <a:off x="731520" y="3017520"/>
            <a:ext cx="79095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The three measures agree on the ordering only because the branches are far apart; we draw nothing from that agreement</a:t>
            </a:r>
            <a:endParaRPr lang="en-US" sz="1250" dirty="0"/>
          </a:p>
        </p:txBody>
      </p:sp>
      <p:sp>
        <p:nvSpPr>
          <p:cNvPr id="26" name="Text 24"/>
          <p:cNvSpPr/>
          <p:nvPr/>
        </p:nvSpPr>
        <p:spPr>
          <a:xfrm>
            <a:off x="502920" y="3730752"/>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7" name="Text 25"/>
          <p:cNvSpPr/>
          <p:nvPr/>
        </p:nvSpPr>
        <p:spPr>
          <a:xfrm>
            <a:off x="731520" y="3730752"/>
            <a:ext cx="79095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A reference-based score charges the branches unequally for register: 52.8% of accepted untuned sentences fall below 0.5 content-word F1, against 13.9% for the fine-tuned one</a:t>
            </a:r>
            <a:endParaRPr lang="en-US" sz="1250" dirty="0"/>
          </a:p>
        </p:txBody>
      </p:sp>
      <p:sp>
        <p:nvSpPr>
          <p:cNvPr id="28" name="Text 26"/>
          <p:cNvSpPr/>
          <p:nvPr/>
        </p:nvSpPr>
        <p:spPr>
          <a:xfrm>
            <a:off x="502920" y="4443984"/>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9" name="Text 27"/>
          <p:cNvSpPr/>
          <p:nvPr/>
        </p:nvSpPr>
        <p:spPr>
          <a:xfrm>
            <a:off x="731520" y="4443984"/>
            <a:ext cx="79095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Neither can locate the remaining headroom: they score the references 100 by construction, where executability puts them at 75.7</a:t>
            </a:r>
            <a:endParaRPr lang="en-US" sz="1250" dirty="0"/>
          </a:p>
        </p:txBody>
      </p:sp>
      <p:sp>
        <p:nvSpPr>
          <p:cNvPr id="30" name="Text 28"/>
          <p:cNvSpPr/>
          <p:nvPr/>
        </p:nvSpPr>
        <p:spPr>
          <a:xfrm>
            <a:off x="502920" y="5157216"/>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1" name="Text 29"/>
          <p:cNvSpPr/>
          <p:nvPr/>
        </p:nvSpPr>
        <p:spPr>
          <a:xfrm>
            <a:off x="731520" y="5157216"/>
            <a:ext cx="7909560" cy="676656"/>
          </a:xfrm>
          <a:prstGeom prst="rect">
            <a:avLst/>
          </a:prstGeom>
          <a:noFill/>
          <a:ln/>
        </p:spPr>
        <p:txBody>
          <a:bodyPr wrap="square" lIns="0" tIns="0" rIns="0" bIns="0" rtlCol="0" anchor="t"/>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Zhao et al. (EACL 2021) recommend a reference-based score for ranking systems, so every claim here is made at system level and never per sentence</a:t>
            </a:r>
            <a:endParaRPr lang="en-US" sz="1250" dirty="0"/>
          </a:p>
        </p:txBody>
      </p:sp>
      <p:sp>
        <p:nvSpPr>
          <p:cNvPr id="33" name="Shape 30"/>
          <p:cNvSpPr/>
          <p:nvPr/>
        </p:nvSpPr>
        <p:spPr>
          <a:xfrm>
            <a:off x="0" y="6620256"/>
            <a:ext cx="2194560" cy="237744"/>
          </a:xfrm>
          <a:prstGeom prst="rect">
            <a:avLst/>
          </a:prstGeom>
          <a:solidFill>
            <a:srgbClr val="191132"/>
          </a:solidFill>
          <a:ln/>
        </p:spPr>
      </p:sp>
      <p:sp>
        <p:nvSpPr>
          <p:cNvPr id="34" name="Shape 31"/>
          <p:cNvSpPr/>
          <p:nvPr/>
        </p:nvSpPr>
        <p:spPr>
          <a:xfrm>
            <a:off x="2194560" y="6620256"/>
            <a:ext cx="3931920" cy="237744"/>
          </a:xfrm>
          <a:prstGeom prst="rect">
            <a:avLst/>
          </a:prstGeom>
          <a:solidFill>
            <a:srgbClr val="25194B"/>
          </a:solidFill>
          <a:ln/>
        </p:spPr>
      </p:sp>
      <p:sp>
        <p:nvSpPr>
          <p:cNvPr id="35" name="Shape 32"/>
          <p:cNvSpPr/>
          <p:nvPr/>
        </p:nvSpPr>
        <p:spPr>
          <a:xfrm>
            <a:off x="6126480" y="6620256"/>
            <a:ext cx="1737360" cy="237744"/>
          </a:xfrm>
          <a:prstGeom prst="rect">
            <a:avLst/>
          </a:prstGeom>
          <a:solidFill>
            <a:srgbClr val="4F417A"/>
          </a:solidFill>
          <a:ln/>
        </p:spPr>
      </p:sp>
      <p:sp>
        <p:nvSpPr>
          <p:cNvPr id="36" name="Shape 33"/>
          <p:cNvSpPr/>
          <p:nvPr/>
        </p:nvSpPr>
        <p:spPr>
          <a:xfrm>
            <a:off x="7863840" y="6620256"/>
            <a:ext cx="1280160" cy="237744"/>
          </a:xfrm>
          <a:prstGeom prst="rect">
            <a:avLst/>
          </a:prstGeom>
          <a:solidFill>
            <a:srgbClr val="7A7099"/>
          </a:solidFill>
          <a:ln/>
        </p:spPr>
      </p:sp>
      <p:sp>
        <p:nvSpPr>
          <p:cNvPr id="37" name="Text 34"/>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8" name="Text 35"/>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9"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0"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Re-scored with a second, independently trained grounder</a:t>
            </a:r>
            <a:endParaRPr lang="en-US" sz="1900" dirty="0"/>
          </a:p>
        </p:txBody>
      </p:sp>
      <p:sp>
        <p:nvSpPr>
          <p:cNvPr id="4" name="Text 2"/>
          <p:cNvSpPr/>
          <p:nvPr/>
        </p:nvSpPr>
        <p:spPr>
          <a:xfrm>
            <a:off x="502920" y="777240"/>
            <a:ext cx="8138160" cy="274320"/>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2,532-step slice, UI-Venus-Ground-7B, not trained on AndroidControl</a:t>
            </a:r>
            <a:endParaRPr lang="en-US" sz="1200" dirty="0"/>
          </a:p>
        </p:txBody>
      </p:sp>
      <p:sp>
        <p:nvSpPr>
          <p:cNvPr id="5" name="Shape 3"/>
          <p:cNvSpPr/>
          <p:nvPr/>
        </p:nvSpPr>
        <p:spPr>
          <a:xfrm>
            <a:off x="502920" y="1143000"/>
            <a:ext cx="8129016" cy="384048"/>
          </a:xfrm>
          <a:prstGeom prst="rect">
            <a:avLst/>
          </a:prstGeom>
          <a:solidFill>
            <a:srgbClr val="322164"/>
          </a:solidFill>
          <a:ln/>
        </p:spPr>
      </p:sp>
      <p:sp>
        <p:nvSpPr>
          <p:cNvPr id="6" name="Text 4"/>
          <p:cNvSpPr/>
          <p:nvPr/>
        </p:nvSpPr>
        <p:spPr>
          <a:xfrm>
            <a:off x="502920" y="1143000"/>
            <a:ext cx="292608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Contrast</a:t>
            </a:r>
            <a:endParaRPr lang="en-US" sz="1250" dirty="0"/>
          </a:p>
        </p:txBody>
      </p:sp>
      <p:sp>
        <p:nvSpPr>
          <p:cNvPr id="7" name="Text 5"/>
          <p:cNvSpPr/>
          <p:nvPr/>
        </p:nvSpPr>
        <p:spPr>
          <a:xfrm>
            <a:off x="3429000" y="1143000"/>
            <a:ext cx="26060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UGround</a:t>
            </a:r>
            <a:endParaRPr lang="en-US" sz="1250" dirty="0"/>
          </a:p>
        </p:txBody>
      </p:sp>
      <p:sp>
        <p:nvSpPr>
          <p:cNvPr id="8" name="Text 6"/>
          <p:cNvSpPr/>
          <p:nvPr/>
        </p:nvSpPr>
        <p:spPr>
          <a:xfrm>
            <a:off x="6035040" y="1143000"/>
            <a:ext cx="2596896"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UI-Venus</a:t>
            </a:r>
            <a:endParaRPr lang="en-US" sz="1250" dirty="0"/>
          </a:p>
        </p:txBody>
      </p:sp>
      <p:sp>
        <p:nvSpPr>
          <p:cNvPr id="9" name="Text 7"/>
          <p:cNvSpPr/>
          <p:nvPr/>
        </p:nvSpPr>
        <p:spPr>
          <a:xfrm>
            <a:off x="502920" y="1527048"/>
            <a:ext cx="2926080" cy="502920"/>
          </a:xfrm>
          <a:prstGeom prst="rect">
            <a:avLst/>
          </a:prstGeom>
          <a:noFill/>
          <a:ln/>
        </p:spPr>
        <p:txBody>
          <a:bodyPr wrap="square" lIns="38100" tIns="38100" rIns="38100" bIns="38100" rtlCol="0" anchor="ctr"/>
          <a:lstStyle/>
          <a:p>
            <a:pPr algn="l" indent="0" marL="0">
              <a:buNone/>
            </a:pPr>
            <a:r>
              <a:rPr lang="en-US" sz="1200" b="1" dirty="0">
                <a:solidFill>
                  <a:srgbClr val="1A1A1A"/>
                </a:solidFill>
                <a:latin typeface="Cambria" pitchFamily="34" charset="0"/>
                <a:ea typeface="Cambria" pitchFamily="34" charset="-122"/>
                <a:cs typeface="Cambria" pitchFamily="34" charset="-120"/>
              </a:rPr>
              <a:t>S1 − Base  (positive control)</a:t>
            </a:r>
            <a:endParaRPr lang="en-US" sz="1200" dirty="0"/>
          </a:p>
        </p:txBody>
      </p:sp>
      <p:sp>
        <p:nvSpPr>
          <p:cNvPr id="10" name="Text 8"/>
          <p:cNvSpPr/>
          <p:nvPr/>
        </p:nvSpPr>
        <p:spPr>
          <a:xfrm>
            <a:off x="3429000" y="1527048"/>
            <a:ext cx="2606040" cy="502920"/>
          </a:xfrm>
          <a:prstGeom prst="rect">
            <a:avLst/>
          </a:prstGeom>
          <a:noFill/>
          <a:ln/>
        </p:spPr>
        <p:txBody>
          <a:bodyPr wrap="square" lIns="38100" tIns="38100" rIns="38100" bIns="38100" rtlCol="0" anchor="ctr"/>
          <a:lstStyle/>
          <a:p>
            <a:pPr algn="ctr" indent="0" marL="0">
              <a:buNone/>
            </a:pPr>
            <a:r>
              <a:rPr lang="en-US" sz="1200" b="1" dirty="0">
                <a:solidFill>
                  <a:srgbClr val="006666"/>
                </a:solidFill>
                <a:latin typeface="Cambria" pitchFamily="34" charset="0"/>
                <a:ea typeface="Cambria" pitchFamily="34" charset="-122"/>
                <a:cs typeface="Cambria" pitchFamily="34" charset="-120"/>
              </a:rPr>
              <a:t>+10.35  [+8.39, +12.40]</a:t>
            </a:r>
            <a:endParaRPr lang="en-US" sz="1200" dirty="0"/>
          </a:p>
        </p:txBody>
      </p:sp>
      <p:sp>
        <p:nvSpPr>
          <p:cNvPr id="11" name="Text 9"/>
          <p:cNvSpPr/>
          <p:nvPr/>
        </p:nvSpPr>
        <p:spPr>
          <a:xfrm>
            <a:off x="6035040" y="1527048"/>
            <a:ext cx="2596896" cy="502920"/>
          </a:xfrm>
          <a:prstGeom prst="rect">
            <a:avLst/>
          </a:prstGeom>
          <a:noFill/>
          <a:ln/>
        </p:spPr>
        <p:txBody>
          <a:bodyPr wrap="square" lIns="38100" tIns="38100" rIns="38100" bIns="38100" rtlCol="0" anchor="ctr"/>
          <a:lstStyle/>
          <a:p>
            <a:pPr algn="ctr" indent="0" marL="0">
              <a:buNone/>
            </a:pPr>
            <a:r>
              <a:rPr lang="en-US" sz="1200" b="1" dirty="0">
                <a:solidFill>
                  <a:srgbClr val="006666"/>
                </a:solidFill>
                <a:latin typeface="Cambria" pitchFamily="34" charset="0"/>
                <a:ea typeface="Cambria" pitchFamily="34" charset="-122"/>
                <a:cs typeface="Cambria" pitchFamily="34" charset="-120"/>
              </a:rPr>
              <a:t>+9.68  [+7.60, +11.78]</a:t>
            </a:r>
            <a:endParaRPr lang="en-US" sz="1200" dirty="0"/>
          </a:p>
        </p:txBody>
      </p:sp>
      <p:sp>
        <p:nvSpPr>
          <p:cNvPr id="12" name="Shape 10"/>
          <p:cNvSpPr/>
          <p:nvPr/>
        </p:nvSpPr>
        <p:spPr>
          <a:xfrm>
            <a:off x="502920" y="2029968"/>
            <a:ext cx="8129016" cy="0"/>
          </a:xfrm>
          <a:prstGeom prst="line">
            <a:avLst/>
          </a:prstGeom>
          <a:noFill/>
          <a:ln w="12700">
            <a:solidFill>
              <a:srgbClr val="9A94AE"/>
            </a:solidFill>
            <a:prstDash val="solid"/>
          </a:ln>
        </p:spPr>
      </p:sp>
      <p:sp>
        <p:nvSpPr>
          <p:cNvPr id="13" name="Text 11"/>
          <p:cNvSpPr/>
          <p:nvPr/>
        </p:nvSpPr>
        <p:spPr>
          <a:xfrm>
            <a:off x="502920" y="2029968"/>
            <a:ext cx="292608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S2 − S1  (single seed)</a:t>
            </a:r>
            <a:endParaRPr lang="en-US" sz="1200" dirty="0"/>
          </a:p>
        </p:txBody>
      </p:sp>
      <p:sp>
        <p:nvSpPr>
          <p:cNvPr id="14" name="Text 12"/>
          <p:cNvSpPr/>
          <p:nvPr/>
        </p:nvSpPr>
        <p:spPr>
          <a:xfrm>
            <a:off x="3429000" y="2029968"/>
            <a:ext cx="2606040" cy="457200"/>
          </a:xfrm>
          <a:prstGeom prst="rect">
            <a:avLst/>
          </a:prstGeom>
          <a:noFill/>
          <a:ln/>
        </p:spPr>
        <p:txBody>
          <a:bodyPr wrap="square" lIns="38100" tIns="38100" rIns="38100" bIns="38100" rtlCol="0" anchor="ctr"/>
          <a:lstStyle/>
          <a:p>
            <a:pPr algn="ctr" indent="0" marL="0">
              <a:buNone/>
            </a:pPr>
            <a:r>
              <a:rPr lang="en-US" sz="1200" dirty="0">
                <a:solidFill>
                  <a:srgbClr val="B22222"/>
                </a:solidFill>
                <a:latin typeface="Cambria" pitchFamily="34" charset="0"/>
                <a:ea typeface="Cambria" pitchFamily="34" charset="-122"/>
                <a:cs typeface="Cambria" pitchFamily="34" charset="-120"/>
              </a:rPr>
              <a:t>−1.93  [−3.08, −0.78]</a:t>
            </a:r>
            <a:endParaRPr lang="en-US" sz="1200" dirty="0"/>
          </a:p>
        </p:txBody>
      </p:sp>
      <p:sp>
        <p:nvSpPr>
          <p:cNvPr id="15" name="Text 13"/>
          <p:cNvSpPr/>
          <p:nvPr/>
        </p:nvSpPr>
        <p:spPr>
          <a:xfrm>
            <a:off x="6035040" y="2029968"/>
            <a:ext cx="2596896" cy="457200"/>
          </a:xfrm>
          <a:prstGeom prst="rect">
            <a:avLst/>
          </a:prstGeom>
          <a:noFill/>
          <a:ln/>
        </p:spPr>
        <p:txBody>
          <a:bodyPr wrap="square" lIns="38100" tIns="38100" rIns="38100" bIns="38100" rtlCol="0" anchor="ctr"/>
          <a:lstStyle/>
          <a:p>
            <a:pPr algn="ctr" indent="0" marL="0">
              <a:buNone/>
            </a:pPr>
            <a:r>
              <a:rPr lang="en-US" sz="1200" dirty="0">
                <a:solidFill>
                  <a:srgbClr val="B22222"/>
                </a:solidFill>
                <a:latin typeface="Cambria" pitchFamily="34" charset="0"/>
                <a:ea typeface="Cambria" pitchFamily="34" charset="-122"/>
                <a:cs typeface="Cambria" pitchFamily="34" charset="-120"/>
              </a:rPr>
              <a:t>−1.21  [−2.30, −0.12]</a:t>
            </a:r>
            <a:endParaRPr lang="en-US" sz="1200" dirty="0"/>
          </a:p>
        </p:txBody>
      </p:sp>
      <p:sp>
        <p:nvSpPr>
          <p:cNvPr id="16" name="Shape 14"/>
          <p:cNvSpPr/>
          <p:nvPr/>
        </p:nvSpPr>
        <p:spPr>
          <a:xfrm>
            <a:off x="502920" y="2487168"/>
            <a:ext cx="8129016" cy="0"/>
          </a:xfrm>
          <a:prstGeom prst="line">
            <a:avLst/>
          </a:prstGeom>
          <a:noFill/>
          <a:ln w="12700">
            <a:solidFill>
              <a:srgbClr val="9A94AE"/>
            </a:solidFill>
            <a:prstDash val="solid"/>
          </a:ln>
        </p:spPr>
      </p:sp>
      <p:sp>
        <p:nvSpPr>
          <p:cNvPr id="17" name="Text 15"/>
          <p:cNvSpPr/>
          <p:nvPr/>
        </p:nvSpPr>
        <p:spPr>
          <a:xfrm>
            <a:off x="502920" y="2487168"/>
            <a:ext cx="292608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Adequacy ceiling (n = 300)</a:t>
            </a:r>
            <a:endParaRPr lang="en-US" sz="1200" dirty="0"/>
          </a:p>
        </p:txBody>
      </p:sp>
      <p:sp>
        <p:nvSpPr>
          <p:cNvPr id="18" name="Text 16"/>
          <p:cNvSpPr/>
          <p:nvPr/>
        </p:nvSpPr>
        <p:spPr>
          <a:xfrm>
            <a:off x="3429000" y="2487168"/>
            <a:ext cx="2606040" cy="402336"/>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70.0  [64.5, 75.3]</a:t>
            </a:r>
            <a:endParaRPr lang="en-US" sz="1200" dirty="0"/>
          </a:p>
        </p:txBody>
      </p:sp>
      <p:sp>
        <p:nvSpPr>
          <p:cNvPr id="19" name="Text 17"/>
          <p:cNvSpPr/>
          <p:nvPr/>
        </p:nvSpPr>
        <p:spPr>
          <a:xfrm>
            <a:off x="6035040" y="2487168"/>
            <a:ext cx="2596896" cy="402336"/>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69.3  [63.8, 74.8]</a:t>
            </a:r>
            <a:endParaRPr lang="en-US" sz="1200" dirty="0"/>
          </a:p>
        </p:txBody>
      </p:sp>
      <p:sp>
        <p:nvSpPr>
          <p:cNvPr id="20" name="Text 18"/>
          <p:cNvSpPr/>
          <p:nvPr/>
        </p:nvSpPr>
        <p:spPr>
          <a:xfrm>
            <a:off x="502920" y="3063240"/>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1" name="Text 19"/>
          <p:cNvSpPr/>
          <p:nvPr/>
        </p:nvSpPr>
        <p:spPr>
          <a:xfrm>
            <a:off x="731520" y="3063240"/>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The positive control retains 94% of its magnitude, so the scale is not compressed and the second instrument can still see effects</a:t>
            </a:r>
            <a:endParaRPr lang="en-US" sz="1200" dirty="0"/>
          </a:p>
        </p:txBody>
      </p:sp>
      <p:sp>
        <p:nvSpPr>
          <p:cNvPr id="22" name="Text 20"/>
          <p:cNvSpPr/>
          <p:nvPr/>
        </p:nvSpPr>
        <p:spPr>
          <a:xfrm>
            <a:off x="502920" y="3685032"/>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3" name="Text 21"/>
          <p:cNvSpPr/>
          <p:nvPr/>
        </p:nvSpPr>
        <p:spPr>
          <a:xfrm>
            <a:off x="731520" y="3685032"/>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The two adequacy ceilings are within 0.7 points of each other</a:t>
            </a:r>
            <a:endParaRPr lang="en-US" sz="1200" dirty="0"/>
          </a:p>
        </p:txBody>
      </p:sp>
      <p:sp>
        <p:nvSpPr>
          <p:cNvPr id="24" name="Text 22"/>
          <p:cNvSpPr/>
          <p:nvPr/>
        </p:nvSpPr>
        <p:spPr>
          <a:xfrm>
            <a:off x="502920" y="4306824"/>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5" name="Text 23"/>
          <p:cNvSpPr/>
          <p:nvPr/>
        </p:nvSpPr>
        <p:spPr>
          <a:xfrm>
            <a:off x="731520" y="4306824"/>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A paired difference-in-differences puts S2 − S1 1.26 pp less negative under UI-Venus, [+0.04, +2.51]: weak, exploratory, and it cannot carry the reading that the first grounder is what makes S2 lose, which would require the contrast to reach zero</a:t>
            </a:r>
            <a:endParaRPr lang="en-US" sz="1200" dirty="0"/>
          </a:p>
        </p:txBody>
      </p:sp>
      <p:sp>
        <p:nvSpPr>
          <p:cNvPr id="26" name="Text 24"/>
          <p:cNvSpPr/>
          <p:nvPr/>
        </p:nvSpPr>
        <p:spPr>
          <a:xfrm>
            <a:off x="502920" y="4928616"/>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7" name="Text 25"/>
          <p:cNvSpPr/>
          <p:nvPr/>
        </p:nvSpPr>
        <p:spPr>
          <a:xfrm>
            <a:off x="731520" y="4928616"/>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Part of the shrinkage is mechanical: UI-Venus scores 2.8-4.1 points lower on every branch</a:t>
            </a:r>
            <a:endParaRPr lang="en-US" sz="1200" dirty="0"/>
          </a:p>
        </p:txBody>
      </p:sp>
      <p:sp>
        <p:nvSpPr>
          <p:cNvPr id="28" name="Text 26"/>
          <p:cNvSpPr/>
          <p:nvPr/>
        </p:nvSpPr>
        <p:spPr>
          <a:xfrm>
            <a:off x="502920" y="5550408"/>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9" name="Text 27"/>
          <p:cNvSpPr/>
          <p:nvPr/>
        </p:nvSpPr>
        <p:spPr>
          <a:xfrm>
            <a:off x="731520" y="5550408"/>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Not closed: both grounders are built on Qwen-family backbones, and no human evaluation anchors either</a:t>
            </a:r>
            <a:endParaRPr lang="en-US" sz="1200" dirty="0"/>
          </a:p>
        </p:txBody>
      </p:sp>
      <p:sp>
        <p:nvSpPr>
          <p:cNvPr id="31" name="Shape 28"/>
          <p:cNvSpPr/>
          <p:nvPr/>
        </p:nvSpPr>
        <p:spPr>
          <a:xfrm>
            <a:off x="0" y="6620256"/>
            <a:ext cx="2194560" cy="237744"/>
          </a:xfrm>
          <a:prstGeom prst="rect">
            <a:avLst/>
          </a:prstGeom>
          <a:solidFill>
            <a:srgbClr val="191132"/>
          </a:solidFill>
          <a:ln/>
        </p:spPr>
      </p:sp>
      <p:sp>
        <p:nvSpPr>
          <p:cNvPr id="32" name="Shape 29"/>
          <p:cNvSpPr/>
          <p:nvPr/>
        </p:nvSpPr>
        <p:spPr>
          <a:xfrm>
            <a:off x="2194560" y="6620256"/>
            <a:ext cx="3931920" cy="237744"/>
          </a:xfrm>
          <a:prstGeom prst="rect">
            <a:avLst/>
          </a:prstGeom>
          <a:solidFill>
            <a:srgbClr val="25194B"/>
          </a:solidFill>
          <a:ln/>
        </p:spPr>
      </p:sp>
      <p:sp>
        <p:nvSpPr>
          <p:cNvPr id="33" name="Shape 30"/>
          <p:cNvSpPr/>
          <p:nvPr/>
        </p:nvSpPr>
        <p:spPr>
          <a:xfrm>
            <a:off x="6126480" y="6620256"/>
            <a:ext cx="1737360" cy="237744"/>
          </a:xfrm>
          <a:prstGeom prst="rect">
            <a:avLst/>
          </a:prstGeom>
          <a:solidFill>
            <a:srgbClr val="4F417A"/>
          </a:solidFill>
          <a:ln/>
        </p:spPr>
      </p:sp>
      <p:sp>
        <p:nvSpPr>
          <p:cNvPr id="34" name="Shape 31"/>
          <p:cNvSpPr/>
          <p:nvPr/>
        </p:nvSpPr>
        <p:spPr>
          <a:xfrm>
            <a:off x="7863840" y="6620256"/>
            <a:ext cx="1280160" cy="237744"/>
          </a:xfrm>
          <a:prstGeom prst="rect">
            <a:avLst/>
          </a:prstGeom>
          <a:solidFill>
            <a:srgbClr val="7A7099"/>
          </a:solidFill>
          <a:ln/>
        </p:spPr>
      </p:sp>
      <p:sp>
        <p:nvSpPr>
          <p:cNvPr id="35" name="Text 32"/>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6" name="Text 33"/>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7" name="Text 3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8" name="Text 3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Hit-rule sensitivity and determinism</a:t>
            </a:r>
            <a:endParaRPr lang="en-US" sz="1900" dirty="0"/>
          </a:p>
        </p:txBody>
      </p:sp>
      <p:sp>
        <p:nvSpPr>
          <p:cNvPr id="4" name="Text 2"/>
          <p:cNvSpPr/>
          <p:nvPr/>
        </p:nvSpPr>
        <p:spPr>
          <a:xfrm>
            <a:off x="502920" y="777240"/>
            <a:ext cx="8138160" cy="274320"/>
          </a:xfrm>
          <a:prstGeom prst="rect">
            <a:avLst/>
          </a:prstGeom>
          <a:noFill/>
          <a:ln/>
        </p:spPr>
        <p:txBody>
          <a:bodyPr wrap="square" lIns="0" tIns="0" rIns="0" bIns="0" rtlCol="0" anchor="t"/>
          <a:lstStyle/>
          <a:p>
            <a:pPr algn="l" indent="0" marL="0">
              <a:buNone/>
            </a:pPr>
            <a:r>
              <a:rPr lang="en-US" sz="1200" i="1" dirty="0">
                <a:solidFill>
                  <a:srgbClr val="5A5A66"/>
                </a:solidFill>
                <a:latin typeface="Cambria" pitchFamily="34" charset="0"/>
                <a:ea typeface="Cambria" pitchFamily="34" charset="-122"/>
                <a:cs typeface="Cambria" pitchFamily="34" charset="-120"/>
              </a:rPr>
              <a:t>Three branches re-scored on 698 steps under five rules</a:t>
            </a:r>
            <a:endParaRPr lang="en-US" sz="1200" dirty="0"/>
          </a:p>
        </p:txBody>
      </p:sp>
      <p:sp>
        <p:nvSpPr>
          <p:cNvPr id="5" name="Shape 3"/>
          <p:cNvSpPr/>
          <p:nvPr/>
        </p:nvSpPr>
        <p:spPr>
          <a:xfrm>
            <a:off x="777240" y="1097280"/>
            <a:ext cx="7589520" cy="384048"/>
          </a:xfrm>
          <a:prstGeom prst="rect">
            <a:avLst/>
          </a:prstGeom>
          <a:solidFill>
            <a:srgbClr val="322164"/>
          </a:solidFill>
          <a:ln/>
        </p:spPr>
      </p:sp>
      <p:sp>
        <p:nvSpPr>
          <p:cNvPr id="6" name="Text 4"/>
          <p:cNvSpPr/>
          <p:nvPr/>
        </p:nvSpPr>
        <p:spPr>
          <a:xfrm>
            <a:off x="777240" y="1097280"/>
            <a:ext cx="3657600" cy="384048"/>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Hit rule</a:t>
            </a:r>
            <a:endParaRPr lang="en-US" sz="1250" dirty="0"/>
          </a:p>
        </p:txBody>
      </p:sp>
      <p:sp>
        <p:nvSpPr>
          <p:cNvPr id="7" name="Text 5"/>
          <p:cNvSpPr/>
          <p:nvPr/>
        </p:nvSpPr>
        <p:spPr>
          <a:xfrm>
            <a:off x="4434840" y="1097280"/>
            <a:ext cx="201168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Ceiling</a:t>
            </a:r>
            <a:endParaRPr lang="en-US" sz="1250" dirty="0"/>
          </a:p>
        </p:txBody>
      </p:sp>
      <p:sp>
        <p:nvSpPr>
          <p:cNvPr id="8" name="Text 6"/>
          <p:cNvSpPr/>
          <p:nvPr/>
        </p:nvSpPr>
        <p:spPr>
          <a:xfrm>
            <a:off x="6446520" y="1097280"/>
            <a:ext cx="1920240" cy="384048"/>
          </a:xfrm>
          <a:prstGeom prst="rect">
            <a:avLst/>
          </a:prstGeom>
          <a:noFill/>
          <a:ln/>
        </p:spPr>
        <p:txBody>
          <a:bodyPr wrap="square" lIns="38100" tIns="38100" rIns="38100" bIns="3810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S1 − Base</a:t>
            </a:r>
            <a:endParaRPr lang="en-US" sz="1250" dirty="0"/>
          </a:p>
        </p:txBody>
      </p:sp>
      <p:sp>
        <p:nvSpPr>
          <p:cNvPr id="9" name="Text 7"/>
          <p:cNvSpPr/>
          <p:nvPr/>
        </p:nvSpPr>
        <p:spPr>
          <a:xfrm>
            <a:off x="777240" y="1481328"/>
            <a:ext cx="36576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Euclidean disc</a:t>
            </a:r>
            <a:endParaRPr lang="en-US" sz="1250" dirty="0"/>
          </a:p>
        </p:txBody>
      </p:sp>
      <p:sp>
        <p:nvSpPr>
          <p:cNvPr id="10" name="Text 8"/>
          <p:cNvSpPr/>
          <p:nvPr/>
        </p:nvSpPr>
        <p:spPr>
          <a:xfrm>
            <a:off x="4434840" y="1481328"/>
            <a:ext cx="201168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80.2</a:t>
            </a:r>
            <a:endParaRPr lang="en-US" sz="1250" dirty="0"/>
          </a:p>
        </p:txBody>
      </p:sp>
      <p:sp>
        <p:nvSpPr>
          <p:cNvPr id="11" name="Text 9"/>
          <p:cNvSpPr/>
          <p:nvPr/>
        </p:nvSpPr>
        <p:spPr>
          <a:xfrm>
            <a:off x="6446520" y="1481328"/>
            <a:ext cx="19202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+12.6</a:t>
            </a:r>
            <a:endParaRPr lang="en-US" sz="1250" dirty="0"/>
          </a:p>
        </p:txBody>
      </p:sp>
      <p:sp>
        <p:nvSpPr>
          <p:cNvPr id="12" name="Shape 10"/>
          <p:cNvSpPr/>
          <p:nvPr/>
        </p:nvSpPr>
        <p:spPr>
          <a:xfrm>
            <a:off x="777240" y="1847088"/>
            <a:ext cx="7589520" cy="0"/>
          </a:xfrm>
          <a:prstGeom prst="line">
            <a:avLst/>
          </a:prstGeom>
          <a:noFill/>
          <a:ln w="12700">
            <a:solidFill>
              <a:srgbClr val="9A94AE"/>
            </a:solidFill>
            <a:prstDash val="solid"/>
          </a:ln>
        </p:spPr>
      </p:sp>
      <p:sp>
        <p:nvSpPr>
          <p:cNvPr id="13" name="Text 11"/>
          <p:cNvSpPr/>
          <p:nvPr/>
        </p:nvSpPr>
        <p:spPr>
          <a:xfrm>
            <a:off x="777240" y="1847088"/>
            <a:ext cx="36576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Per-axis rectangle (the convention)</a:t>
            </a:r>
            <a:endParaRPr lang="en-US" sz="1250" dirty="0"/>
          </a:p>
        </p:txBody>
      </p:sp>
      <p:sp>
        <p:nvSpPr>
          <p:cNvPr id="14" name="Text 12"/>
          <p:cNvSpPr/>
          <p:nvPr/>
        </p:nvSpPr>
        <p:spPr>
          <a:xfrm>
            <a:off x="4434840" y="1847088"/>
            <a:ext cx="201168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82.2</a:t>
            </a:r>
            <a:endParaRPr lang="en-US" sz="1250" dirty="0"/>
          </a:p>
        </p:txBody>
      </p:sp>
      <p:sp>
        <p:nvSpPr>
          <p:cNvPr id="15" name="Text 13"/>
          <p:cNvSpPr/>
          <p:nvPr/>
        </p:nvSpPr>
        <p:spPr>
          <a:xfrm>
            <a:off x="6446520" y="1847088"/>
            <a:ext cx="19202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+13.0</a:t>
            </a:r>
            <a:endParaRPr lang="en-US" sz="1250" dirty="0"/>
          </a:p>
        </p:txBody>
      </p:sp>
      <p:sp>
        <p:nvSpPr>
          <p:cNvPr id="16" name="Shape 14"/>
          <p:cNvSpPr/>
          <p:nvPr/>
        </p:nvSpPr>
        <p:spPr>
          <a:xfrm>
            <a:off x="777240" y="2212848"/>
            <a:ext cx="7589520" cy="0"/>
          </a:xfrm>
          <a:prstGeom prst="line">
            <a:avLst/>
          </a:prstGeom>
          <a:noFill/>
          <a:ln w="12700">
            <a:solidFill>
              <a:srgbClr val="9A94AE"/>
            </a:solidFill>
            <a:prstDash val="solid"/>
          </a:ln>
        </p:spPr>
      </p:sp>
      <p:sp>
        <p:nvSpPr>
          <p:cNvPr id="17" name="Text 15"/>
          <p:cNvSpPr/>
          <p:nvPr/>
        </p:nvSpPr>
        <p:spPr>
          <a:xfrm>
            <a:off x="777240" y="2212848"/>
            <a:ext cx="3657600" cy="365760"/>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Cell rule as implemented</a:t>
            </a:r>
            <a:endParaRPr lang="en-US" sz="1250" dirty="0"/>
          </a:p>
        </p:txBody>
      </p:sp>
      <p:sp>
        <p:nvSpPr>
          <p:cNvPr id="18" name="Text 16"/>
          <p:cNvSpPr/>
          <p:nvPr/>
        </p:nvSpPr>
        <p:spPr>
          <a:xfrm>
            <a:off x="4434840" y="2212848"/>
            <a:ext cx="2011680" cy="365760"/>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74.2</a:t>
            </a:r>
            <a:endParaRPr lang="en-US" sz="1250" dirty="0"/>
          </a:p>
        </p:txBody>
      </p:sp>
      <p:sp>
        <p:nvSpPr>
          <p:cNvPr id="19" name="Text 17"/>
          <p:cNvSpPr/>
          <p:nvPr/>
        </p:nvSpPr>
        <p:spPr>
          <a:xfrm>
            <a:off x="6446520" y="2212848"/>
            <a:ext cx="1920240" cy="365760"/>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+11.7</a:t>
            </a:r>
            <a:endParaRPr lang="en-US" sz="1250" dirty="0"/>
          </a:p>
        </p:txBody>
      </p:sp>
      <p:sp>
        <p:nvSpPr>
          <p:cNvPr id="20" name="Shape 18"/>
          <p:cNvSpPr/>
          <p:nvPr/>
        </p:nvSpPr>
        <p:spPr>
          <a:xfrm>
            <a:off x="777240" y="2578608"/>
            <a:ext cx="7589520" cy="0"/>
          </a:xfrm>
          <a:prstGeom prst="line">
            <a:avLst/>
          </a:prstGeom>
          <a:noFill/>
          <a:ln w="12700">
            <a:solidFill>
              <a:srgbClr val="9A94AE"/>
            </a:solidFill>
            <a:prstDash val="solid"/>
          </a:ln>
        </p:spPr>
      </p:sp>
      <p:sp>
        <p:nvSpPr>
          <p:cNvPr id="21" name="Text 19"/>
          <p:cNvSpPr/>
          <p:nvPr/>
        </p:nvSpPr>
        <p:spPr>
          <a:xfrm>
            <a:off x="777240" y="2578608"/>
            <a:ext cx="36576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Cell rule seeded at the box centre</a:t>
            </a:r>
            <a:endParaRPr lang="en-US" sz="1250" dirty="0"/>
          </a:p>
        </p:txBody>
      </p:sp>
      <p:sp>
        <p:nvSpPr>
          <p:cNvPr id="22" name="Text 20"/>
          <p:cNvSpPr/>
          <p:nvPr/>
        </p:nvSpPr>
        <p:spPr>
          <a:xfrm>
            <a:off x="4434840" y="2578608"/>
            <a:ext cx="201168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56.6</a:t>
            </a:r>
            <a:endParaRPr lang="en-US" sz="1250" dirty="0"/>
          </a:p>
        </p:txBody>
      </p:sp>
      <p:sp>
        <p:nvSpPr>
          <p:cNvPr id="23" name="Text 21"/>
          <p:cNvSpPr/>
          <p:nvPr/>
        </p:nvSpPr>
        <p:spPr>
          <a:xfrm>
            <a:off x="6446520" y="2578608"/>
            <a:ext cx="19202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+9.5</a:t>
            </a:r>
            <a:endParaRPr lang="en-US" sz="1250" dirty="0"/>
          </a:p>
        </p:txBody>
      </p:sp>
      <p:sp>
        <p:nvSpPr>
          <p:cNvPr id="24" name="Shape 22"/>
          <p:cNvSpPr/>
          <p:nvPr/>
        </p:nvSpPr>
        <p:spPr>
          <a:xfrm>
            <a:off x="777240" y="2944368"/>
            <a:ext cx="7589520" cy="0"/>
          </a:xfrm>
          <a:prstGeom prst="line">
            <a:avLst/>
          </a:prstGeom>
          <a:noFill/>
          <a:ln w="12700">
            <a:solidFill>
              <a:srgbClr val="9A94AE"/>
            </a:solidFill>
            <a:prstDash val="solid"/>
          </a:ln>
        </p:spPr>
      </p:sp>
      <p:sp>
        <p:nvSpPr>
          <p:cNvPr id="25" name="Text 23"/>
          <p:cNvSpPr/>
          <p:nvPr/>
        </p:nvSpPr>
        <p:spPr>
          <a:xfrm>
            <a:off x="777240" y="2944368"/>
            <a:ext cx="365760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Nearest box</a:t>
            </a:r>
            <a:endParaRPr lang="en-US" sz="1250" dirty="0"/>
          </a:p>
        </p:txBody>
      </p:sp>
      <p:sp>
        <p:nvSpPr>
          <p:cNvPr id="26" name="Text 24"/>
          <p:cNvSpPr/>
          <p:nvPr/>
        </p:nvSpPr>
        <p:spPr>
          <a:xfrm>
            <a:off x="4434840" y="2944368"/>
            <a:ext cx="201168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82.2</a:t>
            </a:r>
            <a:endParaRPr lang="en-US" sz="1250" dirty="0"/>
          </a:p>
        </p:txBody>
      </p:sp>
      <p:sp>
        <p:nvSpPr>
          <p:cNvPr id="27" name="Text 25"/>
          <p:cNvSpPr/>
          <p:nvPr/>
        </p:nvSpPr>
        <p:spPr>
          <a:xfrm>
            <a:off x="6446520" y="2944368"/>
            <a:ext cx="1920240" cy="36576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+13.0</a:t>
            </a:r>
            <a:endParaRPr lang="en-US" sz="1250" dirty="0"/>
          </a:p>
        </p:txBody>
      </p:sp>
      <p:sp>
        <p:nvSpPr>
          <p:cNvPr id="28" name="Text 26"/>
          <p:cNvSpPr/>
          <p:nvPr/>
        </p:nvSpPr>
        <p:spPr>
          <a:xfrm>
            <a:off x="502920" y="365760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9" name="Text 27"/>
          <p:cNvSpPr/>
          <p:nvPr/>
        </p:nvSpPr>
        <p:spPr>
          <a:xfrm>
            <a:off x="731520" y="3657600"/>
            <a:ext cx="790956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The absolute level moves by up to 26 points, the ordering of the branches never does, and the fine-tuning gain stays between +9.5 and +13.0</a:t>
            </a:r>
            <a:endParaRPr lang="en-US" sz="1200" dirty="0"/>
          </a:p>
        </p:txBody>
      </p:sp>
      <p:sp>
        <p:nvSpPr>
          <p:cNvPr id="30" name="Text 28"/>
          <p:cNvSpPr/>
          <p:nvPr/>
        </p:nvSpPr>
        <p:spPr>
          <a:xfrm>
            <a:off x="502920" y="443484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1" name="Text 29"/>
          <p:cNvSpPr/>
          <p:nvPr/>
        </p:nvSpPr>
        <p:spPr>
          <a:xfrm>
            <a:off x="731520" y="4434840"/>
            <a:ext cx="790956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Determinism: on 2,810 steps where two runs emitted byte-identical sentences, the grounder returned identical coordinates and identical verdicts on all 2,810</a:t>
            </a:r>
            <a:endParaRPr lang="en-US" sz="1200" dirty="0"/>
          </a:p>
        </p:txBody>
      </p:sp>
      <p:sp>
        <p:nvSpPr>
          <p:cNvPr id="32" name="Text 30"/>
          <p:cNvSpPr/>
          <p:nvPr/>
        </p:nvSpPr>
        <p:spPr>
          <a:xfrm>
            <a:off x="502920" y="5212080"/>
            <a:ext cx="201168" cy="7772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3" name="Text 31"/>
          <p:cNvSpPr/>
          <p:nvPr/>
        </p:nvSpPr>
        <p:spPr>
          <a:xfrm>
            <a:off x="731520" y="5212080"/>
            <a:ext cx="7909560" cy="731520"/>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Step-level agreement across seeds is 93.6% (κ = 0.867), but 63% of those pairs are byte-identical sentences a deterministic instrument must agree on; on the 1,652 steps where the runs wrote something different it is 82.6% (κ = 0.650), the figure we quote</a:t>
            </a:r>
            <a:endParaRPr lang="en-US" sz="1200" dirty="0"/>
          </a:p>
        </p:txBody>
      </p:sp>
      <p:sp>
        <p:nvSpPr>
          <p:cNvPr id="35" name="Shape 32"/>
          <p:cNvSpPr/>
          <p:nvPr/>
        </p:nvSpPr>
        <p:spPr>
          <a:xfrm>
            <a:off x="0" y="6620256"/>
            <a:ext cx="2194560" cy="237744"/>
          </a:xfrm>
          <a:prstGeom prst="rect">
            <a:avLst/>
          </a:prstGeom>
          <a:solidFill>
            <a:srgbClr val="191132"/>
          </a:solidFill>
          <a:ln/>
        </p:spPr>
      </p:sp>
      <p:sp>
        <p:nvSpPr>
          <p:cNvPr id="36" name="Shape 33"/>
          <p:cNvSpPr/>
          <p:nvPr/>
        </p:nvSpPr>
        <p:spPr>
          <a:xfrm>
            <a:off x="2194560" y="6620256"/>
            <a:ext cx="3931920" cy="237744"/>
          </a:xfrm>
          <a:prstGeom prst="rect">
            <a:avLst/>
          </a:prstGeom>
          <a:solidFill>
            <a:srgbClr val="25194B"/>
          </a:solidFill>
          <a:ln/>
        </p:spPr>
      </p:sp>
      <p:sp>
        <p:nvSpPr>
          <p:cNvPr id="37" name="Shape 34"/>
          <p:cNvSpPr/>
          <p:nvPr/>
        </p:nvSpPr>
        <p:spPr>
          <a:xfrm>
            <a:off x="6126480" y="6620256"/>
            <a:ext cx="1737360" cy="237744"/>
          </a:xfrm>
          <a:prstGeom prst="rect">
            <a:avLst/>
          </a:prstGeom>
          <a:solidFill>
            <a:srgbClr val="4F417A"/>
          </a:solidFill>
          <a:ln/>
        </p:spPr>
      </p:sp>
      <p:sp>
        <p:nvSpPr>
          <p:cNvPr id="38" name="Shape 35"/>
          <p:cNvSpPr/>
          <p:nvPr/>
        </p:nvSpPr>
        <p:spPr>
          <a:xfrm>
            <a:off x="7863840" y="6620256"/>
            <a:ext cx="1280160" cy="237744"/>
          </a:xfrm>
          <a:prstGeom prst="rect">
            <a:avLst/>
          </a:prstGeom>
          <a:solidFill>
            <a:srgbClr val="7A7099"/>
          </a:solidFill>
          <a:ln/>
        </p:spPr>
      </p:sp>
      <p:sp>
        <p:nvSpPr>
          <p:cNvPr id="39" name="Text 36"/>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40" name="Text 37"/>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41" name="Text 3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2" name="Text 3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3</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Is the instrument brittle to phrasing?</a:t>
            </a:r>
            <a:endParaRPr lang="en-US" sz="1900" dirty="0"/>
          </a:p>
        </p:txBody>
      </p:sp>
      <p:sp>
        <p:nvSpPr>
          <p:cNvPr id="4" name="Shape 2"/>
          <p:cNvSpPr/>
          <p:nvPr/>
        </p:nvSpPr>
        <p:spPr>
          <a:xfrm>
            <a:off x="502920" y="914400"/>
            <a:ext cx="8129016" cy="384048"/>
          </a:xfrm>
          <a:prstGeom prst="rect">
            <a:avLst/>
          </a:prstGeom>
          <a:solidFill>
            <a:srgbClr val="322164"/>
          </a:solidFill>
          <a:ln/>
        </p:spPr>
      </p:sp>
      <p:sp>
        <p:nvSpPr>
          <p:cNvPr id="5" name="Text 3"/>
          <p:cNvSpPr/>
          <p:nvPr/>
        </p:nvSpPr>
        <p:spPr>
          <a:xfrm>
            <a:off x="502920" y="914400"/>
            <a:ext cx="274320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Rewrite of the reference</a:t>
            </a:r>
            <a:endParaRPr lang="en-US" sz="1200" dirty="0"/>
          </a:p>
        </p:txBody>
      </p:sp>
      <p:sp>
        <p:nvSpPr>
          <p:cNvPr id="6" name="Text 4"/>
          <p:cNvSpPr/>
          <p:nvPr/>
        </p:nvSpPr>
        <p:spPr>
          <a:xfrm>
            <a:off x="3246120" y="914400"/>
            <a:ext cx="17373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Steps altered</a:t>
            </a:r>
            <a:endParaRPr lang="en-US" sz="1200" dirty="0"/>
          </a:p>
        </p:txBody>
      </p:sp>
      <p:sp>
        <p:nvSpPr>
          <p:cNvPr id="7" name="Text 5"/>
          <p:cNvSpPr/>
          <p:nvPr/>
        </p:nvSpPr>
        <p:spPr>
          <a:xfrm>
            <a:off x="4983480" y="914400"/>
            <a:ext cx="192024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Score</a:t>
            </a:r>
            <a:endParaRPr lang="en-US" sz="1200" dirty="0"/>
          </a:p>
        </p:txBody>
      </p:sp>
      <p:sp>
        <p:nvSpPr>
          <p:cNvPr id="8" name="Text 6"/>
          <p:cNvSpPr/>
          <p:nvPr/>
        </p:nvSpPr>
        <p:spPr>
          <a:xfrm>
            <a:off x="6903720" y="914400"/>
            <a:ext cx="172821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McNemar p</a:t>
            </a:r>
            <a:endParaRPr lang="en-US" sz="1200" dirty="0"/>
          </a:p>
        </p:txBody>
      </p:sp>
      <p:sp>
        <p:nvSpPr>
          <p:cNvPr id="9" name="Text 7"/>
          <p:cNvSpPr/>
          <p:nvPr/>
        </p:nvSpPr>
        <p:spPr>
          <a:xfrm>
            <a:off x="502920" y="1298448"/>
            <a:ext cx="27432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Verb substitution</a:t>
            </a:r>
            <a:endParaRPr lang="en-US" sz="1250" dirty="0"/>
          </a:p>
        </p:txBody>
      </p:sp>
      <p:sp>
        <p:nvSpPr>
          <p:cNvPr id="10" name="Text 8"/>
          <p:cNvSpPr/>
          <p:nvPr/>
        </p:nvSpPr>
        <p:spPr>
          <a:xfrm>
            <a:off x="3246120" y="1298448"/>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725</a:t>
            </a:r>
            <a:endParaRPr lang="en-US" sz="1250" dirty="0"/>
          </a:p>
        </p:txBody>
      </p:sp>
      <p:sp>
        <p:nvSpPr>
          <p:cNvPr id="11" name="Text 9"/>
          <p:cNvSpPr/>
          <p:nvPr/>
        </p:nvSpPr>
        <p:spPr>
          <a:xfrm>
            <a:off x="4983480" y="1298448"/>
            <a:ext cx="192024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76.8 → 77.0</a:t>
            </a:r>
            <a:endParaRPr lang="en-US" sz="1250" dirty="0"/>
          </a:p>
        </p:txBody>
      </p:sp>
      <p:sp>
        <p:nvSpPr>
          <p:cNvPr id="12" name="Text 10"/>
          <p:cNvSpPr/>
          <p:nvPr/>
        </p:nvSpPr>
        <p:spPr>
          <a:xfrm>
            <a:off x="6903720" y="1298448"/>
            <a:ext cx="172821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1.000</a:t>
            </a:r>
            <a:endParaRPr lang="en-US" sz="1250" dirty="0"/>
          </a:p>
        </p:txBody>
      </p:sp>
      <p:sp>
        <p:nvSpPr>
          <p:cNvPr id="13" name="Shape 11"/>
          <p:cNvSpPr/>
          <p:nvPr/>
        </p:nvSpPr>
        <p:spPr>
          <a:xfrm>
            <a:off x="502920" y="1700784"/>
            <a:ext cx="8129016" cy="0"/>
          </a:xfrm>
          <a:prstGeom prst="line">
            <a:avLst/>
          </a:prstGeom>
          <a:noFill/>
          <a:ln w="12700">
            <a:solidFill>
              <a:srgbClr val="9A94AE"/>
            </a:solidFill>
            <a:prstDash val="solid"/>
          </a:ln>
        </p:spPr>
      </p:sp>
      <p:sp>
        <p:nvSpPr>
          <p:cNvPr id="14" name="Text 12"/>
          <p:cNvSpPr/>
          <p:nvPr/>
        </p:nvSpPr>
        <p:spPr>
          <a:xfrm>
            <a:off x="502920" y="1700784"/>
            <a:ext cx="27432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Fronting the locative clause</a:t>
            </a:r>
            <a:endParaRPr lang="en-US" sz="1250" dirty="0"/>
          </a:p>
        </p:txBody>
      </p:sp>
      <p:sp>
        <p:nvSpPr>
          <p:cNvPr id="15" name="Text 13"/>
          <p:cNvSpPr/>
          <p:nvPr/>
        </p:nvSpPr>
        <p:spPr>
          <a:xfrm>
            <a:off x="3246120" y="1700784"/>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211</a:t>
            </a:r>
            <a:endParaRPr lang="en-US" sz="1250" dirty="0"/>
          </a:p>
        </p:txBody>
      </p:sp>
      <p:sp>
        <p:nvSpPr>
          <p:cNvPr id="16" name="Text 14"/>
          <p:cNvSpPr/>
          <p:nvPr/>
        </p:nvSpPr>
        <p:spPr>
          <a:xfrm>
            <a:off x="4983480" y="1700784"/>
            <a:ext cx="192024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89.6 → 90.0</a:t>
            </a:r>
            <a:endParaRPr lang="en-US" sz="1250" dirty="0"/>
          </a:p>
        </p:txBody>
      </p:sp>
      <p:sp>
        <p:nvSpPr>
          <p:cNvPr id="17" name="Text 15"/>
          <p:cNvSpPr/>
          <p:nvPr/>
        </p:nvSpPr>
        <p:spPr>
          <a:xfrm>
            <a:off x="6903720" y="1700784"/>
            <a:ext cx="172821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1.000</a:t>
            </a:r>
            <a:endParaRPr lang="en-US" sz="1250" dirty="0"/>
          </a:p>
        </p:txBody>
      </p:sp>
      <p:sp>
        <p:nvSpPr>
          <p:cNvPr id="18" name="Shape 16"/>
          <p:cNvSpPr/>
          <p:nvPr/>
        </p:nvSpPr>
        <p:spPr>
          <a:xfrm>
            <a:off x="502920" y="2103120"/>
            <a:ext cx="8129016" cy="0"/>
          </a:xfrm>
          <a:prstGeom prst="line">
            <a:avLst/>
          </a:prstGeom>
          <a:noFill/>
          <a:ln w="12700">
            <a:solidFill>
              <a:srgbClr val="9A94AE"/>
            </a:solidFill>
            <a:prstDash val="solid"/>
          </a:ln>
        </p:spPr>
      </p:sp>
      <p:sp>
        <p:nvSpPr>
          <p:cNvPr id="19" name="Text 17"/>
          <p:cNvSpPr/>
          <p:nvPr/>
        </p:nvSpPr>
        <p:spPr>
          <a:xfrm>
            <a:off x="502920" y="2103120"/>
            <a:ext cx="2743200" cy="402336"/>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Both at once</a:t>
            </a:r>
            <a:endParaRPr lang="en-US" sz="1250" dirty="0"/>
          </a:p>
        </p:txBody>
      </p:sp>
      <p:sp>
        <p:nvSpPr>
          <p:cNvPr id="20" name="Text 18"/>
          <p:cNvSpPr/>
          <p:nvPr/>
        </p:nvSpPr>
        <p:spPr>
          <a:xfrm>
            <a:off x="3246120" y="2103120"/>
            <a:ext cx="173736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203</a:t>
            </a:r>
            <a:endParaRPr lang="en-US" sz="1250" dirty="0"/>
          </a:p>
        </p:txBody>
      </p:sp>
      <p:sp>
        <p:nvSpPr>
          <p:cNvPr id="21" name="Text 19"/>
          <p:cNvSpPr/>
          <p:nvPr/>
        </p:nvSpPr>
        <p:spPr>
          <a:xfrm>
            <a:off x="4983480" y="2103120"/>
            <a:ext cx="1920240"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90.1 → 91.1</a:t>
            </a:r>
            <a:endParaRPr lang="en-US" sz="1250" dirty="0"/>
          </a:p>
        </p:txBody>
      </p:sp>
      <p:sp>
        <p:nvSpPr>
          <p:cNvPr id="22" name="Text 20"/>
          <p:cNvSpPr/>
          <p:nvPr/>
        </p:nvSpPr>
        <p:spPr>
          <a:xfrm>
            <a:off x="6903720" y="2103120"/>
            <a:ext cx="1728216" cy="402336"/>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0.480</a:t>
            </a:r>
            <a:endParaRPr lang="en-US" sz="1250" dirty="0"/>
          </a:p>
        </p:txBody>
      </p:sp>
      <p:sp>
        <p:nvSpPr>
          <p:cNvPr id="23" name="Shape 21"/>
          <p:cNvSpPr/>
          <p:nvPr/>
        </p:nvSpPr>
        <p:spPr>
          <a:xfrm>
            <a:off x="502920" y="2505456"/>
            <a:ext cx="8129016" cy="0"/>
          </a:xfrm>
          <a:prstGeom prst="line">
            <a:avLst/>
          </a:prstGeom>
          <a:noFill/>
          <a:ln w="12700">
            <a:solidFill>
              <a:srgbClr val="9A94AE"/>
            </a:solidFill>
            <a:prstDash val="solid"/>
          </a:ln>
        </p:spPr>
      </p:sp>
      <p:sp>
        <p:nvSpPr>
          <p:cNvPr id="24" name="Text 22"/>
          <p:cNvSpPr/>
          <p:nvPr/>
        </p:nvSpPr>
        <p:spPr>
          <a:xfrm>
            <a:off x="502920" y="2505456"/>
            <a:ext cx="2743200" cy="438912"/>
          </a:xfrm>
          <a:prstGeom prst="rect">
            <a:avLst/>
          </a:prstGeom>
          <a:noFill/>
          <a:ln/>
        </p:spPr>
        <p:txBody>
          <a:bodyPr wrap="square" lIns="38100" tIns="38100" rIns="38100" bIns="38100" rtlCol="0" anchor="ctr"/>
          <a:lstStyle/>
          <a:p>
            <a:pPr algn="l" indent="0" marL="0">
              <a:buNone/>
            </a:pPr>
            <a:r>
              <a:rPr lang="en-US" sz="1250" b="1" dirty="0">
                <a:solidFill>
                  <a:srgbClr val="B22222"/>
                </a:solidFill>
                <a:latin typeface="Cambria" pitchFamily="34" charset="0"/>
                <a:ea typeface="Cambria" pitchFamily="34" charset="-122"/>
                <a:cs typeface="Cambria" pitchFamily="34" charset="-120"/>
              </a:rPr>
              <a:t>Deleting the locative clause</a:t>
            </a:r>
            <a:endParaRPr lang="en-US" sz="1250" dirty="0"/>
          </a:p>
        </p:txBody>
      </p:sp>
      <p:sp>
        <p:nvSpPr>
          <p:cNvPr id="25" name="Text 23"/>
          <p:cNvSpPr/>
          <p:nvPr/>
        </p:nvSpPr>
        <p:spPr>
          <a:xfrm>
            <a:off x="3246120" y="2505456"/>
            <a:ext cx="1737360" cy="438912"/>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198</a:t>
            </a:r>
            <a:endParaRPr lang="en-US" sz="1250" dirty="0"/>
          </a:p>
        </p:txBody>
      </p:sp>
      <p:sp>
        <p:nvSpPr>
          <p:cNvPr id="26" name="Text 24"/>
          <p:cNvSpPr/>
          <p:nvPr/>
        </p:nvSpPr>
        <p:spPr>
          <a:xfrm>
            <a:off x="4983480" y="2505456"/>
            <a:ext cx="1920240" cy="438912"/>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89.4 → 85.9</a:t>
            </a:r>
            <a:endParaRPr lang="en-US" sz="1250" dirty="0"/>
          </a:p>
        </p:txBody>
      </p:sp>
      <p:sp>
        <p:nvSpPr>
          <p:cNvPr id="27" name="Text 25"/>
          <p:cNvSpPr/>
          <p:nvPr/>
        </p:nvSpPr>
        <p:spPr>
          <a:xfrm>
            <a:off x="6903720" y="2505456"/>
            <a:ext cx="1728216" cy="438912"/>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0.046</a:t>
            </a:r>
            <a:endParaRPr lang="en-US" sz="1250" dirty="0"/>
          </a:p>
        </p:txBody>
      </p:sp>
      <p:sp>
        <p:nvSpPr>
          <p:cNvPr id="28" name="Text 26"/>
          <p:cNvSpPr/>
          <p:nvPr/>
        </p:nvSpPr>
        <p:spPr>
          <a:xfrm>
            <a:off x="502920" y="3108960"/>
            <a:ext cx="201168" cy="71323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9" name="Text 27"/>
          <p:cNvSpPr/>
          <p:nvPr/>
        </p:nvSpPr>
        <p:spPr>
          <a:xfrm>
            <a:off x="731520" y="3108960"/>
            <a:ext cx="7909560" cy="67665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Pooled over the three meaning-preserving rewrites: 1,139 steps, net +0.35 pp, [−0.59, +1.29], 2.6% of steps changing verdict</a:t>
            </a:r>
            <a:endParaRPr lang="en-US" sz="1200" dirty="0"/>
          </a:p>
        </p:txBody>
      </p:sp>
      <p:sp>
        <p:nvSpPr>
          <p:cNvPr id="30" name="Text 28"/>
          <p:cNvSpPr/>
          <p:nvPr/>
        </p:nvSpPr>
        <p:spPr>
          <a:xfrm>
            <a:off x="502920" y="3822192"/>
            <a:ext cx="201168" cy="71323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1" name="Text 29"/>
          <p:cNvSpPr/>
          <p:nvPr/>
        </p:nvSpPr>
        <p:spPr>
          <a:xfrm>
            <a:off x="731520" y="3822192"/>
            <a:ext cx="7909560" cy="67665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Deleting the locative clause does cost, so this is not an inert instrument</a:t>
            </a:r>
            <a:endParaRPr lang="en-US" sz="1200" dirty="0"/>
          </a:p>
        </p:txBody>
      </p:sp>
      <p:sp>
        <p:nvSpPr>
          <p:cNvPr id="32" name="Text 30"/>
          <p:cNvSpPr/>
          <p:nvPr/>
        </p:nvSpPr>
        <p:spPr>
          <a:xfrm>
            <a:off x="502920" y="4535424"/>
            <a:ext cx="201168" cy="71323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3" name="Text 31"/>
          <p:cNvSpPr/>
          <p:nvPr/>
        </p:nvSpPr>
        <p:spPr>
          <a:xfrm>
            <a:off x="731520" y="4535424"/>
            <a:ext cx="7909560" cy="67665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The failure is all-or-nothing: the median error is unchanged while p90 moves from 6.88 to 31.16</a:t>
            </a:r>
            <a:endParaRPr lang="en-US" sz="1200" dirty="0"/>
          </a:p>
        </p:txBody>
      </p:sp>
      <p:sp>
        <p:nvSpPr>
          <p:cNvPr id="34" name="Text 32"/>
          <p:cNvSpPr/>
          <p:nvPr/>
        </p:nvSpPr>
        <p:spPr>
          <a:xfrm>
            <a:off x="502920" y="5248656"/>
            <a:ext cx="201168" cy="71323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5" name="Text 33"/>
          <p:cNvSpPr/>
          <p:nvPr/>
        </p:nvSpPr>
        <p:spPr>
          <a:xfrm>
            <a:off x="731520" y="5248656"/>
            <a:ext cx="7909560" cy="67665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Declared scope: our rewrites keep the element name verbatim, so we probed phrasing, not the referring expression itself, and the population altered is the easiest quartile</a:t>
            </a:r>
            <a:endParaRPr lang="en-US" sz="1200" dirty="0"/>
          </a:p>
        </p:txBody>
      </p:sp>
      <p:sp>
        <p:nvSpPr>
          <p:cNvPr id="37" name="Shape 34"/>
          <p:cNvSpPr/>
          <p:nvPr/>
        </p:nvSpPr>
        <p:spPr>
          <a:xfrm>
            <a:off x="0" y="6620256"/>
            <a:ext cx="2194560" cy="237744"/>
          </a:xfrm>
          <a:prstGeom prst="rect">
            <a:avLst/>
          </a:prstGeom>
          <a:solidFill>
            <a:srgbClr val="191132"/>
          </a:solidFill>
          <a:ln/>
        </p:spPr>
      </p:sp>
      <p:sp>
        <p:nvSpPr>
          <p:cNvPr id="38" name="Shape 35"/>
          <p:cNvSpPr/>
          <p:nvPr/>
        </p:nvSpPr>
        <p:spPr>
          <a:xfrm>
            <a:off x="2194560" y="6620256"/>
            <a:ext cx="3931920" cy="237744"/>
          </a:xfrm>
          <a:prstGeom prst="rect">
            <a:avLst/>
          </a:prstGeom>
          <a:solidFill>
            <a:srgbClr val="25194B"/>
          </a:solidFill>
          <a:ln/>
        </p:spPr>
      </p:sp>
      <p:sp>
        <p:nvSpPr>
          <p:cNvPr id="39" name="Shape 36"/>
          <p:cNvSpPr/>
          <p:nvPr/>
        </p:nvSpPr>
        <p:spPr>
          <a:xfrm>
            <a:off x="6126480" y="6620256"/>
            <a:ext cx="1737360" cy="237744"/>
          </a:xfrm>
          <a:prstGeom prst="rect">
            <a:avLst/>
          </a:prstGeom>
          <a:solidFill>
            <a:srgbClr val="4F417A"/>
          </a:solidFill>
          <a:ln/>
        </p:spPr>
      </p:sp>
      <p:sp>
        <p:nvSpPr>
          <p:cNvPr id="40" name="Shape 37"/>
          <p:cNvSpPr/>
          <p:nvPr/>
        </p:nvSpPr>
        <p:spPr>
          <a:xfrm>
            <a:off x="7863840" y="6620256"/>
            <a:ext cx="1280160" cy="237744"/>
          </a:xfrm>
          <a:prstGeom prst="rect">
            <a:avLst/>
          </a:prstGeom>
          <a:solidFill>
            <a:srgbClr val="7A7099"/>
          </a:solidFill>
          <a:ln/>
        </p:spPr>
      </p:sp>
      <p:sp>
        <p:nvSpPr>
          <p:cNvPr id="41" name="Text 38"/>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42" name="Text 39"/>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43" name="Text 4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4" name="Text 4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How the floor was built, and what it rules out</a:t>
            </a:r>
            <a:endParaRPr lang="en-US" sz="1900" dirty="0"/>
          </a:p>
        </p:txBody>
      </p:sp>
      <p:sp>
        <p:nvSpPr>
          <p:cNvPr id="4" name="Shape 2"/>
          <p:cNvSpPr/>
          <p:nvPr/>
        </p:nvSpPr>
        <p:spPr>
          <a:xfrm>
            <a:off x="502920" y="960120"/>
            <a:ext cx="8129016" cy="384048"/>
          </a:xfrm>
          <a:prstGeom prst="rect">
            <a:avLst/>
          </a:prstGeom>
          <a:solidFill>
            <a:srgbClr val="322164"/>
          </a:solidFill>
          <a:ln/>
        </p:spPr>
      </p:sp>
      <p:sp>
        <p:nvSpPr>
          <p:cNvPr id="5" name="Text 3"/>
          <p:cNvSpPr/>
          <p:nvPr/>
        </p:nvSpPr>
        <p:spPr>
          <a:xfrm>
            <a:off x="502920" y="960120"/>
            <a:ext cx="301752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Control</a:t>
            </a:r>
            <a:endParaRPr lang="en-US" sz="1200" dirty="0"/>
          </a:p>
        </p:txBody>
      </p:sp>
      <p:sp>
        <p:nvSpPr>
          <p:cNvPr id="6" name="Text 4"/>
          <p:cNvSpPr/>
          <p:nvPr/>
        </p:nvSpPr>
        <p:spPr>
          <a:xfrm>
            <a:off x="3520440" y="960120"/>
            <a:ext cx="347472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Every sentence replaced by</a:t>
            </a:r>
            <a:endParaRPr lang="en-US" sz="1200" dirty="0"/>
          </a:p>
        </p:txBody>
      </p:sp>
      <p:sp>
        <p:nvSpPr>
          <p:cNvPr id="7" name="Text 5"/>
          <p:cNvSpPr/>
          <p:nvPr/>
        </p:nvSpPr>
        <p:spPr>
          <a:xfrm>
            <a:off x="6995160" y="960120"/>
            <a:ext cx="1636776"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Score</a:t>
            </a:r>
            <a:endParaRPr lang="en-US" sz="1200" dirty="0"/>
          </a:p>
        </p:txBody>
      </p:sp>
      <p:sp>
        <p:nvSpPr>
          <p:cNvPr id="8" name="Text 6"/>
          <p:cNvSpPr/>
          <p:nvPr/>
        </p:nvSpPr>
        <p:spPr>
          <a:xfrm>
            <a:off x="502920" y="1344168"/>
            <a:ext cx="301752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Contentless</a:t>
            </a:r>
            <a:endParaRPr lang="en-US" sz="1250" dirty="0"/>
          </a:p>
        </p:txBody>
      </p:sp>
      <p:sp>
        <p:nvSpPr>
          <p:cNvPr id="9" name="Text 7"/>
          <p:cNvSpPr/>
          <p:nvPr/>
        </p:nvSpPr>
        <p:spPr>
          <a:xfrm>
            <a:off x="3520440" y="1344168"/>
            <a:ext cx="3474720" cy="420624"/>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“Tap the button.” at every step</a:t>
            </a:r>
            <a:endParaRPr lang="en-US" sz="1250" dirty="0"/>
          </a:p>
        </p:txBody>
      </p:sp>
      <p:sp>
        <p:nvSpPr>
          <p:cNvPr id="10" name="Text 8"/>
          <p:cNvSpPr/>
          <p:nvPr/>
        </p:nvSpPr>
        <p:spPr>
          <a:xfrm>
            <a:off x="6995160" y="1344168"/>
            <a:ext cx="1636776" cy="420624"/>
          </a:xfrm>
          <a:prstGeom prst="rect">
            <a:avLst/>
          </a:prstGeom>
          <a:noFill/>
          <a:ln/>
        </p:spPr>
        <p:txBody>
          <a:bodyPr wrap="square" lIns="38100" tIns="38100" rIns="38100" bIns="38100" rtlCol="0" anchor="ctr"/>
          <a:lstStyle/>
          <a:p>
            <a:pPr algn="ctr" indent="0" marL="0">
              <a:buNone/>
            </a:pPr>
            <a:r>
              <a:rPr lang="en-US" sz="1250" b="1" dirty="0">
                <a:solidFill>
                  <a:srgbClr val="1A1A1A"/>
                </a:solidFill>
                <a:latin typeface="Cambria" pitchFamily="34" charset="0"/>
                <a:ea typeface="Cambria" pitchFamily="34" charset="-122"/>
                <a:cs typeface="Cambria" pitchFamily="34" charset="-120"/>
              </a:rPr>
              <a:t>12.0</a:t>
            </a:r>
            <a:endParaRPr lang="en-US" sz="1250" dirty="0"/>
          </a:p>
        </p:txBody>
      </p:sp>
      <p:sp>
        <p:nvSpPr>
          <p:cNvPr id="11" name="Shape 9"/>
          <p:cNvSpPr/>
          <p:nvPr/>
        </p:nvSpPr>
        <p:spPr>
          <a:xfrm>
            <a:off x="502920" y="1764792"/>
            <a:ext cx="8129016" cy="0"/>
          </a:xfrm>
          <a:prstGeom prst="line">
            <a:avLst/>
          </a:prstGeom>
          <a:noFill/>
          <a:ln w="12700">
            <a:solidFill>
              <a:srgbClr val="9A94AE"/>
            </a:solidFill>
            <a:prstDash val="solid"/>
          </a:ln>
        </p:spPr>
      </p:sp>
      <p:sp>
        <p:nvSpPr>
          <p:cNvPr id="12" name="Text 10"/>
          <p:cNvSpPr/>
          <p:nvPr/>
        </p:nvSpPr>
        <p:spPr>
          <a:xfrm>
            <a:off x="502920" y="1764792"/>
            <a:ext cx="3017520" cy="566928"/>
          </a:xfrm>
          <a:prstGeom prst="rect">
            <a:avLst/>
          </a:prstGeom>
          <a:noFill/>
          <a:ln/>
        </p:spPr>
        <p:txBody>
          <a:bodyPr wrap="square" lIns="38100" tIns="38100" rIns="38100" bIns="38100" rtlCol="0" anchor="ctr"/>
          <a:lstStyle/>
          <a:p>
            <a:pPr algn="l" indent="0" marL="0">
              <a:buNone/>
            </a:pPr>
            <a:r>
              <a:rPr lang="en-US" sz="1250" b="1" dirty="0">
                <a:solidFill>
                  <a:srgbClr val="1A1A1A"/>
                </a:solidFill>
                <a:latin typeface="Cambria" pitchFamily="34" charset="0"/>
                <a:ea typeface="Cambria" pitchFamily="34" charset="-122"/>
                <a:cs typeface="Cambria" pitchFamily="34" charset="-120"/>
              </a:rPr>
              <a:t>Wrong screen</a:t>
            </a:r>
            <a:endParaRPr lang="en-US" sz="1250" dirty="0"/>
          </a:p>
        </p:txBody>
      </p:sp>
      <p:sp>
        <p:nvSpPr>
          <p:cNvPr id="13" name="Text 11"/>
          <p:cNvSpPr/>
          <p:nvPr/>
        </p:nvSpPr>
        <p:spPr>
          <a:xfrm>
            <a:off x="3520440" y="1764792"/>
            <a:ext cx="3474720" cy="566928"/>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a genuine reference from another step: right register, matched length, wrong content</a:t>
            </a:r>
            <a:endParaRPr lang="en-US" sz="1250" dirty="0"/>
          </a:p>
        </p:txBody>
      </p:sp>
      <p:sp>
        <p:nvSpPr>
          <p:cNvPr id="14" name="Text 12"/>
          <p:cNvSpPr/>
          <p:nvPr/>
        </p:nvSpPr>
        <p:spPr>
          <a:xfrm>
            <a:off x="6995160" y="1764792"/>
            <a:ext cx="1636776" cy="566928"/>
          </a:xfrm>
          <a:prstGeom prst="rect">
            <a:avLst/>
          </a:prstGeom>
          <a:noFill/>
          <a:ln/>
        </p:spPr>
        <p:txBody>
          <a:bodyPr wrap="square" lIns="38100" tIns="38100" rIns="38100" bIns="38100" rtlCol="0" anchor="ctr"/>
          <a:lstStyle/>
          <a:p>
            <a:pPr algn="ctr" indent="0" marL="0">
              <a:buNone/>
            </a:pPr>
            <a:r>
              <a:rPr lang="en-US" sz="1250" b="1" dirty="0">
                <a:solidFill>
                  <a:srgbClr val="B22222"/>
                </a:solidFill>
                <a:latin typeface="Cambria" pitchFamily="34" charset="0"/>
                <a:ea typeface="Cambria" pitchFamily="34" charset="-122"/>
                <a:cs typeface="Cambria" pitchFamily="34" charset="-120"/>
              </a:rPr>
              <a:t>6.1</a:t>
            </a:r>
            <a:endParaRPr lang="en-US" sz="1250" dirty="0"/>
          </a:p>
        </p:txBody>
      </p:sp>
      <p:sp>
        <p:nvSpPr>
          <p:cNvPr id="15" name="Shape 13"/>
          <p:cNvSpPr/>
          <p:nvPr/>
        </p:nvSpPr>
        <p:spPr>
          <a:xfrm>
            <a:off x="502920" y="2331720"/>
            <a:ext cx="8129016" cy="0"/>
          </a:xfrm>
          <a:prstGeom prst="line">
            <a:avLst/>
          </a:prstGeom>
          <a:noFill/>
          <a:ln w="12700">
            <a:solidFill>
              <a:srgbClr val="9A94AE"/>
            </a:solidFill>
            <a:prstDash val="solid"/>
          </a:ln>
        </p:spPr>
      </p:sp>
      <p:sp>
        <p:nvSpPr>
          <p:cNvPr id="16" name="Text 14"/>
          <p:cNvSpPr/>
          <p:nvPr/>
        </p:nvSpPr>
        <p:spPr>
          <a:xfrm>
            <a:off x="502920" y="2331720"/>
            <a:ext cx="3017520" cy="45720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Name removed</a:t>
            </a:r>
            <a:endParaRPr lang="en-US" sz="1250" dirty="0"/>
          </a:p>
        </p:txBody>
      </p:sp>
      <p:sp>
        <p:nvSpPr>
          <p:cNvPr id="17" name="Text 15"/>
          <p:cNvSpPr/>
          <p:nvPr/>
        </p:nvSpPr>
        <p:spPr>
          <a:xfrm>
            <a:off x="3520440" y="2331720"/>
            <a:ext cx="3474720" cy="45720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locative clause only, name replaced by “the item”</a:t>
            </a:r>
            <a:endParaRPr lang="en-US" sz="1250" dirty="0"/>
          </a:p>
        </p:txBody>
      </p:sp>
      <p:sp>
        <p:nvSpPr>
          <p:cNvPr id="18" name="Text 16"/>
          <p:cNvSpPr/>
          <p:nvPr/>
        </p:nvSpPr>
        <p:spPr>
          <a:xfrm>
            <a:off x="6995160" y="2331720"/>
            <a:ext cx="1636776" cy="457200"/>
          </a:xfrm>
          <a:prstGeom prst="rect">
            <a:avLst/>
          </a:prstGeom>
          <a:noFill/>
          <a:ln/>
        </p:spPr>
        <p:txBody>
          <a:bodyPr wrap="square" lIns="38100" tIns="38100" rIns="38100" bIns="38100" rtlCol="0" anchor="ctr"/>
          <a:lstStyle/>
          <a:p>
            <a:pPr algn="ctr" indent="0" marL="0">
              <a:buNone/>
            </a:pPr>
            <a:r>
              <a:rPr lang="en-US" sz="1250" dirty="0">
                <a:solidFill>
                  <a:srgbClr val="1A1A1A"/>
                </a:solidFill>
                <a:latin typeface="Cambria" pitchFamily="34" charset="0"/>
                <a:ea typeface="Cambria" pitchFamily="34" charset="-122"/>
                <a:cs typeface="Cambria" pitchFamily="34" charset="-120"/>
              </a:rPr>
              <a:t>61.1</a:t>
            </a:r>
            <a:endParaRPr lang="en-US" sz="1250" dirty="0"/>
          </a:p>
        </p:txBody>
      </p:sp>
      <p:sp>
        <p:nvSpPr>
          <p:cNvPr id="19" name="Text 17"/>
          <p:cNvSpPr/>
          <p:nvPr/>
        </p:nvSpPr>
        <p:spPr>
          <a:xfrm>
            <a:off x="502920" y="3200400"/>
            <a:ext cx="201168" cy="603504"/>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0" name="Text 18"/>
          <p:cNvSpPr/>
          <p:nvPr/>
        </p:nvSpPr>
        <p:spPr>
          <a:xfrm>
            <a:off x="731520" y="3200400"/>
            <a:ext cx="7909560" cy="566928"/>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The wrong-screen control scores below the contentless one on disjoint intervals: a wrong sentence actively misleads the instrument where an empty one leaves it to a weak prior</a:t>
            </a:r>
            <a:endParaRPr lang="en-US" sz="1200" dirty="0"/>
          </a:p>
        </p:txBody>
      </p:sp>
      <p:sp>
        <p:nvSpPr>
          <p:cNvPr id="21" name="Text 19"/>
          <p:cNvSpPr/>
          <p:nvPr/>
        </p:nvSpPr>
        <p:spPr>
          <a:xfrm>
            <a:off x="502920" y="3803904"/>
            <a:ext cx="201168" cy="603504"/>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2" name="Text 20"/>
          <p:cNvSpPr/>
          <p:nvPr/>
        </p:nvSpPr>
        <p:spPr>
          <a:xfrm>
            <a:off x="731520" y="3803904"/>
            <a:ext cx="7909560" cy="566928"/>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It also disposes of the reading that the metric rewards annotator style, which is exactly what that control preserves</a:t>
            </a:r>
            <a:endParaRPr lang="en-US" sz="1200" dirty="0"/>
          </a:p>
        </p:txBody>
      </p:sp>
      <p:sp>
        <p:nvSpPr>
          <p:cNvPr id="23" name="Text 21"/>
          <p:cNvSpPr/>
          <p:nvPr/>
        </p:nvSpPr>
        <p:spPr>
          <a:xfrm>
            <a:off x="502920" y="4407408"/>
            <a:ext cx="201168" cy="603504"/>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4" name="Text 22"/>
          <p:cNvSpPr/>
          <p:nvPr/>
        </p:nvSpPr>
        <p:spPr>
          <a:xfrm>
            <a:off x="731520" y="4407408"/>
            <a:ext cx="7909560" cy="566928"/>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Usable range 62.9 points on a slice whose ceiling is 74.9</a:t>
            </a:r>
            <a:endParaRPr lang="en-US" sz="1200" dirty="0"/>
          </a:p>
        </p:txBody>
      </p:sp>
      <p:sp>
        <p:nvSpPr>
          <p:cNvPr id="25" name="Text 23"/>
          <p:cNvSpPr/>
          <p:nvPr/>
        </p:nvSpPr>
        <p:spPr>
          <a:xfrm>
            <a:off x="502920" y="5010912"/>
            <a:ext cx="201168" cy="603504"/>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6" name="Text 24"/>
          <p:cNvSpPr/>
          <p:nvPr/>
        </p:nvSpPr>
        <p:spPr>
          <a:xfrm>
            <a:off x="731520" y="5010912"/>
            <a:ext cx="7909560" cy="566928"/>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Adequacy gate, fixed before any compute: median localisation error ≤ 3% of screen width. Measured 0.7%. The tolerance margin has median 6.2% and 10th percentile 3.6%</a:t>
            </a:r>
            <a:endParaRPr lang="en-US" sz="1200" dirty="0"/>
          </a:p>
        </p:txBody>
      </p:sp>
      <p:sp>
        <p:nvSpPr>
          <p:cNvPr id="27" name="Text 25"/>
          <p:cNvSpPr/>
          <p:nvPr/>
        </p:nvSpPr>
        <p:spPr>
          <a:xfrm>
            <a:off x="502920" y="5614416"/>
            <a:ext cx="201168" cy="603504"/>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8" name="Text 26"/>
          <p:cNvSpPr/>
          <p:nvPr/>
        </p:nvSpPr>
        <p:spPr>
          <a:xfrm>
            <a:off x="731520" y="5614416"/>
            <a:ext cx="7909560" cy="566928"/>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Declared weakness: the error distribution is bimodal, so a percentile condition would have been the better gate</a:t>
            </a:r>
            <a:endParaRPr lang="en-US" sz="1200" dirty="0"/>
          </a:p>
        </p:txBody>
      </p:sp>
      <p:sp>
        <p:nvSpPr>
          <p:cNvPr id="30" name="Shape 27"/>
          <p:cNvSpPr/>
          <p:nvPr/>
        </p:nvSpPr>
        <p:spPr>
          <a:xfrm>
            <a:off x="0" y="6620256"/>
            <a:ext cx="2194560" cy="237744"/>
          </a:xfrm>
          <a:prstGeom prst="rect">
            <a:avLst/>
          </a:prstGeom>
          <a:solidFill>
            <a:srgbClr val="191132"/>
          </a:solidFill>
          <a:ln/>
        </p:spPr>
      </p:sp>
      <p:sp>
        <p:nvSpPr>
          <p:cNvPr id="31" name="Shape 28"/>
          <p:cNvSpPr/>
          <p:nvPr/>
        </p:nvSpPr>
        <p:spPr>
          <a:xfrm>
            <a:off x="2194560" y="6620256"/>
            <a:ext cx="393192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5" name="Text 32"/>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5</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Training configuration and cost</a:t>
            </a:r>
            <a:endParaRPr lang="en-US" sz="1900" dirty="0"/>
          </a:p>
        </p:txBody>
      </p:sp>
      <p:sp>
        <p:nvSpPr>
          <p:cNvPr id="4" name="Shape 2"/>
          <p:cNvSpPr/>
          <p:nvPr/>
        </p:nvSpPr>
        <p:spPr>
          <a:xfrm>
            <a:off x="502920" y="960120"/>
            <a:ext cx="8129016" cy="365760"/>
          </a:xfrm>
          <a:prstGeom prst="rect">
            <a:avLst/>
          </a:prstGeom>
          <a:solidFill>
            <a:srgbClr val="322164"/>
          </a:solidFill>
          <a:ln/>
        </p:spPr>
      </p:sp>
      <p:sp>
        <p:nvSpPr>
          <p:cNvPr id="5" name="Text 3"/>
          <p:cNvSpPr/>
          <p:nvPr/>
        </p:nvSpPr>
        <p:spPr>
          <a:xfrm>
            <a:off x="502920" y="960120"/>
            <a:ext cx="256032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Item</a:t>
            </a:r>
            <a:endParaRPr lang="en-US" sz="1250" dirty="0"/>
          </a:p>
        </p:txBody>
      </p:sp>
      <p:sp>
        <p:nvSpPr>
          <p:cNvPr id="6" name="Text 4"/>
          <p:cNvSpPr/>
          <p:nvPr/>
        </p:nvSpPr>
        <p:spPr>
          <a:xfrm>
            <a:off x="3063240" y="960120"/>
            <a:ext cx="5568696"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Setting</a:t>
            </a:r>
            <a:endParaRPr lang="en-US" sz="1250" dirty="0"/>
          </a:p>
        </p:txBody>
      </p:sp>
      <p:sp>
        <p:nvSpPr>
          <p:cNvPr id="7" name="Text 5"/>
          <p:cNvSpPr/>
          <p:nvPr/>
        </p:nvSpPr>
        <p:spPr>
          <a:xfrm>
            <a:off x="502920" y="1325880"/>
            <a:ext cx="2560320"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Base model</a:t>
            </a:r>
            <a:endParaRPr lang="en-US" sz="1250" dirty="0"/>
          </a:p>
        </p:txBody>
      </p:sp>
      <p:sp>
        <p:nvSpPr>
          <p:cNvPr id="8" name="Text 6"/>
          <p:cNvSpPr/>
          <p:nvPr/>
        </p:nvSpPr>
        <p:spPr>
          <a:xfrm>
            <a:off x="3063240" y="1325880"/>
            <a:ext cx="5568696" cy="365760"/>
          </a:xfrm>
          <a:prstGeom prst="rect">
            <a:avLst/>
          </a:prstGeom>
          <a:noFill/>
          <a:ln/>
        </p:spPr>
        <p:txBody>
          <a:bodyPr wrap="square" lIns="38100" tIns="38100" rIns="38100" bIns="38100" rtlCol="0" anchor="ctr"/>
          <a:lstStyle/>
          <a:p>
            <a:pPr algn="l" indent="0" marL="0">
              <a:buNone/>
            </a:pPr>
            <a:r>
              <a:rPr lang="en-US" sz="1250" dirty="0">
                <a:solidFill>
                  <a:srgbClr val="1A1A1A"/>
                </a:solidFill>
                <a:latin typeface="Cambria" pitchFamily="34" charset="0"/>
                <a:ea typeface="Cambria" pitchFamily="34" charset="-122"/>
                <a:cs typeface="Cambria" pitchFamily="34" charset="-120"/>
              </a:rPr>
              <a:t>Qwen2.5-VL-3B-Instruct</a:t>
            </a:r>
            <a:endParaRPr lang="en-US" sz="1250" dirty="0"/>
          </a:p>
        </p:txBody>
      </p:sp>
      <p:sp>
        <p:nvSpPr>
          <p:cNvPr id="9" name="Shape 7"/>
          <p:cNvSpPr/>
          <p:nvPr/>
        </p:nvSpPr>
        <p:spPr>
          <a:xfrm>
            <a:off x="502920" y="1691640"/>
            <a:ext cx="8129016" cy="0"/>
          </a:xfrm>
          <a:prstGeom prst="line">
            <a:avLst/>
          </a:prstGeom>
          <a:noFill/>
          <a:ln w="12700">
            <a:solidFill>
              <a:srgbClr val="9A94AE"/>
            </a:solidFill>
            <a:prstDash val="solid"/>
          </a:ln>
        </p:spPr>
      </p:sp>
      <p:sp>
        <p:nvSpPr>
          <p:cNvPr id="10" name="Text 8"/>
          <p:cNvSpPr/>
          <p:nvPr/>
        </p:nvSpPr>
        <p:spPr>
          <a:xfrm>
            <a:off x="502920" y="1691640"/>
            <a:ext cx="256032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Adaptation</a:t>
            </a:r>
            <a:endParaRPr lang="en-US" sz="1200" dirty="0"/>
          </a:p>
        </p:txBody>
      </p:sp>
      <p:sp>
        <p:nvSpPr>
          <p:cNvPr id="11" name="Text 9"/>
          <p:cNvSpPr/>
          <p:nvPr/>
        </p:nvSpPr>
        <p:spPr>
          <a:xfrm>
            <a:off x="3063240" y="1691640"/>
            <a:ext cx="5568696"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QLoRA, 4-bit NF4, rank 8, α = 16, dropout 0.05, adapters on q,k,v,o,gate,up,down</a:t>
            </a:r>
            <a:endParaRPr lang="en-US" sz="1200" dirty="0"/>
          </a:p>
        </p:txBody>
      </p:sp>
      <p:sp>
        <p:nvSpPr>
          <p:cNvPr id="12" name="Shape 10"/>
          <p:cNvSpPr/>
          <p:nvPr/>
        </p:nvSpPr>
        <p:spPr>
          <a:xfrm>
            <a:off x="502920" y="2093976"/>
            <a:ext cx="8129016" cy="0"/>
          </a:xfrm>
          <a:prstGeom prst="line">
            <a:avLst/>
          </a:prstGeom>
          <a:noFill/>
          <a:ln w="12700">
            <a:solidFill>
              <a:srgbClr val="9A94AE"/>
            </a:solidFill>
            <a:prstDash val="solid"/>
          </a:ln>
        </p:spPr>
      </p:sp>
      <p:sp>
        <p:nvSpPr>
          <p:cNvPr id="13" name="Text 11"/>
          <p:cNvSpPr/>
          <p:nvPr/>
        </p:nvSpPr>
        <p:spPr>
          <a:xfrm>
            <a:off x="502920" y="2093976"/>
            <a:ext cx="256032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Frozen</a:t>
            </a:r>
            <a:endParaRPr lang="en-US" sz="1200" dirty="0"/>
          </a:p>
        </p:txBody>
      </p:sp>
      <p:sp>
        <p:nvSpPr>
          <p:cNvPr id="14" name="Text 12"/>
          <p:cNvSpPr/>
          <p:nvPr/>
        </p:nvSpPr>
        <p:spPr>
          <a:xfrm>
            <a:off x="3063240" y="2093976"/>
            <a:ext cx="5568696"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vision tower and projector; 14,966,784 trainable parameters</a:t>
            </a:r>
            <a:endParaRPr lang="en-US" sz="1200" dirty="0"/>
          </a:p>
        </p:txBody>
      </p:sp>
      <p:sp>
        <p:nvSpPr>
          <p:cNvPr id="15" name="Shape 13"/>
          <p:cNvSpPr/>
          <p:nvPr/>
        </p:nvSpPr>
        <p:spPr>
          <a:xfrm>
            <a:off x="502920" y="2459736"/>
            <a:ext cx="8129016" cy="0"/>
          </a:xfrm>
          <a:prstGeom prst="line">
            <a:avLst/>
          </a:prstGeom>
          <a:noFill/>
          <a:ln w="12700">
            <a:solidFill>
              <a:srgbClr val="9A94AE"/>
            </a:solidFill>
            <a:prstDash val="solid"/>
          </a:ln>
        </p:spPr>
      </p:sp>
      <p:sp>
        <p:nvSpPr>
          <p:cNvPr id="16" name="Text 14"/>
          <p:cNvSpPr/>
          <p:nvPr/>
        </p:nvSpPr>
        <p:spPr>
          <a:xfrm>
            <a:off x="502920" y="2459736"/>
            <a:ext cx="256032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Schedule</a:t>
            </a:r>
            <a:endParaRPr lang="en-US" sz="1200" dirty="0"/>
          </a:p>
        </p:txBody>
      </p:sp>
      <p:sp>
        <p:nvSpPr>
          <p:cNvPr id="17" name="Text 15"/>
          <p:cNvSpPr/>
          <p:nvPr/>
        </p:nvSpPr>
        <p:spPr>
          <a:xfrm>
            <a:off x="3063240" y="2459736"/>
            <a:ext cx="5568696"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context 2560, effective batch 16, lr 1e-4 cosine, two epochs, 8,072 steps</a:t>
            </a:r>
            <a:endParaRPr lang="en-US" sz="1200" dirty="0"/>
          </a:p>
        </p:txBody>
      </p:sp>
      <p:sp>
        <p:nvSpPr>
          <p:cNvPr id="18" name="Shape 16"/>
          <p:cNvSpPr/>
          <p:nvPr/>
        </p:nvSpPr>
        <p:spPr>
          <a:xfrm>
            <a:off x="502920" y="2862072"/>
            <a:ext cx="8129016" cy="0"/>
          </a:xfrm>
          <a:prstGeom prst="line">
            <a:avLst/>
          </a:prstGeom>
          <a:noFill/>
          <a:ln w="12700">
            <a:solidFill>
              <a:srgbClr val="9A94AE"/>
            </a:solidFill>
            <a:prstDash val="solid"/>
          </a:ln>
        </p:spPr>
      </p:sp>
      <p:sp>
        <p:nvSpPr>
          <p:cNvPr id="19" name="Text 17"/>
          <p:cNvSpPr/>
          <p:nvPr/>
        </p:nvSpPr>
        <p:spPr>
          <a:xfrm>
            <a:off x="502920" y="2862072"/>
            <a:ext cx="256032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Hardware</a:t>
            </a:r>
            <a:endParaRPr lang="en-US" sz="1200" dirty="0"/>
          </a:p>
        </p:txBody>
      </p:sp>
      <p:sp>
        <p:nvSpPr>
          <p:cNvPr id="20" name="Text 18"/>
          <p:cNvSpPr/>
          <p:nvPr/>
        </p:nvSpPr>
        <p:spPr>
          <a:xfrm>
            <a:off x="3063240" y="2862072"/>
            <a:ext cx="5568696"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one A100 per run, ≈ 23 h; scoring on 2×T4, ≈ 5.6 h per branch</a:t>
            </a:r>
            <a:endParaRPr lang="en-US" sz="1200" dirty="0"/>
          </a:p>
        </p:txBody>
      </p:sp>
      <p:sp>
        <p:nvSpPr>
          <p:cNvPr id="21" name="Shape 19"/>
          <p:cNvSpPr/>
          <p:nvPr/>
        </p:nvSpPr>
        <p:spPr>
          <a:xfrm>
            <a:off x="502920" y="3227832"/>
            <a:ext cx="8129016" cy="0"/>
          </a:xfrm>
          <a:prstGeom prst="line">
            <a:avLst/>
          </a:prstGeom>
          <a:noFill/>
          <a:ln w="12700">
            <a:solidFill>
              <a:srgbClr val="9A94AE"/>
            </a:solidFill>
            <a:prstDash val="solid"/>
          </a:ln>
        </p:spPr>
      </p:sp>
      <p:sp>
        <p:nvSpPr>
          <p:cNvPr id="22" name="Text 20"/>
          <p:cNvSpPr/>
          <p:nvPr/>
        </p:nvSpPr>
        <p:spPr>
          <a:xfrm>
            <a:off x="502920" y="3227832"/>
            <a:ext cx="2560320"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Inference</a:t>
            </a:r>
            <a:endParaRPr lang="en-US" sz="1200" dirty="0"/>
          </a:p>
        </p:txBody>
      </p:sp>
      <p:sp>
        <p:nvSpPr>
          <p:cNvPr id="23" name="Text 21"/>
          <p:cNvSpPr/>
          <p:nvPr/>
        </p:nvSpPr>
        <p:spPr>
          <a:xfrm>
            <a:off x="3063240" y="3227832"/>
            <a:ext cx="5568696" cy="402336"/>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greedy, one sentence per step, descriptor stripped by a fixed regular expression</a:t>
            </a:r>
            <a:endParaRPr lang="en-US" sz="1200" dirty="0"/>
          </a:p>
        </p:txBody>
      </p:sp>
      <p:sp>
        <p:nvSpPr>
          <p:cNvPr id="24" name="Text 22"/>
          <p:cNvSpPr/>
          <p:nvPr/>
        </p:nvSpPr>
        <p:spPr>
          <a:xfrm>
            <a:off x="502920" y="4023360"/>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5" name="Text 23"/>
          <p:cNvSpPr/>
          <p:nvPr/>
        </p:nvSpPr>
        <p:spPr>
          <a:xfrm>
            <a:off x="731520" y="4023360"/>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One configuration file serves every branch, with four keys changing: dataset, seed, output directory, dataloader workers</a:t>
            </a:r>
            <a:endParaRPr lang="en-US" sz="1200" dirty="0"/>
          </a:p>
        </p:txBody>
      </p:sp>
      <p:sp>
        <p:nvSpPr>
          <p:cNvPr id="26" name="Text 24"/>
          <p:cNvSpPr/>
          <p:nvPr/>
        </p:nvSpPr>
        <p:spPr>
          <a:xfrm>
            <a:off x="502920" y="4645152"/>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7" name="Text 25"/>
          <p:cNvSpPr/>
          <p:nvPr/>
        </p:nvSpPr>
        <p:spPr>
          <a:xfrm>
            <a:off x="731520" y="4645152"/>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Losses on an L4 and an A100 agree to three digits with identical total_flos, so the hardware is not a variable</a:t>
            </a:r>
            <a:endParaRPr lang="en-US" sz="1200" dirty="0"/>
          </a:p>
        </p:txBody>
      </p:sp>
      <p:sp>
        <p:nvSpPr>
          <p:cNvPr id="28" name="Text 26"/>
          <p:cNvSpPr/>
          <p:nvPr/>
        </p:nvSpPr>
        <p:spPr>
          <a:xfrm>
            <a:off x="502920" y="5266944"/>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9" name="Text 27"/>
          <p:cNvSpPr/>
          <p:nvPr/>
        </p:nvSpPr>
        <p:spPr>
          <a:xfrm>
            <a:off x="731520" y="5266944"/>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The prompt template is byte-identical across branches and between training and inference</a:t>
            </a:r>
            <a:endParaRPr lang="en-US" sz="1200" dirty="0"/>
          </a:p>
        </p:txBody>
      </p:sp>
      <p:sp>
        <p:nvSpPr>
          <p:cNvPr id="30" name="Text 28"/>
          <p:cNvSpPr/>
          <p:nvPr/>
        </p:nvSpPr>
        <p:spPr>
          <a:xfrm>
            <a:off x="502920" y="5888736"/>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1" name="Text 29"/>
          <p:cNvSpPr/>
          <p:nvPr/>
        </p:nvSpPr>
        <p:spPr>
          <a:xfrm>
            <a:off x="731520" y="5888736"/>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Compute budget is the reason the second treatment seed was cancelled, and we report that rather than re-describe the design</a:t>
            </a:r>
            <a:endParaRPr lang="en-US" sz="1200" dirty="0"/>
          </a:p>
        </p:txBody>
      </p:sp>
      <p:sp>
        <p:nvSpPr>
          <p:cNvPr id="33" name="Shape 30"/>
          <p:cNvSpPr/>
          <p:nvPr/>
        </p:nvSpPr>
        <p:spPr>
          <a:xfrm>
            <a:off x="0" y="6620256"/>
            <a:ext cx="2194560" cy="237744"/>
          </a:xfrm>
          <a:prstGeom prst="rect">
            <a:avLst/>
          </a:prstGeom>
          <a:solidFill>
            <a:srgbClr val="191132"/>
          </a:solidFill>
          <a:ln/>
        </p:spPr>
      </p:sp>
      <p:sp>
        <p:nvSpPr>
          <p:cNvPr id="34" name="Shape 31"/>
          <p:cNvSpPr/>
          <p:nvPr/>
        </p:nvSpPr>
        <p:spPr>
          <a:xfrm>
            <a:off x="2194560" y="6620256"/>
            <a:ext cx="3931920" cy="237744"/>
          </a:xfrm>
          <a:prstGeom prst="rect">
            <a:avLst/>
          </a:prstGeom>
          <a:solidFill>
            <a:srgbClr val="25194B"/>
          </a:solidFill>
          <a:ln/>
        </p:spPr>
      </p:sp>
      <p:sp>
        <p:nvSpPr>
          <p:cNvPr id="35" name="Shape 32"/>
          <p:cNvSpPr/>
          <p:nvPr/>
        </p:nvSpPr>
        <p:spPr>
          <a:xfrm>
            <a:off x="6126480" y="6620256"/>
            <a:ext cx="1737360" cy="237744"/>
          </a:xfrm>
          <a:prstGeom prst="rect">
            <a:avLst/>
          </a:prstGeom>
          <a:solidFill>
            <a:srgbClr val="4F417A"/>
          </a:solidFill>
          <a:ln/>
        </p:spPr>
      </p:sp>
      <p:sp>
        <p:nvSpPr>
          <p:cNvPr id="36" name="Shape 33"/>
          <p:cNvSpPr/>
          <p:nvPr/>
        </p:nvSpPr>
        <p:spPr>
          <a:xfrm>
            <a:off x="7863840" y="6620256"/>
            <a:ext cx="1280160" cy="237744"/>
          </a:xfrm>
          <a:prstGeom prst="rect">
            <a:avLst/>
          </a:prstGeom>
          <a:solidFill>
            <a:srgbClr val="7A7099"/>
          </a:solidFill>
          <a:ln/>
        </p:spPr>
      </p:sp>
      <p:sp>
        <p:nvSpPr>
          <p:cNvPr id="37" name="Text 34"/>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38" name="Text 35"/>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39"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0"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Status of every registered branch</a:t>
            </a:r>
            <a:endParaRPr lang="en-US" sz="1900" dirty="0"/>
          </a:p>
        </p:txBody>
      </p:sp>
      <p:sp>
        <p:nvSpPr>
          <p:cNvPr id="4" name="Shape 2"/>
          <p:cNvSpPr/>
          <p:nvPr/>
        </p:nvSpPr>
        <p:spPr>
          <a:xfrm>
            <a:off x="502920" y="960120"/>
            <a:ext cx="8129016" cy="384048"/>
          </a:xfrm>
          <a:prstGeom prst="rect">
            <a:avLst/>
          </a:prstGeom>
          <a:solidFill>
            <a:srgbClr val="322164"/>
          </a:solidFill>
          <a:ln/>
        </p:spPr>
      </p:sp>
      <p:sp>
        <p:nvSpPr>
          <p:cNvPr id="5" name="Text 3"/>
          <p:cNvSpPr/>
          <p:nvPr/>
        </p:nvSpPr>
        <p:spPr>
          <a:xfrm>
            <a:off x="502920" y="960120"/>
            <a:ext cx="2468880"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Branch</a:t>
            </a:r>
            <a:endParaRPr lang="en-US" sz="1200" dirty="0"/>
          </a:p>
        </p:txBody>
      </p:sp>
      <p:sp>
        <p:nvSpPr>
          <p:cNvPr id="6" name="Text 4"/>
          <p:cNvSpPr/>
          <p:nvPr/>
        </p:nvSpPr>
        <p:spPr>
          <a:xfrm>
            <a:off x="2971800" y="960120"/>
            <a:ext cx="1737360" cy="384048"/>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Status</a:t>
            </a:r>
            <a:endParaRPr lang="en-US" sz="1200" dirty="0"/>
          </a:p>
        </p:txBody>
      </p:sp>
      <p:sp>
        <p:nvSpPr>
          <p:cNvPr id="7" name="Text 5"/>
          <p:cNvSpPr/>
          <p:nvPr/>
        </p:nvSpPr>
        <p:spPr>
          <a:xfrm>
            <a:off x="4709160" y="960120"/>
            <a:ext cx="3922776" cy="384048"/>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Reason</a:t>
            </a:r>
            <a:endParaRPr lang="en-US" sz="1200" dirty="0"/>
          </a:p>
        </p:txBody>
      </p:sp>
      <p:sp>
        <p:nvSpPr>
          <p:cNvPr id="8" name="Text 6"/>
          <p:cNvSpPr/>
          <p:nvPr/>
        </p:nvSpPr>
        <p:spPr>
          <a:xfrm>
            <a:off x="502920" y="1344168"/>
            <a:ext cx="24688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S1, two seeds</a:t>
            </a:r>
            <a:endParaRPr lang="en-US" sz="1150" dirty="0"/>
          </a:p>
        </p:txBody>
      </p:sp>
      <p:sp>
        <p:nvSpPr>
          <p:cNvPr id="9" name="Text 7"/>
          <p:cNvSpPr/>
          <p:nvPr/>
        </p:nvSpPr>
        <p:spPr>
          <a:xfrm>
            <a:off x="2971800" y="1344168"/>
            <a:ext cx="1737360" cy="420624"/>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run</a:t>
            </a:r>
            <a:endParaRPr lang="en-US" sz="1150" dirty="0"/>
          </a:p>
        </p:txBody>
      </p:sp>
      <p:sp>
        <p:nvSpPr>
          <p:cNvPr id="10" name="Text 8"/>
          <p:cNvSpPr/>
          <p:nvPr/>
        </p:nvSpPr>
        <p:spPr>
          <a:xfrm>
            <a:off x="4709160" y="1344168"/>
            <a:ext cx="3922776"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control; gives the seed noise floor of 0.52 pp</a:t>
            </a:r>
            <a:endParaRPr lang="en-US" sz="1150" dirty="0"/>
          </a:p>
        </p:txBody>
      </p:sp>
      <p:sp>
        <p:nvSpPr>
          <p:cNvPr id="11" name="Shape 9"/>
          <p:cNvSpPr/>
          <p:nvPr/>
        </p:nvSpPr>
        <p:spPr>
          <a:xfrm>
            <a:off x="502920" y="1764792"/>
            <a:ext cx="8129016" cy="0"/>
          </a:xfrm>
          <a:prstGeom prst="line">
            <a:avLst/>
          </a:prstGeom>
          <a:noFill/>
          <a:ln w="12700">
            <a:solidFill>
              <a:srgbClr val="9A94AE"/>
            </a:solidFill>
            <a:prstDash val="solid"/>
          </a:ln>
        </p:spPr>
      </p:sp>
      <p:sp>
        <p:nvSpPr>
          <p:cNvPr id="12" name="Text 10"/>
          <p:cNvSpPr/>
          <p:nvPr/>
        </p:nvSpPr>
        <p:spPr>
          <a:xfrm>
            <a:off x="502920" y="1764792"/>
            <a:ext cx="24688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 seed 101</a:t>
            </a:r>
            <a:endParaRPr lang="en-US" sz="1150" dirty="0"/>
          </a:p>
        </p:txBody>
      </p:sp>
      <p:sp>
        <p:nvSpPr>
          <p:cNvPr id="13" name="Text 11"/>
          <p:cNvSpPr/>
          <p:nvPr/>
        </p:nvSpPr>
        <p:spPr>
          <a:xfrm>
            <a:off x="2971800" y="1764792"/>
            <a:ext cx="1737360" cy="420624"/>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run</a:t>
            </a:r>
            <a:endParaRPr lang="en-US" sz="1150" dirty="0"/>
          </a:p>
        </p:txBody>
      </p:sp>
      <p:sp>
        <p:nvSpPr>
          <p:cNvPr id="14" name="Text 12"/>
          <p:cNvSpPr/>
          <p:nvPr/>
        </p:nvSpPr>
        <p:spPr>
          <a:xfrm>
            <a:off x="4709160" y="1764792"/>
            <a:ext cx="3922776"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exploratory; −1.93 against S1 at the same seed</a:t>
            </a:r>
            <a:endParaRPr lang="en-US" sz="1150" dirty="0"/>
          </a:p>
        </p:txBody>
      </p:sp>
      <p:sp>
        <p:nvSpPr>
          <p:cNvPr id="15" name="Shape 13"/>
          <p:cNvSpPr/>
          <p:nvPr/>
        </p:nvSpPr>
        <p:spPr>
          <a:xfrm>
            <a:off x="502920" y="2185416"/>
            <a:ext cx="8129016" cy="0"/>
          </a:xfrm>
          <a:prstGeom prst="line">
            <a:avLst/>
          </a:prstGeom>
          <a:noFill/>
          <a:ln w="12700">
            <a:solidFill>
              <a:srgbClr val="9A94AE"/>
            </a:solidFill>
            <a:prstDash val="solid"/>
          </a:ln>
        </p:spPr>
      </p:sp>
      <p:sp>
        <p:nvSpPr>
          <p:cNvPr id="16" name="Text 14"/>
          <p:cNvSpPr/>
          <p:nvPr/>
        </p:nvSpPr>
        <p:spPr>
          <a:xfrm>
            <a:off x="502920" y="2185416"/>
            <a:ext cx="24688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 seed 202</a:t>
            </a:r>
            <a:endParaRPr lang="en-US" sz="1150" dirty="0"/>
          </a:p>
        </p:txBody>
      </p:sp>
      <p:sp>
        <p:nvSpPr>
          <p:cNvPr id="17" name="Text 15"/>
          <p:cNvSpPr/>
          <p:nvPr/>
        </p:nvSpPr>
        <p:spPr>
          <a:xfrm>
            <a:off x="2971800" y="2185416"/>
            <a:ext cx="1737360" cy="420624"/>
          </a:xfrm>
          <a:prstGeom prst="rect">
            <a:avLst/>
          </a:prstGeom>
          <a:noFill/>
          <a:ln/>
        </p:spPr>
        <p:txBody>
          <a:bodyPr wrap="square" lIns="38100" tIns="38100" rIns="38100" bIns="38100" rtlCol="0" anchor="ctr"/>
          <a:lstStyle/>
          <a:p>
            <a:pPr algn="ctr" indent="0" marL="0">
              <a:buNone/>
            </a:pPr>
            <a:r>
              <a:rPr lang="en-US" sz="1150" b="1" dirty="0">
                <a:solidFill>
                  <a:srgbClr val="B22222"/>
                </a:solidFill>
                <a:latin typeface="Cambria" pitchFamily="34" charset="0"/>
                <a:ea typeface="Cambria" pitchFamily="34" charset="-122"/>
                <a:cs typeface="Cambria" pitchFamily="34" charset="-120"/>
              </a:rPr>
              <a:t>cancelled</a:t>
            </a:r>
            <a:endParaRPr lang="en-US" sz="1150" dirty="0"/>
          </a:p>
        </p:txBody>
      </p:sp>
      <p:sp>
        <p:nvSpPr>
          <p:cNvPr id="18" name="Text 16"/>
          <p:cNvSpPr/>
          <p:nvPr/>
        </p:nvSpPr>
        <p:spPr>
          <a:xfrm>
            <a:off x="4709160" y="2185416"/>
            <a:ext cx="3922776"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compute budget; the registered estimand stays incomplete</a:t>
            </a:r>
            <a:endParaRPr lang="en-US" sz="1150" dirty="0"/>
          </a:p>
        </p:txBody>
      </p:sp>
      <p:sp>
        <p:nvSpPr>
          <p:cNvPr id="19" name="Shape 17"/>
          <p:cNvSpPr/>
          <p:nvPr/>
        </p:nvSpPr>
        <p:spPr>
          <a:xfrm>
            <a:off x="502920" y="2606040"/>
            <a:ext cx="8129016" cy="0"/>
          </a:xfrm>
          <a:prstGeom prst="line">
            <a:avLst/>
          </a:prstGeom>
          <a:noFill/>
          <a:ln w="12700">
            <a:solidFill>
              <a:srgbClr val="9A94AE"/>
            </a:solidFill>
            <a:prstDash val="solid"/>
          </a:ln>
        </p:spPr>
      </p:sp>
      <p:sp>
        <p:nvSpPr>
          <p:cNvPr id="20" name="Text 18"/>
          <p:cNvSpPr/>
          <p:nvPr/>
        </p:nvSpPr>
        <p:spPr>
          <a:xfrm>
            <a:off x="502920" y="2606040"/>
            <a:ext cx="24688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CE2 and MIN (stage 2)</a:t>
            </a:r>
            <a:endParaRPr lang="en-US" sz="1150" dirty="0"/>
          </a:p>
        </p:txBody>
      </p:sp>
      <p:sp>
        <p:nvSpPr>
          <p:cNvPr id="21" name="Text 19"/>
          <p:cNvSpPr/>
          <p:nvPr/>
        </p:nvSpPr>
        <p:spPr>
          <a:xfrm>
            <a:off x="2971800" y="2606040"/>
            <a:ext cx="1737360" cy="420624"/>
          </a:xfrm>
          <a:prstGeom prst="rect">
            <a:avLst/>
          </a:prstGeom>
          <a:noFill/>
          <a:ln/>
        </p:spPr>
        <p:txBody>
          <a:bodyPr wrap="square" lIns="38100" tIns="38100" rIns="38100" bIns="38100" rtlCol="0" anchor="ctr"/>
          <a:lstStyle/>
          <a:p>
            <a:pPr algn="ctr" indent="0" marL="0">
              <a:buNone/>
            </a:pPr>
            <a:r>
              <a:rPr lang="en-US" sz="1150" b="1" dirty="0">
                <a:solidFill>
                  <a:srgbClr val="006666"/>
                </a:solidFill>
                <a:latin typeface="Cambria" pitchFamily="34" charset="0"/>
                <a:ea typeface="Cambria" pitchFamily="34" charset="-122"/>
                <a:cs typeface="Cambria" pitchFamily="34" charset="-120"/>
              </a:rPr>
              <a:t>run</a:t>
            </a:r>
            <a:endParaRPr lang="en-US" sz="1150" dirty="0"/>
          </a:p>
        </p:txBody>
      </p:sp>
      <p:sp>
        <p:nvSpPr>
          <p:cNvPr id="22" name="Text 20"/>
          <p:cNvSpPr/>
          <p:nvPr/>
        </p:nvSpPr>
        <p:spPr>
          <a:xfrm>
            <a:off x="4709160" y="2606040"/>
            <a:ext cx="3922776"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one seed each, labelled exploratory throughout</a:t>
            </a:r>
            <a:endParaRPr lang="en-US" sz="1150" dirty="0"/>
          </a:p>
        </p:txBody>
      </p:sp>
      <p:sp>
        <p:nvSpPr>
          <p:cNvPr id="23" name="Shape 21"/>
          <p:cNvSpPr/>
          <p:nvPr/>
        </p:nvSpPr>
        <p:spPr>
          <a:xfrm>
            <a:off x="502920" y="3026664"/>
            <a:ext cx="8129016" cy="0"/>
          </a:xfrm>
          <a:prstGeom prst="line">
            <a:avLst/>
          </a:prstGeom>
          <a:noFill/>
          <a:ln w="12700">
            <a:solidFill>
              <a:srgbClr val="9A94AE"/>
            </a:solidFill>
            <a:prstDash val="solid"/>
          </a:ln>
        </p:spPr>
      </p:sp>
      <p:sp>
        <p:nvSpPr>
          <p:cNvPr id="24" name="Text 22"/>
          <p:cNvSpPr/>
          <p:nvPr/>
        </p:nvSpPr>
        <p:spPr>
          <a:xfrm>
            <a:off x="502920" y="3026664"/>
            <a:ext cx="24688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S2r  (false descriptor)</a:t>
            </a:r>
            <a:endParaRPr lang="en-US" sz="1150" dirty="0"/>
          </a:p>
        </p:txBody>
      </p:sp>
      <p:sp>
        <p:nvSpPr>
          <p:cNvPr id="25" name="Text 23"/>
          <p:cNvSpPr/>
          <p:nvPr/>
        </p:nvSpPr>
        <p:spPr>
          <a:xfrm>
            <a:off x="2971800" y="3026664"/>
            <a:ext cx="1737360" cy="420624"/>
          </a:xfrm>
          <a:prstGeom prst="rect">
            <a:avLst/>
          </a:prstGeom>
          <a:noFill/>
          <a:ln/>
        </p:spPr>
        <p:txBody>
          <a:bodyPr wrap="square" lIns="38100" tIns="38100" rIns="38100" bIns="38100" rtlCol="0" anchor="ctr"/>
          <a:lstStyle/>
          <a:p>
            <a:pPr algn="ctr" indent="0" marL="0">
              <a:buNone/>
            </a:pPr>
            <a:r>
              <a:rPr lang="en-US" sz="1150" b="1" dirty="0">
                <a:solidFill>
                  <a:srgbClr val="990000"/>
                </a:solidFill>
                <a:latin typeface="Cambria" pitchFamily="34" charset="0"/>
                <a:ea typeface="Cambria" pitchFamily="34" charset="-122"/>
                <a:cs typeface="Cambria" pitchFamily="34" charset="-120"/>
              </a:rPr>
              <a:t>not run</a:t>
            </a:r>
            <a:endParaRPr lang="en-US" sz="1150" dirty="0"/>
          </a:p>
        </p:txBody>
      </p:sp>
      <p:sp>
        <p:nvSpPr>
          <p:cNvPr id="26" name="Text 24"/>
          <p:cNvSpPr/>
          <p:nvPr/>
        </p:nvSpPr>
        <p:spPr>
          <a:xfrm>
            <a:off x="4709160" y="3026664"/>
            <a:ext cx="3922776"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attribution control, dropped with the second seed</a:t>
            </a:r>
            <a:endParaRPr lang="en-US" sz="1150" dirty="0"/>
          </a:p>
        </p:txBody>
      </p:sp>
      <p:sp>
        <p:nvSpPr>
          <p:cNvPr id="27" name="Shape 25"/>
          <p:cNvSpPr/>
          <p:nvPr/>
        </p:nvSpPr>
        <p:spPr>
          <a:xfrm>
            <a:off x="502920" y="3447288"/>
            <a:ext cx="8129016" cy="0"/>
          </a:xfrm>
          <a:prstGeom prst="line">
            <a:avLst/>
          </a:prstGeom>
          <a:noFill/>
          <a:ln w="12700">
            <a:solidFill>
              <a:srgbClr val="9A94AE"/>
            </a:solidFill>
            <a:prstDash val="solid"/>
          </a:ln>
        </p:spPr>
      </p:sp>
      <p:sp>
        <p:nvSpPr>
          <p:cNvPr id="28" name="Text 26"/>
          <p:cNvSpPr/>
          <p:nvPr/>
        </p:nvSpPr>
        <p:spPr>
          <a:xfrm>
            <a:off x="502920" y="3447288"/>
            <a:ext cx="2468880"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S2-nopoint</a:t>
            </a:r>
            <a:endParaRPr lang="en-US" sz="1150" dirty="0"/>
          </a:p>
        </p:txBody>
      </p:sp>
      <p:sp>
        <p:nvSpPr>
          <p:cNvPr id="29" name="Text 27"/>
          <p:cNvSpPr/>
          <p:nvPr/>
        </p:nvSpPr>
        <p:spPr>
          <a:xfrm>
            <a:off x="2971800" y="3447288"/>
            <a:ext cx="1737360" cy="420624"/>
          </a:xfrm>
          <a:prstGeom prst="rect">
            <a:avLst/>
          </a:prstGeom>
          <a:noFill/>
          <a:ln/>
        </p:spPr>
        <p:txBody>
          <a:bodyPr wrap="square" lIns="38100" tIns="38100" rIns="38100" bIns="38100" rtlCol="0" anchor="ctr"/>
          <a:lstStyle/>
          <a:p>
            <a:pPr algn="ctr" indent="0" marL="0">
              <a:buNone/>
            </a:pPr>
            <a:r>
              <a:rPr lang="en-US" sz="1150" b="1" dirty="0">
                <a:solidFill>
                  <a:srgbClr val="990000"/>
                </a:solidFill>
                <a:latin typeface="Cambria" pitchFamily="34" charset="0"/>
                <a:ea typeface="Cambria" pitchFamily="34" charset="-122"/>
                <a:cs typeface="Cambria" pitchFamily="34" charset="-120"/>
              </a:rPr>
              <a:t>not run</a:t>
            </a:r>
            <a:endParaRPr lang="en-US" sz="1150" dirty="0"/>
          </a:p>
        </p:txBody>
      </p:sp>
      <p:sp>
        <p:nvSpPr>
          <p:cNvPr id="30" name="Text 28"/>
          <p:cNvSpPr/>
          <p:nvPr/>
        </p:nvSpPr>
        <p:spPr>
          <a:xfrm>
            <a:off x="4709160" y="3447288"/>
            <a:ext cx="3922776" cy="42062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would have tested the descriptor ⇔ touch shortcut</a:t>
            </a:r>
            <a:endParaRPr lang="en-US" sz="1150" dirty="0"/>
          </a:p>
        </p:txBody>
      </p:sp>
      <p:sp>
        <p:nvSpPr>
          <p:cNvPr id="31" name="Shape 29"/>
          <p:cNvSpPr/>
          <p:nvPr/>
        </p:nvSpPr>
        <p:spPr>
          <a:xfrm>
            <a:off x="502920" y="3867912"/>
            <a:ext cx="8129016" cy="0"/>
          </a:xfrm>
          <a:prstGeom prst="line">
            <a:avLst/>
          </a:prstGeom>
          <a:noFill/>
          <a:ln w="12700">
            <a:solidFill>
              <a:srgbClr val="9A94AE"/>
            </a:solidFill>
            <a:prstDash val="solid"/>
          </a:ln>
        </p:spPr>
      </p:sp>
      <p:sp>
        <p:nvSpPr>
          <p:cNvPr id="32" name="Text 30"/>
          <p:cNvSpPr/>
          <p:nvPr/>
        </p:nvSpPr>
        <p:spPr>
          <a:xfrm>
            <a:off x="502920" y="3867912"/>
            <a:ext cx="2468880" cy="45720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MIN on-policy</a:t>
            </a:r>
            <a:endParaRPr lang="en-US" sz="1150" dirty="0"/>
          </a:p>
        </p:txBody>
      </p:sp>
      <p:sp>
        <p:nvSpPr>
          <p:cNvPr id="33" name="Text 31"/>
          <p:cNvSpPr/>
          <p:nvPr/>
        </p:nvSpPr>
        <p:spPr>
          <a:xfrm>
            <a:off x="2971800" y="3867912"/>
            <a:ext cx="1737360" cy="457200"/>
          </a:xfrm>
          <a:prstGeom prst="rect">
            <a:avLst/>
          </a:prstGeom>
          <a:noFill/>
          <a:ln/>
        </p:spPr>
        <p:txBody>
          <a:bodyPr wrap="square" lIns="38100" tIns="38100" rIns="38100" bIns="38100" rtlCol="0" anchor="ctr"/>
          <a:lstStyle/>
          <a:p>
            <a:pPr algn="ctr" indent="0" marL="0">
              <a:buNone/>
            </a:pPr>
            <a:r>
              <a:rPr lang="en-US" sz="1150" b="1" dirty="0">
                <a:solidFill>
                  <a:srgbClr val="B22222"/>
                </a:solidFill>
                <a:latin typeface="Cambria" pitchFamily="34" charset="0"/>
                <a:ea typeface="Cambria" pitchFamily="34" charset="-122"/>
                <a:cs typeface="Cambria" pitchFamily="34" charset="-120"/>
              </a:rPr>
              <a:t>stopped at its gate</a:t>
            </a:r>
            <a:endParaRPr lang="en-US" sz="1150" dirty="0"/>
          </a:p>
        </p:txBody>
      </p:sp>
      <p:sp>
        <p:nvSpPr>
          <p:cNvPr id="34" name="Text 32"/>
          <p:cNvSpPr/>
          <p:nvPr/>
        </p:nvSpPr>
        <p:spPr>
          <a:xfrm>
            <a:off x="4709160" y="3867912"/>
            <a:ext cx="3922776" cy="45720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3.3% usable pairs against a 25% threshold fixed in advance</a:t>
            </a:r>
            <a:endParaRPr lang="en-US" sz="1150" dirty="0"/>
          </a:p>
        </p:txBody>
      </p:sp>
      <p:sp>
        <p:nvSpPr>
          <p:cNvPr id="35" name="Shape 33"/>
          <p:cNvSpPr/>
          <p:nvPr/>
        </p:nvSpPr>
        <p:spPr>
          <a:xfrm>
            <a:off x="502920" y="4160520"/>
            <a:ext cx="8138160" cy="822960"/>
          </a:xfrm>
          <a:prstGeom prst="roundRect">
            <a:avLst>
              <a:gd name="adj" fmla="val 6667"/>
            </a:avLst>
          </a:prstGeom>
          <a:solidFill>
            <a:srgbClr val="E9E8EC"/>
          </a:solidFill>
          <a:ln/>
          <a:effectLst>
            <a:outerShdw sx="100000" sy="100000" kx="0" ky="0" algn="bl" rotWithShape="0" blurRad="63500" dist="31750" dir="2700000">
              <a:srgbClr val="8C8C99">
                <a:alpha val="45000"/>
              </a:srgbClr>
            </a:outerShdw>
          </a:effectLst>
        </p:spPr>
      </p:sp>
      <p:sp>
        <p:nvSpPr>
          <p:cNvPr id="36" name="Text 34"/>
          <p:cNvSpPr/>
          <p:nvPr/>
        </p:nvSpPr>
        <p:spPr>
          <a:xfrm>
            <a:off x="731520" y="4160520"/>
            <a:ext cx="7680960" cy="822960"/>
          </a:xfrm>
          <a:prstGeom prst="rect">
            <a:avLst/>
          </a:prstGeom>
          <a:noFill/>
          <a:ln/>
        </p:spPr>
        <p:txBody>
          <a:bodyPr wrap="square" lIns="0" tIns="0" rIns="0" bIns="0" rtlCol="0" anchor="ctr"/>
          <a:lstStyle/>
          <a:p>
            <a:pPr algn="l" indent="0" marL="0">
              <a:buNone/>
            </a:pPr>
            <a:r>
              <a:rPr lang="en-US" sz="1300" dirty="0">
                <a:solidFill>
                  <a:srgbClr val="1A1A1A"/>
                </a:solidFill>
                <a:latin typeface="Cambria" pitchFamily="34" charset="0"/>
                <a:ea typeface="Cambria" pitchFamily="34" charset="-122"/>
                <a:cs typeface="Cambria" pitchFamily="34" charset="-120"/>
              </a:rPr>
              <a:t>We mark cancelled branches as registered but not run rather than drop them from the paper.</a:t>
            </a:r>
            <a:endParaRPr lang="en-US" sz="1300" dirty="0"/>
          </a:p>
        </p:txBody>
      </p:sp>
      <p:sp>
        <p:nvSpPr>
          <p:cNvPr id="37" name="Text 35"/>
          <p:cNvSpPr/>
          <p:nvPr/>
        </p:nvSpPr>
        <p:spPr>
          <a:xfrm>
            <a:off x="502920" y="5120640"/>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38" name="Text 36"/>
          <p:cNvSpPr/>
          <p:nvPr/>
        </p:nvSpPr>
        <p:spPr>
          <a:xfrm>
            <a:off x="731520" y="5120640"/>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Twenty-seven amendments, dated and appended, never edited in place; twenty-one of them predate the first executability score</a:t>
            </a:r>
            <a:endParaRPr lang="en-US" sz="1200" dirty="0"/>
          </a:p>
        </p:txBody>
      </p:sp>
      <p:sp>
        <p:nvSpPr>
          <p:cNvPr id="39" name="Text 37"/>
          <p:cNvSpPr/>
          <p:nvPr/>
        </p:nvSpPr>
        <p:spPr>
          <a:xfrm>
            <a:off x="502920" y="5742432"/>
            <a:ext cx="201168" cy="621792"/>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0" name="Text 38"/>
          <p:cNvSpPr/>
          <p:nvPr/>
        </p:nvSpPr>
        <p:spPr>
          <a:xfrm>
            <a:off x="731520" y="5742432"/>
            <a:ext cx="7909560" cy="585216"/>
          </a:xfrm>
          <a:prstGeom prst="rect">
            <a:avLst/>
          </a:prstGeom>
          <a:noFill/>
          <a:ln/>
        </p:spPr>
        <p:txBody>
          <a:bodyPr wrap="square" lIns="0" tIns="0" rIns="0" bIns="0" rtlCol="0" anchor="t"/>
          <a:lstStyle/>
          <a:p>
            <a:pPr algn="l" indent="0" marL="0">
              <a:lnSpc>
                <a:spcPct val="130000"/>
              </a:lnSpc>
              <a:buNone/>
            </a:pPr>
            <a:r>
              <a:rPr lang="en-US" sz="1200" dirty="0">
                <a:solidFill>
                  <a:srgbClr val="1A1A1A"/>
                </a:solidFill>
                <a:latin typeface="Cambria" pitchFamily="34" charset="0"/>
                <a:ea typeface="Cambria" pitchFamily="34" charset="-122"/>
                <a:cs typeface="Cambria" pitchFamily="34" charset="-120"/>
              </a:rPr>
              <a:t>Six later amendments each moved the headroom up and the threshold down; the first also moved against us, cutting the control's share of the ceiling from 84.4% to 78.0%</a:t>
            </a:r>
            <a:endParaRPr lang="en-US" sz="1200" dirty="0"/>
          </a:p>
        </p:txBody>
      </p:sp>
      <p:sp>
        <p:nvSpPr>
          <p:cNvPr id="42" name="Shape 39"/>
          <p:cNvSpPr/>
          <p:nvPr/>
        </p:nvSpPr>
        <p:spPr>
          <a:xfrm>
            <a:off x="0" y="6620256"/>
            <a:ext cx="2194560" cy="237744"/>
          </a:xfrm>
          <a:prstGeom prst="rect">
            <a:avLst/>
          </a:prstGeom>
          <a:solidFill>
            <a:srgbClr val="191132"/>
          </a:solidFill>
          <a:ln/>
        </p:spPr>
      </p:sp>
      <p:sp>
        <p:nvSpPr>
          <p:cNvPr id="43" name="Shape 40"/>
          <p:cNvSpPr/>
          <p:nvPr/>
        </p:nvSpPr>
        <p:spPr>
          <a:xfrm>
            <a:off x="2194560" y="6620256"/>
            <a:ext cx="3931920" cy="237744"/>
          </a:xfrm>
          <a:prstGeom prst="rect">
            <a:avLst/>
          </a:prstGeom>
          <a:solidFill>
            <a:srgbClr val="25194B"/>
          </a:solidFill>
          <a:ln/>
        </p:spPr>
      </p:sp>
      <p:sp>
        <p:nvSpPr>
          <p:cNvPr id="44" name="Shape 41"/>
          <p:cNvSpPr/>
          <p:nvPr/>
        </p:nvSpPr>
        <p:spPr>
          <a:xfrm>
            <a:off x="6126480" y="6620256"/>
            <a:ext cx="1737360" cy="237744"/>
          </a:xfrm>
          <a:prstGeom prst="rect">
            <a:avLst/>
          </a:prstGeom>
          <a:solidFill>
            <a:srgbClr val="4F417A"/>
          </a:solidFill>
          <a:ln/>
        </p:spPr>
      </p:sp>
      <p:sp>
        <p:nvSpPr>
          <p:cNvPr id="45" name="Shape 42"/>
          <p:cNvSpPr/>
          <p:nvPr/>
        </p:nvSpPr>
        <p:spPr>
          <a:xfrm>
            <a:off x="7863840" y="6620256"/>
            <a:ext cx="1280160" cy="237744"/>
          </a:xfrm>
          <a:prstGeom prst="rect">
            <a:avLst/>
          </a:prstGeom>
          <a:solidFill>
            <a:srgbClr val="7A7099"/>
          </a:solidFill>
          <a:ln/>
        </p:spPr>
      </p:sp>
      <p:sp>
        <p:nvSpPr>
          <p:cNvPr id="46" name="Text 43"/>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47" name="Text 44"/>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48" name="Text 4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49" name="Text 4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The registered variant stopped by its feasibility check</a:t>
            </a:r>
            <a:endParaRPr lang="en-US" sz="1900" dirty="0"/>
          </a:p>
        </p:txBody>
      </p:sp>
      <p:sp>
        <p:nvSpPr>
          <p:cNvPr id="4" name="Text 2"/>
          <p:cNvSpPr/>
          <p:nvPr/>
        </p:nvSpPr>
        <p:spPr>
          <a:xfrm>
            <a:off x="502920" y="960120"/>
            <a:ext cx="201168" cy="9875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5" name="Text 3"/>
          <p:cNvSpPr/>
          <p:nvPr/>
        </p:nvSpPr>
        <p:spPr>
          <a:xfrm>
            <a:off x="731520" y="960120"/>
            <a:ext cx="7909560" cy="950976"/>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Two negative sources were registered: a heuristic one, the nearest same-role element 80-350 px away, and an on-policy one taking the element the checkpoint itself names when it names the wrong one</a:t>
            </a:r>
            <a:endParaRPr lang="en-US" sz="1250" dirty="0"/>
          </a:p>
        </p:txBody>
      </p:sp>
      <p:sp>
        <p:nvSpPr>
          <p:cNvPr id="6" name="Text 4"/>
          <p:cNvSpPr/>
          <p:nvPr/>
        </p:nvSpPr>
        <p:spPr>
          <a:xfrm>
            <a:off x="502920" y="1947672"/>
            <a:ext cx="201168" cy="9875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731520" y="1947672"/>
            <a:ext cx="7909560" cy="950976"/>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The on-policy source was stopped before any training: 14,000 training screens gave 459 usable pairs, 3.3% against a threshold of 25% fixed in advance</a:t>
            </a:r>
            <a:endParaRPr lang="en-US" sz="1250" dirty="0"/>
          </a:p>
        </p:txBody>
      </p:sp>
      <p:sp>
        <p:nvSpPr>
          <p:cNvPr id="8" name="Text 6"/>
          <p:cNvSpPr/>
          <p:nvPr/>
        </p:nvSpPr>
        <p:spPr>
          <a:xfrm>
            <a:off x="502920" y="2935224"/>
            <a:ext cx="201168" cy="9875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9" name="Text 7"/>
          <p:cNvSpPr/>
          <p:nvPr/>
        </p:nvSpPr>
        <p:spPr>
          <a:xfrm>
            <a:off x="731520" y="2935224"/>
            <a:ext cx="7909560" cy="950976"/>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The reason is measurable. Over the 3,246 steps carrying a wrong name, the distance from the element named to the element to be touched has quartiles of 70, 351 and 748 px, so the window rejects 76.5% of them</a:t>
            </a:r>
            <a:endParaRPr lang="en-US" sz="1250" dirty="0"/>
          </a:p>
        </p:txBody>
      </p:sp>
      <p:sp>
        <p:nvSpPr>
          <p:cNvPr id="10" name="Text 8"/>
          <p:cNvSpPr/>
          <p:nvPr/>
        </p:nvSpPr>
        <p:spPr>
          <a:xfrm>
            <a:off x="502920" y="3922776"/>
            <a:ext cx="201168" cy="9875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1" name="Text 9"/>
          <p:cNvSpPr/>
          <p:nvPr/>
        </p:nvSpPr>
        <p:spPr>
          <a:xfrm>
            <a:off x="731520" y="3922776"/>
            <a:ext cx="7909560" cy="950976"/>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These errors fall into two kinds, the right element under another name or a different region of the screen, and neither is the local confusion an on-policy negative presumes</a:t>
            </a:r>
            <a:endParaRPr lang="en-US" sz="1250" dirty="0"/>
          </a:p>
        </p:txBody>
      </p:sp>
      <p:sp>
        <p:nvSpPr>
          <p:cNvPr id="12" name="Text 10"/>
          <p:cNvSpPr/>
          <p:nvPr/>
        </p:nvSpPr>
        <p:spPr>
          <a:xfrm>
            <a:off x="502920" y="4910328"/>
            <a:ext cx="201168" cy="98755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731520" y="4910328"/>
            <a:ext cx="7909560" cy="950976"/>
          </a:xfrm>
          <a:prstGeom prst="rect">
            <a:avLst/>
          </a:prstGeom>
          <a:noFill/>
          <a:ln/>
        </p:spPr>
        <p:txBody>
          <a:bodyPr wrap="square" lIns="0" tIns="0" rIns="0" bIns="0" rtlCol="0" anchor="t"/>
          <a:lstStyle/>
          <a:p>
            <a:pPr algn="l" indent="0" marL="0">
              <a:lnSpc>
                <a:spcPct val="132000"/>
              </a:lnSpc>
              <a:buNone/>
            </a:pPr>
            <a:r>
              <a:rPr lang="en-US" sz="1250" dirty="0">
                <a:solidFill>
                  <a:srgbClr val="1A1A1A"/>
                </a:solidFill>
                <a:latin typeface="Cambria" pitchFamily="34" charset="0"/>
                <a:ea typeface="Cambria" pitchFamily="34" charset="-122"/>
                <a:cs typeface="Cambria" pitchFamily="34" charset="-120"/>
              </a:rPr>
              <a:t>So the heuristic source does not sample the model's errors so much as construct a neighbour-confusion setting the data rarely contains. We report both because the measurement, not a preference, left one standing</a:t>
            </a:r>
            <a:endParaRPr lang="en-US" sz="1250" dirty="0"/>
          </a:p>
        </p:txBody>
      </p:sp>
      <p:sp>
        <p:nvSpPr>
          <p:cNvPr id="15" name="Shape 12"/>
          <p:cNvSpPr/>
          <p:nvPr/>
        </p:nvSpPr>
        <p:spPr>
          <a:xfrm>
            <a:off x="0" y="6620256"/>
            <a:ext cx="2194560" cy="237744"/>
          </a:xfrm>
          <a:prstGeom prst="rect">
            <a:avLst/>
          </a:prstGeom>
          <a:solidFill>
            <a:srgbClr val="191132"/>
          </a:solidFill>
          <a:ln/>
        </p:spPr>
      </p:sp>
      <p:sp>
        <p:nvSpPr>
          <p:cNvPr id="16" name="Shape 13"/>
          <p:cNvSpPr/>
          <p:nvPr/>
        </p:nvSpPr>
        <p:spPr>
          <a:xfrm>
            <a:off x="2194560" y="6620256"/>
            <a:ext cx="393192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20" name="Text 17"/>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Limitations, with the numbers attached</a:t>
            </a:r>
            <a:endParaRPr lang="en-US" sz="1900" dirty="0"/>
          </a:p>
        </p:txBody>
      </p:sp>
      <p:sp>
        <p:nvSpPr>
          <p:cNvPr id="4" name="Text 2"/>
          <p:cNvSpPr/>
          <p:nvPr/>
        </p:nvSpPr>
        <p:spPr>
          <a:xfrm>
            <a:off x="502920" y="822960"/>
            <a:ext cx="402336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Instrument</a:t>
            </a:r>
            <a:endParaRPr lang="en-US" sz="1350" dirty="0"/>
          </a:p>
        </p:txBody>
      </p:sp>
      <p:sp>
        <p:nvSpPr>
          <p:cNvPr id="5" name="Text 3"/>
          <p:cNvSpPr/>
          <p:nvPr/>
        </p:nvSpPr>
        <p:spPr>
          <a:xfrm>
            <a:off x="502920" y="1188720"/>
            <a:ext cx="201168" cy="10058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6" name="Text 4"/>
          <p:cNvSpPr/>
          <p:nvPr/>
        </p:nvSpPr>
        <p:spPr>
          <a:xfrm>
            <a:off x="731520" y="1188720"/>
            <a:ext cx="3794760" cy="960120"/>
          </a:xfrm>
          <a:prstGeom prst="rect">
            <a:avLst/>
          </a:prstGeom>
          <a:noFill/>
          <a:ln/>
        </p:spPr>
        <p:txBody>
          <a:bodyPr wrap="square" lIns="0" tIns="0" rIns="0" bIns="0" rtlCol="0" anchor="t"/>
          <a:lstStyle/>
          <a:p>
            <a:pPr algn="l" indent="0" marL="0">
              <a:lnSpc>
                <a:spcPct val="128000"/>
              </a:lnSpc>
              <a:buNone/>
            </a:pPr>
            <a:r>
              <a:rPr lang="en-US" sz="1150" dirty="0">
                <a:solidFill>
                  <a:srgbClr val="1A1A1A"/>
                </a:solidFill>
                <a:latin typeface="Cambria" pitchFamily="34" charset="0"/>
                <a:ea typeface="Cambria" pitchFamily="34" charset="-122"/>
                <a:cs typeface="Cambria" pitchFamily="34" charset="-120"/>
              </a:rPr>
              <a:t>The references fail on 1,083 steps, 72% because the grounder lands more than 14% of screen width away; 935 steps defeat all three branches</a:t>
            </a:r>
            <a:endParaRPr lang="en-US" sz="1150" dirty="0"/>
          </a:p>
        </p:txBody>
      </p:sp>
      <p:sp>
        <p:nvSpPr>
          <p:cNvPr id="7" name="Text 5"/>
          <p:cNvSpPr/>
          <p:nvPr/>
        </p:nvSpPr>
        <p:spPr>
          <a:xfrm>
            <a:off x="502920" y="2194560"/>
            <a:ext cx="201168" cy="10058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8" name="Text 6"/>
          <p:cNvSpPr/>
          <p:nvPr/>
        </p:nvSpPr>
        <p:spPr>
          <a:xfrm>
            <a:off x="731520" y="2194560"/>
            <a:ext cx="3794760" cy="960120"/>
          </a:xfrm>
          <a:prstGeom prst="rect">
            <a:avLst/>
          </a:prstGeom>
          <a:noFill/>
          <a:ln/>
        </p:spPr>
        <p:txBody>
          <a:bodyPr wrap="square" lIns="0" tIns="0" rIns="0" bIns="0" rtlCol="0" anchor="t"/>
          <a:lstStyle/>
          <a:p>
            <a:pPr algn="l" indent="0" marL="0">
              <a:lnSpc>
                <a:spcPct val="128000"/>
              </a:lnSpc>
              <a:buNone/>
            </a:pPr>
            <a:r>
              <a:rPr lang="en-US" sz="1150" dirty="0">
                <a:solidFill>
                  <a:srgbClr val="1A1A1A"/>
                </a:solidFill>
                <a:latin typeface="Cambria" pitchFamily="34" charset="0"/>
                <a:ea typeface="Cambria" pitchFamily="34" charset="-122"/>
                <a:cs typeface="Cambria" pitchFamily="34" charset="-120"/>
              </a:rPr>
              <a:t>Below the merge radius the metric is blind: it catches a wrong element named, not a point slightly off inside the right one</a:t>
            </a:r>
            <a:endParaRPr lang="en-US" sz="1150" dirty="0"/>
          </a:p>
        </p:txBody>
      </p:sp>
      <p:sp>
        <p:nvSpPr>
          <p:cNvPr id="9" name="Text 7"/>
          <p:cNvSpPr/>
          <p:nvPr/>
        </p:nvSpPr>
        <p:spPr>
          <a:xfrm>
            <a:off x="502920" y="3200400"/>
            <a:ext cx="201168" cy="10058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0" name="Text 8"/>
          <p:cNvSpPr/>
          <p:nvPr/>
        </p:nvSpPr>
        <p:spPr>
          <a:xfrm>
            <a:off x="731520" y="3200400"/>
            <a:ext cx="3794760" cy="960120"/>
          </a:xfrm>
          <a:prstGeom prst="rect">
            <a:avLst/>
          </a:prstGeom>
          <a:noFill/>
          <a:ln/>
        </p:spPr>
        <p:txBody>
          <a:bodyPr wrap="square" lIns="0" tIns="0" rIns="0" bIns="0" rtlCol="0" anchor="t"/>
          <a:lstStyle/>
          <a:p>
            <a:pPr algn="l" indent="0" marL="0">
              <a:lnSpc>
                <a:spcPct val="128000"/>
              </a:lnSpc>
              <a:buNone/>
            </a:pPr>
            <a:r>
              <a:rPr lang="en-US" sz="1150" dirty="0">
                <a:solidFill>
                  <a:srgbClr val="1A1A1A"/>
                </a:solidFill>
                <a:latin typeface="Cambria" pitchFamily="34" charset="0"/>
                <a:ea typeface="Cambria" pitchFamily="34" charset="-122"/>
                <a:cs typeface="Cambria" pitchFamily="34" charset="-120"/>
              </a:rPr>
              <a:t>Both grounders are Qwen-family, and no human evaluation anchors either</a:t>
            </a:r>
            <a:endParaRPr lang="en-US" sz="1150" dirty="0"/>
          </a:p>
        </p:txBody>
      </p:sp>
      <p:sp>
        <p:nvSpPr>
          <p:cNvPr id="11" name="Text 9"/>
          <p:cNvSpPr/>
          <p:nvPr/>
        </p:nvSpPr>
        <p:spPr>
          <a:xfrm>
            <a:off x="4663440" y="822960"/>
            <a:ext cx="3977640" cy="27432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Data and scope</a:t>
            </a:r>
            <a:endParaRPr lang="en-US" sz="1350" dirty="0"/>
          </a:p>
        </p:txBody>
      </p:sp>
      <p:sp>
        <p:nvSpPr>
          <p:cNvPr id="12" name="Text 10"/>
          <p:cNvSpPr/>
          <p:nvPr/>
        </p:nvSpPr>
        <p:spPr>
          <a:xfrm>
            <a:off x="4663440" y="1188720"/>
            <a:ext cx="201168" cy="10058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3" name="Text 11"/>
          <p:cNvSpPr/>
          <p:nvPr/>
        </p:nvSpPr>
        <p:spPr>
          <a:xfrm>
            <a:off x="4892040" y="1188720"/>
            <a:ext cx="3749040" cy="960120"/>
          </a:xfrm>
          <a:prstGeom prst="rect">
            <a:avLst/>
          </a:prstGeom>
          <a:noFill/>
          <a:ln/>
        </p:spPr>
        <p:txBody>
          <a:bodyPr wrap="square" lIns="0" tIns="0" rIns="0" bIns="0" rtlCol="0" anchor="t"/>
          <a:lstStyle/>
          <a:p>
            <a:pPr algn="l" indent="0" marL="0">
              <a:lnSpc>
                <a:spcPct val="128000"/>
              </a:lnSpc>
              <a:buNone/>
            </a:pPr>
            <a:r>
              <a:rPr lang="en-US" sz="1150" dirty="0">
                <a:solidFill>
                  <a:srgbClr val="1A1A1A"/>
                </a:solidFill>
                <a:latin typeface="Cambria" pitchFamily="34" charset="0"/>
                <a:ea typeface="Cambria" pitchFamily="34" charset="-122"/>
                <a:cs typeface="Cambria" pitchFamily="34" charset="-120"/>
              </a:rPr>
              <a:t>Held out by task, not by application: 95.6% of attributable applications also occur in training, and 59% of steps cannot be attributed at all, unknown and never read as unseen</a:t>
            </a:r>
            <a:endParaRPr lang="en-US" sz="1150" dirty="0"/>
          </a:p>
        </p:txBody>
      </p:sp>
      <p:sp>
        <p:nvSpPr>
          <p:cNvPr id="14" name="Text 12"/>
          <p:cNvSpPr/>
          <p:nvPr/>
        </p:nvSpPr>
        <p:spPr>
          <a:xfrm>
            <a:off x="4663440" y="2194560"/>
            <a:ext cx="201168" cy="10058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5" name="Text 13"/>
          <p:cNvSpPr/>
          <p:nvPr/>
        </p:nvSpPr>
        <p:spPr>
          <a:xfrm>
            <a:off x="4892040" y="2194560"/>
            <a:ext cx="3749040" cy="960120"/>
          </a:xfrm>
          <a:prstGeom prst="rect">
            <a:avLst/>
          </a:prstGeom>
          <a:noFill/>
          <a:ln/>
        </p:spPr>
        <p:txBody>
          <a:bodyPr wrap="square" lIns="0" tIns="0" rIns="0" bIns="0" rtlCol="0" anchor="t"/>
          <a:lstStyle/>
          <a:p>
            <a:pPr algn="l" indent="0" marL="0">
              <a:lnSpc>
                <a:spcPct val="128000"/>
              </a:lnSpc>
              <a:buNone/>
            </a:pPr>
            <a:r>
              <a:rPr lang="en-US" sz="1150" dirty="0">
                <a:solidFill>
                  <a:srgbClr val="1A1A1A"/>
                </a:solidFill>
                <a:latin typeface="Cambria" pitchFamily="34" charset="0"/>
                <a:ea typeface="Cambria" pitchFamily="34" charset="-122"/>
                <a:cs typeface="Cambria" pitchFamily="34" charset="-120"/>
              </a:rPr>
              <a:t>17.3% of test references appear verbatim in a 2.6% slice of the training data</a:t>
            </a:r>
            <a:endParaRPr lang="en-US" sz="1150" dirty="0"/>
          </a:p>
        </p:txBody>
      </p:sp>
      <p:sp>
        <p:nvSpPr>
          <p:cNvPr id="16" name="Text 14"/>
          <p:cNvSpPr/>
          <p:nvPr/>
        </p:nvSpPr>
        <p:spPr>
          <a:xfrm>
            <a:off x="4663440" y="3200400"/>
            <a:ext cx="201168" cy="10058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7" name="Text 15"/>
          <p:cNvSpPr/>
          <p:nvPr/>
        </p:nvSpPr>
        <p:spPr>
          <a:xfrm>
            <a:off x="4892040" y="3200400"/>
            <a:ext cx="3749040" cy="960120"/>
          </a:xfrm>
          <a:prstGeom prst="rect">
            <a:avLst/>
          </a:prstGeom>
          <a:noFill/>
          <a:ln/>
        </p:spPr>
        <p:txBody>
          <a:bodyPr wrap="square" lIns="0" tIns="0" rIns="0" bIns="0" rtlCol="0" anchor="t"/>
          <a:lstStyle/>
          <a:p>
            <a:pPr algn="l" indent="0" marL="0">
              <a:lnSpc>
                <a:spcPct val="128000"/>
              </a:lnSpc>
              <a:buNone/>
            </a:pPr>
            <a:r>
              <a:rPr lang="en-US" sz="1150" dirty="0">
                <a:solidFill>
                  <a:srgbClr val="1A1A1A"/>
                </a:solidFill>
                <a:latin typeface="Cambria" pitchFamily="34" charset="0"/>
                <a:ea typeface="Cambria" pitchFamily="34" charset="-122"/>
                <a:cs typeface="Cambria" pitchFamily="34" charset="-120"/>
              </a:rPr>
              <a:t>Scoring is teacher-forced on context, so absolute scores carry that condition; branch differences do not</a:t>
            </a:r>
            <a:endParaRPr lang="en-US" sz="1150" dirty="0"/>
          </a:p>
        </p:txBody>
      </p:sp>
      <p:sp>
        <p:nvSpPr>
          <p:cNvPr id="18" name="Shape 16"/>
          <p:cNvSpPr/>
          <p:nvPr/>
        </p:nvSpPr>
        <p:spPr>
          <a:xfrm>
            <a:off x="502920" y="434340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19" name="Text 17"/>
          <p:cNvSpPr/>
          <p:nvPr/>
        </p:nvSpPr>
        <p:spPr>
          <a:xfrm>
            <a:off x="731520" y="4343400"/>
            <a:ext cx="7680960" cy="914400"/>
          </a:xfrm>
          <a:prstGeom prst="rect">
            <a:avLst/>
          </a:prstGeom>
          <a:noFill/>
          <a:ln/>
        </p:spPr>
        <p:txBody>
          <a:bodyPr wrap="square" lIns="0" tIns="0" rIns="0" bIns="0" rtlCol="0" anchor="ctr"/>
          <a:lstStyle/>
          <a:p>
            <a:pPr algn="l" indent="0" marL="0">
              <a:lnSpc>
                <a:spcPct val="135000"/>
              </a:lnSpc>
              <a:buNone/>
            </a:pPr>
            <a:r>
              <a:rPr lang="en-US" sz="1250" b="1" dirty="0">
                <a:solidFill>
                  <a:srgbClr val="B22222"/>
                </a:solidFill>
                <a:latin typeface="Cambria" pitchFamily="34" charset="0"/>
                <a:ea typeface="Cambria" pitchFamily="34" charset="-122"/>
                <a:cs typeface="Cambria" pitchFamily="34" charset="-120"/>
              </a:rPr>
              <a:t>A system could climb this metric by writing for the grounder rather than for a person.</a:t>
            </a:r>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  We bound that rather than exclude it: a sentence naming only a screen region scores 89.5% when the region is right and 3.3% when it is wrong.</a:t>
            </a:r>
            <a:endParaRPr lang="en-US" sz="1250" dirty="0"/>
          </a:p>
        </p:txBody>
      </p:sp>
      <p:sp>
        <p:nvSpPr>
          <p:cNvPr id="20" name="Text 18"/>
          <p:cNvSpPr/>
          <p:nvPr/>
        </p:nvSpPr>
        <p:spPr>
          <a:xfrm>
            <a:off x="502920" y="5440680"/>
            <a:ext cx="8138160" cy="457200"/>
          </a:xfrm>
          <a:prstGeom prst="rect">
            <a:avLst/>
          </a:prstGeom>
          <a:noFill/>
          <a:ln/>
        </p:spPr>
        <p:txBody>
          <a:bodyPr wrap="square" lIns="0" tIns="0" rIns="0" bIns="0" rtlCol="0" anchor="t"/>
          <a:lstStyle/>
          <a:p>
            <a:pPr algn="l" indent="0" marL="0">
              <a:lnSpc>
                <a:spcPct val="130000"/>
              </a:lnSpc>
              <a:buNone/>
            </a:pPr>
            <a:r>
              <a:rPr lang="en-US" sz="1200" i="1" dirty="0">
                <a:solidFill>
                  <a:srgbClr val="5A5A66"/>
                </a:solidFill>
                <a:latin typeface="Cambria" pitchFamily="34" charset="0"/>
                <a:ea typeface="Cambria" pitchFamily="34" charset="-122"/>
                <a:cs typeface="Cambria" pitchFamily="34" charset="-120"/>
              </a:rPr>
              <a:t>External validity: one screen at a time, English interfaces, one dataset, one 3B base model, one training configuration.</a:t>
            </a:r>
            <a:endParaRPr lang="en-US" sz="1200" dirty="0"/>
          </a:p>
        </p:txBody>
      </p:sp>
      <p:sp>
        <p:nvSpPr>
          <p:cNvPr id="22" name="Shape 19"/>
          <p:cNvSpPr/>
          <p:nvPr/>
        </p:nvSpPr>
        <p:spPr>
          <a:xfrm>
            <a:off x="0" y="6620256"/>
            <a:ext cx="2194560" cy="237744"/>
          </a:xfrm>
          <a:prstGeom prst="rect">
            <a:avLst/>
          </a:prstGeom>
          <a:solidFill>
            <a:srgbClr val="191132"/>
          </a:solidFill>
          <a:ln/>
        </p:spPr>
      </p:sp>
      <p:sp>
        <p:nvSpPr>
          <p:cNvPr id="23" name="Shape 20"/>
          <p:cNvSpPr/>
          <p:nvPr/>
        </p:nvSpPr>
        <p:spPr>
          <a:xfrm>
            <a:off x="2194560" y="6620256"/>
            <a:ext cx="3931920" cy="237744"/>
          </a:xfrm>
          <a:prstGeom prst="rect">
            <a:avLst/>
          </a:prstGeom>
          <a:solidFill>
            <a:srgbClr val="25194B"/>
          </a:solidFill>
          <a:ln/>
        </p:spPr>
      </p:sp>
      <p:sp>
        <p:nvSpPr>
          <p:cNvPr id="24" name="Shape 21"/>
          <p:cNvSpPr/>
          <p:nvPr/>
        </p:nvSpPr>
        <p:spPr>
          <a:xfrm>
            <a:off x="6126480" y="6620256"/>
            <a:ext cx="1737360" cy="237744"/>
          </a:xfrm>
          <a:prstGeom prst="rect">
            <a:avLst/>
          </a:prstGeom>
          <a:solidFill>
            <a:srgbClr val="4F417A"/>
          </a:solidFill>
          <a:ln/>
        </p:spPr>
      </p:sp>
      <p:sp>
        <p:nvSpPr>
          <p:cNvPr id="25" name="Shape 22"/>
          <p:cNvSpPr/>
          <p:nvPr/>
        </p:nvSpPr>
        <p:spPr>
          <a:xfrm>
            <a:off x="7863840" y="6620256"/>
            <a:ext cx="1280160" cy="237744"/>
          </a:xfrm>
          <a:prstGeom prst="rect">
            <a:avLst/>
          </a:prstGeom>
          <a:solidFill>
            <a:srgbClr val="7A7099"/>
          </a:solidFill>
          <a:ln/>
        </p:spPr>
      </p:sp>
      <p:sp>
        <p:nvSpPr>
          <p:cNvPr id="26" name="Text 23"/>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27" name="Text 24"/>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28" name="Text 2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29" name="Text 2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9</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Backup · One held-out step from each regime, verbatim</a:t>
            </a:r>
            <a:endParaRPr lang="en-US" sz="1900" dirty="0"/>
          </a:p>
        </p:txBody>
      </p:sp>
      <p:sp>
        <p:nvSpPr>
          <p:cNvPr id="4" name="Shape 2"/>
          <p:cNvSpPr/>
          <p:nvPr/>
        </p:nvSpPr>
        <p:spPr>
          <a:xfrm>
            <a:off x="502920" y="868680"/>
            <a:ext cx="8138160" cy="1536192"/>
          </a:xfrm>
          <a:prstGeom prst="roundRect">
            <a:avLst>
              <a:gd name="adj" fmla="val 2976"/>
            </a:avLst>
          </a:prstGeom>
          <a:solidFill>
            <a:srgbClr val="E9E8EC"/>
          </a:solidFill>
          <a:ln/>
        </p:spPr>
      </p:sp>
      <p:sp>
        <p:nvSpPr>
          <p:cNvPr id="5" name="Text 3"/>
          <p:cNvSpPr/>
          <p:nvPr/>
        </p:nvSpPr>
        <p:spPr>
          <a:xfrm>
            <a:off x="667512" y="941832"/>
            <a:ext cx="7808976" cy="274320"/>
          </a:xfrm>
          <a:prstGeom prst="rect">
            <a:avLst/>
          </a:prstGeom>
          <a:noFill/>
          <a:ln/>
        </p:spPr>
        <p:txBody>
          <a:bodyPr wrap="square" lIns="0" tIns="0" rIns="0" bIns="0" rtlCol="0" anchor="t"/>
          <a:lstStyle/>
          <a:p>
            <a:pPr algn="l" indent="0" marL="0">
              <a:buNone/>
            </a:pPr>
            <a:r>
              <a:rPr lang="en-US" sz="1250" b="1" i="1" dirty="0">
                <a:solidFill>
                  <a:srgbClr val="006666"/>
                </a:solidFill>
                <a:latin typeface="Cambria" pitchFamily="34" charset="0"/>
                <a:ea typeface="Cambria" pitchFamily="34" charset="-122"/>
                <a:cs typeface="Cambria" pitchFamily="34" charset="-120"/>
              </a:rPr>
              <a:t>(a)  Identification succeeds, and the prefix pays</a:t>
            </a:r>
            <a:endParaRPr lang="en-US" sz="1250" dirty="0"/>
          </a:p>
        </p:txBody>
      </p:sp>
      <p:sp>
        <p:nvSpPr>
          <p:cNvPr id="6" name="Text 4"/>
          <p:cNvSpPr/>
          <p:nvPr/>
        </p:nvSpPr>
        <p:spPr>
          <a:xfrm>
            <a:off x="667512" y="1252728"/>
            <a:ext cx="7808976" cy="256032"/>
          </a:xfrm>
          <a:prstGeom prst="rect">
            <a:avLst/>
          </a:prstGeom>
          <a:noFill/>
          <a:ln/>
        </p:spPr>
        <p:txBody>
          <a:bodyPr wrap="square" lIns="0" tIns="0" rIns="0" bIns="0" rtlCol="0" anchor="t"/>
          <a:lstStyle/>
          <a:p>
            <a:pPr algn="l" indent="0" marL="0">
              <a:buNone/>
            </a:pPr>
            <a:r>
              <a:rPr lang="en-US" sz="1150" dirty="0">
                <a:solidFill>
                  <a:srgbClr val="5A5A66"/>
                </a:solidFill>
                <a:latin typeface="Cambria" pitchFamily="34" charset="0"/>
                <a:ea typeface="Cambria" pitchFamily="34" charset="-122"/>
                <a:cs typeface="Cambria" pitchFamily="34" charset="-120"/>
              </a:rPr>
              <a:t>Reference:  “Click on the search icon.”</a:t>
            </a:r>
            <a:endParaRPr lang="en-US" sz="1150" dirty="0"/>
          </a:p>
        </p:txBody>
      </p:sp>
      <p:sp>
        <p:nvSpPr>
          <p:cNvPr id="7" name="Text 5"/>
          <p:cNvSpPr/>
          <p:nvPr/>
        </p:nvSpPr>
        <p:spPr>
          <a:xfrm>
            <a:off x="667512" y="1527048"/>
            <a:ext cx="7808976" cy="256032"/>
          </a:xfrm>
          <a:prstGeom prst="rect">
            <a:avLst/>
          </a:prstGeom>
          <a:noFill/>
          <a:ln/>
        </p:spPr>
        <p:txBody>
          <a:bodyPr wrap="square" lIns="0" tIns="0" rIns="0" bIns="0" rtlCol="0" anchor="t"/>
          <a:lstStyle/>
          <a:p>
            <a:pPr algn="l" indent="0" marL="0">
              <a:buNone/>
            </a:pPr>
            <a:r>
              <a:rPr lang="en-US" sz="1150" dirty="0">
                <a:solidFill>
                  <a:srgbClr val="1A1A1A"/>
                </a:solidFill>
                <a:latin typeface="Cambria" pitchFamily="34" charset="0"/>
                <a:ea typeface="Cambria" pitchFamily="34" charset="-122"/>
                <a:cs typeface="Cambria" pitchFamily="34" charset="-120"/>
              </a:rPr>
              <a:t>S1:  “Click on the text 3.”   — fails</a:t>
            </a:r>
            <a:endParaRPr lang="en-US" sz="1150" dirty="0"/>
          </a:p>
        </p:txBody>
      </p:sp>
      <p:sp>
        <p:nvSpPr>
          <p:cNvPr id="8" name="Text 6"/>
          <p:cNvSpPr/>
          <p:nvPr/>
        </p:nvSpPr>
        <p:spPr>
          <a:xfrm>
            <a:off x="667512" y="1801368"/>
            <a:ext cx="7808976" cy="548640"/>
          </a:xfrm>
          <a:prstGeom prst="rect">
            <a:avLst/>
          </a:prstGeom>
          <a:noFill/>
          <a:ln/>
        </p:spPr>
        <p:txBody>
          <a:bodyPr wrap="square" lIns="0" tIns="0" rIns="0" bIns="0" rtlCol="0" anchor="t"/>
          <a:lstStyle/>
          <a:p>
            <a:pPr algn="l" indent="0" marL="0">
              <a:lnSpc>
                <a:spcPct val="125000"/>
              </a:lnSpc>
              <a:buNone/>
            </a:pPr>
            <a:r>
              <a:rPr lang="en-US" sz="1100" dirty="0">
                <a:solidFill>
                  <a:srgbClr val="1A1A1A"/>
                </a:solidFill>
                <a:latin typeface="Cambria" pitchFamily="34" charset="0"/>
                <a:ea typeface="Cambria" pitchFamily="34" charset="-122"/>
                <a:cs typeface="Cambria" pitchFamily="34" charset="-120"/>
              </a:rPr>
              <a:t>S2:  &lt;desc&gt;icon button | SEARCH | &lt;point&gt;893,396&lt;/point&gt; | the only icon button on screen&lt;/desc&gt;  “Click on the search icon.”   — succeeds</a:t>
            </a:r>
            <a:endParaRPr lang="en-US" sz="1100" dirty="0"/>
          </a:p>
        </p:txBody>
      </p:sp>
      <p:sp>
        <p:nvSpPr>
          <p:cNvPr id="9" name="Shape 7"/>
          <p:cNvSpPr/>
          <p:nvPr/>
        </p:nvSpPr>
        <p:spPr>
          <a:xfrm>
            <a:off x="502920" y="2560320"/>
            <a:ext cx="8138160" cy="1536192"/>
          </a:xfrm>
          <a:prstGeom prst="roundRect">
            <a:avLst>
              <a:gd name="adj" fmla="val 2976"/>
            </a:avLst>
          </a:prstGeom>
          <a:solidFill>
            <a:srgbClr val="E9E8EC"/>
          </a:solidFill>
          <a:ln/>
        </p:spPr>
      </p:sp>
      <p:sp>
        <p:nvSpPr>
          <p:cNvPr id="10" name="Text 8"/>
          <p:cNvSpPr/>
          <p:nvPr/>
        </p:nvSpPr>
        <p:spPr>
          <a:xfrm>
            <a:off x="667512" y="2633472"/>
            <a:ext cx="7808976" cy="274320"/>
          </a:xfrm>
          <a:prstGeom prst="rect">
            <a:avLst/>
          </a:prstGeom>
          <a:noFill/>
          <a:ln/>
        </p:spPr>
        <p:txBody>
          <a:bodyPr wrap="square" lIns="0" tIns="0" rIns="0" bIns="0" rtlCol="0" anchor="t"/>
          <a:lstStyle/>
          <a:p>
            <a:pPr algn="l" indent="0" marL="0">
              <a:buNone/>
            </a:pPr>
            <a:r>
              <a:rPr lang="en-US" sz="1250" b="1" i="1" dirty="0">
                <a:solidFill>
                  <a:srgbClr val="B22222"/>
                </a:solidFill>
                <a:latin typeface="Cambria" pitchFamily="34" charset="0"/>
                <a:ea typeface="Cambria" pitchFamily="34" charset="-122"/>
                <a:cs typeface="Cambria" pitchFamily="34" charset="-120"/>
              </a:rPr>
              <a:t>(b)  Identification fails, and the prefix binds the sentence to the error</a:t>
            </a:r>
            <a:endParaRPr lang="en-US" sz="1250" dirty="0"/>
          </a:p>
        </p:txBody>
      </p:sp>
      <p:sp>
        <p:nvSpPr>
          <p:cNvPr id="11" name="Text 9"/>
          <p:cNvSpPr/>
          <p:nvPr/>
        </p:nvSpPr>
        <p:spPr>
          <a:xfrm>
            <a:off x="667512" y="2944368"/>
            <a:ext cx="7808976" cy="256032"/>
          </a:xfrm>
          <a:prstGeom prst="rect">
            <a:avLst/>
          </a:prstGeom>
          <a:noFill/>
          <a:ln/>
        </p:spPr>
        <p:txBody>
          <a:bodyPr wrap="square" lIns="0" tIns="0" rIns="0" bIns="0" rtlCol="0" anchor="t"/>
          <a:lstStyle/>
          <a:p>
            <a:pPr algn="l" indent="0" marL="0">
              <a:buNone/>
            </a:pPr>
            <a:r>
              <a:rPr lang="en-US" sz="1150" dirty="0">
                <a:solidFill>
                  <a:srgbClr val="5A5A66"/>
                </a:solidFill>
                <a:latin typeface="Cambria" pitchFamily="34" charset="0"/>
                <a:ea typeface="Cambria" pitchFamily="34" charset="-122"/>
                <a:cs typeface="Cambria" pitchFamily="34" charset="-120"/>
              </a:rPr>
              <a:t>Reference:  “Click on BMW option on the screen.”</a:t>
            </a:r>
            <a:endParaRPr lang="en-US" sz="1150" dirty="0"/>
          </a:p>
        </p:txBody>
      </p:sp>
      <p:sp>
        <p:nvSpPr>
          <p:cNvPr id="12" name="Text 10"/>
          <p:cNvSpPr/>
          <p:nvPr/>
        </p:nvSpPr>
        <p:spPr>
          <a:xfrm>
            <a:off x="667512" y="3218688"/>
            <a:ext cx="7808976" cy="256032"/>
          </a:xfrm>
          <a:prstGeom prst="rect">
            <a:avLst/>
          </a:prstGeom>
          <a:noFill/>
          <a:ln/>
        </p:spPr>
        <p:txBody>
          <a:bodyPr wrap="square" lIns="0" tIns="0" rIns="0" bIns="0" rtlCol="0" anchor="t"/>
          <a:lstStyle/>
          <a:p>
            <a:pPr algn="l" indent="0" marL="0">
              <a:buNone/>
            </a:pPr>
            <a:r>
              <a:rPr lang="en-US" sz="1150" dirty="0">
                <a:solidFill>
                  <a:srgbClr val="1A1A1A"/>
                </a:solidFill>
                <a:latin typeface="Cambria" pitchFamily="34" charset="0"/>
                <a:ea typeface="Cambria" pitchFamily="34" charset="-122"/>
                <a:cs typeface="Cambria" pitchFamily="34" charset="-120"/>
              </a:rPr>
              <a:t>S1:  “Click on BMW option on the screen.”   — succeeds</a:t>
            </a:r>
            <a:endParaRPr lang="en-US" sz="1150" dirty="0"/>
          </a:p>
        </p:txBody>
      </p:sp>
      <p:sp>
        <p:nvSpPr>
          <p:cNvPr id="13" name="Text 11"/>
          <p:cNvSpPr/>
          <p:nvPr/>
        </p:nvSpPr>
        <p:spPr>
          <a:xfrm>
            <a:off x="667512" y="3493008"/>
            <a:ext cx="7808976" cy="548640"/>
          </a:xfrm>
          <a:prstGeom prst="rect">
            <a:avLst/>
          </a:prstGeom>
          <a:noFill/>
          <a:ln/>
        </p:spPr>
        <p:txBody>
          <a:bodyPr wrap="square" lIns="0" tIns="0" rIns="0" bIns="0" rtlCol="0" anchor="t"/>
          <a:lstStyle/>
          <a:p>
            <a:pPr algn="l" indent="0" marL="0">
              <a:lnSpc>
                <a:spcPct val="125000"/>
              </a:lnSpc>
              <a:buNone/>
            </a:pPr>
            <a:r>
              <a:rPr lang="en-US" sz="1100" dirty="0">
                <a:solidFill>
                  <a:srgbClr val="1A1A1A"/>
                </a:solidFill>
                <a:latin typeface="Cambria" pitchFamily="34" charset="0"/>
                <a:ea typeface="Cambria" pitchFamily="34" charset="-122"/>
                <a:cs typeface="Cambria" pitchFamily="34" charset="-120"/>
              </a:rPr>
              <a:t>S2:  &lt;desc&gt;item | (no name) | &lt;point&gt;100,294&lt;/point&gt; | just below the text “Acura”&lt;/desc&gt;  “Click on the first car brand on the screen.”   — fails</a:t>
            </a:r>
            <a:endParaRPr lang="en-US" sz="1100" dirty="0"/>
          </a:p>
        </p:txBody>
      </p:sp>
      <p:sp>
        <p:nvSpPr>
          <p:cNvPr id="14" name="Shape 12"/>
          <p:cNvSpPr/>
          <p:nvPr/>
        </p:nvSpPr>
        <p:spPr>
          <a:xfrm>
            <a:off x="502920" y="4251960"/>
            <a:ext cx="8138160" cy="1536192"/>
          </a:xfrm>
          <a:prstGeom prst="roundRect">
            <a:avLst>
              <a:gd name="adj" fmla="val 2976"/>
            </a:avLst>
          </a:prstGeom>
          <a:solidFill>
            <a:srgbClr val="E9E8EC"/>
          </a:solidFill>
          <a:ln/>
        </p:spPr>
      </p:sp>
      <p:sp>
        <p:nvSpPr>
          <p:cNvPr id="15" name="Text 13"/>
          <p:cNvSpPr/>
          <p:nvPr/>
        </p:nvSpPr>
        <p:spPr>
          <a:xfrm>
            <a:off x="667512" y="4325112"/>
            <a:ext cx="7808976" cy="274320"/>
          </a:xfrm>
          <a:prstGeom prst="rect">
            <a:avLst/>
          </a:prstGeom>
          <a:noFill/>
          <a:ln/>
        </p:spPr>
        <p:txBody>
          <a:bodyPr wrap="square" lIns="0" tIns="0" rIns="0" bIns="0" rtlCol="0" anchor="t"/>
          <a:lstStyle/>
          <a:p>
            <a:pPr algn="l" indent="0" marL="0">
              <a:buNone/>
            </a:pPr>
            <a:r>
              <a:rPr lang="en-US" sz="1250" b="1" i="1" dirty="0">
                <a:solidFill>
                  <a:srgbClr val="990000"/>
                </a:solidFill>
                <a:latin typeface="Cambria" pitchFamily="34" charset="0"/>
                <a:ea typeface="Cambria" pitchFamily="34" charset="-122"/>
                <a:cs typeface="Cambria" pitchFamily="34" charset="-120"/>
              </a:rPr>
              <a:t>(c)  No descriptor emitted, and the action class is wrong</a:t>
            </a:r>
            <a:endParaRPr lang="en-US" sz="1250" dirty="0"/>
          </a:p>
        </p:txBody>
      </p:sp>
      <p:sp>
        <p:nvSpPr>
          <p:cNvPr id="16" name="Text 14"/>
          <p:cNvSpPr/>
          <p:nvPr/>
        </p:nvSpPr>
        <p:spPr>
          <a:xfrm>
            <a:off x="667512" y="4636008"/>
            <a:ext cx="7808976" cy="256032"/>
          </a:xfrm>
          <a:prstGeom prst="rect">
            <a:avLst/>
          </a:prstGeom>
          <a:noFill/>
          <a:ln/>
        </p:spPr>
        <p:txBody>
          <a:bodyPr wrap="square" lIns="0" tIns="0" rIns="0" bIns="0" rtlCol="0" anchor="t"/>
          <a:lstStyle/>
          <a:p>
            <a:pPr algn="l" indent="0" marL="0">
              <a:buNone/>
            </a:pPr>
            <a:r>
              <a:rPr lang="en-US" sz="1150" dirty="0">
                <a:solidFill>
                  <a:srgbClr val="5A5A66"/>
                </a:solidFill>
                <a:latin typeface="Cambria" pitchFamily="34" charset="0"/>
                <a:ea typeface="Cambria" pitchFamily="34" charset="-122"/>
                <a:cs typeface="Cambria" pitchFamily="34" charset="-120"/>
              </a:rPr>
              <a:t>Reference:  “click on the Three lines at the top left corner.”</a:t>
            </a:r>
            <a:endParaRPr lang="en-US" sz="1150" dirty="0"/>
          </a:p>
        </p:txBody>
      </p:sp>
      <p:sp>
        <p:nvSpPr>
          <p:cNvPr id="17" name="Text 15"/>
          <p:cNvSpPr/>
          <p:nvPr/>
        </p:nvSpPr>
        <p:spPr>
          <a:xfrm>
            <a:off x="667512" y="4910328"/>
            <a:ext cx="7808976" cy="256032"/>
          </a:xfrm>
          <a:prstGeom prst="rect">
            <a:avLst/>
          </a:prstGeom>
          <a:noFill/>
          <a:ln/>
        </p:spPr>
        <p:txBody>
          <a:bodyPr wrap="square" lIns="0" tIns="0" rIns="0" bIns="0" rtlCol="0" anchor="t"/>
          <a:lstStyle/>
          <a:p>
            <a:pPr algn="l" indent="0" marL="0">
              <a:buNone/>
            </a:pPr>
            <a:r>
              <a:rPr lang="en-US" sz="1150" dirty="0">
                <a:solidFill>
                  <a:srgbClr val="1A1A1A"/>
                </a:solidFill>
                <a:latin typeface="Cambria" pitchFamily="34" charset="0"/>
                <a:ea typeface="Cambria" pitchFamily="34" charset="-122"/>
                <a:cs typeface="Cambria" pitchFamily="34" charset="-120"/>
              </a:rPr>
              <a:t>S1:  “Click on the three lines at the top left corner of the screen.”   — succeeds</a:t>
            </a:r>
            <a:endParaRPr lang="en-US" sz="1150" dirty="0"/>
          </a:p>
        </p:txBody>
      </p:sp>
      <p:sp>
        <p:nvSpPr>
          <p:cNvPr id="18" name="Text 16"/>
          <p:cNvSpPr/>
          <p:nvPr/>
        </p:nvSpPr>
        <p:spPr>
          <a:xfrm>
            <a:off x="667512" y="5184648"/>
            <a:ext cx="7808976" cy="548640"/>
          </a:xfrm>
          <a:prstGeom prst="rect">
            <a:avLst/>
          </a:prstGeom>
          <a:noFill/>
          <a:ln/>
        </p:spPr>
        <p:txBody>
          <a:bodyPr wrap="square" lIns="0" tIns="0" rIns="0" bIns="0" rtlCol="0" anchor="t"/>
          <a:lstStyle/>
          <a:p>
            <a:pPr algn="l" indent="0" marL="0">
              <a:lnSpc>
                <a:spcPct val="125000"/>
              </a:lnSpc>
              <a:buNone/>
            </a:pPr>
            <a:r>
              <a:rPr lang="en-US" sz="1100" dirty="0">
                <a:solidFill>
                  <a:srgbClr val="1A1A1A"/>
                </a:solidFill>
                <a:latin typeface="Cambria" pitchFamily="34" charset="0"/>
                <a:ea typeface="Cambria" pitchFamily="34" charset="-122"/>
                <a:cs typeface="Cambria" pitchFamily="34" charset="-120"/>
              </a:rPr>
              <a:t>S2:  “Go back to the previous page.”   — fails</a:t>
            </a:r>
            <a:endParaRPr lang="en-US" sz="1100" dirty="0"/>
          </a:p>
        </p:txBody>
      </p:sp>
      <p:sp>
        <p:nvSpPr>
          <p:cNvPr id="19" name="Text 17"/>
          <p:cNvSpPr/>
          <p:nvPr/>
        </p:nvSpPr>
        <p:spPr>
          <a:xfrm>
            <a:off x="502920" y="5943600"/>
            <a:ext cx="8138160" cy="365760"/>
          </a:xfrm>
          <a:prstGeom prst="rect">
            <a:avLst/>
          </a:prstGeom>
          <a:noFill/>
          <a:ln/>
        </p:spPr>
        <p:txBody>
          <a:bodyPr wrap="square" lIns="0" tIns="0" rIns="0" bIns="0" rtlCol="0" anchor="t"/>
          <a:lstStyle/>
          <a:p>
            <a:pPr algn="l" indent="0" marL="0">
              <a:buNone/>
            </a:pPr>
            <a:r>
              <a:rPr lang="en-US" sz="1200" i="1" dirty="0">
                <a:solidFill>
                  <a:srgbClr val="322164"/>
                </a:solidFill>
                <a:latin typeface="Cambria" pitchFamily="34" charset="0"/>
                <a:ea typeface="Cambria" pitchFamily="34" charset="-122"/>
                <a:cs typeface="Cambria" pitchFamily="34" charset="-120"/>
              </a:rPr>
              <a:t>The descriptor is stripped before scoring, so only the final sentence is measured. Neither failure is a failure of fluency.</a:t>
            </a:r>
            <a:endParaRPr lang="en-US" sz="1200" dirty="0"/>
          </a:p>
        </p:txBody>
      </p:sp>
      <p:sp>
        <p:nvSpPr>
          <p:cNvPr id="21" name="Shape 18"/>
          <p:cNvSpPr/>
          <p:nvPr/>
        </p:nvSpPr>
        <p:spPr>
          <a:xfrm>
            <a:off x="0" y="6620256"/>
            <a:ext cx="2194560" cy="237744"/>
          </a:xfrm>
          <a:prstGeom prst="rect">
            <a:avLst/>
          </a:prstGeom>
          <a:solidFill>
            <a:srgbClr val="191132"/>
          </a:solidFill>
          <a:ln/>
        </p:spPr>
      </p:sp>
      <p:sp>
        <p:nvSpPr>
          <p:cNvPr id="22" name="Shape 19"/>
          <p:cNvSpPr/>
          <p:nvPr/>
        </p:nvSpPr>
        <p:spPr>
          <a:xfrm>
            <a:off x="2194560" y="6620256"/>
            <a:ext cx="393192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1945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FAIR'2026</a:t>
            </a:r>
            <a:endParaRPr lang="en-US" sz="800" dirty="0"/>
          </a:p>
        </p:txBody>
      </p:sp>
      <p:sp>
        <p:nvSpPr>
          <p:cNvPr id="26" name="Text 23"/>
          <p:cNvSpPr/>
          <p:nvPr/>
        </p:nvSpPr>
        <p:spPr>
          <a:xfrm>
            <a:off x="2194560" y="6620256"/>
            <a:ext cx="393192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Descriptor-First Supervision for GUI Instruction Generation</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Uyen  ·  Long</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backup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Descriptor-First Supervision for GUI Instruction Generation - FAIR 2026</dc:title>
  <dc:subject>PptxGenJS Presentation</dc:subject>
  <dc:creator>Le Doan Phuong Uyen</dc:creator>
  <cp:lastModifiedBy>Le Doan Phuong Uyen</cp:lastModifiedBy>
  <cp:revision>1</cp:revision>
  <dcterms:created xsi:type="dcterms:W3CDTF">2026-08-30T17:29:15Z</dcterms:created>
  <dcterms:modified xsi:type="dcterms:W3CDTF">2026-08-30T17:29:15Z</dcterms:modified>
</cp:coreProperties>
</file>