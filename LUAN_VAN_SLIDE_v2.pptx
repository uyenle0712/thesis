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aclanthology.org/2025.cl-1.6/" TargetMode="External"/><Relationship Id="rId2" Type="http://schemas.openxmlformats.org/officeDocument/2006/relationships/hyperlink" Target="https://aclanthology.org/2024.naacl-short.30/" TargetMode="External"/><Relationship Id="rId3" Type="http://schemas.openxmlformats.org/officeDocument/2006/relationships/hyperlink" Target="https://aclanthology.org/2024.findings-emnlp.290/" TargetMode="External"/><Relationship Id="rId4" Type="http://schemas.openxmlformats.org/officeDocument/2006/relationships/hyperlink" Target="https://aclanthology.org/2023.emnlp-main.741/" TargetMode="External"/><Relationship Id="rId5" Type="http://schemas.openxmlformats.org/officeDocument/2006/relationships/hyperlink" Target="https://aclanthology.org/2021.emnlp-main.575/" TargetMode="External"/><Relationship Id="rId6" Type="http://schemas.openxmlformats.org/officeDocument/2006/relationships/hyperlink" Target="https://aclanthology.org/2021.acl-long.565/" TargetMode="External"/><Relationship Id="rId7" Type="http://schemas.openxmlformats.org/officeDocument/2006/relationships/hyperlink" Target="https://proceedings.neurips.cc/paper_files/paper/2024/hash/7f1f0218e45f5414c79c0679633e47bc-Abstract-Conference.html" TargetMode="External"/><Relationship Id="rId8" Type="http://schemas.openxmlformats.org/officeDocument/2006/relationships/hyperlink" Target="https://aclanthology.org/2024.findings-naacl.97/" TargetMode="External"/><Relationship Id="rId9" Type="http://schemas.openxmlformats.org/officeDocument/2006/relationships/hyperlink" Target="https://doi.org/10.1145/371920.372165" TargetMode="External"/><Relationship Id="rId10" Type="http://schemas.openxmlformats.org/officeDocument/2006/relationships/hyperlink" Target="https://doi.org/10.1145/1411509.1411513" TargetMode="External"/><Relationship Id="rId11" Type="http://schemas.openxmlformats.org/officeDocument/2006/relationships/hyperlink" Target="https://doi.org/10.1137/05063088X" TargetMode="External"/><Relationship Id="rId12" Type="http://schemas.openxmlformats.org/officeDocument/2006/relationships/hyperlink" Target="https://aclanthology.org/J06-4002/" TargetMode="External"/><Relationship Id="rId13" Type="http://schemas.openxmlformats.org/officeDocument/2006/relationships/hyperlink" Target="https://arxiv.org/abs/2410.23266" TargetMode="External"/><Relationship Id="rId14" Type="http://schemas.openxmlformats.org/officeDocument/2006/relationships/hyperlink" Target="https://arxiv.org/abs/2406.03679" TargetMode="External"/><Relationship Id="rId15" Type="http://schemas.openxmlformats.org/officeDocument/2006/relationships/hyperlink" Target="https://arxiv.org/abs/2307.10088" TargetMode="External"/><Relationship Id="rId16" Type="http://schemas.openxmlformats.org/officeDocument/2006/relationships/hyperlink" Target="https://aclanthology.org/2024.acl-long.505/" TargetMode="External"/><Relationship Id="rId17" Type="http://schemas.openxmlformats.org/officeDocument/2006/relationships/hyperlink" Target="https://arxiv.org/abs/2410.23218" TargetMode="External"/><Relationship Id="rId18" Type="http://schemas.openxmlformats.org/officeDocument/2006/relationships/hyperlink" Target="https://doi.org/10.1145/3377811.3380327" TargetMode="External"/><Relationship Id="rId19" Type="http://schemas.openxmlformats.org/officeDocument/2006/relationships/hyperlink" Target="https://doi.org/10.1016/j.jeconom.2022.04.001" TargetMode="External"/><Relationship Id="rId20" Type="http://schemas.openxmlformats.org/officeDocument/2006/relationships/slideLayout" Target="../slideLayouts/slideLayout1.xml"/><Relationship Id="rId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B"/>
        </a:solidFill>
      </p:bgPr>
    </p:bg>
    <p:spTree>
      <p:nvGrpSpPr>
        <p:cNvPr id="1" name=""/>
        <p:cNvGrpSpPr/>
        <p:nvPr/>
      </p:nvGrpSpPr>
      <p:grpSpPr>
        <a:xfrm>
          <a:off x="0" y="0"/>
          <a:ext cx="0" cy="0"/>
          <a:chOff x="0" y="0"/>
          <a:chExt cx="0" cy="0"/>
        </a:xfrm>
      </p:grpSpPr>
      <p:sp>
        <p:nvSpPr>
          <p:cNvPr id="2" name="Text 0"/>
          <p:cNvSpPr/>
          <p:nvPr/>
        </p:nvSpPr>
        <p:spPr>
          <a:xfrm>
            <a:off x="841248" y="1371600"/>
            <a:ext cx="10058400" cy="365760"/>
          </a:xfrm>
          <a:prstGeom prst="rect">
            <a:avLst/>
          </a:prstGeom>
          <a:noFill/>
          <a:ln/>
        </p:spPr>
        <p:txBody>
          <a:bodyPr wrap="square" lIns="0" tIns="0" rIns="0" bIns="0" rtlCol="0" anchor="t"/>
          <a:lstStyle/>
          <a:p>
            <a:pPr algn="l" indent="0" marL="0">
              <a:buNone/>
            </a:pPr>
            <a:r>
              <a:rPr lang="en-US" sz="1300" b="1" spc="250" kern="0" dirty="0">
                <a:solidFill>
                  <a:srgbClr val="E4A986"/>
                </a:solidFill>
                <a:latin typeface="Segoe UI" pitchFamily="34" charset="0"/>
                <a:ea typeface="Segoe UI" pitchFamily="34" charset="-122"/>
                <a:cs typeface="Segoe UI" pitchFamily="34" charset="-120"/>
              </a:rPr>
              <a:t>LUẬN VĂN THẠC SĨ · KHOA HỌC MÁY TÍNH</a:t>
            </a:r>
            <a:endParaRPr lang="en-US" sz="1300" dirty="0"/>
          </a:p>
        </p:txBody>
      </p:sp>
      <p:sp>
        <p:nvSpPr>
          <p:cNvPr id="3" name="Text 1"/>
          <p:cNvSpPr/>
          <p:nvPr/>
        </p:nvSpPr>
        <p:spPr>
          <a:xfrm>
            <a:off x="822960" y="1965960"/>
            <a:ext cx="877824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Cambria" pitchFamily="34" charset="0"/>
                <a:ea typeface="Cambria" pitchFamily="34" charset="-122"/>
                <a:cs typeface="Cambria" pitchFamily="34" charset="-120"/>
              </a:rPr>
              <a:t>Tự động viết hướng dẫn sử dụng phần mềm</a:t>
            </a:r>
            <a:endParaRPr lang="en-US" sz="3400" dirty="0"/>
          </a:p>
          <a:p>
            <a:pPr algn="l" indent="0" marL="0">
              <a:lnSpc>
                <a:spcPct val="108000"/>
              </a:lnSpc>
              <a:buNone/>
            </a:pPr>
            <a:r>
              <a:rPr lang="en-US" sz="3400" b="1" dirty="0">
                <a:solidFill>
                  <a:srgbClr val="FFFFFF"/>
                </a:solidFill>
                <a:latin typeface="Cambria" pitchFamily="34" charset="0"/>
                <a:ea typeface="Cambria" pitchFamily="34" charset="-122"/>
                <a:cs typeface="Cambria" pitchFamily="34" charset="-120"/>
              </a:rPr>
              <a:t>từ ảnh màn hình và câu hỏi của người dùng</a:t>
            </a:r>
            <a:endParaRPr lang="en-US" sz="3400" dirty="0"/>
          </a:p>
        </p:txBody>
      </p:sp>
      <p:sp>
        <p:nvSpPr>
          <p:cNvPr id="4" name="Text 2"/>
          <p:cNvSpPr/>
          <p:nvPr/>
        </p:nvSpPr>
        <p:spPr>
          <a:xfrm>
            <a:off x="841248" y="3886200"/>
            <a:ext cx="8595360" cy="548640"/>
          </a:xfrm>
          <a:prstGeom prst="rect">
            <a:avLst/>
          </a:prstGeom>
          <a:noFill/>
          <a:ln/>
        </p:spPr>
        <p:txBody>
          <a:bodyPr wrap="square" lIns="0" tIns="0" rIns="0" bIns="0" rtlCol="0" anchor="t"/>
          <a:lstStyle/>
          <a:p>
            <a:pPr algn="l" indent="0" marL="0">
              <a:buNone/>
            </a:pPr>
            <a:r>
              <a:rPr lang="en-US" sz="1800" i="1" dirty="0">
                <a:solidFill>
                  <a:srgbClr val="C9D2DC"/>
                </a:solidFill>
                <a:latin typeface="Cambria" pitchFamily="34" charset="0"/>
                <a:ea typeface="Cambria" pitchFamily="34" charset="-122"/>
                <a:cs typeface="Cambria" pitchFamily="34" charset="-120"/>
              </a:rPr>
              <a:t>Kèm cách đánh giá khi trong tay không có bản hướng dẫn mẫu</a:t>
            </a:r>
            <a:endParaRPr lang="en-US" sz="1800" dirty="0"/>
          </a:p>
        </p:txBody>
      </p:sp>
      <p:sp>
        <p:nvSpPr>
          <p:cNvPr id="5" name="Text 3"/>
          <p:cNvSpPr/>
          <p:nvPr/>
        </p:nvSpPr>
        <p:spPr>
          <a:xfrm>
            <a:off x="841248" y="5989320"/>
            <a:ext cx="10058400" cy="365760"/>
          </a:xfrm>
          <a:prstGeom prst="rect">
            <a:avLst/>
          </a:prstGeom>
          <a:noFill/>
          <a:ln/>
        </p:spPr>
        <p:txBody>
          <a:bodyPr wrap="square" lIns="0" tIns="0" rIns="0" bIns="0" rtlCol="0" anchor="t"/>
          <a:lstStyle/>
          <a:p>
            <a:pPr algn="l" indent="0" marL="0">
              <a:buNone/>
            </a:pPr>
            <a:r>
              <a:rPr lang="en-US" sz="1300" dirty="0">
                <a:solidFill>
                  <a:srgbClr val="8FA0B2"/>
                </a:solidFill>
                <a:latin typeface="Segoe UI" pitchFamily="34" charset="0"/>
                <a:ea typeface="Segoe UI" pitchFamily="34" charset="-122"/>
                <a:cs typeface="Segoe UI" pitchFamily="34" charset="-120"/>
              </a:rPr>
              <a:t>Học viên · · · · ·      Giảng viên hướng dẫn · · · · ·      2026</a:t>
            </a:r>
            <a:endParaRPr lang="en-US" sz="1300" dirty="0"/>
          </a:p>
        </p:txBody>
      </p:sp>
      <p:sp>
        <p:nvSpPr>
          <p:cNvPr id="6" name="Shape 4"/>
          <p:cNvSpPr/>
          <p:nvPr/>
        </p:nvSpPr>
        <p:spPr>
          <a:xfrm>
            <a:off x="9445752" y="1764792"/>
            <a:ext cx="1911096" cy="3054096"/>
          </a:xfrm>
          <a:prstGeom prst="roundRect">
            <a:avLst>
              <a:gd name="adj" fmla="val 3349"/>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7" name="Image 0" descr="_img/real_mv_1.png">    </p:cNvPr>
          <p:cNvPicPr>
            <a:picLocks noChangeAspect="1"/>
          </p:cNvPicPr>
          <p:nvPr/>
        </p:nvPicPr>
        <p:blipFill>
          <a:blip r:embed="rId1"/>
          <a:srcRect l="0" r="0" t="0" b="0"/>
          <a:stretch/>
        </p:blipFill>
        <p:spPr>
          <a:xfrm>
            <a:off x="9509760" y="1828800"/>
            <a:ext cx="1783080" cy="2926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BÀI TOÁN</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Vào: một ảnh và một câu hỏi — Ra: hướng dẫn từng bước</a:t>
            </a:r>
            <a:endParaRPr lang="en-US" sz="2800" dirty="0"/>
          </a:p>
        </p:txBody>
      </p:sp>
      <p:sp>
        <p:nvSpPr>
          <p:cNvPr id="4" name="Shape 2"/>
          <p:cNvSpPr/>
          <p:nvPr/>
        </p:nvSpPr>
        <p:spPr>
          <a:xfrm>
            <a:off x="1051560" y="2130552"/>
            <a:ext cx="2002536" cy="3456432"/>
          </a:xfrm>
          <a:prstGeom prst="roundRect">
            <a:avLst>
              <a:gd name="adj" fmla="val 3196"/>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5" name="Image 0" descr="_img/real_mv_1.png">    </p:cNvPr>
          <p:cNvPicPr>
            <a:picLocks noChangeAspect="1"/>
          </p:cNvPicPr>
          <p:nvPr/>
        </p:nvPicPr>
        <p:blipFill>
          <a:blip r:embed="rId1"/>
          <a:srcRect l="0" r="0" t="0" b="0"/>
          <a:stretch/>
        </p:blipFill>
        <p:spPr>
          <a:xfrm>
            <a:off x="1115568" y="2194560"/>
            <a:ext cx="1874520" cy="3017520"/>
          </a:xfrm>
          <a:prstGeom prst="rect">
            <a:avLst/>
          </a:prstGeom>
        </p:spPr>
      </p:pic>
      <p:sp>
        <p:nvSpPr>
          <p:cNvPr id="6" name="Text 3"/>
          <p:cNvSpPr/>
          <p:nvPr/>
        </p:nvSpPr>
        <p:spPr>
          <a:xfrm>
            <a:off x="1051560" y="5239512"/>
            <a:ext cx="2002536" cy="310896"/>
          </a:xfrm>
          <a:prstGeom prst="rect">
            <a:avLst/>
          </a:prstGeom>
          <a:noFill/>
          <a:ln/>
        </p:spPr>
        <p:txBody>
          <a:bodyPr wrap="square" lIns="0" tIns="0" rIns="0" bIns="0" rtlCol="0" anchor="ctr"/>
          <a:lstStyle/>
          <a:p>
            <a:pPr algn="ctr" indent="0" marL="0">
              <a:buNone/>
            </a:pPr>
            <a:r>
              <a:rPr lang="en-US" sz="1250" b="1" dirty="0">
                <a:solidFill>
                  <a:srgbClr val="1D2733"/>
                </a:solidFill>
                <a:latin typeface="Segoe UI" pitchFamily="34" charset="0"/>
                <a:ea typeface="Segoe UI" pitchFamily="34" charset="-122"/>
                <a:cs typeface="Segoe UI" pitchFamily="34" charset="-120"/>
              </a:rPr>
              <a:t>Ảnh màn hình</a:t>
            </a:r>
            <a:endParaRPr lang="en-US" sz="1250" dirty="0"/>
          </a:p>
        </p:txBody>
      </p:sp>
      <p:sp>
        <p:nvSpPr>
          <p:cNvPr id="7" name="Text 4"/>
          <p:cNvSpPr/>
          <p:nvPr/>
        </p:nvSpPr>
        <p:spPr>
          <a:xfrm>
            <a:off x="3977640" y="2286000"/>
            <a:ext cx="2926080" cy="292608"/>
          </a:xfrm>
          <a:prstGeom prst="rect">
            <a:avLst/>
          </a:prstGeom>
          <a:noFill/>
          <a:ln/>
        </p:spPr>
        <p:txBody>
          <a:bodyPr wrap="square" lIns="0" tIns="0" rIns="0" bIns="0" rtlCol="0" anchor="t"/>
          <a:lstStyle/>
          <a:p>
            <a:pPr algn="l" indent="0" marL="0">
              <a:buNone/>
            </a:pPr>
            <a:r>
              <a:rPr lang="en-US" sz="1250" b="1" dirty="0">
                <a:solidFill>
                  <a:srgbClr val="BE5A2E"/>
                </a:solidFill>
                <a:latin typeface="Segoe UI" pitchFamily="34" charset="0"/>
                <a:ea typeface="Segoe UI" pitchFamily="34" charset="-122"/>
                <a:cs typeface="Segoe UI" pitchFamily="34" charset="-120"/>
              </a:rPr>
              <a:t>Câu hỏi</a:t>
            </a:r>
            <a:endParaRPr lang="en-US" sz="1250" dirty="0"/>
          </a:p>
        </p:txBody>
      </p:sp>
      <p:sp>
        <p:nvSpPr>
          <p:cNvPr id="8" name="Shape 5"/>
          <p:cNvSpPr/>
          <p:nvPr/>
        </p:nvSpPr>
        <p:spPr>
          <a:xfrm>
            <a:off x="3931920" y="2606040"/>
            <a:ext cx="3063240" cy="1097280"/>
          </a:xfrm>
          <a:prstGeom prst="roundRect">
            <a:avLst>
              <a:gd name="adj" fmla="val 6667"/>
            </a:avLst>
          </a:prstGeom>
          <a:solidFill>
            <a:srgbClr val="F3F5F7"/>
          </a:solidFill>
          <a:ln/>
        </p:spPr>
      </p:sp>
      <p:sp>
        <p:nvSpPr>
          <p:cNvPr id="9" name="Text 6"/>
          <p:cNvSpPr/>
          <p:nvPr/>
        </p:nvSpPr>
        <p:spPr>
          <a:xfrm>
            <a:off x="4160520" y="2697480"/>
            <a:ext cx="2697480" cy="914400"/>
          </a:xfrm>
          <a:prstGeom prst="rect">
            <a:avLst/>
          </a:prstGeom>
          <a:noFill/>
          <a:ln/>
        </p:spPr>
        <p:txBody>
          <a:bodyPr wrap="square" lIns="0" tIns="0" rIns="0" bIns="0" rtlCol="0" anchor="ctr"/>
          <a:lstStyle/>
          <a:p>
            <a:pPr algn="l" indent="0" marL="0">
              <a:lnSpc>
                <a:spcPct val="120000"/>
              </a:lnSpc>
              <a:buNone/>
            </a:pPr>
            <a:r>
              <a:rPr lang="en-US" sz="1550" dirty="0">
                <a:solidFill>
                  <a:srgbClr val="1D2733"/>
                </a:solidFill>
                <a:latin typeface="Segoe UI" pitchFamily="34" charset="0"/>
                <a:ea typeface="Segoe UI" pitchFamily="34" charset="-122"/>
                <a:cs typeface="Segoe UI" pitchFamily="34" charset="-120"/>
              </a:rPr>
              <a:t>“Cần làm gì để đặt giờ 20:35</a:t>
            </a:r>
            <a:endParaRPr lang="en-US" sz="1550" dirty="0"/>
          </a:p>
          <a:p>
            <a:pPr algn="l" indent="0" marL="0">
              <a:lnSpc>
                <a:spcPct val="120000"/>
              </a:lnSpc>
              <a:buNone/>
            </a:pPr>
            <a:r>
              <a:rPr lang="en-US" sz="1550" dirty="0">
                <a:solidFill>
                  <a:srgbClr val="1D2733"/>
                </a:solidFill>
                <a:latin typeface="Segoe UI" pitchFamily="34" charset="0"/>
                <a:ea typeface="Segoe UI" pitchFamily="34" charset="-122"/>
                <a:cs typeface="Segoe UI" pitchFamily="34" charset="-120"/>
              </a:rPr>
              <a:t>rồi xác nhận?”</a:t>
            </a:r>
            <a:endParaRPr lang="en-US" sz="1550" dirty="0"/>
          </a:p>
        </p:txBody>
      </p:sp>
      <p:sp>
        <p:nvSpPr>
          <p:cNvPr id="10" name="Shape 7"/>
          <p:cNvSpPr/>
          <p:nvPr/>
        </p:nvSpPr>
        <p:spPr>
          <a:xfrm>
            <a:off x="7223760" y="2788920"/>
            <a:ext cx="502920" cy="0"/>
          </a:xfrm>
          <a:prstGeom prst="line">
            <a:avLst/>
          </a:prstGeom>
          <a:noFill/>
          <a:ln w="31750">
            <a:solidFill>
              <a:srgbClr val="BE5A2E"/>
            </a:solidFill>
            <a:prstDash val="solid"/>
            <a:tailEnd type="triangle"/>
          </a:ln>
        </p:spPr>
      </p:sp>
      <p:sp>
        <p:nvSpPr>
          <p:cNvPr id="11" name="Shape 8"/>
          <p:cNvSpPr/>
          <p:nvPr/>
        </p:nvSpPr>
        <p:spPr>
          <a:xfrm>
            <a:off x="7909560" y="2148840"/>
            <a:ext cx="3520440" cy="3474720"/>
          </a:xfrm>
          <a:prstGeom prst="roundRect">
            <a:avLst>
              <a:gd name="adj" fmla="val 2632"/>
            </a:avLst>
          </a:prstGeom>
          <a:solidFill>
            <a:srgbClr val="F7EBE3"/>
          </a:solidFill>
          <a:ln/>
        </p:spPr>
      </p:sp>
      <p:sp>
        <p:nvSpPr>
          <p:cNvPr id="12" name="Text 9"/>
          <p:cNvSpPr/>
          <p:nvPr/>
        </p:nvSpPr>
        <p:spPr>
          <a:xfrm>
            <a:off x="8183880" y="2377440"/>
            <a:ext cx="3017520" cy="320040"/>
          </a:xfrm>
          <a:prstGeom prst="rect">
            <a:avLst/>
          </a:prstGeom>
          <a:noFill/>
          <a:ln/>
        </p:spPr>
        <p:txBody>
          <a:bodyPr wrap="square" lIns="0" tIns="0" rIns="0" bIns="0" rtlCol="0" anchor="t"/>
          <a:lstStyle/>
          <a:p>
            <a:pPr algn="l" indent="0" marL="0">
              <a:buNone/>
            </a:pPr>
            <a:r>
              <a:rPr lang="en-US" sz="1300" b="1" dirty="0">
                <a:solidFill>
                  <a:srgbClr val="BE5A2E"/>
                </a:solidFill>
                <a:latin typeface="Segoe UI" pitchFamily="34" charset="0"/>
                <a:ea typeface="Segoe UI" pitchFamily="34" charset="-122"/>
                <a:cs typeface="Segoe UI" pitchFamily="34" charset="-120"/>
              </a:rPr>
              <a:t>Hướng dẫn sinh ra</a:t>
            </a:r>
            <a:endParaRPr lang="en-US" sz="1300" dirty="0"/>
          </a:p>
        </p:txBody>
      </p:sp>
      <p:sp>
        <p:nvSpPr>
          <p:cNvPr id="13" name="Text 10"/>
          <p:cNvSpPr/>
          <p:nvPr/>
        </p:nvSpPr>
        <p:spPr>
          <a:xfrm>
            <a:off x="8183880" y="2880360"/>
            <a:ext cx="3017520" cy="2560320"/>
          </a:xfrm>
          <a:prstGeom prst="rect">
            <a:avLst/>
          </a:prstGeom>
          <a:noFill/>
          <a:ln/>
        </p:spPr>
        <p:txBody>
          <a:bodyPr wrap="square" lIns="0" tIns="0" rIns="0" bIns="0" rtlCol="0" anchor="t"/>
          <a:lstStyle/>
          <a:p>
            <a:pPr algn="l" indent="0" marL="0">
              <a:lnSpc>
                <a:spcPct val="125000"/>
              </a:lnSpc>
              <a:buNone/>
            </a:pPr>
            <a:r>
              <a:rPr lang="en-US" sz="1700" dirty="0">
                <a:solidFill>
                  <a:srgbClr val="1D2733"/>
                </a:solidFill>
                <a:latin typeface="Segoe UI" pitchFamily="34" charset="0"/>
                <a:ea typeface="Segoe UI" pitchFamily="34" charset="-122"/>
                <a:cs typeface="Segoe UI" pitchFamily="34" charset="-120"/>
              </a:rPr>
              <a:t>1.  Chọn giờ “8”, phút “35”</a:t>
            </a:r>
            <a:endParaRPr lang="en-US" sz="1700" dirty="0"/>
          </a:p>
          <a:p>
            <a:pPr algn="l" indent="0" marL="0">
              <a:lnSpc>
                <a:spcPct val="125000"/>
              </a:lnSpc>
              <a:buNone/>
            </a:pPr>
            <a:endParaRPr lang="en-US" sz="1700" dirty="0"/>
          </a:p>
          <a:p>
            <a:pPr algn="l" indent="0" marL="0">
              <a:lnSpc>
                <a:spcPct val="125000"/>
              </a:lnSpc>
              <a:buNone/>
            </a:pPr>
            <a:r>
              <a:rPr lang="en-US" sz="1700" dirty="0">
                <a:solidFill>
                  <a:srgbClr val="1D2733"/>
                </a:solidFill>
                <a:latin typeface="Segoe UI" pitchFamily="34" charset="0"/>
                <a:ea typeface="Segoe UI" pitchFamily="34" charset="-122"/>
                <a:cs typeface="Segoe UI" pitchFamily="34" charset="-120"/>
              </a:rPr>
              <a:t>2.  Chọn buổi “PM”</a:t>
            </a:r>
            <a:endParaRPr lang="en-US" sz="1700" dirty="0"/>
          </a:p>
          <a:p>
            <a:pPr algn="l" indent="0" marL="0">
              <a:lnSpc>
                <a:spcPct val="125000"/>
              </a:lnSpc>
              <a:buNone/>
            </a:pPr>
            <a:endParaRPr lang="en-US" sz="1700" dirty="0"/>
          </a:p>
          <a:p>
            <a:pPr algn="l" indent="0" marL="0">
              <a:lnSpc>
                <a:spcPct val="125000"/>
              </a:lnSpc>
              <a:buNone/>
            </a:pPr>
            <a:r>
              <a:rPr lang="en-US" sz="1700" dirty="0">
                <a:solidFill>
                  <a:srgbClr val="1D2733"/>
                </a:solidFill>
                <a:latin typeface="Segoe UI" pitchFamily="34" charset="0"/>
                <a:ea typeface="Segoe UI" pitchFamily="34" charset="-122"/>
                <a:cs typeface="Segoe UI" pitchFamily="34" charset="-120"/>
              </a:rPr>
              <a:t>3.  Nhấn “OK”</a:t>
            </a:r>
            <a:endParaRPr lang="en-US" sz="1700" dirty="0"/>
          </a:p>
        </p:txBody>
      </p:sp>
      <p:sp>
        <p:nvSpPr>
          <p:cNvPr id="14" name="Text 11"/>
          <p:cNvSpPr/>
          <p:nvPr/>
        </p:nvSpPr>
        <p:spPr>
          <a:xfrm>
            <a:off x="841248" y="5943600"/>
            <a:ext cx="10515600" cy="365760"/>
          </a:xfrm>
          <a:prstGeom prst="rect">
            <a:avLst/>
          </a:prstGeom>
          <a:noFill/>
          <a:ln/>
        </p:spPr>
        <p:txBody>
          <a:bodyPr wrap="square" lIns="0" tIns="0" rIns="0" bIns="0" rtlCol="0" anchor="t"/>
          <a:lstStyle/>
          <a:p>
            <a:pPr algn="l" indent="0" marL="0">
              <a:buNone/>
            </a:pPr>
            <a:r>
              <a:rPr lang="en-US" sz="1350" dirty="0">
                <a:solidFill>
                  <a:srgbClr val="454C55"/>
                </a:solidFill>
                <a:latin typeface="Segoe UI" pitchFamily="34" charset="0"/>
                <a:ea typeface="Segoe UI" pitchFamily="34" charset="-122"/>
                <a:cs typeface="Segoe UI" pitchFamily="34" charset="-120"/>
              </a:rPr>
              <a:t>Nếu tác vụ trải nhiều màn, người dùng đưa vào nhiều ảnh — và các ảnh có thể bị xáo trộn.</a:t>
            </a:r>
            <a:endParaRPr lang="en-US" sz="1350" dirty="0"/>
          </a:p>
        </p:txBody>
      </p:sp>
      <p:sp>
        <p:nvSpPr>
          <p:cNvPr id="15" name="Text 12"/>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BÀI TOÁN</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Ba điều làm bài toán này khó</a:t>
            </a:r>
            <a:endParaRPr lang="en-US" sz="2800" dirty="0"/>
          </a:p>
        </p:txBody>
      </p:sp>
      <p:sp>
        <p:nvSpPr>
          <p:cNvPr id="4" name="Shape 2"/>
          <p:cNvSpPr/>
          <p:nvPr/>
        </p:nvSpPr>
        <p:spPr>
          <a:xfrm>
            <a:off x="841248" y="2148840"/>
            <a:ext cx="3310128" cy="3337560"/>
          </a:xfrm>
          <a:prstGeom prst="roundRect">
            <a:avLst>
              <a:gd name="adj" fmla="val 2486"/>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sp>
        <p:nvSpPr>
          <p:cNvPr id="5" name="Shape 3"/>
          <p:cNvSpPr/>
          <p:nvPr/>
        </p:nvSpPr>
        <p:spPr>
          <a:xfrm>
            <a:off x="1133856" y="2468880"/>
            <a:ext cx="658368" cy="658368"/>
          </a:xfrm>
          <a:prstGeom prst="ellipse">
            <a:avLst/>
          </a:prstGeom>
          <a:solidFill>
            <a:srgbClr val="BE5A2E"/>
          </a:solidFill>
          <a:ln/>
        </p:spPr>
      </p:sp>
      <p:sp>
        <p:nvSpPr>
          <p:cNvPr id="6" name="Text 4"/>
          <p:cNvSpPr/>
          <p:nvPr/>
        </p:nvSpPr>
        <p:spPr>
          <a:xfrm>
            <a:off x="1133856" y="2468880"/>
            <a:ext cx="658368" cy="658368"/>
          </a:xfrm>
          <a:prstGeom prst="rect">
            <a:avLst/>
          </a:prstGeom>
          <a:noFill/>
          <a:ln/>
        </p:spPr>
        <p:txBody>
          <a:bodyPr wrap="square" lIns="0" tIns="0" rIns="0" bIns="0" rtlCol="0" anchor="ctr"/>
          <a:lstStyle/>
          <a:p>
            <a:pPr algn="ctr" indent="0" marL="0">
              <a:buNone/>
            </a:pPr>
            <a:r>
              <a:rPr lang="en-US" sz="2448" b="1" dirty="0">
                <a:solidFill>
                  <a:srgbClr val="FFFFFF"/>
                </a:solidFill>
                <a:latin typeface="Cambria" pitchFamily="34" charset="0"/>
                <a:ea typeface="Cambria" pitchFamily="34" charset="-122"/>
                <a:cs typeface="Cambria" pitchFamily="34" charset="-120"/>
              </a:rPr>
              <a:t>1</a:t>
            </a:r>
            <a:endParaRPr lang="en-US" sz="2448" dirty="0"/>
          </a:p>
        </p:txBody>
      </p:sp>
      <p:sp>
        <p:nvSpPr>
          <p:cNvPr id="7" name="Text 5"/>
          <p:cNvSpPr/>
          <p:nvPr/>
        </p:nvSpPr>
        <p:spPr>
          <a:xfrm>
            <a:off x="1133856" y="3291840"/>
            <a:ext cx="2788920" cy="777240"/>
          </a:xfrm>
          <a:prstGeom prst="rect">
            <a:avLst/>
          </a:prstGeom>
          <a:noFill/>
          <a:ln/>
        </p:spPr>
        <p:txBody>
          <a:bodyPr wrap="square" lIns="0" tIns="0" rIns="0" bIns="0" rtlCol="0" anchor="t"/>
          <a:lstStyle/>
          <a:p>
            <a:pPr algn="l" indent="0" marL="0">
              <a:lnSpc>
                <a:spcPct val="105000"/>
              </a:lnSpc>
              <a:buNone/>
            </a:pPr>
            <a:r>
              <a:rPr lang="en-US" sz="1700" b="1" dirty="0">
                <a:solidFill>
                  <a:srgbClr val="1D2733"/>
                </a:solidFill>
                <a:latin typeface="Cambria" pitchFamily="34" charset="0"/>
                <a:ea typeface="Cambria" pitchFamily="34" charset="-122"/>
                <a:cs typeface="Cambria" pitchFamily="34" charset="-120"/>
              </a:rPr>
              <a:t>Máy hay nhắc nút không có thật</a:t>
            </a:r>
            <a:endParaRPr lang="en-US" sz="1700" dirty="0"/>
          </a:p>
        </p:txBody>
      </p:sp>
      <p:sp>
        <p:nvSpPr>
          <p:cNvPr id="8" name="Text 6"/>
          <p:cNvSpPr/>
          <p:nvPr/>
        </p:nvSpPr>
        <p:spPr>
          <a:xfrm>
            <a:off x="1133856" y="4160520"/>
            <a:ext cx="2788920" cy="1188720"/>
          </a:xfrm>
          <a:prstGeom prst="rect">
            <a:avLst/>
          </a:prstGeom>
          <a:noFill/>
          <a:ln/>
        </p:spPr>
        <p:txBody>
          <a:bodyPr wrap="square" lIns="0" tIns="0" rIns="0" bIns="0" rtlCol="0" anchor="t"/>
          <a:lstStyle/>
          <a:p>
            <a:pPr algn="l" indent="0" marL="0">
              <a:lnSpc>
                <a:spcPct val="122000"/>
              </a:lnSpc>
              <a:buNone/>
            </a:pPr>
            <a:r>
              <a:rPr lang="en-US" sz="1300" dirty="0">
                <a:solidFill>
                  <a:srgbClr val="454C55"/>
                </a:solidFill>
                <a:latin typeface="Segoe UI" pitchFamily="34" charset="0"/>
                <a:ea typeface="Segoe UI" pitchFamily="34" charset="-122"/>
                <a:cs typeface="Segoe UI" pitchFamily="34" charset="-120"/>
              </a:rPr>
              <a:t>Mô hình mô tả một nút không hề xuất hiện trên màn hình, khiến người dùng làm theo không được. Đây gọi là ảo giác giao diện.</a:t>
            </a:r>
            <a:endParaRPr lang="en-US" sz="1300" dirty="0"/>
          </a:p>
        </p:txBody>
      </p:sp>
      <p:sp>
        <p:nvSpPr>
          <p:cNvPr id="9" name="Shape 7"/>
          <p:cNvSpPr/>
          <p:nvPr/>
        </p:nvSpPr>
        <p:spPr>
          <a:xfrm>
            <a:off x="4425696" y="2148840"/>
            <a:ext cx="3310128" cy="3337560"/>
          </a:xfrm>
          <a:prstGeom prst="roundRect">
            <a:avLst>
              <a:gd name="adj" fmla="val 2486"/>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sp>
        <p:nvSpPr>
          <p:cNvPr id="10" name="Shape 8"/>
          <p:cNvSpPr/>
          <p:nvPr/>
        </p:nvSpPr>
        <p:spPr>
          <a:xfrm>
            <a:off x="4718304" y="2468880"/>
            <a:ext cx="658368" cy="658368"/>
          </a:xfrm>
          <a:prstGeom prst="ellipse">
            <a:avLst/>
          </a:prstGeom>
          <a:solidFill>
            <a:srgbClr val="BE5A2E"/>
          </a:solidFill>
          <a:ln/>
        </p:spPr>
      </p:sp>
      <p:sp>
        <p:nvSpPr>
          <p:cNvPr id="11" name="Text 9"/>
          <p:cNvSpPr/>
          <p:nvPr/>
        </p:nvSpPr>
        <p:spPr>
          <a:xfrm>
            <a:off x="4718304" y="2468880"/>
            <a:ext cx="658368" cy="658368"/>
          </a:xfrm>
          <a:prstGeom prst="rect">
            <a:avLst/>
          </a:prstGeom>
          <a:noFill/>
          <a:ln/>
        </p:spPr>
        <p:txBody>
          <a:bodyPr wrap="square" lIns="0" tIns="0" rIns="0" bIns="0" rtlCol="0" anchor="ctr"/>
          <a:lstStyle/>
          <a:p>
            <a:pPr algn="ctr" indent="0" marL="0">
              <a:buNone/>
            </a:pPr>
            <a:r>
              <a:rPr lang="en-US" sz="2448" b="1" dirty="0">
                <a:solidFill>
                  <a:srgbClr val="FFFFFF"/>
                </a:solidFill>
                <a:latin typeface="Cambria" pitchFamily="34" charset="0"/>
                <a:ea typeface="Cambria" pitchFamily="34" charset="-122"/>
                <a:cs typeface="Cambria" pitchFamily="34" charset="-120"/>
              </a:rPr>
              <a:t>2</a:t>
            </a:r>
            <a:endParaRPr lang="en-US" sz="2448" dirty="0"/>
          </a:p>
        </p:txBody>
      </p:sp>
      <p:sp>
        <p:nvSpPr>
          <p:cNvPr id="12" name="Text 10"/>
          <p:cNvSpPr/>
          <p:nvPr/>
        </p:nvSpPr>
        <p:spPr>
          <a:xfrm>
            <a:off x="4718304" y="3291840"/>
            <a:ext cx="2788920" cy="777240"/>
          </a:xfrm>
          <a:prstGeom prst="rect">
            <a:avLst/>
          </a:prstGeom>
          <a:noFill/>
          <a:ln/>
        </p:spPr>
        <p:txBody>
          <a:bodyPr wrap="square" lIns="0" tIns="0" rIns="0" bIns="0" rtlCol="0" anchor="t"/>
          <a:lstStyle/>
          <a:p>
            <a:pPr algn="l" indent="0" marL="0">
              <a:lnSpc>
                <a:spcPct val="105000"/>
              </a:lnSpc>
              <a:buNone/>
            </a:pPr>
            <a:r>
              <a:rPr lang="en-US" sz="1700" b="1" dirty="0">
                <a:solidFill>
                  <a:srgbClr val="1D2733"/>
                </a:solidFill>
                <a:latin typeface="Cambria" pitchFamily="34" charset="0"/>
                <a:ea typeface="Cambria" pitchFamily="34" charset="-122"/>
                <a:cs typeface="Cambria" pitchFamily="34" charset="-120"/>
              </a:rPr>
              <a:t>Không có bản hướng dẫn mẫu</a:t>
            </a:r>
            <a:endParaRPr lang="en-US" sz="1700" dirty="0"/>
          </a:p>
        </p:txBody>
      </p:sp>
      <p:sp>
        <p:nvSpPr>
          <p:cNvPr id="13" name="Text 11"/>
          <p:cNvSpPr/>
          <p:nvPr/>
        </p:nvSpPr>
        <p:spPr>
          <a:xfrm>
            <a:off x="4718304" y="4160520"/>
            <a:ext cx="2788920" cy="1188720"/>
          </a:xfrm>
          <a:prstGeom prst="rect">
            <a:avLst/>
          </a:prstGeom>
          <a:noFill/>
          <a:ln/>
        </p:spPr>
        <p:txBody>
          <a:bodyPr wrap="square" lIns="0" tIns="0" rIns="0" bIns="0" rtlCol="0" anchor="t"/>
          <a:lstStyle/>
          <a:p>
            <a:pPr algn="l" indent="0" marL="0">
              <a:lnSpc>
                <a:spcPct val="122000"/>
              </a:lnSpc>
              <a:buNone/>
            </a:pPr>
            <a:r>
              <a:rPr lang="en-US" sz="1300" dirty="0">
                <a:solidFill>
                  <a:srgbClr val="454C55"/>
                </a:solidFill>
                <a:latin typeface="Segoe UI" pitchFamily="34" charset="0"/>
                <a:ea typeface="Segoe UI" pitchFamily="34" charset="-122"/>
                <a:cs typeface="Segoe UI" pitchFamily="34" charset="-120"/>
              </a:rPr>
              <a:t>Không ai soạn sẵn hướng dẫn chuẩn cho mọi ứng dụng để làm mốc so sánh khi chấm điểm.</a:t>
            </a:r>
            <a:endParaRPr lang="en-US" sz="1300" dirty="0"/>
          </a:p>
        </p:txBody>
      </p:sp>
      <p:sp>
        <p:nvSpPr>
          <p:cNvPr id="14" name="Shape 12"/>
          <p:cNvSpPr/>
          <p:nvPr/>
        </p:nvSpPr>
        <p:spPr>
          <a:xfrm>
            <a:off x="8010144" y="2148840"/>
            <a:ext cx="3310128" cy="3337560"/>
          </a:xfrm>
          <a:prstGeom prst="roundRect">
            <a:avLst>
              <a:gd name="adj" fmla="val 2486"/>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sp>
        <p:nvSpPr>
          <p:cNvPr id="15" name="Shape 13"/>
          <p:cNvSpPr/>
          <p:nvPr/>
        </p:nvSpPr>
        <p:spPr>
          <a:xfrm>
            <a:off x="8302752" y="2468880"/>
            <a:ext cx="658368" cy="658368"/>
          </a:xfrm>
          <a:prstGeom prst="ellipse">
            <a:avLst/>
          </a:prstGeom>
          <a:solidFill>
            <a:srgbClr val="BE5A2E"/>
          </a:solidFill>
          <a:ln/>
        </p:spPr>
      </p:sp>
      <p:sp>
        <p:nvSpPr>
          <p:cNvPr id="16" name="Text 14"/>
          <p:cNvSpPr/>
          <p:nvPr/>
        </p:nvSpPr>
        <p:spPr>
          <a:xfrm>
            <a:off x="8302752" y="2468880"/>
            <a:ext cx="658368" cy="658368"/>
          </a:xfrm>
          <a:prstGeom prst="rect">
            <a:avLst/>
          </a:prstGeom>
          <a:noFill/>
          <a:ln/>
        </p:spPr>
        <p:txBody>
          <a:bodyPr wrap="square" lIns="0" tIns="0" rIns="0" bIns="0" rtlCol="0" anchor="ctr"/>
          <a:lstStyle/>
          <a:p>
            <a:pPr algn="ctr" indent="0" marL="0">
              <a:buNone/>
            </a:pPr>
            <a:r>
              <a:rPr lang="en-US" sz="2448" b="1" dirty="0">
                <a:solidFill>
                  <a:srgbClr val="FFFFFF"/>
                </a:solidFill>
                <a:latin typeface="Cambria" pitchFamily="34" charset="0"/>
                <a:ea typeface="Cambria" pitchFamily="34" charset="-122"/>
                <a:cs typeface="Cambria" pitchFamily="34" charset="-120"/>
              </a:rPr>
              <a:t>3</a:t>
            </a:r>
            <a:endParaRPr lang="en-US" sz="2448" dirty="0"/>
          </a:p>
        </p:txBody>
      </p:sp>
      <p:sp>
        <p:nvSpPr>
          <p:cNvPr id="17" name="Text 15"/>
          <p:cNvSpPr/>
          <p:nvPr/>
        </p:nvSpPr>
        <p:spPr>
          <a:xfrm>
            <a:off x="8302752" y="3291840"/>
            <a:ext cx="2788920" cy="777240"/>
          </a:xfrm>
          <a:prstGeom prst="rect">
            <a:avLst/>
          </a:prstGeom>
          <a:noFill/>
          <a:ln/>
        </p:spPr>
        <p:txBody>
          <a:bodyPr wrap="square" lIns="0" tIns="0" rIns="0" bIns="0" rtlCol="0" anchor="t"/>
          <a:lstStyle/>
          <a:p>
            <a:pPr algn="l" indent="0" marL="0">
              <a:lnSpc>
                <a:spcPct val="105000"/>
              </a:lnSpc>
              <a:buNone/>
            </a:pPr>
            <a:r>
              <a:rPr lang="en-US" sz="1700" b="1" dirty="0">
                <a:solidFill>
                  <a:srgbClr val="1D2733"/>
                </a:solidFill>
                <a:latin typeface="Cambria" pitchFamily="34" charset="0"/>
                <a:ea typeface="Cambria" pitchFamily="34" charset="-122"/>
                <a:cs typeface="Cambria" pitchFamily="34" charset="-120"/>
              </a:rPr>
              <a:t>Các màn bị xáo trộn</a:t>
            </a:r>
            <a:endParaRPr lang="en-US" sz="1700" dirty="0"/>
          </a:p>
        </p:txBody>
      </p:sp>
      <p:sp>
        <p:nvSpPr>
          <p:cNvPr id="18" name="Text 16"/>
          <p:cNvSpPr/>
          <p:nvPr/>
        </p:nvSpPr>
        <p:spPr>
          <a:xfrm>
            <a:off x="8302752" y="4160520"/>
            <a:ext cx="2788920" cy="1188720"/>
          </a:xfrm>
          <a:prstGeom prst="rect">
            <a:avLst/>
          </a:prstGeom>
          <a:noFill/>
          <a:ln/>
        </p:spPr>
        <p:txBody>
          <a:bodyPr wrap="square" lIns="0" tIns="0" rIns="0" bIns="0" rtlCol="0" anchor="t"/>
          <a:lstStyle/>
          <a:p>
            <a:pPr algn="l" indent="0" marL="0">
              <a:lnSpc>
                <a:spcPct val="122000"/>
              </a:lnSpc>
              <a:buNone/>
            </a:pPr>
            <a:r>
              <a:rPr lang="en-US" sz="1300" dirty="0">
                <a:solidFill>
                  <a:srgbClr val="454C55"/>
                </a:solidFill>
                <a:latin typeface="Segoe UI" pitchFamily="34" charset="0"/>
                <a:ea typeface="Segoe UI" pitchFamily="34" charset="-122"/>
                <a:cs typeface="Segoe UI" pitchFamily="34" charset="-120"/>
              </a:rPr>
              <a:t>Với nhiều ảnh đưa vào lộn xộn, mô hình phải tự đoán ra màn nào trước, màn nào sau.</a:t>
            </a:r>
            <a:endParaRPr lang="en-US" sz="1300" dirty="0"/>
          </a:p>
        </p:txBody>
      </p:sp>
      <p:sp>
        <p:nvSpPr>
          <p:cNvPr id="19" name="Text 17"/>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VLM suy luận trật tự thời gian yếu — TOMATO (ICLR 2025).</a:t>
            </a:r>
            <a:endParaRPr lang="en-US" sz="1000" dirty="0"/>
          </a:p>
        </p:txBody>
      </p:sp>
      <p:sp>
        <p:nvSpPr>
          <p:cNvPr id="20" name="Text 18"/>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ĐÓNG GÓP</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Hai kết quả nghiên cứu song song, và vì sao đây là nghiên cứu</a:t>
            </a:r>
            <a:endParaRPr lang="en-US" sz="2800" dirty="0"/>
          </a:p>
        </p:txBody>
      </p:sp>
      <p:sp>
        <p:nvSpPr>
          <p:cNvPr id="4" name="Shape 2"/>
          <p:cNvSpPr/>
          <p:nvPr/>
        </p:nvSpPr>
        <p:spPr>
          <a:xfrm>
            <a:off x="841248" y="2103120"/>
            <a:ext cx="5029200" cy="3154680"/>
          </a:xfrm>
          <a:prstGeom prst="roundRect">
            <a:avLst>
              <a:gd name="adj" fmla="val 2899"/>
            </a:avLst>
          </a:prstGeom>
          <a:solidFill>
            <a:srgbClr val="F3F5F7"/>
          </a:solidFill>
          <a:ln/>
        </p:spPr>
      </p:sp>
      <p:sp>
        <p:nvSpPr>
          <p:cNvPr id="5" name="Shape 3"/>
          <p:cNvSpPr/>
          <p:nvPr/>
        </p:nvSpPr>
        <p:spPr>
          <a:xfrm>
            <a:off x="1143000" y="2395728"/>
            <a:ext cx="658368" cy="658368"/>
          </a:xfrm>
          <a:prstGeom prst="ellipse">
            <a:avLst/>
          </a:prstGeom>
          <a:solidFill>
            <a:srgbClr val="52657A"/>
          </a:solidFill>
          <a:ln/>
        </p:spPr>
      </p:sp>
      <p:sp>
        <p:nvSpPr>
          <p:cNvPr id="6" name="Text 4"/>
          <p:cNvSpPr/>
          <p:nvPr/>
        </p:nvSpPr>
        <p:spPr>
          <a:xfrm>
            <a:off x="1143000" y="2395728"/>
            <a:ext cx="658368" cy="658368"/>
          </a:xfrm>
          <a:prstGeom prst="rect">
            <a:avLst/>
          </a:prstGeom>
          <a:noFill/>
          <a:ln/>
        </p:spPr>
        <p:txBody>
          <a:bodyPr wrap="square" lIns="0" tIns="0" rIns="0" bIns="0" rtlCol="0" anchor="ctr"/>
          <a:lstStyle/>
          <a:p>
            <a:pPr algn="ctr" indent="0" marL="0">
              <a:buNone/>
            </a:pPr>
            <a:r>
              <a:rPr lang="en-US" sz="2448" b="1" dirty="0">
                <a:solidFill>
                  <a:srgbClr val="FFFFFF"/>
                </a:solidFill>
                <a:latin typeface="Cambria" pitchFamily="34" charset="0"/>
                <a:ea typeface="Cambria" pitchFamily="34" charset="-122"/>
                <a:cs typeface="Cambria" pitchFamily="34" charset="-120"/>
              </a:rPr>
              <a:t>A</a:t>
            </a:r>
            <a:endParaRPr lang="en-US" sz="2448" dirty="0"/>
          </a:p>
        </p:txBody>
      </p:sp>
      <p:sp>
        <p:nvSpPr>
          <p:cNvPr id="7" name="Text 5"/>
          <p:cNvSpPr/>
          <p:nvPr/>
        </p:nvSpPr>
        <p:spPr>
          <a:xfrm>
            <a:off x="2029968" y="2395728"/>
            <a:ext cx="3611880" cy="777240"/>
          </a:xfrm>
          <a:prstGeom prst="rect">
            <a:avLst/>
          </a:prstGeom>
          <a:noFill/>
          <a:ln/>
        </p:spPr>
        <p:txBody>
          <a:bodyPr wrap="square" lIns="0" tIns="0" rIns="0" bIns="0" rtlCol="0" anchor="ctr"/>
          <a:lstStyle/>
          <a:p>
            <a:pPr algn="l" indent="0" marL="0">
              <a:lnSpc>
                <a:spcPct val="105000"/>
              </a:lnSpc>
              <a:buNone/>
            </a:pPr>
            <a:r>
              <a:rPr lang="en-US" sz="1550" b="1" dirty="0">
                <a:solidFill>
                  <a:srgbClr val="1D2733"/>
                </a:solidFill>
                <a:latin typeface="Cambria" pitchFamily="34" charset="0"/>
                <a:ea typeface="Cambria" pitchFamily="34" charset="-122"/>
                <a:cs typeface="Cambria" pitchFamily="34" charset="-120"/>
              </a:rPr>
              <a:t>Hệ thống viết hướng dẫn bám sát màn hình</a:t>
            </a:r>
            <a:endParaRPr lang="en-US" sz="1550" dirty="0"/>
          </a:p>
        </p:txBody>
      </p:sp>
      <p:sp>
        <p:nvSpPr>
          <p:cNvPr id="8" name="Text 6"/>
          <p:cNvSpPr/>
          <p:nvPr/>
        </p:nvSpPr>
        <p:spPr>
          <a:xfrm>
            <a:off x="1188720" y="3291840"/>
            <a:ext cx="4434840" cy="868680"/>
          </a:xfrm>
          <a:prstGeom prst="rect">
            <a:avLst/>
          </a:prstGeom>
          <a:noFill/>
          <a:ln/>
        </p:spPr>
        <p:txBody>
          <a:bodyPr wrap="square" lIns="0" tIns="0" rIns="0" bIns="0" rtlCol="0" anchor="t"/>
          <a:lstStyle/>
          <a:p>
            <a:pPr algn="l" indent="0" marL="0">
              <a:lnSpc>
                <a:spcPct val="122000"/>
              </a:lnSpc>
              <a:buNone/>
            </a:pPr>
            <a:r>
              <a:rPr lang="en-US" sz="1250" dirty="0">
                <a:solidFill>
                  <a:srgbClr val="454C55"/>
                </a:solidFill>
                <a:latin typeface="Segoe UI" pitchFamily="34" charset="0"/>
                <a:ea typeface="Segoe UI" pitchFamily="34" charset="-122"/>
                <a:cs typeface="Segoe UI" pitchFamily="34" charset="-120"/>
              </a:rPr>
              <a:t>Viết mù trước, rồi đối chiếu với danh sách nút thật; chỗ nào nhắc nút không có thì viết lại thành mô tả, không đoán nút khác.</a:t>
            </a:r>
            <a:endParaRPr lang="en-US" sz="1250" dirty="0"/>
          </a:p>
        </p:txBody>
      </p:sp>
      <p:sp>
        <p:nvSpPr>
          <p:cNvPr id="9" name="Text 7"/>
          <p:cNvSpPr/>
          <p:nvPr/>
        </p:nvSpPr>
        <p:spPr>
          <a:xfrm>
            <a:off x="1188720" y="4206240"/>
            <a:ext cx="4434840" cy="960120"/>
          </a:xfrm>
          <a:prstGeom prst="rect">
            <a:avLst/>
          </a:prstGeom>
          <a:noFill/>
          <a:ln/>
        </p:spPr>
        <p:txBody>
          <a:bodyPr wrap="square" lIns="0" tIns="0" rIns="0" bIns="0" rtlCol="0" anchor="t"/>
          <a:lstStyle/>
          <a:p>
            <a:pPr algn="l" indent="0" marL="0">
              <a:lnSpc>
                <a:spcPct val="120000"/>
              </a:lnSpc>
              <a:buNone/>
            </a:pPr>
            <a:r>
              <a:rPr lang="en-US" sz="1200" b="1" dirty="0">
                <a:solidFill>
                  <a:srgbClr val="BE5A2E"/>
                </a:solidFill>
                <a:latin typeface="Segoe UI" pitchFamily="34" charset="0"/>
                <a:ea typeface="Segoe UI" pitchFamily="34" charset="-122"/>
                <a:cs typeface="Segoe UI" pitchFamily="34" charset="-120"/>
              </a:rPr>
              <a:t>Vì sao là nghiên cứu:  </a:t>
            </a:r>
            <a:pPr algn="l" indent="0" marL="0">
              <a:lnSpc>
                <a:spcPct val="120000"/>
              </a:lnSpc>
              <a:buNone/>
            </a:pPr>
            <a:r>
              <a:rPr lang="en-US" sz="1200" dirty="0">
                <a:solidFill>
                  <a:srgbClr val="1D2733"/>
                </a:solidFill>
                <a:latin typeface="Segoe UI" pitchFamily="34" charset="0"/>
                <a:ea typeface="Segoe UI" pitchFamily="34" charset="-122"/>
                <a:cs typeface="Segoe UI" pitchFamily="34" charset="-120"/>
              </a:rPr>
              <a:t>chúng tôi đo được rằng cách đoán nút gần nhất tạo ra lỗi âm thầm (nút có thật nhưng sai việc), nên chọn cách chỉ mô tả — một quyết định dựa trên bằng chứng.</a:t>
            </a:r>
            <a:endParaRPr lang="en-US" sz="1200" dirty="0"/>
          </a:p>
        </p:txBody>
      </p:sp>
      <p:sp>
        <p:nvSpPr>
          <p:cNvPr id="10" name="Shape 8"/>
          <p:cNvSpPr/>
          <p:nvPr/>
        </p:nvSpPr>
        <p:spPr>
          <a:xfrm>
            <a:off x="6327648" y="2103120"/>
            <a:ext cx="5020056" cy="3154680"/>
          </a:xfrm>
          <a:prstGeom prst="roundRect">
            <a:avLst>
              <a:gd name="adj" fmla="val 2899"/>
            </a:avLst>
          </a:prstGeom>
          <a:solidFill>
            <a:srgbClr val="F7EBE3"/>
          </a:solidFill>
          <a:ln/>
        </p:spPr>
      </p:sp>
      <p:sp>
        <p:nvSpPr>
          <p:cNvPr id="11" name="Shape 9"/>
          <p:cNvSpPr/>
          <p:nvPr/>
        </p:nvSpPr>
        <p:spPr>
          <a:xfrm>
            <a:off x="6629400" y="2395728"/>
            <a:ext cx="658368" cy="658368"/>
          </a:xfrm>
          <a:prstGeom prst="ellipse">
            <a:avLst/>
          </a:prstGeom>
          <a:solidFill>
            <a:srgbClr val="BE5A2E"/>
          </a:solidFill>
          <a:ln/>
        </p:spPr>
      </p:sp>
      <p:sp>
        <p:nvSpPr>
          <p:cNvPr id="12" name="Text 10"/>
          <p:cNvSpPr/>
          <p:nvPr/>
        </p:nvSpPr>
        <p:spPr>
          <a:xfrm>
            <a:off x="6629400" y="2395728"/>
            <a:ext cx="658368" cy="658368"/>
          </a:xfrm>
          <a:prstGeom prst="rect">
            <a:avLst/>
          </a:prstGeom>
          <a:noFill/>
          <a:ln/>
        </p:spPr>
        <p:txBody>
          <a:bodyPr wrap="square" lIns="0" tIns="0" rIns="0" bIns="0" rtlCol="0" anchor="ctr"/>
          <a:lstStyle/>
          <a:p>
            <a:pPr algn="ctr" indent="0" marL="0">
              <a:buNone/>
            </a:pPr>
            <a:r>
              <a:rPr lang="en-US" sz="2448" b="1" dirty="0">
                <a:solidFill>
                  <a:srgbClr val="FFFFFF"/>
                </a:solidFill>
                <a:latin typeface="Cambria" pitchFamily="34" charset="0"/>
                <a:ea typeface="Cambria" pitchFamily="34" charset="-122"/>
                <a:cs typeface="Cambria" pitchFamily="34" charset="-120"/>
              </a:rPr>
              <a:t>B</a:t>
            </a:r>
            <a:endParaRPr lang="en-US" sz="2448" dirty="0"/>
          </a:p>
        </p:txBody>
      </p:sp>
      <p:sp>
        <p:nvSpPr>
          <p:cNvPr id="13" name="Text 11"/>
          <p:cNvSpPr/>
          <p:nvPr/>
        </p:nvSpPr>
        <p:spPr>
          <a:xfrm>
            <a:off x="7516368" y="2395728"/>
            <a:ext cx="3566160" cy="777240"/>
          </a:xfrm>
          <a:prstGeom prst="rect">
            <a:avLst/>
          </a:prstGeom>
          <a:noFill/>
          <a:ln/>
        </p:spPr>
        <p:txBody>
          <a:bodyPr wrap="square" lIns="0" tIns="0" rIns="0" bIns="0" rtlCol="0" anchor="ctr"/>
          <a:lstStyle/>
          <a:p>
            <a:pPr algn="l" indent="0" marL="0">
              <a:lnSpc>
                <a:spcPct val="105000"/>
              </a:lnSpc>
              <a:buNone/>
            </a:pPr>
            <a:r>
              <a:rPr lang="en-US" sz="1550" b="1" dirty="0">
                <a:solidFill>
                  <a:srgbClr val="1D2733"/>
                </a:solidFill>
                <a:latin typeface="Cambria" pitchFamily="34" charset="0"/>
                <a:ea typeface="Cambria" pitchFamily="34" charset="-122"/>
                <a:cs typeface="Cambria" pitchFamily="34" charset="-120"/>
              </a:rPr>
              <a:t>Cách đánh giá không cần bản hướng dẫn mẫu</a:t>
            </a:r>
            <a:endParaRPr lang="en-US" sz="1550" dirty="0"/>
          </a:p>
        </p:txBody>
      </p:sp>
      <p:sp>
        <p:nvSpPr>
          <p:cNvPr id="14" name="Text 12"/>
          <p:cNvSpPr/>
          <p:nvPr/>
        </p:nvSpPr>
        <p:spPr>
          <a:xfrm>
            <a:off x="6675120" y="3291840"/>
            <a:ext cx="4434840" cy="868680"/>
          </a:xfrm>
          <a:prstGeom prst="rect">
            <a:avLst/>
          </a:prstGeom>
          <a:noFill/>
          <a:ln/>
        </p:spPr>
        <p:txBody>
          <a:bodyPr wrap="square" lIns="0" tIns="0" rIns="0" bIns="0" rtlCol="0" anchor="t"/>
          <a:lstStyle/>
          <a:p>
            <a:pPr algn="l" indent="0" marL="0">
              <a:lnSpc>
                <a:spcPct val="122000"/>
              </a:lnSpc>
              <a:buNone/>
            </a:pPr>
            <a:r>
              <a:rPr lang="en-US" sz="1250" dirty="0">
                <a:solidFill>
                  <a:srgbClr val="454C55"/>
                </a:solidFill>
                <a:latin typeface="Segoe UI" pitchFamily="34" charset="0"/>
                <a:ea typeface="Segoe UI" pitchFamily="34" charset="-122"/>
                <a:cs typeface="Segoe UI" pitchFamily="34" charset="-120"/>
              </a:rPr>
              <a:t>Chấm chất lượng khi không có đáp án mẫu do người soạn, và không để hệ tự chấm chính mình.</a:t>
            </a:r>
            <a:endParaRPr lang="en-US" sz="1250" dirty="0"/>
          </a:p>
        </p:txBody>
      </p:sp>
      <p:sp>
        <p:nvSpPr>
          <p:cNvPr id="15" name="Text 13"/>
          <p:cNvSpPr/>
          <p:nvPr/>
        </p:nvSpPr>
        <p:spPr>
          <a:xfrm>
            <a:off x="6675120" y="4206240"/>
            <a:ext cx="4434840" cy="960120"/>
          </a:xfrm>
          <a:prstGeom prst="rect">
            <a:avLst/>
          </a:prstGeom>
          <a:noFill/>
          <a:ln/>
        </p:spPr>
        <p:txBody>
          <a:bodyPr wrap="square" lIns="0" tIns="0" rIns="0" bIns="0" rtlCol="0" anchor="t"/>
          <a:lstStyle/>
          <a:p>
            <a:pPr algn="l" indent="0" marL="0">
              <a:lnSpc>
                <a:spcPct val="120000"/>
              </a:lnSpc>
              <a:buNone/>
            </a:pPr>
            <a:r>
              <a:rPr lang="en-US" sz="1200" b="1" dirty="0">
                <a:solidFill>
                  <a:srgbClr val="BE5A2E"/>
                </a:solidFill>
                <a:latin typeface="Segoe UI" pitchFamily="34" charset="0"/>
                <a:ea typeface="Segoe UI" pitchFamily="34" charset="-122"/>
                <a:cs typeface="Segoe UI" pitchFamily="34" charset="-120"/>
              </a:rPr>
              <a:t>Vì sao là nghiên cứu:  </a:t>
            </a:r>
            <a:pPr algn="l" indent="0" marL="0">
              <a:lnSpc>
                <a:spcPct val="120000"/>
              </a:lnSpc>
              <a:buNone/>
            </a:pPr>
            <a:r>
              <a:rPr lang="en-US" sz="1200" dirty="0">
                <a:solidFill>
                  <a:srgbClr val="1D2733"/>
                </a:solidFill>
                <a:latin typeface="Segoe UI" pitchFamily="34" charset="0"/>
                <a:ea typeface="Segoe UI" pitchFamily="34" charset="-122"/>
                <a:cs typeface="Segoe UI" pitchFamily="34" charset="-120"/>
              </a:rPr>
              <a:t>đưa khung đánh giá cho văn bản do máy sinh mà không có đáp án mẫu (Chim, Ive &amp; Liakata 2025) sang miền giao diện, rồi tự kiểm thước đo bằng lỗi cố ý — một hướng chưa ai làm.</a:t>
            </a:r>
            <a:endParaRPr lang="en-US" sz="1200" dirty="0"/>
          </a:p>
        </p:txBody>
      </p:sp>
      <p:sp>
        <p:nvSpPr>
          <p:cNvPr id="16" name="Shape 14"/>
          <p:cNvSpPr/>
          <p:nvPr/>
        </p:nvSpPr>
        <p:spPr>
          <a:xfrm>
            <a:off x="841248" y="5440680"/>
            <a:ext cx="10506456" cy="868680"/>
          </a:xfrm>
          <a:prstGeom prst="roundRect">
            <a:avLst>
              <a:gd name="adj" fmla="val 10526"/>
            </a:avLst>
          </a:prstGeom>
          <a:solidFill>
            <a:srgbClr val="17233B"/>
          </a:solidFill>
          <a:ln/>
        </p:spPr>
      </p:sp>
      <p:sp>
        <p:nvSpPr>
          <p:cNvPr id="17" name="Text 15"/>
          <p:cNvSpPr/>
          <p:nvPr/>
        </p:nvSpPr>
        <p:spPr>
          <a:xfrm>
            <a:off x="1188720" y="5440680"/>
            <a:ext cx="9811512" cy="868680"/>
          </a:xfrm>
          <a:prstGeom prst="rect">
            <a:avLst/>
          </a:prstGeom>
          <a:noFill/>
          <a:ln/>
        </p:spPr>
        <p:txBody>
          <a:bodyPr wrap="square" lIns="0" tIns="0" rIns="0" bIns="0" rtlCol="0" anchor="ctr"/>
          <a:lstStyle/>
          <a:p>
            <a:pPr algn="l" indent="0" marL="0">
              <a:lnSpc>
                <a:spcPct val="120000"/>
              </a:lnSpc>
              <a:buNone/>
            </a:pPr>
            <a:r>
              <a:rPr lang="en-US" sz="1250" b="1" dirty="0">
                <a:solidFill>
                  <a:srgbClr val="E4A986"/>
                </a:solidFill>
                <a:latin typeface="Segoe UI" pitchFamily="34" charset="0"/>
                <a:ea typeface="Segoe UI" pitchFamily="34" charset="-122"/>
                <a:cs typeface="Segoe UI" pitchFamily="34" charset="-120"/>
              </a:rPr>
              <a:t>Giá trị nghiên cứu nằm ở những gì đo được:  </a:t>
            </a:r>
            <a:pPr algn="l" indent="0" marL="0">
              <a:lnSpc>
                <a:spcPct val="120000"/>
              </a:lnSpc>
              <a:buNone/>
            </a:pPr>
            <a:r>
              <a:rPr lang="en-US" sz="1250" dirty="0">
                <a:solidFill>
                  <a:srgbClr val="D6DBE2"/>
                </a:solidFill>
                <a:latin typeface="Segoe UI" pitchFamily="34" charset="0"/>
                <a:ea typeface="Segoe UI" pitchFamily="34" charset="-122"/>
                <a:cs typeface="Segoe UI" pitchFamily="34" charset="-120"/>
              </a:rPr>
              <a:t>mức bịa trên nhiều đời mô hình, bằng chứng cho thấy cách đoán nút gây hại, kết quả sắp thứ tự nhiều màn, và phân tích mô hình dựa vào đâu để đoán thứ tự — chứ không nằm ở độ phức tạp của thuật toán.</a:t>
            </a:r>
            <a:endParaRPr lang="en-US" sz="1250" dirty="0"/>
          </a:p>
        </p:txBody>
      </p:sp>
      <p:sp>
        <p:nvSpPr>
          <p:cNvPr id="18" name="Text 16"/>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khung đánh giá không đáp án mẫu — Chim, Ive &amp; Liakata (Computational Linguistics 2025).</a:t>
            </a:r>
            <a:endParaRPr lang="en-US" sz="1000" dirty="0"/>
          </a:p>
        </p:txBody>
      </p:sp>
      <p:sp>
        <p:nvSpPr>
          <p:cNvPr id="19" name="Text 17"/>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Ý TƯỞNG CHÍNH</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Không có bản mẫu thì dựa vào chính màn hình để kiểm</a:t>
            </a:r>
            <a:endParaRPr lang="en-US" sz="2800" dirty="0"/>
          </a:p>
        </p:txBody>
      </p:sp>
      <p:sp>
        <p:nvSpPr>
          <p:cNvPr id="4" name="Text 2"/>
          <p:cNvSpPr/>
          <p:nvPr/>
        </p:nvSpPr>
        <p:spPr>
          <a:xfrm>
            <a:off x="841248" y="1874520"/>
            <a:ext cx="10332720" cy="365760"/>
          </a:xfrm>
          <a:prstGeom prst="rect">
            <a:avLst/>
          </a:prstGeom>
          <a:noFill/>
          <a:ln/>
        </p:spPr>
        <p:txBody>
          <a:bodyPr wrap="square" lIns="0" tIns="0" rIns="0" bIns="0" rtlCol="0" anchor="t"/>
          <a:lstStyle/>
          <a:p>
            <a:pPr algn="l" indent="0" marL="0">
              <a:lnSpc>
                <a:spcPct val="125000"/>
              </a:lnSpc>
              <a:buNone/>
            </a:pPr>
            <a:r>
              <a:rPr lang="en-US" sz="1600" dirty="0">
                <a:solidFill>
                  <a:srgbClr val="454C55"/>
                </a:solidFill>
                <a:latin typeface="Segoe UI" pitchFamily="34" charset="0"/>
                <a:ea typeface="Segoe UI" pitchFamily="34" charset="-122"/>
                <a:cs typeface="Segoe UI" pitchFamily="34" charset="-120"/>
              </a:rPr>
              <a:t>Không có đáp án mẫu để chấm, ta lấy chính danh sách nút thật của màn hình làm mốc.</a:t>
            </a:r>
            <a:endParaRPr lang="en-US" sz="1600" dirty="0"/>
          </a:p>
        </p:txBody>
      </p:sp>
      <p:sp>
        <p:nvSpPr>
          <p:cNvPr id="5" name="Shape 3"/>
          <p:cNvSpPr/>
          <p:nvPr/>
        </p:nvSpPr>
        <p:spPr>
          <a:xfrm>
            <a:off x="841248" y="2651760"/>
            <a:ext cx="4114800" cy="1645920"/>
          </a:xfrm>
          <a:prstGeom prst="roundRect">
            <a:avLst>
              <a:gd name="adj" fmla="val 5556"/>
            </a:avLst>
          </a:prstGeom>
          <a:solidFill>
            <a:srgbClr val="F3F5F7"/>
          </a:solidFill>
          <a:ln/>
        </p:spPr>
      </p:sp>
      <p:sp>
        <p:nvSpPr>
          <p:cNvPr id="6" name="Text 4"/>
          <p:cNvSpPr/>
          <p:nvPr/>
        </p:nvSpPr>
        <p:spPr>
          <a:xfrm>
            <a:off x="1115568" y="2816352"/>
            <a:ext cx="3657600" cy="274320"/>
          </a:xfrm>
          <a:prstGeom prst="rect">
            <a:avLst/>
          </a:prstGeom>
          <a:noFill/>
          <a:ln/>
        </p:spPr>
        <p:txBody>
          <a:bodyPr wrap="square" lIns="0" tIns="0" rIns="0" bIns="0" rtlCol="0" anchor="t"/>
          <a:lstStyle/>
          <a:p>
            <a:pPr algn="l" indent="0" marL="0">
              <a:buNone/>
            </a:pPr>
            <a:r>
              <a:rPr lang="en-US" sz="1250" b="1" dirty="0">
                <a:solidFill>
                  <a:srgbClr val="52657A"/>
                </a:solidFill>
                <a:latin typeface="Segoe UI" pitchFamily="34" charset="0"/>
                <a:ea typeface="Segoe UI" pitchFamily="34" charset="-122"/>
                <a:cs typeface="Segoe UI" pitchFamily="34" charset="-120"/>
              </a:rPr>
              <a:t>Cách chấm thông thường</a:t>
            </a:r>
            <a:endParaRPr lang="en-US" sz="1250" dirty="0"/>
          </a:p>
        </p:txBody>
      </p:sp>
      <p:sp>
        <p:nvSpPr>
          <p:cNvPr id="7" name="Text 5"/>
          <p:cNvSpPr/>
          <p:nvPr/>
        </p:nvSpPr>
        <p:spPr>
          <a:xfrm>
            <a:off x="1115568" y="3218688"/>
            <a:ext cx="3566160" cy="365760"/>
          </a:xfrm>
          <a:prstGeom prst="rect">
            <a:avLst/>
          </a:prstGeom>
          <a:noFill/>
          <a:ln/>
        </p:spPr>
        <p:txBody>
          <a:bodyPr wrap="square" lIns="0" tIns="0" rIns="0" bIns="0" rtlCol="0" anchor="t"/>
          <a:lstStyle/>
          <a:p>
            <a:pPr algn="l" indent="0" marL="0">
              <a:buNone/>
            </a:pPr>
            <a:r>
              <a:rPr lang="en-US" sz="1500" b="1" dirty="0">
                <a:solidFill>
                  <a:srgbClr val="1D2733"/>
                </a:solidFill>
                <a:latin typeface="Cambria" pitchFamily="34" charset="0"/>
                <a:ea typeface="Cambria" pitchFamily="34" charset="-122"/>
                <a:cs typeface="Cambria" pitchFamily="34" charset="-120"/>
              </a:rPr>
              <a:t>Đáp án mẫu do người soạn</a:t>
            </a:r>
            <a:endParaRPr lang="en-US" sz="1500" dirty="0"/>
          </a:p>
        </p:txBody>
      </p:sp>
      <p:sp>
        <p:nvSpPr>
          <p:cNvPr id="8" name="Text 6"/>
          <p:cNvSpPr/>
          <p:nvPr/>
        </p:nvSpPr>
        <p:spPr>
          <a:xfrm>
            <a:off x="1115568" y="3703320"/>
            <a:ext cx="3566160" cy="365760"/>
          </a:xfrm>
          <a:prstGeom prst="rect">
            <a:avLst/>
          </a:prstGeom>
          <a:noFill/>
          <a:ln/>
        </p:spPr>
        <p:txBody>
          <a:bodyPr wrap="square" lIns="0" tIns="0" rIns="0" bIns="0" rtlCol="0" anchor="t"/>
          <a:lstStyle/>
          <a:p>
            <a:pPr algn="l" indent="0" marL="0">
              <a:buNone/>
            </a:pPr>
            <a:r>
              <a:rPr lang="en-US" sz="1300" b="1" dirty="0">
                <a:solidFill>
                  <a:srgbClr val="BE5A2E"/>
                </a:solidFill>
                <a:latin typeface="Segoe UI" pitchFamily="34" charset="0"/>
                <a:ea typeface="Segoe UI" pitchFamily="34" charset="-122"/>
                <a:cs typeface="Segoe UI" pitchFamily="34" charset="-120"/>
              </a:rPr>
              <a:t>✗  bài toán này không có</a:t>
            </a:r>
            <a:endParaRPr lang="en-US" sz="1300" dirty="0"/>
          </a:p>
        </p:txBody>
      </p:sp>
      <p:sp>
        <p:nvSpPr>
          <p:cNvPr id="9" name="Text 7"/>
          <p:cNvSpPr/>
          <p:nvPr/>
        </p:nvSpPr>
        <p:spPr>
          <a:xfrm>
            <a:off x="5010912" y="3127248"/>
            <a:ext cx="1097280" cy="274320"/>
          </a:xfrm>
          <a:prstGeom prst="rect">
            <a:avLst/>
          </a:prstGeom>
          <a:noFill/>
          <a:ln/>
        </p:spPr>
        <p:txBody>
          <a:bodyPr wrap="square" lIns="0" tIns="0" rIns="0" bIns="0" rtlCol="0" anchor="t"/>
          <a:lstStyle/>
          <a:p>
            <a:pPr algn="ctr" indent="0" marL="0">
              <a:buNone/>
            </a:pPr>
            <a:r>
              <a:rPr lang="en-US" sz="1200" i="1" dirty="0">
                <a:solidFill>
                  <a:srgbClr val="52657A"/>
                </a:solidFill>
                <a:latin typeface="Segoe UI" pitchFamily="34" charset="0"/>
                <a:ea typeface="Segoe UI" pitchFamily="34" charset="-122"/>
                <a:cs typeface="Segoe UI" pitchFamily="34" charset="-120"/>
              </a:rPr>
              <a:t>thay bằng</a:t>
            </a:r>
            <a:endParaRPr lang="en-US" sz="1200" dirty="0"/>
          </a:p>
        </p:txBody>
      </p:sp>
      <p:sp>
        <p:nvSpPr>
          <p:cNvPr id="10" name="Shape 8"/>
          <p:cNvSpPr/>
          <p:nvPr/>
        </p:nvSpPr>
        <p:spPr>
          <a:xfrm>
            <a:off x="5029200" y="3474720"/>
            <a:ext cx="960120" cy="0"/>
          </a:xfrm>
          <a:prstGeom prst="line">
            <a:avLst/>
          </a:prstGeom>
          <a:noFill/>
          <a:ln w="31750">
            <a:solidFill>
              <a:srgbClr val="BE5A2E"/>
            </a:solidFill>
            <a:prstDash val="solid"/>
            <a:tailEnd type="triangle"/>
          </a:ln>
        </p:spPr>
      </p:sp>
      <p:sp>
        <p:nvSpPr>
          <p:cNvPr id="11" name="Shape 9"/>
          <p:cNvSpPr/>
          <p:nvPr/>
        </p:nvSpPr>
        <p:spPr>
          <a:xfrm>
            <a:off x="6172200" y="2651760"/>
            <a:ext cx="5175504" cy="1645920"/>
          </a:xfrm>
          <a:prstGeom prst="roundRect">
            <a:avLst>
              <a:gd name="adj" fmla="val 5556"/>
            </a:avLst>
          </a:prstGeom>
          <a:solidFill>
            <a:srgbClr val="F7EBE3"/>
          </a:solidFill>
          <a:ln/>
        </p:spPr>
      </p:sp>
      <p:sp>
        <p:nvSpPr>
          <p:cNvPr id="12" name="Text 10"/>
          <p:cNvSpPr/>
          <p:nvPr/>
        </p:nvSpPr>
        <p:spPr>
          <a:xfrm>
            <a:off x="6446520" y="2816352"/>
            <a:ext cx="4572000" cy="274320"/>
          </a:xfrm>
          <a:prstGeom prst="rect">
            <a:avLst/>
          </a:prstGeom>
          <a:noFill/>
          <a:ln/>
        </p:spPr>
        <p:txBody>
          <a:bodyPr wrap="square" lIns="0" tIns="0" rIns="0" bIns="0" rtlCol="0" anchor="t"/>
          <a:lstStyle/>
          <a:p>
            <a:pPr algn="l" indent="0" marL="0">
              <a:buNone/>
            </a:pPr>
            <a:r>
              <a:rPr lang="en-US" sz="1250" b="1" dirty="0">
                <a:solidFill>
                  <a:srgbClr val="BE5A2E"/>
                </a:solidFill>
                <a:latin typeface="Segoe UI" pitchFamily="34" charset="0"/>
                <a:ea typeface="Segoe UI" pitchFamily="34" charset="-122"/>
                <a:cs typeface="Segoe UI" pitchFamily="34" charset="-120"/>
              </a:rPr>
              <a:t>Cách của luận văn</a:t>
            </a:r>
            <a:endParaRPr lang="en-US" sz="1250" dirty="0"/>
          </a:p>
        </p:txBody>
      </p:sp>
      <p:sp>
        <p:nvSpPr>
          <p:cNvPr id="13" name="Text 11"/>
          <p:cNvSpPr/>
          <p:nvPr/>
        </p:nvSpPr>
        <p:spPr>
          <a:xfrm>
            <a:off x="6446520" y="3218688"/>
            <a:ext cx="4663440" cy="365760"/>
          </a:xfrm>
          <a:prstGeom prst="rect">
            <a:avLst/>
          </a:prstGeom>
          <a:noFill/>
          <a:ln/>
        </p:spPr>
        <p:txBody>
          <a:bodyPr wrap="square" lIns="0" tIns="0" rIns="0" bIns="0" rtlCol="0" anchor="t"/>
          <a:lstStyle/>
          <a:p>
            <a:pPr algn="l" indent="0" marL="0">
              <a:buNone/>
            </a:pPr>
            <a:r>
              <a:rPr lang="en-US" sz="1500" b="1" dirty="0">
                <a:solidFill>
                  <a:srgbClr val="1D2733"/>
                </a:solidFill>
                <a:latin typeface="Cambria" pitchFamily="34" charset="0"/>
                <a:ea typeface="Cambria" pitchFamily="34" charset="-122"/>
                <a:cs typeface="Cambria" pitchFamily="34" charset="-120"/>
              </a:rPr>
              <a:t>Danh sách nút thật của màn hình</a:t>
            </a:r>
            <a:endParaRPr lang="en-US" sz="1500" dirty="0"/>
          </a:p>
        </p:txBody>
      </p:sp>
      <p:sp>
        <p:nvSpPr>
          <p:cNvPr id="14" name="Text 12"/>
          <p:cNvSpPr/>
          <p:nvPr/>
        </p:nvSpPr>
        <p:spPr>
          <a:xfrm>
            <a:off x="6446520" y="3703320"/>
            <a:ext cx="4800600" cy="502920"/>
          </a:xfrm>
          <a:prstGeom prst="rect">
            <a:avLst/>
          </a:prstGeom>
          <a:noFill/>
          <a:ln/>
        </p:spPr>
        <p:txBody>
          <a:bodyPr wrap="square" lIns="0" tIns="0" rIns="0" bIns="0" rtlCol="0" anchor="t"/>
          <a:lstStyle/>
          <a:p>
            <a:pPr algn="l" indent="0" marL="0">
              <a:lnSpc>
                <a:spcPct val="115000"/>
              </a:lnSpc>
              <a:buNone/>
            </a:pPr>
            <a:r>
              <a:rPr lang="en-US" sz="1250" dirty="0">
                <a:solidFill>
                  <a:srgbClr val="1E6B43"/>
                </a:solidFill>
                <a:latin typeface="Segoe UI" pitchFamily="34" charset="0"/>
                <a:ea typeface="Segoe UI" pitchFamily="34" charset="-122"/>
                <a:cs typeface="Segoe UI" pitchFamily="34" charset="-120"/>
              </a:rPr>
              <a:t>✓  có sẵn trong ứng dụng (siêu dữ liệu trợ năng), không cần ai soạn</a:t>
            </a:r>
            <a:endParaRPr lang="en-US" sz="1250" dirty="0"/>
          </a:p>
        </p:txBody>
      </p:sp>
      <p:sp>
        <p:nvSpPr>
          <p:cNvPr id="15" name="Shape 13"/>
          <p:cNvSpPr/>
          <p:nvPr/>
        </p:nvSpPr>
        <p:spPr>
          <a:xfrm>
            <a:off x="841248" y="4617720"/>
            <a:ext cx="10506456" cy="1005840"/>
          </a:xfrm>
          <a:prstGeom prst="roundRect">
            <a:avLst>
              <a:gd name="adj" fmla="val 9091"/>
            </a:avLst>
          </a:prstGeom>
          <a:solidFill>
            <a:srgbClr val="FFFFFF"/>
          </a:solidFill>
          <a:ln w="12700">
            <a:solidFill>
              <a:srgbClr val="DBE0E6"/>
            </a:solidFill>
            <a:prstDash val="solid"/>
          </a:ln>
        </p:spPr>
      </p:sp>
      <p:sp>
        <p:nvSpPr>
          <p:cNvPr id="16" name="Text 14"/>
          <p:cNvSpPr/>
          <p:nvPr/>
        </p:nvSpPr>
        <p:spPr>
          <a:xfrm>
            <a:off x="1115568" y="4617720"/>
            <a:ext cx="10058400" cy="1005840"/>
          </a:xfrm>
          <a:prstGeom prst="rect">
            <a:avLst/>
          </a:prstGeom>
          <a:noFill/>
          <a:ln/>
        </p:spPr>
        <p:txBody>
          <a:bodyPr wrap="square" lIns="0" tIns="0" rIns="0" bIns="0" rtlCol="0" anchor="ctr"/>
          <a:lstStyle/>
          <a:p>
            <a:pPr algn="l" indent="0" marL="0">
              <a:lnSpc>
                <a:spcPct val="130000"/>
              </a:lnSpc>
              <a:buNone/>
            </a:pPr>
            <a:r>
              <a:rPr lang="en-US" sz="1400" b="1" dirty="0">
                <a:solidFill>
                  <a:srgbClr val="BE5A2E"/>
                </a:solidFill>
                <a:latin typeface="Segoe UI" pitchFamily="34" charset="0"/>
                <a:ea typeface="Segoe UI" pitchFamily="34" charset="-122"/>
                <a:cs typeface="Segoe UI" pitchFamily="34" charset="-120"/>
              </a:rPr>
              <a:t>Cách dùng:  </a:t>
            </a:r>
            <a:pPr algn="l" indent="0" marL="0">
              <a:lnSpc>
                <a:spcPct val="130000"/>
              </a:lnSpc>
              <a:buNone/>
            </a:pPr>
            <a:r>
              <a:rPr lang="en-US" sz="1400" dirty="0">
                <a:solidFill>
                  <a:srgbClr val="454C55"/>
                </a:solidFill>
                <a:latin typeface="Segoe UI" pitchFamily="34" charset="0"/>
                <a:ea typeface="Segoe UI" pitchFamily="34" charset="-122"/>
                <a:cs typeface="Segoe UI" pitchFamily="34" charset="-120"/>
              </a:rPr>
              <a:t>đối chiếu từng bước hướng dẫn với danh sách này; bước nào nhắc một nút không có trên màn thì viết lại thành mô tả, không đoán nút khác.</a:t>
            </a:r>
            <a:endParaRPr lang="en-US" sz="1400" dirty="0"/>
          </a:p>
        </p:txBody>
      </p:sp>
      <p:sp>
        <p:nvSpPr>
          <p:cNvPr id="17" name="Text 15"/>
          <p:cNvSpPr/>
          <p:nvPr/>
        </p:nvSpPr>
        <p:spPr>
          <a:xfrm>
            <a:off x="841248" y="5852160"/>
            <a:ext cx="10332720" cy="320040"/>
          </a:xfrm>
          <a:prstGeom prst="rect">
            <a:avLst/>
          </a:prstGeom>
          <a:noFill/>
          <a:ln/>
        </p:spPr>
        <p:txBody>
          <a:bodyPr wrap="square" lIns="0" tIns="0" rIns="0" bIns="0" rtlCol="0" anchor="t"/>
          <a:lstStyle/>
          <a:p>
            <a:pPr algn="l" indent="0" marL="0">
              <a:buNone/>
            </a:pPr>
            <a:r>
              <a:rPr lang="en-US" sz="1300" dirty="0">
                <a:solidFill>
                  <a:srgbClr val="454C55"/>
                </a:solidFill>
                <a:latin typeface="Segoe UI" pitchFamily="34" charset="0"/>
                <a:ea typeface="Segoe UI" pitchFamily="34" charset="-122"/>
                <a:cs typeface="Segoe UI" pitchFamily="34" charset="-120"/>
              </a:rPr>
              <a:t>Danh sách nút chỉ dùng lúc kiểm, không đưa cho mô hình lúc viết — để phép thử công bằng.</a:t>
            </a:r>
            <a:endParaRPr lang="en-US" sz="1300" dirty="0"/>
          </a:p>
        </p:txBody>
      </p:sp>
      <p:sp>
        <p:nvSpPr>
          <p:cNvPr id="18" name="Text 16"/>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kiểm ảo giác không cần bản mẫu — FaithScore (Findings EMNLP 2024).</a:t>
            </a:r>
            <a:endParaRPr lang="en-US" sz="1000" dirty="0"/>
          </a:p>
        </p:txBody>
      </p:sp>
      <p:sp>
        <p:nvSpPr>
          <p:cNvPr id="19" name="Text 17"/>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TOÀN CẢNH HỆ THỐNG</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Một hệ duy nhất — chọn nhánh theo số ảnh đưa vào</a:t>
            </a:r>
            <a:endParaRPr lang="en-US" sz="2800" dirty="0"/>
          </a:p>
        </p:txBody>
      </p:sp>
      <p:sp>
        <p:nvSpPr>
          <p:cNvPr id="4" name="Shape 2"/>
          <p:cNvSpPr/>
          <p:nvPr/>
        </p:nvSpPr>
        <p:spPr>
          <a:xfrm>
            <a:off x="841248" y="2697480"/>
            <a:ext cx="1965960" cy="3246120"/>
          </a:xfrm>
          <a:prstGeom prst="roundRect">
            <a:avLst>
              <a:gd name="adj" fmla="val 4651"/>
            </a:avLst>
          </a:prstGeom>
          <a:solidFill>
            <a:srgbClr val="17233B"/>
          </a:solidFill>
          <a:ln/>
        </p:spPr>
      </p:sp>
      <p:sp>
        <p:nvSpPr>
          <p:cNvPr id="5" name="Text 3"/>
          <p:cNvSpPr/>
          <p:nvPr/>
        </p:nvSpPr>
        <p:spPr>
          <a:xfrm>
            <a:off x="841248" y="2852928"/>
            <a:ext cx="1965960" cy="274320"/>
          </a:xfrm>
          <a:prstGeom prst="rect">
            <a:avLst/>
          </a:prstGeom>
          <a:noFill/>
          <a:ln/>
        </p:spPr>
        <p:txBody>
          <a:bodyPr wrap="square" lIns="0" tIns="0" rIns="0" bIns="0" rtlCol="0" anchor="t"/>
          <a:lstStyle/>
          <a:p>
            <a:pPr algn="ctr" indent="0" marL="0">
              <a:buNone/>
            </a:pPr>
            <a:r>
              <a:rPr lang="en-US" sz="1200" b="1" spc="200" kern="0" dirty="0">
                <a:solidFill>
                  <a:srgbClr val="E4A986"/>
                </a:solidFill>
                <a:latin typeface="Segoe UI" pitchFamily="34" charset="0"/>
                <a:ea typeface="Segoe UI" pitchFamily="34" charset="-122"/>
                <a:cs typeface="Segoe UI" pitchFamily="34" charset="-120"/>
              </a:rPr>
              <a:t>VÀO</a:t>
            </a:r>
            <a:endParaRPr lang="en-US" sz="1200" dirty="0"/>
          </a:p>
        </p:txBody>
      </p:sp>
      <p:sp>
        <p:nvSpPr>
          <p:cNvPr id="6" name="Text 4"/>
          <p:cNvSpPr/>
          <p:nvPr/>
        </p:nvSpPr>
        <p:spPr>
          <a:xfrm>
            <a:off x="950976" y="3200400"/>
            <a:ext cx="1737360" cy="141732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Segoe UI" pitchFamily="34" charset="0"/>
                <a:ea typeface="Segoe UI" pitchFamily="34" charset="-122"/>
                <a:cs typeface="Segoe UI" pitchFamily="34" charset="-120"/>
              </a:rPr>
              <a:t>Một hoặc nhiều ảnh</a:t>
            </a:r>
            <a:endParaRPr lang="en-US" sz="1300" dirty="0"/>
          </a:p>
          <a:p>
            <a:pPr algn="ctr" indent="0" marL="0">
              <a:lnSpc>
                <a:spcPct val="130000"/>
              </a:lnSpc>
              <a:buNone/>
            </a:pPr>
            <a:r>
              <a:rPr lang="en-US" sz="1300" dirty="0">
                <a:solidFill>
                  <a:srgbClr val="FFFFFF"/>
                </a:solidFill>
                <a:latin typeface="Segoe UI" pitchFamily="34" charset="0"/>
                <a:ea typeface="Segoe UI" pitchFamily="34" charset="-122"/>
                <a:cs typeface="Segoe UI" pitchFamily="34" charset="-120"/>
              </a:rPr>
              <a:t>(có thể xáo trộn)</a:t>
            </a:r>
            <a:endParaRPr lang="en-US" sz="1300" dirty="0"/>
          </a:p>
          <a:p>
            <a:pPr algn="ctr" indent="0" marL="0">
              <a:lnSpc>
                <a:spcPct val="130000"/>
              </a:lnSpc>
              <a:buNone/>
            </a:pPr>
            <a:r>
              <a:rPr lang="en-US" sz="1300" dirty="0">
                <a:solidFill>
                  <a:srgbClr val="FFFFFF"/>
                </a:solidFill>
                <a:latin typeface="Segoe UI" pitchFamily="34" charset="0"/>
                <a:ea typeface="Segoe UI" pitchFamily="34" charset="-122"/>
                <a:cs typeface="Segoe UI" pitchFamily="34" charset="-120"/>
              </a:rPr>
              <a:t>kèm câu hỏi</a:t>
            </a:r>
            <a:endParaRPr lang="en-US" sz="1300" dirty="0"/>
          </a:p>
        </p:txBody>
      </p:sp>
      <p:sp>
        <p:nvSpPr>
          <p:cNvPr id="7" name="Text 5"/>
          <p:cNvSpPr/>
          <p:nvPr/>
        </p:nvSpPr>
        <p:spPr>
          <a:xfrm>
            <a:off x="932688" y="4892040"/>
            <a:ext cx="1783080" cy="868680"/>
          </a:xfrm>
          <a:prstGeom prst="rect">
            <a:avLst/>
          </a:prstGeom>
          <a:noFill/>
          <a:ln/>
        </p:spPr>
        <p:txBody>
          <a:bodyPr wrap="square" lIns="0" tIns="0" rIns="0" bIns="0" rtlCol="0" anchor="ctr"/>
          <a:lstStyle/>
          <a:p>
            <a:pPr algn="ctr" indent="0" marL="0">
              <a:lnSpc>
                <a:spcPct val="120000"/>
              </a:lnSpc>
              <a:buNone/>
            </a:pPr>
            <a:r>
              <a:rPr lang="en-US" sz="1200" i="1" dirty="0">
                <a:solidFill>
                  <a:srgbClr val="C9D2DC"/>
                </a:solidFill>
                <a:latin typeface="Segoe UI" pitchFamily="34" charset="0"/>
                <a:ea typeface="Segoe UI" pitchFamily="34" charset="-122"/>
                <a:cs typeface="Segoe UI" pitchFamily="34" charset="-120"/>
              </a:rPr>
              <a:t>chọn nhánh</a:t>
            </a:r>
            <a:endParaRPr lang="en-US" sz="1200" dirty="0"/>
          </a:p>
          <a:p>
            <a:pPr algn="ctr" indent="0" marL="0">
              <a:lnSpc>
                <a:spcPct val="120000"/>
              </a:lnSpc>
              <a:buNone/>
            </a:pPr>
            <a:r>
              <a:rPr lang="en-US" sz="1200" i="1" dirty="0">
                <a:solidFill>
                  <a:srgbClr val="C9D2DC"/>
                </a:solidFill>
                <a:latin typeface="Segoe UI" pitchFamily="34" charset="0"/>
                <a:ea typeface="Segoe UI" pitchFamily="34" charset="-122"/>
                <a:cs typeface="Segoe UI" pitchFamily="34" charset="-120"/>
              </a:rPr>
              <a:t>theo số ảnh</a:t>
            </a:r>
            <a:endParaRPr lang="en-US" sz="1200" dirty="0"/>
          </a:p>
        </p:txBody>
      </p:sp>
      <p:sp>
        <p:nvSpPr>
          <p:cNvPr id="8" name="Shape 6"/>
          <p:cNvSpPr/>
          <p:nvPr/>
        </p:nvSpPr>
        <p:spPr>
          <a:xfrm>
            <a:off x="2852928" y="3246120"/>
            <a:ext cx="457200" cy="0"/>
          </a:xfrm>
          <a:prstGeom prst="line">
            <a:avLst/>
          </a:prstGeom>
          <a:noFill/>
          <a:ln w="31750">
            <a:solidFill>
              <a:srgbClr val="52657A"/>
            </a:solidFill>
            <a:prstDash val="solid"/>
            <a:tailEnd type="triangle"/>
          </a:ln>
        </p:spPr>
      </p:sp>
      <p:sp>
        <p:nvSpPr>
          <p:cNvPr id="9" name="Shape 7"/>
          <p:cNvSpPr/>
          <p:nvPr/>
        </p:nvSpPr>
        <p:spPr>
          <a:xfrm>
            <a:off x="2852928" y="5074920"/>
            <a:ext cx="457200" cy="0"/>
          </a:xfrm>
          <a:prstGeom prst="line">
            <a:avLst/>
          </a:prstGeom>
          <a:noFill/>
          <a:ln w="31750">
            <a:solidFill>
              <a:srgbClr val="52657A"/>
            </a:solidFill>
            <a:prstDash val="solid"/>
            <a:tailEnd type="triangle"/>
          </a:ln>
        </p:spPr>
      </p:sp>
      <p:sp>
        <p:nvSpPr>
          <p:cNvPr id="10" name="Text 8"/>
          <p:cNvSpPr/>
          <p:nvPr/>
        </p:nvSpPr>
        <p:spPr>
          <a:xfrm>
            <a:off x="3429000" y="2651760"/>
            <a:ext cx="3657600" cy="274320"/>
          </a:xfrm>
          <a:prstGeom prst="rect">
            <a:avLst/>
          </a:prstGeom>
          <a:noFill/>
          <a:ln/>
        </p:spPr>
        <p:txBody>
          <a:bodyPr wrap="square" lIns="0" tIns="0" rIns="0" bIns="0" rtlCol="0" anchor="t"/>
          <a:lstStyle/>
          <a:p>
            <a:pPr algn="l" indent="0" marL="0">
              <a:buNone/>
            </a:pPr>
            <a:r>
              <a:rPr lang="en-US" sz="1250" b="1" dirty="0">
                <a:solidFill>
                  <a:srgbClr val="52657A"/>
                </a:solidFill>
                <a:latin typeface="Segoe UI" pitchFamily="34" charset="0"/>
                <a:ea typeface="Segoe UI" pitchFamily="34" charset="-122"/>
                <a:cs typeface="Segoe UI" pitchFamily="34" charset="-120"/>
              </a:rPr>
              <a:t>Chỉ một ảnh — một màn</a:t>
            </a:r>
            <a:endParaRPr lang="en-US" sz="1250" dirty="0"/>
          </a:p>
        </p:txBody>
      </p:sp>
      <p:sp>
        <p:nvSpPr>
          <p:cNvPr id="11" name="Shape 9"/>
          <p:cNvSpPr/>
          <p:nvPr/>
        </p:nvSpPr>
        <p:spPr>
          <a:xfrm>
            <a:off x="3429000" y="2999232"/>
            <a:ext cx="1783080" cy="914400"/>
          </a:xfrm>
          <a:prstGeom prst="roundRect">
            <a:avLst>
              <a:gd name="adj" fmla="val 9000"/>
            </a:avLst>
          </a:prstGeom>
          <a:solidFill>
            <a:srgbClr val="F3F5F7"/>
          </a:solidFill>
          <a:ln/>
        </p:spPr>
      </p:sp>
      <p:sp>
        <p:nvSpPr>
          <p:cNvPr id="12" name="Shape 10"/>
          <p:cNvSpPr/>
          <p:nvPr/>
        </p:nvSpPr>
        <p:spPr>
          <a:xfrm>
            <a:off x="3538728" y="3072384"/>
            <a:ext cx="329184" cy="329184"/>
          </a:xfrm>
          <a:prstGeom prst="ellipse">
            <a:avLst/>
          </a:prstGeom>
          <a:solidFill>
            <a:srgbClr val="52657A"/>
          </a:solidFill>
          <a:ln/>
        </p:spPr>
      </p:sp>
      <p:sp>
        <p:nvSpPr>
          <p:cNvPr id="13" name="Text 11"/>
          <p:cNvSpPr/>
          <p:nvPr/>
        </p:nvSpPr>
        <p:spPr>
          <a:xfrm>
            <a:off x="3538728" y="3072384"/>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mbria" pitchFamily="34" charset="0"/>
                <a:ea typeface="Cambria" pitchFamily="34" charset="-122"/>
                <a:cs typeface="Cambria" pitchFamily="34" charset="-120"/>
              </a:rPr>
              <a:t>1</a:t>
            </a:r>
            <a:endParaRPr lang="en-US" sz="1224" dirty="0"/>
          </a:p>
        </p:txBody>
      </p:sp>
      <p:sp>
        <p:nvSpPr>
          <p:cNvPr id="14" name="Text 12"/>
          <p:cNvSpPr/>
          <p:nvPr/>
        </p:nvSpPr>
        <p:spPr>
          <a:xfrm>
            <a:off x="3447288" y="3200400"/>
            <a:ext cx="1737360" cy="658368"/>
          </a:xfrm>
          <a:prstGeom prst="rect">
            <a:avLst/>
          </a:prstGeom>
          <a:noFill/>
          <a:ln/>
        </p:spPr>
        <p:txBody>
          <a:bodyPr wrap="square" lIns="0" tIns="0" rIns="0" bIns="0" rtlCol="0" anchor="ctr"/>
          <a:lstStyle/>
          <a:p>
            <a:pPr algn="ctr" indent="0" marL="0">
              <a:lnSpc>
                <a:spcPct val="112000"/>
              </a:lnSpc>
              <a:buNone/>
            </a:pPr>
            <a:r>
              <a:rPr lang="en-US" sz="1200" b="1" dirty="0">
                <a:solidFill>
                  <a:srgbClr val="1D2733"/>
                </a:solidFill>
                <a:latin typeface="Segoe UI" pitchFamily="34" charset="0"/>
                <a:ea typeface="Segoe UI" pitchFamily="34" charset="-122"/>
                <a:cs typeface="Segoe UI" pitchFamily="34" charset="-120"/>
              </a:rPr>
              <a:t>Viết mù</a:t>
            </a:r>
            <a:endParaRPr lang="en-US" sz="1200" dirty="0"/>
          </a:p>
          <a:p>
            <a:pPr algn="ctr" indent="0" marL="0">
              <a:lnSpc>
                <a:spcPct val="112000"/>
              </a:lnSpc>
              <a:buNone/>
            </a:pPr>
            <a:r>
              <a:rPr lang="en-US" sz="1200" b="1" dirty="0">
                <a:solidFill>
                  <a:srgbClr val="1D2733"/>
                </a:solidFill>
                <a:latin typeface="Segoe UI" pitchFamily="34" charset="0"/>
                <a:ea typeface="Segoe UI" pitchFamily="34" charset="-122"/>
                <a:cs typeface="Segoe UI" pitchFamily="34" charset="-120"/>
              </a:rPr>
              <a:t>(ảnh + câu hỏi)</a:t>
            </a:r>
            <a:endParaRPr lang="en-US" sz="1200" dirty="0"/>
          </a:p>
        </p:txBody>
      </p:sp>
      <p:sp>
        <p:nvSpPr>
          <p:cNvPr id="15" name="Shape 13"/>
          <p:cNvSpPr/>
          <p:nvPr/>
        </p:nvSpPr>
        <p:spPr>
          <a:xfrm>
            <a:off x="5230368" y="3456432"/>
            <a:ext cx="237744" cy="0"/>
          </a:xfrm>
          <a:prstGeom prst="line">
            <a:avLst/>
          </a:prstGeom>
          <a:noFill/>
          <a:ln w="31750">
            <a:solidFill>
              <a:srgbClr val="BE5A2E"/>
            </a:solidFill>
            <a:prstDash val="solid"/>
            <a:tailEnd type="triangle"/>
          </a:ln>
        </p:spPr>
      </p:sp>
      <p:sp>
        <p:nvSpPr>
          <p:cNvPr id="16" name="Shape 14"/>
          <p:cNvSpPr/>
          <p:nvPr/>
        </p:nvSpPr>
        <p:spPr>
          <a:xfrm>
            <a:off x="5513832" y="2999232"/>
            <a:ext cx="1783080" cy="914400"/>
          </a:xfrm>
          <a:prstGeom prst="roundRect">
            <a:avLst>
              <a:gd name="adj" fmla="val 9000"/>
            </a:avLst>
          </a:prstGeom>
          <a:solidFill>
            <a:srgbClr val="F3F5F7"/>
          </a:solidFill>
          <a:ln/>
        </p:spPr>
      </p:sp>
      <p:sp>
        <p:nvSpPr>
          <p:cNvPr id="17" name="Shape 15"/>
          <p:cNvSpPr/>
          <p:nvPr/>
        </p:nvSpPr>
        <p:spPr>
          <a:xfrm>
            <a:off x="5623560" y="3072384"/>
            <a:ext cx="329184" cy="329184"/>
          </a:xfrm>
          <a:prstGeom prst="ellipse">
            <a:avLst/>
          </a:prstGeom>
          <a:solidFill>
            <a:srgbClr val="BE5A2E"/>
          </a:solidFill>
          <a:ln/>
        </p:spPr>
      </p:sp>
      <p:sp>
        <p:nvSpPr>
          <p:cNvPr id="18" name="Text 16"/>
          <p:cNvSpPr/>
          <p:nvPr/>
        </p:nvSpPr>
        <p:spPr>
          <a:xfrm>
            <a:off x="5623560" y="3072384"/>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mbria" pitchFamily="34" charset="0"/>
                <a:ea typeface="Cambria" pitchFamily="34" charset="-122"/>
                <a:cs typeface="Cambria" pitchFamily="34" charset="-120"/>
              </a:rPr>
              <a:t>2</a:t>
            </a:r>
            <a:endParaRPr lang="en-US" sz="1224" dirty="0"/>
          </a:p>
        </p:txBody>
      </p:sp>
      <p:sp>
        <p:nvSpPr>
          <p:cNvPr id="19" name="Text 17"/>
          <p:cNvSpPr/>
          <p:nvPr/>
        </p:nvSpPr>
        <p:spPr>
          <a:xfrm>
            <a:off x="5532120" y="3200400"/>
            <a:ext cx="1737360" cy="658368"/>
          </a:xfrm>
          <a:prstGeom prst="rect">
            <a:avLst/>
          </a:prstGeom>
          <a:noFill/>
          <a:ln/>
        </p:spPr>
        <p:txBody>
          <a:bodyPr wrap="square" lIns="0" tIns="0" rIns="0" bIns="0" rtlCol="0" anchor="ctr"/>
          <a:lstStyle/>
          <a:p>
            <a:pPr algn="ctr" indent="0" marL="0">
              <a:lnSpc>
                <a:spcPct val="112000"/>
              </a:lnSpc>
              <a:buNone/>
            </a:pPr>
            <a:r>
              <a:rPr lang="en-US" sz="1200" b="1" dirty="0">
                <a:solidFill>
                  <a:srgbClr val="1D2733"/>
                </a:solidFill>
                <a:latin typeface="Segoe UI" pitchFamily="34" charset="0"/>
                <a:ea typeface="Segoe UI" pitchFamily="34" charset="-122"/>
                <a:cs typeface="Segoe UI" pitchFamily="34" charset="-120"/>
              </a:rPr>
              <a:t>Đối chiếu</a:t>
            </a:r>
            <a:endParaRPr lang="en-US" sz="1200" dirty="0"/>
          </a:p>
          <a:p>
            <a:pPr algn="ctr" indent="0" marL="0">
              <a:lnSpc>
                <a:spcPct val="112000"/>
              </a:lnSpc>
              <a:buNone/>
            </a:pPr>
            <a:r>
              <a:rPr lang="en-US" sz="1200" b="1" dirty="0">
                <a:solidFill>
                  <a:srgbClr val="1D2733"/>
                </a:solidFill>
                <a:latin typeface="Segoe UI" pitchFamily="34" charset="0"/>
                <a:ea typeface="Segoe UI" pitchFamily="34" charset="-122"/>
                <a:cs typeface="Segoe UI" pitchFamily="34" charset="-120"/>
              </a:rPr>
              <a:t>nút thật</a:t>
            </a:r>
            <a:endParaRPr lang="en-US" sz="1200" dirty="0"/>
          </a:p>
        </p:txBody>
      </p:sp>
      <p:sp>
        <p:nvSpPr>
          <p:cNvPr id="20" name="Shape 18"/>
          <p:cNvSpPr/>
          <p:nvPr/>
        </p:nvSpPr>
        <p:spPr>
          <a:xfrm>
            <a:off x="7315200" y="3456432"/>
            <a:ext cx="237744" cy="0"/>
          </a:xfrm>
          <a:prstGeom prst="line">
            <a:avLst/>
          </a:prstGeom>
          <a:noFill/>
          <a:ln w="31750">
            <a:solidFill>
              <a:srgbClr val="BE5A2E"/>
            </a:solidFill>
            <a:prstDash val="solid"/>
            <a:tailEnd type="triangle"/>
          </a:ln>
        </p:spPr>
      </p:sp>
      <p:sp>
        <p:nvSpPr>
          <p:cNvPr id="21" name="Shape 19"/>
          <p:cNvSpPr/>
          <p:nvPr/>
        </p:nvSpPr>
        <p:spPr>
          <a:xfrm>
            <a:off x="7598664" y="2999232"/>
            <a:ext cx="1783080" cy="914400"/>
          </a:xfrm>
          <a:prstGeom prst="roundRect">
            <a:avLst>
              <a:gd name="adj" fmla="val 9000"/>
            </a:avLst>
          </a:prstGeom>
          <a:solidFill>
            <a:srgbClr val="F3F5F7"/>
          </a:solidFill>
          <a:ln/>
        </p:spPr>
      </p:sp>
      <p:sp>
        <p:nvSpPr>
          <p:cNvPr id="22" name="Shape 20"/>
          <p:cNvSpPr/>
          <p:nvPr/>
        </p:nvSpPr>
        <p:spPr>
          <a:xfrm>
            <a:off x="7708392" y="3072384"/>
            <a:ext cx="329184" cy="329184"/>
          </a:xfrm>
          <a:prstGeom prst="ellipse">
            <a:avLst/>
          </a:prstGeom>
          <a:solidFill>
            <a:srgbClr val="52657A"/>
          </a:solidFill>
          <a:ln/>
        </p:spPr>
      </p:sp>
      <p:sp>
        <p:nvSpPr>
          <p:cNvPr id="23" name="Text 21"/>
          <p:cNvSpPr/>
          <p:nvPr/>
        </p:nvSpPr>
        <p:spPr>
          <a:xfrm>
            <a:off x="7708392" y="3072384"/>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mbria" pitchFamily="34" charset="0"/>
                <a:ea typeface="Cambria" pitchFamily="34" charset="-122"/>
                <a:cs typeface="Cambria" pitchFamily="34" charset="-120"/>
              </a:rPr>
              <a:t>3</a:t>
            </a:r>
            <a:endParaRPr lang="en-US" sz="1224" dirty="0"/>
          </a:p>
        </p:txBody>
      </p:sp>
      <p:sp>
        <p:nvSpPr>
          <p:cNvPr id="24" name="Text 22"/>
          <p:cNvSpPr/>
          <p:nvPr/>
        </p:nvSpPr>
        <p:spPr>
          <a:xfrm>
            <a:off x="7616952" y="3200400"/>
            <a:ext cx="1737360" cy="658368"/>
          </a:xfrm>
          <a:prstGeom prst="rect">
            <a:avLst/>
          </a:prstGeom>
          <a:noFill/>
          <a:ln/>
        </p:spPr>
        <p:txBody>
          <a:bodyPr wrap="square" lIns="0" tIns="0" rIns="0" bIns="0" rtlCol="0" anchor="ctr"/>
          <a:lstStyle/>
          <a:p>
            <a:pPr algn="ctr" indent="0" marL="0">
              <a:lnSpc>
                <a:spcPct val="112000"/>
              </a:lnSpc>
              <a:buNone/>
            </a:pPr>
            <a:r>
              <a:rPr lang="en-US" sz="1200" b="1" dirty="0">
                <a:solidFill>
                  <a:srgbClr val="1D2733"/>
                </a:solidFill>
                <a:latin typeface="Segoe UI" pitchFamily="34" charset="0"/>
                <a:ea typeface="Segoe UI" pitchFamily="34" charset="-122"/>
                <a:cs typeface="Segoe UI" pitchFamily="34" charset="-120"/>
              </a:rPr>
              <a:t>Viết lại</a:t>
            </a:r>
            <a:endParaRPr lang="en-US" sz="1200" dirty="0"/>
          </a:p>
          <a:p>
            <a:pPr algn="ctr" indent="0" marL="0">
              <a:lnSpc>
                <a:spcPct val="112000"/>
              </a:lnSpc>
              <a:buNone/>
            </a:pPr>
            <a:r>
              <a:rPr lang="en-US" sz="1200" b="1" dirty="0">
                <a:solidFill>
                  <a:srgbClr val="1D2733"/>
                </a:solidFill>
                <a:latin typeface="Segoe UI" pitchFamily="34" charset="0"/>
                <a:ea typeface="Segoe UI" pitchFamily="34" charset="-122"/>
                <a:cs typeface="Segoe UI" pitchFamily="34" charset="-120"/>
              </a:rPr>
              <a:t>chỗ bịa</a:t>
            </a:r>
            <a:endParaRPr lang="en-US" sz="1200" dirty="0"/>
          </a:p>
        </p:txBody>
      </p:sp>
      <p:sp>
        <p:nvSpPr>
          <p:cNvPr id="25" name="Text 23"/>
          <p:cNvSpPr/>
          <p:nvPr/>
        </p:nvSpPr>
        <p:spPr>
          <a:xfrm>
            <a:off x="9692640" y="3200400"/>
            <a:ext cx="2286000" cy="512064"/>
          </a:xfrm>
          <a:prstGeom prst="rect">
            <a:avLst/>
          </a:prstGeom>
          <a:noFill/>
          <a:ln/>
        </p:spPr>
        <p:txBody>
          <a:bodyPr wrap="square" lIns="0" tIns="0" rIns="0" bIns="0" rtlCol="0" anchor="ctr"/>
          <a:lstStyle/>
          <a:p>
            <a:pPr algn="l" indent="0" marL="0">
              <a:buNone/>
            </a:pPr>
            <a:r>
              <a:rPr lang="en-US" sz="1250" b="1" dirty="0">
                <a:solidFill>
                  <a:srgbClr val="1E6B43"/>
                </a:solidFill>
                <a:latin typeface="Segoe UI" pitchFamily="34" charset="0"/>
                <a:ea typeface="Segoe UI" pitchFamily="34" charset="-122"/>
                <a:cs typeface="Segoe UI" pitchFamily="34" charset="-120"/>
              </a:rPr>
              <a:t>→  bản hướng dẫn</a:t>
            </a:r>
            <a:endParaRPr lang="en-US" sz="1250" dirty="0"/>
          </a:p>
        </p:txBody>
      </p:sp>
      <p:sp>
        <p:nvSpPr>
          <p:cNvPr id="26" name="Text 24"/>
          <p:cNvSpPr/>
          <p:nvPr/>
        </p:nvSpPr>
        <p:spPr>
          <a:xfrm>
            <a:off x="3429000" y="4526280"/>
            <a:ext cx="4114800" cy="274320"/>
          </a:xfrm>
          <a:prstGeom prst="rect">
            <a:avLst/>
          </a:prstGeom>
          <a:noFill/>
          <a:ln/>
        </p:spPr>
        <p:txBody>
          <a:bodyPr wrap="square" lIns="0" tIns="0" rIns="0" bIns="0" rtlCol="0" anchor="t"/>
          <a:lstStyle/>
          <a:p>
            <a:pPr algn="l" indent="0" marL="0">
              <a:buNone/>
            </a:pPr>
            <a:r>
              <a:rPr lang="en-US" sz="1250" b="1" dirty="0">
                <a:solidFill>
                  <a:srgbClr val="52657A"/>
                </a:solidFill>
                <a:latin typeface="Segoe UI" pitchFamily="34" charset="0"/>
                <a:ea typeface="Segoe UI" pitchFamily="34" charset="-122"/>
                <a:cs typeface="Segoe UI" pitchFamily="34" charset="-120"/>
              </a:rPr>
              <a:t>Từ hai ảnh trở lên — nhiều màn</a:t>
            </a:r>
            <a:endParaRPr lang="en-US" sz="1250" dirty="0"/>
          </a:p>
        </p:txBody>
      </p:sp>
      <p:sp>
        <p:nvSpPr>
          <p:cNvPr id="27" name="Shape 25"/>
          <p:cNvSpPr/>
          <p:nvPr/>
        </p:nvSpPr>
        <p:spPr>
          <a:xfrm>
            <a:off x="3429000" y="4864608"/>
            <a:ext cx="3977640" cy="914400"/>
          </a:xfrm>
          <a:prstGeom prst="roundRect">
            <a:avLst>
              <a:gd name="adj" fmla="val 9000"/>
            </a:avLst>
          </a:prstGeom>
          <a:solidFill>
            <a:srgbClr val="F7EBE3"/>
          </a:solidFill>
          <a:ln/>
        </p:spPr>
      </p:sp>
      <p:sp>
        <p:nvSpPr>
          <p:cNvPr id="28" name="Text 26"/>
          <p:cNvSpPr/>
          <p:nvPr/>
        </p:nvSpPr>
        <p:spPr>
          <a:xfrm>
            <a:off x="3584448" y="4864608"/>
            <a:ext cx="3703320" cy="914400"/>
          </a:xfrm>
          <a:prstGeom prst="rect">
            <a:avLst/>
          </a:prstGeom>
          <a:noFill/>
          <a:ln/>
        </p:spPr>
        <p:txBody>
          <a:bodyPr wrap="square" lIns="0" tIns="0" rIns="0" bIns="0" rtlCol="0" anchor="ctr"/>
          <a:lstStyle/>
          <a:p>
            <a:pPr algn="l" indent="0" marL="0">
              <a:lnSpc>
                <a:spcPct val="118000"/>
              </a:lnSpc>
              <a:buNone/>
            </a:pPr>
            <a:r>
              <a:rPr lang="en-US" sz="1200" b="1" dirty="0">
                <a:solidFill>
                  <a:srgbClr val="BE5A2E"/>
                </a:solidFill>
                <a:latin typeface="Segoe UI" pitchFamily="34" charset="0"/>
                <a:ea typeface="Segoe UI" pitchFamily="34" charset="-122"/>
                <a:cs typeface="Segoe UI" pitchFamily="34" charset="-120"/>
              </a:rPr>
              <a:t>Bước sắp thứ tự trước:  </a:t>
            </a:r>
            <a:pPr algn="l" indent="0" marL="0">
              <a:lnSpc>
                <a:spcPct val="118000"/>
              </a:lnSpc>
              <a:buNone/>
            </a:pPr>
            <a:r>
              <a:rPr lang="en-US" sz="1200" dirty="0">
                <a:solidFill>
                  <a:srgbClr val="1D2733"/>
                </a:solidFill>
                <a:latin typeface="Segoe UI" pitchFamily="34" charset="0"/>
                <a:ea typeface="Segoe UI" pitchFamily="34" charset="-122"/>
                <a:cs typeface="Segoe UI" pitchFamily="34" charset="-120"/>
              </a:rPr>
              <a:t>so từng cặp → đếm phiếu (Copeland) → gỡ vòng mâu thuẫn</a:t>
            </a:r>
            <a:endParaRPr lang="en-US" sz="1200" dirty="0"/>
          </a:p>
        </p:txBody>
      </p:sp>
      <p:sp>
        <p:nvSpPr>
          <p:cNvPr id="29" name="Shape 27"/>
          <p:cNvSpPr/>
          <p:nvPr/>
        </p:nvSpPr>
        <p:spPr>
          <a:xfrm>
            <a:off x="7452360" y="5321808"/>
            <a:ext cx="256032" cy="0"/>
          </a:xfrm>
          <a:prstGeom prst="line">
            <a:avLst/>
          </a:prstGeom>
          <a:noFill/>
          <a:ln w="31750">
            <a:solidFill>
              <a:srgbClr val="BE5A2E"/>
            </a:solidFill>
            <a:prstDash val="solid"/>
            <a:tailEnd type="triangle"/>
          </a:ln>
        </p:spPr>
      </p:sp>
      <p:sp>
        <p:nvSpPr>
          <p:cNvPr id="30" name="Shape 28"/>
          <p:cNvSpPr/>
          <p:nvPr/>
        </p:nvSpPr>
        <p:spPr>
          <a:xfrm>
            <a:off x="7772400" y="4864608"/>
            <a:ext cx="4023360" cy="914400"/>
          </a:xfrm>
          <a:prstGeom prst="roundRect">
            <a:avLst>
              <a:gd name="adj" fmla="val 9000"/>
            </a:avLst>
          </a:prstGeom>
          <a:solidFill>
            <a:srgbClr val="F3F5F7"/>
          </a:solidFill>
          <a:ln/>
        </p:spPr>
      </p:sp>
      <p:sp>
        <p:nvSpPr>
          <p:cNvPr id="31" name="Text 29"/>
          <p:cNvSpPr/>
          <p:nvPr/>
        </p:nvSpPr>
        <p:spPr>
          <a:xfrm>
            <a:off x="7918704" y="4864608"/>
            <a:ext cx="3749040" cy="914400"/>
          </a:xfrm>
          <a:prstGeom prst="rect">
            <a:avLst/>
          </a:prstGeom>
          <a:noFill/>
          <a:ln/>
        </p:spPr>
        <p:txBody>
          <a:bodyPr wrap="square" lIns="0" tIns="0" rIns="0" bIns="0" rtlCol="0" anchor="ctr"/>
          <a:lstStyle/>
          <a:p>
            <a:pPr algn="l" indent="0" marL="0">
              <a:lnSpc>
                <a:spcPct val="118000"/>
              </a:lnSpc>
              <a:buNone/>
            </a:pPr>
            <a:r>
              <a:rPr lang="en-US" sz="1250" b="1" dirty="0">
                <a:solidFill>
                  <a:srgbClr val="1D2733"/>
                </a:solidFill>
                <a:latin typeface="Segoe UI" pitchFamily="34" charset="0"/>
                <a:ea typeface="Segoe UI" pitchFamily="34" charset="-122"/>
                <a:cs typeface="Segoe UI" pitchFamily="34" charset="-120"/>
              </a:rPr>
              <a:t>Rồi chạy đúng nhánh một màn cho TỪNG màn đã sắp</a:t>
            </a:r>
            <a:endParaRPr lang="en-US" sz="1250" dirty="0"/>
          </a:p>
        </p:txBody>
      </p:sp>
      <p:sp>
        <p:nvSpPr>
          <p:cNvPr id="32" name="Text 30"/>
          <p:cNvSpPr/>
          <p:nvPr/>
        </p:nvSpPr>
        <p:spPr>
          <a:xfrm>
            <a:off x="841248" y="6035040"/>
            <a:ext cx="10515600" cy="320040"/>
          </a:xfrm>
          <a:prstGeom prst="rect">
            <a:avLst/>
          </a:prstGeom>
          <a:noFill/>
          <a:ln/>
        </p:spPr>
        <p:txBody>
          <a:bodyPr wrap="square" lIns="0" tIns="0" rIns="0" bIns="0" rtlCol="0" anchor="t"/>
          <a:lstStyle/>
          <a:p>
            <a:pPr algn="l" indent="0" marL="0">
              <a:buNone/>
            </a:pPr>
            <a:r>
              <a:rPr lang="en-US" sz="1300" b="1" dirty="0">
                <a:solidFill>
                  <a:srgbClr val="1D2733"/>
                </a:solidFill>
                <a:latin typeface="Segoe UI" pitchFamily="34" charset="0"/>
                <a:ea typeface="Segoe UI" pitchFamily="34" charset="-122"/>
                <a:cs typeface="Segoe UI" pitchFamily="34" charset="-120"/>
              </a:rPr>
              <a:t>Nhánh nhiều màn chính là nhánh một màn, chỉ thêm một bước sắp thứ tự ở đầu.  </a:t>
            </a:r>
            <a:pPr algn="l" indent="0" marL="0">
              <a:buNone/>
            </a:pPr>
            <a:r>
              <a:rPr lang="en-US" sz="1300" dirty="0">
                <a:solidFill>
                  <a:srgbClr val="454C55"/>
                </a:solidFill>
                <a:latin typeface="Segoe UI" pitchFamily="34" charset="0"/>
                <a:ea typeface="Segoe UI" pitchFamily="34" charset="-122"/>
                <a:cs typeface="Segoe UI" pitchFamily="34" charset="-120"/>
              </a:rPr>
              <a:t>Khi chỉ có một ảnh, bỏ qua bước sắp và quay về đúng nhánh một màn.</a:t>
            </a:r>
            <a:endParaRPr lang="en-US" sz="1300" dirty="0"/>
          </a:p>
        </p:txBody>
      </p:sp>
      <p:sp>
        <p:nvSpPr>
          <p:cNvPr id="33" name="Text 31"/>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so cặp — Qin (NAACL 2024) · gộp phiếu Copeland (Saari &amp; Merlin 1996) trong khung rank-aggregation của Dwork et al. (WWW 2001) · gỡ vòng min-FAS — Ailon et al. (JACM 2008).</a:t>
            </a:r>
            <a:endParaRPr lang="en-US" sz="1000" dirty="0"/>
          </a:p>
        </p:txBody>
      </p:sp>
      <p:sp>
        <p:nvSpPr>
          <p:cNvPr id="34" name="Text 32"/>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DỮ LIỆU</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Ba bộ dữ liệu, mỗi bộ một vai trò</a:t>
            </a:r>
            <a:endParaRPr lang="en-US" sz="2800" dirty="0"/>
          </a:p>
        </p:txBody>
      </p:sp>
      <p:sp>
        <p:nvSpPr>
          <p:cNvPr id="4" name="Shape 2"/>
          <p:cNvSpPr/>
          <p:nvPr/>
        </p:nvSpPr>
        <p:spPr>
          <a:xfrm>
            <a:off x="841248" y="2148840"/>
            <a:ext cx="3310128" cy="3611880"/>
          </a:xfrm>
          <a:prstGeom prst="roundRect">
            <a:avLst>
              <a:gd name="adj" fmla="val 2486"/>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sp>
        <p:nvSpPr>
          <p:cNvPr id="5" name="Shape 3"/>
          <p:cNvSpPr/>
          <p:nvPr/>
        </p:nvSpPr>
        <p:spPr>
          <a:xfrm>
            <a:off x="1776908" y="2267712"/>
            <a:ext cx="1438808" cy="2276856"/>
          </a:xfrm>
          <a:prstGeom prst="roundRect">
            <a:avLst>
              <a:gd name="adj" fmla="val 4449"/>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6" name="Image 0" descr="_img/real_mv_2.png">    </p:cNvPr>
          <p:cNvPicPr>
            <a:picLocks noChangeAspect="1"/>
          </p:cNvPicPr>
          <p:nvPr/>
        </p:nvPicPr>
        <p:blipFill>
          <a:blip r:embed="rId1"/>
          <a:srcRect l="0" r="0" t="0" b="0"/>
          <a:stretch/>
        </p:blipFill>
        <p:spPr>
          <a:xfrm>
            <a:off x="1840916" y="2331720"/>
            <a:ext cx="1310792" cy="2148840"/>
          </a:xfrm>
          <a:prstGeom prst="rect">
            <a:avLst/>
          </a:prstGeom>
        </p:spPr>
      </p:pic>
      <p:sp>
        <p:nvSpPr>
          <p:cNvPr id="7" name="Text 4"/>
          <p:cNvSpPr/>
          <p:nvPr/>
        </p:nvSpPr>
        <p:spPr>
          <a:xfrm>
            <a:off x="1115568" y="4590288"/>
            <a:ext cx="2743200" cy="320040"/>
          </a:xfrm>
          <a:prstGeom prst="rect">
            <a:avLst/>
          </a:prstGeom>
          <a:noFill/>
          <a:ln/>
        </p:spPr>
        <p:txBody>
          <a:bodyPr wrap="square" lIns="0" tIns="0" rIns="0" bIns="0" rtlCol="0" anchor="t"/>
          <a:lstStyle/>
          <a:p>
            <a:pPr algn="l" indent="0" marL="0">
              <a:buNone/>
            </a:pPr>
            <a:r>
              <a:rPr lang="en-US" sz="1600" b="1" dirty="0">
                <a:solidFill>
                  <a:srgbClr val="BE5A2E"/>
                </a:solidFill>
                <a:latin typeface="Cambria" pitchFamily="34" charset="0"/>
                <a:ea typeface="Cambria" pitchFamily="34" charset="-122"/>
                <a:cs typeface="Cambria" pitchFamily="34" charset="-120"/>
              </a:rPr>
              <a:t>MobileViews</a:t>
            </a:r>
            <a:endParaRPr lang="en-US" sz="1600" dirty="0"/>
          </a:p>
        </p:txBody>
      </p:sp>
      <p:sp>
        <p:nvSpPr>
          <p:cNvPr id="8" name="Text 5"/>
          <p:cNvSpPr/>
          <p:nvPr/>
        </p:nvSpPr>
        <p:spPr>
          <a:xfrm>
            <a:off x="1115568" y="4937760"/>
            <a:ext cx="2788920" cy="777240"/>
          </a:xfrm>
          <a:prstGeom prst="rect">
            <a:avLst/>
          </a:prstGeom>
          <a:noFill/>
          <a:ln/>
        </p:spPr>
        <p:txBody>
          <a:bodyPr wrap="square" lIns="0" tIns="0" rIns="0" bIns="0" rtlCol="0" anchor="t"/>
          <a:lstStyle/>
          <a:p>
            <a:pPr algn="l" indent="0" marL="0">
              <a:lnSpc>
                <a:spcPct val="120000"/>
              </a:lnSpc>
              <a:buNone/>
            </a:pPr>
            <a:r>
              <a:rPr lang="en-US" sz="1250" dirty="0">
                <a:solidFill>
                  <a:srgbClr val="454C55"/>
                </a:solidFill>
                <a:latin typeface="Segoe UI" pitchFamily="34" charset="0"/>
                <a:ea typeface="Segoe UI" pitchFamily="34" charset="-122"/>
                <a:cs typeface="Segoe UI" pitchFamily="34" charset="-120"/>
              </a:rPr>
              <a:t>Một màn kèm danh sách nút thật. Dùng để đo mức bám sát giao diện.</a:t>
            </a:r>
            <a:endParaRPr lang="en-US" sz="1250" dirty="0"/>
          </a:p>
        </p:txBody>
      </p:sp>
      <p:sp>
        <p:nvSpPr>
          <p:cNvPr id="9" name="Shape 6"/>
          <p:cNvSpPr/>
          <p:nvPr/>
        </p:nvSpPr>
        <p:spPr>
          <a:xfrm>
            <a:off x="4425696" y="2148840"/>
            <a:ext cx="3310128" cy="3611880"/>
          </a:xfrm>
          <a:prstGeom prst="roundRect">
            <a:avLst>
              <a:gd name="adj" fmla="val 2486"/>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sp>
        <p:nvSpPr>
          <p:cNvPr id="10" name="Shape 7"/>
          <p:cNvSpPr/>
          <p:nvPr/>
        </p:nvSpPr>
        <p:spPr>
          <a:xfrm>
            <a:off x="5533263" y="2267712"/>
            <a:ext cx="1094994" cy="2276856"/>
          </a:xfrm>
          <a:prstGeom prst="roundRect">
            <a:avLst>
              <a:gd name="adj" fmla="val 5846"/>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11" name="Image 1" descr="_img/ac_o2.png">    </p:cNvPr>
          <p:cNvPicPr>
            <a:picLocks noChangeAspect="1"/>
          </p:cNvPicPr>
          <p:nvPr/>
        </p:nvPicPr>
        <p:blipFill>
          <a:blip r:embed="rId2"/>
          <a:srcRect l="0" r="0" t="0" b="0"/>
          <a:stretch/>
        </p:blipFill>
        <p:spPr>
          <a:xfrm>
            <a:off x="5597271" y="2331720"/>
            <a:ext cx="966978" cy="2148840"/>
          </a:xfrm>
          <a:prstGeom prst="rect">
            <a:avLst/>
          </a:prstGeom>
        </p:spPr>
      </p:pic>
      <p:sp>
        <p:nvSpPr>
          <p:cNvPr id="12" name="Text 8"/>
          <p:cNvSpPr/>
          <p:nvPr/>
        </p:nvSpPr>
        <p:spPr>
          <a:xfrm>
            <a:off x="4700016" y="4590288"/>
            <a:ext cx="2743200" cy="320040"/>
          </a:xfrm>
          <a:prstGeom prst="rect">
            <a:avLst/>
          </a:prstGeom>
          <a:noFill/>
          <a:ln/>
        </p:spPr>
        <p:txBody>
          <a:bodyPr wrap="square" lIns="0" tIns="0" rIns="0" bIns="0" rtlCol="0" anchor="t"/>
          <a:lstStyle/>
          <a:p>
            <a:pPr algn="l" indent="0" marL="0">
              <a:buNone/>
            </a:pPr>
            <a:r>
              <a:rPr lang="en-US" sz="1600" b="1" dirty="0">
                <a:solidFill>
                  <a:srgbClr val="BE5A2E"/>
                </a:solidFill>
                <a:latin typeface="Cambria" pitchFamily="34" charset="0"/>
                <a:ea typeface="Cambria" pitchFamily="34" charset="-122"/>
                <a:cs typeface="Cambria" pitchFamily="34" charset="-120"/>
              </a:rPr>
              <a:t>AndroidControl</a:t>
            </a:r>
            <a:endParaRPr lang="en-US" sz="1600" dirty="0"/>
          </a:p>
        </p:txBody>
      </p:sp>
      <p:sp>
        <p:nvSpPr>
          <p:cNvPr id="13" name="Text 9"/>
          <p:cNvSpPr/>
          <p:nvPr/>
        </p:nvSpPr>
        <p:spPr>
          <a:xfrm>
            <a:off x="4700016" y="4937760"/>
            <a:ext cx="2788920" cy="777240"/>
          </a:xfrm>
          <a:prstGeom prst="rect">
            <a:avLst/>
          </a:prstGeom>
          <a:noFill/>
          <a:ln/>
        </p:spPr>
        <p:txBody>
          <a:bodyPr wrap="square" lIns="0" tIns="0" rIns="0" bIns="0" rtlCol="0" anchor="t"/>
          <a:lstStyle/>
          <a:p>
            <a:pPr algn="l" indent="0" marL="0">
              <a:lnSpc>
                <a:spcPct val="120000"/>
              </a:lnSpc>
              <a:buNone/>
            </a:pPr>
            <a:r>
              <a:rPr lang="en-US" sz="1250" dirty="0">
                <a:solidFill>
                  <a:srgbClr val="454C55"/>
                </a:solidFill>
                <a:latin typeface="Segoe UI" pitchFamily="34" charset="0"/>
                <a:ea typeface="Segoe UI" pitchFamily="34" charset="-122"/>
                <a:cs typeface="Segoe UI" pitchFamily="34" charset="-120"/>
              </a:rPr>
              <a:t>Chuỗi nhiều màn kèm thao tác đúng từng bước. Dùng để đo sắp thứ tự và hoàn thành tác vụ.</a:t>
            </a:r>
            <a:endParaRPr lang="en-US" sz="1250" dirty="0"/>
          </a:p>
        </p:txBody>
      </p:sp>
      <p:sp>
        <p:nvSpPr>
          <p:cNvPr id="14" name="Shape 10"/>
          <p:cNvSpPr/>
          <p:nvPr/>
        </p:nvSpPr>
        <p:spPr>
          <a:xfrm>
            <a:off x="8010144" y="2148840"/>
            <a:ext cx="3310128" cy="3611880"/>
          </a:xfrm>
          <a:prstGeom prst="roundRect">
            <a:avLst>
              <a:gd name="adj" fmla="val 2486"/>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sp>
        <p:nvSpPr>
          <p:cNvPr id="15" name="Shape 11"/>
          <p:cNvSpPr/>
          <p:nvPr/>
        </p:nvSpPr>
        <p:spPr>
          <a:xfrm>
            <a:off x="9106967" y="2267712"/>
            <a:ext cx="1116482" cy="2276856"/>
          </a:xfrm>
          <a:prstGeom prst="roundRect">
            <a:avLst>
              <a:gd name="adj" fmla="val 5733"/>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16" name="Image 2" descr="_img/ss_mobile.png">    </p:cNvPr>
          <p:cNvPicPr>
            <a:picLocks noChangeAspect="1"/>
          </p:cNvPicPr>
          <p:nvPr/>
        </p:nvPicPr>
        <p:blipFill>
          <a:blip r:embed="rId3"/>
          <a:srcRect l="0" r="0" t="0" b="0"/>
          <a:stretch/>
        </p:blipFill>
        <p:spPr>
          <a:xfrm>
            <a:off x="9170975" y="2331720"/>
            <a:ext cx="988466" cy="2148840"/>
          </a:xfrm>
          <a:prstGeom prst="rect">
            <a:avLst/>
          </a:prstGeom>
        </p:spPr>
      </p:pic>
      <p:sp>
        <p:nvSpPr>
          <p:cNvPr id="17" name="Text 12"/>
          <p:cNvSpPr/>
          <p:nvPr/>
        </p:nvSpPr>
        <p:spPr>
          <a:xfrm>
            <a:off x="8284464" y="4590288"/>
            <a:ext cx="2743200" cy="320040"/>
          </a:xfrm>
          <a:prstGeom prst="rect">
            <a:avLst/>
          </a:prstGeom>
          <a:noFill/>
          <a:ln/>
        </p:spPr>
        <p:txBody>
          <a:bodyPr wrap="square" lIns="0" tIns="0" rIns="0" bIns="0" rtlCol="0" anchor="t"/>
          <a:lstStyle/>
          <a:p>
            <a:pPr algn="l" indent="0" marL="0">
              <a:buNone/>
            </a:pPr>
            <a:r>
              <a:rPr lang="en-US" sz="1600" b="1" dirty="0">
                <a:solidFill>
                  <a:srgbClr val="BE5A2E"/>
                </a:solidFill>
                <a:latin typeface="Cambria" pitchFamily="34" charset="0"/>
                <a:ea typeface="Cambria" pitchFamily="34" charset="-122"/>
                <a:cs typeface="Cambria" pitchFamily="34" charset="-120"/>
              </a:rPr>
              <a:t>ScreenSpot</a:t>
            </a:r>
            <a:endParaRPr lang="en-US" sz="1600" dirty="0"/>
          </a:p>
        </p:txBody>
      </p:sp>
      <p:sp>
        <p:nvSpPr>
          <p:cNvPr id="18" name="Text 13"/>
          <p:cNvSpPr/>
          <p:nvPr/>
        </p:nvSpPr>
        <p:spPr>
          <a:xfrm>
            <a:off x="8284464" y="4937760"/>
            <a:ext cx="2788920" cy="777240"/>
          </a:xfrm>
          <a:prstGeom prst="rect">
            <a:avLst/>
          </a:prstGeom>
          <a:noFill/>
          <a:ln/>
        </p:spPr>
        <p:txBody>
          <a:bodyPr wrap="square" lIns="0" tIns="0" rIns="0" bIns="0" rtlCol="0" anchor="t"/>
          <a:lstStyle/>
          <a:p>
            <a:pPr algn="l" indent="0" marL="0">
              <a:lnSpc>
                <a:spcPct val="120000"/>
              </a:lnSpc>
              <a:buNone/>
            </a:pPr>
            <a:r>
              <a:rPr lang="en-US" sz="1250" dirty="0">
                <a:solidFill>
                  <a:srgbClr val="454C55"/>
                </a:solidFill>
                <a:latin typeface="Segoe UI" pitchFamily="34" charset="0"/>
                <a:ea typeface="Segoe UI" pitchFamily="34" charset="-122"/>
                <a:cs typeface="Segoe UI" pitchFamily="34" charset="-120"/>
              </a:rPr>
              <a:t>Ảnh kèm toạ độ nút chuẩn. Làm bộ đối chứng cho khả năng chỉ đúng nút.</a:t>
            </a:r>
            <a:endParaRPr lang="en-US" sz="1250" dirty="0"/>
          </a:p>
        </p:txBody>
      </p:sp>
      <p:sp>
        <p:nvSpPr>
          <p:cNvPr id="19" name="Text 14"/>
          <p:cNvSpPr/>
          <p:nvPr/>
        </p:nvSpPr>
        <p:spPr>
          <a:xfrm>
            <a:off x="841248" y="5989320"/>
            <a:ext cx="10515600" cy="365760"/>
          </a:xfrm>
          <a:prstGeom prst="rect">
            <a:avLst/>
          </a:prstGeom>
          <a:noFill/>
          <a:ln/>
        </p:spPr>
        <p:txBody>
          <a:bodyPr wrap="square" lIns="0" tIns="0" rIns="0" bIns="0" rtlCol="0" anchor="t"/>
          <a:lstStyle/>
          <a:p>
            <a:pPr algn="l" indent="0" marL="0">
              <a:buNone/>
            </a:pPr>
            <a:r>
              <a:rPr lang="en-US" sz="1300" dirty="0">
                <a:solidFill>
                  <a:srgbClr val="454C55"/>
                </a:solidFill>
                <a:latin typeface="Segoe UI" pitchFamily="34" charset="0"/>
                <a:ea typeface="Segoe UI" pitchFamily="34" charset="-122"/>
                <a:cs typeface="Segoe UI" pitchFamily="34" charset="-120"/>
              </a:rPr>
              <a:t>Điểm chung: cả ba đều có danh sách nút thật để làm mốc, nên không cần một bản hướng dẫn mẫu do người soạn.</a:t>
            </a:r>
            <a:endParaRPr lang="en-US" sz="1300" dirty="0"/>
          </a:p>
        </p:txBody>
      </p:sp>
      <p:sp>
        <p:nvSpPr>
          <p:cNvPr id="20" name="Text 15"/>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CÁCH LÀM · MỘT MÀN</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Viết trước, rồi đối chiếu với danh sách nút thật</a:t>
            </a:r>
            <a:endParaRPr lang="en-US" sz="2800" dirty="0"/>
          </a:p>
        </p:txBody>
      </p:sp>
      <p:sp>
        <p:nvSpPr>
          <p:cNvPr id="4" name="Shape 2"/>
          <p:cNvSpPr/>
          <p:nvPr/>
        </p:nvSpPr>
        <p:spPr>
          <a:xfrm>
            <a:off x="841248" y="2103120"/>
            <a:ext cx="10506456" cy="1234440"/>
          </a:xfrm>
          <a:prstGeom prst="roundRect">
            <a:avLst>
              <a:gd name="adj" fmla="val 6667"/>
            </a:avLst>
          </a:prstGeom>
          <a:solidFill>
            <a:srgbClr val="F3F5F7"/>
          </a:solidFill>
          <a:ln/>
        </p:spPr>
      </p:sp>
      <p:sp>
        <p:nvSpPr>
          <p:cNvPr id="5" name="Shape 3"/>
          <p:cNvSpPr/>
          <p:nvPr/>
        </p:nvSpPr>
        <p:spPr>
          <a:xfrm>
            <a:off x="1115568" y="2395728"/>
            <a:ext cx="640080" cy="640080"/>
          </a:xfrm>
          <a:prstGeom prst="ellipse">
            <a:avLst/>
          </a:prstGeom>
          <a:solidFill>
            <a:srgbClr val="52657A"/>
          </a:solidFill>
          <a:ln/>
        </p:spPr>
      </p:sp>
      <p:sp>
        <p:nvSpPr>
          <p:cNvPr id="6" name="Text 4"/>
          <p:cNvSpPr/>
          <p:nvPr/>
        </p:nvSpPr>
        <p:spPr>
          <a:xfrm>
            <a:off x="1115568" y="2395728"/>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Cambria" pitchFamily="34" charset="0"/>
                <a:ea typeface="Cambria" pitchFamily="34" charset="-122"/>
                <a:cs typeface="Cambria" pitchFamily="34" charset="-120"/>
              </a:rPr>
              <a:t>1</a:t>
            </a:r>
            <a:endParaRPr lang="en-US" sz="2380" dirty="0"/>
          </a:p>
        </p:txBody>
      </p:sp>
      <p:sp>
        <p:nvSpPr>
          <p:cNvPr id="7" name="Text 5"/>
          <p:cNvSpPr/>
          <p:nvPr/>
        </p:nvSpPr>
        <p:spPr>
          <a:xfrm>
            <a:off x="1984248" y="2331720"/>
            <a:ext cx="5669280" cy="777240"/>
          </a:xfrm>
          <a:prstGeom prst="rect">
            <a:avLst/>
          </a:prstGeom>
          <a:noFill/>
          <a:ln/>
        </p:spPr>
        <p:txBody>
          <a:bodyPr wrap="square" lIns="0" tIns="0" rIns="0" bIns="0" rtlCol="0" anchor="ctr"/>
          <a:lstStyle/>
          <a:p>
            <a:pPr algn="l" indent="0" marL="0">
              <a:lnSpc>
                <a:spcPct val="110000"/>
              </a:lnSpc>
              <a:buNone/>
            </a:pPr>
            <a:r>
              <a:rPr lang="en-US" sz="1600" b="1" dirty="0">
                <a:solidFill>
                  <a:srgbClr val="1D2733"/>
                </a:solidFill>
                <a:latin typeface="Cambria" pitchFamily="34" charset="0"/>
                <a:ea typeface="Cambria" pitchFamily="34" charset="-122"/>
                <a:cs typeface="Cambria" pitchFamily="34" charset="-120"/>
              </a:rPr>
              <a:t>Mô hình viết hướng dẫn khi chỉ thấy ảnh và câu hỏi</a:t>
            </a:r>
            <a:endParaRPr lang="en-US" sz="1600" dirty="0"/>
          </a:p>
        </p:txBody>
      </p:sp>
      <p:sp>
        <p:nvSpPr>
          <p:cNvPr id="8" name="Shape 6"/>
          <p:cNvSpPr/>
          <p:nvPr/>
        </p:nvSpPr>
        <p:spPr>
          <a:xfrm>
            <a:off x="7315200" y="2724912"/>
            <a:ext cx="457200" cy="0"/>
          </a:xfrm>
          <a:prstGeom prst="line">
            <a:avLst/>
          </a:prstGeom>
          <a:noFill/>
          <a:ln w="31750">
            <a:solidFill>
              <a:srgbClr val="BE5A2E"/>
            </a:solidFill>
            <a:prstDash val="solid"/>
            <a:tailEnd type="triangle"/>
          </a:ln>
        </p:spPr>
      </p:sp>
      <p:sp>
        <p:nvSpPr>
          <p:cNvPr id="9" name="Shape 7"/>
          <p:cNvSpPr/>
          <p:nvPr/>
        </p:nvSpPr>
        <p:spPr>
          <a:xfrm>
            <a:off x="7863840" y="2395728"/>
            <a:ext cx="3246120" cy="685800"/>
          </a:xfrm>
          <a:prstGeom prst="roundRect">
            <a:avLst>
              <a:gd name="adj" fmla="val 49333"/>
            </a:avLst>
          </a:prstGeom>
          <a:solidFill>
            <a:srgbClr val="F7EBE3"/>
          </a:solidFill>
          <a:ln/>
        </p:spPr>
      </p:sp>
      <p:sp>
        <p:nvSpPr>
          <p:cNvPr id="10" name="Text 8"/>
          <p:cNvSpPr/>
          <p:nvPr/>
        </p:nvSpPr>
        <p:spPr>
          <a:xfrm>
            <a:off x="7863840" y="2395728"/>
            <a:ext cx="3246120" cy="685800"/>
          </a:xfrm>
          <a:prstGeom prst="rect">
            <a:avLst/>
          </a:prstGeom>
          <a:noFill/>
          <a:ln/>
        </p:spPr>
        <p:txBody>
          <a:bodyPr wrap="square" lIns="0" tIns="0" rIns="0" bIns="0" rtlCol="0" anchor="ctr"/>
          <a:lstStyle/>
          <a:p>
            <a:pPr algn="ctr" indent="0" marL="0">
              <a:buNone/>
            </a:pPr>
            <a:r>
              <a:rPr lang="en-US" sz="1450" b="1" dirty="0">
                <a:solidFill>
                  <a:srgbClr val="1D2733"/>
                </a:solidFill>
                <a:latin typeface="Segoe UI" pitchFamily="34" charset="0"/>
                <a:ea typeface="Segoe UI" pitchFamily="34" charset="-122"/>
                <a:cs typeface="Segoe UI" pitchFamily="34" charset="-120"/>
              </a:rPr>
              <a:t>bản nháp đầu tiên</a:t>
            </a:r>
            <a:endParaRPr lang="en-US" sz="1450" dirty="0"/>
          </a:p>
        </p:txBody>
      </p:sp>
      <p:sp>
        <p:nvSpPr>
          <p:cNvPr id="11" name="Shape 9"/>
          <p:cNvSpPr/>
          <p:nvPr/>
        </p:nvSpPr>
        <p:spPr>
          <a:xfrm>
            <a:off x="841248" y="3520440"/>
            <a:ext cx="10506456" cy="2148840"/>
          </a:xfrm>
          <a:prstGeom prst="roundRect">
            <a:avLst>
              <a:gd name="adj" fmla="val 3830"/>
            </a:avLst>
          </a:prstGeom>
          <a:solidFill>
            <a:srgbClr val="FFFFFF"/>
          </a:solidFill>
          <a:ln w="12700">
            <a:solidFill>
              <a:srgbClr val="DBE0E6"/>
            </a:solidFill>
            <a:prstDash val="solid"/>
          </a:ln>
        </p:spPr>
      </p:sp>
      <p:sp>
        <p:nvSpPr>
          <p:cNvPr id="12" name="Shape 10"/>
          <p:cNvSpPr/>
          <p:nvPr/>
        </p:nvSpPr>
        <p:spPr>
          <a:xfrm>
            <a:off x="1115568" y="3794760"/>
            <a:ext cx="640080" cy="640080"/>
          </a:xfrm>
          <a:prstGeom prst="ellipse">
            <a:avLst/>
          </a:prstGeom>
          <a:solidFill>
            <a:srgbClr val="BE5A2E"/>
          </a:solidFill>
          <a:ln/>
        </p:spPr>
      </p:sp>
      <p:sp>
        <p:nvSpPr>
          <p:cNvPr id="13" name="Text 11"/>
          <p:cNvSpPr/>
          <p:nvPr/>
        </p:nvSpPr>
        <p:spPr>
          <a:xfrm>
            <a:off x="1115568" y="379476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Cambria" pitchFamily="34" charset="0"/>
                <a:ea typeface="Cambria" pitchFamily="34" charset="-122"/>
                <a:cs typeface="Cambria" pitchFamily="34" charset="-120"/>
              </a:rPr>
              <a:t>2</a:t>
            </a:r>
            <a:endParaRPr lang="en-US" sz="2380" dirty="0"/>
          </a:p>
        </p:txBody>
      </p:sp>
      <p:sp>
        <p:nvSpPr>
          <p:cNvPr id="14" name="Text 12"/>
          <p:cNvSpPr/>
          <p:nvPr/>
        </p:nvSpPr>
        <p:spPr>
          <a:xfrm>
            <a:off x="1984248" y="3767328"/>
            <a:ext cx="8686800" cy="502920"/>
          </a:xfrm>
          <a:prstGeom prst="rect">
            <a:avLst/>
          </a:prstGeom>
          <a:noFill/>
          <a:ln/>
        </p:spPr>
        <p:txBody>
          <a:bodyPr wrap="square" lIns="0" tIns="0" rIns="0" bIns="0" rtlCol="0" anchor="ctr"/>
          <a:lstStyle/>
          <a:p>
            <a:pPr algn="l" indent="0" marL="0">
              <a:buNone/>
            </a:pPr>
            <a:r>
              <a:rPr lang="en-US" sz="1600" b="1" dirty="0">
                <a:solidFill>
                  <a:srgbClr val="1D2733"/>
                </a:solidFill>
                <a:latin typeface="Cambria" pitchFamily="34" charset="0"/>
                <a:ea typeface="Cambria" pitchFamily="34" charset="-122"/>
                <a:cs typeface="Cambria" pitchFamily="34" charset="-120"/>
              </a:rPr>
              <a:t>Thuật toán đối chiếu từng bước với danh sách nút thật</a:t>
            </a:r>
            <a:endParaRPr lang="en-US" sz="1600" dirty="0"/>
          </a:p>
        </p:txBody>
      </p:sp>
      <p:sp>
        <p:nvSpPr>
          <p:cNvPr id="15" name="Text 13"/>
          <p:cNvSpPr/>
          <p:nvPr/>
        </p:nvSpPr>
        <p:spPr>
          <a:xfrm>
            <a:off x="1984248" y="4480560"/>
            <a:ext cx="4297680" cy="365760"/>
          </a:xfrm>
          <a:prstGeom prst="rect">
            <a:avLst/>
          </a:prstGeom>
          <a:noFill/>
          <a:ln/>
        </p:spPr>
        <p:txBody>
          <a:bodyPr wrap="square" lIns="0" tIns="0" rIns="0" bIns="0" rtlCol="0" anchor="t"/>
          <a:lstStyle/>
          <a:p>
            <a:pPr algn="l" indent="0" marL="0">
              <a:buNone/>
            </a:pPr>
            <a:r>
              <a:rPr lang="en-US" sz="1400" b="1" dirty="0">
                <a:solidFill>
                  <a:srgbClr val="1E6B43"/>
                </a:solidFill>
                <a:latin typeface="Segoe UI" pitchFamily="34" charset="0"/>
                <a:ea typeface="Segoe UI" pitchFamily="34" charset="-122"/>
                <a:cs typeface="Segoe UI" pitchFamily="34" charset="-120"/>
              </a:rPr>
              <a:t>Bước nhắc một nút có thật</a:t>
            </a:r>
            <a:endParaRPr lang="en-US" sz="1400" dirty="0"/>
          </a:p>
        </p:txBody>
      </p:sp>
      <p:sp>
        <p:nvSpPr>
          <p:cNvPr id="16" name="Text 14"/>
          <p:cNvSpPr/>
          <p:nvPr/>
        </p:nvSpPr>
        <p:spPr>
          <a:xfrm>
            <a:off x="6236208" y="4480560"/>
            <a:ext cx="4846320" cy="365760"/>
          </a:xfrm>
          <a:prstGeom prst="rect">
            <a:avLst/>
          </a:prstGeom>
          <a:noFill/>
          <a:ln/>
        </p:spPr>
        <p:txBody>
          <a:bodyPr wrap="square" lIns="0" tIns="0" rIns="0" bIns="0" rtlCol="0" anchor="t"/>
          <a:lstStyle/>
          <a:p>
            <a:pPr algn="l" indent="0" marL="0">
              <a:buNone/>
            </a:pPr>
            <a:r>
              <a:rPr lang="en-US" sz="1400" dirty="0">
                <a:solidFill>
                  <a:srgbClr val="454C55"/>
                </a:solidFill>
                <a:latin typeface="Segoe UI" pitchFamily="34" charset="0"/>
                <a:ea typeface="Segoe UI" pitchFamily="34" charset="-122"/>
                <a:cs typeface="Segoe UI" pitchFamily="34" charset="-120"/>
              </a:rPr>
              <a:t>thì giữ nguyên bước đó.</a:t>
            </a:r>
            <a:endParaRPr lang="en-US" sz="1400" dirty="0"/>
          </a:p>
        </p:txBody>
      </p:sp>
      <p:sp>
        <p:nvSpPr>
          <p:cNvPr id="17" name="Text 15"/>
          <p:cNvSpPr/>
          <p:nvPr/>
        </p:nvSpPr>
        <p:spPr>
          <a:xfrm>
            <a:off x="1984248" y="4956048"/>
            <a:ext cx="4297680" cy="365760"/>
          </a:xfrm>
          <a:prstGeom prst="rect">
            <a:avLst/>
          </a:prstGeom>
          <a:noFill/>
          <a:ln/>
        </p:spPr>
        <p:txBody>
          <a:bodyPr wrap="square" lIns="0" tIns="0" rIns="0" bIns="0" rtlCol="0" anchor="t"/>
          <a:lstStyle/>
          <a:p>
            <a:pPr algn="l" indent="0" marL="0">
              <a:buNone/>
            </a:pPr>
            <a:r>
              <a:rPr lang="en-US" sz="1400" b="1" dirty="0">
                <a:solidFill>
                  <a:srgbClr val="BE5A2E"/>
                </a:solidFill>
                <a:latin typeface="Segoe UI" pitchFamily="34" charset="0"/>
                <a:ea typeface="Segoe UI" pitchFamily="34" charset="-122"/>
                <a:cs typeface="Segoe UI" pitchFamily="34" charset="-120"/>
              </a:rPr>
              <a:t>Bước nhắc một nút không có thật</a:t>
            </a:r>
            <a:endParaRPr lang="en-US" sz="1400" dirty="0"/>
          </a:p>
        </p:txBody>
      </p:sp>
      <p:sp>
        <p:nvSpPr>
          <p:cNvPr id="18" name="Text 16"/>
          <p:cNvSpPr/>
          <p:nvPr/>
        </p:nvSpPr>
        <p:spPr>
          <a:xfrm>
            <a:off x="6236208" y="4956048"/>
            <a:ext cx="5303520" cy="365760"/>
          </a:xfrm>
          <a:prstGeom prst="rect">
            <a:avLst/>
          </a:prstGeom>
          <a:noFill/>
          <a:ln/>
        </p:spPr>
        <p:txBody>
          <a:bodyPr wrap="square" lIns="0" tIns="0" rIns="0" bIns="0" rtlCol="0" anchor="t"/>
          <a:lstStyle/>
          <a:p>
            <a:pPr algn="l" indent="0" marL="0">
              <a:buNone/>
            </a:pPr>
            <a:r>
              <a:rPr lang="en-US" sz="1400" dirty="0">
                <a:solidFill>
                  <a:srgbClr val="454C55"/>
                </a:solidFill>
                <a:latin typeface="Segoe UI" pitchFamily="34" charset="0"/>
                <a:ea typeface="Segoe UI" pitchFamily="34" charset="-122"/>
                <a:cs typeface="Segoe UI" pitchFamily="34" charset="-120"/>
              </a:rPr>
              <a:t>thì đổi thành mô tả chung, không đoán nút khác.</a:t>
            </a:r>
            <a:endParaRPr lang="en-US" sz="1400" dirty="0"/>
          </a:p>
        </p:txBody>
      </p:sp>
      <p:sp>
        <p:nvSpPr>
          <p:cNvPr id="19" name="Text 17"/>
          <p:cNvSpPr/>
          <p:nvPr/>
        </p:nvSpPr>
        <p:spPr>
          <a:xfrm>
            <a:off x="841248" y="5943600"/>
            <a:ext cx="10515600" cy="365760"/>
          </a:xfrm>
          <a:prstGeom prst="rect">
            <a:avLst/>
          </a:prstGeom>
          <a:noFill/>
          <a:ln/>
        </p:spPr>
        <p:txBody>
          <a:bodyPr wrap="square" lIns="0" tIns="0" rIns="0" bIns="0" rtlCol="0" anchor="t"/>
          <a:lstStyle/>
          <a:p>
            <a:pPr algn="l" indent="0" marL="0">
              <a:buNone/>
            </a:pPr>
            <a:r>
              <a:rPr lang="en-US" sz="1350" dirty="0">
                <a:solidFill>
                  <a:srgbClr val="454C55"/>
                </a:solidFill>
                <a:latin typeface="Segoe UI" pitchFamily="34" charset="0"/>
                <a:ea typeface="Segoe UI" pitchFamily="34" charset="-122"/>
                <a:cs typeface="Segoe UI" pitchFamily="34" charset="-120"/>
              </a:rPr>
              <a:t>Bước đối chiếu là thuật toán so khớp ý nghĩa, không phải thêm một mô hình đoán chồng lên nữa.</a:t>
            </a:r>
            <a:endParaRPr lang="en-US" sz="1350" dirty="0"/>
          </a:p>
        </p:txBody>
      </p:sp>
      <p:sp>
        <p:nvSpPr>
          <p:cNvPr id="20" name="Text 18"/>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đối chiếu-sau với nguồn ngoài theo lối FActScore (FActScore chỉ chấm, EMNLP 2023) · khớp tên nút theo ngữ nghĩa như ALOHa (NAACL 2024).</a:t>
            </a:r>
            <a:endParaRPr lang="en-US" sz="1000" dirty="0"/>
          </a:p>
        </p:txBody>
      </p:sp>
      <p:sp>
        <p:nvSpPr>
          <p:cNvPr id="21" name="Text 19"/>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CÁCH LÀM · MỘT MÀN · VÍ DỤ</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Bắt lỗi khi máy nhắc một nút không có trên màn</a:t>
            </a:r>
            <a:endParaRPr lang="en-US" sz="2800" dirty="0"/>
          </a:p>
        </p:txBody>
      </p:sp>
      <p:sp>
        <p:nvSpPr>
          <p:cNvPr id="4" name="Shape 2"/>
          <p:cNvSpPr/>
          <p:nvPr/>
        </p:nvSpPr>
        <p:spPr>
          <a:xfrm>
            <a:off x="868680" y="2267712"/>
            <a:ext cx="2093976" cy="3657600"/>
          </a:xfrm>
          <a:prstGeom prst="roundRect">
            <a:avLst>
              <a:gd name="adj" fmla="val 3057"/>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5" name="Image 0" descr="_img/real_mv_1.png">    </p:cNvPr>
          <p:cNvPicPr>
            <a:picLocks noChangeAspect="1"/>
          </p:cNvPicPr>
          <p:nvPr/>
        </p:nvPicPr>
        <p:blipFill>
          <a:blip r:embed="rId1"/>
          <a:srcRect l="0" r="0" t="0" b="0"/>
          <a:stretch/>
        </p:blipFill>
        <p:spPr>
          <a:xfrm>
            <a:off x="932688" y="2331720"/>
            <a:ext cx="1965960" cy="3218688"/>
          </a:xfrm>
          <a:prstGeom prst="rect">
            <a:avLst/>
          </a:prstGeom>
        </p:spPr>
      </p:pic>
      <p:sp>
        <p:nvSpPr>
          <p:cNvPr id="6" name="Text 3"/>
          <p:cNvSpPr/>
          <p:nvPr/>
        </p:nvSpPr>
        <p:spPr>
          <a:xfrm>
            <a:off x="868680" y="5577840"/>
            <a:ext cx="2093976" cy="310896"/>
          </a:xfrm>
          <a:prstGeom prst="rect">
            <a:avLst/>
          </a:prstGeom>
          <a:noFill/>
          <a:ln/>
        </p:spPr>
        <p:txBody>
          <a:bodyPr wrap="square" lIns="0" tIns="0" rIns="0" bIns="0" rtlCol="0" anchor="ctr"/>
          <a:lstStyle/>
          <a:p>
            <a:pPr algn="ctr" indent="0" marL="0">
              <a:buNone/>
            </a:pPr>
            <a:r>
              <a:rPr lang="en-US" sz="1250" b="1" dirty="0">
                <a:solidFill>
                  <a:srgbClr val="1D2733"/>
                </a:solidFill>
                <a:latin typeface="Segoe UI" pitchFamily="34" charset="0"/>
                <a:ea typeface="Segoe UI" pitchFamily="34" charset="-122"/>
                <a:cs typeface="Segoe UI" pitchFamily="34" charset="-120"/>
              </a:rPr>
              <a:t>Màn đặt giờ</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46120" y="2331720"/>
          <a:ext cx="7955280" cy="914400"/>
        </p:xfrm>
        <a:graphic>
          <a:graphicData uri="http://schemas.openxmlformats.org/drawingml/2006/table">
            <a:tbl>
              <a:tblPr/>
              <a:tblGrid>
                <a:gridCol w="2743200"/>
                <a:gridCol w="2880360"/>
                <a:gridCol w="2331720"/>
              </a:tblGrid>
              <a:tr h="566928">
                <a:tc>
                  <a:txBody>
                    <a:bodyPr/>
                    <a:lstStyle/>
                    <a:p>
                      <a:pPr indent="0" marL="0">
                        <a:buNone/>
                      </a:pPr>
                      <a:r>
                        <a:rPr lang="en-US" sz="1400" b="1" dirty="0">
                          <a:solidFill>
                            <a:srgbClr val="1D2733"/>
                          </a:solidFill>
                          <a:latin typeface="Segoe UI" pitchFamily="34" charset="0"/>
                          <a:ea typeface="Segoe UI" pitchFamily="34" charset="-122"/>
                          <a:cs typeface="Segoe UI" pitchFamily="34" charset="-120"/>
                        </a:rPr>
                        <a:t>Máy viết ra</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indent="0" marL="0">
                        <a:buNone/>
                      </a:pPr>
                      <a:r>
                        <a:rPr lang="en-US" sz="1400" b="1" dirty="0">
                          <a:solidFill>
                            <a:srgbClr val="1D2733"/>
                          </a:solidFill>
                          <a:latin typeface="Segoe UI" pitchFamily="34" charset="0"/>
                          <a:ea typeface="Segoe UI" pitchFamily="34" charset="-122"/>
                          <a:cs typeface="Segoe UI" pitchFamily="34" charset="-120"/>
                        </a:rPr>
                        <a:t>Trên màn có nút này?</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algn="ctr" indent="0" marL="0">
                        <a:buNone/>
                      </a:pPr>
                      <a:r>
                        <a:rPr lang="en-US" sz="1400" b="1" dirty="0">
                          <a:solidFill>
                            <a:srgbClr val="1D2733"/>
                          </a:solidFill>
                          <a:latin typeface="Segoe UI" pitchFamily="34" charset="0"/>
                          <a:ea typeface="Segoe UI" pitchFamily="34" charset="-122"/>
                          <a:cs typeface="Segoe UI" pitchFamily="34" charset="-120"/>
                        </a:rPr>
                        <a:t>Kết luận</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r>
              <a:tr h="566928">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Chọn giờ và phút</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Có (giờ, phút)</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400" b="1" dirty="0">
                          <a:solidFill>
                            <a:srgbClr val="1E6B43"/>
                          </a:solidFill>
                          <a:latin typeface="Segoe UI" pitchFamily="34" charset="0"/>
                          <a:ea typeface="Segoe UI" pitchFamily="34" charset="-122"/>
                          <a:cs typeface="Segoe UI" pitchFamily="34" charset="-120"/>
                        </a:rPr>
                        <a:t>hợp lệ</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566928">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Chọn “PM”</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Có (PM)</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400" b="1" dirty="0">
                          <a:solidFill>
                            <a:srgbClr val="1E6B43"/>
                          </a:solidFill>
                          <a:latin typeface="Segoe UI" pitchFamily="34" charset="0"/>
                          <a:ea typeface="Segoe UI" pitchFamily="34" charset="-122"/>
                          <a:cs typeface="Segoe UI" pitchFamily="34" charset="-120"/>
                        </a:rPr>
                        <a:t>hợp lệ</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566928">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Mở “Cài đặt”</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400" dirty="0">
                          <a:solidFill>
                            <a:srgbClr val="8B929B"/>
                          </a:solidFill>
                          <a:latin typeface="Segoe UI" pitchFamily="34" charset="0"/>
                          <a:ea typeface="Segoe UI" pitchFamily="34" charset="-122"/>
                          <a:cs typeface="Segoe UI" pitchFamily="34" charset="-120"/>
                        </a:rPr>
                        <a:t>Không có</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400" b="1" dirty="0">
                          <a:solidFill>
                            <a:srgbClr val="BE5A2E"/>
                          </a:solidFill>
                          <a:latin typeface="Segoe UI" pitchFamily="34" charset="0"/>
                          <a:ea typeface="Segoe UI" pitchFamily="34" charset="-122"/>
                          <a:cs typeface="Segoe UI" pitchFamily="34" charset="-120"/>
                        </a:rPr>
                        <a:t>nhắc nút không có thật</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bl>
          </a:graphicData>
        </a:graphic>
      </p:graphicFrame>
      <p:sp>
        <p:nvSpPr>
          <p:cNvPr id="8" name="Shape 4"/>
          <p:cNvSpPr/>
          <p:nvPr/>
        </p:nvSpPr>
        <p:spPr>
          <a:xfrm>
            <a:off x="3246120" y="4590288"/>
            <a:ext cx="7955280" cy="932688"/>
          </a:xfrm>
          <a:prstGeom prst="roundRect">
            <a:avLst>
              <a:gd name="adj" fmla="val 8824"/>
            </a:avLst>
          </a:prstGeom>
          <a:solidFill>
            <a:srgbClr val="F7EBE3"/>
          </a:solidFill>
          <a:ln/>
        </p:spPr>
      </p:sp>
      <p:sp>
        <p:nvSpPr>
          <p:cNvPr id="9" name="Text 5"/>
          <p:cNvSpPr/>
          <p:nvPr/>
        </p:nvSpPr>
        <p:spPr>
          <a:xfrm>
            <a:off x="3474720" y="4590288"/>
            <a:ext cx="7543800" cy="932688"/>
          </a:xfrm>
          <a:prstGeom prst="rect">
            <a:avLst/>
          </a:prstGeom>
          <a:noFill/>
          <a:ln/>
        </p:spPr>
        <p:txBody>
          <a:bodyPr wrap="square" lIns="0" tIns="0" rIns="0" bIns="0" rtlCol="0" anchor="ctr"/>
          <a:lstStyle/>
          <a:p>
            <a:pPr algn="l" indent="0" marL="0">
              <a:lnSpc>
                <a:spcPct val="122000"/>
              </a:lnSpc>
              <a:buNone/>
            </a:pPr>
            <a:r>
              <a:rPr lang="en-US" sz="1250" b="1" dirty="0">
                <a:solidFill>
                  <a:srgbClr val="BE5A2E"/>
                </a:solidFill>
                <a:latin typeface="Segoe UI" pitchFamily="34" charset="0"/>
                <a:ea typeface="Segoe UI" pitchFamily="34" charset="-122"/>
                <a:cs typeface="Segoe UI" pitchFamily="34" charset="-120"/>
              </a:rPr>
              <a:t>Lớp kiểm làm gì:  </a:t>
            </a:r>
            <a:pPr algn="l" indent="0" marL="0">
              <a:lnSpc>
                <a:spcPct val="122000"/>
              </a:lnSpc>
              <a:buNone/>
            </a:pPr>
            <a:r>
              <a:rPr lang="en-US" sz="1250" dirty="0">
                <a:solidFill>
                  <a:srgbClr val="1D2733"/>
                </a:solidFill>
                <a:latin typeface="Segoe UI" pitchFamily="34" charset="0"/>
                <a:ea typeface="Segoe UI" pitchFamily="34" charset="-122"/>
                <a:cs typeface="Segoe UI" pitchFamily="34" charset="-120"/>
              </a:rPr>
              <a:t>hạ bước sai “Mở Cài đặt” xuống mô tả bằng lời, các bước đúng giữ nguyên. Nó chặn việc chỉ vào nút không có thật — nhưng CHƯA bảo đảm bước đó là thao tác đúng (ở đây đúng ra là “Nhấn OK”); mức làm đúng thao tác được đo riêng bằng Step-SR, nơi có đáp án mẫu (nhánh nhiều màn).</a:t>
            </a:r>
            <a:endParaRPr lang="en-US" sz="1250" dirty="0"/>
          </a:p>
        </p:txBody>
      </p:sp>
      <p:sp>
        <p:nvSpPr>
          <p:cNvPr id="10" name="Shape 6"/>
          <p:cNvSpPr/>
          <p:nvPr/>
        </p:nvSpPr>
        <p:spPr>
          <a:xfrm>
            <a:off x="3246120" y="5623560"/>
            <a:ext cx="7955280" cy="713232"/>
          </a:xfrm>
          <a:prstGeom prst="roundRect">
            <a:avLst>
              <a:gd name="adj" fmla="val 11538"/>
            </a:avLst>
          </a:prstGeom>
          <a:solidFill>
            <a:srgbClr val="17233B"/>
          </a:solidFill>
          <a:ln/>
        </p:spPr>
      </p:sp>
      <p:sp>
        <p:nvSpPr>
          <p:cNvPr id="11" name="Text 7"/>
          <p:cNvSpPr/>
          <p:nvPr/>
        </p:nvSpPr>
        <p:spPr>
          <a:xfrm>
            <a:off x="3474720" y="5623560"/>
            <a:ext cx="7498080" cy="713232"/>
          </a:xfrm>
          <a:prstGeom prst="rect">
            <a:avLst/>
          </a:prstGeom>
          <a:noFill/>
          <a:ln/>
        </p:spPr>
        <p:txBody>
          <a:bodyPr wrap="square" lIns="0" tIns="0" rIns="0" bIns="0" rtlCol="0" anchor="ctr"/>
          <a:lstStyle/>
          <a:p>
            <a:pPr algn="l" indent="0" marL="0">
              <a:lnSpc>
                <a:spcPct val="118000"/>
              </a:lnSpc>
              <a:buNone/>
            </a:pPr>
            <a:r>
              <a:rPr lang="en-US" sz="1200" b="1" dirty="0">
                <a:solidFill>
                  <a:srgbClr val="E4A986"/>
                </a:solidFill>
                <a:latin typeface="Segoe UI" pitchFamily="34" charset="0"/>
                <a:ea typeface="Segoe UI" pitchFamily="34" charset="-122"/>
                <a:cs typeface="Segoe UI" pitchFamily="34" charset="-120"/>
              </a:rPr>
              <a:t>Vì sao KHÔNG đoán nút gần nhất?  </a:t>
            </a:r>
            <a:pPr algn="l" indent="0" marL="0">
              <a:lnSpc>
                <a:spcPct val="118000"/>
              </a:lnSpc>
              <a:buNone/>
            </a:pPr>
            <a:r>
              <a:rPr lang="en-US" sz="1200" dirty="0">
                <a:solidFill>
                  <a:srgbClr val="D6DBE2"/>
                </a:solidFill>
                <a:latin typeface="Segoe UI" pitchFamily="34" charset="0"/>
                <a:ea typeface="Segoe UI" pitchFamily="34" charset="-122"/>
                <a:cs typeface="Segoe UI" pitchFamily="34" charset="-120"/>
              </a:rPr>
              <a:t>thay nút bịa bằng một nút thật nhưng sai việc (kiểu Submit→Save) sẽ khiến người dùng bấm nhầm mà không hay — lỗi âm thầm.</a:t>
            </a:r>
            <a:endParaRPr lang="en-US" sz="1200" dirty="0"/>
          </a:p>
        </p:txBody>
      </p:sp>
      <p:sp>
        <p:nvSpPr>
          <p:cNvPr id="12" name="Text 8"/>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CÁCH LÀM · NHIỀU MÀN</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Sắp lại đúng thứ tự bằng cách so từng cặp</a:t>
            </a:r>
            <a:endParaRPr lang="en-US" sz="2800" dirty="0"/>
          </a:p>
        </p:txBody>
      </p:sp>
      <p:sp>
        <p:nvSpPr>
          <p:cNvPr id="4" name="Text 2"/>
          <p:cNvSpPr/>
          <p:nvPr/>
        </p:nvSpPr>
        <p:spPr>
          <a:xfrm>
            <a:off x="841248" y="2011680"/>
            <a:ext cx="10332720" cy="548640"/>
          </a:xfrm>
          <a:prstGeom prst="rect">
            <a:avLst/>
          </a:prstGeom>
          <a:noFill/>
          <a:ln/>
        </p:spPr>
        <p:txBody>
          <a:bodyPr wrap="square" lIns="0" tIns="0" rIns="0" bIns="0" rtlCol="0" anchor="t"/>
          <a:lstStyle/>
          <a:p>
            <a:pPr algn="l" indent="0" marL="0">
              <a:lnSpc>
                <a:spcPct val="125000"/>
              </a:lnSpc>
              <a:buNone/>
            </a:pPr>
            <a:r>
              <a:rPr lang="en-US" sz="1550" dirty="0">
                <a:solidFill>
                  <a:srgbClr val="454C55"/>
                </a:solidFill>
                <a:latin typeface="Segoe UI" pitchFamily="34" charset="0"/>
                <a:ea typeface="Segoe UI" pitchFamily="34" charset="-122"/>
                <a:cs typeface="Segoe UI" pitchFamily="34" charset="-120"/>
              </a:rPr>
              <a:t>Nhiều ảnh đưa vào bị xáo trộn. Trước khi viết hướng dẫn, hệ phải sắp lại đúng thứ tự các màn — làm theo bốn bước:</a:t>
            </a:r>
            <a:endParaRPr lang="en-US" sz="1550" dirty="0"/>
          </a:p>
        </p:txBody>
      </p:sp>
      <p:sp>
        <p:nvSpPr>
          <p:cNvPr id="5" name="Shape 3"/>
          <p:cNvSpPr/>
          <p:nvPr/>
        </p:nvSpPr>
        <p:spPr>
          <a:xfrm>
            <a:off x="914400" y="2633472"/>
            <a:ext cx="1545336" cy="2724912"/>
          </a:xfrm>
          <a:prstGeom prst="roundRect">
            <a:avLst>
              <a:gd name="adj" fmla="val 4142"/>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6" name="Image 0" descr="_img/ac_o1.png">    </p:cNvPr>
          <p:cNvPicPr>
            <a:picLocks noChangeAspect="1"/>
          </p:cNvPicPr>
          <p:nvPr/>
        </p:nvPicPr>
        <p:blipFill>
          <a:blip r:embed="rId1"/>
          <a:srcRect l="0" r="0" t="0" b="0"/>
          <a:stretch/>
        </p:blipFill>
        <p:spPr>
          <a:xfrm>
            <a:off x="978408" y="2697480"/>
            <a:ext cx="1417320" cy="2286000"/>
          </a:xfrm>
          <a:prstGeom prst="rect">
            <a:avLst/>
          </a:prstGeom>
        </p:spPr>
      </p:pic>
      <p:sp>
        <p:nvSpPr>
          <p:cNvPr id="7" name="Text 4"/>
          <p:cNvSpPr/>
          <p:nvPr/>
        </p:nvSpPr>
        <p:spPr>
          <a:xfrm>
            <a:off x="914400" y="5010912"/>
            <a:ext cx="1545336" cy="310896"/>
          </a:xfrm>
          <a:prstGeom prst="rect">
            <a:avLst/>
          </a:prstGeom>
          <a:noFill/>
          <a:ln/>
        </p:spPr>
        <p:txBody>
          <a:bodyPr wrap="square" lIns="0" tIns="0" rIns="0" bIns="0" rtlCol="0" anchor="ctr"/>
          <a:lstStyle/>
          <a:p>
            <a:pPr algn="ctr" indent="0" marL="0">
              <a:buNone/>
            </a:pPr>
            <a:r>
              <a:rPr lang="en-US" sz="1250" b="1" dirty="0">
                <a:solidFill>
                  <a:srgbClr val="1D2733"/>
                </a:solidFill>
                <a:latin typeface="Segoe UI" pitchFamily="34" charset="0"/>
                <a:ea typeface="Segoe UI" pitchFamily="34" charset="-122"/>
                <a:cs typeface="Segoe UI" pitchFamily="34" charset="-120"/>
              </a:rPr>
              <a:t>Màn A</a:t>
            </a:r>
            <a:endParaRPr lang="en-US" sz="1250" dirty="0"/>
          </a:p>
        </p:txBody>
      </p:sp>
      <p:sp>
        <p:nvSpPr>
          <p:cNvPr id="8" name="Shape 5"/>
          <p:cNvSpPr/>
          <p:nvPr/>
        </p:nvSpPr>
        <p:spPr>
          <a:xfrm>
            <a:off x="2459736" y="3840480"/>
            <a:ext cx="256032" cy="0"/>
          </a:xfrm>
          <a:prstGeom prst="line">
            <a:avLst/>
          </a:prstGeom>
          <a:noFill/>
          <a:ln w="31750">
            <a:solidFill>
              <a:srgbClr val="52657A"/>
            </a:solidFill>
            <a:prstDash val="solid"/>
            <a:tailEnd type="triangle"/>
          </a:ln>
        </p:spPr>
      </p:sp>
      <p:sp>
        <p:nvSpPr>
          <p:cNvPr id="9" name="Shape 6"/>
          <p:cNvSpPr/>
          <p:nvPr/>
        </p:nvSpPr>
        <p:spPr>
          <a:xfrm>
            <a:off x="2697480" y="2633472"/>
            <a:ext cx="1545336" cy="2724912"/>
          </a:xfrm>
          <a:prstGeom prst="roundRect">
            <a:avLst>
              <a:gd name="adj" fmla="val 4142"/>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10" name="Image 1" descr="_img/ac_o2.png">    </p:cNvPr>
          <p:cNvPicPr>
            <a:picLocks noChangeAspect="1"/>
          </p:cNvPicPr>
          <p:nvPr/>
        </p:nvPicPr>
        <p:blipFill>
          <a:blip r:embed="rId2"/>
          <a:srcRect l="0" r="0" t="0" b="0"/>
          <a:stretch/>
        </p:blipFill>
        <p:spPr>
          <a:xfrm>
            <a:off x="2761488" y="2697480"/>
            <a:ext cx="1417320" cy="2286000"/>
          </a:xfrm>
          <a:prstGeom prst="rect">
            <a:avLst/>
          </a:prstGeom>
        </p:spPr>
      </p:pic>
      <p:sp>
        <p:nvSpPr>
          <p:cNvPr id="11" name="Text 7"/>
          <p:cNvSpPr/>
          <p:nvPr/>
        </p:nvSpPr>
        <p:spPr>
          <a:xfrm>
            <a:off x="2697480" y="5010912"/>
            <a:ext cx="1545336" cy="310896"/>
          </a:xfrm>
          <a:prstGeom prst="rect">
            <a:avLst/>
          </a:prstGeom>
          <a:noFill/>
          <a:ln/>
        </p:spPr>
        <p:txBody>
          <a:bodyPr wrap="square" lIns="0" tIns="0" rIns="0" bIns="0" rtlCol="0" anchor="ctr"/>
          <a:lstStyle/>
          <a:p>
            <a:pPr algn="ctr" indent="0" marL="0">
              <a:buNone/>
            </a:pPr>
            <a:r>
              <a:rPr lang="en-US" sz="1250" b="1" dirty="0">
                <a:solidFill>
                  <a:srgbClr val="1D2733"/>
                </a:solidFill>
                <a:latin typeface="Segoe UI" pitchFamily="34" charset="0"/>
                <a:ea typeface="Segoe UI" pitchFamily="34" charset="-122"/>
                <a:cs typeface="Segoe UI" pitchFamily="34" charset="-120"/>
              </a:rPr>
              <a:t>Màn B</a:t>
            </a:r>
            <a:endParaRPr lang="en-US" sz="1250" dirty="0"/>
          </a:p>
        </p:txBody>
      </p:sp>
      <p:sp>
        <p:nvSpPr>
          <p:cNvPr id="12" name="Shape 8"/>
          <p:cNvSpPr/>
          <p:nvPr/>
        </p:nvSpPr>
        <p:spPr>
          <a:xfrm>
            <a:off x="4242816" y="3840480"/>
            <a:ext cx="256032" cy="0"/>
          </a:xfrm>
          <a:prstGeom prst="line">
            <a:avLst/>
          </a:prstGeom>
          <a:noFill/>
          <a:ln w="31750">
            <a:solidFill>
              <a:srgbClr val="52657A"/>
            </a:solidFill>
            <a:prstDash val="solid"/>
            <a:tailEnd type="triangle"/>
          </a:ln>
        </p:spPr>
      </p:sp>
      <p:sp>
        <p:nvSpPr>
          <p:cNvPr id="13" name="Shape 9"/>
          <p:cNvSpPr/>
          <p:nvPr/>
        </p:nvSpPr>
        <p:spPr>
          <a:xfrm>
            <a:off x="4480560" y="2633472"/>
            <a:ext cx="1545336" cy="2724912"/>
          </a:xfrm>
          <a:prstGeom prst="roundRect">
            <a:avLst>
              <a:gd name="adj" fmla="val 4142"/>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14" name="Image 2" descr="_img/ac_o3.png">    </p:cNvPr>
          <p:cNvPicPr>
            <a:picLocks noChangeAspect="1"/>
          </p:cNvPicPr>
          <p:nvPr/>
        </p:nvPicPr>
        <p:blipFill>
          <a:blip r:embed="rId3"/>
          <a:srcRect l="0" r="0" t="0" b="0"/>
          <a:stretch/>
        </p:blipFill>
        <p:spPr>
          <a:xfrm>
            <a:off x="4544568" y="2697480"/>
            <a:ext cx="1417320" cy="2286000"/>
          </a:xfrm>
          <a:prstGeom prst="rect">
            <a:avLst/>
          </a:prstGeom>
        </p:spPr>
      </p:pic>
      <p:sp>
        <p:nvSpPr>
          <p:cNvPr id="15" name="Text 10"/>
          <p:cNvSpPr/>
          <p:nvPr/>
        </p:nvSpPr>
        <p:spPr>
          <a:xfrm>
            <a:off x="4480560" y="5010912"/>
            <a:ext cx="1545336" cy="310896"/>
          </a:xfrm>
          <a:prstGeom prst="rect">
            <a:avLst/>
          </a:prstGeom>
          <a:noFill/>
          <a:ln/>
        </p:spPr>
        <p:txBody>
          <a:bodyPr wrap="square" lIns="0" tIns="0" rIns="0" bIns="0" rtlCol="0" anchor="ctr"/>
          <a:lstStyle/>
          <a:p>
            <a:pPr algn="ctr" indent="0" marL="0">
              <a:buNone/>
            </a:pPr>
            <a:r>
              <a:rPr lang="en-US" sz="1250" b="1" dirty="0">
                <a:solidFill>
                  <a:srgbClr val="1D2733"/>
                </a:solidFill>
                <a:latin typeface="Segoe UI" pitchFamily="34" charset="0"/>
                <a:ea typeface="Segoe UI" pitchFamily="34" charset="-122"/>
                <a:cs typeface="Segoe UI" pitchFamily="34" charset="-120"/>
              </a:rPr>
              <a:t>Màn C</a:t>
            </a:r>
            <a:endParaRPr lang="en-US" sz="1250" dirty="0"/>
          </a:p>
        </p:txBody>
      </p:sp>
      <p:sp>
        <p:nvSpPr>
          <p:cNvPr id="16" name="Shape 11"/>
          <p:cNvSpPr/>
          <p:nvPr/>
        </p:nvSpPr>
        <p:spPr>
          <a:xfrm>
            <a:off x="6400800" y="2697480"/>
            <a:ext cx="4937760" cy="2880360"/>
          </a:xfrm>
          <a:prstGeom prst="roundRect">
            <a:avLst>
              <a:gd name="adj" fmla="val 3175"/>
            </a:avLst>
          </a:prstGeom>
          <a:solidFill>
            <a:srgbClr val="F3F5F7"/>
          </a:solidFill>
          <a:ln/>
        </p:spPr>
      </p:sp>
      <p:sp>
        <p:nvSpPr>
          <p:cNvPr id="17" name="Text 12"/>
          <p:cNvSpPr/>
          <p:nvPr/>
        </p:nvSpPr>
        <p:spPr>
          <a:xfrm>
            <a:off x="6675120" y="2880360"/>
            <a:ext cx="4434840" cy="2606040"/>
          </a:xfrm>
          <a:prstGeom prst="rect">
            <a:avLst/>
          </a:prstGeom>
          <a:noFill/>
          <a:ln/>
        </p:spPr>
        <p:txBody>
          <a:bodyPr wrap="square" lIns="0" tIns="0" rIns="0" bIns="0" rtlCol="0" anchor="t"/>
          <a:lstStyle/>
          <a:p>
            <a:pPr algn="l" indent="0" marL="0">
              <a:lnSpc>
                <a:spcPct val="128000"/>
              </a:lnSpc>
              <a:buNone/>
            </a:pPr>
            <a:r>
              <a:rPr lang="en-US" sz="1300" b="1" dirty="0">
                <a:solidFill>
                  <a:srgbClr val="BE5A2E"/>
                </a:solidFill>
                <a:latin typeface="Segoe UI" pitchFamily="34" charset="0"/>
                <a:ea typeface="Segoe UI" pitchFamily="34" charset="-122"/>
                <a:cs typeface="Segoe UI" pitchFamily="34" charset="-120"/>
              </a:rPr>
              <a:t>①  Hỏi từng cặp:  </a:t>
            </a:r>
            <a:pPr algn="l" indent="0" marL="0">
              <a:lnSpc>
                <a:spcPct val="128000"/>
              </a:lnSpc>
              <a:buNone/>
            </a:pPr>
            <a:r>
              <a:rPr lang="en-US" sz="1300" dirty="0">
                <a:solidFill>
                  <a:srgbClr val="1D2733"/>
                </a:solidFill>
                <a:latin typeface="Segoe UI" pitchFamily="34" charset="0"/>
                <a:ea typeface="Segoe UI" pitchFamily="34" charset="-122"/>
                <a:cs typeface="Segoe UI" pitchFamily="34" charset="-120"/>
              </a:rPr>
              <a:t>“màn nào đến trước?”
</a:t>
            </a:r>
            <a:pPr algn="l" indent="0" marL="0">
              <a:lnSpc>
                <a:spcPct val="128000"/>
              </a:lnSpc>
              <a:buNone/>
            </a:pPr>
            <a:r>
              <a:rPr lang="en-US" sz="1300" b="1" dirty="0">
                <a:solidFill>
                  <a:srgbClr val="BE5A2E"/>
                </a:solidFill>
                <a:latin typeface="Segoe UI" pitchFamily="34" charset="0"/>
                <a:ea typeface="Segoe UI" pitchFamily="34" charset="-122"/>
                <a:cs typeface="Segoe UI" pitchFamily="34" charset="-120"/>
              </a:rPr>
              <a:t>②  Đếm phiếu, </a:t>
            </a:r>
            <a:pPr algn="l" indent="0" marL="0">
              <a:lnSpc>
                <a:spcPct val="128000"/>
              </a:lnSpc>
              <a:buNone/>
            </a:pPr>
            <a:r>
              <a:rPr lang="en-US" sz="1300" dirty="0">
                <a:solidFill>
                  <a:srgbClr val="1D2733"/>
                </a:solidFill>
                <a:latin typeface="Segoe UI" pitchFamily="34" charset="0"/>
                <a:ea typeface="Segoe UI" pitchFamily="34" charset="-122"/>
                <a:cs typeface="Segoe UI" pitchFamily="34" charset="-120"/>
              </a:rPr>
              <a:t>màn thắng nhiều cặp xếp trước:
     A thắng 2, B thắng 1, C thắng 0
     nên thứ tự là  A, B, C
</a:t>
            </a:r>
            <a:pPr algn="l" indent="0" marL="0">
              <a:lnSpc>
                <a:spcPct val="128000"/>
              </a:lnSpc>
              <a:buNone/>
            </a:pPr>
            <a:r>
              <a:rPr lang="en-US" sz="1300" b="1" dirty="0">
                <a:solidFill>
                  <a:srgbClr val="BE5A2E"/>
                </a:solidFill>
                <a:latin typeface="Segoe UI" pitchFamily="34" charset="0"/>
                <a:ea typeface="Segoe UI" pitchFamily="34" charset="-122"/>
                <a:cs typeface="Segoe UI" pitchFamily="34" charset="-120"/>
              </a:rPr>
              <a:t>③  Gỡ vòng </a:t>
            </a:r>
            <a:pPr algn="l" indent="0" marL="0">
              <a:lnSpc>
                <a:spcPct val="128000"/>
              </a:lnSpc>
              <a:buNone/>
            </a:pPr>
            <a:r>
              <a:rPr lang="en-US" sz="1300" dirty="0">
                <a:solidFill>
                  <a:srgbClr val="1D2733"/>
                </a:solidFill>
                <a:latin typeface="Segoe UI" pitchFamily="34" charset="0"/>
                <a:ea typeface="Segoe UI" pitchFamily="34" charset="-122"/>
                <a:cs typeface="Segoe UI" pitchFamily="34" charset="-120"/>
              </a:rPr>
              <a:t>nếu các phán đoán mâu thuẫn nhau
</a:t>
            </a:r>
            <a:pPr algn="l" indent="0" marL="0">
              <a:lnSpc>
                <a:spcPct val="128000"/>
              </a:lnSpc>
              <a:buNone/>
            </a:pPr>
            <a:r>
              <a:rPr lang="en-US" sz="1300" b="1" dirty="0">
                <a:solidFill>
                  <a:srgbClr val="BE5A2E"/>
                </a:solidFill>
                <a:latin typeface="Segoe UI" pitchFamily="34" charset="0"/>
                <a:ea typeface="Segoe UI" pitchFamily="34" charset="-122"/>
                <a:cs typeface="Segoe UI" pitchFamily="34" charset="-120"/>
              </a:rPr>
              <a:t>④  Có thứ tự rồi, </a:t>
            </a:r>
            <a:pPr algn="l" indent="0" marL="0">
              <a:lnSpc>
                <a:spcPct val="128000"/>
              </a:lnSpc>
              <a:buNone/>
            </a:pPr>
            <a:r>
              <a:rPr lang="en-US" sz="1300" dirty="0">
                <a:solidFill>
                  <a:srgbClr val="1D2733"/>
                </a:solidFill>
                <a:latin typeface="Segoe UI" pitchFamily="34" charset="0"/>
                <a:ea typeface="Segoe UI" pitchFamily="34" charset="-122"/>
                <a:cs typeface="Segoe UI" pitchFamily="34" charset="-120"/>
              </a:rPr>
              <a:t>viết hướng dẫn cho từng màn (chạy đúng nhánh một màn)</a:t>
            </a:r>
            <a:endParaRPr lang="en-US" sz="1300" dirty="0"/>
          </a:p>
        </p:txBody>
      </p:sp>
      <p:sp>
        <p:nvSpPr>
          <p:cNvPr id="18" name="Text 13"/>
          <p:cNvSpPr/>
          <p:nvPr/>
        </p:nvSpPr>
        <p:spPr>
          <a:xfrm>
            <a:off x="841248" y="5806440"/>
            <a:ext cx="10515600" cy="457200"/>
          </a:xfrm>
          <a:prstGeom prst="rect">
            <a:avLst/>
          </a:prstGeom>
          <a:noFill/>
          <a:ln/>
        </p:spPr>
        <p:txBody>
          <a:bodyPr wrap="square" lIns="0" tIns="0" rIns="0" bIns="0" rtlCol="0" anchor="t"/>
          <a:lstStyle/>
          <a:p>
            <a:pPr algn="l" indent="0" marL="0">
              <a:lnSpc>
                <a:spcPct val="120000"/>
              </a:lnSpc>
              <a:buNone/>
            </a:pPr>
            <a:r>
              <a:rPr lang="en-US" sz="1200" dirty="0">
                <a:solidFill>
                  <a:srgbClr val="454C55"/>
                </a:solidFill>
                <a:latin typeface="Segoe UI" pitchFamily="34" charset="0"/>
                <a:ea typeface="Segoe UI" pitchFamily="34" charset="-122"/>
                <a:cs typeface="Segoe UI" pitchFamily="34" charset="-120"/>
              </a:rPr>
              <a:t>Ở bước ③, khi các phán đoán cắn đuôi nhau (A trước B, B trước C, nhưng C lại trước A), hệ bỏ đi ít phán đoán nhất để hết vòng — chọn phán đoán kém ổn định nhất khi hỏi lại, không dựa vào độ tự tin của mô hình.</a:t>
            </a:r>
            <a:endParaRPr lang="en-US" sz="1200" dirty="0"/>
          </a:p>
        </p:txBody>
      </p:sp>
      <p:sp>
        <p:nvSpPr>
          <p:cNvPr id="19" name="Text 14"/>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so cặp — Qin (NAACL 2024) · gộp phiếu Copeland (Saari &amp; Merlin 1996) trong khung rank-aggregation của Dwork et al. (WWW 2001) · gỡ vòng min-FAS — Ailon et al. (JACM 2008).</a:t>
            </a:r>
            <a:endParaRPr lang="en-US" sz="1000" dirty="0"/>
          </a:p>
        </p:txBody>
      </p:sp>
      <p:sp>
        <p:nvSpPr>
          <p:cNvPr id="20" name="Text 15"/>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CÓ GÌ MỚI</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Công cụ thì có sẵn — cái mới là cách ghép và những gì tìm ra</a:t>
            </a:r>
            <a:endParaRPr lang="en-US" sz="2800" dirty="0"/>
          </a:p>
        </p:txBody>
      </p:sp>
      <p:sp>
        <p:nvSpPr>
          <p:cNvPr id="4" name="Shape 2"/>
          <p:cNvSpPr/>
          <p:nvPr/>
        </p:nvSpPr>
        <p:spPr>
          <a:xfrm>
            <a:off x="841248" y="2194560"/>
            <a:ext cx="4434840" cy="3886200"/>
          </a:xfrm>
          <a:prstGeom prst="roundRect">
            <a:avLst>
              <a:gd name="adj" fmla="val 2353"/>
            </a:avLst>
          </a:prstGeom>
          <a:solidFill>
            <a:srgbClr val="F3F5F7"/>
          </a:solidFill>
          <a:ln/>
        </p:spPr>
      </p:sp>
      <p:sp>
        <p:nvSpPr>
          <p:cNvPr id="5" name="Text 3"/>
          <p:cNvSpPr/>
          <p:nvPr/>
        </p:nvSpPr>
        <p:spPr>
          <a:xfrm>
            <a:off x="1133856" y="2377440"/>
            <a:ext cx="3931920" cy="320040"/>
          </a:xfrm>
          <a:prstGeom prst="rect">
            <a:avLst/>
          </a:prstGeom>
          <a:noFill/>
          <a:ln/>
        </p:spPr>
        <p:txBody>
          <a:bodyPr wrap="square" lIns="0" tIns="0" rIns="0" bIns="0" rtlCol="0" anchor="t"/>
          <a:lstStyle/>
          <a:p>
            <a:pPr algn="l" indent="0" marL="0">
              <a:buNone/>
            </a:pPr>
            <a:r>
              <a:rPr lang="en-US" sz="1400" b="1" dirty="0">
                <a:solidFill>
                  <a:srgbClr val="52657A"/>
                </a:solidFill>
                <a:latin typeface="Cambria" pitchFamily="34" charset="0"/>
                <a:ea typeface="Cambria" pitchFamily="34" charset="-122"/>
                <a:cs typeface="Cambria" pitchFamily="34" charset="-120"/>
              </a:rPr>
              <a:t>Thừa nhận: các công cụ đã có sẵn</a:t>
            </a:r>
            <a:endParaRPr lang="en-US" sz="1400" dirty="0"/>
          </a:p>
        </p:txBody>
      </p:sp>
      <p:sp>
        <p:nvSpPr>
          <p:cNvPr id="6" name="Text 4"/>
          <p:cNvSpPr/>
          <p:nvPr/>
        </p:nvSpPr>
        <p:spPr>
          <a:xfrm>
            <a:off x="1133856" y="2880360"/>
            <a:ext cx="3977640" cy="3017520"/>
          </a:xfrm>
          <a:prstGeom prst="rect">
            <a:avLst/>
          </a:prstGeom>
          <a:noFill/>
          <a:ln/>
        </p:spPr>
        <p:txBody>
          <a:bodyPr wrap="square" lIns="0" tIns="0" rIns="0" bIns="0" rtlCol="0" anchor="t"/>
          <a:lstStyle/>
          <a:p>
            <a:pPr algn="l" indent="0" marL="0">
              <a:lnSpc>
                <a:spcPct val="165000"/>
              </a:lnSpc>
              <a:buNone/>
            </a:pPr>
            <a:r>
              <a:rPr lang="en-US" sz="1300" dirty="0">
                <a:solidFill>
                  <a:srgbClr val="454C55"/>
                </a:solidFill>
                <a:latin typeface="Segoe UI" pitchFamily="34" charset="0"/>
                <a:ea typeface="Segoe UI" pitchFamily="34" charset="-122"/>
                <a:cs typeface="Segoe UI" pitchFamily="34" charset="-120"/>
              </a:rPr>
              <a:t>·  So cặp để xếp hạng — Qin 2024</a:t>
            </a:r>
            <a:endParaRPr lang="en-US" sz="1300" dirty="0"/>
          </a:p>
          <a:p>
            <a:pPr algn="l" indent="0" marL="0">
              <a:lnSpc>
                <a:spcPct val="165000"/>
              </a:lnSpc>
              <a:buNone/>
            </a:pPr>
            <a:r>
              <a:rPr lang="en-US" sz="1300" dirty="0">
                <a:solidFill>
                  <a:srgbClr val="454C55"/>
                </a:solidFill>
                <a:latin typeface="Segoe UI" pitchFamily="34" charset="0"/>
                <a:ea typeface="Segoe UI" pitchFamily="34" charset="-122"/>
                <a:cs typeface="Segoe UI" pitchFamily="34" charset="-120"/>
              </a:rPr>
              <a:t>·  Gộp phiếu Copeland — Saari–Merlin 1996 (khung Dwork 2001)</a:t>
            </a:r>
            <a:endParaRPr lang="en-US" sz="1300" dirty="0"/>
          </a:p>
          <a:p>
            <a:pPr algn="l" indent="0" marL="0">
              <a:lnSpc>
                <a:spcPct val="165000"/>
              </a:lnSpc>
              <a:buNone/>
            </a:pPr>
            <a:r>
              <a:rPr lang="en-US" sz="1300" dirty="0">
                <a:solidFill>
                  <a:srgbClr val="454C55"/>
                </a:solidFill>
                <a:latin typeface="Segoe UI" pitchFamily="34" charset="0"/>
                <a:ea typeface="Segoe UI" pitchFamily="34" charset="-122"/>
                <a:cs typeface="Segoe UI" pitchFamily="34" charset="-120"/>
              </a:rPr>
              <a:t>·  Gỡ vòng min-FAS — Ailon 2008</a:t>
            </a:r>
            <a:endParaRPr lang="en-US" sz="1300" dirty="0"/>
          </a:p>
          <a:p>
            <a:pPr algn="l" indent="0" marL="0">
              <a:lnSpc>
                <a:spcPct val="165000"/>
              </a:lnSpc>
              <a:buNone/>
            </a:pPr>
            <a:r>
              <a:rPr lang="en-US" sz="1300" dirty="0">
                <a:solidFill>
                  <a:srgbClr val="454C55"/>
                </a:solidFill>
                <a:latin typeface="Segoe UI" pitchFamily="34" charset="0"/>
                <a:ea typeface="Segoe UI" pitchFamily="34" charset="-122"/>
                <a:cs typeface="Segoe UI" pitchFamily="34" charset="-120"/>
              </a:rPr>
              <a:t>·  Khớp tên nút theo nghĩa — ALOHa 2024</a:t>
            </a:r>
            <a:endParaRPr lang="en-US" sz="1300" dirty="0"/>
          </a:p>
          <a:p>
            <a:pPr algn="l" indent="0" marL="0">
              <a:lnSpc>
                <a:spcPct val="165000"/>
              </a:lnSpc>
              <a:buNone/>
            </a:pPr>
            <a:r>
              <a:rPr lang="en-US" sz="1300" dirty="0">
                <a:solidFill>
                  <a:srgbClr val="454C55"/>
                </a:solidFill>
                <a:latin typeface="Segoe UI" pitchFamily="34" charset="0"/>
                <a:ea typeface="Segoe UI" pitchFamily="34" charset="-122"/>
                <a:cs typeface="Segoe UI" pitchFamily="34" charset="-120"/>
              </a:rPr>
              <a:t>·  Kiểm không cần mẫu — FaithScore 2024</a:t>
            </a:r>
            <a:endParaRPr lang="en-US" sz="1300" dirty="0"/>
          </a:p>
        </p:txBody>
      </p:sp>
      <p:sp>
        <p:nvSpPr>
          <p:cNvPr id="7" name="Shape 5"/>
          <p:cNvSpPr/>
          <p:nvPr/>
        </p:nvSpPr>
        <p:spPr>
          <a:xfrm>
            <a:off x="5532120" y="2194560"/>
            <a:ext cx="5815584" cy="3886200"/>
          </a:xfrm>
          <a:prstGeom prst="roundRect">
            <a:avLst>
              <a:gd name="adj" fmla="val 2353"/>
            </a:avLst>
          </a:prstGeom>
          <a:solidFill>
            <a:srgbClr val="F7EBE3"/>
          </a:solidFill>
          <a:ln/>
        </p:spPr>
      </p:sp>
      <p:sp>
        <p:nvSpPr>
          <p:cNvPr id="8" name="Text 6"/>
          <p:cNvSpPr/>
          <p:nvPr/>
        </p:nvSpPr>
        <p:spPr>
          <a:xfrm>
            <a:off x="5824728" y="2377440"/>
            <a:ext cx="5303520" cy="320040"/>
          </a:xfrm>
          <a:prstGeom prst="rect">
            <a:avLst/>
          </a:prstGeom>
          <a:noFill/>
          <a:ln/>
        </p:spPr>
        <p:txBody>
          <a:bodyPr wrap="square" lIns="0" tIns="0" rIns="0" bIns="0" rtlCol="0" anchor="t"/>
          <a:lstStyle/>
          <a:p>
            <a:pPr algn="l" indent="0" marL="0">
              <a:buNone/>
            </a:pPr>
            <a:r>
              <a:rPr lang="en-US" sz="1400" b="1" dirty="0">
                <a:solidFill>
                  <a:srgbClr val="BE5A2E"/>
                </a:solidFill>
                <a:latin typeface="Cambria" pitchFamily="34" charset="0"/>
                <a:ea typeface="Cambria" pitchFamily="34" charset="-122"/>
                <a:cs typeface="Cambria" pitchFamily="34" charset="-120"/>
              </a:rPr>
              <a:t>Mới ở luận văn này</a:t>
            </a:r>
            <a:endParaRPr lang="en-US" sz="1400" dirty="0"/>
          </a:p>
        </p:txBody>
      </p:sp>
      <p:sp>
        <p:nvSpPr>
          <p:cNvPr id="9" name="Text 7"/>
          <p:cNvSpPr/>
          <p:nvPr/>
        </p:nvSpPr>
        <p:spPr>
          <a:xfrm>
            <a:off x="5824728" y="2880360"/>
            <a:ext cx="5257800" cy="3017520"/>
          </a:xfrm>
          <a:prstGeom prst="rect">
            <a:avLst/>
          </a:prstGeom>
          <a:noFill/>
          <a:ln/>
        </p:spPr>
        <p:txBody>
          <a:bodyPr wrap="square" lIns="0" tIns="0" rIns="0" bIns="0" rtlCol="0" anchor="t"/>
          <a:lstStyle/>
          <a:p>
            <a:pPr algn="l" indent="0" marL="0">
              <a:lnSpc>
                <a:spcPct val="130000"/>
              </a:lnSpc>
              <a:buNone/>
            </a:pPr>
            <a:r>
              <a:rPr lang="en-US" sz="1250" b="1" dirty="0">
                <a:solidFill>
                  <a:srgbClr val="1D2733"/>
                </a:solidFill>
                <a:latin typeface="Segoe UI" pitchFamily="34" charset="0"/>
                <a:ea typeface="Segoe UI" pitchFamily="34" charset="-122"/>
                <a:cs typeface="Segoe UI" pitchFamily="34" charset="-120"/>
              </a:rPr>
              <a:t>①  Ghép việc chưa ai làm cùng lúc:  </a:t>
            </a:r>
            <a:pPr algn="l" indent="0" marL="0">
              <a:lnSpc>
                <a:spcPct val="130000"/>
              </a:lnSpc>
              <a:buNone/>
            </a:pPr>
            <a:r>
              <a:rPr lang="en-US" sz="1250" dirty="0">
                <a:solidFill>
                  <a:srgbClr val="454C55"/>
                </a:solidFill>
                <a:latin typeface="Segoe UI" pitchFamily="34" charset="0"/>
                <a:ea typeface="Segoe UI" pitchFamily="34" charset="-122"/>
                <a:cs typeface="Segoe UI" pitchFamily="34" charset="-120"/>
              </a:rPr>
              <a:t>viết hướng dẫn cho người từ ảnh giao diện, rồi đánh giá mà không cần đáp án mẫu, lấy danh sách nút thật làm mốc.
</a:t>
            </a:r>
            <a:pPr algn="l" indent="0" marL="0">
              <a:lnSpc>
                <a:spcPct val="130000"/>
              </a:lnSpc>
              <a:buNone/>
            </a:pPr>
            <a:r>
              <a:rPr lang="en-US" sz="1250" b="1" dirty="0">
                <a:solidFill>
                  <a:srgbClr val="1D2733"/>
                </a:solidFill>
                <a:latin typeface="Segoe UI" pitchFamily="34" charset="0"/>
                <a:ea typeface="Segoe UI" pitchFamily="34" charset="-122"/>
                <a:cs typeface="Segoe UI" pitchFamily="34" charset="-120"/>
              </a:rPr>
              <a:t>②  Những điều đo được:  </a:t>
            </a:r>
            <a:pPr algn="l" indent="0" marL="0">
              <a:lnSpc>
                <a:spcPct val="130000"/>
              </a:lnSpc>
              <a:buNone/>
            </a:pPr>
            <a:r>
              <a:rPr lang="en-US" sz="1250" dirty="0">
                <a:solidFill>
                  <a:srgbClr val="454C55"/>
                </a:solidFill>
                <a:latin typeface="Segoe UI" pitchFamily="34" charset="0"/>
                <a:ea typeface="Segoe UI" pitchFamily="34" charset="-122"/>
                <a:cs typeface="Segoe UI" pitchFamily="34" charset="-120"/>
              </a:rPr>
              <a:t>tỉ lệ nhắc sai thay đổi ra sao theo từng đời mô hình; và bằng chứng rằng cách đoán nút tạo lỗi âm thầm.
</a:t>
            </a:r>
            <a:pPr algn="l" indent="0" marL="0">
              <a:lnSpc>
                <a:spcPct val="130000"/>
              </a:lnSpc>
              <a:buNone/>
            </a:pPr>
            <a:r>
              <a:rPr lang="en-US" sz="1250" b="1" dirty="0">
                <a:solidFill>
                  <a:srgbClr val="1D2733"/>
                </a:solidFill>
                <a:latin typeface="Segoe UI" pitchFamily="34" charset="0"/>
                <a:ea typeface="Segoe UI" pitchFamily="34" charset="-122"/>
                <a:cs typeface="Segoe UI" pitchFamily="34" charset="-120"/>
              </a:rPr>
              <a:t>③  Mô hình dựa vào đâu để đoán thứ tự:  </a:t>
            </a:r>
            <a:pPr algn="l" indent="0" marL="0">
              <a:lnSpc>
                <a:spcPct val="130000"/>
              </a:lnSpc>
              <a:buNone/>
            </a:pPr>
            <a:r>
              <a:rPr lang="en-US" sz="1250" dirty="0">
                <a:solidFill>
                  <a:srgbClr val="454C55"/>
                </a:solidFill>
                <a:latin typeface="Segoe UI" pitchFamily="34" charset="0"/>
                <a:ea typeface="Segoe UI" pitchFamily="34" charset="-122"/>
                <a:cs typeface="Segoe UI" pitchFamily="34" charset="-120"/>
              </a:rPr>
              <a:t>tách riêng năm loại tín hiệu để xem mô hình dựa vào từng loại nhiều hay ít.
</a:t>
            </a:r>
            <a:pPr algn="l" indent="0" marL="0">
              <a:lnSpc>
                <a:spcPct val="130000"/>
              </a:lnSpc>
              <a:buNone/>
            </a:pPr>
            <a:r>
              <a:rPr lang="en-US" sz="1250" b="1" dirty="0">
                <a:solidFill>
                  <a:srgbClr val="1D2733"/>
                </a:solidFill>
                <a:latin typeface="Segoe UI" pitchFamily="34" charset="0"/>
                <a:ea typeface="Segoe UI" pitchFamily="34" charset="-122"/>
                <a:cs typeface="Segoe UI" pitchFamily="34" charset="-120"/>
              </a:rPr>
              <a:t>④  Cách chấm thứ tự công bằng:  </a:t>
            </a:r>
            <a:pPr algn="l" indent="0" marL="0">
              <a:lnSpc>
                <a:spcPct val="130000"/>
              </a:lnSpc>
              <a:buNone/>
            </a:pPr>
            <a:r>
              <a:rPr lang="en-US" sz="1250" dirty="0">
                <a:solidFill>
                  <a:srgbClr val="454C55"/>
                </a:solidFill>
                <a:latin typeface="Segoe UI" pitchFamily="34" charset="0"/>
                <a:ea typeface="Segoe UI" pitchFamily="34" charset="-122"/>
                <a:cs typeface="Segoe UI" pitchFamily="34" charset="-120"/>
              </a:rPr>
              <a:t>chỉ trừ điểm ở những cặp buộc phải đúng thứ tự, không trừ ở cặp làm trước sau đều được.</a:t>
            </a:r>
            <a:endParaRPr lang="en-US" sz="1250" dirty="0"/>
          </a:p>
        </p:txBody>
      </p:sp>
      <p:sp>
        <p:nvSpPr>
          <p:cNvPr id="10" name="Text 8"/>
          <p:cNvSpPr/>
          <p:nvPr/>
        </p:nvSpPr>
        <p:spPr>
          <a:xfrm>
            <a:off x="841248" y="6199632"/>
            <a:ext cx="10515600" cy="320040"/>
          </a:xfrm>
          <a:prstGeom prst="rect">
            <a:avLst/>
          </a:prstGeom>
          <a:noFill/>
          <a:ln/>
        </p:spPr>
        <p:txBody>
          <a:bodyPr wrap="square" lIns="0" tIns="0" rIns="0" bIns="0" rtlCol="0" anchor="t"/>
          <a:lstStyle/>
          <a:p>
            <a:pPr algn="l" indent="0" marL="0">
              <a:buNone/>
            </a:pPr>
            <a:r>
              <a:rPr lang="en-US" sz="1300" b="1" dirty="0">
                <a:solidFill>
                  <a:srgbClr val="1D2733"/>
                </a:solidFill>
                <a:latin typeface="Segoe UI" pitchFamily="34" charset="0"/>
                <a:ea typeface="Segoe UI" pitchFamily="34" charset="-122"/>
                <a:cs typeface="Segoe UI" pitchFamily="34" charset="-120"/>
              </a:rPr>
              <a:t>Cái mới không nằm ở thuật toán lõi, </a:t>
            </a:r>
            <a:pPr algn="l" indent="0" marL="0">
              <a:buNone/>
            </a:pPr>
            <a:r>
              <a:rPr lang="en-US" sz="1300" dirty="0">
                <a:solidFill>
                  <a:srgbClr val="454C55"/>
                </a:solidFill>
                <a:latin typeface="Segoe UI" pitchFamily="34" charset="0"/>
                <a:ea typeface="Segoe UI" pitchFamily="34" charset="-122"/>
                <a:cs typeface="Segoe UI" pitchFamily="34" charset="-120"/>
              </a:rPr>
              <a:t>mà ở cách ghép miền giao diện, mục tiêu tác vụ và cách đo lại với nhau — nên không thể quy về “chỉ áp dụng đồ có sẵn”.</a:t>
            </a:r>
            <a:endParaRPr lang="en-US" sz="1300" dirty="0"/>
          </a:p>
        </p:txBody>
      </p:sp>
      <p:sp>
        <p:nvSpPr>
          <p:cNvPr id="11" name="Text 9"/>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không bị trùng — chưa ai ghép “viết hướng dẫn cho người và đánh giá không cần đáp án mẫu trên giao diện” (rà 2025–2026).</a:t>
            </a:r>
            <a:endParaRPr lang="en-US" sz="1000" dirty="0"/>
          </a:p>
        </p:txBody>
      </p:sp>
      <p:sp>
        <p:nvSpPr>
          <p:cNvPr id="12" name="Text 10"/>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ĐÁNH GIÁ</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Các thước đo — công thức và ví dụ</a:t>
            </a:r>
            <a:endParaRPr lang="en-US" sz="2800" dirty="0"/>
          </a:p>
        </p:txBody>
      </p:sp>
      <p:sp>
        <p:nvSpPr>
          <p:cNvPr id="4" name="Shape 2"/>
          <p:cNvSpPr/>
          <p:nvPr/>
        </p:nvSpPr>
        <p:spPr>
          <a:xfrm>
            <a:off x="841248" y="2011680"/>
            <a:ext cx="5212080" cy="3794760"/>
          </a:xfrm>
          <a:prstGeom prst="roundRect">
            <a:avLst>
              <a:gd name="adj" fmla="val 2169"/>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sp>
        <p:nvSpPr>
          <p:cNvPr id="5" name="Text 3"/>
          <p:cNvSpPr/>
          <p:nvPr/>
        </p:nvSpPr>
        <p:spPr>
          <a:xfrm>
            <a:off x="1161288" y="2176272"/>
            <a:ext cx="2743200" cy="365760"/>
          </a:xfrm>
          <a:prstGeom prst="rect">
            <a:avLst/>
          </a:prstGeom>
          <a:noFill/>
          <a:ln/>
        </p:spPr>
        <p:txBody>
          <a:bodyPr wrap="square" lIns="0" tIns="0" rIns="0" bIns="0" rtlCol="0" anchor="t"/>
          <a:lstStyle/>
          <a:p>
            <a:pPr algn="l" indent="0" marL="0">
              <a:buNone/>
            </a:pPr>
            <a:r>
              <a:rPr lang="en-US" sz="1700" b="1" dirty="0">
                <a:solidFill>
                  <a:srgbClr val="BE5A2E"/>
                </a:solidFill>
                <a:latin typeface="Cambria" pitchFamily="34" charset="0"/>
                <a:ea typeface="Cambria" pitchFamily="34" charset="-122"/>
                <a:cs typeface="Cambria" pitchFamily="34" charset="-120"/>
              </a:rPr>
              <a:t>Một màn</a:t>
            </a:r>
            <a:endParaRPr lang="en-US" sz="1700" dirty="0"/>
          </a:p>
        </p:txBody>
      </p:sp>
      <p:sp>
        <p:nvSpPr>
          <p:cNvPr id="6" name="Text 4"/>
          <p:cNvSpPr/>
          <p:nvPr/>
        </p:nvSpPr>
        <p:spPr>
          <a:xfrm>
            <a:off x="2852928" y="2221992"/>
            <a:ext cx="2880360" cy="274320"/>
          </a:xfrm>
          <a:prstGeom prst="rect">
            <a:avLst/>
          </a:prstGeom>
          <a:noFill/>
          <a:ln/>
        </p:spPr>
        <p:txBody>
          <a:bodyPr wrap="square" lIns="0" tIns="0" rIns="0" bIns="0" rtlCol="0" anchor="t"/>
          <a:lstStyle/>
          <a:p>
            <a:pPr algn="r" indent="0" marL="0">
              <a:buNone/>
            </a:pPr>
            <a:r>
              <a:rPr lang="en-US" sz="1250" dirty="0">
                <a:solidFill>
                  <a:srgbClr val="8B929B"/>
                </a:solidFill>
                <a:latin typeface="Segoe UI" pitchFamily="34" charset="0"/>
                <a:ea typeface="Segoe UI" pitchFamily="34" charset="-122"/>
                <a:cs typeface="Segoe UI" pitchFamily="34" charset="-120"/>
              </a:rPr>
              <a:t>không có đáp án mẫu</a:t>
            </a:r>
            <a:endParaRPr lang="en-US" sz="1250" dirty="0"/>
          </a:p>
        </p:txBody>
      </p:sp>
      <p:sp>
        <p:nvSpPr>
          <p:cNvPr id="7" name="Text 5"/>
          <p:cNvSpPr/>
          <p:nvPr/>
        </p:nvSpPr>
        <p:spPr>
          <a:xfrm>
            <a:off x="1161288" y="2697480"/>
            <a:ext cx="4617720" cy="274320"/>
          </a:xfrm>
          <a:prstGeom prst="rect">
            <a:avLst/>
          </a:prstGeom>
          <a:noFill/>
          <a:ln/>
        </p:spPr>
        <p:txBody>
          <a:bodyPr wrap="square" lIns="0" tIns="0" rIns="0" bIns="0" rtlCol="0" anchor="t"/>
          <a:lstStyle/>
          <a:p>
            <a:pPr algn="l" indent="0" marL="0">
              <a:buNone/>
            </a:pPr>
            <a:r>
              <a:rPr lang="en-US" sz="1350" b="1" dirty="0">
                <a:solidFill>
                  <a:srgbClr val="1D2733"/>
                </a:solidFill>
                <a:latin typeface="Segoe UI" pitchFamily="34" charset="0"/>
                <a:ea typeface="Segoe UI" pitchFamily="34" charset="-122"/>
                <a:cs typeface="Segoe UI" pitchFamily="34" charset="-120"/>
              </a:rPr>
              <a:t>Độ trung thực   </a:t>
            </a:r>
            <a:pPr algn="l" indent="0" marL="0">
              <a:buNone/>
            </a:pPr>
            <a:r>
              <a:rPr lang="en-US" sz="1350" b="1" dirty="0">
                <a:solidFill>
                  <a:srgbClr val="BE5A2E"/>
                </a:solidFill>
                <a:latin typeface="Segoe UI" pitchFamily="34" charset="0"/>
                <a:ea typeface="Segoe UI" pitchFamily="34" charset="-122"/>
                <a:cs typeface="Segoe UI" pitchFamily="34" charset="-120"/>
              </a:rPr>
              <a:t>thước chính</a:t>
            </a:r>
            <a:endParaRPr lang="en-US" sz="1350" dirty="0"/>
          </a:p>
        </p:txBody>
      </p:sp>
      <p:sp>
        <p:nvSpPr>
          <p:cNvPr id="8" name="Text 6"/>
          <p:cNvSpPr/>
          <p:nvPr/>
        </p:nvSpPr>
        <p:spPr>
          <a:xfrm>
            <a:off x="1161288" y="2990088"/>
            <a:ext cx="4617720" cy="274320"/>
          </a:xfrm>
          <a:prstGeom prst="rect">
            <a:avLst/>
          </a:prstGeom>
          <a:noFill/>
          <a:ln/>
        </p:spPr>
        <p:txBody>
          <a:bodyPr wrap="square" lIns="0" tIns="0" rIns="0" bIns="0" rtlCol="0" anchor="t"/>
          <a:lstStyle/>
          <a:p>
            <a:pPr algn="l" indent="0" marL="0">
              <a:lnSpc>
                <a:spcPct val="110000"/>
              </a:lnSpc>
              <a:buNone/>
            </a:pPr>
            <a:r>
              <a:rPr lang="en-US" sz="1250" dirty="0">
                <a:solidFill>
                  <a:srgbClr val="1D2733"/>
                </a:solidFill>
                <a:latin typeface="Segoe UI" pitchFamily="34" charset="0"/>
                <a:ea typeface="Segoe UI" pitchFamily="34" charset="-122"/>
                <a:cs typeface="Segoe UI" pitchFamily="34" charset="-120"/>
              </a:rPr>
              <a:t>= 1 − (số bước bịa) / (số bước nhắc nút)</a:t>
            </a:r>
            <a:endParaRPr lang="en-US" sz="1250" dirty="0"/>
          </a:p>
        </p:txBody>
      </p:sp>
      <p:sp>
        <p:nvSpPr>
          <p:cNvPr id="9" name="Text 7"/>
          <p:cNvSpPr/>
          <p:nvPr/>
        </p:nvSpPr>
        <p:spPr>
          <a:xfrm>
            <a:off x="1161288" y="3282696"/>
            <a:ext cx="4617720" cy="274320"/>
          </a:xfrm>
          <a:prstGeom prst="rect">
            <a:avLst/>
          </a:prstGeom>
          <a:noFill/>
          <a:ln/>
        </p:spPr>
        <p:txBody>
          <a:bodyPr wrap="square" lIns="0" tIns="0" rIns="0" bIns="0" rtlCol="0" anchor="t"/>
          <a:lstStyle/>
          <a:p>
            <a:pPr algn="l" indent="0" marL="0">
              <a:lnSpc>
                <a:spcPct val="110000"/>
              </a:lnSpc>
              <a:buNone/>
            </a:pPr>
            <a:r>
              <a:rPr lang="en-US" sz="1150" b="1" dirty="0">
                <a:solidFill>
                  <a:srgbClr val="52657A"/>
                </a:solidFill>
                <a:latin typeface="Segoe UI" pitchFamily="34" charset="0"/>
                <a:ea typeface="Segoe UI" pitchFamily="34" charset="-122"/>
                <a:cs typeface="Segoe UI" pitchFamily="34" charset="-120"/>
              </a:rPr>
              <a:t>Ví dụ:  </a:t>
            </a:r>
            <a:pPr algn="l" indent="0" marL="0">
              <a:lnSpc>
                <a:spcPct val="110000"/>
              </a:lnSpc>
              <a:buNone/>
            </a:pPr>
            <a:r>
              <a:rPr lang="en-US" sz="1150" dirty="0">
                <a:solidFill>
                  <a:srgbClr val="52657A"/>
                </a:solidFill>
                <a:latin typeface="Segoe UI" pitchFamily="34" charset="0"/>
                <a:ea typeface="Segoe UI" pitchFamily="34" charset="-122"/>
                <a:cs typeface="Segoe UI" pitchFamily="34" charset="-120"/>
              </a:rPr>
              <a:t>3 bước nhắc nút, 1 sai → 2/3 ≈ 67%</a:t>
            </a:r>
            <a:endParaRPr lang="en-US" sz="1150" dirty="0"/>
          </a:p>
        </p:txBody>
      </p:sp>
      <p:sp>
        <p:nvSpPr>
          <p:cNvPr id="10" name="Text 8"/>
          <p:cNvSpPr/>
          <p:nvPr/>
        </p:nvSpPr>
        <p:spPr>
          <a:xfrm>
            <a:off x="1161288" y="3657600"/>
            <a:ext cx="4617720" cy="274320"/>
          </a:xfrm>
          <a:prstGeom prst="rect">
            <a:avLst/>
          </a:prstGeom>
          <a:noFill/>
          <a:ln/>
        </p:spPr>
        <p:txBody>
          <a:bodyPr wrap="square" lIns="0" tIns="0" rIns="0" bIns="0" rtlCol="0" anchor="t"/>
          <a:lstStyle/>
          <a:p>
            <a:pPr algn="l" indent="0" marL="0">
              <a:buNone/>
            </a:pPr>
            <a:r>
              <a:rPr lang="en-US" sz="1350" b="1" dirty="0">
                <a:solidFill>
                  <a:srgbClr val="1D2733"/>
                </a:solidFill>
                <a:latin typeface="Segoe UI" pitchFamily="34" charset="0"/>
                <a:ea typeface="Segoe UI" pitchFamily="34" charset="-122"/>
                <a:cs typeface="Segoe UI" pitchFamily="34" charset="-120"/>
              </a:rPr>
              <a:t>Độ đúng nhãn   </a:t>
            </a:r>
            <a:pPr algn="l" indent="0" marL="0">
              <a:buNone/>
            </a:pPr>
            <a:r>
              <a:rPr lang="en-US" sz="1350" b="1" dirty="0">
                <a:solidFill>
                  <a:srgbClr val="BE5A2E"/>
                </a:solidFill>
                <a:latin typeface="Segoe UI" pitchFamily="34" charset="0"/>
                <a:ea typeface="Segoe UI" pitchFamily="34" charset="-122"/>
                <a:cs typeface="Segoe UI" pitchFamily="34" charset="-120"/>
              </a:rPr>
              <a:t>bổ trợ</a:t>
            </a:r>
            <a:endParaRPr lang="en-US" sz="1350" dirty="0"/>
          </a:p>
        </p:txBody>
      </p:sp>
      <p:sp>
        <p:nvSpPr>
          <p:cNvPr id="11" name="Text 9"/>
          <p:cNvSpPr/>
          <p:nvPr/>
        </p:nvSpPr>
        <p:spPr>
          <a:xfrm>
            <a:off x="1161288" y="3950208"/>
            <a:ext cx="4617720" cy="274320"/>
          </a:xfrm>
          <a:prstGeom prst="rect">
            <a:avLst/>
          </a:prstGeom>
          <a:noFill/>
          <a:ln/>
        </p:spPr>
        <p:txBody>
          <a:bodyPr wrap="square" lIns="0" tIns="0" rIns="0" bIns="0" rtlCol="0" anchor="t"/>
          <a:lstStyle/>
          <a:p>
            <a:pPr algn="l" indent="0" marL="0">
              <a:lnSpc>
                <a:spcPct val="110000"/>
              </a:lnSpc>
              <a:buNone/>
            </a:pPr>
            <a:r>
              <a:rPr lang="en-US" sz="1250" dirty="0">
                <a:solidFill>
                  <a:srgbClr val="1D2733"/>
                </a:solidFill>
                <a:latin typeface="Segoe UI" pitchFamily="34" charset="0"/>
                <a:ea typeface="Segoe UI" pitchFamily="34" charset="-122"/>
                <a:cs typeface="Segoe UI" pitchFamily="34" charset="-120"/>
              </a:rPr>
              <a:t>= (bước gọi đúng tên) / (bước trỏ nút thật)</a:t>
            </a:r>
            <a:endParaRPr lang="en-US" sz="1250" dirty="0"/>
          </a:p>
        </p:txBody>
      </p:sp>
      <p:sp>
        <p:nvSpPr>
          <p:cNvPr id="12" name="Text 10"/>
          <p:cNvSpPr/>
          <p:nvPr/>
        </p:nvSpPr>
        <p:spPr>
          <a:xfrm>
            <a:off x="1161288" y="4242816"/>
            <a:ext cx="4617720" cy="274320"/>
          </a:xfrm>
          <a:prstGeom prst="rect">
            <a:avLst/>
          </a:prstGeom>
          <a:noFill/>
          <a:ln/>
        </p:spPr>
        <p:txBody>
          <a:bodyPr wrap="square" lIns="0" tIns="0" rIns="0" bIns="0" rtlCol="0" anchor="t"/>
          <a:lstStyle/>
          <a:p>
            <a:pPr algn="l" indent="0" marL="0">
              <a:lnSpc>
                <a:spcPct val="110000"/>
              </a:lnSpc>
              <a:buNone/>
            </a:pPr>
            <a:r>
              <a:rPr lang="en-US" sz="1150" b="1" dirty="0">
                <a:solidFill>
                  <a:srgbClr val="52657A"/>
                </a:solidFill>
                <a:latin typeface="Segoe UI" pitchFamily="34" charset="0"/>
                <a:ea typeface="Segoe UI" pitchFamily="34" charset="-122"/>
                <a:cs typeface="Segoe UI" pitchFamily="34" charset="-120"/>
              </a:rPr>
              <a:t>Ví dụ:  </a:t>
            </a:r>
            <a:pPr algn="l" indent="0" marL="0">
              <a:lnSpc>
                <a:spcPct val="110000"/>
              </a:lnSpc>
              <a:buNone/>
            </a:pPr>
            <a:r>
              <a:rPr lang="en-US" sz="1150" dirty="0">
                <a:solidFill>
                  <a:srgbClr val="52657A"/>
                </a:solidFill>
                <a:latin typeface="Segoe UI" pitchFamily="34" charset="0"/>
                <a:ea typeface="Segoe UI" pitchFamily="34" charset="-122"/>
                <a:cs typeface="Segoe UI" pitchFamily="34" charset="-120"/>
              </a:rPr>
              <a:t>nút hiện “OK”, viết “Đồng ý” → sai nhãn</a:t>
            </a:r>
            <a:endParaRPr lang="en-US" sz="1150" dirty="0"/>
          </a:p>
        </p:txBody>
      </p:sp>
      <p:sp>
        <p:nvSpPr>
          <p:cNvPr id="13" name="Text 11"/>
          <p:cNvSpPr/>
          <p:nvPr/>
        </p:nvSpPr>
        <p:spPr>
          <a:xfrm>
            <a:off x="1161288" y="4681728"/>
            <a:ext cx="4617720" cy="960120"/>
          </a:xfrm>
          <a:prstGeom prst="rect">
            <a:avLst/>
          </a:prstGeom>
          <a:noFill/>
          <a:ln/>
        </p:spPr>
        <p:txBody>
          <a:bodyPr wrap="square" lIns="0" tIns="0" rIns="0" bIns="0" rtlCol="0" anchor="t"/>
          <a:lstStyle/>
          <a:p>
            <a:pPr algn="l" indent="0" marL="0">
              <a:lnSpc>
                <a:spcPct val="122000"/>
              </a:lnSpc>
              <a:buNone/>
            </a:pPr>
            <a:r>
              <a:rPr lang="en-US" sz="1200" b="1" dirty="0">
                <a:solidFill>
                  <a:srgbClr val="1D2733"/>
                </a:solidFill>
                <a:latin typeface="Segoe UI" pitchFamily="34" charset="0"/>
                <a:ea typeface="Segoe UI" pitchFamily="34" charset="-122"/>
                <a:cs typeface="Segoe UI" pitchFamily="34" charset="-120"/>
              </a:rPr>
              <a:t>Lưu ý.  </a:t>
            </a:r>
            <a:pPr algn="l" indent="0" marL="0">
              <a:lnSpc>
                <a:spcPct val="122000"/>
              </a:lnSpc>
              <a:buNone/>
            </a:pPr>
            <a:r>
              <a:rPr lang="en-US" sz="1200" dirty="0">
                <a:solidFill>
                  <a:srgbClr val="454C55"/>
                </a:solidFill>
                <a:latin typeface="Segoe UI" pitchFamily="34" charset="0"/>
                <a:ea typeface="Segoe UI" pitchFamily="34" charset="-122"/>
                <a:cs typeface="Segoe UI" pitchFamily="34" charset="-120"/>
              </a:rPr>
              <a:t>Con số công bố là tỉ lệ nhắc sai của bản nháp gốc, không phải gần 100% sau khi sửa.</a:t>
            </a:r>
            <a:endParaRPr lang="en-US" sz="1200" dirty="0"/>
          </a:p>
        </p:txBody>
      </p:sp>
      <p:sp>
        <p:nvSpPr>
          <p:cNvPr id="14" name="Shape 12"/>
          <p:cNvSpPr/>
          <p:nvPr/>
        </p:nvSpPr>
        <p:spPr>
          <a:xfrm>
            <a:off x="6327648" y="2011680"/>
            <a:ext cx="5020056" cy="3794760"/>
          </a:xfrm>
          <a:prstGeom prst="roundRect">
            <a:avLst>
              <a:gd name="adj" fmla="val 2169"/>
            </a:avLst>
          </a:prstGeom>
          <a:solidFill>
            <a:srgbClr val="F7EBE3"/>
          </a:solidFill>
          <a:ln/>
        </p:spPr>
      </p:sp>
      <p:sp>
        <p:nvSpPr>
          <p:cNvPr id="15" name="Text 13"/>
          <p:cNvSpPr/>
          <p:nvPr/>
        </p:nvSpPr>
        <p:spPr>
          <a:xfrm>
            <a:off x="6647688" y="2176272"/>
            <a:ext cx="2743200" cy="365760"/>
          </a:xfrm>
          <a:prstGeom prst="rect">
            <a:avLst/>
          </a:prstGeom>
          <a:noFill/>
          <a:ln/>
        </p:spPr>
        <p:txBody>
          <a:bodyPr wrap="square" lIns="0" tIns="0" rIns="0" bIns="0" rtlCol="0" anchor="t"/>
          <a:lstStyle/>
          <a:p>
            <a:pPr algn="l" indent="0" marL="0">
              <a:buNone/>
            </a:pPr>
            <a:r>
              <a:rPr lang="en-US" sz="1700" b="1" dirty="0">
                <a:solidFill>
                  <a:srgbClr val="BE5A2E"/>
                </a:solidFill>
                <a:latin typeface="Cambria" pitchFamily="34" charset="0"/>
                <a:ea typeface="Cambria" pitchFamily="34" charset="-122"/>
                <a:cs typeface="Cambria" pitchFamily="34" charset="-120"/>
              </a:rPr>
              <a:t>Nhiều màn</a:t>
            </a:r>
            <a:endParaRPr lang="en-US" sz="1700" dirty="0"/>
          </a:p>
        </p:txBody>
      </p:sp>
      <p:sp>
        <p:nvSpPr>
          <p:cNvPr id="16" name="Text 14"/>
          <p:cNvSpPr/>
          <p:nvPr/>
        </p:nvSpPr>
        <p:spPr>
          <a:xfrm>
            <a:off x="8476488" y="2221992"/>
            <a:ext cx="2697480" cy="274320"/>
          </a:xfrm>
          <a:prstGeom prst="rect">
            <a:avLst/>
          </a:prstGeom>
          <a:noFill/>
          <a:ln/>
        </p:spPr>
        <p:txBody>
          <a:bodyPr wrap="square" lIns="0" tIns="0" rIns="0" bIns="0" rtlCol="0" anchor="t"/>
          <a:lstStyle/>
          <a:p>
            <a:pPr algn="r" indent="0" marL="0">
              <a:buNone/>
            </a:pPr>
            <a:r>
              <a:rPr lang="en-US" sz="1250" dirty="0">
                <a:solidFill>
                  <a:srgbClr val="8B929B"/>
                </a:solidFill>
                <a:latin typeface="Segoe UI" pitchFamily="34" charset="0"/>
                <a:ea typeface="Segoe UI" pitchFamily="34" charset="-122"/>
                <a:cs typeface="Segoe UI" pitchFamily="34" charset="-120"/>
              </a:rPr>
              <a:t>có đáp án mẫu</a:t>
            </a:r>
            <a:endParaRPr lang="en-US" sz="1250" dirty="0"/>
          </a:p>
        </p:txBody>
      </p:sp>
      <p:sp>
        <p:nvSpPr>
          <p:cNvPr id="17" name="Text 15"/>
          <p:cNvSpPr/>
          <p:nvPr/>
        </p:nvSpPr>
        <p:spPr>
          <a:xfrm>
            <a:off x="6647688" y="2697480"/>
            <a:ext cx="4434840" cy="274320"/>
          </a:xfrm>
          <a:prstGeom prst="rect">
            <a:avLst/>
          </a:prstGeom>
          <a:noFill/>
          <a:ln/>
        </p:spPr>
        <p:txBody>
          <a:bodyPr wrap="square" lIns="0" tIns="0" rIns="0" bIns="0" rtlCol="0" anchor="t"/>
          <a:lstStyle/>
          <a:p>
            <a:pPr algn="l" indent="0" marL="0">
              <a:buNone/>
            </a:pPr>
            <a:r>
              <a:rPr lang="en-US" sz="1350" b="1" dirty="0">
                <a:solidFill>
                  <a:srgbClr val="1D2733"/>
                </a:solidFill>
                <a:latin typeface="Segoe UI" pitchFamily="34" charset="0"/>
                <a:ea typeface="Segoe UI" pitchFamily="34" charset="-122"/>
                <a:cs typeface="Segoe UI" pitchFamily="34" charset="-120"/>
              </a:rPr>
              <a:t>Sắp đúng thứ tự các màn   </a:t>
            </a:r>
            <a:pPr algn="l" indent="0" marL="0">
              <a:buNone/>
            </a:pPr>
            <a:r>
              <a:rPr lang="en-US" sz="1350" b="1" dirty="0">
                <a:solidFill>
                  <a:srgbClr val="BE5A2E"/>
                </a:solidFill>
                <a:latin typeface="Segoe UI" pitchFamily="34" charset="0"/>
                <a:ea typeface="Segoe UI" pitchFamily="34" charset="-122"/>
                <a:cs typeface="Segoe UI" pitchFamily="34" charset="-120"/>
              </a:rPr>
              <a:t>τ</a:t>
            </a:r>
            <a:endParaRPr lang="en-US" sz="1350" dirty="0"/>
          </a:p>
        </p:txBody>
      </p:sp>
      <p:sp>
        <p:nvSpPr>
          <p:cNvPr id="18" name="Text 16"/>
          <p:cNvSpPr/>
          <p:nvPr/>
        </p:nvSpPr>
        <p:spPr>
          <a:xfrm>
            <a:off x="6647688" y="2990088"/>
            <a:ext cx="4434840" cy="274320"/>
          </a:xfrm>
          <a:prstGeom prst="rect">
            <a:avLst/>
          </a:prstGeom>
          <a:noFill/>
          <a:ln/>
        </p:spPr>
        <p:txBody>
          <a:bodyPr wrap="square" lIns="0" tIns="0" rIns="0" bIns="0" rtlCol="0" anchor="t"/>
          <a:lstStyle/>
          <a:p>
            <a:pPr algn="l" indent="0" marL="0">
              <a:lnSpc>
                <a:spcPct val="110000"/>
              </a:lnSpc>
              <a:buNone/>
            </a:pPr>
            <a:r>
              <a:rPr lang="en-US" sz="1250" dirty="0">
                <a:solidFill>
                  <a:srgbClr val="1D2733"/>
                </a:solidFill>
                <a:latin typeface="Segoe UI" pitchFamily="34" charset="0"/>
                <a:ea typeface="Segoe UI" pitchFamily="34" charset="-122"/>
                <a:cs typeface="Segoe UI" pitchFamily="34" charset="-120"/>
              </a:rPr>
              <a:t>= (cặp thuận − cặp nghịch) / (cặp bắt buộc)</a:t>
            </a:r>
            <a:endParaRPr lang="en-US" sz="1250" dirty="0"/>
          </a:p>
        </p:txBody>
      </p:sp>
      <p:sp>
        <p:nvSpPr>
          <p:cNvPr id="19" name="Text 17"/>
          <p:cNvSpPr/>
          <p:nvPr/>
        </p:nvSpPr>
        <p:spPr>
          <a:xfrm>
            <a:off x="6647688" y="3282696"/>
            <a:ext cx="4434840" cy="274320"/>
          </a:xfrm>
          <a:prstGeom prst="rect">
            <a:avLst/>
          </a:prstGeom>
          <a:noFill/>
          <a:ln/>
        </p:spPr>
        <p:txBody>
          <a:bodyPr wrap="square" lIns="0" tIns="0" rIns="0" bIns="0" rtlCol="0" anchor="t"/>
          <a:lstStyle/>
          <a:p>
            <a:pPr algn="l" indent="0" marL="0">
              <a:lnSpc>
                <a:spcPct val="110000"/>
              </a:lnSpc>
              <a:buNone/>
            </a:pPr>
            <a:r>
              <a:rPr lang="en-US" sz="1150" b="1" dirty="0">
                <a:solidFill>
                  <a:srgbClr val="52657A"/>
                </a:solidFill>
                <a:latin typeface="Segoe UI" pitchFamily="34" charset="0"/>
                <a:ea typeface="Segoe UI" pitchFamily="34" charset="-122"/>
                <a:cs typeface="Segoe UI" pitchFamily="34" charset="-120"/>
              </a:rPr>
              <a:t>Ví dụ:  </a:t>
            </a:r>
            <a:pPr algn="l" indent="0" marL="0">
              <a:lnSpc>
                <a:spcPct val="110000"/>
              </a:lnSpc>
              <a:buNone/>
            </a:pPr>
            <a:r>
              <a:rPr lang="en-US" sz="1150" dirty="0">
                <a:solidFill>
                  <a:srgbClr val="52657A"/>
                </a:solidFill>
                <a:latin typeface="Segoe UI" pitchFamily="34" charset="0"/>
                <a:ea typeface="Segoe UI" pitchFamily="34" charset="-122"/>
                <a:cs typeface="Segoe UI" pitchFamily="34" charset="-120"/>
              </a:rPr>
              <a:t>đáp án A→B→C, hệ xếp A→C→B, được +0,33</a:t>
            </a:r>
            <a:endParaRPr lang="en-US" sz="1150" dirty="0"/>
          </a:p>
        </p:txBody>
      </p:sp>
      <p:sp>
        <p:nvSpPr>
          <p:cNvPr id="20" name="Text 18"/>
          <p:cNvSpPr/>
          <p:nvPr/>
        </p:nvSpPr>
        <p:spPr>
          <a:xfrm>
            <a:off x="6647688" y="3657600"/>
            <a:ext cx="4434840" cy="274320"/>
          </a:xfrm>
          <a:prstGeom prst="rect">
            <a:avLst/>
          </a:prstGeom>
          <a:noFill/>
          <a:ln/>
        </p:spPr>
        <p:txBody>
          <a:bodyPr wrap="square" lIns="0" tIns="0" rIns="0" bIns="0" rtlCol="0" anchor="t"/>
          <a:lstStyle/>
          <a:p>
            <a:pPr algn="l" indent="0" marL="0">
              <a:buNone/>
            </a:pPr>
            <a:r>
              <a:rPr lang="en-US" sz="1350" b="1" dirty="0">
                <a:solidFill>
                  <a:srgbClr val="1D2733"/>
                </a:solidFill>
                <a:latin typeface="Segoe UI" pitchFamily="34" charset="0"/>
                <a:ea typeface="Segoe UI" pitchFamily="34" charset="-122"/>
                <a:cs typeface="Segoe UI" pitchFamily="34" charset="-120"/>
              </a:rPr>
              <a:t>Làm đúng từng bước   </a:t>
            </a:r>
            <a:pPr algn="l" indent="0" marL="0">
              <a:buNone/>
            </a:pPr>
            <a:r>
              <a:rPr lang="en-US" sz="1350" b="1" dirty="0">
                <a:solidFill>
                  <a:srgbClr val="BE5A2E"/>
                </a:solidFill>
                <a:latin typeface="Segoe UI" pitchFamily="34" charset="0"/>
                <a:ea typeface="Segoe UI" pitchFamily="34" charset="-122"/>
                <a:cs typeface="Segoe UI" pitchFamily="34" charset="-120"/>
              </a:rPr>
              <a:t>Step-SR</a:t>
            </a:r>
            <a:endParaRPr lang="en-US" sz="1350" dirty="0"/>
          </a:p>
        </p:txBody>
      </p:sp>
      <p:sp>
        <p:nvSpPr>
          <p:cNvPr id="21" name="Text 19"/>
          <p:cNvSpPr/>
          <p:nvPr/>
        </p:nvSpPr>
        <p:spPr>
          <a:xfrm>
            <a:off x="6647688" y="3950208"/>
            <a:ext cx="4434840" cy="274320"/>
          </a:xfrm>
          <a:prstGeom prst="rect">
            <a:avLst/>
          </a:prstGeom>
          <a:noFill/>
          <a:ln/>
        </p:spPr>
        <p:txBody>
          <a:bodyPr wrap="square" lIns="0" tIns="0" rIns="0" bIns="0" rtlCol="0" anchor="t"/>
          <a:lstStyle/>
          <a:p>
            <a:pPr algn="l" indent="0" marL="0">
              <a:lnSpc>
                <a:spcPct val="110000"/>
              </a:lnSpc>
              <a:buNone/>
            </a:pPr>
            <a:r>
              <a:rPr lang="en-US" sz="1250" dirty="0">
                <a:solidFill>
                  <a:srgbClr val="1D2733"/>
                </a:solidFill>
                <a:latin typeface="Segoe UI" pitchFamily="34" charset="0"/>
                <a:ea typeface="Segoe UI" pitchFamily="34" charset="-122"/>
                <a:cs typeface="Segoe UI" pitchFamily="34" charset="-120"/>
              </a:rPr>
              <a:t>= (bước làm đúng) / (bước trong đáp án mẫu)</a:t>
            </a:r>
            <a:endParaRPr lang="en-US" sz="1250" dirty="0"/>
          </a:p>
        </p:txBody>
      </p:sp>
      <p:sp>
        <p:nvSpPr>
          <p:cNvPr id="22" name="Text 20"/>
          <p:cNvSpPr/>
          <p:nvPr/>
        </p:nvSpPr>
        <p:spPr>
          <a:xfrm>
            <a:off x="6647688" y="4242816"/>
            <a:ext cx="4434840" cy="274320"/>
          </a:xfrm>
          <a:prstGeom prst="rect">
            <a:avLst/>
          </a:prstGeom>
          <a:noFill/>
          <a:ln/>
        </p:spPr>
        <p:txBody>
          <a:bodyPr wrap="square" lIns="0" tIns="0" rIns="0" bIns="0" rtlCol="0" anchor="t"/>
          <a:lstStyle/>
          <a:p>
            <a:pPr algn="l" indent="0" marL="0">
              <a:lnSpc>
                <a:spcPct val="110000"/>
              </a:lnSpc>
              <a:buNone/>
            </a:pPr>
            <a:r>
              <a:rPr lang="en-US" sz="1150" b="1" dirty="0">
                <a:solidFill>
                  <a:srgbClr val="52657A"/>
                </a:solidFill>
                <a:latin typeface="Segoe UI" pitchFamily="34" charset="0"/>
                <a:ea typeface="Segoe UI" pitchFamily="34" charset="-122"/>
                <a:cs typeface="Segoe UI" pitchFamily="34" charset="-120"/>
              </a:rPr>
              <a:t>Ví dụ:  </a:t>
            </a:r>
            <a:pPr algn="l" indent="0" marL="0">
              <a:lnSpc>
                <a:spcPct val="110000"/>
              </a:lnSpc>
              <a:buNone/>
            </a:pPr>
            <a:r>
              <a:rPr lang="en-US" sz="1150" dirty="0">
                <a:solidFill>
                  <a:srgbClr val="52657A"/>
                </a:solidFill>
                <a:latin typeface="Segoe UI" pitchFamily="34" charset="0"/>
                <a:ea typeface="Segoe UI" pitchFamily="34" charset="-122"/>
                <a:cs typeface="Segoe UI" pitchFamily="34" charset="-120"/>
              </a:rPr>
              <a:t>làm đúng 4/5 bước → 80%</a:t>
            </a:r>
            <a:endParaRPr lang="en-US" sz="1150" dirty="0"/>
          </a:p>
        </p:txBody>
      </p:sp>
      <p:sp>
        <p:nvSpPr>
          <p:cNvPr id="23" name="Text 21"/>
          <p:cNvSpPr/>
          <p:nvPr/>
        </p:nvSpPr>
        <p:spPr>
          <a:xfrm>
            <a:off x="6647688" y="4709160"/>
            <a:ext cx="4434840" cy="960120"/>
          </a:xfrm>
          <a:prstGeom prst="rect">
            <a:avLst/>
          </a:prstGeom>
          <a:noFill/>
          <a:ln/>
        </p:spPr>
        <p:txBody>
          <a:bodyPr wrap="square" lIns="0" tIns="0" rIns="0" bIns="0" rtlCol="0" anchor="t"/>
          <a:lstStyle/>
          <a:p>
            <a:pPr algn="l" indent="0" marL="0">
              <a:lnSpc>
                <a:spcPct val="125000"/>
              </a:lnSpc>
              <a:buNone/>
            </a:pPr>
            <a:r>
              <a:rPr lang="en-US" sz="1200" b="1" dirty="0">
                <a:solidFill>
                  <a:srgbClr val="1D2733"/>
                </a:solidFill>
                <a:latin typeface="Segoe UI" pitchFamily="34" charset="0"/>
                <a:ea typeface="Segoe UI" pitchFamily="34" charset="-122"/>
                <a:cs typeface="Segoe UI" pitchFamily="34" charset="-120"/>
              </a:rPr>
              <a:t>episode = một tác vụ trải nhiều màn.  </a:t>
            </a:r>
            <a:pPr algn="l" indent="0" marL="0">
              <a:lnSpc>
                <a:spcPct val="125000"/>
              </a:lnSpc>
              <a:buNone/>
            </a:pPr>
            <a:r>
              <a:rPr lang="en-US" sz="1200" dirty="0">
                <a:solidFill>
                  <a:srgbClr val="454C55"/>
                </a:solidFill>
                <a:latin typeface="Segoe UI" pitchFamily="34" charset="0"/>
                <a:ea typeface="Segoe UI" pitchFamily="34" charset="-122"/>
                <a:cs typeface="Segoe UI" pitchFamily="34" charset="-120"/>
              </a:rPr>
              <a:t>Ngoài hai thước trên còn một chỉ số phụ (PMR — tỉ lệ episode sắp đúng trọn), chưa có số thật; xem bài nói §4.2.</a:t>
            </a:r>
            <a:endParaRPr lang="en-US" sz="1200" dirty="0"/>
          </a:p>
        </p:txBody>
      </p:sp>
      <p:sp>
        <p:nvSpPr>
          <p:cNvPr id="24" name="Text 22"/>
          <p:cNvSpPr/>
          <p:nvPr/>
        </p:nvSpPr>
        <p:spPr>
          <a:xfrm>
            <a:off x="841248" y="5989320"/>
            <a:ext cx="10515600" cy="320040"/>
          </a:xfrm>
          <a:prstGeom prst="rect">
            <a:avLst/>
          </a:prstGeom>
          <a:noFill/>
          <a:ln/>
        </p:spPr>
        <p:txBody>
          <a:bodyPr wrap="square" lIns="0" tIns="0" rIns="0" bIns="0" rtlCol="0" anchor="t"/>
          <a:lstStyle/>
          <a:p>
            <a:pPr algn="l" indent="0" marL="0">
              <a:buNone/>
            </a:pPr>
            <a:r>
              <a:rPr lang="en-US" sz="1300" dirty="0">
                <a:solidFill>
                  <a:srgbClr val="454C55"/>
                </a:solidFill>
                <a:latin typeface="Segoe UI" pitchFamily="34" charset="0"/>
                <a:ea typeface="Segoe UI" pitchFamily="34" charset="-122"/>
                <a:cs typeface="Segoe UI" pitchFamily="34" charset="-120"/>
              </a:rPr>
              <a:t>Riêng việc bấm trúng nút </a:t>
            </a:r>
            <a:pPr algn="l" indent="0" marL="0">
              <a:buNone/>
            </a:pPr>
            <a:r>
              <a:rPr lang="en-US" sz="1300" b="1" dirty="0">
                <a:solidFill>
                  <a:srgbClr val="1D2733"/>
                </a:solidFill>
                <a:latin typeface="Segoe UI" pitchFamily="34" charset="0"/>
                <a:ea typeface="Segoe UI" pitchFamily="34" charset="-122"/>
                <a:cs typeface="Segoe UI" pitchFamily="34" charset="-120"/>
              </a:rPr>
              <a:t>được kiểm bằng bộ đối chứng — xem slide sau.</a:t>
            </a:r>
            <a:endParaRPr lang="en-US" sz="1300" dirty="0"/>
          </a:p>
        </p:txBody>
      </p:sp>
      <p:sp>
        <p:nvSpPr>
          <p:cNvPr id="25" name="Text 23"/>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khung đánh giá nội tại và ngoại lai — Chim, Ive &amp; Liakata (Computational Linguistics 2025) · điểm từng bước và ngưỡng 14% — AndroidControl (NeurIPS 2024), AITW (NeurIPS 2023).</a:t>
            </a:r>
            <a:endParaRPr lang="en-US" sz="1000" dirty="0"/>
          </a:p>
        </p:txBody>
      </p:sp>
      <p:sp>
        <p:nvSpPr>
          <p:cNvPr id="26" name="Text 24"/>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ĐÁNH GIÁ · VÍ DỤ</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Tính thử hai điểm bằng số cụ thể</a:t>
            </a:r>
            <a:endParaRPr lang="en-US" sz="2800" dirty="0"/>
          </a:p>
        </p:txBody>
      </p:sp>
      <p:sp>
        <p:nvSpPr>
          <p:cNvPr id="4" name="Shape 2"/>
          <p:cNvSpPr/>
          <p:nvPr/>
        </p:nvSpPr>
        <p:spPr>
          <a:xfrm>
            <a:off x="841248" y="2148840"/>
            <a:ext cx="5029200" cy="3840480"/>
          </a:xfrm>
          <a:prstGeom prst="roundRect">
            <a:avLst>
              <a:gd name="adj" fmla="val 2143"/>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sp>
        <p:nvSpPr>
          <p:cNvPr id="5" name="Text 3"/>
          <p:cNvSpPr/>
          <p:nvPr/>
        </p:nvSpPr>
        <p:spPr>
          <a:xfrm>
            <a:off x="1161288" y="2331720"/>
            <a:ext cx="4572000" cy="320040"/>
          </a:xfrm>
          <a:prstGeom prst="rect">
            <a:avLst/>
          </a:prstGeom>
          <a:noFill/>
          <a:ln/>
        </p:spPr>
        <p:txBody>
          <a:bodyPr wrap="square" lIns="0" tIns="0" rIns="0" bIns="0" rtlCol="0" anchor="t"/>
          <a:lstStyle/>
          <a:p>
            <a:pPr algn="l" indent="0" marL="0">
              <a:buNone/>
            </a:pPr>
            <a:r>
              <a:rPr lang="en-US" sz="1600" b="1" dirty="0">
                <a:solidFill>
                  <a:srgbClr val="BE5A2E"/>
                </a:solidFill>
                <a:latin typeface="Cambria" pitchFamily="34" charset="0"/>
                <a:ea typeface="Cambria" pitchFamily="34" charset="-122"/>
                <a:cs typeface="Cambria" pitchFamily="34" charset="-120"/>
              </a:rPr>
              <a:t>Độ trung thực — một màn</a:t>
            </a:r>
            <a:endParaRPr lang="en-US" sz="1600" dirty="0"/>
          </a:p>
        </p:txBody>
      </p:sp>
      <p:sp>
        <p:nvSpPr>
          <p:cNvPr id="6" name="Text 4"/>
          <p:cNvSpPr/>
          <p:nvPr/>
        </p:nvSpPr>
        <p:spPr>
          <a:xfrm>
            <a:off x="1161288" y="2788920"/>
            <a:ext cx="4572000" cy="1600200"/>
          </a:xfrm>
          <a:prstGeom prst="rect">
            <a:avLst/>
          </a:prstGeom>
          <a:noFill/>
          <a:ln/>
        </p:spPr>
        <p:txBody>
          <a:bodyPr wrap="square" lIns="0" tIns="0" rIns="0" bIns="0" rtlCol="0" anchor="t"/>
          <a:lstStyle/>
          <a:p>
            <a:pPr algn="l" indent="0" marL="0">
              <a:lnSpc>
                <a:spcPct val="135000"/>
              </a:lnSpc>
              <a:buNone/>
            </a:pPr>
            <a:r>
              <a:rPr lang="en-US" sz="1350" dirty="0">
                <a:solidFill>
                  <a:srgbClr val="454C55"/>
                </a:solidFill>
                <a:latin typeface="Segoe UI" pitchFamily="34" charset="0"/>
                <a:ea typeface="Segoe UI" pitchFamily="34" charset="-122"/>
                <a:cs typeface="Segoe UI" pitchFamily="34" charset="-120"/>
              </a:rPr>
              <a:t>Hướng dẫn có 3 bước nhắc nút:
</a:t>
            </a:r>
            <a:pPr algn="l" indent="0" marL="0">
              <a:lnSpc>
                <a:spcPct val="135000"/>
              </a:lnSpc>
              <a:buNone/>
            </a:pPr>
            <a:r>
              <a:rPr lang="en-US" sz="1350" dirty="0">
                <a:solidFill>
                  <a:srgbClr val="1D2733"/>
                </a:solidFill>
                <a:latin typeface="Segoe UI" pitchFamily="34" charset="0"/>
                <a:ea typeface="Segoe UI" pitchFamily="34" charset="-122"/>
                <a:cs typeface="Segoe UI" pitchFamily="34" charset="-120"/>
              </a:rPr>
              <a:t>  1.  Chọn giờ và phút     </a:t>
            </a:r>
            <a:pPr algn="l" indent="0" marL="0">
              <a:lnSpc>
                <a:spcPct val="135000"/>
              </a:lnSpc>
              <a:buNone/>
            </a:pPr>
            <a:r>
              <a:rPr lang="en-US" sz="1350" b="1" dirty="0">
                <a:solidFill>
                  <a:srgbClr val="1E6B43"/>
                </a:solidFill>
                <a:latin typeface="Segoe UI" pitchFamily="34" charset="0"/>
                <a:ea typeface="Segoe UI" pitchFamily="34" charset="-122"/>
                <a:cs typeface="Segoe UI" pitchFamily="34" charset="-120"/>
              </a:rPr>
              <a:t>✓ có thật
</a:t>
            </a:r>
            <a:pPr algn="l" indent="0" marL="0">
              <a:lnSpc>
                <a:spcPct val="135000"/>
              </a:lnSpc>
              <a:buNone/>
            </a:pPr>
            <a:r>
              <a:rPr lang="en-US" sz="1350" dirty="0">
                <a:solidFill>
                  <a:srgbClr val="1D2733"/>
                </a:solidFill>
                <a:latin typeface="Segoe UI" pitchFamily="34" charset="0"/>
                <a:ea typeface="Segoe UI" pitchFamily="34" charset="-122"/>
                <a:cs typeface="Segoe UI" pitchFamily="34" charset="-120"/>
              </a:rPr>
              <a:t>  2.  Chọn “PM”                </a:t>
            </a:r>
            <a:pPr algn="l" indent="0" marL="0">
              <a:lnSpc>
                <a:spcPct val="135000"/>
              </a:lnSpc>
              <a:buNone/>
            </a:pPr>
            <a:r>
              <a:rPr lang="en-US" sz="1350" b="1" dirty="0">
                <a:solidFill>
                  <a:srgbClr val="1E6B43"/>
                </a:solidFill>
                <a:latin typeface="Segoe UI" pitchFamily="34" charset="0"/>
                <a:ea typeface="Segoe UI" pitchFamily="34" charset="-122"/>
                <a:cs typeface="Segoe UI" pitchFamily="34" charset="-120"/>
              </a:rPr>
              <a:t>✓ có thật
</a:t>
            </a:r>
            <a:pPr algn="l" indent="0" marL="0">
              <a:lnSpc>
                <a:spcPct val="135000"/>
              </a:lnSpc>
              <a:buNone/>
            </a:pPr>
            <a:r>
              <a:rPr lang="en-US" sz="1350" dirty="0">
                <a:solidFill>
                  <a:srgbClr val="1D2733"/>
                </a:solidFill>
                <a:latin typeface="Segoe UI" pitchFamily="34" charset="0"/>
                <a:ea typeface="Segoe UI" pitchFamily="34" charset="-122"/>
                <a:cs typeface="Segoe UI" pitchFamily="34" charset="-120"/>
              </a:rPr>
              <a:t>  3.  Mở “Cài đặt”            </a:t>
            </a:r>
            <a:pPr algn="l" indent="0" marL="0">
              <a:lnSpc>
                <a:spcPct val="135000"/>
              </a:lnSpc>
              <a:buNone/>
            </a:pPr>
            <a:r>
              <a:rPr lang="en-US" sz="1350" b="1" dirty="0">
                <a:solidFill>
                  <a:srgbClr val="BE5A2E"/>
                </a:solidFill>
                <a:latin typeface="Segoe UI" pitchFamily="34" charset="0"/>
                <a:ea typeface="Segoe UI" pitchFamily="34" charset="-122"/>
                <a:cs typeface="Segoe UI" pitchFamily="34" charset="-120"/>
              </a:rPr>
              <a:t>✗ không có (bịa)</a:t>
            </a:r>
            <a:endParaRPr lang="en-US" sz="1350" dirty="0"/>
          </a:p>
        </p:txBody>
      </p:sp>
      <p:sp>
        <p:nvSpPr>
          <p:cNvPr id="7" name="Shape 5"/>
          <p:cNvSpPr/>
          <p:nvPr/>
        </p:nvSpPr>
        <p:spPr>
          <a:xfrm>
            <a:off x="1161288" y="4526280"/>
            <a:ext cx="4572000" cy="1234440"/>
          </a:xfrm>
          <a:prstGeom prst="roundRect">
            <a:avLst>
              <a:gd name="adj" fmla="val 6667"/>
            </a:avLst>
          </a:prstGeom>
          <a:solidFill>
            <a:srgbClr val="F3F5F7"/>
          </a:solidFill>
          <a:ln/>
        </p:spPr>
      </p:sp>
      <p:sp>
        <p:nvSpPr>
          <p:cNvPr id="8" name="Text 6"/>
          <p:cNvSpPr/>
          <p:nvPr/>
        </p:nvSpPr>
        <p:spPr>
          <a:xfrm>
            <a:off x="1344168" y="4526280"/>
            <a:ext cx="4297680" cy="1234440"/>
          </a:xfrm>
          <a:prstGeom prst="rect">
            <a:avLst/>
          </a:prstGeom>
          <a:noFill/>
          <a:ln/>
        </p:spPr>
        <p:txBody>
          <a:bodyPr wrap="square" lIns="0" tIns="0" rIns="0" bIns="0" rtlCol="0" anchor="ctr"/>
          <a:lstStyle/>
          <a:p>
            <a:pPr algn="l" indent="0" marL="0">
              <a:lnSpc>
                <a:spcPct val="140000"/>
              </a:lnSpc>
              <a:buNone/>
            </a:pPr>
            <a:r>
              <a:rPr lang="en-US" sz="1450" dirty="0">
                <a:solidFill>
                  <a:srgbClr val="1D2733"/>
                </a:solidFill>
                <a:latin typeface="Segoe UI" pitchFamily="34" charset="0"/>
                <a:ea typeface="Segoe UI" pitchFamily="34" charset="-122"/>
                <a:cs typeface="Segoe UI" pitchFamily="34" charset="-120"/>
              </a:rPr>
              <a:t>Độ trung thực = 1 − (bước bịa)/(bước nhắc nút)
</a:t>
            </a:r>
            <a:pPr algn="l" indent="0" marL="0">
              <a:lnSpc>
                <a:spcPct val="140000"/>
              </a:lnSpc>
              <a:buNone/>
            </a:pPr>
            <a:r>
              <a:rPr lang="en-US" sz="1450" b="1" dirty="0">
                <a:solidFill>
                  <a:srgbClr val="BE5A2E"/>
                </a:solidFill>
                <a:latin typeface="Segoe UI" pitchFamily="34" charset="0"/>
                <a:ea typeface="Segoe UI" pitchFamily="34" charset="-122"/>
                <a:cs typeface="Segoe UI" pitchFamily="34" charset="-120"/>
              </a:rPr>
              <a:t>= 1 − 1/3 = 0,67</a:t>
            </a:r>
            <a:endParaRPr lang="en-US" sz="1450" dirty="0"/>
          </a:p>
        </p:txBody>
      </p:sp>
      <p:sp>
        <p:nvSpPr>
          <p:cNvPr id="9" name="Shape 7"/>
          <p:cNvSpPr/>
          <p:nvPr/>
        </p:nvSpPr>
        <p:spPr>
          <a:xfrm>
            <a:off x="6144768" y="2148840"/>
            <a:ext cx="5202936" cy="3840480"/>
          </a:xfrm>
          <a:prstGeom prst="roundRect">
            <a:avLst>
              <a:gd name="adj" fmla="val 2143"/>
            </a:avLst>
          </a:prstGeom>
          <a:solidFill>
            <a:srgbClr val="F7EBE3"/>
          </a:solidFill>
          <a:ln/>
        </p:spPr>
      </p:sp>
      <p:sp>
        <p:nvSpPr>
          <p:cNvPr id="10" name="Text 8"/>
          <p:cNvSpPr/>
          <p:nvPr/>
        </p:nvSpPr>
        <p:spPr>
          <a:xfrm>
            <a:off x="6446520" y="2331720"/>
            <a:ext cx="4754880" cy="320040"/>
          </a:xfrm>
          <a:prstGeom prst="rect">
            <a:avLst/>
          </a:prstGeom>
          <a:noFill/>
          <a:ln/>
        </p:spPr>
        <p:txBody>
          <a:bodyPr wrap="square" lIns="0" tIns="0" rIns="0" bIns="0" rtlCol="0" anchor="t"/>
          <a:lstStyle/>
          <a:p>
            <a:pPr algn="l" indent="0" marL="0">
              <a:buNone/>
            </a:pPr>
            <a:r>
              <a:rPr lang="en-US" sz="1600" b="1" dirty="0">
                <a:solidFill>
                  <a:srgbClr val="BE5A2E"/>
                </a:solidFill>
                <a:latin typeface="Cambria" pitchFamily="34" charset="0"/>
                <a:ea typeface="Cambria" pitchFamily="34" charset="-122"/>
                <a:cs typeface="Cambria" pitchFamily="34" charset="-120"/>
              </a:rPr>
              <a:t>Sắp đúng thứ tự — nhiều màn</a:t>
            </a:r>
            <a:endParaRPr lang="en-US" sz="1600" dirty="0"/>
          </a:p>
        </p:txBody>
      </p:sp>
      <p:sp>
        <p:nvSpPr>
          <p:cNvPr id="11" name="Text 9"/>
          <p:cNvSpPr/>
          <p:nvPr/>
        </p:nvSpPr>
        <p:spPr>
          <a:xfrm>
            <a:off x="6446520" y="2743200"/>
            <a:ext cx="4709160" cy="1783080"/>
          </a:xfrm>
          <a:prstGeom prst="rect">
            <a:avLst/>
          </a:prstGeom>
          <a:noFill/>
          <a:ln/>
        </p:spPr>
        <p:txBody>
          <a:bodyPr wrap="square" lIns="0" tIns="0" rIns="0" bIns="0" rtlCol="0" anchor="t"/>
          <a:lstStyle/>
          <a:p>
            <a:pPr algn="l" indent="0" marL="0">
              <a:lnSpc>
                <a:spcPct val="132000"/>
              </a:lnSpc>
              <a:buNone/>
            </a:pPr>
            <a:r>
              <a:rPr lang="en-US" sz="1250" dirty="0">
                <a:solidFill>
                  <a:srgbClr val="454C55"/>
                </a:solidFill>
                <a:latin typeface="Segoe UI" pitchFamily="34" charset="0"/>
                <a:ea typeface="Segoe UI" pitchFamily="34" charset="-122"/>
                <a:cs typeface="Segoe UI" pitchFamily="34" charset="-120"/>
              </a:rPr>
              <a:t>Thứ tự đúng (đáp án mẫu):  </a:t>
            </a:r>
            <a:pPr algn="l" indent="0" marL="0">
              <a:lnSpc>
                <a:spcPct val="132000"/>
              </a:lnSpc>
              <a:buNone/>
            </a:pPr>
            <a:r>
              <a:rPr lang="en-US" sz="1250" b="1" dirty="0">
                <a:solidFill>
                  <a:srgbClr val="1D2733"/>
                </a:solidFill>
                <a:latin typeface="Segoe UI" pitchFamily="34" charset="0"/>
                <a:ea typeface="Segoe UI" pitchFamily="34" charset="-122"/>
                <a:cs typeface="Segoe UI" pitchFamily="34" charset="-120"/>
              </a:rPr>
              <a:t>A → B → C
</a:t>
            </a:r>
            <a:pPr algn="l" indent="0" marL="0">
              <a:lnSpc>
                <a:spcPct val="132000"/>
              </a:lnSpc>
              <a:buNone/>
            </a:pPr>
            <a:r>
              <a:rPr lang="en-US" sz="1250" dirty="0">
                <a:solidFill>
                  <a:srgbClr val="454C55"/>
                </a:solidFill>
                <a:latin typeface="Segoe UI" pitchFamily="34" charset="0"/>
                <a:ea typeface="Segoe UI" pitchFamily="34" charset="-122"/>
                <a:cs typeface="Segoe UI" pitchFamily="34" charset="-120"/>
              </a:rPr>
              <a:t>Hệ sắp ra:  </a:t>
            </a:r>
            <a:pPr algn="l" indent="0" marL="0">
              <a:lnSpc>
                <a:spcPct val="132000"/>
              </a:lnSpc>
              <a:buNone/>
            </a:pPr>
            <a:r>
              <a:rPr lang="en-US" sz="1250" b="1" dirty="0">
                <a:solidFill>
                  <a:srgbClr val="1D2733"/>
                </a:solidFill>
                <a:latin typeface="Segoe UI" pitchFamily="34" charset="0"/>
                <a:ea typeface="Segoe UI" pitchFamily="34" charset="-122"/>
                <a:cs typeface="Segoe UI" pitchFamily="34" charset="-120"/>
              </a:rPr>
              <a:t>A → C → B
</a:t>
            </a:r>
            <a:pPr algn="l" indent="0" marL="0">
              <a:lnSpc>
                <a:spcPct val="132000"/>
              </a:lnSpc>
              <a:buNone/>
            </a:pPr>
            <a:r>
              <a:rPr lang="en-US" sz="1250" b="1" dirty="0">
                <a:solidFill>
                  <a:srgbClr val="52657A"/>
                </a:solidFill>
                <a:latin typeface="Segoe UI" pitchFamily="34" charset="0"/>
                <a:ea typeface="Segoe UI" pitchFamily="34" charset="-122"/>
                <a:cs typeface="Segoe UI" pitchFamily="34" charset="-120"/>
              </a:rPr>
              <a:t>Kiểm ba cặp buộc phải đúng thứ tự:
</a:t>
            </a:r>
            <a:pPr algn="l" indent="0" marL="0">
              <a:lnSpc>
                <a:spcPct val="132000"/>
              </a:lnSpc>
              <a:buNone/>
            </a:pPr>
            <a:r>
              <a:rPr lang="en-US" sz="1250" dirty="0">
                <a:solidFill>
                  <a:srgbClr val="1D2733"/>
                </a:solidFill>
                <a:latin typeface="Segoe UI" pitchFamily="34" charset="0"/>
                <a:ea typeface="Segoe UI" pitchFamily="34" charset="-122"/>
                <a:cs typeface="Segoe UI" pitchFamily="34" charset="-120"/>
              </a:rPr>
              <a:t>•  A trước B ?  hệ để A trước B  →  </a:t>
            </a:r>
            <a:pPr algn="l" indent="0" marL="0">
              <a:lnSpc>
                <a:spcPct val="132000"/>
              </a:lnSpc>
              <a:buNone/>
            </a:pPr>
            <a:r>
              <a:rPr lang="en-US" sz="1250" b="1" dirty="0">
                <a:solidFill>
                  <a:srgbClr val="1E6B43"/>
                </a:solidFill>
                <a:latin typeface="Segoe UI" pitchFamily="34" charset="0"/>
                <a:ea typeface="Segoe UI" pitchFamily="34" charset="-122"/>
                <a:cs typeface="Segoe UI" pitchFamily="34" charset="-120"/>
              </a:rPr>
              <a:t>đúng
</a:t>
            </a:r>
            <a:pPr algn="l" indent="0" marL="0">
              <a:lnSpc>
                <a:spcPct val="132000"/>
              </a:lnSpc>
              <a:buNone/>
            </a:pPr>
            <a:r>
              <a:rPr lang="en-US" sz="1250" dirty="0">
                <a:solidFill>
                  <a:srgbClr val="1D2733"/>
                </a:solidFill>
                <a:latin typeface="Segoe UI" pitchFamily="34" charset="0"/>
                <a:ea typeface="Segoe UI" pitchFamily="34" charset="-122"/>
                <a:cs typeface="Segoe UI" pitchFamily="34" charset="-120"/>
              </a:rPr>
              <a:t>•  A trước C ?  hệ để A trước C  →  </a:t>
            </a:r>
            <a:pPr algn="l" indent="0" marL="0">
              <a:lnSpc>
                <a:spcPct val="132000"/>
              </a:lnSpc>
              <a:buNone/>
            </a:pPr>
            <a:r>
              <a:rPr lang="en-US" sz="1250" b="1" dirty="0">
                <a:solidFill>
                  <a:srgbClr val="1E6B43"/>
                </a:solidFill>
                <a:latin typeface="Segoe UI" pitchFamily="34" charset="0"/>
                <a:ea typeface="Segoe UI" pitchFamily="34" charset="-122"/>
                <a:cs typeface="Segoe UI" pitchFamily="34" charset="-120"/>
              </a:rPr>
              <a:t>đúng
</a:t>
            </a:r>
            <a:pPr algn="l" indent="0" marL="0">
              <a:lnSpc>
                <a:spcPct val="132000"/>
              </a:lnSpc>
              <a:buNone/>
            </a:pPr>
            <a:r>
              <a:rPr lang="en-US" sz="1250" dirty="0">
                <a:solidFill>
                  <a:srgbClr val="1D2733"/>
                </a:solidFill>
                <a:latin typeface="Segoe UI" pitchFamily="34" charset="0"/>
                <a:ea typeface="Segoe UI" pitchFamily="34" charset="-122"/>
                <a:cs typeface="Segoe UI" pitchFamily="34" charset="-120"/>
              </a:rPr>
              <a:t>•  B trước C ?  hệ để C trước B  →  </a:t>
            </a:r>
            <a:pPr algn="l" indent="0" marL="0">
              <a:lnSpc>
                <a:spcPct val="132000"/>
              </a:lnSpc>
              <a:buNone/>
            </a:pPr>
            <a:r>
              <a:rPr lang="en-US" sz="1250" b="1" dirty="0">
                <a:solidFill>
                  <a:srgbClr val="BE5A2E"/>
                </a:solidFill>
                <a:latin typeface="Segoe UI" pitchFamily="34" charset="0"/>
                <a:ea typeface="Segoe UI" pitchFamily="34" charset="-122"/>
                <a:cs typeface="Segoe UI" pitchFamily="34" charset="-120"/>
              </a:rPr>
              <a:t>sai</a:t>
            </a:r>
            <a:endParaRPr lang="en-US" sz="1250" dirty="0"/>
          </a:p>
        </p:txBody>
      </p:sp>
      <p:sp>
        <p:nvSpPr>
          <p:cNvPr id="12" name="Shape 10"/>
          <p:cNvSpPr/>
          <p:nvPr/>
        </p:nvSpPr>
        <p:spPr>
          <a:xfrm>
            <a:off x="6446520" y="4572000"/>
            <a:ext cx="4709160" cy="1188720"/>
          </a:xfrm>
          <a:prstGeom prst="roundRect">
            <a:avLst>
              <a:gd name="adj" fmla="val 6923"/>
            </a:avLst>
          </a:prstGeom>
          <a:solidFill>
            <a:srgbClr val="FFFFFF"/>
          </a:solidFill>
          <a:ln w="12700">
            <a:solidFill>
              <a:srgbClr val="DBE0E6"/>
            </a:solidFill>
            <a:prstDash val="solid"/>
          </a:ln>
        </p:spPr>
      </p:sp>
      <p:sp>
        <p:nvSpPr>
          <p:cNvPr id="13" name="Text 11"/>
          <p:cNvSpPr/>
          <p:nvPr/>
        </p:nvSpPr>
        <p:spPr>
          <a:xfrm>
            <a:off x="6629400" y="4572000"/>
            <a:ext cx="4343400" cy="1188720"/>
          </a:xfrm>
          <a:prstGeom prst="rect">
            <a:avLst/>
          </a:prstGeom>
          <a:noFill/>
          <a:ln/>
        </p:spPr>
        <p:txBody>
          <a:bodyPr wrap="square" lIns="0" tIns="0" rIns="0" bIns="0" rtlCol="0" anchor="ctr"/>
          <a:lstStyle/>
          <a:p>
            <a:pPr algn="l" indent="0" marL="0">
              <a:lnSpc>
                <a:spcPct val="140000"/>
              </a:lnSpc>
              <a:buNone/>
            </a:pPr>
            <a:r>
              <a:rPr lang="en-US" sz="1300" dirty="0">
                <a:solidFill>
                  <a:srgbClr val="1D2733"/>
                </a:solidFill>
                <a:latin typeface="Segoe UI" pitchFamily="34" charset="0"/>
                <a:ea typeface="Segoe UI" pitchFamily="34" charset="-122"/>
                <a:cs typeface="Segoe UI" pitchFamily="34" charset="-120"/>
              </a:rPr>
              <a:t>2 cặp đúng, 1 cặp sai:   </a:t>
            </a:r>
            <a:pPr algn="l" indent="0" marL="0">
              <a:lnSpc>
                <a:spcPct val="140000"/>
              </a:lnSpc>
              <a:buNone/>
            </a:pPr>
            <a:r>
              <a:rPr lang="en-US" sz="1300" b="1" dirty="0">
                <a:solidFill>
                  <a:srgbClr val="BE5A2E"/>
                </a:solidFill>
                <a:latin typeface="Segoe UI" pitchFamily="34" charset="0"/>
                <a:ea typeface="Segoe UI" pitchFamily="34" charset="-122"/>
                <a:cs typeface="Segoe UI" pitchFamily="34" charset="-120"/>
              </a:rPr>
              <a:t>điểm = (2 − 1) / 3 ≈ +0,33
</a:t>
            </a:r>
            <a:pPr algn="l" indent="0" marL="0">
              <a:lnSpc>
                <a:spcPct val="140000"/>
              </a:lnSpc>
              <a:buNone/>
            </a:pPr>
            <a:r>
              <a:rPr lang="en-US" sz="1300" dirty="0">
                <a:solidFill>
                  <a:srgbClr val="8B929B"/>
                </a:solidFill>
                <a:latin typeface="Segoe UI" pitchFamily="34" charset="0"/>
                <a:ea typeface="Segoe UI" pitchFamily="34" charset="-122"/>
                <a:cs typeface="Segoe UI" pitchFamily="34" charset="-120"/>
              </a:rPr>
              <a:t>(−1 nếu sai hết thứ tự, +1 nếu đúng hết)</a:t>
            </a:r>
            <a:endParaRPr lang="en-US" sz="1300" dirty="0"/>
          </a:p>
        </p:txBody>
      </p:sp>
      <p:sp>
        <p:nvSpPr>
          <p:cNvPr id="14" name="Text 12"/>
          <p:cNvSpPr/>
          <p:nvPr/>
        </p:nvSpPr>
        <p:spPr>
          <a:xfrm>
            <a:off x="841248" y="6126480"/>
            <a:ext cx="10515600" cy="320040"/>
          </a:xfrm>
          <a:prstGeom prst="rect">
            <a:avLst/>
          </a:prstGeom>
          <a:noFill/>
          <a:ln/>
        </p:spPr>
        <p:txBody>
          <a:bodyPr wrap="square" lIns="0" tIns="0" rIns="0" bIns="0" rtlCol="0" anchor="t"/>
          <a:lstStyle/>
          <a:p>
            <a:pPr algn="l" indent="0" marL="0">
              <a:buNone/>
            </a:pPr>
            <a:r>
              <a:rPr lang="en-US" sz="1300" b="1" dirty="0">
                <a:solidFill>
                  <a:srgbClr val="1D2733"/>
                </a:solidFill>
                <a:latin typeface="Segoe UI" pitchFamily="34" charset="0"/>
                <a:ea typeface="Segoe UI" pitchFamily="34" charset="-122"/>
                <a:cs typeface="Segoe UI" pitchFamily="34" charset="-120"/>
              </a:rPr>
              <a:t>Lưu ý.  </a:t>
            </a:r>
            <a:pPr algn="l" indent="0" marL="0">
              <a:buNone/>
            </a:pPr>
            <a:r>
              <a:rPr lang="en-US" sz="1300" dirty="0">
                <a:solidFill>
                  <a:srgbClr val="454C55"/>
                </a:solidFill>
                <a:latin typeface="Segoe UI" pitchFamily="34" charset="0"/>
                <a:ea typeface="Segoe UI" pitchFamily="34" charset="-122"/>
                <a:cs typeface="Segoe UI" pitchFamily="34" charset="-120"/>
              </a:rPr>
              <a:t>Con số công bố cho một màn là tỉ lệ nhắc sai của bản nháp GỐC, không phải trị số gần 100% sau khi đã sửa.</a:t>
            </a:r>
            <a:endParaRPr lang="en-US" sz="1300" dirty="0"/>
          </a:p>
        </p:txBody>
      </p:sp>
      <p:sp>
        <p:nvSpPr>
          <p:cNvPr id="15" name="Text 13"/>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ĐÁNH GIÁ · ĐỐI CHỨNG</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Bấm có trúng đúng nút không — đối chứng ScreenSpot</a:t>
            </a:r>
            <a:endParaRPr lang="en-US" sz="2800" dirty="0"/>
          </a:p>
        </p:txBody>
      </p:sp>
      <p:sp>
        <p:nvSpPr>
          <p:cNvPr id="4" name="Shape 2"/>
          <p:cNvSpPr/>
          <p:nvPr/>
        </p:nvSpPr>
        <p:spPr>
          <a:xfrm>
            <a:off x="3575304" y="1947672"/>
            <a:ext cx="1133856" cy="2587752"/>
          </a:xfrm>
          <a:prstGeom prst="roundRect">
            <a:avLst>
              <a:gd name="adj" fmla="val 5645"/>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5" name="Image 0" descr="_img/real_ground_1.png">    </p:cNvPr>
          <p:cNvPicPr>
            <a:picLocks noChangeAspect="1"/>
          </p:cNvPicPr>
          <p:nvPr/>
        </p:nvPicPr>
        <p:blipFill>
          <a:blip r:embed="rId1"/>
          <a:srcRect l="0" r="0" t="0" b="0"/>
          <a:stretch/>
        </p:blipFill>
        <p:spPr>
          <a:xfrm>
            <a:off x="3639312" y="2011680"/>
            <a:ext cx="1005840" cy="2148840"/>
          </a:xfrm>
          <a:prstGeom prst="rect">
            <a:avLst/>
          </a:prstGeom>
        </p:spPr>
      </p:pic>
      <p:sp>
        <p:nvSpPr>
          <p:cNvPr id="6" name="Text 3"/>
          <p:cNvSpPr/>
          <p:nvPr/>
        </p:nvSpPr>
        <p:spPr>
          <a:xfrm>
            <a:off x="3575304" y="4187952"/>
            <a:ext cx="1133856" cy="310896"/>
          </a:xfrm>
          <a:prstGeom prst="rect">
            <a:avLst/>
          </a:prstGeom>
          <a:noFill/>
          <a:ln/>
        </p:spPr>
        <p:txBody>
          <a:bodyPr wrap="square" lIns="0" tIns="0" rIns="0" bIns="0" rtlCol="0" anchor="ctr"/>
          <a:lstStyle/>
          <a:p>
            <a:pPr algn="ctr" indent="0" marL="0">
              <a:buNone/>
            </a:pPr>
            <a:r>
              <a:rPr lang="en-US" sz="1250" b="1" dirty="0">
                <a:solidFill>
                  <a:srgbClr val="1D2733"/>
                </a:solidFill>
                <a:latin typeface="Segoe UI" pitchFamily="34" charset="0"/>
                <a:ea typeface="Segoe UI" pitchFamily="34" charset="-122"/>
                <a:cs typeface="Segoe UI" pitchFamily="34" charset="-120"/>
              </a:rPr>
              <a:t>“lật ống kính”</a:t>
            </a:r>
            <a:endParaRPr lang="en-US" sz="1250" dirty="0"/>
          </a:p>
        </p:txBody>
      </p:sp>
      <p:sp>
        <p:nvSpPr>
          <p:cNvPr id="7" name="Shape 4"/>
          <p:cNvSpPr/>
          <p:nvPr/>
        </p:nvSpPr>
        <p:spPr>
          <a:xfrm>
            <a:off x="5449824" y="1947672"/>
            <a:ext cx="1133856" cy="2587752"/>
          </a:xfrm>
          <a:prstGeom prst="roundRect">
            <a:avLst>
              <a:gd name="adj" fmla="val 5645"/>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8" name="Image 1" descr="_img/real_ground_2.png">    </p:cNvPr>
          <p:cNvPicPr>
            <a:picLocks noChangeAspect="1"/>
          </p:cNvPicPr>
          <p:nvPr/>
        </p:nvPicPr>
        <p:blipFill>
          <a:blip r:embed="rId2"/>
          <a:srcRect l="0" r="0" t="0" b="0"/>
          <a:stretch/>
        </p:blipFill>
        <p:spPr>
          <a:xfrm>
            <a:off x="5513832" y="2011680"/>
            <a:ext cx="1005840" cy="2148840"/>
          </a:xfrm>
          <a:prstGeom prst="rect">
            <a:avLst/>
          </a:prstGeom>
        </p:spPr>
      </p:pic>
      <p:sp>
        <p:nvSpPr>
          <p:cNvPr id="9" name="Text 5"/>
          <p:cNvSpPr/>
          <p:nvPr/>
        </p:nvSpPr>
        <p:spPr>
          <a:xfrm>
            <a:off x="5449824" y="4187952"/>
            <a:ext cx="1133856" cy="310896"/>
          </a:xfrm>
          <a:prstGeom prst="rect">
            <a:avLst/>
          </a:prstGeom>
          <a:noFill/>
          <a:ln/>
        </p:spPr>
        <p:txBody>
          <a:bodyPr wrap="square" lIns="0" tIns="0" rIns="0" bIns="0" rtlCol="0" anchor="ctr"/>
          <a:lstStyle/>
          <a:p>
            <a:pPr algn="ctr" indent="0" marL="0">
              <a:buNone/>
            </a:pPr>
            <a:r>
              <a:rPr lang="en-US" sz="1250" b="1" dirty="0">
                <a:solidFill>
                  <a:srgbClr val="1D2733"/>
                </a:solidFill>
                <a:latin typeface="Segoe UI" pitchFamily="34" charset="0"/>
                <a:ea typeface="Segoe UI" pitchFamily="34" charset="-122"/>
                <a:cs typeface="Segoe UI" pitchFamily="34" charset="-120"/>
              </a:rPr>
              <a:t>“bắt đầu hẹn giờ”</a:t>
            </a:r>
            <a:endParaRPr lang="en-US" sz="1250" dirty="0"/>
          </a:p>
        </p:txBody>
      </p:sp>
      <p:sp>
        <p:nvSpPr>
          <p:cNvPr id="10" name="Shape 6"/>
          <p:cNvSpPr/>
          <p:nvPr/>
        </p:nvSpPr>
        <p:spPr>
          <a:xfrm>
            <a:off x="7324344" y="1947672"/>
            <a:ext cx="1133856" cy="2587752"/>
          </a:xfrm>
          <a:prstGeom prst="roundRect">
            <a:avLst>
              <a:gd name="adj" fmla="val 5645"/>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11" name="Image 2" descr="_img/real_ground_3.png">    </p:cNvPr>
          <p:cNvPicPr>
            <a:picLocks noChangeAspect="1"/>
          </p:cNvPicPr>
          <p:nvPr/>
        </p:nvPicPr>
        <p:blipFill>
          <a:blip r:embed="rId3"/>
          <a:srcRect l="0" r="0" t="0" b="0"/>
          <a:stretch/>
        </p:blipFill>
        <p:spPr>
          <a:xfrm>
            <a:off x="7388352" y="2011680"/>
            <a:ext cx="1005840" cy="2148840"/>
          </a:xfrm>
          <a:prstGeom prst="rect">
            <a:avLst/>
          </a:prstGeom>
        </p:spPr>
      </p:pic>
      <p:sp>
        <p:nvSpPr>
          <p:cNvPr id="12" name="Text 7"/>
          <p:cNvSpPr/>
          <p:nvPr/>
        </p:nvSpPr>
        <p:spPr>
          <a:xfrm>
            <a:off x="7324344" y="4187952"/>
            <a:ext cx="1133856" cy="310896"/>
          </a:xfrm>
          <a:prstGeom prst="rect">
            <a:avLst/>
          </a:prstGeom>
          <a:noFill/>
          <a:ln/>
        </p:spPr>
        <p:txBody>
          <a:bodyPr wrap="square" lIns="0" tIns="0" rIns="0" bIns="0" rtlCol="0" anchor="ctr"/>
          <a:lstStyle/>
          <a:p>
            <a:pPr algn="ctr" indent="0" marL="0">
              <a:buNone/>
            </a:pPr>
            <a:r>
              <a:rPr lang="en-US" sz="1250" b="1" dirty="0">
                <a:solidFill>
                  <a:srgbClr val="1D2733"/>
                </a:solidFill>
                <a:latin typeface="Segoe UI" pitchFamily="34" charset="0"/>
                <a:ea typeface="Segoe UI" pitchFamily="34" charset="-122"/>
                <a:cs typeface="Segoe UI" pitchFamily="34" charset="-120"/>
              </a:rPr>
              <a:t>“thêm sự kiện lịch”</a:t>
            </a:r>
            <a:endParaRPr lang="en-US" sz="1250" dirty="0"/>
          </a:p>
        </p:txBody>
      </p:sp>
      <p:sp>
        <p:nvSpPr>
          <p:cNvPr id="13" name="Shape 8"/>
          <p:cNvSpPr/>
          <p:nvPr/>
        </p:nvSpPr>
        <p:spPr>
          <a:xfrm>
            <a:off x="841248" y="4663440"/>
            <a:ext cx="5212080" cy="1280160"/>
          </a:xfrm>
          <a:prstGeom prst="roundRect">
            <a:avLst>
              <a:gd name="adj" fmla="val 6429"/>
            </a:avLst>
          </a:prstGeom>
          <a:solidFill>
            <a:srgbClr val="F3F5F7"/>
          </a:solidFill>
          <a:ln/>
        </p:spPr>
      </p:sp>
      <p:sp>
        <p:nvSpPr>
          <p:cNvPr id="14" name="Text 9"/>
          <p:cNvSpPr/>
          <p:nvPr/>
        </p:nvSpPr>
        <p:spPr>
          <a:xfrm>
            <a:off x="1115568" y="4773168"/>
            <a:ext cx="4663440" cy="274320"/>
          </a:xfrm>
          <a:prstGeom prst="rect">
            <a:avLst/>
          </a:prstGeom>
          <a:noFill/>
          <a:ln/>
        </p:spPr>
        <p:txBody>
          <a:bodyPr wrap="square" lIns="0" tIns="0" rIns="0" bIns="0" rtlCol="0" anchor="t"/>
          <a:lstStyle/>
          <a:p>
            <a:pPr algn="l" indent="0" marL="0">
              <a:buNone/>
            </a:pPr>
            <a:r>
              <a:rPr lang="en-US" sz="1350" b="1" dirty="0">
                <a:solidFill>
                  <a:srgbClr val="BE5A2E"/>
                </a:solidFill>
                <a:latin typeface="Cambria" pitchFamily="34" charset="0"/>
                <a:ea typeface="Cambria" pitchFamily="34" charset="-122"/>
                <a:cs typeface="Cambria" pitchFamily="34" charset="-120"/>
              </a:rPr>
              <a:t>Cách làm</a:t>
            </a:r>
            <a:endParaRPr lang="en-US" sz="1350" dirty="0"/>
          </a:p>
        </p:txBody>
      </p:sp>
      <p:sp>
        <p:nvSpPr>
          <p:cNvPr id="15" name="Text 10"/>
          <p:cNvSpPr/>
          <p:nvPr/>
        </p:nvSpPr>
        <p:spPr>
          <a:xfrm>
            <a:off x="1115568" y="5074920"/>
            <a:ext cx="4709160" cy="822960"/>
          </a:xfrm>
          <a:prstGeom prst="rect">
            <a:avLst/>
          </a:prstGeom>
          <a:noFill/>
          <a:ln/>
        </p:spPr>
        <p:txBody>
          <a:bodyPr wrap="square" lIns="0" tIns="0" rIns="0" bIns="0" rtlCol="0" anchor="t"/>
          <a:lstStyle/>
          <a:p>
            <a:pPr algn="l" indent="0" marL="0">
              <a:lnSpc>
                <a:spcPct val="118000"/>
              </a:lnSpc>
              <a:buNone/>
            </a:pPr>
            <a:r>
              <a:rPr lang="en-US" sz="1200" dirty="0">
                <a:solidFill>
                  <a:srgbClr val="454C55"/>
                </a:solidFill>
                <a:latin typeface="Segoe UI" pitchFamily="34" charset="0"/>
                <a:ea typeface="Segoe UI" pitchFamily="34" charset="-122"/>
                <a:cs typeface="Segoe UI" pitchFamily="34" charset="-120"/>
              </a:rPr>
              <a:t>Một mô hình grounding có sẵn — không thuộc hệ sinh hướng dẫn — nhận tên nút và ảnh rồi tự đoán toạ độ điểm bấm. Không lấy sẵn tâm nút (lấy tâm thì luôn trúng, vô nghĩa). Khung đỏ trên ảnh là nút đúng.</a:t>
            </a:r>
            <a:endParaRPr lang="en-US" sz="1200" dirty="0"/>
          </a:p>
        </p:txBody>
      </p:sp>
      <p:sp>
        <p:nvSpPr>
          <p:cNvPr id="16" name="Shape 11"/>
          <p:cNvSpPr/>
          <p:nvPr/>
        </p:nvSpPr>
        <p:spPr>
          <a:xfrm>
            <a:off x="6327648" y="4663440"/>
            <a:ext cx="5020056" cy="1280160"/>
          </a:xfrm>
          <a:prstGeom prst="roundRect">
            <a:avLst>
              <a:gd name="adj" fmla="val 6429"/>
            </a:avLst>
          </a:prstGeom>
          <a:solidFill>
            <a:srgbClr val="F7EBE3"/>
          </a:solidFill>
          <a:ln/>
        </p:spPr>
      </p:sp>
      <p:sp>
        <p:nvSpPr>
          <p:cNvPr id="17" name="Text 12"/>
          <p:cNvSpPr/>
          <p:nvPr/>
        </p:nvSpPr>
        <p:spPr>
          <a:xfrm>
            <a:off x="6601968" y="4773168"/>
            <a:ext cx="4572000" cy="274320"/>
          </a:xfrm>
          <a:prstGeom prst="rect">
            <a:avLst/>
          </a:prstGeom>
          <a:noFill/>
          <a:ln/>
        </p:spPr>
        <p:txBody>
          <a:bodyPr wrap="square" lIns="0" tIns="0" rIns="0" bIns="0" rtlCol="0" anchor="t"/>
          <a:lstStyle/>
          <a:p>
            <a:pPr algn="l" indent="0" marL="0">
              <a:buNone/>
            </a:pPr>
            <a:r>
              <a:rPr lang="en-US" sz="1350" b="1" dirty="0">
                <a:solidFill>
                  <a:srgbClr val="BE5A2E"/>
                </a:solidFill>
                <a:latin typeface="Cambria" pitchFamily="34" charset="0"/>
                <a:ea typeface="Cambria" pitchFamily="34" charset="-122"/>
                <a:cs typeface="Cambria" pitchFamily="34" charset="-120"/>
              </a:rPr>
              <a:t>Thước đo — Tỉ lệ trúng</a:t>
            </a:r>
            <a:endParaRPr lang="en-US" sz="1350" dirty="0"/>
          </a:p>
        </p:txBody>
      </p:sp>
      <p:sp>
        <p:nvSpPr>
          <p:cNvPr id="18" name="Text 13"/>
          <p:cNvSpPr/>
          <p:nvPr/>
        </p:nvSpPr>
        <p:spPr>
          <a:xfrm>
            <a:off x="6601968" y="5074920"/>
            <a:ext cx="4526280" cy="822960"/>
          </a:xfrm>
          <a:prstGeom prst="rect">
            <a:avLst/>
          </a:prstGeom>
          <a:noFill/>
          <a:ln/>
        </p:spPr>
        <p:txBody>
          <a:bodyPr wrap="square" lIns="0" tIns="0" rIns="0" bIns="0" rtlCol="0" anchor="t"/>
          <a:lstStyle/>
          <a:p>
            <a:pPr algn="l" indent="0" marL="0">
              <a:lnSpc>
                <a:spcPct val="118000"/>
              </a:lnSpc>
              <a:buNone/>
            </a:pPr>
            <a:r>
              <a:rPr lang="en-US" sz="1200" b="1" dirty="0">
                <a:solidFill>
                  <a:srgbClr val="1D2733"/>
                </a:solidFill>
                <a:latin typeface="Segoe UI" pitchFamily="34" charset="0"/>
                <a:ea typeface="Segoe UI" pitchFamily="34" charset="-122"/>
                <a:cs typeface="Segoe UI" pitchFamily="34" charset="-120"/>
              </a:rPr>
              <a:t>= (số nút trúng) / (tổng số nút). </a:t>
            </a:r>
            <a:pPr algn="l" indent="0" marL="0">
              <a:lnSpc>
                <a:spcPct val="118000"/>
              </a:lnSpc>
              <a:buNone/>
            </a:pPr>
            <a:r>
              <a:rPr lang="en-US" sz="1200" dirty="0">
                <a:solidFill>
                  <a:srgbClr val="454C55"/>
                </a:solidFill>
                <a:latin typeface="Segoe UI" pitchFamily="34" charset="0"/>
                <a:ea typeface="Segoe UI" pitchFamily="34" charset="-122"/>
                <a:cs typeface="Segoe UI" pitchFamily="34" charset="-120"/>
              </a:rPr>
              <a:t>Một nút trúng nếu điểm rơi trong khung: trái ≤ x ≤ phải, trên ≤ y ≤ dưới. Báo riêng nút chữ / biểu tượng. Dữ liệu: ScreenSpot, 501 nút.</a:t>
            </a:r>
            <a:endParaRPr lang="en-US" sz="1200" dirty="0"/>
          </a:p>
        </p:txBody>
      </p:sp>
      <p:sp>
        <p:nvSpPr>
          <p:cNvPr id="19" name="Text 14"/>
          <p:cNvSpPr/>
          <p:nvPr/>
        </p:nvSpPr>
        <p:spPr>
          <a:xfrm>
            <a:off x="841248" y="6053328"/>
            <a:ext cx="10515600" cy="292608"/>
          </a:xfrm>
          <a:prstGeom prst="rect">
            <a:avLst/>
          </a:prstGeom>
          <a:noFill/>
          <a:ln/>
        </p:spPr>
        <p:txBody>
          <a:bodyPr wrap="square" lIns="0" tIns="0" rIns="0" bIns="0" rtlCol="0" anchor="t"/>
          <a:lstStyle/>
          <a:p>
            <a:pPr algn="l" indent="0" marL="0">
              <a:buNone/>
            </a:pPr>
            <a:r>
              <a:rPr lang="en-US" sz="1200" b="1" dirty="0">
                <a:solidFill>
                  <a:srgbClr val="52657A"/>
                </a:solidFill>
                <a:latin typeface="Segoe UI" pitchFamily="34" charset="0"/>
                <a:ea typeface="Segoe UI" pitchFamily="34" charset="-122"/>
                <a:cs typeface="Segoe UI" pitchFamily="34" charset="-120"/>
              </a:rPr>
              <a:t>Ví dụ:  </a:t>
            </a:r>
            <a:pPr algn="l" indent="0" marL="0">
              <a:buNone/>
            </a:pPr>
            <a:r>
              <a:rPr lang="en-US" sz="1200" dirty="0">
                <a:solidFill>
                  <a:srgbClr val="52657A"/>
                </a:solidFill>
                <a:latin typeface="Segoe UI" pitchFamily="34" charset="0"/>
                <a:ea typeface="Segoe UI" pitchFamily="34" charset="-122"/>
                <a:cs typeface="Segoe UI" pitchFamily="34" charset="-120"/>
              </a:rPr>
              <a:t>nút “lật ống kính” có khung (965, 2105)–(1110, 2258); bộ trỏ đoán (1030, 2180) → nằm trong khung → trúng.</a:t>
            </a:r>
            <a:endParaRPr lang="en-US" sz="1200" dirty="0"/>
          </a:p>
        </p:txBody>
      </p:sp>
      <p:sp>
        <p:nvSpPr>
          <p:cNvPr id="20" name="Text 15"/>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point-in-bbox — SeeClick (ACL 2024) · bộ đối chứng ScreenSpot-v2 — OS-Atlas (ICLR 2025).</a:t>
            </a:r>
            <a:endParaRPr lang="en-US" sz="1000" dirty="0"/>
          </a:p>
        </p:txBody>
      </p:sp>
      <p:sp>
        <p:nvSpPr>
          <p:cNvPr id="21" name="Text 16"/>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ĐÓNG GÓP B · PHƯƠNG PHÁP ĐÁNH GIÁ</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Cách chấm không cần đáp án mẫu, dùng lại được</a:t>
            </a:r>
            <a:endParaRPr lang="en-US" sz="2800" dirty="0"/>
          </a:p>
        </p:txBody>
      </p:sp>
      <p:sp>
        <p:nvSpPr>
          <p:cNvPr id="4" name="Text 2"/>
          <p:cNvSpPr/>
          <p:nvPr/>
        </p:nvSpPr>
        <p:spPr>
          <a:xfrm>
            <a:off x="841248" y="1810512"/>
            <a:ext cx="10515600" cy="320040"/>
          </a:xfrm>
          <a:prstGeom prst="rect">
            <a:avLst/>
          </a:prstGeom>
          <a:noFill/>
          <a:ln/>
        </p:spPr>
        <p:txBody>
          <a:bodyPr wrap="square" lIns="0" tIns="0" rIns="0" bIns="0" rtlCol="0" anchor="t"/>
          <a:lstStyle/>
          <a:p>
            <a:pPr algn="l" indent="0" marL="0">
              <a:buNone/>
            </a:pPr>
            <a:r>
              <a:rPr lang="en-US" sz="1350" b="1" dirty="0">
                <a:solidFill>
                  <a:srgbClr val="BE5A2E"/>
                </a:solidFill>
                <a:latin typeface="Segoe UI" pitchFamily="34" charset="0"/>
                <a:ea typeface="Segoe UI" pitchFamily="34" charset="-122"/>
                <a:cs typeface="Segoe UI" pitchFamily="34" charset="-120"/>
              </a:rPr>
              <a:t>Đây là đóng góp B, đứng độc lập với hệ thống:  </a:t>
            </a:r>
            <a:pPr algn="l" indent="0" marL="0">
              <a:buNone/>
            </a:pPr>
            <a:r>
              <a:rPr lang="en-US" sz="1350" dirty="0">
                <a:solidFill>
                  <a:srgbClr val="454C55"/>
                </a:solidFill>
                <a:latin typeface="Segoe UI" pitchFamily="34" charset="0"/>
                <a:ea typeface="Segoe UI" pitchFamily="34" charset="-122"/>
                <a:cs typeface="Segoe UI" pitchFamily="34" charset="-120"/>
              </a:rPr>
              <a:t>một phương pháp đánh giá không cần bản mẫu người soạn và không tự chấm — ba lớp bảo đảm dưới đây làm nó đáng tin.</a:t>
            </a:r>
            <a:endParaRPr lang="en-US" sz="1350" dirty="0"/>
          </a:p>
        </p:txBody>
      </p:sp>
      <p:sp>
        <p:nvSpPr>
          <p:cNvPr id="5" name="Shape 3"/>
          <p:cNvSpPr/>
          <p:nvPr/>
        </p:nvSpPr>
        <p:spPr>
          <a:xfrm>
            <a:off x="841248" y="2194560"/>
            <a:ext cx="10506456" cy="1051560"/>
          </a:xfrm>
          <a:prstGeom prst="roundRect">
            <a:avLst>
              <a:gd name="adj" fmla="val 6957"/>
            </a:avLst>
          </a:prstGeom>
          <a:solidFill>
            <a:srgbClr val="FFFFFF"/>
          </a:solidFill>
          <a:ln w="12700">
            <a:solidFill>
              <a:srgbClr val="DBE0E6"/>
            </a:solidFill>
            <a:prstDash val="solid"/>
          </a:ln>
        </p:spPr>
      </p:sp>
      <p:sp>
        <p:nvSpPr>
          <p:cNvPr id="6" name="Shape 4"/>
          <p:cNvSpPr/>
          <p:nvPr/>
        </p:nvSpPr>
        <p:spPr>
          <a:xfrm>
            <a:off x="1115568" y="2450592"/>
            <a:ext cx="548640" cy="548640"/>
          </a:xfrm>
          <a:prstGeom prst="ellipse">
            <a:avLst/>
          </a:prstGeom>
          <a:solidFill>
            <a:srgbClr val="BE5A2E"/>
          </a:solidFill>
          <a:ln/>
        </p:spPr>
      </p:sp>
      <p:sp>
        <p:nvSpPr>
          <p:cNvPr id="7" name="Text 5"/>
          <p:cNvSpPr/>
          <p:nvPr/>
        </p:nvSpPr>
        <p:spPr>
          <a:xfrm>
            <a:off x="1115568" y="2450592"/>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Cambria" pitchFamily="34" charset="0"/>
                <a:ea typeface="Cambria" pitchFamily="34" charset="-122"/>
                <a:cs typeface="Cambria" pitchFamily="34" charset="-120"/>
              </a:rPr>
              <a:t>1</a:t>
            </a:r>
            <a:endParaRPr lang="en-US" sz="2040" dirty="0"/>
          </a:p>
        </p:txBody>
      </p:sp>
      <p:sp>
        <p:nvSpPr>
          <p:cNvPr id="8" name="Text 6"/>
          <p:cNvSpPr/>
          <p:nvPr/>
        </p:nvSpPr>
        <p:spPr>
          <a:xfrm>
            <a:off x="1892808" y="2194560"/>
            <a:ext cx="3017520" cy="1051560"/>
          </a:xfrm>
          <a:prstGeom prst="rect">
            <a:avLst/>
          </a:prstGeom>
          <a:noFill/>
          <a:ln/>
        </p:spPr>
        <p:txBody>
          <a:bodyPr wrap="square" lIns="0" tIns="0" rIns="0" bIns="0" rtlCol="0" anchor="ctr"/>
          <a:lstStyle/>
          <a:p>
            <a:pPr algn="l" indent="0" marL="0">
              <a:lnSpc>
                <a:spcPct val="105000"/>
              </a:lnSpc>
              <a:buNone/>
            </a:pPr>
            <a:r>
              <a:rPr lang="en-US" sz="1600" b="1" dirty="0">
                <a:solidFill>
                  <a:srgbClr val="1D2733"/>
                </a:solidFill>
                <a:latin typeface="Cambria" pitchFamily="34" charset="0"/>
                <a:ea typeface="Cambria" pitchFamily="34" charset="-122"/>
                <a:cs typeface="Cambria" pitchFamily="34" charset="-120"/>
              </a:rPr>
              <a:t>Không tự chấm mình</a:t>
            </a:r>
            <a:endParaRPr lang="en-US" sz="1600" dirty="0"/>
          </a:p>
        </p:txBody>
      </p:sp>
      <p:sp>
        <p:nvSpPr>
          <p:cNvPr id="9" name="Text 7"/>
          <p:cNvSpPr/>
          <p:nvPr/>
        </p:nvSpPr>
        <p:spPr>
          <a:xfrm>
            <a:off x="4956048" y="2194560"/>
            <a:ext cx="6217920" cy="1051560"/>
          </a:xfrm>
          <a:prstGeom prst="rect">
            <a:avLst/>
          </a:prstGeom>
          <a:noFill/>
          <a:ln/>
        </p:spPr>
        <p:txBody>
          <a:bodyPr wrap="square" lIns="0" tIns="0" rIns="0" bIns="0" rtlCol="0" anchor="ctr"/>
          <a:lstStyle/>
          <a:p>
            <a:pPr algn="l" indent="0" marL="0">
              <a:lnSpc>
                <a:spcPct val="122000"/>
              </a:lnSpc>
              <a:buNone/>
            </a:pPr>
            <a:r>
              <a:rPr lang="en-US" sz="1350" dirty="0">
                <a:solidFill>
                  <a:srgbClr val="454C55"/>
                </a:solidFill>
                <a:latin typeface="Segoe UI" pitchFamily="34" charset="0"/>
                <a:ea typeface="Segoe UI" pitchFamily="34" charset="-122"/>
                <a:cs typeface="Segoe UI" pitchFamily="34" charset="-120"/>
              </a:rPr>
              <a:t>Công cụ quyết định một bước đúng hay sai và công cụ chấm điểm là hai công cụ khác nhau, và đều không phải mô hình đã viết ra hướng dẫn.</a:t>
            </a:r>
            <a:endParaRPr lang="en-US" sz="1350" dirty="0"/>
          </a:p>
        </p:txBody>
      </p:sp>
      <p:sp>
        <p:nvSpPr>
          <p:cNvPr id="10" name="Shape 8"/>
          <p:cNvSpPr/>
          <p:nvPr/>
        </p:nvSpPr>
        <p:spPr>
          <a:xfrm>
            <a:off x="841248" y="3429000"/>
            <a:ext cx="10506456" cy="1051560"/>
          </a:xfrm>
          <a:prstGeom prst="roundRect">
            <a:avLst>
              <a:gd name="adj" fmla="val 6957"/>
            </a:avLst>
          </a:prstGeom>
          <a:solidFill>
            <a:srgbClr val="FFFFFF"/>
          </a:solidFill>
          <a:ln w="12700">
            <a:solidFill>
              <a:srgbClr val="DBE0E6"/>
            </a:solidFill>
            <a:prstDash val="solid"/>
          </a:ln>
        </p:spPr>
      </p:sp>
      <p:sp>
        <p:nvSpPr>
          <p:cNvPr id="11" name="Shape 9"/>
          <p:cNvSpPr/>
          <p:nvPr/>
        </p:nvSpPr>
        <p:spPr>
          <a:xfrm>
            <a:off x="1115568" y="3685032"/>
            <a:ext cx="548640" cy="548640"/>
          </a:xfrm>
          <a:prstGeom prst="ellipse">
            <a:avLst/>
          </a:prstGeom>
          <a:solidFill>
            <a:srgbClr val="BE5A2E"/>
          </a:solidFill>
          <a:ln/>
        </p:spPr>
      </p:sp>
      <p:sp>
        <p:nvSpPr>
          <p:cNvPr id="12" name="Text 10"/>
          <p:cNvSpPr/>
          <p:nvPr/>
        </p:nvSpPr>
        <p:spPr>
          <a:xfrm>
            <a:off x="1115568" y="3685032"/>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Cambria" pitchFamily="34" charset="0"/>
                <a:ea typeface="Cambria" pitchFamily="34" charset="-122"/>
                <a:cs typeface="Cambria" pitchFamily="34" charset="-120"/>
              </a:rPr>
              <a:t>2</a:t>
            </a:r>
            <a:endParaRPr lang="en-US" sz="2040" dirty="0"/>
          </a:p>
        </p:txBody>
      </p:sp>
      <p:sp>
        <p:nvSpPr>
          <p:cNvPr id="13" name="Text 11"/>
          <p:cNvSpPr/>
          <p:nvPr/>
        </p:nvSpPr>
        <p:spPr>
          <a:xfrm>
            <a:off x="1892808" y="3429000"/>
            <a:ext cx="3017520" cy="1051560"/>
          </a:xfrm>
          <a:prstGeom prst="rect">
            <a:avLst/>
          </a:prstGeom>
          <a:noFill/>
          <a:ln/>
        </p:spPr>
        <p:txBody>
          <a:bodyPr wrap="square" lIns="0" tIns="0" rIns="0" bIns="0" rtlCol="0" anchor="ctr"/>
          <a:lstStyle/>
          <a:p>
            <a:pPr algn="l" indent="0" marL="0">
              <a:lnSpc>
                <a:spcPct val="105000"/>
              </a:lnSpc>
              <a:buNone/>
            </a:pPr>
            <a:r>
              <a:rPr lang="en-US" sz="1600" b="1" dirty="0">
                <a:solidFill>
                  <a:srgbClr val="1D2733"/>
                </a:solidFill>
                <a:latin typeface="Cambria" pitchFamily="34" charset="0"/>
                <a:ea typeface="Cambria" pitchFamily="34" charset="-122"/>
                <a:cs typeface="Cambria" pitchFamily="34" charset="-120"/>
              </a:rPr>
              <a:t>Thử bằng lỗi cố ý</a:t>
            </a:r>
            <a:endParaRPr lang="en-US" sz="1600" dirty="0"/>
          </a:p>
        </p:txBody>
      </p:sp>
      <p:sp>
        <p:nvSpPr>
          <p:cNvPr id="14" name="Text 12"/>
          <p:cNvSpPr/>
          <p:nvPr/>
        </p:nvSpPr>
        <p:spPr>
          <a:xfrm>
            <a:off x="4956048" y="3429000"/>
            <a:ext cx="6217920" cy="1051560"/>
          </a:xfrm>
          <a:prstGeom prst="rect">
            <a:avLst/>
          </a:prstGeom>
          <a:noFill/>
          <a:ln/>
        </p:spPr>
        <p:txBody>
          <a:bodyPr wrap="square" lIns="0" tIns="0" rIns="0" bIns="0" rtlCol="0" anchor="ctr"/>
          <a:lstStyle/>
          <a:p>
            <a:pPr algn="l" indent="0" marL="0">
              <a:lnSpc>
                <a:spcPct val="122000"/>
              </a:lnSpc>
              <a:buNone/>
            </a:pPr>
            <a:r>
              <a:rPr lang="en-US" sz="1350" dirty="0">
                <a:solidFill>
                  <a:srgbClr val="454C55"/>
                </a:solidFill>
                <a:latin typeface="Segoe UI" pitchFamily="34" charset="0"/>
                <a:ea typeface="Segoe UI" pitchFamily="34" charset="-122"/>
                <a:cs typeface="Segoe UI" pitchFamily="34" charset="-120"/>
              </a:rPr>
              <a:t>Cố tình chèn lỗi đã biết vào một hướng dẫn đúng, xem thước đo có phát hiện. Thêm nút giả thì điểm phải tụt; đổi tên đồng nghĩa thì điểm giữ nguyên.</a:t>
            </a:r>
            <a:endParaRPr lang="en-US" sz="1350" dirty="0"/>
          </a:p>
        </p:txBody>
      </p:sp>
      <p:sp>
        <p:nvSpPr>
          <p:cNvPr id="15" name="Shape 13"/>
          <p:cNvSpPr/>
          <p:nvPr/>
        </p:nvSpPr>
        <p:spPr>
          <a:xfrm>
            <a:off x="841248" y="4663440"/>
            <a:ext cx="10506456" cy="1051560"/>
          </a:xfrm>
          <a:prstGeom prst="roundRect">
            <a:avLst>
              <a:gd name="adj" fmla="val 6957"/>
            </a:avLst>
          </a:prstGeom>
          <a:solidFill>
            <a:srgbClr val="FFFFFF"/>
          </a:solidFill>
          <a:ln w="12700">
            <a:solidFill>
              <a:srgbClr val="DBE0E6"/>
            </a:solidFill>
            <a:prstDash val="solid"/>
          </a:ln>
        </p:spPr>
      </p:sp>
      <p:sp>
        <p:nvSpPr>
          <p:cNvPr id="16" name="Shape 14"/>
          <p:cNvSpPr/>
          <p:nvPr/>
        </p:nvSpPr>
        <p:spPr>
          <a:xfrm>
            <a:off x="1115568" y="4919472"/>
            <a:ext cx="548640" cy="548640"/>
          </a:xfrm>
          <a:prstGeom prst="ellipse">
            <a:avLst/>
          </a:prstGeom>
          <a:solidFill>
            <a:srgbClr val="BE5A2E"/>
          </a:solidFill>
          <a:ln/>
        </p:spPr>
      </p:sp>
      <p:sp>
        <p:nvSpPr>
          <p:cNvPr id="17" name="Text 15"/>
          <p:cNvSpPr/>
          <p:nvPr/>
        </p:nvSpPr>
        <p:spPr>
          <a:xfrm>
            <a:off x="1115568" y="4919472"/>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Cambria" pitchFamily="34" charset="0"/>
                <a:ea typeface="Cambria" pitchFamily="34" charset="-122"/>
                <a:cs typeface="Cambria" pitchFamily="34" charset="-120"/>
              </a:rPr>
              <a:t>3</a:t>
            </a:r>
            <a:endParaRPr lang="en-US" sz="2040" dirty="0"/>
          </a:p>
        </p:txBody>
      </p:sp>
      <p:sp>
        <p:nvSpPr>
          <p:cNvPr id="18" name="Text 16"/>
          <p:cNvSpPr/>
          <p:nvPr/>
        </p:nvSpPr>
        <p:spPr>
          <a:xfrm>
            <a:off x="1892808" y="4663440"/>
            <a:ext cx="3017520" cy="1051560"/>
          </a:xfrm>
          <a:prstGeom prst="rect">
            <a:avLst/>
          </a:prstGeom>
          <a:noFill/>
          <a:ln/>
        </p:spPr>
        <p:txBody>
          <a:bodyPr wrap="square" lIns="0" tIns="0" rIns="0" bIns="0" rtlCol="0" anchor="ctr"/>
          <a:lstStyle/>
          <a:p>
            <a:pPr algn="l" indent="0" marL="0">
              <a:lnSpc>
                <a:spcPct val="105000"/>
              </a:lnSpc>
              <a:buNone/>
            </a:pPr>
            <a:r>
              <a:rPr lang="en-US" sz="1600" b="1" dirty="0">
                <a:solidFill>
                  <a:srgbClr val="1D2733"/>
                </a:solidFill>
                <a:latin typeface="Cambria" pitchFamily="34" charset="0"/>
                <a:ea typeface="Cambria" pitchFamily="34" charset="-122"/>
                <a:cs typeface="Cambria" pitchFamily="34" charset="-120"/>
              </a:rPr>
              <a:t>Thống kê cẩn thận</a:t>
            </a:r>
            <a:endParaRPr lang="en-US" sz="1600" dirty="0"/>
          </a:p>
        </p:txBody>
      </p:sp>
      <p:sp>
        <p:nvSpPr>
          <p:cNvPr id="19" name="Text 17"/>
          <p:cNvSpPr/>
          <p:nvPr/>
        </p:nvSpPr>
        <p:spPr>
          <a:xfrm>
            <a:off x="4956048" y="4663440"/>
            <a:ext cx="6217920" cy="1051560"/>
          </a:xfrm>
          <a:prstGeom prst="rect">
            <a:avLst/>
          </a:prstGeom>
          <a:noFill/>
          <a:ln/>
        </p:spPr>
        <p:txBody>
          <a:bodyPr wrap="square" lIns="0" tIns="0" rIns="0" bIns="0" rtlCol="0" anchor="ctr"/>
          <a:lstStyle/>
          <a:p>
            <a:pPr algn="l" indent="0" marL="0">
              <a:lnSpc>
                <a:spcPct val="122000"/>
              </a:lnSpc>
              <a:buNone/>
            </a:pPr>
            <a:r>
              <a:rPr lang="en-US" sz="1350" dirty="0">
                <a:solidFill>
                  <a:srgbClr val="454C55"/>
                </a:solidFill>
                <a:latin typeface="Segoe UI" pitchFamily="34" charset="0"/>
                <a:ea typeface="Segoe UI" pitchFamily="34" charset="-122"/>
                <a:cs typeface="Segoe UI" pitchFamily="34" charset="-120"/>
              </a:rPr>
              <a:t>Gộp theo ứng dụng vì các màn cùng ứng dụng không độc lập; báo khoảng tin cậy; chốt ngưỡng trước khi nhìn kết quả.</a:t>
            </a:r>
            <a:endParaRPr lang="en-US" sz="1350" dirty="0"/>
          </a:p>
        </p:txBody>
      </p:sp>
      <p:sp>
        <p:nvSpPr>
          <p:cNvPr id="20" name="Text 18"/>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dùng bộ chấm khác dòng với mô hình sinh — Panickssery (NeurIPS 2024) · gộp theo ứng dụng — MacKinnon, Nielsen &amp; Webb (J. Econometrics 2023).</a:t>
            </a:r>
            <a:endParaRPr lang="en-US" sz="1000" dirty="0"/>
          </a:p>
        </p:txBody>
      </p:sp>
      <p:sp>
        <p:nvSpPr>
          <p:cNvPr id="21" name="Text 19"/>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ĐÓNG GÓP B · TỰ KIỂM THƯỚC ĐO</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Thử độ tin của thước đo bằng lỗi cố ý</a:t>
            </a:r>
            <a:endParaRPr lang="en-US" sz="2800" dirty="0"/>
          </a:p>
        </p:txBody>
      </p:sp>
      <p:sp>
        <p:nvSpPr>
          <p:cNvPr id="4" name="Text 2"/>
          <p:cNvSpPr/>
          <p:nvPr/>
        </p:nvSpPr>
        <p:spPr>
          <a:xfrm>
            <a:off x="841248" y="1965960"/>
            <a:ext cx="10424160" cy="822960"/>
          </a:xfrm>
          <a:prstGeom prst="rect">
            <a:avLst/>
          </a:prstGeom>
          <a:noFill/>
          <a:ln/>
        </p:spPr>
        <p:txBody>
          <a:bodyPr wrap="square" lIns="0" tIns="0" rIns="0" bIns="0" rtlCol="0" anchor="t"/>
          <a:lstStyle/>
          <a:p>
            <a:pPr algn="l" indent="0" marL="0">
              <a:lnSpc>
                <a:spcPct val="125000"/>
              </a:lnSpc>
              <a:buNone/>
            </a:pPr>
            <a:r>
              <a:rPr lang="en-US" sz="1400" dirty="0">
                <a:solidFill>
                  <a:srgbClr val="454C55"/>
                </a:solidFill>
                <a:latin typeface="Segoe UI" pitchFamily="34" charset="0"/>
                <a:ea typeface="Segoe UI" pitchFamily="34" charset="-122"/>
                <a:cs typeface="Segoe UI" pitchFamily="34" charset="-120"/>
              </a:rPr>
              <a:t>Giống thử máy báo khói bằng cách tạo khói: </a:t>
            </a:r>
            <a:pPr algn="l" indent="0" marL="0">
              <a:lnSpc>
                <a:spcPct val="125000"/>
              </a:lnSpc>
              <a:buNone/>
            </a:pPr>
            <a:r>
              <a:rPr lang="en-US" sz="1400" b="1" dirty="0">
                <a:solidFill>
                  <a:srgbClr val="1D2733"/>
                </a:solidFill>
                <a:latin typeface="Segoe UI" pitchFamily="34" charset="0"/>
                <a:ea typeface="Segoe UI" pitchFamily="34" charset="-122"/>
                <a:cs typeface="Segoe UI" pitchFamily="34" charset="-120"/>
              </a:rPr>
              <a:t>một chương trình tự động</a:t>
            </a:r>
            <a:pPr algn="l" indent="0" marL="0">
              <a:lnSpc>
                <a:spcPct val="125000"/>
              </a:lnSpc>
              <a:buNone/>
            </a:pPr>
            <a:r>
              <a:rPr lang="en-US" sz="1400" dirty="0">
                <a:solidFill>
                  <a:srgbClr val="454C55"/>
                </a:solidFill>
                <a:latin typeface="Segoe UI" pitchFamily="34" charset="0"/>
                <a:ea typeface="Segoe UI" pitchFamily="34" charset="-122"/>
                <a:cs typeface="Segoe UI" pitchFamily="34" charset="-120"/>
              </a:rPr>
              <a:t> chèn một lỗi đã biết vào hướng dẫn đúng (không phải người, không phải AI sinh; tách khỏi bộ khớp tên nút). Vì chính mình tạo lỗi nên biết sẵn đáp án — chỉ cần xem thước đo có phản ứng đúng hướng không.</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41248" y="2926080"/>
          <a:ext cx="10506456" cy="914400"/>
        </p:xfrm>
        <a:graphic>
          <a:graphicData uri="http://schemas.openxmlformats.org/drawingml/2006/table">
            <a:tbl>
              <a:tblPr/>
              <a:tblGrid>
                <a:gridCol w="4892040"/>
                <a:gridCol w="5614416"/>
              </a:tblGrid>
              <a:tr h="640080">
                <a:tc>
                  <a:txBody>
                    <a:bodyPr/>
                    <a:lstStyle/>
                    <a:p>
                      <a:pPr indent="0" marL="0">
                        <a:buNone/>
                      </a:pPr>
                      <a:r>
                        <a:rPr lang="en-US" sz="1400" b="1" dirty="0">
                          <a:solidFill>
                            <a:srgbClr val="1D2733"/>
                          </a:solidFill>
                          <a:latin typeface="Segoe UI" pitchFamily="34" charset="0"/>
                          <a:ea typeface="Segoe UI" pitchFamily="34" charset="-122"/>
                          <a:cs typeface="Segoe UI" pitchFamily="34" charset="-120"/>
                        </a:rPr>
                        <a:t>Lỗi cố ý chèn vào</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indent="0" marL="0">
                        <a:buNone/>
                      </a:pPr>
                      <a:r>
                        <a:rPr lang="en-US" sz="1400" b="1" dirty="0">
                          <a:solidFill>
                            <a:srgbClr val="1D2733"/>
                          </a:solidFill>
                          <a:latin typeface="Segoe UI" pitchFamily="34" charset="0"/>
                          <a:ea typeface="Segoe UI" pitchFamily="34" charset="-122"/>
                          <a:cs typeface="Segoe UI" pitchFamily="34" charset="-120"/>
                        </a:rPr>
                        <a:t>Thước đo phải phản ứng thế nào</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r>
              <a:tr h="6400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Thêm một nút không có trên màn</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400" b="1" dirty="0">
                          <a:solidFill>
                            <a:srgbClr val="BE5A2E"/>
                          </a:solidFill>
                          <a:latin typeface="Segoe UI" pitchFamily="34" charset="0"/>
                          <a:ea typeface="Segoe UI" pitchFamily="34" charset="-122"/>
                          <a:cs typeface="Segoe UI" pitchFamily="34" charset="-120"/>
                        </a:rPr>
                        <a:t>Độ trung thực phải tụt</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6400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Đổi tên nút thành một từ đồng nghĩa</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400" b="1" dirty="0">
                          <a:solidFill>
                            <a:srgbClr val="BE5A2E"/>
                          </a:solidFill>
                          <a:latin typeface="Segoe UI" pitchFamily="34" charset="0"/>
                          <a:ea typeface="Segoe UI" pitchFamily="34" charset="-122"/>
                          <a:cs typeface="Segoe UI" pitchFamily="34" charset="-120"/>
                        </a:rPr>
                        <a:t>Độ trung thực giữ nguyên, nhưng độ đúng nhãn tụt</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640080">
                <a:tc>
                  <a:txBody>
                    <a:bodyPr/>
                    <a:lstStyle/>
                    <a:p>
                      <a:pPr indent="0" marL="0">
                        <a:buNone/>
                      </a:pPr>
                      <a:r>
                        <a:rPr lang="en-US" sz="1400" dirty="0">
                          <a:solidFill>
                            <a:srgbClr val="000000"/>
                          </a:solidFill>
                          <a:latin typeface="Segoe UI" pitchFamily="34" charset="0"/>
                          <a:ea typeface="Segoe UI" pitchFamily="34" charset="-122"/>
                          <a:cs typeface="Segoe UI" pitchFamily="34" charset="-120"/>
                        </a:rPr>
                        <a:t>Đảo thứ tự vài bước bắt buộc</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400" b="1" dirty="0">
                          <a:solidFill>
                            <a:srgbClr val="BE5A2E"/>
                          </a:solidFill>
                          <a:latin typeface="Segoe UI" pitchFamily="34" charset="0"/>
                          <a:ea typeface="Segoe UI" pitchFamily="34" charset="-122"/>
                          <a:cs typeface="Segoe UI" pitchFamily="34" charset="-120"/>
                        </a:rPr>
                        <a:t>Điểm đúng thứ tự (τ) phải tụt</a:t>
                      </a:r>
                      <a:endParaRPr lang="en-US" sz="14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bl>
          </a:graphicData>
        </a:graphic>
      </p:graphicFrame>
      <p:sp>
        <p:nvSpPr>
          <p:cNvPr id="6" name="Shape 3"/>
          <p:cNvSpPr/>
          <p:nvPr/>
        </p:nvSpPr>
        <p:spPr>
          <a:xfrm>
            <a:off x="841248" y="5504688"/>
            <a:ext cx="10506456" cy="749808"/>
          </a:xfrm>
          <a:prstGeom prst="roundRect">
            <a:avLst>
              <a:gd name="adj" fmla="val 10976"/>
            </a:avLst>
          </a:prstGeom>
          <a:solidFill>
            <a:srgbClr val="F7EBE3"/>
          </a:solidFill>
          <a:ln/>
        </p:spPr>
      </p:sp>
      <p:sp>
        <p:nvSpPr>
          <p:cNvPr id="7" name="Text 4"/>
          <p:cNvSpPr/>
          <p:nvPr/>
        </p:nvSpPr>
        <p:spPr>
          <a:xfrm>
            <a:off x="1115568" y="5504688"/>
            <a:ext cx="10058400" cy="749808"/>
          </a:xfrm>
          <a:prstGeom prst="rect">
            <a:avLst/>
          </a:prstGeom>
          <a:noFill/>
          <a:ln/>
        </p:spPr>
        <p:txBody>
          <a:bodyPr wrap="square" lIns="0" tIns="0" rIns="0" bIns="0" rtlCol="0" anchor="ctr"/>
          <a:lstStyle/>
          <a:p>
            <a:pPr algn="l" indent="0" marL="0">
              <a:lnSpc>
                <a:spcPct val="120000"/>
              </a:lnSpc>
              <a:buNone/>
            </a:pPr>
            <a:r>
              <a:rPr lang="en-US" sz="1250" b="1" dirty="0">
                <a:solidFill>
                  <a:srgbClr val="1D2733"/>
                </a:solidFill>
                <a:latin typeface="Segoe UI" pitchFamily="34" charset="0"/>
                <a:ea typeface="Segoe UI" pitchFamily="34" charset="-122"/>
                <a:cs typeface="Segoe UI" pitchFamily="34" charset="-120"/>
              </a:rPr>
              <a:t>Chấm chính thước đo bằng ba con số:  </a:t>
            </a:r>
            <a:pPr algn="l" indent="0" marL="0">
              <a:lnSpc>
                <a:spcPct val="120000"/>
              </a:lnSpc>
              <a:buNone/>
            </a:pPr>
            <a:r>
              <a:rPr lang="en-US" sz="1250" dirty="0">
                <a:solidFill>
                  <a:srgbClr val="454C55"/>
                </a:solidFill>
                <a:latin typeface="Segoe UI" pitchFamily="34" charset="0"/>
                <a:ea typeface="Segoe UI" pitchFamily="34" charset="-122"/>
                <a:cs typeface="Segoe UI" pitchFamily="34" charset="-120"/>
              </a:rPr>
              <a:t>tỉ lệ bắt được lỗi, tỉ lệ báo nhầm (giữ dưới 5%), và mức độ nhất quán (lỗi càng nặng thì điểm càng giảm). Thước nào không đạt thì bị loại, thay cho việc nhờ người chấm.</a:t>
            </a:r>
            <a:endParaRPr lang="en-US" sz="1250" dirty="0"/>
          </a:p>
        </p:txBody>
      </p:sp>
      <p:sp>
        <p:nvSpPr>
          <p:cNvPr id="8" name="Text 5"/>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validate bằng nhiễu loạn — Sai et al. (EMNLP 2021) · không lấy chấm-người làm cổng — Clark et al. (ACL-IJCNLP 2021).</a:t>
            </a:r>
            <a:endParaRPr lang="en-US" sz="1000" dirty="0"/>
          </a:p>
        </p:txBody>
      </p:sp>
      <p:sp>
        <p:nvSpPr>
          <p:cNvPr id="9" name="Text 6"/>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BỘ THÍ NGHIỆM</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Bảy câu hỏi nghiên cứu và mức cần đạt, chốt trước khi chạy</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41248" y="1965960"/>
          <a:ext cx="10506456" cy="914400"/>
        </p:xfrm>
        <a:graphic>
          <a:graphicData uri="http://schemas.openxmlformats.org/drawingml/2006/table">
            <a:tbl>
              <a:tblPr/>
              <a:tblGrid>
                <a:gridCol w="4343400"/>
                <a:gridCol w="868680"/>
                <a:gridCol w="5294376"/>
              </a:tblGrid>
              <a:tr h="457200">
                <a:tc>
                  <a:txBody>
                    <a:bodyPr/>
                    <a:lstStyle/>
                    <a:p>
                      <a:pPr indent="0" marL="0">
                        <a:buNone/>
                      </a:pPr>
                      <a:r>
                        <a:rPr lang="en-US" sz="1200" b="1" dirty="0">
                          <a:solidFill>
                            <a:srgbClr val="1D2733"/>
                          </a:solidFill>
                          <a:latin typeface="Segoe UI" pitchFamily="34" charset="0"/>
                          <a:ea typeface="Segoe UI" pitchFamily="34" charset="-122"/>
                          <a:cs typeface="Segoe UI" pitchFamily="34" charset="-120"/>
                        </a:rPr>
                        <a:t>Câu hỏi nghiên cứu</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algn="ctr" indent="0" marL="0">
                        <a:buNone/>
                      </a:pPr>
                      <a:r>
                        <a:rPr lang="en-US" sz="1200" b="1" dirty="0">
                          <a:solidFill>
                            <a:srgbClr val="1D2733"/>
                          </a:solidFill>
                          <a:latin typeface="Segoe UI" pitchFamily="34" charset="0"/>
                          <a:ea typeface="Segoe UI" pitchFamily="34" charset="-122"/>
                          <a:cs typeface="Segoe UI" pitchFamily="34" charset="-120"/>
                        </a:rPr>
                        <a:t>TN</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c>
                  <a:txBody>
                    <a:bodyPr/>
                    <a:lstStyle/>
                    <a:p>
                      <a:pPr indent="0" marL="0">
                        <a:buNone/>
                      </a:pPr>
                      <a:r>
                        <a:rPr lang="en-US" sz="1200" b="1" dirty="0">
                          <a:solidFill>
                            <a:srgbClr val="1D2733"/>
                          </a:solidFill>
                          <a:latin typeface="Segoe UI" pitchFamily="34" charset="0"/>
                          <a:ea typeface="Segoe UI" pitchFamily="34" charset="-122"/>
                          <a:cs typeface="Segoe UI" pitchFamily="34" charset="-120"/>
                        </a:rPr>
                        <a:t>Mức cần đạt (chốt trước khi xem kết quả)</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solidFill>
                      <a:srgbClr val="F3F5F7"/>
                    </a:solidFill>
                  </a:tcPr>
                </a:tc>
              </a:tr>
              <a:tr h="45720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Mức nhắc sai thay đổi ra sao theo đời mô hình</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200" b="1" dirty="0">
                          <a:solidFill>
                            <a:srgbClr val="52657A"/>
                          </a:solidFill>
                          <a:latin typeface="Segoe UI" pitchFamily="34" charset="0"/>
                          <a:ea typeface="Segoe UI" pitchFamily="34" charset="-122"/>
                          <a:cs typeface="Segoe UI" pitchFamily="34" charset="-120"/>
                        </a:rPr>
                        <a:t>E1</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mô hình mới vẫn nhắc sai từ 5% trở lên</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Lớp đối chiếu giúp bao nhiêu, giá bao nhiêu</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200" b="1" dirty="0">
                          <a:solidFill>
                            <a:srgbClr val="52657A"/>
                          </a:solidFill>
                          <a:latin typeface="Segoe UI" pitchFamily="34" charset="0"/>
                          <a:ea typeface="Segoe UI" pitchFamily="34" charset="-122"/>
                          <a:cs typeface="Segoe UI" pitchFamily="34" charset="-120"/>
                        </a:rPr>
                        <a:t>E2</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độ trung thực tăng, khoảng 19% bước phải mô tả, chỉ số khác không xấu đi</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Vì sao chỉ mô tả, không đoán nút</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200" b="1" dirty="0">
                          <a:solidFill>
                            <a:srgbClr val="52657A"/>
                          </a:solidFill>
                          <a:latin typeface="Segoe UI" pitchFamily="34" charset="0"/>
                          <a:ea typeface="Segoe UI" pitchFamily="34" charset="-122"/>
                          <a:cs typeface="Segoe UI" pitchFamily="34" charset="-120"/>
                        </a:rPr>
                        <a:t>E3</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cách đoán nút thật sự tạo ra lỗi âm thầm</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Cách đánh giá có đáng tin không</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200" b="1" dirty="0">
                          <a:solidFill>
                            <a:srgbClr val="BE5A2E"/>
                          </a:solidFill>
                          <a:latin typeface="Segoe UI" pitchFamily="34" charset="0"/>
                          <a:ea typeface="Segoe UI" pitchFamily="34" charset="-122"/>
                          <a:cs typeface="Segoe UI" pitchFamily="34" charset="-120"/>
                        </a:rPr>
                        <a:t>E4–7</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báo nhầm dưới 5%, lỗi nặng hơn thì điểm thấp hơn, và khớp với người chấm</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Sắp thứ tự nhiều màn có đúng không</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200" b="1" dirty="0">
                          <a:solidFill>
                            <a:srgbClr val="BE5A2E"/>
                          </a:solidFill>
                          <a:latin typeface="Segoe UI" pitchFamily="34" charset="0"/>
                          <a:ea typeface="Segoe UI" pitchFamily="34" charset="-122"/>
                          <a:cs typeface="Segoe UI" pitchFamily="34" charset="-120"/>
                        </a:rPr>
                        <a:t>E8–13</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tốt hơn xếp ngẫu nhiên, ngang cách sắp một lần, mỗi bước đều có ích</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Làm đúng từng bước tới đâu</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200" b="1" dirty="0">
                          <a:solidFill>
                            <a:srgbClr val="BE5A2E"/>
                          </a:solidFill>
                          <a:latin typeface="Segoe UI" pitchFamily="34" charset="0"/>
                          <a:ea typeface="Segoe UI" pitchFamily="34" charset="-122"/>
                          <a:cs typeface="Segoe UI" pitchFamily="34" charset="-120"/>
                        </a:rPr>
                        <a:t>E14</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điểm làm đúng từng bước thật sự dương</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Bấm có trúng nút không</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200" b="1" dirty="0">
                          <a:solidFill>
                            <a:srgbClr val="BE5A2E"/>
                          </a:solidFill>
                          <a:latin typeface="Segoe UI" pitchFamily="34" charset="0"/>
                          <a:ea typeface="Segoe UI" pitchFamily="34" charset="-122"/>
                          <a:cs typeface="Segoe UI" pitchFamily="34" charset="-120"/>
                        </a:rPr>
                        <a:t>E15</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bộ trỏ độc lập bấm trúng khung nút</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r h="457200">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Người đọc có làm theo được không</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algn="ctr" indent="0" marL="0">
                        <a:buNone/>
                      </a:pPr>
                      <a:r>
                        <a:rPr lang="en-US" sz="1200" b="1" dirty="0">
                          <a:solidFill>
                            <a:srgbClr val="BE5A2E"/>
                          </a:solidFill>
                          <a:latin typeface="Segoe UI" pitchFamily="34" charset="0"/>
                          <a:ea typeface="Segoe UI" pitchFamily="34" charset="-122"/>
                          <a:cs typeface="Segoe UI" pitchFamily="34" charset="-120"/>
                        </a:rPr>
                        <a:t>E16</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c>
                  <a:txBody>
                    <a:bodyPr/>
                    <a:lstStyle/>
                    <a:p>
                      <a:pPr indent="0" marL="0">
                        <a:buNone/>
                      </a:pPr>
                      <a:r>
                        <a:rPr lang="en-US" sz="1200" dirty="0">
                          <a:solidFill>
                            <a:srgbClr val="000000"/>
                          </a:solidFill>
                          <a:latin typeface="Segoe UI" pitchFamily="34" charset="0"/>
                          <a:ea typeface="Segoe UI" pitchFamily="34" charset="-122"/>
                          <a:cs typeface="Segoe UI" pitchFamily="34" charset="-120"/>
                        </a:rPr>
                        <a:t>bản có mô tả thay thế vẫn dễ làm theo</a:t>
                      </a:r>
                      <a:endParaRPr lang="en-US" sz="1200" dirty="0">
                        <a:latin typeface="Segoe UI" charset="0"/>
                        <a:ea typeface="Segoe UI" charset="0"/>
                        <a:cs typeface="Segoe UI" charset="0"/>
                      </a:endParaRPr>
                    </a:p>
                  </a:txBody>
                  <a:tcPr marL="91440" marR="91440" marT="45720" marB="45720" anchor="ctr">
                    <a:lnL w="12700" cap="flat" cmpd="sng" algn="ctr">
                      <a:solidFill>
                        <a:srgbClr val="DBE0E6"/>
                      </a:solidFill>
                      <a:prstDash val="solid"/>
                      <a:round/>
                      <a:headEnd type="none" w="med" len="med"/>
                      <a:tailEnd type="none" w="med" len="med"/>
                    </a:lnL>
                    <a:lnR w="12700" cap="flat" cmpd="sng" algn="ctr">
                      <a:solidFill>
                        <a:srgbClr val="DBE0E6"/>
                      </a:solidFill>
                      <a:prstDash val="solid"/>
                      <a:round/>
                      <a:headEnd type="none" w="med" len="med"/>
                      <a:tailEnd type="none" w="med" len="med"/>
                    </a:lnR>
                    <a:lnT w="12700" cap="flat" cmpd="sng" algn="ctr">
                      <a:solidFill>
                        <a:srgbClr val="DBE0E6"/>
                      </a:solidFill>
                      <a:prstDash val="solid"/>
                      <a:round/>
                      <a:headEnd type="none" w="med" len="med"/>
                      <a:tailEnd type="none" w="med" len="med"/>
                    </a:lnT>
                    <a:lnB w="12700" cap="flat" cmpd="sng" algn="ctr">
                      <a:solidFill>
                        <a:srgbClr val="DBE0E6"/>
                      </a:solidFill>
                      <a:prstDash val="solid"/>
                      <a:round/>
                      <a:headEnd type="none" w="med" len="med"/>
                      <a:tailEnd type="none" w="med" len="med"/>
                    </a:lnB>
                  </a:tcPr>
                </a:tc>
              </a:tr>
            </a:tbl>
          </a:graphicData>
        </a:graphic>
      </p:graphicFrame>
      <p:sp>
        <p:nvSpPr>
          <p:cNvPr id="5" name="Text 2"/>
          <p:cNvSpPr/>
          <p:nvPr/>
        </p:nvSpPr>
        <p:spPr>
          <a:xfrm>
            <a:off x="841248" y="6144768"/>
            <a:ext cx="10515600" cy="292608"/>
          </a:xfrm>
          <a:prstGeom prst="rect">
            <a:avLst/>
          </a:prstGeom>
          <a:noFill/>
          <a:ln/>
        </p:spPr>
        <p:txBody>
          <a:bodyPr wrap="square" lIns="0" tIns="0" rIns="0" bIns="0" rtlCol="0" anchor="t"/>
          <a:lstStyle/>
          <a:p>
            <a:pPr algn="l" indent="0" marL="0">
              <a:buNone/>
            </a:pPr>
            <a:r>
              <a:rPr lang="en-US" sz="1200" b="1" dirty="0">
                <a:solidFill>
                  <a:srgbClr val="1D2733"/>
                </a:solidFill>
                <a:latin typeface="Segoe UI" pitchFamily="34" charset="0"/>
                <a:ea typeface="Segoe UI" pitchFamily="34" charset="-122"/>
                <a:cs typeface="Segoe UI" pitchFamily="34" charset="-120"/>
              </a:rPr>
              <a:t>Chi tiết bảy thí nghiệm cốt lõi (E1–E16), thứ tự chạy và các cổng kiểm:  </a:t>
            </a:r>
            <a:pPr algn="l" indent="0" marL="0">
              <a:buNone/>
            </a:pPr>
            <a:r>
              <a:rPr lang="en-US" sz="1200" dirty="0">
                <a:solidFill>
                  <a:srgbClr val="454C55"/>
                </a:solidFill>
                <a:latin typeface="Segoe UI" pitchFamily="34" charset="0"/>
                <a:ea typeface="Segoe UI" pitchFamily="34" charset="-122"/>
                <a:cs typeface="Segoe UI" pitchFamily="34" charset="-120"/>
              </a:rPr>
              <a:t>bài nói §6 — làm bước miễn phí (kiểm nội bộ) trước, gọi mô hình sau.</a:t>
            </a:r>
            <a:endParaRPr lang="en-US" sz="1200" dirty="0"/>
          </a:p>
        </p:txBody>
      </p:sp>
      <p:sp>
        <p:nvSpPr>
          <p:cNvPr id="6" name="Text 3"/>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chốt mức đánh giá trước khi chạy, không chỉnh sau khi thấy số · gộp theo ứng dụng — MacKinnon, Nielsen &amp; Webb (J. Econometrics 2023).</a:t>
            </a:r>
            <a:endParaRPr lang="en-US" sz="1000" dirty="0"/>
          </a:p>
        </p:txBody>
      </p:sp>
      <p:sp>
        <p:nvSpPr>
          <p:cNvPr id="7" name="Text 4"/>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KẾT QUẢ BƯỚC ĐẦU</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Số liệu ban đầu, kèm phạm vi rõ ràng</a:t>
            </a:r>
            <a:endParaRPr lang="en-US" sz="2800" dirty="0"/>
          </a:p>
        </p:txBody>
      </p:sp>
      <p:sp>
        <p:nvSpPr>
          <p:cNvPr id="4" name="Shape 2"/>
          <p:cNvSpPr/>
          <p:nvPr/>
        </p:nvSpPr>
        <p:spPr>
          <a:xfrm>
            <a:off x="841248" y="2194560"/>
            <a:ext cx="5029200" cy="1600200"/>
          </a:xfrm>
          <a:prstGeom prst="roundRect">
            <a:avLst>
              <a:gd name="adj" fmla="val 5714"/>
            </a:avLst>
          </a:prstGeom>
          <a:solidFill>
            <a:srgbClr val="F3F5F7"/>
          </a:solidFill>
          <a:ln/>
        </p:spPr>
      </p:sp>
      <p:sp>
        <p:nvSpPr>
          <p:cNvPr id="5" name="Text 3"/>
          <p:cNvSpPr/>
          <p:nvPr/>
        </p:nvSpPr>
        <p:spPr>
          <a:xfrm>
            <a:off x="1115568" y="2194560"/>
            <a:ext cx="1783080" cy="1600200"/>
          </a:xfrm>
          <a:prstGeom prst="rect">
            <a:avLst/>
          </a:prstGeom>
          <a:noFill/>
          <a:ln/>
        </p:spPr>
        <p:txBody>
          <a:bodyPr wrap="square" lIns="0" tIns="0" rIns="0" bIns="0" rtlCol="0" anchor="ctr"/>
          <a:lstStyle/>
          <a:p>
            <a:pPr algn="ctr" indent="0" marL="0">
              <a:buNone/>
            </a:pPr>
            <a:r>
              <a:rPr lang="en-US" sz="4400" b="1" dirty="0">
                <a:solidFill>
                  <a:srgbClr val="BE5A2E"/>
                </a:solidFill>
                <a:latin typeface="Cambria" pitchFamily="34" charset="0"/>
                <a:ea typeface="Cambria" pitchFamily="34" charset="-122"/>
                <a:cs typeface="Cambria" pitchFamily="34" charset="-120"/>
              </a:rPr>
              <a:t>≈ 25%</a:t>
            </a:r>
            <a:endParaRPr lang="en-US" sz="4400" dirty="0"/>
          </a:p>
        </p:txBody>
      </p:sp>
      <p:sp>
        <p:nvSpPr>
          <p:cNvPr id="6" name="Text 4"/>
          <p:cNvSpPr/>
          <p:nvPr/>
        </p:nvSpPr>
        <p:spPr>
          <a:xfrm>
            <a:off x="2990088" y="2194560"/>
            <a:ext cx="2697480" cy="1600200"/>
          </a:xfrm>
          <a:prstGeom prst="rect">
            <a:avLst/>
          </a:prstGeom>
          <a:noFill/>
          <a:ln/>
        </p:spPr>
        <p:txBody>
          <a:bodyPr wrap="square" lIns="0" tIns="0" rIns="0" bIns="0" rtlCol="0" anchor="ctr"/>
          <a:lstStyle/>
          <a:p>
            <a:pPr algn="l" indent="0" marL="0">
              <a:lnSpc>
                <a:spcPct val="125000"/>
              </a:lnSpc>
              <a:buNone/>
            </a:pPr>
            <a:r>
              <a:rPr lang="en-US" sz="1400" dirty="0">
                <a:solidFill>
                  <a:srgbClr val="454C55"/>
                </a:solidFill>
                <a:latin typeface="Segoe UI" pitchFamily="34" charset="0"/>
                <a:ea typeface="Segoe UI" pitchFamily="34" charset="-122"/>
                <a:cs typeface="Segoe UI" pitchFamily="34" charset="-120"/>
              </a:rPr>
              <a:t>số bước có nhắc nút bị nhắc sai, ở bản nháp gốc</a:t>
            </a:r>
            <a:endParaRPr lang="en-US" sz="1400" dirty="0"/>
          </a:p>
        </p:txBody>
      </p:sp>
      <p:sp>
        <p:nvSpPr>
          <p:cNvPr id="7" name="Shape 5"/>
          <p:cNvSpPr/>
          <p:nvPr/>
        </p:nvSpPr>
        <p:spPr>
          <a:xfrm>
            <a:off x="841248" y="3977640"/>
            <a:ext cx="5029200" cy="1600200"/>
          </a:xfrm>
          <a:prstGeom prst="roundRect">
            <a:avLst>
              <a:gd name="adj" fmla="val 5714"/>
            </a:avLst>
          </a:prstGeom>
          <a:solidFill>
            <a:srgbClr val="F3F5F7"/>
          </a:solidFill>
          <a:ln/>
        </p:spPr>
      </p:sp>
      <p:sp>
        <p:nvSpPr>
          <p:cNvPr id="8" name="Text 6"/>
          <p:cNvSpPr/>
          <p:nvPr/>
        </p:nvSpPr>
        <p:spPr>
          <a:xfrm>
            <a:off x="1115568" y="3977640"/>
            <a:ext cx="1783080" cy="1600200"/>
          </a:xfrm>
          <a:prstGeom prst="rect">
            <a:avLst/>
          </a:prstGeom>
          <a:noFill/>
          <a:ln/>
        </p:spPr>
        <p:txBody>
          <a:bodyPr wrap="square" lIns="0" tIns="0" rIns="0" bIns="0" rtlCol="0" anchor="ctr"/>
          <a:lstStyle/>
          <a:p>
            <a:pPr algn="ctr" indent="0" marL="0">
              <a:buNone/>
            </a:pPr>
            <a:r>
              <a:rPr lang="en-US" sz="4400" b="1" dirty="0">
                <a:solidFill>
                  <a:srgbClr val="52657A"/>
                </a:solidFill>
                <a:latin typeface="Cambria" pitchFamily="34" charset="0"/>
                <a:ea typeface="Cambria" pitchFamily="34" charset="-122"/>
                <a:cs typeface="Cambria" pitchFamily="34" charset="-120"/>
              </a:rPr>
              <a:t>≈ 19%</a:t>
            </a:r>
            <a:endParaRPr lang="en-US" sz="4400" dirty="0"/>
          </a:p>
        </p:txBody>
      </p:sp>
      <p:sp>
        <p:nvSpPr>
          <p:cNvPr id="9" name="Text 7"/>
          <p:cNvSpPr/>
          <p:nvPr/>
        </p:nvSpPr>
        <p:spPr>
          <a:xfrm>
            <a:off x="2990088" y="3977640"/>
            <a:ext cx="2697480" cy="1600200"/>
          </a:xfrm>
          <a:prstGeom prst="rect">
            <a:avLst/>
          </a:prstGeom>
          <a:noFill/>
          <a:ln/>
        </p:spPr>
        <p:txBody>
          <a:bodyPr wrap="square" lIns="0" tIns="0" rIns="0" bIns="0" rtlCol="0" anchor="ctr"/>
          <a:lstStyle/>
          <a:p>
            <a:pPr algn="l" indent="0" marL="0">
              <a:lnSpc>
                <a:spcPct val="125000"/>
              </a:lnSpc>
              <a:buNone/>
            </a:pPr>
            <a:r>
              <a:rPr lang="en-US" sz="1400" dirty="0">
                <a:solidFill>
                  <a:srgbClr val="454C55"/>
                </a:solidFill>
                <a:latin typeface="Segoe UI" pitchFamily="34" charset="0"/>
                <a:ea typeface="Segoe UI" pitchFamily="34" charset="-122"/>
                <a:cs typeface="Segoe UI" pitchFamily="34" charset="-120"/>
              </a:rPr>
              <a:t>số bước phải chuyển sang mô tả chung — cái giá phải trả</a:t>
            </a:r>
            <a:endParaRPr lang="en-US" sz="1400" dirty="0"/>
          </a:p>
        </p:txBody>
      </p:sp>
      <p:sp>
        <p:nvSpPr>
          <p:cNvPr id="10" name="Shape 8"/>
          <p:cNvSpPr/>
          <p:nvPr/>
        </p:nvSpPr>
        <p:spPr>
          <a:xfrm>
            <a:off x="6144768" y="2194560"/>
            <a:ext cx="5202936" cy="3383280"/>
          </a:xfrm>
          <a:prstGeom prst="roundRect">
            <a:avLst>
              <a:gd name="adj" fmla="val 2703"/>
            </a:avLst>
          </a:prstGeom>
          <a:solidFill>
            <a:srgbClr val="F7EBE3"/>
          </a:solidFill>
          <a:ln/>
        </p:spPr>
      </p:sp>
      <p:sp>
        <p:nvSpPr>
          <p:cNvPr id="11" name="Text 9"/>
          <p:cNvSpPr/>
          <p:nvPr/>
        </p:nvSpPr>
        <p:spPr>
          <a:xfrm>
            <a:off x="6419088" y="2377440"/>
            <a:ext cx="4663440" cy="320040"/>
          </a:xfrm>
          <a:prstGeom prst="rect">
            <a:avLst/>
          </a:prstGeom>
          <a:noFill/>
          <a:ln/>
        </p:spPr>
        <p:txBody>
          <a:bodyPr wrap="square" lIns="0" tIns="0" rIns="0" bIns="0" rtlCol="0" anchor="t"/>
          <a:lstStyle/>
          <a:p>
            <a:pPr algn="l" indent="0" marL="0">
              <a:buNone/>
            </a:pPr>
            <a:r>
              <a:rPr lang="en-US" sz="1500" b="1" dirty="0">
                <a:solidFill>
                  <a:srgbClr val="BE5A2E"/>
                </a:solidFill>
                <a:latin typeface="Cambria" pitchFamily="34" charset="0"/>
                <a:ea typeface="Cambria" pitchFamily="34" charset="-122"/>
                <a:cs typeface="Cambria" pitchFamily="34" charset="-120"/>
              </a:rPr>
              <a:t>Quan sát bước đầu</a:t>
            </a:r>
            <a:endParaRPr lang="en-US" sz="1500" dirty="0"/>
          </a:p>
        </p:txBody>
      </p:sp>
      <p:sp>
        <p:nvSpPr>
          <p:cNvPr id="12" name="Text 10"/>
          <p:cNvSpPr/>
          <p:nvPr/>
        </p:nvSpPr>
        <p:spPr>
          <a:xfrm>
            <a:off x="6419088" y="2834640"/>
            <a:ext cx="4663440" cy="2651760"/>
          </a:xfrm>
          <a:prstGeom prst="rect">
            <a:avLst/>
          </a:prstGeom>
          <a:noFill/>
          <a:ln/>
        </p:spPr>
        <p:txBody>
          <a:bodyPr wrap="square" lIns="0" tIns="0" rIns="0" bIns="0" rtlCol="0" anchor="t"/>
          <a:lstStyle/>
          <a:p>
            <a:pPr algn="l" indent="0" marL="0">
              <a:lnSpc>
                <a:spcPct val="130000"/>
              </a:lnSpc>
              <a:buNone/>
            </a:pPr>
            <a:r>
              <a:rPr lang="en-US" sz="1400" dirty="0">
                <a:solidFill>
                  <a:srgbClr val="454C55"/>
                </a:solidFill>
                <a:latin typeface="Segoe UI" pitchFamily="34" charset="0"/>
                <a:ea typeface="Segoe UI" pitchFamily="34" charset="-122"/>
                <a:cs typeface="Segoe UI" pitchFamily="34" charset="-120"/>
              </a:rPr>
              <a:t>•  Lớp đối chiếu nâng mức bám sát giao diện ở mọi ngưỡng.</a:t>
            </a:r>
            <a:endParaRPr lang="en-US" sz="1400" dirty="0"/>
          </a:p>
          <a:p>
            <a:pPr algn="l" indent="0" marL="0">
              <a:lnSpc>
                <a:spcPct val="130000"/>
              </a:lnSpc>
              <a:buNone/>
            </a:pPr>
            <a:endParaRPr lang="en-US" sz="1400" dirty="0"/>
          </a:p>
          <a:p>
            <a:pPr algn="l" indent="0" marL="0">
              <a:lnSpc>
                <a:spcPct val="130000"/>
              </a:lnSpc>
              <a:buNone/>
            </a:pPr>
            <a:r>
              <a:rPr lang="en-US" sz="1400" dirty="0">
                <a:solidFill>
                  <a:srgbClr val="454C55"/>
                </a:solidFill>
                <a:latin typeface="Segoe UI" pitchFamily="34" charset="0"/>
                <a:ea typeface="Segoe UI" pitchFamily="34" charset="-122"/>
                <a:cs typeface="Segoe UI" pitchFamily="34" charset="-120"/>
              </a:rPr>
              <a:t>•  Cách gọi tên nút và định dạng hầu như không đổi — không gây hại cho các bước vốn đã đúng.</a:t>
            </a:r>
            <a:endParaRPr lang="en-US" sz="1400" dirty="0"/>
          </a:p>
          <a:p>
            <a:pPr algn="l" indent="0" marL="0">
              <a:lnSpc>
                <a:spcPct val="130000"/>
              </a:lnSpc>
              <a:buNone/>
            </a:pPr>
            <a:endParaRPr lang="en-US" sz="1400" dirty="0"/>
          </a:p>
          <a:p>
            <a:pPr algn="l" indent="0" marL="0">
              <a:lnSpc>
                <a:spcPct val="130000"/>
              </a:lnSpc>
              <a:buNone/>
            </a:pPr>
            <a:r>
              <a:rPr lang="en-US" sz="1400" dirty="0">
                <a:solidFill>
                  <a:srgbClr val="454C55"/>
                </a:solidFill>
                <a:latin typeface="Segoe UI" pitchFamily="34" charset="0"/>
                <a:ea typeface="Segoe UI" pitchFamily="34" charset="-122"/>
                <a:cs typeface="Segoe UI" pitchFamily="34" charset="-120"/>
              </a:rPr>
              <a:t>•  Chạy thử mới trên một mô hình, nhánh một màn.</a:t>
            </a:r>
            <a:endParaRPr lang="en-US" sz="1400" dirty="0"/>
          </a:p>
        </p:txBody>
      </p:sp>
      <p:sp>
        <p:nvSpPr>
          <p:cNvPr id="13" name="Shape 11"/>
          <p:cNvSpPr/>
          <p:nvPr/>
        </p:nvSpPr>
        <p:spPr>
          <a:xfrm>
            <a:off x="841248" y="5715000"/>
            <a:ext cx="10506456" cy="777240"/>
          </a:xfrm>
          <a:prstGeom prst="roundRect">
            <a:avLst>
              <a:gd name="adj" fmla="val 10588"/>
            </a:avLst>
          </a:prstGeom>
          <a:solidFill>
            <a:srgbClr val="FFFFFF"/>
          </a:solidFill>
          <a:ln w="12700">
            <a:solidFill>
              <a:srgbClr val="DBE0E6"/>
            </a:solidFill>
            <a:prstDash val="solid"/>
          </a:ln>
        </p:spPr>
      </p:sp>
      <p:sp>
        <p:nvSpPr>
          <p:cNvPr id="14" name="Text 12"/>
          <p:cNvSpPr/>
          <p:nvPr/>
        </p:nvSpPr>
        <p:spPr>
          <a:xfrm>
            <a:off x="1115568" y="5715000"/>
            <a:ext cx="10058400" cy="777240"/>
          </a:xfrm>
          <a:prstGeom prst="rect">
            <a:avLst/>
          </a:prstGeom>
          <a:noFill/>
          <a:ln/>
        </p:spPr>
        <p:txBody>
          <a:bodyPr wrap="square" lIns="0" tIns="0" rIns="0" bIns="0" rtlCol="0" anchor="ctr"/>
          <a:lstStyle/>
          <a:p>
            <a:pPr algn="l" indent="0" marL="0">
              <a:lnSpc>
                <a:spcPct val="120000"/>
              </a:lnSpc>
              <a:buNone/>
            </a:pPr>
            <a:r>
              <a:rPr lang="en-US" sz="1300" b="1" dirty="0">
                <a:solidFill>
                  <a:srgbClr val="1D2733"/>
                </a:solidFill>
                <a:latin typeface="Segoe UI" pitchFamily="34" charset="0"/>
                <a:ea typeface="Segoe UI" pitchFamily="34" charset="-122"/>
                <a:cs typeface="Segoe UI" pitchFamily="34" charset="-120"/>
              </a:rPr>
              <a:t>Phạm vi: </a:t>
            </a:r>
            <a:pPr algn="l" indent="0" marL="0">
              <a:lnSpc>
                <a:spcPct val="120000"/>
              </a:lnSpc>
              <a:buNone/>
            </a:pPr>
            <a:r>
              <a:rPr lang="en-US" sz="1300" dirty="0">
                <a:solidFill>
                  <a:srgbClr val="454C55"/>
                </a:solidFill>
                <a:latin typeface="Segoe UI" pitchFamily="34" charset="0"/>
                <a:ea typeface="Segoe UI" pitchFamily="34" charset="-122"/>
                <a:cs typeface="Segoe UI" pitchFamily="34" charset="-120"/>
              </a:rPr>
              <a:t>mẫu nhỏ, một mô hình, khoảng tin cậy còn chạm 0. Bản đầy đủ (127 màn của 30 ứng dụng) và nhánh nhiều màn đang chạy.</a:t>
            </a:r>
            <a:endParaRPr lang="en-US" sz="1300" dirty="0"/>
          </a:p>
        </p:txBody>
      </p:sp>
      <p:sp>
        <p:nvSpPr>
          <p:cNvPr id="15" name="Text 13"/>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NÓI THẲNG GIỚI HẠN</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Những chỗ chưa làm được</a:t>
            </a:r>
            <a:endParaRPr lang="en-US" sz="2800" dirty="0"/>
          </a:p>
        </p:txBody>
      </p:sp>
      <p:sp>
        <p:nvSpPr>
          <p:cNvPr id="4" name="Shape 2"/>
          <p:cNvSpPr/>
          <p:nvPr/>
        </p:nvSpPr>
        <p:spPr>
          <a:xfrm>
            <a:off x="868680" y="2542032"/>
            <a:ext cx="146304" cy="146304"/>
          </a:xfrm>
          <a:prstGeom prst="ellipse">
            <a:avLst/>
          </a:prstGeom>
          <a:solidFill>
            <a:srgbClr val="BE5A2E"/>
          </a:solidFill>
          <a:ln/>
        </p:spPr>
      </p:sp>
      <p:sp>
        <p:nvSpPr>
          <p:cNvPr id="5" name="Text 3"/>
          <p:cNvSpPr/>
          <p:nvPr/>
        </p:nvSpPr>
        <p:spPr>
          <a:xfrm>
            <a:off x="1298448" y="2286000"/>
            <a:ext cx="10149840" cy="777240"/>
          </a:xfrm>
          <a:prstGeom prst="rect">
            <a:avLst/>
          </a:prstGeom>
          <a:noFill/>
          <a:ln/>
        </p:spPr>
        <p:txBody>
          <a:bodyPr wrap="square" lIns="0" tIns="0" rIns="0" bIns="0" rtlCol="0" anchor="ctr"/>
          <a:lstStyle/>
          <a:p>
            <a:pPr algn="l" indent="0" marL="0">
              <a:lnSpc>
                <a:spcPct val="125000"/>
              </a:lnSpc>
              <a:buNone/>
            </a:pPr>
            <a:r>
              <a:rPr lang="en-US" sz="1400" dirty="0">
                <a:solidFill>
                  <a:srgbClr val="454C55"/>
                </a:solidFill>
                <a:latin typeface="Segoe UI" pitchFamily="34" charset="0"/>
                <a:ea typeface="Segoe UI" pitchFamily="34" charset="-122"/>
                <a:cs typeface="Segoe UI" pitchFamily="34" charset="-120"/>
              </a:rPr>
              <a:t>Nhánh một màn mới đo mức bám sát giao diện, chưa đo mức đúng ý người dùng; phần đó để nhánh nhiều màn đo qua mức hoàn thành tác vụ.</a:t>
            </a:r>
            <a:endParaRPr lang="en-US" sz="1400" dirty="0"/>
          </a:p>
        </p:txBody>
      </p:sp>
      <p:sp>
        <p:nvSpPr>
          <p:cNvPr id="6" name="Shape 4"/>
          <p:cNvSpPr/>
          <p:nvPr/>
        </p:nvSpPr>
        <p:spPr>
          <a:xfrm>
            <a:off x="868680" y="3502152"/>
            <a:ext cx="146304" cy="146304"/>
          </a:xfrm>
          <a:prstGeom prst="ellipse">
            <a:avLst/>
          </a:prstGeom>
          <a:solidFill>
            <a:srgbClr val="BE5A2E"/>
          </a:solidFill>
          <a:ln/>
        </p:spPr>
      </p:sp>
      <p:sp>
        <p:nvSpPr>
          <p:cNvPr id="7" name="Text 5"/>
          <p:cNvSpPr/>
          <p:nvPr/>
        </p:nvSpPr>
        <p:spPr>
          <a:xfrm>
            <a:off x="1298448" y="3246120"/>
            <a:ext cx="10149840" cy="777240"/>
          </a:xfrm>
          <a:prstGeom prst="rect">
            <a:avLst/>
          </a:prstGeom>
          <a:noFill/>
          <a:ln/>
        </p:spPr>
        <p:txBody>
          <a:bodyPr wrap="square" lIns="0" tIns="0" rIns="0" bIns="0" rtlCol="0" anchor="ctr"/>
          <a:lstStyle/>
          <a:p>
            <a:pPr algn="l" indent="0" marL="0">
              <a:lnSpc>
                <a:spcPct val="125000"/>
              </a:lnSpc>
              <a:buNone/>
            </a:pPr>
            <a:r>
              <a:rPr lang="en-US" sz="1400" dirty="0">
                <a:solidFill>
                  <a:srgbClr val="454C55"/>
                </a:solidFill>
                <a:latin typeface="Segoe UI" pitchFamily="34" charset="0"/>
                <a:ea typeface="Segoe UI" pitchFamily="34" charset="-122"/>
                <a:cs typeface="Segoe UI" pitchFamily="34" charset="-120"/>
              </a:rPr>
              <a:t>Danh sách nút thật đôi khi thiếu hoặc nhãn chung chung (kiểu “Button”); các nút như vậy được loại khỏi phép tính để không phạt oan.</a:t>
            </a:r>
            <a:endParaRPr lang="en-US" sz="1400" dirty="0"/>
          </a:p>
        </p:txBody>
      </p:sp>
      <p:sp>
        <p:nvSpPr>
          <p:cNvPr id="8" name="Shape 6"/>
          <p:cNvSpPr/>
          <p:nvPr/>
        </p:nvSpPr>
        <p:spPr>
          <a:xfrm>
            <a:off x="868680" y="4462272"/>
            <a:ext cx="146304" cy="146304"/>
          </a:xfrm>
          <a:prstGeom prst="ellipse">
            <a:avLst/>
          </a:prstGeom>
          <a:solidFill>
            <a:srgbClr val="BE5A2E"/>
          </a:solidFill>
          <a:ln/>
        </p:spPr>
      </p:sp>
      <p:sp>
        <p:nvSpPr>
          <p:cNvPr id="9" name="Text 7"/>
          <p:cNvSpPr/>
          <p:nvPr/>
        </p:nvSpPr>
        <p:spPr>
          <a:xfrm>
            <a:off x="1298448" y="4206240"/>
            <a:ext cx="10149840" cy="777240"/>
          </a:xfrm>
          <a:prstGeom prst="rect">
            <a:avLst/>
          </a:prstGeom>
          <a:noFill/>
          <a:ln/>
        </p:spPr>
        <p:txBody>
          <a:bodyPr wrap="square" lIns="0" tIns="0" rIns="0" bIns="0" rtlCol="0" anchor="ctr"/>
          <a:lstStyle/>
          <a:p>
            <a:pPr algn="l" indent="0" marL="0">
              <a:lnSpc>
                <a:spcPct val="125000"/>
              </a:lnSpc>
              <a:buNone/>
            </a:pPr>
            <a:r>
              <a:rPr lang="en-US" sz="1400" dirty="0">
                <a:solidFill>
                  <a:srgbClr val="454C55"/>
                </a:solidFill>
                <a:latin typeface="Segoe UI" pitchFamily="34" charset="0"/>
                <a:ea typeface="Segoe UI" pitchFamily="34" charset="-122"/>
                <a:cs typeface="Segoe UI" pitchFamily="34" charset="-120"/>
              </a:rPr>
              <a:t>Nếu chỉ có ảnh trơn thì cần thêm một bộ dò nút và phải chịu sai số; trên máy thật, hệ điều hành cung cấp sẵn danh sách nút.</a:t>
            </a:r>
            <a:endParaRPr lang="en-US" sz="1400" dirty="0"/>
          </a:p>
        </p:txBody>
      </p:sp>
      <p:sp>
        <p:nvSpPr>
          <p:cNvPr id="10" name="Shape 8"/>
          <p:cNvSpPr/>
          <p:nvPr/>
        </p:nvSpPr>
        <p:spPr>
          <a:xfrm>
            <a:off x="868680" y="5422392"/>
            <a:ext cx="146304" cy="146304"/>
          </a:xfrm>
          <a:prstGeom prst="ellipse">
            <a:avLst/>
          </a:prstGeom>
          <a:solidFill>
            <a:srgbClr val="BE5A2E"/>
          </a:solidFill>
          <a:ln/>
        </p:spPr>
      </p:sp>
      <p:sp>
        <p:nvSpPr>
          <p:cNvPr id="11" name="Text 9"/>
          <p:cNvSpPr/>
          <p:nvPr/>
        </p:nvSpPr>
        <p:spPr>
          <a:xfrm>
            <a:off x="1298448" y="5166360"/>
            <a:ext cx="10149840" cy="777240"/>
          </a:xfrm>
          <a:prstGeom prst="rect">
            <a:avLst/>
          </a:prstGeom>
          <a:noFill/>
          <a:ln/>
        </p:spPr>
        <p:txBody>
          <a:bodyPr wrap="square" lIns="0" tIns="0" rIns="0" bIns="0" rtlCol="0" anchor="ctr"/>
          <a:lstStyle/>
          <a:p>
            <a:pPr algn="l" indent="0" marL="0">
              <a:lnSpc>
                <a:spcPct val="125000"/>
              </a:lnSpc>
              <a:buNone/>
            </a:pPr>
            <a:r>
              <a:rPr lang="en-US" sz="1400" dirty="0">
                <a:solidFill>
                  <a:srgbClr val="454C55"/>
                </a:solidFill>
                <a:latin typeface="Segoe UI" pitchFamily="34" charset="0"/>
                <a:ea typeface="Segoe UI" pitchFamily="34" charset="-122"/>
                <a:cs typeface="Segoe UI" pitchFamily="34" charset="-120"/>
              </a:rPr>
              <a:t>Chưa có bảng số tiếng Việt vì thiếu dữ liệu chuẩn; phần đo bằng số chạy trên dữ liệu tiếng Anh, tiếng Việt mới dừng ở minh hoạ.</a:t>
            </a:r>
            <a:endParaRPr lang="en-US" sz="1400" dirty="0"/>
          </a:p>
        </p:txBody>
      </p:sp>
      <p:sp>
        <p:nvSpPr>
          <p:cNvPr id="12" name="Text 10"/>
          <p:cNvSpPr/>
          <p:nvPr/>
        </p:nvSpPr>
        <p:spPr>
          <a:xfrm>
            <a:off x="841248" y="6455664"/>
            <a:ext cx="10003536" cy="274320"/>
          </a:xfrm>
          <a:prstGeom prst="rect">
            <a:avLst/>
          </a:prstGeom>
          <a:noFill/>
          <a:ln/>
        </p:spPr>
        <p:txBody>
          <a:bodyPr wrap="square" lIns="0" tIns="0" rIns="0" bIns="0" rtlCol="0" anchor="ctr"/>
          <a:lstStyle/>
          <a:p>
            <a:pPr algn="l" indent="0" marL="0">
              <a:buNone/>
            </a:pPr>
            <a:r>
              <a:rPr lang="en-US" sz="1000" i="1" dirty="0">
                <a:solidFill>
                  <a:srgbClr val="8A8A8A"/>
                </a:solidFill>
                <a:latin typeface="Segoe UI" pitchFamily="34" charset="0"/>
                <a:ea typeface="Segoe UI" pitchFamily="34" charset="-122"/>
                <a:cs typeface="Segoe UI" pitchFamily="34" charset="-120"/>
              </a:rPr>
              <a:t>Nền:  cây giao diện không phải chuẩn vàng: phần lớn nút ảnh thiếu nhãn trợ năng (~77% ảnh bấm được) — Chen et al. (ICSE 2020).</a:t>
            </a:r>
            <a:endParaRPr lang="en-US" sz="1000" dirty="0"/>
          </a:p>
        </p:txBody>
      </p:sp>
      <p:sp>
        <p:nvSpPr>
          <p:cNvPr id="13" name="Text 11"/>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NHÌN LẠI ĐÓNG GÓP</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Hai nhánh — mỗi nhánh một khẳng định chắc</a:t>
            </a:r>
            <a:endParaRPr lang="en-US" sz="2800" dirty="0"/>
          </a:p>
        </p:txBody>
      </p:sp>
      <p:sp>
        <p:nvSpPr>
          <p:cNvPr id="4" name="Shape 2"/>
          <p:cNvSpPr/>
          <p:nvPr/>
        </p:nvSpPr>
        <p:spPr>
          <a:xfrm>
            <a:off x="841248" y="2194560"/>
            <a:ext cx="5029200" cy="2880360"/>
          </a:xfrm>
          <a:prstGeom prst="roundRect">
            <a:avLst>
              <a:gd name="adj" fmla="val 3175"/>
            </a:avLst>
          </a:prstGeom>
          <a:solidFill>
            <a:srgbClr val="000000"/>
          </a:solidFill>
          <a:ln/>
        </p:spPr>
      </p:sp>
      <p:sp>
        <p:nvSpPr>
          <p:cNvPr id="5" name="Shape 3"/>
          <p:cNvSpPr/>
          <p:nvPr/>
        </p:nvSpPr>
        <p:spPr>
          <a:xfrm>
            <a:off x="1161288" y="2487168"/>
            <a:ext cx="685800" cy="685800"/>
          </a:xfrm>
          <a:prstGeom prst="ellipse">
            <a:avLst/>
          </a:prstGeom>
          <a:solidFill>
            <a:srgbClr val="52657A"/>
          </a:solidFill>
          <a:ln/>
        </p:spPr>
      </p:sp>
      <p:sp>
        <p:nvSpPr>
          <p:cNvPr id="6" name="Text 4"/>
          <p:cNvSpPr/>
          <p:nvPr/>
        </p:nvSpPr>
        <p:spPr>
          <a:xfrm>
            <a:off x="1161288" y="2487168"/>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Cambria" pitchFamily="34" charset="0"/>
                <a:ea typeface="Cambria" pitchFamily="34" charset="-122"/>
                <a:cs typeface="Cambria" pitchFamily="34" charset="-120"/>
              </a:rPr>
              <a:t>A</a:t>
            </a:r>
            <a:endParaRPr lang="en-US" sz="2550" dirty="0"/>
          </a:p>
        </p:txBody>
      </p:sp>
      <p:sp>
        <p:nvSpPr>
          <p:cNvPr id="7" name="Text 5"/>
          <p:cNvSpPr/>
          <p:nvPr/>
        </p:nvSpPr>
        <p:spPr>
          <a:xfrm>
            <a:off x="2075688" y="2487168"/>
            <a:ext cx="3611880" cy="868680"/>
          </a:xfrm>
          <a:prstGeom prst="rect">
            <a:avLst/>
          </a:prstGeom>
          <a:noFill/>
          <a:ln/>
        </p:spPr>
        <p:txBody>
          <a:bodyPr wrap="square" lIns="0" tIns="0" rIns="0" bIns="0" rtlCol="0" anchor="ctr"/>
          <a:lstStyle/>
          <a:p>
            <a:pPr algn="l" indent="0" marL="0">
              <a:lnSpc>
                <a:spcPct val="105000"/>
              </a:lnSpc>
              <a:buNone/>
            </a:pPr>
            <a:r>
              <a:rPr lang="en-US" sz="1600" b="1" dirty="0">
                <a:solidFill>
                  <a:srgbClr val="1D2733"/>
                </a:solidFill>
                <a:latin typeface="Cambria" pitchFamily="34" charset="0"/>
                <a:ea typeface="Cambria" pitchFamily="34" charset="-122"/>
                <a:cs typeface="Cambria" pitchFamily="34" charset="-120"/>
              </a:rPr>
              <a:t>Hệ thống viết hướng dẫn bám màn</a:t>
            </a:r>
            <a:endParaRPr lang="en-US" sz="1600" dirty="0"/>
          </a:p>
        </p:txBody>
      </p:sp>
      <p:sp>
        <p:nvSpPr>
          <p:cNvPr id="8" name="Text 6"/>
          <p:cNvSpPr/>
          <p:nvPr/>
        </p:nvSpPr>
        <p:spPr>
          <a:xfrm>
            <a:off x="1207008" y="3474720"/>
            <a:ext cx="4297680" cy="1463040"/>
          </a:xfrm>
          <a:prstGeom prst="rect">
            <a:avLst/>
          </a:prstGeom>
          <a:noFill/>
          <a:ln/>
        </p:spPr>
        <p:txBody>
          <a:bodyPr wrap="square" lIns="0" tIns="0" rIns="0" bIns="0" rtlCol="0" anchor="t"/>
          <a:lstStyle/>
          <a:p>
            <a:pPr algn="l" indent="0" marL="0">
              <a:lnSpc>
                <a:spcPct val="128000"/>
              </a:lnSpc>
              <a:buNone/>
            </a:pPr>
            <a:r>
              <a:rPr lang="en-US" sz="1350" b="1" dirty="0">
                <a:solidFill>
                  <a:srgbClr val="52657A"/>
                </a:solidFill>
                <a:latin typeface="Segoe UI" pitchFamily="34" charset="0"/>
                <a:ea typeface="Segoe UI" pitchFamily="34" charset="-122"/>
                <a:cs typeface="Segoe UI" pitchFamily="34" charset="-120"/>
              </a:rPr>
              <a:t>Khẳng định chắc:  </a:t>
            </a:r>
            <a:pPr algn="l" indent="0" marL="0">
              <a:lnSpc>
                <a:spcPct val="128000"/>
              </a:lnSpc>
              <a:buNone/>
            </a:pPr>
            <a:r>
              <a:rPr lang="en-US" sz="1350" dirty="0">
                <a:solidFill>
                  <a:srgbClr val="454C55"/>
                </a:solidFill>
                <a:latin typeface="Segoe UI" pitchFamily="34" charset="0"/>
                <a:ea typeface="Segoe UI" pitchFamily="34" charset="-122"/>
                <a:cs typeface="Segoe UI" pitchFamily="34" charset="-120"/>
              </a:rPr>
              <a:t>Giảm việc nhắc tới nút không tồn tại; cái giá là tỉ lệ phải chuyển sang mô tả — báo minh bạch, không khoe gần 100%. Chạy được với nhiều đời mô hình.</a:t>
            </a:r>
            <a:endParaRPr lang="en-US" sz="1350" dirty="0"/>
          </a:p>
        </p:txBody>
      </p:sp>
      <p:sp>
        <p:nvSpPr>
          <p:cNvPr id="9" name="Shape 7"/>
          <p:cNvSpPr/>
          <p:nvPr/>
        </p:nvSpPr>
        <p:spPr>
          <a:xfrm>
            <a:off x="6281928" y="2194560"/>
            <a:ext cx="5029200" cy="2880360"/>
          </a:xfrm>
          <a:prstGeom prst="roundRect">
            <a:avLst>
              <a:gd name="adj" fmla="val 3175"/>
            </a:avLst>
          </a:prstGeom>
          <a:solidFill>
            <a:srgbClr val="000000"/>
          </a:solidFill>
          <a:ln/>
        </p:spPr>
      </p:sp>
      <p:sp>
        <p:nvSpPr>
          <p:cNvPr id="10" name="Shape 8"/>
          <p:cNvSpPr/>
          <p:nvPr/>
        </p:nvSpPr>
        <p:spPr>
          <a:xfrm>
            <a:off x="6601968" y="2487168"/>
            <a:ext cx="685800" cy="685800"/>
          </a:xfrm>
          <a:prstGeom prst="ellipse">
            <a:avLst/>
          </a:prstGeom>
          <a:solidFill>
            <a:srgbClr val="BE5A2E"/>
          </a:solidFill>
          <a:ln/>
        </p:spPr>
      </p:sp>
      <p:sp>
        <p:nvSpPr>
          <p:cNvPr id="11" name="Text 9"/>
          <p:cNvSpPr/>
          <p:nvPr/>
        </p:nvSpPr>
        <p:spPr>
          <a:xfrm>
            <a:off x="6601968" y="2487168"/>
            <a:ext cx="685800" cy="685800"/>
          </a:xfrm>
          <a:prstGeom prst="rect">
            <a:avLst/>
          </a:prstGeom>
          <a:noFill/>
          <a:ln/>
        </p:spPr>
        <p:txBody>
          <a:bodyPr wrap="square" lIns="0" tIns="0" rIns="0" bIns="0" rtlCol="0" anchor="ctr"/>
          <a:lstStyle/>
          <a:p>
            <a:pPr algn="ctr" indent="0" marL="0">
              <a:buNone/>
            </a:pPr>
            <a:r>
              <a:rPr lang="en-US" sz="2550" b="1" dirty="0">
                <a:solidFill>
                  <a:srgbClr val="FFFFFF"/>
                </a:solidFill>
                <a:latin typeface="Cambria" pitchFamily="34" charset="0"/>
                <a:ea typeface="Cambria" pitchFamily="34" charset="-122"/>
                <a:cs typeface="Cambria" pitchFamily="34" charset="-120"/>
              </a:rPr>
              <a:t>B</a:t>
            </a:r>
            <a:endParaRPr lang="en-US" sz="2550" dirty="0"/>
          </a:p>
        </p:txBody>
      </p:sp>
      <p:sp>
        <p:nvSpPr>
          <p:cNvPr id="12" name="Text 10"/>
          <p:cNvSpPr/>
          <p:nvPr/>
        </p:nvSpPr>
        <p:spPr>
          <a:xfrm>
            <a:off x="7516368" y="2487168"/>
            <a:ext cx="3611880" cy="868680"/>
          </a:xfrm>
          <a:prstGeom prst="rect">
            <a:avLst/>
          </a:prstGeom>
          <a:noFill/>
          <a:ln/>
        </p:spPr>
        <p:txBody>
          <a:bodyPr wrap="square" lIns="0" tIns="0" rIns="0" bIns="0" rtlCol="0" anchor="ctr"/>
          <a:lstStyle/>
          <a:p>
            <a:pPr algn="l" indent="0" marL="0">
              <a:lnSpc>
                <a:spcPct val="105000"/>
              </a:lnSpc>
              <a:buNone/>
            </a:pPr>
            <a:r>
              <a:rPr lang="en-US" sz="1600" b="1" dirty="0">
                <a:solidFill>
                  <a:srgbClr val="1D2733"/>
                </a:solidFill>
                <a:latin typeface="Cambria" pitchFamily="34" charset="0"/>
                <a:ea typeface="Cambria" pitchFamily="34" charset="-122"/>
                <a:cs typeface="Cambria" pitchFamily="34" charset="-120"/>
              </a:rPr>
              <a:t>Cách đánh giá không cần đáp án mẫu</a:t>
            </a:r>
            <a:endParaRPr lang="en-US" sz="1600" dirty="0"/>
          </a:p>
        </p:txBody>
      </p:sp>
      <p:sp>
        <p:nvSpPr>
          <p:cNvPr id="13" name="Text 11"/>
          <p:cNvSpPr/>
          <p:nvPr/>
        </p:nvSpPr>
        <p:spPr>
          <a:xfrm>
            <a:off x="6647688" y="3474720"/>
            <a:ext cx="4297680" cy="1463040"/>
          </a:xfrm>
          <a:prstGeom prst="rect">
            <a:avLst/>
          </a:prstGeom>
          <a:noFill/>
          <a:ln/>
        </p:spPr>
        <p:txBody>
          <a:bodyPr wrap="square" lIns="0" tIns="0" rIns="0" bIns="0" rtlCol="0" anchor="t"/>
          <a:lstStyle/>
          <a:p>
            <a:pPr algn="l" indent="0" marL="0">
              <a:lnSpc>
                <a:spcPct val="128000"/>
              </a:lnSpc>
              <a:buNone/>
            </a:pPr>
            <a:r>
              <a:rPr lang="en-US" sz="1350" b="1" dirty="0">
                <a:solidFill>
                  <a:srgbClr val="BE5A2E"/>
                </a:solidFill>
                <a:latin typeface="Segoe UI" pitchFamily="34" charset="0"/>
                <a:ea typeface="Segoe UI" pitchFamily="34" charset="-122"/>
                <a:cs typeface="Segoe UI" pitchFamily="34" charset="-120"/>
              </a:rPr>
              <a:t>Khẳng định chắc:  </a:t>
            </a:r>
            <a:pPr algn="l" indent="0" marL="0">
              <a:lnSpc>
                <a:spcPct val="128000"/>
              </a:lnSpc>
              <a:buNone/>
            </a:pPr>
            <a:r>
              <a:rPr lang="en-US" sz="1350" dirty="0">
                <a:solidFill>
                  <a:srgbClr val="454C55"/>
                </a:solidFill>
                <a:latin typeface="Segoe UI" pitchFamily="34" charset="0"/>
                <a:ea typeface="Segoe UI" pitchFamily="34" charset="-122"/>
                <a:cs typeface="Segoe UI" pitchFamily="34" charset="-120"/>
              </a:rPr>
              <a:t>Đo được chất lượng mà không cần bản mẫu người soạn và không để hệ tự chấm mình; bản thân thước đo tự kiểm được bằng lỗi cố ý.</a:t>
            </a:r>
            <a:endParaRPr lang="en-US" sz="1350" dirty="0"/>
          </a:p>
        </p:txBody>
      </p:sp>
      <p:sp>
        <p:nvSpPr>
          <p:cNvPr id="14" name="Shape 12"/>
          <p:cNvSpPr/>
          <p:nvPr/>
        </p:nvSpPr>
        <p:spPr>
          <a:xfrm>
            <a:off x="841248" y="5257800"/>
            <a:ext cx="10506456" cy="1051560"/>
          </a:xfrm>
          <a:prstGeom prst="roundRect">
            <a:avLst>
              <a:gd name="adj" fmla="val 8696"/>
            </a:avLst>
          </a:prstGeom>
          <a:solidFill>
            <a:srgbClr val="17233B"/>
          </a:solidFill>
          <a:ln/>
        </p:spPr>
      </p:sp>
      <p:sp>
        <p:nvSpPr>
          <p:cNvPr id="15" name="Text 13"/>
          <p:cNvSpPr/>
          <p:nvPr/>
        </p:nvSpPr>
        <p:spPr>
          <a:xfrm>
            <a:off x="1207008" y="5257800"/>
            <a:ext cx="9774936" cy="1051560"/>
          </a:xfrm>
          <a:prstGeom prst="rect">
            <a:avLst/>
          </a:prstGeom>
          <a:noFill/>
          <a:ln/>
        </p:spPr>
        <p:txBody>
          <a:bodyPr wrap="square" lIns="0" tIns="0" rIns="0" bIns="0" rtlCol="0" anchor="ctr"/>
          <a:lstStyle/>
          <a:p>
            <a:pPr algn="l" indent="0" marL="0">
              <a:lnSpc>
                <a:spcPct val="125000"/>
              </a:lnSpc>
              <a:buNone/>
            </a:pPr>
            <a:r>
              <a:rPr lang="en-US" sz="1350" b="1" dirty="0">
                <a:solidFill>
                  <a:srgbClr val="E4A986"/>
                </a:solidFill>
                <a:latin typeface="Segoe UI" pitchFamily="34" charset="0"/>
                <a:ea typeface="Segoe UI" pitchFamily="34" charset="-122"/>
                <a:cs typeface="Segoe UI" pitchFamily="34" charset="-120"/>
              </a:rPr>
              <a:t>Để hai nhánh thật sự ngang nhau:  </a:t>
            </a:r>
            <a:pPr algn="l" indent="0" marL="0">
              <a:lnSpc>
                <a:spcPct val="125000"/>
              </a:lnSpc>
              <a:buNone/>
            </a:pPr>
            <a:r>
              <a:rPr lang="en-US" sz="1350" dirty="0">
                <a:solidFill>
                  <a:srgbClr val="D6DBE2"/>
                </a:solidFill>
                <a:latin typeface="Segoe UI" pitchFamily="34" charset="0"/>
                <a:ea typeface="Segoe UI" pitchFamily="34" charset="-122"/>
                <a:cs typeface="Segoe UI" pitchFamily="34" charset="-120"/>
              </a:rPr>
              <a:t>điểm sắp thứ tự và điểm làm đúng từng bước phải thật sự dương. Nếu âm, luận văn nói thẳng đó cũng là một kết quả hợp lệ, không tô vẽ.</a:t>
            </a:r>
            <a:endParaRPr lang="en-US" sz="1350" dirty="0"/>
          </a:p>
        </p:txBody>
      </p:sp>
      <p:sp>
        <p:nvSpPr>
          <p:cNvPr id="16" name="Text 14"/>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66928"/>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TÀI LIỆU</a:t>
            </a:r>
            <a:endParaRPr lang="en-US" sz="1250" dirty="0"/>
          </a:p>
        </p:txBody>
      </p:sp>
      <p:sp>
        <p:nvSpPr>
          <p:cNvPr id="3" name="Text 1"/>
          <p:cNvSpPr/>
          <p:nvPr/>
        </p:nvSpPr>
        <p:spPr>
          <a:xfrm>
            <a:off x="841248" y="896112"/>
            <a:ext cx="10506456" cy="914400"/>
          </a:xfrm>
          <a:prstGeom prst="rect">
            <a:avLst/>
          </a:prstGeom>
          <a:noFill/>
          <a:ln/>
        </p:spPr>
        <p:txBody>
          <a:bodyPr wrap="square" lIns="0" tIns="0" rIns="0" bIns="0" rtlCol="0" anchor="t"/>
          <a:lstStyle/>
          <a:p>
            <a:pPr algn="l" indent="0" marL="0">
              <a:lnSpc>
                <a:spcPct val="105000"/>
              </a:lnSpc>
              <a:buNone/>
            </a:pPr>
            <a:r>
              <a:rPr lang="en-US" sz="2800" b="1" dirty="0">
                <a:solidFill>
                  <a:srgbClr val="1D2733"/>
                </a:solidFill>
                <a:latin typeface="Cambria" pitchFamily="34" charset="0"/>
                <a:ea typeface="Cambria" pitchFamily="34" charset="-122"/>
                <a:cs typeface="Cambria" pitchFamily="34" charset="-120"/>
              </a:rPr>
              <a:t>Nền tài liệu cho các lựa chọn thiết kế — nhấn vào tên bài để mở</a:t>
            </a:r>
            <a:endParaRPr lang="en-US" sz="2800" dirty="0"/>
          </a:p>
        </p:txBody>
      </p:sp>
      <p:sp>
        <p:nvSpPr>
          <p:cNvPr id="4" name="Shape 2"/>
          <p:cNvSpPr/>
          <p:nvPr/>
        </p:nvSpPr>
        <p:spPr>
          <a:xfrm>
            <a:off x="704088" y="2057400"/>
            <a:ext cx="3456432" cy="4023360"/>
          </a:xfrm>
          <a:prstGeom prst="roundRect">
            <a:avLst>
              <a:gd name="adj" fmla="val 2646"/>
            </a:avLst>
          </a:prstGeom>
          <a:solidFill>
            <a:srgbClr val="F3F5F7"/>
          </a:solidFill>
          <a:ln/>
        </p:spPr>
      </p:sp>
      <p:sp>
        <p:nvSpPr>
          <p:cNvPr id="5" name="Text 3"/>
          <p:cNvSpPr/>
          <p:nvPr/>
        </p:nvSpPr>
        <p:spPr>
          <a:xfrm>
            <a:off x="932688" y="2286000"/>
            <a:ext cx="3154680" cy="640080"/>
          </a:xfrm>
          <a:prstGeom prst="rect">
            <a:avLst/>
          </a:prstGeom>
          <a:noFill/>
          <a:ln/>
        </p:spPr>
        <p:txBody>
          <a:bodyPr wrap="square" lIns="0" tIns="0" rIns="0" bIns="0" rtlCol="0" anchor="t"/>
          <a:lstStyle/>
          <a:p>
            <a:pPr algn="l" indent="0" marL="0">
              <a:lnSpc>
                <a:spcPct val="112000"/>
              </a:lnSpc>
              <a:buNone/>
            </a:pPr>
            <a:r>
              <a:rPr lang="en-US" sz="1400" b="1" dirty="0">
                <a:solidFill>
                  <a:srgbClr val="BE5A2E"/>
                </a:solidFill>
                <a:latin typeface="Cambria" pitchFamily="34" charset="0"/>
                <a:ea typeface="Cambria" pitchFamily="34" charset="-122"/>
                <a:cs typeface="Cambria" pitchFamily="34" charset="-120"/>
              </a:rPr>
              <a:t>Khung đánh giá &amp; độ trung thực</a:t>
            </a:r>
            <a:endParaRPr lang="en-US" sz="1400" dirty="0"/>
          </a:p>
        </p:txBody>
      </p:sp>
      <p:sp>
        <p:nvSpPr>
          <p:cNvPr id="6" name="Text 4"/>
          <p:cNvSpPr/>
          <p:nvPr/>
        </p:nvSpPr>
        <p:spPr>
          <a:xfrm>
            <a:off x="932688" y="2971800"/>
            <a:ext cx="3200400" cy="2926080"/>
          </a:xfrm>
          <a:prstGeom prst="rect">
            <a:avLst/>
          </a:prstGeom>
          <a:noFill/>
          <a:ln/>
        </p:spPr>
        <p:txBody>
          <a:bodyPr wrap="square" lIns="0" tIns="0" rIns="0" bIns="0" rtlCol="0" anchor="t"/>
          <a:lstStyle/>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Chim, Ive &amp; Liakata (Comput. Linguistics 2025)</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ALOHa (NAACL 2024)</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FaithScore (Findings EMNLP 2024)</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  FActScore (EMNLP 2023)</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  Sai et al. (EMNLP 2021)</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  Clark et al. (ACL-IJCNLP 2021)</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  Panickssery et al. (NeurIPS 2024)</a:t>
            </a:r>
            <a:endParaRPr lang="en-US" sz="1150" dirty="0"/>
          </a:p>
        </p:txBody>
      </p:sp>
      <p:sp>
        <p:nvSpPr>
          <p:cNvPr id="7" name="Shape 5"/>
          <p:cNvSpPr/>
          <p:nvPr/>
        </p:nvSpPr>
        <p:spPr>
          <a:xfrm>
            <a:off x="4315968" y="2057400"/>
            <a:ext cx="3456432" cy="4023360"/>
          </a:xfrm>
          <a:prstGeom prst="roundRect">
            <a:avLst>
              <a:gd name="adj" fmla="val 2646"/>
            </a:avLst>
          </a:prstGeom>
          <a:solidFill>
            <a:srgbClr val="F3F5F7"/>
          </a:solidFill>
          <a:ln/>
        </p:spPr>
      </p:sp>
      <p:sp>
        <p:nvSpPr>
          <p:cNvPr id="8" name="Text 6"/>
          <p:cNvSpPr/>
          <p:nvPr/>
        </p:nvSpPr>
        <p:spPr>
          <a:xfrm>
            <a:off x="4544568" y="2286000"/>
            <a:ext cx="3154680" cy="640080"/>
          </a:xfrm>
          <a:prstGeom prst="rect">
            <a:avLst/>
          </a:prstGeom>
          <a:noFill/>
          <a:ln/>
        </p:spPr>
        <p:txBody>
          <a:bodyPr wrap="square" lIns="0" tIns="0" rIns="0" bIns="0" rtlCol="0" anchor="t"/>
          <a:lstStyle/>
          <a:p>
            <a:pPr algn="l" indent="0" marL="0">
              <a:lnSpc>
                <a:spcPct val="112000"/>
              </a:lnSpc>
              <a:buNone/>
            </a:pPr>
            <a:r>
              <a:rPr lang="en-US" sz="1400" b="1" dirty="0">
                <a:solidFill>
                  <a:srgbClr val="BE5A2E"/>
                </a:solidFill>
                <a:latin typeface="Cambria" pitchFamily="34" charset="0"/>
                <a:ea typeface="Cambria" pitchFamily="34" charset="-122"/>
                <a:cs typeface="Cambria" pitchFamily="34" charset="-120"/>
              </a:rPr>
              <a:t>Sắp thứ tự màn</a:t>
            </a:r>
            <a:endParaRPr lang="en-US" sz="1400" dirty="0"/>
          </a:p>
        </p:txBody>
      </p:sp>
      <p:sp>
        <p:nvSpPr>
          <p:cNvPr id="9" name="Text 7"/>
          <p:cNvSpPr/>
          <p:nvPr/>
        </p:nvSpPr>
        <p:spPr>
          <a:xfrm>
            <a:off x="4544568" y="2971800"/>
            <a:ext cx="3200400" cy="2926080"/>
          </a:xfrm>
          <a:prstGeom prst="rect">
            <a:avLst/>
          </a:prstGeom>
          <a:noFill/>
          <a:ln/>
        </p:spPr>
        <p:txBody>
          <a:bodyPr wrap="square" lIns="0" tIns="0" rIns="0" bIns="0" rtlCol="0" anchor="t"/>
          <a:lstStyle/>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  Qin et al. (Findings NAACL 2024)</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  Dwork et al. (WWW 2001)</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  Ailon et al. (J. ACM 2008)</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Fagin et al. (SIAM J. Discrete Math 2006)</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  Lapata (Comput. Linguistics 2006)</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  TOMATO (ICLR 2025)</a:t>
            </a:r>
            <a:endParaRPr lang="en-US" sz="1150" dirty="0"/>
          </a:p>
        </p:txBody>
      </p:sp>
      <p:sp>
        <p:nvSpPr>
          <p:cNvPr id="10" name="Shape 8"/>
          <p:cNvSpPr/>
          <p:nvPr/>
        </p:nvSpPr>
        <p:spPr>
          <a:xfrm>
            <a:off x="7927848" y="2057400"/>
            <a:ext cx="3456432" cy="4023360"/>
          </a:xfrm>
          <a:prstGeom prst="roundRect">
            <a:avLst>
              <a:gd name="adj" fmla="val 2646"/>
            </a:avLst>
          </a:prstGeom>
          <a:solidFill>
            <a:srgbClr val="F3F5F7"/>
          </a:solidFill>
          <a:ln/>
        </p:spPr>
      </p:sp>
      <p:sp>
        <p:nvSpPr>
          <p:cNvPr id="11" name="Text 9"/>
          <p:cNvSpPr/>
          <p:nvPr/>
        </p:nvSpPr>
        <p:spPr>
          <a:xfrm>
            <a:off x="8156448" y="2286000"/>
            <a:ext cx="3154680" cy="640080"/>
          </a:xfrm>
          <a:prstGeom prst="rect">
            <a:avLst/>
          </a:prstGeom>
          <a:noFill/>
          <a:ln/>
        </p:spPr>
        <p:txBody>
          <a:bodyPr wrap="square" lIns="0" tIns="0" rIns="0" bIns="0" rtlCol="0" anchor="t"/>
          <a:lstStyle/>
          <a:p>
            <a:pPr algn="l" indent="0" marL="0">
              <a:lnSpc>
                <a:spcPct val="112000"/>
              </a:lnSpc>
              <a:buNone/>
            </a:pPr>
            <a:r>
              <a:rPr lang="en-US" sz="1400" b="1" dirty="0">
                <a:solidFill>
                  <a:srgbClr val="BE5A2E"/>
                </a:solidFill>
                <a:latin typeface="Cambria" pitchFamily="34" charset="0"/>
                <a:ea typeface="Cambria" pitchFamily="34" charset="-122"/>
                <a:cs typeface="Cambria" pitchFamily="34" charset="-120"/>
              </a:rPr>
              <a:t>Dữ liệu, grounding &amp; thống kê</a:t>
            </a:r>
            <a:endParaRPr lang="en-US" sz="1400" dirty="0"/>
          </a:p>
        </p:txBody>
      </p:sp>
      <p:sp>
        <p:nvSpPr>
          <p:cNvPr id="12" name="Text 10"/>
          <p:cNvSpPr/>
          <p:nvPr/>
        </p:nvSpPr>
        <p:spPr>
          <a:xfrm>
            <a:off x="8156448" y="2971800"/>
            <a:ext cx="3200400" cy="2926080"/>
          </a:xfrm>
          <a:prstGeom prst="rect">
            <a:avLst/>
          </a:prstGeom>
          <a:noFill/>
          <a:ln/>
        </p:spPr>
        <p:txBody>
          <a:bodyPr wrap="square" lIns="0" tIns="0" rIns="0" bIns="0" rtlCol="0" anchor="t"/>
          <a:lstStyle/>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AndroidControl (NeurIPS 2024)</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  AITW (NeurIPS 2023)</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  SeeClick (ACL 2024)</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  OS-Atlas / ScreenSpot-v2 (ICLR 2025)</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  Chen et al. (ICSE 2020)</a:t>
            </a:r>
            <a:endParaRPr lang="en-US" sz="1150" dirty="0"/>
          </a:p>
          <a:p>
            <a:pPr algn="l" indent="0" marL="0">
              <a:lnSpc>
                <a:spcPct val="150000"/>
              </a:lnSpc>
              <a:buNone/>
            </a:pPr>
            <a:r>
              <a:rPr lang="en-US" sz="1150" u="sng" dirty="0">
                <a:solidFill>
                  <a:srgbClr val="52657A"/>
                </a:solidFill>
                <a:latin typeface="Segoe UI" pitchFamily="34" charset="0"/>
                <a:ea typeface="Segoe UI" pitchFamily="34" charset="-122"/>
                <a:cs typeface="Segoe U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  MacKinnon, Nielsen &amp; Webb (J. Econometrics 2023)</a:t>
            </a:r>
            <a:endParaRPr lang="en-US" sz="1150" dirty="0"/>
          </a:p>
        </p:txBody>
      </p:sp>
      <p:sp>
        <p:nvSpPr>
          <p:cNvPr id="13" name="Text 11"/>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7233B"/>
        </a:solidFill>
      </p:bgPr>
    </p:bg>
    <p:spTree>
      <p:nvGrpSpPr>
        <p:cNvPr id="1" name=""/>
        <p:cNvGrpSpPr/>
        <p:nvPr/>
      </p:nvGrpSpPr>
      <p:grpSpPr>
        <a:xfrm>
          <a:off x="0" y="0"/>
          <a:ext cx="0" cy="0"/>
          <a:chOff x="0" y="0"/>
          <a:chExt cx="0" cy="0"/>
        </a:xfrm>
      </p:grpSpPr>
      <p:sp>
        <p:nvSpPr>
          <p:cNvPr id="2" name="Text 0"/>
          <p:cNvSpPr/>
          <p:nvPr/>
        </p:nvSpPr>
        <p:spPr>
          <a:xfrm>
            <a:off x="841248" y="1965960"/>
            <a:ext cx="10058400" cy="365760"/>
          </a:xfrm>
          <a:prstGeom prst="rect">
            <a:avLst/>
          </a:prstGeom>
          <a:noFill/>
          <a:ln/>
        </p:spPr>
        <p:txBody>
          <a:bodyPr wrap="square" lIns="0" tIns="0" rIns="0" bIns="0" rtlCol="0" anchor="t"/>
          <a:lstStyle/>
          <a:p>
            <a:pPr algn="l" indent="0" marL="0">
              <a:buNone/>
            </a:pPr>
            <a:r>
              <a:rPr lang="en-US" sz="1300" b="1" spc="250" kern="0" dirty="0">
                <a:solidFill>
                  <a:srgbClr val="E4A986"/>
                </a:solidFill>
                <a:latin typeface="Segoe UI" pitchFamily="34" charset="0"/>
                <a:ea typeface="Segoe UI" pitchFamily="34" charset="-122"/>
                <a:cs typeface="Segoe UI" pitchFamily="34" charset="-120"/>
              </a:rPr>
              <a:t>KẾT LUẬN</a:t>
            </a:r>
            <a:endParaRPr lang="en-US" sz="1300" dirty="0"/>
          </a:p>
        </p:txBody>
      </p:sp>
      <p:sp>
        <p:nvSpPr>
          <p:cNvPr id="3" name="Text 1"/>
          <p:cNvSpPr/>
          <p:nvPr/>
        </p:nvSpPr>
        <p:spPr>
          <a:xfrm>
            <a:off x="841248" y="2468880"/>
            <a:ext cx="10332720" cy="1554480"/>
          </a:xfrm>
          <a:prstGeom prst="rect">
            <a:avLst/>
          </a:prstGeom>
          <a:noFill/>
          <a:ln/>
        </p:spPr>
        <p:txBody>
          <a:bodyPr wrap="square" lIns="0" tIns="0" rIns="0" bIns="0" rtlCol="0" anchor="t"/>
          <a:lstStyle/>
          <a:p>
            <a:pPr algn="l" indent="0" marL="0">
              <a:lnSpc>
                <a:spcPct val="120000"/>
              </a:lnSpc>
              <a:buNone/>
            </a:pPr>
            <a:r>
              <a:rPr lang="en-US" sz="2300" b="1" dirty="0">
                <a:solidFill>
                  <a:srgbClr val="FFFFFF"/>
                </a:solidFill>
                <a:latin typeface="Cambria" pitchFamily="34" charset="0"/>
                <a:ea typeface="Cambria" pitchFamily="34" charset="-122"/>
                <a:cs typeface="Cambria" pitchFamily="34" charset="-120"/>
              </a:rPr>
              <a:t>Khi không có bản hướng dẫn mẫu, ta dựa vào chính danh sách nút thật của màn hình — chỉ dùng lúc kiểm, không đưa cho mô hình lúc viết.</a:t>
            </a:r>
            <a:endParaRPr lang="en-US" sz="2300" dirty="0"/>
          </a:p>
        </p:txBody>
      </p:sp>
      <p:sp>
        <p:nvSpPr>
          <p:cNvPr id="4" name="Text 2"/>
          <p:cNvSpPr/>
          <p:nvPr/>
        </p:nvSpPr>
        <p:spPr>
          <a:xfrm>
            <a:off x="841248" y="4343400"/>
            <a:ext cx="10332720" cy="1097280"/>
          </a:xfrm>
          <a:prstGeom prst="rect">
            <a:avLst/>
          </a:prstGeom>
          <a:noFill/>
          <a:ln/>
        </p:spPr>
        <p:txBody>
          <a:bodyPr wrap="square" lIns="0" tIns="0" rIns="0" bIns="0" rtlCol="0" anchor="t"/>
          <a:lstStyle/>
          <a:p>
            <a:pPr algn="l" indent="0" marL="0">
              <a:lnSpc>
                <a:spcPct val="135000"/>
              </a:lnSpc>
              <a:buNone/>
            </a:pPr>
            <a:r>
              <a:rPr lang="en-US" sz="1600" dirty="0">
                <a:solidFill>
                  <a:srgbClr val="C9D2DC"/>
                </a:solidFill>
                <a:latin typeface="Segoe UI" pitchFamily="34" charset="0"/>
                <a:ea typeface="Segoe UI" pitchFamily="34" charset="-122"/>
                <a:cs typeface="Segoe UI" pitchFamily="34" charset="-120"/>
              </a:rPr>
              <a:t>Kết quả gồm một hệ thống viết hướng dẫn ít nhắc nút sai, và một cách đánh giá độc lập, tự kiểm được và nói rõ giới hạn.</a:t>
            </a:r>
            <a:endParaRPr lang="en-US" sz="1600" dirty="0"/>
          </a:p>
        </p:txBody>
      </p:sp>
      <p:sp>
        <p:nvSpPr>
          <p:cNvPr id="5" name="Text 3"/>
          <p:cNvSpPr/>
          <p:nvPr/>
        </p:nvSpPr>
        <p:spPr>
          <a:xfrm>
            <a:off x="841248" y="5669280"/>
            <a:ext cx="10058400" cy="457200"/>
          </a:xfrm>
          <a:prstGeom prst="rect">
            <a:avLst/>
          </a:prstGeom>
          <a:noFill/>
          <a:ln/>
        </p:spPr>
        <p:txBody>
          <a:bodyPr wrap="square" lIns="0" tIns="0" rIns="0" bIns="0" rtlCol="0" anchor="t"/>
          <a:lstStyle/>
          <a:p>
            <a:pPr algn="l" indent="0" marL="0">
              <a:buNone/>
            </a:pPr>
            <a:r>
              <a:rPr lang="en-US" sz="1600" i="1" dirty="0">
                <a:solidFill>
                  <a:srgbClr val="8FA0B2"/>
                </a:solidFill>
                <a:latin typeface="Cambria" pitchFamily="34" charset="0"/>
                <a:ea typeface="Cambria" pitchFamily="34" charset="-122"/>
                <a:cs typeface="Cambria" pitchFamily="34" charset="-120"/>
              </a:rPr>
              <a:t>Xin cảm ơn hội đồng.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Sinh tu dong huong dan su dung phan mem</dc:title>
  <dc:subject>PptxGenJS Presentation</dc:subject>
  <dc:creator>Luan van thac si</dc:creator>
  <cp:lastModifiedBy>Luan van thac si</cp:lastModifiedBy>
  <cp:revision>1</cp:revision>
  <dcterms:created xsi:type="dcterms:W3CDTF">2026-07-08T13:39:37Z</dcterms:created>
  <dcterms:modified xsi:type="dcterms:W3CDTF">2026-07-08T13:39:37Z</dcterms:modified>
</cp:coreProperties>
</file>