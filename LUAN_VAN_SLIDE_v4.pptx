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là gpt-4o-mini, gọi qua API. Nó chỉ được nhìn ảnh + câu hỏi, cố tình KHÔNG cho xem danh sách nút — vì ta cần đúng những chỗ nó tự nhiên hay bịa.
Student là Qwen2.5-VL-3B, mô hình mở, em tự fine-tune bằng SFT-LoRA. Đây là sản phẩm chính của luận văn.
Điểm cần nhấn: Student KHÔNG học nguyên xi lời Teacher. Nó chỉ học phần đã lọc sạch bịa. Nên nó không phải bản sao thu nhỏ của Teacher.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Toàn bộ luồng này chạy một lần, offline, chỉ để tạo ra tập dữ liệu huấn luyện.
Bước 3 dùng embedding nomic-embed-text, ngưỡng 0.55 đã freeze. Nó là hàm đo khoảng cách, đóng băng, không huấn luyện gì.
Bước 4 dùng khuôn mẫu cố định, cố ý KHÔNG gọi LLM — nếu để AI viết lại cho hay thì chính bước lọc lại mở ra chỗ bịa mới.
Chi phí: bước 2 khoảng 1-2 đô cho vài nghìn lượt gọi. Bước 5 là Colab.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màn thật trong bộ dữ liệu, không phải ví dụ dựng.
Chỗ đáng nói: bước bịa không bị xoá, cũng không bị sửa thành một tên nút khác. Nếu đoán sang nút thật khác mà sai chức năng, người dùng vẫn làm sai mà không hề hay biết — lỗi đó âm thầm, còn nguy hiểm hơn cả bịa vì không ai phát hiện được.
Nên chọn cách viết lại thành mô tả: mất tính cụ thể nhưng không sai sự thật.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hợp đồng vào/ra thật của hệ thống: chỉ ảnh + câu hỏi.
Câu hỏi hỏi Student cố ý KHÔNG chứa dặn dò "đừng bịa nút không có thật", trong khi prompt cho Teacher lúc sinh dữ liệu thì CÓ. Nếu Student cũng được nhắc thì không ai chứng minh được thói quen đến từ huấn luyện chứ không phải từ lời nhắc.
Đây là bất đối xứng cố ý, và nó thiên về phía bất lợi cho mình — Student phải thắng dù bị nhắc ít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Nếu thầy hỏi kỹ từng bài:
- STaR (Zelikman 2022): đặt tên cho vòng lặp sinh-lọc-học lại.
- BLIP CapFilt (ICML 2022): có đo tách riêng giá trị bước lọc, giống thí nghiệm tầng một. Nhưng chưa từng hỏi hành vi còn giữ được không khi bỏ bộ lọc lúc dùng thật.
- VGA (Findings EMNLP 2024): cũng dùng VH giảm bịa cho GUI, nhưng ép model bám VH ngay từ lúc sinh. Mình để sinh tự do rồi mới lọc — giữ được đúng chỗ model lớn tự nhiên hay sai.
- KnowAda (NAACL 2025): cơ chế viết lại gần giống nhất, nhưng tự-hỏi-tự-chấm.
Không giấu chỗ trùng — cả bốn đều cite đầy đủ trong luận văn.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Cấu hình: LoRA rank 8, alpha 16, gắn vào q/k/v/o + gate/up/down projection của nhánh ngôn ngữ. Vision encoder đóng băng hoàn toàn.
Tiền lệ: ZonUI-3B (WACV 2026) fine-tune đúng Qwen2.5-VL-3B với đúng cấu hình này trên một GPU 24GB. Khai thẳng: đây là tiền lệ DUY NHẤT xác nhận trực tiếp, không phải nhiều nguồn hội tụ — nên coi là điểm khởi đầu hợp lý cần tự validate bằng dev-loss, không phải trị số đã chứng minh tối ưu.
QLoRA 4-bit là mặc định vì Colab không đảm bảo GPU cố định.
Bằng chứng có train thật: Δ trọng số adapter, loss curve theo epoch trên held-out, hai checkpoint độc lập.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khoá bằng git commit ngày 12/7, seed 20260710, trước mọi lệnh gọi API. Tổng 127 màn / 30 app đã qua lọc chất lượng, cộng pool mở rộng thành ~574 màn để dạy.
MobileViews: preprint arXiv 2409.14337, giấy phép MIT, thu thập tự động bằng bot. Khai thẳng nó là preprint chưa bình duyệt — đóng khung là hiện vật kỹ thuật, không phải trụ khoa học.
Vì sao 18/12 chứ không 80/20: 30 app này là bộ duy nhất đã qua vòng lọc chất lượng; 20% của 30 chỉ còn 6 app, quá mỏng để kết luận.
Việc mở rộng đã chạy 12/7: 498 màn/220 app. Kiểm rò rỉ bằng cả tên app lẫn perceptual-hash của ảnh — phòng hai app khác tên dùng chung khuôn giao diện. Kết quả 0 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lỗi bản đầu đã mắc và bị bắt trong một vòng rà soát nội bộ: bộ lọc vừa sửa dữ liệu vừa chấm chính dữ liệu đó, nên faithfulness vọt lên gần 100%. Con số đó là tautology, không phải kết quả.
Cách vá: nomic (ngưỡng 0.55 đã freeze) chỉ dùng lúc lọc. Lúc chấm dùng ba cơ chế khác họ, ngưỡng hiệu chuẩn riêng.
Khai thẳng giới hạn: ba cơ chế chỉ GIẢM chứ không LOẠI tương quan sai số. bge-m3 và llama3.2 đều là mạng nơ-ron, vẫn có thể sai giống nhau. Chỉ token-overlap là trục thực sự khác cơ chế. Nên luận văn báo hệ số tương quan giữa các bộ chấm, thay vì tuyên bố chúng độc lập.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cơ chế: bge-m3 (khác họ nomic), llama3.2 chạy local làm judge (khác họ generator gpt-4o-mini — vì generator là GPT-family thì judge không được dùng GPT-family, trụ: Panickssery NeurIPS 2024 về self-preference bias), và token-overlap phi-neural.
Quy tắc: một bước bị kết luận là bịa khi ít nhất 2/3 đồng ý không khớp.
τB phải hiệu chuẩn riêng bằng 80-120 cặp gán tay, KHÔNG được tái dùng ngưỡng 0.55 của nomic — hai mô hình nhúng khác nhau, không có lý do gì ngưỡng trùng.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Faithfulness = 1 − (số lần nhắc nút bịa / tổng số lần nhắc nút), theo ALOHa (NAACL 2024). Gộp trung bình theo từng app trước, ra 12 con số — vì các màn cùng app không độc lập.
Con số ~1/4 là quan sát sơ bộ trên MỘT model, một tập ảnh giới hạn. Không phải headline, sẽ đo lại.
Ba điều kiện phải khai khi báo: độ phủ nhãn VH; mẫu chỉ giữ màn dày nhãn nên tỉ lệ bịa quan sát được là hạ thấp có hệ thống; và con số hiện có mới trên một model.
Estimand là trung bình đều trên app — cấm viết "đại diện cho ứng dụng nói chung".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loại lỗi bơm vào: đổi tên nút thật thành tên không có trên màn; đổi sang nút có thật nhưng sai màn; chèn thêm bước nhắc nút bịa; hoán tên nút giữa hai màn.
Quan trọng: lỗi được bơm ĐỘC LẬP với matcher, nếu không lại rơi vào vòng tự kiểm.
Trụ: Sai et al. EMNLP 2021.
Phạm vi phải khai: đây là điều kiện CẦN (độ nhạy), KHÔNG phải convergent validity với đánh giá của người. Human-correlation là future work, không phải cổng đậu/rớt (Clark ACL-IJCNLP 2021).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tách hai tầng thay vì gộp một con số: với 12 app, rủi ro lớn nhất không phải null mà là kết quả mơ hồ — không đủ tin cậy để nói lên điều gì. Mơ hồ thì không kể được câu chuyện nào.
Tách ra thì tầng một luôn có chuyện chắc chắn để kể, bất kể tầng hai ra sao.
Chi tiết dễ bị vặn: cả hai tầng đều chấm trên output THÔ, trước lớp viết lại. Vì lớp viết lại chữa bịa cho MỌI bản — chấm sau viết lại thì cả Student lẫn Student-RAW đều sạch, Δ ≈ 0, null giả tạo. Lợi ích của lớp viết lại báo riêng qua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KÝ HIỆU (nếu cần nói rõ):
Δ = chênh lệch điểm trung thực giữa hai bên đang so. Mỗi app test cho một con số Δ → 12 app → 12 con số. Δ dương nghĩa là Student tốt hơn.
CI 95% = khoảng tin cậy. Ví dụ Δ trung bình 12 điểm, CI = [4, 20] → khá chắc giá trị thật nằm giữa 4 và 20. CI nằm HOÀN TOÀN trên 0 nghĩa là kể cả kịch bản bi quan nhất Student vẫn hơn ⇒ khác biệt là thật. CI còn chứa 0 thì chưa loại trừ được khả năng hai bên bằng nhau.
Δ_train = mức chênh lệch đo trên 18 app ĐÃ học (điều kiện thuận lợi nhất). Δ_test = trên 12 app lạ. Điều kiện Δ_test ≥ 0.5 × Δ_train đòi sang app lạ phải giữ được ít nhất một nửa mức cải thiện đó. Ví dụ app đã học hơn 20 điểm thì app lạ phải hơn ít nhất 10 điểm.
Trước khi chạy bất kỳ cái nào: một cổng bắt buộc — tính MDE bằng số liệu pilot thật. Nếu MDE lớn hơn 15-20 điểm phần trăm thì phải đổi chia 18/12 thành 15/15 TRƯỚC khi khoá ngưỡng, vì lúc đó thiết kế không đủ sức phát hiện khác biệt.
Thí nghiệm 1 gần như chắc dương theo tiền lệ — đó là lưới an toàn. Nếu ngay cả nó cũng null thì dừng lại rà toàn bộ pipeline lọc, không diễn giải tiếp thí nghiệm 2.
Thí nghiệm 2 là chỗ có thể null thật. Nếu null: báo trung thực kèm MDE, đó là giới hạn tổng quát hoá — không phải luận văn thất bại, vì 1 đứng độc lập.
Hệ số 0.5 ở thí nghiệm 2 là tự đề xuất, khai rõ trong luận văn, không lấy từ literature nào.
Thí nghiệm 6 nếu không kịp dựng thì rút claim tương ứng khỏi bài báo, không hứa suông.
Còn một thí nghiệm phụ (trộn 25/50/75% dữ liệu lọc) chưa đăng ký trước nên chỉ báo dạng thăm dò.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33B"/>
        </a:solidFill>
      </p:bgPr>
    </p:bg>
    <p:spTree>
      <p:nvGrpSpPr>
        <p:cNvPr id="1" name=""/>
        <p:cNvGrpSpPr/>
        <p:nvPr/>
      </p:nvGrpSpPr>
      <p:grpSpPr>
        <a:xfrm>
          <a:off x="0" y="0"/>
          <a:ext cx="0" cy="0"/>
          <a:chOff x="0" y="0"/>
          <a:chExt cx="0" cy="0"/>
        </a:xfrm>
      </p:grpSpPr>
      <p:sp>
        <p:nvSpPr>
          <p:cNvPr id="2" name="Text 0"/>
          <p:cNvSpPr/>
          <p:nvPr/>
        </p:nvSpPr>
        <p:spPr>
          <a:xfrm>
            <a:off x="841248" y="1371600"/>
            <a:ext cx="10058400" cy="365760"/>
          </a:xfrm>
          <a:prstGeom prst="rect">
            <a:avLst/>
          </a:prstGeom>
          <a:noFill/>
          <a:ln/>
        </p:spPr>
        <p:txBody>
          <a:bodyPr wrap="square" lIns="0" tIns="0" rIns="0" bIns="0" rtlCol="0" anchor="t"/>
          <a:lstStyle/>
          <a:p>
            <a:pPr algn="l" indent="0" marL="0">
              <a:buNone/>
            </a:pPr>
            <a:r>
              <a:rPr lang="en-US" sz="1300" b="1" spc="250" kern="0" dirty="0">
                <a:solidFill>
                  <a:srgbClr val="E4A986"/>
                </a:solidFill>
                <a:latin typeface="Segoe UI" pitchFamily="34" charset="0"/>
                <a:ea typeface="Segoe UI" pitchFamily="34" charset="-122"/>
                <a:cs typeface="Segoe UI" pitchFamily="34" charset="-120"/>
              </a:rPr>
              <a:t>PIPELINE · THƯỚC ĐO · BỘ THÍ NGHIỆM</a:t>
            </a:r>
            <a:endParaRPr lang="en-US" sz="1300" dirty="0"/>
          </a:p>
        </p:txBody>
      </p:sp>
      <p:sp>
        <p:nvSpPr>
          <p:cNvPr id="3" name="Text 1"/>
          <p:cNvSpPr/>
          <p:nvPr/>
        </p:nvSpPr>
        <p:spPr>
          <a:xfrm>
            <a:off x="822960" y="1965960"/>
            <a:ext cx="877824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Cambria" pitchFamily="34" charset="0"/>
                <a:ea typeface="Cambria" pitchFamily="34" charset="-122"/>
                <a:cs typeface="Cambria" pitchFamily="34" charset="-120"/>
              </a:rPr>
              <a:t>Dạy một mô hình nhỏ</a:t>
            </a:r>
            <a:endParaRPr lang="en-US" sz="3400" dirty="0"/>
          </a:p>
          <a:p>
            <a:pPr algn="l" indent="0" marL="0">
              <a:lnSpc>
                <a:spcPct val="108000"/>
              </a:lnSpc>
              <a:buNone/>
            </a:pPr>
            <a:r>
              <a:rPr lang="en-US" sz="3400" b="1" dirty="0">
                <a:solidFill>
                  <a:srgbClr val="FFFFFF"/>
                </a:solidFill>
                <a:latin typeface="Cambria" pitchFamily="34" charset="0"/>
                <a:ea typeface="Cambria" pitchFamily="34" charset="-122"/>
                <a:cs typeface="Cambria" pitchFamily="34" charset="-120"/>
              </a:rPr>
              <a:t>thói quen thành thật</a:t>
            </a:r>
            <a:endParaRPr lang="en-US" sz="3400" dirty="0"/>
          </a:p>
        </p:txBody>
      </p:sp>
      <p:sp>
        <p:nvSpPr>
          <p:cNvPr id="4" name="Text 2"/>
          <p:cNvSpPr/>
          <p:nvPr/>
        </p:nvSpPr>
        <p:spPr>
          <a:xfrm>
            <a:off x="841248" y="3977640"/>
            <a:ext cx="8595360" cy="548640"/>
          </a:xfrm>
          <a:prstGeom prst="rect">
            <a:avLst/>
          </a:prstGeom>
          <a:noFill/>
          <a:ln/>
        </p:spPr>
        <p:txBody>
          <a:bodyPr wrap="square" lIns="0" tIns="0" rIns="0" bIns="0" rtlCol="0" anchor="t"/>
          <a:lstStyle/>
          <a:p>
            <a:pPr algn="l" indent="0" marL="0">
              <a:buNone/>
            </a:pPr>
            <a:r>
              <a:rPr lang="en-US" sz="1700" i="1" dirty="0">
                <a:solidFill>
                  <a:srgbClr val="C9D2DC"/>
                </a:solidFill>
                <a:latin typeface="Cambria" pitchFamily="34" charset="0"/>
                <a:ea typeface="Cambria" pitchFamily="34" charset="-122"/>
                <a:cs typeface="Cambria" pitchFamily="34" charset="-120"/>
              </a:rPr>
              <a:t>Cách xây pipeline, cách đo, và cách kiểm chứng</a:t>
            </a:r>
            <a:endParaRPr lang="en-US" sz="1700" dirty="0"/>
          </a:p>
        </p:txBody>
      </p:sp>
      <p:sp>
        <p:nvSpPr>
          <p:cNvPr id="5" name="Text 3"/>
          <p:cNvSpPr/>
          <p:nvPr/>
        </p:nvSpPr>
        <p:spPr>
          <a:xfrm>
            <a:off x="841248" y="5989320"/>
            <a:ext cx="10058400" cy="365760"/>
          </a:xfrm>
          <a:prstGeom prst="rect">
            <a:avLst/>
          </a:prstGeom>
          <a:noFill/>
          <a:ln/>
        </p:spPr>
        <p:txBody>
          <a:bodyPr wrap="square" lIns="0" tIns="0" rIns="0" bIns="0" rtlCol="0" anchor="t"/>
          <a:lstStyle/>
          <a:p>
            <a:pPr algn="l" indent="0" marL="0">
              <a:buNone/>
            </a:pPr>
            <a:r>
              <a:rPr lang="en-US" sz="1300" dirty="0">
                <a:solidFill>
                  <a:srgbClr val="8FA0B2"/>
                </a:solidFill>
                <a:latin typeface="Segoe UI" pitchFamily="34" charset="0"/>
                <a:ea typeface="Segoe UI" pitchFamily="34" charset="-122"/>
                <a:cs typeface="Segoe UI" pitchFamily="34" charset="-120"/>
              </a:rPr>
              <a:t>Học viên · · · · ·      Giảng viên hướng dẫn · · · · ·      2026</a:t>
            </a:r>
            <a:endParaRPr lang="en-US" sz="1300" dirty="0"/>
          </a:p>
        </p:txBody>
      </p:sp>
      <p:sp>
        <p:nvSpPr>
          <p:cNvPr id="6" name="Shape 4"/>
          <p:cNvSpPr/>
          <p:nvPr/>
        </p:nvSpPr>
        <p:spPr>
          <a:xfrm>
            <a:off x="9445752" y="1764792"/>
            <a:ext cx="1911096" cy="3054096"/>
          </a:xfrm>
          <a:prstGeom prst="roundRect">
            <a:avLst>
              <a:gd name="adj" fmla="val 3349"/>
            </a:avLst>
          </a:prstGeom>
          <a:solidFill>
            <a:srgbClr val="FFFFFF"/>
          </a:solidFill>
          <a:ln w="12700">
            <a:solidFill>
              <a:srgbClr val="DBE0E6"/>
            </a:solidFill>
            <a:prstDash val="solid"/>
          </a:ln>
          <a:effectLst>
            <a:outerShdw sx="100000" sy="100000" kx="0" ky="0" algn="bl" rotWithShape="0" blurRad="88900" dist="38100" dir="5400000">
              <a:srgbClr val="9AA3AD">
                <a:alpha val="28000"/>
              </a:srgbClr>
            </a:outerShdw>
          </a:effectLst>
        </p:spPr>
      </p:sp>
      <p:pic>
        <p:nvPicPr>
          <p:cNvPr id="7" name="Image 0" descr="_img/real_mv_1.png">    </p:cNvPr>
          <p:cNvPicPr>
            <a:picLocks noChangeAspect="1"/>
          </p:cNvPicPr>
          <p:nvPr/>
        </p:nvPicPr>
        <p:blipFill>
          <a:blip r:embed="rId1"/>
          <a:srcRect l="0" r="0" t="0" b="0"/>
          <a:stretch/>
        </p:blipFill>
        <p:spPr>
          <a:xfrm>
            <a:off x="9509760" y="1828800"/>
            <a:ext cx="1783080" cy="29260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Ý TƯỞNG CỐT LÕI</a:t>
            </a:r>
            <a:endParaRPr lang="en-US" sz="1250" dirty="0"/>
          </a:p>
        </p:txBody>
      </p:sp>
      <p:sp>
        <p:nvSpPr>
          <p:cNvPr id="3" name="Text 1"/>
          <p:cNvSpPr/>
          <p:nvPr/>
        </p:nvSpPr>
        <p:spPr>
          <a:xfrm>
            <a:off x="841248" y="896112"/>
            <a:ext cx="10506456" cy="914400"/>
          </a:xfrm>
          <a:prstGeom prst="rect">
            <a:avLst/>
          </a:prstGeom>
          <a:noFill/>
          <a:ln/>
        </p:spPr>
        <p:txBody>
          <a:bodyPr wrap="square" lIns="0" tIns="0" rIns="0" bIns="0" rtlCol="0" anchor="t"/>
          <a:lstStyle/>
          <a:p>
            <a:pPr algn="l" indent="0" marL="0">
              <a:lnSpc>
                <a:spcPct val="105000"/>
              </a:lnSpc>
              <a:buNone/>
            </a:pPr>
            <a:r>
              <a:rPr lang="en-US" sz="2700" b="1" dirty="0">
                <a:solidFill>
                  <a:srgbClr val="1D2733"/>
                </a:solidFill>
                <a:latin typeface="Cambria" pitchFamily="34" charset="0"/>
                <a:ea typeface="Cambria" pitchFamily="34" charset="-122"/>
                <a:cs typeface="Cambria" pitchFamily="34" charset="-120"/>
              </a:rPr>
              <a:t>Teacher hay bịa. Student được dạy lại cho cẩn thận</a:t>
            </a:r>
            <a:endParaRPr lang="en-US" sz="2700" dirty="0"/>
          </a:p>
        </p:txBody>
      </p:sp>
      <p:sp>
        <p:nvSpPr>
          <p:cNvPr id="4" name="Shape 2"/>
          <p:cNvSpPr/>
          <p:nvPr/>
        </p:nvSpPr>
        <p:spPr>
          <a:xfrm>
            <a:off x="841248" y="2331720"/>
            <a:ext cx="4892040" cy="2880360"/>
          </a:xfrm>
          <a:prstGeom prst="roundRect">
            <a:avLst>
              <a:gd name="adj" fmla="val 3175"/>
            </a:avLst>
          </a:prstGeom>
          <a:solidFill>
            <a:srgbClr val="F3F5F7"/>
          </a:solidFill>
          <a:ln/>
        </p:spPr>
      </p:sp>
      <p:sp>
        <p:nvSpPr>
          <p:cNvPr id="5" name="Text 3"/>
          <p:cNvSpPr/>
          <p:nvPr/>
        </p:nvSpPr>
        <p:spPr>
          <a:xfrm>
            <a:off x="1115568" y="2542032"/>
            <a:ext cx="4297680" cy="365760"/>
          </a:xfrm>
          <a:prstGeom prst="rect">
            <a:avLst/>
          </a:prstGeom>
          <a:noFill/>
          <a:ln/>
        </p:spPr>
        <p:txBody>
          <a:bodyPr wrap="square" lIns="0" tIns="0" rIns="0" bIns="0" rtlCol="0" anchor="t"/>
          <a:lstStyle/>
          <a:p>
            <a:pPr algn="l" indent="0" marL="0">
              <a:buNone/>
            </a:pPr>
            <a:r>
              <a:rPr lang="en-US" sz="1650" b="1" dirty="0">
                <a:solidFill>
                  <a:srgbClr val="52657A"/>
                </a:solidFill>
                <a:latin typeface="Cambria" pitchFamily="34" charset="0"/>
                <a:ea typeface="Cambria" pitchFamily="34" charset="-122"/>
                <a:cs typeface="Cambria" pitchFamily="34" charset="-120"/>
              </a:rPr>
              <a:t>Teacher</a:t>
            </a:r>
            <a:endParaRPr lang="en-US" sz="1650" dirty="0"/>
          </a:p>
        </p:txBody>
      </p:sp>
      <p:sp>
        <p:nvSpPr>
          <p:cNvPr id="6" name="Text 4"/>
          <p:cNvSpPr/>
          <p:nvPr/>
        </p:nvSpPr>
        <p:spPr>
          <a:xfrm>
            <a:off x="1115568" y="2971800"/>
            <a:ext cx="4343400" cy="2103120"/>
          </a:xfrm>
          <a:prstGeom prst="rect">
            <a:avLst/>
          </a:prstGeom>
          <a:noFill/>
          <a:ln/>
        </p:spPr>
        <p:txBody>
          <a:bodyPr wrap="square" lIns="0" tIns="0" rIns="0" bIns="0" rtlCol="0" anchor="t"/>
          <a:lstStyle/>
          <a:p>
            <a:pPr algn="l" indent="0" marL="0">
              <a:lnSpc>
                <a:spcPct val="135000"/>
              </a:lnSpc>
              <a:buNone/>
            </a:pPr>
            <a:r>
              <a:rPr lang="en-US" sz="1400" dirty="0">
                <a:solidFill>
                  <a:srgbClr val="454C55"/>
                </a:solidFill>
                <a:latin typeface="Segoe UI" pitchFamily="34" charset="0"/>
                <a:ea typeface="Segoe UI" pitchFamily="34" charset="-122"/>
                <a:cs typeface="Segoe UI" pitchFamily="34" charset="-120"/>
              </a:rPr>
              <a:t>gpt-4o-mini · gọi qua API</a:t>
            </a:r>
            <a:endParaRPr lang="en-US" sz="1400" dirty="0"/>
          </a:p>
          <a:p>
            <a:pPr algn="l" indent="0" marL="0">
              <a:lnSpc>
                <a:spcPct val="135000"/>
              </a:lnSpc>
              <a:buNone/>
            </a:pPr>
            <a:endParaRPr lang="en-US" sz="1400" dirty="0"/>
          </a:p>
          <a:p>
            <a:pPr algn="l" indent="0" marL="0">
              <a:lnSpc>
                <a:spcPct val="135000"/>
              </a:lnSpc>
              <a:buNone/>
            </a:pPr>
            <a:r>
              <a:rPr lang="en-US" sz="1400" dirty="0">
                <a:solidFill>
                  <a:srgbClr val="454C55"/>
                </a:solidFill>
                <a:latin typeface="Segoe UI" pitchFamily="34" charset="0"/>
                <a:ea typeface="Segoe UI" pitchFamily="34" charset="-122"/>
                <a:cs typeface="Segoe UI" pitchFamily="34" charset="-120"/>
              </a:rPr>
              <a:t>Chỉ thấy ảnh + câu hỏi.</a:t>
            </a:r>
            <a:endParaRPr lang="en-US" sz="1400" dirty="0"/>
          </a:p>
          <a:p>
            <a:pPr algn="l" indent="0" marL="0">
              <a:lnSpc>
                <a:spcPct val="135000"/>
              </a:lnSpc>
              <a:buNone/>
            </a:pPr>
            <a:r>
              <a:rPr lang="en-US" sz="1400" dirty="0">
                <a:solidFill>
                  <a:srgbClr val="454C55"/>
                </a:solidFill>
                <a:latin typeface="Segoe UI" pitchFamily="34" charset="0"/>
                <a:ea typeface="Segoe UI" pitchFamily="34" charset="-122"/>
                <a:cs typeface="Segoe UI" pitchFamily="34" charset="-120"/>
              </a:rPr>
              <a:t>Không được xem danh sách nút.</a:t>
            </a:r>
            <a:endParaRPr lang="en-US" sz="1400" dirty="0"/>
          </a:p>
          <a:p>
            <a:pPr algn="l" indent="0" marL="0">
              <a:lnSpc>
                <a:spcPct val="135000"/>
              </a:lnSpc>
              <a:buNone/>
            </a:pPr>
            <a:endParaRPr lang="en-US" sz="1400" dirty="0"/>
          </a:p>
          <a:p>
            <a:pPr algn="l" indent="0" marL="0">
              <a:lnSpc>
                <a:spcPct val="135000"/>
              </a:lnSpc>
              <a:buNone/>
            </a:pPr>
            <a:r>
              <a:rPr lang="en-US" sz="1400" dirty="0">
                <a:solidFill>
                  <a:srgbClr val="454C55"/>
                </a:solidFill>
                <a:latin typeface="Segoe UI" pitchFamily="34" charset="0"/>
                <a:ea typeface="Segoe UI" pitchFamily="34" charset="-122"/>
                <a:cs typeface="Segoe UI" pitchFamily="34" charset="-120"/>
              </a:rPr>
              <a:t>→ đôi khi bịa ra nút không tồn tại.</a:t>
            </a:r>
            <a:endParaRPr lang="en-US" sz="1400" dirty="0"/>
          </a:p>
        </p:txBody>
      </p:sp>
      <p:sp>
        <p:nvSpPr>
          <p:cNvPr id="7" name="Shape 5"/>
          <p:cNvSpPr/>
          <p:nvPr/>
        </p:nvSpPr>
        <p:spPr>
          <a:xfrm>
            <a:off x="5989320" y="3749040"/>
            <a:ext cx="502920" cy="0"/>
          </a:xfrm>
          <a:prstGeom prst="line">
            <a:avLst/>
          </a:prstGeom>
          <a:noFill/>
          <a:ln w="31750">
            <a:solidFill>
              <a:srgbClr val="BE5A2E"/>
            </a:solidFill>
            <a:prstDash val="solid"/>
            <a:tailEnd type="triangle"/>
          </a:ln>
        </p:spPr>
      </p:sp>
      <p:sp>
        <p:nvSpPr>
          <p:cNvPr id="8" name="Shape 6"/>
          <p:cNvSpPr/>
          <p:nvPr/>
        </p:nvSpPr>
        <p:spPr>
          <a:xfrm>
            <a:off x="6766560" y="2331720"/>
            <a:ext cx="4572000" cy="2880360"/>
          </a:xfrm>
          <a:prstGeom prst="roundRect">
            <a:avLst>
              <a:gd name="adj" fmla="val 3175"/>
            </a:avLst>
          </a:prstGeom>
          <a:solidFill>
            <a:srgbClr val="F7EBE3"/>
          </a:solidFill>
          <a:ln/>
        </p:spPr>
      </p:sp>
      <p:sp>
        <p:nvSpPr>
          <p:cNvPr id="9" name="Text 7"/>
          <p:cNvSpPr/>
          <p:nvPr/>
        </p:nvSpPr>
        <p:spPr>
          <a:xfrm>
            <a:off x="7040880" y="2542032"/>
            <a:ext cx="4023360" cy="365760"/>
          </a:xfrm>
          <a:prstGeom prst="rect">
            <a:avLst/>
          </a:prstGeom>
          <a:noFill/>
          <a:ln/>
        </p:spPr>
        <p:txBody>
          <a:bodyPr wrap="square" lIns="0" tIns="0" rIns="0" bIns="0" rtlCol="0" anchor="t"/>
          <a:lstStyle/>
          <a:p>
            <a:pPr algn="l" indent="0" marL="0">
              <a:buNone/>
            </a:pPr>
            <a:r>
              <a:rPr lang="en-US" sz="1650" b="1" dirty="0">
                <a:solidFill>
                  <a:srgbClr val="BE5A2E"/>
                </a:solidFill>
                <a:latin typeface="Cambria" pitchFamily="34" charset="0"/>
                <a:ea typeface="Cambria" pitchFamily="34" charset="-122"/>
                <a:cs typeface="Cambria" pitchFamily="34" charset="-120"/>
              </a:rPr>
              <a:t>Student</a:t>
            </a:r>
            <a:endParaRPr lang="en-US" sz="1650" dirty="0"/>
          </a:p>
        </p:txBody>
      </p:sp>
      <p:sp>
        <p:nvSpPr>
          <p:cNvPr id="10" name="Text 8"/>
          <p:cNvSpPr/>
          <p:nvPr/>
        </p:nvSpPr>
        <p:spPr>
          <a:xfrm>
            <a:off x="7040880" y="2971800"/>
            <a:ext cx="4023360" cy="2103120"/>
          </a:xfrm>
          <a:prstGeom prst="rect">
            <a:avLst/>
          </a:prstGeom>
          <a:noFill/>
          <a:ln/>
        </p:spPr>
        <p:txBody>
          <a:bodyPr wrap="square" lIns="0" tIns="0" rIns="0" bIns="0" rtlCol="0" anchor="t"/>
          <a:lstStyle/>
          <a:p>
            <a:pPr algn="l" indent="0" marL="0">
              <a:lnSpc>
                <a:spcPct val="135000"/>
              </a:lnSpc>
              <a:buNone/>
            </a:pPr>
            <a:r>
              <a:rPr lang="en-US" sz="1400" dirty="0">
                <a:solidFill>
                  <a:srgbClr val="454C55"/>
                </a:solidFill>
                <a:latin typeface="Segoe UI" pitchFamily="34" charset="0"/>
                <a:ea typeface="Segoe UI" pitchFamily="34" charset="-122"/>
                <a:cs typeface="Segoe UI" pitchFamily="34" charset="-120"/>
              </a:rPr>
              <a:t>Qwen2.5-VL-3B · tự fine-tune</a:t>
            </a:r>
            <a:endParaRPr lang="en-US" sz="1400" dirty="0"/>
          </a:p>
          <a:p>
            <a:pPr algn="l" indent="0" marL="0">
              <a:lnSpc>
                <a:spcPct val="135000"/>
              </a:lnSpc>
              <a:buNone/>
            </a:pPr>
            <a:endParaRPr lang="en-US" sz="1400" dirty="0"/>
          </a:p>
          <a:p>
            <a:pPr algn="l" indent="0" marL="0">
              <a:lnSpc>
                <a:spcPct val="135000"/>
              </a:lnSpc>
              <a:buNone/>
            </a:pPr>
            <a:r>
              <a:rPr lang="en-US" sz="1400" dirty="0">
                <a:solidFill>
                  <a:srgbClr val="454C55"/>
                </a:solidFill>
                <a:latin typeface="Segoe UI" pitchFamily="34" charset="0"/>
                <a:ea typeface="Segoe UI" pitchFamily="34" charset="-122"/>
                <a:cs typeface="Segoe UI" pitchFamily="34" charset="-120"/>
              </a:rPr>
              <a:t>Chỉ học phần lời Teacher</a:t>
            </a:r>
            <a:endParaRPr lang="en-US" sz="1400" dirty="0"/>
          </a:p>
          <a:p>
            <a:pPr algn="l" indent="0" marL="0">
              <a:lnSpc>
                <a:spcPct val="135000"/>
              </a:lnSpc>
              <a:buNone/>
            </a:pPr>
            <a:r>
              <a:rPr lang="en-US" sz="1400" dirty="0">
                <a:solidFill>
                  <a:srgbClr val="454C55"/>
                </a:solidFill>
                <a:latin typeface="Segoe UI" pitchFamily="34" charset="0"/>
                <a:ea typeface="Segoe UI" pitchFamily="34" charset="-122"/>
                <a:cs typeface="Segoe UI" pitchFamily="34" charset="-120"/>
              </a:rPr>
              <a:t>đã lọc sạch bịa.</a:t>
            </a:r>
            <a:endParaRPr lang="en-US" sz="1400" dirty="0"/>
          </a:p>
          <a:p>
            <a:pPr algn="l" indent="0" marL="0">
              <a:lnSpc>
                <a:spcPct val="135000"/>
              </a:lnSpc>
              <a:buNone/>
            </a:pPr>
            <a:endParaRPr lang="en-US" sz="1400" dirty="0"/>
          </a:p>
          <a:p>
            <a:pPr algn="l" indent="0" marL="0">
              <a:lnSpc>
                <a:spcPct val="135000"/>
              </a:lnSpc>
              <a:buNone/>
            </a:pPr>
            <a:r>
              <a:rPr lang="en-US" sz="1400" dirty="0">
                <a:solidFill>
                  <a:srgbClr val="454C55"/>
                </a:solidFill>
                <a:latin typeface="Segoe UI" pitchFamily="34" charset="0"/>
                <a:ea typeface="Segoe UI" pitchFamily="34" charset="-122"/>
                <a:cs typeface="Segoe UI" pitchFamily="34" charset="-120"/>
              </a:rPr>
              <a:t>→ sản phẩm chính của luận văn.</a:t>
            </a:r>
            <a:endParaRPr lang="en-US" sz="1400" dirty="0"/>
          </a:p>
        </p:txBody>
      </p:sp>
      <p:sp>
        <p:nvSpPr>
          <p:cNvPr id="11" name="Shape 9"/>
          <p:cNvSpPr/>
          <p:nvPr/>
        </p:nvSpPr>
        <p:spPr>
          <a:xfrm>
            <a:off x="841248" y="5486400"/>
            <a:ext cx="10506456" cy="914400"/>
          </a:xfrm>
          <a:prstGeom prst="roundRect">
            <a:avLst>
              <a:gd name="adj" fmla="val 10000"/>
            </a:avLst>
          </a:prstGeom>
          <a:solidFill>
            <a:srgbClr val="FFFFFF"/>
          </a:solidFill>
          <a:ln w="12700">
            <a:solidFill>
              <a:srgbClr val="DBE0E6"/>
            </a:solidFill>
            <a:prstDash val="solid"/>
          </a:ln>
        </p:spPr>
      </p:sp>
      <p:sp>
        <p:nvSpPr>
          <p:cNvPr id="12" name="Text 10"/>
          <p:cNvSpPr/>
          <p:nvPr/>
        </p:nvSpPr>
        <p:spPr>
          <a:xfrm>
            <a:off x="1115568" y="5486400"/>
            <a:ext cx="9957816" cy="914400"/>
          </a:xfrm>
          <a:prstGeom prst="rect">
            <a:avLst/>
          </a:prstGeom>
          <a:noFill/>
          <a:ln/>
        </p:spPr>
        <p:txBody>
          <a:bodyPr wrap="square" lIns="0" tIns="0" rIns="0" bIns="0" rtlCol="0" anchor="ctr"/>
          <a:lstStyle/>
          <a:p>
            <a:pPr algn="l" indent="0" marL="0">
              <a:lnSpc>
                <a:spcPct val="128000"/>
              </a:lnSpc>
              <a:buNone/>
            </a:pPr>
            <a:r>
              <a:rPr lang="en-US" sz="1450" b="1" dirty="0">
                <a:solidFill>
                  <a:srgbClr val="BE5A2E"/>
                </a:solidFill>
                <a:latin typeface="Segoe UI" pitchFamily="34" charset="0"/>
                <a:ea typeface="Segoe UI" pitchFamily="34" charset="-122"/>
                <a:cs typeface="Segoe UI" pitchFamily="34" charset="-120"/>
              </a:rPr>
              <a:t>Câu hỏi trọng tâm:  </a:t>
            </a:r>
            <a:pPr algn="l" indent="0" marL="0">
              <a:lnSpc>
                <a:spcPct val="128000"/>
              </a:lnSpc>
              <a:buNone/>
            </a:pPr>
            <a:r>
              <a:rPr lang="en-US" sz="1450" dirty="0">
                <a:solidFill>
                  <a:srgbClr val="1D2733"/>
                </a:solidFill>
                <a:latin typeface="Segoe UI" pitchFamily="34" charset="0"/>
                <a:ea typeface="Segoe UI" pitchFamily="34" charset="-122"/>
                <a:cs typeface="Segoe UI" pitchFamily="34" charset="-120"/>
              </a:rPr>
              <a:t>thói quen thành thật đó có thật sự ngấm vào Student, hay chỉ là vẻ ngoài phụ thuộc vào việc có ai kiểm tra hộ hay không?</a:t>
            </a:r>
            <a:endParaRPr lang="en-US" sz="1450" dirty="0"/>
          </a:p>
        </p:txBody>
      </p:sp>
      <p:sp>
        <p:nvSpPr>
          <p:cNvPr id="14" name="Text 11"/>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01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PIPELINE LÚC CHUẨN BỊ DỮ LIỆU</a:t>
            </a:r>
            <a:endParaRPr lang="en-US" sz="1250" dirty="0"/>
          </a:p>
        </p:txBody>
      </p:sp>
      <p:sp>
        <p:nvSpPr>
          <p:cNvPr id="3" name="Text 1"/>
          <p:cNvSpPr/>
          <p:nvPr/>
        </p:nvSpPr>
        <p:spPr>
          <a:xfrm>
            <a:off x="841248" y="896112"/>
            <a:ext cx="10506456" cy="914400"/>
          </a:xfrm>
          <a:prstGeom prst="rect">
            <a:avLst/>
          </a:prstGeom>
          <a:noFill/>
          <a:ln/>
        </p:spPr>
        <p:txBody>
          <a:bodyPr wrap="square" lIns="0" tIns="0" rIns="0" bIns="0" rtlCol="0" anchor="t"/>
          <a:lstStyle/>
          <a:p>
            <a:pPr algn="l" indent="0" marL="0">
              <a:lnSpc>
                <a:spcPct val="105000"/>
              </a:lnSpc>
              <a:buNone/>
            </a:pPr>
            <a:r>
              <a:rPr lang="en-US" sz="2700" b="1" dirty="0">
                <a:solidFill>
                  <a:srgbClr val="1D2733"/>
                </a:solidFill>
                <a:latin typeface="Cambria" pitchFamily="34" charset="0"/>
                <a:ea typeface="Cambria" pitchFamily="34" charset="-122"/>
                <a:cs typeface="Cambria" pitchFamily="34" charset="-120"/>
              </a:rPr>
              <a:t>Chạy một lần, ngoại tuyến, để tạo dữ liệu dạy Student</a:t>
            </a:r>
            <a:endParaRPr lang="en-US" sz="2700" dirty="0"/>
          </a:p>
        </p:txBody>
      </p:sp>
      <p:sp>
        <p:nvSpPr>
          <p:cNvPr id="4" name="Shape 2"/>
          <p:cNvSpPr/>
          <p:nvPr/>
        </p:nvSpPr>
        <p:spPr>
          <a:xfrm>
            <a:off x="841248" y="2606040"/>
            <a:ext cx="1874520" cy="1691640"/>
          </a:xfrm>
          <a:prstGeom prst="roundRect">
            <a:avLst>
              <a:gd name="adj" fmla="val 4865"/>
            </a:avLst>
          </a:prstGeom>
          <a:solidFill>
            <a:srgbClr val="F3F5F7"/>
          </a:solidFill>
          <a:ln/>
        </p:spPr>
      </p:sp>
      <p:sp>
        <p:nvSpPr>
          <p:cNvPr id="5" name="Shape 3"/>
          <p:cNvSpPr/>
          <p:nvPr/>
        </p:nvSpPr>
        <p:spPr>
          <a:xfrm>
            <a:off x="987552" y="2788920"/>
            <a:ext cx="457200" cy="457200"/>
          </a:xfrm>
          <a:prstGeom prst="ellipse">
            <a:avLst/>
          </a:prstGeom>
          <a:solidFill>
            <a:srgbClr val="52657A"/>
          </a:solidFill>
          <a:ln/>
        </p:spPr>
      </p:sp>
      <p:sp>
        <p:nvSpPr>
          <p:cNvPr id="6" name="Text 4"/>
          <p:cNvSpPr/>
          <p:nvPr/>
        </p:nvSpPr>
        <p:spPr>
          <a:xfrm>
            <a:off x="987552" y="278892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7" name="Text 5"/>
          <p:cNvSpPr/>
          <p:nvPr/>
        </p:nvSpPr>
        <p:spPr>
          <a:xfrm>
            <a:off x="932688" y="3337560"/>
            <a:ext cx="1691640" cy="502920"/>
          </a:xfrm>
          <a:prstGeom prst="rect">
            <a:avLst/>
          </a:prstGeom>
          <a:noFill/>
          <a:ln/>
        </p:spPr>
        <p:txBody>
          <a:bodyPr wrap="square" lIns="0" tIns="0" rIns="0" bIns="0" rtlCol="0" anchor="ctr"/>
          <a:lstStyle/>
          <a:p>
            <a:pPr algn="ctr" indent="0" marL="0">
              <a:lnSpc>
                <a:spcPct val="110000"/>
              </a:lnSpc>
              <a:buNone/>
            </a:pPr>
            <a:r>
              <a:rPr lang="en-US" sz="1300" b="1" dirty="0">
                <a:solidFill>
                  <a:srgbClr val="1D2733"/>
                </a:solidFill>
                <a:latin typeface="Segoe UI" pitchFamily="34" charset="0"/>
                <a:ea typeface="Segoe UI" pitchFamily="34" charset="-122"/>
                <a:cs typeface="Segoe UI" pitchFamily="34" charset="-120"/>
              </a:rPr>
              <a:t>Ảnh + câu hỏi</a:t>
            </a:r>
            <a:endParaRPr lang="en-US" sz="1300" dirty="0"/>
          </a:p>
        </p:txBody>
      </p:sp>
      <p:sp>
        <p:nvSpPr>
          <p:cNvPr id="8" name="Text 6"/>
          <p:cNvSpPr/>
          <p:nvPr/>
        </p:nvSpPr>
        <p:spPr>
          <a:xfrm>
            <a:off x="950976" y="3858768"/>
            <a:ext cx="1664208" cy="402336"/>
          </a:xfrm>
          <a:prstGeom prst="rect">
            <a:avLst/>
          </a:prstGeom>
          <a:noFill/>
          <a:ln/>
        </p:spPr>
        <p:txBody>
          <a:bodyPr wrap="square" lIns="0" tIns="0" rIns="0" bIns="0" rtlCol="0" anchor="t"/>
          <a:lstStyle/>
          <a:p>
            <a:pPr algn="ctr" indent="0" marL="0">
              <a:lnSpc>
                <a:spcPct val="118000"/>
              </a:lnSpc>
              <a:buNone/>
            </a:pPr>
            <a:r>
              <a:rPr lang="en-US" sz="1050" dirty="0">
                <a:solidFill>
                  <a:srgbClr val="454C55"/>
                </a:solidFill>
                <a:latin typeface="Segoe UI" pitchFamily="34" charset="0"/>
                <a:ea typeface="Segoe UI" pitchFamily="34" charset="-122"/>
                <a:cs typeface="Segoe UI" pitchFamily="34" charset="-120"/>
              </a:rPr>
              <a:t>Lấy từ kho ảnh màn hình ứng dụng có sẵn</a:t>
            </a:r>
            <a:endParaRPr lang="en-US" sz="1050" dirty="0"/>
          </a:p>
        </p:txBody>
      </p:sp>
      <p:sp>
        <p:nvSpPr>
          <p:cNvPr id="9" name="Shape 7"/>
          <p:cNvSpPr/>
          <p:nvPr/>
        </p:nvSpPr>
        <p:spPr>
          <a:xfrm>
            <a:off x="2734056" y="3429000"/>
            <a:ext cx="201168" cy="0"/>
          </a:xfrm>
          <a:prstGeom prst="line">
            <a:avLst/>
          </a:prstGeom>
          <a:noFill/>
          <a:ln w="31750">
            <a:solidFill>
              <a:srgbClr val="BE5A2E"/>
            </a:solidFill>
            <a:prstDash val="solid"/>
            <a:tailEnd type="triangle"/>
          </a:ln>
        </p:spPr>
      </p:sp>
      <p:sp>
        <p:nvSpPr>
          <p:cNvPr id="10" name="Shape 8"/>
          <p:cNvSpPr/>
          <p:nvPr/>
        </p:nvSpPr>
        <p:spPr>
          <a:xfrm>
            <a:off x="2962656" y="2606040"/>
            <a:ext cx="1874520" cy="1691640"/>
          </a:xfrm>
          <a:prstGeom prst="roundRect">
            <a:avLst>
              <a:gd name="adj" fmla="val 4865"/>
            </a:avLst>
          </a:prstGeom>
          <a:solidFill>
            <a:srgbClr val="F3F5F7"/>
          </a:solidFill>
          <a:ln/>
        </p:spPr>
      </p:sp>
      <p:sp>
        <p:nvSpPr>
          <p:cNvPr id="11" name="Shape 9"/>
          <p:cNvSpPr/>
          <p:nvPr/>
        </p:nvSpPr>
        <p:spPr>
          <a:xfrm>
            <a:off x="3108960" y="2788920"/>
            <a:ext cx="457200" cy="457200"/>
          </a:xfrm>
          <a:prstGeom prst="ellipse">
            <a:avLst/>
          </a:prstGeom>
          <a:solidFill>
            <a:srgbClr val="52657A"/>
          </a:solidFill>
          <a:ln/>
        </p:spPr>
      </p:sp>
      <p:sp>
        <p:nvSpPr>
          <p:cNvPr id="12" name="Text 10"/>
          <p:cNvSpPr/>
          <p:nvPr/>
        </p:nvSpPr>
        <p:spPr>
          <a:xfrm>
            <a:off x="3108960" y="278892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3" name="Text 11"/>
          <p:cNvSpPr/>
          <p:nvPr/>
        </p:nvSpPr>
        <p:spPr>
          <a:xfrm>
            <a:off x="3054096" y="3337560"/>
            <a:ext cx="1691640" cy="502920"/>
          </a:xfrm>
          <a:prstGeom prst="rect">
            <a:avLst/>
          </a:prstGeom>
          <a:noFill/>
          <a:ln/>
        </p:spPr>
        <p:txBody>
          <a:bodyPr wrap="square" lIns="0" tIns="0" rIns="0" bIns="0" rtlCol="0" anchor="ctr"/>
          <a:lstStyle/>
          <a:p>
            <a:pPr algn="ctr" indent="0" marL="0">
              <a:lnSpc>
                <a:spcPct val="110000"/>
              </a:lnSpc>
              <a:buNone/>
            </a:pPr>
            <a:r>
              <a:rPr lang="en-US" sz="1300" b="1" dirty="0">
                <a:solidFill>
                  <a:srgbClr val="1D2733"/>
                </a:solidFill>
                <a:latin typeface="Segoe UI" pitchFamily="34" charset="0"/>
                <a:ea typeface="Segoe UI" pitchFamily="34" charset="-122"/>
                <a:cs typeface="Segoe UI" pitchFamily="34" charset="-120"/>
              </a:rPr>
              <a:t>Teacher viết nháp</a:t>
            </a:r>
            <a:endParaRPr lang="en-US" sz="1300" dirty="0"/>
          </a:p>
        </p:txBody>
      </p:sp>
      <p:sp>
        <p:nvSpPr>
          <p:cNvPr id="14" name="Text 12"/>
          <p:cNvSpPr/>
          <p:nvPr/>
        </p:nvSpPr>
        <p:spPr>
          <a:xfrm>
            <a:off x="3072384" y="3858768"/>
            <a:ext cx="1664208" cy="402336"/>
          </a:xfrm>
          <a:prstGeom prst="rect">
            <a:avLst/>
          </a:prstGeom>
          <a:noFill/>
          <a:ln/>
        </p:spPr>
        <p:txBody>
          <a:bodyPr wrap="square" lIns="0" tIns="0" rIns="0" bIns="0" rtlCol="0" anchor="t"/>
          <a:lstStyle/>
          <a:p>
            <a:pPr algn="ctr" indent="0" marL="0">
              <a:lnSpc>
                <a:spcPct val="118000"/>
              </a:lnSpc>
              <a:buNone/>
            </a:pPr>
            <a:r>
              <a:rPr lang="en-US" sz="1050" dirty="0">
                <a:solidFill>
                  <a:srgbClr val="454C55"/>
                </a:solidFill>
                <a:latin typeface="Segoe UI" pitchFamily="34" charset="0"/>
                <a:ea typeface="Segoe UI" pitchFamily="34" charset="-122"/>
                <a:cs typeface="Segoe UI" pitchFamily="34" charset="-120"/>
              </a:rPr>
              <a:t>Chỉ thấy ảnh, không thấy danh sách nút</a:t>
            </a:r>
            <a:endParaRPr lang="en-US" sz="1050" dirty="0"/>
          </a:p>
        </p:txBody>
      </p:sp>
      <p:sp>
        <p:nvSpPr>
          <p:cNvPr id="15" name="Shape 13"/>
          <p:cNvSpPr/>
          <p:nvPr/>
        </p:nvSpPr>
        <p:spPr>
          <a:xfrm>
            <a:off x="4855464" y="3429000"/>
            <a:ext cx="201168" cy="0"/>
          </a:xfrm>
          <a:prstGeom prst="line">
            <a:avLst/>
          </a:prstGeom>
          <a:noFill/>
          <a:ln w="31750">
            <a:solidFill>
              <a:srgbClr val="BE5A2E"/>
            </a:solidFill>
            <a:prstDash val="solid"/>
            <a:tailEnd type="triangle"/>
          </a:ln>
        </p:spPr>
      </p:sp>
      <p:sp>
        <p:nvSpPr>
          <p:cNvPr id="16" name="Shape 14"/>
          <p:cNvSpPr/>
          <p:nvPr/>
        </p:nvSpPr>
        <p:spPr>
          <a:xfrm>
            <a:off x="5084064" y="2606040"/>
            <a:ext cx="1874520" cy="1691640"/>
          </a:xfrm>
          <a:prstGeom prst="roundRect">
            <a:avLst>
              <a:gd name="adj" fmla="val 4865"/>
            </a:avLst>
          </a:prstGeom>
          <a:solidFill>
            <a:srgbClr val="F7EBE3"/>
          </a:solidFill>
          <a:ln/>
        </p:spPr>
      </p:sp>
      <p:sp>
        <p:nvSpPr>
          <p:cNvPr id="17" name="Shape 15"/>
          <p:cNvSpPr/>
          <p:nvPr/>
        </p:nvSpPr>
        <p:spPr>
          <a:xfrm>
            <a:off x="5230368" y="2788920"/>
            <a:ext cx="457200" cy="457200"/>
          </a:xfrm>
          <a:prstGeom prst="ellipse">
            <a:avLst/>
          </a:prstGeom>
          <a:solidFill>
            <a:srgbClr val="BE5A2E"/>
          </a:solidFill>
          <a:ln/>
        </p:spPr>
      </p:sp>
      <p:sp>
        <p:nvSpPr>
          <p:cNvPr id="18" name="Text 16"/>
          <p:cNvSpPr/>
          <p:nvPr/>
        </p:nvSpPr>
        <p:spPr>
          <a:xfrm>
            <a:off x="5230368" y="278892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9" name="Text 17"/>
          <p:cNvSpPr/>
          <p:nvPr/>
        </p:nvSpPr>
        <p:spPr>
          <a:xfrm>
            <a:off x="5175504" y="3337560"/>
            <a:ext cx="1691640" cy="502920"/>
          </a:xfrm>
          <a:prstGeom prst="rect">
            <a:avLst/>
          </a:prstGeom>
          <a:noFill/>
          <a:ln/>
        </p:spPr>
        <p:txBody>
          <a:bodyPr wrap="square" lIns="0" tIns="0" rIns="0" bIns="0" rtlCol="0" anchor="ctr"/>
          <a:lstStyle/>
          <a:p>
            <a:pPr algn="ctr" indent="0" marL="0">
              <a:lnSpc>
                <a:spcPct val="110000"/>
              </a:lnSpc>
              <a:buNone/>
            </a:pPr>
            <a:r>
              <a:rPr lang="en-US" sz="1300" b="1" dirty="0">
                <a:solidFill>
                  <a:srgbClr val="1D2733"/>
                </a:solidFill>
                <a:latin typeface="Segoe UI" pitchFamily="34" charset="0"/>
                <a:ea typeface="Segoe UI" pitchFamily="34" charset="-122"/>
                <a:cs typeface="Segoe UI" pitchFamily="34" charset="-120"/>
              </a:rPr>
              <a:t>Đối chiếu nút thật</a:t>
            </a:r>
            <a:endParaRPr lang="en-US" sz="1300" dirty="0"/>
          </a:p>
        </p:txBody>
      </p:sp>
      <p:sp>
        <p:nvSpPr>
          <p:cNvPr id="20" name="Text 18"/>
          <p:cNvSpPr/>
          <p:nvPr/>
        </p:nvSpPr>
        <p:spPr>
          <a:xfrm>
            <a:off x="5193792" y="3858768"/>
            <a:ext cx="1664208" cy="402336"/>
          </a:xfrm>
          <a:prstGeom prst="rect">
            <a:avLst/>
          </a:prstGeom>
          <a:noFill/>
          <a:ln/>
        </p:spPr>
        <p:txBody>
          <a:bodyPr wrap="square" lIns="0" tIns="0" rIns="0" bIns="0" rtlCol="0" anchor="t"/>
          <a:lstStyle/>
          <a:p>
            <a:pPr algn="ctr" indent="0" marL="0">
              <a:lnSpc>
                <a:spcPct val="118000"/>
              </a:lnSpc>
              <a:buNone/>
            </a:pPr>
            <a:r>
              <a:rPr lang="en-US" sz="1050" dirty="0">
                <a:solidFill>
                  <a:srgbClr val="454C55"/>
                </a:solidFill>
                <a:latin typeface="Segoe UI" pitchFamily="34" charset="0"/>
                <a:ea typeface="Segoe UI" pitchFamily="34" charset="-122"/>
                <a:cs typeface="Segoe UI" pitchFamily="34" charset="-120"/>
              </a:rPr>
              <a:t>Thuật toán so từng bước với màn hình</a:t>
            </a:r>
            <a:endParaRPr lang="en-US" sz="1050" dirty="0"/>
          </a:p>
        </p:txBody>
      </p:sp>
      <p:sp>
        <p:nvSpPr>
          <p:cNvPr id="21" name="Shape 19"/>
          <p:cNvSpPr/>
          <p:nvPr/>
        </p:nvSpPr>
        <p:spPr>
          <a:xfrm>
            <a:off x="6976872" y="3429000"/>
            <a:ext cx="201168" cy="0"/>
          </a:xfrm>
          <a:prstGeom prst="line">
            <a:avLst/>
          </a:prstGeom>
          <a:noFill/>
          <a:ln w="31750">
            <a:solidFill>
              <a:srgbClr val="BE5A2E"/>
            </a:solidFill>
            <a:prstDash val="solid"/>
            <a:tailEnd type="triangle"/>
          </a:ln>
        </p:spPr>
      </p:sp>
      <p:sp>
        <p:nvSpPr>
          <p:cNvPr id="22" name="Shape 20"/>
          <p:cNvSpPr/>
          <p:nvPr/>
        </p:nvSpPr>
        <p:spPr>
          <a:xfrm>
            <a:off x="7205472" y="2606040"/>
            <a:ext cx="1874520" cy="1691640"/>
          </a:xfrm>
          <a:prstGeom prst="roundRect">
            <a:avLst>
              <a:gd name="adj" fmla="val 4865"/>
            </a:avLst>
          </a:prstGeom>
          <a:solidFill>
            <a:srgbClr val="F3F5F7"/>
          </a:solidFill>
          <a:ln/>
        </p:spPr>
      </p:sp>
      <p:sp>
        <p:nvSpPr>
          <p:cNvPr id="23" name="Shape 21"/>
          <p:cNvSpPr/>
          <p:nvPr/>
        </p:nvSpPr>
        <p:spPr>
          <a:xfrm>
            <a:off x="7351776" y="2788920"/>
            <a:ext cx="457200" cy="457200"/>
          </a:xfrm>
          <a:prstGeom prst="ellipse">
            <a:avLst/>
          </a:prstGeom>
          <a:solidFill>
            <a:srgbClr val="52657A"/>
          </a:solidFill>
          <a:ln/>
        </p:spPr>
      </p:sp>
      <p:sp>
        <p:nvSpPr>
          <p:cNvPr id="24" name="Text 22"/>
          <p:cNvSpPr/>
          <p:nvPr/>
        </p:nvSpPr>
        <p:spPr>
          <a:xfrm>
            <a:off x="7351776" y="278892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25" name="Text 23"/>
          <p:cNvSpPr/>
          <p:nvPr/>
        </p:nvSpPr>
        <p:spPr>
          <a:xfrm>
            <a:off x="7296912" y="3337560"/>
            <a:ext cx="1691640" cy="502920"/>
          </a:xfrm>
          <a:prstGeom prst="rect">
            <a:avLst/>
          </a:prstGeom>
          <a:noFill/>
          <a:ln/>
        </p:spPr>
        <p:txBody>
          <a:bodyPr wrap="square" lIns="0" tIns="0" rIns="0" bIns="0" rtlCol="0" anchor="ctr"/>
          <a:lstStyle/>
          <a:p>
            <a:pPr algn="ctr" indent="0" marL="0">
              <a:lnSpc>
                <a:spcPct val="110000"/>
              </a:lnSpc>
              <a:buNone/>
            </a:pPr>
            <a:r>
              <a:rPr lang="en-US" sz="1300" b="1" dirty="0">
                <a:solidFill>
                  <a:srgbClr val="1D2733"/>
                </a:solidFill>
                <a:latin typeface="Segoe UI" pitchFamily="34" charset="0"/>
                <a:ea typeface="Segoe UI" pitchFamily="34" charset="-122"/>
                <a:cs typeface="Segoe UI" pitchFamily="34" charset="-120"/>
              </a:rPr>
              <a:t>Viết lại chỗ bịa</a:t>
            </a:r>
            <a:endParaRPr lang="en-US" sz="1300" dirty="0"/>
          </a:p>
        </p:txBody>
      </p:sp>
      <p:sp>
        <p:nvSpPr>
          <p:cNvPr id="26" name="Text 24"/>
          <p:cNvSpPr/>
          <p:nvPr/>
        </p:nvSpPr>
        <p:spPr>
          <a:xfrm>
            <a:off x="7315200" y="3858768"/>
            <a:ext cx="1664208" cy="402336"/>
          </a:xfrm>
          <a:prstGeom prst="rect">
            <a:avLst/>
          </a:prstGeom>
          <a:noFill/>
          <a:ln/>
        </p:spPr>
        <p:txBody>
          <a:bodyPr wrap="square" lIns="0" tIns="0" rIns="0" bIns="0" rtlCol="0" anchor="t"/>
          <a:lstStyle/>
          <a:p>
            <a:pPr algn="ctr" indent="0" marL="0">
              <a:lnSpc>
                <a:spcPct val="118000"/>
              </a:lnSpc>
              <a:buNone/>
            </a:pPr>
            <a:r>
              <a:rPr lang="en-US" sz="1050" dirty="0">
                <a:solidFill>
                  <a:srgbClr val="454C55"/>
                </a:solidFill>
                <a:latin typeface="Segoe UI" pitchFamily="34" charset="0"/>
                <a:ea typeface="Segoe UI" pitchFamily="34" charset="-122"/>
                <a:cs typeface="Segoe UI" pitchFamily="34" charset="-120"/>
              </a:rPr>
              <a:t>Đổi thành mô tả, không đoán nút khác</a:t>
            </a:r>
            <a:endParaRPr lang="en-US" sz="1050" dirty="0"/>
          </a:p>
        </p:txBody>
      </p:sp>
      <p:sp>
        <p:nvSpPr>
          <p:cNvPr id="27" name="Shape 25"/>
          <p:cNvSpPr/>
          <p:nvPr/>
        </p:nvSpPr>
        <p:spPr>
          <a:xfrm>
            <a:off x="9098280" y="3429000"/>
            <a:ext cx="201168" cy="0"/>
          </a:xfrm>
          <a:prstGeom prst="line">
            <a:avLst/>
          </a:prstGeom>
          <a:noFill/>
          <a:ln w="31750">
            <a:solidFill>
              <a:srgbClr val="BE5A2E"/>
            </a:solidFill>
            <a:prstDash val="solid"/>
            <a:tailEnd type="triangle"/>
          </a:ln>
        </p:spPr>
      </p:sp>
      <p:sp>
        <p:nvSpPr>
          <p:cNvPr id="28" name="Shape 26"/>
          <p:cNvSpPr/>
          <p:nvPr/>
        </p:nvSpPr>
        <p:spPr>
          <a:xfrm>
            <a:off x="9326880" y="2606040"/>
            <a:ext cx="1874520" cy="1691640"/>
          </a:xfrm>
          <a:prstGeom prst="roundRect">
            <a:avLst>
              <a:gd name="adj" fmla="val 4865"/>
            </a:avLst>
          </a:prstGeom>
          <a:solidFill>
            <a:srgbClr val="EAF3EC"/>
          </a:solidFill>
          <a:ln/>
        </p:spPr>
      </p:sp>
      <p:sp>
        <p:nvSpPr>
          <p:cNvPr id="29" name="Shape 27"/>
          <p:cNvSpPr/>
          <p:nvPr/>
        </p:nvSpPr>
        <p:spPr>
          <a:xfrm>
            <a:off x="9473184" y="2788920"/>
            <a:ext cx="457200" cy="457200"/>
          </a:xfrm>
          <a:prstGeom prst="ellipse">
            <a:avLst/>
          </a:prstGeom>
          <a:solidFill>
            <a:srgbClr val="1E6B43"/>
          </a:solidFill>
          <a:ln/>
        </p:spPr>
      </p:sp>
      <p:sp>
        <p:nvSpPr>
          <p:cNvPr id="30" name="Text 28"/>
          <p:cNvSpPr/>
          <p:nvPr/>
        </p:nvSpPr>
        <p:spPr>
          <a:xfrm>
            <a:off x="9473184" y="278892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5</a:t>
            </a:r>
            <a:endParaRPr lang="en-US" sz="1700" dirty="0"/>
          </a:p>
        </p:txBody>
      </p:sp>
      <p:sp>
        <p:nvSpPr>
          <p:cNvPr id="31" name="Text 29"/>
          <p:cNvSpPr/>
          <p:nvPr/>
        </p:nvSpPr>
        <p:spPr>
          <a:xfrm>
            <a:off x="9418320" y="3337560"/>
            <a:ext cx="1691640" cy="502920"/>
          </a:xfrm>
          <a:prstGeom prst="rect">
            <a:avLst/>
          </a:prstGeom>
          <a:noFill/>
          <a:ln/>
        </p:spPr>
        <p:txBody>
          <a:bodyPr wrap="square" lIns="0" tIns="0" rIns="0" bIns="0" rtlCol="0" anchor="ctr"/>
          <a:lstStyle/>
          <a:p>
            <a:pPr algn="ctr" indent="0" marL="0">
              <a:lnSpc>
                <a:spcPct val="110000"/>
              </a:lnSpc>
              <a:buNone/>
            </a:pPr>
            <a:r>
              <a:rPr lang="en-US" sz="1300" b="1" dirty="0">
                <a:solidFill>
                  <a:srgbClr val="1D2733"/>
                </a:solidFill>
                <a:latin typeface="Segoe UI" pitchFamily="34" charset="0"/>
                <a:ea typeface="Segoe UI" pitchFamily="34" charset="-122"/>
                <a:cs typeface="Segoe UI" pitchFamily="34" charset="-120"/>
              </a:rPr>
              <a:t>Dạy Student</a:t>
            </a:r>
            <a:endParaRPr lang="en-US" sz="1300" dirty="0"/>
          </a:p>
        </p:txBody>
      </p:sp>
      <p:sp>
        <p:nvSpPr>
          <p:cNvPr id="32" name="Text 30"/>
          <p:cNvSpPr/>
          <p:nvPr/>
        </p:nvSpPr>
        <p:spPr>
          <a:xfrm>
            <a:off x="9436608" y="3858768"/>
            <a:ext cx="1664208" cy="402336"/>
          </a:xfrm>
          <a:prstGeom prst="rect">
            <a:avLst/>
          </a:prstGeom>
          <a:noFill/>
          <a:ln/>
        </p:spPr>
        <p:txBody>
          <a:bodyPr wrap="square" lIns="0" tIns="0" rIns="0" bIns="0" rtlCol="0" anchor="t"/>
          <a:lstStyle/>
          <a:p>
            <a:pPr algn="ctr" indent="0" marL="0">
              <a:lnSpc>
                <a:spcPct val="118000"/>
              </a:lnSpc>
              <a:buNone/>
            </a:pPr>
            <a:r>
              <a:rPr lang="en-US" sz="1050" dirty="0">
                <a:solidFill>
                  <a:srgbClr val="454C55"/>
                </a:solidFill>
                <a:latin typeface="Segoe UI" pitchFamily="34" charset="0"/>
                <a:ea typeface="Segoe UI" pitchFamily="34" charset="-122"/>
                <a:cs typeface="Segoe UI" pitchFamily="34" charset="-120"/>
              </a:rPr>
              <a:t>Huấn luyện trên đúng phần đã lọc sạch</a:t>
            </a:r>
            <a:endParaRPr lang="en-US" sz="1050" dirty="0"/>
          </a:p>
        </p:txBody>
      </p:sp>
      <p:sp>
        <p:nvSpPr>
          <p:cNvPr id="33" name="Shape 31"/>
          <p:cNvSpPr/>
          <p:nvPr/>
        </p:nvSpPr>
        <p:spPr>
          <a:xfrm>
            <a:off x="841248" y="5486400"/>
            <a:ext cx="10506456" cy="914400"/>
          </a:xfrm>
          <a:prstGeom prst="roundRect">
            <a:avLst>
              <a:gd name="adj" fmla="val 10000"/>
            </a:avLst>
          </a:prstGeom>
          <a:solidFill>
            <a:srgbClr val="17233B"/>
          </a:solidFill>
          <a:ln/>
        </p:spPr>
      </p:sp>
      <p:sp>
        <p:nvSpPr>
          <p:cNvPr id="34" name="Text 32"/>
          <p:cNvSpPr/>
          <p:nvPr/>
        </p:nvSpPr>
        <p:spPr>
          <a:xfrm>
            <a:off x="1115568" y="5486400"/>
            <a:ext cx="9957816" cy="914400"/>
          </a:xfrm>
          <a:prstGeom prst="rect">
            <a:avLst/>
          </a:prstGeom>
          <a:noFill/>
          <a:ln/>
        </p:spPr>
        <p:txBody>
          <a:bodyPr wrap="square" lIns="0" tIns="0" rIns="0" bIns="0" rtlCol="0" anchor="ctr"/>
          <a:lstStyle/>
          <a:p>
            <a:pPr algn="l" indent="0" marL="0">
              <a:lnSpc>
                <a:spcPct val="128000"/>
              </a:lnSpc>
              <a:buNone/>
            </a:pPr>
            <a:r>
              <a:rPr lang="en-US" sz="1400" b="1" dirty="0">
                <a:solidFill>
                  <a:srgbClr val="E4A986"/>
                </a:solidFill>
                <a:latin typeface="Segoe UI" pitchFamily="34" charset="0"/>
                <a:ea typeface="Segoe UI" pitchFamily="34" charset="-122"/>
                <a:cs typeface="Segoe UI" pitchFamily="34" charset="-120"/>
              </a:rPr>
              <a:t>Kết quả:  </a:t>
            </a:r>
            <a:pPr algn="l" indent="0" marL="0">
              <a:lnSpc>
                <a:spcPct val="128000"/>
              </a:lnSpc>
              <a:buNone/>
            </a:pPr>
            <a:r>
              <a:rPr lang="en-US" sz="1400" dirty="0">
                <a:solidFill>
                  <a:srgbClr val="FFFFFF"/>
                </a:solidFill>
                <a:latin typeface="Segoe UI" pitchFamily="34" charset="0"/>
                <a:ea typeface="Segoe UI" pitchFamily="34" charset="-122"/>
                <a:cs typeface="Segoe UI" pitchFamily="34" charset="-120"/>
              </a:rPr>
              <a:t>~1.700–2.870 mẫu huấn luyện đã lọc sạch bịa.</a:t>
            </a:r>
            <a:endParaRPr lang="en-US" sz="1400" dirty="0"/>
          </a:p>
        </p:txBody>
      </p:sp>
      <p:sp>
        <p:nvSpPr>
          <p:cNvPr id="36" name="Text 33"/>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02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VÍ DỤ CỤ THỂ</a:t>
            </a:r>
            <a:endParaRPr lang="en-US" sz="1250" dirty="0"/>
          </a:p>
        </p:txBody>
      </p:sp>
      <p:sp>
        <p:nvSpPr>
          <p:cNvPr id="3" name="Text 1"/>
          <p:cNvSpPr/>
          <p:nvPr/>
        </p:nvSpPr>
        <p:spPr>
          <a:xfrm>
            <a:off x="841248" y="896112"/>
            <a:ext cx="10506456" cy="914400"/>
          </a:xfrm>
          <a:prstGeom prst="rect">
            <a:avLst/>
          </a:prstGeom>
          <a:noFill/>
          <a:ln/>
        </p:spPr>
        <p:txBody>
          <a:bodyPr wrap="square" lIns="0" tIns="0" rIns="0" bIns="0" rtlCol="0" anchor="t"/>
          <a:lstStyle/>
          <a:p>
            <a:pPr algn="l" indent="0" marL="0">
              <a:lnSpc>
                <a:spcPct val="105000"/>
              </a:lnSpc>
              <a:buNone/>
            </a:pPr>
            <a:r>
              <a:rPr lang="en-US" sz="2700" b="1" dirty="0">
                <a:solidFill>
                  <a:srgbClr val="1D2733"/>
                </a:solidFill>
                <a:latin typeface="Cambria" pitchFamily="34" charset="0"/>
                <a:ea typeface="Cambria" pitchFamily="34" charset="-122"/>
                <a:cs typeface="Cambria" pitchFamily="34" charset="-120"/>
              </a:rPr>
              <a:t>Một bước bịa được bắt và viết lại trước khi đưa vào dạy Student</a:t>
            </a:r>
            <a:endParaRPr lang="en-US" sz="2700" dirty="0"/>
          </a:p>
        </p:txBody>
      </p:sp>
      <p:sp>
        <p:nvSpPr>
          <p:cNvPr id="4" name="Shape 2"/>
          <p:cNvSpPr/>
          <p:nvPr/>
        </p:nvSpPr>
        <p:spPr>
          <a:xfrm>
            <a:off x="868680" y="2221992"/>
            <a:ext cx="2002536" cy="3502152"/>
          </a:xfrm>
          <a:prstGeom prst="roundRect">
            <a:avLst>
              <a:gd name="adj" fmla="val 3196"/>
            </a:avLst>
          </a:prstGeom>
          <a:solidFill>
            <a:srgbClr val="FFFFFF"/>
          </a:solidFill>
          <a:ln w="12700">
            <a:solidFill>
              <a:srgbClr val="DBE0E6"/>
            </a:solidFill>
            <a:prstDash val="solid"/>
          </a:ln>
          <a:effectLst>
            <a:outerShdw sx="100000" sy="100000" kx="0" ky="0" algn="bl" rotWithShape="0" blurRad="88900" dist="38100" dir="5400000">
              <a:srgbClr val="9AA3AD">
                <a:alpha val="28000"/>
              </a:srgbClr>
            </a:outerShdw>
          </a:effectLst>
        </p:spPr>
      </p:sp>
      <p:pic>
        <p:nvPicPr>
          <p:cNvPr id="5" name="Image 0" descr="_img/real_mv_1.png">    </p:cNvPr>
          <p:cNvPicPr>
            <a:picLocks noChangeAspect="1"/>
          </p:cNvPicPr>
          <p:nvPr/>
        </p:nvPicPr>
        <p:blipFill>
          <a:blip r:embed="rId1"/>
          <a:srcRect l="0" r="0" t="0" b="0"/>
          <a:stretch/>
        </p:blipFill>
        <p:spPr>
          <a:xfrm>
            <a:off x="932688" y="2286000"/>
            <a:ext cx="1874520" cy="3063240"/>
          </a:xfrm>
          <a:prstGeom prst="rect">
            <a:avLst/>
          </a:prstGeom>
        </p:spPr>
      </p:pic>
      <p:sp>
        <p:nvSpPr>
          <p:cNvPr id="6" name="Text 3"/>
          <p:cNvSpPr/>
          <p:nvPr/>
        </p:nvSpPr>
        <p:spPr>
          <a:xfrm>
            <a:off x="868680" y="5376672"/>
            <a:ext cx="2002536" cy="310896"/>
          </a:xfrm>
          <a:prstGeom prst="rect">
            <a:avLst/>
          </a:prstGeom>
          <a:noFill/>
          <a:ln/>
        </p:spPr>
        <p:txBody>
          <a:bodyPr wrap="square" lIns="0" tIns="0" rIns="0" bIns="0" rtlCol="0" anchor="ctr"/>
          <a:lstStyle/>
          <a:p>
            <a:pPr algn="ctr" indent="0" marL="0">
              <a:buNone/>
            </a:pPr>
            <a:r>
              <a:rPr lang="en-US" sz="1250" b="1" dirty="0">
                <a:solidFill>
                  <a:srgbClr val="1D2733"/>
                </a:solidFill>
                <a:latin typeface="Segoe UI" pitchFamily="34" charset="0"/>
                <a:ea typeface="Segoe UI" pitchFamily="34" charset="-122"/>
                <a:cs typeface="Segoe UI" pitchFamily="34" charset="-120"/>
              </a:rPr>
              <a:t>Màn đặt giờ</a:t>
            </a:r>
            <a:endParaRPr lang="en-US" sz="12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108960" y="2286000"/>
          <a:ext cx="8092440" cy="914400"/>
        </p:xfrm>
        <a:graphic>
          <a:graphicData uri="http://schemas.openxmlformats.org/drawingml/2006/table">
            <a:tbl>
              <a:tblPr/>
              <a:tblGrid>
                <a:gridCol w="2743200"/>
                <a:gridCol w="2926080"/>
                <a:gridCol w="2423160"/>
              </a:tblGrid>
              <a:tr h="548640">
                <a:tc>
                  <a:txBody>
                    <a:bodyPr/>
                    <a:lstStyle/>
                    <a:p>
                      <a:pPr indent="0" marL="0">
                        <a:buNone/>
                      </a:pPr>
                      <a:r>
                        <a:rPr lang="en-US" sz="1350" b="1" dirty="0">
                          <a:solidFill>
                            <a:srgbClr val="1D2733"/>
                          </a:solidFill>
                          <a:latin typeface="Segoe UI" pitchFamily="34" charset="0"/>
                          <a:ea typeface="Segoe UI" pitchFamily="34" charset="-122"/>
                          <a:cs typeface="Segoe UI" pitchFamily="34" charset="-120"/>
                        </a:rPr>
                        <a:t>Teacher viết</a:t>
                      </a:r>
                      <a:endParaRPr lang="en-US" sz="135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solidFill>
                      <a:srgbClr val="F3F5F7"/>
                    </a:solidFill>
                  </a:tcPr>
                </a:tc>
                <a:tc>
                  <a:txBody>
                    <a:bodyPr/>
                    <a:lstStyle/>
                    <a:p>
                      <a:pPr indent="0" marL="0">
                        <a:buNone/>
                      </a:pPr>
                      <a:r>
                        <a:rPr lang="en-US" sz="1350" b="1" dirty="0">
                          <a:solidFill>
                            <a:srgbClr val="1D2733"/>
                          </a:solidFill>
                          <a:latin typeface="Segoe UI" pitchFamily="34" charset="0"/>
                          <a:ea typeface="Segoe UI" pitchFamily="34" charset="-122"/>
                          <a:cs typeface="Segoe UI" pitchFamily="34" charset="-120"/>
                        </a:rPr>
                        <a:t>Có nút này trên màn không?</a:t>
                      </a:r>
                      <a:endParaRPr lang="en-US" sz="135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solidFill>
                      <a:srgbClr val="F3F5F7"/>
                    </a:solidFill>
                  </a:tcPr>
                </a:tc>
                <a:tc>
                  <a:txBody>
                    <a:bodyPr/>
                    <a:lstStyle/>
                    <a:p>
                      <a:pPr algn="ctr" indent="0" marL="0">
                        <a:buNone/>
                      </a:pPr>
                      <a:r>
                        <a:rPr lang="en-US" sz="1350" b="1" dirty="0">
                          <a:solidFill>
                            <a:srgbClr val="1D2733"/>
                          </a:solidFill>
                          <a:latin typeface="Segoe UI" pitchFamily="34" charset="0"/>
                          <a:ea typeface="Segoe UI" pitchFamily="34" charset="-122"/>
                          <a:cs typeface="Segoe UI" pitchFamily="34" charset="-120"/>
                        </a:rPr>
                        <a:t>Xử lý</a:t>
                      </a:r>
                      <a:endParaRPr lang="en-US" sz="135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solidFill>
                      <a:srgbClr val="F3F5F7"/>
                    </a:solidFill>
                  </a:tcPr>
                </a:tc>
              </a:tr>
              <a:tr h="548640">
                <a:tc>
                  <a:txBody>
                    <a:bodyPr/>
                    <a:lstStyle/>
                    <a:p>
                      <a:pPr indent="0" marL="0">
                        <a:buNone/>
                      </a:pPr>
                      <a:r>
                        <a:rPr lang="en-US" sz="1350" dirty="0">
                          <a:solidFill>
                            <a:srgbClr val="000000"/>
                          </a:solidFill>
                          <a:latin typeface="Segoe UI" pitchFamily="34" charset="0"/>
                          <a:ea typeface="Segoe UI" pitchFamily="34" charset="-122"/>
                          <a:cs typeface="Segoe UI" pitchFamily="34" charset="-120"/>
                        </a:rPr>
                        <a:t>Chọn giờ và phút</a:t>
                      </a:r>
                      <a:endParaRPr lang="en-US" sz="135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indent="0" marL="0">
                        <a:buNone/>
                      </a:pPr>
                      <a:r>
                        <a:rPr lang="en-US" sz="1350" dirty="0">
                          <a:solidFill>
                            <a:srgbClr val="000000"/>
                          </a:solidFill>
                          <a:latin typeface="Segoe UI" pitchFamily="34" charset="0"/>
                          <a:ea typeface="Segoe UI" pitchFamily="34" charset="-122"/>
                          <a:cs typeface="Segoe UI" pitchFamily="34" charset="-120"/>
                        </a:rPr>
                        <a:t>Có</a:t>
                      </a:r>
                      <a:endParaRPr lang="en-US" sz="135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algn="ctr" indent="0" marL="0">
                        <a:buNone/>
                      </a:pPr>
                      <a:r>
                        <a:rPr lang="en-US" sz="1350" b="1" dirty="0">
                          <a:solidFill>
                            <a:srgbClr val="1E6B43"/>
                          </a:solidFill>
                          <a:latin typeface="Segoe UI" pitchFamily="34" charset="0"/>
                          <a:ea typeface="Segoe UI" pitchFamily="34" charset="-122"/>
                          <a:cs typeface="Segoe UI" pitchFamily="34" charset="-120"/>
                        </a:rPr>
                        <a:t>giữ nguyên</a:t>
                      </a:r>
                      <a:endParaRPr lang="en-US" sz="135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r>
              <a:tr h="548640">
                <a:tc>
                  <a:txBody>
                    <a:bodyPr/>
                    <a:lstStyle/>
                    <a:p>
                      <a:pPr indent="0" marL="0">
                        <a:buNone/>
                      </a:pPr>
                      <a:r>
                        <a:rPr lang="en-US" sz="1350" dirty="0">
                          <a:solidFill>
                            <a:srgbClr val="000000"/>
                          </a:solidFill>
                          <a:latin typeface="Segoe UI" pitchFamily="34" charset="0"/>
                          <a:ea typeface="Segoe UI" pitchFamily="34" charset="-122"/>
                          <a:cs typeface="Segoe UI" pitchFamily="34" charset="-120"/>
                        </a:rPr>
                        <a:t>Chọn buổi “PM”</a:t>
                      </a:r>
                      <a:endParaRPr lang="en-US" sz="135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indent="0" marL="0">
                        <a:buNone/>
                      </a:pPr>
                      <a:r>
                        <a:rPr lang="en-US" sz="1350" dirty="0">
                          <a:solidFill>
                            <a:srgbClr val="000000"/>
                          </a:solidFill>
                          <a:latin typeface="Segoe UI" pitchFamily="34" charset="0"/>
                          <a:ea typeface="Segoe UI" pitchFamily="34" charset="-122"/>
                          <a:cs typeface="Segoe UI" pitchFamily="34" charset="-120"/>
                        </a:rPr>
                        <a:t>Có</a:t>
                      </a:r>
                      <a:endParaRPr lang="en-US" sz="135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algn="ctr" indent="0" marL="0">
                        <a:buNone/>
                      </a:pPr>
                      <a:r>
                        <a:rPr lang="en-US" sz="1350" b="1" dirty="0">
                          <a:solidFill>
                            <a:srgbClr val="1E6B43"/>
                          </a:solidFill>
                          <a:latin typeface="Segoe UI" pitchFamily="34" charset="0"/>
                          <a:ea typeface="Segoe UI" pitchFamily="34" charset="-122"/>
                          <a:cs typeface="Segoe UI" pitchFamily="34" charset="-120"/>
                        </a:rPr>
                        <a:t>giữ nguyên</a:t>
                      </a:r>
                      <a:endParaRPr lang="en-US" sz="135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r>
              <a:tr h="548640">
                <a:tc>
                  <a:txBody>
                    <a:bodyPr/>
                    <a:lstStyle/>
                    <a:p>
                      <a:pPr indent="0" marL="0">
                        <a:buNone/>
                      </a:pPr>
                      <a:r>
                        <a:rPr lang="en-US" sz="1350" dirty="0">
                          <a:solidFill>
                            <a:srgbClr val="000000"/>
                          </a:solidFill>
                          <a:latin typeface="Segoe UI" pitchFamily="34" charset="0"/>
                          <a:ea typeface="Segoe UI" pitchFamily="34" charset="-122"/>
                          <a:cs typeface="Segoe UI" pitchFamily="34" charset="-120"/>
                        </a:rPr>
                        <a:t>Mở “Cài đặt”</a:t>
                      </a:r>
                      <a:endParaRPr lang="en-US" sz="135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indent="0" marL="0">
                        <a:buNone/>
                      </a:pPr>
                      <a:r>
                        <a:rPr lang="en-US" sz="1350" dirty="0">
                          <a:solidFill>
                            <a:srgbClr val="8B929B"/>
                          </a:solidFill>
                          <a:latin typeface="Segoe UI" pitchFamily="34" charset="0"/>
                          <a:ea typeface="Segoe UI" pitchFamily="34" charset="-122"/>
                          <a:cs typeface="Segoe UI" pitchFamily="34" charset="-120"/>
                        </a:rPr>
                        <a:t>Không có</a:t>
                      </a:r>
                      <a:endParaRPr lang="en-US" sz="135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algn="ctr" indent="0" marL="0">
                        <a:buNone/>
                      </a:pPr>
                      <a:r>
                        <a:rPr lang="en-US" sz="1350" b="1" dirty="0">
                          <a:solidFill>
                            <a:srgbClr val="BE5A2E"/>
                          </a:solidFill>
                          <a:latin typeface="Segoe UI" pitchFamily="34" charset="0"/>
                          <a:ea typeface="Segoe UI" pitchFamily="34" charset="-122"/>
                          <a:cs typeface="Segoe UI" pitchFamily="34" charset="-120"/>
                        </a:rPr>
                        <a:t>viết lại thành mô tả</a:t>
                      </a:r>
                      <a:endParaRPr lang="en-US" sz="135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r>
            </a:tbl>
          </a:graphicData>
        </a:graphic>
      </p:graphicFrame>
      <p:sp>
        <p:nvSpPr>
          <p:cNvPr id="8" name="Shape 4"/>
          <p:cNvSpPr/>
          <p:nvPr/>
        </p:nvSpPr>
        <p:spPr>
          <a:xfrm>
            <a:off x="3108960" y="4434840"/>
            <a:ext cx="8092440" cy="868680"/>
          </a:xfrm>
          <a:prstGeom prst="roundRect">
            <a:avLst>
              <a:gd name="adj" fmla="val 9474"/>
            </a:avLst>
          </a:prstGeom>
          <a:solidFill>
            <a:srgbClr val="F7EBE3"/>
          </a:solidFill>
          <a:ln/>
        </p:spPr>
      </p:sp>
      <p:sp>
        <p:nvSpPr>
          <p:cNvPr id="9" name="Text 5"/>
          <p:cNvSpPr/>
          <p:nvPr/>
        </p:nvSpPr>
        <p:spPr>
          <a:xfrm>
            <a:off x="3337560" y="4434840"/>
            <a:ext cx="7635240" cy="868680"/>
          </a:xfrm>
          <a:prstGeom prst="rect">
            <a:avLst/>
          </a:prstGeom>
          <a:noFill/>
          <a:ln/>
        </p:spPr>
        <p:txBody>
          <a:bodyPr wrap="square" lIns="0" tIns="0" rIns="0" bIns="0" rtlCol="0" anchor="ctr"/>
          <a:lstStyle/>
          <a:p>
            <a:pPr algn="l" indent="0" marL="0">
              <a:lnSpc>
                <a:spcPct val="125000"/>
              </a:lnSpc>
              <a:buNone/>
            </a:pPr>
            <a:r>
              <a:rPr lang="en-US" sz="1300" b="1" dirty="0">
                <a:solidFill>
                  <a:srgbClr val="BE5A2E"/>
                </a:solidFill>
                <a:latin typeface="Segoe UI" pitchFamily="34" charset="0"/>
                <a:ea typeface="Segoe UI" pitchFamily="34" charset="-122"/>
                <a:cs typeface="Segoe UI" pitchFamily="34" charset="-120"/>
              </a:rPr>
              <a:t>Câu được đưa vào dữ liệu dạy:  </a:t>
            </a:r>
            <a:pPr algn="l" indent="0" marL="0">
              <a:lnSpc>
                <a:spcPct val="125000"/>
              </a:lnSpc>
              <a:buNone/>
            </a:pPr>
            <a:r>
              <a:rPr lang="en-US" sz="1300" i="1" dirty="0">
                <a:solidFill>
                  <a:srgbClr val="1D2733"/>
                </a:solidFill>
                <a:latin typeface="Segoe UI" pitchFamily="34" charset="0"/>
                <a:ea typeface="Segoe UI" pitchFamily="34" charset="-122"/>
                <a:cs typeface="Segoe UI" pitchFamily="34" charset="-120"/>
              </a:rPr>
              <a:t>“Tìm và chạm vào tuỳ chọn trên màn hình phù hợp với việc cần làm ở bước này.”</a:t>
            </a:r>
            <a:endParaRPr lang="en-US" sz="1300" dirty="0"/>
          </a:p>
        </p:txBody>
      </p:sp>
      <p:sp>
        <p:nvSpPr>
          <p:cNvPr id="10" name="Shape 6"/>
          <p:cNvSpPr/>
          <p:nvPr/>
        </p:nvSpPr>
        <p:spPr>
          <a:xfrm>
            <a:off x="3108960" y="5440680"/>
            <a:ext cx="8092440" cy="1051560"/>
          </a:xfrm>
          <a:prstGeom prst="roundRect">
            <a:avLst>
              <a:gd name="adj" fmla="val 7826"/>
            </a:avLst>
          </a:prstGeom>
          <a:solidFill>
            <a:srgbClr val="17233B"/>
          </a:solidFill>
          <a:ln/>
        </p:spPr>
      </p:sp>
      <p:sp>
        <p:nvSpPr>
          <p:cNvPr id="11" name="Text 7"/>
          <p:cNvSpPr/>
          <p:nvPr/>
        </p:nvSpPr>
        <p:spPr>
          <a:xfrm>
            <a:off x="3337560" y="5440680"/>
            <a:ext cx="7635240" cy="1051560"/>
          </a:xfrm>
          <a:prstGeom prst="rect">
            <a:avLst/>
          </a:prstGeom>
          <a:noFill/>
          <a:ln/>
        </p:spPr>
        <p:txBody>
          <a:bodyPr wrap="square" lIns="0" tIns="0" rIns="0" bIns="0" rtlCol="0" anchor="ctr"/>
          <a:lstStyle/>
          <a:p>
            <a:pPr algn="l" indent="0" marL="0">
              <a:lnSpc>
                <a:spcPct val="124000"/>
              </a:lnSpc>
              <a:buNone/>
            </a:pPr>
            <a:r>
              <a:rPr lang="en-US" sz="1250" b="1" dirty="0">
                <a:solidFill>
                  <a:srgbClr val="E4A986"/>
                </a:solidFill>
                <a:latin typeface="Segoe UI" pitchFamily="34" charset="0"/>
                <a:ea typeface="Segoe UI" pitchFamily="34" charset="-122"/>
                <a:cs typeface="Segoe UI" pitchFamily="34" charset="-120"/>
              </a:rPr>
              <a:t>Vì sao không đoán sang một nút thật khác gần đó?  </a:t>
            </a:r>
            <a:pPr algn="l" indent="0" marL="0">
              <a:lnSpc>
                <a:spcPct val="124000"/>
              </a:lnSpc>
              <a:buNone/>
            </a:pPr>
            <a:r>
              <a:rPr lang="en-US" sz="1250" dirty="0">
                <a:solidFill>
                  <a:srgbClr val="D6DBE2"/>
                </a:solidFill>
                <a:latin typeface="Segoe UI" pitchFamily="34" charset="0"/>
                <a:ea typeface="Segoe UI" pitchFamily="34" charset="-122"/>
                <a:cs typeface="Segoe UI" pitchFamily="34" charset="-120"/>
              </a:rPr>
              <a:t>Thay nút bịa bằng một nút thật nhưng sai việc (kiểu bấm “Lưu” thay vì “Gửi”) khiến người dùng làm sai mà không hề hay biết. Lỗi âm thầm đó còn nguy hiểm hơn cả việc bịa.</a:t>
            </a:r>
            <a:endParaRPr lang="en-US" sz="1250" dirty="0"/>
          </a:p>
        </p:txBody>
      </p:sp>
      <p:sp>
        <p:nvSpPr>
          <p:cNvPr id="13" name="Text 8"/>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03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LÚC DÙNG THẬT</a:t>
            </a:r>
            <a:endParaRPr lang="en-US" sz="1250" dirty="0"/>
          </a:p>
        </p:txBody>
      </p:sp>
      <p:sp>
        <p:nvSpPr>
          <p:cNvPr id="3" name="Text 1"/>
          <p:cNvSpPr/>
          <p:nvPr/>
        </p:nvSpPr>
        <p:spPr>
          <a:xfrm>
            <a:off x="841248" y="896112"/>
            <a:ext cx="10506456" cy="914400"/>
          </a:xfrm>
          <a:prstGeom prst="rect">
            <a:avLst/>
          </a:prstGeom>
          <a:noFill/>
          <a:ln/>
        </p:spPr>
        <p:txBody>
          <a:bodyPr wrap="square" lIns="0" tIns="0" rIns="0" bIns="0" rtlCol="0" anchor="t"/>
          <a:lstStyle/>
          <a:p>
            <a:pPr algn="l" indent="0" marL="0">
              <a:lnSpc>
                <a:spcPct val="105000"/>
              </a:lnSpc>
              <a:buNone/>
            </a:pPr>
            <a:r>
              <a:rPr lang="en-US" sz="2700" b="1" dirty="0">
                <a:solidFill>
                  <a:srgbClr val="1D2733"/>
                </a:solidFill>
                <a:latin typeface="Cambria" pitchFamily="34" charset="0"/>
                <a:ea typeface="Cambria" pitchFamily="34" charset="-122"/>
                <a:cs typeface="Cambria" pitchFamily="34" charset="-120"/>
              </a:rPr>
              <a:t>Chỉ còn một mình Student. Không Teacher, không mạng</a:t>
            </a:r>
            <a:endParaRPr lang="en-US" sz="2700" dirty="0"/>
          </a:p>
        </p:txBody>
      </p:sp>
      <p:sp>
        <p:nvSpPr>
          <p:cNvPr id="4" name="Shape 2"/>
          <p:cNvSpPr/>
          <p:nvPr/>
        </p:nvSpPr>
        <p:spPr>
          <a:xfrm>
            <a:off x="868680" y="2084832"/>
            <a:ext cx="1609344" cy="2615184"/>
          </a:xfrm>
          <a:prstGeom prst="roundRect">
            <a:avLst>
              <a:gd name="adj" fmla="val 3977"/>
            </a:avLst>
          </a:prstGeom>
          <a:solidFill>
            <a:srgbClr val="FFFFFF"/>
          </a:solidFill>
          <a:ln w="12700">
            <a:solidFill>
              <a:srgbClr val="DBE0E6"/>
            </a:solidFill>
            <a:prstDash val="solid"/>
          </a:ln>
          <a:effectLst>
            <a:outerShdw sx="100000" sy="100000" kx="0" ky="0" algn="bl" rotWithShape="0" blurRad="88900" dist="38100" dir="5400000">
              <a:srgbClr val="9AA3AD">
                <a:alpha val="28000"/>
              </a:srgbClr>
            </a:outerShdw>
          </a:effectLst>
        </p:spPr>
      </p:sp>
      <p:pic>
        <p:nvPicPr>
          <p:cNvPr id="5" name="Image 0" descr="_img/real_mv_2.png">    </p:cNvPr>
          <p:cNvPicPr>
            <a:picLocks noChangeAspect="1"/>
          </p:cNvPicPr>
          <p:nvPr/>
        </p:nvPicPr>
        <p:blipFill>
          <a:blip r:embed="rId1"/>
          <a:srcRect l="0" r="0" t="0" b="0"/>
          <a:stretch/>
        </p:blipFill>
        <p:spPr>
          <a:xfrm>
            <a:off x="932688" y="2148840"/>
            <a:ext cx="1481328" cy="2487168"/>
          </a:xfrm>
          <a:prstGeom prst="rect">
            <a:avLst/>
          </a:prstGeom>
        </p:spPr>
      </p:pic>
      <p:sp>
        <p:nvSpPr>
          <p:cNvPr id="6" name="Shape 3"/>
          <p:cNvSpPr/>
          <p:nvPr/>
        </p:nvSpPr>
        <p:spPr>
          <a:xfrm>
            <a:off x="841248" y="4773168"/>
            <a:ext cx="1691640" cy="658368"/>
          </a:xfrm>
          <a:prstGeom prst="roundRect">
            <a:avLst>
              <a:gd name="adj" fmla="val 9722"/>
            </a:avLst>
          </a:prstGeom>
          <a:solidFill>
            <a:srgbClr val="F3F5F7"/>
          </a:solidFill>
          <a:ln/>
        </p:spPr>
      </p:sp>
      <p:sp>
        <p:nvSpPr>
          <p:cNvPr id="7" name="Text 4"/>
          <p:cNvSpPr/>
          <p:nvPr/>
        </p:nvSpPr>
        <p:spPr>
          <a:xfrm>
            <a:off x="841248" y="4773168"/>
            <a:ext cx="1691640" cy="658368"/>
          </a:xfrm>
          <a:prstGeom prst="rect">
            <a:avLst/>
          </a:prstGeom>
          <a:noFill/>
          <a:ln/>
        </p:spPr>
        <p:txBody>
          <a:bodyPr wrap="square" lIns="0" tIns="0" rIns="0" bIns="0" rtlCol="0" anchor="ctr"/>
          <a:lstStyle/>
          <a:p>
            <a:pPr algn="ctr" indent="0" marL="0">
              <a:lnSpc>
                <a:spcPct val="120000"/>
              </a:lnSpc>
              <a:buNone/>
            </a:pPr>
            <a:r>
              <a:rPr lang="en-US" sz="1050" i="1" dirty="0">
                <a:solidFill>
                  <a:srgbClr val="1D2733"/>
                </a:solidFill>
                <a:latin typeface="Segoe UI" pitchFamily="34" charset="0"/>
                <a:ea typeface="Segoe UI" pitchFamily="34" charset="-122"/>
                <a:cs typeface="Segoe UI" pitchFamily="34" charset="-120"/>
              </a:rPr>
              <a:t>“Làm sao thêm một việc mới</a:t>
            </a:r>
            <a:endParaRPr lang="en-US" sz="1050" dirty="0"/>
          </a:p>
          <a:p>
            <a:pPr algn="ctr" indent="0" marL="0">
              <a:lnSpc>
                <a:spcPct val="120000"/>
              </a:lnSpc>
              <a:buNone/>
            </a:pPr>
            <a:r>
              <a:rPr lang="en-US" sz="1050" i="1" dirty="0">
                <a:solidFill>
                  <a:srgbClr val="1D2733"/>
                </a:solidFill>
                <a:latin typeface="Segoe UI" pitchFamily="34" charset="0"/>
                <a:ea typeface="Segoe UI" pitchFamily="34" charset="-122"/>
                <a:cs typeface="Segoe UI" pitchFamily="34" charset="-120"/>
              </a:rPr>
              <a:t>và tính tiền theo giờ?”</a:t>
            </a:r>
            <a:endParaRPr lang="en-US" sz="1050" dirty="0"/>
          </a:p>
        </p:txBody>
      </p:sp>
      <p:sp>
        <p:nvSpPr>
          <p:cNvPr id="8" name="Shape 5"/>
          <p:cNvSpPr/>
          <p:nvPr/>
        </p:nvSpPr>
        <p:spPr>
          <a:xfrm>
            <a:off x="2788920" y="3383280"/>
            <a:ext cx="457200" cy="0"/>
          </a:xfrm>
          <a:prstGeom prst="line">
            <a:avLst/>
          </a:prstGeom>
          <a:noFill/>
          <a:ln w="31750">
            <a:solidFill>
              <a:srgbClr val="BE5A2E"/>
            </a:solidFill>
            <a:prstDash val="solid"/>
            <a:tailEnd type="triangle"/>
          </a:ln>
        </p:spPr>
      </p:sp>
      <p:sp>
        <p:nvSpPr>
          <p:cNvPr id="9" name="Shape 6"/>
          <p:cNvSpPr/>
          <p:nvPr/>
        </p:nvSpPr>
        <p:spPr>
          <a:xfrm>
            <a:off x="3429000" y="2697480"/>
            <a:ext cx="2286000" cy="1371600"/>
          </a:xfrm>
          <a:prstGeom prst="roundRect">
            <a:avLst>
              <a:gd name="adj" fmla="val 6667"/>
            </a:avLst>
          </a:prstGeom>
          <a:solidFill>
            <a:srgbClr val="F7EBE3"/>
          </a:solidFill>
          <a:ln/>
        </p:spPr>
      </p:sp>
      <p:sp>
        <p:nvSpPr>
          <p:cNvPr id="10" name="Text 7"/>
          <p:cNvSpPr/>
          <p:nvPr/>
        </p:nvSpPr>
        <p:spPr>
          <a:xfrm>
            <a:off x="3429000" y="2926080"/>
            <a:ext cx="2286000" cy="365760"/>
          </a:xfrm>
          <a:prstGeom prst="rect">
            <a:avLst/>
          </a:prstGeom>
          <a:noFill/>
          <a:ln/>
        </p:spPr>
        <p:txBody>
          <a:bodyPr wrap="square" lIns="0" tIns="0" rIns="0" bIns="0" rtlCol="0" anchor="t"/>
          <a:lstStyle/>
          <a:p>
            <a:pPr algn="ctr" indent="0" marL="0">
              <a:buNone/>
            </a:pPr>
            <a:r>
              <a:rPr lang="en-US" sz="1700" b="1" dirty="0">
                <a:solidFill>
                  <a:srgbClr val="BE5A2E"/>
                </a:solidFill>
                <a:latin typeface="Cambria" pitchFamily="34" charset="0"/>
                <a:ea typeface="Cambria" pitchFamily="34" charset="-122"/>
                <a:cs typeface="Cambria" pitchFamily="34" charset="-120"/>
              </a:rPr>
              <a:t>Student</a:t>
            </a:r>
            <a:endParaRPr lang="en-US" sz="1700" dirty="0"/>
          </a:p>
        </p:txBody>
      </p:sp>
      <p:sp>
        <p:nvSpPr>
          <p:cNvPr id="11" name="Text 8"/>
          <p:cNvSpPr/>
          <p:nvPr/>
        </p:nvSpPr>
        <p:spPr>
          <a:xfrm>
            <a:off x="3429000" y="3310128"/>
            <a:ext cx="2286000" cy="274320"/>
          </a:xfrm>
          <a:prstGeom prst="rect">
            <a:avLst/>
          </a:prstGeom>
          <a:noFill/>
          <a:ln/>
        </p:spPr>
        <p:txBody>
          <a:bodyPr wrap="square" lIns="0" tIns="0" rIns="0" bIns="0" rtlCol="0" anchor="t"/>
          <a:lstStyle/>
          <a:p>
            <a:pPr algn="ctr" indent="0" marL="0">
              <a:buNone/>
            </a:pPr>
            <a:r>
              <a:rPr lang="en-US" sz="1150" dirty="0">
                <a:solidFill>
                  <a:srgbClr val="454C55"/>
                </a:solidFill>
                <a:latin typeface="Segoe UI" pitchFamily="34" charset="0"/>
                <a:ea typeface="Segoe UI" pitchFamily="34" charset="-122"/>
                <a:cs typeface="Segoe UI" pitchFamily="34" charset="-120"/>
              </a:rPr>
              <a:t>chạy ngay trên máy</a:t>
            </a:r>
            <a:endParaRPr lang="en-US" sz="1150" dirty="0"/>
          </a:p>
        </p:txBody>
      </p:sp>
      <p:sp>
        <p:nvSpPr>
          <p:cNvPr id="12" name="Text 9"/>
          <p:cNvSpPr/>
          <p:nvPr/>
        </p:nvSpPr>
        <p:spPr>
          <a:xfrm>
            <a:off x="3429000" y="3566160"/>
            <a:ext cx="2286000" cy="274320"/>
          </a:xfrm>
          <a:prstGeom prst="rect">
            <a:avLst/>
          </a:prstGeom>
          <a:noFill/>
          <a:ln/>
        </p:spPr>
        <p:txBody>
          <a:bodyPr wrap="square" lIns="0" tIns="0" rIns="0" bIns="0" rtlCol="0" anchor="t"/>
          <a:lstStyle/>
          <a:p>
            <a:pPr algn="ctr" indent="0" marL="0">
              <a:buNone/>
            </a:pPr>
            <a:r>
              <a:rPr lang="en-US" sz="1150" dirty="0">
                <a:solidFill>
                  <a:srgbClr val="8B929B"/>
                </a:solidFill>
                <a:latin typeface="Segoe UI" pitchFamily="34" charset="0"/>
                <a:ea typeface="Segoe UI" pitchFamily="34" charset="-122"/>
                <a:cs typeface="Segoe UI" pitchFamily="34" charset="-120"/>
              </a:rPr>
              <a:t>3B tham số</a:t>
            </a:r>
            <a:endParaRPr lang="en-US" sz="1150" dirty="0"/>
          </a:p>
        </p:txBody>
      </p:sp>
      <p:sp>
        <p:nvSpPr>
          <p:cNvPr id="13" name="Shape 10"/>
          <p:cNvSpPr/>
          <p:nvPr/>
        </p:nvSpPr>
        <p:spPr>
          <a:xfrm>
            <a:off x="5852160" y="3383280"/>
            <a:ext cx="457200" cy="0"/>
          </a:xfrm>
          <a:prstGeom prst="line">
            <a:avLst/>
          </a:prstGeom>
          <a:noFill/>
          <a:ln w="31750">
            <a:solidFill>
              <a:srgbClr val="BE5A2E"/>
            </a:solidFill>
            <a:prstDash val="solid"/>
            <a:tailEnd type="triangle"/>
          </a:ln>
        </p:spPr>
      </p:sp>
      <p:sp>
        <p:nvSpPr>
          <p:cNvPr id="14" name="Shape 11"/>
          <p:cNvSpPr/>
          <p:nvPr/>
        </p:nvSpPr>
        <p:spPr>
          <a:xfrm>
            <a:off x="6492240" y="2148840"/>
            <a:ext cx="4846320" cy="2487168"/>
          </a:xfrm>
          <a:prstGeom prst="roundRect">
            <a:avLst>
              <a:gd name="adj" fmla="val 3676"/>
            </a:avLst>
          </a:prstGeom>
          <a:solidFill>
            <a:srgbClr val="FFFFFF"/>
          </a:solidFill>
          <a:ln w="12700">
            <a:solidFill>
              <a:srgbClr val="DBE0E6"/>
            </a:solidFill>
            <a:prstDash val="solid"/>
          </a:ln>
        </p:spPr>
      </p:sp>
      <p:sp>
        <p:nvSpPr>
          <p:cNvPr id="15" name="Text 12"/>
          <p:cNvSpPr/>
          <p:nvPr/>
        </p:nvSpPr>
        <p:spPr>
          <a:xfrm>
            <a:off x="6720840" y="2286000"/>
            <a:ext cx="3108960" cy="274320"/>
          </a:xfrm>
          <a:prstGeom prst="rect">
            <a:avLst/>
          </a:prstGeom>
          <a:noFill/>
          <a:ln/>
        </p:spPr>
        <p:txBody>
          <a:bodyPr wrap="square" lIns="0" tIns="0" rIns="0" bIns="0" rtlCol="0" anchor="t"/>
          <a:lstStyle/>
          <a:p>
            <a:pPr algn="l" indent="0" marL="0">
              <a:buNone/>
            </a:pPr>
            <a:r>
              <a:rPr lang="en-US" sz="1200" b="1" dirty="0">
                <a:solidFill>
                  <a:srgbClr val="8B929B"/>
                </a:solidFill>
                <a:latin typeface="Segoe UI" pitchFamily="34" charset="0"/>
                <a:ea typeface="Segoe UI" pitchFamily="34" charset="-122"/>
                <a:cs typeface="Segoe UI" pitchFamily="34" charset="-120"/>
              </a:rPr>
              <a:t>Hướng dẫn trả cho người dùng</a:t>
            </a:r>
            <a:endParaRPr lang="en-US" sz="1200" dirty="0"/>
          </a:p>
        </p:txBody>
      </p:sp>
      <p:sp>
        <p:nvSpPr>
          <p:cNvPr id="16" name="Text 13"/>
          <p:cNvSpPr/>
          <p:nvPr/>
        </p:nvSpPr>
        <p:spPr>
          <a:xfrm>
            <a:off x="9692640" y="2286000"/>
            <a:ext cx="1463040" cy="274320"/>
          </a:xfrm>
          <a:prstGeom prst="rect">
            <a:avLst/>
          </a:prstGeom>
          <a:noFill/>
          <a:ln/>
        </p:spPr>
        <p:txBody>
          <a:bodyPr wrap="square" lIns="0" tIns="0" rIns="0" bIns="0" rtlCol="0" anchor="t"/>
          <a:lstStyle/>
          <a:p>
            <a:pPr algn="r" indent="0" marL="0">
              <a:buNone/>
            </a:pPr>
            <a:r>
              <a:rPr lang="en-US" sz="1000" i="1" dirty="0">
                <a:solidFill>
                  <a:srgbClr val="8B929B"/>
                </a:solidFill>
                <a:latin typeface="Segoe UI" pitchFamily="34" charset="0"/>
                <a:ea typeface="Segoe UI" pitchFamily="34" charset="-122"/>
                <a:cs typeface="Segoe UI" pitchFamily="34" charset="-120"/>
              </a:rPr>
              <a:t>ví dụ minh hoạ</a:t>
            </a:r>
            <a:endParaRPr lang="en-US" sz="1000" dirty="0"/>
          </a:p>
        </p:txBody>
      </p:sp>
      <p:sp>
        <p:nvSpPr>
          <p:cNvPr id="17" name="Text 14"/>
          <p:cNvSpPr/>
          <p:nvPr/>
        </p:nvSpPr>
        <p:spPr>
          <a:xfrm>
            <a:off x="6720840" y="2651760"/>
            <a:ext cx="274320" cy="365760"/>
          </a:xfrm>
          <a:prstGeom prst="rect">
            <a:avLst/>
          </a:prstGeom>
          <a:noFill/>
          <a:ln/>
        </p:spPr>
        <p:txBody>
          <a:bodyPr wrap="square" lIns="0" tIns="0" rIns="0" bIns="0" rtlCol="0" anchor="t"/>
          <a:lstStyle/>
          <a:p>
            <a:pPr algn="l" indent="0" marL="0">
              <a:buNone/>
            </a:pPr>
            <a:r>
              <a:rPr lang="en-US" sz="1250" b="1" dirty="0">
                <a:solidFill>
                  <a:srgbClr val="8B929B"/>
                </a:solidFill>
                <a:latin typeface="Segoe UI" pitchFamily="34" charset="0"/>
                <a:ea typeface="Segoe UI" pitchFamily="34" charset="-122"/>
                <a:cs typeface="Segoe UI" pitchFamily="34" charset="-120"/>
              </a:rPr>
              <a:t>1.</a:t>
            </a:r>
            <a:endParaRPr lang="en-US" sz="1250" dirty="0"/>
          </a:p>
        </p:txBody>
      </p:sp>
      <p:sp>
        <p:nvSpPr>
          <p:cNvPr id="18" name="Text 15"/>
          <p:cNvSpPr/>
          <p:nvPr/>
        </p:nvSpPr>
        <p:spPr>
          <a:xfrm>
            <a:off x="7022592" y="2651760"/>
            <a:ext cx="4114800" cy="457200"/>
          </a:xfrm>
          <a:prstGeom prst="rect">
            <a:avLst/>
          </a:prstGeom>
          <a:noFill/>
          <a:ln/>
        </p:spPr>
        <p:txBody>
          <a:bodyPr wrap="square" lIns="0" tIns="0" rIns="0" bIns="0" rtlCol="0" anchor="t"/>
          <a:lstStyle/>
          <a:p>
            <a:pPr algn="l" indent="0" marL="0">
              <a:lnSpc>
                <a:spcPct val="118000"/>
              </a:lnSpc>
              <a:buNone/>
            </a:pPr>
            <a:r>
              <a:rPr lang="en-US" sz="1250" dirty="0">
                <a:solidFill>
                  <a:srgbClr val="1D2733"/>
                </a:solidFill>
                <a:latin typeface="Segoe UI" pitchFamily="34" charset="0"/>
                <a:ea typeface="Segoe UI" pitchFamily="34" charset="-122"/>
                <a:cs typeface="Segoe UI" pitchFamily="34" charset="-120"/>
              </a:rPr>
              <a:t>Chạm vào “Find or create a task”</a:t>
            </a:r>
            <a:endParaRPr lang="en-US" sz="1250" dirty="0"/>
          </a:p>
        </p:txBody>
      </p:sp>
      <p:sp>
        <p:nvSpPr>
          <p:cNvPr id="19" name="Text 16"/>
          <p:cNvSpPr/>
          <p:nvPr/>
        </p:nvSpPr>
        <p:spPr>
          <a:xfrm>
            <a:off x="6720840" y="3127248"/>
            <a:ext cx="274320" cy="365760"/>
          </a:xfrm>
          <a:prstGeom prst="rect">
            <a:avLst/>
          </a:prstGeom>
          <a:noFill/>
          <a:ln/>
        </p:spPr>
        <p:txBody>
          <a:bodyPr wrap="square" lIns="0" tIns="0" rIns="0" bIns="0" rtlCol="0" anchor="t"/>
          <a:lstStyle/>
          <a:p>
            <a:pPr algn="l" indent="0" marL="0">
              <a:buNone/>
            </a:pPr>
            <a:r>
              <a:rPr lang="en-US" sz="1250" b="1" dirty="0">
                <a:solidFill>
                  <a:srgbClr val="8B929B"/>
                </a:solidFill>
                <a:latin typeface="Segoe UI" pitchFamily="34" charset="0"/>
                <a:ea typeface="Segoe UI" pitchFamily="34" charset="-122"/>
                <a:cs typeface="Segoe UI" pitchFamily="34" charset="-120"/>
              </a:rPr>
              <a:t>2.</a:t>
            </a:r>
            <a:endParaRPr lang="en-US" sz="1250" dirty="0"/>
          </a:p>
        </p:txBody>
      </p:sp>
      <p:sp>
        <p:nvSpPr>
          <p:cNvPr id="20" name="Text 17"/>
          <p:cNvSpPr/>
          <p:nvPr/>
        </p:nvSpPr>
        <p:spPr>
          <a:xfrm>
            <a:off x="7022592" y="3127248"/>
            <a:ext cx="4114800" cy="457200"/>
          </a:xfrm>
          <a:prstGeom prst="rect">
            <a:avLst/>
          </a:prstGeom>
          <a:noFill/>
          <a:ln/>
        </p:spPr>
        <p:txBody>
          <a:bodyPr wrap="square" lIns="0" tIns="0" rIns="0" bIns="0" rtlCol="0" anchor="t"/>
          <a:lstStyle/>
          <a:p>
            <a:pPr algn="l" indent="0" marL="0">
              <a:lnSpc>
                <a:spcPct val="118000"/>
              </a:lnSpc>
              <a:buNone/>
            </a:pPr>
            <a:r>
              <a:rPr lang="en-US" sz="1250" dirty="0">
                <a:solidFill>
                  <a:srgbClr val="1D2733"/>
                </a:solidFill>
                <a:latin typeface="Segoe UI" pitchFamily="34" charset="0"/>
                <a:ea typeface="Segoe UI" pitchFamily="34" charset="-122"/>
                <a:cs typeface="Segoe UI" pitchFamily="34" charset="-120"/>
              </a:rPr>
              <a:t>Nhập số giờ vào “Estimated hours”</a:t>
            </a:r>
            <a:endParaRPr lang="en-US" sz="1250" dirty="0"/>
          </a:p>
        </p:txBody>
      </p:sp>
      <p:sp>
        <p:nvSpPr>
          <p:cNvPr id="21" name="Text 18"/>
          <p:cNvSpPr/>
          <p:nvPr/>
        </p:nvSpPr>
        <p:spPr>
          <a:xfrm>
            <a:off x="6720840" y="3602736"/>
            <a:ext cx="274320" cy="365760"/>
          </a:xfrm>
          <a:prstGeom prst="rect">
            <a:avLst/>
          </a:prstGeom>
          <a:noFill/>
          <a:ln/>
        </p:spPr>
        <p:txBody>
          <a:bodyPr wrap="square" lIns="0" tIns="0" rIns="0" bIns="0" rtlCol="0" anchor="t"/>
          <a:lstStyle/>
          <a:p>
            <a:pPr algn="l" indent="0" marL="0">
              <a:buNone/>
            </a:pPr>
            <a:r>
              <a:rPr lang="en-US" sz="1250" b="1" dirty="0">
                <a:solidFill>
                  <a:srgbClr val="8B929B"/>
                </a:solidFill>
                <a:latin typeface="Segoe UI" pitchFamily="34" charset="0"/>
                <a:ea typeface="Segoe UI" pitchFamily="34" charset="-122"/>
                <a:cs typeface="Segoe UI" pitchFamily="34" charset="-120"/>
              </a:rPr>
              <a:t>3.</a:t>
            </a:r>
            <a:endParaRPr lang="en-US" sz="1250" dirty="0"/>
          </a:p>
        </p:txBody>
      </p:sp>
      <p:sp>
        <p:nvSpPr>
          <p:cNvPr id="22" name="Text 19"/>
          <p:cNvSpPr/>
          <p:nvPr/>
        </p:nvSpPr>
        <p:spPr>
          <a:xfrm>
            <a:off x="7022592" y="3602736"/>
            <a:ext cx="4114800" cy="457200"/>
          </a:xfrm>
          <a:prstGeom prst="rect">
            <a:avLst/>
          </a:prstGeom>
          <a:noFill/>
          <a:ln/>
        </p:spPr>
        <p:txBody>
          <a:bodyPr wrap="square" lIns="0" tIns="0" rIns="0" bIns="0" rtlCol="0" anchor="t"/>
          <a:lstStyle/>
          <a:p>
            <a:pPr algn="l" indent="0" marL="0">
              <a:lnSpc>
                <a:spcPct val="118000"/>
              </a:lnSpc>
              <a:buNone/>
            </a:pPr>
            <a:r>
              <a:rPr lang="en-US" sz="1250" dirty="0">
                <a:solidFill>
                  <a:srgbClr val="BE5A2E"/>
                </a:solidFill>
                <a:latin typeface="Segoe UI" pitchFamily="34" charset="0"/>
                <a:ea typeface="Segoe UI" pitchFamily="34" charset="-122"/>
                <a:cs typeface="Segoe UI" pitchFamily="34" charset="-120"/>
              </a:rPr>
              <a:t>Tìm và chạm vào tuỳ chọn trên màn hình phù hợp với việc bạn cần làm ở bước này.</a:t>
            </a:r>
            <a:endParaRPr lang="en-US" sz="1250" dirty="0"/>
          </a:p>
        </p:txBody>
      </p:sp>
      <p:sp>
        <p:nvSpPr>
          <p:cNvPr id="23" name="Text 20"/>
          <p:cNvSpPr/>
          <p:nvPr/>
        </p:nvSpPr>
        <p:spPr>
          <a:xfrm>
            <a:off x="6720840" y="4078224"/>
            <a:ext cx="274320" cy="365760"/>
          </a:xfrm>
          <a:prstGeom prst="rect">
            <a:avLst/>
          </a:prstGeom>
          <a:noFill/>
          <a:ln/>
        </p:spPr>
        <p:txBody>
          <a:bodyPr wrap="square" lIns="0" tIns="0" rIns="0" bIns="0" rtlCol="0" anchor="t"/>
          <a:lstStyle/>
          <a:p>
            <a:pPr algn="l" indent="0" marL="0">
              <a:buNone/>
            </a:pPr>
            <a:r>
              <a:rPr lang="en-US" sz="1250" b="1" dirty="0">
                <a:solidFill>
                  <a:srgbClr val="8B929B"/>
                </a:solidFill>
                <a:latin typeface="Segoe UI" pitchFamily="34" charset="0"/>
                <a:ea typeface="Segoe UI" pitchFamily="34" charset="-122"/>
                <a:cs typeface="Segoe UI" pitchFamily="34" charset="-120"/>
              </a:rPr>
              <a:t>4.</a:t>
            </a:r>
            <a:endParaRPr lang="en-US" sz="1250" dirty="0"/>
          </a:p>
        </p:txBody>
      </p:sp>
      <p:sp>
        <p:nvSpPr>
          <p:cNvPr id="24" name="Text 21"/>
          <p:cNvSpPr/>
          <p:nvPr/>
        </p:nvSpPr>
        <p:spPr>
          <a:xfrm>
            <a:off x="7022592" y="4078224"/>
            <a:ext cx="4114800" cy="457200"/>
          </a:xfrm>
          <a:prstGeom prst="rect">
            <a:avLst/>
          </a:prstGeom>
          <a:noFill/>
          <a:ln/>
        </p:spPr>
        <p:txBody>
          <a:bodyPr wrap="square" lIns="0" tIns="0" rIns="0" bIns="0" rtlCol="0" anchor="t"/>
          <a:lstStyle/>
          <a:p>
            <a:pPr algn="l" indent="0" marL="0">
              <a:lnSpc>
                <a:spcPct val="118000"/>
              </a:lnSpc>
              <a:buNone/>
            </a:pPr>
            <a:r>
              <a:rPr lang="en-US" sz="1250" dirty="0">
                <a:solidFill>
                  <a:srgbClr val="1D2733"/>
                </a:solidFill>
                <a:latin typeface="Segoe UI" pitchFamily="34" charset="0"/>
                <a:ea typeface="Segoe UI" pitchFamily="34" charset="-122"/>
                <a:cs typeface="Segoe UI" pitchFamily="34" charset="-120"/>
              </a:rPr>
              <a:t>Chạm “SAVE &amp; ADD ANOTHER” để lưu</a:t>
            </a:r>
            <a:endParaRPr lang="en-US" sz="1250" dirty="0"/>
          </a:p>
        </p:txBody>
      </p:sp>
      <p:sp>
        <p:nvSpPr>
          <p:cNvPr id="25" name="Text 22"/>
          <p:cNvSpPr/>
          <p:nvPr/>
        </p:nvSpPr>
        <p:spPr>
          <a:xfrm>
            <a:off x="6720840" y="4279392"/>
            <a:ext cx="4434840" cy="365760"/>
          </a:xfrm>
          <a:prstGeom prst="rect">
            <a:avLst/>
          </a:prstGeom>
          <a:noFill/>
          <a:ln/>
        </p:spPr>
        <p:txBody>
          <a:bodyPr wrap="square" lIns="0" tIns="0" rIns="0" bIns="0" rtlCol="0" anchor="t"/>
          <a:lstStyle/>
          <a:p>
            <a:pPr algn="l" indent="0" marL="0">
              <a:lnSpc>
                <a:spcPct val="120000"/>
              </a:lnSpc>
              <a:buNone/>
            </a:pPr>
            <a:r>
              <a:rPr lang="en-US" sz="1050" i="1" dirty="0">
                <a:solidFill>
                  <a:srgbClr val="BE5A2E"/>
                </a:solidFill>
                <a:latin typeface="Segoe UI" pitchFamily="34" charset="0"/>
                <a:ea typeface="Segoe UI" pitchFamily="34" charset="-122"/>
                <a:cs typeface="Segoe UI" pitchFamily="34" charset="-120"/>
              </a:rPr>
              <a:t>Ba tên nút đối chiếu được ngay trên ảnh bên trái.</a:t>
            </a:r>
            <a:endParaRPr lang="en-US" sz="1050" dirty="0"/>
          </a:p>
        </p:txBody>
      </p:sp>
      <p:sp>
        <p:nvSpPr>
          <p:cNvPr id="26" name="Shape 23"/>
          <p:cNvSpPr/>
          <p:nvPr/>
        </p:nvSpPr>
        <p:spPr>
          <a:xfrm>
            <a:off x="2944368" y="5029200"/>
            <a:ext cx="274320" cy="274320"/>
          </a:xfrm>
          <a:prstGeom prst="ellipse">
            <a:avLst/>
          </a:prstGeom>
          <a:solidFill>
            <a:srgbClr val="F1E4DC"/>
          </a:solidFill>
          <a:ln/>
        </p:spPr>
      </p:sp>
      <p:sp>
        <p:nvSpPr>
          <p:cNvPr id="27" name="Text 24"/>
          <p:cNvSpPr/>
          <p:nvPr/>
        </p:nvSpPr>
        <p:spPr>
          <a:xfrm>
            <a:off x="2944368" y="5029200"/>
            <a:ext cx="274320" cy="274320"/>
          </a:xfrm>
          <a:prstGeom prst="rect">
            <a:avLst/>
          </a:prstGeom>
          <a:noFill/>
          <a:ln/>
        </p:spPr>
        <p:txBody>
          <a:bodyPr wrap="square" lIns="0" tIns="0" rIns="0" bIns="0" rtlCol="0" anchor="ctr"/>
          <a:lstStyle/>
          <a:p>
            <a:pPr algn="ctr" indent="0" marL="0">
              <a:buNone/>
            </a:pPr>
            <a:r>
              <a:rPr lang="en-US" sz="1020" b="1" dirty="0">
                <a:solidFill>
                  <a:srgbClr val="BE5A2E"/>
                </a:solidFill>
                <a:latin typeface="Cambria" pitchFamily="34" charset="0"/>
                <a:ea typeface="Cambria" pitchFamily="34" charset="-122"/>
                <a:cs typeface="Cambria" pitchFamily="34" charset="-120"/>
              </a:rPr>
              <a:t>✗</a:t>
            </a:r>
            <a:endParaRPr lang="en-US" sz="1020" dirty="0"/>
          </a:p>
        </p:txBody>
      </p:sp>
      <p:sp>
        <p:nvSpPr>
          <p:cNvPr id="28" name="Text 25"/>
          <p:cNvSpPr/>
          <p:nvPr/>
        </p:nvSpPr>
        <p:spPr>
          <a:xfrm>
            <a:off x="3355848" y="4983480"/>
            <a:ext cx="3840480" cy="365760"/>
          </a:xfrm>
          <a:prstGeom prst="rect">
            <a:avLst/>
          </a:prstGeom>
          <a:noFill/>
          <a:ln/>
        </p:spPr>
        <p:txBody>
          <a:bodyPr wrap="square" lIns="0" tIns="0" rIns="0" bIns="0" rtlCol="0" anchor="ctr"/>
          <a:lstStyle/>
          <a:p>
            <a:pPr algn="l" indent="0" marL="0">
              <a:buNone/>
            </a:pPr>
            <a:r>
              <a:rPr lang="en-US" sz="1350" dirty="0">
                <a:solidFill>
                  <a:srgbClr val="1D2733"/>
                </a:solidFill>
                <a:latin typeface="Segoe UI" pitchFamily="34" charset="0"/>
                <a:ea typeface="Segoe UI" pitchFamily="34" charset="-122"/>
                <a:cs typeface="Segoe UI" pitchFamily="34" charset="-120"/>
              </a:rPr>
              <a:t>Không cần gọi Teacher</a:t>
            </a:r>
            <a:endParaRPr lang="en-US" sz="1350" dirty="0"/>
          </a:p>
        </p:txBody>
      </p:sp>
      <p:sp>
        <p:nvSpPr>
          <p:cNvPr id="29" name="Shape 26"/>
          <p:cNvSpPr/>
          <p:nvPr/>
        </p:nvSpPr>
        <p:spPr>
          <a:xfrm>
            <a:off x="2944368" y="5486400"/>
            <a:ext cx="274320" cy="274320"/>
          </a:xfrm>
          <a:prstGeom prst="ellipse">
            <a:avLst/>
          </a:prstGeom>
          <a:solidFill>
            <a:srgbClr val="F1E4DC"/>
          </a:solidFill>
          <a:ln/>
        </p:spPr>
      </p:sp>
      <p:sp>
        <p:nvSpPr>
          <p:cNvPr id="30" name="Text 27"/>
          <p:cNvSpPr/>
          <p:nvPr/>
        </p:nvSpPr>
        <p:spPr>
          <a:xfrm>
            <a:off x="2944368" y="5486400"/>
            <a:ext cx="274320" cy="274320"/>
          </a:xfrm>
          <a:prstGeom prst="rect">
            <a:avLst/>
          </a:prstGeom>
          <a:noFill/>
          <a:ln/>
        </p:spPr>
        <p:txBody>
          <a:bodyPr wrap="square" lIns="0" tIns="0" rIns="0" bIns="0" rtlCol="0" anchor="ctr"/>
          <a:lstStyle/>
          <a:p>
            <a:pPr algn="ctr" indent="0" marL="0">
              <a:buNone/>
            </a:pPr>
            <a:r>
              <a:rPr lang="en-US" sz="1020" b="1" dirty="0">
                <a:solidFill>
                  <a:srgbClr val="BE5A2E"/>
                </a:solidFill>
                <a:latin typeface="Cambria" pitchFamily="34" charset="0"/>
                <a:ea typeface="Cambria" pitchFamily="34" charset="-122"/>
                <a:cs typeface="Cambria" pitchFamily="34" charset="-120"/>
              </a:rPr>
              <a:t>✗</a:t>
            </a:r>
            <a:endParaRPr lang="en-US" sz="1020" dirty="0"/>
          </a:p>
        </p:txBody>
      </p:sp>
      <p:sp>
        <p:nvSpPr>
          <p:cNvPr id="31" name="Text 28"/>
          <p:cNvSpPr/>
          <p:nvPr/>
        </p:nvSpPr>
        <p:spPr>
          <a:xfrm>
            <a:off x="3355848" y="5440680"/>
            <a:ext cx="3840480" cy="365760"/>
          </a:xfrm>
          <a:prstGeom prst="rect">
            <a:avLst/>
          </a:prstGeom>
          <a:noFill/>
          <a:ln/>
        </p:spPr>
        <p:txBody>
          <a:bodyPr wrap="square" lIns="0" tIns="0" rIns="0" bIns="0" rtlCol="0" anchor="ctr"/>
          <a:lstStyle/>
          <a:p>
            <a:pPr algn="l" indent="0" marL="0">
              <a:buNone/>
            </a:pPr>
            <a:r>
              <a:rPr lang="en-US" sz="1350" dirty="0">
                <a:solidFill>
                  <a:srgbClr val="1D2733"/>
                </a:solidFill>
                <a:latin typeface="Segoe UI" pitchFamily="34" charset="0"/>
                <a:ea typeface="Segoe UI" pitchFamily="34" charset="-122"/>
                <a:cs typeface="Segoe UI" pitchFamily="34" charset="-120"/>
              </a:rPr>
              <a:t>Không cần internet</a:t>
            </a:r>
            <a:endParaRPr lang="en-US" sz="1350" dirty="0"/>
          </a:p>
        </p:txBody>
      </p:sp>
      <p:sp>
        <p:nvSpPr>
          <p:cNvPr id="32" name="Shape 29"/>
          <p:cNvSpPr/>
          <p:nvPr/>
        </p:nvSpPr>
        <p:spPr>
          <a:xfrm>
            <a:off x="2944368" y="5943600"/>
            <a:ext cx="274320" cy="274320"/>
          </a:xfrm>
          <a:prstGeom prst="ellipse">
            <a:avLst/>
          </a:prstGeom>
          <a:solidFill>
            <a:srgbClr val="F1E4DC"/>
          </a:solidFill>
          <a:ln/>
        </p:spPr>
      </p:sp>
      <p:sp>
        <p:nvSpPr>
          <p:cNvPr id="33" name="Text 30"/>
          <p:cNvSpPr/>
          <p:nvPr/>
        </p:nvSpPr>
        <p:spPr>
          <a:xfrm>
            <a:off x="2944368" y="5943600"/>
            <a:ext cx="274320" cy="274320"/>
          </a:xfrm>
          <a:prstGeom prst="rect">
            <a:avLst/>
          </a:prstGeom>
          <a:noFill/>
          <a:ln/>
        </p:spPr>
        <p:txBody>
          <a:bodyPr wrap="square" lIns="0" tIns="0" rIns="0" bIns="0" rtlCol="0" anchor="ctr"/>
          <a:lstStyle/>
          <a:p>
            <a:pPr algn="ctr" indent="0" marL="0">
              <a:buNone/>
            </a:pPr>
            <a:r>
              <a:rPr lang="en-US" sz="1020" b="1" dirty="0">
                <a:solidFill>
                  <a:srgbClr val="BE5A2E"/>
                </a:solidFill>
                <a:latin typeface="Cambria" pitchFamily="34" charset="0"/>
                <a:ea typeface="Cambria" pitchFamily="34" charset="-122"/>
                <a:cs typeface="Cambria" pitchFamily="34" charset="-120"/>
              </a:rPr>
              <a:t>✗</a:t>
            </a:r>
            <a:endParaRPr lang="en-US" sz="1020" dirty="0"/>
          </a:p>
        </p:txBody>
      </p:sp>
      <p:sp>
        <p:nvSpPr>
          <p:cNvPr id="34" name="Text 31"/>
          <p:cNvSpPr/>
          <p:nvPr/>
        </p:nvSpPr>
        <p:spPr>
          <a:xfrm>
            <a:off x="3355848" y="5897880"/>
            <a:ext cx="3840480" cy="365760"/>
          </a:xfrm>
          <a:prstGeom prst="rect">
            <a:avLst/>
          </a:prstGeom>
          <a:noFill/>
          <a:ln/>
        </p:spPr>
        <p:txBody>
          <a:bodyPr wrap="square" lIns="0" tIns="0" rIns="0" bIns="0" rtlCol="0" anchor="ctr"/>
          <a:lstStyle/>
          <a:p>
            <a:pPr algn="l" indent="0" marL="0">
              <a:buNone/>
            </a:pPr>
            <a:r>
              <a:rPr lang="en-US" sz="1350" dirty="0">
                <a:solidFill>
                  <a:srgbClr val="1D2733"/>
                </a:solidFill>
                <a:latin typeface="Segoe UI" pitchFamily="34" charset="0"/>
                <a:ea typeface="Segoe UI" pitchFamily="34" charset="-122"/>
                <a:cs typeface="Segoe UI" pitchFamily="34" charset="-120"/>
              </a:rPr>
              <a:t>Không cần danh sách nút thật của màn hình</a:t>
            </a:r>
            <a:endParaRPr lang="en-US" sz="1350" dirty="0"/>
          </a:p>
        </p:txBody>
      </p:sp>
      <p:sp>
        <p:nvSpPr>
          <p:cNvPr id="35" name="Shape 32"/>
          <p:cNvSpPr/>
          <p:nvPr/>
        </p:nvSpPr>
        <p:spPr>
          <a:xfrm>
            <a:off x="6492240" y="4937760"/>
            <a:ext cx="4846320" cy="1371600"/>
          </a:xfrm>
          <a:prstGeom prst="roundRect">
            <a:avLst>
              <a:gd name="adj" fmla="val 6667"/>
            </a:avLst>
          </a:prstGeom>
          <a:solidFill>
            <a:srgbClr val="F7EBE3"/>
          </a:solidFill>
          <a:ln/>
        </p:spPr>
      </p:sp>
      <p:sp>
        <p:nvSpPr>
          <p:cNvPr id="36" name="Text 33"/>
          <p:cNvSpPr/>
          <p:nvPr/>
        </p:nvSpPr>
        <p:spPr>
          <a:xfrm>
            <a:off x="6720840" y="5074920"/>
            <a:ext cx="4389120" cy="274320"/>
          </a:xfrm>
          <a:prstGeom prst="rect">
            <a:avLst/>
          </a:prstGeom>
          <a:noFill/>
          <a:ln/>
        </p:spPr>
        <p:txBody>
          <a:bodyPr wrap="square" lIns="0" tIns="0" rIns="0" bIns="0" rtlCol="0" anchor="t"/>
          <a:lstStyle/>
          <a:p>
            <a:pPr algn="l" indent="0" marL="0">
              <a:buNone/>
            </a:pPr>
            <a:r>
              <a:rPr lang="en-US" sz="1250" b="1" dirty="0">
                <a:solidFill>
                  <a:srgbClr val="BE5A2E"/>
                </a:solidFill>
                <a:latin typeface="Segoe UI" pitchFamily="34" charset="0"/>
                <a:ea typeface="Segoe UI" pitchFamily="34" charset="-122"/>
                <a:cs typeface="Segoe UI" pitchFamily="34" charset="-120"/>
              </a:rPr>
              <a:t>Vì sao chỗ này mới là chỗ quyết định</a:t>
            </a:r>
            <a:endParaRPr lang="en-US" sz="1250" dirty="0"/>
          </a:p>
        </p:txBody>
      </p:sp>
      <p:sp>
        <p:nvSpPr>
          <p:cNvPr id="37" name="Text 34"/>
          <p:cNvSpPr/>
          <p:nvPr/>
        </p:nvSpPr>
        <p:spPr>
          <a:xfrm>
            <a:off x="6720840" y="5376672"/>
            <a:ext cx="4389120" cy="868680"/>
          </a:xfrm>
          <a:prstGeom prst="rect">
            <a:avLst/>
          </a:prstGeom>
          <a:noFill/>
          <a:ln/>
        </p:spPr>
        <p:txBody>
          <a:bodyPr wrap="square" lIns="0" tIns="0" rIns="0" bIns="0" rtlCol="0" anchor="t"/>
          <a:lstStyle/>
          <a:p>
            <a:pPr algn="l" indent="0" marL="0">
              <a:lnSpc>
                <a:spcPct val="125000"/>
              </a:lnSpc>
              <a:buNone/>
            </a:pPr>
            <a:r>
              <a:rPr lang="en-US" sz="1250" dirty="0">
                <a:solidFill>
                  <a:srgbClr val="1D2733"/>
                </a:solidFill>
                <a:latin typeface="Segoe UI" pitchFamily="34" charset="0"/>
                <a:ea typeface="Segoe UI" pitchFamily="34" charset="-122"/>
                <a:cs typeface="Segoe UI" pitchFamily="34" charset="-120"/>
              </a:rPr>
              <a:t>Bộ kiểm tra không còn ở đó. Student vẫn thành thật thì điều đó chỉ có thể đến từ huấn luyện.</a:t>
            </a:r>
            <a:endParaRPr lang="en-US" sz="1250" dirty="0"/>
          </a:p>
        </p:txBody>
      </p:sp>
      <p:sp>
        <p:nvSpPr>
          <p:cNvPr id="39" name="Text 35"/>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04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KHÁC GÌ NHỮNG BÀI ĐÃ CÓ</a:t>
            </a:r>
            <a:endParaRPr lang="en-US" sz="1250" dirty="0"/>
          </a:p>
        </p:txBody>
      </p:sp>
      <p:sp>
        <p:nvSpPr>
          <p:cNvPr id="3" name="Text 1"/>
          <p:cNvSpPr/>
          <p:nvPr/>
        </p:nvSpPr>
        <p:spPr>
          <a:xfrm>
            <a:off x="841248" y="896112"/>
            <a:ext cx="10506456" cy="914400"/>
          </a:xfrm>
          <a:prstGeom prst="rect">
            <a:avLst/>
          </a:prstGeom>
          <a:noFill/>
          <a:ln/>
        </p:spPr>
        <p:txBody>
          <a:bodyPr wrap="square" lIns="0" tIns="0" rIns="0" bIns="0" rtlCol="0" anchor="t"/>
          <a:lstStyle/>
          <a:p>
            <a:pPr algn="l" indent="0" marL="0">
              <a:lnSpc>
                <a:spcPct val="105000"/>
              </a:lnSpc>
              <a:buNone/>
            </a:pPr>
            <a:r>
              <a:rPr lang="en-US" sz="2700" b="1" dirty="0">
                <a:solidFill>
                  <a:srgbClr val="1D2733"/>
                </a:solidFill>
                <a:latin typeface="Cambria" pitchFamily="34" charset="0"/>
                <a:ea typeface="Cambria" pitchFamily="34" charset="-122"/>
                <a:cs typeface="Cambria" pitchFamily="34" charset="-120"/>
              </a:rPr>
              <a:t>Công thức chung đã có từ trước. Điểm mới nằm ở hai chỗ</a:t>
            </a:r>
            <a:endParaRPr lang="en-US" sz="2700" dirty="0"/>
          </a:p>
        </p:txBody>
      </p:sp>
      <p:sp>
        <p:nvSpPr>
          <p:cNvPr id="4" name="Shape 2"/>
          <p:cNvSpPr/>
          <p:nvPr/>
        </p:nvSpPr>
        <p:spPr>
          <a:xfrm>
            <a:off x="841248" y="2103120"/>
            <a:ext cx="5074920" cy="3017520"/>
          </a:xfrm>
          <a:prstGeom prst="roundRect">
            <a:avLst>
              <a:gd name="adj" fmla="val 3030"/>
            </a:avLst>
          </a:prstGeom>
          <a:solidFill>
            <a:srgbClr val="F3F5F7"/>
          </a:solidFill>
          <a:ln/>
        </p:spPr>
      </p:sp>
      <p:sp>
        <p:nvSpPr>
          <p:cNvPr id="5" name="Text 3"/>
          <p:cNvSpPr/>
          <p:nvPr/>
        </p:nvSpPr>
        <p:spPr>
          <a:xfrm>
            <a:off x="1115568" y="2286000"/>
            <a:ext cx="4526280" cy="320040"/>
          </a:xfrm>
          <a:prstGeom prst="rect">
            <a:avLst/>
          </a:prstGeom>
          <a:noFill/>
          <a:ln/>
        </p:spPr>
        <p:txBody>
          <a:bodyPr wrap="square" lIns="0" tIns="0" rIns="0" bIns="0" rtlCol="0" anchor="t"/>
          <a:lstStyle/>
          <a:p>
            <a:pPr algn="l" indent="0" marL="0">
              <a:buNone/>
            </a:pPr>
            <a:r>
              <a:rPr lang="en-US" sz="1500" b="1" dirty="0">
                <a:solidFill>
                  <a:srgbClr val="52657A"/>
                </a:solidFill>
                <a:latin typeface="Cambria" pitchFamily="34" charset="0"/>
                <a:ea typeface="Cambria" pitchFamily="34" charset="-122"/>
                <a:cs typeface="Cambria" pitchFamily="34" charset="-120"/>
              </a:rPr>
              <a:t>Đã có từ trước</a:t>
            </a:r>
            <a:endParaRPr lang="en-US" sz="1500" dirty="0"/>
          </a:p>
        </p:txBody>
      </p:sp>
      <p:sp>
        <p:nvSpPr>
          <p:cNvPr id="6" name="Text 4"/>
          <p:cNvSpPr/>
          <p:nvPr/>
        </p:nvSpPr>
        <p:spPr>
          <a:xfrm>
            <a:off x="1115568" y="2651760"/>
            <a:ext cx="4526280" cy="548640"/>
          </a:xfrm>
          <a:prstGeom prst="rect">
            <a:avLst/>
          </a:prstGeom>
          <a:noFill/>
          <a:ln/>
        </p:spPr>
        <p:txBody>
          <a:bodyPr wrap="square" lIns="0" tIns="0" rIns="0" bIns="0" rtlCol="0" anchor="t"/>
          <a:lstStyle/>
          <a:p>
            <a:pPr algn="l" indent="0" marL="0">
              <a:lnSpc>
                <a:spcPct val="125000"/>
              </a:lnSpc>
              <a:buNone/>
            </a:pPr>
            <a:r>
              <a:rPr lang="en-US" sz="1250" dirty="0">
                <a:solidFill>
                  <a:srgbClr val="454C55"/>
                </a:solidFill>
                <a:latin typeface="Segoe UI" pitchFamily="34" charset="0"/>
                <a:ea typeface="Segoe UI" pitchFamily="34" charset="-122"/>
                <a:cs typeface="Segoe UI" pitchFamily="34" charset="-120"/>
              </a:rPr>
              <a:t>Ý tưởng “cho AI viết → lọc chỗ sai → lấy phần sạch dạy lại AI nhỏ hơn” đã có tên riêng trong giới nghiên cứu từ 2022.</a:t>
            </a:r>
            <a:endParaRPr lang="en-US" sz="1250" dirty="0"/>
          </a:p>
        </p:txBody>
      </p:sp>
      <p:sp>
        <p:nvSpPr>
          <p:cNvPr id="7" name="Text 5"/>
          <p:cNvSpPr/>
          <p:nvPr/>
        </p:nvSpPr>
        <p:spPr>
          <a:xfrm>
            <a:off x="1115568" y="3291840"/>
            <a:ext cx="1371600" cy="320040"/>
          </a:xfrm>
          <a:prstGeom prst="rect">
            <a:avLst/>
          </a:prstGeom>
          <a:noFill/>
          <a:ln/>
        </p:spPr>
        <p:txBody>
          <a:bodyPr wrap="square" lIns="0" tIns="0" rIns="0" bIns="0" rtlCol="0" anchor="t"/>
          <a:lstStyle/>
          <a:p>
            <a:pPr algn="l" indent="0" marL="0">
              <a:buNone/>
            </a:pPr>
            <a:r>
              <a:rPr lang="en-US" sz="1200" b="1" dirty="0">
                <a:solidFill>
                  <a:srgbClr val="1D2733"/>
                </a:solidFill>
                <a:latin typeface="Segoe UI" pitchFamily="34" charset="0"/>
                <a:ea typeface="Segoe UI" pitchFamily="34" charset="-122"/>
                <a:cs typeface="Segoe UI" pitchFamily="34" charset="-120"/>
              </a:rPr>
              <a:t>STaR</a:t>
            </a:r>
            <a:endParaRPr lang="en-US" sz="1200" dirty="0"/>
          </a:p>
        </p:txBody>
      </p:sp>
      <p:sp>
        <p:nvSpPr>
          <p:cNvPr id="8" name="Text 6"/>
          <p:cNvSpPr/>
          <p:nvPr/>
        </p:nvSpPr>
        <p:spPr>
          <a:xfrm>
            <a:off x="2487168" y="3291840"/>
            <a:ext cx="1051560" cy="320040"/>
          </a:xfrm>
          <a:prstGeom prst="rect">
            <a:avLst/>
          </a:prstGeom>
          <a:noFill/>
          <a:ln/>
        </p:spPr>
        <p:txBody>
          <a:bodyPr wrap="square" lIns="0" tIns="0" rIns="0" bIns="0" rtlCol="0" anchor="t"/>
          <a:lstStyle/>
          <a:p>
            <a:pPr algn="l" indent="0" marL="0">
              <a:buNone/>
            </a:pPr>
            <a:r>
              <a:rPr lang="en-US" sz="1100" dirty="0">
                <a:solidFill>
                  <a:srgbClr val="8B929B"/>
                </a:solidFill>
                <a:latin typeface="Segoe UI" pitchFamily="34" charset="0"/>
                <a:ea typeface="Segoe UI" pitchFamily="34" charset="-122"/>
                <a:cs typeface="Segoe UI" pitchFamily="34" charset="-120"/>
              </a:rPr>
              <a:t>2022</a:t>
            </a:r>
            <a:endParaRPr lang="en-US" sz="1100" dirty="0"/>
          </a:p>
        </p:txBody>
      </p:sp>
      <p:sp>
        <p:nvSpPr>
          <p:cNvPr id="9" name="Text 7"/>
          <p:cNvSpPr/>
          <p:nvPr/>
        </p:nvSpPr>
        <p:spPr>
          <a:xfrm>
            <a:off x="3538728" y="3291840"/>
            <a:ext cx="2148840" cy="320040"/>
          </a:xfrm>
          <a:prstGeom prst="rect">
            <a:avLst/>
          </a:prstGeom>
          <a:noFill/>
          <a:ln/>
        </p:spPr>
        <p:txBody>
          <a:bodyPr wrap="square" lIns="0" tIns="0" rIns="0" bIns="0" rtlCol="0" anchor="t"/>
          <a:lstStyle/>
          <a:p>
            <a:pPr algn="l" indent="0" marL="0">
              <a:lnSpc>
                <a:spcPct val="115000"/>
              </a:lnSpc>
              <a:buNone/>
            </a:pPr>
            <a:r>
              <a:rPr lang="en-US" sz="1100" dirty="0">
                <a:solidFill>
                  <a:srgbClr val="454C55"/>
                </a:solidFill>
                <a:latin typeface="Segoe UI" pitchFamily="34" charset="0"/>
                <a:ea typeface="Segoe UI" pitchFamily="34" charset="-122"/>
                <a:cs typeface="Segoe UI" pitchFamily="34" charset="-120"/>
              </a:rPr>
              <a:t>đặt tên cho công thức sinh–lọc–học lại</a:t>
            </a:r>
            <a:endParaRPr lang="en-US" sz="1100" dirty="0"/>
          </a:p>
        </p:txBody>
      </p:sp>
      <p:sp>
        <p:nvSpPr>
          <p:cNvPr id="10" name="Text 8"/>
          <p:cNvSpPr/>
          <p:nvPr/>
        </p:nvSpPr>
        <p:spPr>
          <a:xfrm>
            <a:off x="1115568" y="3721608"/>
            <a:ext cx="1371600" cy="320040"/>
          </a:xfrm>
          <a:prstGeom prst="rect">
            <a:avLst/>
          </a:prstGeom>
          <a:noFill/>
          <a:ln/>
        </p:spPr>
        <p:txBody>
          <a:bodyPr wrap="square" lIns="0" tIns="0" rIns="0" bIns="0" rtlCol="0" anchor="t"/>
          <a:lstStyle/>
          <a:p>
            <a:pPr algn="l" indent="0" marL="0">
              <a:buNone/>
            </a:pPr>
            <a:r>
              <a:rPr lang="en-US" sz="1200" b="1" dirty="0">
                <a:solidFill>
                  <a:srgbClr val="1D2733"/>
                </a:solidFill>
                <a:latin typeface="Segoe UI" pitchFamily="34" charset="0"/>
                <a:ea typeface="Segoe UI" pitchFamily="34" charset="-122"/>
                <a:cs typeface="Segoe UI" pitchFamily="34" charset="-120"/>
              </a:rPr>
              <a:t>BLIP CapFilt</a:t>
            </a:r>
            <a:endParaRPr lang="en-US" sz="1200" dirty="0"/>
          </a:p>
        </p:txBody>
      </p:sp>
      <p:sp>
        <p:nvSpPr>
          <p:cNvPr id="11" name="Text 9"/>
          <p:cNvSpPr/>
          <p:nvPr/>
        </p:nvSpPr>
        <p:spPr>
          <a:xfrm>
            <a:off x="2487168" y="3721608"/>
            <a:ext cx="1051560" cy="320040"/>
          </a:xfrm>
          <a:prstGeom prst="rect">
            <a:avLst/>
          </a:prstGeom>
          <a:noFill/>
          <a:ln/>
        </p:spPr>
        <p:txBody>
          <a:bodyPr wrap="square" lIns="0" tIns="0" rIns="0" bIns="0" rtlCol="0" anchor="t"/>
          <a:lstStyle/>
          <a:p>
            <a:pPr algn="l" indent="0" marL="0">
              <a:buNone/>
            </a:pPr>
            <a:r>
              <a:rPr lang="en-US" sz="1100" dirty="0">
                <a:solidFill>
                  <a:srgbClr val="8B929B"/>
                </a:solidFill>
                <a:latin typeface="Segoe UI" pitchFamily="34" charset="0"/>
                <a:ea typeface="Segoe UI" pitchFamily="34" charset="-122"/>
                <a:cs typeface="Segoe UI" pitchFamily="34" charset="-120"/>
              </a:rPr>
              <a:t>ICML 2022</a:t>
            </a:r>
            <a:endParaRPr lang="en-US" sz="1100" dirty="0"/>
          </a:p>
        </p:txBody>
      </p:sp>
      <p:sp>
        <p:nvSpPr>
          <p:cNvPr id="12" name="Text 10"/>
          <p:cNvSpPr/>
          <p:nvPr/>
        </p:nvSpPr>
        <p:spPr>
          <a:xfrm>
            <a:off x="3538728" y="3721608"/>
            <a:ext cx="2148840" cy="320040"/>
          </a:xfrm>
          <a:prstGeom prst="rect">
            <a:avLst/>
          </a:prstGeom>
          <a:noFill/>
          <a:ln/>
        </p:spPr>
        <p:txBody>
          <a:bodyPr wrap="square" lIns="0" tIns="0" rIns="0" bIns="0" rtlCol="0" anchor="t"/>
          <a:lstStyle/>
          <a:p>
            <a:pPr algn="l" indent="0" marL="0">
              <a:lnSpc>
                <a:spcPct val="115000"/>
              </a:lnSpc>
              <a:buNone/>
            </a:pPr>
            <a:r>
              <a:rPr lang="en-US" sz="1100" dirty="0">
                <a:solidFill>
                  <a:srgbClr val="454C55"/>
                </a:solidFill>
                <a:latin typeface="Segoe UI" pitchFamily="34" charset="0"/>
                <a:ea typeface="Segoe UI" pitchFamily="34" charset="-122"/>
                <a:cs typeface="Segoe UI" pitchFamily="34" charset="-120"/>
              </a:rPr>
              <a:t>đo riêng giá trị của bước lọc</a:t>
            </a:r>
            <a:endParaRPr lang="en-US" sz="1100" dirty="0"/>
          </a:p>
        </p:txBody>
      </p:sp>
      <p:sp>
        <p:nvSpPr>
          <p:cNvPr id="13" name="Text 11"/>
          <p:cNvSpPr/>
          <p:nvPr/>
        </p:nvSpPr>
        <p:spPr>
          <a:xfrm>
            <a:off x="1115568" y="4151376"/>
            <a:ext cx="1371600" cy="320040"/>
          </a:xfrm>
          <a:prstGeom prst="rect">
            <a:avLst/>
          </a:prstGeom>
          <a:noFill/>
          <a:ln/>
        </p:spPr>
        <p:txBody>
          <a:bodyPr wrap="square" lIns="0" tIns="0" rIns="0" bIns="0" rtlCol="0" anchor="t"/>
          <a:lstStyle/>
          <a:p>
            <a:pPr algn="l" indent="0" marL="0">
              <a:buNone/>
            </a:pPr>
            <a:r>
              <a:rPr lang="en-US" sz="1200" b="1" dirty="0">
                <a:solidFill>
                  <a:srgbClr val="1D2733"/>
                </a:solidFill>
                <a:latin typeface="Segoe UI" pitchFamily="34" charset="0"/>
                <a:ea typeface="Segoe UI" pitchFamily="34" charset="-122"/>
                <a:cs typeface="Segoe UI" pitchFamily="34" charset="-120"/>
              </a:rPr>
              <a:t>VGA</a:t>
            </a:r>
            <a:endParaRPr lang="en-US" sz="1200" dirty="0"/>
          </a:p>
        </p:txBody>
      </p:sp>
      <p:sp>
        <p:nvSpPr>
          <p:cNvPr id="14" name="Text 12"/>
          <p:cNvSpPr/>
          <p:nvPr/>
        </p:nvSpPr>
        <p:spPr>
          <a:xfrm>
            <a:off x="2487168" y="4151376"/>
            <a:ext cx="1051560" cy="320040"/>
          </a:xfrm>
          <a:prstGeom prst="rect">
            <a:avLst/>
          </a:prstGeom>
          <a:noFill/>
          <a:ln/>
        </p:spPr>
        <p:txBody>
          <a:bodyPr wrap="square" lIns="0" tIns="0" rIns="0" bIns="0" rtlCol="0" anchor="t"/>
          <a:lstStyle/>
          <a:p>
            <a:pPr algn="l" indent="0" marL="0">
              <a:buNone/>
            </a:pPr>
            <a:r>
              <a:rPr lang="en-US" sz="1100" dirty="0">
                <a:solidFill>
                  <a:srgbClr val="8B929B"/>
                </a:solidFill>
                <a:latin typeface="Segoe UI" pitchFamily="34" charset="0"/>
                <a:ea typeface="Segoe UI" pitchFamily="34" charset="-122"/>
                <a:cs typeface="Segoe UI" pitchFamily="34" charset="-120"/>
              </a:rPr>
              <a:t>EMNLP-F 2024</a:t>
            </a:r>
            <a:endParaRPr lang="en-US" sz="1100" dirty="0"/>
          </a:p>
        </p:txBody>
      </p:sp>
      <p:sp>
        <p:nvSpPr>
          <p:cNvPr id="15" name="Text 13"/>
          <p:cNvSpPr/>
          <p:nvPr/>
        </p:nvSpPr>
        <p:spPr>
          <a:xfrm>
            <a:off x="3538728" y="4151376"/>
            <a:ext cx="2148840" cy="320040"/>
          </a:xfrm>
          <a:prstGeom prst="rect">
            <a:avLst/>
          </a:prstGeom>
          <a:noFill/>
          <a:ln/>
        </p:spPr>
        <p:txBody>
          <a:bodyPr wrap="square" lIns="0" tIns="0" rIns="0" bIns="0" rtlCol="0" anchor="t"/>
          <a:lstStyle/>
          <a:p>
            <a:pPr algn="l" indent="0" marL="0">
              <a:lnSpc>
                <a:spcPct val="115000"/>
              </a:lnSpc>
              <a:buNone/>
            </a:pPr>
            <a:r>
              <a:rPr lang="en-US" sz="1100" dirty="0">
                <a:solidFill>
                  <a:srgbClr val="454C55"/>
                </a:solidFill>
                <a:latin typeface="Segoe UI" pitchFamily="34" charset="0"/>
                <a:ea typeface="Segoe UI" pitchFamily="34" charset="-122"/>
                <a:cs typeface="Segoe UI" pitchFamily="34" charset="-120"/>
              </a:rPr>
              <a:t>dùng đúng loại danh sách nút để giảm bịa</a:t>
            </a:r>
            <a:endParaRPr lang="en-US" sz="1100" dirty="0"/>
          </a:p>
        </p:txBody>
      </p:sp>
      <p:sp>
        <p:nvSpPr>
          <p:cNvPr id="16" name="Text 14"/>
          <p:cNvSpPr/>
          <p:nvPr/>
        </p:nvSpPr>
        <p:spPr>
          <a:xfrm>
            <a:off x="1115568" y="4581144"/>
            <a:ext cx="1371600" cy="320040"/>
          </a:xfrm>
          <a:prstGeom prst="rect">
            <a:avLst/>
          </a:prstGeom>
          <a:noFill/>
          <a:ln/>
        </p:spPr>
        <p:txBody>
          <a:bodyPr wrap="square" lIns="0" tIns="0" rIns="0" bIns="0" rtlCol="0" anchor="t"/>
          <a:lstStyle/>
          <a:p>
            <a:pPr algn="l" indent="0" marL="0">
              <a:buNone/>
            </a:pPr>
            <a:r>
              <a:rPr lang="en-US" sz="1200" b="1" dirty="0">
                <a:solidFill>
                  <a:srgbClr val="1D2733"/>
                </a:solidFill>
                <a:latin typeface="Segoe UI" pitchFamily="34" charset="0"/>
                <a:ea typeface="Segoe UI" pitchFamily="34" charset="-122"/>
                <a:cs typeface="Segoe UI" pitchFamily="34" charset="-120"/>
              </a:rPr>
              <a:t>KnowAda</a:t>
            </a:r>
            <a:endParaRPr lang="en-US" sz="1200" dirty="0"/>
          </a:p>
        </p:txBody>
      </p:sp>
      <p:sp>
        <p:nvSpPr>
          <p:cNvPr id="17" name="Text 15"/>
          <p:cNvSpPr/>
          <p:nvPr/>
        </p:nvSpPr>
        <p:spPr>
          <a:xfrm>
            <a:off x="2487168" y="4581144"/>
            <a:ext cx="1051560" cy="320040"/>
          </a:xfrm>
          <a:prstGeom prst="rect">
            <a:avLst/>
          </a:prstGeom>
          <a:noFill/>
          <a:ln/>
        </p:spPr>
        <p:txBody>
          <a:bodyPr wrap="square" lIns="0" tIns="0" rIns="0" bIns="0" rtlCol="0" anchor="t"/>
          <a:lstStyle/>
          <a:p>
            <a:pPr algn="l" indent="0" marL="0">
              <a:buNone/>
            </a:pPr>
            <a:r>
              <a:rPr lang="en-US" sz="1100" dirty="0">
                <a:solidFill>
                  <a:srgbClr val="8B929B"/>
                </a:solidFill>
                <a:latin typeface="Segoe UI" pitchFamily="34" charset="0"/>
                <a:ea typeface="Segoe UI" pitchFamily="34" charset="-122"/>
                <a:cs typeface="Segoe UI" pitchFamily="34" charset="-120"/>
              </a:rPr>
              <a:t>NAACL 2025</a:t>
            </a:r>
            <a:endParaRPr lang="en-US" sz="1100" dirty="0"/>
          </a:p>
        </p:txBody>
      </p:sp>
      <p:sp>
        <p:nvSpPr>
          <p:cNvPr id="18" name="Text 16"/>
          <p:cNvSpPr/>
          <p:nvPr/>
        </p:nvSpPr>
        <p:spPr>
          <a:xfrm>
            <a:off x="3538728" y="4581144"/>
            <a:ext cx="2148840" cy="320040"/>
          </a:xfrm>
          <a:prstGeom prst="rect">
            <a:avLst/>
          </a:prstGeom>
          <a:noFill/>
          <a:ln/>
        </p:spPr>
        <p:txBody>
          <a:bodyPr wrap="square" lIns="0" tIns="0" rIns="0" bIns="0" rtlCol="0" anchor="t"/>
          <a:lstStyle/>
          <a:p>
            <a:pPr algn="l" indent="0" marL="0">
              <a:lnSpc>
                <a:spcPct val="115000"/>
              </a:lnSpc>
              <a:buNone/>
            </a:pPr>
            <a:r>
              <a:rPr lang="en-US" sz="1100" dirty="0">
                <a:solidFill>
                  <a:srgbClr val="454C55"/>
                </a:solidFill>
                <a:latin typeface="Segoe UI" pitchFamily="34" charset="0"/>
                <a:ea typeface="Segoe UI" pitchFamily="34" charset="-122"/>
                <a:cs typeface="Segoe UI" pitchFamily="34" charset="-120"/>
              </a:rPr>
              <a:t>viết lại chỗ không chắc thành mô tả chung</a:t>
            </a:r>
            <a:endParaRPr lang="en-US" sz="1100" dirty="0"/>
          </a:p>
        </p:txBody>
      </p:sp>
      <p:sp>
        <p:nvSpPr>
          <p:cNvPr id="19" name="Shape 17"/>
          <p:cNvSpPr/>
          <p:nvPr/>
        </p:nvSpPr>
        <p:spPr>
          <a:xfrm>
            <a:off x="6263640" y="2103120"/>
            <a:ext cx="5074920" cy="3017520"/>
          </a:xfrm>
          <a:prstGeom prst="roundRect">
            <a:avLst>
              <a:gd name="adj" fmla="val 3030"/>
            </a:avLst>
          </a:prstGeom>
          <a:solidFill>
            <a:srgbClr val="F7EBE3"/>
          </a:solidFill>
          <a:ln/>
        </p:spPr>
      </p:sp>
      <p:sp>
        <p:nvSpPr>
          <p:cNvPr id="20" name="Text 18"/>
          <p:cNvSpPr/>
          <p:nvPr/>
        </p:nvSpPr>
        <p:spPr>
          <a:xfrm>
            <a:off x="6537960" y="2286000"/>
            <a:ext cx="4526280" cy="320040"/>
          </a:xfrm>
          <a:prstGeom prst="rect">
            <a:avLst/>
          </a:prstGeom>
          <a:noFill/>
          <a:ln/>
        </p:spPr>
        <p:txBody>
          <a:bodyPr wrap="square" lIns="0" tIns="0" rIns="0" bIns="0" rtlCol="0" anchor="t"/>
          <a:lstStyle/>
          <a:p>
            <a:pPr algn="l" indent="0" marL="0">
              <a:buNone/>
            </a:pPr>
            <a:r>
              <a:rPr lang="en-US" sz="1500" b="1" dirty="0">
                <a:solidFill>
                  <a:srgbClr val="BE5A2E"/>
                </a:solidFill>
                <a:latin typeface="Cambria" pitchFamily="34" charset="0"/>
                <a:ea typeface="Cambria" pitchFamily="34" charset="-122"/>
                <a:cs typeface="Cambria" pitchFamily="34" charset="-120"/>
              </a:rPr>
              <a:t>Điểm mới của luận văn</a:t>
            </a:r>
            <a:endParaRPr lang="en-US" sz="1500" dirty="0"/>
          </a:p>
        </p:txBody>
      </p:sp>
      <p:sp>
        <p:nvSpPr>
          <p:cNvPr id="21" name="Shape 19"/>
          <p:cNvSpPr/>
          <p:nvPr/>
        </p:nvSpPr>
        <p:spPr>
          <a:xfrm>
            <a:off x="6537960" y="2743200"/>
            <a:ext cx="310896" cy="310896"/>
          </a:xfrm>
          <a:prstGeom prst="ellipse">
            <a:avLst/>
          </a:prstGeom>
          <a:solidFill>
            <a:srgbClr val="BE5A2E"/>
          </a:solidFill>
          <a:ln/>
        </p:spPr>
      </p:sp>
      <p:sp>
        <p:nvSpPr>
          <p:cNvPr id="22" name="Text 20"/>
          <p:cNvSpPr/>
          <p:nvPr/>
        </p:nvSpPr>
        <p:spPr>
          <a:xfrm>
            <a:off x="6537960" y="2743200"/>
            <a:ext cx="310896" cy="310896"/>
          </a:xfrm>
          <a:prstGeom prst="rect">
            <a:avLst/>
          </a:prstGeom>
          <a:noFill/>
          <a:ln/>
        </p:spPr>
        <p:txBody>
          <a:bodyPr wrap="square" lIns="0" tIns="0" rIns="0" bIns="0" rtlCol="0" anchor="ctr"/>
          <a:lstStyle/>
          <a:p>
            <a:pPr algn="ctr" indent="0" marL="0">
              <a:buNone/>
            </a:pPr>
            <a:r>
              <a:rPr lang="en-US" sz="1156" b="1" dirty="0">
                <a:solidFill>
                  <a:srgbClr val="FFFFFF"/>
                </a:solidFill>
                <a:latin typeface="Cambria" pitchFamily="34" charset="0"/>
                <a:ea typeface="Cambria" pitchFamily="34" charset="-122"/>
                <a:cs typeface="Cambria" pitchFamily="34" charset="-120"/>
              </a:rPr>
              <a:t>1</a:t>
            </a:r>
            <a:endParaRPr lang="en-US" sz="1156" dirty="0"/>
          </a:p>
        </p:txBody>
      </p:sp>
      <p:sp>
        <p:nvSpPr>
          <p:cNvPr id="23" name="Text 21"/>
          <p:cNvSpPr/>
          <p:nvPr/>
        </p:nvSpPr>
        <p:spPr>
          <a:xfrm>
            <a:off x="6967728" y="2724912"/>
            <a:ext cx="4114800" cy="1051560"/>
          </a:xfrm>
          <a:prstGeom prst="rect">
            <a:avLst/>
          </a:prstGeom>
          <a:noFill/>
          <a:ln/>
        </p:spPr>
        <p:txBody>
          <a:bodyPr wrap="square" lIns="0" tIns="0" rIns="0" bIns="0" rtlCol="0" anchor="t"/>
          <a:lstStyle/>
          <a:p>
            <a:pPr algn="l" indent="0" marL="0">
              <a:lnSpc>
                <a:spcPct val="128000"/>
              </a:lnSpc>
              <a:buNone/>
            </a:pPr>
            <a:r>
              <a:rPr lang="en-US" sz="1200" b="1" dirty="0">
                <a:solidFill>
                  <a:srgbClr val="1D2733"/>
                </a:solidFill>
                <a:latin typeface="Segoe UI" pitchFamily="34" charset="0"/>
                <a:ea typeface="Segoe UI" pitchFamily="34" charset="-122"/>
                <a:cs typeface="Segoe UI" pitchFamily="34" charset="-120"/>
              </a:rPr>
              <a:t>Bộ lọc dựa vào một nguồn bên ngoài
</a:t>
            </a:r>
            <a:pPr algn="l" indent="0" marL="0">
              <a:lnSpc>
                <a:spcPct val="128000"/>
              </a:lnSpc>
              <a:buNone/>
            </a:pPr>
            <a:r>
              <a:rPr lang="en-US" sz="1200" dirty="0">
                <a:solidFill>
                  <a:srgbClr val="454C55"/>
                </a:solidFill>
                <a:latin typeface="Segoe UI" pitchFamily="34" charset="0"/>
                <a:ea typeface="Segoe UI" pitchFamily="34" charset="-122"/>
                <a:cs typeface="Segoe UI" pitchFamily="34" charset="-120"/>
              </a:rPr>
              <a:t>KnowAda để mô hình tự hỏi rồi tự chấm mình. Ở đây đối chiếu với danh sách nút thật, không phụ thuộc mô hình có tự biết mình sai hay không.</a:t>
            </a:r>
            <a:endParaRPr lang="en-US" sz="1200" dirty="0"/>
          </a:p>
        </p:txBody>
      </p:sp>
      <p:sp>
        <p:nvSpPr>
          <p:cNvPr id="24" name="Shape 22"/>
          <p:cNvSpPr/>
          <p:nvPr/>
        </p:nvSpPr>
        <p:spPr>
          <a:xfrm>
            <a:off x="6537960" y="3886200"/>
            <a:ext cx="310896" cy="310896"/>
          </a:xfrm>
          <a:prstGeom prst="ellipse">
            <a:avLst/>
          </a:prstGeom>
          <a:solidFill>
            <a:srgbClr val="BE5A2E"/>
          </a:solidFill>
          <a:ln/>
        </p:spPr>
      </p:sp>
      <p:sp>
        <p:nvSpPr>
          <p:cNvPr id="25" name="Text 23"/>
          <p:cNvSpPr/>
          <p:nvPr/>
        </p:nvSpPr>
        <p:spPr>
          <a:xfrm>
            <a:off x="6537960" y="3886200"/>
            <a:ext cx="310896" cy="310896"/>
          </a:xfrm>
          <a:prstGeom prst="rect">
            <a:avLst/>
          </a:prstGeom>
          <a:noFill/>
          <a:ln/>
        </p:spPr>
        <p:txBody>
          <a:bodyPr wrap="square" lIns="0" tIns="0" rIns="0" bIns="0" rtlCol="0" anchor="ctr"/>
          <a:lstStyle/>
          <a:p>
            <a:pPr algn="ctr" indent="0" marL="0">
              <a:buNone/>
            </a:pPr>
            <a:r>
              <a:rPr lang="en-US" sz="1156" b="1" dirty="0">
                <a:solidFill>
                  <a:srgbClr val="FFFFFF"/>
                </a:solidFill>
                <a:latin typeface="Cambria" pitchFamily="34" charset="0"/>
                <a:ea typeface="Cambria" pitchFamily="34" charset="-122"/>
                <a:cs typeface="Cambria" pitchFamily="34" charset="-120"/>
              </a:rPr>
              <a:t>2</a:t>
            </a:r>
            <a:endParaRPr lang="en-US" sz="1156" dirty="0"/>
          </a:p>
        </p:txBody>
      </p:sp>
      <p:sp>
        <p:nvSpPr>
          <p:cNvPr id="26" name="Text 24"/>
          <p:cNvSpPr/>
          <p:nvPr/>
        </p:nvSpPr>
        <p:spPr>
          <a:xfrm>
            <a:off x="6967728" y="3867912"/>
            <a:ext cx="4114800" cy="1097280"/>
          </a:xfrm>
          <a:prstGeom prst="rect">
            <a:avLst/>
          </a:prstGeom>
          <a:noFill/>
          <a:ln/>
        </p:spPr>
        <p:txBody>
          <a:bodyPr wrap="square" lIns="0" tIns="0" rIns="0" bIns="0" rtlCol="0" anchor="t"/>
          <a:lstStyle/>
          <a:p>
            <a:pPr algn="l" indent="0" marL="0">
              <a:lnSpc>
                <a:spcPct val="128000"/>
              </a:lnSpc>
              <a:buNone/>
            </a:pPr>
            <a:r>
              <a:rPr lang="en-US" sz="1200" b="1" dirty="0">
                <a:solidFill>
                  <a:srgbClr val="1D2733"/>
                </a:solidFill>
                <a:latin typeface="Segoe UI" pitchFamily="34" charset="0"/>
                <a:ea typeface="Segoe UI" pitchFamily="34" charset="-122"/>
                <a:cs typeface="Segoe UI" pitchFamily="34" charset="-120"/>
              </a:rPr>
              <a:t>Một câu hỏi chưa ai đặt
</a:t>
            </a:r>
            <a:pPr algn="l" indent="0" marL="0">
              <a:lnSpc>
                <a:spcPct val="128000"/>
              </a:lnSpc>
              <a:buNone/>
            </a:pPr>
            <a:r>
              <a:rPr lang="en-US" sz="1200" dirty="0">
                <a:solidFill>
                  <a:srgbClr val="454C55"/>
                </a:solidFill>
                <a:latin typeface="Segoe UI" pitchFamily="34" charset="0"/>
                <a:ea typeface="Segoe UI" pitchFamily="34" charset="-122"/>
                <a:cs typeface="Segoe UI" pitchFamily="34" charset="-120"/>
              </a:rPr>
              <a:t>Thói quen đó có ngấm vào mô hình nhỏ không, khi lúc dùng thật đã tắt hẳn bộ kiểm tra? Có thể trả lời là không. Chính vì thế nó mới là câu hỏi nghiên cứu.</a:t>
            </a:r>
            <a:endParaRPr lang="en-US" sz="1200" dirty="0"/>
          </a:p>
        </p:txBody>
      </p:sp>
      <p:sp>
        <p:nvSpPr>
          <p:cNvPr id="27" name="Shape 25"/>
          <p:cNvSpPr/>
          <p:nvPr/>
        </p:nvSpPr>
        <p:spPr>
          <a:xfrm>
            <a:off x="841248" y="5394960"/>
            <a:ext cx="10506456" cy="960120"/>
          </a:xfrm>
          <a:prstGeom prst="roundRect">
            <a:avLst>
              <a:gd name="adj" fmla="val 9524"/>
            </a:avLst>
          </a:prstGeom>
          <a:solidFill>
            <a:srgbClr val="17233B"/>
          </a:solidFill>
          <a:ln/>
        </p:spPr>
      </p:sp>
      <p:sp>
        <p:nvSpPr>
          <p:cNvPr id="28" name="Text 26"/>
          <p:cNvSpPr/>
          <p:nvPr/>
        </p:nvSpPr>
        <p:spPr>
          <a:xfrm>
            <a:off x="1115568" y="5394960"/>
            <a:ext cx="9957816" cy="960120"/>
          </a:xfrm>
          <a:prstGeom prst="rect">
            <a:avLst/>
          </a:prstGeom>
          <a:noFill/>
          <a:ln/>
        </p:spPr>
        <p:txBody>
          <a:bodyPr wrap="square" lIns="0" tIns="0" rIns="0" bIns="0" rtlCol="0" anchor="ctr"/>
          <a:lstStyle/>
          <a:p>
            <a:pPr algn="l" indent="0" marL="0">
              <a:lnSpc>
                <a:spcPct val="128000"/>
              </a:lnSpc>
              <a:buNone/>
            </a:pPr>
            <a:r>
              <a:rPr lang="en-US" sz="1350" b="1" dirty="0">
                <a:solidFill>
                  <a:srgbClr val="E4A986"/>
                </a:solidFill>
                <a:latin typeface="Segoe UI" pitchFamily="34" charset="0"/>
                <a:ea typeface="Segoe UI" pitchFamily="34" charset="-122"/>
                <a:cs typeface="Segoe UI" pitchFamily="34" charset="-120"/>
              </a:rPr>
              <a:t>Tóm lại:  </a:t>
            </a:r>
            <a:pPr algn="l" indent="0" marL="0">
              <a:lnSpc>
                <a:spcPct val="128000"/>
              </a:lnSpc>
              <a:buNone/>
            </a:pPr>
            <a:r>
              <a:rPr lang="en-US" sz="1350" dirty="0">
                <a:solidFill>
                  <a:srgbClr val="FFFFFF"/>
                </a:solidFill>
                <a:latin typeface="Segoe UI" pitchFamily="34" charset="0"/>
                <a:ea typeface="Segoe UI" pitchFamily="34" charset="-122"/>
                <a:cs typeface="Segoe UI" pitchFamily="34" charset="-120"/>
              </a:rPr>
              <a:t>công thức sinh, lọc, huấn luyện lại thì đã có. Cái chưa ai làm là hỏi xem thói quen né bịa có sống sót được khi nén xuống một mô hình nhỏ, lúc không còn gì để kiểm tra nữa hay không.</a:t>
            </a:r>
            <a:endParaRPr lang="en-US" sz="1350" dirty="0"/>
          </a:p>
        </p:txBody>
      </p:sp>
      <p:sp>
        <p:nvSpPr>
          <p:cNvPr id="30" name="Text 27"/>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05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MÔ HÌNH ĐƯỢC HUẤN LUYỆN RA SAO</a:t>
            </a:r>
            <a:endParaRPr lang="en-US" sz="1250" dirty="0"/>
          </a:p>
        </p:txBody>
      </p:sp>
      <p:sp>
        <p:nvSpPr>
          <p:cNvPr id="3" name="Text 1"/>
          <p:cNvSpPr/>
          <p:nvPr/>
        </p:nvSpPr>
        <p:spPr>
          <a:xfrm>
            <a:off x="841248" y="896112"/>
            <a:ext cx="10506456" cy="914400"/>
          </a:xfrm>
          <a:prstGeom prst="rect">
            <a:avLst/>
          </a:prstGeom>
          <a:noFill/>
          <a:ln/>
        </p:spPr>
        <p:txBody>
          <a:bodyPr wrap="square" lIns="0" tIns="0" rIns="0" bIns="0" rtlCol="0" anchor="t"/>
          <a:lstStyle/>
          <a:p>
            <a:pPr algn="l" indent="0" marL="0">
              <a:lnSpc>
                <a:spcPct val="105000"/>
              </a:lnSpc>
              <a:buNone/>
            </a:pPr>
            <a:r>
              <a:rPr lang="en-US" sz="2700" b="1" dirty="0">
                <a:solidFill>
                  <a:srgbClr val="1D2733"/>
                </a:solidFill>
                <a:latin typeface="Cambria" pitchFamily="34" charset="0"/>
                <a:ea typeface="Cambria" pitchFamily="34" charset="-122"/>
                <a:cs typeface="Cambria" pitchFamily="34" charset="-120"/>
              </a:rPr>
              <a:t>Chỉ dạy lại một phần nhỏ, giữ nguyên phần còn lại</a:t>
            </a:r>
            <a:endParaRPr lang="en-US" sz="2700" dirty="0"/>
          </a:p>
        </p:txBody>
      </p:sp>
      <p:sp>
        <p:nvSpPr>
          <p:cNvPr id="4" name="Text 2"/>
          <p:cNvSpPr/>
          <p:nvPr/>
        </p:nvSpPr>
        <p:spPr>
          <a:xfrm>
            <a:off x="841248" y="1874520"/>
            <a:ext cx="10332720" cy="594360"/>
          </a:xfrm>
          <a:prstGeom prst="rect">
            <a:avLst/>
          </a:prstGeom>
          <a:noFill/>
          <a:ln/>
        </p:spPr>
        <p:txBody>
          <a:bodyPr wrap="square" lIns="0" tIns="0" rIns="0" bIns="0" rtlCol="0" anchor="t"/>
          <a:lstStyle/>
          <a:p>
            <a:pPr algn="l" indent="0" marL="0">
              <a:lnSpc>
                <a:spcPct val="128000"/>
              </a:lnSpc>
              <a:buNone/>
            </a:pPr>
            <a:r>
              <a:rPr lang="en-US" sz="1500" dirty="0">
                <a:solidFill>
                  <a:srgbClr val="454C55"/>
                </a:solidFill>
                <a:latin typeface="Segoe UI" pitchFamily="34" charset="0"/>
                <a:ea typeface="Segoe UI" pitchFamily="34" charset="-122"/>
                <a:cs typeface="Segoe UI" pitchFamily="34" charset="-120"/>
              </a:rPr>
              <a:t>Chỉ gắn thêm và dạy một phần nhỏ, phần còn lại đóng băng. Vừa một GPU Colab.</a:t>
            </a:r>
            <a:endParaRPr lang="en-US" sz="1500" dirty="0"/>
          </a:p>
        </p:txBody>
      </p:sp>
      <p:sp>
        <p:nvSpPr>
          <p:cNvPr id="5" name="Shape 3"/>
          <p:cNvSpPr/>
          <p:nvPr/>
        </p:nvSpPr>
        <p:spPr>
          <a:xfrm>
            <a:off x="841248" y="2743200"/>
            <a:ext cx="4846320" cy="2880360"/>
          </a:xfrm>
          <a:prstGeom prst="roundRect">
            <a:avLst>
              <a:gd name="adj" fmla="val 3175"/>
            </a:avLst>
          </a:prstGeom>
          <a:solidFill>
            <a:srgbClr val="F3F5F7"/>
          </a:solidFill>
          <a:ln w="12700">
            <a:solidFill>
              <a:srgbClr val="DBE0E6"/>
            </a:solidFill>
            <a:prstDash val="solid"/>
          </a:ln>
        </p:spPr>
      </p:sp>
      <p:sp>
        <p:nvSpPr>
          <p:cNvPr id="6" name="Text 4"/>
          <p:cNvSpPr/>
          <p:nvPr/>
        </p:nvSpPr>
        <p:spPr>
          <a:xfrm>
            <a:off x="1115568" y="2926080"/>
            <a:ext cx="4297680" cy="365760"/>
          </a:xfrm>
          <a:prstGeom prst="rect">
            <a:avLst/>
          </a:prstGeom>
          <a:noFill/>
          <a:ln/>
        </p:spPr>
        <p:txBody>
          <a:bodyPr wrap="square" lIns="0" tIns="0" rIns="0" bIns="0" rtlCol="0" anchor="t"/>
          <a:lstStyle/>
          <a:p>
            <a:pPr algn="l" indent="0" marL="0">
              <a:buNone/>
            </a:pPr>
            <a:r>
              <a:rPr lang="en-US" sz="1600" b="1" dirty="0">
                <a:solidFill>
                  <a:srgbClr val="52657A"/>
                </a:solidFill>
                <a:latin typeface="Cambria" pitchFamily="34" charset="0"/>
                <a:ea typeface="Cambria" pitchFamily="34" charset="-122"/>
                <a:cs typeface="Cambria" pitchFamily="34" charset="-120"/>
              </a:rPr>
              <a:t>Phần “nhìn”</a:t>
            </a:r>
            <a:endParaRPr lang="en-US" sz="1600" dirty="0"/>
          </a:p>
        </p:txBody>
      </p:sp>
      <p:sp>
        <p:nvSpPr>
          <p:cNvPr id="7" name="Shape 5"/>
          <p:cNvSpPr/>
          <p:nvPr/>
        </p:nvSpPr>
        <p:spPr>
          <a:xfrm>
            <a:off x="1115568" y="3429000"/>
            <a:ext cx="777240" cy="777240"/>
          </a:xfrm>
          <a:prstGeom prst="ellipse">
            <a:avLst/>
          </a:prstGeom>
          <a:solidFill>
            <a:srgbClr val="DCE1E7"/>
          </a:solidFill>
          <a:ln/>
        </p:spPr>
      </p:sp>
      <p:sp>
        <p:nvSpPr>
          <p:cNvPr id="8" name="Text 6"/>
          <p:cNvSpPr/>
          <p:nvPr/>
        </p:nvSpPr>
        <p:spPr>
          <a:xfrm>
            <a:off x="2121408" y="3429000"/>
            <a:ext cx="3246120" cy="1051560"/>
          </a:xfrm>
          <a:prstGeom prst="rect">
            <a:avLst/>
          </a:prstGeom>
          <a:noFill/>
          <a:ln/>
        </p:spPr>
        <p:txBody>
          <a:bodyPr wrap="square" lIns="0" tIns="0" rIns="0" bIns="0" rtlCol="0" anchor="t"/>
          <a:lstStyle/>
          <a:p>
            <a:pPr algn="l" indent="0" marL="0">
              <a:lnSpc>
                <a:spcPct val="128000"/>
              </a:lnSpc>
              <a:buNone/>
            </a:pPr>
            <a:r>
              <a:rPr lang="en-US" sz="1250" dirty="0">
                <a:solidFill>
                  <a:srgbClr val="454C55"/>
                </a:solidFill>
                <a:latin typeface="Segoe UI" pitchFamily="34" charset="0"/>
                <a:ea typeface="Segoe UI" pitchFamily="34" charset="-122"/>
                <a:cs typeface="Segoe UI" pitchFamily="34" charset="-120"/>
              </a:rPr>
              <a:t>Giữ nguyên hoàn toàn. Việc cần dạy là thói quen nói gì khi không chắc, không phải nhìn thấy gì.</a:t>
            </a:r>
            <a:endParaRPr lang="en-US" sz="1250" dirty="0"/>
          </a:p>
        </p:txBody>
      </p:sp>
      <p:sp>
        <p:nvSpPr>
          <p:cNvPr id="9" name="Shape 7"/>
          <p:cNvSpPr/>
          <p:nvPr/>
        </p:nvSpPr>
        <p:spPr>
          <a:xfrm>
            <a:off x="5943600" y="2743200"/>
            <a:ext cx="5394960" cy="2880360"/>
          </a:xfrm>
          <a:prstGeom prst="roundRect">
            <a:avLst>
              <a:gd name="adj" fmla="val 3175"/>
            </a:avLst>
          </a:prstGeom>
          <a:solidFill>
            <a:srgbClr val="F7EBE3"/>
          </a:solidFill>
          <a:ln/>
        </p:spPr>
      </p:sp>
      <p:sp>
        <p:nvSpPr>
          <p:cNvPr id="10" name="Text 8"/>
          <p:cNvSpPr/>
          <p:nvPr/>
        </p:nvSpPr>
        <p:spPr>
          <a:xfrm>
            <a:off x="6217920" y="2926080"/>
            <a:ext cx="4846320" cy="365760"/>
          </a:xfrm>
          <a:prstGeom prst="rect">
            <a:avLst/>
          </a:prstGeom>
          <a:noFill/>
          <a:ln/>
        </p:spPr>
        <p:txBody>
          <a:bodyPr wrap="square" lIns="0" tIns="0" rIns="0" bIns="0" rtlCol="0" anchor="t"/>
          <a:lstStyle/>
          <a:p>
            <a:pPr algn="l" indent="0" marL="0">
              <a:buNone/>
            </a:pPr>
            <a:r>
              <a:rPr lang="en-US" sz="1600" b="1" dirty="0">
                <a:solidFill>
                  <a:srgbClr val="BE5A2E"/>
                </a:solidFill>
                <a:latin typeface="Cambria" pitchFamily="34" charset="0"/>
                <a:ea typeface="Cambria" pitchFamily="34" charset="-122"/>
                <a:cs typeface="Cambria" pitchFamily="34" charset="-120"/>
              </a:rPr>
              <a:t>Phần “nói”</a:t>
            </a:r>
            <a:endParaRPr lang="en-US" sz="1600" dirty="0"/>
          </a:p>
        </p:txBody>
      </p:sp>
      <p:sp>
        <p:nvSpPr>
          <p:cNvPr id="11" name="Shape 9"/>
          <p:cNvSpPr/>
          <p:nvPr/>
        </p:nvSpPr>
        <p:spPr>
          <a:xfrm>
            <a:off x="6217920" y="3429000"/>
            <a:ext cx="777240" cy="777240"/>
          </a:xfrm>
          <a:prstGeom prst="ellipse">
            <a:avLst/>
          </a:prstGeom>
          <a:solidFill>
            <a:srgbClr val="BE5A2E"/>
          </a:solidFill>
          <a:ln/>
        </p:spPr>
      </p:sp>
      <p:sp>
        <p:nvSpPr>
          <p:cNvPr id="12" name="Text 10"/>
          <p:cNvSpPr/>
          <p:nvPr/>
        </p:nvSpPr>
        <p:spPr>
          <a:xfrm>
            <a:off x="6217920" y="3429000"/>
            <a:ext cx="777240" cy="777240"/>
          </a:xfrm>
          <a:prstGeom prst="rect">
            <a:avLst/>
          </a:prstGeom>
          <a:noFill/>
          <a:ln/>
        </p:spPr>
        <p:txBody>
          <a:bodyPr wrap="square" lIns="0" tIns="0" rIns="0" bIns="0" rtlCol="0" anchor="ctr"/>
          <a:lstStyle/>
          <a:p>
            <a:pPr algn="ctr" indent="0" marL="0">
              <a:buNone/>
            </a:pPr>
            <a:r>
              <a:rPr lang="en-US" sz="2890" b="1" dirty="0">
                <a:solidFill>
                  <a:srgbClr val="FFFFFF"/>
                </a:solidFill>
                <a:latin typeface="Cambria" pitchFamily="34" charset="0"/>
                <a:ea typeface="Cambria" pitchFamily="34" charset="-122"/>
                <a:cs typeface="Cambria" pitchFamily="34" charset="-120"/>
              </a:rPr>
              <a:t>+</a:t>
            </a:r>
            <a:endParaRPr lang="en-US" sz="2890" dirty="0"/>
          </a:p>
        </p:txBody>
      </p:sp>
      <p:sp>
        <p:nvSpPr>
          <p:cNvPr id="13" name="Text 11"/>
          <p:cNvSpPr/>
          <p:nvPr/>
        </p:nvSpPr>
        <p:spPr>
          <a:xfrm>
            <a:off x="7223760" y="3429000"/>
            <a:ext cx="4023360" cy="1051560"/>
          </a:xfrm>
          <a:prstGeom prst="rect">
            <a:avLst/>
          </a:prstGeom>
          <a:noFill/>
          <a:ln/>
        </p:spPr>
        <p:txBody>
          <a:bodyPr wrap="square" lIns="0" tIns="0" rIns="0" bIns="0" rtlCol="0" anchor="t"/>
          <a:lstStyle/>
          <a:p>
            <a:pPr algn="l" indent="0" marL="0">
              <a:lnSpc>
                <a:spcPct val="128000"/>
              </a:lnSpc>
              <a:buNone/>
            </a:pPr>
            <a:r>
              <a:rPr lang="en-US" sz="1250" dirty="0">
                <a:solidFill>
                  <a:srgbClr val="1D2733"/>
                </a:solidFill>
                <a:latin typeface="Segoe UI" pitchFamily="34" charset="0"/>
                <a:ea typeface="Segoe UI" pitchFamily="34" charset="-122"/>
                <a:cs typeface="Segoe UI" pitchFamily="34" charset="-120"/>
              </a:rPr>
              <a:t>Gắn một miếng dán nhỏ có thể học được, và chỉ huấn luyện đúng miếng dán đó. Rẻ hơn hàng trăm lần, nhưng đủ để đổi thói quen viết.</a:t>
            </a:r>
            <a:endParaRPr lang="en-US" sz="1250" dirty="0"/>
          </a:p>
        </p:txBody>
      </p:sp>
      <p:sp>
        <p:nvSpPr>
          <p:cNvPr id="14" name="Text 12"/>
          <p:cNvSpPr/>
          <p:nvPr/>
        </p:nvSpPr>
        <p:spPr>
          <a:xfrm>
            <a:off x="841248" y="5806440"/>
            <a:ext cx="10332720" cy="594360"/>
          </a:xfrm>
          <a:prstGeom prst="rect">
            <a:avLst/>
          </a:prstGeom>
          <a:noFill/>
          <a:ln/>
        </p:spPr>
        <p:txBody>
          <a:bodyPr wrap="square" lIns="0" tIns="0" rIns="0" bIns="0" rtlCol="0" anchor="t"/>
          <a:lstStyle/>
          <a:p>
            <a:pPr algn="l" indent="0" marL="0">
              <a:lnSpc>
                <a:spcPct val="125000"/>
              </a:lnSpc>
              <a:buNone/>
            </a:pPr>
            <a:r>
              <a:rPr lang="en-US" sz="1300" dirty="0">
                <a:solidFill>
                  <a:srgbClr val="454C55"/>
                </a:solidFill>
                <a:latin typeface="Segoe UI" pitchFamily="34" charset="0"/>
                <a:ea typeface="Segoe UI" pitchFamily="34" charset="-122"/>
                <a:cs typeface="Segoe UI" pitchFamily="34" charset="-120"/>
              </a:rPr>
              <a:t>Có hai bản được huấn luyện song song: một bản dạy từ dữ liệu đã lọc sạch, một bản đối chứng dạy từ đúng dữ liệu thô. Nhờ vậy mới tách được đâu là công của việc lọc.</a:t>
            </a:r>
            <a:endParaRPr lang="en-US" sz="1300" dirty="0"/>
          </a:p>
        </p:txBody>
      </p:sp>
      <p:sp>
        <p:nvSpPr>
          <p:cNvPr id="16" name="Text 13"/>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06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DỮ LIỆU VÀ CÁCH CHIA</a:t>
            </a:r>
            <a:endParaRPr lang="en-US" sz="1250" dirty="0"/>
          </a:p>
        </p:txBody>
      </p:sp>
      <p:sp>
        <p:nvSpPr>
          <p:cNvPr id="3" name="Text 1"/>
          <p:cNvSpPr/>
          <p:nvPr/>
        </p:nvSpPr>
        <p:spPr>
          <a:xfrm>
            <a:off x="841248" y="896112"/>
            <a:ext cx="10506456" cy="914400"/>
          </a:xfrm>
          <a:prstGeom prst="rect">
            <a:avLst/>
          </a:prstGeom>
          <a:noFill/>
          <a:ln/>
        </p:spPr>
        <p:txBody>
          <a:bodyPr wrap="square" lIns="0" tIns="0" rIns="0" bIns="0" rtlCol="0" anchor="t"/>
          <a:lstStyle/>
          <a:p>
            <a:pPr algn="l" indent="0" marL="0">
              <a:lnSpc>
                <a:spcPct val="105000"/>
              </a:lnSpc>
              <a:buNone/>
            </a:pPr>
            <a:r>
              <a:rPr lang="en-US" sz="2700" b="1" dirty="0">
                <a:solidFill>
                  <a:srgbClr val="1D2733"/>
                </a:solidFill>
                <a:latin typeface="Cambria" pitchFamily="34" charset="0"/>
                <a:ea typeface="Cambria" pitchFamily="34" charset="-122"/>
                <a:cs typeface="Cambria" pitchFamily="34" charset="-120"/>
              </a:rPr>
              <a:t>Khoá danh sách ứng dụng trước, không sửa sau khi đã nhìn kết quả</a:t>
            </a:r>
            <a:endParaRPr lang="en-US" sz="2700" dirty="0"/>
          </a:p>
        </p:txBody>
      </p:sp>
      <p:sp>
        <p:nvSpPr>
          <p:cNvPr id="4" name="Shape 2"/>
          <p:cNvSpPr/>
          <p:nvPr/>
        </p:nvSpPr>
        <p:spPr>
          <a:xfrm>
            <a:off x="777240" y="2039112"/>
            <a:ext cx="1609344" cy="2926080"/>
          </a:xfrm>
          <a:prstGeom prst="roundRect">
            <a:avLst>
              <a:gd name="adj" fmla="val 3977"/>
            </a:avLst>
          </a:prstGeom>
          <a:solidFill>
            <a:srgbClr val="FFFFFF"/>
          </a:solidFill>
          <a:ln w="12700">
            <a:solidFill>
              <a:srgbClr val="DBE0E6"/>
            </a:solidFill>
            <a:prstDash val="solid"/>
          </a:ln>
          <a:effectLst>
            <a:outerShdw sx="100000" sy="100000" kx="0" ky="0" algn="bl" rotWithShape="0" blurRad="88900" dist="38100" dir="5400000">
              <a:srgbClr val="9AA3AD">
                <a:alpha val="28000"/>
              </a:srgbClr>
            </a:outerShdw>
          </a:effectLst>
        </p:spPr>
      </p:sp>
      <p:pic>
        <p:nvPicPr>
          <p:cNvPr id="5" name="Image 0" descr="_img/real_mv_1.png">    </p:cNvPr>
          <p:cNvPicPr>
            <a:picLocks noChangeAspect="1"/>
          </p:cNvPicPr>
          <p:nvPr/>
        </p:nvPicPr>
        <p:blipFill>
          <a:blip r:embed="rId1"/>
          <a:srcRect l="0" r="0" t="0" b="0"/>
          <a:stretch/>
        </p:blipFill>
        <p:spPr>
          <a:xfrm>
            <a:off x="841248" y="2103120"/>
            <a:ext cx="1481328" cy="2487168"/>
          </a:xfrm>
          <a:prstGeom prst="rect">
            <a:avLst/>
          </a:prstGeom>
        </p:spPr>
      </p:pic>
      <p:sp>
        <p:nvSpPr>
          <p:cNvPr id="6" name="Text 3"/>
          <p:cNvSpPr/>
          <p:nvPr/>
        </p:nvSpPr>
        <p:spPr>
          <a:xfrm>
            <a:off x="777240" y="4617720"/>
            <a:ext cx="1609344" cy="310896"/>
          </a:xfrm>
          <a:prstGeom prst="rect">
            <a:avLst/>
          </a:prstGeom>
          <a:noFill/>
          <a:ln/>
        </p:spPr>
        <p:txBody>
          <a:bodyPr wrap="square" lIns="0" tIns="0" rIns="0" bIns="0" rtlCol="0" anchor="ctr"/>
          <a:lstStyle/>
          <a:p>
            <a:pPr algn="ctr" indent="0" marL="0">
              <a:buNone/>
            </a:pPr>
            <a:r>
              <a:rPr lang="en-US" sz="1250" b="1" dirty="0">
                <a:solidFill>
                  <a:srgbClr val="1D2733"/>
                </a:solidFill>
                <a:latin typeface="Segoe UI" pitchFamily="34" charset="0"/>
                <a:ea typeface="Segoe UI" pitchFamily="34" charset="-122"/>
                <a:cs typeface="Segoe UI" pitchFamily="34" charset="-120"/>
              </a:rPr>
              <a:t>Ảnh màn hình thật</a:t>
            </a:r>
            <a:endParaRPr lang="en-US" sz="1250" dirty="0"/>
          </a:p>
        </p:txBody>
      </p:sp>
      <p:sp>
        <p:nvSpPr>
          <p:cNvPr id="7" name="Text 4"/>
          <p:cNvSpPr/>
          <p:nvPr/>
        </p:nvSpPr>
        <p:spPr>
          <a:xfrm>
            <a:off x="777240" y="5010912"/>
            <a:ext cx="1645920" cy="365760"/>
          </a:xfrm>
          <a:prstGeom prst="rect">
            <a:avLst/>
          </a:prstGeom>
          <a:noFill/>
          <a:ln/>
        </p:spPr>
        <p:txBody>
          <a:bodyPr wrap="square" lIns="0" tIns="0" rIns="0" bIns="0" rtlCol="0" anchor="t"/>
          <a:lstStyle/>
          <a:p>
            <a:pPr algn="ctr" indent="0" marL="0">
              <a:buNone/>
            </a:pPr>
            <a:r>
              <a:rPr lang="en-US" sz="1050" dirty="0">
                <a:solidFill>
                  <a:srgbClr val="8B929B"/>
                </a:solidFill>
                <a:latin typeface="Segoe UI" pitchFamily="34" charset="0"/>
                <a:ea typeface="Segoe UI" pitchFamily="34" charset="-122"/>
                <a:cs typeface="Segoe UI" pitchFamily="34" charset="-120"/>
              </a:rPr>
              <a:t>kèm sẵn danh sách nút thật</a:t>
            </a:r>
            <a:endParaRPr lang="en-US" sz="1050" dirty="0"/>
          </a:p>
        </p:txBody>
      </p:sp>
      <p:sp>
        <p:nvSpPr>
          <p:cNvPr id="8" name="Shape 5"/>
          <p:cNvSpPr/>
          <p:nvPr/>
        </p:nvSpPr>
        <p:spPr>
          <a:xfrm>
            <a:off x="3566160" y="2103120"/>
            <a:ext cx="2286000" cy="749808"/>
          </a:xfrm>
          <a:prstGeom prst="roundRect">
            <a:avLst>
              <a:gd name="adj" fmla="val 10976"/>
            </a:avLst>
          </a:prstGeom>
          <a:solidFill>
            <a:srgbClr val="F3F5F7"/>
          </a:solidFill>
          <a:ln w="12700">
            <a:solidFill>
              <a:srgbClr val="DBE0E6"/>
            </a:solidFill>
            <a:prstDash val="solid"/>
          </a:ln>
        </p:spPr>
      </p:sp>
      <p:sp>
        <p:nvSpPr>
          <p:cNvPr id="9" name="Text 6"/>
          <p:cNvSpPr/>
          <p:nvPr/>
        </p:nvSpPr>
        <p:spPr>
          <a:xfrm>
            <a:off x="3566160" y="2194560"/>
            <a:ext cx="2286000" cy="329184"/>
          </a:xfrm>
          <a:prstGeom prst="rect">
            <a:avLst/>
          </a:prstGeom>
          <a:noFill/>
          <a:ln/>
        </p:spPr>
        <p:txBody>
          <a:bodyPr wrap="square" lIns="0" tIns="0" rIns="0" bIns="0" rtlCol="0" anchor="t"/>
          <a:lstStyle/>
          <a:p>
            <a:pPr algn="ctr" indent="0" marL="0">
              <a:buNone/>
            </a:pPr>
            <a:r>
              <a:rPr lang="en-US" sz="1650" b="1" dirty="0">
                <a:solidFill>
                  <a:srgbClr val="1D2733"/>
                </a:solidFill>
                <a:latin typeface="Cambria" pitchFamily="34" charset="0"/>
                <a:ea typeface="Cambria" pitchFamily="34" charset="-122"/>
                <a:cs typeface="Cambria" pitchFamily="34" charset="-120"/>
              </a:rPr>
              <a:t>30 ứng dụng</a:t>
            </a:r>
            <a:endParaRPr lang="en-US" sz="1650" dirty="0"/>
          </a:p>
        </p:txBody>
      </p:sp>
      <p:sp>
        <p:nvSpPr>
          <p:cNvPr id="10" name="Text 7"/>
          <p:cNvSpPr/>
          <p:nvPr/>
        </p:nvSpPr>
        <p:spPr>
          <a:xfrm>
            <a:off x="3566160" y="2523744"/>
            <a:ext cx="2286000" cy="237744"/>
          </a:xfrm>
          <a:prstGeom prst="rect">
            <a:avLst/>
          </a:prstGeom>
          <a:noFill/>
          <a:ln/>
        </p:spPr>
        <p:txBody>
          <a:bodyPr wrap="square" lIns="0" tIns="0" rIns="0" bIns="0" rtlCol="0" anchor="t"/>
          <a:lstStyle/>
          <a:p>
            <a:pPr algn="ctr" indent="0" marL="0">
              <a:buNone/>
            </a:pPr>
            <a:r>
              <a:rPr lang="en-US" sz="1050" dirty="0">
                <a:solidFill>
                  <a:srgbClr val="8B929B"/>
                </a:solidFill>
                <a:latin typeface="Segoe UI" pitchFamily="34" charset="0"/>
                <a:ea typeface="Segoe UI" pitchFamily="34" charset="-122"/>
                <a:cs typeface="Segoe UI" pitchFamily="34" charset="-120"/>
              </a:rPr>
              <a:t>đã qua vòng lọc chất lượng</a:t>
            </a:r>
            <a:endParaRPr lang="en-US" sz="1050" dirty="0"/>
          </a:p>
        </p:txBody>
      </p:sp>
      <p:sp>
        <p:nvSpPr>
          <p:cNvPr id="11" name="Shape 8"/>
          <p:cNvSpPr/>
          <p:nvPr/>
        </p:nvSpPr>
        <p:spPr>
          <a:xfrm>
            <a:off x="4690872" y="2852928"/>
            <a:ext cx="27432" cy="274320"/>
          </a:xfrm>
          <a:prstGeom prst="rect">
            <a:avLst/>
          </a:prstGeom>
          <a:solidFill>
            <a:srgbClr val="52657A"/>
          </a:solidFill>
          <a:ln/>
        </p:spPr>
      </p:sp>
      <p:sp>
        <p:nvSpPr>
          <p:cNvPr id="12" name="Shape 9"/>
          <p:cNvSpPr/>
          <p:nvPr/>
        </p:nvSpPr>
        <p:spPr>
          <a:xfrm>
            <a:off x="3822192" y="3108960"/>
            <a:ext cx="1783080" cy="27432"/>
          </a:xfrm>
          <a:prstGeom prst="rect">
            <a:avLst/>
          </a:prstGeom>
          <a:solidFill>
            <a:srgbClr val="52657A"/>
          </a:solidFill>
          <a:ln/>
        </p:spPr>
      </p:sp>
      <p:sp>
        <p:nvSpPr>
          <p:cNvPr id="13" name="Shape 10"/>
          <p:cNvSpPr/>
          <p:nvPr/>
        </p:nvSpPr>
        <p:spPr>
          <a:xfrm>
            <a:off x="3822192" y="3108960"/>
            <a:ext cx="27432" cy="274320"/>
          </a:xfrm>
          <a:prstGeom prst="rect">
            <a:avLst/>
          </a:prstGeom>
          <a:solidFill>
            <a:srgbClr val="52657A"/>
          </a:solidFill>
          <a:ln/>
        </p:spPr>
      </p:sp>
      <p:sp>
        <p:nvSpPr>
          <p:cNvPr id="14" name="Shape 11"/>
          <p:cNvSpPr/>
          <p:nvPr/>
        </p:nvSpPr>
        <p:spPr>
          <a:xfrm>
            <a:off x="5577840" y="3108960"/>
            <a:ext cx="27432" cy="274320"/>
          </a:xfrm>
          <a:prstGeom prst="rect">
            <a:avLst/>
          </a:prstGeom>
          <a:solidFill>
            <a:srgbClr val="52657A"/>
          </a:solidFill>
          <a:ln/>
        </p:spPr>
      </p:sp>
      <p:sp>
        <p:nvSpPr>
          <p:cNvPr id="15" name="Shape 12"/>
          <p:cNvSpPr/>
          <p:nvPr/>
        </p:nvSpPr>
        <p:spPr>
          <a:xfrm>
            <a:off x="2999232" y="3383280"/>
            <a:ext cx="1645920" cy="914400"/>
          </a:xfrm>
          <a:prstGeom prst="roundRect">
            <a:avLst>
              <a:gd name="adj" fmla="val 9000"/>
            </a:avLst>
          </a:prstGeom>
          <a:solidFill>
            <a:srgbClr val="17233B"/>
          </a:solidFill>
          <a:ln/>
        </p:spPr>
      </p:sp>
      <p:sp>
        <p:nvSpPr>
          <p:cNvPr id="16" name="Text 13"/>
          <p:cNvSpPr/>
          <p:nvPr/>
        </p:nvSpPr>
        <p:spPr>
          <a:xfrm>
            <a:off x="2999232" y="3493008"/>
            <a:ext cx="1645920" cy="420624"/>
          </a:xfrm>
          <a:prstGeom prst="rect">
            <a:avLst/>
          </a:prstGeom>
          <a:noFill/>
          <a:ln/>
        </p:spPr>
        <p:txBody>
          <a:bodyPr wrap="square" lIns="0" tIns="0" rIns="0" bIns="0" rtlCol="0" anchor="t"/>
          <a:lstStyle/>
          <a:p>
            <a:pPr algn="ctr" indent="0" marL="0">
              <a:buNone/>
            </a:pPr>
            <a:r>
              <a:rPr lang="en-US" sz="2400" b="1" dirty="0">
                <a:solidFill>
                  <a:srgbClr val="FFFFFF"/>
                </a:solidFill>
                <a:latin typeface="Cambria" pitchFamily="34" charset="0"/>
                <a:ea typeface="Cambria" pitchFamily="34" charset="-122"/>
                <a:cs typeface="Cambria" pitchFamily="34" charset="-120"/>
              </a:rPr>
              <a:t>18</a:t>
            </a:r>
            <a:endParaRPr lang="en-US" sz="2400" dirty="0"/>
          </a:p>
        </p:txBody>
      </p:sp>
      <p:sp>
        <p:nvSpPr>
          <p:cNvPr id="17" name="Text 14"/>
          <p:cNvSpPr/>
          <p:nvPr/>
        </p:nvSpPr>
        <p:spPr>
          <a:xfrm>
            <a:off x="2999232" y="3913632"/>
            <a:ext cx="1645920" cy="256032"/>
          </a:xfrm>
          <a:prstGeom prst="rect">
            <a:avLst/>
          </a:prstGeom>
          <a:noFill/>
          <a:ln/>
        </p:spPr>
        <p:txBody>
          <a:bodyPr wrap="square" lIns="0" tIns="0" rIns="0" bIns="0" rtlCol="0" anchor="t"/>
          <a:lstStyle/>
          <a:p>
            <a:pPr algn="ctr" indent="0" marL="0">
              <a:buNone/>
            </a:pPr>
            <a:r>
              <a:rPr lang="en-US" sz="1100" dirty="0">
                <a:solidFill>
                  <a:srgbClr val="C9D2DC"/>
                </a:solidFill>
                <a:latin typeface="Segoe UI" pitchFamily="34" charset="0"/>
                <a:ea typeface="Segoe UI" pitchFamily="34" charset="-122"/>
                <a:cs typeface="Segoe UI" pitchFamily="34" charset="-120"/>
              </a:rPr>
              <a:t>để dạy Student</a:t>
            </a:r>
            <a:endParaRPr lang="en-US" sz="1100" dirty="0"/>
          </a:p>
        </p:txBody>
      </p:sp>
      <p:sp>
        <p:nvSpPr>
          <p:cNvPr id="18" name="Shape 15"/>
          <p:cNvSpPr/>
          <p:nvPr/>
        </p:nvSpPr>
        <p:spPr>
          <a:xfrm>
            <a:off x="4782312" y="3383280"/>
            <a:ext cx="1645920" cy="914400"/>
          </a:xfrm>
          <a:prstGeom prst="roundRect">
            <a:avLst>
              <a:gd name="adj" fmla="val 9000"/>
            </a:avLst>
          </a:prstGeom>
          <a:solidFill>
            <a:srgbClr val="BE5A2E"/>
          </a:solidFill>
          <a:ln/>
        </p:spPr>
      </p:sp>
      <p:sp>
        <p:nvSpPr>
          <p:cNvPr id="19" name="Text 16"/>
          <p:cNvSpPr/>
          <p:nvPr/>
        </p:nvSpPr>
        <p:spPr>
          <a:xfrm>
            <a:off x="4782312" y="3493008"/>
            <a:ext cx="1645920" cy="420624"/>
          </a:xfrm>
          <a:prstGeom prst="rect">
            <a:avLst/>
          </a:prstGeom>
          <a:noFill/>
          <a:ln/>
        </p:spPr>
        <p:txBody>
          <a:bodyPr wrap="square" lIns="0" tIns="0" rIns="0" bIns="0" rtlCol="0" anchor="t"/>
          <a:lstStyle/>
          <a:p>
            <a:pPr algn="ctr" indent="0" marL="0">
              <a:buNone/>
            </a:pPr>
            <a:r>
              <a:rPr lang="en-US" sz="2400" b="1" dirty="0">
                <a:solidFill>
                  <a:srgbClr val="FFFFFF"/>
                </a:solidFill>
                <a:latin typeface="Cambria" pitchFamily="34" charset="0"/>
                <a:ea typeface="Cambria" pitchFamily="34" charset="-122"/>
                <a:cs typeface="Cambria" pitchFamily="34" charset="-120"/>
              </a:rPr>
              <a:t>12</a:t>
            </a:r>
            <a:endParaRPr lang="en-US" sz="2400" dirty="0"/>
          </a:p>
        </p:txBody>
      </p:sp>
      <p:sp>
        <p:nvSpPr>
          <p:cNvPr id="20" name="Text 17"/>
          <p:cNvSpPr/>
          <p:nvPr/>
        </p:nvSpPr>
        <p:spPr>
          <a:xfrm>
            <a:off x="4782312" y="3913632"/>
            <a:ext cx="1645920" cy="256032"/>
          </a:xfrm>
          <a:prstGeom prst="rect">
            <a:avLst/>
          </a:prstGeom>
          <a:noFill/>
          <a:ln/>
        </p:spPr>
        <p:txBody>
          <a:bodyPr wrap="square" lIns="0" tIns="0" rIns="0" bIns="0" rtlCol="0" anchor="t"/>
          <a:lstStyle/>
          <a:p>
            <a:pPr algn="ctr" indent="0" marL="0">
              <a:buNone/>
            </a:pPr>
            <a:r>
              <a:rPr lang="en-US" sz="1100" dirty="0">
                <a:solidFill>
                  <a:srgbClr val="F7DECB"/>
                </a:solidFill>
                <a:latin typeface="Segoe UI" pitchFamily="34" charset="0"/>
                <a:ea typeface="Segoe UI" pitchFamily="34" charset="-122"/>
                <a:cs typeface="Segoe UI" pitchFamily="34" charset="-120"/>
              </a:rPr>
              <a:t>chỉ để chấm</a:t>
            </a:r>
            <a:endParaRPr lang="en-US" sz="1100" dirty="0"/>
          </a:p>
        </p:txBody>
      </p:sp>
      <p:sp>
        <p:nvSpPr>
          <p:cNvPr id="21" name="Text 18"/>
          <p:cNvSpPr/>
          <p:nvPr/>
        </p:nvSpPr>
        <p:spPr>
          <a:xfrm>
            <a:off x="2999232" y="4407408"/>
            <a:ext cx="3429000" cy="274320"/>
          </a:xfrm>
          <a:prstGeom prst="rect">
            <a:avLst/>
          </a:prstGeom>
          <a:noFill/>
          <a:ln/>
        </p:spPr>
        <p:txBody>
          <a:bodyPr wrap="square" lIns="0" tIns="0" rIns="0" bIns="0" rtlCol="0" anchor="t"/>
          <a:lstStyle/>
          <a:p>
            <a:pPr algn="ctr" indent="0" marL="0">
              <a:buNone/>
            </a:pPr>
            <a:r>
              <a:rPr lang="en-US" sz="1050" i="1" dirty="0">
                <a:solidFill>
                  <a:srgbClr val="8B929B"/>
                </a:solidFill>
                <a:latin typeface="Segoe UI" pitchFamily="34" charset="0"/>
                <a:ea typeface="Segoe UI" pitchFamily="34" charset="-122"/>
                <a:cs typeface="Segoe UI" pitchFamily="34" charset="-120"/>
              </a:rPr>
              <a:t>Student không bao giờ thấy 12 ứng dụng này lúc học</a:t>
            </a:r>
            <a:endParaRPr lang="en-US" sz="1050" dirty="0"/>
          </a:p>
        </p:txBody>
      </p:sp>
      <p:sp>
        <p:nvSpPr>
          <p:cNvPr id="22" name="Shape 19"/>
          <p:cNvSpPr/>
          <p:nvPr/>
        </p:nvSpPr>
        <p:spPr>
          <a:xfrm>
            <a:off x="6995160" y="2103120"/>
            <a:ext cx="4352544" cy="2194560"/>
          </a:xfrm>
          <a:prstGeom prst="roundRect">
            <a:avLst>
              <a:gd name="adj" fmla="val 4167"/>
            </a:avLst>
          </a:prstGeom>
          <a:solidFill>
            <a:srgbClr val="EAF3EC"/>
          </a:solidFill>
          <a:ln/>
        </p:spPr>
      </p:sp>
      <p:sp>
        <p:nvSpPr>
          <p:cNvPr id="23" name="Text 20"/>
          <p:cNvSpPr/>
          <p:nvPr/>
        </p:nvSpPr>
        <p:spPr>
          <a:xfrm>
            <a:off x="7269480" y="2267712"/>
            <a:ext cx="3840480" cy="274320"/>
          </a:xfrm>
          <a:prstGeom prst="rect">
            <a:avLst/>
          </a:prstGeom>
          <a:noFill/>
          <a:ln/>
        </p:spPr>
        <p:txBody>
          <a:bodyPr wrap="square" lIns="0" tIns="0" rIns="0" bIns="0" rtlCol="0" anchor="t"/>
          <a:lstStyle/>
          <a:p>
            <a:pPr algn="l" indent="0" marL="0">
              <a:buNone/>
            </a:pPr>
            <a:r>
              <a:rPr lang="en-US" sz="1300" b="1" dirty="0">
                <a:solidFill>
                  <a:srgbClr val="1E6B43"/>
                </a:solidFill>
                <a:latin typeface="Segoe UI" pitchFamily="34" charset="0"/>
                <a:ea typeface="Segoe UI" pitchFamily="34" charset="-122"/>
                <a:cs typeface="Segoe UI" pitchFamily="34" charset="-120"/>
              </a:rPr>
              <a:t>✓  Lấy thêm dữ liệu dạy · đã chạy 12/7</a:t>
            </a:r>
            <a:endParaRPr lang="en-US" sz="1300" dirty="0"/>
          </a:p>
        </p:txBody>
      </p:sp>
      <p:sp>
        <p:nvSpPr>
          <p:cNvPr id="24" name="Text 21"/>
          <p:cNvSpPr/>
          <p:nvPr/>
        </p:nvSpPr>
        <p:spPr>
          <a:xfrm>
            <a:off x="7269480" y="2606040"/>
            <a:ext cx="3840480" cy="457200"/>
          </a:xfrm>
          <a:prstGeom prst="rect">
            <a:avLst/>
          </a:prstGeom>
          <a:noFill/>
          <a:ln/>
        </p:spPr>
        <p:txBody>
          <a:bodyPr wrap="square" lIns="0" tIns="0" rIns="0" bIns="0" rtlCol="0" anchor="t"/>
          <a:lstStyle/>
          <a:p>
            <a:pPr algn="l" indent="0" marL="0">
              <a:buNone/>
            </a:pPr>
            <a:r>
              <a:rPr lang="en-US" sz="2700" b="1" dirty="0">
                <a:solidFill>
                  <a:srgbClr val="1D2733"/>
                </a:solidFill>
                <a:latin typeface="Cambria" pitchFamily="34" charset="0"/>
                <a:ea typeface="Cambria" pitchFamily="34" charset="-122"/>
                <a:cs typeface="Cambria" pitchFamily="34" charset="-120"/>
              </a:rPr>
              <a:t>498</a:t>
            </a:r>
            <a:pPr algn="l" indent="0" marL="0">
              <a:buNone/>
            </a:pPr>
            <a:r>
              <a:rPr lang="en-US" sz="1350" dirty="0">
                <a:solidFill>
                  <a:srgbClr val="454C55"/>
                </a:solidFill>
                <a:latin typeface="Segoe UI" pitchFamily="34" charset="0"/>
                <a:ea typeface="Segoe UI" pitchFamily="34" charset="-122"/>
                <a:cs typeface="Segoe UI" pitchFamily="34" charset="-120"/>
              </a:rPr>
              <a:t>  màn hình mới,  </a:t>
            </a:r>
            <a:pPr algn="l" indent="0" marL="0">
              <a:buNone/>
            </a:pPr>
            <a:r>
              <a:rPr lang="en-US" sz="2700" b="1" dirty="0">
                <a:solidFill>
                  <a:srgbClr val="1D2733"/>
                </a:solidFill>
                <a:latin typeface="Cambria" pitchFamily="34" charset="0"/>
                <a:ea typeface="Cambria" pitchFamily="34" charset="-122"/>
                <a:cs typeface="Cambria" pitchFamily="34" charset="-120"/>
              </a:rPr>
              <a:t>220</a:t>
            </a:r>
            <a:pPr algn="l" indent="0" marL="0">
              <a:buNone/>
            </a:pPr>
            <a:r>
              <a:rPr lang="en-US" sz="1350" dirty="0">
                <a:solidFill>
                  <a:srgbClr val="454C55"/>
                </a:solidFill>
                <a:latin typeface="Segoe UI" pitchFamily="34" charset="0"/>
                <a:ea typeface="Segoe UI" pitchFamily="34" charset="-122"/>
                <a:cs typeface="Segoe UI" pitchFamily="34" charset="-120"/>
              </a:rPr>
              <a:t>  ứng dụng mới</a:t>
            </a:r>
            <a:endParaRPr lang="en-US" sz="1400" dirty="0"/>
          </a:p>
        </p:txBody>
      </p:sp>
      <p:sp>
        <p:nvSpPr>
          <p:cNvPr id="25" name="Shape 22"/>
          <p:cNvSpPr/>
          <p:nvPr/>
        </p:nvSpPr>
        <p:spPr>
          <a:xfrm>
            <a:off x="7269480" y="3200400"/>
            <a:ext cx="3803904" cy="896112"/>
          </a:xfrm>
          <a:prstGeom prst="roundRect">
            <a:avLst>
              <a:gd name="adj" fmla="val 7143"/>
            </a:avLst>
          </a:prstGeom>
          <a:solidFill>
            <a:srgbClr val="FFFFFF"/>
          </a:solidFill>
          <a:ln/>
        </p:spPr>
      </p:sp>
      <p:sp>
        <p:nvSpPr>
          <p:cNvPr id="26" name="Text 23"/>
          <p:cNvSpPr/>
          <p:nvPr/>
        </p:nvSpPr>
        <p:spPr>
          <a:xfrm>
            <a:off x="7388352" y="3200400"/>
            <a:ext cx="3566160" cy="896112"/>
          </a:xfrm>
          <a:prstGeom prst="rect">
            <a:avLst/>
          </a:prstGeom>
          <a:noFill/>
          <a:ln/>
        </p:spPr>
        <p:txBody>
          <a:bodyPr wrap="square" lIns="0" tIns="0" rIns="0" bIns="0" rtlCol="0" anchor="ctr"/>
          <a:lstStyle/>
          <a:p>
            <a:pPr algn="l" indent="0" marL="0">
              <a:lnSpc>
                <a:spcPct val="124000"/>
              </a:lnSpc>
              <a:buNone/>
            </a:pPr>
            <a:r>
              <a:rPr lang="en-US" sz="1300" b="1" dirty="0">
                <a:solidFill>
                  <a:srgbClr val="1E6B43"/>
                </a:solidFill>
                <a:latin typeface="Segoe UI" pitchFamily="34" charset="0"/>
                <a:ea typeface="Segoe UI" pitchFamily="34" charset="-122"/>
                <a:cs typeface="Segoe UI" pitchFamily="34" charset="-120"/>
              </a:rPr>
              <a:t>0 ca rò rỉ.  </a:t>
            </a:r>
            <a:pPr algn="l" indent="0" marL="0">
              <a:lnSpc>
                <a:spcPct val="124000"/>
              </a:lnSpc>
              <a:buNone/>
            </a:pPr>
            <a:r>
              <a:rPr lang="en-US" sz="1150" dirty="0">
                <a:solidFill>
                  <a:srgbClr val="454C55"/>
                </a:solidFill>
                <a:latin typeface="Segoe UI" pitchFamily="34" charset="0"/>
                <a:ea typeface="Segoe UI" pitchFamily="34" charset="-122"/>
                <a:cs typeface="Segoe UI" pitchFamily="34" charset="-120"/>
              </a:rPr>
              <a:t>Kiểm bằng cả tên app lẫn perceptual-hash của ảnh.</a:t>
            </a:r>
            <a:endParaRPr lang="en-US" sz="1400" dirty="0"/>
          </a:p>
        </p:txBody>
      </p:sp>
      <p:sp>
        <p:nvSpPr>
          <p:cNvPr id="27" name="Text 24"/>
          <p:cNvSpPr/>
          <p:nvPr/>
        </p:nvSpPr>
        <p:spPr>
          <a:xfrm>
            <a:off x="2999232" y="4800600"/>
            <a:ext cx="8321040" cy="365760"/>
          </a:xfrm>
          <a:prstGeom prst="rect">
            <a:avLst/>
          </a:prstGeom>
          <a:noFill/>
          <a:ln/>
        </p:spPr>
        <p:txBody>
          <a:bodyPr wrap="square" lIns="0" tIns="0" rIns="0" bIns="0" rtlCol="0" anchor="t"/>
          <a:lstStyle/>
          <a:p>
            <a:pPr algn="l" indent="0" marL="0">
              <a:buNone/>
            </a:pPr>
            <a:r>
              <a:rPr lang="en-US" sz="1300" dirty="0">
                <a:solidFill>
                  <a:srgbClr val="454C55"/>
                </a:solidFill>
                <a:latin typeface="Segoe UI" pitchFamily="34" charset="0"/>
                <a:ea typeface="Segoe UI" pitchFamily="34" charset="-122"/>
                <a:cs typeface="Segoe UI" pitchFamily="34" charset="-120"/>
              </a:rPr>
              <a:t>Chia theo APP, không theo màn. Màn cùng app quá giống nhau.</a:t>
            </a:r>
            <a:endParaRPr lang="en-US" sz="1300" dirty="0"/>
          </a:p>
        </p:txBody>
      </p:sp>
      <p:sp>
        <p:nvSpPr>
          <p:cNvPr id="29" name="Text 25"/>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07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7233B"/>
        </a:solidFill>
      </p:bgPr>
    </p:bg>
    <p:spTree>
      <p:nvGrpSpPr>
        <p:cNvPr id="1" name=""/>
        <p:cNvGrpSpPr/>
        <p:nvPr/>
      </p:nvGrpSpPr>
      <p:grpSpPr>
        <a:xfrm>
          <a:off x="0" y="0"/>
          <a:ext cx="0" cy="0"/>
          <a:chOff x="0" y="0"/>
          <a:chExt cx="0" cy="0"/>
        </a:xfrm>
      </p:grpSpPr>
      <p:sp>
        <p:nvSpPr>
          <p:cNvPr id="2" name="Text 0"/>
          <p:cNvSpPr/>
          <p:nvPr/>
        </p:nvSpPr>
        <p:spPr>
          <a:xfrm>
            <a:off x="841248" y="2788920"/>
            <a:ext cx="10506456" cy="320040"/>
          </a:xfrm>
          <a:prstGeom prst="rect">
            <a:avLst/>
          </a:prstGeom>
          <a:noFill/>
          <a:ln/>
        </p:spPr>
        <p:txBody>
          <a:bodyPr wrap="square" lIns="0" tIns="0" rIns="0" bIns="0" rtlCol="0" anchor="t"/>
          <a:lstStyle/>
          <a:p>
            <a:pPr algn="ctr" indent="0" marL="0">
              <a:buNone/>
            </a:pPr>
            <a:r>
              <a:rPr lang="en-US" sz="1300" b="1" spc="300" kern="0" dirty="0">
                <a:solidFill>
                  <a:srgbClr val="E4A986"/>
                </a:solidFill>
                <a:latin typeface="Segoe UI" pitchFamily="34" charset="0"/>
                <a:ea typeface="Segoe UI" pitchFamily="34" charset="-122"/>
                <a:cs typeface="Segoe UI" pitchFamily="34" charset="-120"/>
              </a:rPr>
              <a:t>PHẦN HAI</a:t>
            </a:r>
            <a:endParaRPr lang="en-US" sz="1300" dirty="0"/>
          </a:p>
        </p:txBody>
      </p:sp>
      <p:sp>
        <p:nvSpPr>
          <p:cNvPr id="3" name="Text 1"/>
          <p:cNvSpPr/>
          <p:nvPr/>
        </p:nvSpPr>
        <p:spPr>
          <a:xfrm>
            <a:off x="841248" y="3200400"/>
            <a:ext cx="10506456" cy="1005840"/>
          </a:xfrm>
          <a:prstGeom prst="rect">
            <a:avLst/>
          </a:prstGeom>
          <a:noFill/>
          <a:ln/>
        </p:spPr>
        <p:txBody>
          <a:bodyPr wrap="square" lIns="0" tIns="0" rIns="0" bIns="0" rtlCol="0" anchor="t"/>
          <a:lstStyle/>
          <a:p>
            <a:pPr algn="ctr" indent="0" marL="0">
              <a:lnSpc>
                <a:spcPct val="110000"/>
              </a:lnSpc>
              <a:buNone/>
            </a:pPr>
            <a:r>
              <a:rPr lang="en-US" sz="3200" b="1" dirty="0">
                <a:solidFill>
                  <a:srgbClr val="FFFFFF"/>
                </a:solidFill>
                <a:latin typeface="Cambria" pitchFamily="34" charset="0"/>
                <a:ea typeface="Cambria" pitchFamily="34" charset="-122"/>
                <a:cs typeface="Cambria" pitchFamily="34" charset="-120"/>
              </a:rPr>
              <a:t>Thước đo</a:t>
            </a:r>
            <a:endParaRPr lang="en-US" sz="3200" dirty="0"/>
          </a:p>
        </p:txBody>
      </p:sp>
      <p:sp>
        <p:nvSpPr>
          <p:cNvPr id="4" name="Text 2"/>
          <p:cNvSpPr/>
          <p:nvPr/>
        </p:nvSpPr>
        <p:spPr>
          <a:xfrm>
            <a:off x="1645920" y="4251960"/>
            <a:ext cx="8897112" cy="822960"/>
          </a:xfrm>
          <a:prstGeom prst="rect">
            <a:avLst/>
          </a:prstGeom>
          <a:noFill/>
          <a:ln/>
        </p:spPr>
        <p:txBody>
          <a:bodyPr wrap="square" lIns="0" tIns="0" rIns="0" bIns="0" rtlCol="0" anchor="t"/>
          <a:lstStyle/>
          <a:p>
            <a:pPr algn="ctr" indent="0" marL="0">
              <a:lnSpc>
                <a:spcPct val="130000"/>
              </a:lnSpc>
              <a:buNone/>
            </a:pPr>
            <a:r>
              <a:rPr lang="en-US" sz="1500" i="1" dirty="0">
                <a:solidFill>
                  <a:srgbClr val="C9D2DC"/>
                </a:solidFill>
                <a:latin typeface="Segoe UI" pitchFamily="34" charset="0"/>
                <a:ea typeface="Segoe UI" pitchFamily="34" charset="-122"/>
                <a:cs typeface="Segoe UI" pitchFamily="34" charset="-120"/>
              </a:rPr>
              <a:t>Không có đáp án mẫu để chấm. Vậy làm sao biết Student có thành thật?</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VÌ SAO VIỆC ĐO LẠI KHÓ</a:t>
            </a:r>
            <a:endParaRPr lang="en-US" sz="1250" dirty="0"/>
          </a:p>
        </p:txBody>
      </p:sp>
      <p:sp>
        <p:nvSpPr>
          <p:cNvPr id="3" name="Text 1"/>
          <p:cNvSpPr/>
          <p:nvPr/>
        </p:nvSpPr>
        <p:spPr>
          <a:xfrm>
            <a:off x="841248" y="896112"/>
            <a:ext cx="10506456" cy="914400"/>
          </a:xfrm>
          <a:prstGeom prst="rect">
            <a:avLst/>
          </a:prstGeom>
          <a:noFill/>
          <a:ln/>
        </p:spPr>
        <p:txBody>
          <a:bodyPr wrap="square" lIns="0" tIns="0" rIns="0" bIns="0" rtlCol="0" anchor="t"/>
          <a:lstStyle/>
          <a:p>
            <a:pPr algn="l" indent="0" marL="0">
              <a:lnSpc>
                <a:spcPct val="105000"/>
              </a:lnSpc>
              <a:buNone/>
            </a:pPr>
            <a:r>
              <a:rPr lang="en-US" sz="2700" b="1" dirty="0">
                <a:solidFill>
                  <a:srgbClr val="1D2733"/>
                </a:solidFill>
                <a:latin typeface="Cambria" pitchFamily="34" charset="0"/>
                <a:ea typeface="Cambria" pitchFamily="34" charset="-122"/>
                <a:cs typeface="Cambria" pitchFamily="34" charset="-120"/>
              </a:rPr>
              <a:t>Bộ lọc không được đi chấm chính nó</a:t>
            </a:r>
            <a:endParaRPr lang="en-US" sz="2700" dirty="0"/>
          </a:p>
        </p:txBody>
      </p:sp>
      <p:sp>
        <p:nvSpPr>
          <p:cNvPr id="4" name="Shape 2"/>
          <p:cNvSpPr/>
          <p:nvPr/>
        </p:nvSpPr>
        <p:spPr>
          <a:xfrm>
            <a:off x="841248" y="2057400"/>
            <a:ext cx="5029200" cy="3200400"/>
          </a:xfrm>
          <a:prstGeom prst="roundRect">
            <a:avLst>
              <a:gd name="adj" fmla="val 2857"/>
            </a:avLst>
          </a:prstGeom>
          <a:solidFill>
            <a:srgbClr val="F3F5F7"/>
          </a:solidFill>
          <a:ln/>
        </p:spPr>
      </p:sp>
      <p:sp>
        <p:nvSpPr>
          <p:cNvPr id="5" name="Text 3"/>
          <p:cNvSpPr/>
          <p:nvPr/>
        </p:nvSpPr>
        <p:spPr>
          <a:xfrm>
            <a:off x="1161288" y="2286000"/>
            <a:ext cx="4389120" cy="320040"/>
          </a:xfrm>
          <a:prstGeom prst="rect">
            <a:avLst/>
          </a:prstGeom>
          <a:noFill/>
          <a:ln/>
        </p:spPr>
        <p:txBody>
          <a:bodyPr wrap="square" lIns="0" tIns="0" rIns="0" bIns="0" rtlCol="0" anchor="t"/>
          <a:lstStyle/>
          <a:p>
            <a:pPr algn="l" indent="0" marL="0">
              <a:buNone/>
            </a:pPr>
            <a:r>
              <a:rPr lang="en-US" sz="1400" b="1" dirty="0">
                <a:solidFill>
                  <a:srgbClr val="52657A"/>
                </a:solidFill>
                <a:latin typeface="Segoe UI" pitchFamily="34" charset="0"/>
                <a:ea typeface="Segoe UI" pitchFamily="34" charset="-122"/>
                <a:cs typeface="Segoe UI" pitchFamily="34" charset="-120"/>
              </a:rPr>
              <a:t>Bản đầu của luận văn</a:t>
            </a:r>
            <a:endParaRPr lang="en-US" sz="1400" dirty="0"/>
          </a:p>
        </p:txBody>
      </p:sp>
      <p:sp>
        <p:nvSpPr>
          <p:cNvPr id="6" name="Text 4"/>
          <p:cNvSpPr/>
          <p:nvPr/>
        </p:nvSpPr>
        <p:spPr>
          <a:xfrm>
            <a:off x="1161288" y="2697480"/>
            <a:ext cx="4389120" cy="914400"/>
          </a:xfrm>
          <a:prstGeom prst="rect">
            <a:avLst/>
          </a:prstGeom>
          <a:noFill/>
          <a:ln/>
        </p:spPr>
        <p:txBody>
          <a:bodyPr wrap="square" lIns="0" tIns="0" rIns="0" bIns="0" rtlCol="0" anchor="t"/>
          <a:lstStyle/>
          <a:p>
            <a:pPr algn="l" indent="0" marL="0">
              <a:buNone/>
            </a:pPr>
            <a:r>
              <a:rPr lang="en-US" sz="5400" b="1" dirty="0">
                <a:solidFill>
                  <a:srgbClr val="C0392B"/>
                </a:solidFill>
                <a:latin typeface="Cambria" pitchFamily="34" charset="0"/>
                <a:ea typeface="Cambria" pitchFamily="34" charset="-122"/>
                <a:cs typeface="Cambria" pitchFamily="34" charset="-120"/>
              </a:rPr>
              <a:t>~100%</a:t>
            </a:r>
            <a:endParaRPr lang="en-US" sz="5400" dirty="0"/>
          </a:p>
        </p:txBody>
      </p:sp>
      <p:sp>
        <p:nvSpPr>
          <p:cNvPr id="7" name="Text 5"/>
          <p:cNvSpPr/>
          <p:nvPr/>
        </p:nvSpPr>
        <p:spPr>
          <a:xfrm>
            <a:off x="1161288" y="3611880"/>
            <a:ext cx="4389120" cy="274320"/>
          </a:xfrm>
          <a:prstGeom prst="rect">
            <a:avLst/>
          </a:prstGeom>
          <a:noFill/>
          <a:ln/>
        </p:spPr>
        <p:txBody>
          <a:bodyPr wrap="square" lIns="0" tIns="0" rIns="0" bIns="0" rtlCol="0" anchor="t"/>
          <a:lstStyle/>
          <a:p>
            <a:pPr algn="l" indent="0" marL="0">
              <a:buNone/>
            </a:pPr>
            <a:r>
              <a:rPr lang="en-US" sz="1300" dirty="0">
                <a:solidFill>
                  <a:srgbClr val="8B929B"/>
                </a:solidFill>
                <a:latin typeface="Segoe UI" pitchFamily="34" charset="0"/>
                <a:ea typeface="Segoe UI" pitchFamily="34" charset="-122"/>
                <a:cs typeface="Segoe UI" pitchFamily="34" charset="-120"/>
              </a:rPr>
              <a:t>điểm trung thực</a:t>
            </a:r>
            <a:endParaRPr lang="en-US" sz="1300" dirty="0"/>
          </a:p>
        </p:txBody>
      </p:sp>
      <p:sp>
        <p:nvSpPr>
          <p:cNvPr id="8" name="Shape 6"/>
          <p:cNvSpPr/>
          <p:nvPr/>
        </p:nvSpPr>
        <p:spPr>
          <a:xfrm>
            <a:off x="1161288" y="4023360"/>
            <a:ext cx="4389120" cy="960120"/>
          </a:xfrm>
          <a:prstGeom prst="roundRect">
            <a:avLst>
              <a:gd name="adj" fmla="val 6667"/>
            </a:avLst>
          </a:prstGeom>
          <a:solidFill>
            <a:srgbClr val="FFFFFF"/>
          </a:solidFill>
          <a:ln/>
        </p:spPr>
      </p:sp>
      <p:sp>
        <p:nvSpPr>
          <p:cNvPr id="9" name="Text 7"/>
          <p:cNvSpPr/>
          <p:nvPr/>
        </p:nvSpPr>
        <p:spPr>
          <a:xfrm>
            <a:off x="1298448" y="4023360"/>
            <a:ext cx="4114800" cy="960120"/>
          </a:xfrm>
          <a:prstGeom prst="rect">
            <a:avLst/>
          </a:prstGeom>
          <a:noFill/>
          <a:ln/>
        </p:spPr>
        <p:txBody>
          <a:bodyPr wrap="square" lIns="0" tIns="0" rIns="0" bIns="0" rtlCol="0" anchor="ctr"/>
          <a:lstStyle/>
          <a:p>
            <a:pPr algn="l" indent="0" marL="0">
              <a:lnSpc>
                <a:spcPct val="128000"/>
              </a:lnSpc>
              <a:buNone/>
            </a:pPr>
            <a:r>
              <a:rPr lang="en-US" sz="1250" dirty="0">
                <a:solidFill>
                  <a:srgbClr val="1D2733"/>
                </a:solidFill>
                <a:latin typeface="Segoe UI" pitchFamily="34" charset="0"/>
                <a:ea typeface="Segoe UI" pitchFamily="34" charset="-122"/>
                <a:cs typeface="Segoe UI" pitchFamily="34" charset="-120"/>
              </a:rPr>
              <a:t>Con số này vô nghĩa. Bộ lọc vừa sửa dữ liệu vừa chấm chính dữ liệu đó, nên nó chỉ đang đồng ý với chính mình.</a:t>
            </a:r>
            <a:endParaRPr lang="en-US" sz="1250" dirty="0"/>
          </a:p>
        </p:txBody>
      </p:sp>
      <p:sp>
        <p:nvSpPr>
          <p:cNvPr id="10" name="Shape 8"/>
          <p:cNvSpPr/>
          <p:nvPr/>
        </p:nvSpPr>
        <p:spPr>
          <a:xfrm>
            <a:off x="6537960" y="2057400"/>
            <a:ext cx="4800600" cy="3200400"/>
          </a:xfrm>
          <a:prstGeom prst="roundRect">
            <a:avLst>
              <a:gd name="adj" fmla="val 2857"/>
            </a:avLst>
          </a:prstGeom>
          <a:solidFill>
            <a:srgbClr val="F7EBE3"/>
          </a:solidFill>
          <a:ln/>
        </p:spPr>
      </p:sp>
      <p:sp>
        <p:nvSpPr>
          <p:cNvPr id="11" name="Text 9"/>
          <p:cNvSpPr/>
          <p:nvPr/>
        </p:nvSpPr>
        <p:spPr>
          <a:xfrm>
            <a:off x="6858000" y="2286000"/>
            <a:ext cx="4206240" cy="320040"/>
          </a:xfrm>
          <a:prstGeom prst="rect">
            <a:avLst/>
          </a:prstGeom>
          <a:noFill/>
          <a:ln/>
        </p:spPr>
        <p:txBody>
          <a:bodyPr wrap="square" lIns="0" tIns="0" rIns="0" bIns="0" rtlCol="0" anchor="t"/>
          <a:lstStyle/>
          <a:p>
            <a:pPr algn="l" indent="0" marL="0">
              <a:buNone/>
            </a:pPr>
            <a:r>
              <a:rPr lang="en-US" sz="1400" b="1" dirty="0">
                <a:solidFill>
                  <a:srgbClr val="BE5A2E"/>
                </a:solidFill>
                <a:latin typeface="Segoe UI" pitchFamily="34" charset="0"/>
                <a:ea typeface="Segoe UI" pitchFamily="34" charset="-122"/>
                <a:cs typeface="Segoe UI" pitchFamily="34" charset="-120"/>
              </a:rPr>
              <a:t>Bản này: tách hẳn hai vai</a:t>
            </a:r>
            <a:endParaRPr lang="en-US" sz="1400" dirty="0"/>
          </a:p>
        </p:txBody>
      </p:sp>
      <p:sp>
        <p:nvSpPr>
          <p:cNvPr id="12" name="Shape 10"/>
          <p:cNvSpPr/>
          <p:nvPr/>
        </p:nvSpPr>
        <p:spPr>
          <a:xfrm>
            <a:off x="6858000" y="2697480"/>
            <a:ext cx="4206240" cy="960120"/>
          </a:xfrm>
          <a:prstGeom prst="roundRect">
            <a:avLst>
              <a:gd name="adj" fmla="val 6667"/>
            </a:avLst>
          </a:prstGeom>
          <a:solidFill>
            <a:srgbClr val="FFFFFF"/>
          </a:solidFill>
          <a:ln/>
        </p:spPr>
      </p:sp>
      <p:sp>
        <p:nvSpPr>
          <p:cNvPr id="13" name="Text 11"/>
          <p:cNvSpPr/>
          <p:nvPr/>
        </p:nvSpPr>
        <p:spPr>
          <a:xfrm>
            <a:off x="6995160" y="2788920"/>
            <a:ext cx="3931920" cy="274320"/>
          </a:xfrm>
          <a:prstGeom prst="rect">
            <a:avLst/>
          </a:prstGeom>
          <a:noFill/>
          <a:ln/>
        </p:spPr>
        <p:txBody>
          <a:bodyPr wrap="square" lIns="0" tIns="0" rIns="0" bIns="0" rtlCol="0" anchor="t"/>
          <a:lstStyle/>
          <a:p>
            <a:pPr algn="l" indent="0" marL="0">
              <a:buNone/>
            </a:pPr>
            <a:r>
              <a:rPr lang="en-US" sz="1150" b="1" dirty="0">
                <a:solidFill>
                  <a:srgbClr val="8B929B"/>
                </a:solidFill>
                <a:latin typeface="Segoe UI" pitchFamily="34" charset="0"/>
                <a:ea typeface="Segoe UI" pitchFamily="34" charset="-122"/>
                <a:cs typeface="Segoe UI" pitchFamily="34" charset="-120"/>
              </a:rPr>
              <a:t>LỌC  lúc dạy</a:t>
            </a:r>
            <a:endParaRPr lang="en-US" sz="1150" dirty="0"/>
          </a:p>
        </p:txBody>
      </p:sp>
      <p:sp>
        <p:nvSpPr>
          <p:cNvPr id="14" name="Text 12"/>
          <p:cNvSpPr/>
          <p:nvPr/>
        </p:nvSpPr>
        <p:spPr>
          <a:xfrm>
            <a:off x="6995160" y="3090672"/>
            <a:ext cx="3931920" cy="320040"/>
          </a:xfrm>
          <a:prstGeom prst="rect">
            <a:avLst/>
          </a:prstGeom>
          <a:noFill/>
          <a:ln/>
        </p:spPr>
        <p:txBody>
          <a:bodyPr wrap="square" lIns="0" tIns="0" rIns="0" bIns="0" rtlCol="0" anchor="t"/>
          <a:lstStyle/>
          <a:p>
            <a:pPr algn="l" indent="0" marL="0">
              <a:buNone/>
            </a:pPr>
            <a:r>
              <a:rPr lang="en-US" sz="1350" dirty="0">
                <a:solidFill>
                  <a:srgbClr val="1D2733"/>
                </a:solidFill>
                <a:latin typeface="Segoe UI" pitchFamily="34" charset="0"/>
                <a:ea typeface="Segoe UI" pitchFamily="34" charset="-122"/>
                <a:cs typeface="Segoe UI" pitchFamily="34" charset="-120"/>
              </a:rPr>
              <a:t>nomic-embed-text · ngưỡng 0.55</a:t>
            </a:r>
            <a:endParaRPr lang="en-US" sz="1350" dirty="0"/>
          </a:p>
        </p:txBody>
      </p:sp>
      <p:sp>
        <p:nvSpPr>
          <p:cNvPr id="15" name="Shape 13"/>
          <p:cNvSpPr/>
          <p:nvPr/>
        </p:nvSpPr>
        <p:spPr>
          <a:xfrm>
            <a:off x="6858000" y="3794760"/>
            <a:ext cx="4206240" cy="1188720"/>
          </a:xfrm>
          <a:prstGeom prst="roundRect">
            <a:avLst>
              <a:gd name="adj" fmla="val 5385"/>
            </a:avLst>
          </a:prstGeom>
          <a:solidFill>
            <a:srgbClr val="FFFFFF"/>
          </a:solidFill>
          <a:ln/>
        </p:spPr>
      </p:sp>
      <p:sp>
        <p:nvSpPr>
          <p:cNvPr id="16" name="Text 14"/>
          <p:cNvSpPr/>
          <p:nvPr/>
        </p:nvSpPr>
        <p:spPr>
          <a:xfrm>
            <a:off x="6995160" y="3886200"/>
            <a:ext cx="3931920" cy="274320"/>
          </a:xfrm>
          <a:prstGeom prst="rect">
            <a:avLst/>
          </a:prstGeom>
          <a:noFill/>
          <a:ln/>
        </p:spPr>
        <p:txBody>
          <a:bodyPr wrap="square" lIns="0" tIns="0" rIns="0" bIns="0" rtlCol="0" anchor="t"/>
          <a:lstStyle/>
          <a:p>
            <a:pPr algn="l" indent="0" marL="0">
              <a:buNone/>
            </a:pPr>
            <a:r>
              <a:rPr lang="en-US" sz="1150" b="1" dirty="0">
                <a:solidFill>
                  <a:srgbClr val="8B929B"/>
                </a:solidFill>
                <a:latin typeface="Segoe UI" pitchFamily="34" charset="0"/>
                <a:ea typeface="Segoe UI" pitchFamily="34" charset="-122"/>
                <a:cs typeface="Segoe UI" pitchFamily="34" charset="-120"/>
              </a:rPr>
              <a:t>CHẤM  lúc kiểm tra</a:t>
            </a:r>
            <a:endParaRPr lang="en-US" sz="1150" dirty="0"/>
          </a:p>
        </p:txBody>
      </p:sp>
      <p:sp>
        <p:nvSpPr>
          <p:cNvPr id="17" name="Text 15"/>
          <p:cNvSpPr/>
          <p:nvPr/>
        </p:nvSpPr>
        <p:spPr>
          <a:xfrm>
            <a:off x="6995160" y="4187952"/>
            <a:ext cx="3931920" cy="320040"/>
          </a:xfrm>
          <a:prstGeom prst="rect">
            <a:avLst/>
          </a:prstGeom>
          <a:noFill/>
          <a:ln/>
        </p:spPr>
        <p:txBody>
          <a:bodyPr wrap="square" lIns="0" tIns="0" rIns="0" bIns="0" rtlCol="0" anchor="t"/>
          <a:lstStyle/>
          <a:p>
            <a:pPr algn="l" indent="0" marL="0">
              <a:buNone/>
            </a:pPr>
            <a:r>
              <a:rPr lang="en-US" sz="1350" dirty="0">
                <a:solidFill>
                  <a:srgbClr val="1D2733"/>
                </a:solidFill>
                <a:latin typeface="Segoe UI" pitchFamily="34" charset="0"/>
                <a:ea typeface="Segoe UI" pitchFamily="34" charset="-122"/>
                <a:cs typeface="Segoe UI" pitchFamily="34" charset="-120"/>
              </a:rPr>
              <a:t>bge-m3  ·  llama3.2  ·  token-overlap</a:t>
            </a:r>
            <a:endParaRPr lang="en-US" sz="1350" dirty="0"/>
          </a:p>
        </p:txBody>
      </p:sp>
      <p:sp>
        <p:nvSpPr>
          <p:cNvPr id="18" name="Text 16"/>
          <p:cNvSpPr/>
          <p:nvPr/>
        </p:nvSpPr>
        <p:spPr>
          <a:xfrm>
            <a:off x="6995160" y="4526280"/>
            <a:ext cx="3931920" cy="274320"/>
          </a:xfrm>
          <a:prstGeom prst="rect">
            <a:avLst/>
          </a:prstGeom>
          <a:noFill/>
          <a:ln/>
        </p:spPr>
        <p:txBody>
          <a:bodyPr wrap="square" lIns="0" tIns="0" rIns="0" bIns="0" rtlCol="0" anchor="t"/>
          <a:lstStyle/>
          <a:p>
            <a:pPr algn="l" indent="0" marL="0">
              <a:buNone/>
            </a:pPr>
            <a:r>
              <a:rPr lang="en-US" sz="1150" i="1" dirty="0">
                <a:solidFill>
                  <a:srgbClr val="BE5A2E"/>
                </a:solidFill>
                <a:latin typeface="Segoe UI" pitchFamily="34" charset="0"/>
                <a:ea typeface="Segoe UI" pitchFamily="34" charset="-122"/>
                <a:cs typeface="Segoe UI" pitchFamily="34" charset="-120"/>
              </a:rPr>
              <a:t>khác họ nhau, và đều khác họ Teacher</a:t>
            </a:r>
            <a:endParaRPr lang="en-US" sz="1150" dirty="0"/>
          </a:p>
        </p:txBody>
      </p:sp>
      <p:sp>
        <p:nvSpPr>
          <p:cNvPr id="19" name="Text 17"/>
          <p:cNvSpPr/>
          <p:nvPr/>
        </p:nvSpPr>
        <p:spPr>
          <a:xfrm>
            <a:off x="841248" y="5532120"/>
            <a:ext cx="10515600" cy="365760"/>
          </a:xfrm>
          <a:prstGeom prst="rect">
            <a:avLst/>
          </a:prstGeom>
          <a:noFill/>
          <a:ln/>
        </p:spPr>
        <p:txBody>
          <a:bodyPr wrap="square" lIns="0" tIns="0" rIns="0" bIns="0" rtlCol="0" anchor="t"/>
          <a:lstStyle/>
          <a:p>
            <a:pPr algn="l" indent="0" marL="0">
              <a:buNone/>
            </a:pPr>
            <a:r>
              <a:rPr lang="en-US" sz="1400" b="1" dirty="0">
                <a:solidFill>
                  <a:srgbClr val="1D2733"/>
                </a:solidFill>
                <a:latin typeface="Segoe UI" pitchFamily="34" charset="0"/>
                <a:ea typeface="Segoe UI" pitchFamily="34" charset="-122"/>
                <a:cs typeface="Segoe UI" pitchFamily="34" charset="-120"/>
              </a:rPr>
              <a:t>Thứ dùng để lọc dữ liệu lúc dạy, tuyệt đối không được dùng lại để chấm điểm lúc kiểm tra.</a:t>
            </a:r>
            <a:endParaRPr lang="en-US" sz="1400" dirty="0"/>
          </a:p>
        </p:txBody>
      </p:sp>
      <p:sp>
        <p:nvSpPr>
          <p:cNvPr id="21" name="Text 18"/>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08</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BA CÁCH CHẤM ĐỘC LẬP</a:t>
            </a:r>
            <a:endParaRPr lang="en-US" sz="1250" dirty="0"/>
          </a:p>
        </p:txBody>
      </p:sp>
      <p:sp>
        <p:nvSpPr>
          <p:cNvPr id="3" name="Text 1"/>
          <p:cNvSpPr/>
          <p:nvPr/>
        </p:nvSpPr>
        <p:spPr>
          <a:xfrm>
            <a:off x="841248" y="896112"/>
            <a:ext cx="10506456" cy="914400"/>
          </a:xfrm>
          <a:prstGeom prst="rect">
            <a:avLst/>
          </a:prstGeom>
          <a:noFill/>
          <a:ln/>
        </p:spPr>
        <p:txBody>
          <a:bodyPr wrap="square" lIns="0" tIns="0" rIns="0" bIns="0" rtlCol="0" anchor="t"/>
          <a:lstStyle/>
          <a:p>
            <a:pPr algn="l" indent="0" marL="0">
              <a:lnSpc>
                <a:spcPct val="105000"/>
              </a:lnSpc>
              <a:buNone/>
            </a:pPr>
            <a:r>
              <a:rPr lang="en-US" sz="2700" b="1" dirty="0">
                <a:solidFill>
                  <a:srgbClr val="1D2733"/>
                </a:solidFill>
                <a:latin typeface="Cambria" pitchFamily="34" charset="0"/>
                <a:ea typeface="Cambria" pitchFamily="34" charset="-122"/>
                <a:cs typeface="Cambria" pitchFamily="34" charset="-120"/>
              </a:rPr>
              <a:t>Một bước chỉ bị coi là bịa khi đa số đồng ý</a:t>
            </a:r>
            <a:endParaRPr lang="en-US" sz="2700" dirty="0"/>
          </a:p>
        </p:txBody>
      </p:sp>
      <p:sp>
        <p:nvSpPr>
          <p:cNvPr id="4" name="Shape 2"/>
          <p:cNvSpPr/>
          <p:nvPr/>
        </p:nvSpPr>
        <p:spPr>
          <a:xfrm>
            <a:off x="841248" y="2514600"/>
            <a:ext cx="3291840" cy="2286000"/>
          </a:xfrm>
          <a:prstGeom prst="roundRect">
            <a:avLst>
              <a:gd name="adj" fmla="val 4000"/>
            </a:avLst>
          </a:prstGeom>
          <a:solidFill>
            <a:srgbClr val="F3F5F7"/>
          </a:solidFill>
          <a:ln/>
        </p:spPr>
      </p:sp>
      <p:sp>
        <p:nvSpPr>
          <p:cNvPr id="5" name="Shape 3"/>
          <p:cNvSpPr/>
          <p:nvPr/>
        </p:nvSpPr>
        <p:spPr>
          <a:xfrm>
            <a:off x="1097280" y="2761488"/>
            <a:ext cx="566928" cy="566928"/>
          </a:xfrm>
          <a:prstGeom prst="ellipse">
            <a:avLst/>
          </a:prstGeom>
          <a:solidFill>
            <a:srgbClr val="52657A"/>
          </a:solidFill>
          <a:ln/>
        </p:spPr>
      </p:sp>
      <p:sp>
        <p:nvSpPr>
          <p:cNvPr id="6" name="Text 4"/>
          <p:cNvSpPr/>
          <p:nvPr/>
        </p:nvSpPr>
        <p:spPr>
          <a:xfrm>
            <a:off x="1097280" y="2761488"/>
            <a:ext cx="566928" cy="566928"/>
          </a:xfrm>
          <a:prstGeom prst="rect">
            <a:avLst/>
          </a:prstGeom>
          <a:noFill/>
          <a:ln/>
        </p:spPr>
        <p:txBody>
          <a:bodyPr wrap="square" lIns="0" tIns="0" rIns="0" bIns="0" rtlCol="0" anchor="ctr"/>
          <a:lstStyle/>
          <a:p>
            <a:pPr algn="ctr" indent="0" marL="0">
              <a:buNone/>
            </a:pPr>
            <a:r>
              <a:rPr lang="en-US" sz="2108" b="1" dirty="0">
                <a:solidFill>
                  <a:srgbClr val="FFFFFF"/>
                </a:solidFill>
                <a:latin typeface="Cambria" pitchFamily="34" charset="0"/>
                <a:ea typeface="Cambria" pitchFamily="34" charset="-122"/>
                <a:cs typeface="Cambria" pitchFamily="34" charset="-120"/>
              </a:rPr>
              <a:t>1</a:t>
            </a:r>
            <a:endParaRPr lang="en-US" sz="2108" dirty="0"/>
          </a:p>
        </p:txBody>
      </p:sp>
      <p:sp>
        <p:nvSpPr>
          <p:cNvPr id="7" name="Text 5"/>
          <p:cNvSpPr/>
          <p:nvPr/>
        </p:nvSpPr>
        <p:spPr>
          <a:xfrm>
            <a:off x="1115568" y="3456432"/>
            <a:ext cx="2743200" cy="685800"/>
          </a:xfrm>
          <a:prstGeom prst="rect">
            <a:avLst/>
          </a:prstGeom>
          <a:noFill/>
          <a:ln/>
        </p:spPr>
        <p:txBody>
          <a:bodyPr wrap="square" lIns="0" tIns="0" rIns="0" bIns="0" rtlCol="0" anchor="t"/>
          <a:lstStyle/>
          <a:p>
            <a:pPr algn="l" indent="0" marL="0">
              <a:lnSpc>
                <a:spcPct val="120000"/>
              </a:lnSpc>
              <a:buNone/>
            </a:pPr>
            <a:r>
              <a:rPr lang="en-US" sz="1400" b="1" dirty="0">
                <a:solidFill>
                  <a:srgbClr val="1D2733"/>
                </a:solidFill>
                <a:latin typeface="Segoe UI" pitchFamily="34" charset="0"/>
                <a:ea typeface="Segoe UI" pitchFamily="34" charset="-122"/>
                <a:cs typeface="Segoe UI" pitchFamily="34" charset="-120"/>
              </a:rPr>
              <a:t>Một mô hình so nghĩa khác họ</a:t>
            </a:r>
            <a:endParaRPr lang="en-US" sz="1400" dirty="0"/>
          </a:p>
        </p:txBody>
      </p:sp>
      <p:sp>
        <p:nvSpPr>
          <p:cNvPr id="8" name="Text 6"/>
          <p:cNvSpPr/>
          <p:nvPr/>
        </p:nvSpPr>
        <p:spPr>
          <a:xfrm>
            <a:off x="1115568" y="4160520"/>
            <a:ext cx="2743200" cy="548640"/>
          </a:xfrm>
          <a:prstGeom prst="rect">
            <a:avLst/>
          </a:prstGeom>
          <a:noFill/>
          <a:ln/>
        </p:spPr>
        <p:txBody>
          <a:bodyPr wrap="square" lIns="0" tIns="0" rIns="0" bIns="0" rtlCol="0" anchor="t"/>
          <a:lstStyle/>
          <a:p>
            <a:pPr algn="l" indent="0" marL="0">
              <a:lnSpc>
                <a:spcPct val="122000"/>
              </a:lnSpc>
              <a:buNone/>
            </a:pPr>
            <a:r>
              <a:rPr lang="en-US" sz="1200" dirty="0">
                <a:solidFill>
                  <a:srgbClr val="454C55"/>
                </a:solidFill>
                <a:latin typeface="Segoe UI" pitchFamily="34" charset="0"/>
                <a:ea typeface="Segoe UI" pitchFamily="34" charset="-122"/>
                <a:cs typeface="Segoe UI" pitchFamily="34" charset="-120"/>
              </a:rPr>
              <a:t>Không cùng dòng với công cụ đã dùng để lọc dữ liệu lúc dạy</a:t>
            </a:r>
            <a:endParaRPr lang="en-US" sz="1200" dirty="0"/>
          </a:p>
        </p:txBody>
      </p:sp>
      <p:sp>
        <p:nvSpPr>
          <p:cNvPr id="9" name="Shape 7"/>
          <p:cNvSpPr/>
          <p:nvPr/>
        </p:nvSpPr>
        <p:spPr>
          <a:xfrm>
            <a:off x="4425696" y="2514600"/>
            <a:ext cx="3291840" cy="2286000"/>
          </a:xfrm>
          <a:prstGeom prst="roundRect">
            <a:avLst>
              <a:gd name="adj" fmla="val 4000"/>
            </a:avLst>
          </a:prstGeom>
          <a:solidFill>
            <a:srgbClr val="F7EBE3"/>
          </a:solidFill>
          <a:ln/>
        </p:spPr>
      </p:sp>
      <p:sp>
        <p:nvSpPr>
          <p:cNvPr id="10" name="Shape 8"/>
          <p:cNvSpPr/>
          <p:nvPr/>
        </p:nvSpPr>
        <p:spPr>
          <a:xfrm>
            <a:off x="4681728" y="2761488"/>
            <a:ext cx="566928" cy="566928"/>
          </a:xfrm>
          <a:prstGeom prst="ellipse">
            <a:avLst/>
          </a:prstGeom>
          <a:solidFill>
            <a:srgbClr val="BE5A2E"/>
          </a:solidFill>
          <a:ln/>
        </p:spPr>
      </p:sp>
      <p:sp>
        <p:nvSpPr>
          <p:cNvPr id="11" name="Text 9"/>
          <p:cNvSpPr/>
          <p:nvPr/>
        </p:nvSpPr>
        <p:spPr>
          <a:xfrm>
            <a:off x="4681728" y="2761488"/>
            <a:ext cx="566928" cy="566928"/>
          </a:xfrm>
          <a:prstGeom prst="rect">
            <a:avLst/>
          </a:prstGeom>
          <a:noFill/>
          <a:ln/>
        </p:spPr>
        <p:txBody>
          <a:bodyPr wrap="square" lIns="0" tIns="0" rIns="0" bIns="0" rtlCol="0" anchor="ctr"/>
          <a:lstStyle/>
          <a:p>
            <a:pPr algn="ctr" indent="0" marL="0">
              <a:buNone/>
            </a:pPr>
            <a:r>
              <a:rPr lang="en-US" sz="2108" b="1" dirty="0">
                <a:solidFill>
                  <a:srgbClr val="FFFFFF"/>
                </a:solidFill>
                <a:latin typeface="Cambria" pitchFamily="34" charset="0"/>
                <a:ea typeface="Cambria" pitchFamily="34" charset="-122"/>
                <a:cs typeface="Cambria" pitchFamily="34" charset="-120"/>
              </a:rPr>
              <a:t>2</a:t>
            </a:r>
            <a:endParaRPr lang="en-US" sz="2108" dirty="0"/>
          </a:p>
        </p:txBody>
      </p:sp>
      <p:sp>
        <p:nvSpPr>
          <p:cNvPr id="12" name="Text 10"/>
          <p:cNvSpPr/>
          <p:nvPr/>
        </p:nvSpPr>
        <p:spPr>
          <a:xfrm>
            <a:off x="4700016" y="3456432"/>
            <a:ext cx="2743200" cy="685800"/>
          </a:xfrm>
          <a:prstGeom prst="rect">
            <a:avLst/>
          </a:prstGeom>
          <a:noFill/>
          <a:ln/>
        </p:spPr>
        <p:txBody>
          <a:bodyPr wrap="square" lIns="0" tIns="0" rIns="0" bIns="0" rtlCol="0" anchor="t"/>
          <a:lstStyle/>
          <a:p>
            <a:pPr algn="l" indent="0" marL="0">
              <a:lnSpc>
                <a:spcPct val="120000"/>
              </a:lnSpc>
              <a:buNone/>
            </a:pPr>
            <a:r>
              <a:rPr lang="en-US" sz="1400" b="1" dirty="0">
                <a:solidFill>
                  <a:srgbClr val="1D2733"/>
                </a:solidFill>
                <a:latin typeface="Segoe UI" pitchFamily="34" charset="0"/>
                <a:ea typeface="Segoe UI" pitchFamily="34" charset="-122"/>
                <a:cs typeface="Segoe UI" pitchFamily="34" charset="-120"/>
              </a:rPr>
              <a:t>Một mô hình giám khảo khác dòng</a:t>
            </a:r>
            <a:endParaRPr lang="en-US" sz="1400" dirty="0"/>
          </a:p>
        </p:txBody>
      </p:sp>
      <p:sp>
        <p:nvSpPr>
          <p:cNvPr id="13" name="Text 11"/>
          <p:cNvSpPr/>
          <p:nvPr/>
        </p:nvSpPr>
        <p:spPr>
          <a:xfrm>
            <a:off x="4700016" y="4160520"/>
            <a:ext cx="2743200" cy="548640"/>
          </a:xfrm>
          <a:prstGeom prst="rect">
            <a:avLst/>
          </a:prstGeom>
          <a:noFill/>
          <a:ln/>
        </p:spPr>
        <p:txBody>
          <a:bodyPr wrap="square" lIns="0" tIns="0" rIns="0" bIns="0" rtlCol="0" anchor="t"/>
          <a:lstStyle/>
          <a:p>
            <a:pPr algn="l" indent="0" marL="0">
              <a:lnSpc>
                <a:spcPct val="122000"/>
              </a:lnSpc>
              <a:buNone/>
            </a:pPr>
            <a:r>
              <a:rPr lang="en-US" sz="1200" dirty="0">
                <a:solidFill>
                  <a:srgbClr val="454C55"/>
                </a:solidFill>
                <a:latin typeface="Segoe UI" pitchFamily="34" charset="0"/>
                <a:ea typeface="Segoe UI" pitchFamily="34" charset="-122"/>
                <a:cs typeface="Segoe UI" pitchFamily="34" charset="-120"/>
              </a:rPr>
              <a:t>Không cùng dòng với Teacher, để tránh thiên vị</a:t>
            </a:r>
            <a:endParaRPr lang="en-US" sz="1200" dirty="0"/>
          </a:p>
        </p:txBody>
      </p:sp>
      <p:sp>
        <p:nvSpPr>
          <p:cNvPr id="14" name="Shape 12"/>
          <p:cNvSpPr/>
          <p:nvPr/>
        </p:nvSpPr>
        <p:spPr>
          <a:xfrm>
            <a:off x="8010144" y="2514600"/>
            <a:ext cx="3291840" cy="2286000"/>
          </a:xfrm>
          <a:prstGeom prst="roundRect">
            <a:avLst>
              <a:gd name="adj" fmla="val 4000"/>
            </a:avLst>
          </a:prstGeom>
          <a:solidFill>
            <a:srgbClr val="F3F5F7"/>
          </a:solidFill>
          <a:ln/>
        </p:spPr>
      </p:sp>
      <p:sp>
        <p:nvSpPr>
          <p:cNvPr id="15" name="Shape 13"/>
          <p:cNvSpPr/>
          <p:nvPr/>
        </p:nvSpPr>
        <p:spPr>
          <a:xfrm>
            <a:off x="8266176" y="2761488"/>
            <a:ext cx="566928" cy="566928"/>
          </a:xfrm>
          <a:prstGeom prst="ellipse">
            <a:avLst/>
          </a:prstGeom>
          <a:solidFill>
            <a:srgbClr val="52657A"/>
          </a:solidFill>
          <a:ln/>
        </p:spPr>
      </p:sp>
      <p:sp>
        <p:nvSpPr>
          <p:cNvPr id="16" name="Text 14"/>
          <p:cNvSpPr/>
          <p:nvPr/>
        </p:nvSpPr>
        <p:spPr>
          <a:xfrm>
            <a:off x="8266176" y="2761488"/>
            <a:ext cx="566928" cy="566928"/>
          </a:xfrm>
          <a:prstGeom prst="rect">
            <a:avLst/>
          </a:prstGeom>
          <a:noFill/>
          <a:ln/>
        </p:spPr>
        <p:txBody>
          <a:bodyPr wrap="square" lIns="0" tIns="0" rIns="0" bIns="0" rtlCol="0" anchor="ctr"/>
          <a:lstStyle/>
          <a:p>
            <a:pPr algn="ctr" indent="0" marL="0">
              <a:buNone/>
            </a:pPr>
            <a:r>
              <a:rPr lang="en-US" sz="2108" b="1" dirty="0">
                <a:solidFill>
                  <a:srgbClr val="FFFFFF"/>
                </a:solidFill>
                <a:latin typeface="Cambria" pitchFamily="34" charset="0"/>
                <a:ea typeface="Cambria" pitchFamily="34" charset="-122"/>
                <a:cs typeface="Cambria" pitchFamily="34" charset="-120"/>
              </a:rPr>
              <a:t>3</a:t>
            </a:r>
            <a:endParaRPr lang="en-US" sz="2108" dirty="0"/>
          </a:p>
        </p:txBody>
      </p:sp>
      <p:sp>
        <p:nvSpPr>
          <p:cNvPr id="17" name="Text 15"/>
          <p:cNvSpPr/>
          <p:nvPr/>
        </p:nvSpPr>
        <p:spPr>
          <a:xfrm>
            <a:off x="8284464" y="3456432"/>
            <a:ext cx="2743200" cy="685800"/>
          </a:xfrm>
          <a:prstGeom prst="rect">
            <a:avLst/>
          </a:prstGeom>
          <a:noFill/>
          <a:ln/>
        </p:spPr>
        <p:txBody>
          <a:bodyPr wrap="square" lIns="0" tIns="0" rIns="0" bIns="0" rtlCol="0" anchor="t"/>
          <a:lstStyle/>
          <a:p>
            <a:pPr algn="l" indent="0" marL="0">
              <a:lnSpc>
                <a:spcPct val="120000"/>
              </a:lnSpc>
              <a:buNone/>
            </a:pPr>
            <a:r>
              <a:rPr lang="en-US" sz="1400" b="1" dirty="0">
                <a:solidFill>
                  <a:srgbClr val="1D2733"/>
                </a:solidFill>
                <a:latin typeface="Segoe UI" pitchFamily="34" charset="0"/>
                <a:ea typeface="Segoe UI" pitchFamily="34" charset="-122"/>
                <a:cs typeface="Segoe UI" pitchFamily="34" charset="-120"/>
              </a:rPr>
              <a:t>Một phép so khớp từ ngữ đơn giản</a:t>
            </a:r>
            <a:endParaRPr lang="en-US" sz="1400" dirty="0"/>
          </a:p>
        </p:txBody>
      </p:sp>
      <p:sp>
        <p:nvSpPr>
          <p:cNvPr id="18" name="Text 16"/>
          <p:cNvSpPr/>
          <p:nvPr/>
        </p:nvSpPr>
        <p:spPr>
          <a:xfrm>
            <a:off x="8284464" y="4160520"/>
            <a:ext cx="2743200" cy="548640"/>
          </a:xfrm>
          <a:prstGeom prst="rect">
            <a:avLst/>
          </a:prstGeom>
          <a:noFill/>
          <a:ln/>
        </p:spPr>
        <p:txBody>
          <a:bodyPr wrap="square" lIns="0" tIns="0" rIns="0" bIns="0" rtlCol="0" anchor="t"/>
          <a:lstStyle/>
          <a:p>
            <a:pPr algn="l" indent="0" marL="0">
              <a:lnSpc>
                <a:spcPct val="122000"/>
              </a:lnSpc>
              <a:buNone/>
            </a:pPr>
            <a:r>
              <a:rPr lang="en-US" sz="1200" dirty="0">
                <a:solidFill>
                  <a:srgbClr val="454C55"/>
                </a:solidFill>
                <a:latin typeface="Segoe UI" pitchFamily="34" charset="0"/>
                <a:ea typeface="Segoe UI" pitchFamily="34" charset="-122"/>
                <a:cs typeface="Segoe UI" pitchFamily="34" charset="-120"/>
              </a:rPr>
              <a:t>Làm đối chứng, không phụ thuộc một mô hình nào</a:t>
            </a:r>
            <a:endParaRPr lang="en-US" sz="1200" dirty="0"/>
          </a:p>
        </p:txBody>
      </p:sp>
      <p:sp>
        <p:nvSpPr>
          <p:cNvPr id="19" name="Shape 17"/>
          <p:cNvSpPr/>
          <p:nvPr/>
        </p:nvSpPr>
        <p:spPr>
          <a:xfrm>
            <a:off x="841248" y="5074920"/>
            <a:ext cx="10506456" cy="1051560"/>
          </a:xfrm>
          <a:prstGeom prst="roundRect">
            <a:avLst>
              <a:gd name="adj" fmla="val 8696"/>
            </a:avLst>
          </a:prstGeom>
          <a:solidFill>
            <a:srgbClr val="17233B"/>
          </a:solidFill>
          <a:ln/>
        </p:spPr>
      </p:sp>
      <p:sp>
        <p:nvSpPr>
          <p:cNvPr id="20" name="Text 18"/>
          <p:cNvSpPr/>
          <p:nvPr/>
        </p:nvSpPr>
        <p:spPr>
          <a:xfrm>
            <a:off x="1115568" y="5074920"/>
            <a:ext cx="9957816" cy="1051560"/>
          </a:xfrm>
          <a:prstGeom prst="rect">
            <a:avLst/>
          </a:prstGeom>
          <a:noFill/>
          <a:ln/>
        </p:spPr>
        <p:txBody>
          <a:bodyPr wrap="square" lIns="0" tIns="0" rIns="0" bIns="0" rtlCol="0" anchor="ctr"/>
          <a:lstStyle/>
          <a:p>
            <a:pPr algn="l" indent="0" marL="0">
              <a:lnSpc>
                <a:spcPct val="128000"/>
              </a:lnSpc>
              <a:buNone/>
            </a:pPr>
            <a:r>
              <a:rPr lang="en-US" sz="1400" b="1" dirty="0">
                <a:solidFill>
                  <a:srgbClr val="E4A986"/>
                </a:solidFill>
                <a:latin typeface="Segoe UI" pitchFamily="34" charset="0"/>
                <a:ea typeface="Segoe UI" pitchFamily="34" charset="-122"/>
                <a:cs typeface="Segoe UI" pitchFamily="34" charset="-120"/>
              </a:rPr>
              <a:t>Quy tắc quyết định:  </a:t>
            </a:r>
            <a:pPr algn="l" indent="0" marL="0">
              <a:lnSpc>
                <a:spcPct val="128000"/>
              </a:lnSpc>
              <a:buNone/>
            </a:pPr>
            <a:r>
              <a:rPr lang="en-US" sz="1400" dirty="0">
                <a:solidFill>
                  <a:srgbClr val="FFFFFF"/>
                </a:solidFill>
                <a:latin typeface="Segoe UI" pitchFamily="34" charset="0"/>
                <a:ea typeface="Segoe UI" pitchFamily="34" charset="-122"/>
                <a:cs typeface="Segoe UI" pitchFamily="34" charset="-120"/>
              </a:rPr>
              <a:t>một bước bị coi là bịa khi ít nhất hai trong ba cách trên cùng đồng ý là không khớp. Không cách nào tự quyết một mình.</a:t>
            </a:r>
            <a:endParaRPr lang="en-US" sz="1400" dirty="0"/>
          </a:p>
        </p:txBody>
      </p:sp>
      <p:sp>
        <p:nvSpPr>
          <p:cNvPr id="22" name="Text 19"/>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09</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NHỮNG CON SỐ SẼ BÁO CÁO</a:t>
            </a:r>
            <a:endParaRPr lang="en-US" sz="1250" dirty="0"/>
          </a:p>
        </p:txBody>
      </p:sp>
      <p:sp>
        <p:nvSpPr>
          <p:cNvPr id="3" name="Text 1"/>
          <p:cNvSpPr/>
          <p:nvPr/>
        </p:nvSpPr>
        <p:spPr>
          <a:xfrm>
            <a:off x="841248" y="896112"/>
            <a:ext cx="10506456" cy="914400"/>
          </a:xfrm>
          <a:prstGeom prst="rect">
            <a:avLst/>
          </a:prstGeom>
          <a:noFill/>
          <a:ln/>
        </p:spPr>
        <p:txBody>
          <a:bodyPr wrap="square" lIns="0" tIns="0" rIns="0" bIns="0" rtlCol="0" anchor="t"/>
          <a:lstStyle/>
          <a:p>
            <a:pPr algn="l" indent="0" marL="0">
              <a:lnSpc>
                <a:spcPct val="105000"/>
              </a:lnSpc>
              <a:buNone/>
            </a:pPr>
            <a:r>
              <a:rPr lang="en-US" sz="2700" b="1" dirty="0">
                <a:solidFill>
                  <a:srgbClr val="1D2733"/>
                </a:solidFill>
                <a:latin typeface="Cambria" pitchFamily="34" charset="0"/>
                <a:ea typeface="Cambria" pitchFamily="34" charset="-122"/>
                <a:cs typeface="Cambria" pitchFamily="34" charset="-120"/>
              </a:rPr>
              <a:t>Ba con số chính, mỗi con số kèm ý nghĩa thật của nó</a:t>
            </a:r>
            <a:endParaRPr lang="en-US" sz="27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41248" y="2331720"/>
          <a:ext cx="10506456" cy="914400"/>
        </p:xfrm>
        <a:graphic>
          <a:graphicData uri="http://schemas.openxmlformats.org/drawingml/2006/table">
            <a:tbl>
              <a:tblPr/>
              <a:tblGrid>
                <a:gridCol w="3017520"/>
                <a:gridCol w="5394960"/>
                <a:gridCol w="2093976"/>
              </a:tblGrid>
              <a:tr h="658368">
                <a:tc>
                  <a:txBody>
                    <a:bodyPr/>
                    <a:lstStyle/>
                    <a:p>
                      <a:pPr indent="0" marL="0">
                        <a:buNone/>
                      </a:pPr>
                      <a:r>
                        <a:rPr lang="en-US" sz="1300" b="1" dirty="0">
                          <a:solidFill>
                            <a:srgbClr val="1D2733"/>
                          </a:solidFill>
                          <a:latin typeface="Segoe UI" pitchFamily="34" charset="0"/>
                          <a:ea typeface="Segoe UI" pitchFamily="34" charset="-122"/>
                          <a:cs typeface="Segoe UI" pitchFamily="34" charset="-120"/>
                        </a:rPr>
                        <a:t>Con số</a:t>
                      </a:r>
                      <a:endParaRPr lang="en-US" sz="13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solidFill>
                      <a:srgbClr val="F3F5F7"/>
                    </a:solidFill>
                  </a:tcPr>
                </a:tc>
                <a:tc>
                  <a:txBody>
                    <a:bodyPr/>
                    <a:lstStyle/>
                    <a:p>
                      <a:pPr indent="0" marL="0">
                        <a:buNone/>
                      </a:pPr>
                      <a:r>
                        <a:rPr lang="en-US" sz="1300" b="1" dirty="0">
                          <a:solidFill>
                            <a:srgbClr val="1D2733"/>
                          </a:solidFill>
                          <a:latin typeface="Segoe UI" pitchFamily="34" charset="0"/>
                          <a:ea typeface="Segoe UI" pitchFamily="34" charset="-122"/>
                          <a:cs typeface="Segoe UI" pitchFamily="34" charset="-120"/>
                        </a:rPr>
                        <a:t>Ý nghĩa</a:t>
                      </a:r>
                      <a:endParaRPr lang="en-US" sz="13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solidFill>
                      <a:srgbClr val="F3F5F7"/>
                    </a:solidFill>
                  </a:tcPr>
                </a:tc>
                <a:tc>
                  <a:txBody>
                    <a:bodyPr/>
                    <a:lstStyle/>
                    <a:p>
                      <a:pPr algn="ctr" indent="0" marL="0">
                        <a:buNone/>
                      </a:pPr>
                      <a:r>
                        <a:rPr lang="en-US" sz="1300" b="1" dirty="0">
                          <a:solidFill>
                            <a:srgbClr val="1D2733"/>
                          </a:solidFill>
                          <a:latin typeface="Segoe UI" pitchFamily="34" charset="0"/>
                          <a:ea typeface="Segoe UI" pitchFamily="34" charset="-122"/>
                          <a:cs typeface="Segoe UI" pitchFamily="34" charset="-120"/>
                        </a:rPr>
                        <a:t>Ước tính sơ bộ*</a:t>
                      </a:r>
                      <a:endParaRPr lang="en-US" sz="13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solidFill>
                      <a:srgbClr val="F3F5F7"/>
                    </a:solidFill>
                  </a:tcPr>
                </a:tc>
              </a:tr>
              <a:tr h="658368">
                <a:tc>
                  <a:txBody>
                    <a:bodyPr/>
                    <a:lstStyle/>
                    <a:p>
                      <a:pPr indent="0" marL="0">
                        <a:buNone/>
                      </a:pPr>
                      <a:r>
                        <a:rPr lang="en-US" sz="1300" dirty="0">
                          <a:solidFill>
                            <a:srgbClr val="000000"/>
                          </a:solidFill>
                          <a:latin typeface="Segoe UI" pitchFamily="34" charset="0"/>
                          <a:ea typeface="Segoe UI" pitchFamily="34" charset="-122"/>
                          <a:cs typeface="Segoe UI" pitchFamily="34" charset="-120"/>
                        </a:rPr>
                        <a:t>Tỉ lệ bịa của Teacher</a:t>
                      </a:r>
                      <a:endParaRPr lang="en-US" sz="13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indent="0" marL="0">
                        <a:buNone/>
                      </a:pPr>
                      <a:r>
                        <a:rPr lang="en-US" sz="1300" dirty="0">
                          <a:solidFill>
                            <a:srgbClr val="000000"/>
                          </a:solidFill>
                          <a:latin typeface="Segoe UI" pitchFamily="34" charset="0"/>
                          <a:ea typeface="Segoe UI" pitchFamily="34" charset="-122"/>
                          <a:cs typeface="Segoe UI" pitchFamily="34" charset="-120"/>
                        </a:rPr>
                        <a:t>Bao nhiêu phần bước nhắc một nút không tồn tại</a:t>
                      </a:r>
                      <a:endParaRPr lang="en-US" sz="13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algn="ctr" indent="0" marL="0">
                        <a:buNone/>
                      </a:pPr>
                      <a:r>
                        <a:rPr lang="en-US" sz="1300" b="1" dirty="0">
                          <a:solidFill>
                            <a:srgbClr val="BE5A2E"/>
                          </a:solidFill>
                          <a:latin typeface="Segoe UI" pitchFamily="34" charset="0"/>
                          <a:ea typeface="Segoe UI" pitchFamily="34" charset="-122"/>
                          <a:cs typeface="Segoe UI" pitchFamily="34" charset="-120"/>
                        </a:rPr>
                        <a:t>khoảng 1/4 số bước</a:t>
                      </a:r>
                      <a:endParaRPr lang="en-US" sz="13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r>
              <a:tr h="658368">
                <a:tc>
                  <a:txBody>
                    <a:bodyPr/>
                    <a:lstStyle/>
                    <a:p>
                      <a:pPr indent="0" marL="0">
                        <a:buNone/>
                      </a:pPr>
                      <a:r>
                        <a:rPr lang="en-US" sz="1300" dirty="0">
                          <a:solidFill>
                            <a:srgbClr val="000000"/>
                          </a:solidFill>
                          <a:latin typeface="Segoe UI" pitchFamily="34" charset="0"/>
                          <a:ea typeface="Segoe UI" pitchFamily="34" charset="-122"/>
                          <a:cs typeface="Segoe UI" pitchFamily="34" charset="-120"/>
                        </a:rPr>
                        <a:t>Tỉ lệ phải viết lại</a:t>
                      </a:r>
                      <a:endParaRPr lang="en-US" sz="13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indent="0" marL="0">
                        <a:buNone/>
                      </a:pPr>
                      <a:r>
                        <a:rPr lang="en-US" sz="1300" dirty="0">
                          <a:solidFill>
                            <a:srgbClr val="000000"/>
                          </a:solidFill>
                          <a:latin typeface="Segoe UI" pitchFamily="34" charset="0"/>
                          <a:ea typeface="Segoe UI" pitchFamily="34" charset="-122"/>
                          <a:cs typeface="Segoe UI" pitchFamily="34" charset="-120"/>
                        </a:rPr>
                        <a:t>Bao nhiêu phần bước bị đổi thành mô tả chung chung vì bị lọc</a:t>
                      </a:r>
                      <a:endParaRPr lang="en-US" sz="13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algn="ctr" indent="0" marL="0">
                        <a:buNone/>
                      </a:pPr>
                      <a:r>
                        <a:rPr lang="en-US" sz="1300" b="1" dirty="0">
                          <a:solidFill>
                            <a:srgbClr val="BE5A2E"/>
                          </a:solidFill>
                          <a:latin typeface="Segoe UI" pitchFamily="34" charset="0"/>
                          <a:ea typeface="Segoe UI" pitchFamily="34" charset="-122"/>
                          <a:cs typeface="Segoe UI" pitchFamily="34" charset="-120"/>
                        </a:rPr>
                        <a:t>khoảng 1/5 số bước</a:t>
                      </a:r>
                      <a:endParaRPr lang="en-US" sz="13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r>
              <a:tr h="658368">
                <a:tc>
                  <a:txBody>
                    <a:bodyPr/>
                    <a:lstStyle/>
                    <a:p>
                      <a:pPr indent="0" marL="0">
                        <a:buNone/>
                      </a:pPr>
                      <a:r>
                        <a:rPr lang="en-US" sz="1300" dirty="0">
                          <a:solidFill>
                            <a:srgbClr val="000000"/>
                          </a:solidFill>
                          <a:latin typeface="Segoe UI" pitchFamily="34" charset="0"/>
                          <a:ea typeface="Segoe UI" pitchFamily="34" charset="-122"/>
                          <a:cs typeface="Segoe UI" pitchFamily="34" charset="-120"/>
                        </a:rPr>
                        <a:t>Tỉ lệ lỗi âm thầm</a:t>
                      </a:r>
                      <a:endParaRPr lang="en-US" sz="13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indent="0" marL="0">
                        <a:buNone/>
                      </a:pPr>
                      <a:r>
                        <a:rPr lang="en-US" sz="1300" dirty="0">
                          <a:solidFill>
                            <a:srgbClr val="000000"/>
                          </a:solidFill>
                          <a:latin typeface="Segoe UI" pitchFamily="34" charset="0"/>
                          <a:ea typeface="Segoe UI" pitchFamily="34" charset="-122"/>
                          <a:cs typeface="Segoe UI" pitchFamily="34" charset="-120"/>
                        </a:rPr>
                        <a:t>Nếu đoán đại nút khác thay chỗ bịa: bao nhiêu bước bị thay bằng nút CÓ THẬT nhưng sai việc</a:t>
                      </a:r>
                      <a:endParaRPr lang="en-US" sz="13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algn="ctr" indent="0" marL="0">
                        <a:buNone/>
                      </a:pPr>
                      <a:r>
                        <a:rPr lang="en-US" sz="1300" dirty="0">
                          <a:solidFill>
                            <a:srgbClr val="8B929B"/>
                          </a:solidFill>
                          <a:latin typeface="Segoe UI" pitchFamily="34" charset="0"/>
                          <a:ea typeface="Segoe UI" pitchFamily="34" charset="-122"/>
                          <a:cs typeface="Segoe UI" pitchFamily="34" charset="-120"/>
                        </a:rPr>
                        <a:t>đang đo tiếp</a:t>
                      </a:r>
                      <a:endParaRPr lang="en-US" sz="13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r>
            </a:tbl>
          </a:graphicData>
        </a:graphic>
      </p:graphicFrame>
      <p:sp>
        <p:nvSpPr>
          <p:cNvPr id="5" name="Text 2"/>
          <p:cNvSpPr/>
          <p:nvPr/>
        </p:nvSpPr>
        <p:spPr>
          <a:xfrm>
            <a:off x="841248" y="5029200"/>
            <a:ext cx="10515600" cy="457200"/>
          </a:xfrm>
          <a:prstGeom prst="rect">
            <a:avLst/>
          </a:prstGeom>
          <a:noFill/>
          <a:ln/>
        </p:spPr>
        <p:txBody>
          <a:bodyPr wrap="square" lIns="0" tIns="0" rIns="0" bIns="0" rtlCol="0" anchor="t"/>
          <a:lstStyle/>
          <a:p>
            <a:pPr algn="l" indent="0" marL="0">
              <a:lnSpc>
                <a:spcPct val="125000"/>
              </a:lnSpc>
              <a:buNone/>
            </a:pPr>
            <a:r>
              <a:rPr lang="en-US" sz="1200" i="1" dirty="0">
                <a:solidFill>
                  <a:srgbClr val="8B929B"/>
                </a:solidFill>
                <a:latin typeface="Segoe UI" pitchFamily="34" charset="0"/>
                <a:ea typeface="Segoe UI" pitchFamily="34" charset="-122"/>
                <a:cs typeface="Segoe UI" pitchFamily="34" charset="-120"/>
              </a:rPr>
              <a:t>* Đo từ một lần thử nhỏ trước đó, trên một mô hình và một tập ảnh giới hạn. Dùng để ước lượng quy mô dữ liệu cần lọc, chưa phải kết quả cuối của Student sau huấn luyện.</a:t>
            </a:r>
            <a:endParaRPr lang="en-US" sz="1200" dirty="0"/>
          </a:p>
        </p:txBody>
      </p:sp>
      <p:sp>
        <p:nvSpPr>
          <p:cNvPr id="6" name="Shape 3"/>
          <p:cNvSpPr/>
          <p:nvPr/>
        </p:nvSpPr>
        <p:spPr>
          <a:xfrm>
            <a:off x="841248" y="5623560"/>
            <a:ext cx="10506456" cy="777240"/>
          </a:xfrm>
          <a:prstGeom prst="roundRect">
            <a:avLst>
              <a:gd name="adj" fmla="val 11765"/>
            </a:avLst>
          </a:prstGeom>
          <a:solidFill>
            <a:srgbClr val="F3F5F7"/>
          </a:solidFill>
          <a:ln/>
        </p:spPr>
      </p:sp>
      <p:sp>
        <p:nvSpPr>
          <p:cNvPr id="7" name="Text 4"/>
          <p:cNvSpPr/>
          <p:nvPr/>
        </p:nvSpPr>
        <p:spPr>
          <a:xfrm>
            <a:off x="1115568" y="5623560"/>
            <a:ext cx="9957816" cy="777240"/>
          </a:xfrm>
          <a:prstGeom prst="rect">
            <a:avLst/>
          </a:prstGeom>
          <a:noFill/>
          <a:ln/>
        </p:spPr>
        <p:txBody>
          <a:bodyPr wrap="square" lIns="0" tIns="0" rIns="0" bIns="0" rtlCol="0" anchor="ctr"/>
          <a:lstStyle/>
          <a:p>
            <a:pPr algn="l" indent="0" marL="0">
              <a:lnSpc>
                <a:spcPct val="125000"/>
              </a:lnSpc>
              <a:buNone/>
            </a:pPr>
            <a:r>
              <a:rPr lang="en-US" sz="1350" b="1" dirty="0">
                <a:solidFill>
                  <a:srgbClr val="1D2733"/>
                </a:solidFill>
                <a:latin typeface="Segoe UI" pitchFamily="34" charset="0"/>
                <a:ea typeface="Segoe UI" pitchFamily="34" charset="-122"/>
                <a:cs typeface="Segoe UI" pitchFamily="34" charset="-120"/>
              </a:rPr>
              <a:t>Con số của Student sau khi huấn luyện  </a:t>
            </a:r>
            <a:pPr algn="l" indent="0" marL="0">
              <a:lnSpc>
                <a:spcPct val="125000"/>
              </a:lnSpc>
              <a:buNone/>
            </a:pPr>
            <a:r>
              <a:rPr lang="en-US" sz="1350" dirty="0">
                <a:solidFill>
                  <a:srgbClr val="454C55"/>
                </a:solidFill>
                <a:latin typeface="Segoe UI" pitchFamily="34" charset="0"/>
                <a:ea typeface="Segoe UI" pitchFamily="34" charset="-122"/>
                <a:cs typeface="Segoe UI" pitchFamily="34" charset="-120"/>
              </a:rPr>
              <a:t>là con số quyết định, nằm ở phần bộ thí nghiệm tiếp theo.</a:t>
            </a:r>
            <a:endParaRPr lang="en-US" sz="1350" dirty="0"/>
          </a:p>
        </p:txBody>
      </p:sp>
      <p:sp>
        <p:nvSpPr>
          <p:cNvPr id="9" name="Text 5"/>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10</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KIỂM TRA ĐỘ TIN CỦA PHÉP ĐO</a:t>
            </a:r>
            <a:endParaRPr lang="en-US" sz="1250" dirty="0"/>
          </a:p>
        </p:txBody>
      </p:sp>
      <p:sp>
        <p:nvSpPr>
          <p:cNvPr id="3" name="Text 1"/>
          <p:cNvSpPr/>
          <p:nvPr/>
        </p:nvSpPr>
        <p:spPr>
          <a:xfrm>
            <a:off x="841248" y="896112"/>
            <a:ext cx="10506456" cy="914400"/>
          </a:xfrm>
          <a:prstGeom prst="rect">
            <a:avLst/>
          </a:prstGeom>
          <a:noFill/>
          <a:ln/>
        </p:spPr>
        <p:txBody>
          <a:bodyPr wrap="square" lIns="0" tIns="0" rIns="0" bIns="0" rtlCol="0" anchor="t"/>
          <a:lstStyle/>
          <a:p>
            <a:pPr algn="l" indent="0" marL="0">
              <a:lnSpc>
                <a:spcPct val="105000"/>
              </a:lnSpc>
              <a:buNone/>
            </a:pPr>
            <a:r>
              <a:rPr lang="en-US" sz="2700" b="1" dirty="0">
                <a:solidFill>
                  <a:srgbClr val="1D2733"/>
                </a:solidFill>
                <a:latin typeface="Cambria" pitchFamily="34" charset="0"/>
                <a:ea typeface="Cambria" pitchFamily="34" charset="-122"/>
                <a:cs typeface="Cambria" pitchFamily="34" charset="-120"/>
              </a:rPr>
              <a:t>Trước khi tin một con số, phải biết phép đo có thật sự nhạy hay không</a:t>
            </a:r>
            <a:endParaRPr lang="en-US" sz="2700" dirty="0"/>
          </a:p>
        </p:txBody>
      </p:sp>
      <p:sp>
        <p:nvSpPr>
          <p:cNvPr id="4" name="Shape 2"/>
          <p:cNvSpPr/>
          <p:nvPr/>
        </p:nvSpPr>
        <p:spPr>
          <a:xfrm>
            <a:off x="841248" y="2377440"/>
            <a:ext cx="5029200" cy="2880360"/>
          </a:xfrm>
          <a:prstGeom prst="roundRect">
            <a:avLst>
              <a:gd name="adj" fmla="val 3175"/>
            </a:avLst>
          </a:prstGeom>
          <a:solidFill>
            <a:srgbClr val="F3F5F7"/>
          </a:solidFill>
          <a:ln/>
        </p:spPr>
      </p:sp>
      <p:sp>
        <p:nvSpPr>
          <p:cNvPr id="5" name="Text 3"/>
          <p:cNvSpPr/>
          <p:nvPr/>
        </p:nvSpPr>
        <p:spPr>
          <a:xfrm>
            <a:off x="1115568" y="2560320"/>
            <a:ext cx="4480560" cy="320040"/>
          </a:xfrm>
          <a:prstGeom prst="rect">
            <a:avLst/>
          </a:prstGeom>
          <a:noFill/>
          <a:ln/>
        </p:spPr>
        <p:txBody>
          <a:bodyPr wrap="square" lIns="0" tIns="0" rIns="0" bIns="0" rtlCol="0" anchor="t"/>
          <a:lstStyle/>
          <a:p>
            <a:pPr algn="l" indent="0" marL="0">
              <a:buNone/>
            </a:pPr>
            <a:r>
              <a:rPr lang="en-US" sz="1400" b="1" dirty="0">
                <a:solidFill>
                  <a:srgbClr val="52657A"/>
                </a:solidFill>
                <a:latin typeface="Segoe UI" pitchFamily="34" charset="0"/>
                <a:ea typeface="Segoe UI" pitchFamily="34" charset="-122"/>
                <a:cs typeface="Segoe UI" pitchFamily="34" charset="-120"/>
              </a:rPr>
              <a:t>Cách làm</a:t>
            </a:r>
            <a:endParaRPr lang="en-US" sz="1400" dirty="0"/>
          </a:p>
        </p:txBody>
      </p:sp>
      <p:sp>
        <p:nvSpPr>
          <p:cNvPr id="6" name="Text 4"/>
          <p:cNvSpPr/>
          <p:nvPr/>
        </p:nvSpPr>
        <p:spPr>
          <a:xfrm>
            <a:off x="1115568" y="2971800"/>
            <a:ext cx="4480560" cy="2103120"/>
          </a:xfrm>
          <a:prstGeom prst="rect">
            <a:avLst/>
          </a:prstGeom>
          <a:noFill/>
          <a:ln/>
        </p:spPr>
        <p:txBody>
          <a:bodyPr wrap="square" lIns="0" tIns="0" rIns="0" bIns="0" rtlCol="0" anchor="t"/>
          <a:lstStyle/>
          <a:p>
            <a:pPr algn="l" indent="0" marL="0">
              <a:lnSpc>
                <a:spcPct val="130000"/>
              </a:lnSpc>
              <a:buNone/>
            </a:pPr>
            <a:r>
              <a:rPr lang="en-US" sz="1350" dirty="0">
                <a:solidFill>
                  <a:srgbClr val="454C55"/>
                </a:solidFill>
                <a:latin typeface="Segoe UI" pitchFamily="34" charset="0"/>
                <a:ea typeface="Segoe UI" pitchFamily="34" charset="-122"/>
                <a:cs typeface="Segoe UI" pitchFamily="34" charset="-120"/>
              </a:rPr>
              <a:t>Chèn 4 loại lỗi đã biết trước, độc lập với matcher, rồi xem phép đo có bắt được không.</a:t>
            </a:r>
            <a:endParaRPr lang="en-US" sz="1350" dirty="0"/>
          </a:p>
        </p:txBody>
      </p:sp>
      <p:sp>
        <p:nvSpPr>
          <p:cNvPr id="7" name="Shape 5"/>
          <p:cNvSpPr/>
          <p:nvPr/>
        </p:nvSpPr>
        <p:spPr>
          <a:xfrm>
            <a:off x="6537960" y="2377440"/>
            <a:ext cx="4800600" cy="2880360"/>
          </a:xfrm>
          <a:prstGeom prst="roundRect">
            <a:avLst>
              <a:gd name="adj" fmla="val 3175"/>
            </a:avLst>
          </a:prstGeom>
          <a:solidFill>
            <a:srgbClr val="F7EBE3"/>
          </a:solidFill>
          <a:ln/>
        </p:spPr>
      </p:sp>
      <p:sp>
        <p:nvSpPr>
          <p:cNvPr id="8" name="Text 6"/>
          <p:cNvSpPr/>
          <p:nvPr/>
        </p:nvSpPr>
        <p:spPr>
          <a:xfrm>
            <a:off x="6812280" y="2560320"/>
            <a:ext cx="4251960" cy="320040"/>
          </a:xfrm>
          <a:prstGeom prst="rect">
            <a:avLst/>
          </a:prstGeom>
          <a:noFill/>
          <a:ln/>
        </p:spPr>
        <p:txBody>
          <a:bodyPr wrap="square" lIns="0" tIns="0" rIns="0" bIns="0" rtlCol="0" anchor="t"/>
          <a:lstStyle/>
          <a:p>
            <a:pPr algn="l" indent="0" marL="0">
              <a:buNone/>
            </a:pPr>
            <a:r>
              <a:rPr lang="en-US" sz="1400" b="1" dirty="0">
                <a:solidFill>
                  <a:srgbClr val="BE5A2E"/>
                </a:solidFill>
                <a:latin typeface="Segoe UI" pitchFamily="34" charset="0"/>
                <a:ea typeface="Segoe UI" pitchFamily="34" charset="-122"/>
                <a:cs typeface="Segoe UI" pitchFamily="34" charset="-120"/>
              </a:rPr>
              <a:t>Ngưỡng đăng ký trước</a:t>
            </a:r>
            <a:endParaRPr lang="en-US" sz="1400" dirty="0"/>
          </a:p>
        </p:txBody>
      </p:sp>
      <p:sp>
        <p:nvSpPr>
          <p:cNvPr id="9" name="Text 7"/>
          <p:cNvSpPr/>
          <p:nvPr/>
        </p:nvSpPr>
        <p:spPr>
          <a:xfrm>
            <a:off x="6812280" y="2971800"/>
            <a:ext cx="4251960" cy="2103120"/>
          </a:xfrm>
          <a:prstGeom prst="rect">
            <a:avLst/>
          </a:prstGeom>
          <a:noFill/>
          <a:ln/>
        </p:spPr>
        <p:txBody>
          <a:bodyPr wrap="square" lIns="0" tIns="0" rIns="0" bIns="0" rtlCol="0" anchor="t"/>
          <a:lstStyle/>
          <a:p>
            <a:pPr algn="l" indent="0" marL="0">
              <a:lnSpc>
                <a:spcPct val="130000"/>
              </a:lnSpc>
              <a:buNone/>
            </a:pPr>
            <a:r>
              <a:rPr lang="en-US" sz="1350" dirty="0">
                <a:solidFill>
                  <a:srgbClr val="1D2733"/>
                </a:solidFill>
                <a:latin typeface="Segoe UI" pitchFamily="34" charset="0"/>
                <a:ea typeface="Segoe UI" pitchFamily="34" charset="-122"/>
                <a:cs typeface="Segoe UI" pitchFamily="34" charset="-120"/>
              </a:rPr>
              <a:t>Bắt được ≥ 80% lỗi đã chèn.</a:t>
            </a:r>
            <a:endParaRPr lang="en-US" sz="1350" dirty="0"/>
          </a:p>
          <a:p>
            <a:pPr algn="l" indent="0" marL="0">
              <a:lnSpc>
                <a:spcPct val="130000"/>
              </a:lnSpc>
              <a:buNone/>
            </a:pPr>
            <a:r>
              <a:rPr lang="en-US" sz="1350" dirty="0">
                <a:solidFill>
                  <a:srgbClr val="1D2733"/>
                </a:solidFill>
                <a:latin typeface="Segoe UI" pitchFamily="34" charset="0"/>
                <a:ea typeface="Segoe UI" pitchFamily="34" charset="-122"/>
                <a:cs typeface="Segoe UI" pitchFamily="34" charset="-120"/>
              </a:rPr>
              <a:t>Báo nhầm ≤ 10% trên bước đúng.</a:t>
            </a:r>
            <a:endParaRPr lang="en-US" sz="1350" dirty="0"/>
          </a:p>
          <a:p>
            <a:pPr algn="l" indent="0" marL="0">
              <a:lnSpc>
                <a:spcPct val="130000"/>
              </a:lnSpc>
              <a:buNone/>
            </a:pPr>
            <a:r>
              <a:rPr lang="en-US" sz="1350" dirty="0">
                <a:solidFill>
                  <a:srgbClr val="1D2733"/>
                </a:solidFill>
                <a:latin typeface="Segoe UI" pitchFamily="34" charset="0"/>
                <a:ea typeface="Segoe UI" pitchFamily="34" charset="-122"/>
                <a:cs typeface="Segoe UI" pitchFamily="34" charset="-120"/>
              </a:rPr>
              <a:t>Chèn càng nhiều lỗi, điểm phải giảm đều (Spearman &lt; 0, p &lt; 0.05).</a:t>
            </a:r>
            <a:endParaRPr lang="en-US" sz="1350" dirty="0"/>
          </a:p>
          <a:p>
            <a:pPr algn="l" indent="0" marL="0">
              <a:lnSpc>
                <a:spcPct val="130000"/>
              </a:lnSpc>
              <a:buNone/>
            </a:pPr>
            <a:endParaRPr lang="en-US" sz="1350" dirty="0"/>
          </a:p>
          <a:p>
            <a:pPr algn="l" indent="0" marL="0">
              <a:lnSpc>
                <a:spcPct val="130000"/>
              </a:lnSpc>
              <a:buNone/>
            </a:pPr>
            <a:r>
              <a:rPr lang="en-US" sz="1350" dirty="0">
                <a:solidFill>
                  <a:srgbClr val="1D2733"/>
                </a:solidFill>
                <a:latin typeface="Segoe UI" pitchFamily="34" charset="0"/>
                <a:ea typeface="Segoe UI" pitchFamily="34" charset="-122"/>
                <a:cs typeface="Segoe UI" pitchFamily="34" charset="-120"/>
              </a:rPr>
              <a:t>Không đạt thì rút claim, không hứa suông.</a:t>
            </a:r>
            <a:endParaRPr lang="en-US" sz="1350" dirty="0"/>
          </a:p>
        </p:txBody>
      </p:sp>
      <p:sp>
        <p:nvSpPr>
          <p:cNvPr id="10" name="Shape 8"/>
          <p:cNvSpPr/>
          <p:nvPr/>
        </p:nvSpPr>
        <p:spPr>
          <a:xfrm>
            <a:off x="841248" y="5486400"/>
            <a:ext cx="10506456" cy="914400"/>
          </a:xfrm>
          <a:prstGeom prst="roundRect">
            <a:avLst>
              <a:gd name="adj" fmla="val 10000"/>
            </a:avLst>
          </a:prstGeom>
          <a:solidFill>
            <a:srgbClr val="17233B"/>
          </a:solidFill>
          <a:ln/>
        </p:spPr>
      </p:sp>
      <p:sp>
        <p:nvSpPr>
          <p:cNvPr id="11" name="Text 9"/>
          <p:cNvSpPr/>
          <p:nvPr/>
        </p:nvSpPr>
        <p:spPr>
          <a:xfrm>
            <a:off x="1115568" y="5486400"/>
            <a:ext cx="9957816" cy="914400"/>
          </a:xfrm>
          <a:prstGeom prst="rect">
            <a:avLst/>
          </a:prstGeom>
          <a:noFill/>
          <a:ln/>
        </p:spPr>
        <p:txBody>
          <a:bodyPr wrap="square" lIns="0" tIns="0" rIns="0" bIns="0" rtlCol="0" anchor="ctr"/>
          <a:lstStyle/>
          <a:p>
            <a:pPr algn="l" indent="0" marL="0">
              <a:lnSpc>
                <a:spcPct val="125000"/>
              </a:lnSpc>
              <a:buNone/>
            </a:pPr>
            <a:r>
              <a:rPr lang="en-US" sz="1350" b="1" dirty="0">
                <a:solidFill>
                  <a:srgbClr val="E4A986"/>
                </a:solidFill>
                <a:latin typeface="Segoe UI" pitchFamily="34" charset="0"/>
                <a:ea typeface="Segoe UI" pitchFamily="34" charset="-122"/>
                <a:cs typeface="Segoe UI" pitchFamily="34" charset="-120"/>
              </a:rPr>
              <a:t>Việc này làm độc lập với bộ lọc dữ liệu lúc dạy  </a:t>
            </a:r>
            <a:pPr algn="l" indent="0" marL="0">
              <a:lnSpc>
                <a:spcPct val="125000"/>
              </a:lnSpc>
              <a:buNone/>
            </a:pPr>
            <a:r>
              <a:rPr lang="en-US" sz="1350" dirty="0">
                <a:solidFill>
                  <a:srgbClr val="FFFFFF"/>
                </a:solidFill>
                <a:latin typeface="Segoe UI" pitchFamily="34" charset="0"/>
                <a:ea typeface="Segoe UI" pitchFamily="34" charset="-122"/>
                <a:cs typeface="Segoe UI" pitchFamily="34" charset="-120"/>
              </a:rPr>
              <a:t>lỗi bơm vào không do cùng cơ chế tạo ra lỗi thật, để tránh phép đo chỉ giỏi bắt đúng loại lỗi nó quen thuộc.</a:t>
            </a:r>
            <a:endParaRPr lang="en-US" sz="1350" dirty="0"/>
          </a:p>
        </p:txBody>
      </p:sp>
      <p:sp>
        <p:nvSpPr>
          <p:cNvPr id="13" name="Text 10"/>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11</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7233B"/>
        </a:solidFill>
      </p:bgPr>
    </p:bg>
    <p:spTree>
      <p:nvGrpSpPr>
        <p:cNvPr id="1" name=""/>
        <p:cNvGrpSpPr/>
        <p:nvPr/>
      </p:nvGrpSpPr>
      <p:grpSpPr>
        <a:xfrm>
          <a:off x="0" y="0"/>
          <a:ext cx="0" cy="0"/>
          <a:chOff x="0" y="0"/>
          <a:chExt cx="0" cy="0"/>
        </a:xfrm>
      </p:grpSpPr>
      <p:sp>
        <p:nvSpPr>
          <p:cNvPr id="2" name="Text 0"/>
          <p:cNvSpPr/>
          <p:nvPr/>
        </p:nvSpPr>
        <p:spPr>
          <a:xfrm>
            <a:off x="841248" y="2788920"/>
            <a:ext cx="10506456" cy="320040"/>
          </a:xfrm>
          <a:prstGeom prst="rect">
            <a:avLst/>
          </a:prstGeom>
          <a:noFill/>
          <a:ln/>
        </p:spPr>
        <p:txBody>
          <a:bodyPr wrap="square" lIns="0" tIns="0" rIns="0" bIns="0" rtlCol="0" anchor="t"/>
          <a:lstStyle/>
          <a:p>
            <a:pPr algn="ctr" indent="0" marL="0">
              <a:buNone/>
            </a:pPr>
            <a:r>
              <a:rPr lang="en-US" sz="1300" b="1" spc="300" kern="0" dirty="0">
                <a:solidFill>
                  <a:srgbClr val="E4A986"/>
                </a:solidFill>
                <a:latin typeface="Segoe UI" pitchFamily="34" charset="0"/>
                <a:ea typeface="Segoe UI" pitchFamily="34" charset="-122"/>
                <a:cs typeface="Segoe UI" pitchFamily="34" charset="-120"/>
              </a:rPr>
              <a:t>PHẦN BA</a:t>
            </a:r>
            <a:endParaRPr lang="en-US" sz="1300" dirty="0"/>
          </a:p>
        </p:txBody>
      </p:sp>
      <p:sp>
        <p:nvSpPr>
          <p:cNvPr id="3" name="Text 1"/>
          <p:cNvSpPr/>
          <p:nvPr/>
        </p:nvSpPr>
        <p:spPr>
          <a:xfrm>
            <a:off x="841248" y="3200400"/>
            <a:ext cx="10506456" cy="1005840"/>
          </a:xfrm>
          <a:prstGeom prst="rect">
            <a:avLst/>
          </a:prstGeom>
          <a:noFill/>
          <a:ln/>
        </p:spPr>
        <p:txBody>
          <a:bodyPr wrap="square" lIns="0" tIns="0" rIns="0" bIns="0" rtlCol="0" anchor="t"/>
          <a:lstStyle/>
          <a:p>
            <a:pPr algn="ctr" indent="0" marL="0">
              <a:lnSpc>
                <a:spcPct val="110000"/>
              </a:lnSpc>
              <a:buNone/>
            </a:pPr>
            <a:r>
              <a:rPr lang="en-US" sz="3200" b="1" dirty="0">
                <a:solidFill>
                  <a:srgbClr val="FFFFFF"/>
                </a:solidFill>
                <a:latin typeface="Cambria" pitchFamily="34" charset="0"/>
                <a:ea typeface="Cambria" pitchFamily="34" charset="-122"/>
                <a:cs typeface="Cambria" pitchFamily="34" charset="-120"/>
              </a:rPr>
              <a:t>Bộ thí nghiệm</a:t>
            </a:r>
            <a:endParaRPr lang="en-US" sz="3200" dirty="0"/>
          </a:p>
        </p:txBody>
      </p:sp>
      <p:sp>
        <p:nvSpPr>
          <p:cNvPr id="4" name="Text 2"/>
          <p:cNvSpPr/>
          <p:nvPr/>
        </p:nvSpPr>
        <p:spPr>
          <a:xfrm>
            <a:off x="1645920" y="4251960"/>
            <a:ext cx="8897112" cy="822960"/>
          </a:xfrm>
          <a:prstGeom prst="rect">
            <a:avLst/>
          </a:prstGeom>
          <a:noFill/>
          <a:ln/>
        </p:spPr>
        <p:txBody>
          <a:bodyPr wrap="square" lIns="0" tIns="0" rIns="0" bIns="0" rtlCol="0" anchor="t"/>
          <a:lstStyle/>
          <a:p>
            <a:pPr algn="ctr" indent="0" marL="0">
              <a:lnSpc>
                <a:spcPct val="130000"/>
              </a:lnSpc>
              <a:buNone/>
            </a:pPr>
            <a:r>
              <a:rPr lang="en-US" sz="1500" i="1" dirty="0">
                <a:solidFill>
                  <a:srgbClr val="C9D2DC"/>
                </a:solidFill>
                <a:latin typeface="Segoe UI" pitchFamily="34" charset="0"/>
                <a:ea typeface="Segoe UI" pitchFamily="34" charset="-122"/>
                <a:cs typeface="Segoe UI" pitchFamily="34" charset="-120"/>
              </a:rPr>
              <a:t>Khi không còn ai kiểm tra hộ nữa, thói quen thành thật của Student có còn giữ được không?</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HAI TẦNG THÍ NGHIỆM</a:t>
            </a:r>
            <a:endParaRPr lang="en-US" sz="1250" dirty="0"/>
          </a:p>
        </p:txBody>
      </p:sp>
      <p:sp>
        <p:nvSpPr>
          <p:cNvPr id="3" name="Text 1"/>
          <p:cNvSpPr/>
          <p:nvPr/>
        </p:nvSpPr>
        <p:spPr>
          <a:xfrm>
            <a:off x="841248" y="896112"/>
            <a:ext cx="10506456" cy="914400"/>
          </a:xfrm>
          <a:prstGeom prst="rect">
            <a:avLst/>
          </a:prstGeom>
          <a:noFill/>
          <a:ln/>
        </p:spPr>
        <p:txBody>
          <a:bodyPr wrap="square" lIns="0" tIns="0" rIns="0" bIns="0" rtlCol="0" anchor="t"/>
          <a:lstStyle/>
          <a:p>
            <a:pPr algn="l" indent="0" marL="0">
              <a:lnSpc>
                <a:spcPct val="105000"/>
              </a:lnSpc>
              <a:buNone/>
            </a:pPr>
            <a:r>
              <a:rPr lang="en-US" sz="2700" b="1" dirty="0">
                <a:solidFill>
                  <a:srgbClr val="1D2733"/>
                </a:solidFill>
                <a:latin typeface="Cambria" pitchFamily="34" charset="0"/>
                <a:ea typeface="Cambria" pitchFamily="34" charset="-122"/>
                <a:cs typeface="Cambria" pitchFamily="34" charset="-120"/>
              </a:rPr>
              <a:t>Tách riêng phần chắc thắng và phần câu hỏi mới</a:t>
            </a:r>
            <a:endParaRPr lang="en-US" sz="2700" dirty="0"/>
          </a:p>
        </p:txBody>
      </p:sp>
      <p:sp>
        <p:nvSpPr>
          <p:cNvPr id="4" name="Shape 2"/>
          <p:cNvSpPr/>
          <p:nvPr/>
        </p:nvSpPr>
        <p:spPr>
          <a:xfrm>
            <a:off x="841248" y="2331720"/>
            <a:ext cx="5029200" cy="3246120"/>
          </a:xfrm>
          <a:prstGeom prst="roundRect">
            <a:avLst>
              <a:gd name="adj" fmla="val 2817"/>
            </a:avLst>
          </a:prstGeom>
          <a:solidFill>
            <a:srgbClr val="EAF3EC"/>
          </a:solidFill>
          <a:ln/>
        </p:spPr>
      </p:sp>
      <p:sp>
        <p:nvSpPr>
          <p:cNvPr id="5" name="Text 3"/>
          <p:cNvSpPr/>
          <p:nvPr/>
        </p:nvSpPr>
        <p:spPr>
          <a:xfrm>
            <a:off x="1115568" y="2514600"/>
            <a:ext cx="4480560" cy="365760"/>
          </a:xfrm>
          <a:prstGeom prst="rect">
            <a:avLst/>
          </a:prstGeom>
          <a:noFill/>
          <a:ln/>
        </p:spPr>
        <p:txBody>
          <a:bodyPr wrap="square" lIns="0" tIns="0" rIns="0" bIns="0" rtlCol="0" anchor="t"/>
          <a:lstStyle/>
          <a:p>
            <a:pPr algn="l" indent="0" marL="0">
              <a:buNone/>
            </a:pPr>
            <a:r>
              <a:rPr lang="en-US" sz="1500" b="1" dirty="0">
                <a:solidFill>
                  <a:srgbClr val="1E6B43"/>
                </a:solidFill>
                <a:latin typeface="Cambria" pitchFamily="34" charset="0"/>
                <a:ea typeface="Cambria" pitchFamily="34" charset="-122"/>
                <a:cs typeface="Cambria" pitchFamily="34" charset="-120"/>
              </a:rPr>
              <a:t>Tầng một · lưới an toàn</a:t>
            </a:r>
            <a:endParaRPr lang="en-US" sz="1500" dirty="0"/>
          </a:p>
        </p:txBody>
      </p:sp>
      <p:sp>
        <p:nvSpPr>
          <p:cNvPr id="6" name="Text 4"/>
          <p:cNvSpPr/>
          <p:nvPr/>
        </p:nvSpPr>
        <p:spPr>
          <a:xfrm>
            <a:off x="1115568" y="2971800"/>
            <a:ext cx="4480560" cy="274320"/>
          </a:xfrm>
          <a:prstGeom prst="rect">
            <a:avLst/>
          </a:prstGeom>
          <a:noFill/>
          <a:ln/>
        </p:spPr>
        <p:txBody>
          <a:bodyPr wrap="square" lIns="0" tIns="0" rIns="0" bIns="0" rtlCol="0" anchor="t"/>
          <a:lstStyle/>
          <a:p>
            <a:pPr algn="l" indent="0" marL="0">
              <a:buNone/>
            </a:pPr>
            <a:r>
              <a:rPr lang="en-US" sz="1200" b="1" dirty="0">
                <a:solidFill>
                  <a:srgbClr val="52657A"/>
                </a:solidFill>
                <a:latin typeface="Segoe UI" pitchFamily="34" charset="0"/>
                <a:ea typeface="Segoe UI" pitchFamily="34" charset="-122"/>
                <a:cs typeface="Segoe UI" pitchFamily="34" charset="-120"/>
              </a:rPr>
              <a:t>So sánh:</a:t>
            </a:r>
            <a:endParaRPr lang="en-US" sz="1200" dirty="0"/>
          </a:p>
        </p:txBody>
      </p:sp>
      <p:sp>
        <p:nvSpPr>
          <p:cNvPr id="7" name="Text 5"/>
          <p:cNvSpPr/>
          <p:nvPr/>
        </p:nvSpPr>
        <p:spPr>
          <a:xfrm>
            <a:off x="1115568" y="3246120"/>
            <a:ext cx="4480560" cy="548640"/>
          </a:xfrm>
          <a:prstGeom prst="rect">
            <a:avLst/>
          </a:prstGeom>
          <a:noFill/>
          <a:ln/>
        </p:spPr>
        <p:txBody>
          <a:bodyPr wrap="square" lIns="0" tIns="0" rIns="0" bIns="0" rtlCol="0" anchor="t"/>
          <a:lstStyle/>
          <a:p>
            <a:pPr algn="l" indent="0" marL="0">
              <a:lnSpc>
                <a:spcPct val="125000"/>
              </a:lnSpc>
              <a:buNone/>
            </a:pPr>
            <a:r>
              <a:rPr lang="en-US" sz="1300" dirty="0">
                <a:solidFill>
                  <a:srgbClr val="1D2733"/>
                </a:solidFill>
                <a:latin typeface="Segoe UI" pitchFamily="34" charset="0"/>
                <a:ea typeface="Segoe UI" pitchFamily="34" charset="-122"/>
                <a:cs typeface="Segoe UI" pitchFamily="34" charset="-120"/>
              </a:rPr>
              <a:t>Student dạy từ dữ liệu sạch</a:t>
            </a:r>
            <a:endParaRPr lang="en-US" sz="1300" dirty="0"/>
          </a:p>
          <a:p>
            <a:pPr algn="l" indent="0" marL="0">
              <a:lnSpc>
                <a:spcPct val="125000"/>
              </a:lnSpc>
              <a:buNone/>
            </a:pPr>
            <a:r>
              <a:rPr lang="en-US" sz="1300" dirty="0">
                <a:solidFill>
                  <a:srgbClr val="1D2733"/>
                </a:solidFill>
                <a:latin typeface="Segoe UI" pitchFamily="34" charset="0"/>
                <a:ea typeface="Segoe UI" pitchFamily="34" charset="-122"/>
                <a:cs typeface="Segoe UI" pitchFamily="34" charset="-120"/>
              </a:rPr>
              <a:t>với</a:t>
            </a:r>
            <a:endParaRPr lang="en-US" sz="1300" dirty="0"/>
          </a:p>
          <a:p>
            <a:pPr algn="l" indent="0" marL="0">
              <a:lnSpc>
                <a:spcPct val="125000"/>
              </a:lnSpc>
              <a:buNone/>
            </a:pPr>
            <a:r>
              <a:rPr lang="en-US" sz="1300" dirty="0">
                <a:solidFill>
                  <a:srgbClr val="1D2733"/>
                </a:solidFill>
                <a:latin typeface="Segoe UI" pitchFamily="34" charset="0"/>
                <a:ea typeface="Segoe UI" pitchFamily="34" charset="-122"/>
                <a:cs typeface="Segoe UI" pitchFamily="34" charset="-120"/>
              </a:rPr>
              <a:t>Student dạy từ dữ liệu thô</a:t>
            </a:r>
            <a:endParaRPr lang="en-US" sz="1300" dirty="0"/>
          </a:p>
        </p:txBody>
      </p:sp>
      <p:sp>
        <p:nvSpPr>
          <p:cNvPr id="8" name="Text 6"/>
          <p:cNvSpPr/>
          <p:nvPr/>
        </p:nvSpPr>
        <p:spPr>
          <a:xfrm>
            <a:off x="1115568" y="3840480"/>
            <a:ext cx="4480560" cy="365760"/>
          </a:xfrm>
          <a:prstGeom prst="rect">
            <a:avLst/>
          </a:prstGeom>
          <a:noFill/>
          <a:ln/>
        </p:spPr>
        <p:txBody>
          <a:bodyPr wrap="square" lIns="0" tIns="0" rIns="0" bIns="0" rtlCol="0" anchor="t"/>
          <a:lstStyle/>
          <a:p>
            <a:pPr algn="l" indent="0" marL="0">
              <a:buNone/>
            </a:pPr>
            <a:r>
              <a:rPr lang="en-US" sz="1250" dirty="0">
                <a:solidFill>
                  <a:srgbClr val="454C55"/>
                </a:solidFill>
                <a:latin typeface="Segoe UI" pitchFamily="34" charset="0"/>
                <a:ea typeface="Segoe UI" pitchFamily="34" charset="-122"/>
                <a:cs typeface="Segoe UI" pitchFamily="34" charset="-120"/>
              </a:rPr>
              <a:t>Chấm trên bản model tự viết ra, chưa qua lớp viết lại.</a:t>
            </a:r>
            <a:endParaRPr lang="en-US" sz="1250" dirty="0"/>
          </a:p>
        </p:txBody>
      </p:sp>
      <p:sp>
        <p:nvSpPr>
          <p:cNvPr id="9" name="Text 7"/>
          <p:cNvSpPr/>
          <p:nvPr/>
        </p:nvSpPr>
        <p:spPr>
          <a:xfrm>
            <a:off x="1115568" y="4315968"/>
            <a:ext cx="4480560" cy="320040"/>
          </a:xfrm>
          <a:prstGeom prst="rect">
            <a:avLst/>
          </a:prstGeom>
          <a:noFill/>
          <a:ln/>
        </p:spPr>
        <p:txBody>
          <a:bodyPr wrap="square" lIns="0" tIns="0" rIns="0" bIns="0" rtlCol="0" anchor="t"/>
          <a:lstStyle/>
          <a:p>
            <a:pPr algn="l" indent="0" marL="0">
              <a:buNone/>
            </a:pPr>
            <a:r>
              <a:rPr lang="en-US" sz="1400" b="1" dirty="0">
                <a:solidFill>
                  <a:srgbClr val="1E6B43"/>
                </a:solidFill>
                <a:latin typeface="Segoe UI" pitchFamily="34" charset="0"/>
                <a:ea typeface="Segoe UI" pitchFamily="34" charset="-122"/>
                <a:cs typeface="Segoe UI" pitchFamily="34" charset="-120"/>
              </a:rPr>
              <a:t>Gần như chắc thắng.</a:t>
            </a:r>
            <a:endParaRPr lang="en-US" sz="1400" dirty="0"/>
          </a:p>
        </p:txBody>
      </p:sp>
      <p:sp>
        <p:nvSpPr>
          <p:cNvPr id="10" name="Text 8"/>
          <p:cNvSpPr/>
          <p:nvPr/>
        </p:nvSpPr>
        <p:spPr>
          <a:xfrm>
            <a:off x="1115568" y="4645152"/>
            <a:ext cx="4480560" cy="457200"/>
          </a:xfrm>
          <a:prstGeom prst="rect">
            <a:avLst/>
          </a:prstGeom>
          <a:noFill/>
          <a:ln/>
        </p:spPr>
        <p:txBody>
          <a:bodyPr wrap="square" lIns="0" tIns="0" rIns="0" bIns="0" rtlCol="0" anchor="t"/>
          <a:lstStyle/>
          <a:p>
            <a:pPr algn="l" indent="0" marL="0">
              <a:lnSpc>
                <a:spcPct val="125000"/>
              </a:lnSpc>
              <a:buNone/>
            </a:pPr>
            <a:r>
              <a:rPr lang="en-US" sz="1250" dirty="0">
                <a:solidFill>
                  <a:srgbClr val="454C55"/>
                </a:solidFill>
                <a:latin typeface="Segoe UI" pitchFamily="34" charset="0"/>
                <a:ea typeface="Segoe UI" pitchFamily="34" charset="-122"/>
                <a:cs typeface="Segoe UI" pitchFamily="34" charset="-120"/>
              </a:rPr>
              <a:t>Việc lọc dữ liệu có tạo ra khác biệt đo được hay không.</a:t>
            </a:r>
            <a:endParaRPr lang="en-US" sz="1250" dirty="0"/>
          </a:p>
        </p:txBody>
      </p:sp>
      <p:sp>
        <p:nvSpPr>
          <p:cNvPr id="11" name="Shape 9"/>
          <p:cNvSpPr/>
          <p:nvPr/>
        </p:nvSpPr>
        <p:spPr>
          <a:xfrm>
            <a:off x="6537960" y="2331720"/>
            <a:ext cx="4800600" cy="3246120"/>
          </a:xfrm>
          <a:prstGeom prst="roundRect">
            <a:avLst>
              <a:gd name="adj" fmla="val 2817"/>
            </a:avLst>
          </a:prstGeom>
          <a:solidFill>
            <a:srgbClr val="F7EBE3"/>
          </a:solidFill>
          <a:ln/>
        </p:spPr>
      </p:sp>
      <p:sp>
        <p:nvSpPr>
          <p:cNvPr id="12" name="Text 10"/>
          <p:cNvSpPr/>
          <p:nvPr/>
        </p:nvSpPr>
        <p:spPr>
          <a:xfrm>
            <a:off x="6812280" y="2514600"/>
            <a:ext cx="4251960" cy="365760"/>
          </a:xfrm>
          <a:prstGeom prst="rect">
            <a:avLst/>
          </a:prstGeom>
          <a:noFill/>
          <a:ln/>
        </p:spPr>
        <p:txBody>
          <a:bodyPr wrap="square" lIns="0" tIns="0" rIns="0" bIns="0" rtlCol="0" anchor="t"/>
          <a:lstStyle/>
          <a:p>
            <a:pPr algn="l" indent="0" marL="0">
              <a:buNone/>
            </a:pPr>
            <a:r>
              <a:rPr lang="en-US" sz="1500" b="1" dirty="0">
                <a:solidFill>
                  <a:srgbClr val="BE5A2E"/>
                </a:solidFill>
                <a:latin typeface="Cambria" pitchFamily="34" charset="0"/>
                <a:ea typeface="Cambria" pitchFamily="34" charset="-122"/>
                <a:cs typeface="Cambria" pitchFamily="34" charset="-120"/>
              </a:rPr>
              <a:t>Tầng hai · câu hỏi mới</a:t>
            </a:r>
            <a:endParaRPr lang="en-US" sz="1500" dirty="0"/>
          </a:p>
        </p:txBody>
      </p:sp>
      <p:sp>
        <p:nvSpPr>
          <p:cNvPr id="13" name="Text 11"/>
          <p:cNvSpPr/>
          <p:nvPr/>
        </p:nvSpPr>
        <p:spPr>
          <a:xfrm>
            <a:off x="6812280" y="2971800"/>
            <a:ext cx="4251960" cy="274320"/>
          </a:xfrm>
          <a:prstGeom prst="rect">
            <a:avLst/>
          </a:prstGeom>
          <a:noFill/>
          <a:ln/>
        </p:spPr>
        <p:txBody>
          <a:bodyPr wrap="square" lIns="0" tIns="0" rIns="0" bIns="0" rtlCol="0" anchor="t"/>
          <a:lstStyle/>
          <a:p>
            <a:pPr algn="l" indent="0" marL="0">
              <a:buNone/>
            </a:pPr>
            <a:r>
              <a:rPr lang="en-US" sz="1200" b="1" dirty="0">
                <a:solidFill>
                  <a:srgbClr val="52657A"/>
                </a:solidFill>
                <a:latin typeface="Segoe UI" pitchFamily="34" charset="0"/>
                <a:ea typeface="Segoe UI" pitchFamily="34" charset="-122"/>
                <a:cs typeface="Segoe UI" pitchFamily="34" charset="-120"/>
              </a:rPr>
              <a:t>So sánh:</a:t>
            </a:r>
            <a:endParaRPr lang="en-US" sz="1200" dirty="0"/>
          </a:p>
        </p:txBody>
      </p:sp>
      <p:sp>
        <p:nvSpPr>
          <p:cNvPr id="14" name="Text 12"/>
          <p:cNvSpPr/>
          <p:nvPr/>
        </p:nvSpPr>
        <p:spPr>
          <a:xfrm>
            <a:off x="6812280" y="3246120"/>
            <a:ext cx="4251960" cy="548640"/>
          </a:xfrm>
          <a:prstGeom prst="rect">
            <a:avLst/>
          </a:prstGeom>
          <a:noFill/>
          <a:ln/>
        </p:spPr>
        <p:txBody>
          <a:bodyPr wrap="square" lIns="0" tIns="0" rIns="0" bIns="0" rtlCol="0" anchor="t"/>
          <a:lstStyle/>
          <a:p>
            <a:pPr algn="l" indent="0" marL="0">
              <a:lnSpc>
                <a:spcPct val="125000"/>
              </a:lnSpc>
              <a:buNone/>
            </a:pPr>
            <a:r>
              <a:rPr lang="en-US" sz="1300" dirty="0">
                <a:solidFill>
                  <a:srgbClr val="1D2733"/>
                </a:solidFill>
                <a:latin typeface="Segoe UI" pitchFamily="34" charset="0"/>
                <a:ea typeface="Segoe UI" pitchFamily="34" charset="-122"/>
                <a:cs typeface="Segoe UI" pitchFamily="34" charset="-120"/>
              </a:rPr>
              <a:t>Student</a:t>
            </a:r>
            <a:endParaRPr lang="en-US" sz="1300" dirty="0"/>
          </a:p>
          <a:p>
            <a:pPr algn="l" indent="0" marL="0">
              <a:lnSpc>
                <a:spcPct val="125000"/>
              </a:lnSpc>
              <a:buNone/>
            </a:pPr>
            <a:r>
              <a:rPr lang="en-US" sz="1300" dirty="0">
                <a:solidFill>
                  <a:srgbClr val="1D2733"/>
                </a:solidFill>
                <a:latin typeface="Segoe UI" pitchFamily="34" charset="0"/>
                <a:ea typeface="Segoe UI" pitchFamily="34" charset="-122"/>
                <a:cs typeface="Segoe UI" pitchFamily="34" charset="-120"/>
              </a:rPr>
              <a:t>với</a:t>
            </a:r>
            <a:endParaRPr lang="en-US" sz="1300" dirty="0"/>
          </a:p>
          <a:p>
            <a:pPr algn="l" indent="0" marL="0">
              <a:lnSpc>
                <a:spcPct val="125000"/>
              </a:lnSpc>
              <a:buNone/>
            </a:pPr>
            <a:r>
              <a:rPr lang="en-US" sz="1300" dirty="0">
                <a:solidFill>
                  <a:srgbClr val="1D2733"/>
                </a:solidFill>
                <a:latin typeface="Segoe UI" pitchFamily="34" charset="0"/>
                <a:ea typeface="Segoe UI" pitchFamily="34" charset="-122"/>
                <a:cs typeface="Segoe UI" pitchFamily="34" charset="-120"/>
              </a:rPr>
              <a:t>chính Teacher</a:t>
            </a:r>
            <a:endParaRPr lang="en-US" sz="1300" dirty="0"/>
          </a:p>
        </p:txBody>
      </p:sp>
      <p:sp>
        <p:nvSpPr>
          <p:cNvPr id="15" name="Text 13"/>
          <p:cNvSpPr/>
          <p:nvPr/>
        </p:nvSpPr>
        <p:spPr>
          <a:xfrm>
            <a:off x="6812280" y="3840480"/>
            <a:ext cx="4251960" cy="365760"/>
          </a:xfrm>
          <a:prstGeom prst="rect">
            <a:avLst/>
          </a:prstGeom>
          <a:noFill/>
          <a:ln/>
        </p:spPr>
        <p:txBody>
          <a:bodyPr wrap="square" lIns="0" tIns="0" rIns="0" bIns="0" rtlCol="0" anchor="t"/>
          <a:lstStyle/>
          <a:p>
            <a:pPr algn="l" indent="0" marL="0">
              <a:buNone/>
            </a:pPr>
            <a:r>
              <a:rPr lang="en-US" sz="1250" dirty="0">
                <a:solidFill>
                  <a:srgbClr val="454C55"/>
                </a:solidFill>
                <a:latin typeface="Segoe UI" pitchFamily="34" charset="0"/>
                <a:ea typeface="Segoe UI" pitchFamily="34" charset="-122"/>
                <a:cs typeface="Segoe UI" pitchFamily="34" charset="-120"/>
              </a:rPr>
              <a:t>Cả hai đều bị tắt danh sách nút. Cùng một đề thi.</a:t>
            </a:r>
            <a:endParaRPr lang="en-US" sz="1250" dirty="0"/>
          </a:p>
        </p:txBody>
      </p:sp>
      <p:sp>
        <p:nvSpPr>
          <p:cNvPr id="16" name="Text 14"/>
          <p:cNvSpPr/>
          <p:nvPr/>
        </p:nvSpPr>
        <p:spPr>
          <a:xfrm>
            <a:off x="6812280" y="4315968"/>
            <a:ext cx="4251960" cy="320040"/>
          </a:xfrm>
          <a:prstGeom prst="rect">
            <a:avLst/>
          </a:prstGeom>
          <a:noFill/>
          <a:ln/>
        </p:spPr>
        <p:txBody>
          <a:bodyPr wrap="square" lIns="0" tIns="0" rIns="0" bIns="0" rtlCol="0" anchor="t"/>
          <a:lstStyle/>
          <a:p>
            <a:pPr algn="l" indent="0" marL="0">
              <a:buNone/>
            </a:pPr>
            <a:r>
              <a:rPr lang="en-US" sz="1400" b="1" dirty="0">
                <a:solidFill>
                  <a:srgbClr val="BE5A2E"/>
                </a:solidFill>
                <a:latin typeface="Segoe UI" pitchFamily="34" charset="0"/>
                <a:ea typeface="Segoe UI" pitchFamily="34" charset="-122"/>
                <a:cs typeface="Segoe UI" pitchFamily="34" charset="-120"/>
              </a:rPr>
              <a:t>Có thể ra kết quả rỗng.</a:t>
            </a:r>
            <a:endParaRPr lang="en-US" sz="1400" dirty="0"/>
          </a:p>
        </p:txBody>
      </p:sp>
      <p:sp>
        <p:nvSpPr>
          <p:cNvPr id="17" name="Text 15"/>
          <p:cNvSpPr/>
          <p:nvPr/>
        </p:nvSpPr>
        <p:spPr>
          <a:xfrm>
            <a:off x="6812280" y="4645152"/>
            <a:ext cx="4251960" cy="457200"/>
          </a:xfrm>
          <a:prstGeom prst="rect">
            <a:avLst/>
          </a:prstGeom>
          <a:noFill/>
          <a:ln/>
        </p:spPr>
        <p:txBody>
          <a:bodyPr wrap="square" lIns="0" tIns="0" rIns="0" bIns="0" rtlCol="0" anchor="t"/>
          <a:lstStyle/>
          <a:p>
            <a:pPr algn="l" indent="0" marL="0">
              <a:lnSpc>
                <a:spcPct val="125000"/>
              </a:lnSpc>
              <a:buNone/>
            </a:pPr>
            <a:r>
              <a:rPr lang="en-US" sz="1250" dirty="0">
                <a:solidFill>
                  <a:srgbClr val="454C55"/>
                </a:solidFill>
                <a:latin typeface="Segoe UI" pitchFamily="34" charset="0"/>
                <a:ea typeface="Segoe UI" pitchFamily="34" charset="-122"/>
                <a:cs typeface="Segoe UI" pitchFamily="34" charset="-120"/>
              </a:rPr>
              <a:t>Thói quen thành thật có ngấm vào trọng số hay không.</a:t>
            </a:r>
            <a:endParaRPr lang="en-US" sz="1250" dirty="0"/>
          </a:p>
        </p:txBody>
      </p:sp>
      <p:sp>
        <p:nvSpPr>
          <p:cNvPr id="18" name="Text 16"/>
          <p:cNvSpPr/>
          <p:nvPr/>
        </p:nvSpPr>
        <p:spPr>
          <a:xfrm>
            <a:off x="841248" y="5806440"/>
            <a:ext cx="10515600" cy="365760"/>
          </a:xfrm>
          <a:prstGeom prst="rect">
            <a:avLst/>
          </a:prstGeom>
          <a:noFill/>
          <a:ln/>
        </p:spPr>
        <p:txBody>
          <a:bodyPr wrap="square" lIns="0" tIns="0" rIns="0" bIns="0" rtlCol="0" anchor="t"/>
          <a:lstStyle/>
          <a:p>
            <a:pPr algn="l" indent="0" marL="0">
              <a:buNone/>
            </a:pPr>
            <a:r>
              <a:rPr lang="en-US" sz="1350" dirty="0">
                <a:solidFill>
                  <a:srgbClr val="454C55"/>
                </a:solidFill>
                <a:latin typeface="Segoe UI" pitchFamily="34" charset="0"/>
                <a:ea typeface="Segoe UI" pitchFamily="34" charset="-122"/>
                <a:cs typeface="Segoe UI" pitchFamily="34" charset="-120"/>
              </a:rPr>
              <a:t>Hai tầng báo cáo độc lập. Tầng hai rỗng thì tầng một vẫn đứng.</a:t>
            </a:r>
            <a:endParaRPr lang="en-US" sz="1350" dirty="0"/>
          </a:p>
        </p:txBody>
      </p:sp>
      <p:sp>
        <p:nvSpPr>
          <p:cNvPr id="20" name="Text 17"/>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12</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BA KẾT CỤC, VÀ CÁCH KIỂM CHỨNG</a:t>
            </a:r>
            <a:endParaRPr lang="en-US" sz="1250" dirty="0"/>
          </a:p>
        </p:txBody>
      </p:sp>
      <p:sp>
        <p:nvSpPr>
          <p:cNvPr id="3" name="Text 1"/>
          <p:cNvSpPr/>
          <p:nvPr/>
        </p:nvSpPr>
        <p:spPr>
          <a:xfrm>
            <a:off x="841248" y="896112"/>
            <a:ext cx="10506456" cy="914400"/>
          </a:xfrm>
          <a:prstGeom prst="rect">
            <a:avLst/>
          </a:prstGeom>
          <a:noFill/>
          <a:ln/>
        </p:spPr>
        <p:txBody>
          <a:bodyPr wrap="square" lIns="0" tIns="0" rIns="0" bIns="0" rtlCol="0" anchor="t"/>
          <a:lstStyle/>
          <a:p>
            <a:pPr algn="l" indent="0" marL="0">
              <a:lnSpc>
                <a:spcPct val="105000"/>
              </a:lnSpc>
              <a:buNone/>
            </a:pPr>
            <a:r>
              <a:rPr lang="en-US" sz="2700" b="1" dirty="0">
                <a:solidFill>
                  <a:srgbClr val="1D2733"/>
                </a:solidFill>
                <a:latin typeface="Cambria" pitchFamily="34" charset="0"/>
                <a:ea typeface="Cambria" pitchFamily="34" charset="-122"/>
                <a:cs typeface="Cambria" pitchFamily="34" charset="-120"/>
              </a:rPr>
              <a:t>Cả ba cách diễn giải đã chốt trước khi nhìn số</a:t>
            </a:r>
            <a:endParaRPr lang="en-US" sz="27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841248" y="2331720"/>
          <a:ext cx="6035040" cy="914400"/>
        </p:xfrm>
        <a:graphic>
          <a:graphicData uri="http://schemas.openxmlformats.org/drawingml/2006/table">
            <a:tbl>
              <a:tblPr/>
              <a:tblGrid>
                <a:gridCol w="2194560"/>
                <a:gridCol w="3840480"/>
              </a:tblGrid>
              <a:tr h="658368">
                <a:tc>
                  <a:txBody>
                    <a:bodyPr/>
                    <a:lstStyle/>
                    <a:p>
                      <a:pPr indent="0" marL="0">
                        <a:buNone/>
                      </a:pPr>
                      <a:r>
                        <a:rPr lang="en-US" sz="1250" b="1" dirty="0">
                          <a:solidFill>
                            <a:srgbClr val="1D2733"/>
                          </a:solidFill>
                          <a:latin typeface="Segoe UI" pitchFamily="34" charset="0"/>
                          <a:ea typeface="Segoe UI" pitchFamily="34" charset="-122"/>
                          <a:cs typeface="Segoe UI" pitchFamily="34" charset="-120"/>
                        </a:rPr>
                        <a:t>Kết cục</a:t>
                      </a:r>
                      <a:endParaRPr lang="en-US" sz="125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solidFill>
                      <a:srgbClr val="F3F5F7"/>
                    </a:solidFill>
                  </a:tcPr>
                </a:tc>
                <a:tc>
                  <a:txBody>
                    <a:bodyPr/>
                    <a:lstStyle/>
                    <a:p>
                      <a:pPr indent="0" marL="0">
                        <a:buNone/>
                      </a:pPr>
                      <a:r>
                        <a:rPr lang="en-US" sz="1250" b="1" dirty="0">
                          <a:solidFill>
                            <a:srgbClr val="1D2733"/>
                          </a:solidFill>
                          <a:latin typeface="Segoe UI" pitchFamily="34" charset="0"/>
                          <a:ea typeface="Segoe UI" pitchFamily="34" charset="-122"/>
                          <a:cs typeface="Segoe UI" pitchFamily="34" charset="-120"/>
                        </a:rPr>
                        <a:t>Ý nghĩa</a:t>
                      </a:r>
                      <a:endParaRPr lang="en-US" sz="125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solidFill>
                      <a:srgbClr val="F3F5F7"/>
                    </a:solidFill>
                  </a:tcPr>
                </a:tc>
              </a:tr>
              <a:tr h="658368">
                <a:tc>
                  <a:txBody>
                    <a:bodyPr/>
                    <a:lstStyle/>
                    <a:p>
                      <a:pPr indent="0" marL="0">
                        <a:buNone/>
                      </a:pPr>
                      <a:r>
                        <a:rPr lang="en-US" sz="1250" b="1" dirty="0">
                          <a:solidFill>
                            <a:srgbClr val="1E6B43"/>
                          </a:solidFill>
                          <a:latin typeface="Segoe UI" pitchFamily="34" charset="0"/>
                          <a:ea typeface="Segoe UI" pitchFamily="34" charset="-122"/>
                          <a:cs typeface="Segoe UI" pitchFamily="34" charset="-120"/>
                        </a:rPr>
                        <a:t>Thắng đầy đủ</a:t>
                      </a:r>
                      <a:endParaRPr lang="en-US" sz="125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indent="0" marL="0">
                        <a:buNone/>
                      </a:pPr>
                      <a:r>
                        <a:rPr lang="en-US" sz="1250" dirty="0">
                          <a:solidFill>
                            <a:srgbClr val="000000"/>
                          </a:solidFill>
                          <a:latin typeface="Segoe UI" pitchFamily="34" charset="0"/>
                          <a:ea typeface="Segoe UI" pitchFamily="34" charset="-122"/>
                          <a:cs typeface="Segoe UI" pitchFamily="34" charset="-120"/>
                        </a:rPr>
                        <a:t>Thói quen thành thật đã ngấm thật vào Student</a:t>
                      </a:r>
                      <a:endParaRPr lang="en-US" sz="125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r>
              <a:tr h="658368">
                <a:tc>
                  <a:txBody>
                    <a:bodyPr/>
                    <a:lstStyle/>
                    <a:p>
                      <a:pPr indent="0" marL="0">
                        <a:buNone/>
                      </a:pPr>
                      <a:r>
                        <a:rPr lang="en-US" sz="1250" b="1" dirty="0">
                          <a:solidFill>
                            <a:srgbClr val="BE5A2E"/>
                          </a:solidFill>
                          <a:latin typeface="Segoe UI" pitchFamily="34" charset="0"/>
                          <a:ea typeface="Segoe UI" pitchFamily="34" charset="-122"/>
                          <a:cs typeface="Segoe UI" pitchFamily="34" charset="-120"/>
                        </a:rPr>
                        <a:t>Thắng một phần</a:t>
                      </a:r>
                      <a:endParaRPr lang="en-US" sz="125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indent="0" marL="0">
                        <a:buNone/>
                      </a:pPr>
                      <a:r>
                        <a:rPr lang="en-US" sz="1250" dirty="0">
                          <a:solidFill>
                            <a:srgbClr val="000000"/>
                          </a:solidFill>
                          <a:latin typeface="Segoe UI" pitchFamily="34" charset="0"/>
                          <a:ea typeface="Segoe UI" pitchFamily="34" charset="-122"/>
                          <a:cs typeface="Segoe UI" pitchFamily="34" charset="-120"/>
                        </a:rPr>
                        <a:t>Có ngấm, nhưng còn yếu. Vẫn là một phát hiện có giá trị</a:t>
                      </a:r>
                      <a:endParaRPr lang="en-US" sz="125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r>
              <a:tr h="658368">
                <a:tc>
                  <a:txBody>
                    <a:bodyPr/>
                    <a:lstStyle/>
                    <a:p>
                      <a:pPr indent="0" marL="0">
                        <a:buNone/>
                      </a:pPr>
                      <a:r>
                        <a:rPr lang="en-US" sz="1250" b="1" dirty="0">
                          <a:solidFill>
                            <a:srgbClr val="52657A"/>
                          </a:solidFill>
                          <a:latin typeface="Segoe UI" pitchFamily="34" charset="0"/>
                          <a:ea typeface="Segoe UI" pitchFamily="34" charset="-122"/>
                          <a:cs typeface="Segoe UI" pitchFamily="34" charset="-120"/>
                        </a:rPr>
                        <a:t>Không thấy khác biệt</a:t>
                      </a:r>
                      <a:endParaRPr lang="en-US" sz="125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indent="0" marL="0">
                        <a:buNone/>
                      </a:pPr>
                      <a:r>
                        <a:rPr lang="en-US" sz="1250" dirty="0">
                          <a:solidFill>
                            <a:srgbClr val="000000"/>
                          </a:solidFill>
                          <a:latin typeface="Segoe UI" pitchFamily="34" charset="0"/>
                          <a:ea typeface="Segoe UI" pitchFamily="34" charset="-122"/>
                          <a:cs typeface="Segoe UI" pitchFamily="34" charset="-120"/>
                        </a:rPr>
                        <a:t>Giới hạn thật của phương pháp. Không phải cả luận văn thất bại, vì tầng một đứng độc lập</a:t>
                      </a:r>
                      <a:endParaRPr lang="en-US" sz="125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r>
            </a:tbl>
          </a:graphicData>
        </a:graphic>
      </p:graphicFrame>
      <p:sp>
        <p:nvSpPr>
          <p:cNvPr id="5" name="Shape 2"/>
          <p:cNvSpPr/>
          <p:nvPr/>
        </p:nvSpPr>
        <p:spPr>
          <a:xfrm>
            <a:off x="7315200" y="2331720"/>
            <a:ext cx="4023360" cy="2743200"/>
          </a:xfrm>
          <a:prstGeom prst="roundRect">
            <a:avLst>
              <a:gd name="adj" fmla="val 3333"/>
            </a:avLst>
          </a:prstGeom>
          <a:solidFill>
            <a:srgbClr val="F3F5F7"/>
          </a:solidFill>
          <a:ln/>
        </p:spPr>
      </p:sp>
      <p:sp>
        <p:nvSpPr>
          <p:cNvPr id="6" name="Text 3"/>
          <p:cNvSpPr/>
          <p:nvPr/>
        </p:nvSpPr>
        <p:spPr>
          <a:xfrm>
            <a:off x="7543800" y="2514600"/>
            <a:ext cx="3566160" cy="365760"/>
          </a:xfrm>
          <a:prstGeom prst="rect">
            <a:avLst/>
          </a:prstGeom>
          <a:noFill/>
          <a:ln/>
        </p:spPr>
        <p:txBody>
          <a:bodyPr wrap="square" lIns="0" tIns="0" rIns="0" bIns="0" rtlCol="0" anchor="t"/>
          <a:lstStyle/>
          <a:p>
            <a:pPr algn="l" indent="0" marL="0">
              <a:buNone/>
            </a:pPr>
            <a:r>
              <a:rPr lang="en-US" sz="1300" b="1" dirty="0">
                <a:solidFill>
                  <a:srgbClr val="52657A"/>
                </a:solidFill>
                <a:latin typeface="Segoe UI" pitchFamily="34" charset="0"/>
                <a:ea typeface="Segoe UI" pitchFamily="34" charset="-122"/>
                <a:cs typeface="Segoe UI" pitchFamily="34" charset="-120"/>
              </a:rPr>
              <a:t>Cách kiểm chứng cho mẫu nhỏ</a:t>
            </a:r>
            <a:endParaRPr lang="en-US" sz="1300" dirty="0"/>
          </a:p>
        </p:txBody>
      </p:sp>
      <p:sp>
        <p:nvSpPr>
          <p:cNvPr id="7" name="Text 4"/>
          <p:cNvSpPr/>
          <p:nvPr/>
        </p:nvSpPr>
        <p:spPr>
          <a:xfrm>
            <a:off x="7543800" y="2926080"/>
            <a:ext cx="3566160" cy="2011680"/>
          </a:xfrm>
          <a:prstGeom prst="rect">
            <a:avLst/>
          </a:prstGeom>
          <a:noFill/>
          <a:ln/>
        </p:spPr>
        <p:txBody>
          <a:bodyPr wrap="square" lIns="0" tIns="0" rIns="0" bIns="0" rtlCol="0" anchor="t"/>
          <a:lstStyle/>
          <a:p>
            <a:pPr algn="l" indent="0" marL="0">
              <a:lnSpc>
                <a:spcPct val="128000"/>
              </a:lnSpc>
              <a:buNone/>
            </a:pPr>
            <a:r>
              <a:rPr lang="en-US" sz="1200" dirty="0">
                <a:solidFill>
                  <a:srgbClr val="454C55"/>
                </a:solidFill>
                <a:latin typeface="Segoe UI" pitchFamily="34" charset="0"/>
                <a:ea typeface="Segoe UI" pitchFamily="34" charset="-122"/>
                <a:cs typeface="Segoe UI" pitchFamily="34" charset="-120"/>
              </a:rPr>
              <a:t>Chỉ 12 ứng dụng để kiểm tra. Mẫu nhỏ, nên không ước lượng gần đúng.</a:t>
            </a:r>
            <a:endParaRPr lang="en-US" sz="1200" dirty="0"/>
          </a:p>
          <a:p>
            <a:pPr algn="l" indent="0" marL="0">
              <a:lnSpc>
                <a:spcPct val="128000"/>
              </a:lnSpc>
              <a:buNone/>
            </a:pPr>
            <a:endParaRPr lang="en-US" sz="1200" dirty="0"/>
          </a:p>
          <a:p>
            <a:pPr algn="l" indent="0" marL="0">
              <a:lnSpc>
                <a:spcPct val="128000"/>
              </a:lnSpc>
              <a:buNone/>
            </a:pPr>
            <a:r>
              <a:rPr lang="en-US" sz="1200" dirty="0">
                <a:solidFill>
                  <a:srgbClr val="454C55"/>
                </a:solidFill>
                <a:latin typeface="Segoe UI" pitchFamily="34" charset="0"/>
                <a:ea typeface="Segoe UI" pitchFamily="34" charset="-122"/>
                <a:cs typeface="Segoe UI" pitchFamily="34" charset="-120"/>
              </a:rPr>
              <a:t>Máy liệt kê hết 4.096 cách đổi dấu 12 con số chênh lệch, rồi xem kết quả thật nổi bật tới đâu so với toàn bộ khả năng ngẫu nhiên.</a:t>
            </a:r>
            <a:endParaRPr lang="en-US" sz="1200" dirty="0"/>
          </a:p>
        </p:txBody>
      </p:sp>
      <p:sp>
        <p:nvSpPr>
          <p:cNvPr id="8" name="Text 5"/>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13</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BỘ THÍ NGHIỆM</a:t>
            </a:r>
            <a:endParaRPr lang="en-US" sz="1250" dirty="0"/>
          </a:p>
        </p:txBody>
      </p:sp>
      <p:sp>
        <p:nvSpPr>
          <p:cNvPr id="3" name="Text 1"/>
          <p:cNvSpPr/>
          <p:nvPr/>
        </p:nvSpPr>
        <p:spPr>
          <a:xfrm>
            <a:off x="841248" y="896112"/>
            <a:ext cx="10506456" cy="914400"/>
          </a:xfrm>
          <a:prstGeom prst="rect">
            <a:avLst/>
          </a:prstGeom>
          <a:noFill/>
          <a:ln/>
        </p:spPr>
        <p:txBody>
          <a:bodyPr wrap="square" lIns="0" tIns="0" rIns="0" bIns="0" rtlCol="0" anchor="t"/>
          <a:lstStyle/>
          <a:p>
            <a:pPr algn="l" indent="0" marL="0">
              <a:lnSpc>
                <a:spcPct val="105000"/>
              </a:lnSpc>
              <a:buNone/>
            </a:pPr>
            <a:r>
              <a:rPr lang="en-US" sz="2700" b="1" dirty="0">
                <a:solidFill>
                  <a:srgbClr val="1D2733"/>
                </a:solidFill>
                <a:latin typeface="Cambria" pitchFamily="34" charset="0"/>
                <a:ea typeface="Cambria" pitchFamily="34" charset="-122"/>
                <a:cs typeface="Cambria" pitchFamily="34" charset="-120"/>
              </a:rPr>
              <a:t>Sáu thí nghiệm, mỗi cái trả lời một câu vặn khác nhau</a:t>
            </a:r>
            <a:endParaRPr lang="en-US" sz="27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841248" y="1874520"/>
          <a:ext cx="10506456" cy="914400"/>
        </p:xfrm>
        <a:graphic>
          <a:graphicData uri="http://schemas.openxmlformats.org/drawingml/2006/table">
            <a:tbl>
              <a:tblPr/>
              <a:tblGrid>
                <a:gridCol w="411480"/>
                <a:gridCol w="3154680"/>
                <a:gridCol w="2606040"/>
                <a:gridCol w="4334256"/>
              </a:tblGrid>
              <a:tr h="521208">
                <a:tc>
                  <a:txBody>
                    <a:bodyPr/>
                    <a:lstStyle/>
                    <a:p>
                      <a:pPr algn="ctr" indent="0" marL="0">
                        <a:buNone/>
                      </a:pPr>
                      <a:r>
                        <a:rPr lang="en-US" sz="1100" b="1" dirty="0">
                          <a:solidFill>
                            <a:srgbClr val="1D2733"/>
                          </a:solidFill>
                          <a:latin typeface="Segoe UI" pitchFamily="34" charset="0"/>
                          <a:ea typeface="Segoe UI" pitchFamily="34" charset="-122"/>
                          <a:cs typeface="Segoe UI" pitchFamily="34" charset="-120"/>
                        </a:rPr>
                        <a:t>#</a:t>
                      </a:r>
                      <a:endParaRPr lang="en-US" sz="11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solidFill>
                      <a:srgbClr val="F3F5F7"/>
                    </a:solidFill>
                  </a:tcPr>
                </a:tc>
                <a:tc>
                  <a:txBody>
                    <a:bodyPr/>
                    <a:lstStyle/>
                    <a:p>
                      <a:pPr indent="0" marL="0">
                        <a:buNone/>
                      </a:pPr>
                      <a:r>
                        <a:rPr lang="en-US" sz="1100" b="1" dirty="0">
                          <a:solidFill>
                            <a:srgbClr val="1D2733"/>
                          </a:solidFill>
                          <a:latin typeface="Segoe UI" pitchFamily="34" charset="0"/>
                          <a:ea typeface="Segoe UI" pitchFamily="34" charset="-122"/>
                          <a:cs typeface="Segoe UI" pitchFamily="34" charset="-120"/>
                        </a:rPr>
                        <a:t>So gì với gì</a:t>
                      </a:r>
                      <a:endParaRPr lang="en-US" sz="11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solidFill>
                      <a:srgbClr val="F3F5F7"/>
                    </a:solidFill>
                  </a:tcPr>
                </a:tc>
                <a:tc>
                  <a:txBody>
                    <a:bodyPr/>
                    <a:lstStyle/>
                    <a:p>
                      <a:pPr indent="0" marL="0">
                        <a:buNone/>
                      </a:pPr>
                      <a:r>
                        <a:rPr lang="en-US" sz="1100" b="1" dirty="0">
                          <a:solidFill>
                            <a:srgbClr val="1D2733"/>
                          </a:solidFill>
                          <a:latin typeface="Segoe UI" pitchFamily="34" charset="0"/>
                          <a:ea typeface="Segoe UI" pitchFamily="34" charset="-122"/>
                          <a:cs typeface="Segoe UI" pitchFamily="34" charset="-120"/>
                        </a:rPr>
                        <a:t>Ngưỡng đậu</a:t>
                      </a:r>
                      <a:endParaRPr lang="en-US" sz="11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solidFill>
                      <a:srgbClr val="F3F5F7"/>
                    </a:solidFill>
                  </a:tcPr>
                </a:tc>
                <a:tc>
                  <a:txBody>
                    <a:bodyPr/>
                    <a:lstStyle/>
                    <a:p>
                      <a:pPr indent="0" marL="0">
                        <a:buNone/>
                      </a:pPr>
                      <a:r>
                        <a:rPr lang="en-US" sz="1100" b="1" dirty="0">
                          <a:solidFill>
                            <a:srgbClr val="1D2733"/>
                          </a:solidFill>
                          <a:latin typeface="Segoe UI" pitchFamily="34" charset="0"/>
                          <a:ea typeface="Segoe UI" pitchFamily="34" charset="-122"/>
                          <a:cs typeface="Segoe UI" pitchFamily="34" charset="-120"/>
                        </a:rPr>
                        <a:t>Chặn được câu vặn</a:t>
                      </a:r>
                      <a:endParaRPr lang="en-US" sz="11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solidFill>
                      <a:srgbClr val="F3F5F7"/>
                    </a:solidFill>
                  </a:tcPr>
                </a:tc>
              </a:tr>
              <a:tr h="521208">
                <a:tc>
                  <a:txBody>
                    <a:bodyPr/>
                    <a:lstStyle/>
                    <a:p>
                      <a:pPr algn="ctr" indent="0" marL="0">
                        <a:buNone/>
                      </a:pPr>
                      <a:r>
                        <a:rPr lang="en-US" sz="1100" b="1" dirty="0">
                          <a:solidFill>
                            <a:srgbClr val="1E6B43"/>
                          </a:solidFill>
                          <a:latin typeface="Segoe UI" pitchFamily="34" charset="0"/>
                          <a:ea typeface="Segoe UI" pitchFamily="34" charset="-122"/>
                          <a:cs typeface="Segoe UI" pitchFamily="34" charset="-120"/>
                        </a:rPr>
                        <a:t>1</a:t>
                      </a:r>
                      <a:endParaRPr lang="en-US" sz="11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indent="0" marL="0">
                        <a:buNone/>
                      </a:pPr>
                      <a:r>
                        <a:rPr lang="en-US" sz="1100" b="1" dirty="0">
                          <a:solidFill>
                            <a:srgbClr val="454C55"/>
                          </a:solidFill>
                          <a:latin typeface="Segoe UI" pitchFamily="34" charset="0"/>
                          <a:ea typeface="Segoe UI" pitchFamily="34" charset="-122"/>
                          <a:cs typeface="Segoe UI" pitchFamily="34" charset="-120"/>
                        </a:rPr>
                        <a:t>Student  vs  Student-RAW</a:t>
                      </a:r>
                      <a:endParaRPr lang="en-US" sz="11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indent="0" marL="0">
                        <a:buNone/>
                      </a:pPr>
                      <a:r>
                        <a:rPr lang="en-US" sz="1100" dirty="0">
                          <a:solidFill>
                            <a:srgbClr val="454C55"/>
                          </a:solidFill>
                          <a:latin typeface="Segoe UI" pitchFamily="34" charset="0"/>
                          <a:ea typeface="Segoe UI" pitchFamily="34" charset="-122"/>
                          <a:cs typeface="Segoe UI" pitchFamily="34" charset="-120"/>
                        </a:rPr>
                        <a:t>CI 95% của Δ nằm trên 0</a:t>
                      </a:r>
                      <a:endParaRPr lang="en-US" sz="11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indent="0" marL="0">
                        <a:buNone/>
                      </a:pPr>
                      <a:r>
                        <a:rPr lang="en-US" sz="1100" dirty="0">
                          <a:solidFill>
                            <a:srgbClr val="454C55"/>
                          </a:solidFill>
                          <a:latin typeface="Segoe UI" pitchFamily="34" charset="0"/>
                          <a:ea typeface="Segoe UI" pitchFamily="34" charset="-122"/>
                          <a:cs typeface="Segoe UI" pitchFamily="34" charset="-120"/>
                        </a:rPr>
                        <a:t>“Giỏi lên là nhờ fine-tune nói chung, đâu phải nhờ lọc?”</a:t>
                      </a:r>
                      <a:endParaRPr lang="en-US" sz="11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r>
              <a:tr h="521208">
                <a:tc>
                  <a:txBody>
                    <a:bodyPr/>
                    <a:lstStyle/>
                    <a:p>
                      <a:pPr algn="ctr" indent="0" marL="0">
                        <a:buNone/>
                      </a:pPr>
                      <a:r>
                        <a:rPr lang="en-US" sz="1100" b="1" dirty="0">
                          <a:solidFill>
                            <a:srgbClr val="BE5A2E"/>
                          </a:solidFill>
                          <a:latin typeface="Segoe UI" pitchFamily="34" charset="0"/>
                          <a:ea typeface="Segoe UI" pitchFamily="34" charset="-122"/>
                          <a:cs typeface="Segoe UI" pitchFamily="34" charset="-120"/>
                        </a:rPr>
                        <a:t>2</a:t>
                      </a:r>
                      <a:endParaRPr lang="en-US" sz="11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indent="0" marL="0">
                        <a:buNone/>
                      </a:pPr>
                      <a:r>
                        <a:rPr lang="en-US" sz="1100" b="1" dirty="0">
                          <a:solidFill>
                            <a:srgbClr val="454C55"/>
                          </a:solidFill>
                          <a:latin typeface="Segoe UI" pitchFamily="34" charset="0"/>
                          <a:ea typeface="Segoe UI" pitchFamily="34" charset="-122"/>
                          <a:cs typeface="Segoe UI" pitchFamily="34" charset="-120"/>
                        </a:rPr>
                        <a:t>Student  vs  Teacher-BASE</a:t>
                      </a:r>
                      <a:endParaRPr lang="en-US" sz="1100" dirty="0">
                        <a:latin typeface="Segoe UI" charset="0"/>
                        <a:ea typeface="Segoe UI" charset="0"/>
                        <a:cs typeface="Segoe UI" charset="0"/>
                      </a:endParaRPr>
                    </a:p>
                    <a:p>
                      <a:pPr indent="0" marL="0">
                        <a:buNone/>
                      </a:pPr>
                      <a:r>
                        <a:rPr lang="en-US" sz="1100" b="1" dirty="0">
                          <a:solidFill>
                            <a:srgbClr val="454C55"/>
                          </a:solidFill>
                          <a:latin typeface="Segoe UI" pitchFamily="34" charset="0"/>
                          <a:ea typeface="Segoe UI" pitchFamily="34" charset="-122"/>
                          <a:cs typeface="Segoe UI" pitchFamily="34" charset="-120"/>
                        </a:rPr>
                        <a:t>tắt VH · app chưa từng thấy</a:t>
                      </a:r>
                      <a:endParaRPr lang="en-US" sz="11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indent="0" marL="0">
                        <a:buNone/>
                      </a:pPr>
                      <a:r>
                        <a:rPr lang="en-US" sz="1100" dirty="0">
                          <a:solidFill>
                            <a:srgbClr val="454C55"/>
                          </a:solidFill>
                          <a:latin typeface="Segoe UI" pitchFamily="34" charset="0"/>
                          <a:ea typeface="Segoe UI" pitchFamily="34" charset="-122"/>
                          <a:cs typeface="Segoe UI" pitchFamily="34" charset="-120"/>
                        </a:rPr>
                        <a:t>CI 95% trên 0  VÀ</a:t>
                      </a:r>
                      <a:endParaRPr lang="en-US" sz="1100" dirty="0">
                        <a:latin typeface="Segoe UI" charset="0"/>
                        <a:ea typeface="Segoe UI" charset="0"/>
                        <a:cs typeface="Segoe UI" charset="0"/>
                      </a:endParaRPr>
                    </a:p>
                    <a:p>
                      <a:pPr indent="0" marL="0">
                        <a:buNone/>
                      </a:pPr>
                      <a:r>
                        <a:rPr lang="en-US" sz="1100" dirty="0">
                          <a:solidFill>
                            <a:srgbClr val="454C55"/>
                          </a:solidFill>
                          <a:latin typeface="Segoe UI" pitchFamily="34" charset="0"/>
                          <a:ea typeface="Segoe UI" pitchFamily="34" charset="-122"/>
                          <a:cs typeface="Segoe UI" pitchFamily="34" charset="-120"/>
                        </a:rPr>
                        <a:t>Δ_test ≥ 0.5 × Δ_train</a:t>
                      </a:r>
                      <a:endParaRPr lang="en-US" sz="11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indent="0" marL="0">
                        <a:buNone/>
                      </a:pPr>
                      <a:r>
                        <a:rPr lang="en-US" sz="1100" dirty="0">
                          <a:solidFill>
                            <a:srgbClr val="454C55"/>
                          </a:solidFill>
                          <a:latin typeface="Segoe UI" pitchFamily="34" charset="0"/>
                          <a:ea typeface="Segoe UI" pitchFamily="34" charset="-122"/>
                          <a:cs typeface="Segoe UI" pitchFamily="34" charset="-120"/>
                        </a:rPr>
                        <a:t>“Thói quen đó có ngấm vào trọng số không?”  ← trụ chính, có thể null</a:t>
                      </a:r>
                      <a:endParaRPr lang="en-US" sz="11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r>
              <a:tr h="521208">
                <a:tc>
                  <a:txBody>
                    <a:bodyPr/>
                    <a:lstStyle/>
                    <a:p>
                      <a:pPr algn="ctr" indent="0" marL="0">
                        <a:buNone/>
                      </a:pPr>
                      <a:r>
                        <a:rPr lang="en-US" sz="1100" dirty="0">
                          <a:solidFill>
                            <a:srgbClr val="52657A"/>
                          </a:solidFill>
                          <a:latin typeface="Segoe UI" pitchFamily="34" charset="0"/>
                          <a:ea typeface="Segoe UI" pitchFamily="34" charset="-122"/>
                          <a:cs typeface="Segoe UI" pitchFamily="34" charset="-120"/>
                        </a:rPr>
                        <a:t>3</a:t>
                      </a:r>
                      <a:endParaRPr lang="en-US" sz="11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indent="0" marL="0">
                        <a:buNone/>
                      </a:pPr>
                      <a:r>
                        <a:rPr lang="en-US" sz="1100" dirty="0">
                          <a:solidFill>
                            <a:srgbClr val="454C55"/>
                          </a:solidFill>
                          <a:latin typeface="Segoe UI" pitchFamily="34" charset="0"/>
                          <a:ea typeface="Segoe UI" pitchFamily="34" charset="-122"/>
                          <a:cs typeface="Segoe UI" pitchFamily="34" charset="-120"/>
                        </a:rPr>
                        <a:t>%fallback · lỗi ngầm · màn 0-nhắc-nút</a:t>
                      </a:r>
                      <a:endParaRPr lang="en-US" sz="11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indent="0" marL="0">
                        <a:buNone/>
                      </a:pPr>
                      <a:r>
                        <a:rPr lang="en-US" sz="1100" dirty="0">
                          <a:solidFill>
                            <a:srgbClr val="454C55"/>
                          </a:solidFill>
                          <a:latin typeface="Segoe UI" pitchFamily="34" charset="0"/>
                          <a:ea typeface="Segoe UI" pitchFamily="34" charset="-122"/>
                          <a:cs typeface="Segoe UI" pitchFamily="34" charset="-120"/>
                        </a:rPr>
                        <a:t>báo kèm bắt buộc</a:t>
                      </a:r>
                      <a:endParaRPr lang="en-US" sz="11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indent="0" marL="0">
                        <a:buNone/>
                      </a:pPr>
                      <a:r>
                        <a:rPr lang="en-US" sz="1100" dirty="0">
                          <a:solidFill>
                            <a:srgbClr val="454C55"/>
                          </a:solidFill>
                          <a:latin typeface="Segoe UI" pitchFamily="34" charset="0"/>
                          <a:ea typeface="Segoe UI" pitchFamily="34" charset="-122"/>
                          <a:cs typeface="Segoe UI" pitchFamily="34" charset="-120"/>
                        </a:rPr>
                        <a:t>“Cứ nói chung chung là bịa = 0, ăn gian thước!”</a:t>
                      </a:r>
                      <a:endParaRPr lang="en-US" sz="11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r>
              <a:tr h="521208">
                <a:tc>
                  <a:txBody>
                    <a:bodyPr/>
                    <a:lstStyle/>
                    <a:p>
                      <a:pPr algn="ctr" indent="0" marL="0">
                        <a:buNone/>
                      </a:pPr>
                      <a:r>
                        <a:rPr lang="en-US" sz="1100" dirty="0">
                          <a:solidFill>
                            <a:srgbClr val="52657A"/>
                          </a:solidFill>
                          <a:latin typeface="Segoe UI" pitchFamily="34" charset="0"/>
                          <a:ea typeface="Segoe UI" pitchFamily="34" charset="-122"/>
                          <a:cs typeface="Segoe UI" pitchFamily="34" charset="-120"/>
                        </a:rPr>
                        <a:t>4</a:t>
                      </a:r>
                      <a:endParaRPr lang="en-US" sz="11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indent="0" marL="0">
                        <a:buNone/>
                      </a:pPr>
                      <a:r>
                        <a:rPr lang="en-US" sz="1100" dirty="0">
                          <a:solidFill>
                            <a:srgbClr val="454C55"/>
                          </a:solidFill>
                          <a:latin typeface="Segoe UI" pitchFamily="34" charset="0"/>
                          <a:ea typeface="Segoe UI" pitchFamily="34" charset="-122"/>
                          <a:cs typeface="Segoe UI" pitchFamily="34" charset="-120"/>
                        </a:rPr>
                        <a:t>Độ hữu ích:  Student vs Student-RAW</a:t>
                      </a:r>
                      <a:endParaRPr lang="en-US" sz="11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indent="0" marL="0">
                        <a:buNone/>
                      </a:pPr>
                      <a:r>
                        <a:rPr lang="en-US" sz="1100" dirty="0">
                          <a:solidFill>
                            <a:srgbClr val="454C55"/>
                          </a:solidFill>
                          <a:latin typeface="Segoe UI" pitchFamily="34" charset="0"/>
                          <a:ea typeface="Segoe UI" pitchFamily="34" charset="-122"/>
                          <a:cs typeface="Segoe UI" pitchFamily="34" charset="-120"/>
                        </a:rPr>
                        <a:t>trong family Holm</a:t>
                      </a:r>
                      <a:endParaRPr lang="en-US" sz="11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indent="0" marL="0">
                        <a:buNone/>
                      </a:pPr>
                      <a:r>
                        <a:rPr lang="en-US" sz="1100" dirty="0">
                          <a:solidFill>
                            <a:srgbClr val="454C55"/>
                          </a:solidFill>
                          <a:latin typeface="Segoe UI" pitchFamily="34" charset="0"/>
                          <a:ea typeface="Segoe UI" pitchFamily="34" charset="-122"/>
                          <a:cs typeface="Segoe UI" pitchFamily="34" charset="-120"/>
                        </a:rPr>
                        <a:t>“Sạch nhưng mơ hồ, vô dụng thì sao?”</a:t>
                      </a:r>
                      <a:endParaRPr lang="en-US" sz="11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r>
              <a:tr h="521208">
                <a:tc>
                  <a:txBody>
                    <a:bodyPr/>
                    <a:lstStyle/>
                    <a:p>
                      <a:pPr algn="ctr" indent="0" marL="0">
                        <a:buNone/>
                      </a:pPr>
                      <a:r>
                        <a:rPr lang="en-US" sz="1100" dirty="0">
                          <a:solidFill>
                            <a:srgbClr val="52657A"/>
                          </a:solidFill>
                          <a:latin typeface="Segoe UI" pitchFamily="34" charset="0"/>
                          <a:ea typeface="Segoe UI" pitchFamily="34" charset="-122"/>
                          <a:cs typeface="Segoe UI" pitchFamily="34" charset="-120"/>
                        </a:rPr>
                        <a:t>5</a:t>
                      </a:r>
                      <a:endParaRPr lang="en-US" sz="11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indent="0" marL="0">
                        <a:buNone/>
                      </a:pPr>
                      <a:r>
                        <a:rPr lang="en-US" sz="1100" dirty="0">
                          <a:solidFill>
                            <a:srgbClr val="454C55"/>
                          </a:solidFill>
                          <a:latin typeface="Segoe UI" pitchFamily="34" charset="0"/>
                          <a:ea typeface="Segoe UI" pitchFamily="34" charset="-122"/>
                          <a:cs typeface="Segoe UI" pitchFamily="34" charset="-120"/>
                        </a:rPr>
                        <a:t>Bộ chấm bge-m3  vs  người · 80–120 cặp</a:t>
                      </a:r>
                      <a:endParaRPr lang="en-US" sz="11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indent="0" marL="0">
                        <a:buNone/>
                      </a:pPr>
                      <a:r>
                        <a:rPr lang="en-US" sz="1100" dirty="0">
                          <a:solidFill>
                            <a:srgbClr val="454C55"/>
                          </a:solidFill>
                          <a:latin typeface="Segoe UI" pitchFamily="34" charset="0"/>
                          <a:ea typeface="Segoe UI" pitchFamily="34" charset="-122"/>
                          <a:cs typeface="Segoe UI" pitchFamily="34" charset="-120"/>
                        </a:rPr>
                        <a:t>precision ≥ 0.95, báo κ</a:t>
                      </a:r>
                      <a:endParaRPr lang="en-US" sz="11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indent="0" marL="0">
                        <a:buNone/>
                      </a:pPr>
                      <a:r>
                        <a:rPr lang="en-US" sz="1100" dirty="0">
                          <a:solidFill>
                            <a:srgbClr val="454C55"/>
                          </a:solidFill>
                          <a:latin typeface="Segoe UI" pitchFamily="34" charset="0"/>
                          <a:ea typeface="Segoe UI" pitchFamily="34" charset="-122"/>
                          <a:cs typeface="Segoe UI" pitchFamily="34" charset="-120"/>
                        </a:rPr>
                        <a:t>“Lấy gì bảo đảm bộ chấm đúng?”</a:t>
                      </a:r>
                      <a:endParaRPr lang="en-US" sz="11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r>
              <a:tr h="521208">
                <a:tc>
                  <a:txBody>
                    <a:bodyPr/>
                    <a:lstStyle/>
                    <a:p>
                      <a:pPr algn="ctr" indent="0" marL="0">
                        <a:buNone/>
                      </a:pPr>
                      <a:r>
                        <a:rPr lang="en-US" sz="1100" dirty="0">
                          <a:solidFill>
                            <a:srgbClr val="52657A"/>
                          </a:solidFill>
                          <a:latin typeface="Segoe UI" pitchFamily="34" charset="0"/>
                          <a:ea typeface="Segoe UI" pitchFamily="34" charset="-122"/>
                          <a:cs typeface="Segoe UI" pitchFamily="34" charset="-120"/>
                        </a:rPr>
                        <a:t>6</a:t>
                      </a:r>
                      <a:endParaRPr lang="en-US" sz="11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indent="0" marL="0">
                        <a:buNone/>
                      </a:pPr>
                      <a:r>
                        <a:rPr lang="en-US" sz="1100" dirty="0">
                          <a:solidFill>
                            <a:srgbClr val="454C55"/>
                          </a:solidFill>
                          <a:latin typeface="Segoe UI" pitchFamily="34" charset="0"/>
                          <a:ea typeface="Segoe UI" pitchFamily="34" charset="-122"/>
                          <a:cs typeface="Segoe UI" pitchFamily="34" charset="-120"/>
                        </a:rPr>
                        <a:t>Bơm lỗi đã biết  vs  thước đo</a:t>
                      </a:r>
                      <a:endParaRPr lang="en-US" sz="11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indent="0" marL="0">
                        <a:buNone/>
                      </a:pPr>
                      <a:r>
                        <a:rPr lang="en-US" sz="1100" dirty="0">
                          <a:solidFill>
                            <a:srgbClr val="454C55"/>
                          </a:solidFill>
                          <a:latin typeface="Segoe UI" pitchFamily="34" charset="0"/>
                          <a:ea typeface="Segoe UI" pitchFamily="34" charset="-122"/>
                          <a:cs typeface="Segoe UI" pitchFamily="34" charset="-120"/>
                        </a:rPr>
                        <a:t>bắt ≥ 0.80 · báo nhầm ≤ 0.10</a:t>
                      </a:r>
                      <a:endParaRPr lang="en-US" sz="11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indent="0" marL="0">
                        <a:buNone/>
                      </a:pPr>
                      <a:r>
                        <a:rPr lang="en-US" sz="1100" dirty="0">
                          <a:solidFill>
                            <a:srgbClr val="454C55"/>
                          </a:solidFill>
                          <a:latin typeface="Segoe UI" pitchFamily="34" charset="0"/>
                          <a:ea typeface="Segoe UI" pitchFamily="34" charset="-122"/>
                          <a:cs typeface="Segoe UI" pitchFamily="34" charset="-120"/>
                        </a:rPr>
                        <a:t>“Phép đo có thật sự nhạy không?”</a:t>
                      </a:r>
                      <a:endParaRPr lang="en-US" sz="11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r>
            </a:tbl>
          </a:graphicData>
        </a:graphic>
      </p:graphicFrame>
      <p:sp>
        <p:nvSpPr>
          <p:cNvPr id="5" name="Shape 2"/>
          <p:cNvSpPr/>
          <p:nvPr/>
        </p:nvSpPr>
        <p:spPr>
          <a:xfrm>
            <a:off x="841248" y="5806440"/>
            <a:ext cx="10506456" cy="640080"/>
          </a:xfrm>
          <a:prstGeom prst="roundRect">
            <a:avLst>
              <a:gd name="adj" fmla="val 12857"/>
            </a:avLst>
          </a:prstGeom>
          <a:solidFill>
            <a:srgbClr val="17233B"/>
          </a:solidFill>
          <a:ln/>
        </p:spPr>
      </p:sp>
      <p:sp>
        <p:nvSpPr>
          <p:cNvPr id="6" name="Text 3"/>
          <p:cNvSpPr/>
          <p:nvPr/>
        </p:nvSpPr>
        <p:spPr>
          <a:xfrm>
            <a:off x="1115568" y="5806440"/>
            <a:ext cx="9957816" cy="640080"/>
          </a:xfrm>
          <a:prstGeom prst="rect">
            <a:avLst/>
          </a:prstGeom>
          <a:noFill/>
          <a:ln/>
        </p:spPr>
        <p:txBody>
          <a:bodyPr wrap="square" lIns="0" tIns="0" rIns="0" bIns="0" rtlCol="0" anchor="ctr"/>
          <a:lstStyle/>
          <a:p>
            <a:pPr algn="l" indent="0" marL="0">
              <a:buNone/>
            </a:pPr>
            <a:r>
              <a:rPr lang="en-US" sz="1300" b="1" dirty="0">
                <a:solidFill>
                  <a:srgbClr val="E4A986"/>
                </a:solidFill>
                <a:latin typeface="Segoe UI" pitchFamily="34" charset="0"/>
                <a:ea typeface="Segoe UI" pitchFamily="34" charset="-122"/>
                <a:cs typeface="Segoe UI" pitchFamily="34" charset="-120"/>
              </a:rPr>
              <a:t>1 và 2 mang kết luận.  </a:t>
            </a:r>
            <a:pPr algn="l" indent="0" marL="0">
              <a:buNone/>
            </a:pPr>
            <a:r>
              <a:rPr lang="en-US" sz="1300" dirty="0">
                <a:solidFill>
                  <a:srgbClr val="FFFFFF"/>
                </a:solidFill>
                <a:latin typeface="Segoe UI" pitchFamily="34" charset="0"/>
                <a:ea typeface="Segoe UI" pitchFamily="34" charset="-122"/>
                <a:cs typeface="Segoe UI" pitchFamily="34" charset="-120"/>
              </a:rPr>
              <a:t>3–6 là lá chắn, để mỗi câu vặn đều có sẵn một con số trả lời.</a:t>
            </a:r>
            <a:endParaRPr lang="en-US" sz="1300" dirty="0"/>
          </a:p>
        </p:txBody>
      </p:sp>
      <p:sp>
        <p:nvSpPr>
          <p:cNvPr id="8" name="Text 4"/>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14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Pipeline, thuoc do va bo thi nghiem - Faithful Distillation</dc:title>
  <dc:subject>PptxGenJS Presentation</dc:subject>
  <dc:creator>Luan van thac si</dc:creator>
  <cp:lastModifiedBy>Luan van thac si</cp:lastModifiedBy>
  <cp:revision>1</cp:revision>
  <dcterms:created xsi:type="dcterms:W3CDTF">2026-07-15T12:06:07Z</dcterms:created>
  <dcterms:modified xsi:type="dcterms:W3CDTF">2026-07-15T12:06:07Z</dcterms:modified>
</cp:coreProperties>
</file>